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bdb7c00-e3a8-dd3e-5d9b-1c6787745ed7}">
          <p14:sldIdLst>
            <p14:sldId id="256"/>
            <p14:sldId id="257"/>
          </p14:sldIdLst>
        </p14:section>
        <p14:section name="개념" id="{04aea5b8-5c69-521b-d3e1-47c5b3dfb5c8}">
          <p14:sldIdLst>
            <p14:sldId id="258"/>
            <p14:sldId id="259"/>
            <p14:sldId id="262"/>
          </p14:sldIdLst>
        </p14:section>
        <p14:section name="연습" id="{05471f75-a280-c0d8-25f7-b83bcac987d9}">
          <p14:sldIdLst>
            <p14:sldId id="260"/>
            <p14:sldId id="261"/>
            <p14:sldId id="263"/>
            <p14:sldId id="264"/>
          </p14:sldIdLst>
        </p14:section>
        <p14:section name="개념" id="{5ec57916-4fcf-a396-18d2-82810d1e9509}">
          <p14:sldIdLst/>
        </p14:section>
        <p14:section name="연습" id="{f6688772-adcb-ac3e-4f06-f85be6101ea3}">
          <p14:sldIdLst/>
        </p14:section>
        <p14:section name="확인" id="{1aef281d-77d6-3d60-25e5-efacf3c8ede8}">
          <p14:sldIdLst>
            <p14:sldId id="265"/>
            <p14:sldId id="266"/>
            <p14:sldId id="267"/>
          </p14:sldIdLst>
        </p14:section>
        <p14:section name="정리" id="{4c24b95a-d1f3-66e7-428c-2e1f73772a5f}">
          <p14:sldIdLst>
            <p14:sldId id="268"/>
          </p14:sldIdLst>
        </p14:section>
        <p14:section name="보충" id="{ddc8ed74-5064-146d-7006-829dff0bb9e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삼각형을 변의 길이와 각의 크기라는 두 기준으로 나눌 수 있음을 알립니다.
시간: 약 2분
이렇게 말해 보세요
- “2학년 때 삼각형을 배웠고, 3학년 때 직각삼각형을 배웠지? 오늘은 삼각형을 여러 가지로 나눠 볼 거야.”
- “오른쪽 삼각형의 두 변에 작은 선이 하나씩 있지? 무슨 뜻일까?”
예상 답
- “모르겠어요.” “두 변이 같다는 표시 같아요.”
막히면
- 답을 확인하지 않고 넘어갑니다. S03에서 자로 재어 봅니다.
주의
- 오늘은 색종이, 가위, 자, 각도기를 씁니다. 가위는 부모가 함께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확인(각의 분류, 삼각형 각의 합, 길이 재기)]
목적: 예각·둔각의 구별, 삼각형 세 각의 합(지난 차시), 자로 길이 재기(3학년)가 되는지 확인합니다.
시간: 약 3분
이렇게 말해 보세요
- “①, ②는 말로 답해 줘. ③은 막대의 길이를 자에서 읽어 볼래?”
정답
- ① 둔각
- ② 70° (180° − 40° − 70°)
- ③ 4 cm 5 mm (4.5 cm)
막히면
- ②가 어려우면 S14(보충)를 먼저 합니다. 보충으로도 어려우면 ‘각도의 합과 차’ 차시를 다시 합니다.
- ③에서 작은 눈금 한 칸이 1 mm라는 것을 모르면 3학년 ‘mm와 km’ 내용을 짧게 알려 줍니다(1 cm = 10 mm).
주의
- ②의 답 70°는 주어진 각 70°와 크기가 같습니다. 오늘 이등변삼각형에서 다시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이등변삼각형의 뜻과 성질]
목적: 두 변의 길이가 같은 삼각형을 이등변삼각형이라고 하고, 길이가 같은 두 변 아래의 두 각의 크기도 같다는 것을 접기 활동으로 압니다.
시간: 약 4분
이렇게 말해 보세요
- “자로 세 변을 재어 보니 ㄱㄴ과 ㄱㄷ이 5 cm로 같지? 두 변의 길이가 같은 삼각형을 이등변삼각형이라고 해. 변에 그은 작은 선은 ‘길이가 같다’는 표시야.”
- “색종이를 반으로 접고, 접힌 선에서 비스듬히 잘라 펼쳐 볼까? 어떤 삼각형이 됐어? 다시 접으면 어느 부분끼리 겹쳐?”
예상 답
- “이등변삼각형이요.” “두 변이 겹치고, 아래 두 각도 겹쳐요.”
막히면
- 부모가 먼저 하나를 잘라 보여 주고, 아이가 하나를 더 만듭니다. 가위는 부모가 함께 다룹니다.
- 각도기로 아래 두 각을 재어 크기가 같은지 확인합니다.
주의
- ‘이등변’은 ‘두 변이 같다’는 뜻입니다. 이름의 뜻을 말해 주면 기억하기 쉽습니다.
- 크기가 같은 두 각은 길이가 같은 두 변이 만나는 꼭짓점(ㄱ)의 각이 아니라, 나머지 두 각(ㄴ, ㄷ)입니다.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정삼각형의 뜻과 성질]
목적: 세 변의 길이가 같은 삼각형을 정삼각형이라 하고, 세 각의 크기가 모두 60°로 같다는 것을 압니다.
시간: 약 3분
이렇게 말해 보세요
- “세 변이 모두 5 cm야. 이렇게 세 변의 길이가 같은 삼각형을 정삼각형이라고 해.”
- “세 각의 크기도 모두 같아. 세 각을 더하면 180°니까 한 각은 몇 도일까?”
예상 답
- “180을 셋으로 나누면 60이니까 60°예요.”
막히면
- 60 + 60 + 60 = 180을 함께 확인합니다.
- 자와 각도기로 공책에 한 변이 5 cm인 정삼각형을 그려 봅니다(밑변을 긋고 양 끝에 60°인 각을 그려 만나는 점을 찾음).
주의
- 정삼각형은 어느 쪽으로 접어도 두 변과 두 각이 겹칩니다.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오개념 비교(정삼각형은 이등변삼각형이 아니다)]
목적: 정삼각형도 두 변의 길이가 같으므로 이등변삼각형이라고 할 수 있다는 것을 압니다(M1).
시간: 약 2분
이렇게 말해 보세요
- “토끼와 곰 중 누가 맞았을까? 정삼각형에서 길이가 같은 두 변을 찾을 수 있어?”
예상 답
- “곰이요. 정삼각형도 두 변이 같아요.”
정답
- 곰이 맞습니다. 정삼각형은 어느 두 변을 골라도 길이가 같으므로 이등변삼각형이라고 할 수 있습니다.
- 거꾸로 이등변삼각형이 모두 정삼각형인 것은 아닙니다(S03의 삼각형은 5, 5, 6 cm).
막히면
- 정사각형도 직사각형이라고 할 수 있었던 것(3학년)과 비슷하다고 말해 줍니다.
주의
- “이등변삼각형이면 정삼각형이야?”라고 거꾸로도 물어봅니다. 답은 ‘아니다’입니다.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연습(변의 길이로 이름 붙이기)]
목적: 도움을 받으며 놓인 방향이 다른 삼각형도 변의 길이로 이름을 붙입니다.
시간: 약 3분
이렇게 말해 보세요
- “①, ②, ③은 각각 무슨 삼각형일까? 왜 그렇게 생각해?”
- “②는 옆으로 누워 있어. 그래도 두 변의 길이가 같아?”
정답
- ① 정삼각형 (이등변삼각형이라고도 할 수 있음)
- ② 이등변삼각형 (5 cm인 두 변)
- ③ 둘 다 아님 (세 변의 길이가 모두 다름)
막히면
- ②를 이등변삼각형이 아니라고 하면 공책을 돌려 같은 변이 위로 오게 보여 줍니다(M3).
주의
- ③은 한 각이 직각인 삼각형입니다. 각의 크기로 나누는 것은 S07에서 합니다.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각의 크기에 따른 분류]
목적: 삼각형을 각의 크기에 따라 예각삼각형(세 각이 모두 예각), 직각삼각형(한 각이 직각), 둔각삼각형(한 각이 둔각)으로 나눕니다.
시간: 약 4분
이렇게 말해 보세요
- “첫 번째 삼각형의 세 각은 모두 예각이야. 이런 삼각형을 예각삼각형이라고 해.”
- “두 번째는 한 각이 직각이라 직각삼각형, 세 번째는 한 각이 둔각이라 둔각삼각형이야. 둔각삼각형의 나머지 두 각은 어떤 각이야?”
예상 답
- “30°, 40°니까 예각이에요.”
막히면
- 접은 종이 직각을 각마다 대어 보며 ‘작다(예각)·같다(직각)·크다(둔각)’를 말하게 합니다.
주의
- 모든 삼각형에는 예각이 적어도 2개 있습니다. 그래서 이름은 ‘가장 큰 각’이 무엇인지로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비교(예각이 있으면 예각삼각형)]
목적: 예각이 하나라도 있으면 예각삼각형이라는 오개념을 바로잡습니다(M2).
시간: 약 2분
이렇게 말해 보세요
- “토끼와 곰 중 누가 맞았을까? 예각삼각형은 어떤 삼각형이었지?”
예상 답
- “곰이요. 예각삼각형은 세 각이 다 예각이어야 해요.”
정답
- 곰이 맞습니다. 110°가 둔각이므로 둔각삼각형입니다.
- 예각삼각형은 세 각이 ‘모두’ 예각인 삼각형입니다.
막히면
- S07의 세 삼각형에서 예각이 몇 개씩 있는지 세어 봅니다(3개, 2개, 2개).
주의
- 나머지 두 각의 합은 180° − 110° = 70°라서 둘 다 예각일 수밖에 없습니다. 둔각은 한 삼각형에 하나만 있을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연습(각으로 분류)]
목적: 도움을 받으며 세 각(또는 두 각)을 보고 삼각형을 각의 크기로 분류합니다.
시간: 약 3분
이렇게 말해 보세요
- “①, ②는 세 각이 다 있어. 가장 큰 각을 보면 돼.”
- “③, ④는 두 각만 있어. 나머지 각은 몇 도일까?”
정답
- ① 직각삼각형 (90°)
- ② 예각삼각형 (세 각 모두 예각)
- ③ 둔각삼각형 (나머지 각 125°)
- ④ 직각삼각형 (나머지 각 90°)
막히면
- ③, ④는 180°에서 두 각을 빼는 지난 시간 방법을 떠올리게 합니다.
주의
- ③을 두 각이 예각이니 예각삼각형이라고 하면 S08로 돌아갑니다(M2).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이등변삼각형의 성질로 변의 길이와 각을 구하고, 각의 크기로 삼각형을 분류하는지 확인합니다.
시간: 약 5분
이렇게 말해 보세요
- “이번에는 혼자 해 볼래? 어떻게 알았는지도 말해 줘.”
정답
- ① ㉠ 6 cm, ㉡ 70° (이등변삼각형은 두 변과 두 각이 같음)
- ② 40° (180° − 70° − 70°)
- ③ 예각삼각형 (70°, 70°, 40°가 모두 예각)
막히면
- 바로 알려 주지 말고 “같은 길이 표시가 있는 변은 어디야?”라고만 묻습니다.
- 도움을 받아 해결했다면 기록표에 ‘도움’으로 표시합니다.
주의
- ②를 70°라고 하면 맨 위 각도 같다고 생각한 것입니다. 크기가 같은 두 각은 밑의 두 각입니다(S03).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색종이 삼각형을 접어서 확인해 보자.”
정답
- ① ㉠ 6 cm, ㉡ 70° ② 40° ③ 예각삼각형
막히면
- ③에서 ‘이등변삼각형’이라고만 하면 “그건 변으로 본 이름이야. 각으로 보면?”이라고 다시 묻습니다.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확인(두 기준으로 이름 붙이기)]
목적: 처음 보는 삼각형에 변의 길이와 각의 크기 두 기준으로 이름을 붙이는지 확인합니다.
시간: 약 3분
이렇게 말해 보세요
- “이 삼각형을 변의 길이로 보면 무슨 삼각형이야? 각의 크기로 보면? 두 이름을 합치면?”
정답
- ① 이등변삼각형 (같은 길이 표시가 있는 두 변)
- ② 직각삼각형 (직각 표시)
- 두 이름을 합치면 ‘직각이등변삼각형’이라고도 합니다.
막히면
- 기준을 하나씩 물어봅니다. “같은 길이 표시가 몇 개야?” “직각 표시가 있어?”
주의
- 하나만 말하면 “다른 기준으로 보면?”이라고 한 번 더 묻습니다. 두 이름을 모두 말하면 목표 A, B를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“변의 길이로 나눈 삼각형 이름 두 가지는? 각의 크기로 나눈 이름 세 가지는?”
예상 답
- “이등변삼각형, 정삼각형이요.” “예각삼각형, 직각삼각형, 둔각삼각형이요.”
정답
- ① 이등변삼각형 ② 60° ③ 예각삼각형
막히면
- S03, S04, S07을 다시 보여 줍니다.
주의
- 오늘 만든 색종이 이등변삼각형을 공책에 붙여 두면 좋습니다.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보충(삼각형 세 각의 합)]
목적: S02에서 삼각형의 나머지 각 구하기가 흔들리면, 세 각의 합이 180°임을 다시 확인합니다.
시간: 약 5분
이렇게 말해 보세요
- “종이 삼각형의 세 각을 찢어 한 점에 모으면 어떤 모양이 됐었지? 일직선은 몇 도야?”
- “두 각이 40°, 70°이면 나머지 각은? 180에서 40을 빼고, 또 70을 빼 보자.”
정답
- 일직선, 180°
- 180° − 40° − 70° = 70°
막히면
- 색종이로 삼각형을 오려 세 각을 다시 모아 봅니다.
주의
- 보충으로도 어려우면 ‘각도의 합과 차’ 차시를 먼저 다시 합니다. 각도기 읽기가 흔들리면 ‘각도 재기’ 차시부터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삼각형 분류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삼각형 분류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삼각형 분류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분류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삼각형을 어떤 기준으로 나눌 수 있을까요?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두 변에 같은 길이 표시가 있는 삼각형"/>
          <p:cNvSpPr/>
          <p:nvPr/>
        </p:nvSpPr>
        <p:spPr>
          <a:xfrm>
            <a:off x="7772400" y="853440"/>
            <a:ext cx="3749040" cy="2499360"/>
          </a:xfrm>
          <a:custGeom>
            <a:avLst/>
            <a:gdLst/>
            <a:ahLst/>
            <a:cxnLst/>
            <a:rect l="l" t="t" r="r" b="b"/>
            <a:pathLst>
              <a:path w="3749040" h="2499360">
                <a:moveTo>
                  <a:pt x="0" y="2499360"/>
                </a:moveTo>
                <a:lnTo>
                  <a:pt x="3749040" y="2499360"/>
                </a:lnTo>
                <a:lnTo>
                  <a:pt x="187452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 flipH="1">
            <a:off x="10511028" y="204825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636508" y="204825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변의 길이로 삼각형을 나눠요.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각의 크기로 삼각형을 나눠요.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7" descr="자의 0부터 4 cm 5 mm까지 놓인 막대"/>
          <p:cNvSpPr/>
          <p:nvPr/>
        </p:nvSpPr>
        <p:spPr>
          <a:xfrm>
            <a:off x="6368796" y="3605872"/>
            <a:ext cx="5180076" cy="896552"/>
          </a:xfrm>
          <a:custGeom>
            <a:avLst/>
            <a:gdLst/>
            <a:ahLst/>
            <a:cxnLst/>
            <a:rect l="l" t="t" r="r" b="b"/>
            <a:pathLst>
              <a:path w="5180076" h="896552">
                <a:moveTo>
                  <a:pt x="0" y="0"/>
                </a:moveTo>
                <a:lnTo>
                  <a:pt x="5180076" y="0"/>
                </a:lnTo>
                <a:lnTo>
                  <a:pt x="5180076" y="896552"/>
                </a:lnTo>
                <a:lnTo>
                  <a:pt x="0" y="896552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2-mark8"/>
          <p:cNvSpPr/>
          <p:nvPr/>
        </p:nvSpPr>
        <p:spPr>
          <a:xfrm>
            <a:off x="6634441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" name="S02-label10"/>
          <p:cNvSpPr txBox="1"/>
          <p:nvPr/>
        </p:nvSpPr>
        <p:spPr>
          <a:xfrm>
            <a:off x="6478993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6" name="S02-mark11"/>
          <p:cNvSpPr/>
          <p:nvPr/>
        </p:nvSpPr>
        <p:spPr>
          <a:xfrm>
            <a:off x="670085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2-mark12"/>
          <p:cNvSpPr/>
          <p:nvPr/>
        </p:nvSpPr>
        <p:spPr>
          <a:xfrm>
            <a:off x="676726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mark13"/>
          <p:cNvSpPr/>
          <p:nvPr/>
        </p:nvSpPr>
        <p:spPr>
          <a:xfrm>
            <a:off x="683367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mark14"/>
          <p:cNvSpPr/>
          <p:nvPr/>
        </p:nvSpPr>
        <p:spPr>
          <a:xfrm>
            <a:off x="690008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mark15"/>
          <p:cNvSpPr/>
          <p:nvPr/>
        </p:nvSpPr>
        <p:spPr>
          <a:xfrm>
            <a:off x="6966497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2-mark16"/>
          <p:cNvSpPr/>
          <p:nvPr/>
        </p:nvSpPr>
        <p:spPr>
          <a:xfrm>
            <a:off x="703290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mark17"/>
          <p:cNvSpPr/>
          <p:nvPr/>
        </p:nvSpPr>
        <p:spPr>
          <a:xfrm>
            <a:off x="709932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mark18"/>
          <p:cNvSpPr/>
          <p:nvPr/>
        </p:nvSpPr>
        <p:spPr>
          <a:xfrm>
            <a:off x="7165731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mark19"/>
          <p:cNvSpPr/>
          <p:nvPr/>
        </p:nvSpPr>
        <p:spPr>
          <a:xfrm>
            <a:off x="723214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mark20"/>
          <p:cNvSpPr/>
          <p:nvPr/>
        </p:nvSpPr>
        <p:spPr>
          <a:xfrm>
            <a:off x="7298553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2-label22"/>
          <p:cNvSpPr txBox="1"/>
          <p:nvPr/>
        </p:nvSpPr>
        <p:spPr>
          <a:xfrm>
            <a:off x="7143105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7" name="S02-mark23"/>
          <p:cNvSpPr/>
          <p:nvPr/>
        </p:nvSpPr>
        <p:spPr>
          <a:xfrm>
            <a:off x="736496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mark24"/>
          <p:cNvSpPr/>
          <p:nvPr/>
        </p:nvSpPr>
        <p:spPr>
          <a:xfrm>
            <a:off x="743137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mark25"/>
          <p:cNvSpPr/>
          <p:nvPr/>
        </p:nvSpPr>
        <p:spPr>
          <a:xfrm>
            <a:off x="7497787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mark26"/>
          <p:cNvSpPr/>
          <p:nvPr/>
        </p:nvSpPr>
        <p:spPr>
          <a:xfrm>
            <a:off x="756419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2-mark27"/>
          <p:cNvSpPr/>
          <p:nvPr/>
        </p:nvSpPr>
        <p:spPr>
          <a:xfrm>
            <a:off x="7630609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mark28"/>
          <p:cNvSpPr/>
          <p:nvPr/>
        </p:nvSpPr>
        <p:spPr>
          <a:xfrm>
            <a:off x="7697021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2-mark29"/>
          <p:cNvSpPr/>
          <p:nvPr/>
        </p:nvSpPr>
        <p:spPr>
          <a:xfrm>
            <a:off x="776343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mark30"/>
          <p:cNvSpPr/>
          <p:nvPr/>
        </p:nvSpPr>
        <p:spPr>
          <a:xfrm>
            <a:off x="782984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mark31"/>
          <p:cNvSpPr/>
          <p:nvPr/>
        </p:nvSpPr>
        <p:spPr>
          <a:xfrm>
            <a:off x="789625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2-mark32"/>
          <p:cNvSpPr/>
          <p:nvPr/>
        </p:nvSpPr>
        <p:spPr>
          <a:xfrm>
            <a:off x="7962666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7" name="S02-label34"/>
          <p:cNvSpPr txBox="1"/>
          <p:nvPr/>
        </p:nvSpPr>
        <p:spPr>
          <a:xfrm>
            <a:off x="7807218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8" name="S02-mark35"/>
          <p:cNvSpPr/>
          <p:nvPr/>
        </p:nvSpPr>
        <p:spPr>
          <a:xfrm>
            <a:off x="8029077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mark36"/>
          <p:cNvSpPr/>
          <p:nvPr/>
        </p:nvSpPr>
        <p:spPr>
          <a:xfrm>
            <a:off x="809548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mark37"/>
          <p:cNvSpPr/>
          <p:nvPr/>
        </p:nvSpPr>
        <p:spPr>
          <a:xfrm>
            <a:off x="8161899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2-mark38"/>
          <p:cNvSpPr/>
          <p:nvPr/>
        </p:nvSpPr>
        <p:spPr>
          <a:xfrm>
            <a:off x="822831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mark39"/>
          <p:cNvSpPr/>
          <p:nvPr/>
        </p:nvSpPr>
        <p:spPr>
          <a:xfrm>
            <a:off x="8294722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2-mark40"/>
          <p:cNvSpPr/>
          <p:nvPr/>
        </p:nvSpPr>
        <p:spPr>
          <a:xfrm>
            <a:off x="836113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mark41"/>
          <p:cNvSpPr/>
          <p:nvPr/>
        </p:nvSpPr>
        <p:spPr>
          <a:xfrm>
            <a:off x="842754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mark42"/>
          <p:cNvSpPr/>
          <p:nvPr/>
        </p:nvSpPr>
        <p:spPr>
          <a:xfrm>
            <a:off x="849395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2-mark43"/>
          <p:cNvSpPr/>
          <p:nvPr/>
        </p:nvSpPr>
        <p:spPr>
          <a:xfrm>
            <a:off x="8560367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2-mark44"/>
          <p:cNvSpPr/>
          <p:nvPr/>
        </p:nvSpPr>
        <p:spPr>
          <a:xfrm>
            <a:off x="8626778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8" name="S02-label46"/>
          <p:cNvSpPr txBox="1"/>
          <p:nvPr/>
        </p:nvSpPr>
        <p:spPr>
          <a:xfrm>
            <a:off x="8471330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9" name="S02-mark47"/>
          <p:cNvSpPr/>
          <p:nvPr/>
        </p:nvSpPr>
        <p:spPr>
          <a:xfrm>
            <a:off x="8693189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mark48"/>
          <p:cNvSpPr/>
          <p:nvPr/>
        </p:nvSpPr>
        <p:spPr>
          <a:xfrm>
            <a:off x="875960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2-mark49"/>
          <p:cNvSpPr/>
          <p:nvPr/>
        </p:nvSpPr>
        <p:spPr>
          <a:xfrm>
            <a:off x="882601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mark50"/>
          <p:cNvSpPr/>
          <p:nvPr/>
        </p:nvSpPr>
        <p:spPr>
          <a:xfrm>
            <a:off x="889242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2-mark51"/>
          <p:cNvSpPr/>
          <p:nvPr/>
        </p:nvSpPr>
        <p:spPr>
          <a:xfrm>
            <a:off x="8958834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mark52"/>
          <p:cNvSpPr/>
          <p:nvPr/>
        </p:nvSpPr>
        <p:spPr>
          <a:xfrm>
            <a:off x="902524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mark53"/>
          <p:cNvSpPr/>
          <p:nvPr/>
        </p:nvSpPr>
        <p:spPr>
          <a:xfrm>
            <a:off x="909165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2-mark54"/>
          <p:cNvSpPr/>
          <p:nvPr/>
        </p:nvSpPr>
        <p:spPr>
          <a:xfrm>
            <a:off x="915806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mark55"/>
          <p:cNvSpPr/>
          <p:nvPr/>
        </p:nvSpPr>
        <p:spPr>
          <a:xfrm>
            <a:off x="9224479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2-mark56"/>
          <p:cNvSpPr/>
          <p:nvPr/>
        </p:nvSpPr>
        <p:spPr>
          <a:xfrm>
            <a:off x="9290890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9" name="S02-label58"/>
          <p:cNvSpPr txBox="1"/>
          <p:nvPr/>
        </p:nvSpPr>
        <p:spPr>
          <a:xfrm>
            <a:off x="9135442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0" name="S02-mark59"/>
          <p:cNvSpPr/>
          <p:nvPr/>
        </p:nvSpPr>
        <p:spPr>
          <a:xfrm>
            <a:off x="9357301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2-mark60"/>
          <p:cNvSpPr/>
          <p:nvPr/>
        </p:nvSpPr>
        <p:spPr>
          <a:xfrm>
            <a:off x="942371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mark61"/>
          <p:cNvSpPr/>
          <p:nvPr/>
        </p:nvSpPr>
        <p:spPr>
          <a:xfrm>
            <a:off x="949012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2-mark62"/>
          <p:cNvSpPr/>
          <p:nvPr/>
        </p:nvSpPr>
        <p:spPr>
          <a:xfrm>
            <a:off x="955653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mark63"/>
          <p:cNvSpPr/>
          <p:nvPr/>
        </p:nvSpPr>
        <p:spPr>
          <a:xfrm>
            <a:off x="9622946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mark64"/>
          <p:cNvSpPr/>
          <p:nvPr/>
        </p:nvSpPr>
        <p:spPr>
          <a:xfrm>
            <a:off x="968935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2-mark65"/>
          <p:cNvSpPr/>
          <p:nvPr/>
        </p:nvSpPr>
        <p:spPr>
          <a:xfrm>
            <a:off x="9755769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mark66"/>
          <p:cNvSpPr/>
          <p:nvPr/>
        </p:nvSpPr>
        <p:spPr>
          <a:xfrm>
            <a:off x="982218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2-mark67"/>
          <p:cNvSpPr/>
          <p:nvPr/>
        </p:nvSpPr>
        <p:spPr>
          <a:xfrm>
            <a:off x="9888591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mark68"/>
          <p:cNvSpPr/>
          <p:nvPr/>
        </p:nvSpPr>
        <p:spPr>
          <a:xfrm>
            <a:off x="9955002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0" name="S02-label70"/>
          <p:cNvSpPr txBox="1"/>
          <p:nvPr/>
        </p:nvSpPr>
        <p:spPr>
          <a:xfrm>
            <a:off x="9799554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1" name="S02-mark71"/>
          <p:cNvSpPr/>
          <p:nvPr/>
        </p:nvSpPr>
        <p:spPr>
          <a:xfrm>
            <a:off x="1002141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mark72"/>
          <p:cNvSpPr/>
          <p:nvPr/>
        </p:nvSpPr>
        <p:spPr>
          <a:xfrm>
            <a:off x="1008782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2-mark73"/>
          <p:cNvSpPr/>
          <p:nvPr/>
        </p:nvSpPr>
        <p:spPr>
          <a:xfrm>
            <a:off x="1015423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mark74"/>
          <p:cNvSpPr/>
          <p:nvPr/>
        </p:nvSpPr>
        <p:spPr>
          <a:xfrm>
            <a:off x="10220647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mark75"/>
          <p:cNvSpPr/>
          <p:nvPr/>
        </p:nvSpPr>
        <p:spPr>
          <a:xfrm>
            <a:off x="10287059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2-mark76"/>
          <p:cNvSpPr/>
          <p:nvPr/>
        </p:nvSpPr>
        <p:spPr>
          <a:xfrm>
            <a:off x="1035347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2-mark77"/>
          <p:cNvSpPr/>
          <p:nvPr/>
        </p:nvSpPr>
        <p:spPr>
          <a:xfrm>
            <a:off x="10419881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2-mark78"/>
          <p:cNvSpPr/>
          <p:nvPr/>
        </p:nvSpPr>
        <p:spPr>
          <a:xfrm>
            <a:off x="1048629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2-mark79"/>
          <p:cNvSpPr/>
          <p:nvPr/>
        </p:nvSpPr>
        <p:spPr>
          <a:xfrm>
            <a:off x="1055270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2-mark80"/>
          <p:cNvSpPr/>
          <p:nvPr/>
        </p:nvSpPr>
        <p:spPr>
          <a:xfrm>
            <a:off x="10619115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1" name="S02-label82"/>
          <p:cNvSpPr txBox="1"/>
          <p:nvPr/>
        </p:nvSpPr>
        <p:spPr>
          <a:xfrm>
            <a:off x="10463667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2" name="S02-mark83"/>
          <p:cNvSpPr/>
          <p:nvPr/>
        </p:nvSpPr>
        <p:spPr>
          <a:xfrm>
            <a:off x="1068552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2-mark84"/>
          <p:cNvSpPr/>
          <p:nvPr/>
        </p:nvSpPr>
        <p:spPr>
          <a:xfrm>
            <a:off x="10751937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2-mark85"/>
          <p:cNvSpPr/>
          <p:nvPr/>
        </p:nvSpPr>
        <p:spPr>
          <a:xfrm>
            <a:off x="1081834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2-mark86"/>
          <p:cNvSpPr/>
          <p:nvPr/>
        </p:nvSpPr>
        <p:spPr>
          <a:xfrm>
            <a:off x="1088476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2-mark87"/>
          <p:cNvSpPr/>
          <p:nvPr/>
        </p:nvSpPr>
        <p:spPr>
          <a:xfrm>
            <a:off x="10951171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2-mark88"/>
          <p:cNvSpPr/>
          <p:nvPr/>
        </p:nvSpPr>
        <p:spPr>
          <a:xfrm>
            <a:off x="1101758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2-mark89"/>
          <p:cNvSpPr/>
          <p:nvPr/>
        </p:nvSpPr>
        <p:spPr>
          <a:xfrm>
            <a:off x="1108399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2-mark90"/>
          <p:cNvSpPr/>
          <p:nvPr/>
        </p:nvSpPr>
        <p:spPr>
          <a:xfrm>
            <a:off x="1115040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2-mark91"/>
          <p:cNvSpPr/>
          <p:nvPr/>
        </p:nvSpPr>
        <p:spPr>
          <a:xfrm>
            <a:off x="1121681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2-mark92"/>
          <p:cNvSpPr/>
          <p:nvPr/>
        </p:nvSpPr>
        <p:spPr>
          <a:xfrm>
            <a:off x="11283227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2" name="S02-label94"/>
          <p:cNvSpPr txBox="1"/>
          <p:nvPr/>
        </p:nvSpPr>
        <p:spPr>
          <a:xfrm>
            <a:off x="11127779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83" name="S02-mark95"/>
          <p:cNvSpPr/>
          <p:nvPr/>
        </p:nvSpPr>
        <p:spPr>
          <a:xfrm>
            <a:off x="6634441" y="3174199"/>
            <a:ext cx="2988505" cy="265645"/>
          </a:xfrm>
          <a:custGeom>
            <a:avLst/>
            <a:gdLst/>
            <a:ahLst/>
            <a:cxnLst/>
            <a:rect l="l" t="t" r="r" b="b"/>
            <a:pathLst>
              <a:path w="2988505" h="265645">
                <a:moveTo>
                  <a:pt x="0" y="265645"/>
                </a:moveTo>
                <a:lnTo>
                  <a:pt x="2988505" y="265645"/>
                </a:lnTo>
                <a:lnTo>
                  <a:pt x="29885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2-mark96"/>
          <p:cNvSpPr/>
          <p:nvPr/>
        </p:nvSpPr>
        <p:spPr>
          <a:xfrm>
            <a:off x="6634441" y="3439844"/>
            <a:ext cx="0" cy="1660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5" name="S02-mark97"/>
          <p:cNvSpPr/>
          <p:nvPr/>
        </p:nvSpPr>
        <p:spPr>
          <a:xfrm>
            <a:off x="9622946" y="3439844"/>
            <a:ext cx="0" cy="1660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6" name="S02-chip9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7" name="S02-text9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130°는 예각? 둔각?</a:t>
            </a:r>
            <a:endParaRPr lang="ko-KR" sz="3000" dirty="0"/>
          </a:p>
        </p:txBody>
      </p:sp>
      <p:sp>
        <p:nvSpPr>
          <p:cNvPr id="88" name="S02-chip10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9" name="S02-text10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두 각이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40°, 70°이면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각은?</a:t>
            </a:r>
            <a:endParaRPr lang="ko-KR" sz="3000" dirty="0"/>
          </a:p>
        </p:txBody>
      </p:sp>
      <p:sp>
        <p:nvSpPr>
          <p:cNvPr id="90" name="S02-chip10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1" name="S02-text10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막대의 길이는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몇 mm?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이등변삼각형</a:t>
            </a:r>
            <a:endParaRPr lang="ko-KR" sz="4000" dirty="0"/>
          </a:p>
        </p:txBody>
      </p:sp>
      <p:sp>
        <p:nvSpPr>
          <p:cNvPr id="3" name="S03-card104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05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이등변삼각형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변의 길이가 같은 삼각형이에요.</a:t>
            </a:r>
            <a:endParaRPr lang="ko-KR" sz="3000" dirty="0"/>
          </a:p>
        </p:txBody>
      </p:sp>
      <p:sp>
        <p:nvSpPr>
          <p:cNvPr id="5" name="S03-card106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7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각도 같아요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접으면 색칠한 두 각이 겹쳐요.</a:t>
            </a:r>
            <a:endParaRPr lang="ko-KR" sz="3000" dirty="0"/>
          </a:p>
        </p:txBody>
      </p:sp>
      <p:sp>
        <p:nvSpPr>
          <p:cNvPr id="7" name="S03-figure108" descr="변 ㄱㄴ과 변 ㄱㄷ이 5 cm, 변 ㄴㄷ이 6 cm인 삼각형, 밑의 두 각에 같은 색"/>
          <p:cNvSpPr/>
          <p:nvPr/>
        </p:nvSpPr>
        <p:spPr>
          <a:xfrm>
            <a:off x="1587627" y="1691640"/>
            <a:ext cx="3307842" cy="2205228"/>
          </a:xfrm>
          <a:custGeom>
            <a:avLst/>
            <a:gdLst/>
            <a:ahLst/>
            <a:cxnLst/>
            <a:rect l="l" t="t" r="r" b="b"/>
            <a:pathLst>
              <a:path w="3307842" h="2205228">
                <a:moveTo>
                  <a:pt x="0" y="2205228"/>
                </a:moveTo>
                <a:lnTo>
                  <a:pt x="3307842" y="2205228"/>
                </a:lnTo>
                <a:lnTo>
                  <a:pt x="165392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3-mark109"/>
          <p:cNvSpPr/>
          <p:nvPr/>
        </p:nvSpPr>
        <p:spPr>
          <a:xfrm>
            <a:off x="1587627" y="3579876"/>
            <a:ext cx="396240" cy="316992"/>
          </a:xfrm>
          <a:custGeom>
            <a:avLst/>
            <a:gdLst/>
            <a:ahLst/>
            <a:cxnLst/>
            <a:rect l="l" t="t" r="r" b="b"/>
            <a:pathLst>
              <a:path w="396240" h="316992">
                <a:moveTo>
                  <a:pt x="0" y="316992"/>
                </a:moveTo>
                <a:lnTo>
                  <a:pt x="396240" y="316992"/>
                </a:lnTo>
                <a:lnTo>
                  <a:pt x="395944" y="301686"/>
                </a:lnTo>
                <a:lnTo>
                  <a:pt x="395058" y="286403"/>
                </a:lnTo>
                <a:lnTo>
                  <a:pt x="393581" y="271166"/>
                </a:lnTo>
                <a:lnTo>
                  <a:pt x="391517" y="255997"/>
                </a:lnTo>
                <a:lnTo>
                  <a:pt x="388869" y="240919"/>
                </a:lnTo>
                <a:lnTo>
                  <a:pt x="385640" y="225955"/>
                </a:lnTo>
                <a:lnTo>
                  <a:pt x="381836" y="211126"/>
                </a:lnTo>
                <a:lnTo>
                  <a:pt x="377461" y="196456"/>
                </a:lnTo>
                <a:lnTo>
                  <a:pt x="372524" y="181965"/>
                </a:lnTo>
                <a:lnTo>
                  <a:pt x="367030" y="167676"/>
                </a:lnTo>
                <a:lnTo>
                  <a:pt x="360988" y="153610"/>
                </a:lnTo>
                <a:lnTo>
                  <a:pt x="354408" y="139788"/>
                </a:lnTo>
                <a:lnTo>
                  <a:pt x="347298" y="126230"/>
                </a:lnTo>
                <a:lnTo>
                  <a:pt x="339670" y="112957"/>
                </a:lnTo>
                <a:lnTo>
                  <a:pt x="331536" y="99989"/>
                </a:lnTo>
                <a:lnTo>
                  <a:pt x="322906" y="87345"/>
                </a:lnTo>
                <a:lnTo>
                  <a:pt x="313794" y="75043"/>
                </a:lnTo>
                <a:lnTo>
                  <a:pt x="304214" y="63102"/>
                </a:lnTo>
                <a:lnTo>
                  <a:pt x="294180" y="51541"/>
                </a:lnTo>
                <a:lnTo>
                  <a:pt x="283706" y="40375"/>
                </a:lnTo>
                <a:lnTo>
                  <a:pt x="272810" y="29623"/>
                </a:lnTo>
                <a:lnTo>
                  <a:pt x="261506" y="19299"/>
                </a:lnTo>
                <a:lnTo>
                  <a:pt x="249811" y="9420"/>
                </a:lnTo>
                <a:lnTo>
                  <a:pt x="237744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3-mark110"/>
          <p:cNvSpPr/>
          <p:nvPr/>
        </p:nvSpPr>
        <p:spPr>
          <a:xfrm>
            <a:off x="4499229" y="3579876"/>
            <a:ext cx="396240" cy="316992"/>
          </a:xfrm>
          <a:custGeom>
            <a:avLst/>
            <a:gdLst/>
            <a:ahLst/>
            <a:cxnLst/>
            <a:rect l="l" t="t" r="r" b="b"/>
            <a:pathLst>
              <a:path w="396240" h="316992">
                <a:moveTo>
                  <a:pt x="396240" y="316992"/>
                </a:moveTo>
                <a:lnTo>
                  <a:pt x="158496" y="0"/>
                </a:lnTo>
                <a:lnTo>
                  <a:pt x="146429" y="9420"/>
                </a:lnTo>
                <a:lnTo>
                  <a:pt x="134734" y="19299"/>
                </a:lnTo>
                <a:lnTo>
                  <a:pt x="123430" y="29623"/>
                </a:lnTo>
                <a:lnTo>
                  <a:pt x="112534" y="40375"/>
                </a:lnTo>
                <a:lnTo>
                  <a:pt x="102060" y="51541"/>
                </a:lnTo>
                <a:lnTo>
                  <a:pt x="92026" y="63102"/>
                </a:lnTo>
                <a:lnTo>
                  <a:pt x="82446" y="75043"/>
                </a:lnTo>
                <a:lnTo>
                  <a:pt x="73334" y="87345"/>
                </a:lnTo>
                <a:lnTo>
                  <a:pt x="64704" y="99989"/>
                </a:lnTo>
                <a:lnTo>
                  <a:pt x="56570" y="112957"/>
                </a:lnTo>
                <a:lnTo>
                  <a:pt x="48942" y="126230"/>
                </a:lnTo>
                <a:lnTo>
                  <a:pt x="41832" y="139788"/>
                </a:lnTo>
                <a:lnTo>
                  <a:pt x="35252" y="153610"/>
                </a:lnTo>
                <a:lnTo>
                  <a:pt x="29210" y="167676"/>
                </a:lnTo>
                <a:lnTo>
                  <a:pt x="23716" y="181965"/>
                </a:lnTo>
                <a:lnTo>
                  <a:pt x="18779" y="196456"/>
                </a:lnTo>
                <a:lnTo>
                  <a:pt x="14404" y="211126"/>
                </a:lnTo>
                <a:lnTo>
                  <a:pt x="10600" y="225955"/>
                </a:lnTo>
                <a:lnTo>
                  <a:pt x="7371" y="240919"/>
                </a:lnTo>
                <a:lnTo>
                  <a:pt x="4723" y="255997"/>
                </a:lnTo>
                <a:lnTo>
                  <a:pt x="2659" y="271166"/>
                </a:lnTo>
                <a:lnTo>
                  <a:pt x="1182" y="286403"/>
                </a:lnTo>
                <a:lnTo>
                  <a:pt x="296" y="301686"/>
                </a:lnTo>
                <a:lnTo>
                  <a:pt x="0" y="316992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0" name="S03-label112"/>
          <p:cNvSpPr txBox="1"/>
          <p:nvPr/>
        </p:nvSpPr>
        <p:spPr>
          <a:xfrm>
            <a:off x="2830068" y="3980688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cm</a:t>
            </a:r>
            <a:endParaRPr lang="ko-KR" sz="2400" dirty="0"/>
          </a:p>
        </p:txBody>
      </p:sp>
      <p:sp>
        <p:nvSpPr>
          <p:cNvPr id="11" name="S03-mark113"/>
          <p:cNvSpPr/>
          <p:nvPr/>
        </p:nvSpPr>
        <p:spPr>
          <a:xfrm flipH="1">
            <a:off x="3995357" y="2739390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label115"/>
          <p:cNvSpPr txBox="1"/>
          <p:nvPr/>
        </p:nvSpPr>
        <p:spPr>
          <a:xfrm>
            <a:off x="4028641" y="2325045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3" name="S03-mark116"/>
          <p:cNvSpPr/>
          <p:nvPr/>
        </p:nvSpPr>
        <p:spPr>
          <a:xfrm>
            <a:off x="2341436" y="2739390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label118"/>
          <p:cNvSpPr txBox="1"/>
          <p:nvPr/>
        </p:nvSpPr>
        <p:spPr>
          <a:xfrm>
            <a:off x="1631495" y="2325045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5" name="S03-label120"/>
          <p:cNvSpPr txBox="1"/>
          <p:nvPr/>
        </p:nvSpPr>
        <p:spPr>
          <a:xfrm>
            <a:off x="1115530" y="375191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6" name="S03-label122"/>
          <p:cNvSpPr txBox="1"/>
          <p:nvPr/>
        </p:nvSpPr>
        <p:spPr>
          <a:xfrm>
            <a:off x="4859566" y="375191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7" name="S03-label124"/>
          <p:cNvSpPr txBox="1"/>
          <p:nvPr/>
        </p:nvSpPr>
        <p:spPr>
          <a:xfrm>
            <a:off x="2987548" y="11938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8" name="S03-label125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변이 5 cm로 같아요</a:t>
            </a:r>
            <a:endParaRPr lang="ko-KR" sz="2400" dirty="0"/>
          </a:p>
        </p:txBody>
      </p:sp>
      <p:sp>
        <p:nvSpPr>
          <p:cNvPr id="19" name="S03-figure126" descr="자 위에 변 ㄱㄴ 5 cm, 변 ㄱㄷ 5 cm, 변 ㄴㄷ 6 cm를 막대로 나타낸 그림"/>
          <p:cNvSpPr/>
          <p:nvPr/>
        </p:nvSpPr>
        <p:spPr>
          <a:xfrm>
            <a:off x="6345936" y="3027719"/>
            <a:ext cx="5202936" cy="900508"/>
          </a:xfrm>
          <a:custGeom>
            <a:avLst/>
            <a:gdLst/>
            <a:ahLst/>
            <a:cxnLst/>
            <a:rect l="l" t="t" r="r" b="b"/>
            <a:pathLst>
              <a:path w="5202936" h="900508">
                <a:moveTo>
                  <a:pt x="0" y="0"/>
                </a:moveTo>
                <a:lnTo>
                  <a:pt x="5202936" y="0"/>
                </a:lnTo>
                <a:lnTo>
                  <a:pt x="5202936" y="900508"/>
                </a:lnTo>
                <a:lnTo>
                  <a:pt x="0" y="900508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mark127"/>
          <p:cNvSpPr/>
          <p:nvPr/>
        </p:nvSpPr>
        <p:spPr>
          <a:xfrm>
            <a:off x="6612753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3-label129"/>
          <p:cNvSpPr txBox="1"/>
          <p:nvPr/>
        </p:nvSpPr>
        <p:spPr>
          <a:xfrm>
            <a:off x="6457305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2" name="S03-mark130"/>
          <p:cNvSpPr/>
          <p:nvPr/>
        </p:nvSpPr>
        <p:spPr>
          <a:xfrm>
            <a:off x="6946275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mark131"/>
          <p:cNvSpPr/>
          <p:nvPr/>
        </p:nvSpPr>
        <p:spPr>
          <a:xfrm>
            <a:off x="7279796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03-label133"/>
          <p:cNvSpPr txBox="1"/>
          <p:nvPr/>
        </p:nvSpPr>
        <p:spPr>
          <a:xfrm>
            <a:off x="7124348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3-mark134"/>
          <p:cNvSpPr/>
          <p:nvPr/>
        </p:nvSpPr>
        <p:spPr>
          <a:xfrm>
            <a:off x="7613318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mark135"/>
          <p:cNvSpPr/>
          <p:nvPr/>
        </p:nvSpPr>
        <p:spPr>
          <a:xfrm>
            <a:off x="7946839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7" name="S03-label137"/>
          <p:cNvSpPr txBox="1"/>
          <p:nvPr/>
        </p:nvSpPr>
        <p:spPr>
          <a:xfrm>
            <a:off x="7791391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8" name="S03-mark138"/>
          <p:cNvSpPr/>
          <p:nvPr/>
        </p:nvSpPr>
        <p:spPr>
          <a:xfrm>
            <a:off x="8280361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mark139"/>
          <p:cNvSpPr/>
          <p:nvPr/>
        </p:nvSpPr>
        <p:spPr>
          <a:xfrm>
            <a:off x="8613882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3-label141"/>
          <p:cNvSpPr txBox="1"/>
          <p:nvPr/>
        </p:nvSpPr>
        <p:spPr>
          <a:xfrm>
            <a:off x="8458434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1" name="S03-mark142"/>
          <p:cNvSpPr/>
          <p:nvPr/>
        </p:nvSpPr>
        <p:spPr>
          <a:xfrm>
            <a:off x="8947404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mark143"/>
          <p:cNvSpPr/>
          <p:nvPr/>
        </p:nvSpPr>
        <p:spPr>
          <a:xfrm>
            <a:off x="9280926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3" name="S03-label145"/>
          <p:cNvSpPr txBox="1"/>
          <p:nvPr/>
        </p:nvSpPr>
        <p:spPr>
          <a:xfrm>
            <a:off x="9125478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4" name="S03-mark146"/>
          <p:cNvSpPr/>
          <p:nvPr/>
        </p:nvSpPr>
        <p:spPr>
          <a:xfrm>
            <a:off x="9614447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mark147"/>
          <p:cNvSpPr/>
          <p:nvPr/>
        </p:nvSpPr>
        <p:spPr>
          <a:xfrm>
            <a:off x="9947969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6" name="S03-label149"/>
          <p:cNvSpPr txBox="1"/>
          <p:nvPr/>
        </p:nvSpPr>
        <p:spPr>
          <a:xfrm>
            <a:off x="9792521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37" name="S03-mark150"/>
          <p:cNvSpPr/>
          <p:nvPr/>
        </p:nvSpPr>
        <p:spPr>
          <a:xfrm>
            <a:off x="10281490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mark151"/>
          <p:cNvSpPr/>
          <p:nvPr/>
        </p:nvSpPr>
        <p:spPr>
          <a:xfrm>
            <a:off x="10615012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9" name="S03-label153"/>
          <p:cNvSpPr txBox="1"/>
          <p:nvPr/>
        </p:nvSpPr>
        <p:spPr>
          <a:xfrm>
            <a:off x="10459564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40" name="S03-mark154"/>
          <p:cNvSpPr/>
          <p:nvPr/>
        </p:nvSpPr>
        <p:spPr>
          <a:xfrm>
            <a:off x="10948533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mark155"/>
          <p:cNvSpPr/>
          <p:nvPr/>
        </p:nvSpPr>
        <p:spPr>
          <a:xfrm>
            <a:off x="11282055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2" name="S03-label157"/>
          <p:cNvSpPr txBox="1"/>
          <p:nvPr/>
        </p:nvSpPr>
        <p:spPr>
          <a:xfrm>
            <a:off x="11126607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43" name="S03-mark158"/>
          <p:cNvSpPr/>
          <p:nvPr/>
        </p:nvSpPr>
        <p:spPr>
          <a:xfrm>
            <a:off x="6612753" y="2594141"/>
            <a:ext cx="3335215" cy="266817"/>
          </a:xfrm>
          <a:custGeom>
            <a:avLst/>
            <a:gdLst/>
            <a:ahLst/>
            <a:cxnLst/>
            <a:rect l="l" t="t" r="r" b="b"/>
            <a:pathLst>
              <a:path w="3335215" h="266817">
                <a:moveTo>
                  <a:pt x="0" y="266817"/>
                </a:moveTo>
                <a:lnTo>
                  <a:pt x="3335215" y="266817"/>
                </a:lnTo>
                <a:lnTo>
                  <a:pt x="33352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3-label160"/>
          <p:cNvSpPr txBox="1"/>
          <p:nvPr/>
        </p:nvSpPr>
        <p:spPr>
          <a:xfrm>
            <a:off x="7827225" y="2473550"/>
            <a:ext cx="9062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ㄱㄴ</a:t>
            </a:r>
            <a:endParaRPr lang="ko-KR" sz="3200" dirty="0"/>
          </a:p>
        </p:txBody>
      </p:sp>
      <p:sp>
        <p:nvSpPr>
          <p:cNvPr id="45" name="S03-mark161"/>
          <p:cNvSpPr/>
          <p:nvPr/>
        </p:nvSpPr>
        <p:spPr>
          <a:xfrm>
            <a:off x="6612753" y="2860958"/>
            <a:ext cx="0" cy="16676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46" name="S03-mark162"/>
          <p:cNvSpPr/>
          <p:nvPr/>
        </p:nvSpPr>
        <p:spPr>
          <a:xfrm>
            <a:off x="9947969" y="2860958"/>
            <a:ext cx="0" cy="16676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47" name="S03-mark163"/>
          <p:cNvSpPr/>
          <p:nvPr/>
        </p:nvSpPr>
        <p:spPr>
          <a:xfrm>
            <a:off x="6612753" y="2193915"/>
            <a:ext cx="3335215" cy="266817"/>
          </a:xfrm>
          <a:custGeom>
            <a:avLst/>
            <a:gdLst/>
            <a:ahLst/>
            <a:cxnLst/>
            <a:rect l="l" t="t" r="r" b="b"/>
            <a:pathLst>
              <a:path w="3335215" h="266817">
                <a:moveTo>
                  <a:pt x="0" y="266817"/>
                </a:moveTo>
                <a:lnTo>
                  <a:pt x="3335215" y="266817"/>
                </a:lnTo>
                <a:lnTo>
                  <a:pt x="33352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label165"/>
          <p:cNvSpPr txBox="1"/>
          <p:nvPr/>
        </p:nvSpPr>
        <p:spPr>
          <a:xfrm>
            <a:off x="7827225" y="2073324"/>
            <a:ext cx="9062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ㄱㄷ</a:t>
            </a:r>
            <a:endParaRPr lang="ko-KR" sz="3200" dirty="0"/>
          </a:p>
        </p:txBody>
      </p:sp>
      <p:sp>
        <p:nvSpPr>
          <p:cNvPr id="49" name="S03-mark166"/>
          <p:cNvSpPr/>
          <p:nvPr/>
        </p:nvSpPr>
        <p:spPr>
          <a:xfrm>
            <a:off x="6612753" y="2460732"/>
            <a:ext cx="0" cy="566987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0" name="S03-mark167"/>
          <p:cNvSpPr/>
          <p:nvPr/>
        </p:nvSpPr>
        <p:spPr>
          <a:xfrm>
            <a:off x="9947969" y="2460732"/>
            <a:ext cx="0" cy="566987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1" name="S03-mark168"/>
          <p:cNvSpPr/>
          <p:nvPr/>
        </p:nvSpPr>
        <p:spPr>
          <a:xfrm>
            <a:off x="6612753" y="1793689"/>
            <a:ext cx="4002258" cy="266817"/>
          </a:xfrm>
          <a:custGeom>
            <a:avLst/>
            <a:gdLst/>
            <a:ahLst/>
            <a:cxnLst/>
            <a:rect l="l" t="t" r="r" b="b"/>
            <a:pathLst>
              <a:path w="4002258" h="266817">
                <a:moveTo>
                  <a:pt x="0" y="266817"/>
                </a:moveTo>
                <a:lnTo>
                  <a:pt x="4002258" y="266817"/>
                </a:lnTo>
                <a:lnTo>
                  <a:pt x="400225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label170"/>
          <p:cNvSpPr txBox="1"/>
          <p:nvPr/>
        </p:nvSpPr>
        <p:spPr>
          <a:xfrm>
            <a:off x="8160746" y="1673098"/>
            <a:ext cx="9062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ㄴㄷ</a:t>
            </a:r>
            <a:endParaRPr lang="ko-KR" sz="3200" dirty="0"/>
          </a:p>
        </p:txBody>
      </p:sp>
      <p:sp>
        <p:nvSpPr>
          <p:cNvPr id="53" name="S03-mark171"/>
          <p:cNvSpPr/>
          <p:nvPr/>
        </p:nvSpPr>
        <p:spPr>
          <a:xfrm>
            <a:off x="6612753" y="2060507"/>
            <a:ext cx="0" cy="96721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4" name="S03-mark172"/>
          <p:cNvSpPr/>
          <p:nvPr/>
        </p:nvSpPr>
        <p:spPr>
          <a:xfrm>
            <a:off x="10615012" y="2060507"/>
            <a:ext cx="0" cy="96721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5" name="S03-label173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재어 비교해요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</a:t>
            </a:r>
            <a:endParaRPr lang="ko-KR" sz="4000" dirty="0"/>
          </a:p>
        </p:txBody>
      </p:sp>
      <p:sp>
        <p:nvSpPr>
          <p:cNvPr id="3" name="S04-text1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변의 길이가 모두 같아요.</a:t>
            </a:r>
            <a:endParaRPr lang="ko-KR" sz="3000" dirty="0"/>
          </a:p>
        </p:txBody>
      </p:sp>
      <p:sp>
        <p:nvSpPr>
          <p:cNvPr id="4" name="S04-figure175" descr="세 변이 모두 5 cm이고 세 각이 모두 60°인 정삼각형"/>
          <p:cNvSpPr/>
          <p:nvPr/>
        </p:nvSpPr>
        <p:spPr>
          <a:xfrm>
            <a:off x="1223975" y="2377440"/>
            <a:ext cx="4012286" cy="3474720"/>
          </a:xfrm>
          <a:custGeom>
            <a:avLst/>
            <a:gdLst/>
            <a:ahLst/>
            <a:cxnLst/>
            <a:rect l="l" t="t" r="r" b="b"/>
            <a:pathLst>
              <a:path w="4012286" h="3474720">
                <a:moveTo>
                  <a:pt x="0" y="3474720"/>
                </a:moveTo>
                <a:lnTo>
                  <a:pt x="4012286" y="3474720"/>
                </a:lnTo>
                <a:lnTo>
                  <a:pt x="2006143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04-mark176"/>
          <p:cNvSpPr/>
          <p:nvPr/>
        </p:nvSpPr>
        <p:spPr>
          <a:xfrm>
            <a:off x="1223975" y="5509007"/>
            <a:ext cx="396240" cy="343153"/>
          </a:xfrm>
          <a:custGeom>
            <a:avLst/>
            <a:gdLst/>
            <a:ahLst/>
            <a:cxnLst/>
            <a:rect l="l" t="t" r="r" b="b"/>
            <a:pathLst>
              <a:path w="396240" h="343153">
                <a:moveTo>
                  <a:pt x="0" y="343153"/>
                </a:moveTo>
                <a:lnTo>
                  <a:pt x="396240" y="343153"/>
                </a:lnTo>
                <a:lnTo>
                  <a:pt x="395863" y="325870"/>
                </a:lnTo>
                <a:lnTo>
                  <a:pt x="394732" y="308619"/>
                </a:lnTo>
                <a:lnTo>
                  <a:pt x="392850" y="291434"/>
                </a:lnTo>
                <a:lnTo>
                  <a:pt x="390220" y="274347"/>
                </a:lnTo>
                <a:lnTo>
                  <a:pt x="386848" y="257392"/>
                </a:lnTo>
                <a:lnTo>
                  <a:pt x="382739" y="240599"/>
                </a:lnTo>
                <a:lnTo>
                  <a:pt x="377901" y="224002"/>
                </a:lnTo>
                <a:lnTo>
                  <a:pt x="372344" y="207632"/>
                </a:lnTo>
                <a:lnTo>
                  <a:pt x="366078" y="191519"/>
                </a:lnTo>
                <a:lnTo>
                  <a:pt x="359116" y="175696"/>
                </a:lnTo>
                <a:lnTo>
                  <a:pt x="351469" y="160191"/>
                </a:lnTo>
                <a:lnTo>
                  <a:pt x="343154" y="145034"/>
                </a:lnTo>
                <a:lnTo>
                  <a:pt x="334186" y="130254"/>
                </a:lnTo>
                <a:lnTo>
                  <a:pt x="324581" y="115880"/>
                </a:lnTo>
                <a:lnTo>
                  <a:pt x="314359" y="101938"/>
                </a:lnTo>
                <a:lnTo>
                  <a:pt x="303538" y="88456"/>
                </a:lnTo>
                <a:lnTo>
                  <a:pt x="292139" y="75458"/>
                </a:lnTo>
                <a:lnTo>
                  <a:pt x="280185" y="62970"/>
                </a:lnTo>
                <a:lnTo>
                  <a:pt x="267696" y="51015"/>
                </a:lnTo>
                <a:lnTo>
                  <a:pt x="254699" y="39616"/>
                </a:lnTo>
                <a:lnTo>
                  <a:pt x="241216" y="28796"/>
                </a:lnTo>
                <a:lnTo>
                  <a:pt x="227275" y="18573"/>
                </a:lnTo>
                <a:lnTo>
                  <a:pt x="212900" y="8968"/>
                </a:lnTo>
                <a:lnTo>
                  <a:pt x="198121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04-label178"/>
          <p:cNvSpPr txBox="1"/>
          <p:nvPr/>
        </p:nvSpPr>
        <p:spPr>
          <a:xfrm>
            <a:off x="1497856" y="5318761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7" name="S04-mark179"/>
          <p:cNvSpPr/>
          <p:nvPr/>
        </p:nvSpPr>
        <p:spPr>
          <a:xfrm>
            <a:off x="4840021" y="5509007"/>
            <a:ext cx="396240" cy="343153"/>
          </a:xfrm>
          <a:custGeom>
            <a:avLst/>
            <a:gdLst/>
            <a:ahLst/>
            <a:cxnLst/>
            <a:rect l="l" t="t" r="r" b="b"/>
            <a:pathLst>
              <a:path w="396240" h="343153">
                <a:moveTo>
                  <a:pt x="396240" y="343153"/>
                </a:moveTo>
                <a:lnTo>
                  <a:pt x="198119" y="0"/>
                </a:lnTo>
                <a:lnTo>
                  <a:pt x="183340" y="8968"/>
                </a:lnTo>
                <a:lnTo>
                  <a:pt x="168965" y="18573"/>
                </a:lnTo>
                <a:lnTo>
                  <a:pt x="155024" y="28796"/>
                </a:lnTo>
                <a:lnTo>
                  <a:pt x="141541" y="39616"/>
                </a:lnTo>
                <a:lnTo>
                  <a:pt x="128544" y="51015"/>
                </a:lnTo>
                <a:lnTo>
                  <a:pt x="116055" y="62970"/>
                </a:lnTo>
                <a:lnTo>
                  <a:pt x="104101" y="75458"/>
                </a:lnTo>
                <a:lnTo>
                  <a:pt x="92702" y="88456"/>
                </a:lnTo>
                <a:lnTo>
                  <a:pt x="81881" y="101938"/>
                </a:lnTo>
                <a:lnTo>
                  <a:pt x="71659" y="115880"/>
                </a:lnTo>
                <a:lnTo>
                  <a:pt x="62054" y="130254"/>
                </a:lnTo>
                <a:lnTo>
                  <a:pt x="53086" y="145034"/>
                </a:lnTo>
                <a:lnTo>
                  <a:pt x="44771" y="160191"/>
                </a:lnTo>
                <a:lnTo>
                  <a:pt x="37124" y="175696"/>
                </a:lnTo>
                <a:lnTo>
                  <a:pt x="30162" y="191519"/>
                </a:lnTo>
                <a:lnTo>
                  <a:pt x="23896" y="207632"/>
                </a:lnTo>
                <a:lnTo>
                  <a:pt x="18339" y="224002"/>
                </a:lnTo>
                <a:lnTo>
                  <a:pt x="13501" y="240599"/>
                </a:lnTo>
                <a:lnTo>
                  <a:pt x="9392" y="257392"/>
                </a:lnTo>
                <a:lnTo>
                  <a:pt x="6020" y="274347"/>
                </a:lnTo>
                <a:lnTo>
                  <a:pt x="3390" y="291434"/>
                </a:lnTo>
                <a:lnTo>
                  <a:pt x="1508" y="308619"/>
                </a:lnTo>
                <a:lnTo>
                  <a:pt x="377" y="325870"/>
                </a:lnTo>
                <a:lnTo>
                  <a:pt x="0" y="3431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4-label181"/>
          <p:cNvSpPr txBox="1"/>
          <p:nvPr/>
        </p:nvSpPr>
        <p:spPr>
          <a:xfrm>
            <a:off x="4322300" y="5318761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9" name="S04-mark182"/>
          <p:cNvSpPr/>
          <p:nvPr/>
        </p:nvSpPr>
        <p:spPr>
          <a:xfrm>
            <a:off x="3031997" y="2377440"/>
            <a:ext cx="396242" cy="396240"/>
          </a:xfrm>
          <a:custGeom>
            <a:avLst/>
            <a:gdLst/>
            <a:ahLst/>
            <a:cxnLst/>
            <a:rect l="l" t="t" r="r" b="b"/>
            <a:pathLst>
              <a:path w="396242" h="396240">
                <a:moveTo>
                  <a:pt x="198121" y="0"/>
                </a:moveTo>
                <a:lnTo>
                  <a:pt x="0" y="343153"/>
                </a:lnTo>
                <a:lnTo>
                  <a:pt x="15157" y="351469"/>
                </a:lnTo>
                <a:lnTo>
                  <a:pt x="30662" y="359115"/>
                </a:lnTo>
                <a:lnTo>
                  <a:pt x="46486" y="366078"/>
                </a:lnTo>
                <a:lnTo>
                  <a:pt x="62598" y="372344"/>
                </a:lnTo>
                <a:lnTo>
                  <a:pt x="78969" y="377901"/>
                </a:lnTo>
                <a:lnTo>
                  <a:pt x="95566" y="382738"/>
                </a:lnTo>
                <a:lnTo>
                  <a:pt x="112358" y="386847"/>
                </a:lnTo>
                <a:lnTo>
                  <a:pt x="129314" y="390220"/>
                </a:lnTo>
                <a:lnTo>
                  <a:pt x="146401" y="392850"/>
                </a:lnTo>
                <a:lnTo>
                  <a:pt x="163586" y="394732"/>
                </a:lnTo>
                <a:lnTo>
                  <a:pt x="180837" y="395863"/>
                </a:lnTo>
                <a:lnTo>
                  <a:pt x="198121" y="396240"/>
                </a:lnTo>
                <a:lnTo>
                  <a:pt x="215405" y="395863"/>
                </a:lnTo>
                <a:lnTo>
                  <a:pt x="232656" y="394732"/>
                </a:lnTo>
                <a:lnTo>
                  <a:pt x="249841" y="392850"/>
                </a:lnTo>
                <a:lnTo>
                  <a:pt x="266928" y="390220"/>
                </a:lnTo>
                <a:lnTo>
                  <a:pt x="283883" y="386847"/>
                </a:lnTo>
                <a:lnTo>
                  <a:pt x="300676" y="382738"/>
                </a:lnTo>
                <a:lnTo>
                  <a:pt x="317273" y="377901"/>
                </a:lnTo>
                <a:lnTo>
                  <a:pt x="333644" y="372344"/>
                </a:lnTo>
                <a:lnTo>
                  <a:pt x="349756" y="366078"/>
                </a:lnTo>
                <a:lnTo>
                  <a:pt x="365580" y="359115"/>
                </a:lnTo>
                <a:lnTo>
                  <a:pt x="381085" y="351469"/>
                </a:lnTo>
                <a:lnTo>
                  <a:pt x="396242" y="3431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4-label184"/>
          <p:cNvSpPr txBox="1"/>
          <p:nvPr/>
        </p:nvSpPr>
        <p:spPr>
          <a:xfrm>
            <a:off x="2910078" y="2872740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1" name="S04-mark185"/>
          <p:cNvSpPr/>
          <p:nvPr/>
        </p:nvSpPr>
        <p:spPr>
          <a:xfrm flipV="1">
            <a:off x="3230118" y="57607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abel187"/>
          <p:cNvSpPr txBox="1"/>
          <p:nvPr/>
        </p:nvSpPr>
        <p:spPr>
          <a:xfrm>
            <a:off x="2818638" y="593598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3" name="S04-mark188"/>
          <p:cNvSpPr/>
          <p:nvPr/>
        </p:nvSpPr>
        <p:spPr>
          <a:xfrm flipH="1">
            <a:off x="4154000" y="4069080"/>
            <a:ext cx="158378" cy="914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abel190"/>
          <p:cNvSpPr txBox="1"/>
          <p:nvPr/>
        </p:nvSpPr>
        <p:spPr>
          <a:xfrm>
            <a:off x="4226976" y="3690318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5" name="S04-mark191"/>
          <p:cNvSpPr/>
          <p:nvPr/>
        </p:nvSpPr>
        <p:spPr>
          <a:xfrm>
            <a:off x="2147857" y="4069080"/>
            <a:ext cx="158378" cy="914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193"/>
          <p:cNvSpPr txBox="1"/>
          <p:nvPr/>
        </p:nvSpPr>
        <p:spPr>
          <a:xfrm>
            <a:off x="1410300" y="3690318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7" name="S04-card194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4-cardtext195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변의 길이가 같은 삼각형이에요.</a:t>
            </a:r>
            <a:endParaRPr lang="ko-KR" sz="3000" dirty="0"/>
          </a:p>
        </p:txBody>
      </p:sp>
      <p:sp>
        <p:nvSpPr>
          <p:cNvPr id="19" name="S04-card196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4-cardtext197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각이 모두 60°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÷ 3 = 60°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5-card19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19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정삼각형은 이등변삼각형이라고 할 수 있을까요?</a:t>
            </a:r>
            <a:endParaRPr lang="ko-KR" sz="3000" dirty="0"/>
          </a:p>
        </p:txBody>
      </p:sp>
      <p:sp>
        <p:nvSpPr>
          <p:cNvPr id="5" name="S05-card2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5-chip20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아니에요</a:t>
            </a:r>
            <a:endParaRPr lang="ko-KR" sz="2400" dirty="0"/>
          </a:p>
        </p:txBody>
      </p:sp>
      <p:sp>
        <p:nvSpPr>
          <p:cNvPr id="8" name="S05-text20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“세 변이 같으니까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삼각형이에요.”</a:t>
            </a:r>
            <a:endParaRPr lang="ko-KR" sz="3000" dirty="0"/>
          </a:p>
        </p:txBody>
      </p:sp>
      <p:sp>
        <p:nvSpPr>
          <p:cNvPr id="9" name="S05-chip20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맞아요</a:t>
            </a:r>
            <a:endParaRPr lang="ko-KR" sz="2400" dirty="0"/>
          </a:p>
        </p:txBody>
      </p:sp>
      <p:sp>
        <p:nvSpPr>
          <p:cNvPr id="10" name="S05-text20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“세 변이 같으면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변도 같아요.”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길이로 이름 붙이기</a:t>
            </a:r>
            <a:endParaRPr lang="ko-KR" sz="4000" dirty="0"/>
          </a:p>
        </p:txBody>
      </p:sp>
      <p:sp>
        <p:nvSpPr>
          <p:cNvPr id="3" name="S06-text2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이등변삼각형, 정삼각형, 둘 다 아님 중에서 골라요.</a:t>
            </a:r>
            <a:endParaRPr lang="ko-KR" sz="3000" dirty="0"/>
          </a:p>
        </p:txBody>
      </p:sp>
      <p:sp>
        <p:nvSpPr>
          <p:cNvPr id="4" name="S06-card2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길이 표시와 길이를 보고, 까닭을 말해요.</a:t>
            </a:r>
            <a:endParaRPr lang="ko-KR" sz="3000" dirty="0"/>
          </a:p>
        </p:txBody>
      </p:sp>
      <p:sp>
        <p:nvSpPr>
          <p:cNvPr id="6" name="S06-figure209" descr="세 변이 4 cm인 삼각형"/>
          <p:cNvSpPr/>
          <p:nvPr/>
        </p:nvSpPr>
        <p:spPr>
          <a:xfrm>
            <a:off x="1197758" y="2377440"/>
            <a:ext cx="2185627" cy="1892808"/>
          </a:xfrm>
          <a:custGeom>
            <a:avLst/>
            <a:gdLst/>
            <a:ahLst/>
            <a:cxnLst/>
            <a:rect l="l" t="t" r="r" b="b"/>
            <a:pathLst>
              <a:path w="2185627" h="1892808">
                <a:moveTo>
                  <a:pt x="0" y="1892808"/>
                </a:moveTo>
                <a:lnTo>
                  <a:pt x="2185627" y="1892808"/>
                </a:lnTo>
                <a:lnTo>
                  <a:pt x="109281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210"/>
          <p:cNvSpPr/>
          <p:nvPr/>
        </p:nvSpPr>
        <p:spPr>
          <a:xfrm flipV="1">
            <a:off x="2290572" y="4178808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label212"/>
          <p:cNvSpPr txBox="1"/>
          <p:nvPr/>
        </p:nvSpPr>
        <p:spPr>
          <a:xfrm>
            <a:off x="1879092" y="4354068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400" dirty="0"/>
          </a:p>
        </p:txBody>
      </p:sp>
      <p:sp>
        <p:nvSpPr>
          <p:cNvPr id="9" name="S06-mark213"/>
          <p:cNvSpPr/>
          <p:nvPr/>
        </p:nvSpPr>
        <p:spPr>
          <a:xfrm flipH="1">
            <a:off x="2757790" y="3278124"/>
            <a:ext cx="158379" cy="914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label215"/>
          <p:cNvSpPr txBox="1"/>
          <p:nvPr/>
        </p:nvSpPr>
        <p:spPr>
          <a:xfrm>
            <a:off x="2830766" y="2899363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400" dirty="0"/>
          </a:p>
        </p:txBody>
      </p:sp>
      <p:sp>
        <p:nvSpPr>
          <p:cNvPr id="11" name="S06-mark216"/>
          <p:cNvSpPr/>
          <p:nvPr/>
        </p:nvSpPr>
        <p:spPr>
          <a:xfrm>
            <a:off x="1664976" y="3278124"/>
            <a:ext cx="158379" cy="914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label218"/>
          <p:cNvSpPr txBox="1"/>
          <p:nvPr/>
        </p:nvSpPr>
        <p:spPr>
          <a:xfrm>
            <a:off x="927418" y="2899363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400" dirty="0"/>
          </a:p>
        </p:txBody>
      </p:sp>
      <p:sp>
        <p:nvSpPr>
          <p:cNvPr id="13" name="S06-label219"/>
          <p:cNvSpPr txBox="1"/>
          <p:nvPr/>
        </p:nvSpPr>
        <p:spPr>
          <a:xfrm>
            <a:off x="548640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4" name="S06-figure220" descr="옆으로 누운 삼각형, 변 3 cm, 5 cm, 5 cm"/>
          <p:cNvSpPr/>
          <p:nvPr/>
        </p:nvSpPr>
        <p:spPr>
          <a:xfrm>
            <a:off x="4742438" y="2473452"/>
            <a:ext cx="2704076" cy="1700784"/>
          </a:xfrm>
          <a:custGeom>
            <a:avLst/>
            <a:gdLst/>
            <a:ahLst/>
            <a:cxnLst/>
            <a:rect l="l" t="t" r="r" b="b"/>
            <a:pathLst>
              <a:path w="2704076" h="1700784">
                <a:moveTo>
                  <a:pt x="0" y="1700784"/>
                </a:moveTo>
                <a:lnTo>
                  <a:pt x="0" y="0"/>
                </a:lnTo>
                <a:lnTo>
                  <a:pt x="2704076" y="85039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6-label222"/>
          <p:cNvSpPr txBox="1"/>
          <p:nvPr/>
        </p:nvSpPr>
        <p:spPr>
          <a:xfrm>
            <a:off x="3910334" y="3133344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16" name="S06-mark223"/>
          <p:cNvSpPr/>
          <p:nvPr/>
        </p:nvSpPr>
        <p:spPr>
          <a:xfrm flipH="1">
            <a:off x="6067044" y="2811420"/>
            <a:ext cx="54864" cy="17445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6-label225"/>
          <p:cNvSpPr txBox="1"/>
          <p:nvPr/>
        </p:nvSpPr>
        <p:spPr>
          <a:xfrm>
            <a:off x="5792391" y="2360293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8" name="S06-mark226"/>
          <p:cNvSpPr/>
          <p:nvPr/>
        </p:nvSpPr>
        <p:spPr>
          <a:xfrm flipH="1" flipV="1">
            <a:off x="6067044" y="3661812"/>
            <a:ext cx="54864" cy="17445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6-label228"/>
          <p:cNvSpPr txBox="1"/>
          <p:nvPr/>
        </p:nvSpPr>
        <p:spPr>
          <a:xfrm>
            <a:off x="5792391" y="3906395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20" name="S06-label229"/>
          <p:cNvSpPr txBox="1"/>
          <p:nvPr/>
        </p:nvSpPr>
        <p:spPr>
          <a:xfrm>
            <a:off x="4352544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1" name="S06-figure230" descr="세 변이 4 cm, 3 cm, 5 cm인 삼각형"/>
          <p:cNvSpPr/>
          <p:nvPr/>
        </p:nvSpPr>
        <p:spPr>
          <a:xfrm>
            <a:off x="8764524" y="2473452"/>
            <a:ext cx="2267712" cy="1700784"/>
          </a:xfrm>
          <a:custGeom>
            <a:avLst/>
            <a:gdLst/>
            <a:ahLst/>
            <a:cxnLst/>
            <a:rect l="l" t="t" r="r" b="b"/>
            <a:pathLst>
              <a:path w="2267712" h="1700784">
                <a:moveTo>
                  <a:pt x="0" y="1700784"/>
                </a:moveTo>
                <a:lnTo>
                  <a:pt x="2267712" y="1700784"/>
                </a:lnTo>
                <a:lnTo>
                  <a:pt x="226771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6-label232"/>
          <p:cNvSpPr txBox="1"/>
          <p:nvPr/>
        </p:nvSpPr>
        <p:spPr>
          <a:xfrm>
            <a:off x="9486900" y="4258056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400" dirty="0"/>
          </a:p>
        </p:txBody>
      </p:sp>
      <p:sp>
        <p:nvSpPr>
          <p:cNvPr id="23" name="S06-label234"/>
          <p:cNvSpPr txBox="1"/>
          <p:nvPr/>
        </p:nvSpPr>
        <p:spPr>
          <a:xfrm>
            <a:off x="11041380" y="3133344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24" name="S06-label236"/>
          <p:cNvSpPr txBox="1"/>
          <p:nvPr/>
        </p:nvSpPr>
        <p:spPr>
          <a:xfrm>
            <a:off x="9225747" y="278514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25" name="S06-label237"/>
          <p:cNvSpPr txBox="1"/>
          <p:nvPr/>
        </p:nvSpPr>
        <p:spPr>
          <a:xfrm>
            <a:off x="8156448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크기로 나누기</a:t>
            </a:r>
            <a:endParaRPr lang="ko-KR" sz="4000" dirty="0"/>
          </a:p>
        </p:txBody>
      </p:sp>
      <p:sp>
        <p:nvSpPr>
          <p:cNvPr id="3" name="S07-card238"/>
          <p:cNvSpPr/>
          <p:nvPr/>
        </p:nvSpPr>
        <p:spPr>
          <a:xfrm>
            <a:off x="548640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239"/>
          <p:cNvSpPr txBox="1"/>
          <p:nvPr/>
        </p:nvSpPr>
        <p:spPr>
          <a:xfrm>
            <a:off x="822960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각이 모두 예각</a:t>
            </a:r>
            <a:endParaRPr lang="ko-KR" sz="3000" dirty="0"/>
          </a:p>
        </p:txBody>
      </p:sp>
      <p:sp>
        <p:nvSpPr>
          <p:cNvPr id="5" name="S07-card240"/>
          <p:cNvSpPr/>
          <p:nvPr/>
        </p:nvSpPr>
        <p:spPr>
          <a:xfrm>
            <a:off x="4322064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241"/>
          <p:cNvSpPr txBox="1"/>
          <p:nvPr/>
        </p:nvSpPr>
        <p:spPr>
          <a:xfrm>
            <a:off x="4596384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각이 직각</a:t>
            </a:r>
            <a:endParaRPr lang="ko-KR" sz="3000" dirty="0"/>
          </a:p>
        </p:txBody>
      </p:sp>
      <p:sp>
        <p:nvSpPr>
          <p:cNvPr id="7" name="S07-card242"/>
          <p:cNvSpPr/>
          <p:nvPr/>
        </p:nvSpPr>
        <p:spPr>
          <a:xfrm>
            <a:off x="8095488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243"/>
          <p:cNvSpPr txBox="1"/>
          <p:nvPr/>
        </p:nvSpPr>
        <p:spPr>
          <a:xfrm>
            <a:off x="8369808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각이 둔각</a:t>
            </a:r>
            <a:endParaRPr lang="ko-KR" sz="3000" dirty="0"/>
          </a:p>
        </p:txBody>
      </p:sp>
      <p:sp>
        <p:nvSpPr>
          <p:cNvPr id="9" name="S07-figure244" descr="세 각이 50°, 70°, 60°인 삼각형"/>
          <p:cNvSpPr/>
          <p:nvPr/>
        </p:nvSpPr>
        <p:spPr>
          <a:xfrm>
            <a:off x="1033272" y="1749186"/>
            <a:ext cx="2514600" cy="2090136"/>
          </a:xfrm>
          <a:custGeom>
            <a:avLst/>
            <a:gdLst/>
            <a:ahLst/>
            <a:cxnLst/>
            <a:rect l="l" t="t" r="r" b="b"/>
            <a:pathLst>
              <a:path w="2514600" h="2090136">
                <a:moveTo>
                  <a:pt x="0" y="2090136"/>
                </a:moveTo>
                <a:lnTo>
                  <a:pt x="2514600" y="2090136"/>
                </a:lnTo>
                <a:lnTo>
                  <a:pt x="1753833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7-mark245"/>
          <p:cNvSpPr/>
          <p:nvPr/>
        </p:nvSpPr>
        <p:spPr>
          <a:xfrm>
            <a:off x="1033272" y="3415537"/>
            <a:ext cx="553212" cy="423785"/>
          </a:xfrm>
          <a:custGeom>
            <a:avLst/>
            <a:gdLst/>
            <a:ahLst/>
            <a:cxnLst/>
            <a:rect l="l" t="t" r="r" b="b"/>
            <a:pathLst>
              <a:path w="553212" h="423785">
                <a:moveTo>
                  <a:pt x="0" y="423785"/>
                </a:moveTo>
                <a:lnTo>
                  <a:pt x="553212" y="423785"/>
                </a:lnTo>
                <a:lnTo>
                  <a:pt x="552846" y="403674"/>
                </a:lnTo>
                <a:lnTo>
                  <a:pt x="551750" y="383590"/>
                </a:lnTo>
                <a:lnTo>
                  <a:pt x="549924" y="363558"/>
                </a:lnTo>
                <a:lnTo>
                  <a:pt x="547371" y="343607"/>
                </a:lnTo>
                <a:lnTo>
                  <a:pt x="544094" y="323761"/>
                </a:lnTo>
                <a:lnTo>
                  <a:pt x="540099" y="304048"/>
                </a:lnTo>
                <a:lnTo>
                  <a:pt x="535389" y="284493"/>
                </a:lnTo>
                <a:lnTo>
                  <a:pt x="529971" y="265122"/>
                </a:lnTo>
                <a:lnTo>
                  <a:pt x="523853" y="245961"/>
                </a:lnTo>
                <a:lnTo>
                  <a:pt x="517042" y="227035"/>
                </a:lnTo>
                <a:lnTo>
                  <a:pt x="509548" y="208369"/>
                </a:lnTo>
                <a:lnTo>
                  <a:pt x="501380" y="189987"/>
                </a:lnTo>
                <a:lnTo>
                  <a:pt x="492550" y="171915"/>
                </a:lnTo>
                <a:lnTo>
                  <a:pt x="483068" y="154176"/>
                </a:lnTo>
                <a:lnTo>
                  <a:pt x="472948" y="136793"/>
                </a:lnTo>
                <a:lnTo>
                  <a:pt x="462202" y="119790"/>
                </a:lnTo>
                <a:lnTo>
                  <a:pt x="450845" y="103189"/>
                </a:lnTo>
                <a:lnTo>
                  <a:pt x="438893" y="87011"/>
                </a:lnTo>
                <a:lnTo>
                  <a:pt x="426360" y="71278"/>
                </a:lnTo>
                <a:lnTo>
                  <a:pt x="413263" y="56012"/>
                </a:lnTo>
                <a:lnTo>
                  <a:pt x="399621" y="41232"/>
                </a:lnTo>
                <a:lnTo>
                  <a:pt x="385449" y="26957"/>
                </a:lnTo>
                <a:lnTo>
                  <a:pt x="370769" y="13207"/>
                </a:lnTo>
                <a:lnTo>
                  <a:pt x="35559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7-label247"/>
          <p:cNvSpPr txBox="1"/>
          <p:nvPr/>
        </p:nvSpPr>
        <p:spPr>
          <a:xfrm>
            <a:off x="1477043" y="3292651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12" name="S07-mark248"/>
          <p:cNvSpPr/>
          <p:nvPr/>
        </p:nvSpPr>
        <p:spPr>
          <a:xfrm>
            <a:off x="3151632" y="3466979"/>
            <a:ext cx="396240" cy="372343"/>
          </a:xfrm>
          <a:custGeom>
            <a:avLst/>
            <a:gdLst/>
            <a:ahLst/>
            <a:cxnLst/>
            <a:rect l="l" t="t" r="r" b="b"/>
            <a:pathLst>
              <a:path w="396240" h="372343">
                <a:moveTo>
                  <a:pt x="396240" y="372343"/>
                </a:moveTo>
                <a:lnTo>
                  <a:pt x="260715" y="0"/>
                </a:lnTo>
                <a:lnTo>
                  <a:pt x="241944" y="7378"/>
                </a:lnTo>
                <a:lnTo>
                  <a:pt x="223574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8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3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7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3" name="S07-label250"/>
          <p:cNvSpPr txBox="1"/>
          <p:nvPr/>
        </p:nvSpPr>
        <p:spPr>
          <a:xfrm>
            <a:off x="2666056" y="3255465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4" name="S07-mark251"/>
          <p:cNvSpPr/>
          <p:nvPr/>
        </p:nvSpPr>
        <p:spPr>
          <a:xfrm>
            <a:off x="2532407" y="1749186"/>
            <a:ext cx="390223" cy="396240"/>
          </a:xfrm>
          <a:custGeom>
            <a:avLst/>
            <a:gdLst/>
            <a:ahLst/>
            <a:cxnLst/>
            <a:rect l="l" t="t" r="r" b="b"/>
            <a:pathLst>
              <a:path w="390223" h="396240">
                <a:moveTo>
                  <a:pt x="254698" y="0"/>
                </a:moveTo>
                <a:lnTo>
                  <a:pt x="0" y="303537"/>
                </a:lnTo>
                <a:lnTo>
                  <a:pt x="13483" y="314358"/>
                </a:lnTo>
                <a:lnTo>
                  <a:pt x="27424" y="324581"/>
                </a:lnTo>
                <a:lnTo>
                  <a:pt x="41799" y="334186"/>
                </a:lnTo>
                <a:lnTo>
                  <a:pt x="56579" y="343154"/>
                </a:lnTo>
                <a:lnTo>
                  <a:pt x="71736" y="351469"/>
                </a:lnTo>
                <a:lnTo>
                  <a:pt x="87241" y="359116"/>
                </a:lnTo>
                <a:lnTo>
                  <a:pt x="103065" y="366078"/>
                </a:lnTo>
                <a:lnTo>
                  <a:pt x="119177" y="372344"/>
                </a:lnTo>
                <a:lnTo>
                  <a:pt x="135548" y="377901"/>
                </a:lnTo>
                <a:lnTo>
                  <a:pt x="152145" y="382739"/>
                </a:lnTo>
                <a:lnTo>
                  <a:pt x="168938" y="386848"/>
                </a:lnTo>
                <a:lnTo>
                  <a:pt x="185893" y="390221"/>
                </a:lnTo>
                <a:lnTo>
                  <a:pt x="202980" y="392850"/>
                </a:lnTo>
                <a:lnTo>
                  <a:pt x="220166" y="394732"/>
                </a:lnTo>
                <a:lnTo>
                  <a:pt x="237417" y="395863"/>
                </a:lnTo>
                <a:lnTo>
                  <a:pt x="254700" y="396240"/>
                </a:lnTo>
                <a:lnTo>
                  <a:pt x="271984" y="395863"/>
                </a:lnTo>
                <a:lnTo>
                  <a:pt x="289235" y="394732"/>
                </a:lnTo>
                <a:lnTo>
                  <a:pt x="306421" y="392850"/>
                </a:lnTo>
                <a:lnTo>
                  <a:pt x="323507" y="390220"/>
                </a:lnTo>
                <a:lnTo>
                  <a:pt x="340463" y="386847"/>
                </a:lnTo>
                <a:lnTo>
                  <a:pt x="357256" y="382738"/>
                </a:lnTo>
                <a:lnTo>
                  <a:pt x="373853" y="377900"/>
                </a:lnTo>
                <a:lnTo>
                  <a:pt x="390223" y="37234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5" name="S07-label253"/>
          <p:cNvSpPr txBox="1"/>
          <p:nvPr/>
        </p:nvSpPr>
        <p:spPr>
          <a:xfrm>
            <a:off x="2347980" y="223406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6" name="S07-label254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예각삼각형</a:t>
            </a:r>
            <a:endParaRPr lang="ko-KR" sz="2400" dirty="0"/>
          </a:p>
        </p:txBody>
      </p:sp>
      <p:sp>
        <p:nvSpPr>
          <p:cNvPr id="17" name="S07-figure255" descr="한 각이 직각, 나머지 각이 30°, 60°인 삼각형"/>
          <p:cNvSpPr/>
          <p:nvPr/>
        </p:nvSpPr>
        <p:spPr>
          <a:xfrm>
            <a:off x="4787840" y="2039874"/>
            <a:ext cx="2613273" cy="1508760"/>
          </a:xfrm>
          <a:custGeom>
            <a:avLst/>
            <a:gdLst/>
            <a:ahLst/>
            <a:cxnLst/>
            <a:rect l="l" t="t" r="r" b="b"/>
            <a:pathLst>
              <a:path w="2613273" h="1508760">
                <a:moveTo>
                  <a:pt x="0" y="1508760"/>
                </a:moveTo>
                <a:lnTo>
                  <a:pt x="2613273" y="1508760"/>
                </a:lnTo>
                <a:lnTo>
                  <a:pt x="2613273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7-mark256"/>
          <p:cNvSpPr/>
          <p:nvPr/>
        </p:nvSpPr>
        <p:spPr>
          <a:xfrm>
            <a:off x="4787840" y="3146301"/>
            <a:ext cx="804672" cy="402333"/>
          </a:xfrm>
          <a:custGeom>
            <a:avLst/>
            <a:gdLst/>
            <a:ahLst/>
            <a:cxnLst/>
            <a:rect l="l" t="t" r="r" b="b"/>
            <a:pathLst>
              <a:path w="804672" h="402333">
                <a:moveTo>
                  <a:pt x="0" y="402333"/>
                </a:moveTo>
                <a:lnTo>
                  <a:pt x="804672" y="402333"/>
                </a:lnTo>
                <a:lnTo>
                  <a:pt x="804481" y="384780"/>
                </a:lnTo>
                <a:lnTo>
                  <a:pt x="803906" y="367234"/>
                </a:lnTo>
                <a:lnTo>
                  <a:pt x="802949" y="349706"/>
                </a:lnTo>
                <a:lnTo>
                  <a:pt x="801610" y="332202"/>
                </a:lnTo>
                <a:lnTo>
                  <a:pt x="799889" y="314732"/>
                </a:lnTo>
                <a:lnTo>
                  <a:pt x="797788" y="297303"/>
                </a:lnTo>
                <a:lnTo>
                  <a:pt x="795307" y="279925"/>
                </a:lnTo>
                <a:lnTo>
                  <a:pt x="792447" y="262604"/>
                </a:lnTo>
                <a:lnTo>
                  <a:pt x="789211" y="245351"/>
                </a:lnTo>
                <a:lnTo>
                  <a:pt x="785598" y="228172"/>
                </a:lnTo>
                <a:lnTo>
                  <a:pt x="781612" y="211075"/>
                </a:lnTo>
                <a:lnTo>
                  <a:pt x="777254" y="194070"/>
                </a:lnTo>
                <a:lnTo>
                  <a:pt x="772526" y="177164"/>
                </a:lnTo>
                <a:lnTo>
                  <a:pt x="767430" y="160365"/>
                </a:lnTo>
                <a:lnTo>
                  <a:pt x="761969" y="143682"/>
                </a:lnTo>
                <a:lnTo>
                  <a:pt x="756145" y="127121"/>
                </a:lnTo>
                <a:lnTo>
                  <a:pt x="749961" y="110692"/>
                </a:lnTo>
                <a:lnTo>
                  <a:pt x="743421" y="94401"/>
                </a:lnTo>
                <a:lnTo>
                  <a:pt x="736527" y="78257"/>
                </a:lnTo>
                <a:lnTo>
                  <a:pt x="729282" y="62267"/>
                </a:lnTo>
                <a:lnTo>
                  <a:pt x="721690" y="46438"/>
                </a:lnTo>
                <a:lnTo>
                  <a:pt x="713754" y="30780"/>
                </a:lnTo>
                <a:lnTo>
                  <a:pt x="705479" y="15298"/>
                </a:lnTo>
                <a:lnTo>
                  <a:pt x="69686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9" name="S07-label258"/>
          <p:cNvSpPr txBox="1"/>
          <p:nvPr/>
        </p:nvSpPr>
        <p:spPr>
          <a:xfrm>
            <a:off x="5524747" y="307492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2400" dirty="0"/>
          </a:p>
        </p:txBody>
      </p:sp>
      <p:sp>
        <p:nvSpPr>
          <p:cNvPr id="20" name="S07-mark259"/>
          <p:cNvSpPr/>
          <p:nvPr/>
        </p:nvSpPr>
        <p:spPr>
          <a:xfrm>
            <a:off x="7057958" y="2039874"/>
            <a:ext cx="343155" cy="396240"/>
          </a:xfrm>
          <a:custGeom>
            <a:avLst/>
            <a:gdLst/>
            <a:ahLst/>
            <a:cxnLst/>
            <a:rect l="l" t="t" r="r" b="b"/>
            <a:pathLst>
              <a:path w="343155" h="396240">
                <a:moveTo>
                  <a:pt x="343155" y="0"/>
                </a:moveTo>
                <a:lnTo>
                  <a:pt x="0" y="198119"/>
                </a:lnTo>
                <a:lnTo>
                  <a:pt x="8968" y="212898"/>
                </a:lnTo>
                <a:lnTo>
                  <a:pt x="18573" y="227273"/>
                </a:lnTo>
                <a:lnTo>
                  <a:pt x="28796" y="241215"/>
                </a:lnTo>
                <a:lnTo>
                  <a:pt x="39616" y="254697"/>
                </a:lnTo>
                <a:lnTo>
                  <a:pt x="51015" y="267695"/>
                </a:lnTo>
                <a:lnTo>
                  <a:pt x="62970" y="280183"/>
                </a:lnTo>
                <a:lnTo>
                  <a:pt x="75458" y="292138"/>
                </a:lnTo>
                <a:lnTo>
                  <a:pt x="88456" y="303537"/>
                </a:lnTo>
                <a:lnTo>
                  <a:pt x="101938" y="314358"/>
                </a:lnTo>
                <a:lnTo>
                  <a:pt x="115880" y="324580"/>
                </a:lnTo>
                <a:lnTo>
                  <a:pt x="130254" y="334185"/>
                </a:lnTo>
                <a:lnTo>
                  <a:pt x="145034" y="343154"/>
                </a:lnTo>
                <a:lnTo>
                  <a:pt x="160191" y="351469"/>
                </a:lnTo>
                <a:lnTo>
                  <a:pt x="175696" y="359115"/>
                </a:lnTo>
                <a:lnTo>
                  <a:pt x="191520" y="366078"/>
                </a:lnTo>
                <a:lnTo>
                  <a:pt x="207632" y="372344"/>
                </a:lnTo>
                <a:lnTo>
                  <a:pt x="224003" y="377901"/>
                </a:lnTo>
                <a:lnTo>
                  <a:pt x="240600" y="382738"/>
                </a:lnTo>
                <a:lnTo>
                  <a:pt x="257392" y="386847"/>
                </a:lnTo>
                <a:lnTo>
                  <a:pt x="274348" y="390220"/>
                </a:lnTo>
                <a:lnTo>
                  <a:pt x="291435" y="392850"/>
                </a:lnTo>
                <a:lnTo>
                  <a:pt x="308620" y="394732"/>
                </a:lnTo>
                <a:lnTo>
                  <a:pt x="325871" y="395863"/>
                </a:lnTo>
                <a:lnTo>
                  <a:pt x="343155" y="39624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1" name="S07-label261"/>
          <p:cNvSpPr txBox="1"/>
          <p:nvPr/>
        </p:nvSpPr>
        <p:spPr>
          <a:xfrm>
            <a:off x="6738171" y="2443294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22" name="S07-mark262"/>
          <p:cNvSpPr/>
          <p:nvPr/>
        </p:nvSpPr>
        <p:spPr>
          <a:xfrm>
            <a:off x="7172512" y="33200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7-label263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직각삼각형</a:t>
            </a:r>
            <a:endParaRPr lang="ko-KR" sz="2400" dirty="0"/>
          </a:p>
        </p:txBody>
      </p:sp>
      <p:sp>
        <p:nvSpPr>
          <p:cNvPr id="24" name="S07-figure264" descr="세 각이 110°, 30°, 40°인 삼각형, 둔각이 왼쪽 아래 꼭짓점"/>
          <p:cNvSpPr/>
          <p:nvPr/>
        </p:nvSpPr>
        <p:spPr>
          <a:xfrm>
            <a:off x="8624936" y="2059035"/>
            <a:ext cx="2546887" cy="1470437"/>
          </a:xfrm>
          <a:custGeom>
            <a:avLst/>
            <a:gdLst/>
            <a:ahLst/>
            <a:cxnLst/>
            <a:rect l="l" t="t" r="r" b="b"/>
            <a:pathLst>
              <a:path w="2546887" h="1470437">
                <a:moveTo>
                  <a:pt x="535207" y="1470437"/>
                </a:moveTo>
                <a:lnTo>
                  <a:pt x="2546887" y="1470437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7-mark265"/>
          <p:cNvSpPr/>
          <p:nvPr/>
        </p:nvSpPr>
        <p:spPr>
          <a:xfrm>
            <a:off x="9024619" y="3133400"/>
            <a:ext cx="531765" cy="396072"/>
          </a:xfrm>
          <a:custGeom>
            <a:avLst/>
            <a:gdLst/>
            <a:ahLst/>
            <a:cxnLst/>
            <a:rect l="l" t="t" r="r" b="b"/>
            <a:pathLst>
              <a:path w="531765" h="396072">
                <a:moveTo>
                  <a:pt x="135525" y="396072"/>
                </a:moveTo>
                <a:lnTo>
                  <a:pt x="531765" y="396072"/>
                </a:lnTo>
                <a:lnTo>
                  <a:pt x="530498" y="364409"/>
                </a:lnTo>
                <a:lnTo>
                  <a:pt x="526704" y="332948"/>
                </a:lnTo>
                <a:lnTo>
                  <a:pt x="520409" y="301891"/>
                </a:lnTo>
                <a:lnTo>
                  <a:pt x="511652" y="271437"/>
                </a:lnTo>
                <a:lnTo>
                  <a:pt x="500490" y="241779"/>
                </a:lnTo>
                <a:lnTo>
                  <a:pt x="486994" y="213108"/>
                </a:lnTo>
                <a:lnTo>
                  <a:pt x="471249" y="185608"/>
                </a:lnTo>
                <a:lnTo>
                  <a:pt x="453357" y="159453"/>
                </a:lnTo>
                <a:lnTo>
                  <a:pt x="433433" y="134812"/>
                </a:lnTo>
                <a:lnTo>
                  <a:pt x="411603" y="111842"/>
                </a:lnTo>
                <a:lnTo>
                  <a:pt x="388008" y="90690"/>
                </a:lnTo>
                <a:lnTo>
                  <a:pt x="362798" y="71491"/>
                </a:lnTo>
                <a:lnTo>
                  <a:pt x="336134" y="54367"/>
                </a:lnTo>
                <a:lnTo>
                  <a:pt x="308187" y="39430"/>
                </a:lnTo>
                <a:lnTo>
                  <a:pt x="279136" y="26773"/>
                </a:lnTo>
                <a:lnTo>
                  <a:pt x="249166" y="16478"/>
                </a:lnTo>
                <a:lnTo>
                  <a:pt x="218469" y="8611"/>
                </a:lnTo>
                <a:lnTo>
                  <a:pt x="187242" y="3222"/>
                </a:lnTo>
                <a:lnTo>
                  <a:pt x="155685" y="345"/>
                </a:lnTo>
                <a:lnTo>
                  <a:pt x="123998" y="0"/>
                </a:lnTo>
                <a:lnTo>
                  <a:pt x="92385" y="2188"/>
                </a:lnTo>
                <a:lnTo>
                  <a:pt x="61048" y="6895"/>
                </a:lnTo>
                <a:lnTo>
                  <a:pt x="30187" y="14090"/>
                </a:lnTo>
                <a:lnTo>
                  <a:pt x="0" y="23729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6" name="S07-label267"/>
          <p:cNvSpPr txBox="1"/>
          <p:nvPr/>
        </p:nvSpPr>
        <p:spPr>
          <a:xfrm>
            <a:off x="9132876" y="2777197"/>
            <a:ext cx="84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110°</a:t>
            </a:r>
            <a:endParaRPr lang="ko-KR" sz="2400" dirty="0"/>
          </a:p>
        </p:txBody>
      </p:sp>
      <p:sp>
        <p:nvSpPr>
          <p:cNvPr id="27" name="S07-mark268"/>
          <p:cNvSpPr/>
          <p:nvPr/>
        </p:nvSpPr>
        <p:spPr>
          <a:xfrm>
            <a:off x="10518028" y="3202576"/>
            <a:ext cx="653796" cy="326897"/>
          </a:xfrm>
          <a:custGeom>
            <a:avLst/>
            <a:gdLst/>
            <a:ahLst/>
            <a:cxnLst/>
            <a:rect l="l" t="t" r="r" b="b"/>
            <a:pathLst>
              <a:path w="653796" h="326897">
                <a:moveTo>
                  <a:pt x="653796" y="326897"/>
                </a:moveTo>
                <a:lnTo>
                  <a:pt x="87591" y="0"/>
                </a:lnTo>
                <a:lnTo>
                  <a:pt x="80595" y="12429"/>
                </a:lnTo>
                <a:lnTo>
                  <a:pt x="73871" y="25009"/>
                </a:lnTo>
                <a:lnTo>
                  <a:pt x="67424" y="37731"/>
                </a:lnTo>
                <a:lnTo>
                  <a:pt x="61255" y="50592"/>
                </a:lnTo>
                <a:lnTo>
                  <a:pt x="55368" y="63584"/>
                </a:lnTo>
                <a:lnTo>
                  <a:pt x="49767" y="76701"/>
                </a:lnTo>
                <a:lnTo>
                  <a:pt x="44453" y="89937"/>
                </a:lnTo>
                <a:lnTo>
                  <a:pt x="39428" y="103286"/>
                </a:lnTo>
                <a:lnTo>
                  <a:pt x="34697" y="116742"/>
                </a:lnTo>
                <a:lnTo>
                  <a:pt x="30259" y="130297"/>
                </a:lnTo>
                <a:lnTo>
                  <a:pt x="26119" y="143946"/>
                </a:lnTo>
                <a:lnTo>
                  <a:pt x="22277" y="157683"/>
                </a:lnTo>
                <a:lnTo>
                  <a:pt x="18736" y="171499"/>
                </a:lnTo>
                <a:lnTo>
                  <a:pt x="15497" y="185390"/>
                </a:lnTo>
                <a:lnTo>
                  <a:pt x="12562" y="199348"/>
                </a:lnTo>
                <a:lnTo>
                  <a:pt x="9933" y="213367"/>
                </a:lnTo>
                <a:lnTo>
                  <a:pt x="7609" y="227439"/>
                </a:lnTo>
                <a:lnTo>
                  <a:pt x="5593" y="241559"/>
                </a:lnTo>
                <a:lnTo>
                  <a:pt x="3886" y="255720"/>
                </a:lnTo>
                <a:lnTo>
                  <a:pt x="2488" y="269915"/>
                </a:lnTo>
                <a:lnTo>
                  <a:pt x="1400" y="284136"/>
                </a:lnTo>
                <a:lnTo>
                  <a:pt x="622" y="298379"/>
                </a:lnTo>
                <a:lnTo>
                  <a:pt x="156" y="312634"/>
                </a:lnTo>
                <a:lnTo>
                  <a:pt x="0" y="326897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8" name="S07-label270"/>
          <p:cNvSpPr txBox="1"/>
          <p:nvPr/>
        </p:nvSpPr>
        <p:spPr>
          <a:xfrm>
            <a:off x="9828002" y="3064653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2400" dirty="0"/>
          </a:p>
        </p:txBody>
      </p:sp>
      <p:sp>
        <p:nvSpPr>
          <p:cNvPr id="29" name="S07-mark271"/>
          <p:cNvSpPr/>
          <p:nvPr/>
        </p:nvSpPr>
        <p:spPr>
          <a:xfrm>
            <a:off x="8624936" y="2059035"/>
            <a:ext cx="479096" cy="519848"/>
          </a:xfrm>
          <a:custGeom>
            <a:avLst/>
            <a:gdLst/>
            <a:ahLst/>
            <a:cxnLst/>
            <a:rect l="l" t="t" r="r" b="b"/>
            <a:pathLst>
              <a:path w="479096" h="519848">
                <a:moveTo>
                  <a:pt x="0" y="0"/>
                </a:moveTo>
                <a:lnTo>
                  <a:pt x="189213" y="519848"/>
                </a:lnTo>
                <a:lnTo>
                  <a:pt x="204253" y="514125"/>
                </a:lnTo>
                <a:lnTo>
                  <a:pt x="219120" y="507967"/>
                </a:lnTo>
                <a:lnTo>
                  <a:pt x="233801" y="501379"/>
                </a:lnTo>
                <a:lnTo>
                  <a:pt x="248284" y="494367"/>
                </a:lnTo>
                <a:lnTo>
                  <a:pt x="262558" y="486936"/>
                </a:lnTo>
                <a:lnTo>
                  <a:pt x="276609" y="479094"/>
                </a:lnTo>
                <a:lnTo>
                  <a:pt x="290426" y="470846"/>
                </a:lnTo>
                <a:lnTo>
                  <a:pt x="303998" y="462200"/>
                </a:lnTo>
                <a:lnTo>
                  <a:pt x="317312" y="453163"/>
                </a:lnTo>
                <a:lnTo>
                  <a:pt x="330358" y="443742"/>
                </a:lnTo>
                <a:lnTo>
                  <a:pt x="343124" y="433946"/>
                </a:lnTo>
                <a:lnTo>
                  <a:pt x="355600" y="423783"/>
                </a:lnTo>
                <a:lnTo>
                  <a:pt x="367775" y="413262"/>
                </a:lnTo>
                <a:lnTo>
                  <a:pt x="379639" y="402390"/>
                </a:lnTo>
                <a:lnTo>
                  <a:pt x="391182" y="391178"/>
                </a:lnTo>
                <a:lnTo>
                  <a:pt x="402393" y="379635"/>
                </a:lnTo>
                <a:lnTo>
                  <a:pt x="413265" y="367771"/>
                </a:lnTo>
                <a:lnTo>
                  <a:pt x="423786" y="355596"/>
                </a:lnTo>
                <a:lnTo>
                  <a:pt x="433949" y="343120"/>
                </a:lnTo>
                <a:lnTo>
                  <a:pt x="443745" y="330354"/>
                </a:lnTo>
                <a:lnTo>
                  <a:pt x="453166" y="317308"/>
                </a:lnTo>
                <a:lnTo>
                  <a:pt x="462203" y="303994"/>
                </a:lnTo>
                <a:lnTo>
                  <a:pt x="470849" y="290422"/>
                </a:lnTo>
                <a:lnTo>
                  <a:pt x="479096" y="27660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0" name="S07-label273"/>
          <p:cNvSpPr txBox="1"/>
          <p:nvPr/>
        </p:nvSpPr>
        <p:spPr>
          <a:xfrm>
            <a:off x="8846623" y="2514133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40°</a:t>
            </a:r>
            <a:endParaRPr lang="ko-KR" sz="2400" dirty="0"/>
          </a:p>
        </p:txBody>
      </p:sp>
      <p:sp>
        <p:nvSpPr>
          <p:cNvPr id="31" name="S07-label274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둔각삼각형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27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27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각이 30°, 40°, 110°인 삼각형의 이름은?</a:t>
            </a:r>
            <a:endParaRPr lang="ko-KR" sz="3000" dirty="0"/>
          </a:p>
        </p:txBody>
      </p:sp>
      <p:sp>
        <p:nvSpPr>
          <p:cNvPr id="5" name="S08-card2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2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8-chip27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예각삼각형</a:t>
            </a:r>
            <a:endParaRPr lang="ko-KR" sz="2400" dirty="0"/>
          </a:p>
        </p:txBody>
      </p:sp>
      <p:sp>
        <p:nvSpPr>
          <p:cNvPr id="8" name="S08-text28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“예각이 2개나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있으니까요.”</a:t>
            </a:r>
            <a:endParaRPr lang="ko-KR" sz="3000" dirty="0"/>
          </a:p>
        </p:txBody>
      </p:sp>
      <p:sp>
        <p:nvSpPr>
          <p:cNvPr id="9" name="S08-chip28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둔각삼각형</a:t>
            </a:r>
            <a:endParaRPr lang="ko-KR" sz="2400" dirty="0"/>
          </a:p>
        </p:txBody>
      </p:sp>
      <p:sp>
        <p:nvSpPr>
          <p:cNvPr id="10" name="S08-text28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“한 각이 둔각이니까요.”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각으로 이름 붙이기</a:t>
            </a:r>
            <a:endParaRPr lang="ko-KR" sz="4000" dirty="0"/>
          </a:p>
        </p:txBody>
      </p:sp>
      <p:sp>
        <p:nvSpPr>
          <p:cNvPr id="3" name="S09-text2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예각·직각·둔각삼각형 중 무엇일까요?</a:t>
            </a:r>
            <a:endParaRPr lang="ko-KR" sz="3000" dirty="0"/>
          </a:p>
        </p:txBody>
      </p:sp>
      <p:sp>
        <p:nvSpPr>
          <p:cNvPr id="4" name="S09-card2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각만 알면 나머지 각을 먼저 구해요.</a:t>
            </a:r>
            <a:endParaRPr lang="ko-KR" sz="3000" dirty="0"/>
          </a:p>
        </p:txBody>
      </p:sp>
      <p:sp>
        <p:nvSpPr>
          <p:cNvPr id="6" name="S09-chip28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28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각: 30°, 60°, 90°</a:t>
            </a:r>
            <a:endParaRPr lang="ko-KR" sz="3000" dirty="0"/>
          </a:p>
        </p:txBody>
      </p:sp>
      <p:sp>
        <p:nvSpPr>
          <p:cNvPr id="8" name="S09-chip28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28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각: 45°, 65°, 70°</a:t>
            </a:r>
            <a:endParaRPr lang="ko-KR" sz="3000" dirty="0"/>
          </a:p>
        </p:txBody>
      </p:sp>
      <p:sp>
        <p:nvSpPr>
          <p:cNvPr id="10" name="S09-chip29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29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각: 20°, 35°</a:t>
            </a:r>
            <a:endParaRPr lang="ko-KR" sz="3000" dirty="0"/>
          </a:p>
        </p:txBody>
      </p:sp>
      <p:sp>
        <p:nvSpPr>
          <p:cNvPr id="12" name="S09-chip29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9-text29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각: 50°, 40°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2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오른쪽은 이등변삼각형이에요.</a:t>
            </a:r>
            <a:endParaRPr lang="ko-KR" sz="3000" dirty="0"/>
          </a:p>
        </p:txBody>
      </p:sp>
      <p:sp>
        <p:nvSpPr>
          <p:cNvPr id="4" name="S10-figure295" descr="두 변에 같은 길이 표시, 한 변 6 cm, 다른 변 ㉠, 밑의 한 각 70°, 다른 밑각 ㉡인 이등변삼각형"/>
          <p:cNvSpPr/>
          <p:nvPr/>
        </p:nvSpPr>
        <p:spPr>
          <a:xfrm>
            <a:off x="7694162" y="2377440"/>
            <a:ext cx="2529344" cy="3474720"/>
          </a:xfrm>
          <a:custGeom>
            <a:avLst/>
            <a:gdLst/>
            <a:ahLst/>
            <a:cxnLst/>
            <a:rect l="l" t="t" r="r" b="b"/>
            <a:pathLst>
              <a:path w="2529344" h="3474720">
                <a:moveTo>
                  <a:pt x="0" y="3474720"/>
                </a:moveTo>
                <a:lnTo>
                  <a:pt x="2529344" y="3474720"/>
                </a:lnTo>
                <a:lnTo>
                  <a:pt x="126467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0-mark296"/>
          <p:cNvSpPr/>
          <p:nvPr/>
        </p:nvSpPr>
        <p:spPr>
          <a:xfrm>
            <a:off x="7694162" y="5479815"/>
            <a:ext cx="396240" cy="372345"/>
          </a:xfrm>
          <a:custGeom>
            <a:avLst/>
            <a:gdLst/>
            <a:ahLst/>
            <a:cxnLst/>
            <a:rect l="l" t="t" r="r" b="b"/>
            <a:pathLst>
              <a:path w="396240" h="372345">
                <a:moveTo>
                  <a:pt x="0" y="372345"/>
                </a:moveTo>
                <a:lnTo>
                  <a:pt x="396240" y="372345"/>
                </a:lnTo>
                <a:lnTo>
                  <a:pt x="395727" y="352182"/>
                </a:lnTo>
                <a:lnTo>
                  <a:pt x="394188" y="332073"/>
                </a:lnTo>
                <a:lnTo>
                  <a:pt x="391628" y="312067"/>
                </a:lnTo>
                <a:lnTo>
                  <a:pt x="388054" y="292218"/>
                </a:lnTo>
                <a:lnTo>
                  <a:pt x="383474" y="272576"/>
                </a:lnTo>
                <a:lnTo>
                  <a:pt x="377901" y="253192"/>
                </a:lnTo>
                <a:lnTo>
                  <a:pt x="371348" y="234118"/>
                </a:lnTo>
                <a:lnTo>
                  <a:pt x="363834" y="215401"/>
                </a:lnTo>
                <a:lnTo>
                  <a:pt x="355376" y="197091"/>
                </a:lnTo>
                <a:lnTo>
                  <a:pt x="345999" y="179236"/>
                </a:lnTo>
                <a:lnTo>
                  <a:pt x="335724" y="161880"/>
                </a:lnTo>
                <a:lnTo>
                  <a:pt x="324580" y="145070"/>
                </a:lnTo>
                <a:lnTo>
                  <a:pt x="312595" y="128848"/>
                </a:lnTo>
                <a:lnTo>
                  <a:pt x="299800" y="113258"/>
                </a:lnTo>
                <a:lnTo>
                  <a:pt x="286229" y="98338"/>
                </a:lnTo>
                <a:lnTo>
                  <a:pt x="271915" y="84129"/>
                </a:lnTo>
                <a:lnTo>
                  <a:pt x="256898" y="70666"/>
                </a:lnTo>
                <a:lnTo>
                  <a:pt x="241214" y="57985"/>
                </a:lnTo>
                <a:lnTo>
                  <a:pt x="224906" y="46119"/>
                </a:lnTo>
                <a:lnTo>
                  <a:pt x="208015" y="35097"/>
                </a:lnTo>
                <a:lnTo>
                  <a:pt x="190585" y="24949"/>
                </a:lnTo>
                <a:lnTo>
                  <a:pt x="172662" y="15702"/>
                </a:lnTo>
                <a:lnTo>
                  <a:pt x="154291" y="7378"/>
                </a:lnTo>
                <a:lnTo>
                  <a:pt x="13552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10-label298"/>
          <p:cNvSpPr txBox="1"/>
          <p:nvPr/>
        </p:nvSpPr>
        <p:spPr>
          <a:xfrm>
            <a:off x="7935895" y="5268300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7" name="S10-mark299"/>
          <p:cNvSpPr/>
          <p:nvPr/>
        </p:nvSpPr>
        <p:spPr>
          <a:xfrm>
            <a:off x="9827266" y="5479815"/>
            <a:ext cx="396240" cy="372345"/>
          </a:xfrm>
          <a:custGeom>
            <a:avLst/>
            <a:gdLst/>
            <a:ahLst/>
            <a:cxnLst/>
            <a:rect l="l" t="t" r="r" b="b"/>
            <a:pathLst>
              <a:path w="396240" h="372345">
                <a:moveTo>
                  <a:pt x="396240" y="372345"/>
                </a:moveTo>
                <a:lnTo>
                  <a:pt x="260720" y="0"/>
                </a:lnTo>
                <a:lnTo>
                  <a:pt x="241949" y="7378"/>
                </a:lnTo>
                <a:lnTo>
                  <a:pt x="223578" y="15702"/>
                </a:lnTo>
                <a:lnTo>
                  <a:pt x="205655" y="24949"/>
                </a:lnTo>
                <a:lnTo>
                  <a:pt x="188225" y="35097"/>
                </a:lnTo>
                <a:lnTo>
                  <a:pt x="171334" y="46119"/>
                </a:lnTo>
                <a:lnTo>
                  <a:pt x="155026" y="57985"/>
                </a:lnTo>
                <a:lnTo>
                  <a:pt x="139342" y="70666"/>
                </a:lnTo>
                <a:lnTo>
                  <a:pt x="124325" y="84129"/>
                </a:lnTo>
                <a:lnTo>
                  <a:pt x="110011" y="98338"/>
                </a:lnTo>
                <a:lnTo>
                  <a:pt x="96440" y="113258"/>
                </a:lnTo>
                <a:lnTo>
                  <a:pt x="83645" y="128848"/>
                </a:lnTo>
                <a:lnTo>
                  <a:pt x="71660" y="145070"/>
                </a:lnTo>
                <a:lnTo>
                  <a:pt x="60516" y="161880"/>
                </a:lnTo>
                <a:lnTo>
                  <a:pt x="50241" y="179236"/>
                </a:lnTo>
                <a:lnTo>
                  <a:pt x="40864" y="197091"/>
                </a:lnTo>
                <a:lnTo>
                  <a:pt x="32406" y="215401"/>
                </a:lnTo>
                <a:lnTo>
                  <a:pt x="24892" y="234118"/>
                </a:lnTo>
                <a:lnTo>
                  <a:pt x="18339" y="253192"/>
                </a:lnTo>
                <a:lnTo>
                  <a:pt x="12766" y="272576"/>
                </a:lnTo>
                <a:lnTo>
                  <a:pt x="8186" y="292218"/>
                </a:lnTo>
                <a:lnTo>
                  <a:pt x="4612" y="312067"/>
                </a:lnTo>
                <a:lnTo>
                  <a:pt x="2052" y="332073"/>
                </a:lnTo>
                <a:lnTo>
                  <a:pt x="513" y="352182"/>
                </a:lnTo>
                <a:lnTo>
                  <a:pt x="0" y="37234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10-label301"/>
          <p:cNvSpPr txBox="1"/>
          <p:nvPr/>
        </p:nvSpPr>
        <p:spPr>
          <a:xfrm>
            <a:off x="9457517" y="52683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㉡</a:t>
            </a:r>
            <a:endParaRPr lang="ko-KR" sz="2400" dirty="0"/>
          </a:p>
        </p:txBody>
      </p:sp>
      <p:sp>
        <p:nvSpPr>
          <p:cNvPr id="9" name="S10-mark302"/>
          <p:cNvSpPr/>
          <p:nvPr/>
        </p:nvSpPr>
        <p:spPr>
          <a:xfrm flipH="1">
            <a:off x="9505244" y="4083526"/>
            <a:ext cx="171851" cy="6254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0-label304"/>
          <p:cNvSpPr txBox="1"/>
          <p:nvPr/>
        </p:nvSpPr>
        <p:spPr>
          <a:xfrm>
            <a:off x="9615069" y="3765838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cm</a:t>
            </a:r>
            <a:endParaRPr lang="ko-KR" sz="2400" dirty="0"/>
          </a:p>
        </p:txBody>
      </p:sp>
      <p:sp>
        <p:nvSpPr>
          <p:cNvPr id="11" name="S10-mark305"/>
          <p:cNvSpPr/>
          <p:nvPr/>
        </p:nvSpPr>
        <p:spPr>
          <a:xfrm>
            <a:off x="8240572" y="4083526"/>
            <a:ext cx="171851" cy="6254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0-label307"/>
          <p:cNvSpPr txBox="1"/>
          <p:nvPr/>
        </p:nvSpPr>
        <p:spPr>
          <a:xfrm>
            <a:off x="7600877" y="3732698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㉠</a:t>
            </a:r>
            <a:endParaRPr lang="ko-KR" sz="2400" dirty="0"/>
          </a:p>
        </p:txBody>
      </p:sp>
      <p:sp>
        <p:nvSpPr>
          <p:cNvPr id="13" name="S10-chip30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4" name="S10-text309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㉠과 ㉡을 구해요.</a:t>
            </a:r>
            <a:endParaRPr lang="ko-KR" sz="3000" dirty="0"/>
          </a:p>
        </p:txBody>
      </p:sp>
      <p:sp>
        <p:nvSpPr>
          <p:cNvPr id="15" name="S10-chip31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10-text311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위 각은 몇 도?</a:t>
            </a:r>
            <a:endParaRPr lang="ko-KR" sz="3000" dirty="0"/>
          </a:p>
        </p:txBody>
      </p:sp>
      <p:sp>
        <p:nvSpPr>
          <p:cNvPr id="17" name="S10-chip31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8" name="S10-text313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크기로 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삼각형?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31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31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틀리면 색종이 이등변삼각형을 다시 접어 겹치는 부분을 확인하게 하세요.</a:t>
            </a:r>
            <a:endParaRPr lang="ko-KR" sz="3000" dirty="0"/>
          </a:p>
        </p:txBody>
      </p:sp>
      <p:sp>
        <p:nvSpPr>
          <p:cNvPr id="5" name="S11-chip31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317"/>
          <p:cNvSpPr txBox="1"/>
          <p:nvPr/>
        </p:nvSpPr>
        <p:spPr>
          <a:xfrm>
            <a:off x="548640" y="2057400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 cm, 70°</a:t>
            </a:r>
            <a:endParaRPr lang="ko-KR" sz="3000" dirty="0"/>
          </a:p>
        </p:txBody>
      </p:sp>
      <p:sp>
        <p:nvSpPr>
          <p:cNvPr id="7" name="S11-text318"/>
          <p:cNvSpPr txBox="1"/>
          <p:nvPr/>
        </p:nvSpPr>
        <p:spPr>
          <a:xfrm>
            <a:off x="3367278" y="2057400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변·두 각이 같음</a:t>
            </a:r>
            <a:endParaRPr lang="ko-KR" sz="2400" dirty="0"/>
          </a:p>
        </p:txBody>
      </p:sp>
      <p:sp>
        <p:nvSpPr>
          <p:cNvPr id="8" name="S11-text319"/>
          <p:cNvSpPr txBox="1"/>
          <p:nvPr/>
        </p:nvSpPr>
        <p:spPr>
          <a:xfrm>
            <a:off x="548640" y="2994152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40°</a:t>
            </a:r>
            <a:endParaRPr lang="ko-KR" sz="3000" dirty="0"/>
          </a:p>
        </p:txBody>
      </p:sp>
      <p:sp>
        <p:nvSpPr>
          <p:cNvPr id="9" name="S11-text320"/>
          <p:cNvSpPr txBox="1"/>
          <p:nvPr/>
        </p:nvSpPr>
        <p:spPr>
          <a:xfrm>
            <a:off x="3367278" y="2994152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180 − 70 − 70</a:t>
            </a:r>
            <a:endParaRPr lang="ko-KR" sz="2400" dirty="0"/>
          </a:p>
        </p:txBody>
      </p:sp>
      <p:sp>
        <p:nvSpPr>
          <p:cNvPr id="10" name="S11-text321"/>
          <p:cNvSpPr txBox="1"/>
          <p:nvPr/>
        </p:nvSpPr>
        <p:spPr>
          <a:xfrm>
            <a:off x="548640" y="3930904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예각삼각형</a:t>
            </a:r>
            <a:endParaRPr lang="ko-KR" sz="3000" dirty="0"/>
          </a:p>
        </p:txBody>
      </p:sp>
      <p:sp>
        <p:nvSpPr>
          <p:cNvPr id="11" name="S11-text322"/>
          <p:cNvSpPr txBox="1"/>
          <p:nvPr/>
        </p:nvSpPr>
        <p:spPr>
          <a:xfrm>
            <a:off x="3367278" y="3930904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 모두 예각</a:t>
            </a:r>
            <a:endParaRPr lang="ko-KR" sz="2400" dirty="0"/>
          </a:p>
        </p:txBody>
      </p:sp>
      <p:sp>
        <p:nvSpPr>
          <p:cNvPr id="12" name="S11-chip32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1-text32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70°</a:t>
            </a:r>
            <a:endParaRPr lang="ko-KR" sz="3000" dirty="0"/>
          </a:p>
        </p:txBody>
      </p:sp>
      <p:sp>
        <p:nvSpPr>
          <p:cNvPr id="14" name="S11-text32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위 각도 같다고 봄</a:t>
            </a:r>
            <a:endParaRPr lang="ko-KR" sz="2400" dirty="0"/>
          </a:p>
        </p:txBody>
      </p:sp>
      <p:sp>
        <p:nvSpPr>
          <p:cNvPr id="15" name="S11-text32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 다 아님</a:t>
            </a:r>
            <a:endParaRPr lang="ko-KR" sz="3000" dirty="0"/>
          </a:p>
        </p:txBody>
      </p:sp>
      <p:sp>
        <p:nvSpPr>
          <p:cNvPr id="16" name="S11-text32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변과 각 기준을 섞음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두 개예요</a:t>
            </a:r>
            <a:endParaRPr lang="ko-KR" sz="4000" dirty="0"/>
          </a:p>
        </p:txBody>
      </p:sp>
      <p:sp>
        <p:nvSpPr>
          <p:cNvPr id="3" name="S12-text3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삼각형의 이름을 말해요.</a:t>
            </a:r>
            <a:endParaRPr lang="ko-KR" sz="3000" dirty="0"/>
          </a:p>
        </p:txBody>
      </p:sp>
      <p:sp>
        <p:nvSpPr>
          <p:cNvPr id="4" name="S12-figure329" descr="직각을 낀 두 변에 같은 길이 표시가 있는 삼각형"/>
          <p:cNvSpPr/>
          <p:nvPr/>
        </p:nvSpPr>
        <p:spPr>
          <a:xfrm>
            <a:off x="7130034" y="22860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2-mark330"/>
          <p:cNvSpPr/>
          <p:nvPr/>
        </p:nvSpPr>
        <p:spPr>
          <a:xfrm>
            <a:off x="7130034" y="571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12-mark331"/>
          <p:cNvSpPr/>
          <p:nvPr/>
        </p:nvSpPr>
        <p:spPr>
          <a:xfrm flipV="1">
            <a:off x="8958834" y="585216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2-mark332"/>
          <p:cNvSpPr/>
          <p:nvPr/>
        </p:nvSpPr>
        <p:spPr>
          <a:xfrm>
            <a:off x="7038594" y="411480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2-chip33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12-text33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길이로 보면?</a:t>
            </a:r>
            <a:endParaRPr lang="ko-KR" sz="3000" dirty="0"/>
          </a:p>
        </p:txBody>
      </p:sp>
      <p:sp>
        <p:nvSpPr>
          <p:cNvPr id="10" name="S12-chip33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12-text33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크기로 보면?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삼각형은 변의 길이로도, 각의 크기로도 나눌 수 있어요.</a:t>
            </a:r>
            <a:endParaRPr lang="ko-KR" sz="3000" dirty="0"/>
          </a:p>
        </p:txBody>
      </p:sp>
      <p:sp>
        <p:nvSpPr>
          <p:cNvPr id="5" name="S13-chip33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가장 큰 각 보고 이름 붙이기</a:t>
            </a:r>
            <a:endParaRPr lang="ko-KR" sz="2400" dirty="0"/>
          </a:p>
        </p:txBody>
      </p:sp>
      <p:sp>
        <p:nvSpPr>
          <p:cNvPr id="6" name="S13-chip34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예각이 있으면 예각삼각형</a:t>
            </a:r>
            <a:endParaRPr lang="ko-KR" sz="2400" dirty="0"/>
          </a:p>
        </p:txBody>
      </p:sp>
      <p:sp>
        <p:nvSpPr>
          <p:cNvPr id="7" name="S13-text34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34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두 변의 길이가 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삼각형은?</a:t>
            </a:r>
            <a:endParaRPr lang="ko-KR" sz="2400" dirty="0"/>
          </a:p>
        </p:txBody>
      </p:sp>
      <p:sp>
        <p:nvSpPr>
          <p:cNvPr id="9" name="S13-text34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정삼각형의 한 각은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도?</a:t>
            </a:r>
            <a:endParaRPr lang="ko-KR" sz="2400" dirty="0"/>
          </a:p>
        </p:txBody>
      </p:sp>
      <p:sp>
        <p:nvSpPr>
          <p:cNvPr id="10" name="S13-text34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세 각이 50°, 60°,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70°인 삼각형은?</a:t>
            </a:r>
            <a:endParaRPr lang="ko-KR" sz="2400" dirty="0"/>
          </a:p>
        </p:txBody>
      </p:sp>
      <p:sp>
        <p:nvSpPr>
          <p:cNvPr id="11" name="S13-text34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수직과 평행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삼각형 세 각의 합</a:t>
            </a:r>
            <a:endParaRPr lang="ko-KR" sz="4000" dirty="0"/>
          </a:p>
        </p:txBody>
      </p:sp>
      <p:sp>
        <p:nvSpPr>
          <p:cNvPr id="3" name="S14-card346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347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 + 60° + 70° = 180°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각은 180°에서 아는 두 각을 빼요.</a:t>
            </a:r>
            <a:endParaRPr lang="ko-KR" sz="3000" dirty="0"/>
          </a:p>
        </p:txBody>
      </p:sp>
      <p:sp>
        <p:nvSpPr>
          <p:cNvPr id="5" name="S14-figure348" descr="세 각이 50°, 70°, 60°인 삼각형"/>
          <p:cNvSpPr/>
          <p:nvPr/>
        </p:nvSpPr>
        <p:spPr>
          <a:xfrm>
            <a:off x="1915015" y="1691640"/>
            <a:ext cx="2653065" cy="2205228"/>
          </a:xfrm>
          <a:custGeom>
            <a:avLst/>
            <a:gdLst/>
            <a:ahLst/>
            <a:cxnLst/>
            <a:rect l="l" t="t" r="r" b="b"/>
            <a:pathLst>
              <a:path w="2653065" h="2205228">
                <a:moveTo>
                  <a:pt x="0" y="2205228"/>
                </a:moveTo>
                <a:lnTo>
                  <a:pt x="2653065" y="2205228"/>
                </a:lnTo>
                <a:lnTo>
                  <a:pt x="1850407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4-mark349"/>
          <p:cNvSpPr/>
          <p:nvPr/>
        </p:nvSpPr>
        <p:spPr>
          <a:xfrm>
            <a:off x="1915015" y="3449748"/>
            <a:ext cx="583674" cy="447120"/>
          </a:xfrm>
          <a:custGeom>
            <a:avLst/>
            <a:gdLst/>
            <a:ahLst/>
            <a:cxnLst/>
            <a:rect l="l" t="t" r="r" b="b"/>
            <a:pathLst>
              <a:path w="583674" h="447120">
                <a:moveTo>
                  <a:pt x="0" y="447120"/>
                </a:moveTo>
                <a:lnTo>
                  <a:pt x="583674" y="447120"/>
                </a:lnTo>
                <a:lnTo>
                  <a:pt x="583289" y="425902"/>
                </a:lnTo>
                <a:lnTo>
                  <a:pt x="582132" y="404712"/>
                </a:lnTo>
                <a:lnTo>
                  <a:pt x="580205" y="383578"/>
                </a:lnTo>
                <a:lnTo>
                  <a:pt x="577512" y="362527"/>
                </a:lnTo>
                <a:lnTo>
                  <a:pt x="574055" y="341589"/>
                </a:lnTo>
                <a:lnTo>
                  <a:pt x="569839" y="320790"/>
                </a:lnTo>
                <a:lnTo>
                  <a:pt x="564870" y="300158"/>
                </a:lnTo>
                <a:lnTo>
                  <a:pt x="559154" y="279721"/>
                </a:lnTo>
                <a:lnTo>
                  <a:pt x="552699" y="259504"/>
                </a:lnTo>
                <a:lnTo>
                  <a:pt x="545513" y="239536"/>
                </a:lnTo>
                <a:lnTo>
                  <a:pt x="537606" y="219842"/>
                </a:lnTo>
                <a:lnTo>
                  <a:pt x="528989" y="200449"/>
                </a:lnTo>
                <a:lnTo>
                  <a:pt x="519672" y="181382"/>
                </a:lnTo>
                <a:lnTo>
                  <a:pt x="509668" y="162666"/>
                </a:lnTo>
                <a:lnTo>
                  <a:pt x="498990" y="144326"/>
                </a:lnTo>
                <a:lnTo>
                  <a:pt x="487653" y="126386"/>
                </a:lnTo>
                <a:lnTo>
                  <a:pt x="475671" y="108871"/>
                </a:lnTo>
                <a:lnTo>
                  <a:pt x="463060" y="91802"/>
                </a:lnTo>
                <a:lnTo>
                  <a:pt x="449837" y="75203"/>
                </a:lnTo>
                <a:lnTo>
                  <a:pt x="436019" y="59096"/>
                </a:lnTo>
                <a:lnTo>
                  <a:pt x="421625" y="43502"/>
                </a:lnTo>
                <a:lnTo>
                  <a:pt x="406674" y="28441"/>
                </a:lnTo>
                <a:lnTo>
                  <a:pt x="391185" y="13934"/>
                </a:lnTo>
                <a:lnTo>
                  <a:pt x="375179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14-label351"/>
          <p:cNvSpPr txBox="1"/>
          <p:nvPr/>
        </p:nvSpPr>
        <p:spPr>
          <a:xfrm>
            <a:off x="2386394" y="3337323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8" name="S14-mark352"/>
          <p:cNvSpPr/>
          <p:nvPr/>
        </p:nvSpPr>
        <p:spPr>
          <a:xfrm>
            <a:off x="4171841" y="3524525"/>
            <a:ext cx="396240" cy="372343"/>
          </a:xfrm>
          <a:custGeom>
            <a:avLst/>
            <a:gdLst/>
            <a:ahLst/>
            <a:cxnLst/>
            <a:rect l="l" t="t" r="r" b="b"/>
            <a:pathLst>
              <a:path w="396240" h="372343">
                <a:moveTo>
                  <a:pt x="396240" y="372343"/>
                </a:moveTo>
                <a:lnTo>
                  <a:pt x="260715" y="0"/>
                </a:lnTo>
                <a:lnTo>
                  <a:pt x="241944" y="7378"/>
                </a:lnTo>
                <a:lnTo>
                  <a:pt x="223574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8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3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7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3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14-label354"/>
          <p:cNvSpPr txBox="1"/>
          <p:nvPr/>
        </p:nvSpPr>
        <p:spPr>
          <a:xfrm>
            <a:off x="3686265" y="331301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0" name="S14-mark355"/>
          <p:cNvSpPr/>
          <p:nvPr/>
        </p:nvSpPr>
        <p:spPr>
          <a:xfrm>
            <a:off x="3510724" y="1691640"/>
            <a:ext cx="390223" cy="396240"/>
          </a:xfrm>
          <a:custGeom>
            <a:avLst/>
            <a:gdLst/>
            <a:ahLst/>
            <a:cxnLst/>
            <a:rect l="l" t="t" r="r" b="b"/>
            <a:pathLst>
              <a:path w="390223" h="396240">
                <a:moveTo>
                  <a:pt x="254698" y="0"/>
                </a:moveTo>
                <a:lnTo>
                  <a:pt x="0" y="303537"/>
                </a:lnTo>
                <a:lnTo>
                  <a:pt x="13483" y="314358"/>
                </a:lnTo>
                <a:lnTo>
                  <a:pt x="27424" y="324581"/>
                </a:lnTo>
                <a:lnTo>
                  <a:pt x="41799" y="334186"/>
                </a:lnTo>
                <a:lnTo>
                  <a:pt x="56579" y="343154"/>
                </a:lnTo>
                <a:lnTo>
                  <a:pt x="71736" y="351469"/>
                </a:lnTo>
                <a:lnTo>
                  <a:pt x="87241" y="359116"/>
                </a:lnTo>
                <a:lnTo>
                  <a:pt x="103065" y="366078"/>
                </a:lnTo>
                <a:lnTo>
                  <a:pt x="119177" y="372344"/>
                </a:lnTo>
                <a:lnTo>
                  <a:pt x="135548" y="377901"/>
                </a:lnTo>
                <a:lnTo>
                  <a:pt x="152145" y="382739"/>
                </a:lnTo>
                <a:lnTo>
                  <a:pt x="168938" y="386848"/>
                </a:lnTo>
                <a:lnTo>
                  <a:pt x="185893" y="390221"/>
                </a:lnTo>
                <a:lnTo>
                  <a:pt x="202980" y="392850"/>
                </a:lnTo>
                <a:lnTo>
                  <a:pt x="220166" y="394732"/>
                </a:lnTo>
                <a:lnTo>
                  <a:pt x="237417" y="395863"/>
                </a:lnTo>
                <a:lnTo>
                  <a:pt x="254700" y="396240"/>
                </a:lnTo>
                <a:lnTo>
                  <a:pt x="271984" y="395863"/>
                </a:lnTo>
                <a:lnTo>
                  <a:pt x="289235" y="394732"/>
                </a:lnTo>
                <a:lnTo>
                  <a:pt x="306421" y="392850"/>
                </a:lnTo>
                <a:lnTo>
                  <a:pt x="323507" y="390220"/>
                </a:lnTo>
                <a:lnTo>
                  <a:pt x="340463" y="386847"/>
                </a:lnTo>
                <a:lnTo>
                  <a:pt x="357256" y="382738"/>
                </a:lnTo>
                <a:lnTo>
                  <a:pt x="373853" y="377900"/>
                </a:lnTo>
                <a:lnTo>
                  <a:pt x="390223" y="372343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1" name="S14-label357"/>
          <p:cNvSpPr txBox="1"/>
          <p:nvPr/>
        </p:nvSpPr>
        <p:spPr>
          <a:xfrm>
            <a:off x="3326297" y="217652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2" name="S14-label358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삼각형</a:t>
            </a:r>
            <a:endParaRPr lang="ko-KR" sz="2400" dirty="0"/>
          </a:p>
        </p:txBody>
      </p:sp>
      <p:sp>
        <p:nvSpPr>
          <p:cNvPr id="13" name="S14-mark359"/>
          <p:cNvSpPr/>
          <p:nvPr/>
        </p:nvSpPr>
        <p:spPr>
          <a:xfrm>
            <a:off x="8947404" y="3584131"/>
            <a:ext cx="396240" cy="303533"/>
          </a:xfrm>
          <a:custGeom>
            <a:avLst/>
            <a:gdLst/>
            <a:ahLst/>
            <a:cxnLst/>
            <a:rect l="l" t="t" r="r" b="b"/>
            <a:pathLst>
              <a:path w="396240" h="303533">
                <a:moveTo>
                  <a:pt x="0" y="303533"/>
                </a:moveTo>
                <a:lnTo>
                  <a:pt x="396240" y="303533"/>
                </a:lnTo>
                <a:lnTo>
                  <a:pt x="395978" y="289129"/>
                </a:lnTo>
                <a:lnTo>
                  <a:pt x="395193" y="274744"/>
                </a:lnTo>
                <a:lnTo>
                  <a:pt x="393885" y="260397"/>
                </a:lnTo>
                <a:lnTo>
                  <a:pt x="392057" y="246107"/>
                </a:lnTo>
                <a:lnTo>
                  <a:pt x="389710" y="231892"/>
                </a:lnTo>
                <a:lnTo>
                  <a:pt x="386848" y="217773"/>
                </a:lnTo>
                <a:lnTo>
                  <a:pt x="383475" y="203767"/>
                </a:lnTo>
                <a:lnTo>
                  <a:pt x="379594" y="189892"/>
                </a:lnTo>
                <a:lnTo>
                  <a:pt x="375212" y="176168"/>
                </a:lnTo>
                <a:lnTo>
                  <a:pt x="370334" y="162613"/>
                </a:lnTo>
                <a:lnTo>
                  <a:pt x="364967" y="149243"/>
                </a:lnTo>
                <a:lnTo>
                  <a:pt x="359117" y="136078"/>
                </a:lnTo>
                <a:lnTo>
                  <a:pt x="352792" y="123134"/>
                </a:lnTo>
                <a:lnTo>
                  <a:pt x="346001" y="110428"/>
                </a:lnTo>
                <a:lnTo>
                  <a:pt x="338752" y="97978"/>
                </a:lnTo>
                <a:lnTo>
                  <a:pt x="331056" y="85799"/>
                </a:lnTo>
                <a:lnTo>
                  <a:pt x="322922" y="73909"/>
                </a:lnTo>
                <a:lnTo>
                  <a:pt x="314361" y="62322"/>
                </a:lnTo>
                <a:lnTo>
                  <a:pt x="305385" y="51053"/>
                </a:lnTo>
                <a:lnTo>
                  <a:pt x="296005" y="40119"/>
                </a:lnTo>
                <a:lnTo>
                  <a:pt x="286233" y="29532"/>
                </a:lnTo>
                <a:lnTo>
                  <a:pt x="276084" y="19308"/>
                </a:lnTo>
                <a:lnTo>
                  <a:pt x="265569" y="9460"/>
                </a:lnTo>
                <a:lnTo>
                  <a:pt x="254703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14-label361"/>
          <p:cNvSpPr txBox="1"/>
          <p:nvPr/>
        </p:nvSpPr>
        <p:spPr>
          <a:xfrm>
            <a:off x="9248912" y="340733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15" name="S14-mark362"/>
          <p:cNvSpPr/>
          <p:nvPr/>
        </p:nvSpPr>
        <p:spPr>
          <a:xfrm>
            <a:off x="8811878" y="3491424"/>
            <a:ext cx="390229" cy="396240"/>
          </a:xfrm>
          <a:custGeom>
            <a:avLst/>
            <a:gdLst/>
            <a:ahLst/>
            <a:cxnLst/>
            <a:rect l="l" t="t" r="r" b="b"/>
            <a:pathLst>
              <a:path w="390229" h="396240">
                <a:moveTo>
                  <a:pt x="135526" y="396240"/>
                </a:moveTo>
                <a:lnTo>
                  <a:pt x="390229" y="92707"/>
                </a:lnTo>
                <a:lnTo>
                  <a:pt x="376746" y="81885"/>
                </a:lnTo>
                <a:lnTo>
                  <a:pt x="362804" y="71662"/>
                </a:lnTo>
                <a:lnTo>
                  <a:pt x="348430" y="62057"/>
                </a:lnTo>
                <a:lnTo>
                  <a:pt x="333650" y="53089"/>
                </a:lnTo>
                <a:lnTo>
                  <a:pt x="318493" y="44773"/>
                </a:lnTo>
                <a:lnTo>
                  <a:pt x="302988" y="37126"/>
                </a:lnTo>
                <a:lnTo>
                  <a:pt x="287163" y="30163"/>
                </a:lnTo>
                <a:lnTo>
                  <a:pt x="271051" y="23897"/>
                </a:lnTo>
                <a:lnTo>
                  <a:pt x="254680" y="18340"/>
                </a:lnTo>
                <a:lnTo>
                  <a:pt x="238082" y="13502"/>
                </a:lnTo>
                <a:lnTo>
                  <a:pt x="221290" y="9393"/>
                </a:lnTo>
                <a:lnTo>
                  <a:pt x="204333" y="6020"/>
                </a:lnTo>
                <a:lnTo>
                  <a:pt x="187246" y="3390"/>
                </a:lnTo>
                <a:lnTo>
                  <a:pt x="170061" y="1508"/>
                </a:lnTo>
                <a:lnTo>
                  <a:pt x="152810" y="377"/>
                </a:lnTo>
                <a:lnTo>
                  <a:pt x="135525" y="0"/>
                </a:lnTo>
                <a:lnTo>
                  <a:pt x="118241" y="377"/>
                </a:lnTo>
                <a:lnTo>
                  <a:pt x="100990" y="1508"/>
                </a:lnTo>
                <a:lnTo>
                  <a:pt x="83804" y="3390"/>
                </a:lnTo>
                <a:lnTo>
                  <a:pt x="66717" y="6020"/>
                </a:lnTo>
                <a:lnTo>
                  <a:pt x="49761" y="9393"/>
                </a:lnTo>
                <a:lnTo>
                  <a:pt x="32968" y="13502"/>
                </a:lnTo>
                <a:lnTo>
                  <a:pt x="16371" y="18340"/>
                </a:lnTo>
                <a:lnTo>
                  <a:pt x="0" y="23898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6" name="S14-label364"/>
          <p:cNvSpPr txBox="1"/>
          <p:nvPr/>
        </p:nvSpPr>
        <p:spPr>
          <a:xfrm>
            <a:off x="8746454" y="3021784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7" name="S14-mark365"/>
          <p:cNvSpPr/>
          <p:nvPr/>
        </p:nvSpPr>
        <p:spPr>
          <a:xfrm>
            <a:off x="8551164" y="3515322"/>
            <a:ext cx="396240" cy="372342"/>
          </a:xfrm>
          <a:custGeom>
            <a:avLst/>
            <a:gdLst/>
            <a:ahLst/>
            <a:cxnLst/>
            <a:rect l="l" t="t" r="r" b="b"/>
            <a:pathLst>
              <a:path w="396240" h="372342">
                <a:moveTo>
                  <a:pt x="396240" y="372342"/>
                </a:moveTo>
                <a:lnTo>
                  <a:pt x="260714" y="0"/>
                </a:lnTo>
                <a:lnTo>
                  <a:pt x="241944" y="7378"/>
                </a:lnTo>
                <a:lnTo>
                  <a:pt x="223573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7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2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6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8" name="S14-label367"/>
          <p:cNvSpPr txBox="1"/>
          <p:nvPr/>
        </p:nvSpPr>
        <p:spPr>
          <a:xfrm>
            <a:off x="8065588" y="3303809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9" name="S14-figure368" descr="50°, 60°, 70°를 한 점에 모아 일직선이 된 그림"/>
          <p:cNvSpPr/>
          <p:nvPr/>
        </p:nvSpPr>
        <p:spPr>
          <a:xfrm>
            <a:off x="6620256" y="3887664"/>
            <a:ext cx="46542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14-mark369"/>
          <p:cNvSpPr/>
          <p:nvPr/>
        </p:nvSpPr>
        <p:spPr>
          <a:xfrm flipV="1">
            <a:off x="8947404" y="2104992"/>
            <a:ext cx="1495891" cy="178267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14-mark370"/>
          <p:cNvSpPr/>
          <p:nvPr/>
        </p:nvSpPr>
        <p:spPr>
          <a:xfrm flipH="1" flipV="1">
            <a:off x="8151442" y="1700844"/>
            <a:ext cx="795962" cy="218682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14-label371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각을 모으면 일직선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삼각형 분류</dc:title>
  <dc:subject>KR22-G04-MAT-TRIANGLE-L01</dc:subject>
  <dc:creator>education-ppt</dc:creator>
  <cp:lastModifiedBy>education-ppt</cp:lastModifiedBy>
  <cp:revision>1</cp:revision>
  <dcterms:created xsi:type="dcterms:W3CDTF">2026-10-26T08:18:01Z</dcterms:created>
  <dcterms:modified xsi:type="dcterms:W3CDTF">2026-10-26T08:18:01Z</dcterms:modified>
</cp:coreProperties>
</file>