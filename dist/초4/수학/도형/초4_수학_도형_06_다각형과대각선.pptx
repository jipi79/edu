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e3349b9-7cd0-d571-4cfb-a0dcdf574b23}">
          <p14:sldIdLst>
            <p14:sldId id="256"/>
            <p14:sldId id="257"/>
          </p14:sldIdLst>
        </p14:section>
        <p14:section name="개념" id="{8858791c-83c1-e24b-2a88-f085be4e9d8b}">
          <p14:sldIdLst>
            <p14:sldId id="258"/>
            <p14:sldId id="260"/>
            <p14:sldId id="262"/>
            <p14:sldId id="263"/>
          </p14:sldIdLst>
        </p14:section>
        <p14:section name="연습" id="{a980cd53-9a4f-4414-16fc-a0c929ccd2d9}">
          <p14:sldIdLst>
            <p14:sldId id="259"/>
            <p14:sldId id="261"/>
            <p14:sldId id="264"/>
            <p14:sldId id="265"/>
          </p14:sldIdLst>
        </p14:section>
        <p14:section name="개념" id="{688316ef-6950-e37f-b7e0-b06431355306}">
          <p14:sldIdLst/>
        </p14:section>
        <p14:section name="연습" id="{721ff50c-5881-8698-1a60-891cc8c842f9}">
          <p14:sldIdLst/>
        </p14:section>
        <p14:section name="개념" id="{3b7f7976-2ac8-8ae2-94fc-189e507151f4}">
          <p14:sldIdLst/>
        </p14:section>
        <p14:section name="연습" id="{680e0fb0-387b-fda9-ed32-fcf4cb6e8c77}">
          <p14:sldIdLst/>
        </p14:section>
        <p14:section name="확인" id="{a4ff949a-1a22-8e60-3fbe-1b4183af8195}">
          <p14:sldIdLst>
            <p14:sldId id="266"/>
            <p14:sldId id="267"/>
            <p14:sldId id="268"/>
          </p14:sldIdLst>
        </p14:section>
        <p14:section name="정리" id="{5fd7fa4b-0000-16c5-c3ce-6ff3cbb9ca7e}">
          <p14:sldIdLst>
            <p14:sldId id="269"/>
          </p14:sldIdLst>
        </p14:section>
        <p14:section name="보충" id="{a05823d9-a68f-e8af-9f4c-2aa8e75033e1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도형 안의 점선(대각선)이 무엇인지 궁금하게 합니다.
시간: 약 2분
이렇게 말해 보세요
- “오른쪽 도형은 변이 몇 개야? 이름이 뭘까?”
- “안에 그은 점선은 어떤 점끼리 이은 걸까? 이런 선을 오늘 배울 거야.”
예상 답
- “변이 5개라서 오각형이에요.” “꼭짓점끼리 이었어요.” “별 모양이에요.”
막히면
- 답을 확인하지 않고 넘어갑니다. S07~S08에서 자세히 봅니다.
주의
- 변에 그린 짧은 줄은 길이가 같다는 표시입니다(지난 시간과 같음).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확인(도형의 이름, 마름모·정사각형)]
목적: 변의 수로 도형 이름을 붙이는 것(2학년)과 지난 시간의 마름모·정사각형의 뜻이 되는지 확인합니다. 오늘 정다각형을 배울 때 그대로 씁니다.
시간: 약 3분
이렇게 말해 보세요
- “①은 변이 5개인 도형의 이름이야. ②, ③은 지난 시간에 배운 사각형의 뜻을 떠올려 봐.”
정답
- ① 오각형
- ② 마름모
- ③ 직각(90°)
막히면
- ①이 어려우면 손가락 5개로 변을 하나씩 세며 ‘오(5)각형’이라고 말해 줍니다.
- 두 문제 이상 틀리면 S15(보충)를 먼저 합니다. 보충으로도 어려우면 초4 5차시 ‘여러 가지 사각형’(KR22-G04-MAT-QUAD-L01)을 먼저 다시 하고, 도형 이름이 흔들리면 초2 ‘여러 가지 도형’(KR22-G02-MAT-PLANE-L01)부터 합니다.
주의
- ③은 각의 크기를 묻는 문제입니다. ‘직각’ 또는 ‘90°’라고 하면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다각형의 뜻과 이름]
목적: 선분으로만 둘러싸인 도형을 다각형이라 하고, 변의 수에 따라 오각형, 육각형, 칠각형처럼 이름을 붙인다는 것을 압니다.
시간: 약 3분
이렇게 말해 보세요
- “세 도형의 변을 세어 볼까? 변은 모두 곧은 선(선분)이지?”
- “이렇게 선분으로만 둘러싸인 도형을 ‘다각형’이라고 해. 변이 7개면 이름이 뭘까?”
예상 답
- “5개, 6개, 7개예요.” “칠각형이요.”
막히면
- 변마다 연필로 점을 찍으며 셉니다(2학년에서 꼭짓점을 셀 때와 같음).
- 면봉이나 빨대 7개로 칠각형을 만들어 봅니다.
주의
- ‘다’는 ‘많다’는 뜻입니다. 삼각형, 사각형도 선분으로만 둘러싸여 있으니 다각형입니다.
- 모양이 고르지 않아도 변의 수로 이름을 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안내받는 연습(다각형 고르기)]
목적: 다각형의 뜻(선분으로만, 둘러싸인)으로 다각형과 다각형이 아닌 도형을 구별합니다.
시간: 약 3분
이렇게 말해 보세요
- “다각형을 모두 찾아볼까? 선분으로만 되어 있어? 빈틈없이 둘러싸여 있어?”
정답
- 가, 라가 다각형입니다. 가는 육각형, 라는 삼각형입니다.
- 나는 굽은 선이 있어서, 다는 둘러싸이지 않아서 다각형이 아닙니다.
막히면
- 손가락으로 테두리를 따라가며 “곧은 선만 있어? 처음 자리로 돌아와?”라고 묻습니다.
주의
- 라(삼각형)를 빼는 아이가 많습니다. 삼각형도 선분으로만 둘러싸였으므로 다각형입니다(M1).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정다각형의 뜻]
목적: 변의 길이가 모두 같고 각의 크기가 모두 같은 다각형을 정다각형이라 하고, 변의 수에 따라 정삼각형, 정사각형, 정오각형처럼 부른다는 것을 압니다.
시간: 약 3분
이렇게 말해 보세요
- “네 도형 모두 변에 같은 표시가 있지? 변의 길이가 어때? 노란 각 표시는 크기가 어때?”
- “변의 길이가 모두 같고, 각의 크기도 모두 같은 다각형을 ‘정다각형’이라고 해.”
예상 답
- “변의 길이가 다 같아요.” “각도 다 똑같아 보여요.”
막히면
- 종이 띠로 변의 길이를 재어 비교하고, 투명한 종이에 한 각을 따라 그려 다른 각에 겹쳐 봅니다.
주의
- 두 조건(변의 길이가 모두 같음, 각의 크기가 모두 같음)을 함께 갖추어야 정다각형입니다. 하나만 갖추면 정다각형이 아닙니다(S06).
- 지치면 여기서 쉬고, 다음에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연습(정다각형 고르기, 한 조건만 맞는 도형 구별)]
목적: 변의 길이와 각의 크기 두 조건을 모두 따져 정다각형을 고르고, 한 조건만 맞는 마름모·직사각형이 왜 정다각형이 아닌지 말합니다(M2).
시간: 약 3분
이렇게 말해 보세요
- “정다각형을 모두 찾아볼까? 변의 길이가 모두 같아? 각의 크기도 모두 같아? 두 가지를 다 물어봐.”
정답
- 다, 라가 정다각형입니다(정육각형, 정사각형).
- 가(마름모)는 변의 길이는 모두 같지만 각의 크기가 다릅니다. 나(직사각형)는 각은 모두 직각이지만 변의 길이가 다릅니다.
막히면
- 보기마다 ‘변 ○, 각 ○’처럼 두 칸에 표시하게 합니다. 둘 다 ○인 것이 정다각형입니다.
주의
- 가를 고르면 ‘변만 같으면 정다각형’이라고 생각한 것입니다(M2). 노란 각 표시가 크고 작은 두 가지라는 것을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대각선의 뜻]
목적: 다각형에서 서로 이웃하지 않는 두 꼭짓점을 이은 선분을 대각선이라고 한다는 것을 압니다.
시간: 약 3분
이렇게 말해 보세요
- “꼭짓점 ㄱ과 이웃한 꼭짓점은 어느 것이야? 이웃하지 않는 꼭짓점은?”
- “ㄱ과 ㄷ처럼 이웃하지 않는 두 꼭짓점을 이은 선분을 ‘대각선’이라고 해. 이 사각형에는 대각선이 몇 개야?”
예상 답
- “ㄴ과 ㄹ이 이웃해요. ㄷ은 이웃하지 않아요.”
- “ㄱㄷ, ㄴㄹ 두 개예요.”
막히면
- 꼭짓점 ㄱ에 손가락을 두고 변을 따라 한 칸 가면 닿는 꼭짓점이 ‘이웃한 꼭짓점’이라고 알려 줍니다.
주의
- ㄱ과 ㄴ을 이은 선분은 변입니다. 변은 대각선이 아닙니다(M3).
- 대각선은 꼭짓점과 꼭짓점을 이어야 합니다. 꼭짓점에서 변의 가운데로 그은 선은 대각선이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대각선을 빠짐없이, 겹치지 않게 세기]
목적: 꼭짓점마다 차례로 대각선을 긋되, 이미 그은 대각선은 다시 세지 않는 방법으로 오각형의 대각선 수를 셉니다.
시간: 약 3분
이렇게 말해 보세요
- “ㄱ에서 이웃하지 않는 꼭짓점은 ㄷ과 ㄹ이야. 대각선 2개. ㄴ에서는? ㄴㄹ, ㄴㅁ 2개가 새로 생겨.”
- “ㄷ에서는 ㄷㅁ만 새로 생겨. ㄷㄱ은 이미 그었으니까. ㄹ과 ㅁ에서는 새로 생기는 게 있을까?”
예상 답
- “없어요. 다 그었어요.” “2 + 2 + 1 = 5개예요.”
막히면
- 공책에 오각형을 크게 그리고, 대각선을 하나 그을 때마다 색연필로 칠하며 셉니다.
주의
- 꼭짓점마다 2개씩 세어 5 × 2 = 10이라고 하면 같은 대각선을 두 번 센 것입니다(M4). 10 ÷ 2 = 5처럼 반으로 나누어도 되지만, 오늘은 ‘새로 생기는 것만 세기’를 연습합니다.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연습(대각선 세기)]
목적: 도움을 받으며 사각형, 오각형, 삼각형의 대각선을 공책에 그어 세어 봅니다. 삼각형에는 대각선이 없다는 것도 압니다.
시간: 약 3분
이렇게 말해 보세요
- “공책에 비슷하게 그려서 대각선을 그어 볼까? 꼭짓점마다 차례로, 새로 생기는 것만 세자.”
- “다 삼각형은 어때? 한 꼭짓점에서 이웃하지 않는 꼭짓점이 있어?”
정답
- 가 2개
- 나 5개(모양이 달라도 오각형이면 5개)
- 다 0개(세 꼭짓점이 모두 서로 이웃하므로 대각선이 없습니다)
막히면
- S08을 다시 보며 꼭짓점 하나에 손가락을 두고 이웃하지 않는 꼭짓점을 찾습니다.
주의
- 다에서 변을 대각선으로 세면 대각선의 뜻(이웃하지 않는 꼭짓점)을 다시 읽게 합니다(M3).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오개념 비교(대각선을 두 번 세기)]
목적: 꼭짓점마다 그을 수 있는 대각선 수를 모두 더해 같은 대각선을 두 번 세는 실수를 찾습니다(M4).
시간: 약 3분
이렇게 말해 보세요
- “정육각형의 대각선을 토끼는 18개, 곰은 9개라고 했어. 공책에 정육각형을 그리고 직접 그어서 세어 볼까?”
- “토끼가 센 대각선 ㄱㄹ과 ㄹㄱ은 같은 선분일까, 다른 선분일까?”
예상 답
- “곰이요. 그어 보니 9개예요.” “ㄱㄹ과 ㄹㄱ은 같은 거예요. 토끼는 두 번 셌어요.”
정답
- 곰이 맞습니다. 정육각형의 대각선은 9개입니다(새로 생기는 것만 세면 3 + 3 + 2 + 1 = 9).
- 토끼는 꼭짓점마다 3개씩 세어 6 × 3 = 18이라고 했지만, 대각선 하나를 양 끝 꼭짓점에서 한 번씩, 모두 두 번 셌습니다(18 ÷ 2 = 9).
막히면
- 공책에 정육각형을 크게 그리고(S05의 정육각형을 따라 그려도 됨) 대각선을 하나 그을 때마다 색연필로 칠하며 셉니다.
주의
- 육각형이면 모양이 달라도 대각선은 9개입니다(볼록한 육각형). S11 ④에서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다각형의 이름을 말하고, 정다각형인지 판단하며, 대각선의 수를 세는지 봅니다.
시간: 약 5분
이렇게 말해 보세요
- “이번에는 혼자 해 볼래? 오른쪽 도형을 공책에 비슷하게 그려서 대각선을 그어 봐도 돼.”
정답
- ① 육각형
- ② 아니요. 변의 길이(와 각의 크기)가 모두 같지는 않습니다.
- ③ 3개(ㄱㄷ, ㄱㄹ, ㄱㅁ)
- ④ 9개
막히면
- 바로 알려 주지 말고 “이웃하지 않는 꼭짓점이 어디야?” 또는 “두 번 센 것은 없어?”라고만 묻습니다.
- 도움을 받아 해결했다면 기록표에 ‘도움’으로 표시합니다.
주의
- ②에서 ‘모양이 이상해서’라고만 하면 “무엇이 같지 않아?”라고 물어 변의 길이나 각의 크기로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대각선을 다시 그어 같이 세어 보자.”
정답
- ① 육각형 ② 아니요 ③ 3개 ④ 9개
막히면
- 이름이 틀리면 S03으로, 정다각형 판단이 틀리면 S05·S06으로, 대각선 수가 틀리면 S08·S10으로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확인(뜻으로 옳은 문장 고르기)]
목적: 다각형·정다각형·대각선의 뜻으로 문장이 옳은지 판단하고, 틀린 문장의 까닭을 말하는지 확인합니다.
시간: 약 2분
이렇게 말해 보세요
- “옳은 문장을 모두 골라 볼래? 틀린 문장은 왜 틀렸는지 말해 줘.”
정답
- 가, 다가 옳습니다.
- 나: 마름모는 각의 크기가 모두 같지 않을 수 있어 정다각형이 아닙니다. 라: 원은 굽은 선으로 둘러싸여 다각형이 아닙니다.
막히면
- 문장 속 도형을 공책에 그려 보고 뜻에 하나씩 대어 봅니다.
주의
- 까닭까지 말하면 두 목표를 모두 이룬 것입니다. 나를 고르면 S06으로 돌아갑니다.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“다각형, 정다각형, 대각선의 뜻을 하나씩 말해 볼래?”
예상 답
- “선분으로만 둘러싸인 도형이 다각형이에요.” “변의 길이와 각의 크기가 모두 같으면 정다각형이에요.” “이웃하지 않는 꼭짓점을 이으면 대각선이에요.”
정답
- ① 칠각형 ② 변의 길이가 모두 같고 각의 크기가 모두 같은 다각형 ③ 2개
막히면
- S03, S05, S07의 뜻 카드를 다시 보여 줍니다.
주의
- 다음 차시(평면도형의 이동)에서는 도형을 밀고, 뒤집고, 돌립니다.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보충(변·꼭짓점, 마름모와 정사각형)]
목적: S02가 흔들리면, 변과 꼭짓점의 뜻과 지난 시간의 마름모·정사각형을 다시 봅니다. 오늘 정다각형을 배울 때 그대로 씁니다.
시간: 약 5분
이렇게 말해 보세요
- “도형의 곧은 선을 ‘변’, 변과 변이 만나는 점을 ‘꼭짓점’이라고 했지? 두 사각형의 변은 몇 개야?”
- “마름모와 정사각형은 둘 다 네 변이 같아. 무엇이 달라?”
정답
- 둘 다 변 4개, 꼭짓점 4개. 정사각형은 네 각이 모두 직각이고, 마름모는 네 각이 직각이 아닐 수 있습니다.
막히면
- 면봉 4개로 정사각형을 만든 뒤 한쪽으로 밀어 기울이면 마름모가 됩니다. 변의 길이는 그대로이고 각만 바뀝니다.
주의
- 보충으로도 어려우면 초4 5차시 ‘여러 가지 사각형’(KR22-G04-MAT-QUAD-L01)을 먼저 다시 합니다. 변과 꼭짓점 세기가 어려우면 초2 ‘여러 가지 도형’(KR22-G02-MAT-PLANE-L01)부터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도형 · 6차시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다각형과 대각선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다각형과 대각선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다각형과 대각선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다각형과 대각선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 안의 점선은 무엇일까?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정오각형 안에 꼭짓점끼리 이은 점선 5개(별 모양)"/>
          <p:cNvSpPr/>
          <p:nvPr/>
        </p:nvSpPr>
        <p:spPr>
          <a:xfrm>
            <a:off x="8255478" y="779800"/>
            <a:ext cx="2782885" cy="2646639"/>
          </a:xfrm>
          <a:custGeom>
            <a:avLst/>
            <a:gdLst/>
            <a:ahLst/>
            <a:cxnLst/>
            <a:rect l="l" t="t" r="r" b="b"/>
            <a:pathLst>
              <a:path w="2782885" h="2646639">
                <a:moveTo>
                  <a:pt x="1391442" y="0"/>
                </a:moveTo>
                <a:lnTo>
                  <a:pt x="0" y="1010961"/>
                </a:lnTo>
                <a:lnTo>
                  <a:pt x="531449" y="2646639"/>
                </a:lnTo>
                <a:lnTo>
                  <a:pt x="2251436" y="2646639"/>
                </a:lnTo>
                <a:lnTo>
                  <a:pt x="2782885" y="1010961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 flipH="1">
            <a:off x="8786927" y="779800"/>
            <a:ext cx="859993" cy="2646639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7" name="S01-mark4"/>
          <p:cNvSpPr/>
          <p:nvPr/>
        </p:nvSpPr>
        <p:spPr>
          <a:xfrm>
            <a:off x="9646920" y="779800"/>
            <a:ext cx="859993" cy="2646639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8" name="S01-mark5"/>
          <p:cNvSpPr/>
          <p:nvPr/>
        </p:nvSpPr>
        <p:spPr>
          <a:xfrm>
            <a:off x="8255478" y="1790761"/>
            <a:ext cx="2251436" cy="1635679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9" name="S01-mark6"/>
          <p:cNvSpPr/>
          <p:nvPr/>
        </p:nvSpPr>
        <p:spPr>
          <a:xfrm>
            <a:off x="8255478" y="1790761"/>
            <a:ext cx="2782885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0" name="S01-mark7"/>
          <p:cNvSpPr/>
          <p:nvPr/>
        </p:nvSpPr>
        <p:spPr>
          <a:xfrm flipV="1">
            <a:off x="8786927" y="1790761"/>
            <a:ext cx="2251436" cy="1635679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1" name="S01-mark8"/>
          <p:cNvSpPr/>
          <p:nvPr/>
        </p:nvSpPr>
        <p:spPr>
          <a:xfrm>
            <a:off x="8897451" y="1211305"/>
            <a:ext cx="107495" cy="1479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 flipV="1">
            <a:off x="8434237" y="2580345"/>
            <a:ext cx="173930" cy="5651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 flipV="1">
            <a:off x="9646920" y="333500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 flipH="1" flipV="1">
            <a:off x="10685673" y="2580345"/>
            <a:ext cx="173930" cy="5651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 flipH="1">
            <a:off x="10288894" y="1211305"/>
            <a:ext cx="107495" cy="1479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1-card13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7" name="S01-cardtext14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다각형과 정다각형을 알아봐요.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대각선을 긋고 몇 개인지 세어요.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1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16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변이 5개인 도형의 이름은?</a:t>
            </a:r>
            <a:endParaRPr lang="ko-KR" sz="3000" dirty="0"/>
          </a:p>
        </p:txBody>
      </p:sp>
      <p:sp>
        <p:nvSpPr>
          <p:cNvPr id="5" name="S02-chip17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18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변의 길이가 모두 같은 사각형은?</a:t>
            </a:r>
            <a:endParaRPr lang="ko-KR" sz="3000" dirty="0"/>
          </a:p>
        </p:txBody>
      </p:sp>
      <p:sp>
        <p:nvSpPr>
          <p:cNvPr id="7" name="S02-chip19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20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정사각형의 네 각은 어떤 각?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다각형</a:t>
            </a:r>
            <a:endParaRPr lang="ko-KR" sz="4000" dirty="0"/>
          </a:p>
        </p:txBody>
      </p:sp>
      <p:sp>
        <p:nvSpPr>
          <p:cNvPr id="3" name="S03-card21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22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다각형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선분으로만 둘러싸인 도형</a:t>
            </a:r>
            <a:endParaRPr lang="ko-KR" sz="3000" dirty="0"/>
          </a:p>
        </p:txBody>
      </p:sp>
      <p:sp>
        <p:nvSpPr>
          <p:cNvPr id="5" name="S03-card23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24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변이 7개면 칠각형</a:t>
            </a:r>
            <a:endParaRPr lang="ko-KR" sz="3000" dirty="0"/>
          </a:p>
        </p:txBody>
      </p:sp>
      <p:sp>
        <p:nvSpPr>
          <p:cNvPr id="7" name="S03-figure25" descr="변이 5개인 오각형(변의 길이가 서로 다름)"/>
          <p:cNvSpPr/>
          <p:nvPr/>
        </p:nvSpPr>
        <p:spPr>
          <a:xfrm>
            <a:off x="915314" y="1431798"/>
            <a:ext cx="2750515" cy="2724912"/>
          </a:xfrm>
          <a:custGeom>
            <a:avLst/>
            <a:gdLst/>
            <a:ahLst/>
            <a:cxnLst/>
            <a:rect l="l" t="t" r="r" b="b"/>
            <a:pathLst>
              <a:path w="2750515" h="2724912">
                <a:moveTo>
                  <a:pt x="1248156" y="0"/>
                </a:moveTo>
                <a:lnTo>
                  <a:pt x="0" y="957377"/>
                </a:lnTo>
                <a:lnTo>
                  <a:pt x="435254" y="2578608"/>
                </a:lnTo>
                <a:lnTo>
                  <a:pt x="2106778" y="2724912"/>
                </a:lnTo>
                <a:lnTo>
                  <a:pt x="2750515" y="957377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3-label26"/>
          <p:cNvSpPr txBox="1"/>
          <p:nvPr/>
        </p:nvSpPr>
        <p:spPr>
          <a:xfrm>
            <a:off x="548640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오각형</a:t>
            </a:r>
            <a:endParaRPr lang="ko-KR" sz="2400" dirty="0"/>
          </a:p>
        </p:txBody>
      </p:sp>
      <p:sp>
        <p:nvSpPr>
          <p:cNvPr id="9" name="S03-figure27" descr="변이 6개인 육각형(변의 길이가 서로 다름)"/>
          <p:cNvSpPr/>
          <p:nvPr/>
        </p:nvSpPr>
        <p:spPr>
          <a:xfrm>
            <a:off x="4741940" y="1417320"/>
            <a:ext cx="2705072" cy="2753868"/>
          </a:xfrm>
          <a:custGeom>
            <a:avLst/>
            <a:gdLst/>
            <a:ahLst/>
            <a:cxnLst/>
            <a:rect l="l" t="t" r="r" b="b"/>
            <a:pathLst>
              <a:path w="2705072" h="2753868">
                <a:moveTo>
                  <a:pt x="1334348" y="0"/>
                </a:moveTo>
                <a:lnTo>
                  <a:pt x="330926" y="416097"/>
                </a:lnTo>
                <a:lnTo>
                  <a:pt x="0" y="1904818"/>
                </a:lnTo>
                <a:lnTo>
                  <a:pt x="849050" y="2753868"/>
                </a:lnTo>
                <a:lnTo>
                  <a:pt x="2044108" y="2649178"/>
                </a:lnTo>
                <a:lnTo>
                  <a:pt x="2705072" y="1052219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3-label28"/>
          <p:cNvSpPr txBox="1"/>
          <p:nvPr/>
        </p:nvSpPr>
        <p:spPr>
          <a:xfrm>
            <a:off x="4352544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육각형</a:t>
            </a:r>
            <a:endParaRPr lang="ko-KR" sz="2400" dirty="0"/>
          </a:p>
        </p:txBody>
      </p:sp>
      <p:sp>
        <p:nvSpPr>
          <p:cNvPr id="11" name="S03-figure29" descr="변이 7개인 칠각형(변의 길이가 서로 다름)"/>
          <p:cNvSpPr/>
          <p:nvPr/>
        </p:nvSpPr>
        <p:spPr>
          <a:xfrm>
            <a:off x="8560539" y="1417320"/>
            <a:ext cx="2675682" cy="2753868"/>
          </a:xfrm>
          <a:custGeom>
            <a:avLst/>
            <a:gdLst/>
            <a:ahLst/>
            <a:cxnLst/>
            <a:rect l="l" t="t" r="r" b="b"/>
            <a:pathLst>
              <a:path w="2675682" h="2753868">
                <a:moveTo>
                  <a:pt x="1610622" y="0"/>
                </a:moveTo>
                <a:lnTo>
                  <a:pt x="571623" y="230213"/>
                </a:lnTo>
                <a:lnTo>
                  <a:pt x="0" y="1127609"/>
                </a:lnTo>
                <a:lnTo>
                  <a:pt x="230213" y="2166608"/>
                </a:lnTo>
                <a:lnTo>
                  <a:pt x="1248362" y="2753868"/>
                </a:lnTo>
                <a:lnTo>
                  <a:pt x="2351647" y="2351647"/>
                </a:lnTo>
                <a:lnTo>
                  <a:pt x="2675682" y="893921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3-label30"/>
          <p:cNvSpPr txBox="1"/>
          <p:nvPr/>
        </p:nvSpPr>
        <p:spPr>
          <a:xfrm>
            <a:off x="8156448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칠각형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다각형을 모두 찾아요</a:t>
            </a:r>
            <a:endParaRPr lang="ko-KR" sz="4000" dirty="0"/>
          </a:p>
        </p:txBody>
      </p:sp>
      <p:sp>
        <p:nvSpPr>
          <p:cNvPr id="3" name="S04-card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다각형이 아닌 것은 왜 아닌지 말해요.</a:t>
            </a:r>
            <a:endParaRPr lang="ko-KR" sz="3000" dirty="0"/>
          </a:p>
        </p:txBody>
      </p:sp>
      <p:sp>
        <p:nvSpPr>
          <p:cNvPr id="5" name="S04-chip33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04-figure34" descr="가: 변이 6개인 도형"/>
          <p:cNvSpPr/>
          <p:nvPr/>
        </p:nvSpPr>
        <p:spPr>
          <a:xfrm>
            <a:off x="2904768" y="1417320"/>
            <a:ext cx="1446229" cy="1577340"/>
          </a:xfrm>
          <a:custGeom>
            <a:avLst/>
            <a:gdLst/>
            <a:ahLst/>
            <a:cxnLst/>
            <a:rect l="l" t="t" r="r" b="b"/>
            <a:pathLst>
              <a:path w="1446229" h="1577340">
                <a:moveTo>
                  <a:pt x="554471" y="0"/>
                </a:moveTo>
                <a:lnTo>
                  <a:pt x="0" y="388330"/>
                </a:lnTo>
                <a:lnTo>
                  <a:pt x="37532" y="1248060"/>
                </a:lnTo>
                <a:lnTo>
                  <a:pt x="554471" y="1577340"/>
                </a:lnTo>
                <a:lnTo>
                  <a:pt x="1307110" y="1303107"/>
                </a:lnTo>
                <a:lnTo>
                  <a:pt x="1446229" y="514937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4-chip35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8" name="S04-figure36" descr="나: 아래는 곧은 선, 위는 둥글게 굽은 선으로 둘러싸인 반원 모양"/>
          <p:cNvSpPr/>
          <p:nvPr/>
        </p:nvSpPr>
        <p:spPr>
          <a:xfrm>
            <a:off x="7893558" y="1474470"/>
            <a:ext cx="2926080" cy="1463040"/>
          </a:xfrm>
          <a:custGeom>
            <a:avLst/>
            <a:gdLst/>
            <a:ahLst/>
            <a:cxnLst/>
            <a:rect l="l" t="t" r="r" b="b"/>
            <a:pathLst>
              <a:path w="2926080" h="1463040">
                <a:moveTo>
                  <a:pt x="2926080" y="1463040"/>
                </a:moveTo>
                <a:lnTo>
                  <a:pt x="2903860" y="1209020"/>
                </a:lnTo>
                <a:lnTo>
                  <a:pt x="2837840" y="962680"/>
                </a:lnTo>
                <a:lnTo>
                  <a:pt x="2730033" y="731520"/>
                </a:lnTo>
                <a:lnTo>
                  <a:pt x="2583820" y="522580"/>
                </a:lnTo>
                <a:lnTo>
                  <a:pt x="2403500" y="342260"/>
                </a:lnTo>
                <a:lnTo>
                  <a:pt x="2194560" y="196047"/>
                </a:lnTo>
                <a:lnTo>
                  <a:pt x="1963400" y="88240"/>
                </a:lnTo>
                <a:lnTo>
                  <a:pt x="1717060" y="22220"/>
                </a:lnTo>
                <a:lnTo>
                  <a:pt x="1463040" y="0"/>
                </a:lnTo>
                <a:lnTo>
                  <a:pt x="1209020" y="22220"/>
                </a:lnTo>
                <a:lnTo>
                  <a:pt x="962680" y="88240"/>
                </a:lnTo>
                <a:lnTo>
                  <a:pt x="731520" y="196047"/>
                </a:lnTo>
                <a:lnTo>
                  <a:pt x="522580" y="342260"/>
                </a:lnTo>
                <a:lnTo>
                  <a:pt x="342260" y="522580"/>
                </a:lnTo>
                <a:lnTo>
                  <a:pt x="196047" y="731520"/>
                </a:lnTo>
                <a:lnTo>
                  <a:pt x="88240" y="962680"/>
                </a:lnTo>
                <a:lnTo>
                  <a:pt x="22220" y="1209020"/>
                </a:lnTo>
                <a:lnTo>
                  <a:pt x="0" y="146304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4-chip37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0" name="S04-figure38" descr="다: 선분 3개가 이어졌지만 끝이 만나지 않아 둘러싸이지 않은 모양"/>
          <p:cNvSpPr/>
          <p:nvPr/>
        </p:nvSpPr>
        <p:spPr>
          <a:xfrm>
            <a:off x="2164842" y="3509010"/>
            <a:ext cx="2926080" cy="1463040"/>
          </a:xfrm>
          <a:custGeom>
            <a:avLst/>
            <a:gdLst/>
            <a:ahLst/>
            <a:cxnLst/>
            <a:rect l="l" t="t" r="r" b="b"/>
            <a:pathLst>
              <a:path w="2926080" h="1463040">
                <a:moveTo>
                  <a:pt x="0" y="1463040"/>
                </a:moveTo>
                <a:lnTo>
                  <a:pt x="914400" y="182880"/>
                </a:lnTo>
                <a:lnTo>
                  <a:pt x="2011680" y="1280160"/>
                </a:lnTo>
                <a:lnTo>
                  <a:pt x="2926080" y="0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4-chip39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2" name="S04-figure40" descr="라: 변이 3개인 도형"/>
          <p:cNvSpPr/>
          <p:nvPr/>
        </p:nvSpPr>
        <p:spPr>
          <a:xfrm>
            <a:off x="7954518" y="3451860"/>
            <a:ext cx="2804160" cy="1577340"/>
          </a:xfrm>
          <a:custGeom>
            <a:avLst/>
            <a:gdLst/>
            <a:ahLst/>
            <a:cxnLst/>
            <a:rect l="l" t="t" r="r" b="b"/>
            <a:pathLst>
              <a:path w="2804160" h="1577340">
                <a:moveTo>
                  <a:pt x="0" y="1577340"/>
                </a:moveTo>
                <a:lnTo>
                  <a:pt x="2804160" y="1577340"/>
                </a:lnTo>
                <a:lnTo>
                  <a:pt x="175260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정다각형</a:t>
            </a:r>
            <a:endParaRPr lang="ko-KR" sz="4000" dirty="0"/>
          </a:p>
        </p:txBody>
      </p:sp>
      <p:sp>
        <p:nvSpPr>
          <p:cNvPr id="3" name="S05-card41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42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정다각형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변의 길이가 모두 같고, 각의 크기가 모두 같은 다각형</a:t>
            </a:r>
            <a:endParaRPr lang="ko-KR" sz="3000" dirty="0"/>
          </a:p>
        </p:txBody>
      </p:sp>
      <p:sp>
        <p:nvSpPr>
          <p:cNvPr id="5" name="S05-figure43" descr="정삼각형: 모든 변에 같은 길이 표시, 모든 각에 같은 크기의 각 표시"/>
          <p:cNvSpPr/>
          <p:nvPr/>
        </p:nvSpPr>
        <p:spPr>
          <a:xfrm>
            <a:off x="640080" y="1776641"/>
            <a:ext cx="2350008" cy="2035226"/>
          </a:xfrm>
          <a:custGeom>
            <a:avLst/>
            <a:gdLst/>
            <a:ahLst/>
            <a:cxnLst/>
            <a:rect l="l" t="t" r="r" b="b"/>
            <a:pathLst>
              <a:path w="2350008" h="2035226">
                <a:moveTo>
                  <a:pt x="1175004" y="0"/>
                </a:moveTo>
                <a:lnTo>
                  <a:pt x="0" y="2035226"/>
                </a:lnTo>
                <a:lnTo>
                  <a:pt x="2350008" y="2035226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5-mark44"/>
          <p:cNvSpPr/>
          <p:nvPr/>
        </p:nvSpPr>
        <p:spPr>
          <a:xfrm>
            <a:off x="1556390" y="1776641"/>
            <a:ext cx="517388" cy="517400"/>
          </a:xfrm>
          <a:custGeom>
            <a:avLst/>
            <a:gdLst/>
            <a:ahLst/>
            <a:cxnLst/>
            <a:rect l="l" t="t" r="r" b="b"/>
            <a:pathLst>
              <a:path w="517388" h="517400">
                <a:moveTo>
                  <a:pt x="258694" y="0"/>
                </a:moveTo>
                <a:lnTo>
                  <a:pt x="0" y="448085"/>
                </a:lnTo>
                <a:lnTo>
                  <a:pt x="19791" y="458942"/>
                </a:lnTo>
                <a:lnTo>
                  <a:pt x="40037" y="468926"/>
                </a:lnTo>
                <a:lnTo>
                  <a:pt x="60698" y="478017"/>
                </a:lnTo>
                <a:lnTo>
                  <a:pt x="81737" y="486198"/>
                </a:lnTo>
                <a:lnTo>
                  <a:pt x="103113" y="493454"/>
                </a:lnTo>
                <a:lnTo>
                  <a:pt x="124784" y="499771"/>
                </a:lnTo>
                <a:lnTo>
                  <a:pt x="146711" y="505136"/>
                </a:lnTo>
                <a:lnTo>
                  <a:pt x="168851" y="509540"/>
                </a:lnTo>
                <a:lnTo>
                  <a:pt x="191162" y="512974"/>
                </a:lnTo>
                <a:lnTo>
                  <a:pt x="213601" y="515431"/>
                </a:lnTo>
                <a:lnTo>
                  <a:pt x="236126" y="516907"/>
                </a:lnTo>
                <a:lnTo>
                  <a:pt x="258694" y="517400"/>
                </a:lnTo>
                <a:lnTo>
                  <a:pt x="281262" y="516907"/>
                </a:lnTo>
                <a:lnTo>
                  <a:pt x="303787" y="515431"/>
                </a:lnTo>
                <a:lnTo>
                  <a:pt x="326227" y="512974"/>
                </a:lnTo>
                <a:lnTo>
                  <a:pt x="348538" y="509540"/>
                </a:lnTo>
                <a:lnTo>
                  <a:pt x="370677" y="505136"/>
                </a:lnTo>
                <a:lnTo>
                  <a:pt x="392604" y="499771"/>
                </a:lnTo>
                <a:lnTo>
                  <a:pt x="414276" y="493454"/>
                </a:lnTo>
                <a:lnTo>
                  <a:pt x="435651" y="486198"/>
                </a:lnTo>
                <a:lnTo>
                  <a:pt x="456690" y="478017"/>
                </a:lnTo>
                <a:lnTo>
                  <a:pt x="477352" y="468926"/>
                </a:lnTo>
                <a:lnTo>
                  <a:pt x="497597" y="458942"/>
                </a:lnTo>
                <a:lnTo>
                  <a:pt x="517388" y="448085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7" name="S05-mark45"/>
          <p:cNvSpPr/>
          <p:nvPr/>
        </p:nvSpPr>
        <p:spPr>
          <a:xfrm>
            <a:off x="640080" y="3363783"/>
            <a:ext cx="517400" cy="448085"/>
          </a:xfrm>
          <a:custGeom>
            <a:avLst/>
            <a:gdLst/>
            <a:ahLst/>
            <a:cxnLst/>
            <a:rect l="l" t="t" r="r" b="b"/>
            <a:pathLst>
              <a:path w="517400" h="448085">
                <a:moveTo>
                  <a:pt x="0" y="448085"/>
                </a:moveTo>
                <a:lnTo>
                  <a:pt x="517400" y="448085"/>
                </a:lnTo>
                <a:lnTo>
                  <a:pt x="516907" y="425516"/>
                </a:lnTo>
                <a:lnTo>
                  <a:pt x="515431" y="402990"/>
                </a:lnTo>
                <a:lnTo>
                  <a:pt x="512973" y="380550"/>
                </a:lnTo>
                <a:lnTo>
                  <a:pt x="509539" y="358238"/>
                </a:lnTo>
                <a:lnTo>
                  <a:pt x="505135" y="336097"/>
                </a:lnTo>
                <a:lnTo>
                  <a:pt x="499769" y="314170"/>
                </a:lnTo>
                <a:lnTo>
                  <a:pt x="493452" y="292498"/>
                </a:lnTo>
                <a:lnTo>
                  <a:pt x="486196" y="271121"/>
                </a:lnTo>
                <a:lnTo>
                  <a:pt x="478014" y="250082"/>
                </a:lnTo>
                <a:lnTo>
                  <a:pt x="468922" y="229420"/>
                </a:lnTo>
                <a:lnTo>
                  <a:pt x="458938" y="209173"/>
                </a:lnTo>
                <a:lnTo>
                  <a:pt x="448080" y="189382"/>
                </a:lnTo>
                <a:lnTo>
                  <a:pt x="436369" y="170083"/>
                </a:lnTo>
                <a:lnTo>
                  <a:pt x="423827" y="151313"/>
                </a:lnTo>
                <a:lnTo>
                  <a:pt x="410478" y="133108"/>
                </a:lnTo>
                <a:lnTo>
                  <a:pt x="396348" y="115503"/>
                </a:lnTo>
                <a:lnTo>
                  <a:pt x="381464" y="98531"/>
                </a:lnTo>
                <a:lnTo>
                  <a:pt x="365853" y="82224"/>
                </a:lnTo>
                <a:lnTo>
                  <a:pt x="349546" y="66614"/>
                </a:lnTo>
                <a:lnTo>
                  <a:pt x="332574" y="51730"/>
                </a:lnTo>
                <a:lnTo>
                  <a:pt x="314968" y="37600"/>
                </a:lnTo>
                <a:lnTo>
                  <a:pt x="296763" y="24252"/>
                </a:lnTo>
                <a:lnTo>
                  <a:pt x="277993" y="11711"/>
                </a:lnTo>
                <a:lnTo>
                  <a:pt x="258694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8" name="S05-mark46"/>
          <p:cNvSpPr/>
          <p:nvPr/>
        </p:nvSpPr>
        <p:spPr>
          <a:xfrm>
            <a:off x="2472688" y="3363783"/>
            <a:ext cx="517400" cy="448085"/>
          </a:xfrm>
          <a:custGeom>
            <a:avLst/>
            <a:gdLst/>
            <a:ahLst/>
            <a:cxnLst/>
            <a:rect l="l" t="t" r="r" b="b"/>
            <a:pathLst>
              <a:path w="517400" h="448085">
                <a:moveTo>
                  <a:pt x="517400" y="448085"/>
                </a:moveTo>
                <a:lnTo>
                  <a:pt x="258706" y="0"/>
                </a:lnTo>
                <a:lnTo>
                  <a:pt x="239406" y="11711"/>
                </a:lnTo>
                <a:lnTo>
                  <a:pt x="220636" y="24252"/>
                </a:lnTo>
                <a:lnTo>
                  <a:pt x="202431" y="37600"/>
                </a:lnTo>
                <a:lnTo>
                  <a:pt x="184826" y="51730"/>
                </a:lnTo>
                <a:lnTo>
                  <a:pt x="167853" y="66614"/>
                </a:lnTo>
                <a:lnTo>
                  <a:pt x="151546" y="82224"/>
                </a:lnTo>
                <a:lnTo>
                  <a:pt x="135936" y="98531"/>
                </a:lnTo>
                <a:lnTo>
                  <a:pt x="121051" y="115503"/>
                </a:lnTo>
                <a:lnTo>
                  <a:pt x="106921" y="133108"/>
                </a:lnTo>
                <a:lnTo>
                  <a:pt x="93573" y="151313"/>
                </a:lnTo>
                <a:lnTo>
                  <a:pt x="81031" y="170083"/>
                </a:lnTo>
                <a:lnTo>
                  <a:pt x="69320" y="189382"/>
                </a:lnTo>
                <a:lnTo>
                  <a:pt x="58462" y="209173"/>
                </a:lnTo>
                <a:lnTo>
                  <a:pt x="48477" y="229420"/>
                </a:lnTo>
                <a:lnTo>
                  <a:pt x="39386" y="250082"/>
                </a:lnTo>
                <a:lnTo>
                  <a:pt x="31204" y="271121"/>
                </a:lnTo>
                <a:lnTo>
                  <a:pt x="23947" y="292498"/>
                </a:lnTo>
                <a:lnTo>
                  <a:pt x="17630" y="314170"/>
                </a:lnTo>
                <a:lnTo>
                  <a:pt x="12265" y="336097"/>
                </a:lnTo>
                <a:lnTo>
                  <a:pt x="7861" y="358238"/>
                </a:lnTo>
                <a:lnTo>
                  <a:pt x="4427" y="380550"/>
                </a:lnTo>
                <a:lnTo>
                  <a:pt x="1969" y="402990"/>
                </a:lnTo>
                <a:lnTo>
                  <a:pt x="492" y="425516"/>
                </a:lnTo>
                <a:lnTo>
                  <a:pt x="0" y="448085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9" name="S05-mark47"/>
          <p:cNvSpPr/>
          <p:nvPr/>
        </p:nvSpPr>
        <p:spPr>
          <a:xfrm>
            <a:off x="1148392" y="2748535"/>
            <a:ext cx="158380" cy="9143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5-mark48"/>
          <p:cNvSpPr/>
          <p:nvPr/>
        </p:nvSpPr>
        <p:spPr>
          <a:xfrm flipV="1">
            <a:off x="1815084" y="3720427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5-mark49"/>
          <p:cNvSpPr/>
          <p:nvPr/>
        </p:nvSpPr>
        <p:spPr>
          <a:xfrm flipH="1">
            <a:off x="2323396" y="2748535"/>
            <a:ext cx="158380" cy="9143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5-label50"/>
          <p:cNvSpPr txBox="1"/>
          <p:nvPr/>
        </p:nvSpPr>
        <p:spPr>
          <a:xfrm>
            <a:off x="548640" y="4335780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정삼각형</a:t>
            </a:r>
            <a:endParaRPr lang="ko-KR" sz="2400" dirty="0"/>
          </a:p>
        </p:txBody>
      </p:sp>
      <p:sp>
        <p:nvSpPr>
          <p:cNvPr id="13" name="S05-figure51" descr="정사각형: 네 변에 같은 길이 표시, 네 각에 직각 표시"/>
          <p:cNvSpPr/>
          <p:nvPr/>
        </p:nvSpPr>
        <p:spPr>
          <a:xfrm>
            <a:off x="3698108" y="1824350"/>
            <a:ext cx="1939808" cy="1939808"/>
          </a:xfrm>
          <a:custGeom>
            <a:avLst/>
            <a:gdLst/>
            <a:ahLst/>
            <a:cxnLst/>
            <a:rect l="l" t="t" r="r" b="b"/>
            <a:pathLst>
              <a:path w="1939808" h="1939808">
                <a:moveTo>
                  <a:pt x="1939808" y="0"/>
                </a:moveTo>
                <a:lnTo>
                  <a:pt x="0" y="0"/>
                </a:lnTo>
                <a:lnTo>
                  <a:pt x="0" y="1939808"/>
                </a:lnTo>
                <a:lnTo>
                  <a:pt x="1939808" y="1939808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5-mark52"/>
          <p:cNvSpPr/>
          <p:nvPr/>
        </p:nvSpPr>
        <p:spPr>
          <a:xfrm>
            <a:off x="5409316" y="1824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0" y="22860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5-mark53"/>
          <p:cNvSpPr/>
          <p:nvPr/>
        </p:nvSpPr>
        <p:spPr>
          <a:xfrm>
            <a:off x="3698108" y="1824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228600" y="228600"/>
                </a:lnTo>
                <a:lnTo>
                  <a:pt x="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5-mark54"/>
          <p:cNvSpPr/>
          <p:nvPr/>
        </p:nvSpPr>
        <p:spPr>
          <a:xfrm>
            <a:off x="3698108" y="353555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5-mark55"/>
          <p:cNvSpPr/>
          <p:nvPr/>
        </p:nvSpPr>
        <p:spPr>
          <a:xfrm>
            <a:off x="5409316" y="353555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0" y="0"/>
                </a:lnTo>
                <a:lnTo>
                  <a:pt x="22860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5-mark56"/>
          <p:cNvSpPr/>
          <p:nvPr/>
        </p:nvSpPr>
        <p:spPr>
          <a:xfrm>
            <a:off x="4668012" y="173291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5-mark57"/>
          <p:cNvSpPr/>
          <p:nvPr/>
        </p:nvSpPr>
        <p:spPr>
          <a:xfrm>
            <a:off x="3606668" y="2794254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5-mark58"/>
          <p:cNvSpPr/>
          <p:nvPr/>
        </p:nvSpPr>
        <p:spPr>
          <a:xfrm flipV="1">
            <a:off x="4668012" y="3672718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5-mark59"/>
          <p:cNvSpPr/>
          <p:nvPr/>
        </p:nvSpPr>
        <p:spPr>
          <a:xfrm flipH="1">
            <a:off x="5546476" y="2794254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5-label60"/>
          <p:cNvSpPr txBox="1"/>
          <p:nvPr/>
        </p:nvSpPr>
        <p:spPr>
          <a:xfrm>
            <a:off x="3401568" y="4335780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</a:t>
            </a:r>
            <a:endParaRPr lang="ko-KR" sz="2400" dirty="0"/>
          </a:p>
        </p:txBody>
      </p:sp>
      <p:sp>
        <p:nvSpPr>
          <p:cNvPr id="23" name="S05-figure61" descr="정오각형: 모든 변에 같은 길이 표시, 모든 각에 같은 크기의 각 표시"/>
          <p:cNvSpPr/>
          <p:nvPr/>
        </p:nvSpPr>
        <p:spPr>
          <a:xfrm>
            <a:off x="6345936" y="1676781"/>
            <a:ext cx="2350008" cy="2234946"/>
          </a:xfrm>
          <a:custGeom>
            <a:avLst/>
            <a:gdLst/>
            <a:ahLst/>
            <a:cxnLst/>
            <a:rect l="l" t="t" r="r" b="b"/>
            <a:pathLst>
              <a:path w="2350008" h="2234946">
                <a:moveTo>
                  <a:pt x="1175004" y="0"/>
                </a:moveTo>
                <a:lnTo>
                  <a:pt x="0" y="853702"/>
                </a:lnTo>
                <a:lnTo>
                  <a:pt x="448801" y="2234946"/>
                </a:lnTo>
                <a:lnTo>
                  <a:pt x="1901207" y="2234946"/>
                </a:lnTo>
                <a:lnTo>
                  <a:pt x="2350008" y="853702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5-mark62"/>
          <p:cNvSpPr/>
          <p:nvPr/>
        </p:nvSpPr>
        <p:spPr>
          <a:xfrm>
            <a:off x="7262402" y="1676781"/>
            <a:ext cx="517076" cy="319572"/>
          </a:xfrm>
          <a:custGeom>
            <a:avLst/>
            <a:gdLst/>
            <a:ahLst/>
            <a:cxnLst/>
            <a:rect l="l" t="t" r="r" b="b"/>
            <a:pathLst>
              <a:path w="517076" h="319572">
                <a:moveTo>
                  <a:pt x="258538" y="0"/>
                </a:moveTo>
                <a:lnTo>
                  <a:pt x="0" y="187841"/>
                </a:lnTo>
                <a:lnTo>
                  <a:pt x="15535" y="207547"/>
                </a:lnTo>
                <a:lnTo>
                  <a:pt x="32568" y="225973"/>
                </a:lnTo>
                <a:lnTo>
                  <a:pt x="50994" y="243006"/>
                </a:lnTo>
                <a:lnTo>
                  <a:pt x="70699" y="258540"/>
                </a:lnTo>
                <a:lnTo>
                  <a:pt x="91563" y="272481"/>
                </a:lnTo>
                <a:lnTo>
                  <a:pt x="113456" y="284741"/>
                </a:lnTo>
                <a:lnTo>
                  <a:pt x="136244" y="295246"/>
                </a:lnTo>
                <a:lnTo>
                  <a:pt x="159785" y="303931"/>
                </a:lnTo>
                <a:lnTo>
                  <a:pt x="183936" y="310742"/>
                </a:lnTo>
                <a:lnTo>
                  <a:pt x="208546" y="315638"/>
                </a:lnTo>
                <a:lnTo>
                  <a:pt x="233465" y="318587"/>
                </a:lnTo>
                <a:lnTo>
                  <a:pt x="258538" y="319572"/>
                </a:lnTo>
                <a:lnTo>
                  <a:pt x="283611" y="318587"/>
                </a:lnTo>
                <a:lnTo>
                  <a:pt x="308530" y="315638"/>
                </a:lnTo>
                <a:lnTo>
                  <a:pt x="333140" y="310742"/>
                </a:lnTo>
                <a:lnTo>
                  <a:pt x="357291" y="303931"/>
                </a:lnTo>
                <a:lnTo>
                  <a:pt x="380832" y="295246"/>
                </a:lnTo>
                <a:lnTo>
                  <a:pt x="403620" y="284741"/>
                </a:lnTo>
                <a:lnTo>
                  <a:pt x="425513" y="272481"/>
                </a:lnTo>
                <a:lnTo>
                  <a:pt x="446377" y="258540"/>
                </a:lnTo>
                <a:lnTo>
                  <a:pt x="466082" y="243006"/>
                </a:lnTo>
                <a:lnTo>
                  <a:pt x="484508" y="225973"/>
                </a:lnTo>
                <a:lnTo>
                  <a:pt x="501541" y="207547"/>
                </a:lnTo>
                <a:lnTo>
                  <a:pt x="517076" y="187841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25" name="S05-mark63"/>
          <p:cNvSpPr/>
          <p:nvPr/>
        </p:nvSpPr>
        <p:spPr>
          <a:xfrm>
            <a:off x="6345936" y="2342642"/>
            <a:ext cx="319572" cy="491772"/>
          </a:xfrm>
          <a:custGeom>
            <a:avLst/>
            <a:gdLst/>
            <a:ahLst/>
            <a:cxnLst/>
            <a:rect l="l" t="t" r="r" b="b"/>
            <a:pathLst>
              <a:path w="319572" h="491772">
                <a:moveTo>
                  <a:pt x="0" y="187841"/>
                </a:moveTo>
                <a:lnTo>
                  <a:pt x="98755" y="491772"/>
                </a:lnTo>
                <a:lnTo>
                  <a:pt x="122297" y="483087"/>
                </a:lnTo>
                <a:lnTo>
                  <a:pt x="145084" y="472582"/>
                </a:lnTo>
                <a:lnTo>
                  <a:pt x="166977" y="460321"/>
                </a:lnTo>
                <a:lnTo>
                  <a:pt x="187841" y="446380"/>
                </a:lnTo>
                <a:lnTo>
                  <a:pt x="207547" y="430845"/>
                </a:lnTo>
                <a:lnTo>
                  <a:pt x="225973" y="413812"/>
                </a:lnTo>
                <a:lnTo>
                  <a:pt x="243006" y="395386"/>
                </a:lnTo>
                <a:lnTo>
                  <a:pt x="258540" y="375680"/>
                </a:lnTo>
                <a:lnTo>
                  <a:pt x="272481" y="354816"/>
                </a:lnTo>
                <a:lnTo>
                  <a:pt x="284742" y="332923"/>
                </a:lnTo>
                <a:lnTo>
                  <a:pt x="295247" y="310135"/>
                </a:lnTo>
                <a:lnTo>
                  <a:pt x="303932" y="286593"/>
                </a:lnTo>
                <a:lnTo>
                  <a:pt x="310743" y="262442"/>
                </a:lnTo>
                <a:lnTo>
                  <a:pt x="315638" y="237832"/>
                </a:lnTo>
                <a:lnTo>
                  <a:pt x="318587" y="212913"/>
                </a:lnTo>
                <a:lnTo>
                  <a:pt x="319572" y="187840"/>
                </a:lnTo>
                <a:lnTo>
                  <a:pt x="318587" y="162766"/>
                </a:lnTo>
                <a:lnTo>
                  <a:pt x="315637" y="137847"/>
                </a:lnTo>
                <a:lnTo>
                  <a:pt x="310742" y="113237"/>
                </a:lnTo>
                <a:lnTo>
                  <a:pt x="303930" y="89086"/>
                </a:lnTo>
                <a:lnTo>
                  <a:pt x="295245" y="65545"/>
                </a:lnTo>
                <a:lnTo>
                  <a:pt x="284740" y="42757"/>
                </a:lnTo>
                <a:lnTo>
                  <a:pt x="272479" y="20864"/>
                </a:lnTo>
                <a:lnTo>
                  <a:pt x="258538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26" name="S05-mark64"/>
          <p:cNvSpPr/>
          <p:nvPr/>
        </p:nvSpPr>
        <p:spPr>
          <a:xfrm>
            <a:off x="6695982" y="3592155"/>
            <a:ext cx="418327" cy="319572"/>
          </a:xfrm>
          <a:custGeom>
            <a:avLst/>
            <a:gdLst/>
            <a:ahLst/>
            <a:cxnLst/>
            <a:rect l="l" t="t" r="r" b="b"/>
            <a:pathLst>
              <a:path w="418327" h="319572">
                <a:moveTo>
                  <a:pt x="98755" y="319572"/>
                </a:moveTo>
                <a:lnTo>
                  <a:pt x="418327" y="319572"/>
                </a:lnTo>
                <a:lnTo>
                  <a:pt x="417342" y="294499"/>
                </a:lnTo>
                <a:lnTo>
                  <a:pt x="414392" y="269580"/>
                </a:lnTo>
                <a:lnTo>
                  <a:pt x="409497" y="244969"/>
                </a:lnTo>
                <a:lnTo>
                  <a:pt x="402686" y="220819"/>
                </a:lnTo>
                <a:lnTo>
                  <a:pt x="394001" y="197277"/>
                </a:lnTo>
                <a:lnTo>
                  <a:pt x="383495" y="174489"/>
                </a:lnTo>
                <a:lnTo>
                  <a:pt x="371235" y="152596"/>
                </a:lnTo>
                <a:lnTo>
                  <a:pt x="357294" y="131732"/>
                </a:lnTo>
                <a:lnTo>
                  <a:pt x="341759" y="112026"/>
                </a:lnTo>
                <a:lnTo>
                  <a:pt x="324726" y="93600"/>
                </a:lnTo>
                <a:lnTo>
                  <a:pt x="306300" y="76567"/>
                </a:lnTo>
                <a:lnTo>
                  <a:pt x="286594" y="61032"/>
                </a:lnTo>
                <a:lnTo>
                  <a:pt x="265730" y="47092"/>
                </a:lnTo>
                <a:lnTo>
                  <a:pt x="243837" y="34831"/>
                </a:lnTo>
                <a:lnTo>
                  <a:pt x="221049" y="24326"/>
                </a:lnTo>
                <a:lnTo>
                  <a:pt x="197507" y="15641"/>
                </a:lnTo>
                <a:lnTo>
                  <a:pt x="173356" y="8830"/>
                </a:lnTo>
                <a:lnTo>
                  <a:pt x="148746" y="3934"/>
                </a:lnTo>
                <a:lnTo>
                  <a:pt x="123827" y="985"/>
                </a:lnTo>
                <a:lnTo>
                  <a:pt x="98753" y="0"/>
                </a:lnTo>
                <a:lnTo>
                  <a:pt x="73680" y="985"/>
                </a:lnTo>
                <a:lnTo>
                  <a:pt x="48761" y="3935"/>
                </a:lnTo>
                <a:lnTo>
                  <a:pt x="24151" y="8830"/>
                </a:lnTo>
                <a:lnTo>
                  <a:pt x="0" y="15641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27" name="S05-mark65"/>
          <p:cNvSpPr/>
          <p:nvPr/>
        </p:nvSpPr>
        <p:spPr>
          <a:xfrm>
            <a:off x="7927571" y="3592155"/>
            <a:ext cx="418327" cy="319572"/>
          </a:xfrm>
          <a:custGeom>
            <a:avLst/>
            <a:gdLst/>
            <a:ahLst/>
            <a:cxnLst/>
            <a:rect l="l" t="t" r="r" b="b"/>
            <a:pathLst>
              <a:path w="418327" h="319572">
                <a:moveTo>
                  <a:pt x="319572" y="319572"/>
                </a:moveTo>
                <a:lnTo>
                  <a:pt x="418327" y="15641"/>
                </a:lnTo>
                <a:lnTo>
                  <a:pt x="394176" y="8830"/>
                </a:lnTo>
                <a:lnTo>
                  <a:pt x="369566" y="3935"/>
                </a:lnTo>
                <a:lnTo>
                  <a:pt x="344647" y="985"/>
                </a:lnTo>
                <a:lnTo>
                  <a:pt x="319573" y="0"/>
                </a:lnTo>
                <a:lnTo>
                  <a:pt x="294500" y="985"/>
                </a:lnTo>
                <a:lnTo>
                  <a:pt x="269581" y="3934"/>
                </a:lnTo>
                <a:lnTo>
                  <a:pt x="244971" y="8830"/>
                </a:lnTo>
                <a:lnTo>
                  <a:pt x="220820" y="15641"/>
                </a:lnTo>
                <a:lnTo>
                  <a:pt x="197278" y="24326"/>
                </a:lnTo>
                <a:lnTo>
                  <a:pt x="174490" y="34831"/>
                </a:lnTo>
                <a:lnTo>
                  <a:pt x="152597" y="47092"/>
                </a:lnTo>
                <a:lnTo>
                  <a:pt x="131733" y="61032"/>
                </a:lnTo>
                <a:lnTo>
                  <a:pt x="112027" y="76567"/>
                </a:lnTo>
                <a:lnTo>
                  <a:pt x="93601" y="93600"/>
                </a:lnTo>
                <a:lnTo>
                  <a:pt x="76568" y="112026"/>
                </a:lnTo>
                <a:lnTo>
                  <a:pt x="61033" y="131732"/>
                </a:lnTo>
                <a:lnTo>
                  <a:pt x="47092" y="152596"/>
                </a:lnTo>
                <a:lnTo>
                  <a:pt x="34831" y="174489"/>
                </a:lnTo>
                <a:lnTo>
                  <a:pt x="24326" y="197277"/>
                </a:lnTo>
                <a:lnTo>
                  <a:pt x="15641" y="220819"/>
                </a:lnTo>
                <a:lnTo>
                  <a:pt x="8830" y="244969"/>
                </a:lnTo>
                <a:lnTo>
                  <a:pt x="3934" y="269580"/>
                </a:lnTo>
                <a:lnTo>
                  <a:pt x="985" y="294499"/>
                </a:lnTo>
                <a:lnTo>
                  <a:pt x="0" y="319572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28" name="S05-mark66"/>
          <p:cNvSpPr/>
          <p:nvPr/>
        </p:nvSpPr>
        <p:spPr>
          <a:xfrm>
            <a:off x="8376372" y="2342642"/>
            <a:ext cx="319572" cy="491772"/>
          </a:xfrm>
          <a:custGeom>
            <a:avLst/>
            <a:gdLst/>
            <a:ahLst/>
            <a:cxnLst/>
            <a:rect l="l" t="t" r="r" b="b"/>
            <a:pathLst>
              <a:path w="319572" h="491772">
                <a:moveTo>
                  <a:pt x="319572" y="187841"/>
                </a:moveTo>
                <a:lnTo>
                  <a:pt x="61034" y="0"/>
                </a:lnTo>
                <a:lnTo>
                  <a:pt x="47093" y="20864"/>
                </a:lnTo>
                <a:lnTo>
                  <a:pt x="34832" y="42757"/>
                </a:lnTo>
                <a:lnTo>
                  <a:pt x="24327" y="65545"/>
                </a:lnTo>
                <a:lnTo>
                  <a:pt x="15642" y="89086"/>
                </a:lnTo>
                <a:lnTo>
                  <a:pt x="8830" y="113237"/>
                </a:lnTo>
                <a:lnTo>
                  <a:pt x="3935" y="137847"/>
                </a:lnTo>
                <a:lnTo>
                  <a:pt x="985" y="162766"/>
                </a:lnTo>
                <a:lnTo>
                  <a:pt x="0" y="187840"/>
                </a:lnTo>
                <a:lnTo>
                  <a:pt x="985" y="212913"/>
                </a:lnTo>
                <a:lnTo>
                  <a:pt x="3934" y="237832"/>
                </a:lnTo>
                <a:lnTo>
                  <a:pt x="8829" y="262442"/>
                </a:lnTo>
                <a:lnTo>
                  <a:pt x="15640" y="286593"/>
                </a:lnTo>
                <a:lnTo>
                  <a:pt x="24325" y="310135"/>
                </a:lnTo>
                <a:lnTo>
                  <a:pt x="34830" y="332923"/>
                </a:lnTo>
                <a:lnTo>
                  <a:pt x="47091" y="354816"/>
                </a:lnTo>
                <a:lnTo>
                  <a:pt x="61032" y="375680"/>
                </a:lnTo>
                <a:lnTo>
                  <a:pt x="76566" y="395386"/>
                </a:lnTo>
                <a:lnTo>
                  <a:pt x="93599" y="413812"/>
                </a:lnTo>
                <a:lnTo>
                  <a:pt x="112025" y="430845"/>
                </a:lnTo>
                <a:lnTo>
                  <a:pt x="131731" y="446380"/>
                </a:lnTo>
                <a:lnTo>
                  <a:pt x="152595" y="460321"/>
                </a:lnTo>
                <a:lnTo>
                  <a:pt x="174488" y="472582"/>
                </a:lnTo>
                <a:lnTo>
                  <a:pt x="197276" y="483087"/>
                </a:lnTo>
                <a:lnTo>
                  <a:pt x="220817" y="491772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29" name="S05-mark67"/>
          <p:cNvSpPr/>
          <p:nvPr/>
        </p:nvSpPr>
        <p:spPr>
          <a:xfrm>
            <a:off x="6879690" y="2029656"/>
            <a:ext cx="107495" cy="1479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5-mark68"/>
          <p:cNvSpPr/>
          <p:nvPr/>
        </p:nvSpPr>
        <p:spPr>
          <a:xfrm flipV="1">
            <a:off x="6483372" y="3192848"/>
            <a:ext cx="173929" cy="5651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5-mark69"/>
          <p:cNvSpPr/>
          <p:nvPr/>
        </p:nvSpPr>
        <p:spPr>
          <a:xfrm flipV="1">
            <a:off x="7520940" y="3820287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5-mark70"/>
          <p:cNvSpPr/>
          <p:nvPr/>
        </p:nvSpPr>
        <p:spPr>
          <a:xfrm flipH="1" flipV="1">
            <a:off x="8384579" y="3192848"/>
            <a:ext cx="173929" cy="5651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3" name="S05-mark71"/>
          <p:cNvSpPr/>
          <p:nvPr/>
        </p:nvSpPr>
        <p:spPr>
          <a:xfrm flipH="1">
            <a:off x="8054694" y="2029656"/>
            <a:ext cx="107495" cy="1479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05-label72"/>
          <p:cNvSpPr txBox="1"/>
          <p:nvPr/>
        </p:nvSpPr>
        <p:spPr>
          <a:xfrm>
            <a:off x="6254496" y="4335780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정오각형</a:t>
            </a:r>
            <a:endParaRPr lang="ko-KR" sz="2400" dirty="0"/>
          </a:p>
        </p:txBody>
      </p:sp>
      <p:sp>
        <p:nvSpPr>
          <p:cNvPr id="35" name="S05-figure73" descr="정육각형: 모든 변에 같은 길이 표시, 모든 각에 같은 크기의 각 표시"/>
          <p:cNvSpPr/>
          <p:nvPr/>
        </p:nvSpPr>
        <p:spPr>
          <a:xfrm>
            <a:off x="9198864" y="1437436"/>
            <a:ext cx="2350008" cy="2713635"/>
          </a:xfrm>
          <a:custGeom>
            <a:avLst/>
            <a:gdLst/>
            <a:ahLst/>
            <a:cxnLst/>
            <a:rect l="l" t="t" r="r" b="b"/>
            <a:pathLst>
              <a:path w="2350008" h="2713635">
                <a:moveTo>
                  <a:pt x="1175004" y="0"/>
                </a:moveTo>
                <a:lnTo>
                  <a:pt x="0" y="678409"/>
                </a:lnTo>
                <a:lnTo>
                  <a:pt x="0" y="2035226"/>
                </a:lnTo>
                <a:lnTo>
                  <a:pt x="1175004" y="2713635"/>
                </a:lnTo>
                <a:lnTo>
                  <a:pt x="2350008" y="2035226"/>
                </a:lnTo>
                <a:lnTo>
                  <a:pt x="2350008" y="678409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6" name="S05-mark74"/>
          <p:cNvSpPr/>
          <p:nvPr/>
        </p:nvSpPr>
        <p:spPr>
          <a:xfrm>
            <a:off x="10115361" y="1437436"/>
            <a:ext cx="517013" cy="298500"/>
          </a:xfrm>
          <a:custGeom>
            <a:avLst/>
            <a:gdLst/>
            <a:ahLst/>
            <a:cxnLst/>
            <a:rect l="l" t="t" r="r" b="b"/>
            <a:pathLst>
              <a:path w="517013" h="298500">
                <a:moveTo>
                  <a:pt x="258507" y="0"/>
                </a:moveTo>
                <a:lnTo>
                  <a:pt x="0" y="149253"/>
                </a:lnTo>
                <a:lnTo>
                  <a:pt x="13992" y="171215"/>
                </a:lnTo>
                <a:lnTo>
                  <a:pt x="29844" y="191874"/>
                </a:lnTo>
                <a:lnTo>
                  <a:pt x="47437" y="211073"/>
                </a:lnTo>
                <a:lnTo>
                  <a:pt x="66636" y="228666"/>
                </a:lnTo>
                <a:lnTo>
                  <a:pt x="87296" y="244518"/>
                </a:lnTo>
                <a:lnTo>
                  <a:pt x="109258" y="258509"/>
                </a:lnTo>
                <a:lnTo>
                  <a:pt x="132357" y="270533"/>
                </a:lnTo>
                <a:lnTo>
                  <a:pt x="156415" y="280499"/>
                </a:lnTo>
                <a:lnTo>
                  <a:pt x="181250" y="288329"/>
                </a:lnTo>
                <a:lnTo>
                  <a:pt x="206673" y="293965"/>
                </a:lnTo>
                <a:lnTo>
                  <a:pt x="232491" y="297364"/>
                </a:lnTo>
                <a:lnTo>
                  <a:pt x="258507" y="298500"/>
                </a:lnTo>
                <a:lnTo>
                  <a:pt x="284522" y="297364"/>
                </a:lnTo>
                <a:lnTo>
                  <a:pt x="310340" y="293965"/>
                </a:lnTo>
                <a:lnTo>
                  <a:pt x="335763" y="288329"/>
                </a:lnTo>
                <a:lnTo>
                  <a:pt x="360598" y="280499"/>
                </a:lnTo>
                <a:lnTo>
                  <a:pt x="384657" y="270533"/>
                </a:lnTo>
                <a:lnTo>
                  <a:pt x="407755" y="258509"/>
                </a:lnTo>
                <a:lnTo>
                  <a:pt x="429717" y="244518"/>
                </a:lnTo>
                <a:lnTo>
                  <a:pt x="450377" y="228666"/>
                </a:lnTo>
                <a:lnTo>
                  <a:pt x="469576" y="211073"/>
                </a:lnTo>
                <a:lnTo>
                  <a:pt x="487169" y="191874"/>
                </a:lnTo>
                <a:lnTo>
                  <a:pt x="503021" y="171215"/>
                </a:lnTo>
                <a:lnTo>
                  <a:pt x="517013" y="149253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37" name="S05-mark75"/>
          <p:cNvSpPr/>
          <p:nvPr/>
        </p:nvSpPr>
        <p:spPr>
          <a:xfrm>
            <a:off x="9198864" y="1966592"/>
            <a:ext cx="298500" cy="447753"/>
          </a:xfrm>
          <a:custGeom>
            <a:avLst/>
            <a:gdLst/>
            <a:ahLst/>
            <a:cxnLst/>
            <a:rect l="l" t="t" r="r" b="b"/>
            <a:pathLst>
              <a:path w="298500" h="447753">
                <a:moveTo>
                  <a:pt x="0" y="149253"/>
                </a:moveTo>
                <a:lnTo>
                  <a:pt x="0" y="447753"/>
                </a:lnTo>
                <a:lnTo>
                  <a:pt x="26016" y="446617"/>
                </a:lnTo>
                <a:lnTo>
                  <a:pt x="51834" y="443218"/>
                </a:lnTo>
                <a:lnTo>
                  <a:pt x="77258" y="437582"/>
                </a:lnTo>
                <a:lnTo>
                  <a:pt x="102094" y="429751"/>
                </a:lnTo>
                <a:lnTo>
                  <a:pt x="126152" y="419786"/>
                </a:lnTo>
                <a:lnTo>
                  <a:pt x="149251" y="407761"/>
                </a:lnTo>
                <a:lnTo>
                  <a:pt x="171213" y="393769"/>
                </a:lnTo>
                <a:lnTo>
                  <a:pt x="191873" y="377917"/>
                </a:lnTo>
                <a:lnTo>
                  <a:pt x="211072" y="360323"/>
                </a:lnTo>
                <a:lnTo>
                  <a:pt x="228665" y="341124"/>
                </a:lnTo>
                <a:lnTo>
                  <a:pt x="244518" y="320464"/>
                </a:lnTo>
                <a:lnTo>
                  <a:pt x="258509" y="298502"/>
                </a:lnTo>
                <a:lnTo>
                  <a:pt x="270534" y="275403"/>
                </a:lnTo>
                <a:lnTo>
                  <a:pt x="280499" y="251344"/>
                </a:lnTo>
                <a:lnTo>
                  <a:pt x="288329" y="226508"/>
                </a:lnTo>
                <a:lnTo>
                  <a:pt x="293965" y="201085"/>
                </a:lnTo>
                <a:lnTo>
                  <a:pt x="297364" y="175267"/>
                </a:lnTo>
                <a:lnTo>
                  <a:pt x="298500" y="149250"/>
                </a:lnTo>
                <a:lnTo>
                  <a:pt x="297364" y="123234"/>
                </a:lnTo>
                <a:lnTo>
                  <a:pt x="293964" y="97416"/>
                </a:lnTo>
                <a:lnTo>
                  <a:pt x="288328" y="71993"/>
                </a:lnTo>
                <a:lnTo>
                  <a:pt x="280497" y="47157"/>
                </a:lnTo>
                <a:lnTo>
                  <a:pt x="270531" y="23098"/>
                </a:lnTo>
                <a:lnTo>
                  <a:pt x="258507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38" name="S05-mark76"/>
          <p:cNvSpPr/>
          <p:nvPr/>
        </p:nvSpPr>
        <p:spPr>
          <a:xfrm>
            <a:off x="9198864" y="3174163"/>
            <a:ext cx="298500" cy="447753"/>
          </a:xfrm>
          <a:custGeom>
            <a:avLst/>
            <a:gdLst/>
            <a:ahLst/>
            <a:cxnLst/>
            <a:rect l="l" t="t" r="r" b="b"/>
            <a:pathLst>
              <a:path w="298500" h="447753">
                <a:moveTo>
                  <a:pt x="0" y="298500"/>
                </a:moveTo>
                <a:lnTo>
                  <a:pt x="258507" y="447753"/>
                </a:lnTo>
                <a:lnTo>
                  <a:pt x="270531" y="424655"/>
                </a:lnTo>
                <a:lnTo>
                  <a:pt x="280497" y="400596"/>
                </a:lnTo>
                <a:lnTo>
                  <a:pt x="288328" y="375761"/>
                </a:lnTo>
                <a:lnTo>
                  <a:pt x="293964" y="350337"/>
                </a:lnTo>
                <a:lnTo>
                  <a:pt x="297364" y="324519"/>
                </a:lnTo>
                <a:lnTo>
                  <a:pt x="298500" y="298503"/>
                </a:lnTo>
                <a:lnTo>
                  <a:pt x="297364" y="272487"/>
                </a:lnTo>
                <a:lnTo>
                  <a:pt x="293965" y="246668"/>
                </a:lnTo>
                <a:lnTo>
                  <a:pt x="288329" y="221245"/>
                </a:lnTo>
                <a:lnTo>
                  <a:pt x="280499" y="196409"/>
                </a:lnTo>
                <a:lnTo>
                  <a:pt x="270534" y="172350"/>
                </a:lnTo>
                <a:lnTo>
                  <a:pt x="258509" y="149252"/>
                </a:lnTo>
                <a:lnTo>
                  <a:pt x="244518" y="127289"/>
                </a:lnTo>
                <a:lnTo>
                  <a:pt x="228665" y="106629"/>
                </a:lnTo>
                <a:lnTo>
                  <a:pt x="211072" y="87430"/>
                </a:lnTo>
                <a:lnTo>
                  <a:pt x="191873" y="69837"/>
                </a:lnTo>
                <a:lnTo>
                  <a:pt x="171213" y="53984"/>
                </a:lnTo>
                <a:lnTo>
                  <a:pt x="149251" y="39992"/>
                </a:lnTo>
                <a:lnTo>
                  <a:pt x="126152" y="27967"/>
                </a:lnTo>
                <a:lnTo>
                  <a:pt x="102094" y="18002"/>
                </a:lnTo>
                <a:lnTo>
                  <a:pt x="77258" y="10171"/>
                </a:lnTo>
                <a:lnTo>
                  <a:pt x="51834" y="4535"/>
                </a:lnTo>
                <a:lnTo>
                  <a:pt x="26016" y="1136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39" name="S05-mark77"/>
          <p:cNvSpPr/>
          <p:nvPr/>
        </p:nvSpPr>
        <p:spPr>
          <a:xfrm>
            <a:off x="10115361" y="3852572"/>
            <a:ext cx="517013" cy="298500"/>
          </a:xfrm>
          <a:custGeom>
            <a:avLst/>
            <a:gdLst/>
            <a:ahLst/>
            <a:cxnLst/>
            <a:rect l="l" t="t" r="r" b="b"/>
            <a:pathLst>
              <a:path w="517013" h="298500">
                <a:moveTo>
                  <a:pt x="258507" y="298500"/>
                </a:moveTo>
                <a:lnTo>
                  <a:pt x="517013" y="149247"/>
                </a:lnTo>
                <a:lnTo>
                  <a:pt x="503021" y="127285"/>
                </a:lnTo>
                <a:lnTo>
                  <a:pt x="487169" y="106625"/>
                </a:lnTo>
                <a:lnTo>
                  <a:pt x="469576" y="87427"/>
                </a:lnTo>
                <a:lnTo>
                  <a:pt x="450377" y="69834"/>
                </a:lnTo>
                <a:lnTo>
                  <a:pt x="429717" y="53982"/>
                </a:lnTo>
                <a:lnTo>
                  <a:pt x="407755" y="39990"/>
                </a:lnTo>
                <a:lnTo>
                  <a:pt x="384657" y="27966"/>
                </a:lnTo>
                <a:lnTo>
                  <a:pt x="360598" y="18001"/>
                </a:lnTo>
                <a:lnTo>
                  <a:pt x="335763" y="10171"/>
                </a:lnTo>
                <a:lnTo>
                  <a:pt x="310340" y="4535"/>
                </a:lnTo>
                <a:lnTo>
                  <a:pt x="284522" y="1136"/>
                </a:lnTo>
                <a:lnTo>
                  <a:pt x="258507" y="0"/>
                </a:lnTo>
                <a:lnTo>
                  <a:pt x="232491" y="1136"/>
                </a:lnTo>
                <a:lnTo>
                  <a:pt x="206673" y="4535"/>
                </a:lnTo>
                <a:lnTo>
                  <a:pt x="181250" y="10171"/>
                </a:lnTo>
                <a:lnTo>
                  <a:pt x="156415" y="18001"/>
                </a:lnTo>
                <a:lnTo>
                  <a:pt x="132357" y="27966"/>
                </a:lnTo>
                <a:lnTo>
                  <a:pt x="109258" y="39990"/>
                </a:lnTo>
                <a:lnTo>
                  <a:pt x="87296" y="53982"/>
                </a:lnTo>
                <a:lnTo>
                  <a:pt x="66636" y="69834"/>
                </a:lnTo>
                <a:lnTo>
                  <a:pt x="47437" y="87427"/>
                </a:lnTo>
                <a:lnTo>
                  <a:pt x="29844" y="106625"/>
                </a:lnTo>
                <a:lnTo>
                  <a:pt x="13992" y="127285"/>
                </a:lnTo>
                <a:lnTo>
                  <a:pt x="0" y="149247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40" name="S05-mark78"/>
          <p:cNvSpPr/>
          <p:nvPr/>
        </p:nvSpPr>
        <p:spPr>
          <a:xfrm>
            <a:off x="11250372" y="3174163"/>
            <a:ext cx="298500" cy="447753"/>
          </a:xfrm>
          <a:custGeom>
            <a:avLst/>
            <a:gdLst/>
            <a:ahLst/>
            <a:cxnLst/>
            <a:rect l="l" t="t" r="r" b="b"/>
            <a:pathLst>
              <a:path w="298500" h="447753">
                <a:moveTo>
                  <a:pt x="298500" y="298500"/>
                </a:moveTo>
                <a:lnTo>
                  <a:pt x="298500" y="0"/>
                </a:lnTo>
                <a:lnTo>
                  <a:pt x="272484" y="1136"/>
                </a:lnTo>
                <a:lnTo>
                  <a:pt x="246666" y="4535"/>
                </a:lnTo>
                <a:lnTo>
                  <a:pt x="221242" y="10171"/>
                </a:lnTo>
                <a:lnTo>
                  <a:pt x="196406" y="18002"/>
                </a:lnTo>
                <a:lnTo>
                  <a:pt x="172348" y="27967"/>
                </a:lnTo>
                <a:lnTo>
                  <a:pt x="149249" y="39992"/>
                </a:lnTo>
                <a:lnTo>
                  <a:pt x="127286" y="53984"/>
                </a:lnTo>
                <a:lnTo>
                  <a:pt x="106627" y="69837"/>
                </a:lnTo>
                <a:lnTo>
                  <a:pt x="87428" y="87430"/>
                </a:lnTo>
                <a:lnTo>
                  <a:pt x="69835" y="106629"/>
                </a:lnTo>
                <a:lnTo>
                  <a:pt x="53982" y="127289"/>
                </a:lnTo>
                <a:lnTo>
                  <a:pt x="39990" y="149252"/>
                </a:lnTo>
                <a:lnTo>
                  <a:pt x="27966" y="172350"/>
                </a:lnTo>
                <a:lnTo>
                  <a:pt x="18001" y="196409"/>
                </a:lnTo>
                <a:lnTo>
                  <a:pt x="10171" y="221245"/>
                </a:lnTo>
                <a:lnTo>
                  <a:pt x="4534" y="246668"/>
                </a:lnTo>
                <a:lnTo>
                  <a:pt x="1136" y="272487"/>
                </a:lnTo>
                <a:lnTo>
                  <a:pt x="0" y="298503"/>
                </a:lnTo>
                <a:lnTo>
                  <a:pt x="1136" y="324519"/>
                </a:lnTo>
                <a:lnTo>
                  <a:pt x="4535" y="350337"/>
                </a:lnTo>
                <a:lnTo>
                  <a:pt x="10172" y="375761"/>
                </a:lnTo>
                <a:lnTo>
                  <a:pt x="18003" y="400596"/>
                </a:lnTo>
                <a:lnTo>
                  <a:pt x="27969" y="424655"/>
                </a:lnTo>
                <a:lnTo>
                  <a:pt x="39993" y="447753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41" name="S05-mark79"/>
          <p:cNvSpPr/>
          <p:nvPr/>
        </p:nvSpPr>
        <p:spPr>
          <a:xfrm>
            <a:off x="11250372" y="1966592"/>
            <a:ext cx="298500" cy="447753"/>
          </a:xfrm>
          <a:custGeom>
            <a:avLst/>
            <a:gdLst/>
            <a:ahLst/>
            <a:cxnLst/>
            <a:rect l="l" t="t" r="r" b="b"/>
            <a:pathLst>
              <a:path w="298500" h="447753">
                <a:moveTo>
                  <a:pt x="298500" y="149253"/>
                </a:moveTo>
                <a:lnTo>
                  <a:pt x="39993" y="0"/>
                </a:lnTo>
                <a:lnTo>
                  <a:pt x="27969" y="23098"/>
                </a:lnTo>
                <a:lnTo>
                  <a:pt x="18003" y="47157"/>
                </a:lnTo>
                <a:lnTo>
                  <a:pt x="10172" y="71993"/>
                </a:lnTo>
                <a:lnTo>
                  <a:pt x="4535" y="97416"/>
                </a:lnTo>
                <a:lnTo>
                  <a:pt x="1136" y="123234"/>
                </a:lnTo>
                <a:lnTo>
                  <a:pt x="0" y="149250"/>
                </a:lnTo>
                <a:lnTo>
                  <a:pt x="1136" y="175267"/>
                </a:lnTo>
                <a:lnTo>
                  <a:pt x="4534" y="201085"/>
                </a:lnTo>
                <a:lnTo>
                  <a:pt x="10171" y="226508"/>
                </a:lnTo>
                <a:lnTo>
                  <a:pt x="18001" y="251344"/>
                </a:lnTo>
                <a:lnTo>
                  <a:pt x="27966" y="275403"/>
                </a:lnTo>
                <a:lnTo>
                  <a:pt x="39990" y="298502"/>
                </a:lnTo>
                <a:lnTo>
                  <a:pt x="53982" y="320464"/>
                </a:lnTo>
                <a:lnTo>
                  <a:pt x="69835" y="341124"/>
                </a:lnTo>
                <a:lnTo>
                  <a:pt x="87428" y="360323"/>
                </a:lnTo>
                <a:lnTo>
                  <a:pt x="106627" y="377917"/>
                </a:lnTo>
                <a:lnTo>
                  <a:pt x="127286" y="393769"/>
                </a:lnTo>
                <a:lnTo>
                  <a:pt x="149249" y="407761"/>
                </a:lnTo>
                <a:lnTo>
                  <a:pt x="172348" y="419786"/>
                </a:lnTo>
                <a:lnTo>
                  <a:pt x="196406" y="429751"/>
                </a:lnTo>
                <a:lnTo>
                  <a:pt x="221242" y="437582"/>
                </a:lnTo>
                <a:lnTo>
                  <a:pt x="246666" y="443218"/>
                </a:lnTo>
                <a:lnTo>
                  <a:pt x="272484" y="446617"/>
                </a:lnTo>
                <a:lnTo>
                  <a:pt x="298500" y="447753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42" name="S05-mark80"/>
          <p:cNvSpPr/>
          <p:nvPr/>
        </p:nvSpPr>
        <p:spPr>
          <a:xfrm>
            <a:off x="9740645" y="1697452"/>
            <a:ext cx="91442" cy="15837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3" name="S05-mark81"/>
          <p:cNvSpPr/>
          <p:nvPr/>
        </p:nvSpPr>
        <p:spPr>
          <a:xfrm>
            <a:off x="9107424" y="2794254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4" name="S05-mark82"/>
          <p:cNvSpPr/>
          <p:nvPr/>
        </p:nvSpPr>
        <p:spPr>
          <a:xfrm flipV="1">
            <a:off x="9740645" y="3732678"/>
            <a:ext cx="91442" cy="15837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5" name="S05-mark83"/>
          <p:cNvSpPr/>
          <p:nvPr/>
        </p:nvSpPr>
        <p:spPr>
          <a:xfrm flipH="1" flipV="1">
            <a:off x="10915649" y="3732678"/>
            <a:ext cx="91442" cy="15837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6" name="S05-mark84"/>
          <p:cNvSpPr/>
          <p:nvPr/>
        </p:nvSpPr>
        <p:spPr>
          <a:xfrm flipH="1">
            <a:off x="11457432" y="2794254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7" name="S05-mark85"/>
          <p:cNvSpPr/>
          <p:nvPr/>
        </p:nvSpPr>
        <p:spPr>
          <a:xfrm flipH="1">
            <a:off x="10915649" y="1697452"/>
            <a:ext cx="91442" cy="15837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8" name="S05-label86"/>
          <p:cNvSpPr txBox="1"/>
          <p:nvPr/>
        </p:nvSpPr>
        <p:spPr>
          <a:xfrm>
            <a:off x="9107424" y="4335780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정육각형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정다각형을 모두 찾아요</a:t>
            </a:r>
            <a:endParaRPr lang="ko-KR" sz="4000" dirty="0"/>
          </a:p>
        </p:txBody>
      </p:sp>
      <p:sp>
        <p:nvSpPr>
          <p:cNvPr id="3" name="S06-card8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8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고르지 않은 것은 왜 아닌지 말해요.</a:t>
            </a:r>
            <a:endParaRPr lang="ko-KR" sz="3000" dirty="0"/>
          </a:p>
        </p:txBody>
      </p:sp>
      <p:sp>
        <p:nvSpPr>
          <p:cNvPr id="5" name="S06-chip89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06-figure90" descr="가: 네 변에 같은 길이 표시, 각 표시의 크기가 두 가지(좁은 각 2개, 넓은 각 2개)"/>
          <p:cNvSpPr/>
          <p:nvPr/>
        </p:nvSpPr>
        <p:spPr>
          <a:xfrm>
            <a:off x="2050542" y="1417320"/>
            <a:ext cx="3154680" cy="1577340"/>
          </a:xfrm>
          <a:custGeom>
            <a:avLst/>
            <a:gdLst/>
            <a:ahLst/>
            <a:cxnLst/>
            <a:rect l="l" t="t" r="r" b="b"/>
            <a:pathLst>
              <a:path w="3154680" h="1577340">
                <a:moveTo>
                  <a:pt x="0" y="1577340"/>
                </a:moveTo>
                <a:lnTo>
                  <a:pt x="1971675" y="1577340"/>
                </a:lnTo>
                <a:lnTo>
                  <a:pt x="3154680" y="0"/>
                </a:lnTo>
                <a:lnTo>
                  <a:pt x="1183005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6-mark91"/>
          <p:cNvSpPr/>
          <p:nvPr/>
        </p:nvSpPr>
        <p:spPr>
          <a:xfrm>
            <a:off x="2050542" y="2647645"/>
            <a:ext cx="433769" cy="347015"/>
          </a:xfrm>
          <a:custGeom>
            <a:avLst/>
            <a:gdLst/>
            <a:ahLst/>
            <a:cxnLst/>
            <a:rect l="l" t="t" r="r" b="b"/>
            <a:pathLst>
              <a:path w="433769" h="347015">
                <a:moveTo>
                  <a:pt x="0" y="347015"/>
                </a:moveTo>
                <a:lnTo>
                  <a:pt x="433769" y="347015"/>
                </a:lnTo>
                <a:lnTo>
                  <a:pt x="433445" y="330259"/>
                </a:lnTo>
                <a:lnTo>
                  <a:pt x="432474" y="313529"/>
                </a:lnTo>
                <a:lnTo>
                  <a:pt x="430858" y="296848"/>
                </a:lnTo>
                <a:lnTo>
                  <a:pt x="428598" y="280243"/>
                </a:lnTo>
                <a:lnTo>
                  <a:pt x="425699" y="263737"/>
                </a:lnTo>
                <a:lnTo>
                  <a:pt x="422165" y="247355"/>
                </a:lnTo>
                <a:lnTo>
                  <a:pt x="418000" y="231122"/>
                </a:lnTo>
                <a:lnTo>
                  <a:pt x="413211" y="215062"/>
                </a:lnTo>
                <a:lnTo>
                  <a:pt x="407806" y="199200"/>
                </a:lnTo>
                <a:lnTo>
                  <a:pt x="401792" y="183557"/>
                </a:lnTo>
                <a:lnTo>
                  <a:pt x="395178" y="168159"/>
                </a:lnTo>
                <a:lnTo>
                  <a:pt x="387974" y="153028"/>
                </a:lnTo>
                <a:lnTo>
                  <a:pt x="380192" y="138186"/>
                </a:lnTo>
                <a:lnTo>
                  <a:pt x="371841" y="123656"/>
                </a:lnTo>
                <a:lnTo>
                  <a:pt x="362936" y="109459"/>
                </a:lnTo>
                <a:lnTo>
                  <a:pt x="353489" y="95617"/>
                </a:lnTo>
                <a:lnTo>
                  <a:pt x="343514" y="82150"/>
                </a:lnTo>
                <a:lnTo>
                  <a:pt x="333027" y="69079"/>
                </a:lnTo>
                <a:lnTo>
                  <a:pt x="322042" y="56422"/>
                </a:lnTo>
                <a:lnTo>
                  <a:pt x="310577" y="44199"/>
                </a:lnTo>
                <a:lnTo>
                  <a:pt x="298648" y="32428"/>
                </a:lnTo>
                <a:lnTo>
                  <a:pt x="286273" y="21127"/>
                </a:lnTo>
                <a:lnTo>
                  <a:pt x="273471" y="10312"/>
                </a:lnTo>
                <a:lnTo>
                  <a:pt x="260261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8" name="S06-mark92"/>
          <p:cNvSpPr/>
          <p:nvPr/>
        </p:nvSpPr>
        <p:spPr>
          <a:xfrm>
            <a:off x="3588449" y="2560893"/>
            <a:ext cx="694030" cy="433767"/>
          </a:xfrm>
          <a:custGeom>
            <a:avLst/>
            <a:gdLst/>
            <a:ahLst/>
            <a:cxnLst/>
            <a:rect l="l" t="t" r="r" b="b"/>
            <a:pathLst>
              <a:path w="694030" h="433767">
                <a:moveTo>
                  <a:pt x="433768" y="433767"/>
                </a:moveTo>
                <a:lnTo>
                  <a:pt x="694030" y="86753"/>
                </a:lnTo>
                <a:lnTo>
                  <a:pt x="660952" y="64250"/>
                </a:lnTo>
                <a:lnTo>
                  <a:pt x="625941" y="44891"/>
                </a:lnTo>
                <a:lnTo>
                  <a:pt x="589296" y="28840"/>
                </a:lnTo>
                <a:lnTo>
                  <a:pt x="551328" y="16233"/>
                </a:lnTo>
                <a:lnTo>
                  <a:pt x="512360" y="7178"/>
                </a:lnTo>
                <a:lnTo>
                  <a:pt x="472723" y="1752"/>
                </a:lnTo>
                <a:lnTo>
                  <a:pt x="432755" y="0"/>
                </a:lnTo>
                <a:lnTo>
                  <a:pt x="392796" y="1938"/>
                </a:lnTo>
                <a:lnTo>
                  <a:pt x="353185" y="7550"/>
                </a:lnTo>
                <a:lnTo>
                  <a:pt x="314260" y="16787"/>
                </a:lnTo>
                <a:lnTo>
                  <a:pt x="276351" y="29571"/>
                </a:lnTo>
                <a:lnTo>
                  <a:pt x="239781" y="45793"/>
                </a:lnTo>
                <a:lnTo>
                  <a:pt x="204862" y="65315"/>
                </a:lnTo>
                <a:lnTo>
                  <a:pt x="171889" y="87972"/>
                </a:lnTo>
                <a:lnTo>
                  <a:pt x="141144" y="113570"/>
                </a:lnTo>
                <a:lnTo>
                  <a:pt x="112889" y="141892"/>
                </a:lnTo>
                <a:lnTo>
                  <a:pt x="87363" y="172696"/>
                </a:lnTo>
                <a:lnTo>
                  <a:pt x="64783" y="205722"/>
                </a:lnTo>
                <a:lnTo>
                  <a:pt x="45342" y="240687"/>
                </a:lnTo>
                <a:lnTo>
                  <a:pt x="29205" y="277294"/>
                </a:lnTo>
                <a:lnTo>
                  <a:pt x="16510" y="315233"/>
                </a:lnTo>
                <a:lnTo>
                  <a:pt x="7364" y="354180"/>
                </a:lnTo>
                <a:lnTo>
                  <a:pt x="1845" y="393804"/>
                </a:lnTo>
                <a:lnTo>
                  <a:pt x="0" y="433767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9" name="S06-mark93"/>
          <p:cNvSpPr/>
          <p:nvPr/>
        </p:nvSpPr>
        <p:spPr>
          <a:xfrm>
            <a:off x="4771454" y="1417320"/>
            <a:ext cx="433768" cy="347015"/>
          </a:xfrm>
          <a:custGeom>
            <a:avLst/>
            <a:gdLst/>
            <a:ahLst/>
            <a:cxnLst/>
            <a:rect l="l" t="t" r="r" b="b"/>
            <a:pathLst>
              <a:path w="433768" h="347015">
                <a:moveTo>
                  <a:pt x="433768" y="0"/>
                </a:moveTo>
                <a:lnTo>
                  <a:pt x="0" y="0"/>
                </a:lnTo>
                <a:lnTo>
                  <a:pt x="324" y="16755"/>
                </a:lnTo>
                <a:lnTo>
                  <a:pt x="1294" y="33486"/>
                </a:lnTo>
                <a:lnTo>
                  <a:pt x="2911" y="50166"/>
                </a:lnTo>
                <a:lnTo>
                  <a:pt x="5170" y="66772"/>
                </a:lnTo>
                <a:lnTo>
                  <a:pt x="8069" y="83278"/>
                </a:lnTo>
                <a:lnTo>
                  <a:pt x="11604" y="99660"/>
                </a:lnTo>
                <a:lnTo>
                  <a:pt x="15768" y="115892"/>
                </a:lnTo>
                <a:lnTo>
                  <a:pt x="20557" y="131952"/>
                </a:lnTo>
                <a:lnTo>
                  <a:pt x="25962" y="147815"/>
                </a:lnTo>
                <a:lnTo>
                  <a:pt x="31977" y="163458"/>
                </a:lnTo>
                <a:lnTo>
                  <a:pt x="38590" y="178856"/>
                </a:lnTo>
                <a:lnTo>
                  <a:pt x="45794" y="193987"/>
                </a:lnTo>
                <a:lnTo>
                  <a:pt x="53577" y="208829"/>
                </a:lnTo>
                <a:lnTo>
                  <a:pt x="61927" y="223359"/>
                </a:lnTo>
                <a:lnTo>
                  <a:pt x="70833" y="237556"/>
                </a:lnTo>
                <a:lnTo>
                  <a:pt x="80280" y="251398"/>
                </a:lnTo>
                <a:lnTo>
                  <a:pt x="90255" y="264865"/>
                </a:lnTo>
                <a:lnTo>
                  <a:pt x="100742" y="277936"/>
                </a:lnTo>
                <a:lnTo>
                  <a:pt x="111727" y="290593"/>
                </a:lnTo>
                <a:lnTo>
                  <a:pt x="123192" y="302816"/>
                </a:lnTo>
                <a:lnTo>
                  <a:pt x="135121" y="314586"/>
                </a:lnTo>
                <a:lnTo>
                  <a:pt x="147495" y="325888"/>
                </a:lnTo>
                <a:lnTo>
                  <a:pt x="160297" y="336703"/>
                </a:lnTo>
                <a:lnTo>
                  <a:pt x="173507" y="347015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0" name="S06-mark94"/>
          <p:cNvSpPr/>
          <p:nvPr/>
        </p:nvSpPr>
        <p:spPr>
          <a:xfrm>
            <a:off x="2973286" y="1417320"/>
            <a:ext cx="694030" cy="433767"/>
          </a:xfrm>
          <a:custGeom>
            <a:avLst/>
            <a:gdLst/>
            <a:ahLst/>
            <a:cxnLst/>
            <a:rect l="l" t="t" r="r" b="b"/>
            <a:pathLst>
              <a:path w="694030" h="433767">
                <a:moveTo>
                  <a:pt x="260261" y="0"/>
                </a:moveTo>
                <a:lnTo>
                  <a:pt x="0" y="347015"/>
                </a:lnTo>
                <a:lnTo>
                  <a:pt x="33078" y="369517"/>
                </a:lnTo>
                <a:lnTo>
                  <a:pt x="68088" y="388876"/>
                </a:lnTo>
                <a:lnTo>
                  <a:pt x="104733" y="404927"/>
                </a:lnTo>
                <a:lnTo>
                  <a:pt x="142702" y="417534"/>
                </a:lnTo>
                <a:lnTo>
                  <a:pt x="181670" y="426589"/>
                </a:lnTo>
                <a:lnTo>
                  <a:pt x="221306" y="432016"/>
                </a:lnTo>
                <a:lnTo>
                  <a:pt x="261274" y="433767"/>
                </a:lnTo>
                <a:lnTo>
                  <a:pt x="301234" y="431829"/>
                </a:lnTo>
                <a:lnTo>
                  <a:pt x="340844" y="426218"/>
                </a:lnTo>
                <a:lnTo>
                  <a:pt x="379770" y="416981"/>
                </a:lnTo>
                <a:lnTo>
                  <a:pt x="417679" y="404197"/>
                </a:lnTo>
                <a:lnTo>
                  <a:pt x="454248" y="387974"/>
                </a:lnTo>
                <a:lnTo>
                  <a:pt x="489168" y="368452"/>
                </a:lnTo>
                <a:lnTo>
                  <a:pt x="522140" y="345795"/>
                </a:lnTo>
                <a:lnTo>
                  <a:pt x="552885" y="320197"/>
                </a:lnTo>
                <a:lnTo>
                  <a:pt x="581141" y="291875"/>
                </a:lnTo>
                <a:lnTo>
                  <a:pt x="606667" y="261071"/>
                </a:lnTo>
                <a:lnTo>
                  <a:pt x="629247" y="228046"/>
                </a:lnTo>
                <a:lnTo>
                  <a:pt x="648687" y="193080"/>
                </a:lnTo>
                <a:lnTo>
                  <a:pt x="664824" y="156473"/>
                </a:lnTo>
                <a:lnTo>
                  <a:pt x="677520" y="118534"/>
                </a:lnTo>
                <a:lnTo>
                  <a:pt x="686666" y="79588"/>
                </a:lnTo>
                <a:lnTo>
                  <a:pt x="692185" y="39964"/>
                </a:lnTo>
                <a:lnTo>
                  <a:pt x="69403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1" name="S06-mark95"/>
          <p:cNvSpPr/>
          <p:nvPr/>
        </p:nvSpPr>
        <p:spPr>
          <a:xfrm flipV="1">
            <a:off x="3036380" y="290322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6-mark96"/>
          <p:cNvSpPr/>
          <p:nvPr/>
        </p:nvSpPr>
        <p:spPr>
          <a:xfrm flipH="1" flipV="1">
            <a:off x="4540568" y="2151126"/>
            <a:ext cx="146304" cy="10972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6-mark97"/>
          <p:cNvSpPr/>
          <p:nvPr/>
        </p:nvSpPr>
        <p:spPr>
          <a:xfrm>
            <a:off x="4219385" y="132588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6-mark98"/>
          <p:cNvSpPr/>
          <p:nvPr/>
        </p:nvSpPr>
        <p:spPr>
          <a:xfrm>
            <a:off x="2568893" y="2151126"/>
            <a:ext cx="146304" cy="10972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6-chip99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6" name="S06-figure100" descr="나: 네 각에 직각 표시, 긴 변 두 개와 짧은 변 두 개"/>
          <p:cNvSpPr/>
          <p:nvPr/>
        </p:nvSpPr>
        <p:spPr>
          <a:xfrm>
            <a:off x="7779258" y="1417320"/>
            <a:ext cx="3154680" cy="1577340"/>
          </a:xfrm>
          <a:custGeom>
            <a:avLst/>
            <a:gdLst/>
            <a:ahLst/>
            <a:cxnLst/>
            <a:rect l="l" t="t" r="r" b="b"/>
            <a:pathLst>
              <a:path w="3154680" h="1577340">
                <a:moveTo>
                  <a:pt x="0" y="1577340"/>
                </a:moveTo>
                <a:lnTo>
                  <a:pt x="3154680" y="1577340"/>
                </a:lnTo>
                <a:lnTo>
                  <a:pt x="315468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6-mark101"/>
          <p:cNvSpPr/>
          <p:nvPr/>
        </p:nvSpPr>
        <p:spPr>
          <a:xfrm>
            <a:off x="7779258" y="276606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6-mark102"/>
          <p:cNvSpPr/>
          <p:nvPr/>
        </p:nvSpPr>
        <p:spPr>
          <a:xfrm>
            <a:off x="10705338" y="276606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0" y="0"/>
                </a:lnTo>
                <a:lnTo>
                  <a:pt x="22860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6-mark103"/>
          <p:cNvSpPr/>
          <p:nvPr/>
        </p:nvSpPr>
        <p:spPr>
          <a:xfrm>
            <a:off x="10705338" y="14173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0" y="22860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6-mark104"/>
          <p:cNvSpPr/>
          <p:nvPr/>
        </p:nvSpPr>
        <p:spPr>
          <a:xfrm>
            <a:off x="7779258" y="14173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228600" y="228600"/>
                </a:lnTo>
                <a:lnTo>
                  <a:pt x="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6-mark105"/>
          <p:cNvSpPr/>
          <p:nvPr/>
        </p:nvSpPr>
        <p:spPr>
          <a:xfrm flipV="1">
            <a:off x="9356598" y="290322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6-mark106"/>
          <p:cNvSpPr/>
          <p:nvPr/>
        </p:nvSpPr>
        <p:spPr>
          <a:xfrm flipH="1">
            <a:off x="10842498" y="2248662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6-mark107"/>
          <p:cNvSpPr/>
          <p:nvPr/>
        </p:nvSpPr>
        <p:spPr>
          <a:xfrm flipH="1">
            <a:off x="10842498" y="2163318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6-mark108"/>
          <p:cNvSpPr/>
          <p:nvPr/>
        </p:nvSpPr>
        <p:spPr>
          <a:xfrm>
            <a:off x="9356598" y="132588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6-mark109"/>
          <p:cNvSpPr/>
          <p:nvPr/>
        </p:nvSpPr>
        <p:spPr>
          <a:xfrm>
            <a:off x="7687818" y="2163318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6-mark110"/>
          <p:cNvSpPr/>
          <p:nvPr/>
        </p:nvSpPr>
        <p:spPr>
          <a:xfrm>
            <a:off x="7687818" y="2248662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6-chip111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28" name="S06-figure112" descr="다: 여섯 변에 같은 길이 표시, 여섯 각에 같은 크기의 각 표시"/>
          <p:cNvSpPr/>
          <p:nvPr/>
        </p:nvSpPr>
        <p:spPr>
          <a:xfrm>
            <a:off x="2717178" y="3451860"/>
            <a:ext cx="1821409" cy="1577340"/>
          </a:xfrm>
          <a:custGeom>
            <a:avLst/>
            <a:gdLst/>
            <a:ahLst/>
            <a:cxnLst/>
            <a:rect l="l" t="t" r="r" b="b"/>
            <a:pathLst>
              <a:path w="1821409" h="1577340">
                <a:moveTo>
                  <a:pt x="1821409" y="788670"/>
                </a:moveTo>
                <a:lnTo>
                  <a:pt x="1366057" y="0"/>
                </a:lnTo>
                <a:lnTo>
                  <a:pt x="455352" y="0"/>
                </a:lnTo>
                <a:lnTo>
                  <a:pt x="0" y="788670"/>
                </a:lnTo>
                <a:lnTo>
                  <a:pt x="455352" y="1577340"/>
                </a:lnTo>
                <a:lnTo>
                  <a:pt x="1366057" y="157734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9" name="S06-mark113"/>
          <p:cNvSpPr/>
          <p:nvPr/>
        </p:nvSpPr>
        <p:spPr>
          <a:xfrm>
            <a:off x="4338231" y="4067019"/>
            <a:ext cx="200355" cy="347022"/>
          </a:xfrm>
          <a:custGeom>
            <a:avLst/>
            <a:gdLst/>
            <a:ahLst/>
            <a:cxnLst/>
            <a:rect l="l" t="t" r="r" b="b"/>
            <a:pathLst>
              <a:path w="200355" h="347022">
                <a:moveTo>
                  <a:pt x="200355" y="173511"/>
                </a:moveTo>
                <a:lnTo>
                  <a:pt x="100175" y="0"/>
                </a:lnTo>
                <a:lnTo>
                  <a:pt x="85434" y="9391"/>
                </a:lnTo>
                <a:lnTo>
                  <a:pt x="71568" y="20032"/>
                </a:lnTo>
                <a:lnTo>
                  <a:pt x="58681" y="31840"/>
                </a:lnTo>
                <a:lnTo>
                  <a:pt x="46873" y="44727"/>
                </a:lnTo>
                <a:lnTo>
                  <a:pt x="36233" y="58594"/>
                </a:lnTo>
                <a:lnTo>
                  <a:pt x="26842" y="73335"/>
                </a:lnTo>
                <a:lnTo>
                  <a:pt x="18771" y="88839"/>
                </a:lnTo>
                <a:lnTo>
                  <a:pt x="12083" y="104987"/>
                </a:lnTo>
                <a:lnTo>
                  <a:pt x="6827" y="121656"/>
                </a:lnTo>
                <a:lnTo>
                  <a:pt x="3044" y="138720"/>
                </a:lnTo>
                <a:lnTo>
                  <a:pt x="762" y="156049"/>
                </a:lnTo>
                <a:lnTo>
                  <a:pt x="0" y="173511"/>
                </a:lnTo>
                <a:lnTo>
                  <a:pt x="762" y="190973"/>
                </a:lnTo>
                <a:lnTo>
                  <a:pt x="3044" y="208302"/>
                </a:lnTo>
                <a:lnTo>
                  <a:pt x="6827" y="225366"/>
                </a:lnTo>
                <a:lnTo>
                  <a:pt x="12083" y="242036"/>
                </a:lnTo>
                <a:lnTo>
                  <a:pt x="18771" y="258184"/>
                </a:lnTo>
                <a:lnTo>
                  <a:pt x="26842" y="273688"/>
                </a:lnTo>
                <a:lnTo>
                  <a:pt x="36233" y="288429"/>
                </a:lnTo>
                <a:lnTo>
                  <a:pt x="46873" y="302296"/>
                </a:lnTo>
                <a:lnTo>
                  <a:pt x="58681" y="315182"/>
                </a:lnTo>
                <a:lnTo>
                  <a:pt x="71568" y="326991"/>
                </a:lnTo>
                <a:lnTo>
                  <a:pt x="85434" y="337631"/>
                </a:lnTo>
                <a:lnTo>
                  <a:pt x="100175" y="347022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30" name="S06-mark114"/>
          <p:cNvSpPr/>
          <p:nvPr/>
        </p:nvSpPr>
        <p:spPr>
          <a:xfrm>
            <a:off x="3882879" y="3451860"/>
            <a:ext cx="300535" cy="200355"/>
          </a:xfrm>
          <a:custGeom>
            <a:avLst/>
            <a:gdLst/>
            <a:ahLst/>
            <a:cxnLst/>
            <a:rect l="l" t="t" r="r" b="b"/>
            <a:pathLst>
              <a:path w="300535" h="200355">
                <a:moveTo>
                  <a:pt x="200355" y="0"/>
                </a:moveTo>
                <a:lnTo>
                  <a:pt x="0" y="0"/>
                </a:lnTo>
                <a:lnTo>
                  <a:pt x="762" y="17462"/>
                </a:lnTo>
                <a:lnTo>
                  <a:pt x="3044" y="34791"/>
                </a:lnTo>
                <a:lnTo>
                  <a:pt x="6827" y="51856"/>
                </a:lnTo>
                <a:lnTo>
                  <a:pt x="12083" y="68526"/>
                </a:lnTo>
                <a:lnTo>
                  <a:pt x="18772" y="84674"/>
                </a:lnTo>
                <a:lnTo>
                  <a:pt x="26843" y="100178"/>
                </a:lnTo>
                <a:lnTo>
                  <a:pt x="36234" y="114919"/>
                </a:lnTo>
                <a:lnTo>
                  <a:pt x="46875" y="128786"/>
                </a:lnTo>
                <a:lnTo>
                  <a:pt x="58683" y="141673"/>
                </a:lnTo>
                <a:lnTo>
                  <a:pt x="71570" y="153481"/>
                </a:lnTo>
                <a:lnTo>
                  <a:pt x="85437" y="164122"/>
                </a:lnTo>
                <a:lnTo>
                  <a:pt x="100179" y="173513"/>
                </a:lnTo>
                <a:lnTo>
                  <a:pt x="115683" y="181584"/>
                </a:lnTo>
                <a:lnTo>
                  <a:pt x="131831" y="188273"/>
                </a:lnTo>
                <a:lnTo>
                  <a:pt x="148501" y="193528"/>
                </a:lnTo>
                <a:lnTo>
                  <a:pt x="165565" y="197311"/>
                </a:lnTo>
                <a:lnTo>
                  <a:pt x="182895" y="199593"/>
                </a:lnTo>
                <a:lnTo>
                  <a:pt x="200357" y="200355"/>
                </a:lnTo>
                <a:lnTo>
                  <a:pt x="217819" y="199592"/>
                </a:lnTo>
                <a:lnTo>
                  <a:pt x="235148" y="197311"/>
                </a:lnTo>
                <a:lnTo>
                  <a:pt x="252213" y="193527"/>
                </a:lnTo>
                <a:lnTo>
                  <a:pt x="268883" y="188271"/>
                </a:lnTo>
                <a:lnTo>
                  <a:pt x="285031" y="181582"/>
                </a:lnTo>
                <a:lnTo>
                  <a:pt x="300535" y="173511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31" name="S06-mark115"/>
          <p:cNvSpPr/>
          <p:nvPr/>
        </p:nvSpPr>
        <p:spPr>
          <a:xfrm>
            <a:off x="3072350" y="3451860"/>
            <a:ext cx="300535" cy="200355"/>
          </a:xfrm>
          <a:custGeom>
            <a:avLst/>
            <a:gdLst/>
            <a:ahLst/>
            <a:cxnLst/>
            <a:rect l="l" t="t" r="r" b="b"/>
            <a:pathLst>
              <a:path w="300535" h="200355">
                <a:moveTo>
                  <a:pt x="100180" y="0"/>
                </a:moveTo>
                <a:lnTo>
                  <a:pt x="0" y="173511"/>
                </a:lnTo>
                <a:lnTo>
                  <a:pt x="15504" y="181582"/>
                </a:lnTo>
                <a:lnTo>
                  <a:pt x="31652" y="188271"/>
                </a:lnTo>
                <a:lnTo>
                  <a:pt x="48322" y="193527"/>
                </a:lnTo>
                <a:lnTo>
                  <a:pt x="65386" y="197311"/>
                </a:lnTo>
                <a:lnTo>
                  <a:pt x="82716" y="199592"/>
                </a:lnTo>
                <a:lnTo>
                  <a:pt x="100178" y="200355"/>
                </a:lnTo>
                <a:lnTo>
                  <a:pt x="117640" y="199593"/>
                </a:lnTo>
                <a:lnTo>
                  <a:pt x="134969" y="197311"/>
                </a:lnTo>
                <a:lnTo>
                  <a:pt x="152034" y="193528"/>
                </a:lnTo>
                <a:lnTo>
                  <a:pt x="168704" y="188273"/>
                </a:lnTo>
                <a:lnTo>
                  <a:pt x="184852" y="181584"/>
                </a:lnTo>
                <a:lnTo>
                  <a:pt x="200356" y="173513"/>
                </a:lnTo>
                <a:lnTo>
                  <a:pt x="215098" y="164122"/>
                </a:lnTo>
                <a:lnTo>
                  <a:pt x="228965" y="153481"/>
                </a:lnTo>
                <a:lnTo>
                  <a:pt x="241851" y="141673"/>
                </a:lnTo>
                <a:lnTo>
                  <a:pt x="253660" y="128786"/>
                </a:lnTo>
                <a:lnTo>
                  <a:pt x="264300" y="114919"/>
                </a:lnTo>
                <a:lnTo>
                  <a:pt x="273692" y="100178"/>
                </a:lnTo>
                <a:lnTo>
                  <a:pt x="281763" y="84674"/>
                </a:lnTo>
                <a:lnTo>
                  <a:pt x="288452" y="68526"/>
                </a:lnTo>
                <a:lnTo>
                  <a:pt x="293708" y="51856"/>
                </a:lnTo>
                <a:lnTo>
                  <a:pt x="297491" y="34791"/>
                </a:lnTo>
                <a:lnTo>
                  <a:pt x="299772" y="17462"/>
                </a:lnTo>
                <a:lnTo>
                  <a:pt x="300535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32" name="S06-mark116"/>
          <p:cNvSpPr/>
          <p:nvPr/>
        </p:nvSpPr>
        <p:spPr>
          <a:xfrm>
            <a:off x="2717178" y="4067019"/>
            <a:ext cx="200355" cy="347022"/>
          </a:xfrm>
          <a:custGeom>
            <a:avLst/>
            <a:gdLst/>
            <a:ahLst/>
            <a:cxnLst/>
            <a:rect l="l" t="t" r="r" b="b"/>
            <a:pathLst>
              <a:path w="200355" h="347022">
                <a:moveTo>
                  <a:pt x="0" y="173511"/>
                </a:moveTo>
                <a:lnTo>
                  <a:pt x="100180" y="347022"/>
                </a:lnTo>
                <a:lnTo>
                  <a:pt x="114921" y="337631"/>
                </a:lnTo>
                <a:lnTo>
                  <a:pt x="128787" y="326991"/>
                </a:lnTo>
                <a:lnTo>
                  <a:pt x="141674" y="315182"/>
                </a:lnTo>
                <a:lnTo>
                  <a:pt x="153482" y="302296"/>
                </a:lnTo>
                <a:lnTo>
                  <a:pt x="164122" y="288429"/>
                </a:lnTo>
                <a:lnTo>
                  <a:pt x="173513" y="273688"/>
                </a:lnTo>
                <a:lnTo>
                  <a:pt x="181584" y="258184"/>
                </a:lnTo>
                <a:lnTo>
                  <a:pt x="188272" y="242036"/>
                </a:lnTo>
                <a:lnTo>
                  <a:pt x="193528" y="225366"/>
                </a:lnTo>
                <a:lnTo>
                  <a:pt x="197311" y="208302"/>
                </a:lnTo>
                <a:lnTo>
                  <a:pt x="199593" y="190973"/>
                </a:lnTo>
                <a:lnTo>
                  <a:pt x="200355" y="173511"/>
                </a:lnTo>
                <a:lnTo>
                  <a:pt x="199593" y="156049"/>
                </a:lnTo>
                <a:lnTo>
                  <a:pt x="197311" y="138720"/>
                </a:lnTo>
                <a:lnTo>
                  <a:pt x="193528" y="121656"/>
                </a:lnTo>
                <a:lnTo>
                  <a:pt x="188272" y="104987"/>
                </a:lnTo>
                <a:lnTo>
                  <a:pt x="181584" y="88839"/>
                </a:lnTo>
                <a:lnTo>
                  <a:pt x="173513" y="73335"/>
                </a:lnTo>
                <a:lnTo>
                  <a:pt x="164122" y="58594"/>
                </a:lnTo>
                <a:lnTo>
                  <a:pt x="153482" y="44727"/>
                </a:lnTo>
                <a:lnTo>
                  <a:pt x="141674" y="31840"/>
                </a:lnTo>
                <a:lnTo>
                  <a:pt x="128787" y="20032"/>
                </a:lnTo>
                <a:lnTo>
                  <a:pt x="114921" y="9391"/>
                </a:lnTo>
                <a:lnTo>
                  <a:pt x="10018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33" name="S06-mark117"/>
          <p:cNvSpPr/>
          <p:nvPr/>
        </p:nvSpPr>
        <p:spPr>
          <a:xfrm>
            <a:off x="3072350" y="4828845"/>
            <a:ext cx="300535" cy="200355"/>
          </a:xfrm>
          <a:custGeom>
            <a:avLst/>
            <a:gdLst/>
            <a:ahLst/>
            <a:cxnLst/>
            <a:rect l="l" t="t" r="r" b="b"/>
            <a:pathLst>
              <a:path w="300535" h="200355">
                <a:moveTo>
                  <a:pt x="100180" y="200355"/>
                </a:moveTo>
                <a:lnTo>
                  <a:pt x="300535" y="200355"/>
                </a:lnTo>
                <a:lnTo>
                  <a:pt x="299772" y="182893"/>
                </a:lnTo>
                <a:lnTo>
                  <a:pt x="297491" y="165563"/>
                </a:lnTo>
                <a:lnTo>
                  <a:pt x="293708" y="148499"/>
                </a:lnTo>
                <a:lnTo>
                  <a:pt x="288452" y="131829"/>
                </a:lnTo>
                <a:lnTo>
                  <a:pt x="281763" y="115681"/>
                </a:lnTo>
                <a:lnTo>
                  <a:pt x="273692" y="100177"/>
                </a:lnTo>
                <a:lnTo>
                  <a:pt x="264300" y="85435"/>
                </a:lnTo>
                <a:lnTo>
                  <a:pt x="253660" y="71569"/>
                </a:lnTo>
                <a:lnTo>
                  <a:pt x="241851" y="58682"/>
                </a:lnTo>
                <a:lnTo>
                  <a:pt x="228965" y="46873"/>
                </a:lnTo>
                <a:lnTo>
                  <a:pt x="215098" y="36233"/>
                </a:lnTo>
                <a:lnTo>
                  <a:pt x="200356" y="26842"/>
                </a:lnTo>
                <a:lnTo>
                  <a:pt x="184852" y="18771"/>
                </a:lnTo>
                <a:lnTo>
                  <a:pt x="168704" y="12082"/>
                </a:lnTo>
                <a:lnTo>
                  <a:pt x="152034" y="6827"/>
                </a:lnTo>
                <a:lnTo>
                  <a:pt x="134969" y="3044"/>
                </a:lnTo>
                <a:lnTo>
                  <a:pt x="117640" y="762"/>
                </a:lnTo>
                <a:lnTo>
                  <a:pt x="100178" y="0"/>
                </a:lnTo>
                <a:lnTo>
                  <a:pt x="82716" y="763"/>
                </a:lnTo>
                <a:lnTo>
                  <a:pt x="65386" y="3044"/>
                </a:lnTo>
                <a:lnTo>
                  <a:pt x="48322" y="6828"/>
                </a:lnTo>
                <a:lnTo>
                  <a:pt x="31652" y="12084"/>
                </a:lnTo>
                <a:lnTo>
                  <a:pt x="15504" y="18773"/>
                </a:lnTo>
                <a:lnTo>
                  <a:pt x="0" y="26844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34" name="S06-mark118"/>
          <p:cNvSpPr/>
          <p:nvPr/>
        </p:nvSpPr>
        <p:spPr>
          <a:xfrm>
            <a:off x="3882879" y="4828845"/>
            <a:ext cx="300535" cy="200355"/>
          </a:xfrm>
          <a:custGeom>
            <a:avLst/>
            <a:gdLst/>
            <a:ahLst/>
            <a:cxnLst/>
            <a:rect l="l" t="t" r="r" b="b"/>
            <a:pathLst>
              <a:path w="300535" h="200355">
                <a:moveTo>
                  <a:pt x="200355" y="200355"/>
                </a:moveTo>
                <a:lnTo>
                  <a:pt x="300535" y="26844"/>
                </a:lnTo>
                <a:lnTo>
                  <a:pt x="285031" y="18773"/>
                </a:lnTo>
                <a:lnTo>
                  <a:pt x="268883" y="12084"/>
                </a:lnTo>
                <a:lnTo>
                  <a:pt x="252213" y="6828"/>
                </a:lnTo>
                <a:lnTo>
                  <a:pt x="235148" y="3044"/>
                </a:lnTo>
                <a:lnTo>
                  <a:pt x="217819" y="763"/>
                </a:lnTo>
                <a:lnTo>
                  <a:pt x="200357" y="0"/>
                </a:lnTo>
                <a:lnTo>
                  <a:pt x="182895" y="762"/>
                </a:lnTo>
                <a:lnTo>
                  <a:pt x="165565" y="3044"/>
                </a:lnTo>
                <a:lnTo>
                  <a:pt x="148501" y="6827"/>
                </a:lnTo>
                <a:lnTo>
                  <a:pt x="131831" y="12082"/>
                </a:lnTo>
                <a:lnTo>
                  <a:pt x="115683" y="18771"/>
                </a:lnTo>
                <a:lnTo>
                  <a:pt x="100179" y="26842"/>
                </a:lnTo>
                <a:lnTo>
                  <a:pt x="85437" y="36233"/>
                </a:lnTo>
                <a:lnTo>
                  <a:pt x="71570" y="46873"/>
                </a:lnTo>
                <a:lnTo>
                  <a:pt x="58683" y="58682"/>
                </a:lnTo>
                <a:lnTo>
                  <a:pt x="46875" y="71569"/>
                </a:lnTo>
                <a:lnTo>
                  <a:pt x="36234" y="85435"/>
                </a:lnTo>
                <a:lnTo>
                  <a:pt x="26843" y="100177"/>
                </a:lnTo>
                <a:lnTo>
                  <a:pt x="18772" y="115681"/>
                </a:lnTo>
                <a:lnTo>
                  <a:pt x="12083" y="131829"/>
                </a:lnTo>
                <a:lnTo>
                  <a:pt x="6827" y="148499"/>
                </a:lnTo>
                <a:lnTo>
                  <a:pt x="3044" y="165563"/>
                </a:lnTo>
                <a:lnTo>
                  <a:pt x="762" y="182893"/>
                </a:lnTo>
                <a:lnTo>
                  <a:pt x="0" y="200355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35" name="S06-mark119"/>
          <p:cNvSpPr/>
          <p:nvPr/>
        </p:nvSpPr>
        <p:spPr>
          <a:xfrm flipH="1">
            <a:off x="4231722" y="3800474"/>
            <a:ext cx="158378" cy="9144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06-mark120"/>
          <p:cNvSpPr/>
          <p:nvPr/>
        </p:nvSpPr>
        <p:spPr>
          <a:xfrm>
            <a:off x="3627882" y="336042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06-mark121"/>
          <p:cNvSpPr/>
          <p:nvPr/>
        </p:nvSpPr>
        <p:spPr>
          <a:xfrm>
            <a:off x="2865665" y="3800474"/>
            <a:ext cx="158378" cy="9144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8" name="S06-mark122"/>
          <p:cNvSpPr/>
          <p:nvPr/>
        </p:nvSpPr>
        <p:spPr>
          <a:xfrm flipV="1">
            <a:off x="2865665" y="4589144"/>
            <a:ext cx="158378" cy="9144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9" name="S06-mark123"/>
          <p:cNvSpPr/>
          <p:nvPr/>
        </p:nvSpPr>
        <p:spPr>
          <a:xfrm flipV="1">
            <a:off x="3627882" y="493776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06-mark124"/>
          <p:cNvSpPr/>
          <p:nvPr/>
        </p:nvSpPr>
        <p:spPr>
          <a:xfrm flipH="1" flipV="1">
            <a:off x="4231722" y="4589144"/>
            <a:ext cx="158378" cy="9144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1" name="S06-chip125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42" name="S06-figure126" descr="라: 네 변에 같은 길이 표시, 네 각에 직각 표시"/>
          <p:cNvSpPr/>
          <p:nvPr/>
        </p:nvSpPr>
        <p:spPr>
          <a:xfrm>
            <a:off x="8567928" y="3451860"/>
            <a:ext cx="1577340" cy="1577340"/>
          </a:xfrm>
          <a:custGeom>
            <a:avLst/>
            <a:gdLst/>
            <a:ahLst/>
            <a:cxnLst/>
            <a:rect l="l" t="t" r="r" b="b"/>
            <a:pathLst>
              <a:path w="1577340" h="1577340">
                <a:moveTo>
                  <a:pt x="1577340" y="0"/>
                </a:moveTo>
                <a:lnTo>
                  <a:pt x="0" y="0"/>
                </a:lnTo>
                <a:lnTo>
                  <a:pt x="0" y="1577340"/>
                </a:lnTo>
                <a:lnTo>
                  <a:pt x="1577340" y="157734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3" name="S06-mark127"/>
          <p:cNvSpPr/>
          <p:nvPr/>
        </p:nvSpPr>
        <p:spPr>
          <a:xfrm>
            <a:off x="9916668" y="345186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0" y="22860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4" name="S06-mark128"/>
          <p:cNvSpPr/>
          <p:nvPr/>
        </p:nvSpPr>
        <p:spPr>
          <a:xfrm>
            <a:off x="8567928" y="345186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228600" y="228600"/>
                </a:lnTo>
                <a:lnTo>
                  <a:pt x="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5" name="S06-mark129"/>
          <p:cNvSpPr/>
          <p:nvPr/>
        </p:nvSpPr>
        <p:spPr>
          <a:xfrm>
            <a:off x="8567928" y="4800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6" name="S06-mark130"/>
          <p:cNvSpPr/>
          <p:nvPr/>
        </p:nvSpPr>
        <p:spPr>
          <a:xfrm>
            <a:off x="9916668" y="4800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0" y="0"/>
                </a:lnTo>
                <a:lnTo>
                  <a:pt x="22860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7" name="S06-mark131"/>
          <p:cNvSpPr/>
          <p:nvPr/>
        </p:nvSpPr>
        <p:spPr>
          <a:xfrm>
            <a:off x="9356598" y="336042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8" name="S06-mark132"/>
          <p:cNvSpPr/>
          <p:nvPr/>
        </p:nvSpPr>
        <p:spPr>
          <a:xfrm>
            <a:off x="8476488" y="4240530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9" name="S06-mark133"/>
          <p:cNvSpPr/>
          <p:nvPr/>
        </p:nvSpPr>
        <p:spPr>
          <a:xfrm flipV="1">
            <a:off x="9356598" y="493776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0" name="S06-mark134"/>
          <p:cNvSpPr/>
          <p:nvPr/>
        </p:nvSpPr>
        <p:spPr>
          <a:xfrm flipH="1">
            <a:off x="10053828" y="4240530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대각선</a:t>
            </a:r>
            <a:endParaRPr lang="ko-KR" sz="4000" dirty="0"/>
          </a:p>
        </p:txBody>
      </p:sp>
      <p:sp>
        <p:nvSpPr>
          <p:cNvPr id="3" name="S07-text13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점선으로 그은 선분을 살펴봐요.</a:t>
            </a:r>
            <a:endParaRPr lang="ko-KR" sz="3000" dirty="0"/>
          </a:p>
        </p:txBody>
      </p:sp>
      <p:sp>
        <p:nvSpPr>
          <p:cNvPr id="4" name="S07-figure136" descr="사각형 ㄱㄴㄷㄹ에 대각선 ㄱㄷ과 ㄴㄹ을 점선으로 그음"/>
          <p:cNvSpPr/>
          <p:nvPr/>
        </p:nvSpPr>
        <p:spPr>
          <a:xfrm>
            <a:off x="1035558" y="2743200"/>
            <a:ext cx="4389120" cy="2743200"/>
          </a:xfrm>
          <a:custGeom>
            <a:avLst/>
            <a:gdLst/>
            <a:ahLst/>
            <a:cxnLst/>
            <a:rect l="l" t="t" r="r" b="b"/>
            <a:pathLst>
              <a:path w="4389120" h="2743200">
                <a:moveTo>
                  <a:pt x="548640" y="0"/>
                </a:moveTo>
                <a:lnTo>
                  <a:pt x="0" y="2743200"/>
                </a:lnTo>
                <a:lnTo>
                  <a:pt x="3840480" y="2743200"/>
                </a:lnTo>
                <a:lnTo>
                  <a:pt x="4389120" y="36576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" name="S07-mark137"/>
          <p:cNvSpPr/>
          <p:nvPr/>
        </p:nvSpPr>
        <p:spPr>
          <a:xfrm>
            <a:off x="1584198" y="2743200"/>
            <a:ext cx="3291840" cy="274320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6" name="S07-mark138"/>
          <p:cNvSpPr/>
          <p:nvPr/>
        </p:nvSpPr>
        <p:spPr>
          <a:xfrm flipV="1">
            <a:off x="1035558" y="3108960"/>
            <a:ext cx="4389120" cy="237744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7" name="S07-label140"/>
          <p:cNvSpPr txBox="1"/>
          <p:nvPr/>
        </p:nvSpPr>
        <p:spPr>
          <a:xfrm>
            <a:off x="1165715" y="2309191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8" name="S07-label142"/>
          <p:cNvSpPr txBox="1"/>
          <p:nvPr/>
        </p:nvSpPr>
        <p:spPr>
          <a:xfrm>
            <a:off x="581981" y="5372496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9" name="S07-label144"/>
          <p:cNvSpPr txBox="1"/>
          <p:nvPr/>
        </p:nvSpPr>
        <p:spPr>
          <a:xfrm>
            <a:off x="4790528" y="5408664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200" dirty="0"/>
          </a:p>
        </p:txBody>
      </p:sp>
      <p:sp>
        <p:nvSpPr>
          <p:cNvPr id="10" name="S07-label146"/>
          <p:cNvSpPr txBox="1"/>
          <p:nvPr/>
        </p:nvSpPr>
        <p:spPr>
          <a:xfrm>
            <a:off x="5375520" y="2722681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200" dirty="0"/>
          </a:p>
        </p:txBody>
      </p:sp>
      <p:sp>
        <p:nvSpPr>
          <p:cNvPr id="11" name="S07-card147"/>
          <p:cNvSpPr/>
          <p:nvPr/>
        </p:nvSpPr>
        <p:spPr>
          <a:xfrm>
            <a:off x="6277356" y="2564130"/>
            <a:ext cx="536295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7-cardtext148"/>
          <p:cNvSpPr txBox="1"/>
          <p:nvPr/>
        </p:nvSpPr>
        <p:spPr>
          <a:xfrm>
            <a:off x="6551676" y="2701290"/>
            <a:ext cx="481431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대각선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이웃하지 않는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꼭짓점을 이은 선분</a:t>
            </a:r>
            <a:endParaRPr lang="ko-KR" sz="3000" dirty="0"/>
          </a:p>
        </p:txBody>
      </p:sp>
      <p:sp>
        <p:nvSpPr>
          <p:cNvPr id="13" name="S07-card149"/>
          <p:cNvSpPr/>
          <p:nvPr/>
        </p:nvSpPr>
        <p:spPr>
          <a:xfrm>
            <a:off x="6277356" y="4406646"/>
            <a:ext cx="536295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7-cardtext150"/>
          <p:cNvSpPr txBox="1"/>
          <p:nvPr/>
        </p:nvSpPr>
        <p:spPr>
          <a:xfrm>
            <a:off x="6551676" y="4543806"/>
            <a:ext cx="481431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 ㄱㄷ, ㄴㄹ이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대각선이에요.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오각형의 대각선 세기</a:t>
            </a:r>
            <a:endParaRPr lang="ko-KR" sz="4000" dirty="0"/>
          </a:p>
        </p:txBody>
      </p:sp>
      <p:sp>
        <p:nvSpPr>
          <p:cNvPr id="3" name="S08-card1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1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그은 대각선은 다시 세지 않아요.</a:t>
            </a:r>
            <a:endParaRPr lang="ko-KR" sz="3000" dirty="0"/>
          </a:p>
        </p:txBody>
      </p:sp>
      <p:sp>
        <p:nvSpPr>
          <p:cNvPr id="5" name="S08-figure153" descr="정오각형 ㄱㄴㄷㄹㅁ의 대각선 5개(점선)"/>
          <p:cNvSpPr/>
          <p:nvPr/>
        </p:nvSpPr>
        <p:spPr>
          <a:xfrm>
            <a:off x="7748580" y="1817233"/>
            <a:ext cx="2956804" cy="2812054"/>
          </a:xfrm>
          <a:custGeom>
            <a:avLst/>
            <a:gdLst/>
            <a:ahLst/>
            <a:cxnLst/>
            <a:rect l="l" t="t" r="r" b="b"/>
            <a:pathLst>
              <a:path w="2956804" h="2812054">
                <a:moveTo>
                  <a:pt x="1478402" y="0"/>
                </a:moveTo>
                <a:lnTo>
                  <a:pt x="0" y="1074146"/>
                </a:lnTo>
                <a:lnTo>
                  <a:pt x="564733" y="2812054"/>
                </a:lnTo>
                <a:lnTo>
                  <a:pt x="2392070" y="2812054"/>
                </a:lnTo>
                <a:lnTo>
                  <a:pt x="2956804" y="1074146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8-mark154"/>
          <p:cNvSpPr/>
          <p:nvPr/>
        </p:nvSpPr>
        <p:spPr>
          <a:xfrm flipH="1">
            <a:off x="8313313" y="1817233"/>
            <a:ext cx="913668" cy="2812054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7" name="S08-mark155"/>
          <p:cNvSpPr/>
          <p:nvPr/>
        </p:nvSpPr>
        <p:spPr>
          <a:xfrm>
            <a:off x="9226982" y="1817233"/>
            <a:ext cx="913668" cy="2812054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8" name="S08-mark156"/>
          <p:cNvSpPr/>
          <p:nvPr/>
        </p:nvSpPr>
        <p:spPr>
          <a:xfrm>
            <a:off x="7748580" y="2891379"/>
            <a:ext cx="2392070" cy="1737909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9" name="S08-mark157"/>
          <p:cNvSpPr/>
          <p:nvPr/>
        </p:nvSpPr>
        <p:spPr>
          <a:xfrm>
            <a:off x="7748580" y="2891379"/>
            <a:ext cx="2956804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0" name="S08-mark158"/>
          <p:cNvSpPr/>
          <p:nvPr/>
        </p:nvSpPr>
        <p:spPr>
          <a:xfrm flipV="1">
            <a:off x="8313313" y="2891379"/>
            <a:ext cx="2392070" cy="1737909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1" name="S08-label160"/>
          <p:cNvSpPr txBox="1"/>
          <p:nvPr/>
        </p:nvSpPr>
        <p:spPr>
          <a:xfrm>
            <a:off x="8972982" y="1319393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12" name="S08-label162"/>
          <p:cNvSpPr txBox="1"/>
          <p:nvPr/>
        </p:nvSpPr>
        <p:spPr>
          <a:xfrm>
            <a:off x="7262674" y="256203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13" name="S08-label164"/>
          <p:cNvSpPr txBox="1"/>
          <p:nvPr/>
        </p:nvSpPr>
        <p:spPr>
          <a:xfrm>
            <a:off x="7915989" y="4572559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200" dirty="0"/>
          </a:p>
        </p:txBody>
      </p:sp>
      <p:sp>
        <p:nvSpPr>
          <p:cNvPr id="14" name="S08-label166"/>
          <p:cNvSpPr txBox="1"/>
          <p:nvPr/>
        </p:nvSpPr>
        <p:spPr>
          <a:xfrm>
            <a:off x="10029975" y="4572559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200" dirty="0"/>
          </a:p>
        </p:txBody>
      </p:sp>
      <p:sp>
        <p:nvSpPr>
          <p:cNvPr id="15" name="S08-label168"/>
          <p:cNvSpPr txBox="1"/>
          <p:nvPr/>
        </p:nvSpPr>
        <p:spPr>
          <a:xfrm>
            <a:off x="10683290" y="256203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3200" dirty="0"/>
          </a:p>
        </p:txBody>
      </p:sp>
      <p:sp>
        <p:nvSpPr>
          <p:cNvPr id="16" name="S08-stepno169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7" name="S08-text170"/>
          <p:cNvSpPr txBox="1"/>
          <p:nvPr/>
        </p:nvSpPr>
        <p:spPr>
          <a:xfrm>
            <a:off x="1325880" y="18790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ㄱ에서 2개: ㄱㄷ, ㄱㄹ</a:t>
            </a:r>
            <a:endParaRPr lang="ko-KR" sz="3000" dirty="0"/>
          </a:p>
        </p:txBody>
      </p:sp>
      <p:sp>
        <p:nvSpPr>
          <p:cNvPr id="18" name="S08-stepno171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9" name="S08-text172"/>
          <p:cNvSpPr txBox="1"/>
          <p:nvPr/>
        </p:nvSpPr>
        <p:spPr>
          <a:xfrm>
            <a:off x="1325880" y="25923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ㄴ에서 새로 2개: ㄴㄹ, ㄴㅁ</a:t>
            </a:r>
            <a:endParaRPr lang="ko-KR" sz="3000" dirty="0"/>
          </a:p>
        </p:txBody>
      </p:sp>
      <p:sp>
        <p:nvSpPr>
          <p:cNvPr id="20" name="S08-stepno173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1" name="S08-text174"/>
          <p:cNvSpPr txBox="1"/>
          <p:nvPr/>
        </p:nvSpPr>
        <p:spPr>
          <a:xfrm>
            <a:off x="1325880" y="33055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ㄷ에서 새로 1개: ㄷㅁ</a:t>
            </a:r>
            <a:endParaRPr lang="ko-KR" sz="3000" dirty="0"/>
          </a:p>
        </p:txBody>
      </p:sp>
      <p:sp>
        <p:nvSpPr>
          <p:cNvPr id="22" name="S08-stepno175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23" name="S08-text176"/>
          <p:cNvSpPr txBox="1"/>
          <p:nvPr/>
        </p:nvSpPr>
        <p:spPr>
          <a:xfrm>
            <a:off x="1325880" y="40187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+ 2 + 1 = 5(개)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대각선은 몇 개?</a:t>
            </a:r>
            <a:endParaRPr lang="ko-KR" sz="4000" dirty="0"/>
          </a:p>
        </p:txBody>
      </p:sp>
      <p:sp>
        <p:nvSpPr>
          <p:cNvPr id="3" name="S09-text17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공책에 비슷하게 그리고 대각선을 그어 세어요.</a:t>
            </a:r>
            <a:endParaRPr lang="ko-KR" sz="3000" dirty="0"/>
          </a:p>
        </p:txBody>
      </p:sp>
      <p:sp>
        <p:nvSpPr>
          <p:cNvPr id="4" name="S09-card1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1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가, 나, 다의 대각선은 각각 몇 개일까요?</a:t>
            </a:r>
            <a:endParaRPr lang="ko-KR" sz="3000" dirty="0"/>
          </a:p>
        </p:txBody>
      </p:sp>
      <p:sp>
        <p:nvSpPr>
          <p:cNvPr id="6" name="S09-chip180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09-figure181" descr="사각형"/>
          <p:cNvSpPr/>
          <p:nvPr/>
        </p:nvSpPr>
        <p:spPr>
          <a:xfrm>
            <a:off x="640080" y="2937053"/>
            <a:ext cx="3270504" cy="1962302"/>
          </a:xfrm>
          <a:custGeom>
            <a:avLst/>
            <a:gdLst/>
            <a:ahLst/>
            <a:cxnLst/>
            <a:rect l="l" t="t" r="r" b="b"/>
            <a:pathLst>
              <a:path w="3270504" h="1962302">
                <a:moveTo>
                  <a:pt x="0" y="1962302"/>
                </a:moveTo>
                <a:lnTo>
                  <a:pt x="3270504" y="1962302"/>
                </a:lnTo>
                <a:lnTo>
                  <a:pt x="2616403" y="327050"/>
                </a:lnTo>
                <a:lnTo>
                  <a:pt x="490576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9-chip182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09-figure183" descr="오각형"/>
          <p:cNvSpPr/>
          <p:nvPr/>
        </p:nvSpPr>
        <p:spPr>
          <a:xfrm>
            <a:off x="5002951" y="2807208"/>
            <a:ext cx="2183050" cy="2221992"/>
          </a:xfrm>
          <a:custGeom>
            <a:avLst/>
            <a:gdLst/>
            <a:ahLst/>
            <a:cxnLst/>
            <a:rect l="l" t="t" r="r" b="b"/>
            <a:pathLst>
              <a:path w="2183050" h="2221992">
                <a:moveTo>
                  <a:pt x="1076635" y="0"/>
                </a:moveTo>
                <a:lnTo>
                  <a:pt x="0" y="753645"/>
                </a:lnTo>
                <a:lnTo>
                  <a:pt x="266486" y="1955506"/>
                </a:lnTo>
                <a:lnTo>
                  <a:pt x="1468347" y="2221992"/>
                </a:lnTo>
                <a:lnTo>
                  <a:pt x="2183050" y="849091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9-chip184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1" name="S09-figure185" descr="삼각형"/>
          <p:cNvSpPr/>
          <p:nvPr/>
        </p:nvSpPr>
        <p:spPr>
          <a:xfrm>
            <a:off x="8278368" y="2918883"/>
            <a:ext cx="3270504" cy="1998641"/>
          </a:xfrm>
          <a:custGeom>
            <a:avLst/>
            <a:gdLst/>
            <a:ahLst/>
            <a:cxnLst/>
            <a:rect l="l" t="t" r="r" b="b"/>
            <a:pathLst>
              <a:path w="3270504" h="1998641">
                <a:moveTo>
                  <a:pt x="0" y="1998641"/>
                </a:moveTo>
                <a:lnTo>
                  <a:pt x="3270504" y="1998641"/>
                </a:lnTo>
                <a:lnTo>
                  <a:pt x="1090168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10-card18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8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정육각형의 대각선을 세었어요.</a:t>
            </a:r>
            <a:endParaRPr lang="ko-KR" sz="3000" dirty="0"/>
          </a:p>
        </p:txBody>
      </p:sp>
      <p:sp>
        <p:nvSpPr>
          <p:cNvPr id="5" name="S10-card1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1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직접 그어서 확인해요.</a:t>
            </a:r>
            <a:endParaRPr lang="ko-KR" sz="3000" dirty="0"/>
          </a:p>
        </p:txBody>
      </p:sp>
      <p:sp>
        <p:nvSpPr>
          <p:cNvPr id="7" name="S10-chip19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18개</a:t>
            </a:r>
            <a:endParaRPr lang="ko-KR" sz="2400" dirty="0"/>
          </a:p>
        </p:txBody>
      </p:sp>
      <p:sp>
        <p:nvSpPr>
          <p:cNvPr id="8" name="S10-text19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꼭짓점마다 3개씩,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3 = 18이에요.</a:t>
            </a:r>
            <a:endParaRPr lang="ko-KR" sz="3000" dirty="0"/>
          </a:p>
        </p:txBody>
      </p:sp>
      <p:sp>
        <p:nvSpPr>
          <p:cNvPr id="9" name="S10-chip19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9개</a:t>
            </a:r>
            <a:endParaRPr lang="ko-KR" sz="2400" dirty="0"/>
          </a:p>
        </p:txBody>
      </p:sp>
      <p:sp>
        <p:nvSpPr>
          <p:cNvPr id="10" name="S10-text19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생기는 것만 세서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+ 3 + 2 + 1 = 9예요.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19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도형을 보고 답해요.</a:t>
            </a:r>
            <a:endParaRPr lang="ko-KR" sz="3000" dirty="0"/>
          </a:p>
        </p:txBody>
      </p:sp>
      <p:sp>
        <p:nvSpPr>
          <p:cNvPr id="4" name="S11-figure195" descr="꼭짓점 ㄱㄴㄷㄹㅁㅂ인 육각형, 변의 길이가 서로 다름"/>
          <p:cNvSpPr/>
          <p:nvPr/>
        </p:nvSpPr>
        <p:spPr>
          <a:xfrm>
            <a:off x="7454646" y="2459736"/>
            <a:ext cx="3008376" cy="3310128"/>
          </a:xfrm>
          <a:custGeom>
            <a:avLst/>
            <a:gdLst/>
            <a:ahLst/>
            <a:cxnLst/>
            <a:rect l="l" t="t" r="r" b="b"/>
            <a:pathLst>
              <a:path w="3008376" h="3310128">
                <a:moveTo>
                  <a:pt x="909828" y="0"/>
                </a:moveTo>
                <a:lnTo>
                  <a:pt x="0" y="763524"/>
                </a:lnTo>
                <a:lnTo>
                  <a:pt x="81382" y="2628900"/>
                </a:lnTo>
                <a:lnTo>
                  <a:pt x="1054303" y="3310128"/>
                </a:lnTo>
                <a:lnTo>
                  <a:pt x="2834640" y="2748686"/>
                </a:lnTo>
                <a:lnTo>
                  <a:pt x="3008376" y="76352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" name="S11-label197"/>
          <p:cNvSpPr txBox="1"/>
          <p:nvPr/>
        </p:nvSpPr>
        <p:spPr>
          <a:xfrm>
            <a:off x="8068110" y="1965604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6" name="S11-label199"/>
          <p:cNvSpPr txBox="1"/>
          <p:nvPr/>
        </p:nvSpPr>
        <p:spPr>
          <a:xfrm>
            <a:off x="6977455" y="2871057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7" name="S11-label201"/>
          <p:cNvSpPr txBox="1"/>
          <p:nvPr/>
        </p:nvSpPr>
        <p:spPr>
          <a:xfrm>
            <a:off x="7068245" y="4951918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200" dirty="0"/>
          </a:p>
        </p:txBody>
      </p:sp>
      <p:sp>
        <p:nvSpPr>
          <p:cNvPr id="8" name="S11-label203"/>
          <p:cNvSpPr txBox="1"/>
          <p:nvPr/>
        </p:nvSpPr>
        <p:spPr>
          <a:xfrm>
            <a:off x="8217863" y="5756867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200" dirty="0"/>
          </a:p>
        </p:txBody>
      </p:sp>
      <p:sp>
        <p:nvSpPr>
          <p:cNvPr id="9" name="S11-label205"/>
          <p:cNvSpPr txBox="1"/>
          <p:nvPr/>
        </p:nvSpPr>
        <p:spPr>
          <a:xfrm>
            <a:off x="10225455" y="5107045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3200" dirty="0"/>
          </a:p>
        </p:txBody>
      </p:sp>
      <p:sp>
        <p:nvSpPr>
          <p:cNvPr id="10" name="S11-label207"/>
          <p:cNvSpPr txBox="1"/>
          <p:nvPr/>
        </p:nvSpPr>
        <p:spPr>
          <a:xfrm>
            <a:off x="10414669" y="2838235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</a:t>
            </a:r>
            <a:endParaRPr lang="ko-KR" sz="3200" dirty="0"/>
          </a:p>
        </p:txBody>
      </p:sp>
      <p:sp>
        <p:nvSpPr>
          <p:cNvPr id="11" name="S11-chip20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12" name="S11-text209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도형의 이름은?</a:t>
            </a:r>
            <a:endParaRPr lang="ko-KR" sz="3000" dirty="0"/>
          </a:p>
        </p:txBody>
      </p:sp>
      <p:sp>
        <p:nvSpPr>
          <p:cNvPr id="13" name="S11-chip21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4" name="S11-text211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정다각형인가요? 까닭은?</a:t>
            </a:r>
            <a:endParaRPr lang="ko-KR" sz="3000" dirty="0"/>
          </a:p>
        </p:txBody>
      </p:sp>
      <p:sp>
        <p:nvSpPr>
          <p:cNvPr id="15" name="S11-chip21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6" name="S11-text213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ㄱ에서 그을 수 있는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대각선은 몇 개?</a:t>
            </a:r>
            <a:endParaRPr lang="ko-KR" sz="3000" dirty="0"/>
          </a:p>
        </p:txBody>
      </p:sp>
      <p:sp>
        <p:nvSpPr>
          <p:cNvPr id="17" name="S11-chip214"/>
          <p:cNvSpPr txBox="1"/>
          <p:nvPr/>
        </p:nvSpPr>
        <p:spPr>
          <a:xfrm>
            <a:off x="548640" y="54772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8" name="S11-text215"/>
          <p:cNvSpPr txBox="1"/>
          <p:nvPr/>
        </p:nvSpPr>
        <p:spPr>
          <a:xfrm>
            <a:off x="1344168" y="530352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대각선은 모두 몇 개?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2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2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대각선은 이웃하지 않는 꼭짓점끼리, 한 번씩만 세요.</a:t>
            </a:r>
            <a:endParaRPr lang="ko-KR" sz="3000" dirty="0"/>
          </a:p>
        </p:txBody>
      </p:sp>
      <p:sp>
        <p:nvSpPr>
          <p:cNvPr id="5" name="S12-chip218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2-text219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육각형</a:t>
            </a:r>
            <a:endParaRPr lang="ko-KR" sz="3000" dirty="0"/>
          </a:p>
        </p:txBody>
      </p:sp>
      <p:sp>
        <p:nvSpPr>
          <p:cNvPr id="7" name="S12-text220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 6개</a:t>
            </a:r>
            <a:endParaRPr lang="ko-KR" sz="2400" dirty="0"/>
          </a:p>
        </p:txBody>
      </p:sp>
      <p:sp>
        <p:nvSpPr>
          <p:cNvPr id="8" name="S12-text221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아니요</a:t>
            </a:r>
            <a:endParaRPr lang="ko-KR" sz="3000" dirty="0"/>
          </a:p>
        </p:txBody>
      </p:sp>
      <p:sp>
        <p:nvSpPr>
          <p:cNvPr id="9" name="S12-text222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변의 길이가 다름</a:t>
            </a:r>
            <a:endParaRPr lang="ko-KR" sz="2400" dirty="0"/>
          </a:p>
        </p:txBody>
      </p:sp>
      <p:sp>
        <p:nvSpPr>
          <p:cNvPr id="10" name="S12-text223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3개</a:t>
            </a:r>
            <a:endParaRPr lang="ko-KR" sz="3000" dirty="0"/>
          </a:p>
        </p:txBody>
      </p:sp>
      <p:sp>
        <p:nvSpPr>
          <p:cNvPr id="11" name="S12-text224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ㄱㄷ, ㄱㄹ, ㄱㅁ</a:t>
            </a:r>
            <a:endParaRPr lang="ko-KR" sz="2400" dirty="0"/>
          </a:p>
        </p:txBody>
      </p:sp>
      <p:sp>
        <p:nvSpPr>
          <p:cNvPr id="12" name="S12-text225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9개</a:t>
            </a:r>
            <a:endParaRPr lang="ko-KR" sz="3000" dirty="0"/>
          </a:p>
        </p:txBody>
      </p:sp>
      <p:sp>
        <p:nvSpPr>
          <p:cNvPr id="13" name="S12-text226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+ 3 + 2 + 1</a:t>
            </a:r>
            <a:endParaRPr lang="ko-KR" sz="2400" dirty="0"/>
          </a:p>
        </p:txBody>
      </p:sp>
      <p:sp>
        <p:nvSpPr>
          <p:cNvPr id="14" name="S12-chip227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5" name="S12-text228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18개</a:t>
            </a:r>
            <a:endParaRPr lang="ko-KR" sz="3000" dirty="0"/>
          </a:p>
        </p:txBody>
      </p:sp>
      <p:sp>
        <p:nvSpPr>
          <p:cNvPr id="16" name="S12-text229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셈</a:t>
            </a:r>
            <a:endParaRPr lang="ko-KR" sz="2400" dirty="0"/>
          </a:p>
        </p:txBody>
      </p:sp>
      <p:sp>
        <p:nvSpPr>
          <p:cNvPr id="17" name="S12-text230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5개</a:t>
            </a:r>
            <a:endParaRPr lang="ko-KR" sz="3000" dirty="0"/>
          </a:p>
        </p:txBody>
      </p:sp>
      <p:sp>
        <p:nvSpPr>
          <p:cNvPr id="18" name="S12-text231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변까지 셈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옳은 것을 모두 골라요</a:t>
            </a:r>
            <a:endParaRPr lang="ko-KR" sz="4000" dirty="0"/>
          </a:p>
        </p:txBody>
      </p:sp>
      <p:sp>
        <p:nvSpPr>
          <p:cNvPr id="3" name="S13-card2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2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틀린 것은 왜 틀렸는지 말해요.</a:t>
            </a:r>
            <a:endParaRPr lang="ko-KR" sz="3000" dirty="0"/>
          </a:p>
        </p:txBody>
      </p:sp>
      <p:sp>
        <p:nvSpPr>
          <p:cNvPr id="5" name="S13-chip234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3-card235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236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정사각형은 정다각형이에요.</a:t>
            </a:r>
            <a:endParaRPr lang="ko-KR" sz="3000" dirty="0"/>
          </a:p>
        </p:txBody>
      </p:sp>
      <p:sp>
        <p:nvSpPr>
          <p:cNvPr id="8" name="S13-chip237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3-card238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3-cardtext239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마름모는 정다각형이에요.</a:t>
            </a:r>
            <a:endParaRPr lang="ko-KR" sz="3000" dirty="0"/>
          </a:p>
        </p:txBody>
      </p:sp>
      <p:sp>
        <p:nvSpPr>
          <p:cNvPr id="11" name="S13-chip240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2" name="S13-card241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3-cardtext242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사각형의 대각선은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2개예요.</a:t>
            </a:r>
            <a:endParaRPr lang="ko-KR" sz="3000" dirty="0"/>
          </a:p>
        </p:txBody>
      </p:sp>
      <p:sp>
        <p:nvSpPr>
          <p:cNvPr id="14" name="S13-chip243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5" name="S13-card244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3-cardtext245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원은 다각형이에요.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24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24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이웃하지 않는 두 꼭짓점을 이은 선분이 대각선이에요.</a:t>
            </a:r>
            <a:endParaRPr lang="ko-KR" sz="3000" dirty="0"/>
          </a:p>
        </p:txBody>
      </p:sp>
      <p:sp>
        <p:nvSpPr>
          <p:cNvPr id="5" name="S14-chip248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새로 생기는 대각선만 세기</a:t>
            </a:r>
            <a:endParaRPr lang="ko-KR" sz="2400" dirty="0"/>
          </a:p>
        </p:txBody>
      </p:sp>
      <p:sp>
        <p:nvSpPr>
          <p:cNvPr id="6" name="S14-chip249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변만 같으면 정다각형이라 하기</a:t>
            </a:r>
            <a:endParaRPr lang="ko-KR" sz="2400" dirty="0"/>
          </a:p>
        </p:txBody>
      </p:sp>
      <p:sp>
        <p:nvSpPr>
          <p:cNvPr id="7" name="S14-text250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251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변이 7개인 다각형은?</a:t>
            </a:r>
            <a:endParaRPr lang="ko-KR" sz="2400" dirty="0"/>
          </a:p>
        </p:txBody>
      </p:sp>
      <p:sp>
        <p:nvSpPr>
          <p:cNvPr id="9" name="S14-text252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정다각형의 뜻은?</a:t>
            </a:r>
            <a:endParaRPr lang="ko-KR" sz="2400" dirty="0"/>
          </a:p>
        </p:txBody>
      </p:sp>
      <p:sp>
        <p:nvSpPr>
          <p:cNvPr id="10" name="S14-text253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사각형의 대각선은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개?</a:t>
            </a:r>
            <a:endParaRPr lang="ko-KR" sz="2400" dirty="0"/>
          </a:p>
        </p:txBody>
      </p:sp>
      <p:sp>
        <p:nvSpPr>
          <p:cNvPr id="11" name="S14-text25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평면도형의 이동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변과 사각형의 뜻</a:t>
            </a:r>
            <a:endParaRPr lang="ko-KR" sz="4000" dirty="0"/>
          </a:p>
        </p:txBody>
      </p:sp>
      <p:sp>
        <p:nvSpPr>
          <p:cNvPr id="3" name="S15-card255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5-cardtext256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변의 길이가 같아요.</a:t>
            </a:r>
            <a:endParaRPr lang="ko-KR" sz="3000" dirty="0"/>
          </a:p>
        </p:txBody>
      </p:sp>
      <p:sp>
        <p:nvSpPr>
          <p:cNvPr id="5" name="S15-card257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5-cardtext258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정사각형만 네 각이 직각</a:t>
            </a:r>
            <a:endParaRPr lang="ko-KR" sz="3000" dirty="0"/>
          </a:p>
        </p:txBody>
      </p:sp>
      <p:sp>
        <p:nvSpPr>
          <p:cNvPr id="7" name="S15-figure259" descr="정사각형: 네 변에 같은 길이 표시, 네 각에 직각 표시"/>
          <p:cNvSpPr/>
          <p:nvPr/>
        </p:nvSpPr>
        <p:spPr>
          <a:xfrm>
            <a:off x="2271644" y="1824350"/>
            <a:ext cx="1939808" cy="1939808"/>
          </a:xfrm>
          <a:custGeom>
            <a:avLst/>
            <a:gdLst/>
            <a:ahLst/>
            <a:cxnLst/>
            <a:rect l="l" t="t" r="r" b="b"/>
            <a:pathLst>
              <a:path w="1939808" h="1939808">
                <a:moveTo>
                  <a:pt x="1939808" y="0"/>
                </a:moveTo>
                <a:lnTo>
                  <a:pt x="0" y="0"/>
                </a:lnTo>
                <a:lnTo>
                  <a:pt x="0" y="1939808"/>
                </a:lnTo>
                <a:lnTo>
                  <a:pt x="1939808" y="1939808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5-mark260"/>
          <p:cNvSpPr/>
          <p:nvPr/>
        </p:nvSpPr>
        <p:spPr>
          <a:xfrm>
            <a:off x="3982852" y="1824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0" y="22860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15-mark261"/>
          <p:cNvSpPr/>
          <p:nvPr/>
        </p:nvSpPr>
        <p:spPr>
          <a:xfrm>
            <a:off x="2271644" y="1824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228600" y="228600"/>
                </a:lnTo>
                <a:lnTo>
                  <a:pt x="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5-mark262"/>
          <p:cNvSpPr/>
          <p:nvPr/>
        </p:nvSpPr>
        <p:spPr>
          <a:xfrm>
            <a:off x="2271644" y="353555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15-mark263"/>
          <p:cNvSpPr/>
          <p:nvPr/>
        </p:nvSpPr>
        <p:spPr>
          <a:xfrm>
            <a:off x="3982852" y="353555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0" y="0"/>
                </a:lnTo>
                <a:lnTo>
                  <a:pt x="22860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5-mark264"/>
          <p:cNvSpPr/>
          <p:nvPr/>
        </p:nvSpPr>
        <p:spPr>
          <a:xfrm>
            <a:off x="3241548" y="173291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15-mark265"/>
          <p:cNvSpPr/>
          <p:nvPr/>
        </p:nvSpPr>
        <p:spPr>
          <a:xfrm>
            <a:off x="2180204" y="2794254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5-mark266"/>
          <p:cNvSpPr/>
          <p:nvPr/>
        </p:nvSpPr>
        <p:spPr>
          <a:xfrm flipV="1">
            <a:off x="3241548" y="3672718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15-mark267"/>
          <p:cNvSpPr/>
          <p:nvPr/>
        </p:nvSpPr>
        <p:spPr>
          <a:xfrm flipH="1">
            <a:off x="4120012" y="2794254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5-label268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</a:t>
            </a:r>
            <a:endParaRPr lang="ko-KR" sz="2400" dirty="0"/>
          </a:p>
        </p:txBody>
      </p:sp>
      <p:sp>
        <p:nvSpPr>
          <p:cNvPr id="17" name="S15-figure269" descr="마름모: 네 변에 같은 길이 표시"/>
          <p:cNvSpPr/>
          <p:nvPr/>
        </p:nvSpPr>
        <p:spPr>
          <a:xfrm>
            <a:off x="6752844" y="1696974"/>
            <a:ext cx="4389120" cy="2194560"/>
          </a:xfrm>
          <a:custGeom>
            <a:avLst/>
            <a:gdLst/>
            <a:ahLst/>
            <a:cxnLst/>
            <a:rect l="l" t="t" r="r" b="b"/>
            <a:pathLst>
              <a:path w="4389120" h="2194560">
                <a:moveTo>
                  <a:pt x="0" y="2194560"/>
                </a:moveTo>
                <a:lnTo>
                  <a:pt x="2743200" y="2194560"/>
                </a:lnTo>
                <a:lnTo>
                  <a:pt x="4389120" y="0"/>
                </a:lnTo>
                <a:lnTo>
                  <a:pt x="164592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15-mark270"/>
          <p:cNvSpPr/>
          <p:nvPr/>
        </p:nvSpPr>
        <p:spPr>
          <a:xfrm flipV="1">
            <a:off x="8124444" y="3800094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15-mark271"/>
          <p:cNvSpPr/>
          <p:nvPr/>
        </p:nvSpPr>
        <p:spPr>
          <a:xfrm flipH="1" flipV="1">
            <a:off x="10245852" y="2739390"/>
            <a:ext cx="146304" cy="10972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5-mark272"/>
          <p:cNvSpPr/>
          <p:nvPr/>
        </p:nvSpPr>
        <p:spPr>
          <a:xfrm>
            <a:off x="9770364" y="1605534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15-mark273"/>
          <p:cNvSpPr/>
          <p:nvPr/>
        </p:nvSpPr>
        <p:spPr>
          <a:xfrm>
            <a:off x="7502652" y="2739390"/>
            <a:ext cx="146304" cy="10972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5-label274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다각형과 대각선</dc:title>
  <dc:subject>KR22-G04-MAT-POLYGON-L01</dc:subject>
  <dc:creator>education-ppt</dc:creator>
  <cp:lastModifiedBy>education-ppt</cp:lastModifiedBy>
  <cp:revision>1</cp:revision>
  <dcterms:created xsi:type="dcterms:W3CDTF">2026-10-26T08:24:28Z</dcterms:created>
  <dcterms:modified xsi:type="dcterms:W3CDTF">2026-10-26T08:24:28Z</dcterms:modified>
</cp:coreProperties>
</file>