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029c053-83e7-e23c-fa97-38a60a636bca}">
          <p14:sldIdLst>
            <p14:sldId id="256"/>
            <p14:sldId id="257"/>
          </p14:sldIdLst>
        </p14:section>
        <p14:section name="개념" id="{cf5535f3-327f-e440-bbb6-491579797ae9}">
          <p14:sldIdLst>
            <p14:sldId id="258"/>
            <p14:sldId id="259"/>
            <p14:sldId id="261"/>
            <p14:sldId id="263"/>
          </p14:sldIdLst>
        </p14:section>
        <p14:section name="연습" id="{ad8fa9d3-0879-db22-b0a5-36d51e12b842}">
          <p14:sldIdLst>
            <p14:sldId id="260"/>
            <p14:sldId id="262"/>
            <p14:sldId id="264"/>
          </p14:sldIdLst>
        </p14:section>
        <p14:section name="개념" id="{a53cae61-e0da-5931-d2c3-58545a7dcf14}">
          <p14:sldIdLst/>
        </p14:section>
        <p14:section name="연습" id="{70ff17e3-72a4-a2e7-1d61-82d12c7f4490}">
          <p14:sldIdLst/>
        </p14:section>
        <p14:section name="개념" id="{57ce81ea-398b-6ee6-543b-101657318e0b}">
          <p14:sldIdLst/>
        </p14:section>
        <p14:section name="연습" id="{3d7f4ef4-5cbd-28cd-18fb-622a2834bb5e}">
          <p14:sldIdLst/>
        </p14:section>
        <p14:section name="확인" id="{8a036e36-47b7-f5ae-72e5-4dd8e99be638}">
          <p14:sldIdLst>
            <p14:sldId id="265"/>
            <p14:sldId id="266"/>
            <p14:sldId id="267"/>
          </p14:sldIdLst>
        </p14:section>
        <p14:section name="정리" id="{e3ea842d-bf8d-4de3-8dcd-6fe01d4862de}">
          <p14:sldIdLst>
            <p14:sldId id="268"/>
          </p14:sldIdLst>
        </p14:section>
        <p14:section name="보충" id="{be71012c-5abd-5759-184d-8b6a791994f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직선끼리 만나는 방법(직각으로 만남, 만나지 않음)에 관심을 갖게 합니다.
시간: 약 2분
이렇게 말해 보세요
- “공책의 줄들은 서로 만나? 창틀의 가로선과 세로선은 어떻게 만나?”
- “오늘은 직각으로 만나는 두 직선과, 아무리 늘여도 만나지 않는 두 직선을 알아볼 거야.”
예상 답
- “공책 줄은 안 만나요.” “창틀은 반듯하게(직각으로) 만나요.”
막히면
- 집 안의 물건(책 모서리, 창틀, 바닥 타일 줄)을 손가락으로 따라가며 함께 봅니다.
주의
- 오늘은 삼각자 2개(없으면 반듯하게 두 번 접은 종이), 자, 모눈종이를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확인(직각, 직선, 직각삼각형)]
목적: 직각(90°), 직선, 직각삼각형(지난 차시)을 알고 있는지 확인합니다.
시간: 약 3분
이렇게 말해 보세요
- “①부터 차례로 말해 줄래? ②는 선이 양쪽으로 어떻게 그려져 있는지 봐.”
정답
- ① 90°
- ② 직선(직선 ㄱㄴ 또는 직선 ㄴㄱ) — 양쪽으로 끝없이 늘인 곧은 선
- ③ 직각삼각형
막히면
- 두 문제 이상 틀리면 S14(보충)를 먼저 합니다. 보충으로도 어려우면 3학년 ‘선분·반직선·직선과 각’과 ‘삼각형 분류’ 차시를 먼저 다시 합니다.
- ③만 틀리면 ‘삼각형 분류’ 차시의 S07을 다시 보여 줍니다.
주의
- 오늘은 ‘직선’이 계속 나옵니다. 그림의 선은 양쪽으로 끝없이 이어진다고 생각하게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수직과 수선의 뜻]
목적: 두 직선이 만나서 이루는 각이 직각일 때 서로 수직이라 하고, 한 직선을 다른 직선에 대한 수선이라고 함을 압니다.
시간: 약 3분
이렇게 말해 보세요
- “직선 가와 직선 나가 만나서 생긴 각은 어떤 각이야? 직각 표시가 있지?”
- “이렇게 두 직선이 직각으로 만나면 ‘서로 수직이다’라고 해. 그리고 직선 나를 ‘직선 가에 대한 수선’이라고 해. 그럼 직선 가는 직선 나에 대한 무엇일까?”
예상 답
- “직각이요.” “직선 가도 직선 나에 대한 수선이에요.”
막히면
- 접은 종이 직각을 두 직선이 만나는 곳에 대어 봅니다. 공책 모서리, 창틀처럼 수직인 곳을 집에서 찾아봅니다.
주의
- 수직은 ‘두 직선의 관계’이고, 수선은 ‘한 직선을 다른 직선에 견주어 부르는 이름’입니다. 처음에는 ‘직각으로 만나면 수직’만 확실히 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삼각자로 수선 긋기 시범]
목적: 삼각자(또는 각도기)를 써서 한 점을 지나는 수선을 긋는 방법을 시범으로 보여 줍니다.
시간: 약 4분
이렇게 말해 보세요
- “삼각자에서 직각인 곳을 찾아볼까? 직각을 낀 한 변을 직선 가에 꼭 맞추고, 직각 꼭짓점을 점 ㄱ에 맞춰.”
- “그대로 잡고 직각을 낀 다른 변을 따라 선을 그으면 수선이 돼. 직선 가가 비스듬해도 방법은 같아.”
예상 답
- 공책이나 모눈종이에 수선을 긋는다.
막히면
- 삼각자가 없으면 반듯하게 두 번 접은 종이의 직각을 씁니다.
- 각도기로 할 때는 중심을 점 ㄱ에, 밑금을 직선 가에 맞추고 90°에 점을 찍어 잇습니다.
주의
- 삼각자가 미끄러지기 쉬우니 부모가 한쪽을 눌러 주면 좋습니다. 그은 뒤 접은 종이 직각을 대어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연습(수선 찾기)]
목적: 도움을 받으며 여러 직선 중 직선 가와 직각으로 만나는 수선을 찾습니다.
시간: 약 3분
이렇게 말해 보세요
- “직선 가와 직각으로 만나는 직선은 어느 것일까? 모눈 칸을 따라가 봐.”
- “다와 마는 왜 수선이 아닐까?”
정답
- 나, 라 (직선 가와 직각으로 만남)
- 다와 마는 직선 가와 만나지만 직각이 아니어서 수선이 아닙니다.
막히면
- 화면에 접은 종이 직각을 대어 봅니다. 한 변을 직선 가에 맞추고 다른 변이 겹치는지 봅니다.
주의
- 나와 라는 서로 만나지 않습니다. 다음 장(평행)에서 이어서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평행과 평행선의 뜻]
목적: 한 직선에 수직인 두 직선은 서로 만나지 않으며, 이렇게 만나지 않는 두 직선을 평행하다고 하고 평행선이라고 부름을 압니다.
시간: 약 3분
이렇게 말해 보세요
- “직선 나와 직선 다는 모두 직선 가에 수직이야. 나와 다를 위아래로 끝없이 늘이면 만날까?”
- “서로 만나지 않는 두 직선을 ‘평행하다’고 하고, 평행한 두 직선을 평행선이라고 해. 집에서 평행선을 찾아볼까?”
예상 답
- “안 만나요.” “공책 줄, 사다리의 양쪽 기둥이요.”
막히면
- 모눈종이의 세로줄 두 개를 손가락으로 따라가며 두 줄 사이의 칸 수가 계속 같다는 것을 봅니다.
주의
- 지치면 S05가 끝난 곳에서 쉬어도 됩니다. 평행은 ‘직선’끼리의 관계이므로 그림이 짧아도 끝없이 늘인다고 생각해야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다루기(그림에서 만나지 않으면 평행?)]
목적: 그림에서 만나지 않아 보여도 늘이면 만나는 두 직선을 가려내고, 기울어진 평행선도 평행선임을 압니다(M2, M3).
시간: 약 3분
이렇게 말해 보세요
- “평행선을 모두 찾아볼까? 두 직선 사이의 칸 수를 왼쪽과 오른쪽에서 세어 봐.”
- “나는 그림에서는 안 만나는데, 오른쪽으로 더 늘이면 어떻게 될까?”
예상 답
- “가와 다요. 사이가 계속 2칸이에요.”
정답
- 가, 다
- 나는 사이가 2칸에서 1칸으로 좁아지므로 늘이면 만납니다(평행 아님). 라는 이미 만납니다.
막히면
- 자를 화면의 나 위에 대고 오른쪽으로 늘여 두 직선이 만나는지 확인합니다.
주의
- 다는 비스듬해도 평행선입니다. ‘가로로 놓인 것만 평행’이라고 생각하지 않게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평행선 사이의 거리]
목적: 평행선 사이에 그은 수선의 길이를 평행선 사이의 거리라고 하며, 어디서 재어도 같고 가장 짧다는 것을 압니다.
시간: 약 4분
이렇게 말해 보세요
- “두 평행선 사이에 수선을 두 군데 그었어. 길이가 각각 몇 cm야? 모눈 칸을 세어 봐.”
- “점선처럼 비스듬하게 그은 선분은 수선보다 길까, 짧을까? 평행선 사이의 거리는 수선의 길이로 정해.”
예상 답
- “둘 다 3칸이니까 3 cm예요.” “비스듬한 건 더 길어요.”
막히면
- 공책 줄 두 개 사이에 자를 수직으로 대어 재고, 비스듬히 대어서도 재어 비교합니다.
주의
- 수선의 길이는 평행선 위의 어느 곳에서 재어도 같습니다. 그래서 ‘평행선 사이의 거리’라는 하나의 값이 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연습(평행선 사이의 거리)]
목적: 도움을 받으며 평행선 사이의 거리를 나타내는 선분(수선)을 고르고 그 길이를 구합니다.
시간: 약 4분
이렇게 말해 보세요
- “두 선분 중 평행선과 직각으로 만나는 것은 어느 것일까?”
- “선분 ㄷㄹ의 길이는 5 cm인데, 왜 거리가 아닐까?”
정답
- ① 선분 ㄱㄴ
- ② 4 cm
- ③ 선분 ㄷㄹ은 평행선에 수직이 아닌 비스듬한 선분이라서 거리가 아닙니다(수선보다 김).
막히면
- 접은 종이 직각을 선분 ㄱㄴ과 ㄷㄹ의 아래 끝에 대어 봅니다.
주의
- ③에서 ‘더 길어서’라고만 해도 괜찮습니다. ‘수선이 아니라서’까지 말하면 더 좋습니다(M4).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수선과 평행선을 찾고, 평행선 사이의 거리를 구하는지 확인합니다.
시간: 약 5분
이렇게 말해 보세요
- “이번에는 혼자 해 볼래? 어떻게 찾았는지도 말해 줘.”
정답
- ① 직선 나
- ② 직선 다
- ③ 3 cm (직선 나 위에서 3칸)
막히면
- 바로 알려 주지 말고 “직각으로 만나는 곳을 찾아볼까?”라고만 묻습니다.
- 도움을 받아 해결했다면 기록표에 ‘도움’으로 표시합니다.
주의
- ①에 라를 함께 고르면 비스듬히 만나는 것도 수선으로 본 것입니다. ③을 라를 따라 재면 3 cm보다 길게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직각을 대어 같이 확인하자.”
정답
- ① 직선 나 ② 직선 다 ③ 3 cm
막히면
- ①이 틀리면 S05로, ②가 틀리면 S07로, ③이 틀리면 S08로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확인(평행한 변이 있는 도형)]
목적: 처음 보는 도형에서 평행한 변을 찾아 평행의 뜻을 쓸 수 있는지 확인합니다. 다음 차시(여러 가지 사각형)로 이어집니다.
시간: 약 2분
이렇게 말해 보세요
- “평행한 변이 있는 도형을 모두 찾아볼까? 변을 양쪽으로 늘였을 때 만나지 않는 두 변을 찾아봐.”
정답
- 나(1쌍: 위와 아래 변)
- 다(2쌍: 위·아래 변, 왼쪽·오른쪽 변)
- 가(직각삼각형)와 라(오각형)에는 평행한 변이 없습니다.
막히면
- 자를 각 변에 대고 늘여 보며 만나는지 확인합니다.
주의
- 가에는 수직인 변(직각)은 있지만 평행한 변은 없습니다. 수직과 평행을 헷갈리지 않게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“수직은 무엇이고 평행은 무엇이었지? 평행선 사이의 거리는 어떻게 쟀어?”
예상 답
- “직각으로 만나면 수직, 안 만나면 평행이에요.” “수선을 그어서 재요.”
정답
- ① 90°(직각) ② 평행(서로 평행하다) ③ 평행선 사이에 그은 수선
막히면
- S03, S06, S08을 다시 보여 줍니다.
주의
- 다음 차시에서는 평행한 변의 수로 사다리꼴·평행사변형 등 사각형을 나눕니다.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보충(직선과 직각)]
목적: S02에서 직선이나 직각이 흔들리면, 수직과 평행을 배우기 전에 직선과 직각을 다시 익힙니다.
시간: 약 5분
이렇게 말해 보세요
- “선분은 양 끝이 있는 곧은 선, 반직선은 한쪽으로만 끝없이 늘인 선, 직선은 양쪽으로 끝없이 늘인 선이야. 그림의 선은 어느 것이야?”
- “종이를 반듯하게 두 번 접어 볼까? 접힌 모서리가 직각이야. 몇 도였지?”
정답
- 직선 ㄱㄴ, 직각은 90°
막히면
- 실을 팽팽하게 당겨 ‘곧은 선’을 만들고, 양쪽 끝을 계속 늘인다고 상상하게 합니다.
주의
- 보충으로도 어려우면 3학년 ‘선분·반직선·직선과 각’ 차시를 먼저 다시 합니다. 직각삼각형이 흔들리면 ‘삼각형 분류’ 차시를 복습합니다.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수직과 평행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수직과 평행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수직과 평행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수직과 평행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끝없이 늘여도 만나지 않는 두 직선이 있을까요?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9200606" y="24324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200606" y="154522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1-figure4" descr="평행한 두 직선과 그 사이에 수직으로 그은 선분"/>
          <p:cNvSpPr/>
          <p:nvPr/>
        </p:nvSpPr>
        <p:spPr>
          <a:xfrm>
            <a:off x="7772400" y="2661013"/>
            <a:ext cx="37490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7772400" y="1545227"/>
            <a:ext cx="37490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9200606" y="1545227"/>
            <a:ext cx="0" cy="1115786"/>
          </a:xfrm>
          <a:prstGeom prst="line">
            <a:avLst/>
          </a:prstGeom>
          <a:noFill/>
          <a:ln w="28575">
            <a:solidFill>
              <a:srgbClr val="E9762B"/>
            </a:solidFill>
            <a:prstDash val="solid"/>
          </a:ln>
        </p:spPr>
      </p:sp>
      <p:sp>
        <p:nvSpPr>
          <p:cNvPr id="10" name="S01-card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1" name="S01-cardtext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수직과 수선을 알고 그어요.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평행선과 평행선 사이의 거리를 알아요.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9" descr="점 ㄱ과 점 ㄴ을 지나 양쪽으로 끝없이 늘인 곧은 선"/>
          <p:cNvSpPr/>
          <p:nvPr/>
        </p:nvSpPr>
        <p:spPr>
          <a:xfrm flipV="1">
            <a:off x="6643116" y="3077185"/>
            <a:ext cx="4631436" cy="138943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" name="S02-mark10"/>
          <p:cNvSpPr/>
          <p:nvPr/>
        </p:nvSpPr>
        <p:spPr>
          <a:xfrm>
            <a:off x="7428817" y="415363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2-mark11"/>
          <p:cNvSpPr/>
          <p:nvPr/>
        </p:nvSpPr>
        <p:spPr>
          <a:xfrm>
            <a:off x="10369979" y="327129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2-label13"/>
          <p:cNvSpPr txBox="1"/>
          <p:nvPr/>
        </p:nvSpPr>
        <p:spPr>
          <a:xfrm>
            <a:off x="7164186" y="372551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7" name="S02-label15"/>
          <p:cNvSpPr txBox="1"/>
          <p:nvPr/>
        </p:nvSpPr>
        <p:spPr>
          <a:xfrm>
            <a:off x="10105348" y="2843169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8" name="S02-chip1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2-text1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직각은 몇 도?</a:t>
            </a:r>
            <a:endParaRPr lang="ko-KR" sz="3000" dirty="0"/>
          </a:p>
        </p:txBody>
      </p:sp>
      <p:sp>
        <p:nvSpPr>
          <p:cNvPr id="10" name="S02-chip1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2-text19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그림은 선분,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반직선, 직선 중 무엇?</a:t>
            </a:r>
            <a:endParaRPr lang="ko-KR" sz="3000" dirty="0"/>
          </a:p>
        </p:txBody>
      </p:sp>
      <p:sp>
        <p:nvSpPr>
          <p:cNvPr id="12" name="S02-chip2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2-text21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각이 직각인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이름은?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수직과 수선</a:t>
            </a:r>
            <a:endParaRPr lang="ko-KR" sz="4000" dirty="0"/>
          </a:p>
        </p:txBody>
      </p:sp>
      <p:sp>
        <p:nvSpPr>
          <p:cNvPr id="3" name="S03-mark22"/>
          <p:cNvSpPr/>
          <p:nvPr/>
        </p:nvSpPr>
        <p:spPr>
          <a:xfrm flipV="1">
            <a:off x="661485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" name="S03-mark23"/>
          <p:cNvSpPr/>
          <p:nvPr/>
        </p:nvSpPr>
        <p:spPr>
          <a:xfrm flipV="1">
            <a:off x="1089591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3-mark24"/>
          <p:cNvSpPr/>
          <p:nvPr/>
        </p:nvSpPr>
        <p:spPr>
          <a:xfrm flipV="1">
            <a:off x="1517696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3-mark25"/>
          <p:cNvSpPr/>
          <p:nvPr/>
        </p:nvSpPr>
        <p:spPr>
          <a:xfrm flipV="1">
            <a:off x="1945802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3-mark26"/>
          <p:cNvSpPr/>
          <p:nvPr/>
        </p:nvSpPr>
        <p:spPr>
          <a:xfrm flipV="1">
            <a:off x="2373907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3-mark27"/>
          <p:cNvSpPr/>
          <p:nvPr/>
        </p:nvSpPr>
        <p:spPr>
          <a:xfrm flipV="1">
            <a:off x="2802013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3-mark28"/>
          <p:cNvSpPr/>
          <p:nvPr/>
        </p:nvSpPr>
        <p:spPr>
          <a:xfrm flipV="1">
            <a:off x="3230118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3-mark29"/>
          <p:cNvSpPr/>
          <p:nvPr/>
        </p:nvSpPr>
        <p:spPr>
          <a:xfrm flipV="1">
            <a:off x="3658223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30"/>
          <p:cNvSpPr/>
          <p:nvPr/>
        </p:nvSpPr>
        <p:spPr>
          <a:xfrm flipV="1">
            <a:off x="4086329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31"/>
          <p:cNvSpPr/>
          <p:nvPr/>
        </p:nvSpPr>
        <p:spPr>
          <a:xfrm flipV="1">
            <a:off x="4514434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32"/>
          <p:cNvSpPr/>
          <p:nvPr/>
        </p:nvSpPr>
        <p:spPr>
          <a:xfrm flipV="1">
            <a:off x="4942540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33"/>
          <p:cNvSpPr/>
          <p:nvPr/>
        </p:nvSpPr>
        <p:spPr>
          <a:xfrm flipV="1">
            <a:off x="5370645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34"/>
          <p:cNvSpPr/>
          <p:nvPr/>
        </p:nvSpPr>
        <p:spPr>
          <a:xfrm flipV="1">
            <a:off x="5798751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35"/>
          <p:cNvSpPr/>
          <p:nvPr/>
        </p:nvSpPr>
        <p:spPr>
          <a:xfrm>
            <a:off x="661485" y="6126480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36"/>
          <p:cNvSpPr/>
          <p:nvPr/>
        </p:nvSpPr>
        <p:spPr>
          <a:xfrm>
            <a:off x="661485" y="5698375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37"/>
          <p:cNvSpPr/>
          <p:nvPr/>
        </p:nvSpPr>
        <p:spPr>
          <a:xfrm>
            <a:off x="661485" y="5270269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3-mark38"/>
          <p:cNvSpPr/>
          <p:nvPr/>
        </p:nvSpPr>
        <p:spPr>
          <a:xfrm>
            <a:off x="661485" y="4842164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3-mark39"/>
          <p:cNvSpPr/>
          <p:nvPr/>
        </p:nvSpPr>
        <p:spPr>
          <a:xfrm>
            <a:off x="661485" y="4414058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3-mark40"/>
          <p:cNvSpPr/>
          <p:nvPr/>
        </p:nvSpPr>
        <p:spPr>
          <a:xfrm>
            <a:off x="661485" y="3985953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3-mark41"/>
          <p:cNvSpPr/>
          <p:nvPr/>
        </p:nvSpPr>
        <p:spPr>
          <a:xfrm>
            <a:off x="661485" y="3557847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3-mark42"/>
          <p:cNvSpPr/>
          <p:nvPr/>
        </p:nvSpPr>
        <p:spPr>
          <a:xfrm>
            <a:off x="661485" y="3129742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3-mark43"/>
          <p:cNvSpPr/>
          <p:nvPr/>
        </p:nvSpPr>
        <p:spPr>
          <a:xfrm>
            <a:off x="661485" y="2701636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3-mark44"/>
          <p:cNvSpPr/>
          <p:nvPr/>
        </p:nvSpPr>
        <p:spPr>
          <a:xfrm>
            <a:off x="661485" y="2273531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3-mark45"/>
          <p:cNvSpPr/>
          <p:nvPr/>
        </p:nvSpPr>
        <p:spPr>
          <a:xfrm>
            <a:off x="661485" y="1845425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3-mark46"/>
          <p:cNvSpPr/>
          <p:nvPr/>
        </p:nvSpPr>
        <p:spPr>
          <a:xfrm>
            <a:off x="661485" y="1417320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3-mark47"/>
          <p:cNvSpPr/>
          <p:nvPr/>
        </p:nvSpPr>
        <p:spPr>
          <a:xfrm>
            <a:off x="3230118" y="37573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3-figure48" descr="모눈 위에서 직선 가와 직선 나가 직각으로 만나는 그림"/>
          <p:cNvSpPr/>
          <p:nvPr/>
        </p:nvSpPr>
        <p:spPr>
          <a:xfrm>
            <a:off x="1432075" y="3985953"/>
            <a:ext cx="359608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0" name="S03-mark49"/>
          <p:cNvSpPr/>
          <p:nvPr/>
        </p:nvSpPr>
        <p:spPr>
          <a:xfrm flipV="1">
            <a:off x="3230118" y="2187910"/>
            <a:ext cx="0" cy="31679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1" name="S03-label51"/>
          <p:cNvSpPr txBox="1"/>
          <p:nvPr/>
        </p:nvSpPr>
        <p:spPr>
          <a:xfrm>
            <a:off x="4995187" y="360280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32" name="S03-label53"/>
          <p:cNvSpPr txBox="1"/>
          <p:nvPr/>
        </p:nvSpPr>
        <p:spPr>
          <a:xfrm>
            <a:off x="3239955" y="208303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33" name="S03-card54"/>
          <p:cNvSpPr/>
          <p:nvPr/>
        </p:nvSpPr>
        <p:spPr>
          <a:xfrm>
            <a:off x="6277356" y="2043684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3-cardtext55"/>
          <p:cNvSpPr txBox="1"/>
          <p:nvPr/>
        </p:nvSpPr>
        <p:spPr>
          <a:xfrm>
            <a:off x="6551676" y="2180844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직선이 만나서 이루는 각이 직각이면 서로 수직이에요.</a:t>
            </a:r>
            <a:endParaRPr lang="ko-KR" sz="3000" dirty="0"/>
          </a:p>
        </p:txBody>
      </p:sp>
      <p:sp>
        <p:nvSpPr>
          <p:cNvPr id="35" name="S03-card56"/>
          <p:cNvSpPr/>
          <p:nvPr/>
        </p:nvSpPr>
        <p:spPr>
          <a:xfrm>
            <a:off x="6277356" y="388620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6" name="S03-cardtext57"/>
          <p:cNvSpPr txBox="1"/>
          <p:nvPr/>
        </p:nvSpPr>
        <p:spPr>
          <a:xfrm>
            <a:off x="6551676" y="402336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나는 직선 가에 대한 수선이에요.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수선 긋기</a:t>
            </a:r>
            <a:endParaRPr lang="ko-KR" sz="4000" dirty="0"/>
          </a:p>
        </p:txBody>
      </p:sp>
      <p:sp>
        <p:nvSpPr>
          <p:cNvPr id="3" name="S04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ㄱ을 지나고 직선 가에 수직인 직선을 그어요.</a:t>
            </a:r>
            <a:endParaRPr lang="ko-KR" sz="3000" dirty="0"/>
          </a:p>
        </p:txBody>
      </p:sp>
      <p:sp>
        <p:nvSpPr>
          <p:cNvPr id="4" name="S04-figure59" descr="비스듬한 직선 가 위의 점 ㄱ에 삼각자의 직각을 대고 그은 수선"/>
          <p:cNvSpPr/>
          <p:nvPr/>
        </p:nvSpPr>
        <p:spPr>
          <a:xfrm>
            <a:off x="8328977" y="3072482"/>
            <a:ext cx="1948615" cy="1540805"/>
          </a:xfrm>
          <a:custGeom>
            <a:avLst/>
            <a:gdLst/>
            <a:ahLst/>
            <a:cxnLst/>
            <a:rect l="l" t="t" r="r" b="b"/>
            <a:pathLst>
              <a:path w="1948615" h="1540805">
                <a:moveTo>
                  <a:pt x="770377" y="1540805"/>
                </a:moveTo>
                <a:lnTo>
                  <a:pt x="1948615" y="95166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4-mark60"/>
          <p:cNvSpPr/>
          <p:nvPr/>
        </p:nvSpPr>
        <p:spPr>
          <a:xfrm>
            <a:off x="8997121" y="4306585"/>
            <a:ext cx="306698" cy="204466"/>
          </a:xfrm>
          <a:custGeom>
            <a:avLst/>
            <a:gdLst/>
            <a:ahLst/>
            <a:cxnLst/>
            <a:rect l="l" t="t" r="r" b="b"/>
            <a:pathLst>
              <a:path w="306698" h="204466">
                <a:moveTo>
                  <a:pt x="306698" y="204466"/>
                </a:moveTo>
                <a:lnTo>
                  <a:pt x="204465" y="0"/>
                </a:lnTo>
                <a:lnTo>
                  <a:pt x="0" y="102236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4-mark61"/>
          <p:cNvSpPr/>
          <p:nvPr/>
        </p:nvSpPr>
        <p:spPr>
          <a:xfrm flipV="1">
            <a:off x="7286671" y="3525658"/>
            <a:ext cx="3987881" cy="199397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62"/>
          <p:cNvSpPr/>
          <p:nvPr/>
        </p:nvSpPr>
        <p:spPr>
          <a:xfrm flipH="1" flipV="1">
            <a:off x="8147694" y="2709967"/>
            <a:ext cx="1268880" cy="2537760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</a:ln>
        </p:spPr>
      </p:sp>
      <p:sp>
        <p:nvSpPr>
          <p:cNvPr id="8" name="S04-mark63"/>
          <p:cNvSpPr/>
          <p:nvPr/>
        </p:nvSpPr>
        <p:spPr>
          <a:xfrm>
            <a:off x="9039918" y="455385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label65"/>
          <p:cNvSpPr txBox="1"/>
          <p:nvPr/>
        </p:nvSpPr>
        <p:spPr>
          <a:xfrm>
            <a:off x="9017775" y="453170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0" name="S04-label67"/>
          <p:cNvSpPr txBox="1"/>
          <p:nvPr/>
        </p:nvSpPr>
        <p:spPr>
          <a:xfrm>
            <a:off x="10979741" y="338048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11" name="S04-stepno68"/>
          <p:cNvSpPr txBox="1"/>
          <p:nvPr/>
        </p:nvSpPr>
        <p:spPr>
          <a:xfrm>
            <a:off x="548640" y="26014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04-text69"/>
          <p:cNvSpPr txBox="1"/>
          <p:nvPr/>
        </p:nvSpPr>
        <p:spPr>
          <a:xfrm>
            <a:off x="1325880" y="2555748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삼각자의 직각을 낀 한 변을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가에 맞춰요.</a:t>
            </a:r>
            <a:endParaRPr lang="ko-KR" sz="3000" dirty="0"/>
          </a:p>
        </p:txBody>
      </p:sp>
      <p:sp>
        <p:nvSpPr>
          <p:cNvPr id="13" name="S04-stepno70"/>
          <p:cNvSpPr txBox="1"/>
          <p:nvPr/>
        </p:nvSpPr>
        <p:spPr>
          <a:xfrm>
            <a:off x="548640" y="36957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" name="S04-text71"/>
          <p:cNvSpPr txBox="1"/>
          <p:nvPr/>
        </p:nvSpPr>
        <p:spPr>
          <a:xfrm>
            <a:off x="1325880" y="3649980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직각인 꼭짓점을 점 ㄱ에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맞춰요.</a:t>
            </a:r>
            <a:endParaRPr lang="ko-KR" sz="3000" dirty="0"/>
          </a:p>
        </p:txBody>
      </p:sp>
      <p:sp>
        <p:nvSpPr>
          <p:cNvPr id="15" name="S04-stepno72"/>
          <p:cNvSpPr txBox="1"/>
          <p:nvPr/>
        </p:nvSpPr>
        <p:spPr>
          <a:xfrm>
            <a:off x="548640" y="47899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6" name="S04-text73"/>
          <p:cNvSpPr txBox="1"/>
          <p:nvPr/>
        </p:nvSpPr>
        <p:spPr>
          <a:xfrm>
            <a:off x="1325880" y="4744212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직각을 낀 다른 변을 따라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선을 그어요.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수선 찾기</a:t>
            </a:r>
            <a:endParaRPr lang="ko-KR" sz="4000" dirty="0"/>
          </a:p>
        </p:txBody>
      </p:sp>
      <p:sp>
        <p:nvSpPr>
          <p:cNvPr id="3" name="S05-card7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7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가에 대한 수선을 모두 찾아요. 모눈이나 삼각자의 직각을 대어 봐요.</a:t>
            </a:r>
            <a:endParaRPr lang="ko-KR" sz="3000" dirty="0"/>
          </a:p>
        </p:txBody>
      </p:sp>
      <p:sp>
        <p:nvSpPr>
          <p:cNvPr id="5" name="S05-chip76"/>
          <p:cNvSpPr txBox="1"/>
          <p:nvPr/>
        </p:nvSpPr>
        <p:spPr>
          <a:xfrm>
            <a:off x="548640" y="27447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5-mark77"/>
          <p:cNvSpPr/>
          <p:nvPr/>
        </p:nvSpPr>
        <p:spPr>
          <a:xfrm flipV="1">
            <a:off x="3753764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5-mark78"/>
          <p:cNvSpPr/>
          <p:nvPr/>
        </p:nvSpPr>
        <p:spPr>
          <a:xfrm flipV="1">
            <a:off x="4075938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79"/>
          <p:cNvSpPr/>
          <p:nvPr/>
        </p:nvSpPr>
        <p:spPr>
          <a:xfrm flipV="1">
            <a:off x="4398112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80"/>
          <p:cNvSpPr/>
          <p:nvPr/>
        </p:nvSpPr>
        <p:spPr>
          <a:xfrm flipV="1">
            <a:off x="4720285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81"/>
          <p:cNvSpPr/>
          <p:nvPr/>
        </p:nvSpPr>
        <p:spPr>
          <a:xfrm flipV="1">
            <a:off x="5042459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82"/>
          <p:cNvSpPr/>
          <p:nvPr/>
        </p:nvSpPr>
        <p:spPr>
          <a:xfrm flipV="1">
            <a:off x="5364632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83"/>
          <p:cNvSpPr/>
          <p:nvPr/>
        </p:nvSpPr>
        <p:spPr>
          <a:xfrm flipV="1">
            <a:off x="5686806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84"/>
          <p:cNvSpPr/>
          <p:nvPr/>
        </p:nvSpPr>
        <p:spPr>
          <a:xfrm flipV="1">
            <a:off x="6008980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85"/>
          <p:cNvSpPr/>
          <p:nvPr/>
        </p:nvSpPr>
        <p:spPr>
          <a:xfrm flipV="1">
            <a:off x="6331153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86"/>
          <p:cNvSpPr/>
          <p:nvPr/>
        </p:nvSpPr>
        <p:spPr>
          <a:xfrm flipV="1">
            <a:off x="6653327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87"/>
          <p:cNvSpPr/>
          <p:nvPr/>
        </p:nvSpPr>
        <p:spPr>
          <a:xfrm flipV="1">
            <a:off x="6975500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88"/>
          <p:cNvSpPr/>
          <p:nvPr/>
        </p:nvSpPr>
        <p:spPr>
          <a:xfrm flipV="1">
            <a:off x="7297674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mark89"/>
          <p:cNvSpPr/>
          <p:nvPr/>
        </p:nvSpPr>
        <p:spPr>
          <a:xfrm flipV="1">
            <a:off x="7619848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5-mark90"/>
          <p:cNvSpPr/>
          <p:nvPr/>
        </p:nvSpPr>
        <p:spPr>
          <a:xfrm flipV="1">
            <a:off x="7942021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91"/>
          <p:cNvSpPr/>
          <p:nvPr/>
        </p:nvSpPr>
        <p:spPr>
          <a:xfrm flipV="1">
            <a:off x="8264195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92"/>
          <p:cNvSpPr/>
          <p:nvPr/>
        </p:nvSpPr>
        <p:spPr>
          <a:xfrm flipV="1">
            <a:off x="8586368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93"/>
          <p:cNvSpPr/>
          <p:nvPr/>
        </p:nvSpPr>
        <p:spPr>
          <a:xfrm flipV="1">
            <a:off x="8908542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94"/>
          <p:cNvSpPr/>
          <p:nvPr/>
        </p:nvSpPr>
        <p:spPr>
          <a:xfrm flipV="1">
            <a:off x="9230716" y="1417320"/>
            <a:ext cx="0" cy="322173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95"/>
          <p:cNvSpPr/>
          <p:nvPr/>
        </p:nvSpPr>
        <p:spPr>
          <a:xfrm>
            <a:off x="3753764" y="4639056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mark96"/>
          <p:cNvSpPr/>
          <p:nvPr/>
        </p:nvSpPr>
        <p:spPr>
          <a:xfrm>
            <a:off x="3753764" y="4316882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5-mark97"/>
          <p:cNvSpPr/>
          <p:nvPr/>
        </p:nvSpPr>
        <p:spPr>
          <a:xfrm>
            <a:off x="3753764" y="3994709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5-mark98"/>
          <p:cNvSpPr/>
          <p:nvPr/>
        </p:nvSpPr>
        <p:spPr>
          <a:xfrm>
            <a:off x="3753764" y="3672535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5-mark99"/>
          <p:cNvSpPr/>
          <p:nvPr/>
        </p:nvSpPr>
        <p:spPr>
          <a:xfrm>
            <a:off x="3753764" y="3350362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5-mark100"/>
          <p:cNvSpPr/>
          <p:nvPr/>
        </p:nvSpPr>
        <p:spPr>
          <a:xfrm>
            <a:off x="3753764" y="3028188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5-mark101"/>
          <p:cNvSpPr/>
          <p:nvPr/>
        </p:nvSpPr>
        <p:spPr>
          <a:xfrm>
            <a:off x="3753764" y="2706014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5-mark102"/>
          <p:cNvSpPr/>
          <p:nvPr/>
        </p:nvSpPr>
        <p:spPr>
          <a:xfrm>
            <a:off x="3753764" y="2383841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5-mark103"/>
          <p:cNvSpPr/>
          <p:nvPr/>
        </p:nvSpPr>
        <p:spPr>
          <a:xfrm>
            <a:off x="3753764" y="2061667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5-mark104"/>
          <p:cNvSpPr/>
          <p:nvPr/>
        </p:nvSpPr>
        <p:spPr>
          <a:xfrm>
            <a:off x="3753764" y="1739494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5-mark105"/>
          <p:cNvSpPr/>
          <p:nvPr/>
        </p:nvSpPr>
        <p:spPr>
          <a:xfrm>
            <a:off x="3753764" y="1417320"/>
            <a:ext cx="547695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5-figure106" descr="모눈 위 가로 직선 가와 이를 지나는 직선 나·다·라·마. 나와 라는 세로선, 다와 마는 비스듬함"/>
          <p:cNvSpPr/>
          <p:nvPr/>
        </p:nvSpPr>
        <p:spPr>
          <a:xfrm>
            <a:off x="4333677" y="3028188"/>
            <a:ext cx="431712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6" name="S05-mark107"/>
          <p:cNvSpPr/>
          <p:nvPr/>
        </p:nvSpPr>
        <p:spPr>
          <a:xfrm flipV="1">
            <a:off x="5042459" y="1997232"/>
            <a:ext cx="0" cy="206191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05-mark108"/>
          <p:cNvSpPr/>
          <p:nvPr/>
        </p:nvSpPr>
        <p:spPr>
          <a:xfrm flipV="1">
            <a:off x="5513910" y="2038048"/>
            <a:ext cx="990140" cy="19802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5-mark109"/>
          <p:cNvSpPr/>
          <p:nvPr/>
        </p:nvSpPr>
        <p:spPr>
          <a:xfrm flipV="1">
            <a:off x="6975500" y="1997232"/>
            <a:ext cx="0" cy="2061911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5-mark110"/>
          <p:cNvSpPr/>
          <p:nvPr/>
        </p:nvSpPr>
        <p:spPr>
          <a:xfrm flipH="1" flipV="1">
            <a:off x="7446951" y="2038048"/>
            <a:ext cx="990140" cy="19802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5-label112"/>
          <p:cNvSpPr txBox="1"/>
          <p:nvPr/>
        </p:nvSpPr>
        <p:spPr>
          <a:xfrm>
            <a:off x="8639891" y="270881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1" name="S05-label114"/>
          <p:cNvSpPr txBox="1"/>
          <p:nvPr/>
        </p:nvSpPr>
        <p:spPr>
          <a:xfrm>
            <a:off x="4983221" y="183895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2" name="S05-label116"/>
          <p:cNvSpPr txBox="1"/>
          <p:nvPr/>
        </p:nvSpPr>
        <p:spPr>
          <a:xfrm>
            <a:off x="6433002" y="183895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3" name="S05-label118"/>
          <p:cNvSpPr txBox="1"/>
          <p:nvPr/>
        </p:nvSpPr>
        <p:spPr>
          <a:xfrm>
            <a:off x="6916263" y="183895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4" name="S05-label120"/>
          <p:cNvSpPr txBox="1"/>
          <p:nvPr/>
        </p:nvSpPr>
        <p:spPr>
          <a:xfrm>
            <a:off x="8382152" y="380420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평행과 평행선</a:t>
            </a:r>
            <a:endParaRPr lang="ko-KR" sz="4000" dirty="0"/>
          </a:p>
        </p:txBody>
      </p:sp>
      <p:sp>
        <p:nvSpPr>
          <p:cNvPr id="3" name="S06-mark121"/>
          <p:cNvSpPr/>
          <p:nvPr/>
        </p:nvSpPr>
        <p:spPr>
          <a:xfrm flipV="1">
            <a:off x="661485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" name="S06-mark122"/>
          <p:cNvSpPr/>
          <p:nvPr/>
        </p:nvSpPr>
        <p:spPr>
          <a:xfrm flipV="1">
            <a:off x="1089591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6-mark123"/>
          <p:cNvSpPr/>
          <p:nvPr/>
        </p:nvSpPr>
        <p:spPr>
          <a:xfrm flipV="1">
            <a:off x="1517696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6-mark124"/>
          <p:cNvSpPr/>
          <p:nvPr/>
        </p:nvSpPr>
        <p:spPr>
          <a:xfrm flipV="1">
            <a:off x="1945802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6-mark125"/>
          <p:cNvSpPr/>
          <p:nvPr/>
        </p:nvSpPr>
        <p:spPr>
          <a:xfrm flipV="1">
            <a:off x="2373907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6-mark126"/>
          <p:cNvSpPr/>
          <p:nvPr/>
        </p:nvSpPr>
        <p:spPr>
          <a:xfrm flipV="1">
            <a:off x="2802013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6-mark127"/>
          <p:cNvSpPr/>
          <p:nvPr/>
        </p:nvSpPr>
        <p:spPr>
          <a:xfrm flipV="1">
            <a:off x="3230118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128"/>
          <p:cNvSpPr/>
          <p:nvPr/>
        </p:nvSpPr>
        <p:spPr>
          <a:xfrm flipV="1">
            <a:off x="3658223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129"/>
          <p:cNvSpPr/>
          <p:nvPr/>
        </p:nvSpPr>
        <p:spPr>
          <a:xfrm flipV="1">
            <a:off x="4086329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130"/>
          <p:cNvSpPr/>
          <p:nvPr/>
        </p:nvSpPr>
        <p:spPr>
          <a:xfrm flipV="1">
            <a:off x="4514434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131"/>
          <p:cNvSpPr/>
          <p:nvPr/>
        </p:nvSpPr>
        <p:spPr>
          <a:xfrm flipV="1">
            <a:off x="4942540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132"/>
          <p:cNvSpPr/>
          <p:nvPr/>
        </p:nvSpPr>
        <p:spPr>
          <a:xfrm flipV="1">
            <a:off x="5370645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133"/>
          <p:cNvSpPr/>
          <p:nvPr/>
        </p:nvSpPr>
        <p:spPr>
          <a:xfrm flipV="1">
            <a:off x="5798751" y="1417320"/>
            <a:ext cx="0" cy="47091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134"/>
          <p:cNvSpPr/>
          <p:nvPr/>
        </p:nvSpPr>
        <p:spPr>
          <a:xfrm>
            <a:off x="661485" y="6126480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135"/>
          <p:cNvSpPr/>
          <p:nvPr/>
        </p:nvSpPr>
        <p:spPr>
          <a:xfrm>
            <a:off x="661485" y="5698375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136"/>
          <p:cNvSpPr/>
          <p:nvPr/>
        </p:nvSpPr>
        <p:spPr>
          <a:xfrm>
            <a:off x="661485" y="5270269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6-mark137"/>
          <p:cNvSpPr/>
          <p:nvPr/>
        </p:nvSpPr>
        <p:spPr>
          <a:xfrm>
            <a:off x="661485" y="4842164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6-mark138"/>
          <p:cNvSpPr/>
          <p:nvPr/>
        </p:nvSpPr>
        <p:spPr>
          <a:xfrm>
            <a:off x="661485" y="4414058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6-mark139"/>
          <p:cNvSpPr/>
          <p:nvPr/>
        </p:nvSpPr>
        <p:spPr>
          <a:xfrm>
            <a:off x="661485" y="3985953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6-mark140"/>
          <p:cNvSpPr/>
          <p:nvPr/>
        </p:nvSpPr>
        <p:spPr>
          <a:xfrm>
            <a:off x="661485" y="3557847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6-mark141"/>
          <p:cNvSpPr/>
          <p:nvPr/>
        </p:nvSpPr>
        <p:spPr>
          <a:xfrm>
            <a:off x="661485" y="3129742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6-mark142"/>
          <p:cNvSpPr/>
          <p:nvPr/>
        </p:nvSpPr>
        <p:spPr>
          <a:xfrm>
            <a:off x="661485" y="2701636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6-mark143"/>
          <p:cNvSpPr/>
          <p:nvPr/>
        </p:nvSpPr>
        <p:spPr>
          <a:xfrm>
            <a:off x="661485" y="2273531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6-mark144"/>
          <p:cNvSpPr/>
          <p:nvPr/>
        </p:nvSpPr>
        <p:spPr>
          <a:xfrm>
            <a:off x="661485" y="1845425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6-mark145"/>
          <p:cNvSpPr/>
          <p:nvPr/>
        </p:nvSpPr>
        <p:spPr>
          <a:xfrm>
            <a:off x="661485" y="1417320"/>
            <a:ext cx="513726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6-mark146"/>
          <p:cNvSpPr/>
          <p:nvPr/>
        </p:nvSpPr>
        <p:spPr>
          <a:xfrm>
            <a:off x="2373907" y="37573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6-mark147"/>
          <p:cNvSpPr/>
          <p:nvPr/>
        </p:nvSpPr>
        <p:spPr>
          <a:xfrm>
            <a:off x="4086329" y="3836116"/>
            <a:ext cx="149837" cy="149837"/>
          </a:xfrm>
          <a:custGeom>
            <a:avLst/>
            <a:gdLst/>
            <a:ahLst/>
            <a:cxnLst/>
            <a:rect l="l" t="t" r="r" b="b"/>
            <a:pathLst>
              <a:path w="149837" h="149837">
                <a:moveTo>
                  <a:pt x="149837" y="149837"/>
                </a:moveTo>
                <a:lnTo>
                  <a:pt x="149837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6-figure148" descr="직선 가에 수직인 두 직선 나와 다. 나와 다는 서로 만나지 않음"/>
          <p:cNvSpPr/>
          <p:nvPr/>
        </p:nvSpPr>
        <p:spPr>
          <a:xfrm>
            <a:off x="1432075" y="3985953"/>
            <a:ext cx="359608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1" name="S06-mark149"/>
          <p:cNvSpPr/>
          <p:nvPr/>
        </p:nvSpPr>
        <p:spPr>
          <a:xfrm flipV="1">
            <a:off x="2373907" y="2187910"/>
            <a:ext cx="0" cy="31679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2" name="S06-mark150"/>
          <p:cNvSpPr/>
          <p:nvPr/>
        </p:nvSpPr>
        <p:spPr>
          <a:xfrm flipV="1">
            <a:off x="4086329" y="2187910"/>
            <a:ext cx="0" cy="31679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3" name="S06-label152"/>
          <p:cNvSpPr txBox="1"/>
          <p:nvPr/>
        </p:nvSpPr>
        <p:spPr>
          <a:xfrm>
            <a:off x="4995187" y="360280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34" name="S06-label154"/>
          <p:cNvSpPr txBox="1"/>
          <p:nvPr/>
        </p:nvSpPr>
        <p:spPr>
          <a:xfrm>
            <a:off x="2362339" y="208303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35" name="S06-label156"/>
          <p:cNvSpPr txBox="1"/>
          <p:nvPr/>
        </p:nvSpPr>
        <p:spPr>
          <a:xfrm>
            <a:off x="4074760" y="208303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36" name="S06-card157"/>
          <p:cNvSpPr/>
          <p:nvPr/>
        </p:nvSpPr>
        <p:spPr>
          <a:xfrm>
            <a:off x="6277356" y="1857756"/>
            <a:ext cx="5362956" cy="1985772"/>
          </a:xfrm>
          <a:prstGeom prst="roundRect">
            <a:avLst>
              <a:gd name="adj" fmla="val 55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7" name="S06-cardtext158"/>
          <p:cNvSpPr txBox="1"/>
          <p:nvPr/>
        </p:nvSpPr>
        <p:spPr>
          <a:xfrm>
            <a:off x="6551676" y="1994916"/>
            <a:ext cx="4814316" cy="171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직선에 수직인 두 직선은 서로 만나지 않아요. 이때 두 직선은 평행해요.</a:t>
            </a:r>
            <a:endParaRPr lang="ko-KR" sz="3000" dirty="0"/>
          </a:p>
        </p:txBody>
      </p:sp>
      <p:sp>
        <p:nvSpPr>
          <p:cNvPr id="38" name="S06-card159"/>
          <p:cNvSpPr/>
          <p:nvPr/>
        </p:nvSpPr>
        <p:spPr>
          <a:xfrm>
            <a:off x="6277356" y="4072128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9" name="S06-cardtext160"/>
          <p:cNvSpPr txBox="1"/>
          <p:nvPr/>
        </p:nvSpPr>
        <p:spPr>
          <a:xfrm>
            <a:off x="6551676" y="4209288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두 직선을 평행선이라고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평행선을 찾아요</a:t>
            </a:r>
            <a:endParaRPr lang="ko-KR" sz="4000" dirty="0"/>
          </a:p>
        </p:txBody>
      </p:sp>
      <p:sp>
        <p:nvSpPr>
          <p:cNvPr id="3" name="S07-card1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평행선을 모두 고르고, 어떻게 알았는지 말해요.</a:t>
            </a:r>
            <a:endParaRPr lang="ko-KR" sz="3000" dirty="0"/>
          </a:p>
        </p:txBody>
      </p:sp>
      <p:sp>
        <p:nvSpPr>
          <p:cNvPr id="5" name="S07-chip163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07-mark164"/>
          <p:cNvSpPr/>
          <p:nvPr/>
        </p:nvSpPr>
        <p:spPr>
          <a:xfrm flipV="1">
            <a:off x="205054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165"/>
          <p:cNvSpPr/>
          <p:nvPr/>
        </p:nvSpPr>
        <p:spPr>
          <a:xfrm flipV="1">
            <a:off x="2444877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166"/>
          <p:cNvSpPr/>
          <p:nvPr/>
        </p:nvSpPr>
        <p:spPr>
          <a:xfrm flipV="1">
            <a:off x="283921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167"/>
          <p:cNvSpPr/>
          <p:nvPr/>
        </p:nvSpPr>
        <p:spPr>
          <a:xfrm flipV="1">
            <a:off x="3233547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168"/>
          <p:cNvSpPr/>
          <p:nvPr/>
        </p:nvSpPr>
        <p:spPr>
          <a:xfrm flipV="1">
            <a:off x="362788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169"/>
          <p:cNvSpPr/>
          <p:nvPr/>
        </p:nvSpPr>
        <p:spPr>
          <a:xfrm flipV="1">
            <a:off x="4022217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170"/>
          <p:cNvSpPr/>
          <p:nvPr/>
        </p:nvSpPr>
        <p:spPr>
          <a:xfrm flipV="1">
            <a:off x="441655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171"/>
          <p:cNvSpPr/>
          <p:nvPr/>
        </p:nvSpPr>
        <p:spPr>
          <a:xfrm flipV="1">
            <a:off x="4810887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172"/>
          <p:cNvSpPr/>
          <p:nvPr/>
        </p:nvSpPr>
        <p:spPr>
          <a:xfrm flipV="1">
            <a:off x="520522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173"/>
          <p:cNvSpPr/>
          <p:nvPr/>
        </p:nvSpPr>
        <p:spPr>
          <a:xfrm>
            <a:off x="2050542" y="299466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174"/>
          <p:cNvSpPr/>
          <p:nvPr/>
        </p:nvSpPr>
        <p:spPr>
          <a:xfrm>
            <a:off x="2050542" y="260032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175"/>
          <p:cNvSpPr/>
          <p:nvPr/>
        </p:nvSpPr>
        <p:spPr>
          <a:xfrm>
            <a:off x="2050542" y="220599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176"/>
          <p:cNvSpPr/>
          <p:nvPr/>
        </p:nvSpPr>
        <p:spPr>
          <a:xfrm>
            <a:off x="2050542" y="181165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mark177"/>
          <p:cNvSpPr/>
          <p:nvPr/>
        </p:nvSpPr>
        <p:spPr>
          <a:xfrm>
            <a:off x="2050542" y="141732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7-figure178" descr="모눈 위의 가로 두 직선, 사이가 2칸으로 같음"/>
          <p:cNvSpPr/>
          <p:nvPr/>
        </p:nvSpPr>
        <p:spPr>
          <a:xfrm>
            <a:off x="2444877" y="2600325"/>
            <a:ext cx="236601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7-mark179"/>
          <p:cNvSpPr/>
          <p:nvPr/>
        </p:nvSpPr>
        <p:spPr>
          <a:xfrm>
            <a:off x="2444877" y="1811655"/>
            <a:ext cx="236601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7-chip180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3" name="S07-mark181"/>
          <p:cNvSpPr/>
          <p:nvPr/>
        </p:nvSpPr>
        <p:spPr>
          <a:xfrm flipV="1">
            <a:off x="777925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7-mark182"/>
          <p:cNvSpPr/>
          <p:nvPr/>
        </p:nvSpPr>
        <p:spPr>
          <a:xfrm flipV="1">
            <a:off x="8173593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7-mark183"/>
          <p:cNvSpPr/>
          <p:nvPr/>
        </p:nvSpPr>
        <p:spPr>
          <a:xfrm flipV="1">
            <a:off x="856792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7-mark184"/>
          <p:cNvSpPr/>
          <p:nvPr/>
        </p:nvSpPr>
        <p:spPr>
          <a:xfrm flipV="1">
            <a:off x="8962263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7-mark185"/>
          <p:cNvSpPr/>
          <p:nvPr/>
        </p:nvSpPr>
        <p:spPr>
          <a:xfrm flipV="1">
            <a:off x="935659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7-mark186"/>
          <p:cNvSpPr/>
          <p:nvPr/>
        </p:nvSpPr>
        <p:spPr>
          <a:xfrm flipV="1">
            <a:off x="9750933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7-mark187"/>
          <p:cNvSpPr/>
          <p:nvPr/>
        </p:nvSpPr>
        <p:spPr>
          <a:xfrm flipV="1">
            <a:off x="1014526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7-mark188"/>
          <p:cNvSpPr/>
          <p:nvPr/>
        </p:nvSpPr>
        <p:spPr>
          <a:xfrm flipV="1">
            <a:off x="10539603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7-mark189"/>
          <p:cNvSpPr/>
          <p:nvPr/>
        </p:nvSpPr>
        <p:spPr>
          <a:xfrm flipV="1">
            <a:off x="1093393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7-mark190"/>
          <p:cNvSpPr/>
          <p:nvPr/>
        </p:nvSpPr>
        <p:spPr>
          <a:xfrm>
            <a:off x="7779258" y="299466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7-mark191"/>
          <p:cNvSpPr/>
          <p:nvPr/>
        </p:nvSpPr>
        <p:spPr>
          <a:xfrm>
            <a:off x="7779258" y="260032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7-mark192"/>
          <p:cNvSpPr/>
          <p:nvPr/>
        </p:nvSpPr>
        <p:spPr>
          <a:xfrm>
            <a:off x="7779258" y="220599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7-mark193"/>
          <p:cNvSpPr/>
          <p:nvPr/>
        </p:nvSpPr>
        <p:spPr>
          <a:xfrm>
            <a:off x="7779258" y="181165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7-mark194"/>
          <p:cNvSpPr/>
          <p:nvPr/>
        </p:nvSpPr>
        <p:spPr>
          <a:xfrm>
            <a:off x="7779258" y="141732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7-figure195" descr="모눈 위의 두 직선, 왼쪽은 2칸 오른쪽은 1칸으로 점점 가까워짐"/>
          <p:cNvSpPr/>
          <p:nvPr/>
        </p:nvSpPr>
        <p:spPr>
          <a:xfrm>
            <a:off x="8173593" y="2600325"/>
            <a:ext cx="236601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7-mark196"/>
          <p:cNvSpPr/>
          <p:nvPr/>
        </p:nvSpPr>
        <p:spPr>
          <a:xfrm>
            <a:off x="8173593" y="1811655"/>
            <a:ext cx="2366010" cy="39433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7-chip197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0" name="S07-mark198"/>
          <p:cNvSpPr/>
          <p:nvPr/>
        </p:nvSpPr>
        <p:spPr>
          <a:xfrm flipV="1">
            <a:off x="2726545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7-mark199"/>
          <p:cNvSpPr/>
          <p:nvPr/>
        </p:nvSpPr>
        <p:spPr>
          <a:xfrm flipV="1">
            <a:off x="2951879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7-mark200"/>
          <p:cNvSpPr/>
          <p:nvPr/>
        </p:nvSpPr>
        <p:spPr>
          <a:xfrm flipV="1">
            <a:off x="3177213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7-mark201"/>
          <p:cNvSpPr/>
          <p:nvPr/>
        </p:nvSpPr>
        <p:spPr>
          <a:xfrm flipV="1">
            <a:off x="340254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7-mark202"/>
          <p:cNvSpPr/>
          <p:nvPr/>
        </p:nvSpPr>
        <p:spPr>
          <a:xfrm flipV="1">
            <a:off x="3627882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7-mark203"/>
          <p:cNvSpPr/>
          <p:nvPr/>
        </p:nvSpPr>
        <p:spPr>
          <a:xfrm flipV="1">
            <a:off x="3853216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7-mark204"/>
          <p:cNvSpPr/>
          <p:nvPr/>
        </p:nvSpPr>
        <p:spPr>
          <a:xfrm flipV="1">
            <a:off x="4078551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7-mark205"/>
          <p:cNvSpPr/>
          <p:nvPr/>
        </p:nvSpPr>
        <p:spPr>
          <a:xfrm flipV="1">
            <a:off x="4303885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7-mark206"/>
          <p:cNvSpPr/>
          <p:nvPr/>
        </p:nvSpPr>
        <p:spPr>
          <a:xfrm flipV="1">
            <a:off x="4529219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7-mark207"/>
          <p:cNvSpPr/>
          <p:nvPr/>
        </p:nvSpPr>
        <p:spPr>
          <a:xfrm>
            <a:off x="2726545" y="5029200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7-mark208"/>
          <p:cNvSpPr/>
          <p:nvPr/>
        </p:nvSpPr>
        <p:spPr>
          <a:xfrm>
            <a:off x="2726545" y="4803866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07-mark209"/>
          <p:cNvSpPr/>
          <p:nvPr/>
        </p:nvSpPr>
        <p:spPr>
          <a:xfrm>
            <a:off x="2726545" y="4578531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07-mark210"/>
          <p:cNvSpPr/>
          <p:nvPr/>
        </p:nvSpPr>
        <p:spPr>
          <a:xfrm>
            <a:off x="2726545" y="4353197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07-mark211"/>
          <p:cNvSpPr/>
          <p:nvPr/>
        </p:nvSpPr>
        <p:spPr>
          <a:xfrm>
            <a:off x="2726545" y="4127863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4" name="S07-mark212"/>
          <p:cNvSpPr/>
          <p:nvPr/>
        </p:nvSpPr>
        <p:spPr>
          <a:xfrm>
            <a:off x="2726545" y="3902529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5" name="S07-mark213"/>
          <p:cNvSpPr/>
          <p:nvPr/>
        </p:nvSpPr>
        <p:spPr>
          <a:xfrm>
            <a:off x="2726545" y="3677194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07-mark214"/>
          <p:cNvSpPr/>
          <p:nvPr/>
        </p:nvSpPr>
        <p:spPr>
          <a:xfrm>
            <a:off x="2726545" y="3451860"/>
            <a:ext cx="180267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07-figure215" descr="모눈 위의 비스듬한 두 직선, 위아래 사이가 2칸으로 같음"/>
          <p:cNvSpPr/>
          <p:nvPr/>
        </p:nvSpPr>
        <p:spPr>
          <a:xfrm flipV="1">
            <a:off x="2951879" y="4127863"/>
            <a:ext cx="1352006" cy="67600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8" name="S07-mark216"/>
          <p:cNvSpPr/>
          <p:nvPr/>
        </p:nvSpPr>
        <p:spPr>
          <a:xfrm flipV="1">
            <a:off x="2951879" y="3677194"/>
            <a:ext cx="1352006" cy="67600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9" name="S07-chip217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60" name="S07-mark218"/>
          <p:cNvSpPr/>
          <p:nvPr/>
        </p:nvSpPr>
        <p:spPr>
          <a:xfrm flipV="1">
            <a:off x="8094726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07-mark219"/>
          <p:cNvSpPr/>
          <p:nvPr/>
        </p:nvSpPr>
        <p:spPr>
          <a:xfrm flipV="1">
            <a:off x="8410194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07-mark220"/>
          <p:cNvSpPr/>
          <p:nvPr/>
        </p:nvSpPr>
        <p:spPr>
          <a:xfrm flipV="1">
            <a:off x="8725662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07-mark221"/>
          <p:cNvSpPr/>
          <p:nvPr/>
        </p:nvSpPr>
        <p:spPr>
          <a:xfrm flipV="1">
            <a:off x="9041130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4" name="S07-mark222"/>
          <p:cNvSpPr/>
          <p:nvPr/>
        </p:nvSpPr>
        <p:spPr>
          <a:xfrm flipV="1">
            <a:off x="935659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5" name="S07-mark223"/>
          <p:cNvSpPr/>
          <p:nvPr/>
        </p:nvSpPr>
        <p:spPr>
          <a:xfrm flipV="1">
            <a:off x="9672066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6" name="S07-mark224"/>
          <p:cNvSpPr/>
          <p:nvPr/>
        </p:nvSpPr>
        <p:spPr>
          <a:xfrm flipV="1">
            <a:off x="9987534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7" name="S07-mark225"/>
          <p:cNvSpPr/>
          <p:nvPr/>
        </p:nvSpPr>
        <p:spPr>
          <a:xfrm flipV="1">
            <a:off x="10303002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8" name="S07-mark226"/>
          <p:cNvSpPr/>
          <p:nvPr/>
        </p:nvSpPr>
        <p:spPr>
          <a:xfrm flipV="1">
            <a:off x="10618470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9" name="S07-mark227"/>
          <p:cNvSpPr/>
          <p:nvPr/>
        </p:nvSpPr>
        <p:spPr>
          <a:xfrm>
            <a:off x="8094726" y="5029200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0" name="S07-mark228"/>
          <p:cNvSpPr/>
          <p:nvPr/>
        </p:nvSpPr>
        <p:spPr>
          <a:xfrm>
            <a:off x="8094726" y="4713732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1" name="S07-mark229"/>
          <p:cNvSpPr/>
          <p:nvPr/>
        </p:nvSpPr>
        <p:spPr>
          <a:xfrm>
            <a:off x="8094726" y="4398264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2" name="S07-mark230"/>
          <p:cNvSpPr/>
          <p:nvPr/>
        </p:nvSpPr>
        <p:spPr>
          <a:xfrm>
            <a:off x="8094726" y="4082796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3" name="S07-mark231"/>
          <p:cNvSpPr/>
          <p:nvPr/>
        </p:nvSpPr>
        <p:spPr>
          <a:xfrm>
            <a:off x="8094726" y="3767328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4" name="S07-mark232"/>
          <p:cNvSpPr/>
          <p:nvPr/>
        </p:nvSpPr>
        <p:spPr>
          <a:xfrm>
            <a:off x="8094726" y="3451860"/>
            <a:ext cx="25237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5" name="S07-figure233" descr="모눈 위에서 서로 엇갈려 만나는 두 직선"/>
          <p:cNvSpPr/>
          <p:nvPr/>
        </p:nvSpPr>
        <p:spPr>
          <a:xfrm flipV="1">
            <a:off x="8410194" y="3767328"/>
            <a:ext cx="1892808" cy="94640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6" name="S07-mark234"/>
          <p:cNvSpPr/>
          <p:nvPr/>
        </p:nvSpPr>
        <p:spPr>
          <a:xfrm>
            <a:off x="8410194" y="3767328"/>
            <a:ext cx="1892808" cy="94640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사이의 거리</a:t>
            </a:r>
            <a:endParaRPr lang="ko-KR" sz="4000" dirty="0"/>
          </a:p>
        </p:txBody>
      </p:sp>
      <p:sp>
        <p:nvSpPr>
          <p:cNvPr id="3" name="S08-text2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 cm예요.</a:t>
            </a:r>
            <a:endParaRPr lang="ko-KR" sz="3000" dirty="0"/>
          </a:p>
        </p:txBody>
      </p:sp>
      <p:sp>
        <p:nvSpPr>
          <p:cNvPr id="4" name="S08-mark236"/>
          <p:cNvSpPr/>
          <p:nvPr/>
        </p:nvSpPr>
        <p:spPr>
          <a:xfrm flipV="1">
            <a:off x="640080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8-mark237"/>
          <p:cNvSpPr/>
          <p:nvPr/>
        </p:nvSpPr>
        <p:spPr>
          <a:xfrm flipV="1">
            <a:off x="997353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8-mark238"/>
          <p:cNvSpPr/>
          <p:nvPr/>
        </p:nvSpPr>
        <p:spPr>
          <a:xfrm flipV="1">
            <a:off x="1354626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239"/>
          <p:cNvSpPr/>
          <p:nvPr/>
        </p:nvSpPr>
        <p:spPr>
          <a:xfrm flipV="1">
            <a:off x="1711900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240"/>
          <p:cNvSpPr/>
          <p:nvPr/>
        </p:nvSpPr>
        <p:spPr>
          <a:xfrm flipV="1">
            <a:off x="2069173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241"/>
          <p:cNvSpPr/>
          <p:nvPr/>
        </p:nvSpPr>
        <p:spPr>
          <a:xfrm flipV="1">
            <a:off x="2426446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242"/>
          <p:cNvSpPr/>
          <p:nvPr/>
        </p:nvSpPr>
        <p:spPr>
          <a:xfrm flipV="1">
            <a:off x="2783719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43"/>
          <p:cNvSpPr/>
          <p:nvPr/>
        </p:nvSpPr>
        <p:spPr>
          <a:xfrm flipV="1">
            <a:off x="3140993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44"/>
          <p:cNvSpPr/>
          <p:nvPr/>
        </p:nvSpPr>
        <p:spPr>
          <a:xfrm flipV="1">
            <a:off x="3498266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245"/>
          <p:cNvSpPr/>
          <p:nvPr/>
        </p:nvSpPr>
        <p:spPr>
          <a:xfrm flipV="1">
            <a:off x="3855539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246"/>
          <p:cNvSpPr/>
          <p:nvPr/>
        </p:nvSpPr>
        <p:spPr>
          <a:xfrm flipV="1">
            <a:off x="4212812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247"/>
          <p:cNvSpPr/>
          <p:nvPr/>
        </p:nvSpPr>
        <p:spPr>
          <a:xfrm flipV="1">
            <a:off x="4570085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248"/>
          <p:cNvSpPr/>
          <p:nvPr/>
        </p:nvSpPr>
        <p:spPr>
          <a:xfrm flipV="1">
            <a:off x="4927359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249"/>
          <p:cNvSpPr/>
          <p:nvPr/>
        </p:nvSpPr>
        <p:spPr>
          <a:xfrm flipV="1">
            <a:off x="5284632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mark250"/>
          <p:cNvSpPr/>
          <p:nvPr/>
        </p:nvSpPr>
        <p:spPr>
          <a:xfrm flipV="1">
            <a:off x="5641905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8-mark251"/>
          <p:cNvSpPr/>
          <p:nvPr/>
        </p:nvSpPr>
        <p:spPr>
          <a:xfrm flipV="1">
            <a:off x="5999178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8-mark252"/>
          <p:cNvSpPr/>
          <p:nvPr/>
        </p:nvSpPr>
        <p:spPr>
          <a:xfrm flipV="1">
            <a:off x="6356452" y="3221617"/>
            <a:ext cx="0" cy="178636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8-mark253"/>
          <p:cNvSpPr/>
          <p:nvPr/>
        </p:nvSpPr>
        <p:spPr>
          <a:xfrm>
            <a:off x="640080" y="5007983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8-mark254"/>
          <p:cNvSpPr/>
          <p:nvPr/>
        </p:nvSpPr>
        <p:spPr>
          <a:xfrm>
            <a:off x="640080" y="4650710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8-mark255"/>
          <p:cNvSpPr/>
          <p:nvPr/>
        </p:nvSpPr>
        <p:spPr>
          <a:xfrm>
            <a:off x="640080" y="4293437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8-mark256"/>
          <p:cNvSpPr/>
          <p:nvPr/>
        </p:nvSpPr>
        <p:spPr>
          <a:xfrm>
            <a:off x="640080" y="3936163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8-mark257"/>
          <p:cNvSpPr/>
          <p:nvPr/>
        </p:nvSpPr>
        <p:spPr>
          <a:xfrm>
            <a:off x="640080" y="3578890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8-mark258"/>
          <p:cNvSpPr/>
          <p:nvPr/>
        </p:nvSpPr>
        <p:spPr>
          <a:xfrm>
            <a:off x="640080" y="3221617"/>
            <a:ext cx="571637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8-mark259"/>
          <p:cNvSpPr/>
          <p:nvPr/>
        </p:nvSpPr>
        <p:spPr>
          <a:xfrm>
            <a:off x="2426446" y="44221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8-mark260"/>
          <p:cNvSpPr/>
          <p:nvPr/>
        </p:nvSpPr>
        <p:spPr>
          <a:xfrm>
            <a:off x="3855539" y="44221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8-figure261" descr="모눈 위의 가로 평행선 두 개. 그 사이에 수직으로 그은 선분 두 개는 모두 3 cm, 비스듬한 점선 선분은 더 김"/>
          <p:cNvSpPr/>
          <p:nvPr/>
        </p:nvSpPr>
        <p:spPr>
          <a:xfrm>
            <a:off x="1283172" y="4650710"/>
            <a:ext cx="443018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0" name="S08-mark262"/>
          <p:cNvSpPr/>
          <p:nvPr/>
        </p:nvSpPr>
        <p:spPr>
          <a:xfrm>
            <a:off x="1283172" y="3578890"/>
            <a:ext cx="443018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1" name="S08-mark263"/>
          <p:cNvSpPr/>
          <p:nvPr/>
        </p:nvSpPr>
        <p:spPr>
          <a:xfrm flipV="1">
            <a:off x="2426446" y="3578890"/>
            <a:ext cx="0" cy="1071820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</a:ln>
        </p:spPr>
      </p:sp>
      <p:sp>
        <p:nvSpPr>
          <p:cNvPr id="32" name="S08-mark264"/>
          <p:cNvSpPr/>
          <p:nvPr/>
        </p:nvSpPr>
        <p:spPr>
          <a:xfrm flipV="1">
            <a:off x="3855539" y="3578890"/>
            <a:ext cx="0" cy="1071820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</a:ln>
        </p:spPr>
      </p:sp>
      <p:sp>
        <p:nvSpPr>
          <p:cNvPr id="33" name="S08-mark265"/>
          <p:cNvSpPr/>
          <p:nvPr/>
        </p:nvSpPr>
        <p:spPr>
          <a:xfrm flipV="1">
            <a:off x="4570085" y="3578890"/>
            <a:ext cx="714546" cy="107182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4" name="S08-label267"/>
          <p:cNvSpPr txBox="1"/>
          <p:nvPr/>
        </p:nvSpPr>
        <p:spPr>
          <a:xfrm>
            <a:off x="2443694" y="392430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35" name="S08-label269"/>
          <p:cNvSpPr txBox="1"/>
          <p:nvPr/>
        </p:nvSpPr>
        <p:spPr>
          <a:xfrm>
            <a:off x="3872787" y="392430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400" dirty="0"/>
          </a:p>
        </p:txBody>
      </p:sp>
      <p:sp>
        <p:nvSpPr>
          <p:cNvPr id="36" name="S08-card270"/>
          <p:cNvSpPr/>
          <p:nvPr/>
        </p:nvSpPr>
        <p:spPr>
          <a:xfrm>
            <a:off x="6813652" y="2386584"/>
            <a:ext cx="4826660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7" name="S08-cardtext271"/>
          <p:cNvSpPr txBox="1"/>
          <p:nvPr/>
        </p:nvSpPr>
        <p:spPr>
          <a:xfrm>
            <a:off x="7087972" y="2523744"/>
            <a:ext cx="4278020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사이의 거리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사이에 그은 수선의 길이예요.</a:t>
            </a:r>
            <a:endParaRPr lang="ko-KR" sz="3000" dirty="0"/>
          </a:p>
        </p:txBody>
      </p:sp>
      <p:sp>
        <p:nvSpPr>
          <p:cNvPr id="38" name="S08-card272"/>
          <p:cNvSpPr/>
          <p:nvPr/>
        </p:nvSpPr>
        <p:spPr>
          <a:xfrm>
            <a:off x="6813652" y="4229100"/>
            <a:ext cx="4826660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9" name="S08-cardtext273"/>
          <p:cNvSpPr txBox="1"/>
          <p:nvPr/>
        </p:nvSpPr>
        <p:spPr>
          <a:xfrm>
            <a:off x="7087972" y="4366260"/>
            <a:ext cx="4278020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재도 같아요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비스듬한 점선은 더 길어서 거리가 아니에요.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찾아요</a:t>
            </a:r>
            <a:endParaRPr lang="ko-KR" sz="4000" dirty="0"/>
          </a:p>
        </p:txBody>
      </p:sp>
      <p:sp>
        <p:nvSpPr>
          <p:cNvPr id="3" name="S09-text2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 cm예요.</a:t>
            </a:r>
            <a:endParaRPr lang="ko-KR" sz="3000" dirty="0"/>
          </a:p>
        </p:txBody>
      </p:sp>
      <p:sp>
        <p:nvSpPr>
          <p:cNvPr id="4" name="S09-mark275"/>
          <p:cNvSpPr/>
          <p:nvPr/>
        </p:nvSpPr>
        <p:spPr>
          <a:xfrm flipV="1">
            <a:off x="6643116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9-mark276"/>
          <p:cNvSpPr/>
          <p:nvPr/>
        </p:nvSpPr>
        <p:spPr>
          <a:xfrm flipV="1">
            <a:off x="6973933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9-mark277"/>
          <p:cNvSpPr/>
          <p:nvPr/>
        </p:nvSpPr>
        <p:spPr>
          <a:xfrm flipV="1">
            <a:off x="7304750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9-mark278"/>
          <p:cNvSpPr/>
          <p:nvPr/>
        </p:nvSpPr>
        <p:spPr>
          <a:xfrm flipV="1">
            <a:off x="7635567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9-mark279"/>
          <p:cNvSpPr/>
          <p:nvPr/>
        </p:nvSpPr>
        <p:spPr>
          <a:xfrm flipV="1">
            <a:off x="7966383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9-mark280"/>
          <p:cNvSpPr/>
          <p:nvPr/>
        </p:nvSpPr>
        <p:spPr>
          <a:xfrm flipV="1">
            <a:off x="8297200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281"/>
          <p:cNvSpPr/>
          <p:nvPr/>
        </p:nvSpPr>
        <p:spPr>
          <a:xfrm flipV="1">
            <a:off x="8628017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282"/>
          <p:cNvSpPr/>
          <p:nvPr/>
        </p:nvSpPr>
        <p:spPr>
          <a:xfrm flipV="1">
            <a:off x="8958834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283"/>
          <p:cNvSpPr/>
          <p:nvPr/>
        </p:nvSpPr>
        <p:spPr>
          <a:xfrm flipV="1">
            <a:off x="9289651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284"/>
          <p:cNvSpPr/>
          <p:nvPr/>
        </p:nvSpPr>
        <p:spPr>
          <a:xfrm flipV="1">
            <a:off x="9620468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285"/>
          <p:cNvSpPr/>
          <p:nvPr/>
        </p:nvSpPr>
        <p:spPr>
          <a:xfrm flipV="1">
            <a:off x="9951285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286"/>
          <p:cNvSpPr/>
          <p:nvPr/>
        </p:nvSpPr>
        <p:spPr>
          <a:xfrm flipV="1">
            <a:off x="10282101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287"/>
          <p:cNvSpPr/>
          <p:nvPr/>
        </p:nvSpPr>
        <p:spPr>
          <a:xfrm flipV="1">
            <a:off x="10612918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mark288"/>
          <p:cNvSpPr/>
          <p:nvPr/>
        </p:nvSpPr>
        <p:spPr>
          <a:xfrm flipV="1">
            <a:off x="10943735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9-mark289"/>
          <p:cNvSpPr/>
          <p:nvPr/>
        </p:nvSpPr>
        <p:spPr>
          <a:xfrm flipV="1">
            <a:off x="11274552" y="3122349"/>
            <a:ext cx="0" cy="198490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9-mark290"/>
          <p:cNvSpPr/>
          <p:nvPr/>
        </p:nvSpPr>
        <p:spPr>
          <a:xfrm>
            <a:off x="6643116" y="5107251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9-mark291"/>
          <p:cNvSpPr/>
          <p:nvPr/>
        </p:nvSpPr>
        <p:spPr>
          <a:xfrm>
            <a:off x="6643116" y="4776434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9-mark292"/>
          <p:cNvSpPr/>
          <p:nvPr/>
        </p:nvSpPr>
        <p:spPr>
          <a:xfrm>
            <a:off x="6643116" y="4445617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9-mark293"/>
          <p:cNvSpPr/>
          <p:nvPr/>
        </p:nvSpPr>
        <p:spPr>
          <a:xfrm>
            <a:off x="6643116" y="4114800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9-mark294"/>
          <p:cNvSpPr/>
          <p:nvPr/>
        </p:nvSpPr>
        <p:spPr>
          <a:xfrm>
            <a:off x="6643116" y="3783983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9-mark295"/>
          <p:cNvSpPr/>
          <p:nvPr/>
        </p:nvSpPr>
        <p:spPr>
          <a:xfrm>
            <a:off x="6643116" y="3453166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9-mark296"/>
          <p:cNvSpPr/>
          <p:nvPr/>
        </p:nvSpPr>
        <p:spPr>
          <a:xfrm>
            <a:off x="6643116" y="3122349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9-figure297" descr="모눈 위 가로 평행선 두 개 사이의 선분 ㄱㄴ(세로, 4칸)과 비스듬한 선분 ㄷㄹ"/>
          <p:cNvSpPr/>
          <p:nvPr/>
        </p:nvSpPr>
        <p:spPr>
          <a:xfrm>
            <a:off x="7238586" y="4776434"/>
            <a:ext cx="34404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09-mark298"/>
          <p:cNvSpPr/>
          <p:nvPr/>
        </p:nvSpPr>
        <p:spPr>
          <a:xfrm>
            <a:off x="7238586" y="3453166"/>
            <a:ext cx="34404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09-mark299"/>
          <p:cNvSpPr/>
          <p:nvPr/>
        </p:nvSpPr>
        <p:spPr>
          <a:xfrm>
            <a:off x="7966383" y="3453166"/>
            <a:ext cx="0" cy="1323267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</a:ln>
        </p:spPr>
      </p:sp>
      <p:sp>
        <p:nvSpPr>
          <p:cNvPr id="29" name="S09-mark300"/>
          <p:cNvSpPr/>
          <p:nvPr/>
        </p:nvSpPr>
        <p:spPr>
          <a:xfrm flipV="1">
            <a:off x="8958834" y="3453166"/>
            <a:ext cx="992451" cy="1323267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</a:ln>
        </p:spPr>
      </p:sp>
      <p:sp>
        <p:nvSpPr>
          <p:cNvPr id="30" name="S09-mark301"/>
          <p:cNvSpPr/>
          <p:nvPr/>
        </p:nvSpPr>
        <p:spPr>
          <a:xfrm>
            <a:off x="7906947" y="339373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9-mark302"/>
          <p:cNvSpPr/>
          <p:nvPr/>
        </p:nvSpPr>
        <p:spPr>
          <a:xfrm>
            <a:off x="7906947" y="471699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9-mark303"/>
          <p:cNvSpPr/>
          <p:nvPr/>
        </p:nvSpPr>
        <p:spPr>
          <a:xfrm>
            <a:off x="8899398" y="471699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9-mark304"/>
          <p:cNvSpPr/>
          <p:nvPr/>
        </p:nvSpPr>
        <p:spPr>
          <a:xfrm>
            <a:off x="9891849" y="339373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9-label306"/>
          <p:cNvSpPr txBox="1"/>
          <p:nvPr/>
        </p:nvSpPr>
        <p:spPr>
          <a:xfrm>
            <a:off x="7539963" y="302674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35" name="S09-label308"/>
          <p:cNvSpPr txBox="1"/>
          <p:nvPr/>
        </p:nvSpPr>
        <p:spPr>
          <a:xfrm>
            <a:off x="7539963" y="469485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36" name="S09-label310"/>
          <p:cNvSpPr txBox="1"/>
          <p:nvPr/>
        </p:nvSpPr>
        <p:spPr>
          <a:xfrm>
            <a:off x="8877255" y="469485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37" name="S09-label312"/>
          <p:cNvSpPr txBox="1"/>
          <p:nvPr/>
        </p:nvSpPr>
        <p:spPr>
          <a:xfrm>
            <a:off x="9869705" y="302674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38" name="S09-chip3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9" name="S09-text314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사이의 거리를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나타내는 선분은?</a:t>
            </a:r>
            <a:endParaRPr lang="ko-KR" sz="3000" dirty="0"/>
          </a:p>
        </p:txBody>
      </p:sp>
      <p:sp>
        <p:nvSpPr>
          <p:cNvPr id="40" name="S09-chip31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1" name="S09-text316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사이의 거리는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cm?</a:t>
            </a:r>
            <a:endParaRPr lang="ko-KR" sz="3000" dirty="0"/>
          </a:p>
        </p:txBody>
      </p:sp>
      <p:sp>
        <p:nvSpPr>
          <p:cNvPr id="42" name="S09-chip31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3" name="S09-text318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ㄷㄹ(5 cm)이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거리가 아닌 까닭은?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3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 cm예요.</a:t>
            </a:r>
            <a:endParaRPr lang="ko-KR" sz="3000" dirty="0"/>
          </a:p>
        </p:txBody>
      </p:sp>
      <p:sp>
        <p:nvSpPr>
          <p:cNvPr id="4" name="S10-mark320"/>
          <p:cNvSpPr/>
          <p:nvPr/>
        </p:nvSpPr>
        <p:spPr>
          <a:xfrm flipV="1">
            <a:off x="639851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10-mark321"/>
          <p:cNvSpPr/>
          <p:nvPr/>
        </p:nvSpPr>
        <p:spPr>
          <a:xfrm flipV="1">
            <a:off x="676427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0-mark322"/>
          <p:cNvSpPr/>
          <p:nvPr/>
        </p:nvSpPr>
        <p:spPr>
          <a:xfrm flipV="1">
            <a:off x="713003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0-mark323"/>
          <p:cNvSpPr/>
          <p:nvPr/>
        </p:nvSpPr>
        <p:spPr>
          <a:xfrm flipV="1">
            <a:off x="749579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0-mark324"/>
          <p:cNvSpPr/>
          <p:nvPr/>
        </p:nvSpPr>
        <p:spPr>
          <a:xfrm flipV="1">
            <a:off x="786155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0-mark325"/>
          <p:cNvSpPr/>
          <p:nvPr/>
        </p:nvSpPr>
        <p:spPr>
          <a:xfrm flipV="1">
            <a:off x="822731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0-mark326"/>
          <p:cNvSpPr/>
          <p:nvPr/>
        </p:nvSpPr>
        <p:spPr>
          <a:xfrm flipV="1">
            <a:off x="859307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0-mark327"/>
          <p:cNvSpPr/>
          <p:nvPr/>
        </p:nvSpPr>
        <p:spPr>
          <a:xfrm flipV="1">
            <a:off x="895883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0-mark328"/>
          <p:cNvSpPr/>
          <p:nvPr/>
        </p:nvSpPr>
        <p:spPr>
          <a:xfrm flipV="1">
            <a:off x="932459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0-mark329"/>
          <p:cNvSpPr/>
          <p:nvPr/>
        </p:nvSpPr>
        <p:spPr>
          <a:xfrm flipV="1">
            <a:off x="969035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0-mark330"/>
          <p:cNvSpPr/>
          <p:nvPr/>
        </p:nvSpPr>
        <p:spPr>
          <a:xfrm flipV="1">
            <a:off x="1005611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mark331"/>
          <p:cNvSpPr/>
          <p:nvPr/>
        </p:nvSpPr>
        <p:spPr>
          <a:xfrm flipV="1">
            <a:off x="1042187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0-mark332"/>
          <p:cNvSpPr/>
          <p:nvPr/>
        </p:nvSpPr>
        <p:spPr>
          <a:xfrm flipV="1">
            <a:off x="1078763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0-mark333"/>
          <p:cNvSpPr/>
          <p:nvPr/>
        </p:nvSpPr>
        <p:spPr>
          <a:xfrm flipV="1">
            <a:off x="1115339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0-mark334"/>
          <p:cNvSpPr/>
          <p:nvPr/>
        </p:nvSpPr>
        <p:spPr>
          <a:xfrm flipV="1">
            <a:off x="11519154" y="2103120"/>
            <a:ext cx="0" cy="40233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0-mark335"/>
          <p:cNvSpPr/>
          <p:nvPr/>
        </p:nvSpPr>
        <p:spPr>
          <a:xfrm>
            <a:off x="6398514" y="612648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336"/>
          <p:cNvSpPr/>
          <p:nvPr/>
        </p:nvSpPr>
        <p:spPr>
          <a:xfrm>
            <a:off x="6398514" y="576072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337"/>
          <p:cNvSpPr/>
          <p:nvPr/>
        </p:nvSpPr>
        <p:spPr>
          <a:xfrm>
            <a:off x="6398514" y="539496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338"/>
          <p:cNvSpPr/>
          <p:nvPr/>
        </p:nvSpPr>
        <p:spPr>
          <a:xfrm>
            <a:off x="6398514" y="502920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339"/>
          <p:cNvSpPr/>
          <p:nvPr/>
        </p:nvSpPr>
        <p:spPr>
          <a:xfrm>
            <a:off x="6398514" y="466344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340"/>
          <p:cNvSpPr/>
          <p:nvPr/>
        </p:nvSpPr>
        <p:spPr>
          <a:xfrm>
            <a:off x="6398514" y="429768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341"/>
          <p:cNvSpPr/>
          <p:nvPr/>
        </p:nvSpPr>
        <p:spPr>
          <a:xfrm>
            <a:off x="6398514" y="393192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342"/>
          <p:cNvSpPr/>
          <p:nvPr/>
        </p:nvSpPr>
        <p:spPr>
          <a:xfrm>
            <a:off x="6398514" y="356616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mark343"/>
          <p:cNvSpPr/>
          <p:nvPr/>
        </p:nvSpPr>
        <p:spPr>
          <a:xfrm>
            <a:off x="6398514" y="320040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0-mark344"/>
          <p:cNvSpPr/>
          <p:nvPr/>
        </p:nvSpPr>
        <p:spPr>
          <a:xfrm>
            <a:off x="6398514" y="283464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0-mark345"/>
          <p:cNvSpPr/>
          <p:nvPr/>
        </p:nvSpPr>
        <p:spPr>
          <a:xfrm>
            <a:off x="6398514" y="246888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0-mark346"/>
          <p:cNvSpPr/>
          <p:nvPr/>
        </p:nvSpPr>
        <p:spPr>
          <a:xfrm>
            <a:off x="6398514" y="2103120"/>
            <a:ext cx="51206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0-figure347" descr="모눈 위 가로 직선 가와 다, 세로 직선 나, 비스듬한 직선 라"/>
          <p:cNvSpPr/>
          <p:nvPr/>
        </p:nvSpPr>
        <p:spPr>
          <a:xfrm>
            <a:off x="7056882" y="4663440"/>
            <a:ext cx="380390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2" name="S10-mark348"/>
          <p:cNvSpPr/>
          <p:nvPr/>
        </p:nvSpPr>
        <p:spPr>
          <a:xfrm flipV="1">
            <a:off x="8227314" y="2761488"/>
            <a:ext cx="0" cy="270662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3" name="S10-mark349"/>
          <p:cNvSpPr/>
          <p:nvPr/>
        </p:nvSpPr>
        <p:spPr>
          <a:xfrm>
            <a:off x="7056882" y="3566160"/>
            <a:ext cx="380390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4" name="S10-mark350"/>
          <p:cNvSpPr/>
          <p:nvPr/>
        </p:nvSpPr>
        <p:spPr>
          <a:xfrm flipV="1">
            <a:off x="9098776" y="2824036"/>
            <a:ext cx="1548917" cy="258152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5" name="S10-label352"/>
          <p:cNvSpPr txBox="1"/>
          <p:nvPr/>
        </p:nvSpPr>
        <p:spPr>
          <a:xfrm>
            <a:off x="10839450" y="432663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36" name="S10-label354"/>
          <p:cNvSpPr txBox="1"/>
          <p:nvPr/>
        </p:nvSpPr>
        <p:spPr>
          <a:xfrm>
            <a:off x="8187690" y="26075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37" name="S10-label356"/>
          <p:cNvSpPr txBox="1"/>
          <p:nvPr/>
        </p:nvSpPr>
        <p:spPr>
          <a:xfrm>
            <a:off x="10839450" y="322935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38" name="S10-label358"/>
          <p:cNvSpPr txBox="1"/>
          <p:nvPr/>
        </p:nvSpPr>
        <p:spPr>
          <a:xfrm>
            <a:off x="10656570" y="26075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39" name="S10-chip35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0" name="S10-text360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가에 대한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수선은?</a:t>
            </a:r>
            <a:endParaRPr lang="ko-KR" sz="3000" dirty="0"/>
          </a:p>
        </p:txBody>
      </p:sp>
      <p:sp>
        <p:nvSpPr>
          <p:cNvPr id="41" name="S10-chip36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2" name="S10-text362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가와 평행한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직선은?</a:t>
            </a:r>
            <a:endParaRPr lang="ko-KR" sz="3000" dirty="0"/>
          </a:p>
        </p:txBody>
      </p:sp>
      <p:sp>
        <p:nvSpPr>
          <p:cNvPr id="43" name="S10-chip36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4" name="S10-text364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가와 직선 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사이의 거리는?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3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3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틀리면 접은 종이 직각을 대어 직각인지 먼저 확인하게 하세요.</a:t>
            </a:r>
            <a:endParaRPr lang="ko-KR" sz="3000" dirty="0"/>
          </a:p>
        </p:txBody>
      </p:sp>
      <p:sp>
        <p:nvSpPr>
          <p:cNvPr id="5" name="S11-chip36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368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직선 나</a:t>
            </a:r>
            <a:endParaRPr lang="ko-KR" sz="3000" dirty="0"/>
          </a:p>
        </p:txBody>
      </p:sp>
      <p:sp>
        <p:nvSpPr>
          <p:cNvPr id="7" name="S11-text369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직각으로 만남</a:t>
            </a:r>
            <a:endParaRPr lang="ko-KR" sz="2400" dirty="0"/>
          </a:p>
        </p:txBody>
      </p:sp>
      <p:sp>
        <p:nvSpPr>
          <p:cNvPr id="8" name="S11-text370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직선 다</a:t>
            </a:r>
            <a:endParaRPr lang="ko-KR" sz="3000" dirty="0"/>
          </a:p>
        </p:txBody>
      </p:sp>
      <p:sp>
        <p:nvSpPr>
          <p:cNvPr id="9" name="S11-text371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만나지 않음</a:t>
            </a:r>
            <a:endParaRPr lang="ko-KR" sz="2400" dirty="0"/>
          </a:p>
        </p:txBody>
      </p:sp>
      <p:sp>
        <p:nvSpPr>
          <p:cNvPr id="10" name="S11-text372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 cm</a:t>
            </a:r>
            <a:endParaRPr lang="ko-KR" sz="3000" dirty="0"/>
          </a:p>
        </p:txBody>
      </p:sp>
      <p:sp>
        <p:nvSpPr>
          <p:cNvPr id="11" name="S11-text373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수선의 길이</a:t>
            </a:r>
            <a:endParaRPr lang="ko-KR" sz="2400" dirty="0"/>
          </a:p>
        </p:txBody>
      </p:sp>
      <p:sp>
        <p:nvSpPr>
          <p:cNvPr id="12" name="S11-chip37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1-text37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나, 라</a:t>
            </a:r>
            <a:endParaRPr lang="ko-KR" sz="3000" dirty="0"/>
          </a:p>
        </p:txBody>
      </p:sp>
      <p:sp>
        <p:nvSpPr>
          <p:cNvPr id="14" name="S11-text37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비스듬해도 수선이라 봄</a:t>
            </a:r>
            <a:endParaRPr lang="ko-KR" sz="2400" dirty="0"/>
          </a:p>
        </p:txBody>
      </p:sp>
      <p:sp>
        <p:nvSpPr>
          <p:cNvPr id="15" name="S11-text37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 cm보다 김</a:t>
            </a:r>
            <a:endParaRPr lang="ko-KR" sz="3000" dirty="0"/>
          </a:p>
        </p:txBody>
      </p:sp>
      <p:sp>
        <p:nvSpPr>
          <p:cNvPr id="16" name="S11-text37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비스듬히 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 찾기</a:t>
            </a:r>
            <a:endParaRPr lang="ko-KR" sz="4000" dirty="0"/>
          </a:p>
        </p:txBody>
      </p:sp>
      <p:sp>
        <p:nvSpPr>
          <p:cNvPr id="3" name="S12-card3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변이 있는 도형을 모두 골라요. 몇 쌍인지도 말해요.</a:t>
            </a:r>
            <a:endParaRPr lang="ko-KR" sz="3000" dirty="0"/>
          </a:p>
        </p:txBody>
      </p:sp>
      <p:sp>
        <p:nvSpPr>
          <p:cNvPr id="5" name="S12-chip381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figure382" descr="직각삼각형"/>
          <p:cNvSpPr/>
          <p:nvPr/>
        </p:nvSpPr>
        <p:spPr>
          <a:xfrm>
            <a:off x="2576322" y="1417320"/>
            <a:ext cx="2103120" cy="1577340"/>
          </a:xfrm>
          <a:custGeom>
            <a:avLst/>
            <a:gdLst/>
            <a:ahLst/>
            <a:cxnLst/>
            <a:rect l="l" t="t" r="r" b="b"/>
            <a:pathLst>
              <a:path w="2103120" h="1577340">
                <a:moveTo>
                  <a:pt x="0" y="1577340"/>
                </a:moveTo>
                <a:lnTo>
                  <a:pt x="2103120" y="157734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2-mark383"/>
          <p:cNvSpPr/>
          <p:nvPr/>
        </p:nvSpPr>
        <p:spPr>
          <a:xfrm>
            <a:off x="2576322" y="27660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2-chip384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figure385" descr="위아래 두 변이 평행한 사각형(사다리꼴)"/>
          <p:cNvSpPr/>
          <p:nvPr/>
        </p:nvSpPr>
        <p:spPr>
          <a:xfrm>
            <a:off x="7779258" y="1417320"/>
            <a:ext cx="3154680" cy="1577340"/>
          </a:xfrm>
          <a:custGeom>
            <a:avLst/>
            <a:gdLst/>
            <a:ahLst/>
            <a:cxnLst/>
            <a:rect l="l" t="t" r="r" b="b"/>
            <a:pathLst>
              <a:path w="3154680" h="1577340">
                <a:moveTo>
                  <a:pt x="0" y="1577340"/>
                </a:moveTo>
                <a:lnTo>
                  <a:pt x="3154680" y="1577340"/>
                </a:lnTo>
                <a:lnTo>
                  <a:pt x="2523744" y="0"/>
                </a:lnTo>
                <a:lnTo>
                  <a:pt x="946404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2-chip386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2-figure387" descr="직사각형"/>
          <p:cNvSpPr/>
          <p:nvPr/>
        </p:nvSpPr>
        <p:spPr>
          <a:xfrm>
            <a:off x="2313432" y="3451860"/>
            <a:ext cx="2628900" cy="1577340"/>
          </a:xfrm>
          <a:custGeom>
            <a:avLst/>
            <a:gdLst/>
            <a:ahLst/>
            <a:cxnLst/>
            <a:rect l="l" t="t" r="r" b="b"/>
            <a:pathLst>
              <a:path w="2628900" h="1577340">
                <a:moveTo>
                  <a:pt x="0" y="1577340"/>
                </a:moveTo>
                <a:lnTo>
                  <a:pt x="2628900" y="1577340"/>
                </a:lnTo>
                <a:lnTo>
                  <a:pt x="2628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2-chip388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3" name="S12-figure389" descr="정오각형"/>
          <p:cNvSpPr/>
          <p:nvPr/>
        </p:nvSpPr>
        <p:spPr>
          <a:xfrm>
            <a:off x="8527334" y="3451860"/>
            <a:ext cx="1658527" cy="1577340"/>
          </a:xfrm>
          <a:custGeom>
            <a:avLst/>
            <a:gdLst/>
            <a:ahLst/>
            <a:cxnLst/>
            <a:rect l="l" t="t" r="r" b="b"/>
            <a:pathLst>
              <a:path w="1658527" h="1577340">
                <a:moveTo>
                  <a:pt x="829264" y="0"/>
                </a:moveTo>
                <a:lnTo>
                  <a:pt x="0" y="602511"/>
                </a:lnTo>
                <a:lnTo>
                  <a:pt x="316757" y="1577340"/>
                </a:lnTo>
                <a:lnTo>
                  <a:pt x="1341771" y="1577340"/>
                </a:lnTo>
                <a:lnTo>
                  <a:pt x="1658527" y="602511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9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9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직각으로 만나면 수직, 늘여도 만나지 않으면 평행이에요.</a:t>
            </a:r>
            <a:endParaRPr lang="ko-KR" sz="3000" dirty="0"/>
          </a:p>
        </p:txBody>
      </p:sp>
      <p:sp>
        <p:nvSpPr>
          <p:cNvPr id="5" name="S13-chip39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삼각자의 직각 대어 보기</a:t>
            </a:r>
            <a:endParaRPr lang="ko-KR" sz="2400" dirty="0"/>
          </a:p>
        </p:txBody>
      </p:sp>
      <p:sp>
        <p:nvSpPr>
          <p:cNvPr id="6" name="S13-chip39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비스듬한 선분으로 거리 재기</a:t>
            </a:r>
            <a:endParaRPr lang="ko-KR" sz="2400" dirty="0"/>
          </a:p>
        </p:txBody>
      </p:sp>
      <p:sp>
        <p:nvSpPr>
          <p:cNvPr id="7" name="S13-text39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39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수선과 직선이 만나서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이루는 각은 몇 도?</a:t>
            </a:r>
            <a:endParaRPr lang="ko-KR" sz="2400" dirty="0"/>
          </a:p>
        </p:txBody>
      </p:sp>
      <p:sp>
        <p:nvSpPr>
          <p:cNvPr id="9" name="S13-text39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직선에 수직인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직선의 관계는?</a:t>
            </a:r>
            <a:endParaRPr lang="ko-KR" sz="2400" dirty="0"/>
          </a:p>
        </p:txBody>
      </p:sp>
      <p:sp>
        <p:nvSpPr>
          <p:cNvPr id="10" name="S13-text39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평행선 사이의 거리는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선분의 길이?</a:t>
            </a:r>
            <a:endParaRPr lang="ko-KR" sz="2400" dirty="0"/>
          </a:p>
        </p:txBody>
      </p:sp>
      <p:sp>
        <p:nvSpPr>
          <p:cNvPr id="11" name="S13-text39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여러 가지 사각형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직선과 직각</a:t>
            </a:r>
            <a:endParaRPr lang="ko-KR" sz="4000" dirty="0"/>
          </a:p>
        </p:txBody>
      </p:sp>
      <p:sp>
        <p:nvSpPr>
          <p:cNvPr id="3" name="S14-card399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400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양쪽으로 끝없이 늘인 곧은 선이에요.</a:t>
            </a:r>
            <a:endParaRPr lang="ko-KR" sz="3000" dirty="0"/>
          </a:p>
        </p:txBody>
      </p:sp>
      <p:sp>
        <p:nvSpPr>
          <p:cNvPr id="5" name="S14-card401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402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반듯하게 두 번 접으면 생기는 각, 90°예요.</a:t>
            </a:r>
            <a:endParaRPr lang="ko-KR" sz="3000" dirty="0"/>
          </a:p>
        </p:txBody>
      </p:sp>
      <p:sp>
        <p:nvSpPr>
          <p:cNvPr id="7" name="S14-figure403" descr="점 ㄱ과 점 ㄴ을 지나 양쪽으로 늘인 직선"/>
          <p:cNvSpPr/>
          <p:nvPr/>
        </p:nvSpPr>
        <p:spPr>
          <a:xfrm>
            <a:off x="914400" y="2608326"/>
            <a:ext cx="46542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4-mark404"/>
          <p:cNvSpPr/>
          <p:nvPr/>
        </p:nvSpPr>
        <p:spPr>
          <a:xfrm>
            <a:off x="1727645" y="254889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mark405"/>
          <p:cNvSpPr/>
          <p:nvPr/>
        </p:nvSpPr>
        <p:spPr>
          <a:xfrm>
            <a:off x="4636580" y="254889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label407"/>
          <p:cNvSpPr txBox="1"/>
          <p:nvPr/>
        </p:nvSpPr>
        <p:spPr>
          <a:xfrm>
            <a:off x="1533080" y="211048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1" name="S14-label409"/>
          <p:cNvSpPr txBox="1"/>
          <p:nvPr/>
        </p:nvSpPr>
        <p:spPr>
          <a:xfrm>
            <a:off x="4442016" y="211048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2" name="S14-label410"/>
          <p:cNvSpPr txBox="1"/>
          <p:nvPr/>
        </p:nvSpPr>
        <p:spPr>
          <a:xfrm>
            <a:off x="548640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ㄱㄴ</a:t>
            </a:r>
            <a:endParaRPr lang="ko-KR" sz="2400" dirty="0"/>
          </a:p>
        </p:txBody>
      </p:sp>
      <p:sp>
        <p:nvSpPr>
          <p:cNvPr id="13" name="S14-mark411"/>
          <p:cNvSpPr/>
          <p:nvPr/>
        </p:nvSpPr>
        <p:spPr>
          <a:xfrm>
            <a:off x="7804404" y="35227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22860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4-figure412" descr="직각 표시가 있는 직각"/>
          <p:cNvSpPr/>
          <p:nvPr/>
        </p:nvSpPr>
        <p:spPr>
          <a:xfrm>
            <a:off x="7804404" y="3751326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14-mark413"/>
          <p:cNvSpPr/>
          <p:nvPr/>
        </p:nvSpPr>
        <p:spPr>
          <a:xfrm flipV="1">
            <a:off x="7804404" y="1465326"/>
            <a:ext cx="0" cy="22860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14-label414"/>
          <p:cNvSpPr txBox="1"/>
          <p:nvPr/>
        </p:nvSpPr>
        <p:spPr>
          <a:xfrm>
            <a:off x="6254496" y="3963924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직각(90°)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수직과 평행</dc:title>
  <dc:subject>KR22-G04-MAT-PERPPAR-L01</dc:subject>
  <dc:creator>education-ppt</dc:creator>
  <cp:lastModifiedBy>education-ppt</cp:lastModifiedBy>
  <cp:revision>1</cp:revision>
  <dcterms:created xsi:type="dcterms:W3CDTF">2026-10-26T08:18:04Z</dcterms:created>
  <dcterms:modified xsi:type="dcterms:W3CDTF">2026-10-26T08:18:04Z</dcterms:modified>
</cp:coreProperties>
</file>