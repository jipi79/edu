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713f6a9-faef-a7ee-8872-f5ec9b8b76ba}">
          <p14:sldIdLst>
            <p14:sldId id="256"/>
            <p14:sldId id="257"/>
          </p14:sldIdLst>
        </p14:section>
        <p14:section name="개념" id="{5aaa8b96-ea34-6c97-2fd0-b7ce972e6a06}">
          <p14:sldIdLst>
            <p14:sldId id="258"/>
            <p14:sldId id="260"/>
            <p14:sldId id="261"/>
          </p14:sldIdLst>
        </p14:section>
        <p14:section name="연습" id="{e8768d64-2def-24a4-f237-3adeeb3e569d}">
          <p14:sldIdLst>
            <p14:sldId id="259"/>
            <p14:sldId id="262"/>
            <p14:sldId id="263"/>
            <p14:sldId id="264"/>
          </p14:sldIdLst>
        </p14:section>
        <p14:section name="개념" id="{26bd05e8-dd5e-fd69-b9b7-d000264dcb75}">
          <p14:sldIdLst/>
        </p14:section>
        <p14:section name="연습" id="{f7ae2a41-e6f1-2adb-df5a-a71c6a374f91}">
          <p14:sldIdLst/>
        </p14:section>
        <p14:section name="확인" id="{10a9dbd8-b51f-68b3-e5ef-5b5c20bf9753}">
          <p14:sldIdLst>
            <p14:sldId id="265"/>
            <p14:sldId id="266"/>
            <p14:sldId id="267"/>
          </p14:sldIdLst>
        </p14:section>
        <p14:section name="정리" id="{30e3c5b2-db36-0b14-14b2-97381f5956a0}">
          <p14:sldIdLst>
            <p14:sldId id="268"/>
          </p14:sldIdLst>
        </p14:section>
        <p14:section name="보충" id="{59b39e51-7d72-363d-ae41-ae01a0f0249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계산하지 않아도 규칙을 찾으면 다음 식의 답을 미리 짐작할 수 있다는 호기심을 갖게 합니다.
시간: 약 2분
이렇게 말해 보세요
- “11 × 11과 111 × 111의 답을 봐. 1111 × 1111의 답은 무엇일 것 같아? 계산하지 말고 짐작만 해 봐.”
- “오늘은 이런 규칙을 찾아서 다음 식을 추측하는 공부를 할 거야.”
예상 답
- “1234321이요.” “모르겠어요.” 어떤 답이든 괜찮습니다.
막히면
- 답을 확인하지 않고 넘어갑니다. 아이의 짐작을 종이에 적어 두고 S06에서 확인합니다.
주의
- 1111 × 1111 = 1234321입니다. 지금은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확인(수의 배열에서 규칙 찾기)]
목적: 수가 얼마씩 커지거나 작아지는지 찾아 다음 수를 구할 수 있는지 확인합니다.
시간: 약 3분
이렇게 말해 보세요
- “①은 수가 얼마씩 커져? 그러면 □는?”
- “②와 ③은 어떤 규칙이야? 어떻게 알았어?”
정답
- ① 25(5씩 커짐)
- ② 401(100씩 커짐, 백의 자리 숫자가 1씩 커짐)
- ③ 35(5씩 작아짐)
막히면
- 이웃한 두 수의 차를 빼서 구하게 합니다(10 − 5 = 5).
- 규칙을 찾지 못하면 S14(보충)를 먼저 합니다. 보충으로도 어려우면 앞 차시 ‘무늬와 수의 규칙’(2학년)를 다시 합니다.
주의
- ③처럼 작아지는 규칙도 있다는 것을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수 배열표에서 방향별 규칙 찾기]
목적: 수 배열표에서 가로(→)·세로(↓)·대각선(↘) 방향으로 수가 얼마씩 변하는지, 어느 자리 숫자가 변하는지 찾습니다.
시간: 약 3분
이렇게 말해 보세요
- “첫째 줄을 오른쪽으로 읽어 봐. 어느 자리 숫자가 바뀌어? 얼마씩 커져?”
- “첫째 칸을 아래로 읽으면? 어느 자리 숫자가 바뀌어?”
- “1301에서 오른쪽 아래(↘)로 가면 2311이야. 얼마 커졌어?”
예상 답
- “십의 자리 숫자가 1씩 커져요. 10씩 커져요.” “천의 자리 숫자가 1씩 커져요. 1000씩 커져요.” “1010씩 커져요.”
막히면
- 두 수를 위아래로 써서 자리마다 비교하게 합니다(1301과 1311 → 십의 자리만 다름).
주의
- ↘ 방향은 오른쪽(10)과 아래(1000)를 한 번씩 간 것이라 1010씩 커집니다. 2311 − 1301 = 1010으로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안내받는 연습(수 배열표의 빈칸)]
목적: 도움을 받으며 수 배열표의 가로·세로 규칙을 찾아 빈칸의 수를 구합니다.
시간: 약 3분
이렇게 말해 보세요
- “가로로 가면 어느 자리 숫자가 바뀌어? 얼마씩 커져? 세로는?”
- “둘째 줄의 □는 5200 아래에 있어. 그러면 얼마일까? 옆의 수로도 확인해 봐.”
정답
- ① 가로(→) 100씩 커짐, 세로(↓) 1000씩 커짐
- ② 둘째 줄 □ 6200, 셋째 줄 □ 7300
막히면
- □의 위쪽 수와 왼쪽 수를 손가락으로 짚고 각각 규칙을 적용하게 합니다(5200 + 1000, 6100 + 100).
주의
- 두 방향 규칙으로 구한 답이 같은지 확인하면 실수를 줄일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덧셈식의 규칙 찾기와 다음 식 추측(시범)]
목적: 덧셈식의 배열에서 변하는 부분(더하는 두 수)과 결과(합)가 어떻게 변하는지 찾고, 다음 식을 추측한 뒤 계산으로 확인하는 방법을 보여 줍니다.
시간: 약 4분
이렇게 말해 보세요
- “위에서 아래로 내려가면서 더하는 두 수는 각각 얼마씩 커져?”
- “합은 303, 505, 707, 909야. 얼마씩 커져? 왜 202씩일까?”
- “다음에 올 식은 무엇일까? 합을 추측해 보고 직접 계산해서 확인하자.”
예상 답
- “101씩 커져요.” “합은 202씩 커져요. 두 수가 모두 101씩 커지니까요.” “505 + 606 = 1111이에요.”
막히면
- 합끼리 빼서(505 − 303 = 202) 얼마씩 커지는지 구하게 합니다.
주의
- 추측(909 + 202 = 1111)과 계산(505 + 606 = 1111)이 같은지 꼭 비교합니다. 규칙은 계산으로 확인해야 믿을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곱셈식의 규칙 찾기(1이 늘어나는 곱셈)]
목적: 곱셈식의 배열에서 곱하는 수의 1의 개수와 곱의 모양 사이의 규칙을 찾고 다음 식의 곱을 추측합니다.
시간: 약 4분
이렇게 말해 보세요
- “곱하는 두 수는 어떻게 변해? 곱은 어떤 모양이야?”
- “곱의 가운데 숫자는 무엇과 같아? 1111 × 1111은 가운데가 4지?”
- “11111 × 11111의 곱은 무엇일까? 추측해 봐.”
예상 답
- “1이 하나씩 늘어나요.” “1, 2, 3, 2, 1처럼 커졌다가 작아져요.” “가운데 숫자는 1의 개수예요.” “123454321이에요.”
정답
- 11111 × 11111 = 123454321
막히면
- 곱을 한 줄씩 손가락으로 짚으며 “1 2 1”, “1 2 3 2 1”처럼 소리 내어 읽게 합니다.
주의
- S01에서 적어 둔 아이의 짐작과 비교합니다.
- 이 규칙은 1이 9개(111111111 × 111111111 = 12345678987654321)까지만 맞고, 1이 10개가 되면 1234567900987654321로 깨집니다. 아이가 ‘항상 그래요?’라고 물으면 알려 줍니다. 규칙은 몇 개의 식에서 찾은 추측이라 확인이 필요하다는 예입니다(M2).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연습(뺄셈식의 규칙)]
목적: 도움을 받으며 빼지는 수와 빼는 수가 똑같이 커지면 차가 그대로라는 규칙을 찾고 다음 식을 완성합니다.
시간: 약 3분
이렇게 말해 보세요
- “오른쪽 두 식에서 빼지는 수와 빼는 수는 각각 얼마씩 커졌어? 차는?”
- “그러면 셋째 식 850 − 350은 얼마일까? 계산해서 확인해 봐.”
- “넷째 식의 □는 무엇일까?”
정답
- ① 500
- ② 450
- ③ 빼지는 수와 빼는 수가 똑같이 100씩 커지면 차는 500으로 같습니다.
막히면
- 빼지는 수끼리, 빼는 수끼리 화살표를 그어 얼마씩 커졌는지 쓰게 합니다.
주의
- 덧셈식은 두 수가 커지면 합도 커지지만, 뺄셈식은 두 수가 똑같이 커지면 차가 그대로라는 차이를 말로 비교하게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연습(나눗셈식의 규칙)]
목적: 도움을 받으며 나누어지는 수의 2가 하나씩 늘면 몫의 1이 하나씩 느는 규칙을 찾아 다음 식을 추측합니다.
시간: 약 3분
이렇게 말해 보세요
- “나누어지는 수는 어떻게 변해? 몫은?”
- “다음 식 122221 ÷ 11의 몫은 무엇일까? 몫에 11을 곱해서 확인해 볼까?”
- “몫이 111111이면 나누어지는 수는 무엇일까?”
정답
- ① 11111
- ② 1222221
- ③ 나누어지는 수의 가운데 2가 하나씩 늘어나면 몫의 1도 하나씩 늘어납니다.
막히면
- 확인은 곱셈으로 합니다: 11 × 11111 = 122221. 곱셈이 어려우면 부모가 함께 세로셈을 합니다.
주의
- ②는 나누어지는 수의 2가 4개에서 5개로 늘어난 수(1222221)입니다. 1과 2의 개수를 세어 확인하게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비교(변하는 부분 하나만 보기)]
목적: 변하는 부분 중 하나만 보고 결과의 규칙을 정하는 실수(M1)를 계산으로 반박합니다.
시간: 약 3분
이렇게 말해 보세요
- “토끼와 곰 중 누구 말이 맞아? 합끼리 빼서 확인해 봐.”
- “토끼는 무엇을 빠뜨렸을까?”
- “다음에 올 식은 무엇일까?”
예상 답
- “곰이요. 660에서 460을 빼면 200이에요.”
정답
- 곰이 맞습니다. 660 − 460 = 200, 860 − 660 = 200
- 토끼는 더해지는 수(120, 220, 320)도 100씩 커진다는 것을 빠뜨렸습니다.
- 다음 식: 420 + 640 = 1060
막히면
- 두 수 각각에 화살표를 그어 ‘+100’, ‘+100’을 쓰게 하고, 합에는 ‘+200’을 쓰게 합니다.
주의
- 규칙을 말한 뒤에는 결과끼리 빼서(또는 다음 식을 계산해서) 확인하는 습관을 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해결(곱셈식의 규칙과 다음 식)]
목적: 도움 없이 곱셈식의 규칙을 찾아 다음 식을 추측하고, 규칙을 말로 설명하는지 확인합니다.
시간: 약 4분
이렇게 말해 보세요
- “이번에는 혼자 해 볼래? 규칙을 먼저 찾고, 답이 맞는지 계산으로도 확인해 봐.”
정답
- ① 444
- ② 21
- ③ 곱하는 수가 3씩 커지면 곱은 111씩 커집니다(곱하는 수가 3의 몇 배이면 곱은 111의 몇 배).
막히면
- 바로 알려 주지 말고 “곱하는 수는 얼마씩 커져? 곱은?”이라고만 묻습니다.
- ②는 777이 111의 몇 배인지(7배) 먼저 생각하게 합니다. 도움을 받아 해결했다면 기록표에 ‘도움’으로 표시합니다.
주의
- 답만 맞히고 규칙을 말하지 못하면 목표 B는 ‘설명 필요’로 기록합니다. 정답 확인은 다음 장(S11)에서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확인하고, 규칙으로 구한 답을 계산으로 확인하게 합니다. 수업용에만 있는 장입니다.
시간: 약 2분
이렇게 말해 보세요
- “네 답과 같은지 볼까? 37 × 21을 직접 계산해서 777이 되는지 확인해 보자.”
정답
- ① 444 ② 21 ③ 곱하는 수가 3씩 커지면 곱은 111씩 커집니다.
막히면
- ②를 7이라고 했다면 37 × 7 = 259를 계산해 보게 하고, 곱하는 수가 3, 6, 9 …로 3씩 커졌다는 것을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확인(수 배열표의 규칙)]
목적: 처음 보는 수 배열표에서 가로·세로 규칙을 말하고 빈칸의 수를 구하는지 확인합니다.
시간: 약 3분
이렇게 말해 보세요
- “가로와 세로 규칙을 말하고 □와 ★를 구해 봐. 어떻게 구했는지도 말해 줘.”
정답
- ① 가로(→) 10씩 커짐, 세로(↓) 1000씩 커짐
- ② 3025
- ③ 4045
막히면
- □의 위쪽 수(2025)를 짚고 “아래로 가면 얼마 커지지?”라고 묻습니다.
주의
- 규칙과 답을 모두 말하면 목표 A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1분
이렇게 말해 보세요
- “계산식에서 규칙을 찾을 때 무엇과 무엇을 비교했지?”
- “다음 수업을 시작할 때 이 세 문제를 먼저 풀 거야.”
예상 답
- “변하는 수와 답을 비교해요.”
정답
- ① 1301 ② 12321 ③ 555(37 × 3 = 111이므로 37 × 15 = 555)
막히면
- S05와 S06을 다시 보여 주고 무엇이 변하는지 말하게 합니다.
주의
- 복습 세 문제는 다음 수업을 시작할 때 활동지 마지막 쪽과 함께 풉니다.
- S10·S12 결과를 기록표에 적어 두면 다음 학년 차시(자연수의 혼합 계산)로 넘어갈지 판단할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보충(얼마씩 커지는지 찾기)]
목적: S02에서 규칙을 찾지 못하면, 이웃한 두 수의 차를 구해 얼마씩 커지는지 찾는 것부터 다시 합니다.
시간: 약 5분
이렇게 말해 보세요
- “15에서 25까지 얼마 뛰었어? 25에서 35까지는?”
- “그러면 45 다음 수는 무엇일까?”
- “이번에는 100, 200, 300 다음 수는?”
정답
- 10씩 커짐, 다음 수는 55
- 100씩 커짐, 다음 수는 400
막히면
- 바둑돌을 10개씩 묶어 놓고 한 묶음씩 더하며 셉니다.
주의
- 보충으로도 어려우면 앞 학년 차시 ‘무늬와 수의 규칙’(2학년)를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자료와규칙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계산식의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계산식의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계산식의 규칙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계산식의 규칙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다음에 올 식의 답은 무엇일까?</a:t>
            </a:r>
            <a:endParaRPr lang="ko-KR" sz="30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× 11 = 121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 × 111 = 12321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1111 × 1111 = □</a:t>
            </a:r>
            <a:endParaRPr lang="ko-KR" sz="3000" dirty="0"/>
          </a:p>
        </p:txBody>
      </p:sp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수 배열표에서 규칙을 찾아요.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계산식의 규칙을 찾아 다음 식을 추측해요.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말하고 □에 알맞은 수를 찾아요.</a:t>
            </a:r>
            <a:endParaRPr lang="ko-KR" sz="30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6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5, 10, 15, 20, □</a:t>
            </a:r>
            <a:endParaRPr lang="ko-KR" sz="3000" dirty="0"/>
          </a:p>
        </p:txBody>
      </p:sp>
      <p:sp>
        <p:nvSpPr>
          <p:cNvPr id="6" name="S02-chip7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101, 201, 301, □</a:t>
            </a:r>
            <a:endParaRPr lang="ko-KR" sz="30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10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50, 45, 40,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배열표의 규칙</a:t>
            </a:r>
            <a:endParaRPr lang="ko-KR" sz="4000" dirty="0"/>
          </a:p>
        </p:txBody>
      </p:sp>
      <p:sp>
        <p:nvSpPr>
          <p:cNvPr id="3" name="S03-card11"/>
          <p:cNvSpPr/>
          <p:nvPr/>
        </p:nvSpPr>
        <p:spPr>
          <a:xfrm>
            <a:off x="548640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2"/>
          <p:cNvSpPr txBox="1"/>
          <p:nvPr/>
        </p:nvSpPr>
        <p:spPr>
          <a:xfrm>
            <a:off x="822960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오른쪽으로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10씩 커져요.</a:t>
            </a:r>
            <a:endParaRPr lang="ko-KR" sz="3000" dirty="0"/>
          </a:p>
        </p:txBody>
      </p:sp>
      <p:sp>
        <p:nvSpPr>
          <p:cNvPr id="5" name="S03-card13"/>
          <p:cNvSpPr/>
          <p:nvPr/>
        </p:nvSpPr>
        <p:spPr>
          <a:xfrm>
            <a:off x="4322064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4"/>
          <p:cNvSpPr txBox="1"/>
          <p:nvPr/>
        </p:nvSpPr>
        <p:spPr>
          <a:xfrm>
            <a:off x="4596384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 아래로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1000씩 커져요.</a:t>
            </a:r>
            <a:endParaRPr lang="ko-KR" sz="3000" dirty="0"/>
          </a:p>
        </p:txBody>
      </p:sp>
      <p:sp>
        <p:nvSpPr>
          <p:cNvPr id="7" name="S03-card15"/>
          <p:cNvSpPr/>
          <p:nvPr/>
        </p:nvSpPr>
        <p:spPr>
          <a:xfrm>
            <a:off x="8095488" y="4959096"/>
            <a:ext cx="3544824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6"/>
          <p:cNvSpPr txBox="1"/>
          <p:nvPr/>
        </p:nvSpPr>
        <p:spPr>
          <a:xfrm>
            <a:off x="8369808" y="5096256"/>
            <a:ext cx="2996184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↘ 방향은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몇씩 커질까요?</a:t>
            </a:r>
            <a:endParaRPr lang="ko-KR" sz="3000" dirty="0"/>
          </a:p>
        </p:txBody>
      </p:sp>
      <p:graphicFrame>
        <p:nvGraphicFramePr>
          <p:cNvPr id="4" name="S03-table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53996" y="2142363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1301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1311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1321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1331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2301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2311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2321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2331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3301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3311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3321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3331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빈칸을 채워요</a:t>
            </a:r>
            <a:endParaRPr lang="ko-KR" sz="40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자리 숫자가 바뀌는지 봐요.</a:t>
            </a:r>
            <a:endParaRPr lang="ko-KR" sz="30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2455545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5300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6300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7100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7400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04-chip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4-text2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 규칙을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볼까요?</a:t>
            </a:r>
            <a:endParaRPr lang="ko-KR" sz="3000" dirty="0"/>
          </a:p>
        </p:txBody>
      </p:sp>
      <p:sp>
        <p:nvSpPr>
          <p:cNvPr id="8" name="S04-chip23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4-text24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 □에 알맞은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덧셈식의 규칙</a:t>
            </a:r>
            <a:endParaRPr lang="ko-KR" sz="4000" dirty="0"/>
          </a:p>
        </p:txBody>
      </p:sp>
      <p:sp>
        <p:nvSpPr>
          <p:cNvPr id="3" name="S05-card2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식은 505 + 606 = □. 규칙으로 추측하고 계산으로 확인해요.</a:t>
            </a:r>
            <a:endParaRPr lang="ko-KR" sz="3000" dirty="0"/>
          </a:p>
        </p:txBody>
      </p:sp>
      <p:sp>
        <p:nvSpPr>
          <p:cNvPr id="5" name="S05-card27"/>
          <p:cNvSpPr/>
          <p:nvPr/>
        </p:nvSpPr>
        <p:spPr>
          <a:xfrm>
            <a:off x="548640" y="3471672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8"/>
          <p:cNvSpPr txBox="1"/>
          <p:nvPr/>
        </p:nvSpPr>
        <p:spPr>
          <a:xfrm>
            <a:off x="822960" y="3608832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더하는 두 수가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각각 101씩 커져요.</a:t>
            </a:r>
            <a:endParaRPr lang="ko-KR" sz="3000" dirty="0"/>
          </a:p>
        </p:txBody>
      </p:sp>
      <p:sp>
        <p:nvSpPr>
          <p:cNvPr id="7" name="S05-card29"/>
          <p:cNvSpPr/>
          <p:nvPr/>
        </p:nvSpPr>
        <p:spPr>
          <a:xfrm>
            <a:off x="6208776" y="3471672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30"/>
          <p:cNvSpPr txBox="1"/>
          <p:nvPr/>
        </p:nvSpPr>
        <p:spPr>
          <a:xfrm>
            <a:off x="6483096" y="3608832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합은 202씩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커져요.</a:t>
            </a:r>
            <a:endParaRPr lang="ko-KR" sz="3000" dirty="0"/>
          </a:p>
        </p:txBody>
      </p:sp>
      <p:sp>
        <p:nvSpPr>
          <p:cNvPr id="9" name="S05-eqtext31"/>
          <p:cNvSpPr txBox="1"/>
          <p:nvPr/>
        </p:nvSpPr>
        <p:spPr>
          <a:xfrm>
            <a:off x="548640" y="1325880"/>
            <a:ext cx="11091672" cy="1917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101 + 202 = 303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 + 303 = 505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303 + 404 = 707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404 + 505 = 909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곱셈식의 규칙</a:t>
            </a:r>
            <a:endParaRPr lang="ko-KR" sz="4000" dirty="0"/>
          </a:p>
        </p:txBody>
      </p:sp>
      <p:sp>
        <p:nvSpPr>
          <p:cNvPr id="3" name="S06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11111 × 11111의 곱을 추측해 볼까요?</a:t>
            </a:r>
            <a:endParaRPr lang="ko-KR" sz="3000" dirty="0"/>
          </a:p>
        </p:txBody>
      </p:sp>
      <p:sp>
        <p:nvSpPr>
          <p:cNvPr id="5" name="S06-card34"/>
          <p:cNvSpPr/>
          <p:nvPr/>
        </p:nvSpPr>
        <p:spPr>
          <a:xfrm>
            <a:off x="548640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5"/>
          <p:cNvSpPr txBox="1"/>
          <p:nvPr/>
        </p:nvSpPr>
        <p:spPr>
          <a:xfrm>
            <a:off x="822960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곱하는 수의 1이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늘어나요.</a:t>
            </a:r>
            <a:endParaRPr lang="ko-KR" sz="3000" dirty="0"/>
          </a:p>
        </p:txBody>
      </p:sp>
      <p:sp>
        <p:nvSpPr>
          <p:cNvPr id="7" name="S06-card36"/>
          <p:cNvSpPr/>
          <p:nvPr/>
        </p:nvSpPr>
        <p:spPr>
          <a:xfrm>
            <a:off x="6208776" y="386181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37"/>
          <p:cNvSpPr txBox="1"/>
          <p:nvPr/>
        </p:nvSpPr>
        <p:spPr>
          <a:xfrm>
            <a:off x="6483096" y="399897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곱은 1, 2, 3 …으로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커졌다가 작아져요.</a:t>
            </a:r>
            <a:endParaRPr lang="ko-KR" sz="3000" dirty="0"/>
          </a:p>
        </p:txBody>
      </p:sp>
      <p:sp>
        <p:nvSpPr>
          <p:cNvPr id="9" name="S06-eqtext38"/>
          <p:cNvSpPr txBox="1"/>
          <p:nvPr/>
        </p:nvSpPr>
        <p:spPr>
          <a:xfrm>
            <a:off x="548640" y="1325880"/>
            <a:ext cx="11091672" cy="2307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× 1 = 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× 11 = 121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 × 111 = 12321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1111 × 1111 = 1234321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뺄셈식의 규칙</a:t>
            </a:r>
            <a:endParaRPr lang="ko-KR" sz="4000" dirty="0"/>
          </a:p>
        </p:txBody>
      </p:sp>
      <p:sp>
        <p:nvSpPr>
          <p:cNvPr id="3" name="S07-card39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0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찾아요</a:t>
            </a:r>
            <a:endParaRPr lang="ko-KR" sz="3000" dirty="0"/>
          </a:p>
        </p:txBody>
      </p:sp>
      <p:sp>
        <p:nvSpPr>
          <p:cNvPr id="5" name="S07-eqtext41"/>
          <p:cNvSpPr txBox="1"/>
          <p:nvPr/>
        </p:nvSpPr>
        <p:spPr>
          <a:xfrm>
            <a:off x="6551676" y="2011680"/>
            <a:ext cx="48143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650 − 150 = 500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750 − 250 = 500</a:t>
            </a:r>
            <a:endParaRPr lang="ko-KR" sz="3400" dirty="0"/>
          </a:p>
        </p:txBody>
      </p:sp>
      <p:sp>
        <p:nvSpPr>
          <p:cNvPr id="6" name="S07-chip42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eqtext43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850 − 350 = □</a:t>
            </a:r>
            <a:endParaRPr lang="ko-KR" sz="3400" dirty="0"/>
          </a:p>
        </p:txBody>
      </p:sp>
      <p:sp>
        <p:nvSpPr>
          <p:cNvPr id="8" name="S07-chip44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eqtext45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950 − □ = 500</a:t>
            </a:r>
            <a:endParaRPr lang="ko-KR" sz="3400" dirty="0"/>
          </a:p>
        </p:txBody>
      </p:sp>
      <p:sp>
        <p:nvSpPr>
          <p:cNvPr id="10" name="S07-chip46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text47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규칙이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나눗셈식의 규칙</a:t>
            </a:r>
            <a:endParaRPr lang="ko-KR" sz="4000" dirty="0"/>
          </a:p>
        </p:txBody>
      </p:sp>
      <p:sp>
        <p:nvSpPr>
          <p:cNvPr id="3" name="S08-card48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9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찾아요</a:t>
            </a:r>
            <a:endParaRPr lang="ko-KR" sz="3000" dirty="0"/>
          </a:p>
        </p:txBody>
      </p:sp>
      <p:sp>
        <p:nvSpPr>
          <p:cNvPr id="5" name="S08-eqtext50"/>
          <p:cNvSpPr txBox="1"/>
          <p:nvPr/>
        </p:nvSpPr>
        <p:spPr>
          <a:xfrm>
            <a:off x="6551676" y="2011680"/>
            <a:ext cx="48143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121 ÷ 11 = 11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1221 ÷ 11 = 111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12221 ÷ 11 = 1111</a:t>
            </a:r>
            <a:endParaRPr lang="ko-KR" sz="3400" dirty="0"/>
          </a:p>
        </p:txBody>
      </p:sp>
      <p:sp>
        <p:nvSpPr>
          <p:cNvPr id="6" name="S08-chip5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8-eqtext52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122221 ÷ 11 = □</a:t>
            </a:r>
            <a:endParaRPr lang="ko-KR" sz="3400" dirty="0"/>
          </a:p>
        </p:txBody>
      </p:sp>
      <p:sp>
        <p:nvSpPr>
          <p:cNvPr id="8" name="S08-chip5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8-eqtext54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÷ 11 = 111111</a:t>
            </a:r>
            <a:endParaRPr lang="ko-KR" sz="3400" dirty="0"/>
          </a:p>
        </p:txBody>
      </p:sp>
      <p:sp>
        <p:nvSpPr>
          <p:cNvPr id="10" name="S08-chip55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8-text56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규칙이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합은 얼마씩 커질까요?</a:t>
            </a:r>
            <a:endParaRPr lang="ko-KR" sz="4000" dirty="0"/>
          </a:p>
        </p:txBody>
      </p:sp>
      <p:sp>
        <p:nvSpPr>
          <p:cNvPr id="3" name="S09-card57"/>
          <p:cNvSpPr/>
          <p:nvPr/>
        </p:nvSpPr>
        <p:spPr>
          <a:xfrm>
            <a:off x="548640" y="1325880"/>
            <a:ext cx="11091672" cy="1723644"/>
          </a:xfrm>
          <a:prstGeom prst="roundRect">
            <a:avLst>
              <a:gd name="adj" fmla="val 6366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8"/>
          <p:cNvSpPr txBox="1"/>
          <p:nvPr/>
        </p:nvSpPr>
        <p:spPr>
          <a:xfrm>
            <a:off x="822960" y="1463040"/>
            <a:ext cx="10543032" cy="14493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 + 340 = 460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220 + 440 = 660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320 + 540 = 860</a:t>
            </a:r>
            <a:endParaRPr lang="ko-KR" sz="3000" dirty="0"/>
          </a:p>
        </p:txBody>
      </p:sp>
      <p:sp>
        <p:nvSpPr>
          <p:cNvPr id="5" name="S09-card5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6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합끼리 빼서 확인해요.</a:t>
            </a:r>
            <a:endParaRPr lang="ko-KR" sz="3000" dirty="0"/>
          </a:p>
        </p:txBody>
      </p:sp>
      <p:sp>
        <p:nvSpPr>
          <p:cNvPr id="7" name="S09-chip61"/>
          <p:cNvSpPr txBox="1"/>
          <p:nvPr/>
        </p:nvSpPr>
        <p:spPr>
          <a:xfrm>
            <a:off x="548640" y="327812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100씩</a:t>
            </a:r>
            <a:endParaRPr lang="ko-KR" sz="2400" dirty="0"/>
          </a:p>
        </p:txBody>
      </p:sp>
      <p:sp>
        <p:nvSpPr>
          <p:cNvPr id="8" name="S09-text62"/>
          <p:cNvSpPr txBox="1"/>
          <p:nvPr/>
        </p:nvSpPr>
        <p:spPr>
          <a:xfrm>
            <a:off x="548640" y="4009644"/>
            <a:ext cx="536295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더하는 수가 100씩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커지니까 합도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100씩 커져요.</a:t>
            </a:r>
            <a:endParaRPr lang="ko-KR" sz="2400" dirty="0"/>
          </a:p>
        </p:txBody>
      </p:sp>
      <p:sp>
        <p:nvSpPr>
          <p:cNvPr id="9" name="S09-chip63"/>
          <p:cNvSpPr txBox="1"/>
          <p:nvPr/>
        </p:nvSpPr>
        <p:spPr>
          <a:xfrm>
            <a:off x="6277356" y="3278124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200씩</a:t>
            </a:r>
            <a:endParaRPr lang="ko-KR" sz="2400" dirty="0"/>
          </a:p>
        </p:txBody>
      </p:sp>
      <p:sp>
        <p:nvSpPr>
          <p:cNvPr id="10" name="S09-text64"/>
          <p:cNvSpPr txBox="1"/>
          <p:nvPr/>
        </p:nvSpPr>
        <p:spPr>
          <a:xfrm>
            <a:off x="6277356" y="4009644"/>
            <a:ext cx="5362956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수가 모두 100씩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커지니까 합은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200씩 커져요.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card65"/>
          <p:cNvSpPr/>
          <p:nvPr/>
        </p:nvSpPr>
        <p:spPr>
          <a:xfrm>
            <a:off x="6277356" y="1325880"/>
            <a:ext cx="5362956" cy="4892040"/>
          </a:xfrm>
          <a:prstGeom prst="roundRect">
            <a:avLst>
              <a:gd name="adj" fmla="val 224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66"/>
          <p:cNvSpPr txBox="1"/>
          <p:nvPr/>
        </p:nvSpPr>
        <p:spPr>
          <a:xfrm>
            <a:off x="6551676" y="1463040"/>
            <a:ext cx="4814316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규칙을 찾아요</a:t>
            </a:r>
            <a:endParaRPr lang="ko-KR" sz="3000" dirty="0"/>
          </a:p>
        </p:txBody>
      </p:sp>
      <p:sp>
        <p:nvSpPr>
          <p:cNvPr id="5" name="S10-eqtext67"/>
          <p:cNvSpPr txBox="1"/>
          <p:nvPr/>
        </p:nvSpPr>
        <p:spPr>
          <a:xfrm>
            <a:off x="6551676" y="2011680"/>
            <a:ext cx="4814316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3 = 111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6 = 222</a:t>
            </a:r>
            <a:endParaRPr lang="ko-KR" sz="3400" dirty="0"/>
          </a:p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9 = 333</a:t>
            </a:r>
            <a:endParaRPr lang="ko-KR" sz="3400" dirty="0"/>
          </a:p>
        </p:txBody>
      </p:sp>
      <p:sp>
        <p:nvSpPr>
          <p:cNvPr id="6" name="S10-chip68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69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12 = □</a:t>
            </a:r>
            <a:endParaRPr lang="ko-KR" sz="3400" dirty="0"/>
          </a:p>
        </p:txBody>
      </p:sp>
      <p:sp>
        <p:nvSpPr>
          <p:cNvPr id="8" name="S10-chip70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71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37 × □ = 777</a:t>
            </a:r>
            <a:endParaRPr lang="ko-KR" sz="3400" dirty="0"/>
          </a:p>
        </p:txBody>
      </p:sp>
      <p:sp>
        <p:nvSpPr>
          <p:cNvPr id="10" name="S10-chip72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text73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규칙인지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볼까요?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틀렸다면 규칙으로 구한 답을 곱셈으로 다시 계산해 보게 하세요.</a:t>
            </a:r>
            <a:endParaRPr lang="ko-KR" sz="3000" dirty="0"/>
          </a:p>
        </p:txBody>
      </p:sp>
      <p:sp>
        <p:nvSpPr>
          <p:cNvPr id="5" name="S11-chip7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77"/>
          <p:cNvSpPr txBox="1"/>
          <p:nvPr/>
        </p:nvSpPr>
        <p:spPr>
          <a:xfrm>
            <a:off x="548640" y="2057400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444</a:t>
            </a:r>
            <a:endParaRPr lang="ko-KR" sz="3000" dirty="0"/>
          </a:p>
        </p:txBody>
      </p:sp>
      <p:sp>
        <p:nvSpPr>
          <p:cNvPr id="7" name="S11-text78"/>
          <p:cNvSpPr txBox="1"/>
          <p:nvPr/>
        </p:nvSpPr>
        <p:spPr>
          <a:xfrm>
            <a:off x="3367278" y="2057400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333 + 111</a:t>
            </a:r>
            <a:endParaRPr lang="ko-KR" sz="2400" dirty="0"/>
          </a:p>
        </p:txBody>
      </p:sp>
      <p:sp>
        <p:nvSpPr>
          <p:cNvPr id="8" name="S11-text79"/>
          <p:cNvSpPr txBox="1"/>
          <p:nvPr/>
        </p:nvSpPr>
        <p:spPr>
          <a:xfrm>
            <a:off x="548640" y="2994152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21</a:t>
            </a:r>
            <a:endParaRPr lang="ko-KR" sz="3000" dirty="0"/>
          </a:p>
        </p:txBody>
      </p:sp>
      <p:sp>
        <p:nvSpPr>
          <p:cNvPr id="9" name="S11-text80"/>
          <p:cNvSpPr txBox="1"/>
          <p:nvPr/>
        </p:nvSpPr>
        <p:spPr>
          <a:xfrm>
            <a:off x="3367278" y="2994152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777 = 111 × 7</a:t>
            </a:r>
            <a:endParaRPr lang="ko-KR" sz="2400" dirty="0"/>
          </a:p>
        </p:txBody>
      </p:sp>
      <p:sp>
        <p:nvSpPr>
          <p:cNvPr id="10" name="S11-text81"/>
          <p:cNvSpPr txBox="1"/>
          <p:nvPr/>
        </p:nvSpPr>
        <p:spPr>
          <a:xfrm>
            <a:off x="548640" y="3930904"/>
            <a:ext cx="268147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3씩 → 111씩</a:t>
            </a:r>
            <a:endParaRPr lang="ko-KR" sz="2400" dirty="0"/>
          </a:p>
        </p:txBody>
      </p:sp>
      <p:sp>
        <p:nvSpPr>
          <p:cNvPr id="11" name="S11-text82"/>
          <p:cNvSpPr txBox="1"/>
          <p:nvPr/>
        </p:nvSpPr>
        <p:spPr>
          <a:xfrm>
            <a:off x="3367278" y="3930904"/>
            <a:ext cx="2544318" cy="799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곱하는 수와 곱</a:t>
            </a:r>
            <a:endParaRPr lang="ko-KR" sz="2400" dirty="0"/>
          </a:p>
        </p:txBody>
      </p:sp>
      <p:sp>
        <p:nvSpPr>
          <p:cNvPr id="12" name="S11-chip83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1-text84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</a:t>
            </a:r>
            <a:endParaRPr lang="ko-KR" sz="3000" dirty="0"/>
          </a:p>
        </p:txBody>
      </p:sp>
      <p:sp>
        <p:nvSpPr>
          <p:cNvPr id="14" name="S11-text85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곱만 보고 답함</a:t>
            </a:r>
            <a:endParaRPr lang="ko-KR" sz="2400" dirty="0"/>
          </a:p>
        </p:txBody>
      </p:sp>
      <p:sp>
        <p:nvSpPr>
          <p:cNvPr id="15" name="S11-text86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434</a:t>
            </a:r>
            <a:endParaRPr lang="ko-KR" sz="3000" dirty="0"/>
          </a:p>
        </p:txBody>
      </p:sp>
      <p:sp>
        <p:nvSpPr>
          <p:cNvPr id="16" name="S11-text87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 실수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 배열표 마무리</a:t>
            </a:r>
            <a:endParaRPr lang="ko-KR" sz="4000" dirty="0"/>
          </a:p>
        </p:txBody>
      </p:sp>
      <p:graphicFrame>
        <p:nvGraphicFramePr>
          <p:cNvPr id="13" name="S12-table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8514" y="3004185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3045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4015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4035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★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12-chip8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text9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가로와 세로 규칙을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말해 볼까요?</a:t>
            </a:r>
            <a:endParaRPr lang="ko-KR" sz="3000" dirty="0"/>
          </a:p>
        </p:txBody>
      </p:sp>
      <p:sp>
        <p:nvSpPr>
          <p:cNvPr id="6" name="S12-chip91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text92"/>
          <p:cNvSpPr txBox="1"/>
          <p:nvPr/>
        </p:nvSpPr>
        <p:spPr>
          <a:xfrm>
            <a:off x="1344168" y="301752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수는?</a:t>
            </a:r>
            <a:endParaRPr lang="ko-KR" sz="3000" dirty="0"/>
          </a:p>
        </p:txBody>
      </p:sp>
      <p:sp>
        <p:nvSpPr>
          <p:cNvPr id="8" name="S12-chip93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text94"/>
          <p:cNvSpPr txBox="1"/>
          <p:nvPr/>
        </p:nvSpPr>
        <p:spPr>
          <a:xfrm>
            <a:off x="1344168" y="470916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★에 알맞은 수는?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95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6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변하는 부분과 결과를 비교하면 다음 식을 추측할 수 있어요. 추측은 계산으로 확인해요.</a:t>
            </a:r>
            <a:endParaRPr lang="ko-KR" sz="3000" dirty="0"/>
          </a:p>
        </p:txBody>
      </p:sp>
      <p:sp>
        <p:nvSpPr>
          <p:cNvPr id="5" name="S13-chip97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추측한 답을 계산으로 확인하기</a:t>
            </a:r>
            <a:endParaRPr lang="ko-KR" sz="2400" dirty="0"/>
          </a:p>
        </p:txBody>
      </p:sp>
      <p:sp>
        <p:nvSpPr>
          <p:cNvPr id="6" name="S13-chip98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한 부분만 보고 규칙 정하기</a:t>
            </a:r>
            <a:endParaRPr lang="ko-KR" sz="2400" dirty="0"/>
          </a:p>
        </p:txBody>
      </p:sp>
      <p:sp>
        <p:nvSpPr>
          <p:cNvPr id="7" name="S13-text99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100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1001, 1101, 1201, □</a:t>
            </a:r>
            <a:endParaRPr lang="ko-KR" sz="2400" dirty="0"/>
          </a:p>
        </p:txBody>
      </p:sp>
      <p:sp>
        <p:nvSpPr>
          <p:cNvPr id="9" name="S13-text101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111 × 111 = □</a:t>
            </a:r>
            <a:endParaRPr lang="ko-KR" sz="2400" dirty="0"/>
          </a:p>
        </p:txBody>
      </p:sp>
      <p:sp>
        <p:nvSpPr>
          <p:cNvPr id="10" name="S13-text102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37 × 15 = □</a:t>
            </a:r>
            <a:endParaRPr lang="ko-KR" sz="2400" dirty="0"/>
          </a:p>
        </p:txBody>
      </p:sp>
      <p:sp>
        <p:nvSpPr>
          <p:cNvPr id="11" name="S13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자연수의 혼합 계산(초5)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얼마씩 커질까요?</a:t>
            </a:r>
            <a:endParaRPr lang="ko-KR" sz="4000" dirty="0"/>
          </a:p>
        </p:txBody>
      </p:sp>
      <p:sp>
        <p:nvSpPr>
          <p:cNvPr id="3" name="S14-text1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15, 25, 35, 45 다음 수는?</a:t>
            </a:r>
            <a:endParaRPr lang="ko-KR" sz="3000" dirty="0"/>
          </a:p>
        </p:txBody>
      </p:sp>
      <p:sp>
        <p:nvSpPr>
          <p:cNvPr id="4" name="S14-card10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0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두 수의 차를 구하면 얼마씩 커지는지 알 수 있어요.</a:t>
            </a:r>
            <a:endParaRPr lang="ko-KR" sz="3000" dirty="0"/>
          </a:p>
        </p:txBody>
      </p:sp>
      <p:sp>
        <p:nvSpPr>
          <p:cNvPr id="6" name="S14-line107"/>
          <p:cNvSpPr/>
          <p:nvPr/>
        </p:nvSpPr>
        <p:spPr>
          <a:xfrm>
            <a:off x="685800" y="3939235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7" name="S14-line108"/>
          <p:cNvSpPr/>
          <p:nvPr/>
        </p:nvSpPr>
        <p:spPr>
          <a:xfrm>
            <a:off x="960120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14-label109"/>
          <p:cNvSpPr txBox="1"/>
          <p:nvPr/>
        </p:nvSpPr>
        <p:spPr>
          <a:xfrm>
            <a:off x="502920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9" name="S14-line110"/>
          <p:cNvSpPr/>
          <p:nvPr/>
        </p:nvSpPr>
        <p:spPr>
          <a:xfrm>
            <a:off x="2243709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14-label111"/>
          <p:cNvSpPr txBox="1"/>
          <p:nvPr/>
        </p:nvSpPr>
        <p:spPr>
          <a:xfrm>
            <a:off x="1786509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400" dirty="0"/>
          </a:p>
        </p:txBody>
      </p:sp>
      <p:sp>
        <p:nvSpPr>
          <p:cNvPr id="11" name="S14-line112"/>
          <p:cNvSpPr/>
          <p:nvPr/>
        </p:nvSpPr>
        <p:spPr>
          <a:xfrm>
            <a:off x="3527298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14-line113"/>
          <p:cNvSpPr/>
          <p:nvPr/>
        </p:nvSpPr>
        <p:spPr>
          <a:xfrm>
            <a:off x="4810887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4-label114"/>
          <p:cNvSpPr txBox="1"/>
          <p:nvPr/>
        </p:nvSpPr>
        <p:spPr>
          <a:xfrm>
            <a:off x="4353687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</a:t>
            </a:r>
            <a:endParaRPr lang="ko-KR" sz="2400" dirty="0"/>
          </a:p>
        </p:txBody>
      </p:sp>
      <p:sp>
        <p:nvSpPr>
          <p:cNvPr id="14" name="S14-line115"/>
          <p:cNvSpPr/>
          <p:nvPr/>
        </p:nvSpPr>
        <p:spPr>
          <a:xfrm>
            <a:off x="6094476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14-line116"/>
          <p:cNvSpPr/>
          <p:nvPr/>
        </p:nvSpPr>
        <p:spPr>
          <a:xfrm>
            <a:off x="7378065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14-label117"/>
          <p:cNvSpPr txBox="1"/>
          <p:nvPr/>
        </p:nvSpPr>
        <p:spPr>
          <a:xfrm>
            <a:off x="6920865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</a:t>
            </a:r>
            <a:endParaRPr lang="ko-KR" sz="2400" dirty="0"/>
          </a:p>
        </p:txBody>
      </p:sp>
      <p:sp>
        <p:nvSpPr>
          <p:cNvPr id="17" name="S14-line118"/>
          <p:cNvSpPr/>
          <p:nvPr/>
        </p:nvSpPr>
        <p:spPr>
          <a:xfrm>
            <a:off x="8661654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14-line119"/>
          <p:cNvSpPr/>
          <p:nvPr/>
        </p:nvSpPr>
        <p:spPr>
          <a:xfrm>
            <a:off x="9945243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4-label120"/>
          <p:cNvSpPr txBox="1"/>
          <p:nvPr/>
        </p:nvSpPr>
        <p:spPr>
          <a:xfrm>
            <a:off x="9488043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2400" dirty="0"/>
          </a:p>
        </p:txBody>
      </p:sp>
      <p:sp>
        <p:nvSpPr>
          <p:cNvPr id="20" name="S14-line121"/>
          <p:cNvSpPr/>
          <p:nvPr/>
        </p:nvSpPr>
        <p:spPr>
          <a:xfrm>
            <a:off x="11228832" y="3792931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14-label122"/>
          <p:cNvSpPr txBox="1"/>
          <p:nvPr/>
        </p:nvSpPr>
        <p:spPr>
          <a:xfrm>
            <a:off x="10771632" y="4122115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</a:t>
            </a:r>
            <a:endParaRPr lang="ko-KR" sz="2400" dirty="0"/>
          </a:p>
        </p:txBody>
      </p:sp>
      <p:sp>
        <p:nvSpPr>
          <p:cNvPr id="22" name="S14-mark123"/>
          <p:cNvSpPr/>
          <p:nvPr/>
        </p:nvSpPr>
        <p:spPr>
          <a:xfrm>
            <a:off x="2152269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3" name="S14-mark124"/>
          <p:cNvSpPr/>
          <p:nvPr/>
        </p:nvSpPr>
        <p:spPr>
          <a:xfrm>
            <a:off x="4719447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4" name="S14-mark125"/>
          <p:cNvSpPr/>
          <p:nvPr/>
        </p:nvSpPr>
        <p:spPr>
          <a:xfrm>
            <a:off x="7286625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5" name="S14-mark126"/>
          <p:cNvSpPr/>
          <p:nvPr/>
        </p:nvSpPr>
        <p:spPr>
          <a:xfrm>
            <a:off x="9853803" y="3847795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26" name="S14-line127"/>
          <p:cNvSpPr/>
          <p:nvPr/>
        </p:nvSpPr>
        <p:spPr>
          <a:xfrm flipV="1">
            <a:off x="2243709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27" name="S14-line128"/>
          <p:cNvSpPr/>
          <p:nvPr/>
        </p:nvSpPr>
        <p:spPr>
          <a:xfrm>
            <a:off x="2243709" y="3555187"/>
            <a:ext cx="25671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14-label129"/>
          <p:cNvSpPr txBox="1"/>
          <p:nvPr/>
        </p:nvSpPr>
        <p:spPr>
          <a:xfrm>
            <a:off x="2243709" y="3140659"/>
            <a:ext cx="25671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</a:t>
            </a:r>
            <a:endParaRPr lang="ko-KR" sz="2400" dirty="0"/>
          </a:p>
        </p:txBody>
      </p:sp>
      <p:sp>
        <p:nvSpPr>
          <p:cNvPr id="29" name="S14-line130"/>
          <p:cNvSpPr/>
          <p:nvPr/>
        </p:nvSpPr>
        <p:spPr>
          <a:xfrm flipV="1">
            <a:off x="4810887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0" name="S14-line131"/>
          <p:cNvSpPr/>
          <p:nvPr/>
        </p:nvSpPr>
        <p:spPr>
          <a:xfrm>
            <a:off x="4810887" y="3555187"/>
            <a:ext cx="25671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1" name="S14-label132"/>
          <p:cNvSpPr txBox="1"/>
          <p:nvPr/>
        </p:nvSpPr>
        <p:spPr>
          <a:xfrm>
            <a:off x="4810887" y="3140659"/>
            <a:ext cx="25671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</a:t>
            </a:r>
            <a:endParaRPr lang="ko-KR" sz="2400" dirty="0"/>
          </a:p>
        </p:txBody>
      </p:sp>
      <p:sp>
        <p:nvSpPr>
          <p:cNvPr id="32" name="S14-line133"/>
          <p:cNvSpPr/>
          <p:nvPr/>
        </p:nvSpPr>
        <p:spPr>
          <a:xfrm flipV="1">
            <a:off x="7378065" y="3555187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3" name="S14-line134"/>
          <p:cNvSpPr/>
          <p:nvPr/>
        </p:nvSpPr>
        <p:spPr>
          <a:xfrm>
            <a:off x="7378065" y="3555187"/>
            <a:ext cx="256717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14-label135"/>
          <p:cNvSpPr txBox="1"/>
          <p:nvPr/>
        </p:nvSpPr>
        <p:spPr>
          <a:xfrm>
            <a:off x="7378065" y="3140659"/>
            <a:ext cx="256717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+10</a:t>
            </a:r>
            <a:endParaRPr lang="ko-KR" sz="2400" dirty="0"/>
          </a:p>
        </p:txBody>
      </p:sp>
      <p:sp>
        <p:nvSpPr>
          <p:cNvPr id="35" name="S14-figure136" descr="10부터 50까지 수직선에 15, 25, 35, 45를 표시하고 10씩 뛰어 센 화살표"/>
          <p:cNvSpPr/>
          <p:nvPr/>
        </p:nvSpPr>
        <p:spPr>
          <a:xfrm>
            <a:off x="685800" y="3756355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계산식의 규칙</dc:title>
  <dc:subject>KR22-G04-MAT-RULE-L01</dc:subject>
  <dc:creator>education-ppt</dc:creator>
  <cp:lastModifiedBy>education-ppt</cp:lastModifiedBy>
  <cp:revision>1</cp:revision>
  <dcterms:created xsi:type="dcterms:W3CDTF">2026-10-26T08:24:38Z</dcterms:created>
  <dcterms:modified xsi:type="dcterms:W3CDTF">2026-10-26T08:24:38Z</dcterms:modified>
</cp:coreProperties>
</file>