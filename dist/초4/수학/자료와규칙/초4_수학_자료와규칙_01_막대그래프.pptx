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5d4d911-355d-7d61-1130-2a60acc9b670}">
          <p14:sldIdLst>
            <p14:sldId id="256"/>
            <p14:sldId id="257"/>
          </p14:sldIdLst>
        </p14:section>
        <p14:section name="개념" id="{82366443-6809-b2c7-5e1f-8b3223291551}">
          <p14:sldIdLst>
            <p14:sldId id="258"/>
            <p14:sldId id="259"/>
            <p14:sldId id="260"/>
            <p14:sldId id="263"/>
          </p14:sldIdLst>
        </p14:section>
        <p14:section name="연습" id="{03a8d32f-1fa0-a81a-327f-a2d92e2edc10}">
          <p14:sldIdLst>
            <p14:sldId id="261"/>
            <p14:sldId id="262"/>
            <p14:sldId id="264"/>
          </p14:sldIdLst>
        </p14:section>
        <p14:section name="개념" id="{5783edbf-b291-da78-ec61-9fd9df223fc3}">
          <p14:sldIdLst/>
        </p14:section>
        <p14:section name="연습" id="{73ef5854-ccc8-e6dd-d2b8-70b93ddd5baa}">
          <p14:sldIdLst/>
        </p14:section>
        <p14:section name="확인" id="{b96555da-b54c-8f5b-6262-11027aebf806}">
          <p14:sldIdLst>
            <p14:sldId id="265"/>
            <p14:sldId id="266"/>
            <p14:sldId id="267"/>
          </p14:sldIdLst>
        </p14:section>
        <p14:section name="정리" id="{181a741c-9b91-8c75-6ed8-f47f0607ba68}">
          <p14:sldIdLst>
            <p14:sldId id="268"/>
          </p14:sldIdLst>
        </p14:section>
        <p14:section name="보충" id="{7609d4fa-105f-04ef-d49d-e21c64d85e4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2000" b="0" i="0" u="none" strike="noStrike">
                <a:solidFill>
                  <a:srgbClr val="1F2937"/>
                </a:solidFill>
                <a:latin typeface="+mn-lt"/>
              </a:rPr>
              <a:t>좋아하는 운동별 학생 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좋아하는 운동별 학생 수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축구</c:v>
                  </c:pt>
                  <c:pt idx="1">
                    <c:v>야구</c:v>
                  </c:pt>
                  <c:pt idx="2">
                    <c:v>수영</c:v>
                  </c:pt>
                  <c:pt idx="3">
                    <c:v>농구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동화책</c:v>
                  </c:pt>
                  <c:pt idx="1">
                    <c:v>위인전</c:v>
                  </c:pt>
                  <c:pt idx="2">
                    <c:v>과학책</c:v>
                  </c:pt>
                  <c:pt idx="3">
                    <c:v>만화책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6</c:v>
                </c:pt>
                <c:pt idx="2">
                  <c:v>10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(권)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축구</c:v>
                  </c:pt>
                  <c:pt idx="1">
                    <c:v>야구</c:v>
                  </c:pt>
                  <c:pt idx="2">
                    <c:v>수영</c:v>
                  </c:pt>
                  <c:pt idx="3">
                    <c:v>농구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3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가 마을</c:v>
                  </c:pt>
                  <c:pt idx="1">
                    <c:v>나 마을</c:v>
                  </c:pt>
                  <c:pt idx="2">
                    <c:v>다 마을</c:v>
                  </c:pt>
                  <c:pt idx="3">
                    <c:v>라 마을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15</c:v>
                </c:pt>
                <c:pt idx="2">
                  <c:v>30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(그루)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1반</c:v>
                  </c:pt>
                  <c:pt idx="1">
                    <c:v>2반</c:v>
                  </c:pt>
                  <c:pt idx="2">
                    <c:v>3반</c:v>
                  </c:pt>
                  <c:pt idx="3">
                    <c:v>4반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4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2000" b="0" i="0" u="none" strike="noStrike">
                <a:solidFill>
                  <a:srgbClr val="1F2937"/>
                </a:solidFill>
                <a:latin typeface="+mn-lt"/>
              </a:rPr>
              <a:t>좋아하는 계절별 학생 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좋아하는 계절별 학생 수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봄</c:v>
                  </c:pt>
                  <c:pt idx="1">
                    <c:v>여름</c:v>
                  </c:pt>
                  <c:pt idx="2">
                    <c:v>가을</c:v>
                  </c:pt>
                  <c:pt idx="3">
                    <c:v>겨울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8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강아지</c:v>
                  </c:pt>
                  <c:pt idx="1">
                    <c:v>고양이</c:v>
                  </c:pt>
                  <c:pt idx="2">
                    <c:v>토끼</c:v>
                  </c:pt>
                  <c:pt idx="3">
                    <c:v>햄스터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4</c:v>
                </c:pt>
                <c:pt idx="2">
                  <c:v>2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강아지</c:v>
                  </c:pt>
                  <c:pt idx="1">
                    <c:v>고양이</c:v>
                  </c:pt>
                  <c:pt idx="2">
                    <c:v>토끼</c:v>
                  </c:pt>
                  <c:pt idx="3">
                    <c:v>햄스터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2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1반</c:v>
                  </c:pt>
                  <c:pt idx="1">
                    <c:v>2반</c:v>
                  </c:pt>
                  <c:pt idx="2">
                    <c:v>3반</c:v>
                  </c:pt>
                  <c:pt idx="3">
                    <c:v>4반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20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(장)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자료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2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사과</c:v>
                  </c:pt>
                  <c:pt idx="1">
                    <c:v>포도</c:v>
                  </c:pt>
                  <c:pt idx="2">
                    <c:v>귤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2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20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2000" b="0" i="0" u="none" strike="noStrike">
                    <a:solidFill>
                      <a:srgbClr val="000000"/>
                    </a:solidFill>
                    <a:latin typeface="+mn-lt"/>
                  </a:rPr>
                  <a:t>(명)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20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수를 막대의 길이로 나타내면 많고 적음이 한눈에 보인다는 것을 느끼게 합니다.
시간: 약 2분
이렇게 말해 보세요
- “친구들이 좋아하는 운동을 조사했어. 오른쪽 그림처럼 막대로 나타내면 어떤 운동이 가장 인기 있는지 바로 보여.”
- “오늘은 이런 그래프를 읽고, 직접 그리는 방법을 배울 거야.”
예상 답
- “제일 긴 막대요.” “첫 번째가 제일 많아요.” 어떤 답이든 괜찮습니다.
막히면
- 답을 확인하지 않고 넘어갑니다. S03에서 같은 자료를 다시 봅니다.
주의
- 오른쪽 그림은 S03의 막대그래프 모양만 보여 줍니다(눈금 숫자는 없음). 지금은 수를 읽지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확인(그림그래프 읽기)]
목적: 그림그래프에서 큰 그림(●)과 작은 그림(○)이 나타내는 수를 구별해 읽는지 확인합니다. 그림 하나의 크기를 먼저 보는 것은 오늘 배울 ‘눈금 한 칸의 크기’와 같은 생각입니다.
시간: 약 3분
이렇게 말해 보세요
- “●는 10명, ○는 1명이야. 가 마을은 몇 명일까?”
- “학생이 가장 많은 마을은 어디야? 어떻게 알았어?”
- “다 마을은 몇 명이야?”
정답
- ① 23명(10 × 2 + 3)
- ② 나 마을(31명). 그림 수는 가 마을(5개)보다 적지만 ●가 3개입니다.
- ③ 16명(10 + 6)
막히면
- 그림의 개수만 세면 ●와 ○를 손가락으로 따로 짚으며 “10, 20, 21, 22, 23”처럼 세게 합니다.
- ●와 ○의 크기를 구별하지 못하면 S14(보충)를 먼저 합니다. 보충으로도 어려우면 앞 차시 ‘그림그래프’를 다시 합니다.
주의
- ②에서 그림이 가장 많은 가 마을을 고르면, 오늘 배울 막대그래프에서도 ‘칸 수’만 세는 실수(M1)를 할 수 있으니 눈여겨봅니다.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막대그래프의 뜻과 짜임]
목적: 막대그래프의 제목·가로·세로·눈금·막대가 무엇을 나타내는지 압니다.
시간: 약 3분
이렇게 말해 보세요
- “친구 18명이 좋아하는 운동을 조사해서 막대로 나타냈어. 이런 그래프를 막대그래프라고 해.”
- “가로에는 무엇이 있어? 세로의 숫자는 무엇을 나타낼까?”
- “세로 눈금이 0, 1, 2 …로 커지지? 눈금 한 칸은 몇 명이야?”
- “축구를 좋아하는 학생은 몇 명이야? 막대 끝에서 옆으로 따라가 봐.”
예상 답
- “가로는 운동이에요.” “세로는 학생 수예요.” “한 칸은 1명이에요.” “축구는 6명이에요.”
막히면
- 막대 끝에 자(또는 종이 띠)를 가로로 대고 세로 눈금 숫자까지 따라가게 합니다.
주의
- 화면의 그래프는 PowerPoint 차트라서 세로 눈금마다 숫자가 쓰여 있습니다. 교과서 그래프는 몇 칸마다 숫자를 쓰기도 하니, 숫자 사이의 칸 수로 한 칸의 크기를 구하는 습관을 들입니다.
- 막대의 굵기는 뜻이 없고 길이(높이)만 수를 나타냅니다. 제목은 무엇을 조사했는지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눈금 한 칸의 크기를 알고 읽기(시범)]
목적: 눈금 한 칸이 1이 아닐 때 세로 눈금 숫자로 한 칸의 크기를 알아내고, 칸 수에 곱해 막대가 나타내는 수를 읽는 방법을 보여 줍니다.
시간: 약 4분
이렇게 말해 보세요
- “세로 눈금 숫자를 아래부터 읽어 볼까? 0, 2, 4 … 한 칸 올라갈 때마다 얼마씩 커져?”
- “그러면 눈금 한 칸은 몇 권이야?”
- “과학책 막대는 몇 칸이야? 한 칸이 2권이니까 모두 몇 권일까?”
- “동화책은 몇 권일까? 막대 끝의 숫자로도 확인해 봐.”
예상 답
- “2씩 커져요.” “한 칸은 2권이에요.” “과학책은 10권이에요.” “동화책은 12권이에요.”
막히면
- 눈금 한 칸마다 손가락으로 짚으며 “2, 4, 6, 8, 10”처럼 2씩 뛰어 세게 합니다.
주의
- 막대 끝이 닿은 눈금의 숫자를 읽는 방법과, 칸 수 × 한 칸의 크기로 구하는 방법이 같은 답이 되는지 꼭 비교합니다.
- 위인전 6권, 만화책 4권도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표와 막대그래프 비교, 그래프에서 알 수 있는 것]
목적: 같은 자료를 표와 막대그래프로 비교하고, 막대그래프에서 가장 많은 것과 두 항목의 차이를 읽습니다.
시간: 약 3분
이렇게 말해 보세요
- “표와 막대그래프는 같은 자료야. 모두 몇 명인지 알고 싶으면 어느 쪽을 보면 좋을까?”
- “가장 많은 학생이 좋아하는 운동은? 가장 적은 운동은? 그래프에서 어떻게 바로 알았어?”
- “축구는 야구보다 몇 명 더 많아? 막대 끝의 높이 차이를 칸으로 세어 봐.”
예상 답
- “합계는 표에 있어요.” “축구가 가장 많아요. 막대가 제일 길어요.” “야구가 가장 적어요.” “3명 더 많아요(6 − 3).”
막히면
- 두 막대 사이에 자를 가로로 대고 짧은 막대 끝 위로 남는 칸을 세게 합니다.
주의
- 표는 정확한 수와 합계를, 막대그래프는 크기 비교를 한눈에 보여 준다는 것을 아이 말로 정리하게 합니다.
- 지치면 여기서 쉬고, 다음에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연습(눈금 한 칸이 5인 그래프 읽기)]
목적: 도움을 받으며 눈금 한 칸이 5인 막대그래프를 읽고, 가장 많은 것과 두 항목의 차이를 구합니다.
시간: 약 4분
이렇게 말해 보세요
- “세로 눈금 숫자가 얼마씩 커져? 그러면 한 칸은 몇 그루야?”
- “가장 긴 막대는 어느 마을이야? 몇 그루야?”
- “가 마을과 라 마을은 각각 몇 그루야? 몇 그루 차이야?”
정답
- ① 5그루
- ② 다 마을, 30그루(6칸 × 5)
- ③ 15그루(25 − 10, 3칸 차이 × 5)
막히면
- 눈금을 짚으며 “5, 10, 15 …”로 뛰어 세게 합니다.
- ③은 두 막대의 칸 수 차이(3칸)를 먼저 세고, 한 칸이 5그루이니 15그루라고 연결합니다.
주의
- ③에서 ‘3그루’라고 하면 칸 수 차이만 센 것입니다(M1). “한 칸이 몇 그루였지?”라고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비교(칸 수를 그대로 수로 읽기)]
목적: 눈금 한 칸의 크기를 보지 않고 칸 수를 그대로 수로 읽는 실수(M1)를 직접 반박합니다.
시간: 약 3분
이렇게 말해 보세요
- “토끼와 곰이 3반 막대를 읽었어. 누구 말이 맞아? 세로 눈금 숫자를 보고 까닭을 말해 줘.”
- “토끼는 무엇을 빠뜨렸을까?”
- “1반은 몇 명일까?”
예상 답
- “곰이요. 막대 끝이 10에 닿아요.”
정답
- 곰이 맞습니다. 세로 눈금이 2씩 커지므로 한 칸은 2명이고, 3반은 5칸이라 10명입니다.
- 토끼는 눈금 한 칸의 크기(2명)를 보지 않고 칸 수를 그대로 읽었습니다.
- 1반: 4칸 × 2 = 8명
막히면
- 3반 막대 끝에서 옆으로 따라가 세로 눈금 숫자(10)를 직접 읽게 합니다.
주의
- 그림그래프의 ●(10명)를 1명으로 센 실수와 같은 실수라고 S02와 연결해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표를 막대그래프로 나타내는 순서(시범)]
목적: 표를 보고 가로·세로 정하기 → 눈금 한 칸의 크기 정하기 → 막대 그리기 → 제목 붙이기 순서로 막대그래프를 나타내는 방법을 보여 줍니다.
시간: 약 4분
이렇게 말해 보세요
- “가로에 계절을 쓰고, 세로에 학생 수를 나타내자.”
- “가장 큰 수가 10이야. 한 칸을 1명으로 하면 10칸, 2명으로 하면 몇 칸이면 될까?”
- “여름은 10명이니까 한 칸이 2명이면 몇 칸 높이로 그려야 해? 봄, 가을, 겨울은?”
- “마지막으로 무엇을 조사했는지 제목을 붙여.”
예상 답
- “5칸이요.” “봄 3칸, 여름 5칸, 가을 4칸, 겨울 2칸이에요.”
막히면
- “6명은 2명씩 몇 묶음이야?”처럼 나눗셈으로 칸 수를 구하게 합니다(6 ÷ 2 = 3).
주의
- 눈금 한 칸의 크기는 가장 큰 수가 들어가고, 막대 끝이 눈금에 맞도록 정합니다. 이 자료는 모두 짝수라서 2명으로 해도 막대 끝이 눈금에 딱 맞습니다.
- 세로 눈금은 가장 큰 수(10)보다 조금 더(12) 그려도 됩니다. 가로 막대그래프도 있다는 것은 말로만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연습(표에 맞는 막대그래프 찾기)]
목적: 도움을 받으며 표의 수와 막대가 나타내는 수(칸 수 × 2명)가 같은지 확인합니다.
시간: 약 3분
이렇게 말해 보세요
- “눈금 한 칸은 몇 명이야? 가와 나에서 동물마다 막대가 나타내는 수를 읽어 봐.”
- “표와 같은 것은 어느 쪽이야? 다른 쪽은 어디가 틀렸어?”
정답
- 나. 강아지 4칸(8명), 고양이 3칸(6명), 토끼 1칸(2명), 햄스터 2칸(4명)입니다.
- 가는 고양이가 4명, 햄스터가 6명으로 표와 다릅니다(두 막대가 바뀜).
막히면
- 동물 하나씩 정해 표의 수 → 칸 수(÷ 2) → 그래프의 칸 수 순서로 비교합니다.
주의
- 표와 막대그래프는 같은 자료이므로 수가 똑같아야 합니다. 막대를 그린 뒤에는 표와 다시 대조하는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해결(눈금 한 칸이 10인 그래프 읽기)]
목적: 도움 없이 눈금 한 칸의 크기를 알아내고, 가장 많은 것과 두 항목의 차이를 읽는지 확인합니다.
시간: 약 4분
이렇게 말해 보세요
- “이번에는 혼자 해 볼래? 답을 말할 때 어떻게 알았는지도 말해 줘.”
정답
- ① 10장(세로 눈금이 10씩 커짐)
- ② 2반, 50장
- ③ 20장(40 − 20)
막히면
- 바로 알려 주지 말고 “세로 눈금 숫자가 얼마씩 커져?”라고만 묻습니다.
- 도움을 받아 해결했다면 기록표에 ‘도움’으로 표시합니다.
주의
- 정답 확인은 다음 장(S11)에서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칸 수만 세는 실수를 바로잡습니다. 수업용에만 있는 장입니다.
시간: 약 2분
이렇게 말해 보세요
- “네 답과 같은지 볼까? 다르면 어디서 달라졌는지 찾아보자.”
정답
- ① 10장 ② 2반, 50장 ③ 20장
막히면
- 칸 수로 답했다면 S07로 돌아가 토끼의 실수와 같은지 비교합니다(M1).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확인(막대그래프로 나타낼 칸 수 정하기)]
목적: 처음 보는 표에서 눈금 한 칸의 크기에 따라 막대의 칸 수가 달라진다는 것을 알고, 칸 수를 바르게 정하는지 확인합니다.
시간: 약 3분
이렇게 말해 보세요
- “이 표를 막대그래프로 그리려고 해. 한 칸을 2명으로 하면 파랑 막대는 몇 칸 높이야? 노랑은?”
- “한 칸을 1명으로 바꾸면 파랑은 몇 칸이 될까? 어느 쪽이 그리기 편할까?”
정답
- ① 6칸(12 ÷ 2)
- ② 3칸(6 ÷ 2)
- ③ 12칸. 한 칸을 2명으로 하면 칸 수가 반으로 줄어 그리기 편합니다.
막히면
- 바둑돌 12개를 2개씩 묶어 묶음 수를 세게 합니다.
주의
- ①에서 12칸이라고 하면 눈금 한 칸의 크기를 생각하지 않은 것입니다(M2).
- 실제로 그리는 것은 활동지 2번에서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1분
이렇게 말해 보세요
- “막대그래프를 읽을 때 가장 먼저 무엇을 봐야 할까?”
- “다음 수업을 시작할 때 이 세 문제를 먼저 풀 거야.”
예상 답
- “눈금 한 칸이 몇인지 봐요.”
정답
- ① 20명(5 × 4) ② 7칸(14 ÷ 2) ③ 가장 긴 막대를 찾습니다.
막히면
- S04의 그래프를 다시 보여 주고 한 칸의 크기를 찾는 방법을 따라 말하게 합니다.
주의
- 복습 세 문제는 다음 수업을 시작할 때 활동지 마지막 쪽과 함께 풉니다.
- S10·S12 결과를 기록표에 적어 두면 다음 차시(꺾은선그래프)로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보충(그래프의 칸 세기, 한 칸이 1인 그래프)]
목적: S02에서 그림이 나타내는 수를 구별하지 못하거나 그래프 읽기가 흔들리면, 한 칸이 1인 그래프에서 칸을 세어 읽는 것부터 합니다.
시간: 약 5분
이렇게 말해 보세요
- “사과 막대는 몇 칸이야? 한 칸씩 짚으면서 세어 봐.”
- “막대 끝에서 옆으로 따라가면 세로 눈금 숫자는 몇이야? 센 칸 수와 같아?”
- “포도와 귤은 몇 명이야?”
정답
- 사과 5명, 포도 3명, 귤 4명
막히면
- 바둑돌을 막대 높이만큼 쌓아 세게 합니다(한 칸 = 바둑돌 1개).
- 그 다음 바둑돌 하나를 ‘2명’으로 정하고 “바둑돌 3개는 몇 명?”처럼 묻습니다(그림그래프의 ●와 같은 생각).
주의
- 보충으로도 어려우면 앞 차시 ‘그림그래프’를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자료와규칙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막대그래프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막대그래프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막대그래프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운동을 가장 좋아할까?</a:t>
            </a:r>
            <a:endParaRPr lang="ko-KR" sz="3000" dirty="0"/>
          </a:p>
        </p:txBody>
      </p:sp>
      <p:sp>
        <p:nvSpPr>
          <p:cNvPr id="4" name="S01-cell1"/>
          <p:cNvSpPr/>
          <p:nvPr/>
        </p:nvSpPr>
        <p:spPr>
          <a:xfrm>
            <a:off x="7869555" y="10058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cell2"/>
          <p:cNvSpPr/>
          <p:nvPr/>
        </p:nvSpPr>
        <p:spPr>
          <a:xfrm>
            <a:off x="7869555" y="137160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7869555" y="173736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cell4"/>
          <p:cNvSpPr/>
          <p:nvPr/>
        </p:nvSpPr>
        <p:spPr>
          <a:xfrm>
            <a:off x="786955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786955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cell6"/>
          <p:cNvSpPr/>
          <p:nvPr/>
        </p:nvSpPr>
        <p:spPr>
          <a:xfrm>
            <a:off x="786955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1-figure7" descr="막대그래프 모양: 축구 막대 6칸"/>
          <p:cNvSpPr/>
          <p:nvPr/>
        </p:nvSpPr>
        <p:spPr>
          <a:xfrm>
            <a:off x="786955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1" name="S01-cell8"/>
          <p:cNvSpPr/>
          <p:nvPr/>
        </p:nvSpPr>
        <p:spPr>
          <a:xfrm>
            <a:off x="8932545" y="10058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8932545" y="13716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cell10"/>
          <p:cNvSpPr/>
          <p:nvPr/>
        </p:nvSpPr>
        <p:spPr>
          <a:xfrm>
            <a:off x="8932545" y="173736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893254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cell12"/>
          <p:cNvSpPr/>
          <p:nvPr/>
        </p:nvSpPr>
        <p:spPr>
          <a:xfrm>
            <a:off x="893254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93254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figure14" descr="막대그래프 모양: 야구 막대 3칸"/>
          <p:cNvSpPr/>
          <p:nvPr/>
        </p:nvSpPr>
        <p:spPr>
          <a:xfrm>
            <a:off x="893254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995535" y="10058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9995535" y="137160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9995535" y="173736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cell18"/>
          <p:cNvSpPr/>
          <p:nvPr/>
        </p:nvSpPr>
        <p:spPr>
          <a:xfrm>
            <a:off x="999553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1-cell19"/>
          <p:cNvSpPr/>
          <p:nvPr/>
        </p:nvSpPr>
        <p:spPr>
          <a:xfrm>
            <a:off x="999553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1-cell20"/>
          <p:cNvSpPr/>
          <p:nvPr/>
        </p:nvSpPr>
        <p:spPr>
          <a:xfrm>
            <a:off x="999553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1-figure21" descr="막대그래프 모양: 수영 막대 5칸"/>
          <p:cNvSpPr/>
          <p:nvPr/>
        </p:nvSpPr>
        <p:spPr>
          <a:xfrm>
            <a:off x="999553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01-cell22"/>
          <p:cNvSpPr/>
          <p:nvPr/>
        </p:nvSpPr>
        <p:spPr>
          <a:xfrm>
            <a:off x="11058525" y="10058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1-cell23"/>
          <p:cNvSpPr/>
          <p:nvPr/>
        </p:nvSpPr>
        <p:spPr>
          <a:xfrm>
            <a:off x="11058525" y="137160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1-cell24"/>
          <p:cNvSpPr/>
          <p:nvPr/>
        </p:nvSpPr>
        <p:spPr>
          <a:xfrm>
            <a:off x="11058525" y="173736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1-cell25"/>
          <p:cNvSpPr/>
          <p:nvPr/>
        </p:nvSpPr>
        <p:spPr>
          <a:xfrm>
            <a:off x="11058525" y="210312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1-cell26"/>
          <p:cNvSpPr/>
          <p:nvPr/>
        </p:nvSpPr>
        <p:spPr>
          <a:xfrm>
            <a:off x="11058525" y="246888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1-cell27"/>
          <p:cNvSpPr/>
          <p:nvPr/>
        </p:nvSpPr>
        <p:spPr>
          <a:xfrm>
            <a:off x="11058525" y="2834640"/>
            <a:ext cx="365760" cy="3657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1-figure28" descr="막대그래프 모양: 농구 막대 4칸"/>
          <p:cNvSpPr/>
          <p:nvPr/>
        </p:nvSpPr>
        <p:spPr>
          <a:xfrm>
            <a:off x="11058525" y="1005840"/>
            <a:ext cx="3657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1-card29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3" name="S01-cardtext30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막대그래프를 읽고 알 수 있는 것을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표를 보고 막대그래프로 나타내요.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그림그래프예요. ●는 10명, ○는 1명이에요.</a:t>
            </a:r>
            <a:endParaRPr lang="ko-KR" sz="3000" dirty="0"/>
          </a:p>
        </p:txBody>
      </p:sp>
      <p:graphicFrame>
        <p:nvGraphicFramePr>
          <p:cNvPr id="3" name="S02-table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5714" y="3012440"/>
          <a:ext cx="4206240" cy="914400"/>
        </p:xfrm>
        <a:graphic>
          <a:graphicData uri="http://schemas.openxmlformats.org/drawingml/2006/table">
            <a:tbl>
              <a:tblPr/>
              <a:tblGrid>
                <a:gridCol w="1261872"/>
                <a:gridCol w="2944368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●●○○○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●●●○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●○○○○○○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2-chip3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2-text34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 학생은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명일까요?</a:t>
            </a:r>
            <a:endParaRPr lang="ko-KR" sz="3000" dirty="0"/>
          </a:p>
        </p:txBody>
      </p:sp>
      <p:sp>
        <p:nvSpPr>
          <p:cNvPr id="7" name="S02-chip35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02-text36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학생이 가장 많은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마을은 어디일까요?</a:t>
            </a:r>
            <a:endParaRPr lang="ko-KR" sz="3000" dirty="0"/>
          </a:p>
        </p:txBody>
      </p:sp>
      <p:sp>
        <p:nvSpPr>
          <p:cNvPr id="9" name="S02-chip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02-text3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마을 학생은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 알아보기</a:t>
            </a:r>
            <a:endParaRPr lang="ko-KR" sz="4000" dirty="0"/>
          </a:p>
        </p:txBody>
      </p:sp>
      <p:sp>
        <p:nvSpPr>
          <p:cNvPr id="3" name="S03-card39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0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수를 막대의 길이로 나타낸 그래프를 막대그래프라고 해요.</a:t>
            </a:r>
            <a:endParaRPr lang="ko-KR" sz="3000" dirty="0"/>
          </a:p>
        </p:txBody>
      </p:sp>
      <p:sp>
        <p:nvSpPr>
          <p:cNvPr id="5" name="S03-card41"/>
          <p:cNvSpPr/>
          <p:nvPr/>
        </p:nvSpPr>
        <p:spPr>
          <a:xfrm>
            <a:off x="548640" y="3861816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42"/>
          <p:cNvSpPr txBox="1"/>
          <p:nvPr/>
        </p:nvSpPr>
        <p:spPr>
          <a:xfrm>
            <a:off x="822960" y="3998976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가로: 운동</a:t>
            </a:r>
            <a:endParaRPr lang="ko-KR" sz="3000" dirty="0"/>
          </a:p>
        </p:txBody>
      </p:sp>
      <p:sp>
        <p:nvSpPr>
          <p:cNvPr id="7" name="S03-card43"/>
          <p:cNvSpPr/>
          <p:nvPr/>
        </p:nvSpPr>
        <p:spPr>
          <a:xfrm>
            <a:off x="4322064" y="3861816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44"/>
          <p:cNvSpPr txBox="1"/>
          <p:nvPr/>
        </p:nvSpPr>
        <p:spPr>
          <a:xfrm>
            <a:off x="4596384" y="3998976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세로: 학생 수</a:t>
            </a:r>
            <a:endParaRPr lang="ko-KR" sz="3000" dirty="0"/>
          </a:p>
        </p:txBody>
      </p:sp>
      <p:sp>
        <p:nvSpPr>
          <p:cNvPr id="9" name="S03-card45"/>
          <p:cNvSpPr/>
          <p:nvPr/>
        </p:nvSpPr>
        <p:spPr>
          <a:xfrm>
            <a:off x="8095488" y="3861816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46"/>
          <p:cNvSpPr txBox="1"/>
          <p:nvPr/>
        </p:nvSpPr>
        <p:spPr>
          <a:xfrm>
            <a:off x="8369808" y="3998976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칸: 1명</a:t>
            </a:r>
            <a:endParaRPr lang="ko-KR" sz="3000" dirty="0"/>
          </a:p>
        </p:txBody>
      </p:sp>
      <p:graphicFrame>
        <p:nvGraphicFramePr>
          <p:cNvPr id="11" name="S03-chart47" descr=""/>
          <p:cNvGraphicFramePr/>
          <p:nvPr/>
        </p:nvGraphicFramePr>
        <p:xfrm>
          <a:off x="548640" y="1325880"/>
          <a:ext cx="11091672" cy="23073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칸의 크기</a:t>
            </a:r>
            <a:endParaRPr lang="ko-KR" sz="4000" dirty="0"/>
          </a:p>
        </p:txBody>
      </p:sp>
      <p:sp>
        <p:nvSpPr>
          <p:cNvPr id="3" name="S04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 × 한 칸의 크기 = 막대가 나타내는 수</a:t>
            </a:r>
            <a:endParaRPr lang="ko-KR" sz="3000" dirty="0"/>
          </a:p>
        </p:txBody>
      </p:sp>
      <p:sp>
        <p:nvSpPr>
          <p:cNvPr id="5" name="S04-text5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학급 문고의 과학책은 몇 권일까요?</a:t>
            </a:r>
            <a:endParaRPr lang="ko-KR" sz="3000" dirty="0"/>
          </a:p>
        </p:txBody>
      </p:sp>
      <p:graphicFrame>
        <p:nvGraphicFramePr>
          <p:cNvPr id="6" name="S04-chart51" descr=""/>
          <p:cNvGraphicFramePr/>
          <p:nvPr/>
        </p:nvGraphicFramePr>
        <p:xfrm>
          <a:off x="6706392" y="2606040"/>
          <a:ext cx="49339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04-stepno52"/>
          <p:cNvSpPr txBox="1"/>
          <p:nvPr/>
        </p:nvSpPr>
        <p:spPr>
          <a:xfrm>
            <a:off x="548640" y="27264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53"/>
          <p:cNvSpPr txBox="1"/>
          <p:nvPr/>
        </p:nvSpPr>
        <p:spPr>
          <a:xfrm>
            <a:off x="1325880" y="2680716"/>
            <a:ext cx="501475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숫자를 봐요.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0, 2, 4, 6 …</a:t>
            </a:r>
            <a:endParaRPr lang="ko-KR" sz="2400" dirty="0"/>
          </a:p>
        </p:txBody>
      </p:sp>
      <p:sp>
        <p:nvSpPr>
          <p:cNvPr id="9" name="S04-stepno54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55"/>
          <p:cNvSpPr txBox="1"/>
          <p:nvPr/>
        </p:nvSpPr>
        <p:spPr>
          <a:xfrm>
            <a:off x="1325880" y="3589020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 2권이에요.</a:t>
            </a:r>
            <a:endParaRPr lang="ko-KR" sz="2400" dirty="0"/>
          </a:p>
        </p:txBody>
      </p:sp>
      <p:sp>
        <p:nvSpPr>
          <p:cNvPr id="11" name="S04-stepno56"/>
          <p:cNvSpPr txBox="1"/>
          <p:nvPr/>
        </p:nvSpPr>
        <p:spPr>
          <a:xfrm>
            <a:off x="548640" y="43479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57"/>
          <p:cNvSpPr txBox="1"/>
          <p:nvPr/>
        </p:nvSpPr>
        <p:spPr>
          <a:xfrm>
            <a:off x="1325880" y="4302252"/>
            <a:ext cx="501475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과학책 막대는 5칸이니까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5 = 10, 10권이에요.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막대그래프로 알 수 있어요</a:t>
            </a:r>
            <a:endParaRPr lang="ko-KR" sz="4000" dirty="0"/>
          </a:p>
        </p:txBody>
      </p:sp>
      <p:sp>
        <p:nvSpPr>
          <p:cNvPr id="3" name="S05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축구는 야구보다 몇 명 더 많을까요?</a:t>
            </a:r>
            <a:endParaRPr lang="ko-KR" sz="3000" dirty="0"/>
          </a:p>
        </p:txBody>
      </p:sp>
      <p:sp>
        <p:nvSpPr>
          <p:cNvPr id="5" name="S05-card60"/>
          <p:cNvSpPr/>
          <p:nvPr/>
        </p:nvSpPr>
        <p:spPr>
          <a:xfrm>
            <a:off x="548640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61"/>
          <p:cNvSpPr txBox="1"/>
          <p:nvPr/>
        </p:nvSpPr>
        <p:spPr>
          <a:xfrm>
            <a:off x="822960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표: 합계를 알기 쉬워요.</a:t>
            </a:r>
            <a:endParaRPr lang="ko-KR" sz="3000" dirty="0"/>
          </a:p>
        </p:txBody>
      </p:sp>
      <p:sp>
        <p:nvSpPr>
          <p:cNvPr id="7" name="S05-card62"/>
          <p:cNvSpPr/>
          <p:nvPr/>
        </p:nvSpPr>
        <p:spPr>
          <a:xfrm>
            <a:off x="6208776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63"/>
          <p:cNvSpPr txBox="1"/>
          <p:nvPr/>
        </p:nvSpPr>
        <p:spPr>
          <a:xfrm>
            <a:off x="6483096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막대그래프: 많고 적음이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보여요.</a:t>
            </a:r>
            <a:endParaRPr lang="ko-KR" sz="3000" dirty="0"/>
          </a:p>
        </p:txBody>
      </p:sp>
      <p:graphicFrame>
        <p:nvGraphicFramePr>
          <p:cNvPr id="6" name="S05-table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29868" y="1382268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3657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축구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야구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수영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농구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S05-chart65" descr=""/>
          <p:cNvGraphicFramePr/>
          <p:nvPr/>
        </p:nvGraphicFramePr>
        <p:xfrm>
          <a:off x="6254496" y="1325880"/>
          <a:ext cx="5385816" cy="23073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그래프를 읽어요</a:t>
            </a:r>
            <a:endParaRPr lang="ko-KR" sz="4000" dirty="0"/>
          </a:p>
        </p:txBody>
      </p:sp>
      <p:sp>
        <p:nvSpPr>
          <p:cNvPr id="3" name="S06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마을별 나무 수를 나타낸 막대그래프예요.</a:t>
            </a:r>
            <a:endParaRPr lang="ko-KR" sz="3000" dirty="0"/>
          </a:p>
        </p:txBody>
      </p:sp>
      <p:sp>
        <p:nvSpPr>
          <p:cNvPr id="4" name="S06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눈금 숫자로 한 칸의 크기부터 알아봐요.</a:t>
            </a:r>
            <a:endParaRPr lang="ko-KR" sz="3000" dirty="0"/>
          </a:p>
        </p:txBody>
      </p:sp>
      <p:graphicFrame>
        <p:nvGraphicFramePr>
          <p:cNvPr id="6" name="S06-chart69" descr=""/>
          <p:cNvGraphicFramePr/>
          <p:nvPr/>
        </p:nvGraphicFramePr>
        <p:xfrm>
          <a:off x="6277356" y="2011680"/>
          <a:ext cx="5362956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06-chip7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06-text71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그루일까요?</a:t>
            </a:r>
            <a:endParaRPr lang="ko-KR" sz="3000" dirty="0"/>
          </a:p>
        </p:txBody>
      </p:sp>
      <p:sp>
        <p:nvSpPr>
          <p:cNvPr id="9" name="S06-chip7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6-text73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나무가 가장 많은 마을과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수는?</a:t>
            </a:r>
            <a:endParaRPr lang="ko-KR" sz="3000" dirty="0"/>
          </a:p>
        </p:txBody>
      </p:sp>
      <p:sp>
        <p:nvSpPr>
          <p:cNvPr id="11" name="S06-chip7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06-text75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마을은 라 마을보다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그루 더 많을까요?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수가 곧 수일까요?</a:t>
            </a:r>
            <a:endParaRPr lang="ko-KR" sz="4000" dirty="0"/>
          </a:p>
        </p:txBody>
      </p:sp>
      <p:sp>
        <p:nvSpPr>
          <p:cNvPr id="3" name="S07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안경을 쓴 학생 수예요. 누구 말이 맞을까요?</a:t>
            </a:r>
            <a:endParaRPr lang="ko-KR" sz="3000" dirty="0"/>
          </a:p>
        </p:txBody>
      </p:sp>
      <p:sp>
        <p:nvSpPr>
          <p:cNvPr id="5" name="S07-card78"/>
          <p:cNvSpPr/>
          <p:nvPr/>
        </p:nvSpPr>
        <p:spPr>
          <a:xfrm>
            <a:off x="548640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79"/>
          <p:cNvSpPr txBox="1"/>
          <p:nvPr/>
        </p:nvSpPr>
        <p:spPr>
          <a:xfrm>
            <a:off x="822960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3반 막대는 5칸이니까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5명이에요.</a:t>
            </a:r>
            <a:endParaRPr lang="ko-KR" sz="3000" dirty="0"/>
          </a:p>
        </p:txBody>
      </p:sp>
      <p:sp>
        <p:nvSpPr>
          <p:cNvPr id="7" name="S07-card80"/>
          <p:cNvSpPr/>
          <p:nvPr/>
        </p:nvSpPr>
        <p:spPr>
          <a:xfrm>
            <a:off x="6208776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81"/>
          <p:cNvSpPr txBox="1"/>
          <p:nvPr/>
        </p:nvSpPr>
        <p:spPr>
          <a:xfrm>
            <a:off x="6483096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한 칸이 2명이니까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3반은 10명이에요.</a:t>
            </a:r>
            <a:endParaRPr lang="ko-KR" sz="3000" dirty="0"/>
          </a:p>
        </p:txBody>
      </p:sp>
      <p:graphicFrame>
        <p:nvGraphicFramePr>
          <p:cNvPr id="9" name="S07-chart82" descr=""/>
          <p:cNvGraphicFramePr/>
          <p:nvPr/>
        </p:nvGraphicFramePr>
        <p:xfrm>
          <a:off x="548640" y="1325880"/>
          <a:ext cx="11091672" cy="23073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막대그래프로 나타내요</a:t>
            </a:r>
            <a:endParaRPr lang="ko-KR" sz="4000" dirty="0"/>
          </a:p>
        </p:txBody>
      </p:sp>
      <p:sp>
        <p:nvSpPr>
          <p:cNvPr id="3" name="S08-text8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봄 6명, 여름 10명, 가을 8명, 겨울 4명</a:t>
            </a:r>
            <a:endParaRPr lang="ko-KR" sz="3000" dirty="0"/>
          </a:p>
        </p:txBody>
      </p:sp>
      <p:graphicFrame>
        <p:nvGraphicFramePr>
          <p:cNvPr id="4" name="S08-chart84" descr=""/>
          <p:cNvGraphicFramePr/>
          <p:nvPr/>
        </p:nvGraphicFramePr>
        <p:xfrm>
          <a:off x="6277356" y="2606040"/>
          <a:ext cx="5362956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08-stepno85"/>
          <p:cNvSpPr txBox="1"/>
          <p:nvPr/>
        </p:nvSpPr>
        <p:spPr>
          <a:xfrm>
            <a:off x="548640" y="28209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86"/>
          <p:cNvSpPr txBox="1"/>
          <p:nvPr/>
        </p:nvSpPr>
        <p:spPr>
          <a:xfrm>
            <a:off x="1325880" y="2775204"/>
            <a:ext cx="45857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가로에 계절, 세로에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 수를 정해요.</a:t>
            </a:r>
            <a:endParaRPr lang="ko-KR" sz="2400" dirty="0"/>
          </a:p>
        </p:txBody>
      </p:sp>
      <p:sp>
        <p:nvSpPr>
          <p:cNvPr id="7" name="S08-stepno87"/>
          <p:cNvSpPr txBox="1"/>
          <p:nvPr/>
        </p:nvSpPr>
        <p:spPr>
          <a:xfrm>
            <a:off x="548640" y="37292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88"/>
          <p:cNvSpPr txBox="1"/>
          <p:nvPr/>
        </p:nvSpPr>
        <p:spPr>
          <a:xfrm>
            <a:off x="1325880" y="3683508"/>
            <a:ext cx="45857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칸을 2명으로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정해요.</a:t>
            </a:r>
            <a:endParaRPr lang="ko-KR" sz="2400" dirty="0"/>
          </a:p>
        </p:txBody>
      </p:sp>
      <p:sp>
        <p:nvSpPr>
          <p:cNvPr id="9" name="S08-stepno89"/>
          <p:cNvSpPr txBox="1"/>
          <p:nvPr/>
        </p:nvSpPr>
        <p:spPr>
          <a:xfrm>
            <a:off x="548640" y="4637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90"/>
          <p:cNvSpPr txBox="1"/>
          <p:nvPr/>
        </p:nvSpPr>
        <p:spPr>
          <a:xfrm>
            <a:off x="1325880" y="4591812"/>
            <a:ext cx="4585716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수에 맞게 막대를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그려요.</a:t>
            </a:r>
            <a:endParaRPr lang="ko-KR" sz="2400" dirty="0"/>
          </a:p>
        </p:txBody>
      </p:sp>
      <p:sp>
        <p:nvSpPr>
          <p:cNvPr id="11" name="S08-stepno91"/>
          <p:cNvSpPr txBox="1"/>
          <p:nvPr/>
        </p:nvSpPr>
        <p:spPr>
          <a:xfrm>
            <a:off x="548640" y="5500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92"/>
          <p:cNvSpPr txBox="1"/>
          <p:nvPr/>
        </p:nvSpPr>
        <p:spPr>
          <a:xfrm>
            <a:off x="1325880" y="5500116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제목을 붙여요.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그래프는?</a:t>
            </a:r>
            <a:endParaRPr lang="ko-KR" sz="4000" dirty="0"/>
          </a:p>
        </p:txBody>
      </p:sp>
      <p:sp>
        <p:nvSpPr>
          <p:cNvPr id="3" name="S09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강아지 8명, 고양이 6명, 토끼 2명, 햄스터 4명</a:t>
            </a:r>
            <a:endParaRPr lang="ko-KR" sz="3000" dirty="0"/>
          </a:p>
        </p:txBody>
      </p:sp>
      <p:sp>
        <p:nvSpPr>
          <p:cNvPr id="4" name="S09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표에 맞는 막대그래프는 가와 나 중 어느 것일까요?</a:t>
            </a:r>
            <a:endParaRPr lang="ko-KR" sz="3000" dirty="0"/>
          </a:p>
        </p:txBody>
      </p:sp>
      <p:sp>
        <p:nvSpPr>
          <p:cNvPr id="6" name="S09-chip96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graphicFrame>
        <p:nvGraphicFramePr>
          <p:cNvPr id="7" name="S09-chart97" descr=""/>
          <p:cNvGraphicFramePr/>
          <p:nvPr/>
        </p:nvGraphicFramePr>
        <p:xfrm>
          <a:off x="548640" y="2715768"/>
          <a:ext cx="5362956" cy="2404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09-chip98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graphicFrame>
        <p:nvGraphicFramePr>
          <p:cNvPr id="9" name="S09-chart99" descr=""/>
          <p:cNvGraphicFramePr/>
          <p:nvPr/>
        </p:nvGraphicFramePr>
        <p:xfrm>
          <a:off x="6277356" y="2715768"/>
          <a:ext cx="5362956" cy="2404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10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반별 칭찬 스티커 수예요.</a:t>
            </a:r>
            <a:endParaRPr lang="ko-KR" sz="3000" dirty="0"/>
          </a:p>
        </p:txBody>
      </p:sp>
      <p:graphicFrame>
        <p:nvGraphicFramePr>
          <p:cNvPr id="4" name="S10-chart101" descr=""/>
          <p:cNvGraphicFramePr/>
          <p:nvPr/>
        </p:nvGraphicFramePr>
        <p:xfrm>
          <a:off x="6277356" y="2011680"/>
          <a:ext cx="5362956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10-chip10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0-text103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장일까요?</a:t>
            </a:r>
            <a:endParaRPr lang="ko-KR" sz="3000" dirty="0"/>
          </a:p>
        </p:txBody>
      </p:sp>
      <p:sp>
        <p:nvSpPr>
          <p:cNvPr id="7" name="S10-chip10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0-text105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많은 반과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스티커 수는?</a:t>
            </a:r>
            <a:endParaRPr lang="ko-KR" sz="3000" dirty="0"/>
          </a:p>
        </p:txBody>
      </p:sp>
      <p:sp>
        <p:nvSpPr>
          <p:cNvPr id="9" name="S10-chip10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0-text107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4반은 3반보다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장 더 많을까요?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10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0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틀렸다면 “한 칸이 몇 장이었지?”라고 묻고 다시 읽게 하세요.</a:t>
            </a:r>
            <a:endParaRPr lang="ko-KR" sz="3000" dirty="0"/>
          </a:p>
        </p:txBody>
      </p:sp>
      <p:sp>
        <p:nvSpPr>
          <p:cNvPr id="5" name="S11-chip110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111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10장</a:t>
            </a:r>
            <a:endParaRPr lang="ko-KR" sz="3000" dirty="0"/>
          </a:p>
        </p:txBody>
      </p:sp>
      <p:sp>
        <p:nvSpPr>
          <p:cNvPr id="7" name="S11-text112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눈금이 10씩 커짐</a:t>
            </a:r>
            <a:endParaRPr lang="ko-KR" sz="2400" dirty="0"/>
          </a:p>
        </p:txBody>
      </p:sp>
      <p:sp>
        <p:nvSpPr>
          <p:cNvPr id="8" name="S11-text113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2반, 50장</a:t>
            </a:r>
            <a:endParaRPr lang="ko-KR" sz="3000" dirty="0"/>
          </a:p>
        </p:txBody>
      </p:sp>
      <p:sp>
        <p:nvSpPr>
          <p:cNvPr id="9" name="S11-text114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긴 막대</a:t>
            </a:r>
            <a:endParaRPr lang="ko-KR" sz="2400" dirty="0"/>
          </a:p>
        </p:txBody>
      </p:sp>
      <p:sp>
        <p:nvSpPr>
          <p:cNvPr id="10" name="S11-text115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20장</a:t>
            </a:r>
            <a:endParaRPr lang="ko-KR" sz="3000" dirty="0"/>
          </a:p>
        </p:txBody>
      </p:sp>
      <p:sp>
        <p:nvSpPr>
          <p:cNvPr id="11" name="S11-text116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40 − 20</a:t>
            </a:r>
            <a:endParaRPr lang="ko-KR" sz="2400" dirty="0"/>
          </a:p>
        </p:txBody>
      </p:sp>
      <p:sp>
        <p:nvSpPr>
          <p:cNvPr id="12" name="S11-chip11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11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2반, 5장</a:t>
            </a:r>
            <a:endParaRPr lang="ko-KR" sz="3000" dirty="0"/>
          </a:p>
        </p:txBody>
      </p:sp>
      <p:sp>
        <p:nvSpPr>
          <p:cNvPr id="14" name="S11-text11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수만 셈</a:t>
            </a:r>
            <a:endParaRPr lang="ko-KR" sz="2400" dirty="0"/>
          </a:p>
        </p:txBody>
      </p:sp>
      <p:sp>
        <p:nvSpPr>
          <p:cNvPr id="15" name="S11-text12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2장</a:t>
            </a:r>
            <a:endParaRPr lang="ko-KR" sz="3000" dirty="0"/>
          </a:p>
        </p:txBody>
      </p:sp>
      <p:sp>
        <p:nvSpPr>
          <p:cNvPr id="16" name="S11-text12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수 차이만 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그리기 전에 정해요</a:t>
            </a:r>
            <a:endParaRPr lang="ko-KR" sz="4000" dirty="0"/>
          </a:p>
        </p:txBody>
      </p:sp>
      <p:sp>
        <p:nvSpPr>
          <p:cNvPr id="3" name="S12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색깔별 학생 수예요.</a:t>
            </a:r>
            <a:endParaRPr lang="ko-KR" sz="3000" dirty="0"/>
          </a:p>
        </p:txBody>
      </p:sp>
      <p:graphicFrame>
        <p:nvGraphicFramePr>
          <p:cNvPr id="13" name="S12-table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697480"/>
          <a:ext cx="402336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2212848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학생 수(명)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2-chip12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12-text125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2명으로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막대는 몇 칸?</a:t>
            </a:r>
            <a:endParaRPr lang="ko-KR" sz="3000" dirty="0"/>
          </a:p>
        </p:txBody>
      </p:sp>
      <p:sp>
        <p:nvSpPr>
          <p:cNvPr id="7" name="S12-chip12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" name="S12-text127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2명으로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노랑 막대는 몇 칸?</a:t>
            </a:r>
            <a:endParaRPr lang="ko-KR" sz="3000" dirty="0"/>
          </a:p>
        </p:txBody>
      </p:sp>
      <p:sp>
        <p:nvSpPr>
          <p:cNvPr id="9" name="S12-chip12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0" name="S12-text129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1명으로 하면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막대는 몇 칸?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30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31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막대그래프는 수를 막대의 길이로 나타내요. 눈금 한 칸의 크기부터 봐요.</a:t>
            </a:r>
            <a:endParaRPr lang="ko-KR" sz="3000" dirty="0"/>
          </a:p>
        </p:txBody>
      </p:sp>
      <p:sp>
        <p:nvSpPr>
          <p:cNvPr id="5" name="S13-chip132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눈금 한 칸의 크기 확인하기</a:t>
            </a:r>
            <a:endParaRPr lang="ko-KR" sz="2400" dirty="0"/>
          </a:p>
        </p:txBody>
      </p:sp>
      <p:sp>
        <p:nvSpPr>
          <p:cNvPr id="6" name="S13-chip133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칸 수를 그대로 수로 읽기</a:t>
            </a:r>
            <a:endParaRPr lang="ko-KR" sz="2400" dirty="0"/>
          </a:p>
        </p:txBody>
      </p:sp>
      <p:sp>
        <p:nvSpPr>
          <p:cNvPr id="7" name="S13-text134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35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한 칸이 5명일 때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4칸은 몇 명?</a:t>
            </a:r>
            <a:endParaRPr lang="ko-KR" sz="2400" dirty="0"/>
          </a:p>
        </p:txBody>
      </p:sp>
      <p:sp>
        <p:nvSpPr>
          <p:cNvPr id="9" name="S13-text136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14명을 한 칸 2명으로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그리면 몇 칸?</a:t>
            </a:r>
            <a:endParaRPr lang="ko-KR" sz="2400" dirty="0"/>
          </a:p>
        </p:txBody>
      </p:sp>
      <p:sp>
        <p:nvSpPr>
          <p:cNvPr id="10" name="S13-text137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가장 많은 것은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찾아요?</a:t>
            </a:r>
            <a:endParaRPr lang="ko-KR" sz="2400" dirty="0"/>
          </a:p>
        </p:txBody>
      </p:sp>
      <p:sp>
        <p:nvSpPr>
          <p:cNvPr id="11" name="S13-text13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꺾은선그래프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칸을 세어 읽어요</a:t>
            </a:r>
            <a:endParaRPr lang="ko-KR" sz="4000" dirty="0"/>
          </a:p>
        </p:txBody>
      </p:sp>
      <p:sp>
        <p:nvSpPr>
          <p:cNvPr id="3" name="S14-text1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눈금 한 칸이 1명인 막대그래프예요.</a:t>
            </a:r>
            <a:endParaRPr lang="ko-KR" sz="3000" dirty="0"/>
          </a:p>
        </p:txBody>
      </p:sp>
      <p:sp>
        <p:nvSpPr>
          <p:cNvPr id="4" name="S14-card1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끝에서 옆으로 따라가 눈금 숫자를 읽어요.</a:t>
            </a:r>
            <a:endParaRPr lang="ko-KR" sz="3000" dirty="0"/>
          </a:p>
        </p:txBody>
      </p:sp>
      <p:graphicFrame>
        <p:nvGraphicFramePr>
          <p:cNvPr id="6" name="S14-chart142" descr=""/>
          <p:cNvGraphicFramePr/>
          <p:nvPr/>
        </p:nvGraphicFramePr>
        <p:xfrm>
          <a:off x="548640" y="2011680"/>
          <a:ext cx="1109167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막대그래프</dc:title>
  <dc:subject>KR22-G04-MAT-BARGRAPH-L01</dc:subject>
  <dc:creator>education-ppt</dc:creator>
  <cp:lastModifiedBy>education-ppt</cp:lastModifiedBy>
  <cp:revision>1</cp:revision>
  <dcterms:created xsi:type="dcterms:W3CDTF">2026-10-26T07:54:53Z</dcterms:created>
  <dcterms:modified xsi:type="dcterms:W3CDTF">2026-10-26T07:54:53Z</dcterms:modified>
</cp:coreProperties>
</file>