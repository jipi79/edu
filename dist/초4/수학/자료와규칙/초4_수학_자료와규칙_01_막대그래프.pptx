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6fffa56-5deb-ebc0-9ad7-bb4adcd29bb1}">
          <p14:sldIdLst>
            <p14:sldId id="256"/>
            <p14:sldId id="257"/>
          </p14:sldIdLst>
        </p14:section>
        <p14:section name="개념" id="{3ae25bf8-16c1-be75-70da-14023bb711b5}">
          <p14:sldIdLst>
            <p14:sldId id="258"/>
            <p14:sldId id="259"/>
            <p14:sldId id="260"/>
            <p14:sldId id="263"/>
          </p14:sldIdLst>
        </p14:section>
        <p14:section name="연습" id="{95a8f3c6-1c73-686f-c179-fd76bb2b721b}">
          <p14:sldIdLst>
            <p14:sldId id="261"/>
            <p14:sldId id="262"/>
            <p14:sldId id="264"/>
          </p14:sldIdLst>
        </p14:section>
        <p14:section name="개념" id="{bcbe6409-a765-02cf-35db-e0c5dee38c8e}">
          <p14:sldIdLst/>
        </p14:section>
        <p14:section name="연습" id="{53ba7be3-9158-dbc2-7028-5ee0ec012adf}">
          <p14:sldIdLst/>
        </p14:section>
        <p14:section name="확인" id="{1a4a758f-ee03-8b33-233f-e840272cb7cc}">
          <p14:sldIdLst>
            <p14:sldId id="265"/>
            <p14:sldId id="266"/>
            <p14:sldId id="267"/>
          </p14:sldIdLst>
        </p14:section>
        <p14:section name="정리" id="{43a74ba5-4d0e-9090-4af1-e327da747022}">
          <p14:sldIdLst>
            <p14:sldId id="268"/>
          </p14:sldIdLst>
        </p14:section>
        <p14:section name="보충" id="{53b211f6-95be-2183-6592-af916a50aeb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수를 막대의 길이로 나타내면 많고 적음이 한눈에 보인다는 것을 느끼게 합니다.
시간: 약 2분
이렇게 말해 보세요
- “친구들이 좋아하는 운동을 조사했어. 오른쪽 그림처럼 막대로 나타내면 어떤 운동이 가장 인기 있는지 바로 보여.”
- “오늘은 이런 그래프를 읽고, 직접 그리는 방법을 배울 거야.”
예상 답
- “제일 긴 막대요.” “첫 번째가 제일 많아요.” 어떤 답이든 괜찮습니다.
막히면
- 답을 확인하지 않고 넘어갑니다. S03에서 같은 자료를 다시 봅니다.
주의
- 오른쪽 그림은 S03의 막대그래프 모양만 보여 줍니다(눈금 숫자는 없음). 지금은 수를 읽지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확인(그림그래프 읽기)]
목적: 그림그래프에서 큰 그림(●)과 작은 그림(○)이 나타내는 수를 구별해 읽는지 확인합니다. 그림 하나의 크기를 먼저 보는 것은 오늘 배울 ‘눈금 한 칸의 크기’와 같은 생각입니다.
시간: 약 3분
이렇게 말해 보세요
- “●는 10명, ○는 1명이야. 가 마을은 몇 명일까?”
- “학생이 가장 많은 마을은 어디야? 어떻게 알았어?”
- “다 마을은 몇 명이야?”
정답
- ① 23명(10 × 2 + 3)
- ② 나 마을(31명). 그림 수는 가 마을(5개)보다 적지만 ●가 3개입니다.
- ③ 16명(10 + 6)
막히면
- 그림의 개수만 세면 ●와 ○를 손가락으로 따로 짚으며 “10, 20, 21, 22, 23”처럼 세게 합니다.
- ●와 ○의 크기를 구별하지 못하면 S14(보충)를 먼저 합니다. 보충으로도 어려우면 앞 차시 ‘그림그래프’를 다시 합니다.
주의
- ②에서 그림이 가장 많은 가 마을을 고르면, 오늘 배울 막대그래프에서도 ‘칸 수’만 세는 실수(M1)를 할 수 있으니 눈여겨봅니다.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막대그래프의 뜻과 짜임]
목적: 막대그래프의 제목·가로·세로·눈금·막대가 무엇을 나타내는지 압니다.
시간: 약 3분
이렇게 말해 보세요
- “친구 18명이 좋아하는 운동을 조사해서 막대로 나타냈어. 이런 그래프를 막대그래프라고 해.”
- “가로에는 무엇이 있어? 세로의 숫자는 무엇을 나타낼까?”
- “세로 눈금이 0, 1, 2 …로 커지지? 눈금 한 칸은 몇 명이야?”
- “축구를 좋아하는 학생은 몇 명이야? 막대 끝에서 옆으로 따라가 봐.”
예상 답
- “가로는 운동이에요.” “세로는 학생 수예요.” “한 칸은 1명이에요.” “축구는 6명이에요.”
막히면
- 막대 끝에 자(또는 종이 띠)를 가로로 대고 세로 눈금 숫자까지 따라가게 합니다.
주의
- 화면의 그래프는 세로 눈금마다 숫자가 쓰여 있습니다. 교과서 그래프는 몇 칸마다 숫자를 쓰기도 하니, 숫자 사이의 칸 수로 한 칸의 크기를 구하는 습관을 들입니다.
- 막대의 굵기는 뜻이 없고 길이(높이)만 수를 나타냅니다. 제목은 무엇을 조사했는지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눈금 한 칸의 크기를 알고 읽기(시범)]
목적: 눈금 한 칸이 1이 아닐 때 세로 눈금 숫자로 한 칸의 크기를 알아내고, 칸 수에 곱해 막대가 나타내는 수를 읽는 방법을 보여 줍니다.
시간: 약 4분
이렇게 말해 보세요
- “세로 눈금 숫자를 아래부터 읽어 볼까? 0, 2, 4 … 한 칸 올라갈 때마다 얼마씩 커져?”
- “그러면 눈금 한 칸은 몇 권이야?”
- “과학 막대는 몇 칸이야? 한 칸이 2권이니까 과학책은 모두 몇 권일까?”
- “동화책은 몇 권일까? 막대 끝에서 옆으로 따라가 눈금 숫자로도 확인해 봐.”
예상 답
- “2씩 커져요.” “한 칸은 2권이에요.” “과학책은 10권이에요.” “동화책은 12권이에요.”
막히면
- 눈금 한 칸마다 손가락으로 짚으며 “2, 4, 6, 8, 10”처럼 2씩 뛰어 세게 합니다.
주의
- 막대 끝이 닿은 눈금의 숫자를 읽는 방법과, 칸 수 × 한 칸의 크기로 구하는 방법이 같은 답이 되는지 꼭 비교합니다.
- 위인전 6권, 만화책 4권도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표와 막대그래프 비교, 그래프에서 알 수 있는 것]
목적: 같은 자료를 표와 막대그래프로 비교하고, 막대그래프에서 가장 많은 것과 두 항목의 차이를 읽습니다.
시간: 약 3분
이렇게 말해 보세요
- “표와 막대그래프는 같은 자료야. 모두 몇 명인지 알고 싶으면 어느 쪽을 보면 좋을까?”
- “가장 많은 학생이 좋아하는 운동은? 가장 적은 운동은? 그래프에서 어떻게 바로 알았어?”
- “축구는 야구보다 몇 명 더 많아? 막대 끝의 높이 차이를 칸으로 세어 봐.”
예상 답
- “합계는 표에 있어요.” “축구가 가장 많아요. 막대가 제일 길어요.” “야구가 가장 적어요.” “3명 더 많아요(6 − 3).”
막히면
- 두 막대 사이에 자를 가로로 대고 짧은 막대 끝 위로 남는 칸을 세게 합니다.
주의
- 표는 정확한 수와 합계를, 막대그래프는 크기 비교를 한눈에 보여 준다는 것을 아이 말로 정리하게 합니다.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연습(눈금 한 칸이 5인 그래프 읽기)]
목적: 도움을 받으며 눈금 한 칸이 5인 막대그래프를 읽고, 가장 많은 것과 두 항목의 차이를 구합니다.
시간: 약 4분
이렇게 말해 보세요
- “세로 눈금 숫자가 얼마씩 커져? 그러면 한 칸은 몇 그루야?”
- “가장 긴 막대는 어느 마을이야? 몇 그루야?”
- “가 마을과 라 마을은 각각 몇 그루야? 몇 그루 차이야?”
정답
- ① 5그루
- ② 다 마을, 30그루(6칸 × 5)
- ③ 15그루(25 − 10, 3칸 차이 × 5)
막히면
- 눈금을 짚으며 “5, 10, 15 …”로 뛰어 세게 합니다.
- ③은 두 막대의 칸 수 차이(3칸)를 먼저 세고, 한 칸이 5그루이니 15그루라고 연결합니다.
주의
- ③에서 ‘3그루’라고 하면 칸 수 차이만 센 것입니다(M1). “한 칸이 몇 그루였지?”라고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비교(칸 수를 그대로 수로 읽기)]
목적: 눈금 한 칸의 크기를 보지 않고 칸 수를 그대로 수로 읽는 실수(M1)를 직접 반박합니다.
시간: 약 3분
이렇게 말해 보세요
- “토끼와 곰이 3반 막대를 읽었어. 누구 말이 맞아? 세로 눈금 숫자를 보고 까닭을 말해 줘.”
- “토끼는 무엇을 빠뜨렸을까?”
- “1반은 몇 명일까?”
예상 답
- “곰이요. 막대 끝이 10에 닿아요.”
정답
- 곰이 맞습니다. 세로 눈금이 2씩 커지므로 한 칸은 2명이고, 3반은 5칸이라 10명입니다.
- 토끼는 눈금 한 칸의 크기(2명)를 보지 않고 칸 수를 그대로 읽었습니다.
- 1반: 4칸 × 2 = 8명
막히면
- 3반 막대 끝에서 옆으로 따라가 세로 눈금 숫자(10)를 직접 읽게 합니다.
주의
- 그림그래프의 ●(10명)를 1명으로 센 실수와 같은 실수라고 S02와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표를 막대그래프로 나타내는 순서(시범)]
목적: 표를 보고 가로·세로 정하기 → 눈금 한 칸의 크기 정하기 → 막대 그리기 → 제목 붙이기 순서로 막대그래프를 나타내는 방법을 보여 줍니다.
시간: 약 4분
이렇게 말해 보세요
- “가로에 계절을 쓰고, 세로에 학생 수를 나타내자.”
- “가장 큰 수가 10이야. 한 칸을 1명으로 하면 10칸, 2명으로 하면 몇 칸이면 될까?”
- “여름은 10명이니까 한 칸이 2명이면 몇 칸 높이로 그려야 해? 봄, 가을, 겨울은?”
- “마지막으로 무엇을 조사했는지 제목을 붙여.”
예상 답
- “5칸이요.” “봄 3칸, 여름 5칸, 가을 4칸, 겨울 2칸이에요.”
막히면
- “6명은 2명씩 몇 묶음이야?”처럼 나눗셈으로 칸 수를 구하게 합니다(6 ÷ 2 = 3).
주의
- 눈금 한 칸의 크기는 가장 큰 수가 들어가고, 막대 끝이 눈금에 맞도록 정합니다. 이 자료는 모두 짝수라서 2명으로 해도 막대 끝이 눈금에 딱 맞습니다.
- 세로 눈금은 가장 큰 수(10)보다 조금 더(12) 그려도 됩니다. 가로 막대그래프도 있다는 것은 말로만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연습(표에 맞는 막대그래프 찾기)]
목적: 도움을 받으며 표의 수와 막대가 나타내는 수(칸 수 × 2명)가 같은지 확인합니다.
시간: 약 3분
이렇게 말해 보세요
- “눈금 한 칸은 몇 명이야? 가와 나에서 동물마다 막대가 나타내는 수를 읽어 봐.”
- “표와 같은 것은 어느 쪽이야? 다른 쪽은 어디가 틀렸어?”
정답
- 나. 토끼 4칸(8명), 사자 3칸(6명), 기린 1칸(2명), 판다 2칸(4명)입니다.
- 가는 사자가 4명, 판다가 6명으로 표와 다릅니다(두 막대가 바뀜).
막히면
- 동물 하나씩 정해 표의 수 → 칸 수(÷ 2) → 그래프의 칸 수 순서로 비교합니다.
주의
- 표와 막대그래프는 같은 자료이므로 수가 똑같아야 합니다. 막대를 그린 뒤에는 표와 다시 대조하는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해결(눈금 한 칸이 10인 그래프 읽기)]
목적: 도움 없이 눈금 한 칸의 크기를 알아내고, 가장 많은 것과 두 항목의 차이를 읽는지 확인합니다.
시간: 약 4분
이렇게 말해 보세요
- “이번에는 혼자 해 볼래? 답을 말할 때 어떻게 알았는지도 말해 줘.”
정답
- ① 10장(세로 눈금이 10씩 커짐)
- ② 2반, 50장
- ③ 20장(40 − 20)
막히면
- 바로 알려 주지 말고 “세로 눈금 숫자가 얼마씩 커져?”라고만 묻습니다.
- 도움을 받아 해결했다면 기록표에 ‘도움’으로 표시합니다.
주의
- 정답 확인은 다음 장(S11)에서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칸 수만 세는 실수를 바로잡습니다. 수업용에만 있는 장입니다.
시간: 약 2분
이렇게 말해 보세요
- “네 답과 같은지 볼까? 다르면 어디서 달라졌는지 찾아보자.”
정답
- ① 10장 ② 2반, 50장 ③ 20장
막히면
- 칸 수로 답했다면 S07로 돌아가 토끼의 실수와 같은지 비교합니다(M1).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확인(막대그래프로 나타낼 칸 수 정하기)]
목적: 처음 보는 표에서 눈금 한 칸의 크기에 따라 막대의 칸 수가 달라진다는 것을 알고, 칸 수를 바르게 정하는지 확인합니다.
시간: 약 3분
이렇게 말해 보세요
- “이 표를 막대그래프로 그리려고 해. 한 칸을 2명으로 하면 파랑 막대는 몇 칸 높이야? 노랑은?”
- “한 칸을 1명으로 바꾸면 파랑은 몇 칸이 될까? 어느 쪽이 그리기 편할까?”
정답
- ① 6칸(12 ÷ 2)
- ② 3칸(6 ÷ 2)
- ③ 12칸. 한 칸을 2명으로 하면 칸 수가 반으로 줄어 그리기 편합니다.
막히면
- 바둑돌 12개를 2개씩 묶어 묶음 수를 세게 합니다.
주의
- ①에서 12칸이라고 하면 눈금 한 칸의 크기를 생각하지 않은 것입니다(M2).
- 실제로 그리는 것은 활동지 2번에서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“막대그래프를 읽을 때 가장 먼저 무엇을 봐야 할까?”
- “다음 수업을 시작할 때 이 세 문제를 먼저 풀 거야.”
예상 답
- “눈금 한 칸이 몇인지 봐요.”
정답
- ① 20명(5 × 4) ② 7칸(14 ÷ 2) ③ 가장 긴 막대를 찾습니다.
막히면
- S04의 그래프를 다시 보여 주고 한 칸의 크기를 찾는 방법을 따라 말하게 합니다.
주의
- 복습 세 문제는 다음 수업을 시작할 때 활동지 마지막 쪽과 함께 풉니다.
- S10·S12 결과를 기록표에 적어 두면 다음 차시(꺾은선그래프)로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보충(그래프의 칸 세기, 한 칸이 1인 그래프)]
목적: S02에서 그림이 나타내는 수를 구별하지 못하거나 그래프 읽기가 흔들리면, 한 칸이 1인 그래프에서 칸을 세어 읽는 것부터 합니다.
시간: 약 5분
이렇게 말해 보세요
- “사과 막대는 몇 칸이야? 한 칸씩 짚으면서 세어 봐.”
- “막대 끝에서 옆으로 따라가면 세로 눈금 숫자는 몇이야? 센 칸 수와 같아?”
- “포도와 귤은 몇 명이야?”
정답
- 사과 5명, 포도 3명, 귤 4명
막히면
- 바둑돌을 막대 높이만큼 쌓아 세게 합니다(한 칸 = 바둑돌 1개).
- 그 다음 바둑돌 하나를 ‘2명’으로 정하고 “바둑돌 3개는 몇 명?”처럼 묻습니다(그림그래프의 ●와 같은 생각).
주의
- 보충으로도 어려우면 앞 차시 ‘그림그래프’를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운동을 가장 좋아할까?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869555" y="10058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6955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6955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6955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6955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6955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막대그래프 모양: 축구 막대 6칸"/>
          <p:cNvSpPr/>
          <p:nvPr/>
        </p:nvSpPr>
        <p:spPr>
          <a:xfrm>
            <a:off x="786955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3254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3254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32545" y="17373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3254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3254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3254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막대그래프 모양: 야구 막대 3칸"/>
          <p:cNvSpPr/>
          <p:nvPr/>
        </p:nvSpPr>
        <p:spPr>
          <a:xfrm>
            <a:off x="893254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99553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99553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9553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99553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999553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99553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막대그래프 모양: 수영 막대 5칸"/>
          <p:cNvSpPr/>
          <p:nvPr/>
        </p:nvSpPr>
        <p:spPr>
          <a:xfrm>
            <a:off x="999553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5852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5852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5852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5852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5852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5852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막대그래프 모양: 농구 막대 4칸"/>
          <p:cNvSpPr/>
          <p:nvPr/>
        </p:nvSpPr>
        <p:spPr>
          <a:xfrm>
            <a:off x="1105852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막대그래프를 읽고 알 수 있는 것을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표를 보고 막대그래프로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그림그래프예요. ●는 10명, ○는 1명이에요.</a:t>
            </a:r>
            <a:endParaRPr lang="ko-KR" sz="3000" dirty="0"/>
          </a:p>
        </p:txBody>
      </p:sp>
      <p:graphicFrame>
        <p:nvGraphicFramePr>
          <p:cNvPr id="3" name="S02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3012440"/>
          <a:ext cx="420624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944368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●●●○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●○○○○○○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2-chip3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2-text34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7" name="S02-chip3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2-text36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학생이 가장 많은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마을은 어디일까요?</a:t>
            </a:r>
            <a:endParaRPr lang="ko-KR" sz="3000" dirty="0"/>
          </a:p>
        </p:txBody>
      </p:sp>
      <p:sp>
        <p:nvSpPr>
          <p:cNvPr id="9" name="S02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2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 알아보기</a:t>
            </a:r>
            <a:endParaRPr lang="ko-KR" sz="4000" dirty="0"/>
          </a:p>
        </p:txBody>
      </p:sp>
      <p:sp>
        <p:nvSpPr>
          <p:cNvPr id="3" name="S03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수를 막대의 길이로 나타낸 그래프를 막대그래프라고 해요.</a:t>
            </a:r>
            <a:endParaRPr lang="ko-KR" sz="3000" dirty="0"/>
          </a:p>
        </p:txBody>
      </p:sp>
      <p:sp>
        <p:nvSpPr>
          <p:cNvPr id="5" name="S03-figure41" descr="막대그래프 ‘좋아하는 운동별 학생 수’(세로 눈금 한 칸 1): 축구 6, 야구 3, 수영 5, 농구 4"/>
          <p:cNvSpPr/>
          <p:nvPr/>
        </p:nvSpPr>
        <p:spPr>
          <a:xfrm>
            <a:off x="2333090" y="2235539"/>
            <a:ext cx="409109" cy="2045547"/>
          </a:xfrm>
          <a:custGeom>
            <a:avLst/>
            <a:gdLst/>
            <a:ahLst/>
            <a:cxnLst/>
            <a:rect l="l" t="t" r="r" b="b"/>
            <a:pathLst>
              <a:path w="409109" h="2045547">
                <a:moveTo>
                  <a:pt x="0" y="2045547"/>
                </a:moveTo>
                <a:lnTo>
                  <a:pt x="409109" y="2045547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mark42"/>
          <p:cNvSpPr/>
          <p:nvPr/>
        </p:nvSpPr>
        <p:spPr>
          <a:xfrm>
            <a:off x="3151309" y="3258312"/>
            <a:ext cx="409109" cy="1022773"/>
          </a:xfrm>
          <a:custGeom>
            <a:avLst/>
            <a:gdLst/>
            <a:ahLst/>
            <a:cxnLst/>
            <a:rect l="l" t="t" r="r" b="b"/>
            <a:pathLst>
              <a:path w="409109" h="1022773">
                <a:moveTo>
                  <a:pt x="0" y="1022773"/>
                </a:moveTo>
                <a:lnTo>
                  <a:pt x="409109" y="1022773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43"/>
          <p:cNvSpPr/>
          <p:nvPr/>
        </p:nvSpPr>
        <p:spPr>
          <a:xfrm>
            <a:off x="3969528" y="2576463"/>
            <a:ext cx="409109" cy="1704622"/>
          </a:xfrm>
          <a:custGeom>
            <a:avLst/>
            <a:gdLst/>
            <a:ahLst/>
            <a:cxnLst/>
            <a:rect l="l" t="t" r="r" b="b"/>
            <a:pathLst>
              <a:path w="409109" h="1704622">
                <a:moveTo>
                  <a:pt x="0" y="1704622"/>
                </a:moveTo>
                <a:lnTo>
                  <a:pt x="409109" y="1704622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44"/>
          <p:cNvSpPr/>
          <p:nvPr/>
        </p:nvSpPr>
        <p:spPr>
          <a:xfrm>
            <a:off x="4787746" y="2917388"/>
            <a:ext cx="409109" cy="1363698"/>
          </a:xfrm>
          <a:custGeom>
            <a:avLst/>
            <a:gdLst/>
            <a:ahLst/>
            <a:cxnLst/>
            <a:rect l="l" t="t" r="r" b="b"/>
            <a:pathLst>
              <a:path w="409109" h="1363698">
                <a:moveTo>
                  <a:pt x="0" y="1363698"/>
                </a:moveTo>
                <a:lnTo>
                  <a:pt x="409109" y="1363698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45"/>
          <p:cNvSpPr/>
          <p:nvPr/>
        </p:nvSpPr>
        <p:spPr>
          <a:xfrm>
            <a:off x="2026258" y="3940161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46"/>
          <p:cNvSpPr/>
          <p:nvPr/>
        </p:nvSpPr>
        <p:spPr>
          <a:xfrm>
            <a:off x="2026258" y="3599236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47"/>
          <p:cNvSpPr/>
          <p:nvPr/>
        </p:nvSpPr>
        <p:spPr>
          <a:xfrm>
            <a:off x="2026258" y="3258312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48"/>
          <p:cNvSpPr/>
          <p:nvPr/>
        </p:nvSpPr>
        <p:spPr>
          <a:xfrm>
            <a:off x="2026258" y="2917388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49"/>
          <p:cNvSpPr/>
          <p:nvPr/>
        </p:nvSpPr>
        <p:spPr>
          <a:xfrm>
            <a:off x="2026258" y="2576463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50"/>
          <p:cNvSpPr/>
          <p:nvPr/>
        </p:nvSpPr>
        <p:spPr>
          <a:xfrm>
            <a:off x="2026258" y="2235539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51"/>
          <p:cNvSpPr/>
          <p:nvPr/>
        </p:nvSpPr>
        <p:spPr>
          <a:xfrm>
            <a:off x="2026258" y="4281085"/>
            <a:ext cx="347742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3-mark52"/>
          <p:cNvSpPr/>
          <p:nvPr/>
        </p:nvSpPr>
        <p:spPr>
          <a:xfrm flipV="1">
            <a:off x="2026258" y="2099169"/>
            <a:ext cx="0" cy="218191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abel54"/>
          <p:cNvSpPr txBox="1"/>
          <p:nvPr/>
        </p:nvSpPr>
        <p:spPr>
          <a:xfrm>
            <a:off x="1615117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3-label56"/>
          <p:cNvSpPr txBox="1"/>
          <p:nvPr/>
        </p:nvSpPr>
        <p:spPr>
          <a:xfrm>
            <a:off x="1615117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3-label58"/>
          <p:cNvSpPr txBox="1"/>
          <p:nvPr/>
        </p:nvSpPr>
        <p:spPr>
          <a:xfrm>
            <a:off x="1615117" y="374966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0" name="S03-label60"/>
          <p:cNvSpPr txBox="1"/>
          <p:nvPr/>
        </p:nvSpPr>
        <p:spPr>
          <a:xfrm>
            <a:off x="1615117" y="34087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1" name="S03-label62"/>
          <p:cNvSpPr txBox="1"/>
          <p:nvPr/>
        </p:nvSpPr>
        <p:spPr>
          <a:xfrm>
            <a:off x="1615117" y="306781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2" name="S03-label64"/>
          <p:cNvSpPr txBox="1"/>
          <p:nvPr/>
        </p:nvSpPr>
        <p:spPr>
          <a:xfrm>
            <a:off x="1615117" y="272688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3" name="S03-label66"/>
          <p:cNvSpPr txBox="1"/>
          <p:nvPr/>
        </p:nvSpPr>
        <p:spPr>
          <a:xfrm>
            <a:off x="1615117" y="238596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4" name="S03-label68"/>
          <p:cNvSpPr txBox="1"/>
          <p:nvPr/>
        </p:nvSpPr>
        <p:spPr>
          <a:xfrm>
            <a:off x="1615117" y="204503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5" name="S03-label70"/>
          <p:cNvSpPr txBox="1"/>
          <p:nvPr/>
        </p:nvSpPr>
        <p:spPr>
          <a:xfrm>
            <a:off x="1383469" y="170411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6" name="S03-label72"/>
          <p:cNvSpPr txBox="1"/>
          <p:nvPr/>
        </p:nvSpPr>
        <p:spPr>
          <a:xfrm>
            <a:off x="2184077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400" dirty="0"/>
          </a:p>
        </p:txBody>
      </p:sp>
      <p:sp>
        <p:nvSpPr>
          <p:cNvPr id="27" name="S03-label74"/>
          <p:cNvSpPr txBox="1"/>
          <p:nvPr/>
        </p:nvSpPr>
        <p:spPr>
          <a:xfrm>
            <a:off x="3002296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400" dirty="0"/>
          </a:p>
        </p:txBody>
      </p:sp>
      <p:sp>
        <p:nvSpPr>
          <p:cNvPr id="28" name="S03-label76"/>
          <p:cNvSpPr txBox="1"/>
          <p:nvPr/>
        </p:nvSpPr>
        <p:spPr>
          <a:xfrm>
            <a:off x="3820514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400" dirty="0"/>
          </a:p>
        </p:txBody>
      </p:sp>
      <p:sp>
        <p:nvSpPr>
          <p:cNvPr id="29" name="S03-label78"/>
          <p:cNvSpPr txBox="1"/>
          <p:nvPr/>
        </p:nvSpPr>
        <p:spPr>
          <a:xfrm>
            <a:off x="4638733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400" dirty="0"/>
          </a:p>
        </p:txBody>
      </p:sp>
      <p:sp>
        <p:nvSpPr>
          <p:cNvPr id="30" name="S03-label80"/>
          <p:cNvSpPr txBox="1"/>
          <p:nvPr/>
        </p:nvSpPr>
        <p:spPr>
          <a:xfrm>
            <a:off x="2079429" y="1363190"/>
            <a:ext cx="33710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운동별 학생 수</a:t>
            </a:r>
            <a:endParaRPr lang="ko-KR" sz="2400" dirty="0"/>
          </a:p>
        </p:txBody>
      </p:sp>
      <p:sp>
        <p:nvSpPr>
          <p:cNvPr id="31" name="S03-card81"/>
          <p:cNvSpPr/>
          <p:nvPr/>
        </p:nvSpPr>
        <p:spPr>
          <a:xfrm>
            <a:off x="6920911" y="149656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3-cardtext82"/>
          <p:cNvSpPr txBox="1"/>
          <p:nvPr/>
        </p:nvSpPr>
        <p:spPr>
          <a:xfrm>
            <a:off x="7195231" y="163372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운동</a:t>
            </a:r>
            <a:endParaRPr lang="ko-KR" sz="3000" dirty="0"/>
          </a:p>
        </p:txBody>
      </p:sp>
      <p:sp>
        <p:nvSpPr>
          <p:cNvPr id="33" name="S03-card83"/>
          <p:cNvSpPr/>
          <p:nvPr/>
        </p:nvSpPr>
        <p:spPr>
          <a:xfrm>
            <a:off x="6920911" y="259384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3-cardtext84"/>
          <p:cNvSpPr txBox="1"/>
          <p:nvPr/>
        </p:nvSpPr>
        <p:spPr>
          <a:xfrm>
            <a:off x="7195231" y="273100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학생 수</a:t>
            </a:r>
            <a:endParaRPr lang="ko-KR" sz="3000" dirty="0"/>
          </a:p>
        </p:txBody>
      </p:sp>
      <p:sp>
        <p:nvSpPr>
          <p:cNvPr id="35" name="S03-card85"/>
          <p:cNvSpPr/>
          <p:nvPr/>
        </p:nvSpPr>
        <p:spPr>
          <a:xfrm>
            <a:off x="6920911" y="369112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3-cardtext86"/>
          <p:cNvSpPr txBox="1"/>
          <p:nvPr/>
        </p:nvSpPr>
        <p:spPr>
          <a:xfrm>
            <a:off x="7195231" y="382828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칸: 1명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칸의 크기</a:t>
            </a:r>
            <a:endParaRPr lang="ko-KR" sz="4000" dirty="0"/>
          </a:p>
        </p:txBody>
      </p:sp>
      <p:sp>
        <p:nvSpPr>
          <p:cNvPr id="3" name="S04-text8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문고의 과학책은 몇 권일까요?</a:t>
            </a:r>
            <a:endParaRPr lang="ko-KR" sz="3000" dirty="0"/>
          </a:p>
        </p:txBody>
      </p:sp>
      <p:sp>
        <p:nvSpPr>
          <p:cNvPr id="4" name="S04-figure88" descr="막대그래프(세로 눈금 한 칸 2): 동화 12, 위인 6, 과학 10, 만화 4"/>
          <p:cNvSpPr/>
          <p:nvPr/>
        </p:nvSpPr>
        <p:spPr>
          <a:xfrm>
            <a:off x="7715415" y="3249709"/>
            <a:ext cx="489377" cy="2446887"/>
          </a:xfrm>
          <a:custGeom>
            <a:avLst/>
            <a:gdLst/>
            <a:ahLst/>
            <a:cxnLst/>
            <a:rect l="l" t="t" r="r" b="b"/>
            <a:pathLst>
              <a:path w="489377" h="2446887">
                <a:moveTo>
                  <a:pt x="0" y="2446887"/>
                </a:moveTo>
                <a:lnTo>
                  <a:pt x="489377" y="2446887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4-mark89"/>
          <p:cNvSpPr/>
          <p:nvPr/>
        </p:nvSpPr>
        <p:spPr>
          <a:xfrm>
            <a:off x="8694170" y="4473152"/>
            <a:ext cx="489377" cy="1223444"/>
          </a:xfrm>
          <a:custGeom>
            <a:avLst/>
            <a:gdLst/>
            <a:ahLst/>
            <a:cxnLst/>
            <a:rect l="l" t="t" r="r" b="b"/>
            <a:pathLst>
              <a:path w="489377" h="1223444">
                <a:moveTo>
                  <a:pt x="0" y="1223444"/>
                </a:moveTo>
                <a:lnTo>
                  <a:pt x="489377" y="1223444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90"/>
          <p:cNvSpPr/>
          <p:nvPr/>
        </p:nvSpPr>
        <p:spPr>
          <a:xfrm>
            <a:off x="9672925" y="3657523"/>
            <a:ext cx="489377" cy="2039073"/>
          </a:xfrm>
          <a:custGeom>
            <a:avLst/>
            <a:gdLst/>
            <a:ahLst/>
            <a:cxnLst/>
            <a:rect l="l" t="t" r="r" b="b"/>
            <a:pathLst>
              <a:path w="489377" h="2039073">
                <a:moveTo>
                  <a:pt x="0" y="2039073"/>
                </a:moveTo>
                <a:lnTo>
                  <a:pt x="489377" y="2039073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91"/>
          <p:cNvSpPr/>
          <p:nvPr/>
        </p:nvSpPr>
        <p:spPr>
          <a:xfrm>
            <a:off x="10651680" y="4880967"/>
            <a:ext cx="489377" cy="815629"/>
          </a:xfrm>
          <a:custGeom>
            <a:avLst/>
            <a:gdLst/>
            <a:ahLst/>
            <a:cxnLst/>
            <a:rect l="l" t="t" r="r" b="b"/>
            <a:pathLst>
              <a:path w="489377" h="815629">
                <a:moveTo>
                  <a:pt x="0" y="815629"/>
                </a:moveTo>
                <a:lnTo>
                  <a:pt x="489377" y="815629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92"/>
          <p:cNvSpPr/>
          <p:nvPr/>
        </p:nvSpPr>
        <p:spPr>
          <a:xfrm>
            <a:off x="7348382" y="5288781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93"/>
          <p:cNvSpPr/>
          <p:nvPr/>
        </p:nvSpPr>
        <p:spPr>
          <a:xfrm>
            <a:off x="7348382" y="4880967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4"/>
          <p:cNvSpPr/>
          <p:nvPr/>
        </p:nvSpPr>
        <p:spPr>
          <a:xfrm>
            <a:off x="7348382" y="4473152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5"/>
          <p:cNvSpPr/>
          <p:nvPr/>
        </p:nvSpPr>
        <p:spPr>
          <a:xfrm>
            <a:off x="7348382" y="4065338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96"/>
          <p:cNvSpPr/>
          <p:nvPr/>
        </p:nvSpPr>
        <p:spPr>
          <a:xfrm>
            <a:off x="7348382" y="3657523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97"/>
          <p:cNvSpPr/>
          <p:nvPr/>
        </p:nvSpPr>
        <p:spPr>
          <a:xfrm>
            <a:off x="7348382" y="3249709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98"/>
          <p:cNvSpPr/>
          <p:nvPr/>
        </p:nvSpPr>
        <p:spPr>
          <a:xfrm>
            <a:off x="7348382" y="5696596"/>
            <a:ext cx="415970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4-mark99"/>
          <p:cNvSpPr/>
          <p:nvPr/>
        </p:nvSpPr>
        <p:spPr>
          <a:xfrm flipV="1">
            <a:off x="7348382" y="3086583"/>
            <a:ext cx="0" cy="261001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abel101"/>
          <p:cNvSpPr txBox="1"/>
          <p:nvPr/>
        </p:nvSpPr>
        <p:spPr>
          <a:xfrm>
            <a:off x="6887073" y="55060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04-label103"/>
          <p:cNvSpPr txBox="1"/>
          <p:nvPr/>
        </p:nvSpPr>
        <p:spPr>
          <a:xfrm>
            <a:off x="6887073" y="55060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4-label105"/>
          <p:cNvSpPr txBox="1"/>
          <p:nvPr/>
        </p:nvSpPr>
        <p:spPr>
          <a:xfrm>
            <a:off x="6887073" y="509828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label107"/>
          <p:cNvSpPr txBox="1"/>
          <p:nvPr/>
        </p:nvSpPr>
        <p:spPr>
          <a:xfrm>
            <a:off x="6887073" y="469046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4-label109"/>
          <p:cNvSpPr txBox="1"/>
          <p:nvPr/>
        </p:nvSpPr>
        <p:spPr>
          <a:xfrm>
            <a:off x="6887073" y="428265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1" name="S04-label111"/>
          <p:cNvSpPr txBox="1"/>
          <p:nvPr/>
        </p:nvSpPr>
        <p:spPr>
          <a:xfrm>
            <a:off x="6887073" y="387483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2" name="S04-label113"/>
          <p:cNvSpPr txBox="1"/>
          <p:nvPr/>
        </p:nvSpPr>
        <p:spPr>
          <a:xfrm>
            <a:off x="6786489" y="34670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3" name="S04-label115"/>
          <p:cNvSpPr txBox="1"/>
          <p:nvPr/>
        </p:nvSpPr>
        <p:spPr>
          <a:xfrm>
            <a:off x="6786489" y="305920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4" name="S04-label117"/>
          <p:cNvSpPr txBox="1"/>
          <p:nvPr/>
        </p:nvSpPr>
        <p:spPr>
          <a:xfrm>
            <a:off x="6655425" y="265139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(권)</a:t>
            </a:r>
            <a:endParaRPr lang="ko-KR" sz="2400" dirty="0"/>
          </a:p>
        </p:txBody>
      </p:sp>
      <p:sp>
        <p:nvSpPr>
          <p:cNvPr id="25" name="S04-label119"/>
          <p:cNvSpPr txBox="1"/>
          <p:nvPr/>
        </p:nvSpPr>
        <p:spPr>
          <a:xfrm>
            <a:off x="7606536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400" dirty="0"/>
          </a:p>
        </p:txBody>
      </p:sp>
      <p:sp>
        <p:nvSpPr>
          <p:cNvPr id="26" name="S04-label121"/>
          <p:cNvSpPr txBox="1"/>
          <p:nvPr/>
        </p:nvSpPr>
        <p:spPr>
          <a:xfrm>
            <a:off x="8585291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위인</a:t>
            </a:r>
            <a:endParaRPr lang="ko-KR" sz="2400" dirty="0"/>
          </a:p>
        </p:txBody>
      </p:sp>
      <p:sp>
        <p:nvSpPr>
          <p:cNvPr id="27" name="S04-label123"/>
          <p:cNvSpPr txBox="1"/>
          <p:nvPr/>
        </p:nvSpPr>
        <p:spPr>
          <a:xfrm>
            <a:off x="9564046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400" dirty="0"/>
          </a:p>
        </p:txBody>
      </p:sp>
      <p:sp>
        <p:nvSpPr>
          <p:cNvPr id="28" name="S04-label125"/>
          <p:cNvSpPr txBox="1"/>
          <p:nvPr/>
        </p:nvSpPr>
        <p:spPr>
          <a:xfrm>
            <a:off x="10542801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</a:t>
            </a:r>
            <a:endParaRPr lang="ko-KR" sz="2400" dirty="0"/>
          </a:p>
        </p:txBody>
      </p:sp>
      <p:sp>
        <p:nvSpPr>
          <p:cNvPr id="29" name="S04-stepno126"/>
          <p:cNvSpPr txBox="1"/>
          <p:nvPr/>
        </p:nvSpPr>
        <p:spPr>
          <a:xfrm>
            <a:off x="548640" y="2732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4-text127"/>
          <p:cNvSpPr txBox="1"/>
          <p:nvPr/>
        </p:nvSpPr>
        <p:spPr>
          <a:xfrm>
            <a:off x="1325880" y="2686812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숫자를 봐요.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 …</a:t>
            </a:r>
            <a:endParaRPr lang="ko-KR" sz="3000" dirty="0"/>
          </a:p>
        </p:txBody>
      </p:sp>
      <p:sp>
        <p:nvSpPr>
          <p:cNvPr id="31" name="S04-stepno128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4-text129"/>
          <p:cNvSpPr txBox="1"/>
          <p:nvPr/>
        </p:nvSpPr>
        <p:spPr>
          <a:xfrm>
            <a:off x="1325880" y="3781044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2권이에요.</a:t>
            </a:r>
            <a:endParaRPr lang="ko-KR" sz="3000" dirty="0"/>
          </a:p>
        </p:txBody>
      </p:sp>
      <p:sp>
        <p:nvSpPr>
          <p:cNvPr id="33" name="S04-stepno130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4" name="S04-text131"/>
          <p:cNvSpPr txBox="1"/>
          <p:nvPr/>
        </p:nvSpPr>
        <p:spPr>
          <a:xfrm>
            <a:off x="1325880" y="4494276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 막대는 5칸이에요.</a:t>
            </a:r>
            <a:endParaRPr lang="ko-KR" sz="3000" dirty="0"/>
          </a:p>
        </p:txBody>
      </p:sp>
      <p:sp>
        <p:nvSpPr>
          <p:cNvPr id="35" name="S04-stepno132"/>
          <p:cNvSpPr txBox="1"/>
          <p:nvPr/>
        </p:nvSpPr>
        <p:spPr>
          <a:xfrm>
            <a:off x="548640" y="52532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6" name="S04-text133"/>
          <p:cNvSpPr txBox="1"/>
          <p:nvPr/>
        </p:nvSpPr>
        <p:spPr>
          <a:xfrm>
            <a:off x="1325880" y="5207508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 × 한 칸의 크기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5 = 10, 10권이에요.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알 수 있어요</a:t>
            </a:r>
            <a:endParaRPr lang="ko-KR" sz="4000" dirty="0"/>
          </a:p>
        </p:txBody>
      </p:sp>
      <p:sp>
        <p:nvSpPr>
          <p:cNvPr id="3" name="S05-card13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3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합계를, 막대그래프는 많고 적음을 한눈에 보여 줘요.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축구는 야구보다 몇 명 더 많을까요?</a:t>
            </a:r>
            <a:endParaRPr lang="ko-KR" sz="3000" dirty="0"/>
          </a:p>
        </p:txBody>
      </p:sp>
      <p:graphicFrame>
        <p:nvGraphicFramePr>
          <p:cNvPr id="6" name="S05-table1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29868" y="1619250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5-figure137" descr="막대그래프(세로 눈금 한 칸 1): 축구 6, 야구 3, 수영 5, 농구 4"/>
          <p:cNvSpPr/>
          <p:nvPr/>
        </p:nvSpPr>
        <p:spPr>
          <a:xfrm>
            <a:off x="7569114" y="1937793"/>
            <a:ext cx="462643" cy="2313214"/>
          </a:xfrm>
          <a:custGeom>
            <a:avLst/>
            <a:gdLst/>
            <a:ahLst/>
            <a:cxnLst/>
            <a:rect l="l" t="t" r="r" b="b"/>
            <a:pathLst>
              <a:path w="462643" h="2313214">
                <a:moveTo>
                  <a:pt x="0" y="2313214"/>
                </a:moveTo>
                <a:lnTo>
                  <a:pt x="462643" y="2313214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mark138"/>
          <p:cNvSpPr/>
          <p:nvPr/>
        </p:nvSpPr>
        <p:spPr>
          <a:xfrm>
            <a:off x="8494400" y="3094400"/>
            <a:ext cx="462643" cy="1156607"/>
          </a:xfrm>
          <a:custGeom>
            <a:avLst/>
            <a:gdLst/>
            <a:ahLst/>
            <a:cxnLst/>
            <a:rect l="l" t="t" r="r" b="b"/>
            <a:pathLst>
              <a:path w="462643" h="1156607">
                <a:moveTo>
                  <a:pt x="0" y="1156607"/>
                </a:moveTo>
                <a:lnTo>
                  <a:pt x="462643" y="1156607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139"/>
          <p:cNvSpPr/>
          <p:nvPr/>
        </p:nvSpPr>
        <p:spPr>
          <a:xfrm>
            <a:off x="9419685" y="2323329"/>
            <a:ext cx="462643" cy="1927679"/>
          </a:xfrm>
          <a:custGeom>
            <a:avLst/>
            <a:gdLst/>
            <a:ahLst/>
            <a:cxnLst/>
            <a:rect l="l" t="t" r="r" b="b"/>
            <a:pathLst>
              <a:path w="462643" h="1927679">
                <a:moveTo>
                  <a:pt x="0" y="1927679"/>
                </a:moveTo>
                <a:lnTo>
                  <a:pt x="462643" y="1927679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mark140"/>
          <p:cNvSpPr/>
          <p:nvPr/>
        </p:nvSpPr>
        <p:spPr>
          <a:xfrm>
            <a:off x="10344971" y="2708865"/>
            <a:ext cx="462643" cy="1542143"/>
          </a:xfrm>
          <a:custGeom>
            <a:avLst/>
            <a:gdLst/>
            <a:ahLst/>
            <a:cxnLst/>
            <a:rect l="l" t="t" r="r" b="b"/>
            <a:pathLst>
              <a:path w="462643" h="1542143">
                <a:moveTo>
                  <a:pt x="0" y="1542143"/>
                </a:moveTo>
                <a:lnTo>
                  <a:pt x="462643" y="1542143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mark141"/>
          <p:cNvSpPr/>
          <p:nvPr/>
        </p:nvSpPr>
        <p:spPr>
          <a:xfrm>
            <a:off x="7222132" y="3865472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42"/>
          <p:cNvSpPr/>
          <p:nvPr/>
        </p:nvSpPr>
        <p:spPr>
          <a:xfrm>
            <a:off x="7222132" y="3479936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43"/>
          <p:cNvSpPr/>
          <p:nvPr/>
        </p:nvSpPr>
        <p:spPr>
          <a:xfrm>
            <a:off x="7222132" y="3094400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44"/>
          <p:cNvSpPr/>
          <p:nvPr/>
        </p:nvSpPr>
        <p:spPr>
          <a:xfrm>
            <a:off x="7222132" y="2708865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45"/>
          <p:cNvSpPr/>
          <p:nvPr/>
        </p:nvSpPr>
        <p:spPr>
          <a:xfrm>
            <a:off x="7222132" y="2323329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46"/>
          <p:cNvSpPr/>
          <p:nvPr/>
        </p:nvSpPr>
        <p:spPr>
          <a:xfrm>
            <a:off x="7222132" y="1937793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47"/>
          <p:cNvSpPr/>
          <p:nvPr/>
        </p:nvSpPr>
        <p:spPr>
          <a:xfrm>
            <a:off x="7222132" y="4251008"/>
            <a:ext cx="393246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5-mark148"/>
          <p:cNvSpPr/>
          <p:nvPr/>
        </p:nvSpPr>
        <p:spPr>
          <a:xfrm flipV="1">
            <a:off x="7222132" y="1783579"/>
            <a:ext cx="0" cy="246742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5-label150"/>
          <p:cNvSpPr txBox="1"/>
          <p:nvPr/>
        </p:nvSpPr>
        <p:spPr>
          <a:xfrm>
            <a:off x="6777532" y="4060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5-label152"/>
          <p:cNvSpPr txBox="1"/>
          <p:nvPr/>
        </p:nvSpPr>
        <p:spPr>
          <a:xfrm>
            <a:off x="6777532" y="4060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0" name="S05-label154"/>
          <p:cNvSpPr txBox="1"/>
          <p:nvPr/>
        </p:nvSpPr>
        <p:spPr>
          <a:xfrm>
            <a:off x="6777532" y="36749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5-label156"/>
          <p:cNvSpPr txBox="1"/>
          <p:nvPr/>
        </p:nvSpPr>
        <p:spPr>
          <a:xfrm>
            <a:off x="6777532" y="32894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2" name="S05-label158"/>
          <p:cNvSpPr txBox="1"/>
          <p:nvPr/>
        </p:nvSpPr>
        <p:spPr>
          <a:xfrm>
            <a:off x="6777532" y="29039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3" name="S05-label160"/>
          <p:cNvSpPr txBox="1"/>
          <p:nvPr/>
        </p:nvSpPr>
        <p:spPr>
          <a:xfrm>
            <a:off x="6777532" y="251836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4" name="S05-label162"/>
          <p:cNvSpPr txBox="1"/>
          <p:nvPr/>
        </p:nvSpPr>
        <p:spPr>
          <a:xfrm>
            <a:off x="6777532" y="213282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5" name="S05-label164"/>
          <p:cNvSpPr txBox="1"/>
          <p:nvPr/>
        </p:nvSpPr>
        <p:spPr>
          <a:xfrm>
            <a:off x="6777532" y="174729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6" name="S05-label166"/>
          <p:cNvSpPr txBox="1"/>
          <p:nvPr/>
        </p:nvSpPr>
        <p:spPr>
          <a:xfrm>
            <a:off x="6545884" y="1361758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7" name="S05-label168"/>
          <p:cNvSpPr txBox="1"/>
          <p:nvPr/>
        </p:nvSpPr>
        <p:spPr>
          <a:xfrm>
            <a:off x="7446867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400" dirty="0"/>
          </a:p>
        </p:txBody>
      </p:sp>
      <p:sp>
        <p:nvSpPr>
          <p:cNvPr id="28" name="S05-label170"/>
          <p:cNvSpPr txBox="1"/>
          <p:nvPr/>
        </p:nvSpPr>
        <p:spPr>
          <a:xfrm>
            <a:off x="8372153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400" dirty="0"/>
          </a:p>
        </p:txBody>
      </p:sp>
      <p:sp>
        <p:nvSpPr>
          <p:cNvPr id="29" name="S05-label172"/>
          <p:cNvSpPr txBox="1"/>
          <p:nvPr/>
        </p:nvSpPr>
        <p:spPr>
          <a:xfrm>
            <a:off x="9297439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400" dirty="0"/>
          </a:p>
        </p:txBody>
      </p:sp>
      <p:sp>
        <p:nvSpPr>
          <p:cNvPr id="30" name="S05-label174"/>
          <p:cNvSpPr txBox="1"/>
          <p:nvPr/>
        </p:nvSpPr>
        <p:spPr>
          <a:xfrm>
            <a:off x="10222724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000" dirty="0"/>
          </a:p>
        </p:txBody>
      </p:sp>
      <p:sp>
        <p:nvSpPr>
          <p:cNvPr id="3" name="S06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숫자로 한 칸의 크기부터 알아봐요.</a:t>
            </a:r>
            <a:endParaRPr lang="ko-KR" sz="3000" dirty="0"/>
          </a:p>
        </p:txBody>
      </p:sp>
      <p:sp>
        <p:nvSpPr>
          <p:cNvPr id="5" name="S06-figure177" descr="막대그래프 ‘마을별 나무 수’(세로 눈금 한 칸 5): 가 25, 나 15, 다 30, 라 10"/>
          <p:cNvSpPr/>
          <p:nvPr/>
        </p:nvSpPr>
        <p:spPr>
          <a:xfrm>
            <a:off x="7592435" y="2716832"/>
            <a:ext cx="458651" cy="1911048"/>
          </a:xfrm>
          <a:custGeom>
            <a:avLst/>
            <a:gdLst/>
            <a:ahLst/>
            <a:cxnLst/>
            <a:rect l="l" t="t" r="r" b="b"/>
            <a:pathLst>
              <a:path w="458651" h="1911048">
                <a:moveTo>
                  <a:pt x="0" y="1911048"/>
                </a:moveTo>
                <a:lnTo>
                  <a:pt x="458651" y="1911048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mark178"/>
          <p:cNvSpPr/>
          <p:nvPr/>
        </p:nvSpPr>
        <p:spPr>
          <a:xfrm>
            <a:off x="8509738" y="3481251"/>
            <a:ext cx="458651" cy="1146629"/>
          </a:xfrm>
          <a:custGeom>
            <a:avLst/>
            <a:gdLst/>
            <a:ahLst/>
            <a:cxnLst/>
            <a:rect l="l" t="t" r="r" b="b"/>
            <a:pathLst>
              <a:path w="458651" h="1146629">
                <a:moveTo>
                  <a:pt x="0" y="1146629"/>
                </a:moveTo>
                <a:lnTo>
                  <a:pt x="458651" y="1146629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179"/>
          <p:cNvSpPr/>
          <p:nvPr/>
        </p:nvSpPr>
        <p:spPr>
          <a:xfrm>
            <a:off x="9427041" y="2334623"/>
            <a:ext cx="458651" cy="2293257"/>
          </a:xfrm>
          <a:custGeom>
            <a:avLst/>
            <a:gdLst/>
            <a:ahLst/>
            <a:cxnLst/>
            <a:rect l="l" t="t" r="r" b="b"/>
            <a:pathLst>
              <a:path w="458651" h="2293257">
                <a:moveTo>
                  <a:pt x="0" y="2293257"/>
                </a:moveTo>
                <a:lnTo>
                  <a:pt x="458651" y="2293257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180"/>
          <p:cNvSpPr/>
          <p:nvPr/>
        </p:nvSpPr>
        <p:spPr>
          <a:xfrm>
            <a:off x="10344344" y="3863461"/>
            <a:ext cx="458651" cy="764419"/>
          </a:xfrm>
          <a:custGeom>
            <a:avLst/>
            <a:gdLst/>
            <a:ahLst/>
            <a:cxnLst/>
            <a:rect l="l" t="t" r="r" b="b"/>
            <a:pathLst>
              <a:path w="458651" h="764419">
                <a:moveTo>
                  <a:pt x="0" y="764419"/>
                </a:moveTo>
                <a:lnTo>
                  <a:pt x="458651" y="764419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181"/>
          <p:cNvSpPr/>
          <p:nvPr/>
        </p:nvSpPr>
        <p:spPr>
          <a:xfrm>
            <a:off x="7248446" y="4245670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82"/>
          <p:cNvSpPr/>
          <p:nvPr/>
        </p:nvSpPr>
        <p:spPr>
          <a:xfrm>
            <a:off x="7248446" y="3863461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83"/>
          <p:cNvSpPr/>
          <p:nvPr/>
        </p:nvSpPr>
        <p:spPr>
          <a:xfrm>
            <a:off x="7248446" y="3481251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84"/>
          <p:cNvSpPr/>
          <p:nvPr/>
        </p:nvSpPr>
        <p:spPr>
          <a:xfrm>
            <a:off x="7248446" y="3099042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85"/>
          <p:cNvSpPr/>
          <p:nvPr/>
        </p:nvSpPr>
        <p:spPr>
          <a:xfrm>
            <a:off x="7248446" y="2716832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86"/>
          <p:cNvSpPr/>
          <p:nvPr/>
        </p:nvSpPr>
        <p:spPr>
          <a:xfrm>
            <a:off x="7248446" y="2334623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87"/>
          <p:cNvSpPr/>
          <p:nvPr/>
        </p:nvSpPr>
        <p:spPr>
          <a:xfrm>
            <a:off x="7248446" y="4627880"/>
            <a:ext cx="389853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188"/>
          <p:cNvSpPr/>
          <p:nvPr/>
        </p:nvSpPr>
        <p:spPr>
          <a:xfrm flipV="1">
            <a:off x="7248446" y="2181739"/>
            <a:ext cx="0" cy="244614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6-label190"/>
          <p:cNvSpPr txBox="1"/>
          <p:nvPr/>
        </p:nvSpPr>
        <p:spPr>
          <a:xfrm>
            <a:off x="6806341" y="44373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6-label192"/>
          <p:cNvSpPr txBox="1"/>
          <p:nvPr/>
        </p:nvSpPr>
        <p:spPr>
          <a:xfrm>
            <a:off x="6806341" y="44373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6-label194"/>
          <p:cNvSpPr txBox="1"/>
          <p:nvPr/>
        </p:nvSpPr>
        <p:spPr>
          <a:xfrm>
            <a:off x="6806341" y="405517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0" name="S06-label196"/>
          <p:cNvSpPr txBox="1"/>
          <p:nvPr/>
        </p:nvSpPr>
        <p:spPr>
          <a:xfrm>
            <a:off x="6705757" y="367296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6-label198"/>
          <p:cNvSpPr txBox="1"/>
          <p:nvPr/>
        </p:nvSpPr>
        <p:spPr>
          <a:xfrm>
            <a:off x="6705757" y="329075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22" name="S06-label200"/>
          <p:cNvSpPr txBox="1"/>
          <p:nvPr/>
        </p:nvSpPr>
        <p:spPr>
          <a:xfrm>
            <a:off x="6705757" y="290854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3" name="S06-label202"/>
          <p:cNvSpPr txBox="1"/>
          <p:nvPr/>
        </p:nvSpPr>
        <p:spPr>
          <a:xfrm>
            <a:off x="6705757" y="252633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24" name="S06-label204"/>
          <p:cNvSpPr txBox="1"/>
          <p:nvPr/>
        </p:nvSpPr>
        <p:spPr>
          <a:xfrm>
            <a:off x="6705757" y="21441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5" name="S06-label206"/>
          <p:cNvSpPr txBox="1"/>
          <p:nvPr/>
        </p:nvSpPr>
        <p:spPr>
          <a:xfrm>
            <a:off x="6425341" y="1761913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(그루)</a:t>
            </a:r>
            <a:endParaRPr lang="ko-KR" sz="2400" dirty="0"/>
          </a:p>
        </p:txBody>
      </p:sp>
      <p:sp>
        <p:nvSpPr>
          <p:cNvPr id="26" name="S06-label208"/>
          <p:cNvSpPr txBox="1"/>
          <p:nvPr/>
        </p:nvSpPr>
        <p:spPr>
          <a:xfrm>
            <a:off x="7617545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27" name="S06-label210"/>
          <p:cNvSpPr txBox="1"/>
          <p:nvPr/>
        </p:nvSpPr>
        <p:spPr>
          <a:xfrm>
            <a:off x="8534848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8" name="S06-label212"/>
          <p:cNvSpPr txBox="1"/>
          <p:nvPr/>
        </p:nvSpPr>
        <p:spPr>
          <a:xfrm>
            <a:off x="9452150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29" name="S06-label214"/>
          <p:cNvSpPr txBox="1"/>
          <p:nvPr/>
        </p:nvSpPr>
        <p:spPr>
          <a:xfrm>
            <a:off x="10369453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30" name="S06-label216"/>
          <p:cNvSpPr txBox="1"/>
          <p:nvPr/>
        </p:nvSpPr>
        <p:spPr>
          <a:xfrm>
            <a:off x="8155299" y="1379704"/>
            <a:ext cx="20848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마을별 나무 수</a:t>
            </a:r>
            <a:endParaRPr lang="ko-KR" sz="2400" dirty="0"/>
          </a:p>
        </p:txBody>
      </p:sp>
      <p:sp>
        <p:nvSpPr>
          <p:cNvPr id="31" name="S06-chip21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2" name="S06-text218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그루일까요?</a:t>
            </a:r>
            <a:endParaRPr lang="ko-KR" sz="3000" dirty="0"/>
          </a:p>
        </p:txBody>
      </p:sp>
      <p:sp>
        <p:nvSpPr>
          <p:cNvPr id="33" name="S06-chip21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4" name="S06-text220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나무가 가장 많은 마을과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수는?</a:t>
            </a:r>
            <a:endParaRPr lang="ko-KR" sz="3000" dirty="0"/>
          </a:p>
        </p:txBody>
      </p:sp>
      <p:sp>
        <p:nvSpPr>
          <p:cNvPr id="35" name="S06-chip22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6" name="S06-text222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마을은 라 마을보다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수가 곧 수일까요?</a:t>
            </a:r>
            <a:endParaRPr lang="ko-KR" sz="4000" dirty="0"/>
          </a:p>
        </p:txBody>
      </p:sp>
      <p:sp>
        <p:nvSpPr>
          <p:cNvPr id="3" name="S07-card2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안경을 쓴 학생 수예요. 누구 말이 맞을까요?</a:t>
            </a:r>
            <a:endParaRPr lang="ko-KR" sz="3000" dirty="0"/>
          </a:p>
        </p:txBody>
      </p:sp>
      <p:sp>
        <p:nvSpPr>
          <p:cNvPr id="5" name="S07-figure225" descr="막대그래프(세로 눈금 한 칸 2): 1반 8, 2반 4, 3반 10, 4반 6"/>
          <p:cNvSpPr/>
          <p:nvPr/>
        </p:nvSpPr>
        <p:spPr>
          <a:xfrm>
            <a:off x="1692919" y="2857772"/>
            <a:ext cx="515983" cy="1719943"/>
          </a:xfrm>
          <a:custGeom>
            <a:avLst/>
            <a:gdLst/>
            <a:ahLst/>
            <a:cxnLst/>
            <a:rect l="l" t="t" r="r" b="b"/>
            <a:pathLst>
              <a:path w="515983" h="1719943">
                <a:moveTo>
                  <a:pt x="0" y="1719943"/>
                </a:moveTo>
                <a:lnTo>
                  <a:pt x="515983" y="1719943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226"/>
          <p:cNvSpPr/>
          <p:nvPr/>
        </p:nvSpPr>
        <p:spPr>
          <a:xfrm>
            <a:off x="2724885" y="3717744"/>
            <a:ext cx="515983" cy="859971"/>
          </a:xfrm>
          <a:custGeom>
            <a:avLst/>
            <a:gdLst/>
            <a:ahLst/>
            <a:cxnLst/>
            <a:rect l="l" t="t" r="r" b="b"/>
            <a:pathLst>
              <a:path w="515983" h="859971">
                <a:moveTo>
                  <a:pt x="0" y="859971"/>
                </a:moveTo>
                <a:lnTo>
                  <a:pt x="515983" y="859971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227"/>
          <p:cNvSpPr/>
          <p:nvPr/>
        </p:nvSpPr>
        <p:spPr>
          <a:xfrm>
            <a:off x="3756851" y="2427786"/>
            <a:ext cx="515983" cy="2149929"/>
          </a:xfrm>
          <a:custGeom>
            <a:avLst/>
            <a:gdLst/>
            <a:ahLst/>
            <a:cxnLst/>
            <a:rect l="l" t="t" r="r" b="b"/>
            <a:pathLst>
              <a:path w="515983" h="2149929">
                <a:moveTo>
                  <a:pt x="0" y="2149929"/>
                </a:moveTo>
                <a:lnTo>
                  <a:pt x="515983" y="2149929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228"/>
          <p:cNvSpPr/>
          <p:nvPr/>
        </p:nvSpPr>
        <p:spPr>
          <a:xfrm>
            <a:off x="4788816" y="3287758"/>
            <a:ext cx="515983" cy="1289957"/>
          </a:xfrm>
          <a:custGeom>
            <a:avLst/>
            <a:gdLst/>
            <a:ahLst/>
            <a:cxnLst/>
            <a:rect l="l" t="t" r="r" b="b"/>
            <a:pathLst>
              <a:path w="515983" h="1289957">
                <a:moveTo>
                  <a:pt x="0" y="1289957"/>
                </a:moveTo>
                <a:lnTo>
                  <a:pt x="515983" y="1289957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mark229"/>
          <p:cNvSpPr/>
          <p:nvPr/>
        </p:nvSpPr>
        <p:spPr>
          <a:xfrm>
            <a:off x="1305932" y="4147729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230"/>
          <p:cNvSpPr/>
          <p:nvPr/>
        </p:nvSpPr>
        <p:spPr>
          <a:xfrm>
            <a:off x="1305932" y="3717744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231"/>
          <p:cNvSpPr/>
          <p:nvPr/>
        </p:nvSpPr>
        <p:spPr>
          <a:xfrm>
            <a:off x="1305932" y="3287758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232"/>
          <p:cNvSpPr/>
          <p:nvPr/>
        </p:nvSpPr>
        <p:spPr>
          <a:xfrm>
            <a:off x="1305932" y="2857772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233"/>
          <p:cNvSpPr/>
          <p:nvPr/>
        </p:nvSpPr>
        <p:spPr>
          <a:xfrm>
            <a:off x="1305932" y="2427786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234"/>
          <p:cNvSpPr/>
          <p:nvPr/>
        </p:nvSpPr>
        <p:spPr>
          <a:xfrm>
            <a:off x="1305932" y="1997801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235"/>
          <p:cNvSpPr/>
          <p:nvPr/>
        </p:nvSpPr>
        <p:spPr>
          <a:xfrm>
            <a:off x="1305932" y="4577715"/>
            <a:ext cx="43858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7-mark236"/>
          <p:cNvSpPr/>
          <p:nvPr/>
        </p:nvSpPr>
        <p:spPr>
          <a:xfrm flipV="1">
            <a:off x="1305932" y="1825806"/>
            <a:ext cx="0" cy="275190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7-label238"/>
          <p:cNvSpPr txBox="1"/>
          <p:nvPr/>
        </p:nvSpPr>
        <p:spPr>
          <a:xfrm>
            <a:off x="827995" y="43872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7-label240"/>
          <p:cNvSpPr txBox="1"/>
          <p:nvPr/>
        </p:nvSpPr>
        <p:spPr>
          <a:xfrm>
            <a:off x="827995" y="43872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7-label242"/>
          <p:cNvSpPr txBox="1"/>
          <p:nvPr/>
        </p:nvSpPr>
        <p:spPr>
          <a:xfrm>
            <a:off x="827995" y="395722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07-label244"/>
          <p:cNvSpPr txBox="1"/>
          <p:nvPr/>
        </p:nvSpPr>
        <p:spPr>
          <a:xfrm>
            <a:off x="827995" y="352724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07-label246"/>
          <p:cNvSpPr txBox="1"/>
          <p:nvPr/>
        </p:nvSpPr>
        <p:spPr>
          <a:xfrm>
            <a:off x="827995" y="30972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2" name="S07-label248"/>
          <p:cNvSpPr txBox="1"/>
          <p:nvPr/>
        </p:nvSpPr>
        <p:spPr>
          <a:xfrm>
            <a:off x="827995" y="26672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7-label250"/>
          <p:cNvSpPr txBox="1"/>
          <p:nvPr/>
        </p:nvSpPr>
        <p:spPr>
          <a:xfrm>
            <a:off x="727411" y="223728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4" name="S07-label252"/>
          <p:cNvSpPr txBox="1"/>
          <p:nvPr/>
        </p:nvSpPr>
        <p:spPr>
          <a:xfrm>
            <a:off x="727411" y="180730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5" name="S07-label254"/>
          <p:cNvSpPr txBox="1"/>
          <p:nvPr/>
        </p:nvSpPr>
        <p:spPr>
          <a:xfrm>
            <a:off x="596347" y="1377315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6" name="S07-label256"/>
          <p:cNvSpPr txBox="1"/>
          <p:nvPr/>
        </p:nvSpPr>
        <p:spPr>
          <a:xfrm>
            <a:off x="1646111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1반</a:t>
            </a:r>
            <a:endParaRPr lang="ko-KR" sz="2400" dirty="0"/>
          </a:p>
        </p:txBody>
      </p:sp>
      <p:sp>
        <p:nvSpPr>
          <p:cNvPr id="27" name="S07-label258"/>
          <p:cNvSpPr txBox="1"/>
          <p:nvPr/>
        </p:nvSpPr>
        <p:spPr>
          <a:xfrm>
            <a:off x="2678076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2반</a:t>
            </a:r>
            <a:endParaRPr lang="ko-KR" sz="2400" dirty="0"/>
          </a:p>
        </p:txBody>
      </p:sp>
      <p:sp>
        <p:nvSpPr>
          <p:cNvPr id="28" name="S07-label260"/>
          <p:cNvSpPr txBox="1"/>
          <p:nvPr/>
        </p:nvSpPr>
        <p:spPr>
          <a:xfrm>
            <a:off x="3710042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</a:t>
            </a:r>
            <a:endParaRPr lang="ko-KR" sz="2400" dirty="0"/>
          </a:p>
        </p:txBody>
      </p:sp>
      <p:sp>
        <p:nvSpPr>
          <p:cNvPr id="29" name="S07-label262"/>
          <p:cNvSpPr txBox="1"/>
          <p:nvPr/>
        </p:nvSpPr>
        <p:spPr>
          <a:xfrm>
            <a:off x="4742008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</a:t>
            </a:r>
            <a:endParaRPr lang="ko-KR" sz="2400" dirty="0"/>
          </a:p>
        </p:txBody>
      </p:sp>
      <p:sp>
        <p:nvSpPr>
          <p:cNvPr id="30" name="S07-card263"/>
          <p:cNvSpPr/>
          <p:nvPr/>
        </p:nvSpPr>
        <p:spPr>
          <a:xfrm>
            <a:off x="6277356" y="149504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7-cardtext264"/>
          <p:cNvSpPr txBox="1"/>
          <p:nvPr/>
        </p:nvSpPr>
        <p:spPr>
          <a:xfrm>
            <a:off x="6551676" y="163220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 막대는 5칸이니까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5명이에요.</a:t>
            </a:r>
            <a:endParaRPr lang="ko-KR" sz="3000" dirty="0"/>
          </a:p>
        </p:txBody>
      </p:sp>
      <p:sp>
        <p:nvSpPr>
          <p:cNvPr id="32" name="S07-card265"/>
          <p:cNvSpPr/>
          <p:nvPr/>
        </p:nvSpPr>
        <p:spPr>
          <a:xfrm>
            <a:off x="6277356" y="333756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7-cardtext266"/>
          <p:cNvSpPr txBox="1"/>
          <p:nvPr/>
        </p:nvSpPr>
        <p:spPr>
          <a:xfrm>
            <a:off x="6551676" y="347472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2명이니까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3반은 10명이에요.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나타내요</a:t>
            </a:r>
            <a:endParaRPr lang="ko-KR" sz="4000" dirty="0"/>
          </a:p>
        </p:txBody>
      </p:sp>
      <p:sp>
        <p:nvSpPr>
          <p:cNvPr id="3" name="S08-text26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 6명, 여름 10명, 가을 8명, 겨울 4명</a:t>
            </a:r>
            <a:endParaRPr lang="ko-KR" sz="3000" dirty="0"/>
          </a:p>
        </p:txBody>
      </p:sp>
      <p:sp>
        <p:nvSpPr>
          <p:cNvPr id="4" name="S08-figure268" descr="막대그래프 ‘좋아하는 계절별 학생 수’(세로 눈금 한 칸 2): 봄 6, 여름 10, 가을 8, 겨울 4"/>
          <p:cNvSpPr/>
          <p:nvPr/>
        </p:nvSpPr>
        <p:spPr>
          <a:xfrm>
            <a:off x="7661620" y="4656909"/>
            <a:ext cx="435429" cy="1088571"/>
          </a:xfrm>
          <a:custGeom>
            <a:avLst/>
            <a:gdLst/>
            <a:ahLst/>
            <a:cxnLst/>
            <a:rect l="l" t="t" r="r" b="b"/>
            <a:pathLst>
              <a:path w="435429" h="1088571">
                <a:moveTo>
                  <a:pt x="0" y="1088571"/>
                </a:moveTo>
                <a:lnTo>
                  <a:pt x="435429" y="1088571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mark269"/>
          <p:cNvSpPr/>
          <p:nvPr/>
        </p:nvSpPr>
        <p:spPr>
          <a:xfrm>
            <a:off x="8532477" y="3931194"/>
            <a:ext cx="435429" cy="1814286"/>
          </a:xfrm>
          <a:custGeom>
            <a:avLst/>
            <a:gdLst/>
            <a:ahLst/>
            <a:cxnLst/>
            <a:rect l="l" t="t" r="r" b="b"/>
            <a:pathLst>
              <a:path w="435429" h="1814286">
                <a:moveTo>
                  <a:pt x="0" y="1814286"/>
                </a:moveTo>
                <a:lnTo>
                  <a:pt x="435429" y="1814286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mark270"/>
          <p:cNvSpPr/>
          <p:nvPr/>
        </p:nvSpPr>
        <p:spPr>
          <a:xfrm>
            <a:off x="9403334" y="4294051"/>
            <a:ext cx="435429" cy="1451429"/>
          </a:xfrm>
          <a:custGeom>
            <a:avLst/>
            <a:gdLst/>
            <a:ahLst/>
            <a:cxnLst/>
            <a:rect l="l" t="t" r="r" b="b"/>
            <a:pathLst>
              <a:path w="435429" h="1451429">
                <a:moveTo>
                  <a:pt x="0" y="1451429"/>
                </a:moveTo>
                <a:lnTo>
                  <a:pt x="435429" y="1451429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271"/>
          <p:cNvSpPr/>
          <p:nvPr/>
        </p:nvSpPr>
        <p:spPr>
          <a:xfrm>
            <a:off x="10274191" y="5019766"/>
            <a:ext cx="435429" cy="725714"/>
          </a:xfrm>
          <a:custGeom>
            <a:avLst/>
            <a:gdLst/>
            <a:ahLst/>
            <a:cxnLst/>
            <a:rect l="l" t="t" r="r" b="b"/>
            <a:pathLst>
              <a:path w="435429" h="725714">
                <a:moveTo>
                  <a:pt x="0" y="725714"/>
                </a:moveTo>
                <a:lnTo>
                  <a:pt x="435429" y="725714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72"/>
          <p:cNvSpPr/>
          <p:nvPr/>
        </p:nvSpPr>
        <p:spPr>
          <a:xfrm>
            <a:off x="7335048" y="5382623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73"/>
          <p:cNvSpPr/>
          <p:nvPr/>
        </p:nvSpPr>
        <p:spPr>
          <a:xfrm>
            <a:off x="7335048" y="5019766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74"/>
          <p:cNvSpPr/>
          <p:nvPr/>
        </p:nvSpPr>
        <p:spPr>
          <a:xfrm>
            <a:off x="7335048" y="4656909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75"/>
          <p:cNvSpPr/>
          <p:nvPr/>
        </p:nvSpPr>
        <p:spPr>
          <a:xfrm>
            <a:off x="7335048" y="4294051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76"/>
          <p:cNvSpPr/>
          <p:nvPr/>
        </p:nvSpPr>
        <p:spPr>
          <a:xfrm>
            <a:off x="7335048" y="3931194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77"/>
          <p:cNvSpPr/>
          <p:nvPr/>
        </p:nvSpPr>
        <p:spPr>
          <a:xfrm>
            <a:off x="7335048" y="3568337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78"/>
          <p:cNvSpPr/>
          <p:nvPr/>
        </p:nvSpPr>
        <p:spPr>
          <a:xfrm>
            <a:off x="7335048" y="5745480"/>
            <a:ext cx="370114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8-mark279"/>
          <p:cNvSpPr/>
          <p:nvPr/>
        </p:nvSpPr>
        <p:spPr>
          <a:xfrm flipV="1">
            <a:off x="7335048" y="3423194"/>
            <a:ext cx="0" cy="232228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8-label281"/>
          <p:cNvSpPr txBox="1"/>
          <p:nvPr/>
        </p:nvSpPr>
        <p:spPr>
          <a:xfrm>
            <a:off x="6907457" y="55549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08-label283"/>
          <p:cNvSpPr txBox="1"/>
          <p:nvPr/>
        </p:nvSpPr>
        <p:spPr>
          <a:xfrm>
            <a:off x="6907457" y="55549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8-label285"/>
          <p:cNvSpPr txBox="1"/>
          <p:nvPr/>
        </p:nvSpPr>
        <p:spPr>
          <a:xfrm>
            <a:off x="6907457" y="51921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8-label287"/>
          <p:cNvSpPr txBox="1"/>
          <p:nvPr/>
        </p:nvSpPr>
        <p:spPr>
          <a:xfrm>
            <a:off x="6907457" y="482926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8-label289"/>
          <p:cNvSpPr txBox="1"/>
          <p:nvPr/>
        </p:nvSpPr>
        <p:spPr>
          <a:xfrm>
            <a:off x="6907457" y="4466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1" name="S08-label291"/>
          <p:cNvSpPr txBox="1"/>
          <p:nvPr/>
        </p:nvSpPr>
        <p:spPr>
          <a:xfrm>
            <a:off x="6907457" y="410355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2" name="S08-label293"/>
          <p:cNvSpPr txBox="1"/>
          <p:nvPr/>
        </p:nvSpPr>
        <p:spPr>
          <a:xfrm>
            <a:off x="6806873" y="3740694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3" name="S08-label295"/>
          <p:cNvSpPr txBox="1"/>
          <p:nvPr/>
        </p:nvSpPr>
        <p:spPr>
          <a:xfrm>
            <a:off x="6806873" y="337783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4" name="S08-label297"/>
          <p:cNvSpPr txBox="1"/>
          <p:nvPr/>
        </p:nvSpPr>
        <p:spPr>
          <a:xfrm>
            <a:off x="6675809" y="301498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5" name="S08-label299"/>
          <p:cNvSpPr txBox="1"/>
          <p:nvPr/>
        </p:nvSpPr>
        <p:spPr>
          <a:xfrm>
            <a:off x="7675118" y="579083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400" dirty="0"/>
          </a:p>
        </p:txBody>
      </p:sp>
      <p:sp>
        <p:nvSpPr>
          <p:cNvPr id="26" name="S08-label301"/>
          <p:cNvSpPr txBox="1"/>
          <p:nvPr/>
        </p:nvSpPr>
        <p:spPr>
          <a:xfrm>
            <a:off x="8396623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400" dirty="0"/>
          </a:p>
        </p:txBody>
      </p:sp>
      <p:sp>
        <p:nvSpPr>
          <p:cNvPr id="27" name="S08-label303"/>
          <p:cNvSpPr txBox="1"/>
          <p:nvPr/>
        </p:nvSpPr>
        <p:spPr>
          <a:xfrm>
            <a:off x="9267480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400" dirty="0"/>
          </a:p>
        </p:txBody>
      </p:sp>
      <p:sp>
        <p:nvSpPr>
          <p:cNvPr id="28" name="S08-label305"/>
          <p:cNvSpPr txBox="1"/>
          <p:nvPr/>
        </p:nvSpPr>
        <p:spPr>
          <a:xfrm>
            <a:off x="10138337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400" dirty="0"/>
          </a:p>
        </p:txBody>
      </p:sp>
      <p:sp>
        <p:nvSpPr>
          <p:cNvPr id="29" name="S08-label307"/>
          <p:cNvSpPr txBox="1"/>
          <p:nvPr/>
        </p:nvSpPr>
        <p:spPr>
          <a:xfrm>
            <a:off x="7500076" y="2652123"/>
            <a:ext cx="33710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400" dirty="0"/>
          </a:p>
        </p:txBody>
      </p:sp>
      <p:sp>
        <p:nvSpPr>
          <p:cNvPr id="30" name="S08-stepno308"/>
          <p:cNvSpPr txBox="1"/>
          <p:nvPr/>
        </p:nvSpPr>
        <p:spPr>
          <a:xfrm>
            <a:off x="548640" y="28209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1" name="S08-text309"/>
          <p:cNvSpPr txBox="1"/>
          <p:nvPr/>
        </p:nvSpPr>
        <p:spPr>
          <a:xfrm>
            <a:off x="1325880" y="2775204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가로에 계절, 세로에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수를 정해요.</a:t>
            </a:r>
            <a:endParaRPr lang="ko-KR" sz="2400" dirty="0"/>
          </a:p>
        </p:txBody>
      </p:sp>
      <p:sp>
        <p:nvSpPr>
          <p:cNvPr id="32" name="S08-stepno310"/>
          <p:cNvSpPr txBox="1"/>
          <p:nvPr/>
        </p:nvSpPr>
        <p:spPr>
          <a:xfrm>
            <a:off x="548640" y="37292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08-text311"/>
          <p:cNvSpPr txBox="1"/>
          <p:nvPr/>
        </p:nvSpPr>
        <p:spPr>
          <a:xfrm>
            <a:off x="1325880" y="3683508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칸을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400" dirty="0"/>
          </a:p>
        </p:txBody>
      </p:sp>
      <p:sp>
        <p:nvSpPr>
          <p:cNvPr id="34" name="S08-stepno312"/>
          <p:cNvSpPr txBox="1"/>
          <p:nvPr/>
        </p:nvSpPr>
        <p:spPr>
          <a:xfrm>
            <a:off x="548640" y="4637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8-text313"/>
          <p:cNvSpPr txBox="1"/>
          <p:nvPr/>
        </p:nvSpPr>
        <p:spPr>
          <a:xfrm>
            <a:off x="1325880" y="4591812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수에 맞게 막대를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2400" dirty="0"/>
          </a:p>
        </p:txBody>
      </p:sp>
      <p:sp>
        <p:nvSpPr>
          <p:cNvPr id="36" name="S08-stepno314"/>
          <p:cNvSpPr txBox="1"/>
          <p:nvPr/>
        </p:nvSpPr>
        <p:spPr>
          <a:xfrm>
            <a:off x="548640" y="550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7" name="S08-text315"/>
          <p:cNvSpPr txBox="1"/>
          <p:nvPr/>
        </p:nvSpPr>
        <p:spPr>
          <a:xfrm>
            <a:off x="1325880" y="5500116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000" dirty="0"/>
          </a:p>
        </p:txBody>
      </p:sp>
      <p:sp>
        <p:nvSpPr>
          <p:cNvPr id="3" name="S09-text3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 8명, 사자 6명, 기린 2명, 판다 4명</a:t>
            </a:r>
            <a:endParaRPr lang="ko-KR" sz="3000" dirty="0"/>
          </a:p>
        </p:txBody>
      </p:sp>
      <p:sp>
        <p:nvSpPr>
          <p:cNvPr id="4" name="S09-card3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3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막대그래프는 가와 나 중 어느 것일까요?</a:t>
            </a:r>
            <a:endParaRPr lang="ko-KR" sz="3000" dirty="0"/>
          </a:p>
        </p:txBody>
      </p:sp>
      <p:sp>
        <p:nvSpPr>
          <p:cNvPr id="6" name="S09-chip319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figure320" descr="막대그래프(세로 눈금 한 칸 2): 토끼 8, 사자 4, 기린 2, 판다 6"/>
          <p:cNvSpPr/>
          <p:nvPr/>
        </p:nvSpPr>
        <p:spPr>
          <a:xfrm>
            <a:off x="1988927" y="3275909"/>
            <a:ext cx="416623" cy="1388745"/>
          </a:xfrm>
          <a:custGeom>
            <a:avLst/>
            <a:gdLst/>
            <a:ahLst/>
            <a:cxnLst/>
            <a:rect l="l" t="t" r="r" b="b"/>
            <a:pathLst>
              <a:path w="416623" h="1388745">
                <a:moveTo>
                  <a:pt x="0" y="1388745"/>
                </a:moveTo>
                <a:lnTo>
                  <a:pt x="416623" y="1388745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mark321"/>
          <p:cNvSpPr/>
          <p:nvPr/>
        </p:nvSpPr>
        <p:spPr>
          <a:xfrm>
            <a:off x="2822174" y="3970282"/>
            <a:ext cx="416623" cy="694372"/>
          </a:xfrm>
          <a:custGeom>
            <a:avLst/>
            <a:gdLst/>
            <a:ahLst/>
            <a:cxnLst/>
            <a:rect l="l" t="t" r="r" b="b"/>
            <a:pathLst>
              <a:path w="416623" h="694372">
                <a:moveTo>
                  <a:pt x="0" y="694372"/>
                </a:moveTo>
                <a:lnTo>
                  <a:pt x="416623" y="694372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mark322"/>
          <p:cNvSpPr/>
          <p:nvPr/>
        </p:nvSpPr>
        <p:spPr>
          <a:xfrm>
            <a:off x="3655421" y="4317468"/>
            <a:ext cx="416623" cy="347186"/>
          </a:xfrm>
          <a:custGeom>
            <a:avLst/>
            <a:gdLst/>
            <a:ahLst/>
            <a:cxnLst/>
            <a:rect l="l" t="t" r="r" b="b"/>
            <a:pathLst>
              <a:path w="416623" h="347186">
                <a:moveTo>
                  <a:pt x="0" y="347186"/>
                </a:moveTo>
                <a:lnTo>
                  <a:pt x="416623" y="347186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mark323"/>
          <p:cNvSpPr/>
          <p:nvPr/>
        </p:nvSpPr>
        <p:spPr>
          <a:xfrm>
            <a:off x="4488668" y="3623096"/>
            <a:ext cx="416624" cy="1041559"/>
          </a:xfrm>
          <a:custGeom>
            <a:avLst/>
            <a:gdLst/>
            <a:ahLst/>
            <a:cxnLst/>
            <a:rect l="l" t="t" r="r" b="b"/>
            <a:pathLst>
              <a:path w="416624" h="1041559">
                <a:moveTo>
                  <a:pt x="0" y="1041559"/>
                </a:moveTo>
                <a:lnTo>
                  <a:pt x="416624" y="1041559"/>
                </a:lnTo>
                <a:lnTo>
                  <a:pt x="41662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mark324"/>
          <p:cNvSpPr/>
          <p:nvPr/>
        </p:nvSpPr>
        <p:spPr>
          <a:xfrm>
            <a:off x="1676460" y="4317468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325"/>
          <p:cNvSpPr/>
          <p:nvPr/>
        </p:nvSpPr>
        <p:spPr>
          <a:xfrm>
            <a:off x="1676460" y="3970282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326"/>
          <p:cNvSpPr/>
          <p:nvPr/>
        </p:nvSpPr>
        <p:spPr>
          <a:xfrm>
            <a:off x="1676460" y="3623096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327"/>
          <p:cNvSpPr/>
          <p:nvPr/>
        </p:nvSpPr>
        <p:spPr>
          <a:xfrm>
            <a:off x="1676460" y="3275909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328"/>
          <p:cNvSpPr/>
          <p:nvPr/>
        </p:nvSpPr>
        <p:spPr>
          <a:xfrm>
            <a:off x="1676460" y="4664654"/>
            <a:ext cx="35413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9-mark329"/>
          <p:cNvSpPr/>
          <p:nvPr/>
        </p:nvSpPr>
        <p:spPr>
          <a:xfrm flipV="1">
            <a:off x="1676460" y="3137035"/>
            <a:ext cx="0" cy="152761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9-label331"/>
          <p:cNvSpPr txBox="1"/>
          <p:nvPr/>
        </p:nvSpPr>
        <p:spPr>
          <a:xfrm>
            <a:off x="1260622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9-label333"/>
          <p:cNvSpPr txBox="1"/>
          <p:nvPr/>
        </p:nvSpPr>
        <p:spPr>
          <a:xfrm>
            <a:off x="1260622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9-label335"/>
          <p:cNvSpPr txBox="1"/>
          <p:nvPr/>
        </p:nvSpPr>
        <p:spPr>
          <a:xfrm>
            <a:off x="1260622" y="41269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09-label337"/>
          <p:cNvSpPr txBox="1"/>
          <p:nvPr/>
        </p:nvSpPr>
        <p:spPr>
          <a:xfrm>
            <a:off x="1260622" y="377978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09-label339"/>
          <p:cNvSpPr txBox="1"/>
          <p:nvPr/>
        </p:nvSpPr>
        <p:spPr>
          <a:xfrm>
            <a:off x="1260622" y="34325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2" name="S09-label341"/>
          <p:cNvSpPr txBox="1"/>
          <p:nvPr/>
        </p:nvSpPr>
        <p:spPr>
          <a:xfrm>
            <a:off x="1260622" y="3085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9-label343"/>
          <p:cNvSpPr txBox="1"/>
          <p:nvPr/>
        </p:nvSpPr>
        <p:spPr>
          <a:xfrm>
            <a:off x="1028974" y="2738223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4" name="S09-label345"/>
          <p:cNvSpPr txBox="1"/>
          <p:nvPr/>
        </p:nvSpPr>
        <p:spPr>
          <a:xfrm>
            <a:off x="1843671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25" name="S09-label347"/>
          <p:cNvSpPr txBox="1"/>
          <p:nvPr/>
        </p:nvSpPr>
        <p:spPr>
          <a:xfrm>
            <a:off x="2676918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2400" dirty="0"/>
          </a:p>
        </p:txBody>
      </p:sp>
      <p:sp>
        <p:nvSpPr>
          <p:cNvPr id="26" name="S09-label349"/>
          <p:cNvSpPr txBox="1"/>
          <p:nvPr/>
        </p:nvSpPr>
        <p:spPr>
          <a:xfrm>
            <a:off x="3510165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2400" dirty="0"/>
          </a:p>
        </p:txBody>
      </p:sp>
      <p:sp>
        <p:nvSpPr>
          <p:cNvPr id="27" name="S09-label351"/>
          <p:cNvSpPr txBox="1"/>
          <p:nvPr/>
        </p:nvSpPr>
        <p:spPr>
          <a:xfrm>
            <a:off x="4343412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2400" dirty="0"/>
          </a:p>
        </p:txBody>
      </p:sp>
      <p:sp>
        <p:nvSpPr>
          <p:cNvPr id="28" name="S09-chip352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9" name="S09-figure353" descr="막대그래프(세로 눈금 한 칸 2): 토끼 8, 사자 6, 기린 2, 판다 4"/>
          <p:cNvSpPr/>
          <p:nvPr/>
        </p:nvSpPr>
        <p:spPr>
          <a:xfrm>
            <a:off x="7717643" y="3275909"/>
            <a:ext cx="416623" cy="1388745"/>
          </a:xfrm>
          <a:custGeom>
            <a:avLst/>
            <a:gdLst/>
            <a:ahLst/>
            <a:cxnLst/>
            <a:rect l="l" t="t" r="r" b="b"/>
            <a:pathLst>
              <a:path w="416623" h="1388745">
                <a:moveTo>
                  <a:pt x="0" y="1388745"/>
                </a:moveTo>
                <a:lnTo>
                  <a:pt x="416623" y="1388745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mark354"/>
          <p:cNvSpPr/>
          <p:nvPr/>
        </p:nvSpPr>
        <p:spPr>
          <a:xfrm>
            <a:off x="8550890" y="3623096"/>
            <a:ext cx="416623" cy="1041559"/>
          </a:xfrm>
          <a:custGeom>
            <a:avLst/>
            <a:gdLst/>
            <a:ahLst/>
            <a:cxnLst/>
            <a:rect l="l" t="t" r="r" b="b"/>
            <a:pathLst>
              <a:path w="416623" h="1041559">
                <a:moveTo>
                  <a:pt x="0" y="1041559"/>
                </a:moveTo>
                <a:lnTo>
                  <a:pt x="416623" y="1041559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mark355"/>
          <p:cNvSpPr/>
          <p:nvPr/>
        </p:nvSpPr>
        <p:spPr>
          <a:xfrm>
            <a:off x="9384137" y="4317468"/>
            <a:ext cx="416623" cy="347186"/>
          </a:xfrm>
          <a:custGeom>
            <a:avLst/>
            <a:gdLst/>
            <a:ahLst/>
            <a:cxnLst/>
            <a:rect l="l" t="t" r="r" b="b"/>
            <a:pathLst>
              <a:path w="416623" h="347186">
                <a:moveTo>
                  <a:pt x="0" y="347186"/>
                </a:moveTo>
                <a:lnTo>
                  <a:pt x="416623" y="347186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mark356"/>
          <p:cNvSpPr/>
          <p:nvPr/>
        </p:nvSpPr>
        <p:spPr>
          <a:xfrm>
            <a:off x="10217384" y="3970282"/>
            <a:ext cx="416623" cy="694372"/>
          </a:xfrm>
          <a:custGeom>
            <a:avLst/>
            <a:gdLst/>
            <a:ahLst/>
            <a:cxnLst/>
            <a:rect l="l" t="t" r="r" b="b"/>
            <a:pathLst>
              <a:path w="416623" h="694372">
                <a:moveTo>
                  <a:pt x="0" y="694372"/>
                </a:moveTo>
                <a:lnTo>
                  <a:pt x="416623" y="694372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mark357"/>
          <p:cNvSpPr/>
          <p:nvPr/>
        </p:nvSpPr>
        <p:spPr>
          <a:xfrm>
            <a:off x="7405176" y="4317468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9-mark358"/>
          <p:cNvSpPr/>
          <p:nvPr/>
        </p:nvSpPr>
        <p:spPr>
          <a:xfrm>
            <a:off x="7405176" y="3970282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9-mark359"/>
          <p:cNvSpPr/>
          <p:nvPr/>
        </p:nvSpPr>
        <p:spPr>
          <a:xfrm>
            <a:off x="7405176" y="3623096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9-mark360"/>
          <p:cNvSpPr/>
          <p:nvPr/>
        </p:nvSpPr>
        <p:spPr>
          <a:xfrm>
            <a:off x="7405176" y="3275909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9-mark361"/>
          <p:cNvSpPr/>
          <p:nvPr/>
        </p:nvSpPr>
        <p:spPr>
          <a:xfrm>
            <a:off x="7405176" y="4664654"/>
            <a:ext cx="35413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8" name="S09-mark362"/>
          <p:cNvSpPr/>
          <p:nvPr/>
        </p:nvSpPr>
        <p:spPr>
          <a:xfrm flipV="1">
            <a:off x="7405176" y="3137035"/>
            <a:ext cx="0" cy="152761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09-label364"/>
          <p:cNvSpPr txBox="1"/>
          <p:nvPr/>
        </p:nvSpPr>
        <p:spPr>
          <a:xfrm>
            <a:off x="6989338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40" name="S09-label366"/>
          <p:cNvSpPr txBox="1"/>
          <p:nvPr/>
        </p:nvSpPr>
        <p:spPr>
          <a:xfrm>
            <a:off x="6989338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41" name="S09-label368"/>
          <p:cNvSpPr txBox="1"/>
          <p:nvPr/>
        </p:nvSpPr>
        <p:spPr>
          <a:xfrm>
            <a:off x="6989338" y="41269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42" name="S09-label370"/>
          <p:cNvSpPr txBox="1"/>
          <p:nvPr/>
        </p:nvSpPr>
        <p:spPr>
          <a:xfrm>
            <a:off x="6989338" y="377978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3" name="S09-label372"/>
          <p:cNvSpPr txBox="1"/>
          <p:nvPr/>
        </p:nvSpPr>
        <p:spPr>
          <a:xfrm>
            <a:off x="6989338" y="34325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44" name="S09-label374"/>
          <p:cNvSpPr txBox="1"/>
          <p:nvPr/>
        </p:nvSpPr>
        <p:spPr>
          <a:xfrm>
            <a:off x="6989338" y="3085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45" name="S09-label376"/>
          <p:cNvSpPr txBox="1"/>
          <p:nvPr/>
        </p:nvSpPr>
        <p:spPr>
          <a:xfrm>
            <a:off x="6757690" y="2738223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46" name="S09-label378"/>
          <p:cNvSpPr txBox="1"/>
          <p:nvPr/>
        </p:nvSpPr>
        <p:spPr>
          <a:xfrm>
            <a:off x="7572387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47" name="S09-label380"/>
          <p:cNvSpPr txBox="1"/>
          <p:nvPr/>
        </p:nvSpPr>
        <p:spPr>
          <a:xfrm>
            <a:off x="8405634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2400" dirty="0"/>
          </a:p>
        </p:txBody>
      </p:sp>
      <p:sp>
        <p:nvSpPr>
          <p:cNvPr id="48" name="S09-label382"/>
          <p:cNvSpPr txBox="1"/>
          <p:nvPr/>
        </p:nvSpPr>
        <p:spPr>
          <a:xfrm>
            <a:off x="9238881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2400" dirty="0"/>
          </a:p>
        </p:txBody>
      </p:sp>
      <p:sp>
        <p:nvSpPr>
          <p:cNvPr id="49" name="S09-label384"/>
          <p:cNvSpPr txBox="1"/>
          <p:nvPr/>
        </p:nvSpPr>
        <p:spPr>
          <a:xfrm>
            <a:off x="10072128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figure385" descr="막대그래프 ‘반별 칭찬 스티커 수’(세로 눈금 한 칸 10): 1반 30, 2반 50, 3반 20, 4반 40"/>
          <p:cNvSpPr/>
          <p:nvPr/>
        </p:nvSpPr>
        <p:spPr>
          <a:xfrm>
            <a:off x="7369240" y="4072033"/>
            <a:ext cx="533570" cy="1333925"/>
          </a:xfrm>
          <a:custGeom>
            <a:avLst/>
            <a:gdLst/>
            <a:ahLst/>
            <a:cxnLst/>
            <a:rect l="l" t="t" r="r" b="b"/>
            <a:pathLst>
              <a:path w="533570" h="1333925">
                <a:moveTo>
                  <a:pt x="0" y="1333925"/>
                </a:moveTo>
                <a:lnTo>
                  <a:pt x="533570" y="1333925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0-mark386"/>
          <p:cNvSpPr/>
          <p:nvPr/>
        </p:nvSpPr>
        <p:spPr>
          <a:xfrm>
            <a:off x="8436380" y="3182750"/>
            <a:ext cx="533570" cy="2223209"/>
          </a:xfrm>
          <a:custGeom>
            <a:avLst/>
            <a:gdLst/>
            <a:ahLst/>
            <a:cxnLst/>
            <a:rect l="l" t="t" r="r" b="b"/>
            <a:pathLst>
              <a:path w="533570" h="2223209">
                <a:moveTo>
                  <a:pt x="0" y="2223209"/>
                </a:moveTo>
                <a:lnTo>
                  <a:pt x="533570" y="2223209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387"/>
          <p:cNvSpPr/>
          <p:nvPr/>
        </p:nvSpPr>
        <p:spPr>
          <a:xfrm>
            <a:off x="9503520" y="4516675"/>
            <a:ext cx="533570" cy="889283"/>
          </a:xfrm>
          <a:custGeom>
            <a:avLst/>
            <a:gdLst/>
            <a:ahLst/>
            <a:cxnLst/>
            <a:rect l="l" t="t" r="r" b="b"/>
            <a:pathLst>
              <a:path w="533570" h="889283">
                <a:moveTo>
                  <a:pt x="0" y="889283"/>
                </a:moveTo>
                <a:lnTo>
                  <a:pt x="533570" y="889283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mark388"/>
          <p:cNvSpPr/>
          <p:nvPr/>
        </p:nvSpPr>
        <p:spPr>
          <a:xfrm>
            <a:off x="10570660" y="3627391"/>
            <a:ext cx="533570" cy="1778567"/>
          </a:xfrm>
          <a:custGeom>
            <a:avLst/>
            <a:gdLst/>
            <a:ahLst/>
            <a:cxnLst/>
            <a:rect l="l" t="t" r="r" b="b"/>
            <a:pathLst>
              <a:path w="533570" h="1778567">
                <a:moveTo>
                  <a:pt x="0" y="1778567"/>
                </a:moveTo>
                <a:lnTo>
                  <a:pt x="533570" y="1778567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389"/>
          <p:cNvSpPr/>
          <p:nvPr/>
        </p:nvSpPr>
        <p:spPr>
          <a:xfrm>
            <a:off x="6969062" y="4961317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390"/>
          <p:cNvSpPr/>
          <p:nvPr/>
        </p:nvSpPr>
        <p:spPr>
          <a:xfrm>
            <a:off x="6969062" y="4516675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391"/>
          <p:cNvSpPr/>
          <p:nvPr/>
        </p:nvSpPr>
        <p:spPr>
          <a:xfrm>
            <a:off x="6969062" y="4072033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392"/>
          <p:cNvSpPr/>
          <p:nvPr/>
        </p:nvSpPr>
        <p:spPr>
          <a:xfrm>
            <a:off x="6969062" y="3627391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393"/>
          <p:cNvSpPr/>
          <p:nvPr/>
        </p:nvSpPr>
        <p:spPr>
          <a:xfrm>
            <a:off x="6969062" y="3182750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394"/>
          <p:cNvSpPr/>
          <p:nvPr/>
        </p:nvSpPr>
        <p:spPr>
          <a:xfrm>
            <a:off x="6969062" y="2738108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395"/>
          <p:cNvSpPr/>
          <p:nvPr/>
        </p:nvSpPr>
        <p:spPr>
          <a:xfrm>
            <a:off x="6969062" y="5405958"/>
            <a:ext cx="45353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0-mark396"/>
          <p:cNvSpPr/>
          <p:nvPr/>
        </p:nvSpPr>
        <p:spPr>
          <a:xfrm flipV="1">
            <a:off x="6969062" y="2560251"/>
            <a:ext cx="0" cy="284570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0-label398"/>
          <p:cNvSpPr txBox="1"/>
          <p:nvPr/>
        </p:nvSpPr>
        <p:spPr>
          <a:xfrm>
            <a:off x="6480133" y="52154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10-label400"/>
          <p:cNvSpPr txBox="1"/>
          <p:nvPr/>
        </p:nvSpPr>
        <p:spPr>
          <a:xfrm>
            <a:off x="6480133" y="52154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0-label402"/>
          <p:cNvSpPr txBox="1"/>
          <p:nvPr/>
        </p:nvSpPr>
        <p:spPr>
          <a:xfrm>
            <a:off x="6379549" y="477081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8" name="S10-label404"/>
          <p:cNvSpPr txBox="1"/>
          <p:nvPr/>
        </p:nvSpPr>
        <p:spPr>
          <a:xfrm>
            <a:off x="6379549" y="432617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19" name="S10-label406"/>
          <p:cNvSpPr txBox="1"/>
          <p:nvPr/>
        </p:nvSpPr>
        <p:spPr>
          <a:xfrm>
            <a:off x="6379549" y="388153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0" name="S10-label408"/>
          <p:cNvSpPr txBox="1"/>
          <p:nvPr/>
        </p:nvSpPr>
        <p:spPr>
          <a:xfrm>
            <a:off x="6379549" y="343689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400" dirty="0"/>
          </a:p>
        </p:txBody>
      </p:sp>
      <p:sp>
        <p:nvSpPr>
          <p:cNvPr id="21" name="S10-label410"/>
          <p:cNvSpPr txBox="1"/>
          <p:nvPr/>
        </p:nvSpPr>
        <p:spPr>
          <a:xfrm>
            <a:off x="6379549" y="299225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400" dirty="0"/>
          </a:p>
        </p:txBody>
      </p:sp>
      <p:sp>
        <p:nvSpPr>
          <p:cNvPr id="22" name="S10-label412"/>
          <p:cNvSpPr txBox="1"/>
          <p:nvPr/>
        </p:nvSpPr>
        <p:spPr>
          <a:xfrm>
            <a:off x="6379549" y="2547608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400" dirty="0"/>
          </a:p>
        </p:txBody>
      </p:sp>
      <p:sp>
        <p:nvSpPr>
          <p:cNvPr id="23" name="S10-label414"/>
          <p:cNvSpPr txBox="1"/>
          <p:nvPr/>
        </p:nvSpPr>
        <p:spPr>
          <a:xfrm>
            <a:off x="6248485" y="2102966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(장)</a:t>
            </a:r>
            <a:endParaRPr lang="ko-KR" sz="2400" dirty="0"/>
          </a:p>
        </p:txBody>
      </p:sp>
      <p:sp>
        <p:nvSpPr>
          <p:cNvPr id="24" name="S10-label416"/>
          <p:cNvSpPr txBox="1"/>
          <p:nvPr/>
        </p:nvSpPr>
        <p:spPr>
          <a:xfrm>
            <a:off x="733122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1반</a:t>
            </a:r>
            <a:endParaRPr lang="ko-KR" sz="2400" dirty="0"/>
          </a:p>
        </p:txBody>
      </p:sp>
      <p:sp>
        <p:nvSpPr>
          <p:cNvPr id="25" name="S10-label418"/>
          <p:cNvSpPr txBox="1"/>
          <p:nvPr/>
        </p:nvSpPr>
        <p:spPr>
          <a:xfrm>
            <a:off x="839836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2반</a:t>
            </a:r>
            <a:endParaRPr lang="ko-KR" sz="2400" dirty="0"/>
          </a:p>
        </p:txBody>
      </p:sp>
      <p:sp>
        <p:nvSpPr>
          <p:cNvPr id="26" name="S10-label420"/>
          <p:cNvSpPr txBox="1"/>
          <p:nvPr/>
        </p:nvSpPr>
        <p:spPr>
          <a:xfrm>
            <a:off x="946550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</a:t>
            </a:r>
            <a:endParaRPr lang="ko-KR" sz="2400" dirty="0"/>
          </a:p>
        </p:txBody>
      </p:sp>
      <p:sp>
        <p:nvSpPr>
          <p:cNvPr id="27" name="S10-label422"/>
          <p:cNvSpPr txBox="1"/>
          <p:nvPr/>
        </p:nvSpPr>
        <p:spPr>
          <a:xfrm>
            <a:off x="1053264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</a:t>
            </a:r>
            <a:endParaRPr lang="ko-KR" sz="2400" dirty="0"/>
          </a:p>
        </p:txBody>
      </p:sp>
      <p:sp>
        <p:nvSpPr>
          <p:cNvPr id="28" name="S10-label424"/>
          <p:cNvSpPr txBox="1"/>
          <p:nvPr/>
        </p:nvSpPr>
        <p:spPr>
          <a:xfrm>
            <a:off x="7849895" y="1658325"/>
            <a:ext cx="2773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칭찬 스티커 수</a:t>
            </a:r>
            <a:endParaRPr lang="ko-KR" sz="2400" dirty="0"/>
          </a:p>
        </p:txBody>
      </p:sp>
      <p:sp>
        <p:nvSpPr>
          <p:cNvPr id="29" name="S10-chip42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0" name="S10-text42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장일까요?</a:t>
            </a:r>
            <a:endParaRPr lang="ko-KR" sz="3000" dirty="0"/>
          </a:p>
        </p:txBody>
      </p:sp>
      <p:sp>
        <p:nvSpPr>
          <p:cNvPr id="31" name="S10-chip42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2" name="S10-text42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반과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 수는?</a:t>
            </a:r>
            <a:endParaRPr lang="ko-KR" sz="3000" dirty="0"/>
          </a:p>
        </p:txBody>
      </p:sp>
      <p:sp>
        <p:nvSpPr>
          <p:cNvPr id="33" name="S10-chip42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4" name="S10-text43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4반은 3반보다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4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4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틀렸다면 “한 칸이 몇 장이었지?”라고 묻고 다시 읽게 하세요.</a:t>
            </a:r>
            <a:endParaRPr lang="ko-KR" sz="3000" dirty="0"/>
          </a:p>
        </p:txBody>
      </p:sp>
      <p:sp>
        <p:nvSpPr>
          <p:cNvPr id="5" name="S11-chip43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43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10장</a:t>
            </a:r>
            <a:endParaRPr lang="ko-KR" sz="3000" dirty="0"/>
          </a:p>
        </p:txBody>
      </p:sp>
      <p:sp>
        <p:nvSpPr>
          <p:cNvPr id="7" name="S11-text43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눈금이 10씩 커짐</a:t>
            </a:r>
            <a:endParaRPr lang="ko-KR" sz="2400" dirty="0"/>
          </a:p>
        </p:txBody>
      </p:sp>
      <p:sp>
        <p:nvSpPr>
          <p:cNvPr id="8" name="S11-text43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2반, 50장</a:t>
            </a:r>
            <a:endParaRPr lang="ko-KR" sz="3000" dirty="0"/>
          </a:p>
        </p:txBody>
      </p:sp>
      <p:sp>
        <p:nvSpPr>
          <p:cNvPr id="9" name="S11-text43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막대</a:t>
            </a:r>
            <a:endParaRPr lang="ko-KR" sz="2400" dirty="0"/>
          </a:p>
        </p:txBody>
      </p:sp>
      <p:sp>
        <p:nvSpPr>
          <p:cNvPr id="10" name="S11-text43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20장</a:t>
            </a:r>
            <a:endParaRPr lang="ko-KR" sz="3000" dirty="0"/>
          </a:p>
        </p:txBody>
      </p:sp>
      <p:sp>
        <p:nvSpPr>
          <p:cNvPr id="11" name="S11-text43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40 − 20</a:t>
            </a:r>
            <a:endParaRPr lang="ko-KR" sz="2400" dirty="0"/>
          </a:p>
        </p:txBody>
      </p:sp>
      <p:sp>
        <p:nvSpPr>
          <p:cNvPr id="12" name="S11-chip44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1-text44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2반, 5장</a:t>
            </a:r>
            <a:endParaRPr lang="ko-KR" sz="3000" dirty="0"/>
          </a:p>
        </p:txBody>
      </p:sp>
      <p:sp>
        <p:nvSpPr>
          <p:cNvPr id="14" name="S11-text44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수만 셈</a:t>
            </a:r>
            <a:endParaRPr lang="ko-KR" sz="2400" dirty="0"/>
          </a:p>
        </p:txBody>
      </p:sp>
      <p:sp>
        <p:nvSpPr>
          <p:cNvPr id="15" name="S11-text44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2장</a:t>
            </a:r>
            <a:endParaRPr lang="ko-KR" sz="3000" dirty="0"/>
          </a:p>
        </p:txBody>
      </p:sp>
      <p:sp>
        <p:nvSpPr>
          <p:cNvPr id="16" name="S11-text44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 차이만 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12-text4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색깔별 학생 수예요.</a:t>
            </a:r>
            <a:endParaRPr lang="ko-KR" sz="3000" dirty="0"/>
          </a:p>
        </p:txBody>
      </p:sp>
      <p:graphicFrame>
        <p:nvGraphicFramePr>
          <p:cNvPr id="13" name="S12-table4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697480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2-chip44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2-text448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7" name="S12-chip44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2-text450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 막대는 몇 칸?</a:t>
            </a:r>
            <a:endParaRPr lang="ko-KR" sz="3000" dirty="0"/>
          </a:p>
        </p:txBody>
      </p:sp>
      <p:sp>
        <p:nvSpPr>
          <p:cNvPr id="9" name="S12-chip45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2-text452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1명으로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45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5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막대그래프는 수를 막대의 길이로 나타내요. 눈금 한 칸의 크기부터 봐요.</a:t>
            </a:r>
            <a:endParaRPr lang="ko-KR" sz="3000" dirty="0"/>
          </a:p>
        </p:txBody>
      </p:sp>
      <p:sp>
        <p:nvSpPr>
          <p:cNvPr id="5" name="S13-chip45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눈금 한 칸의 크기 확인하기</a:t>
            </a:r>
            <a:endParaRPr lang="ko-KR" sz="2400" dirty="0"/>
          </a:p>
        </p:txBody>
      </p:sp>
      <p:sp>
        <p:nvSpPr>
          <p:cNvPr id="6" name="S13-chip45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칸 수를 그대로 수로 읽기</a:t>
            </a:r>
            <a:endParaRPr lang="ko-KR" sz="2400" dirty="0"/>
          </a:p>
        </p:txBody>
      </p:sp>
      <p:sp>
        <p:nvSpPr>
          <p:cNvPr id="7" name="S13-text45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45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칸이 5명일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4칸은 몇 명?</a:t>
            </a:r>
            <a:endParaRPr lang="ko-KR" sz="2400" dirty="0"/>
          </a:p>
        </p:txBody>
      </p:sp>
      <p:sp>
        <p:nvSpPr>
          <p:cNvPr id="9" name="S13-text45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14명을 한 칸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그리면 몇 칸?</a:t>
            </a:r>
            <a:endParaRPr lang="ko-KR" sz="2400" dirty="0"/>
          </a:p>
        </p:txBody>
      </p:sp>
      <p:sp>
        <p:nvSpPr>
          <p:cNvPr id="10" name="S13-text46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400" dirty="0"/>
          </a:p>
        </p:txBody>
      </p:sp>
      <p:sp>
        <p:nvSpPr>
          <p:cNvPr id="11" name="S13-text46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꺾은선그래프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칸을 세어 읽어요</a:t>
            </a:r>
            <a:endParaRPr lang="ko-KR" sz="4000" dirty="0"/>
          </a:p>
        </p:txBody>
      </p:sp>
      <p:sp>
        <p:nvSpPr>
          <p:cNvPr id="3" name="S14-card46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46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1명이에요.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끝에서 옆으로 따라가 눈금 숫자를 읽어요.</a:t>
            </a:r>
            <a:endParaRPr lang="ko-KR" sz="3000" dirty="0"/>
          </a:p>
        </p:txBody>
      </p:sp>
      <p:sp>
        <p:nvSpPr>
          <p:cNvPr id="5" name="S14-figure464" descr="막대그래프(세로 눈금 한 칸 1): 사과 5, 포도 3, 귤 4"/>
          <p:cNvSpPr/>
          <p:nvPr/>
        </p:nvSpPr>
        <p:spPr>
          <a:xfrm>
            <a:off x="5055093" y="2008127"/>
            <a:ext cx="525162" cy="2188176"/>
          </a:xfrm>
          <a:custGeom>
            <a:avLst/>
            <a:gdLst/>
            <a:ahLst/>
            <a:cxnLst/>
            <a:rect l="l" t="t" r="r" b="b"/>
            <a:pathLst>
              <a:path w="525162" h="2188176">
                <a:moveTo>
                  <a:pt x="0" y="2188176"/>
                </a:moveTo>
                <a:lnTo>
                  <a:pt x="525162" y="2188176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mark465"/>
          <p:cNvSpPr/>
          <p:nvPr/>
        </p:nvSpPr>
        <p:spPr>
          <a:xfrm>
            <a:off x="6105417" y="2883398"/>
            <a:ext cx="525162" cy="1312905"/>
          </a:xfrm>
          <a:custGeom>
            <a:avLst/>
            <a:gdLst/>
            <a:ahLst/>
            <a:cxnLst/>
            <a:rect l="l" t="t" r="r" b="b"/>
            <a:pathLst>
              <a:path w="525162" h="1312905">
                <a:moveTo>
                  <a:pt x="0" y="1312905"/>
                </a:moveTo>
                <a:lnTo>
                  <a:pt x="525162" y="1312905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mark466"/>
          <p:cNvSpPr/>
          <p:nvPr/>
        </p:nvSpPr>
        <p:spPr>
          <a:xfrm>
            <a:off x="7155741" y="2445763"/>
            <a:ext cx="525162" cy="1750541"/>
          </a:xfrm>
          <a:custGeom>
            <a:avLst/>
            <a:gdLst/>
            <a:ahLst/>
            <a:cxnLst/>
            <a:rect l="l" t="t" r="r" b="b"/>
            <a:pathLst>
              <a:path w="525162" h="1750541">
                <a:moveTo>
                  <a:pt x="0" y="1750541"/>
                </a:moveTo>
                <a:lnTo>
                  <a:pt x="525162" y="1750541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mark467"/>
          <p:cNvSpPr/>
          <p:nvPr/>
        </p:nvSpPr>
        <p:spPr>
          <a:xfrm>
            <a:off x="4661221" y="3758668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4-mark468"/>
          <p:cNvSpPr/>
          <p:nvPr/>
        </p:nvSpPr>
        <p:spPr>
          <a:xfrm>
            <a:off x="4661221" y="3321033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4-mark469"/>
          <p:cNvSpPr/>
          <p:nvPr/>
        </p:nvSpPr>
        <p:spPr>
          <a:xfrm>
            <a:off x="4661221" y="2883398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4-mark470"/>
          <p:cNvSpPr/>
          <p:nvPr/>
        </p:nvSpPr>
        <p:spPr>
          <a:xfrm>
            <a:off x="4661221" y="2445763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4-mark471"/>
          <p:cNvSpPr/>
          <p:nvPr/>
        </p:nvSpPr>
        <p:spPr>
          <a:xfrm>
            <a:off x="4661221" y="2008127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4-mark472"/>
          <p:cNvSpPr/>
          <p:nvPr/>
        </p:nvSpPr>
        <p:spPr>
          <a:xfrm>
            <a:off x="4661221" y="4196303"/>
            <a:ext cx="34135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4-mark473"/>
          <p:cNvSpPr/>
          <p:nvPr/>
        </p:nvSpPr>
        <p:spPr>
          <a:xfrm flipV="1">
            <a:off x="4661221" y="1833073"/>
            <a:ext cx="0" cy="236323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4-label475"/>
          <p:cNvSpPr txBox="1"/>
          <p:nvPr/>
        </p:nvSpPr>
        <p:spPr>
          <a:xfrm>
            <a:off x="4177547" y="40058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14-label477"/>
          <p:cNvSpPr txBox="1"/>
          <p:nvPr/>
        </p:nvSpPr>
        <p:spPr>
          <a:xfrm>
            <a:off x="4177547" y="40058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4-label479"/>
          <p:cNvSpPr txBox="1"/>
          <p:nvPr/>
        </p:nvSpPr>
        <p:spPr>
          <a:xfrm>
            <a:off x="4177547" y="35681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8" name="S14-label481"/>
          <p:cNvSpPr txBox="1"/>
          <p:nvPr/>
        </p:nvSpPr>
        <p:spPr>
          <a:xfrm>
            <a:off x="4177547" y="313053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4-label483"/>
          <p:cNvSpPr txBox="1"/>
          <p:nvPr/>
        </p:nvSpPr>
        <p:spPr>
          <a:xfrm>
            <a:off x="4177547" y="269289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0" name="S14-label485"/>
          <p:cNvSpPr txBox="1"/>
          <p:nvPr/>
        </p:nvSpPr>
        <p:spPr>
          <a:xfrm>
            <a:off x="4177547" y="225526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14-label487"/>
          <p:cNvSpPr txBox="1"/>
          <p:nvPr/>
        </p:nvSpPr>
        <p:spPr>
          <a:xfrm>
            <a:off x="4177547" y="181762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2" name="S14-label489"/>
          <p:cNvSpPr txBox="1"/>
          <p:nvPr/>
        </p:nvSpPr>
        <p:spPr>
          <a:xfrm>
            <a:off x="3945899" y="1379992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3" name="S14-label491"/>
          <p:cNvSpPr txBox="1"/>
          <p:nvPr/>
        </p:nvSpPr>
        <p:spPr>
          <a:xfrm>
            <a:off x="4964106" y="429026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400" dirty="0"/>
          </a:p>
        </p:txBody>
      </p:sp>
      <p:sp>
        <p:nvSpPr>
          <p:cNvPr id="24" name="S14-label493"/>
          <p:cNvSpPr txBox="1"/>
          <p:nvPr/>
        </p:nvSpPr>
        <p:spPr>
          <a:xfrm>
            <a:off x="6014430" y="429026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400" dirty="0"/>
          </a:p>
        </p:txBody>
      </p:sp>
      <p:sp>
        <p:nvSpPr>
          <p:cNvPr id="25" name="S14-label495"/>
          <p:cNvSpPr txBox="1"/>
          <p:nvPr/>
        </p:nvSpPr>
        <p:spPr>
          <a:xfrm>
            <a:off x="7214106" y="429026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막대그래프</dc:title>
  <dc:subject>KR22-G04-MAT-BARGRAPH-L01</dc:subject>
  <dc:creator>education-ppt</dc:creator>
  <cp:lastModifiedBy>education-ppt</cp:lastModifiedBy>
  <cp:revision>1</cp:revision>
  <dcterms:created xsi:type="dcterms:W3CDTF">2026-10-26T08:24:33Z</dcterms:created>
  <dcterms:modified xsi:type="dcterms:W3CDTF">2026-10-26T08:24:33Z</dcterms:modified>
</cp:coreProperties>
</file>