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3dc7d7d-a76f-29fe-6134-444a872bcbdb}">
          <p14:sldIdLst>
            <p14:sldId id="256"/>
            <p14:sldId id="257"/>
          </p14:sldIdLst>
        </p14:section>
        <p14:section name="개념" id="{18937308-1f61-6d12-4030-7db69756ff2d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2fdddeaf-811d-069f-3e68-6d3dd7ecf97c}">
          <p14:sldIdLst>
            <p14:sldId id="261"/>
            <p14:sldId id="262"/>
            <p14:sldId id="265"/>
          </p14:sldIdLst>
        </p14:section>
        <p14:section name="개념" id="{bc2df2ab-e37a-83e4-136a-a584b3594552}">
          <p14:sldIdLst/>
        </p14:section>
        <p14:section name="연습" id="{1963739c-c0da-d473-471f-182514abc404}">
          <p14:sldIdLst/>
        </p14:section>
        <p14:section name="확인" id="{9d90e9e7-96a4-cd62-b712-be91b479985c}">
          <p14:sldIdLst>
            <p14:sldId id="266"/>
            <p14:sldId id="267"/>
          </p14:sldIdLst>
        </p14:section>
        <p14:section name="정리" id="{f75d0e88-a838-b6c6-ea38-9b0245346340}">
          <p14:sldIdLst>
            <p14:sldId id="268"/>
          </p14:sldIdLst>
        </p14:section>
        <p14:section name="보충" id="{71a10b1c-0160-0116-a3af-ec781aa1ada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자료와규칙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꺾은선그래프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꺾은선그래프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꺾은선그래프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기온은 어떻게 변했을까?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꺾은선그래프를 읽고 변화를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물결선을 알고 꺾은선그래프로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3" descr="막대그래프 ‘요일별 읽은 쪽수’(세로 눈금 한 칸 2): 월 6, 화 10, 수 4, 목 8"/>
          <p:cNvSpPr/>
          <p:nvPr/>
        </p:nvSpPr>
        <p:spPr>
          <a:xfrm>
            <a:off x="7404811" y="3849050"/>
            <a:ext cx="529029" cy="1322573"/>
          </a:xfrm>
          <a:custGeom>
            <a:avLst/>
            <a:gdLst/>
            <a:ahLst/>
            <a:cxnLst/>
            <a:rect l="l" t="t" r="r" b="b"/>
            <a:pathLst>
              <a:path w="529029" h="1322573">
                <a:moveTo>
                  <a:pt x="0" y="1322573"/>
                </a:moveTo>
                <a:lnTo>
                  <a:pt x="529029" y="1322573"/>
                </a:lnTo>
                <a:lnTo>
                  <a:pt x="529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2-mark4"/>
          <p:cNvSpPr/>
          <p:nvPr/>
        </p:nvSpPr>
        <p:spPr>
          <a:xfrm>
            <a:off x="8462869" y="2967335"/>
            <a:ext cx="529029" cy="2204288"/>
          </a:xfrm>
          <a:custGeom>
            <a:avLst/>
            <a:gdLst/>
            <a:ahLst/>
            <a:cxnLst/>
            <a:rect l="l" t="t" r="r" b="b"/>
            <a:pathLst>
              <a:path w="529029" h="2204288">
                <a:moveTo>
                  <a:pt x="0" y="2204288"/>
                </a:moveTo>
                <a:lnTo>
                  <a:pt x="529029" y="2204288"/>
                </a:lnTo>
                <a:lnTo>
                  <a:pt x="529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9520927" y="4289908"/>
            <a:ext cx="529029" cy="881715"/>
          </a:xfrm>
          <a:custGeom>
            <a:avLst/>
            <a:gdLst/>
            <a:ahLst/>
            <a:cxnLst/>
            <a:rect l="l" t="t" r="r" b="b"/>
            <a:pathLst>
              <a:path w="529029" h="881715">
                <a:moveTo>
                  <a:pt x="0" y="881715"/>
                </a:moveTo>
                <a:lnTo>
                  <a:pt x="529029" y="881715"/>
                </a:lnTo>
                <a:lnTo>
                  <a:pt x="529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10578985" y="3408193"/>
            <a:ext cx="529029" cy="1763430"/>
          </a:xfrm>
          <a:custGeom>
            <a:avLst/>
            <a:gdLst/>
            <a:ahLst/>
            <a:cxnLst/>
            <a:rect l="l" t="t" r="r" b="b"/>
            <a:pathLst>
              <a:path w="529029" h="1763430">
                <a:moveTo>
                  <a:pt x="0" y="1763430"/>
                </a:moveTo>
                <a:lnTo>
                  <a:pt x="529029" y="1763430"/>
                </a:lnTo>
                <a:lnTo>
                  <a:pt x="5290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008039" y="4730765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>
            <a:off x="7008039" y="4289908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>
            <a:off x="7008039" y="3849050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>
            <a:off x="7008039" y="3408193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>
            <a:off x="7008039" y="2967335"/>
            <a:ext cx="44967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>
            <a:off x="7008039" y="5171623"/>
            <a:ext cx="449674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 flipV="1">
            <a:off x="7008039" y="2790992"/>
            <a:ext cx="0" cy="238063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2-label15"/>
          <p:cNvSpPr txBox="1"/>
          <p:nvPr/>
        </p:nvSpPr>
        <p:spPr>
          <a:xfrm>
            <a:off x="6477863" y="49811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5" name="S02-label17"/>
          <p:cNvSpPr txBox="1"/>
          <p:nvPr/>
        </p:nvSpPr>
        <p:spPr>
          <a:xfrm>
            <a:off x="6477863" y="49811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6" name="S02-label19"/>
          <p:cNvSpPr txBox="1"/>
          <p:nvPr/>
        </p:nvSpPr>
        <p:spPr>
          <a:xfrm>
            <a:off x="6477863" y="454026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7" name="S02-label21"/>
          <p:cNvSpPr txBox="1"/>
          <p:nvPr/>
        </p:nvSpPr>
        <p:spPr>
          <a:xfrm>
            <a:off x="6477863" y="40994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8" name="S02-label23"/>
          <p:cNvSpPr txBox="1"/>
          <p:nvPr/>
        </p:nvSpPr>
        <p:spPr>
          <a:xfrm>
            <a:off x="6477863" y="36585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9" name="S02-label25"/>
          <p:cNvSpPr txBox="1"/>
          <p:nvPr/>
        </p:nvSpPr>
        <p:spPr>
          <a:xfrm>
            <a:off x="6477863" y="321769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0" name="S02-label27"/>
          <p:cNvSpPr txBox="1"/>
          <p:nvPr/>
        </p:nvSpPr>
        <p:spPr>
          <a:xfrm>
            <a:off x="6377279" y="2776835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1" name="S02-label29"/>
          <p:cNvSpPr txBox="1"/>
          <p:nvPr/>
        </p:nvSpPr>
        <p:spPr>
          <a:xfrm>
            <a:off x="6246215" y="2335977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(쪽)</a:t>
            </a:r>
            <a:endParaRPr lang="ko-KR" sz="2400" dirty="0"/>
          </a:p>
        </p:txBody>
      </p:sp>
      <p:sp>
        <p:nvSpPr>
          <p:cNvPr id="22" name="S02-label31"/>
          <p:cNvSpPr txBox="1"/>
          <p:nvPr/>
        </p:nvSpPr>
        <p:spPr>
          <a:xfrm>
            <a:off x="7465110" y="52676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ko-KR" sz="2400" dirty="0"/>
          </a:p>
        </p:txBody>
      </p:sp>
      <p:sp>
        <p:nvSpPr>
          <p:cNvPr id="23" name="S02-label33"/>
          <p:cNvSpPr txBox="1"/>
          <p:nvPr/>
        </p:nvSpPr>
        <p:spPr>
          <a:xfrm>
            <a:off x="8523168" y="52676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ko-KR" sz="2400" dirty="0"/>
          </a:p>
        </p:txBody>
      </p:sp>
      <p:sp>
        <p:nvSpPr>
          <p:cNvPr id="24" name="S02-label35"/>
          <p:cNvSpPr txBox="1"/>
          <p:nvPr/>
        </p:nvSpPr>
        <p:spPr>
          <a:xfrm>
            <a:off x="9581226" y="52676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2400" dirty="0"/>
          </a:p>
        </p:txBody>
      </p:sp>
      <p:sp>
        <p:nvSpPr>
          <p:cNvPr id="25" name="S02-label37"/>
          <p:cNvSpPr txBox="1"/>
          <p:nvPr/>
        </p:nvSpPr>
        <p:spPr>
          <a:xfrm>
            <a:off x="10639284" y="52676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2400" dirty="0"/>
          </a:p>
        </p:txBody>
      </p:sp>
      <p:sp>
        <p:nvSpPr>
          <p:cNvPr id="26" name="S02-label39"/>
          <p:cNvSpPr txBox="1"/>
          <p:nvPr/>
        </p:nvSpPr>
        <p:spPr>
          <a:xfrm>
            <a:off x="8064645" y="1895120"/>
            <a:ext cx="2383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요일별 읽은 쪽수</a:t>
            </a:r>
            <a:endParaRPr lang="ko-KR" sz="2400" dirty="0"/>
          </a:p>
        </p:txBody>
      </p:sp>
      <p:sp>
        <p:nvSpPr>
          <p:cNvPr id="27" name="S02-chip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28" name="S02-text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쪽일까요?</a:t>
            </a:r>
            <a:endParaRPr lang="ko-KR" sz="3000" dirty="0"/>
          </a:p>
        </p:txBody>
      </p:sp>
      <p:sp>
        <p:nvSpPr>
          <p:cNvPr id="29" name="S02-chip4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0" name="S02-text4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화요일에는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쪽 읽었을까요?</a:t>
            </a:r>
            <a:endParaRPr lang="ko-KR" sz="3000" dirty="0"/>
          </a:p>
        </p:txBody>
      </p:sp>
      <p:sp>
        <p:nvSpPr>
          <p:cNvPr id="31" name="S02-chip4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2" name="S02-text4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적게 읽은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 알아보기</a:t>
            </a:r>
            <a:endParaRPr lang="ko-KR" sz="4000" dirty="0"/>
          </a:p>
        </p:txBody>
      </p:sp>
      <p:sp>
        <p:nvSpPr>
          <p:cNvPr id="3" name="S03-card4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수량을 점으로 찍고 그 점들을 선분으로 이은 그래프를 꺾은선그래프라고 해요.</a:t>
            </a:r>
            <a:endParaRPr lang="ko-KR" sz="3000" dirty="0"/>
          </a:p>
        </p:txBody>
      </p:sp>
      <p:sp>
        <p:nvSpPr>
          <p:cNvPr id="5" name="S03-figure48" descr="꺾은선그래프 ‘운동장의 기온’(세로 눈금 한 칸 2): 9시 4, 10시 6, 11시 10, 12시 12, 1시 12"/>
          <p:cNvSpPr/>
          <p:nvPr/>
        </p:nvSpPr>
        <p:spPr>
          <a:xfrm>
            <a:off x="2145582" y="2235539"/>
            <a:ext cx="3272875" cy="1363698"/>
          </a:xfrm>
          <a:custGeom>
            <a:avLst/>
            <a:gdLst/>
            <a:ahLst/>
            <a:cxnLst/>
            <a:rect l="l" t="t" r="r" b="b"/>
            <a:pathLst>
              <a:path w="3272875" h="1363698">
                <a:moveTo>
                  <a:pt x="0" y="1363698"/>
                </a:moveTo>
                <a:lnTo>
                  <a:pt x="818219" y="1022773"/>
                </a:lnTo>
                <a:lnTo>
                  <a:pt x="1636437" y="340924"/>
                </a:lnTo>
                <a:lnTo>
                  <a:pt x="2454656" y="0"/>
                </a:lnTo>
                <a:lnTo>
                  <a:pt x="3272875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3-mark49"/>
          <p:cNvSpPr/>
          <p:nvPr/>
        </p:nvSpPr>
        <p:spPr>
          <a:xfrm flipV="1">
            <a:off x="2145582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3-mark50"/>
          <p:cNvSpPr/>
          <p:nvPr/>
        </p:nvSpPr>
        <p:spPr>
          <a:xfrm flipV="1">
            <a:off x="2963801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3-mark51"/>
          <p:cNvSpPr/>
          <p:nvPr/>
        </p:nvSpPr>
        <p:spPr>
          <a:xfrm flipV="1">
            <a:off x="3782019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3-mark52"/>
          <p:cNvSpPr/>
          <p:nvPr/>
        </p:nvSpPr>
        <p:spPr>
          <a:xfrm flipV="1">
            <a:off x="4600238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53"/>
          <p:cNvSpPr/>
          <p:nvPr/>
        </p:nvSpPr>
        <p:spPr>
          <a:xfrm flipV="1">
            <a:off x="5418457" y="2235539"/>
            <a:ext cx="0" cy="20455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54"/>
          <p:cNvSpPr/>
          <p:nvPr/>
        </p:nvSpPr>
        <p:spPr>
          <a:xfrm>
            <a:off x="1634195" y="3940161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55"/>
          <p:cNvSpPr/>
          <p:nvPr/>
        </p:nvSpPr>
        <p:spPr>
          <a:xfrm>
            <a:off x="1634195" y="3599236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56"/>
          <p:cNvSpPr/>
          <p:nvPr/>
        </p:nvSpPr>
        <p:spPr>
          <a:xfrm>
            <a:off x="1634195" y="3258312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57"/>
          <p:cNvSpPr/>
          <p:nvPr/>
        </p:nvSpPr>
        <p:spPr>
          <a:xfrm>
            <a:off x="1634195" y="2917388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58"/>
          <p:cNvSpPr/>
          <p:nvPr/>
        </p:nvSpPr>
        <p:spPr>
          <a:xfrm>
            <a:off x="1634195" y="2576463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59"/>
          <p:cNvSpPr/>
          <p:nvPr/>
        </p:nvSpPr>
        <p:spPr>
          <a:xfrm>
            <a:off x="1634195" y="2235539"/>
            <a:ext cx="42956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60"/>
          <p:cNvSpPr/>
          <p:nvPr/>
        </p:nvSpPr>
        <p:spPr>
          <a:xfrm>
            <a:off x="1634195" y="4281085"/>
            <a:ext cx="429564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3-mark61"/>
          <p:cNvSpPr/>
          <p:nvPr/>
        </p:nvSpPr>
        <p:spPr>
          <a:xfrm flipV="1">
            <a:off x="1634195" y="2099169"/>
            <a:ext cx="0" cy="218191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3-mark62"/>
          <p:cNvSpPr/>
          <p:nvPr/>
        </p:nvSpPr>
        <p:spPr>
          <a:xfrm>
            <a:off x="2086146" y="353980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mark63"/>
          <p:cNvSpPr/>
          <p:nvPr/>
        </p:nvSpPr>
        <p:spPr>
          <a:xfrm>
            <a:off x="2904365" y="31988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mark64"/>
          <p:cNvSpPr/>
          <p:nvPr/>
        </p:nvSpPr>
        <p:spPr>
          <a:xfrm>
            <a:off x="3722583" y="25170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mark65"/>
          <p:cNvSpPr/>
          <p:nvPr/>
        </p:nvSpPr>
        <p:spPr>
          <a:xfrm>
            <a:off x="4540802" y="217610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mark66"/>
          <p:cNvSpPr/>
          <p:nvPr/>
        </p:nvSpPr>
        <p:spPr>
          <a:xfrm>
            <a:off x="5359021" y="217610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label68"/>
          <p:cNvSpPr txBox="1"/>
          <p:nvPr/>
        </p:nvSpPr>
        <p:spPr>
          <a:xfrm>
            <a:off x="1188962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5" name="S03-label70"/>
          <p:cNvSpPr txBox="1"/>
          <p:nvPr/>
        </p:nvSpPr>
        <p:spPr>
          <a:xfrm>
            <a:off x="1188962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6" name="S03-label72"/>
          <p:cNvSpPr txBox="1"/>
          <p:nvPr/>
        </p:nvSpPr>
        <p:spPr>
          <a:xfrm>
            <a:off x="1188962" y="374966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3-label74"/>
          <p:cNvSpPr txBox="1"/>
          <p:nvPr/>
        </p:nvSpPr>
        <p:spPr>
          <a:xfrm>
            <a:off x="1188962" y="34087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8" name="S03-label76"/>
          <p:cNvSpPr txBox="1"/>
          <p:nvPr/>
        </p:nvSpPr>
        <p:spPr>
          <a:xfrm>
            <a:off x="1188962" y="306781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9" name="S03-label78"/>
          <p:cNvSpPr txBox="1"/>
          <p:nvPr/>
        </p:nvSpPr>
        <p:spPr>
          <a:xfrm>
            <a:off x="1188962" y="272688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0" name="S03-label80"/>
          <p:cNvSpPr txBox="1"/>
          <p:nvPr/>
        </p:nvSpPr>
        <p:spPr>
          <a:xfrm>
            <a:off x="1088378" y="238596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03-label82"/>
          <p:cNvSpPr txBox="1"/>
          <p:nvPr/>
        </p:nvSpPr>
        <p:spPr>
          <a:xfrm>
            <a:off x="1088378" y="204503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2" name="S03-label84"/>
          <p:cNvSpPr txBox="1"/>
          <p:nvPr/>
        </p:nvSpPr>
        <p:spPr>
          <a:xfrm>
            <a:off x="957314" y="170411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3" name="S03-label86"/>
          <p:cNvSpPr txBox="1"/>
          <p:nvPr/>
        </p:nvSpPr>
        <p:spPr>
          <a:xfrm>
            <a:off x="1840782" y="431218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4" name="S03-label88"/>
          <p:cNvSpPr txBox="1"/>
          <p:nvPr/>
        </p:nvSpPr>
        <p:spPr>
          <a:xfrm>
            <a:off x="2558417" y="431218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35" name="S03-label90"/>
          <p:cNvSpPr txBox="1"/>
          <p:nvPr/>
        </p:nvSpPr>
        <p:spPr>
          <a:xfrm>
            <a:off x="3376635" y="431218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6" name="S03-label92"/>
          <p:cNvSpPr txBox="1"/>
          <p:nvPr/>
        </p:nvSpPr>
        <p:spPr>
          <a:xfrm>
            <a:off x="4194854" y="431218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7" name="S03-label94"/>
          <p:cNvSpPr txBox="1"/>
          <p:nvPr/>
        </p:nvSpPr>
        <p:spPr>
          <a:xfrm>
            <a:off x="5113657" y="431218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38" name="S03-label96"/>
          <p:cNvSpPr txBox="1"/>
          <p:nvPr/>
        </p:nvSpPr>
        <p:spPr>
          <a:xfrm>
            <a:off x="2785323" y="1363190"/>
            <a:ext cx="199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운동장의 기온</a:t>
            </a:r>
            <a:endParaRPr lang="ko-KR" sz="2400" dirty="0"/>
          </a:p>
        </p:txBody>
      </p:sp>
      <p:sp>
        <p:nvSpPr>
          <p:cNvPr id="39" name="S03-card97"/>
          <p:cNvSpPr/>
          <p:nvPr/>
        </p:nvSpPr>
        <p:spPr>
          <a:xfrm>
            <a:off x="6920911" y="149656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0" name="S03-cardtext98"/>
          <p:cNvSpPr txBox="1"/>
          <p:nvPr/>
        </p:nvSpPr>
        <p:spPr>
          <a:xfrm>
            <a:off x="7195231" y="163372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가로: 시각</a:t>
            </a:r>
            <a:endParaRPr lang="ko-KR" sz="3000" dirty="0"/>
          </a:p>
        </p:txBody>
      </p:sp>
      <p:sp>
        <p:nvSpPr>
          <p:cNvPr id="41" name="S03-card99"/>
          <p:cNvSpPr/>
          <p:nvPr/>
        </p:nvSpPr>
        <p:spPr>
          <a:xfrm>
            <a:off x="6920911" y="259384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2" name="S03-cardtext100"/>
          <p:cNvSpPr txBox="1"/>
          <p:nvPr/>
        </p:nvSpPr>
        <p:spPr>
          <a:xfrm>
            <a:off x="7195231" y="273100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세로: 기온</a:t>
            </a:r>
            <a:endParaRPr lang="ko-KR" sz="3000" dirty="0"/>
          </a:p>
        </p:txBody>
      </p:sp>
      <p:sp>
        <p:nvSpPr>
          <p:cNvPr id="43" name="S03-card101"/>
          <p:cNvSpPr/>
          <p:nvPr/>
        </p:nvSpPr>
        <p:spPr>
          <a:xfrm>
            <a:off x="6920911" y="369112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4" name="S03-cardtext102"/>
          <p:cNvSpPr txBox="1"/>
          <p:nvPr/>
        </p:nvSpPr>
        <p:spPr>
          <a:xfrm>
            <a:off x="7195231" y="382828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칸: 2도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막대그래프와 비교해요</a:t>
            </a:r>
            <a:endParaRPr lang="ko-KR" sz="4000" dirty="0"/>
          </a:p>
        </p:txBody>
      </p:sp>
      <p:sp>
        <p:nvSpPr>
          <p:cNvPr id="3" name="S04-card10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0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꺾은선그래프는 시간에 따라 변하는 모양을 잘 보여 줘요.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기온이 오르고 있나요, 내리고 있나요?</a:t>
            </a:r>
            <a:endParaRPr lang="ko-KR" sz="3000" dirty="0"/>
          </a:p>
        </p:txBody>
      </p:sp>
      <p:sp>
        <p:nvSpPr>
          <p:cNvPr id="5" name="S04-figure105" descr="막대그래프(세로 눈금 한 칸 2): 9시 4, 10시 6, 11시 10, 12시 12, 1시 12"/>
          <p:cNvSpPr/>
          <p:nvPr/>
        </p:nvSpPr>
        <p:spPr>
          <a:xfrm>
            <a:off x="1504172" y="3459423"/>
            <a:ext cx="441238" cy="735397"/>
          </a:xfrm>
          <a:custGeom>
            <a:avLst/>
            <a:gdLst/>
            <a:ahLst/>
            <a:cxnLst/>
            <a:rect l="l" t="t" r="r" b="b"/>
            <a:pathLst>
              <a:path w="441238" h="735397">
                <a:moveTo>
                  <a:pt x="0" y="735397"/>
                </a:moveTo>
                <a:lnTo>
                  <a:pt x="441238" y="735397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106"/>
          <p:cNvSpPr/>
          <p:nvPr/>
        </p:nvSpPr>
        <p:spPr>
          <a:xfrm>
            <a:off x="2386649" y="3091725"/>
            <a:ext cx="441238" cy="1103096"/>
          </a:xfrm>
          <a:custGeom>
            <a:avLst/>
            <a:gdLst/>
            <a:ahLst/>
            <a:cxnLst/>
            <a:rect l="l" t="t" r="r" b="b"/>
            <a:pathLst>
              <a:path w="441238" h="1103096">
                <a:moveTo>
                  <a:pt x="0" y="1103096"/>
                </a:moveTo>
                <a:lnTo>
                  <a:pt x="441238" y="1103096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107"/>
          <p:cNvSpPr/>
          <p:nvPr/>
        </p:nvSpPr>
        <p:spPr>
          <a:xfrm>
            <a:off x="3269125" y="2356327"/>
            <a:ext cx="441238" cy="1838493"/>
          </a:xfrm>
          <a:custGeom>
            <a:avLst/>
            <a:gdLst/>
            <a:ahLst/>
            <a:cxnLst/>
            <a:rect l="l" t="t" r="r" b="b"/>
            <a:pathLst>
              <a:path w="441238" h="1838493">
                <a:moveTo>
                  <a:pt x="0" y="1838493"/>
                </a:moveTo>
                <a:lnTo>
                  <a:pt x="441238" y="1838493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108"/>
          <p:cNvSpPr/>
          <p:nvPr/>
        </p:nvSpPr>
        <p:spPr>
          <a:xfrm>
            <a:off x="4151602" y="1988629"/>
            <a:ext cx="441238" cy="2206192"/>
          </a:xfrm>
          <a:custGeom>
            <a:avLst/>
            <a:gdLst/>
            <a:ahLst/>
            <a:cxnLst/>
            <a:rect l="l" t="t" r="r" b="b"/>
            <a:pathLst>
              <a:path w="441238" h="2206192">
                <a:moveTo>
                  <a:pt x="0" y="2206192"/>
                </a:moveTo>
                <a:lnTo>
                  <a:pt x="441238" y="2206192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109"/>
          <p:cNvSpPr/>
          <p:nvPr/>
        </p:nvSpPr>
        <p:spPr>
          <a:xfrm>
            <a:off x="5034079" y="1988629"/>
            <a:ext cx="441238" cy="2206192"/>
          </a:xfrm>
          <a:custGeom>
            <a:avLst/>
            <a:gdLst/>
            <a:ahLst/>
            <a:cxnLst/>
            <a:rect l="l" t="t" r="r" b="b"/>
            <a:pathLst>
              <a:path w="441238" h="2206192">
                <a:moveTo>
                  <a:pt x="0" y="2206192"/>
                </a:moveTo>
                <a:lnTo>
                  <a:pt x="441238" y="2206192"/>
                </a:lnTo>
                <a:lnTo>
                  <a:pt x="44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mark110"/>
          <p:cNvSpPr/>
          <p:nvPr/>
        </p:nvSpPr>
        <p:spPr>
          <a:xfrm>
            <a:off x="1173243" y="3827122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111"/>
          <p:cNvSpPr/>
          <p:nvPr/>
        </p:nvSpPr>
        <p:spPr>
          <a:xfrm>
            <a:off x="1173243" y="3459423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112"/>
          <p:cNvSpPr/>
          <p:nvPr/>
        </p:nvSpPr>
        <p:spPr>
          <a:xfrm>
            <a:off x="1173243" y="3091725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113"/>
          <p:cNvSpPr/>
          <p:nvPr/>
        </p:nvSpPr>
        <p:spPr>
          <a:xfrm>
            <a:off x="1173243" y="2724026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114"/>
          <p:cNvSpPr/>
          <p:nvPr/>
        </p:nvSpPr>
        <p:spPr>
          <a:xfrm>
            <a:off x="1173243" y="2356327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115"/>
          <p:cNvSpPr/>
          <p:nvPr/>
        </p:nvSpPr>
        <p:spPr>
          <a:xfrm>
            <a:off x="1173243" y="1988629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16"/>
          <p:cNvSpPr/>
          <p:nvPr/>
        </p:nvSpPr>
        <p:spPr>
          <a:xfrm>
            <a:off x="1173243" y="4194821"/>
            <a:ext cx="463300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4-mark117"/>
          <p:cNvSpPr/>
          <p:nvPr/>
        </p:nvSpPr>
        <p:spPr>
          <a:xfrm flipV="1">
            <a:off x="1173243" y="1841549"/>
            <a:ext cx="0" cy="235327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4-label119"/>
          <p:cNvSpPr txBox="1"/>
          <p:nvPr/>
        </p:nvSpPr>
        <p:spPr>
          <a:xfrm>
            <a:off x="705251" y="4004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4-label121"/>
          <p:cNvSpPr txBox="1"/>
          <p:nvPr/>
        </p:nvSpPr>
        <p:spPr>
          <a:xfrm>
            <a:off x="705251" y="4004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0" name="S04-label123"/>
          <p:cNvSpPr txBox="1"/>
          <p:nvPr/>
        </p:nvSpPr>
        <p:spPr>
          <a:xfrm>
            <a:off x="705251" y="36366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1" name="S04-label125"/>
          <p:cNvSpPr txBox="1"/>
          <p:nvPr/>
        </p:nvSpPr>
        <p:spPr>
          <a:xfrm>
            <a:off x="705251" y="32689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2" name="S04-label127"/>
          <p:cNvSpPr txBox="1"/>
          <p:nvPr/>
        </p:nvSpPr>
        <p:spPr>
          <a:xfrm>
            <a:off x="705251" y="290122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3" name="S04-label129"/>
          <p:cNvSpPr txBox="1"/>
          <p:nvPr/>
        </p:nvSpPr>
        <p:spPr>
          <a:xfrm>
            <a:off x="705251" y="253352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4" name="S04-label131"/>
          <p:cNvSpPr txBox="1"/>
          <p:nvPr/>
        </p:nvSpPr>
        <p:spPr>
          <a:xfrm>
            <a:off x="604667" y="216582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5" name="S04-label133"/>
          <p:cNvSpPr txBox="1"/>
          <p:nvPr/>
        </p:nvSpPr>
        <p:spPr>
          <a:xfrm>
            <a:off x="604667" y="179812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6" name="S04-label135"/>
          <p:cNvSpPr txBox="1"/>
          <p:nvPr/>
        </p:nvSpPr>
        <p:spPr>
          <a:xfrm>
            <a:off x="473603" y="143043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27" name="S04-label137"/>
          <p:cNvSpPr txBox="1"/>
          <p:nvPr/>
        </p:nvSpPr>
        <p:spPr>
          <a:xfrm>
            <a:off x="1419991" y="4243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28" name="S04-label139"/>
          <p:cNvSpPr txBox="1"/>
          <p:nvPr/>
        </p:nvSpPr>
        <p:spPr>
          <a:xfrm>
            <a:off x="2201884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29" name="S04-label141"/>
          <p:cNvSpPr txBox="1"/>
          <p:nvPr/>
        </p:nvSpPr>
        <p:spPr>
          <a:xfrm>
            <a:off x="3084361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0" name="S04-label143"/>
          <p:cNvSpPr txBox="1"/>
          <p:nvPr/>
        </p:nvSpPr>
        <p:spPr>
          <a:xfrm>
            <a:off x="3966837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1" name="S04-label145"/>
          <p:cNvSpPr txBox="1"/>
          <p:nvPr/>
        </p:nvSpPr>
        <p:spPr>
          <a:xfrm>
            <a:off x="4949898" y="4243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32" name="S04-figure146" descr="꺾은선그래프(세로 눈금 한 칸 2): 9시 4, 10시 6, 11시 10, 12시 12, 1시 12"/>
          <p:cNvSpPr/>
          <p:nvPr/>
        </p:nvSpPr>
        <p:spPr>
          <a:xfrm>
            <a:off x="7430647" y="1988629"/>
            <a:ext cx="3529907" cy="1470795"/>
          </a:xfrm>
          <a:custGeom>
            <a:avLst/>
            <a:gdLst/>
            <a:ahLst/>
            <a:cxnLst/>
            <a:rect l="l" t="t" r="r" b="b"/>
            <a:pathLst>
              <a:path w="3529907" h="1470795">
                <a:moveTo>
                  <a:pt x="0" y="1470795"/>
                </a:moveTo>
                <a:lnTo>
                  <a:pt x="882477" y="1103096"/>
                </a:lnTo>
                <a:lnTo>
                  <a:pt x="1764954" y="367699"/>
                </a:lnTo>
                <a:lnTo>
                  <a:pt x="2647430" y="0"/>
                </a:lnTo>
                <a:lnTo>
                  <a:pt x="3529907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33" name="S04-mark147"/>
          <p:cNvSpPr/>
          <p:nvPr/>
        </p:nvSpPr>
        <p:spPr>
          <a:xfrm flipV="1">
            <a:off x="7430647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4-mark148"/>
          <p:cNvSpPr/>
          <p:nvPr/>
        </p:nvSpPr>
        <p:spPr>
          <a:xfrm flipV="1">
            <a:off x="8313124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4-mark149"/>
          <p:cNvSpPr/>
          <p:nvPr/>
        </p:nvSpPr>
        <p:spPr>
          <a:xfrm flipV="1">
            <a:off x="9195601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4-mark150"/>
          <p:cNvSpPr/>
          <p:nvPr/>
        </p:nvSpPr>
        <p:spPr>
          <a:xfrm flipV="1">
            <a:off x="10078077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4-mark151"/>
          <p:cNvSpPr/>
          <p:nvPr/>
        </p:nvSpPr>
        <p:spPr>
          <a:xfrm flipV="1">
            <a:off x="10960554" y="1988629"/>
            <a:ext cx="0" cy="22061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4-mark152"/>
          <p:cNvSpPr/>
          <p:nvPr/>
        </p:nvSpPr>
        <p:spPr>
          <a:xfrm>
            <a:off x="6879099" y="3827122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4-mark153"/>
          <p:cNvSpPr/>
          <p:nvPr/>
        </p:nvSpPr>
        <p:spPr>
          <a:xfrm>
            <a:off x="6879099" y="3459423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4-mark154"/>
          <p:cNvSpPr/>
          <p:nvPr/>
        </p:nvSpPr>
        <p:spPr>
          <a:xfrm>
            <a:off x="6879099" y="3091725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4-mark155"/>
          <p:cNvSpPr/>
          <p:nvPr/>
        </p:nvSpPr>
        <p:spPr>
          <a:xfrm>
            <a:off x="6879099" y="2724026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4-mark156"/>
          <p:cNvSpPr/>
          <p:nvPr/>
        </p:nvSpPr>
        <p:spPr>
          <a:xfrm>
            <a:off x="6879099" y="2356327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4-mark157"/>
          <p:cNvSpPr/>
          <p:nvPr/>
        </p:nvSpPr>
        <p:spPr>
          <a:xfrm>
            <a:off x="6879099" y="1988629"/>
            <a:ext cx="463300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4-mark158"/>
          <p:cNvSpPr/>
          <p:nvPr/>
        </p:nvSpPr>
        <p:spPr>
          <a:xfrm>
            <a:off x="6879099" y="4194821"/>
            <a:ext cx="463300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4-mark159"/>
          <p:cNvSpPr/>
          <p:nvPr/>
        </p:nvSpPr>
        <p:spPr>
          <a:xfrm flipV="1">
            <a:off x="6879099" y="1841549"/>
            <a:ext cx="0" cy="235327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4-mark160"/>
          <p:cNvSpPr/>
          <p:nvPr/>
        </p:nvSpPr>
        <p:spPr>
          <a:xfrm>
            <a:off x="7371211" y="33999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mark161"/>
          <p:cNvSpPr/>
          <p:nvPr/>
        </p:nvSpPr>
        <p:spPr>
          <a:xfrm>
            <a:off x="8253688" y="303228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mark162"/>
          <p:cNvSpPr/>
          <p:nvPr/>
        </p:nvSpPr>
        <p:spPr>
          <a:xfrm>
            <a:off x="9136165" y="229689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mark163"/>
          <p:cNvSpPr/>
          <p:nvPr/>
        </p:nvSpPr>
        <p:spPr>
          <a:xfrm>
            <a:off x="10018641" y="192919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mark164"/>
          <p:cNvSpPr/>
          <p:nvPr/>
        </p:nvSpPr>
        <p:spPr>
          <a:xfrm>
            <a:off x="10901118" y="192919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label166"/>
          <p:cNvSpPr txBox="1"/>
          <p:nvPr/>
        </p:nvSpPr>
        <p:spPr>
          <a:xfrm>
            <a:off x="6411107" y="4004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52" name="S04-label168"/>
          <p:cNvSpPr txBox="1"/>
          <p:nvPr/>
        </p:nvSpPr>
        <p:spPr>
          <a:xfrm>
            <a:off x="6411107" y="4004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53" name="S04-label170"/>
          <p:cNvSpPr txBox="1"/>
          <p:nvPr/>
        </p:nvSpPr>
        <p:spPr>
          <a:xfrm>
            <a:off x="6411107" y="36366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54" name="S04-label172"/>
          <p:cNvSpPr txBox="1"/>
          <p:nvPr/>
        </p:nvSpPr>
        <p:spPr>
          <a:xfrm>
            <a:off x="6411107" y="32689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5" name="S04-label174"/>
          <p:cNvSpPr txBox="1"/>
          <p:nvPr/>
        </p:nvSpPr>
        <p:spPr>
          <a:xfrm>
            <a:off x="6411107" y="290122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56" name="S04-label176"/>
          <p:cNvSpPr txBox="1"/>
          <p:nvPr/>
        </p:nvSpPr>
        <p:spPr>
          <a:xfrm>
            <a:off x="6411107" y="253352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57" name="S04-label178"/>
          <p:cNvSpPr txBox="1"/>
          <p:nvPr/>
        </p:nvSpPr>
        <p:spPr>
          <a:xfrm>
            <a:off x="6310523" y="216582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58" name="S04-label180"/>
          <p:cNvSpPr txBox="1"/>
          <p:nvPr/>
        </p:nvSpPr>
        <p:spPr>
          <a:xfrm>
            <a:off x="6310523" y="179812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59" name="S04-label182"/>
          <p:cNvSpPr txBox="1"/>
          <p:nvPr/>
        </p:nvSpPr>
        <p:spPr>
          <a:xfrm>
            <a:off x="6179459" y="143043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60" name="S04-label184"/>
          <p:cNvSpPr txBox="1"/>
          <p:nvPr/>
        </p:nvSpPr>
        <p:spPr>
          <a:xfrm>
            <a:off x="7125847" y="4243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61" name="S04-label186"/>
          <p:cNvSpPr txBox="1"/>
          <p:nvPr/>
        </p:nvSpPr>
        <p:spPr>
          <a:xfrm>
            <a:off x="7907740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62" name="S04-label188"/>
          <p:cNvSpPr txBox="1"/>
          <p:nvPr/>
        </p:nvSpPr>
        <p:spPr>
          <a:xfrm>
            <a:off x="8790217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63" name="S04-label190"/>
          <p:cNvSpPr txBox="1"/>
          <p:nvPr/>
        </p:nvSpPr>
        <p:spPr>
          <a:xfrm>
            <a:off x="9672693" y="4243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64" name="S04-label192"/>
          <p:cNvSpPr txBox="1"/>
          <p:nvPr/>
        </p:nvSpPr>
        <p:spPr>
          <a:xfrm>
            <a:off x="10655754" y="4243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선분으로 변화를 읽어요</a:t>
            </a:r>
            <a:endParaRPr lang="ko-KR" sz="4000" dirty="0"/>
          </a:p>
        </p:txBody>
      </p:sp>
      <p:sp>
        <p:nvSpPr>
          <p:cNvPr id="3" name="S05-card1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기온이 가장 많이 오른 때는 언제와 언제 사이일까요?</a:t>
            </a:r>
            <a:endParaRPr lang="ko-KR" sz="3000" dirty="0"/>
          </a:p>
        </p:txBody>
      </p:sp>
      <p:sp>
        <p:nvSpPr>
          <p:cNvPr id="5" name="S05-figure195" descr="꺾은선그래프(세로 눈금 한 칸 2): 9시 4, 10시 6, 11시 10, 12시 12, 1시 12"/>
          <p:cNvSpPr/>
          <p:nvPr/>
        </p:nvSpPr>
        <p:spPr>
          <a:xfrm>
            <a:off x="1720025" y="2179923"/>
            <a:ext cx="3514398" cy="1464332"/>
          </a:xfrm>
          <a:custGeom>
            <a:avLst/>
            <a:gdLst/>
            <a:ahLst/>
            <a:cxnLst/>
            <a:rect l="l" t="t" r="r" b="b"/>
            <a:pathLst>
              <a:path w="3514398" h="1464332">
                <a:moveTo>
                  <a:pt x="0" y="1464332"/>
                </a:moveTo>
                <a:lnTo>
                  <a:pt x="878599" y="1098249"/>
                </a:lnTo>
                <a:lnTo>
                  <a:pt x="1757199" y="366083"/>
                </a:lnTo>
                <a:lnTo>
                  <a:pt x="2635798" y="0"/>
                </a:lnTo>
                <a:lnTo>
                  <a:pt x="3514398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5-mark196"/>
          <p:cNvSpPr/>
          <p:nvPr/>
        </p:nvSpPr>
        <p:spPr>
          <a:xfrm flipV="1">
            <a:off x="1720025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197"/>
          <p:cNvSpPr/>
          <p:nvPr/>
        </p:nvSpPr>
        <p:spPr>
          <a:xfrm flipV="1">
            <a:off x="2598625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98"/>
          <p:cNvSpPr/>
          <p:nvPr/>
        </p:nvSpPr>
        <p:spPr>
          <a:xfrm flipV="1">
            <a:off x="3477224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99"/>
          <p:cNvSpPr/>
          <p:nvPr/>
        </p:nvSpPr>
        <p:spPr>
          <a:xfrm flipV="1">
            <a:off x="4355824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200"/>
          <p:cNvSpPr/>
          <p:nvPr/>
        </p:nvSpPr>
        <p:spPr>
          <a:xfrm flipV="1">
            <a:off x="5234423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201"/>
          <p:cNvSpPr/>
          <p:nvPr/>
        </p:nvSpPr>
        <p:spPr>
          <a:xfrm>
            <a:off x="1170901" y="401033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202"/>
          <p:cNvSpPr/>
          <p:nvPr/>
        </p:nvSpPr>
        <p:spPr>
          <a:xfrm>
            <a:off x="1170901" y="364425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203"/>
          <p:cNvSpPr/>
          <p:nvPr/>
        </p:nvSpPr>
        <p:spPr>
          <a:xfrm>
            <a:off x="1170901" y="3278172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204"/>
          <p:cNvSpPr/>
          <p:nvPr/>
        </p:nvSpPr>
        <p:spPr>
          <a:xfrm>
            <a:off x="1170901" y="291208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205"/>
          <p:cNvSpPr/>
          <p:nvPr/>
        </p:nvSpPr>
        <p:spPr>
          <a:xfrm>
            <a:off x="1170901" y="254600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206"/>
          <p:cNvSpPr/>
          <p:nvPr/>
        </p:nvSpPr>
        <p:spPr>
          <a:xfrm>
            <a:off x="1170901" y="2179923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207"/>
          <p:cNvSpPr/>
          <p:nvPr/>
        </p:nvSpPr>
        <p:spPr>
          <a:xfrm>
            <a:off x="1170901" y="4376422"/>
            <a:ext cx="461264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5-mark208"/>
          <p:cNvSpPr/>
          <p:nvPr/>
        </p:nvSpPr>
        <p:spPr>
          <a:xfrm flipV="1">
            <a:off x="1170901" y="2033490"/>
            <a:ext cx="0" cy="234293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5-mark209"/>
          <p:cNvSpPr/>
          <p:nvPr/>
        </p:nvSpPr>
        <p:spPr>
          <a:xfrm>
            <a:off x="1660589" y="358482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mark210"/>
          <p:cNvSpPr/>
          <p:nvPr/>
        </p:nvSpPr>
        <p:spPr>
          <a:xfrm>
            <a:off x="2539189" y="321873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mark211"/>
          <p:cNvSpPr/>
          <p:nvPr/>
        </p:nvSpPr>
        <p:spPr>
          <a:xfrm>
            <a:off x="3417788" y="248657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mark212"/>
          <p:cNvSpPr/>
          <p:nvPr/>
        </p:nvSpPr>
        <p:spPr>
          <a:xfrm>
            <a:off x="4296388" y="21204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mark213"/>
          <p:cNvSpPr/>
          <p:nvPr/>
        </p:nvSpPr>
        <p:spPr>
          <a:xfrm>
            <a:off x="5174987" y="21204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label215"/>
          <p:cNvSpPr txBox="1"/>
          <p:nvPr/>
        </p:nvSpPr>
        <p:spPr>
          <a:xfrm>
            <a:off x="704282" y="41859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5" name="S05-label217"/>
          <p:cNvSpPr txBox="1"/>
          <p:nvPr/>
        </p:nvSpPr>
        <p:spPr>
          <a:xfrm>
            <a:off x="704282" y="41859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6" name="S05-label219"/>
          <p:cNvSpPr txBox="1"/>
          <p:nvPr/>
        </p:nvSpPr>
        <p:spPr>
          <a:xfrm>
            <a:off x="704282" y="381983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5-label221"/>
          <p:cNvSpPr txBox="1"/>
          <p:nvPr/>
        </p:nvSpPr>
        <p:spPr>
          <a:xfrm>
            <a:off x="704282" y="345375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8" name="S05-label223"/>
          <p:cNvSpPr txBox="1"/>
          <p:nvPr/>
        </p:nvSpPr>
        <p:spPr>
          <a:xfrm>
            <a:off x="704282" y="30876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9" name="S05-label225"/>
          <p:cNvSpPr txBox="1"/>
          <p:nvPr/>
        </p:nvSpPr>
        <p:spPr>
          <a:xfrm>
            <a:off x="704282" y="272158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0" name="S05-label227"/>
          <p:cNvSpPr txBox="1"/>
          <p:nvPr/>
        </p:nvSpPr>
        <p:spPr>
          <a:xfrm>
            <a:off x="603698" y="235550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05-label229"/>
          <p:cNvSpPr txBox="1"/>
          <p:nvPr/>
        </p:nvSpPr>
        <p:spPr>
          <a:xfrm>
            <a:off x="603698" y="19894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2" name="S05-label231"/>
          <p:cNvSpPr txBox="1"/>
          <p:nvPr/>
        </p:nvSpPr>
        <p:spPr>
          <a:xfrm>
            <a:off x="472634" y="162334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3" name="S05-label233"/>
          <p:cNvSpPr txBox="1"/>
          <p:nvPr/>
        </p:nvSpPr>
        <p:spPr>
          <a:xfrm>
            <a:off x="1415225" y="442387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4" name="S05-label235"/>
          <p:cNvSpPr txBox="1"/>
          <p:nvPr/>
        </p:nvSpPr>
        <p:spPr>
          <a:xfrm>
            <a:off x="2193241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35" name="S05-label237"/>
          <p:cNvSpPr txBox="1"/>
          <p:nvPr/>
        </p:nvSpPr>
        <p:spPr>
          <a:xfrm>
            <a:off x="3071840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6" name="S05-label239"/>
          <p:cNvSpPr txBox="1"/>
          <p:nvPr/>
        </p:nvSpPr>
        <p:spPr>
          <a:xfrm>
            <a:off x="3950440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7" name="S05-label241"/>
          <p:cNvSpPr txBox="1"/>
          <p:nvPr/>
        </p:nvSpPr>
        <p:spPr>
          <a:xfrm>
            <a:off x="4929623" y="442387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38" name="S05-card242"/>
          <p:cNvSpPr/>
          <p:nvPr/>
        </p:nvSpPr>
        <p:spPr>
          <a:xfrm>
            <a:off x="6277356" y="16916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9" name="S05-cardtext243"/>
          <p:cNvSpPr txBox="1"/>
          <p:nvPr/>
        </p:nvSpPr>
        <p:spPr>
          <a:xfrm>
            <a:off x="6551676" y="18288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올라가면 늘어나요.</a:t>
            </a:r>
            <a:endParaRPr lang="ko-KR" sz="3000" dirty="0"/>
          </a:p>
        </p:txBody>
      </p:sp>
      <p:sp>
        <p:nvSpPr>
          <p:cNvPr id="40" name="S05-card244"/>
          <p:cNvSpPr/>
          <p:nvPr/>
        </p:nvSpPr>
        <p:spPr>
          <a:xfrm>
            <a:off x="6277356" y="27889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1" name="S05-cardtext245"/>
          <p:cNvSpPr txBox="1"/>
          <p:nvPr/>
        </p:nvSpPr>
        <p:spPr>
          <a:xfrm>
            <a:off x="6551676" y="29260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기울면 변화가 커요.</a:t>
            </a:r>
            <a:endParaRPr lang="ko-KR" sz="3000" dirty="0"/>
          </a:p>
        </p:txBody>
      </p:sp>
      <p:sp>
        <p:nvSpPr>
          <p:cNvPr id="42" name="S05-card246"/>
          <p:cNvSpPr/>
          <p:nvPr/>
        </p:nvSpPr>
        <p:spPr>
          <a:xfrm>
            <a:off x="6277356" y="38862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3" name="S05-cardtext247"/>
          <p:cNvSpPr txBox="1"/>
          <p:nvPr/>
        </p:nvSpPr>
        <p:spPr>
          <a:xfrm>
            <a:off x="6551676" y="40233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평평하면 변화가 없어요.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000" dirty="0"/>
          </a:p>
        </p:txBody>
      </p:sp>
      <p:sp>
        <p:nvSpPr>
          <p:cNvPr id="3" name="S06-card2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2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선분이 가장 많이 기운 곳을 찾아요.</a:t>
            </a:r>
            <a:endParaRPr lang="ko-KR" sz="3000" dirty="0"/>
          </a:p>
        </p:txBody>
      </p:sp>
      <p:sp>
        <p:nvSpPr>
          <p:cNvPr id="5" name="S06-figure250" descr="꺾은선그래프 ‘강낭콩의 키’(세로 눈금 한 칸 1): 2일 1, 4일 2, 6일 5, 8일 6, 10일 7"/>
          <p:cNvSpPr/>
          <p:nvPr/>
        </p:nvSpPr>
        <p:spPr>
          <a:xfrm>
            <a:off x="7533092" y="2246843"/>
            <a:ext cx="3318091" cy="2073807"/>
          </a:xfrm>
          <a:custGeom>
            <a:avLst/>
            <a:gdLst/>
            <a:ahLst/>
            <a:cxnLst/>
            <a:rect l="l" t="t" r="r" b="b"/>
            <a:pathLst>
              <a:path w="3318091" h="2073807">
                <a:moveTo>
                  <a:pt x="0" y="2073807"/>
                </a:moveTo>
                <a:lnTo>
                  <a:pt x="829523" y="1728172"/>
                </a:lnTo>
                <a:lnTo>
                  <a:pt x="1659045" y="691269"/>
                </a:lnTo>
                <a:lnTo>
                  <a:pt x="2488568" y="345634"/>
                </a:lnTo>
                <a:lnTo>
                  <a:pt x="3318091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6-mark251"/>
          <p:cNvSpPr/>
          <p:nvPr/>
        </p:nvSpPr>
        <p:spPr>
          <a:xfrm flipV="1">
            <a:off x="7533092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6-mark252"/>
          <p:cNvSpPr/>
          <p:nvPr/>
        </p:nvSpPr>
        <p:spPr>
          <a:xfrm flipV="1">
            <a:off x="8362615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6-mark253"/>
          <p:cNvSpPr/>
          <p:nvPr/>
        </p:nvSpPr>
        <p:spPr>
          <a:xfrm flipV="1">
            <a:off x="9192137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6-mark254"/>
          <p:cNvSpPr/>
          <p:nvPr/>
        </p:nvSpPr>
        <p:spPr>
          <a:xfrm flipV="1">
            <a:off x="10021660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255"/>
          <p:cNvSpPr/>
          <p:nvPr/>
        </p:nvSpPr>
        <p:spPr>
          <a:xfrm flipV="1">
            <a:off x="10851183" y="2246843"/>
            <a:ext cx="0" cy="2419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256"/>
          <p:cNvSpPr/>
          <p:nvPr/>
        </p:nvSpPr>
        <p:spPr>
          <a:xfrm>
            <a:off x="7014640" y="4320649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257"/>
          <p:cNvSpPr/>
          <p:nvPr/>
        </p:nvSpPr>
        <p:spPr>
          <a:xfrm>
            <a:off x="7014640" y="3975015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258"/>
          <p:cNvSpPr/>
          <p:nvPr/>
        </p:nvSpPr>
        <p:spPr>
          <a:xfrm>
            <a:off x="7014640" y="3629380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259"/>
          <p:cNvSpPr/>
          <p:nvPr/>
        </p:nvSpPr>
        <p:spPr>
          <a:xfrm>
            <a:off x="7014640" y="3283746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260"/>
          <p:cNvSpPr/>
          <p:nvPr/>
        </p:nvSpPr>
        <p:spPr>
          <a:xfrm>
            <a:off x="7014640" y="2938112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261"/>
          <p:cNvSpPr/>
          <p:nvPr/>
        </p:nvSpPr>
        <p:spPr>
          <a:xfrm>
            <a:off x="7014640" y="2592477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262"/>
          <p:cNvSpPr/>
          <p:nvPr/>
        </p:nvSpPr>
        <p:spPr>
          <a:xfrm>
            <a:off x="7014640" y="2246843"/>
            <a:ext cx="435499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263"/>
          <p:cNvSpPr/>
          <p:nvPr/>
        </p:nvSpPr>
        <p:spPr>
          <a:xfrm>
            <a:off x="7014640" y="4666284"/>
            <a:ext cx="435499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6-mark264"/>
          <p:cNvSpPr/>
          <p:nvPr/>
        </p:nvSpPr>
        <p:spPr>
          <a:xfrm flipV="1">
            <a:off x="7014640" y="2108589"/>
            <a:ext cx="0" cy="255769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0" name="S06-mark265"/>
          <p:cNvSpPr/>
          <p:nvPr/>
        </p:nvSpPr>
        <p:spPr>
          <a:xfrm>
            <a:off x="7473656" y="426121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mark266"/>
          <p:cNvSpPr/>
          <p:nvPr/>
        </p:nvSpPr>
        <p:spPr>
          <a:xfrm>
            <a:off x="8303179" y="391557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mark267"/>
          <p:cNvSpPr/>
          <p:nvPr/>
        </p:nvSpPr>
        <p:spPr>
          <a:xfrm>
            <a:off x="9132701" y="28786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mark268"/>
          <p:cNvSpPr/>
          <p:nvPr/>
        </p:nvSpPr>
        <p:spPr>
          <a:xfrm>
            <a:off x="9962224" y="253304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mark269"/>
          <p:cNvSpPr/>
          <p:nvPr/>
        </p:nvSpPr>
        <p:spPr>
          <a:xfrm>
            <a:off x="10791747" y="218740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label271"/>
          <p:cNvSpPr txBox="1"/>
          <p:nvPr/>
        </p:nvSpPr>
        <p:spPr>
          <a:xfrm>
            <a:off x="6565403" y="447578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6" name="S06-label273"/>
          <p:cNvSpPr txBox="1"/>
          <p:nvPr/>
        </p:nvSpPr>
        <p:spPr>
          <a:xfrm>
            <a:off x="6565403" y="447578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7" name="S06-label275"/>
          <p:cNvSpPr txBox="1"/>
          <p:nvPr/>
        </p:nvSpPr>
        <p:spPr>
          <a:xfrm>
            <a:off x="6565403" y="413014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8" name="S06-label277"/>
          <p:cNvSpPr txBox="1"/>
          <p:nvPr/>
        </p:nvSpPr>
        <p:spPr>
          <a:xfrm>
            <a:off x="6565403" y="378451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9" name="S06-label279"/>
          <p:cNvSpPr txBox="1"/>
          <p:nvPr/>
        </p:nvSpPr>
        <p:spPr>
          <a:xfrm>
            <a:off x="6565403" y="34388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0" name="S06-label281"/>
          <p:cNvSpPr txBox="1"/>
          <p:nvPr/>
        </p:nvSpPr>
        <p:spPr>
          <a:xfrm>
            <a:off x="6565403" y="309324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1" name="S06-label283"/>
          <p:cNvSpPr txBox="1"/>
          <p:nvPr/>
        </p:nvSpPr>
        <p:spPr>
          <a:xfrm>
            <a:off x="6565403" y="274761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32" name="S06-label285"/>
          <p:cNvSpPr txBox="1"/>
          <p:nvPr/>
        </p:nvSpPr>
        <p:spPr>
          <a:xfrm>
            <a:off x="6565403" y="240197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33" name="S06-label287"/>
          <p:cNvSpPr txBox="1"/>
          <p:nvPr/>
        </p:nvSpPr>
        <p:spPr>
          <a:xfrm>
            <a:off x="6565403" y="205634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34" name="S06-label289"/>
          <p:cNvSpPr txBox="1"/>
          <p:nvPr/>
        </p:nvSpPr>
        <p:spPr>
          <a:xfrm>
            <a:off x="6272795" y="1710708"/>
            <a:ext cx="89611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(cm)</a:t>
            </a:r>
            <a:endParaRPr lang="ko-KR" sz="2400" dirty="0"/>
          </a:p>
        </p:txBody>
      </p:sp>
      <p:sp>
        <p:nvSpPr>
          <p:cNvPr id="35" name="S06-label291"/>
          <p:cNvSpPr txBox="1"/>
          <p:nvPr/>
        </p:nvSpPr>
        <p:spPr>
          <a:xfrm>
            <a:off x="7228292" y="470044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2일</a:t>
            </a:r>
            <a:endParaRPr lang="ko-KR" sz="2400" dirty="0"/>
          </a:p>
        </p:txBody>
      </p:sp>
      <p:sp>
        <p:nvSpPr>
          <p:cNvPr id="36" name="S06-label293"/>
          <p:cNvSpPr txBox="1"/>
          <p:nvPr/>
        </p:nvSpPr>
        <p:spPr>
          <a:xfrm>
            <a:off x="8057815" y="470044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</a:t>
            </a:r>
            <a:endParaRPr lang="ko-KR" sz="2400" dirty="0"/>
          </a:p>
        </p:txBody>
      </p:sp>
      <p:sp>
        <p:nvSpPr>
          <p:cNvPr id="37" name="S06-label295"/>
          <p:cNvSpPr txBox="1"/>
          <p:nvPr/>
        </p:nvSpPr>
        <p:spPr>
          <a:xfrm>
            <a:off x="8887337" y="470044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ko-KR" sz="2400" dirty="0"/>
          </a:p>
        </p:txBody>
      </p:sp>
      <p:sp>
        <p:nvSpPr>
          <p:cNvPr id="38" name="S06-label297"/>
          <p:cNvSpPr txBox="1"/>
          <p:nvPr/>
        </p:nvSpPr>
        <p:spPr>
          <a:xfrm>
            <a:off x="9716860" y="470044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8일</a:t>
            </a:r>
            <a:endParaRPr lang="ko-KR" sz="2400" dirty="0"/>
          </a:p>
        </p:txBody>
      </p:sp>
      <p:sp>
        <p:nvSpPr>
          <p:cNvPr id="39" name="S06-label299"/>
          <p:cNvSpPr txBox="1"/>
          <p:nvPr/>
        </p:nvSpPr>
        <p:spPr>
          <a:xfrm>
            <a:off x="10445799" y="470044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</a:t>
            </a:r>
            <a:endParaRPr lang="ko-KR" sz="2400" dirty="0"/>
          </a:p>
        </p:txBody>
      </p:sp>
      <p:sp>
        <p:nvSpPr>
          <p:cNvPr id="40" name="S06-label301"/>
          <p:cNvSpPr txBox="1"/>
          <p:nvPr/>
        </p:nvSpPr>
        <p:spPr>
          <a:xfrm>
            <a:off x="8344793" y="1365074"/>
            <a:ext cx="16946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키</a:t>
            </a:r>
            <a:endParaRPr lang="ko-KR" sz="2400" dirty="0"/>
          </a:p>
        </p:txBody>
      </p:sp>
      <p:sp>
        <p:nvSpPr>
          <p:cNvPr id="41" name="S06-chip30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2" name="S06-text303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6일의 키는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cm일까요?</a:t>
            </a:r>
            <a:endParaRPr lang="ko-KR" sz="3000" dirty="0"/>
          </a:p>
        </p:txBody>
      </p:sp>
      <p:sp>
        <p:nvSpPr>
          <p:cNvPr id="43" name="S06-chip30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4" name="S06-text305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자란 때는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언제와 언제 사이?</a:t>
            </a:r>
            <a:endParaRPr lang="ko-KR" sz="3000" dirty="0"/>
          </a:p>
        </p:txBody>
      </p:sp>
      <p:sp>
        <p:nvSpPr>
          <p:cNvPr id="45" name="S06-chip30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6" name="S06-text307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10일의 키는 2일보다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오른 때는?</a:t>
            </a:r>
            <a:endParaRPr lang="ko-KR" sz="4000" dirty="0"/>
          </a:p>
        </p:txBody>
      </p:sp>
      <p:sp>
        <p:nvSpPr>
          <p:cNvPr id="3" name="S07-card3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운동장의 기온이 가장 많이 오른 때예요. 누구 말이 맞을까요?</a:t>
            </a:r>
            <a:endParaRPr lang="ko-KR" sz="3000" dirty="0"/>
          </a:p>
        </p:txBody>
      </p:sp>
      <p:sp>
        <p:nvSpPr>
          <p:cNvPr id="5" name="S07-figure310" descr="꺾은선그래프(세로 눈금 한 칸 2): 9시 4, 10시 6, 11시 10, 12시 12, 1시 12"/>
          <p:cNvSpPr/>
          <p:nvPr/>
        </p:nvSpPr>
        <p:spPr>
          <a:xfrm>
            <a:off x="1720025" y="2179923"/>
            <a:ext cx="3514398" cy="1464332"/>
          </a:xfrm>
          <a:custGeom>
            <a:avLst/>
            <a:gdLst/>
            <a:ahLst/>
            <a:cxnLst/>
            <a:rect l="l" t="t" r="r" b="b"/>
            <a:pathLst>
              <a:path w="3514398" h="1464332">
                <a:moveTo>
                  <a:pt x="0" y="1464332"/>
                </a:moveTo>
                <a:lnTo>
                  <a:pt x="878599" y="1098249"/>
                </a:lnTo>
                <a:lnTo>
                  <a:pt x="1757199" y="366083"/>
                </a:lnTo>
                <a:lnTo>
                  <a:pt x="2635798" y="0"/>
                </a:lnTo>
                <a:lnTo>
                  <a:pt x="3514398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7-mark311"/>
          <p:cNvSpPr/>
          <p:nvPr/>
        </p:nvSpPr>
        <p:spPr>
          <a:xfrm flipV="1">
            <a:off x="1720025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312"/>
          <p:cNvSpPr/>
          <p:nvPr/>
        </p:nvSpPr>
        <p:spPr>
          <a:xfrm flipV="1">
            <a:off x="2598625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313"/>
          <p:cNvSpPr/>
          <p:nvPr/>
        </p:nvSpPr>
        <p:spPr>
          <a:xfrm flipV="1">
            <a:off x="3477224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314"/>
          <p:cNvSpPr/>
          <p:nvPr/>
        </p:nvSpPr>
        <p:spPr>
          <a:xfrm flipV="1">
            <a:off x="4355824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315"/>
          <p:cNvSpPr/>
          <p:nvPr/>
        </p:nvSpPr>
        <p:spPr>
          <a:xfrm flipV="1">
            <a:off x="5234423" y="2179923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316"/>
          <p:cNvSpPr/>
          <p:nvPr/>
        </p:nvSpPr>
        <p:spPr>
          <a:xfrm>
            <a:off x="1170901" y="401033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317"/>
          <p:cNvSpPr/>
          <p:nvPr/>
        </p:nvSpPr>
        <p:spPr>
          <a:xfrm>
            <a:off x="1170901" y="364425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318"/>
          <p:cNvSpPr/>
          <p:nvPr/>
        </p:nvSpPr>
        <p:spPr>
          <a:xfrm>
            <a:off x="1170901" y="3278172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319"/>
          <p:cNvSpPr/>
          <p:nvPr/>
        </p:nvSpPr>
        <p:spPr>
          <a:xfrm>
            <a:off x="1170901" y="291208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320"/>
          <p:cNvSpPr/>
          <p:nvPr/>
        </p:nvSpPr>
        <p:spPr>
          <a:xfrm>
            <a:off x="1170901" y="254600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321"/>
          <p:cNvSpPr/>
          <p:nvPr/>
        </p:nvSpPr>
        <p:spPr>
          <a:xfrm>
            <a:off x="1170901" y="2179923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322"/>
          <p:cNvSpPr/>
          <p:nvPr/>
        </p:nvSpPr>
        <p:spPr>
          <a:xfrm>
            <a:off x="1170901" y="4376422"/>
            <a:ext cx="461264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7-mark323"/>
          <p:cNvSpPr/>
          <p:nvPr/>
        </p:nvSpPr>
        <p:spPr>
          <a:xfrm flipV="1">
            <a:off x="1170901" y="2033490"/>
            <a:ext cx="0" cy="234293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7-mark324"/>
          <p:cNvSpPr/>
          <p:nvPr/>
        </p:nvSpPr>
        <p:spPr>
          <a:xfrm>
            <a:off x="1660589" y="358482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mark325"/>
          <p:cNvSpPr/>
          <p:nvPr/>
        </p:nvSpPr>
        <p:spPr>
          <a:xfrm>
            <a:off x="2539189" y="321873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mark326"/>
          <p:cNvSpPr/>
          <p:nvPr/>
        </p:nvSpPr>
        <p:spPr>
          <a:xfrm>
            <a:off x="3417788" y="248657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mark327"/>
          <p:cNvSpPr/>
          <p:nvPr/>
        </p:nvSpPr>
        <p:spPr>
          <a:xfrm>
            <a:off x="4296388" y="21204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mark328"/>
          <p:cNvSpPr/>
          <p:nvPr/>
        </p:nvSpPr>
        <p:spPr>
          <a:xfrm>
            <a:off x="5174987" y="21204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label330"/>
          <p:cNvSpPr txBox="1"/>
          <p:nvPr/>
        </p:nvSpPr>
        <p:spPr>
          <a:xfrm>
            <a:off x="704282" y="41859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5" name="S07-label332"/>
          <p:cNvSpPr txBox="1"/>
          <p:nvPr/>
        </p:nvSpPr>
        <p:spPr>
          <a:xfrm>
            <a:off x="704282" y="418592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6" name="S07-label334"/>
          <p:cNvSpPr txBox="1"/>
          <p:nvPr/>
        </p:nvSpPr>
        <p:spPr>
          <a:xfrm>
            <a:off x="704282" y="381983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7-label336"/>
          <p:cNvSpPr txBox="1"/>
          <p:nvPr/>
        </p:nvSpPr>
        <p:spPr>
          <a:xfrm>
            <a:off x="704282" y="345375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8" name="S07-label338"/>
          <p:cNvSpPr txBox="1"/>
          <p:nvPr/>
        </p:nvSpPr>
        <p:spPr>
          <a:xfrm>
            <a:off x="704282" y="30876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9" name="S07-label340"/>
          <p:cNvSpPr txBox="1"/>
          <p:nvPr/>
        </p:nvSpPr>
        <p:spPr>
          <a:xfrm>
            <a:off x="704282" y="272158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0" name="S07-label342"/>
          <p:cNvSpPr txBox="1"/>
          <p:nvPr/>
        </p:nvSpPr>
        <p:spPr>
          <a:xfrm>
            <a:off x="603698" y="235550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31" name="S07-label344"/>
          <p:cNvSpPr txBox="1"/>
          <p:nvPr/>
        </p:nvSpPr>
        <p:spPr>
          <a:xfrm>
            <a:off x="603698" y="19894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32" name="S07-label346"/>
          <p:cNvSpPr txBox="1"/>
          <p:nvPr/>
        </p:nvSpPr>
        <p:spPr>
          <a:xfrm>
            <a:off x="472634" y="162334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3" name="S07-label348"/>
          <p:cNvSpPr txBox="1"/>
          <p:nvPr/>
        </p:nvSpPr>
        <p:spPr>
          <a:xfrm>
            <a:off x="1415225" y="442387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4" name="S07-label350"/>
          <p:cNvSpPr txBox="1"/>
          <p:nvPr/>
        </p:nvSpPr>
        <p:spPr>
          <a:xfrm>
            <a:off x="2193241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35" name="S07-label352"/>
          <p:cNvSpPr txBox="1"/>
          <p:nvPr/>
        </p:nvSpPr>
        <p:spPr>
          <a:xfrm>
            <a:off x="3071840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6" name="S07-label354"/>
          <p:cNvSpPr txBox="1"/>
          <p:nvPr/>
        </p:nvSpPr>
        <p:spPr>
          <a:xfrm>
            <a:off x="3950440" y="4423876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7" name="S07-label356"/>
          <p:cNvSpPr txBox="1"/>
          <p:nvPr/>
        </p:nvSpPr>
        <p:spPr>
          <a:xfrm>
            <a:off x="4929623" y="442387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38" name="S07-card357"/>
          <p:cNvSpPr/>
          <p:nvPr/>
        </p:nvSpPr>
        <p:spPr>
          <a:xfrm>
            <a:off x="6277356" y="1495044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9" name="S07-cardtext358"/>
          <p:cNvSpPr txBox="1"/>
          <p:nvPr/>
        </p:nvSpPr>
        <p:spPr>
          <a:xfrm>
            <a:off x="6551676" y="1632204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12시와 1시 사이예요.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점이 가장 높아요.</a:t>
            </a:r>
            <a:endParaRPr lang="ko-KR" sz="3000" dirty="0"/>
          </a:p>
        </p:txBody>
      </p:sp>
      <p:sp>
        <p:nvSpPr>
          <p:cNvPr id="40" name="S07-card359"/>
          <p:cNvSpPr/>
          <p:nvPr/>
        </p:nvSpPr>
        <p:spPr>
          <a:xfrm>
            <a:off x="6277356" y="333756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1" name="S07-cardtext360"/>
          <p:cNvSpPr txBox="1"/>
          <p:nvPr/>
        </p:nvSpPr>
        <p:spPr>
          <a:xfrm>
            <a:off x="6551676" y="347472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10시와 11시 사이예요.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선분이 가장 많이 기울었어요.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물결선으로 줄여요</a:t>
            </a:r>
            <a:endParaRPr lang="ko-KR" sz="4000" dirty="0"/>
          </a:p>
        </p:txBody>
      </p:sp>
      <p:sp>
        <p:nvSpPr>
          <p:cNvPr id="3" name="S08-card361"/>
          <p:cNvSpPr/>
          <p:nvPr/>
        </p:nvSpPr>
        <p:spPr>
          <a:xfrm>
            <a:off x="548640" y="4511040"/>
            <a:ext cx="11091672" cy="1706880"/>
          </a:xfrm>
          <a:prstGeom prst="roundRect">
            <a:avLst>
              <a:gd name="adj" fmla="val 642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362"/>
          <p:cNvSpPr txBox="1"/>
          <p:nvPr/>
        </p:nvSpPr>
        <p:spPr>
          <a:xfrm>
            <a:off x="822960" y="4648200"/>
            <a:ext cx="10543032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준호의 몸무게예요. 변하는 모습은 어느 쪽에서 더 잘 보일까요?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30 사이의 물결 모양(≈)을 물결선이라고 해요.</a:t>
            </a:r>
            <a:endParaRPr lang="ko-KR" sz="3000" dirty="0"/>
          </a:p>
        </p:txBody>
      </p:sp>
      <p:sp>
        <p:nvSpPr>
          <p:cNvPr id="5" name="S08-figure363" descr="꺾은선그래프(세로 눈금 한 칸 10): 3월 30, 4월 31, 5월 31, 6월 33, 7월 34"/>
          <p:cNvSpPr/>
          <p:nvPr/>
        </p:nvSpPr>
        <p:spPr>
          <a:xfrm>
            <a:off x="1766185" y="2114764"/>
            <a:ext cx="3433572" cy="143066"/>
          </a:xfrm>
          <a:custGeom>
            <a:avLst/>
            <a:gdLst/>
            <a:ahLst/>
            <a:cxnLst/>
            <a:rect l="l" t="t" r="r" b="b"/>
            <a:pathLst>
              <a:path w="3433572" h="143066">
                <a:moveTo>
                  <a:pt x="0" y="143066"/>
                </a:moveTo>
                <a:lnTo>
                  <a:pt x="858393" y="107299"/>
                </a:lnTo>
                <a:lnTo>
                  <a:pt x="1716786" y="107299"/>
                </a:lnTo>
                <a:lnTo>
                  <a:pt x="2575179" y="35766"/>
                </a:lnTo>
                <a:lnTo>
                  <a:pt x="3433572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8-mark364"/>
          <p:cNvSpPr/>
          <p:nvPr/>
        </p:nvSpPr>
        <p:spPr>
          <a:xfrm flipV="1">
            <a:off x="1766185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365"/>
          <p:cNvSpPr/>
          <p:nvPr/>
        </p:nvSpPr>
        <p:spPr>
          <a:xfrm flipV="1">
            <a:off x="2624578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366"/>
          <p:cNvSpPr/>
          <p:nvPr/>
        </p:nvSpPr>
        <p:spPr>
          <a:xfrm flipV="1">
            <a:off x="3482971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367"/>
          <p:cNvSpPr/>
          <p:nvPr/>
        </p:nvSpPr>
        <p:spPr>
          <a:xfrm flipV="1">
            <a:off x="4341364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368"/>
          <p:cNvSpPr/>
          <p:nvPr/>
        </p:nvSpPr>
        <p:spPr>
          <a:xfrm flipV="1">
            <a:off x="5199757" y="1900166"/>
            <a:ext cx="0" cy="143065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369"/>
          <p:cNvSpPr/>
          <p:nvPr/>
        </p:nvSpPr>
        <p:spPr>
          <a:xfrm>
            <a:off x="1229689" y="2973157"/>
            <a:ext cx="450656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370"/>
          <p:cNvSpPr/>
          <p:nvPr/>
        </p:nvSpPr>
        <p:spPr>
          <a:xfrm>
            <a:off x="1229689" y="2615494"/>
            <a:ext cx="450656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371"/>
          <p:cNvSpPr/>
          <p:nvPr/>
        </p:nvSpPr>
        <p:spPr>
          <a:xfrm>
            <a:off x="1229689" y="2257830"/>
            <a:ext cx="450656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372"/>
          <p:cNvSpPr/>
          <p:nvPr/>
        </p:nvSpPr>
        <p:spPr>
          <a:xfrm>
            <a:off x="1229689" y="1900166"/>
            <a:ext cx="450656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373"/>
          <p:cNvSpPr/>
          <p:nvPr/>
        </p:nvSpPr>
        <p:spPr>
          <a:xfrm>
            <a:off x="1229689" y="3330821"/>
            <a:ext cx="450656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8-mark374"/>
          <p:cNvSpPr/>
          <p:nvPr/>
        </p:nvSpPr>
        <p:spPr>
          <a:xfrm flipV="1">
            <a:off x="1229689" y="1757101"/>
            <a:ext cx="0" cy="157372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8-mark375"/>
          <p:cNvSpPr/>
          <p:nvPr/>
        </p:nvSpPr>
        <p:spPr>
          <a:xfrm>
            <a:off x="1706749" y="219839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mark376"/>
          <p:cNvSpPr/>
          <p:nvPr/>
        </p:nvSpPr>
        <p:spPr>
          <a:xfrm>
            <a:off x="2565142" y="21626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mark377"/>
          <p:cNvSpPr/>
          <p:nvPr/>
        </p:nvSpPr>
        <p:spPr>
          <a:xfrm>
            <a:off x="3423535" y="21626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mark378"/>
          <p:cNvSpPr/>
          <p:nvPr/>
        </p:nvSpPr>
        <p:spPr>
          <a:xfrm>
            <a:off x="4281928" y="209109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mark379"/>
          <p:cNvSpPr/>
          <p:nvPr/>
        </p:nvSpPr>
        <p:spPr>
          <a:xfrm>
            <a:off x="5140321" y="205532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8-label381"/>
          <p:cNvSpPr txBox="1"/>
          <p:nvPr/>
        </p:nvSpPr>
        <p:spPr>
          <a:xfrm>
            <a:off x="770227" y="3140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3" name="S08-label383"/>
          <p:cNvSpPr txBox="1"/>
          <p:nvPr/>
        </p:nvSpPr>
        <p:spPr>
          <a:xfrm>
            <a:off x="770227" y="314032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4" name="S08-label385"/>
          <p:cNvSpPr txBox="1"/>
          <p:nvPr/>
        </p:nvSpPr>
        <p:spPr>
          <a:xfrm>
            <a:off x="669643" y="278265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5" name="S08-label387"/>
          <p:cNvSpPr txBox="1"/>
          <p:nvPr/>
        </p:nvSpPr>
        <p:spPr>
          <a:xfrm>
            <a:off x="669643" y="2424994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6" name="S08-label389"/>
          <p:cNvSpPr txBox="1"/>
          <p:nvPr/>
        </p:nvSpPr>
        <p:spPr>
          <a:xfrm>
            <a:off x="669643" y="206733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7" name="S08-label391"/>
          <p:cNvSpPr txBox="1"/>
          <p:nvPr/>
        </p:nvSpPr>
        <p:spPr>
          <a:xfrm>
            <a:off x="669643" y="170966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400" dirty="0"/>
          </a:p>
        </p:txBody>
      </p:sp>
      <p:sp>
        <p:nvSpPr>
          <p:cNvPr id="28" name="S08-label393"/>
          <p:cNvSpPr txBox="1"/>
          <p:nvPr/>
        </p:nvSpPr>
        <p:spPr>
          <a:xfrm>
            <a:off x="517243" y="1352002"/>
            <a:ext cx="8168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(kg)</a:t>
            </a:r>
            <a:endParaRPr lang="ko-KR" sz="2400" dirty="0"/>
          </a:p>
        </p:txBody>
      </p:sp>
      <p:sp>
        <p:nvSpPr>
          <p:cNvPr id="29" name="S08-label395"/>
          <p:cNvSpPr txBox="1"/>
          <p:nvPr/>
        </p:nvSpPr>
        <p:spPr>
          <a:xfrm>
            <a:off x="1461385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3월</a:t>
            </a:r>
            <a:endParaRPr lang="ko-KR" sz="2400" dirty="0"/>
          </a:p>
        </p:txBody>
      </p:sp>
      <p:sp>
        <p:nvSpPr>
          <p:cNvPr id="30" name="S08-label397"/>
          <p:cNvSpPr txBox="1"/>
          <p:nvPr/>
        </p:nvSpPr>
        <p:spPr>
          <a:xfrm>
            <a:off x="2319778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ko-KR" sz="2400" dirty="0"/>
          </a:p>
        </p:txBody>
      </p:sp>
      <p:sp>
        <p:nvSpPr>
          <p:cNvPr id="31" name="S08-label399"/>
          <p:cNvSpPr txBox="1"/>
          <p:nvPr/>
        </p:nvSpPr>
        <p:spPr>
          <a:xfrm>
            <a:off x="3178171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5월</a:t>
            </a:r>
            <a:endParaRPr lang="ko-KR" sz="2400" dirty="0"/>
          </a:p>
        </p:txBody>
      </p:sp>
      <p:sp>
        <p:nvSpPr>
          <p:cNvPr id="32" name="S08-label401"/>
          <p:cNvSpPr txBox="1"/>
          <p:nvPr/>
        </p:nvSpPr>
        <p:spPr>
          <a:xfrm>
            <a:off x="4036564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</a:t>
            </a:r>
            <a:endParaRPr lang="ko-KR" sz="2400" dirty="0"/>
          </a:p>
        </p:txBody>
      </p:sp>
      <p:sp>
        <p:nvSpPr>
          <p:cNvPr id="33" name="S08-label403"/>
          <p:cNvSpPr txBox="1"/>
          <p:nvPr/>
        </p:nvSpPr>
        <p:spPr>
          <a:xfrm>
            <a:off x="4894957" y="3372803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ko-KR" sz="2400" dirty="0"/>
          </a:p>
        </p:txBody>
      </p:sp>
      <p:sp>
        <p:nvSpPr>
          <p:cNvPr id="34" name="S08-label404"/>
          <p:cNvSpPr txBox="1"/>
          <p:nvPr/>
        </p:nvSpPr>
        <p:spPr>
          <a:xfrm>
            <a:off x="548640" y="38709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0부터 그리면</a:t>
            </a:r>
            <a:endParaRPr lang="ko-KR" sz="2400" dirty="0"/>
          </a:p>
        </p:txBody>
      </p:sp>
      <p:sp>
        <p:nvSpPr>
          <p:cNvPr id="35" name="S08-figure405" descr="꺾은선그래프(세로 눈금 한 칸 1, 물결선 위 30부터): 3월 30, 4월 31, 5월 31, 6월 33, 7월 34"/>
          <p:cNvSpPr/>
          <p:nvPr/>
        </p:nvSpPr>
        <p:spPr>
          <a:xfrm>
            <a:off x="7114619" y="3072240"/>
            <a:ext cx="185598" cy="309331"/>
          </a:xfrm>
          <a:custGeom>
            <a:avLst/>
            <a:gdLst/>
            <a:ahLst/>
            <a:cxnLst/>
            <a:rect l="l" t="t" r="r" b="b"/>
            <a:pathLst>
              <a:path w="185598" h="309331">
                <a:moveTo>
                  <a:pt x="92799" y="309331"/>
                </a:moveTo>
                <a:lnTo>
                  <a:pt x="92799" y="262931"/>
                </a:lnTo>
                <a:lnTo>
                  <a:pt x="0" y="210345"/>
                </a:lnTo>
                <a:lnTo>
                  <a:pt x="185598" y="154665"/>
                </a:lnTo>
                <a:lnTo>
                  <a:pt x="0" y="98986"/>
                </a:lnTo>
                <a:lnTo>
                  <a:pt x="92799" y="46400"/>
                </a:lnTo>
                <a:lnTo>
                  <a:pt x="92799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8-mark406"/>
          <p:cNvSpPr/>
          <p:nvPr/>
        </p:nvSpPr>
        <p:spPr>
          <a:xfrm>
            <a:off x="7671414" y="1834917"/>
            <a:ext cx="2969576" cy="1237323"/>
          </a:xfrm>
          <a:custGeom>
            <a:avLst/>
            <a:gdLst/>
            <a:ahLst/>
            <a:cxnLst/>
            <a:rect l="l" t="t" r="r" b="b"/>
            <a:pathLst>
              <a:path w="2969576" h="1237323">
                <a:moveTo>
                  <a:pt x="0" y="1237323"/>
                </a:moveTo>
                <a:lnTo>
                  <a:pt x="742394" y="927992"/>
                </a:lnTo>
                <a:lnTo>
                  <a:pt x="1484788" y="927992"/>
                </a:lnTo>
                <a:lnTo>
                  <a:pt x="2227182" y="309331"/>
                </a:lnTo>
                <a:lnTo>
                  <a:pt x="2969576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37" name="S08-mark407"/>
          <p:cNvSpPr/>
          <p:nvPr/>
        </p:nvSpPr>
        <p:spPr>
          <a:xfrm flipV="1">
            <a:off x="7671414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8-mark408"/>
          <p:cNvSpPr/>
          <p:nvPr/>
        </p:nvSpPr>
        <p:spPr>
          <a:xfrm flipV="1">
            <a:off x="8413808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8-mark409"/>
          <p:cNvSpPr/>
          <p:nvPr/>
        </p:nvSpPr>
        <p:spPr>
          <a:xfrm flipV="1">
            <a:off x="9156202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8-mark410"/>
          <p:cNvSpPr/>
          <p:nvPr/>
        </p:nvSpPr>
        <p:spPr>
          <a:xfrm flipV="1">
            <a:off x="9898596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8-mark411"/>
          <p:cNvSpPr/>
          <p:nvPr/>
        </p:nvSpPr>
        <p:spPr>
          <a:xfrm flipV="1">
            <a:off x="10640990" y="1834917"/>
            <a:ext cx="0" cy="15466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8-mark412"/>
          <p:cNvSpPr/>
          <p:nvPr/>
        </p:nvSpPr>
        <p:spPr>
          <a:xfrm>
            <a:off x="7207418" y="3072240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8-mark413"/>
          <p:cNvSpPr/>
          <p:nvPr/>
        </p:nvSpPr>
        <p:spPr>
          <a:xfrm>
            <a:off x="7207418" y="2762909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8-mark414"/>
          <p:cNvSpPr/>
          <p:nvPr/>
        </p:nvSpPr>
        <p:spPr>
          <a:xfrm>
            <a:off x="7207418" y="2453578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8-mark415"/>
          <p:cNvSpPr/>
          <p:nvPr/>
        </p:nvSpPr>
        <p:spPr>
          <a:xfrm>
            <a:off x="7207418" y="2144247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8-mark416"/>
          <p:cNvSpPr/>
          <p:nvPr/>
        </p:nvSpPr>
        <p:spPr>
          <a:xfrm>
            <a:off x="7207418" y="1834917"/>
            <a:ext cx="38975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8-mark417"/>
          <p:cNvSpPr/>
          <p:nvPr/>
        </p:nvSpPr>
        <p:spPr>
          <a:xfrm>
            <a:off x="7207418" y="3381571"/>
            <a:ext cx="389756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8" name="S08-mark418"/>
          <p:cNvSpPr/>
          <p:nvPr/>
        </p:nvSpPr>
        <p:spPr>
          <a:xfrm flipV="1">
            <a:off x="7207418" y="1711184"/>
            <a:ext cx="0" cy="136105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08-mark419"/>
          <p:cNvSpPr/>
          <p:nvPr/>
        </p:nvSpPr>
        <p:spPr>
          <a:xfrm>
            <a:off x="7611978" y="30128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8-mark420"/>
          <p:cNvSpPr/>
          <p:nvPr/>
        </p:nvSpPr>
        <p:spPr>
          <a:xfrm>
            <a:off x="8354372" y="270347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8-mark421"/>
          <p:cNvSpPr/>
          <p:nvPr/>
        </p:nvSpPr>
        <p:spPr>
          <a:xfrm>
            <a:off x="9096766" y="270347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8-mark422"/>
          <p:cNvSpPr/>
          <p:nvPr/>
        </p:nvSpPr>
        <p:spPr>
          <a:xfrm>
            <a:off x="9839160" y="208481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8-mark423"/>
          <p:cNvSpPr/>
          <p:nvPr/>
        </p:nvSpPr>
        <p:spPr>
          <a:xfrm>
            <a:off x="10581554" y="177548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8-label425"/>
          <p:cNvSpPr txBox="1"/>
          <p:nvPr/>
        </p:nvSpPr>
        <p:spPr>
          <a:xfrm>
            <a:off x="6789039" y="319107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55" name="S08-label427"/>
          <p:cNvSpPr txBox="1"/>
          <p:nvPr/>
        </p:nvSpPr>
        <p:spPr>
          <a:xfrm>
            <a:off x="6688455" y="288174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56" name="S08-label429"/>
          <p:cNvSpPr txBox="1"/>
          <p:nvPr/>
        </p:nvSpPr>
        <p:spPr>
          <a:xfrm>
            <a:off x="6688455" y="257240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2400" dirty="0"/>
          </a:p>
        </p:txBody>
      </p:sp>
      <p:sp>
        <p:nvSpPr>
          <p:cNvPr id="57" name="S08-label431"/>
          <p:cNvSpPr txBox="1"/>
          <p:nvPr/>
        </p:nvSpPr>
        <p:spPr>
          <a:xfrm>
            <a:off x="6688455" y="2263078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400" dirty="0"/>
          </a:p>
        </p:txBody>
      </p:sp>
      <p:sp>
        <p:nvSpPr>
          <p:cNvPr id="58" name="S08-label433"/>
          <p:cNvSpPr txBox="1"/>
          <p:nvPr/>
        </p:nvSpPr>
        <p:spPr>
          <a:xfrm>
            <a:off x="6688455" y="195374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2400" dirty="0"/>
          </a:p>
        </p:txBody>
      </p:sp>
      <p:sp>
        <p:nvSpPr>
          <p:cNvPr id="59" name="S08-label435"/>
          <p:cNvSpPr txBox="1"/>
          <p:nvPr/>
        </p:nvSpPr>
        <p:spPr>
          <a:xfrm>
            <a:off x="6688455" y="164441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400" dirty="0"/>
          </a:p>
        </p:txBody>
      </p:sp>
      <p:sp>
        <p:nvSpPr>
          <p:cNvPr id="60" name="S08-label437"/>
          <p:cNvSpPr txBox="1"/>
          <p:nvPr/>
        </p:nvSpPr>
        <p:spPr>
          <a:xfrm>
            <a:off x="6536055" y="1335086"/>
            <a:ext cx="8168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(kg)</a:t>
            </a:r>
            <a:endParaRPr lang="ko-KR" sz="2400" dirty="0"/>
          </a:p>
        </p:txBody>
      </p:sp>
      <p:sp>
        <p:nvSpPr>
          <p:cNvPr id="61" name="S08-label439"/>
          <p:cNvSpPr txBox="1"/>
          <p:nvPr/>
        </p:nvSpPr>
        <p:spPr>
          <a:xfrm>
            <a:off x="7366614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3월</a:t>
            </a:r>
            <a:endParaRPr lang="ko-KR" sz="2400" dirty="0"/>
          </a:p>
        </p:txBody>
      </p:sp>
      <p:sp>
        <p:nvSpPr>
          <p:cNvPr id="62" name="S08-label441"/>
          <p:cNvSpPr txBox="1"/>
          <p:nvPr/>
        </p:nvSpPr>
        <p:spPr>
          <a:xfrm>
            <a:off x="8109008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ko-KR" sz="2400" dirty="0"/>
          </a:p>
        </p:txBody>
      </p:sp>
      <p:sp>
        <p:nvSpPr>
          <p:cNvPr id="63" name="S08-label443"/>
          <p:cNvSpPr txBox="1"/>
          <p:nvPr/>
        </p:nvSpPr>
        <p:spPr>
          <a:xfrm>
            <a:off x="8851402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5월</a:t>
            </a:r>
            <a:endParaRPr lang="ko-KR" sz="2400" dirty="0"/>
          </a:p>
        </p:txBody>
      </p:sp>
      <p:sp>
        <p:nvSpPr>
          <p:cNvPr id="64" name="S08-label445"/>
          <p:cNvSpPr txBox="1"/>
          <p:nvPr/>
        </p:nvSpPr>
        <p:spPr>
          <a:xfrm>
            <a:off x="9593796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</a:t>
            </a:r>
            <a:endParaRPr lang="ko-KR" sz="2400" dirty="0"/>
          </a:p>
        </p:txBody>
      </p:sp>
      <p:sp>
        <p:nvSpPr>
          <p:cNvPr id="65" name="S08-label447"/>
          <p:cNvSpPr txBox="1"/>
          <p:nvPr/>
        </p:nvSpPr>
        <p:spPr>
          <a:xfrm>
            <a:off x="10336190" y="339213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ko-KR" sz="2400" dirty="0"/>
          </a:p>
        </p:txBody>
      </p:sp>
      <p:sp>
        <p:nvSpPr>
          <p:cNvPr id="66" name="S08-label448"/>
          <p:cNvSpPr txBox="1"/>
          <p:nvPr/>
        </p:nvSpPr>
        <p:spPr>
          <a:xfrm>
            <a:off x="6254496" y="38709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물결선으로 줄이면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꺾은선그래프로 나타내요</a:t>
            </a:r>
            <a:endParaRPr lang="ko-KR" sz="4000" dirty="0"/>
          </a:p>
        </p:txBody>
      </p:sp>
      <p:sp>
        <p:nvSpPr>
          <p:cNvPr id="3" name="S09-text44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16도, 화 18도, 수 22도, 목 20도, 금 24도</a:t>
            </a:r>
            <a:endParaRPr lang="ko-KR" sz="3000" dirty="0"/>
          </a:p>
        </p:txBody>
      </p:sp>
      <p:sp>
        <p:nvSpPr>
          <p:cNvPr id="4" name="S09-figure450" descr="꺾은선그래프 ‘요일별 최고 기온’(세로 눈금 한 칸 2, 물결선 위 16부터): 월 16, 화 18, 수 22, 목 20, 금 24"/>
          <p:cNvSpPr/>
          <p:nvPr/>
        </p:nvSpPr>
        <p:spPr>
          <a:xfrm>
            <a:off x="7183959" y="5142263"/>
            <a:ext cx="201458" cy="335763"/>
          </a:xfrm>
          <a:custGeom>
            <a:avLst/>
            <a:gdLst/>
            <a:ahLst/>
            <a:cxnLst/>
            <a:rect l="l" t="t" r="r" b="b"/>
            <a:pathLst>
              <a:path w="201458" h="335763">
                <a:moveTo>
                  <a:pt x="100729" y="335763"/>
                </a:moveTo>
                <a:lnTo>
                  <a:pt x="100729" y="285398"/>
                </a:lnTo>
                <a:lnTo>
                  <a:pt x="0" y="228319"/>
                </a:lnTo>
                <a:lnTo>
                  <a:pt x="201458" y="167881"/>
                </a:lnTo>
                <a:lnTo>
                  <a:pt x="0" y="107444"/>
                </a:lnTo>
                <a:lnTo>
                  <a:pt x="100729" y="50364"/>
                </a:lnTo>
                <a:lnTo>
                  <a:pt x="100729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9-mark451"/>
          <p:cNvSpPr/>
          <p:nvPr/>
        </p:nvSpPr>
        <p:spPr>
          <a:xfrm>
            <a:off x="7788332" y="3799213"/>
            <a:ext cx="3223320" cy="1343050"/>
          </a:xfrm>
          <a:custGeom>
            <a:avLst/>
            <a:gdLst/>
            <a:ahLst/>
            <a:cxnLst/>
            <a:rect l="l" t="t" r="r" b="b"/>
            <a:pathLst>
              <a:path w="3223320" h="1343050">
                <a:moveTo>
                  <a:pt x="0" y="1343050"/>
                </a:moveTo>
                <a:lnTo>
                  <a:pt x="805830" y="1007288"/>
                </a:lnTo>
                <a:lnTo>
                  <a:pt x="1611660" y="335763"/>
                </a:lnTo>
                <a:lnTo>
                  <a:pt x="2417490" y="671525"/>
                </a:lnTo>
                <a:lnTo>
                  <a:pt x="3223320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9-mark452"/>
          <p:cNvSpPr/>
          <p:nvPr/>
        </p:nvSpPr>
        <p:spPr>
          <a:xfrm flipV="1">
            <a:off x="778833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9-mark453"/>
          <p:cNvSpPr/>
          <p:nvPr/>
        </p:nvSpPr>
        <p:spPr>
          <a:xfrm flipV="1">
            <a:off x="859416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9-mark454"/>
          <p:cNvSpPr/>
          <p:nvPr/>
        </p:nvSpPr>
        <p:spPr>
          <a:xfrm flipV="1">
            <a:off x="939999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9-mark455"/>
          <p:cNvSpPr/>
          <p:nvPr/>
        </p:nvSpPr>
        <p:spPr>
          <a:xfrm flipV="1">
            <a:off x="1020582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456"/>
          <p:cNvSpPr/>
          <p:nvPr/>
        </p:nvSpPr>
        <p:spPr>
          <a:xfrm flipV="1">
            <a:off x="11011652" y="3799213"/>
            <a:ext cx="0" cy="167881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457"/>
          <p:cNvSpPr/>
          <p:nvPr/>
        </p:nvSpPr>
        <p:spPr>
          <a:xfrm>
            <a:off x="7284688" y="5142263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458"/>
          <p:cNvSpPr/>
          <p:nvPr/>
        </p:nvSpPr>
        <p:spPr>
          <a:xfrm>
            <a:off x="7284688" y="4806501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459"/>
          <p:cNvSpPr/>
          <p:nvPr/>
        </p:nvSpPr>
        <p:spPr>
          <a:xfrm>
            <a:off x="7284688" y="4470738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460"/>
          <p:cNvSpPr/>
          <p:nvPr/>
        </p:nvSpPr>
        <p:spPr>
          <a:xfrm>
            <a:off x="7284688" y="4134976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461"/>
          <p:cNvSpPr/>
          <p:nvPr/>
        </p:nvSpPr>
        <p:spPr>
          <a:xfrm>
            <a:off x="7284688" y="3799213"/>
            <a:ext cx="42306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462"/>
          <p:cNvSpPr/>
          <p:nvPr/>
        </p:nvSpPr>
        <p:spPr>
          <a:xfrm>
            <a:off x="7284688" y="5478026"/>
            <a:ext cx="423060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9-mark463"/>
          <p:cNvSpPr/>
          <p:nvPr/>
        </p:nvSpPr>
        <p:spPr>
          <a:xfrm flipV="1">
            <a:off x="7284688" y="3664908"/>
            <a:ext cx="0" cy="147735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9-mark464"/>
          <p:cNvSpPr/>
          <p:nvPr/>
        </p:nvSpPr>
        <p:spPr>
          <a:xfrm>
            <a:off x="7728896" y="50828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mark465"/>
          <p:cNvSpPr/>
          <p:nvPr/>
        </p:nvSpPr>
        <p:spPr>
          <a:xfrm>
            <a:off x="8534726" y="474706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mark466"/>
          <p:cNvSpPr/>
          <p:nvPr/>
        </p:nvSpPr>
        <p:spPr>
          <a:xfrm>
            <a:off x="9340556" y="407554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mark467"/>
          <p:cNvSpPr/>
          <p:nvPr/>
        </p:nvSpPr>
        <p:spPr>
          <a:xfrm>
            <a:off x="10146386" y="441130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mark468"/>
          <p:cNvSpPr/>
          <p:nvPr/>
        </p:nvSpPr>
        <p:spPr>
          <a:xfrm>
            <a:off x="10952216" y="373977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label470"/>
          <p:cNvSpPr txBox="1"/>
          <p:nvPr/>
        </p:nvSpPr>
        <p:spPr>
          <a:xfrm>
            <a:off x="6843842" y="528752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4" name="S09-label472"/>
          <p:cNvSpPr txBox="1"/>
          <p:nvPr/>
        </p:nvSpPr>
        <p:spPr>
          <a:xfrm>
            <a:off x="6743258" y="495176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25" name="S09-label474"/>
          <p:cNvSpPr txBox="1"/>
          <p:nvPr/>
        </p:nvSpPr>
        <p:spPr>
          <a:xfrm>
            <a:off x="6743258" y="461600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26" name="S09-label476"/>
          <p:cNvSpPr txBox="1"/>
          <p:nvPr/>
        </p:nvSpPr>
        <p:spPr>
          <a:xfrm>
            <a:off x="6743258" y="4280238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7" name="S09-label478"/>
          <p:cNvSpPr txBox="1"/>
          <p:nvPr/>
        </p:nvSpPr>
        <p:spPr>
          <a:xfrm>
            <a:off x="6743258" y="394447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400" dirty="0"/>
          </a:p>
        </p:txBody>
      </p:sp>
      <p:sp>
        <p:nvSpPr>
          <p:cNvPr id="28" name="S09-label480"/>
          <p:cNvSpPr txBox="1"/>
          <p:nvPr/>
        </p:nvSpPr>
        <p:spPr>
          <a:xfrm>
            <a:off x="6743258" y="360871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400" dirty="0"/>
          </a:p>
        </p:txBody>
      </p:sp>
      <p:sp>
        <p:nvSpPr>
          <p:cNvPr id="29" name="S09-label482"/>
          <p:cNvSpPr txBox="1"/>
          <p:nvPr/>
        </p:nvSpPr>
        <p:spPr>
          <a:xfrm>
            <a:off x="6612194" y="3272951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0" name="S09-label484"/>
          <p:cNvSpPr txBox="1"/>
          <p:nvPr/>
        </p:nvSpPr>
        <p:spPr>
          <a:xfrm>
            <a:off x="758411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ko-KR" sz="2400" dirty="0"/>
          </a:p>
        </p:txBody>
      </p:sp>
      <p:sp>
        <p:nvSpPr>
          <p:cNvPr id="31" name="S09-label486"/>
          <p:cNvSpPr txBox="1"/>
          <p:nvPr/>
        </p:nvSpPr>
        <p:spPr>
          <a:xfrm>
            <a:off x="838994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ko-KR" sz="2400" dirty="0"/>
          </a:p>
        </p:txBody>
      </p:sp>
      <p:sp>
        <p:nvSpPr>
          <p:cNvPr id="32" name="S09-label488"/>
          <p:cNvSpPr txBox="1"/>
          <p:nvPr/>
        </p:nvSpPr>
        <p:spPr>
          <a:xfrm>
            <a:off x="919577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2400" dirty="0"/>
          </a:p>
        </p:txBody>
      </p:sp>
      <p:sp>
        <p:nvSpPr>
          <p:cNvPr id="33" name="S09-label490"/>
          <p:cNvSpPr txBox="1"/>
          <p:nvPr/>
        </p:nvSpPr>
        <p:spPr>
          <a:xfrm>
            <a:off x="1000160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2400" dirty="0"/>
          </a:p>
        </p:txBody>
      </p:sp>
      <p:sp>
        <p:nvSpPr>
          <p:cNvPr id="34" name="S09-label492"/>
          <p:cNvSpPr txBox="1"/>
          <p:nvPr/>
        </p:nvSpPr>
        <p:spPr>
          <a:xfrm>
            <a:off x="10807436" y="550577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</a:t>
            </a:r>
            <a:endParaRPr lang="ko-KR" sz="2400" dirty="0"/>
          </a:p>
        </p:txBody>
      </p:sp>
      <p:sp>
        <p:nvSpPr>
          <p:cNvPr id="35" name="S09-label494"/>
          <p:cNvSpPr txBox="1"/>
          <p:nvPr/>
        </p:nvSpPr>
        <p:spPr>
          <a:xfrm>
            <a:off x="8208224" y="2937188"/>
            <a:ext cx="2383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요일별 최고 기온</a:t>
            </a:r>
            <a:endParaRPr lang="ko-KR" sz="2400" dirty="0"/>
          </a:p>
        </p:txBody>
      </p:sp>
      <p:sp>
        <p:nvSpPr>
          <p:cNvPr id="36" name="S09-stepno495"/>
          <p:cNvSpPr txBox="1"/>
          <p:nvPr/>
        </p:nvSpPr>
        <p:spPr>
          <a:xfrm>
            <a:off x="548640" y="2711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7" name="S09-text496"/>
          <p:cNvSpPr txBox="1"/>
          <p:nvPr/>
        </p:nvSpPr>
        <p:spPr>
          <a:xfrm>
            <a:off x="1325880" y="2711196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가로는 요일, 세로는 기온</a:t>
            </a:r>
            <a:endParaRPr lang="ko-KR" sz="3000" dirty="0"/>
          </a:p>
        </p:txBody>
      </p:sp>
      <p:sp>
        <p:nvSpPr>
          <p:cNvPr id="38" name="S09-stepno49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9" name="S09-text498"/>
          <p:cNvSpPr txBox="1"/>
          <p:nvPr/>
        </p:nvSpPr>
        <p:spPr>
          <a:xfrm>
            <a:off x="1325880" y="3424428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16 사이는 물결선</a:t>
            </a:r>
            <a:endParaRPr lang="ko-KR" sz="3000" dirty="0"/>
          </a:p>
        </p:txBody>
      </p:sp>
      <p:sp>
        <p:nvSpPr>
          <p:cNvPr id="40" name="S09-stepno49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9-text500"/>
          <p:cNvSpPr txBox="1"/>
          <p:nvPr/>
        </p:nvSpPr>
        <p:spPr>
          <a:xfrm>
            <a:off x="1325880" y="4137660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 2도</a:t>
            </a:r>
            <a:endParaRPr lang="ko-KR" sz="3000" dirty="0"/>
          </a:p>
        </p:txBody>
      </p:sp>
      <p:sp>
        <p:nvSpPr>
          <p:cNvPr id="42" name="S09-stepno50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3" name="S09-text502"/>
          <p:cNvSpPr txBox="1"/>
          <p:nvPr/>
        </p:nvSpPr>
        <p:spPr>
          <a:xfrm>
            <a:off x="1325880" y="4850892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찍고 선분으로 이어요.</a:t>
            </a:r>
            <a:endParaRPr lang="ko-KR" sz="3000" dirty="0"/>
          </a:p>
        </p:txBody>
      </p:sp>
      <p:sp>
        <p:nvSpPr>
          <p:cNvPr id="44" name="S09-stepno503"/>
          <p:cNvSpPr txBox="1"/>
          <p:nvPr/>
        </p:nvSpPr>
        <p:spPr>
          <a:xfrm>
            <a:off x="548640" y="5564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45" name="S09-text504"/>
          <p:cNvSpPr txBox="1"/>
          <p:nvPr/>
        </p:nvSpPr>
        <p:spPr>
          <a:xfrm>
            <a:off x="1325880" y="5564124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10-text5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지우의 줄넘기 기록(번)이에요.</a:t>
            </a:r>
            <a:endParaRPr lang="ko-KR" sz="3000" dirty="0"/>
          </a:p>
        </p:txBody>
      </p:sp>
      <p:sp>
        <p:nvSpPr>
          <p:cNvPr id="4" name="S10-card5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작은 수부터 세로 눈금을 시작해요.</a:t>
            </a:r>
            <a:endParaRPr lang="ko-KR" sz="3000" dirty="0"/>
          </a:p>
        </p:txBody>
      </p:sp>
      <p:graphicFrame>
        <p:nvGraphicFramePr>
          <p:cNvPr id="11" name="S10-table5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38594" y="2385060"/>
          <a:ext cx="3840480" cy="914400"/>
        </p:xfrm>
        <a:graphic>
          <a:graphicData uri="http://schemas.openxmlformats.org/drawingml/2006/table">
            <a:tbl>
              <a:tblPr/>
              <a:tblGrid>
                <a:gridCol w="1728216"/>
                <a:gridCol w="2112264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기록(번)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chip50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0-text51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물결선은 0과 몇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사이에 넣을까요?</a:t>
            </a:r>
            <a:endParaRPr lang="ko-KR" sz="3000" dirty="0"/>
          </a:p>
        </p:txBody>
      </p:sp>
      <p:sp>
        <p:nvSpPr>
          <p:cNvPr id="9" name="S10-chip51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0-text51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5번으로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40부터 60까지 몇 칸?</a:t>
            </a:r>
            <a:endParaRPr lang="ko-KR" sz="3000" dirty="0"/>
          </a:p>
        </p:txBody>
      </p:sp>
      <p:sp>
        <p:nvSpPr>
          <p:cNvPr id="11" name="S10-chip51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0-text51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3주의 점은 40에서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칸 위에 찍을까요?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515" descr="꺾은선그래프 ‘저녁 기온’(세로 눈금 한 칸 2, 물결선 위 12부터): 5시 22, 6시 20, 7시 16, 8시 14, 9시 14"/>
          <p:cNvSpPr/>
          <p:nvPr/>
        </p:nvSpPr>
        <p:spPr>
          <a:xfrm>
            <a:off x="6789792" y="4751172"/>
            <a:ext cx="219650" cy="366083"/>
          </a:xfrm>
          <a:custGeom>
            <a:avLst/>
            <a:gdLst/>
            <a:ahLst/>
            <a:cxnLst/>
            <a:rect l="l" t="t" r="r" b="b"/>
            <a:pathLst>
              <a:path w="219650" h="366083">
                <a:moveTo>
                  <a:pt x="109825" y="366083"/>
                </a:moveTo>
                <a:lnTo>
                  <a:pt x="109825" y="311171"/>
                </a:lnTo>
                <a:lnTo>
                  <a:pt x="0" y="248937"/>
                </a:lnTo>
                <a:lnTo>
                  <a:pt x="219650" y="183042"/>
                </a:lnTo>
                <a:lnTo>
                  <a:pt x="0" y="117147"/>
                </a:lnTo>
                <a:lnTo>
                  <a:pt x="109825" y="54912"/>
                </a:lnTo>
                <a:lnTo>
                  <a:pt x="109825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" name="S11-mark516"/>
          <p:cNvSpPr/>
          <p:nvPr/>
        </p:nvSpPr>
        <p:spPr>
          <a:xfrm>
            <a:off x="7448741" y="2920757"/>
            <a:ext cx="3514398" cy="1464332"/>
          </a:xfrm>
          <a:custGeom>
            <a:avLst/>
            <a:gdLst/>
            <a:ahLst/>
            <a:cxnLst/>
            <a:rect l="l" t="t" r="r" b="b"/>
            <a:pathLst>
              <a:path w="3514398" h="1464332">
                <a:moveTo>
                  <a:pt x="0" y="0"/>
                </a:moveTo>
                <a:lnTo>
                  <a:pt x="878599" y="366083"/>
                </a:lnTo>
                <a:lnTo>
                  <a:pt x="1757199" y="1098249"/>
                </a:lnTo>
                <a:lnTo>
                  <a:pt x="2635798" y="1464332"/>
                </a:lnTo>
                <a:lnTo>
                  <a:pt x="3514398" y="1464332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5" name="S11-mark517"/>
          <p:cNvSpPr/>
          <p:nvPr/>
        </p:nvSpPr>
        <p:spPr>
          <a:xfrm flipV="1">
            <a:off x="7448741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1-mark518"/>
          <p:cNvSpPr/>
          <p:nvPr/>
        </p:nvSpPr>
        <p:spPr>
          <a:xfrm flipV="1">
            <a:off x="8327341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1-mark519"/>
          <p:cNvSpPr/>
          <p:nvPr/>
        </p:nvSpPr>
        <p:spPr>
          <a:xfrm flipV="1">
            <a:off x="9205940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1-mark520"/>
          <p:cNvSpPr/>
          <p:nvPr/>
        </p:nvSpPr>
        <p:spPr>
          <a:xfrm flipV="1">
            <a:off x="10084540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1-mark521"/>
          <p:cNvSpPr/>
          <p:nvPr/>
        </p:nvSpPr>
        <p:spPr>
          <a:xfrm flipV="1">
            <a:off x="10963139" y="2920757"/>
            <a:ext cx="0" cy="219649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522"/>
          <p:cNvSpPr/>
          <p:nvPr/>
        </p:nvSpPr>
        <p:spPr>
          <a:xfrm>
            <a:off x="6899617" y="4751172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523"/>
          <p:cNvSpPr/>
          <p:nvPr/>
        </p:nvSpPr>
        <p:spPr>
          <a:xfrm>
            <a:off x="6899617" y="4385089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524"/>
          <p:cNvSpPr/>
          <p:nvPr/>
        </p:nvSpPr>
        <p:spPr>
          <a:xfrm>
            <a:off x="6899617" y="4019006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525"/>
          <p:cNvSpPr/>
          <p:nvPr/>
        </p:nvSpPr>
        <p:spPr>
          <a:xfrm>
            <a:off x="6899617" y="3652923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526"/>
          <p:cNvSpPr/>
          <p:nvPr/>
        </p:nvSpPr>
        <p:spPr>
          <a:xfrm>
            <a:off x="6899617" y="3286840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527"/>
          <p:cNvSpPr/>
          <p:nvPr/>
        </p:nvSpPr>
        <p:spPr>
          <a:xfrm>
            <a:off x="6899617" y="2920757"/>
            <a:ext cx="461264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528"/>
          <p:cNvSpPr/>
          <p:nvPr/>
        </p:nvSpPr>
        <p:spPr>
          <a:xfrm>
            <a:off x="6899617" y="5117255"/>
            <a:ext cx="461264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11-mark529"/>
          <p:cNvSpPr/>
          <p:nvPr/>
        </p:nvSpPr>
        <p:spPr>
          <a:xfrm flipV="1">
            <a:off x="6899617" y="2774324"/>
            <a:ext cx="0" cy="197684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1-mark530"/>
          <p:cNvSpPr/>
          <p:nvPr/>
        </p:nvSpPr>
        <p:spPr>
          <a:xfrm>
            <a:off x="7389305" y="286132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1-mark531"/>
          <p:cNvSpPr/>
          <p:nvPr/>
        </p:nvSpPr>
        <p:spPr>
          <a:xfrm>
            <a:off x="8267905" y="32274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1-mark532"/>
          <p:cNvSpPr/>
          <p:nvPr/>
        </p:nvSpPr>
        <p:spPr>
          <a:xfrm>
            <a:off x="9146504" y="395957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1-mark533"/>
          <p:cNvSpPr/>
          <p:nvPr/>
        </p:nvSpPr>
        <p:spPr>
          <a:xfrm>
            <a:off x="10025104" y="432565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1-mark534"/>
          <p:cNvSpPr/>
          <p:nvPr/>
        </p:nvSpPr>
        <p:spPr>
          <a:xfrm>
            <a:off x="10903703" y="432565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1-label536"/>
          <p:cNvSpPr txBox="1"/>
          <p:nvPr/>
        </p:nvSpPr>
        <p:spPr>
          <a:xfrm>
            <a:off x="6432998" y="492675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4" name="S11-label538"/>
          <p:cNvSpPr txBox="1"/>
          <p:nvPr/>
        </p:nvSpPr>
        <p:spPr>
          <a:xfrm>
            <a:off x="6332414" y="4560672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5" name="S11-label540"/>
          <p:cNvSpPr txBox="1"/>
          <p:nvPr/>
        </p:nvSpPr>
        <p:spPr>
          <a:xfrm>
            <a:off x="6332414" y="419458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400" dirty="0"/>
          </a:p>
        </p:txBody>
      </p:sp>
      <p:sp>
        <p:nvSpPr>
          <p:cNvPr id="26" name="S11-label542"/>
          <p:cNvSpPr txBox="1"/>
          <p:nvPr/>
        </p:nvSpPr>
        <p:spPr>
          <a:xfrm>
            <a:off x="6332414" y="382850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27" name="S11-label544"/>
          <p:cNvSpPr txBox="1"/>
          <p:nvPr/>
        </p:nvSpPr>
        <p:spPr>
          <a:xfrm>
            <a:off x="6332414" y="34624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28" name="S11-label546"/>
          <p:cNvSpPr txBox="1"/>
          <p:nvPr/>
        </p:nvSpPr>
        <p:spPr>
          <a:xfrm>
            <a:off x="6332414" y="309634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9" name="S11-label548"/>
          <p:cNvSpPr txBox="1"/>
          <p:nvPr/>
        </p:nvSpPr>
        <p:spPr>
          <a:xfrm>
            <a:off x="6332414" y="273025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400" dirty="0"/>
          </a:p>
        </p:txBody>
      </p:sp>
      <p:sp>
        <p:nvSpPr>
          <p:cNvPr id="30" name="S11-label550"/>
          <p:cNvSpPr txBox="1"/>
          <p:nvPr/>
        </p:nvSpPr>
        <p:spPr>
          <a:xfrm>
            <a:off x="6201350" y="236417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1" name="S11-label552"/>
          <p:cNvSpPr txBox="1"/>
          <p:nvPr/>
        </p:nvSpPr>
        <p:spPr>
          <a:xfrm>
            <a:off x="7143941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</a:t>
            </a:r>
            <a:endParaRPr lang="ko-KR" sz="2400" dirty="0"/>
          </a:p>
        </p:txBody>
      </p:sp>
      <p:sp>
        <p:nvSpPr>
          <p:cNvPr id="32" name="S11-label554"/>
          <p:cNvSpPr txBox="1"/>
          <p:nvPr/>
        </p:nvSpPr>
        <p:spPr>
          <a:xfrm>
            <a:off x="8022541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6시</a:t>
            </a:r>
            <a:endParaRPr lang="ko-KR" sz="2400" dirty="0"/>
          </a:p>
        </p:txBody>
      </p:sp>
      <p:sp>
        <p:nvSpPr>
          <p:cNvPr id="33" name="S11-label556"/>
          <p:cNvSpPr txBox="1"/>
          <p:nvPr/>
        </p:nvSpPr>
        <p:spPr>
          <a:xfrm>
            <a:off x="8901140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</a:t>
            </a:r>
            <a:endParaRPr lang="ko-KR" sz="2400" dirty="0"/>
          </a:p>
        </p:txBody>
      </p:sp>
      <p:sp>
        <p:nvSpPr>
          <p:cNvPr id="34" name="S11-label558"/>
          <p:cNvSpPr txBox="1"/>
          <p:nvPr/>
        </p:nvSpPr>
        <p:spPr>
          <a:xfrm>
            <a:off x="9779740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</a:t>
            </a:r>
            <a:endParaRPr lang="ko-KR" sz="2400" dirty="0"/>
          </a:p>
        </p:txBody>
      </p:sp>
      <p:sp>
        <p:nvSpPr>
          <p:cNvPr id="35" name="S11-label560"/>
          <p:cNvSpPr txBox="1"/>
          <p:nvPr/>
        </p:nvSpPr>
        <p:spPr>
          <a:xfrm>
            <a:off x="10658339" y="516470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6" name="S11-label562"/>
          <p:cNvSpPr txBox="1"/>
          <p:nvPr/>
        </p:nvSpPr>
        <p:spPr>
          <a:xfrm>
            <a:off x="8507948" y="1998091"/>
            <a:ext cx="13959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기온</a:t>
            </a:r>
            <a:endParaRPr lang="ko-KR" sz="2400" dirty="0"/>
          </a:p>
        </p:txBody>
      </p:sp>
      <p:sp>
        <p:nvSpPr>
          <p:cNvPr id="37" name="S11-chip56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8" name="S11-text56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7시의 기온은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도일까요?</a:t>
            </a:r>
            <a:endParaRPr lang="ko-KR" sz="3000" dirty="0"/>
          </a:p>
        </p:txBody>
      </p:sp>
      <p:sp>
        <p:nvSpPr>
          <p:cNvPr id="39" name="S11-chip56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0" name="S11-text566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내려간 때는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언제와 언제 사이?</a:t>
            </a:r>
            <a:endParaRPr lang="ko-KR" sz="3000" dirty="0"/>
          </a:p>
        </p:txBody>
      </p:sp>
      <p:sp>
        <p:nvSpPr>
          <p:cNvPr id="41" name="S11-chip56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2" name="S11-text568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9시는 5시보다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 낮을까요?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000" dirty="0"/>
          </a:p>
        </p:txBody>
      </p:sp>
      <p:sp>
        <p:nvSpPr>
          <p:cNvPr id="3" name="S13-card569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570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16도, 10시 18도, 11시 22도, 12시 24도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 온도에 맞는 그래프를 고르고, 물결선이 줄인 부분을 말해요.</a:t>
            </a:r>
            <a:endParaRPr lang="ko-KR" sz="3000" dirty="0"/>
          </a:p>
        </p:txBody>
      </p:sp>
      <p:sp>
        <p:nvSpPr>
          <p:cNvPr id="5" name="S13-chip571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figure572" descr="꺾은선그래프(세로 눈금 한 칸 2, 물결선 위 16부터): 9시 16, 10시 18, 11시 20, 12시 24"/>
          <p:cNvSpPr/>
          <p:nvPr/>
        </p:nvSpPr>
        <p:spPr>
          <a:xfrm>
            <a:off x="1611862" y="3953719"/>
            <a:ext cx="205493" cy="342488"/>
          </a:xfrm>
          <a:custGeom>
            <a:avLst/>
            <a:gdLst/>
            <a:ahLst/>
            <a:cxnLst/>
            <a:rect l="l" t="t" r="r" b="b"/>
            <a:pathLst>
              <a:path w="205493" h="342488">
                <a:moveTo>
                  <a:pt x="102746" y="342488"/>
                </a:moveTo>
                <a:lnTo>
                  <a:pt x="102746" y="291115"/>
                </a:lnTo>
                <a:lnTo>
                  <a:pt x="0" y="232892"/>
                </a:lnTo>
                <a:lnTo>
                  <a:pt x="205493" y="171244"/>
                </a:lnTo>
                <a:lnTo>
                  <a:pt x="0" y="109596"/>
                </a:lnTo>
                <a:lnTo>
                  <a:pt x="102746" y="51373"/>
                </a:lnTo>
                <a:lnTo>
                  <a:pt x="102746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3-mark573"/>
          <p:cNvSpPr/>
          <p:nvPr/>
        </p:nvSpPr>
        <p:spPr>
          <a:xfrm>
            <a:off x="2228340" y="2583767"/>
            <a:ext cx="2465914" cy="1369952"/>
          </a:xfrm>
          <a:custGeom>
            <a:avLst/>
            <a:gdLst/>
            <a:ahLst/>
            <a:cxnLst/>
            <a:rect l="l" t="t" r="r" b="b"/>
            <a:pathLst>
              <a:path w="2465914" h="1369952">
                <a:moveTo>
                  <a:pt x="0" y="1369952"/>
                </a:moveTo>
                <a:lnTo>
                  <a:pt x="821971" y="1027464"/>
                </a:lnTo>
                <a:lnTo>
                  <a:pt x="1643943" y="684976"/>
                </a:lnTo>
                <a:lnTo>
                  <a:pt x="2465914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8" name="S13-mark574"/>
          <p:cNvSpPr/>
          <p:nvPr/>
        </p:nvSpPr>
        <p:spPr>
          <a:xfrm flipV="1">
            <a:off x="2228340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575"/>
          <p:cNvSpPr/>
          <p:nvPr/>
        </p:nvSpPr>
        <p:spPr>
          <a:xfrm flipV="1">
            <a:off x="3050312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576"/>
          <p:cNvSpPr/>
          <p:nvPr/>
        </p:nvSpPr>
        <p:spPr>
          <a:xfrm flipV="1">
            <a:off x="3872283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577"/>
          <p:cNvSpPr/>
          <p:nvPr/>
        </p:nvSpPr>
        <p:spPr>
          <a:xfrm flipV="1">
            <a:off x="4694255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578"/>
          <p:cNvSpPr/>
          <p:nvPr/>
        </p:nvSpPr>
        <p:spPr>
          <a:xfrm>
            <a:off x="1714608" y="3953719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579"/>
          <p:cNvSpPr/>
          <p:nvPr/>
        </p:nvSpPr>
        <p:spPr>
          <a:xfrm>
            <a:off x="1714608" y="3611231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580"/>
          <p:cNvSpPr/>
          <p:nvPr/>
        </p:nvSpPr>
        <p:spPr>
          <a:xfrm>
            <a:off x="1714608" y="3268743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3-mark581"/>
          <p:cNvSpPr/>
          <p:nvPr/>
        </p:nvSpPr>
        <p:spPr>
          <a:xfrm>
            <a:off x="1714608" y="2926255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3-mark582"/>
          <p:cNvSpPr/>
          <p:nvPr/>
        </p:nvSpPr>
        <p:spPr>
          <a:xfrm>
            <a:off x="1714608" y="2583767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3-mark583"/>
          <p:cNvSpPr/>
          <p:nvPr/>
        </p:nvSpPr>
        <p:spPr>
          <a:xfrm>
            <a:off x="1714608" y="4296207"/>
            <a:ext cx="349337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3-mark584"/>
          <p:cNvSpPr/>
          <p:nvPr/>
        </p:nvSpPr>
        <p:spPr>
          <a:xfrm flipV="1">
            <a:off x="1714608" y="2446772"/>
            <a:ext cx="0" cy="150694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13-mark585"/>
          <p:cNvSpPr/>
          <p:nvPr/>
        </p:nvSpPr>
        <p:spPr>
          <a:xfrm>
            <a:off x="2168904" y="389428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mark586"/>
          <p:cNvSpPr/>
          <p:nvPr/>
        </p:nvSpPr>
        <p:spPr>
          <a:xfrm>
            <a:off x="2990876" y="355179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mark587"/>
          <p:cNvSpPr/>
          <p:nvPr/>
        </p:nvSpPr>
        <p:spPr>
          <a:xfrm>
            <a:off x="3812847" y="320930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mark588"/>
          <p:cNvSpPr/>
          <p:nvPr/>
        </p:nvSpPr>
        <p:spPr>
          <a:xfrm>
            <a:off x="4634819" y="252433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label590"/>
          <p:cNvSpPr txBox="1"/>
          <p:nvPr/>
        </p:nvSpPr>
        <p:spPr>
          <a:xfrm>
            <a:off x="1268045" y="410570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4" name="S13-label592"/>
          <p:cNvSpPr txBox="1"/>
          <p:nvPr/>
        </p:nvSpPr>
        <p:spPr>
          <a:xfrm>
            <a:off x="1167461" y="376321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25" name="S13-label594"/>
          <p:cNvSpPr txBox="1"/>
          <p:nvPr/>
        </p:nvSpPr>
        <p:spPr>
          <a:xfrm>
            <a:off x="1167461" y="342073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26" name="S13-label596"/>
          <p:cNvSpPr txBox="1"/>
          <p:nvPr/>
        </p:nvSpPr>
        <p:spPr>
          <a:xfrm>
            <a:off x="1167461" y="307824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7" name="S13-label598"/>
          <p:cNvSpPr txBox="1"/>
          <p:nvPr/>
        </p:nvSpPr>
        <p:spPr>
          <a:xfrm>
            <a:off x="1167461" y="2735755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400" dirty="0"/>
          </a:p>
        </p:txBody>
      </p:sp>
      <p:sp>
        <p:nvSpPr>
          <p:cNvPr id="28" name="S13-label600"/>
          <p:cNvSpPr txBox="1"/>
          <p:nvPr/>
        </p:nvSpPr>
        <p:spPr>
          <a:xfrm>
            <a:off x="1167461" y="239326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400" dirty="0"/>
          </a:p>
        </p:txBody>
      </p:sp>
      <p:sp>
        <p:nvSpPr>
          <p:cNvPr id="29" name="S13-label602"/>
          <p:cNvSpPr txBox="1"/>
          <p:nvPr/>
        </p:nvSpPr>
        <p:spPr>
          <a:xfrm>
            <a:off x="1036397" y="2050779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30" name="S13-label604"/>
          <p:cNvSpPr txBox="1"/>
          <p:nvPr/>
        </p:nvSpPr>
        <p:spPr>
          <a:xfrm>
            <a:off x="1923540" y="4328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31" name="S13-label606"/>
          <p:cNvSpPr txBox="1"/>
          <p:nvPr/>
        </p:nvSpPr>
        <p:spPr>
          <a:xfrm>
            <a:off x="2644928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32" name="S13-label608"/>
          <p:cNvSpPr txBox="1"/>
          <p:nvPr/>
        </p:nvSpPr>
        <p:spPr>
          <a:xfrm>
            <a:off x="3466899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33" name="S13-label610"/>
          <p:cNvSpPr txBox="1"/>
          <p:nvPr/>
        </p:nvSpPr>
        <p:spPr>
          <a:xfrm>
            <a:off x="4288871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34" name="S13-chip611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5" name="S13-figure612" descr="꺾은선그래프(세로 눈금 한 칸 2, 물결선 위 16부터): 9시 16, 10시 18, 11시 22, 12시 24"/>
          <p:cNvSpPr/>
          <p:nvPr/>
        </p:nvSpPr>
        <p:spPr>
          <a:xfrm>
            <a:off x="7340578" y="3953719"/>
            <a:ext cx="205493" cy="342488"/>
          </a:xfrm>
          <a:custGeom>
            <a:avLst/>
            <a:gdLst/>
            <a:ahLst/>
            <a:cxnLst/>
            <a:rect l="l" t="t" r="r" b="b"/>
            <a:pathLst>
              <a:path w="205493" h="342488">
                <a:moveTo>
                  <a:pt x="102746" y="342488"/>
                </a:moveTo>
                <a:lnTo>
                  <a:pt x="102746" y="291115"/>
                </a:lnTo>
                <a:lnTo>
                  <a:pt x="0" y="232892"/>
                </a:lnTo>
                <a:lnTo>
                  <a:pt x="205493" y="171244"/>
                </a:lnTo>
                <a:lnTo>
                  <a:pt x="0" y="109596"/>
                </a:lnTo>
                <a:lnTo>
                  <a:pt x="102746" y="51373"/>
                </a:lnTo>
                <a:lnTo>
                  <a:pt x="102746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13-mark613"/>
          <p:cNvSpPr/>
          <p:nvPr/>
        </p:nvSpPr>
        <p:spPr>
          <a:xfrm>
            <a:off x="7957056" y="2583767"/>
            <a:ext cx="2465914" cy="1369952"/>
          </a:xfrm>
          <a:custGeom>
            <a:avLst/>
            <a:gdLst/>
            <a:ahLst/>
            <a:cxnLst/>
            <a:rect l="l" t="t" r="r" b="b"/>
            <a:pathLst>
              <a:path w="2465914" h="1369952">
                <a:moveTo>
                  <a:pt x="0" y="1369952"/>
                </a:moveTo>
                <a:lnTo>
                  <a:pt x="821971" y="1027464"/>
                </a:lnTo>
                <a:lnTo>
                  <a:pt x="1643943" y="342488"/>
                </a:lnTo>
                <a:lnTo>
                  <a:pt x="2465914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37" name="S13-mark614"/>
          <p:cNvSpPr/>
          <p:nvPr/>
        </p:nvSpPr>
        <p:spPr>
          <a:xfrm flipV="1">
            <a:off x="7957056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3-mark615"/>
          <p:cNvSpPr/>
          <p:nvPr/>
        </p:nvSpPr>
        <p:spPr>
          <a:xfrm flipV="1">
            <a:off x="8779028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3-mark616"/>
          <p:cNvSpPr/>
          <p:nvPr/>
        </p:nvSpPr>
        <p:spPr>
          <a:xfrm flipV="1">
            <a:off x="9600999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3-mark617"/>
          <p:cNvSpPr/>
          <p:nvPr/>
        </p:nvSpPr>
        <p:spPr>
          <a:xfrm flipV="1">
            <a:off x="10422971" y="2583767"/>
            <a:ext cx="0" cy="171244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3-mark618"/>
          <p:cNvSpPr/>
          <p:nvPr/>
        </p:nvSpPr>
        <p:spPr>
          <a:xfrm>
            <a:off x="7443324" y="3953719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3-mark619"/>
          <p:cNvSpPr/>
          <p:nvPr/>
        </p:nvSpPr>
        <p:spPr>
          <a:xfrm>
            <a:off x="7443324" y="3611231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13-mark620"/>
          <p:cNvSpPr/>
          <p:nvPr/>
        </p:nvSpPr>
        <p:spPr>
          <a:xfrm>
            <a:off x="7443324" y="3268743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3-mark621"/>
          <p:cNvSpPr/>
          <p:nvPr/>
        </p:nvSpPr>
        <p:spPr>
          <a:xfrm>
            <a:off x="7443324" y="2926255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3-mark622"/>
          <p:cNvSpPr/>
          <p:nvPr/>
        </p:nvSpPr>
        <p:spPr>
          <a:xfrm>
            <a:off x="7443324" y="2583767"/>
            <a:ext cx="349337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3-mark623"/>
          <p:cNvSpPr/>
          <p:nvPr/>
        </p:nvSpPr>
        <p:spPr>
          <a:xfrm>
            <a:off x="7443324" y="4296207"/>
            <a:ext cx="349337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7" name="S13-mark624"/>
          <p:cNvSpPr/>
          <p:nvPr/>
        </p:nvSpPr>
        <p:spPr>
          <a:xfrm flipV="1">
            <a:off x="7443324" y="2446772"/>
            <a:ext cx="0" cy="150694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8" name="S13-mark625"/>
          <p:cNvSpPr/>
          <p:nvPr/>
        </p:nvSpPr>
        <p:spPr>
          <a:xfrm>
            <a:off x="7897620" y="389428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mark626"/>
          <p:cNvSpPr/>
          <p:nvPr/>
        </p:nvSpPr>
        <p:spPr>
          <a:xfrm>
            <a:off x="8719592" y="355179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mark627"/>
          <p:cNvSpPr/>
          <p:nvPr/>
        </p:nvSpPr>
        <p:spPr>
          <a:xfrm>
            <a:off x="9541563" y="28668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mark628"/>
          <p:cNvSpPr/>
          <p:nvPr/>
        </p:nvSpPr>
        <p:spPr>
          <a:xfrm>
            <a:off x="10363535" y="252433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3-label630"/>
          <p:cNvSpPr txBox="1"/>
          <p:nvPr/>
        </p:nvSpPr>
        <p:spPr>
          <a:xfrm>
            <a:off x="6996761" y="410570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53" name="S13-label632"/>
          <p:cNvSpPr txBox="1"/>
          <p:nvPr/>
        </p:nvSpPr>
        <p:spPr>
          <a:xfrm>
            <a:off x="6896177" y="376321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400" dirty="0"/>
          </a:p>
        </p:txBody>
      </p:sp>
      <p:sp>
        <p:nvSpPr>
          <p:cNvPr id="54" name="S13-label634"/>
          <p:cNvSpPr txBox="1"/>
          <p:nvPr/>
        </p:nvSpPr>
        <p:spPr>
          <a:xfrm>
            <a:off x="6896177" y="342073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55" name="S13-label636"/>
          <p:cNvSpPr txBox="1"/>
          <p:nvPr/>
        </p:nvSpPr>
        <p:spPr>
          <a:xfrm>
            <a:off x="6896177" y="307824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56" name="S13-label638"/>
          <p:cNvSpPr txBox="1"/>
          <p:nvPr/>
        </p:nvSpPr>
        <p:spPr>
          <a:xfrm>
            <a:off x="6896177" y="2735755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2400" dirty="0"/>
          </a:p>
        </p:txBody>
      </p:sp>
      <p:sp>
        <p:nvSpPr>
          <p:cNvPr id="57" name="S13-label640"/>
          <p:cNvSpPr txBox="1"/>
          <p:nvPr/>
        </p:nvSpPr>
        <p:spPr>
          <a:xfrm>
            <a:off x="6896177" y="239326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400" dirty="0"/>
          </a:p>
        </p:txBody>
      </p:sp>
      <p:sp>
        <p:nvSpPr>
          <p:cNvPr id="58" name="S13-label642"/>
          <p:cNvSpPr txBox="1"/>
          <p:nvPr/>
        </p:nvSpPr>
        <p:spPr>
          <a:xfrm>
            <a:off x="6765113" y="2050779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(도)</a:t>
            </a:r>
            <a:endParaRPr lang="ko-KR" sz="2400" dirty="0"/>
          </a:p>
        </p:txBody>
      </p:sp>
      <p:sp>
        <p:nvSpPr>
          <p:cNvPr id="59" name="S13-label644"/>
          <p:cNvSpPr txBox="1"/>
          <p:nvPr/>
        </p:nvSpPr>
        <p:spPr>
          <a:xfrm>
            <a:off x="7652256" y="43283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400" dirty="0"/>
          </a:p>
        </p:txBody>
      </p:sp>
      <p:sp>
        <p:nvSpPr>
          <p:cNvPr id="60" name="S13-label646"/>
          <p:cNvSpPr txBox="1"/>
          <p:nvPr/>
        </p:nvSpPr>
        <p:spPr>
          <a:xfrm>
            <a:off x="8373644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400" dirty="0"/>
          </a:p>
        </p:txBody>
      </p:sp>
      <p:sp>
        <p:nvSpPr>
          <p:cNvPr id="61" name="S13-label648"/>
          <p:cNvSpPr txBox="1"/>
          <p:nvPr/>
        </p:nvSpPr>
        <p:spPr>
          <a:xfrm>
            <a:off x="9195615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400" dirty="0"/>
          </a:p>
        </p:txBody>
      </p:sp>
      <p:sp>
        <p:nvSpPr>
          <p:cNvPr id="62" name="S13-label650"/>
          <p:cNvSpPr txBox="1"/>
          <p:nvPr/>
        </p:nvSpPr>
        <p:spPr>
          <a:xfrm>
            <a:off x="10017587" y="4328325"/>
            <a:ext cx="810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65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65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꺾은선그래프는 시간에 따른 변화를 보여 줘요. 선분이 많이 기울수록 변화가 커요.</a:t>
            </a:r>
            <a:endParaRPr lang="ko-KR" sz="3000" dirty="0"/>
          </a:p>
        </p:txBody>
      </p:sp>
      <p:sp>
        <p:nvSpPr>
          <p:cNvPr id="5" name="S14-chip65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필요 없는 부분은 물결선으로</a:t>
            </a:r>
            <a:endParaRPr lang="ko-KR" sz="2400" dirty="0"/>
          </a:p>
        </p:txBody>
      </p:sp>
      <p:sp>
        <p:nvSpPr>
          <p:cNvPr id="6" name="S14-chip65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가장 높은 점을 많이 변한 때로 읽기</a:t>
            </a:r>
            <a:endParaRPr lang="ko-KR" sz="2200" dirty="0"/>
          </a:p>
        </p:txBody>
      </p:sp>
      <p:sp>
        <p:nvSpPr>
          <p:cNvPr id="7" name="S14-text65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65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칸이 2도일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 오르면 몇 도?</a:t>
            </a:r>
            <a:endParaRPr lang="ko-KR" sz="2400" dirty="0"/>
          </a:p>
        </p:txBody>
      </p:sp>
      <p:sp>
        <p:nvSpPr>
          <p:cNvPr id="9" name="S14-text65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선분이 평평하면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뜻해요?</a:t>
            </a:r>
            <a:endParaRPr lang="ko-KR" sz="2400" dirty="0"/>
          </a:p>
        </p:txBody>
      </p:sp>
      <p:sp>
        <p:nvSpPr>
          <p:cNvPr id="10" name="S14-text65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물결선은 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써요?</a:t>
            </a:r>
            <a:endParaRPr lang="ko-KR" sz="2400" dirty="0"/>
          </a:p>
        </p:txBody>
      </p:sp>
      <p:sp>
        <p:nvSpPr>
          <p:cNvPr id="11" name="S14-text65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계산식의 규칙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눈금 한 칸 찾기</a:t>
            </a:r>
            <a:endParaRPr lang="ko-KR" sz="4000" dirty="0"/>
          </a:p>
        </p:txBody>
      </p:sp>
      <p:sp>
        <p:nvSpPr>
          <p:cNvPr id="3" name="S15-card66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66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숫자가 1씩 커지면 한 칸은 1이에요.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끝에서 옆으로 따라가 숫자를 읽어요.</a:t>
            </a:r>
            <a:endParaRPr lang="ko-KR" sz="3000" dirty="0"/>
          </a:p>
        </p:txBody>
      </p:sp>
      <p:sp>
        <p:nvSpPr>
          <p:cNvPr id="5" name="S15-figure662" descr="막대그래프 ‘과일 가게의 상자 수’(세로 눈금 한 칸 1): 사과 4, 배 6, 감 3"/>
          <p:cNvSpPr/>
          <p:nvPr/>
        </p:nvSpPr>
        <p:spPr>
          <a:xfrm>
            <a:off x="5297702" y="2925193"/>
            <a:ext cx="411238" cy="1370794"/>
          </a:xfrm>
          <a:custGeom>
            <a:avLst/>
            <a:gdLst/>
            <a:ahLst/>
            <a:cxnLst/>
            <a:rect l="l" t="t" r="r" b="b"/>
            <a:pathLst>
              <a:path w="411238" h="1370794">
                <a:moveTo>
                  <a:pt x="0" y="1370794"/>
                </a:moveTo>
                <a:lnTo>
                  <a:pt x="411238" y="1370794"/>
                </a:lnTo>
                <a:lnTo>
                  <a:pt x="41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mark663"/>
          <p:cNvSpPr/>
          <p:nvPr/>
        </p:nvSpPr>
        <p:spPr>
          <a:xfrm>
            <a:off x="6120178" y="2239796"/>
            <a:ext cx="411238" cy="2056190"/>
          </a:xfrm>
          <a:custGeom>
            <a:avLst/>
            <a:gdLst/>
            <a:ahLst/>
            <a:cxnLst/>
            <a:rect l="l" t="t" r="r" b="b"/>
            <a:pathLst>
              <a:path w="411238" h="2056190">
                <a:moveTo>
                  <a:pt x="0" y="2056190"/>
                </a:moveTo>
                <a:lnTo>
                  <a:pt x="411238" y="2056190"/>
                </a:lnTo>
                <a:lnTo>
                  <a:pt x="41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664"/>
          <p:cNvSpPr/>
          <p:nvPr/>
        </p:nvSpPr>
        <p:spPr>
          <a:xfrm>
            <a:off x="6942655" y="3267891"/>
            <a:ext cx="411238" cy="1028095"/>
          </a:xfrm>
          <a:custGeom>
            <a:avLst/>
            <a:gdLst/>
            <a:ahLst/>
            <a:cxnLst/>
            <a:rect l="l" t="t" r="r" b="b"/>
            <a:pathLst>
              <a:path w="411238" h="1028095">
                <a:moveTo>
                  <a:pt x="0" y="1028095"/>
                </a:moveTo>
                <a:lnTo>
                  <a:pt x="411238" y="1028095"/>
                </a:lnTo>
                <a:lnTo>
                  <a:pt x="41123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5-mark665"/>
          <p:cNvSpPr/>
          <p:nvPr/>
        </p:nvSpPr>
        <p:spPr>
          <a:xfrm>
            <a:off x="4989274" y="3953288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666"/>
          <p:cNvSpPr/>
          <p:nvPr/>
        </p:nvSpPr>
        <p:spPr>
          <a:xfrm>
            <a:off x="4989274" y="3610590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667"/>
          <p:cNvSpPr/>
          <p:nvPr/>
        </p:nvSpPr>
        <p:spPr>
          <a:xfrm>
            <a:off x="4989274" y="3267891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668"/>
          <p:cNvSpPr/>
          <p:nvPr/>
        </p:nvSpPr>
        <p:spPr>
          <a:xfrm>
            <a:off x="4989274" y="2925193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669"/>
          <p:cNvSpPr/>
          <p:nvPr/>
        </p:nvSpPr>
        <p:spPr>
          <a:xfrm>
            <a:off x="4989274" y="2582495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670"/>
          <p:cNvSpPr/>
          <p:nvPr/>
        </p:nvSpPr>
        <p:spPr>
          <a:xfrm>
            <a:off x="4989274" y="2239796"/>
            <a:ext cx="267304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671"/>
          <p:cNvSpPr/>
          <p:nvPr/>
        </p:nvSpPr>
        <p:spPr>
          <a:xfrm>
            <a:off x="4989274" y="4295987"/>
            <a:ext cx="267304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5-mark672"/>
          <p:cNvSpPr/>
          <p:nvPr/>
        </p:nvSpPr>
        <p:spPr>
          <a:xfrm flipV="1">
            <a:off x="4989274" y="2102717"/>
            <a:ext cx="0" cy="219327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5-label674"/>
          <p:cNvSpPr txBox="1"/>
          <p:nvPr/>
        </p:nvSpPr>
        <p:spPr>
          <a:xfrm>
            <a:off x="4542532" y="410548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15-label676"/>
          <p:cNvSpPr txBox="1"/>
          <p:nvPr/>
        </p:nvSpPr>
        <p:spPr>
          <a:xfrm>
            <a:off x="4542532" y="410548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15-label678"/>
          <p:cNvSpPr txBox="1"/>
          <p:nvPr/>
        </p:nvSpPr>
        <p:spPr>
          <a:xfrm>
            <a:off x="4542532" y="376278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15-label680"/>
          <p:cNvSpPr txBox="1"/>
          <p:nvPr/>
        </p:nvSpPr>
        <p:spPr>
          <a:xfrm>
            <a:off x="4542532" y="342009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0" name="S15-label682"/>
          <p:cNvSpPr txBox="1"/>
          <p:nvPr/>
        </p:nvSpPr>
        <p:spPr>
          <a:xfrm>
            <a:off x="4542532" y="307739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15-label684"/>
          <p:cNvSpPr txBox="1"/>
          <p:nvPr/>
        </p:nvSpPr>
        <p:spPr>
          <a:xfrm>
            <a:off x="4542532" y="273469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2" name="S15-label686"/>
          <p:cNvSpPr txBox="1"/>
          <p:nvPr/>
        </p:nvSpPr>
        <p:spPr>
          <a:xfrm>
            <a:off x="4542532" y="23919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3" name="S15-label688"/>
          <p:cNvSpPr txBox="1"/>
          <p:nvPr/>
        </p:nvSpPr>
        <p:spPr>
          <a:xfrm>
            <a:off x="4542532" y="20492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4" name="S15-label690"/>
          <p:cNvSpPr txBox="1"/>
          <p:nvPr/>
        </p:nvSpPr>
        <p:spPr>
          <a:xfrm>
            <a:off x="4310884" y="1706598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(개)</a:t>
            </a:r>
            <a:endParaRPr lang="ko-KR" sz="2400" dirty="0"/>
          </a:p>
        </p:txBody>
      </p:sp>
      <p:sp>
        <p:nvSpPr>
          <p:cNvPr id="25" name="S15-label692"/>
          <p:cNvSpPr txBox="1"/>
          <p:nvPr/>
        </p:nvSpPr>
        <p:spPr>
          <a:xfrm>
            <a:off x="5149753" y="432824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400" dirty="0"/>
          </a:p>
        </p:txBody>
      </p:sp>
      <p:sp>
        <p:nvSpPr>
          <p:cNvPr id="26" name="S15-label694"/>
          <p:cNvSpPr txBox="1"/>
          <p:nvPr/>
        </p:nvSpPr>
        <p:spPr>
          <a:xfrm>
            <a:off x="6121581" y="43282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2400" dirty="0"/>
          </a:p>
        </p:txBody>
      </p:sp>
      <p:sp>
        <p:nvSpPr>
          <p:cNvPr id="27" name="S15-label696"/>
          <p:cNvSpPr txBox="1"/>
          <p:nvPr/>
        </p:nvSpPr>
        <p:spPr>
          <a:xfrm>
            <a:off x="6944058" y="43282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2400" dirty="0"/>
          </a:p>
        </p:txBody>
      </p:sp>
      <p:sp>
        <p:nvSpPr>
          <p:cNvPr id="28" name="S15-label698"/>
          <p:cNvSpPr txBox="1"/>
          <p:nvPr/>
        </p:nvSpPr>
        <p:spPr>
          <a:xfrm>
            <a:off x="4938957" y="1363899"/>
            <a:ext cx="2773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 가게의 상자 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꺾은선그래프</dc:title>
  <dc:subject>KR22-G04-MAT-LINEGRAPH-L01</dc:subject>
  <dc:creator>education-ppt</dc:creator>
  <cp:lastModifiedBy>education-ppt</cp:lastModifiedBy>
  <cp:revision>1</cp:revision>
  <dcterms:created xsi:type="dcterms:W3CDTF">2026-10-26T08:24:36Z</dcterms:created>
  <dcterms:modified xsi:type="dcterms:W3CDTF">2026-10-26T08:24:36Z</dcterms:modified>
</cp:coreProperties>
</file>