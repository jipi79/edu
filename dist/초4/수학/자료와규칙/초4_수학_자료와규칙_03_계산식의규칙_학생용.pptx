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ecd74b1-598f-d89d-0985-b508453f817e}">
          <p14:sldIdLst>
            <p14:sldId id="256"/>
            <p14:sldId id="257"/>
          </p14:sldIdLst>
        </p14:section>
        <p14:section name="개념" id="{a5a333cd-7f50-2f27-e414-d1623010b91e}">
          <p14:sldIdLst>
            <p14:sldId id="258"/>
            <p14:sldId id="260"/>
            <p14:sldId id="261"/>
          </p14:sldIdLst>
        </p14:section>
        <p14:section name="연습" id="{6b17d415-b2f1-8651-4b7a-736e765a3e52}">
          <p14:sldIdLst>
            <p14:sldId id="259"/>
            <p14:sldId id="262"/>
            <p14:sldId id="263"/>
            <p14:sldId id="264"/>
          </p14:sldIdLst>
        </p14:section>
        <p14:section name="개념" id="{c32c220e-9542-9d96-a38c-3ee55a7e32a3}">
          <p14:sldIdLst/>
        </p14:section>
        <p14:section name="연습" id="{7a36445e-7b61-5858-92dc-01a7c013f271}">
          <p14:sldIdLst/>
        </p14:section>
        <p14:section name="확인" id="{26eb7575-df3c-f156-153d-ccfe47d0557f}">
          <p14:sldIdLst>
            <p14:sldId id="265"/>
            <p14:sldId id="266"/>
          </p14:sldIdLst>
        </p14:section>
        <p14:section name="정리" id="{d5aa7e11-fb6f-778c-5513-9c5a2842a741}">
          <p14:sldIdLst>
            <p14:sldId id="267"/>
          </p14:sldIdLst>
        </p14:section>
        <p14:section name="보충" id="{a42def7e-d16d-349b-0af0-3a3a3ca49b67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자료와규칙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계산식의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계산식의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계산식의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계산식의 규칙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올 식의 답은 무엇일까?</a:t>
            </a:r>
            <a:endParaRPr lang="ko-KR" sz="30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× 11 = 121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111 × 111 = 12321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1111 × 1111 = □</a:t>
            </a:r>
            <a:endParaRPr lang="ko-KR" sz="3000" dirty="0"/>
          </a:p>
        </p:txBody>
      </p:sp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수 배열표에서 규칙을 찾아요.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계산식의 규칙을 찾아 다음 식을 추측해요.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말하고 □에 알맞은 수를 찾아요.</a:t>
            </a:r>
            <a:endParaRPr lang="ko-KR" sz="30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 10, 15, 20, □</a:t>
            </a:r>
            <a:endParaRPr lang="ko-KR" sz="3000" dirty="0"/>
          </a:p>
        </p:txBody>
      </p:sp>
      <p:sp>
        <p:nvSpPr>
          <p:cNvPr id="6" name="S02-chip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101, 201, 301, □</a:t>
            </a:r>
            <a:endParaRPr lang="ko-KR" sz="30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1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50, 45, 40, □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배열표의 규칙</a:t>
            </a:r>
            <a:endParaRPr lang="ko-KR" sz="4000" dirty="0"/>
          </a:p>
        </p:txBody>
      </p:sp>
      <p:sp>
        <p:nvSpPr>
          <p:cNvPr id="3" name="S03-card11"/>
          <p:cNvSpPr/>
          <p:nvPr/>
        </p:nvSpPr>
        <p:spPr>
          <a:xfrm>
            <a:off x="548640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2"/>
          <p:cNvSpPr txBox="1"/>
          <p:nvPr/>
        </p:nvSpPr>
        <p:spPr>
          <a:xfrm>
            <a:off x="822960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오른쪽으로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10씩 커져요.</a:t>
            </a:r>
            <a:endParaRPr lang="ko-KR" sz="3000" dirty="0"/>
          </a:p>
        </p:txBody>
      </p:sp>
      <p:sp>
        <p:nvSpPr>
          <p:cNvPr id="5" name="S03-card13"/>
          <p:cNvSpPr/>
          <p:nvPr/>
        </p:nvSpPr>
        <p:spPr>
          <a:xfrm>
            <a:off x="4322064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4"/>
          <p:cNvSpPr txBox="1"/>
          <p:nvPr/>
        </p:nvSpPr>
        <p:spPr>
          <a:xfrm>
            <a:off x="4596384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 아래로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1000씩 커져요.</a:t>
            </a:r>
            <a:endParaRPr lang="ko-KR" sz="3000" dirty="0"/>
          </a:p>
        </p:txBody>
      </p:sp>
      <p:sp>
        <p:nvSpPr>
          <p:cNvPr id="7" name="S03-card15"/>
          <p:cNvSpPr/>
          <p:nvPr/>
        </p:nvSpPr>
        <p:spPr>
          <a:xfrm>
            <a:off x="8095488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6"/>
          <p:cNvSpPr txBox="1"/>
          <p:nvPr/>
        </p:nvSpPr>
        <p:spPr>
          <a:xfrm>
            <a:off x="8369808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↘ 방향은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몇씩 커질까요?</a:t>
            </a:r>
            <a:endParaRPr lang="ko-KR" sz="3000" dirty="0"/>
          </a:p>
        </p:txBody>
      </p:sp>
      <p:graphicFrame>
        <p:nvGraphicFramePr>
          <p:cNvPr id="4" name="S03-table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53996" y="2142363"/>
          <a:ext cx="7680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1301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1311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1321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1331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2301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2311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2321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2331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3301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3311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3321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3331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빈칸을 채워요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자리 숫자가 바뀌는지 봐요.</a:t>
            </a:r>
            <a:endParaRPr lang="ko-KR" sz="3000" dirty="0"/>
          </a:p>
        </p:txBody>
      </p:sp>
      <p:graphicFrame>
        <p:nvGraphicFramePr>
          <p:cNvPr id="5" name="S04-table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8514" y="2455545"/>
          <a:ext cx="5120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5300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5400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7400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4-chip2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4-text2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가로와 세로 규칙을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 볼까요?</a:t>
            </a:r>
            <a:endParaRPr lang="ko-KR" sz="3000" dirty="0"/>
          </a:p>
        </p:txBody>
      </p:sp>
      <p:sp>
        <p:nvSpPr>
          <p:cNvPr id="8" name="S04-chip23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4-text24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□에 알맞은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덧셈식의 규칙</a:t>
            </a:r>
            <a:endParaRPr lang="ko-KR" sz="4000" dirty="0"/>
          </a:p>
        </p:txBody>
      </p:sp>
      <p:sp>
        <p:nvSpPr>
          <p:cNvPr id="3" name="S05-card25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식은 505 + 606 = □. 규칙으로 추측하고 계산으로 확인해요.</a:t>
            </a:r>
            <a:endParaRPr lang="ko-KR" sz="3000" dirty="0"/>
          </a:p>
        </p:txBody>
      </p:sp>
      <p:sp>
        <p:nvSpPr>
          <p:cNvPr id="5" name="S05-card27"/>
          <p:cNvSpPr/>
          <p:nvPr/>
        </p:nvSpPr>
        <p:spPr>
          <a:xfrm>
            <a:off x="548640" y="3471672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8"/>
          <p:cNvSpPr txBox="1"/>
          <p:nvPr/>
        </p:nvSpPr>
        <p:spPr>
          <a:xfrm>
            <a:off x="822960" y="3608832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더하는 두 수가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 101씩 커져요.</a:t>
            </a:r>
            <a:endParaRPr lang="ko-KR" sz="3000" dirty="0"/>
          </a:p>
        </p:txBody>
      </p:sp>
      <p:sp>
        <p:nvSpPr>
          <p:cNvPr id="7" name="S05-card29"/>
          <p:cNvSpPr/>
          <p:nvPr/>
        </p:nvSpPr>
        <p:spPr>
          <a:xfrm>
            <a:off x="6208776" y="3471672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30"/>
          <p:cNvSpPr txBox="1"/>
          <p:nvPr/>
        </p:nvSpPr>
        <p:spPr>
          <a:xfrm>
            <a:off x="6483096" y="3608832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합은 202씩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커져요.</a:t>
            </a:r>
            <a:endParaRPr lang="ko-KR" sz="3000" dirty="0"/>
          </a:p>
        </p:txBody>
      </p:sp>
      <p:sp>
        <p:nvSpPr>
          <p:cNvPr id="9" name="S05-eqtext31"/>
          <p:cNvSpPr txBox="1"/>
          <p:nvPr/>
        </p:nvSpPr>
        <p:spPr>
          <a:xfrm>
            <a:off x="548640" y="1325880"/>
            <a:ext cx="11091672" cy="1917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101 + 202 = 303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 + 303 = 505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303 + 404 = 707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404 + 505 = 909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곱셈식의 규칙</a:t>
            </a:r>
            <a:endParaRPr lang="ko-KR" sz="4000" dirty="0"/>
          </a:p>
        </p:txBody>
      </p:sp>
      <p:sp>
        <p:nvSpPr>
          <p:cNvPr id="3" name="S06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11111 × 11111의 곱을 추측해 볼까요?</a:t>
            </a:r>
            <a:endParaRPr lang="ko-KR" sz="3000" dirty="0"/>
          </a:p>
        </p:txBody>
      </p:sp>
      <p:sp>
        <p:nvSpPr>
          <p:cNvPr id="5" name="S06-card34"/>
          <p:cNvSpPr/>
          <p:nvPr/>
        </p:nvSpPr>
        <p:spPr>
          <a:xfrm>
            <a:off x="548640" y="386181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35"/>
          <p:cNvSpPr txBox="1"/>
          <p:nvPr/>
        </p:nvSpPr>
        <p:spPr>
          <a:xfrm>
            <a:off x="822960" y="399897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곱하는 수의 1이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늘어나요.</a:t>
            </a:r>
            <a:endParaRPr lang="ko-KR" sz="3000" dirty="0"/>
          </a:p>
        </p:txBody>
      </p:sp>
      <p:sp>
        <p:nvSpPr>
          <p:cNvPr id="7" name="S06-card36"/>
          <p:cNvSpPr/>
          <p:nvPr/>
        </p:nvSpPr>
        <p:spPr>
          <a:xfrm>
            <a:off x="6208776" y="386181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37"/>
          <p:cNvSpPr txBox="1"/>
          <p:nvPr/>
        </p:nvSpPr>
        <p:spPr>
          <a:xfrm>
            <a:off x="6483096" y="399897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곱은 1, 2, 3 …으로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커졌다가 작아져요.</a:t>
            </a:r>
            <a:endParaRPr lang="ko-KR" sz="3000" dirty="0"/>
          </a:p>
        </p:txBody>
      </p:sp>
      <p:sp>
        <p:nvSpPr>
          <p:cNvPr id="9" name="S06-eqtext38"/>
          <p:cNvSpPr txBox="1"/>
          <p:nvPr/>
        </p:nvSpPr>
        <p:spPr>
          <a:xfrm>
            <a:off x="548640" y="1325880"/>
            <a:ext cx="11091672" cy="230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× 1 = 1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× 11 = 121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111 × 111 = 12321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1111 × 1111 = 1234321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뺄셈식의 규칙</a:t>
            </a:r>
            <a:endParaRPr lang="ko-KR" sz="4000" dirty="0"/>
          </a:p>
        </p:txBody>
      </p:sp>
      <p:sp>
        <p:nvSpPr>
          <p:cNvPr id="3" name="S07-card39"/>
          <p:cNvSpPr/>
          <p:nvPr/>
        </p:nvSpPr>
        <p:spPr>
          <a:xfrm>
            <a:off x="6277356" y="1325880"/>
            <a:ext cx="5362956" cy="4892040"/>
          </a:xfrm>
          <a:prstGeom prst="roundRect">
            <a:avLst>
              <a:gd name="adj" fmla="val 224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0"/>
          <p:cNvSpPr txBox="1"/>
          <p:nvPr/>
        </p:nvSpPr>
        <p:spPr>
          <a:xfrm>
            <a:off x="6551676" y="1463040"/>
            <a:ext cx="481431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찾아요</a:t>
            </a:r>
            <a:endParaRPr lang="ko-KR" sz="3000" dirty="0"/>
          </a:p>
        </p:txBody>
      </p:sp>
      <p:sp>
        <p:nvSpPr>
          <p:cNvPr id="5" name="S07-eqtext41"/>
          <p:cNvSpPr txBox="1"/>
          <p:nvPr/>
        </p:nvSpPr>
        <p:spPr>
          <a:xfrm>
            <a:off x="6551676" y="2011680"/>
            <a:ext cx="481431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650 − 150 = 500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750 − 250 = 500</a:t>
            </a:r>
            <a:endParaRPr lang="ko-KR" sz="3400" dirty="0"/>
          </a:p>
        </p:txBody>
      </p:sp>
      <p:sp>
        <p:nvSpPr>
          <p:cNvPr id="6" name="S07-chip4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eqtext4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850 − 350 = □</a:t>
            </a:r>
            <a:endParaRPr lang="ko-KR" sz="3400" dirty="0"/>
          </a:p>
        </p:txBody>
      </p:sp>
      <p:sp>
        <p:nvSpPr>
          <p:cNvPr id="8" name="S07-chip44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7-eqtext45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950 − □ = 500</a:t>
            </a:r>
            <a:endParaRPr lang="ko-KR" sz="3400" dirty="0"/>
          </a:p>
        </p:txBody>
      </p:sp>
      <p:sp>
        <p:nvSpPr>
          <p:cNvPr id="10" name="S07-chip46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7-text47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규칙이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나눗셈식의 규칙</a:t>
            </a:r>
            <a:endParaRPr lang="ko-KR" sz="4000" dirty="0"/>
          </a:p>
        </p:txBody>
      </p:sp>
      <p:sp>
        <p:nvSpPr>
          <p:cNvPr id="3" name="S08-card48"/>
          <p:cNvSpPr/>
          <p:nvPr/>
        </p:nvSpPr>
        <p:spPr>
          <a:xfrm>
            <a:off x="6277356" y="1325880"/>
            <a:ext cx="5362956" cy="4892040"/>
          </a:xfrm>
          <a:prstGeom prst="roundRect">
            <a:avLst>
              <a:gd name="adj" fmla="val 224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9"/>
          <p:cNvSpPr txBox="1"/>
          <p:nvPr/>
        </p:nvSpPr>
        <p:spPr>
          <a:xfrm>
            <a:off x="6551676" y="1463040"/>
            <a:ext cx="481431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찾아요</a:t>
            </a:r>
            <a:endParaRPr lang="ko-KR" sz="3000" dirty="0"/>
          </a:p>
        </p:txBody>
      </p:sp>
      <p:sp>
        <p:nvSpPr>
          <p:cNvPr id="5" name="S08-eqtext50"/>
          <p:cNvSpPr txBox="1"/>
          <p:nvPr/>
        </p:nvSpPr>
        <p:spPr>
          <a:xfrm>
            <a:off x="6551676" y="2011680"/>
            <a:ext cx="481431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121 ÷ 11 = 11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1221 ÷ 11 = 111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12221 ÷ 11 = 1111</a:t>
            </a:r>
            <a:endParaRPr lang="ko-KR" sz="3400" dirty="0"/>
          </a:p>
        </p:txBody>
      </p:sp>
      <p:sp>
        <p:nvSpPr>
          <p:cNvPr id="6" name="S08-chip5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eqtext5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122221 ÷ 11 = □</a:t>
            </a:r>
            <a:endParaRPr lang="ko-KR" sz="3400" dirty="0"/>
          </a:p>
        </p:txBody>
      </p:sp>
      <p:sp>
        <p:nvSpPr>
          <p:cNvPr id="8" name="S08-chip53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eqtext54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÷ 11 = 111111</a:t>
            </a:r>
            <a:endParaRPr lang="ko-KR" sz="3400" dirty="0"/>
          </a:p>
        </p:txBody>
      </p:sp>
      <p:sp>
        <p:nvSpPr>
          <p:cNvPr id="10" name="S08-chip55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text56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규칙이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합은 얼마씩 커질까요?</a:t>
            </a:r>
            <a:endParaRPr lang="ko-KR" sz="4000" dirty="0"/>
          </a:p>
        </p:txBody>
      </p:sp>
      <p:sp>
        <p:nvSpPr>
          <p:cNvPr id="3" name="S09-card57"/>
          <p:cNvSpPr/>
          <p:nvPr/>
        </p:nvSpPr>
        <p:spPr>
          <a:xfrm>
            <a:off x="548640" y="1325880"/>
            <a:ext cx="11091672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8"/>
          <p:cNvSpPr txBox="1"/>
          <p:nvPr/>
        </p:nvSpPr>
        <p:spPr>
          <a:xfrm>
            <a:off x="822960" y="1463040"/>
            <a:ext cx="10543032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 + 340 = 460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220 + 440 = 660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320 + 540 = 860</a:t>
            </a:r>
            <a:endParaRPr lang="ko-KR" sz="3000" dirty="0"/>
          </a:p>
        </p:txBody>
      </p:sp>
      <p:sp>
        <p:nvSpPr>
          <p:cNvPr id="5" name="S09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합끼리 빼서 확인해요.</a:t>
            </a:r>
            <a:endParaRPr lang="ko-KR" sz="3000" dirty="0"/>
          </a:p>
        </p:txBody>
      </p:sp>
      <p:sp>
        <p:nvSpPr>
          <p:cNvPr id="7" name="S09-chip61"/>
          <p:cNvSpPr txBox="1"/>
          <p:nvPr/>
        </p:nvSpPr>
        <p:spPr>
          <a:xfrm>
            <a:off x="548640" y="327812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100씩</a:t>
            </a:r>
            <a:endParaRPr lang="ko-KR" sz="2400" dirty="0"/>
          </a:p>
        </p:txBody>
      </p:sp>
      <p:sp>
        <p:nvSpPr>
          <p:cNvPr id="8" name="S09-text62"/>
          <p:cNvSpPr txBox="1"/>
          <p:nvPr/>
        </p:nvSpPr>
        <p:spPr>
          <a:xfrm>
            <a:off x="548640" y="4009644"/>
            <a:ext cx="5362956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더하는 수가 100씩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커지니까 합도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100씩 커져요.</a:t>
            </a:r>
            <a:endParaRPr lang="ko-KR" sz="2400" dirty="0"/>
          </a:p>
        </p:txBody>
      </p:sp>
      <p:sp>
        <p:nvSpPr>
          <p:cNvPr id="9" name="S09-chip63"/>
          <p:cNvSpPr txBox="1"/>
          <p:nvPr/>
        </p:nvSpPr>
        <p:spPr>
          <a:xfrm>
            <a:off x="6277356" y="327812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200씩</a:t>
            </a:r>
            <a:endParaRPr lang="ko-KR" sz="2400" dirty="0"/>
          </a:p>
        </p:txBody>
      </p:sp>
      <p:sp>
        <p:nvSpPr>
          <p:cNvPr id="10" name="S09-text64"/>
          <p:cNvSpPr txBox="1"/>
          <p:nvPr/>
        </p:nvSpPr>
        <p:spPr>
          <a:xfrm>
            <a:off x="6277356" y="4009644"/>
            <a:ext cx="5362956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수가 모두 100씩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커지니까 합은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200씩 커져요.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ard65"/>
          <p:cNvSpPr/>
          <p:nvPr/>
        </p:nvSpPr>
        <p:spPr>
          <a:xfrm>
            <a:off x="6277356" y="1325880"/>
            <a:ext cx="5362956" cy="4892040"/>
          </a:xfrm>
          <a:prstGeom prst="roundRect">
            <a:avLst>
              <a:gd name="adj" fmla="val 224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66"/>
          <p:cNvSpPr txBox="1"/>
          <p:nvPr/>
        </p:nvSpPr>
        <p:spPr>
          <a:xfrm>
            <a:off x="6551676" y="1463040"/>
            <a:ext cx="481431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찾아요</a:t>
            </a:r>
            <a:endParaRPr lang="ko-KR" sz="3000" dirty="0"/>
          </a:p>
        </p:txBody>
      </p:sp>
      <p:sp>
        <p:nvSpPr>
          <p:cNvPr id="5" name="S10-eqtext67"/>
          <p:cNvSpPr txBox="1"/>
          <p:nvPr/>
        </p:nvSpPr>
        <p:spPr>
          <a:xfrm>
            <a:off x="6551676" y="2011680"/>
            <a:ext cx="481431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 × 3 = 111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 × 6 = 222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 × 9 = 333</a:t>
            </a:r>
            <a:endParaRPr lang="ko-KR" sz="3400" dirty="0"/>
          </a:p>
        </p:txBody>
      </p:sp>
      <p:sp>
        <p:nvSpPr>
          <p:cNvPr id="6" name="S10-chip6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eqtext69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 × 12 = □</a:t>
            </a:r>
            <a:endParaRPr lang="ko-KR" sz="3400" dirty="0"/>
          </a:p>
        </p:txBody>
      </p:sp>
      <p:sp>
        <p:nvSpPr>
          <p:cNvPr id="8" name="S10-chip7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eqtext71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 × □ = 777</a:t>
            </a:r>
            <a:endParaRPr lang="ko-KR" sz="3400" dirty="0"/>
          </a:p>
        </p:txBody>
      </p:sp>
      <p:sp>
        <p:nvSpPr>
          <p:cNvPr id="10" name="S10-chip7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73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규칙인지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 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배열표 마무리</a:t>
            </a:r>
            <a:endParaRPr lang="ko-KR" sz="4000" dirty="0"/>
          </a:p>
        </p:txBody>
      </p:sp>
      <p:graphicFrame>
        <p:nvGraphicFramePr>
          <p:cNvPr id="12" name="S12-table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8514" y="3004185"/>
          <a:ext cx="5120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2035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2045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3035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3045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4025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4035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12-chip7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2-text7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가로와 세로 규칙을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 볼까요?</a:t>
            </a:r>
            <a:endParaRPr lang="ko-KR" sz="3000" dirty="0"/>
          </a:p>
        </p:txBody>
      </p:sp>
      <p:sp>
        <p:nvSpPr>
          <p:cNvPr id="6" name="S12-chip7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2-text78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수는?</a:t>
            </a:r>
            <a:endParaRPr lang="ko-KR" sz="3000" dirty="0"/>
          </a:p>
        </p:txBody>
      </p:sp>
      <p:sp>
        <p:nvSpPr>
          <p:cNvPr id="8" name="S12-chip7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2-text80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★에 알맞은 수는?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81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2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변하는 부분과 결과를 비교하면 다음 식을 추측할 수 있어요. 추측은 계산으로 확인해요.</a:t>
            </a:r>
            <a:endParaRPr lang="ko-KR" sz="3000" dirty="0"/>
          </a:p>
        </p:txBody>
      </p:sp>
      <p:sp>
        <p:nvSpPr>
          <p:cNvPr id="5" name="S13-chip83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추측한 답을 계산으로 확인하기</a:t>
            </a:r>
            <a:endParaRPr lang="ko-KR" sz="2400" dirty="0"/>
          </a:p>
        </p:txBody>
      </p:sp>
      <p:sp>
        <p:nvSpPr>
          <p:cNvPr id="6" name="S13-chip84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 부분만 보고 규칙 정하기</a:t>
            </a:r>
            <a:endParaRPr lang="ko-KR" sz="2400" dirty="0"/>
          </a:p>
        </p:txBody>
      </p:sp>
      <p:sp>
        <p:nvSpPr>
          <p:cNvPr id="7" name="S13-text85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86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1001, 1101, 1201, □</a:t>
            </a:r>
            <a:endParaRPr lang="ko-KR" sz="2400" dirty="0"/>
          </a:p>
        </p:txBody>
      </p:sp>
      <p:sp>
        <p:nvSpPr>
          <p:cNvPr id="9" name="S13-text87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111 × 111 = □</a:t>
            </a:r>
            <a:endParaRPr lang="ko-KR" sz="2400" dirty="0"/>
          </a:p>
        </p:txBody>
      </p:sp>
      <p:sp>
        <p:nvSpPr>
          <p:cNvPr id="10" name="S13-text88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37 × 15 = □</a:t>
            </a:r>
            <a:endParaRPr lang="ko-KR" sz="2400" dirty="0"/>
          </a:p>
        </p:txBody>
      </p:sp>
      <p:sp>
        <p:nvSpPr>
          <p:cNvPr id="11" name="S13-text8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자연수의 혼합 계산(초5)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얼마씩 커질까요?</a:t>
            </a:r>
            <a:endParaRPr lang="ko-KR" sz="4000" dirty="0"/>
          </a:p>
        </p:txBody>
      </p:sp>
      <p:sp>
        <p:nvSpPr>
          <p:cNvPr id="3" name="S14-text9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15, 25, 35, 45 다음 수는?</a:t>
            </a:r>
            <a:endParaRPr lang="ko-KR" sz="3000" dirty="0"/>
          </a:p>
        </p:txBody>
      </p:sp>
      <p:sp>
        <p:nvSpPr>
          <p:cNvPr id="4" name="S14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이웃한 두 수의 차를 구하면 얼마씩 커지는지 알 수 있어요.</a:t>
            </a:r>
            <a:endParaRPr lang="ko-KR" sz="3000" dirty="0"/>
          </a:p>
        </p:txBody>
      </p:sp>
      <p:sp>
        <p:nvSpPr>
          <p:cNvPr id="6" name="S14-line93"/>
          <p:cNvSpPr/>
          <p:nvPr/>
        </p:nvSpPr>
        <p:spPr>
          <a:xfrm>
            <a:off x="685800" y="3939235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14-line94"/>
          <p:cNvSpPr/>
          <p:nvPr/>
        </p:nvSpPr>
        <p:spPr>
          <a:xfrm>
            <a:off x="960120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4-label95"/>
          <p:cNvSpPr txBox="1"/>
          <p:nvPr/>
        </p:nvSpPr>
        <p:spPr>
          <a:xfrm>
            <a:off x="502920" y="4122115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9" name="S14-line96"/>
          <p:cNvSpPr/>
          <p:nvPr/>
        </p:nvSpPr>
        <p:spPr>
          <a:xfrm>
            <a:off x="2243709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4-label97"/>
          <p:cNvSpPr txBox="1"/>
          <p:nvPr/>
        </p:nvSpPr>
        <p:spPr>
          <a:xfrm>
            <a:off x="1786509" y="4122115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400" dirty="0"/>
          </a:p>
        </p:txBody>
      </p:sp>
      <p:sp>
        <p:nvSpPr>
          <p:cNvPr id="11" name="S14-line98"/>
          <p:cNvSpPr/>
          <p:nvPr/>
        </p:nvSpPr>
        <p:spPr>
          <a:xfrm>
            <a:off x="3527298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4-line99"/>
          <p:cNvSpPr/>
          <p:nvPr/>
        </p:nvSpPr>
        <p:spPr>
          <a:xfrm>
            <a:off x="4810887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14-label100"/>
          <p:cNvSpPr txBox="1"/>
          <p:nvPr/>
        </p:nvSpPr>
        <p:spPr>
          <a:xfrm>
            <a:off x="4353687" y="4122115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2400" dirty="0"/>
          </a:p>
        </p:txBody>
      </p:sp>
      <p:sp>
        <p:nvSpPr>
          <p:cNvPr id="14" name="S14-line101"/>
          <p:cNvSpPr/>
          <p:nvPr/>
        </p:nvSpPr>
        <p:spPr>
          <a:xfrm>
            <a:off x="6094476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4-line102"/>
          <p:cNvSpPr/>
          <p:nvPr/>
        </p:nvSpPr>
        <p:spPr>
          <a:xfrm>
            <a:off x="7378065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4-label103"/>
          <p:cNvSpPr txBox="1"/>
          <p:nvPr/>
        </p:nvSpPr>
        <p:spPr>
          <a:xfrm>
            <a:off x="6920865" y="4122115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ko-KR" sz="2400" dirty="0"/>
          </a:p>
        </p:txBody>
      </p:sp>
      <p:sp>
        <p:nvSpPr>
          <p:cNvPr id="17" name="S14-line104"/>
          <p:cNvSpPr/>
          <p:nvPr/>
        </p:nvSpPr>
        <p:spPr>
          <a:xfrm>
            <a:off x="8661654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4-line105"/>
          <p:cNvSpPr/>
          <p:nvPr/>
        </p:nvSpPr>
        <p:spPr>
          <a:xfrm>
            <a:off x="9945243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14-label106"/>
          <p:cNvSpPr txBox="1"/>
          <p:nvPr/>
        </p:nvSpPr>
        <p:spPr>
          <a:xfrm>
            <a:off x="9488043" y="4122115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ko-KR" sz="2400" dirty="0"/>
          </a:p>
        </p:txBody>
      </p:sp>
      <p:sp>
        <p:nvSpPr>
          <p:cNvPr id="20" name="S14-line107"/>
          <p:cNvSpPr/>
          <p:nvPr/>
        </p:nvSpPr>
        <p:spPr>
          <a:xfrm>
            <a:off x="1122883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14-label108"/>
          <p:cNvSpPr txBox="1"/>
          <p:nvPr/>
        </p:nvSpPr>
        <p:spPr>
          <a:xfrm>
            <a:off x="10771632" y="4122115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2400" dirty="0"/>
          </a:p>
        </p:txBody>
      </p:sp>
      <p:sp>
        <p:nvSpPr>
          <p:cNvPr id="22" name="S14-mark109"/>
          <p:cNvSpPr/>
          <p:nvPr/>
        </p:nvSpPr>
        <p:spPr>
          <a:xfrm>
            <a:off x="2152269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3" name="S14-mark110"/>
          <p:cNvSpPr/>
          <p:nvPr/>
        </p:nvSpPr>
        <p:spPr>
          <a:xfrm>
            <a:off x="4719447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4" name="S14-mark111"/>
          <p:cNvSpPr/>
          <p:nvPr/>
        </p:nvSpPr>
        <p:spPr>
          <a:xfrm>
            <a:off x="7286625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5" name="S14-mark112"/>
          <p:cNvSpPr/>
          <p:nvPr/>
        </p:nvSpPr>
        <p:spPr>
          <a:xfrm>
            <a:off x="9853803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6" name="S14-line113"/>
          <p:cNvSpPr/>
          <p:nvPr/>
        </p:nvSpPr>
        <p:spPr>
          <a:xfrm flipV="1">
            <a:off x="2243709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7" name="S14-line114"/>
          <p:cNvSpPr/>
          <p:nvPr/>
        </p:nvSpPr>
        <p:spPr>
          <a:xfrm>
            <a:off x="2243709" y="3555187"/>
            <a:ext cx="256717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8" name="S14-label115"/>
          <p:cNvSpPr txBox="1"/>
          <p:nvPr/>
        </p:nvSpPr>
        <p:spPr>
          <a:xfrm>
            <a:off x="2243709" y="3140659"/>
            <a:ext cx="256717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+10</a:t>
            </a:r>
            <a:endParaRPr lang="ko-KR" sz="2400" dirty="0"/>
          </a:p>
        </p:txBody>
      </p:sp>
      <p:sp>
        <p:nvSpPr>
          <p:cNvPr id="29" name="S14-line116"/>
          <p:cNvSpPr/>
          <p:nvPr/>
        </p:nvSpPr>
        <p:spPr>
          <a:xfrm flipV="1">
            <a:off x="4810887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0" name="S14-line117"/>
          <p:cNvSpPr/>
          <p:nvPr/>
        </p:nvSpPr>
        <p:spPr>
          <a:xfrm>
            <a:off x="4810887" y="3555187"/>
            <a:ext cx="256717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1" name="S14-label118"/>
          <p:cNvSpPr txBox="1"/>
          <p:nvPr/>
        </p:nvSpPr>
        <p:spPr>
          <a:xfrm>
            <a:off x="4810887" y="3140659"/>
            <a:ext cx="256717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+10</a:t>
            </a:r>
            <a:endParaRPr lang="ko-KR" sz="2400" dirty="0"/>
          </a:p>
        </p:txBody>
      </p:sp>
      <p:sp>
        <p:nvSpPr>
          <p:cNvPr id="32" name="S14-line119"/>
          <p:cNvSpPr/>
          <p:nvPr/>
        </p:nvSpPr>
        <p:spPr>
          <a:xfrm flipV="1">
            <a:off x="7378065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3" name="S14-line120"/>
          <p:cNvSpPr/>
          <p:nvPr/>
        </p:nvSpPr>
        <p:spPr>
          <a:xfrm>
            <a:off x="7378065" y="3555187"/>
            <a:ext cx="256717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4" name="S14-label121"/>
          <p:cNvSpPr txBox="1"/>
          <p:nvPr/>
        </p:nvSpPr>
        <p:spPr>
          <a:xfrm>
            <a:off x="7378065" y="3140659"/>
            <a:ext cx="256717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+10</a:t>
            </a:r>
            <a:endParaRPr lang="ko-KR" sz="2400" dirty="0"/>
          </a:p>
        </p:txBody>
      </p:sp>
      <p:sp>
        <p:nvSpPr>
          <p:cNvPr id="35" name="S14-figure122" descr="10부터 50까지 수직선에 15, 25, 35, 45를 표시하고 10씩 뛰어 센 화살표"/>
          <p:cNvSpPr/>
          <p:nvPr/>
        </p:nvSpPr>
        <p:spPr>
          <a:xfrm>
            <a:off x="685800" y="3756355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계산식의 규칙</dc:title>
  <dc:subject>KR22-G04-MAT-RULE-L01</dc:subject>
  <dc:creator>education-ppt</dc:creator>
  <cp:lastModifiedBy>education-ppt</cp:lastModifiedBy>
  <cp:revision>1</cp:revision>
  <dcterms:created xsi:type="dcterms:W3CDTF">2026-10-26T08:24:38Z</dcterms:created>
  <dcterms:modified xsi:type="dcterms:W3CDTF">2026-10-26T08:24:38Z</dcterms:modified>
</cp:coreProperties>
</file>