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2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6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19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08446d5-cb82-5e9d-f5bf-ed187f7e61c8}">
          <p14:sldIdLst>
            <p14:sldId id="256"/>
            <p14:sldId id="257"/>
          </p14:sldIdLst>
        </p14:section>
        <p14:section name="개념" id="{7f8b93f4-26d9-4586-f557-ffd225e795a4}">
          <p14:sldIdLst>
            <p14:sldId id="258"/>
            <p14:sldId id="259"/>
            <p14:sldId id="260"/>
            <p14:sldId id="263"/>
          </p14:sldIdLst>
        </p14:section>
        <p14:section name="연습" id="{99e16bfe-dae0-eb24-a1c5-fa10d64b4d8a}">
          <p14:sldIdLst>
            <p14:sldId id="261"/>
            <p14:sldId id="262"/>
            <p14:sldId id="264"/>
          </p14:sldIdLst>
        </p14:section>
        <p14:section name="개념" id="{11deb922-2a15-9ffa-84f8-3f6d03c8fb71}">
          <p14:sldIdLst/>
        </p14:section>
        <p14:section name="연습" id="{578648c9-713d-c8f9-75d0-2a8c1c9a7a82}">
          <p14:sldIdLst/>
        </p14:section>
        <p14:section name="확인" id="{8db39423-8cfc-b18d-befa-e80c23f9b560}">
          <p14:sldIdLst>
            <p14:sldId id="265"/>
            <p14:sldId id="266"/>
          </p14:sldIdLst>
        </p14:section>
        <p14:section name="정리" id="{7dc9f6b3-4021-8cea-3530-ab9a2e7f4e12}">
          <p14:sldIdLst>
            <p14:sldId id="267"/>
          </p14:sldIdLst>
        </p14:section>
        <p14:section name="보충" id="{07291251-ef1f-2418-c36a-4682fe0bc9b7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2000" b="0" i="0" u="none" strike="noStrike">
                <a:solidFill>
                  <a:srgbClr val="1F2937"/>
                </a:solidFill>
                <a:latin typeface="+mn-lt"/>
              </a:defRPr>
            </a:pPr>
            <a:r>
              <a:rPr sz="2000" b="0" i="0" u="none" strike="noStrike">
                <a:solidFill>
                  <a:srgbClr val="1F2937"/>
                </a:solidFill>
                <a:latin typeface="+mn-lt"/>
              </a:rPr>
              <a:t>좋아하는 운동별 학생 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좋아하는 운동별 학생 수</c:v>
                </c:pt>
              </c:strCache>
            </c:strRef>
          </c:tx>
          <c:spPr>
            <a:solidFill>
              <a:srgbClr val="E9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0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축구</c:v>
                  </c:pt>
                  <c:pt idx="1">
                    <c:v>야구</c:v>
                  </c:pt>
                  <c:pt idx="2">
                    <c:v>수영</c:v>
                  </c:pt>
                  <c:pt idx="3">
                    <c:v>농구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3</c:v>
                </c:pt>
                <c:pt idx="2">
                  <c:v>5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20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l"/>
        <c:majorGridlines>
          <c:spPr>
            <a:ln w="9525" cap="flat">
              <a:solidFill>
                <a:srgbClr val="D1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2000" b="0" i="0" u="none" strike="noStrike">
                    <a:solidFill>
                      <a:srgbClr val="000000"/>
                    </a:solidFill>
                    <a:latin typeface="+mn-lt"/>
                  </a:rPr>
                  <a:t>(명)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자료</c:v>
                </c:pt>
              </c:strCache>
            </c:strRef>
          </c:tx>
          <c:spPr>
            <a:solidFill>
              <a:srgbClr val="E9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0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동화책</c:v>
                  </c:pt>
                  <c:pt idx="1">
                    <c:v>위인전</c:v>
                  </c:pt>
                  <c:pt idx="2">
                    <c:v>과학책</c:v>
                  </c:pt>
                  <c:pt idx="3">
                    <c:v>만화책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</c:v>
                </c:pt>
                <c:pt idx="1">
                  <c:v>6</c:v>
                </c:pt>
                <c:pt idx="2">
                  <c:v>10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20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D1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2000" b="0" i="0" u="none" strike="noStrike">
                    <a:solidFill>
                      <a:srgbClr val="000000"/>
                    </a:solidFill>
                    <a:latin typeface="+mn-lt"/>
                  </a:rPr>
                  <a:t>(권)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자료</c:v>
                </c:pt>
              </c:strCache>
            </c:strRef>
          </c:tx>
          <c:spPr>
            <a:solidFill>
              <a:srgbClr val="E9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0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축구</c:v>
                  </c:pt>
                  <c:pt idx="1">
                    <c:v>야구</c:v>
                  </c:pt>
                  <c:pt idx="2">
                    <c:v>수영</c:v>
                  </c:pt>
                  <c:pt idx="3">
                    <c:v>농구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3</c:v>
                </c:pt>
                <c:pt idx="2">
                  <c:v>5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20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l"/>
        <c:majorGridlines>
          <c:spPr>
            <a:ln w="9525" cap="flat">
              <a:solidFill>
                <a:srgbClr val="D1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2000" b="0" i="0" u="none" strike="noStrike">
                    <a:solidFill>
                      <a:srgbClr val="000000"/>
                    </a:solidFill>
                    <a:latin typeface="+mn-lt"/>
                  </a:rPr>
                  <a:t>(명)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자료</c:v>
                </c:pt>
              </c:strCache>
            </c:strRef>
          </c:tx>
          <c:spPr>
            <a:solidFill>
              <a:srgbClr val="E9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0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가 마을</c:v>
                  </c:pt>
                  <c:pt idx="1">
                    <c:v>나 마을</c:v>
                  </c:pt>
                  <c:pt idx="2">
                    <c:v>다 마을</c:v>
                  </c:pt>
                  <c:pt idx="3">
                    <c:v>라 마을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25</c:v>
                </c:pt>
                <c:pt idx="1">
                  <c:v>15</c:v>
                </c:pt>
                <c:pt idx="2">
                  <c:v>30</c:v>
                </c:pt>
                <c:pt idx="3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20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0"/>
        <c:axPos val="l"/>
        <c:majorGridlines>
          <c:spPr>
            <a:ln w="9525" cap="flat">
              <a:solidFill>
                <a:srgbClr val="D1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2000" b="0" i="0" u="none" strike="noStrike">
                    <a:solidFill>
                      <a:srgbClr val="000000"/>
                    </a:solidFill>
                    <a:latin typeface="+mn-lt"/>
                  </a:rPr>
                  <a:t>(그루)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자료</c:v>
                </c:pt>
              </c:strCache>
            </c:strRef>
          </c:tx>
          <c:spPr>
            <a:solidFill>
              <a:srgbClr val="E9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0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1반</c:v>
                  </c:pt>
                  <c:pt idx="1">
                    <c:v>2반</c:v>
                  </c:pt>
                  <c:pt idx="2">
                    <c:v>3반</c:v>
                  </c:pt>
                  <c:pt idx="3">
                    <c:v>4반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4</c:v>
                </c:pt>
                <c:pt idx="2">
                  <c:v>10</c:v>
                </c:pt>
                <c:pt idx="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20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D1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2000" b="0" i="0" u="none" strike="noStrike">
                    <a:solidFill>
                      <a:srgbClr val="000000"/>
                    </a:solidFill>
                    <a:latin typeface="+mn-lt"/>
                  </a:rPr>
                  <a:t>(명)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2000" b="0" i="0" u="none" strike="noStrike">
                <a:solidFill>
                  <a:srgbClr val="1F2937"/>
                </a:solidFill>
                <a:latin typeface="+mn-lt"/>
              </a:defRPr>
            </a:pPr>
            <a:r>
              <a:rPr sz="2000" b="0" i="0" u="none" strike="noStrike">
                <a:solidFill>
                  <a:srgbClr val="1F2937"/>
                </a:solidFill>
                <a:latin typeface="+mn-lt"/>
              </a:rPr>
              <a:t>좋아하는 계절별 학생 수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좋아하는 계절별 학생 수</c:v>
                </c:pt>
              </c:strCache>
            </c:strRef>
          </c:tx>
          <c:spPr>
            <a:solidFill>
              <a:srgbClr val="E9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0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봄</c:v>
                  </c:pt>
                  <c:pt idx="1">
                    <c:v>여름</c:v>
                  </c:pt>
                  <c:pt idx="2">
                    <c:v>가을</c:v>
                  </c:pt>
                  <c:pt idx="3">
                    <c:v>겨울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</c:v>
                </c:pt>
                <c:pt idx="1">
                  <c:v>10</c:v>
                </c:pt>
                <c:pt idx="2">
                  <c:v>8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20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D1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2000" b="0" i="0" u="none" strike="noStrike">
                    <a:solidFill>
                      <a:srgbClr val="000000"/>
                    </a:solidFill>
                    <a:latin typeface="+mn-lt"/>
                  </a:rPr>
                  <a:t>(명)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자료</c:v>
                </c:pt>
              </c:strCache>
            </c:strRef>
          </c:tx>
          <c:spPr>
            <a:solidFill>
              <a:srgbClr val="E9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0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강아지</c:v>
                  </c:pt>
                  <c:pt idx="1">
                    <c:v>고양이</c:v>
                  </c:pt>
                  <c:pt idx="2">
                    <c:v>토끼</c:v>
                  </c:pt>
                  <c:pt idx="3">
                    <c:v>햄스터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4</c:v>
                </c:pt>
                <c:pt idx="2">
                  <c:v>2</c:v>
                </c:pt>
                <c:pt idx="3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20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D1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2000" b="0" i="0" u="none" strike="noStrike">
                    <a:solidFill>
                      <a:srgbClr val="000000"/>
                    </a:solidFill>
                    <a:latin typeface="+mn-lt"/>
                  </a:rPr>
                  <a:t>(명)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자료</c:v>
                </c:pt>
              </c:strCache>
            </c:strRef>
          </c:tx>
          <c:spPr>
            <a:solidFill>
              <a:srgbClr val="E9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0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강아지</c:v>
                  </c:pt>
                  <c:pt idx="1">
                    <c:v>고양이</c:v>
                  </c:pt>
                  <c:pt idx="2">
                    <c:v>토끼</c:v>
                  </c:pt>
                  <c:pt idx="3">
                    <c:v>햄스터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</c:v>
                </c:pt>
                <c:pt idx="1">
                  <c:v>6</c:v>
                </c:pt>
                <c:pt idx="2">
                  <c:v>2</c:v>
                </c:pt>
                <c:pt idx="3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20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</c:scaling>
        <c:delete val="0"/>
        <c:axPos val="l"/>
        <c:majorGridlines>
          <c:spPr>
            <a:ln w="9525" cap="flat">
              <a:solidFill>
                <a:srgbClr val="D1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2000" b="0" i="0" u="none" strike="noStrike">
                    <a:solidFill>
                      <a:srgbClr val="000000"/>
                    </a:solidFill>
                    <a:latin typeface="+mn-lt"/>
                  </a:rPr>
                  <a:t>(명)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자료</c:v>
                </c:pt>
              </c:strCache>
            </c:strRef>
          </c:tx>
          <c:spPr>
            <a:solidFill>
              <a:srgbClr val="E9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0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1반</c:v>
                  </c:pt>
                  <c:pt idx="1">
                    <c:v>2반</c:v>
                  </c:pt>
                  <c:pt idx="2">
                    <c:v>3반</c:v>
                  </c:pt>
                  <c:pt idx="3">
                    <c:v>4반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</c:v>
                </c:pt>
                <c:pt idx="1">
                  <c:v>50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20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l"/>
        <c:majorGridlines>
          <c:spPr>
            <a:ln w="9525" cap="flat">
              <a:solidFill>
                <a:srgbClr val="D1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2000" b="0" i="0" u="none" strike="noStrike">
                    <a:solidFill>
                      <a:srgbClr val="000000"/>
                    </a:solidFill>
                    <a:latin typeface="+mn-lt"/>
                  </a:rPr>
                  <a:t>(장)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자료</c:v>
                </c:pt>
              </c:strCache>
            </c:strRef>
          </c:tx>
          <c:spPr>
            <a:solidFill>
              <a:srgbClr val="E976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20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사과</c:v>
                  </c:pt>
                  <c:pt idx="1">
                    <c:v>포도</c:v>
                  </c:pt>
                  <c:pt idx="2">
                    <c:v>귤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20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0"/>
        <c:axPos val="l"/>
        <c:majorGridlines>
          <c:spPr>
            <a:ln w="9525" cap="flat">
              <a:solidFill>
                <a:srgbClr val="D1D5DB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2000" b="0" i="0" u="none" strike="noStrike">
                    <a:solidFill>
                      <a:srgbClr val="000000"/>
                    </a:solidFill>
                    <a:latin typeface="+mn-lt"/>
                  </a:defRPr>
                </a:pPr>
                <a:r>
                  <a:rPr sz="2000" b="0" i="0" u="none" strike="noStrike">
                    <a:solidFill>
                      <a:srgbClr val="000000"/>
                    </a:solidFill>
                    <a:latin typeface="+mn-lt"/>
                  </a:rPr>
                  <a:t>(명)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2000" b="0" i="0" u="none" strike="noStrike">
                <a:solidFill>
                  <a:srgbClr val="4B556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자료와규칙 · 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막대그래프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초4 수학 · 막대그래프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초4 수학 · 막대그래프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chart" Target="/ppt/charts/chart18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0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어떤 운동을 가장 좋아할까?</a:t>
            </a:r>
            <a:endParaRPr lang="ko-KR" sz="3000" dirty="0"/>
          </a:p>
        </p:txBody>
      </p:sp>
      <p:sp>
        <p:nvSpPr>
          <p:cNvPr id="4" name="S01-cell1"/>
          <p:cNvSpPr/>
          <p:nvPr/>
        </p:nvSpPr>
        <p:spPr>
          <a:xfrm>
            <a:off x="7869555" y="10058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1-cell2"/>
          <p:cNvSpPr/>
          <p:nvPr/>
        </p:nvSpPr>
        <p:spPr>
          <a:xfrm>
            <a:off x="7869555" y="13716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cell3"/>
          <p:cNvSpPr/>
          <p:nvPr/>
        </p:nvSpPr>
        <p:spPr>
          <a:xfrm>
            <a:off x="7869555" y="17373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cell4"/>
          <p:cNvSpPr/>
          <p:nvPr/>
        </p:nvSpPr>
        <p:spPr>
          <a:xfrm>
            <a:off x="786955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cell5"/>
          <p:cNvSpPr/>
          <p:nvPr/>
        </p:nvSpPr>
        <p:spPr>
          <a:xfrm>
            <a:off x="786955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cell6"/>
          <p:cNvSpPr/>
          <p:nvPr/>
        </p:nvSpPr>
        <p:spPr>
          <a:xfrm>
            <a:off x="786955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1-figure7" descr="막대그래프 모양: 축구 막대 6칸"/>
          <p:cNvSpPr/>
          <p:nvPr/>
        </p:nvSpPr>
        <p:spPr>
          <a:xfrm>
            <a:off x="786955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1" name="S01-cell8"/>
          <p:cNvSpPr/>
          <p:nvPr/>
        </p:nvSpPr>
        <p:spPr>
          <a:xfrm>
            <a:off x="8932545" y="10058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1-cell9"/>
          <p:cNvSpPr/>
          <p:nvPr/>
        </p:nvSpPr>
        <p:spPr>
          <a:xfrm>
            <a:off x="8932545" y="13716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1-cell10"/>
          <p:cNvSpPr/>
          <p:nvPr/>
        </p:nvSpPr>
        <p:spPr>
          <a:xfrm>
            <a:off x="8932545" y="173736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1-cell11"/>
          <p:cNvSpPr/>
          <p:nvPr/>
        </p:nvSpPr>
        <p:spPr>
          <a:xfrm>
            <a:off x="893254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01-cell12"/>
          <p:cNvSpPr/>
          <p:nvPr/>
        </p:nvSpPr>
        <p:spPr>
          <a:xfrm>
            <a:off x="893254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01-cell13"/>
          <p:cNvSpPr/>
          <p:nvPr/>
        </p:nvSpPr>
        <p:spPr>
          <a:xfrm>
            <a:off x="893254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01-figure14" descr="막대그래프 모양: 야구 막대 3칸"/>
          <p:cNvSpPr/>
          <p:nvPr/>
        </p:nvSpPr>
        <p:spPr>
          <a:xfrm>
            <a:off x="893254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1-cell15"/>
          <p:cNvSpPr/>
          <p:nvPr/>
        </p:nvSpPr>
        <p:spPr>
          <a:xfrm>
            <a:off x="9995535" y="10058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01-cell16"/>
          <p:cNvSpPr/>
          <p:nvPr/>
        </p:nvSpPr>
        <p:spPr>
          <a:xfrm>
            <a:off x="9995535" y="137160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01-cell17"/>
          <p:cNvSpPr/>
          <p:nvPr/>
        </p:nvSpPr>
        <p:spPr>
          <a:xfrm>
            <a:off x="9995535" y="17373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01-cell18"/>
          <p:cNvSpPr/>
          <p:nvPr/>
        </p:nvSpPr>
        <p:spPr>
          <a:xfrm>
            <a:off x="999553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01-cell19"/>
          <p:cNvSpPr/>
          <p:nvPr/>
        </p:nvSpPr>
        <p:spPr>
          <a:xfrm>
            <a:off x="999553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01-cell20"/>
          <p:cNvSpPr/>
          <p:nvPr/>
        </p:nvSpPr>
        <p:spPr>
          <a:xfrm>
            <a:off x="999553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01-figure21" descr="막대그래프 모양: 수영 막대 5칸"/>
          <p:cNvSpPr/>
          <p:nvPr/>
        </p:nvSpPr>
        <p:spPr>
          <a:xfrm>
            <a:off x="999553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1-cell22"/>
          <p:cNvSpPr/>
          <p:nvPr/>
        </p:nvSpPr>
        <p:spPr>
          <a:xfrm>
            <a:off x="11058525" y="100584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1-cell23"/>
          <p:cNvSpPr/>
          <p:nvPr/>
        </p:nvSpPr>
        <p:spPr>
          <a:xfrm>
            <a:off x="11058525" y="1371600"/>
            <a:ext cx="365760" cy="3657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1-cell24"/>
          <p:cNvSpPr/>
          <p:nvPr/>
        </p:nvSpPr>
        <p:spPr>
          <a:xfrm>
            <a:off x="11058525" y="173736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1-cell25"/>
          <p:cNvSpPr/>
          <p:nvPr/>
        </p:nvSpPr>
        <p:spPr>
          <a:xfrm>
            <a:off x="11058525" y="210312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1-cell26"/>
          <p:cNvSpPr/>
          <p:nvPr/>
        </p:nvSpPr>
        <p:spPr>
          <a:xfrm>
            <a:off x="11058525" y="246888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1-cell27"/>
          <p:cNvSpPr/>
          <p:nvPr/>
        </p:nvSpPr>
        <p:spPr>
          <a:xfrm>
            <a:off x="11058525" y="2834640"/>
            <a:ext cx="365760" cy="3657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1-figure28" descr="막대그래프 모양: 농구 막대 4칸"/>
          <p:cNvSpPr/>
          <p:nvPr/>
        </p:nvSpPr>
        <p:spPr>
          <a:xfrm>
            <a:off x="11058525" y="1005840"/>
            <a:ext cx="365760" cy="21945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2" name="S01-card29"/>
          <p:cNvSpPr/>
          <p:nvPr/>
        </p:nvSpPr>
        <p:spPr>
          <a:xfrm>
            <a:off x="731520" y="4436364"/>
            <a:ext cx="10725912" cy="1690116"/>
          </a:xfrm>
          <a:prstGeom prst="roundRect">
            <a:avLst>
              <a:gd name="adj" fmla="val 649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33" name="S01-cardtext30"/>
          <p:cNvSpPr txBox="1"/>
          <p:nvPr/>
        </p:nvSpPr>
        <p:spPr>
          <a:xfrm>
            <a:off x="1005840" y="4573524"/>
            <a:ext cx="10177272" cy="14157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막대그래프를 읽고 알 수 있는 것을 말해요.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표를 보고 막대그래프로 나타내요.</a:t>
            </a:r>
            <a:endParaRPr lang="ko-KR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text3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그림그래프예요. ●는 10명, ○는 1명이에요.</a:t>
            </a:r>
            <a:endParaRPr lang="ko-KR" sz="3000" dirty="0"/>
          </a:p>
        </p:txBody>
      </p:sp>
      <p:graphicFrame>
        <p:nvGraphicFramePr>
          <p:cNvPr id="3" name="S02-table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5714" y="3012440"/>
          <a:ext cx="4206240" cy="914400"/>
        </p:xfrm>
        <a:graphic>
          <a:graphicData uri="http://schemas.openxmlformats.org/drawingml/2006/table">
            <a:tbl>
              <a:tblPr/>
              <a:tblGrid>
                <a:gridCol w="1261872"/>
                <a:gridCol w="2944368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마을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가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●●○○○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●●●○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다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●○○○○○○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2-chip33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02-text34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 학생은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명일까요?</a:t>
            </a:r>
            <a:endParaRPr lang="ko-KR" sz="3000" dirty="0"/>
          </a:p>
        </p:txBody>
      </p:sp>
      <p:sp>
        <p:nvSpPr>
          <p:cNvPr id="7" name="S02-chip35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02-text36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학생이 가장 많은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마을은 어디일까요?</a:t>
            </a:r>
            <a:endParaRPr lang="ko-KR" sz="3000" dirty="0"/>
          </a:p>
        </p:txBody>
      </p:sp>
      <p:sp>
        <p:nvSpPr>
          <p:cNvPr id="9" name="S02-chip37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02-text38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 마을 학생은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명일까요?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 알아보기</a:t>
            </a:r>
            <a:endParaRPr lang="ko-KR" sz="4000" dirty="0"/>
          </a:p>
        </p:txBody>
      </p:sp>
      <p:sp>
        <p:nvSpPr>
          <p:cNvPr id="3" name="S03-card39"/>
          <p:cNvSpPr/>
          <p:nvPr/>
        </p:nvSpPr>
        <p:spPr>
          <a:xfrm>
            <a:off x="548640" y="4959096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40"/>
          <p:cNvSpPr txBox="1"/>
          <p:nvPr/>
        </p:nvSpPr>
        <p:spPr>
          <a:xfrm>
            <a:off x="822960" y="5096256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조사한 수를 막대의 길이로 나타낸 그래프를 막대그래프라고 해요.</a:t>
            </a:r>
            <a:endParaRPr lang="ko-KR" sz="3000" dirty="0"/>
          </a:p>
        </p:txBody>
      </p:sp>
      <p:sp>
        <p:nvSpPr>
          <p:cNvPr id="5" name="S03-card41"/>
          <p:cNvSpPr/>
          <p:nvPr/>
        </p:nvSpPr>
        <p:spPr>
          <a:xfrm>
            <a:off x="548640" y="3861816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3-cardtext42"/>
          <p:cNvSpPr txBox="1"/>
          <p:nvPr/>
        </p:nvSpPr>
        <p:spPr>
          <a:xfrm>
            <a:off x="822960" y="3998976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가로: 운동</a:t>
            </a:r>
            <a:endParaRPr lang="ko-KR" sz="3000" dirty="0"/>
          </a:p>
        </p:txBody>
      </p:sp>
      <p:sp>
        <p:nvSpPr>
          <p:cNvPr id="7" name="S03-card43"/>
          <p:cNvSpPr/>
          <p:nvPr/>
        </p:nvSpPr>
        <p:spPr>
          <a:xfrm>
            <a:off x="4322064" y="3861816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3-cardtext44"/>
          <p:cNvSpPr txBox="1"/>
          <p:nvPr/>
        </p:nvSpPr>
        <p:spPr>
          <a:xfrm>
            <a:off x="4596384" y="3998976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세로: 학생 수</a:t>
            </a:r>
            <a:endParaRPr lang="ko-KR" sz="3000" dirty="0"/>
          </a:p>
        </p:txBody>
      </p:sp>
      <p:sp>
        <p:nvSpPr>
          <p:cNvPr id="9" name="S03-card45"/>
          <p:cNvSpPr/>
          <p:nvPr/>
        </p:nvSpPr>
        <p:spPr>
          <a:xfrm>
            <a:off x="8095488" y="3861816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46"/>
          <p:cNvSpPr txBox="1"/>
          <p:nvPr/>
        </p:nvSpPr>
        <p:spPr>
          <a:xfrm>
            <a:off x="8369808" y="3998976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칸: 1명</a:t>
            </a:r>
            <a:endParaRPr lang="ko-KR" sz="3000" dirty="0"/>
          </a:p>
        </p:txBody>
      </p:sp>
      <p:graphicFrame>
        <p:nvGraphicFramePr>
          <p:cNvPr id="11" name="S03-chart47" descr=""/>
          <p:cNvGraphicFramePr/>
          <p:nvPr/>
        </p:nvGraphicFramePr>
        <p:xfrm>
          <a:off x="548640" y="1325880"/>
          <a:ext cx="11091672" cy="23073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칸의 크기</a:t>
            </a:r>
            <a:endParaRPr lang="ko-KR" sz="4000" dirty="0"/>
          </a:p>
        </p:txBody>
      </p:sp>
      <p:sp>
        <p:nvSpPr>
          <p:cNvPr id="3" name="S04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 × 한 칸의 크기 = 막대가 나타내는 수</a:t>
            </a:r>
            <a:endParaRPr lang="ko-KR" sz="3000" dirty="0"/>
          </a:p>
        </p:txBody>
      </p:sp>
      <p:sp>
        <p:nvSpPr>
          <p:cNvPr id="5" name="S04-text50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문고의 과학책은 몇 권일까요?</a:t>
            </a:r>
            <a:endParaRPr lang="ko-KR" sz="3000" dirty="0"/>
          </a:p>
        </p:txBody>
      </p:sp>
      <p:graphicFrame>
        <p:nvGraphicFramePr>
          <p:cNvPr id="6" name="S04-chart51" descr=""/>
          <p:cNvGraphicFramePr/>
          <p:nvPr/>
        </p:nvGraphicFramePr>
        <p:xfrm>
          <a:off x="6706392" y="2606040"/>
          <a:ext cx="493392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04-stepno52"/>
          <p:cNvSpPr txBox="1"/>
          <p:nvPr/>
        </p:nvSpPr>
        <p:spPr>
          <a:xfrm>
            <a:off x="548640" y="272643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8" name="S04-text53"/>
          <p:cNvSpPr txBox="1"/>
          <p:nvPr/>
        </p:nvSpPr>
        <p:spPr>
          <a:xfrm>
            <a:off x="1325880" y="2680716"/>
            <a:ext cx="501475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눈금 숫자를 봐요.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0, 2, 4, 6 …</a:t>
            </a:r>
            <a:endParaRPr lang="ko-KR" sz="2400" dirty="0"/>
          </a:p>
        </p:txBody>
      </p:sp>
      <p:sp>
        <p:nvSpPr>
          <p:cNvPr id="9" name="S04-stepno54"/>
          <p:cNvSpPr txBox="1"/>
          <p:nvPr/>
        </p:nvSpPr>
        <p:spPr>
          <a:xfrm>
            <a:off x="548640" y="358902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0" name="S04-text55"/>
          <p:cNvSpPr txBox="1"/>
          <p:nvPr/>
        </p:nvSpPr>
        <p:spPr>
          <a:xfrm>
            <a:off x="1325880" y="3589020"/>
            <a:ext cx="5014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 2권이에요.</a:t>
            </a:r>
            <a:endParaRPr lang="ko-KR" sz="2400" dirty="0"/>
          </a:p>
        </p:txBody>
      </p:sp>
      <p:sp>
        <p:nvSpPr>
          <p:cNvPr id="11" name="S04-stepno56"/>
          <p:cNvSpPr txBox="1"/>
          <p:nvPr/>
        </p:nvSpPr>
        <p:spPr>
          <a:xfrm>
            <a:off x="548640" y="43479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2" name="S04-text57"/>
          <p:cNvSpPr txBox="1"/>
          <p:nvPr/>
        </p:nvSpPr>
        <p:spPr>
          <a:xfrm>
            <a:off x="1325880" y="4302252"/>
            <a:ext cx="501475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과학책 막대는 5칸이니까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× 5 = 10, 10권이에요.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막대그래프로 알 수 있어요</a:t>
            </a:r>
            <a:endParaRPr lang="ko-KR" sz="4000" dirty="0"/>
          </a:p>
        </p:txBody>
      </p:sp>
      <p:sp>
        <p:nvSpPr>
          <p:cNvPr id="3" name="S05-card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축구는 야구보다 몇 명 더 많을까요?</a:t>
            </a:r>
            <a:endParaRPr lang="ko-KR" sz="3000" dirty="0"/>
          </a:p>
        </p:txBody>
      </p:sp>
      <p:sp>
        <p:nvSpPr>
          <p:cNvPr id="5" name="S05-card60"/>
          <p:cNvSpPr/>
          <p:nvPr/>
        </p:nvSpPr>
        <p:spPr>
          <a:xfrm>
            <a:off x="548640" y="386181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61"/>
          <p:cNvSpPr txBox="1"/>
          <p:nvPr/>
        </p:nvSpPr>
        <p:spPr>
          <a:xfrm>
            <a:off x="822960" y="399897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표: 합계를 알기 쉬워요.</a:t>
            </a:r>
            <a:endParaRPr lang="ko-KR" sz="3000" dirty="0"/>
          </a:p>
        </p:txBody>
      </p:sp>
      <p:sp>
        <p:nvSpPr>
          <p:cNvPr id="7" name="S05-card62"/>
          <p:cNvSpPr/>
          <p:nvPr/>
        </p:nvSpPr>
        <p:spPr>
          <a:xfrm>
            <a:off x="6208776" y="386181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63"/>
          <p:cNvSpPr txBox="1"/>
          <p:nvPr/>
        </p:nvSpPr>
        <p:spPr>
          <a:xfrm>
            <a:off x="6483096" y="399897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막대그래프: 많고 적음이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보여요.</a:t>
            </a:r>
            <a:endParaRPr lang="ko-KR" sz="3000" dirty="0"/>
          </a:p>
        </p:txBody>
      </p:sp>
      <p:graphicFrame>
        <p:nvGraphicFramePr>
          <p:cNvPr id="6" name="S05-table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29868" y="1382268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3657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운동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야구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수영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농구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1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1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S05-chart65" descr=""/>
          <p:cNvGraphicFramePr/>
          <p:nvPr/>
        </p:nvGraphicFramePr>
        <p:xfrm>
          <a:off x="6254496" y="1325880"/>
          <a:ext cx="5385816" cy="23073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그래프를 읽어요</a:t>
            </a:r>
            <a:endParaRPr lang="ko-KR" sz="4000" dirty="0"/>
          </a:p>
        </p:txBody>
      </p:sp>
      <p:sp>
        <p:nvSpPr>
          <p:cNvPr id="3" name="S06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마을별 나무 수를 나타낸 막대그래프예요.</a:t>
            </a:r>
            <a:endParaRPr lang="ko-KR" sz="3000" dirty="0"/>
          </a:p>
        </p:txBody>
      </p:sp>
      <p:sp>
        <p:nvSpPr>
          <p:cNvPr id="4" name="S06-card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눈금 숫자로 한 칸의 크기부터 알아봐요.</a:t>
            </a:r>
            <a:endParaRPr lang="ko-KR" sz="3000" dirty="0"/>
          </a:p>
        </p:txBody>
      </p:sp>
      <p:graphicFrame>
        <p:nvGraphicFramePr>
          <p:cNvPr id="6" name="S06-chart69" descr=""/>
          <p:cNvGraphicFramePr/>
          <p:nvPr/>
        </p:nvGraphicFramePr>
        <p:xfrm>
          <a:off x="6277356" y="2011680"/>
          <a:ext cx="5362956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06-chip70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8" name="S06-text71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그루일까요?</a:t>
            </a:r>
            <a:endParaRPr lang="ko-KR" sz="3000" dirty="0"/>
          </a:p>
        </p:txBody>
      </p:sp>
      <p:sp>
        <p:nvSpPr>
          <p:cNvPr id="9" name="S06-chip72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10" name="S06-text73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나무가 가장 많은 마을과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수는?</a:t>
            </a:r>
            <a:endParaRPr lang="ko-KR" sz="3000" dirty="0"/>
          </a:p>
        </p:txBody>
      </p:sp>
      <p:sp>
        <p:nvSpPr>
          <p:cNvPr id="11" name="S06-chip74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2" name="S06-text75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마을은 라 마을보다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그루 더 많을까요?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수가 곧 수일까요?</a:t>
            </a:r>
            <a:endParaRPr lang="ko-KR" sz="4000" dirty="0"/>
          </a:p>
        </p:txBody>
      </p:sp>
      <p:sp>
        <p:nvSpPr>
          <p:cNvPr id="3" name="S07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반별 안경을 쓴 학생 수예요. 누구 말이 맞을까요?</a:t>
            </a:r>
            <a:endParaRPr lang="ko-KR" sz="3000" dirty="0"/>
          </a:p>
        </p:txBody>
      </p:sp>
      <p:sp>
        <p:nvSpPr>
          <p:cNvPr id="5" name="S07-card78"/>
          <p:cNvSpPr/>
          <p:nvPr/>
        </p:nvSpPr>
        <p:spPr>
          <a:xfrm>
            <a:off x="548640" y="386181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79"/>
          <p:cNvSpPr txBox="1"/>
          <p:nvPr/>
        </p:nvSpPr>
        <p:spPr>
          <a:xfrm>
            <a:off x="822960" y="399897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3반 막대는 5칸이니까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5명이에요.</a:t>
            </a:r>
            <a:endParaRPr lang="ko-KR" sz="3000" dirty="0"/>
          </a:p>
        </p:txBody>
      </p:sp>
      <p:sp>
        <p:nvSpPr>
          <p:cNvPr id="7" name="S07-card80"/>
          <p:cNvSpPr/>
          <p:nvPr/>
        </p:nvSpPr>
        <p:spPr>
          <a:xfrm>
            <a:off x="6208776" y="3861816"/>
            <a:ext cx="5431536" cy="1258824"/>
          </a:xfrm>
          <a:prstGeom prst="roundRect">
            <a:avLst>
              <a:gd name="adj" fmla="val 8717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81"/>
          <p:cNvSpPr txBox="1"/>
          <p:nvPr/>
        </p:nvSpPr>
        <p:spPr>
          <a:xfrm>
            <a:off x="6483096" y="3998976"/>
            <a:ext cx="4882896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한 칸이 2명이니까</a:t>
            </a:r>
            <a:endParaRPr lang="ko-KR" sz="30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3반은 10명이에요.</a:t>
            </a:r>
            <a:endParaRPr lang="ko-KR" sz="3000" dirty="0"/>
          </a:p>
        </p:txBody>
      </p:sp>
      <p:graphicFrame>
        <p:nvGraphicFramePr>
          <p:cNvPr id="9" name="S07-chart82" descr=""/>
          <p:cNvGraphicFramePr/>
          <p:nvPr/>
        </p:nvGraphicFramePr>
        <p:xfrm>
          <a:off x="548640" y="1325880"/>
          <a:ext cx="11091672" cy="2307336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막대그래프로 나타내요</a:t>
            </a:r>
            <a:endParaRPr lang="ko-KR" sz="4000" dirty="0"/>
          </a:p>
        </p:txBody>
      </p:sp>
      <p:sp>
        <p:nvSpPr>
          <p:cNvPr id="3" name="S08-text83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 6명, 여름 10명, 가을 8명, 겨울 4명</a:t>
            </a:r>
            <a:endParaRPr lang="ko-KR" sz="3000" dirty="0"/>
          </a:p>
        </p:txBody>
      </p:sp>
      <p:graphicFrame>
        <p:nvGraphicFramePr>
          <p:cNvPr id="4" name="S08-chart84" descr=""/>
          <p:cNvGraphicFramePr/>
          <p:nvPr/>
        </p:nvGraphicFramePr>
        <p:xfrm>
          <a:off x="6277356" y="2606040"/>
          <a:ext cx="5362956" cy="3611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08-stepno85"/>
          <p:cNvSpPr txBox="1"/>
          <p:nvPr/>
        </p:nvSpPr>
        <p:spPr>
          <a:xfrm>
            <a:off x="548640" y="28209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8-text86"/>
          <p:cNvSpPr txBox="1"/>
          <p:nvPr/>
        </p:nvSpPr>
        <p:spPr>
          <a:xfrm>
            <a:off x="1325880" y="2775204"/>
            <a:ext cx="4585716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가로에 계절, 세로에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수를 정해요.</a:t>
            </a:r>
            <a:endParaRPr lang="ko-KR" sz="2400" dirty="0"/>
          </a:p>
        </p:txBody>
      </p:sp>
      <p:sp>
        <p:nvSpPr>
          <p:cNvPr id="7" name="S08-stepno87"/>
          <p:cNvSpPr txBox="1"/>
          <p:nvPr/>
        </p:nvSpPr>
        <p:spPr>
          <a:xfrm>
            <a:off x="548640" y="37292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8-text88"/>
          <p:cNvSpPr txBox="1"/>
          <p:nvPr/>
        </p:nvSpPr>
        <p:spPr>
          <a:xfrm>
            <a:off x="1325880" y="3683508"/>
            <a:ext cx="4585716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칸을 2명으로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정해요.</a:t>
            </a:r>
            <a:endParaRPr lang="ko-KR" sz="2400" dirty="0"/>
          </a:p>
        </p:txBody>
      </p:sp>
      <p:sp>
        <p:nvSpPr>
          <p:cNvPr id="9" name="S08-stepno89"/>
          <p:cNvSpPr txBox="1"/>
          <p:nvPr/>
        </p:nvSpPr>
        <p:spPr>
          <a:xfrm>
            <a:off x="548640" y="46375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8-text90"/>
          <p:cNvSpPr txBox="1"/>
          <p:nvPr/>
        </p:nvSpPr>
        <p:spPr>
          <a:xfrm>
            <a:off x="1325880" y="4591812"/>
            <a:ext cx="4585716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수에 맞게 막대를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그려요.</a:t>
            </a:r>
            <a:endParaRPr lang="ko-KR" sz="2400" dirty="0"/>
          </a:p>
        </p:txBody>
      </p:sp>
      <p:sp>
        <p:nvSpPr>
          <p:cNvPr id="11" name="S08-stepno91"/>
          <p:cNvSpPr txBox="1"/>
          <p:nvPr/>
        </p:nvSpPr>
        <p:spPr>
          <a:xfrm>
            <a:off x="548640" y="55001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2" name="S08-text92"/>
          <p:cNvSpPr txBox="1"/>
          <p:nvPr/>
        </p:nvSpPr>
        <p:spPr>
          <a:xfrm>
            <a:off x="1325880" y="5500116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붙여요.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그래프는?</a:t>
            </a:r>
            <a:endParaRPr lang="ko-KR" sz="4000" dirty="0"/>
          </a:p>
        </p:txBody>
      </p:sp>
      <p:sp>
        <p:nvSpPr>
          <p:cNvPr id="3" name="S09-text9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 8명, 고양이 6명, 토끼 2명, 햄스터 4명</a:t>
            </a:r>
            <a:endParaRPr lang="ko-KR" sz="3000" dirty="0"/>
          </a:p>
        </p:txBody>
      </p:sp>
      <p:sp>
        <p:nvSpPr>
          <p:cNvPr id="4" name="S09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표에 맞는 막대그래프는 가와 나 중 어느 것일까요?</a:t>
            </a:r>
            <a:endParaRPr lang="ko-KR" sz="3000" dirty="0"/>
          </a:p>
        </p:txBody>
      </p:sp>
      <p:sp>
        <p:nvSpPr>
          <p:cNvPr id="6" name="S09-chip96"/>
          <p:cNvSpPr txBox="1"/>
          <p:nvPr/>
        </p:nvSpPr>
        <p:spPr>
          <a:xfrm>
            <a:off x="2946654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000" dirty="0"/>
          </a:p>
        </p:txBody>
      </p:sp>
      <p:graphicFrame>
        <p:nvGraphicFramePr>
          <p:cNvPr id="7" name="S09-chart97" descr=""/>
          <p:cNvGraphicFramePr/>
          <p:nvPr/>
        </p:nvGraphicFramePr>
        <p:xfrm>
          <a:off x="548640" y="2715768"/>
          <a:ext cx="5362956" cy="2404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09-chip98"/>
          <p:cNvSpPr txBox="1"/>
          <p:nvPr/>
        </p:nvSpPr>
        <p:spPr>
          <a:xfrm>
            <a:off x="8675370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000" dirty="0"/>
          </a:p>
        </p:txBody>
      </p:sp>
      <p:graphicFrame>
        <p:nvGraphicFramePr>
          <p:cNvPr id="9" name="S09-chart99" descr=""/>
          <p:cNvGraphicFramePr/>
          <p:nvPr/>
        </p:nvGraphicFramePr>
        <p:xfrm>
          <a:off x="6277356" y="2715768"/>
          <a:ext cx="5362956" cy="240487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10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반별 칭찬 스티커 수예요.</a:t>
            </a:r>
            <a:endParaRPr lang="ko-KR" sz="3000" dirty="0"/>
          </a:p>
        </p:txBody>
      </p:sp>
      <p:graphicFrame>
        <p:nvGraphicFramePr>
          <p:cNvPr id="4" name="S10-chart101" descr=""/>
          <p:cNvGraphicFramePr/>
          <p:nvPr/>
        </p:nvGraphicFramePr>
        <p:xfrm>
          <a:off x="6277356" y="2011680"/>
          <a:ext cx="5362956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10-chip10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0-text103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칸은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장일까요?</a:t>
            </a:r>
            <a:endParaRPr lang="ko-KR" sz="3000" dirty="0"/>
          </a:p>
        </p:txBody>
      </p:sp>
      <p:sp>
        <p:nvSpPr>
          <p:cNvPr id="7" name="S10-chip10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0-text105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많은 반과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스티커 수는?</a:t>
            </a:r>
            <a:endParaRPr lang="ko-KR" sz="3000" dirty="0"/>
          </a:p>
        </p:txBody>
      </p:sp>
      <p:sp>
        <p:nvSpPr>
          <p:cNvPr id="9" name="S10-chip10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0-text107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4반은 3반보다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장 더 많을까요?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그리기 전에 정해요</a:t>
            </a:r>
            <a:endParaRPr lang="ko-KR" sz="4000" dirty="0"/>
          </a:p>
        </p:txBody>
      </p:sp>
      <p:sp>
        <p:nvSpPr>
          <p:cNvPr id="3" name="S12-text10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색깔별 학생 수예요.</a:t>
            </a:r>
            <a:endParaRPr lang="ko-KR" sz="3000" dirty="0"/>
          </a:p>
        </p:txBody>
      </p:sp>
      <p:graphicFrame>
        <p:nvGraphicFramePr>
          <p:cNvPr id="12" name="S12-table10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697480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색깔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빨강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파랑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노랑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초록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244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2-chip11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400" dirty="0"/>
          </a:p>
        </p:txBody>
      </p:sp>
      <p:sp>
        <p:nvSpPr>
          <p:cNvPr id="6" name="S12-text111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2명으로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막대는 몇 칸?</a:t>
            </a:r>
            <a:endParaRPr lang="ko-KR" sz="3000" dirty="0"/>
          </a:p>
        </p:txBody>
      </p:sp>
      <p:sp>
        <p:nvSpPr>
          <p:cNvPr id="7" name="S12-chip11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400" dirty="0"/>
          </a:p>
        </p:txBody>
      </p:sp>
      <p:sp>
        <p:nvSpPr>
          <p:cNvPr id="8" name="S12-text113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2명으로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노랑 막대는 몇 칸?</a:t>
            </a:r>
            <a:endParaRPr lang="ko-KR" sz="3000" dirty="0"/>
          </a:p>
        </p:txBody>
      </p:sp>
      <p:sp>
        <p:nvSpPr>
          <p:cNvPr id="9" name="S12-chip11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400" dirty="0"/>
          </a:p>
        </p:txBody>
      </p:sp>
      <p:sp>
        <p:nvSpPr>
          <p:cNvPr id="10" name="S12-text115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칸을 1명으로 하면</a:t>
            </a:r>
            <a:endParaRPr lang="ko-KR" sz="3000" dirty="0"/>
          </a:p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파랑 막대는 몇 칸?</a:t>
            </a:r>
            <a:endParaRPr lang="ko-KR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16"/>
          <p:cNvSpPr/>
          <p:nvPr/>
        </p:nvSpPr>
        <p:spPr>
          <a:xfrm>
            <a:off x="548640" y="1325880"/>
            <a:ext cx="11091672" cy="1258824"/>
          </a:xfrm>
          <a:prstGeom prst="roundRect">
            <a:avLst>
              <a:gd name="adj" fmla="val 8717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17"/>
          <p:cNvSpPr txBox="1"/>
          <p:nvPr/>
        </p:nvSpPr>
        <p:spPr>
          <a:xfrm>
            <a:off x="822960" y="1463040"/>
            <a:ext cx="10543032" cy="984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막대그래프는 수를 막대의 길이로 나타내요. 눈금 한 칸의 크기부터 봐요.</a:t>
            </a:r>
            <a:endParaRPr lang="ko-KR" sz="3000" dirty="0"/>
          </a:p>
        </p:txBody>
      </p:sp>
      <p:sp>
        <p:nvSpPr>
          <p:cNvPr id="5" name="S13-chip118"/>
          <p:cNvSpPr txBox="1"/>
          <p:nvPr/>
        </p:nvSpPr>
        <p:spPr>
          <a:xfrm>
            <a:off x="548640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눈금 한 칸의 크기 확인하기</a:t>
            </a:r>
            <a:endParaRPr lang="ko-KR" sz="2400" dirty="0"/>
          </a:p>
        </p:txBody>
      </p:sp>
      <p:sp>
        <p:nvSpPr>
          <p:cNvPr id="6" name="S13-chip119"/>
          <p:cNvSpPr txBox="1"/>
          <p:nvPr/>
        </p:nvSpPr>
        <p:spPr>
          <a:xfrm>
            <a:off x="6208776" y="2813304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칸 수를 그대로 수로 읽기</a:t>
            </a:r>
            <a:endParaRPr lang="ko-KR" sz="2400" dirty="0"/>
          </a:p>
        </p:txBody>
      </p:sp>
      <p:sp>
        <p:nvSpPr>
          <p:cNvPr id="7" name="S13-text120"/>
          <p:cNvSpPr txBox="1"/>
          <p:nvPr/>
        </p:nvSpPr>
        <p:spPr>
          <a:xfrm>
            <a:off x="548640" y="3636264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400" dirty="0"/>
          </a:p>
        </p:txBody>
      </p:sp>
      <p:sp>
        <p:nvSpPr>
          <p:cNvPr id="8" name="S13-text121"/>
          <p:cNvSpPr txBox="1"/>
          <p:nvPr/>
        </p:nvSpPr>
        <p:spPr>
          <a:xfrm>
            <a:off x="548640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칸이 5명일 때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4칸은 몇 명?</a:t>
            </a:r>
            <a:endParaRPr lang="ko-KR" sz="2400" dirty="0"/>
          </a:p>
        </p:txBody>
      </p:sp>
      <p:sp>
        <p:nvSpPr>
          <p:cNvPr id="9" name="S13-text122"/>
          <p:cNvSpPr txBox="1"/>
          <p:nvPr/>
        </p:nvSpPr>
        <p:spPr>
          <a:xfrm>
            <a:off x="4322064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14명을 한 칸 2명으로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그리면 몇 칸?</a:t>
            </a:r>
            <a:endParaRPr lang="ko-KR" sz="2400" dirty="0"/>
          </a:p>
        </p:txBody>
      </p:sp>
      <p:sp>
        <p:nvSpPr>
          <p:cNvPr id="10" name="S13-text123"/>
          <p:cNvSpPr txBox="1"/>
          <p:nvPr/>
        </p:nvSpPr>
        <p:spPr>
          <a:xfrm>
            <a:off x="8095488" y="4139184"/>
            <a:ext cx="3544824" cy="1438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가장 많은 것은</a:t>
            </a:r>
            <a:endParaRPr lang="ko-KR" sz="2400" dirty="0"/>
          </a:p>
          <a:p>
            <a:pPr eaLnBrk="0" algn="l" indent="0" marL="0">
              <a:buNone/>
            </a:pPr>
            <a:r>
              <a:rPr lang="ko-KR" altLang="en-US" sz="24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찾아요?</a:t>
            </a:r>
            <a:endParaRPr lang="ko-KR" sz="2400" dirty="0"/>
          </a:p>
        </p:txBody>
      </p:sp>
      <p:sp>
        <p:nvSpPr>
          <p:cNvPr id="11" name="S13-text12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4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꺾은선그래프</a:t>
            </a:r>
            <a:endParaRPr lang="ko-KR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칸을 세어 읽어요</a:t>
            </a:r>
            <a:endParaRPr lang="ko-KR" sz="4000" dirty="0"/>
          </a:p>
        </p:txBody>
      </p:sp>
      <p:sp>
        <p:nvSpPr>
          <p:cNvPr id="3" name="S14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 한 칸이 1명인 막대그래프예요.</a:t>
            </a:r>
            <a:endParaRPr lang="ko-KR" sz="3000" dirty="0"/>
          </a:p>
        </p:txBody>
      </p:sp>
      <p:sp>
        <p:nvSpPr>
          <p:cNvPr id="4" name="S14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4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0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막대 끝에서 옆으로 따라가 눈금 숫자를 읽어요.</a:t>
            </a:r>
            <a:endParaRPr lang="ko-KR" sz="3000" dirty="0"/>
          </a:p>
        </p:txBody>
      </p:sp>
      <p:graphicFrame>
        <p:nvGraphicFramePr>
          <p:cNvPr id="6" name="S14-chart128" descr=""/>
          <p:cNvGraphicFramePr/>
          <p:nvPr/>
        </p:nvGraphicFramePr>
        <p:xfrm>
          <a:off x="548640" y="2011680"/>
          <a:ext cx="11091672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초4 수학 막대그래프</dc:title>
  <dc:subject>KR22-G04-MAT-BARGRAPH-L01</dc:subject>
  <dc:creator>education-ppt</dc:creator>
  <cp:lastModifiedBy>education-ppt</cp:lastModifiedBy>
  <cp:revision>1</cp:revision>
  <dcterms:created xsi:type="dcterms:W3CDTF">2026-10-26T07:54:53Z</dcterms:created>
  <dcterms:modified xsi:type="dcterms:W3CDTF">2026-10-26T07:54:53Z</dcterms:modified>
</cp:coreProperties>
</file>