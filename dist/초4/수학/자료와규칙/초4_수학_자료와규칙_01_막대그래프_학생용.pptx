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ab22488-8eb5-a90f-4132-ad6bf21b320c}">
          <p14:sldIdLst>
            <p14:sldId id="256"/>
            <p14:sldId id="257"/>
          </p14:sldIdLst>
        </p14:section>
        <p14:section name="개념" id="{20148bb2-7b10-70e9-9149-53283d8a8ced}">
          <p14:sldIdLst>
            <p14:sldId id="258"/>
            <p14:sldId id="259"/>
            <p14:sldId id="260"/>
            <p14:sldId id="263"/>
          </p14:sldIdLst>
        </p14:section>
        <p14:section name="연습" id="{3aefe2dc-e558-e5e8-b422-dafa1d387e66}">
          <p14:sldIdLst>
            <p14:sldId id="261"/>
            <p14:sldId id="262"/>
            <p14:sldId id="264"/>
          </p14:sldIdLst>
        </p14:section>
        <p14:section name="개념" id="{0b20122e-6d3b-0bfb-c234-44ade9c71ab9}">
          <p14:sldIdLst/>
        </p14:section>
        <p14:section name="연습" id="{2ffbf20d-7007-27ec-092c-8514546e1e60}">
          <p14:sldIdLst/>
        </p14:section>
        <p14:section name="확인" id="{a003c15a-cea5-eebd-a6f0-43b981c8200a}">
          <p14:sldIdLst>
            <p14:sldId id="265"/>
            <p14:sldId id="266"/>
          </p14:sldIdLst>
        </p14:section>
        <p14:section name="정리" id="{d2a47b5d-065a-2926-e876-b88796bebef0}">
          <p14:sldIdLst>
            <p14:sldId id="267"/>
          </p14:sldIdLst>
        </p14:section>
        <p14:section name="보충" id="{691e3f98-9084-cc38-2607-dc7ee7eac48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자료와규칙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막대그래프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막대그래프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막대그래프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운동을 가장 좋아할까?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7869555" y="10058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7869555" y="137160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7869555" y="173736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7869555" y="210312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7869555" y="246888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7869555" y="28346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figure7" descr="막대그래프 모양: 축구 막대 6칸"/>
          <p:cNvSpPr/>
          <p:nvPr/>
        </p:nvSpPr>
        <p:spPr>
          <a:xfrm>
            <a:off x="7869555" y="1005840"/>
            <a:ext cx="3657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8932545" y="10058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8932545" y="13716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8932545" y="17373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932545" y="210312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932545" y="246888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932545" y="28346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figure14" descr="막대그래프 모양: 야구 막대 3칸"/>
          <p:cNvSpPr/>
          <p:nvPr/>
        </p:nvSpPr>
        <p:spPr>
          <a:xfrm>
            <a:off x="8932545" y="1005840"/>
            <a:ext cx="3657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995535" y="10058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9995535" y="137160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9995535" y="173736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9995535" y="210312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9995535" y="246888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9995535" y="28346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figure21" descr="막대그래프 모양: 수영 막대 5칸"/>
          <p:cNvSpPr/>
          <p:nvPr/>
        </p:nvSpPr>
        <p:spPr>
          <a:xfrm>
            <a:off x="9995535" y="1005840"/>
            <a:ext cx="3657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11058525" y="10058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11058525" y="13716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11058525" y="173736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11058525" y="210312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1058525" y="246888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11058525" y="28346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figure28" descr="막대그래프 모양: 농구 막대 4칸"/>
          <p:cNvSpPr/>
          <p:nvPr/>
        </p:nvSpPr>
        <p:spPr>
          <a:xfrm>
            <a:off x="11058525" y="1005840"/>
            <a:ext cx="3657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1-card29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3" name="S01-cardtext30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막대그래프를 읽고 알 수 있는 것을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표를 보고 막대그래프로 나타내요.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그림그래프예요. ●는 10명, ○는 1명이에요.</a:t>
            </a:r>
            <a:endParaRPr lang="ko-KR" sz="3000" dirty="0"/>
          </a:p>
        </p:txBody>
      </p:sp>
      <p:graphicFrame>
        <p:nvGraphicFramePr>
          <p:cNvPr id="3" name="S02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3012440"/>
          <a:ext cx="420624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2944368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●●○○○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●●●○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●○○○○○○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2-chip3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2-text34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 학생은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명일까요?</a:t>
            </a:r>
            <a:endParaRPr lang="ko-KR" sz="3000" dirty="0"/>
          </a:p>
        </p:txBody>
      </p:sp>
      <p:sp>
        <p:nvSpPr>
          <p:cNvPr id="7" name="S02-chip3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2-text36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가장 많은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마을은 어디일까요?</a:t>
            </a:r>
            <a:endParaRPr lang="ko-KR" sz="3000" dirty="0"/>
          </a:p>
        </p:txBody>
      </p:sp>
      <p:sp>
        <p:nvSpPr>
          <p:cNvPr id="9" name="S02-chip3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2-text3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마을 학생은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 알아보기</a:t>
            </a:r>
            <a:endParaRPr lang="ko-KR" sz="4000" dirty="0"/>
          </a:p>
        </p:txBody>
      </p:sp>
      <p:sp>
        <p:nvSpPr>
          <p:cNvPr id="3" name="S03-card3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수를 막대의 길이로 나타낸 그래프를 막대그래프라고 해요.</a:t>
            </a:r>
            <a:endParaRPr lang="ko-KR" sz="3000" dirty="0"/>
          </a:p>
        </p:txBody>
      </p:sp>
      <p:sp>
        <p:nvSpPr>
          <p:cNvPr id="5" name="S03-figure41" descr="막대그래프 ‘좋아하는 운동별 학생 수’(세로 눈금 한 칸 1): 축구 6, 야구 3, 수영 5, 농구 4"/>
          <p:cNvSpPr/>
          <p:nvPr/>
        </p:nvSpPr>
        <p:spPr>
          <a:xfrm>
            <a:off x="2333090" y="2235539"/>
            <a:ext cx="409109" cy="2045547"/>
          </a:xfrm>
          <a:custGeom>
            <a:avLst/>
            <a:gdLst/>
            <a:ahLst/>
            <a:cxnLst/>
            <a:rect l="l" t="t" r="r" b="b"/>
            <a:pathLst>
              <a:path w="409109" h="2045547">
                <a:moveTo>
                  <a:pt x="0" y="2045547"/>
                </a:moveTo>
                <a:lnTo>
                  <a:pt x="409109" y="2045547"/>
                </a:lnTo>
                <a:lnTo>
                  <a:pt x="4091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mark42"/>
          <p:cNvSpPr/>
          <p:nvPr/>
        </p:nvSpPr>
        <p:spPr>
          <a:xfrm>
            <a:off x="3151309" y="3258312"/>
            <a:ext cx="409109" cy="1022773"/>
          </a:xfrm>
          <a:custGeom>
            <a:avLst/>
            <a:gdLst/>
            <a:ahLst/>
            <a:cxnLst/>
            <a:rect l="l" t="t" r="r" b="b"/>
            <a:pathLst>
              <a:path w="409109" h="1022773">
                <a:moveTo>
                  <a:pt x="0" y="1022773"/>
                </a:moveTo>
                <a:lnTo>
                  <a:pt x="409109" y="1022773"/>
                </a:lnTo>
                <a:lnTo>
                  <a:pt x="4091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43"/>
          <p:cNvSpPr/>
          <p:nvPr/>
        </p:nvSpPr>
        <p:spPr>
          <a:xfrm>
            <a:off x="3969528" y="2576463"/>
            <a:ext cx="409109" cy="1704622"/>
          </a:xfrm>
          <a:custGeom>
            <a:avLst/>
            <a:gdLst/>
            <a:ahLst/>
            <a:cxnLst/>
            <a:rect l="l" t="t" r="r" b="b"/>
            <a:pathLst>
              <a:path w="409109" h="1704622">
                <a:moveTo>
                  <a:pt x="0" y="1704622"/>
                </a:moveTo>
                <a:lnTo>
                  <a:pt x="409109" y="1704622"/>
                </a:lnTo>
                <a:lnTo>
                  <a:pt x="4091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44"/>
          <p:cNvSpPr/>
          <p:nvPr/>
        </p:nvSpPr>
        <p:spPr>
          <a:xfrm>
            <a:off x="4787746" y="2917388"/>
            <a:ext cx="409109" cy="1363698"/>
          </a:xfrm>
          <a:custGeom>
            <a:avLst/>
            <a:gdLst/>
            <a:ahLst/>
            <a:cxnLst/>
            <a:rect l="l" t="t" r="r" b="b"/>
            <a:pathLst>
              <a:path w="409109" h="1363698">
                <a:moveTo>
                  <a:pt x="0" y="1363698"/>
                </a:moveTo>
                <a:lnTo>
                  <a:pt x="409109" y="1363698"/>
                </a:lnTo>
                <a:lnTo>
                  <a:pt x="4091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45"/>
          <p:cNvSpPr/>
          <p:nvPr/>
        </p:nvSpPr>
        <p:spPr>
          <a:xfrm>
            <a:off x="2026258" y="3940161"/>
            <a:ext cx="347742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3-mark46"/>
          <p:cNvSpPr/>
          <p:nvPr/>
        </p:nvSpPr>
        <p:spPr>
          <a:xfrm>
            <a:off x="2026258" y="3599236"/>
            <a:ext cx="347742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47"/>
          <p:cNvSpPr/>
          <p:nvPr/>
        </p:nvSpPr>
        <p:spPr>
          <a:xfrm>
            <a:off x="2026258" y="3258312"/>
            <a:ext cx="347742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48"/>
          <p:cNvSpPr/>
          <p:nvPr/>
        </p:nvSpPr>
        <p:spPr>
          <a:xfrm>
            <a:off x="2026258" y="2917388"/>
            <a:ext cx="347742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49"/>
          <p:cNvSpPr/>
          <p:nvPr/>
        </p:nvSpPr>
        <p:spPr>
          <a:xfrm>
            <a:off x="2026258" y="2576463"/>
            <a:ext cx="347742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50"/>
          <p:cNvSpPr/>
          <p:nvPr/>
        </p:nvSpPr>
        <p:spPr>
          <a:xfrm>
            <a:off x="2026258" y="2235539"/>
            <a:ext cx="347742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51"/>
          <p:cNvSpPr/>
          <p:nvPr/>
        </p:nvSpPr>
        <p:spPr>
          <a:xfrm>
            <a:off x="2026258" y="4281085"/>
            <a:ext cx="3477429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3-mark52"/>
          <p:cNvSpPr/>
          <p:nvPr/>
        </p:nvSpPr>
        <p:spPr>
          <a:xfrm flipV="1">
            <a:off x="2026258" y="2099169"/>
            <a:ext cx="0" cy="218191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3-label54"/>
          <p:cNvSpPr txBox="1"/>
          <p:nvPr/>
        </p:nvSpPr>
        <p:spPr>
          <a:xfrm>
            <a:off x="1615117" y="409058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8" name="S03-label56"/>
          <p:cNvSpPr txBox="1"/>
          <p:nvPr/>
        </p:nvSpPr>
        <p:spPr>
          <a:xfrm>
            <a:off x="1615117" y="409058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9" name="S03-label58"/>
          <p:cNvSpPr txBox="1"/>
          <p:nvPr/>
        </p:nvSpPr>
        <p:spPr>
          <a:xfrm>
            <a:off x="1615117" y="374966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0" name="S03-label60"/>
          <p:cNvSpPr txBox="1"/>
          <p:nvPr/>
        </p:nvSpPr>
        <p:spPr>
          <a:xfrm>
            <a:off x="1615117" y="34087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1" name="S03-label62"/>
          <p:cNvSpPr txBox="1"/>
          <p:nvPr/>
        </p:nvSpPr>
        <p:spPr>
          <a:xfrm>
            <a:off x="1615117" y="306781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2" name="S03-label64"/>
          <p:cNvSpPr txBox="1"/>
          <p:nvPr/>
        </p:nvSpPr>
        <p:spPr>
          <a:xfrm>
            <a:off x="1615117" y="272688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3" name="S03-label66"/>
          <p:cNvSpPr txBox="1"/>
          <p:nvPr/>
        </p:nvSpPr>
        <p:spPr>
          <a:xfrm>
            <a:off x="1615117" y="238596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4" name="S03-label68"/>
          <p:cNvSpPr txBox="1"/>
          <p:nvPr/>
        </p:nvSpPr>
        <p:spPr>
          <a:xfrm>
            <a:off x="1615117" y="204503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5" name="S03-label70"/>
          <p:cNvSpPr txBox="1"/>
          <p:nvPr/>
        </p:nvSpPr>
        <p:spPr>
          <a:xfrm>
            <a:off x="1383469" y="1704114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400" dirty="0"/>
          </a:p>
        </p:txBody>
      </p:sp>
      <p:sp>
        <p:nvSpPr>
          <p:cNvPr id="26" name="S03-label72"/>
          <p:cNvSpPr txBox="1"/>
          <p:nvPr/>
        </p:nvSpPr>
        <p:spPr>
          <a:xfrm>
            <a:off x="2184077" y="431218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</a:t>
            </a:r>
            <a:endParaRPr lang="ko-KR" sz="2400" dirty="0"/>
          </a:p>
        </p:txBody>
      </p:sp>
      <p:sp>
        <p:nvSpPr>
          <p:cNvPr id="27" name="S03-label74"/>
          <p:cNvSpPr txBox="1"/>
          <p:nvPr/>
        </p:nvSpPr>
        <p:spPr>
          <a:xfrm>
            <a:off x="3002296" y="431218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</a:t>
            </a:r>
            <a:endParaRPr lang="ko-KR" sz="2400" dirty="0"/>
          </a:p>
        </p:txBody>
      </p:sp>
      <p:sp>
        <p:nvSpPr>
          <p:cNvPr id="28" name="S03-label76"/>
          <p:cNvSpPr txBox="1"/>
          <p:nvPr/>
        </p:nvSpPr>
        <p:spPr>
          <a:xfrm>
            <a:off x="3820514" y="431218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</a:t>
            </a:r>
            <a:endParaRPr lang="ko-KR" sz="2400" dirty="0"/>
          </a:p>
        </p:txBody>
      </p:sp>
      <p:sp>
        <p:nvSpPr>
          <p:cNvPr id="29" name="S03-label78"/>
          <p:cNvSpPr txBox="1"/>
          <p:nvPr/>
        </p:nvSpPr>
        <p:spPr>
          <a:xfrm>
            <a:off x="4638733" y="431218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농구</a:t>
            </a:r>
            <a:endParaRPr lang="ko-KR" sz="2400" dirty="0"/>
          </a:p>
        </p:txBody>
      </p:sp>
      <p:sp>
        <p:nvSpPr>
          <p:cNvPr id="30" name="S03-label80"/>
          <p:cNvSpPr txBox="1"/>
          <p:nvPr/>
        </p:nvSpPr>
        <p:spPr>
          <a:xfrm>
            <a:off x="2079429" y="1363190"/>
            <a:ext cx="33710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운동별 학생 수</a:t>
            </a:r>
            <a:endParaRPr lang="ko-KR" sz="2400" dirty="0"/>
          </a:p>
        </p:txBody>
      </p:sp>
      <p:sp>
        <p:nvSpPr>
          <p:cNvPr id="31" name="S03-card81"/>
          <p:cNvSpPr/>
          <p:nvPr/>
        </p:nvSpPr>
        <p:spPr>
          <a:xfrm>
            <a:off x="6920911" y="1496568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3-cardtext82"/>
          <p:cNvSpPr txBox="1"/>
          <p:nvPr/>
        </p:nvSpPr>
        <p:spPr>
          <a:xfrm>
            <a:off x="7195231" y="1633728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가로: 운동</a:t>
            </a:r>
            <a:endParaRPr lang="ko-KR" sz="3000" dirty="0"/>
          </a:p>
        </p:txBody>
      </p:sp>
      <p:sp>
        <p:nvSpPr>
          <p:cNvPr id="33" name="S03-card83"/>
          <p:cNvSpPr/>
          <p:nvPr/>
        </p:nvSpPr>
        <p:spPr>
          <a:xfrm>
            <a:off x="6920911" y="2593848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3-cardtext84"/>
          <p:cNvSpPr txBox="1"/>
          <p:nvPr/>
        </p:nvSpPr>
        <p:spPr>
          <a:xfrm>
            <a:off x="7195231" y="2731008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세로: 학생 수</a:t>
            </a:r>
            <a:endParaRPr lang="ko-KR" sz="3000" dirty="0"/>
          </a:p>
        </p:txBody>
      </p:sp>
      <p:sp>
        <p:nvSpPr>
          <p:cNvPr id="35" name="S03-card85"/>
          <p:cNvSpPr/>
          <p:nvPr/>
        </p:nvSpPr>
        <p:spPr>
          <a:xfrm>
            <a:off x="6920911" y="3691128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03-cardtext86"/>
          <p:cNvSpPr txBox="1"/>
          <p:nvPr/>
        </p:nvSpPr>
        <p:spPr>
          <a:xfrm>
            <a:off x="7195231" y="3828288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칸: 1명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칸의 크기</a:t>
            </a:r>
            <a:endParaRPr lang="ko-KR" sz="4000" dirty="0"/>
          </a:p>
        </p:txBody>
      </p:sp>
      <p:sp>
        <p:nvSpPr>
          <p:cNvPr id="3" name="S04-text8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문고의 과학책은 몇 권일까요?</a:t>
            </a:r>
            <a:endParaRPr lang="ko-KR" sz="3000" dirty="0"/>
          </a:p>
        </p:txBody>
      </p:sp>
      <p:sp>
        <p:nvSpPr>
          <p:cNvPr id="4" name="S04-figure88" descr="막대그래프(세로 눈금 한 칸 2): 동화 12, 위인 6, 과학 10, 만화 4"/>
          <p:cNvSpPr/>
          <p:nvPr/>
        </p:nvSpPr>
        <p:spPr>
          <a:xfrm>
            <a:off x="7715415" y="3249709"/>
            <a:ext cx="489377" cy="2446887"/>
          </a:xfrm>
          <a:custGeom>
            <a:avLst/>
            <a:gdLst/>
            <a:ahLst/>
            <a:cxnLst/>
            <a:rect l="l" t="t" r="r" b="b"/>
            <a:pathLst>
              <a:path w="489377" h="2446887">
                <a:moveTo>
                  <a:pt x="0" y="2446887"/>
                </a:moveTo>
                <a:lnTo>
                  <a:pt x="489377" y="2446887"/>
                </a:lnTo>
                <a:lnTo>
                  <a:pt x="4893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4-mark89"/>
          <p:cNvSpPr/>
          <p:nvPr/>
        </p:nvSpPr>
        <p:spPr>
          <a:xfrm>
            <a:off x="8694170" y="4473152"/>
            <a:ext cx="489377" cy="1223444"/>
          </a:xfrm>
          <a:custGeom>
            <a:avLst/>
            <a:gdLst/>
            <a:ahLst/>
            <a:cxnLst/>
            <a:rect l="l" t="t" r="r" b="b"/>
            <a:pathLst>
              <a:path w="489377" h="1223444">
                <a:moveTo>
                  <a:pt x="0" y="1223444"/>
                </a:moveTo>
                <a:lnTo>
                  <a:pt x="489377" y="1223444"/>
                </a:lnTo>
                <a:lnTo>
                  <a:pt x="4893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90"/>
          <p:cNvSpPr/>
          <p:nvPr/>
        </p:nvSpPr>
        <p:spPr>
          <a:xfrm>
            <a:off x="9672925" y="3657523"/>
            <a:ext cx="489377" cy="2039073"/>
          </a:xfrm>
          <a:custGeom>
            <a:avLst/>
            <a:gdLst/>
            <a:ahLst/>
            <a:cxnLst/>
            <a:rect l="l" t="t" r="r" b="b"/>
            <a:pathLst>
              <a:path w="489377" h="2039073">
                <a:moveTo>
                  <a:pt x="0" y="2039073"/>
                </a:moveTo>
                <a:lnTo>
                  <a:pt x="489377" y="2039073"/>
                </a:lnTo>
                <a:lnTo>
                  <a:pt x="4893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91"/>
          <p:cNvSpPr/>
          <p:nvPr/>
        </p:nvSpPr>
        <p:spPr>
          <a:xfrm>
            <a:off x="10651680" y="4880967"/>
            <a:ext cx="489377" cy="815629"/>
          </a:xfrm>
          <a:custGeom>
            <a:avLst/>
            <a:gdLst/>
            <a:ahLst/>
            <a:cxnLst/>
            <a:rect l="l" t="t" r="r" b="b"/>
            <a:pathLst>
              <a:path w="489377" h="815629">
                <a:moveTo>
                  <a:pt x="0" y="815629"/>
                </a:moveTo>
                <a:lnTo>
                  <a:pt x="489377" y="815629"/>
                </a:lnTo>
                <a:lnTo>
                  <a:pt x="4893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92"/>
          <p:cNvSpPr/>
          <p:nvPr/>
        </p:nvSpPr>
        <p:spPr>
          <a:xfrm>
            <a:off x="7348382" y="5288781"/>
            <a:ext cx="4159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4-mark93"/>
          <p:cNvSpPr/>
          <p:nvPr/>
        </p:nvSpPr>
        <p:spPr>
          <a:xfrm>
            <a:off x="7348382" y="4880967"/>
            <a:ext cx="4159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94"/>
          <p:cNvSpPr/>
          <p:nvPr/>
        </p:nvSpPr>
        <p:spPr>
          <a:xfrm>
            <a:off x="7348382" y="4473152"/>
            <a:ext cx="4159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95"/>
          <p:cNvSpPr/>
          <p:nvPr/>
        </p:nvSpPr>
        <p:spPr>
          <a:xfrm>
            <a:off x="7348382" y="4065338"/>
            <a:ext cx="4159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96"/>
          <p:cNvSpPr/>
          <p:nvPr/>
        </p:nvSpPr>
        <p:spPr>
          <a:xfrm>
            <a:off x="7348382" y="3657523"/>
            <a:ext cx="4159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97"/>
          <p:cNvSpPr/>
          <p:nvPr/>
        </p:nvSpPr>
        <p:spPr>
          <a:xfrm>
            <a:off x="7348382" y="3249709"/>
            <a:ext cx="4159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98"/>
          <p:cNvSpPr/>
          <p:nvPr/>
        </p:nvSpPr>
        <p:spPr>
          <a:xfrm>
            <a:off x="7348382" y="5696596"/>
            <a:ext cx="415970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4-mark99"/>
          <p:cNvSpPr/>
          <p:nvPr/>
        </p:nvSpPr>
        <p:spPr>
          <a:xfrm flipV="1">
            <a:off x="7348382" y="3086583"/>
            <a:ext cx="0" cy="2610013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4-label101"/>
          <p:cNvSpPr txBox="1"/>
          <p:nvPr/>
        </p:nvSpPr>
        <p:spPr>
          <a:xfrm>
            <a:off x="6887073" y="550609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7" name="S04-label103"/>
          <p:cNvSpPr txBox="1"/>
          <p:nvPr/>
        </p:nvSpPr>
        <p:spPr>
          <a:xfrm>
            <a:off x="6887073" y="550609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8" name="S04-label105"/>
          <p:cNvSpPr txBox="1"/>
          <p:nvPr/>
        </p:nvSpPr>
        <p:spPr>
          <a:xfrm>
            <a:off x="6887073" y="509828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04-label107"/>
          <p:cNvSpPr txBox="1"/>
          <p:nvPr/>
        </p:nvSpPr>
        <p:spPr>
          <a:xfrm>
            <a:off x="6887073" y="469046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0" name="S04-label109"/>
          <p:cNvSpPr txBox="1"/>
          <p:nvPr/>
        </p:nvSpPr>
        <p:spPr>
          <a:xfrm>
            <a:off x="6887073" y="428265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1" name="S04-label111"/>
          <p:cNvSpPr txBox="1"/>
          <p:nvPr/>
        </p:nvSpPr>
        <p:spPr>
          <a:xfrm>
            <a:off x="6887073" y="387483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2" name="S04-label113"/>
          <p:cNvSpPr txBox="1"/>
          <p:nvPr/>
        </p:nvSpPr>
        <p:spPr>
          <a:xfrm>
            <a:off x="6786489" y="346702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3" name="S04-label115"/>
          <p:cNvSpPr txBox="1"/>
          <p:nvPr/>
        </p:nvSpPr>
        <p:spPr>
          <a:xfrm>
            <a:off x="6786489" y="305920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24" name="S04-label117"/>
          <p:cNvSpPr txBox="1"/>
          <p:nvPr/>
        </p:nvSpPr>
        <p:spPr>
          <a:xfrm>
            <a:off x="6655425" y="2651394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(권)</a:t>
            </a:r>
            <a:endParaRPr lang="ko-KR" sz="2400" dirty="0"/>
          </a:p>
        </p:txBody>
      </p:sp>
      <p:sp>
        <p:nvSpPr>
          <p:cNvPr id="25" name="S04-label119"/>
          <p:cNvSpPr txBox="1"/>
          <p:nvPr/>
        </p:nvSpPr>
        <p:spPr>
          <a:xfrm>
            <a:off x="7606536" y="577117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동화</a:t>
            </a:r>
            <a:endParaRPr lang="ko-KR" sz="2400" dirty="0"/>
          </a:p>
        </p:txBody>
      </p:sp>
      <p:sp>
        <p:nvSpPr>
          <p:cNvPr id="26" name="S04-label121"/>
          <p:cNvSpPr txBox="1"/>
          <p:nvPr/>
        </p:nvSpPr>
        <p:spPr>
          <a:xfrm>
            <a:off x="8585291" y="577117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위인</a:t>
            </a:r>
            <a:endParaRPr lang="ko-KR" sz="2400" dirty="0"/>
          </a:p>
        </p:txBody>
      </p:sp>
      <p:sp>
        <p:nvSpPr>
          <p:cNvPr id="27" name="S04-label123"/>
          <p:cNvSpPr txBox="1"/>
          <p:nvPr/>
        </p:nvSpPr>
        <p:spPr>
          <a:xfrm>
            <a:off x="9564046" y="577117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</a:t>
            </a:r>
            <a:endParaRPr lang="ko-KR" sz="2400" dirty="0"/>
          </a:p>
        </p:txBody>
      </p:sp>
      <p:sp>
        <p:nvSpPr>
          <p:cNvPr id="28" name="S04-label125"/>
          <p:cNvSpPr txBox="1"/>
          <p:nvPr/>
        </p:nvSpPr>
        <p:spPr>
          <a:xfrm>
            <a:off x="10542801" y="577117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만화</a:t>
            </a:r>
            <a:endParaRPr lang="ko-KR" sz="2400" dirty="0"/>
          </a:p>
        </p:txBody>
      </p:sp>
      <p:sp>
        <p:nvSpPr>
          <p:cNvPr id="29" name="S04-stepno126"/>
          <p:cNvSpPr txBox="1"/>
          <p:nvPr/>
        </p:nvSpPr>
        <p:spPr>
          <a:xfrm>
            <a:off x="548640" y="2732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0" name="S04-text127"/>
          <p:cNvSpPr txBox="1"/>
          <p:nvPr/>
        </p:nvSpPr>
        <p:spPr>
          <a:xfrm>
            <a:off x="1325880" y="2686812"/>
            <a:ext cx="501475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 숫자를 봐요.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0, 2, 4, 6 …</a:t>
            </a:r>
            <a:endParaRPr lang="ko-KR" sz="3000" dirty="0"/>
          </a:p>
        </p:txBody>
      </p:sp>
      <p:sp>
        <p:nvSpPr>
          <p:cNvPr id="31" name="S04-stepno128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2" name="S04-text129"/>
          <p:cNvSpPr txBox="1"/>
          <p:nvPr/>
        </p:nvSpPr>
        <p:spPr>
          <a:xfrm>
            <a:off x="1325880" y="3781044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 2권이에요.</a:t>
            </a:r>
            <a:endParaRPr lang="ko-KR" sz="3000" dirty="0"/>
          </a:p>
        </p:txBody>
      </p:sp>
      <p:sp>
        <p:nvSpPr>
          <p:cNvPr id="33" name="S04-stepno130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4" name="S04-text131"/>
          <p:cNvSpPr txBox="1"/>
          <p:nvPr/>
        </p:nvSpPr>
        <p:spPr>
          <a:xfrm>
            <a:off x="1325880" y="4494276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 막대는 5칸이에요.</a:t>
            </a:r>
            <a:endParaRPr lang="ko-KR" sz="3000" dirty="0"/>
          </a:p>
        </p:txBody>
      </p:sp>
      <p:sp>
        <p:nvSpPr>
          <p:cNvPr id="35" name="S04-stepno132"/>
          <p:cNvSpPr txBox="1"/>
          <p:nvPr/>
        </p:nvSpPr>
        <p:spPr>
          <a:xfrm>
            <a:off x="548640" y="52532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6" name="S04-text133"/>
          <p:cNvSpPr txBox="1"/>
          <p:nvPr/>
        </p:nvSpPr>
        <p:spPr>
          <a:xfrm>
            <a:off x="1325880" y="5207508"/>
            <a:ext cx="501475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 × 한 칸의 크기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5 = 10, 10권이에요.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막대그래프로 알 수 있어요</a:t>
            </a:r>
            <a:endParaRPr lang="ko-KR" sz="4000" dirty="0"/>
          </a:p>
        </p:txBody>
      </p:sp>
      <p:sp>
        <p:nvSpPr>
          <p:cNvPr id="3" name="S05-card13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3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합계를, 막대그래프는 많고 적음을 한눈에 보여 줘요.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축구는 야구보다 몇 명 더 많을까요?</a:t>
            </a:r>
            <a:endParaRPr lang="ko-KR" sz="3000" dirty="0"/>
          </a:p>
        </p:txBody>
      </p:sp>
      <p:graphicFrame>
        <p:nvGraphicFramePr>
          <p:cNvPr id="6" name="S05-table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29868" y="1619250"/>
          <a:ext cx="402336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5-figure137" descr="막대그래프(세로 눈금 한 칸 1): 축구 6, 야구 3, 수영 5, 농구 4"/>
          <p:cNvSpPr/>
          <p:nvPr/>
        </p:nvSpPr>
        <p:spPr>
          <a:xfrm>
            <a:off x="7569114" y="1937793"/>
            <a:ext cx="462643" cy="2313214"/>
          </a:xfrm>
          <a:custGeom>
            <a:avLst/>
            <a:gdLst/>
            <a:ahLst/>
            <a:cxnLst/>
            <a:rect l="l" t="t" r="r" b="b"/>
            <a:pathLst>
              <a:path w="462643" h="2313214">
                <a:moveTo>
                  <a:pt x="0" y="2313214"/>
                </a:moveTo>
                <a:lnTo>
                  <a:pt x="462643" y="2313214"/>
                </a:lnTo>
                <a:lnTo>
                  <a:pt x="4626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mark138"/>
          <p:cNvSpPr/>
          <p:nvPr/>
        </p:nvSpPr>
        <p:spPr>
          <a:xfrm>
            <a:off x="8494400" y="3094400"/>
            <a:ext cx="462643" cy="1156607"/>
          </a:xfrm>
          <a:custGeom>
            <a:avLst/>
            <a:gdLst/>
            <a:ahLst/>
            <a:cxnLst/>
            <a:rect l="l" t="t" r="r" b="b"/>
            <a:pathLst>
              <a:path w="462643" h="1156607">
                <a:moveTo>
                  <a:pt x="0" y="1156607"/>
                </a:moveTo>
                <a:lnTo>
                  <a:pt x="462643" y="1156607"/>
                </a:lnTo>
                <a:lnTo>
                  <a:pt x="4626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mark139"/>
          <p:cNvSpPr/>
          <p:nvPr/>
        </p:nvSpPr>
        <p:spPr>
          <a:xfrm>
            <a:off x="9419685" y="2323329"/>
            <a:ext cx="462643" cy="1927679"/>
          </a:xfrm>
          <a:custGeom>
            <a:avLst/>
            <a:gdLst/>
            <a:ahLst/>
            <a:cxnLst/>
            <a:rect l="l" t="t" r="r" b="b"/>
            <a:pathLst>
              <a:path w="462643" h="1927679">
                <a:moveTo>
                  <a:pt x="0" y="1927679"/>
                </a:moveTo>
                <a:lnTo>
                  <a:pt x="462643" y="1927679"/>
                </a:lnTo>
                <a:lnTo>
                  <a:pt x="4626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mark140"/>
          <p:cNvSpPr/>
          <p:nvPr/>
        </p:nvSpPr>
        <p:spPr>
          <a:xfrm>
            <a:off x="10344971" y="2708865"/>
            <a:ext cx="462643" cy="1542143"/>
          </a:xfrm>
          <a:custGeom>
            <a:avLst/>
            <a:gdLst/>
            <a:ahLst/>
            <a:cxnLst/>
            <a:rect l="l" t="t" r="r" b="b"/>
            <a:pathLst>
              <a:path w="462643" h="1542143">
                <a:moveTo>
                  <a:pt x="0" y="1542143"/>
                </a:moveTo>
                <a:lnTo>
                  <a:pt x="462643" y="1542143"/>
                </a:lnTo>
                <a:lnTo>
                  <a:pt x="4626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mark141"/>
          <p:cNvSpPr/>
          <p:nvPr/>
        </p:nvSpPr>
        <p:spPr>
          <a:xfrm>
            <a:off x="7222132" y="3865472"/>
            <a:ext cx="393246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142"/>
          <p:cNvSpPr/>
          <p:nvPr/>
        </p:nvSpPr>
        <p:spPr>
          <a:xfrm>
            <a:off x="7222132" y="3479936"/>
            <a:ext cx="393246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143"/>
          <p:cNvSpPr/>
          <p:nvPr/>
        </p:nvSpPr>
        <p:spPr>
          <a:xfrm>
            <a:off x="7222132" y="3094400"/>
            <a:ext cx="393246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44"/>
          <p:cNvSpPr/>
          <p:nvPr/>
        </p:nvSpPr>
        <p:spPr>
          <a:xfrm>
            <a:off x="7222132" y="2708865"/>
            <a:ext cx="393246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45"/>
          <p:cNvSpPr/>
          <p:nvPr/>
        </p:nvSpPr>
        <p:spPr>
          <a:xfrm>
            <a:off x="7222132" y="2323329"/>
            <a:ext cx="393246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146"/>
          <p:cNvSpPr/>
          <p:nvPr/>
        </p:nvSpPr>
        <p:spPr>
          <a:xfrm>
            <a:off x="7222132" y="1937793"/>
            <a:ext cx="393246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147"/>
          <p:cNvSpPr/>
          <p:nvPr/>
        </p:nvSpPr>
        <p:spPr>
          <a:xfrm>
            <a:off x="7222132" y="4251008"/>
            <a:ext cx="393246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5-mark148"/>
          <p:cNvSpPr/>
          <p:nvPr/>
        </p:nvSpPr>
        <p:spPr>
          <a:xfrm flipV="1">
            <a:off x="7222132" y="1783579"/>
            <a:ext cx="0" cy="246742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5-label150"/>
          <p:cNvSpPr txBox="1"/>
          <p:nvPr/>
        </p:nvSpPr>
        <p:spPr>
          <a:xfrm>
            <a:off x="6777532" y="4060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9" name="S05-label152"/>
          <p:cNvSpPr txBox="1"/>
          <p:nvPr/>
        </p:nvSpPr>
        <p:spPr>
          <a:xfrm>
            <a:off x="6777532" y="40605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0" name="S05-label154"/>
          <p:cNvSpPr txBox="1"/>
          <p:nvPr/>
        </p:nvSpPr>
        <p:spPr>
          <a:xfrm>
            <a:off x="6777532" y="36749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1" name="S05-label156"/>
          <p:cNvSpPr txBox="1"/>
          <p:nvPr/>
        </p:nvSpPr>
        <p:spPr>
          <a:xfrm>
            <a:off x="6777532" y="32894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2" name="S05-label158"/>
          <p:cNvSpPr txBox="1"/>
          <p:nvPr/>
        </p:nvSpPr>
        <p:spPr>
          <a:xfrm>
            <a:off x="6777532" y="290390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3" name="S05-label160"/>
          <p:cNvSpPr txBox="1"/>
          <p:nvPr/>
        </p:nvSpPr>
        <p:spPr>
          <a:xfrm>
            <a:off x="6777532" y="251836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4" name="S05-label162"/>
          <p:cNvSpPr txBox="1"/>
          <p:nvPr/>
        </p:nvSpPr>
        <p:spPr>
          <a:xfrm>
            <a:off x="6777532" y="213282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5" name="S05-label164"/>
          <p:cNvSpPr txBox="1"/>
          <p:nvPr/>
        </p:nvSpPr>
        <p:spPr>
          <a:xfrm>
            <a:off x="6777532" y="174729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6" name="S05-label166"/>
          <p:cNvSpPr txBox="1"/>
          <p:nvPr/>
        </p:nvSpPr>
        <p:spPr>
          <a:xfrm>
            <a:off x="6545884" y="1361758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400" dirty="0"/>
          </a:p>
        </p:txBody>
      </p:sp>
      <p:sp>
        <p:nvSpPr>
          <p:cNvPr id="27" name="S05-label168"/>
          <p:cNvSpPr txBox="1"/>
          <p:nvPr/>
        </p:nvSpPr>
        <p:spPr>
          <a:xfrm>
            <a:off x="7446867" y="431110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</a:t>
            </a:r>
            <a:endParaRPr lang="ko-KR" sz="2400" dirty="0"/>
          </a:p>
        </p:txBody>
      </p:sp>
      <p:sp>
        <p:nvSpPr>
          <p:cNvPr id="28" name="S05-label170"/>
          <p:cNvSpPr txBox="1"/>
          <p:nvPr/>
        </p:nvSpPr>
        <p:spPr>
          <a:xfrm>
            <a:off x="8372153" y="431110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</a:t>
            </a:r>
            <a:endParaRPr lang="ko-KR" sz="2400" dirty="0"/>
          </a:p>
        </p:txBody>
      </p:sp>
      <p:sp>
        <p:nvSpPr>
          <p:cNvPr id="29" name="S05-label172"/>
          <p:cNvSpPr txBox="1"/>
          <p:nvPr/>
        </p:nvSpPr>
        <p:spPr>
          <a:xfrm>
            <a:off x="9297439" y="431110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</a:t>
            </a:r>
            <a:endParaRPr lang="ko-KR" sz="2400" dirty="0"/>
          </a:p>
        </p:txBody>
      </p:sp>
      <p:sp>
        <p:nvSpPr>
          <p:cNvPr id="30" name="S05-label174"/>
          <p:cNvSpPr txBox="1"/>
          <p:nvPr/>
        </p:nvSpPr>
        <p:spPr>
          <a:xfrm>
            <a:off x="10222724" y="431110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읽어요</a:t>
            </a:r>
            <a:endParaRPr lang="ko-KR" sz="4000" dirty="0"/>
          </a:p>
        </p:txBody>
      </p:sp>
      <p:sp>
        <p:nvSpPr>
          <p:cNvPr id="3" name="S06-card1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1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 숫자로 한 칸의 크기부터 알아봐요.</a:t>
            </a:r>
            <a:endParaRPr lang="ko-KR" sz="3000" dirty="0"/>
          </a:p>
        </p:txBody>
      </p:sp>
      <p:sp>
        <p:nvSpPr>
          <p:cNvPr id="5" name="S06-figure177" descr="막대그래프 ‘마을별 나무 수’(세로 눈금 한 칸 5): 가 25, 나 15, 다 30, 라 10"/>
          <p:cNvSpPr/>
          <p:nvPr/>
        </p:nvSpPr>
        <p:spPr>
          <a:xfrm>
            <a:off x="7592435" y="2716832"/>
            <a:ext cx="458651" cy="1911048"/>
          </a:xfrm>
          <a:custGeom>
            <a:avLst/>
            <a:gdLst/>
            <a:ahLst/>
            <a:cxnLst/>
            <a:rect l="l" t="t" r="r" b="b"/>
            <a:pathLst>
              <a:path w="458651" h="1911048">
                <a:moveTo>
                  <a:pt x="0" y="1911048"/>
                </a:moveTo>
                <a:lnTo>
                  <a:pt x="458651" y="1911048"/>
                </a:lnTo>
                <a:lnTo>
                  <a:pt x="4586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mark178"/>
          <p:cNvSpPr/>
          <p:nvPr/>
        </p:nvSpPr>
        <p:spPr>
          <a:xfrm>
            <a:off x="8509738" y="3481251"/>
            <a:ext cx="458651" cy="1146629"/>
          </a:xfrm>
          <a:custGeom>
            <a:avLst/>
            <a:gdLst/>
            <a:ahLst/>
            <a:cxnLst/>
            <a:rect l="l" t="t" r="r" b="b"/>
            <a:pathLst>
              <a:path w="458651" h="1146629">
                <a:moveTo>
                  <a:pt x="0" y="1146629"/>
                </a:moveTo>
                <a:lnTo>
                  <a:pt x="458651" y="1146629"/>
                </a:lnTo>
                <a:lnTo>
                  <a:pt x="4586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179"/>
          <p:cNvSpPr/>
          <p:nvPr/>
        </p:nvSpPr>
        <p:spPr>
          <a:xfrm>
            <a:off x="9427041" y="2334623"/>
            <a:ext cx="458651" cy="2293257"/>
          </a:xfrm>
          <a:custGeom>
            <a:avLst/>
            <a:gdLst/>
            <a:ahLst/>
            <a:cxnLst/>
            <a:rect l="l" t="t" r="r" b="b"/>
            <a:pathLst>
              <a:path w="458651" h="2293257">
                <a:moveTo>
                  <a:pt x="0" y="2293257"/>
                </a:moveTo>
                <a:lnTo>
                  <a:pt x="458651" y="2293257"/>
                </a:lnTo>
                <a:lnTo>
                  <a:pt x="4586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180"/>
          <p:cNvSpPr/>
          <p:nvPr/>
        </p:nvSpPr>
        <p:spPr>
          <a:xfrm>
            <a:off x="10344344" y="3863461"/>
            <a:ext cx="458651" cy="764419"/>
          </a:xfrm>
          <a:custGeom>
            <a:avLst/>
            <a:gdLst/>
            <a:ahLst/>
            <a:cxnLst/>
            <a:rect l="l" t="t" r="r" b="b"/>
            <a:pathLst>
              <a:path w="458651" h="764419">
                <a:moveTo>
                  <a:pt x="0" y="764419"/>
                </a:moveTo>
                <a:lnTo>
                  <a:pt x="458651" y="764419"/>
                </a:lnTo>
                <a:lnTo>
                  <a:pt x="4586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mark181"/>
          <p:cNvSpPr/>
          <p:nvPr/>
        </p:nvSpPr>
        <p:spPr>
          <a:xfrm>
            <a:off x="7248446" y="4245670"/>
            <a:ext cx="38985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182"/>
          <p:cNvSpPr/>
          <p:nvPr/>
        </p:nvSpPr>
        <p:spPr>
          <a:xfrm>
            <a:off x="7248446" y="3863461"/>
            <a:ext cx="38985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183"/>
          <p:cNvSpPr/>
          <p:nvPr/>
        </p:nvSpPr>
        <p:spPr>
          <a:xfrm>
            <a:off x="7248446" y="3481251"/>
            <a:ext cx="38985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184"/>
          <p:cNvSpPr/>
          <p:nvPr/>
        </p:nvSpPr>
        <p:spPr>
          <a:xfrm>
            <a:off x="7248446" y="3099042"/>
            <a:ext cx="38985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185"/>
          <p:cNvSpPr/>
          <p:nvPr/>
        </p:nvSpPr>
        <p:spPr>
          <a:xfrm>
            <a:off x="7248446" y="2716832"/>
            <a:ext cx="38985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186"/>
          <p:cNvSpPr/>
          <p:nvPr/>
        </p:nvSpPr>
        <p:spPr>
          <a:xfrm>
            <a:off x="7248446" y="2334623"/>
            <a:ext cx="389853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187"/>
          <p:cNvSpPr/>
          <p:nvPr/>
        </p:nvSpPr>
        <p:spPr>
          <a:xfrm>
            <a:off x="7248446" y="4627880"/>
            <a:ext cx="389853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6-mark188"/>
          <p:cNvSpPr/>
          <p:nvPr/>
        </p:nvSpPr>
        <p:spPr>
          <a:xfrm flipV="1">
            <a:off x="7248446" y="2181739"/>
            <a:ext cx="0" cy="2446141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6-label190"/>
          <p:cNvSpPr txBox="1"/>
          <p:nvPr/>
        </p:nvSpPr>
        <p:spPr>
          <a:xfrm>
            <a:off x="6806341" y="443738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8" name="S06-label192"/>
          <p:cNvSpPr txBox="1"/>
          <p:nvPr/>
        </p:nvSpPr>
        <p:spPr>
          <a:xfrm>
            <a:off x="6806341" y="443738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9" name="S06-label194"/>
          <p:cNvSpPr txBox="1"/>
          <p:nvPr/>
        </p:nvSpPr>
        <p:spPr>
          <a:xfrm>
            <a:off x="6806341" y="405517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0" name="S06-label196"/>
          <p:cNvSpPr txBox="1"/>
          <p:nvPr/>
        </p:nvSpPr>
        <p:spPr>
          <a:xfrm>
            <a:off x="6705757" y="367296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1" name="S06-label198"/>
          <p:cNvSpPr txBox="1"/>
          <p:nvPr/>
        </p:nvSpPr>
        <p:spPr>
          <a:xfrm>
            <a:off x="6705757" y="329075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400" dirty="0"/>
          </a:p>
        </p:txBody>
      </p:sp>
      <p:sp>
        <p:nvSpPr>
          <p:cNvPr id="22" name="S06-label200"/>
          <p:cNvSpPr txBox="1"/>
          <p:nvPr/>
        </p:nvSpPr>
        <p:spPr>
          <a:xfrm>
            <a:off x="6705757" y="2908542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3" name="S06-label202"/>
          <p:cNvSpPr txBox="1"/>
          <p:nvPr/>
        </p:nvSpPr>
        <p:spPr>
          <a:xfrm>
            <a:off x="6705757" y="2526332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400" dirty="0"/>
          </a:p>
        </p:txBody>
      </p:sp>
      <p:sp>
        <p:nvSpPr>
          <p:cNvPr id="24" name="S06-label204"/>
          <p:cNvSpPr txBox="1"/>
          <p:nvPr/>
        </p:nvSpPr>
        <p:spPr>
          <a:xfrm>
            <a:off x="6705757" y="214412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25" name="S06-label206"/>
          <p:cNvSpPr txBox="1"/>
          <p:nvPr/>
        </p:nvSpPr>
        <p:spPr>
          <a:xfrm>
            <a:off x="6425341" y="1761913"/>
            <a:ext cx="1072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(그루)</a:t>
            </a:r>
            <a:endParaRPr lang="ko-KR" sz="2400" dirty="0"/>
          </a:p>
        </p:txBody>
      </p:sp>
      <p:sp>
        <p:nvSpPr>
          <p:cNvPr id="26" name="S06-label208"/>
          <p:cNvSpPr txBox="1"/>
          <p:nvPr/>
        </p:nvSpPr>
        <p:spPr>
          <a:xfrm>
            <a:off x="7617545" y="468581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27" name="S06-label210"/>
          <p:cNvSpPr txBox="1"/>
          <p:nvPr/>
        </p:nvSpPr>
        <p:spPr>
          <a:xfrm>
            <a:off x="8534848" y="468581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28" name="S06-label212"/>
          <p:cNvSpPr txBox="1"/>
          <p:nvPr/>
        </p:nvSpPr>
        <p:spPr>
          <a:xfrm>
            <a:off x="9452150" y="468581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29" name="S06-label214"/>
          <p:cNvSpPr txBox="1"/>
          <p:nvPr/>
        </p:nvSpPr>
        <p:spPr>
          <a:xfrm>
            <a:off x="10369453" y="468581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30" name="S06-label216"/>
          <p:cNvSpPr txBox="1"/>
          <p:nvPr/>
        </p:nvSpPr>
        <p:spPr>
          <a:xfrm>
            <a:off x="8155299" y="1379704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나무 수</a:t>
            </a:r>
            <a:endParaRPr lang="ko-KR" sz="2400" dirty="0"/>
          </a:p>
        </p:txBody>
      </p:sp>
      <p:sp>
        <p:nvSpPr>
          <p:cNvPr id="31" name="S06-chip217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2" name="S06-text218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그루일까요?</a:t>
            </a:r>
            <a:endParaRPr lang="ko-KR" sz="3000" dirty="0"/>
          </a:p>
        </p:txBody>
      </p:sp>
      <p:sp>
        <p:nvSpPr>
          <p:cNvPr id="33" name="S06-chip219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4" name="S06-text220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나무가 가장 많은 마을과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수는?</a:t>
            </a:r>
            <a:endParaRPr lang="ko-KR" sz="3000" dirty="0"/>
          </a:p>
        </p:txBody>
      </p:sp>
      <p:sp>
        <p:nvSpPr>
          <p:cNvPr id="35" name="S06-chip22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6" name="S06-text222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마을은 라 마을보다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그루 더 많을까요?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수가 곧 수일까요?</a:t>
            </a:r>
            <a:endParaRPr lang="ko-KR" sz="4000" dirty="0"/>
          </a:p>
        </p:txBody>
      </p:sp>
      <p:sp>
        <p:nvSpPr>
          <p:cNvPr id="3" name="S07-card2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반별 안경을 쓴 학생 수예요. 누구 말이 맞을까요?</a:t>
            </a:r>
            <a:endParaRPr lang="ko-KR" sz="3000" dirty="0"/>
          </a:p>
        </p:txBody>
      </p:sp>
      <p:sp>
        <p:nvSpPr>
          <p:cNvPr id="5" name="S07-figure225" descr="막대그래프(세로 눈금 한 칸 2): 1반 8, 2반 4, 3반 10, 4반 6"/>
          <p:cNvSpPr/>
          <p:nvPr/>
        </p:nvSpPr>
        <p:spPr>
          <a:xfrm>
            <a:off x="1692919" y="2857772"/>
            <a:ext cx="515983" cy="1719943"/>
          </a:xfrm>
          <a:custGeom>
            <a:avLst/>
            <a:gdLst/>
            <a:ahLst/>
            <a:cxnLst/>
            <a:rect l="l" t="t" r="r" b="b"/>
            <a:pathLst>
              <a:path w="515983" h="1719943">
                <a:moveTo>
                  <a:pt x="0" y="1719943"/>
                </a:moveTo>
                <a:lnTo>
                  <a:pt x="515983" y="1719943"/>
                </a:lnTo>
                <a:lnTo>
                  <a:pt x="51598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mark226"/>
          <p:cNvSpPr/>
          <p:nvPr/>
        </p:nvSpPr>
        <p:spPr>
          <a:xfrm>
            <a:off x="2724885" y="3717744"/>
            <a:ext cx="515983" cy="859971"/>
          </a:xfrm>
          <a:custGeom>
            <a:avLst/>
            <a:gdLst/>
            <a:ahLst/>
            <a:cxnLst/>
            <a:rect l="l" t="t" r="r" b="b"/>
            <a:pathLst>
              <a:path w="515983" h="859971">
                <a:moveTo>
                  <a:pt x="0" y="859971"/>
                </a:moveTo>
                <a:lnTo>
                  <a:pt x="515983" y="859971"/>
                </a:lnTo>
                <a:lnTo>
                  <a:pt x="51598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mark227"/>
          <p:cNvSpPr/>
          <p:nvPr/>
        </p:nvSpPr>
        <p:spPr>
          <a:xfrm>
            <a:off x="3756851" y="2427786"/>
            <a:ext cx="515983" cy="2149929"/>
          </a:xfrm>
          <a:custGeom>
            <a:avLst/>
            <a:gdLst/>
            <a:ahLst/>
            <a:cxnLst/>
            <a:rect l="l" t="t" r="r" b="b"/>
            <a:pathLst>
              <a:path w="515983" h="2149929">
                <a:moveTo>
                  <a:pt x="0" y="2149929"/>
                </a:moveTo>
                <a:lnTo>
                  <a:pt x="515983" y="2149929"/>
                </a:lnTo>
                <a:lnTo>
                  <a:pt x="51598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mark228"/>
          <p:cNvSpPr/>
          <p:nvPr/>
        </p:nvSpPr>
        <p:spPr>
          <a:xfrm>
            <a:off x="4788816" y="3287758"/>
            <a:ext cx="515983" cy="1289957"/>
          </a:xfrm>
          <a:custGeom>
            <a:avLst/>
            <a:gdLst/>
            <a:ahLst/>
            <a:cxnLst/>
            <a:rect l="l" t="t" r="r" b="b"/>
            <a:pathLst>
              <a:path w="515983" h="1289957">
                <a:moveTo>
                  <a:pt x="0" y="1289957"/>
                </a:moveTo>
                <a:lnTo>
                  <a:pt x="515983" y="1289957"/>
                </a:lnTo>
                <a:lnTo>
                  <a:pt x="51598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mark229"/>
          <p:cNvSpPr/>
          <p:nvPr/>
        </p:nvSpPr>
        <p:spPr>
          <a:xfrm>
            <a:off x="1305932" y="4147729"/>
            <a:ext cx="43858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230"/>
          <p:cNvSpPr/>
          <p:nvPr/>
        </p:nvSpPr>
        <p:spPr>
          <a:xfrm>
            <a:off x="1305932" y="3717744"/>
            <a:ext cx="43858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231"/>
          <p:cNvSpPr/>
          <p:nvPr/>
        </p:nvSpPr>
        <p:spPr>
          <a:xfrm>
            <a:off x="1305932" y="3287758"/>
            <a:ext cx="43858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232"/>
          <p:cNvSpPr/>
          <p:nvPr/>
        </p:nvSpPr>
        <p:spPr>
          <a:xfrm>
            <a:off x="1305932" y="2857772"/>
            <a:ext cx="43858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233"/>
          <p:cNvSpPr/>
          <p:nvPr/>
        </p:nvSpPr>
        <p:spPr>
          <a:xfrm>
            <a:off x="1305932" y="2427786"/>
            <a:ext cx="43858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234"/>
          <p:cNvSpPr/>
          <p:nvPr/>
        </p:nvSpPr>
        <p:spPr>
          <a:xfrm>
            <a:off x="1305932" y="1997801"/>
            <a:ext cx="43858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235"/>
          <p:cNvSpPr/>
          <p:nvPr/>
        </p:nvSpPr>
        <p:spPr>
          <a:xfrm>
            <a:off x="1305932" y="4577715"/>
            <a:ext cx="438585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7-mark236"/>
          <p:cNvSpPr/>
          <p:nvPr/>
        </p:nvSpPr>
        <p:spPr>
          <a:xfrm flipV="1">
            <a:off x="1305932" y="1825806"/>
            <a:ext cx="0" cy="275190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7-label238"/>
          <p:cNvSpPr txBox="1"/>
          <p:nvPr/>
        </p:nvSpPr>
        <p:spPr>
          <a:xfrm>
            <a:off x="827995" y="438721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8" name="S07-label240"/>
          <p:cNvSpPr txBox="1"/>
          <p:nvPr/>
        </p:nvSpPr>
        <p:spPr>
          <a:xfrm>
            <a:off x="827995" y="438721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9" name="S07-label242"/>
          <p:cNvSpPr txBox="1"/>
          <p:nvPr/>
        </p:nvSpPr>
        <p:spPr>
          <a:xfrm>
            <a:off x="827995" y="395722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0" name="S07-label244"/>
          <p:cNvSpPr txBox="1"/>
          <p:nvPr/>
        </p:nvSpPr>
        <p:spPr>
          <a:xfrm>
            <a:off x="827995" y="3527244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1" name="S07-label246"/>
          <p:cNvSpPr txBox="1"/>
          <p:nvPr/>
        </p:nvSpPr>
        <p:spPr>
          <a:xfrm>
            <a:off x="827995" y="309725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2" name="S07-label248"/>
          <p:cNvSpPr txBox="1"/>
          <p:nvPr/>
        </p:nvSpPr>
        <p:spPr>
          <a:xfrm>
            <a:off x="827995" y="26672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3" name="S07-label250"/>
          <p:cNvSpPr txBox="1"/>
          <p:nvPr/>
        </p:nvSpPr>
        <p:spPr>
          <a:xfrm>
            <a:off x="727411" y="223728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4" name="S07-label252"/>
          <p:cNvSpPr txBox="1"/>
          <p:nvPr/>
        </p:nvSpPr>
        <p:spPr>
          <a:xfrm>
            <a:off x="727411" y="180730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25" name="S07-label254"/>
          <p:cNvSpPr txBox="1"/>
          <p:nvPr/>
        </p:nvSpPr>
        <p:spPr>
          <a:xfrm>
            <a:off x="596347" y="1377315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400" dirty="0"/>
          </a:p>
        </p:txBody>
      </p:sp>
      <p:sp>
        <p:nvSpPr>
          <p:cNvPr id="26" name="S07-label256"/>
          <p:cNvSpPr txBox="1"/>
          <p:nvPr/>
        </p:nvSpPr>
        <p:spPr>
          <a:xfrm>
            <a:off x="1646111" y="466670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1반</a:t>
            </a:r>
            <a:endParaRPr lang="ko-KR" sz="2400" dirty="0"/>
          </a:p>
        </p:txBody>
      </p:sp>
      <p:sp>
        <p:nvSpPr>
          <p:cNvPr id="27" name="S07-label258"/>
          <p:cNvSpPr txBox="1"/>
          <p:nvPr/>
        </p:nvSpPr>
        <p:spPr>
          <a:xfrm>
            <a:off x="2678076" y="466670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2반</a:t>
            </a:r>
            <a:endParaRPr lang="ko-KR" sz="2400" dirty="0"/>
          </a:p>
        </p:txBody>
      </p:sp>
      <p:sp>
        <p:nvSpPr>
          <p:cNvPr id="28" name="S07-label260"/>
          <p:cNvSpPr txBox="1"/>
          <p:nvPr/>
        </p:nvSpPr>
        <p:spPr>
          <a:xfrm>
            <a:off x="3710042" y="466670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</a:t>
            </a:r>
            <a:endParaRPr lang="ko-KR" sz="2400" dirty="0"/>
          </a:p>
        </p:txBody>
      </p:sp>
      <p:sp>
        <p:nvSpPr>
          <p:cNvPr id="29" name="S07-label262"/>
          <p:cNvSpPr txBox="1"/>
          <p:nvPr/>
        </p:nvSpPr>
        <p:spPr>
          <a:xfrm>
            <a:off x="4742008" y="466670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4반</a:t>
            </a:r>
            <a:endParaRPr lang="ko-KR" sz="2400" dirty="0"/>
          </a:p>
        </p:txBody>
      </p:sp>
      <p:sp>
        <p:nvSpPr>
          <p:cNvPr id="30" name="S07-card263"/>
          <p:cNvSpPr/>
          <p:nvPr/>
        </p:nvSpPr>
        <p:spPr>
          <a:xfrm>
            <a:off x="6277356" y="1495044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07-cardtext264"/>
          <p:cNvSpPr txBox="1"/>
          <p:nvPr/>
        </p:nvSpPr>
        <p:spPr>
          <a:xfrm>
            <a:off x="6551676" y="1632204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 막대는 5칸이니까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5명이에요.</a:t>
            </a:r>
            <a:endParaRPr lang="ko-KR" sz="3000" dirty="0"/>
          </a:p>
        </p:txBody>
      </p:sp>
      <p:sp>
        <p:nvSpPr>
          <p:cNvPr id="32" name="S07-card265"/>
          <p:cNvSpPr/>
          <p:nvPr/>
        </p:nvSpPr>
        <p:spPr>
          <a:xfrm>
            <a:off x="6277356" y="333756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7-cardtext266"/>
          <p:cNvSpPr txBox="1"/>
          <p:nvPr/>
        </p:nvSpPr>
        <p:spPr>
          <a:xfrm>
            <a:off x="6551676" y="347472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칸이 2명이니까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3반은 10명이에요.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막대그래프로 나타내요</a:t>
            </a:r>
            <a:endParaRPr lang="ko-KR" sz="4000" dirty="0"/>
          </a:p>
        </p:txBody>
      </p:sp>
      <p:sp>
        <p:nvSpPr>
          <p:cNvPr id="3" name="S08-text26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 6명, 여름 10명, 가을 8명, 겨울 4명</a:t>
            </a:r>
            <a:endParaRPr lang="ko-KR" sz="3000" dirty="0"/>
          </a:p>
        </p:txBody>
      </p:sp>
      <p:sp>
        <p:nvSpPr>
          <p:cNvPr id="4" name="S08-figure268" descr="막대그래프 ‘좋아하는 계절별 학생 수’(세로 눈금 한 칸 2): 봄 6, 여름 10, 가을 8, 겨울 4"/>
          <p:cNvSpPr/>
          <p:nvPr/>
        </p:nvSpPr>
        <p:spPr>
          <a:xfrm>
            <a:off x="7661620" y="4656909"/>
            <a:ext cx="435429" cy="1088571"/>
          </a:xfrm>
          <a:custGeom>
            <a:avLst/>
            <a:gdLst/>
            <a:ahLst/>
            <a:cxnLst/>
            <a:rect l="l" t="t" r="r" b="b"/>
            <a:pathLst>
              <a:path w="435429" h="1088571">
                <a:moveTo>
                  <a:pt x="0" y="1088571"/>
                </a:moveTo>
                <a:lnTo>
                  <a:pt x="435429" y="1088571"/>
                </a:lnTo>
                <a:lnTo>
                  <a:pt x="4354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8-mark269"/>
          <p:cNvSpPr/>
          <p:nvPr/>
        </p:nvSpPr>
        <p:spPr>
          <a:xfrm>
            <a:off x="8532477" y="3931194"/>
            <a:ext cx="435429" cy="1814286"/>
          </a:xfrm>
          <a:custGeom>
            <a:avLst/>
            <a:gdLst/>
            <a:ahLst/>
            <a:cxnLst/>
            <a:rect l="l" t="t" r="r" b="b"/>
            <a:pathLst>
              <a:path w="435429" h="1814286">
                <a:moveTo>
                  <a:pt x="0" y="1814286"/>
                </a:moveTo>
                <a:lnTo>
                  <a:pt x="435429" y="1814286"/>
                </a:lnTo>
                <a:lnTo>
                  <a:pt x="4354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8-mark270"/>
          <p:cNvSpPr/>
          <p:nvPr/>
        </p:nvSpPr>
        <p:spPr>
          <a:xfrm>
            <a:off x="9403334" y="4294051"/>
            <a:ext cx="435429" cy="1451429"/>
          </a:xfrm>
          <a:custGeom>
            <a:avLst/>
            <a:gdLst/>
            <a:ahLst/>
            <a:cxnLst/>
            <a:rect l="l" t="t" r="r" b="b"/>
            <a:pathLst>
              <a:path w="435429" h="1451429">
                <a:moveTo>
                  <a:pt x="0" y="1451429"/>
                </a:moveTo>
                <a:lnTo>
                  <a:pt x="435429" y="1451429"/>
                </a:lnTo>
                <a:lnTo>
                  <a:pt x="4354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mark271"/>
          <p:cNvSpPr/>
          <p:nvPr/>
        </p:nvSpPr>
        <p:spPr>
          <a:xfrm>
            <a:off x="10274191" y="5019766"/>
            <a:ext cx="435429" cy="725714"/>
          </a:xfrm>
          <a:custGeom>
            <a:avLst/>
            <a:gdLst/>
            <a:ahLst/>
            <a:cxnLst/>
            <a:rect l="l" t="t" r="r" b="b"/>
            <a:pathLst>
              <a:path w="435429" h="725714">
                <a:moveTo>
                  <a:pt x="0" y="725714"/>
                </a:moveTo>
                <a:lnTo>
                  <a:pt x="435429" y="725714"/>
                </a:lnTo>
                <a:lnTo>
                  <a:pt x="4354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272"/>
          <p:cNvSpPr/>
          <p:nvPr/>
        </p:nvSpPr>
        <p:spPr>
          <a:xfrm>
            <a:off x="7335048" y="5382623"/>
            <a:ext cx="37011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273"/>
          <p:cNvSpPr/>
          <p:nvPr/>
        </p:nvSpPr>
        <p:spPr>
          <a:xfrm>
            <a:off x="7335048" y="5019766"/>
            <a:ext cx="37011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74"/>
          <p:cNvSpPr/>
          <p:nvPr/>
        </p:nvSpPr>
        <p:spPr>
          <a:xfrm>
            <a:off x="7335048" y="4656909"/>
            <a:ext cx="37011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75"/>
          <p:cNvSpPr/>
          <p:nvPr/>
        </p:nvSpPr>
        <p:spPr>
          <a:xfrm>
            <a:off x="7335048" y="4294051"/>
            <a:ext cx="37011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76"/>
          <p:cNvSpPr/>
          <p:nvPr/>
        </p:nvSpPr>
        <p:spPr>
          <a:xfrm>
            <a:off x="7335048" y="3931194"/>
            <a:ext cx="37011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77"/>
          <p:cNvSpPr/>
          <p:nvPr/>
        </p:nvSpPr>
        <p:spPr>
          <a:xfrm>
            <a:off x="7335048" y="3568337"/>
            <a:ext cx="370114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78"/>
          <p:cNvSpPr/>
          <p:nvPr/>
        </p:nvSpPr>
        <p:spPr>
          <a:xfrm>
            <a:off x="7335048" y="5745480"/>
            <a:ext cx="3701143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8-mark279"/>
          <p:cNvSpPr/>
          <p:nvPr/>
        </p:nvSpPr>
        <p:spPr>
          <a:xfrm flipV="1">
            <a:off x="7335048" y="3423194"/>
            <a:ext cx="0" cy="232228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8-label281"/>
          <p:cNvSpPr txBox="1"/>
          <p:nvPr/>
        </p:nvSpPr>
        <p:spPr>
          <a:xfrm>
            <a:off x="6907457" y="555498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7" name="S08-label283"/>
          <p:cNvSpPr txBox="1"/>
          <p:nvPr/>
        </p:nvSpPr>
        <p:spPr>
          <a:xfrm>
            <a:off x="6907457" y="555498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8" name="S08-label285"/>
          <p:cNvSpPr txBox="1"/>
          <p:nvPr/>
        </p:nvSpPr>
        <p:spPr>
          <a:xfrm>
            <a:off x="6907457" y="519212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08-label287"/>
          <p:cNvSpPr txBox="1"/>
          <p:nvPr/>
        </p:nvSpPr>
        <p:spPr>
          <a:xfrm>
            <a:off x="6907457" y="482926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0" name="S08-label289"/>
          <p:cNvSpPr txBox="1"/>
          <p:nvPr/>
        </p:nvSpPr>
        <p:spPr>
          <a:xfrm>
            <a:off x="6907457" y="446640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1" name="S08-label291"/>
          <p:cNvSpPr txBox="1"/>
          <p:nvPr/>
        </p:nvSpPr>
        <p:spPr>
          <a:xfrm>
            <a:off x="6907457" y="410355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2" name="S08-label293"/>
          <p:cNvSpPr txBox="1"/>
          <p:nvPr/>
        </p:nvSpPr>
        <p:spPr>
          <a:xfrm>
            <a:off x="6806873" y="3740694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3" name="S08-label295"/>
          <p:cNvSpPr txBox="1"/>
          <p:nvPr/>
        </p:nvSpPr>
        <p:spPr>
          <a:xfrm>
            <a:off x="6806873" y="337783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24" name="S08-label297"/>
          <p:cNvSpPr txBox="1"/>
          <p:nvPr/>
        </p:nvSpPr>
        <p:spPr>
          <a:xfrm>
            <a:off x="6675809" y="3014980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400" dirty="0"/>
          </a:p>
        </p:txBody>
      </p:sp>
      <p:sp>
        <p:nvSpPr>
          <p:cNvPr id="25" name="S08-label299"/>
          <p:cNvSpPr txBox="1"/>
          <p:nvPr/>
        </p:nvSpPr>
        <p:spPr>
          <a:xfrm>
            <a:off x="7675118" y="579083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400" dirty="0"/>
          </a:p>
        </p:txBody>
      </p:sp>
      <p:sp>
        <p:nvSpPr>
          <p:cNvPr id="26" name="S08-label301"/>
          <p:cNvSpPr txBox="1"/>
          <p:nvPr/>
        </p:nvSpPr>
        <p:spPr>
          <a:xfrm>
            <a:off x="8396623" y="579083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400" dirty="0"/>
          </a:p>
        </p:txBody>
      </p:sp>
      <p:sp>
        <p:nvSpPr>
          <p:cNvPr id="27" name="S08-label303"/>
          <p:cNvSpPr txBox="1"/>
          <p:nvPr/>
        </p:nvSpPr>
        <p:spPr>
          <a:xfrm>
            <a:off x="9267480" y="579083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400" dirty="0"/>
          </a:p>
        </p:txBody>
      </p:sp>
      <p:sp>
        <p:nvSpPr>
          <p:cNvPr id="28" name="S08-label305"/>
          <p:cNvSpPr txBox="1"/>
          <p:nvPr/>
        </p:nvSpPr>
        <p:spPr>
          <a:xfrm>
            <a:off x="10138337" y="579083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400" dirty="0"/>
          </a:p>
        </p:txBody>
      </p:sp>
      <p:sp>
        <p:nvSpPr>
          <p:cNvPr id="29" name="S08-label307"/>
          <p:cNvSpPr txBox="1"/>
          <p:nvPr/>
        </p:nvSpPr>
        <p:spPr>
          <a:xfrm>
            <a:off x="7500076" y="2652123"/>
            <a:ext cx="33710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계절별 학생 수</a:t>
            </a:r>
            <a:endParaRPr lang="ko-KR" sz="2400" dirty="0"/>
          </a:p>
        </p:txBody>
      </p:sp>
      <p:sp>
        <p:nvSpPr>
          <p:cNvPr id="30" name="S08-stepno308"/>
          <p:cNvSpPr txBox="1"/>
          <p:nvPr/>
        </p:nvSpPr>
        <p:spPr>
          <a:xfrm>
            <a:off x="548640" y="28209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1" name="S08-text309"/>
          <p:cNvSpPr txBox="1"/>
          <p:nvPr/>
        </p:nvSpPr>
        <p:spPr>
          <a:xfrm>
            <a:off x="1325880" y="2775204"/>
            <a:ext cx="45857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가로에 계절, 세로에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수를 정해요.</a:t>
            </a:r>
            <a:endParaRPr lang="ko-KR" sz="2400" dirty="0"/>
          </a:p>
        </p:txBody>
      </p:sp>
      <p:sp>
        <p:nvSpPr>
          <p:cNvPr id="32" name="S08-stepno310"/>
          <p:cNvSpPr txBox="1"/>
          <p:nvPr/>
        </p:nvSpPr>
        <p:spPr>
          <a:xfrm>
            <a:off x="548640" y="37292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3" name="S08-text311"/>
          <p:cNvSpPr txBox="1"/>
          <p:nvPr/>
        </p:nvSpPr>
        <p:spPr>
          <a:xfrm>
            <a:off x="1325880" y="3683508"/>
            <a:ext cx="45857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칸을 2명으로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정해요.</a:t>
            </a:r>
            <a:endParaRPr lang="ko-KR" sz="2400" dirty="0"/>
          </a:p>
        </p:txBody>
      </p:sp>
      <p:sp>
        <p:nvSpPr>
          <p:cNvPr id="34" name="S08-stepno312"/>
          <p:cNvSpPr txBox="1"/>
          <p:nvPr/>
        </p:nvSpPr>
        <p:spPr>
          <a:xfrm>
            <a:off x="548640" y="4637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5" name="S08-text313"/>
          <p:cNvSpPr txBox="1"/>
          <p:nvPr/>
        </p:nvSpPr>
        <p:spPr>
          <a:xfrm>
            <a:off x="1325880" y="4591812"/>
            <a:ext cx="45857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수에 맞게 막대를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그려요.</a:t>
            </a:r>
            <a:endParaRPr lang="ko-KR" sz="2400" dirty="0"/>
          </a:p>
        </p:txBody>
      </p:sp>
      <p:sp>
        <p:nvSpPr>
          <p:cNvPr id="36" name="S08-stepno314"/>
          <p:cNvSpPr txBox="1"/>
          <p:nvPr/>
        </p:nvSpPr>
        <p:spPr>
          <a:xfrm>
            <a:off x="548640" y="5500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7" name="S08-text315"/>
          <p:cNvSpPr txBox="1"/>
          <p:nvPr/>
        </p:nvSpPr>
        <p:spPr>
          <a:xfrm>
            <a:off x="1325880" y="5500116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붙여요.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그래프는?</a:t>
            </a:r>
            <a:endParaRPr lang="ko-KR" sz="4000" dirty="0"/>
          </a:p>
        </p:txBody>
      </p:sp>
      <p:sp>
        <p:nvSpPr>
          <p:cNvPr id="3" name="S09-text3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 8명, 사자 6명, 기린 2명, 판다 4명</a:t>
            </a:r>
            <a:endParaRPr lang="ko-KR" sz="3000" dirty="0"/>
          </a:p>
        </p:txBody>
      </p:sp>
      <p:sp>
        <p:nvSpPr>
          <p:cNvPr id="4" name="S09-card3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3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막대그래프는 가와 나 중 어느 것일까요?</a:t>
            </a:r>
            <a:endParaRPr lang="ko-KR" sz="3000" dirty="0"/>
          </a:p>
        </p:txBody>
      </p:sp>
      <p:sp>
        <p:nvSpPr>
          <p:cNvPr id="6" name="S09-chip319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9-figure320" descr="막대그래프(세로 눈금 한 칸 2): 토끼 8, 사자 4, 기린 2, 판다 6"/>
          <p:cNvSpPr/>
          <p:nvPr/>
        </p:nvSpPr>
        <p:spPr>
          <a:xfrm>
            <a:off x="1988927" y="3275909"/>
            <a:ext cx="416623" cy="1388745"/>
          </a:xfrm>
          <a:custGeom>
            <a:avLst/>
            <a:gdLst/>
            <a:ahLst/>
            <a:cxnLst/>
            <a:rect l="l" t="t" r="r" b="b"/>
            <a:pathLst>
              <a:path w="416623" h="1388745">
                <a:moveTo>
                  <a:pt x="0" y="1388745"/>
                </a:moveTo>
                <a:lnTo>
                  <a:pt x="416623" y="1388745"/>
                </a:lnTo>
                <a:lnTo>
                  <a:pt x="4166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mark321"/>
          <p:cNvSpPr/>
          <p:nvPr/>
        </p:nvSpPr>
        <p:spPr>
          <a:xfrm>
            <a:off x="2822174" y="3970282"/>
            <a:ext cx="416623" cy="694372"/>
          </a:xfrm>
          <a:custGeom>
            <a:avLst/>
            <a:gdLst/>
            <a:ahLst/>
            <a:cxnLst/>
            <a:rect l="l" t="t" r="r" b="b"/>
            <a:pathLst>
              <a:path w="416623" h="694372">
                <a:moveTo>
                  <a:pt x="0" y="694372"/>
                </a:moveTo>
                <a:lnTo>
                  <a:pt x="416623" y="694372"/>
                </a:lnTo>
                <a:lnTo>
                  <a:pt x="4166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mark322"/>
          <p:cNvSpPr/>
          <p:nvPr/>
        </p:nvSpPr>
        <p:spPr>
          <a:xfrm>
            <a:off x="3655421" y="4317468"/>
            <a:ext cx="416623" cy="347186"/>
          </a:xfrm>
          <a:custGeom>
            <a:avLst/>
            <a:gdLst/>
            <a:ahLst/>
            <a:cxnLst/>
            <a:rect l="l" t="t" r="r" b="b"/>
            <a:pathLst>
              <a:path w="416623" h="347186">
                <a:moveTo>
                  <a:pt x="0" y="347186"/>
                </a:moveTo>
                <a:lnTo>
                  <a:pt x="416623" y="347186"/>
                </a:lnTo>
                <a:lnTo>
                  <a:pt x="4166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9-mark323"/>
          <p:cNvSpPr/>
          <p:nvPr/>
        </p:nvSpPr>
        <p:spPr>
          <a:xfrm>
            <a:off x="4488668" y="3623096"/>
            <a:ext cx="416624" cy="1041559"/>
          </a:xfrm>
          <a:custGeom>
            <a:avLst/>
            <a:gdLst/>
            <a:ahLst/>
            <a:cxnLst/>
            <a:rect l="l" t="t" r="r" b="b"/>
            <a:pathLst>
              <a:path w="416624" h="1041559">
                <a:moveTo>
                  <a:pt x="0" y="1041559"/>
                </a:moveTo>
                <a:lnTo>
                  <a:pt x="416624" y="1041559"/>
                </a:lnTo>
                <a:lnTo>
                  <a:pt x="416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mark324"/>
          <p:cNvSpPr/>
          <p:nvPr/>
        </p:nvSpPr>
        <p:spPr>
          <a:xfrm>
            <a:off x="1676460" y="4317468"/>
            <a:ext cx="35413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325"/>
          <p:cNvSpPr/>
          <p:nvPr/>
        </p:nvSpPr>
        <p:spPr>
          <a:xfrm>
            <a:off x="1676460" y="3970282"/>
            <a:ext cx="35413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326"/>
          <p:cNvSpPr/>
          <p:nvPr/>
        </p:nvSpPr>
        <p:spPr>
          <a:xfrm>
            <a:off x="1676460" y="3623096"/>
            <a:ext cx="35413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327"/>
          <p:cNvSpPr/>
          <p:nvPr/>
        </p:nvSpPr>
        <p:spPr>
          <a:xfrm>
            <a:off x="1676460" y="3275909"/>
            <a:ext cx="35413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328"/>
          <p:cNvSpPr/>
          <p:nvPr/>
        </p:nvSpPr>
        <p:spPr>
          <a:xfrm>
            <a:off x="1676460" y="4664654"/>
            <a:ext cx="354130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9-mark329"/>
          <p:cNvSpPr/>
          <p:nvPr/>
        </p:nvSpPr>
        <p:spPr>
          <a:xfrm flipV="1">
            <a:off x="1676460" y="3137035"/>
            <a:ext cx="0" cy="15276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9-label331"/>
          <p:cNvSpPr txBox="1"/>
          <p:nvPr/>
        </p:nvSpPr>
        <p:spPr>
          <a:xfrm>
            <a:off x="1260622" y="4474154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8" name="S09-label333"/>
          <p:cNvSpPr txBox="1"/>
          <p:nvPr/>
        </p:nvSpPr>
        <p:spPr>
          <a:xfrm>
            <a:off x="1260622" y="4474154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9" name="S09-label335"/>
          <p:cNvSpPr txBox="1"/>
          <p:nvPr/>
        </p:nvSpPr>
        <p:spPr>
          <a:xfrm>
            <a:off x="1260622" y="412696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0" name="S09-label337"/>
          <p:cNvSpPr txBox="1"/>
          <p:nvPr/>
        </p:nvSpPr>
        <p:spPr>
          <a:xfrm>
            <a:off x="1260622" y="377978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1" name="S09-label339"/>
          <p:cNvSpPr txBox="1"/>
          <p:nvPr/>
        </p:nvSpPr>
        <p:spPr>
          <a:xfrm>
            <a:off x="1260622" y="343259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2" name="S09-label341"/>
          <p:cNvSpPr txBox="1"/>
          <p:nvPr/>
        </p:nvSpPr>
        <p:spPr>
          <a:xfrm>
            <a:off x="1260622" y="308540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3" name="S09-label343"/>
          <p:cNvSpPr txBox="1"/>
          <p:nvPr/>
        </p:nvSpPr>
        <p:spPr>
          <a:xfrm>
            <a:off x="1028974" y="2738223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400" dirty="0"/>
          </a:p>
        </p:txBody>
      </p:sp>
      <p:sp>
        <p:nvSpPr>
          <p:cNvPr id="24" name="S09-label345"/>
          <p:cNvSpPr txBox="1"/>
          <p:nvPr/>
        </p:nvSpPr>
        <p:spPr>
          <a:xfrm>
            <a:off x="1843671" y="469982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25" name="S09-label347"/>
          <p:cNvSpPr txBox="1"/>
          <p:nvPr/>
        </p:nvSpPr>
        <p:spPr>
          <a:xfrm>
            <a:off x="2676918" y="469982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사자</a:t>
            </a:r>
            <a:endParaRPr lang="ko-KR" sz="2400" dirty="0"/>
          </a:p>
        </p:txBody>
      </p:sp>
      <p:sp>
        <p:nvSpPr>
          <p:cNvPr id="26" name="S09-label349"/>
          <p:cNvSpPr txBox="1"/>
          <p:nvPr/>
        </p:nvSpPr>
        <p:spPr>
          <a:xfrm>
            <a:off x="3510165" y="469982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기린</a:t>
            </a:r>
            <a:endParaRPr lang="ko-KR" sz="2400" dirty="0"/>
          </a:p>
        </p:txBody>
      </p:sp>
      <p:sp>
        <p:nvSpPr>
          <p:cNvPr id="27" name="S09-label351"/>
          <p:cNvSpPr txBox="1"/>
          <p:nvPr/>
        </p:nvSpPr>
        <p:spPr>
          <a:xfrm>
            <a:off x="4343412" y="469982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판다</a:t>
            </a:r>
            <a:endParaRPr lang="ko-KR" sz="2400" dirty="0"/>
          </a:p>
        </p:txBody>
      </p:sp>
      <p:sp>
        <p:nvSpPr>
          <p:cNvPr id="28" name="S09-chip352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9" name="S09-figure353" descr="막대그래프(세로 눈금 한 칸 2): 토끼 8, 사자 6, 기린 2, 판다 4"/>
          <p:cNvSpPr/>
          <p:nvPr/>
        </p:nvSpPr>
        <p:spPr>
          <a:xfrm>
            <a:off x="7717643" y="3275909"/>
            <a:ext cx="416623" cy="1388745"/>
          </a:xfrm>
          <a:custGeom>
            <a:avLst/>
            <a:gdLst/>
            <a:ahLst/>
            <a:cxnLst/>
            <a:rect l="l" t="t" r="r" b="b"/>
            <a:pathLst>
              <a:path w="416623" h="1388745">
                <a:moveTo>
                  <a:pt x="0" y="1388745"/>
                </a:moveTo>
                <a:lnTo>
                  <a:pt x="416623" y="1388745"/>
                </a:lnTo>
                <a:lnTo>
                  <a:pt x="4166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9-mark354"/>
          <p:cNvSpPr/>
          <p:nvPr/>
        </p:nvSpPr>
        <p:spPr>
          <a:xfrm>
            <a:off x="8550890" y="3623096"/>
            <a:ext cx="416623" cy="1041559"/>
          </a:xfrm>
          <a:custGeom>
            <a:avLst/>
            <a:gdLst/>
            <a:ahLst/>
            <a:cxnLst/>
            <a:rect l="l" t="t" r="r" b="b"/>
            <a:pathLst>
              <a:path w="416623" h="1041559">
                <a:moveTo>
                  <a:pt x="0" y="1041559"/>
                </a:moveTo>
                <a:lnTo>
                  <a:pt x="416623" y="1041559"/>
                </a:lnTo>
                <a:lnTo>
                  <a:pt x="4166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9-mark355"/>
          <p:cNvSpPr/>
          <p:nvPr/>
        </p:nvSpPr>
        <p:spPr>
          <a:xfrm>
            <a:off x="9384137" y="4317468"/>
            <a:ext cx="416623" cy="347186"/>
          </a:xfrm>
          <a:custGeom>
            <a:avLst/>
            <a:gdLst/>
            <a:ahLst/>
            <a:cxnLst/>
            <a:rect l="l" t="t" r="r" b="b"/>
            <a:pathLst>
              <a:path w="416623" h="347186">
                <a:moveTo>
                  <a:pt x="0" y="347186"/>
                </a:moveTo>
                <a:lnTo>
                  <a:pt x="416623" y="347186"/>
                </a:lnTo>
                <a:lnTo>
                  <a:pt x="4166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9-mark356"/>
          <p:cNvSpPr/>
          <p:nvPr/>
        </p:nvSpPr>
        <p:spPr>
          <a:xfrm>
            <a:off x="10217384" y="3970282"/>
            <a:ext cx="416623" cy="694372"/>
          </a:xfrm>
          <a:custGeom>
            <a:avLst/>
            <a:gdLst/>
            <a:ahLst/>
            <a:cxnLst/>
            <a:rect l="l" t="t" r="r" b="b"/>
            <a:pathLst>
              <a:path w="416623" h="694372">
                <a:moveTo>
                  <a:pt x="0" y="694372"/>
                </a:moveTo>
                <a:lnTo>
                  <a:pt x="416623" y="694372"/>
                </a:lnTo>
                <a:lnTo>
                  <a:pt x="4166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9-mark357"/>
          <p:cNvSpPr/>
          <p:nvPr/>
        </p:nvSpPr>
        <p:spPr>
          <a:xfrm>
            <a:off x="7405176" y="4317468"/>
            <a:ext cx="35413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9-mark358"/>
          <p:cNvSpPr/>
          <p:nvPr/>
        </p:nvSpPr>
        <p:spPr>
          <a:xfrm>
            <a:off x="7405176" y="3970282"/>
            <a:ext cx="35413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9-mark359"/>
          <p:cNvSpPr/>
          <p:nvPr/>
        </p:nvSpPr>
        <p:spPr>
          <a:xfrm>
            <a:off x="7405176" y="3623096"/>
            <a:ext cx="35413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9-mark360"/>
          <p:cNvSpPr/>
          <p:nvPr/>
        </p:nvSpPr>
        <p:spPr>
          <a:xfrm>
            <a:off x="7405176" y="3275909"/>
            <a:ext cx="35413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9-mark361"/>
          <p:cNvSpPr/>
          <p:nvPr/>
        </p:nvSpPr>
        <p:spPr>
          <a:xfrm>
            <a:off x="7405176" y="4664654"/>
            <a:ext cx="354130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8" name="S09-mark362"/>
          <p:cNvSpPr/>
          <p:nvPr/>
        </p:nvSpPr>
        <p:spPr>
          <a:xfrm flipV="1">
            <a:off x="7405176" y="3137035"/>
            <a:ext cx="0" cy="15276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9" name="S09-label364"/>
          <p:cNvSpPr txBox="1"/>
          <p:nvPr/>
        </p:nvSpPr>
        <p:spPr>
          <a:xfrm>
            <a:off x="6989338" y="4474154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40" name="S09-label366"/>
          <p:cNvSpPr txBox="1"/>
          <p:nvPr/>
        </p:nvSpPr>
        <p:spPr>
          <a:xfrm>
            <a:off x="6989338" y="4474154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41" name="S09-label368"/>
          <p:cNvSpPr txBox="1"/>
          <p:nvPr/>
        </p:nvSpPr>
        <p:spPr>
          <a:xfrm>
            <a:off x="6989338" y="412696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42" name="S09-label370"/>
          <p:cNvSpPr txBox="1"/>
          <p:nvPr/>
        </p:nvSpPr>
        <p:spPr>
          <a:xfrm>
            <a:off x="6989338" y="377978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43" name="S09-label372"/>
          <p:cNvSpPr txBox="1"/>
          <p:nvPr/>
        </p:nvSpPr>
        <p:spPr>
          <a:xfrm>
            <a:off x="6989338" y="343259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44" name="S09-label374"/>
          <p:cNvSpPr txBox="1"/>
          <p:nvPr/>
        </p:nvSpPr>
        <p:spPr>
          <a:xfrm>
            <a:off x="6989338" y="308540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45" name="S09-label376"/>
          <p:cNvSpPr txBox="1"/>
          <p:nvPr/>
        </p:nvSpPr>
        <p:spPr>
          <a:xfrm>
            <a:off x="6757690" y="2738223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400" dirty="0"/>
          </a:p>
        </p:txBody>
      </p:sp>
      <p:sp>
        <p:nvSpPr>
          <p:cNvPr id="46" name="S09-label378"/>
          <p:cNvSpPr txBox="1"/>
          <p:nvPr/>
        </p:nvSpPr>
        <p:spPr>
          <a:xfrm>
            <a:off x="7572387" y="469982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47" name="S09-label380"/>
          <p:cNvSpPr txBox="1"/>
          <p:nvPr/>
        </p:nvSpPr>
        <p:spPr>
          <a:xfrm>
            <a:off x="8405634" y="469982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사자</a:t>
            </a:r>
            <a:endParaRPr lang="ko-KR" sz="2400" dirty="0"/>
          </a:p>
        </p:txBody>
      </p:sp>
      <p:sp>
        <p:nvSpPr>
          <p:cNvPr id="48" name="S09-label382"/>
          <p:cNvSpPr txBox="1"/>
          <p:nvPr/>
        </p:nvSpPr>
        <p:spPr>
          <a:xfrm>
            <a:off x="9238881" y="469982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기린</a:t>
            </a:r>
            <a:endParaRPr lang="ko-KR" sz="2400" dirty="0"/>
          </a:p>
        </p:txBody>
      </p:sp>
      <p:sp>
        <p:nvSpPr>
          <p:cNvPr id="49" name="S09-label384"/>
          <p:cNvSpPr txBox="1"/>
          <p:nvPr/>
        </p:nvSpPr>
        <p:spPr>
          <a:xfrm>
            <a:off x="10072128" y="469982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판다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figure385" descr="막대그래프 ‘반별 칭찬 스티커 수’(세로 눈금 한 칸 10): 1반 30, 2반 50, 3반 20, 4반 40"/>
          <p:cNvSpPr/>
          <p:nvPr/>
        </p:nvSpPr>
        <p:spPr>
          <a:xfrm>
            <a:off x="7369240" y="4072033"/>
            <a:ext cx="533570" cy="1333925"/>
          </a:xfrm>
          <a:custGeom>
            <a:avLst/>
            <a:gdLst/>
            <a:ahLst/>
            <a:cxnLst/>
            <a:rect l="l" t="t" r="r" b="b"/>
            <a:pathLst>
              <a:path w="533570" h="1333925">
                <a:moveTo>
                  <a:pt x="0" y="1333925"/>
                </a:moveTo>
                <a:lnTo>
                  <a:pt x="533570" y="1333925"/>
                </a:lnTo>
                <a:lnTo>
                  <a:pt x="5335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0-mark386"/>
          <p:cNvSpPr/>
          <p:nvPr/>
        </p:nvSpPr>
        <p:spPr>
          <a:xfrm>
            <a:off x="8436380" y="3182750"/>
            <a:ext cx="533570" cy="2223209"/>
          </a:xfrm>
          <a:custGeom>
            <a:avLst/>
            <a:gdLst/>
            <a:ahLst/>
            <a:cxnLst/>
            <a:rect l="l" t="t" r="r" b="b"/>
            <a:pathLst>
              <a:path w="533570" h="2223209">
                <a:moveTo>
                  <a:pt x="0" y="2223209"/>
                </a:moveTo>
                <a:lnTo>
                  <a:pt x="533570" y="2223209"/>
                </a:lnTo>
                <a:lnTo>
                  <a:pt x="5335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0-mark387"/>
          <p:cNvSpPr/>
          <p:nvPr/>
        </p:nvSpPr>
        <p:spPr>
          <a:xfrm>
            <a:off x="9503520" y="4516675"/>
            <a:ext cx="533570" cy="889283"/>
          </a:xfrm>
          <a:custGeom>
            <a:avLst/>
            <a:gdLst/>
            <a:ahLst/>
            <a:cxnLst/>
            <a:rect l="l" t="t" r="r" b="b"/>
            <a:pathLst>
              <a:path w="533570" h="889283">
                <a:moveTo>
                  <a:pt x="0" y="889283"/>
                </a:moveTo>
                <a:lnTo>
                  <a:pt x="533570" y="889283"/>
                </a:lnTo>
                <a:lnTo>
                  <a:pt x="5335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0-mark388"/>
          <p:cNvSpPr/>
          <p:nvPr/>
        </p:nvSpPr>
        <p:spPr>
          <a:xfrm>
            <a:off x="10570660" y="3627391"/>
            <a:ext cx="533570" cy="1778567"/>
          </a:xfrm>
          <a:custGeom>
            <a:avLst/>
            <a:gdLst/>
            <a:ahLst/>
            <a:cxnLst/>
            <a:rect l="l" t="t" r="r" b="b"/>
            <a:pathLst>
              <a:path w="533570" h="1778567">
                <a:moveTo>
                  <a:pt x="0" y="1778567"/>
                </a:moveTo>
                <a:lnTo>
                  <a:pt x="533570" y="1778567"/>
                </a:lnTo>
                <a:lnTo>
                  <a:pt x="5335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mark389"/>
          <p:cNvSpPr/>
          <p:nvPr/>
        </p:nvSpPr>
        <p:spPr>
          <a:xfrm>
            <a:off x="6969062" y="4961317"/>
            <a:ext cx="453534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0-mark390"/>
          <p:cNvSpPr/>
          <p:nvPr/>
        </p:nvSpPr>
        <p:spPr>
          <a:xfrm>
            <a:off x="6969062" y="4516675"/>
            <a:ext cx="453534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0-mark391"/>
          <p:cNvSpPr/>
          <p:nvPr/>
        </p:nvSpPr>
        <p:spPr>
          <a:xfrm>
            <a:off x="6969062" y="4072033"/>
            <a:ext cx="453534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0-mark392"/>
          <p:cNvSpPr/>
          <p:nvPr/>
        </p:nvSpPr>
        <p:spPr>
          <a:xfrm>
            <a:off x="6969062" y="3627391"/>
            <a:ext cx="453534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393"/>
          <p:cNvSpPr/>
          <p:nvPr/>
        </p:nvSpPr>
        <p:spPr>
          <a:xfrm>
            <a:off x="6969062" y="3182750"/>
            <a:ext cx="453534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394"/>
          <p:cNvSpPr/>
          <p:nvPr/>
        </p:nvSpPr>
        <p:spPr>
          <a:xfrm>
            <a:off x="6969062" y="2738108"/>
            <a:ext cx="453534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395"/>
          <p:cNvSpPr/>
          <p:nvPr/>
        </p:nvSpPr>
        <p:spPr>
          <a:xfrm>
            <a:off x="6969062" y="5405958"/>
            <a:ext cx="45353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10-mark396"/>
          <p:cNvSpPr/>
          <p:nvPr/>
        </p:nvSpPr>
        <p:spPr>
          <a:xfrm flipV="1">
            <a:off x="6969062" y="2560251"/>
            <a:ext cx="0" cy="284570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10-label398"/>
          <p:cNvSpPr txBox="1"/>
          <p:nvPr/>
        </p:nvSpPr>
        <p:spPr>
          <a:xfrm>
            <a:off x="6480133" y="521545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6" name="S10-label400"/>
          <p:cNvSpPr txBox="1"/>
          <p:nvPr/>
        </p:nvSpPr>
        <p:spPr>
          <a:xfrm>
            <a:off x="6480133" y="521545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7" name="S10-label402"/>
          <p:cNvSpPr txBox="1"/>
          <p:nvPr/>
        </p:nvSpPr>
        <p:spPr>
          <a:xfrm>
            <a:off x="6379549" y="477081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18" name="S10-label404"/>
          <p:cNvSpPr txBox="1"/>
          <p:nvPr/>
        </p:nvSpPr>
        <p:spPr>
          <a:xfrm>
            <a:off x="6379549" y="4326175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19" name="S10-label406"/>
          <p:cNvSpPr txBox="1"/>
          <p:nvPr/>
        </p:nvSpPr>
        <p:spPr>
          <a:xfrm>
            <a:off x="6379549" y="388153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20" name="S10-label408"/>
          <p:cNvSpPr txBox="1"/>
          <p:nvPr/>
        </p:nvSpPr>
        <p:spPr>
          <a:xfrm>
            <a:off x="6379549" y="343689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400" dirty="0"/>
          </a:p>
        </p:txBody>
      </p:sp>
      <p:sp>
        <p:nvSpPr>
          <p:cNvPr id="21" name="S10-label410"/>
          <p:cNvSpPr txBox="1"/>
          <p:nvPr/>
        </p:nvSpPr>
        <p:spPr>
          <a:xfrm>
            <a:off x="6379549" y="2992250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400" dirty="0"/>
          </a:p>
        </p:txBody>
      </p:sp>
      <p:sp>
        <p:nvSpPr>
          <p:cNvPr id="22" name="S10-label412"/>
          <p:cNvSpPr txBox="1"/>
          <p:nvPr/>
        </p:nvSpPr>
        <p:spPr>
          <a:xfrm>
            <a:off x="6379549" y="2547608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400" dirty="0"/>
          </a:p>
        </p:txBody>
      </p:sp>
      <p:sp>
        <p:nvSpPr>
          <p:cNvPr id="23" name="S10-label414"/>
          <p:cNvSpPr txBox="1"/>
          <p:nvPr/>
        </p:nvSpPr>
        <p:spPr>
          <a:xfrm>
            <a:off x="6248485" y="2102966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(장)</a:t>
            </a:r>
            <a:endParaRPr lang="ko-KR" sz="2400" dirty="0"/>
          </a:p>
        </p:txBody>
      </p:sp>
      <p:sp>
        <p:nvSpPr>
          <p:cNvPr id="24" name="S10-label416"/>
          <p:cNvSpPr txBox="1"/>
          <p:nvPr/>
        </p:nvSpPr>
        <p:spPr>
          <a:xfrm>
            <a:off x="7331225" y="550447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1반</a:t>
            </a:r>
            <a:endParaRPr lang="ko-KR" sz="2400" dirty="0"/>
          </a:p>
        </p:txBody>
      </p:sp>
      <p:sp>
        <p:nvSpPr>
          <p:cNvPr id="25" name="S10-label418"/>
          <p:cNvSpPr txBox="1"/>
          <p:nvPr/>
        </p:nvSpPr>
        <p:spPr>
          <a:xfrm>
            <a:off x="8398365" y="550447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2반</a:t>
            </a:r>
            <a:endParaRPr lang="ko-KR" sz="2400" dirty="0"/>
          </a:p>
        </p:txBody>
      </p:sp>
      <p:sp>
        <p:nvSpPr>
          <p:cNvPr id="26" name="S10-label420"/>
          <p:cNvSpPr txBox="1"/>
          <p:nvPr/>
        </p:nvSpPr>
        <p:spPr>
          <a:xfrm>
            <a:off x="9465505" y="550447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</a:t>
            </a:r>
            <a:endParaRPr lang="ko-KR" sz="2400" dirty="0"/>
          </a:p>
        </p:txBody>
      </p:sp>
      <p:sp>
        <p:nvSpPr>
          <p:cNvPr id="27" name="S10-label422"/>
          <p:cNvSpPr txBox="1"/>
          <p:nvPr/>
        </p:nvSpPr>
        <p:spPr>
          <a:xfrm>
            <a:off x="10532645" y="550447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4반</a:t>
            </a:r>
            <a:endParaRPr lang="ko-KR" sz="2400" dirty="0"/>
          </a:p>
        </p:txBody>
      </p:sp>
      <p:sp>
        <p:nvSpPr>
          <p:cNvPr id="28" name="S10-label424"/>
          <p:cNvSpPr txBox="1"/>
          <p:nvPr/>
        </p:nvSpPr>
        <p:spPr>
          <a:xfrm>
            <a:off x="7849895" y="1658325"/>
            <a:ext cx="2773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반별 칭찬 스티커 수</a:t>
            </a:r>
            <a:endParaRPr lang="ko-KR" sz="2400" dirty="0"/>
          </a:p>
        </p:txBody>
      </p:sp>
      <p:sp>
        <p:nvSpPr>
          <p:cNvPr id="29" name="S10-chip42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0" name="S10-text42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장일까요?</a:t>
            </a:r>
            <a:endParaRPr lang="ko-KR" sz="3000" dirty="0"/>
          </a:p>
        </p:txBody>
      </p:sp>
      <p:sp>
        <p:nvSpPr>
          <p:cNvPr id="31" name="S10-chip42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2" name="S10-text428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반과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수는?</a:t>
            </a:r>
            <a:endParaRPr lang="ko-KR" sz="3000" dirty="0"/>
          </a:p>
        </p:txBody>
      </p:sp>
      <p:sp>
        <p:nvSpPr>
          <p:cNvPr id="33" name="S10-chip42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4" name="S10-text430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4반은 3반보다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장 더 많을까요?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그리기 전에 정해요</a:t>
            </a:r>
            <a:endParaRPr lang="ko-KR" sz="4000" dirty="0"/>
          </a:p>
        </p:txBody>
      </p:sp>
      <p:sp>
        <p:nvSpPr>
          <p:cNvPr id="3" name="S12-text4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색깔별 학생 수예요.</a:t>
            </a:r>
            <a:endParaRPr lang="ko-KR" sz="3000" dirty="0"/>
          </a:p>
        </p:txBody>
      </p:sp>
      <p:graphicFrame>
        <p:nvGraphicFramePr>
          <p:cNvPr id="12" name="S12-table4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697480"/>
          <a:ext cx="402336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2-chip43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2-text434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2명으로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 막대는 몇 칸?</a:t>
            </a:r>
            <a:endParaRPr lang="ko-KR" sz="3000" dirty="0"/>
          </a:p>
        </p:txBody>
      </p:sp>
      <p:sp>
        <p:nvSpPr>
          <p:cNvPr id="7" name="S12-chip43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2-text436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2명으로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 막대는 몇 칸?</a:t>
            </a:r>
            <a:endParaRPr lang="ko-KR" sz="3000" dirty="0"/>
          </a:p>
        </p:txBody>
      </p:sp>
      <p:sp>
        <p:nvSpPr>
          <p:cNvPr id="9" name="S12-chip43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2-text43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1명으로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 막대는 몇 칸?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43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44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막대그래프는 수를 막대의 길이로 나타내요. 눈금 한 칸의 크기부터 봐요.</a:t>
            </a:r>
            <a:endParaRPr lang="ko-KR" sz="3000" dirty="0"/>
          </a:p>
        </p:txBody>
      </p:sp>
      <p:sp>
        <p:nvSpPr>
          <p:cNvPr id="5" name="S13-chip44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눈금 한 칸의 크기 확인하기</a:t>
            </a:r>
            <a:endParaRPr lang="ko-KR" sz="2400" dirty="0"/>
          </a:p>
        </p:txBody>
      </p:sp>
      <p:sp>
        <p:nvSpPr>
          <p:cNvPr id="6" name="S13-chip44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칸 수를 그대로 수로 읽기</a:t>
            </a:r>
            <a:endParaRPr lang="ko-KR" sz="2400" dirty="0"/>
          </a:p>
        </p:txBody>
      </p:sp>
      <p:sp>
        <p:nvSpPr>
          <p:cNvPr id="7" name="S13-text44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44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칸이 5명일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4칸은 몇 명?</a:t>
            </a:r>
            <a:endParaRPr lang="ko-KR" sz="2400" dirty="0"/>
          </a:p>
        </p:txBody>
      </p:sp>
      <p:sp>
        <p:nvSpPr>
          <p:cNvPr id="9" name="S13-text44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14명을 한 칸 2명으로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그리면 몇 칸?</a:t>
            </a:r>
            <a:endParaRPr lang="ko-KR" sz="2400" dirty="0"/>
          </a:p>
        </p:txBody>
      </p:sp>
      <p:sp>
        <p:nvSpPr>
          <p:cNvPr id="10" name="S13-text44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가장 많은 것은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찾아요?</a:t>
            </a:r>
            <a:endParaRPr lang="ko-KR" sz="2400" dirty="0"/>
          </a:p>
        </p:txBody>
      </p:sp>
      <p:sp>
        <p:nvSpPr>
          <p:cNvPr id="11" name="S13-text44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꺾은선그래프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칸을 세어 읽어요</a:t>
            </a:r>
            <a:endParaRPr lang="ko-KR" sz="4000" dirty="0"/>
          </a:p>
        </p:txBody>
      </p:sp>
      <p:sp>
        <p:nvSpPr>
          <p:cNvPr id="3" name="S14-card448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449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 1명이에요.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끝에서 옆으로 따라가 눈금 숫자를 읽어요.</a:t>
            </a:r>
            <a:endParaRPr lang="ko-KR" sz="3000" dirty="0"/>
          </a:p>
        </p:txBody>
      </p:sp>
      <p:sp>
        <p:nvSpPr>
          <p:cNvPr id="5" name="S14-figure450" descr="막대그래프(세로 눈금 한 칸 1): 사과 5, 포도 3, 귤 4"/>
          <p:cNvSpPr/>
          <p:nvPr/>
        </p:nvSpPr>
        <p:spPr>
          <a:xfrm>
            <a:off x="5055093" y="2008127"/>
            <a:ext cx="525162" cy="2188176"/>
          </a:xfrm>
          <a:custGeom>
            <a:avLst/>
            <a:gdLst/>
            <a:ahLst/>
            <a:cxnLst/>
            <a:rect l="l" t="t" r="r" b="b"/>
            <a:pathLst>
              <a:path w="525162" h="2188176">
                <a:moveTo>
                  <a:pt x="0" y="2188176"/>
                </a:moveTo>
                <a:lnTo>
                  <a:pt x="525162" y="2188176"/>
                </a:lnTo>
                <a:lnTo>
                  <a:pt x="52516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4-mark451"/>
          <p:cNvSpPr/>
          <p:nvPr/>
        </p:nvSpPr>
        <p:spPr>
          <a:xfrm>
            <a:off x="6105417" y="2883398"/>
            <a:ext cx="525162" cy="1312905"/>
          </a:xfrm>
          <a:custGeom>
            <a:avLst/>
            <a:gdLst/>
            <a:ahLst/>
            <a:cxnLst/>
            <a:rect l="l" t="t" r="r" b="b"/>
            <a:pathLst>
              <a:path w="525162" h="1312905">
                <a:moveTo>
                  <a:pt x="0" y="1312905"/>
                </a:moveTo>
                <a:lnTo>
                  <a:pt x="525162" y="1312905"/>
                </a:lnTo>
                <a:lnTo>
                  <a:pt x="52516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4-mark452"/>
          <p:cNvSpPr/>
          <p:nvPr/>
        </p:nvSpPr>
        <p:spPr>
          <a:xfrm>
            <a:off x="7155741" y="2445763"/>
            <a:ext cx="525162" cy="1750541"/>
          </a:xfrm>
          <a:custGeom>
            <a:avLst/>
            <a:gdLst/>
            <a:ahLst/>
            <a:cxnLst/>
            <a:rect l="l" t="t" r="r" b="b"/>
            <a:pathLst>
              <a:path w="525162" h="1750541">
                <a:moveTo>
                  <a:pt x="0" y="1750541"/>
                </a:moveTo>
                <a:lnTo>
                  <a:pt x="525162" y="1750541"/>
                </a:lnTo>
                <a:lnTo>
                  <a:pt x="52516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4-mark453"/>
          <p:cNvSpPr/>
          <p:nvPr/>
        </p:nvSpPr>
        <p:spPr>
          <a:xfrm>
            <a:off x="4661221" y="3758668"/>
            <a:ext cx="34135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4-mark454"/>
          <p:cNvSpPr/>
          <p:nvPr/>
        </p:nvSpPr>
        <p:spPr>
          <a:xfrm>
            <a:off x="4661221" y="3321033"/>
            <a:ext cx="34135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4-mark455"/>
          <p:cNvSpPr/>
          <p:nvPr/>
        </p:nvSpPr>
        <p:spPr>
          <a:xfrm>
            <a:off x="4661221" y="2883398"/>
            <a:ext cx="34135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4-mark456"/>
          <p:cNvSpPr/>
          <p:nvPr/>
        </p:nvSpPr>
        <p:spPr>
          <a:xfrm>
            <a:off x="4661221" y="2445763"/>
            <a:ext cx="34135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4-mark457"/>
          <p:cNvSpPr/>
          <p:nvPr/>
        </p:nvSpPr>
        <p:spPr>
          <a:xfrm>
            <a:off x="4661221" y="2008127"/>
            <a:ext cx="341355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4-mark458"/>
          <p:cNvSpPr/>
          <p:nvPr/>
        </p:nvSpPr>
        <p:spPr>
          <a:xfrm>
            <a:off x="4661221" y="4196303"/>
            <a:ext cx="341355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14-mark459"/>
          <p:cNvSpPr/>
          <p:nvPr/>
        </p:nvSpPr>
        <p:spPr>
          <a:xfrm flipV="1">
            <a:off x="4661221" y="1833073"/>
            <a:ext cx="0" cy="236323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14-label461"/>
          <p:cNvSpPr txBox="1"/>
          <p:nvPr/>
        </p:nvSpPr>
        <p:spPr>
          <a:xfrm>
            <a:off x="4177547" y="400580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6" name="S14-label463"/>
          <p:cNvSpPr txBox="1"/>
          <p:nvPr/>
        </p:nvSpPr>
        <p:spPr>
          <a:xfrm>
            <a:off x="4177547" y="400580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7" name="S14-label465"/>
          <p:cNvSpPr txBox="1"/>
          <p:nvPr/>
        </p:nvSpPr>
        <p:spPr>
          <a:xfrm>
            <a:off x="4177547" y="356816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8" name="S14-label467"/>
          <p:cNvSpPr txBox="1"/>
          <p:nvPr/>
        </p:nvSpPr>
        <p:spPr>
          <a:xfrm>
            <a:off x="4177547" y="313053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14-label469"/>
          <p:cNvSpPr txBox="1"/>
          <p:nvPr/>
        </p:nvSpPr>
        <p:spPr>
          <a:xfrm>
            <a:off x="4177547" y="269289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0" name="S14-label471"/>
          <p:cNvSpPr txBox="1"/>
          <p:nvPr/>
        </p:nvSpPr>
        <p:spPr>
          <a:xfrm>
            <a:off x="4177547" y="225526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1" name="S14-label473"/>
          <p:cNvSpPr txBox="1"/>
          <p:nvPr/>
        </p:nvSpPr>
        <p:spPr>
          <a:xfrm>
            <a:off x="4177547" y="181762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2" name="S14-label475"/>
          <p:cNvSpPr txBox="1"/>
          <p:nvPr/>
        </p:nvSpPr>
        <p:spPr>
          <a:xfrm>
            <a:off x="3945899" y="1379992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(명)</a:t>
            </a:r>
            <a:endParaRPr lang="ko-KR" sz="2400" dirty="0"/>
          </a:p>
        </p:txBody>
      </p:sp>
      <p:sp>
        <p:nvSpPr>
          <p:cNvPr id="23" name="S14-label477"/>
          <p:cNvSpPr txBox="1"/>
          <p:nvPr/>
        </p:nvSpPr>
        <p:spPr>
          <a:xfrm>
            <a:off x="4964106" y="429026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400" dirty="0"/>
          </a:p>
        </p:txBody>
      </p:sp>
      <p:sp>
        <p:nvSpPr>
          <p:cNvPr id="24" name="S14-label479"/>
          <p:cNvSpPr txBox="1"/>
          <p:nvPr/>
        </p:nvSpPr>
        <p:spPr>
          <a:xfrm>
            <a:off x="6014430" y="429026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포도</a:t>
            </a:r>
            <a:endParaRPr lang="ko-KR" sz="2400" dirty="0"/>
          </a:p>
        </p:txBody>
      </p:sp>
      <p:sp>
        <p:nvSpPr>
          <p:cNvPr id="25" name="S14-label481"/>
          <p:cNvSpPr txBox="1"/>
          <p:nvPr/>
        </p:nvSpPr>
        <p:spPr>
          <a:xfrm>
            <a:off x="7214106" y="429026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막대그래프</dc:title>
  <dc:subject>KR22-G04-MAT-BARGRAPH-L01</dc:subject>
  <dc:creator>education-ppt</dc:creator>
  <cp:lastModifiedBy>education-ppt</cp:lastModifiedBy>
  <cp:revision>1</cp:revision>
  <dcterms:created xsi:type="dcterms:W3CDTF">2026-10-26T08:00:02Z</dcterms:created>
  <dcterms:modified xsi:type="dcterms:W3CDTF">2026-10-26T08:00:02Z</dcterms:modified>
</cp:coreProperties>
</file>