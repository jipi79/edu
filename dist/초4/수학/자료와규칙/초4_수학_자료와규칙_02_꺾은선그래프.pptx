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381d3df-050a-54e4-6006-a8654561817b}">
          <p14:sldIdLst>
            <p14:sldId id="256"/>
            <p14:sldId id="257"/>
          </p14:sldIdLst>
        </p14:section>
        <p14:section name="개념" id="{5a8eb0a6-e45f-3d58-9a1c-c7056ec99bba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d0431c2a-c335-84da-1764-e2d07c64d0ae}">
          <p14:sldIdLst>
            <p14:sldId id="261"/>
            <p14:sldId id="262"/>
            <p14:sldId id="265"/>
          </p14:sldIdLst>
        </p14:section>
        <p14:section name="개념" id="{5429975e-9175-0c51-da76-d4eb6fc36cb6}">
          <p14:sldIdLst/>
        </p14:section>
        <p14:section name="연습" id="{a7b725e4-4b9f-fd56-0f0a-33808bcc025e}">
          <p14:sldIdLst/>
        </p14:section>
        <p14:section name="확인" id="{678bb444-4cd8-a58f-82bc-9fe3347e2373}">
          <p14:sldIdLst>
            <p14:sldId id="266"/>
            <p14:sldId id="267"/>
            <p14:sldId id="268"/>
          </p14:sldIdLst>
        </p14:section>
        <p14:section name="정리" id="{94c3b5d8-d32d-2ce1-26c1-b1b5ab3932d7}">
          <p14:sldIdLst>
            <p14:sldId id="269"/>
          </p14:sldIdLst>
        </p14:section>
        <p14:section name="보충" id="{36960a66-5536-117e-a4a2-acf96c7afd0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시간에 따라 변하는 양을 선으로 이어 나타내면 변화가 보인다는 것을 느끼게 합니다.
시간: 약 2분
이렇게 말해 보세요
- “아침부터 낮까지 운동장의 기온이 어떻게 변하는지 한눈에 보려면 어떻게 나타내면 좋을까?”
- “오늘은 이런 그래프를 읽고, 직접 그리는 방법을 배울 거야.”
예상 답
- “막대그래프로 그려요.” “표로 써요.” 어떤 답이든 괜찮습니다.
막히면
- 답을 확인하지 않고 넘어갑니다. S03에서 같은 그래프를 자세히 봅니다.
주의
- 지난 시간의 막대그래프를 떠올리게 하고, 오늘은 변화를 잘 보여 주는 새 그래프를 배운다고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확인(막대그래프 읽기)]
목적: 지난 시간에 배운 막대그래프에서 눈금 한 칸의 크기를 먼저 찾고 막대가 나타내는 수를 읽는지 확인합니다.
시간: 약 3분
이렇게 말해 보세요
- “세로 눈금 숫자가 얼마씩 커져? 눈금 한 칸은 몇 쪽이야?”
- “화요일에는 몇 쪽 읽었어? 가장 적게 읽은 요일은?”
정답
- ① 2쪽
- ② 10쪽(5칸 × 2)
- ③ 수요일(4쪽)
막히면
- 눈금 한 칸의 크기를 찾지 못하면 S15(보충)를 먼저 합니다. 보충으로도 어려우면 앞 차시 ‘막대그래프’를 다시 합니다.
주의
- ②에서 ‘5쪽’이라고 하면 칸 수만 센 것입니다. 오늘 꺾은선그래프도 눈금 한 칸의 크기부터 봐야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꺾은선그래프의 뜻과 짜임]
목적: 꺾은선그래프의 가로·세로·눈금·점·선분이 무엇을 나타내는지 알고, 점의 높이로 그 시각의 기온을 읽습니다.
시간: 약 3분
이렇게 말해 보세요
- “가로에는 무엇이 있어? 세로의 숫자는 무엇을 나타낼까?”
- “세로 눈금 숫자가 0, 2, 4 …로 커지지? 눈금 한 칸은 몇 도야?”
- “11시의 점은 몇 칸 높이에 있어? 그러면 11시 기온은 몇 도야?”
- “막대 대신 점을 찍고 선분으로 이었더니 어떤 모양이 보여?”
예상 답
- “한 칸은 2도예요.” “11시는 5칸이니까 10도예요.” “선이 위로 올라가요.”
막히면
- 점에서 옆으로 자(또는 종이 띠)를 대고 세로 눈금 숫자까지 따라가게 합니다.
주의
- ‘1시’는 오후 1시입니다. 꺾은선그래프의 가로는 보통 시각·날짜·달처럼 차례대로 지나가는 때입니다.
- 화면 그래프는 세로 눈금마다 숫자가 쓰여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막대그래프와 꺾은선그래프 비교]
목적: 같은 자료를 막대그래프와 꺾은선그래프로 나타내 비교하고, 꺾은선그래프가 변화의 흐름을 잘 보여 준다는 것을 압니다.
시간: 약 2분
이렇게 말해 보세요
- “왼쪽과 오른쪽은 같은 기온을 나타냈어. 막대의 끝과 점의 높이를 비교해 볼래?”
- “기온이 오르고 있는지 내리고 있는지 어느 쪽에서 더 잘 보여?”
예상 답
- “막대 끝과 점의 높이가 같아요.” “꺾은선그래프는 선이 올라가니까 오르는 게 잘 보여요.”
막히면
- 막대 끝마다 점을 찍고 점끼리 이으면 오른쪽 그래프가 된다고 손가락으로 따라 그려 보입니다.
주의
- 막대그래프는 항목끼리 크기를 비교할 때, 꺾은선그래프는 시간에 따른 변화를 볼 때 알맞다고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선분의 기울기로 변화 읽기]
목적: 선분이 올라가면 늘어남, 내려가면 줄어듦, 평평하면 변화 없음이고, 많이 기울수록 변화가 크다는 것을 압니다.
시간: 약 3분
이렇게 말해 보세요
- “9시에서 10시로 갈 때 선분은 어느 쪽으로 기울었어? 기온은 몇 도 올랐어?”
- “10시에서 11시는? 선분이 더 많이 기울었지? 몇 도 올랐어?”
- “12시에서 1시는 선분이 어때? 기온은 어떻게 됐어?”
예상 답
- “9시→10시 2도, 10시→11시 4도 올랐어요.” “12시→1시는 평평해요. 그대로예요.”
정답
- 가장 많이 오른 때: 10시와 11시 사이(4도)
- 12시와 1시 사이는 12도 그대로입니다(변화 없음).
막히면
- 두 점의 칸 수 차이를 세게 합니다(10시 3칸 → 11시 5칸, 2칸 차이 = 4도).
주의
- ‘변화가 가장 큰 때’는 점 하나가 아니라 두 시각 ‘사이’라는 것을 말로 정리합니다.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연습(꺾은선그래프 읽기)]
목적: 도움을 받으며 꺾은선그래프에서 그때의 값을 읽고, 변화가 가장 큰 때와 두 때의 차이를 구합니다.
시간: 약 4분
이렇게 말해 보세요
- “눈금 한 칸은 몇 cm야? 6일의 점은 몇 칸 높이에 있어?”
- “선분이 가장 많이 기울어진 곳은 어디야? 그때 몇 cm 자랐어?”
- “2일과 10일의 키를 읽고 빼 볼까?”
정답
- ① 5 cm
- ② 4일과 6일 사이(3 cm 자람)
- ③ 6 cm(7 − 1)
막히면
- 선분마다 두 점의 칸 수 차이를 아래에 적어 보게 합니다(1, 3, 1, 1).
주의
- ②에서 ‘10일’이라고 하면 가장 높은 점을 고른 것입니다. 다음 장에서 바로 다룹니다(M2).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비교(가장 높은 점 = 가장 많이 변한 때)]
목적: 가장 높은 점을 가장 많이 변한 때로 읽는 실수(M2)를 그래프로 반박합니다.
시간: 약 3분
이렇게 말해 보세요
- “토끼와 곰 중 누구 말이 맞아? 12시와 1시 사이에 기온은 몇 도 올랐어?”
- “점이 높다는 것과 많이 올랐다는 것은 같은 뜻일까?”
예상 답
- “곰이요. 토끼가 말한 곳은 평평해요.”
정답
- 곰이 맞습니다. 10시와 11시 사이에 4도 올랐고(6도 → 10도), 선분이 가장 많이 기울었습니다.
- 12시와 1시 사이는 둘 다 12도라서 오르지 않았습니다(평평한 선분). 점이 높은 것은 기온이 높다는 뜻이지 많이 올랐다는 뜻이 아닙니다.
막히면
- 토끼가 말한 두 점과 곰이 말한 두 점의 칸 수 차이를 각각 세어 비교하게 합니다(0칸, 2칸).
주의
- ‘가장 높은 때(가장 따뜻한 때)’와 ‘가장 많이 오른 때’를 각각 물어 구별하게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물결선의 뜻과 쓰임]
목적: 필요 없는 부분(0부터 30 kg까지)을 물결선(≈)으로 줄이면 눈금 한 칸을 작게 할 수 있어 변화가 잘 보인다는 것을 압니다.
시간: 약 3분
이렇게 말해 보세요
- “왼쪽은 0부터 그려서 눈금 한 칸이 10 kg이야. 몸무게가 변한 게 잘 보여?”
- “오른쪽은 세로 눈금 아래에 물결 모양이 있지? 0과 30 사이를 줄였다는 표시야. 이것을 물결선이라고 해.”
- “오른쪽은 눈금 한 칸이 몇 kg이야? 가장 많이 늘어난 때는 언제야?”
예상 답
- “오른쪽이요. 왼쪽은 거의 평평해요.” “한 칸은 1 kg이에요.” “5월과 6월 사이예요(2 kg).”
정답
- 오른쪽(물결선 그래프)이 변화를 더 잘 보여 줍니다.
- 오른쪽 눈금 한 칸은 1 kg, 가장 많이 늘어난 때는 5월과 6월 사이(31 → 33 kg, 2 kg)입니다.
막히면
- “30 kg 아래에는 점이 하나도 없지? 그 부분은 비어 있으니 줄여도 돼.”라고 짚어 줍니다.
주의
- 물결선은 세로 눈금에서 0과 처음 눈금(30) 사이에 그립니다. 물결선이 있어도 세로 눈금 숫자는 바르게 읽어야 합니다.
- 왼쪽 그래프의 점은 눈금 사이에 있어 정확히 읽기 어렵습니다. 이것도 물결선을 쓰는 까닭입니다.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꺾은선그래프로 나타내는 순서(시범)]
목적: 표를 보고 가로·세로 정하기 → 물결선과 눈금 한 칸 정하기 → 점 찍기 → 선분으로 잇기 → 제목 붙이기 순서로 꺾은선그래프를 나타내는 방법을 보여 줍니다.
시간: 약 4분
이렇게 말해 보세요
- “가장 낮은 기온이 16도야. 0부터 16 아래까지는 점이 없으니 물결선으로 줄이자.”
- “기온이 모두 짝수라서 눈금 한 칸을 2도로 하면 점이 눈금에 딱 맞아.”
- “수요일 22도는 16에서 몇 칸 위에 찍어야 할까?”
- “점을 다 찍으면 왼쪽부터 차례로 선분으로 잇고, 제목을 붙여.”
예상 답
- “22도는 16에서 3칸 위예요(2도씩 3칸).”
막히면
- 세로 눈금을 16, 18, 20 …으로 짚으며 22에 닿을 때까지 칸을 세게 합니다.
주의
- 점을 찍을 때는 가로(요일)와 세로(기온)가 만나는 곳에 찍습니다. 선분은 요일 차례대로 이웃한 점끼리만 잇습니다.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연습(물결선과 눈금 정하기)]
목적: 도움을 받으며 물결선을 넣을 곳과 눈금 한 칸의 크기를 정하고, 점을 찍을 높이(칸 수)를 구합니다.
시간: 약 3분
이렇게 말해 보세요
- “가장 적은 기록이 몇 번이야? 그 아래에는 점이 있을까?”
- “기록이 모두 5의 배수(5씩 커지는 수)야. 한 칸을 5번으로 하면 40부터 60까지 몇 칸이면 돼?”
- “3주 55번은 40에서 몇 칸 위야?”
정답
- ① 0과 40 사이
- ② 4칸(40, 45, 50, 55, 60)
- ③ 3칸 위((55 − 40) ÷ 5)
막히면
- 40, 45, 50, 55, 60을 세로로 써 놓고 칸을 세게 합니다.
주의
- 물결선 위 첫 눈금을 가장 작은 수보다 조금 작게(예: 35) 시작해도 됩니다. 이 수업에서는 가장 작은 수(40)에서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해결(물결선이 있는 꺾은선그래프 읽기)]
목적: 도움 없이 물결선이 있는 꺾은선그래프에서 값을 읽고, 변화가 가장 큰 때와 두 때의 차이를 구하는지 확인합니다.
시간: 약 4분
이렇게 말해 보세요
- “이번에는 혼자 해 볼래? 눈금 한 칸이 몇 도인지 먼저 보고, 답을 말할 때 어떻게 알았는지도 말해 줘.”
정답
- ① 16도
- ② 6시와 7시 사이(20도 → 16도, 4도 내려감)
- ③ 8도(22 − 14)
막히면
- 바로 알려 주지 말고 “세로 눈금이 얼마씩 커져? 물결선 위 첫 눈금은 몇이야?”라고만 묻습니다.
- 도움을 받아 해결했다면 기록표에 ‘도움’으로 표시합니다.
주의
- ①에서 물결선 위 칸 수만 세어 ‘4도’ 같은 답을 하면 세로 눈금 숫자를 읽지 않은 것입니다.
-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가장 낮은(높은) 점을 가장 크게 변한 때로 읽는 실수를 바로잡습니다. 수업용에만 있는 장입니다.
시간: 약 2분
이렇게 말해 보세요
- “네 답과 같은지 볼까? 다르면 어디서 달라졌는지 찾아보자.”
정답
- ① 16도 ② 6시와 7시 사이 ③ 8도
막히면
- ②를 틀렸다면 S07로 돌아가 토끼의 실수와 같은지 비교합니다(M2).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확인(표에 맞는 꺾은선그래프와 물결선)]
목적: 처음 보는 표에 맞는 꺾은선그래프를 찾고, 물결선이 무엇을 줄였는지 설명하는지 확인합니다.
시간: 약 3분
이렇게 말해 보세요
- “눈금 한 칸은 몇 도야? 가와 나에서 시각마다 점의 높이를 읽어 표와 비교해 봐.”
- “물결선은 어디부터 어디까지를 줄인 거야?”
정답
- 나. 가는 11시를 20도로 찍었습니다(표는 22도).
- 물결선은 0도와 16도 사이를 줄였습니다(그 아래에는 점이 없음).
막히면
- 시각 하나씩 정해 표의 수와 두 그래프의 점을 차례로 비교합니다.
주의
- 그래프를 고르고 물결선의 뜻까지 말하면 목표 B 확인 완료입니다. 실제로 그리는 것은 활동지 2번에서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“꺾은선그래프에서 변화가 가장 큰 때는 어떻게 찾아?”
- “다음 수업을 시작할 때 이 세 문제를 먼저 풀 거야.”
예상 답
- “선분이 가장 많이 기운 곳이요.”
정답
- ① 6도 오름(2 × 3) ② 변화가 없음 ③ 필요 없는 부분을 줄여 눈금 한 칸을 작게 하고 변화를 잘 보이게 하려고
막히면
- S05와 S08의 그래프를 다시 보여 줍니다.
주의
- 복습 세 문제는 다음 수업을 시작할 때 활동지 마지막 쪽과 함께 풉니다.
- S11·S13 결과를 기록표에 적어 두면 다음 차시(계산식의 규칙)로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보충(눈금 한 칸의 크기 찾기)]
목적: S02에서 눈금 한 칸의 크기를 찾지 못하면, 한 칸이 1인 그래프에서 숫자가 얼마씩 커지는지 보고 읽는 것부터 다시 합니다.
시간: 약 5분
이렇게 말해 보세요
- “세로 눈금 숫자를 아래부터 읽어 볼까? 얼마씩 커져?”
- “사과 막대 끝에서 옆으로 따라가면 몇이야? 배와 감은?”
- “만약 숫자가 0, 2, 4 …로 커지면 한 칸은 몇일까?”
정답
- 한 칸은 1개. 사과 4개, 배 6개, 감 3개
- 숫자가 2씩 커지면 한 칸은 2
막히면
- 바둑돌 하나를 한 칸으로 정해 막대 높이만큼 쌓아 세게 합니다. 다음에 바둑돌 하나를 ‘2’로 정해 다시 셉니다.
주의
- 보충으로도 어려우면 앞 차시 ‘막대그래프’를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자료와규칙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꺾은선그래프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꺾은선그래프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꺾은선그래프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기온은 어떻게 변했을까?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꺾은선그래프를 읽고 변화를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물결선을 알고 꺾은선그래프로 나타내요.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3" descr="막대그래프 ‘요일별 읽은 쪽수’(세로 눈금 한 칸 2): 월 6, 화 10, 수 4, 목 8"/>
          <p:cNvSpPr/>
          <p:nvPr/>
        </p:nvSpPr>
        <p:spPr>
          <a:xfrm>
            <a:off x="7404811" y="3849050"/>
            <a:ext cx="529029" cy="1322573"/>
          </a:xfrm>
          <a:custGeom>
            <a:avLst/>
            <a:gdLst/>
            <a:ahLst/>
            <a:cxnLst/>
            <a:rect l="l" t="t" r="r" b="b"/>
            <a:pathLst>
              <a:path w="529029" h="1322573">
                <a:moveTo>
                  <a:pt x="0" y="1322573"/>
                </a:moveTo>
                <a:lnTo>
                  <a:pt x="529029" y="1322573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4"/>
          <p:cNvSpPr/>
          <p:nvPr/>
        </p:nvSpPr>
        <p:spPr>
          <a:xfrm>
            <a:off x="8462869" y="2967335"/>
            <a:ext cx="529029" cy="2204288"/>
          </a:xfrm>
          <a:custGeom>
            <a:avLst/>
            <a:gdLst/>
            <a:ahLst/>
            <a:cxnLst/>
            <a:rect l="l" t="t" r="r" b="b"/>
            <a:pathLst>
              <a:path w="529029" h="2204288">
                <a:moveTo>
                  <a:pt x="0" y="2204288"/>
                </a:moveTo>
                <a:lnTo>
                  <a:pt x="529029" y="2204288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9520927" y="4289908"/>
            <a:ext cx="529029" cy="881715"/>
          </a:xfrm>
          <a:custGeom>
            <a:avLst/>
            <a:gdLst/>
            <a:ahLst/>
            <a:cxnLst/>
            <a:rect l="l" t="t" r="r" b="b"/>
            <a:pathLst>
              <a:path w="529029" h="881715">
                <a:moveTo>
                  <a:pt x="0" y="881715"/>
                </a:moveTo>
                <a:lnTo>
                  <a:pt x="529029" y="881715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10578985" y="3408193"/>
            <a:ext cx="529029" cy="1763430"/>
          </a:xfrm>
          <a:custGeom>
            <a:avLst/>
            <a:gdLst/>
            <a:ahLst/>
            <a:cxnLst/>
            <a:rect l="l" t="t" r="r" b="b"/>
            <a:pathLst>
              <a:path w="529029" h="1763430">
                <a:moveTo>
                  <a:pt x="0" y="1763430"/>
                </a:moveTo>
                <a:lnTo>
                  <a:pt x="529029" y="1763430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008039" y="4730765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>
            <a:off x="7008039" y="4289908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>
            <a:off x="7008039" y="3849050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>
            <a:off x="7008039" y="3408193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>
            <a:off x="7008039" y="2967335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>
            <a:off x="7008039" y="5171623"/>
            <a:ext cx="44967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 flipV="1">
            <a:off x="7008039" y="2790992"/>
            <a:ext cx="0" cy="238063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2-label15"/>
          <p:cNvSpPr txBox="1"/>
          <p:nvPr/>
        </p:nvSpPr>
        <p:spPr>
          <a:xfrm>
            <a:off x="6477863" y="49811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5" name="S02-label17"/>
          <p:cNvSpPr txBox="1"/>
          <p:nvPr/>
        </p:nvSpPr>
        <p:spPr>
          <a:xfrm>
            <a:off x="6477863" y="49811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6" name="S02-label19"/>
          <p:cNvSpPr txBox="1"/>
          <p:nvPr/>
        </p:nvSpPr>
        <p:spPr>
          <a:xfrm>
            <a:off x="6477863" y="454026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7" name="S02-label21"/>
          <p:cNvSpPr txBox="1"/>
          <p:nvPr/>
        </p:nvSpPr>
        <p:spPr>
          <a:xfrm>
            <a:off x="6477863" y="40994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8" name="S02-label23"/>
          <p:cNvSpPr txBox="1"/>
          <p:nvPr/>
        </p:nvSpPr>
        <p:spPr>
          <a:xfrm>
            <a:off x="6477863" y="36585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9" name="S02-label25"/>
          <p:cNvSpPr txBox="1"/>
          <p:nvPr/>
        </p:nvSpPr>
        <p:spPr>
          <a:xfrm>
            <a:off x="6477863" y="321769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0" name="S02-label27"/>
          <p:cNvSpPr txBox="1"/>
          <p:nvPr/>
        </p:nvSpPr>
        <p:spPr>
          <a:xfrm>
            <a:off x="6377279" y="2776835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1" name="S02-label29"/>
          <p:cNvSpPr txBox="1"/>
          <p:nvPr/>
        </p:nvSpPr>
        <p:spPr>
          <a:xfrm>
            <a:off x="6246215" y="2335977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(쪽)</a:t>
            </a:r>
            <a:endParaRPr lang="ko-KR" sz="2400" dirty="0"/>
          </a:p>
        </p:txBody>
      </p:sp>
      <p:sp>
        <p:nvSpPr>
          <p:cNvPr id="22" name="S02-label31"/>
          <p:cNvSpPr txBox="1"/>
          <p:nvPr/>
        </p:nvSpPr>
        <p:spPr>
          <a:xfrm>
            <a:off x="7465110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400" dirty="0"/>
          </a:p>
        </p:txBody>
      </p:sp>
      <p:sp>
        <p:nvSpPr>
          <p:cNvPr id="23" name="S02-label33"/>
          <p:cNvSpPr txBox="1"/>
          <p:nvPr/>
        </p:nvSpPr>
        <p:spPr>
          <a:xfrm>
            <a:off x="8523168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400" dirty="0"/>
          </a:p>
        </p:txBody>
      </p:sp>
      <p:sp>
        <p:nvSpPr>
          <p:cNvPr id="24" name="S02-label35"/>
          <p:cNvSpPr txBox="1"/>
          <p:nvPr/>
        </p:nvSpPr>
        <p:spPr>
          <a:xfrm>
            <a:off x="9581226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400" dirty="0"/>
          </a:p>
        </p:txBody>
      </p:sp>
      <p:sp>
        <p:nvSpPr>
          <p:cNvPr id="25" name="S02-label37"/>
          <p:cNvSpPr txBox="1"/>
          <p:nvPr/>
        </p:nvSpPr>
        <p:spPr>
          <a:xfrm>
            <a:off x="10639284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400" dirty="0"/>
          </a:p>
        </p:txBody>
      </p:sp>
      <p:sp>
        <p:nvSpPr>
          <p:cNvPr id="26" name="S02-label39"/>
          <p:cNvSpPr txBox="1"/>
          <p:nvPr/>
        </p:nvSpPr>
        <p:spPr>
          <a:xfrm>
            <a:off x="8064645" y="1895120"/>
            <a:ext cx="2383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요일별 읽은 쪽수</a:t>
            </a:r>
            <a:endParaRPr lang="ko-KR" sz="2400" dirty="0"/>
          </a:p>
        </p:txBody>
      </p:sp>
      <p:sp>
        <p:nvSpPr>
          <p:cNvPr id="27" name="S02-chip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8" name="S02-text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쪽일까요?</a:t>
            </a:r>
            <a:endParaRPr lang="ko-KR" sz="3000" dirty="0"/>
          </a:p>
        </p:txBody>
      </p:sp>
      <p:sp>
        <p:nvSpPr>
          <p:cNvPr id="29" name="S02-chip4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0" name="S02-text4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화요일에는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쪽 읽었을까요?</a:t>
            </a:r>
            <a:endParaRPr lang="ko-KR" sz="3000" dirty="0"/>
          </a:p>
        </p:txBody>
      </p:sp>
      <p:sp>
        <p:nvSpPr>
          <p:cNvPr id="31" name="S02-chip4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2" name="S02-text4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적게 읽은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 알아보기</a:t>
            </a:r>
            <a:endParaRPr lang="ko-KR" sz="4000" dirty="0"/>
          </a:p>
        </p:txBody>
      </p:sp>
      <p:sp>
        <p:nvSpPr>
          <p:cNvPr id="3" name="S03-card4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점으로 찍고 그 점들을 선분으로 이은 그래프를 꺾은선그래프라고 해요.</a:t>
            </a:r>
            <a:endParaRPr lang="ko-KR" sz="3000" dirty="0"/>
          </a:p>
        </p:txBody>
      </p:sp>
      <p:sp>
        <p:nvSpPr>
          <p:cNvPr id="5" name="S03-figure48" descr="꺾은선그래프 ‘운동장의 기온’(세로 눈금 한 칸 2): 9시 4, 10시 6, 11시 10, 12시 12, 1시 12"/>
          <p:cNvSpPr/>
          <p:nvPr/>
        </p:nvSpPr>
        <p:spPr>
          <a:xfrm>
            <a:off x="2145582" y="2235539"/>
            <a:ext cx="3272875" cy="1363698"/>
          </a:xfrm>
          <a:custGeom>
            <a:avLst/>
            <a:gdLst/>
            <a:ahLst/>
            <a:cxnLst/>
            <a:rect l="l" t="t" r="r" b="b"/>
            <a:pathLst>
              <a:path w="3272875" h="1363698">
                <a:moveTo>
                  <a:pt x="0" y="1363698"/>
                </a:moveTo>
                <a:lnTo>
                  <a:pt x="818219" y="1022773"/>
                </a:lnTo>
                <a:lnTo>
                  <a:pt x="1636437" y="340924"/>
                </a:lnTo>
                <a:lnTo>
                  <a:pt x="2454656" y="0"/>
                </a:lnTo>
                <a:lnTo>
                  <a:pt x="3272875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3-mark49"/>
          <p:cNvSpPr/>
          <p:nvPr/>
        </p:nvSpPr>
        <p:spPr>
          <a:xfrm flipV="1">
            <a:off x="2145582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50"/>
          <p:cNvSpPr/>
          <p:nvPr/>
        </p:nvSpPr>
        <p:spPr>
          <a:xfrm flipV="1">
            <a:off x="2963801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51"/>
          <p:cNvSpPr/>
          <p:nvPr/>
        </p:nvSpPr>
        <p:spPr>
          <a:xfrm flipV="1">
            <a:off x="3782019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52"/>
          <p:cNvSpPr/>
          <p:nvPr/>
        </p:nvSpPr>
        <p:spPr>
          <a:xfrm flipV="1">
            <a:off x="4600238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53"/>
          <p:cNvSpPr/>
          <p:nvPr/>
        </p:nvSpPr>
        <p:spPr>
          <a:xfrm flipV="1">
            <a:off x="5418457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54"/>
          <p:cNvSpPr/>
          <p:nvPr/>
        </p:nvSpPr>
        <p:spPr>
          <a:xfrm>
            <a:off x="1634195" y="3940161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55"/>
          <p:cNvSpPr/>
          <p:nvPr/>
        </p:nvSpPr>
        <p:spPr>
          <a:xfrm>
            <a:off x="1634195" y="3599236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56"/>
          <p:cNvSpPr/>
          <p:nvPr/>
        </p:nvSpPr>
        <p:spPr>
          <a:xfrm>
            <a:off x="1634195" y="3258312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57"/>
          <p:cNvSpPr/>
          <p:nvPr/>
        </p:nvSpPr>
        <p:spPr>
          <a:xfrm>
            <a:off x="1634195" y="2917388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58"/>
          <p:cNvSpPr/>
          <p:nvPr/>
        </p:nvSpPr>
        <p:spPr>
          <a:xfrm>
            <a:off x="1634195" y="2576463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59"/>
          <p:cNvSpPr/>
          <p:nvPr/>
        </p:nvSpPr>
        <p:spPr>
          <a:xfrm>
            <a:off x="1634195" y="2235539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60"/>
          <p:cNvSpPr/>
          <p:nvPr/>
        </p:nvSpPr>
        <p:spPr>
          <a:xfrm>
            <a:off x="1634195" y="4281085"/>
            <a:ext cx="429564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3-mark61"/>
          <p:cNvSpPr/>
          <p:nvPr/>
        </p:nvSpPr>
        <p:spPr>
          <a:xfrm flipV="1">
            <a:off x="1634195" y="2099169"/>
            <a:ext cx="0" cy="218191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62"/>
          <p:cNvSpPr/>
          <p:nvPr/>
        </p:nvSpPr>
        <p:spPr>
          <a:xfrm>
            <a:off x="2086146" y="353980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63"/>
          <p:cNvSpPr/>
          <p:nvPr/>
        </p:nvSpPr>
        <p:spPr>
          <a:xfrm>
            <a:off x="2904365" y="31988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64"/>
          <p:cNvSpPr/>
          <p:nvPr/>
        </p:nvSpPr>
        <p:spPr>
          <a:xfrm>
            <a:off x="3722583" y="25170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65"/>
          <p:cNvSpPr/>
          <p:nvPr/>
        </p:nvSpPr>
        <p:spPr>
          <a:xfrm>
            <a:off x="4540802" y="217610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66"/>
          <p:cNvSpPr/>
          <p:nvPr/>
        </p:nvSpPr>
        <p:spPr>
          <a:xfrm>
            <a:off x="5359021" y="217610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label68"/>
          <p:cNvSpPr txBox="1"/>
          <p:nvPr/>
        </p:nvSpPr>
        <p:spPr>
          <a:xfrm>
            <a:off x="1188962" y="409058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5" name="S03-label70"/>
          <p:cNvSpPr txBox="1"/>
          <p:nvPr/>
        </p:nvSpPr>
        <p:spPr>
          <a:xfrm>
            <a:off x="1188962" y="409058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3-label72"/>
          <p:cNvSpPr txBox="1"/>
          <p:nvPr/>
        </p:nvSpPr>
        <p:spPr>
          <a:xfrm>
            <a:off x="1188962" y="374966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3-label74"/>
          <p:cNvSpPr txBox="1"/>
          <p:nvPr/>
        </p:nvSpPr>
        <p:spPr>
          <a:xfrm>
            <a:off x="1188962" y="34087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8" name="S03-label76"/>
          <p:cNvSpPr txBox="1"/>
          <p:nvPr/>
        </p:nvSpPr>
        <p:spPr>
          <a:xfrm>
            <a:off x="1188962" y="306781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03-label78"/>
          <p:cNvSpPr txBox="1"/>
          <p:nvPr/>
        </p:nvSpPr>
        <p:spPr>
          <a:xfrm>
            <a:off x="1188962" y="272688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0" name="S03-label80"/>
          <p:cNvSpPr txBox="1"/>
          <p:nvPr/>
        </p:nvSpPr>
        <p:spPr>
          <a:xfrm>
            <a:off x="1088378" y="238596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03-label82"/>
          <p:cNvSpPr txBox="1"/>
          <p:nvPr/>
        </p:nvSpPr>
        <p:spPr>
          <a:xfrm>
            <a:off x="1088378" y="204503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2" name="S03-label84"/>
          <p:cNvSpPr txBox="1"/>
          <p:nvPr/>
        </p:nvSpPr>
        <p:spPr>
          <a:xfrm>
            <a:off x="957314" y="1704114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3" name="S03-label86"/>
          <p:cNvSpPr txBox="1"/>
          <p:nvPr/>
        </p:nvSpPr>
        <p:spPr>
          <a:xfrm>
            <a:off x="1840782" y="431218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4" name="S03-label88"/>
          <p:cNvSpPr txBox="1"/>
          <p:nvPr/>
        </p:nvSpPr>
        <p:spPr>
          <a:xfrm>
            <a:off x="2558417" y="431218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5" name="S03-label90"/>
          <p:cNvSpPr txBox="1"/>
          <p:nvPr/>
        </p:nvSpPr>
        <p:spPr>
          <a:xfrm>
            <a:off x="3376635" y="431218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6" name="S03-label92"/>
          <p:cNvSpPr txBox="1"/>
          <p:nvPr/>
        </p:nvSpPr>
        <p:spPr>
          <a:xfrm>
            <a:off x="4194854" y="431218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7" name="S03-label94"/>
          <p:cNvSpPr txBox="1"/>
          <p:nvPr/>
        </p:nvSpPr>
        <p:spPr>
          <a:xfrm>
            <a:off x="5113657" y="431218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8" name="S03-label96"/>
          <p:cNvSpPr txBox="1"/>
          <p:nvPr/>
        </p:nvSpPr>
        <p:spPr>
          <a:xfrm>
            <a:off x="2785323" y="1363190"/>
            <a:ext cx="199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운동장의 기온</a:t>
            </a:r>
            <a:endParaRPr lang="ko-KR" sz="2400" dirty="0"/>
          </a:p>
        </p:txBody>
      </p:sp>
      <p:sp>
        <p:nvSpPr>
          <p:cNvPr id="39" name="S03-card97"/>
          <p:cNvSpPr/>
          <p:nvPr/>
        </p:nvSpPr>
        <p:spPr>
          <a:xfrm>
            <a:off x="6920911" y="149656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0" name="S03-cardtext98"/>
          <p:cNvSpPr txBox="1"/>
          <p:nvPr/>
        </p:nvSpPr>
        <p:spPr>
          <a:xfrm>
            <a:off x="7195231" y="163372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시각</a:t>
            </a:r>
            <a:endParaRPr lang="ko-KR" sz="3000" dirty="0"/>
          </a:p>
        </p:txBody>
      </p:sp>
      <p:sp>
        <p:nvSpPr>
          <p:cNvPr id="41" name="S03-card99"/>
          <p:cNvSpPr/>
          <p:nvPr/>
        </p:nvSpPr>
        <p:spPr>
          <a:xfrm>
            <a:off x="6920911" y="259384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2" name="S03-cardtext100"/>
          <p:cNvSpPr txBox="1"/>
          <p:nvPr/>
        </p:nvSpPr>
        <p:spPr>
          <a:xfrm>
            <a:off x="7195231" y="273100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기온</a:t>
            </a:r>
            <a:endParaRPr lang="ko-KR" sz="3000" dirty="0"/>
          </a:p>
        </p:txBody>
      </p:sp>
      <p:sp>
        <p:nvSpPr>
          <p:cNvPr id="43" name="S03-card101"/>
          <p:cNvSpPr/>
          <p:nvPr/>
        </p:nvSpPr>
        <p:spPr>
          <a:xfrm>
            <a:off x="6920911" y="369112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4" name="S03-cardtext102"/>
          <p:cNvSpPr txBox="1"/>
          <p:nvPr/>
        </p:nvSpPr>
        <p:spPr>
          <a:xfrm>
            <a:off x="7195231" y="382828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칸: 2도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막대그래프와 비교해요</a:t>
            </a:r>
            <a:endParaRPr lang="ko-KR" sz="4000" dirty="0"/>
          </a:p>
        </p:txBody>
      </p:sp>
      <p:sp>
        <p:nvSpPr>
          <p:cNvPr id="3" name="S04-card10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0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꺾은선그래프는 시간에 따라 변하는 모양을 잘 보여 줘요.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기온이 오르고 있나요, 내리고 있나요?</a:t>
            </a:r>
            <a:endParaRPr lang="ko-KR" sz="3000" dirty="0"/>
          </a:p>
        </p:txBody>
      </p:sp>
      <p:sp>
        <p:nvSpPr>
          <p:cNvPr id="5" name="S04-figure105" descr="막대그래프(세로 눈금 한 칸 2): 9시 4, 10시 6, 11시 10, 12시 12, 1시 12"/>
          <p:cNvSpPr/>
          <p:nvPr/>
        </p:nvSpPr>
        <p:spPr>
          <a:xfrm>
            <a:off x="1504172" y="3459423"/>
            <a:ext cx="441238" cy="735397"/>
          </a:xfrm>
          <a:custGeom>
            <a:avLst/>
            <a:gdLst/>
            <a:ahLst/>
            <a:cxnLst/>
            <a:rect l="l" t="t" r="r" b="b"/>
            <a:pathLst>
              <a:path w="441238" h="735397">
                <a:moveTo>
                  <a:pt x="0" y="735397"/>
                </a:moveTo>
                <a:lnTo>
                  <a:pt x="441238" y="735397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106"/>
          <p:cNvSpPr/>
          <p:nvPr/>
        </p:nvSpPr>
        <p:spPr>
          <a:xfrm>
            <a:off x="2386649" y="3091725"/>
            <a:ext cx="441238" cy="1103096"/>
          </a:xfrm>
          <a:custGeom>
            <a:avLst/>
            <a:gdLst/>
            <a:ahLst/>
            <a:cxnLst/>
            <a:rect l="l" t="t" r="r" b="b"/>
            <a:pathLst>
              <a:path w="441238" h="1103096">
                <a:moveTo>
                  <a:pt x="0" y="1103096"/>
                </a:moveTo>
                <a:lnTo>
                  <a:pt x="441238" y="1103096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07"/>
          <p:cNvSpPr/>
          <p:nvPr/>
        </p:nvSpPr>
        <p:spPr>
          <a:xfrm>
            <a:off x="3269125" y="2356327"/>
            <a:ext cx="441238" cy="1838493"/>
          </a:xfrm>
          <a:custGeom>
            <a:avLst/>
            <a:gdLst/>
            <a:ahLst/>
            <a:cxnLst/>
            <a:rect l="l" t="t" r="r" b="b"/>
            <a:pathLst>
              <a:path w="441238" h="1838493">
                <a:moveTo>
                  <a:pt x="0" y="1838493"/>
                </a:moveTo>
                <a:lnTo>
                  <a:pt x="441238" y="1838493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08"/>
          <p:cNvSpPr/>
          <p:nvPr/>
        </p:nvSpPr>
        <p:spPr>
          <a:xfrm>
            <a:off x="4151602" y="1988629"/>
            <a:ext cx="441238" cy="2206192"/>
          </a:xfrm>
          <a:custGeom>
            <a:avLst/>
            <a:gdLst/>
            <a:ahLst/>
            <a:cxnLst/>
            <a:rect l="l" t="t" r="r" b="b"/>
            <a:pathLst>
              <a:path w="441238" h="2206192">
                <a:moveTo>
                  <a:pt x="0" y="2206192"/>
                </a:moveTo>
                <a:lnTo>
                  <a:pt x="441238" y="2206192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109"/>
          <p:cNvSpPr/>
          <p:nvPr/>
        </p:nvSpPr>
        <p:spPr>
          <a:xfrm>
            <a:off x="5034079" y="1988629"/>
            <a:ext cx="441238" cy="2206192"/>
          </a:xfrm>
          <a:custGeom>
            <a:avLst/>
            <a:gdLst/>
            <a:ahLst/>
            <a:cxnLst/>
            <a:rect l="l" t="t" r="r" b="b"/>
            <a:pathLst>
              <a:path w="441238" h="2206192">
                <a:moveTo>
                  <a:pt x="0" y="2206192"/>
                </a:moveTo>
                <a:lnTo>
                  <a:pt x="441238" y="2206192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110"/>
          <p:cNvSpPr/>
          <p:nvPr/>
        </p:nvSpPr>
        <p:spPr>
          <a:xfrm>
            <a:off x="1173243" y="3827122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111"/>
          <p:cNvSpPr/>
          <p:nvPr/>
        </p:nvSpPr>
        <p:spPr>
          <a:xfrm>
            <a:off x="1173243" y="3459423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112"/>
          <p:cNvSpPr/>
          <p:nvPr/>
        </p:nvSpPr>
        <p:spPr>
          <a:xfrm>
            <a:off x="1173243" y="3091725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113"/>
          <p:cNvSpPr/>
          <p:nvPr/>
        </p:nvSpPr>
        <p:spPr>
          <a:xfrm>
            <a:off x="1173243" y="2724026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114"/>
          <p:cNvSpPr/>
          <p:nvPr/>
        </p:nvSpPr>
        <p:spPr>
          <a:xfrm>
            <a:off x="1173243" y="2356327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115"/>
          <p:cNvSpPr/>
          <p:nvPr/>
        </p:nvSpPr>
        <p:spPr>
          <a:xfrm>
            <a:off x="1173243" y="1988629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16"/>
          <p:cNvSpPr/>
          <p:nvPr/>
        </p:nvSpPr>
        <p:spPr>
          <a:xfrm>
            <a:off x="1173243" y="4194821"/>
            <a:ext cx="463300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4-mark117"/>
          <p:cNvSpPr/>
          <p:nvPr/>
        </p:nvSpPr>
        <p:spPr>
          <a:xfrm flipV="1">
            <a:off x="1173243" y="1841549"/>
            <a:ext cx="0" cy="235327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4-label119"/>
          <p:cNvSpPr txBox="1"/>
          <p:nvPr/>
        </p:nvSpPr>
        <p:spPr>
          <a:xfrm>
            <a:off x="705251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4-label121"/>
          <p:cNvSpPr txBox="1"/>
          <p:nvPr/>
        </p:nvSpPr>
        <p:spPr>
          <a:xfrm>
            <a:off x="705251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0" name="S04-label123"/>
          <p:cNvSpPr txBox="1"/>
          <p:nvPr/>
        </p:nvSpPr>
        <p:spPr>
          <a:xfrm>
            <a:off x="705251" y="36366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1" name="S04-label125"/>
          <p:cNvSpPr txBox="1"/>
          <p:nvPr/>
        </p:nvSpPr>
        <p:spPr>
          <a:xfrm>
            <a:off x="705251" y="32689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2" name="S04-label127"/>
          <p:cNvSpPr txBox="1"/>
          <p:nvPr/>
        </p:nvSpPr>
        <p:spPr>
          <a:xfrm>
            <a:off x="705251" y="290122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3" name="S04-label129"/>
          <p:cNvSpPr txBox="1"/>
          <p:nvPr/>
        </p:nvSpPr>
        <p:spPr>
          <a:xfrm>
            <a:off x="705251" y="253352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4" name="S04-label131"/>
          <p:cNvSpPr txBox="1"/>
          <p:nvPr/>
        </p:nvSpPr>
        <p:spPr>
          <a:xfrm>
            <a:off x="604667" y="216582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5" name="S04-label133"/>
          <p:cNvSpPr txBox="1"/>
          <p:nvPr/>
        </p:nvSpPr>
        <p:spPr>
          <a:xfrm>
            <a:off x="604667" y="179812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26" name="S04-label135"/>
          <p:cNvSpPr txBox="1"/>
          <p:nvPr/>
        </p:nvSpPr>
        <p:spPr>
          <a:xfrm>
            <a:off x="473603" y="143043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27" name="S04-label137"/>
          <p:cNvSpPr txBox="1"/>
          <p:nvPr/>
        </p:nvSpPr>
        <p:spPr>
          <a:xfrm>
            <a:off x="1419991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28" name="S04-label139"/>
          <p:cNvSpPr txBox="1"/>
          <p:nvPr/>
        </p:nvSpPr>
        <p:spPr>
          <a:xfrm>
            <a:off x="2201884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29" name="S04-label141"/>
          <p:cNvSpPr txBox="1"/>
          <p:nvPr/>
        </p:nvSpPr>
        <p:spPr>
          <a:xfrm>
            <a:off x="3084361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0" name="S04-label143"/>
          <p:cNvSpPr txBox="1"/>
          <p:nvPr/>
        </p:nvSpPr>
        <p:spPr>
          <a:xfrm>
            <a:off x="3966837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1" name="S04-label145"/>
          <p:cNvSpPr txBox="1"/>
          <p:nvPr/>
        </p:nvSpPr>
        <p:spPr>
          <a:xfrm>
            <a:off x="4949898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2" name="S04-figure146" descr="꺾은선그래프(세로 눈금 한 칸 2): 9시 4, 10시 6, 11시 10, 12시 12, 1시 12"/>
          <p:cNvSpPr/>
          <p:nvPr/>
        </p:nvSpPr>
        <p:spPr>
          <a:xfrm>
            <a:off x="7430647" y="1988629"/>
            <a:ext cx="3529907" cy="1470795"/>
          </a:xfrm>
          <a:custGeom>
            <a:avLst/>
            <a:gdLst/>
            <a:ahLst/>
            <a:cxnLst/>
            <a:rect l="l" t="t" r="r" b="b"/>
            <a:pathLst>
              <a:path w="3529907" h="1470795">
                <a:moveTo>
                  <a:pt x="0" y="1470795"/>
                </a:moveTo>
                <a:lnTo>
                  <a:pt x="882477" y="1103096"/>
                </a:lnTo>
                <a:lnTo>
                  <a:pt x="1764954" y="367699"/>
                </a:lnTo>
                <a:lnTo>
                  <a:pt x="2647430" y="0"/>
                </a:lnTo>
                <a:lnTo>
                  <a:pt x="3529907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33" name="S04-mark147"/>
          <p:cNvSpPr/>
          <p:nvPr/>
        </p:nvSpPr>
        <p:spPr>
          <a:xfrm flipV="1">
            <a:off x="7430647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4-mark148"/>
          <p:cNvSpPr/>
          <p:nvPr/>
        </p:nvSpPr>
        <p:spPr>
          <a:xfrm flipV="1">
            <a:off x="8313124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149"/>
          <p:cNvSpPr/>
          <p:nvPr/>
        </p:nvSpPr>
        <p:spPr>
          <a:xfrm flipV="1">
            <a:off x="9195601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150"/>
          <p:cNvSpPr/>
          <p:nvPr/>
        </p:nvSpPr>
        <p:spPr>
          <a:xfrm flipV="1">
            <a:off x="10078077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151"/>
          <p:cNvSpPr/>
          <p:nvPr/>
        </p:nvSpPr>
        <p:spPr>
          <a:xfrm flipV="1">
            <a:off x="10960554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152"/>
          <p:cNvSpPr/>
          <p:nvPr/>
        </p:nvSpPr>
        <p:spPr>
          <a:xfrm>
            <a:off x="6879099" y="3827122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153"/>
          <p:cNvSpPr/>
          <p:nvPr/>
        </p:nvSpPr>
        <p:spPr>
          <a:xfrm>
            <a:off x="6879099" y="3459423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154"/>
          <p:cNvSpPr/>
          <p:nvPr/>
        </p:nvSpPr>
        <p:spPr>
          <a:xfrm>
            <a:off x="6879099" y="3091725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155"/>
          <p:cNvSpPr/>
          <p:nvPr/>
        </p:nvSpPr>
        <p:spPr>
          <a:xfrm>
            <a:off x="6879099" y="2724026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156"/>
          <p:cNvSpPr/>
          <p:nvPr/>
        </p:nvSpPr>
        <p:spPr>
          <a:xfrm>
            <a:off x="6879099" y="2356327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157"/>
          <p:cNvSpPr/>
          <p:nvPr/>
        </p:nvSpPr>
        <p:spPr>
          <a:xfrm>
            <a:off x="6879099" y="1988629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158"/>
          <p:cNvSpPr/>
          <p:nvPr/>
        </p:nvSpPr>
        <p:spPr>
          <a:xfrm>
            <a:off x="6879099" y="4194821"/>
            <a:ext cx="463300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4-mark159"/>
          <p:cNvSpPr/>
          <p:nvPr/>
        </p:nvSpPr>
        <p:spPr>
          <a:xfrm flipV="1">
            <a:off x="6879099" y="1841549"/>
            <a:ext cx="0" cy="235327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4-mark160"/>
          <p:cNvSpPr/>
          <p:nvPr/>
        </p:nvSpPr>
        <p:spPr>
          <a:xfrm>
            <a:off x="7371211" y="33999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4-mark161"/>
          <p:cNvSpPr/>
          <p:nvPr/>
        </p:nvSpPr>
        <p:spPr>
          <a:xfrm>
            <a:off x="8253688" y="303228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4-mark162"/>
          <p:cNvSpPr/>
          <p:nvPr/>
        </p:nvSpPr>
        <p:spPr>
          <a:xfrm>
            <a:off x="9136165" y="229689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4-mark163"/>
          <p:cNvSpPr/>
          <p:nvPr/>
        </p:nvSpPr>
        <p:spPr>
          <a:xfrm>
            <a:off x="10018641" y="192919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4-mark164"/>
          <p:cNvSpPr/>
          <p:nvPr/>
        </p:nvSpPr>
        <p:spPr>
          <a:xfrm>
            <a:off x="10901118" y="192919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4-label166"/>
          <p:cNvSpPr txBox="1"/>
          <p:nvPr/>
        </p:nvSpPr>
        <p:spPr>
          <a:xfrm>
            <a:off x="6411107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2" name="S04-label168"/>
          <p:cNvSpPr txBox="1"/>
          <p:nvPr/>
        </p:nvSpPr>
        <p:spPr>
          <a:xfrm>
            <a:off x="6411107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3" name="S04-label170"/>
          <p:cNvSpPr txBox="1"/>
          <p:nvPr/>
        </p:nvSpPr>
        <p:spPr>
          <a:xfrm>
            <a:off x="6411107" y="36366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54" name="S04-label172"/>
          <p:cNvSpPr txBox="1"/>
          <p:nvPr/>
        </p:nvSpPr>
        <p:spPr>
          <a:xfrm>
            <a:off x="6411107" y="32689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5" name="S04-label174"/>
          <p:cNvSpPr txBox="1"/>
          <p:nvPr/>
        </p:nvSpPr>
        <p:spPr>
          <a:xfrm>
            <a:off x="6411107" y="290122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56" name="S04-label176"/>
          <p:cNvSpPr txBox="1"/>
          <p:nvPr/>
        </p:nvSpPr>
        <p:spPr>
          <a:xfrm>
            <a:off x="6411107" y="253352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57" name="S04-label178"/>
          <p:cNvSpPr txBox="1"/>
          <p:nvPr/>
        </p:nvSpPr>
        <p:spPr>
          <a:xfrm>
            <a:off x="6310523" y="216582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58" name="S04-label180"/>
          <p:cNvSpPr txBox="1"/>
          <p:nvPr/>
        </p:nvSpPr>
        <p:spPr>
          <a:xfrm>
            <a:off x="6310523" y="179812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59" name="S04-label182"/>
          <p:cNvSpPr txBox="1"/>
          <p:nvPr/>
        </p:nvSpPr>
        <p:spPr>
          <a:xfrm>
            <a:off x="6179459" y="143043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60" name="S04-label184"/>
          <p:cNvSpPr txBox="1"/>
          <p:nvPr/>
        </p:nvSpPr>
        <p:spPr>
          <a:xfrm>
            <a:off x="7125847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61" name="S04-label186"/>
          <p:cNvSpPr txBox="1"/>
          <p:nvPr/>
        </p:nvSpPr>
        <p:spPr>
          <a:xfrm>
            <a:off x="7907740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62" name="S04-label188"/>
          <p:cNvSpPr txBox="1"/>
          <p:nvPr/>
        </p:nvSpPr>
        <p:spPr>
          <a:xfrm>
            <a:off x="8790217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63" name="S04-label190"/>
          <p:cNvSpPr txBox="1"/>
          <p:nvPr/>
        </p:nvSpPr>
        <p:spPr>
          <a:xfrm>
            <a:off x="9672693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64" name="S04-label192"/>
          <p:cNvSpPr txBox="1"/>
          <p:nvPr/>
        </p:nvSpPr>
        <p:spPr>
          <a:xfrm>
            <a:off x="10655754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선분으로 변화를 읽어요</a:t>
            </a:r>
            <a:endParaRPr lang="ko-KR" sz="4000" dirty="0"/>
          </a:p>
        </p:txBody>
      </p:sp>
      <p:sp>
        <p:nvSpPr>
          <p:cNvPr id="3" name="S05-card1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기온이 가장 많이 오른 때는 언제와 언제 사이일까요?</a:t>
            </a:r>
            <a:endParaRPr lang="ko-KR" sz="3000" dirty="0"/>
          </a:p>
        </p:txBody>
      </p:sp>
      <p:sp>
        <p:nvSpPr>
          <p:cNvPr id="5" name="S05-figure195" descr="꺾은선그래프(세로 눈금 한 칸 2): 9시 4, 10시 6, 11시 10, 12시 12, 1시 12"/>
          <p:cNvSpPr/>
          <p:nvPr/>
        </p:nvSpPr>
        <p:spPr>
          <a:xfrm>
            <a:off x="1720025" y="2179923"/>
            <a:ext cx="3514398" cy="1464332"/>
          </a:xfrm>
          <a:custGeom>
            <a:avLst/>
            <a:gdLst/>
            <a:ahLst/>
            <a:cxnLst/>
            <a:rect l="l" t="t" r="r" b="b"/>
            <a:pathLst>
              <a:path w="3514398" h="1464332">
                <a:moveTo>
                  <a:pt x="0" y="1464332"/>
                </a:moveTo>
                <a:lnTo>
                  <a:pt x="878599" y="1098249"/>
                </a:lnTo>
                <a:lnTo>
                  <a:pt x="1757199" y="366083"/>
                </a:lnTo>
                <a:lnTo>
                  <a:pt x="2635798" y="0"/>
                </a:lnTo>
                <a:lnTo>
                  <a:pt x="3514398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5-mark196"/>
          <p:cNvSpPr/>
          <p:nvPr/>
        </p:nvSpPr>
        <p:spPr>
          <a:xfrm flipV="1">
            <a:off x="17200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197"/>
          <p:cNvSpPr/>
          <p:nvPr/>
        </p:nvSpPr>
        <p:spPr>
          <a:xfrm flipV="1">
            <a:off x="25986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98"/>
          <p:cNvSpPr/>
          <p:nvPr/>
        </p:nvSpPr>
        <p:spPr>
          <a:xfrm flipV="1">
            <a:off x="34772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99"/>
          <p:cNvSpPr/>
          <p:nvPr/>
        </p:nvSpPr>
        <p:spPr>
          <a:xfrm flipV="1">
            <a:off x="43558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200"/>
          <p:cNvSpPr/>
          <p:nvPr/>
        </p:nvSpPr>
        <p:spPr>
          <a:xfrm flipV="1">
            <a:off x="5234423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201"/>
          <p:cNvSpPr/>
          <p:nvPr/>
        </p:nvSpPr>
        <p:spPr>
          <a:xfrm>
            <a:off x="1170901" y="401033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202"/>
          <p:cNvSpPr/>
          <p:nvPr/>
        </p:nvSpPr>
        <p:spPr>
          <a:xfrm>
            <a:off x="1170901" y="364425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203"/>
          <p:cNvSpPr/>
          <p:nvPr/>
        </p:nvSpPr>
        <p:spPr>
          <a:xfrm>
            <a:off x="1170901" y="3278172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204"/>
          <p:cNvSpPr/>
          <p:nvPr/>
        </p:nvSpPr>
        <p:spPr>
          <a:xfrm>
            <a:off x="1170901" y="291208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205"/>
          <p:cNvSpPr/>
          <p:nvPr/>
        </p:nvSpPr>
        <p:spPr>
          <a:xfrm>
            <a:off x="1170901" y="254600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206"/>
          <p:cNvSpPr/>
          <p:nvPr/>
        </p:nvSpPr>
        <p:spPr>
          <a:xfrm>
            <a:off x="1170901" y="2179923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207"/>
          <p:cNvSpPr/>
          <p:nvPr/>
        </p:nvSpPr>
        <p:spPr>
          <a:xfrm>
            <a:off x="1170901" y="4376422"/>
            <a:ext cx="46126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5-mark208"/>
          <p:cNvSpPr/>
          <p:nvPr/>
        </p:nvSpPr>
        <p:spPr>
          <a:xfrm flipV="1">
            <a:off x="1170901" y="2033490"/>
            <a:ext cx="0" cy="234293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5-mark209"/>
          <p:cNvSpPr/>
          <p:nvPr/>
        </p:nvSpPr>
        <p:spPr>
          <a:xfrm>
            <a:off x="1660589" y="358482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210"/>
          <p:cNvSpPr/>
          <p:nvPr/>
        </p:nvSpPr>
        <p:spPr>
          <a:xfrm>
            <a:off x="2539189" y="321873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211"/>
          <p:cNvSpPr/>
          <p:nvPr/>
        </p:nvSpPr>
        <p:spPr>
          <a:xfrm>
            <a:off x="3417788" y="24865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mark212"/>
          <p:cNvSpPr/>
          <p:nvPr/>
        </p:nvSpPr>
        <p:spPr>
          <a:xfrm>
            <a:off x="4296388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mark213"/>
          <p:cNvSpPr/>
          <p:nvPr/>
        </p:nvSpPr>
        <p:spPr>
          <a:xfrm>
            <a:off x="5174987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label215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5" name="S05-label217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5-label219"/>
          <p:cNvSpPr txBox="1"/>
          <p:nvPr/>
        </p:nvSpPr>
        <p:spPr>
          <a:xfrm>
            <a:off x="704282" y="381983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5-label221"/>
          <p:cNvSpPr txBox="1"/>
          <p:nvPr/>
        </p:nvSpPr>
        <p:spPr>
          <a:xfrm>
            <a:off x="704282" y="345375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8" name="S05-label223"/>
          <p:cNvSpPr txBox="1"/>
          <p:nvPr/>
        </p:nvSpPr>
        <p:spPr>
          <a:xfrm>
            <a:off x="704282" y="30876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05-label225"/>
          <p:cNvSpPr txBox="1"/>
          <p:nvPr/>
        </p:nvSpPr>
        <p:spPr>
          <a:xfrm>
            <a:off x="704282" y="272158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0" name="S05-label227"/>
          <p:cNvSpPr txBox="1"/>
          <p:nvPr/>
        </p:nvSpPr>
        <p:spPr>
          <a:xfrm>
            <a:off x="603698" y="235550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05-label229"/>
          <p:cNvSpPr txBox="1"/>
          <p:nvPr/>
        </p:nvSpPr>
        <p:spPr>
          <a:xfrm>
            <a:off x="603698" y="19894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2" name="S05-label231"/>
          <p:cNvSpPr txBox="1"/>
          <p:nvPr/>
        </p:nvSpPr>
        <p:spPr>
          <a:xfrm>
            <a:off x="472634" y="162334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3" name="S05-label233"/>
          <p:cNvSpPr txBox="1"/>
          <p:nvPr/>
        </p:nvSpPr>
        <p:spPr>
          <a:xfrm>
            <a:off x="1415225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4" name="S05-label235"/>
          <p:cNvSpPr txBox="1"/>
          <p:nvPr/>
        </p:nvSpPr>
        <p:spPr>
          <a:xfrm>
            <a:off x="2193241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5" name="S05-label237"/>
          <p:cNvSpPr txBox="1"/>
          <p:nvPr/>
        </p:nvSpPr>
        <p:spPr>
          <a:xfrm>
            <a:off x="30718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6" name="S05-label239"/>
          <p:cNvSpPr txBox="1"/>
          <p:nvPr/>
        </p:nvSpPr>
        <p:spPr>
          <a:xfrm>
            <a:off x="39504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7" name="S05-label241"/>
          <p:cNvSpPr txBox="1"/>
          <p:nvPr/>
        </p:nvSpPr>
        <p:spPr>
          <a:xfrm>
            <a:off x="4929623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8" name="S05-card242"/>
          <p:cNvSpPr/>
          <p:nvPr/>
        </p:nvSpPr>
        <p:spPr>
          <a:xfrm>
            <a:off x="6277356" y="16916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5-cardtext243"/>
          <p:cNvSpPr txBox="1"/>
          <p:nvPr/>
        </p:nvSpPr>
        <p:spPr>
          <a:xfrm>
            <a:off x="6551676" y="18288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올라가면 늘어나요.</a:t>
            </a:r>
            <a:endParaRPr lang="ko-KR" sz="3000" dirty="0"/>
          </a:p>
        </p:txBody>
      </p:sp>
      <p:sp>
        <p:nvSpPr>
          <p:cNvPr id="40" name="S05-card244"/>
          <p:cNvSpPr/>
          <p:nvPr/>
        </p:nvSpPr>
        <p:spPr>
          <a:xfrm>
            <a:off x="6277356" y="27889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1" name="S05-cardtext245"/>
          <p:cNvSpPr txBox="1"/>
          <p:nvPr/>
        </p:nvSpPr>
        <p:spPr>
          <a:xfrm>
            <a:off x="6551676" y="29260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기울면 변화가 커요.</a:t>
            </a:r>
            <a:endParaRPr lang="ko-KR" sz="3000" dirty="0"/>
          </a:p>
        </p:txBody>
      </p:sp>
      <p:sp>
        <p:nvSpPr>
          <p:cNvPr id="42" name="S05-card246"/>
          <p:cNvSpPr/>
          <p:nvPr/>
        </p:nvSpPr>
        <p:spPr>
          <a:xfrm>
            <a:off x="6277356" y="38862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3" name="S05-cardtext247"/>
          <p:cNvSpPr txBox="1"/>
          <p:nvPr/>
        </p:nvSpPr>
        <p:spPr>
          <a:xfrm>
            <a:off x="6551676" y="40233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평평하면 변화가 없어요.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000" dirty="0"/>
          </a:p>
        </p:txBody>
      </p:sp>
      <p:sp>
        <p:nvSpPr>
          <p:cNvPr id="3" name="S06-card2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2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선분이 가장 많이 기운 곳을 찾아요.</a:t>
            </a:r>
            <a:endParaRPr lang="ko-KR" sz="3000" dirty="0"/>
          </a:p>
        </p:txBody>
      </p:sp>
      <p:sp>
        <p:nvSpPr>
          <p:cNvPr id="5" name="S06-figure250" descr="꺾은선그래프 ‘강낭콩의 키’(세로 눈금 한 칸 1): 2일 1, 4일 2, 6일 5, 8일 6, 10일 7"/>
          <p:cNvSpPr/>
          <p:nvPr/>
        </p:nvSpPr>
        <p:spPr>
          <a:xfrm>
            <a:off x="7533092" y="2246843"/>
            <a:ext cx="3318091" cy="2073807"/>
          </a:xfrm>
          <a:custGeom>
            <a:avLst/>
            <a:gdLst/>
            <a:ahLst/>
            <a:cxnLst/>
            <a:rect l="l" t="t" r="r" b="b"/>
            <a:pathLst>
              <a:path w="3318091" h="2073807">
                <a:moveTo>
                  <a:pt x="0" y="2073807"/>
                </a:moveTo>
                <a:lnTo>
                  <a:pt x="829523" y="1728172"/>
                </a:lnTo>
                <a:lnTo>
                  <a:pt x="1659045" y="691269"/>
                </a:lnTo>
                <a:lnTo>
                  <a:pt x="2488568" y="345634"/>
                </a:lnTo>
                <a:lnTo>
                  <a:pt x="3318091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6-mark251"/>
          <p:cNvSpPr/>
          <p:nvPr/>
        </p:nvSpPr>
        <p:spPr>
          <a:xfrm flipV="1">
            <a:off x="7533092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252"/>
          <p:cNvSpPr/>
          <p:nvPr/>
        </p:nvSpPr>
        <p:spPr>
          <a:xfrm flipV="1">
            <a:off x="8362615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253"/>
          <p:cNvSpPr/>
          <p:nvPr/>
        </p:nvSpPr>
        <p:spPr>
          <a:xfrm flipV="1">
            <a:off x="9192137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254"/>
          <p:cNvSpPr/>
          <p:nvPr/>
        </p:nvSpPr>
        <p:spPr>
          <a:xfrm flipV="1">
            <a:off x="10021660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255"/>
          <p:cNvSpPr/>
          <p:nvPr/>
        </p:nvSpPr>
        <p:spPr>
          <a:xfrm flipV="1">
            <a:off x="10851183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256"/>
          <p:cNvSpPr/>
          <p:nvPr/>
        </p:nvSpPr>
        <p:spPr>
          <a:xfrm>
            <a:off x="7014640" y="4320649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257"/>
          <p:cNvSpPr/>
          <p:nvPr/>
        </p:nvSpPr>
        <p:spPr>
          <a:xfrm>
            <a:off x="7014640" y="3975015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258"/>
          <p:cNvSpPr/>
          <p:nvPr/>
        </p:nvSpPr>
        <p:spPr>
          <a:xfrm>
            <a:off x="7014640" y="3629380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259"/>
          <p:cNvSpPr/>
          <p:nvPr/>
        </p:nvSpPr>
        <p:spPr>
          <a:xfrm>
            <a:off x="7014640" y="3283746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260"/>
          <p:cNvSpPr/>
          <p:nvPr/>
        </p:nvSpPr>
        <p:spPr>
          <a:xfrm>
            <a:off x="7014640" y="2938112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261"/>
          <p:cNvSpPr/>
          <p:nvPr/>
        </p:nvSpPr>
        <p:spPr>
          <a:xfrm>
            <a:off x="7014640" y="2592477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262"/>
          <p:cNvSpPr/>
          <p:nvPr/>
        </p:nvSpPr>
        <p:spPr>
          <a:xfrm>
            <a:off x="7014640" y="2246843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263"/>
          <p:cNvSpPr/>
          <p:nvPr/>
        </p:nvSpPr>
        <p:spPr>
          <a:xfrm>
            <a:off x="7014640" y="4666284"/>
            <a:ext cx="435499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264"/>
          <p:cNvSpPr/>
          <p:nvPr/>
        </p:nvSpPr>
        <p:spPr>
          <a:xfrm flipV="1">
            <a:off x="7014640" y="2108589"/>
            <a:ext cx="0" cy="255769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265"/>
          <p:cNvSpPr/>
          <p:nvPr/>
        </p:nvSpPr>
        <p:spPr>
          <a:xfrm>
            <a:off x="7473656" y="426121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266"/>
          <p:cNvSpPr/>
          <p:nvPr/>
        </p:nvSpPr>
        <p:spPr>
          <a:xfrm>
            <a:off x="8303179" y="391557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mark267"/>
          <p:cNvSpPr/>
          <p:nvPr/>
        </p:nvSpPr>
        <p:spPr>
          <a:xfrm>
            <a:off x="9132701" y="28786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mark268"/>
          <p:cNvSpPr/>
          <p:nvPr/>
        </p:nvSpPr>
        <p:spPr>
          <a:xfrm>
            <a:off x="9962224" y="253304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269"/>
          <p:cNvSpPr/>
          <p:nvPr/>
        </p:nvSpPr>
        <p:spPr>
          <a:xfrm>
            <a:off x="10791747" y="218740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label271"/>
          <p:cNvSpPr txBox="1"/>
          <p:nvPr/>
        </p:nvSpPr>
        <p:spPr>
          <a:xfrm>
            <a:off x="6565403" y="447578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6-label273"/>
          <p:cNvSpPr txBox="1"/>
          <p:nvPr/>
        </p:nvSpPr>
        <p:spPr>
          <a:xfrm>
            <a:off x="6565403" y="447578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7" name="S06-label275"/>
          <p:cNvSpPr txBox="1"/>
          <p:nvPr/>
        </p:nvSpPr>
        <p:spPr>
          <a:xfrm>
            <a:off x="6565403" y="413014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8" name="S06-label277"/>
          <p:cNvSpPr txBox="1"/>
          <p:nvPr/>
        </p:nvSpPr>
        <p:spPr>
          <a:xfrm>
            <a:off x="6565403" y="378451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9" name="S06-label279"/>
          <p:cNvSpPr txBox="1"/>
          <p:nvPr/>
        </p:nvSpPr>
        <p:spPr>
          <a:xfrm>
            <a:off x="6565403" y="343888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0" name="S06-label281"/>
          <p:cNvSpPr txBox="1"/>
          <p:nvPr/>
        </p:nvSpPr>
        <p:spPr>
          <a:xfrm>
            <a:off x="6565403" y="309324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1" name="S06-label283"/>
          <p:cNvSpPr txBox="1"/>
          <p:nvPr/>
        </p:nvSpPr>
        <p:spPr>
          <a:xfrm>
            <a:off x="6565403" y="274761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32" name="S06-label285"/>
          <p:cNvSpPr txBox="1"/>
          <p:nvPr/>
        </p:nvSpPr>
        <p:spPr>
          <a:xfrm>
            <a:off x="6565403" y="240197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33" name="S06-label287"/>
          <p:cNvSpPr txBox="1"/>
          <p:nvPr/>
        </p:nvSpPr>
        <p:spPr>
          <a:xfrm>
            <a:off x="6565403" y="205634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34" name="S06-label289"/>
          <p:cNvSpPr txBox="1"/>
          <p:nvPr/>
        </p:nvSpPr>
        <p:spPr>
          <a:xfrm>
            <a:off x="6272795" y="1710708"/>
            <a:ext cx="8961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(cm)</a:t>
            </a:r>
            <a:endParaRPr lang="ko-KR" sz="2400" dirty="0"/>
          </a:p>
        </p:txBody>
      </p:sp>
      <p:sp>
        <p:nvSpPr>
          <p:cNvPr id="35" name="S06-label291"/>
          <p:cNvSpPr txBox="1"/>
          <p:nvPr/>
        </p:nvSpPr>
        <p:spPr>
          <a:xfrm>
            <a:off x="7228292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2일</a:t>
            </a:r>
            <a:endParaRPr lang="ko-KR" sz="2400" dirty="0"/>
          </a:p>
        </p:txBody>
      </p:sp>
      <p:sp>
        <p:nvSpPr>
          <p:cNvPr id="36" name="S06-label293"/>
          <p:cNvSpPr txBox="1"/>
          <p:nvPr/>
        </p:nvSpPr>
        <p:spPr>
          <a:xfrm>
            <a:off x="8057815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</a:t>
            </a:r>
            <a:endParaRPr lang="ko-KR" sz="2400" dirty="0"/>
          </a:p>
        </p:txBody>
      </p:sp>
      <p:sp>
        <p:nvSpPr>
          <p:cNvPr id="37" name="S06-label295"/>
          <p:cNvSpPr txBox="1"/>
          <p:nvPr/>
        </p:nvSpPr>
        <p:spPr>
          <a:xfrm>
            <a:off x="8887337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</a:t>
            </a:r>
            <a:endParaRPr lang="ko-KR" sz="2400" dirty="0"/>
          </a:p>
        </p:txBody>
      </p:sp>
      <p:sp>
        <p:nvSpPr>
          <p:cNvPr id="38" name="S06-label297"/>
          <p:cNvSpPr txBox="1"/>
          <p:nvPr/>
        </p:nvSpPr>
        <p:spPr>
          <a:xfrm>
            <a:off x="9716860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</a:t>
            </a:r>
            <a:endParaRPr lang="ko-KR" sz="2400" dirty="0"/>
          </a:p>
        </p:txBody>
      </p:sp>
      <p:sp>
        <p:nvSpPr>
          <p:cNvPr id="39" name="S06-label299"/>
          <p:cNvSpPr txBox="1"/>
          <p:nvPr/>
        </p:nvSpPr>
        <p:spPr>
          <a:xfrm>
            <a:off x="10445799" y="470044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</a:t>
            </a:r>
            <a:endParaRPr lang="ko-KR" sz="2400" dirty="0"/>
          </a:p>
        </p:txBody>
      </p:sp>
      <p:sp>
        <p:nvSpPr>
          <p:cNvPr id="40" name="S06-label301"/>
          <p:cNvSpPr txBox="1"/>
          <p:nvPr/>
        </p:nvSpPr>
        <p:spPr>
          <a:xfrm>
            <a:off x="8344793" y="1365074"/>
            <a:ext cx="1694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키</a:t>
            </a:r>
            <a:endParaRPr lang="ko-KR" sz="2400" dirty="0"/>
          </a:p>
        </p:txBody>
      </p:sp>
      <p:sp>
        <p:nvSpPr>
          <p:cNvPr id="41" name="S06-chip30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2" name="S06-text303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6일의 키는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cm일까요?</a:t>
            </a:r>
            <a:endParaRPr lang="ko-KR" sz="3000" dirty="0"/>
          </a:p>
        </p:txBody>
      </p:sp>
      <p:sp>
        <p:nvSpPr>
          <p:cNvPr id="43" name="S06-chip30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4" name="S06-text305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자란 때는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언제와 언제 사이?</a:t>
            </a:r>
            <a:endParaRPr lang="ko-KR" sz="3000" dirty="0"/>
          </a:p>
        </p:txBody>
      </p:sp>
      <p:sp>
        <p:nvSpPr>
          <p:cNvPr id="45" name="S06-chip30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6" name="S06-text307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10일의 키는 2일보다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더 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오른 때는?</a:t>
            </a:r>
            <a:endParaRPr lang="ko-KR" sz="4000" dirty="0"/>
          </a:p>
        </p:txBody>
      </p:sp>
      <p:sp>
        <p:nvSpPr>
          <p:cNvPr id="3" name="S07-card3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운동장의 기온이 가장 많이 오른 때예요. 누구 말이 맞을까요?</a:t>
            </a:r>
            <a:endParaRPr lang="ko-KR" sz="3000" dirty="0"/>
          </a:p>
        </p:txBody>
      </p:sp>
      <p:sp>
        <p:nvSpPr>
          <p:cNvPr id="5" name="S07-figure310" descr="꺾은선그래프(세로 눈금 한 칸 2): 9시 4, 10시 6, 11시 10, 12시 12, 1시 12"/>
          <p:cNvSpPr/>
          <p:nvPr/>
        </p:nvSpPr>
        <p:spPr>
          <a:xfrm>
            <a:off x="1720025" y="2179923"/>
            <a:ext cx="3514398" cy="1464332"/>
          </a:xfrm>
          <a:custGeom>
            <a:avLst/>
            <a:gdLst/>
            <a:ahLst/>
            <a:cxnLst/>
            <a:rect l="l" t="t" r="r" b="b"/>
            <a:pathLst>
              <a:path w="3514398" h="1464332">
                <a:moveTo>
                  <a:pt x="0" y="1464332"/>
                </a:moveTo>
                <a:lnTo>
                  <a:pt x="878599" y="1098249"/>
                </a:lnTo>
                <a:lnTo>
                  <a:pt x="1757199" y="366083"/>
                </a:lnTo>
                <a:lnTo>
                  <a:pt x="2635798" y="0"/>
                </a:lnTo>
                <a:lnTo>
                  <a:pt x="3514398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7-mark311"/>
          <p:cNvSpPr/>
          <p:nvPr/>
        </p:nvSpPr>
        <p:spPr>
          <a:xfrm flipV="1">
            <a:off x="17200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312"/>
          <p:cNvSpPr/>
          <p:nvPr/>
        </p:nvSpPr>
        <p:spPr>
          <a:xfrm flipV="1">
            <a:off x="25986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313"/>
          <p:cNvSpPr/>
          <p:nvPr/>
        </p:nvSpPr>
        <p:spPr>
          <a:xfrm flipV="1">
            <a:off x="34772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314"/>
          <p:cNvSpPr/>
          <p:nvPr/>
        </p:nvSpPr>
        <p:spPr>
          <a:xfrm flipV="1">
            <a:off x="43558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315"/>
          <p:cNvSpPr/>
          <p:nvPr/>
        </p:nvSpPr>
        <p:spPr>
          <a:xfrm flipV="1">
            <a:off x="5234423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316"/>
          <p:cNvSpPr/>
          <p:nvPr/>
        </p:nvSpPr>
        <p:spPr>
          <a:xfrm>
            <a:off x="1170901" y="401033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317"/>
          <p:cNvSpPr/>
          <p:nvPr/>
        </p:nvSpPr>
        <p:spPr>
          <a:xfrm>
            <a:off x="1170901" y="364425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318"/>
          <p:cNvSpPr/>
          <p:nvPr/>
        </p:nvSpPr>
        <p:spPr>
          <a:xfrm>
            <a:off x="1170901" y="3278172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319"/>
          <p:cNvSpPr/>
          <p:nvPr/>
        </p:nvSpPr>
        <p:spPr>
          <a:xfrm>
            <a:off x="1170901" y="291208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320"/>
          <p:cNvSpPr/>
          <p:nvPr/>
        </p:nvSpPr>
        <p:spPr>
          <a:xfrm>
            <a:off x="1170901" y="254600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321"/>
          <p:cNvSpPr/>
          <p:nvPr/>
        </p:nvSpPr>
        <p:spPr>
          <a:xfrm>
            <a:off x="1170901" y="2179923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322"/>
          <p:cNvSpPr/>
          <p:nvPr/>
        </p:nvSpPr>
        <p:spPr>
          <a:xfrm>
            <a:off x="1170901" y="4376422"/>
            <a:ext cx="46126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7-mark323"/>
          <p:cNvSpPr/>
          <p:nvPr/>
        </p:nvSpPr>
        <p:spPr>
          <a:xfrm flipV="1">
            <a:off x="1170901" y="2033490"/>
            <a:ext cx="0" cy="234293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7-mark324"/>
          <p:cNvSpPr/>
          <p:nvPr/>
        </p:nvSpPr>
        <p:spPr>
          <a:xfrm>
            <a:off x="1660589" y="358482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325"/>
          <p:cNvSpPr/>
          <p:nvPr/>
        </p:nvSpPr>
        <p:spPr>
          <a:xfrm>
            <a:off x="2539189" y="321873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mark326"/>
          <p:cNvSpPr/>
          <p:nvPr/>
        </p:nvSpPr>
        <p:spPr>
          <a:xfrm>
            <a:off x="3417788" y="24865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mark327"/>
          <p:cNvSpPr/>
          <p:nvPr/>
        </p:nvSpPr>
        <p:spPr>
          <a:xfrm>
            <a:off x="4296388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mark328"/>
          <p:cNvSpPr/>
          <p:nvPr/>
        </p:nvSpPr>
        <p:spPr>
          <a:xfrm>
            <a:off x="5174987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label330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5" name="S07-label332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7-label334"/>
          <p:cNvSpPr txBox="1"/>
          <p:nvPr/>
        </p:nvSpPr>
        <p:spPr>
          <a:xfrm>
            <a:off x="704282" y="381983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7-label336"/>
          <p:cNvSpPr txBox="1"/>
          <p:nvPr/>
        </p:nvSpPr>
        <p:spPr>
          <a:xfrm>
            <a:off x="704282" y="345375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8" name="S07-label338"/>
          <p:cNvSpPr txBox="1"/>
          <p:nvPr/>
        </p:nvSpPr>
        <p:spPr>
          <a:xfrm>
            <a:off x="704282" y="30876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07-label340"/>
          <p:cNvSpPr txBox="1"/>
          <p:nvPr/>
        </p:nvSpPr>
        <p:spPr>
          <a:xfrm>
            <a:off x="704282" y="272158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0" name="S07-label342"/>
          <p:cNvSpPr txBox="1"/>
          <p:nvPr/>
        </p:nvSpPr>
        <p:spPr>
          <a:xfrm>
            <a:off x="603698" y="235550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07-label344"/>
          <p:cNvSpPr txBox="1"/>
          <p:nvPr/>
        </p:nvSpPr>
        <p:spPr>
          <a:xfrm>
            <a:off x="603698" y="19894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2" name="S07-label346"/>
          <p:cNvSpPr txBox="1"/>
          <p:nvPr/>
        </p:nvSpPr>
        <p:spPr>
          <a:xfrm>
            <a:off x="472634" y="162334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3" name="S07-label348"/>
          <p:cNvSpPr txBox="1"/>
          <p:nvPr/>
        </p:nvSpPr>
        <p:spPr>
          <a:xfrm>
            <a:off x="1415225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4" name="S07-label350"/>
          <p:cNvSpPr txBox="1"/>
          <p:nvPr/>
        </p:nvSpPr>
        <p:spPr>
          <a:xfrm>
            <a:off x="2193241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5" name="S07-label352"/>
          <p:cNvSpPr txBox="1"/>
          <p:nvPr/>
        </p:nvSpPr>
        <p:spPr>
          <a:xfrm>
            <a:off x="30718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6" name="S07-label354"/>
          <p:cNvSpPr txBox="1"/>
          <p:nvPr/>
        </p:nvSpPr>
        <p:spPr>
          <a:xfrm>
            <a:off x="39504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7" name="S07-label356"/>
          <p:cNvSpPr txBox="1"/>
          <p:nvPr/>
        </p:nvSpPr>
        <p:spPr>
          <a:xfrm>
            <a:off x="4929623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8" name="S07-card357"/>
          <p:cNvSpPr/>
          <p:nvPr/>
        </p:nvSpPr>
        <p:spPr>
          <a:xfrm>
            <a:off x="6277356" y="149504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7-cardtext358"/>
          <p:cNvSpPr txBox="1"/>
          <p:nvPr/>
        </p:nvSpPr>
        <p:spPr>
          <a:xfrm>
            <a:off x="6551676" y="163220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12시와 1시 사이예요.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점이 가장 높아요.</a:t>
            </a:r>
            <a:endParaRPr lang="ko-KR" sz="3000" dirty="0"/>
          </a:p>
        </p:txBody>
      </p:sp>
      <p:sp>
        <p:nvSpPr>
          <p:cNvPr id="40" name="S07-card359"/>
          <p:cNvSpPr/>
          <p:nvPr/>
        </p:nvSpPr>
        <p:spPr>
          <a:xfrm>
            <a:off x="6277356" y="333756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1" name="S07-cardtext360"/>
          <p:cNvSpPr txBox="1"/>
          <p:nvPr/>
        </p:nvSpPr>
        <p:spPr>
          <a:xfrm>
            <a:off x="6551676" y="347472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10시와 11시 사이예요.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선분이 가장 많이 기울었어요.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물결선으로 줄여요</a:t>
            </a:r>
            <a:endParaRPr lang="ko-KR" sz="4000" dirty="0"/>
          </a:p>
        </p:txBody>
      </p:sp>
      <p:sp>
        <p:nvSpPr>
          <p:cNvPr id="3" name="S08-card361"/>
          <p:cNvSpPr/>
          <p:nvPr/>
        </p:nvSpPr>
        <p:spPr>
          <a:xfrm>
            <a:off x="548640" y="4511040"/>
            <a:ext cx="11091672" cy="1706880"/>
          </a:xfrm>
          <a:prstGeom prst="roundRect">
            <a:avLst>
              <a:gd name="adj" fmla="val 642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362"/>
          <p:cNvSpPr txBox="1"/>
          <p:nvPr/>
        </p:nvSpPr>
        <p:spPr>
          <a:xfrm>
            <a:off x="822960" y="4648200"/>
            <a:ext cx="10543032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준호의 몸무게예요. 변하는 모습은 어느 쪽에서 더 잘 보일까요?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30 사이의 물결 모양(≈)을 물결선이라고 해요.</a:t>
            </a:r>
            <a:endParaRPr lang="ko-KR" sz="3000" dirty="0"/>
          </a:p>
        </p:txBody>
      </p:sp>
      <p:sp>
        <p:nvSpPr>
          <p:cNvPr id="5" name="S08-figure363" descr="꺾은선그래프(세로 눈금 한 칸 10): 3월 30, 4월 31, 5월 31, 6월 33, 7월 34"/>
          <p:cNvSpPr/>
          <p:nvPr/>
        </p:nvSpPr>
        <p:spPr>
          <a:xfrm>
            <a:off x="1766185" y="2114764"/>
            <a:ext cx="3433572" cy="143066"/>
          </a:xfrm>
          <a:custGeom>
            <a:avLst/>
            <a:gdLst/>
            <a:ahLst/>
            <a:cxnLst/>
            <a:rect l="l" t="t" r="r" b="b"/>
            <a:pathLst>
              <a:path w="3433572" h="143066">
                <a:moveTo>
                  <a:pt x="0" y="143066"/>
                </a:moveTo>
                <a:lnTo>
                  <a:pt x="858393" y="107299"/>
                </a:lnTo>
                <a:lnTo>
                  <a:pt x="1716786" y="107299"/>
                </a:lnTo>
                <a:lnTo>
                  <a:pt x="2575179" y="35766"/>
                </a:lnTo>
                <a:lnTo>
                  <a:pt x="3433572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8-mark364"/>
          <p:cNvSpPr/>
          <p:nvPr/>
        </p:nvSpPr>
        <p:spPr>
          <a:xfrm flipV="1">
            <a:off x="1766185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365"/>
          <p:cNvSpPr/>
          <p:nvPr/>
        </p:nvSpPr>
        <p:spPr>
          <a:xfrm flipV="1">
            <a:off x="2624578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366"/>
          <p:cNvSpPr/>
          <p:nvPr/>
        </p:nvSpPr>
        <p:spPr>
          <a:xfrm flipV="1">
            <a:off x="3482971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367"/>
          <p:cNvSpPr/>
          <p:nvPr/>
        </p:nvSpPr>
        <p:spPr>
          <a:xfrm flipV="1">
            <a:off x="4341364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368"/>
          <p:cNvSpPr/>
          <p:nvPr/>
        </p:nvSpPr>
        <p:spPr>
          <a:xfrm flipV="1">
            <a:off x="5199757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369"/>
          <p:cNvSpPr/>
          <p:nvPr/>
        </p:nvSpPr>
        <p:spPr>
          <a:xfrm>
            <a:off x="1229689" y="2973157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370"/>
          <p:cNvSpPr/>
          <p:nvPr/>
        </p:nvSpPr>
        <p:spPr>
          <a:xfrm>
            <a:off x="1229689" y="2615494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371"/>
          <p:cNvSpPr/>
          <p:nvPr/>
        </p:nvSpPr>
        <p:spPr>
          <a:xfrm>
            <a:off x="1229689" y="2257830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372"/>
          <p:cNvSpPr/>
          <p:nvPr/>
        </p:nvSpPr>
        <p:spPr>
          <a:xfrm>
            <a:off x="1229689" y="1900166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373"/>
          <p:cNvSpPr/>
          <p:nvPr/>
        </p:nvSpPr>
        <p:spPr>
          <a:xfrm>
            <a:off x="1229689" y="3330821"/>
            <a:ext cx="450656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8-mark374"/>
          <p:cNvSpPr/>
          <p:nvPr/>
        </p:nvSpPr>
        <p:spPr>
          <a:xfrm flipV="1">
            <a:off x="1229689" y="1757101"/>
            <a:ext cx="0" cy="157372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8-mark375"/>
          <p:cNvSpPr/>
          <p:nvPr/>
        </p:nvSpPr>
        <p:spPr>
          <a:xfrm>
            <a:off x="1706749" y="219839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8-mark376"/>
          <p:cNvSpPr/>
          <p:nvPr/>
        </p:nvSpPr>
        <p:spPr>
          <a:xfrm>
            <a:off x="2565142" y="21626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mark377"/>
          <p:cNvSpPr/>
          <p:nvPr/>
        </p:nvSpPr>
        <p:spPr>
          <a:xfrm>
            <a:off x="3423535" y="21626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mark378"/>
          <p:cNvSpPr/>
          <p:nvPr/>
        </p:nvSpPr>
        <p:spPr>
          <a:xfrm>
            <a:off x="4281928" y="209109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mark379"/>
          <p:cNvSpPr/>
          <p:nvPr/>
        </p:nvSpPr>
        <p:spPr>
          <a:xfrm>
            <a:off x="5140321" y="205532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8-label381"/>
          <p:cNvSpPr txBox="1"/>
          <p:nvPr/>
        </p:nvSpPr>
        <p:spPr>
          <a:xfrm>
            <a:off x="770227" y="3140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3" name="S08-label383"/>
          <p:cNvSpPr txBox="1"/>
          <p:nvPr/>
        </p:nvSpPr>
        <p:spPr>
          <a:xfrm>
            <a:off x="770227" y="3140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08-label385"/>
          <p:cNvSpPr txBox="1"/>
          <p:nvPr/>
        </p:nvSpPr>
        <p:spPr>
          <a:xfrm>
            <a:off x="669643" y="278265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5" name="S08-label387"/>
          <p:cNvSpPr txBox="1"/>
          <p:nvPr/>
        </p:nvSpPr>
        <p:spPr>
          <a:xfrm>
            <a:off x="669643" y="2424994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6" name="S08-label389"/>
          <p:cNvSpPr txBox="1"/>
          <p:nvPr/>
        </p:nvSpPr>
        <p:spPr>
          <a:xfrm>
            <a:off x="669643" y="206733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7" name="S08-label391"/>
          <p:cNvSpPr txBox="1"/>
          <p:nvPr/>
        </p:nvSpPr>
        <p:spPr>
          <a:xfrm>
            <a:off x="669643" y="170966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400" dirty="0"/>
          </a:p>
        </p:txBody>
      </p:sp>
      <p:sp>
        <p:nvSpPr>
          <p:cNvPr id="28" name="S08-label393"/>
          <p:cNvSpPr txBox="1"/>
          <p:nvPr/>
        </p:nvSpPr>
        <p:spPr>
          <a:xfrm>
            <a:off x="517243" y="1352002"/>
            <a:ext cx="8168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(kg)</a:t>
            </a:r>
            <a:endParaRPr lang="ko-KR" sz="2400" dirty="0"/>
          </a:p>
        </p:txBody>
      </p:sp>
      <p:sp>
        <p:nvSpPr>
          <p:cNvPr id="29" name="S08-label395"/>
          <p:cNvSpPr txBox="1"/>
          <p:nvPr/>
        </p:nvSpPr>
        <p:spPr>
          <a:xfrm>
            <a:off x="1461385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ko-KR" sz="2400" dirty="0"/>
          </a:p>
        </p:txBody>
      </p:sp>
      <p:sp>
        <p:nvSpPr>
          <p:cNvPr id="30" name="S08-label397"/>
          <p:cNvSpPr txBox="1"/>
          <p:nvPr/>
        </p:nvSpPr>
        <p:spPr>
          <a:xfrm>
            <a:off x="2319778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2400" dirty="0"/>
          </a:p>
        </p:txBody>
      </p:sp>
      <p:sp>
        <p:nvSpPr>
          <p:cNvPr id="31" name="S08-label399"/>
          <p:cNvSpPr txBox="1"/>
          <p:nvPr/>
        </p:nvSpPr>
        <p:spPr>
          <a:xfrm>
            <a:off x="3178171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ko-KR" sz="2400" dirty="0"/>
          </a:p>
        </p:txBody>
      </p:sp>
      <p:sp>
        <p:nvSpPr>
          <p:cNvPr id="32" name="S08-label401"/>
          <p:cNvSpPr txBox="1"/>
          <p:nvPr/>
        </p:nvSpPr>
        <p:spPr>
          <a:xfrm>
            <a:off x="4036564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ko-KR" sz="2400" dirty="0"/>
          </a:p>
        </p:txBody>
      </p:sp>
      <p:sp>
        <p:nvSpPr>
          <p:cNvPr id="33" name="S08-label403"/>
          <p:cNvSpPr txBox="1"/>
          <p:nvPr/>
        </p:nvSpPr>
        <p:spPr>
          <a:xfrm>
            <a:off x="4894957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2400" dirty="0"/>
          </a:p>
        </p:txBody>
      </p:sp>
      <p:sp>
        <p:nvSpPr>
          <p:cNvPr id="34" name="S08-label404"/>
          <p:cNvSpPr txBox="1"/>
          <p:nvPr/>
        </p:nvSpPr>
        <p:spPr>
          <a:xfrm>
            <a:off x="548640" y="38709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0부터 그리면</a:t>
            </a:r>
            <a:endParaRPr lang="ko-KR" sz="2400" dirty="0"/>
          </a:p>
        </p:txBody>
      </p:sp>
      <p:sp>
        <p:nvSpPr>
          <p:cNvPr id="35" name="S08-figure405" descr="꺾은선그래프(세로 눈금 한 칸 1, 물결선 위 30부터): 3월 30, 4월 31, 5월 31, 6월 33, 7월 34"/>
          <p:cNvSpPr/>
          <p:nvPr/>
        </p:nvSpPr>
        <p:spPr>
          <a:xfrm>
            <a:off x="7114619" y="3072240"/>
            <a:ext cx="185598" cy="309331"/>
          </a:xfrm>
          <a:custGeom>
            <a:avLst/>
            <a:gdLst/>
            <a:ahLst/>
            <a:cxnLst/>
            <a:rect l="l" t="t" r="r" b="b"/>
            <a:pathLst>
              <a:path w="185598" h="309331">
                <a:moveTo>
                  <a:pt x="92799" y="309331"/>
                </a:moveTo>
                <a:lnTo>
                  <a:pt x="92799" y="262931"/>
                </a:lnTo>
                <a:lnTo>
                  <a:pt x="0" y="210345"/>
                </a:lnTo>
                <a:lnTo>
                  <a:pt x="185598" y="154665"/>
                </a:lnTo>
                <a:lnTo>
                  <a:pt x="0" y="98986"/>
                </a:lnTo>
                <a:lnTo>
                  <a:pt x="92799" y="46400"/>
                </a:lnTo>
                <a:lnTo>
                  <a:pt x="92799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8-mark406"/>
          <p:cNvSpPr/>
          <p:nvPr/>
        </p:nvSpPr>
        <p:spPr>
          <a:xfrm>
            <a:off x="7671414" y="1834917"/>
            <a:ext cx="2969576" cy="1237323"/>
          </a:xfrm>
          <a:custGeom>
            <a:avLst/>
            <a:gdLst/>
            <a:ahLst/>
            <a:cxnLst/>
            <a:rect l="l" t="t" r="r" b="b"/>
            <a:pathLst>
              <a:path w="2969576" h="1237323">
                <a:moveTo>
                  <a:pt x="0" y="1237323"/>
                </a:moveTo>
                <a:lnTo>
                  <a:pt x="742394" y="927992"/>
                </a:lnTo>
                <a:lnTo>
                  <a:pt x="1484788" y="927992"/>
                </a:lnTo>
                <a:lnTo>
                  <a:pt x="2227182" y="309331"/>
                </a:lnTo>
                <a:lnTo>
                  <a:pt x="2969576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37" name="S08-mark407"/>
          <p:cNvSpPr/>
          <p:nvPr/>
        </p:nvSpPr>
        <p:spPr>
          <a:xfrm flipV="1">
            <a:off x="7671414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8-mark408"/>
          <p:cNvSpPr/>
          <p:nvPr/>
        </p:nvSpPr>
        <p:spPr>
          <a:xfrm flipV="1">
            <a:off x="8413808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8-mark409"/>
          <p:cNvSpPr/>
          <p:nvPr/>
        </p:nvSpPr>
        <p:spPr>
          <a:xfrm flipV="1">
            <a:off x="9156202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8-mark410"/>
          <p:cNvSpPr/>
          <p:nvPr/>
        </p:nvSpPr>
        <p:spPr>
          <a:xfrm flipV="1">
            <a:off x="9898596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8-mark411"/>
          <p:cNvSpPr/>
          <p:nvPr/>
        </p:nvSpPr>
        <p:spPr>
          <a:xfrm flipV="1">
            <a:off x="10640990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8-mark412"/>
          <p:cNvSpPr/>
          <p:nvPr/>
        </p:nvSpPr>
        <p:spPr>
          <a:xfrm>
            <a:off x="7207418" y="3072240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8-mark413"/>
          <p:cNvSpPr/>
          <p:nvPr/>
        </p:nvSpPr>
        <p:spPr>
          <a:xfrm>
            <a:off x="7207418" y="2762909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8-mark414"/>
          <p:cNvSpPr/>
          <p:nvPr/>
        </p:nvSpPr>
        <p:spPr>
          <a:xfrm>
            <a:off x="7207418" y="2453578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8-mark415"/>
          <p:cNvSpPr/>
          <p:nvPr/>
        </p:nvSpPr>
        <p:spPr>
          <a:xfrm>
            <a:off x="7207418" y="2144247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8-mark416"/>
          <p:cNvSpPr/>
          <p:nvPr/>
        </p:nvSpPr>
        <p:spPr>
          <a:xfrm>
            <a:off x="7207418" y="1834917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8-mark417"/>
          <p:cNvSpPr/>
          <p:nvPr/>
        </p:nvSpPr>
        <p:spPr>
          <a:xfrm>
            <a:off x="7207418" y="3381571"/>
            <a:ext cx="389756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8" name="S08-mark418"/>
          <p:cNvSpPr/>
          <p:nvPr/>
        </p:nvSpPr>
        <p:spPr>
          <a:xfrm flipV="1">
            <a:off x="7207418" y="1711184"/>
            <a:ext cx="0" cy="1361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8-mark419"/>
          <p:cNvSpPr/>
          <p:nvPr/>
        </p:nvSpPr>
        <p:spPr>
          <a:xfrm>
            <a:off x="7611978" y="30128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8-mark420"/>
          <p:cNvSpPr/>
          <p:nvPr/>
        </p:nvSpPr>
        <p:spPr>
          <a:xfrm>
            <a:off x="8354372" y="270347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8-mark421"/>
          <p:cNvSpPr/>
          <p:nvPr/>
        </p:nvSpPr>
        <p:spPr>
          <a:xfrm>
            <a:off x="9096766" y="270347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8-mark422"/>
          <p:cNvSpPr/>
          <p:nvPr/>
        </p:nvSpPr>
        <p:spPr>
          <a:xfrm>
            <a:off x="9839160" y="208481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8-mark423"/>
          <p:cNvSpPr/>
          <p:nvPr/>
        </p:nvSpPr>
        <p:spPr>
          <a:xfrm>
            <a:off x="10581554" y="177548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8-label425"/>
          <p:cNvSpPr txBox="1"/>
          <p:nvPr/>
        </p:nvSpPr>
        <p:spPr>
          <a:xfrm>
            <a:off x="6789039" y="319107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5" name="S08-label427"/>
          <p:cNvSpPr txBox="1"/>
          <p:nvPr/>
        </p:nvSpPr>
        <p:spPr>
          <a:xfrm>
            <a:off x="6688455" y="288174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56" name="S08-label429"/>
          <p:cNvSpPr txBox="1"/>
          <p:nvPr/>
        </p:nvSpPr>
        <p:spPr>
          <a:xfrm>
            <a:off x="6688455" y="257240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2400" dirty="0"/>
          </a:p>
        </p:txBody>
      </p:sp>
      <p:sp>
        <p:nvSpPr>
          <p:cNvPr id="57" name="S08-label431"/>
          <p:cNvSpPr txBox="1"/>
          <p:nvPr/>
        </p:nvSpPr>
        <p:spPr>
          <a:xfrm>
            <a:off x="6688455" y="2263078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400" dirty="0"/>
          </a:p>
        </p:txBody>
      </p:sp>
      <p:sp>
        <p:nvSpPr>
          <p:cNvPr id="58" name="S08-label433"/>
          <p:cNvSpPr txBox="1"/>
          <p:nvPr/>
        </p:nvSpPr>
        <p:spPr>
          <a:xfrm>
            <a:off x="6688455" y="195374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2400" dirty="0"/>
          </a:p>
        </p:txBody>
      </p:sp>
      <p:sp>
        <p:nvSpPr>
          <p:cNvPr id="59" name="S08-label435"/>
          <p:cNvSpPr txBox="1"/>
          <p:nvPr/>
        </p:nvSpPr>
        <p:spPr>
          <a:xfrm>
            <a:off x="6688455" y="164441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2400" dirty="0"/>
          </a:p>
        </p:txBody>
      </p:sp>
      <p:sp>
        <p:nvSpPr>
          <p:cNvPr id="60" name="S08-label437"/>
          <p:cNvSpPr txBox="1"/>
          <p:nvPr/>
        </p:nvSpPr>
        <p:spPr>
          <a:xfrm>
            <a:off x="6536055" y="1335086"/>
            <a:ext cx="8168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(kg)</a:t>
            </a:r>
            <a:endParaRPr lang="ko-KR" sz="2400" dirty="0"/>
          </a:p>
        </p:txBody>
      </p:sp>
      <p:sp>
        <p:nvSpPr>
          <p:cNvPr id="61" name="S08-label439"/>
          <p:cNvSpPr txBox="1"/>
          <p:nvPr/>
        </p:nvSpPr>
        <p:spPr>
          <a:xfrm>
            <a:off x="7366614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ko-KR" sz="2400" dirty="0"/>
          </a:p>
        </p:txBody>
      </p:sp>
      <p:sp>
        <p:nvSpPr>
          <p:cNvPr id="62" name="S08-label441"/>
          <p:cNvSpPr txBox="1"/>
          <p:nvPr/>
        </p:nvSpPr>
        <p:spPr>
          <a:xfrm>
            <a:off x="8109008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2400" dirty="0"/>
          </a:p>
        </p:txBody>
      </p:sp>
      <p:sp>
        <p:nvSpPr>
          <p:cNvPr id="63" name="S08-label443"/>
          <p:cNvSpPr txBox="1"/>
          <p:nvPr/>
        </p:nvSpPr>
        <p:spPr>
          <a:xfrm>
            <a:off x="8851402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ko-KR" sz="2400" dirty="0"/>
          </a:p>
        </p:txBody>
      </p:sp>
      <p:sp>
        <p:nvSpPr>
          <p:cNvPr id="64" name="S08-label445"/>
          <p:cNvSpPr txBox="1"/>
          <p:nvPr/>
        </p:nvSpPr>
        <p:spPr>
          <a:xfrm>
            <a:off x="9593796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ko-KR" sz="2400" dirty="0"/>
          </a:p>
        </p:txBody>
      </p:sp>
      <p:sp>
        <p:nvSpPr>
          <p:cNvPr id="65" name="S08-label447"/>
          <p:cNvSpPr txBox="1"/>
          <p:nvPr/>
        </p:nvSpPr>
        <p:spPr>
          <a:xfrm>
            <a:off x="10336190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2400" dirty="0"/>
          </a:p>
        </p:txBody>
      </p:sp>
      <p:sp>
        <p:nvSpPr>
          <p:cNvPr id="66" name="S08-label448"/>
          <p:cNvSpPr txBox="1"/>
          <p:nvPr/>
        </p:nvSpPr>
        <p:spPr>
          <a:xfrm>
            <a:off x="6254496" y="38709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물결선으로 줄이면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꺾은선그래프로 나타내요</a:t>
            </a:r>
            <a:endParaRPr lang="ko-KR" sz="4000" dirty="0"/>
          </a:p>
        </p:txBody>
      </p:sp>
      <p:sp>
        <p:nvSpPr>
          <p:cNvPr id="3" name="S09-text449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16도, 화 18도, 수 22도, 목 20도, 금 24도</a:t>
            </a:r>
            <a:endParaRPr lang="ko-KR" sz="3000" dirty="0"/>
          </a:p>
        </p:txBody>
      </p:sp>
      <p:sp>
        <p:nvSpPr>
          <p:cNvPr id="4" name="S09-figure450" descr="꺾은선그래프 ‘요일별 최고 기온’(세로 눈금 한 칸 2, 물결선 위 16부터): 월 16, 화 18, 수 22, 목 20, 금 24"/>
          <p:cNvSpPr/>
          <p:nvPr/>
        </p:nvSpPr>
        <p:spPr>
          <a:xfrm>
            <a:off x="7183959" y="5142263"/>
            <a:ext cx="201458" cy="335763"/>
          </a:xfrm>
          <a:custGeom>
            <a:avLst/>
            <a:gdLst/>
            <a:ahLst/>
            <a:cxnLst/>
            <a:rect l="l" t="t" r="r" b="b"/>
            <a:pathLst>
              <a:path w="201458" h="335763">
                <a:moveTo>
                  <a:pt x="100729" y="335763"/>
                </a:moveTo>
                <a:lnTo>
                  <a:pt x="100729" y="285398"/>
                </a:lnTo>
                <a:lnTo>
                  <a:pt x="0" y="228319"/>
                </a:lnTo>
                <a:lnTo>
                  <a:pt x="201458" y="167881"/>
                </a:lnTo>
                <a:lnTo>
                  <a:pt x="0" y="107444"/>
                </a:lnTo>
                <a:lnTo>
                  <a:pt x="100729" y="50364"/>
                </a:lnTo>
                <a:lnTo>
                  <a:pt x="100729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9-mark451"/>
          <p:cNvSpPr/>
          <p:nvPr/>
        </p:nvSpPr>
        <p:spPr>
          <a:xfrm>
            <a:off x="7788332" y="3799213"/>
            <a:ext cx="3223320" cy="1343050"/>
          </a:xfrm>
          <a:custGeom>
            <a:avLst/>
            <a:gdLst/>
            <a:ahLst/>
            <a:cxnLst/>
            <a:rect l="l" t="t" r="r" b="b"/>
            <a:pathLst>
              <a:path w="3223320" h="1343050">
                <a:moveTo>
                  <a:pt x="0" y="1343050"/>
                </a:moveTo>
                <a:lnTo>
                  <a:pt x="805830" y="1007288"/>
                </a:lnTo>
                <a:lnTo>
                  <a:pt x="1611660" y="335763"/>
                </a:lnTo>
                <a:lnTo>
                  <a:pt x="2417490" y="671525"/>
                </a:lnTo>
                <a:lnTo>
                  <a:pt x="3223320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9-mark452"/>
          <p:cNvSpPr/>
          <p:nvPr/>
        </p:nvSpPr>
        <p:spPr>
          <a:xfrm flipV="1">
            <a:off x="778833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453"/>
          <p:cNvSpPr/>
          <p:nvPr/>
        </p:nvSpPr>
        <p:spPr>
          <a:xfrm flipV="1">
            <a:off x="859416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454"/>
          <p:cNvSpPr/>
          <p:nvPr/>
        </p:nvSpPr>
        <p:spPr>
          <a:xfrm flipV="1">
            <a:off x="939999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455"/>
          <p:cNvSpPr/>
          <p:nvPr/>
        </p:nvSpPr>
        <p:spPr>
          <a:xfrm flipV="1">
            <a:off x="1020582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456"/>
          <p:cNvSpPr/>
          <p:nvPr/>
        </p:nvSpPr>
        <p:spPr>
          <a:xfrm flipV="1">
            <a:off x="1101165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457"/>
          <p:cNvSpPr/>
          <p:nvPr/>
        </p:nvSpPr>
        <p:spPr>
          <a:xfrm>
            <a:off x="7284688" y="5142263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458"/>
          <p:cNvSpPr/>
          <p:nvPr/>
        </p:nvSpPr>
        <p:spPr>
          <a:xfrm>
            <a:off x="7284688" y="4806501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459"/>
          <p:cNvSpPr/>
          <p:nvPr/>
        </p:nvSpPr>
        <p:spPr>
          <a:xfrm>
            <a:off x="7284688" y="4470738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460"/>
          <p:cNvSpPr/>
          <p:nvPr/>
        </p:nvSpPr>
        <p:spPr>
          <a:xfrm>
            <a:off x="7284688" y="4134976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461"/>
          <p:cNvSpPr/>
          <p:nvPr/>
        </p:nvSpPr>
        <p:spPr>
          <a:xfrm>
            <a:off x="7284688" y="3799213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462"/>
          <p:cNvSpPr/>
          <p:nvPr/>
        </p:nvSpPr>
        <p:spPr>
          <a:xfrm>
            <a:off x="7284688" y="5478026"/>
            <a:ext cx="423060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9-mark463"/>
          <p:cNvSpPr/>
          <p:nvPr/>
        </p:nvSpPr>
        <p:spPr>
          <a:xfrm flipV="1">
            <a:off x="7284688" y="3664908"/>
            <a:ext cx="0" cy="147735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9-mark464"/>
          <p:cNvSpPr/>
          <p:nvPr/>
        </p:nvSpPr>
        <p:spPr>
          <a:xfrm>
            <a:off x="7728896" y="50828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mark465"/>
          <p:cNvSpPr/>
          <p:nvPr/>
        </p:nvSpPr>
        <p:spPr>
          <a:xfrm>
            <a:off x="8534726" y="474706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mark466"/>
          <p:cNvSpPr/>
          <p:nvPr/>
        </p:nvSpPr>
        <p:spPr>
          <a:xfrm>
            <a:off x="9340556" y="407554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mark467"/>
          <p:cNvSpPr/>
          <p:nvPr/>
        </p:nvSpPr>
        <p:spPr>
          <a:xfrm>
            <a:off x="10146386" y="4411302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mark468"/>
          <p:cNvSpPr/>
          <p:nvPr/>
        </p:nvSpPr>
        <p:spPr>
          <a:xfrm>
            <a:off x="10952216" y="373977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label470"/>
          <p:cNvSpPr txBox="1"/>
          <p:nvPr/>
        </p:nvSpPr>
        <p:spPr>
          <a:xfrm>
            <a:off x="6843842" y="528752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09-label472"/>
          <p:cNvSpPr txBox="1"/>
          <p:nvPr/>
        </p:nvSpPr>
        <p:spPr>
          <a:xfrm>
            <a:off x="6743258" y="495176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25" name="S09-label474"/>
          <p:cNvSpPr txBox="1"/>
          <p:nvPr/>
        </p:nvSpPr>
        <p:spPr>
          <a:xfrm>
            <a:off x="6743258" y="461600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26" name="S09-label476"/>
          <p:cNvSpPr txBox="1"/>
          <p:nvPr/>
        </p:nvSpPr>
        <p:spPr>
          <a:xfrm>
            <a:off x="6743258" y="4280238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7" name="S09-label478"/>
          <p:cNvSpPr txBox="1"/>
          <p:nvPr/>
        </p:nvSpPr>
        <p:spPr>
          <a:xfrm>
            <a:off x="6743258" y="394447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28" name="S09-label480"/>
          <p:cNvSpPr txBox="1"/>
          <p:nvPr/>
        </p:nvSpPr>
        <p:spPr>
          <a:xfrm>
            <a:off x="6743258" y="360871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29" name="S09-label482"/>
          <p:cNvSpPr txBox="1"/>
          <p:nvPr/>
        </p:nvSpPr>
        <p:spPr>
          <a:xfrm>
            <a:off x="6612194" y="3272951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0" name="S09-label484"/>
          <p:cNvSpPr txBox="1"/>
          <p:nvPr/>
        </p:nvSpPr>
        <p:spPr>
          <a:xfrm>
            <a:off x="758411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400" dirty="0"/>
          </a:p>
        </p:txBody>
      </p:sp>
      <p:sp>
        <p:nvSpPr>
          <p:cNvPr id="31" name="S09-label486"/>
          <p:cNvSpPr txBox="1"/>
          <p:nvPr/>
        </p:nvSpPr>
        <p:spPr>
          <a:xfrm>
            <a:off x="838994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400" dirty="0"/>
          </a:p>
        </p:txBody>
      </p:sp>
      <p:sp>
        <p:nvSpPr>
          <p:cNvPr id="32" name="S09-label488"/>
          <p:cNvSpPr txBox="1"/>
          <p:nvPr/>
        </p:nvSpPr>
        <p:spPr>
          <a:xfrm>
            <a:off x="919577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400" dirty="0"/>
          </a:p>
        </p:txBody>
      </p:sp>
      <p:sp>
        <p:nvSpPr>
          <p:cNvPr id="33" name="S09-label490"/>
          <p:cNvSpPr txBox="1"/>
          <p:nvPr/>
        </p:nvSpPr>
        <p:spPr>
          <a:xfrm>
            <a:off x="1000160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400" dirty="0"/>
          </a:p>
        </p:txBody>
      </p:sp>
      <p:sp>
        <p:nvSpPr>
          <p:cNvPr id="34" name="S09-label492"/>
          <p:cNvSpPr txBox="1"/>
          <p:nvPr/>
        </p:nvSpPr>
        <p:spPr>
          <a:xfrm>
            <a:off x="1080743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ko-KR" sz="2400" dirty="0"/>
          </a:p>
        </p:txBody>
      </p:sp>
      <p:sp>
        <p:nvSpPr>
          <p:cNvPr id="35" name="S09-label494"/>
          <p:cNvSpPr txBox="1"/>
          <p:nvPr/>
        </p:nvSpPr>
        <p:spPr>
          <a:xfrm>
            <a:off x="8208224" y="2937188"/>
            <a:ext cx="2383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요일별 최고 기온</a:t>
            </a:r>
            <a:endParaRPr lang="ko-KR" sz="2400" dirty="0"/>
          </a:p>
        </p:txBody>
      </p:sp>
      <p:sp>
        <p:nvSpPr>
          <p:cNvPr id="36" name="S09-stepno495"/>
          <p:cNvSpPr txBox="1"/>
          <p:nvPr/>
        </p:nvSpPr>
        <p:spPr>
          <a:xfrm>
            <a:off x="548640" y="2711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7" name="S09-text496"/>
          <p:cNvSpPr txBox="1"/>
          <p:nvPr/>
        </p:nvSpPr>
        <p:spPr>
          <a:xfrm>
            <a:off x="1325880" y="2711196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요일, 세로는 기온</a:t>
            </a:r>
            <a:endParaRPr lang="ko-KR" sz="3000" dirty="0"/>
          </a:p>
        </p:txBody>
      </p:sp>
      <p:sp>
        <p:nvSpPr>
          <p:cNvPr id="38" name="S09-stepno497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9" name="S09-text498"/>
          <p:cNvSpPr txBox="1"/>
          <p:nvPr/>
        </p:nvSpPr>
        <p:spPr>
          <a:xfrm>
            <a:off x="1325880" y="3424428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16 사이는 물결선</a:t>
            </a:r>
            <a:endParaRPr lang="ko-KR" sz="3000" dirty="0"/>
          </a:p>
        </p:txBody>
      </p:sp>
      <p:sp>
        <p:nvSpPr>
          <p:cNvPr id="40" name="S09-stepno49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9-text500"/>
          <p:cNvSpPr txBox="1"/>
          <p:nvPr/>
        </p:nvSpPr>
        <p:spPr>
          <a:xfrm>
            <a:off x="1325880" y="4137660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 2도</a:t>
            </a:r>
            <a:endParaRPr lang="ko-KR" sz="3000" dirty="0"/>
          </a:p>
        </p:txBody>
      </p:sp>
      <p:sp>
        <p:nvSpPr>
          <p:cNvPr id="42" name="S09-stepno501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43" name="S09-text502"/>
          <p:cNvSpPr txBox="1"/>
          <p:nvPr/>
        </p:nvSpPr>
        <p:spPr>
          <a:xfrm>
            <a:off x="1325880" y="4850892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찍고 선분으로 이어요.</a:t>
            </a:r>
            <a:endParaRPr lang="ko-KR" sz="3000" dirty="0"/>
          </a:p>
        </p:txBody>
      </p:sp>
      <p:sp>
        <p:nvSpPr>
          <p:cNvPr id="44" name="S09-stepno503"/>
          <p:cNvSpPr txBox="1"/>
          <p:nvPr/>
        </p:nvSpPr>
        <p:spPr>
          <a:xfrm>
            <a:off x="548640" y="5564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45" name="S09-text504"/>
          <p:cNvSpPr txBox="1"/>
          <p:nvPr/>
        </p:nvSpPr>
        <p:spPr>
          <a:xfrm>
            <a:off x="1325880" y="5564124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붙여요.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그리기 전에 정해요</a:t>
            </a:r>
            <a:endParaRPr lang="ko-KR" sz="4000" dirty="0"/>
          </a:p>
        </p:txBody>
      </p:sp>
      <p:sp>
        <p:nvSpPr>
          <p:cNvPr id="3" name="S10-text5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지우의 줄넘기 기록(번)이에요.</a:t>
            </a:r>
            <a:endParaRPr lang="ko-KR" sz="3000" dirty="0"/>
          </a:p>
        </p:txBody>
      </p:sp>
      <p:sp>
        <p:nvSpPr>
          <p:cNvPr id="4" name="S10-card5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작은 수부터 세로 눈금을 시작해요.</a:t>
            </a:r>
            <a:endParaRPr lang="ko-KR" sz="3000" dirty="0"/>
          </a:p>
        </p:txBody>
      </p:sp>
      <p:graphicFrame>
        <p:nvGraphicFramePr>
          <p:cNvPr id="11" name="S10-table5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38594" y="2385060"/>
          <a:ext cx="3840480" cy="914400"/>
        </p:xfrm>
        <a:graphic>
          <a:graphicData uri="http://schemas.openxmlformats.org/drawingml/2006/table">
            <a:tbl>
              <a:tblPr/>
              <a:tblGrid>
                <a:gridCol w="1728216"/>
                <a:gridCol w="211226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기록(번)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chip50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0-text51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물결선은 0과 몇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사이에 넣을까요?</a:t>
            </a:r>
            <a:endParaRPr lang="ko-KR" sz="3000" dirty="0"/>
          </a:p>
        </p:txBody>
      </p:sp>
      <p:sp>
        <p:nvSpPr>
          <p:cNvPr id="9" name="S10-chip51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0-text51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5번으로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40부터 60까지 몇 칸?</a:t>
            </a:r>
            <a:endParaRPr lang="ko-KR" sz="3000" dirty="0"/>
          </a:p>
        </p:txBody>
      </p:sp>
      <p:sp>
        <p:nvSpPr>
          <p:cNvPr id="11" name="S10-chip51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0-text51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3주의 점은 40에서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칸 위에 찍을까요?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515" descr="꺾은선그래프 ‘저녁 기온’(세로 눈금 한 칸 2, 물결선 위 12부터): 5시 22, 6시 20, 7시 16, 8시 14, 9시 14"/>
          <p:cNvSpPr/>
          <p:nvPr/>
        </p:nvSpPr>
        <p:spPr>
          <a:xfrm>
            <a:off x="6789792" y="4751172"/>
            <a:ext cx="219650" cy="366083"/>
          </a:xfrm>
          <a:custGeom>
            <a:avLst/>
            <a:gdLst/>
            <a:ahLst/>
            <a:cxnLst/>
            <a:rect l="l" t="t" r="r" b="b"/>
            <a:pathLst>
              <a:path w="219650" h="366083">
                <a:moveTo>
                  <a:pt x="109825" y="366083"/>
                </a:moveTo>
                <a:lnTo>
                  <a:pt x="109825" y="311171"/>
                </a:lnTo>
                <a:lnTo>
                  <a:pt x="0" y="248937"/>
                </a:lnTo>
                <a:lnTo>
                  <a:pt x="219650" y="183042"/>
                </a:lnTo>
                <a:lnTo>
                  <a:pt x="0" y="117147"/>
                </a:lnTo>
                <a:lnTo>
                  <a:pt x="109825" y="54912"/>
                </a:lnTo>
                <a:lnTo>
                  <a:pt x="109825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" name="S11-mark516"/>
          <p:cNvSpPr/>
          <p:nvPr/>
        </p:nvSpPr>
        <p:spPr>
          <a:xfrm>
            <a:off x="7448741" y="2920757"/>
            <a:ext cx="3514398" cy="1464332"/>
          </a:xfrm>
          <a:custGeom>
            <a:avLst/>
            <a:gdLst/>
            <a:ahLst/>
            <a:cxnLst/>
            <a:rect l="l" t="t" r="r" b="b"/>
            <a:pathLst>
              <a:path w="3514398" h="1464332">
                <a:moveTo>
                  <a:pt x="0" y="0"/>
                </a:moveTo>
                <a:lnTo>
                  <a:pt x="878599" y="366083"/>
                </a:lnTo>
                <a:lnTo>
                  <a:pt x="1757199" y="1098249"/>
                </a:lnTo>
                <a:lnTo>
                  <a:pt x="2635798" y="1464332"/>
                </a:lnTo>
                <a:lnTo>
                  <a:pt x="3514398" y="1464332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5" name="S11-mark517"/>
          <p:cNvSpPr/>
          <p:nvPr/>
        </p:nvSpPr>
        <p:spPr>
          <a:xfrm flipV="1">
            <a:off x="7448741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1-mark518"/>
          <p:cNvSpPr/>
          <p:nvPr/>
        </p:nvSpPr>
        <p:spPr>
          <a:xfrm flipV="1">
            <a:off x="8327341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1-mark519"/>
          <p:cNvSpPr/>
          <p:nvPr/>
        </p:nvSpPr>
        <p:spPr>
          <a:xfrm flipV="1">
            <a:off x="9205940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1-mark520"/>
          <p:cNvSpPr/>
          <p:nvPr/>
        </p:nvSpPr>
        <p:spPr>
          <a:xfrm flipV="1">
            <a:off x="10084540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1-mark521"/>
          <p:cNvSpPr/>
          <p:nvPr/>
        </p:nvSpPr>
        <p:spPr>
          <a:xfrm flipV="1">
            <a:off x="10963139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522"/>
          <p:cNvSpPr/>
          <p:nvPr/>
        </p:nvSpPr>
        <p:spPr>
          <a:xfrm>
            <a:off x="6899617" y="4751172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523"/>
          <p:cNvSpPr/>
          <p:nvPr/>
        </p:nvSpPr>
        <p:spPr>
          <a:xfrm>
            <a:off x="6899617" y="438508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524"/>
          <p:cNvSpPr/>
          <p:nvPr/>
        </p:nvSpPr>
        <p:spPr>
          <a:xfrm>
            <a:off x="6899617" y="401900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525"/>
          <p:cNvSpPr/>
          <p:nvPr/>
        </p:nvSpPr>
        <p:spPr>
          <a:xfrm>
            <a:off x="6899617" y="3652923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526"/>
          <p:cNvSpPr/>
          <p:nvPr/>
        </p:nvSpPr>
        <p:spPr>
          <a:xfrm>
            <a:off x="6899617" y="3286840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527"/>
          <p:cNvSpPr/>
          <p:nvPr/>
        </p:nvSpPr>
        <p:spPr>
          <a:xfrm>
            <a:off x="6899617" y="2920757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528"/>
          <p:cNvSpPr/>
          <p:nvPr/>
        </p:nvSpPr>
        <p:spPr>
          <a:xfrm>
            <a:off x="6899617" y="5117255"/>
            <a:ext cx="46126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11-mark529"/>
          <p:cNvSpPr/>
          <p:nvPr/>
        </p:nvSpPr>
        <p:spPr>
          <a:xfrm flipV="1">
            <a:off x="6899617" y="2774324"/>
            <a:ext cx="0" cy="197684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11-mark530"/>
          <p:cNvSpPr/>
          <p:nvPr/>
        </p:nvSpPr>
        <p:spPr>
          <a:xfrm>
            <a:off x="7389305" y="286132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1-mark531"/>
          <p:cNvSpPr/>
          <p:nvPr/>
        </p:nvSpPr>
        <p:spPr>
          <a:xfrm>
            <a:off x="8267905" y="32274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1-mark532"/>
          <p:cNvSpPr/>
          <p:nvPr/>
        </p:nvSpPr>
        <p:spPr>
          <a:xfrm>
            <a:off x="9146504" y="39595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1-mark533"/>
          <p:cNvSpPr/>
          <p:nvPr/>
        </p:nvSpPr>
        <p:spPr>
          <a:xfrm>
            <a:off x="10025104" y="43256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1-mark534"/>
          <p:cNvSpPr/>
          <p:nvPr/>
        </p:nvSpPr>
        <p:spPr>
          <a:xfrm>
            <a:off x="10903703" y="43256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1-label536"/>
          <p:cNvSpPr txBox="1"/>
          <p:nvPr/>
        </p:nvSpPr>
        <p:spPr>
          <a:xfrm>
            <a:off x="6432998" y="49267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11-label538"/>
          <p:cNvSpPr txBox="1"/>
          <p:nvPr/>
        </p:nvSpPr>
        <p:spPr>
          <a:xfrm>
            <a:off x="6332414" y="4560672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25" name="S11-label540"/>
          <p:cNvSpPr txBox="1"/>
          <p:nvPr/>
        </p:nvSpPr>
        <p:spPr>
          <a:xfrm>
            <a:off x="6332414" y="419458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400" dirty="0"/>
          </a:p>
        </p:txBody>
      </p:sp>
      <p:sp>
        <p:nvSpPr>
          <p:cNvPr id="26" name="S11-label542"/>
          <p:cNvSpPr txBox="1"/>
          <p:nvPr/>
        </p:nvSpPr>
        <p:spPr>
          <a:xfrm>
            <a:off x="6332414" y="382850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27" name="S11-label544"/>
          <p:cNvSpPr txBox="1"/>
          <p:nvPr/>
        </p:nvSpPr>
        <p:spPr>
          <a:xfrm>
            <a:off x="6332414" y="34624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28" name="S11-label546"/>
          <p:cNvSpPr txBox="1"/>
          <p:nvPr/>
        </p:nvSpPr>
        <p:spPr>
          <a:xfrm>
            <a:off x="6332414" y="309634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9" name="S11-label548"/>
          <p:cNvSpPr txBox="1"/>
          <p:nvPr/>
        </p:nvSpPr>
        <p:spPr>
          <a:xfrm>
            <a:off x="6332414" y="273025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30" name="S11-label550"/>
          <p:cNvSpPr txBox="1"/>
          <p:nvPr/>
        </p:nvSpPr>
        <p:spPr>
          <a:xfrm>
            <a:off x="6201350" y="2364174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1" name="S11-label552"/>
          <p:cNvSpPr txBox="1"/>
          <p:nvPr/>
        </p:nvSpPr>
        <p:spPr>
          <a:xfrm>
            <a:off x="7143941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</a:t>
            </a:r>
            <a:endParaRPr lang="ko-KR" sz="2400" dirty="0"/>
          </a:p>
        </p:txBody>
      </p:sp>
      <p:sp>
        <p:nvSpPr>
          <p:cNvPr id="32" name="S11-label554"/>
          <p:cNvSpPr txBox="1"/>
          <p:nvPr/>
        </p:nvSpPr>
        <p:spPr>
          <a:xfrm>
            <a:off x="8022541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6시</a:t>
            </a:r>
            <a:endParaRPr lang="ko-KR" sz="2400" dirty="0"/>
          </a:p>
        </p:txBody>
      </p:sp>
      <p:sp>
        <p:nvSpPr>
          <p:cNvPr id="33" name="S11-label556"/>
          <p:cNvSpPr txBox="1"/>
          <p:nvPr/>
        </p:nvSpPr>
        <p:spPr>
          <a:xfrm>
            <a:off x="8901140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</a:t>
            </a:r>
            <a:endParaRPr lang="ko-KR" sz="2400" dirty="0"/>
          </a:p>
        </p:txBody>
      </p:sp>
      <p:sp>
        <p:nvSpPr>
          <p:cNvPr id="34" name="S11-label558"/>
          <p:cNvSpPr txBox="1"/>
          <p:nvPr/>
        </p:nvSpPr>
        <p:spPr>
          <a:xfrm>
            <a:off x="9779740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</a:t>
            </a:r>
            <a:endParaRPr lang="ko-KR" sz="2400" dirty="0"/>
          </a:p>
        </p:txBody>
      </p:sp>
      <p:sp>
        <p:nvSpPr>
          <p:cNvPr id="35" name="S11-label560"/>
          <p:cNvSpPr txBox="1"/>
          <p:nvPr/>
        </p:nvSpPr>
        <p:spPr>
          <a:xfrm>
            <a:off x="10658339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6" name="S11-label562"/>
          <p:cNvSpPr txBox="1"/>
          <p:nvPr/>
        </p:nvSpPr>
        <p:spPr>
          <a:xfrm>
            <a:off x="8507948" y="1998091"/>
            <a:ext cx="1395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기온</a:t>
            </a:r>
            <a:endParaRPr lang="ko-KR" sz="2400" dirty="0"/>
          </a:p>
        </p:txBody>
      </p:sp>
      <p:sp>
        <p:nvSpPr>
          <p:cNvPr id="37" name="S11-chip56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8" name="S11-text56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7시의 기온은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도일까요?</a:t>
            </a:r>
            <a:endParaRPr lang="ko-KR" sz="3000" dirty="0"/>
          </a:p>
        </p:txBody>
      </p:sp>
      <p:sp>
        <p:nvSpPr>
          <p:cNvPr id="39" name="S11-chip56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0" name="S11-text56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내려간 때는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언제와 언제 사이?</a:t>
            </a:r>
            <a:endParaRPr lang="ko-KR" sz="3000" dirty="0"/>
          </a:p>
        </p:txBody>
      </p:sp>
      <p:sp>
        <p:nvSpPr>
          <p:cNvPr id="41" name="S11-chip56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2" name="S11-text56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9시는 5시보다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 낮을까요?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56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7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8시와 9시 사이로 답하면 가장 낮은 점을 고른 것이에요. 선분마다 몇 도 변했는지 적어 보게 하세요.</a:t>
            </a:r>
            <a:endParaRPr lang="ko-KR" sz="3000" dirty="0"/>
          </a:p>
        </p:txBody>
      </p:sp>
      <p:sp>
        <p:nvSpPr>
          <p:cNvPr id="5" name="S12-chip57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572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16도</a:t>
            </a:r>
            <a:endParaRPr lang="ko-KR" sz="3000" dirty="0"/>
          </a:p>
        </p:txBody>
      </p:sp>
      <p:sp>
        <p:nvSpPr>
          <p:cNvPr id="7" name="S12-text573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12에서 2칸 위</a:t>
            </a:r>
            <a:endParaRPr lang="ko-KR" sz="2400" dirty="0"/>
          </a:p>
        </p:txBody>
      </p:sp>
      <p:sp>
        <p:nvSpPr>
          <p:cNvPr id="8" name="S12-text574"/>
          <p:cNvSpPr txBox="1"/>
          <p:nvPr/>
        </p:nvSpPr>
        <p:spPr>
          <a:xfrm>
            <a:off x="548640" y="2994152"/>
            <a:ext cx="5362956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6시와 7시 사이(4도)</a:t>
            </a:r>
            <a:endParaRPr lang="ko-KR" sz="3000" dirty="0"/>
          </a:p>
        </p:txBody>
      </p:sp>
      <p:sp>
        <p:nvSpPr>
          <p:cNvPr id="9" name="S12-text575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8도</a:t>
            </a:r>
            <a:endParaRPr lang="ko-KR" sz="3000" dirty="0"/>
          </a:p>
        </p:txBody>
      </p:sp>
      <p:sp>
        <p:nvSpPr>
          <p:cNvPr id="10" name="S12-text576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22 − 14</a:t>
            </a:r>
            <a:endParaRPr lang="ko-KR" sz="2400" dirty="0"/>
          </a:p>
        </p:txBody>
      </p:sp>
      <p:sp>
        <p:nvSpPr>
          <p:cNvPr id="11" name="S12-chip57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2" name="S12-text578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8시와 9시 사이</a:t>
            </a:r>
            <a:endParaRPr lang="ko-KR" sz="3000" dirty="0"/>
          </a:p>
        </p:txBody>
      </p:sp>
      <p:sp>
        <p:nvSpPr>
          <p:cNvPr id="13" name="S12-text57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4도</a:t>
            </a:r>
            <a:endParaRPr lang="ko-KR" sz="3000" dirty="0"/>
          </a:p>
        </p:txBody>
      </p:sp>
      <p:sp>
        <p:nvSpPr>
          <p:cNvPr id="14" name="S12-text58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수만 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그래프는?</a:t>
            </a:r>
            <a:endParaRPr lang="ko-KR" sz="4000" dirty="0"/>
          </a:p>
        </p:txBody>
      </p:sp>
      <p:sp>
        <p:nvSpPr>
          <p:cNvPr id="3" name="S13-card58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58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16도, 10시 18도, 11시 22도, 12시 24도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온도에 맞는 그래프를 고르고, 물결선이 줄인 부분을 말해요.</a:t>
            </a:r>
            <a:endParaRPr lang="ko-KR" sz="3000" dirty="0"/>
          </a:p>
        </p:txBody>
      </p:sp>
      <p:sp>
        <p:nvSpPr>
          <p:cNvPr id="5" name="S13-chip583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figure584" descr="꺾은선그래프(세로 눈금 한 칸 2, 물결선 위 16부터): 9시 16, 10시 18, 11시 20, 12시 24"/>
          <p:cNvSpPr/>
          <p:nvPr/>
        </p:nvSpPr>
        <p:spPr>
          <a:xfrm>
            <a:off x="1611862" y="3953719"/>
            <a:ext cx="205493" cy="342488"/>
          </a:xfrm>
          <a:custGeom>
            <a:avLst/>
            <a:gdLst/>
            <a:ahLst/>
            <a:cxnLst/>
            <a:rect l="l" t="t" r="r" b="b"/>
            <a:pathLst>
              <a:path w="205493" h="342488">
                <a:moveTo>
                  <a:pt x="102746" y="342488"/>
                </a:moveTo>
                <a:lnTo>
                  <a:pt x="102746" y="291115"/>
                </a:lnTo>
                <a:lnTo>
                  <a:pt x="0" y="232892"/>
                </a:lnTo>
                <a:lnTo>
                  <a:pt x="205493" y="171244"/>
                </a:lnTo>
                <a:lnTo>
                  <a:pt x="0" y="109596"/>
                </a:lnTo>
                <a:lnTo>
                  <a:pt x="102746" y="51373"/>
                </a:lnTo>
                <a:lnTo>
                  <a:pt x="102746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3-mark585"/>
          <p:cNvSpPr/>
          <p:nvPr/>
        </p:nvSpPr>
        <p:spPr>
          <a:xfrm>
            <a:off x="2228340" y="2583767"/>
            <a:ext cx="2465914" cy="1369952"/>
          </a:xfrm>
          <a:custGeom>
            <a:avLst/>
            <a:gdLst/>
            <a:ahLst/>
            <a:cxnLst/>
            <a:rect l="l" t="t" r="r" b="b"/>
            <a:pathLst>
              <a:path w="2465914" h="1369952">
                <a:moveTo>
                  <a:pt x="0" y="1369952"/>
                </a:moveTo>
                <a:lnTo>
                  <a:pt x="821971" y="1027464"/>
                </a:lnTo>
                <a:lnTo>
                  <a:pt x="1643943" y="684976"/>
                </a:lnTo>
                <a:lnTo>
                  <a:pt x="2465914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8" name="S13-mark586"/>
          <p:cNvSpPr/>
          <p:nvPr/>
        </p:nvSpPr>
        <p:spPr>
          <a:xfrm flipV="1">
            <a:off x="2228340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587"/>
          <p:cNvSpPr/>
          <p:nvPr/>
        </p:nvSpPr>
        <p:spPr>
          <a:xfrm flipV="1">
            <a:off x="3050312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588"/>
          <p:cNvSpPr/>
          <p:nvPr/>
        </p:nvSpPr>
        <p:spPr>
          <a:xfrm flipV="1">
            <a:off x="3872283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589"/>
          <p:cNvSpPr/>
          <p:nvPr/>
        </p:nvSpPr>
        <p:spPr>
          <a:xfrm flipV="1">
            <a:off x="4694255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590"/>
          <p:cNvSpPr/>
          <p:nvPr/>
        </p:nvSpPr>
        <p:spPr>
          <a:xfrm>
            <a:off x="1714608" y="3953719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591"/>
          <p:cNvSpPr/>
          <p:nvPr/>
        </p:nvSpPr>
        <p:spPr>
          <a:xfrm>
            <a:off x="1714608" y="3611231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592"/>
          <p:cNvSpPr/>
          <p:nvPr/>
        </p:nvSpPr>
        <p:spPr>
          <a:xfrm>
            <a:off x="1714608" y="3268743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593"/>
          <p:cNvSpPr/>
          <p:nvPr/>
        </p:nvSpPr>
        <p:spPr>
          <a:xfrm>
            <a:off x="1714608" y="2926255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594"/>
          <p:cNvSpPr/>
          <p:nvPr/>
        </p:nvSpPr>
        <p:spPr>
          <a:xfrm>
            <a:off x="1714608" y="2583767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595"/>
          <p:cNvSpPr/>
          <p:nvPr/>
        </p:nvSpPr>
        <p:spPr>
          <a:xfrm>
            <a:off x="1714608" y="4296207"/>
            <a:ext cx="349337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13-mark596"/>
          <p:cNvSpPr/>
          <p:nvPr/>
        </p:nvSpPr>
        <p:spPr>
          <a:xfrm flipV="1">
            <a:off x="1714608" y="2446772"/>
            <a:ext cx="0" cy="150694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3-mark597"/>
          <p:cNvSpPr/>
          <p:nvPr/>
        </p:nvSpPr>
        <p:spPr>
          <a:xfrm>
            <a:off x="2168904" y="389428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mark598"/>
          <p:cNvSpPr/>
          <p:nvPr/>
        </p:nvSpPr>
        <p:spPr>
          <a:xfrm>
            <a:off x="2990876" y="355179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mark599"/>
          <p:cNvSpPr/>
          <p:nvPr/>
        </p:nvSpPr>
        <p:spPr>
          <a:xfrm>
            <a:off x="3812847" y="320930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mark600"/>
          <p:cNvSpPr/>
          <p:nvPr/>
        </p:nvSpPr>
        <p:spPr>
          <a:xfrm>
            <a:off x="4634819" y="252433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3-label602"/>
          <p:cNvSpPr txBox="1"/>
          <p:nvPr/>
        </p:nvSpPr>
        <p:spPr>
          <a:xfrm>
            <a:off x="1268045" y="410570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13-label604"/>
          <p:cNvSpPr txBox="1"/>
          <p:nvPr/>
        </p:nvSpPr>
        <p:spPr>
          <a:xfrm>
            <a:off x="1167461" y="376321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25" name="S13-label606"/>
          <p:cNvSpPr txBox="1"/>
          <p:nvPr/>
        </p:nvSpPr>
        <p:spPr>
          <a:xfrm>
            <a:off x="1167461" y="342073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26" name="S13-label608"/>
          <p:cNvSpPr txBox="1"/>
          <p:nvPr/>
        </p:nvSpPr>
        <p:spPr>
          <a:xfrm>
            <a:off x="1167461" y="307824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7" name="S13-label610"/>
          <p:cNvSpPr txBox="1"/>
          <p:nvPr/>
        </p:nvSpPr>
        <p:spPr>
          <a:xfrm>
            <a:off x="1167461" y="2735755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28" name="S13-label612"/>
          <p:cNvSpPr txBox="1"/>
          <p:nvPr/>
        </p:nvSpPr>
        <p:spPr>
          <a:xfrm>
            <a:off x="1167461" y="239326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29" name="S13-label614"/>
          <p:cNvSpPr txBox="1"/>
          <p:nvPr/>
        </p:nvSpPr>
        <p:spPr>
          <a:xfrm>
            <a:off x="1036397" y="2050779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0" name="S13-label616"/>
          <p:cNvSpPr txBox="1"/>
          <p:nvPr/>
        </p:nvSpPr>
        <p:spPr>
          <a:xfrm>
            <a:off x="1923540" y="4328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1" name="S13-label618"/>
          <p:cNvSpPr txBox="1"/>
          <p:nvPr/>
        </p:nvSpPr>
        <p:spPr>
          <a:xfrm>
            <a:off x="2644928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2" name="S13-label620"/>
          <p:cNvSpPr txBox="1"/>
          <p:nvPr/>
        </p:nvSpPr>
        <p:spPr>
          <a:xfrm>
            <a:off x="3466899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3" name="S13-label622"/>
          <p:cNvSpPr txBox="1"/>
          <p:nvPr/>
        </p:nvSpPr>
        <p:spPr>
          <a:xfrm>
            <a:off x="4288871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4" name="S13-chip623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35" name="S13-figure624" descr="꺾은선그래프(세로 눈금 한 칸 2, 물결선 위 16부터): 9시 16, 10시 18, 11시 22, 12시 24"/>
          <p:cNvSpPr/>
          <p:nvPr/>
        </p:nvSpPr>
        <p:spPr>
          <a:xfrm>
            <a:off x="7340578" y="3953719"/>
            <a:ext cx="205493" cy="342488"/>
          </a:xfrm>
          <a:custGeom>
            <a:avLst/>
            <a:gdLst/>
            <a:ahLst/>
            <a:cxnLst/>
            <a:rect l="l" t="t" r="r" b="b"/>
            <a:pathLst>
              <a:path w="205493" h="342488">
                <a:moveTo>
                  <a:pt x="102746" y="342488"/>
                </a:moveTo>
                <a:lnTo>
                  <a:pt x="102746" y="291115"/>
                </a:lnTo>
                <a:lnTo>
                  <a:pt x="0" y="232892"/>
                </a:lnTo>
                <a:lnTo>
                  <a:pt x="205493" y="171244"/>
                </a:lnTo>
                <a:lnTo>
                  <a:pt x="0" y="109596"/>
                </a:lnTo>
                <a:lnTo>
                  <a:pt x="102746" y="51373"/>
                </a:lnTo>
                <a:lnTo>
                  <a:pt x="102746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13-mark625"/>
          <p:cNvSpPr/>
          <p:nvPr/>
        </p:nvSpPr>
        <p:spPr>
          <a:xfrm>
            <a:off x="7957056" y="2583767"/>
            <a:ext cx="2465914" cy="1369952"/>
          </a:xfrm>
          <a:custGeom>
            <a:avLst/>
            <a:gdLst/>
            <a:ahLst/>
            <a:cxnLst/>
            <a:rect l="l" t="t" r="r" b="b"/>
            <a:pathLst>
              <a:path w="2465914" h="1369952">
                <a:moveTo>
                  <a:pt x="0" y="1369952"/>
                </a:moveTo>
                <a:lnTo>
                  <a:pt x="821971" y="1027464"/>
                </a:lnTo>
                <a:lnTo>
                  <a:pt x="1643943" y="342488"/>
                </a:lnTo>
                <a:lnTo>
                  <a:pt x="2465914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37" name="S13-mark626"/>
          <p:cNvSpPr/>
          <p:nvPr/>
        </p:nvSpPr>
        <p:spPr>
          <a:xfrm flipV="1">
            <a:off x="7957056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627"/>
          <p:cNvSpPr/>
          <p:nvPr/>
        </p:nvSpPr>
        <p:spPr>
          <a:xfrm flipV="1">
            <a:off x="8779028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628"/>
          <p:cNvSpPr/>
          <p:nvPr/>
        </p:nvSpPr>
        <p:spPr>
          <a:xfrm flipV="1">
            <a:off x="9600999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629"/>
          <p:cNvSpPr/>
          <p:nvPr/>
        </p:nvSpPr>
        <p:spPr>
          <a:xfrm flipV="1">
            <a:off x="10422971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630"/>
          <p:cNvSpPr/>
          <p:nvPr/>
        </p:nvSpPr>
        <p:spPr>
          <a:xfrm>
            <a:off x="7443324" y="3953719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631"/>
          <p:cNvSpPr/>
          <p:nvPr/>
        </p:nvSpPr>
        <p:spPr>
          <a:xfrm>
            <a:off x="7443324" y="3611231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mark632"/>
          <p:cNvSpPr/>
          <p:nvPr/>
        </p:nvSpPr>
        <p:spPr>
          <a:xfrm>
            <a:off x="7443324" y="3268743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3-mark633"/>
          <p:cNvSpPr/>
          <p:nvPr/>
        </p:nvSpPr>
        <p:spPr>
          <a:xfrm>
            <a:off x="7443324" y="2926255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3-mark634"/>
          <p:cNvSpPr/>
          <p:nvPr/>
        </p:nvSpPr>
        <p:spPr>
          <a:xfrm>
            <a:off x="7443324" y="2583767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3-mark635"/>
          <p:cNvSpPr/>
          <p:nvPr/>
        </p:nvSpPr>
        <p:spPr>
          <a:xfrm>
            <a:off x="7443324" y="4296207"/>
            <a:ext cx="349337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7" name="S13-mark636"/>
          <p:cNvSpPr/>
          <p:nvPr/>
        </p:nvSpPr>
        <p:spPr>
          <a:xfrm flipV="1">
            <a:off x="7443324" y="2446772"/>
            <a:ext cx="0" cy="150694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8" name="S13-mark637"/>
          <p:cNvSpPr/>
          <p:nvPr/>
        </p:nvSpPr>
        <p:spPr>
          <a:xfrm>
            <a:off x="7897620" y="389428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3-mark638"/>
          <p:cNvSpPr/>
          <p:nvPr/>
        </p:nvSpPr>
        <p:spPr>
          <a:xfrm>
            <a:off x="8719592" y="355179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3-mark639"/>
          <p:cNvSpPr/>
          <p:nvPr/>
        </p:nvSpPr>
        <p:spPr>
          <a:xfrm>
            <a:off x="9541563" y="28668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3-mark640"/>
          <p:cNvSpPr/>
          <p:nvPr/>
        </p:nvSpPr>
        <p:spPr>
          <a:xfrm>
            <a:off x="10363535" y="252433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13-label642"/>
          <p:cNvSpPr txBox="1"/>
          <p:nvPr/>
        </p:nvSpPr>
        <p:spPr>
          <a:xfrm>
            <a:off x="6996761" y="410570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3" name="S13-label644"/>
          <p:cNvSpPr txBox="1"/>
          <p:nvPr/>
        </p:nvSpPr>
        <p:spPr>
          <a:xfrm>
            <a:off x="6896177" y="376321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54" name="S13-label646"/>
          <p:cNvSpPr txBox="1"/>
          <p:nvPr/>
        </p:nvSpPr>
        <p:spPr>
          <a:xfrm>
            <a:off x="6896177" y="342073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55" name="S13-label648"/>
          <p:cNvSpPr txBox="1"/>
          <p:nvPr/>
        </p:nvSpPr>
        <p:spPr>
          <a:xfrm>
            <a:off x="6896177" y="307824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56" name="S13-label650"/>
          <p:cNvSpPr txBox="1"/>
          <p:nvPr/>
        </p:nvSpPr>
        <p:spPr>
          <a:xfrm>
            <a:off x="6896177" y="2735755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57" name="S13-label652"/>
          <p:cNvSpPr txBox="1"/>
          <p:nvPr/>
        </p:nvSpPr>
        <p:spPr>
          <a:xfrm>
            <a:off x="6896177" y="239326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58" name="S13-label654"/>
          <p:cNvSpPr txBox="1"/>
          <p:nvPr/>
        </p:nvSpPr>
        <p:spPr>
          <a:xfrm>
            <a:off x="6765113" y="2050779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59" name="S13-label656"/>
          <p:cNvSpPr txBox="1"/>
          <p:nvPr/>
        </p:nvSpPr>
        <p:spPr>
          <a:xfrm>
            <a:off x="7652256" y="4328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60" name="S13-label658"/>
          <p:cNvSpPr txBox="1"/>
          <p:nvPr/>
        </p:nvSpPr>
        <p:spPr>
          <a:xfrm>
            <a:off x="8373644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61" name="S13-label660"/>
          <p:cNvSpPr txBox="1"/>
          <p:nvPr/>
        </p:nvSpPr>
        <p:spPr>
          <a:xfrm>
            <a:off x="9195615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62" name="S13-label662"/>
          <p:cNvSpPr txBox="1"/>
          <p:nvPr/>
        </p:nvSpPr>
        <p:spPr>
          <a:xfrm>
            <a:off x="10017587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66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66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꺾은선그래프는 시간에 따른 변화를 보여 줘요. 선분이 많이 기울수록 변화가 커요.</a:t>
            </a:r>
            <a:endParaRPr lang="ko-KR" sz="3000" dirty="0"/>
          </a:p>
        </p:txBody>
      </p:sp>
      <p:sp>
        <p:nvSpPr>
          <p:cNvPr id="5" name="S14-chip66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필요 없는 부분은 물결선으로</a:t>
            </a:r>
            <a:endParaRPr lang="ko-KR" sz="2400" dirty="0"/>
          </a:p>
        </p:txBody>
      </p:sp>
      <p:sp>
        <p:nvSpPr>
          <p:cNvPr id="6" name="S14-chip66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가장 높은 점을 많이 변한 때로 읽기</a:t>
            </a:r>
            <a:endParaRPr lang="ko-KR" sz="2200" dirty="0"/>
          </a:p>
        </p:txBody>
      </p:sp>
      <p:sp>
        <p:nvSpPr>
          <p:cNvPr id="7" name="S14-text66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66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칸이 2도일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 오르면 몇 도?</a:t>
            </a:r>
            <a:endParaRPr lang="ko-KR" sz="2400" dirty="0"/>
          </a:p>
        </p:txBody>
      </p:sp>
      <p:sp>
        <p:nvSpPr>
          <p:cNvPr id="9" name="S14-text66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선분이 평평하면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뜻해요?</a:t>
            </a:r>
            <a:endParaRPr lang="ko-KR" sz="2400" dirty="0"/>
          </a:p>
        </p:txBody>
      </p:sp>
      <p:sp>
        <p:nvSpPr>
          <p:cNvPr id="10" name="S14-text67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물결선은 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써요?</a:t>
            </a:r>
            <a:endParaRPr lang="ko-KR" sz="2400" dirty="0"/>
          </a:p>
        </p:txBody>
      </p:sp>
      <p:sp>
        <p:nvSpPr>
          <p:cNvPr id="11" name="S14-text67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계산식의 규칙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눈금 한 칸 찾기</a:t>
            </a:r>
            <a:endParaRPr lang="ko-KR" sz="4000" dirty="0"/>
          </a:p>
        </p:txBody>
      </p:sp>
      <p:sp>
        <p:nvSpPr>
          <p:cNvPr id="3" name="S15-card67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67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숫자가 1씩 커지면 한 칸은 1이에요.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끝에서 옆으로 따라가 숫자를 읽어요.</a:t>
            </a:r>
            <a:endParaRPr lang="ko-KR" sz="3000" dirty="0"/>
          </a:p>
        </p:txBody>
      </p:sp>
      <p:sp>
        <p:nvSpPr>
          <p:cNvPr id="5" name="S15-figure674" descr="막대그래프 ‘과일 가게의 상자 수’(세로 눈금 한 칸 1): 사과 4, 배 6, 감 3"/>
          <p:cNvSpPr/>
          <p:nvPr/>
        </p:nvSpPr>
        <p:spPr>
          <a:xfrm>
            <a:off x="5297702" y="2925193"/>
            <a:ext cx="411238" cy="1370794"/>
          </a:xfrm>
          <a:custGeom>
            <a:avLst/>
            <a:gdLst/>
            <a:ahLst/>
            <a:cxnLst/>
            <a:rect l="l" t="t" r="r" b="b"/>
            <a:pathLst>
              <a:path w="411238" h="1370794">
                <a:moveTo>
                  <a:pt x="0" y="1370794"/>
                </a:moveTo>
                <a:lnTo>
                  <a:pt x="411238" y="1370794"/>
                </a:lnTo>
                <a:lnTo>
                  <a:pt x="41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mark675"/>
          <p:cNvSpPr/>
          <p:nvPr/>
        </p:nvSpPr>
        <p:spPr>
          <a:xfrm>
            <a:off x="6120178" y="2239796"/>
            <a:ext cx="411238" cy="2056190"/>
          </a:xfrm>
          <a:custGeom>
            <a:avLst/>
            <a:gdLst/>
            <a:ahLst/>
            <a:cxnLst/>
            <a:rect l="l" t="t" r="r" b="b"/>
            <a:pathLst>
              <a:path w="411238" h="2056190">
                <a:moveTo>
                  <a:pt x="0" y="2056190"/>
                </a:moveTo>
                <a:lnTo>
                  <a:pt x="411238" y="2056190"/>
                </a:lnTo>
                <a:lnTo>
                  <a:pt x="41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676"/>
          <p:cNvSpPr/>
          <p:nvPr/>
        </p:nvSpPr>
        <p:spPr>
          <a:xfrm>
            <a:off x="6942655" y="3267891"/>
            <a:ext cx="411238" cy="1028095"/>
          </a:xfrm>
          <a:custGeom>
            <a:avLst/>
            <a:gdLst/>
            <a:ahLst/>
            <a:cxnLst/>
            <a:rect l="l" t="t" r="r" b="b"/>
            <a:pathLst>
              <a:path w="411238" h="1028095">
                <a:moveTo>
                  <a:pt x="0" y="1028095"/>
                </a:moveTo>
                <a:lnTo>
                  <a:pt x="411238" y="1028095"/>
                </a:lnTo>
                <a:lnTo>
                  <a:pt x="41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677"/>
          <p:cNvSpPr/>
          <p:nvPr/>
        </p:nvSpPr>
        <p:spPr>
          <a:xfrm>
            <a:off x="4989274" y="3953288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678"/>
          <p:cNvSpPr/>
          <p:nvPr/>
        </p:nvSpPr>
        <p:spPr>
          <a:xfrm>
            <a:off x="4989274" y="3610590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679"/>
          <p:cNvSpPr/>
          <p:nvPr/>
        </p:nvSpPr>
        <p:spPr>
          <a:xfrm>
            <a:off x="4989274" y="3267891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680"/>
          <p:cNvSpPr/>
          <p:nvPr/>
        </p:nvSpPr>
        <p:spPr>
          <a:xfrm>
            <a:off x="4989274" y="2925193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681"/>
          <p:cNvSpPr/>
          <p:nvPr/>
        </p:nvSpPr>
        <p:spPr>
          <a:xfrm>
            <a:off x="4989274" y="2582495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682"/>
          <p:cNvSpPr/>
          <p:nvPr/>
        </p:nvSpPr>
        <p:spPr>
          <a:xfrm>
            <a:off x="4989274" y="2239796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683"/>
          <p:cNvSpPr/>
          <p:nvPr/>
        </p:nvSpPr>
        <p:spPr>
          <a:xfrm>
            <a:off x="4989274" y="4295987"/>
            <a:ext cx="267304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5-mark684"/>
          <p:cNvSpPr/>
          <p:nvPr/>
        </p:nvSpPr>
        <p:spPr>
          <a:xfrm flipV="1">
            <a:off x="4989274" y="2102717"/>
            <a:ext cx="0" cy="219327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5-label686"/>
          <p:cNvSpPr txBox="1"/>
          <p:nvPr/>
        </p:nvSpPr>
        <p:spPr>
          <a:xfrm>
            <a:off x="4542532" y="410548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7" name="S15-label688"/>
          <p:cNvSpPr txBox="1"/>
          <p:nvPr/>
        </p:nvSpPr>
        <p:spPr>
          <a:xfrm>
            <a:off x="4542532" y="410548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15-label690"/>
          <p:cNvSpPr txBox="1"/>
          <p:nvPr/>
        </p:nvSpPr>
        <p:spPr>
          <a:xfrm>
            <a:off x="4542532" y="376278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15-label692"/>
          <p:cNvSpPr txBox="1"/>
          <p:nvPr/>
        </p:nvSpPr>
        <p:spPr>
          <a:xfrm>
            <a:off x="4542532" y="342009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0" name="S15-label694"/>
          <p:cNvSpPr txBox="1"/>
          <p:nvPr/>
        </p:nvSpPr>
        <p:spPr>
          <a:xfrm>
            <a:off x="4542532" y="307739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15-label696"/>
          <p:cNvSpPr txBox="1"/>
          <p:nvPr/>
        </p:nvSpPr>
        <p:spPr>
          <a:xfrm>
            <a:off x="4542532" y="273469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2" name="S15-label698"/>
          <p:cNvSpPr txBox="1"/>
          <p:nvPr/>
        </p:nvSpPr>
        <p:spPr>
          <a:xfrm>
            <a:off x="4542532" y="23919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3" name="S15-label700"/>
          <p:cNvSpPr txBox="1"/>
          <p:nvPr/>
        </p:nvSpPr>
        <p:spPr>
          <a:xfrm>
            <a:off x="4542532" y="204929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4" name="S15-label702"/>
          <p:cNvSpPr txBox="1"/>
          <p:nvPr/>
        </p:nvSpPr>
        <p:spPr>
          <a:xfrm>
            <a:off x="4310884" y="1706598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(개)</a:t>
            </a:r>
            <a:endParaRPr lang="ko-KR" sz="2400" dirty="0"/>
          </a:p>
        </p:txBody>
      </p:sp>
      <p:sp>
        <p:nvSpPr>
          <p:cNvPr id="25" name="S15-label704"/>
          <p:cNvSpPr txBox="1"/>
          <p:nvPr/>
        </p:nvSpPr>
        <p:spPr>
          <a:xfrm>
            <a:off x="5149753" y="432824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400" dirty="0"/>
          </a:p>
        </p:txBody>
      </p:sp>
      <p:sp>
        <p:nvSpPr>
          <p:cNvPr id="26" name="S15-label706"/>
          <p:cNvSpPr txBox="1"/>
          <p:nvPr/>
        </p:nvSpPr>
        <p:spPr>
          <a:xfrm>
            <a:off x="6121581" y="43282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400" dirty="0"/>
          </a:p>
        </p:txBody>
      </p:sp>
      <p:sp>
        <p:nvSpPr>
          <p:cNvPr id="27" name="S15-label708"/>
          <p:cNvSpPr txBox="1"/>
          <p:nvPr/>
        </p:nvSpPr>
        <p:spPr>
          <a:xfrm>
            <a:off x="6944058" y="43282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2400" dirty="0"/>
          </a:p>
        </p:txBody>
      </p:sp>
      <p:sp>
        <p:nvSpPr>
          <p:cNvPr id="28" name="S15-label710"/>
          <p:cNvSpPr txBox="1"/>
          <p:nvPr/>
        </p:nvSpPr>
        <p:spPr>
          <a:xfrm>
            <a:off x="4938957" y="1363899"/>
            <a:ext cx="2773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가게의 상자 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꺾은선그래프</dc:title>
  <dc:subject>KR22-G04-MAT-LINEGRAPH-L01</dc:subject>
  <dc:creator>education-ppt</dc:creator>
  <cp:lastModifiedBy>education-ppt</cp:lastModifiedBy>
  <cp:revision>1</cp:revision>
  <dcterms:created xsi:type="dcterms:W3CDTF">2026-10-26T08:18:20Z</dcterms:created>
  <dcterms:modified xsi:type="dcterms:W3CDTF">2026-10-26T08:18:20Z</dcterms:modified>
</cp:coreProperties>
</file>