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69d6bb3-9772-b12b-01d5-6ad6c7bb3a96}">
          <p14:sldIdLst>
            <p14:sldId id="256"/>
            <p14:sldId id="257"/>
          </p14:sldIdLst>
        </p14:section>
        <p14:section name="개념" id="{435062e7-b5eb-fa48-afee-0e247629d31c}">
          <p14:sldIdLst>
            <p14:sldId id="258"/>
            <p14:sldId id="259"/>
            <p14:sldId id="261"/>
          </p14:sldIdLst>
        </p14:section>
        <p14:section name="연습" id="{9ceb8339-8be3-7324-e2f5-e36b411ccb2d}">
          <p14:sldIdLst>
            <p14:sldId id="260"/>
            <p14:sldId id="262"/>
            <p14:sldId id="263"/>
            <p14:sldId id="264"/>
          </p14:sldIdLst>
        </p14:section>
        <p14:section name="개념" id="{afbffa88-c5b9-8d2d-47d5-fbfbdfc4ebc4}">
          <p14:sldIdLst/>
        </p14:section>
        <p14:section name="연습" id="{18ed6af5-0f2d-60cf-bd14-a67084819f67}">
          <p14:sldIdLst/>
        </p14:section>
        <p14:section name="확인" id="{19e070d1-f93e-4717-98d4-e07c62695763}">
          <p14:sldIdLst>
            <p14:sldId id="265"/>
            <p14:sldId id="266"/>
          </p14:sldIdLst>
        </p14:section>
        <p14:section name="정리" id="{e6250f1d-4588-8234-0c9b-64b786e822dd}">
          <p14:sldIdLst>
            <p14:sldId id="267"/>
          </p14:sldIdLst>
        </p14:section>
        <p14:section name="보충" id="{4f3fdda8-0f95-9559-11cb-2d563932ac0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과학자처럼 먼저 예상하고, 직접 해 본 뒤 본 대로 기록하는 수업이라는 것을 알립니다.
시간: 약 2분
이렇게 말해 보세요
- “목욕할 때 물에 뜨는 장난감이 있지? 가라앉는 것도 있어?”
- “오늘은 여러 물건을 물에 넣어 볼 거야. 그런데 넣기 전에 먼저 ‘예상’을 할 거야. 예상이 무엇인지도 알아보자.”
예상 답
- “오리 장난감은 떠요.” / “돌은 가라앉아요.” / “몰라요.”
막히면
- 떠올리기 어려우면 “설거지할 때 그릇 속 숟가락은 어디 있었지?”처럼 집안일 장면으로 묻습니다.
주의
- 물건은 아이 눈에 띄지 않게 상자에 담아 두고 S06에서 꺼냅니다. 결과를 미리 보여 주지 않습니다.
- 사과·감자는 수업 전에 부모가 엄지손가락만 하게 잘라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확인(오감으로 관찰하기)]
목적: ‘관찰한 사실’을 말하려면 눈·귀·코·손으로 알아낸 것을 말할 수 있어야 합니다. 이 차시는 계획상 선수 차시가 없으므로 1학년 과학 ‘오감으로 관찰하기’에서 해 온 관찰을 확인합니다.
시간: 약 3분
이렇게 말해 보세요
- “① 눈으로 보면 무엇을 알 수 있어? 손으로 만지면?”
- “② 탁구공을 손에 올려 볼래? 무엇을 알게 됐어?”
정답
- ① 눈: 색, 모양, 크기 / 귀: 소리 / 코: 냄새 / 손: 단단한지, 매끈한지, 무거운지(두세 가지 말하면 맞음)
- ② 예) 하얗다(또는 주황색), 동그랗다, 가볍다, 매끈하다, 누르면 조금 들어간다(본 대로 두 가지 말하면 맞음)
막히면
- ①이 어려우면 S13(보충)을 먼저 합니다. 보충으로도 어려우면 1학년 과학 ‘오감으로 관찰하기’를 먼저 합니다.
주의
- ②에서 탁구공을 물에 넣지 않습니다. 물에 넣는 것은 S07에서 예상한 뒤에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예상과 관찰한 사실의 뜻]
목적: ‘예상’은 해 보기 전에 미리 생각한 것이고 ‘관찰한 사실’은 직접 보고 알게 된 것임을 알려 주고, 예상이 틀려도 괜찮다는 것을 강조합니다(목표 A·B, 오해 M1).
시간: 약 3분
이렇게 말해 보세요
- “예상은 해 보기 전에 ‘이렇게 될 것 같아.’ 하고 미리 생각하는 거야. 그렇게 생각한 까닭도 함께 말하면 좋아.”
- “관찰한 사실은 직접 해 보고 눈으로 보고, 손으로 만져서 알게 된 거야.”
- “과학자들도 예상이 자주 틀려. 틀리면 새로운 걸 알게 된 거니까 괜찮아. 대신 결과는 꼭 본 대로 써야 해.”
예상 답
- “예상은 미리 생각하는 거예요.” / “틀려도 돼요?”
막히면
- “아침에 ‘오늘 급식에 카레가 나올 것 같아.’ 하는 건 먹어 보기 전이야, 후야?”처럼 생활 예로 묻습니다.
주의
- 예상이 맞았는지보다 예상을 먼저 하고 까닭을 말했는지를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예상과 관찰한 사실의 예]
목적: 같은 ‘비’에 대한 말이라도 해 보기(보기) 전의 생각은 예상, 직접 본 것은 관찰한 사실이라는 것을 예로 보여 줍니다(목표 B, 오해 M3).
시간: 약 2분
이렇게 말해 보세요
- “왼쪽 말은 비를 보고 한 말일까, 보기 전에 한 말일까?”
- “오른쪽 말은? 무엇을 보고 알았을까?”
- “‘~것 같아요’, ‘~할 거예요’라고 말하면 대개 예상이야. 그런데 가장 중요한 건 ‘직접 보고 한 말인지’야.”
예상 답
- “왼쪽은 아직 안 봤어요.” / “오른쪽은 창밖을 보고 말했어요.”
막히면
- 실제로 창밖을 보며 “지금 하늘은 어때?”(관찰), “내일은 어떨까?”(예상)를 번갈아 묻습니다.
주의
- 말끝만 보고 기계적으로 고르지 않도록 “해 보기 전이야, 본 뒤야?”를 늘 함께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예상과 관찰한 사실 구별하기]
목적: 문장을 듣고 예상인지 관찰한 사실인지 구별하고 까닭을 말하는 연습을 합니다(목표 B, 오해 M3).
시간: 약 3분
이렇게 말해 보세요
- “①부터 읽어 볼래? 해 보기 전에 한 말일까, 보고 나서 한 말일까?”
- “어떻게 알았어?”
정답
- ① 예상
- ② 관찰한 사실
- ③ 예상
- ④ 관찰한 사실
막히면
- ②④가 어려우면 실제로 비누 거품을 내어 보여 주며 “지금 본 걸 말해 봐. 이게 관찰한 사실이야.”라고 합니다.
주의
- 까닭을 “해 보기 전이라서요.”, “보고 말해서요.”처럼 말하면 잘한 것입니다. 아이가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예상하기(뜰까, 가라앉을까)]
목적: 물건을 하나씩 만져 보고, 물에 넣기 전에 뜰지 가라앉을지 예상과 까닭을 말하게 합니다(목표 A).
시간: 약 3분
이렇게 말해 보세요
- “물건을 하나씩 손에 들어 봐. 물에 넣으면 뜰까, 가라앉을까? 왜 그렇게 생각해?”
- “활동지 2의 ‘내 예상’ 칸에 ‘뜬다’나 ‘가라앉는다’에 ○ 하고, 까닭도 짧게 쓰자.”
예상 답
- “동전은 무거우니까 가라앉을 것 같아요.” / “클립은 가벼우니까 뜰 것 같아요.” / “사과는 무거워서 가라앉을 것 같아요.”(어떤 예상이든 그대로 씁니다)
막히면
- 예상을 망설이면 “틀려도 괜찮아. 네 생각은 어때?” 하고 둘 중 하나를 고르게 합니다.
- 까닭을 쓰기 어려우면 말로 하고 부모가 받아 적습니다.
주의
- 결과를 알려 주거나 고개를 끄덕여 힌트를 주지 않습니다.
- 부모용 참고(아이에게 말하지 않음): 보통 탁구공·나무젓가락·사과 조각은 뜨고, 100원짜리 동전·쇠 클립·감자 조각은 가라앉습니다. 가벼운 클립이 가라앉고 무거운 사과가 뜨는 것에서 예상이 자주 틀립니다(오해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물에 넣어 관찰하고 기록하기]
목적: 물건을 하나씩 물에 넣어 뜨는지 가라앉는지 관찰하고, 활동지 2의 결과 칸에 본 대로 씁니다(목표 A, 오해 M1).
시간: 약 8분
이렇게 말해 보세요
- “탁구공부터 해 볼까? 물속에 살짝 넣었다가 손을 놓아 봐. 어떻게 됐어?”
- “결과 칸에 본 대로 ○ 하자. 예상 칸은 그대로 둬.”
- “예상과 같았어, 달랐어?”
예상 답
- “탁구공이 둥둥 떠요.” / “동전은 바로 바닥으로 가라앉았어요.” / “어? 사과가 떴어요! 가라앉을 줄 알았는데.”
정답
- 관찰 기준 세 가지를 지키면 연습 완료입니다. 결과는 아이가 본 대로 쓰면 맞습니다(보통 탁구공·나무젓가락·사과 조각은 뜨고, 동전·클립·감자 조각은 가라앉음).
막히면
- 뜨는지 가라앉는지 헷갈리면 “그릇 바닥에 닿았어, 물 위에 있어?” 하고 묻습니다.
- 결과를 예상에 맞추어 쓰려 하면 “본 것을 쓰는 칸이야. 무엇을 봤어?” 하고 다시 보게 합니다.
주의
- 안전: 그릇 아래에 수건을 깔고 흘린 물은 바로 닦습니다. 클립과 동전은 입에 넣지 않게 하고, 실험한 사과·감자 조각과 물은 먹지 않고 버립니다.
- 물건을 물 위에 아주 살살 올려놓으면 클립처럼 작고 가벼운 쇠붙이가 물 표면에 잠깐 떠 있기도 합니다. 그래서 ‘물속에 넣었다가 손을 놓는’ 같은 방법으로 해야 결과가 분명합니다.
- 결과가 집마다 조금 다를 수 있습니다(감자 종류 등). 아이가 본 결과를 그대로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 정리와 예상 비교]
목적: 기록한 결과를 정리하고, 예상과 같은 것과 다른 것을 찾아 말합니다(목표 A, 오해 M2).
시간: 약 3분
이렇게 말해 보세요
- “탁구공은 어떻게 예상했고, 결과는 어땠어?” 표를 한 줄씩 짚으며 아이가 활동지를 보고 말하게 합니다.
- “예상과 달랐던 물건은 무엇이었어? 무엇을 새로 알게 됐어?”
예상 답
- “사과는 가라앉을 줄 알았는데 떴어요.” / “클립은 가벼운데 가라앉았어요.” / “다 맞았어요!”
정답
- 아이의 기록대로 말하면 맞습니다. 보통: 뜬 것 — 탁구공, 나무젓가락, 사과 조각 / 가라앉은 것 — 100원짜리 동전, 쇠 클립, 감자 조각
막히면
- 활동지에 쓴 것이 헷갈리면 물건을 다시 하나씩 물에 넣어 확인합니다.
주의
- 화면의 빈칸은 아이가 말로 채우는 자리입니다.
- “가벼운 클립은 가라앉고 무거운 사과는 떴네. 무게만으로 정해지지 않나 봐.” 정도로만 이야기합니다. 뜨고 가라앉는 까닭은 다루지 않습니다(오해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예상이 틀렸을 때 기록하는 방법(오해 M1)]
목적: 예상과 결과가 달라도 예상을 고치지 않고 결과를 본 대로 쓰는 것이 바른 기록이라는 것을 비교로 확인합니다(목표 A, 오해 M1).
시간: 약 3분
이렇게 말해 보세요
- “가처럼 고치면 나중에 기록을 볼 때 지호가 처음에 어떻게 생각했는지 알 수 있을까?”
- “예상이 틀린 건 나쁜 걸까?”
정답
- 나. 예상은 해 보기 전의 생각이므로 그대로 두고, 결과는 본 대로 써야 예상과 결과를 비교할 수 있습니다.
- 가처럼 고치면 무엇을 새로 알게 되었는지 알 수 없습니다. 예상이 틀린 것은 잘못이 아닙니다.
막히면
- 활동지 2에서 아이가 예상과 다르게 나온 칸을 짚으며 “여기를 지웠다면 무엇을 새로 알았는지 알 수 있을까?”라고 묻습니다.
주의
- 아이가 이미 예상 칸을 고쳤다면 나무라지 말고 “처음 예상을 옆에 다시 써 두자.”라고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보기]
목적: 도움 없이 예상과 관찰한 사실을 구별하고(①②), 처음 보는 물건으로 예상 → 관찰 → 기록을 혼자 하는지(③) 확인합니다(목표 A·B).
시간: 약 5분
이렇게 말해 보세요
- “이번에는 혼자 해 볼래? ①②는 왜 그렇게 생각했는지도 말해 줘.”
- “③은 병뚜껑이야. 넣기 전에 먼저 예상을 활동지 4에 쓰고, 넣어 본 뒤 결과를 써.”
정답
- ① 예상(아직 튀겨 보기 전의 생각)
- ② 관찰한 사실(눌러 보고 본 것)
- ③ 기준: 넣기 전에 예상을 먼저 쓰고, 넣어 본 뒤 결과를 본 대로 쓰면 맞음. 플라스틱 병뚜껑은 보통 뜹니다.
막히면
- 바로 알려 주지 말고 ①②는 S03·S04를, ③은 S07의 단계를 다시 보여 줍니다.
- 도움을 받아 해결했다면 기록표에 ‘도움’으로 표시합니다.
주의
- ③에서 넣어 본 뒤에 예상을 쓰려고 하면 멈추고 “넣기 전에 먼저 생각해 보자.”라고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어디가 달랐는지 찾아보자.”
정답
- ① 예상 ② 관찰한 사실 ③ 예상을 먼저 쓰고, 결과는 본 대로 씀(보통 병뚜껑은 뜸)
막히면
- ①②가 틀리면 S04·S05로, ③의 순서가 틀리면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예상과 달랐던 것은 무엇이었어? 그래도 예상 칸은 어떻게 했지?”
예상 답
- “사과가 떴어요. 예상 칸은 그대로 뒀어요.”
정답
- ① 해 보기 전에 미리 생각한 것 ② 관찰한 사실 ③ 예상 칸은 고치지 않고, 결과는 본 대로 쓴다
막히면
- S03과 S09를 다시 보여 줍니다.
주의
- 계획상 이 차시 다음은 기술·가정 ‘시간 관리와 집안일 나누기’입니다. 과학에서는 3학년 ‘관찰 기록하기’와 ‘밀기·당기기와 수평 잡기’에서 예상과 결과를 나누어 쓰는 방법을 다시 씁니다.
- 생활 속에서도 “어떻게 될 것 같아?”(예상) → “어떻게 됐어?”(관찰)를 자주 물어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보충(몸으로 관찰하기)]
목적: S02에서 관찰한 것을 말하기 어려워하면, 귤(또는 사과) 하나를 눈·코·손·귀로 차례로 관찰하며 본 것을 말하는 연습을 합니다.
시간: 약 5분
이렇게 말해 보세요
- “귤을 눈으로 봐. 무슨 색이야? 어떤 모양이야?”
- “코에 대 봐. 무슨 냄새가 나?”
- “손으로 만져 봐. 껍질이 어때? 무거워, 가벼워?”
- “톡톡 두드려 볼까? 소리가 나?”
예상 답
- “주황색이고 동그래요.” / “새콤한 냄새가 나요.” / “울퉁불퉁해요.” / “작은 소리가 나요.”
정답
- 본 것·맡은 것·만진 것·들은 것을 두 가지 이상 말하면 맞습니다.
막히면
- “이건 주황색이야, 초록색이야?”처럼 둘 중에 고르게 합니다.
주의
- 이 차시는 계획상 선수 차시가 없습니다. 보충으로도 어려우면 1학년 과학 ‘오감으로 관찰하기’를 먼저 합니다.
- 맛보기는 하지 않습니다. 관찰할 물건을 함부로 맛보지 않는 것도 약속입니다.
- 보충이 오래 걸리면 오늘은 S05까지만 하고, 다음 날 S06부터 실험을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탐구의기초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관찰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넣으면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뜰까, 가라앉을까?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반쯤 담긴 그릇 위에 물음표 세 개"/>
          <p:cNvSpPr/>
          <p:nvPr/>
        </p:nvSpPr>
        <p:spPr>
          <a:xfrm>
            <a:off x="8040518" y="2168244"/>
            <a:ext cx="3212805" cy="1128823"/>
          </a:xfrm>
          <a:custGeom>
            <a:avLst/>
            <a:gdLst/>
            <a:ahLst/>
            <a:cxnLst/>
            <a:rect l="l" t="t" r="r" b="b"/>
            <a:pathLst>
              <a:path w="3212805" h="1128823">
                <a:moveTo>
                  <a:pt x="0" y="0"/>
                </a:moveTo>
                <a:lnTo>
                  <a:pt x="260498" y="1128823"/>
                </a:lnTo>
                <a:lnTo>
                  <a:pt x="2952307" y="1128823"/>
                </a:lnTo>
                <a:lnTo>
                  <a:pt x="3212805" y="0"/>
                </a:lnTo>
                <a:close/>
              </a:path>
            </a:pathLst>
          </a:custGeom>
          <a:solidFill>
            <a:srgbClr val="BFDBFE"/>
          </a:solidFill>
          <a:ln/>
        </p:spPr>
      </p:sp>
      <p:sp>
        <p:nvSpPr>
          <p:cNvPr id="6" name="S01-mark3"/>
          <p:cNvSpPr/>
          <p:nvPr/>
        </p:nvSpPr>
        <p:spPr>
          <a:xfrm>
            <a:off x="7780020" y="1039421"/>
            <a:ext cx="3733800" cy="2257647"/>
          </a:xfrm>
          <a:custGeom>
            <a:avLst/>
            <a:gdLst/>
            <a:ahLst/>
            <a:cxnLst/>
            <a:rect l="l" t="t" r="r" b="b"/>
            <a:pathLst>
              <a:path w="3733800" h="2257647">
                <a:moveTo>
                  <a:pt x="0" y="0"/>
                </a:moveTo>
                <a:lnTo>
                  <a:pt x="520995" y="2257647"/>
                </a:lnTo>
                <a:lnTo>
                  <a:pt x="3212805" y="2257647"/>
                </a:lnTo>
                <a:lnTo>
                  <a:pt x="3733800" y="0"/>
                </a:lnTo>
              </a:path>
            </a:pathLst>
          </a:cu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040518" y="2168244"/>
            <a:ext cx="3212805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8" name="S01-label6"/>
          <p:cNvSpPr txBox="1"/>
          <p:nvPr/>
        </p:nvSpPr>
        <p:spPr>
          <a:xfrm>
            <a:off x="8885168" y="1093544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9" name="S01-label8"/>
          <p:cNvSpPr txBox="1"/>
          <p:nvPr/>
        </p:nvSpPr>
        <p:spPr>
          <a:xfrm>
            <a:off x="9492996" y="702797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0" name="S01-label10"/>
          <p:cNvSpPr txBox="1"/>
          <p:nvPr/>
        </p:nvSpPr>
        <p:spPr>
          <a:xfrm>
            <a:off x="10100824" y="1093544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1" name="S01-card1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 보기 전에 예상하고, 본 대로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예상과 관찰한 사실을 구별해요.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관찰해요</a:t>
            </a:r>
            <a:endParaRPr lang="ko-KR" sz="4400" dirty="0"/>
          </a:p>
        </p:txBody>
      </p:sp>
      <p:sp>
        <p:nvSpPr>
          <p:cNvPr id="3" name="S02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 크기, 무게를 떠올려요.</a:t>
            </a:r>
            <a:endParaRPr lang="ko-KR" sz="32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귀, 코, 손으로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 수 있나요?</a:t>
            </a:r>
            <a:endParaRPr lang="ko-KR" sz="32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탁구공을 만져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관찰</a:t>
            </a:r>
            <a:endParaRPr lang="ko-KR" sz="44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틀려도 괜찮아요. 결과는 본 대로 써요.</a:t>
            </a:r>
            <a:endParaRPr lang="ko-KR" sz="3200" dirty="0"/>
          </a:p>
        </p:txBody>
      </p:sp>
      <p:sp>
        <p:nvSpPr>
          <p:cNvPr id="5" name="S03-card2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생각한 것</a:t>
            </a:r>
            <a:endParaRPr lang="ko-KR" sz="3200" dirty="0"/>
          </a:p>
        </p:txBody>
      </p:sp>
      <p:sp>
        <p:nvSpPr>
          <p:cNvPr id="7" name="S03-card2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2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사실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알게 된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다를까요?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비에 대해 두 가지 말을 했어요.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‘~것 같아요’, ‘~할 거예요’는 해 보기 전의 생각이에요.</a:t>
            </a:r>
            <a:endParaRPr lang="ko-KR" sz="3200" dirty="0"/>
          </a:p>
        </p:txBody>
      </p:sp>
      <p:sp>
        <p:nvSpPr>
          <p:cNvPr id="7" name="S04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</a:t>
            </a:r>
            <a:endParaRPr lang="ko-KR" sz="2600" dirty="0"/>
          </a:p>
        </p:txBody>
      </p:sp>
      <p:sp>
        <p:nvSpPr>
          <p:cNvPr id="8" name="S04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비가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 것 같아요.”</a:t>
            </a:r>
            <a:endParaRPr lang="ko-KR" sz="3200" dirty="0"/>
          </a:p>
        </p:txBody>
      </p:sp>
      <p:sp>
        <p:nvSpPr>
          <p:cNvPr id="9" name="S04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사실</a:t>
            </a:r>
            <a:endParaRPr lang="ko-KR" sz="2600" dirty="0"/>
          </a:p>
        </p:txBody>
      </p:sp>
      <p:sp>
        <p:nvSpPr>
          <p:cNvPr id="10" name="S04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창밖에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내려요.”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예상일까, 관찰일까?</a:t>
            </a:r>
            <a:endParaRPr lang="ko-KR" sz="4400" dirty="0"/>
          </a:p>
        </p:txBody>
      </p:sp>
      <p:sp>
        <p:nvSpPr>
          <p:cNvPr id="3" name="S05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예상인지 관찰한 사실인지 말해요.</a:t>
            </a:r>
            <a:endParaRPr lang="ko-KR" sz="3200" dirty="0"/>
          </a:p>
        </p:txBody>
      </p:sp>
      <p:sp>
        <p:nvSpPr>
          <p:cNvPr id="4" name="S05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전일까요, 본 뒤일까요?</a:t>
            </a:r>
            <a:endParaRPr lang="ko-KR" sz="3200" dirty="0"/>
          </a:p>
        </p:txBody>
      </p:sp>
      <p:sp>
        <p:nvSpPr>
          <p:cNvPr id="6" name="S05-chip3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꺼내 두면 녹을 거예요.</a:t>
            </a:r>
            <a:endParaRPr lang="ko-KR" sz="3200" dirty="0"/>
          </a:p>
        </p:txBody>
      </p:sp>
      <p:sp>
        <p:nvSpPr>
          <p:cNvPr id="8" name="S05-chip3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 얼음이 작아졌어요.</a:t>
            </a:r>
            <a:endParaRPr lang="ko-KR" sz="3200" dirty="0"/>
          </a:p>
        </p:txBody>
      </p:sp>
      <p:sp>
        <p:nvSpPr>
          <p:cNvPr id="10" name="S05-chip4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4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풍선을 불면 커질 것 같아요.</a:t>
            </a:r>
            <a:endParaRPr lang="ko-KR" sz="3200" dirty="0"/>
          </a:p>
        </p:txBody>
      </p:sp>
      <p:sp>
        <p:nvSpPr>
          <p:cNvPr id="12" name="S05-chip4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4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거품이 하얘요.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뜰까, 가라앉을까?</a:t>
            </a:r>
            <a:endParaRPr lang="ko-KR" sz="4400" dirty="0"/>
          </a:p>
        </p:txBody>
      </p:sp>
      <p:sp>
        <p:nvSpPr>
          <p:cNvPr id="3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 전에 예상과 까닭을 활동지 2에 써요.</a:t>
            </a:r>
            <a:endParaRPr lang="ko-KR" sz="32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1429258"/>
          <a:ext cx="8686800" cy="914400"/>
        </p:xfrm>
        <a:graphic>
          <a:graphicData uri="http://schemas.openxmlformats.org/drawingml/2006/table">
            <a:tbl>
              <a:tblPr/>
              <a:tblGrid>
                <a:gridCol w="4777740"/>
                <a:gridCol w="39090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탁구공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감자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넣어 봐요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흘린 물은 바로 닦아요. 실험한 사과·감자는 먹지 않아요.</a:t>
            </a:r>
            <a:endParaRPr lang="ko-KR" sz="32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하나씩 넣어요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 칸은 고치지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대로 써요</a:t>
            </a:r>
            <a:endParaRPr lang="ko-KR" sz="32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431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4315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물을 반쯤 담아요.</a:t>
            </a:r>
            <a:endParaRPr lang="ko-KR" sz="32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190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1447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물속에 넣고 손을 놓아요.</a:t>
            </a:r>
            <a:endParaRPr lang="ko-KR" sz="32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뜨는지 가라앉는지 봐요.</a:t>
            </a:r>
            <a:endParaRPr lang="ko-KR" sz="32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칸에 본 대로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말해요. 예상과 달랐던 것은?</a:t>
            </a:r>
            <a:endParaRPr lang="ko-KR" sz="3200" dirty="0"/>
          </a:p>
        </p:txBody>
      </p:sp>
      <p:graphicFrame>
        <p:nvGraphicFramePr>
          <p:cNvPr id="9" name="S08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429258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0175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탁구공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감자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기록할까요?</a:t>
            </a:r>
            <a:endParaRPr lang="ko-KR" sz="4400" dirty="0"/>
          </a:p>
        </p:txBody>
      </p:sp>
      <p:sp>
        <p:nvSpPr>
          <p:cNvPr id="3" name="S09-card6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사과 조각이 가라앉을 거라고 예상했는데, 넣어 보니 떴어요.</a:t>
            </a:r>
            <a:endParaRPr lang="ko-KR" sz="3200" dirty="0"/>
          </a:p>
        </p:txBody>
      </p:sp>
      <p:sp>
        <p:nvSpPr>
          <p:cNvPr id="5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기록했나요? 왜 그럴까요?</a:t>
            </a:r>
            <a:endParaRPr lang="ko-KR" sz="3200" dirty="0"/>
          </a:p>
        </p:txBody>
      </p:sp>
      <p:sp>
        <p:nvSpPr>
          <p:cNvPr id="7" name="S09-chip66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7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칸을 지우고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‘뜬다’로 고쳐 써요.</a:t>
            </a:r>
            <a:endParaRPr lang="ko-KR" sz="3200" dirty="0"/>
          </a:p>
        </p:txBody>
      </p:sp>
      <p:sp>
        <p:nvSpPr>
          <p:cNvPr id="9" name="S09-chip68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9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그대로 두고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칸에 ‘떴다’고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200" dirty="0"/>
          </a:p>
        </p:txBody>
      </p:sp>
      <p:sp>
        <p:nvSpPr>
          <p:cNvPr id="5" name="S10-chip7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73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공은 잘 튈 것 같아요.”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예상일까요, 관찰한 사실일까요?</a:t>
            </a:r>
            <a:endParaRPr lang="ko-KR" sz="3200" dirty="0"/>
          </a:p>
        </p:txBody>
      </p:sp>
      <p:sp>
        <p:nvSpPr>
          <p:cNvPr id="7" name="S10-chip7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75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“눌렀던 스펀지가 다시 부풀었어요.”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예상일까요, 관찰한 사실일까요?</a:t>
            </a:r>
            <a:endParaRPr lang="ko-KR" sz="3200" dirty="0"/>
          </a:p>
        </p:txBody>
      </p:sp>
      <p:sp>
        <p:nvSpPr>
          <p:cNvPr id="9" name="S10-chip7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77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병뚜껑으로 혼자 해 봐요.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→ 넣어 보기 → 결과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7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전의 생각은 예상, 직접 본 것은 관찰한 사실이에요.</a:t>
            </a:r>
            <a:endParaRPr lang="ko-KR" sz="3200" dirty="0"/>
          </a:p>
        </p:txBody>
      </p:sp>
      <p:sp>
        <p:nvSpPr>
          <p:cNvPr id="5" name="S11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81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예상</a:t>
            </a:r>
            <a:endParaRPr lang="ko-KR" sz="3200" dirty="0"/>
          </a:p>
        </p:txBody>
      </p:sp>
      <p:sp>
        <p:nvSpPr>
          <p:cNvPr id="7" name="S11-text82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튀겨 보기 전</a:t>
            </a:r>
            <a:endParaRPr lang="ko-KR" sz="2600" dirty="0"/>
          </a:p>
        </p:txBody>
      </p:sp>
      <p:sp>
        <p:nvSpPr>
          <p:cNvPr id="8" name="S11-text83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관찰한 사실</a:t>
            </a:r>
            <a:endParaRPr lang="ko-KR" sz="3200" dirty="0"/>
          </a:p>
        </p:txBody>
      </p:sp>
      <p:sp>
        <p:nvSpPr>
          <p:cNvPr id="9" name="S11-text84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 보고 봤어요</a:t>
            </a:r>
            <a:endParaRPr lang="ko-KR" sz="2600" dirty="0"/>
          </a:p>
        </p:txBody>
      </p:sp>
      <p:sp>
        <p:nvSpPr>
          <p:cNvPr id="10" name="S11-text85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예상 먼저</a:t>
            </a:r>
            <a:endParaRPr lang="ko-KR" sz="3200" dirty="0"/>
          </a:p>
        </p:txBody>
      </p:sp>
      <p:sp>
        <p:nvSpPr>
          <p:cNvPr id="11" name="S11-text86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 본 대로</a:t>
            </a:r>
            <a:endParaRPr lang="ko-KR" sz="2600" dirty="0"/>
          </a:p>
        </p:txBody>
      </p:sp>
      <p:sp>
        <p:nvSpPr>
          <p:cNvPr id="12" name="S11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8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예상</a:t>
            </a:r>
            <a:endParaRPr lang="ko-KR" sz="3200" dirty="0"/>
          </a:p>
        </p:txBody>
      </p:sp>
      <p:sp>
        <p:nvSpPr>
          <p:cNvPr id="14" name="S11-text8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말했어요</a:t>
            </a:r>
            <a:endParaRPr lang="ko-KR" sz="2600" dirty="0"/>
          </a:p>
        </p:txBody>
      </p:sp>
      <p:sp>
        <p:nvSpPr>
          <p:cNvPr id="15" name="S11-text9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넣고 나서 예상</a:t>
            </a:r>
            <a:endParaRPr lang="ko-KR" sz="3200" dirty="0"/>
          </a:p>
        </p:txBody>
      </p:sp>
      <p:sp>
        <p:nvSpPr>
          <p:cNvPr id="16" name="S11-text9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바뀌었어요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 예상하고, 해 본 뒤에는 본 대로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결과가 달라도 괜찮아요.</a:t>
            </a:r>
            <a:endParaRPr lang="ko-KR" sz="3200" dirty="0"/>
          </a:p>
        </p:txBody>
      </p:sp>
      <p:sp>
        <p:nvSpPr>
          <p:cNvPr id="5" name="S12-chip9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예상을 먼저 쓰기</a:t>
            </a:r>
            <a:endParaRPr lang="ko-KR" sz="2600" dirty="0"/>
          </a:p>
        </p:txBody>
      </p:sp>
      <p:sp>
        <p:nvSpPr>
          <p:cNvPr id="6" name="S12-chip9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결과를 보고 예상 고치기</a:t>
            </a:r>
            <a:endParaRPr lang="ko-KR" sz="2600" dirty="0"/>
          </a:p>
        </p:txBody>
      </p:sp>
      <p:sp>
        <p:nvSpPr>
          <p:cNvPr id="7" name="S12-text9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‘예상’은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무엇일까요?</a:t>
            </a:r>
            <a:endParaRPr lang="ko-KR" sz="2600" dirty="0"/>
          </a:p>
        </p:txBody>
      </p:sp>
      <p:sp>
        <p:nvSpPr>
          <p:cNvPr id="9" name="S12-text9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“얼음이 녹았어요.”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예상? 관찰?</a:t>
            </a:r>
            <a:endParaRPr lang="ko-KR" sz="2600" dirty="0"/>
          </a:p>
        </p:txBody>
      </p:sp>
      <p:sp>
        <p:nvSpPr>
          <p:cNvPr id="10" name="S12-text9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예상이 틀리면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2600" dirty="0"/>
          </a:p>
        </p:txBody>
      </p:sp>
      <p:sp>
        <p:nvSpPr>
          <p:cNvPr id="11" name="S12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시간 관리와 집안일 나누기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귤 관찰하기</a:t>
            </a:r>
            <a:endParaRPr lang="ko-KR" sz="4400" dirty="0"/>
          </a:p>
        </p:txBody>
      </p:sp>
      <p:sp>
        <p:nvSpPr>
          <p:cNvPr id="3" name="S13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맡고, 만지고, 들은 것이 관찰한 사실이에요.</a:t>
            </a:r>
            <a:endParaRPr lang="ko-KR" sz="3200" dirty="0"/>
          </a:p>
        </p:txBody>
      </p:sp>
      <p:sp>
        <p:nvSpPr>
          <p:cNvPr id="5" name="S13-card103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04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</a:t>
            </a:r>
            <a:endParaRPr lang="ko-KR" sz="3200" dirty="0"/>
          </a:p>
        </p:txBody>
      </p:sp>
      <p:sp>
        <p:nvSpPr>
          <p:cNvPr id="7" name="S13-card105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06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9" name="S13-card107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08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느낌, 무게</a:t>
            </a:r>
            <a:endParaRPr lang="ko-KR" sz="3200" dirty="0"/>
          </a:p>
        </p:txBody>
      </p:sp>
      <p:sp>
        <p:nvSpPr>
          <p:cNvPr id="11" name="S13-card109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110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두드린 소리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예상과 관찰</dc:title>
  <dc:subject>KR22-G02-SCI-PREDICT-L01</dc:subject>
  <dc:creator>education-ppt</dc:creator>
  <cp:lastModifiedBy>education-ppt</cp:lastModifiedBy>
  <cp:revision>1</cp:revision>
  <dcterms:created xsi:type="dcterms:W3CDTF">2026-10-26T13:22:48Z</dcterms:created>
  <dcterms:modified xsi:type="dcterms:W3CDTF">2026-10-26T13:22:48Z</dcterms:modified>
</cp:coreProperties>
</file>