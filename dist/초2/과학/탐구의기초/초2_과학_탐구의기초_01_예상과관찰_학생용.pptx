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792ac68-aeea-9e72-1f60-bedd2547b29c}">
          <p14:sldIdLst>
            <p14:sldId id="256"/>
            <p14:sldId id="257"/>
          </p14:sldIdLst>
        </p14:section>
        <p14:section name="개념" id="{02c50a2f-245f-6b84-2799-5978be0f3fa7}">
          <p14:sldIdLst>
            <p14:sldId id="258"/>
            <p14:sldId id="259"/>
            <p14:sldId id="261"/>
          </p14:sldIdLst>
        </p14:section>
        <p14:section name="연습" id="{0135cf38-966f-9539-fa7d-22bfef7e80c9}">
          <p14:sldIdLst>
            <p14:sldId id="260"/>
            <p14:sldId id="262"/>
            <p14:sldId id="263"/>
            <p14:sldId id="264"/>
          </p14:sldIdLst>
        </p14:section>
        <p14:section name="개념" id="{1ca2d224-5a42-1129-3ba6-22162a70f28a}">
          <p14:sldIdLst/>
        </p14:section>
        <p14:section name="연습" id="{21ddf19f-382d-1bef-6d07-f4b39d5b08ea}">
          <p14:sldIdLst/>
        </p14:section>
        <p14:section name="확인" id="{7d468c2d-176c-c444-94fa-bbe4a56af40c}">
          <p14:sldIdLst>
            <p14:sldId id="265"/>
          </p14:sldIdLst>
        </p14:section>
        <p14:section name="정리" id="{e30d3e7a-5759-d7af-5f6a-1c33fb3fce17}">
          <p14:sldIdLst>
            <p14:sldId id="266"/>
          </p14:sldIdLst>
        </p14:section>
        <p14:section name="보충" id="{40bb276d-2f71-5e80-9ca6-0069aaffc9a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탐구의기초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예상과 관찰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예상과 관찰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과학 · 예상과 관찰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관찰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넣으면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뜰까, 가라앉을까?</a:t>
            </a:r>
            <a:endParaRPr lang="ko-KR" sz="32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물이 반쯤 담긴 그릇 위에 물음표 세 개"/>
          <p:cNvSpPr/>
          <p:nvPr/>
        </p:nvSpPr>
        <p:spPr>
          <a:xfrm>
            <a:off x="8040518" y="2168244"/>
            <a:ext cx="3212805" cy="1128823"/>
          </a:xfrm>
          <a:custGeom>
            <a:avLst/>
            <a:gdLst/>
            <a:ahLst/>
            <a:cxnLst/>
            <a:rect l="l" t="t" r="r" b="b"/>
            <a:pathLst>
              <a:path w="3212805" h="1128823">
                <a:moveTo>
                  <a:pt x="0" y="0"/>
                </a:moveTo>
                <a:lnTo>
                  <a:pt x="260498" y="1128823"/>
                </a:lnTo>
                <a:lnTo>
                  <a:pt x="2952307" y="1128823"/>
                </a:lnTo>
                <a:lnTo>
                  <a:pt x="3212805" y="0"/>
                </a:lnTo>
                <a:close/>
              </a:path>
            </a:pathLst>
          </a:custGeom>
          <a:solidFill>
            <a:srgbClr val="BFDBFE"/>
          </a:solidFill>
          <a:ln/>
        </p:spPr>
      </p:sp>
      <p:sp>
        <p:nvSpPr>
          <p:cNvPr id="6" name="S01-mark3"/>
          <p:cNvSpPr/>
          <p:nvPr/>
        </p:nvSpPr>
        <p:spPr>
          <a:xfrm>
            <a:off x="7780020" y="1039421"/>
            <a:ext cx="3733800" cy="2257647"/>
          </a:xfrm>
          <a:custGeom>
            <a:avLst/>
            <a:gdLst/>
            <a:ahLst/>
            <a:cxnLst/>
            <a:rect l="l" t="t" r="r" b="b"/>
            <a:pathLst>
              <a:path w="3733800" h="2257647">
                <a:moveTo>
                  <a:pt x="0" y="0"/>
                </a:moveTo>
                <a:lnTo>
                  <a:pt x="520995" y="2257647"/>
                </a:lnTo>
                <a:lnTo>
                  <a:pt x="3212805" y="2257647"/>
                </a:lnTo>
                <a:lnTo>
                  <a:pt x="3733800" y="0"/>
                </a:lnTo>
              </a:path>
            </a:pathLst>
          </a:custGeom>
          <a:noFill/>
          <a:ln w="3810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040518" y="2168244"/>
            <a:ext cx="3212805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8" name="S01-label6"/>
          <p:cNvSpPr txBox="1"/>
          <p:nvPr/>
        </p:nvSpPr>
        <p:spPr>
          <a:xfrm>
            <a:off x="8885168" y="1093544"/>
            <a:ext cx="30784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600" dirty="0"/>
          </a:p>
        </p:txBody>
      </p:sp>
      <p:sp>
        <p:nvSpPr>
          <p:cNvPr id="9" name="S01-label8"/>
          <p:cNvSpPr txBox="1"/>
          <p:nvPr/>
        </p:nvSpPr>
        <p:spPr>
          <a:xfrm>
            <a:off x="9492996" y="702797"/>
            <a:ext cx="30784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600" dirty="0"/>
          </a:p>
        </p:txBody>
      </p:sp>
      <p:sp>
        <p:nvSpPr>
          <p:cNvPr id="10" name="S01-label10"/>
          <p:cNvSpPr txBox="1"/>
          <p:nvPr/>
        </p:nvSpPr>
        <p:spPr>
          <a:xfrm>
            <a:off x="10100824" y="1093544"/>
            <a:ext cx="30784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600" dirty="0"/>
          </a:p>
        </p:txBody>
      </p:sp>
      <p:sp>
        <p:nvSpPr>
          <p:cNvPr id="11" name="S01-card1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1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해 보기 전에 예상하고, 본 대로 기록해요.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예상과 관찰한 사실을 구별해요.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몸으로 관찰해요</a:t>
            </a:r>
            <a:endParaRPr lang="ko-KR" sz="4400" dirty="0"/>
          </a:p>
        </p:txBody>
      </p:sp>
      <p:sp>
        <p:nvSpPr>
          <p:cNvPr id="3" name="S02-card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2-cardtext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색, 모양, 크기, 무게를 떠올려요.</a:t>
            </a:r>
            <a:endParaRPr lang="ko-KR" sz="3200" dirty="0"/>
          </a:p>
        </p:txBody>
      </p:sp>
      <p:sp>
        <p:nvSpPr>
          <p:cNvPr id="5" name="S02-chip1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2-text1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눈, 귀, 코, 손으로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알 수 있나요?</a:t>
            </a:r>
            <a:endParaRPr lang="ko-KR" sz="3200" dirty="0"/>
          </a:p>
        </p:txBody>
      </p:sp>
      <p:sp>
        <p:nvSpPr>
          <p:cNvPr id="7" name="S02-chip17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2-text18"/>
          <p:cNvSpPr txBox="1"/>
          <p:nvPr/>
        </p:nvSpPr>
        <p:spPr>
          <a:xfrm>
            <a:off x="1344168" y="33147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탁구공을 만져 보고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가지를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관찰</a:t>
            </a:r>
            <a:endParaRPr lang="ko-KR" sz="4400" dirty="0"/>
          </a:p>
        </p:txBody>
      </p:sp>
      <p:sp>
        <p:nvSpPr>
          <p:cNvPr id="3" name="S03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틀려도 괜찮아요. 결과는 본 대로 써요.</a:t>
            </a:r>
            <a:endParaRPr lang="ko-KR" sz="3200" dirty="0"/>
          </a:p>
        </p:txBody>
      </p:sp>
      <p:sp>
        <p:nvSpPr>
          <p:cNvPr id="5" name="S03-card21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2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보기 전에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생각한 것</a:t>
            </a:r>
            <a:endParaRPr lang="ko-KR" sz="3200" dirty="0"/>
          </a:p>
        </p:txBody>
      </p:sp>
      <p:sp>
        <p:nvSpPr>
          <p:cNvPr id="7" name="S03-card23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24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관찰한 사실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보고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알게 된 것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다를까요?</a:t>
            </a:r>
            <a:endParaRPr lang="ko-KR" sz="4400" dirty="0"/>
          </a:p>
        </p:txBody>
      </p:sp>
      <p:sp>
        <p:nvSpPr>
          <p:cNvPr id="3" name="S04-card2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비에 대해 두 가지 말을 했어요.</a:t>
            </a:r>
            <a:endParaRPr lang="ko-KR" sz="3200" dirty="0"/>
          </a:p>
        </p:txBody>
      </p:sp>
      <p:sp>
        <p:nvSpPr>
          <p:cNvPr id="5" name="S04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‘~것 같아요’, ‘~할 거예요’는 해 보기 전의 생각이에요.</a:t>
            </a:r>
            <a:endParaRPr lang="ko-KR" sz="3200" dirty="0"/>
          </a:p>
        </p:txBody>
      </p:sp>
      <p:sp>
        <p:nvSpPr>
          <p:cNvPr id="7" name="S04-chip2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</a:t>
            </a:r>
            <a:endParaRPr lang="ko-KR" sz="2600" dirty="0"/>
          </a:p>
        </p:txBody>
      </p:sp>
      <p:sp>
        <p:nvSpPr>
          <p:cNvPr id="8" name="S04-text3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“내일 비가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 것 같아요.”</a:t>
            </a:r>
            <a:endParaRPr lang="ko-KR" sz="3200" dirty="0"/>
          </a:p>
        </p:txBody>
      </p:sp>
      <p:sp>
        <p:nvSpPr>
          <p:cNvPr id="9" name="S04-chip3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관찰한 사실</a:t>
            </a:r>
            <a:endParaRPr lang="ko-KR" sz="2600" dirty="0"/>
          </a:p>
        </p:txBody>
      </p:sp>
      <p:sp>
        <p:nvSpPr>
          <p:cNvPr id="10" name="S04-text3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“지금 창밖에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내려요.”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예상일까, 관찰일까?</a:t>
            </a:r>
            <a:endParaRPr lang="ko-KR" sz="4400" dirty="0"/>
          </a:p>
        </p:txBody>
      </p:sp>
      <p:sp>
        <p:nvSpPr>
          <p:cNvPr id="3" name="S05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예상인지 관찰한 사실인지 말해요.</a:t>
            </a:r>
            <a:endParaRPr lang="ko-KR" sz="3200" dirty="0"/>
          </a:p>
        </p:txBody>
      </p:sp>
      <p:sp>
        <p:nvSpPr>
          <p:cNvPr id="4" name="S05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보기 전일까요, 본 뒤일까요?</a:t>
            </a:r>
            <a:endParaRPr lang="ko-KR" sz="3200" dirty="0"/>
          </a:p>
        </p:txBody>
      </p:sp>
      <p:sp>
        <p:nvSpPr>
          <p:cNvPr id="6" name="S05-chip3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3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얼음을 꺼내 두면 녹을 거예요.</a:t>
            </a:r>
            <a:endParaRPr lang="ko-KR" sz="3200" dirty="0"/>
          </a:p>
        </p:txBody>
      </p:sp>
      <p:sp>
        <p:nvSpPr>
          <p:cNvPr id="8" name="S05-chip3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3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 위 얼음이 작아졌어요.</a:t>
            </a:r>
            <a:endParaRPr lang="ko-KR" sz="3200" dirty="0"/>
          </a:p>
        </p:txBody>
      </p:sp>
      <p:sp>
        <p:nvSpPr>
          <p:cNvPr id="10" name="S05-chip4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4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풍선을 불면 커질 것 같아요.</a:t>
            </a:r>
            <a:endParaRPr lang="ko-KR" sz="3200" dirty="0"/>
          </a:p>
        </p:txBody>
      </p:sp>
      <p:sp>
        <p:nvSpPr>
          <p:cNvPr id="12" name="S05-chip4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5-text4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 거품이 하얘요.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뜰까, 가라앉을까?</a:t>
            </a:r>
            <a:endParaRPr lang="ko-KR" sz="4400" dirty="0"/>
          </a:p>
        </p:txBody>
      </p:sp>
      <p:sp>
        <p:nvSpPr>
          <p:cNvPr id="3" name="S06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넣기 전에 예상과 까닭을 활동지 2에 써요.</a:t>
            </a:r>
            <a:endParaRPr lang="ko-KR" sz="3200" dirty="0"/>
          </a:p>
        </p:txBody>
      </p:sp>
      <p:graphicFrame>
        <p:nvGraphicFramePr>
          <p:cNvPr id="7" name="S06-table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51076" y="1429258"/>
          <a:ext cx="8686800" cy="914400"/>
        </p:xfrm>
        <a:graphic>
          <a:graphicData uri="http://schemas.openxmlformats.org/drawingml/2006/table">
            <a:tbl>
              <a:tblPr/>
              <a:tblGrid>
                <a:gridCol w="4777740"/>
                <a:gridCol w="39090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탁구공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100원짜리 동전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나무젓가락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쇠 클립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사과 조각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감자 조각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 넣어 봐요</a:t>
            </a:r>
            <a:endParaRPr lang="ko-KR" sz="4400" dirty="0"/>
          </a:p>
        </p:txBody>
      </p:sp>
      <p:sp>
        <p:nvSpPr>
          <p:cNvPr id="3" name="S07-card47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8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흘린 물은 바로 닦아요. 실험한 사과·감자는 먹지 않아요.</a:t>
            </a:r>
            <a:endParaRPr lang="ko-KR" sz="3200" dirty="0"/>
          </a:p>
        </p:txBody>
      </p:sp>
      <p:sp>
        <p:nvSpPr>
          <p:cNvPr id="5" name="S07-card49"/>
          <p:cNvSpPr/>
          <p:nvPr/>
        </p:nvSpPr>
        <p:spPr>
          <a:xfrm>
            <a:off x="6813652" y="1325880"/>
            <a:ext cx="4826660" cy="3342640"/>
          </a:xfrm>
          <a:prstGeom prst="roundRect">
            <a:avLst>
              <a:gd name="adj" fmla="val 328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0"/>
          <p:cNvSpPr txBox="1"/>
          <p:nvPr/>
        </p:nvSpPr>
        <p:spPr>
          <a:xfrm>
            <a:off x="7087972" y="1463040"/>
            <a:ext cx="4278020" cy="306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하나씩 넣어요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 칸은 고치지 않아요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대로 써요</a:t>
            </a:r>
            <a:endParaRPr lang="ko-KR" sz="3200" dirty="0"/>
          </a:p>
        </p:txBody>
      </p:sp>
      <p:sp>
        <p:nvSpPr>
          <p:cNvPr id="7" name="S07-stepno51"/>
          <p:cNvSpPr txBox="1"/>
          <p:nvPr/>
        </p:nvSpPr>
        <p:spPr>
          <a:xfrm>
            <a:off x="548640" y="14315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52"/>
          <p:cNvSpPr txBox="1"/>
          <p:nvPr/>
        </p:nvSpPr>
        <p:spPr>
          <a:xfrm>
            <a:off x="1325880" y="143154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그릇에 물을 반쯤 담아요.</a:t>
            </a:r>
            <a:endParaRPr lang="ko-KR" sz="3200" dirty="0"/>
          </a:p>
        </p:txBody>
      </p:sp>
      <p:sp>
        <p:nvSpPr>
          <p:cNvPr id="9" name="S07-stepno53"/>
          <p:cNvSpPr txBox="1"/>
          <p:nvPr/>
        </p:nvSpPr>
        <p:spPr>
          <a:xfrm>
            <a:off x="548640" y="21904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54"/>
          <p:cNvSpPr txBox="1"/>
          <p:nvPr/>
        </p:nvSpPr>
        <p:spPr>
          <a:xfrm>
            <a:off x="1325880" y="214477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물속에 넣고 손을 놓아요.</a:t>
            </a:r>
            <a:endParaRPr lang="ko-KR" sz="3200" dirty="0"/>
          </a:p>
        </p:txBody>
      </p:sp>
      <p:sp>
        <p:nvSpPr>
          <p:cNvPr id="11" name="S07-stepno55"/>
          <p:cNvSpPr txBox="1"/>
          <p:nvPr/>
        </p:nvSpPr>
        <p:spPr>
          <a:xfrm>
            <a:off x="548640" y="33009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56"/>
          <p:cNvSpPr txBox="1"/>
          <p:nvPr/>
        </p:nvSpPr>
        <p:spPr>
          <a:xfrm>
            <a:off x="1325880" y="330098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뜨는지 가라앉는지 봐요.</a:t>
            </a:r>
            <a:endParaRPr lang="ko-KR" sz="3200" dirty="0"/>
          </a:p>
        </p:txBody>
      </p:sp>
      <p:sp>
        <p:nvSpPr>
          <p:cNvPr id="13" name="S07-stepno57"/>
          <p:cNvSpPr txBox="1"/>
          <p:nvPr/>
        </p:nvSpPr>
        <p:spPr>
          <a:xfrm>
            <a:off x="548640" y="40142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7-text58"/>
          <p:cNvSpPr txBox="1"/>
          <p:nvPr/>
        </p:nvSpPr>
        <p:spPr>
          <a:xfrm>
            <a:off x="1325880" y="401421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칸에 본 대로 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400" dirty="0"/>
          </a:p>
        </p:txBody>
      </p:sp>
      <p:sp>
        <p:nvSpPr>
          <p:cNvPr id="3" name="S08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말해요. 예상과 달랐던 것은?</a:t>
            </a:r>
            <a:endParaRPr lang="ko-KR" sz="3200" dirty="0"/>
          </a:p>
        </p:txBody>
      </p:sp>
      <p:graphicFrame>
        <p:nvGraphicFramePr>
          <p:cNvPr id="9" name="S08-table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1429258"/>
          <a:ext cx="10058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017520"/>
                <a:gridCol w="301752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탁구공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100원짜리 동전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나무젓가락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쇠 클립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사과 조각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감자 조각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기록할까요?</a:t>
            </a:r>
            <a:endParaRPr lang="ko-KR" sz="4400" dirty="0"/>
          </a:p>
        </p:txBody>
      </p:sp>
      <p:sp>
        <p:nvSpPr>
          <p:cNvPr id="3" name="S09-card62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3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지호는 사과 조각이 가라앉을 거라고 예상했는데, 넣어 보니 떴어요.</a:t>
            </a:r>
            <a:endParaRPr lang="ko-KR" sz="3200" dirty="0"/>
          </a:p>
        </p:txBody>
      </p:sp>
      <p:sp>
        <p:nvSpPr>
          <p:cNvPr id="5" name="S09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바르게 기록했나요? 왜 그럴까요?</a:t>
            </a:r>
            <a:endParaRPr lang="ko-KR" sz="3200" dirty="0"/>
          </a:p>
        </p:txBody>
      </p:sp>
      <p:sp>
        <p:nvSpPr>
          <p:cNvPr id="7" name="S09-chip66"/>
          <p:cNvSpPr txBox="1"/>
          <p:nvPr/>
        </p:nvSpPr>
        <p:spPr>
          <a:xfrm>
            <a:off x="548640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9-text67"/>
          <p:cNvSpPr txBox="1"/>
          <p:nvPr/>
        </p:nvSpPr>
        <p:spPr>
          <a:xfrm>
            <a:off x="548640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칸을 지우고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‘뜬다’로 고쳐 써요.</a:t>
            </a:r>
            <a:endParaRPr lang="ko-KR" sz="3200" dirty="0"/>
          </a:p>
        </p:txBody>
      </p:sp>
      <p:sp>
        <p:nvSpPr>
          <p:cNvPr id="9" name="S09-chip68"/>
          <p:cNvSpPr txBox="1"/>
          <p:nvPr/>
        </p:nvSpPr>
        <p:spPr>
          <a:xfrm>
            <a:off x="6277356" y="28752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9-text69"/>
          <p:cNvSpPr txBox="1"/>
          <p:nvPr/>
        </p:nvSpPr>
        <p:spPr>
          <a:xfrm>
            <a:off x="6277356" y="3606800"/>
            <a:ext cx="5362956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그대로 두고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칸에 ‘떴다’고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생각한 까닭도 말해요.</a:t>
            </a:r>
            <a:endParaRPr lang="ko-KR" sz="3200" dirty="0"/>
          </a:p>
        </p:txBody>
      </p:sp>
      <p:sp>
        <p:nvSpPr>
          <p:cNvPr id="5" name="S10-chip72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0-text73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공은 잘 튈 것 같아요.”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예상일까요, 관찰한 사실일까요?</a:t>
            </a:r>
            <a:endParaRPr lang="ko-KR" sz="3200" dirty="0"/>
          </a:p>
        </p:txBody>
      </p:sp>
      <p:sp>
        <p:nvSpPr>
          <p:cNvPr id="7" name="S10-chip74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0-text75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“눌렀던 스펀지가 다시 부풀었어요.”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예상일까요, 관찰한 사실일까요?</a:t>
            </a:r>
            <a:endParaRPr lang="ko-KR" sz="3200" dirty="0"/>
          </a:p>
        </p:txBody>
      </p:sp>
      <p:sp>
        <p:nvSpPr>
          <p:cNvPr id="9" name="S10-chip76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10-text77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병뚜껑으로 혼자 해 봐요.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→ 넣어 보기 → 결과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78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79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보기 전에 예상하고, 해 본 뒤에는 본 대로 써요.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결과가 달라도 괜찮아요.</a:t>
            </a:r>
            <a:endParaRPr lang="ko-KR" sz="3200" dirty="0"/>
          </a:p>
        </p:txBody>
      </p:sp>
      <p:sp>
        <p:nvSpPr>
          <p:cNvPr id="5" name="S12-chip80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예상을 먼저 쓰기</a:t>
            </a:r>
            <a:endParaRPr lang="ko-KR" sz="2600" dirty="0"/>
          </a:p>
        </p:txBody>
      </p:sp>
      <p:sp>
        <p:nvSpPr>
          <p:cNvPr id="6" name="S12-chip81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결과를 보고 예상 고치기</a:t>
            </a:r>
            <a:endParaRPr lang="ko-KR" sz="2600" dirty="0"/>
          </a:p>
        </p:txBody>
      </p:sp>
      <p:sp>
        <p:nvSpPr>
          <p:cNvPr id="7" name="S12-text82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83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‘예상’은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무엇일까요?</a:t>
            </a:r>
            <a:endParaRPr lang="ko-KR" sz="2600" dirty="0"/>
          </a:p>
        </p:txBody>
      </p:sp>
      <p:sp>
        <p:nvSpPr>
          <p:cNvPr id="9" name="S12-text84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“얼음이 녹았어요.”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예상? 관찰?</a:t>
            </a:r>
            <a:endParaRPr lang="ko-KR" sz="2600" dirty="0"/>
          </a:p>
        </p:txBody>
      </p:sp>
      <p:sp>
        <p:nvSpPr>
          <p:cNvPr id="10" name="S12-text85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예상이 틀리면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할까요?</a:t>
            </a:r>
            <a:endParaRPr lang="ko-KR" sz="2600" dirty="0"/>
          </a:p>
        </p:txBody>
      </p:sp>
      <p:sp>
        <p:nvSpPr>
          <p:cNvPr id="11" name="S12-text8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시간 관리와 집안일 나누기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귤 관찰하기</a:t>
            </a:r>
            <a:endParaRPr lang="ko-KR" sz="4400" dirty="0"/>
          </a:p>
        </p:txBody>
      </p:sp>
      <p:sp>
        <p:nvSpPr>
          <p:cNvPr id="3" name="S13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보고, 맡고, 만지고, 들은 것이 관찰한 사실이에요.</a:t>
            </a:r>
            <a:endParaRPr lang="ko-KR" sz="3200" dirty="0"/>
          </a:p>
        </p:txBody>
      </p:sp>
      <p:sp>
        <p:nvSpPr>
          <p:cNvPr id="5" name="S13-card89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3-cardtext90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색, 모양</a:t>
            </a:r>
            <a:endParaRPr lang="ko-KR" sz="3200" dirty="0"/>
          </a:p>
        </p:txBody>
      </p:sp>
      <p:sp>
        <p:nvSpPr>
          <p:cNvPr id="7" name="S13-card91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92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냄새</a:t>
            </a:r>
            <a:endParaRPr lang="ko-KR" sz="3200" dirty="0"/>
          </a:p>
        </p:txBody>
      </p:sp>
      <p:sp>
        <p:nvSpPr>
          <p:cNvPr id="9" name="S13-card93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94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느낌, 무게</a:t>
            </a:r>
            <a:endParaRPr lang="ko-KR" sz="3200" dirty="0"/>
          </a:p>
        </p:txBody>
      </p:sp>
      <p:sp>
        <p:nvSpPr>
          <p:cNvPr id="11" name="S13-card95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3-cardtext96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두드린 소리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과학 예상과 관찰</dc:title>
  <dc:subject>KR22-G02-SCI-PREDICT-L01</dc:subject>
  <dc:creator>education-ppt</dc:creator>
  <cp:lastModifiedBy>education-ppt</cp:lastModifiedBy>
  <cp:revision>1</cp:revision>
  <dcterms:created xsi:type="dcterms:W3CDTF">2026-10-26T13:16:01Z</dcterms:created>
  <dcterms:modified xsi:type="dcterms:W3CDTF">2026-10-26T13:16:01Z</dcterms:modified>
</cp:coreProperties>
</file>