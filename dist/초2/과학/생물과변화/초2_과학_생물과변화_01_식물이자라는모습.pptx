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1b9fcf0-3431-9c77-9a4d-0b43b65a1ddb}">
          <p14:sldIdLst>
            <p14:sldId id="256"/>
            <p14:sldId id="257"/>
          </p14:sldIdLst>
        </p14:section>
        <p14:section name="개념" id="{cb575a62-1500-ab26-821e-ad5cb591474c}">
          <p14:sldIdLst>
            <p14:sldId id="258"/>
            <p14:sldId id="259"/>
            <p14:sldId id="261"/>
          </p14:sldIdLst>
        </p14:section>
        <p14:section name="연습" id="{f752e26c-62a6-23ab-fae0-63ae56f53d61}">
          <p14:sldIdLst>
            <p14:sldId id="260"/>
            <p14:sldId id="262"/>
            <p14:sldId id="263"/>
          </p14:sldIdLst>
        </p14:section>
        <p14:section name="개념" id="{9af6aff3-2aa8-d777-0d59-21f63fb82b5a}">
          <p14:sldIdLst/>
        </p14:section>
        <p14:section name="연습" id="{6fd213a6-dbb8-602f-dd24-889d3c386ee1}">
          <p14:sldIdLst/>
        </p14:section>
        <p14:section name="확인" id="{e191e824-0475-d93f-21bd-8347cb3c6c57}">
          <p14:sldIdLst>
            <p14:sldId id="264"/>
            <p14:sldId id="265"/>
          </p14:sldIdLst>
        </p14:section>
        <p14:section name="정리" id="{f1f36335-27e4-6cad-04ec-fe707394c5fc}">
          <p14:sldIdLst>
            <p14:sldId id="266"/>
          </p14:sldIdLst>
        </p14:section>
        <p14:section name="보충" id="{034b975a-9589-d736-ad6e-1e3195449c1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콩나물을 직접 길러 일주일 동안 기록하고, 기록을 비교해 식물이 자라는 모습을 알아보는 수업이라는 것을 알립니다.
시간: 약 2분
이렇게 말해 보세요
- “밥상에 나오는 콩나물은 무엇에서 자랄까?”
- “오늘은 콩나물을 직접 기르기 시작할 거야. 일주일 동안 날마다 그림과 길이를 기록하고, 무엇이 달라졌는지 비교해 보자.”
예상 답
- “콩에서 자라요.” / “땅에서요.” / “몰라요.”
막히면
- 떠올리기 어려우면 불린 콩을 손바닥에 올려 주고 “이 콩이 콩나물이 된대. 어떻게 될까?” 하고 묻습니다.
주의
- 수업 전날 밤 콩나물 콩(나물콩) 한 줌을 물에 담가 불려 둡니다. 마트나 시장에서 ‘나물콩’, ‘콩나물 콩’으로 팝니다.
- 바닥에 구멍을 낸 컵(또는 페트병 아랫부분)은 부모가 미리 만들어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확인(길이 비교, 자로 재기)]
목적: 콩나물의 길이를 기록하고 비교하려면 길이를 견주고 자로 cm를 읽을 수 있어야 합니다. 이 차시는 계획상 선수 차시가 없으므로 1학년 수학 ‘길이와 높이 비교’, 2학년 수학 ‘길이 재기’에서 배운 것을 확인합니다.
시간: 약 3분
이렇게 말해 보세요
- “① 두 막대 중 어느 것이 더 길어? 어떻게 알았어?”
- “② 가의 한쪽 끝은 0에 있어. 다른 끝은 어느 눈금이야?”
- “③ 나는 몇 cm야?”
정답
- ① 나(한쪽 끝이 0으로 맞춰져 있고, 나의 다른 끝이 더 멀리 있음)
- ② 3 cm
- ③ 6 cm
막히면
- ②③이 어려우면 S12(보충)를 먼저 합니다. 보충으로도 어려우면 2학년 수학 ‘길이 재기’(KR22-G02-MAT-CM-L01)를 먼저 하고, 그동안 기록표의 길이 칸은 비워 두고 그림과 말로 기록합니다.
주의
- 단위 cm를 붙여 말하는지 봅니다. “3이요.”라고 하면 “3 무엇?” 하고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관찰 기록에 쓰는 것]
목적: 식물이 자라는 모습을 기록할 때 쓰는 네 가지(날짜, 그림, 길이, 달라진 점)와 그 까닭을 알려 줍니다(목표 A).
시간: 약 3분
이렇게 말해 보세요
- “관찰 기록에는 이 네 가지를 써. 날짜를 쓰면 언제 본 것인지 알 수 있어.”
- “그림은 잘 그리는 것보다 본 대로 그리는 게 중요해. 길이는 자로 재서 cm를 붙여 써.”
- “달라진 점에는 어제와 다른 것을 써. 아주 작은 변화도 괜찮아.”
예상 답
- “날짜를 안 쓰면 언제인지 몰라요.” / “길이를 재면 얼마나 컸는지 알아요.”
막히면
- “어제 본 것과 오늘 본 것을 비교하려면 무엇이 필요할까?”라고 물어 날짜와 길이의 쓸모를 떠올리게 합니다.
주의
- 날마다 같은 때(예: 아침 먹고 나서)에 기록해야 하루 동안 얼마나 자랐는지 비교할 수 있습니다.
- ‘달라진 점’에 작은 변화(뿌리가 조금 나왔어요, 껍질이 벗겨졌어요)도 쓰게 합니다(오해 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예상하기(콩나물이 자라는 모습)]
목적: 기르기 전에 콩나물이 자라는 모습을 예상하게 합니다. 결과는 아이가 기르면서 직접 확인합니다(목표 A).
시간: 약 2분
이렇게 말해 보세요
- “콩에서 무엇이 먼저 나올 것 같아? 뿌리일까, 잎일까? 왜 그렇게 생각해?”
- “일주일 뒤에는 몇 cm쯤 될까? 손가락으로 길이를 보여 줘도 돼.”
- “활동지 1의 ‘내 예상’ 칸에 쓰자. 결과 칸은 기르면서 채울 거야.”
예상 답
- “잎이 먼저 나올 것 같아요.” / “10 cm요.” / “껍질이 그대로 있을 것 같아요.”(틀린 예상이어도 그대로 씁니다)
막히면
- 쓰기가 어려우면 아이가 말하고 부모가 받아 적습니다.
주의
- 결과를 알려 주지 않습니다. 아이가 기르면서 직접 보고 결과 칸에 쓰게 합니다.
- 부모용 참고(아이에게 미리 말하지 않음): 보통 하루 이틀 안에 하얀 뿌리가 먼저 나오고, 자라면서 콩 껍질이 벗겨져 떨어집니다. 일주일 뒤 길이는 온도와 물 주기에 따라 많이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콩나물 기르기 시작과 첫 기록]
목적: 콩나물 기르기를 시작하고, 일주일 동안 쓸 관찰 기록표(활동지 4)의 첫 줄을 씁니다(목표 A).
시간: 약 9분
이렇게 말해 보세요
- “불린 콩을 자세히 봐. 크기는? 색은? 본 대로 기록표 첫 줄 그림 칸에 그려 보자.”
- “구멍 난 컵에 콩이 겹치지 않게 한 겹으로 깔아 볼래?”
- “콩나물은 어두운 곳에서 길러. 검은 천으로 덮어 두자.”
- “물을 부으면 구멍으로 빠져나가지? 하루에 서너 번 이렇게 물을 줄 거야.”
예상 답
- “콩이 물을 먹어서 커졌어요.” / “껍질이 쭈글쭈글해요.” / 아이가 날짜를 쓰고 불린 콩을 그립니다.
정답
- 관찰 기준 세 가지를 지키면 연습 완료입니다. 첫 줄의 길이 칸은 ‘0’ 또는 비워 두고, 달라진 점에는 ‘콩을 컵에 넣었어요’처럼 씁니다.
막히면
- 그림이 어렵다고 하면 “콩 하나만 크게 그려 보자.”라고 줄여 줍니다.
- 나물콩이 없으면 녹두로 숙주나물을 길러도 됩니다. 기르는 방법과 기록 방법은 같습니다.
주의
- 안전: 컵이나 페트병에 구멍을 내거나 자르는 일은 부모가 합니다. 날콩과 기르는 콩나물은 맛보지 않고, 만진 뒤 손을 씻습니다.
- 받침 접시에 고인 물은 버립니다. 물이 고여 있으면 콩이 썩을 수 있습니다. 물을 줄 때만 천을 잠깐 걷습니다.
- 따뜻한 곳에서 잘 자랍니다. 기록은 날마다 같은 때에 하고, 길이를 잴 때는 콩나물 한 가닥을 꺼내 곧게 펴서 잽니다(S08).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관찰 기록 읽기(파 다시 기르기 예시)]
목적: 다른 식물(파)의 관찰 기록을 읽으며, 날짜와 길이가 있으면 식물이 자란 모습을 비교할 수 있다는 것을 알려 줍니다(목표 B, 오해 M1).
시간: 약 3분
이렇게 말해 보세요
- “서윤이는 파 밑동을 물에 꽂아 두고 이틀마다 기록했어. 10월 6일에는 무엇이 달라졌대?”
- “잎의 길이는 어떻게 바뀌었어? 날마다 똑같이 자랐을까?”
예상 답
- “새 잎이 나왔어요.” / “0 cm, 2 cm, 5 cm, 8 cm로 점점 길어졌어요.”
막히면
- 표를 한 줄씩 손가락으로 짚으며 부모가 읽어 주고, 날짜와 길이만 아이가 따라 읽게 합니다.
주의
- 이 표는 기록 방법을 보여 주는 예시입니다. 실제로 자라는 빠르기는 온도와 햇빛에 따라 다릅니다. 집에 대파가 있으면 흰 밑동(뿌리 쪽)을 5 cm쯤 남겨 물컵에 꽂아 함께 길러 보아도 좋습니다.
- 콩나물이 아닌 파의 기록을 보는 까닭은, 아이의 콩나물 결과를 미리 알려 주지 않기 위해서입니다.
- 잎의 길이는 자른 자리부터 잎 끝까지 잰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두 날의 기록 비교(그림·길이)]
목적: 두 날의 그림과 길이를 견주어 달라진 점을 말하고, 자란 길이는 나중 길이에서 처음 길이를 빼서 구한다는 것을 연습합니다(목표 B, 오해 M3).
시간: 약 4분
이렇게 말해 보세요
- “① 10월 6일과 10월 10일의 파를 비교해 봐. 무엇이 달라졌어?”
- “② 6일에 2 cm, 10일에 8 cm였어. 그동안 몇 cm 자랐을까? 식으로 말해 볼래?”
- “③ 누가 ‘8 cm 자랐어요.’라고 했어. 맞을까? 왜?”
정답
- ① 초록 잎이 길어졌어요(2 cm → 8 cm).
- ② 8 − 2 = 6, 6 cm
- ③ 아니요. 8 cm는 10일의 길이예요. 6일에 이미 2 cm였으니 그동안 자란 길이는 6 cm예요.
막히면
- ②가 어려우면 자를 세워 2 cm와 8 cm를 손가락으로 짚고, 그 사이를 1 cm씩 세어 봅니다.
- ③은 “6일에 잎이 0 cm였어, 2 cm였어?” 하고 처음 길이를 다시 확인합니다.
주의
- 그림은 같은 비율로 그렸습니다. 두 잎의 길이를 손가락으로 대어 보아도 좋습니다.
- 답에 단위 cm를 붙이게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자로 길이를 재는 방법 비교(오해 M2)]
목적: 자의 0 눈금에 맞추어 재야 길이를 바르게 읽을 수 있다는 것을 비교로 확인합니다(목표 A, 오해 M2).
시간: 약 3분
이렇게 말해 보세요
- “민호는 콩나물 끝을 어느 눈금에 맞췄어? 채아는?”
- “같은 콩나물인데 왜 답이 다를까? 누가 바르게 쟀을까?”
정답
- 나(채아). 콩나물 한쪽 끝을 자의 0 눈금에 맞추고 다른 끝의 눈금 4를 읽었으므로 4 cm입니다.
- 가(민호)는 1 눈금에 맞추고 5를 읽어 실제보다 1 cm 길게 말했습니다. 1부터 5까지는 4 cm입니다.
막히면
- 가 그림에서 1부터 5까지 1 cm 칸을 하나씩 세어 보게 합니다(4칸).
주의
- 실제 콩나물은 휘어 있으므로 한 가닥을 꺼내 종이 위에 곧게 펴 놓고, 머리 쪽 끝을 0 눈금에 맞추어 뿌리 끝까지 잽니다. 잰 콩나물은 다시 넣지 않아도 됩니다.
- 콩나물 길이를 잴 때 1 cm에 못 미치는 부분은 “약 4 cm”처럼 가까운 눈금으로 써도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 보기]
목적: 도움 없이 관찰 기록에 쓰는 것을 말하고(①), 자로 길이를 읽고(②), 두 날의 기록에서 자란 길이를 구하는지(③) 확인합니다(목표 A·B).
시간: 약 4분
이렇게 말해 보세요
- “이번에는 혼자 해 볼래? 왜 그렇게 생각했는지도 말해 줘.”
정답
- ① 날짜, 그림, 길이, 달라진 점 가운데 두 가지
- ② 5 cm
- ③ 7 − 3 = 4, 4 cm
막히면
- 바로 알려 주지 말고 ①은 S03, ②는 S08, ③은 S07을 다시 보여 줍니다.
- 도움을 받아 해결했다면 기록표에 ‘도움’으로 표시합니다.
주의
- ③에서 “7 cm”라고 하면 나중 길이만 본 것입니다(오해 M3). “10월 3일에는 몇 cm였어?”라고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함께 확인하고 흔한 실수를 바로잡습니다. 수업용에만 있는 장입니다.
시간: 약 2분
이렇게 말해 보세요
- “네 답과 같은지 볼까? 다르면 어디가 달랐는지 찾아보자.”
정답
- ① 날짜, 그림, 길이, 달라진 점 중 두 가지 ② 5 cm ③ 4 cm
막히면
- ②가 틀리면 S08로, ③이 틀리면 S07로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정리와 다음 수업 복습]
목적: 핵심을 정리하고 다음 수업 첫 5분에 풀 복습 문제를 알려 줍니다. 콩나물 기록은 일주일 동안 이어집니다.
시간: 약 2분
이렇게 말해 보세요
- “콩나물을 기록할 때 무엇을 쓰기로 했지? 내일은 언제 기록할까?”
예상 답
- “날짜, 그림, 길이, 달라진 점이요.” / “아침 먹고 할래요.”
정답
- ① 날짜, 그림, 길이, 달라진 점 ② 자의 0 눈금 ③ 6 − 2 = 4, 4 cm
막히면
- S03과 S08을 다시 보여 줍니다.
주의
- 관찰 기록표(활동지 4)는 콩나물 컵 옆에 두고 날마다 같은 때에 씁니다. 뿌리가 나오면 활동지 1의 결과 칸도 채웁니다.
- 일주일 뒤 첫날과 마지막 날의 기록을 비교해 활동지 5를 씁니다. 다 자란 콩나물은 깨끗이 씻어 익혀 먹어도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보충(자로 길이 재기)]
목적: S02에서 자로 cm를 읽기 어려워하면, 0 눈금에 맞추어 재고 1 cm 칸을 세는 방법을 다시 익힙니다.
시간: 약 5분
이렇게 말해 보세요
- “막대의 왼쪽 끝이 0에 있지? 오른쪽 끝은 몇에 닿았어?”
- “0부터 1 cm 칸을 하나씩 세어 볼까? 1, 2, 3, 4. 그래서 4 cm야.”
- “집에 있는 연필과 지우개를 재 볼까?”
정답
- 그림의 막대는 4 cm. 연필·지우개는 아이가 0 눈금에 맞추어 잰 값과 단위 cm를 말하면 맞습니다.
막히면
- 자의 0 눈금을 손가락으로 짚어 준 뒤 물체 끝을 거기에 대게 합니다.
주의
- 이 차시는 계획상 선수 차시가 없습니다. 보충으로도 어려우면 1학년 수학 ‘길이와 높이 비교’(KR22-G01-MAT-LENGTH-L01)와 2학년 수학 ‘길이 재기’(KR22-G02-MAT-CM-L01)를 먼저 합니다. 그동안 콩나물 기록은 길이 칸을 비워 두고 그림과 말로 씁니다.
- 보충이 오래 걸리면 오늘은 콩나물 기르기(S05)까지만 하고, 다음 날 S06부터 이어서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생물과변화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식물이 자라는 모습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과학 · 식물이 자라는 모습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과학 · 식물이 자라는 모습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식물이 자라는 모습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콩나물은 하루하루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달라질까?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콩나물을 기르며 날짜·그림·길이로 기록해요.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날의 기록을 비교해 달라진 점을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비교해요</a:t>
            </a:r>
            <a:endParaRPr lang="ko-KR" sz="4400" dirty="0"/>
          </a:p>
        </p:txBody>
      </p:sp>
      <p:sp>
        <p:nvSpPr>
          <p:cNvPr id="3" name="S02-figure3" descr="8 cm 자 위에 0에서 3 cm까지 놓인 막대 가와 0에서 6 cm까지 놓인 막대 나"/>
          <p:cNvSpPr/>
          <p:nvPr/>
        </p:nvSpPr>
        <p:spPr>
          <a:xfrm>
            <a:off x="6706086" y="3881790"/>
            <a:ext cx="4835166" cy="714286"/>
          </a:xfrm>
          <a:custGeom>
            <a:avLst/>
            <a:gdLst/>
            <a:ahLst/>
            <a:cxnLst/>
            <a:rect l="l" t="t" r="r" b="b"/>
            <a:pathLst>
              <a:path w="4835166" h="714286">
                <a:moveTo>
                  <a:pt x="0" y="0"/>
                </a:moveTo>
                <a:lnTo>
                  <a:pt x="4835166" y="0"/>
                </a:lnTo>
                <a:lnTo>
                  <a:pt x="4835166" y="714286"/>
                </a:lnTo>
                <a:lnTo>
                  <a:pt x="0" y="714286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2-mark4"/>
          <p:cNvSpPr/>
          <p:nvPr/>
        </p:nvSpPr>
        <p:spPr>
          <a:xfrm>
            <a:off x="6925867" y="3414757"/>
            <a:ext cx="1648352" cy="274725"/>
          </a:xfrm>
          <a:custGeom>
            <a:avLst/>
            <a:gdLst/>
            <a:ahLst/>
            <a:cxnLst/>
            <a:rect l="l" t="t" r="r" b="b"/>
            <a:pathLst>
              <a:path w="1648352" h="274725">
                <a:moveTo>
                  <a:pt x="0" y="274725"/>
                </a:moveTo>
                <a:lnTo>
                  <a:pt x="1648352" y="274725"/>
                </a:lnTo>
                <a:lnTo>
                  <a:pt x="16483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2-mark5"/>
          <p:cNvSpPr/>
          <p:nvPr/>
        </p:nvSpPr>
        <p:spPr>
          <a:xfrm>
            <a:off x="6925867" y="2947724"/>
            <a:ext cx="3296704" cy="274725"/>
          </a:xfrm>
          <a:custGeom>
            <a:avLst/>
            <a:gdLst/>
            <a:ahLst/>
            <a:cxnLst/>
            <a:rect l="l" t="t" r="r" b="b"/>
            <a:pathLst>
              <a:path w="3296704" h="274725">
                <a:moveTo>
                  <a:pt x="0" y="274725"/>
                </a:moveTo>
                <a:lnTo>
                  <a:pt x="3296704" y="274725"/>
                </a:lnTo>
                <a:lnTo>
                  <a:pt x="32967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6925867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02-mark7"/>
          <p:cNvSpPr/>
          <p:nvPr/>
        </p:nvSpPr>
        <p:spPr>
          <a:xfrm>
            <a:off x="7200592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mark8"/>
          <p:cNvSpPr/>
          <p:nvPr/>
        </p:nvSpPr>
        <p:spPr>
          <a:xfrm>
            <a:off x="7475317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" name="S02-mark9"/>
          <p:cNvSpPr/>
          <p:nvPr/>
        </p:nvSpPr>
        <p:spPr>
          <a:xfrm>
            <a:off x="7750043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mark10"/>
          <p:cNvSpPr/>
          <p:nvPr/>
        </p:nvSpPr>
        <p:spPr>
          <a:xfrm>
            <a:off x="8024768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02-mark11"/>
          <p:cNvSpPr/>
          <p:nvPr/>
        </p:nvSpPr>
        <p:spPr>
          <a:xfrm>
            <a:off x="8299493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mark12"/>
          <p:cNvSpPr/>
          <p:nvPr/>
        </p:nvSpPr>
        <p:spPr>
          <a:xfrm>
            <a:off x="8574219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2-mark13"/>
          <p:cNvSpPr/>
          <p:nvPr/>
        </p:nvSpPr>
        <p:spPr>
          <a:xfrm>
            <a:off x="8848944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mark14"/>
          <p:cNvSpPr/>
          <p:nvPr/>
        </p:nvSpPr>
        <p:spPr>
          <a:xfrm>
            <a:off x="9123669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2-mark15"/>
          <p:cNvSpPr/>
          <p:nvPr/>
        </p:nvSpPr>
        <p:spPr>
          <a:xfrm>
            <a:off x="9398395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2-mark16"/>
          <p:cNvSpPr/>
          <p:nvPr/>
        </p:nvSpPr>
        <p:spPr>
          <a:xfrm>
            <a:off x="9673120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2-mark17"/>
          <p:cNvSpPr/>
          <p:nvPr/>
        </p:nvSpPr>
        <p:spPr>
          <a:xfrm>
            <a:off x="9947845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mark18"/>
          <p:cNvSpPr/>
          <p:nvPr/>
        </p:nvSpPr>
        <p:spPr>
          <a:xfrm>
            <a:off x="10222570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2-mark19"/>
          <p:cNvSpPr/>
          <p:nvPr/>
        </p:nvSpPr>
        <p:spPr>
          <a:xfrm>
            <a:off x="10497296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mark20"/>
          <p:cNvSpPr/>
          <p:nvPr/>
        </p:nvSpPr>
        <p:spPr>
          <a:xfrm>
            <a:off x="10772021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2-mark21"/>
          <p:cNvSpPr/>
          <p:nvPr/>
        </p:nvSpPr>
        <p:spPr>
          <a:xfrm>
            <a:off x="11046746" y="3881790"/>
            <a:ext cx="0" cy="16483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mark22"/>
          <p:cNvSpPr/>
          <p:nvPr/>
        </p:nvSpPr>
        <p:spPr>
          <a:xfrm>
            <a:off x="11321472" y="3881790"/>
            <a:ext cx="0" cy="2747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2-mark23"/>
          <p:cNvSpPr/>
          <p:nvPr/>
        </p:nvSpPr>
        <p:spPr>
          <a:xfrm>
            <a:off x="6925867" y="3689482"/>
            <a:ext cx="0" cy="19230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4" name="S02-mark24"/>
          <p:cNvSpPr/>
          <p:nvPr/>
        </p:nvSpPr>
        <p:spPr>
          <a:xfrm>
            <a:off x="8574219" y="3689482"/>
            <a:ext cx="0" cy="192308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02-mark25"/>
          <p:cNvSpPr/>
          <p:nvPr/>
        </p:nvSpPr>
        <p:spPr>
          <a:xfrm>
            <a:off x="6925867" y="3222449"/>
            <a:ext cx="0" cy="65934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6" name="S02-mark26"/>
          <p:cNvSpPr/>
          <p:nvPr/>
        </p:nvSpPr>
        <p:spPr>
          <a:xfrm>
            <a:off x="10222570" y="3222449"/>
            <a:ext cx="0" cy="65934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7" name="S02-label28"/>
          <p:cNvSpPr txBox="1"/>
          <p:nvPr/>
        </p:nvSpPr>
        <p:spPr>
          <a:xfrm>
            <a:off x="6762037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28" name="S02-label30"/>
          <p:cNvSpPr txBox="1"/>
          <p:nvPr/>
        </p:nvSpPr>
        <p:spPr>
          <a:xfrm>
            <a:off x="7311487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9" name="S02-label32"/>
          <p:cNvSpPr txBox="1"/>
          <p:nvPr/>
        </p:nvSpPr>
        <p:spPr>
          <a:xfrm>
            <a:off x="7860938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0" name="S02-label34"/>
          <p:cNvSpPr txBox="1"/>
          <p:nvPr/>
        </p:nvSpPr>
        <p:spPr>
          <a:xfrm>
            <a:off x="8410389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31" name="S02-label36"/>
          <p:cNvSpPr txBox="1"/>
          <p:nvPr/>
        </p:nvSpPr>
        <p:spPr>
          <a:xfrm>
            <a:off x="8959839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32" name="S02-label38"/>
          <p:cNvSpPr txBox="1"/>
          <p:nvPr/>
        </p:nvSpPr>
        <p:spPr>
          <a:xfrm>
            <a:off x="9509290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33" name="S02-label40"/>
          <p:cNvSpPr txBox="1"/>
          <p:nvPr/>
        </p:nvSpPr>
        <p:spPr>
          <a:xfrm>
            <a:off x="10058740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34" name="S02-label42"/>
          <p:cNvSpPr txBox="1"/>
          <p:nvPr/>
        </p:nvSpPr>
        <p:spPr>
          <a:xfrm>
            <a:off x="10608191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35" name="S02-label44"/>
          <p:cNvSpPr txBox="1"/>
          <p:nvPr/>
        </p:nvSpPr>
        <p:spPr>
          <a:xfrm>
            <a:off x="11157642" y="4169921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36" name="S02-label46"/>
          <p:cNvSpPr txBox="1"/>
          <p:nvPr/>
        </p:nvSpPr>
        <p:spPr>
          <a:xfrm>
            <a:off x="6159754" y="3345745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37" name="S02-label48"/>
          <p:cNvSpPr txBox="1"/>
          <p:nvPr/>
        </p:nvSpPr>
        <p:spPr>
          <a:xfrm>
            <a:off x="6159754" y="2878712"/>
            <a:ext cx="433324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38" name="S02-chip4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9" name="S02-text5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 중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긴 것은?</a:t>
            </a:r>
            <a:endParaRPr lang="ko-KR" sz="3200" dirty="0"/>
          </a:p>
        </p:txBody>
      </p:sp>
      <p:sp>
        <p:nvSpPr>
          <p:cNvPr id="40" name="S02-chip5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41" name="S02-text5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가는 몇 cm일까요?</a:t>
            </a:r>
            <a:endParaRPr lang="ko-KR" sz="3200" dirty="0"/>
          </a:p>
        </p:txBody>
      </p:sp>
      <p:sp>
        <p:nvSpPr>
          <p:cNvPr id="42" name="S02-chip5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43" name="S02-text5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몇 cm일까요?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 쓰는 것</a:t>
            </a:r>
            <a:endParaRPr lang="ko-KR" sz="4400" dirty="0"/>
          </a:p>
        </p:txBody>
      </p:sp>
      <p:sp>
        <p:nvSpPr>
          <p:cNvPr id="3" name="S03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날마다 같은 때에 기록해요.</a:t>
            </a:r>
            <a:endParaRPr lang="ko-KR" sz="3200" dirty="0"/>
          </a:p>
        </p:txBody>
      </p:sp>
      <p:sp>
        <p:nvSpPr>
          <p:cNvPr id="5" name="S03-card57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58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봤나요?</a:t>
            </a:r>
            <a:endParaRPr lang="ko-KR" sz="3200" dirty="0"/>
          </a:p>
        </p:txBody>
      </p:sp>
      <p:sp>
        <p:nvSpPr>
          <p:cNvPr id="7" name="S03-card59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60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대로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그려요.</a:t>
            </a:r>
            <a:endParaRPr lang="ko-KR" sz="3200" dirty="0"/>
          </a:p>
        </p:txBody>
      </p:sp>
      <p:sp>
        <p:nvSpPr>
          <p:cNvPr id="9" name="S03-card61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62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재요.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3 cm</a:t>
            </a:r>
            <a:endParaRPr lang="ko-KR" sz="3200" dirty="0"/>
          </a:p>
        </p:txBody>
      </p:sp>
      <p:sp>
        <p:nvSpPr>
          <p:cNvPr id="11" name="S03-card63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64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어제와 무엇이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달라졌나요?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콩나물은 어떻게 될까?</a:t>
            </a:r>
            <a:endParaRPr lang="ko-KR" sz="4400" dirty="0"/>
          </a:p>
        </p:txBody>
      </p:sp>
      <p:sp>
        <p:nvSpPr>
          <p:cNvPr id="3" name="S04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기르기 전에 예상해요.</a:t>
            </a:r>
            <a:endParaRPr lang="ko-KR" sz="3200" dirty="0"/>
          </a:p>
        </p:txBody>
      </p:sp>
      <p:sp>
        <p:nvSpPr>
          <p:cNvPr id="4" name="S04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 결과는 기르면서 확인해요.</a:t>
            </a:r>
            <a:endParaRPr lang="ko-KR" sz="3200" dirty="0"/>
          </a:p>
        </p:txBody>
      </p:sp>
      <p:graphicFrame>
        <p:nvGraphicFramePr>
          <p:cNvPr id="5" name="S04-table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6236208"/>
                <a:gridCol w="382219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콩에서 무엇이 먼저 나올까?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일주일 뒤 몇 cm쯤 될까?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콩 껍질은 어떻게 될까?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콩나물 기르기</a:t>
            </a:r>
            <a:endParaRPr lang="ko-KR" sz="4400" dirty="0"/>
          </a:p>
        </p:txBody>
      </p:sp>
      <p:sp>
        <p:nvSpPr>
          <p:cNvPr id="3" name="S05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컵에 구멍 내기는 어른이 해요. 날콩은 먹지 않아요.</a:t>
            </a:r>
            <a:endParaRPr lang="ko-KR" sz="3200" dirty="0"/>
          </a:p>
        </p:txBody>
      </p:sp>
      <p:sp>
        <p:nvSpPr>
          <p:cNvPr id="5" name="S05-card71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72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기를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콩을 한 겹으로 깔아요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물이 아래로 빠져요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기록표 첫 줄을 써요</a:t>
            </a:r>
            <a:endParaRPr lang="ko-KR" sz="3200" dirty="0"/>
          </a:p>
        </p:txBody>
      </p:sp>
      <p:sp>
        <p:nvSpPr>
          <p:cNvPr id="7" name="S05-stepno73"/>
          <p:cNvSpPr txBox="1"/>
          <p:nvPr/>
        </p:nvSpPr>
        <p:spPr>
          <a:xfrm>
            <a:off x="548640" y="165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74"/>
          <p:cNvSpPr txBox="1"/>
          <p:nvPr/>
        </p:nvSpPr>
        <p:spPr>
          <a:xfrm>
            <a:off x="1325880" y="16576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불린 콩을 보고 그려요.</a:t>
            </a:r>
            <a:endParaRPr lang="ko-KR" sz="3200" dirty="0"/>
          </a:p>
        </p:txBody>
      </p:sp>
      <p:sp>
        <p:nvSpPr>
          <p:cNvPr id="9" name="S05-stepno75"/>
          <p:cNvSpPr txBox="1"/>
          <p:nvPr/>
        </p:nvSpPr>
        <p:spPr>
          <a:xfrm>
            <a:off x="548640" y="2416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76"/>
          <p:cNvSpPr txBox="1"/>
          <p:nvPr/>
        </p:nvSpPr>
        <p:spPr>
          <a:xfrm>
            <a:off x="1325880" y="2370836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구멍 난 컵에 콩을 한 겹 깔아요.</a:t>
            </a:r>
            <a:endParaRPr lang="ko-KR" sz="3200" dirty="0"/>
          </a:p>
        </p:txBody>
      </p:sp>
      <p:sp>
        <p:nvSpPr>
          <p:cNvPr id="11" name="S05-stepno77"/>
          <p:cNvSpPr txBox="1"/>
          <p:nvPr/>
        </p:nvSpPr>
        <p:spPr>
          <a:xfrm>
            <a:off x="548640" y="3527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78"/>
          <p:cNvSpPr txBox="1"/>
          <p:nvPr/>
        </p:nvSpPr>
        <p:spPr>
          <a:xfrm>
            <a:off x="1325880" y="35270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검은 천으로 덮어요.</a:t>
            </a:r>
            <a:endParaRPr lang="ko-KR" sz="3200" dirty="0"/>
          </a:p>
        </p:txBody>
      </p:sp>
      <p:sp>
        <p:nvSpPr>
          <p:cNvPr id="13" name="S05-stepno79"/>
          <p:cNvSpPr txBox="1"/>
          <p:nvPr/>
        </p:nvSpPr>
        <p:spPr>
          <a:xfrm>
            <a:off x="548640" y="4240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5-text80"/>
          <p:cNvSpPr txBox="1"/>
          <p:nvPr/>
        </p:nvSpPr>
        <p:spPr>
          <a:xfrm>
            <a:off x="1325880" y="42402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서너 번 물을 부어요.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서윤이의 파 기록</a:t>
            </a:r>
            <a:endParaRPr lang="ko-KR" sz="4400" dirty="0"/>
          </a:p>
        </p:txBody>
      </p:sp>
      <p:sp>
        <p:nvSpPr>
          <p:cNvPr id="3" name="S06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서윤이는 파 밑동을 물에 꽂아 길렀어요.</a:t>
            </a:r>
            <a:endParaRPr lang="ko-KR" sz="3200" dirty="0"/>
          </a:p>
        </p:txBody>
      </p:sp>
      <p:sp>
        <p:nvSpPr>
          <p:cNvPr id="4" name="S06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기록을 보면 얼마나 자랐는지 알 수 있어요.</a:t>
            </a:r>
            <a:endParaRPr lang="ko-KR" sz="3200" dirty="0"/>
          </a:p>
        </p:txBody>
      </p:sp>
      <p:graphicFrame>
        <p:nvGraphicFramePr>
          <p:cNvPr id="7" name="S06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62200"/>
          <a:ext cx="109728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2084832"/>
                <a:gridCol w="658368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잎의 길이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달라진 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4일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파를 잘라 물에 꽂았어요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6일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가운데서 새 잎이 나왔어요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8일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잎이 더 길어졌어요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10월 10일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cm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잎이 하나 더 나왔어요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날을 비교해요</a:t>
            </a:r>
            <a:endParaRPr lang="ko-KR" sz="4400" dirty="0"/>
          </a:p>
        </p:txBody>
      </p:sp>
      <p:sp>
        <p:nvSpPr>
          <p:cNvPr id="3" name="S07-figure85" descr="서윤이의 파 그림 두 개: 10월 6일에는 밑동 위로 초록 잎이 2 cm, 10월 10일에는 8 cm 자라 있음(같은 비율로 그림)"/>
          <p:cNvSpPr/>
          <p:nvPr/>
        </p:nvSpPr>
        <p:spPr>
          <a:xfrm>
            <a:off x="7991019" y="4520127"/>
            <a:ext cx="227721" cy="650632"/>
          </a:xfrm>
          <a:custGeom>
            <a:avLst/>
            <a:gdLst/>
            <a:ahLst/>
            <a:cxnLst/>
            <a:rect l="l" t="t" r="r" b="b"/>
            <a:pathLst>
              <a:path w="227721" h="650632">
                <a:moveTo>
                  <a:pt x="0" y="650632"/>
                </a:moveTo>
                <a:lnTo>
                  <a:pt x="227721" y="650632"/>
                </a:lnTo>
                <a:lnTo>
                  <a:pt x="227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4" name="S07-mark86"/>
          <p:cNvSpPr/>
          <p:nvPr/>
        </p:nvSpPr>
        <p:spPr>
          <a:xfrm>
            <a:off x="8046322" y="3869495"/>
            <a:ext cx="117114" cy="650632"/>
          </a:xfrm>
          <a:custGeom>
            <a:avLst/>
            <a:gdLst/>
            <a:ahLst/>
            <a:cxnLst/>
            <a:rect l="l" t="t" r="r" b="b"/>
            <a:pathLst>
              <a:path w="117114" h="650632">
                <a:moveTo>
                  <a:pt x="0" y="650632"/>
                </a:moveTo>
                <a:lnTo>
                  <a:pt x="117114" y="650632"/>
                </a:lnTo>
                <a:lnTo>
                  <a:pt x="74823" y="0"/>
                </a:lnTo>
                <a:lnTo>
                  <a:pt x="42291" y="0"/>
                </a:lnTo>
                <a:close/>
              </a:path>
            </a:pathLst>
          </a:custGeom>
          <a:solidFill>
            <a:srgbClr val="4CAF5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S07-mark87"/>
          <p:cNvSpPr/>
          <p:nvPr/>
        </p:nvSpPr>
        <p:spPr>
          <a:xfrm>
            <a:off x="9487473" y="4520127"/>
            <a:ext cx="227721" cy="650632"/>
          </a:xfrm>
          <a:custGeom>
            <a:avLst/>
            <a:gdLst/>
            <a:ahLst/>
            <a:cxnLst/>
            <a:rect l="l" t="t" r="r" b="b"/>
            <a:pathLst>
              <a:path w="227721" h="650632">
                <a:moveTo>
                  <a:pt x="0" y="650632"/>
                </a:moveTo>
                <a:lnTo>
                  <a:pt x="227721" y="650632"/>
                </a:lnTo>
                <a:lnTo>
                  <a:pt x="227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6" name="S07-mark88"/>
          <p:cNvSpPr/>
          <p:nvPr/>
        </p:nvSpPr>
        <p:spPr>
          <a:xfrm>
            <a:off x="9542776" y="1917598"/>
            <a:ext cx="117114" cy="2602529"/>
          </a:xfrm>
          <a:custGeom>
            <a:avLst/>
            <a:gdLst/>
            <a:ahLst/>
            <a:cxnLst/>
            <a:rect l="l" t="t" r="r" b="b"/>
            <a:pathLst>
              <a:path w="117114" h="2602529">
                <a:moveTo>
                  <a:pt x="0" y="2602529"/>
                </a:moveTo>
                <a:lnTo>
                  <a:pt x="117114" y="2602529"/>
                </a:lnTo>
                <a:lnTo>
                  <a:pt x="74823" y="0"/>
                </a:lnTo>
                <a:lnTo>
                  <a:pt x="42291" y="0"/>
                </a:lnTo>
                <a:close/>
              </a:path>
            </a:pathLst>
          </a:custGeom>
          <a:solidFill>
            <a:srgbClr val="4CAF5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S07-mark89"/>
          <p:cNvSpPr/>
          <p:nvPr/>
        </p:nvSpPr>
        <p:spPr>
          <a:xfrm flipH="1">
            <a:off x="7991019" y="5170759"/>
            <a:ext cx="32532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07-mark90"/>
          <p:cNvSpPr/>
          <p:nvPr/>
        </p:nvSpPr>
        <p:spPr>
          <a:xfrm>
            <a:off x="8104879" y="5170759"/>
            <a:ext cx="0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07-mark91"/>
          <p:cNvSpPr/>
          <p:nvPr/>
        </p:nvSpPr>
        <p:spPr>
          <a:xfrm>
            <a:off x="8186208" y="5170759"/>
            <a:ext cx="32532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07-mark92"/>
          <p:cNvSpPr/>
          <p:nvPr/>
        </p:nvSpPr>
        <p:spPr>
          <a:xfrm flipV="1">
            <a:off x="8348866" y="3869495"/>
            <a:ext cx="0" cy="650632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headEnd type="triangle"/>
            <a:tailEnd type="triangle"/>
          </a:ln>
        </p:spPr>
      </p:sp>
      <p:sp>
        <p:nvSpPr>
          <p:cNvPr id="11" name="S07-mark93"/>
          <p:cNvSpPr/>
          <p:nvPr/>
        </p:nvSpPr>
        <p:spPr>
          <a:xfrm>
            <a:off x="8186208" y="4520127"/>
            <a:ext cx="243987" cy="0"/>
          </a:xfrm>
          <a:prstGeom prst="line">
            <a:avLst/>
          </a:prstGeom>
          <a:noFill/>
          <a:ln w="15875">
            <a:solidFill>
              <a:srgbClr val="E9762B"/>
            </a:solidFill>
            <a:prstDash val="dash"/>
          </a:ln>
        </p:spPr>
      </p:sp>
      <p:sp>
        <p:nvSpPr>
          <p:cNvPr id="12" name="S07-mark94"/>
          <p:cNvSpPr/>
          <p:nvPr/>
        </p:nvSpPr>
        <p:spPr>
          <a:xfrm>
            <a:off x="8153677" y="3869495"/>
            <a:ext cx="276519" cy="0"/>
          </a:xfrm>
          <a:prstGeom prst="line">
            <a:avLst/>
          </a:prstGeom>
          <a:noFill/>
          <a:ln w="15875">
            <a:solidFill>
              <a:srgbClr val="E9762B"/>
            </a:solidFill>
            <a:prstDash val="dash"/>
          </a:ln>
        </p:spPr>
      </p:sp>
      <p:sp>
        <p:nvSpPr>
          <p:cNvPr id="13" name="S07-mark95"/>
          <p:cNvSpPr/>
          <p:nvPr/>
        </p:nvSpPr>
        <p:spPr>
          <a:xfrm flipH="1">
            <a:off x="9487473" y="5170759"/>
            <a:ext cx="32532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07-mark96"/>
          <p:cNvSpPr/>
          <p:nvPr/>
        </p:nvSpPr>
        <p:spPr>
          <a:xfrm>
            <a:off x="9601333" y="5170759"/>
            <a:ext cx="0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07-mark97"/>
          <p:cNvSpPr/>
          <p:nvPr/>
        </p:nvSpPr>
        <p:spPr>
          <a:xfrm>
            <a:off x="9682662" y="5170759"/>
            <a:ext cx="32532" cy="1626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07-mark98"/>
          <p:cNvSpPr/>
          <p:nvPr/>
        </p:nvSpPr>
        <p:spPr>
          <a:xfrm flipV="1">
            <a:off x="9845320" y="1917598"/>
            <a:ext cx="0" cy="2602529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headEnd type="triangle"/>
            <a:tailEnd type="triangle"/>
          </a:ln>
        </p:spPr>
      </p:sp>
      <p:sp>
        <p:nvSpPr>
          <p:cNvPr id="17" name="S07-mark99"/>
          <p:cNvSpPr/>
          <p:nvPr/>
        </p:nvSpPr>
        <p:spPr>
          <a:xfrm>
            <a:off x="9682662" y="4520127"/>
            <a:ext cx="243987" cy="0"/>
          </a:xfrm>
          <a:prstGeom prst="line">
            <a:avLst/>
          </a:prstGeom>
          <a:noFill/>
          <a:ln w="15875">
            <a:solidFill>
              <a:srgbClr val="E9762B"/>
            </a:solidFill>
            <a:prstDash val="dash"/>
          </a:ln>
        </p:spPr>
      </p:sp>
      <p:sp>
        <p:nvSpPr>
          <p:cNvPr id="18" name="S07-mark100"/>
          <p:cNvSpPr/>
          <p:nvPr/>
        </p:nvSpPr>
        <p:spPr>
          <a:xfrm>
            <a:off x="9650131" y="1917598"/>
            <a:ext cx="276519" cy="0"/>
          </a:xfrm>
          <a:prstGeom prst="line">
            <a:avLst/>
          </a:prstGeom>
          <a:noFill/>
          <a:ln w="15875">
            <a:solidFill>
              <a:srgbClr val="E9762B"/>
            </a:solidFill>
            <a:prstDash val="dash"/>
          </a:ln>
        </p:spPr>
      </p:sp>
      <p:sp>
        <p:nvSpPr>
          <p:cNvPr id="19" name="S07-label102"/>
          <p:cNvSpPr txBox="1"/>
          <p:nvPr/>
        </p:nvSpPr>
        <p:spPr>
          <a:xfrm>
            <a:off x="8363344" y="3988436"/>
            <a:ext cx="88239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cm</a:t>
            </a:r>
            <a:endParaRPr lang="ko-KR" sz="2600" dirty="0"/>
          </a:p>
        </p:txBody>
      </p:sp>
      <p:sp>
        <p:nvSpPr>
          <p:cNvPr id="20" name="S07-label104"/>
          <p:cNvSpPr txBox="1"/>
          <p:nvPr/>
        </p:nvSpPr>
        <p:spPr>
          <a:xfrm>
            <a:off x="9859798" y="3012488"/>
            <a:ext cx="88239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cm</a:t>
            </a:r>
            <a:endParaRPr lang="ko-KR" sz="2600" dirty="0"/>
          </a:p>
        </p:txBody>
      </p:sp>
      <p:sp>
        <p:nvSpPr>
          <p:cNvPr id="21" name="S07-label106"/>
          <p:cNvSpPr txBox="1"/>
          <p:nvPr/>
        </p:nvSpPr>
        <p:spPr>
          <a:xfrm>
            <a:off x="7670285" y="5213452"/>
            <a:ext cx="86918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</a:t>
            </a:r>
            <a:endParaRPr lang="ko-KR" sz="2600" dirty="0"/>
          </a:p>
        </p:txBody>
      </p:sp>
      <p:sp>
        <p:nvSpPr>
          <p:cNvPr id="22" name="S07-label108"/>
          <p:cNvSpPr txBox="1"/>
          <p:nvPr/>
        </p:nvSpPr>
        <p:spPr>
          <a:xfrm>
            <a:off x="9166739" y="5213452"/>
            <a:ext cx="86918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</a:t>
            </a:r>
            <a:endParaRPr lang="ko-KR" sz="2600" dirty="0"/>
          </a:p>
        </p:txBody>
      </p:sp>
      <p:sp>
        <p:nvSpPr>
          <p:cNvPr id="23" name="S07-chip10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24" name="S07-text11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그림에서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점은?</a:t>
            </a:r>
            <a:endParaRPr lang="ko-KR" sz="3200" dirty="0"/>
          </a:p>
        </p:txBody>
      </p:sp>
      <p:sp>
        <p:nvSpPr>
          <p:cNvPr id="25" name="S07-chip11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6" name="S07-text11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6일부터 10일까지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자랐나요?</a:t>
            </a:r>
            <a:endParaRPr lang="ko-KR" sz="3200" dirty="0"/>
          </a:p>
        </p:txBody>
      </p:sp>
      <p:sp>
        <p:nvSpPr>
          <p:cNvPr id="27" name="S07-chip11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8" name="S07-text11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“8 cm 자랐어요.”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말은 맞을까요?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잴까요?</a:t>
            </a:r>
            <a:endParaRPr lang="ko-KR" sz="4400" dirty="0"/>
          </a:p>
        </p:txBody>
      </p:sp>
      <p:sp>
        <p:nvSpPr>
          <p:cNvPr id="3" name="S08-card11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1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콩나물의 길이를 쟀어요.</a:t>
            </a:r>
            <a:endParaRPr lang="ko-KR" sz="3200" dirty="0"/>
          </a:p>
        </p:txBody>
      </p:sp>
      <p:sp>
        <p:nvSpPr>
          <p:cNvPr id="5" name="S08-card1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바르게 쟀나요? 왜 그럴까요?</a:t>
            </a:r>
            <a:endParaRPr lang="ko-KR" sz="3200" dirty="0"/>
          </a:p>
        </p:txBody>
      </p:sp>
      <p:sp>
        <p:nvSpPr>
          <p:cNvPr id="7" name="S08-chip11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 민호</a:t>
            </a:r>
            <a:endParaRPr lang="ko-KR" sz="2600" dirty="0"/>
          </a:p>
        </p:txBody>
      </p:sp>
      <p:sp>
        <p:nvSpPr>
          <p:cNvPr id="8" name="S08-figure120" descr="6 cm 자의 1 눈금부터 5 눈금까지 놓인 콩나물"/>
          <p:cNvSpPr/>
          <p:nvPr/>
        </p:nvSpPr>
        <p:spPr>
          <a:xfrm>
            <a:off x="1261895" y="3745796"/>
            <a:ext cx="3936446" cy="781500"/>
          </a:xfrm>
          <a:custGeom>
            <a:avLst/>
            <a:gdLst/>
            <a:ahLst/>
            <a:cxnLst/>
            <a:rect l="l" t="t" r="r" b="b"/>
            <a:pathLst>
              <a:path w="3936446" h="781500">
                <a:moveTo>
                  <a:pt x="0" y="0"/>
                </a:moveTo>
                <a:lnTo>
                  <a:pt x="3936446" y="0"/>
                </a:lnTo>
                <a:lnTo>
                  <a:pt x="3936446" y="781500"/>
                </a:lnTo>
                <a:lnTo>
                  <a:pt x="0" y="781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mark121"/>
          <p:cNvSpPr/>
          <p:nvPr/>
        </p:nvSpPr>
        <p:spPr>
          <a:xfrm>
            <a:off x="1493451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8-label123"/>
          <p:cNvSpPr txBox="1"/>
          <p:nvPr/>
        </p:nvSpPr>
        <p:spPr>
          <a:xfrm>
            <a:off x="1329621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1" name="S08-mark124"/>
          <p:cNvSpPr/>
          <p:nvPr/>
        </p:nvSpPr>
        <p:spPr>
          <a:xfrm>
            <a:off x="1782895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8-mark125"/>
          <p:cNvSpPr/>
          <p:nvPr/>
        </p:nvSpPr>
        <p:spPr>
          <a:xfrm>
            <a:off x="2072340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8-label127"/>
          <p:cNvSpPr txBox="1"/>
          <p:nvPr/>
        </p:nvSpPr>
        <p:spPr>
          <a:xfrm>
            <a:off x="1908510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" name="S08-mark128"/>
          <p:cNvSpPr/>
          <p:nvPr/>
        </p:nvSpPr>
        <p:spPr>
          <a:xfrm>
            <a:off x="2361784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8-mark129"/>
          <p:cNvSpPr/>
          <p:nvPr/>
        </p:nvSpPr>
        <p:spPr>
          <a:xfrm>
            <a:off x="2651229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8-label131"/>
          <p:cNvSpPr txBox="1"/>
          <p:nvPr/>
        </p:nvSpPr>
        <p:spPr>
          <a:xfrm>
            <a:off x="2487399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7" name="S08-mark132"/>
          <p:cNvSpPr/>
          <p:nvPr/>
        </p:nvSpPr>
        <p:spPr>
          <a:xfrm>
            <a:off x="2940673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8-mark133"/>
          <p:cNvSpPr/>
          <p:nvPr/>
        </p:nvSpPr>
        <p:spPr>
          <a:xfrm>
            <a:off x="3230118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8-label135"/>
          <p:cNvSpPr txBox="1"/>
          <p:nvPr/>
        </p:nvSpPr>
        <p:spPr>
          <a:xfrm>
            <a:off x="3066288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0" name="S08-mark136"/>
          <p:cNvSpPr/>
          <p:nvPr/>
        </p:nvSpPr>
        <p:spPr>
          <a:xfrm>
            <a:off x="3519563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8-mark137"/>
          <p:cNvSpPr/>
          <p:nvPr/>
        </p:nvSpPr>
        <p:spPr>
          <a:xfrm>
            <a:off x="3809007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08-label139"/>
          <p:cNvSpPr txBox="1"/>
          <p:nvPr/>
        </p:nvSpPr>
        <p:spPr>
          <a:xfrm>
            <a:off x="3645177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3" name="S08-mark140"/>
          <p:cNvSpPr/>
          <p:nvPr/>
        </p:nvSpPr>
        <p:spPr>
          <a:xfrm>
            <a:off x="4098452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8-mark141"/>
          <p:cNvSpPr/>
          <p:nvPr/>
        </p:nvSpPr>
        <p:spPr>
          <a:xfrm>
            <a:off x="4387896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08-label143"/>
          <p:cNvSpPr txBox="1"/>
          <p:nvPr/>
        </p:nvSpPr>
        <p:spPr>
          <a:xfrm>
            <a:off x="4224066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6" name="S08-mark144"/>
          <p:cNvSpPr/>
          <p:nvPr/>
        </p:nvSpPr>
        <p:spPr>
          <a:xfrm>
            <a:off x="4677341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8-mark145"/>
          <p:cNvSpPr/>
          <p:nvPr/>
        </p:nvSpPr>
        <p:spPr>
          <a:xfrm>
            <a:off x="4966785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8" name="S08-label147"/>
          <p:cNvSpPr txBox="1"/>
          <p:nvPr/>
        </p:nvSpPr>
        <p:spPr>
          <a:xfrm>
            <a:off x="4802955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9" name="S08-mark148"/>
          <p:cNvSpPr/>
          <p:nvPr/>
        </p:nvSpPr>
        <p:spPr>
          <a:xfrm>
            <a:off x="2072340" y="3369518"/>
            <a:ext cx="2315556" cy="231556"/>
          </a:xfrm>
          <a:custGeom>
            <a:avLst/>
            <a:gdLst/>
            <a:ahLst/>
            <a:cxnLst/>
            <a:rect l="l" t="t" r="r" b="b"/>
            <a:pathLst>
              <a:path w="2315556" h="231556">
                <a:moveTo>
                  <a:pt x="0" y="231556"/>
                </a:moveTo>
                <a:lnTo>
                  <a:pt x="2315556" y="231556"/>
                </a:lnTo>
                <a:lnTo>
                  <a:pt x="231555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8-mark149"/>
          <p:cNvSpPr/>
          <p:nvPr/>
        </p:nvSpPr>
        <p:spPr>
          <a:xfrm>
            <a:off x="2072340" y="3601073"/>
            <a:ext cx="0" cy="14472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1" name="S08-mark150"/>
          <p:cNvSpPr/>
          <p:nvPr/>
        </p:nvSpPr>
        <p:spPr>
          <a:xfrm>
            <a:off x="4387896" y="3601073"/>
            <a:ext cx="0" cy="14472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2" name="S08-text151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 cm예요.”</a:t>
            </a:r>
            <a:endParaRPr lang="ko-KR" sz="2600" dirty="0"/>
          </a:p>
        </p:txBody>
      </p:sp>
      <p:sp>
        <p:nvSpPr>
          <p:cNvPr id="33" name="S08-chip15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 채아</a:t>
            </a:r>
            <a:endParaRPr lang="ko-KR" sz="2600" dirty="0"/>
          </a:p>
        </p:txBody>
      </p:sp>
      <p:sp>
        <p:nvSpPr>
          <p:cNvPr id="34" name="S08-figure153" descr="6 cm 자의 0 눈금부터 4 눈금까지 놓인 콩나물"/>
          <p:cNvSpPr/>
          <p:nvPr/>
        </p:nvSpPr>
        <p:spPr>
          <a:xfrm>
            <a:off x="6990611" y="3745796"/>
            <a:ext cx="3936446" cy="781500"/>
          </a:xfrm>
          <a:custGeom>
            <a:avLst/>
            <a:gdLst/>
            <a:ahLst/>
            <a:cxnLst/>
            <a:rect l="l" t="t" r="r" b="b"/>
            <a:pathLst>
              <a:path w="3936446" h="781500">
                <a:moveTo>
                  <a:pt x="0" y="0"/>
                </a:moveTo>
                <a:lnTo>
                  <a:pt x="3936446" y="0"/>
                </a:lnTo>
                <a:lnTo>
                  <a:pt x="3936446" y="781500"/>
                </a:lnTo>
                <a:lnTo>
                  <a:pt x="0" y="781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8-mark154"/>
          <p:cNvSpPr/>
          <p:nvPr/>
        </p:nvSpPr>
        <p:spPr>
          <a:xfrm>
            <a:off x="7222167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6" name="S08-label156"/>
          <p:cNvSpPr txBox="1"/>
          <p:nvPr/>
        </p:nvSpPr>
        <p:spPr>
          <a:xfrm>
            <a:off x="7058337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37" name="S08-mark157"/>
          <p:cNvSpPr/>
          <p:nvPr/>
        </p:nvSpPr>
        <p:spPr>
          <a:xfrm>
            <a:off x="7511611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8-mark158"/>
          <p:cNvSpPr/>
          <p:nvPr/>
        </p:nvSpPr>
        <p:spPr>
          <a:xfrm>
            <a:off x="7801056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9" name="S08-label160"/>
          <p:cNvSpPr txBox="1"/>
          <p:nvPr/>
        </p:nvSpPr>
        <p:spPr>
          <a:xfrm>
            <a:off x="7637226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40" name="S08-mark161"/>
          <p:cNvSpPr/>
          <p:nvPr/>
        </p:nvSpPr>
        <p:spPr>
          <a:xfrm>
            <a:off x="8090500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8-mark162"/>
          <p:cNvSpPr/>
          <p:nvPr/>
        </p:nvSpPr>
        <p:spPr>
          <a:xfrm>
            <a:off x="8379945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2" name="S08-label164"/>
          <p:cNvSpPr txBox="1"/>
          <p:nvPr/>
        </p:nvSpPr>
        <p:spPr>
          <a:xfrm>
            <a:off x="8216115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3" name="S08-mark165"/>
          <p:cNvSpPr/>
          <p:nvPr/>
        </p:nvSpPr>
        <p:spPr>
          <a:xfrm>
            <a:off x="8669389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8-mark166"/>
          <p:cNvSpPr/>
          <p:nvPr/>
        </p:nvSpPr>
        <p:spPr>
          <a:xfrm>
            <a:off x="8958834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08-label168"/>
          <p:cNvSpPr txBox="1"/>
          <p:nvPr/>
        </p:nvSpPr>
        <p:spPr>
          <a:xfrm>
            <a:off x="8795004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46" name="S08-mark169"/>
          <p:cNvSpPr/>
          <p:nvPr/>
        </p:nvSpPr>
        <p:spPr>
          <a:xfrm>
            <a:off x="9248279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8-mark170"/>
          <p:cNvSpPr/>
          <p:nvPr/>
        </p:nvSpPr>
        <p:spPr>
          <a:xfrm>
            <a:off x="9537723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8" name="S08-label172"/>
          <p:cNvSpPr txBox="1"/>
          <p:nvPr/>
        </p:nvSpPr>
        <p:spPr>
          <a:xfrm>
            <a:off x="9373893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49" name="S08-mark173"/>
          <p:cNvSpPr/>
          <p:nvPr/>
        </p:nvSpPr>
        <p:spPr>
          <a:xfrm>
            <a:off x="9827168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mark174"/>
          <p:cNvSpPr/>
          <p:nvPr/>
        </p:nvSpPr>
        <p:spPr>
          <a:xfrm>
            <a:off x="10116612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1" name="S08-label176"/>
          <p:cNvSpPr txBox="1"/>
          <p:nvPr/>
        </p:nvSpPr>
        <p:spPr>
          <a:xfrm>
            <a:off x="9952782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52" name="S08-mark177"/>
          <p:cNvSpPr/>
          <p:nvPr/>
        </p:nvSpPr>
        <p:spPr>
          <a:xfrm>
            <a:off x="10406057" y="3745796"/>
            <a:ext cx="0" cy="2026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8-mark178"/>
          <p:cNvSpPr/>
          <p:nvPr/>
        </p:nvSpPr>
        <p:spPr>
          <a:xfrm>
            <a:off x="10695501" y="3745796"/>
            <a:ext cx="0" cy="2894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4" name="S08-label180"/>
          <p:cNvSpPr txBox="1"/>
          <p:nvPr/>
        </p:nvSpPr>
        <p:spPr>
          <a:xfrm>
            <a:off x="10531671" y="4026985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55" name="S08-mark181"/>
          <p:cNvSpPr/>
          <p:nvPr/>
        </p:nvSpPr>
        <p:spPr>
          <a:xfrm>
            <a:off x="7222167" y="3369518"/>
            <a:ext cx="2315556" cy="231556"/>
          </a:xfrm>
          <a:custGeom>
            <a:avLst/>
            <a:gdLst/>
            <a:ahLst/>
            <a:cxnLst/>
            <a:rect l="l" t="t" r="r" b="b"/>
            <a:pathLst>
              <a:path w="2315556" h="231556">
                <a:moveTo>
                  <a:pt x="0" y="231556"/>
                </a:moveTo>
                <a:lnTo>
                  <a:pt x="2315556" y="231556"/>
                </a:lnTo>
                <a:lnTo>
                  <a:pt x="231555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08-mark182"/>
          <p:cNvSpPr/>
          <p:nvPr/>
        </p:nvSpPr>
        <p:spPr>
          <a:xfrm>
            <a:off x="7222167" y="3601073"/>
            <a:ext cx="0" cy="14472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7" name="S08-mark183"/>
          <p:cNvSpPr/>
          <p:nvPr/>
        </p:nvSpPr>
        <p:spPr>
          <a:xfrm>
            <a:off x="9537723" y="3601073"/>
            <a:ext cx="0" cy="14472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8" name="S08-text184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 cm예요.”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1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②는 콩나물의 길이를 읽어요.</a:t>
            </a:r>
            <a:endParaRPr lang="ko-KR" sz="3200" dirty="0"/>
          </a:p>
        </p:txBody>
      </p:sp>
      <p:sp>
        <p:nvSpPr>
          <p:cNvPr id="4" name="S09-chip18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text18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 쓰는 것 두 가지는?</a:t>
            </a:r>
            <a:endParaRPr lang="ko-KR" sz="3200" dirty="0"/>
          </a:p>
        </p:txBody>
      </p:sp>
      <p:sp>
        <p:nvSpPr>
          <p:cNvPr id="6" name="S09-chip18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9-figure189" descr="8 cm 자의 0 눈금부터 5 눈금까지 놓인 콩나물"/>
          <p:cNvSpPr/>
          <p:nvPr/>
        </p:nvSpPr>
        <p:spPr>
          <a:xfrm>
            <a:off x="4328160" y="3991841"/>
            <a:ext cx="4328160" cy="663979"/>
          </a:xfrm>
          <a:custGeom>
            <a:avLst/>
            <a:gdLst/>
            <a:ahLst/>
            <a:cxnLst/>
            <a:rect l="l" t="t" r="r" b="b"/>
            <a:pathLst>
              <a:path w="4328160" h="663979">
                <a:moveTo>
                  <a:pt x="0" y="0"/>
                </a:moveTo>
                <a:lnTo>
                  <a:pt x="4328160" y="0"/>
                </a:lnTo>
                <a:lnTo>
                  <a:pt x="4328160" y="663979"/>
                </a:lnTo>
                <a:lnTo>
                  <a:pt x="0" y="66397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mark190"/>
          <p:cNvSpPr/>
          <p:nvPr/>
        </p:nvSpPr>
        <p:spPr>
          <a:xfrm>
            <a:off x="4524895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" name="S09-label192"/>
          <p:cNvSpPr txBox="1"/>
          <p:nvPr/>
        </p:nvSpPr>
        <p:spPr>
          <a:xfrm>
            <a:off x="4361065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10" name="S09-mark193"/>
          <p:cNvSpPr/>
          <p:nvPr/>
        </p:nvSpPr>
        <p:spPr>
          <a:xfrm>
            <a:off x="4770813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9-mark194"/>
          <p:cNvSpPr/>
          <p:nvPr/>
        </p:nvSpPr>
        <p:spPr>
          <a:xfrm>
            <a:off x="5016731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9-label196"/>
          <p:cNvSpPr txBox="1"/>
          <p:nvPr/>
        </p:nvSpPr>
        <p:spPr>
          <a:xfrm>
            <a:off x="4852901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3" name="S09-mark197"/>
          <p:cNvSpPr/>
          <p:nvPr/>
        </p:nvSpPr>
        <p:spPr>
          <a:xfrm>
            <a:off x="5262649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9-mark198"/>
          <p:cNvSpPr/>
          <p:nvPr/>
        </p:nvSpPr>
        <p:spPr>
          <a:xfrm>
            <a:off x="5508567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09-label200"/>
          <p:cNvSpPr txBox="1"/>
          <p:nvPr/>
        </p:nvSpPr>
        <p:spPr>
          <a:xfrm>
            <a:off x="5344737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6" name="S09-mark201"/>
          <p:cNvSpPr/>
          <p:nvPr/>
        </p:nvSpPr>
        <p:spPr>
          <a:xfrm>
            <a:off x="5754485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9-mark202"/>
          <p:cNvSpPr/>
          <p:nvPr/>
        </p:nvSpPr>
        <p:spPr>
          <a:xfrm>
            <a:off x="6000404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9-label204"/>
          <p:cNvSpPr txBox="1"/>
          <p:nvPr/>
        </p:nvSpPr>
        <p:spPr>
          <a:xfrm>
            <a:off x="5836574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9" name="S09-mark205"/>
          <p:cNvSpPr/>
          <p:nvPr/>
        </p:nvSpPr>
        <p:spPr>
          <a:xfrm>
            <a:off x="6246322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9-mark206"/>
          <p:cNvSpPr/>
          <p:nvPr/>
        </p:nvSpPr>
        <p:spPr>
          <a:xfrm>
            <a:off x="6492240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9-label208"/>
          <p:cNvSpPr txBox="1"/>
          <p:nvPr/>
        </p:nvSpPr>
        <p:spPr>
          <a:xfrm>
            <a:off x="6328410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" name="S09-mark209"/>
          <p:cNvSpPr/>
          <p:nvPr/>
        </p:nvSpPr>
        <p:spPr>
          <a:xfrm>
            <a:off x="6738158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9-mark210"/>
          <p:cNvSpPr/>
          <p:nvPr/>
        </p:nvSpPr>
        <p:spPr>
          <a:xfrm>
            <a:off x="6984076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09-label212"/>
          <p:cNvSpPr txBox="1"/>
          <p:nvPr/>
        </p:nvSpPr>
        <p:spPr>
          <a:xfrm>
            <a:off x="6820246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5" name="S09-mark213"/>
          <p:cNvSpPr/>
          <p:nvPr/>
        </p:nvSpPr>
        <p:spPr>
          <a:xfrm>
            <a:off x="7229995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9-mark214"/>
          <p:cNvSpPr/>
          <p:nvPr/>
        </p:nvSpPr>
        <p:spPr>
          <a:xfrm>
            <a:off x="7475913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7" name="S09-label216"/>
          <p:cNvSpPr txBox="1"/>
          <p:nvPr/>
        </p:nvSpPr>
        <p:spPr>
          <a:xfrm>
            <a:off x="7312083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8" name="S09-mark217"/>
          <p:cNvSpPr/>
          <p:nvPr/>
        </p:nvSpPr>
        <p:spPr>
          <a:xfrm>
            <a:off x="7721831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9-mark218"/>
          <p:cNvSpPr/>
          <p:nvPr/>
        </p:nvSpPr>
        <p:spPr>
          <a:xfrm>
            <a:off x="7967749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9-label220"/>
          <p:cNvSpPr txBox="1"/>
          <p:nvPr/>
        </p:nvSpPr>
        <p:spPr>
          <a:xfrm>
            <a:off x="7803919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31" name="S09-mark221"/>
          <p:cNvSpPr/>
          <p:nvPr/>
        </p:nvSpPr>
        <p:spPr>
          <a:xfrm>
            <a:off x="8213667" y="3991841"/>
            <a:ext cx="0" cy="17214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9-mark222"/>
          <p:cNvSpPr/>
          <p:nvPr/>
        </p:nvSpPr>
        <p:spPr>
          <a:xfrm>
            <a:off x="8459585" y="3991841"/>
            <a:ext cx="0" cy="24591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3" name="S09-label224"/>
          <p:cNvSpPr txBox="1"/>
          <p:nvPr/>
        </p:nvSpPr>
        <p:spPr>
          <a:xfrm>
            <a:off x="8295755" y="4229504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34" name="S09-mark225"/>
          <p:cNvSpPr/>
          <p:nvPr/>
        </p:nvSpPr>
        <p:spPr>
          <a:xfrm>
            <a:off x="4524895" y="3672147"/>
            <a:ext cx="2459182" cy="196735"/>
          </a:xfrm>
          <a:custGeom>
            <a:avLst/>
            <a:gdLst/>
            <a:ahLst/>
            <a:cxnLst/>
            <a:rect l="l" t="t" r="r" b="b"/>
            <a:pathLst>
              <a:path w="2459182" h="196735">
                <a:moveTo>
                  <a:pt x="0" y="196735"/>
                </a:moveTo>
                <a:lnTo>
                  <a:pt x="2459182" y="196735"/>
                </a:lnTo>
                <a:lnTo>
                  <a:pt x="245918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9-mark226"/>
          <p:cNvSpPr/>
          <p:nvPr/>
        </p:nvSpPr>
        <p:spPr>
          <a:xfrm>
            <a:off x="4524895" y="3868882"/>
            <a:ext cx="0" cy="12295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6" name="S09-mark227"/>
          <p:cNvSpPr/>
          <p:nvPr/>
        </p:nvSpPr>
        <p:spPr>
          <a:xfrm>
            <a:off x="6984076" y="3868882"/>
            <a:ext cx="0" cy="12295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7" name="S09-chip22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8" name="S09-text22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3일 3 cm, 10월 5일 7 cm였어요.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자랐나요?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0-card2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자란 길이는 나중 길이에서 처음 길이를 빼요.</a:t>
            </a:r>
            <a:endParaRPr lang="ko-KR" sz="3200" dirty="0"/>
          </a:p>
        </p:txBody>
      </p:sp>
      <p:sp>
        <p:nvSpPr>
          <p:cNvPr id="5" name="S10-chip23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233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날짜, 길이</a:t>
            </a:r>
            <a:endParaRPr lang="ko-KR" sz="3200" dirty="0"/>
          </a:p>
        </p:txBody>
      </p:sp>
      <p:sp>
        <p:nvSpPr>
          <p:cNvPr id="7" name="S10-text234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그림, 달라진 점도 맞아요</a:t>
            </a:r>
            <a:endParaRPr lang="ko-KR" sz="2600" dirty="0"/>
          </a:p>
        </p:txBody>
      </p:sp>
      <p:sp>
        <p:nvSpPr>
          <p:cNvPr id="8" name="S10-text235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 cm</a:t>
            </a:r>
            <a:endParaRPr lang="ko-KR" sz="3200" dirty="0"/>
          </a:p>
        </p:txBody>
      </p:sp>
      <p:sp>
        <p:nvSpPr>
          <p:cNvPr id="9" name="S10-text236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눈금부터</a:t>
            </a:r>
            <a:endParaRPr lang="ko-KR" sz="2600" dirty="0"/>
          </a:p>
        </p:txBody>
      </p:sp>
      <p:sp>
        <p:nvSpPr>
          <p:cNvPr id="10" name="S10-text237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 cm</a:t>
            </a:r>
            <a:endParaRPr lang="ko-KR" sz="3200" dirty="0"/>
          </a:p>
        </p:txBody>
      </p:sp>
      <p:sp>
        <p:nvSpPr>
          <p:cNvPr id="11" name="S10-text238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7 − 3 = 4</a:t>
            </a:r>
            <a:endParaRPr lang="ko-KR" sz="2600" dirty="0"/>
          </a:p>
        </p:txBody>
      </p:sp>
      <p:sp>
        <p:nvSpPr>
          <p:cNvPr id="12" name="S10-chip23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0-text24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</a:t>
            </a:r>
            <a:endParaRPr lang="ko-KR" sz="3200" dirty="0"/>
          </a:p>
        </p:txBody>
      </p:sp>
      <p:sp>
        <p:nvSpPr>
          <p:cNvPr id="14" name="S10-text24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단위가 없어요</a:t>
            </a:r>
            <a:endParaRPr lang="ko-KR" sz="2600" dirty="0"/>
          </a:p>
        </p:txBody>
      </p:sp>
      <p:sp>
        <p:nvSpPr>
          <p:cNvPr id="15" name="S10-text24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 cm</a:t>
            </a:r>
            <a:endParaRPr lang="ko-KR" sz="3200" dirty="0"/>
          </a:p>
        </p:txBody>
      </p:sp>
      <p:sp>
        <p:nvSpPr>
          <p:cNvPr id="16" name="S10-text24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 길이만 봤어요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1-card24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1-cardtext24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날짜·그림·길이·달라진 점을 날마다 기록해요.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날을 비교하면 얼마나 자랐는지 알 수 있어요.</a:t>
            </a:r>
            <a:endParaRPr lang="ko-KR" sz="3200" dirty="0"/>
          </a:p>
        </p:txBody>
      </p:sp>
      <p:sp>
        <p:nvSpPr>
          <p:cNvPr id="5" name="S11-chip24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자의 0 눈금에 맞추기</a:t>
            </a:r>
            <a:endParaRPr lang="ko-KR" sz="2600" dirty="0"/>
          </a:p>
        </p:txBody>
      </p:sp>
      <p:sp>
        <p:nvSpPr>
          <p:cNvPr id="6" name="S11-chip24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나중 길이만 보고 말하기</a:t>
            </a:r>
            <a:endParaRPr lang="ko-KR" sz="2600" dirty="0"/>
          </a:p>
        </p:txBody>
      </p:sp>
      <p:sp>
        <p:nvSpPr>
          <p:cNvPr id="7" name="S11-text24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1-text24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관찰 기록에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것은?</a:t>
            </a:r>
            <a:endParaRPr lang="ko-KR" sz="2600" dirty="0"/>
          </a:p>
        </p:txBody>
      </p:sp>
      <p:sp>
        <p:nvSpPr>
          <p:cNvPr id="9" name="S11-text25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길이를 잴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맞출까요?</a:t>
            </a:r>
            <a:endParaRPr lang="ko-KR" sz="2600" dirty="0"/>
          </a:p>
        </p:txBody>
      </p:sp>
      <p:sp>
        <p:nvSpPr>
          <p:cNvPr id="10" name="S11-text25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 cm가 6 cm로,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자랐나요?</a:t>
            </a:r>
            <a:endParaRPr lang="ko-KR" sz="2600" dirty="0"/>
          </a:p>
        </p:txBody>
      </p:sp>
      <p:sp>
        <p:nvSpPr>
          <p:cNvPr id="11" name="S11-text25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계절과 동식물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자로 재기</a:t>
            </a:r>
            <a:endParaRPr lang="ko-KR" sz="4400" dirty="0"/>
          </a:p>
        </p:txBody>
      </p:sp>
      <p:sp>
        <p:nvSpPr>
          <p:cNvPr id="3" name="S12-card2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2-cardtext2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cm가 몇 번인지 세어도 돼요.</a:t>
            </a:r>
            <a:endParaRPr lang="ko-KR" sz="3200" dirty="0"/>
          </a:p>
        </p:txBody>
      </p:sp>
      <p:sp>
        <p:nvSpPr>
          <p:cNvPr id="5" name="S12-figure255" descr="6 cm 자의 0 눈금부터 4 눈금까지 놓인 막대"/>
          <p:cNvSpPr/>
          <p:nvPr/>
        </p:nvSpPr>
        <p:spPr>
          <a:xfrm>
            <a:off x="7019971" y="3057036"/>
            <a:ext cx="4521281" cy="897607"/>
          </a:xfrm>
          <a:custGeom>
            <a:avLst/>
            <a:gdLst/>
            <a:ahLst/>
            <a:cxnLst/>
            <a:rect l="l" t="t" r="r" b="b"/>
            <a:pathLst>
              <a:path w="4521281" h="897607">
                <a:moveTo>
                  <a:pt x="0" y="0"/>
                </a:moveTo>
                <a:lnTo>
                  <a:pt x="4521281" y="0"/>
                </a:lnTo>
                <a:lnTo>
                  <a:pt x="4521281" y="897607"/>
                </a:lnTo>
                <a:lnTo>
                  <a:pt x="0" y="897607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2-mark256"/>
          <p:cNvSpPr/>
          <p:nvPr/>
        </p:nvSpPr>
        <p:spPr>
          <a:xfrm>
            <a:off x="7285928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12-label258"/>
          <p:cNvSpPr txBox="1"/>
          <p:nvPr/>
        </p:nvSpPr>
        <p:spPr>
          <a:xfrm>
            <a:off x="7122098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8" name="S12-mark259"/>
          <p:cNvSpPr/>
          <p:nvPr/>
        </p:nvSpPr>
        <p:spPr>
          <a:xfrm>
            <a:off x="7618376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mark260"/>
          <p:cNvSpPr/>
          <p:nvPr/>
        </p:nvSpPr>
        <p:spPr>
          <a:xfrm>
            <a:off x="7950823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12-label262"/>
          <p:cNvSpPr txBox="1"/>
          <p:nvPr/>
        </p:nvSpPr>
        <p:spPr>
          <a:xfrm>
            <a:off x="7786993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12-mark263"/>
          <p:cNvSpPr/>
          <p:nvPr/>
        </p:nvSpPr>
        <p:spPr>
          <a:xfrm>
            <a:off x="8283270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mark264"/>
          <p:cNvSpPr/>
          <p:nvPr/>
        </p:nvSpPr>
        <p:spPr>
          <a:xfrm>
            <a:off x="8615717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12-label266"/>
          <p:cNvSpPr txBox="1"/>
          <p:nvPr/>
        </p:nvSpPr>
        <p:spPr>
          <a:xfrm>
            <a:off x="8451887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" name="S12-mark267"/>
          <p:cNvSpPr/>
          <p:nvPr/>
        </p:nvSpPr>
        <p:spPr>
          <a:xfrm>
            <a:off x="8948164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mark268"/>
          <p:cNvSpPr/>
          <p:nvPr/>
        </p:nvSpPr>
        <p:spPr>
          <a:xfrm>
            <a:off x="9280611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2-label270"/>
          <p:cNvSpPr txBox="1"/>
          <p:nvPr/>
        </p:nvSpPr>
        <p:spPr>
          <a:xfrm>
            <a:off x="9116781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7" name="S12-mark271"/>
          <p:cNvSpPr/>
          <p:nvPr/>
        </p:nvSpPr>
        <p:spPr>
          <a:xfrm>
            <a:off x="9613059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2-mark272"/>
          <p:cNvSpPr/>
          <p:nvPr/>
        </p:nvSpPr>
        <p:spPr>
          <a:xfrm>
            <a:off x="9945506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12-label274"/>
          <p:cNvSpPr txBox="1"/>
          <p:nvPr/>
        </p:nvSpPr>
        <p:spPr>
          <a:xfrm>
            <a:off x="9781676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0" name="S12-mark275"/>
          <p:cNvSpPr/>
          <p:nvPr/>
        </p:nvSpPr>
        <p:spPr>
          <a:xfrm>
            <a:off x="10277953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mark276"/>
          <p:cNvSpPr/>
          <p:nvPr/>
        </p:nvSpPr>
        <p:spPr>
          <a:xfrm>
            <a:off x="10610400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12-label278"/>
          <p:cNvSpPr txBox="1"/>
          <p:nvPr/>
        </p:nvSpPr>
        <p:spPr>
          <a:xfrm>
            <a:off x="10446570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3" name="S12-mark279"/>
          <p:cNvSpPr/>
          <p:nvPr/>
        </p:nvSpPr>
        <p:spPr>
          <a:xfrm>
            <a:off x="10942847" y="3057036"/>
            <a:ext cx="0" cy="232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mark280"/>
          <p:cNvSpPr/>
          <p:nvPr/>
        </p:nvSpPr>
        <p:spPr>
          <a:xfrm>
            <a:off x="11275294" y="3057036"/>
            <a:ext cx="0" cy="33244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12-label282"/>
          <p:cNvSpPr txBox="1"/>
          <p:nvPr/>
        </p:nvSpPr>
        <p:spPr>
          <a:xfrm>
            <a:off x="11111464" y="3381229"/>
            <a:ext cx="32766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6" name="S12-mark283"/>
          <p:cNvSpPr/>
          <p:nvPr/>
        </p:nvSpPr>
        <p:spPr>
          <a:xfrm>
            <a:off x="7285928" y="2624855"/>
            <a:ext cx="2659577" cy="265958"/>
          </a:xfrm>
          <a:custGeom>
            <a:avLst/>
            <a:gdLst/>
            <a:ahLst/>
            <a:cxnLst/>
            <a:rect l="l" t="t" r="r" b="b"/>
            <a:pathLst>
              <a:path w="2659577" h="265958">
                <a:moveTo>
                  <a:pt x="0" y="265958"/>
                </a:moveTo>
                <a:lnTo>
                  <a:pt x="2659577" y="265958"/>
                </a:lnTo>
                <a:lnTo>
                  <a:pt x="26595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2-mark284"/>
          <p:cNvSpPr/>
          <p:nvPr/>
        </p:nvSpPr>
        <p:spPr>
          <a:xfrm>
            <a:off x="7285928" y="2890813"/>
            <a:ext cx="0" cy="166224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8" name="S12-mark285"/>
          <p:cNvSpPr/>
          <p:nvPr/>
        </p:nvSpPr>
        <p:spPr>
          <a:xfrm>
            <a:off x="9945506" y="2890813"/>
            <a:ext cx="0" cy="166224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9" name="S12-stepno286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0" name="S12-text287"/>
          <p:cNvSpPr txBox="1"/>
          <p:nvPr/>
        </p:nvSpPr>
        <p:spPr>
          <a:xfrm>
            <a:off x="1325880" y="223570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 끝을 0 눈금에 맞춰요.</a:t>
            </a:r>
            <a:endParaRPr lang="ko-KR" sz="3200" dirty="0"/>
          </a:p>
        </p:txBody>
      </p:sp>
      <p:sp>
        <p:nvSpPr>
          <p:cNvPr id="31" name="S12-stepno288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2" name="S12-text289"/>
          <p:cNvSpPr txBox="1"/>
          <p:nvPr/>
        </p:nvSpPr>
        <p:spPr>
          <a:xfrm>
            <a:off x="1325880" y="2948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쪽 끝의 눈금을 읽어요.</a:t>
            </a:r>
            <a:endParaRPr lang="ko-KR" sz="3200" dirty="0"/>
          </a:p>
        </p:txBody>
      </p:sp>
      <p:sp>
        <p:nvSpPr>
          <p:cNvPr id="33" name="S12-stepno290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4" name="S12-text291"/>
          <p:cNvSpPr txBox="1"/>
          <p:nvPr/>
        </p:nvSpPr>
        <p:spPr>
          <a:xfrm>
            <a:off x="1325880" y="366217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뒤에 cm를 붙여요.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과학 식물이 자라는 모습</dc:title>
  <dc:subject>KR22-G02-SCI-GROW-L01</dc:subject>
  <dc:creator>education-ppt</dc:creator>
  <cp:lastModifiedBy>education-ppt</cp:lastModifiedBy>
  <cp:revision>1</cp:revision>
  <dcterms:created xsi:type="dcterms:W3CDTF">2026-10-26T13:07:56Z</dcterms:created>
  <dcterms:modified xsi:type="dcterms:W3CDTF">2026-10-26T13:07:56Z</dcterms:modified>
</cp:coreProperties>
</file>