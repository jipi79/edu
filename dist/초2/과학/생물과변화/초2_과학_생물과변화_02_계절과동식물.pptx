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1426563-1ba8-b62a-dc09-938478c3051f}">
          <p14:sldIdLst>
            <p14:sldId id="256"/>
            <p14:sldId id="257"/>
          </p14:sldIdLst>
        </p14:section>
        <p14:section name="개념" id="{9edb453f-e877-16c2-a79a-d06076a0a58b}">
          <p14:sldIdLst>
            <p14:sldId id="258"/>
            <p14:sldId id="261"/>
          </p14:sldIdLst>
        </p14:section>
        <p14:section name="연습" id="{55a51bdb-4fe9-1872-61a4-e522454d350e}">
          <p14:sldIdLst>
            <p14:sldId id="259"/>
            <p14:sldId id="260"/>
            <p14:sldId id="262"/>
            <p14:sldId id="263"/>
            <p14:sldId id="264"/>
          </p14:sldIdLst>
        </p14:section>
        <p14:section name="개념" id="{bddfab82-992e-22a5-9b4e-0fe3860724fe}">
          <p14:sldIdLst/>
        </p14:section>
        <p14:section name="연습" id="{05e305b1-19d3-0b0e-cb3f-73dd57c6394f}">
          <p14:sldIdLst/>
        </p14:section>
        <p14:section name="확인" id="{2f5f9039-c7c2-79ac-5760-fdaefa7ff810}">
          <p14:sldIdLst>
            <p14:sldId id="265"/>
            <p14:sldId id="266"/>
          </p14:sldIdLst>
        </p14:section>
        <p14:section name="정리" id="{05a8267e-4cb4-6470-f15f-bc5d2bc94bd4}">
          <p14:sldIdLst>
            <p14:sldId id="267"/>
          </p14:sldIdLst>
        </p14:section>
        <p14:section name="보충" id="{8b65b155-e4a6-4304-b6f4-1ed4b593d68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오늘은 계절에 따라 나무와 동물이 어떻게 달라지는지 비교하고, 동네에서 지금 계절의 모습을 찾아본다고 알립니다.
시간: 약 2분
이렇게 말해 보세요
- “요즘 길가의 나무는 어떤 모습이야? 여름에 본 나무와 같아?”
- “오늘은 나무와 동물이 계절마다 어떻게 달라지는지 알아보고, 밖에 나가 지금 계절의 모습을 찾아볼 거야.”
예상 답
- “나뭇잎이 노래졌어요.” / “여름엔 더 초록색이었어요.” / “잘 모르겠어요.”
막히면
- 떠올리기 어려우면 휴대 전화에 있는 지난 계절 사진(봄 꽃놀이, 여름 물놀이)을 함께 봅니다.
주의
- S09(우리 동네 계절 찾기)는 밖에서 합니다. 날씨가 나쁘면 창밖이나 베란다에서 해도 됩니다.
- 그림 속 나무는 이해를 돕기 위해 단순하게 그린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확인(관찰 기록과 비교, 네 계절)]
목적: 앞 차시 ‘식물이 자라는 모습’(KR22-G02-SCI-GROW-L01)에서 배운 관찰 기록과 두 날 비교하기, 그리고 네 계절의 차례를 확인합니다. 오늘은 계절과 계절을 비교합니다.
시간: 약 3분
이렇게 말해 보세요
- “① 콩나물을 기록할 때 무엇을 썼지?”
- “② 두 날을 비교하면 무엇이 달라졌어? 몇 cm 자랐어?”
- “③ 봄부터 차례대로 말해 볼래?”
정답
- ① 날짜, 그림, 길이, 달라진 점
- ② 길이가 길어졌어요. 5 − 2 = 3, 3 cm 자랐어요.
- ③ 봄, 여름, 가을, 겨울
막히면
- ①② 가운데 하나라도 어렵거나 ③의 차례를 헷갈리면 S13(보충)을 먼저 합니다. 보충으로도 어려우면 앞 차시 ‘식물이 자라는 모습’(KR22-G02-SCI-GROW-L01)의 S03과 S07을 다시 봅니다.
주의
- ②에서 “5 cm 자랐어요.”라고 하면 처음 길이(2 cm)를 다시 짚어 줍니다.
- 콩나물을 아직 기르고 있다면 아이의 기록표를 함께 보며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계절에 따른 나무의 모습]
목적: 같은 나무가 봄(새싹과 꽃), 여름(무성한 초록 잎), 가을(단풍과 열매), 겨울(잎이 진 가지)에 어떻게 달라지는지 그림으로 비교합니다(목표 A).
시간: 약 4분
이렇게 말해 보세요
- “봄에는 새싹이 돋고 꽃이 펴. 그림에서 꽃을 찾아볼래?”
- “여름에는 잎이 많아지고 짙은 초록색이 돼. 봄 나무와 무엇이 달라?”
- “가을에는 잎이 빨갛고 노랗게 물들어. 이걸 ‘단풍’이라고 해. 열매도 열리지.”
- “겨울에는 어때? 잎이 어디로 갔을까?”
예상 답
- “봄에는 꽃이 있어요.” / “여름에는 잎이 더 많아요.” / “가을에는 주황색이에요.” / “겨울에는 잎이 다 떨어졌어요.”
막히면
- 두 그림씩 짝지어 “봄과 여름은 무엇이 달라?”처럼 둘만 비교하게 합니다.
주의
- 벚나무·은행나무·단풍나무처럼 가을에 잎이 지는 나무를 그린 것입니다. 소나무처럼 겨울에도 잎이 푸른 나무는 S05에서 다룹니다(오해 M1).
- 잎의 색이 바뀌는 까닭은 다루지 않습니다. 아이가 물으면 “날이 추워지면 나무가 겨울을 준비하면서 잎의 색이 바뀌어.” 정도로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설명을 듣고 계절 고르기]
목적: 나무의 모습을 듣고 알맞은 계절을 고르며 까닭을 말하는 연습을 합니다(목표 A).
시간: 약 3분
이렇게 말해 보세요
- “①부터 읽어 볼래? 어느 계절일까? 어떻게 알았어?”
정답
- ① 가을
- ② 겨울
- ③ 봄
- ④ 여름
막히면
- S03의 그림을 다시 보여 주고 “어느 그림과 같아?” 하고 고르게 합니다.
- ‘무성해요’를 모르면 “잎이 아주 많고 빽빽하다는 뜻이야.”라고 알려 줍니다.
주의
- 답만 말하면 “무엇을 보고 알았어?”라고 물어 까닭(단풍, 가지만 남음, 새싹과 꽃, 짙은 초록 잎)을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겨울의 두 나무 비교(오해 M1)]
목적: 겨울에 잎이 진 나무와 잎이 푸른 나무를 견주어, 모든 나무가 겨울에 잎을 떨어뜨리는 것은 아니라는 것을 알게 합니다(목표 A, 오해 M1).
시간: 약 3분
이렇게 말해 보세요
- “두 나무는 무엇이 달라? 겨울인데 소나무는 어때?”
- “겨울에 모든 나무의 잎이 떨어질까? 겨울에도 푸른 나무를 본 적 있어?”
정답
- 아니요. 은행나무처럼 가을에 잎이 떨어지는 나무도 있고, 소나무처럼 겨울에도 푸른 잎을 달고 있는 나무도 있어요.
막히면
- 학교나 아파트 화단에서 겨울에도 푸른 나무(소나무, 사철나무 등)를 본 적이 있는지 떠올리게 합니다.
주의
- 소나무 잎도 오래된 것은 조금씩 떨어지고 새 잎이 나지만, 한꺼번에 다 지지 않아서 늘 푸르게 보입니다. 아이에게는 “겨울에도 잎이 푸르다.”까지만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계절에 따라 동물이 지내는 모습]
목적: 계절에 따라 동물이 지내는 모습을 잘 알려진 예로 알려 주고, ‘겨울잠’의 뜻을 알려 줍니다(목표 B, 오해 M2).
시간: 약 4분
이렇게 말해 보세요
- “봄이 되면 땅속에서 겨울잠을 자던 개구리가 깨어나. 여름에는 무엇이 크게 울까?”
- “가을에 다람쥐는 도토리를 모아서 굴에 숨겨 둬. 왜 그럴까?”
- “겨울에 개구리와 곰은 겨울잠을 자. 겨울잠은 추운 겨울 동안 거의 움직이지 않고 잠자듯 지내는 거야.”
예상 답
- “매미요!” / “겨울에 먹으려고요.” / “곰은 굴에서 자요.”
막히면
- 그림책이나 동물 영상에서 본 동물을 떠올리게 하고, 카드 하나씩 “이 동물을 본 적 있어?” 하고 묻습니다.
주의
- 다람쥐도 겨울잠을 자며, 가을에 모아 둔 먹이를 겨울잠 사이사이 깨어 먹습니다.
- 겨울잠을 자는 동물은 죽은 것이 아니라 봄에 다시 깨어난다는 것을 꼭 말해 줍니다(오해 M2). 겨울잠을 자는 까닭과 몸의 변화는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계절과 동물의 모습 잇기]
목적: 계절과 동물이 지내는 모습을 이어 말하는 연습을 합니다(목표 B).
시간: 약 3분
이렇게 말해 보세요
- “① 겨울에 개구리를 볼 수 있을까? 어디서 어떻게 지낼까?”
- “② 다람쥐는 가을에 무엇을 할까? 왜?”
- “③ 여름에 ‘맴맴’ 우는 곤충은?”
정답
- ① 땅속이나 물속에서 겨울잠을 자요.
- ② 도토리 같은 먹이를 모아 숨겨요(겨울에 먹으려고).
- ③ 매미
막히면
- S06의 카드를 다시 보여 주고 계절 이름을 먼저 짚게 합니다.
주의
- ①에서 “죽었어요.”라고 하면 “봄이 되면 어떻게 됐지?” 하고 S06 봄 카드를 다시 봅니다(오해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겨울에 동물이 지내는 모습 비교(오해 M2)]
목적: 겨울에 동물이 모두 사라지는 것이 아니라, 겨울잠을 자는 동물과 겨울에도 활동하는 동물이 있다는 것을 비교로 확인합니다(목표 B, 오해 M2).
시간: 약 3분
이렇게 말해 보세요
- “겨울에 개구리가 안 보이는 건 사라져서일까?”
- “겨울에 밖에서 새를 본 적 있어? 어떤 새였어?”
정답
- 나(하람). 개구리·곰·다람쥐는 겨울잠을 자다가 봄에 깨어나요. 참새, 까치, 비둘기처럼 겨울에도 볼 수 있는 새가 있어요.
- 가는 눈에 잘 띄지 않을 뿐, 동물이 사라진 것은 아니에요.
막히면
- 겨울에 아파트 단지나 공원에서 본 참새·까치·비둘기를 떠올리게 합니다. 집에서 기르는 강아지·고양이도 겨울에 지냅니다.
주의
- 철새(겨울에 우리나라로 오거나 떠나는 새)는 다루지 않습니다. 아이가 물으면 “어떤 새는 계절에 따라 먼 곳으로 옮겨 가기도 해.” 정도로만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동네에서 지금 계절의 모습 찾기]
목적: 동네에서 나무 한 그루와 동물을 관찰해 지금 계절의 모습을 찾고, 날짜와 함께 그려 둡니다(목표 A·B). 활동지 4에 씁니다.
시간: 약 8분
이렇게 말해 보세요
- “이 나무로 정할까? 잎은 무슨 색이야? 꽃이나 열매가 있어?”
- “새나 곤충이 보여? 무엇을 하고 있어?”
- “그럼 지금은 무슨 계절일까? 왜 그렇게 생각해?”
- “다음 계절에 이 나무를 다시 보러 오자. 그때는 어떻게 달라졌을까?”
예상 답
- “잎이 노랗게 물들었어요. 가을이에요.” / “까치가 나무 위에 앉아 있어요.” / “개미는 안 보여요.”
정답
- 관찰 기준 세 가지를 지키면 연습 완료입니다. 나무와 동물의 이름을 몰라도 됩니다(“노란 잎 나무”, “검은 새”로 충분).
막히면
- 동물을 찾기 어려우면 새소리를 들어 보거나 나무 아래 땅을 함께 봅니다. 동물을 못 찾은 날은 “지금은 볼 수 없는 까닭이 무엇일까?”를 이야기합니다.
- 밖에 나가기 어려우면 창밖의 나무, 베란다 화분, 지난 사진으로 대신합니다.
주의
- 안전: 어른과 함께 다니고 차가 다니는 길을 피합니다. 벌, 털이 많은 애벌레, 모르는 열매나 버섯은 만지거나 먹지 않습니다.
- 같은 나무를 계절마다(또는 몇 주마다) 다시 보고 활동지 4에 날짜와 함께 그려 두면 나무가 조금씩 바뀌는 모습을 비교할 수 있습니다(오해 M3).
- 아이가 지치면 여기서 쉬고, 다음에 S10부터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보기]
목적: 도움 없이 계절에 따른 나무의 모습(①③)과 동물이 지내는 모습(②)을 말하는지 확인합니다(목표 A·B).
시간: 약 4분
이렇게 말해 보세요
- “이번에는 혼자 해 볼래? 생각나는 대로 말해 줘.”
정답
- ① 잎이 빨갛고 노랗게 물들어요(단풍), 열매가 열려요, 잎이 떨어지기 시작해요 가운데 하나 이상
- ② 추운 겨울 동안 거의 움직이지 않고 잠자듯 지내는 것. 개구리, 곰, 다람쥐 가운데 하나 이상
- ③ 소나무(사철나무 등 겨울에도 푸른 나무를 말해도 맞음)
막히면
- 바로 알려 주지 말고 ①은 S03, ②는 S06, ③은 S05를 다시 보여 줍니다.
- 도움을 받아 해결했다면 기록표에 ‘도움’으로 표시합니다.
주의
- ②에서 겨울잠의 뜻을 “죽는 것”이라고 하면 오해 M2입니다. S08을 다시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1분
이렇게 말해 보세요
- “네 답과 같은지 볼까? 다르면 어디가 달랐는지 찾아보자.”
정답
- ① 단풍이 들고 열매가 열려요 ② 겨울 동안 잠자듯 지내는 것, 개구리·곰·다람쥐 ③ 소나무
막히면
- ①③이 틀리면 S03·S05로, ②가 틀리면 S06·S08로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“오늘 본 나무는 무슨 계절의 모습이었어? 겨울이 되면 어떻게 될까?”
예상 답
- “가을이라 잎이 노랬어요. 겨울에는 잎이 떨어질 거예요.”
정답
- ① 새싹이 돋고 꽃이 펴요 ② 개구리, 곰, 다람쥐 가운데 하나 ③ 소나무
막히면
- S03과 S06을 다시 보여 줍니다.
주의
- S09에서 정한 나무를 다음 계절에 다시 보고 활동지 4 아래 칸에 그려 비교해 봅니다.
- 다음 차시 ‘예상과 관찰’에서는 실험하기 전에 예상하고, 본 것과 구별하는 방법을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보충(계절의 차례와 비교하기)]
목적: S02가 흔들리면, 네 계절의 차례를 다시 익히고 두 가지를 견주어 달라진 점을 찾는 방법을 연습합니다.
시간: 약 5분
이렇게 말해 보세요
- “봄 다음은? 여름 다음은? 겨울이 지나면 다시 무엇이 올까?”
- “여름과 겨울을 비교해 볼까? 옷은 어떻게 달라? 날씨는?”
- “이렇게 두 가지를 견주어 달라진 점을 찾는 게 ‘비교’야. 콩나물 첫날과 마지막 날을 비교한 것처럼.”
예상 답
- “겨울 다음은 봄이에요.” / “여름엔 반팔, 겨울엔 두꺼운 옷을 입어요.”
정답
- 봄 → 여름 → 가을 → 겨울 → 다시 봄. 두 계절의 다른 점(옷, 날씨)을 하나 이상 말하면 맞습니다.
막히면
- 가족 사진이나 옷장 속 여름옷·겨울옷을 꺼내 보며 계절을 이야기합니다.
주의
- 이 차시의 계획상 선수 차시는 ‘식물이 자라는 모습’(KR22-G02-SCI-GROW-L01)입니다. 보충으로도 기록과 비교가 어려우면 그 차시의 S03·S07을 다시 하고, 계절 이름이 어려우면 1학년 과학 ‘계절과 날씨 기록’(KR22-G01-SCI-SEASON-L01)을 먼저 합니다.
- 보충이 오래 걸리면 오늘은 S05까지만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생물과변화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계절과 동식물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계절과 동식물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과학 · 계절과 동식물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계절과 동식물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나무와 동물은 계절마다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달라질까?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가을 나무: 주황·노랑으로 물든 잎과 빨간 열매, 떨어지는 잎"/>
          <p:cNvSpPr/>
          <p:nvPr/>
        </p:nvSpPr>
        <p:spPr>
          <a:xfrm>
            <a:off x="9487789" y="2330450"/>
            <a:ext cx="318262" cy="1136650"/>
          </a:xfrm>
          <a:custGeom>
            <a:avLst/>
            <a:gdLst/>
            <a:ahLst/>
            <a:cxnLst/>
            <a:rect l="l" t="t" r="r" b="b"/>
            <a:pathLst>
              <a:path w="318262" h="1136650">
                <a:moveTo>
                  <a:pt x="0" y="1136650"/>
                </a:moveTo>
                <a:lnTo>
                  <a:pt x="318262" y="1136650"/>
                </a:lnTo>
                <a:lnTo>
                  <a:pt x="272796" y="0"/>
                </a:lnTo>
                <a:lnTo>
                  <a:pt x="45466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548916" y="854321"/>
            <a:ext cx="2196008" cy="1817124"/>
          </a:xfrm>
          <a:custGeom>
            <a:avLst/>
            <a:gdLst/>
            <a:ahLst/>
            <a:cxnLst/>
            <a:rect l="l" t="t" r="r" b="b"/>
            <a:pathLst>
              <a:path w="2196008" h="1817124">
                <a:moveTo>
                  <a:pt x="2125536" y="907804"/>
                </a:moveTo>
                <a:lnTo>
                  <a:pt x="2081585" y="843394"/>
                </a:lnTo>
                <a:lnTo>
                  <a:pt x="2028541" y="785046"/>
                </a:lnTo>
                <a:lnTo>
                  <a:pt x="1965647" y="735034"/>
                </a:lnTo>
                <a:lnTo>
                  <a:pt x="1894417" y="694114"/>
                </a:lnTo>
                <a:lnTo>
                  <a:pt x="1847435" y="653195"/>
                </a:lnTo>
                <a:lnTo>
                  <a:pt x="1873957" y="586511"/>
                </a:lnTo>
                <a:lnTo>
                  <a:pt x="1889112" y="517555"/>
                </a:lnTo>
                <a:lnTo>
                  <a:pt x="1893659" y="448598"/>
                </a:lnTo>
                <a:lnTo>
                  <a:pt x="1887597" y="380399"/>
                </a:lnTo>
                <a:lnTo>
                  <a:pt x="1871684" y="313715"/>
                </a:lnTo>
                <a:lnTo>
                  <a:pt x="1846677" y="251579"/>
                </a:lnTo>
                <a:lnTo>
                  <a:pt x="1812578" y="193230"/>
                </a:lnTo>
                <a:lnTo>
                  <a:pt x="1770143" y="141702"/>
                </a:lnTo>
                <a:lnTo>
                  <a:pt x="1720888" y="96236"/>
                </a:lnTo>
                <a:lnTo>
                  <a:pt x="1665571" y="59106"/>
                </a:lnTo>
                <a:lnTo>
                  <a:pt x="1604950" y="29553"/>
                </a:lnTo>
                <a:lnTo>
                  <a:pt x="1540540" y="9851"/>
                </a:lnTo>
                <a:lnTo>
                  <a:pt x="1473856" y="0"/>
                </a:lnTo>
                <a:lnTo>
                  <a:pt x="1406415" y="0"/>
                </a:lnTo>
                <a:lnTo>
                  <a:pt x="1338974" y="9851"/>
                </a:lnTo>
                <a:lnTo>
                  <a:pt x="1272290" y="30311"/>
                </a:lnTo>
                <a:lnTo>
                  <a:pt x="1211669" y="45466"/>
                </a:lnTo>
                <a:lnTo>
                  <a:pt x="1154836" y="38646"/>
                </a:lnTo>
                <a:lnTo>
                  <a:pt x="1098004" y="36373"/>
                </a:lnTo>
                <a:lnTo>
                  <a:pt x="1041171" y="38646"/>
                </a:lnTo>
                <a:lnTo>
                  <a:pt x="984339" y="45466"/>
                </a:lnTo>
                <a:lnTo>
                  <a:pt x="923718" y="30311"/>
                </a:lnTo>
                <a:lnTo>
                  <a:pt x="857034" y="9851"/>
                </a:lnTo>
                <a:lnTo>
                  <a:pt x="789593" y="0"/>
                </a:lnTo>
                <a:lnTo>
                  <a:pt x="722152" y="0"/>
                </a:lnTo>
                <a:lnTo>
                  <a:pt x="655468" y="9851"/>
                </a:lnTo>
                <a:lnTo>
                  <a:pt x="591058" y="29553"/>
                </a:lnTo>
                <a:lnTo>
                  <a:pt x="530437" y="59106"/>
                </a:lnTo>
                <a:lnTo>
                  <a:pt x="475120" y="96236"/>
                </a:lnTo>
                <a:lnTo>
                  <a:pt x="425865" y="141702"/>
                </a:lnTo>
                <a:lnTo>
                  <a:pt x="383430" y="193230"/>
                </a:lnTo>
                <a:lnTo>
                  <a:pt x="349330" y="251579"/>
                </a:lnTo>
                <a:lnTo>
                  <a:pt x="324324" y="313715"/>
                </a:lnTo>
                <a:lnTo>
                  <a:pt x="308411" y="380399"/>
                </a:lnTo>
                <a:lnTo>
                  <a:pt x="302349" y="448598"/>
                </a:lnTo>
                <a:lnTo>
                  <a:pt x="306896" y="517555"/>
                </a:lnTo>
                <a:lnTo>
                  <a:pt x="322051" y="586511"/>
                </a:lnTo>
                <a:lnTo>
                  <a:pt x="348573" y="653195"/>
                </a:lnTo>
                <a:lnTo>
                  <a:pt x="301591" y="694114"/>
                </a:lnTo>
                <a:lnTo>
                  <a:pt x="230361" y="735034"/>
                </a:lnTo>
                <a:lnTo>
                  <a:pt x="167466" y="785046"/>
                </a:lnTo>
                <a:lnTo>
                  <a:pt x="114423" y="843394"/>
                </a:lnTo>
                <a:lnTo>
                  <a:pt x="70472" y="907804"/>
                </a:lnTo>
                <a:lnTo>
                  <a:pt x="36373" y="977519"/>
                </a:lnTo>
                <a:lnTo>
                  <a:pt x="13640" y="1050265"/>
                </a:lnTo>
                <a:lnTo>
                  <a:pt x="1516" y="1126041"/>
                </a:lnTo>
                <a:lnTo>
                  <a:pt x="0" y="1201818"/>
                </a:lnTo>
                <a:lnTo>
                  <a:pt x="9851" y="1277595"/>
                </a:lnTo>
                <a:lnTo>
                  <a:pt x="29553" y="1350340"/>
                </a:lnTo>
                <a:lnTo>
                  <a:pt x="59864" y="1419297"/>
                </a:lnTo>
                <a:lnTo>
                  <a:pt x="100025" y="1483707"/>
                </a:lnTo>
                <a:lnTo>
                  <a:pt x="148522" y="1542055"/>
                </a:lnTo>
                <a:lnTo>
                  <a:pt x="205355" y="1592826"/>
                </a:lnTo>
                <a:lnTo>
                  <a:pt x="269007" y="1635260"/>
                </a:lnTo>
                <a:lnTo>
                  <a:pt x="337964" y="1667844"/>
                </a:lnTo>
                <a:lnTo>
                  <a:pt x="412225" y="1690577"/>
                </a:lnTo>
                <a:lnTo>
                  <a:pt x="488760" y="1701944"/>
                </a:lnTo>
                <a:lnTo>
                  <a:pt x="567567" y="1701944"/>
                </a:lnTo>
                <a:lnTo>
                  <a:pt x="646375" y="1690577"/>
                </a:lnTo>
                <a:lnTo>
                  <a:pt x="723667" y="1666329"/>
                </a:lnTo>
                <a:lnTo>
                  <a:pt x="776711" y="1683758"/>
                </a:lnTo>
                <a:lnTo>
                  <a:pt x="821419" y="1723161"/>
                </a:lnTo>
                <a:lnTo>
                  <a:pt x="870674" y="1756503"/>
                </a:lnTo>
                <a:lnTo>
                  <a:pt x="923718" y="1782267"/>
                </a:lnTo>
                <a:lnTo>
                  <a:pt x="980550" y="1801969"/>
                </a:lnTo>
                <a:lnTo>
                  <a:pt x="1038898" y="1813336"/>
                </a:lnTo>
                <a:lnTo>
                  <a:pt x="1098004" y="1817124"/>
                </a:lnTo>
                <a:lnTo>
                  <a:pt x="1157110" y="1813336"/>
                </a:lnTo>
                <a:lnTo>
                  <a:pt x="1215458" y="1801969"/>
                </a:lnTo>
                <a:lnTo>
                  <a:pt x="1272290" y="1782267"/>
                </a:lnTo>
                <a:lnTo>
                  <a:pt x="1325334" y="1756503"/>
                </a:lnTo>
                <a:lnTo>
                  <a:pt x="1374589" y="1723161"/>
                </a:lnTo>
                <a:lnTo>
                  <a:pt x="1419297" y="1683758"/>
                </a:lnTo>
                <a:lnTo>
                  <a:pt x="1472341" y="1666329"/>
                </a:lnTo>
                <a:lnTo>
                  <a:pt x="1549633" y="1690577"/>
                </a:lnTo>
                <a:lnTo>
                  <a:pt x="1628441" y="1701944"/>
                </a:lnTo>
                <a:lnTo>
                  <a:pt x="1707248" y="1701944"/>
                </a:lnTo>
                <a:lnTo>
                  <a:pt x="1783783" y="1690577"/>
                </a:lnTo>
                <a:lnTo>
                  <a:pt x="1858044" y="1667844"/>
                </a:lnTo>
                <a:lnTo>
                  <a:pt x="1927001" y="1635260"/>
                </a:lnTo>
                <a:lnTo>
                  <a:pt x="1990653" y="1592826"/>
                </a:lnTo>
                <a:lnTo>
                  <a:pt x="2047486" y="1542055"/>
                </a:lnTo>
                <a:lnTo>
                  <a:pt x="2095983" y="1483707"/>
                </a:lnTo>
                <a:lnTo>
                  <a:pt x="2136144" y="1419297"/>
                </a:lnTo>
                <a:lnTo>
                  <a:pt x="2166455" y="1350340"/>
                </a:lnTo>
                <a:lnTo>
                  <a:pt x="2186157" y="1277595"/>
                </a:lnTo>
                <a:lnTo>
                  <a:pt x="2196008" y="1201818"/>
                </a:lnTo>
                <a:lnTo>
                  <a:pt x="2194492" y="1126041"/>
                </a:lnTo>
                <a:lnTo>
                  <a:pt x="2182368" y="1050265"/>
                </a:lnTo>
                <a:lnTo>
                  <a:pt x="2159635" y="977519"/>
                </a:lnTo>
                <a:close/>
              </a:path>
            </a:pathLst>
          </a:custGeom>
          <a:solidFill>
            <a:srgbClr val="F2A23A"/>
          </a:solidFill>
          <a:ln w="22225">
            <a:solidFill>
              <a:srgbClr val="B4651E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548662" y="2951819"/>
            <a:ext cx="242485" cy="197019"/>
          </a:xfrm>
          <a:custGeom>
            <a:avLst/>
            <a:gdLst/>
            <a:ahLst/>
            <a:cxnLst/>
            <a:rect l="l" t="t" r="r" b="b"/>
            <a:pathLst>
              <a:path w="242485" h="197019">
                <a:moveTo>
                  <a:pt x="0" y="98510"/>
                </a:moveTo>
                <a:lnTo>
                  <a:pt x="121243" y="0"/>
                </a:lnTo>
                <a:lnTo>
                  <a:pt x="242485" y="98510"/>
                </a:lnTo>
                <a:lnTo>
                  <a:pt x="121243" y="197019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B4651E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540581" y="2686600"/>
            <a:ext cx="242485" cy="197019"/>
          </a:xfrm>
          <a:custGeom>
            <a:avLst/>
            <a:gdLst/>
            <a:ahLst/>
            <a:cxnLst/>
            <a:rect l="l" t="t" r="r" b="b"/>
            <a:pathLst>
              <a:path w="242485" h="197019">
                <a:moveTo>
                  <a:pt x="0" y="98510"/>
                </a:moveTo>
                <a:lnTo>
                  <a:pt x="121243" y="0"/>
                </a:lnTo>
                <a:lnTo>
                  <a:pt x="242485" y="98510"/>
                </a:lnTo>
                <a:lnTo>
                  <a:pt x="121243" y="197019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B4651E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949775" y="1936411"/>
            <a:ext cx="257641" cy="257641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934871" y="1671193"/>
            <a:ext cx="257641" cy="257641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404435" y="1330198"/>
            <a:ext cx="257641" cy="257641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200090" y="2050076"/>
            <a:ext cx="257641" cy="257641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358717" y="3467100"/>
            <a:ext cx="2576407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14" name="S01-card1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5" name="S01-cardtext1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계절마다 나무가 어떻게 다른지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계절에 따라 동물이 지내는 모습을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1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기록에는 무엇을 쓰나요?</a:t>
            </a:r>
            <a:endParaRPr lang="ko-KR" sz="3200" dirty="0"/>
          </a:p>
        </p:txBody>
      </p:sp>
      <p:sp>
        <p:nvSpPr>
          <p:cNvPr id="5" name="S02-chip1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1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cm였던 콩나물이 5 cm가 됐어요.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달라졌나요?</a:t>
            </a:r>
            <a:endParaRPr lang="ko-KR" sz="3200" dirty="0"/>
          </a:p>
        </p:txBody>
      </p:sp>
      <p:sp>
        <p:nvSpPr>
          <p:cNvPr id="7" name="S02-chip1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계절을 차례대로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나무의 사계절</a:t>
            </a:r>
            <a:endParaRPr lang="ko-KR" sz="4400" dirty="0"/>
          </a:p>
        </p:txBody>
      </p:sp>
      <p:sp>
        <p:nvSpPr>
          <p:cNvPr id="3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나무도 계절마다 모습이 달라요.</a:t>
            </a:r>
            <a:endParaRPr lang="ko-KR" sz="3200" dirty="0"/>
          </a:p>
        </p:txBody>
      </p:sp>
      <p:sp>
        <p:nvSpPr>
          <p:cNvPr id="5" name="S03-figure21" descr="봄 나무: 연두색 새잎 사이에 분홍 꽃이 핀 나무"/>
          <p:cNvSpPr/>
          <p:nvPr/>
        </p:nvSpPr>
        <p:spPr>
          <a:xfrm>
            <a:off x="1676827" y="3161309"/>
            <a:ext cx="276515" cy="987552"/>
          </a:xfrm>
          <a:custGeom>
            <a:avLst/>
            <a:gdLst/>
            <a:ahLst/>
            <a:cxnLst/>
            <a:rect l="l" t="t" r="r" b="b"/>
            <a:pathLst>
              <a:path w="276515" h="987552">
                <a:moveTo>
                  <a:pt x="0" y="987552"/>
                </a:moveTo>
                <a:lnTo>
                  <a:pt x="276515" y="987552"/>
                </a:lnTo>
                <a:lnTo>
                  <a:pt x="237012" y="0"/>
                </a:lnTo>
                <a:lnTo>
                  <a:pt x="39502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6" name="S03-mark22"/>
          <p:cNvSpPr/>
          <p:nvPr/>
        </p:nvSpPr>
        <p:spPr>
          <a:xfrm>
            <a:off x="937479" y="1991389"/>
            <a:ext cx="1755209" cy="1453018"/>
          </a:xfrm>
          <a:custGeom>
            <a:avLst/>
            <a:gdLst/>
            <a:ahLst/>
            <a:cxnLst/>
            <a:rect l="l" t="t" r="r" b="b"/>
            <a:pathLst>
              <a:path w="1755209" h="1453018">
                <a:moveTo>
                  <a:pt x="1699248" y="726180"/>
                </a:moveTo>
                <a:lnTo>
                  <a:pt x="1663696" y="674827"/>
                </a:lnTo>
                <a:lnTo>
                  <a:pt x="1621560" y="628083"/>
                </a:lnTo>
                <a:lnTo>
                  <a:pt x="1571524" y="587923"/>
                </a:lnTo>
                <a:lnTo>
                  <a:pt x="1514246" y="555663"/>
                </a:lnTo>
                <a:lnTo>
                  <a:pt x="1476719" y="522744"/>
                </a:lnTo>
                <a:lnTo>
                  <a:pt x="1497787" y="469416"/>
                </a:lnTo>
                <a:lnTo>
                  <a:pt x="1509638" y="414113"/>
                </a:lnTo>
                <a:lnTo>
                  <a:pt x="1513588" y="358811"/>
                </a:lnTo>
                <a:lnTo>
                  <a:pt x="1508979" y="304166"/>
                </a:lnTo>
                <a:lnTo>
                  <a:pt x="1496470" y="251497"/>
                </a:lnTo>
                <a:lnTo>
                  <a:pt x="1476061" y="201461"/>
                </a:lnTo>
                <a:lnTo>
                  <a:pt x="1448410" y="155375"/>
                </a:lnTo>
                <a:lnTo>
                  <a:pt x="1414833" y="113898"/>
                </a:lnTo>
                <a:lnTo>
                  <a:pt x="1375331" y="77687"/>
                </a:lnTo>
                <a:lnTo>
                  <a:pt x="1331220" y="47402"/>
                </a:lnTo>
                <a:lnTo>
                  <a:pt x="1282501" y="24360"/>
                </a:lnTo>
                <a:lnTo>
                  <a:pt x="1231807" y="8559"/>
                </a:lnTo>
                <a:lnTo>
                  <a:pt x="1178479" y="658"/>
                </a:lnTo>
                <a:lnTo>
                  <a:pt x="1123834" y="0"/>
                </a:lnTo>
                <a:lnTo>
                  <a:pt x="1069848" y="8559"/>
                </a:lnTo>
                <a:lnTo>
                  <a:pt x="1017179" y="24360"/>
                </a:lnTo>
                <a:lnTo>
                  <a:pt x="968459" y="36869"/>
                </a:lnTo>
                <a:lnTo>
                  <a:pt x="923032" y="31602"/>
                </a:lnTo>
                <a:lnTo>
                  <a:pt x="877605" y="29627"/>
                </a:lnTo>
                <a:lnTo>
                  <a:pt x="832177" y="31602"/>
                </a:lnTo>
                <a:lnTo>
                  <a:pt x="786750" y="36869"/>
                </a:lnTo>
                <a:lnTo>
                  <a:pt x="738031" y="24360"/>
                </a:lnTo>
                <a:lnTo>
                  <a:pt x="685361" y="8559"/>
                </a:lnTo>
                <a:lnTo>
                  <a:pt x="631375" y="0"/>
                </a:lnTo>
                <a:lnTo>
                  <a:pt x="576730" y="658"/>
                </a:lnTo>
                <a:lnTo>
                  <a:pt x="523403" y="8559"/>
                </a:lnTo>
                <a:lnTo>
                  <a:pt x="472708" y="24360"/>
                </a:lnTo>
                <a:lnTo>
                  <a:pt x="423989" y="47402"/>
                </a:lnTo>
                <a:lnTo>
                  <a:pt x="379878" y="77687"/>
                </a:lnTo>
                <a:lnTo>
                  <a:pt x="340376" y="113898"/>
                </a:lnTo>
                <a:lnTo>
                  <a:pt x="306799" y="155375"/>
                </a:lnTo>
                <a:lnTo>
                  <a:pt x="279148" y="201461"/>
                </a:lnTo>
                <a:lnTo>
                  <a:pt x="258739" y="251497"/>
                </a:lnTo>
                <a:lnTo>
                  <a:pt x="246230" y="304166"/>
                </a:lnTo>
                <a:lnTo>
                  <a:pt x="241621" y="358811"/>
                </a:lnTo>
                <a:lnTo>
                  <a:pt x="245571" y="414113"/>
                </a:lnTo>
                <a:lnTo>
                  <a:pt x="257422" y="469416"/>
                </a:lnTo>
                <a:lnTo>
                  <a:pt x="278490" y="522744"/>
                </a:lnTo>
                <a:lnTo>
                  <a:pt x="240963" y="555663"/>
                </a:lnTo>
                <a:lnTo>
                  <a:pt x="183685" y="587923"/>
                </a:lnTo>
                <a:lnTo>
                  <a:pt x="133649" y="628083"/>
                </a:lnTo>
                <a:lnTo>
                  <a:pt x="91513" y="674827"/>
                </a:lnTo>
                <a:lnTo>
                  <a:pt x="55961" y="726180"/>
                </a:lnTo>
                <a:lnTo>
                  <a:pt x="28968" y="781483"/>
                </a:lnTo>
                <a:lnTo>
                  <a:pt x="10534" y="840078"/>
                </a:lnTo>
                <a:lnTo>
                  <a:pt x="1317" y="900647"/>
                </a:lnTo>
                <a:lnTo>
                  <a:pt x="0" y="961217"/>
                </a:lnTo>
                <a:lnTo>
                  <a:pt x="7900" y="1021787"/>
                </a:lnTo>
                <a:lnTo>
                  <a:pt x="23701" y="1079724"/>
                </a:lnTo>
                <a:lnTo>
                  <a:pt x="48061" y="1135026"/>
                </a:lnTo>
                <a:lnTo>
                  <a:pt x="79663" y="1187038"/>
                </a:lnTo>
                <a:lnTo>
                  <a:pt x="118506" y="1233123"/>
                </a:lnTo>
                <a:lnTo>
                  <a:pt x="163934" y="1273942"/>
                </a:lnTo>
                <a:lnTo>
                  <a:pt x="214628" y="1307519"/>
                </a:lnTo>
                <a:lnTo>
                  <a:pt x="269931" y="1333854"/>
                </a:lnTo>
                <a:lnTo>
                  <a:pt x="329184" y="1351630"/>
                </a:lnTo>
                <a:lnTo>
                  <a:pt x="390412" y="1360847"/>
                </a:lnTo>
                <a:lnTo>
                  <a:pt x="453616" y="1360847"/>
                </a:lnTo>
                <a:lnTo>
                  <a:pt x="516161" y="1351630"/>
                </a:lnTo>
                <a:lnTo>
                  <a:pt x="578705" y="1332537"/>
                </a:lnTo>
                <a:lnTo>
                  <a:pt x="620841" y="1346363"/>
                </a:lnTo>
                <a:lnTo>
                  <a:pt x="656393" y="1377964"/>
                </a:lnTo>
                <a:lnTo>
                  <a:pt x="695895" y="1404299"/>
                </a:lnTo>
                <a:lnTo>
                  <a:pt x="738689" y="1425367"/>
                </a:lnTo>
                <a:lnTo>
                  <a:pt x="783458" y="1440509"/>
                </a:lnTo>
                <a:lnTo>
                  <a:pt x="830202" y="1449726"/>
                </a:lnTo>
                <a:lnTo>
                  <a:pt x="877605" y="1453018"/>
                </a:lnTo>
                <a:lnTo>
                  <a:pt x="925007" y="1449726"/>
                </a:lnTo>
                <a:lnTo>
                  <a:pt x="971751" y="1440509"/>
                </a:lnTo>
                <a:lnTo>
                  <a:pt x="1016520" y="1425367"/>
                </a:lnTo>
                <a:lnTo>
                  <a:pt x="1059314" y="1404299"/>
                </a:lnTo>
                <a:lnTo>
                  <a:pt x="1098816" y="1377964"/>
                </a:lnTo>
                <a:lnTo>
                  <a:pt x="1134368" y="1346363"/>
                </a:lnTo>
                <a:lnTo>
                  <a:pt x="1176504" y="1332537"/>
                </a:lnTo>
                <a:lnTo>
                  <a:pt x="1239049" y="1351630"/>
                </a:lnTo>
                <a:lnTo>
                  <a:pt x="1301594" y="1360847"/>
                </a:lnTo>
                <a:lnTo>
                  <a:pt x="1364797" y="1360847"/>
                </a:lnTo>
                <a:lnTo>
                  <a:pt x="1426025" y="1351630"/>
                </a:lnTo>
                <a:lnTo>
                  <a:pt x="1485278" y="1333854"/>
                </a:lnTo>
                <a:lnTo>
                  <a:pt x="1540581" y="1307519"/>
                </a:lnTo>
                <a:lnTo>
                  <a:pt x="1591275" y="1273942"/>
                </a:lnTo>
                <a:lnTo>
                  <a:pt x="1636703" y="1233123"/>
                </a:lnTo>
                <a:lnTo>
                  <a:pt x="1675547" y="1187038"/>
                </a:lnTo>
                <a:lnTo>
                  <a:pt x="1707148" y="1135026"/>
                </a:lnTo>
                <a:lnTo>
                  <a:pt x="1731508" y="1079724"/>
                </a:lnTo>
                <a:lnTo>
                  <a:pt x="1747309" y="1021787"/>
                </a:lnTo>
                <a:lnTo>
                  <a:pt x="1755209" y="961217"/>
                </a:lnTo>
                <a:lnTo>
                  <a:pt x="1753892" y="900647"/>
                </a:lnTo>
                <a:lnTo>
                  <a:pt x="1744675" y="840078"/>
                </a:lnTo>
                <a:lnTo>
                  <a:pt x="1726241" y="781483"/>
                </a:lnTo>
                <a:close/>
              </a:path>
            </a:pathLst>
          </a:custGeom>
          <a:solidFill>
            <a:srgbClr val="B5E08A"/>
          </a:solidFill>
          <a:ln w="22225">
            <a:solidFill>
              <a:srgbClr val="6E9E45"/>
            </a:solidFill>
            <a:prstDash val="solid"/>
          </a:ln>
        </p:spPr>
      </p:sp>
      <p:sp>
        <p:nvSpPr>
          <p:cNvPr id="7" name="S03-mark23"/>
          <p:cNvSpPr/>
          <p:nvPr/>
        </p:nvSpPr>
        <p:spPr>
          <a:xfrm>
            <a:off x="1130381" y="2739954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8" name="S03-mark24"/>
          <p:cNvSpPr/>
          <p:nvPr/>
        </p:nvSpPr>
        <p:spPr>
          <a:xfrm>
            <a:off x="1525402" y="2147423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9" name="S03-mark25"/>
          <p:cNvSpPr/>
          <p:nvPr/>
        </p:nvSpPr>
        <p:spPr>
          <a:xfrm>
            <a:off x="2052096" y="2410770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0" name="S03-mark26"/>
          <p:cNvSpPr/>
          <p:nvPr/>
        </p:nvSpPr>
        <p:spPr>
          <a:xfrm>
            <a:off x="2348362" y="2838709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1" name="S03-mark27"/>
          <p:cNvSpPr/>
          <p:nvPr/>
        </p:nvSpPr>
        <p:spPr>
          <a:xfrm>
            <a:off x="1393728" y="2904546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2" name="S03-mark28"/>
          <p:cNvSpPr/>
          <p:nvPr/>
        </p:nvSpPr>
        <p:spPr>
          <a:xfrm>
            <a:off x="1821668" y="2772872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3" name="S03-mark29"/>
          <p:cNvSpPr/>
          <p:nvPr/>
        </p:nvSpPr>
        <p:spPr>
          <a:xfrm>
            <a:off x="1689994" y="1818239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4" name="S03-mark30"/>
          <p:cNvSpPr/>
          <p:nvPr/>
        </p:nvSpPr>
        <p:spPr>
          <a:xfrm>
            <a:off x="2117933" y="1982831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5" name="S03-mark31"/>
          <p:cNvSpPr/>
          <p:nvPr/>
        </p:nvSpPr>
        <p:spPr>
          <a:xfrm>
            <a:off x="695858" y="4148861"/>
            <a:ext cx="2238451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16" name="S03-label32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600" dirty="0"/>
          </a:p>
        </p:txBody>
      </p:sp>
      <p:sp>
        <p:nvSpPr>
          <p:cNvPr id="17" name="S03-figure33" descr="여름 나무: 짙은 초록 잎이 무성한 나무"/>
          <p:cNvSpPr/>
          <p:nvPr/>
        </p:nvSpPr>
        <p:spPr>
          <a:xfrm>
            <a:off x="4529755" y="3167893"/>
            <a:ext cx="276515" cy="987552"/>
          </a:xfrm>
          <a:custGeom>
            <a:avLst/>
            <a:gdLst/>
            <a:ahLst/>
            <a:cxnLst/>
            <a:rect l="l" t="t" r="r" b="b"/>
            <a:pathLst>
              <a:path w="276515" h="987552">
                <a:moveTo>
                  <a:pt x="0" y="987552"/>
                </a:moveTo>
                <a:lnTo>
                  <a:pt x="276515" y="987552"/>
                </a:lnTo>
                <a:lnTo>
                  <a:pt x="237012" y="0"/>
                </a:lnTo>
                <a:lnTo>
                  <a:pt x="39502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18" name="S03-mark34"/>
          <p:cNvSpPr/>
          <p:nvPr/>
        </p:nvSpPr>
        <p:spPr>
          <a:xfrm>
            <a:off x="3637666" y="1772153"/>
            <a:ext cx="2060692" cy="1705173"/>
          </a:xfrm>
          <a:custGeom>
            <a:avLst/>
            <a:gdLst/>
            <a:ahLst/>
            <a:cxnLst/>
            <a:rect l="l" t="t" r="r" b="b"/>
            <a:pathLst>
              <a:path w="2060692" h="1705173">
                <a:moveTo>
                  <a:pt x="1994855" y="851928"/>
                </a:moveTo>
                <a:lnTo>
                  <a:pt x="1953378" y="791358"/>
                </a:lnTo>
                <a:lnTo>
                  <a:pt x="1903342" y="736714"/>
                </a:lnTo>
                <a:lnTo>
                  <a:pt x="1844747" y="689970"/>
                </a:lnTo>
                <a:lnTo>
                  <a:pt x="1778252" y="651784"/>
                </a:lnTo>
                <a:lnTo>
                  <a:pt x="1733483" y="613599"/>
                </a:lnTo>
                <a:lnTo>
                  <a:pt x="1757843" y="550396"/>
                </a:lnTo>
                <a:lnTo>
                  <a:pt x="1772327" y="485876"/>
                </a:lnTo>
                <a:lnTo>
                  <a:pt x="1776935" y="420697"/>
                </a:lnTo>
                <a:lnTo>
                  <a:pt x="1771668" y="356835"/>
                </a:lnTo>
                <a:lnTo>
                  <a:pt x="1756526" y="294949"/>
                </a:lnTo>
                <a:lnTo>
                  <a:pt x="1732825" y="236354"/>
                </a:lnTo>
                <a:lnTo>
                  <a:pt x="1700565" y="181710"/>
                </a:lnTo>
                <a:lnTo>
                  <a:pt x="1661062" y="132990"/>
                </a:lnTo>
                <a:lnTo>
                  <a:pt x="1614977" y="90196"/>
                </a:lnTo>
                <a:lnTo>
                  <a:pt x="1562966" y="55303"/>
                </a:lnTo>
                <a:lnTo>
                  <a:pt x="1505688" y="28310"/>
                </a:lnTo>
                <a:lnTo>
                  <a:pt x="1445776" y="9217"/>
                </a:lnTo>
                <a:lnTo>
                  <a:pt x="1383231" y="0"/>
                </a:lnTo>
                <a:lnTo>
                  <a:pt x="1319369" y="0"/>
                </a:lnTo>
                <a:lnTo>
                  <a:pt x="1256166" y="9217"/>
                </a:lnTo>
                <a:lnTo>
                  <a:pt x="1194280" y="28310"/>
                </a:lnTo>
                <a:lnTo>
                  <a:pt x="1137002" y="42794"/>
                </a:lnTo>
                <a:lnTo>
                  <a:pt x="1083674" y="36210"/>
                </a:lnTo>
                <a:lnTo>
                  <a:pt x="1030346" y="34235"/>
                </a:lnTo>
                <a:lnTo>
                  <a:pt x="977018" y="36210"/>
                </a:lnTo>
                <a:lnTo>
                  <a:pt x="923690" y="42794"/>
                </a:lnTo>
                <a:lnTo>
                  <a:pt x="866412" y="28310"/>
                </a:lnTo>
                <a:lnTo>
                  <a:pt x="804526" y="9217"/>
                </a:lnTo>
                <a:lnTo>
                  <a:pt x="741322" y="0"/>
                </a:lnTo>
                <a:lnTo>
                  <a:pt x="677461" y="0"/>
                </a:lnTo>
                <a:lnTo>
                  <a:pt x="614916" y="9217"/>
                </a:lnTo>
                <a:lnTo>
                  <a:pt x="555004" y="28310"/>
                </a:lnTo>
                <a:lnTo>
                  <a:pt x="497726" y="55303"/>
                </a:lnTo>
                <a:lnTo>
                  <a:pt x="445715" y="90196"/>
                </a:lnTo>
                <a:lnTo>
                  <a:pt x="399629" y="132990"/>
                </a:lnTo>
                <a:lnTo>
                  <a:pt x="360127" y="181710"/>
                </a:lnTo>
                <a:lnTo>
                  <a:pt x="327867" y="236354"/>
                </a:lnTo>
                <a:lnTo>
                  <a:pt x="304166" y="294949"/>
                </a:lnTo>
                <a:lnTo>
                  <a:pt x="289024" y="356835"/>
                </a:lnTo>
                <a:lnTo>
                  <a:pt x="283757" y="420697"/>
                </a:lnTo>
                <a:lnTo>
                  <a:pt x="288365" y="485876"/>
                </a:lnTo>
                <a:lnTo>
                  <a:pt x="302849" y="550396"/>
                </a:lnTo>
                <a:lnTo>
                  <a:pt x="327209" y="613599"/>
                </a:lnTo>
                <a:lnTo>
                  <a:pt x="282440" y="651784"/>
                </a:lnTo>
                <a:lnTo>
                  <a:pt x="215945" y="689970"/>
                </a:lnTo>
                <a:lnTo>
                  <a:pt x="157350" y="736714"/>
                </a:lnTo>
                <a:lnTo>
                  <a:pt x="107314" y="791358"/>
                </a:lnTo>
                <a:lnTo>
                  <a:pt x="65837" y="851928"/>
                </a:lnTo>
                <a:lnTo>
                  <a:pt x="34235" y="917107"/>
                </a:lnTo>
                <a:lnTo>
                  <a:pt x="12509" y="985577"/>
                </a:lnTo>
                <a:lnTo>
                  <a:pt x="1317" y="1056681"/>
                </a:lnTo>
                <a:lnTo>
                  <a:pt x="0" y="1127784"/>
                </a:lnTo>
                <a:lnTo>
                  <a:pt x="9217" y="1198888"/>
                </a:lnTo>
                <a:lnTo>
                  <a:pt x="27651" y="1267358"/>
                </a:lnTo>
                <a:lnTo>
                  <a:pt x="56620" y="1332537"/>
                </a:lnTo>
                <a:lnTo>
                  <a:pt x="94147" y="1392448"/>
                </a:lnTo>
                <a:lnTo>
                  <a:pt x="139574" y="1447093"/>
                </a:lnTo>
                <a:lnTo>
                  <a:pt x="192902" y="1494495"/>
                </a:lnTo>
                <a:lnTo>
                  <a:pt x="252155" y="1533997"/>
                </a:lnTo>
                <a:lnTo>
                  <a:pt x="317333" y="1564941"/>
                </a:lnTo>
                <a:lnTo>
                  <a:pt x="386462" y="1586009"/>
                </a:lnTo>
                <a:lnTo>
                  <a:pt x="458882" y="1597201"/>
                </a:lnTo>
                <a:lnTo>
                  <a:pt x="532620" y="1597201"/>
                </a:lnTo>
                <a:lnTo>
                  <a:pt x="606357" y="1586667"/>
                </a:lnTo>
                <a:lnTo>
                  <a:pt x="679436" y="1564282"/>
                </a:lnTo>
                <a:lnTo>
                  <a:pt x="728813" y="1580083"/>
                </a:lnTo>
                <a:lnTo>
                  <a:pt x="770949" y="1616952"/>
                </a:lnTo>
                <a:lnTo>
                  <a:pt x="817035" y="1647895"/>
                </a:lnTo>
                <a:lnTo>
                  <a:pt x="867071" y="1672913"/>
                </a:lnTo>
                <a:lnTo>
                  <a:pt x="919740" y="1690689"/>
                </a:lnTo>
                <a:lnTo>
                  <a:pt x="974385" y="1701223"/>
                </a:lnTo>
                <a:lnTo>
                  <a:pt x="1030346" y="1705173"/>
                </a:lnTo>
                <a:lnTo>
                  <a:pt x="1086307" y="1701223"/>
                </a:lnTo>
                <a:lnTo>
                  <a:pt x="1140952" y="1690689"/>
                </a:lnTo>
                <a:lnTo>
                  <a:pt x="1193621" y="1672913"/>
                </a:lnTo>
                <a:lnTo>
                  <a:pt x="1243657" y="1647895"/>
                </a:lnTo>
                <a:lnTo>
                  <a:pt x="1289743" y="1616952"/>
                </a:lnTo>
                <a:lnTo>
                  <a:pt x="1331878" y="1580083"/>
                </a:lnTo>
                <a:lnTo>
                  <a:pt x="1381256" y="1564282"/>
                </a:lnTo>
                <a:lnTo>
                  <a:pt x="1454335" y="1586667"/>
                </a:lnTo>
                <a:lnTo>
                  <a:pt x="1528072" y="1597201"/>
                </a:lnTo>
                <a:lnTo>
                  <a:pt x="1601809" y="1597201"/>
                </a:lnTo>
                <a:lnTo>
                  <a:pt x="1674230" y="1586009"/>
                </a:lnTo>
                <a:lnTo>
                  <a:pt x="1743358" y="1564941"/>
                </a:lnTo>
                <a:lnTo>
                  <a:pt x="1808537" y="1533997"/>
                </a:lnTo>
                <a:lnTo>
                  <a:pt x="1867790" y="1494495"/>
                </a:lnTo>
                <a:lnTo>
                  <a:pt x="1921118" y="1447093"/>
                </a:lnTo>
                <a:lnTo>
                  <a:pt x="1966545" y="1392448"/>
                </a:lnTo>
                <a:lnTo>
                  <a:pt x="2004072" y="1332537"/>
                </a:lnTo>
                <a:lnTo>
                  <a:pt x="2033040" y="1267358"/>
                </a:lnTo>
                <a:lnTo>
                  <a:pt x="2051475" y="1198888"/>
                </a:lnTo>
                <a:lnTo>
                  <a:pt x="2060692" y="1127784"/>
                </a:lnTo>
                <a:lnTo>
                  <a:pt x="2059375" y="1056681"/>
                </a:lnTo>
                <a:lnTo>
                  <a:pt x="2048183" y="985577"/>
                </a:lnTo>
                <a:lnTo>
                  <a:pt x="2026457" y="917107"/>
                </a:lnTo>
                <a:close/>
              </a:path>
            </a:pathLst>
          </a:custGeom>
          <a:solidFill>
            <a:srgbClr val="2E8B57"/>
          </a:solidFill>
          <a:ln w="22225">
            <a:solidFill>
              <a:srgbClr val="1E5E3A"/>
            </a:solidFill>
            <a:prstDash val="solid"/>
          </a:ln>
        </p:spPr>
      </p:sp>
      <p:sp>
        <p:nvSpPr>
          <p:cNvPr id="19" name="S03-mark35"/>
          <p:cNvSpPr/>
          <p:nvPr/>
        </p:nvSpPr>
        <p:spPr>
          <a:xfrm>
            <a:off x="3548786" y="4155445"/>
            <a:ext cx="2238451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20" name="S03-label36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600" dirty="0"/>
          </a:p>
        </p:txBody>
      </p:sp>
      <p:sp>
        <p:nvSpPr>
          <p:cNvPr id="21" name="S03-figure37" descr="가을 나무: 주황·노랑으로 물든 잎과 빨간 열매, 떨어지는 잎"/>
          <p:cNvSpPr/>
          <p:nvPr/>
        </p:nvSpPr>
        <p:spPr>
          <a:xfrm>
            <a:off x="7382683" y="3161309"/>
            <a:ext cx="276515" cy="987552"/>
          </a:xfrm>
          <a:custGeom>
            <a:avLst/>
            <a:gdLst/>
            <a:ahLst/>
            <a:cxnLst/>
            <a:rect l="l" t="t" r="r" b="b"/>
            <a:pathLst>
              <a:path w="276515" h="987552">
                <a:moveTo>
                  <a:pt x="0" y="987552"/>
                </a:moveTo>
                <a:lnTo>
                  <a:pt x="276515" y="987552"/>
                </a:lnTo>
                <a:lnTo>
                  <a:pt x="237012" y="0"/>
                </a:lnTo>
                <a:lnTo>
                  <a:pt x="39502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22" name="S03-mark38"/>
          <p:cNvSpPr/>
          <p:nvPr/>
        </p:nvSpPr>
        <p:spPr>
          <a:xfrm>
            <a:off x="6566965" y="1878809"/>
            <a:ext cx="1907950" cy="1578766"/>
          </a:xfrm>
          <a:custGeom>
            <a:avLst/>
            <a:gdLst/>
            <a:ahLst/>
            <a:cxnLst/>
            <a:rect l="l" t="t" r="r" b="b"/>
            <a:pathLst>
              <a:path w="1907950" h="1578766">
                <a:moveTo>
                  <a:pt x="1846722" y="788725"/>
                </a:moveTo>
                <a:lnTo>
                  <a:pt x="1808537" y="732764"/>
                </a:lnTo>
                <a:lnTo>
                  <a:pt x="1762451" y="682069"/>
                </a:lnTo>
                <a:lnTo>
                  <a:pt x="1707807" y="638617"/>
                </a:lnTo>
                <a:lnTo>
                  <a:pt x="1645920" y="603065"/>
                </a:lnTo>
                <a:lnTo>
                  <a:pt x="1605101" y="567513"/>
                </a:lnTo>
                <a:lnTo>
                  <a:pt x="1628144" y="509577"/>
                </a:lnTo>
                <a:lnTo>
                  <a:pt x="1641311" y="449665"/>
                </a:lnTo>
                <a:lnTo>
                  <a:pt x="1645262" y="389754"/>
                </a:lnTo>
                <a:lnTo>
                  <a:pt x="1639995" y="330501"/>
                </a:lnTo>
                <a:lnTo>
                  <a:pt x="1626169" y="272564"/>
                </a:lnTo>
                <a:lnTo>
                  <a:pt x="1604443" y="218578"/>
                </a:lnTo>
                <a:lnTo>
                  <a:pt x="1574816" y="167884"/>
                </a:lnTo>
                <a:lnTo>
                  <a:pt x="1537948" y="123115"/>
                </a:lnTo>
                <a:lnTo>
                  <a:pt x="1495154" y="83613"/>
                </a:lnTo>
                <a:lnTo>
                  <a:pt x="1447093" y="51353"/>
                </a:lnTo>
                <a:lnTo>
                  <a:pt x="1394423" y="25676"/>
                </a:lnTo>
                <a:lnTo>
                  <a:pt x="1338462" y="8559"/>
                </a:lnTo>
                <a:lnTo>
                  <a:pt x="1280526" y="0"/>
                </a:lnTo>
                <a:lnTo>
                  <a:pt x="1221931" y="0"/>
                </a:lnTo>
                <a:lnTo>
                  <a:pt x="1163336" y="8559"/>
                </a:lnTo>
                <a:lnTo>
                  <a:pt x="1105400" y="26335"/>
                </a:lnTo>
                <a:lnTo>
                  <a:pt x="1052730" y="39502"/>
                </a:lnTo>
                <a:lnTo>
                  <a:pt x="1003353" y="33577"/>
                </a:lnTo>
                <a:lnTo>
                  <a:pt x="953975" y="31602"/>
                </a:lnTo>
                <a:lnTo>
                  <a:pt x="904598" y="33577"/>
                </a:lnTo>
                <a:lnTo>
                  <a:pt x="855220" y="39502"/>
                </a:lnTo>
                <a:lnTo>
                  <a:pt x="802551" y="26335"/>
                </a:lnTo>
                <a:lnTo>
                  <a:pt x="744614" y="8559"/>
                </a:lnTo>
                <a:lnTo>
                  <a:pt x="686019" y="0"/>
                </a:lnTo>
                <a:lnTo>
                  <a:pt x="627425" y="0"/>
                </a:lnTo>
                <a:lnTo>
                  <a:pt x="569488" y="8559"/>
                </a:lnTo>
                <a:lnTo>
                  <a:pt x="513527" y="25676"/>
                </a:lnTo>
                <a:lnTo>
                  <a:pt x="460858" y="51353"/>
                </a:lnTo>
                <a:lnTo>
                  <a:pt x="412797" y="83613"/>
                </a:lnTo>
                <a:lnTo>
                  <a:pt x="370003" y="123115"/>
                </a:lnTo>
                <a:lnTo>
                  <a:pt x="333134" y="167884"/>
                </a:lnTo>
                <a:lnTo>
                  <a:pt x="303508" y="218578"/>
                </a:lnTo>
                <a:lnTo>
                  <a:pt x="281782" y="272564"/>
                </a:lnTo>
                <a:lnTo>
                  <a:pt x="267956" y="330501"/>
                </a:lnTo>
                <a:lnTo>
                  <a:pt x="262689" y="389754"/>
                </a:lnTo>
                <a:lnTo>
                  <a:pt x="266639" y="449665"/>
                </a:lnTo>
                <a:lnTo>
                  <a:pt x="279806" y="509577"/>
                </a:lnTo>
                <a:lnTo>
                  <a:pt x="302849" y="567513"/>
                </a:lnTo>
                <a:lnTo>
                  <a:pt x="262030" y="603065"/>
                </a:lnTo>
                <a:lnTo>
                  <a:pt x="200144" y="638617"/>
                </a:lnTo>
                <a:lnTo>
                  <a:pt x="145499" y="682069"/>
                </a:lnTo>
                <a:lnTo>
                  <a:pt x="99414" y="732764"/>
                </a:lnTo>
                <a:lnTo>
                  <a:pt x="61228" y="788725"/>
                </a:lnTo>
                <a:lnTo>
                  <a:pt x="31602" y="849295"/>
                </a:lnTo>
                <a:lnTo>
                  <a:pt x="11851" y="912498"/>
                </a:lnTo>
                <a:lnTo>
                  <a:pt x="1317" y="978335"/>
                </a:lnTo>
                <a:lnTo>
                  <a:pt x="0" y="1044172"/>
                </a:lnTo>
                <a:lnTo>
                  <a:pt x="8559" y="1110008"/>
                </a:lnTo>
                <a:lnTo>
                  <a:pt x="25676" y="1173212"/>
                </a:lnTo>
                <a:lnTo>
                  <a:pt x="52011" y="1233123"/>
                </a:lnTo>
                <a:lnTo>
                  <a:pt x="86905" y="1289085"/>
                </a:lnTo>
                <a:lnTo>
                  <a:pt x="129040" y="1339779"/>
                </a:lnTo>
                <a:lnTo>
                  <a:pt x="178418" y="1383890"/>
                </a:lnTo>
                <a:lnTo>
                  <a:pt x="233721" y="1420758"/>
                </a:lnTo>
                <a:lnTo>
                  <a:pt x="293632" y="1449068"/>
                </a:lnTo>
                <a:lnTo>
                  <a:pt x="358152" y="1468819"/>
                </a:lnTo>
                <a:lnTo>
                  <a:pt x="424647" y="1478695"/>
                </a:lnTo>
                <a:lnTo>
                  <a:pt x="493118" y="1478695"/>
                </a:lnTo>
                <a:lnTo>
                  <a:pt x="561588" y="1468819"/>
                </a:lnTo>
                <a:lnTo>
                  <a:pt x="628741" y="1447751"/>
                </a:lnTo>
                <a:lnTo>
                  <a:pt x="674827" y="1462894"/>
                </a:lnTo>
                <a:lnTo>
                  <a:pt x="713671" y="1497129"/>
                </a:lnTo>
                <a:lnTo>
                  <a:pt x="756465" y="1526097"/>
                </a:lnTo>
                <a:lnTo>
                  <a:pt x="802551" y="1548482"/>
                </a:lnTo>
                <a:lnTo>
                  <a:pt x="851928" y="1565599"/>
                </a:lnTo>
                <a:lnTo>
                  <a:pt x="902623" y="1575475"/>
                </a:lnTo>
                <a:lnTo>
                  <a:pt x="953975" y="1578766"/>
                </a:lnTo>
                <a:lnTo>
                  <a:pt x="1005328" y="1575475"/>
                </a:lnTo>
                <a:lnTo>
                  <a:pt x="1056022" y="1565599"/>
                </a:lnTo>
                <a:lnTo>
                  <a:pt x="1105400" y="1548482"/>
                </a:lnTo>
                <a:lnTo>
                  <a:pt x="1151486" y="1526097"/>
                </a:lnTo>
                <a:lnTo>
                  <a:pt x="1194280" y="1497129"/>
                </a:lnTo>
                <a:lnTo>
                  <a:pt x="1233123" y="1462894"/>
                </a:lnTo>
                <a:lnTo>
                  <a:pt x="1279209" y="1447751"/>
                </a:lnTo>
                <a:lnTo>
                  <a:pt x="1346363" y="1468819"/>
                </a:lnTo>
                <a:lnTo>
                  <a:pt x="1414833" y="1478695"/>
                </a:lnTo>
                <a:lnTo>
                  <a:pt x="1483303" y="1478695"/>
                </a:lnTo>
                <a:lnTo>
                  <a:pt x="1549798" y="1468819"/>
                </a:lnTo>
                <a:lnTo>
                  <a:pt x="1614318" y="1449068"/>
                </a:lnTo>
                <a:lnTo>
                  <a:pt x="1674230" y="1420758"/>
                </a:lnTo>
                <a:lnTo>
                  <a:pt x="1729533" y="1383890"/>
                </a:lnTo>
                <a:lnTo>
                  <a:pt x="1778910" y="1339779"/>
                </a:lnTo>
                <a:lnTo>
                  <a:pt x="1821046" y="1289085"/>
                </a:lnTo>
                <a:lnTo>
                  <a:pt x="1855939" y="1233123"/>
                </a:lnTo>
                <a:lnTo>
                  <a:pt x="1882274" y="1173212"/>
                </a:lnTo>
                <a:lnTo>
                  <a:pt x="1899392" y="1110008"/>
                </a:lnTo>
                <a:lnTo>
                  <a:pt x="1907950" y="1044172"/>
                </a:lnTo>
                <a:lnTo>
                  <a:pt x="1906634" y="978335"/>
                </a:lnTo>
                <a:lnTo>
                  <a:pt x="1896100" y="912498"/>
                </a:lnTo>
                <a:lnTo>
                  <a:pt x="1876349" y="849295"/>
                </a:lnTo>
                <a:close/>
              </a:path>
            </a:pathLst>
          </a:custGeom>
          <a:solidFill>
            <a:srgbClr val="F2A23A"/>
          </a:solidFill>
          <a:ln w="22225">
            <a:solidFill>
              <a:srgbClr val="B4651E"/>
            </a:solidFill>
            <a:prstDash val="solid"/>
          </a:ln>
        </p:spPr>
      </p:sp>
      <p:sp>
        <p:nvSpPr>
          <p:cNvPr id="23" name="S03-mark39"/>
          <p:cNvSpPr/>
          <p:nvPr/>
        </p:nvSpPr>
        <p:spPr>
          <a:xfrm>
            <a:off x="8304398" y="3701171"/>
            <a:ext cx="210678" cy="171176"/>
          </a:xfrm>
          <a:custGeom>
            <a:avLst/>
            <a:gdLst/>
            <a:ahLst/>
            <a:cxnLst/>
            <a:rect l="l" t="t" r="r" b="b"/>
            <a:pathLst>
              <a:path w="210678" h="171176">
                <a:moveTo>
                  <a:pt x="0" y="85588"/>
                </a:moveTo>
                <a:lnTo>
                  <a:pt x="105339" y="0"/>
                </a:lnTo>
                <a:lnTo>
                  <a:pt x="210678" y="85588"/>
                </a:lnTo>
                <a:lnTo>
                  <a:pt x="105339" y="171176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B4651E"/>
            </a:solidFill>
            <a:prstDash val="solid"/>
          </a:ln>
        </p:spPr>
      </p:sp>
      <p:sp>
        <p:nvSpPr>
          <p:cNvPr id="24" name="S03-mark40"/>
          <p:cNvSpPr/>
          <p:nvPr/>
        </p:nvSpPr>
        <p:spPr>
          <a:xfrm>
            <a:off x="6559723" y="3470742"/>
            <a:ext cx="210678" cy="171176"/>
          </a:xfrm>
          <a:custGeom>
            <a:avLst/>
            <a:gdLst/>
            <a:ahLst/>
            <a:cxnLst/>
            <a:rect l="l" t="t" r="r" b="b"/>
            <a:pathLst>
              <a:path w="210678" h="171176">
                <a:moveTo>
                  <a:pt x="0" y="85588"/>
                </a:moveTo>
                <a:lnTo>
                  <a:pt x="105339" y="0"/>
                </a:lnTo>
                <a:lnTo>
                  <a:pt x="210678" y="85588"/>
                </a:lnTo>
                <a:lnTo>
                  <a:pt x="105339" y="171176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B4651E"/>
            </a:solidFill>
            <a:prstDash val="solid"/>
          </a:ln>
        </p:spPr>
      </p:sp>
      <p:sp>
        <p:nvSpPr>
          <p:cNvPr id="25" name="S03-mark41"/>
          <p:cNvSpPr/>
          <p:nvPr/>
        </p:nvSpPr>
        <p:spPr>
          <a:xfrm>
            <a:off x="6915241" y="2818958"/>
            <a:ext cx="223845" cy="223845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26" name="S03-mark42"/>
          <p:cNvSpPr/>
          <p:nvPr/>
        </p:nvSpPr>
        <p:spPr>
          <a:xfrm>
            <a:off x="7771120" y="2588529"/>
            <a:ext cx="223845" cy="223845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27" name="S03-mark43"/>
          <p:cNvSpPr/>
          <p:nvPr/>
        </p:nvSpPr>
        <p:spPr>
          <a:xfrm>
            <a:off x="7310262" y="2292264"/>
            <a:ext cx="223845" cy="223845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28" name="S03-mark44"/>
          <p:cNvSpPr/>
          <p:nvPr/>
        </p:nvSpPr>
        <p:spPr>
          <a:xfrm>
            <a:off x="8001549" y="2917713"/>
            <a:ext cx="223845" cy="223845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29" name="S03-mark45"/>
          <p:cNvSpPr/>
          <p:nvPr/>
        </p:nvSpPr>
        <p:spPr>
          <a:xfrm>
            <a:off x="6401714" y="4148861"/>
            <a:ext cx="2238451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30" name="S03-label46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600" dirty="0"/>
          </a:p>
        </p:txBody>
      </p:sp>
      <p:sp>
        <p:nvSpPr>
          <p:cNvPr id="31" name="S03-figure47" descr="겨울 나무: 잎이 모두 떨어지고 가지만 남은 나무"/>
          <p:cNvSpPr/>
          <p:nvPr/>
        </p:nvSpPr>
        <p:spPr>
          <a:xfrm>
            <a:off x="10235611" y="3161309"/>
            <a:ext cx="276515" cy="987552"/>
          </a:xfrm>
          <a:custGeom>
            <a:avLst/>
            <a:gdLst/>
            <a:ahLst/>
            <a:cxnLst/>
            <a:rect l="l" t="t" r="r" b="b"/>
            <a:pathLst>
              <a:path w="276515" h="987552">
                <a:moveTo>
                  <a:pt x="0" y="987552"/>
                </a:moveTo>
                <a:lnTo>
                  <a:pt x="276515" y="987552"/>
                </a:lnTo>
                <a:lnTo>
                  <a:pt x="237012" y="0"/>
                </a:lnTo>
                <a:lnTo>
                  <a:pt x="39502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32" name="S03-mark48"/>
          <p:cNvSpPr/>
          <p:nvPr/>
        </p:nvSpPr>
        <p:spPr>
          <a:xfrm>
            <a:off x="9254642" y="4148861"/>
            <a:ext cx="2238451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33" name="S03-mark49"/>
          <p:cNvSpPr/>
          <p:nvPr/>
        </p:nvSpPr>
        <p:spPr>
          <a:xfrm flipH="1" flipV="1">
            <a:off x="9781337" y="2502941"/>
            <a:ext cx="592531" cy="691286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4" name="S03-mark50"/>
          <p:cNvSpPr/>
          <p:nvPr/>
        </p:nvSpPr>
        <p:spPr>
          <a:xfrm flipV="1">
            <a:off x="10373868" y="2535860"/>
            <a:ext cx="625450" cy="658368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5" name="S03-mark51"/>
          <p:cNvSpPr/>
          <p:nvPr/>
        </p:nvSpPr>
        <p:spPr>
          <a:xfrm flipV="1">
            <a:off x="10373868" y="2173757"/>
            <a:ext cx="0" cy="1020470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6" name="S03-mark52"/>
          <p:cNvSpPr/>
          <p:nvPr/>
        </p:nvSpPr>
        <p:spPr>
          <a:xfrm flipH="1">
            <a:off x="9748418" y="2851876"/>
            <a:ext cx="329184" cy="13167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7" name="S03-mark53"/>
          <p:cNvSpPr/>
          <p:nvPr/>
        </p:nvSpPr>
        <p:spPr>
          <a:xfrm>
            <a:off x="10703052" y="2851876"/>
            <a:ext cx="362102" cy="46086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8" name="S03-mark54"/>
          <p:cNvSpPr/>
          <p:nvPr/>
        </p:nvSpPr>
        <p:spPr>
          <a:xfrm flipH="1" flipV="1">
            <a:off x="10110521" y="2206676"/>
            <a:ext cx="263347" cy="362102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9" name="S03-mark55"/>
          <p:cNvSpPr/>
          <p:nvPr/>
        </p:nvSpPr>
        <p:spPr>
          <a:xfrm flipV="1">
            <a:off x="10373868" y="2226427"/>
            <a:ext cx="276515" cy="342351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40" name="S03-label56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계절일까요?</a:t>
            </a:r>
            <a:endParaRPr lang="ko-KR" sz="4400" dirty="0"/>
          </a:p>
        </p:txBody>
      </p:sp>
      <p:sp>
        <p:nvSpPr>
          <p:cNvPr id="3" name="S04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계절의 나무인지 말해요.</a:t>
            </a:r>
            <a:endParaRPr lang="ko-KR" sz="3200" dirty="0"/>
          </a:p>
        </p:txBody>
      </p:sp>
      <p:sp>
        <p:nvSpPr>
          <p:cNvPr id="4" name="S04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 그림 네 장을 떠올려요.</a:t>
            </a:r>
            <a:endParaRPr lang="ko-KR" sz="3200" dirty="0"/>
          </a:p>
        </p:txBody>
      </p:sp>
      <p:sp>
        <p:nvSpPr>
          <p:cNvPr id="6" name="S04-chip6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6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잎이 빨갛고 노랗게 물들었어요.</a:t>
            </a:r>
            <a:endParaRPr lang="ko-KR" sz="3200" dirty="0"/>
          </a:p>
        </p:txBody>
      </p:sp>
      <p:sp>
        <p:nvSpPr>
          <p:cNvPr id="8" name="S04-chip6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6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가지만 남고 잎이 없어요.</a:t>
            </a:r>
            <a:endParaRPr lang="ko-KR" sz="3200" dirty="0"/>
          </a:p>
        </p:txBody>
      </p:sp>
      <p:sp>
        <p:nvSpPr>
          <p:cNvPr id="10" name="S04-chip6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6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새싹이 돋고 꽃이 피었어요.</a:t>
            </a:r>
            <a:endParaRPr lang="ko-KR" sz="3200" dirty="0"/>
          </a:p>
        </p:txBody>
      </p:sp>
      <p:sp>
        <p:nvSpPr>
          <p:cNvPr id="12" name="S04-chip6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4-text6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짙은 초록 잎이 무성해요.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겨울의 두 나무</a:t>
            </a:r>
            <a:endParaRPr lang="ko-KR" sz="4400" dirty="0"/>
          </a:p>
        </p:txBody>
      </p:sp>
      <p:sp>
        <p:nvSpPr>
          <p:cNvPr id="3" name="S05-card6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6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공원에서 두 나무를 보았어요.</a:t>
            </a:r>
            <a:endParaRPr lang="ko-KR" sz="3200" dirty="0"/>
          </a:p>
        </p:txBody>
      </p:sp>
      <p:sp>
        <p:nvSpPr>
          <p:cNvPr id="5" name="S05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모든 나무의 잎이 다 떨어질까요?</a:t>
            </a:r>
            <a:endParaRPr lang="ko-KR" sz="3200" dirty="0"/>
          </a:p>
        </p:txBody>
      </p:sp>
      <p:sp>
        <p:nvSpPr>
          <p:cNvPr id="7" name="S05-chip7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 은행나무</a:t>
            </a:r>
            <a:endParaRPr lang="ko-KR" sz="2600" dirty="0"/>
          </a:p>
        </p:txBody>
      </p:sp>
      <p:sp>
        <p:nvSpPr>
          <p:cNvPr id="8" name="S05-figure73" descr="겨울 나무: 잎이 모두 떨어지고 가지만 남은 나무"/>
          <p:cNvSpPr/>
          <p:nvPr/>
        </p:nvSpPr>
        <p:spPr>
          <a:xfrm>
            <a:off x="3126994" y="4284980"/>
            <a:ext cx="206248" cy="736600"/>
          </a:xfrm>
          <a:custGeom>
            <a:avLst/>
            <a:gdLst/>
            <a:ahLst/>
            <a:cxnLst/>
            <a:rect l="l" t="t" r="r" b="b"/>
            <a:pathLst>
              <a:path w="206248" h="736600">
                <a:moveTo>
                  <a:pt x="0" y="736600"/>
                </a:moveTo>
                <a:lnTo>
                  <a:pt x="206248" y="736600"/>
                </a:lnTo>
                <a:lnTo>
                  <a:pt x="176784" y="0"/>
                </a:lnTo>
                <a:lnTo>
                  <a:pt x="29464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9" name="S05-mark74"/>
          <p:cNvSpPr/>
          <p:nvPr/>
        </p:nvSpPr>
        <p:spPr>
          <a:xfrm>
            <a:off x="2395305" y="5021580"/>
            <a:ext cx="1669627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10" name="S05-mark75"/>
          <p:cNvSpPr/>
          <p:nvPr/>
        </p:nvSpPr>
        <p:spPr>
          <a:xfrm flipH="1" flipV="1">
            <a:off x="2788158" y="3793913"/>
            <a:ext cx="441960" cy="515620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1" name="S05-mark76"/>
          <p:cNvSpPr/>
          <p:nvPr/>
        </p:nvSpPr>
        <p:spPr>
          <a:xfrm flipV="1">
            <a:off x="3230118" y="3818467"/>
            <a:ext cx="466513" cy="491067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2" name="S05-mark77"/>
          <p:cNvSpPr/>
          <p:nvPr/>
        </p:nvSpPr>
        <p:spPr>
          <a:xfrm flipV="1">
            <a:off x="3230118" y="3548380"/>
            <a:ext cx="0" cy="761153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3" name="S05-mark78"/>
          <p:cNvSpPr/>
          <p:nvPr/>
        </p:nvSpPr>
        <p:spPr>
          <a:xfrm flipH="1">
            <a:off x="2763605" y="4054179"/>
            <a:ext cx="245533" cy="9821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4" name="S05-mark79"/>
          <p:cNvSpPr/>
          <p:nvPr/>
        </p:nvSpPr>
        <p:spPr>
          <a:xfrm>
            <a:off x="3475651" y="4054179"/>
            <a:ext cx="270087" cy="34375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5" name="S05-mark80"/>
          <p:cNvSpPr/>
          <p:nvPr/>
        </p:nvSpPr>
        <p:spPr>
          <a:xfrm flipH="1" flipV="1">
            <a:off x="3033691" y="3572933"/>
            <a:ext cx="196427" cy="270087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6" name="S05-mark81"/>
          <p:cNvSpPr/>
          <p:nvPr/>
        </p:nvSpPr>
        <p:spPr>
          <a:xfrm flipV="1">
            <a:off x="3230118" y="3587665"/>
            <a:ext cx="206248" cy="255355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7" name="S05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 소나무</a:t>
            </a:r>
            <a:endParaRPr lang="ko-KR" sz="2600" dirty="0"/>
          </a:p>
        </p:txBody>
      </p:sp>
      <p:sp>
        <p:nvSpPr>
          <p:cNvPr id="18" name="S05-figure83" descr="겨울의 소나무: 초록 잎이 달린 뾰족한 모양의 나무"/>
          <p:cNvSpPr/>
          <p:nvPr/>
        </p:nvSpPr>
        <p:spPr>
          <a:xfrm>
            <a:off x="8870442" y="4628727"/>
            <a:ext cx="176784" cy="392853"/>
          </a:xfrm>
          <a:custGeom>
            <a:avLst/>
            <a:gdLst/>
            <a:ahLst/>
            <a:cxnLst/>
            <a:rect l="l" t="t" r="r" b="b"/>
            <a:pathLst>
              <a:path w="176784" h="392853">
                <a:moveTo>
                  <a:pt x="0" y="392853"/>
                </a:moveTo>
                <a:lnTo>
                  <a:pt x="176784" y="392853"/>
                </a:lnTo>
                <a:lnTo>
                  <a:pt x="147320" y="0"/>
                </a:lnTo>
                <a:lnTo>
                  <a:pt x="29464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19" name="S05-mark84"/>
          <p:cNvSpPr/>
          <p:nvPr/>
        </p:nvSpPr>
        <p:spPr>
          <a:xfrm>
            <a:off x="8295894" y="4014893"/>
            <a:ext cx="1325880" cy="638387"/>
          </a:xfrm>
          <a:custGeom>
            <a:avLst/>
            <a:gdLst/>
            <a:ahLst/>
            <a:cxnLst/>
            <a:rect l="l" t="t" r="r" b="b"/>
            <a:pathLst>
              <a:path w="1325880" h="638387">
                <a:moveTo>
                  <a:pt x="0" y="638387"/>
                </a:moveTo>
                <a:lnTo>
                  <a:pt x="1325880" y="638387"/>
                </a:lnTo>
                <a:lnTo>
                  <a:pt x="662940" y="0"/>
                </a:lnTo>
                <a:close/>
              </a:path>
            </a:pathLst>
          </a:custGeom>
          <a:solidFill>
            <a:srgbClr val="2F6B3A"/>
          </a:solidFill>
          <a:ln w="22225">
            <a:solidFill>
              <a:srgbClr val="1E4626"/>
            </a:solidFill>
            <a:prstDash val="solid"/>
          </a:ln>
        </p:spPr>
      </p:sp>
      <p:sp>
        <p:nvSpPr>
          <p:cNvPr id="20" name="S05-mark85"/>
          <p:cNvSpPr/>
          <p:nvPr/>
        </p:nvSpPr>
        <p:spPr>
          <a:xfrm>
            <a:off x="8418661" y="3720253"/>
            <a:ext cx="1080347" cy="564727"/>
          </a:xfrm>
          <a:custGeom>
            <a:avLst/>
            <a:gdLst/>
            <a:ahLst/>
            <a:cxnLst/>
            <a:rect l="l" t="t" r="r" b="b"/>
            <a:pathLst>
              <a:path w="1080347" h="564727">
                <a:moveTo>
                  <a:pt x="0" y="564727"/>
                </a:moveTo>
                <a:lnTo>
                  <a:pt x="1080347" y="564727"/>
                </a:lnTo>
                <a:lnTo>
                  <a:pt x="540173" y="0"/>
                </a:lnTo>
                <a:close/>
              </a:path>
            </a:pathLst>
          </a:custGeom>
          <a:solidFill>
            <a:srgbClr val="2F6B3A"/>
          </a:solidFill>
          <a:ln w="22225">
            <a:solidFill>
              <a:srgbClr val="1E4626"/>
            </a:solidFill>
            <a:prstDash val="solid"/>
          </a:ln>
        </p:spPr>
      </p:sp>
      <p:sp>
        <p:nvSpPr>
          <p:cNvPr id="21" name="S05-mark86"/>
          <p:cNvSpPr/>
          <p:nvPr/>
        </p:nvSpPr>
        <p:spPr>
          <a:xfrm>
            <a:off x="8565981" y="3425613"/>
            <a:ext cx="785707" cy="515620"/>
          </a:xfrm>
          <a:custGeom>
            <a:avLst/>
            <a:gdLst/>
            <a:ahLst/>
            <a:cxnLst/>
            <a:rect l="l" t="t" r="r" b="b"/>
            <a:pathLst>
              <a:path w="785707" h="515620">
                <a:moveTo>
                  <a:pt x="0" y="515620"/>
                </a:moveTo>
                <a:lnTo>
                  <a:pt x="785707" y="515620"/>
                </a:lnTo>
                <a:lnTo>
                  <a:pt x="392853" y="0"/>
                </a:lnTo>
                <a:close/>
              </a:path>
            </a:pathLst>
          </a:custGeom>
          <a:solidFill>
            <a:srgbClr val="2F6B3A"/>
          </a:solidFill>
          <a:ln w="22225">
            <a:solidFill>
              <a:srgbClr val="1E4626"/>
            </a:solidFill>
            <a:prstDash val="solid"/>
          </a:ln>
        </p:spPr>
      </p:sp>
      <p:sp>
        <p:nvSpPr>
          <p:cNvPr id="22" name="S05-mark87"/>
          <p:cNvSpPr/>
          <p:nvPr/>
        </p:nvSpPr>
        <p:spPr>
          <a:xfrm>
            <a:off x="8124021" y="5021580"/>
            <a:ext cx="1669627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동물의 사계절</a:t>
            </a:r>
            <a:endParaRPr lang="ko-KR" sz="4400" dirty="0"/>
          </a:p>
        </p:txBody>
      </p:sp>
      <p:sp>
        <p:nvSpPr>
          <p:cNvPr id="3" name="S06-card8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8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추운 겨울 동안 거의 움직이지 않고 잠자듯 지내는 것</a:t>
            </a:r>
            <a:endParaRPr lang="ko-KR" sz="3200" dirty="0"/>
          </a:p>
        </p:txBody>
      </p:sp>
      <p:sp>
        <p:nvSpPr>
          <p:cNvPr id="5" name="S06-card90"/>
          <p:cNvSpPr/>
          <p:nvPr/>
        </p:nvSpPr>
        <p:spPr>
          <a:xfrm>
            <a:off x="548640" y="1325880"/>
            <a:ext cx="5431536" cy="1565402"/>
          </a:xfrm>
          <a:prstGeom prst="roundRect">
            <a:avLst>
              <a:gd name="adj" fmla="val 70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91"/>
          <p:cNvSpPr txBox="1"/>
          <p:nvPr/>
        </p:nvSpPr>
        <p:spPr>
          <a:xfrm>
            <a:off x="822960" y="1463040"/>
            <a:ext cx="4882896" cy="1291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개구리가 겨울잠에서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깨어나요.</a:t>
            </a:r>
            <a:endParaRPr lang="ko-KR" sz="2600" dirty="0"/>
          </a:p>
        </p:txBody>
      </p:sp>
      <p:sp>
        <p:nvSpPr>
          <p:cNvPr id="7" name="S06-card92"/>
          <p:cNvSpPr/>
          <p:nvPr/>
        </p:nvSpPr>
        <p:spPr>
          <a:xfrm>
            <a:off x="6208776" y="1325880"/>
            <a:ext cx="5431536" cy="1565402"/>
          </a:xfrm>
          <a:prstGeom prst="roundRect">
            <a:avLst>
              <a:gd name="adj" fmla="val 70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93"/>
          <p:cNvSpPr txBox="1"/>
          <p:nvPr/>
        </p:nvSpPr>
        <p:spPr>
          <a:xfrm>
            <a:off x="6483096" y="1463040"/>
            <a:ext cx="4882896" cy="1291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매미가 맴맴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울어요.</a:t>
            </a:r>
            <a:endParaRPr lang="ko-KR" sz="2600" dirty="0"/>
          </a:p>
        </p:txBody>
      </p:sp>
      <p:sp>
        <p:nvSpPr>
          <p:cNvPr id="9" name="S06-card94"/>
          <p:cNvSpPr/>
          <p:nvPr/>
        </p:nvSpPr>
        <p:spPr>
          <a:xfrm>
            <a:off x="548640" y="3119882"/>
            <a:ext cx="5431536" cy="1565402"/>
          </a:xfrm>
          <a:prstGeom prst="roundRect">
            <a:avLst>
              <a:gd name="adj" fmla="val 70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95"/>
          <p:cNvSpPr txBox="1"/>
          <p:nvPr/>
        </p:nvSpPr>
        <p:spPr>
          <a:xfrm>
            <a:off x="822960" y="3257042"/>
            <a:ext cx="4882896" cy="1291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다람쥐가 도토리를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모아 숨겨요.</a:t>
            </a:r>
            <a:endParaRPr lang="ko-KR" sz="2600" dirty="0"/>
          </a:p>
        </p:txBody>
      </p:sp>
      <p:sp>
        <p:nvSpPr>
          <p:cNvPr id="11" name="S06-card96"/>
          <p:cNvSpPr/>
          <p:nvPr/>
        </p:nvSpPr>
        <p:spPr>
          <a:xfrm>
            <a:off x="6208776" y="3119882"/>
            <a:ext cx="5431536" cy="1565402"/>
          </a:xfrm>
          <a:prstGeom prst="roundRect">
            <a:avLst>
              <a:gd name="adj" fmla="val 70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6-cardtext97"/>
          <p:cNvSpPr txBox="1"/>
          <p:nvPr/>
        </p:nvSpPr>
        <p:spPr>
          <a:xfrm>
            <a:off x="6483096" y="3257042"/>
            <a:ext cx="4882896" cy="1291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개구리와 곰은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겨울잠을 자요.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어떻게 지낼까요?</a:t>
            </a:r>
            <a:endParaRPr lang="ko-KR" sz="4400" dirty="0"/>
          </a:p>
        </p:txBody>
      </p:sp>
      <p:sp>
        <p:nvSpPr>
          <p:cNvPr id="3" name="S07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동물의 사계절 카드를 떠올려요.</a:t>
            </a:r>
            <a:endParaRPr lang="ko-KR" sz="3200" dirty="0"/>
          </a:p>
        </p:txBody>
      </p:sp>
      <p:sp>
        <p:nvSpPr>
          <p:cNvPr id="5" name="S07-chip100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text101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개구리는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지낼까요?</a:t>
            </a:r>
            <a:endParaRPr lang="ko-KR" sz="3200" dirty="0"/>
          </a:p>
        </p:txBody>
      </p:sp>
      <p:sp>
        <p:nvSpPr>
          <p:cNvPr id="7" name="S07-chip102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text103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가을에 다람쥐는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할까요?</a:t>
            </a:r>
            <a:endParaRPr lang="ko-KR" sz="3200" dirty="0"/>
          </a:p>
        </p:txBody>
      </p:sp>
      <p:sp>
        <p:nvSpPr>
          <p:cNvPr id="9" name="S07-chip104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text105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크게 우는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곤충은?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동물은?</a:t>
            </a:r>
            <a:endParaRPr lang="ko-KR" sz="4400" dirty="0"/>
          </a:p>
        </p:txBody>
      </p:sp>
      <p:sp>
        <p:nvSpPr>
          <p:cNvPr id="3" name="S08-card10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0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겨울의 동물을 이야기했어요.</a:t>
            </a:r>
            <a:endParaRPr lang="ko-KR" sz="3200" dirty="0"/>
          </a:p>
        </p:txBody>
      </p:sp>
      <p:sp>
        <p:nvSpPr>
          <p:cNvPr id="5" name="S08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겨울에 본 동물이 있나요?</a:t>
            </a:r>
            <a:endParaRPr lang="ko-KR" sz="3200" dirty="0"/>
          </a:p>
        </p:txBody>
      </p:sp>
      <p:sp>
        <p:nvSpPr>
          <p:cNvPr id="7" name="S08-chip11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 지우</a:t>
            </a:r>
            <a:endParaRPr lang="ko-KR" sz="2600" dirty="0"/>
          </a:p>
        </p:txBody>
      </p:sp>
      <p:sp>
        <p:nvSpPr>
          <p:cNvPr id="8" name="S08-text11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“겨울에는 동물이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사라져요.”</a:t>
            </a:r>
            <a:endParaRPr lang="ko-KR" sz="3200" dirty="0"/>
          </a:p>
        </p:txBody>
      </p:sp>
      <p:sp>
        <p:nvSpPr>
          <p:cNvPr id="9" name="S08-chip11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 하람</a:t>
            </a:r>
            <a:endParaRPr lang="ko-KR" sz="2600" dirty="0"/>
          </a:p>
        </p:txBody>
      </p:sp>
      <p:sp>
        <p:nvSpPr>
          <p:cNvPr id="10" name="S08-text11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“겨울잠을 자는 동물도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있고, 겨울에도 볼 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새도 있어요.”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계절 찾기</a:t>
            </a:r>
            <a:endParaRPr lang="ko-KR" sz="4400" dirty="0"/>
          </a:p>
        </p:txBody>
      </p:sp>
      <p:sp>
        <p:nvSpPr>
          <p:cNvPr id="3" name="S09-card114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15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어른과 함께 가요. 벌과 모르는 열매는 만지지 않아요.</a:t>
            </a:r>
            <a:endParaRPr lang="ko-KR" sz="3200" dirty="0"/>
          </a:p>
        </p:txBody>
      </p:sp>
      <p:sp>
        <p:nvSpPr>
          <p:cNvPr id="5" name="S09-card116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17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나무의 모습을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동물을 찾아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계절과 까닭을 말해요</a:t>
            </a:r>
            <a:endParaRPr lang="ko-KR" sz="3200" dirty="0"/>
          </a:p>
        </p:txBody>
      </p:sp>
      <p:sp>
        <p:nvSpPr>
          <p:cNvPr id="7" name="S09-stepno118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119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 한 그루를 정해요.</a:t>
            </a:r>
            <a:endParaRPr lang="ko-KR" sz="3200" dirty="0"/>
          </a:p>
        </p:txBody>
      </p:sp>
      <p:sp>
        <p:nvSpPr>
          <p:cNvPr id="9" name="S09-stepno120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121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잎의 색과 모양을 봐요.</a:t>
            </a:r>
            <a:endParaRPr lang="ko-KR" sz="3200" dirty="0"/>
          </a:p>
        </p:txBody>
      </p:sp>
      <p:sp>
        <p:nvSpPr>
          <p:cNvPr id="11" name="S09-stepno122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123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새나 곤충을 찾아봐요.</a:t>
            </a:r>
            <a:endParaRPr lang="ko-KR" sz="3200" dirty="0"/>
          </a:p>
        </p:txBody>
      </p:sp>
      <p:sp>
        <p:nvSpPr>
          <p:cNvPr id="13" name="S09-stepno124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125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계절을 말하고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까닭도 말해요.</a:t>
            </a:r>
            <a:endParaRPr lang="ko-KR" sz="3200" dirty="0"/>
          </a:p>
        </p:txBody>
      </p:sp>
      <p:sp>
        <p:nvSpPr>
          <p:cNvPr id="5" name="S10-chip128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0-text129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 나무의 모습을 말해요.</a:t>
            </a:r>
            <a:endParaRPr lang="ko-KR" sz="3200" dirty="0"/>
          </a:p>
        </p:txBody>
      </p:sp>
      <p:sp>
        <p:nvSpPr>
          <p:cNvPr id="7" name="S10-chip130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text131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겨울잠은 무엇일까요?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겨울잠을 자는 동물은?</a:t>
            </a:r>
            <a:endParaRPr lang="ko-KR" sz="3200" dirty="0"/>
          </a:p>
        </p:txBody>
      </p:sp>
      <p:sp>
        <p:nvSpPr>
          <p:cNvPr id="9" name="S10-chip132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0-text133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겨울에도 잎이 푸른 나무는?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1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나무와 동물은 계절에 따라 모습과 지내는 방법이 달라요.</a:t>
            </a:r>
            <a:endParaRPr lang="ko-KR" sz="3200" dirty="0"/>
          </a:p>
        </p:txBody>
      </p:sp>
      <p:sp>
        <p:nvSpPr>
          <p:cNvPr id="5" name="S11-chip13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37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단풍, 열매</a:t>
            </a:r>
            <a:endParaRPr lang="ko-KR" sz="3200" dirty="0"/>
          </a:p>
        </p:txBody>
      </p:sp>
      <p:sp>
        <p:nvSpPr>
          <p:cNvPr id="7" name="S11-text138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잎이 물들어요</a:t>
            </a:r>
            <a:endParaRPr lang="ko-KR" sz="2600" dirty="0"/>
          </a:p>
        </p:txBody>
      </p:sp>
      <p:sp>
        <p:nvSpPr>
          <p:cNvPr id="8" name="S11-text139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잠자듯 지내기</a:t>
            </a:r>
            <a:endParaRPr lang="ko-KR" sz="2600" dirty="0"/>
          </a:p>
        </p:txBody>
      </p:sp>
      <p:sp>
        <p:nvSpPr>
          <p:cNvPr id="9" name="S11-text140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개구리, 곰, 다람쥐</a:t>
            </a:r>
            <a:endParaRPr lang="ko-KR" sz="2600" dirty="0"/>
          </a:p>
        </p:txBody>
      </p:sp>
      <p:sp>
        <p:nvSpPr>
          <p:cNvPr id="10" name="S11-text141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소나무</a:t>
            </a:r>
            <a:endParaRPr lang="ko-KR" sz="3200" dirty="0"/>
          </a:p>
        </p:txBody>
      </p:sp>
      <p:sp>
        <p:nvSpPr>
          <p:cNvPr id="11" name="S11-text142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겨울에도 푸른 잎</a:t>
            </a:r>
            <a:endParaRPr lang="ko-KR" sz="2600" dirty="0"/>
          </a:p>
        </p:txBody>
      </p:sp>
      <p:sp>
        <p:nvSpPr>
          <p:cNvPr id="12" name="S11-chip14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14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죽는 것</a:t>
            </a:r>
            <a:endParaRPr lang="ko-KR" sz="3200" dirty="0"/>
          </a:p>
        </p:txBody>
      </p:sp>
      <p:sp>
        <p:nvSpPr>
          <p:cNvPr id="14" name="S11-text14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봄에 다시 깨어나요</a:t>
            </a:r>
            <a:endParaRPr lang="ko-KR" sz="2600" dirty="0"/>
          </a:p>
        </p:txBody>
      </p:sp>
      <p:sp>
        <p:nvSpPr>
          <p:cNvPr id="15" name="S11-text14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모든 나무</a:t>
            </a:r>
            <a:endParaRPr lang="ko-KR" sz="3200" dirty="0"/>
          </a:p>
        </p:txBody>
      </p:sp>
      <p:sp>
        <p:nvSpPr>
          <p:cNvPr id="16" name="S11-text14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잎이 지는 나무도 있어요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148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49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나무와 동물은 계절에 따라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모습과 지내는 방법이 달라요.</a:t>
            </a:r>
            <a:endParaRPr lang="ko-KR" sz="3200" dirty="0"/>
          </a:p>
        </p:txBody>
      </p:sp>
      <p:sp>
        <p:nvSpPr>
          <p:cNvPr id="5" name="S12-chip150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나무를 계절마다 보기</a:t>
            </a:r>
            <a:endParaRPr lang="ko-KR" sz="2600" dirty="0"/>
          </a:p>
        </p:txBody>
      </p:sp>
      <p:sp>
        <p:nvSpPr>
          <p:cNvPr id="6" name="S12-chip151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겨울잠을 죽음이라 하기</a:t>
            </a:r>
            <a:endParaRPr lang="ko-KR" sz="2600" dirty="0"/>
          </a:p>
        </p:txBody>
      </p:sp>
      <p:sp>
        <p:nvSpPr>
          <p:cNvPr id="7" name="S12-text152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153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봄 나무의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모습은?</a:t>
            </a:r>
            <a:endParaRPr lang="ko-KR" sz="2600" dirty="0"/>
          </a:p>
        </p:txBody>
      </p:sp>
      <p:sp>
        <p:nvSpPr>
          <p:cNvPr id="9" name="S12-text154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겨울잠을 자는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 하나는?</a:t>
            </a:r>
            <a:endParaRPr lang="ko-KR" sz="2600" dirty="0"/>
          </a:p>
        </p:txBody>
      </p:sp>
      <p:sp>
        <p:nvSpPr>
          <p:cNvPr id="10" name="S12-text155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겨울에도 잎이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푸른 나무는?</a:t>
            </a:r>
            <a:endParaRPr lang="ko-KR" sz="2600" dirty="0"/>
          </a:p>
        </p:txBody>
      </p:sp>
      <p:sp>
        <p:nvSpPr>
          <p:cNvPr id="11" name="S12-text15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예상과 관찰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계절의 차례</a:t>
            </a:r>
            <a:endParaRPr lang="ko-KR" sz="4400" dirty="0"/>
          </a:p>
        </p:txBody>
      </p:sp>
      <p:sp>
        <p:nvSpPr>
          <p:cNvPr id="3" name="S13-text1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 차례대로 돌아와요.</a:t>
            </a:r>
            <a:endParaRPr lang="ko-KR" sz="3200" dirty="0"/>
          </a:p>
        </p:txBody>
      </p:sp>
      <p:sp>
        <p:nvSpPr>
          <p:cNvPr id="4" name="S13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계절을 비교할 때는 달라진 점을 찾아요.</a:t>
            </a:r>
            <a:endParaRPr lang="ko-KR" sz="3200" dirty="0"/>
          </a:p>
        </p:txBody>
      </p:sp>
      <p:sp>
        <p:nvSpPr>
          <p:cNvPr id="6" name="S13-step160"/>
          <p:cNvSpPr txBox="1"/>
          <p:nvPr/>
        </p:nvSpPr>
        <p:spPr>
          <a:xfrm>
            <a:off x="548640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따뜻해요</a:t>
            </a:r>
            <a:endParaRPr lang="ko-KR" sz="2800" dirty="0"/>
          </a:p>
        </p:txBody>
      </p:sp>
      <p:sp>
        <p:nvSpPr>
          <p:cNvPr id="7" name="S13-line161"/>
          <p:cNvSpPr/>
          <p:nvPr/>
        </p:nvSpPr>
        <p:spPr>
          <a:xfrm>
            <a:off x="3067812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162"/>
          <p:cNvSpPr txBox="1"/>
          <p:nvPr/>
        </p:nvSpPr>
        <p:spPr>
          <a:xfrm>
            <a:off x="3424428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더워요</a:t>
            </a:r>
            <a:endParaRPr lang="ko-KR" sz="2800" dirty="0"/>
          </a:p>
        </p:txBody>
      </p:sp>
      <p:sp>
        <p:nvSpPr>
          <p:cNvPr id="9" name="S13-line163"/>
          <p:cNvSpPr/>
          <p:nvPr/>
        </p:nvSpPr>
        <p:spPr>
          <a:xfrm>
            <a:off x="5943600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164"/>
          <p:cNvSpPr txBox="1"/>
          <p:nvPr/>
        </p:nvSpPr>
        <p:spPr>
          <a:xfrm>
            <a:off x="6300216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선선해요</a:t>
            </a:r>
            <a:endParaRPr lang="ko-KR" sz="2800" dirty="0"/>
          </a:p>
        </p:txBody>
      </p:sp>
      <p:sp>
        <p:nvSpPr>
          <p:cNvPr id="11" name="S13-line165"/>
          <p:cNvSpPr/>
          <p:nvPr/>
        </p:nvSpPr>
        <p:spPr>
          <a:xfrm>
            <a:off x="8819388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3-step166"/>
          <p:cNvSpPr txBox="1"/>
          <p:nvPr/>
        </p:nvSpPr>
        <p:spPr>
          <a:xfrm>
            <a:off x="9176004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추워요</a:t>
            </a:r>
            <a:endParaRPr lang="ko-KR" sz="2800" dirty="0"/>
          </a:p>
        </p:txBody>
      </p:sp>
      <p:sp>
        <p:nvSpPr>
          <p:cNvPr id="13" name="S13-line167"/>
          <p:cNvSpPr/>
          <p:nvPr/>
        </p:nvSpPr>
        <p:spPr>
          <a:xfrm>
            <a:off x="10408158" y="411480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4" name="S13-line168"/>
          <p:cNvSpPr/>
          <p:nvPr/>
        </p:nvSpPr>
        <p:spPr>
          <a:xfrm flipH="1">
            <a:off x="1780794" y="4434840"/>
            <a:ext cx="862736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5" name="S13-line169"/>
          <p:cNvSpPr/>
          <p:nvPr/>
        </p:nvSpPr>
        <p:spPr>
          <a:xfrm flipV="1">
            <a:off x="1780794" y="413308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과학 계절과 동식물</dc:title>
  <dc:subject>KR22-G02-SCI-SEASONLIFE-L01</dc:subject>
  <dc:creator>education-ppt</dc:creator>
  <cp:lastModifiedBy>education-ppt</cp:lastModifiedBy>
  <cp:revision>1</cp:revision>
  <dcterms:created xsi:type="dcterms:W3CDTF">2026-10-26T13:22:46Z</dcterms:created>
  <dcterms:modified xsi:type="dcterms:W3CDTF">2026-10-26T13:22:46Z</dcterms:modified>
</cp:coreProperties>
</file>