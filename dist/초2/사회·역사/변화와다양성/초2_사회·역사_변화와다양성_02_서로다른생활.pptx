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d06254e-ec7d-9063-f7a2-aae3f466c583}">
          <p14:sldIdLst>
            <p14:sldId id="256"/>
            <p14:sldId id="257"/>
          </p14:sldIdLst>
        </p14:section>
        <p14:section name="개념" id="{7dcef4bd-2901-d502-d62d-323f6fb3eb25}">
          <p14:sldIdLst>
            <p14:sldId id="258"/>
            <p14:sldId id="259"/>
            <p14:sldId id="260"/>
            <p14:sldId id="263"/>
          </p14:sldIdLst>
        </p14:section>
        <p14:section name="연습" id="{f709faca-e043-37a2-38a3-7265de445386}">
          <p14:sldIdLst>
            <p14:sldId id="261"/>
            <p14:sldId id="262"/>
            <p14:sldId id="264"/>
            <p14:sldId id="265"/>
          </p14:sldIdLst>
        </p14:section>
        <p14:section name="개념" id="{8f9f3ee6-0ef3-8b19-7392-824e8340d18c}">
          <p14:sldIdLst/>
        </p14:section>
        <p14:section name="연습" id="{0e943505-47fb-a5db-9b33-afa3006453d8}">
          <p14:sldIdLst/>
        </p14:section>
        <p14:section name="확인" id="{708a653d-12fe-b7cc-f31e-ae9982aea617}">
          <p14:sldIdLst>
            <p14:sldId id="266"/>
            <p14:sldId id="267"/>
            <p14:sldId id="268"/>
          </p14:sldIdLst>
        </p14:section>
        <p14:section name="정리" id="{f4a28d66-4300-b2cf-bbe9-b69a49ff5244}">
          <p14:sldIdLst>
            <p14:sldId id="269"/>
          </p14:sldIdLst>
        </p14:section>
        <p14:section name="보충" id="{0598e0aa-7b7f-ee73-ae52-3b6bcb26c9e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사람마다 생활 모습이 다를 수 있다는 생각을 열어 줍니다.
시간: 약 2분
이렇게 말해 보세요
- “친구들 집에서도 우리 집처럼 아침을 먹고, 같은 시간에 잘까?”
- “오늘은 사람마다 다른 생활 모습을 알아보고, 다른 모습을 만났을 때 어떻게 말하고 행동하면 좋을지 생각해 볼 거야.”
예상 답
- “아니요, 친구는 빵을 먹어요.” “잘 모르겠어요.”
막히면
- “친구 집에 놀러 갔을 때 우리 집과 다른 점이 있었어?”라고 경험을 묻습니다.
주의
- 화면의 별빛마을 친구들은 수업을 위해 지어낸 것입니다. 어느 생활이 더 좋거나 나쁘다고 말하지 않습니다.
- 친구나 이웃의 사정을 아이에게 캐묻지 않습니다. 오늘의 다름 찾기는 우리 가족 안에서 합니다(S10).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확인(같은 점과 다른 점 찾기)]
목적: 앞 차시 ‘옛날과 오늘’(KR22-G02-SOC-PAST-L01)에서 익힌 ‘같은 점과 다른 점 찾기’를 할 수 있는지 확인합니다. 오늘은 사람마다 다른 생활 모습을 찾을 때 씁니다.
시간: 약 3분
이렇게 말해 보세요
- “①, 너와 엄마(아빠)는 어떤 점이 같을까? ②, 다른 점은?”
- “③, 지난 시간에 할머니의 공기놀이와 오늘의 공기놀이는 무엇이 달랐지?”
예상 답
- ① “둘 다 김치를 좋아해요.” “눈이 닮았어요.” ② “엄마는 키가 커요.” “나는 우유를 좋아하고 엄마는 커피를 좋아해요.”
- ③ “할머니는 주운 돌로, 지호는 산 공깃돌로 놀았어요.”
막히면
- “신발 크기는 같아? 좋아하는 음식은?”처럼 하나씩 견주어 묻습니다.
- 같은 점이나 다른 점을 하나도 찾지 못하면 S15(보충)를 먼저 합니다. 보충으로도 어려우면 앞 차시 ‘옛날과 오늘’(KR22-G02-SOC-PAST-L01)의 S05(같은 점과 다른 점 찾기 시범)를 다시 합니다.
주의
- ③을 잊었어도 괜찮습니다. ①②에서 같은 점과 다른 점을 말할 수 있으면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사람마다 다른 생활 모습]
목적: 쓰는 말, 하루 생활, 움직이는 방법, 먹는 것이 사람마다 다를 수 있다는 것을 예로 보여 줍니다(목표 A).
시간: 약 3분
이렇게 말해 보세요
- “별빛마을 친구들의 생활이야. 카드를 같이 읽어 볼까?”
- “준서네 부모님은 밤에 일하는 날이 있어. 그런 날 낮에는 무엇을 하실까? 준서네 집에 놀러 가면 어떻게 하면 좋을까?”
- “네 친구들 가운데에도 우리 집과 다르게 생활하는 친구가 있어?”
예상 답
- “주무세요.” “조용히 놀아요.”
- “친구는 할머니랑 살아요.” “친구는 영어를 해요.”
막히면
- 카드 하나씩 “우리 집과 같아? 달라?”라고 묻습니다.
주의
- 밤에 일하는 사람에는 간호사, 경찰관, 소방관, 공장에서 일하는 사람 등이 있습니다.
- 하린이네처럼 고기를 먹지 않는 까닭은 집마다 다릅니다(건강, 생각, 믿음 등). 까닭을 정해 말하지 않습니다.
- 아이가 친구의 사정을 말하면 “그렇구나.” 하고 들어 주되, 더 캐묻지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생활 모습이 다른 까닭]
목적: 생활 모습이 다른 데에는 까닭(하는 일, 몸, 자란 곳, 생각과 좋아하는 것)이 있다는 것을 알려 줍니다(목표 A).
시간: 약 3분
이렇게 말해 보세요
- “준서네는 왜 낮에 조용히 할까? 부모님이 밤에 일하시니까, 하는 일이 달라서 생활이 달라.”
- “라온이는 왜 휠체어를 탈까? 걷기 어려운 친구에게는 휠체어가 몸에 맞는 방법이야. 라온이도 우리처럼 학교에 다녀.”
- “서연이네와 하린이네는 왜 다를까?”
예상 답
- “서연이 엄마가 다른 나라에서 자라서요.” “하린이네는 채소를 좋아해서요.”
막히면
- S03의 카드와 이 장의 카드를 하나씩 짝지어 봅니다.
주의
- 까닭을 몰라도 존중할 수 있습니다. 까닭이 궁금하면 정중하게 물어볼 수 있지만, 말하고 싶지 않아 하면 더 묻지 않는다고 알려 줍니다(S08에서 다시).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‘다르다’와 ‘틀리다’ 구별하기]
목적: ‘다르다’(같지 않다)와 ‘틀리다’(맞지 않다)를 구별해, 나와 다른 생활을 ‘틀렸다’고 말하지 않게 합니다(목표 A, 오해 M1).
시간: 약 3분
이렇게 말해 보세요
- “‘틀리다’는 셈이나 답이 맞지 않을 때 쓰는 말이야. 2 더하기 3을 6이라고 하면 틀린 거지.”
- “‘다르다’는 서로 같지 않을 때 쓰는 말이야. 하린이네 밥상은 우리 집과 같지 않을 뿐이지, 맞고 틀린 것이 아니야.”
- “그러니까 하린이네 밥은 틀린 걸까, 다른 걸까?”
예상 답
- “달라요.” “틀린 게 아니라 다른 거예요.”
막히면
- “너는 딸기를 좋아하고 엄마는 수박을 좋아해. 엄마가 틀린 걸까?”처럼 가족의 예로 바꾸어 묻습니다.
주의
- 어른도 ‘다르다’를 ‘틀리다’로 잘못 말하는 일이 많습니다. 부모님도 수업 뒤에 함께 조심해서 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‘달라요’와 ‘틀려요’ 고르기]
목적: 여러 예에서 ‘달라요’와 ‘틀려요’를 골라 쓰고 까닭을 말합니다(목표 A, 오해 M1).
시간: 약 3분
이렇게 말해 보세요
- “①, 민호는 왼손으로 글씨를 써. 달라요일까, 틀려요일까? 왜 그렇게 생각해?”
- “②, ③도 골라 볼래?”
정답
- ① 달라요(오른손으로 쓰는 사람과 같지 않을 뿐이에요)
- ② 달라요(설날 음식은 집마다 다를 수 있어요)
- ③ 틀려요(2 + 3 = 5라서 답이 맞지 않아요)
막히면
- “이건 답이 정해져 있는 문제일까?”라고 묻습니다. 정답이 있는 것이 맞지 않으면 ‘틀려요’, 사람마다 다를 수 있으면 ‘달라요’입니다.
주의
- ①에서 ‘왼손은 이상해요’라고 하면 “왼손을 편하게 쓰는 사람도 많아. 이상한 걸까, 다른 걸까?”라고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비교(한 사람을 보고 모두 같다고 여기기)]
목적: 한 사람이나 한 가족의 모습을 보고 그 나라나 무리 사람이 모두 같다고 생각하지 않게 합니다(목표 A, 오해 M2).
시간: 약 3분
이렇게 말해 보세요
- “우리나라 사람들은 모두 똑같이 생활할까? 우리 집과 친구 집은 같아?”
- “그럼 다른 나라 사람들은 어떨까? 가와 나 가운데 누구 생각이 알맞을까?”
정답
- 나. 같은 나라 사람도 집마다, 사람마다 생활이 다릅니다. 우리나라 사람들이 모두 똑같이 살지 않는 것과 같습니다. 궁금하면 그 사람에게 정중하게 물어봅니다.
- 기준: ‘사람마다 달라요’를 우리 집과 친구 집의 예처럼 까닭을 들어 말하면 잘함.
막히면
- “우리 반 친구들은 모두 같은 음식을 좋아해?”라고 묻습니다.
주의
- 특정 나라 이름을 들어 ‘○○ 사람은 ~해’처럼 말하지 않습니다. 아이가 그렇게 말하면 “그 나라 사람도 사람마다 다르지 않을까?”라고 되묻습니다.
- 여기까지가 다른 생활 모습을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존중하는 말과 행동]
목적: 나와 다른 생활 모습을 만났을 때 할 수 있는 존중하는 말과 행동을 알려 줍니다(목표 B, 오해 M3).
시간: 약 3분
이렇게 말해 보세요
- “친구가 나와 다르게 생활할 때 어떻게 말하면 좋을까? 카드를 같이 읽어 보자.”
- “궁금한 게 있으면 ‘물어봐도 돼?’ 하고 먼저 여쭈어. 친구가 말하고 싶지 않다고 하면 더 묻지 않는 것도 존중이야.”
- “라온이를 도와주고 싶으면 어떻게 할까? 먼저 ‘도와줄까?’ 하고 물어봐.”
예상 답
- “‘그렇구나!’ 하고 말해요.” “같이 놀자고 해요.”
막히면
- “네가 친구에게 이런 말을 들으면 기분이 어때?”라고 카드마다 묻습니다.
주의
- 돕고 싶을 때는 먼저 물어보고, 친구가 원하는 방법으로 돕는다고 알려 줍니다. 묻지 않고 휠체어를 밀거나 물건을 들어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존중하는 말 고르기]
목적: 존중하는 말과 그렇지 않은 말을 고르고, 듣는 사람의 마음을 까닭으로 말합니다(목표 B).
시간: 약 3분
이렇게 말해 보세요
- “①, 친구가 이 말을 들으면 마음이 어떨까? ○일까, ×일까?”
- “×라면 어떻게 바꾸어 말하면 좋을까?”
정답
- ① × (친구가 속상해요) → “우리 집과 다르구나.”
- ② ○ (관심을 갖고 들어 주는 말이에요)
- ③ × (라온이가 슬퍼요) → “라온이도 같이 할 수 있는 놀이를 하자.”
- 기준: ○·×와 함께 듣는 사람의 마음을 까닭으로 말하면 맞습니다.
막히면
- “네가 그 말을 들으면 어떨 것 같아?”라고 아이 입장에서 생각하게 합니다.
주의
- ③은 함께 놀 방법을 찾는 것이 존중입니다. 공놀이라면 공을 굴려 주고받기처럼 모두가 할 수 있게 바꿀 수 있다고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가족 안의 다름 찾기]
목적: 한 집에 사는 가족끼리도 좋아하는 것과 생활이 다르다는 것을 찾고, 다른 점에 존중하는 말을 해 봅니다(목표 B, 오해 M2). 기록은 활동지 4에 합니다.
시간: 약 4분
이렇게 말해 보세요
- “엄마(아빠)에게 좋아하는 음식과 좋아하는 놀이를 여쭈어 볼래?” (부모가 솔직하게 대답합니다)
- “너와 같은 점이 있어? 다른 점은?”
- “다른 점을 들었을 때 뭐라고 말하면 좋을까?”
예상 답
- 예: “아빠는 매운 음식을 좋아하고 저는 안 좋아해요. 그렇구나!”
정답
- 기준: ① 가족 두 명(지금 있는 부모 한 명 + 다른 가족 또는 전화)에게 여쭘 ② 나와 다른 점을 한 가지 이상 찾음 ③ “그렇구나!”처럼 존중하는 말을 함. 집마다 답이 다릅니다.
막히면
- 부모가 먼저 아이에게 “너는 무슨 음식을 좋아해?”라고 묻고, 서로 바꾸어 묻게 합니다.
주의
- 가족이 한 명뿐이면 할머니·할아버지, 친척과 전화로 해도 됩니다. 가족 안에서도 서로 다르다는 것을 느끼는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하기(다른 것과 틀린 것, 다른 까닭)]
목적: 도움 없이 ‘달라요’와 ‘틀려요’를 구별하고, 생활 모습이 다른 까닭을 말하는지 확인합니다(목표 A).
시간: 약 3분
이렇게 말해 보세요
- “이번에는 혼자 해 볼래? ①, ②는 고르고 까닭도 말해 줘.”
- “③, 수어는 손과 얼굴 표정으로 하는 말이야. 그 친구는 왜 손으로 말할까?”
정답
- ① 달라요(아침에 먹는 것은 사람마다 다를 수 있어요)
- ② 틀려요(사과인데 바나나라고 써서 맞지 않아요)
- ③ 소리를 듣기 어려워서 손과 표정으로 말하는 방법이 몸에 맞아요(몸에 맞는 방법이라서).
막히면
- 바로 알려 주지 말고 “정답이 있는 문제일까?”라고만 묻습니다. 도움을 받아 해결했다면 기록표에 ‘도움’으로 표시합니다.
주의
- ③에서 “말을 못 해서요.”라고 하면 “수어도 말이야. 손으로 하는 말이지.”라고 바로잡아 줍니다.
- 세 문제 모두 바르게 말하면 목표 A를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하기(존중하는 말 만들기)]
목적: 처음 보는 상황에서 존중하는 말과 하지 않을 말을 고르고, 듣는 사람의 마음을 까닭으로 말하는지 확인합니다(목표 B).
시간: 약 3분
이렇게 말해 보세요
- “전학 온 친구가 아직 우리말이 서툴러. 너라면 뭐라고 말할까? 왜 그렇게 말할까? 하지 않을 말은?”
정답
- ① 예: “같이 놀자!” “천천히 말해 줄게.” “모르는 말은 내가 알려 줄게.”
- ② 예: 친구가 반갑고 편안한 마음이 들어서요. 친구가 외롭지 않아서요.
- ③ 예: “말도 못 하네.” 흉내 내기, 놀리기
- 기준: 존중하는 말과 하지 않을 말을 하나씩 고르고, 듣는 사람의 마음을 까닭으로 말하면 맞습니다.
막히면
- 바로 알려 주지 말고 S08의 카드 제목만 다시 읽어 줍니다. 도움을 받아 해결했다면 기록표에 ‘도움’으로 표시합니다.
주의
- ‘다른 나라에서 온 친구’로 정하지 않았습니다. 우리말을 배우는 까닭은 친구마다 다르다는 것도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S11·S12의 답을 확인하고 다시 생각해 볼 말과 비교합니다.
시간: 약 2분
이렇게 말해 보세요
- “네 답과 왼쪽을 비교해 볼까? 오른쪽 말을 들으면 친구 마음이 어떨까?”
예상 답
- “속상할 것 같아요.” “다른 거지 이상한 게 아니에요.”
정답
- S11: ① 달라요 ② 틀려요 ③ 소리를 듣기 어려워 손과 표정으로 말하는 방법이 몸에 맞아서
- S12: 존중하는 말과 하지 않을 말을 까닭과 함께 말하면 맞음
막히면
- S05(달라요·틀려요)와 S08(존중하는 말)로 돌아가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“나와 다른 생활을 만나면 어떻게 말하면 좋을까?”
예상 답
- “그렇구나! 하고 말해요.” “틀린 게 아니라 다른 거예요.”
정답
- ① ‘다르다’는 같지 않은 것, ‘틀리다’는 답이 맞지 않은 것 ② 하는 일, 몸에 맞는 방법, 자란 곳, 생각이 달라서 가운데 하나 ③ 예: “그렇구나!”, “같이 하자!”, “물어봐도 돼?”
막히면
- S05와 S08을 다시 보여 줍니다.
주의
- 오늘로 2학년 사회 차시가 끝납니다. 다음 차시는 계획상 3학년 ‘우리 고장의 장소’입니다. 3학년 ‘다양한 가족’에서 오늘 배운 존중하는 마음을 가족의 모습으로 넓혀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보충(같은 점과 다른 점 찾기)]
목적: S02에서 같은 점이나 다른 점을 찾기 어려워하면, 실제 물건 두 개를 나란히 놓고 견주며 같은 점과 다른 점을 먼저 찾습니다.
시간: 약 4분
이렇게 말해 보세요
- “두 신발을 나란히 놓아 볼까? 둘 다 무엇을 하는 물건이야? 그게 같은 점이야.”
- “크기는? 색은? 다른 점을 찾아볼래?”
정답
- 예: 같은 점 – 둘 다 신발이에요, 둘 다 발에 신어요, 끈이 있어요 / 다른 점 – 크기, 색, 모양 (같은 점과 다른 점을 하나씩 말하면 맞음)
막히면
- 숟가락과 젓가락, 컵 두 개처럼 더 단순한 물건으로 바꾸어 봅니다.
주의
- 계획상 앞 차시는 ‘옛날과 오늘’(KR22-G02-SOC-PAST-L01)입니다. 보충 뒤에도 같은 점·다른 점 찾기가 어려우면 그 차시의 S05~S06을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변화와다양성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서로 다른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서로 다른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사회·역사 · 서로 다른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생활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모두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생활할까?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서로 다른 생활 모습을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존중하는 말과 행동을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점, 다른 점</a:t>
            </a:r>
            <a:endParaRPr lang="ko-KR" sz="44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엄마(아빠)의 같은 점은?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엄마(아빠)의 다른 점은?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 놀이의 다른 점은?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친구들</a:t>
            </a:r>
            <a:endParaRPr lang="ko-KR" sz="44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친구들의 생활 모습이에요.</a:t>
            </a:r>
            <a:endParaRPr lang="ko-KR" sz="3200" dirty="0"/>
          </a:p>
        </p:txBody>
      </p:sp>
      <p:sp>
        <p:nvSpPr>
          <p:cNvPr id="4" name="S03-card1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다른 나라에서 와서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두 나라 말을 써요.</a:t>
            </a:r>
            <a:endParaRPr lang="ko-KR" sz="3200" dirty="0"/>
          </a:p>
        </p:txBody>
      </p:sp>
      <p:sp>
        <p:nvSpPr>
          <p:cNvPr id="6" name="S03-card1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준서네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부모님이 밤에 일하는 날은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 주무세요.</a:t>
            </a:r>
            <a:endParaRPr lang="ko-KR" sz="3200" dirty="0"/>
          </a:p>
        </p:txBody>
      </p:sp>
      <p:sp>
        <p:nvSpPr>
          <p:cNvPr id="8" name="S03-card1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라온이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휠체어를 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다녀요.</a:t>
            </a:r>
            <a:endParaRPr lang="ko-KR" sz="3200" dirty="0"/>
          </a:p>
        </p:txBody>
      </p:sp>
      <p:sp>
        <p:nvSpPr>
          <p:cNvPr id="10" name="S03-card1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고기를 먹지 않고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채소로 밥상을 차려요.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다를까요?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데에는 까닭이 있어요.</a:t>
            </a:r>
            <a:endParaRPr lang="ko-KR" sz="3200" dirty="0"/>
          </a:p>
        </p:txBody>
      </p:sp>
      <p:sp>
        <p:nvSpPr>
          <p:cNvPr id="5" name="S04-card2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달라서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준서네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맞는 방법이라서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라온이</a:t>
            </a:r>
            <a:endParaRPr lang="ko-KR" sz="3200" dirty="0"/>
          </a:p>
        </p:txBody>
      </p:sp>
      <p:sp>
        <p:nvSpPr>
          <p:cNvPr id="9" name="S04-card2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곳이 달라서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서연이네</a:t>
            </a:r>
            <a:endParaRPr lang="ko-KR" sz="3200" dirty="0"/>
          </a:p>
        </p:txBody>
      </p:sp>
      <p:sp>
        <p:nvSpPr>
          <p:cNvPr id="11" name="S04-card2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달라서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달라요? 틀려요?</a:t>
            </a:r>
            <a:endParaRPr lang="ko-KR" sz="4400" dirty="0"/>
          </a:p>
        </p:txBody>
      </p:sp>
      <p:sp>
        <p:nvSpPr>
          <p:cNvPr id="3" name="S05-card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하린이네는 고기 없이 채소로 밥상을 차려요.</a:t>
            </a:r>
            <a:endParaRPr lang="ko-KR" sz="3200" dirty="0"/>
          </a:p>
        </p:txBody>
      </p:sp>
      <p:sp>
        <p:nvSpPr>
          <p:cNvPr id="5" name="S05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‘다르다’와 ‘틀리다’는 어떻게 다를까요?</a:t>
            </a:r>
            <a:endParaRPr lang="ko-KR" sz="3200" dirty="0"/>
          </a:p>
        </p:txBody>
      </p:sp>
      <p:sp>
        <p:nvSpPr>
          <p:cNvPr id="7" name="S05-chip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600" dirty="0"/>
          </a:p>
        </p:txBody>
      </p:sp>
      <p:sp>
        <p:nvSpPr>
          <p:cNvPr id="8" name="S05-text3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“하린이네 밥은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틀렸어요.”</a:t>
            </a:r>
            <a:endParaRPr lang="ko-KR" sz="3200" dirty="0"/>
          </a:p>
        </p:txBody>
      </p:sp>
      <p:sp>
        <p:nvSpPr>
          <p:cNvPr id="9" name="S05-chip3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600" dirty="0"/>
          </a:p>
        </p:txBody>
      </p:sp>
      <p:sp>
        <p:nvSpPr>
          <p:cNvPr id="10" name="S05-text3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“하린이네 밥은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집과 달라요.”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맞을까요?</a:t>
            </a:r>
            <a:endParaRPr lang="ko-KR" sz="44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‘달라요’일까요, ‘틀려요’일까요?</a:t>
            </a:r>
            <a:endParaRPr lang="ko-KR" sz="3200" dirty="0"/>
          </a:p>
        </p:txBody>
      </p:sp>
      <p:sp>
        <p:nvSpPr>
          <p:cNvPr id="4" name="S06-chip3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6-text3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왼손으로 글씨를 써요.</a:t>
            </a:r>
            <a:endParaRPr lang="ko-KR" sz="3200" dirty="0"/>
          </a:p>
        </p:txBody>
      </p:sp>
      <p:sp>
        <p:nvSpPr>
          <p:cNvPr id="6" name="S06-chip3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6-text4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수아네는 설날에 만둣국을 먹어요.</a:t>
            </a:r>
            <a:endParaRPr lang="ko-KR" sz="3200" dirty="0"/>
          </a:p>
        </p:txBody>
      </p:sp>
      <p:sp>
        <p:nvSpPr>
          <p:cNvPr id="8" name="S06-chip4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6-text4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= 6이라고 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같을까요?</a:t>
            </a:r>
            <a:endParaRPr lang="ko-KR" sz="44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 엄마는 다른 나라에서 오셨어요.</a:t>
            </a:r>
            <a:endParaRPr lang="ko-KR" sz="3200" dirty="0"/>
          </a:p>
        </p:txBody>
      </p:sp>
      <p:sp>
        <p:nvSpPr>
          <p:cNvPr id="5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알맞을까요? 왜요?</a:t>
            </a:r>
            <a:endParaRPr lang="ko-KR" sz="3200" dirty="0"/>
          </a:p>
        </p:txBody>
      </p:sp>
      <p:sp>
        <p:nvSpPr>
          <p:cNvPr id="7" name="S07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 나라 사람은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똑같이 살 거야.”</a:t>
            </a:r>
            <a:endParaRPr lang="ko-KR" sz="3200" dirty="0"/>
          </a:p>
        </p:txBody>
      </p:sp>
      <p:sp>
        <p:nvSpPr>
          <p:cNvPr id="9" name="S07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“사람마다 달라요.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서연이에게 물어봐요.”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말과 행동</a:t>
            </a:r>
            <a:endParaRPr lang="ko-KR" sz="4400" dirty="0"/>
          </a:p>
        </p:txBody>
      </p:sp>
      <p:sp>
        <p:nvSpPr>
          <p:cNvPr id="3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존중은 다른 모습을 소중히 여기는 마음이에요.</a:t>
            </a:r>
            <a:endParaRPr lang="ko-KR" sz="3200" dirty="0"/>
          </a:p>
        </p:txBody>
      </p:sp>
      <p:sp>
        <p:nvSpPr>
          <p:cNvPr id="5" name="S08-card53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4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“그렇구나!”</a:t>
            </a:r>
            <a:endParaRPr lang="ko-KR" sz="3200" dirty="0"/>
          </a:p>
        </p:txBody>
      </p:sp>
      <p:sp>
        <p:nvSpPr>
          <p:cNvPr id="7" name="S08-card55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6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“물어봐도 돼?”</a:t>
            </a:r>
            <a:endParaRPr lang="ko-KR" sz="3200" dirty="0"/>
          </a:p>
        </p:txBody>
      </p:sp>
      <p:sp>
        <p:nvSpPr>
          <p:cNvPr id="9" name="S08-card57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58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“같이 하자!”</a:t>
            </a:r>
            <a:endParaRPr lang="ko-KR" sz="3200" dirty="0"/>
          </a:p>
        </p:txBody>
      </p:sp>
      <p:sp>
        <p:nvSpPr>
          <p:cNvPr id="11" name="S08-card59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60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놀리지 않아요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내거나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웃지 않아요.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좋을까요?</a:t>
            </a:r>
            <a:endParaRPr lang="ko-KR" sz="44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말에 ○, 아니면 × 해요.</a:t>
            </a:r>
            <a:endParaRPr lang="ko-KR" sz="3200" dirty="0"/>
          </a:p>
        </p:txBody>
      </p:sp>
      <p:sp>
        <p:nvSpPr>
          <p:cNvPr id="4" name="S09-chip6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집 밥은 이상해.”</a:t>
            </a:r>
            <a:endParaRPr lang="ko-KR" sz="3200" dirty="0"/>
          </a:p>
        </p:txBody>
      </p:sp>
      <p:sp>
        <p:nvSpPr>
          <p:cNvPr id="6" name="S09-chip6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6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“그렇구나! 어떤 맛이야?”</a:t>
            </a:r>
            <a:endParaRPr lang="ko-KR" sz="3200" dirty="0"/>
          </a:p>
        </p:txBody>
      </p:sp>
      <p:sp>
        <p:nvSpPr>
          <p:cNvPr id="8" name="S09-chip6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6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“라온이는 휠체어를 타니까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빼고 놀자.”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 다름 찾기</a:t>
            </a:r>
            <a:endParaRPr lang="ko-KR" sz="44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가족에게 여쭈어 보아요.</a:t>
            </a:r>
            <a:endParaRPr lang="ko-KR" sz="3200" dirty="0"/>
          </a:p>
        </p:txBody>
      </p:sp>
      <p:sp>
        <p:nvSpPr>
          <p:cNvPr id="4" name="S10-card6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가족 두 명에게 여쭈었어요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점을 찾았어요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존중하는 말을 했어요</a:t>
            </a:r>
            <a:endParaRPr lang="ko-KR" sz="3200" dirty="0"/>
          </a:p>
        </p:txBody>
      </p:sp>
      <p:sp>
        <p:nvSpPr>
          <p:cNvPr id="6" name="S10-stepno71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72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음식을 여쭈어요.</a:t>
            </a:r>
            <a:endParaRPr lang="ko-KR" sz="3200" dirty="0"/>
          </a:p>
        </p:txBody>
      </p:sp>
      <p:sp>
        <p:nvSpPr>
          <p:cNvPr id="8" name="S10-stepno73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4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놀이도 여쭈어요.</a:t>
            </a:r>
            <a:endParaRPr lang="ko-KR" sz="3200" dirty="0"/>
          </a:p>
        </p:txBody>
      </p:sp>
      <p:sp>
        <p:nvSpPr>
          <p:cNvPr id="10" name="S10-stepno75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6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다른 점을 찾아요.</a:t>
            </a:r>
            <a:endParaRPr lang="ko-KR" sz="3200" dirty="0"/>
          </a:p>
        </p:txBody>
      </p:sp>
      <p:sp>
        <p:nvSpPr>
          <p:cNvPr id="12" name="S10-stepno77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8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“그렇구나!” 하고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8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우진이는 아침에 과일을 먹어요.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달라요? 틀려요?</a:t>
            </a:r>
            <a:endParaRPr lang="ko-KR" sz="3200" dirty="0"/>
          </a:p>
        </p:txBody>
      </p:sp>
      <p:sp>
        <p:nvSpPr>
          <p:cNvPr id="5" name="S11-chip8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8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그림에 ‘바나나’라고 썼어요.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달라요? 틀려요?</a:t>
            </a:r>
            <a:endParaRPr lang="ko-KR" sz="3200" dirty="0"/>
          </a:p>
        </p:txBody>
      </p:sp>
      <p:sp>
        <p:nvSpPr>
          <p:cNvPr id="7" name="S11-chip8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8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수어로 이야기하는 친구는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손으로 말할까요?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말할까요?</a:t>
            </a:r>
            <a:endParaRPr lang="ko-KR" sz="44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전학 온 친구가 우리말을 배우고 있어요.</a:t>
            </a:r>
            <a:endParaRPr lang="ko-KR" sz="3200" dirty="0"/>
          </a:p>
        </p:txBody>
      </p:sp>
      <p:sp>
        <p:nvSpPr>
          <p:cNvPr id="4" name="S12-chip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 하나는?</a:t>
            </a:r>
            <a:endParaRPr lang="ko-KR" sz="32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말하는 까닭은?</a:t>
            </a:r>
            <a:endParaRPr lang="ko-KR" sz="32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않을 말 하나는?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3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 틀린 것이 아니에요. 존중하는 말을 해요.</a:t>
            </a:r>
            <a:endParaRPr lang="ko-KR" sz="3200" dirty="0"/>
          </a:p>
        </p:txBody>
      </p:sp>
      <p:sp>
        <p:nvSpPr>
          <p:cNvPr id="5" name="S13-chip9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600" dirty="0"/>
          </a:p>
        </p:txBody>
      </p:sp>
      <p:sp>
        <p:nvSpPr>
          <p:cNvPr id="6" name="S13-text95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달라요  ② 틀려요</a:t>
            </a:r>
            <a:endParaRPr lang="ko-KR" sz="3200" dirty="0"/>
          </a:p>
        </p:txBody>
      </p:sp>
      <p:sp>
        <p:nvSpPr>
          <p:cNvPr id="7" name="S13-text96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몸에 맞는 방법이라서</a:t>
            </a:r>
            <a:endParaRPr lang="ko-KR" sz="3200" dirty="0"/>
          </a:p>
        </p:txBody>
      </p:sp>
      <p:sp>
        <p:nvSpPr>
          <p:cNvPr id="8" name="S13-text97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S12: “같이 놀자!”</a:t>
            </a:r>
            <a:endParaRPr lang="ko-KR" sz="3200" dirty="0"/>
          </a:p>
        </p:txBody>
      </p:sp>
      <p:sp>
        <p:nvSpPr>
          <p:cNvPr id="9" name="S13-chip9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생각해요</a:t>
            </a:r>
            <a:endParaRPr lang="ko-KR" sz="2600" dirty="0"/>
          </a:p>
        </p:txBody>
      </p:sp>
      <p:sp>
        <p:nvSpPr>
          <p:cNvPr id="10" name="S13-text9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“이상해요.”</a:t>
            </a:r>
            <a:endParaRPr lang="ko-KR" sz="3200" dirty="0"/>
          </a:p>
        </p:txBody>
      </p:sp>
      <p:sp>
        <p:nvSpPr>
          <p:cNvPr id="11" name="S13-text10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낮추는 말</a:t>
            </a:r>
            <a:endParaRPr lang="ko-KR" sz="2600" dirty="0"/>
          </a:p>
        </p:txBody>
      </p:sp>
      <p:sp>
        <p:nvSpPr>
          <p:cNvPr id="12" name="S13-text10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하네.”</a:t>
            </a:r>
            <a:endParaRPr lang="ko-KR" sz="3200" dirty="0"/>
          </a:p>
        </p:txBody>
      </p:sp>
      <p:sp>
        <p:nvSpPr>
          <p:cNvPr id="13" name="S13-text10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0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모습은 사람마다 달라요.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 틀린 것이 아니에요.</a:t>
            </a:r>
            <a:endParaRPr lang="ko-KR" sz="3200" dirty="0"/>
          </a:p>
        </p:txBody>
      </p:sp>
      <p:sp>
        <p:nvSpPr>
          <p:cNvPr id="5" name="S14-chip10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“그렇구나!” 하고 존중하기</a:t>
            </a:r>
            <a:endParaRPr lang="ko-KR" sz="2600" dirty="0"/>
          </a:p>
        </p:txBody>
      </p:sp>
      <p:sp>
        <p:nvSpPr>
          <p:cNvPr id="6" name="S14-chip10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다르다고 놀리기</a:t>
            </a:r>
            <a:endParaRPr lang="ko-KR" sz="2600" dirty="0"/>
          </a:p>
        </p:txBody>
      </p:sp>
      <p:sp>
        <p:nvSpPr>
          <p:cNvPr id="7" name="S14-text10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0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‘다르다’와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‘틀리다’의 차이는?</a:t>
            </a:r>
            <a:endParaRPr lang="ko-KR" sz="2600" dirty="0"/>
          </a:p>
        </p:txBody>
      </p:sp>
      <p:sp>
        <p:nvSpPr>
          <p:cNvPr id="9" name="S14-text10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생활 모습이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까닭 하나는?</a:t>
            </a:r>
            <a:endParaRPr lang="ko-KR" sz="2600" dirty="0"/>
          </a:p>
        </p:txBody>
      </p:sp>
      <p:sp>
        <p:nvSpPr>
          <p:cNvPr id="10" name="S14-text11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존중하는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하나는?</a:t>
            </a:r>
            <a:endParaRPr lang="ko-KR" sz="2600" dirty="0"/>
          </a:p>
        </p:txBody>
      </p:sp>
      <p:sp>
        <p:nvSpPr>
          <p:cNvPr id="11" name="S14-text1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우리 고장의 장소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신발 견주기</a:t>
            </a:r>
            <a:endParaRPr lang="ko-KR" sz="4400" dirty="0"/>
          </a:p>
        </p:txBody>
      </p:sp>
      <p:sp>
        <p:nvSpPr>
          <p:cNvPr id="3" name="S15-card11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1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현관에서 내 신발과 엄마(아빠) 신발을 가져와요.</a:t>
            </a:r>
            <a:endParaRPr lang="ko-KR" sz="3200" dirty="0"/>
          </a:p>
        </p:txBody>
      </p:sp>
      <p:sp>
        <p:nvSpPr>
          <p:cNvPr id="5" name="S15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5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 하나, 다른 점 하나는?</a:t>
            </a:r>
            <a:endParaRPr lang="ko-KR" sz="3200" dirty="0"/>
          </a:p>
        </p:txBody>
      </p:sp>
      <p:sp>
        <p:nvSpPr>
          <p:cNvPr id="7" name="S15-chip11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신발</a:t>
            </a:r>
            <a:endParaRPr lang="ko-KR" sz="2600" dirty="0"/>
          </a:p>
        </p:txBody>
      </p:sp>
      <p:sp>
        <p:nvSpPr>
          <p:cNvPr id="8" name="S15-text11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발에 신어요.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작아요.</a:t>
            </a:r>
            <a:endParaRPr lang="ko-KR" sz="3200" dirty="0"/>
          </a:p>
        </p:txBody>
      </p:sp>
      <p:sp>
        <p:nvSpPr>
          <p:cNvPr id="9" name="S15-chip11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 신발</a:t>
            </a:r>
            <a:endParaRPr lang="ko-KR" sz="2600" dirty="0"/>
          </a:p>
        </p:txBody>
      </p:sp>
      <p:sp>
        <p:nvSpPr>
          <p:cNvPr id="10" name="S15-text11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발에 신어요.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사회·역사 서로 다른 생활</dc:title>
  <dc:subject>KR22-G02-SOC-DIVERSE-L01</dc:subject>
  <dc:creator>education-ppt</dc:creator>
  <cp:lastModifiedBy>education-ppt</cp:lastModifiedBy>
  <cp:revision>1</cp:revision>
  <dcterms:created xsi:type="dcterms:W3CDTF">2026-10-26T13:04:24Z</dcterms:created>
  <dcterms:modified xsi:type="dcterms:W3CDTF">2026-10-26T13:04:24Z</dcterms:modified>
</cp:coreProperties>
</file>