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44a5631-4af4-c3cc-939b-0f28df1ccef4}">
          <p14:sldIdLst>
            <p14:sldId id="256"/>
            <p14:sldId id="257"/>
          </p14:sldIdLst>
        </p14:section>
        <p14:section name="개념" id="{a3cc9941-374a-34a5-8195-feda29d4ad8c}">
          <p14:sldIdLst>
            <p14:sldId id="258"/>
            <p14:sldId id="259"/>
            <p14:sldId id="260"/>
            <p14:sldId id="263"/>
          </p14:sldIdLst>
        </p14:section>
        <p14:section name="연습" id="{0b46a462-4ce4-9990-66c7-4446e528e4c9}">
          <p14:sldIdLst>
            <p14:sldId id="261"/>
            <p14:sldId id="262"/>
            <p14:sldId id="264"/>
          </p14:sldIdLst>
        </p14:section>
        <p14:section name="개념" id="{621749f0-a5dc-4bac-b975-824410c6f98a}">
          <p14:sldIdLst/>
        </p14:section>
        <p14:section name="연습" id="{2954c5d3-4dc7-cc00-9158-61d426b69104}">
          <p14:sldIdLst/>
        </p14:section>
        <p14:section name="확인" id="{ccad8a6f-e879-b8da-1433-1036079ca143}">
          <p14:sldIdLst>
            <p14:sldId id="265"/>
            <p14:sldId id="266"/>
          </p14:sldIdLst>
        </p14:section>
        <p14:section name="정리" id="{c695619d-a5e2-1e46-77ec-99fe22a97743}">
          <p14:sldIdLst>
            <p14:sldId id="267"/>
          </p14:sldIdLst>
        </p14:section>
        <p14:section name="보충" id="{64a0a99d-8988-2590-6f98-b3c1f8b11e35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변화와다양성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옛날과 오늘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초2 사회·역사 · 옛날과 오늘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초2 사회·역사 · 옛날과 오늘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아빠가 어렸을 때는</a:t>
            </a:r>
            <a:endParaRPr lang="ko-KR" sz="3200" dirty="0"/>
          </a:p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놀았을까?</a:t>
            </a:r>
            <a:endParaRPr lang="ko-KR" sz="3200" dirty="0"/>
          </a:p>
        </p:txBody>
      </p:sp>
      <p:sp>
        <p:nvSpPr>
          <p:cNvPr id="4" name="S01-card1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옛날과 오늘을 비교해요.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가족 어른께 여쭈어 알아봐요.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예전의 나, 지금의 나</a:t>
            </a:r>
            <a:endParaRPr lang="ko-KR" sz="4400" dirty="0"/>
          </a:p>
        </p:txBody>
      </p:sp>
      <p:sp>
        <p:nvSpPr>
          <p:cNvPr id="3" name="S02-chip3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4" name="S02-text4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아기 때 나는 무엇을 먹었나요?</a:t>
            </a:r>
            <a:endParaRPr lang="ko-KR" sz="3200" dirty="0"/>
          </a:p>
        </p:txBody>
      </p:sp>
      <p:sp>
        <p:nvSpPr>
          <p:cNvPr id="5" name="S02-chip5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6" name="S02-text6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나는 무엇을 먹나요?</a:t>
            </a:r>
            <a:endParaRPr lang="ko-KR" sz="3200" dirty="0"/>
          </a:p>
        </p:txBody>
      </p:sp>
      <p:sp>
        <p:nvSpPr>
          <p:cNvPr id="7" name="S02-chip7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8" name="S02-text8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한 일 하나는?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옛날은 언제일까요?</a:t>
            </a:r>
            <a:endParaRPr lang="ko-KR" sz="4400" dirty="0"/>
          </a:p>
        </p:txBody>
      </p:sp>
      <p:sp>
        <p:nvSpPr>
          <p:cNvPr id="3" name="S03-text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시간은 왼쪽에서 오른쪽으로 흘러요.</a:t>
            </a:r>
            <a:endParaRPr lang="ko-KR" sz="3200" dirty="0"/>
          </a:p>
        </p:txBody>
      </p:sp>
      <p:sp>
        <p:nvSpPr>
          <p:cNvPr id="4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엄마, 아빠가 어렸을 때도 옛날이에요.</a:t>
            </a:r>
            <a:endParaRPr lang="ko-KR" sz="3200" dirty="0"/>
          </a:p>
        </p:txBody>
      </p:sp>
      <p:sp>
        <p:nvSpPr>
          <p:cNvPr id="6" name="S03-card12"/>
          <p:cNvSpPr/>
          <p:nvPr/>
        </p:nvSpPr>
        <p:spPr>
          <a:xfrm>
            <a:off x="548640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3"/>
          <p:cNvSpPr txBox="1"/>
          <p:nvPr/>
        </p:nvSpPr>
        <p:spPr>
          <a:xfrm>
            <a:off x="822960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</a:t>
            </a:r>
            <a:endParaRPr lang="ko-KR" sz="3200" dirty="0"/>
          </a:p>
        </p:txBody>
      </p:sp>
      <p:sp>
        <p:nvSpPr>
          <p:cNvPr id="8" name="S03-card14"/>
          <p:cNvSpPr/>
          <p:nvPr/>
        </p:nvSpPr>
        <p:spPr>
          <a:xfrm>
            <a:off x="4322064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3-cardtext15"/>
          <p:cNvSpPr txBox="1"/>
          <p:nvPr/>
        </p:nvSpPr>
        <p:spPr>
          <a:xfrm>
            <a:off x="4596384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</a:t>
            </a:r>
            <a:endParaRPr lang="ko-KR" sz="3200" dirty="0"/>
          </a:p>
        </p:txBody>
      </p:sp>
      <p:sp>
        <p:nvSpPr>
          <p:cNvPr id="10" name="S03-card16"/>
          <p:cNvSpPr/>
          <p:nvPr/>
        </p:nvSpPr>
        <p:spPr>
          <a:xfrm>
            <a:off x="8095488" y="4251960"/>
            <a:ext cx="3544824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11" name="S03-cardtext17"/>
          <p:cNvSpPr txBox="1"/>
          <p:nvPr/>
        </p:nvSpPr>
        <p:spPr>
          <a:xfrm>
            <a:off x="8369808" y="4389120"/>
            <a:ext cx="2996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3200" dirty="0"/>
          </a:p>
        </p:txBody>
      </p:sp>
      <p:sp>
        <p:nvSpPr>
          <p:cNvPr id="12" name="S03-line18"/>
          <p:cNvSpPr/>
          <p:nvPr/>
        </p:nvSpPr>
        <p:spPr>
          <a:xfrm>
            <a:off x="822960" y="3017520"/>
            <a:ext cx="10543032" cy="0"/>
          </a:xfrm>
          <a:prstGeom prst="line">
            <a:avLst/>
          </a:prstGeom>
          <a:noFill/>
          <a:ln w="38100">
            <a:solidFill>
              <a:srgbClr val="264653"/>
            </a:solidFill>
            <a:prstDash val="solid"/>
            <a:tailEnd type="triangle"/>
          </a:ln>
        </p:spPr>
      </p:sp>
      <p:sp>
        <p:nvSpPr>
          <p:cNvPr id="13" name="S03-event19"/>
          <p:cNvSpPr/>
          <p:nvPr/>
        </p:nvSpPr>
        <p:spPr>
          <a:xfrm>
            <a:off x="2461260" y="289864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03-label20"/>
          <p:cNvSpPr txBox="1"/>
          <p:nvPr/>
        </p:nvSpPr>
        <p:spPr>
          <a:xfrm>
            <a:off x="868680" y="1839595"/>
            <a:ext cx="3422904" cy="9493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할머니·할아버지가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어렸을 때</a:t>
            </a:r>
            <a:endParaRPr lang="ko-KR" sz="2600" dirty="0"/>
          </a:p>
        </p:txBody>
      </p:sp>
      <p:sp>
        <p:nvSpPr>
          <p:cNvPr id="15" name="S03-event21"/>
          <p:cNvSpPr/>
          <p:nvPr/>
        </p:nvSpPr>
        <p:spPr>
          <a:xfrm>
            <a:off x="5975604" y="289864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03-label22"/>
          <p:cNvSpPr txBox="1"/>
          <p:nvPr/>
        </p:nvSpPr>
        <p:spPr>
          <a:xfrm>
            <a:off x="4383024" y="1839595"/>
            <a:ext cx="3422904" cy="9493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엄마·아빠가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어렸을 때</a:t>
            </a:r>
            <a:endParaRPr lang="ko-KR" sz="2600" dirty="0"/>
          </a:p>
        </p:txBody>
      </p:sp>
      <p:sp>
        <p:nvSpPr>
          <p:cNvPr id="17" name="S03-event23"/>
          <p:cNvSpPr/>
          <p:nvPr/>
        </p:nvSpPr>
        <p:spPr>
          <a:xfrm>
            <a:off x="9489948" y="2898648"/>
            <a:ext cx="237744" cy="237744"/>
          </a:xfrm>
          <a:prstGeom prst="ellipse">
            <a:avLst/>
          </a:prstGeom>
          <a:solidFill>
            <a:srgbClr val="E9762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03-label24"/>
          <p:cNvSpPr txBox="1"/>
          <p:nvPr/>
        </p:nvSpPr>
        <p:spPr>
          <a:xfrm>
            <a:off x="7897368" y="1839595"/>
            <a:ext cx="3422904" cy="94932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</a:t>
            </a:r>
            <a:endParaRPr lang="ko-KR" sz="2600" dirty="0"/>
          </a:p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(나)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옛날부터 해 온 놀이</a:t>
            </a:r>
            <a:endParaRPr lang="ko-KR" sz="4400" dirty="0"/>
          </a:p>
        </p:txBody>
      </p:sp>
      <p:sp>
        <p:nvSpPr>
          <p:cNvPr id="3" name="S04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오늘도 하는 놀이가 많아요.</a:t>
            </a:r>
            <a:endParaRPr lang="ko-KR" sz="3200" dirty="0"/>
          </a:p>
        </p:txBody>
      </p:sp>
      <p:sp>
        <p:nvSpPr>
          <p:cNvPr id="5" name="S04-card27"/>
          <p:cNvSpPr/>
          <p:nvPr/>
        </p:nvSpPr>
        <p:spPr>
          <a:xfrm>
            <a:off x="548640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4-cardtext28"/>
          <p:cNvSpPr txBox="1"/>
          <p:nvPr/>
        </p:nvSpPr>
        <p:spPr>
          <a:xfrm>
            <a:off x="822960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딱지치기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딱지를 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뒤집어요.</a:t>
            </a:r>
            <a:endParaRPr lang="ko-KR" sz="3200" dirty="0"/>
          </a:p>
        </p:txBody>
      </p:sp>
      <p:sp>
        <p:nvSpPr>
          <p:cNvPr id="7" name="S04-card29"/>
          <p:cNvSpPr/>
          <p:nvPr/>
        </p:nvSpPr>
        <p:spPr>
          <a:xfrm>
            <a:off x="6208776" y="132588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4-cardtext30"/>
          <p:cNvSpPr txBox="1"/>
          <p:nvPr/>
        </p:nvSpPr>
        <p:spPr>
          <a:xfrm>
            <a:off x="6483096" y="146304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공기놀이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돌 다섯 개로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놀아요.</a:t>
            </a:r>
            <a:endParaRPr lang="ko-KR" sz="3200" dirty="0"/>
          </a:p>
        </p:txBody>
      </p:sp>
      <p:sp>
        <p:nvSpPr>
          <p:cNvPr id="9" name="S04-card31"/>
          <p:cNvSpPr/>
          <p:nvPr/>
        </p:nvSpPr>
        <p:spPr>
          <a:xfrm>
            <a:off x="548640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4-cardtext32"/>
          <p:cNvSpPr txBox="1"/>
          <p:nvPr/>
        </p:nvSpPr>
        <p:spPr>
          <a:xfrm>
            <a:off x="822960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제기차기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제기를 발로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 올려요.</a:t>
            </a:r>
            <a:endParaRPr lang="ko-KR" sz="3200" dirty="0"/>
          </a:p>
        </p:txBody>
      </p:sp>
      <p:sp>
        <p:nvSpPr>
          <p:cNvPr id="11" name="S04-card33"/>
          <p:cNvSpPr/>
          <p:nvPr/>
        </p:nvSpPr>
        <p:spPr>
          <a:xfrm>
            <a:off x="6208776" y="3337560"/>
            <a:ext cx="5431536" cy="1783080"/>
          </a:xfrm>
          <a:prstGeom prst="roundRect">
            <a:avLst>
              <a:gd name="adj" fmla="val 615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4-cardtext34"/>
          <p:cNvSpPr txBox="1"/>
          <p:nvPr/>
        </p:nvSpPr>
        <p:spPr>
          <a:xfrm>
            <a:off x="6483096" y="3474720"/>
            <a:ext cx="488289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팽이치기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팽이를 채로 쳐서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돌려요.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할머니의 공기놀이</a:t>
            </a:r>
            <a:endParaRPr lang="ko-KR" sz="4400" dirty="0"/>
          </a:p>
        </p:txBody>
      </p:sp>
      <p:sp>
        <p:nvSpPr>
          <p:cNvPr id="3" name="S05-card35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5-cardtext36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지호가 할머니께 어렸을 때 놀이를 여쭈었어요.</a:t>
            </a:r>
            <a:endParaRPr lang="ko-KR" sz="3200" dirty="0"/>
          </a:p>
        </p:txBody>
      </p:sp>
      <p:sp>
        <p:nvSpPr>
          <p:cNvPr id="5" name="S05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5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점은 무엇일까요?</a:t>
            </a:r>
            <a:endParaRPr lang="ko-KR" sz="3200" dirty="0"/>
          </a:p>
        </p:txBody>
      </p:sp>
      <p:sp>
        <p:nvSpPr>
          <p:cNvPr id="7" name="S05-chip39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옛날: 할머니</a:t>
            </a:r>
            <a:endParaRPr lang="ko-KR" sz="2600" dirty="0"/>
          </a:p>
        </p:txBody>
      </p:sp>
      <p:sp>
        <p:nvSpPr>
          <p:cNvPr id="8" name="S05-text40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냇가에서 주운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돌로 놀았어요.</a:t>
            </a:r>
            <a:endParaRPr lang="ko-KR" sz="3200" dirty="0"/>
          </a:p>
        </p:txBody>
      </p:sp>
      <p:sp>
        <p:nvSpPr>
          <p:cNvPr id="9" name="S05-chip41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오늘: 지호</a:t>
            </a:r>
            <a:endParaRPr lang="ko-KR" sz="2600" dirty="0"/>
          </a:p>
        </p:txBody>
      </p:sp>
      <p:sp>
        <p:nvSpPr>
          <p:cNvPr id="10" name="S05-text42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가게에서 산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공깃돌로 놀아요.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엄마가 어렸을 때</a:t>
            </a:r>
            <a:endParaRPr lang="ko-KR" sz="4400" dirty="0"/>
          </a:p>
        </p:txBody>
      </p:sp>
      <p:sp>
        <p:nvSpPr>
          <p:cNvPr id="3" name="S06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지호 엄마가 어렸을 때 이야기예요.</a:t>
            </a:r>
            <a:endParaRPr lang="ko-KR" sz="3200" dirty="0"/>
          </a:p>
        </p:txBody>
      </p:sp>
      <p:sp>
        <p:nvSpPr>
          <p:cNvPr id="4" name="S06-card4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오늘은 어떻게 할까요? 같은 점은? 다른 점은?</a:t>
            </a:r>
            <a:endParaRPr lang="ko-KR" sz="3200" dirty="0"/>
          </a:p>
        </p:txBody>
      </p:sp>
      <p:sp>
        <p:nvSpPr>
          <p:cNvPr id="6" name="S06-chip4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6-text47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 전화로 친구에게 전화했어요.</a:t>
            </a:r>
            <a:endParaRPr lang="ko-KR" sz="3200" dirty="0"/>
          </a:p>
        </p:txBody>
      </p:sp>
      <p:sp>
        <p:nvSpPr>
          <p:cNvPr id="8" name="S06-chip4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6-text49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종이 지도를 보고 길을 찾았어요.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놀이는 사라졌을까?</a:t>
            </a:r>
            <a:endParaRPr lang="ko-KR" sz="4400" dirty="0"/>
          </a:p>
        </p:txBody>
      </p:sp>
      <p:sp>
        <p:nvSpPr>
          <p:cNvPr id="3" name="S07-card50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51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놀이에 대해 두 친구가 말했어요.</a:t>
            </a:r>
            <a:endParaRPr lang="ko-KR" sz="3200" dirty="0"/>
          </a:p>
        </p:txBody>
      </p:sp>
      <p:sp>
        <p:nvSpPr>
          <p:cNvPr id="5" name="S07-card5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5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어떻게 알 수 있을까요?</a:t>
            </a:r>
            <a:endParaRPr lang="ko-KR" sz="3200" dirty="0"/>
          </a:p>
        </p:txBody>
      </p:sp>
      <p:sp>
        <p:nvSpPr>
          <p:cNvPr id="7" name="S07-chip54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600" dirty="0"/>
          </a:p>
        </p:txBody>
      </p:sp>
      <p:sp>
        <p:nvSpPr>
          <p:cNvPr id="8" name="S07-text55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“옛날 놀이는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이제 아무도 안 해요.”</a:t>
            </a:r>
            <a:endParaRPr lang="ko-KR" sz="3200" dirty="0"/>
          </a:p>
        </p:txBody>
      </p:sp>
      <p:sp>
        <p:nvSpPr>
          <p:cNvPr id="9" name="S07-chip56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600" dirty="0"/>
          </a:p>
        </p:txBody>
      </p:sp>
      <p:sp>
        <p:nvSpPr>
          <p:cNvPr id="10" name="S07-text57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“옛날 놀이를</a:t>
            </a:r>
            <a:endParaRPr lang="ko-KR" sz="3200" dirty="0"/>
          </a:p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오늘도 해요.”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어른께 여쭈어 봐요</a:t>
            </a:r>
            <a:endParaRPr lang="ko-KR" sz="4400" dirty="0"/>
          </a:p>
        </p:txBody>
      </p:sp>
      <p:sp>
        <p:nvSpPr>
          <p:cNvPr id="3" name="S08-card58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8-cardtext59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‘어렸을 때 ~?’로 여쭈고,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것을 적어요.</a:t>
            </a:r>
            <a:endParaRPr lang="ko-KR" sz="3200" dirty="0"/>
          </a:p>
        </p:txBody>
      </p:sp>
      <p:sp>
        <p:nvSpPr>
          <p:cNvPr id="5" name="S08-card60"/>
          <p:cNvSpPr/>
          <p:nvPr/>
        </p:nvSpPr>
        <p:spPr>
          <a:xfrm>
            <a:off x="548640" y="189992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8-cardtext61"/>
          <p:cNvSpPr txBox="1"/>
          <p:nvPr/>
        </p:nvSpPr>
        <p:spPr>
          <a:xfrm>
            <a:off x="822960" y="203708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“어렸을 때 무엇을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하고 놀았어요?”</a:t>
            </a:r>
            <a:endParaRPr lang="ko-KR" sz="3200" dirty="0"/>
          </a:p>
        </p:txBody>
      </p:sp>
      <p:sp>
        <p:nvSpPr>
          <p:cNvPr id="7" name="S08-card62"/>
          <p:cNvSpPr/>
          <p:nvPr/>
        </p:nvSpPr>
        <p:spPr>
          <a:xfrm>
            <a:off x="4322064" y="189992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8-cardtext63"/>
          <p:cNvSpPr txBox="1"/>
          <p:nvPr/>
        </p:nvSpPr>
        <p:spPr>
          <a:xfrm>
            <a:off x="4596384" y="203708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“어렸을 때 무엇으로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전화했어요?”</a:t>
            </a:r>
            <a:endParaRPr lang="ko-KR" sz="3200" dirty="0"/>
          </a:p>
        </p:txBody>
      </p:sp>
      <p:sp>
        <p:nvSpPr>
          <p:cNvPr id="9" name="S08-card64"/>
          <p:cNvSpPr/>
          <p:nvPr/>
        </p:nvSpPr>
        <p:spPr>
          <a:xfrm>
            <a:off x="8095488" y="189992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08-cardtext65"/>
          <p:cNvSpPr txBox="1"/>
          <p:nvPr/>
        </p:nvSpPr>
        <p:spPr>
          <a:xfrm>
            <a:off x="8369808" y="203708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“어렸을 때 학교에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갔어요?”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질문을 만들어요</a:t>
            </a:r>
            <a:endParaRPr lang="ko-KR" sz="4400" dirty="0"/>
          </a:p>
        </p:txBody>
      </p:sp>
      <p:sp>
        <p:nvSpPr>
          <p:cNvPr id="3" name="S09-text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궁금한 것을 질문으로 바꿔요.</a:t>
            </a:r>
            <a:endParaRPr lang="ko-KR" sz="3200" dirty="0"/>
          </a:p>
        </p:txBody>
      </p:sp>
      <p:sp>
        <p:nvSpPr>
          <p:cNvPr id="4" name="S09-card6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6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“어렸을 때 ~?” 하고 여쭈어요.</a:t>
            </a:r>
            <a:endParaRPr lang="ko-KR" sz="3200" dirty="0"/>
          </a:p>
        </p:txBody>
      </p:sp>
      <p:sp>
        <p:nvSpPr>
          <p:cNvPr id="6" name="S09-chip6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9-text7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좋아한 간식이 궁금해요.</a:t>
            </a:r>
            <a:endParaRPr lang="ko-KR" sz="3200" dirty="0"/>
          </a:p>
        </p:txBody>
      </p:sp>
      <p:sp>
        <p:nvSpPr>
          <p:cNvPr id="8" name="S09-chip7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9" name="S09-text7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생일에 한 일이 궁금해요.</a:t>
            </a:r>
            <a:endParaRPr lang="ko-KR" sz="3200" dirty="0"/>
          </a:p>
        </p:txBody>
      </p:sp>
      <p:sp>
        <p:nvSpPr>
          <p:cNvPr id="10" name="S09-chip7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11" name="S09-text7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 오는 날 놀이가 궁금해요.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엄마(아빠)께 여쭈어요</a:t>
            </a:r>
            <a:endParaRPr lang="ko-KR" sz="4400" dirty="0"/>
          </a:p>
        </p:txBody>
      </p:sp>
      <p:sp>
        <p:nvSpPr>
          <p:cNvPr id="3" name="S10-text7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바로 해 봐요.</a:t>
            </a:r>
            <a:endParaRPr lang="ko-KR" sz="3200" dirty="0"/>
          </a:p>
        </p:txBody>
      </p:sp>
      <p:sp>
        <p:nvSpPr>
          <p:cNvPr id="4" name="S10-card76"/>
          <p:cNvSpPr/>
          <p:nvPr/>
        </p:nvSpPr>
        <p:spPr>
          <a:xfrm>
            <a:off x="6813652" y="2011680"/>
            <a:ext cx="4826660" cy="4206240"/>
          </a:xfrm>
          <a:prstGeom prst="roundRect">
            <a:avLst>
              <a:gd name="adj" fmla="val 260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0-cardtext77"/>
          <p:cNvSpPr txBox="1"/>
          <p:nvPr/>
        </p:nvSpPr>
        <p:spPr>
          <a:xfrm>
            <a:off x="7087972" y="2148840"/>
            <a:ext cx="42780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질문 두 개를 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들은 것을 적었어요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같은 점·다른 점을 말했어요</a:t>
            </a:r>
            <a:endParaRPr lang="ko-KR" sz="3200" dirty="0"/>
          </a:p>
        </p:txBody>
      </p:sp>
      <p:sp>
        <p:nvSpPr>
          <p:cNvPr id="6" name="S10-stepno78"/>
          <p:cNvSpPr txBox="1"/>
          <p:nvPr/>
        </p:nvSpPr>
        <p:spPr>
          <a:xfrm>
            <a:off x="548640" y="27706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7" name="S10-text79"/>
          <p:cNvSpPr txBox="1"/>
          <p:nvPr/>
        </p:nvSpPr>
        <p:spPr>
          <a:xfrm>
            <a:off x="1325880" y="277063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여쭐 질문 두 개를 골라요.</a:t>
            </a:r>
            <a:endParaRPr lang="ko-KR" sz="3200" dirty="0"/>
          </a:p>
        </p:txBody>
      </p:sp>
      <p:sp>
        <p:nvSpPr>
          <p:cNvPr id="8" name="S10-stepno80"/>
          <p:cNvSpPr txBox="1"/>
          <p:nvPr/>
        </p:nvSpPr>
        <p:spPr>
          <a:xfrm>
            <a:off x="548640" y="34838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9" name="S10-text81"/>
          <p:cNvSpPr txBox="1"/>
          <p:nvPr/>
        </p:nvSpPr>
        <p:spPr>
          <a:xfrm>
            <a:off x="1325880" y="3483864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여쭈어요.</a:t>
            </a:r>
            <a:endParaRPr lang="ko-KR" sz="3200" dirty="0"/>
          </a:p>
        </p:txBody>
      </p:sp>
      <p:sp>
        <p:nvSpPr>
          <p:cNvPr id="10" name="S10-stepno82"/>
          <p:cNvSpPr txBox="1"/>
          <p:nvPr/>
        </p:nvSpPr>
        <p:spPr>
          <a:xfrm>
            <a:off x="548640" y="419709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" name="S10-text83"/>
          <p:cNvSpPr txBox="1"/>
          <p:nvPr/>
        </p:nvSpPr>
        <p:spPr>
          <a:xfrm>
            <a:off x="1325880" y="4197096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들은 것을 기록표에 적어요.</a:t>
            </a:r>
            <a:endParaRPr lang="ko-KR" sz="3200" dirty="0"/>
          </a:p>
        </p:txBody>
      </p:sp>
      <p:sp>
        <p:nvSpPr>
          <p:cNvPr id="12" name="S10-stepno84"/>
          <p:cNvSpPr txBox="1"/>
          <p:nvPr/>
        </p:nvSpPr>
        <p:spPr>
          <a:xfrm>
            <a:off x="548640" y="491032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3" name="S10-text85"/>
          <p:cNvSpPr txBox="1"/>
          <p:nvPr/>
        </p:nvSpPr>
        <p:spPr>
          <a:xfrm>
            <a:off x="1325880" y="4910328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나와 비교해요.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서아네 팽이</a:t>
            </a:r>
            <a:endParaRPr lang="ko-KR" sz="4400" dirty="0"/>
          </a:p>
        </p:txBody>
      </p:sp>
      <p:sp>
        <p:nvSpPr>
          <p:cNvPr id="3" name="S11-card86"/>
          <p:cNvSpPr/>
          <p:nvPr/>
        </p:nvSpPr>
        <p:spPr>
          <a:xfrm>
            <a:off x="548640" y="489712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87"/>
          <p:cNvSpPr txBox="1"/>
          <p:nvPr/>
        </p:nvSpPr>
        <p:spPr>
          <a:xfrm>
            <a:off x="822960" y="503428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같은 점은?  ② 다른 점은?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아빠가 어렸을 때도 옛날일까요?</a:t>
            </a:r>
            <a:endParaRPr lang="ko-KR" sz="3200" dirty="0"/>
          </a:p>
        </p:txBody>
      </p:sp>
      <p:sp>
        <p:nvSpPr>
          <p:cNvPr id="5" name="S11-passagebox88"/>
          <p:cNvSpPr/>
          <p:nvPr/>
        </p:nvSpPr>
        <p:spPr>
          <a:xfrm>
            <a:off x="548640" y="1325880"/>
            <a:ext cx="11091672" cy="3342640"/>
          </a:xfrm>
          <a:prstGeom prst="roundRect">
            <a:avLst>
              <a:gd name="adj" fmla="val 2736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89"/>
          <p:cNvSpPr txBox="1"/>
          <p:nvPr/>
        </p:nvSpPr>
        <p:spPr>
          <a:xfrm>
            <a:off x="822960" y="1508760"/>
            <a:ext cx="10543032" cy="2976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 할아버지는 어렸을 때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나무를 깎아 팽이를 만들었어요.</a:t>
            </a:r>
            <a:endParaRPr lang="ko-KR" sz="32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서아는 문구점에서 산 팽이로 놀아요.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3-card90"/>
          <p:cNvSpPr/>
          <p:nvPr/>
        </p:nvSpPr>
        <p:spPr>
          <a:xfrm>
            <a:off x="548640" y="1325880"/>
            <a:ext cx="11091672" cy="1320800"/>
          </a:xfrm>
          <a:prstGeom prst="roundRect">
            <a:avLst>
              <a:gd name="adj" fmla="val 830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91"/>
          <p:cNvSpPr txBox="1"/>
          <p:nvPr/>
        </p:nvSpPr>
        <p:spPr>
          <a:xfrm>
            <a:off x="822960" y="1463040"/>
            <a:ext cx="10543032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옛날과 오늘을 비교하면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점도, 다른 점도 있어요.</a:t>
            </a:r>
            <a:endParaRPr lang="ko-KR" sz="3200" dirty="0"/>
          </a:p>
        </p:txBody>
      </p:sp>
      <p:sp>
        <p:nvSpPr>
          <p:cNvPr id="5" name="S13-chip92"/>
          <p:cNvSpPr txBox="1"/>
          <p:nvPr/>
        </p:nvSpPr>
        <p:spPr>
          <a:xfrm>
            <a:off x="548640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어른께 여쭈어 알아보기</a:t>
            </a:r>
            <a:endParaRPr lang="ko-KR" sz="2600" dirty="0"/>
          </a:p>
        </p:txBody>
      </p:sp>
      <p:sp>
        <p:nvSpPr>
          <p:cNvPr id="6" name="S13-chip93"/>
          <p:cNvSpPr txBox="1"/>
          <p:nvPr/>
        </p:nvSpPr>
        <p:spPr>
          <a:xfrm>
            <a:off x="6208776" y="287528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옛날은 불편하다고만 하기</a:t>
            </a:r>
            <a:endParaRPr lang="ko-KR" sz="2600" dirty="0"/>
          </a:p>
        </p:txBody>
      </p:sp>
      <p:sp>
        <p:nvSpPr>
          <p:cNvPr id="7" name="S13-text94"/>
          <p:cNvSpPr txBox="1"/>
          <p:nvPr/>
        </p:nvSpPr>
        <p:spPr>
          <a:xfrm>
            <a:off x="548640" y="36982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3-text95"/>
          <p:cNvSpPr txBox="1"/>
          <p:nvPr/>
        </p:nvSpPr>
        <p:spPr>
          <a:xfrm>
            <a:off x="548640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엄마, 아빠가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어렸을 때도 옛날?</a:t>
            </a:r>
            <a:endParaRPr lang="ko-KR" sz="2600" dirty="0"/>
          </a:p>
        </p:txBody>
      </p:sp>
      <p:sp>
        <p:nvSpPr>
          <p:cNvPr id="9" name="S13-text96"/>
          <p:cNvSpPr txBox="1"/>
          <p:nvPr/>
        </p:nvSpPr>
        <p:spPr>
          <a:xfrm>
            <a:off x="4322064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옛날부터 해 온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놀이 하나는?</a:t>
            </a:r>
            <a:endParaRPr lang="ko-KR" sz="2600" dirty="0"/>
          </a:p>
        </p:txBody>
      </p:sp>
      <p:sp>
        <p:nvSpPr>
          <p:cNvPr id="10" name="S13-text97"/>
          <p:cNvSpPr txBox="1"/>
          <p:nvPr/>
        </p:nvSpPr>
        <p:spPr>
          <a:xfrm>
            <a:off x="8095488" y="4201160"/>
            <a:ext cx="3544824" cy="1376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어른께 여쭐 때</a:t>
            </a:r>
            <a:endParaRPr lang="ko-KR" sz="2600" dirty="0"/>
          </a:p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쓰는 질문은?</a:t>
            </a:r>
            <a:endParaRPr lang="ko-KR" sz="2600" dirty="0"/>
          </a:p>
        </p:txBody>
      </p:sp>
      <p:sp>
        <p:nvSpPr>
          <p:cNvPr id="11" name="S13-text9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서로 다른 생활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아기 때와 지금</a:t>
            </a:r>
            <a:endParaRPr lang="ko-KR" sz="4400" dirty="0"/>
          </a:p>
        </p:txBody>
      </p:sp>
      <p:sp>
        <p:nvSpPr>
          <p:cNvPr id="3" name="S14-card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1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일은 같아도 쓰는 물건이 달라요.</a:t>
            </a:r>
            <a:endParaRPr lang="ko-KR" sz="3200" dirty="0"/>
          </a:p>
        </p:txBody>
      </p:sp>
      <p:graphicFrame>
        <p:nvGraphicFramePr>
          <p:cNvPr id="14" name="S14-table10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04216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657600"/>
              </a:tblGrid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아기 때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젖병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숟가락, 컵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다니기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유모차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걷기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놀기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딸랑이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30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블록, 공</a:t>
                      </a:r>
                      <a:endParaRPr lang="en-US" sz="30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초2 사회·역사 옛날과 오늘</dc:title>
  <dc:subject>KR22-G02-SOC-PAST-L01</dc:subject>
  <dc:creator>education-ppt</dc:creator>
  <cp:lastModifiedBy>education-ppt</cp:lastModifiedBy>
  <cp:revision>1</cp:revision>
  <dcterms:created xsi:type="dcterms:W3CDTF">2026-10-26T10:12:18Z</dcterms:created>
  <dcterms:modified xsi:type="dcterms:W3CDTF">2026-10-26T10:12:18Z</dcterms:modified>
</cp:coreProperties>
</file>