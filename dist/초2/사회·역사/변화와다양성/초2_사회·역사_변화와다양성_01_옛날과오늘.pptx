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9b9aae31-9961-3d3e-1254-f4c6897fd3c9}">
          <p14:sldIdLst>
            <p14:sldId id="256"/>
            <p14:sldId id="257"/>
          </p14:sldIdLst>
        </p14:section>
        <p14:section name="개념" id="{f4abe3b4-0a38-7d07-f745-09d52bb9406e}">
          <p14:sldIdLst>
            <p14:sldId id="258"/>
            <p14:sldId id="259"/>
            <p14:sldId id="260"/>
            <p14:sldId id="263"/>
          </p14:sldIdLst>
        </p14:section>
        <p14:section name="연습" id="{6143a681-008f-a567-5241-8daeb4d7e2ab}">
          <p14:sldIdLst>
            <p14:sldId id="261"/>
            <p14:sldId id="262"/>
            <p14:sldId id="264"/>
          </p14:sldIdLst>
        </p14:section>
        <p14:section name="개념" id="{1027ace4-46dd-f040-dfb6-9d8d74b26372}">
          <p14:sldIdLst/>
        </p14:section>
        <p14:section name="연습" id="{0fe69a4a-6ce4-70dc-2ce7-09dfc233eef9}">
          <p14:sldIdLst/>
        </p14:section>
        <p14:section name="확인" id="{999a058f-fccf-6515-5eea-9f33eb879582}">
          <p14:sldIdLst>
            <p14:sldId id="265"/>
            <p14:sldId id="266"/>
            <p14:sldId id="267"/>
          </p14:sldIdLst>
        </p14:section>
        <p14:section name="정리" id="{a96a95b1-9b8d-05b0-c13a-35d2e4dc6b3b}">
          <p14:sldIdLst>
            <p14:sldId id="268"/>
          </p14:sldIdLst>
        </p14:section>
        <p14:section name="보충" id="{4c5841af-4eec-56eb-04da-9a61d4468509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부모님과 조부모님이 어렸을 때의 생활에 궁금증을 갖게 합니다.
시간: 약 2분
이렇게 말해 보세요
- “엄마(아빠)도 너만 한 때가 있었어. 그때 엄마(아빠)는 무엇을 하고 놀았을 것 같아?”
- “오늘은 옛날과 오늘의 놀이와 생활을 비교해 보고, 가족 어른께 직접 여쭈어 알아볼 거야.”
예상 답
- “밖에서 놀았을 것 같아요.” “게임은 없었을 것 같아요.”
막히면
- 부모님의 어릴 때 사진이 있으면 함께 보며 이야기를 시작합니다(선택).
주의
- 화면의 지호·서아 가족 이야기는 수업을 위해 지어낸 것입니다. 부모님의 실제 경험이 다르면 실제 경험으로 이야기해 주는 것이 더 좋습니다.
- 정확한 연도는 말하지 않아도 됩니다. ‘엄마가 너만 할 때’처럼 아이가 알 수 있는 말로 이야기합니다.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확인(예전의 나와 지금의 나 말하기)]
목적: 지난 일(예전, 어제)과 지금을 구별해 말할 수 있는지 확인합니다. 옛날과 오늘을 비교하는 바탕입니다.
시간: 약 3분
이렇게 말해 보세요
- “①, 네가 아기였을 때는 무엇을 먹었을까? ②, 지금은?”
- “③, 어제 한 일 하나를 말해 볼래?”
예상 답
- ① “우유요.” “이유식이요.” ② “밥이요.” ③ “놀이터에서 놀았어요.”
막히면
- “아기 때는 이가 없었어. 그럼 밥을 먹을 수 있었을까?”처럼 힌트를 줍니다.
- 예전과 지금을 구별해 말하기 어려워하면 S14(보충)를 먼저 합니다. 이 차시는 계획상 앞 차시가 없습니다. 보충으로도 어려우면 1학년 ‘나의 하루’(KR22-G01-SOC-MYDAY-L01)와 가까운 내용이므로, 며칠 동안 저녁마다 ‘오늘 한 일’과 ‘어제 한 일’을 말하는 놀이를 한 뒤 S02부터 다시 시작합니다.
주의
- 답이 정확하지 않아도 ‘예전’과 ‘지금’을 나누어 말하면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옛날은 언제일까(가까운 옛날)]
목적: 부모님과 조부모님이 어렸을 때도 ‘옛날’이라는 것을 시간 줄로 보여 줍니다(목표 A, 오해 M1).
시간: 약 3분
이렇게 말해 보세요
- “옛날이라고 하면 무엇이 떠올라?”
- “시간 줄을 봐. 오른쪽 끝이 오늘의 너야. 그 왼쪽에 엄마(아빠)가 어렸을 때, 더 왼쪽에 할머니·할아버지가 어렸을 때가 있어.”
- “엄마(아빠)가 어렸을 때도 오늘보다 앞이니까 옛날이야. 할머니·할아버지가 어렸을 때는 더 옛날이지.”
예상 답
- “공룡이요.” “임금님이요.” → “엄마가 어렸을 때도 옛날이에요.”
막히면
- 가족의 나이 순서대로 손가락을 짚으며 “누가 가장 먼저 태어났지?”라고 묻습니다.
주의
- 공룡이나 임금님이 살던 때도 옛날이 맞습니다. 오늘은 그보다 가까운 옛날, 가족 어른이 어렸을 때를 알아본다고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옛날부터 해 온 놀이]
목적: 옛날 아이들이 하던 놀이를 알려 주고, 그 놀이를 오늘도 한다는 것을 짚습니다(목표 A, 오해 M2).
시간: 약 3분
이렇게 말해 보세요
- “카드를 같이 읽어 보자. 이 가운데 해 본 놀이가 있어?”
- “딱지는 종이를 접어서 만들어. 상대 딱지를 쳐서 뒤집으면 가져가는 놀이야.”
- “엄마(아빠)는 어렸을 때 이 가운데 어떤 놀이를 해 봤을까?”
예상 답
- “학교에서 딱지치기 해 봤어요.” “공기놀이 해 봤어요.”
막히면
- 집에 공깃돌이나 종이가 있으면 딱지를 하나 접어 보거나 공기를 직접 보여 줍니다(선택).
주의
- 제기는 동전 같은 작은 무게에 종이나 천을 달아 만들고, 팽이치기의 ‘채’는 팽이를 쳐서 돌리는 끈 달린 막대입니다.
- 부모님이 어렸을 때 한 놀이를 직접 이야기해 주면 S10 인터뷰로 이어지기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시범(같은 점과 다른 점 찾기)]
목적: 부모가 생각을 소리 내어 말하며 옛날과 오늘의 같은 점과 다른 점을 한 가지씩 찾는 시범을 보입니다(목표 A, 오해 M3).
시간: 약 3분
이렇게 말해 보세요
- “엄마(아빠)가 먼저 찾아볼게. 같은 점은, 할머니도 지호도 공기놀이를 해. 다섯 개로 노는 것도 같아.”
- “다른 점은, 할머니는 냇가에서 주운 돌로 놀았고, 지호는 가게에서 산 공깃돌로 놀아.”
- “또 다른 점이나 같은 점을 찾아볼래?”
예상 답
- “둘 다 재미있게 놀아요.” “돌을 직접 주웠어요.”
막히면
- “같은 점은 둘 다 무엇을 해?”, “다른 점은 무엇으로 놀아?”처럼 하나씩 나누어 묻습니다.
주의
- ‘같은 점은 하는 일(놀이), 다른 점은 쓰는 물건’이라는 틀을 S06·S11에서도 씁니다.
- 지호 할머니의 이야기는 지어낸 것입니다. 옛날에는 주변에서 구한 돌이나 종이로 놀잇감을 만드는 일이 많았다는 것을 보여 주는 예입니다.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가까운 옛날의 생활과 오늘 비교하기]
목적: 가까운 옛날(부모님이 어렸을 때)의 생활을 오늘과 비교해 같은 점과 다른 점을 말합니다(목표 A).
시간: 약 3분
이렇게 말해 보세요
- “①, 지호 엄마는 어렸을 때 집에 있는 전화로 친구에게 전화했대. 오늘 우리는 어떻게 연락해?”
- “같은 점은 뭘까? 다른 점은?”
- “②도 해 볼래?”
정답
- ① 오늘: 휴대 전화로 전화하거나 문자를 보내요. 같은 점: 친구에게 연락해요. 다른 점: 집 전화는 집에서만 쓰고, 휴대 전화는 들고 다녀요.
- ② 오늘: 휴대 전화 지도 앱으로 길을 찾아요(종이 지도도 써요). 같은 점: 지도를 보고 길을 찾아요. 다른 점: 종이 지도 ↔ 휴대 전화 지도
- 기준: 같은 점(하는 일)과 다른 점(쓰는 물건이나 방법)을 한 가지씩 말하면 맞습니다.
막히면
- “오늘은 어떻게 해?”를 먼저 묻고, 그다음 “둘 다 무엇을 하려는 거야?”라고 같은 점을 묻습니다.
주의
- 부모님이 어렸을 때의 실제 경험(삐삐, 공중전화 등)이 있으면 들려주어도 좋습니다. 사람마다 달랐다고 덧붙여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오해 비교(옛날 놀이는 모두 사라졌을까)]
목적: 옛날 놀이와 생활이 모두 사라진 것이 아니라 오늘도 이어지는 것이 있다는 것을 알게 합니다(목표 A, 오해 M2).
시간: 약 3분
이렇게 말해 보세요
- “S04에서 본 놀이 가운데 너도 해 본 놀이가 있었지? 그럼 누구 말이 맞을까?”
- “설날에 가족이 함께 하는 놀이는 뭐가 있을까?”
정답
- 나. 딱지치기, 공기놀이, 제기차기는 오늘도 해요. 설날에는 윷놀이를 하는 집도 많아요.
- 기준: 오늘도 하는 옛날 놀이를 예로 들어 까닭을 말하면 잘함.
막히면
- “학교나 놀이터에서 딱지치기 하는 친구를 본 적 있어?”라고 묻습니다.
주의
- ‘가’라고 답해도 꾸짖지 않고, 아이가 해 본 놀이를 떠올리게 해 다시 생각하게 합니다.
- 여기까지가 옛날과 오늘을 비교하는 부분입니다. 아이가 지치면 여기서 나누어 다음 날 S08부터 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가족 어른께 여쭈는 방법]
목적: 가족 어른께 옛날 생활을 여쭈는 질문의 예를 보여 주고, ‘어렸을 때 ~?’로 묻는 방법을 알려 줍니다(목표 B).
시간: 약 2분
이렇게 말해 보세요
- “옛날 생활을 가장 잘 아는 사람은 누구일까? 그때를 직접 산 가족 어른이야.”
- “여쭐 때는 ‘어렸을 때’를 앞에 붙이면 돼. 놀이, 도구, 생활 가운데 무엇이 가장 궁금해?”
예상 답
- “놀이가 궁금해요.” “할머니는 학교에 걸어갔어요?”
막히면
- 카드 하나를 골라 부모가 먼저 아이에게 묻는 모습을 보여 주고, 아이가 따라 하게 합니다.
주의
- 어른께 여쭐 때는 높임말(‘~했어요?’, ‘~하셨어요?’)을 쓰고, 다 들은 뒤 “고맙습니다.”라고 인사한다고 알려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궁금한 것을 질문으로 만들기]
목적: 궁금한 것을 가족 어른께 여쭐 질문으로 바꾸어 말합니다(목표 B).
시간: 약 3분
이렇게 말해 보세요
- “①, 엄마(아빠)가 어렸을 때 좋아한 간식이 궁금하면 어떻게 여쭈면 될까?”
- “②, ③도 질문으로 바꾸어 볼래?”
예상 답
- ① “어렸을 때 무슨 간식을 좋아했어요?”
- ② “어렸을 때 생일에 무엇을 했어요?”
- ③ “어렸을 때 비 오는 날에는 무엇을 하고 놀았어요?”
- 기준: ‘어렸을 때’와 궁금한 것이 들어간 질문을 높임말로 말하면 맞습니다.
막히면
- 부모가 앞부분 “어렸을 때…”를 말해 주고 아이가 뒷부분을 잇게 합니다.
주의
- 아이가 질문을 하면 부모는 실제로 짧게 대답해 주어도 좋습니다. S10의 인터뷰로 자연스럽게 이어집니다.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엄마(아빠)께 여쭈어 기록하기]
목적: 곁에 있는 부모님께 어렸을 때의 놀이·도구·생활을 실제로 여쭈고, 들은 이야기를 활동지 4에 적은 뒤 오늘의 나와 비교합니다(목표 B). 할머니·할아버지께 여쭈는 것은 수업 뒤에 활동지 4의 둘째 줄에 이어서 합니다.
시간: 약 6분
이렇게 말해 보세요
- “이제 진짜 기자가 되어 보자. 엄마(아빠)께 여쭐 질문 두 개를 골라 볼래?”
- (아이의 질문에 부모가 실제 경험으로 짧게 대답합니다) “엄마는 어렸을 때 골목에서 친구들과 고무줄놀이를 했어.”
- “들은 것을 기록표에 적어 볼까? 그럼 너는 오늘 어떻게 놀아? 같은 점과 다른 점은?”
예상 답
- 예: “엄마는 어렸을 때 고무줄놀이를 했어요. 저는 놀이터에서 술래잡기를 해요. 둘 다 친구랑 밖에서 놀아요. 하는 놀이가 달라요.”
정답
- 기준: ① 질문 두 개를 ‘어렸을 때 ~?’로 여쭘 ② 들은 이야기를 기록표에 적음(부모가 받아 적어 주어도 됨) ③ 오늘의 나와 같은 점이나 다른 점을 한 가지 이상 말함. 세 가지를 모두 하면 목표 B를 이룬 것으로 봅니다. 집마다 답이 다릅니다.
막히면
- 쓰기가 어려우면 아이는 낱말만 쓰고 부모가 나머지를 받아 적어 줍니다.
- 질문을 고르지 못하면 S08의 카드에서 두 개를 고르게 합니다.
주의
- 부모님의 실제 경험으로 대답해 주세요. 기억나지 않는 것은 “기억이 잘 안 나.”라고 솔직하게 말해도 됩니다. 정확한 연도는 말하지 않아도 됩니다.
- 할머니·할아버지께 여쭐 때는 전화나 영상 통화도 괜찮습니다. 가까이에 여쭐 어른이 없으면 이웃 어른이나 부모님의 이야기로 대신합니다.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하기(처음 보는 옛날 이야기 비교)]
목적: 처음 보는 옛날 이야기에서 오늘과 같은 점과 다른 점을 한 가지씩 말하고, 가까운 옛날도 옛날이라는 것을 아는지 확인합니다(목표 A).
시간: 약 3분
이렇게 말해 보세요
- “이야기를 소리 내어 읽어 볼래? 그리고 ①, ②, ③에 혼자 답해 줘. 활동지 3에도 같은 이야기가 있어.”
정답
- ① 할아버지도 서아도 팽이를 가지고 놀아요(팽이를 돌려요).
- ② 할아버지는 나무를 깎아 직접 만들었고, 서아는 문구점에서 산 팽이로 놀아요.
- ③ 네, 아빠가 어렸을 때도 오늘보다 앞이니까 옛날이에요.
막히면
- 바로 알려 주지 말고 “둘 다 무엇을 가지고 놀아?”, “팽이를 어디에서 얻었어?”라고만 묻습니다. 도움을 받아 해결했다면 기록표에 ‘도움’으로 표시합니다.
주의
- 서아 할아버지 이야기는 지어낸 것입니다.
- 세 문제 모두 바르게 말하면 목표 A를 이룬 것으로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S11의 답을 확인하고 흔한 실수와 비교합니다.
시간: 약 2분
이렇게 말해 보세요
- “네 답과 왼쪽을 비교해 볼까? 오른쪽처럼 말하면 무엇이 아쉬울까?”
예상 답
- “같은 점을 안 찾았어요.” “아빠가 어렸을 때도 옛날이에요.”
정답
- ① 할아버지도 서아도 팽이로 놀아요. ② 할아버지는 나무를 깎아 만들었고, 서아는 산 팽이로 놀아요. ③ 네, 옛날이에요.
막히면
- S03의 시간 줄과 S05의 시범을 다시 보여 줍니다.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다음 학습과 복습]
목적: 핵심을 정리하고 다음 수업 첫 5분에 풀 복습 질문을 알려 줍니다.
시간: 약 2분
이렇게 말해 보세요
- “옛날과 오늘을 비교해 보니 어땠어? 같은 점과 다른 점이 모두 있었지?”
예상 답
- “놀이는 비슷한데 쓰는 물건이 달라요.”
정답
- ① 네, 옛날이에요. ② 딱지치기, 공기놀이, 제기차기, 팽이치기 가운데 하나 ③ “어렸을 때 ~했어요?”처럼 ‘어렸을 때’를 넣어 여쭈는 질문
막히면
- S03과 S08을 다시 보여 줍니다.
주의
- 활동지 4의 둘째 줄(할머니·할아버지께 여쭈기)은 다음 수업 전까지 해 두면 좋습니다. 다음 수업(서로 다른 생활)에서 같은 점·다른 점 찾기를 다시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보충(아기 때와 지금으로 비교하기)]
목적: S02에서 예전과 지금을 구별해 말하기 어려워하면, 아이 자신의 아기 때와 지금을 견주며 ‘같은 점(하는 일)과 다른 점(쓰는 물건)’을 먼저 익힙니다.
시간: 약 4분
이렇게 말해 보세요
- “네가 아기였을 때는 무엇으로 우유를 먹었을까? 지금은 무엇으로 마셔?”
- “둘 다 먹는 일이지? 하는 일은 같은데 쓰는 물건이 달라졌어.”
정답
- 예: 먹기 – 젖병 → 숟가락·컵, 다니기 – 유모차 → 걷기, 놀기 – 딸랑이 → 블록·공 (하는 일이 같고 물건이 달라졌다고 말하면 맞음)
막히면
- 아기 때 사진이 있으면 함께 보며 그때 쓰던 물건을 찾아봅니다(선택).
주의
- 이 차시는 계획상 앞 차시가 없습니다. 보충으로도 어려우면 1학년 ‘나의 하루’(KR22-G01-SOC-MYDAY-L01)와 가까운 내용이므로, 며칠 동안 저녁마다 ‘오늘 한 일’과 ‘어제 한 일’을 말하는 놀이를 한 뒤 S02부터 다시 시작합니다.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사회·역사 · 변화와다양성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사회·역사 · 옛날과 오늘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사회·역사 · 옛날과 오늘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사회·역사 · 옛날과 오늘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옛날과 오늘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엄마, 아빠가 어렸을 때는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놀았을까?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옛날과 오늘을 비교해요.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가족 어른께 여쭈어 알아봐요.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예전의 나, 지금의 나</a:t>
            </a:r>
            <a:endParaRPr lang="ko-KR" sz="4400" dirty="0"/>
          </a:p>
        </p:txBody>
      </p:sp>
      <p:sp>
        <p:nvSpPr>
          <p:cNvPr id="3" name="S02-chip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02-text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아기 때 나는 무엇을 먹었나요?</a:t>
            </a:r>
            <a:endParaRPr lang="ko-KR" sz="32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나는 무엇을 먹나요?</a:t>
            </a:r>
            <a:endParaRPr lang="ko-KR" sz="32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어제 한 일 하나는?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옛날은 언제일까요?</a:t>
            </a:r>
            <a:endParaRPr lang="ko-KR" sz="4400" dirty="0"/>
          </a:p>
        </p:txBody>
      </p:sp>
      <p:sp>
        <p:nvSpPr>
          <p:cNvPr id="3" name="S03-text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시간은 왼쪽에서 오른쪽으로 흘러요.</a:t>
            </a:r>
            <a:endParaRPr lang="ko-KR" sz="3200" dirty="0"/>
          </a:p>
        </p:txBody>
      </p:sp>
      <p:sp>
        <p:nvSpPr>
          <p:cNvPr id="4" name="S03-card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엄마, 아빠가 어렸을 때도 옛날이에요.</a:t>
            </a:r>
            <a:endParaRPr lang="ko-KR" sz="3200" dirty="0"/>
          </a:p>
        </p:txBody>
      </p:sp>
      <p:sp>
        <p:nvSpPr>
          <p:cNvPr id="6" name="S03-card12"/>
          <p:cNvSpPr/>
          <p:nvPr/>
        </p:nvSpPr>
        <p:spPr>
          <a:xfrm>
            <a:off x="548640" y="4251960"/>
            <a:ext cx="3544824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3"/>
          <p:cNvSpPr txBox="1"/>
          <p:nvPr/>
        </p:nvSpPr>
        <p:spPr>
          <a:xfrm>
            <a:off x="822960" y="4389120"/>
            <a:ext cx="2996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</a:t>
            </a:r>
            <a:endParaRPr lang="ko-KR" sz="3200" dirty="0"/>
          </a:p>
        </p:txBody>
      </p:sp>
      <p:sp>
        <p:nvSpPr>
          <p:cNvPr id="8" name="S03-card14"/>
          <p:cNvSpPr/>
          <p:nvPr/>
        </p:nvSpPr>
        <p:spPr>
          <a:xfrm>
            <a:off x="4322064" y="4251960"/>
            <a:ext cx="3544824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15"/>
          <p:cNvSpPr txBox="1"/>
          <p:nvPr/>
        </p:nvSpPr>
        <p:spPr>
          <a:xfrm>
            <a:off x="4596384" y="4389120"/>
            <a:ext cx="2996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</a:t>
            </a:r>
            <a:endParaRPr lang="ko-KR" sz="3200" dirty="0"/>
          </a:p>
        </p:txBody>
      </p:sp>
      <p:sp>
        <p:nvSpPr>
          <p:cNvPr id="10" name="S03-card16"/>
          <p:cNvSpPr/>
          <p:nvPr/>
        </p:nvSpPr>
        <p:spPr>
          <a:xfrm>
            <a:off x="8095488" y="4251960"/>
            <a:ext cx="3544824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11" name="S03-cardtext17"/>
          <p:cNvSpPr txBox="1"/>
          <p:nvPr/>
        </p:nvSpPr>
        <p:spPr>
          <a:xfrm>
            <a:off x="8369808" y="4389120"/>
            <a:ext cx="2996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</a:t>
            </a:r>
            <a:endParaRPr lang="ko-KR" sz="3200" dirty="0"/>
          </a:p>
        </p:txBody>
      </p:sp>
      <p:sp>
        <p:nvSpPr>
          <p:cNvPr id="12" name="S03-line18"/>
          <p:cNvSpPr/>
          <p:nvPr/>
        </p:nvSpPr>
        <p:spPr>
          <a:xfrm>
            <a:off x="822960" y="3017520"/>
            <a:ext cx="10543032" cy="0"/>
          </a:xfrm>
          <a:prstGeom prst="line">
            <a:avLst/>
          </a:prstGeom>
          <a:noFill/>
          <a:ln w="38100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13" name="S03-event19"/>
          <p:cNvSpPr/>
          <p:nvPr/>
        </p:nvSpPr>
        <p:spPr>
          <a:xfrm>
            <a:off x="2461260" y="2898648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03-label20"/>
          <p:cNvSpPr txBox="1"/>
          <p:nvPr/>
        </p:nvSpPr>
        <p:spPr>
          <a:xfrm>
            <a:off x="868680" y="1839595"/>
            <a:ext cx="3422904" cy="9493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할머니·할아버지가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어렸을 때</a:t>
            </a:r>
            <a:endParaRPr lang="ko-KR" sz="2600" dirty="0"/>
          </a:p>
        </p:txBody>
      </p:sp>
      <p:sp>
        <p:nvSpPr>
          <p:cNvPr id="15" name="S03-event21"/>
          <p:cNvSpPr/>
          <p:nvPr/>
        </p:nvSpPr>
        <p:spPr>
          <a:xfrm>
            <a:off x="5975604" y="2898648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S03-label22"/>
          <p:cNvSpPr txBox="1"/>
          <p:nvPr/>
        </p:nvSpPr>
        <p:spPr>
          <a:xfrm>
            <a:off x="4383024" y="1839595"/>
            <a:ext cx="3422904" cy="9493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엄마·아빠가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어렸을 때</a:t>
            </a:r>
            <a:endParaRPr lang="ko-KR" sz="2600" dirty="0"/>
          </a:p>
        </p:txBody>
      </p:sp>
      <p:sp>
        <p:nvSpPr>
          <p:cNvPr id="17" name="S03-event23"/>
          <p:cNvSpPr/>
          <p:nvPr/>
        </p:nvSpPr>
        <p:spPr>
          <a:xfrm>
            <a:off x="9489948" y="2898648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S03-label24"/>
          <p:cNvSpPr txBox="1"/>
          <p:nvPr/>
        </p:nvSpPr>
        <p:spPr>
          <a:xfrm>
            <a:off x="7897368" y="1839595"/>
            <a:ext cx="3422904" cy="9493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(나)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옛날부터 해 온 놀이</a:t>
            </a:r>
            <a:endParaRPr lang="ko-KR" sz="4400" dirty="0"/>
          </a:p>
        </p:txBody>
      </p:sp>
      <p:sp>
        <p:nvSpPr>
          <p:cNvPr id="3" name="S04-card2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2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오늘도 하는 놀이가 많아요.</a:t>
            </a:r>
            <a:endParaRPr lang="ko-KR" sz="3200" dirty="0"/>
          </a:p>
        </p:txBody>
      </p:sp>
      <p:sp>
        <p:nvSpPr>
          <p:cNvPr id="5" name="S04-card27"/>
          <p:cNvSpPr/>
          <p:nvPr/>
        </p:nvSpPr>
        <p:spPr>
          <a:xfrm>
            <a:off x="548640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28"/>
          <p:cNvSpPr txBox="1"/>
          <p:nvPr/>
        </p:nvSpPr>
        <p:spPr>
          <a:xfrm>
            <a:off x="822960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딱지치기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딱지를 쳐서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뒤집어요.</a:t>
            </a:r>
            <a:endParaRPr lang="ko-KR" sz="3200" dirty="0"/>
          </a:p>
        </p:txBody>
      </p:sp>
      <p:sp>
        <p:nvSpPr>
          <p:cNvPr id="7" name="S04-card29"/>
          <p:cNvSpPr/>
          <p:nvPr/>
        </p:nvSpPr>
        <p:spPr>
          <a:xfrm>
            <a:off x="6208776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4-cardtext30"/>
          <p:cNvSpPr txBox="1"/>
          <p:nvPr/>
        </p:nvSpPr>
        <p:spPr>
          <a:xfrm>
            <a:off x="6483096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공기놀이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돌 다섯 개로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놀아요.</a:t>
            </a:r>
            <a:endParaRPr lang="ko-KR" sz="3200" dirty="0"/>
          </a:p>
        </p:txBody>
      </p:sp>
      <p:sp>
        <p:nvSpPr>
          <p:cNvPr id="9" name="S04-card31"/>
          <p:cNvSpPr/>
          <p:nvPr/>
        </p:nvSpPr>
        <p:spPr>
          <a:xfrm>
            <a:off x="548640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4-cardtext32"/>
          <p:cNvSpPr txBox="1"/>
          <p:nvPr/>
        </p:nvSpPr>
        <p:spPr>
          <a:xfrm>
            <a:off x="822960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제기차기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제기를 발로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 올려요.</a:t>
            </a:r>
            <a:endParaRPr lang="ko-KR" sz="3200" dirty="0"/>
          </a:p>
        </p:txBody>
      </p:sp>
      <p:sp>
        <p:nvSpPr>
          <p:cNvPr id="11" name="S04-card33"/>
          <p:cNvSpPr/>
          <p:nvPr/>
        </p:nvSpPr>
        <p:spPr>
          <a:xfrm>
            <a:off x="6208776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4-cardtext34"/>
          <p:cNvSpPr txBox="1"/>
          <p:nvPr/>
        </p:nvSpPr>
        <p:spPr>
          <a:xfrm>
            <a:off x="6483096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팽이치기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팽이를 채로 쳐서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돌려요.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할머니의 공기놀이</a:t>
            </a:r>
            <a:endParaRPr lang="ko-KR" sz="4400" dirty="0"/>
          </a:p>
        </p:txBody>
      </p:sp>
      <p:sp>
        <p:nvSpPr>
          <p:cNvPr id="3" name="S05-card3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3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지호가 할머니께 어렸을 때 놀이를 여쭈었어요.</a:t>
            </a:r>
            <a:endParaRPr lang="ko-KR" sz="3200" dirty="0"/>
          </a:p>
        </p:txBody>
      </p:sp>
      <p:sp>
        <p:nvSpPr>
          <p:cNvPr id="5" name="S05-card3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5-cardtext3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점과 다른 점은 무엇일까요?</a:t>
            </a:r>
            <a:endParaRPr lang="ko-KR" sz="3200" dirty="0"/>
          </a:p>
        </p:txBody>
      </p:sp>
      <p:sp>
        <p:nvSpPr>
          <p:cNvPr id="7" name="S05-chip39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옛날: 할머니</a:t>
            </a:r>
            <a:endParaRPr lang="ko-KR" sz="2600" dirty="0"/>
          </a:p>
        </p:txBody>
      </p:sp>
      <p:sp>
        <p:nvSpPr>
          <p:cNvPr id="8" name="S05-text40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냇가에서 주운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돌로 놀았어요.</a:t>
            </a:r>
            <a:endParaRPr lang="ko-KR" sz="3200" dirty="0"/>
          </a:p>
        </p:txBody>
      </p:sp>
      <p:sp>
        <p:nvSpPr>
          <p:cNvPr id="9" name="S05-chip41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오늘: 지호</a:t>
            </a:r>
            <a:endParaRPr lang="ko-KR" sz="2600" dirty="0"/>
          </a:p>
        </p:txBody>
      </p:sp>
      <p:sp>
        <p:nvSpPr>
          <p:cNvPr id="10" name="S05-text42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가게에서 산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공깃돌로 놀아요.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엄마가 어렸을 때</a:t>
            </a:r>
            <a:endParaRPr lang="ko-KR" sz="4400" dirty="0"/>
          </a:p>
        </p:txBody>
      </p:sp>
      <p:sp>
        <p:nvSpPr>
          <p:cNvPr id="3" name="S06-text4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지호 엄마가 어렸을 때 이야기예요.</a:t>
            </a:r>
            <a:endParaRPr lang="ko-KR" sz="3200" dirty="0"/>
          </a:p>
        </p:txBody>
      </p:sp>
      <p:sp>
        <p:nvSpPr>
          <p:cNvPr id="4" name="S06-card4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4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오늘은 어떻게 할까요? 같은 점은? 다른 점은?</a:t>
            </a:r>
            <a:endParaRPr lang="ko-KR" sz="3200" dirty="0"/>
          </a:p>
        </p:txBody>
      </p:sp>
      <p:sp>
        <p:nvSpPr>
          <p:cNvPr id="6" name="S06-chip4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6-text47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 전화로 친구에게 전화했어요.</a:t>
            </a:r>
            <a:endParaRPr lang="ko-KR" sz="3200" dirty="0"/>
          </a:p>
        </p:txBody>
      </p:sp>
      <p:sp>
        <p:nvSpPr>
          <p:cNvPr id="8" name="S06-chip48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6-text49"/>
          <p:cNvSpPr txBox="1"/>
          <p:nvPr/>
        </p:nvSpPr>
        <p:spPr>
          <a:xfrm>
            <a:off x="1344168" y="36576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지도를 보고 길을 찾았어요.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 놀이는 사라졌을까?</a:t>
            </a:r>
            <a:endParaRPr lang="ko-KR" sz="4400" dirty="0"/>
          </a:p>
        </p:txBody>
      </p:sp>
      <p:sp>
        <p:nvSpPr>
          <p:cNvPr id="3" name="S07-card5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5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 놀이에 대해 두 친구가 말했어요.</a:t>
            </a:r>
            <a:endParaRPr lang="ko-KR" sz="3200" dirty="0"/>
          </a:p>
        </p:txBody>
      </p:sp>
      <p:sp>
        <p:nvSpPr>
          <p:cNvPr id="5" name="S07-card5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5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어떻게 알 수 있을까요?</a:t>
            </a:r>
            <a:endParaRPr lang="ko-KR" sz="3200" dirty="0"/>
          </a:p>
        </p:txBody>
      </p:sp>
      <p:sp>
        <p:nvSpPr>
          <p:cNvPr id="7" name="S07-chip5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7-text55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“옛날 놀이는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이제 아무도 안 해요.”</a:t>
            </a:r>
            <a:endParaRPr lang="ko-KR" sz="3200" dirty="0"/>
          </a:p>
        </p:txBody>
      </p:sp>
      <p:sp>
        <p:nvSpPr>
          <p:cNvPr id="9" name="S07-chip5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7-text57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“옛날 놀이를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오늘도 해요.”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어른께 여쭈어 봐요</a:t>
            </a:r>
            <a:endParaRPr lang="ko-KR" sz="4400" dirty="0"/>
          </a:p>
        </p:txBody>
      </p:sp>
      <p:sp>
        <p:nvSpPr>
          <p:cNvPr id="3" name="S08-card58"/>
          <p:cNvSpPr/>
          <p:nvPr/>
        </p:nvSpPr>
        <p:spPr>
          <a:xfrm>
            <a:off x="548640" y="489712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59"/>
          <p:cNvSpPr txBox="1"/>
          <p:nvPr/>
        </p:nvSpPr>
        <p:spPr>
          <a:xfrm>
            <a:off x="822960" y="503428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‘어렸을 때 ~?’로 여쭈고,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들은 것을 적어요.</a:t>
            </a:r>
            <a:endParaRPr lang="ko-KR" sz="3200" dirty="0"/>
          </a:p>
        </p:txBody>
      </p:sp>
      <p:sp>
        <p:nvSpPr>
          <p:cNvPr id="5" name="S08-card60"/>
          <p:cNvSpPr/>
          <p:nvPr/>
        </p:nvSpPr>
        <p:spPr>
          <a:xfrm>
            <a:off x="548640" y="189992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8-cardtext61"/>
          <p:cNvSpPr txBox="1"/>
          <p:nvPr/>
        </p:nvSpPr>
        <p:spPr>
          <a:xfrm>
            <a:off x="822960" y="203708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“어렸을 때 무엇을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하고 놀았어요?”</a:t>
            </a:r>
            <a:endParaRPr lang="ko-KR" sz="3200" dirty="0"/>
          </a:p>
        </p:txBody>
      </p:sp>
      <p:sp>
        <p:nvSpPr>
          <p:cNvPr id="7" name="S08-card62"/>
          <p:cNvSpPr/>
          <p:nvPr/>
        </p:nvSpPr>
        <p:spPr>
          <a:xfrm>
            <a:off x="4322064" y="189992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8-cardtext63"/>
          <p:cNvSpPr txBox="1"/>
          <p:nvPr/>
        </p:nvSpPr>
        <p:spPr>
          <a:xfrm>
            <a:off x="4596384" y="203708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“어렸을 때 무엇으로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전화했어요?”</a:t>
            </a:r>
            <a:endParaRPr lang="ko-KR" sz="3200" dirty="0"/>
          </a:p>
        </p:txBody>
      </p:sp>
      <p:sp>
        <p:nvSpPr>
          <p:cNvPr id="9" name="S08-card64"/>
          <p:cNvSpPr/>
          <p:nvPr/>
        </p:nvSpPr>
        <p:spPr>
          <a:xfrm>
            <a:off x="8095488" y="189992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8-cardtext65"/>
          <p:cNvSpPr txBox="1"/>
          <p:nvPr/>
        </p:nvSpPr>
        <p:spPr>
          <a:xfrm>
            <a:off x="8369808" y="203708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“어렸을 때 학교에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갔어요?”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질문을 만들어요</a:t>
            </a:r>
            <a:endParaRPr lang="ko-KR" sz="4400" dirty="0"/>
          </a:p>
        </p:txBody>
      </p:sp>
      <p:sp>
        <p:nvSpPr>
          <p:cNvPr id="3" name="S09-text6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궁금한 것을 질문으로 바꿔요.</a:t>
            </a:r>
            <a:endParaRPr lang="ko-KR" sz="3200" dirty="0"/>
          </a:p>
        </p:txBody>
      </p:sp>
      <p:sp>
        <p:nvSpPr>
          <p:cNvPr id="4" name="S09-card6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6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“어렸을 때 ~?” 하고 여쭈어요.</a:t>
            </a:r>
            <a:endParaRPr lang="ko-KR" sz="3200" dirty="0"/>
          </a:p>
        </p:txBody>
      </p:sp>
      <p:sp>
        <p:nvSpPr>
          <p:cNvPr id="6" name="S09-chip69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9-text70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좋아한 간식이 궁금해요.</a:t>
            </a:r>
            <a:endParaRPr lang="ko-KR" sz="3200" dirty="0"/>
          </a:p>
        </p:txBody>
      </p:sp>
      <p:sp>
        <p:nvSpPr>
          <p:cNvPr id="8" name="S09-chip71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9-text72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생일에 한 일이 궁금해요.</a:t>
            </a:r>
            <a:endParaRPr lang="ko-KR" sz="3200" dirty="0"/>
          </a:p>
        </p:txBody>
      </p:sp>
      <p:sp>
        <p:nvSpPr>
          <p:cNvPr id="10" name="S09-chip73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9-text74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 오는 날 놀이가 궁금해요.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엄마(아빠)께 여쭈어요</a:t>
            </a:r>
            <a:endParaRPr lang="ko-KR" sz="4400" dirty="0"/>
          </a:p>
        </p:txBody>
      </p:sp>
      <p:sp>
        <p:nvSpPr>
          <p:cNvPr id="3" name="S10-text7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바로 해 봐요.</a:t>
            </a:r>
            <a:endParaRPr lang="ko-KR" sz="3200" dirty="0"/>
          </a:p>
        </p:txBody>
      </p:sp>
      <p:sp>
        <p:nvSpPr>
          <p:cNvPr id="4" name="S10-card76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0-cardtext77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질문 두 개를 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들은 것을 적었어요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같은 점·다른 점을 말했어요</a:t>
            </a:r>
            <a:endParaRPr lang="ko-KR" sz="3200" dirty="0"/>
          </a:p>
        </p:txBody>
      </p:sp>
      <p:sp>
        <p:nvSpPr>
          <p:cNvPr id="6" name="S10-stepno78"/>
          <p:cNvSpPr txBox="1"/>
          <p:nvPr/>
        </p:nvSpPr>
        <p:spPr>
          <a:xfrm>
            <a:off x="548640" y="27706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10-text79"/>
          <p:cNvSpPr txBox="1"/>
          <p:nvPr/>
        </p:nvSpPr>
        <p:spPr>
          <a:xfrm>
            <a:off x="1325880" y="277063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여쭐 질문 두 개를 골라요.</a:t>
            </a:r>
            <a:endParaRPr lang="ko-KR" sz="3200" dirty="0"/>
          </a:p>
        </p:txBody>
      </p:sp>
      <p:sp>
        <p:nvSpPr>
          <p:cNvPr id="8" name="S10-stepno80"/>
          <p:cNvSpPr txBox="1"/>
          <p:nvPr/>
        </p:nvSpPr>
        <p:spPr>
          <a:xfrm>
            <a:off x="548640" y="34838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10-text81"/>
          <p:cNvSpPr txBox="1"/>
          <p:nvPr/>
        </p:nvSpPr>
        <p:spPr>
          <a:xfrm>
            <a:off x="1325880" y="348386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높임말로 여쭈어요.</a:t>
            </a:r>
            <a:endParaRPr lang="ko-KR" sz="3200" dirty="0"/>
          </a:p>
        </p:txBody>
      </p:sp>
      <p:sp>
        <p:nvSpPr>
          <p:cNvPr id="10" name="S10-stepno82"/>
          <p:cNvSpPr txBox="1"/>
          <p:nvPr/>
        </p:nvSpPr>
        <p:spPr>
          <a:xfrm>
            <a:off x="548640" y="41970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10-text83"/>
          <p:cNvSpPr txBox="1"/>
          <p:nvPr/>
        </p:nvSpPr>
        <p:spPr>
          <a:xfrm>
            <a:off x="1325880" y="41970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들은 것을 기록표에 적어요.</a:t>
            </a:r>
            <a:endParaRPr lang="ko-KR" sz="3200" dirty="0"/>
          </a:p>
        </p:txBody>
      </p:sp>
      <p:sp>
        <p:nvSpPr>
          <p:cNvPr id="12" name="S10-stepno84"/>
          <p:cNvSpPr txBox="1"/>
          <p:nvPr/>
        </p:nvSpPr>
        <p:spPr>
          <a:xfrm>
            <a:off x="548640" y="49103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3" name="S10-text85"/>
          <p:cNvSpPr txBox="1"/>
          <p:nvPr/>
        </p:nvSpPr>
        <p:spPr>
          <a:xfrm>
            <a:off x="1325880" y="491032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나와 비교해요.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서아네 팽이</a:t>
            </a:r>
            <a:endParaRPr lang="ko-KR" sz="4400" dirty="0"/>
          </a:p>
        </p:txBody>
      </p:sp>
      <p:sp>
        <p:nvSpPr>
          <p:cNvPr id="3" name="S11-card86"/>
          <p:cNvSpPr/>
          <p:nvPr/>
        </p:nvSpPr>
        <p:spPr>
          <a:xfrm>
            <a:off x="548640" y="489712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1-cardtext87"/>
          <p:cNvSpPr txBox="1"/>
          <p:nvPr/>
        </p:nvSpPr>
        <p:spPr>
          <a:xfrm>
            <a:off x="822960" y="503428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같은 점은?  ② 다른 점은?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아빠가 어렸을 때도 옛날일까요?</a:t>
            </a:r>
            <a:endParaRPr lang="ko-KR" sz="3200" dirty="0"/>
          </a:p>
        </p:txBody>
      </p:sp>
      <p:sp>
        <p:nvSpPr>
          <p:cNvPr id="5" name="S11-passagebox88"/>
          <p:cNvSpPr/>
          <p:nvPr/>
        </p:nvSpPr>
        <p:spPr>
          <a:xfrm>
            <a:off x="548640" y="1325880"/>
            <a:ext cx="11091672" cy="3342640"/>
          </a:xfrm>
          <a:prstGeom prst="roundRect">
            <a:avLst>
              <a:gd name="adj" fmla="val 2736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1-passage89"/>
          <p:cNvSpPr txBox="1"/>
          <p:nvPr/>
        </p:nvSpPr>
        <p:spPr>
          <a:xfrm>
            <a:off x="822960" y="1508760"/>
            <a:ext cx="10543032" cy="297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서아 할아버지는 어렸을 때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나무를 깎아 팽이를 만들었어요.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서아는 문구점에서 산 팽이로 놀아요.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400" dirty="0"/>
          </a:p>
        </p:txBody>
      </p:sp>
      <p:sp>
        <p:nvSpPr>
          <p:cNvPr id="3" name="S12-card9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9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점과 다른 점을 한 가지씩 말해요.</a:t>
            </a:r>
            <a:endParaRPr lang="ko-KR" sz="3200" dirty="0"/>
          </a:p>
        </p:txBody>
      </p:sp>
      <p:sp>
        <p:nvSpPr>
          <p:cNvPr id="5" name="S12-chip92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2-text93"/>
          <p:cNvSpPr txBox="1"/>
          <p:nvPr/>
        </p:nvSpPr>
        <p:spPr>
          <a:xfrm>
            <a:off x="548640" y="20574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둘 다 팽이로 놀아요</a:t>
            </a:r>
            <a:endParaRPr lang="ko-KR" sz="3200" dirty="0"/>
          </a:p>
        </p:txBody>
      </p:sp>
      <p:sp>
        <p:nvSpPr>
          <p:cNvPr id="7" name="S12-text94"/>
          <p:cNvSpPr txBox="1"/>
          <p:nvPr/>
        </p:nvSpPr>
        <p:spPr>
          <a:xfrm>
            <a:off x="548640" y="31242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직접 만듦 ↔ 산 팽이</a:t>
            </a:r>
            <a:endParaRPr lang="ko-KR" sz="3200" dirty="0"/>
          </a:p>
        </p:txBody>
      </p:sp>
      <p:sp>
        <p:nvSpPr>
          <p:cNvPr id="8" name="S12-text95"/>
          <p:cNvSpPr txBox="1"/>
          <p:nvPr/>
        </p:nvSpPr>
        <p:spPr>
          <a:xfrm>
            <a:off x="548640" y="41910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네, 옛날이에요</a:t>
            </a:r>
            <a:endParaRPr lang="ko-KR" sz="3200" dirty="0"/>
          </a:p>
        </p:txBody>
      </p:sp>
      <p:sp>
        <p:nvSpPr>
          <p:cNvPr id="9" name="S12-chip96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0" name="S12-text97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점만 말하기</a:t>
            </a:r>
            <a:endParaRPr lang="ko-KR" sz="3200" dirty="0"/>
          </a:p>
        </p:txBody>
      </p:sp>
      <p:sp>
        <p:nvSpPr>
          <p:cNvPr id="11" name="S12-text98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점도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찾아요</a:t>
            </a:r>
            <a:endParaRPr lang="ko-KR" sz="2600" dirty="0"/>
          </a:p>
        </p:txBody>
      </p:sp>
      <p:sp>
        <p:nvSpPr>
          <p:cNvPr id="12" name="S12-text99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“아빠 때는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옛날이 아니에요.”</a:t>
            </a:r>
            <a:endParaRPr lang="ko-KR" sz="2600" dirty="0"/>
          </a:p>
        </p:txBody>
      </p:sp>
      <p:sp>
        <p:nvSpPr>
          <p:cNvPr id="13" name="S12-text100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오늘보다 앞이면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101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02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옛날과 오늘을 비교하면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점도, 다른 점도 있어요.</a:t>
            </a:r>
            <a:endParaRPr lang="ko-KR" sz="3200" dirty="0"/>
          </a:p>
        </p:txBody>
      </p:sp>
      <p:sp>
        <p:nvSpPr>
          <p:cNvPr id="5" name="S13-chip103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어른께 여쭈어 알아보기</a:t>
            </a:r>
            <a:endParaRPr lang="ko-KR" sz="2600" dirty="0"/>
          </a:p>
        </p:txBody>
      </p:sp>
      <p:sp>
        <p:nvSpPr>
          <p:cNvPr id="6" name="S13-chip104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옛날은 불편하다고만 하기</a:t>
            </a:r>
            <a:endParaRPr lang="ko-KR" sz="2600" dirty="0"/>
          </a:p>
        </p:txBody>
      </p:sp>
      <p:sp>
        <p:nvSpPr>
          <p:cNvPr id="7" name="S13-text105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text106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엄마, 아빠가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어렸을 때도 옛날?</a:t>
            </a:r>
            <a:endParaRPr lang="ko-KR" sz="2600" dirty="0"/>
          </a:p>
        </p:txBody>
      </p:sp>
      <p:sp>
        <p:nvSpPr>
          <p:cNvPr id="9" name="S13-text107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옛날부터 해 온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 하나는?</a:t>
            </a:r>
            <a:endParaRPr lang="ko-KR" sz="2600" dirty="0"/>
          </a:p>
        </p:txBody>
      </p:sp>
      <p:sp>
        <p:nvSpPr>
          <p:cNvPr id="10" name="S13-text108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어른께 여쭐 때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쓰는 질문은?</a:t>
            </a:r>
            <a:endParaRPr lang="ko-KR" sz="2600" dirty="0"/>
          </a:p>
        </p:txBody>
      </p:sp>
      <p:sp>
        <p:nvSpPr>
          <p:cNvPr id="11" name="S13-text109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서로 다른 생활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아기 때와 지금</a:t>
            </a:r>
            <a:endParaRPr lang="ko-KR" sz="4400" dirty="0"/>
          </a:p>
        </p:txBody>
      </p:sp>
      <p:sp>
        <p:nvSpPr>
          <p:cNvPr id="3" name="S14-card1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4-cardtext1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하는 일은 같아도 쓰는 물건이 달라요.</a:t>
            </a:r>
            <a:endParaRPr lang="ko-KR" sz="3200" dirty="0"/>
          </a:p>
        </p:txBody>
      </p:sp>
      <p:graphicFrame>
        <p:nvGraphicFramePr>
          <p:cNvPr id="15" name="S14-table1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22476" y="2042160"/>
          <a:ext cx="9144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3657600"/>
              </a:tblGrid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하는 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아기 때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지금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먹기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젖병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숟가락, 컵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다니기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유모차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걷기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놀기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딸랑이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블록, 공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사회·역사 옛날과 오늘</dc:title>
  <dc:subject>KR22-G02-SOC-PAST-L01</dc:subject>
  <dc:creator>education-ppt</dc:creator>
  <cp:lastModifiedBy>education-ppt</cp:lastModifiedBy>
  <cp:revision>1</cp:revision>
  <dcterms:created xsi:type="dcterms:W3CDTF">2026-10-26T10:12:18Z</dcterms:created>
  <dcterms:modified xsi:type="dcterms:W3CDTF">2026-10-26T10:12:18Z</dcterms:modified>
</cp:coreProperties>
</file>