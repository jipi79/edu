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a208709-903d-7400-24eb-5aee26abfee1}">
          <p14:sldIdLst>
            <p14:sldId id="256"/>
            <p14:sldId id="257"/>
          </p14:sldIdLst>
        </p14:section>
        <p14:section name="개념" id="{55d77d6a-c938-5a42-d625-6858bac703f8}">
          <p14:sldIdLst>
            <p14:sldId id="258"/>
            <p14:sldId id="259"/>
            <p14:sldId id="260"/>
            <p14:sldId id="263"/>
          </p14:sldIdLst>
        </p14:section>
        <p14:section name="연습" id="{3b0028b1-3c73-7a73-4252-d646b02da4d6}">
          <p14:sldIdLst>
            <p14:sldId id="261"/>
            <p14:sldId id="262"/>
            <p14:sldId id="264"/>
            <p14:sldId id="265"/>
          </p14:sldIdLst>
        </p14:section>
        <p14:section name="개념" id="{5b831057-1d98-8523-4bfb-42037aa2defd}">
          <p14:sldIdLst/>
        </p14:section>
        <p14:section name="연습" id="{073f2fd3-f70b-bcdc-5f69-1f3746723f73}">
          <p14:sldIdLst/>
        </p14:section>
        <p14:section name="확인" id="{7a0c3f72-ebb6-c61a-3074-7d7e6fa5d29a}">
          <p14:sldIdLst>
            <p14:sldId id="266"/>
            <p14:sldId id="267"/>
          </p14:sldIdLst>
        </p14:section>
        <p14:section name="정리" id="{5c3f0c6e-d8d3-b0db-1ce1-0f48ed5d8c98}">
          <p14:sldIdLst>
            <p14:sldId id="268"/>
          </p14:sldIdLst>
        </p14:section>
        <p14:section name="보충" id="{462f6aa6-0094-8942-84d2-1317ed1f4ba4}">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5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50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2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2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초2 사회·역사 · 마을과공동체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4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초2 사회·역사 · 서로 돕는 마을 사람들</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4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초2 사회·역사 · 서로 돕는 마을 사람들</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4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초2 사회·역사 · 서로 돕는 마을 사람들</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800" b="1" dirty="0">
                <a:solidFill>
                  <a:srgbClr val="FFFFFF"/>
                </a:solidFill>
                <a:latin typeface="맑은 고딕" pitchFamily="34" charset="0"/>
                <a:ea typeface="맑은 고딕" pitchFamily="34" charset="-122"/>
                <a:cs typeface="맑은 고딕" pitchFamily="34" charset="-120"/>
              </a:rPr>
              <a:t>서로 돕는 마을 사람들</a:t>
            </a:r>
            <a:endParaRPr lang="ko-KR" sz="50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200" dirty="0">
                <a:solidFill>
                  <a:srgbClr val="C9DCD8"/>
                </a:solidFill>
                <a:latin typeface="맑은 고딕" pitchFamily="34" charset="0"/>
                <a:ea typeface="맑은 고딕" pitchFamily="34" charset="-122"/>
                <a:cs typeface="맑은 고딕" pitchFamily="34" charset="-120"/>
              </a:rPr>
              <a:t>마을 사람들은</a:t>
            </a:r>
            <a:endParaRPr lang="ko-KR" sz="3200" dirty="0"/>
          </a:p>
          <a:p>
            <a:pPr eaLnBrk="0" indent="0" marL="0">
              <a:buNone/>
            </a:pPr>
            <a:r>
              <a:rPr lang="ko-KR" altLang="en-US" sz="3200" dirty="0">
                <a:solidFill>
                  <a:srgbClr val="C9DCD8"/>
                </a:solidFill>
                <a:latin typeface="맑은 고딕" pitchFamily="34" charset="0"/>
                <a:ea typeface="맑은 고딕" pitchFamily="34" charset="-122"/>
                <a:cs typeface="맑은 고딕" pitchFamily="34" charset="-120"/>
              </a:rPr>
              <a:t>어떻게 서로 도울까?</a:t>
            </a:r>
            <a:endParaRPr lang="ko-KR" sz="3200" dirty="0"/>
          </a:p>
        </p:txBody>
      </p:sp>
      <p:sp>
        <p:nvSpPr>
          <p:cNvPr id="4" name="S01-card1"/>
          <p:cNvSpPr/>
          <p:nvPr/>
        </p:nvSpPr>
        <p:spPr>
          <a:xfrm>
            <a:off x="731520" y="4343400"/>
            <a:ext cx="10725912" cy="1783080"/>
          </a:xfrm>
          <a:prstGeom prst="roundRect">
            <a:avLst>
              <a:gd name="adj" fmla="val 6154"/>
            </a:avLst>
          </a:prstGeom>
          <a:solidFill>
            <a:srgbClr val="32606F"/>
          </a:solidFill>
          <a:ln w="12700">
            <a:solidFill>
              <a:srgbClr val="32606F"/>
            </a:solidFill>
            <a:prstDash val="solid"/>
          </a:ln>
        </p:spPr>
      </p:sp>
      <p:sp>
        <p:nvSpPr>
          <p:cNvPr id="5" name="S01-cardtext2"/>
          <p:cNvSpPr txBox="1"/>
          <p:nvPr/>
        </p:nvSpPr>
        <p:spPr>
          <a:xfrm>
            <a:off x="1005840" y="4480560"/>
            <a:ext cx="10177272"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FFFFFF"/>
                </a:solidFill>
                <a:latin typeface="맑은 고딕" pitchFamily="34" charset="0"/>
                <a:ea typeface="맑은 고딕" pitchFamily="34" charset="-122"/>
                <a:cs typeface="맑은 고딕" pitchFamily="34" charset="-120"/>
              </a:rPr>
              <a:t>오늘 할 수 있게 될 것</a:t>
            </a:r>
            <a:endParaRPr lang="ko-KR" sz="3200" dirty="0"/>
          </a:p>
          <a:p>
            <a:pPr eaLnBrk="0" indent="0" marL="0">
              <a:spcAft>
                <a:spcPts val="600"/>
              </a:spcAft>
              <a:buNone/>
            </a:pPr>
            <a:r>
              <a:rPr lang="ko-KR" altLang="en-US" sz="2600" dirty="0">
                <a:solidFill>
                  <a:srgbClr val="FFFFFF"/>
                </a:solidFill>
                <a:latin typeface="맑은 고딕" pitchFamily="34" charset="0"/>
                <a:ea typeface="맑은 고딕" pitchFamily="34" charset="-122"/>
                <a:cs typeface="맑은 고딕" pitchFamily="34" charset="-120"/>
              </a:rPr>
              <a:t>① 하는 일과 돕는 사람을 말해요.</a:t>
            </a:r>
            <a:endParaRPr lang="ko-KR" sz="3200" dirty="0"/>
          </a:p>
          <a:p>
            <a:pPr eaLnBrk="0" indent="0" marL="0">
              <a:spcAft>
                <a:spcPts val="600"/>
              </a:spcAft>
              <a:buNone/>
            </a:pPr>
            <a:r>
              <a:rPr lang="ko-KR" altLang="en-US" sz="2600" dirty="0">
                <a:solidFill>
                  <a:srgbClr val="FFFFFF"/>
                </a:solidFill>
                <a:latin typeface="맑은 고딕" pitchFamily="34" charset="0"/>
                <a:ea typeface="맑은 고딕" pitchFamily="34" charset="-122"/>
                <a:cs typeface="맑은 고딕" pitchFamily="34" charset="-120"/>
              </a:rPr>
              <a:t>② 서로 돕는 모습을 찾아요.</a:t>
            </a:r>
            <a:endParaRPr lang="ko-KR"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지난 시간 떠올리기</a:t>
            </a:r>
            <a:endParaRPr lang="ko-KR" sz="4400" dirty="0"/>
          </a:p>
        </p:txBody>
      </p:sp>
      <p:sp>
        <p:nvSpPr>
          <p:cNvPr id="3" name="S02-text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시설 이름을 말해요.</a:t>
            </a:r>
            <a:endParaRPr lang="ko-KR" sz="3200" dirty="0"/>
          </a:p>
        </p:txBody>
      </p:sp>
      <p:sp>
        <p:nvSpPr>
          <p:cNvPr id="4" name="S02-chip4"/>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①</a:t>
            </a:r>
            <a:endParaRPr lang="ko-KR" sz="2600" dirty="0"/>
          </a:p>
        </p:txBody>
      </p:sp>
      <p:sp>
        <p:nvSpPr>
          <p:cNvPr id="5" name="S02-text5"/>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불을 끄는 시설은?</a:t>
            </a:r>
            <a:endParaRPr lang="ko-KR" sz="3200" dirty="0"/>
          </a:p>
        </p:txBody>
      </p:sp>
      <p:sp>
        <p:nvSpPr>
          <p:cNvPr id="6" name="S02-chip6"/>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②</a:t>
            </a:r>
            <a:endParaRPr lang="ko-KR" sz="2600" dirty="0"/>
          </a:p>
        </p:txBody>
      </p:sp>
      <p:sp>
        <p:nvSpPr>
          <p:cNvPr id="7" name="S02-text7"/>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책을 빌리는 시설은?</a:t>
            </a:r>
            <a:endParaRPr lang="ko-KR" sz="3200" dirty="0"/>
          </a:p>
        </p:txBody>
      </p:sp>
      <p:sp>
        <p:nvSpPr>
          <p:cNvPr id="8" name="S02-chip8"/>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③</a:t>
            </a:r>
            <a:endParaRPr lang="ko-KR" sz="2600" dirty="0"/>
          </a:p>
        </p:txBody>
      </p:sp>
      <p:sp>
        <p:nvSpPr>
          <p:cNvPr id="9" name="S02-text9"/>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아플 때 가는 시설은?</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마을에서 일하는 사람 ①</a:t>
            </a:r>
            <a:endParaRPr lang="ko-KR" sz="4400" dirty="0"/>
          </a:p>
        </p:txBody>
      </p:sp>
      <p:sp>
        <p:nvSpPr>
          <p:cNvPr id="3" name="S03-card10"/>
          <p:cNvSpPr/>
          <p:nvPr/>
        </p:nvSpPr>
        <p:spPr>
          <a:xfrm>
            <a:off x="548640" y="1325880"/>
            <a:ext cx="5431536" cy="2331720"/>
          </a:xfrm>
          <a:prstGeom prst="roundRect">
            <a:avLst>
              <a:gd name="adj" fmla="val 4706"/>
            </a:avLst>
          </a:prstGeom>
          <a:solidFill>
            <a:srgbClr val="EAF3F1"/>
          </a:solidFill>
          <a:ln w="12700">
            <a:solidFill>
              <a:srgbClr val="EAF3F1"/>
            </a:solidFill>
            <a:prstDash val="solid"/>
          </a:ln>
        </p:spPr>
      </p:sp>
      <p:sp>
        <p:nvSpPr>
          <p:cNvPr id="4" name="S03-cardtext11"/>
          <p:cNvSpPr txBox="1"/>
          <p:nvPr/>
        </p:nvSpPr>
        <p:spPr>
          <a:xfrm>
            <a:off x="822960" y="146304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소방관</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불을 끄고</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사람을 구해요.</a:t>
            </a:r>
            <a:endParaRPr lang="ko-KR" sz="3200" dirty="0"/>
          </a:p>
        </p:txBody>
      </p:sp>
      <p:sp>
        <p:nvSpPr>
          <p:cNvPr id="5" name="S03-card12"/>
          <p:cNvSpPr/>
          <p:nvPr/>
        </p:nvSpPr>
        <p:spPr>
          <a:xfrm>
            <a:off x="6208776" y="1325880"/>
            <a:ext cx="5431536" cy="2331720"/>
          </a:xfrm>
          <a:prstGeom prst="roundRect">
            <a:avLst>
              <a:gd name="adj" fmla="val 4706"/>
            </a:avLst>
          </a:prstGeom>
          <a:solidFill>
            <a:srgbClr val="EAF3F1"/>
          </a:solidFill>
          <a:ln w="12700">
            <a:solidFill>
              <a:srgbClr val="EAF3F1"/>
            </a:solidFill>
            <a:prstDash val="solid"/>
          </a:ln>
        </p:spPr>
      </p:sp>
      <p:sp>
        <p:nvSpPr>
          <p:cNvPr id="6" name="S03-cardtext13"/>
          <p:cNvSpPr txBox="1"/>
          <p:nvPr/>
        </p:nvSpPr>
        <p:spPr>
          <a:xfrm>
            <a:off x="6483096" y="146304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집배원</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편지와 소포를</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전해 줘요.</a:t>
            </a:r>
            <a:endParaRPr lang="ko-KR" sz="3200" dirty="0"/>
          </a:p>
        </p:txBody>
      </p:sp>
      <p:sp>
        <p:nvSpPr>
          <p:cNvPr id="7" name="S03-card14"/>
          <p:cNvSpPr/>
          <p:nvPr/>
        </p:nvSpPr>
        <p:spPr>
          <a:xfrm>
            <a:off x="548640" y="3886200"/>
            <a:ext cx="5431536" cy="2331720"/>
          </a:xfrm>
          <a:prstGeom prst="roundRect">
            <a:avLst>
              <a:gd name="adj" fmla="val 4706"/>
            </a:avLst>
          </a:prstGeom>
          <a:solidFill>
            <a:srgbClr val="EAF3F1"/>
          </a:solidFill>
          <a:ln w="12700">
            <a:solidFill>
              <a:srgbClr val="EAF3F1"/>
            </a:solidFill>
            <a:prstDash val="solid"/>
          </a:ln>
        </p:spPr>
      </p:sp>
      <p:sp>
        <p:nvSpPr>
          <p:cNvPr id="8" name="S03-cardtext15"/>
          <p:cNvSpPr txBox="1"/>
          <p:nvPr/>
        </p:nvSpPr>
        <p:spPr>
          <a:xfrm>
            <a:off x="822960" y="402336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제빵사</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빵을 만들어</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팔아요.</a:t>
            </a:r>
            <a:endParaRPr lang="ko-KR" sz="3200" dirty="0"/>
          </a:p>
        </p:txBody>
      </p:sp>
      <p:sp>
        <p:nvSpPr>
          <p:cNvPr id="9" name="S03-card16"/>
          <p:cNvSpPr/>
          <p:nvPr/>
        </p:nvSpPr>
        <p:spPr>
          <a:xfrm>
            <a:off x="6208776" y="3886200"/>
            <a:ext cx="5431536" cy="2331720"/>
          </a:xfrm>
          <a:prstGeom prst="roundRect">
            <a:avLst>
              <a:gd name="adj" fmla="val 4706"/>
            </a:avLst>
          </a:prstGeom>
          <a:solidFill>
            <a:srgbClr val="EAF3F1"/>
          </a:solidFill>
          <a:ln w="12700">
            <a:solidFill>
              <a:srgbClr val="EAF3F1"/>
            </a:solidFill>
            <a:prstDash val="solid"/>
          </a:ln>
        </p:spPr>
      </p:sp>
      <p:sp>
        <p:nvSpPr>
          <p:cNvPr id="10" name="S03-cardtext17"/>
          <p:cNvSpPr txBox="1"/>
          <p:nvPr/>
        </p:nvSpPr>
        <p:spPr>
          <a:xfrm>
            <a:off x="6483096" y="402336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사서</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도서관에서</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책을 찾아 줘요.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마을에서 일하는 사람 ②</a:t>
            </a:r>
            <a:endParaRPr lang="ko-KR" sz="4400" dirty="0"/>
          </a:p>
        </p:txBody>
      </p:sp>
      <p:sp>
        <p:nvSpPr>
          <p:cNvPr id="3" name="S04-card18"/>
          <p:cNvSpPr/>
          <p:nvPr/>
        </p:nvSpPr>
        <p:spPr>
          <a:xfrm>
            <a:off x="548640" y="1325880"/>
            <a:ext cx="5431536" cy="2331720"/>
          </a:xfrm>
          <a:prstGeom prst="roundRect">
            <a:avLst>
              <a:gd name="adj" fmla="val 4706"/>
            </a:avLst>
          </a:prstGeom>
          <a:solidFill>
            <a:srgbClr val="EAF3F1"/>
          </a:solidFill>
          <a:ln w="12700">
            <a:solidFill>
              <a:srgbClr val="EAF3F1"/>
            </a:solidFill>
            <a:prstDash val="solid"/>
          </a:ln>
        </p:spPr>
      </p:sp>
      <p:sp>
        <p:nvSpPr>
          <p:cNvPr id="4" name="S04-cardtext19"/>
          <p:cNvSpPr txBox="1"/>
          <p:nvPr/>
        </p:nvSpPr>
        <p:spPr>
          <a:xfrm>
            <a:off x="822960" y="146304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의사·간호사</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아픈 사람을</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치료하고 돌봐요.</a:t>
            </a:r>
            <a:endParaRPr lang="ko-KR" sz="3200" dirty="0"/>
          </a:p>
        </p:txBody>
      </p:sp>
      <p:sp>
        <p:nvSpPr>
          <p:cNvPr id="5" name="S04-card20"/>
          <p:cNvSpPr/>
          <p:nvPr/>
        </p:nvSpPr>
        <p:spPr>
          <a:xfrm>
            <a:off x="6208776" y="1325880"/>
            <a:ext cx="5431536" cy="2331720"/>
          </a:xfrm>
          <a:prstGeom prst="roundRect">
            <a:avLst>
              <a:gd name="adj" fmla="val 4706"/>
            </a:avLst>
          </a:prstGeom>
          <a:solidFill>
            <a:srgbClr val="EAF3F1"/>
          </a:solidFill>
          <a:ln w="12700">
            <a:solidFill>
              <a:srgbClr val="EAF3F1"/>
            </a:solidFill>
            <a:prstDash val="solid"/>
          </a:ln>
        </p:spPr>
      </p:sp>
      <p:sp>
        <p:nvSpPr>
          <p:cNvPr id="6" name="S04-cardtext21"/>
          <p:cNvSpPr txBox="1"/>
          <p:nvPr/>
        </p:nvSpPr>
        <p:spPr>
          <a:xfrm>
            <a:off x="6483096" y="146304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경찰관</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마을을 지키고</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사람들을 도와요.</a:t>
            </a:r>
            <a:endParaRPr lang="ko-KR" sz="3200" dirty="0"/>
          </a:p>
        </p:txBody>
      </p:sp>
      <p:sp>
        <p:nvSpPr>
          <p:cNvPr id="7" name="S04-card22"/>
          <p:cNvSpPr/>
          <p:nvPr/>
        </p:nvSpPr>
        <p:spPr>
          <a:xfrm>
            <a:off x="548640" y="3886200"/>
            <a:ext cx="5431536" cy="2331720"/>
          </a:xfrm>
          <a:prstGeom prst="roundRect">
            <a:avLst>
              <a:gd name="adj" fmla="val 4706"/>
            </a:avLst>
          </a:prstGeom>
          <a:solidFill>
            <a:srgbClr val="EAF3F1"/>
          </a:solidFill>
          <a:ln w="12700">
            <a:solidFill>
              <a:srgbClr val="EAF3F1"/>
            </a:solidFill>
            <a:prstDash val="solid"/>
          </a:ln>
        </p:spPr>
      </p:sp>
      <p:sp>
        <p:nvSpPr>
          <p:cNvPr id="8" name="S04-cardtext23"/>
          <p:cNvSpPr txBox="1"/>
          <p:nvPr/>
        </p:nvSpPr>
        <p:spPr>
          <a:xfrm>
            <a:off x="822960" y="402336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버스 기사</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사람들을</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태워 줘요.</a:t>
            </a:r>
            <a:endParaRPr lang="ko-KR" sz="3200" dirty="0"/>
          </a:p>
        </p:txBody>
      </p:sp>
      <p:sp>
        <p:nvSpPr>
          <p:cNvPr id="9" name="S04-card24"/>
          <p:cNvSpPr/>
          <p:nvPr/>
        </p:nvSpPr>
        <p:spPr>
          <a:xfrm>
            <a:off x="6208776" y="3886200"/>
            <a:ext cx="5431536" cy="2331720"/>
          </a:xfrm>
          <a:prstGeom prst="roundRect">
            <a:avLst>
              <a:gd name="adj" fmla="val 4706"/>
            </a:avLst>
          </a:prstGeom>
          <a:solidFill>
            <a:srgbClr val="EAF3F1"/>
          </a:solidFill>
          <a:ln w="12700">
            <a:solidFill>
              <a:srgbClr val="EAF3F1"/>
            </a:solidFill>
            <a:prstDash val="solid"/>
          </a:ln>
        </p:spPr>
      </p:sp>
      <p:sp>
        <p:nvSpPr>
          <p:cNvPr id="10" name="S04-cardtext25"/>
          <p:cNvSpPr txBox="1"/>
          <p:nvPr/>
        </p:nvSpPr>
        <p:spPr>
          <a:xfrm>
            <a:off x="6483096" y="402336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환경미화원</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길을 깨끗하게</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청소해요.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누구를 도울까요?</a:t>
            </a:r>
            <a:endParaRPr lang="ko-KR" sz="4400" dirty="0"/>
          </a:p>
        </p:txBody>
      </p:sp>
      <p:sp>
        <p:nvSpPr>
          <p:cNvPr id="3" name="S05-text26"/>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집배원의 일을 따라가 봐요.</a:t>
            </a:r>
            <a:endParaRPr lang="ko-KR" sz="3200" dirty="0"/>
          </a:p>
        </p:txBody>
      </p:sp>
      <p:sp>
        <p:nvSpPr>
          <p:cNvPr id="4" name="S05-card27"/>
          <p:cNvSpPr/>
          <p:nvPr/>
        </p:nvSpPr>
        <p:spPr>
          <a:xfrm>
            <a:off x="548640" y="4897120"/>
            <a:ext cx="11091672" cy="1320800"/>
          </a:xfrm>
          <a:prstGeom prst="roundRect">
            <a:avLst>
              <a:gd name="adj" fmla="val 8308"/>
            </a:avLst>
          </a:prstGeom>
          <a:solidFill>
            <a:srgbClr val="FDEBDD"/>
          </a:solidFill>
          <a:ln w="12700">
            <a:solidFill>
              <a:srgbClr val="FDEBDD"/>
            </a:solidFill>
            <a:prstDash val="solid"/>
          </a:ln>
        </p:spPr>
      </p:sp>
      <p:sp>
        <p:nvSpPr>
          <p:cNvPr id="5" name="S05-cardtext28"/>
          <p:cNvSpPr txBox="1"/>
          <p:nvPr/>
        </p:nvSpPr>
        <p:spPr>
          <a:xfrm>
            <a:off x="822960" y="5034280"/>
            <a:ext cx="10543032" cy="104648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‘○○은 ~해서 ~을 도와요.’</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예: 집배원은 편지를 전해서 할머니를 도와요.</a:t>
            </a:r>
            <a:endParaRPr lang="ko-KR" sz="3200" dirty="0"/>
          </a:p>
        </p:txBody>
      </p:sp>
      <p:sp>
        <p:nvSpPr>
          <p:cNvPr id="6" name="S05-step29"/>
          <p:cNvSpPr txBox="1"/>
          <p:nvPr/>
        </p:nvSpPr>
        <p:spPr>
          <a:xfrm>
            <a:off x="1293876" y="2562860"/>
            <a:ext cx="2926080"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집배원</a:t>
            </a:r>
            <a:endParaRPr lang="ko-KR" sz="2600" dirty="0"/>
          </a:p>
        </p:txBody>
      </p:sp>
      <p:sp>
        <p:nvSpPr>
          <p:cNvPr id="7" name="S05-line30"/>
          <p:cNvSpPr/>
          <p:nvPr/>
        </p:nvSpPr>
        <p:spPr>
          <a:xfrm>
            <a:off x="4274820" y="3340100"/>
            <a:ext cx="301752" cy="0"/>
          </a:xfrm>
          <a:prstGeom prst="line">
            <a:avLst/>
          </a:prstGeom>
          <a:noFill/>
          <a:ln w="31750">
            <a:solidFill>
              <a:srgbClr val="3D5A80"/>
            </a:solidFill>
            <a:prstDash val="solid"/>
            <a:tailEnd type="triangle"/>
          </a:ln>
        </p:spPr>
      </p:sp>
      <p:sp>
        <p:nvSpPr>
          <p:cNvPr id="8" name="S05-step31"/>
          <p:cNvSpPr txBox="1"/>
          <p:nvPr/>
        </p:nvSpPr>
        <p:spPr>
          <a:xfrm>
            <a:off x="4631436" y="2562860"/>
            <a:ext cx="2926080"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편지를</a:t>
            </a:r>
            <a:endParaRPr lang="ko-KR" sz="2600" dirty="0"/>
          </a:p>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전해 줘요.</a:t>
            </a:r>
            <a:endParaRPr lang="ko-KR" sz="2600" dirty="0"/>
          </a:p>
        </p:txBody>
      </p:sp>
      <p:sp>
        <p:nvSpPr>
          <p:cNvPr id="9" name="S05-line32"/>
          <p:cNvSpPr/>
          <p:nvPr/>
        </p:nvSpPr>
        <p:spPr>
          <a:xfrm>
            <a:off x="7612380" y="3340100"/>
            <a:ext cx="301752" cy="0"/>
          </a:xfrm>
          <a:prstGeom prst="line">
            <a:avLst/>
          </a:prstGeom>
          <a:noFill/>
          <a:ln w="31750">
            <a:solidFill>
              <a:srgbClr val="3D5A80"/>
            </a:solidFill>
            <a:prstDash val="solid"/>
            <a:tailEnd type="triangle"/>
          </a:ln>
        </p:spPr>
      </p:sp>
      <p:sp>
        <p:nvSpPr>
          <p:cNvPr id="10" name="S05-step33"/>
          <p:cNvSpPr txBox="1"/>
          <p:nvPr/>
        </p:nvSpPr>
        <p:spPr>
          <a:xfrm>
            <a:off x="7968996" y="2562860"/>
            <a:ext cx="2926080"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할머니가</a:t>
            </a:r>
            <a:endParaRPr lang="ko-KR" sz="2600" dirty="0"/>
          </a:p>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소식을 들어요.</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어떻게 도울까요?</a:t>
            </a:r>
            <a:endParaRPr lang="ko-KR" sz="4400" dirty="0"/>
          </a:p>
        </p:txBody>
      </p:sp>
      <p:sp>
        <p:nvSpPr>
          <p:cNvPr id="3" name="S06-text3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‘○○은 ~해서 ~을 도와요.’로 말해요.</a:t>
            </a:r>
            <a:endParaRPr lang="ko-KR" sz="3200" dirty="0"/>
          </a:p>
        </p:txBody>
      </p:sp>
      <p:sp>
        <p:nvSpPr>
          <p:cNvPr id="4" name="S06-chip35"/>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①</a:t>
            </a:r>
            <a:endParaRPr lang="ko-KR" sz="2600" dirty="0"/>
          </a:p>
        </p:txBody>
      </p:sp>
      <p:sp>
        <p:nvSpPr>
          <p:cNvPr id="5" name="S06-text36"/>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버스 기사</a:t>
            </a:r>
            <a:endParaRPr lang="ko-KR" sz="3200" dirty="0"/>
          </a:p>
        </p:txBody>
      </p:sp>
      <p:sp>
        <p:nvSpPr>
          <p:cNvPr id="6" name="S06-chip37"/>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②</a:t>
            </a:r>
            <a:endParaRPr lang="ko-KR" sz="2600" dirty="0"/>
          </a:p>
        </p:txBody>
      </p:sp>
      <p:sp>
        <p:nvSpPr>
          <p:cNvPr id="7" name="S06-text38"/>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사서</a:t>
            </a:r>
            <a:endParaRPr lang="ko-KR" sz="3200" dirty="0"/>
          </a:p>
        </p:txBody>
      </p:sp>
      <p:sp>
        <p:nvSpPr>
          <p:cNvPr id="8" name="S06-chip39"/>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③</a:t>
            </a:r>
            <a:endParaRPr lang="ko-KR" sz="2600" dirty="0"/>
          </a:p>
        </p:txBody>
      </p:sp>
      <p:sp>
        <p:nvSpPr>
          <p:cNvPr id="9" name="S06-text40"/>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환경미화원</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소방관은 누가 할까?</a:t>
            </a:r>
            <a:endParaRPr lang="ko-KR" sz="4400" dirty="0"/>
          </a:p>
        </p:txBody>
      </p:sp>
      <p:sp>
        <p:nvSpPr>
          <p:cNvPr id="3" name="S07-card41"/>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7-cardtext42"/>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소방관에 대해 두 친구가 말했어요.</a:t>
            </a:r>
            <a:endParaRPr lang="ko-KR" sz="3200" dirty="0"/>
          </a:p>
        </p:txBody>
      </p:sp>
      <p:sp>
        <p:nvSpPr>
          <p:cNvPr id="5" name="S07-card4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7-cardtext4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누구 말이 맞을까요? 왜 그럴까요?</a:t>
            </a:r>
            <a:endParaRPr lang="ko-KR" sz="3200" dirty="0"/>
          </a:p>
        </p:txBody>
      </p:sp>
      <p:sp>
        <p:nvSpPr>
          <p:cNvPr id="7" name="S07-chip45"/>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가</a:t>
            </a:r>
            <a:endParaRPr lang="ko-KR" sz="2600" dirty="0"/>
          </a:p>
        </p:txBody>
      </p:sp>
      <p:sp>
        <p:nvSpPr>
          <p:cNvPr id="8" name="S07-text46"/>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“소방관은</a:t>
            </a:r>
            <a:endParaRPr lang="ko-KR" sz="3200" dirty="0"/>
          </a:p>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남자만 할 수 있어요.”</a:t>
            </a:r>
            <a:endParaRPr lang="ko-KR" sz="3200" dirty="0"/>
          </a:p>
        </p:txBody>
      </p:sp>
      <p:sp>
        <p:nvSpPr>
          <p:cNvPr id="9" name="S07-chip47"/>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나</a:t>
            </a:r>
            <a:endParaRPr lang="ko-KR" sz="2600" dirty="0"/>
          </a:p>
        </p:txBody>
      </p:sp>
      <p:sp>
        <p:nvSpPr>
          <p:cNvPr id="10" name="S07-text48"/>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“배우고 연습하면</a:t>
            </a:r>
            <a:endParaRPr lang="ko-KR" sz="3200" dirty="0"/>
          </a:p>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누구나 할 수 있어요.”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서로 돕는 고리</a:t>
            </a:r>
            <a:endParaRPr lang="ko-KR" sz="4400" dirty="0"/>
          </a:p>
        </p:txBody>
      </p:sp>
      <p:sp>
        <p:nvSpPr>
          <p:cNvPr id="3" name="S08-text4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화살표는 돕는 사람에서 도움받는 사람으로 가요.</a:t>
            </a:r>
            <a:endParaRPr lang="ko-KR" sz="3200" dirty="0"/>
          </a:p>
        </p:txBody>
      </p:sp>
      <p:sp>
        <p:nvSpPr>
          <p:cNvPr id="4" name="S08-card5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8-cardtext5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모두 돕기도 하고, 도움을 받기도 해요.</a:t>
            </a:r>
            <a:endParaRPr lang="ko-KR" sz="3200" dirty="0"/>
          </a:p>
        </p:txBody>
      </p:sp>
      <p:sp>
        <p:nvSpPr>
          <p:cNvPr id="6" name="S08-figure52" descr="세 사람이 서로 돕는 그림. 위에 제빵사, 오른쪽 아래에 버스 기사, 왼쪽 아래에 의사가 있다. 제빵사에서 버스 기사로 ‘빵을 만들어요’ 화살표, 버스 기사에서 의사로 ‘태워 줘요’ 화살표, 의사에서 제빵사로 ‘치료해요’ 화살표가 이어져 한 바퀴를 이룬다."/>
          <p:cNvSpPr/>
          <p:nvPr/>
        </p:nvSpPr>
        <p:spPr>
          <a:xfrm>
            <a:off x="4828893" y="2110740"/>
            <a:ext cx="2531165" cy="759350"/>
          </a:xfrm>
          <a:custGeom>
            <a:avLst/>
            <a:gdLst/>
            <a:ahLst/>
            <a:cxnLst/>
            <a:rect l="l" t="t" r="r" b="b"/>
            <a:pathLst>
              <a:path w="2531165" h="759350">
                <a:moveTo>
                  <a:pt x="0" y="759350"/>
                </a:moveTo>
                <a:lnTo>
                  <a:pt x="2531165" y="759350"/>
                </a:lnTo>
                <a:lnTo>
                  <a:pt x="2531165" y="0"/>
                </a:lnTo>
                <a:lnTo>
                  <a:pt x="0" y="0"/>
                </a:lnTo>
                <a:close/>
              </a:path>
            </a:pathLst>
          </a:custGeom>
          <a:solidFill>
            <a:srgbClr val="FDEBDD"/>
          </a:solidFill>
          <a:ln w="19050">
            <a:solidFill>
              <a:srgbClr val="1F2937"/>
            </a:solidFill>
            <a:prstDash val="solid"/>
          </a:ln>
        </p:spPr>
      </p:sp>
      <p:sp>
        <p:nvSpPr>
          <p:cNvPr id="7" name="S08-mark53"/>
          <p:cNvSpPr/>
          <p:nvPr/>
        </p:nvSpPr>
        <p:spPr>
          <a:xfrm>
            <a:off x="7423338" y="4262230"/>
            <a:ext cx="2531165" cy="759350"/>
          </a:xfrm>
          <a:custGeom>
            <a:avLst/>
            <a:gdLst/>
            <a:ahLst/>
            <a:cxnLst/>
            <a:rect l="l" t="t" r="r" b="b"/>
            <a:pathLst>
              <a:path w="2531165" h="759350">
                <a:moveTo>
                  <a:pt x="0" y="759350"/>
                </a:moveTo>
                <a:lnTo>
                  <a:pt x="2531165" y="759350"/>
                </a:lnTo>
                <a:lnTo>
                  <a:pt x="2531165" y="0"/>
                </a:lnTo>
                <a:lnTo>
                  <a:pt x="0" y="0"/>
                </a:lnTo>
                <a:close/>
              </a:path>
            </a:pathLst>
          </a:custGeom>
          <a:solidFill>
            <a:srgbClr val="E6ECF4"/>
          </a:solidFill>
          <a:ln w="19050">
            <a:solidFill>
              <a:srgbClr val="1F2937"/>
            </a:solidFill>
            <a:prstDash val="solid"/>
          </a:ln>
        </p:spPr>
      </p:sp>
      <p:sp>
        <p:nvSpPr>
          <p:cNvPr id="8" name="S08-mark54"/>
          <p:cNvSpPr/>
          <p:nvPr/>
        </p:nvSpPr>
        <p:spPr>
          <a:xfrm>
            <a:off x="2234449" y="4262230"/>
            <a:ext cx="2531165" cy="759350"/>
          </a:xfrm>
          <a:custGeom>
            <a:avLst/>
            <a:gdLst/>
            <a:ahLst/>
            <a:cxnLst/>
            <a:rect l="l" t="t" r="r" b="b"/>
            <a:pathLst>
              <a:path w="2531165" h="759350">
                <a:moveTo>
                  <a:pt x="0" y="759350"/>
                </a:moveTo>
                <a:lnTo>
                  <a:pt x="2531165" y="759350"/>
                </a:lnTo>
                <a:lnTo>
                  <a:pt x="2531165" y="0"/>
                </a:lnTo>
                <a:lnTo>
                  <a:pt x="0" y="0"/>
                </a:lnTo>
                <a:close/>
              </a:path>
            </a:pathLst>
          </a:custGeom>
          <a:solidFill>
            <a:srgbClr val="E3F4F1"/>
          </a:solidFill>
          <a:ln w="19050">
            <a:solidFill>
              <a:srgbClr val="1F2937"/>
            </a:solidFill>
            <a:prstDash val="solid"/>
          </a:ln>
        </p:spPr>
      </p:sp>
      <p:sp>
        <p:nvSpPr>
          <p:cNvPr id="9" name="S08-mark55"/>
          <p:cNvSpPr/>
          <p:nvPr/>
        </p:nvSpPr>
        <p:spPr>
          <a:xfrm>
            <a:off x="6980384" y="2933369"/>
            <a:ext cx="1328862" cy="1233943"/>
          </a:xfrm>
          <a:prstGeom prst="line">
            <a:avLst/>
          </a:prstGeom>
          <a:noFill/>
          <a:ln w="38100">
            <a:solidFill>
              <a:srgbClr val="3D5A80"/>
            </a:solidFill>
            <a:prstDash val="solid"/>
            <a:tailEnd type="triangle"/>
          </a:ln>
        </p:spPr>
      </p:sp>
      <p:sp>
        <p:nvSpPr>
          <p:cNvPr id="10" name="S08-mark56"/>
          <p:cNvSpPr/>
          <p:nvPr/>
        </p:nvSpPr>
        <p:spPr>
          <a:xfrm flipH="1">
            <a:off x="4860533" y="4705184"/>
            <a:ext cx="2467886" cy="0"/>
          </a:xfrm>
          <a:prstGeom prst="line">
            <a:avLst/>
          </a:prstGeom>
          <a:noFill/>
          <a:ln w="38100">
            <a:solidFill>
              <a:srgbClr val="3D5A80"/>
            </a:solidFill>
            <a:prstDash val="solid"/>
            <a:tailEnd type="triangle"/>
          </a:ln>
        </p:spPr>
      </p:sp>
      <p:sp>
        <p:nvSpPr>
          <p:cNvPr id="11" name="S08-mark57"/>
          <p:cNvSpPr/>
          <p:nvPr/>
        </p:nvSpPr>
        <p:spPr>
          <a:xfrm flipV="1">
            <a:off x="3879706" y="2933369"/>
            <a:ext cx="1328862" cy="1233943"/>
          </a:xfrm>
          <a:prstGeom prst="line">
            <a:avLst/>
          </a:prstGeom>
          <a:noFill/>
          <a:ln w="38100">
            <a:solidFill>
              <a:srgbClr val="3D5A80"/>
            </a:solidFill>
            <a:prstDash val="solid"/>
            <a:tailEnd type="triangle"/>
          </a:ln>
        </p:spPr>
      </p:sp>
      <p:sp>
        <p:nvSpPr>
          <p:cNvPr id="12" name="S08-label59"/>
          <p:cNvSpPr txBox="1"/>
          <p:nvPr/>
        </p:nvSpPr>
        <p:spPr>
          <a:xfrm>
            <a:off x="5554218" y="2284040"/>
            <a:ext cx="1080516" cy="412750"/>
          </a:xfrm>
          <a:prstGeom prst="rect">
            <a:avLst/>
          </a:prstGeom>
          <a:noFill/>
          <a:ln/>
        </p:spPr>
        <p:txBody>
          <a:bodyPr wrap="square" lIns="0" tIns="0" rIns="0" bIns="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제빵사</a:t>
            </a:r>
            <a:endParaRPr lang="ko-KR" sz="2600" dirty="0"/>
          </a:p>
        </p:txBody>
      </p:sp>
      <p:sp>
        <p:nvSpPr>
          <p:cNvPr id="13" name="S08-label61"/>
          <p:cNvSpPr txBox="1"/>
          <p:nvPr/>
        </p:nvSpPr>
        <p:spPr>
          <a:xfrm>
            <a:off x="7937334" y="4435530"/>
            <a:ext cx="1503172" cy="412750"/>
          </a:xfrm>
          <a:prstGeom prst="rect">
            <a:avLst/>
          </a:prstGeom>
          <a:noFill/>
          <a:ln/>
        </p:spPr>
        <p:txBody>
          <a:bodyPr wrap="square" lIns="0" tIns="0" rIns="0" bIns="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버스 기사</a:t>
            </a:r>
            <a:endParaRPr lang="ko-KR" sz="2600" dirty="0"/>
          </a:p>
        </p:txBody>
      </p:sp>
      <p:sp>
        <p:nvSpPr>
          <p:cNvPr id="14" name="S08-label63"/>
          <p:cNvSpPr txBox="1"/>
          <p:nvPr/>
        </p:nvSpPr>
        <p:spPr>
          <a:xfrm>
            <a:off x="3121572" y="4435530"/>
            <a:ext cx="756920" cy="412750"/>
          </a:xfrm>
          <a:prstGeom prst="rect">
            <a:avLst/>
          </a:prstGeom>
          <a:noFill/>
          <a:ln/>
        </p:spPr>
        <p:txBody>
          <a:bodyPr wrap="square" lIns="0" tIns="0" rIns="0" bIns="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의사</a:t>
            </a:r>
            <a:endParaRPr lang="ko-KR" sz="2600" dirty="0"/>
          </a:p>
        </p:txBody>
      </p:sp>
      <p:sp>
        <p:nvSpPr>
          <p:cNvPr id="15" name="S08-label65"/>
          <p:cNvSpPr txBox="1"/>
          <p:nvPr/>
        </p:nvSpPr>
        <p:spPr>
          <a:xfrm>
            <a:off x="7993413" y="3201587"/>
            <a:ext cx="2150364" cy="412750"/>
          </a:xfrm>
          <a:prstGeom prst="rect">
            <a:avLst/>
          </a:prstGeom>
          <a:noFill/>
          <a:ln/>
        </p:spPr>
        <p:txBody>
          <a:bodyPr wrap="square" lIns="0" tIns="0" rIns="0" bIns="0" rtlCol="0" anchor="ctr"/>
          <a:lstStyle/>
          <a:p>
            <a:pPr eaLnBrk="0" algn="ctr" indent="0" marL="0">
              <a:buNone/>
            </a:pPr>
            <a:r>
              <a:rPr lang="ko-KR" altLang="en-US" sz="2600" dirty="0">
                <a:solidFill>
                  <a:srgbClr val="1F2937"/>
                </a:solidFill>
                <a:latin typeface="맑은 고딕" pitchFamily="34" charset="0"/>
                <a:ea typeface="맑은 고딕" pitchFamily="34" charset="-122"/>
                <a:cs typeface="맑은 고딕" pitchFamily="34" charset="-120"/>
              </a:rPr>
              <a:t>빵을 만들어요</a:t>
            </a:r>
            <a:endParaRPr lang="ko-KR" sz="2600" dirty="0"/>
          </a:p>
        </p:txBody>
      </p:sp>
      <p:sp>
        <p:nvSpPr>
          <p:cNvPr id="16" name="S08-label67"/>
          <p:cNvSpPr txBox="1"/>
          <p:nvPr/>
        </p:nvSpPr>
        <p:spPr>
          <a:xfrm>
            <a:off x="5342890" y="4182414"/>
            <a:ext cx="1503172" cy="412750"/>
          </a:xfrm>
          <a:prstGeom prst="rect">
            <a:avLst/>
          </a:prstGeom>
          <a:noFill/>
          <a:ln/>
        </p:spPr>
        <p:txBody>
          <a:bodyPr wrap="square" lIns="0" tIns="0" rIns="0" bIns="0" rtlCol="0" anchor="ctr"/>
          <a:lstStyle/>
          <a:p>
            <a:pPr eaLnBrk="0" algn="ctr" indent="0" marL="0">
              <a:buNone/>
            </a:pPr>
            <a:r>
              <a:rPr lang="ko-KR" altLang="en-US" sz="2600" dirty="0">
                <a:solidFill>
                  <a:srgbClr val="1F2937"/>
                </a:solidFill>
                <a:latin typeface="맑은 고딕" pitchFamily="34" charset="0"/>
                <a:ea typeface="맑은 고딕" pitchFamily="34" charset="-122"/>
                <a:cs typeface="맑은 고딕" pitchFamily="34" charset="-120"/>
              </a:rPr>
              <a:t>태워 줘요</a:t>
            </a:r>
            <a:endParaRPr lang="ko-KR" sz="2600" dirty="0"/>
          </a:p>
        </p:txBody>
      </p:sp>
      <p:sp>
        <p:nvSpPr>
          <p:cNvPr id="17" name="S08-label69"/>
          <p:cNvSpPr txBox="1"/>
          <p:nvPr/>
        </p:nvSpPr>
        <p:spPr>
          <a:xfrm>
            <a:off x="2481580" y="3201587"/>
            <a:ext cx="1404112" cy="412750"/>
          </a:xfrm>
          <a:prstGeom prst="rect">
            <a:avLst/>
          </a:prstGeom>
          <a:noFill/>
          <a:ln/>
        </p:spPr>
        <p:txBody>
          <a:bodyPr wrap="square" lIns="0" tIns="0" rIns="0" bIns="0" rtlCol="0" anchor="ctr"/>
          <a:lstStyle/>
          <a:p>
            <a:pPr eaLnBrk="0" algn="ctr" indent="0" marL="0">
              <a:buNone/>
            </a:pPr>
            <a:r>
              <a:rPr lang="ko-KR" altLang="en-US" sz="2600" dirty="0">
                <a:solidFill>
                  <a:srgbClr val="1F2937"/>
                </a:solidFill>
                <a:latin typeface="맑은 고딕" pitchFamily="34" charset="0"/>
                <a:ea typeface="맑은 고딕" pitchFamily="34" charset="-122"/>
                <a:cs typeface="맑은 고딕" pitchFamily="34" charset="-120"/>
              </a:rPr>
              <a:t>치료해요</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하윤이의 토요일</a:t>
            </a:r>
            <a:endParaRPr lang="ko-KR" sz="4400" dirty="0"/>
          </a:p>
        </p:txBody>
      </p:sp>
      <p:sp>
        <p:nvSpPr>
          <p:cNvPr id="3" name="S09-card70"/>
          <p:cNvSpPr/>
          <p:nvPr/>
        </p:nvSpPr>
        <p:spPr>
          <a:xfrm>
            <a:off x="548640" y="4897120"/>
            <a:ext cx="11091672" cy="1320800"/>
          </a:xfrm>
          <a:prstGeom prst="roundRect">
            <a:avLst>
              <a:gd name="adj" fmla="val 8308"/>
            </a:avLst>
          </a:prstGeom>
          <a:solidFill>
            <a:srgbClr val="FDEBDD"/>
          </a:solidFill>
          <a:ln w="12700">
            <a:solidFill>
              <a:srgbClr val="FDEBDD"/>
            </a:solidFill>
            <a:prstDash val="solid"/>
          </a:ln>
        </p:spPr>
      </p:sp>
      <p:sp>
        <p:nvSpPr>
          <p:cNvPr id="4" name="S09-cardtext71"/>
          <p:cNvSpPr txBox="1"/>
          <p:nvPr/>
        </p:nvSpPr>
        <p:spPr>
          <a:xfrm>
            <a:off x="822960" y="5034280"/>
            <a:ext cx="10543032" cy="104648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하윤이를 도운 사람은 누구누구일까요?</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어떻게 도왔나요?</a:t>
            </a:r>
            <a:endParaRPr lang="ko-KR" sz="3200" dirty="0"/>
          </a:p>
        </p:txBody>
      </p:sp>
      <p:sp>
        <p:nvSpPr>
          <p:cNvPr id="5" name="S09-passagebox72"/>
          <p:cNvSpPr/>
          <p:nvPr/>
        </p:nvSpPr>
        <p:spPr>
          <a:xfrm>
            <a:off x="548640" y="1325880"/>
            <a:ext cx="11091672" cy="3342640"/>
          </a:xfrm>
          <a:prstGeom prst="roundRect">
            <a:avLst>
              <a:gd name="adj" fmla="val 2736"/>
            </a:avLst>
          </a:prstGeom>
          <a:solidFill>
            <a:srgbClr val="FFFFFF"/>
          </a:solidFill>
          <a:ln w="19050">
            <a:solidFill>
              <a:srgbClr val="264653"/>
            </a:solidFill>
            <a:prstDash val="solid"/>
          </a:ln>
        </p:spPr>
      </p:sp>
      <p:sp>
        <p:nvSpPr>
          <p:cNvPr id="6" name="S09-passage73"/>
          <p:cNvSpPr txBox="1"/>
          <p:nvPr/>
        </p:nvSpPr>
        <p:spPr>
          <a:xfrm>
            <a:off x="822960" y="1508760"/>
            <a:ext cx="10543032" cy="2976880"/>
          </a:xfrm>
          <a:prstGeom prst="rect">
            <a:avLst/>
          </a:prstGeom>
          <a:noFill/>
          <a:ln/>
        </p:spPr>
        <p:txBody>
          <a:bodyPr wrap="square" lIns="0" tIns="0" rIns="0" bIns="0" rtlCol="0" anchor="t"/>
          <a:lstStyle/>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환경미화원 덕분에 길이 깨끗해요.</a:t>
            </a:r>
            <a:endParaRPr lang="ko-KR" sz="3200" dirty="0"/>
          </a:p>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하윤이는 버스를 타고 도서관에 갔어요.</a:t>
            </a:r>
            <a:endParaRPr lang="ko-KR" sz="3200" dirty="0"/>
          </a:p>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사서 선생님이 공룡 책을 찾아 주셨어요.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고마운 분 찾기</a:t>
            </a:r>
            <a:endParaRPr lang="ko-KR" sz="4400" dirty="0"/>
          </a:p>
        </p:txBody>
      </p:sp>
      <p:sp>
        <p:nvSpPr>
          <p:cNvPr id="3" name="S10-text7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엄마(아빠)와 함께 해요.</a:t>
            </a:r>
            <a:endParaRPr lang="ko-KR" sz="3200" dirty="0"/>
          </a:p>
        </p:txBody>
      </p:sp>
      <p:sp>
        <p:nvSpPr>
          <p:cNvPr id="4" name="S10-card75"/>
          <p:cNvSpPr/>
          <p:nvPr/>
        </p:nvSpPr>
        <p:spPr>
          <a:xfrm>
            <a:off x="6813652" y="2011680"/>
            <a:ext cx="4826660" cy="4206240"/>
          </a:xfrm>
          <a:prstGeom prst="roundRect">
            <a:avLst>
              <a:gd name="adj" fmla="val 2609"/>
            </a:avLst>
          </a:prstGeom>
          <a:solidFill>
            <a:srgbClr val="EAF3F1"/>
          </a:solidFill>
          <a:ln w="12700">
            <a:solidFill>
              <a:srgbClr val="EAF3F1"/>
            </a:solidFill>
            <a:prstDash val="solid"/>
          </a:ln>
        </p:spPr>
      </p:sp>
      <p:sp>
        <p:nvSpPr>
          <p:cNvPr id="5" name="S10-cardtext76"/>
          <p:cNvSpPr txBox="1"/>
          <p:nvPr/>
        </p:nvSpPr>
        <p:spPr>
          <a:xfrm>
            <a:off x="7087972" y="2148840"/>
            <a:ext cx="4278020" cy="393192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이렇게 하면 잘한 거예요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하는 일을 말했어요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돕는 방법을 말했어요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고마운 말을 했어요</a:t>
            </a:r>
            <a:endParaRPr lang="ko-KR" sz="3200" dirty="0"/>
          </a:p>
        </p:txBody>
      </p:sp>
      <p:sp>
        <p:nvSpPr>
          <p:cNvPr id="6" name="S10-stepno77"/>
          <p:cNvSpPr txBox="1"/>
          <p:nvPr/>
        </p:nvSpPr>
        <p:spPr>
          <a:xfrm>
            <a:off x="548640" y="277063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7" name="S10-text78"/>
          <p:cNvSpPr txBox="1"/>
          <p:nvPr/>
        </p:nvSpPr>
        <p:spPr>
          <a:xfrm>
            <a:off x="1325880" y="2770632"/>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우리를 돕는 분을 떠올려요.</a:t>
            </a:r>
            <a:endParaRPr lang="ko-KR" sz="3200" dirty="0"/>
          </a:p>
        </p:txBody>
      </p:sp>
      <p:sp>
        <p:nvSpPr>
          <p:cNvPr id="8" name="S10-stepno79"/>
          <p:cNvSpPr txBox="1"/>
          <p:nvPr/>
        </p:nvSpPr>
        <p:spPr>
          <a:xfrm>
            <a:off x="548640" y="348386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9" name="S10-text80"/>
          <p:cNvSpPr txBox="1"/>
          <p:nvPr/>
        </p:nvSpPr>
        <p:spPr>
          <a:xfrm>
            <a:off x="1325880" y="3483864"/>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그분이 하는 일을 말해요.</a:t>
            </a:r>
            <a:endParaRPr lang="ko-KR" sz="3200" dirty="0"/>
          </a:p>
        </p:txBody>
      </p:sp>
      <p:sp>
        <p:nvSpPr>
          <p:cNvPr id="10" name="S10-stepno81"/>
          <p:cNvSpPr txBox="1"/>
          <p:nvPr/>
        </p:nvSpPr>
        <p:spPr>
          <a:xfrm>
            <a:off x="548640" y="419709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1" name="S10-text82"/>
          <p:cNvSpPr txBox="1"/>
          <p:nvPr/>
        </p:nvSpPr>
        <p:spPr>
          <a:xfrm>
            <a:off x="1325880" y="4197096"/>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어떻게 돕는지 말해요.</a:t>
            </a:r>
            <a:endParaRPr lang="ko-KR" sz="3200" dirty="0"/>
          </a:p>
        </p:txBody>
      </p:sp>
      <p:sp>
        <p:nvSpPr>
          <p:cNvPr id="12" name="S10-stepno83"/>
          <p:cNvSpPr txBox="1"/>
          <p:nvPr/>
        </p:nvSpPr>
        <p:spPr>
          <a:xfrm>
            <a:off x="548640" y="491032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3" name="S10-text84"/>
          <p:cNvSpPr txBox="1"/>
          <p:nvPr/>
        </p:nvSpPr>
        <p:spPr>
          <a:xfrm>
            <a:off x="1325880" y="4910328"/>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고마운 마음을 전해요.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혼자 해 보기</a:t>
            </a:r>
            <a:endParaRPr lang="ko-KR" sz="4400" dirty="0"/>
          </a:p>
        </p:txBody>
      </p:sp>
      <p:sp>
        <p:nvSpPr>
          <p:cNvPr id="3" name="S11-chip85"/>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①</a:t>
            </a:r>
            <a:endParaRPr lang="ko-KR" sz="2600" dirty="0"/>
          </a:p>
        </p:txBody>
      </p:sp>
      <p:sp>
        <p:nvSpPr>
          <p:cNvPr id="4" name="S11-text86"/>
          <p:cNvSpPr txBox="1"/>
          <p:nvPr/>
        </p:nvSpPr>
        <p:spPr>
          <a:xfrm>
            <a:off x="1344168" y="1325880"/>
            <a:ext cx="10296144"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집배원은 무엇을 해서 누구를 도와요?</a:t>
            </a:r>
            <a:endParaRPr lang="ko-KR" sz="3200" dirty="0"/>
          </a:p>
        </p:txBody>
      </p:sp>
      <p:sp>
        <p:nvSpPr>
          <p:cNvPr id="5" name="S11-chip87"/>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②</a:t>
            </a:r>
            <a:endParaRPr lang="ko-KR" sz="2600" dirty="0"/>
          </a:p>
        </p:txBody>
      </p:sp>
      <p:sp>
        <p:nvSpPr>
          <p:cNvPr id="6" name="S11-text88"/>
          <p:cNvSpPr txBox="1"/>
          <p:nvPr/>
        </p:nvSpPr>
        <p:spPr>
          <a:xfrm>
            <a:off x="1344168" y="3017520"/>
            <a:ext cx="10296144"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경찰관은 무엇을 해서 누구를 도와요?</a:t>
            </a:r>
            <a:endParaRPr lang="ko-KR" sz="3200" dirty="0"/>
          </a:p>
        </p:txBody>
      </p:sp>
      <p:sp>
        <p:nvSpPr>
          <p:cNvPr id="7" name="S11-chip89"/>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③</a:t>
            </a:r>
            <a:endParaRPr lang="ko-KR" sz="2600" dirty="0"/>
          </a:p>
        </p:txBody>
      </p:sp>
      <p:sp>
        <p:nvSpPr>
          <p:cNvPr id="8" name="S11-text90"/>
          <p:cNvSpPr txBox="1"/>
          <p:nvPr/>
        </p:nvSpPr>
        <p:spPr>
          <a:xfrm>
            <a:off x="1344168" y="4709160"/>
            <a:ext cx="10296144"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“간호사는 여자만 할 수 있어요.”</a:t>
            </a:r>
            <a:endParaRPr lang="ko-KR" sz="3200" dirty="0"/>
          </a:p>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맞는 말일까요? 왜요?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비 오는 날</a:t>
            </a:r>
            <a:endParaRPr lang="ko-KR" sz="4400" dirty="0"/>
          </a:p>
        </p:txBody>
      </p:sp>
      <p:sp>
        <p:nvSpPr>
          <p:cNvPr id="3" name="S12-card91"/>
          <p:cNvSpPr/>
          <p:nvPr/>
        </p:nvSpPr>
        <p:spPr>
          <a:xfrm>
            <a:off x="548640" y="4897120"/>
            <a:ext cx="11091672" cy="1320800"/>
          </a:xfrm>
          <a:prstGeom prst="roundRect">
            <a:avLst>
              <a:gd name="adj" fmla="val 8308"/>
            </a:avLst>
          </a:prstGeom>
          <a:solidFill>
            <a:srgbClr val="FDEBDD"/>
          </a:solidFill>
          <a:ln w="12700">
            <a:solidFill>
              <a:srgbClr val="FDEBDD"/>
            </a:solidFill>
            <a:prstDash val="solid"/>
          </a:ln>
        </p:spPr>
      </p:sp>
      <p:sp>
        <p:nvSpPr>
          <p:cNvPr id="4" name="S12-cardtext92"/>
          <p:cNvSpPr txBox="1"/>
          <p:nvPr/>
        </p:nvSpPr>
        <p:spPr>
          <a:xfrm>
            <a:off x="822960" y="5034280"/>
            <a:ext cx="10543032" cy="104648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① 할아버지를 도운 사람 둘은?</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② 버스 기사님을 도운 사람은?</a:t>
            </a:r>
            <a:endParaRPr lang="ko-KR" sz="3200" dirty="0"/>
          </a:p>
        </p:txBody>
      </p:sp>
      <p:sp>
        <p:nvSpPr>
          <p:cNvPr id="5" name="S12-passagebox93"/>
          <p:cNvSpPr/>
          <p:nvPr/>
        </p:nvSpPr>
        <p:spPr>
          <a:xfrm>
            <a:off x="548640" y="1325880"/>
            <a:ext cx="11091672" cy="3342640"/>
          </a:xfrm>
          <a:prstGeom prst="roundRect">
            <a:avLst>
              <a:gd name="adj" fmla="val 2736"/>
            </a:avLst>
          </a:prstGeom>
          <a:solidFill>
            <a:srgbClr val="FFFFFF"/>
          </a:solidFill>
          <a:ln w="19050">
            <a:solidFill>
              <a:srgbClr val="264653"/>
            </a:solidFill>
            <a:prstDash val="solid"/>
          </a:ln>
        </p:spPr>
      </p:sp>
      <p:sp>
        <p:nvSpPr>
          <p:cNvPr id="6" name="S12-passage94"/>
          <p:cNvSpPr txBox="1"/>
          <p:nvPr/>
        </p:nvSpPr>
        <p:spPr>
          <a:xfrm>
            <a:off x="822960" y="1508760"/>
            <a:ext cx="10543032" cy="2976880"/>
          </a:xfrm>
          <a:prstGeom prst="rect">
            <a:avLst/>
          </a:prstGeom>
          <a:noFill/>
          <a:ln/>
        </p:spPr>
        <p:txBody>
          <a:bodyPr wrap="square" lIns="0" tIns="0" rIns="0" bIns="0" rtlCol="0" anchor="t"/>
          <a:lstStyle/>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할아버지가 버스를 타고 병원에 가셨어요.</a:t>
            </a:r>
            <a:endParaRPr lang="ko-KR" sz="3200" dirty="0"/>
          </a:p>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의사 선생님이 할아버지를 치료해 주셨어요.</a:t>
            </a:r>
            <a:endParaRPr lang="ko-KR" sz="3200" dirty="0"/>
          </a:p>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저녁에 버스 기사님은 빵집에서 빵을 샀어요.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FFFFFF"/>
                </a:solidFill>
                <a:latin typeface="맑은 고딕" pitchFamily="34" charset="0"/>
                <a:ea typeface="맑은 고딕" pitchFamily="34" charset="-122"/>
                <a:cs typeface="맑은 고딕" pitchFamily="34" charset="-120"/>
              </a:rPr>
              <a:t>오늘 배운 것</a:t>
            </a:r>
            <a:endParaRPr lang="ko-KR" sz="4400" dirty="0"/>
          </a:p>
        </p:txBody>
      </p:sp>
      <p:sp>
        <p:nvSpPr>
          <p:cNvPr id="3" name="S14-card95"/>
          <p:cNvSpPr/>
          <p:nvPr/>
        </p:nvSpPr>
        <p:spPr>
          <a:xfrm>
            <a:off x="548640" y="1325880"/>
            <a:ext cx="11091672" cy="1320800"/>
          </a:xfrm>
          <a:prstGeom prst="roundRect">
            <a:avLst>
              <a:gd name="adj" fmla="val 8308"/>
            </a:avLst>
          </a:prstGeom>
          <a:solidFill>
            <a:srgbClr val="32606F"/>
          </a:solidFill>
          <a:ln w="12700">
            <a:solidFill>
              <a:srgbClr val="32606F"/>
            </a:solidFill>
            <a:prstDash val="solid"/>
          </a:ln>
        </p:spPr>
      </p:sp>
      <p:sp>
        <p:nvSpPr>
          <p:cNvPr id="4" name="S14-cardtext96"/>
          <p:cNvSpPr txBox="1"/>
          <p:nvPr/>
        </p:nvSpPr>
        <p:spPr>
          <a:xfrm>
            <a:off x="822960" y="1463040"/>
            <a:ext cx="10543032" cy="104648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FFFFFF"/>
                </a:solidFill>
                <a:latin typeface="맑은 고딕" pitchFamily="34" charset="0"/>
                <a:ea typeface="맑은 고딕" pitchFamily="34" charset="-122"/>
                <a:cs typeface="맑은 고딕" pitchFamily="34" charset="-120"/>
              </a:rPr>
              <a:t>마을 사람들은 저마다 하는 일로</a:t>
            </a:r>
            <a:endParaRPr lang="ko-KR" sz="3200" dirty="0"/>
          </a:p>
          <a:p>
            <a:pPr eaLnBrk="0" indent="0" marL="0">
              <a:spcAft>
                <a:spcPts val="600"/>
              </a:spcAft>
              <a:buNone/>
            </a:pPr>
            <a:r>
              <a:rPr lang="ko-KR" altLang="en-US" sz="3200" dirty="0">
                <a:solidFill>
                  <a:srgbClr val="FFFFFF"/>
                </a:solidFill>
                <a:latin typeface="맑은 고딕" pitchFamily="34" charset="0"/>
                <a:ea typeface="맑은 고딕" pitchFamily="34" charset="-122"/>
                <a:cs typeface="맑은 고딕" pitchFamily="34" charset="-120"/>
              </a:rPr>
              <a:t>서로 도우며 살아요.</a:t>
            </a:r>
            <a:endParaRPr lang="ko-KR" sz="3200" dirty="0"/>
          </a:p>
        </p:txBody>
      </p:sp>
      <p:sp>
        <p:nvSpPr>
          <p:cNvPr id="5" name="S14-chip97"/>
          <p:cNvSpPr txBox="1"/>
          <p:nvPr/>
        </p:nvSpPr>
        <p:spPr>
          <a:xfrm>
            <a:off x="548640" y="2875280"/>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600" b="1" dirty="0">
                <a:solidFill>
                  <a:srgbClr val="FFFFFF"/>
                </a:solidFill>
                <a:latin typeface="맑은 고딕" pitchFamily="34" charset="0"/>
                <a:ea typeface="맑은 고딕" pitchFamily="34" charset="-122"/>
                <a:cs typeface="맑은 고딕" pitchFamily="34" charset="-120"/>
              </a:rPr>
              <a:t>○ 고마운 마음 전하기</a:t>
            </a:r>
            <a:endParaRPr lang="ko-KR" sz="2600" dirty="0"/>
          </a:p>
        </p:txBody>
      </p:sp>
      <p:sp>
        <p:nvSpPr>
          <p:cNvPr id="6" name="S14-chip98"/>
          <p:cNvSpPr txBox="1"/>
          <p:nvPr/>
        </p:nvSpPr>
        <p:spPr>
          <a:xfrm>
            <a:off x="6208776" y="2875280"/>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600" b="1" dirty="0">
                <a:solidFill>
                  <a:srgbClr val="FFFFFF"/>
                </a:solidFill>
                <a:latin typeface="맑은 고딕" pitchFamily="34" charset="0"/>
                <a:ea typeface="맑은 고딕" pitchFamily="34" charset="-122"/>
                <a:cs typeface="맑은 고딕" pitchFamily="34" charset="-120"/>
              </a:rPr>
              <a:t>× 남자 일, 여자 일 나누기</a:t>
            </a:r>
            <a:endParaRPr lang="ko-KR" sz="2600" dirty="0"/>
          </a:p>
        </p:txBody>
      </p:sp>
      <p:sp>
        <p:nvSpPr>
          <p:cNvPr id="7" name="S14-text99"/>
          <p:cNvSpPr txBox="1"/>
          <p:nvPr/>
        </p:nvSpPr>
        <p:spPr>
          <a:xfrm>
            <a:off x="548640" y="3698240"/>
            <a:ext cx="11091672" cy="457200"/>
          </a:xfrm>
          <a:prstGeom prst="rect">
            <a:avLst/>
          </a:prstGeom>
          <a:noFill/>
          <a:ln/>
        </p:spPr>
        <p:txBody>
          <a:bodyPr wrap="square" lIns="0" tIns="0" rIns="0" bIns="0" rtlCol="0" anchor="t"/>
          <a:lstStyle/>
          <a:p>
            <a:pPr eaLnBrk="0" algn="l" indent="0" marL="0">
              <a:buNone/>
            </a:pPr>
            <a:r>
              <a:rPr lang="ko-KR" altLang="en-US" sz="26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600" dirty="0"/>
          </a:p>
        </p:txBody>
      </p:sp>
      <p:sp>
        <p:nvSpPr>
          <p:cNvPr id="8" name="S14-text100"/>
          <p:cNvSpPr txBox="1"/>
          <p:nvPr/>
        </p:nvSpPr>
        <p:spPr>
          <a:xfrm>
            <a:off x="548640" y="4201160"/>
            <a:ext cx="3544824" cy="1376680"/>
          </a:xfrm>
          <a:prstGeom prst="rect">
            <a:avLst/>
          </a:prstGeom>
          <a:noFill/>
          <a:ln/>
        </p:spPr>
        <p:txBody>
          <a:bodyPr wrap="square" lIns="0" tIns="0" rIns="0" bIns="0" rtlCol="0" anchor="ctr"/>
          <a:lstStyle/>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① 편지를 전해 주는</a:t>
            </a:r>
            <a:endParaRPr lang="ko-KR" sz="2600" dirty="0"/>
          </a:p>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사람은?</a:t>
            </a:r>
            <a:endParaRPr lang="ko-KR" sz="2600" dirty="0"/>
          </a:p>
        </p:txBody>
      </p:sp>
      <p:sp>
        <p:nvSpPr>
          <p:cNvPr id="9" name="S14-text101"/>
          <p:cNvSpPr txBox="1"/>
          <p:nvPr/>
        </p:nvSpPr>
        <p:spPr>
          <a:xfrm>
            <a:off x="4322064" y="4201160"/>
            <a:ext cx="3544824" cy="1376680"/>
          </a:xfrm>
          <a:prstGeom prst="rect">
            <a:avLst/>
          </a:prstGeom>
          <a:noFill/>
          <a:ln/>
        </p:spPr>
        <p:txBody>
          <a:bodyPr wrap="square" lIns="0" tIns="0" rIns="0" bIns="0" rtlCol="0" anchor="ctr"/>
          <a:lstStyle/>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② 소방관은</a:t>
            </a:r>
            <a:endParaRPr lang="ko-KR" sz="2600" dirty="0"/>
          </a:p>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누가 할 수 있어요?</a:t>
            </a:r>
            <a:endParaRPr lang="ko-KR" sz="2600" dirty="0"/>
          </a:p>
        </p:txBody>
      </p:sp>
      <p:sp>
        <p:nvSpPr>
          <p:cNvPr id="10" name="S14-text102"/>
          <p:cNvSpPr txBox="1"/>
          <p:nvPr/>
        </p:nvSpPr>
        <p:spPr>
          <a:xfrm>
            <a:off x="8095488" y="4201160"/>
            <a:ext cx="3544824" cy="1376680"/>
          </a:xfrm>
          <a:prstGeom prst="rect">
            <a:avLst/>
          </a:prstGeom>
          <a:noFill/>
          <a:ln/>
        </p:spPr>
        <p:txBody>
          <a:bodyPr wrap="square" lIns="0" tIns="0" rIns="0" bIns="0" rtlCol="0" anchor="ctr"/>
          <a:lstStyle/>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③ 버스 기사님을</a:t>
            </a:r>
            <a:endParaRPr lang="ko-KR" sz="2600" dirty="0"/>
          </a:p>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돕는 사람 하나는?</a:t>
            </a:r>
            <a:endParaRPr lang="ko-KR" sz="2600" dirty="0"/>
          </a:p>
        </p:txBody>
      </p:sp>
      <p:sp>
        <p:nvSpPr>
          <p:cNvPr id="11" name="S14-text103"/>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600" dirty="0">
                <a:solidFill>
                  <a:srgbClr val="C9DCD8"/>
                </a:solidFill>
                <a:latin typeface="맑은 고딕" pitchFamily="34" charset="0"/>
                <a:ea typeface="맑은 고딕" pitchFamily="34" charset="-122"/>
                <a:cs typeface="맑은 고딕" pitchFamily="34" charset="-120"/>
              </a:rPr>
              <a:t>다음 시간: 옛날과 오늘</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보충: 시설과 사람</a:t>
            </a:r>
            <a:endParaRPr lang="ko-KR" sz="4400" dirty="0"/>
          </a:p>
        </p:txBody>
      </p:sp>
      <p:sp>
        <p:nvSpPr>
          <p:cNvPr id="3" name="S15-card10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10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시설에는 일하는 사람이 있어요.</a:t>
            </a:r>
            <a:endParaRPr lang="ko-KR" sz="3200" dirty="0"/>
          </a:p>
        </p:txBody>
      </p:sp>
      <p:sp>
        <p:nvSpPr>
          <p:cNvPr id="5" name="S15-card106"/>
          <p:cNvSpPr/>
          <p:nvPr/>
        </p:nvSpPr>
        <p:spPr>
          <a:xfrm>
            <a:off x="548640" y="1325880"/>
            <a:ext cx="5431536" cy="1783080"/>
          </a:xfrm>
          <a:prstGeom prst="roundRect">
            <a:avLst>
              <a:gd name="adj" fmla="val 6154"/>
            </a:avLst>
          </a:prstGeom>
          <a:solidFill>
            <a:srgbClr val="EAF3F1"/>
          </a:solidFill>
          <a:ln w="12700">
            <a:solidFill>
              <a:srgbClr val="EAF3F1"/>
            </a:solidFill>
            <a:prstDash val="solid"/>
          </a:ln>
        </p:spPr>
      </p:sp>
      <p:sp>
        <p:nvSpPr>
          <p:cNvPr id="6" name="S15-cardtext107"/>
          <p:cNvSpPr txBox="1"/>
          <p:nvPr/>
        </p:nvSpPr>
        <p:spPr>
          <a:xfrm>
            <a:off x="822960" y="1463040"/>
            <a:ext cx="4882896"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병원</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의사, 간호사</a:t>
            </a:r>
            <a:endParaRPr lang="ko-KR" sz="3200" dirty="0"/>
          </a:p>
        </p:txBody>
      </p:sp>
      <p:sp>
        <p:nvSpPr>
          <p:cNvPr id="7" name="S15-card108"/>
          <p:cNvSpPr/>
          <p:nvPr/>
        </p:nvSpPr>
        <p:spPr>
          <a:xfrm>
            <a:off x="6208776" y="1325880"/>
            <a:ext cx="5431536" cy="1783080"/>
          </a:xfrm>
          <a:prstGeom prst="roundRect">
            <a:avLst>
              <a:gd name="adj" fmla="val 6154"/>
            </a:avLst>
          </a:prstGeom>
          <a:solidFill>
            <a:srgbClr val="EAF3F1"/>
          </a:solidFill>
          <a:ln w="12700">
            <a:solidFill>
              <a:srgbClr val="EAF3F1"/>
            </a:solidFill>
            <a:prstDash val="solid"/>
          </a:ln>
        </p:spPr>
      </p:sp>
      <p:sp>
        <p:nvSpPr>
          <p:cNvPr id="8" name="S15-cardtext109"/>
          <p:cNvSpPr txBox="1"/>
          <p:nvPr/>
        </p:nvSpPr>
        <p:spPr>
          <a:xfrm>
            <a:off x="6483096" y="1463040"/>
            <a:ext cx="4882896"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도서관</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사서</a:t>
            </a:r>
            <a:endParaRPr lang="ko-KR" sz="3200" dirty="0"/>
          </a:p>
        </p:txBody>
      </p:sp>
      <p:sp>
        <p:nvSpPr>
          <p:cNvPr id="9" name="S15-card110"/>
          <p:cNvSpPr/>
          <p:nvPr/>
        </p:nvSpPr>
        <p:spPr>
          <a:xfrm>
            <a:off x="548640" y="3337560"/>
            <a:ext cx="5431536" cy="1783080"/>
          </a:xfrm>
          <a:prstGeom prst="roundRect">
            <a:avLst>
              <a:gd name="adj" fmla="val 6154"/>
            </a:avLst>
          </a:prstGeom>
          <a:solidFill>
            <a:srgbClr val="EAF3F1"/>
          </a:solidFill>
          <a:ln w="12700">
            <a:solidFill>
              <a:srgbClr val="EAF3F1"/>
            </a:solidFill>
            <a:prstDash val="solid"/>
          </a:ln>
        </p:spPr>
      </p:sp>
      <p:sp>
        <p:nvSpPr>
          <p:cNvPr id="10" name="S15-cardtext111"/>
          <p:cNvSpPr txBox="1"/>
          <p:nvPr/>
        </p:nvSpPr>
        <p:spPr>
          <a:xfrm>
            <a:off x="822960" y="3474720"/>
            <a:ext cx="4882896"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소방서</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소방관</a:t>
            </a:r>
            <a:endParaRPr lang="ko-KR" sz="3200" dirty="0"/>
          </a:p>
        </p:txBody>
      </p:sp>
      <p:sp>
        <p:nvSpPr>
          <p:cNvPr id="11" name="S15-card112"/>
          <p:cNvSpPr/>
          <p:nvPr/>
        </p:nvSpPr>
        <p:spPr>
          <a:xfrm>
            <a:off x="6208776" y="3337560"/>
            <a:ext cx="5431536" cy="1783080"/>
          </a:xfrm>
          <a:prstGeom prst="roundRect">
            <a:avLst>
              <a:gd name="adj" fmla="val 6154"/>
            </a:avLst>
          </a:prstGeom>
          <a:solidFill>
            <a:srgbClr val="EAF3F1"/>
          </a:solidFill>
          <a:ln w="12700">
            <a:solidFill>
              <a:srgbClr val="EAF3F1"/>
            </a:solidFill>
            <a:prstDash val="solid"/>
          </a:ln>
        </p:spPr>
      </p:sp>
      <p:sp>
        <p:nvSpPr>
          <p:cNvPr id="12" name="S15-cardtext113"/>
          <p:cNvSpPr txBox="1"/>
          <p:nvPr/>
        </p:nvSpPr>
        <p:spPr>
          <a:xfrm>
            <a:off x="6483096" y="3474720"/>
            <a:ext cx="4882896"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우체국</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집배원</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초2 사회·역사 서로 돕는 마을 사람들</dc:title>
  <dc:subject>KR22-G02-SOC-JOBS-L01</dc:subject>
  <dc:creator>education-ppt</dc:creator>
  <cp:lastModifiedBy>education-ppt</cp:lastModifiedBy>
  <cp:revision>1</cp:revision>
  <dcterms:created xsi:type="dcterms:W3CDTF">2026-10-26T13:14:02Z</dcterms:created>
  <dcterms:modified xsi:type="dcterms:W3CDTF">2026-10-26T13:14:02Z</dcterms:modified>
</cp:coreProperties>
</file>