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7aceb53-a57c-58f9-ff73-eb3bd699db62}">
          <p14:sldIdLst>
            <p14:sldId id="256"/>
            <p14:sldId id="257"/>
          </p14:sldIdLst>
        </p14:section>
        <p14:section name="개념" id="{72cf0e5f-b1aa-cb56-1de5-637f79b76354}">
          <p14:sldIdLst>
            <p14:sldId id="258"/>
            <p14:sldId id="259"/>
            <p14:sldId id="260"/>
            <p14:sldId id="261"/>
            <p14:sldId id="266"/>
          </p14:sldIdLst>
        </p14:section>
        <p14:section name="연습" id="{50ca8512-1793-1515-fa09-1ac49b711061}">
          <p14:sldIdLst>
            <p14:sldId id="262"/>
            <p14:sldId id="263"/>
            <p14:sldId id="264"/>
            <p14:sldId id="267"/>
          </p14:sldIdLst>
        </p14:section>
        <p14:section name="확인" id="{f6b23260-5a42-fb9f-b4d1-8540ea5ce93c}">
          <p14:sldIdLst>
            <p14:sldId id="265"/>
            <p14:sldId id="268"/>
          </p14:sldIdLst>
        </p14:section>
        <p14:section name="개념" id="{b85d26b0-1a7c-9168-1f57-dcb8a9e38d22}">
          <p14:sldIdLst/>
        </p14:section>
        <p14:section name="연습" id="{06e95b24-d092-9836-3968-e72d704cfdd4}">
          <p14:sldIdLst/>
        </p14:section>
        <p14:section name="확인" id="{a49c7cef-190e-ac4e-448c-b4d87dd33b90}">
          <p14:sldIdLst/>
        </p14:section>
        <p14:section name="정리" id="{0507ae62-3969-abc1-b510-47bd2d74c24f}">
          <p14:sldIdLst>
            <p14:sldId id="269"/>
          </p14:sldIdLst>
        </p14:section>
        <p14:section name="보충" id="{e3a3e30e-2bca-0fd8-6773-f6536144fa2f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사회·역사 · 마을과공동체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사회·역사 · 마을의 시설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사회·역사 · 마을의 시설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사회·역사 · 마을의 시설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마을의 시설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마을에는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곳이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시설이 하는 일을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우리 마을 시설을 조사해요.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본 곳 떠올리기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 가까이에서 가 본 곳을 말해요.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본 곳 하나는?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거기서 무엇을 했나요?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보건실은 무엇을 하는 곳?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것을 얻는 곳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시설은 사람들을 위해 일을 해요.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시설마다 하는 일이 달라요.</a:t>
            </a:r>
            <a:endParaRPr lang="ko-KR" sz="32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물건을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사요.</a:t>
            </a:r>
            <a:endParaRPr lang="ko-KR" sz="32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아플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치료를 받아요.</a:t>
            </a:r>
            <a:endParaRPr lang="ko-KR" sz="32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우체국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편지와 소포를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마을을 지키는 곳</a:t>
            </a:r>
            <a:endParaRPr lang="ko-KR" sz="4400" dirty="0"/>
          </a:p>
        </p:txBody>
      </p:sp>
      <p:sp>
        <p:nvSpPr>
          <p:cNvPr id="3" name="S04-card19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나거나 다치면 119,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위험할 때는 112에 전화해요.</a:t>
            </a:r>
            <a:endParaRPr lang="ko-KR" sz="3200" dirty="0"/>
          </a:p>
        </p:txBody>
      </p:sp>
      <p:sp>
        <p:nvSpPr>
          <p:cNvPr id="5" name="S04-card21"/>
          <p:cNvSpPr/>
          <p:nvPr/>
        </p:nvSpPr>
        <p:spPr>
          <a:xfrm>
            <a:off x="548640" y="189992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2"/>
          <p:cNvSpPr txBox="1"/>
          <p:nvPr/>
        </p:nvSpPr>
        <p:spPr>
          <a:xfrm>
            <a:off x="822960" y="203708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소방서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불을 끄고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다친 사람을 구해요.</a:t>
            </a:r>
            <a:endParaRPr lang="ko-KR" sz="3200" dirty="0"/>
          </a:p>
        </p:txBody>
      </p:sp>
      <p:sp>
        <p:nvSpPr>
          <p:cNvPr id="7" name="S04-card23"/>
          <p:cNvSpPr/>
          <p:nvPr/>
        </p:nvSpPr>
        <p:spPr>
          <a:xfrm>
            <a:off x="6208776" y="189992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4"/>
          <p:cNvSpPr txBox="1"/>
          <p:nvPr/>
        </p:nvSpPr>
        <p:spPr>
          <a:xfrm>
            <a:off x="6483096" y="203708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경찰서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마을을 지키고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 잃은 사람을 도와요.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쓰는 곳</a:t>
            </a:r>
            <a:endParaRPr lang="ko-KR" sz="4400" dirty="0"/>
          </a:p>
        </p:txBody>
      </p:sp>
      <p:sp>
        <p:nvSpPr>
          <p:cNvPr id="3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함께 쓰니까 아껴 써요.</a:t>
            </a:r>
            <a:endParaRPr lang="ko-KR" sz="3200" dirty="0"/>
          </a:p>
        </p:txBody>
      </p:sp>
      <p:sp>
        <p:nvSpPr>
          <p:cNvPr id="5" name="S05-card27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8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읽고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빌려요.</a:t>
            </a:r>
            <a:endParaRPr lang="ko-KR" sz="3200" dirty="0"/>
          </a:p>
        </p:txBody>
      </p:sp>
      <p:sp>
        <p:nvSpPr>
          <p:cNvPr id="7" name="S05-card29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30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놀고 쉬고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별빛마을 둘러보기</a:t>
            </a:r>
            <a:endParaRPr lang="ko-KR" sz="4400" dirty="0"/>
          </a:p>
        </p:txBody>
      </p:sp>
      <p:sp>
        <p:nvSpPr>
          <p:cNvPr id="3" name="S06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시설을 짚고, 하는 일을 말해요.</a:t>
            </a:r>
            <a:endParaRPr lang="ko-KR" sz="3200" dirty="0"/>
          </a:p>
        </p:txBody>
      </p:sp>
      <p:sp>
        <p:nvSpPr>
          <p:cNvPr id="5" name="S06-figure33" descr="별빛마을 그림: 가운데에 가로로 큰길이 있다. 큰길 위쪽에 왼쪽부터 소방서, 우체국, 도서관, 공원이 한 줄로 있고, 큰길 아래쪽에 왼쪽부터 가게, 지호네, 병원, 경찰서가 한 줄로 있다. 건물의 짙은 막대(문)는 큰길 쪽에 있다."/>
          <p:cNvSpPr/>
          <p:nvPr/>
        </p:nvSpPr>
        <p:spPr>
          <a:xfrm>
            <a:off x="647700" y="2914223"/>
            <a:ext cx="10893552" cy="618074"/>
          </a:xfrm>
          <a:custGeom>
            <a:avLst/>
            <a:gdLst/>
            <a:ahLst/>
            <a:cxnLst/>
            <a:rect l="l" t="t" r="r" b="b"/>
            <a:pathLst>
              <a:path w="10893552" h="618074">
                <a:moveTo>
                  <a:pt x="0" y="618074"/>
                </a:moveTo>
                <a:lnTo>
                  <a:pt x="10893552" y="618074"/>
                </a:lnTo>
                <a:lnTo>
                  <a:pt x="108935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6" name="S06-mark34"/>
          <p:cNvSpPr/>
          <p:nvPr/>
        </p:nvSpPr>
        <p:spPr>
          <a:xfrm>
            <a:off x="879478" y="1871223"/>
            <a:ext cx="2317777" cy="849852"/>
          </a:xfrm>
          <a:custGeom>
            <a:avLst/>
            <a:gdLst/>
            <a:ahLst/>
            <a:cxnLst/>
            <a:rect l="l" t="t" r="r" b="b"/>
            <a:pathLst>
              <a:path w="2317777" h="849852">
                <a:moveTo>
                  <a:pt x="0" y="849852"/>
                </a:moveTo>
                <a:lnTo>
                  <a:pt x="2317777" y="849852"/>
                </a:lnTo>
                <a:lnTo>
                  <a:pt x="2317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mark35"/>
          <p:cNvSpPr/>
          <p:nvPr/>
        </p:nvSpPr>
        <p:spPr>
          <a:xfrm>
            <a:off x="1729329" y="2566557"/>
            <a:ext cx="618074" cy="154518"/>
          </a:xfrm>
          <a:custGeom>
            <a:avLst/>
            <a:gdLst/>
            <a:ahLst/>
            <a:cxnLst/>
            <a:rect l="l" t="t" r="r" b="b"/>
            <a:pathLst>
              <a:path w="618074" h="154518">
                <a:moveTo>
                  <a:pt x="0" y="154518"/>
                </a:moveTo>
                <a:lnTo>
                  <a:pt x="618074" y="154518"/>
                </a:lnTo>
                <a:lnTo>
                  <a:pt x="618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8" name="S06-mark36"/>
          <p:cNvSpPr/>
          <p:nvPr/>
        </p:nvSpPr>
        <p:spPr>
          <a:xfrm>
            <a:off x="3583551" y="1871223"/>
            <a:ext cx="2317777" cy="849852"/>
          </a:xfrm>
          <a:custGeom>
            <a:avLst/>
            <a:gdLst/>
            <a:ahLst/>
            <a:cxnLst/>
            <a:rect l="l" t="t" r="r" b="b"/>
            <a:pathLst>
              <a:path w="2317777" h="849852">
                <a:moveTo>
                  <a:pt x="0" y="849852"/>
                </a:moveTo>
                <a:lnTo>
                  <a:pt x="2317777" y="849852"/>
                </a:lnTo>
                <a:lnTo>
                  <a:pt x="2317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6-mark37"/>
          <p:cNvSpPr/>
          <p:nvPr/>
        </p:nvSpPr>
        <p:spPr>
          <a:xfrm>
            <a:off x="4433402" y="2566557"/>
            <a:ext cx="618074" cy="154518"/>
          </a:xfrm>
          <a:custGeom>
            <a:avLst/>
            <a:gdLst/>
            <a:ahLst/>
            <a:cxnLst/>
            <a:rect l="l" t="t" r="r" b="b"/>
            <a:pathLst>
              <a:path w="618074" h="154518">
                <a:moveTo>
                  <a:pt x="0" y="154518"/>
                </a:moveTo>
                <a:lnTo>
                  <a:pt x="618074" y="154518"/>
                </a:lnTo>
                <a:lnTo>
                  <a:pt x="618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0" name="S06-mark38"/>
          <p:cNvSpPr/>
          <p:nvPr/>
        </p:nvSpPr>
        <p:spPr>
          <a:xfrm>
            <a:off x="6287624" y="1871223"/>
            <a:ext cx="2317777" cy="849852"/>
          </a:xfrm>
          <a:custGeom>
            <a:avLst/>
            <a:gdLst/>
            <a:ahLst/>
            <a:cxnLst/>
            <a:rect l="l" t="t" r="r" b="b"/>
            <a:pathLst>
              <a:path w="2317777" h="849852">
                <a:moveTo>
                  <a:pt x="0" y="849852"/>
                </a:moveTo>
                <a:lnTo>
                  <a:pt x="2317777" y="849852"/>
                </a:lnTo>
                <a:lnTo>
                  <a:pt x="2317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mark39"/>
          <p:cNvSpPr/>
          <p:nvPr/>
        </p:nvSpPr>
        <p:spPr>
          <a:xfrm>
            <a:off x="7137476" y="2566557"/>
            <a:ext cx="618074" cy="154518"/>
          </a:xfrm>
          <a:custGeom>
            <a:avLst/>
            <a:gdLst/>
            <a:ahLst/>
            <a:cxnLst/>
            <a:rect l="l" t="t" r="r" b="b"/>
            <a:pathLst>
              <a:path w="618074" h="154518">
                <a:moveTo>
                  <a:pt x="0" y="154518"/>
                </a:moveTo>
                <a:lnTo>
                  <a:pt x="618074" y="154518"/>
                </a:lnTo>
                <a:lnTo>
                  <a:pt x="618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2" name="S06-mark40"/>
          <p:cNvSpPr/>
          <p:nvPr/>
        </p:nvSpPr>
        <p:spPr>
          <a:xfrm>
            <a:off x="8991697" y="1871223"/>
            <a:ext cx="2317777" cy="849852"/>
          </a:xfrm>
          <a:custGeom>
            <a:avLst/>
            <a:gdLst/>
            <a:ahLst/>
            <a:cxnLst/>
            <a:rect l="l" t="t" r="r" b="b"/>
            <a:pathLst>
              <a:path w="2317777" h="849852">
                <a:moveTo>
                  <a:pt x="0" y="849852"/>
                </a:moveTo>
                <a:lnTo>
                  <a:pt x="2317777" y="849852"/>
                </a:lnTo>
                <a:lnTo>
                  <a:pt x="2317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FD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mark41"/>
          <p:cNvSpPr/>
          <p:nvPr/>
        </p:nvSpPr>
        <p:spPr>
          <a:xfrm>
            <a:off x="879478" y="3725445"/>
            <a:ext cx="2317777" cy="849852"/>
          </a:xfrm>
          <a:custGeom>
            <a:avLst/>
            <a:gdLst/>
            <a:ahLst/>
            <a:cxnLst/>
            <a:rect l="l" t="t" r="r" b="b"/>
            <a:pathLst>
              <a:path w="2317777" h="849852">
                <a:moveTo>
                  <a:pt x="0" y="849852"/>
                </a:moveTo>
                <a:lnTo>
                  <a:pt x="2317777" y="849852"/>
                </a:lnTo>
                <a:lnTo>
                  <a:pt x="2317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mark42"/>
          <p:cNvSpPr/>
          <p:nvPr/>
        </p:nvSpPr>
        <p:spPr>
          <a:xfrm>
            <a:off x="1729329" y="3725445"/>
            <a:ext cx="618074" cy="154518"/>
          </a:xfrm>
          <a:custGeom>
            <a:avLst/>
            <a:gdLst/>
            <a:ahLst/>
            <a:cxnLst/>
            <a:rect l="l" t="t" r="r" b="b"/>
            <a:pathLst>
              <a:path w="618074" h="154518">
                <a:moveTo>
                  <a:pt x="0" y="154518"/>
                </a:moveTo>
                <a:lnTo>
                  <a:pt x="618074" y="154518"/>
                </a:lnTo>
                <a:lnTo>
                  <a:pt x="618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5" name="S06-mark43"/>
          <p:cNvSpPr/>
          <p:nvPr/>
        </p:nvSpPr>
        <p:spPr>
          <a:xfrm>
            <a:off x="3583551" y="3725445"/>
            <a:ext cx="2317777" cy="849852"/>
          </a:xfrm>
          <a:custGeom>
            <a:avLst/>
            <a:gdLst/>
            <a:ahLst/>
            <a:cxnLst/>
            <a:rect l="l" t="t" r="r" b="b"/>
            <a:pathLst>
              <a:path w="2317777" h="849852">
                <a:moveTo>
                  <a:pt x="0" y="849852"/>
                </a:moveTo>
                <a:lnTo>
                  <a:pt x="2317777" y="849852"/>
                </a:lnTo>
                <a:lnTo>
                  <a:pt x="2317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mark44"/>
          <p:cNvSpPr/>
          <p:nvPr/>
        </p:nvSpPr>
        <p:spPr>
          <a:xfrm>
            <a:off x="4433402" y="3725445"/>
            <a:ext cx="618074" cy="154518"/>
          </a:xfrm>
          <a:custGeom>
            <a:avLst/>
            <a:gdLst/>
            <a:ahLst/>
            <a:cxnLst/>
            <a:rect l="l" t="t" r="r" b="b"/>
            <a:pathLst>
              <a:path w="618074" h="154518">
                <a:moveTo>
                  <a:pt x="0" y="154518"/>
                </a:moveTo>
                <a:lnTo>
                  <a:pt x="618074" y="154518"/>
                </a:lnTo>
                <a:lnTo>
                  <a:pt x="618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7" name="S06-mark45"/>
          <p:cNvSpPr/>
          <p:nvPr/>
        </p:nvSpPr>
        <p:spPr>
          <a:xfrm>
            <a:off x="6287624" y="3725445"/>
            <a:ext cx="2317777" cy="849852"/>
          </a:xfrm>
          <a:custGeom>
            <a:avLst/>
            <a:gdLst/>
            <a:ahLst/>
            <a:cxnLst/>
            <a:rect l="l" t="t" r="r" b="b"/>
            <a:pathLst>
              <a:path w="2317777" h="849852">
                <a:moveTo>
                  <a:pt x="0" y="849852"/>
                </a:moveTo>
                <a:lnTo>
                  <a:pt x="2317777" y="849852"/>
                </a:lnTo>
                <a:lnTo>
                  <a:pt x="2317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mark46"/>
          <p:cNvSpPr/>
          <p:nvPr/>
        </p:nvSpPr>
        <p:spPr>
          <a:xfrm>
            <a:off x="7137476" y="3725445"/>
            <a:ext cx="618074" cy="154518"/>
          </a:xfrm>
          <a:custGeom>
            <a:avLst/>
            <a:gdLst/>
            <a:ahLst/>
            <a:cxnLst/>
            <a:rect l="l" t="t" r="r" b="b"/>
            <a:pathLst>
              <a:path w="618074" h="154518">
                <a:moveTo>
                  <a:pt x="0" y="154518"/>
                </a:moveTo>
                <a:lnTo>
                  <a:pt x="618074" y="154518"/>
                </a:lnTo>
                <a:lnTo>
                  <a:pt x="618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9" name="S06-mark47"/>
          <p:cNvSpPr/>
          <p:nvPr/>
        </p:nvSpPr>
        <p:spPr>
          <a:xfrm>
            <a:off x="8991697" y="3725445"/>
            <a:ext cx="2317777" cy="849852"/>
          </a:xfrm>
          <a:custGeom>
            <a:avLst/>
            <a:gdLst/>
            <a:ahLst/>
            <a:cxnLst/>
            <a:rect l="l" t="t" r="r" b="b"/>
            <a:pathLst>
              <a:path w="2317777" h="849852">
                <a:moveTo>
                  <a:pt x="0" y="849852"/>
                </a:moveTo>
                <a:lnTo>
                  <a:pt x="2317777" y="849852"/>
                </a:lnTo>
                <a:lnTo>
                  <a:pt x="23177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mark48"/>
          <p:cNvSpPr/>
          <p:nvPr/>
        </p:nvSpPr>
        <p:spPr>
          <a:xfrm>
            <a:off x="9841549" y="3725445"/>
            <a:ext cx="618074" cy="154518"/>
          </a:xfrm>
          <a:custGeom>
            <a:avLst/>
            <a:gdLst/>
            <a:ahLst/>
            <a:cxnLst/>
            <a:rect l="l" t="t" r="r" b="b"/>
            <a:pathLst>
              <a:path w="618074" h="154518">
                <a:moveTo>
                  <a:pt x="0" y="154518"/>
                </a:moveTo>
                <a:lnTo>
                  <a:pt x="618074" y="154518"/>
                </a:lnTo>
                <a:lnTo>
                  <a:pt x="618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21" name="S06-label50"/>
          <p:cNvSpPr txBox="1"/>
          <p:nvPr/>
        </p:nvSpPr>
        <p:spPr>
          <a:xfrm>
            <a:off x="1498108" y="2051145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소방서</a:t>
            </a:r>
            <a:endParaRPr lang="ko-KR" sz="2600" dirty="0"/>
          </a:p>
        </p:txBody>
      </p:sp>
      <p:sp>
        <p:nvSpPr>
          <p:cNvPr id="22" name="S06-label52"/>
          <p:cNvSpPr txBox="1"/>
          <p:nvPr/>
        </p:nvSpPr>
        <p:spPr>
          <a:xfrm>
            <a:off x="4202181" y="2051145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우체국</a:t>
            </a:r>
            <a:endParaRPr lang="ko-KR" sz="2600" dirty="0"/>
          </a:p>
        </p:txBody>
      </p:sp>
      <p:sp>
        <p:nvSpPr>
          <p:cNvPr id="23" name="S06-label54"/>
          <p:cNvSpPr txBox="1"/>
          <p:nvPr/>
        </p:nvSpPr>
        <p:spPr>
          <a:xfrm>
            <a:off x="6906255" y="2051145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</a:t>
            </a:r>
            <a:endParaRPr lang="ko-KR" sz="2600" dirty="0"/>
          </a:p>
        </p:txBody>
      </p:sp>
      <p:sp>
        <p:nvSpPr>
          <p:cNvPr id="24" name="S06-label56"/>
          <p:cNvSpPr txBox="1"/>
          <p:nvPr/>
        </p:nvSpPr>
        <p:spPr>
          <a:xfrm>
            <a:off x="9772126" y="2051145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</a:t>
            </a:r>
            <a:endParaRPr lang="ko-KR" sz="2600" dirty="0"/>
          </a:p>
        </p:txBody>
      </p:sp>
      <p:sp>
        <p:nvSpPr>
          <p:cNvPr id="25" name="S06-label58"/>
          <p:cNvSpPr txBox="1"/>
          <p:nvPr/>
        </p:nvSpPr>
        <p:spPr>
          <a:xfrm>
            <a:off x="1659906" y="3982625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</a:t>
            </a:r>
            <a:endParaRPr lang="ko-KR" sz="2600" dirty="0"/>
          </a:p>
        </p:txBody>
      </p:sp>
      <p:sp>
        <p:nvSpPr>
          <p:cNvPr id="26" name="S06-label60"/>
          <p:cNvSpPr txBox="1"/>
          <p:nvPr/>
        </p:nvSpPr>
        <p:spPr>
          <a:xfrm>
            <a:off x="4202181" y="3982625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지호네</a:t>
            </a:r>
            <a:endParaRPr lang="ko-KR" sz="2600" dirty="0"/>
          </a:p>
        </p:txBody>
      </p:sp>
      <p:sp>
        <p:nvSpPr>
          <p:cNvPr id="27" name="S06-label62"/>
          <p:cNvSpPr txBox="1"/>
          <p:nvPr/>
        </p:nvSpPr>
        <p:spPr>
          <a:xfrm>
            <a:off x="7068053" y="3982625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</a:t>
            </a:r>
            <a:endParaRPr lang="ko-KR" sz="2600" dirty="0"/>
          </a:p>
        </p:txBody>
      </p:sp>
      <p:sp>
        <p:nvSpPr>
          <p:cNvPr id="28" name="S06-label64"/>
          <p:cNvSpPr txBox="1"/>
          <p:nvPr/>
        </p:nvSpPr>
        <p:spPr>
          <a:xfrm>
            <a:off x="9610328" y="3982625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경찰서</a:t>
            </a:r>
            <a:endParaRPr lang="ko-KR" sz="2600" dirty="0"/>
          </a:p>
        </p:txBody>
      </p:sp>
      <p:sp>
        <p:nvSpPr>
          <p:cNvPr id="29" name="S06-label66"/>
          <p:cNvSpPr txBox="1"/>
          <p:nvPr/>
        </p:nvSpPr>
        <p:spPr>
          <a:xfrm>
            <a:off x="5716016" y="3016885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큰길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갈까요?</a:t>
            </a:r>
            <a:endParaRPr lang="ko-KR" sz="4400" dirty="0"/>
          </a:p>
        </p:txBody>
      </p:sp>
      <p:sp>
        <p:nvSpPr>
          <p:cNvPr id="3" name="S07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시설을 고르고 까닭도 말해요.</a:t>
            </a:r>
            <a:endParaRPr lang="ko-KR" sz="3200" dirty="0"/>
          </a:p>
        </p:txBody>
      </p:sp>
      <p:sp>
        <p:nvSpPr>
          <p:cNvPr id="4" name="S07-card68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69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 · 병원 · 우체국 · 소방서 · 경찰서 · 도서관 · 공원</a:t>
            </a:r>
            <a:endParaRPr lang="ko-KR" sz="3200" dirty="0"/>
          </a:p>
        </p:txBody>
      </p:sp>
      <p:sp>
        <p:nvSpPr>
          <p:cNvPr id="6" name="S07-chip70"/>
          <p:cNvSpPr txBox="1"/>
          <p:nvPr/>
        </p:nvSpPr>
        <p:spPr>
          <a:xfrm>
            <a:off x="548640" y="2110063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71"/>
          <p:cNvSpPr txBox="1"/>
          <p:nvPr/>
        </p:nvSpPr>
        <p:spPr>
          <a:xfrm>
            <a:off x="1344168" y="2011680"/>
            <a:ext cx="10296144" cy="76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 편지를 보내요.</a:t>
            </a:r>
            <a:endParaRPr lang="ko-KR" sz="3200" dirty="0"/>
          </a:p>
        </p:txBody>
      </p:sp>
      <p:sp>
        <p:nvSpPr>
          <p:cNvPr id="8" name="S07-chip72"/>
          <p:cNvSpPr txBox="1"/>
          <p:nvPr/>
        </p:nvSpPr>
        <p:spPr>
          <a:xfrm>
            <a:off x="548640" y="30566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73"/>
          <p:cNvSpPr txBox="1"/>
          <p:nvPr/>
        </p:nvSpPr>
        <p:spPr>
          <a:xfrm>
            <a:off x="1344168" y="2958253"/>
            <a:ext cx="10296144" cy="76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공룡 책을 빌리고 싶어요.</a:t>
            </a:r>
            <a:endParaRPr lang="ko-KR" sz="3200" dirty="0"/>
          </a:p>
        </p:txBody>
      </p:sp>
      <p:sp>
        <p:nvSpPr>
          <p:cNvPr id="10" name="S07-chip74"/>
          <p:cNvSpPr txBox="1"/>
          <p:nvPr/>
        </p:nvSpPr>
        <p:spPr>
          <a:xfrm>
            <a:off x="548640" y="400320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75"/>
          <p:cNvSpPr txBox="1"/>
          <p:nvPr/>
        </p:nvSpPr>
        <p:spPr>
          <a:xfrm>
            <a:off x="1344168" y="3904827"/>
            <a:ext cx="10296144" cy="76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열이 나고 기침을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나면 어디일까?</a:t>
            </a:r>
            <a:endParaRPr lang="ko-KR" sz="4400" dirty="0"/>
          </a:p>
        </p:txBody>
      </p:sp>
      <p:sp>
        <p:nvSpPr>
          <p:cNvPr id="3" name="S08-card7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7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마을에서 불이 났어요. 두 친구가 말했어요.</a:t>
            </a:r>
            <a:endParaRPr lang="ko-KR" sz="3200" dirty="0"/>
          </a:p>
        </p:txBody>
      </p:sp>
      <p:sp>
        <p:nvSpPr>
          <p:cNvPr id="5" name="S08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왜 그럴까요?</a:t>
            </a:r>
            <a:endParaRPr lang="ko-KR" sz="3200" dirty="0"/>
          </a:p>
        </p:txBody>
      </p:sp>
      <p:sp>
        <p:nvSpPr>
          <p:cNvPr id="7" name="S08-chip8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8-text8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“경찰서에서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불을 꺼 줘요.”</a:t>
            </a:r>
            <a:endParaRPr lang="ko-KR" sz="3200" dirty="0"/>
          </a:p>
        </p:txBody>
      </p:sp>
      <p:sp>
        <p:nvSpPr>
          <p:cNvPr id="9" name="S08-chip8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8-text8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“소방서에서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불을 꺼 줘요.”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별빛마을에서 찾아요</a:t>
            </a:r>
            <a:endParaRPr lang="ko-KR" sz="4400" dirty="0"/>
          </a:p>
        </p:txBody>
      </p:sp>
      <p:sp>
        <p:nvSpPr>
          <p:cNvPr id="3" name="S09-card84"/>
          <p:cNvSpPr/>
          <p:nvPr/>
        </p:nvSpPr>
        <p:spPr>
          <a:xfrm>
            <a:off x="548640" y="4401312"/>
            <a:ext cx="11091672" cy="1816608"/>
          </a:xfrm>
          <a:prstGeom prst="roundRect">
            <a:avLst>
              <a:gd name="adj" fmla="val 604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85"/>
          <p:cNvSpPr txBox="1"/>
          <p:nvPr/>
        </p:nvSpPr>
        <p:spPr>
          <a:xfrm>
            <a:off x="822960" y="4538472"/>
            <a:ext cx="10543032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불을 끄는 곳을 짚어요.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책을 빌리는 곳을 짚어요.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지호네 옆의 시설 두 곳은?</a:t>
            </a:r>
            <a:endParaRPr lang="ko-KR" sz="3200" dirty="0"/>
          </a:p>
        </p:txBody>
      </p:sp>
      <p:sp>
        <p:nvSpPr>
          <p:cNvPr id="5" name="S09-figure86" descr="별빛마을 그림: 가운데에 가로로 큰길이 있다. 큰길 위쪽에 왼쪽부터 소방서, 우체국, 도서관, 공원이 한 줄로 있고, 큰길 아래쪽에 왼쪽부터 가게, 지호네, 병원, 경찰서가 한 줄로 있다. 건물의 짙은 막대(문)는 큰길 쪽에 있다."/>
          <p:cNvSpPr/>
          <p:nvPr/>
        </p:nvSpPr>
        <p:spPr>
          <a:xfrm>
            <a:off x="759213" y="2446586"/>
            <a:ext cx="10670525" cy="605420"/>
          </a:xfrm>
          <a:custGeom>
            <a:avLst/>
            <a:gdLst/>
            <a:ahLst/>
            <a:cxnLst/>
            <a:rect l="l" t="t" r="r" b="b"/>
            <a:pathLst>
              <a:path w="10670525" h="605420">
                <a:moveTo>
                  <a:pt x="0" y="605420"/>
                </a:moveTo>
                <a:lnTo>
                  <a:pt x="10670525" y="605420"/>
                </a:lnTo>
                <a:lnTo>
                  <a:pt x="106705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6" name="S09-mark87"/>
          <p:cNvSpPr/>
          <p:nvPr/>
        </p:nvSpPr>
        <p:spPr>
          <a:xfrm>
            <a:off x="986246" y="1424940"/>
            <a:ext cx="2270325" cy="832452"/>
          </a:xfrm>
          <a:custGeom>
            <a:avLst/>
            <a:gdLst/>
            <a:ahLst/>
            <a:cxnLst/>
            <a:rect l="l" t="t" r="r" b="b"/>
            <a:pathLst>
              <a:path w="2270325" h="832452">
                <a:moveTo>
                  <a:pt x="0" y="832452"/>
                </a:moveTo>
                <a:lnTo>
                  <a:pt x="2270325" y="832452"/>
                </a:lnTo>
                <a:lnTo>
                  <a:pt x="2270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9-mark88"/>
          <p:cNvSpPr/>
          <p:nvPr/>
        </p:nvSpPr>
        <p:spPr>
          <a:xfrm>
            <a:off x="1818698" y="2106037"/>
            <a:ext cx="605420" cy="151355"/>
          </a:xfrm>
          <a:custGeom>
            <a:avLst/>
            <a:gdLst/>
            <a:ahLst/>
            <a:cxnLst/>
            <a:rect l="l" t="t" r="r" b="b"/>
            <a:pathLst>
              <a:path w="605420" h="151355">
                <a:moveTo>
                  <a:pt x="0" y="151355"/>
                </a:moveTo>
                <a:lnTo>
                  <a:pt x="605420" y="151355"/>
                </a:lnTo>
                <a:lnTo>
                  <a:pt x="6054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8" name="S09-mark89"/>
          <p:cNvSpPr/>
          <p:nvPr/>
        </p:nvSpPr>
        <p:spPr>
          <a:xfrm>
            <a:off x="3634958" y="1424940"/>
            <a:ext cx="2270325" cy="832452"/>
          </a:xfrm>
          <a:custGeom>
            <a:avLst/>
            <a:gdLst/>
            <a:ahLst/>
            <a:cxnLst/>
            <a:rect l="l" t="t" r="r" b="b"/>
            <a:pathLst>
              <a:path w="2270325" h="832452">
                <a:moveTo>
                  <a:pt x="0" y="832452"/>
                </a:moveTo>
                <a:lnTo>
                  <a:pt x="2270325" y="832452"/>
                </a:lnTo>
                <a:lnTo>
                  <a:pt x="2270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9-mark90"/>
          <p:cNvSpPr/>
          <p:nvPr/>
        </p:nvSpPr>
        <p:spPr>
          <a:xfrm>
            <a:off x="4467410" y="2106037"/>
            <a:ext cx="605420" cy="151355"/>
          </a:xfrm>
          <a:custGeom>
            <a:avLst/>
            <a:gdLst/>
            <a:ahLst/>
            <a:cxnLst/>
            <a:rect l="l" t="t" r="r" b="b"/>
            <a:pathLst>
              <a:path w="605420" h="151355">
                <a:moveTo>
                  <a:pt x="0" y="151355"/>
                </a:moveTo>
                <a:lnTo>
                  <a:pt x="605420" y="151355"/>
                </a:lnTo>
                <a:lnTo>
                  <a:pt x="6054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0" name="S09-mark91"/>
          <p:cNvSpPr/>
          <p:nvPr/>
        </p:nvSpPr>
        <p:spPr>
          <a:xfrm>
            <a:off x="6283670" y="1424940"/>
            <a:ext cx="2270325" cy="832452"/>
          </a:xfrm>
          <a:custGeom>
            <a:avLst/>
            <a:gdLst/>
            <a:ahLst/>
            <a:cxnLst/>
            <a:rect l="l" t="t" r="r" b="b"/>
            <a:pathLst>
              <a:path w="2270325" h="832452">
                <a:moveTo>
                  <a:pt x="0" y="832452"/>
                </a:moveTo>
                <a:lnTo>
                  <a:pt x="2270325" y="832452"/>
                </a:lnTo>
                <a:lnTo>
                  <a:pt x="2270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9-mark92"/>
          <p:cNvSpPr/>
          <p:nvPr/>
        </p:nvSpPr>
        <p:spPr>
          <a:xfrm>
            <a:off x="7116122" y="2106037"/>
            <a:ext cx="605420" cy="151355"/>
          </a:xfrm>
          <a:custGeom>
            <a:avLst/>
            <a:gdLst/>
            <a:ahLst/>
            <a:cxnLst/>
            <a:rect l="l" t="t" r="r" b="b"/>
            <a:pathLst>
              <a:path w="605420" h="151355">
                <a:moveTo>
                  <a:pt x="0" y="151355"/>
                </a:moveTo>
                <a:lnTo>
                  <a:pt x="605420" y="151355"/>
                </a:lnTo>
                <a:lnTo>
                  <a:pt x="6054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2" name="S09-mark93"/>
          <p:cNvSpPr/>
          <p:nvPr/>
        </p:nvSpPr>
        <p:spPr>
          <a:xfrm>
            <a:off x="8932382" y="1424940"/>
            <a:ext cx="2270325" cy="832452"/>
          </a:xfrm>
          <a:custGeom>
            <a:avLst/>
            <a:gdLst/>
            <a:ahLst/>
            <a:cxnLst/>
            <a:rect l="l" t="t" r="r" b="b"/>
            <a:pathLst>
              <a:path w="2270325" h="832452">
                <a:moveTo>
                  <a:pt x="0" y="832452"/>
                </a:moveTo>
                <a:lnTo>
                  <a:pt x="2270325" y="832452"/>
                </a:lnTo>
                <a:lnTo>
                  <a:pt x="2270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FD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9-mark94"/>
          <p:cNvSpPr/>
          <p:nvPr/>
        </p:nvSpPr>
        <p:spPr>
          <a:xfrm>
            <a:off x="986246" y="3241200"/>
            <a:ext cx="2270325" cy="832452"/>
          </a:xfrm>
          <a:custGeom>
            <a:avLst/>
            <a:gdLst/>
            <a:ahLst/>
            <a:cxnLst/>
            <a:rect l="l" t="t" r="r" b="b"/>
            <a:pathLst>
              <a:path w="2270325" h="832452">
                <a:moveTo>
                  <a:pt x="0" y="832452"/>
                </a:moveTo>
                <a:lnTo>
                  <a:pt x="2270325" y="832452"/>
                </a:lnTo>
                <a:lnTo>
                  <a:pt x="2270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9-mark95"/>
          <p:cNvSpPr/>
          <p:nvPr/>
        </p:nvSpPr>
        <p:spPr>
          <a:xfrm>
            <a:off x="1818698" y="3241200"/>
            <a:ext cx="605420" cy="151355"/>
          </a:xfrm>
          <a:custGeom>
            <a:avLst/>
            <a:gdLst/>
            <a:ahLst/>
            <a:cxnLst/>
            <a:rect l="l" t="t" r="r" b="b"/>
            <a:pathLst>
              <a:path w="605420" h="151355">
                <a:moveTo>
                  <a:pt x="0" y="151355"/>
                </a:moveTo>
                <a:lnTo>
                  <a:pt x="605420" y="151355"/>
                </a:lnTo>
                <a:lnTo>
                  <a:pt x="6054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5" name="S09-mark96"/>
          <p:cNvSpPr/>
          <p:nvPr/>
        </p:nvSpPr>
        <p:spPr>
          <a:xfrm>
            <a:off x="3634958" y="3241200"/>
            <a:ext cx="2270325" cy="832452"/>
          </a:xfrm>
          <a:custGeom>
            <a:avLst/>
            <a:gdLst/>
            <a:ahLst/>
            <a:cxnLst/>
            <a:rect l="l" t="t" r="r" b="b"/>
            <a:pathLst>
              <a:path w="2270325" h="832452">
                <a:moveTo>
                  <a:pt x="0" y="832452"/>
                </a:moveTo>
                <a:lnTo>
                  <a:pt x="2270325" y="832452"/>
                </a:lnTo>
                <a:lnTo>
                  <a:pt x="2270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9-mark97"/>
          <p:cNvSpPr/>
          <p:nvPr/>
        </p:nvSpPr>
        <p:spPr>
          <a:xfrm>
            <a:off x="4467410" y="3241200"/>
            <a:ext cx="605420" cy="151355"/>
          </a:xfrm>
          <a:custGeom>
            <a:avLst/>
            <a:gdLst/>
            <a:ahLst/>
            <a:cxnLst/>
            <a:rect l="l" t="t" r="r" b="b"/>
            <a:pathLst>
              <a:path w="605420" h="151355">
                <a:moveTo>
                  <a:pt x="0" y="151355"/>
                </a:moveTo>
                <a:lnTo>
                  <a:pt x="605420" y="151355"/>
                </a:lnTo>
                <a:lnTo>
                  <a:pt x="6054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7" name="S09-mark98"/>
          <p:cNvSpPr/>
          <p:nvPr/>
        </p:nvSpPr>
        <p:spPr>
          <a:xfrm>
            <a:off x="6283670" y="3241200"/>
            <a:ext cx="2270325" cy="832452"/>
          </a:xfrm>
          <a:custGeom>
            <a:avLst/>
            <a:gdLst/>
            <a:ahLst/>
            <a:cxnLst/>
            <a:rect l="l" t="t" r="r" b="b"/>
            <a:pathLst>
              <a:path w="2270325" h="832452">
                <a:moveTo>
                  <a:pt x="0" y="832452"/>
                </a:moveTo>
                <a:lnTo>
                  <a:pt x="2270325" y="832452"/>
                </a:lnTo>
                <a:lnTo>
                  <a:pt x="2270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9-mark99"/>
          <p:cNvSpPr/>
          <p:nvPr/>
        </p:nvSpPr>
        <p:spPr>
          <a:xfrm>
            <a:off x="7116122" y="3241200"/>
            <a:ext cx="605420" cy="151355"/>
          </a:xfrm>
          <a:custGeom>
            <a:avLst/>
            <a:gdLst/>
            <a:ahLst/>
            <a:cxnLst/>
            <a:rect l="l" t="t" r="r" b="b"/>
            <a:pathLst>
              <a:path w="605420" h="151355">
                <a:moveTo>
                  <a:pt x="0" y="151355"/>
                </a:moveTo>
                <a:lnTo>
                  <a:pt x="605420" y="151355"/>
                </a:lnTo>
                <a:lnTo>
                  <a:pt x="6054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9" name="S09-mark100"/>
          <p:cNvSpPr/>
          <p:nvPr/>
        </p:nvSpPr>
        <p:spPr>
          <a:xfrm>
            <a:off x="8932382" y="3241200"/>
            <a:ext cx="2270325" cy="832452"/>
          </a:xfrm>
          <a:custGeom>
            <a:avLst/>
            <a:gdLst/>
            <a:ahLst/>
            <a:cxnLst/>
            <a:rect l="l" t="t" r="r" b="b"/>
            <a:pathLst>
              <a:path w="2270325" h="832452">
                <a:moveTo>
                  <a:pt x="0" y="832452"/>
                </a:moveTo>
                <a:lnTo>
                  <a:pt x="2270325" y="832452"/>
                </a:lnTo>
                <a:lnTo>
                  <a:pt x="2270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9-mark101"/>
          <p:cNvSpPr/>
          <p:nvPr/>
        </p:nvSpPr>
        <p:spPr>
          <a:xfrm>
            <a:off x="9764834" y="3241200"/>
            <a:ext cx="605420" cy="151355"/>
          </a:xfrm>
          <a:custGeom>
            <a:avLst/>
            <a:gdLst/>
            <a:ahLst/>
            <a:cxnLst/>
            <a:rect l="l" t="t" r="r" b="b"/>
            <a:pathLst>
              <a:path w="605420" h="151355">
                <a:moveTo>
                  <a:pt x="0" y="151355"/>
                </a:moveTo>
                <a:lnTo>
                  <a:pt x="605420" y="151355"/>
                </a:lnTo>
                <a:lnTo>
                  <a:pt x="6054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21" name="S09-label103"/>
          <p:cNvSpPr txBox="1"/>
          <p:nvPr/>
        </p:nvSpPr>
        <p:spPr>
          <a:xfrm>
            <a:off x="1581150" y="1596952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소방서</a:t>
            </a:r>
            <a:endParaRPr lang="ko-KR" sz="2600" dirty="0"/>
          </a:p>
        </p:txBody>
      </p:sp>
      <p:sp>
        <p:nvSpPr>
          <p:cNvPr id="22" name="S09-label105"/>
          <p:cNvSpPr txBox="1"/>
          <p:nvPr/>
        </p:nvSpPr>
        <p:spPr>
          <a:xfrm>
            <a:off x="4229862" y="1596952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우체국</a:t>
            </a:r>
            <a:endParaRPr lang="ko-KR" sz="2600" dirty="0"/>
          </a:p>
        </p:txBody>
      </p:sp>
      <p:sp>
        <p:nvSpPr>
          <p:cNvPr id="23" name="S09-label107"/>
          <p:cNvSpPr txBox="1"/>
          <p:nvPr/>
        </p:nvSpPr>
        <p:spPr>
          <a:xfrm>
            <a:off x="6878574" y="1596952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</a:t>
            </a:r>
            <a:endParaRPr lang="ko-KR" sz="2600" dirty="0"/>
          </a:p>
        </p:txBody>
      </p:sp>
      <p:sp>
        <p:nvSpPr>
          <p:cNvPr id="24" name="S09-label109"/>
          <p:cNvSpPr txBox="1"/>
          <p:nvPr/>
        </p:nvSpPr>
        <p:spPr>
          <a:xfrm>
            <a:off x="9689084" y="1596952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</a:t>
            </a:r>
            <a:endParaRPr lang="ko-KR" sz="2600" dirty="0"/>
          </a:p>
        </p:txBody>
      </p:sp>
      <p:sp>
        <p:nvSpPr>
          <p:cNvPr id="25" name="S09-label111"/>
          <p:cNvSpPr txBox="1"/>
          <p:nvPr/>
        </p:nvSpPr>
        <p:spPr>
          <a:xfrm>
            <a:off x="1742948" y="3488890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</a:t>
            </a:r>
            <a:endParaRPr lang="ko-KR" sz="2600" dirty="0"/>
          </a:p>
        </p:txBody>
      </p:sp>
      <p:sp>
        <p:nvSpPr>
          <p:cNvPr id="26" name="S09-label113"/>
          <p:cNvSpPr txBox="1"/>
          <p:nvPr/>
        </p:nvSpPr>
        <p:spPr>
          <a:xfrm>
            <a:off x="4229862" y="3488890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지호네</a:t>
            </a:r>
            <a:endParaRPr lang="ko-KR" sz="2600" dirty="0"/>
          </a:p>
        </p:txBody>
      </p:sp>
      <p:sp>
        <p:nvSpPr>
          <p:cNvPr id="27" name="S09-label115"/>
          <p:cNvSpPr txBox="1"/>
          <p:nvPr/>
        </p:nvSpPr>
        <p:spPr>
          <a:xfrm>
            <a:off x="7040372" y="3488890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</a:t>
            </a:r>
            <a:endParaRPr lang="ko-KR" sz="2600" dirty="0"/>
          </a:p>
        </p:txBody>
      </p:sp>
      <p:sp>
        <p:nvSpPr>
          <p:cNvPr id="28" name="S09-label117"/>
          <p:cNvSpPr txBox="1"/>
          <p:nvPr/>
        </p:nvSpPr>
        <p:spPr>
          <a:xfrm>
            <a:off x="9527286" y="3488890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경찰서</a:t>
            </a:r>
            <a:endParaRPr lang="ko-KR" sz="2600" dirty="0"/>
          </a:p>
        </p:txBody>
      </p:sp>
      <p:sp>
        <p:nvSpPr>
          <p:cNvPr id="29" name="S09-label119"/>
          <p:cNvSpPr txBox="1"/>
          <p:nvPr/>
        </p:nvSpPr>
        <p:spPr>
          <a:xfrm>
            <a:off x="5716016" y="2542921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큰길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1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시설을 고르고 까닭도 말해요.</a:t>
            </a:r>
            <a:endParaRPr lang="ko-KR" sz="3200" dirty="0"/>
          </a:p>
        </p:txBody>
      </p:sp>
      <p:sp>
        <p:nvSpPr>
          <p:cNvPr id="4" name="S10-card121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122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 · 병원 · 우체국 · 소방서 · 경찰서 · 도서관 · 공원</a:t>
            </a:r>
            <a:endParaRPr lang="ko-KR" sz="3200" dirty="0"/>
          </a:p>
        </p:txBody>
      </p:sp>
      <p:sp>
        <p:nvSpPr>
          <p:cNvPr id="6" name="S10-chip123"/>
          <p:cNvSpPr txBox="1"/>
          <p:nvPr/>
        </p:nvSpPr>
        <p:spPr>
          <a:xfrm>
            <a:off x="548640" y="23467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text124"/>
          <p:cNvSpPr txBox="1"/>
          <p:nvPr/>
        </p:nvSpPr>
        <p:spPr>
          <a:xfrm>
            <a:off x="1344168" y="2011680"/>
            <a:ext cx="4567428" cy="1236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넘어져 무릎을 다쳤어요.</a:t>
            </a:r>
            <a:endParaRPr lang="ko-KR" sz="3200" dirty="0"/>
          </a:p>
        </p:txBody>
      </p:sp>
      <p:sp>
        <p:nvSpPr>
          <p:cNvPr id="8" name="S10-chip125"/>
          <p:cNvSpPr txBox="1"/>
          <p:nvPr/>
        </p:nvSpPr>
        <p:spPr>
          <a:xfrm>
            <a:off x="6277356" y="23467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ext126"/>
          <p:cNvSpPr txBox="1"/>
          <p:nvPr/>
        </p:nvSpPr>
        <p:spPr>
          <a:xfrm>
            <a:off x="7072884" y="2011680"/>
            <a:ext cx="4567428" cy="1236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저녁에 먹을 두부를 사요.</a:t>
            </a:r>
            <a:endParaRPr lang="ko-KR" sz="3200" dirty="0"/>
          </a:p>
        </p:txBody>
      </p:sp>
      <p:sp>
        <p:nvSpPr>
          <p:cNvPr id="10" name="S10-chip127"/>
          <p:cNvSpPr txBox="1"/>
          <p:nvPr/>
        </p:nvSpPr>
        <p:spPr>
          <a:xfrm>
            <a:off x="548640" y="37665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text128"/>
          <p:cNvSpPr txBox="1"/>
          <p:nvPr/>
        </p:nvSpPr>
        <p:spPr>
          <a:xfrm>
            <a:off x="1344168" y="3431540"/>
            <a:ext cx="4567428" cy="1236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길에서 지갑을 주웠어요.</a:t>
            </a:r>
            <a:endParaRPr lang="ko-KR" sz="3200" dirty="0"/>
          </a:p>
        </p:txBody>
      </p:sp>
      <p:sp>
        <p:nvSpPr>
          <p:cNvPr id="12" name="S10-chip129"/>
          <p:cNvSpPr txBox="1"/>
          <p:nvPr/>
        </p:nvSpPr>
        <p:spPr>
          <a:xfrm>
            <a:off x="6277356" y="37665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10-text130"/>
          <p:cNvSpPr txBox="1"/>
          <p:nvPr/>
        </p:nvSpPr>
        <p:spPr>
          <a:xfrm>
            <a:off x="7072884" y="3431540"/>
            <a:ext cx="4567428" cy="1236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줄넘기를 하며 놀아요.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시설을 조사하는 방법</a:t>
            </a:r>
            <a:endParaRPr lang="ko-KR" sz="4400" dirty="0"/>
          </a:p>
        </p:txBody>
      </p:sp>
      <p:sp>
        <p:nvSpPr>
          <p:cNvPr id="3" name="S12-card1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1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알아낸 것은 기록표에 적어요.</a:t>
            </a:r>
            <a:endParaRPr lang="ko-KR" sz="3200" dirty="0"/>
          </a:p>
        </p:txBody>
      </p:sp>
      <p:sp>
        <p:nvSpPr>
          <p:cNvPr id="5" name="S12-card133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2-cardtext134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둘러보기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함께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걸으며 살펴요.</a:t>
            </a:r>
            <a:endParaRPr lang="ko-KR" sz="3200" dirty="0"/>
          </a:p>
        </p:txBody>
      </p:sp>
      <p:sp>
        <p:nvSpPr>
          <p:cNvPr id="7" name="S12-card135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136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간판 읽기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 이름을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읽어요.</a:t>
            </a:r>
            <a:endParaRPr lang="ko-KR" sz="3200" dirty="0"/>
          </a:p>
        </p:txBody>
      </p:sp>
      <p:sp>
        <p:nvSpPr>
          <p:cNvPr id="9" name="S12-card137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2-cardtext138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여쭈어 보기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일하는 분께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알아볼까요?</a:t>
            </a:r>
            <a:endParaRPr lang="ko-KR" sz="4400" dirty="0"/>
          </a:p>
        </p:txBody>
      </p:sp>
      <p:sp>
        <p:nvSpPr>
          <p:cNvPr id="3" name="S13-text1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방법을 골라요.</a:t>
            </a:r>
            <a:endParaRPr lang="ko-KR" sz="3200" dirty="0"/>
          </a:p>
        </p:txBody>
      </p:sp>
      <p:sp>
        <p:nvSpPr>
          <p:cNvPr id="4" name="S13-card1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1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둘러보기 · 간판 읽기 · 여쭈어 보기</a:t>
            </a:r>
            <a:endParaRPr lang="ko-KR" sz="3200" dirty="0"/>
          </a:p>
        </p:txBody>
      </p:sp>
      <p:sp>
        <p:nvSpPr>
          <p:cNvPr id="6" name="S13-chip14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3-text14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생긴 가게의 이름은?</a:t>
            </a:r>
            <a:endParaRPr lang="ko-KR" sz="3200" dirty="0"/>
          </a:p>
        </p:txBody>
      </p:sp>
      <p:sp>
        <p:nvSpPr>
          <p:cNvPr id="8" name="S13-chip14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3-text14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공원에는 무엇이 있을까?</a:t>
            </a:r>
            <a:endParaRPr lang="ko-KR" sz="3200" dirty="0"/>
          </a:p>
        </p:txBody>
      </p:sp>
      <p:sp>
        <p:nvSpPr>
          <p:cNvPr id="10" name="S13-chip14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3-text14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우체국에서 하는 일은?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마을 조사 계획</a:t>
            </a:r>
            <a:endParaRPr lang="ko-KR" sz="4400" dirty="0"/>
          </a:p>
        </p:txBody>
      </p:sp>
      <p:sp>
        <p:nvSpPr>
          <p:cNvPr id="3" name="S14-card1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꼭 어른과 함께 다녀요.</a:t>
            </a:r>
            <a:endParaRPr lang="ko-KR" sz="3200" dirty="0"/>
          </a:p>
        </p:txBody>
      </p:sp>
      <p:sp>
        <p:nvSpPr>
          <p:cNvPr id="5" name="S14-card150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51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시설 세 곳을 정했어요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방법을 골랐어요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하는 일을 적었어요</a:t>
            </a:r>
            <a:endParaRPr lang="ko-KR" sz="3200" dirty="0"/>
          </a:p>
        </p:txBody>
      </p:sp>
      <p:sp>
        <p:nvSpPr>
          <p:cNvPr id="7" name="S14-stepno152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4-text153"/>
          <p:cNvSpPr txBox="1"/>
          <p:nvPr/>
        </p:nvSpPr>
        <p:spPr>
          <a:xfrm>
            <a:off x="1325880" y="18790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조사할 시설 세 곳을 정해요.</a:t>
            </a:r>
            <a:endParaRPr lang="ko-KR" sz="3200" dirty="0"/>
          </a:p>
        </p:txBody>
      </p:sp>
      <p:sp>
        <p:nvSpPr>
          <p:cNvPr id="9" name="S14-stepno154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4-text155"/>
          <p:cNvSpPr txBox="1"/>
          <p:nvPr/>
        </p:nvSpPr>
        <p:spPr>
          <a:xfrm>
            <a:off x="1325880" y="2592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알아볼 방법을 골라요.</a:t>
            </a:r>
            <a:endParaRPr lang="ko-KR" sz="3200" dirty="0"/>
          </a:p>
        </p:txBody>
      </p:sp>
      <p:sp>
        <p:nvSpPr>
          <p:cNvPr id="11" name="S14-stepno156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4-text157"/>
          <p:cNvSpPr txBox="1"/>
          <p:nvPr/>
        </p:nvSpPr>
        <p:spPr>
          <a:xfrm>
            <a:off x="1325880" y="3305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함께 다녀와요.</a:t>
            </a:r>
            <a:endParaRPr lang="ko-KR" sz="3200" dirty="0"/>
          </a:p>
        </p:txBody>
      </p:sp>
      <p:sp>
        <p:nvSpPr>
          <p:cNvPr id="13" name="S14-stepno158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14-text159"/>
          <p:cNvSpPr txBox="1"/>
          <p:nvPr/>
        </p:nvSpPr>
        <p:spPr>
          <a:xfrm>
            <a:off x="1325880" y="4018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이름과 하는 일을 적어요.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5-card160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61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마을의 시설은 하는 일이 저마다 달라요.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일에 맞는 시설을 찾아가요.</a:t>
            </a:r>
            <a:endParaRPr lang="ko-KR" sz="3200" dirty="0"/>
          </a:p>
        </p:txBody>
      </p:sp>
      <p:sp>
        <p:nvSpPr>
          <p:cNvPr id="5" name="S15-chip162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하는 일로 시설 고르기</a:t>
            </a:r>
            <a:endParaRPr lang="ko-KR" sz="2600" dirty="0"/>
          </a:p>
        </p:txBody>
      </p:sp>
      <p:sp>
        <p:nvSpPr>
          <p:cNvPr id="6" name="S15-chip163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함께 쓰는 곳 함부로 쓰기</a:t>
            </a:r>
            <a:endParaRPr lang="ko-KR" sz="2600" dirty="0"/>
          </a:p>
        </p:txBody>
      </p:sp>
      <p:sp>
        <p:nvSpPr>
          <p:cNvPr id="7" name="S15-text164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5-text165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불을 끄는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시설은?</a:t>
            </a:r>
            <a:endParaRPr lang="ko-KR" sz="2600" dirty="0"/>
          </a:p>
        </p:txBody>
      </p:sp>
      <p:sp>
        <p:nvSpPr>
          <p:cNvPr id="9" name="S15-text166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편지를 보내는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시설은?</a:t>
            </a:r>
            <a:endParaRPr lang="ko-KR" sz="2600" dirty="0"/>
          </a:p>
        </p:txBody>
      </p:sp>
      <p:sp>
        <p:nvSpPr>
          <p:cNvPr id="10" name="S15-text167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함께 쓰는 시설은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써요?</a:t>
            </a:r>
            <a:endParaRPr lang="ko-KR" sz="2600" dirty="0"/>
          </a:p>
        </p:txBody>
      </p:sp>
      <p:sp>
        <p:nvSpPr>
          <p:cNvPr id="11" name="S15-text16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서로 돕는 마을 사람들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학교의 장소</a:t>
            </a:r>
            <a:endParaRPr lang="ko-KR" sz="4400" dirty="0"/>
          </a:p>
        </p:txBody>
      </p:sp>
      <p:sp>
        <p:nvSpPr>
          <p:cNvPr id="3" name="S16-text1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학교에도 하는 일이 다른 곳이 있어요.</a:t>
            </a:r>
            <a:endParaRPr lang="ko-KR" sz="3200" dirty="0"/>
          </a:p>
        </p:txBody>
      </p:sp>
      <p:sp>
        <p:nvSpPr>
          <p:cNvPr id="4" name="S16-card1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6-cardtext1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마을에도 이런 곳이 있어요.</a:t>
            </a:r>
            <a:endParaRPr lang="ko-KR" sz="3200" dirty="0"/>
          </a:p>
        </p:txBody>
      </p:sp>
      <p:sp>
        <p:nvSpPr>
          <p:cNvPr id="6" name="S16-card172"/>
          <p:cNvSpPr/>
          <p:nvPr/>
        </p:nvSpPr>
        <p:spPr>
          <a:xfrm>
            <a:off x="548640" y="20345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6-cardtext173"/>
          <p:cNvSpPr txBox="1"/>
          <p:nvPr/>
        </p:nvSpPr>
        <p:spPr>
          <a:xfrm>
            <a:off x="822960" y="21717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보건실: 다치면 치료해요.</a:t>
            </a:r>
            <a:endParaRPr lang="ko-KR" sz="3200" dirty="0"/>
          </a:p>
        </p:txBody>
      </p:sp>
      <p:sp>
        <p:nvSpPr>
          <p:cNvPr id="8" name="S16-card174"/>
          <p:cNvSpPr/>
          <p:nvPr/>
        </p:nvSpPr>
        <p:spPr>
          <a:xfrm>
            <a:off x="548640" y="31318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6-cardtext175"/>
          <p:cNvSpPr txBox="1"/>
          <p:nvPr/>
        </p:nvSpPr>
        <p:spPr>
          <a:xfrm>
            <a:off x="822960" y="326898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도서실: 책을 읽어요.</a:t>
            </a:r>
            <a:endParaRPr lang="ko-KR" sz="3200" dirty="0"/>
          </a:p>
        </p:txBody>
      </p:sp>
      <p:sp>
        <p:nvSpPr>
          <p:cNvPr id="10" name="S16-card176"/>
          <p:cNvSpPr/>
          <p:nvPr/>
        </p:nvSpPr>
        <p:spPr>
          <a:xfrm>
            <a:off x="548640" y="42291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6-cardtext177"/>
          <p:cNvSpPr txBox="1"/>
          <p:nvPr/>
        </p:nvSpPr>
        <p:spPr>
          <a:xfrm>
            <a:off x="822960" y="436626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급식실: 점심을 먹어요.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사회·역사 마을의 시설</dc:title>
  <dc:subject>KR22-G02-SOC-TOWN-L01</dc:subject>
  <dc:creator>education-ppt</dc:creator>
  <cp:lastModifiedBy>education-ppt</cp:lastModifiedBy>
  <cp:revision>1</cp:revision>
  <dcterms:created xsi:type="dcterms:W3CDTF">2026-10-26T10:05:28Z</dcterms:created>
  <dcterms:modified xsi:type="dcterms:W3CDTF">2026-10-26T10:05:28Z</dcterms:modified>
</cp:coreProperties>
</file>