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5899dc67-276d-f64e-bca2-e605efabece1}">
          <p14:sldIdLst>
            <p14:sldId id="256"/>
            <p14:sldId id="257"/>
          </p14:sldIdLst>
        </p14:section>
        <p14:section name="개념" id="{1f3c4a52-6321-454f-43b4-af40918b2754}">
          <p14:sldIdLst>
            <p14:sldId id="258"/>
            <p14:sldId id="259"/>
            <p14:sldId id="260"/>
            <p14:sldId id="263"/>
          </p14:sldIdLst>
        </p14:section>
        <p14:section name="연습" id="{29c97dcd-82c0-682c-255d-9a6706f8b490}">
          <p14:sldIdLst>
            <p14:sldId id="261"/>
            <p14:sldId id="262"/>
            <p14:sldId id="264"/>
            <p14:sldId id="265"/>
          </p14:sldIdLst>
        </p14:section>
        <p14:section name="개념" id="{f2662360-6410-9ede-ae95-8ac96689ab8a}">
          <p14:sldIdLst/>
        </p14:section>
        <p14:section name="연습" id="{fb576034-c748-8aa6-3bb3-4e1766d9d4da}">
          <p14:sldIdLst/>
        </p14:section>
        <p14:section name="확인" id="{b6256d9a-a880-cce6-5c0f-48dd27c14cd8}">
          <p14:sldIdLst>
            <p14:sldId id="266"/>
            <p14:sldId id="267"/>
            <p14:sldId id="268"/>
          </p14:sldIdLst>
        </p14:section>
        <p14:section name="정리" id="{3cf54e99-3261-a62e-10a3-e911da065c79}">
          <p14:sldIdLst>
            <p14:sldId id="269"/>
          </p14:sldIdLst>
        </p14:section>
        <p14:section name="보충" id="{48faa19a-c009-a73f-b2d9-a9bce14dbcaa}">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오늘 배울 것을 알리고, 마을에서 일하는 사람들에게 관심을 갖게 합니다.
시간: 약 2분
이렇게 말해 보세요
- “지난 시간에 마을의 시설을 배웠지? 시설에는 그곳에서 일하는 사람들이 있어. 소방서에는 누가 일할까?”
- “오늘은 마을에서 일하는 사람들이 무슨 일을 하는지, 그 일이 누구를 어떻게 돕는지 알아볼 거야.”
예상 답
- “소방관이요.” “경찰관이요.” “선생님이요.”
막히면
- 오늘 집 밖에서 본 일하는 사람(택배 기사, 버스 기사, 가게 주인 등)을 떠올리게 합니다.
주의
- 화면의 별빛마을 사람들은 수업을 위해 지어낸 것입니다. 아이에게 가족의 직업을 말하라고 하지 않습니다.
- 일하는 사람을 ‘아저씨’, ‘아주머니’ 대신 ‘소방관’, ‘버스 기사님’처럼 직업 이름으로 부르면 남녀 구별 없이 생각하는 데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확인(마을의 시설과 하는 일)]
목적: 앞 차시 ‘마을의 시설’(KR22-G02-SOC-TOWN-L01)에서 배운 시설과 하는 일을 기억하는지 확인합니다. 오늘은 그 시설에서 일하는 사람들로 이어집니다.
시간: 약 3분
이렇게 말해 보세요
- “지난 시간에 배운 시설을 떠올려 볼까? ①, 불을 끄는 시설은 어디였지?”
- “②, ③도 말해 볼래?”
정답
- ① 소방서 ② 도서관 ③ 병원
막히면
- “소방차는 어디에서 나올까?”처럼 아이가 아는 장면으로 묻습니다.
- 세 가지 가운데 두 가지 이상을 말하지 못하면 S15(보충)를 먼저 합니다. 보충으로도 어려우면 앞 차시 ‘마을의 시설’(KR22-G02-SOC-TOWN-L01)의 S03~S05를 다시 합니다.
주의
- ‘보건소’, ‘약국’처럼 비슷한 곳을 말해도 하는 일이 맞으면 받아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마을에서 일하는 사람들 ①]
목적: 마을에서 일하는 사람 네 직업과 그 일을 알려 줍니다(목표 A).
시간: 약 3분
이렇게 말해 보세요
- “카드를 같이 읽어 보자. 소방관은 소방서에서 일해. 무슨 일을 하지?”
- “집배원은 우체국에서 일해. 편지와 소포를 집집마다 전해 줘. 사서는 도서관에서 책을 정리하고 우리가 찾는 책을 찾아 줘.”
- “이 가운데 만나 본 사람이 있어?”
예상 답
- “빵집에서 제빵사를 봤어요.” “택배 아저씨를 봤어요.”
막히면
- 카드마다 “이 사람은 어느 시설에서 일할까?”라고 지난 시간의 시설과 이어서 묻습니다.
주의
- 아이가 ‘택배 아저씨’처럼 말하면 “택배 기사님”처럼 직업 이름으로 바꾸어 말해 줍니다. 택배 기사님도 소포를 전해 주는 일을 합니다.
- ‘사서’는 도서관에서 책과 자료를 관리하고 이용을 돕는 사람입니다.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마을에서 일하는 사람들 ②]
목적: 마을에서 일하는 사람 네 직업과 그 일을 더 알려 줍니다(목표 A).
시간: 약 3분
이렇게 말해 보세요
- “의사는 병을 진찰하고 치료하고, 간호사는 아픈 사람을 돌보고 치료를 도와.”
- “환경미화원은 처음 듣지? 길과 거리를 청소하고 쓰레기를 치워서 마을을 깨끗하게 해 주는 분이야.”
- “버스 기사님이 하루 쉬면 마을 사람들은 어떨까?”
예상 답
- “학교나 회사에 가기 힘들어요.” “걸어가야 해요.”
막히면
- “이 사람이 없으면 무엇이 곤란할까?”라고 거꾸로 물어 그 일이 하는 역할을 떠올리게 합니다.
주의
- 직업마다 남자도 여자도 일하고 있다는 것을 자연스럽게 덧붙여 줍니다(예: “간호사 선생님은 남자도 여자도 있어.”).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시범(그 일이 누구를 어떻게 돕는지 말하기)]
목적: 부모가 생각을 소리 내어 말하며, 한 직업의 일이 누구를 어떻게 돕는지 ‘○○은 ~해서 ~을 도와요.’로 말하는 시범을 보입니다(목표 A, 오해 M1).
시간: 약 3분
이렇게 말해 보세요
- “엄마(아빠)가 먼저 해 볼게. 집배원은 편지를 전해 줘. 그러면 멀리 사는 할머니가 우리 소식을 들을 수 있어. 그래서 ‘집배원은 편지를 전해서 할머니를 도와요.’라고 말할 수 있어.”
- “소방관으로 해 볼래? 소방관은 무엇을 해서 누구를 도와?”
예상 답
- “소방관은 불을 꺼서 사람들을 도와요.”
막히면
- “소방관이 하는 일은? → 그러면 누가 좋아질까?” 두 단계로 나누어 묻습니다.
주의
- ‘누구를’에는 한 사람(할머니)도, 여러 사람(마을 사람들)도 들어갈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직업의 일과 돕는 사람 말하기]
목적: 직업이 하는 일과 그 일이 돕는 사람을 이어서 말합니다(목표 A, 오해 M1).
시간: 약 3분
이렇게 말해 보세요
- “①, 버스 기사님은 무엇을 해서 누구를 도울까? 틀에 맞추어 말해 볼래?”
- “②, ③도 해 보자.”
예상 답
- ① “버스 기사는 버스를 운전해서 학교나 회사에 가는 사람들을 도와요.”
- ② “사서는 책을 찾아 줘서 책을 읽고 싶은 사람을 도와요.”
- ③ “환경미화원은 길을 청소해서 마을 사람들을 도와요.”
- 기준: 하는 일과 도움을 받는 사람이 함께 들어가면 맞습니다.
막히면
- S03·S04의 카드를 다시 보여 주고, 하는 일부터 말하게 한 뒤 “그러면 누가 좋아질까?”라고 묻습니다.
주의
- ‘사람들을 도와요’처럼 넓게 말해도 맞습니다. 할 수 있으면 “어떤 사람들?”이라고 한 번 더 물어 자세히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오해 비교(직업에 대한 남녀 고정관념)]
목적: 직업은 남자만, 여자만 할 수 있는 것이 아니라는 것을 알게 합니다(목표 A, 오해 M2). 누구 말이 맞는지보다 까닭을 말하는지를 봅니다.
시간: 약 3분
이렇게 말해 보세요
- “가와 나 가운데 누구 말이 맞을까? 왜 그렇게 생각해?”
- “소방관이 되려면 무엇이 필요할까? 남자인지 여자인지가 중요할까, 배우고 연습하는 것이 중요할까?”
- “간호사는 어떨까? 버스 기사는?”
정답
- 나. 소방관에게 필요한 것은 불을 끄고 사람을 구하는 방법을 배우고, 몸을 튼튼하게 연습하는 것입니다. 남자 소방관도 여자 소방관도 있습니다.
- 간호사, 버스 기사, 제빵사, 경찰관도 마찬가지로 남자도 여자도 일합니다.
- 기준: ‘누구나 배우고 연습하면 할 수 있어요.’처럼 까닭을 말하면 잘함.
막히면
- “네가 소방관이 되고 싶다면 무엇을 해야 할까?”라고 아이 자신의 일로 바꾸어 묻습니다.
주의
- ‘가’라고 답해도 꾸짖지 않습니다. “그렇게 생각했구나. 그런데 여자 소방관도 많이 있어. 그럼 어떨까?”라고 다시 생각하게 합니다.
- 부모님도 평소에 ‘남자가 하는 일’, ‘여자가 하는 일’처럼 나누어 말하지 않도록 함께 조심합니다.
- 여기까지가 직업과 하는 일을 배우는 부분입니다. 아이가 지치면 여기서 나누어 다음 날 S08부터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서로 돕는 고리(돕기도 하고 도움받기도 함)]
목적: 마을 사람들이 각자의 일로 서로 도움을 주고받는다는 것을 고리 그림으로 보여 줍니다(목표 B, 오해 M3).
시간: 약 3분
이렇게 말해 보세요
- “화살표를 따라가 볼까? 제빵사가 빵을 만들어서 버스 기사님이 아침을 먹어. 버스 기사님은 의사 선생님을 병원까지 태워 줘. 의사 선생님은 감기에 걸린 제빵사를 치료해 줘.”
- “그럼 제빵사는 돕는 사람일까, 도움받는 사람일까?”
예상 답
- “둘 다예요. 빵을 만들어서 돕고, 치료를 받아요.”
막히면
- 손가락으로 화살표 하나씩 따라가며 “누가 누구를 도와?”를 세 번 묻습니다. 그다음 한 사람만 짚고 “이 사람에게 들어오는 화살표와 나가는 화살표가 있지?”라고 묻습니다.
주의
- 아이도 마을을 돕는 사람입니다. 쓰레기를 쓰레기통에 버리면 환경미화원을 돕고, 버스에서 차례를 지키면 버스 기사님을 돕는다고 덧붙여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이야기에서 도운 사람 찾기]
목적: 이야기에서 도움을 준 사람과 도운 일을 찾습니다(목표 B).
시간: 약 3분
이렇게 말해 보세요
- “이야기를 같이 읽어 보자. 하윤이를 도운 사람에 손가락을 짚어 볼래?”
- “그 사람은 하윤이를 어떻게 도왔어?”
정답
- 환경미화원: 길을 깨끗하게 청소했어요.
- 버스 기사: 버스로 도서관까지 태워 줬어요(이야기에 이름은 없지만 버스를 운전한 사람).
- 사서: 공룡 책을 찾아 줬어요.
막히면
- 문장마다 “여기에서 일하는 사람은 누구야?”라고 묻습니다. 버스 기사는 글에 직접 나오지 않으므로 “버스는 누가 운전했을까?”라고 힌트를 줍니다.
주의
- 두 사람만 찾아도 칭찬하고, 버스 기사님은 함께 찾아봅니다. 글에 나오지 않아도 버스를 탔다면 버스 기사님이 도운 것이라는 생각을 넓혀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우리 마을의 고마운 분 찾기(부모와 함께)]
목적: 우리 마을에서 우리 가족을 돕는 분을 찾아, 하는 일과 돕는 방법을 말하고 고마운 마음을 전할 방법을 정합니다(목표 B). 카드는 활동지 5에 씁니다.
시간: 약 4분
이렇게 말해 보세요
- “우리 가족을 도와주는 마을 분을 떠올려 볼까? 아파트(집) 앞을 청소해 주는 분, 택배를 가져다주는 분, 학교 앞에서 길을 건너게 도와주는 분도 있지.”
- “그분은 무슨 일을 해? 그 일이 우리를 어떻게 도와?”
- “다음에 만나면 뭐라고 말할까? 지금 한번 연습해 보자.”
예상 답
- 예: “경비원 선생님이 택배를 맡아 주셔서 고마워요.” “환경미화원님, 길을 깨끗하게 해 주셔서 고맙습니다.”
정답
- 기준: ① 하는 일을 말함 ② 우리를 어떻게 돕는지 말함 ③ 고마운 말을 소리 내어 연습함. 세 가지를 하면 잘한 것입니다. 집마다 떠올리는 분이 다르므로 정해진 답이 없습니다.
막히면
- 부모가 먼저 한 분을 예로 들어 주고, 아이는 고마운 말만 만들어 보게 합니다.
주의
- 일하는 분께 인사할 때는 부모와 함께하고, 일하는 중이면 짧게 인사만 합니다.
- 가족의 직업을 말하게 하지 않습니다. 아이가 스스로 말하면 그 일이 누구를 돕는지 함께 이야기해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하기(직업의 일과 돕는 사람, 고정관념)]
목적: 도움 없이 직업의 일과 돕는 사람을 말하고, 직업에 대한 고정관념이 맞지 않는 까닭을 말하는지 확인합니다(목표 A).
시간: 약 3분
이렇게 말해 보세요
- “이번에는 혼자 해 볼래? ①, ②는 ‘○○은 ~해서 ~을 도와요.’로 말해 줘.”
정답
- ① 예: “집배원은 편지와 소포를 전해서 마을 사람들(멀리 있는 가족)을 도와요.”
- ② 예: “경찰관은 마을을 지켜서(길 잃은 사람을 찾아 줘서) 마을 사람들을 도와요.”
- ③ 맞지 않아요. 남자도 여자도 배우고 연습하면 간호사가 될 수 있어요(남자 간호사도 있어요).
막히면
- 바로 알려 주지 말고 “하는 일이 뭐였지?”라고만 묻습니다. 도움을 받아 해결했다면 기록표에 ‘도움’으로 표시합니다.
주의
- ①②에서 하는 일과 돕는 사람을 모두 말하고, ③에서 까닭을 말하면 목표 A를 이룬 것으로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혼자 하기(서로 돕는 모습 찾기)]
목적: 처음 보는 이야기에서 도움을 준 사람과 받은 사람을 찾고, 한 사람이 돕기도 하고 도움받기도 한다는 것을 말하는지 확인합니다(목표 B).
시간: 약 3분
이렇게 말해 보세요
- “이야기를 소리 내어 읽고 ①, ②에 답해 줘. 활동지 4에도 같은 이야기가 있어.”
- “버스 기사님은 돕는 사람일까, 도움받는 사람일까?”
정답
- ① 버스 기사님(병원까지 태워 줬어요), 의사 선생님(치료해 줬어요)
- ② 제빵사(빵집 주인): 빵을 만들어 팔았어요.
- 버스 기사님은 할아버지를 돕고, 제빵사에게 도움을 받아요. 둘 다 해요.
막히면
- 바로 알려 주지 말고 “빵은 누가 만들었을까?”라고만 묻습니다. 도움을 받아 해결했다면 기록표에 ‘도움’으로 표시합니다.
주의
- ②의 제빵사는 글에 ‘빵집’으로만 나옵니다. ‘빵집 주인’, ‘빵을 만든 사람’이라고 말해도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정답과 피드백]
목적: S11·S12의 답을 확인하고 흔한 실수와 비교합니다.
시간: 약 2분
이렇게 말해 보세요
- “네 답과 왼쪽을 비교해 보자. 오른쪽처럼 말하면 무엇이 아쉬울까?”
예상 답
- “누구를 돕는지 말을 안 했어요.” “간호사는 남자도 할 수 있어요.”
정답
- S11: ① 집배원은 편지와 소포를 전해서 마을 사람들을 도와요. ② 경찰관은 마을을 지켜서 마을 사람들을 도와요. ③ 맞지 않아요(누구나 배우고 연습하면 할 수 있어요).
- S12: ① 버스 기사님, 의사 선생님 ② 제빵사(빵집 주인)
막히면
- 틀린 문제는 S05(틀로 말하기), S07(누구나 할 수 있어요), S08(서로 돕는 고리)로 돌아가 확인합니다.
주의
- 이 장은 학생용 파일에서 빠집니다.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 질문을 알려 줍니다.
시간: 약 2분
이렇게 말해 보세요
- “마을 사람들은 어떻게 살아간다고 했지? 한 문장으로 말해 볼래?”
예상 답
- “서로 도우며 살아요.”
정답
- ① 집배원 ② 누구나(남자도 여자도 배우고 연습하면) ③ 예: 제빵사(빵을 만들어요), 의사(치료해요), 환경미화원(길을 청소해요)
막히면
- S07과 S08을 다시 보여 줍니다.
주의
- 고마움 카드(활동지 5)는 다음 수업 전에 써서 전해 보면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보충(시설과 그곳에서 일하는 사람)]
목적: S02에서 시설과 하는 일을 떠올리기 어려워하면, 시설과 그곳에서 일하는 사람을 짝지으며 시설이 하는 일을 다시 익힙니다.
시간: 약 4분
이렇게 말해 보세요
- “병원에서는 누가 일해? 그분들은 무엇을 해?”
- “우체국에서 일하는 사람은 집배원이야. 집배원은 무엇을 할까?”
정답
- 병원 – 의사·간호사(아픈 사람을 치료해요), 도서관 – 사서(책을 찾아 줘요), 소방서 – 소방관(불을 꺼요), 우체국 – 집배원(편지와 소포를 전해요) (시설, 사람, 하는 일을 짝지어 말하면 맞음)
막히면
- 카드 하나만 골라 “여기 가 본 적 있어? 거기서 누구를 봤어?”라고 경험으로 묻습니다.
주의
- 계획상 앞 차시는 ‘마을의 시설’(KR22-G02-SOC-TOWN-L01)입니다. 보충 뒤에도 시설이 하는 일을 말하기 어려우면 그 차시의 S03~S05를 먼저 다시 합니다.
- 보충이 오래 걸리면 오늘은 여기까지 하고 다음 날 S02부터 다시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5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50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2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2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초2 사회·역사 · 마을과공동체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초2 사회·역사 · 서로 돕는 마을 사람들</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초2 사회·역사 · 서로 돕는 마을 사람들</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4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초2 사회·역사 · 서로 돕는 마을 사람들</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800" b="1" dirty="0">
                <a:solidFill>
                  <a:srgbClr val="FFFFFF"/>
                </a:solidFill>
                <a:latin typeface="맑은 고딕" pitchFamily="34" charset="0"/>
                <a:ea typeface="맑은 고딕" pitchFamily="34" charset="-122"/>
                <a:cs typeface="맑은 고딕" pitchFamily="34" charset="-120"/>
              </a:rPr>
              <a:t>서로 돕는 마을 사람들</a:t>
            </a:r>
            <a:endParaRPr lang="ko-KR" sz="50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200" dirty="0">
                <a:solidFill>
                  <a:srgbClr val="C9DCD8"/>
                </a:solidFill>
                <a:latin typeface="맑은 고딕" pitchFamily="34" charset="0"/>
                <a:ea typeface="맑은 고딕" pitchFamily="34" charset="-122"/>
                <a:cs typeface="맑은 고딕" pitchFamily="34" charset="-120"/>
              </a:rPr>
              <a:t>마을 사람들은</a:t>
            </a:r>
            <a:endParaRPr lang="ko-KR" sz="3200" dirty="0"/>
          </a:p>
          <a:p>
            <a:pPr eaLnBrk="0" indent="0" marL="0">
              <a:buNone/>
            </a:pPr>
            <a:r>
              <a:rPr lang="ko-KR" altLang="en-US" sz="3200" dirty="0">
                <a:solidFill>
                  <a:srgbClr val="C9DCD8"/>
                </a:solidFill>
                <a:latin typeface="맑은 고딕" pitchFamily="34" charset="0"/>
                <a:ea typeface="맑은 고딕" pitchFamily="34" charset="-122"/>
                <a:cs typeface="맑은 고딕" pitchFamily="34" charset="-120"/>
              </a:rPr>
              <a:t>어떻게 서로 도울까?</a:t>
            </a:r>
            <a:endParaRPr lang="ko-KR" sz="3200" dirty="0"/>
          </a:p>
        </p:txBody>
      </p:sp>
      <p:sp>
        <p:nvSpPr>
          <p:cNvPr id="4" name="S01-card1"/>
          <p:cNvSpPr/>
          <p:nvPr/>
        </p:nvSpPr>
        <p:spPr>
          <a:xfrm>
            <a:off x="731520" y="4343400"/>
            <a:ext cx="10725912" cy="1783080"/>
          </a:xfrm>
          <a:prstGeom prst="roundRect">
            <a:avLst>
              <a:gd name="adj" fmla="val 6154"/>
            </a:avLst>
          </a:prstGeom>
          <a:solidFill>
            <a:srgbClr val="32606F"/>
          </a:solidFill>
          <a:ln w="12700">
            <a:solidFill>
              <a:srgbClr val="32606F"/>
            </a:solidFill>
            <a:prstDash val="solid"/>
          </a:ln>
        </p:spPr>
      </p:sp>
      <p:sp>
        <p:nvSpPr>
          <p:cNvPr id="5" name="S01-cardtext2"/>
          <p:cNvSpPr txBox="1"/>
          <p:nvPr/>
        </p:nvSpPr>
        <p:spPr>
          <a:xfrm>
            <a:off x="1005840" y="4480560"/>
            <a:ext cx="10177272"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FFFFFF"/>
                </a:solidFill>
                <a:latin typeface="맑은 고딕" pitchFamily="34" charset="0"/>
                <a:ea typeface="맑은 고딕" pitchFamily="34" charset="-122"/>
                <a:cs typeface="맑은 고딕" pitchFamily="34" charset="-120"/>
              </a:rPr>
              <a:t>오늘 할 수 있게 될 것</a:t>
            </a:r>
            <a:endParaRPr lang="ko-KR" sz="3200" dirty="0"/>
          </a:p>
          <a:p>
            <a:pPr eaLnBrk="0" indent="0" marL="0">
              <a:spcAft>
                <a:spcPts val="600"/>
              </a:spcAft>
              <a:buNone/>
            </a:pPr>
            <a:r>
              <a:rPr lang="ko-KR" altLang="en-US" sz="2600" dirty="0">
                <a:solidFill>
                  <a:srgbClr val="FFFFFF"/>
                </a:solidFill>
                <a:latin typeface="맑은 고딕" pitchFamily="34" charset="0"/>
                <a:ea typeface="맑은 고딕" pitchFamily="34" charset="-122"/>
                <a:cs typeface="맑은 고딕" pitchFamily="34" charset="-120"/>
              </a:rPr>
              <a:t>① 하는 일과 돕는 사람을 말해요.</a:t>
            </a:r>
            <a:endParaRPr lang="ko-KR" sz="3200" dirty="0"/>
          </a:p>
          <a:p>
            <a:pPr eaLnBrk="0" indent="0" marL="0">
              <a:spcAft>
                <a:spcPts val="600"/>
              </a:spcAft>
              <a:buNone/>
            </a:pPr>
            <a:r>
              <a:rPr lang="ko-KR" altLang="en-US" sz="2600" dirty="0">
                <a:solidFill>
                  <a:srgbClr val="FFFFFF"/>
                </a:solidFill>
                <a:latin typeface="맑은 고딕" pitchFamily="34" charset="0"/>
                <a:ea typeface="맑은 고딕" pitchFamily="34" charset="-122"/>
                <a:cs typeface="맑은 고딕" pitchFamily="34" charset="-120"/>
              </a:rPr>
              <a:t>② 서로 돕는 모습을 찾아요.</a:t>
            </a:r>
            <a:endParaRPr lang="ko-KR"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지난 시간 떠올리기</a:t>
            </a:r>
            <a:endParaRPr lang="ko-KR" sz="4400" dirty="0"/>
          </a:p>
        </p:txBody>
      </p:sp>
      <p:sp>
        <p:nvSpPr>
          <p:cNvPr id="3" name="S02-text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시설 이름을 말해요.</a:t>
            </a:r>
            <a:endParaRPr lang="ko-KR" sz="3200" dirty="0"/>
          </a:p>
        </p:txBody>
      </p:sp>
      <p:sp>
        <p:nvSpPr>
          <p:cNvPr id="4" name="S02-chip4"/>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5" name="S02-text5"/>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불을 끄는 시설은?</a:t>
            </a:r>
            <a:endParaRPr lang="ko-KR" sz="3200" dirty="0"/>
          </a:p>
        </p:txBody>
      </p:sp>
      <p:sp>
        <p:nvSpPr>
          <p:cNvPr id="6" name="S02-chip6"/>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7" name="S02-text7"/>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책을 빌리는 시설은?</a:t>
            </a:r>
            <a:endParaRPr lang="ko-KR" sz="3200" dirty="0"/>
          </a:p>
        </p:txBody>
      </p:sp>
      <p:sp>
        <p:nvSpPr>
          <p:cNvPr id="8" name="S02-chip8"/>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9" name="S02-text9"/>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아플 때 가는 시설은?</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마을에서 일하는 사람 ①</a:t>
            </a:r>
            <a:endParaRPr lang="ko-KR" sz="4400" dirty="0"/>
          </a:p>
        </p:txBody>
      </p:sp>
      <p:sp>
        <p:nvSpPr>
          <p:cNvPr id="3" name="S03-card10"/>
          <p:cNvSpPr/>
          <p:nvPr/>
        </p:nvSpPr>
        <p:spPr>
          <a:xfrm>
            <a:off x="548640" y="1325880"/>
            <a:ext cx="5431536" cy="2331720"/>
          </a:xfrm>
          <a:prstGeom prst="roundRect">
            <a:avLst>
              <a:gd name="adj" fmla="val 4706"/>
            </a:avLst>
          </a:prstGeom>
          <a:solidFill>
            <a:srgbClr val="EAF3F1"/>
          </a:solidFill>
          <a:ln w="12700">
            <a:solidFill>
              <a:srgbClr val="EAF3F1"/>
            </a:solidFill>
            <a:prstDash val="solid"/>
          </a:ln>
        </p:spPr>
      </p:sp>
      <p:sp>
        <p:nvSpPr>
          <p:cNvPr id="4" name="S03-cardtext11"/>
          <p:cNvSpPr txBox="1"/>
          <p:nvPr/>
        </p:nvSpPr>
        <p:spPr>
          <a:xfrm>
            <a:off x="822960"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소방관</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불을 끄고</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사람을 구해요.</a:t>
            </a:r>
            <a:endParaRPr lang="ko-KR" sz="3200" dirty="0"/>
          </a:p>
        </p:txBody>
      </p:sp>
      <p:sp>
        <p:nvSpPr>
          <p:cNvPr id="5" name="S03-card12"/>
          <p:cNvSpPr/>
          <p:nvPr/>
        </p:nvSpPr>
        <p:spPr>
          <a:xfrm>
            <a:off x="6208776" y="1325880"/>
            <a:ext cx="5431536" cy="2331720"/>
          </a:xfrm>
          <a:prstGeom prst="roundRect">
            <a:avLst>
              <a:gd name="adj" fmla="val 4706"/>
            </a:avLst>
          </a:prstGeom>
          <a:solidFill>
            <a:srgbClr val="EAF3F1"/>
          </a:solidFill>
          <a:ln w="12700">
            <a:solidFill>
              <a:srgbClr val="EAF3F1"/>
            </a:solidFill>
            <a:prstDash val="solid"/>
          </a:ln>
        </p:spPr>
      </p:sp>
      <p:sp>
        <p:nvSpPr>
          <p:cNvPr id="6" name="S03-cardtext13"/>
          <p:cNvSpPr txBox="1"/>
          <p:nvPr/>
        </p:nvSpPr>
        <p:spPr>
          <a:xfrm>
            <a:off x="6483096"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집배원</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편지와 소포를</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전해 줘요.</a:t>
            </a:r>
            <a:endParaRPr lang="ko-KR" sz="3200" dirty="0"/>
          </a:p>
        </p:txBody>
      </p:sp>
      <p:sp>
        <p:nvSpPr>
          <p:cNvPr id="7" name="S03-card14"/>
          <p:cNvSpPr/>
          <p:nvPr/>
        </p:nvSpPr>
        <p:spPr>
          <a:xfrm>
            <a:off x="548640" y="3886200"/>
            <a:ext cx="5431536" cy="2331720"/>
          </a:xfrm>
          <a:prstGeom prst="roundRect">
            <a:avLst>
              <a:gd name="adj" fmla="val 4706"/>
            </a:avLst>
          </a:prstGeom>
          <a:solidFill>
            <a:srgbClr val="EAF3F1"/>
          </a:solidFill>
          <a:ln w="12700">
            <a:solidFill>
              <a:srgbClr val="EAF3F1"/>
            </a:solidFill>
            <a:prstDash val="solid"/>
          </a:ln>
        </p:spPr>
      </p:sp>
      <p:sp>
        <p:nvSpPr>
          <p:cNvPr id="8" name="S03-cardtext15"/>
          <p:cNvSpPr txBox="1"/>
          <p:nvPr/>
        </p:nvSpPr>
        <p:spPr>
          <a:xfrm>
            <a:off x="822960"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제빵사</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빵을 만들어</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팔아요.</a:t>
            </a:r>
            <a:endParaRPr lang="ko-KR" sz="3200" dirty="0"/>
          </a:p>
        </p:txBody>
      </p:sp>
      <p:sp>
        <p:nvSpPr>
          <p:cNvPr id="9" name="S03-card16"/>
          <p:cNvSpPr/>
          <p:nvPr/>
        </p:nvSpPr>
        <p:spPr>
          <a:xfrm>
            <a:off x="6208776" y="3886200"/>
            <a:ext cx="5431536" cy="2331720"/>
          </a:xfrm>
          <a:prstGeom prst="roundRect">
            <a:avLst>
              <a:gd name="adj" fmla="val 4706"/>
            </a:avLst>
          </a:prstGeom>
          <a:solidFill>
            <a:srgbClr val="EAF3F1"/>
          </a:solidFill>
          <a:ln w="12700">
            <a:solidFill>
              <a:srgbClr val="EAF3F1"/>
            </a:solidFill>
            <a:prstDash val="solid"/>
          </a:ln>
        </p:spPr>
      </p:sp>
      <p:sp>
        <p:nvSpPr>
          <p:cNvPr id="10" name="S03-cardtext17"/>
          <p:cNvSpPr txBox="1"/>
          <p:nvPr/>
        </p:nvSpPr>
        <p:spPr>
          <a:xfrm>
            <a:off x="6483096"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사서</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도서관에서</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책을 찾아 줘요.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마을에서 일하는 사람 ②</a:t>
            </a:r>
            <a:endParaRPr lang="ko-KR" sz="4400" dirty="0"/>
          </a:p>
        </p:txBody>
      </p:sp>
      <p:sp>
        <p:nvSpPr>
          <p:cNvPr id="3" name="S04-card18"/>
          <p:cNvSpPr/>
          <p:nvPr/>
        </p:nvSpPr>
        <p:spPr>
          <a:xfrm>
            <a:off x="548640" y="1325880"/>
            <a:ext cx="5431536" cy="2331720"/>
          </a:xfrm>
          <a:prstGeom prst="roundRect">
            <a:avLst>
              <a:gd name="adj" fmla="val 4706"/>
            </a:avLst>
          </a:prstGeom>
          <a:solidFill>
            <a:srgbClr val="EAF3F1"/>
          </a:solidFill>
          <a:ln w="12700">
            <a:solidFill>
              <a:srgbClr val="EAF3F1"/>
            </a:solidFill>
            <a:prstDash val="solid"/>
          </a:ln>
        </p:spPr>
      </p:sp>
      <p:sp>
        <p:nvSpPr>
          <p:cNvPr id="4" name="S04-cardtext19"/>
          <p:cNvSpPr txBox="1"/>
          <p:nvPr/>
        </p:nvSpPr>
        <p:spPr>
          <a:xfrm>
            <a:off x="822960"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의사·간호사</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아픈 사람을</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치료하고 돌봐요.</a:t>
            </a:r>
            <a:endParaRPr lang="ko-KR" sz="3200" dirty="0"/>
          </a:p>
        </p:txBody>
      </p:sp>
      <p:sp>
        <p:nvSpPr>
          <p:cNvPr id="5" name="S04-card20"/>
          <p:cNvSpPr/>
          <p:nvPr/>
        </p:nvSpPr>
        <p:spPr>
          <a:xfrm>
            <a:off x="6208776" y="1325880"/>
            <a:ext cx="5431536" cy="2331720"/>
          </a:xfrm>
          <a:prstGeom prst="roundRect">
            <a:avLst>
              <a:gd name="adj" fmla="val 4706"/>
            </a:avLst>
          </a:prstGeom>
          <a:solidFill>
            <a:srgbClr val="EAF3F1"/>
          </a:solidFill>
          <a:ln w="12700">
            <a:solidFill>
              <a:srgbClr val="EAF3F1"/>
            </a:solidFill>
            <a:prstDash val="solid"/>
          </a:ln>
        </p:spPr>
      </p:sp>
      <p:sp>
        <p:nvSpPr>
          <p:cNvPr id="6" name="S04-cardtext21"/>
          <p:cNvSpPr txBox="1"/>
          <p:nvPr/>
        </p:nvSpPr>
        <p:spPr>
          <a:xfrm>
            <a:off x="6483096" y="146304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경찰관</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마을을 지키고</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사람들을 도와요.</a:t>
            </a:r>
            <a:endParaRPr lang="ko-KR" sz="3200" dirty="0"/>
          </a:p>
        </p:txBody>
      </p:sp>
      <p:sp>
        <p:nvSpPr>
          <p:cNvPr id="7" name="S04-card22"/>
          <p:cNvSpPr/>
          <p:nvPr/>
        </p:nvSpPr>
        <p:spPr>
          <a:xfrm>
            <a:off x="548640" y="3886200"/>
            <a:ext cx="5431536" cy="2331720"/>
          </a:xfrm>
          <a:prstGeom prst="roundRect">
            <a:avLst>
              <a:gd name="adj" fmla="val 4706"/>
            </a:avLst>
          </a:prstGeom>
          <a:solidFill>
            <a:srgbClr val="EAF3F1"/>
          </a:solidFill>
          <a:ln w="12700">
            <a:solidFill>
              <a:srgbClr val="EAF3F1"/>
            </a:solidFill>
            <a:prstDash val="solid"/>
          </a:ln>
        </p:spPr>
      </p:sp>
      <p:sp>
        <p:nvSpPr>
          <p:cNvPr id="8" name="S04-cardtext23"/>
          <p:cNvSpPr txBox="1"/>
          <p:nvPr/>
        </p:nvSpPr>
        <p:spPr>
          <a:xfrm>
            <a:off x="822960"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버스 기사</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사람들을</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태워 줘요.</a:t>
            </a:r>
            <a:endParaRPr lang="ko-KR" sz="3200" dirty="0"/>
          </a:p>
        </p:txBody>
      </p:sp>
      <p:sp>
        <p:nvSpPr>
          <p:cNvPr id="9" name="S04-card24"/>
          <p:cNvSpPr/>
          <p:nvPr/>
        </p:nvSpPr>
        <p:spPr>
          <a:xfrm>
            <a:off x="6208776" y="3886200"/>
            <a:ext cx="5431536" cy="2331720"/>
          </a:xfrm>
          <a:prstGeom prst="roundRect">
            <a:avLst>
              <a:gd name="adj" fmla="val 4706"/>
            </a:avLst>
          </a:prstGeom>
          <a:solidFill>
            <a:srgbClr val="EAF3F1"/>
          </a:solidFill>
          <a:ln w="12700">
            <a:solidFill>
              <a:srgbClr val="EAF3F1"/>
            </a:solidFill>
            <a:prstDash val="solid"/>
          </a:ln>
        </p:spPr>
      </p:sp>
      <p:sp>
        <p:nvSpPr>
          <p:cNvPr id="10" name="S04-cardtext25"/>
          <p:cNvSpPr txBox="1"/>
          <p:nvPr/>
        </p:nvSpPr>
        <p:spPr>
          <a:xfrm>
            <a:off x="6483096" y="4023360"/>
            <a:ext cx="4882896" cy="205740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환경미화원</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길을 깨끗하게</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청소해요.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누구를 도울까요?</a:t>
            </a:r>
            <a:endParaRPr lang="ko-KR" sz="4400" dirty="0"/>
          </a:p>
        </p:txBody>
      </p:sp>
      <p:sp>
        <p:nvSpPr>
          <p:cNvPr id="3" name="S05-text2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집배원의 일을 따라가 봐요.</a:t>
            </a:r>
            <a:endParaRPr lang="ko-KR" sz="3200" dirty="0"/>
          </a:p>
        </p:txBody>
      </p:sp>
      <p:sp>
        <p:nvSpPr>
          <p:cNvPr id="4" name="S05-card27"/>
          <p:cNvSpPr/>
          <p:nvPr/>
        </p:nvSpPr>
        <p:spPr>
          <a:xfrm>
            <a:off x="548640" y="4897120"/>
            <a:ext cx="11091672" cy="1320800"/>
          </a:xfrm>
          <a:prstGeom prst="roundRect">
            <a:avLst>
              <a:gd name="adj" fmla="val 8308"/>
            </a:avLst>
          </a:prstGeom>
          <a:solidFill>
            <a:srgbClr val="FDEBDD"/>
          </a:solidFill>
          <a:ln w="12700">
            <a:solidFill>
              <a:srgbClr val="FDEBDD"/>
            </a:solidFill>
            <a:prstDash val="solid"/>
          </a:ln>
        </p:spPr>
      </p:sp>
      <p:sp>
        <p:nvSpPr>
          <p:cNvPr id="5" name="S05-cardtext28"/>
          <p:cNvSpPr txBox="1"/>
          <p:nvPr/>
        </p:nvSpPr>
        <p:spPr>
          <a:xfrm>
            <a:off x="822960" y="503428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‘○○은 ~해서 ~을 도와요.’</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예: 집배원은 편지를 전해서 할머니를 도와요.</a:t>
            </a:r>
            <a:endParaRPr lang="ko-KR" sz="3200" dirty="0"/>
          </a:p>
        </p:txBody>
      </p:sp>
      <p:sp>
        <p:nvSpPr>
          <p:cNvPr id="6" name="S05-step29"/>
          <p:cNvSpPr txBox="1"/>
          <p:nvPr/>
        </p:nvSpPr>
        <p:spPr>
          <a:xfrm>
            <a:off x="1293876" y="2562860"/>
            <a:ext cx="2926080"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집배원</a:t>
            </a:r>
            <a:endParaRPr lang="ko-KR" sz="2600" dirty="0"/>
          </a:p>
        </p:txBody>
      </p:sp>
      <p:sp>
        <p:nvSpPr>
          <p:cNvPr id="7" name="S05-line30"/>
          <p:cNvSpPr/>
          <p:nvPr/>
        </p:nvSpPr>
        <p:spPr>
          <a:xfrm>
            <a:off x="4274820" y="3340100"/>
            <a:ext cx="301752" cy="0"/>
          </a:xfrm>
          <a:prstGeom prst="line">
            <a:avLst/>
          </a:prstGeom>
          <a:noFill/>
          <a:ln w="31750">
            <a:solidFill>
              <a:srgbClr val="3D5A80"/>
            </a:solidFill>
            <a:prstDash val="solid"/>
            <a:tailEnd type="triangle"/>
          </a:ln>
        </p:spPr>
      </p:sp>
      <p:sp>
        <p:nvSpPr>
          <p:cNvPr id="8" name="S05-step31"/>
          <p:cNvSpPr txBox="1"/>
          <p:nvPr/>
        </p:nvSpPr>
        <p:spPr>
          <a:xfrm>
            <a:off x="4631436" y="2562860"/>
            <a:ext cx="2926080"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편지를</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전해 줘요.</a:t>
            </a:r>
            <a:endParaRPr lang="ko-KR" sz="2600" dirty="0"/>
          </a:p>
        </p:txBody>
      </p:sp>
      <p:sp>
        <p:nvSpPr>
          <p:cNvPr id="9" name="S05-line32"/>
          <p:cNvSpPr/>
          <p:nvPr/>
        </p:nvSpPr>
        <p:spPr>
          <a:xfrm>
            <a:off x="7612380" y="3340100"/>
            <a:ext cx="301752" cy="0"/>
          </a:xfrm>
          <a:prstGeom prst="line">
            <a:avLst/>
          </a:prstGeom>
          <a:noFill/>
          <a:ln w="31750">
            <a:solidFill>
              <a:srgbClr val="3D5A80"/>
            </a:solidFill>
            <a:prstDash val="solid"/>
            <a:tailEnd type="triangle"/>
          </a:ln>
        </p:spPr>
      </p:sp>
      <p:sp>
        <p:nvSpPr>
          <p:cNvPr id="10" name="S05-step33"/>
          <p:cNvSpPr txBox="1"/>
          <p:nvPr/>
        </p:nvSpPr>
        <p:spPr>
          <a:xfrm>
            <a:off x="7968996" y="2562860"/>
            <a:ext cx="2926080" cy="1554480"/>
          </a:xfrm>
          <a:prstGeom prst="roundRect">
            <a:avLst>
              <a:gd name="adj" fmla="val 7059"/>
            </a:avLst>
          </a:prstGeom>
          <a:solidFill>
            <a:srgbClr val="EAF3F1"/>
          </a:solidFill>
          <a:ln w="19050">
            <a:solidFill>
              <a:srgbClr val="264653"/>
            </a:solidFill>
          </a:ln>
        </p:spPr>
        <p:txBody>
          <a:bodyPr wrap="square" lIns="76200" tIns="50800" rIns="76200" bIns="5080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할머니가</a:t>
            </a:r>
            <a:endParaRPr lang="ko-KR" sz="2600" dirty="0"/>
          </a:p>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소식을 들어요.</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어떻게 도울까요?</a:t>
            </a:r>
            <a:endParaRPr lang="ko-KR" sz="4400" dirty="0"/>
          </a:p>
        </p:txBody>
      </p:sp>
      <p:sp>
        <p:nvSpPr>
          <p:cNvPr id="3" name="S06-text3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‘○○은 ~해서 ~을 도와요.’로 말해요.</a:t>
            </a:r>
            <a:endParaRPr lang="ko-KR" sz="3200" dirty="0"/>
          </a:p>
        </p:txBody>
      </p:sp>
      <p:sp>
        <p:nvSpPr>
          <p:cNvPr id="4" name="S06-chip35"/>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5" name="S06-text36"/>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버스 기사</a:t>
            </a:r>
            <a:endParaRPr lang="ko-KR" sz="3200" dirty="0"/>
          </a:p>
        </p:txBody>
      </p:sp>
      <p:sp>
        <p:nvSpPr>
          <p:cNvPr id="6" name="S06-chip37"/>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7" name="S06-text38"/>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사서</a:t>
            </a:r>
            <a:endParaRPr lang="ko-KR" sz="3200" dirty="0"/>
          </a:p>
        </p:txBody>
      </p:sp>
      <p:sp>
        <p:nvSpPr>
          <p:cNvPr id="8" name="S06-chip39"/>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9" name="S06-text40"/>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환경미화원</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소방관은 누가 할까?</a:t>
            </a:r>
            <a:endParaRPr lang="ko-KR" sz="4400" dirty="0"/>
          </a:p>
        </p:txBody>
      </p:sp>
      <p:sp>
        <p:nvSpPr>
          <p:cNvPr id="3" name="S07-card41"/>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7-cardtext42"/>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소방관에 대해 두 친구가 말했어요.</a:t>
            </a:r>
            <a:endParaRPr lang="ko-KR" sz="3200" dirty="0"/>
          </a:p>
        </p:txBody>
      </p:sp>
      <p:sp>
        <p:nvSpPr>
          <p:cNvPr id="5" name="S07-card4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4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누구 말이 맞을까요? 왜 그럴까요?</a:t>
            </a:r>
            <a:endParaRPr lang="ko-KR" sz="3200" dirty="0"/>
          </a:p>
        </p:txBody>
      </p:sp>
      <p:sp>
        <p:nvSpPr>
          <p:cNvPr id="7" name="S07-chip45"/>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가</a:t>
            </a:r>
            <a:endParaRPr lang="ko-KR" sz="2600" dirty="0"/>
          </a:p>
        </p:txBody>
      </p:sp>
      <p:sp>
        <p:nvSpPr>
          <p:cNvPr id="8" name="S07-text46"/>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“소방관은</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남자만 할 수 있어요.”</a:t>
            </a:r>
            <a:endParaRPr lang="ko-KR" sz="3200" dirty="0"/>
          </a:p>
        </p:txBody>
      </p:sp>
      <p:sp>
        <p:nvSpPr>
          <p:cNvPr id="9" name="S07-chip47"/>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나</a:t>
            </a:r>
            <a:endParaRPr lang="ko-KR" sz="2600" dirty="0"/>
          </a:p>
        </p:txBody>
      </p:sp>
      <p:sp>
        <p:nvSpPr>
          <p:cNvPr id="10" name="S07-text48"/>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“배우고 연습하면</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누구나 할 수 있어요.”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서로 돕는 고리</a:t>
            </a:r>
            <a:endParaRPr lang="ko-KR" sz="4400" dirty="0"/>
          </a:p>
        </p:txBody>
      </p:sp>
      <p:sp>
        <p:nvSpPr>
          <p:cNvPr id="3" name="S08-text4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화살표는 돕는 사람에서 도움받는 사람으로 가요.</a:t>
            </a:r>
            <a:endParaRPr lang="ko-KR" sz="3200" dirty="0"/>
          </a:p>
        </p:txBody>
      </p:sp>
      <p:sp>
        <p:nvSpPr>
          <p:cNvPr id="4" name="S08-card5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8-cardtext5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모두 돕기도 하고, 도움을 받기도 해요.</a:t>
            </a:r>
            <a:endParaRPr lang="ko-KR" sz="3200" dirty="0"/>
          </a:p>
        </p:txBody>
      </p:sp>
      <p:sp>
        <p:nvSpPr>
          <p:cNvPr id="6" name="S08-figure52" descr="세 사람이 서로 돕는 그림. 위에 제빵사, 오른쪽 아래에 버스 기사, 왼쪽 아래에 의사가 있다. 제빵사에서 버스 기사로 ‘빵을 만들어요’ 화살표, 버스 기사에서 의사로 ‘태워 줘요’ 화살표, 의사에서 제빵사로 ‘치료해요’ 화살표가 이어져 한 바퀴를 이룬다."/>
          <p:cNvSpPr/>
          <p:nvPr/>
        </p:nvSpPr>
        <p:spPr>
          <a:xfrm>
            <a:off x="4828893" y="2110740"/>
            <a:ext cx="2531165" cy="759350"/>
          </a:xfrm>
          <a:custGeom>
            <a:avLst/>
            <a:gdLst/>
            <a:ahLst/>
            <a:cxnLst/>
            <a:rect l="l" t="t" r="r" b="b"/>
            <a:pathLst>
              <a:path w="2531165" h="759350">
                <a:moveTo>
                  <a:pt x="0" y="759350"/>
                </a:moveTo>
                <a:lnTo>
                  <a:pt x="2531165" y="759350"/>
                </a:lnTo>
                <a:lnTo>
                  <a:pt x="2531165" y="0"/>
                </a:lnTo>
                <a:lnTo>
                  <a:pt x="0" y="0"/>
                </a:lnTo>
                <a:close/>
              </a:path>
            </a:pathLst>
          </a:custGeom>
          <a:solidFill>
            <a:srgbClr val="FDEBDD"/>
          </a:solidFill>
          <a:ln w="19050">
            <a:solidFill>
              <a:srgbClr val="1F2937"/>
            </a:solidFill>
            <a:prstDash val="solid"/>
          </a:ln>
        </p:spPr>
      </p:sp>
      <p:sp>
        <p:nvSpPr>
          <p:cNvPr id="7" name="S08-mark53"/>
          <p:cNvSpPr/>
          <p:nvPr/>
        </p:nvSpPr>
        <p:spPr>
          <a:xfrm>
            <a:off x="7423338" y="4262230"/>
            <a:ext cx="2531165" cy="759350"/>
          </a:xfrm>
          <a:custGeom>
            <a:avLst/>
            <a:gdLst/>
            <a:ahLst/>
            <a:cxnLst/>
            <a:rect l="l" t="t" r="r" b="b"/>
            <a:pathLst>
              <a:path w="2531165" h="759350">
                <a:moveTo>
                  <a:pt x="0" y="759350"/>
                </a:moveTo>
                <a:lnTo>
                  <a:pt x="2531165" y="759350"/>
                </a:lnTo>
                <a:lnTo>
                  <a:pt x="2531165" y="0"/>
                </a:lnTo>
                <a:lnTo>
                  <a:pt x="0" y="0"/>
                </a:lnTo>
                <a:close/>
              </a:path>
            </a:pathLst>
          </a:custGeom>
          <a:solidFill>
            <a:srgbClr val="E6ECF4"/>
          </a:solidFill>
          <a:ln w="19050">
            <a:solidFill>
              <a:srgbClr val="1F2937"/>
            </a:solidFill>
            <a:prstDash val="solid"/>
          </a:ln>
        </p:spPr>
      </p:sp>
      <p:sp>
        <p:nvSpPr>
          <p:cNvPr id="8" name="S08-mark54"/>
          <p:cNvSpPr/>
          <p:nvPr/>
        </p:nvSpPr>
        <p:spPr>
          <a:xfrm>
            <a:off x="2234449" y="4262230"/>
            <a:ext cx="2531165" cy="759350"/>
          </a:xfrm>
          <a:custGeom>
            <a:avLst/>
            <a:gdLst/>
            <a:ahLst/>
            <a:cxnLst/>
            <a:rect l="l" t="t" r="r" b="b"/>
            <a:pathLst>
              <a:path w="2531165" h="759350">
                <a:moveTo>
                  <a:pt x="0" y="759350"/>
                </a:moveTo>
                <a:lnTo>
                  <a:pt x="2531165" y="759350"/>
                </a:lnTo>
                <a:lnTo>
                  <a:pt x="2531165" y="0"/>
                </a:lnTo>
                <a:lnTo>
                  <a:pt x="0" y="0"/>
                </a:lnTo>
                <a:close/>
              </a:path>
            </a:pathLst>
          </a:custGeom>
          <a:solidFill>
            <a:srgbClr val="E3F4F1"/>
          </a:solidFill>
          <a:ln w="19050">
            <a:solidFill>
              <a:srgbClr val="1F2937"/>
            </a:solidFill>
            <a:prstDash val="solid"/>
          </a:ln>
        </p:spPr>
      </p:sp>
      <p:sp>
        <p:nvSpPr>
          <p:cNvPr id="9" name="S08-mark55"/>
          <p:cNvSpPr/>
          <p:nvPr/>
        </p:nvSpPr>
        <p:spPr>
          <a:xfrm>
            <a:off x="6980384" y="2933369"/>
            <a:ext cx="1328862" cy="1233943"/>
          </a:xfrm>
          <a:prstGeom prst="line">
            <a:avLst/>
          </a:prstGeom>
          <a:noFill/>
          <a:ln w="38100">
            <a:solidFill>
              <a:srgbClr val="3D5A80"/>
            </a:solidFill>
            <a:prstDash val="solid"/>
            <a:tailEnd type="triangle"/>
          </a:ln>
        </p:spPr>
      </p:sp>
      <p:sp>
        <p:nvSpPr>
          <p:cNvPr id="10" name="S08-mark56"/>
          <p:cNvSpPr/>
          <p:nvPr/>
        </p:nvSpPr>
        <p:spPr>
          <a:xfrm flipH="1">
            <a:off x="4860533" y="4705184"/>
            <a:ext cx="2467886" cy="0"/>
          </a:xfrm>
          <a:prstGeom prst="line">
            <a:avLst/>
          </a:prstGeom>
          <a:noFill/>
          <a:ln w="38100">
            <a:solidFill>
              <a:srgbClr val="3D5A80"/>
            </a:solidFill>
            <a:prstDash val="solid"/>
            <a:tailEnd type="triangle"/>
          </a:ln>
        </p:spPr>
      </p:sp>
      <p:sp>
        <p:nvSpPr>
          <p:cNvPr id="11" name="S08-mark57"/>
          <p:cNvSpPr/>
          <p:nvPr/>
        </p:nvSpPr>
        <p:spPr>
          <a:xfrm flipV="1">
            <a:off x="3879706" y="2933369"/>
            <a:ext cx="1328862" cy="1233943"/>
          </a:xfrm>
          <a:prstGeom prst="line">
            <a:avLst/>
          </a:prstGeom>
          <a:noFill/>
          <a:ln w="38100">
            <a:solidFill>
              <a:srgbClr val="3D5A80"/>
            </a:solidFill>
            <a:prstDash val="solid"/>
            <a:tailEnd type="triangle"/>
          </a:ln>
        </p:spPr>
      </p:sp>
      <p:sp>
        <p:nvSpPr>
          <p:cNvPr id="12" name="S08-label59"/>
          <p:cNvSpPr txBox="1"/>
          <p:nvPr/>
        </p:nvSpPr>
        <p:spPr>
          <a:xfrm>
            <a:off x="5554218" y="2284040"/>
            <a:ext cx="1080516" cy="412750"/>
          </a:xfrm>
          <a:prstGeom prst="rect">
            <a:avLst/>
          </a:prstGeom>
          <a:noFill/>
          <a:ln/>
        </p:spPr>
        <p:txBody>
          <a:bodyPr wrap="square" lIns="0" tIns="0" rIns="0" bIns="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제빵사</a:t>
            </a:r>
            <a:endParaRPr lang="ko-KR" sz="2600" dirty="0"/>
          </a:p>
        </p:txBody>
      </p:sp>
      <p:sp>
        <p:nvSpPr>
          <p:cNvPr id="13" name="S08-label61"/>
          <p:cNvSpPr txBox="1"/>
          <p:nvPr/>
        </p:nvSpPr>
        <p:spPr>
          <a:xfrm>
            <a:off x="7937334" y="4435530"/>
            <a:ext cx="1503172" cy="412750"/>
          </a:xfrm>
          <a:prstGeom prst="rect">
            <a:avLst/>
          </a:prstGeom>
          <a:noFill/>
          <a:ln/>
        </p:spPr>
        <p:txBody>
          <a:bodyPr wrap="square" lIns="0" tIns="0" rIns="0" bIns="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버스 기사</a:t>
            </a:r>
            <a:endParaRPr lang="ko-KR" sz="2600" dirty="0"/>
          </a:p>
        </p:txBody>
      </p:sp>
      <p:sp>
        <p:nvSpPr>
          <p:cNvPr id="14" name="S08-label63"/>
          <p:cNvSpPr txBox="1"/>
          <p:nvPr/>
        </p:nvSpPr>
        <p:spPr>
          <a:xfrm>
            <a:off x="3121572" y="4435530"/>
            <a:ext cx="756920" cy="412750"/>
          </a:xfrm>
          <a:prstGeom prst="rect">
            <a:avLst/>
          </a:prstGeom>
          <a:noFill/>
          <a:ln/>
        </p:spPr>
        <p:txBody>
          <a:bodyPr wrap="square" lIns="0" tIns="0" rIns="0" bIns="0" rtlCol="0" anchor="ctr"/>
          <a:lstStyle/>
          <a:p>
            <a:pPr eaLnBrk="0" algn="ctr" indent="0" marL="0">
              <a:buNone/>
            </a:pPr>
            <a:r>
              <a:rPr lang="ko-KR" altLang="en-US" sz="2600" b="1" dirty="0">
                <a:solidFill>
                  <a:srgbClr val="1F2937"/>
                </a:solidFill>
                <a:latin typeface="맑은 고딕" pitchFamily="34" charset="0"/>
                <a:ea typeface="맑은 고딕" pitchFamily="34" charset="-122"/>
                <a:cs typeface="맑은 고딕" pitchFamily="34" charset="-120"/>
              </a:rPr>
              <a:t>의사</a:t>
            </a:r>
            <a:endParaRPr lang="ko-KR" sz="2600" dirty="0"/>
          </a:p>
        </p:txBody>
      </p:sp>
      <p:sp>
        <p:nvSpPr>
          <p:cNvPr id="15" name="S08-label65"/>
          <p:cNvSpPr txBox="1"/>
          <p:nvPr/>
        </p:nvSpPr>
        <p:spPr>
          <a:xfrm>
            <a:off x="7993413" y="3201587"/>
            <a:ext cx="2150364" cy="412750"/>
          </a:xfrm>
          <a:prstGeom prst="rect">
            <a:avLst/>
          </a:prstGeom>
          <a:noFill/>
          <a:ln/>
        </p:spPr>
        <p:txBody>
          <a:bodyPr wrap="square" lIns="0" tIns="0" rIns="0" bIns="0" rtlCol="0" anchor="ctr"/>
          <a:lstStyle/>
          <a:p>
            <a:pPr eaLnBrk="0" algn="ctr" indent="0" marL="0">
              <a:buNone/>
            </a:pPr>
            <a:r>
              <a:rPr lang="ko-KR" altLang="en-US" sz="2600" dirty="0">
                <a:solidFill>
                  <a:srgbClr val="1F2937"/>
                </a:solidFill>
                <a:latin typeface="맑은 고딕" pitchFamily="34" charset="0"/>
                <a:ea typeface="맑은 고딕" pitchFamily="34" charset="-122"/>
                <a:cs typeface="맑은 고딕" pitchFamily="34" charset="-120"/>
              </a:rPr>
              <a:t>빵을 만들어요</a:t>
            </a:r>
            <a:endParaRPr lang="ko-KR" sz="2600" dirty="0"/>
          </a:p>
        </p:txBody>
      </p:sp>
      <p:sp>
        <p:nvSpPr>
          <p:cNvPr id="16" name="S08-label67"/>
          <p:cNvSpPr txBox="1"/>
          <p:nvPr/>
        </p:nvSpPr>
        <p:spPr>
          <a:xfrm>
            <a:off x="5342890" y="4182414"/>
            <a:ext cx="1503172" cy="412750"/>
          </a:xfrm>
          <a:prstGeom prst="rect">
            <a:avLst/>
          </a:prstGeom>
          <a:noFill/>
          <a:ln/>
        </p:spPr>
        <p:txBody>
          <a:bodyPr wrap="square" lIns="0" tIns="0" rIns="0" bIns="0" rtlCol="0" anchor="ctr"/>
          <a:lstStyle/>
          <a:p>
            <a:pPr eaLnBrk="0" algn="ctr" indent="0" marL="0">
              <a:buNone/>
            </a:pPr>
            <a:r>
              <a:rPr lang="ko-KR" altLang="en-US" sz="2600" dirty="0">
                <a:solidFill>
                  <a:srgbClr val="1F2937"/>
                </a:solidFill>
                <a:latin typeface="맑은 고딕" pitchFamily="34" charset="0"/>
                <a:ea typeface="맑은 고딕" pitchFamily="34" charset="-122"/>
                <a:cs typeface="맑은 고딕" pitchFamily="34" charset="-120"/>
              </a:rPr>
              <a:t>태워 줘요</a:t>
            </a:r>
            <a:endParaRPr lang="ko-KR" sz="2600" dirty="0"/>
          </a:p>
        </p:txBody>
      </p:sp>
      <p:sp>
        <p:nvSpPr>
          <p:cNvPr id="17" name="S08-label69"/>
          <p:cNvSpPr txBox="1"/>
          <p:nvPr/>
        </p:nvSpPr>
        <p:spPr>
          <a:xfrm>
            <a:off x="2481580" y="3201587"/>
            <a:ext cx="1404112" cy="412750"/>
          </a:xfrm>
          <a:prstGeom prst="rect">
            <a:avLst/>
          </a:prstGeom>
          <a:noFill/>
          <a:ln/>
        </p:spPr>
        <p:txBody>
          <a:bodyPr wrap="square" lIns="0" tIns="0" rIns="0" bIns="0" rtlCol="0" anchor="ctr"/>
          <a:lstStyle/>
          <a:p>
            <a:pPr eaLnBrk="0" algn="ctr" indent="0" marL="0">
              <a:buNone/>
            </a:pPr>
            <a:r>
              <a:rPr lang="ko-KR" altLang="en-US" sz="2600" dirty="0">
                <a:solidFill>
                  <a:srgbClr val="1F2937"/>
                </a:solidFill>
                <a:latin typeface="맑은 고딕" pitchFamily="34" charset="0"/>
                <a:ea typeface="맑은 고딕" pitchFamily="34" charset="-122"/>
                <a:cs typeface="맑은 고딕" pitchFamily="34" charset="-120"/>
              </a:rPr>
              <a:t>치료해요</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하윤이의 토요일</a:t>
            </a:r>
            <a:endParaRPr lang="ko-KR" sz="4400" dirty="0"/>
          </a:p>
        </p:txBody>
      </p:sp>
      <p:sp>
        <p:nvSpPr>
          <p:cNvPr id="3" name="S09-card70"/>
          <p:cNvSpPr/>
          <p:nvPr/>
        </p:nvSpPr>
        <p:spPr>
          <a:xfrm>
            <a:off x="548640" y="4897120"/>
            <a:ext cx="11091672" cy="1320800"/>
          </a:xfrm>
          <a:prstGeom prst="roundRect">
            <a:avLst>
              <a:gd name="adj" fmla="val 8308"/>
            </a:avLst>
          </a:prstGeom>
          <a:solidFill>
            <a:srgbClr val="FDEBDD"/>
          </a:solidFill>
          <a:ln w="12700">
            <a:solidFill>
              <a:srgbClr val="FDEBDD"/>
            </a:solidFill>
            <a:prstDash val="solid"/>
          </a:ln>
        </p:spPr>
      </p:sp>
      <p:sp>
        <p:nvSpPr>
          <p:cNvPr id="4" name="S09-cardtext71"/>
          <p:cNvSpPr txBox="1"/>
          <p:nvPr/>
        </p:nvSpPr>
        <p:spPr>
          <a:xfrm>
            <a:off x="822960" y="503428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하윤이를 도운 사람은 누구누구일까요?</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어떻게 도왔나요?</a:t>
            </a:r>
            <a:endParaRPr lang="ko-KR" sz="3200" dirty="0"/>
          </a:p>
        </p:txBody>
      </p:sp>
      <p:sp>
        <p:nvSpPr>
          <p:cNvPr id="5" name="S09-passagebox72"/>
          <p:cNvSpPr/>
          <p:nvPr/>
        </p:nvSpPr>
        <p:spPr>
          <a:xfrm>
            <a:off x="548640" y="1325880"/>
            <a:ext cx="11091672" cy="3342640"/>
          </a:xfrm>
          <a:prstGeom prst="roundRect">
            <a:avLst>
              <a:gd name="adj" fmla="val 2736"/>
            </a:avLst>
          </a:prstGeom>
          <a:solidFill>
            <a:srgbClr val="FFFFFF"/>
          </a:solidFill>
          <a:ln w="19050">
            <a:solidFill>
              <a:srgbClr val="264653"/>
            </a:solidFill>
            <a:prstDash val="solid"/>
          </a:ln>
        </p:spPr>
      </p:sp>
      <p:sp>
        <p:nvSpPr>
          <p:cNvPr id="6" name="S09-passage73"/>
          <p:cNvSpPr txBox="1"/>
          <p:nvPr/>
        </p:nvSpPr>
        <p:spPr>
          <a:xfrm>
            <a:off x="822960" y="1508760"/>
            <a:ext cx="10543032" cy="297688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환경미화원 덕분에 길이 깨끗해요.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하윤이는 버스를 타고 도서관에 갔어요.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사서 선생님이 공룡 책을 찾아 주셨어요.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고마운 분 찾기</a:t>
            </a:r>
            <a:endParaRPr lang="ko-KR" sz="4400" dirty="0"/>
          </a:p>
        </p:txBody>
      </p:sp>
      <p:sp>
        <p:nvSpPr>
          <p:cNvPr id="3" name="S10-text7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엄마(아빠)와 함께 해요.</a:t>
            </a:r>
            <a:endParaRPr lang="ko-KR" sz="3200" dirty="0"/>
          </a:p>
        </p:txBody>
      </p:sp>
      <p:sp>
        <p:nvSpPr>
          <p:cNvPr id="4" name="S10-card75"/>
          <p:cNvSpPr/>
          <p:nvPr/>
        </p:nvSpPr>
        <p:spPr>
          <a:xfrm>
            <a:off x="6813652" y="2011680"/>
            <a:ext cx="4826660" cy="4206240"/>
          </a:xfrm>
          <a:prstGeom prst="roundRect">
            <a:avLst>
              <a:gd name="adj" fmla="val 2609"/>
            </a:avLst>
          </a:prstGeom>
          <a:solidFill>
            <a:srgbClr val="EAF3F1"/>
          </a:solidFill>
          <a:ln w="12700">
            <a:solidFill>
              <a:srgbClr val="EAF3F1"/>
            </a:solidFill>
            <a:prstDash val="solid"/>
          </a:ln>
        </p:spPr>
      </p:sp>
      <p:sp>
        <p:nvSpPr>
          <p:cNvPr id="5" name="S10-cardtext76"/>
          <p:cNvSpPr txBox="1"/>
          <p:nvPr/>
        </p:nvSpPr>
        <p:spPr>
          <a:xfrm>
            <a:off x="7087972" y="2148840"/>
            <a:ext cx="4278020" cy="393192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이렇게 하면 잘한 거예요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하는 일을 말했어요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돕는 방법을 말했어요</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 고마운 말을 했어요</a:t>
            </a:r>
            <a:endParaRPr lang="ko-KR" sz="3200" dirty="0"/>
          </a:p>
        </p:txBody>
      </p:sp>
      <p:sp>
        <p:nvSpPr>
          <p:cNvPr id="6" name="S10-stepno77"/>
          <p:cNvSpPr txBox="1"/>
          <p:nvPr/>
        </p:nvSpPr>
        <p:spPr>
          <a:xfrm>
            <a:off x="548640" y="27706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7" name="S10-text78"/>
          <p:cNvSpPr txBox="1"/>
          <p:nvPr/>
        </p:nvSpPr>
        <p:spPr>
          <a:xfrm>
            <a:off x="1325880" y="2770632"/>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우리를 돕는 분을 떠올려요.</a:t>
            </a:r>
            <a:endParaRPr lang="ko-KR" sz="3200" dirty="0"/>
          </a:p>
        </p:txBody>
      </p:sp>
      <p:sp>
        <p:nvSpPr>
          <p:cNvPr id="8" name="S10-stepno79"/>
          <p:cNvSpPr txBox="1"/>
          <p:nvPr/>
        </p:nvSpPr>
        <p:spPr>
          <a:xfrm>
            <a:off x="548640" y="348386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9" name="S10-text80"/>
          <p:cNvSpPr txBox="1"/>
          <p:nvPr/>
        </p:nvSpPr>
        <p:spPr>
          <a:xfrm>
            <a:off x="1325880" y="3483864"/>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그분이 하는 일을 말해요.</a:t>
            </a:r>
            <a:endParaRPr lang="ko-KR" sz="3200" dirty="0"/>
          </a:p>
        </p:txBody>
      </p:sp>
      <p:sp>
        <p:nvSpPr>
          <p:cNvPr id="10" name="S10-stepno81"/>
          <p:cNvSpPr txBox="1"/>
          <p:nvPr/>
        </p:nvSpPr>
        <p:spPr>
          <a:xfrm>
            <a:off x="548640" y="419709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1" name="S10-text82"/>
          <p:cNvSpPr txBox="1"/>
          <p:nvPr/>
        </p:nvSpPr>
        <p:spPr>
          <a:xfrm>
            <a:off x="1325880" y="4197096"/>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어떻게 돕는지 말해요.</a:t>
            </a:r>
            <a:endParaRPr lang="ko-KR" sz="3200" dirty="0"/>
          </a:p>
        </p:txBody>
      </p:sp>
      <p:sp>
        <p:nvSpPr>
          <p:cNvPr id="12" name="S10-stepno83"/>
          <p:cNvSpPr txBox="1"/>
          <p:nvPr/>
        </p:nvSpPr>
        <p:spPr>
          <a:xfrm>
            <a:off x="548640" y="49103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3" name="S10-text84"/>
          <p:cNvSpPr txBox="1"/>
          <p:nvPr/>
        </p:nvSpPr>
        <p:spPr>
          <a:xfrm>
            <a:off x="1325880" y="4910328"/>
            <a:ext cx="5122012" cy="548640"/>
          </a:xfrm>
          <a:prstGeom prst="rect">
            <a:avLst/>
          </a:prstGeom>
          <a:noFill/>
          <a:ln/>
        </p:spPr>
        <p:txBody>
          <a:bodyPr wrap="square" lIns="0" tIns="0" rIns="0" bIns="0" rtlCol="0" anchor="t"/>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고마운 마음을 전해요.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혼자 해 보기</a:t>
            </a:r>
            <a:endParaRPr lang="ko-KR" sz="4400" dirty="0"/>
          </a:p>
        </p:txBody>
      </p:sp>
      <p:sp>
        <p:nvSpPr>
          <p:cNvPr id="3" name="S11-chip85"/>
          <p:cNvSpPr txBox="1"/>
          <p:nvPr/>
        </p:nvSpPr>
        <p:spPr>
          <a:xfrm>
            <a:off x="548640" y="17739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①</a:t>
            </a:r>
            <a:endParaRPr lang="ko-KR" sz="2600" dirty="0"/>
          </a:p>
        </p:txBody>
      </p:sp>
      <p:sp>
        <p:nvSpPr>
          <p:cNvPr id="4" name="S11-text86"/>
          <p:cNvSpPr txBox="1"/>
          <p:nvPr/>
        </p:nvSpPr>
        <p:spPr>
          <a:xfrm>
            <a:off x="1344168" y="132588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집배원은 무엇을 해서 누구를 도와요?</a:t>
            </a:r>
            <a:endParaRPr lang="ko-KR" sz="3200" dirty="0"/>
          </a:p>
        </p:txBody>
      </p:sp>
      <p:sp>
        <p:nvSpPr>
          <p:cNvPr id="5" name="S11-chip87"/>
          <p:cNvSpPr txBox="1"/>
          <p:nvPr/>
        </p:nvSpPr>
        <p:spPr>
          <a:xfrm>
            <a:off x="548640" y="34655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②</a:t>
            </a:r>
            <a:endParaRPr lang="ko-KR" sz="2600" dirty="0"/>
          </a:p>
        </p:txBody>
      </p:sp>
      <p:sp>
        <p:nvSpPr>
          <p:cNvPr id="6" name="S11-text88"/>
          <p:cNvSpPr txBox="1"/>
          <p:nvPr/>
        </p:nvSpPr>
        <p:spPr>
          <a:xfrm>
            <a:off x="1344168" y="301752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경찰관은 무엇을 해서 누구를 도와요?</a:t>
            </a:r>
            <a:endParaRPr lang="ko-KR" sz="3200" dirty="0"/>
          </a:p>
        </p:txBody>
      </p:sp>
      <p:sp>
        <p:nvSpPr>
          <p:cNvPr id="7" name="S11-chip89"/>
          <p:cNvSpPr txBox="1"/>
          <p:nvPr/>
        </p:nvSpPr>
        <p:spPr>
          <a:xfrm>
            <a:off x="548640" y="51572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600" b="1" dirty="0">
                <a:solidFill>
                  <a:srgbClr val="FFFFFF"/>
                </a:solidFill>
                <a:latin typeface="맑은 고딕" pitchFamily="34" charset="0"/>
                <a:ea typeface="맑은 고딕" pitchFamily="34" charset="-122"/>
                <a:cs typeface="맑은 고딕" pitchFamily="34" charset="-120"/>
              </a:rPr>
              <a:t>③</a:t>
            </a:r>
            <a:endParaRPr lang="ko-KR" sz="2600" dirty="0"/>
          </a:p>
        </p:txBody>
      </p:sp>
      <p:sp>
        <p:nvSpPr>
          <p:cNvPr id="8" name="S11-text90"/>
          <p:cNvSpPr txBox="1"/>
          <p:nvPr/>
        </p:nvSpPr>
        <p:spPr>
          <a:xfrm>
            <a:off x="1344168" y="4709160"/>
            <a:ext cx="10296144" cy="14630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“간호사는 여자만 할 수 있어요.”</a:t>
            </a:r>
            <a:endParaRPr lang="ko-KR" sz="3200" dirty="0"/>
          </a:p>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맞는 말일까요? 왜요?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비 오는 날</a:t>
            </a:r>
            <a:endParaRPr lang="ko-KR" sz="4400" dirty="0"/>
          </a:p>
        </p:txBody>
      </p:sp>
      <p:sp>
        <p:nvSpPr>
          <p:cNvPr id="3" name="S12-card91"/>
          <p:cNvSpPr/>
          <p:nvPr/>
        </p:nvSpPr>
        <p:spPr>
          <a:xfrm>
            <a:off x="548640" y="4897120"/>
            <a:ext cx="11091672" cy="1320800"/>
          </a:xfrm>
          <a:prstGeom prst="roundRect">
            <a:avLst>
              <a:gd name="adj" fmla="val 8308"/>
            </a:avLst>
          </a:prstGeom>
          <a:solidFill>
            <a:srgbClr val="FDEBDD"/>
          </a:solidFill>
          <a:ln w="12700">
            <a:solidFill>
              <a:srgbClr val="FDEBDD"/>
            </a:solidFill>
            <a:prstDash val="solid"/>
          </a:ln>
        </p:spPr>
      </p:sp>
      <p:sp>
        <p:nvSpPr>
          <p:cNvPr id="4" name="S12-cardtext92"/>
          <p:cNvSpPr txBox="1"/>
          <p:nvPr/>
        </p:nvSpPr>
        <p:spPr>
          <a:xfrm>
            <a:off x="822960" y="503428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① 할아버지를 도운 사람 둘은?</a:t>
            </a:r>
            <a:endParaRPr lang="ko-KR" sz="3200" dirty="0"/>
          </a:p>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② 버스 기사님을 도운 사람은?</a:t>
            </a:r>
            <a:endParaRPr lang="ko-KR" sz="3200" dirty="0"/>
          </a:p>
        </p:txBody>
      </p:sp>
      <p:sp>
        <p:nvSpPr>
          <p:cNvPr id="5" name="S12-passagebox93"/>
          <p:cNvSpPr/>
          <p:nvPr/>
        </p:nvSpPr>
        <p:spPr>
          <a:xfrm>
            <a:off x="548640" y="1325880"/>
            <a:ext cx="11091672" cy="3342640"/>
          </a:xfrm>
          <a:prstGeom prst="roundRect">
            <a:avLst>
              <a:gd name="adj" fmla="val 2736"/>
            </a:avLst>
          </a:prstGeom>
          <a:solidFill>
            <a:srgbClr val="FFFFFF"/>
          </a:solidFill>
          <a:ln w="19050">
            <a:solidFill>
              <a:srgbClr val="264653"/>
            </a:solidFill>
            <a:prstDash val="solid"/>
          </a:ln>
        </p:spPr>
      </p:sp>
      <p:sp>
        <p:nvSpPr>
          <p:cNvPr id="6" name="S12-passage94"/>
          <p:cNvSpPr txBox="1"/>
          <p:nvPr/>
        </p:nvSpPr>
        <p:spPr>
          <a:xfrm>
            <a:off x="822960" y="1508760"/>
            <a:ext cx="10543032" cy="297688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할아버지가 버스를 타고 병원에 가셨어요.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의사 선생님이 할아버지를 치료해 주셨어요.</a:t>
            </a:r>
            <a:endParaRPr lang="ko-KR" sz="3200" dirty="0"/>
          </a:p>
          <a:p>
            <a:pPr eaLnBrk="0" algn="l" indent="0" marL="0">
              <a:lnSpc>
                <a:spcPct val="105000"/>
              </a:lnSpc>
              <a:spcAft>
                <a:spcPts val="800"/>
              </a:spcAft>
              <a:buNone/>
            </a:pPr>
            <a:r>
              <a:rPr lang="ko-KR" altLang="en-US" sz="3200" dirty="0">
                <a:solidFill>
                  <a:srgbClr val="1F2937"/>
                </a:solidFill>
                <a:latin typeface="맑은 고딕" pitchFamily="34" charset="0"/>
                <a:ea typeface="맑은 고딕" pitchFamily="34" charset="-122"/>
                <a:cs typeface="맑은 고딕" pitchFamily="34" charset="-120"/>
              </a:rPr>
              <a:t>저녁에 버스 기사님은 빵집에서 빵을 샀어요.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정답 확인</a:t>
            </a:r>
            <a:endParaRPr lang="ko-KR" sz="4400" dirty="0"/>
          </a:p>
        </p:txBody>
      </p:sp>
      <p:sp>
        <p:nvSpPr>
          <p:cNvPr id="3" name="S13-card95"/>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9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하는 일과 돕는 사람을 함께 말해요.</a:t>
            </a:r>
            <a:endParaRPr lang="ko-KR" sz="3200" dirty="0"/>
          </a:p>
        </p:txBody>
      </p:sp>
      <p:sp>
        <p:nvSpPr>
          <p:cNvPr id="5" name="S13-chip97"/>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 정답</a:t>
            </a:r>
            <a:endParaRPr lang="ko-KR" sz="2600" dirty="0"/>
          </a:p>
        </p:txBody>
      </p:sp>
      <p:sp>
        <p:nvSpPr>
          <p:cNvPr id="6" name="S13-text98"/>
          <p:cNvSpPr txBox="1"/>
          <p:nvPr/>
        </p:nvSpPr>
        <p:spPr>
          <a:xfrm>
            <a:off x="548640" y="2057400"/>
            <a:ext cx="2681478" cy="9296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집배원: 편지를</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전해서 도와요</a:t>
            </a:r>
            <a:endParaRPr lang="ko-KR" sz="2600" dirty="0"/>
          </a:p>
        </p:txBody>
      </p:sp>
      <p:sp>
        <p:nvSpPr>
          <p:cNvPr id="7" name="S13-text99"/>
          <p:cNvSpPr txBox="1"/>
          <p:nvPr/>
        </p:nvSpPr>
        <p:spPr>
          <a:xfrm>
            <a:off x="3367278" y="2057400"/>
            <a:ext cx="2544318" cy="929640"/>
          </a:xfrm>
          <a:prstGeom prst="rect">
            <a:avLst/>
          </a:prstGeom>
          <a:noFill/>
          <a:ln/>
        </p:spPr>
        <p:txBody>
          <a:bodyPr wrap="square" lIns="0" tIns="0" rIns="0" bIns="0" rtlCol="0" anchor="ctr"/>
          <a:lstStyle/>
          <a:p>
            <a:pPr eaLnBrk="0" algn="l" indent="0" marL="0">
              <a:buNone/>
            </a:pPr>
            <a:r>
              <a:rPr lang="en-US" altLang="ko-KR" sz="2600" dirty="0">
                <a:solidFill>
                  <a:srgbClr val="1F2937"/>
                </a:solidFill>
                <a:latin typeface="맑은 고딕" pitchFamily="34" charset="0"/>
                <a:ea typeface="맑은 고딕" pitchFamily="34" charset="-122"/>
                <a:cs typeface="맑은 고딕" pitchFamily="34" charset="-120"/>
              </a:rPr>
              <a:t>S11 ①</a:t>
            </a:r>
            <a:endParaRPr lang="ko-KR" sz="2600" dirty="0"/>
          </a:p>
        </p:txBody>
      </p:sp>
      <p:sp>
        <p:nvSpPr>
          <p:cNvPr id="8" name="S13-text100"/>
          <p:cNvSpPr txBox="1"/>
          <p:nvPr/>
        </p:nvSpPr>
        <p:spPr>
          <a:xfrm>
            <a:off x="548640" y="3124200"/>
            <a:ext cx="2681478" cy="9296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누구나 할 수</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있어요</a:t>
            </a:r>
            <a:endParaRPr lang="ko-KR" sz="2600" dirty="0"/>
          </a:p>
        </p:txBody>
      </p:sp>
      <p:sp>
        <p:nvSpPr>
          <p:cNvPr id="9" name="S13-text101"/>
          <p:cNvSpPr txBox="1"/>
          <p:nvPr/>
        </p:nvSpPr>
        <p:spPr>
          <a:xfrm>
            <a:off x="3367278" y="3124200"/>
            <a:ext cx="2544318" cy="929640"/>
          </a:xfrm>
          <a:prstGeom prst="rect">
            <a:avLst/>
          </a:prstGeom>
          <a:noFill/>
          <a:ln/>
        </p:spPr>
        <p:txBody>
          <a:bodyPr wrap="square" lIns="0" tIns="0" rIns="0" bIns="0" rtlCol="0" anchor="ctr"/>
          <a:lstStyle/>
          <a:p>
            <a:pPr eaLnBrk="0" algn="l" indent="0" marL="0">
              <a:buNone/>
            </a:pPr>
            <a:r>
              <a:rPr lang="en-US" altLang="ko-KR" sz="2600" dirty="0">
                <a:solidFill>
                  <a:srgbClr val="1F2937"/>
                </a:solidFill>
                <a:latin typeface="맑은 고딕" pitchFamily="34" charset="0"/>
                <a:ea typeface="맑은 고딕" pitchFamily="34" charset="-122"/>
                <a:cs typeface="맑은 고딕" pitchFamily="34" charset="-120"/>
              </a:rPr>
              <a:t>S11 ③</a:t>
            </a:r>
            <a:endParaRPr lang="ko-KR" sz="2600" dirty="0"/>
          </a:p>
        </p:txBody>
      </p:sp>
      <p:sp>
        <p:nvSpPr>
          <p:cNvPr id="10" name="S13-text102"/>
          <p:cNvSpPr txBox="1"/>
          <p:nvPr/>
        </p:nvSpPr>
        <p:spPr>
          <a:xfrm>
            <a:off x="548640" y="4191000"/>
            <a:ext cx="2681478" cy="9296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버스 기사, 의사</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 제빵사</a:t>
            </a:r>
            <a:endParaRPr lang="ko-KR" sz="2600" dirty="0"/>
          </a:p>
        </p:txBody>
      </p:sp>
      <p:sp>
        <p:nvSpPr>
          <p:cNvPr id="11" name="S13-text103"/>
          <p:cNvSpPr txBox="1"/>
          <p:nvPr/>
        </p:nvSpPr>
        <p:spPr>
          <a:xfrm>
            <a:off x="3367278" y="4191000"/>
            <a:ext cx="2544318" cy="929640"/>
          </a:xfrm>
          <a:prstGeom prst="rect">
            <a:avLst/>
          </a:prstGeom>
          <a:noFill/>
          <a:ln/>
        </p:spPr>
        <p:txBody>
          <a:bodyPr wrap="square" lIns="0" tIns="0" rIns="0" bIns="0" rtlCol="0" anchor="ctr"/>
          <a:lstStyle/>
          <a:p>
            <a:pPr eaLnBrk="0" algn="l" indent="0" marL="0">
              <a:buNone/>
            </a:pPr>
            <a:r>
              <a:rPr lang="en-US" altLang="ko-KR" sz="2600" dirty="0">
                <a:solidFill>
                  <a:srgbClr val="1F2937"/>
                </a:solidFill>
                <a:latin typeface="맑은 고딕" pitchFamily="34" charset="0"/>
                <a:ea typeface="맑은 고딕" pitchFamily="34" charset="-122"/>
                <a:cs typeface="맑은 고딕" pitchFamily="34" charset="-120"/>
              </a:rPr>
              <a:t>S12</a:t>
            </a:r>
            <a:endParaRPr lang="ko-KR" sz="2600" dirty="0"/>
          </a:p>
        </p:txBody>
      </p:sp>
      <p:sp>
        <p:nvSpPr>
          <p:cNvPr id="12" name="S13-chip104"/>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600" b="1" dirty="0">
                <a:solidFill>
                  <a:srgbClr val="1F2937"/>
                </a:solidFill>
                <a:latin typeface="맑은 고딕" pitchFamily="34" charset="0"/>
                <a:ea typeface="맑은 고딕" pitchFamily="34" charset="-122"/>
                <a:cs typeface="맑은 고딕" pitchFamily="34" charset="-120"/>
              </a:rPr>
              <a:t>× 흔한 실수</a:t>
            </a:r>
            <a:endParaRPr lang="ko-KR" sz="2600" dirty="0"/>
          </a:p>
        </p:txBody>
      </p:sp>
      <p:sp>
        <p:nvSpPr>
          <p:cNvPr id="13" name="S13-text105"/>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“편지요.”</a:t>
            </a:r>
            <a:endParaRPr lang="ko-KR" sz="3200" dirty="0"/>
          </a:p>
        </p:txBody>
      </p:sp>
      <p:sp>
        <p:nvSpPr>
          <p:cNvPr id="14" name="S13-text106"/>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누구를 돕는지</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빠졌어요</a:t>
            </a:r>
            <a:endParaRPr lang="ko-KR" sz="2600" dirty="0"/>
          </a:p>
        </p:txBody>
      </p:sp>
      <p:sp>
        <p:nvSpPr>
          <p:cNvPr id="15" name="S13-text107"/>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3200" dirty="0">
                <a:solidFill>
                  <a:srgbClr val="1F2937"/>
                </a:solidFill>
                <a:latin typeface="맑은 고딕" pitchFamily="34" charset="0"/>
                <a:ea typeface="맑은 고딕" pitchFamily="34" charset="-122"/>
                <a:cs typeface="맑은 고딕" pitchFamily="34" charset="-120"/>
              </a:rPr>
              <a:t>“여자만 해요.”</a:t>
            </a:r>
            <a:endParaRPr lang="ko-KR" sz="3200" dirty="0"/>
          </a:p>
        </p:txBody>
      </p:sp>
      <p:sp>
        <p:nvSpPr>
          <p:cNvPr id="16" name="S13-text108"/>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남자 간호사도</a:t>
            </a:r>
            <a:endParaRPr lang="ko-KR" sz="2600" dirty="0"/>
          </a:p>
          <a:p>
            <a:pPr eaLnBrk="0" algn="l" indent="0" marL="0">
              <a:buNone/>
            </a:pPr>
            <a:r>
              <a:rPr lang="ko-KR" altLang="en-US" sz="2600" dirty="0">
                <a:solidFill>
                  <a:srgbClr val="1F2937"/>
                </a:solidFill>
                <a:latin typeface="맑은 고딕" pitchFamily="34" charset="0"/>
                <a:ea typeface="맑은 고딕" pitchFamily="34" charset="-122"/>
                <a:cs typeface="맑은 고딕" pitchFamily="34" charset="-120"/>
              </a:rPr>
              <a:t>있어요</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FFFFFF"/>
                </a:solidFill>
                <a:latin typeface="맑은 고딕" pitchFamily="34" charset="0"/>
                <a:ea typeface="맑은 고딕" pitchFamily="34" charset="-122"/>
                <a:cs typeface="맑은 고딕" pitchFamily="34" charset="-120"/>
              </a:rPr>
              <a:t>오늘 배운 것</a:t>
            </a:r>
            <a:endParaRPr lang="ko-KR" sz="4400" dirty="0"/>
          </a:p>
        </p:txBody>
      </p:sp>
      <p:sp>
        <p:nvSpPr>
          <p:cNvPr id="3" name="S14-card109"/>
          <p:cNvSpPr/>
          <p:nvPr/>
        </p:nvSpPr>
        <p:spPr>
          <a:xfrm>
            <a:off x="548640" y="1325880"/>
            <a:ext cx="11091672" cy="1320800"/>
          </a:xfrm>
          <a:prstGeom prst="roundRect">
            <a:avLst>
              <a:gd name="adj" fmla="val 8308"/>
            </a:avLst>
          </a:prstGeom>
          <a:solidFill>
            <a:srgbClr val="32606F"/>
          </a:solidFill>
          <a:ln w="12700">
            <a:solidFill>
              <a:srgbClr val="32606F"/>
            </a:solidFill>
            <a:prstDash val="solid"/>
          </a:ln>
        </p:spPr>
      </p:sp>
      <p:sp>
        <p:nvSpPr>
          <p:cNvPr id="4" name="S14-cardtext110"/>
          <p:cNvSpPr txBox="1"/>
          <p:nvPr/>
        </p:nvSpPr>
        <p:spPr>
          <a:xfrm>
            <a:off x="822960" y="1463040"/>
            <a:ext cx="10543032" cy="104648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FFFFFF"/>
                </a:solidFill>
                <a:latin typeface="맑은 고딕" pitchFamily="34" charset="0"/>
                <a:ea typeface="맑은 고딕" pitchFamily="34" charset="-122"/>
                <a:cs typeface="맑은 고딕" pitchFamily="34" charset="-120"/>
              </a:rPr>
              <a:t>마을 사람들은 저마다 하는 일로</a:t>
            </a:r>
            <a:endParaRPr lang="ko-KR" sz="3200" dirty="0"/>
          </a:p>
          <a:p>
            <a:pPr eaLnBrk="0" indent="0" marL="0">
              <a:spcAft>
                <a:spcPts val="600"/>
              </a:spcAft>
              <a:buNone/>
            </a:pPr>
            <a:r>
              <a:rPr lang="ko-KR" altLang="en-US" sz="3200" dirty="0">
                <a:solidFill>
                  <a:srgbClr val="FFFFFF"/>
                </a:solidFill>
                <a:latin typeface="맑은 고딕" pitchFamily="34" charset="0"/>
                <a:ea typeface="맑은 고딕" pitchFamily="34" charset="-122"/>
                <a:cs typeface="맑은 고딕" pitchFamily="34" charset="-120"/>
              </a:rPr>
              <a:t>서로 도우며 살아요.</a:t>
            </a:r>
            <a:endParaRPr lang="ko-KR" sz="3200" dirty="0"/>
          </a:p>
        </p:txBody>
      </p:sp>
      <p:sp>
        <p:nvSpPr>
          <p:cNvPr id="5" name="S14-chip111"/>
          <p:cNvSpPr txBox="1"/>
          <p:nvPr/>
        </p:nvSpPr>
        <p:spPr>
          <a:xfrm>
            <a:off x="548640" y="2875280"/>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 고마운 마음 전하기</a:t>
            </a:r>
            <a:endParaRPr lang="ko-KR" sz="2600" dirty="0"/>
          </a:p>
        </p:txBody>
      </p:sp>
      <p:sp>
        <p:nvSpPr>
          <p:cNvPr id="6" name="S14-chip112"/>
          <p:cNvSpPr txBox="1"/>
          <p:nvPr/>
        </p:nvSpPr>
        <p:spPr>
          <a:xfrm>
            <a:off x="6208776" y="2875280"/>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 남자 일, 여자 일 나누기</a:t>
            </a:r>
            <a:endParaRPr lang="ko-KR" sz="2600" dirty="0"/>
          </a:p>
        </p:txBody>
      </p:sp>
      <p:sp>
        <p:nvSpPr>
          <p:cNvPr id="7" name="S14-text113"/>
          <p:cNvSpPr txBox="1"/>
          <p:nvPr/>
        </p:nvSpPr>
        <p:spPr>
          <a:xfrm>
            <a:off x="548640" y="3698240"/>
            <a:ext cx="11091672" cy="457200"/>
          </a:xfrm>
          <a:prstGeom prst="rect">
            <a:avLst/>
          </a:prstGeom>
          <a:noFill/>
          <a:ln/>
        </p:spPr>
        <p:txBody>
          <a:bodyPr wrap="square" lIns="0" tIns="0" rIns="0" bIns="0" rtlCol="0" anchor="t"/>
          <a:lstStyle/>
          <a:p>
            <a:pPr eaLnBrk="0" algn="l" indent="0" marL="0">
              <a:buNone/>
            </a:pPr>
            <a:r>
              <a:rPr lang="ko-KR" altLang="en-US" sz="26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600" dirty="0"/>
          </a:p>
        </p:txBody>
      </p:sp>
      <p:sp>
        <p:nvSpPr>
          <p:cNvPr id="8" name="S14-text114"/>
          <p:cNvSpPr txBox="1"/>
          <p:nvPr/>
        </p:nvSpPr>
        <p:spPr>
          <a:xfrm>
            <a:off x="548640"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① 편지를 전해 주는</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사람은?</a:t>
            </a:r>
            <a:endParaRPr lang="ko-KR" sz="2600" dirty="0"/>
          </a:p>
        </p:txBody>
      </p:sp>
      <p:sp>
        <p:nvSpPr>
          <p:cNvPr id="9" name="S14-text115"/>
          <p:cNvSpPr txBox="1"/>
          <p:nvPr/>
        </p:nvSpPr>
        <p:spPr>
          <a:xfrm>
            <a:off x="4322064"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② 소방관은</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누가 할 수 있어요?</a:t>
            </a:r>
            <a:endParaRPr lang="ko-KR" sz="2600" dirty="0"/>
          </a:p>
        </p:txBody>
      </p:sp>
      <p:sp>
        <p:nvSpPr>
          <p:cNvPr id="10" name="S14-text116"/>
          <p:cNvSpPr txBox="1"/>
          <p:nvPr/>
        </p:nvSpPr>
        <p:spPr>
          <a:xfrm>
            <a:off x="8095488" y="4201160"/>
            <a:ext cx="3544824" cy="1376680"/>
          </a:xfrm>
          <a:prstGeom prst="rect">
            <a:avLst/>
          </a:prstGeom>
          <a:noFill/>
          <a:ln/>
        </p:spPr>
        <p:txBody>
          <a:bodyPr wrap="square" lIns="0" tIns="0" rIns="0" bIns="0" rtlCol="0" anchor="ctr"/>
          <a:lstStyle/>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③ 버스 기사님을</a:t>
            </a:r>
            <a:endParaRPr lang="ko-KR" sz="2600" dirty="0"/>
          </a:p>
          <a:p>
            <a:pPr eaLnBrk="0" algn="l" indent="0" marL="0">
              <a:buNone/>
            </a:pPr>
            <a:r>
              <a:rPr lang="ko-KR" altLang="en-US" sz="2600" dirty="0">
                <a:solidFill>
                  <a:srgbClr val="FFFFFF"/>
                </a:solidFill>
                <a:latin typeface="맑은 고딕" pitchFamily="34" charset="0"/>
                <a:ea typeface="맑은 고딕" pitchFamily="34" charset="-122"/>
                <a:cs typeface="맑은 고딕" pitchFamily="34" charset="-120"/>
              </a:rPr>
              <a:t>돕는 사람 하나는?</a:t>
            </a:r>
            <a:endParaRPr lang="ko-KR" sz="2600" dirty="0"/>
          </a:p>
        </p:txBody>
      </p:sp>
      <p:sp>
        <p:nvSpPr>
          <p:cNvPr id="11" name="S14-text117"/>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600" dirty="0">
                <a:solidFill>
                  <a:srgbClr val="C9DCD8"/>
                </a:solidFill>
                <a:latin typeface="맑은 고딕" pitchFamily="34" charset="0"/>
                <a:ea typeface="맑은 고딕" pitchFamily="34" charset="-122"/>
                <a:cs typeface="맑은 고딕" pitchFamily="34" charset="-120"/>
              </a:rPr>
              <a:t>다음 시간: 옛날과 오늘</a:t>
            </a:r>
            <a:endParaRPr lang="ko-KR" sz="26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400" b="1" dirty="0">
                <a:solidFill>
                  <a:srgbClr val="1F2937"/>
                </a:solidFill>
                <a:latin typeface="맑은 고딕" pitchFamily="34" charset="0"/>
                <a:ea typeface="맑은 고딕" pitchFamily="34" charset="-122"/>
                <a:cs typeface="맑은 고딕" pitchFamily="34" charset="-120"/>
              </a:rPr>
              <a:t>보충: 시설과 사람</a:t>
            </a:r>
            <a:endParaRPr lang="ko-KR" sz="4400" dirty="0"/>
          </a:p>
        </p:txBody>
      </p:sp>
      <p:sp>
        <p:nvSpPr>
          <p:cNvPr id="3" name="S15-card11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11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200" dirty="0">
                <a:solidFill>
                  <a:srgbClr val="1F2937"/>
                </a:solidFill>
                <a:latin typeface="맑은 고딕" pitchFamily="34" charset="0"/>
                <a:ea typeface="맑은 고딕" pitchFamily="34" charset="-122"/>
                <a:cs typeface="맑은 고딕" pitchFamily="34" charset="-120"/>
              </a:rPr>
              <a:t>시설에는 일하는 사람이 있어요.</a:t>
            </a:r>
            <a:endParaRPr lang="ko-KR" sz="3200" dirty="0"/>
          </a:p>
        </p:txBody>
      </p:sp>
      <p:sp>
        <p:nvSpPr>
          <p:cNvPr id="5" name="S15-card120"/>
          <p:cNvSpPr/>
          <p:nvPr/>
        </p:nvSpPr>
        <p:spPr>
          <a:xfrm>
            <a:off x="548640" y="1325880"/>
            <a:ext cx="5431536" cy="1783080"/>
          </a:xfrm>
          <a:prstGeom prst="roundRect">
            <a:avLst>
              <a:gd name="adj" fmla="val 6154"/>
            </a:avLst>
          </a:prstGeom>
          <a:solidFill>
            <a:srgbClr val="EAF3F1"/>
          </a:solidFill>
          <a:ln w="12700">
            <a:solidFill>
              <a:srgbClr val="EAF3F1"/>
            </a:solidFill>
            <a:prstDash val="solid"/>
          </a:ln>
        </p:spPr>
      </p:sp>
      <p:sp>
        <p:nvSpPr>
          <p:cNvPr id="6" name="S15-cardtext121"/>
          <p:cNvSpPr txBox="1"/>
          <p:nvPr/>
        </p:nvSpPr>
        <p:spPr>
          <a:xfrm>
            <a:off x="822960" y="146304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병원</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의사, 간호사</a:t>
            </a:r>
            <a:endParaRPr lang="ko-KR" sz="3200" dirty="0"/>
          </a:p>
        </p:txBody>
      </p:sp>
      <p:sp>
        <p:nvSpPr>
          <p:cNvPr id="7" name="S15-card122"/>
          <p:cNvSpPr/>
          <p:nvPr/>
        </p:nvSpPr>
        <p:spPr>
          <a:xfrm>
            <a:off x="6208776" y="1325880"/>
            <a:ext cx="5431536" cy="1783080"/>
          </a:xfrm>
          <a:prstGeom prst="roundRect">
            <a:avLst>
              <a:gd name="adj" fmla="val 6154"/>
            </a:avLst>
          </a:prstGeom>
          <a:solidFill>
            <a:srgbClr val="EAF3F1"/>
          </a:solidFill>
          <a:ln w="12700">
            <a:solidFill>
              <a:srgbClr val="EAF3F1"/>
            </a:solidFill>
            <a:prstDash val="solid"/>
          </a:ln>
        </p:spPr>
      </p:sp>
      <p:sp>
        <p:nvSpPr>
          <p:cNvPr id="8" name="S15-cardtext123"/>
          <p:cNvSpPr txBox="1"/>
          <p:nvPr/>
        </p:nvSpPr>
        <p:spPr>
          <a:xfrm>
            <a:off x="6483096" y="146304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도서관</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사서</a:t>
            </a:r>
            <a:endParaRPr lang="ko-KR" sz="3200" dirty="0"/>
          </a:p>
        </p:txBody>
      </p:sp>
      <p:sp>
        <p:nvSpPr>
          <p:cNvPr id="9" name="S15-card124"/>
          <p:cNvSpPr/>
          <p:nvPr/>
        </p:nvSpPr>
        <p:spPr>
          <a:xfrm>
            <a:off x="548640" y="3337560"/>
            <a:ext cx="5431536" cy="1783080"/>
          </a:xfrm>
          <a:prstGeom prst="roundRect">
            <a:avLst>
              <a:gd name="adj" fmla="val 6154"/>
            </a:avLst>
          </a:prstGeom>
          <a:solidFill>
            <a:srgbClr val="EAF3F1"/>
          </a:solidFill>
          <a:ln w="12700">
            <a:solidFill>
              <a:srgbClr val="EAF3F1"/>
            </a:solidFill>
            <a:prstDash val="solid"/>
          </a:ln>
        </p:spPr>
      </p:sp>
      <p:sp>
        <p:nvSpPr>
          <p:cNvPr id="10" name="S15-cardtext125"/>
          <p:cNvSpPr txBox="1"/>
          <p:nvPr/>
        </p:nvSpPr>
        <p:spPr>
          <a:xfrm>
            <a:off x="822960" y="347472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소방서</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소방관</a:t>
            </a:r>
            <a:endParaRPr lang="ko-KR" sz="3200" dirty="0"/>
          </a:p>
        </p:txBody>
      </p:sp>
      <p:sp>
        <p:nvSpPr>
          <p:cNvPr id="11" name="S15-card126"/>
          <p:cNvSpPr/>
          <p:nvPr/>
        </p:nvSpPr>
        <p:spPr>
          <a:xfrm>
            <a:off x="6208776" y="3337560"/>
            <a:ext cx="5431536" cy="1783080"/>
          </a:xfrm>
          <a:prstGeom prst="roundRect">
            <a:avLst>
              <a:gd name="adj" fmla="val 6154"/>
            </a:avLst>
          </a:prstGeom>
          <a:solidFill>
            <a:srgbClr val="EAF3F1"/>
          </a:solidFill>
          <a:ln w="12700">
            <a:solidFill>
              <a:srgbClr val="EAF3F1"/>
            </a:solidFill>
            <a:prstDash val="solid"/>
          </a:ln>
        </p:spPr>
      </p:sp>
      <p:sp>
        <p:nvSpPr>
          <p:cNvPr id="12" name="S15-cardtext127"/>
          <p:cNvSpPr txBox="1"/>
          <p:nvPr/>
        </p:nvSpPr>
        <p:spPr>
          <a:xfrm>
            <a:off x="6483096" y="3474720"/>
            <a:ext cx="4882896" cy="1508760"/>
          </a:xfrm>
          <a:prstGeom prst="rect">
            <a:avLst/>
          </a:prstGeom>
          <a:noFill/>
          <a:ln/>
        </p:spPr>
        <p:txBody>
          <a:bodyPr wrap="square" lIns="0" tIns="0" rIns="0" bIns="0" rtlCol="0" anchor="ctr"/>
          <a:lstStyle/>
          <a:p>
            <a:pPr eaLnBrk="0" indent="0" marL="0">
              <a:spcAft>
                <a:spcPts val="600"/>
              </a:spcAft>
              <a:buNone/>
            </a:pPr>
            <a:r>
              <a:rPr lang="ko-KR" altLang="en-US" sz="3200" b="1" dirty="0">
                <a:solidFill>
                  <a:srgbClr val="1F2937"/>
                </a:solidFill>
                <a:latin typeface="맑은 고딕" pitchFamily="34" charset="0"/>
                <a:ea typeface="맑은 고딕" pitchFamily="34" charset="-122"/>
                <a:cs typeface="맑은 고딕" pitchFamily="34" charset="-120"/>
              </a:rPr>
              <a:t>우체국</a:t>
            </a:r>
            <a:endParaRPr lang="ko-KR" sz="3200" dirty="0"/>
          </a:p>
          <a:p>
            <a:pPr eaLnBrk="0" indent="0" marL="0">
              <a:spcAft>
                <a:spcPts val="600"/>
              </a:spcAft>
              <a:buNone/>
            </a:pPr>
            <a:r>
              <a:rPr lang="ko-KR" altLang="en-US" sz="2600" dirty="0">
                <a:solidFill>
                  <a:srgbClr val="1F2937"/>
                </a:solidFill>
                <a:latin typeface="맑은 고딕" pitchFamily="34" charset="0"/>
                <a:ea typeface="맑은 고딕" pitchFamily="34" charset="-122"/>
                <a:cs typeface="맑은 고딕" pitchFamily="34" charset="-120"/>
              </a:rPr>
              <a:t>집배원</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초2 사회·역사 서로 돕는 마을 사람들</dc:title>
  <dc:subject>KR22-G02-SOC-JOBS-L01</dc:subject>
  <dc:creator>education-ppt</dc:creator>
  <cp:lastModifiedBy>education-ppt</cp:lastModifiedBy>
  <cp:revision>1</cp:revision>
  <dcterms:created xsi:type="dcterms:W3CDTF">2026-10-26T13:14:02Z</dcterms:created>
  <dcterms:modified xsi:type="dcterms:W3CDTF">2026-10-26T13:14:02Z</dcterms:modified>
</cp:coreProperties>
</file>