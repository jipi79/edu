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966a5d8-d747-5c36-24b3-fb271b33d9a8}">
          <p14:sldIdLst>
            <p14:sldId id="256"/>
            <p14:sldId id="257"/>
          </p14:sldIdLst>
        </p14:section>
        <p14:section name="개념" id="{998fa682-887d-8062-6810-02e0d5dba979}">
          <p14:sldIdLst>
            <p14:sldId id="258"/>
            <p14:sldId id="259"/>
            <p14:sldId id="260"/>
            <p14:sldId id="261"/>
            <p14:sldId id="267"/>
          </p14:sldIdLst>
        </p14:section>
        <p14:section name="연습" id="{b43179e9-0cee-3bc8-738e-13a8757222a1}">
          <p14:sldIdLst>
            <p14:sldId id="262"/>
            <p14:sldId id="263"/>
            <p14:sldId id="264"/>
            <p14:sldId id="268"/>
          </p14:sldIdLst>
        </p14:section>
        <p14:section name="확인" id="{4bdd20d7-ddb2-fdf6-e123-38b05310e46d}">
          <p14:sldIdLst>
            <p14:sldId id="265"/>
            <p14:sldId id="266"/>
            <p14:sldId id="269"/>
          </p14:sldIdLst>
        </p14:section>
        <p14:section name="개념" id="{02e65e1d-62bc-8127-4ebf-610b2fa49e06}">
          <p14:sldIdLst/>
        </p14:section>
        <p14:section name="연습" id="{82e29fb6-8eb9-2c20-0df5-91669cc244b0}">
          <p14:sldIdLst/>
        </p14:section>
        <p14:section name="확인" id="{1a92d025-6f9a-8a60-03aa-c228a063cc19}">
          <p14:sldIdLst/>
        </p14:section>
        <p14:section name="정리" id="{49485f34-c621-34d2-d0c0-1198b68088b6}">
          <p14:sldIdLst>
            <p14:sldId id="270"/>
          </p14:sldIdLst>
        </p14:section>
        <p14:section name="보충" id="{6b6ff25b-3d83-7e2f-0d36-acf6dcdcce48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‘시설’이라는 말을 알려 줍니다.
시간: 약 2분
이렇게 말해 보세요
- “우리 마을에는 가게도 있고, 병원도 있고, 공원도 있지? 이렇게 사람들에게 필요한 일을 해 주려고 만든 곳을 ‘시설’이라고 해.”
- “오늘은 마을의 시설이 무슨 일을 하는지 알아보고, 우리 마을에는 어떤 시설이 있는지 조사할 계획도 세울 거야.”
예상 답
- “편의점이요.” “놀이터요.” “병원이요.”
막히면
- 오늘 학교에 오가며 본 곳이나 지난 주말에 간 곳을 떠올리게 합니다.
주의
- 화면의 별빛마을과 지호는 수업을 위해 지어낸 것입니다. 우리 마을의 실제 시설은 S14의 조사 계획과 활동지 4에서 함께 알아봅니다.
- ‘시설’은 처음 듣는 말일 수 있습니다. ‘사람들을 위해 일을 해 주는 곳’이라고 쉽게 풀어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확인(장소와 그곳에서 하는 일)]
목적: 가 본 장소의 이름과 그곳에서 한 일을 말할 수 있는지, 장소마다 하는 일이 다르다는 것을 아는지 확인합니다. 1학년 때 학교의 여러 장소를 배운 경험을 떠올리는 단계입니다.
시간: 약 3분
이렇게 말해 보세요
- “집 가까이에서 가 본 곳 하나를 말해 볼래? 거기서 무엇을 했어?”
- “③, 학교 보건실은 무엇을 하는 곳이야?”
예상 답
- ① “마트요.” “놀이터요.” ② “과자를 샀어요.” “그네를 탔어요.”
- ③ “다치거나 아플 때 치료해 주는 곳이에요.”
막히면
- “어제(지난 주말에) 엄마(아빠)랑 어디 갔었지?”처럼 최근 경험을 짚어 줍니다.
- 장소 이름을 말하지 못하거나 장소에서 하는 일을 말하기 어려워하면 S16(보충)을 먼저 합니다. 이 차시는 계획상 앞 차시가 없습니다. 보충으로도 어려우면 1학년 ‘학교의 장소와 사람들’(KR22-G01-SOC-SCHOOL-L01)과 가까운 내용이므로 그 차시를 먼저 합니다.
주의
- 편의점, 태권도장, 미용실처럼 무엇이든 괜찮습니다. 오늘 배울 일곱 시설이 아니어도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필요한 것을 얻는 시설(가게, 병원, 우체국)]
목적: 생활에 필요한 것을 얻는 시설 세 곳(가게, 병원, 우체국)과 그곳에서 하는 일을 알려 줍니다(목표 A, 오해 M1).
시간: 약 3분
이렇게 말해 보세요
- “카드를 같이 읽어 보자. 가게는 무엇을 하는 곳이야? 우리는 어떤 가게에 가 봤지?”
- “우체국은 편지와 소포를 보내는 곳이야. 소포는 상자에 담아 보내는 물건이야. 택배를 받아 본 적 있지?”
- “만약 우리 마을에 병원이 없으면 어떨까?”
예상 답
- “빵집, 마트, 문구점에 가 봤어요.”
- “아파도 치료를 못 받아요.” “멀리 가야 해요.”
막히면
- 카드마다 “여기에서 무엇을 해 봤어?”라고 아이의 경험과 이어서 묻습니다.
주의
- 시장, 마트, 편의점, 빵집은 모두 물건을 사고파는 가게입니다. 아이가 다른 가게 이름을 말해도 받아 줍니다.
- 우체국에서는 돈을 맡기는 일도 합니다. 오늘은 편지와 소포를 보내는 일만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마을을 지키는 시설(소방서, 경찰서)]
목적: 마을 사람들의 안전을 지키는 소방서와 경찰서가 하는 일을 나누어 알려 줍니다(목표 A, 오해 M2).
시간: 약 2분
이렇게 말해 보세요
- “소방서에서는 불을 끄고, 다치거나 갑자기 아픈 사람을 구급차로 병원에 데려다줘.”
- “경찰서에서는 마을을 돌아보며 지키고, 길을 잃은 사람이나 도움이 필요한 사람을 도와줘.”
- “불이 나면 몇 번에 전화할까? 길을 잃었을 때는 누구에게 도움을 청할 수 있을까?”
예상 답
- “119요.” “경찰관에게 말해요.”
막히면
- “소방차는 무엇을 하러 가? 경찰차는?”처럼 아이가 본 적 있는 차로 묻습니다.
주의
- 119는 불이 나거나 다친 사람이 있을 때, 112는 위험한 일이 생겨 경찰의 도움이 필요할 때 거는 번호입니다. 장난 전화를 하면 정말 도움이 필요한 사람이 도움을 늦게 받는다는 것도 함께 말해 줍니다.
- 길을 잃었을 때는 그 자리에서 기다리거나 경찰관, 가까운 가게의 어른께 도움을 청한다고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함께 쓰는 시설(도서관, 공원)과 아껴 쓰기]
목적: 마을 사람 누구나 함께 쓰는 시설(도서관, 공원)을 알려 주고, 함께 쓰는 곳이라 아껴 써야 한다는 것을 짚습니다(목표 A, 오해 M3).
시간: 약 2분
이렇게 말해 보세요
- “도서관에서는 책을 읽고, 빌려서 집에 가져갈 수도 있어. 공원에서는 놀고, 쉬고, 운동해.”
- “도서관 책과 공원 의자는 누구 것일까?”
- “모두 함께 쓰는 곳이니까 어떻게 써야 할까?”
예상 답
- “마을 사람 모두의 것이에요.”
- “깨끗하게 써요.” “책을 찢지 않아요.” “쓰레기를 버리지 않아요.”
막히면
- “네가 본 다음에 친구가 그 책을 빌린대. 책이 찢어져 있으면 친구 마음이 어떨까?”라고 묻습니다.
주의
- 도서관에서 빌린 책은 정해진 날까지 돌려준다는 것도 알려 주면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시범(마을 그림에서 시설을 찾아 하는 일 말하기)]
목적: 부모가 별빛마을 그림에서 시설을 하나씩 짚으며 이름과 하는 일을 말하는 시범을 보이고, 아이가 이어서 해 봅니다(목표 A).
시간: 약 3분
이렇게 말해 보세요
- “여기는 별빛마을이야. 가운데 회색 길이 큰길이고, 건물에 붙은 짙은 막대는 문이야.”
- “엄마(아빠)가 먼저 해 볼게. (소방서를 짚으며) 여기는 소방서야. 불을 끄고 다친 사람을 구해.”
- “이번에는 네가 하나 골라 짚고, 이름과 하는 일을 말해 볼래?”
예상 답
- “여기는 도서관이에요. 책을 빌려요.” “여기는 병원이에요. 아플 때 가요.”
막히면
- S03~S05의 카드를 다시 보여 주고, 카드와 같은 이름을 그림에서 찾게 합니다.
주의
- 지호네는 시설이 아니라 지호가 사는 집입니다. 시설은 마을 사람들을 위해 일을 하는 곳이라는 점과 구별해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상황에 맞는 시설 고르기]
목적: 하고 싶은 일이나 생긴 일에 알맞은 시설을 고르고, 그 시설이 하는 일을 까닭으로 말합니다(목표 A).
시간: 약 3분
이렇게 말해 보세요
- “①, 할머니께 편지를 보내고 싶어. 어디로 가면 될까? 왜 그곳이야?”
- “까닭을 말할 때는 ‘~하는 곳이니까요.’라고 말하면 돼.”
정답
- ① 우체국(편지를 보내는 곳이니까요.)
- ② 도서관(책을 빌리는 곳이니까요.)
- ③ 병원(아플 때 치료해 주는 곳이니까요.)
막히면
- S03~S05의 카드를 다시 보여 주고 “이 가운데 편지를 보내는 곳은 어디야?”라고 묻습니다.
주의
- ③에서 ‘약국’이라고 하면 “약국도 도움이 되는 곳이야. 오늘 배운 시설 가운데에서는 어디일까?”라고 다시 묻습니다.
- 시설 이름만 말하면 “왜 그곳이야?”라고 물어 까닭까지 말하게 합니다(오해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비교(소방서와 경찰서)]
목적: 하는 일이 다른 소방서와 경찰서를 비교해, 불이 났을 때 불을 끄는 곳은 소방서라는 것을 알게 합니다(목표 A, 오해 M2).
시간: 약 2분
이렇게 말해 보세요
- “불을 끄는 차는 무슨 차야? 그 차는 어디에 있을까?”
- “가처럼 말하면 무엇이 잘못되었을까?”
정답
- 나. 소방서는 불을 끄고 사람을 구하는 곳입니다. 119에 전화하면 소방차가 옵니다.
- 경찰서는 마을을 지키고 도움이 필요한 사람을 돕는 곳입니다. 불이 난 곳에 경찰관이 와서 길을 정리해 주기도 하지만, 불을 끄는 일은 소방서가 합니다.
막히면
- S04 카드를 다시 보여 주고 두 시설이 하는 일을 나란히 읽어 봅니다.
주의
- 불이 나면 “불이야!” 하고 크게 알리고 먼저 밖으로 피한 뒤 119에 전화한다고 짧게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마을 그림에서 시설 찾기]
목적: 마을 그림에서 하는 일에 맞는 시설을 찾아 짚고, 이름과 하는 일을 함께 말합니다(목표 A).
시간: 약 3분
이렇게 말해 보세요
- “①부터 해 볼까? 불을 끄는 곳이 어디였지? 손가락으로 짚어 봐.”
- “③은 지호네를 먼저 찾고, 바로 옆에 붙어 있는 시설 두 곳을 말해 줘. 그곳에서는 무엇을 해?”
정답
- ① 소방서(큰길 위쪽 줄 맨 왼쪽)
- ② 도서관(큰길 위쪽 줄 셋째)
- ③ 가게와 병원(지호네 왼쪽 옆과 오른쪽 옆). 가게는 물건을 사는 곳, 병원은 아플 때 치료받는 곳
막히면
- ③에서 우체국을 말하면 “우체국은 큰길 건너편에 있어. 지호네와 같은 줄에서 바로 옆에 붙어 있는 곳은?”이라고 묻습니다.
주의
- 이름만 짚고 끝나지 않게 “거기서는 무엇을 해?”라고 한 번 더 묻습니다.
- 여기까지가 시설을 배우는 부분입니다. 아이가 지치면 여기서 나누어 다음 날 S10부터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하기(처음 보는 상황에서 시설 고르기)]
목적: 도움 없이 처음 보는 상황에서 알맞은 시설을 고르고 까닭을 말하는지 확인합니다(목표 A).
시간: 약 3분
이렇게 말해 보세요
- “이번에는 혼자 해 볼래? 어디로 가면 될지 말하고, 왜 그곳인지도 말해 줘.”
정답
- ① 병원(다친 곳을 치료해 주니까요.)
- ② 가게(물건을 사는 곳이니까요. 시장·마트도 맞음)
- ③ 경찰서(도움이 필요한 사람을 돕고, 주운 물건을 맡기면 주인을 찾아 주니까요.)
- ④ 공원(놀고 운동하는 곳이니까요.)
막히면
- 바로 알려 주지 말고 “○○을 하는 곳은 어디였지?”라고만 묻습니다. 도움을 받아 해결했다면 기록표에 ‘도움’으로 표시합니다.
주의
- ③은 처음 생각해 보는 상황일 수 있습니다. 경찰서가 도움이 필요한 사람을 돕는 곳이라는 것을 까닭으로 말하면 맞은 것으로 보고, 주운 물건은 경찰서(지구대·파출소)에 맡긴다고 알려 줍니다.
- 네 가지 가운데 세 가지 이상을 까닭과 함께 말하면 목표 A를 이룬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S10의 답을 확인하고 흔한 실수와 비교합니다.
시간: 약 2분
이렇게 말해 보세요
- “네 답과 왼쪽을 비교해 볼까? 오른쪽처럼 말하면 무엇이 아쉬울까?”
예상 답
- “소방서는 불을 끄는 곳이라 지갑은 경찰서에 맡겨요.” “왜 그곳인지 말을 안 했어요.”
정답
- ① 병원 ② 가게(시장·마트) ③ 경찰서 ④ 공원 — 모두 그 시설이 하는 일을 까닭으로 말하면 맞음
막히면
- 틀린 문제는 S03~S05의 카드로 돌아가 한 번 더 확인합니다.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우리 마을 시설을 조사하는 방법]
목적: 우리 마을의 시설을 알아보는 세 가지 방법을 알려 줍니다. 우리 마을의 시설은 사는 곳마다 다르므로 부모와 함께 직접 조사합니다(목표 B).
시간: 약 2분
이렇게 말해 보세요
- “별빛마을은 지어낸 마을이었어. 이제 진짜 우리 마을을 알아볼 거야. 어떻게 알아볼 수 있을까?”
- “걸으면서 둘러볼 수도 있고, 건물에 붙은 간판을 읽을 수도 있고, 그곳에서 일하는 분께 여쭈어 볼 수도 있어.”
예상 답
- “걸어가 봐요.” “간판을 봐요.” “물어봐요.”
막히면
- 집에서 가장 가까운 가게 이름을 함께 떠올리며 “그 이름은 어디에 쓰여 있었지?”라고 묻습니다.
주의
- 여쭈어 볼 때는 부모가 곁에 있고, 일하는 분이 바쁘지 않을 때 짧게 여쭙니다. 아이 혼자 낯선 사람에게 묻지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알고 싶은 것에 맞는 조사 방법 고르기]
목적: 알고 싶은 것에 따라 알맞은 조사 방법을 고르고 까닭을 말합니다(목표 B).
시간: 약 2분
이렇게 말해 보세요
- “①, 새로 생긴 가게의 이름이 궁금해. 어떤 방법이 좋을까? 왜?”
- “②, ③도 골라 보고 까닭을 말해 줘.”
정답
- ① 간판 읽기(가게 이름은 간판에 쓰여 있으니까)
- ② 둘러보기(걸으며 직접 보면 알 수 있으니까)
- ③ 여쭈어 보기(일하는 분이 가장 잘 아시니까)
- 기준: 알고 싶은 것과 방법이 어울리고 까닭을 말하면 맞습니다. 답이 하나로 정해져 있지 않습니다.
막히면
- S12의 세 방법을 하나씩 대어 보며 “이 방법으로 알 수 있을까?”라고 묻습니다.
주의
- 두 가지 방법을 함께 쓰겠다고 하면 좋은 생각이라고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우리 마을 시설 조사 계획 세우기]
목적: 부모와 함께 실제로 조사할 시설 세 곳과 방법을 정합니다. 조사는 수업 뒤 편한 날에 하고 활동지 4에 기록합니다(목표 B).
시간: 약 4분
이렇게 말해 보세요
- “우리 마을에서 조사하고 싶은 시설 세 곳을 골라 볼까? 오늘 배운 시설이 아니어도 돼.”
- “그곳은 어떤 방법으로 알아볼까? 활동지 4에 시설 이름과 방법을 먼저 적어 두자.”
- “조사하는 날에는 그곳에서 무슨 일을 하는지 알아내서 적을 거야.”
예상 답
- 예: 도서관(둘러보기), 새로 생긴 빵집(간판 읽기), 주민센터(여쭈어 보기)
정답
- 기준: ① 시설 세 곳을 정함 ② 시설마다 알아볼 방법을 고름 ③ 조사한 뒤 하는 일을 기록표에 적음. 계획 단계(①②)는 오늘 확인하고, ③은 활동지 4로 확인합니다. 우리 마을의 시설은 집마다 다르므로 정해진 답이 없습니다.
막히면
- 시설이 떠오르지 않으면 S02에서 말한 곳부터 고르게 합니다.
주의
- 걸어서 조사할 때는 반드시 어른이 함께하고, 길을 건널 때는 신호를 지킵니다.
- 부모님도 모르는 시설이 있을 수 있습니다. 함께 알아보는 과정 자체가 조사입니다.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다음 학습과 복습]
목적: 핵심을 정리하고 다음 수업 첫 5분에 풀 복습 질문을 알려 줍니다.
시간: 약 2분
이렇게 말해 보세요
- “오늘 배운 것을 한 문장으로 말해 볼래?”
- “조사는 언제 해 볼까?”
예상 답
- “시설마다 하는 일이 달라요. 필요한 일에 맞는 곳에 가요.”
정답
- ① 소방서 ② 우체국 ③ 아껴 써요(깨끗하게 쓰고, 차례를 지켜요).
막히면
- S03~S05의 카드를 다시 보여 줍니다.
주의
- 다음 수업(서로 돕는 마을 사람들)에서는 시설에서 일하는 사람들을 배웁니다. 조사하러 갔을 때 그곳에서 일하는 분이 누구인지도 함께 보아 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보충(학교의 장소로 장소마다 하는 일 익히기)]
목적: S02에서 장소의 이름이나 하는 일을 말하기 어려워하면, 아이에게 익숙한 학교의 장소로 ‘장소마다 하는 일이 다르다’는 것을 먼저 익힙니다.
시간: 약 4분
이렇게 말해 보세요
- “학교에서 넘어져 다치면 어디에 가? 책을 읽고 싶으면? 점심은 어디에서 먹어?”
- “마을에도 비슷한 곳이 있어. 다치면 병원, 책은 도서관에 가.”
정답
- 보건실 – 다친 곳을 치료해요, 도서실 – 책을 읽고 빌려요, 급식실 – 점심을 먹어요. 마을에서 비슷한 곳: 병원, 도서관 (장소와 하는 일을 짝지어 말하면 맞음)
막히면
- 학교 가는 길에 실제로 장소를 가리키며 “여기는 무엇을 하는 곳일까?”를 묻는 놀이를 합니다.
주의
- 이 차시는 계획상 앞 차시가 없습니다. 보충으로도 어려우면 1학년 ‘학교의 장소와 사람들’(KR22-G01-SOC-SCHOOL-L01)과 가까운 내용이므로 그 차시를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마을과공동체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마을의 시설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마을의 시설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사회·역사 · 마을의 시설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마을의 시설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마을에는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곳이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시설이 하는 일을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우리 마을 시설을 조사해요.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본 곳 떠올리기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가까이에서 가 본 곳을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본 곳 하나는?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거기서 무엇을 했나요?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보건실은 무엇을 하는 곳?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것을 얻는 곳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시설은 사람들을 위해 일을 해요.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시설마다 하는 일이 달라요.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물건을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사요.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아플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치료를 받아요.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우체국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편지와 소포를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마을을 지키는 곳</a:t>
            </a:r>
            <a:endParaRPr lang="ko-KR" sz="4400" dirty="0"/>
          </a:p>
        </p:txBody>
      </p:sp>
      <p:sp>
        <p:nvSpPr>
          <p:cNvPr id="3" name="S04-card19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나거나 다치면 119,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위험할 때는 112에 전화해요.</a:t>
            </a:r>
            <a:endParaRPr lang="ko-KR" sz="3200" dirty="0"/>
          </a:p>
        </p:txBody>
      </p:sp>
      <p:sp>
        <p:nvSpPr>
          <p:cNvPr id="5" name="S04-card21"/>
          <p:cNvSpPr/>
          <p:nvPr/>
        </p:nvSpPr>
        <p:spPr>
          <a:xfrm>
            <a:off x="548640" y="189992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2"/>
          <p:cNvSpPr txBox="1"/>
          <p:nvPr/>
        </p:nvSpPr>
        <p:spPr>
          <a:xfrm>
            <a:off x="822960" y="203708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소방서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끄고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다친 사람을 구해요.</a:t>
            </a:r>
            <a:endParaRPr lang="ko-KR" sz="3200" dirty="0"/>
          </a:p>
        </p:txBody>
      </p:sp>
      <p:sp>
        <p:nvSpPr>
          <p:cNvPr id="7" name="S04-card23"/>
          <p:cNvSpPr/>
          <p:nvPr/>
        </p:nvSpPr>
        <p:spPr>
          <a:xfrm>
            <a:off x="6208776" y="189992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4"/>
          <p:cNvSpPr txBox="1"/>
          <p:nvPr/>
        </p:nvSpPr>
        <p:spPr>
          <a:xfrm>
            <a:off x="6483096" y="203708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경찰서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마을을 지키고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 잃은 사람을 도와요.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쓰는 곳</a:t>
            </a:r>
            <a:endParaRPr lang="ko-KR" sz="44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함께 쓰니까 아껴 써요.</a:t>
            </a:r>
            <a:endParaRPr lang="ko-KR" sz="3200" dirty="0"/>
          </a:p>
        </p:txBody>
      </p:sp>
      <p:sp>
        <p:nvSpPr>
          <p:cNvPr id="5" name="S05-card27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8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읽고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빌려요.</a:t>
            </a:r>
            <a:endParaRPr lang="ko-KR" sz="3200" dirty="0"/>
          </a:p>
        </p:txBody>
      </p:sp>
      <p:sp>
        <p:nvSpPr>
          <p:cNvPr id="7" name="S05-card29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30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놀고 쉬고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 둘러보기</a:t>
            </a:r>
            <a:endParaRPr lang="ko-KR" sz="4400" dirty="0"/>
          </a:p>
        </p:txBody>
      </p:sp>
      <p:sp>
        <p:nvSpPr>
          <p:cNvPr id="3" name="S06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시설을 짚고, 하는 일을 말해요.</a:t>
            </a:r>
            <a:endParaRPr lang="ko-KR" sz="3200" dirty="0"/>
          </a:p>
        </p:txBody>
      </p:sp>
      <p:sp>
        <p:nvSpPr>
          <p:cNvPr id="5" name="S06-figure33" descr="별빛마을 그림: 가운데에 가로로 큰길이 있다. 큰길 위쪽에 왼쪽부터 소방서, 우체국, 도서관, 공원이 한 줄로 있고, 큰길 아래쪽에 왼쪽부터 가게, 지호네, 병원, 경찰서가 한 줄로 있다. 건물의 짙은 막대(문)는 큰길 쪽에 있다."/>
          <p:cNvSpPr/>
          <p:nvPr/>
        </p:nvSpPr>
        <p:spPr>
          <a:xfrm>
            <a:off x="647700" y="2914223"/>
            <a:ext cx="10893552" cy="618074"/>
          </a:xfrm>
          <a:custGeom>
            <a:avLst/>
            <a:gdLst/>
            <a:ahLst/>
            <a:cxnLst/>
            <a:rect l="l" t="t" r="r" b="b"/>
            <a:pathLst>
              <a:path w="10893552" h="618074">
                <a:moveTo>
                  <a:pt x="0" y="618074"/>
                </a:moveTo>
                <a:lnTo>
                  <a:pt x="10893552" y="618074"/>
                </a:lnTo>
                <a:lnTo>
                  <a:pt x="108935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" name="S06-mark34"/>
          <p:cNvSpPr/>
          <p:nvPr/>
        </p:nvSpPr>
        <p:spPr>
          <a:xfrm>
            <a:off x="879478" y="1871223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mark35"/>
          <p:cNvSpPr/>
          <p:nvPr/>
        </p:nvSpPr>
        <p:spPr>
          <a:xfrm>
            <a:off x="1729329" y="2566557"/>
            <a:ext cx="618074" cy="154518"/>
          </a:xfrm>
          <a:custGeom>
            <a:avLst/>
            <a:gdLst/>
            <a:ahLst/>
            <a:cxnLst/>
            <a:rect l="l" t="t" r="r" b="b"/>
            <a:pathLst>
              <a:path w="618074" h="154518">
                <a:moveTo>
                  <a:pt x="0" y="154518"/>
                </a:moveTo>
                <a:lnTo>
                  <a:pt x="618074" y="154518"/>
                </a:lnTo>
                <a:lnTo>
                  <a:pt x="61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8" name="S06-mark36"/>
          <p:cNvSpPr/>
          <p:nvPr/>
        </p:nvSpPr>
        <p:spPr>
          <a:xfrm>
            <a:off x="3583551" y="1871223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mark37"/>
          <p:cNvSpPr/>
          <p:nvPr/>
        </p:nvSpPr>
        <p:spPr>
          <a:xfrm>
            <a:off x="4433402" y="2566557"/>
            <a:ext cx="618074" cy="154518"/>
          </a:xfrm>
          <a:custGeom>
            <a:avLst/>
            <a:gdLst/>
            <a:ahLst/>
            <a:cxnLst/>
            <a:rect l="l" t="t" r="r" b="b"/>
            <a:pathLst>
              <a:path w="618074" h="154518">
                <a:moveTo>
                  <a:pt x="0" y="154518"/>
                </a:moveTo>
                <a:lnTo>
                  <a:pt x="618074" y="154518"/>
                </a:lnTo>
                <a:lnTo>
                  <a:pt x="61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0" name="S06-mark38"/>
          <p:cNvSpPr/>
          <p:nvPr/>
        </p:nvSpPr>
        <p:spPr>
          <a:xfrm>
            <a:off x="6287624" y="1871223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mark39"/>
          <p:cNvSpPr/>
          <p:nvPr/>
        </p:nvSpPr>
        <p:spPr>
          <a:xfrm>
            <a:off x="7137476" y="2566557"/>
            <a:ext cx="618074" cy="154518"/>
          </a:xfrm>
          <a:custGeom>
            <a:avLst/>
            <a:gdLst/>
            <a:ahLst/>
            <a:cxnLst/>
            <a:rect l="l" t="t" r="r" b="b"/>
            <a:pathLst>
              <a:path w="618074" h="154518">
                <a:moveTo>
                  <a:pt x="0" y="154518"/>
                </a:moveTo>
                <a:lnTo>
                  <a:pt x="618074" y="154518"/>
                </a:lnTo>
                <a:lnTo>
                  <a:pt x="61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2" name="S06-mark40"/>
          <p:cNvSpPr/>
          <p:nvPr/>
        </p:nvSpPr>
        <p:spPr>
          <a:xfrm>
            <a:off x="8991697" y="1871223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mark41"/>
          <p:cNvSpPr/>
          <p:nvPr/>
        </p:nvSpPr>
        <p:spPr>
          <a:xfrm>
            <a:off x="879478" y="3725445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mark42"/>
          <p:cNvSpPr/>
          <p:nvPr/>
        </p:nvSpPr>
        <p:spPr>
          <a:xfrm>
            <a:off x="1729329" y="3725445"/>
            <a:ext cx="618074" cy="154518"/>
          </a:xfrm>
          <a:custGeom>
            <a:avLst/>
            <a:gdLst/>
            <a:ahLst/>
            <a:cxnLst/>
            <a:rect l="l" t="t" r="r" b="b"/>
            <a:pathLst>
              <a:path w="618074" h="154518">
                <a:moveTo>
                  <a:pt x="0" y="154518"/>
                </a:moveTo>
                <a:lnTo>
                  <a:pt x="618074" y="154518"/>
                </a:lnTo>
                <a:lnTo>
                  <a:pt x="61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5" name="S06-mark43"/>
          <p:cNvSpPr/>
          <p:nvPr/>
        </p:nvSpPr>
        <p:spPr>
          <a:xfrm>
            <a:off x="3583551" y="3725445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mark44"/>
          <p:cNvSpPr/>
          <p:nvPr/>
        </p:nvSpPr>
        <p:spPr>
          <a:xfrm>
            <a:off x="4433402" y="3725445"/>
            <a:ext cx="618074" cy="154518"/>
          </a:xfrm>
          <a:custGeom>
            <a:avLst/>
            <a:gdLst/>
            <a:ahLst/>
            <a:cxnLst/>
            <a:rect l="l" t="t" r="r" b="b"/>
            <a:pathLst>
              <a:path w="618074" h="154518">
                <a:moveTo>
                  <a:pt x="0" y="154518"/>
                </a:moveTo>
                <a:lnTo>
                  <a:pt x="618074" y="154518"/>
                </a:lnTo>
                <a:lnTo>
                  <a:pt x="61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7" name="S06-mark45"/>
          <p:cNvSpPr/>
          <p:nvPr/>
        </p:nvSpPr>
        <p:spPr>
          <a:xfrm>
            <a:off x="6287624" y="3725445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mark46"/>
          <p:cNvSpPr/>
          <p:nvPr/>
        </p:nvSpPr>
        <p:spPr>
          <a:xfrm>
            <a:off x="7137476" y="3725445"/>
            <a:ext cx="618074" cy="154518"/>
          </a:xfrm>
          <a:custGeom>
            <a:avLst/>
            <a:gdLst/>
            <a:ahLst/>
            <a:cxnLst/>
            <a:rect l="l" t="t" r="r" b="b"/>
            <a:pathLst>
              <a:path w="618074" h="154518">
                <a:moveTo>
                  <a:pt x="0" y="154518"/>
                </a:moveTo>
                <a:lnTo>
                  <a:pt x="618074" y="154518"/>
                </a:lnTo>
                <a:lnTo>
                  <a:pt x="61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9" name="S06-mark47"/>
          <p:cNvSpPr/>
          <p:nvPr/>
        </p:nvSpPr>
        <p:spPr>
          <a:xfrm>
            <a:off x="8991697" y="3725445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mark48"/>
          <p:cNvSpPr/>
          <p:nvPr/>
        </p:nvSpPr>
        <p:spPr>
          <a:xfrm>
            <a:off x="9841549" y="3725445"/>
            <a:ext cx="618074" cy="154518"/>
          </a:xfrm>
          <a:custGeom>
            <a:avLst/>
            <a:gdLst/>
            <a:ahLst/>
            <a:cxnLst/>
            <a:rect l="l" t="t" r="r" b="b"/>
            <a:pathLst>
              <a:path w="618074" h="154518">
                <a:moveTo>
                  <a:pt x="0" y="154518"/>
                </a:moveTo>
                <a:lnTo>
                  <a:pt x="618074" y="154518"/>
                </a:lnTo>
                <a:lnTo>
                  <a:pt x="61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21" name="S06-label50"/>
          <p:cNvSpPr txBox="1"/>
          <p:nvPr/>
        </p:nvSpPr>
        <p:spPr>
          <a:xfrm>
            <a:off x="1498108" y="2051145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소방서</a:t>
            </a:r>
            <a:endParaRPr lang="ko-KR" sz="2600" dirty="0"/>
          </a:p>
        </p:txBody>
      </p:sp>
      <p:sp>
        <p:nvSpPr>
          <p:cNvPr id="22" name="S06-label52"/>
          <p:cNvSpPr txBox="1"/>
          <p:nvPr/>
        </p:nvSpPr>
        <p:spPr>
          <a:xfrm>
            <a:off x="4202181" y="2051145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우체국</a:t>
            </a:r>
            <a:endParaRPr lang="ko-KR" sz="2600" dirty="0"/>
          </a:p>
        </p:txBody>
      </p:sp>
      <p:sp>
        <p:nvSpPr>
          <p:cNvPr id="23" name="S06-label54"/>
          <p:cNvSpPr txBox="1"/>
          <p:nvPr/>
        </p:nvSpPr>
        <p:spPr>
          <a:xfrm>
            <a:off x="6906255" y="2051145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2600" dirty="0"/>
          </a:p>
        </p:txBody>
      </p:sp>
      <p:sp>
        <p:nvSpPr>
          <p:cNvPr id="24" name="S06-label56"/>
          <p:cNvSpPr txBox="1"/>
          <p:nvPr/>
        </p:nvSpPr>
        <p:spPr>
          <a:xfrm>
            <a:off x="9772126" y="2051145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2600" dirty="0"/>
          </a:p>
        </p:txBody>
      </p:sp>
      <p:sp>
        <p:nvSpPr>
          <p:cNvPr id="25" name="S06-label58"/>
          <p:cNvSpPr txBox="1"/>
          <p:nvPr/>
        </p:nvSpPr>
        <p:spPr>
          <a:xfrm>
            <a:off x="1659906" y="3982625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</a:t>
            </a:r>
            <a:endParaRPr lang="ko-KR" sz="2600" dirty="0"/>
          </a:p>
        </p:txBody>
      </p:sp>
      <p:sp>
        <p:nvSpPr>
          <p:cNvPr id="26" name="S06-label60"/>
          <p:cNvSpPr txBox="1"/>
          <p:nvPr/>
        </p:nvSpPr>
        <p:spPr>
          <a:xfrm>
            <a:off x="4202181" y="3982625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지호네</a:t>
            </a:r>
            <a:endParaRPr lang="ko-KR" sz="2600" dirty="0"/>
          </a:p>
        </p:txBody>
      </p:sp>
      <p:sp>
        <p:nvSpPr>
          <p:cNvPr id="27" name="S06-label62"/>
          <p:cNvSpPr txBox="1"/>
          <p:nvPr/>
        </p:nvSpPr>
        <p:spPr>
          <a:xfrm>
            <a:off x="7068053" y="3982625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</a:t>
            </a:r>
            <a:endParaRPr lang="ko-KR" sz="2600" dirty="0"/>
          </a:p>
        </p:txBody>
      </p:sp>
      <p:sp>
        <p:nvSpPr>
          <p:cNvPr id="28" name="S06-label64"/>
          <p:cNvSpPr txBox="1"/>
          <p:nvPr/>
        </p:nvSpPr>
        <p:spPr>
          <a:xfrm>
            <a:off x="9610328" y="3982625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경찰서</a:t>
            </a:r>
            <a:endParaRPr lang="ko-KR" sz="2600" dirty="0"/>
          </a:p>
        </p:txBody>
      </p:sp>
      <p:sp>
        <p:nvSpPr>
          <p:cNvPr id="29" name="S06-label66"/>
          <p:cNvSpPr txBox="1"/>
          <p:nvPr/>
        </p:nvSpPr>
        <p:spPr>
          <a:xfrm>
            <a:off x="5716016" y="3016885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갈까요?</a:t>
            </a:r>
            <a:endParaRPr lang="ko-KR" sz="4400" dirty="0"/>
          </a:p>
        </p:txBody>
      </p:sp>
      <p:sp>
        <p:nvSpPr>
          <p:cNvPr id="3" name="S07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시설을 고르고 까닭도 말해요.</a:t>
            </a:r>
            <a:endParaRPr lang="ko-KR" sz="3200" dirty="0"/>
          </a:p>
        </p:txBody>
      </p:sp>
      <p:sp>
        <p:nvSpPr>
          <p:cNvPr id="4" name="S07-card68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69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 · 병원 · 우체국 · 소방서 · 경찰서 · 도서관 · 공원</a:t>
            </a:r>
            <a:endParaRPr lang="ko-KR" sz="3200" dirty="0"/>
          </a:p>
        </p:txBody>
      </p:sp>
      <p:sp>
        <p:nvSpPr>
          <p:cNvPr id="6" name="S07-chip70"/>
          <p:cNvSpPr txBox="1"/>
          <p:nvPr/>
        </p:nvSpPr>
        <p:spPr>
          <a:xfrm>
            <a:off x="548640" y="2110063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71"/>
          <p:cNvSpPr txBox="1"/>
          <p:nvPr/>
        </p:nvSpPr>
        <p:spPr>
          <a:xfrm>
            <a:off x="1344168" y="2011680"/>
            <a:ext cx="10296144" cy="76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 편지를 보내요.</a:t>
            </a:r>
            <a:endParaRPr lang="ko-KR" sz="3200" dirty="0"/>
          </a:p>
        </p:txBody>
      </p:sp>
      <p:sp>
        <p:nvSpPr>
          <p:cNvPr id="8" name="S07-chip72"/>
          <p:cNvSpPr txBox="1"/>
          <p:nvPr/>
        </p:nvSpPr>
        <p:spPr>
          <a:xfrm>
            <a:off x="548640" y="30566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73"/>
          <p:cNvSpPr txBox="1"/>
          <p:nvPr/>
        </p:nvSpPr>
        <p:spPr>
          <a:xfrm>
            <a:off x="1344168" y="2958253"/>
            <a:ext cx="10296144" cy="76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공룡 책을 빌리고 싶어요.</a:t>
            </a:r>
            <a:endParaRPr lang="ko-KR" sz="3200" dirty="0"/>
          </a:p>
        </p:txBody>
      </p:sp>
      <p:sp>
        <p:nvSpPr>
          <p:cNvPr id="10" name="S07-chip74"/>
          <p:cNvSpPr txBox="1"/>
          <p:nvPr/>
        </p:nvSpPr>
        <p:spPr>
          <a:xfrm>
            <a:off x="548640" y="400320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75"/>
          <p:cNvSpPr txBox="1"/>
          <p:nvPr/>
        </p:nvSpPr>
        <p:spPr>
          <a:xfrm>
            <a:off x="1344168" y="3904827"/>
            <a:ext cx="10296144" cy="76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열이 나고 기침을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나면 어디일까?</a:t>
            </a:r>
            <a:endParaRPr lang="ko-KR" sz="4400" dirty="0"/>
          </a:p>
        </p:txBody>
      </p:sp>
      <p:sp>
        <p:nvSpPr>
          <p:cNvPr id="3" name="S08-card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마을에서 불이 났어요. 두 친구가 말했어요.</a:t>
            </a:r>
            <a:endParaRPr lang="ko-KR" sz="3200" dirty="0"/>
          </a:p>
        </p:txBody>
      </p:sp>
      <p:sp>
        <p:nvSpPr>
          <p:cNvPr id="5" name="S08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왜 그럴까요?</a:t>
            </a:r>
            <a:endParaRPr lang="ko-KR" sz="3200" dirty="0"/>
          </a:p>
        </p:txBody>
      </p:sp>
      <p:sp>
        <p:nvSpPr>
          <p:cNvPr id="7" name="S08-chip8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text8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“경찰서에서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꺼 줘요.”</a:t>
            </a:r>
            <a:endParaRPr lang="ko-KR" sz="3200" dirty="0"/>
          </a:p>
        </p:txBody>
      </p:sp>
      <p:sp>
        <p:nvSpPr>
          <p:cNvPr id="9" name="S08-chip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text8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“소방서에서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꺼 줘요.”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별빛마을에서 찾아요</a:t>
            </a:r>
            <a:endParaRPr lang="ko-KR" sz="4400" dirty="0"/>
          </a:p>
        </p:txBody>
      </p:sp>
      <p:sp>
        <p:nvSpPr>
          <p:cNvPr id="3" name="S09-card84"/>
          <p:cNvSpPr/>
          <p:nvPr/>
        </p:nvSpPr>
        <p:spPr>
          <a:xfrm>
            <a:off x="548640" y="4401312"/>
            <a:ext cx="11091672" cy="1816608"/>
          </a:xfrm>
          <a:prstGeom prst="roundRect">
            <a:avLst>
              <a:gd name="adj" fmla="val 604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85"/>
          <p:cNvSpPr txBox="1"/>
          <p:nvPr/>
        </p:nvSpPr>
        <p:spPr>
          <a:xfrm>
            <a:off x="822960" y="4538472"/>
            <a:ext cx="10543032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불을 끄는 곳을 짚어요.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책을 빌리는 곳을 짚어요.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지호네 옆의 시설 두 곳은?</a:t>
            </a:r>
            <a:endParaRPr lang="ko-KR" sz="3200" dirty="0"/>
          </a:p>
        </p:txBody>
      </p:sp>
      <p:sp>
        <p:nvSpPr>
          <p:cNvPr id="5" name="S09-figure86" descr="별빛마을 그림: 가운데에 가로로 큰길이 있다. 큰길 위쪽에 왼쪽부터 소방서, 우체국, 도서관, 공원이 한 줄로 있고, 큰길 아래쪽에 왼쪽부터 가게, 지호네, 병원, 경찰서가 한 줄로 있다. 건물의 짙은 막대(문)는 큰길 쪽에 있다."/>
          <p:cNvSpPr/>
          <p:nvPr/>
        </p:nvSpPr>
        <p:spPr>
          <a:xfrm>
            <a:off x="759213" y="2446586"/>
            <a:ext cx="10670525" cy="605420"/>
          </a:xfrm>
          <a:custGeom>
            <a:avLst/>
            <a:gdLst/>
            <a:ahLst/>
            <a:cxnLst/>
            <a:rect l="l" t="t" r="r" b="b"/>
            <a:pathLst>
              <a:path w="10670525" h="605420">
                <a:moveTo>
                  <a:pt x="0" y="605420"/>
                </a:moveTo>
                <a:lnTo>
                  <a:pt x="10670525" y="605420"/>
                </a:lnTo>
                <a:lnTo>
                  <a:pt x="106705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" name="S09-mark87"/>
          <p:cNvSpPr/>
          <p:nvPr/>
        </p:nvSpPr>
        <p:spPr>
          <a:xfrm>
            <a:off x="986246" y="142494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9-mark88"/>
          <p:cNvSpPr/>
          <p:nvPr/>
        </p:nvSpPr>
        <p:spPr>
          <a:xfrm>
            <a:off x="1818698" y="2106037"/>
            <a:ext cx="605420" cy="151355"/>
          </a:xfrm>
          <a:custGeom>
            <a:avLst/>
            <a:gdLst/>
            <a:ahLst/>
            <a:cxnLst/>
            <a:rect l="l" t="t" r="r" b="b"/>
            <a:pathLst>
              <a:path w="605420" h="151355">
                <a:moveTo>
                  <a:pt x="0" y="151355"/>
                </a:moveTo>
                <a:lnTo>
                  <a:pt x="605420" y="151355"/>
                </a:lnTo>
                <a:lnTo>
                  <a:pt x="605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8" name="S09-mark89"/>
          <p:cNvSpPr/>
          <p:nvPr/>
        </p:nvSpPr>
        <p:spPr>
          <a:xfrm>
            <a:off x="3634958" y="142494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mark90"/>
          <p:cNvSpPr/>
          <p:nvPr/>
        </p:nvSpPr>
        <p:spPr>
          <a:xfrm>
            <a:off x="4467410" y="2106037"/>
            <a:ext cx="605420" cy="151355"/>
          </a:xfrm>
          <a:custGeom>
            <a:avLst/>
            <a:gdLst/>
            <a:ahLst/>
            <a:cxnLst/>
            <a:rect l="l" t="t" r="r" b="b"/>
            <a:pathLst>
              <a:path w="605420" h="151355">
                <a:moveTo>
                  <a:pt x="0" y="151355"/>
                </a:moveTo>
                <a:lnTo>
                  <a:pt x="605420" y="151355"/>
                </a:lnTo>
                <a:lnTo>
                  <a:pt x="605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0" name="S09-mark91"/>
          <p:cNvSpPr/>
          <p:nvPr/>
        </p:nvSpPr>
        <p:spPr>
          <a:xfrm>
            <a:off x="6283670" y="142494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mark92"/>
          <p:cNvSpPr/>
          <p:nvPr/>
        </p:nvSpPr>
        <p:spPr>
          <a:xfrm>
            <a:off x="7116122" y="2106037"/>
            <a:ext cx="605420" cy="151355"/>
          </a:xfrm>
          <a:custGeom>
            <a:avLst/>
            <a:gdLst/>
            <a:ahLst/>
            <a:cxnLst/>
            <a:rect l="l" t="t" r="r" b="b"/>
            <a:pathLst>
              <a:path w="605420" h="151355">
                <a:moveTo>
                  <a:pt x="0" y="151355"/>
                </a:moveTo>
                <a:lnTo>
                  <a:pt x="605420" y="151355"/>
                </a:lnTo>
                <a:lnTo>
                  <a:pt x="605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2" name="S09-mark93"/>
          <p:cNvSpPr/>
          <p:nvPr/>
        </p:nvSpPr>
        <p:spPr>
          <a:xfrm>
            <a:off x="8932382" y="142494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9-mark94"/>
          <p:cNvSpPr/>
          <p:nvPr/>
        </p:nvSpPr>
        <p:spPr>
          <a:xfrm>
            <a:off x="986246" y="324120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9-mark95"/>
          <p:cNvSpPr/>
          <p:nvPr/>
        </p:nvSpPr>
        <p:spPr>
          <a:xfrm>
            <a:off x="1818698" y="3241200"/>
            <a:ext cx="605420" cy="151355"/>
          </a:xfrm>
          <a:custGeom>
            <a:avLst/>
            <a:gdLst/>
            <a:ahLst/>
            <a:cxnLst/>
            <a:rect l="l" t="t" r="r" b="b"/>
            <a:pathLst>
              <a:path w="605420" h="151355">
                <a:moveTo>
                  <a:pt x="0" y="151355"/>
                </a:moveTo>
                <a:lnTo>
                  <a:pt x="605420" y="151355"/>
                </a:lnTo>
                <a:lnTo>
                  <a:pt x="605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5" name="S09-mark96"/>
          <p:cNvSpPr/>
          <p:nvPr/>
        </p:nvSpPr>
        <p:spPr>
          <a:xfrm>
            <a:off x="3634958" y="324120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mark97"/>
          <p:cNvSpPr/>
          <p:nvPr/>
        </p:nvSpPr>
        <p:spPr>
          <a:xfrm>
            <a:off x="4467410" y="3241200"/>
            <a:ext cx="605420" cy="151355"/>
          </a:xfrm>
          <a:custGeom>
            <a:avLst/>
            <a:gdLst/>
            <a:ahLst/>
            <a:cxnLst/>
            <a:rect l="l" t="t" r="r" b="b"/>
            <a:pathLst>
              <a:path w="605420" h="151355">
                <a:moveTo>
                  <a:pt x="0" y="151355"/>
                </a:moveTo>
                <a:lnTo>
                  <a:pt x="605420" y="151355"/>
                </a:lnTo>
                <a:lnTo>
                  <a:pt x="605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7" name="S09-mark98"/>
          <p:cNvSpPr/>
          <p:nvPr/>
        </p:nvSpPr>
        <p:spPr>
          <a:xfrm>
            <a:off x="6283670" y="324120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9-mark99"/>
          <p:cNvSpPr/>
          <p:nvPr/>
        </p:nvSpPr>
        <p:spPr>
          <a:xfrm>
            <a:off x="7116122" y="3241200"/>
            <a:ext cx="605420" cy="151355"/>
          </a:xfrm>
          <a:custGeom>
            <a:avLst/>
            <a:gdLst/>
            <a:ahLst/>
            <a:cxnLst/>
            <a:rect l="l" t="t" r="r" b="b"/>
            <a:pathLst>
              <a:path w="605420" h="151355">
                <a:moveTo>
                  <a:pt x="0" y="151355"/>
                </a:moveTo>
                <a:lnTo>
                  <a:pt x="605420" y="151355"/>
                </a:lnTo>
                <a:lnTo>
                  <a:pt x="605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9" name="S09-mark100"/>
          <p:cNvSpPr/>
          <p:nvPr/>
        </p:nvSpPr>
        <p:spPr>
          <a:xfrm>
            <a:off x="8932382" y="324120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9-mark101"/>
          <p:cNvSpPr/>
          <p:nvPr/>
        </p:nvSpPr>
        <p:spPr>
          <a:xfrm>
            <a:off x="9764834" y="3241200"/>
            <a:ext cx="605420" cy="151355"/>
          </a:xfrm>
          <a:custGeom>
            <a:avLst/>
            <a:gdLst/>
            <a:ahLst/>
            <a:cxnLst/>
            <a:rect l="l" t="t" r="r" b="b"/>
            <a:pathLst>
              <a:path w="605420" h="151355">
                <a:moveTo>
                  <a:pt x="0" y="151355"/>
                </a:moveTo>
                <a:lnTo>
                  <a:pt x="605420" y="151355"/>
                </a:lnTo>
                <a:lnTo>
                  <a:pt x="605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21" name="S09-label103"/>
          <p:cNvSpPr txBox="1"/>
          <p:nvPr/>
        </p:nvSpPr>
        <p:spPr>
          <a:xfrm>
            <a:off x="1581150" y="1596952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소방서</a:t>
            </a:r>
            <a:endParaRPr lang="ko-KR" sz="2600" dirty="0"/>
          </a:p>
        </p:txBody>
      </p:sp>
      <p:sp>
        <p:nvSpPr>
          <p:cNvPr id="22" name="S09-label105"/>
          <p:cNvSpPr txBox="1"/>
          <p:nvPr/>
        </p:nvSpPr>
        <p:spPr>
          <a:xfrm>
            <a:off x="4229862" y="1596952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우체국</a:t>
            </a:r>
            <a:endParaRPr lang="ko-KR" sz="2600" dirty="0"/>
          </a:p>
        </p:txBody>
      </p:sp>
      <p:sp>
        <p:nvSpPr>
          <p:cNvPr id="23" name="S09-label107"/>
          <p:cNvSpPr txBox="1"/>
          <p:nvPr/>
        </p:nvSpPr>
        <p:spPr>
          <a:xfrm>
            <a:off x="6878574" y="1596952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2600" dirty="0"/>
          </a:p>
        </p:txBody>
      </p:sp>
      <p:sp>
        <p:nvSpPr>
          <p:cNvPr id="24" name="S09-label109"/>
          <p:cNvSpPr txBox="1"/>
          <p:nvPr/>
        </p:nvSpPr>
        <p:spPr>
          <a:xfrm>
            <a:off x="9689084" y="1596952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2600" dirty="0"/>
          </a:p>
        </p:txBody>
      </p:sp>
      <p:sp>
        <p:nvSpPr>
          <p:cNvPr id="25" name="S09-label111"/>
          <p:cNvSpPr txBox="1"/>
          <p:nvPr/>
        </p:nvSpPr>
        <p:spPr>
          <a:xfrm>
            <a:off x="1742948" y="3488890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</a:t>
            </a:r>
            <a:endParaRPr lang="ko-KR" sz="2600" dirty="0"/>
          </a:p>
        </p:txBody>
      </p:sp>
      <p:sp>
        <p:nvSpPr>
          <p:cNvPr id="26" name="S09-label113"/>
          <p:cNvSpPr txBox="1"/>
          <p:nvPr/>
        </p:nvSpPr>
        <p:spPr>
          <a:xfrm>
            <a:off x="4229862" y="3488890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지호네</a:t>
            </a:r>
            <a:endParaRPr lang="ko-KR" sz="2600" dirty="0"/>
          </a:p>
        </p:txBody>
      </p:sp>
      <p:sp>
        <p:nvSpPr>
          <p:cNvPr id="27" name="S09-label115"/>
          <p:cNvSpPr txBox="1"/>
          <p:nvPr/>
        </p:nvSpPr>
        <p:spPr>
          <a:xfrm>
            <a:off x="7040372" y="3488890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</a:t>
            </a:r>
            <a:endParaRPr lang="ko-KR" sz="2600" dirty="0"/>
          </a:p>
        </p:txBody>
      </p:sp>
      <p:sp>
        <p:nvSpPr>
          <p:cNvPr id="28" name="S09-label117"/>
          <p:cNvSpPr txBox="1"/>
          <p:nvPr/>
        </p:nvSpPr>
        <p:spPr>
          <a:xfrm>
            <a:off x="9527286" y="3488890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경찰서</a:t>
            </a:r>
            <a:endParaRPr lang="ko-KR" sz="2600" dirty="0"/>
          </a:p>
        </p:txBody>
      </p:sp>
      <p:sp>
        <p:nvSpPr>
          <p:cNvPr id="29" name="S09-label119"/>
          <p:cNvSpPr txBox="1"/>
          <p:nvPr/>
        </p:nvSpPr>
        <p:spPr>
          <a:xfrm>
            <a:off x="5716016" y="2542921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시설을 고르고 까닭도 말해요.</a:t>
            </a:r>
            <a:endParaRPr lang="ko-KR" sz="3200" dirty="0"/>
          </a:p>
        </p:txBody>
      </p:sp>
      <p:sp>
        <p:nvSpPr>
          <p:cNvPr id="4" name="S10-card121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122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 · 병원 · 우체국 · 소방서 · 경찰서 · 도서관 · 공원</a:t>
            </a:r>
            <a:endParaRPr lang="ko-KR" sz="3200" dirty="0"/>
          </a:p>
        </p:txBody>
      </p:sp>
      <p:sp>
        <p:nvSpPr>
          <p:cNvPr id="6" name="S10-chip123"/>
          <p:cNvSpPr txBox="1"/>
          <p:nvPr/>
        </p:nvSpPr>
        <p:spPr>
          <a:xfrm>
            <a:off x="548640" y="23467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124"/>
          <p:cNvSpPr txBox="1"/>
          <p:nvPr/>
        </p:nvSpPr>
        <p:spPr>
          <a:xfrm>
            <a:off x="1344168" y="2011680"/>
            <a:ext cx="4567428" cy="1236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넘어져 무릎을 다쳤어요.</a:t>
            </a:r>
            <a:endParaRPr lang="ko-KR" sz="3200" dirty="0"/>
          </a:p>
        </p:txBody>
      </p:sp>
      <p:sp>
        <p:nvSpPr>
          <p:cNvPr id="8" name="S10-chip125"/>
          <p:cNvSpPr txBox="1"/>
          <p:nvPr/>
        </p:nvSpPr>
        <p:spPr>
          <a:xfrm>
            <a:off x="6277356" y="23467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126"/>
          <p:cNvSpPr txBox="1"/>
          <p:nvPr/>
        </p:nvSpPr>
        <p:spPr>
          <a:xfrm>
            <a:off x="7072884" y="2011680"/>
            <a:ext cx="4567428" cy="1236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저녁에 먹을 두부를 사요.</a:t>
            </a:r>
            <a:endParaRPr lang="ko-KR" sz="3200" dirty="0"/>
          </a:p>
        </p:txBody>
      </p:sp>
      <p:sp>
        <p:nvSpPr>
          <p:cNvPr id="10" name="S10-chip127"/>
          <p:cNvSpPr txBox="1"/>
          <p:nvPr/>
        </p:nvSpPr>
        <p:spPr>
          <a:xfrm>
            <a:off x="548640" y="37665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128"/>
          <p:cNvSpPr txBox="1"/>
          <p:nvPr/>
        </p:nvSpPr>
        <p:spPr>
          <a:xfrm>
            <a:off x="1344168" y="3431540"/>
            <a:ext cx="4567428" cy="1236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길에서 지갑을 주웠어요.</a:t>
            </a:r>
            <a:endParaRPr lang="ko-KR" sz="3200" dirty="0"/>
          </a:p>
        </p:txBody>
      </p:sp>
      <p:sp>
        <p:nvSpPr>
          <p:cNvPr id="12" name="S10-chip129"/>
          <p:cNvSpPr txBox="1"/>
          <p:nvPr/>
        </p:nvSpPr>
        <p:spPr>
          <a:xfrm>
            <a:off x="6277356" y="37665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10-text130"/>
          <p:cNvSpPr txBox="1"/>
          <p:nvPr/>
        </p:nvSpPr>
        <p:spPr>
          <a:xfrm>
            <a:off x="7072884" y="3431540"/>
            <a:ext cx="4567428" cy="1236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줄넘기를 하며 놀아요.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1-card1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‘~하는 곳이니까요.’로 까닭을 말해요.</a:t>
            </a:r>
            <a:endParaRPr lang="ko-KR" sz="3200" dirty="0"/>
          </a:p>
        </p:txBody>
      </p:sp>
      <p:sp>
        <p:nvSpPr>
          <p:cNvPr id="5" name="S11-chip13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134"/>
          <p:cNvSpPr txBox="1"/>
          <p:nvPr/>
        </p:nvSpPr>
        <p:spPr>
          <a:xfrm>
            <a:off x="548640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병원  ② 가게</a:t>
            </a:r>
            <a:endParaRPr lang="ko-KR" sz="3200" dirty="0"/>
          </a:p>
        </p:txBody>
      </p:sp>
      <p:sp>
        <p:nvSpPr>
          <p:cNvPr id="7" name="S11-text135"/>
          <p:cNvSpPr txBox="1"/>
          <p:nvPr/>
        </p:nvSpPr>
        <p:spPr>
          <a:xfrm>
            <a:off x="548640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경찰서  ④ 공원</a:t>
            </a:r>
            <a:endParaRPr lang="ko-KR" sz="3200" dirty="0"/>
          </a:p>
        </p:txBody>
      </p:sp>
      <p:sp>
        <p:nvSpPr>
          <p:cNvPr id="8" name="S11-chip13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9" name="S11-text13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소방서</a:t>
            </a:r>
            <a:endParaRPr lang="ko-KR" sz="3200" dirty="0"/>
          </a:p>
        </p:txBody>
      </p:sp>
      <p:sp>
        <p:nvSpPr>
          <p:cNvPr id="10" name="S11-text13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헷갈림</a:t>
            </a:r>
            <a:endParaRPr lang="ko-KR" sz="2600" dirty="0"/>
          </a:p>
        </p:txBody>
      </p:sp>
      <p:sp>
        <p:nvSpPr>
          <p:cNvPr id="11" name="S11-text13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이름만 말하기</a:t>
            </a:r>
            <a:endParaRPr lang="ko-KR" sz="3200" dirty="0"/>
          </a:p>
        </p:txBody>
      </p:sp>
      <p:sp>
        <p:nvSpPr>
          <p:cNvPr id="12" name="S11-text14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시설을 조사하는 방법</a:t>
            </a:r>
            <a:endParaRPr lang="ko-KR" sz="4400" dirty="0"/>
          </a:p>
        </p:txBody>
      </p:sp>
      <p:sp>
        <p:nvSpPr>
          <p:cNvPr id="3" name="S12-card1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1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알아낸 것은 기록표에 적어요.</a:t>
            </a:r>
            <a:endParaRPr lang="ko-KR" sz="3200" dirty="0"/>
          </a:p>
        </p:txBody>
      </p:sp>
      <p:sp>
        <p:nvSpPr>
          <p:cNvPr id="5" name="S12-card143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2-cardtext144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둘러보기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걸으며 살펴요.</a:t>
            </a:r>
            <a:endParaRPr lang="ko-KR" sz="3200" dirty="0"/>
          </a:p>
        </p:txBody>
      </p:sp>
      <p:sp>
        <p:nvSpPr>
          <p:cNvPr id="7" name="S12-card145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46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간판 읽기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 이름을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읽어요.</a:t>
            </a:r>
            <a:endParaRPr lang="ko-KR" sz="3200" dirty="0"/>
          </a:p>
        </p:txBody>
      </p:sp>
      <p:sp>
        <p:nvSpPr>
          <p:cNvPr id="9" name="S12-card147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148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여쭈어 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일하는 분께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알아볼까요?</a:t>
            </a:r>
            <a:endParaRPr lang="ko-KR" sz="4400" dirty="0"/>
          </a:p>
        </p:txBody>
      </p:sp>
      <p:sp>
        <p:nvSpPr>
          <p:cNvPr id="3" name="S13-text1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방법을 골라요.</a:t>
            </a:r>
            <a:endParaRPr lang="ko-KR" sz="3200" dirty="0"/>
          </a:p>
        </p:txBody>
      </p:sp>
      <p:sp>
        <p:nvSpPr>
          <p:cNvPr id="4" name="S13-card1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1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둘러보기 · 간판 읽기 · 여쭈어 보기</a:t>
            </a:r>
            <a:endParaRPr lang="ko-KR" sz="3200" dirty="0"/>
          </a:p>
        </p:txBody>
      </p:sp>
      <p:sp>
        <p:nvSpPr>
          <p:cNvPr id="6" name="S13-chip15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3-text15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생긴 가게의 이름은?</a:t>
            </a:r>
            <a:endParaRPr lang="ko-KR" sz="3200" dirty="0"/>
          </a:p>
        </p:txBody>
      </p:sp>
      <p:sp>
        <p:nvSpPr>
          <p:cNvPr id="8" name="S13-chip15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3-text15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공원에는 무엇이 있을까?</a:t>
            </a:r>
            <a:endParaRPr lang="ko-KR" sz="3200" dirty="0"/>
          </a:p>
        </p:txBody>
      </p:sp>
      <p:sp>
        <p:nvSpPr>
          <p:cNvPr id="10" name="S13-chip15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3-text15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우체국에서 하는 일은?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마을 조사 계획</a:t>
            </a:r>
            <a:endParaRPr lang="ko-KR" sz="4400" dirty="0"/>
          </a:p>
        </p:txBody>
      </p:sp>
      <p:sp>
        <p:nvSpPr>
          <p:cNvPr id="3" name="S14-card1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꼭 어른과 함께 다녀요.</a:t>
            </a:r>
            <a:endParaRPr lang="ko-KR" sz="3200" dirty="0"/>
          </a:p>
        </p:txBody>
      </p:sp>
      <p:sp>
        <p:nvSpPr>
          <p:cNvPr id="5" name="S14-card160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61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시설 세 곳을 정했어요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방법을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하는 일을 적었어요</a:t>
            </a:r>
            <a:endParaRPr lang="ko-KR" sz="3200" dirty="0"/>
          </a:p>
        </p:txBody>
      </p:sp>
      <p:sp>
        <p:nvSpPr>
          <p:cNvPr id="7" name="S14-stepno162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4-text163"/>
          <p:cNvSpPr txBox="1"/>
          <p:nvPr/>
        </p:nvSpPr>
        <p:spPr>
          <a:xfrm>
            <a:off x="1325880" y="1879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조사할 시설 세 곳을 정해요.</a:t>
            </a:r>
            <a:endParaRPr lang="ko-KR" sz="3200" dirty="0"/>
          </a:p>
        </p:txBody>
      </p:sp>
      <p:sp>
        <p:nvSpPr>
          <p:cNvPr id="9" name="S14-stepno164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4-text165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알아볼 방법을 골라요.</a:t>
            </a:r>
            <a:endParaRPr lang="ko-KR" sz="3200" dirty="0"/>
          </a:p>
        </p:txBody>
      </p:sp>
      <p:sp>
        <p:nvSpPr>
          <p:cNvPr id="11" name="S14-stepno166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4-text167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 다녀와요.</a:t>
            </a:r>
            <a:endParaRPr lang="ko-KR" sz="3200" dirty="0"/>
          </a:p>
        </p:txBody>
      </p:sp>
      <p:sp>
        <p:nvSpPr>
          <p:cNvPr id="13" name="S14-stepno168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4-text169"/>
          <p:cNvSpPr txBox="1"/>
          <p:nvPr/>
        </p:nvSpPr>
        <p:spPr>
          <a:xfrm>
            <a:off x="1325880" y="4018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 하는 일을 적어요.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170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71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마을의 시설은 하는 일이 저마다 달라요.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일에 맞는 시설을 찾아가요.</a:t>
            </a:r>
            <a:endParaRPr lang="ko-KR" sz="3200" dirty="0"/>
          </a:p>
        </p:txBody>
      </p:sp>
      <p:sp>
        <p:nvSpPr>
          <p:cNvPr id="5" name="S15-chip172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하는 일로 시설 고르기</a:t>
            </a:r>
            <a:endParaRPr lang="ko-KR" sz="2600" dirty="0"/>
          </a:p>
        </p:txBody>
      </p:sp>
      <p:sp>
        <p:nvSpPr>
          <p:cNvPr id="6" name="S15-chip173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함께 쓰는 곳 함부로 쓰기</a:t>
            </a:r>
            <a:endParaRPr lang="ko-KR" sz="2600" dirty="0"/>
          </a:p>
        </p:txBody>
      </p:sp>
      <p:sp>
        <p:nvSpPr>
          <p:cNvPr id="7" name="S15-text174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175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불을 끄는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시설은?</a:t>
            </a:r>
            <a:endParaRPr lang="ko-KR" sz="2600" dirty="0"/>
          </a:p>
        </p:txBody>
      </p:sp>
      <p:sp>
        <p:nvSpPr>
          <p:cNvPr id="9" name="S15-text176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편지를 보내는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시설은?</a:t>
            </a:r>
            <a:endParaRPr lang="ko-KR" sz="2600" dirty="0"/>
          </a:p>
        </p:txBody>
      </p:sp>
      <p:sp>
        <p:nvSpPr>
          <p:cNvPr id="10" name="S15-text177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함께 쓰는 시설은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써요?</a:t>
            </a:r>
            <a:endParaRPr lang="ko-KR" sz="2600" dirty="0"/>
          </a:p>
        </p:txBody>
      </p:sp>
      <p:sp>
        <p:nvSpPr>
          <p:cNvPr id="11" name="S15-text17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서로 돕는 마을 사람들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학교의 장소</a:t>
            </a:r>
            <a:endParaRPr lang="ko-KR" sz="4400" dirty="0"/>
          </a:p>
        </p:txBody>
      </p:sp>
      <p:sp>
        <p:nvSpPr>
          <p:cNvPr id="3" name="S16-text1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학교에도 하는 일이 다른 곳이 있어요.</a:t>
            </a:r>
            <a:endParaRPr lang="ko-KR" sz="3200" dirty="0"/>
          </a:p>
        </p:txBody>
      </p:sp>
      <p:sp>
        <p:nvSpPr>
          <p:cNvPr id="4" name="S16-card1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1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마을에도 이런 곳이 있어요.</a:t>
            </a:r>
            <a:endParaRPr lang="ko-KR" sz="3200" dirty="0"/>
          </a:p>
        </p:txBody>
      </p:sp>
      <p:sp>
        <p:nvSpPr>
          <p:cNvPr id="6" name="S16-card182"/>
          <p:cNvSpPr/>
          <p:nvPr/>
        </p:nvSpPr>
        <p:spPr>
          <a:xfrm>
            <a:off x="548640" y="20345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183"/>
          <p:cNvSpPr txBox="1"/>
          <p:nvPr/>
        </p:nvSpPr>
        <p:spPr>
          <a:xfrm>
            <a:off x="822960" y="21717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보건실: 다치면 치료해요.</a:t>
            </a:r>
            <a:endParaRPr lang="ko-KR" sz="3200" dirty="0"/>
          </a:p>
        </p:txBody>
      </p:sp>
      <p:sp>
        <p:nvSpPr>
          <p:cNvPr id="8" name="S16-card184"/>
          <p:cNvSpPr/>
          <p:nvPr/>
        </p:nvSpPr>
        <p:spPr>
          <a:xfrm>
            <a:off x="548640" y="31318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6-cardtext185"/>
          <p:cNvSpPr txBox="1"/>
          <p:nvPr/>
        </p:nvSpPr>
        <p:spPr>
          <a:xfrm>
            <a:off x="822960" y="32689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도서실: 책을 읽어요.</a:t>
            </a:r>
            <a:endParaRPr lang="ko-KR" sz="3200" dirty="0"/>
          </a:p>
        </p:txBody>
      </p:sp>
      <p:sp>
        <p:nvSpPr>
          <p:cNvPr id="10" name="S16-card186"/>
          <p:cNvSpPr/>
          <p:nvPr/>
        </p:nvSpPr>
        <p:spPr>
          <a:xfrm>
            <a:off x="548640" y="42291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6-cardtext187"/>
          <p:cNvSpPr txBox="1"/>
          <p:nvPr/>
        </p:nvSpPr>
        <p:spPr>
          <a:xfrm>
            <a:off x="822960" y="43662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급식실: 점심을 먹어요.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사회·역사 마을의 시설</dc:title>
  <dc:subject>KR22-G02-SOC-TOWN-L01</dc:subject>
  <dc:creator>education-ppt</dc:creator>
  <cp:lastModifiedBy>education-ppt</cp:lastModifiedBy>
  <cp:revision>1</cp:revision>
  <dcterms:created xsi:type="dcterms:W3CDTF">2026-10-26T10:05:28Z</dcterms:created>
  <dcterms:modified xsi:type="dcterms:W3CDTF">2026-10-26T10:05:28Z</dcterms:modified>
</cp:coreProperties>
</file>