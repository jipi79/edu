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9ffb7ce-f5ab-eb1a-9b7a-05a60611c3c6}">
          <p14:sldIdLst>
            <p14:sldId id="256"/>
            <p14:sldId id="257"/>
          </p14:sldIdLst>
        </p14:section>
        <p14:section name="개념" id="{6b9e3cbe-980e-f482-ab1c-e6e966096a98}">
          <p14:sldIdLst>
            <p14:sldId id="258"/>
            <p14:sldId id="259"/>
            <p14:sldId id="261"/>
          </p14:sldIdLst>
        </p14:section>
        <p14:section name="연습" id="{88f25541-e03a-91ec-de5c-46403ce7ba84}">
          <p14:sldIdLst>
            <p14:sldId id="260"/>
            <p14:sldId id="262"/>
            <p14:sldId id="263"/>
            <p14:sldId id="264"/>
          </p14:sldIdLst>
        </p14:section>
        <p14:section name="개념" id="{23f5d3f8-b786-c3de-d33b-9524f6c7098b}">
          <p14:sldIdLst/>
        </p14:section>
        <p14:section name="연습" id="{3e49a969-549d-66c8-8486-e34d262c34a7}">
          <p14:sldIdLst/>
        </p14:section>
        <p14:section name="확인" id="{759717e4-ae60-7a01-e29e-dfec84ebb963}">
          <p14:sldIdLst>
            <p14:sldId id="265"/>
            <p14:sldId id="266"/>
            <p14:sldId id="267"/>
          </p14:sldIdLst>
        </p14:section>
        <p14:section name="정리" id="{e85be6e2-99d0-04c7-d04f-731c0e1c368f}">
          <p14:sldIdLst>
            <p14:sldId id="268"/>
          </p14:sldIdLst>
        </p14:section>
        <p14:section name="보충" id="{0fc61abb-0f2f-dc50-5edd-afa10aba1a7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함께 쓰는 물건 때문에 생기는 일에 관심을 갖게 합니다.
시간: 약 2분
이렇게 말해 보세요
- “집에 블록 상자가 하나뿐인데 너도 쓰고 싶고 동생(친구)도 쓰고 싶으면 어떻게 할까?”
- “오늘은 다른 사람의 마음을 듣는 방법과, 함께 쓰는 물건을 모두가 쓸 수 있게 하는 방법을 배울 거야.”
예상 답
- “내가 먼저 써요.” “같이 써요.” “가위바위보 해요.”
주의
- 첫 대답이 ‘내가 다 쓸래요’여도 꾸짖지 않습니다. 수업이 끝날 때 같은 질문을 다시 하고 생각이 어떻게 달라졌는지 함께 봅니다.
- 형제자매가 없는 아이라면 ‘친구가 놀러 왔을 때’로 바꾸어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확인(차례 지키기, 친구의 마음 살피기)]
목적: 차례 지키기와 친구의 마음 살피기를 할 수 있는지 확인합니다. 오늘 배울 ‘공감’과 ‘차례 정하기’의 바탕입니다.
시간: 약 3분
이렇게 말해 보세요
- “①처럼 친구가 먼저 줄을 서 있으면 너는 어떻게 할래?”
- “②에서 친구는 어떤 마음일까? 너라면 친구에게 뭐라고 말해 줄래?”
예상 답
- ① “친구 뒤에 줄을 서요.” “내 차례를 기다려요.”
- ② “아프고 놀랐을 것 같아요.” “괜찮아? 하고 물어봐요.”
막히면
- ①에서 먼저 타겠다고 하거나 ②에서 친구의 마음을 말하지 못하면 S14(보충)의 마음 낱말 카드를 먼저 합니다.
- 초1 ‘나는 소중해요’(인사·경청·차례 지키기), ‘맡은 일과 배려’와 이어지는 내용입니다.
주의
- 맞히는 문제가 아니라 아이가 평소에 어떻게 생각하는지 듣는 장입니다. 대답마다 “왜 그렇게 생각해?”라고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공감하며 듣는 세 단계]
목적: 공감하며 듣는 세 단계(끝까지 듣기 → 마음 말해 주기 → 바라는 것 묻기)를 부모가 시범으로 보여 줍니다.
시간: 약 3분
이렇게 말해 보세요
- “공감은 다른 사람의 마음을 알아주는 거야. 세 가지만 기억하자.”
- “엄마(아빠)가 먼저 해 볼게. 오늘 속상했던 일 하나만 말해 줄래?” (아이의 말을 끝까지 듣고) “아, 그래서 속상했구나. 어떻게 하고 싶어?”
- “방금 엄마(아빠)가 한 것처럼 끝까지 듣고, 마음을 말해 주고, 바라는 것을 물으면 돼.”
예상 답
- 아이가 세 단계를 따라 말합니다. “끝까지 듣고, 마음을 말해 주고, 물어봐요.”
막히면
- 마음 낱말(속상해요, 서운해요, 화나요, 기뻐요)이 잘 떠오르지 않으면 S14(보충)의 카드를 보여 줍니다.
주의
- ‘끝까지 듣기’는 말을 끊지 않고 얼굴을 보며 듣는 것입니다. 부모가 먼저 아이의 말을 끝까지 들어 주는 모습을 보여 주세요.
- 마음을 알아주는 것과 원하는 대로 다 해 주는 것은 다릅니다(M2). 해결 방법은 S06부터 따로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한 상황, 두 사람의 입장]
목적: 한 상황에도 여러 입장이 있고, 두 사람 모두 그럴 만한 까닭이 있다는 것을 봅니다.
시간: 약 3분
이렇게 말해 보세요
- “지호는 왜 블록을 계속 쓰고 싶을까? 보미는 왜 속상할까?”
- “두 사람 모두 그럴 만한 까닭이 있지? 한 사람만 맞는 게 아니야.”
- “지호가 바라는 건 뭘까? 보미가 바라는 건?”
예상 답
- 지호: “성을 끝까지 만들고 싶어요.”
- 보미: “지금 블록으로 놀고 싶어요.” “언니(오빠)랑 같이 놀고 싶어요.”
막히면
- “네가 지호라면 어떤 마음일까? 네가 보미라면?”처럼 아이가 한 사람씩 되어 보게 합니다.
주의
- 누가 잘못했는지 가리는 장이 아닙니다. 두 입장을 모두 말하게 하는 것이 목표입니다.
- 지호와 보미는 지어낸 이름입니다. 아이 집의 실제 상황으로 바꾸어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두 사람의 마음을 말로 알아주기]
목적: 두 사람에게 각각 마음 낱말과 까닭을 넣어 공감하는 말을 해 봅니다.
시간: 약 3분
이렇게 말해 보세요
- “지호에게 마음을 알아주는 말을 해 볼까? ‘~해서 ~구나.’로 말해 봐.”
- “이번엔 보미에게도 해 줘.”
예상 답
- ① “먼저 보고 있었는데 바꾸자고 해서 서운하구나.”
- ② “보고 싶은 게 있는데 못 봐서 속상하구나.”
- (마음 낱말과 그 까닭이 함께 들어가면 맞음)
막히면
- 부모가 앞부분을 말해 줍니다. “먼저 보고 있었는데…” 그다음을 아이가 잇게 합니다.
- 마음 낱말을 고르기 어려우면 S14(보충) 카드에서 고르게 합니다.
주의
- 이 장에서는 해결 방법을 정하지 않습니다. 해결은 S06부터 다룹니다.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공정하게 쓰는 세 가지 방법]
목적: 공정의 뜻(모두에게 고르게 기회가 가는 것)과 함께 쓰는 물건·공간을 공정하게 쓰는 세 방법을 알려 줍니다.
시간: 약 3분
이렇게 말해 보세요
- “공정하다는 건 모두에게 고르게 기회가 가는 거야. 함께 쓰는 물건은 이렇게 쓸 수 있어.”
- “차례 정하기는 ‘10분씩 번갈아’처럼 시간을 정하는 거야. 나누어 쓰기는 블록을 반씩 나누는 거고.”
- “다 쓰고 나서 정리하는 것도 공정하게 쓰는 거래. 왜 그럴까?”
예상 답
- “다음 사람이 바로 쓸 수 있으니까요.”
막히면
- 집에서 실제로 하는 예를 떠올리게 합니다. “아침에 욕실은 어떻게 써? 간식은 어떻게 나눠?”
주의
- 거실, 욕실, 식탁 같은 공간도 함께 쓰는 것입니다. 물건뿐 아니라 공간에도 같은 방법을 쓸 수 있다고 알려 줍니다.
- 반으로 나눌 수 없는 것(그네, 텔레비전)은 차례를 정합니다(M4).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공정한 방법 고르고 까닭 말하기]
목적: S04의 상황으로 돌아가 공정한 방법을 고르고, 두 사람을 모두 생각한 까닭을 말합니다(M1).
시간: 약 3분
이렇게 말해 보세요
- “어느 방법이 공정할까? 왜 그렇게 생각해?”
- “나와 다 중에 너라면 무엇을 고를래? 왜?”
정답
- 나와 다가 공정한 방법입니다. 두 방법 모두 지호와 보미가 함께 블록을 쓸 수 있기 때문입니다.
- 가는 한 사람만 쓰게 되어 공정하지 않습니다. 다만 먼저 쓰던 지호의 마음도 소중하므로 “성을 다 만들 때까지 5분만 기다려 줄래? 그다음은 네 차례야.”처럼 차례를 정하는 것은 공정합니다.
막히면
- “이 방법이면 보미는 블록을 쓸 수 있을까? 지호는?”처럼 두 사람 각각에게 물어봅니다.
주의
- 답 고르기보다 까닭이 중요합니다. ‘둘 다 쓸 수 있어서요’처럼 두 사람을 모두 생각한 까닭이면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쓰는 공간 정리(다음 사람의 입장)]
목적: 공간도 함께 쓰는 것이며, 쓰고 정리하는 것이 다음 사람을 위한 공정한 사용이라는 것을 생각합니다(M3).
시간: 약 3분
이렇게 말해 보세요
- “네가 다음 사람이라면 가와 나 중 어느 세면대를 쓰고 싶어? 왜?”
- “우리 집에서 여럿이 함께 쓰는 곳은 또 어디가 있을까?”
예상 답
- 함께 쓰는 곳: 거실, 식탁, 욕실, 신발장, 놀이터
정답
- 가: 다음 사람이 찝찝하고 기분이 나빠요. 먼저 닦아야 해서 시간이 걸려요.
- 나: 다음 사람이 바로 기분 좋게 쓸 수 있어요.
- 그래서 쓰고 정리하는 것도 함께 쓰는 공간을 공정하게 쓰는 방법입니다.
막히면
- 실제로 욕실에 가서 세면대를 보며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역할 놀이(공감하고 방법 정하기)]
목적: 공감하는 말과 공정한 방법 고르기를 역할 놀이로 함께 연습합니다.
시간: 약 5분
이렇게 말해 보세요
- “엄마(아빠)가 친구 다온이가 될게. 다온이는 지금 하늘색 색연필이 꼭 필요해.”
- (다온이 역할로) “나도 색연필 쓰고 싶은데 네가 다 가지고 있잖아.”
- “다온이 마음을 먼저 말해 주고, 어떻게 쓸지 같이 정해 볼까?”
예상 답
- “색연필이 없어서 속상했구나. 가운데에 두고 같이 쓰자.”
- “나 하늘색 다 쓰면 바로 줄게. 그동안 다른 색 먼저 써.”
막히면
- S03의 세 단계와 S06의 카드를 다시 보여 줍니다.
주의
- 한 번 하고 나면 역할을 바꾸어 아이가 ‘색연필이 없는 친구’가 되어 보게 합니다. 서운한 마음을 직접 느껴 보면 공감이 쉬워집니다.
- 관찰 기준은 아직 도움을 받아도 됩니다. 혼자 하는지는 S10에서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보기(새 상황: 그네)]
목적: 처음 보는 상황에서 혼자 공감하는 말을 하고, 공정한 방법과 까닭을 말하는지 확인합니다.
시간: 약 4분
이렇게 말해 보세요
- “이번에는 엄마(아빠)가 도와주지 않을게. 하나씩 말해 줄래?”
예상 답
- ① “기다리느라 지루하고 속상할 것 같아요.”
- ② “열 번 타고 바꿔요.” “열을 셀 때까지 타고 바꿔요.” “번갈아 타요.”
- ③ “다온이도 타야 공평하니까요.” “둘 다 탈 수 있으니까요.”
- (두 사람이 모두 탈 수 있는 방법이고, 까닭에 다른 사람의 마음이나 기회가 들어가면 맞음)
막히면
- ①에서 막히면 “네가 오래 기다리면 어떤 마음이 들어?”라고 묻습니다.
- ②에서 ‘반씩 나누어요’라고 하면 “그네는 반으로 나눌 수 있을까?”라고 묻습니다(M4).
주의
- 도움 없이 세 가지를 말하면 목표 A·B 확인 완료입니다. 방법만 말하고 까닭을 말하지 못하면 기록표에 ‘방법만’으로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좋은 대답과 흔한 실수]
목적: 아이의 대답을 좋은 대답, 흔한 실수와 비교하며 피드백합니다.
시간: 약 2분
이렇게 말해 보세요
- “네가 한 말과 왼쪽 말을 비교해 볼까?”
- “오른쪽 말을 들으면 다온이는 어떤 마음일까? 어떻게 바꾸면 좋을까?”
예상 답
- “먼저 왔어도 열 번 타고 바꿔 줄게.”
정답
- ① 마음 낱말과 까닭이 있는 말 ② 두 사람 모두 탈 수 있는 차례 ③ 두 사람을 모두 생각한 까닭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내 선택과 실천 약속]
목적: 배운 방법 가운데 하나를 골라 집에서 지킬 약속(실천 계획)을 스스로 정하고 까닭을 말합니다.
시간: 약 3분
이렇게 말해 보세요
- “우리 집에서 너와 가족이 함께 쓰는 게 뭐가 있을까?”
- “그걸 어떻게 쓰면 모두 기분이 좋을까? 오늘부터 해 볼 약속을 하나 정하자.”
- “왜 그렇게 하기로 했어?”
예상 답
- ① 텔레비전, 거실 탁자, 욕실, 색연필, 장난감 상자
- ② “동생이랑 10분씩 번갈아 볼게요.” “쓰고 나면 제자리에 둘게요.”
- ③ “동생도 보고 싶어 하니까요.” “다음 사람이 바로 쓸 수 있게요.”
- (실제로 할 수 있는 약속이고, 까닭에 다른 사람이 들어가면 맞음)
막히면
- 부모가 ‘거실 탁자, 욕실, 장난감 상자’처럼 두세 가지를 보기로 주고 고르게 합니다.
주의
- 약속은 활동지 4번 실천 기록표에 적고 일주일 동안 함께 확인합니다. 지키지 못한 날도 꾸짖지 않고 “내일 다시 해 보자.”라고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핵심을 정리하고 다음 수업의 복습 질문을 알려 줍니다.
시간: 약 2분
이렇게 말해 보세요
- “처음에 물어본 블록 상자 질문, 지금은 어떻게 할래?”
- “오늘 배운 것을 한 문장으로 말해 볼래?”
예상 답
- “동생 마음을 듣고 10분씩 번갈아 써요.”
정답
- ① 끝까지 듣기, 마음 말해 주기, 바라는 것 묻기 ② 차례 정하기, 나누어 쓰기, 쓰고 정리하기 ③ 실천 기록표를 함께 보며 이야기합니다.
주의
- S01에서 한 첫 대답과 비교해 달라진 점을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보충(마음 낱말)]
목적: S02에서 친구의 마음을 말하지 못하거나 차례를 지키지 않겠다고 하면, 마음 낱말부터 익히고 차례가 왜 필요한지 이야기합니다.
시간: 약 4분
이렇게 말해 보세요
- “카드를 하나씩 읽어 볼까? 너도 이런 마음이 든 적 있어?”
- “줄을 서 있는데 누가 새치기하면 어떤 마음이 들까? 그래서 차례를 지키는 거야.”
예상 답
- “동생이 내 장난감을 말없이 가져가면 화나요.”
막히면
- 부모가 표정을 지어 보이고 아이가 마음 낱말을 맞히는 놀이를 합니다.
주의
- 보충으로도 어렵다면 초1 ‘나는 소중해요’, ‘맡은 일과 배려’처럼 차례 지키기와 배려를 다루는 차시를 먼저 합니다.
- 보충이 길어지면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공감과협력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공감과 공정한 사용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상자가 하나뿐이면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다른 사람의 마음을 듣고 말해 줘요.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함께 쓰는 물건을 공정하게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할지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미끄럼틀 앞에 친구가 먼저 줄을 서 있어요.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넘어져서 울고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공감하며 듣기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공감은 다른 사람의 마음을 알아주는 거예요.</a:t>
            </a:r>
            <a:endParaRPr lang="ko-KR" sz="3200" dirty="0"/>
          </a:p>
        </p:txBody>
      </p:sp>
      <p:sp>
        <p:nvSpPr>
          <p:cNvPr id="5" name="S03-stepno10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1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7" name="S03-stepno12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3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말해 줘요. “속상했구나.”</a:t>
            </a:r>
            <a:endParaRPr lang="ko-KR" sz="3200" dirty="0"/>
          </a:p>
        </p:txBody>
      </p:sp>
      <p:sp>
        <p:nvSpPr>
          <p:cNvPr id="9" name="S03-stepno14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15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 것을 물어요. “어떻게 하고 싶어?”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마음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상자가 하나예요. 지호는 성을 만들고 있고, 동생 보미도 블록을 쓰고 싶어요.</a:t>
            </a:r>
            <a:endParaRPr lang="ko-KR" sz="3200" dirty="0"/>
          </a:p>
        </p:txBody>
      </p:sp>
      <p:sp>
        <p:nvSpPr>
          <p:cNvPr id="5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각각 무엇을 바랄까요?</a:t>
            </a:r>
            <a:endParaRPr lang="ko-KR" sz="3200" dirty="0"/>
          </a:p>
        </p:txBody>
      </p:sp>
      <p:sp>
        <p:nvSpPr>
          <p:cNvPr id="7" name="S04-chip20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</a:t>
            </a:r>
            <a:endParaRPr lang="ko-KR" sz="2600" dirty="0"/>
          </a:p>
        </p:txBody>
      </p:sp>
      <p:sp>
        <p:nvSpPr>
          <p:cNvPr id="8" name="S04-text21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“아직 성을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못 만들었어.”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아쉬워요</a:t>
            </a:r>
            <a:endParaRPr lang="ko-KR" sz="3200" dirty="0"/>
          </a:p>
        </p:txBody>
      </p:sp>
      <p:sp>
        <p:nvSpPr>
          <p:cNvPr id="9" name="S04-chip22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보미</a:t>
            </a:r>
            <a:endParaRPr lang="ko-KR" sz="2600" dirty="0"/>
          </a:p>
        </p:txBody>
      </p:sp>
      <p:sp>
        <p:nvSpPr>
          <p:cNvPr id="10" name="S04-text23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블록으로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놀고 싶어.”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속상해요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말해 줘요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텔레비전을 두고 두 사람이 말해요.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~구나.”로 마음을 말해 줘요.</a:t>
            </a:r>
            <a:endParaRPr lang="ko-KR" sz="32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지호: “내가 먼저 보고 있었어.”</a:t>
            </a:r>
            <a:endParaRPr lang="ko-KR" sz="3200" dirty="0"/>
          </a:p>
        </p:txBody>
      </p:sp>
      <p:sp>
        <p:nvSpPr>
          <p:cNvPr id="8" name="S05-chip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보미: “나도 보고 싶은 게 있는데….”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공정하게 써요</a:t>
            </a:r>
            <a:endParaRPr lang="ko-KR" sz="4400" dirty="0"/>
          </a:p>
        </p:txBody>
      </p:sp>
      <p:sp>
        <p:nvSpPr>
          <p:cNvPr id="3" name="S06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모두가 쓸 수 있게 하는 방법이에요.</a:t>
            </a:r>
            <a:endParaRPr lang="ko-KR" sz="3200" dirty="0"/>
          </a:p>
        </p:txBody>
      </p:sp>
      <p:sp>
        <p:nvSpPr>
          <p:cNvPr id="4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공정은 모두에게 고르게 기회를 주는 거예요.</a:t>
            </a:r>
            <a:endParaRPr lang="ko-KR" sz="3200" dirty="0"/>
          </a:p>
        </p:txBody>
      </p:sp>
      <p:sp>
        <p:nvSpPr>
          <p:cNvPr id="6" name="S06-card3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정하기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정해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써요</a:t>
            </a:r>
            <a:endParaRPr lang="ko-KR" sz="3200" dirty="0"/>
          </a:p>
        </p:txBody>
      </p:sp>
      <p:sp>
        <p:nvSpPr>
          <p:cNvPr id="8" name="S06-card3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쓰기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반씩 나누어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써요</a:t>
            </a:r>
            <a:endParaRPr lang="ko-KR" sz="3200" dirty="0"/>
          </a:p>
        </p:txBody>
      </p:sp>
      <p:sp>
        <p:nvSpPr>
          <p:cNvPr id="10" name="S06-card3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정리하기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좋게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하면 공정할까?</a:t>
            </a:r>
            <a:endParaRPr lang="ko-KR" sz="44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지호와 보미의 블록 상자예요.</a:t>
            </a:r>
            <a:endParaRPr lang="ko-KR" sz="32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공정한 방법을 고르고, 까닭을 말해요.</a:t>
            </a:r>
            <a:endParaRPr lang="ko-KR" sz="3200" dirty="0"/>
          </a:p>
        </p:txBody>
      </p:sp>
      <p:sp>
        <p:nvSpPr>
          <p:cNvPr id="6" name="S07-chip4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4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잡았으니까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다 쓸래.”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4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4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블록을 반씩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써요.</a:t>
            </a:r>
            <a:endParaRPr lang="ko-KR" sz="3200" dirty="0"/>
          </a:p>
        </p:txBody>
      </p:sp>
      <p:sp>
        <p:nvSpPr>
          <p:cNvPr id="12" name="S07-chip4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5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5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10분씩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사람의 마음</a:t>
            </a:r>
            <a:endParaRPr lang="ko-KR" sz="4400" dirty="0"/>
          </a:p>
        </p:txBody>
      </p:sp>
      <p:sp>
        <p:nvSpPr>
          <p:cNvPr id="3" name="S08-card5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세면대를 쓰고 나왔어요.</a:t>
            </a:r>
            <a:endParaRPr lang="ko-KR" sz="3200" dirty="0"/>
          </a:p>
        </p:txBody>
      </p:sp>
      <p:sp>
        <p:nvSpPr>
          <p:cNvPr id="5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쓰는 사람은 어떤 마음일까요?</a:t>
            </a:r>
            <a:endParaRPr lang="ko-KR" sz="3200" dirty="0"/>
          </a:p>
        </p:txBody>
      </p:sp>
      <p:sp>
        <p:nvSpPr>
          <p:cNvPr id="7" name="S08-chip5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5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치약 거품과 물이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있어요.</a:t>
            </a:r>
            <a:endParaRPr lang="ko-KR" sz="3200" dirty="0"/>
          </a:p>
        </p:txBody>
      </p:sp>
      <p:sp>
        <p:nvSpPr>
          <p:cNvPr id="9" name="S08-chip5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5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물기를 닦고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칫솔을 제자리에 두었어요.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놀이</a:t>
            </a:r>
            <a:endParaRPr lang="ko-KR" sz="4400" dirty="0"/>
          </a:p>
        </p:txBody>
      </p:sp>
      <p:sp>
        <p:nvSpPr>
          <p:cNvPr id="3" name="S09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세트가 하나예요. 다온이도 그리고 싶어요.</a:t>
            </a:r>
            <a:endParaRPr lang="ko-KR" sz="3200" dirty="0"/>
          </a:p>
        </p:txBody>
      </p:sp>
      <p:sp>
        <p:nvSpPr>
          <p:cNvPr id="4" name="S09-card6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다온이 마음을 말해 줬어요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공정한 방법을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6" name="S09-stepno63"/>
          <p:cNvSpPr txBox="1"/>
          <p:nvPr/>
        </p:nvSpPr>
        <p:spPr>
          <a:xfrm>
            <a:off x="548640" y="2594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4"/>
          <p:cNvSpPr txBox="1"/>
          <p:nvPr/>
        </p:nvSpPr>
        <p:spPr>
          <a:xfrm>
            <a:off x="1325880" y="254914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다온이가 돼요.</a:t>
            </a:r>
            <a:endParaRPr lang="ko-KR" sz="3200" dirty="0"/>
          </a:p>
        </p:txBody>
      </p:sp>
      <p:sp>
        <p:nvSpPr>
          <p:cNvPr id="8" name="S09-stepno65"/>
          <p:cNvSpPr txBox="1"/>
          <p:nvPr/>
        </p:nvSpPr>
        <p:spPr>
          <a:xfrm>
            <a:off x="548640" y="37053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6"/>
          <p:cNvSpPr txBox="1"/>
          <p:nvPr/>
        </p:nvSpPr>
        <p:spPr>
          <a:xfrm>
            <a:off x="1325880" y="37053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마음을 말해 줘요.</a:t>
            </a:r>
            <a:endParaRPr lang="ko-KR" sz="3200" dirty="0"/>
          </a:p>
        </p:txBody>
      </p:sp>
      <p:sp>
        <p:nvSpPr>
          <p:cNvPr id="10" name="S09-stepno67"/>
          <p:cNvSpPr txBox="1"/>
          <p:nvPr/>
        </p:nvSpPr>
        <p:spPr>
          <a:xfrm>
            <a:off x="548640" y="441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8"/>
          <p:cNvSpPr txBox="1"/>
          <p:nvPr/>
        </p:nvSpPr>
        <p:spPr>
          <a:xfrm>
            <a:off x="1325880" y="44185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공정한 방법을 함께 정해요.</a:t>
            </a:r>
            <a:endParaRPr lang="ko-KR" sz="3200" dirty="0"/>
          </a:p>
        </p:txBody>
      </p:sp>
      <p:sp>
        <p:nvSpPr>
          <p:cNvPr id="12" name="S09-stepno69"/>
          <p:cNvSpPr txBox="1"/>
          <p:nvPr/>
        </p:nvSpPr>
        <p:spPr>
          <a:xfrm>
            <a:off x="548640" y="5131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70"/>
          <p:cNvSpPr txBox="1"/>
          <p:nvPr/>
        </p:nvSpPr>
        <p:spPr>
          <a:xfrm>
            <a:off x="1325880" y="51318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방법인지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그네가 하나예요. 다온이가 오래 기다리고 있어요.</a:t>
            </a:r>
            <a:endParaRPr lang="ko-KR" sz="3200" dirty="0"/>
          </a:p>
        </p:txBody>
      </p:sp>
      <p:sp>
        <p:nvSpPr>
          <p:cNvPr id="4" name="S10-chip7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마음은 어떨까요?</a:t>
            </a:r>
            <a:endParaRPr lang="ko-KR" sz="3200" dirty="0"/>
          </a:p>
        </p:txBody>
      </p:sp>
      <p:sp>
        <p:nvSpPr>
          <p:cNvPr id="6" name="S10-chip7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타면 공정할까요?</a:t>
            </a:r>
            <a:endParaRPr lang="ko-KR" sz="3200" dirty="0"/>
          </a:p>
        </p:txBody>
      </p:sp>
      <p:sp>
        <p:nvSpPr>
          <p:cNvPr id="8" name="S10-chip7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대답과 흔한 실수</a:t>
            </a:r>
            <a:endParaRPr lang="ko-KR" sz="4400" dirty="0"/>
          </a:p>
        </p:txBody>
      </p:sp>
      <p:sp>
        <p:nvSpPr>
          <p:cNvPr id="3" name="S11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사람을 모두 생각한 까닭을 말하면 잘한 거예요.</a:t>
            </a:r>
            <a:endParaRPr lang="ko-KR" sz="3200" dirty="0"/>
          </a:p>
        </p:txBody>
      </p:sp>
      <p:sp>
        <p:nvSpPr>
          <p:cNvPr id="5" name="S11-chip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81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“기다리느라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힘들었지?”</a:t>
            </a:r>
            <a:endParaRPr lang="ko-KR" sz="3200" dirty="0"/>
          </a:p>
        </p:txBody>
      </p:sp>
      <p:sp>
        <p:nvSpPr>
          <p:cNvPr id="7" name="S11-text82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줌</a:t>
            </a:r>
            <a:endParaRPr lang="ko-KR" sz="2600" dirty="0"/>
          </a:p>
        </p:txBody>
      </p:sp>
      <p:sp>
        <p:nvSpPr>
          <p:cNvPr id="8" name="S11-text83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“열 번 타고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 줄게.”</a:t>
            </a:r>
            <a:endParaRPr lang="ko-KR" sz="3200" dirty="0"/>
          </a:p>
        </p:txBody>
      </p:sp>
      <p:sp>
        <p:nvSpPr>
          <p:cNvPr id="9" name="S11-text84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정함</a:t>
            </a:r>
            <a:endParaRPr lang="ko-KR" sz="2600" dirty="0"/>
          </a:p>
        </p:txBody>
      </p:sp>
      <p:sp>
        <p:nvSpPr>
          <p:cNvPr id="10" name="S11-chip8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8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왔으니까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탈래.”</a:t>
            </a:r>
            <a:endParaRPr lang="ko-KR" sz="2600" dirty="0"/>
          </a:p>
        </p:txBody>
      </p:sp>
      <p:sp>
        <p:nvSpPr>
          <p:cNvPr id="12" name="S11-text8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생각함</a:t>
            </a:r>
            <a:endParaRPr lang="ko-KR" sz="2600" dirty="0"/>
          </a:p>
        </p:txBody>
      </p:sp>
      <p:sp>
        <p:nvSpPr>
          <p:cNvPr id="13" name="S11-text8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“빨리 비켜!”</a:t>
            </a:r>
            <a:endParaRPr lang="ko-KR" sz="3200" dirty="0"/>
          </a:p>
        </p:txBody>
      </p:sp>
      <p:sp>
        <p:nvSpPr>
          <p:cNvPr id="14" name="S11-text8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듣지 않음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약속</a:t>
            </a:r>
            <a:endParaRPr lang="ko-KR" sz="4400" dirty="0"/>
          </a:p>
        </p:txBody>
      </p:sp>
      <p:sp>
        <p:nvSpPr>
          <p:cNvPr id="3" name="S12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집에서 함께 쓰는 것을 골라 약속해요.</a:t>
            </a:r>
            <a:endParaRPr lang="ko-KR" sz="3200" dirty="0"/>
          </a:p>
        </p:txBody>
      </p:sp>
      <p:sp>
        <p:nvSpPr>
          <p:cNvPr id="4" name="S12-chip9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9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쓰는 물건이나 곳은?</a:t>
            </a:r>
            <a:endParaRPr lang="ko-KR" sz="3200" dirty="0"/>
          </a:p>
        </p:txBody>
      </p:sp>
      <p:sp>
        <p:nvSpPr>
          <p:cNvPr id="6" name="S12-chip9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9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어떻게 쓸까요?</a:t>
            </a:r>
            <a:endParaRPr lang="ko-KR" sz="3200" dirty="0"/>
          </a:p>
        </p:txBody>
      </p:sp>
      <p:sp>
        <p:nvSpPr>
          <p:cNvPr id="8" name="S12-chip9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9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듣고, 모두가 쓸 수 있게 차례·나누기·정리를 해요.</a:t>
            </a:r>
            <a:endParaRPr lang="ko-KR" sz="3200" dirty="0"/>
          </a:p>
        </p:txBody>
      </p:sp>
      <p:sp>
        <p:nvSpPr>
          <p:cNvPr id="5" name="S13-chip9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마음 듣고 차례 정하기</a:t>
            </a:r>
            <a:endParaRPr lang="ko-KR" sz="2600" dirty="0"/>
          </a:p>
        </p:txBody>
      </p:sp>
      <p:sp>
        <p:nvSpPr>
          <p:cNvPr id="6" name="S13-chip10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혼자 다 차지하기</a:t>
            </a:r>
            <a:endParaRPr lang="ko-KR" sz="2600" dirty="0"/>
          </a:p>
        </p:txBody>
      </p:sp>
      <p:sp>
        <p:nvSpPr>
          <p:cNvPr id="7" name="S13-text10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공감하며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세 단계</a:t>
            </a:r>
            <a:endParaRPr lang="ko-KR" sz="2600" dirty="0"/>
          </a:p>
        </p:txBody>
      </p:sp>
      <p:sp>
        <p:nvSpPr>
          <p:cNvPr id="9" name="S13-text10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공정하게 쓰는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세 가지</a:t>
            </a:r>
            <a:endParaRPr lang="ko-KR" sz="2600" dirty="0"/>
          </a:p>
        </p:txBody>
      </p:sp>
      <p:sp>
        <p:nvSpPr>
          <p:cNvPr id="10" name="S13-text10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나의 약속을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지켰나요?</a:t>
            </a:r>
            <a:endParaRPr lang="ko-KR" sz="2600" dirty="0"/>
          </a:p>
        </p:txBody>
      </p:sp>
      <p:sp>
        <p:nvSpPr>
          <p:cNvPr id="11" name="S13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식물이 자라는 모습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마음 낱말</a:t>
            </a:r>
            <a:endParaRPr lang="ko-KR" sz="4400" dirty="0"/>
          </a:p>
        </p:txBody>
      </p:sp>
      <p:sp>
        <p:nvSpPr>
          <p:cNvPr id="3" name="S14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어떤 마음일까요?</a:t>
            </a:r>
            <a:endParaRPr lang="ko-KR" sz="3200" dirty="0"/>
          </a:p>
        </p:txBody>
      </p:sp>
      <p:sp>
        <p:nvSpPr>
          <p:cNvPr id="4" name="S14-card107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08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갖고 싶은 것을 못 가질 때</a:t>
            </a:r>
            <a:endParaRPr lang="ko-KR" sz="3200" dirty="0"/>
          </a:p>
        </p:txBody>
      </p:sp>
      <p:sp>
        <p:nvSpPr>
          <p:cNvPr id="6" name="S14-card109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110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서운해요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 빼고 놀 때</a:t>
            </a:r>
            <a:endParaRPr lang="ko-KR" sz="3200" dirty="0"/>
          </a:p>
        </p:txBody>
      </p:sp>
      <p:sp>
        <p:nvSpPr>
          <p:cNvPr id="8" name="S14-card111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4-cardtext112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것을 말없이 가져갈 때</a:t>
            </a:r>
            <a:endParaRPr lang="ko-KR" sz="3200" dirty="0"/>
          </a:p>
        </p:txBody>
      </p:sp>
      <p:sp>
        <p:nvSpPr>
          <p:cNvPr id="10" name="S14-card113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14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놀자고 할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도덕·윤리 공감과 공정한 사용</dc:title>
  <dc:subject>KR22-G02-ETH-FAIRUSE-L01</dc:subject>
  <dc:creator>education-ppt</dc:creator>
  <cp:lastModifiedBy>education-ppt</cp:lastModifiedBy>
  <cp:revision>1</cp:revision>
  <dcterms:created xsi:type="dcterms:W3CDTF">2026-10-26T13:18:38Z</dcterms:created>
  <dcterms:modified xsi:type="dcterms:W3CDTF">2026-10-26T13:18:38Z</dcterms:modified>
</cp:coreProperties>
</file>