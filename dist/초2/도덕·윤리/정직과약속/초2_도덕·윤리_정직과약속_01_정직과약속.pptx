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77db8041-1e46-2bb2-ef9e-644c15dc031d}">
          <p14:sldIdLst>
            <p14:sldId id="256"/>
            <p14:sldId id="257"/>
          </p14:sldIdLst>
        </p14:section>
        <p14:section name="개념" id="{1497dda9-bcbe-6b4a-4112-4c1f52188c3a}">
          <p14:sldIdLst>
            <p14:sldId id="258"/>
            <p14:sldId id="259"/>
            <p14:sldId id="261"/>
            <p14:sldId id="263"/>
          </p14:sldIdLst>
        </p14:section>
        <p14:section name="연습" id="{666bdbd9-480d-ec79-ab02-c4c447897abc}">
          <p14:sldIdLst>
            <p14:sldId id="260"/>
            <p14:sldId id="262"/>
            <p14:sldId id="264"/>
          </p14:sldIdLst>
        </p14:section>
        <p14:section name="개념" id="{16556f57-81e7-f48f-1050-679cfba8bc52}">
          <p14:sldIdLst/>
        </p14:section>
        <p14:section name="연습" id="{ea0af62d-cc17-48cf-ee32-7ad37fb0761e}">
          <p14:sldIdLst/>
        </p14:section>
        <p14:section name="개념" id="{ca92b5ae-5c67-2bec-9c38-6a9b62b1f60e}">
          <p14:sldIdLst/>
        </p14:section>
        <p14:section name="연습" id="{8bea0d9d-c5b4-9773-fe79-822b32ed4ebd}">
          <p14:sldIdLst/>
        </p14:section>
        <p14:section name="확인" id="{38356eec-4dea-4998-6d05-82fa610544cc}">
          <p14:sldIdLst>
            <p14:sldId id="265"/>
            <p14:sldId id="266"/>
            <p14:sldId id="267"/>
          </p14:sldIdLst>
        </p14:section>
        <p14:section name="정리" id="{02104e2b-97c8-46aa-c3e6-9555472d4d5a}">
          <p14:sldIdLst>
            <p14:sldId id="268"/>
          </p14:sldIdLst>
        </p14:section>
        <p14:section name="보충" id="{66c71530-8bf4-802d-8abd-dced9932108c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실수했을 때와 약속을 지키기 어려울 때 어떻게 하면 좋을지 함께 생각해 본다고 알립니다.
시간: 약 2분
이렇게 말해 보세요
- “누구나 실수를 해. 엄마(아빠)도 그래. 실수했을 때 어떻게 하면 좋을까?”
- “오늘은 정답을 외우는 게 아니라, 여러 가지 방법을 생각해 보고 왜 그게 좋은지 까닭을 말해 볼 거야.”
예상 답
- “미안하다고 해요.” / “숨겨요.” / “몰라요.”
주의
- 아이의 첫 대답이 “숨겨요.”여도 나무라지 않습니다. 솔직한 대답을 해 준 것을 고마워하고 S05에서 함께 생각합니다.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확인(약속의 뜻과 마음 말하기)]
목적: 약속이 무엇인지 알고, 약속이 지켜지지 않았을 때의 마음을 말할 수 있는지 확인합니다. 이 차시는 계획상 앞 차시가 없으므로, 1학년 때 배운 ‘함께 지킬 약속’과 생활 경험을 확인합니다.
시간: 약 3분
이렇게 말해 보세요
- “네가 지킨 약속 하나를 말해 줄래? 누구랑, 무엇을 하기로 했어?”
- “친구가 놀이터에서 만나기로 하고 안 나오면 어떤 마음일까?”
예상 답
- ① “엄마랑 밥 먹고 이 닦기로 약속했어요.” / “친구랑 같이 놀기로 했어요.”
- ② “속상해요.” / “화나요.” / “실망해요.”
정답
- ① 누구와 무엇을 하기로 했는지 말하면 맞습니다. ② 마음을 나타내는 말 하나를 말하면 맞습니다.
막히면
- 부모가 최근에 아이와 한 약속을 떠올려 줍니다(“어제 엄마랑 무슨 약속 했지?”).
- 약속의 뜻을 잘 모르면 S14(보충)를 먼저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상황 제시(실수한 상황)]
목적: 실수로 잘못한 상황을 이야기로 보여 주고, 지우의 마음을 먼저 헤아려 봅니다.
시간: 약 3분
이렇게 말해 보세요
- (이야기를 천천히 읽어 준 뒤) “지우는 지금 어떤 마음일까?”
- “지우는 일부러 깬 걸까, 실수로 깬 걸까?”
예상 답
- “깜짝 놀랐어요.” / “무서워요.” / “엄마한테 혼날까 봐 걱정돼요.”
- “실수로요.”
막히면
- “너라면 화분이 깨졌을 때 가슴이 어떨 것 같아?” 하고 묻습니다.
주의
- 걱정되는 마음은 자연스러운 것이라고 받아 줍니다. 이 마음 때문에 숨기고 싶어질 수 있다는 것을 S04에서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여러 가지 대응(입장) 보여 주기]
목적: 같은 상황에서 할 수 있는 여러 가지 대응을 보여 줍니다. 아직 어느 것이 좋은지 정하지 않고, 각각을 골랐을 때 생길 일을 다음 장에서 생각합니다.
시간: 약 3분
이렇게 말해 보세요
- “지우는 세 가지를 생각했어. 가는 모르는 척하기, 나는 동생 탓하기, 다는 솔직하게 말하기야.”
- “너는 지우가 왜 가나 나를 생각했을 것 같아?”
예상 답
- “혼날까 봐요.” / “무서워서요.”
막히면
- “엄마가 화낼까 봐 걱정되면 숨기고 싶을 수도 있겠지?” 하고 마음을 먼저 말해 줍니다.
주의
- 가·나를 생각한 지우를 나쁜 아이로 말하지 않습니다. 걱정되면 누구나 그런 생각이 들 수 있다고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여러 선택의 결과와 까닭 생각하기]
목적: 각 대응을 골랐을 때 나와 다른 사람의 마음이 어떻게 될지 생각하고, 나라면 무엇을 고를지 까닭과 함께 말합니다(M1).
시간: 약 4분
이렇게 말해 보세요
- “가처럼 숨기면 지우 마음은 편할까? 엄마가 나중에 알게 되면?”
- “나처럼 동생 탓을 하면 동생은 어떤 마음일까?”
- “다처럼 솔직하게 말하면 엄마는 어떤 마음일까?”
- “너라면 무엇을 고를래? 왜?”
예상 답
- ① “계속 걱정돼요.” / “마음이 무거워요.”
- ② “억울해요.” / “속상해요.”
- ③ “놀라지만 말해 줘서 고마워요.” / “지우를 믿을 수 있어요.”
- “다요. 왜냐하면 동생이 억울하지 않고, 엄마가 나를 믿을 수 있으니까요.”
정답
- 물음마다 마음을 나타내는 말을 하면 됩니다. 마지막 물음은 고른 것보다 까닭을 봅니다. 다를 고르고 상대의 마음이나 믿음과 이어지는 까닭을 말하면 잘한 것입니다.
- 가나 나를 고르면 “그러면 동생(엄마)은 어떤 마음일까?” 하고 한 번 더 물어 스스로 생각을 넓히게 합니다.
막히면
- 엄마(아빠)가 동생 역할을 맡아 “나 안 그랬는데…” 하고 억울한 마음을 말해 줍니다.
주의
- 아이가 실제로 숨긴 경험을 말하면 혼내지 않고 “말해 줘서 고마워.”라고 답합니다. 솔직하게 말해도 괜찮다는 경험이 가장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사과하는 방법]
목적: 사과할 때 말할 세 가지(무슨 일–미안한 마음–다음 행동)와, 할 수 있으면 함께 바로잡는 것을 알려 줍니다(M2).
시간: 약 3분
이렇게 말해 보세요
- “‘미안해.’ 한마디도 좋지만, 세 가지를 말하면 더 잘 전해져. 무슨 일이 있었는지, 미안한 마음, 그리고 다음에는 어떻게 할지.”
- “지우라면 어떻게 말할 수 있을까? 화면의 예처럼.”
- “깨진 화분을 엄마랑 같이 치우는 것도 좋은 방법이야. 위험한 조각은 어른이 치워.”
예상 답
- “화분을 깨서 죄송해요. 다음에는 거실에서 공 안 던질게요.”
막히면
- 세 손가락을 하나씩 접으며 “무슨 일, 미안해, 다음엔” 하고 말하게 합니다.
주의
- 깨진 물건을 아이 혼자 치우게 하지 않습니다. 날카로운 조각은 어른이 치우고, 아이는 할 수 있는 일(빗자루 들어 주기 등)을 돕게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역할 놀이로 사과하기(도움 받아)]
목적: 역할 놀이로 세 가지를 넣어 사과하는 연습을 합니다.
시간: 약 4분
이렇게 말해 보세요
- “엄마(아빠)가 동생 할게. (블록 탑을 가리키며) 앗, 내 탑이 무너졌어!”
- “이번엔 엄마가 친구야. 내가 빌려준 책이 젖었네?”
예상 답
- ① “탑을 무너뜨려서 미안해. 다음에는 조심해서 걸을게. 같이 다시 쌓자.”
- ② “책에 물을 쏟아서 미안해. 다음에는 물컵을 멀리 둘게. 말려서 돌려줄게.”
정답
- 무슨 일, 미안한 마음, 다음 행동 세 가지가 들어가면 잘한 것입니다. 함께 고치는 말(같이 쌓자, 말려서 줄게)이 있으면 더 좋습니다.
막히면
- “미안해.”만 말하면(M2) “무엇이 미안해? 다음엔 어떻게 할래?” 하고 이어 묻습니다.
주의
- 상대 역할을 할 때 사과를 받으면 “말해 줘서 고마워. 괜찮아.”라고 따뜻하게 답해 줍니다.
- 아이가 지치면 여기서 쉬고, 다음 날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약속을 지키는 방법]
목적: 약속을 지키는 데 도움이 되는 방법 세 가지를 알려 줍니다(M3).
시간: 약 3분
이렇게 말해 보세요
- “약속을 잊어버린 적 있어? 잊지 않으려면 쪽지나 달력에 써 두면 좋아.”
- “지킬 수 없는 약속은 처음부터 안 하는 게 좋아. ‘매일 책 열 권 읽을게!’는 어때?”
- “그래도 못 지킬 것 같으면, 그냥 넘어가지 말고 미리 말하고 다시 정하면 돼.”
예상 답
- “책 열 권은 너무 많아요.” / “냉장고에 쪽지를 붙여요.”
막히면
- 엄마(아빠)가 약속을 지키려고 쓰는 방법을 보여 줍니다(휴대 전화 알림, 달력 표시 등).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약속이 흔들리는 상황에서 여러 선택]
목적: 약속을 지키기 어려운 상황에서 여러 선택을 견주고, 고른 까닭을 말합니다. 정답 하나를 고르게 하기보다 까닭을 듣습니다.
시간: 약 4분
이렇게 말해 보세요
- “도윤이는 엄마랑 저녁 전에 숙제하기로 약속했어. 그런데 친구가 지금 놀자고 해. 가, 나, 다 중에 너라면 무엇을 할래? 왜?”
- “가를 고르면 엄마는 어떤 마음일까? 다를 고르면?”
예상 답
- “나요. 약속을 먼저 지키고 놀면 마음이 편하니까요.”
- “다요. 친구랑 노는 것도 중요하니까, 엄마한테 말하고 놀고 와서 숙제할래요.”
정답
- 나와 다는 모두 약속을 소중히 여기는 방법입니다. 나는 약속을 먼저 지키고, 다는 미리 말하고 약속을 다시 정합니다. 까닭(엄마의 믿음, 내 마음, 친구와의 시간)을 말하면 목표 B를 연습한 것입니다.
- 가는 말없이 약속을 어기는 것이라 엄마가 걱정하고 믿기 어려워집니다. 가를 고르면 “엄마는 어떤 마음일까?” 하고 한 번 더 묻습니다.
막히면
- S08의 세 카드를 다시 보여 주고 “어떤 방법을 쓸 수 있을까?” 하고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 보기(사과와 내 약속)]
목적: 도움 없이 세 가지를 넣어 사과하는지(A), 자기 약속과 지키는 방법을 정하는지(B) 확인합니다.
시간: 약 5분
이렇게 말해 보세요
- “이번에는 엄마(아빠)가 도와주지 않을게. ①은 엄마가 할머니 역할을 할게. 뭐라고 말할래?”
- “②는 이번 주에 지킬 약속을 하나 정해 보자. 누구와, 무엇을? 어떻게 지킬 거야? 못 지킬 것 같으면?”
예상 답
- ① “할머니, 컵을 깨서 죄송해요. 다음엔 두 손으로 들게요.”
- ② “동생이랑 장난감 같이 쓰기로 약속할래요. 잊지 않게 쪽지를 붙일래요. 못 지킬 것 같으면 엄마한테 말할게요.”
정답
- ① 무슨 일, 미안한 마음, 다음 행동 가운데 세 가지를 모두 말하면 목표 A 확인 완료(두 가지면 ‘도움’으로 기록).
- ② 약속 하나, 지키는 방법 한 가지, 못 지킬 때 할 일을 말하면 목표 B 확인 완료. 활동지 4에 적고 일주일 동안 활동지 5에 표시합니다.
막히면
- ①에서 세 가지가 다 나오지 않으면 손가락 세 개를 보여 주며 “몇 개 말했지?” 하고 기다려 줍니다. 기록표에 ‘도움’으로 표시합니다.
주의
- 약속은 아이가 정합니다. 부모가 바라는 약속을 정해 주지 않습니다. 관찰한 것을 기록표(S10 줄)에 바로 표시해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잘한 말과 흔한 실수]
목적: S10에서 아이가 한 말을 예와 비교하며 돌아봅니다.
시간: 약 2분
이렇게 말해 보세요
- “네 사과에는 세 가지가 다 들어 있었어? 손가락으로 세어 볼까?”
- “네가 정한 약속도 아주 좋아. 어떻게 지킬지까지 정했지?”
예상 답
- “세 개 다 말했어요!” / “다음엔 어떻게 할지를 빼먹었어요.”
주의
- 이 장은 학생용 파일에서 빠집니다. 잘한 점을 먼저 말하고, 빠진 것은 하나만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확인(새 상황에서 고르고 까닭 말하기)]
목적: 처음 보는 상황에서 솔직하게 말하고 사과하는 쪽을 고르고, 까닭을 말하는지 확인합니다.
시간: 약 2분
이렇게 말해 보세요
- “서아라면 가, 나, 다 중에 무엇이라고 말할까? 왜 그렇게 생각해?”
정답
- 다. 무슨 일인지 솔직하게 말하고 사과하며, 함께 찾겠다는 다음 행동이 있습니다. 까닭 예: “친구가 서아를 믿을 수 있으니까요.”, “친구가 속상하지 않게요.”
- 가는 숨기기, 나는 남 탓입니다. 고른 것과 함께 상대의 마음이나 믿음과 이어지는 까닭을 말하면 목표 A 확인 완료입니다.
막히면
- S06의 사과 세 가지를 다시 보여 주고 “어느 쪽에 세 가지가 들어 있어?” 하고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학습]
목적: 오늘 배운 두 가지를 한 문장으로 정리하고 다음 수업 첫 5분에 할 복습을 알려 줍니다.
시간: 약 2분
이렇게 말해 보세요
- “실수했을 때는 어떻게 하기로 했지? 약속을 지키려면?”
예상 답
- “솔직하게 말하고, 무슨 일인지·미안해·다음엔 어떻게 할지 말해요. 약속은 쪽지에 써 둬요.”
정답
- ① 무슨 일, 미안한 마음, 다음 행동 ② 쪽지·달력에 쓰기, 지킬 수 있는 약속만 하기, 어려우면 미리 말하기 가운데 하나 ③ 기록표를 보며 말하면 맞음(지킨 날의 수는 평가하지 않음)
주의
- 아이가 이번 주에 실수를 솔직하게 말하는 순간이 오면, 결과를 따지기 전에 “말해 줘서 고마워.”를 먼저 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보충(약속의 뜻)]
목적: S02에서 약속의 뜻을 잘 모르면, 약속은 함께 정한 것이고 지키면 서로 믿을 수 있다는 것을 알려 줍니다.
시간: 약 5분
이렇게 말해 보세요
- “‘내일 공원에 가자.’ ‘응, 같이 가자.’ 이렇게 함께 정한 걸 약속이라고 해.”
- “엄마가 공원에 가기로 하고 진짜 데려가면 어떤 마음이 들어?”
- “지금 엄마(아빠)랑 작은 약속을 하나 해 볼까? ‘이따가 같이 책 한 권 읽기’ 어때?”
정답
- 약속을 ‘함께 정한 것’이라고 말하고, 지키면 믿을 수 있다(기쁘다)는 것을 말하면 맞습니다.
막히면
- 새끼손가락을 걸고 실제로 작은 약속을 하고, 수업이 끝나면 꼭 지켜 보여 줍니다.
- 이 차시는 계획상 앞 차시가 없습니다. 약속이나 규칙의 뜻이 낯설면 1학년 사회 ‘함께 지킬 약속’을 먼저 함께 하면 좋습니다.
주의
- 보충이 오래 걸리면 오늘은 여기까지 하고,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도덕·윤리 · 정직과약속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도덕·윤리 · 정직과 약속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도덕·윤리 · 정직과 약속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도덕·윤리 · 정직과 약속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정직과 약속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실수했을 때,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하면 좋을까?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잘못을 솔직하게 말하고 사과해요.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약속을 지키는 방법을 찾아요.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약속을 떠올려요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생각나는 대로 말해요.</a:t>
            </a:r>
            <a:endParaRPr lang="ko-KR" sz="3200" dirty="0"/>
          </a:p>
        </p:txBody>
      </p:sp>
      <p:sp>
        <p:nvSpPr>
          <p:cNvPr id="4" name="S02-card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2-cardtext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“○○하기로 약속했어요.”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지킨 약속 하나는?</a:t>
            </a:r>
            <a:endParaRPr lang="ko-KR" sz="32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약속을 안 지키면 내 마음은?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지우에게 생긴 일</a:t>
            </a:r>
            <a:endParaRPr lang="ko-KR" sz="44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지우는 지금 어떤 마음일까요?</a:t>
            </a:r>
            <a:endParaRPr lang="ko-KR" sz="3200" dirty="0"/>
          </a:p>
        </p:txBody>
      </p:sp>
      <p:sp>
        <p:nvSpPr>
          <p:cNvPr id="5" name="S03-passagebox12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3-passage13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깨진 화분</a:t>
            </a:r>
            <a:endParaRPr lang="ko-KR" sz="3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지우가 거실에서 공을 던지며 놀았어요.</a:t>
            </a:r>
            <a:endParaRPr lang="ko-KR" sz="3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‘쨍그랑!’ 엄마가 아끼는 화분이 깨졌어요.</a:t>
            </a:r>
            <a:endParaRPr lang="ko-KR" sz="3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엄마는 부엌에 있어서 아직 몰라요.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지우가 할 수 있는 일</a:t>
            </a:r>
            <a:endParaRPr lang="ko-KR" sz="4400" dirty="0"/>
          </a:p>
        </p:txBody>
      </p:sp>
      <p:sp>
        <p:nvSpPr>
          <p:cNvPr id="3" name="S04-text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지우는 세 가지를 생각했어요.</a:t>
            </a:r>
            <a:endParaRPr lang="ko-KR" sz="3200" dirty="0"/>
          </a:p>
        </p:txBody>
      </p:sp>
      <p:sp>
        <p:nvSpPr>
          <p:cNvPr id="4" name="S04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가, 나, 다는 각각 어떻게 될까요?</a:t>
            </a:r>
            <a:endParaRPr lang="ko-KR" sz="3200" dirty="0"/>
          </a:p>
        </p:txBody>
      </p:sp>
      <p:sp>
        <p:nvSpPr>
          <p:cNvPr id="6" name="S04-card17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18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“모르는 척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하자.”</a:t>
            </a:r>
            <a:endParaRPr lang="ko-KR" sz="3200" dirty="0"/>
          </a:p>
        </p:txBody>
      </p:sp>
      <p:sp>
        <p:nvSpPr>
          <p:cNvPr id="8" name="S04-card19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4-cardtext20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“동생이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그랬어요.”</a:t>
            </a:r>
            <a:endParaRPr lang="ko-KR" sz="3200" dirty="0"/>
          </a:p>
        </p:txBody>
      </p:sp>
      <p:sp>
        <p:nvSpPr>
          <p:cNvPr id="10" name="S04-card21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4-cardtext22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“제가 깼어요.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죄송해요.”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될까요?</a:t>
            </a:r>
            <a:endParaRPr lang="ko-KR" sz="4400" dirty="0"/>
          </a:p>
        </p:txBody>
      </p:sp>
      <p:sp>
        <p:nvSpPr>
          <p:cNvPr id="3" name="S05-text2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뒤의 마음을 생각해요.</a:t>
            </a:r>
            <a:endParaRPr lang="ko-KR" sz="3200" dirty="0"/>
          </a:p>
        </p:txBody>
      </p:sp>
      <p:sp>
        <p:nvSpPr>
          <p:cNvPr id="4" name="S05-card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나라면 무엇을 고를까요? 왜요?</a:t>
            </a:r>
            <a:endParaRPr lang="ko-KR" sz="3200" dirty="0"/>
          </a:p>
        </p:txBody>
      </p:sp>
      <p:sp>
        <p:nvSpPr>
          <p:cNvPr id="6" name="S05-chip2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5-text27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가처럼 숨기면 지우 마음은?</a:t>
            </a:r>
            <a:endParaRPr lang="ko-KR" sz="3200" dirty="0"/>
          </a:p>
        </p:txBody>
      </p:sp>
      <p:sp>
        <p:nvSpPr>
          <p:cNvPr id="8" name="S05-chip28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5-text29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나처럼 말하면 동생 마음은?</a:t>
            </a:r>
            <a:endParaRPr lang="ko-KR" sz="3200" dirty="0"/>
          </a:p>
        </p:txBody>
      </p:sp>
      <p:sp>
        <p:nvSpPr>
          <p:cNvPr id="10" name="S05-chip30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5-text31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다처럼 말하면 엄마 마음은?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사과해요</a:t>
            </a:r>
            <a:endParaRPr lang="ko-KR" sz="4400" dirty="0"/>
          </a:p>
        </p:txBody>
      </p:sp>
      <p:sp>
        <p:nvSpPr>
          <p:cNvPr id="3" name="S06-card32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3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“화분을 깨서 죄송해요. 다음엔 밖에서 공놀이할게요.”</a:t>
            </a:r>
            <a:endParaRPr lang="ko-KR" sz="3200" dirty="0"/>
          </a:p>
        </p:txBody>
      </p:sp>
      <p:sp>
        <p:nvSpPr>
          <p:cNvPr id="5" name="S06-stepno34"/>
          <p:cNvSpPr txBox="1"/>
          <p:nvPr/>
        </p:nvSpPr>
        <p:spPr>
          <a:xfrm>
            <a:off x="548640" y="166141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6-text35"/>
          <p:cNvSpPr txBox="1"/>
          <p:nvPr/>
        </p:nvSpPr>
        <p:spPr>
          <a:xfrm>
            <a:off x="1325880" y="166141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일인지 말해요.</a:t>
            </a:r>
            <a:endParaRPr lang="ko-KR" sz="3200" dirty="0"/>
          </a:p>
        </p:txBody>
      </p:sp>
      <p:sp>
        <p:nvSpPr>
          <p:cNvPr id="7" name="S06-stepno36"/>
          <p:cNvSpPr txBox="1"/>
          <p:nvPr/>
        </p:nvSpPr>
        <p:spPr>
          <a:xfrm>
            <a:off x="548640" y="237464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6-text37"/>
          <p:cNvSpPr txBox="1"/>
          <p:nvPr/>
        </p:nvSpPr>
        <p:spPr>
          <a:xfrm>
            <a:off x="1325880" y="237464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미안한 마음을 말해요.</a:t>
            </a:r>
            <a:endParaRPr lang="ko-KR" sz="3200" dirty="0"/>
          </a:p>
        </p:txBody>
      </p:sp>
      <p:sp>
        <p:nvSpPr>
          <p:cNvPr id="9" name="S06-stepno38"/>
          <p:cNvSpPr txBox="1"/>
          <p:nvPr/>
        </p:nvSpPr>
        <p:spPr>
          <a:xfrm>
            <a:off x="548640" y="308787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6-text39"/>
          <p:cNvSpPr txBox="1"/>
          <p:nvPr/>
        </p:nvSpPr>
        <p:spPr>
          <a:xfrm>
            <a:off x="1325880" y="308787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다음에 어떻게 할지 말해요.</a:t>
            </a:r>
            <a:endParaRPr lang="ko-KR" sz="3200" dirty="0"/>
          </a:p>
        </p:txBody>
      </p:sp>
      <p:sp>
        <p:nvSpPr>
          <p:cNvPr id="11" name="S06-stepno40"/>
          <p:cNvSpPr txBox="1"/>
          <p:nvPr/>
        </p:nvSpPr>
        <p:spPr>
          <a:xfrm>
            <a:off x="548640" y="380111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6-text41"/>
          <p:cNvSpPr txBox="1"/>
          <p:nvPr/>
        </p:nvSpPr>
        <p:spPr>
          <a:xfrm>
            <a:off x="1325880" y="380111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 수 있으면 함께 고쳐요.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사과해 봐요</a:t>
            </a:r>
            <a:endParaRPr lang="ko-KR" sz="4400" dirty="0"/>
          </a:p>
        </p:txBody>
      </p:sp>
      <p:sp>
        <p:nvSpPr>
          <p:cNvPr id="3" name="S07-text4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상대가 되어 줘요.</a:t>
            </a:r>
            <a:endParaRPr lang="ko-KR" sz="3200" dirty="0"/>
          </a:p>
        </p:txBody>
      </p:sp>
      <p:sp>
        <p:nvSpPr>
          <p:cNvPr id="4" name="S07-card4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4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“~해서 미안해. 다음에는 ~할게.”</a:t>
            </a:r>
            <a:endParaRPr lang="ko-KR" sz="3200" dirty="0"/>
          </a:p>
        </p:txBody>
      </p:sp>
      <p:sp>
        <p:nvSpPr>
          <p:cNvPr id="6" name="S07-chip4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7-text46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동생의 블록 탑을 실수로 무너뜨렸어요.</a:t>
            </a:r>
            <a:endParaRPr lang="ko-KR" sz="3200" dirty="0"/>
          </a:p>
        </p:txBody>
      </p:sp>
      <p:sp>
        <p:nvSpPr>
          <p:cNvPr id="8" name="S07-chip47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7-text48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친구에게 빌린 책에 물을 쏟았어요.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약속을 지키는 방법</a:t>
            </a:r>
            <a:endParaRPr lang="ko-KR" sz="4400" dirty="0"/>
          </a:p>
        </p:txBody>
      </p:sp>
      <p:sp>
        <p:nvSpPr>
          <p:cNvPr id="3" name="S08-card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약속을 지키면 서로 믿을 수 있어요.</a:t>
            </a:r>
            <a:endParaRPr lang="ko-KR" sz="3200" dirty="0"/>
          </a:p>
        </p:txBody>
      </p:sp>
      <p:sp>
        <p:nvSpPr>
          <p:cNvPr id="5" name="S08-card51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8-cardtext52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잊지 않게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쪽지나 달력에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써요</a:t>
            </a:r>
            <a:endParaRPr lang="ko-KR" sz="3200" dirty="0"/>
          </a:p>
        </p:txBody>
      </p:sp>
      <p:sp>
        <p:nvSpPr>
          <p:cNvPr id="7" name="S08-card53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8-cardtext54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 수 있게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지킬 수 있는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약속만 해요</a:t>
            </a:r>
            <a:endParaRPr lang="ko-KR" sz="3200" dirty="0"/>
          </a:p>
        </p:txBody>
      </p:sp>
      <p:sp>
        <p:nvSpPr>
          <p:cNvPr id="9" name="S08-card55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0" name="S08-cardtext56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어려우면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미리 말하고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정해요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도윤이는 어떻게 할까?</a:t>
            </a:r>
            <a:endParaRPr lang="ko-KR" sz="4400" dirty="0"/>
          </a:p>
        </p:txBody>
      </p:sp>
      <p:sp>
        <p:nvSpPr>
          <p:cNvPr id="3" name="S09-text5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‘저녁 전에 숙제하기’를 약속했는데, 친구가 놀자고 해요.</a:t>
            </a:r>
            <a:endParaRPr lang="ko-KR" sz="3200" dirty="0"/>
          </a:p>
        </p:txBody>
      </p:sp>
      <p:sp>
        <p:nvSpPr>
          <p:cNvPr id="4" name="S09-card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9-cardtext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나라면 무엇을 할까요? 왜요?</a:t>
            </a:r>
            <a:endParaRPr lang="ko-KR" sz="3200" dirty="0"/>
          </a:p>
        </p:txBody>
      </p:sp>
      <p:sp>
        <p:nvSpPr>
          <p:cNvPr id="6" name="S09-chip60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9-card61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9-cardtext62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그냥 놀러 가요.</a:t>
            </a:r>
            <a:endParaRPr lang="ko-KR" sz="3200" dirty="0"/>
          </a:p>
        </p:txBody>
      </p:sp>
      <p:sp>
        <p:nvSpPr>
          <p:cNvPr id="9" name="S09-chip63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9-card64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9-cardtext65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“숙제하고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갈게!”</a:t>
            </a:r>
            <a:endParaRPr lang="ko-KR" sz="3200" dirty="0"/>
          </a:p>
        </p:txBody>
      </p:sp>
      <p:sp>
        <p:nvSpPr>
          <p:cNvPr id="12" name="S09-chip66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9-card67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9-cardtext68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엄마에게 말하고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정해요.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봐요</a:t>
            </a:r>
            <a:endParaRPr lang="ko-KR" sz="4400" dirty="0"/>
          </a:p>
        </p:txBody>
      </p:sp>
      <p:sp>
        <p:nvSpPr>
          <p:cNvPr id="3" name="S10-text6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엄마(아빠)는 듣기만 해요.</a:t>
            </a:r>
            <a:endParaRPr lang="ko-KR" sz="3200" dirty="0"/>
          </a:p>
        </p:txBody>
      </p:sp>
      <p:sp>
        <p:nvSpPr>
          <p:cNvPr id="4" name="S10-chip70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0-text71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할머니께서 주신 컵을 깨뜨렸어요. 뭐라고 말할까요?</a:t>
            </a:r>
            <a:endParaRPr lang="ko-KR" sz="3200" dirty="0"/>
          </a:p>
        </p:txBody>
      </p:sp>
      <p:sp>
        <p:nvSpPr>
          <p:cNvPr id="6" name="S10-chip72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0-text73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 내 약속과 지키는 방법은?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잘한 말과 흔한 실수</a:t>
            </a:r>
            <a:endParaRPr lang="ko-KR" sz="4400" dirty="0"/>
          </a:p>
        </p:txBody>
      </p:sp>
      <p:sp>
        <p:nvSpPr>
          <p:cNvPr id="3" name="S11-card7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7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가지를 말하고, 까닭을 말하면 잘한 거예요.</a:t>
            </a:r>
            <a:endParaRPr lang="ko-KR" sz="3200" dirty="0"/>
          </a:p>
        </p:txBody>
      </p:sp>
      <p:sp>
        <p:nvSpPr>
          <p:cNvPr id="5" name="S11-chip76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1-text77"/>
          <p:cNvSpPr txBox="1"/>
          <p:nvPr/>
        </p:nvSpPr>
        <p:spPr>
          <a:xfrm>
            <a:off x="548640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“컵을 깨서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죄송해요.”</a:t>
            </a:r>
            <a:endParaRPr lang="ko-KR" sz="3200" dirty="0"/>
          </a:p>
        </p:txBody>
      </p:sp>
      <p:sp>
        <p:nvSpPr>
          <p:cNvPr id="7" name="S11-text78"/>
          <p:cNvSpPr txBox="1"/>
          <p:nvPr/>
        </p:nvSpPr>
        <p:spPr>
          <a:xfrm>
            <a:off x="3367278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일과 사과</a:t>
            </a:r>
            <a:endParaRPr lang="ko-KR" sz="2600" dirty="0"/>
          </a:p>
        </p:txBody>
      </p:sp>
      <p:sp>
        <p:nvSpPr>
          <p:cNvPr id="8" name="S11-text79"/>
          <p:cNvSpPr txBox="1"/>
          <p:nvPr/>
        </p:nvSpPr>
        <p:spPr>
          <a:xfrm>
            <a:off x="548640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“다음엔 두 손으로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들게요.”</a:t>
            </a:r>
            <a:endParaRPr lang="ko-KR" sz="2600" dirty="0"/>
          </a:p>
        </p:txBody>
      </p:sp>
      <p:sp>
        <p:nvSpPr>
          <p:cNvPr id="9" name="S11-text80"/>
          <p:cNvSpPr txBox="1"/>
          <p:nvPr/>
        </p:nvSpPr>
        <p:spPr>
          <a:xfrm>
            <a:off x="3367278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행동</a:t>
            </a:r>
            <a:endParaRPr lang="ko-KR" sz="2600" dirty="0"/>
          </a:p>
        </p:txBody>
      </p:sp>
      <p:sp>
        <p:nvSpPr>
          <p:cNvPr id="10" name="S11-chip81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1" name="S11-text82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“제가 안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그랬어요.”</a:t>
            </a:r>
            <a:endParaRPr lang="ko-KR" sz="3200" dirty="0"/>
          </a:p>
        </p:txBody>
      </p:sp>
      <p:sp>
        <p:nvSpPr>
          <p:cNvPr id="12" name="S11-text83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숨기기</a:t>
            </a:r>
            <a:endParaRPr lang="ko-KR" sz="2600" dirty="0"/>
          </a:p>
        </p:txBody>
      </p:sp>
      <p:sp>
        <p:nvSpPr>
          <p:cNvPr id="13" name="S11-text84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“미안해요.” 끝</a:t>
            </a:r>
            <a:endParaRPr lang="ko-KR" sz="3200" dirty="0"/>
          </a:p>
        </p:txBody>
      </p:sp>
      <p:sp>
        <p:nvSpPr>
          <p:cNvPr id="14" name="S11-text85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일·다음이 없음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서아는 뭐라고 할까?</a:t>
            </a:r>
            <a:endParaRPr lang="ko-KR" sz="4400" dirty="0"/>
          </a:p>
        </p:txBody>
      </p:sp>
      <p:sp>
        <p:nvSpPr>
          <p:cNvPr id="3" name="S12-text8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친구에게 빌린 연필을 잃어버렸어요.</a:t>
            </a:r>
            <a:endParaRPr lang="ko-KR" sz="3200" dirty="0"/>
          </a:p>
        </p:txBody>
      </p:sp>
      <p:sp>
        <p:nvSpPr>
          <p:cNvPr id="4" name="S12-card8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8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까닭을 말해 보세요.</a:t>
            </a:r>
            <a:endParaRPr lang="ko-KR" sz="3200" dirty="0"/>
          </a:p>
        </p:txBody>
      </p:sp>
      <p:sp>
        <p:nvSpPr>
          <p:cNvPr id="6" name="S12-chip89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2-card90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91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“난 몰라.”</a:t>
            </a:r>
            <a:endParaRPr lang="ko-KR" sz="3200" dirty="0"/>
          </a:p>
        </p:txBody>
      </p:sp>
      <p:sp>
        <p:nvSpPr>
          <p:cNvPr id="9" name="S12-chip92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2-card93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94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“네가 잘못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둔 거야.”</a:t>
            </a:r>
            <a:endParaRPr lang="ko-KR" sz="3200" dirty="0"/>
          </a:p>
        </p:txBody>
      </p:sp>
      <p:sp>
        <p:nvSpPr>
          <p:cNvPr id="12" name="S12-chip95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2-card96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97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“잃어버려서 미안해.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같이 찾아볼게.”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9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9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잘못은 솔직하게 말하고, 약속은 지킬 방법을 정해요.</a:t>
            </a:r>
            <a:endParaRPr lang="ko-KR" sz="3200" dirty="0"/>
          </a:p>
        </p:txBody>
      </p:sp>
      <p:sp>
        <p:nvSpPr>
          <p:cNvPr id="5" name="S13-chip100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솔직하게 말하고 사과하기</a:t>
            </a:r>
            <a:endParaRPr lang="ko-KR" sz="2600" dirty="0"/>
          </a:p>
        </p:txBody>
      </p:sp>
      <p:sp>
        <p:nvSpPr>
          <p:cNvPr id="6" name="S13-chip101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숨기거나 남 탓하기</a:t>
            </a:r>
            <a:endParaRPr lang="ko-KR" sz="2600" dirty="0"/>
          </a:p>
        </p:txBody>
      </p:sp>
      <p:sp>
        <p:nvSpPr>
          <p:cNvPr id="7" name="S13-text102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103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사과할 때 말할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</a:t>
            </a:r>
            <a:endParaRPr lang="ko-KR" sz="2600" dirty="0"/>
          </a:p>
        </p:txBody>
      </p:sp>
      <p:sp>
        <p:nvSpPr>
          <p:cNvPr id="9" name="S13-text104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약속을 잊지 않는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하나</a:t>
            </a:r>
            <a:endParaRPr lang="ko-KR" sz="2600" dirty="0"/>
          </a:p>
        </p:txBody>
      </p:sp>
      <p:sp>
        <p:nvSpPr>
          <p:cNvPr id="10" name="S13-text105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이번 주 내 약속,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어땠나요?</a:t>
            </a:r>
            <a:endParaRPr lang="ko-KR" sz="2600" dirty="0"/>
          </a:p>
        </p:txBody>
      </p:sp>
      <p:sp>
        <p:nvSpPr>
          <p:cNvPr id="11" name="S13-text10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공감과 공정한 사용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약속이란?</a:t>
            </a:r>
            <a:endParaRPr lang="ko-KR" sz="4400" dirty="0"/>
          </a:p>
        </p:txBody>
      </p:sp>
      <p:sp>
        <p:nvSpPr>
          <p:cNvPr id="3" name="S14-card10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10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한 약속을 떠올려 봐요.</a:t>
            </a:r>
            <a:endParaRPr lang="ko-KR" sz="3200" dirty="0"/>
          </a:p>
        </p:txBody>
      </p:sp>
      <p:sp>
        <p:nvSpPr>
          <p:cNvPr id="5" name="S14-card109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4-cardtext110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“~하자”, “~할게”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하고 함께 정한 것</a:t>
            </a:r>
            <a:endParaRPr lang="ko-KR" sz="3200" dirty="0"/>
          </a:p>
        </p:txBody>
      </p:sp>
      <p:sp>
        <p:nvSpPr>
          <p:cNvPr id="7" name="S14-card111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14-cardtext112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지키면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믿을 수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있어요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도덕·윤리 정직과 약속</dc:title>
  <dc:subject>KR22-G02-ETH-HONEST-L01</dc:subject>
  <dc:creator>education-ppt</dc:creator>
  <cp:lastModifiedBy>education-ppt</cp:lastModifiedBy>
  <cp:revision>1</cp:revision>
  <dcterms:created xsi:type="dcterms:W3CDTF">2026-10-26T09:58:21Z</dcterms:created>
  <dcterms:modified xsi:type="dcterms:W3CDTF">2026-10-26T09:58:21Z</dcterms:modified>
</cp:coreProperties>
</file>