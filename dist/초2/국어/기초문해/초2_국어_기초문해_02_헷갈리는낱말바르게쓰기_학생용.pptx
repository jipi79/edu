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b549c7c-d908-15cd-0833-09315912c7b0}">
          <p14:sldIdLst>
            <p14:sldId id="256"/>
            <p14:sldId id="257"/>
          </p14:sldIdLst>
        </p14:section>
        <p14:section name="개념" id="{653962aa-4a84-566b-1094-b3621f5b19e8}">
          <p14:sldIdLst>
            <p14:sldId id="258"/>
            <p14:sldId id="259"/>
            <p14:sldId id="260"/>
            <p14:sldId id="261"/>
          </p14:sldIdLst>
        </p14:section>
        <p14:section name="연습" id="{1ef4d834-2463-0f85-c4ae-d6c6fda4dc01}">
          <p14:sldIdLst>
            <p14:sldId id="262"/>
            <p14:sldId id="263"/>
            <p14:sldId id="264"/>
          </p14:sldIdLst>
        </p14:section>
        <p14:section name="확인" id="{1b3adf2e-8866-3367-5c9a-e6b234385748}">
          <p14:sldIdLst>
            <p14:sldId id="265"/>
            <p14:sldId id="266"/>
          </p14:sldIdLst>
        </p14:section>
        <p14:section name="정리" id="{f1d3201d-c400-9132-7d14-8da09dc0035e}">
          <p14:sldIdLst>
            <p14:sldId id="267"/>
          </p14:sldIdLst>
        </p14:section>
        <p14:section name="보충" id="{7cbe6451-6109-4563-b112-e30fb2df0c0c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기초문해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헷갈리는 낱말 바르게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헷갈리는 낱말 바르게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국어 · 헷갈리는 낱말 바르게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헷갈리는 낱말 쓰기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‘낫다’와 ‘낮다’는 무엇이 다를까?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낫다·낮다·낳다를 뜻으로 구별해요.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맞히다·마치다를 바르게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써 볼까요?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듣고 [ ] 부분을 바르게 써요.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[사라미] 많아요.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[저녀글] 먹어요.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소리가 닮은 세 낱말</a:t>
            </a:r>
            <a:endParaRPr lang="ko-KR" sz="4400" dirty="0"/>
          </a:p>
        </p:txBody>
      </p:sp>
      <p:sp>
        <p:nvSpPr>
          <p:cNvPr id="3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받침이 다르면 뜻이 달라요. 뜻을 먼저 생각해요.</a:t>
            </a:r>
            <a:endParaRPr lang="ko-KR" sz="3200" dirty="0"/>
          </a:p>
        </p:txBody>
      </p:sp>
      <p:sp>
        <p:nvSpPr>
          <p:cNvPr id="5" name="S03-card10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1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낫다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아픈 곳이 좋아져요.</a:t>
            </a:r>
            <a:endParaRPr lang="ko-KR" sz="3200" dirty="0"/>
          </a:p>
        </p:txBody>
      </p:sp>
      <p:sp>
        <p:nvSpPr>
          <p:cNvPr id="7" name="S03-card12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3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높지 않아요.</a:t>
            </a:r>
            <a:endParaRPr lang="ko-KR" sz="3200" dirty="0"/>
          </a:p>
        </p:txBody>
      </p:sp>
      <p:sp>
        <p:nvSpPr>
          <p:cNvPr id="9" name="S03-card14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3-cardtext15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낳다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아기나 알이 태어나게 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문장으로 구별해요</a:t>
            </a:r>
            <a:endParaRPr lang="ko-KR" sz="4400" dirty="0"/>
          </a:p>
        </p:txBody>
      </p:sp>
      <p:sp>
        <p:nvSpPr>
          <p:cNvPr id="3" name="S04-card16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7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‘나았어요’와 ‘낳았어요’는 소리가 같아요. 뜻으로 구별해요.</a:t>
            </a:r>
            <a:endParaRPr lang="ko-KR" sz="3200" dirty="0"/>
          </a:p>
        </p:txBody>
      </p:sp>
      <p:graphicFrame>
        <p:nvGraphicFramePr>
          <p:cNvPr id="5" name="S04-table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1737360"/>
          <a:ext cx="9144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</a:tblGrid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낱말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문장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낫다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상처가 다 나았어요.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낮다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의자가 낮아요.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낳다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새가 알을 낳았어요.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맞히다와 마치다</a:t>
            </a:r>
            <a:endParaRPr lang="ko-KR" sz="4400" dirty="0"/>
          </a:p>
        </p:txBody>
      </p:sp>
      <p:sp>
        <p:nvSpPr>
          <p:cNvPr id="3" name="S05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낱말은 소리가 똑같아요.</a:t>
            </a:r>
            <a:endParaRPr lang="ko-KR" sz="3200" dirty="0"/>
          </a:p>
        </p:txBody>
      </p:sp>
      <p:sp>
        <p:nvSpPr>
          <p:cNvPr id="4" name="S05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‘맞다’ → 맞히다, 일을 끝내면 → 마치다</a:t>
            </a:r>
            <a:endParaRPr lang="ko-KR" sz="3200" dirty="0"/>
          </a:p>
        </p:txBody>
      </p:sp>
      <p:sp>
        <p:nvSpPr>
          <p:cNvPr id="6" name="S05-card22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23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맞히다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맞게 하다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“답을 맞혔어요.”</a:t>
            </a:r>
            <a:endParaRPr lang="ko-KR" sz="3200" dirty="0"/>
          </a:p>
        </p:txBody>
      </p:sp>
      <p:sp>
        <p:nvSpPr>
          <p:cNvPr id="8" name="S05-card24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5-cardtext25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마치다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하던 일을 끝내다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“숙제를 마쳤어요.”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헷갈릴 때는 이렇게</a:t>
            </a:r>
            <a:endParaRPr lang="ko-KR" sz="4400" dirty="0"/>
          </a:p>
        </p:txBody>
      </p:sp>
      <p:sp>
        <p:nvSpPr>
          <p:cNvPr id="3" name="S06-stepno26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6-text27"/>
          <p:cNvSpPr txBox="1"/>
          <p:nvPr/>
        </p:nvSpPr>
        <p:spPr>
          <a:xfrm>
            <a:off x="1325880" y="242773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문장을 끝까지 읽어요.</a:t>
            </a:r>
            <a:endParaRPr lang="ko-KR" sz="3200" dirty="0"/>
          </a:p>
        </p:txBody>
      </p:sp>
      <p:sp>
        <p:nvSpPr>
          <p:cNvPr id="5" name="S06-stepno28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6-text29"/>
          <p:cNvSpPr txBox="1"/>
          <p:nvPr/>
        </p:nvSpPr>
        <p:spPr>
          <a:xfrm>
            <a:off x="1325880" y="31409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뜻인지 생각해요.</a:t>
            </a:r>
            <a:endParaRPr lang="ko-KR" sz="3200" dirty="0"/>
          </a:p>
        </p:txBody>
      </p:sp>
      <p:sp>
        <p:nvSpPr>
          <p:cNvPr id="7" name="S06-stepno30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6-text31"/>
          <p:cNvSpPr txBox="1"/>
          <p:nvPr/>
        </p:nvSpPr>
        <p:spPr>
          <a:xfrm>
            <a:off x="1325880" y="385419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원래 말을 떠올려요. (맞다 → 맞히다)</a:t>
            </a:r>
            <a:endParaRPr lang="ko-KR" sz="3200" dirty="0"/>
          </a:p>
        </p:txBody>
      </p:sp>
      <p:sp>
        <p:nvSpPr>
          <p:cNvPr id="9" name="S06-stepno32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6-text33"/>
          <p:cNvSpPr txBox="1"/>
          <p:nvPr/>
        </p:nvSpPr>
        <p:spPr>
          <a:xfrm>
            <a:off x="1325880" y="4567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골라 넣고 다시 읽어 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바를까요?</a:t>
            </a:r>
            <a:endParaRPr lang="ko-KR" sz="4400" dirty="0"/>
          </a:p>
        </p:txBody>
      </p:sp>
      <p:sp>
        <p:nvSpPr>
          <p:cNvPr id="3" name="S07-card3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감기에 걸렸다가 좋아졌어요. 두 친구가 이렇게 썼어요.</a:t>
            </a:r>
            <a:endParaRPr lang="ko-KR" sz="3200" dirty="0"/>
          </a:p>
        </p:txBody>
      </p:sp>
      <p:sp>
        <p:nvSpPr>
          <p:cNvPr id="5" name="S07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바르게 쓴 것일까요? 왜 그럴까요?</a:t>
            </a:r>
            <a:endParaRPr lang="ko-KR" sz="3200" dirty="0"/>
          </a:p>
        </p:txBody>
      </p:sp>
      <p:sp>
        <p:nvSpPr>
          <p:cNvPr id="7" name="S07-chip3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3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감기가 다 낳았어요.</a:t>
            </a:r>
            <a:endParaRPr lang="ko-KR" sz="3200" dirty="0"/>
          </a:p>
        </p:txBody>
      </p:sp>
      <p:sp>
        <p:nvSpPr>
          <p:cNvPr id="9" name="S07-chip4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4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감기가 다 나았어요.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낱말 고르기</a:t>
            </a:r>
            <a:endParaRPr lang="ko-KR" sz="4400" dirty="0"/>
          </a:p>
        </p:txBody>
      </p:sp>
      <p:sp>
        <p:nvSpPr>
          <p:cNvPr id="3" name="S08-text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뜻을 생각하며 알맞은 말을 골라요.</a:t>
            </a:r>
            <a:endParaRPr lang="ko-KR" sz="3200" dirty="0"/>
          </a:p>
        </p:txBody>
      </p:sp>
      <p:sp>
        <p:nvSpPr>
          <p:cNvPr id="4" name="S08-card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뜻을 떠올려요: 아픈 곳, 높이, 아기와 알</a:t>
            </a:r>
            <a:endParaRPr lang="ko-KR" sz="3200" dirty="0"/>
          </a:p>
        </p:txBody>
      </p:sp>
      <p:sp>
        <p:nvSpPr>
          <p:cNvPr id="6" name="S08-chip4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8-text4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의자는 (낮아요 / 낳아요).</a:t>
            </a:r>
            <a:endParaRPr lang="ko-KR" sz="3200" dirty="0"/>
          </a:p>
        </p:txBody>
      </p:sp>
      <p:sp>
        <p:nvSpPr>
          <p:cNvPr id="8" name="S08-chip4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8-text4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고양이가 새끼를 (낮았어요 / 낳았어요).</a:t>
            </a:r>
            <a:endParaRPr lang="ko-KR" sz="3200" dirty="0"/>
          </a:p>
        </p:txBody>
      </p:sp>
      <p:sp>
        <p:nvSpPr>
          <p:cNvPr id="10" name="S08-chip4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8-text5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배탈이 다 (나았어요 / 낳았어요).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맞혔어요? 마쳤어요?</a:t>
            </a:r>
            <a:endParaRPr lang="ko-KR" sz="4400" dirty="0"/>
          </a:p>
        </p:txBody>
      </p:sp>
      <p:sp>
        <p:nvSpPr>
          <p:cNvPr id="3" name="S09-text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말을 골라 읽어요.</a:t>
            </a:r>
            <a:endParaRPr lang="ko-KR" sz="3200" dirty="0"/>
          </a:p>
        </p:txBody>
      </p:sp>
      <p:sp>
        <p:nvSpPr>
          <p:cNvPr id="4" name="S09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맞으면 ‘맞히다’, 일을 끝내면 ‘마치다’</a:t>
            </a:r>
            <a:endParaRPr lang="ko-KR" sz="3200" dirty="0"/>
          </a:p>
        </p:txBody>
      </p:sp>
      <p:sp>
        <p:nvSpPr>
          <p:cNvPr id="6" name="S09-chip5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text5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수수께끼 답을 (맞혔어요 / 마쳤어요).</a:t>
            </a:r>
            <a:endParaRPr lang="ko-KR" sz="3200" dirty="0"/>
          </a:p>
        </p:txBody>
      </p:sp>
      <p:sp>
        <p:nvSpPr>
          <p:cNvPr id="8" name="S09-chip5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text5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청소를 다 (맞혔어요 / 마쳤어요).</a:t>
            </a:r>
            <a:endParaRPr lang="ko-KR" sz="3200" dirty="0"/>
          </a:p>
        </p:txBody>
      </p:sp>
      <p:sp>
        <p:nvSpPr>
          <p:cNvPr id="10" name="S09-chip5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text5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퀴즈 정답을 (맞혀서 / 마쳐서) 기뻐요.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말을 골라 공책에 써요.</a:t>
            </a:r>
            <a:endParaRPr lang="ko-KR" sz="3200" dirty="0"/>
          </a:p>
        </p:txBody>
      </p:sp>
      <p:sp>
        <p:nvSpPr>
          <p:cNvPr id="4" name="S10-chip6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text6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언덕이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(낮아요 / 낳아요).</a:t>
            </a:r>
            <a:endParaRPr lang="ko-KR" sz="3200" dirty="0"/>
          </a:p>
        </p:txBody>
      </p:sp>
      <p:sp>
        <p:nvSpPr>
          <p:cNvPr id="6" name="S10-chip6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text6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오리가 알을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(나았어요 / 낳았어요).</a:t>
            </a:r>
            <a:endParaRPr lang="ko-KR" sz="3200" dirty="0"/>
          </a:p>
        </p:txBody>
      </p:sp>
      <p:sp>
        <p:nvSpPr>
          <p:cNvPr id="8" name="S10-chip65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text66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일기 쓰기를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(맞혔어요 / 마쳤어요).</a:t>
            </a:r>
            <a:endParaRPr lang="ko-KR" sz="3200" dirty="0"/>
          </a:p>
        </p:txBody>
      </p:sp>
      <p:sp>
        <p:nvSpPr>
          <p:cNvPr id="10" name="S10-chip67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0-text68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(맞혀 / 마쳐) 보세요.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말이 맞을까?</a:t>
            </a:r>
            <a:endParaRPr lang="ko-KR" sz="4400" dirty="0"/>
          </a:p>
        </p:txBody>
      </p:sp>
      <p:sp>
        <p:nvSpPr>
          <p:cNvPr id="3" name="S12-text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바람이 불어서 문이 쾅 □.</a:t>
            </a:r>
            <a:endParaRPr lang="ko-KR" sz="3200" dirty="0"/>
          </a:p>
        </p:txBody>
      </p:sp>
      <p:sp>
        <p:nvSpPr>
          <p:cNvPr id="4" name="S12-card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까닭과 원래 말을 말해 보세요.</a:t>
            </a:r>
            <a:endParaRPr lang="ko-KR" sz="3200" dirty="0"/>
          </a:p>
        </p:txBody>
      </p:sp>
      <p:sp>
        <p:nvSpPr>
          <p:cNvPr id="6" name="S12-chip72"/>
          <p:cNvSpPr txBox="1"/>
          <p:nvPr/>
        </p:nvSpPr>
        <p:spPr>
          <a:xfrm>
            <a:off x="2946654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73"/>
          <p:cNvSpPr/>
          <p:nvPr/>
        </p:nvSpPr>
        <p:spPr>
          <a:xfrm>
            <a:off x="548640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74"/>
          <p:cNvSpPr txBox="1"/>
          <p:nvPr/>
        </p:nvSpPr>
        <p:spPr>
          <a:xfrm>
            <a:off x="822960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다쳤어요</a:t>
            </a:r>
            <a:endParaRPr lang="ko-KR" sz="3200" dirty="0"/>
          </a:p>
        </p:txBody>
      </p:sp>
      <p:sp>
        <p:nvSpPr>
          <p:cNvPr id="9" name="S12-chip75"/>
          <p:cNvSpPr txBox="1"/>
          <p:nvPr/>
        </p:nvSpPr>
        <p:spPr>
          <a:xfrm>
            <a:off x="8675370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76"/>
          <p:cNvSpPr/>
          <p:nvPr/>
        </p:nvSpPr>
        <p:spPr>
          <a:xfrm>
            <a:off x="6277356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77"/>
          <p:cNvSpPr txBox="1"/>
          <p:nvPr/>
        </p:nvSpPr>
        <p:spPr>
          <a:xfrm>
            <a:off x="6551676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닫혔어요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78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79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소리가 같아도 뜻에 따라 글자가 달라요. 뜻을 생각하고 써요.</a:t>
            </a:r>
            <a:endParaRPr lang="ko-KR" sz="3200" dirty="0"/>
          </a:p>
        </p:txBody>
      </p:sp>
      <p:sp>
        <p:nvSpPr>
          <p:cNvPr id="5" name="S13-chip80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뜻을 생각하고 쓰기</a:t>
            </a:r>
            <a:endParaRPr lang="ko-KR" sz="2600" dirty="0"/>
          </a:p>
        </p:txBody>
      </p:sp>
      <p:sp>
        <p:nvSpPr>
          <p:cNvPr id="6" name="S13-chip81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소리만 듣고 쓰기</a:t>
            </a:r>
            <a:endParaRPr lang="ko-KR" sz="2600" dirty="0"/>
          </a:p>
        </p:txBody>
      </p:sp>
      <p:sp>
        <p:nvSpPr>
          <p:cNvPr id="7" name="S13-text82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83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감기가 다 □□어요.</a:t>
            </a:r>
            <a:endParaRPr lang="ko-KR" sz="2600" dirty="0"/>
          </a:p>
        </p:txBody>
      </p:sp>
      <p:sp>
        <p:nvSpPr>
          <p:cNvPr id="9" name="S13-text84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의자가 □□요.</a:t>
            </a:r>
            <a:endParaRPr lang="ko-KR" sz="2600" dirty="0"/>
          </a:p>
        </p:txBody>
      </p:sp>
      <p:sp>
        <p:nvSpPr>
          <p:cNvPr id="10" name="S13-text85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정답을 □□어요.</a:t>
            </a:r>
            <a:endParaRPr lang="ko-KR" sz="2600" dirty="0"/>
          </a:p>
        </p:txBody>
      </p:sp>
      <p:sp>
        <p:nvSpPr>
          <p:cNvPr id="11" name="S13-text8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짧은 글 읽고 내용 확인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떼어 보고 써요</a:t>
            </a:r>
            <a:endParaRPr lang="ko-KR" sz="4400" dirty="0"/>
          </a:p>
        </p:txBody>
      </p:sp>
      <p:sp>
        <p:nvSpPr>
          <p:cNvPr id="3" name="S14-text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듣고 [ ] 부분을 바르게 써요.</a:t>
            </a:r>
            <a:endParaRPr lang="ko-KR" sz="3200" dirty="0"/>
          </a:p>
        </p:txBody>
      </p:sp>
      <p:sp>
        <p:nvSpPr>
          <p:cNvPr id="4" name="S14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4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+ 이 → 손이</a:t>
            </a:r>
            <a:endParaRPr lang="ko-KR" sz="3200" dirty="0"/>
          </a:p>
        </p:txBody>
      </p:sp>
      <p:sp>
        <p:nvSpPr>
          <p:cNvPr id="6" name="S14-chip9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4-text9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[소니] 차가워요.</a:t>
            </a:r>
            <a:endParaRPr lang="ko-KR" sz="3200" dirty="0"/>
          </a:p>
        </p:txBody>
      </p:sp>
      <p:sp>
        <p:nvSpPr>
          <p:cNvPr id="8" name="S14-chip9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4-text9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[무를] 마셔요.</a:t>
            </a:r>
            <a:endParaRPr lang="ko-KR" sz="3200" dirty="0"/>
          </a:p>
        </p:txBody>
      </p:sp>
      <p:sp>
        <p:nvSpPr>
          <p:cNvPr id="10" name="S14-chip9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4-text9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[고미] 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국어 헷갈리는 낱말 바르게 쓰기</dc:title>
  <dc:subject>KR22-G02-KOR-SPELL-L01</dc:subject>
  <dc:creator>education-ppt</dc:creator>
  <cp:lastModifiedBy>education-ppt</cp:lastModifiedBy>
  <cp:revision>1</cp:revision>
  <dcterms:created xsi:type="dcterms:W3CDTF">2026-10-26T07:45:50Z</dcterms:created>
  <dcterms:modified xsi:type="dcterms:W3CDTF">2026-10-26T07:45:50Z</dcterms:modified>
</cp:coreProperties>
</file>