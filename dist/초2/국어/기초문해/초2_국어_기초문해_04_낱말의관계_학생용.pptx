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cb533bab-1a40-b756-d6ad-e2f34e4d89b0}">
          <p14:sldIdLst>
            <p14:sldId id="256"/>
            <p14:sldId id="257"/>
          </p14:sldIdLst>
        </p14:section>
        <p14:section name="개념" id="{42572558-9b9d-a3de-5abb-c9ced7cae77a}">
          <p14:sldIdLst>
            <p14:sldId id="258"/>
            <p14:sldId id="259"/>
            <p14:sldId id="260"/>
          </p14:sldIdLst>
        </p14:section>
        <p14:section name="연습" id="{7f4336ba-840b-3b8a-7a19-3486ca58dd9c}">
          <p14:sldIdLst>
            <p14:sldId id="261"/>
            <p14:sldId id="262"/>
            <p14:sldId id="263"/>
          </p14:sldIdLst>
        </p14:section>
        <p14:section name="확인" id="{f86ebc52-6f44-37dd-a0b0-45ffe37825d9}">
          <p14:sldIdLst>
            <p14:sldId id="264"/>
            <p14:sldId id="265"/>
          </p14:sldIdLst>
        </p14:section>
        <p14:section name="정리" id="{f72b1f68-1cf3-6f48-7a69-123fddd8266b}">
          <p14:sldIdLst>
            <p14:sldId id="266"/>
          </p14:sldIdLst>
        </p14:section>
        <p14:section name="보충" id="{4482ada9-4769-1a22-69d9-dfb7a9e2326a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기초문해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낱말의 관계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낱말의 관계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‘크다’와 짝이 되는 말은 무엇일까?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비슷한 말과 반대말을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흉내 내는 말을 넣어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누가, 어떻게 했나요?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나오나요? 어떻게 뛰었나요?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토끼가 풀밭에서 깡충깡충 뛰었습니다. 그러다 큰 나무 아래에서 쉬었습니다.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</a:t>
            </a:r>
            <a:endParaRPr lang="ko-KR" sz="4400" dirty="0"/>
          </a:p>
        </p:txBody>
      </p:sp>
      <p:sp>
        <p:nvSpPr>
          <p:cNvPr id="3" name="S03-text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넣어도 뜻이 거의 같아요.</a:t>
            </a:r>
            <a:endParaRPr lang="ko-KR" sz="3200" dirty="0"/>
          </a:p>
        </p:txBody>
      </p:sp>
      <p:sp>
        <p:nvSpPr>
          <p:cNvPr id="4" name="S03-card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비슷한 말은 서로 바꾸어 쓸 수 있어요.</a:t>
            </a:r>
            <a:endParaRPr lang="ko-KR" sz="3200" dirty="0"/>
          </a:p>
        </p:txBody>
      </p:sp>
      <p:sp>
        <p:nvSpPr>
          <p:cNvPr id="6" name="S03-card10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3-cardtext11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· 얼른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빨리 와.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얼른 와.</a:t>
            </a:r>
            <a:endParaRPr lang="ko-KR" sz="3200" dirty="0"/>
          </a:p>
        </p:txBody>
      </p:sp>
      <p:sp>
        <p:nvSpPr>
          <p:cNvPr id="8" name="S03-card12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3-cardtext13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예쁘다 · 곱다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꽃이 예뻐요.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꽃이 고와요.</a:t>
            </a:r>
            <a:endParaRPr lang="ko-KR" sz="3200" dirty="0"/>
          </a:p>
        </p:txBody>
      </p:sp>
      <p:sp>
        <p:nvSpPr>
          <p:cNvPr id="10" name="S03-card14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3-cardtext15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· 매우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아주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매우 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뜻이 반대인 말</a:t>
            </a:r>
            <a:endParaRPr lang="ko-KR" sz="4400" dirty="0"/>
          </a:p>
        </p:txBody>
      </p:sp>
      <p:sp>
        <p:nvSpPr>
          <p:cNvPr id="3" name="S04-text1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두 말의 뜻이 서로 거꾸로예요.</a:t>
            </a:r>
            <a:endParaRPr lang="ko-KR" sz="3200" dirty="0"/>
          </a:p>
        </p:txBody>
      </p:sp>
      <p:sp>
        <p:nvSpPr>
          <p:cNvPr id="4" name="S04-card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반대말은 한 낱말로 짝을 지어요.</a:t>
            </a:r>
            <a:endParaRPr lang="ko-KR" sz="3200" dirty="0"/>
          </a:p>
        </p:txBody>
      </p:sp>
      <p:sp>
        <p:nvSpPr>
          <p:cNvPr id="6" name="S04-card19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20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크다 ↔ 작다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수박은 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콩은 작아요.</a:t>
            </a:r>
            <a:endParaRPr lang="ko-KR" sz="3200" dirty="0"/>
          </a:p>
        </p:txBody>
      </p:sp>
      <p:sp>
        <p:nvSpPr>
          <p:cNvPr id="8" name="S04-card21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22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많다 ↔ 적다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많아요.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10" name="S04-card23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24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높다 ↔ 낮다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산은 높아요.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언덕은 낮아요.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</a:t>
            </a:r>
            <a:endParaRPr lang="ko-KR" sz="4400" dirty="0"/>
          </a:p>
        </p:txBody>
      </p:sp>
      <p:sp>
        <p:nvSpPr>
          <p:cNvPr id="3" name="S05-card2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2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흉내 내는 말을 넣으면 글이 생생해져요.</a:t>
            </a:r>
            <a:endParaRPr lang="ko-KR" sz="3200" dirty="0"/>
          </a:p>
        </p:txBody>
      </p:sp>
      <p:sp>
        <p:nvSpPr>
          <p:cNvPr id="5" name="S05-card27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5-cardtext28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 흉내: 귀로 들어요</a:t>
            </a:r>
            <a:endParaRPr lang="ko-KR" sz="3200" dirty="0"/>
          </a:p>
        </p:txBody>
      </p:sp>
      <p:sp>
        <p:nvSpPr>
          <p:cNvPr id="7" name="S05-card29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5-cardtext30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 흉내: 눈으로 봐요</a:t>
            </a:r>
            <a:endParaRPr lang="ko-KR" sz="3200" dirty="0"/>
          </a:p>
        </p:txBody>
      </p:sp>
      <p:sp>
        <p:nvSpPr>
          <p:cNvPr id="9" name="S05-word31"/>
          <p:cNvSpPr txBox="1"/>
          <p:nvPr/>
        </p:nvSpPr>
        <p:spPr>
          <a:xfrm>
            <a:off x="548640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멍멍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0" name="S05-word32"/>
          <p:cNvSpPr txBox="1"/>
          <p:nvPr/>
        </p:nvSpPr>
        <p:spPr>
          <a:xfrm>
            <a:off x="3390138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꼬끼오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소리</a:t>
            </a:r>
            <a:endParaRPr lang="ko-KR" sz="3600" dirty="0"/>
          </a:p>
        </p:txBody>
      </p:sp>
      <p:sp>
        <p:nvSpPr>
          <p:cNvPr id="11" name="S05-word33"/>
          <p:cNvSpPr txBox="1"/>
          <p:nvPr/>
        </p:nvSpPr>
        <p:spPr>
          <a:xfrm>
            <a:off x="6231636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깡충깡충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12" name="S05-word34"/>
          <p:cNvSpPr txBox="1"/>
          <p:nvPr/>
        </p:nvSpPr>
        <p:spPr>
          <a:xfrm>
            <a:off x="9073134" y="1805940"/>
            <a:ext cx="2567178" cy="1737360"/>
          </a:xfrm>
          <a:prstGeom prst="roundRect">
            <a:avLst>
              <a:gd name="adj" fmla="val 7368"/>
            </a:avLst>
          </a:prstGeom>
          <a:solidFill>
            <a:srgbClr val="FDEBDD"/>
          </a:solidFill>
          <a:ln w="31750">
            <a:solidFill>
              <a:srgbClr val="E9762B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살금살금</a:t>
            </a:r>
            <a:endParaRPr lang="ko-KR" sz="3600" dirty="0"/>
          </a:p>
          <a:p>
            <a:pPr eaLnBrk="0" algn="ctr" indent="0" marL="0">
              <a:buNone/>
            </a:pPr>
            <a:r>
              <a:rPr lang="ko-KR" altLang="en-US" sz="24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모양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짝이 되는 말 찾기</a:t>
            </a:r>
            <a:endParaRPr lang="ko-KR" sz="4400" dirty="0"/>
          </a:p>
        </p:txBody>
      </p:sp>
      <p:sp>
        <p:nvSpPr>
          <p:cNvPr id="3" name="S06-text3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반대말과 비슷한 말을 말해 보세요.</a:t>
            </a:r>
            <a:endParaRPr lang="ko-KR" sz="3200" dirty="0"/>
          </a:p>
        </p:txBody>
      </p:sp>
      <p:sp>
        <p:nvSpPr>
          <p:cNvPr id="4" name="S06-card3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3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찾은 말을 문장에 넣어 읽어 봐요.</a:t>
            </a:r>
            <a:endParaRPr lang="ko-KR" sz="3200" dirty="0"/>
          </a:p>
        </p:txBody>
      </p:sp>
      <p:sp>
        <p:nvSpPr>
          <p:cNvPr id="6" name="S06-chip3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6-text3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‘길다’의 반대말</a:t>
            </a:r>
            <a:endParaRPr lang="ko-KR" sz="3200" dirty="0"/>
          </a:p>
        </p:txBody>
      </p:sp>
      <p:sp>
        <p:nvSpPr>
          <p:cNvPr id="8" name="S06-chip4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6-text4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‘무겁다’의 반대말</a:t>
            </a:r>
            <a:endParaRPr lang="ko-KR" sz="3200" dirty="0"/>
          </a:p>
        </p:txBody>
      </p:sp>
      <p:sp>
        <p:nvSpPr>
          <p:cNvPr id="10" name="S06-chip4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6-text4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‘열다’의 반대말</a:t>
            </a:r>
            <a:endParaRPr lang="ko-KR" sz="3200" dirty="0"/>
          </a:p>
        </p:txBody>
      </p:sp>
      <p:sp>
        <p:nvSpPr>
          <p:cNvPr id="12" name="S06-chip4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6-text4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‘모두’와 비슷한 말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작아요? 적어요?</a:t>
            </a:r>
            <a:endParaRPr lang="ko-KR" sz="4400" dirty="0"/>
          </a:p>
        </p:txBody>
      </p:sp>
      <p:sp>
        <p:nvSpPr>
          <p:cNvPr id="3" name="S07-card4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‘사탕이 많아요.’를 반대말로 바꾸어 썼어요.</a:t>
            </a:r>
            <a:endParaRPr lang="ko-KR" sz="3200" dirty="0"/>
          </a:p>
        </p:txBody>
      </p:sp>
      <p:sp>
        <p:nvSpPr>
          <p:cNvPr id="5" name="S07-card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쪽이 ‘많아요’의 반대일까요? 왜 그럴까요?</a:t>
            </a:r>
            <a:endParaRPr lang="ko-KR" sz="3200" dirty="0"/>
          </a:p>
        </p:txBody>
      </p:sp>
      <p:sp>
        <p:nvSpPr>
          <p:cNvPr id="7" name="S07-chip5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5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작아요.</a:t>
            </a:r>
            <a:endParaRPr lang="ko-KR" sz="3200" dirty="0"/>
          </a:p>
        </p:txBody>
      </p:sp>
      <p:sp>
        <p:nvSpPr>
          <p:cNvPr id="9" name="S07-chip5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5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사탕이 적어요.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 넣기</a:t>
            </a:r>
            <a:endParaRPr lang="ko-KR" sz="4400" dirty="0"/>
          </a:p>
        </p:txBody>
      </p:sp>
      <p:sp>
        <p:nvSpPr>
          <p:cNvPr id="3" name="S08-text5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보기에서 골라 □에 넣어 읽어요.</a:t>
            </a:r>
            <a:endParaRPr lang="ko-KR" sz="3200" dirty="0"/>
          </a:p>
        </p:txBody>
      </p:sp>
      <p:sp>
        <p:nvSpPr>
          <p:cNvPr id="4" name="S08-card55"/>
          <p:cNvSpPr/>
          <p:nvPr/>
        </p:nvSpPr>
        <p:spPr>
          <a:xfrm>
            <a:off x="6277356" y="2011680"/>
            <a:ext cx="5362956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8-cardtext56"/>
          <p:cNvSpPr txBox="1"/>
          <p:nvPr/>
        </p:nvSpPr>
        <p:spPr>
          <a:xfrm>
            <a:off x="6551676" y="2148840"/>
            <a:ext cx="4814316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보기</a:t>
            </a:r>
            <a:endParaRPr lang="ko-KR" sz="3200" dirty="0"/>
          </a:p>
        </p:txBody>
      </p:sp>
      <p:sp>
        <p:nvSpPr>
          <p:cNvPr id="6" name="S08-word57"/>
          <p:cNvSpPr txBox="1"/>
          <p:nvPr/>
        </p:nvSpPr>
        <p:spPr>
          <a:xfrm>
            <a:off x="6551676" y="269748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쨍그랑</a:t>
            </a:r>
            <a:endParaRPr lang="ko-KR" sz="3600" dirty="0"/>
          </a:p>
        </p:txBody>
      </p:sp>
      <p:sp>
        <p:nvSpPr>
          <p:cNvPr id="7" name="S08-word58"/>
          <p:cNvSpPr txBox="1"/>
          <p:nvPr/>
        </p:nvSpPr>
        <p:spPr>
          <a:xfrm>
            <a:off x="6551676" y="390144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엉금엉금</a:t>
            </a:r>
            <a:endParaRPr lang="ko-KR" sz="3600" dirty="0"/>
          </a:p>
        </p:txBody>
      </p:sp>
      <p:sp>
        <p:nvSpPr>
          <p:cNvPr id="8" name="S08-word59"/>
          <p:cNvSpPr txBox="1"/>
          <p:nvPr/>
        </p:nvSpPr>
        <p:spPr>
          <a:xfrm>
            <a:off x="6551676" y="5105400"/>
            <a:ext cx="4814316" cy="929640"/>
          </a:xfrm>
          <a:prstGeom prst="roundRect">
            <a:avLst>
              <a:gd name="adj" fmla="val 13770"/>
            </a:avLst>
          </a:prstGeom>
          <a:solidFill>
            <a:srgbClr val="EAF3F1"/>
          </a:solidFill>
          <a:ln>
            <a:solidFill>
              <a:srgbClr val="EAF3F1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반짝반짝</a:t>
            </a:r>
            <a:endParaRPr lang="ko-KR" sz="3600" dirty="0"/>
          </a:p>
        </p:txBody>
      </p:sp>
      <p:sp>
        <p:nvSpPr>
          <p:cNvPr id="9" name="S08-chip60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10" name="S08-text61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거북이가 □ 기어가요.</a:t>
            </a:r>
            <a:endParaRPr lang="ko-KR" sz="3200" dirty="0"/>
          </a:p>
        </p:txBody>
      </p:sp>
      <p:sp>
        <p:nvSpPr>
          <p:cNvPr id="11" name="S08-chip62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2" name="S08-text63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별이 □ 빛나요.</a:t>
            </a:r>
            <a:endParaRPr lang="ko-KR" sz="3200" dirty="0"/>
          </a:p>
        </p:txBody>
      </p:sp>
      <p:sp>
        <p:nvSpPr>
          <p:cNvPr id="13" name="S08-chip64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4" name="S08-text65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접시가 □ 깨졌어요.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6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말을 말하고 공책에 써요.</a:t>
            </a:r>
            <a:endParaRPr lang="ko-KR" sz="3200" dirty="0"/>
          </a:p>
        </p:txBody>
      </p:sp>
      <p:sp>
        <p:nvSpPr>
          <p:cNvPr id="4" name="S09-chip67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text68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‘넓다’의 반대말</a:t>
            </a:r>
            <a:endParaRPr lang="ko-KR" sz="3200" dirty="0"/>
          </a:p>
        </p:txBody>
      </p:sp>
      <p:sp>
        <p:nvSpPr>
          <p:cNvPr id="6" name="S09-chip69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text70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‘기쁘다’와 비슷한 말</a:t>
            </a:r>
            <a:endParaRPr lang="ko-KR" sz="3200" dirty="0"/>
          </a:p>
        </p:txBody>
      </p:sp>
      <p:sp>
        <p:nvSpPr>
          <p:cNvPr id="8" name="S09-chip71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72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오리가 □ 걸어요.</a:t>
            </a:r>
            <a:endParaRPr lang="ko-KR" sz="3200" dirty="0"/>
          </a:p>
        </p:txBody>
      </p:sp>
      <p:sp>
        <p:nvSpPr>
          <p:cNvPr id="10" name="S09-chip73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1" name="S09-text74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문을 □ 두드려요.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반대말을 넣은 것은?</a:t>
            </a:r>
            <a:endParaRPr lang="ko-KR" sz="4400" dirty="0"/>
          </a:p>
        </p:txBody>
      </p:sp>
      <p:sp>
        <p:nvSpPr>
          <p:cNvPr id="3" name="S11-text7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‘방이 밝아요.’를 반대말로 바꾸면?</a:t>
            </a:r>
            <a:endParaRPr lang="ko-KR" sz="3200" dirty="0"/>
          </a:p>
        </p:txBody>
      </p:sp>
      <p:sp>
        <p:nvSpPr>
          <p:cNvPr id="4" name="S11-card7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7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고른 까닭은? ‘밝다’와 ‘환하다’는 어떤 사이일까요?</a:t>
            </a:r>
            <a:endParaRPr lang="ko-KR" sz="3200" dirty="0"/>
          </a:p>
        </p:txBody>
      </p:sp>
      <p:sp>
        <p:nvSpPr>
          <p:cNvPr id="6" name="S11-chip78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79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0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어두워요.</a:t>
            </a:r>
            <a:endParaRPr lang="ko-KR" sz="3200" dirty="0"/>
          </a:p>
        </p:txBody>
      </p:sp>
      <p:sp>
        <p:nvSpPr>
          <p:cNvPr id="9" name="S11-chip81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82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83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환해요.</a:t>
            </a:r>
            <a:endParaRPr lang="ko-KR" sz="3200" dirty="0"/>
          </a:p>
        </p:txBody>
      </p:sp>
      <p:sp>
        <p:nvSpPr>
          <p:cNvPr id="12" name="S11-chip84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85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86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방이 넓어요.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87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88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낱말에는 뜻이 비슷한 말, 반대인 말, 흉내 내는 말이 있어요.</a:t>
            </a:r>
            <a:endParaRPr lang="ko-KR" sz="3200" dirty="0"/>
          </a:p>
        </p:txBody>
      </p:sp>
      <p:sp>
        <p:nvSpPr>
          <p:cNvPr id="5" name="S12-chip89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넣어 읽어 확인하기</a:t>
            </a:r>
            <a:endParaRPr lang="ko-KR" sz="2600" dirty="0"/>
          </a:p>
        </p:txBody>
      </p:sp>
      <p:sp>
        <p:nvSpPr>
          <p:cNvPr id="6" name="S12-chip90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작다·적다 헷갈리기</a:t>
            </a:r>
            <a:endParaRPr lang="ko-KR" sz="2600" dirty="0"/>
          </a:p>
        </p:txBody>
      </p:sp>
      <p:sp>
        <p:nvSpPr>
          <p:cNvPr id="7" name="S12-text91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92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‘짧다’의 반대말</a:t>
            </a:r>
            <a:endParaRPr lang="ko-KR" sz="2600" dirty="0"/>
          </a:p>
        </p:txBody>
      </p:sp>
      <p:sp>
        <p:nvSpPr>
          <p:cNvPr id="9" name="S12-text93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‘빨리’와 비슷한 말</a:t>
            </a:r>
            <a:endParaRPr lang="ko-KR" sz="2600" dirty="0"/>
          </a:p>
        </p:txBody>
      </p:sp>
      <p:sp>
        <p:nvSpPr>
          <p:cNvPr id="10" name="S12-text94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강아지 소리 흉내</a:t>
            </a:r>
            <a:endParaRPr lang="ko-KR" sz="2600" dirty="0"/>
          </a:p>
        </p:txBody>
      </p:sp>
      <p:sp>
        <p:nvSpPr>
          <p:cNvPr id="11" name="S12-text95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일이 일어난 차례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어떻게 했나요?</a:t>
            </a:r>
            <a:endParaRPr lang="ko-KR" sz="4400" dirty="0"/>
          </a:p>
        </p:txBody>
      </p:sp>
      <p:sp>
        <p:nvSpPr>
          <p:cNvPr id="3" name="S13-text96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읽고 ‘어떻게’에 맞는 말을 짚어요.</a:t>
            </a:r>
            <a:endParaRPr lang="ko-KR" sz="3200" dirty="0"/>
          </a:p>
        </p:txBody>
      </p:sp>
      <p:sp>
        <p:nvSpPr>
          <p:cNvPr id="4" name="S13-card9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9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답은 움직임을 꾸미는 말이에요.</a:t>
            </a:r>
            <a:endParaRPr lang="ko-KR" sz="3200" dirty="0"/>
          </a:p>
        </p:txBody>
      </p:sp>
      <p:sp>
        <p:nvSpPr>
          <p:cNvPr id="6" name="S13-chip9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00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아기가 아장아장 걸어요.</a:t>
            </a:r>
            <a:endParaRPr lang="ko-KR" sz="3200" dirty="0"/>
          </a:p>
        </p:txBody>
      </p:sp>
      <p:sp>
        <p:nvSpPr>
          <p:cNvPr id="8" name="S13-chip10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02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강아지가 꼬리를 살랑살랑 흔들어요.</a:t>
            </a:r>
            <a:endParaRPr lang="ko-KR" sz="3200" dirty="0"/>
          </a:p>
        </p:txBody>
      </p:sp>
      <p:sp>
        <p:nvSpPr>
          <p:cNvPr id="10" name="S13-chip10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04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고양이가 살금살금 다가가요.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낱말의 관계</dc:title>
  <dc:subject>KR22-G02-KOR-VOCAB-L01</dc:subject>
  <dc:creator>education-ppt</dc:creator>
  <cp:lastModifiedBy>education-ppt</cp:lastModifiedBy>
  <cp:revision>1</cp:revision>
  <dcterms:created xsi:type="dcterms:W3CDTF">2026-10-26T07:09:24Z</dcterms:created>
  <dcterms:modified xsi:type="dcterms:W3CDTF">2026-10-26T07:09:24Z</dcterms:modified>
</cp:coreProperties>
</file>