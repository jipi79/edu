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593e35b-c8c6-e452-e1f8-2130bab19c1c}">
          <p14:sldIdLst>
            <p14:sldId id="256"/>
            <p14:sldId id="257"/>
          </p14:sldIdLst>
        </p14:section>
        <p14:section name="개념" id="{e81cfda4-692f-476f-54f3-b3d1bfe1fb14}">
          <p14:sldIdLst>
            <p14:sldId id="258"/>
            <p14:sldId id="259"/>
            <p14:sldId id="260"/>
            <p14:sldId id="261"/>
          </p14:sldIdLst>
        </p14:section>
        <p14:section name="연습" id="{fe054809-100d-40b2-63f4-5b564bb3456c}">
          <p14:sldIdLst>
            <p14:sldId id="262"/>
            <p14:sldId id="263"/>
            <p14:sldId id="264"/>
          </p14:sldIdLst>
        </p14:section>
        <p14:section name="확인" id="{cde70fdc-6842-4b37-408e-f9cac2e0f1b0}">
          <p14:sldIdLst>
            <p14:sldId id="265"/>
            <p14:sldId id="266"/>
            <p14:sldId id="267"/>
          </p14:sldIdLst>
        </p14:section>
        <p14:section name="정리" id="{00e4362b-feaf-4867-7093-d66895fa92a6}">
          <p14:sldIdLst>
            <p14:sldId id="268"/>
          </p14:sldIdLst>
        </p14:section>
        <p14:section name="보충" id="{f2910ca4-d132-8e3d-fbc6-d6df803a459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소리가 같아도 뜻에 따라 글자가 다를 수 있다는 데 관심을 갖게 합니다.
시간: 약 2분
이렇게 말해 보세요
- “‘낫다’와 ‘낮다’를 소리 내어 읽어 볼래? 소리가 어때?”
- “소리는 똑같은데 받침이 달라. 오늘은 이렇게 헷갈리는 낱말을 뜻에 맞게 쓰는 방법을 배울 거야.”
예상 답
- “소리가 똑같아요.” “받침이 달라요.”
막히면
- 두 낱말을 크게 써서 받침만 손가락으로 짚어 비교하게 합니다.
주의
- 낫다와 낮다는 둘 다 [낟따]로 소리 납니다(받침 ㅅ·ㅈ이 [ㄷ]으로 소리 나고 뒤의 ㄷ이 [ㄸ]이 되는 된소리되기).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확인(받침이 넘어가는 낱말 쓰기)]
목적: 앞 차시에서 배운, 받침이 뒤로 넘어가 소리 나는 낱말을 받침 자리에 맞게 쓰는지 확인합니다. 오늘도 ‘받침을 제자리에 쓰기’가 바탕이 됩니다.
시간: 약 3분
이렇게 말해 보세요
- “엄마(아빠)가 읽어 줄게. [사라미] 많아요. [ ] 부분을 공책에 써 볼래?”
- “어떻게 알고 그렇게 썼어?”
정답
- ① 사람이(사람 + 이) ② 저녁을(저녁 + 을)
막히면
- “무엇이 많아?”라고 물어 ‘사람’을 먼저 찾게 합니다.
- 둘 다 소리 나는 대로 쓰면 S14(보충)를 먼저 합니다. 보충으로도 어려우면 앞 차시 ‘소리와 글자가 다른 낱말’(KR22-G02-KOR-LINKSOUND-L01)을 다시 합니다.
주의
- ‘많아요’는 쓰지 않아도 됩니다. [ ] 부분만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세 낱말의 뜻]
목적: 소리가 같거나 비슷한 세 낱말의 뜻을 알려 줍니다.
시간: 약 3분
이렇게 말해 보세요
- “세 낱말은 소리가 비슷하지? 그런데 받침이 달라서 뜻도 달라.”
- “감기가 좋아지는 건 어느 낱말일까? 의자가 높지 않은 건? 새가 알을 내놓는 건?”
예상 답
- “감기는 낫다, 의자는 낮다, 알은 낳다요.”
막히면
- 몸짓으로 보여 줍니다. 낫다: 아픈 척하다가 기운을 내기, 낮다: 손을 아래로 내리기, 낳다: 두 손으로 알을 감싸 안기.
주의
- 발음(부모 참고): 낫다·낮다는 [낟따], 낳다는 [나타]입니다(받침 ㅎ과 뒤의 ㄷ이 만나 [ㅌ]이 되는 거센소리되기).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문장 속 쓰임]
목적: 세 낱말이 문장에서 모양이 바뀌어 쓰이는 것을 보고, 소리가 같은 ‘나았어요/낳았어요’를 뜻으로 구별합니다.
시간: 약 3분
이렇게 말해 보세요
- “문장을 하나씩 읽어 볼래? ‘나았어요’와 ‘낳았어요’는 소리가 어때?”
- “‘낫다’는 문장에서 ‘나아요, 나았어요’로 바뀌어. ㅅ이 빠지는 말이야.”
예상 답
- “소리가 똑같아요. 그런데 하나는 ㅎ 받침이 있어요.”
막히면
- 낱말 카드 ‘낫다’ 아래에 ‘나았어요’, ‘낳다’ 아래에 ‘낳았어요’를 써서 짝 지어 놓습니다.
주의
- 발음(부모 참고): 나았어요·낳았어요는 둘 다 [나아써요]입니다(낳다의 받침 ㅎ은 뒤에 ‘아’가 오면 소리 나지 않음). 낮아요[나자요]는 지난 시간에 배운 받침이 넘어가는 소리입니다.
- ‘낫아요, 낫았어요’로 쓰면(M2) ㅅ이 빠지는 말이라고 다시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맞히다와 마치다의 뜻]
목적: 소리가 같은 맞히다·마치다의 뜻을 알려 주고, ‘맞다’를 떠올리는 방법을 보여 줍니다.
시간: 약 3분
이렇게 말해 보세요
- “수수께끼를 듣고 답을 맞게 말하면 ‘답을 맞혔어요’라고 해. ‘맞다’에서 온 말이라서 받침 ㅈ이 있어.”
- “숙제를 끝내면 ‘숙제를 마쳤어요’라고 해. 이건 받침이 없는 ‘마치다’야.”
예상 답
- “답이 맞으면 맞히다, 끝나면 마치다예요.”
막히면
- 간단한 수수께끼를 하나 내고, 아이가 맞히면 “방금 답을 맞혔네!”, 활동을 끝내면 “방금 마쳤네!”라고 말해 줍니다.
주의
- 발음(부모 참고): 맞히다는 [마치다]입니다(받침 ㅈ과 뒤의 ㅎ이 만나 [ㅊ]이 되는 거센소리되기). 맞혔어요와 마쳤어요도 소리가 같습니다.
- 정답은 ‘맞히다’가 바른 말입니다. ‘답을 맞추다’는 오늘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헷갈릴 때 쓰는 방법]
목적: 소리가 같은 낱말을 쓸 때 따를 순서를 정리합니다.
시간: 약 2분
이렇게 말해 보세요
- “헷갈리는 낱말을 쓸 때는 이 순서로 해 보자. 하나씩 읽어 볼래?”
- “3번이 중요해. ‘맞히다’ 안에는 ‘맞다’가 들어 있어.”
예상 답
- 아이가 순서를 자기 말로 다시 말합니다. 예: “끝까지 읽고, 뜻을 생각하고, 원래 말을 떠올려요.”
막히면
- “의자가 (낮아요 / 낳아요).”로 1~4를 함께 해 봅니다.
주의
- ‘원래 말 떠올리기’는 지난 시간(놀다 → 놀이)에도 썼던 방법이라고 연결해 줍니다.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비교(아플 때 ‘낳았어요’)]
목적: 아픈 곳이 좋아진 것을 ‘낳았어요’로 쓰는 흔한 실수(M1)를 바로잡습니다.
시간: 약 3분
이렇게 말해 보세요
- “두 문장은 소리가 똑같아. 감기가 좋아진 건 어느 낱말이었지?”
- “‘낳았어요’는 언제 쓰는 말이야?”
정답
- 나(감기가 다 나았어요). 아픈 곳이 좋아지는 것은 ‘낫다’입니다.
- 가의 ‘낳았어요’는 아기나 알이 태어나게 할 때 씁니다.
막히면
- “감기가 아기를 낳았어?”라고 웃으며 물어 뜻이 이상하다는 것을 느끼게 합니다.
- S03의 카드를 다시 보여 줍니다.
주의
- 어른들도 자주 틀리는 말입니다. 가를 골라도 나무라지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낫다·낮다·낳다 고르기]
목적: 문장의 뜻에 맞는 낱말을 고르는 연습을 합니다(목표 A).
시간: 약 4분
이렇게 말해 보세요
- “①을 읽어 볼래? 의자가 어떻다는 거야? 아픈 거야, 높지 않은 거야, 알을 낳은 거야?”
- “고른 말을 넣어서 문장을 다시 읽어 봐.”
정답
- ① 낮아요(높지 않음)
- ② 낳았어요(새끼가 태어남)
- ③ 나았어요(아픈 배가 좋아짐)
막히면
- 문장마다 “무엇이 어떻게 됐어?”라고 묻고 S03의 카드 중 하나를 고르게 합니다.
주의
- 고른 뒤 공책에 그 낱말을 한 번씩 써 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맞혔어요·마쳤어요 고르기]
목적: 문장의 뜻을 보고 맞히다·마치다를 고르는 연습을 합니다(목표 B).
시간: 약 4분
이렇게 말해 보세요
- “①은 답 이야기야, 일을 끝낸 이야기야?”
- “고른 말을 넣어서 다시 읽어 봐. 왜 그 말을 골랐어?”
정답
- ① 맞혔어요(답이 맞음)
- ② 마쳤어요(청소를 끝냄)
- ③ 맞혀서(정답이 맞음)
막히면
- “답이라는 말이 있어?”라고 물어 ‘답, 정답’이라는 말을 찾게 합니다.
주의
- 골랐으면 까닭을 꼭 말하게 합니다. 까닭이 ‘맞다’, ‘끝내다’와 이어지면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고르기]
목적: 도움 없이 뜻에 맞는 낱말을 골라 바르게 쓰는지 확인합니다.
시간: 약 4분
이렇게 말해 보세요
- “이번에는 혼자 해 볼래? 고른 말을 공책에 바르게 써 봐.”
정답
- ① 낮아요 ② 낳았어요 ③ 마쳤어요 ④ 맞혀
막히면
- S06의 순서를 다시 보여 줍니다.
- 도움을 받아 해결했다면 기록표에 ‘도움’으로 표시합니다.
주의
- 고르기만 맞고 쓸 때 받침을 틀리면(예: 낳았어요 → 나았어요) 맞은 것으로 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쓴 것과 왼쪽을 비교해 볼까?”
- “오른쪽 문장은 왜 이상할까?”
예상 답
- “감기가 알을 낳은 게 아니니까요.” “답은 끝내는 게 아니니까요.”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확인(처음 보는 낱말 짝)]
목적: 처음 보는 소리가 같은 낱말 짝에서도 뜻과 원래 말을 떠올려 고르는지 확인합니다(목표 B).
시간: 약 2분
이렇게 말해 보세요
- “두 낱말은 소리가 똑같아. 문이 어떻게 됐다는 거야? 원래 말이 무엇일까?”
정답
- 나(닫혔어요). 원래 말은 ‘닫다(문을 닫다)’입니다.
- 가의 ‘다쳤어요’는 몸을 다칠 때 씁니다(넘어져서 무릎을 다쳤어요).
막히면
- “문이 다칠 수 있을까? 문을 어떻게 하는 거지?”라고 묻습니다.
주의
- 발음(부모 참고): 닫히다는 [다치다]입니다(받침 ㄷ과 ㅎ이 만나 [ㅌ]이 되는 거센소리되기, 다시 뒤의 ‘이’ 때문에 [ㅊ]이 되는 구개음화).
- 답만 맞히고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“오늘 배운 것을 한 문장으로 말해 볼래?”
예상 답
- “소리가 같아도 뜻이 다르면 다르게 써요.”
정답
- ① 나았(나았어요) ② 낮아(낮아요) ③ 맞혔(맞혔어요)
막히면
- S04의 표와 S05의 카드를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보충(떼어 보고 받침 제자리에 쓰기)]
목적: 받침이 넘어가 소리 나는 낱말을, 뒤에 붙은 말을 떼어 보며 받침 자리에 맞게 쓰는 연습을 다시 합니다.
시간: 약 4분
이렇게 말해 보세요
- “[소니] 차가워요. 무엇이 차가워? ‘손’ 뒤에 무엇이 붙었어?”
- “손 + 이를 붙여 써 볼래?”
정답
- ① 손이(손 + 이) ② 물을(물 + 을) ③ 곰이(곰 + 이)
막히면
- 낱말 카드 ‘손’과 ‘이’를 따로 놓았다가 붙여 보입니다.
- 보충으로도 어려우면 앞 차시 ‘소리와 글자가 다른 낱말’(KR22-G02-KOR-LINKSOUND-L01)을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기초문해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헷갈리는 낱말 바르게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헷갈리는 낱말 바르게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헷갈리는 낱말 바르게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헷갈리는 낱말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‘낫다’와 ‘낮다’는 무엇이 다를까?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낫다·낮다·낳다를 뜻으로 구별해요.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맞히다·마치다를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써 볼까요?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[ ] 부분을 바르게 써요.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[사라미] 많아요.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[저녀글] 먹어요.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닮은 세 낱말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다르면 뜻이 달라요. 뜻을 먼저 생각해요.</a:t>
            </a:r>
            <a:endParaRPr lang="ko-KR" sz="32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낫다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아픈 곳이 좋아져요.</a:t>
            </a:r>
            <a:endParaRPr lang="ko-KR" sz="3200" dirty="0"/>
          </a:p>
        </p:txBody>
      </p:sp>
      <p:sp>
        <p:nvSpPr>
          <p:cNvPr id="7" name="S03-card1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높지 않아요.</a:t>
            </a:r>
            <a:endParaRPr lang="ko-KR" sz="3200" dirty="0"/>
          </a:p>
        </p:txBody>
      </p:sp>
      <p:sp>
        <p:nvSpPr>
          <p:cNvPr id="9" name="S03-card1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낳다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아기나 알이 태어나게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문장으로 구별해요</a:t>
            </a:r>
            <a:endParaRPr lang="ko-KR" sz="4400" dirty="0"/>
          </a:p>
        </p:txBody>
      </p:sp>
      <p:sp>
        <p:nvSpPr>
          <p:cNvPr id="3" name="S04-card16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‘나았어요’와 ‘낳았어요’는 소리가 같아요. 뜻으로 구별해요.</a:t>
            </a:r>
            <a:endParaRPr lang="ko-KR" sz="3200" dirty="0"/>
          </a:p>
        </p:txBody>
      </p:sp>
      <p:graphicFrame>
        <p:nvGraphicFramePr>
          <p:cNvPr id="5" name="S04-table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69672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낫다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상처가 다 나았어요.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의자가 낮아요.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낳다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새가 알을 낳았어요.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맞히다와 마치다</a:t>
            </a:r>
            <a:endParaRPr lang="ko-KR" sz="4400" dirty="0"/>
          </a:p>
        </p:txBody>
      </p:sp>
      <p:sp>
        <p:nvSpPr>
          <p:cNvPr id="3" name="S05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낱말은 소리가 똑같아요.</a:t>
            </a:r>
            <a:endParaRPr lang="ko-KR" sz="3200" dirty="0"/>
          </a:p>
        </p:txBody>
      </p:sp>
      <p:sp>
        <p:nvSpPr>
          <p:cNvPr id="4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‘맞다’ → 맞히다, 일을 끝내면 → 마치다</a:t>
            </a:r>
            <a:endParaRPr lang="ko-KR" sz="3200" dirty="0"/>
          </a:p>
        </p:txBody>
      </p:sp>
      <p:sp>
        <p:nvSpPr>
          <p:cNvPr id="6" name="S05-card22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3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맞히다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맞게 하다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“답을 맞혔어요.”</a:t>
            </a:r>
            <a:endParaRPr lang="ko-KR" sz="3200" dirty="0"/>
          </a:p>
        </p:txBody>
      </p:sp>
      <p:sp>
        <p:nvSpPr>
          <p:cNvPr id="8" name="S05-card24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5-cardtext25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하던 일을 끝내다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“숙제를 마쳤어요.”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헷갈릴 때는 이렇게</a:t>
            </a:r>
            <a:endParaRPr lang="ko-KR" sz="4400" dirty="0"/>
          </a:p>
        </p:txBody>
      </p:sp>
      <p:sp>
        <p:nvSpPr>
          <p:cNvPr id="3" name="S06-stepno26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27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끝까지 읽어요.</a:t>
            </a:r>
            <a:endParaRPr lang="ko-KR" sz="3200" dirty="0"/>
          </a:p>
        </p:txBody>
      </p:sp>
      <p:sp>
        <p:nvSpPr>
          <p:cNvPr id="5" name="S06-stepno28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29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뜻인지 생각해요.</a:t>
            </a:r>
            <a:endParaRPr lang="ko-KR" sz="3200" dirty="0"/>
          </a:p>
        </p:txBody>
      </p:sp>
      <p:sp>
        <p:nvSpPr>
          <p:cNvPr id="7" name="S06-stepno30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1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말을 떠올려요. (맞다 → 맞히다)</a:t>
            </a:r>
            <a:endParaRPr lang="ko-KR" sz="3200" dirty="0"/>
          </a:p>
        </p:txBody>
      </p:sp>
      <p:sp>
        <p:nvSpPr>
          <p:cNvPr id="9" name="S06-stepno32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3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 넣고 다시 읽어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바를까요?</a:t>
            </a:r>
            <a:endParaRPr lang="ko-KR" sz="4400" dirty="0"/>
          </a:p>
        </p:txBody>
      </p:sp>
      <p:sp>
        <p:nvSpPr>
          <p:cNvPr id="3" name="S07-card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감기에 걸렸다가 좋아졌어요. 두 친구가 이렇게 썼어요.</a:t>
            </a:r>
            <a:endParaRPr lang="ko-KR" sz="3200" dirty="0"/>
          </a:p>
        </p:txBody>
      </p:sp>
      <p:sp>
        <p:nvSpPr>
          <p:cNvPr id="5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바르게 쓴 것일까요? 왜 그럴까요?</a:t>
            </a:r>
            <a:endParaRPr lang="ko-KR" sz="3200" dirty="0"/>
          </a:p>
        </p:txBody>
      </p:sp>
      <p:sp>
        <p:nvSpPr>
          <p:cNvPr id="7" name="S07-chip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감기가 다 낳았어요.</a:t>
            </a:r>
            <a:endParaRPr lang="ko-KR" sz="3200" dirty="0"/>
          </a:p>
        </p:txBody>
      </p:sp>
      <p:sp>
        <p:nvSpPr>
          <p:cNvPr id="9" name="S07-chip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감기가 다 나았어요.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낱말 고르기</a:t>
            </a:r>
            <a:endParaRPr lang="ko-KR" sz="4400" dirty="0"/>
          </a:p>
        </p:txBody>
      </p:sp>
      <p:sp>
        <p:nvSpPr>
          <p:cNvPr id="3" name="S08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뜻을 생각하며 알맞은 말을 골라요.</a:t>
            </a:r>
            <a:endParaRPr lang="ko-KR" sz="3200" dirty="0"/>
          </a:p>
        </p:txBody>
      </p:sp>
      <p:sp>
        <p:nvSpPr>
          <p:cNvPr id="4" name="S08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뜻을 떠올려요: 아픈 곳, 높이, 아기와 알</a:t>
            </a:r>
            <a:endParaRPr lang="ko-KR" sz="3200" dirty="0"/>
          </a:p>
        </p:txBody>
      </p:sp>
      <p:sp>
        <p:nvSpPr>
          <p:cNvPr id="6" name="S08-chip4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4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의자는 (낮아요 / 낳아요).</a:t>
            </a:r>
            <a:endParaRPr lang="ko-KR" sz="3200" dirty="0"/>
          </a:p>
        </p:txBody>
      </p:sp>
      <p:sp>
        <p:nvSpPr>
          <p:cNvPr id="8" name="S08-chip4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4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새끼를 (낮았어요 / 낳았어요).</a:t>
            </a:r>
            <a:endParaRPr lang="ko-KR" sz="3200" dirty="0"/>
          </a:p>
        </p:txBody>
      </p:sp>
      <p:sp>
        <p:nvSpPr>
          <p:cNvPr id="10" name="S08-chip4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5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배탈이 다 (나았어요 / 낳았어요).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맞혔어요? 마쳤어요?</a:t>
            </a:r>
            <a:endParaRPr lang="ko-KR" sz="4400" dirty="0"/>
          </a:p>
        </p:txBody>
      </p:sp>
      <p:sp>
        <p:nvSpPr>
          <p:cNvPr id="3" name="S09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골라 읽어요.</a:t>
            </a:r>
            <a:endParaRPr lang="ko-KR" sz="3200" dirty="0"/>
          </a:p>
        </p:txBody>
      </p:sp>
      <p:sp>
        <p:nvSpPr>
          <p:cNvPr id="4" name="S09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맞으면 ‘맞히다’, 일을 끝내면 ‘마치다’</a:t>
            </a:r>
            <a:endParaRPr lang="ko-KR" sz="3200" dirty="0"/>
          </a:p>
        </p:txBody>
      </p:sp>
      <p:sp>
        <p:nvSpPr>
          <p:cNvPr id="6" name="S09-chip5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5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수수께끼 답을 (맞혔어요 / 마쳤어요).</a:t>
            </a:r>
            <a:endParaRPr lang="ko-KR" sz="3200" dirty="0"/>
          </a:p>
        </p:txBody>
      </p:sp>
      <p:sp>
        <p:nvSpPr>
          <p:cNvPr id="8" name="S09-chip5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5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청소를 다 (맞혔어요 / 마쳤어요).</a:t>
            </a:r>
            <a:endParaRPr lang="ko-KR" sz="3200" dirty="0"/>
          </a:p>
        </p:txBody>
      </p:sp>
      <p:sp>
        <p:nvSpPr>
          <p:cNvPr id="10" name="S09-chip5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5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퀴즈 정답을 (맞혀서 / 마쳐서) 기뻐요.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골라 공책에 써요.</a:t>
            </a:r>
            <a:endParaRPr lang="ko-KR" sz="3200" dirty="0"/>
          </a:p>
        </p:txBody>
      </p:sp>
      <p:sp>
        <p:nvSpPr>
          <p:cNvPr id="4" name="S10-chip6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6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언덕이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(낮아요 / 낳아요).</a:t>
            </a:r>
            <a:endParaRPr lang="ko-KR" sz="3200" dirty="0"/>
          </a:p>
        </p:txBody>
      </p:sp>
      <p:sp>
        <p:nvSpPr>
          <p:cNvPr id="6" name="S10-chip6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6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오리가 알을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(나았어요 / 낳았어요).</a:t>
            </a:r>
            <a:endParaRPr lang="ko-KR" sz="3200" dirty="0"/>
          </a:p>
        </p:txBody>
      </p:sp>
      <p:sp>
        <p:nvSpPr>
          <p:cNvPr id="8" name="S10-chip6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6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일기 쓰기를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(맞혔어요 / 마쳤어요).</a:t>
            </a:r>
            <a:endParaRPr lang="ko-KR" sz="3200" dirty="0"/>
          </a:p>
        </p:txBody>
      </p:sp>
      <p:sp>
        <p:nvSpPr>
          <p:cNvPr id="10" name="S10-chip6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0-text6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(맞혀 / 마쳐) 보세요.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뜻을 먼저 생각하고, 넣어 읽어 확인해요.</a:t>
            </a:r>
            <a:endParaRPr lang="ko-KR" sz="3200" dirty="0"/>
          </a:p>
        </p:txBody>
      </p:sp>
      <p:sp>
        <p:nvSpPr>
          <p:cNvPr id="5" name="S11-chip7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72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낮아요</a:t>
            </a:r>
            <a:endParaRPr lang="ko-KR" sz="3200" dirty="0"/>
          </a:p>
        </p:txBody>
      </p:sp>
      <p:sp>
        <p:nvSpPr>
          <p:cNvPr id="7" name="S11-text73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높지 않아요</a:t>
            </a:r>
            <a:endParaRPr lang="ko-KR" sz="2600" dirty="0"/>
          </a:p>
        </p:txBody>
      </p:sp>
      <p:sp>
        <p:nvSpPr>
          <p:cNvPr id="8" name="S11-text74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낳았어요</a:t>
            </a:r>
            <a:endParaRPr lang="ko-KR" sz="3200" dirty="0"/>
          </a:p>
        </p:txBody>
      </p:sp>
      <p:sp>
        <p:nvSpPr>
          <p:cNvPr id="9" name="S11-text75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알을 낳아요</a:t>
            </a:r>
            <a:endParaRPr lang="ko-KR" sz="2600" dirty="0"/>
          </a:p>
        </p:txBody>
      </p:sp>
      <p:sp>
        <p:nvSpPr>
          <p:cNvPr id="10" name="S11-text76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마쳤어요</a:t>
            </a:r>
            <a:endParaRPr lang="ko-KR" sz="3200" dirty="0"/>
          </a:p>
        </p:txBody>
      </p:sp>
      <p:sp>
        <p:nvSpPr>
          <p:cNvPr id="11" name="S11-text77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일기를 끝내요</a:t>
            </a:r>
            <a:endParaRPr lang="ko-KR" sz="2600" dirty="0"/>
          </a:p>
        </p:txBody>
      </p:sp>
      <p:sp>
        <p:nvSpPr>
          <p:cNvPr id="12" name="S11-text78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맞혀</a:t>
            </a:r>
            <a:endParaRPr lang="ko-KR" sz="3200" dirty="0"/>
          </a:p>
        </p:txBody>
      </p:sp>
      <p:sp>
        <p:nvSpPr>
          <p:cNvPr id="13" name="S11-text79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정답이 맞게</a:t>
            </a:r>
            <a:endParaRPr lang="ko-KR" sz="2600" dirty="0"/>
          </a:p>
        </p:txBody>
      </p:sp>
      <p:sp>
        <p:nvSpPr>
          <p:cNvPr id="14" name="S11-chip8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1-text8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감기가 낳았어요</a:t>
            </a:r>
            <a:endParaRPr lang="ko-KR" sz="3200" dirty="0"/>
          </a:p>
        </p:txBody>
      </p:sp>
      <p:sp>
        <p:nvSpPr>
          <p:cNvPr id="16" name="S11-text8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‘나았어요’</a:t>
            </a:r>
            <a:endParaRPr lang="ko-KR" sz="2600" dirty="0"/>
          </a:p>
        </p:txBody>
      </p:sp>
      <p:sp>
        <p:nvSpPr>
          <p:cNvPr id="17" name="S11-text8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마쳤어요</a:t>
            </a:r>
            <a:endParaRPr lang="ko-KR" sz="3200" dirty="0"/>
          </a:p>
        </p:txBody>
      </p:sp>
      <p:sp>
        <p:nvSpPr>
          <p:cNvPr id="18" name="S11-text8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‘맞혔어요’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말이 맞을까?</a:t>
            </a:r>
            <a:endParaRPr lang="ko-KR" sz="44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불어서 문이 쾅 □.</a:t>
            </a:r>
            <a:endParaRPr lang="ko-KR" sz="3200" dirty="0"/>
          </a:p>
        </p:txBody>
      </p:sp>
      <p:sp>
        <p:nvSpPr>
          <p:cNvPr id="4" name="S12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원래 말을 말해 보세요.</a:t>
            </a:r>
            <a:endParaRPr lang="ko-KR" sz="3200" dirty="0"/>
          </a:p>
        </p:txBody>
      </p:sp>
      <p:sp>
        <p:nvSpPr>
          <p:cNvPr id="6" name="S12-chip88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89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0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다쳤어요</a:t>
            </a:r>
            <a:endParaRPr lang="ko-KR" sz="3200" dirty="0"/>
          </a:p>
        </p:txBody>
      </p:sp>
      <p:sp>
        <p:nvSpPr>
          <p:cNvPr id="9" name="S12-chip91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92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3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닫혔어요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같아도 뜻에 따라 글자가 달라요. 뜻을 생각하고 써요.</a:t>
            </a:r>
            <a:endParaRPr lang="ko-KR" sz="32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뜻을 생각하고 쓰기</a:t>
            </a:r>
            <a:endParaRPr lang="ko-KR" sz="2600" dirty="0"/>
          </a:p>
        </p:txBody>
      </p:sp>
      <p:sp>
        <p:nvSpPr>
          <p:cNvPr id="6" name="S13-chip9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소리만 듣고 쓰기</a:t>
            </a:r>
            <a:endParaRPr lang="ko-KR" sz="2600" dirty="0"/>
          </a:p>
        </p:txBody>
      </p:sp>
      <p:sp>
        <p:nvSpPr>
          <p:cNvPr id="7" name="S13-text9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감기가 다 □□어요.</a:t>
            </a:r>
            <a:endParaRPr lang="ko-KR" sz="2600" dirty="0"/>
          </a:p>
        </p:txBody>
      </p:sp>
      <p:sp>
        <p:nvSpPr>
          <p:cNvPr id="9" name="S13-text10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의자가 □□요.</a:t>
            </a:r>
            <a:endParaRPr lang="ko-KR" sz="2600" dirty="0"/>
          </a:p>
        </p:txBody>
      </p:sp>
      <p:sp>
        <p:nvSpPr>
          <p:cNvPr id="10" name="S13-text10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정답을 □□어요.</a:t>
            </a:r>
            <a:endParaRPr lang="ko-KR" sz="2600" dirty="0"/>
          </a:p>
        </p:txBody>
      </p:sp>
      <p:sp>
        <p:nvSpPr>
          <p:cNvPr id="11" name="S13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짧은 글 읽고 내용 확인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떼어 보고 써요</a:t>
            </a:r>
            <a:endParaRPr lang="ko-KR" sz="4400" dirty="0"/>
          </a:p>
        </p:txBody>
      </p:sp>
      <p:sp>
        <p:nvSpPr>
          <p:cNvPr id="3" name="S14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[ ] 부분을 바르게 써요.</a:t>
            </a:r>
            <a:endParaRPr lang="ko-KR" sz="3200" dirty="0"/>
          </a:p>
        </p:txBody>
      </p:sp>
      <p:sp>
        <p:nvSpPr>
          <p:cNvPr id="4" name="S14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+ 이 → 손이</a:t>
            </a:r>
            <a:endParaRPr lang="ko-KR" sz="3200" dirty="0"/>
          </a:p>
        </p:txBody>
      </p:sp>
      <p:sp>
        <p:nvSpPr>
          <p:cNvPr id="6" name="S14-chip10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4-text10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[소니] 차가워요.</a:t>
            </a:r>
            <a:endParaRPr lang="ko-KR" sz="3200" dirty="0"/>
          </a:p>
        </p:txBody>
      </p:sp>
      <p:sp>
        <p:nvSpPr>
          <p:cNvPr id="8" name="S14-chip10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4-text10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[무를] 마셔요.</a:t>
            </a:r>
            <a:endParaRPr lang="ko-KR" sz="3200" dirty="0"/>
          </a:p>
        </p:txBody>
      </p:sp>
      <p:sp>
        <p:nvSpPr>
          <p:cNvPr id="10" name="S14-chip11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4-text11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[고미] 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헷갈리는 낱말 바르게 쓰기</dc:title>
  <dc:subject>KR22-G02-KOR-SPELL-L01</dc:subject>
  <dc:creator>education-ppt</dc:creator>
  <cp:lastModifiedBy>education-ppt</cp:lastModifiedBy>
  <cp:revision>1</cp:revision>
  <dcterms:created xsi:type="dcterms:W3CDTF">2026-10-26T07:09:22Z</dcterms:created>
  <dcterms:modified xsi:type="dcterms:W3CDTF">2026-10-26T07:09:22Z</dcterms:modified>
</cp:coreProperties>
</file>