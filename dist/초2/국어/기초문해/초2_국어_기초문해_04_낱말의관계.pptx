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2d3afc2-3bf4-05cc-a956-cc5c064891c0}">
          <p14:sldIdLst>
            <p14:sldId id="256"/>
            <p14:sldId id="257"/>
          </p14:sldIdLst>
        </p14:section>
        <p14:section name="개념" id="{ff35a75c-b1ae-d322-0148-89953da42224}">
          <p14:sldIdLst>
            <p14:sldId id="258"/>
            <p14:sldId id="259"/>
            <p14:sldId id="260"/>
          </p14:sldIdLst>
        </p14:section>
        <p14:section name="연습" id="{d131a99e-af7d-a703-884f-0b89b3dad018}">
          <p14:sldIdLst>
            <p14:sldId id="261"/>
            <p14:sldId id="262"/>
            <p14:sldId id="263"/>
          </p14:sldIdLst>
        </p14:section>
        <p14:section name="확인" id="{3c16d87f-1114-1dcb-1bdf-9571856a36f4}">
          <p14:sldIdLst>
            <p14:sldId id="264"/>
            <p14:sldId id="265"/>
            <p14:sldId id="266"/>
          </p14:sldIdLst>
        </p14:section>
        <p14:section name="정리" id="{7174e1bf-1e55-3593-1187-9cf8c791bbc3}">
          <p14:sldIdLst>
            <p14:sldId id="267"/>
          </p14:sldIdLst>
        </p14:section>
        <p14:section name="보충" id="{675c2a18-bd8c-9232-9dbf-b74dd142e70c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낱말끼리 짝이 될 수 있다는 데 관심을 갖게 합니다.
시간: 약 2분
이렇게 말해 보세요
- “‘크다’ 하면 생각나는 말이 있어? 짝이 되는 말을 말해 볼래?”
- “오늘은 뜻이 비슷한 말, 반대인 말, 소리나 모양을 흉내 내는 말을 배울 거야.”
예상 답
- “작다요.” “커다랗다요.”
막히면
- 큰 컵과 작은 컵을 보여 주며 “이 컵은 커. 저 컵은?”이라고 묻습니다.
주의
- ‘작다’(반대말)와 ‘커다랗다’(비슷한 말) 모두 좋은 답입니다. 어떤 짝인지는 S03, S04에서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확인(누가·어떻게 찾기)]
목적: 앞 차시에서 배운, 짧은 글을 정확히 읽고 누가·어떻게를 글에서 찾는 힘을 확인합니다. 오늘 배울 흉내 내는 말이 ‘어떻게’의 답으로 자주 나옵니다.
시간: 약 3분
이렇게 말해 보세요
- “소리 내어 읽어 볼래? 누가 나와? 어떻게 뛰었어? 글에서 짚어 봐.”
정답
- 누가: 토끼 / 어떻게: 깡충깡충 (뛰었습니다)
막히면
- 답이 있는 낱말을 손가락으로 짚게 합니다.
- 답을 찾지 못하면 S13(보충)을 먼저 합니다. 보충으로도 어려우면 앞 차시 ‘짧은 글 읽고 내용 확인’(KR22-G02-KOR-READCHECK-L01)을 다시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뜻이 비슷한 말]
목적: 뜻이 비슷한 말을 문장에 바꾸어 넣어도 뜻이 거의 같다는 것을 보여 줍니다.
시간: 약 4분
이렇게 말해 보세요
- “‘빨리 와’를 ‘얼른 와’로 바꾸어 읽어 볼래? 뜻이 달라졌어?”
- “이렇게 바꾸어 넣어도 뜻이 거의 같은 말을 ‘뜻이 비슷한 말’이라고 해.”
예상 답
- “뜻이 똑같아요.”
막히면
- 부모가 “빨리 와!”, “얼른 와!”라고 직접 불러 보고 아이가 똑같이 오는지 해 봅니다.
주의
- ‘예쁘다’가 ‘고와요’로 바뀌는 것(곱다 → 고와요)은 모양이 바뀌는 말이라서 그렇다고만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뜻이 반대인 말]
목적: 뜻이 반대인 말을 짝으로 익히고, ‘안 크다’가 아니라 한 낱말(작다)로 말하게 합니다(M2).
시간: 약 4분
이렇게 말해 보세요
- “‘크다’의 반대는 뭐야? ‘안 크다’ 말고 한 낱말로 말해 볼래?”
- “컵 두 개를 보자. 이 컵은 커. 그럼 이 컵은?”
예상 답
- “작아요.”
막히면
- 실물로 보여 줍니다. 큰 컵·작은 컵, 바둑돌 많이·적게, 손을 높이·낮게.
주의
- ‘낮다’는 앞 차시 ‘헷갈리는 낱말 바르게 쓰기’에서 배운 낱말입니다(낫다·낮다·낳다).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흉내 내는 말]
목적: 소리를 흉내 내는 말과 모양을 흉내 내는 말을 알려 줍니다.
시간: 약 4분
이렇게 말해 보세요
- “강아지는 어떻게 짖어? ‘멍멍’은 귀로 듣는 소리를 흉내 낸 말이야.”
- “토끼는 어떻게 뛰어? ‘깡충깡충’은 눈으로 보는 모양을 흉내 낸 말이야. 아까 토끼 글에도 나왔지?”
- “살금살금 걸어 볼래?”
예상 답
- “멍멍, 꼬끼오는 소리고, 깡충깡충, 살금살금은 모양이에요.”
막히면
- 아이가 직접 깡충깡충 뛰고 살금살금 걸어 보며, 소리가 났는지 모양을 본 것인지 묻습니다(M3).
주의
- 어떤 말은 소리와 모양을 함께 나타냅니다(펄럭펄럭 등). 오늘은 구별이 분명한 말만 씁니다.
- 아이가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반대말·비슷한 말 찾기]
목적: 도움을 받으며 반대말과 비슷한 말을 찾고, 문장에 넣어 확인합니다(목표 A).
시간: 약 4분
이렇게 말해 보세요
- “①부터 해 볼까? 연필이 길어. 그럼 반대로 지우개는?”
- “④는 ‘밥을 모두 먹었어요’에서 ‘모두’ 자리에 넣어도 뜻이 같은 말을 찾아봐.”
정답
- ① 짧다 ② 가볍다 ③ 닫다
- ④ 다, 전부(‘밥을 다 먹었어요’처럼 뜻이 같으면 맞음)
막히면
- 실물로 해 봅니다. 연필과 지우개(길다·짧다), 가방 들어 보기(무겁다·가볍다), 문 열고 닫기.
주의
- ‘안 길다’라고 하면 “한 낱말로 말해 볼까?”라고 다시 묻습니다(M2).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비교(작다·적다)]
목적: ‘많다’의 반대말을 ‘작다’로 쓰는 흔한 실수(M1)를 바로잡습니다.
시간: 약 3분
이렇게 말해 보세요
- “바둑돌을 많이 놓을게. 이번엔 조금만 놓을게. 이건 ‘작아’, ‘적어’?”
- “그럼 작은 건 뭐야? 컵 두 개를 봐.”
정답
- 나(사탕이 적어요). 개수나 양은 많다 ↔ 적다입니다.
- 가의 ‘작다’는 크기를 말할 때 씁니다(크다 ↔ 작다).
막히면
- 바둑돌 2개와 8개, 큰 컵과 작은 컵을 나란히 놓고 “개수야, 크기야?”라고 묻습니다.
주의
- 어른도 자주 헷갈리는 말입니다. 생활 속에서 “밥이 적네”, “신발이 작네”처럼 바르게 써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흉내 내는 말 넣기]
목적: 장면에 맞는 흉내 내는 말을 골라 넣는 연습을 합니다(목표 B).
시간: 약 4분
이렇게 말해 보세요
- “거북이는 어떻게 기어가? 보기에서 골라 넣어 읽어 볼래?”
- “그 말은 소리를 흉내 낸 말이야, 모양을 흉내 낸 말이야?”
정답
- ① 엉금엉금(모양)
- ② 반짝반짝(모양)
- ③ 쨍그랑(소리)
막히면
- 보기의 말을 하나씩 넣어 읽어 보고, 어울리지 않는 것을 지우게 합니다.
주의
- 고른 말을 공책에 한 번씩 써 보게 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해결]
목적: 도움 없이 반대말·비슷한 말을 찾고, 장면에 맞는 흉내 내는 말을 넣는지 확인합니다.
시간: 약 4분
이렇게 말해 보세요
- “이번에는 혼자 해 볼래? ③④는 어떤 흉내 내는 말이 어울릴지 생각해서 써 봐.”
정답
- ① 좁다 ② 즐겁다, 신나다(뜻이 비슷하면 맞음)
- ③ 뒤뚱뒤뚱(오리가 걷는 모양을 흉내 낸 말이면 맞음) ④ 똑똑, 쾅쾅(문 두드리는 소리를 흉내 낸 말이면 맞음)
막히면
- ①은 방 두 곳을 떠올리게 합니다. “운동장은 넓어. 그럼 화장실은?”
- ③은 오리 걸음을 몸으로 흉내 내 보게 합니다.
- 도움을 받아 해결했다면 기록표에 ‘도움’으로 표시합니다.
주의
- ①에서 ‘작다’라고 하면 크기와 넓이의 차이를 짚어 줍니다(넓다 ↔ 좁다).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확인하고 흔한 실수와 비교합니다.
시간: 약 2분
이렇게 말해 보세요
- “네가 쓴 것과 왼쪽을 비교해 볼까?”
- “오른쪽은 왜 어색할까?”
예상 답
- “작다는 크기예요.” “오리는 멍멍 하지 않아요.”
주의
- ③④는 기준에 맞으면 다른 말도 맞은 것으로 봅니다.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확인]
목적: 처음 보는 문장에서 반대말을 골라 넣고, 비슷한 말과 구별하는지 확인합니다(목표 A).
시간: 약 2분
이렇게 말해 보세요
- “불을 끄면 방이 어떻게 돼? 반대말을 넣은 것을 골라 봐.”
- “‘환해요’는 ‘밝아요’와 어떤 사이야?”
정답
- 가(방이 어두워요). 밝다 ↔ 어둡다.
- 나의 ‘환하다’는 ‘밝다’와 뜻이 비슷한 말입니다. 다의 ‘넓다’는 관계없는 말입니다.
막히면
- 불을 켰다 껐다 하며 “밝아, 어두워?”라고 묻습니다.
주의
- 답만 맞히고 ‘환하다’가 비슷한 말이라는 것을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수업의 복습 질문을 알려 줍니다.
시간: 약 2분
이렇게 말해 보세요
- “오늘 배운 세 가지 낱말 짝을 말해 볼래?”
예상 답
- “비슷한 말, 반대말, 흉내 내는 말이요.”
정답
- ① 길다 ② 얼른 ③ 멍멍(왈왈도 맞음)
막히면
- S03, S04, S05의 카드를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보충(‘어떻게’ 찾기)]
목적: 한 문장을 읽고 ‘어떻게’의 답을 찾는 것부터 다시 익힙니다. 답이 모두 흉내 내는 말이라 오늘 공부로 이어집니다.
시간: 약 3분
이렇게 말해 보세요
- “①을 읽어 볼래? 아기가 어떻게 걸어? 문장에서 짚어 봐.”
정답
- ① 아장아장 ② 살랑살랑 ③ 살금살금
막히면
- 부모가 문장을 읽으며 그 말을 몸으로 흉내 내 보입니다.
- 보충으로도 어려우면 앞 차시 ‘짧은 글 읽고 내용 확인’(KR22-G02-KOR-READCHECK-L01)을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기초문해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낱말의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낱말의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낱말의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낱말의 관계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‘크다’와 짝이 되는 말은 무엇일까?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비슷한 말과 반대말을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흉내 내는 말을 넣어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누가, 어떻게 했나요?</a:t>
            </a:r>
            <a:endParaRPr lang="ko-KR" sz="44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나오나요? 어떻게 뛰었나요?</a:t>
            </a:r>
            <a:endParaRPr lang="ko-KR" sz="32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토끼가 풀밭에서 깡충깡충 뛰었습니다. 그러다 큰 나무 아래에서 쉬었습니다.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뜻이 비슷한 말</a:t>
            </a:r>
            <a:endParaRPr lang="ko-KR" sz="44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바꾸어 넣어도 뜻이 거의 같아요.</a:t>
            </a:r>
            <a:endParaRPr lang="ko-KR" sz="3200" dirty="0"/>
          </a:p>
        </p:txBody>
      </p:sp>
      <p:sp>
        <p:nvSpPr>
          <p:cNvPr id="4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뜻이 비슷한 말은 서로 바꾸어 쓸 수 있어요.</a:t>
            </a:r>
            <a:endParaRPr lang="ko-KR" sz="3200" dirty="0"/>
          </a:p>
        </p:txBody>
      </p:sp>
      <p:sp>
        <p:nvSpPr>
          <p:cNvPr id="6" name="S03-card1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· 얼른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와.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얼른 와.</a:t>
            </a:r>
            <a:endParaRPr lang="ko-KR" sz="3200" dirty="0"/>
          </a:p>
        </p:txBody>
      </p:sp>
      <p:sp>
        <p:nvSpPr>
          <p:cNvPr id="8" name="S03-card1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예쁘다 · 곱다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꽃이 예뻐요.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꽃이 고와요.</a:t>
            </a:r>
            <a:endParaRPr lang="ko-KR" sz="3200" dirty="0"/>
          </a:p>
        </p:txBody>
      </p:sp>
      <p:sp>
        <p:nvSpPr>
          <p:cNvPr id="10" name="S03-card1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아주 · 매우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아주 커요.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매우 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뜻이 반대인 말</a:t>
            </a:r>
            <a:endParaRPr lang="ko-KR" sz="4400" dirty="0"/>
          </a:p>
        </p:txBody>
      </p:sp>
      <p:sp>
        <p:nvSpPr>
          <p:cNvPr id="3" name="S04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짝이 되는 두 말의 뜻이 서로 거꾸로예요.</a:t>
            </a:r>
            <a:endParaRPr lang="ko-KR" sz="3200" dirty="0"/>
          </a:p>
        </p:txBody>
      </p:sp>
      <p:sp>
        <p:nvSpPr>
          <p:cNvPr id="4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반대말은 한 낱말로 짝을 지어요.</a:t>
            </a:r>
            <a:endParaRPr lang="ko-KR" sz="3200" dirty="0"/>
          </a:p>
        </p:txBody>
      </p:sp>
      <p:sp>
        <p:nvSpPr>
          <p:cNvPr id="6" name="S04-card19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0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크다 ↔ 작다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수박은 커요.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콩은 작아요.</a:t>
            </a:r>
            <a:endParaRPr lang="ko-KR" sz="3200" dirty="0"/>
          </a:p>
        </p:txBody>
      </p:sp>
      <p:sp>
        <p:nvSpPr>
          <p:cNvPr id="8" name="S04-card21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22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많다 ↔ 적다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사탕이 많아요.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사탕이 적어요.</a:t>
            </a:r>
            <a:endParaRPr lang="ko-KR" sz="3200" dirty="0"/>
          </a:p>
        </p:txBody>
      </p:sp>
      <p:sp>
        <p:nvSpPr>
          <p:cNvPr id="10" name="S04-card23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24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높다 ↔ 낮다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산은 높아요.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언덕은 낮아요.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</a:t>
            </a:r>
            <a:endParaRPr lang="ko-KR" sz="4400" dirty="0"/>
          </a:p>
        </p:txBody>
      </p:sp>
      <p:sp>
        <p:nvSpPr>
          <p:cNvPr id="3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말을 넣으면 글이 생생해져요.</a:t>
            </a:r>
            <a:endParaRPr lang="ko-KR" sz="3200" dirty="0"/>
          </a:p>
        </p:txBody>
      </p:sp>
      <p:sp>
        <p:nvSpPr>
          <p:cNvPr id="5" name="S05-card27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8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흉내: 귀로 들어요</a:t>
            </a:r>
            <a:endParaRPr lang="ko-KR" sz="3200" dirty="0"/>
          </a:p>
        </p:txBody>
      </p:sp>
      <p:sp>
        <p:nvSpPr>
          <p:cNvPr id="7" name="S05-card29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30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 흉내: 눈으로 봐요</a:t>
            </a:r>
            <a:endParaRPr lang="ko-KR" sz="3200" dirty="0"/>
          </a:p>
        </p:txBody>
      </p:sp>
      <p:sp>
        <p:nvSpPr>
          <p:cNvPr id="9" name="S05-word31"/>
          <p:cNvSpPr txBox="1"/>
          <p:nvPr/>
        </p:nvSpPr>
        <p:spPr>
          <a:xfrm>
            <a:off x="548640" y="180594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멍멍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</a:t>
            </a:r>
            <a:endParaRPr lang="ko-KR" sz="3600" dirty="0"/>
          </a:p>
        </p:txBody>
      </p:sp>
      <p:sp>
        <p:nvSpPr>
          <p:cNvPr id="10" name="S05-word32"/>
          <p:cNvSpPr txBox="1"/>
          <p:nvPr/>
        </p:nvSpPr>
        <p:spPr>
          <a:xfrm>
            <a:off x="3390138" y="180594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꼬끼오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</a:t>
            </a:r>
            <a:endParaRPr lang="ko-KR" sz="3600" dirty="0"/>
          </a:p>
        </p:txBody>
      </p:sp>
      <p:sp>
        <p:nvSpPr>
          <p:cNvPr id="11" name="S05-word33"/>
          <p:cNvSpPr txBox="1"/>
          <p:nvPr/>
        </p:nvSpPr>
        <p:spPr>
          <a:xfrm>
            <a:off x="6231636" y="180594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깡충깡충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</a:t>
            </a:r>
            <a:endParaRPr lang="ko-KR" sz="3600" dirty="0"/>
          </a:p>
        </p:txBody>
      </p:sp>
      <p:sp>
        <p:nvSpPr>
          <p:cNvPr id="12" name="S05-word34"/>
          <p:cNvSpPr txBox="1"/>
          <p:nvPr/>
        </p:nvSpPr>
        <p:spPr>
          <a:xfrm>
            <a:off x="9073134" y="180594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살금살금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짝이 되는 말 찾기</a:t>
            </a:r>
            <a:endParaRPr lang="ko-KR" sz="4400" dirty="0"/>
          </a:p>
        </p:txBody>
      </p:sp>
      <p:sp>
        <p:nvSpPr>
          <p:cNvPr id="3" name="S06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반대말과 비슷한 말을 말해 보세요.</a:t>
            </a:r>
            <a:endParaRPr lang="ko-KR" sz="3200" dirty="0"/>
          </a:p>
        </p:txBody>
      </p:sp>
      <p:sp>
        <p:nvSpPr>
          <p:cNvPr id="4" name="S06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말을 문장에 넣어 읽어 봐요.</a:t>
            </a:r>
            <a:endParaRPr lang="ko-KR" sz="3200" dirty="0"/>
          </a:p>
        </p:txBody>
      </p:sp>
      <p:sp>
        <p:nvSpPr>
          <p:cNvPr id="6" name="S06-chip3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6-text3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‘길다’의 반대말</a:t>
            </a:r>
            <a:endParaRPr lang="ko-KR" sz="3200" dirty="0"/>
          </a:p>
        </p:txBody>
      </p:sp>
      <p:sp>
        <p:nvSpPr>
          <p:cNvPr id="8" name="S06-chip4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6-text4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‘무겁다’의 반대말</a:t>
            </a:r>
            <a:endParaRPr lang="ko-KR" sz="3200" dirty="0"/>
          </a:p>
        </p:txBody>
      </p:sp>
      <p:sp>
        <p:nvSpPr>
          <p:cNvPr id="10" name="S06-chip42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6-text43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‘열다’의 반대말</a:t>
            </a:r>
            <a:endParaRPr lang="ko-KR" sz="3200" dirty="0"/>
          </a:p>
        </p:txBody>
      </p:sp>
      <p:sp>
        <p:nvSpPr>
          <p:cNvPr id="12" name="S06-chip44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6-text45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‘모두’와 비슷한 말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작아요? 적어요?</a:t>
            </a:r>
            <a:endParaRPr lang="ko-KR" sz="4400" dirty="0"/>
          </a:p>
        </p:txBody>
      </p:sp>
      <p:sp>
        <p:nvSpPr>
          <p:cNvPr id="3" name="S07-card4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‘사탕이 많아요.’를 반대말로 바꾸어 썼어요.</a:t>
            </a:r>
            <a:endParaRPr lang="ko-KR" sz="3200" dirty="0"/>
          </a:p>
        </p:txBody>
      </p:sp>
      <p:sp>
        <p:nvSpPr>
          <p:cNvPr id="5" name="S07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‘많아요’의 반대일까요? 왜 그럴까요?</a:t>
            </a:r>
            <a:endParaRPr lang="ko-KR" sz="3200" dirty="0"/>
          </a:p>
        </p:txBody>
      </p:sp>
      <p:sp>
        <p:nvSpPr>
          <p:cNvPr id="7" name="S07-chip5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5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사탕이 작아요.</a:t>
            </a:r>
            <a:endParaRPr lang="ko-KR" sz="3200" dirty="0"/>
          </a:p>
        </p:txBody>
      </p:sp>
      <p:sp>
        <p:nvSpPr>
          <p:cNvPr id="9" name="S07-chip5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5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사탕이 적어요.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말 넣기</a:t>
            </a:r>
            <a:endParaRPr lang="ko-KR" sz="4400" dirty="0"/>
          </a:p>
        </p:txBody>
      </p:sp>
      <p:sp>
        <p:nvSpPr>
          <p:cNvPr id="3" name="S08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보기에서 골라 □에 넣어 읽어요.</a:t>
            </a:r>
            <a:endParaRPr lang="ko-KR" sz="3200" dirty="0"/>
          </a:p>
        </p:txBody>
      </p:sp>
      <p:sp>
        <p:nvSpPr>
          <p:cNvPr id="4" name="S08-card55"/>
          <p:cNvSpPr/>
          <p:nvPr/>
        </p:nvSpPr>
        <p:spPr>
          <a:xfrm>
            <a:off x="6277356" y="2011680"/>
            <a:ext cx="5362956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56"/>
          <p:cNvSpPr txBox="1"/>
          <p:nvPr/>
        </p:nvSpPr>
        <p:spPr>
          <a:xfrm>
            <a:off x="6551676" y="214884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</a:t>
            </a:r>
            <a:endParaRPr lang="ko-KR" sz="3200" dirty="0"/>
          </a:p>
        </p:txBody>
      </p:sp>
      <p:sp>
        <p:nvSpPr>
          <p:cNvPr id="6" name="S08-word57"/>
          <p:cNvSpPr txBox="1"/>
          <p:nvPr/>
        </p:nvSpPr>
        <p:spPr>
          <a:xfrm>
            <a:off x="6551676" y="269748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쨍그랑</a:t>
            </a:r>
            <a:endParaRPr lang="ko-KR" sz="3600" dirty="0"/>
          </a:p>
        </p:txBody>
      </p:sp>
      <p:sp>
        <p:nvSpPr>
          <p:cNvPr id="7" name="S08-word58"/>
          <p:cNvSpPr txBox="1"/>
          <p:nvPr/>
        </p:nvSpPr>
        <p:spPr>
          <a:xfrm>
            <a:off x="6551676" y="390144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엉금엉금</a:t>
            </a:r>
            <a:endParaRPr lang="ko-KR" sz="3600" dirty="0"/>
          </a:p>
        </p:txBody>
      </p:sp>
      <p:sp>
        <p:nvSpPr>
          <p:cNvPr id="8" name="S08-word59"/>
          <p:cNvSpPr txBox="1"/>
          <p:nvPr/>
        </p:nvSpPr>
        <p:spPr>
          <a:xfrm>
            <a:off x="6551676" y="510540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반짝반짝</a:t>
            </a:r>
            <a:endParaRPr lang="ko-KR" sz="3600" dirty="0"/>
          </a:p>
        </p:txBody>
      </p:sp>
      <p:sp>
        <p:nvSpPr>
          <p:cNvPr id="9" name="S08-chip6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10" name="S08-text61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거북이가 □ 기어가요.</a:t>
            </a:r>
            <a:endParaRPr lang="ko-KR" sz="3200" dirty="0"/>
          </a:p>
        </p:txBody>
      </p:sp>
      <p:sp>
        <p:nvSpPr>
          <p:cNvPr id="11" name="S08-chip6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2" name="S08-text63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별이 □ 빛나요.</a:t>
            </a:r>
            <a:endParaRPr lang="ko-KR" sz="3200" dirty="0"/>
          </a:p>
        </p:txBody>
      </p:sp>
      <p:sp>
        <p:nvSpPr>
          <p:cNvPr id="13" name="S08-chip6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4" name="S08-text65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접시가 □ 깨졌어요.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말을 말하고 공책에 써요.</a:t>
            </a:r>
            <a:endParaRPr lang="ko-KR" sz="3200" dirty="0"/>
          </a:p>
        </p:txBody>
      </p:sp>
      <p:sp>
        <p:nvSpPr>
          <p:cNvPr id="4" name="S09-chip6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text6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‘넓다’의 반대말</a:t>
            </a:r>
            <a:endParaRPr lang="ko-KR" sz="3200" dirty="0"/>
          </a:p>
        </p:txBody>
      </p:sp>
      <p:sp>
        <p:nvSpPr>
          <p:cNvPr id="6" name="S09-chip6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9-text7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‘기쁘다’와 비슷한 말</a:t>
            </a:r>
            <a:endParaRPr lang="ko-KR" sz="3200" dirty="0"/>
          </a:p>
        </p:txBody>
      </p:sp>
      <p:sp>
        <p:nvSpPr>
          <p:cNvPr id="8" name="S09-chip71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9-text72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오리가 □ 걸어요.</a:t>
            </a:r>
            <a:endParaRPr lang="ko-KR" sz="3200" dirty="0"/>
          </a:p>
        </p:txBody>
      </p:sp>
      <p:sp>
        <p:nvSpPr>
          <p:cNvPr id="10" name="S09-chip73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09-text74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문을 □ 두드려요.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0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말을 넣어 읽고 뜻이 맞는지 확인해요.</a:t>
            </a:r>
            <a:endParaRPr lang="ko-KR" sz="3200" dirty="0"/>
          </a:p>
        </p:txBody>
      </p:sp>
      <p:sp>
        <p:nvSpPr>
          <p:cNvPr id="5" name="S10-chip7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0-text78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좁다</a:t>
            </a:r>
            <a:endParaRPr lang="ko-KR" sz="3200" dirty="0"/>
          </a:p>
        </p:txBody>
      </p:sp>
      <p:sp>
        <p:nvSpPr>
          <p:cNvPr id="7" name="S10-text79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즐겁다, 신나다</a:t>
            </a:r>
            <a:endParaRPr lang="ko-KR" sz="3200" dirty="0"/>
          </a:p>
        </p:txBody>
      </p:sp>
      <p:sp>
        <p:nvSpPr>
          <p:cNvPr id="8" name="S10-text80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뒤뚱뒤뚱</a:t>
            </a:r>
            <a:endParaRPr lang="ko-KR" sz="3200" dirty="0"/>
          </a:p>
        </p:txBody>
      </p:sp>
      <p:sp>
        <p:nvSpPr>
          <p:cNvPr id="9" name="S10-text81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똑똑, 쾅쾅</a:t>
            </a:r>
            <a:endParaRPr lang="ko-KR" sz="3200" dirty="0"/>
          </a:p>
        </p:txBody>
      </p:sp>
      <p:sp>
        <p:nvSpPr>
          <p:cNvPr id="10" name="S10-chip8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0-text8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넓다 ↔ 작다</a:t>
            </a:r>
            <a:endParaRPr lang="ko-KR" sz="3200" dirty="0"/>
          </a:p>
        </p:txBody>
      </p:sp>
      <p:sp>
        <p:nvSpPr>
          <p:cNvPr id="12" name="S10-text8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작다는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크기의 반대</a:t>
            </a:r>
            <a:endParaRPr lang="ko-KR" sz="2600" dirty="0"/>
          </a:p>
        </p:txBody>
      </p:sp>
      <p:sp>
        <p:nvSpPr>
          <p:cNvPr id="13" name="S10-text8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오리가 멍멍</a:t>
            </a:r>
            <a:endParaRPr lang="ko-KR" sz="3200" dirty="0"/>
          </a:p>
        </p:txBody>
      </p:sp>
      <p:sp>
        <p:nvSpPr>
          <p:cNvPr id="14" name="S10-text8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맞지 않음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반대말을 넣은 것은?</a:t>
            </a:r>
            <a:endParaRPr lang="ko-KR" sz="4400" dirty="0"/>
          </a:p>
        </p:txBody>
      </p:sp>
      <p:sp>
        <p:nvSpPr>
          <p:cNvPr id="3" name="S11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‘방이 밝아요.’를 반대말로 바꾸면?</a:t>
            </a:r>
            <a:endParaRPr lang="ko-KR" sz="3200" dirty="0"/>
          </a:p>
        </p:txBody>
      </p:sp>
      <p:sp>
        <p:nvSpPr>
          <p:cNvPr id="4" name="S11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까닭은? ‘밝다’와 ‘환하다’는 어떤 사이일까요?</a:t>
            </a:r>
            <a:endParaRPr lang="ko-KR" sz="3200" dirty="0"/>
          </a:p>
        </p:txBody>
      </p:sp>
      <p:sp>
        <p:nvSpPr>
          <p:cNvPr id="6" name="S11-chip9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9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9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방이 어두워요.</a:t>
            </a:r>
            <a:endParaRPr lang="ko-KR" sz="3200" dirty="0"/>
          </a:p>
        </p:txBody>
      </p:sp>
      <p:sp>
        <p:nvSpPr>
          <p:cNvPr id="9" name="S11-chip9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9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9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방이 환해요.</a:t>
            </a:r>
            <a:endParaRPr lang="ko-KR" sz="3200" dirty="0"/>
          </a:p>
        </p:txBody>
      </p:sp>
      <p:sp>
        <p:nvSpPr>
          <p:cNvPr id="12" name="S11-chip9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9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9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방이 넓어요.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99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100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낱말에는 뜻이 비슷한 말, 반대인 말, 흉내 내는 말이 있어요.</a:t>
            </a:r>
            <a:endParaRPr lang="ko-KR" sz="3200" dirty="0"/>
          </a:p>
        </p:txBody>
      </p:sp>
      <p:sp>
        <p:nvSpPr>
          <p:cNvPr id="5" name="S12-chip101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넣어 읽어 확인하기</a:t>
            </a:r>
            <a:endParaRPr lang="ko-KR" sz="2600" dirty="0"/>
          </a:p>
        </p:txBody>
      </p:sp>
      <p:sp>
        <p:nvSpPr>
          <p:cNvPr id="6" name="S12-chip102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작다·적다 헷갈리기</a:t>
            </a:r>
            <a:endParaRPr lang="ko-KR" sz="2600" dirty="0"/>
          </a:p>
        </p:txBody>
      </p:sp>
      <p:sp>
        <p:nvSpPr>
          <p:cNvPr id="7" name="S12-text103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104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‘짧다’의 반대말</a:t>
            </a:r>
            <a:endParaRPr lang="ko-KR" sz="2600" dirty="0"/>
          </a:p>
        </p:txBody>
      </p:sp>
      <p:sp>
        <p:nvSpPr>
          <p:cNvPr id="9" name="S12-text105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‘빨리’와 비슷한 말</a:t>
            </a:r>
            <a:endParaRPr lang="ko-KR" sz="2600" dirty="0"/>
          </a:p>
        </p:txBody>
      </p:sp>
      <p:sp>
        <p:nvSpPr>
          <p:cNvPr id="10" name="S12-text106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강아지 소리 흉내</a:t>
            </a:r>
            <a:endParaRPr lang="ko-KR" sz="2600" dirty="0"/>
          </a:p>
        </p:txBody>
      </p:sp>
      <p:sp>
        <p:nvSpPr>
          <p:cNvPr id="11" name="S12-text10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일이 일어난 차례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어떻게 했나요?</a:t>
            </a:r>
            <a:endParaRPr lang="ko-KR" sz="4400" dirty="0"/>
          </a:p>
        </p:txBody>
      </p:sp>
      <p:sp>
        <p:nvSpPr>
          <p:cNvPr id="3" name="S13-text10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‘어떻게’에 맞는 말을 짚어요.</a:t>
            </a:r>
            <a:endParaRPr lang="ko-KR" sz="3200" dirty="0"/>
          </a:p>
        </p:txBody>
      </p:sp>
      <p:sp>
        <p:nvSpPr>
          <p:cNvPr id="4" name="S13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움직임을 꾸미는 말이에요.</a:t>
            </a:r>
            <a:endParaRPr lang="ko-KR" sz="3200" dirty="0"/>
          </a:p>
        </p:txBody>
      </p:sp>
      <p:sp>
        <p:nvSpPr>
          <p:cNvPr id="6" name="S13-chip11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3-text11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 아장아장 걸어요.</a:t>
            </a:r>
            <a:endParaRPr lang="ko-KR" sz="3200" dirty="0"/>
          </a:p>
        </p:txBody>
      </p:sp>
      <p:sp>
        <p:nvSpPr>
          <p:cNvPr id="8" name="S13-chip11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3-text11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강아지가 꼬리를 살랑살랑 흔들어요.</a:t>
            </a:r>
            <a:endParaRPr lang="ko-KR" sz="3200" dirty="0"/>
          </a:p>
        </p:txBody>
      </p:sp>
      <p:sp>
        <p:nvSpPr>
          <p:cNvPr id="10" name="S13-chip11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3-text11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고양이가 살금살금 다가가요.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낱말의 관계</dc:title>
  <dc:subject>KR22-G02-KOR-VOCAB-L01</dc:subject>
  <dc:creator>education-ppt</dc:creator>
  <cp:lastModifiedBy>education-ppt</cp:lastModifiedBy>
  <cp:revision>1</cp:revision>
  <dcterms:created xsi:type="dcterms:W3CDTF">2026-10-26T07:09:24Z</dcterms:created>
  <dcterms:modified xsi:type="dcterms:W3CDTF">2026-10-26T07:09:24Z</dcterms:modified>
</cp:coreProperties>
</file>