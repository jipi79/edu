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7262e4e5-d66b-3746-ea7b-5871562186a2}">
          <p14:sldIdLst>
            <p14:sldId id="256"/>
            <p14:sldId id="257"/>
          </p14:sldIdLst>
        </p14:section>
        <p14:section name="개념" id="{07e8846c-787d-1008-4a9a-9193a18e3613}">
          <p14:sldIdLst>
            <p14:sldId id="258"/>
            <p14:sldId id="259"/>
            <p14:sldId id="261"/>
          </p14:sldIdLst>
        </p14:section>
        <p14:section name="연습" id="{6d3253b3-9409-8375-0b7b-31ca5d5e1d86}">
          <p14:sldIdLst>
            <p14:sldId id="260"/>
            <p14:sldId id="262"/>
            <p14:sldId id="263"/>
          </p14:sldIdLst>
        </p14:section>
        <p14:section name="개념" id="{d05a9cc6-d2bb-a412-132c-b6898c6c8cb2}">
          <p14:sldIdLst/>
        </p14:section>
        <p14:section name="연습" id="{f7df6a4e-a499-c5bf-d1a9-757986801913}">
          <p14:sldIdLst/>
        </p14:section>
        <p14:section name="확인" id="{b896eaf4-c3c6-4f8f-fd7d-1f2209f6e8b0}">
          <p14:sldIdLst>
            <p14:sldId id="264"/>
            <p14:sldId id="265"/>
            <p14:sldId id="266"/>
          </p14:sldIdLst>
        </p14:section>
        <p14:section name="정리" id="{9e4f3aff-eeda-11d5-da49-6dd7d8486a1b}">
          <p14:sldIdLst>
            <p14:sldId id="267"/>
          </p14:sldIdLst>
        </p14:section>
        <p14:section name="보충" id="{0ca1bd01-49f9-77e0-8b95-1edcaf4e63d8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오늘은 같은 문제에 대한 서로 다른 까닭을 견주어 보고, 내 생각과 까닭을 말하는 연습을 한다고 알립니다.
시간: 약 2분
이렇게 말해 보세요
- “엄마(아빠)랑 너랑 같은 걸 두고 생각이 달랐던 적 있어? 저녁 메뉴나 놀이 같은 것.”
- “오늘은 누가 맞고 틀린지 가리는 게 아니라, 왜 생각이 다른지 까닭을 견주어 보는 공부야.”
예상 답
- “저는 짜장면, 아빠는 김치찌개요.” / “몰라요.”
주의
- 아이의 생각을 바로 고쳐 주지 않습니다. 까닭을 끝까지 들은 뒤 “그렇게 생각했구나.” 하고 받아 줍니다. 이 차시는 아이가 무엇을 고르는지가 아니라 까닭을 말하는지로 평가합니다.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확인(고르고 ‘왜냐하면’ 붙이기)]
목적: 둘 중 하나를 고르고 ‘왜냐하면’을 넣어 고른 것과 이어지는 까닭을 말할 수 있는지 확인합니다. 계획상 선수 차시인 1학년 ‘질문하고 이유 말하기’에서 배운 것입니다.
시간: 약 3분
이렇게 말해 보세요
- “여름이랑 겨울 중에 뭐가 좋아? ‘왜냐하면’을 넣어서 말해 줘.”
- “떡볶이랑 김밥 중에서는?”
예상 답
- ① “나는 여름이 좋아. 왜냐하면 물놀이를 할 수 있으니까.”
- ② “나는 김밥. 왜냐하면 맵지 않으니까.”
정답
- 무엇을 골라도 맞습니다. 고른 것과 이어지는 까닭을 ‘왜냐하면’ 뒤에 말하면 됩니다(‘그냥’, ‘몰라’는 아직).
막히면
- “그걸 고르면 뭐가 좋아?” 하고 물어 까닭을 꺼내 줍니다.
- 두 번 모두 까닭이 나오지 않으면 S13(보충)을 먼저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상황과 여러 입장(같은 문제, 다른 까닭)]
목적: 같은 문제에 대해 사람마다 생각과 까닭이 다르고, 그 까닭에는 각자 중요하게 여기는 것(놀기, 공부, 쉬기)이 담겨 있음을 보여 줍니다(M1).
시간: 약 4분
이렇게 말해 보세요
- “하린이네 가족이 토요일 오후에 무엇을 할지 이야기하고 있어. 세 사람의 생각과 까닭을 읽어 볼까?”
- “하린이는 무엇을 중요하게 생각했을까? 준서는? 할머니는?”
- “세 사람 중에 틀린 사람이 있을까?”
예상 답
- “하린이는 놀고 싶은 거요. 준서는 숙제요. 할머니는 쉬는 거요.”
- “다 맞는 것 같아요.” / “하린이가 맞아요. 공원이 재밌으니까요.”
막히면
- “하린이가 공원에 가고 싶은 까닭은 뭐였지? 그럼 하린이한테는 무엇이 중요할까?”처럼 까닭을 다시 읽고 한 사람씩 묻습니다.
주의
- 아이가 한 사람의 편을 들어도 괜찮습니다. “그렇게 생각했구나. 다른 사람은 무엇을 중요하게 생각했을까?” 하고 다른 입장도 보게 합니다. 어떻게 정할지는 S08에서 다시 생각합니다.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고른 것이 같아도 까닭은 다를 수 있음]
목적: 같은 것을 골라도 까닭은 다를 수 있다는 것을 보여 주고, 까닭을 견주는 말(“○○는 ~을, △△는 ~을 생각했어요.”)을 알려 줍니다(M2).
시간: 약 3분
이렇게 말해 보세요
- “유나랑 시우는 둘 다 공원을 골랐어. 그럼 까닭도 같을까?”
- “유나는 공원에서 무엇을 하고 싶어? 시우는?”
- “이렇게 말해 볼까? ‘유나는 꽃 보기를, 시우는 공차기를 생각했어요.’”
예상 답
- “유나는 꽃을 보고 싶고, 시우는 공을 차고 싶어요.” / “유나는 조용히 구경하고, 시우는 뛰어놀고 싶어요.”
막히면
- “엄마(아빠)도 공원 좋아해. 엄마는 산책하고 싶어서야. 너는 공원에 왜 가고 싶어?” 하고 같은 장소, 다른 까닭을 직접 겪게 합니다.
주의
- 고른 것만 같다고 생각이 다 같은 것은 아니라는 점, 반대로 고른 것이 달라도 까닭에서 비슷한 점이 있을 수 있다는 점을 함께 말해 주면 좋습니다.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세 사람의 까닭 견주기(도움 받아)]
목적: 도움을 받으며 세 사람의 까닭을 견주어, 무엇을 보고(생각하고) 정했는지의 다른 점을 말하는 연습을 합니다(목표 A).
시간: 약 4분
이렇게 말해 보세요
- “은호네 가족이 강아지 이름을 정하고 있어. 엄마는 왜 ‘콩이’라고 했지? 아빠는?”
- “엄마와 아빠는 무엇을 보고 이름을 지었을까? 은호는?”
- “엄마와 은호의 까닭은 어떻게 달라? ‘엄마는 ~을, 은호는 ~을 생각했어요.’로 말해 볼래?”
예상 답
- “엄마랑 아빠는 강아지 모습을 봤어요. 은호는 자기가 좋아하는 걸 생각했어요.”
- “엄마는 강아지 크기를, 은호는 자기가 좋아하는 간식을 생각했어요.”
정답
- 엄마와 아빠는 강아지의 생김새(작고 동글동글함, 점무늬)를 보고, 은호는 자기가 좋아하는 것을 생각했다는 다른 점을 말하면 맞습니다.
- 은호의 까닭이 틀린 것은 아닙니다. 다만 강아지와 이어진 까닭은 다른 가족도 끄덕이기 쉽다는 것을 S06에서 다룹니다.
막히면
- “강아지를 보고 지은 이름은 어느 것일까?” 하고 하나씩 짚어 묻습니다.
주의
- 아이가 은호 편을 들면(“사탕이가 제일 귀여워요!”) 그 까닭도 들어 주고, “엄마와 아빠는 무엇을 보고 정했을까?” 하고 다른 까닭으로 눈을 돌리게 합니다.
- 아이가 지치면 여기서 쉬고, 다음 날 S06부터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까닭을 살피는 두 질문]
목적: 까닭을 견줄 때 쓸 두 질문(문제와 이어져 있나요? 다른 사람도 고개를 끄덕일까요?)을 알려 줍니다(목표 B, M3).
시간: 약 3분
이렇게 말해 보세요
- “까닭을 견줄 때는 두 가지를 물어봐. 첫째, 문제와 이어져 있나? 강아지 이름을 정하는데 강아지와 상관있는 까닭인지 보는 거야.”
- “둘째, 다른 사람도 고개를 끄덕일까? ‘점무늬가 있어서 바둑이’라고 하면 가족들이 ‘그렇네.’ 할 것 같지?”
- “목소리가 크거나 나이가 많다고 더 좋은 까닭이 되는 건 아니야. 두 질문으로 살펴보는 거야.”
예상 답
- “은호 까닭은 강아지랑 상관없어요.” / “그래도 사탕이가 귀여워요.”
막히면
- 엄마(아빠)가 일부러 엉뚱한 까닭을 말해 봅니다. “강아지 이름은 ‘월요일’로 하자. 왜냐하면 오늘이 월요일이니까.” — “고개가 끄덕여져?” 하고 묻습니다.
주의
- ‘좋아하는 마음’이 까닭이 되면 안 된다는 뜻이 아닙니다. 다른 사람과 함께 정할 때는 문제와 이어지고 다른 사람도 끄덕일 수 있는 까닭이 더 잘 받아들여진다는 것을 알려 주는 것입니다.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두 질문으로 까닭 견주기(도움 받아)]
목적: 두 질문으로 까닭을 견주어 보고, 생각이 다를 때 함께 정하는 방법까지 생각해 봅니다(목표 B, M3).
시간: 약 4분
이렇게 말해 보세요
- “두 까닭 모두 그네 타기와 이어져 있어? (첫째 질문)”
- “다른 사람이 들으면 어느 까닭에 더 고개를 끄덕일까? 채원이가 더 타고 싶은 것처럼, 도하는 타고 싶지 않을까? (둘째 질문)”
- “그럼 둘이 어떻게 정하면 좋을까?”
예상 답
- “둘 다 그네랑 상관있어요.”
- “도하요. 먼저 왔으니까요. 채원이도 타고 싶지만 도하도 타고 싶어요.”
- “도하가 먼저 열까지 타고 바꿔요.” / “가위바위보요.”
정답
- 두 까닭 모두 문제와 이어져 있지만, ‘먼저 와서 기다렸다’는 다른 사람도 끄덕이기 쉽고, ‘더 타고 싶다’는 도하도 똑같이 느낄 수 있어 차례를 정하는 까닭이 되기 어렵습니다. 두 질문 가운데 하나를 써서 까닭을 말하면 잘한 것입니다.
- 번갈아 타기, 열까지 세고 바꾸기처럼 둘의 마음을 모두 생각한 방법을 말하면 더 좋습니다.
막히면
- “네가 먼저 와서 기다렸는데, 나중에 온 친구가 ‘내가 더 타고 싶어.’ 하면 어떤 마음일까?” 하고 입장을 바꿔 묻습니다.
주의
- 채원이의 타고 싶은 마음을 나쁘게 말하지 않습니다. “타고 싶은 마음은 자연스러워. 다만 그 까닭만으로는 차례를 정하기 어려워.”라고 말해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여러 까닭을 생각해 내 선택과 계획 정하기]
목적: S03의 하린이네 문제로 돌아가, 여러 사람의 까닭을 생각하며 내 선택과 실천 방법(어떻게 정할지)을 까닭과 함께 말합니다(목표 B).
시간: 약 4분
이렇게 말해 보세요
- “하린이, 준서, 할머니의 까닭을 다시 떠올려 봐. 너라면 가, 나, 다 중에 무엇을 고를래? 왜?”
- “그 방법은 누구의 까닭을 생각한 거야? 빠진 사람은 없어?”
- (아이와 다른 것을 골라) “엄마(아빠)는 다를 골랐어. 왜냐하면 할머니가 편하게 쉬실 수 있으니까. 너는 엄마 까닭을 들으니 어때?”
예상 답
- “나요. 할머니는 쉬고, 준서는 책을 빌리고, 하린이는 자전거를 탈 수 있으니까요.”
- “다요. 할머니 다리가 아프니까 다 같이 쉬어요.” / “가요. 공원이 제일 재밌으니까요.”
- “엄마 생각도 그렇게 생각할 수 있겠어요.”
정답
- 무엇을 골라도 됩니다. 고른 것과 이어지는 까닭을 말하고, 누구의 까닭을 생각했는지 말하면 잘한 것입니다. 나는 세 사람의 까닭을 모두 생각한 방법입니다.
- 가를 고르면 “할머니와 준서는 어떻게 될까?” 하고 한 번 더 물어 생각을 넓히게 합니다.
막히면
- S03 화면으로 돌아가 세 사람의 까닭을 다시 읽고, 보기마다 “이렇게 하면 할머니는? 준서는?” 하고 묻습니다.
주의
- 엄마(아빠)와 다른 것을 고르면 “달라도 돼. 네 까닭이 궁금해.”라고 말해 줍니다. 아이가 부모의 까닭에 “그렇게 생각할 수도 있겠다.”라고 하면 칭찬합니다.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혼자 해 보기(까닭 견주기와 판단)]
목적: 도움 없이 두 까닭의 다른 점을 말하고(목표 A), 두 질문으로 어느 까닭에 더 고개가 끄덕여지는지 판단하는지(목표 B) 확인합니다.
시간: 약 5분
이렇게 말해 보세요
- “이번에는 엄마(아빠)가 도와주지 않을게. 아린이와 태오의 까닭은 어떻게 달라?”
- “두 질문으로 살펴보면, 어느 까닭에 더 고개가 끄덕여져? 왜?”
- “너라면 어떻게 정할래?”
예상 답
- ① “아린이는 자기가 좋아하는 걸, 태오는 둘 다 좋아하는 걸 생각했어요.”
- ② “태오 까닭이요. 둘 다 웃을 수 있으면 둘 다 좋으니까요.” / “아린이요. 동물 이야기는 배울 게 많으니까요.”
- “한 편씩 번갈아 봐요.”
정답
- ① 아린이는 자기 마음(좋아하는 것)을, 태오는 두 사람 모두를 생각했다는 다른 점을 말하면 목표 A 확인 완료입니다.
- ② 어느 쪽을 골라도 됩니다. 두 질문 가운데 하나를 써서 까닭을 말하면 목표 B 확인 완료입니다(예: “태오 까닭이 둘 다 생각해서 누나도 끄덕일 것 같아요.”). 나이(누나니까)나 ‘그냥’으로 고르면 아직입니다.
막히면
- ①이 어려우면 “아린이는 누구를 생각했어? 태오는?” 하고 묻고, 기록표에 ‘도움’으로 표시합니다.
주의
- 동생의 까닭이 더 끄덕여질 수도 있다는 것을 일부러 보여 주는 예입니다(M3). 아이가 형제자매가 있다면 실제 다툼으로 이어지지 않게 가볍게 다룹니다. 관찰한 것을 기록표(S09 줄)에 바로 표시합니다.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잘한 말과 다시 생각해 볼 말]
목적: S09에서 아이가 한 말을 예와 비교하며 돌아봅니다.
시간: 약 2분
이렇게 말해 보세요
- “네가 한 말은 왼쪽이랑 닮았어? 두 질문 중에 무엇을 썼어?”
- “아린이 까닭을 골랐어도 괜찮아. 까닭을 말했는지가 중요해.”
예상 답
- “둘째 질문을 썼어요.” / “저는 그냥 골랐어요. 다시 해 볼래요.”
주의
- 이 장은 학생용 파일에서 빠집니다. 잘한 점을 먼저 말하고, 고칠 점은 하나만 말합니다.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마무리 확인(새 문제에서 내 선택과 까닭, 다른 까닭 존중)]
목적: 처음 보는 문제에서 자기 선택에 까닭을 붙이고, 부모의 다른 까닭을 듣고 존중하는 말을 하는지 확인합니다(목표 B).
시간: 약 3분
이렇게 말해 보세요
- “가족 텃밭에 하나만 심을 수 있대. 너는 무엇을 심을래? 왜냐하면?”
- (아이와 다른 것을 골라) “엄마(아빠)는 상추를 골랐어. 왜냐하면 자주 따서 저녁에 먹을 수 있으니까. 엄마 까닭을 들으니 어때?”
정답
- 무엇을 골라도 맞습니다. 예: “방울토마토요. 왜냐하면 동생이랑 따 먹으면 재미있으니까.” 고른 것과 이어지는 까닭을 말하고, 부모의 까닭에 “그렇게 생각할 수도 있겠다.”처럼 존중하는 말을 하면 목표 B 확인 완료입니다.
- 두 질문으로 부모의 까닭을 살펴 말하면(“상추는 매일 먹을 수 있어서 가족 모두 끄덕일 것 같아요.”) 아주 잘한 것입니다.
막히면
- S06의 두 질문을 다시 보여 주고 “엄마 까닭은 텃밭과 이어져 있어?” 하고 묻습니다.
주의
- 아이가 자기 생각을 바꾸지 않아도 괜찮습니다. 다른 까닭을 끝까지 듣고 존중하는 말을 하는지가 중요합니다.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정리와 다음 학습]
목적: 오늘 배운 것을 정리하고 다음 수업 첫 5분에 할 복습을 알려 줍니다.
시간: 약 2분
이렇게 말해 보세요
- “생각이 다를 때 어떻게 하기로 했지? 까닭을 살필 때 묻는 두 질문은?”
예상 답
- “끝까지 들어요. 문제랑 이어져 있나, 다른 사람도 끄덕일까 물어봐요.”
정답
- ① 간식 하나와 ‘왜냐하면’ 뒤에 이어지는 까닭 ② 문제와 이어져 있나요? 다른 사람도 고개를 끄덕일까요? ③ 아니요. 같은 것을 골라도 까닭은 다를 수 있어요(예: 유나와 시우).
주의
- 이번 주에 가족끼리 생각이 다를 때(저녁 메뉴, 주말 계획) 아이에게 “네 까닭은 뭐야?”, “엄마 까닭은 이건데 어때?” 하고 물어 보세요(활동지 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보충(고르고 ‘왜냐하면’ 붙이기)]
목적: S02에서 까닭을 붙이기 어려우면, 눈앞의 실물 두 가지 중에서 고르고 고른 것의 좋은 점을 까닭으로 말하는 것부터 연습합니다.
시간: 약 5분
이렇게 말해 보세요
- (사과와 귤, 또는 연필 두 자루를 양손에 들고) “어느 쪽이 좋아? ‘나는 ○○.’ 하고 말해 볼까?”
- “그건 뭐가 좋아? 색? 맛? 모양? 그걸 ‘왜냐하면’ 뒤에 붙이면 까닭이 돼.”
- “나는 귤. 왜냐하면 껍질을 손으로 깔 수 있으니까. 너도 해 볼래?”
정답
- 고른 것을 말하고, 고른 것의 좋은 점을 ‘왜냐하면’ 뒤에 붙이면 맞습니다.
막히면
- 계획상 선수 차시는 1학년 ‘질문하고 이유 말하기’입니다. 까닭 붙이기가 계속 어려우면 그 차시의 ‘고르고 까닭 말하기’(S06~S08)를 먼저 함께 한 뒤 S03부터 다시 합니다.
주의
- 보충이 오래 걸리면 오늘은 여기까지 하고,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철학·논리·심리·교육·종교 · 이유와다른생각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철학·논리·심리·교육·종교 · 서로 다른 이유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철학·논리·심리·교육·종교 · 서로 다른 이유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초2 철학·논리·심리·교육·종교 · 서로 다른 이유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서로 다른 이유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문제인데</a:t>
            </a:r>
            <a:endParaRPr lang="ko-KR" sz="3200" dirty="0"/>
          </a:p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생각이 다를까?</a:t>
            </a:r>
            <a:endParaRPr lang="ko-KR" sz="3200" dirty="0"/>
          </a:p>
        </p:txBody>
      </p:sp>
      <p:sp>
        <p:nvSpPr>
          <p:cNvPr id="4" name="S01-bigtext1"/>
          <p:cNvSpPr txBox="1"/>
          <p:nvPr/>
        </p:nvSpPr>
        <p:spPr>
          <a:xfrm>
            <a:off x="7680960" y="640080"/>
            <a:ext cx="3931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왜냐하면</a:t>
            </a:r>
            <a:endParaRPr lang="ko-KR" sz="5400" dirty="0"/>
          </a:p>
        </p:txBody>
      </p:sp>
      <p:sp>
        <p:nvSpPr>
          <p:cNvPr id="5" name="S01-card2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6" name="S01-cardtext3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서로 다른 까닭을 견주어요.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내 생각과 까닭을 말해요.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‘왜냐하면’ 기억나요?</a:t>
            </a:r>
            <a:endParaRPr lang="ko-KR" sz="4400" dirty="0"/>
          </a:p>
        </p:txBody>
      </p:sp>
      <p:sp>
        <p:nvSpPr>
          <p:cNvPr id="3" name="S02-text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하나를 골라 까닭을 말해요.</a:t>
            </a:r>
            <a:endParaRPr lang="ko-KR" sz="3200" dirty="0"/>
          </a:p>
        </p:txBody>
      </p:sp>
      <p:sp>
        <p:nvSpPr>
          <p:cNvPr id="4" name="S02-card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2-cardtext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“나는 ○○. 왜냐하면 ~”</a:t>
            </a:r>
            <a:endParaRPr lang="ko-KR" sz="3200" dirty="0"/>
          </a:p>
        </p:txBody>
      </p:sp>
      <p:sp>
        <p:nvSpPr>
          <p:cNvPr id="6" name="S02-chip7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7" name="S02-text8"/>
          <p:cNvSpPr txBox="1"/>
          <p:nvPr/>
        </p:nvSpPr>
        <p:spPr>
          <a:xfrm>
            <a:off x="1344168" y="20116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여름과 겨울 중 무엇이 좋아요?</a:t>
            </a:r>
            <a:endParaRPr lang="ko-KR" sz="3200" dirty="0"/>
          </a:p>
        </p:txBody>
      </p:sp>
      <p:sp>
        <p:nvSpPr>
          <p:cNvPr id="8" name="S02-chip9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9" name="S02-text10"/>
          <p:cNvSpPr txBox="1"/>
          <p:nvPr/>
        </p:nvSpPr>
        <p:spPr>
          <a:xfrm>
            <a:off x="1344168" y="365760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떡볶이와 김밥 중 무엇을 먹을래요?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문제, 다른 생각</a:t>
            </a:r>
            <a:endParaRPr lang="ko-KR" sz="4400" dirty="0"/>
          </a:p>
        </p:txBody>
      </p:sp>
      <p:sp>
        <p:nvSpPr>
          <p:cNvPr id="3" name="S03-text1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토요일 오후, 하린이네 가족은 뭘 할까요?</a:t>
            </a:r>
            <a:endParaRPr lang="ko-KR" sz="3200" dirty="0"/>
          </a:p>
        </p:txBody>
      </p:sp>
      <p:sp>
        <p:nvSpPr>
          <p:cNvPr id="4" name="S03-card1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1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중요하게 생각하는 것이 서로 달라요.</a:t>
            </a:r>
            <a:endParaRPr lang="ko-KR" sz="3200" dirty="0"/>
          </a:p>
        </p:txBody>
      </p:sp>
      <p:sp>
        <p:nvSpPr>
          <p:cNvPr id="6" name="S03-card14"/>
          <p:cNvSpPr/>
          <p:nvPr/>
        </p:nvSpPr>
        <p:spPr>
          <a:xfrm>
            <a:off x="548640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3-cardtext15"/>
          <p:cNvSpPr txBox="1"/>
          <p:nvPr/>
        </p:nvSpPr>
        <p:spPr>
          <a:xfrm>
            <a:off x="822960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하린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“공원에 가요.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자전거를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타고 싶어요.”</a:t>
            </a:r>
            <a:endParaRPr lang="ko-KR" sz="3200" dirty="0"/>
          </a:p>
        </p:txBody>
      </p:sp>
      <p:sp>
        <p:nvSpPr>
          <p:cNvPr id="8" name="S03-card16"/>
          <p:cNvSpPr/>
          <p:nvPr/>
        </p:nvSpPr>
        <p:spPr>
          <a:xfrm>
            <a:off x="4322064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3-cardtext17"/>
          <p:cNvSpPr txBox="1"/>
          <p:nvPr/>
        </p:nvSpPr>
        <p:spPr>
          <a:xfrm>
            <a:off x="4596384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오빠 준서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“도서관에 가요.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숙제할 책이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필요해요.”</a:t>
            </a:r>
            <a:endParaRPr lang="ko-KR" sz="3200" dirty="0"/>
          </a:p>
        </p:txBody>
      </p:sp>
      <p:sp>
        <p:nvSpPr>
          <p:cNvPr id="10" name="S03-card18"/>
          <p:cNvSpPr/>
          <p:nvPr/>
        </p:nvSpPr>
        <p:spPr>
          <a:xfrm>
            <a:off x="8095488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11" name="S03-cardtext19"/>
          <p:cNvSpPr txBox="1"/>
          <p:nvPr/>
        </p:nvSpPr>
        <p:spPr>
          <a:xfrm>
            <a:off x="8369808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할머니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“집에서 쉬자.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다리가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아프구나.”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고른 것이 같아도</a:t>
            </a:r>
            <a:endParaRPr lang="ko-KR" sz="4400" dirty="0"/>
          </a:p>
        </p:txBody>
      </p:sp>
      <p:sp>
        <p:nvSpPr>
          <p:cNvPr id="3" name="S04-card20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4-cardtext21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유나와 시우는 둘 다 공원에 가고 싶대요.</a:t>
            </a:r>
            <a:endParaRPr lang="ko-KR" sz="3200" dirty="0"/>
          </a:p>
        </p:txBody>
      </p:sp>
      <p:sp>
        <p:nvSpPr>
          <p:cNvPr id="5" name="S04-card2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4-cardtext2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사람의 까닭은 어떻게 다른가요?</a:t>
            </a:r>
            <a:endParaRPr lang="ko-KR" sz="3200" dirty="0"/>
          </a:p>
        </p:txBody>
      </p:sp>
      <p:sp>
        <p:nvSpPr>
          <p:cNvPr id="7" name="S04-chip24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유나</a:t>
            </a:r>
            <a:endParaRPr lang="ko-KR" sz="2600" dirty="0"/>
          </a:p>
        </p:txBody>
      </p:sp>
      <p:sp>
        <p:nvSpPr>
          <p:cNvPr id="8" name="S04-text25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“꽃을 보고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싶어서.”</a:t>
            </a:r>
            <a:endParaRPr lang="ko-KR" sz="3200" dirty="0"/>
          </a:p>
        </p:txBody>
      </p:sp>
      <p:sp>
        <p:nvSpPr>
          <p:cNvPr id="9" name="S04-chip26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시우</a:t>
            </a:r>
            <a:endParaRPr lang="ko-KR" sz="2600" dirty="0"/>
          </a:p>
        </p:txBody>
      </p:sp>
      <p:sp>
        <p:nvSpPr>
          <p:cNvPr id="10" name="S04-text27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“공을 차고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싶어서.”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강아지 이름 정하기</a:t>
            </a:r>
            <a:endParaRPr lang="ko-KR" sz="4400" dirty="0"/>
          </a:p>
        </p:txBody>
      </p:sp>
      <p:sp>
        <p:nvSpPr>
          <p:cNvPr id="3" name="S05-text2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은호네 새 강아지 이름을 정해요.</a:t>
            </a:r>
            <a:endParaRPr lang="ko-KR" sz="3200" dirty="0"/>
          </a:p>
        </p:txBody>
      </p:sp>
      <p:sp>
        <p:nvSpPr>
          <p:cNvPr id="4" name="S05-card2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5-cardtext3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강아지를 보고, 누가 자기를 생각했나요?</a:t>
            </a:r>
            <a:endParaRPr lang="ko-KR" sz="3200" dirty="0"/>
          </a:p>
        </p:txBody>
      </p:sp>
      <p:graphicFrame>
        <p:nvGraphicFramePr>
          <p:cNvPr id="6" name="S05-table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65276" y="2541016"/>
          <a:ext cx="10058400" cy="914400"/>
        </p:xfrm>
        <a:graphic>
          <a:graphicData uri="http://schemas.openxmlformats.org/drawingml/2006/table">
            <a:tbl>
              <a:tblPr/>
              <a:tblGrid>
                <a:gridCol w="1810512"/>
                <a:gridCol w="2212848"/>
                <a:gridCol w="6035040"/>
              </a:tblGrid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누구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이름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까닭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엄마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콩이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작고 동글동글해서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아빠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바둑이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털에 점무늬가 있어서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은호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사탕이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내가 사탕을 좋아해서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까닭을 살피는 질문</a:t>
            </a:r>
            <a:endParaRPr lang="ko-KR" sz="4400" dirty="0"/>
          </a:p>
        </p:txBody>
      </p:sp>
      <p:sp>
        <p:nvSpPr>
          <p:cNvPr id="3" name="S06-card3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6-cardtext3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까닭도 끝까지 듣고 살펴요.</a:t>
            </a:r>
            <a:endParaRPr lang="ko-KR" sz="3200" dirty="0"/>
          </a:p>
        </p:txBody>
      </p:sp>
      <p:sp>
        <p:nvSpPr>
          <p:cNvPr id="5" name="S06-card34"/>
          <p:cNvSpPr/>
          <p:nvPr/>
        </p:nvSpPr>
        <p:spPr>
          <a:xfrm>
            <a:off x="548640" y="212598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6-cardtext35"/>
          <p:cNvSpPr txBox="1"/>
          <p:nvPr/>
        </p:nvSpPr>
        <p:spPr>
          <a:xfrm>
            <a:off x="822960" y="226314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문제와 이어져 있나요?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강아지 이름이면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강아지와 상관있나요?</a:t>
            </a:r>
            <a:endParaRPr lang="ko-KR" sz="3200" dirty="0"/>
          </a:p>
        </p:txBody>
      </p:sp>
      <p:sp>
        <p:nvSpPr>
          <p:cNvPr id="7" name="S06-card36"/>
          <p:cNvSpPr/>
          <p:nvPr/>
        </p:nvSpPr>
        <p:spPr>
          <a:xfrm>
            <a:off x="6208776" y="212598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8" name="S06-cardtext37"/>
          <p:cNvSpPr txBox="1"/>
          <p:nvPr/>
        </p:nvSpPr>
        <p:spPr>
          <a:xfrm>
            <a:off x="6483096" y="226314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고개를 끄덕일까요?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사람도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“그렇네.” 할까요?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그네를 누가 먼저 탈까?</a:t>
            </a:r>
            <a:endParaRPr lang="ko-KR" sz="4400" dirty="0"/>
          </a:p>
        </p:txBody>
      </p:sp>
      <p:sp>
        <p:nvSpPr>
          <p:cNvPr id="3" name="S07-card38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7-cardtext39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놀이터에 그네가 하나 남았어요.</a:t>
            </a:r>
            <a:endParaRPr lang="ko-KR" sz="3200" dirty="0"/>
          </a:p>
        </p:txBody>
      </p:sp>
      <p:sp>
        <p:nvSpPr>
          <p:cNvPr id="5" name="S07-card4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7-cardtext4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질문으로 살펴보면 어떤가요?</a:t>
            </a:r>
            <a:endParaRPr lang="ko-KR" sz="3200" dirty="0"/>
          </a:p>
        </p:txBody>
      </p:sp>
      <p:sp>
        <p:nvSpPr>
          <p:cNvPr id="7" name="S07-chip42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도하</a:t>
            </a:r>
            <a:endParaRPr lang="ko-KR" sz="2600" dirty="0"/>
          </a:p>
        </p:txBody>
      </p:sp>
      <p:sp>
        <p:nvSpPr>
          <p:cNvPr id="8" name="S07-text43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“내가 먼저 와서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기다렸으니까.”</a:t>
            </a:r>
            <a:endParaRPr lang="ko-KR" sz="3200" dirty="0"/>
          </a:p>
        </p:txBody>
      </p:sp>
      <p:sp>
        <p:nvSpPr>
          <p:cNvPr id="9" name="S07-chip44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채원</a:t>
            </a:r>
            <a:endParaRPr lang="ko-KR" sz="2600" dirty="0"/>
          </a:p>
        </p:txBody>
      </p:sp>
      <p:sp>
        <p:nvSpPr>
          <p:cNvPr id="10" name="S07-text45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“내가 더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타고 싶으니까.”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하린이네는 어떻게 할까?</a:t>
            </a:r>
            <a:endParaRPr lang="ko-KR" sz="4400" dirty="0"/>
          </a:p>
        </p:txBody>
      </p:sp>
      <p:sp>
        <p:nvSpPr>
          <p:cNvPr id="3" name="S08-text4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사람의 까닭을 모두 떠올려요.</a:t>
            </a:r>
            <a:endParaRPr lang="ko-KR" sz="3200" dirty="0"/>
          </a:p>
        </p:txBody>
      </p:sp>
      <p:sp>
        <p:nvSpPr>
          <p:cNvPr id="4" name="S08-card4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8-cardtext4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나라면? 누구의 까닭을 생각했나요?</a:t>
            </a:r>
            <a:endParaRPr lang="ko-KR" sz="3200" dirty="0"/>
          </a:p>
        </p:txBody>
      </p:sp>
      <p:sp>
        <p:nvSpPr>
          <p:cNvPr id="6" name="S08-chip49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200" dirty="0"/>
          </a:p>
        </p:txBody>
      </p:sp>
      <p:sp>
        <p:nvSpPr>
          <p:cNvPr id="7" name="S08-card50"/>
          <p:cNvSpPr/>
          <p:nvPr/>
        </p:nvSpPr>
        <p:spPr>
          <a:xfrm>
            <a:off x="548640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8-cardtext51"/>
          <p:cNvSpPr txBox="1"/>
          <p:nvPr/>
        </p:nvSpPr>
        <p:spPr>
          <a:xfrm>
            <a:off x="822960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모두 공원에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가요.</a:t>
            </a:r>
            <a:endParaRPr lang="ko-KR" sz="3200" dirty="0"/>
          </a:p>
        </p:txBody>
      </p:sp>
      <p:sp>
        <p:nvSpPr>
          <p:cNvPr id="9" name="S08-chip52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200" dirty="0"/>
          </a:p>
        </p:txBody>
      </p:sp>
      <p:sp>
        <p:nvSpPr>
          <p:cNvPr id="10" name="S08-card53"/>
          <p:cNvSpPr/>
          <p:nvPr/>
        </p:nvSpPr>
        <p:spPr>
          <a:xfrm>
            <a:off x="4367784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08-cardtext54"/>
          <p:cNvSpPr txBox="1"/>
          <p:nvPr/>
        </p:nvSpPr>
        <p:spPr>
          <a:xfrm>
            <a:off x="4642104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할머니는 쉬시고,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도서관 들렀다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공원에 가요.</a:t>
            </a:r>
            <a:endParaRPr lang="ko-KR" sz="3200" dirty="0"/>
          </a:p>
        </p:txBody>
      </p:sp>
      <p:sp>
        <p:nvSpPr>
          <p:cNvPr id="12" name="S08-chip55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200" dirty="0"/>
          </a:p>
        </p:txBody>
      </p:sp>
      <p:sp>
        <p:nvSpPr>
          <p:cNvPr id="13" name="S08-card56"/>
          <p:cNvSpPr/>
          <p:nvPr/>
        </p:nvSpPr>
        <p:spPr>
          <a:xfrm>
            <a:off x="8186928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08-cardtext57"/>
          <p:cNvSpPr txBox="1"/>
          <p:nvPr/>
        </p:nvSpPr>
        <p:spPr>
          <a:xfrm>
            <a:off x="8461248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오늘은 쉬고,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주에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나가요.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볼까요?</a:t>
            </a:r>
            <a:endParaRPr lang="ko-KR" sz="4400" dirty="0"/>
          </a:p>
        </p:txBody>
      </p:sp>
      <p:sp>
        <p:nvSpPr>
          <p:cNvPr id="3" name="S09-card58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9-cardtext59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 오는 일요일, 텔레비전으로 무엇을 볼까요?</a:t>
            </a:r>
            <a:endParaRPr lang="ko-KR" sz="3200" dirty="0"/>
          </a:p>
        </p:txBody>
      </p:sp>
      <p:sp>
        <p:nvSpPr>
          <p:cNvPr id="5" name="S09-card6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9-cardtext6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까닭이 어떻게 달라요? ② 어느 까닭에 끄덕여져요?</a:t>
            </a:r>
            <a:endParaRPr lang="ko-KR" sz="3200" dirty="0"/>
          </a:p>
        </p:txBody>
      </p:sp>
      <p:sp>
        <p:nvSpPr>
          <p:cNvPr id="7" name="S09-chip62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누나 아린</a:t>
            </a:r>
            <a:endParaRPr lang="ko-KR" sz="2600" dirty="0"/>
          </a:p>
        </p:txBody>
      </p:sp>
      <p:sp>
        <p:nvSpPr>
          <p:cNvPr id="8" name="S09-text63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“동물 이야기.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내가 동물을 좋아하니까.”</a:t>
            </a:r>
            <a:endParaRPr lang="ko-KR" sz="3200" dirty="0"/>
          </a:p>
        </p:txBody>
      </p:sp>
      <p:sp>
        <p:nvSpPr>
          <p:cNvPr id="9" name="S09-chip64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동생 태오</a:t>
            </a:r>
            <a:endParaRPr lang="ko-KR" sz="2600" dirty="0"/>
          </a:p>
        </p:txBody>
      </p:sp>
      <p:sp>
        <p:nvSpPr>
          <p:cNvPr id="10" name="S09-text65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“만화.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둘 다 웃을 수 있으니까.”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잘한 말 돌아보기</a:t>
            </a:r>
            <a:endParaRPr lang="ko-KR" sz="4400" dirty="0"/>
          </a:p>
        </p:txBody>
      </p:sp>
      <p:sp>
        <p:nvSpPr>
          <p:cNvPr id="3" name="S10-card6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0-cardtext6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쪽을 골라도 까닭을 견주면 잘한 거예요.</a:t>
            </a:r>
            <a:endParaRPr lang="ko-KR" sz="3200" dirty="0"/>
          </a:p>
        </p:txBody>
      </p:sp>
      <p:sp>
        <p:nvSpPr>
          <p:cNvPr id="5" name="S10-chip68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잘한 말</a:t>
            </a:r>
            <a:endParaRPr lang="ko-KR" sz="2600" dirty="0"/>
          </a:p>
        </p:txBody>
      </p:sp>
      <p:sp>
        <p:nvSpPr>
          <p:cNvPr id="6" name="S10-text69"/>
          <p:cNvSpPr txBox="1"/>
          <p:nvPr/>
        </p:nvSpPr>
        <p:spPr>
          <a:xfrm>
            <a:off x="548640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“아린은 자기를,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태오는 둘을 생각.”</a:t>
            </a:r>
            <a:endParaRPr lang="ko-KR" sz="2600" dirty="0"/>
          </a:p>
        </p:txBody>
      </p:sp>
      <p:sp>
        <p:nvSpPr>
          <p:cNvPr id="7" name="S10-text70"/>
          <p:cNvSpPr txBox="1"/>
          <p:nvPr/>
        </p:nvSpPr>
        <p:spPr>
          <a:xfrm>
            <a:off x="3367278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까닭 견주기</a:t>
            </a:r>
            <a:endParaRPr lang="ko-KR" sz="2600" dirty="0"/>
          </a:p>
        </p:txBody>
      </p:sp>
      <p:sp>
        <p:nvSpPr>
          <p:cNvPr id="8" name="S10-text71"/>
          <p:cNvSpPr txBox="1"/>
          <p:nvPr/>
        </p:nvSpPr>
        <p:spPr>
          <a:xfrm>
            <a:off x="548640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“둘 다 웃으니까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끄덕여져요.”</a:t>
            </a:r>
            <a:endParaRPr lang="ko-KR" sz="2600" dirty="0"/>
          </a:p>
        </p:txBody>
      </p:sp>
      <p:sp>
        <p:nvSpPr>
          <p:cNvPr id="9" name="S10-text72"/>
          <p:cNvSpPr txBox="1"/>
          <p:nvPr/>
        </p:nvSpPr>
        <p:spPr>
          <a:xfrm>
            <a:off x="3367278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질문으로 살피기</a:t>
            </a:r>
            <a:endParaRPr lang="ko-KR" sz="2600" dirty="0"/>
          </a:p>
        </p:txBody>
      </p:sp>
      <p:sp>
        <p:nvSpPr>
          <p:cNvPr id="10" name="S10-chip73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다시 생각해 볼 말</a:t>
            </a:r>
            <a:endParaRPr lang="ko-KR" sz="2600" dirty="0"/>
          </a:p>
        </p:txBody>
      </p:sp>
      <p:sp>
        <p:nvSpPr>
          <p:cNvPr id="11" name="S10-text74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“태오가 틀렸어요.”</a:t>
            </a:r>
            <a:endParaRPr lang="ko-KR" sz="3200" dirty="0"/>
          </a:p>
        </p:txBody>
      </p:sp>
      <p:sp>
        <p:nvSpPr>
          <p:cNvPr id="12" name="S10-text75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까닭 없이 판단</a:t>
            </a:r>
            <a:endParaRPr lang="ko-KR" sz="2600" dirty="0"/>
          </a:p>
        </p:txBody>
      </p:sp>
      <p:sp>
        <p:nvSpPr>
          <p:cNvPr id="13" name="S10-text76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“누나니까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누나 말대로.”</a:t>
            </a:r>
            <a:endParaRPr lang="ko-KR" sz="3200" dirty="0"/>
          </a:p>
        </p:txBody>
      </p:sp>
      <p:sp>
        <p:nvSpPr>
          <p:cNvPr id="14" name="S10-text77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나이로 정하기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텃밭에 무엇을 심을까?</a:t>
            </a:r>
            <a:endParaRPr lang="ko-KR" sz="4400" dirty="0"/>
          </a:p>
        </p:txBody>
      </p:sp>
      <p:sp>
        <p:nvSpPr>
          <p:cNvPr id="3" name="S11-text7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가족 텃밭에 하나만 심을 수 있어요.</a:t>
            </a:r>
            <a:endParaRPr lang="ko-KR" sz="3200" dirty="0"/>
          </a:p>
        </p:txBody>
      </p:sp>
      <p:sp>
        <p:nvSpPr>
          <p:cNvPr id="4" name="S11-card7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1-cardtext8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골라서 까닭을 말하고, 다른 까닭도 들어요.</a:t>
            </a:r>
            <a:endParaRPr lang="ko-KR" sz="3200" dirty="0"/>
          </a:p>
        </p:txBody>
      </p:sp>
      <p:sp>
        <p:nvSpPr>
          <p:cNvPr id="6" name="S11-chip81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200" dirty="0"/>
          </a:p>
        </p:txBody>
      </p:sp>
      <p:sp>
        <p:nvSpPr>
          <p:cNvPr id="7" name="S11-card82"/>
          <p:cNvSpPr/>
          <p:nvPr/>
        </p:nvSpPr>
        <p:spPr>
          <a:xfrm>
            <a:off x="548640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11-cardtext83"/>
          <p:cNvSpPr txBox="1"/>
          <p:nvPr/>
        </p:nvSpPr>
        <p:spPr>
          <a:xfrm>
            <a:off x="822960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방울토마토</a:t>
            </a:r>
            <a:endParaRPr lang="ko-KR" sz="3200" dirty="0"/>
          </a:p>
        </p:txBody>
      </p:sp>
      <p:sp>
        <p:nvSpPr>
          <p:cNvPr id="9" name="S11-chip84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200" dirty="0"/>
          </a:p>
        </p:txBody>
      </p:sp>
      <p:sp>
        <p:nvSpPr>
          <p:cNvPr id="10" name="S11-card85"/>
          <p:cNvSpPr/>
          <p:nvPr/>
        </p:nvSpPr>
        <p:spPr>
          <a:xfrm>
            <a:off x="4367784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1-cardtext86"/>
          <p:cNvSpPr txBox="1"/>
          <p:nvPr/>
        </p:nvSpPr>
        <p:spPr>
          <a:xfrm>
            <a:off x="4642104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상추</a:t>
            </a:r>
            <a:endParaRPr lang="ko-KR" sz="3200" dirty="0"/>
          </a:p>
        </p:txBody>
      </p:sp>
      <p:sp>
        <p:nvSpPr>
          <p:cNvPr id="12" name="S11-chip87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200" dirty="0"/>
          </a:p>
        </p:txBody>
      </p:sp>
      <p:sp>
        <p:nvSpPr>
          <p:cNvPr id="13" name="S11-card88"/>
          <p:cNvSpPr/>
          <p:nvPr/>
        </p:nvSpPr>
        <p:spPr>
          <a:xfrm>
            <a:off x="8186928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11-cardtext89"/>
          <p:cNvSpPr txBox="1"/>
          <p:nvPr/>
        </p:nvSpPr>
        <p:spPr>
          <a:xfrm>
            <a:off x="8461248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해바라기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12-card90"/>
          <p:cNvSpPr/>
          <p:nvPr/>
        </p:nvSpPr>
        <p:spPr>
          <a:xfrm>
            <a:off x="548640" y="1325880"/>
            <a:ext cx="11091672" cy="1320800"/>
          </a:xfrm>
          <a:prstGeom prst="roundRect">
            <a:avLst>
              <a:gd name="adj" fmla="val 830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2-cardtext91"/>
          <p:cNvSpPr txBox="1"/>
          <p:nvPr/>
        </p:nvSpPr>
        <p:spPr>
          <a:xfrm>
            <a:off x="822960" y="1463040"/>
            <a:ext cx="10543032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문제에도 까닭은 다를 수 있어요.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질문으로 까닭을 살펴요.</a:t>
            </a:r>
            <a:endParaRPr lang="ko-KR" sz="3200" dirty="0"/>
          </a:p>
        </p:txBody>
      </p:sp>
      <p:sp>
        <p:nvSpPr>
          <p:cNvPr id="5" name="S12-chip92"/>
          <p:cNvSpPr txBox="1"/>
          <p:nvPr/>
        </p:nvSpPr>
        <p:spPr>
          <a:xfrm>
            <a:off x="548640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다른 까닭 끝까지 듣기</a:t>
            </a:r>
            <a:endParaRPr lang="ko-KR" sz="2600" dirty="0"/>
          </a:p>
        </p:txBody>
      </p:sp>
      <p:sp>
        <p:nvSpPr>
          <p:cNvPr id="6" name="S12-chip93"/>
          <p:cNvSpPr txBox="1"/>
          <p:nvPr/>
        </p:nvSpPr>
        <p:spPr>
          <a:xfrm>
            <a:off x="6208776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“틀렸어!” 하고 자르기</a:t>
            </a:r>
            <a:endParaRPr lang="ko-KR" sz="2600" dirty="0"/>
          </a:p>
        </p:txBody>
      </p:sp>
      <p:sp>
        <p:nvSpPr>
          <p:cNvPr id="7" name="S12-text94"/>
          <p:cNvSpPr txBox="1"/>
          <p:nvPr/>
        </p:nvSpPr>
        <p:spPr>
          <a:xfrm>
            <a:off x="548640" y="36982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12-text95"/>
          <p:cNvSpPr txBox="1"/>
          <p:nvPr/>
        </p:nvSpPr>
        <p:spPr>
          <a:xfrm>
            <a:off x="548640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좋아하는 간식,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왜냐하면?</a:t>
            </a:r>
            <a:endParaRPr lang="ko-KR" sz="2600" dirty="0"/>
          </a:p>
        </p:txBody>
      </p:sp>
      <p:sp>
        <p:nvSpPr>
          <p:cNvPr id="9" name="S12-text96"/>
          <p:cNvSpPr txBox="1"/>
          <p:nvPr/>
        </p:nvSpPr>
        <p:spPr>
          <a:xfrm>
            <a:off x="4322064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까닭을 살피는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질문</a:t>
            </a:r>
            <a:endParaRPr lang="ko-KR" sz="2600" dirty="0"/>
          </a:p>
        </p:txBody>
      </p:sp>
      <p:sp>
        <p:nvSpPr>
          <p:cNvPr id="10" name="S12-text97"/>
          <p:cNvSpPr txBox="1"/>
          <p:nvPr/>
        </p:nvSpPr>
        <p:spPr>
          <a:xfrm>
            <a:off x="8095488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고른 것이 같으면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까닭도 같을까?</a:t>
            </a:r>
            <a:endParaRPr lang="ko-KR" sz="2600" dirty="0"/>
          </a:p>
        </p:txBody>
      </p:sp>
      <p:sp>
        <p:nvSpPr>
          <p:cNvPr id="11" name="S12-text98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계획·실행·돌아보기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까닭 붙이기</a:t>
            </a:r>
            <a:endParaRPr lang="ko-KR" sz="4400" dirty="0"/>
          </a:p>
        </p:txBody>
      </p:sp>
      <p:sp>
        <p:nvSpPr>
          <p:cNvPr id="3" name="S13-text9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손에 든 두 가지 중에 골라요.</a:t>
            </a:r>
            <a:endParaRPr lang="ko-KR" sz="3200" dirty="0"/>
          </a:p>
        </p:txBody>
      </p:sp>
      <p:sp>
        <p:nvSpPr>
          <p:cNvPr id="4" name="S13-card10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3-cardtext10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고른 것의 좋은 점이 까닭이 돼요.</a:t>
            </a:r>
            <a:endParaRPr lang="ko-KR" sz="3200" dirty="0"/>
          </a:p>
        </p:txBody>
      </p:sp>
      <p:sp>
        <p:nvSpPr>
          <p:cNvPr id="6" name="S13-step102"/>
          <p:cNvSpPr txBox="1"/>
          <p:nvPr/>
        </p:nvSpPr>
        <p:spPr>
          <a:xfrm>
            <a:off x="1293876" y="2788920"/>
            <a:ext cx="2926080" cy="1554480"/>
          </a:xfrm>
          <a:prstGeom prst="roundRect">
            <a:avLst>
              <a:gd name="adj" fmla="val 7059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둘 중에</a:t>
            </a:r>
            <a:endParaRPr lang="ko-KR" sz="3000" dirty="0"/>
          </a:p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골라요</a:t>
            </a:r>
            <a:endParaRPr lang="ko-KR" sz="3000" dirty="0"/>
          </a:p>
        </p:txBody>
      </p:sp>
      <p:sp>
        <p:nvSpPr>
          <p:cNvPr id="7" name="S13-line103"/>
          <p:cNvSpPr/>
          <p:nvPr/>
        </p:nvSpPr>
        <p:spPr>
          <a:xfrm>
            <a:off x="4274820" y="356616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8" name="S13-step104"/>
          <p:cNvSpPr txBox="1"/>
          <p:nvPr/>
        </p:nvSpPr>
        <p:spPr>
          <a:xfrm>
            <a:off x="4631436" y="2788920"/>
            <a:ext cx="2926080" cy="1554480"/>
          </a:xfrm>
          <a:prstGeom prst="roundRect">
            <a:avLst>
              <a:gd name="adj" fmla="val 7059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“나는 ○○.”</a:t>
            </a:r>
            <a:endParaRPr lang="ko-KR" sz="3000" dirty="0"/>
          </a:p>
        </p:txBody>
      </p:sp>
      <p:sp>
        <p:nvSpPr>
          <p:cNvPr id="9" name="S13-line105"/>
          <p:cNvSpPr/>
          <p:nvPr/>
        </p:nvSpPr>
        <p:spPr>
          <a:xfrm>
            <a:off x="7612380" y="356616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0" name="S13-step106"/>
          <p:cNvSpPr txBox="1"/>
          <p:nvPr/>
        </p:nvSpPr>
        <p:spPr>
          <a:xfrm>
            <a:off x="7968996" y="2788920"/>
            <a:ext cx="2926080" cy="1554480"/>
          </a:xfrm>
          <a:prstGeom prst="roundRect">
            <a:avLst>
              <a:gd name="adj" fmla="val 7059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“왜냐하면 ~”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초2 철학·논리·심리·교육·종교 서로 다른 이유</dc:title>
  <dc:subject>KR22-G02-HUM-REASONS-L01</dc:subject>
  <dc:creator>education-ppt</dc:creator>
  <cp:lastModifiedBy>education-ppt</cp:lastModifiedBy>
  <cp:revision>1</cp:revision>
  <dcterms:created xsi:type="dcterms:W3CDTF">2026-10-26T13:19:32Z</dcterms:created>
  <dcterms:modified xsi:type="dcterms:W3CDTF">2026-10-26T13:19:32Z</dcterms:modified>
</cp:coreProperties>
</file>