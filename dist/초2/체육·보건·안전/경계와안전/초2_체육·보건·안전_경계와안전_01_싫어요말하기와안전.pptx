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22237cf-643b-87cb-4f0d-0d2cffd82195}">
          <p14:sldIdLst>
            <p14:sldId id="256"/>
            <p14:sldId id="257"/>
          </p14:sldIdLst>
        </p14:section>
        <p14:section name="개념" id="{46cff4ac-430a-af48-1411-758a98fd682d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1127925d-30c7-48ad-15ad-1ec2c8682d29}">
          <p14:sldIdLst>
            <p14:sldId id="260"/>
            <p14:sldId id="262"/>
            <p14:sldId id="265"/>
          </p14:sldIdLst>
        </p14:section>
        <p14:section name="개념" id="{c2f9bc1f-4703-772d-77f3-6ad49f038b18}">
          <p14:sldIdLst/>
        </p14:section>
        <p14:section name="연습" id="{6012912d-3915-5428-34f1-873a91cfcd56}">
          <p14:sldIdLst/>
        </p14:section>
        <p14:section name="개념" id="{00c5263f-cbd8-ff56-77eb-ab6d8a802c17}">
          <p14:sldIdLst/>
        </p14:section>
        <p14:section name="연습" id="{fbe017c4-9cdc-866a-da0b-6cb33d93427f}">
          <p14:sldIdLst/>
        </p14:section>
        <p14:section name="확인" id="{a033d9d7-f861-8f5c-afbf-7c471dee4735}">
          <p14:sldIdLst>
            <p14:sldId id="266"/>
            <p14:sldId id="267"/>
          </p14:sldIdLst>
        </p14:section>
        <p14:section name="정리" id="{c10445ed-0450-896d-cf11-18eaa1083cdc}">
          <p14:sldIdLst>
            <p14:sldId id="268"/>
          </p14:sldIdLst>
        </p14:section>
        <p14:section name="보충" id="{6d502640-6e88-1386-d24c-6231a173c52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것(싫은 접촉 거절하기, 길과 물놀이 안전, 지진·화재 때 몸 지키기)을 알립니다.
시간: 약 2분
이렇게 말해 보세요
- “1학년 때 내 몸을 지키는 방법을 배웠지? 오늘은 그 약속을 다시 연습하고, 길과 물가, 그리고 땅이 흔들리거나 불이 났을 때 몸을 지키는 방법도 배울 거야.”
- “무서운 이야기가 아니라, ‘이렇게 하면 안전해’를 연습하는 시간이야.”
예상 답
- “싫어요 하는 거요.” / “불나면 119요.” / “지진이 뭐예요?”
주의
- 차분하고 평소와 같은 목소리로 합니다. 사고·재난 뉴스 영상이나 사진은 보여 주지 않습니다. 겁을 주는 말(‘나쁜 사람이 잡아 가’, ‘불나면 다 죽어’)은 쓰지 않습니다.
- 수업 중에 아이가 걱정되는 이야기를 꺼내면 놀라거나 캐묻지 말고 “말해 줘서 고마워. 네 잘못이 아니야.”라고 말해 줍니다. 아이의 안전이 걱정되면 112(아동학대 신고)에 알리거나 담임 선생님과 상의합니다.
- S10에서 쓸 작은 수건과 쿠션(또는 가방)을 준비하고, 들어갈 수 있는 튼튼한 식탁 아래를 미리 치워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확인(싫어요 세 단계, 112·119)]
목적: 1학년에 배운 싫을 때 할 일 세 가지와 112·119를 기억하는지 확인합니다. 계획상 선수 차시는 1학년 ‘등하굣길과 놀이 안전’이며, 싫어요 세 단계는 1학년 ‘손 씻기와 몸의 경계’에서 배웠습니다.
시간: 약 3분
이렇게 말해 보세요
- “싫은 느낌이 들 때 하기로 한 세 가지, 기억나?”
- “불이 나면 몇 번에 전화하지? 길을 잃으면?”
정답
- ① ‘싫어요!’ 말하기, 그 자리 떠나기, 믿을 수 있는 어른에게 말하기 ② 119 ③ 112(먼저 그 자리에 서서 기다리고, 가까운 어른에게 도움을 청함)
막히면
- 두 가지 이상 헷갈리면 S14(보충)를 먼저 합니다.
주의
- 틀려도 괜찮다고 말해 줍니다. 오늘 다시 연습하면 된다고 안심시킵니다.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괜찮은 접촉과 싫은 접촉 구별]
목적: 기분 좋은 접촉과 싫은 접촉을 구별하고, 누구라도 싫은 접촉에는 싫다고 말할 수 있다는 것을 알려 줍니다(목표 A, M1).
시간: 약 3분
이렇게 말해 보세요
- “하이파이브나 네가 좋을 때 안아 주는 건 기분 좋은 접촉이야.”
- “그런데 네가 싫다고 했는데도 계속 만지거나, 속옷으로 가리는 곳을 만지거나 보여 달라고 하면 싫은 접촉이야. 그때는 누구에게든 ‘싫어요!’ 할 수 있어. 가족이나 아는 사람이어도.”
- “친구가 싫다고 하면 너도 바로 멈춰야 해. 장난으로 친구 바지를 내리는 것도 싫은 접촉이야.”
예상 답
- “엄마가 씻겨 줄 때는요?” / “병원에서는요?” / “할머니가 뽀뽀하는 건요?”
막히면
- 질문에는 짧고 정확하게 답합니다. “씻는 걸 도와줄 때나, 엄마(아빠)와 함께 병원에서 진찰받을 때는 괜찮아. 그때도 불편하면 말해도 돼.”
- “할머니 뽀뽀가 싫으면 ‘지금은 싫어요. 하이파이브 해요.’ 하고 말해도 돼.”
주의
- 속옷으로 가리는 곳의 정확한 이름(생식기, 남자아이는 음경, 여자아이는 외음부)을 알려 주어도 좋습니다. 정확한 이름을 알면 도움을 청할 때 분명하게 말할 수 있습니다.
- 가족끼리의 뽀뽀나 안기도 아이가 싫다고 하면 멈춥니다. 집에서 먼저 지켜 주면 아이가 이 약속을 믿게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싫을 때 할 일 세 가지]
목적: 싫은 접촉이 있을 때 할 일 세 가지(말하기, 떠나기, 알리기)와 비밀로 하지 않기를 다시 익힙니다(M1). 1학년에서 배운 것과 같은 순서입니다.
시간: 약 3분
이렇게 말해 보세요
- “싫은 느낌이 들면 세 가지를 해. 상대 눈을 보고 크게 ‘싫어요! 하지 마세요!’ 말하고, 그 자리를 떠나고, 믿을 수 있는 어른에게 말해.”
- “같이 크게 말해 볼까? ‘싫어요! 하지 마세요!’”
- “누가 ‘비밀이야’ 해도 몸에 관한 일은 비밀로 하지 않아. 말해도 혼나지 않아. 네 잘못이 아니니까.”
- “처음 말한 어른이 잘 안 들어주면 다른 어른에게 또 말해. 네가 믿을 수 있는 어른은 누구야? 집에서 한 명, 밖에서 한 명 말해 볼래?”
예상 답
- 집 안: “엄마, 아빠, 할머니요.” / 집 밖: “담임 선생님, 보건 선생님, 태권도 관장님이요.”
막히면
- ‘싫어요’를 작게 말하면 부모가 먼저 똑바로 서서 상대 눈을 보고 크게 말하는 모습을 보여 주고 따라 하게 합니다.
주의
- 믿을 수 있는 어른에는 가족 말고 집 밖의 어른도 한 명 넣게 합니다.
- 부모용 정보: 아이가 위험하거나 학대가 걱정되면 112, 학교폭력은 117, 청소년 상담은 1388로 연락할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상황 역할 놀이(싫은 접촉 거절)]
목적: 상황 역할 놀이로 싫다고 분명하게 말하고, 떠나고, 알리는 연습을 합니다(목표 A).
시간: 약 4분
이렇게 말해 보세요
- “엄마(아빠)가 사촌 역할을 할게. (손가락을 꼼지락거리며 다가가는 시늉만) 간질간질~ — 싫으면 어떻게 할까?”
- “②에서는 친구에게 뭐라고 말할까? 그다음엔 누구에게 알릴까?”
- “③처럼 ‘비밀이야’ 했으면 어떻게 해야 할까?”
예상 답
- ① 상대 눈을 보며 “싫어! 하지 마!” 하고 그 자리를 떠난 뒤, 계속하면 엄마(아빠)에게 말해요. — 가족이어도 싫으면 말할 수 있습니다.
- ② “싫어! 하지 마!” 하고 떨어진 뒤 선생님께 말해요.
- ③ 비밀로 하지 않고 바로 믿을 수 있는 어른에게 말해요. “말해도 혼나지 않아요.”
정답
- ‘싫어요!’를 분명하게 말하고, 떠나기와 어른에게 말하기까지 세 단계를 말하면 잘한 것입니다.
막히면
- 망설이면 S04의 세 단계를 함께 짚으며 하나씩 말하게 합니다.
- ③을 어려워하거나 불안해하면 무리하지 말고 “이럴 땐 엄마(아빠)에게 말하면 돼.” 한 가지만 확인합니다.
주의
- 역할 놀이 중 실제로 아이를 간질이거나 붙잡지 않습니다. 말과 몸짓으로만 합니다.
- ‘누가’는 모르는 사람만이 아니라 아는 사람일 수도 있습니다. 특정한 사람을 지목하거나 겁을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교통과 물놀이 안전]
목적: 교통안전(안전띠, 주차된 차 사이)과 물놀이 안전(준비 운동, 구명조끼, 어른과 함께, 물에 빠진 친구 돕는 법)을 알려 줍니다(목표 B, M2).
시간: 약 3분
이렇게 말해 보세요
- “차에 타면 가까운 곳에 가도 안전띠를 매. 차가 갑자기 멈추면 몸이 앞으로 튀어 나가거든.”
- “주차된 차 사이에서 갑자기 뛰어나오면 운전하는 사람이 너를 못 봐. 차 앞뒤로 나오기 전에 멈추고 살펴.”
- “물놀이 전에는 몸을 풀고, 구명조끼를 입고, 꼭 어른과 함께 얕은 곳에서 놀아.”
- “친구가 물에 빠지면 어떻게 할까? 네가 들어가면 둘 다 위험해. ‘도와주세요!’ 하고 크게 외쳐서 어른에게 알리는 게 친구를 돕는 방법이야.”
예상 답
- “제가 수영 잘하는데요?” — 수영을 잘해도 물에 빠진 사람에게 붙잡히면 함께 가라앉을 수 있어서 어른과 구조대가 구한다고 알려 줍니다(M2).
막히면
- 구명조끼를 본 적이 없으면 “물에 뜨게 해 주는 조끼”라고 설명하고, 다음 물놀이 때 직접 입어 봅니다.
주의
- 구명조끼는 몸에 맞는 크기를 고르고 끈을 모두 채워야 합니다. 계곡·바다는 물살과 깊이가 갑자기 바뀌므로 어른이 늘 가까이에서 지켜봅니다.
- 주변에 어른이 없으면 119에 신고하고, 튜브나 긴 막대를 던져 주는 일은 어른이 합니다. 아이에게 구조를 맡기지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위험한 점과 안전한 행동 말하기]
목적: 교통·물놀이 상황에서 왜 위험한지와 안전한 행동을 함께 말하는 연습을 합니다(목표 B).
시간: 약 3분
이렇게 말해 보세요
- “①은 왜 위험할까? 그럼 어떻게 해야 할까?”
- “②, ③도 위험한 점과 안전한 행동을 말해 볼래?”
예상 답
- ① 차가 갑자기 서면 다칠 수 있어요 → 뒷자리에서도 안전띠를 꼭 매요.
- ② 깊은 곳이나 물살에 휩쓸릴 수 있어요 → 구명조끼를 입고 어른과 함께 얕은 곳에서 놀아요.
- ③ 내가 들어가면 같이 빠질 수 있어요 → “도와주세요!” 크게 외쳐 어른에게 알려요(어른이 없으면 119).
정답
- 위험한 점과 안전한 행동을 함께 말하면 맞습니다. ③에서 직접 물에 들어간다고 하면 S06으로 돌아가 다시 이야기합니다.
막히면
- 위험한 점만 말하면 “그럼 어떻게 하면 안전할까?”라고 이어서 묻습니다.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지진 때 몸 지키기]
목적: 지진이 났을 때 몸을 지키는 차례(책상 아래 머리 보호 → 흔들림이 멈추면 계단으로 밖으로 → 넓은 곳으로)를 알려 줍니다(목표 C, M3).
시간: 약 3분
이렇게 말해 보세요
- “땅이 흔들리는 걸 지진이라고 해. 우리나라에서는 큰 지진이 자주 오지는 않지만, 미리 알아 두면 안전해.”
- “흔들리면 튼튼한 책상이나 식탁 아래로 들어가 머리를 보호하고, 책상 다리를 꼭 잡아. 흔들리는 동안에는 밖으로 뛰어나가지 않아. 물건이 떨어질 수 있거든.”
- “흔들림이 멈추면 어른과 함께 밖으로 나가. 엘리베이터는 멈출 수 있으니까 계단으로!”
- “밖에서는 가방이나 손으로 머리를 가리고, 건물과 담에서 떨어져 운동장이나 공원 같은 넓은 곳으로 가.”
예상 답
- “학교에서 연습했어요.” / “책상 밑에 숨어요.”
막히면
- 순서를 헷갈리면 ‘숨고, 멈추면, 계단으로, 넓은 곳’처럼 짧게 말로 외웁니다.
주의
- 행정안전부 국민재난안전포털의 지진 행동 요령(탁자 아래에서 몸 보호, 흔들림이 멈추면 계단으로 대피, 밖에서는 머리를 보호하며 넓은 곳으로)을 초2에 맞게 줄인 것입니다. 전기·가스 끄기와 문 열기는 어른이 합니다.
- 아이가 불안해하면 “그래서 미리 연습하는 거야. 연습하면 어떻게 할지 알아서 덜 무서워.”라고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불이 났을 때 몸 지키기]
목적: 불이 났을 때 몸을 지키는 차례(외치기 → 입·코 막기 → 낮은 자세로 계단 → 밖에서 119)와 숨지 않기를 알려 줍니다(목표 C, M3).
시간: 약 3분
이렇게 말해 보세요
- “불이 나면 먼저 ‘불이야!’ 하고 크게 외쳐서 다른 사람에게 알려.”
- “연기를 마시면 위험해. 젖은 수건으로 입과 코를 막아. 수건이 없으면 옷소매로 막고 바로 나가.”
- “연기는 위로 올라가. 그래서 몸을 낮추고 벽을 짚으며 계단으로 나가. 엘리베이터는 타지 않아.”
- “무섭다고 침대 밑이나 옷장에 숨으면 소방관이 찾기 어려워. 숨지 말고 밖으로! 밖에 나와서 어른에게 알리고 119에 전화해.”
예상 답
- “숨으면 안 돼요?” / “119에 뭐라고 해요?”
막히면
- 119에 할 말을 모르면 “불이 났어요. 주소는 ○○예요.” 두 가지만 말하면 된다고 알려 줍니다.
주의
- 젖은 수건을 찾느라 시간을 끌지 않습니다. 가까이 없으면 옷소매로 막고 바로 나가는 것이 먼저입니다.
- 아파트는 불이 난 곳(우리 집인지 다른 집인지)에 따라 대피 방법이 다를 수 있습니다. 관리사무소나 소방청 안내로 우리 집 대피 방법(계단 위치, 대피 공간)을 부모가 먼저 확인하고 아이와 함께 걸어 봅니다(활동지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집에서 지진·화재 대피 연습]
목적: 집에서 지진과 화재 대피를 몸으로 연습합니다(목표 C).
시간: 약 6분
이렇게 말해 보세요
- “엄마(아빠)가 ‘흔들흔들!’ 하면 식탁 아래로 들어가서 쿠션으로 머리를 가리고 식탁 다리를 잡아.”
- (열을 센 뒤) “‘멈췄다!’ 이제 어른이랑 현관까지 걸어가자. 아파트라면 어디로 내려갈까?”
- “이번엔 ‘불이야!’ 연습이야. 먼저 크게 외치고, 젖은 수건으로 입과 코를 막고, 몸을 낮춰서 현관까지!”
- “밖에 나왔다고 생각하고, 119에 할 말을 해 볼까? ‘불이 났어요. 주소는 ○○예요.’”
예상 답
- 처음에는 ‘흔들!’에 바로 현관으로 뛰어가거나, 화재 연습에서 허리를 펴고 걷기 쉽습니다(M3).
정답
- 지진·화재를 한 번씩 해 보아 관찰 기준 세 가지를 모두 지키면 연습 완료입니다. 집 주소를 말하면 더 좋습니다.
막히면
- 흔들릴 때 뛰어나가면 “지금 나가면 무엇이 떨어질 수 있을까?” 하고 묻고 다시 해 봅니다.
- 낮은 자세가 어려우면 부모가 먼저 무릎을 굽히고 허리를 숙여 걷는 모습을 보여 줍니다.
주의
- 연습은 걷는 속도로 합니다. 바닥의 물건을 미리 치웁니다.
- 주소는 활동지에 쓰지 않고 말로만 연습합니다(개인정보 보호). 실제 계단·비상구 위치는 다음에 함께 걸어 보며 활동지 3에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보기]
목적: 도움 없이 싫은 접촉 거절(목표 A), 물놀이 안전(목표 B), 지진 대피와 119·112 구별(목표 C)을 확인합니다.
시간: 약 4분
이렇게 말해 보세요
- “이번에는 엄마(아빠)가 도와주지 않을게. ①부터 말해 볼래?”
- “①은 믿을 수 있는 어른도 집에서 한 명, 밖에서 한 명 말해 줘.”
- “③은 몸으로 보여 줘도 돼.”
정답
- ① ‘싫어요!’ 말하기 → 그 자리 떠나기 → 믿을 수 있는 어른에게 말하기 + 집 안·집 밖 어른 한 명씩 → 목표 A 확인
- ② 준비 운동, 구명조끼 입기, 어른과 함께, 얕은 곳에서 놀기, 친구가 빠지면 어른에게 외치기 가운데 두 가지 → 목표 B 확인
- ③ 책상 아래에서 머리 보호 → 흔들림이 멈추면 계단으로 밖으로 / ④ 119: 불이 났을 때, 물에 빠졌을 때, 크게 다쳤을 때 · 112: 위험한 사람이 있을 때, 길을 잃었을 때 → ③④ 모두 맞으면 목표 C 확인
막히면
- 틀린 것만 해당 장(S04, S06, S08, S14)으로 돌아가 다시 보고 해 봅니다. 기록표에 ‘도움’으로 표시합니다.
주의
- 관찰한 것을 기록표(S11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다시 생각해 볼 모습]
목적: S11에서 아이가 한 말과 행동을 잘한 예, 다시 생각해 볼 예와 비교하며 돌아봅니다.
시간: 약 1분
이렇게 말해 보세요
- “오늘 너는 왼쪽처럼 했어? 오른쪽처럼 하면 왜 위험할까?”
예상 답
- “비밀로 하면 아무도 못 도와줘요.” / “같이 빠질 수 있어요.” / “엘리베이터가 멈출 수 있어요.”
주의
- 이 장은 학생용 파일에서 빠집니다. 잘한 점을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오늘 배운 안전 약속을 정리하고 다음 수업 첫 5분 복습을 알려 줍니다.
시간: 약 2분
이렇게 말해 보세요
- “오늘 배운 약속 중에 꼭 기억하고 싶은 것 하나를 말해 볼래?”
예상 답
- “싫으면 싫다고 말해요.” / “불나면 숨지 않아요.”
정답
- ① ‘싫어요!’ 말하기, 떠나기, 믿을 수 있는 어른에게 말하기 ② 책상 아래에서 머리 보호(흔들림이 멈추면 계단으로 밖으로) ③ 119: 불, 물에 빠짐, 크게 다침 / 112: 위험한 사람, 길을 잃었을 때
주의
- 다음 외출이나 물놀이 때 오늘 약속(안전띠, 구명조끼, 계단 위치)을 실제로 함께 확인해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보충(싫어요 세 단계와 112·119)]
목적: S02에서 싫어요 세 단계나 112·119를 헷갈리면, 1학년에 배운 도움 청하기를 먼저 다시 익힙니다.
시간: 약 5분
이렇게 말해 보세요
- “싫은 느낌이 들면? 싫어요, 떠나요, 말해요. 손가락 세 개를 접으며 같이 말해 보자.”
- “불이 나거나 크게 다치면 119, 위험한 사람이 있거나 길을 잃으면 112. ‘불은 119, 경찰은 112’!”
- “엄마(아빠)가 상황을 말하면 번호를 말해 줘. 연기가 나요! … 길을 잃었어요! …”
정답
- 세 단계를 차례로 말하고, 불·다침은 119, 위험한 사람·길 잃음은 112로 구별하면 맞습니다.
막히면
- 계획상 선수 차시는 1학년 ‘등하굣길과 놀이 안전’(도움을 청해요 S09·S10)입니다. 싫어요 세 단계는 1학년 ‘손 씻기와 몸의 경계’ S09에서 배웠습니다. 계속 헷갈리면 두 차시의 해당 장을 먼저 함께 본 뒤 S03부터 다시 합니다.
주의
- 장난 전화는 하지 않는다고 함께 약속합니다. 번호를 누르는 연습은 전화기를 끈 상태로만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경계와안전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 말하기와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지키는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약속은?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싫은 접촉에 ‘싫어요!’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길·물·재난에서 몸을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약속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대로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 때 할 일 세 가지는?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몇 번에 전화해요?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잃으면 몇 번에 전화해요?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괜찮은 접촉, 싫은 접촉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나예요.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 ‘싫어요!’ 해도 돼요.</a:t>
            </a:r>
            <a:endParaRPr lang="ko-KR" sz="3200" dirty="0"/>
          </a:p>
        </p:txBody>
      </p:sp>
      <p:sp>
        <p:nvSpPr>
          <p:cNvPr id="7" name="S03-chip1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괜찮은 접촉</a:t>
            </a:r>
            <a:endParaRPr lang="ko-KR" sz="2600" dirty="0"/>
          </a:p>
        </p:txBody>
      </p:sp>
      <p:sp>
        <p:nvSpPr>
          <p:cNvPr id="8" name="S03-text1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하이파이브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좋을 때 안아 주기</a:t>
            </a:r>
            <a:endParaRPr lang="ko-KR" sz="3200" dirty="0"/>
          </a:p>
        </p:txBody>
      </p:sp>
      <p:sp>
        <p:nvSpPr>
          <p:cNvPr id="9" name="S03-chip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싫은 접촉</a:t>
            </a:r>
            <a:endParaRPr lang="ko-KR" sz="2600" dirty="0"/>
          </a:p>
        </p:txBody>
      </p:sp>
      <p:sp>
        <p:nvSpPr>
          <p:cNvPr id="10" name="S03-text1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싫다는데 계속 만지기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속옷으로 가리는 곳 만지기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비밀로 하라고 해도 말해요. 내 잘못이 아니에요.</a:t>
            </a:r>
            <a:endParaRPr lang="ko-KR" sz="32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 하지 마세요!’ 크게 말해요.</a:t>
            </a:r>
            <a:endParaRPr lang="ko-KR" sz="32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떠나요.</a:t>
            </a:r>
            <a:endParaRPr lang="ko-KR" sz="32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</a:t>
            </a:r>
            <a:endParaRPr lang="ko-KR" sz="44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행동으로 해 봐요.</a:t>
            </a:r>
            <a:endParaRPr lang="ko-KR" sz="32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싫어요! → 떠나요 → 말해요</a:t>
            </a:r>
            <a:endParaRPr lang="ko-KR" sz="32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사촌이 싫다는데 계속 간지럼을 태워요.</a:t>
            </a:r>
            <a:endParaRPr lang="ko-KR" sz="32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장난으로 내 바지를 내리려 해요.</a:t>
            </a:r>
            <a:endParaRPr lang="ko-KR" sz="32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몸을 만지고 ‘우리 비밀이야.’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물에서 지켜요</a:t>
            </a:r>
            <a:endParaRPr lang="ko-KR" sz="4400" dirty="0"/>
          </a:p>
        </p:txBody>
      </p:sp>
      <p:sp>
        <p:nvSpPr>
          <p:cNvPr id="3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물에 빠지면 어른에게 외쳐요.</a:t>
            </a:r>
            <a:endParaRPr lang="ko-KR" sz="3200" dirty="0"/>
          </a:p>
        </p:txBody>
      </p:sp>
      <p:sp>
        <p:nvSpPr>
          <p:cNvPr id="5" name="S06-card3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차에 타면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안전띠를 꼭 매요</a:t>
            </a:r>
            <a:endParaRPr lang="ko-KR" sz="3200" dirty="0"/>
          </a:p>
        </p:txBody>
      </p:sp>
      <p:sp>
        <p:nvSpPr>
          <p:cNvPr id="7" name="S06-card3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주차된 차 사이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뛰어나오지 않아요</a:t>
            </a:r>
            <a:endParaRPr lang="ko-KR" sz="3200" dirty="0"/>
          </a:p>
        </p:txBody>
      </p:sp>
      <p:sp>
        <p:nvSpPr>
          <p:cNvPr id="9" name="S06-card4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4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운동, 구명조끼</a:t>
            </a:r>
            <a:endParaRPr lang="ko-KR" sz="3200" dirty="0"/>
          </a:p>
        </p:txBody>
      </p:sp>
      <p:sp>
        <p:nvSpPr>
          <p:cNvPr id="11" name="S06-card4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6-cardtext4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물에서는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함께, 얕은 곳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위험할까요?</a:t>
            </a:r>
            <a:endParaRPr lang="ko-KR" sz="4400" dirty="0"/>
          </a:p>
        </p:txBody>
      </p:sp>
      <p:sp>
        <p:nvSpPr>
          <p:cNvPr id="3" name="S07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위험한지, 어떻게 할지 말해요.</a:t>
            </a:r>
            <a:endParaRPr lang="ko-KR" sz="3200" dirty="0"/>
          </a:p>
        </p:txBody>
      </p:sp>
      <p:sp>
        <p:nvSpPr>
          <p:cNvPr id="4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점 → 안전한 행동</a:t>
            </a:r>
            <a:endParaRPr lang="ko-KR" sz="3200" dirty="0"/>
          </a:p>
        </p:txBody>
      </p:sp>
      <p:sp>
        <p:nvSpPr>
          <p:cNvPr id="6" name="S07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4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뒷자리에서 안전띠를 풀었어요.</a:t>
            </a:r>
            <a:endParaRPr lang="ko-KR" sz="3200" dirty="0"/>
          </a:p>
        </p:txBody>
      </p:sp>
      <p:sp>
        <p:nvSpPr>
          <p:cNvPr id="8" name="S07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구명조끼 없이 계곡에 들어가요.</a:t>
            </a:r>
            <a:endParaRPr lang="ko-KR" sz="3200" dirty="0"/>
          </a:p>
        </p:txBody>
      </p:sp>
      <p:sp>
        <p:nvSpPr>
          <p:cNvPr id="10" name="S07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물에 빠져 허우적거려요.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흔들리면</a:t>
            </a:r>
            <a:endParaRPr lang="ko-KR" sz="4400" dirty="0"/>
          </a:p>
        </p:txBody>
      </p:sp>
      <p:sp>
        <p:nvSpPr>
          <p:cNvPr id="3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흔들리는 동안에는 뛰어나가지 않아요.</a:t>
            </a:r>
            <a:endParaRPr lang="ko-KR" sz="3200" dirty="0"/>
          </a:p>
        </p:txBody>
      </p:sp>
      <p:sp>
        <p:nvSpPr>
          <p:cNvPr id="5" name="S08-stepno5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아래에서 머리를 보호해요.</a:t>
            </a:r>
            <a:endParaRPr lang="ko-KR" sz="3200" dirty="0"/>
          </a:p>
        </p:txBody>
      </p:sp>
      <p:sp>
        <p:nvSpPr>
          <p:cNvPr id="7" name="S08-stepno5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흔들림이 멈추면 어른과 나가요.</a:t>
            </a:r>
            <a:endParaRPr lang="ko-KR" sz="3200" dirty="0"/>
          </a:p>
        </p:txBody>
      </p:sp>
      <p:sp>
        <p:nvSpPr>
          <p:cNvPr id="9" name="S08-stepno6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6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 말고 계단으로 가요.</a:t>
            </a:r>
            <a:endParaRPr lang="ko-KR" sz="3200" dirty="0"/>
          </a:p>
        </p:txBody>
      </p:sp>
      <p:sp>
        <p:nvSpPr>
          <p:cNvPr id="11" name="S08-stepno6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6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밖에서는 머리를 가리고 넓은 곳으로.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</a:t>
            </a:r>
            <a:endParaRPr lang="ko-KR" sz="4400" dirty="0"/>
          </a:p>
        </p:txBody>
      </p:sp>
      <p:sp>
        <p:nvSpPr>
          <p:cNvPr id="3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숨지 말고 밖으로! 엘리베이터는 타지 않아요.</a:t>
            </a:r>
            <a:endParaRPr lang="ko-KR" sz="3200" dirty="0"/>
          </a:p>
        </p:txBody>
      </p:sp>
      <p:sp>
        <p:nvSpPr>
          <p:cNvPr id="5" name="S09-stepno6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6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“불이야!” 크게 외쳐요.</a:t>
            </a:r>
            <a:endParaRPr lang="ko-KR" sz="3200" dirty="0"/>
          </a:p>
        </p:txBody>
      </p:sp>
      <p:sp>
        <p:nvSpPr>
          <p:cNvPr id="7" name="S09-stepno6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수건으로 입과 코를 막아요.</a:t>
            </a:r>
            <a:endParaRPr lang="ko-KR" sz="3200" dirty="0"/>
          </a:p>
        </p:txBody>
      </p:sp>
      <p:sp>
        <p:nvSpPr>
          <p:cNvPr id="9" name="S09-stepno7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7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낮추고 계단으로 나가요.</a:t>
            </a:r>
            <a:endParaRPr lang="ko-KR" sz="3200" dirty="0"/>
          </a:p>
        </p:txBody>
      </p:sp>
      <p:sp>
        <p:nvSpPr>
          <p:cNvPr id="11" name="S09-stepno7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7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어른에게 알리고 119에 신고해요.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대피 연습</a:t>
            </a:r>
            <a:endParaRPr lang="ko-KR" sz="4400" dirty="0"/>
          </a:p>
        </p:txBody>
      </p:sp>
      <p:sp>
        <p:nvSpPr>
          <p:cNvPr id="3" name="S10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걸어서 연습해요.</a:t>
            </a:r>
            <a:endParaRPr lang="ko-KR" sz="3200" dirty="0"/>
          </a:p>
        </p:txBody>
      </p:sp>
      <p:sp>
        <p:nvSpPr>
          <p:cNvPr id="4" name="S10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뛰지 말고, 식탁 모서리를 조심해요.</a:t>
            </a:r>
            <a:endParaRPr lang="ko-KR" sz="3200" dirty="0"/>
          </a:p>
        </p:txBody>
      </p:sp>
      <p:sp>
        <p:nvSpPr>
          <p:cNvPr id="6" name="S10-card7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7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머리를 보호했어요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멈출 때까지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입·코 막고 낮게 걸었어요</a:t>
            </a:r>
            <a:endParaRPr lang="ko-KR" sz="3200" dirty="0"/>
          </a:p>
        </p:txBody>
      </p:sp>
      <p:sp>
        <p:nvSpPr>
          <p:cNvPr id="8" name="S10-stepno7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80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‘흔들!’ 하면 식탁 아래로 가요.</a:t>
            </a:r>
            <a:endParaRPr lang="ko-KR" sz="2600" dirty="0"/>
          </a:p>
        </p:txBody>
      </p:sp>
      <p:sp>
        <p:nvSpPr>
          <p:cNvPr id="10" name="S10-stepno8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82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‘멈춤!’ 하면 현관까지 걸어요.</a:t>
            </a:r>
            <a:endParaRPr lang="ko-KR" sz="2600" dirty="0"/>
          </a:p>
        </p:txBody>
      </p:sp>
      <p:sp>
        <p:nvSpPr>
          <p:cNvPr id="12" name="S10-stepno8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84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‘불이야!’ 하면 입·코를 막아요.</a:t>
            </a:r>
            <a:endParaRPr lang="ko-KR" sz="2600" dirty="0"/>
          </a:p>
        </p:txBody>
      </p:sp>
      <p:sp>
        <p:nvSpPr>
          <p:cNvPr id="14" name="S10-stepno8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86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낮춰 현관까지 가요.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1-chip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접촉,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세 가지는?</a:t>
            </a:r>
            <a:endParaRPr lang="ko-KR" sz="3200" dirty="0"/>
          </a:p>
        </p:txBody>
      </p:sp>
      <p:sp>
        <p:nvSpPr>
          <p:cNvPr id="5" name="S11-chip8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약속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3200" dirty="0"/>
          </a:p>
        </p:txBody>
      </p:sp>
      <p:sp>
        <p:nvSpPr>
          <p:cNvPr id="7" name="S11-chip9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흔들리면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해요?</a:t>
            </a:r>
            <a:endParaRPr lang="ko-KR" sz="3200" dirty="0"/>
          </a:p>
        </p:txBody>
      </p:sp>
      <p:sp>
        <p:nvSpPr>
          <p:cNvPr id="9" name="S11-chip9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11-text9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119와 112는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 돌아보기</a:t>
            </a:r>
            <a:endParaRPr lang="ko-KR" sz="4400" dirty="0"/>
          </a:p>
        </p:txBody>
      </p:sp>
      <p:sp>
        <p:nvSpPr>
          <p:cNvPr id="3" name="S12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지키는 행동을 말하면 잘한 거예요.</a:t>
            </a:r>
            <a:endParaRPr lang="ko-KR" sz="3200" dirty="0"/>
          </a:p>
        </p:txBody>
      </p:sp>
      <p:sp>
        <p:nvSpPr>
          <p:cNvPr id="5" name="S12-chip9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모습</a:t>
            </a:r>
            <a:endParaRPr lang="ko-KR" sz="2600" dirty="0"/>
          </a:p>
        </p:txBody>
      </p:sp>
      <p:sp>
        <p:nvSpPr>
          <p:cNvPr id="6" name="S12-text98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싫어요, 떠나요, 말해요</a:t>
            </a:r>
            <a:endParaRPr lang="ko-KR" sz="3200" dirty="0"/>
          </a:p>
        </p:txBody>
      </p:sp>
      <p:sp>
        <p:nvSpPr>
          <p:cNvPr id="7" name="S12-text99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어른에게 “도와주세요!”</a:t>
            </a:r>
            <a:endParaRPr lang="ko-KR" sz="3200" dirty="0"/>
          </a:p>
        </p:txBody>
      </p:sp>
      <p:sp>
        <p:nvSpPr>
          <p:cNvPr id="8" name="S12-text100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아래 → 계단으로</a:t>
            </a:r>
            <a:endParaRPr lang="ko-KR" sz="3200" dirty="0"/>
          </a:p>
        </p:txBody>
      </p:sp>
      <p:sp>
        <p:nvSpPr>
          <p:cNvPr id="9" name="S12-chip10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 볼 모습</a:t>
            </a:r>
            <a:endParaRPr lang="ko-KR" sz="2600" dirty="0"/>
          </a:p>
        </p:txBody>
      </p:sp>
      <p:sp>
        <p:nvSpPr>
          <p:cNvPr id="10" name="S12-text102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비밀로 해요</a:t>
            </a:r>
            <a:endParaRPr lang="ko-KR" sz="3200" dirty="0"/>
          </a:p>
        </p:txBody>
      </p:sp>
      <p:sp>
        <p:nvSpPr>
          <p:cNvPr id="11" name="S12-text103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구하러 뛰어들어요</a:t>
            </a:r>
            <a:endParaRPr lang="ko-KR" sz="3200" dirty="0"/>
          </a:p>
        </p:txBody>
      </p:sp>
      <p:sp>
        <p:nvSpPr>
          <p:cNvPr id="12" name="S12-text104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엘리베이터를 타요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싫으면 ‘싫어요!’ 하고 어른에게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땐 몸을 지키고 어른에게 알려요.</a:t>
            </a:r>
            <a:endParaRPr lang="ko-KR" sz="3200" dirty="0"/>
          </a:p>
        </p:txBody>
      </p:sp>
      <p:sp>
        <p:nvSpPr>
          <p:cNvPr id="5" name="S13-chip10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구명조끼 입고 어른과 물놀이</a:t>
            </a:r>
            <a:endParaRPr lang="ko-KR" sz="2600" dirty="0"/>
          </a:p>
        </p:txBody>
      </p:sp>
      <p:sp>
        <p:nvSpPr>
          <p:cNvPr id="6" name="S13-chip10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불이 났을 때 숨기</a:t>
            </a:r>
            <a:endParaRPr lang="ko-KR" sz="2600" dirty="0"/>
          </a:p>
        </p:txBody>
      </p:sp>
      <p:sp>
        <p:nvSpPr>
          <p:cNvPr id="7" name="S13-text10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싫을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세 가지</a:t>
            </a:r>
            <a:endParaRPr lang="ko-KR" sz="2600" dirty="0"/>
          </a:p>
        </p:txBody>
      </p:sp>
      <p:sp>
        <p:nvSpPr>
          <p:cNvPr id="9" name="S13-text11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땅이 흔들리면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일</a:t>
            </a:r>
            <a:endParaRPr lang="ko-KR" sz="2600" dirty="0"/>
          </a:p>
        </p:txBody>
      </p:sp>
      <p:sp>
        <p:nvSpPr>
          <p:cNvPr id="10" name="S13-text11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119와 112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걸까요?</a:t>
            </a:r>
            <a:endParaRPr lang="ko-KR" sz="2600" dirty="0"/>
          </a:p>
        </p:txBody>
      </p:sp>
      <p:sp>
        <p:nvSpPr>
          <p:cNvPr id="11" name="S13-text1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이유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도움을 청해요</a:t>
            </a:r>
            <a:endParaRPr lang="ko-KR" sz="4400" dirty="0"/>
          </a:p>
        </p:txBody>
      </p:sp>
      <p:sp>
        <p:nvSpPr>
          <p:cNvPr id="3" name="S14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가까운 어른에게 알려요.</a:t>
            </a:r>
            <a:endParaRPr lang="ko-KR" sz="3200" dirty="0"/>
          </a:p>
        </p:txBody>
      </p:sp>
      <p:sp>
        <p:nvSpPr>
          <p:cNvPr id="5" name="S14-card11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1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 → 떠나요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말해요</a:t>
            </a:r>
            <a:endParaRPr lang="ko-KR" sz="3200" dirty="0"/>
          </a:p>
        </p:txBody>
      </p:sp>
      <p:sp>
        <p:nvSpPr>
          <p:cNvPr id="7" name="S14-card11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1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사람,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잃었을 때</a:t>
            </a:r>
            <a:endParaRPr lang="ko-KR" sz="3200" dirty="0"/>
          </a:p>
        </p:txBody>
      </p:sp>
      <p:sp>
        <p:nvSpPr>
          <p:cNvPr id="9" name="S14-card12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2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났을 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다쳤을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싫어요 말하기와 안전</dc:title>
  <dc:subject>KR22-G02-PHE-SAYNO-L01</dc:subject>
  <dc:creator>education-ppt</dc:creator>
  <cp:lastModifiedBy>education-ppt</cp:lastModifiedBy>
  <cp:revision>1</cp:revision>
  <dcterms:created xsi:type="dcterms:W3CDTF">2026-10-26T13:19:30Z</dcterms:created>
  <dcterms:modified xsi:type="dcterms:W3CDTF">2026-10-26T13:19:30Z</dcterms:modified>
</cp:coreProperties>
</file>