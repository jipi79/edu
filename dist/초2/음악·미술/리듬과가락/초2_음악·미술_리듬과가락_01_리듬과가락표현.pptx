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132bb73-eac0-4139-fefb-74591f54d4d2}">
          <p14:sldIdLst>
            <p14:sldId id="256"/>
            <p14:sldId id="257"/>
          </p14:sldIdLst>
        </p14:section>
        <p14:section name="개념" id="{d689b664-8a82-15f3-fef8-03c124bae455}">
          <p14:sldIdLst>
            <p14:sldId id="258"/>
          </p14:sldIdLst>
        </p14:section>
        <p14:section name="연습" id="{171c940c-c0d4-9a28-c53b-66cf82fcf0ca}">
          <p14:sldIdLst>
            <p14:sldId id="259"/>
            <p14:sldId id="260"/>
          </p14:sldIdLst>
        </p14:section>
        <p14:section name="확인" id="{52024191-d984-d7d1-5333-a40aad936f1d}">
          <p14:sldIdLst>
            <p14:sldId id="261"/>
          </p14:sldIdLst>
        </p14:section>
        <p14:section name="정리" id="{bd679071-8c97-82e3-9c96-d0c7322a3e7d}">
          <p14:sldIdLst>
            <p14:sldId id="262"/>
          </p14:sldIdLst>
        </p14:section>
        <p14:section name="보충" id="{4664386f-c887-a8b3-5e92-396f1d080ab5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활동을 알리고, 말소리에도 길고 짧은 소리와 높고 낮은 소리가 있다는 데 관심을 갖게 합니다.
시간: 약 2분
이렇게 말해 보세요
- “‘얘들아~’ 하고 부를 때 목소리가 어떻게 움직여? 높았다가 낮아지지?”
- “오늘은 우리가 지은 말로 리듬을 치고, 높고 낮은 소리를 붙여 노래를 만들어 볼 거야.”
예상 답
- “‘얘’는 높고 ‘들아’는 낮아요.”
주의
- 이 차시는 화면보다 몸으로 하는 활동이 중심입니다. 냄비 뚜껑과 나무 숟가락을 미리 준비해 둡니다.
- 이미 있는 노래를 옮겨 쓰지 않습니다. 화면과 활동지의 말은 모두 이 수업을 위해 지은 짧은 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확인(고른 박, 소리의 크기)]
목적: 같은 빠르기로 박을 칠 수 있는지, 큰 소리와 작은 소리를 구별해 낼 수 있는지 확인합니다.
시간: 약 3분
이렇게 말해 보세요
- “엄마(아빠)가 무릎을 이렇게 칠게. ‘쿵, 쿵, 쿵, 쿵.’ 같은 빠르기로 여덟 번 따라 해 볼래?”
- “이번엔 손뼉을 크게 두 번, 작게 두 번 쳐 보자.”
예상 답
- ① 여덟 번 동안 빠르기가 크게 바뀌지 않고 고르게 칩니다.
- ② 앞의 두 번은 크게, 뒤의 두 번은 작게 칩니다.
막히면
- ①에서 점점 빨라지거나 들쭉날쭉하면 S08(보충)을 먼저 합니다.
- 초1 ‘박에 맞춰 노래하기’와 이어지는 내용입니다.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말 리듬과 가락 보기]
목적: 말 리듬(한 칸 = 한 박, 글자 수만큼 치기)과 가락(소리가 높아지고 낮아지는 모양)을 시범으로 보여 줍니다(M1).
시간: 약 5분
이렇게 말해 보세요
- “왼쪽은 ‘비가 와요 똑 똑’이야. 엄마(아빠)가 무릎으로 박을 칠 테니 들어 봐. ‘비가’는 한 박에 두 번 빠르게, ‘똑’은 한 박에 한 번.” (손뼉으로 시범)
- “이렇게 길고 짧은 소리가 어울린 것을 리듬이라고 해.”
- “오른쪽은 ‘올라가요’야. 계단처럼 한 글자씩 높아지지? 손을 한 칸씩 올리며 불러 볼게.” (점점 높게 시범)
- “이렇게 높고 낮은 소리가 이어진 것을 가락이라고 해.”
예상 답
- 아이가 ‘짝짝 짝짝 짝 짝’으로 따라 치고, 손을 올리며 ‘올라가요’를 점점 높게 따라 부릅니다.
막히면
- 리듬은 먼저 입으로만 ‘비가 와요 똑 똑’을 박에 맞춰 말하고, 그다음 손뼉을 칩니다.
- 가락은 부모가 손을 올리며 부르고 아이는 손만 따라 올리게 합니다.
주의
- ‘올라가요’는 ‘도-레-미-파’처럼 한 계단씩 높이면 됩니다. 정확한 음보다 소리가 점점 높아지는 것이 중요합니다.
- 같은 말을 거꾸로 ‘내려가요’로 바꾸어 점점 낮게 불러 보면 내려가는 가락도 함께 익힐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말 리듬을 몸과 물건으로 치기]
목적: 말 리듬을 박에 맞춰 몸 악기(손뼉)와 물건 악기(냄비 뚜껑)로 칩니다(M1, M2, M4).
시간: 약 9분
이렇게 말해 보세요
- “①부터 말하면서 손뼉을 쳐 보자. 엄마(아빠)는 무릎으로 박을 쳐 줄게.”
- “②의 ‘쉼’ 칸에서는 소리를 내지 않고 두 손을 벌려.”
- “이번엔 냄비 뚜껑을 나무 숟가락으로 살살 쳐 볼까?”
정답
- ① 짝짝 / 짝짝 / 짝 / 짝
- ② 짝짝 / 짝짝 / 짝짝 / (쉼)
- ③ 짝 / 짝 / 짝짝 / 짝짝
막히면
- 글자마다 같은 길이로 치면(M1) 부모가 무릎 박에 맞춰 ‘고양’을 한 박 안에 빠르게 말해 줍니다.
- 점점 빨라지면(M2) 부모가 더 느리게 박을 치고 함께 ‘하나, 둘, 셋, 넷’을 셉니다.
- ‘쉼’에서 소리를 내면(M4) 두 손을 벌리는 동작을 함께 합니다.
주의
- 냄비 뚜껑은 세게 치면 시끄럽고 손이 울립니다. 나무 숟가락으로 가장자리를 살살 칩니다. 늦은 밤에는 손뼉과 무릎으로만 합니다.
- 아이가 지치면 여기서 쉬고, 다음 날 S05부터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높게·낮게 손 높이와 함께 부르기]
목적: 높은 소리와 낮은 소리를 구별해 부르고, 소리의 높이를 손 높이로 나타냅니다(M3).
시간: 약 8분
이렇게 말해 보세요
- “①은 ‘안’은 높게, ‘녕’은 낮게. 손을 머리 위로, 배꼽으로 움직이며 불러 보자.”
- “②와 ③은 어디가 높고 어디가 낮아? 표를 보고 불러 볼래?”
- “이번엔 엄마(아빠)가 부를 테니 눈을 감고 듣고, 손으로 높고 낮음을 보여 줘.”
정답
- ① 안(높)-녕(낮)-안(높)-녕(낮)
- ② 해·님(높) → 달·님(낮): 내려가는 가락
- ③ 엄·마(낮) → 아·빠(높): 올라가는 가락
- (손 높이와 소리 높이가 맞으면 맞음)
막히면
- 높게 부르라고 할 때 소리를 지르면(M3) “작은 목소리로 높게 해 볼까?”라고 하고, 부모가 작고 높은 소리를 들려줍니다.
- 두 소리를 구별하기 어려우면 ‘얘들아~’ 하고 부를 때의 높낮이를 떠올리게 합니다.
주의
- 높게는 ‘솔’, 낮게는 ‘미’ 정도면 충분합니다(‘얘들아~’ 하고 부를 때의 두 소리). 정확한 음이 아니어도 높낮이가 분명하면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우리 집 노래 만들기(리듬과 가락 함께 표현)]
목적: 아이가 직접 지은 4박 말에 리듬과 가락을 붙여 부르고 물건 악기와 함께 발표하는지 관찰합니다.
시간: 약 10분
이렇게 말해 보세요
- “우리 집에 있는 것으로 네 칸짜리 말을 지어 볼까? 예를 들면 ‘우리 | 집에 | 강아 | 지’처럼.” (활동지 2)
- “지은 말을 손뼉으로 두 번 쳐 봐.”
- “어디를 높게, 어디를 낮게 부를까? 손으로 보여 주면서 불러 줘.”
- “이제 엄마(아빠)는 무릎으로 박을 칠 테니, 냄비 뚜껑이나 흔들기 통으로 함께 연주해 줘.”
예상 답
- 예: ‘우리 | 집에 | 강아 | 지’ → 짝짝 짝짝 짝짝 짝, ‘우리 집에’는 높게, ‘강아지’는 낮게
- 예: ‘맛있 | 는 | 저녁 | 밥’ → 짝짝 짝 짝짝 짝
정답
- 관찰 기준 세 가지를 지키면 목표 A·B 확인 완료입니다. 말과 가락은 아이가 지은 것이면 모두 맞습니다.
막히면
- 말 짓기가 어려우면 아이가 좋아하는 물건이나 동물 이름으로 시작합니다(‘사과 사과 맛있 다’).
- 리듬과 가락을 한꺼번에 하기 어려우면 리듬 치기와 부르기를 따로 합니다. 도움을 받았다면 기록표에 표시합니다.
주의
- 완성된 노래를 녹음해 두면 다음 수업 복습 때 들려줄 수 있습니다(가족 기기에만 저장).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정리와 다음 학습]
목적: 리듬과 가락의 뜻을 정리하고 다음 수업의 복습을 알려 줍니다.
시간: 약 3분
이렇게 말해 보세요
- “리듬과 가락은 어떻게 달랐어?”
- “높은 소리와 큰 소리는 같은 걸까?”
예상 답
- “리듬은 길고 짧고, 가락은 높고 낮아요.” “높은 소리는 작게도 낼 수 있어요.”
정답
- ① 짝짝 / 짝짝 / 짝 / 짝 ② 손을 한 칸씩 올리며 점점 높게 ③ 오늘 지은 노래를 리듬과 높낮이를 지켜 부르기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보충(고른 박 느끼기)]
목적: S02에서 박이 고르지 않으면, 걸음으로 같은 빠르기의 박을 먼저 느끼게 합니다.
시간: 약 4분
이렇게 말해 보세요
- “엄마(아빠)랑 제자리걸음을 해 보자. ‘하나, 둘, 셋, 넷.’ 발소리가 똑같이 나지?”
- “이번엔 걸으면서 무릎도 함께 ‘쿵’ 쳐 볼까?”
예상 답
- 아이가 부모와 함께 같은 빠르기로 걷고 무릎을 칩니다.
막히면
- 부모가 아이의 손을 잡고 함께 걷거나, 아이 무릎을 가볍게 같이 쳐 줍니다.
주의
- 보충으로도 박이 고르지 않으면 초1 ‘박에 맞춰 노래하기’를 먼저 합니다.
- 아래층을 생각해 발소리는 살살 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음악·미술 · 리듬과가락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음악·미술 · 리듬과 가락 표현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음악·미술 · 리듬과 가락 표현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음악·미술 · 리듬과 가락 표현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리듬과 가락 표현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말에도 리듬과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가락이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말 리듬을 몸과 물건으로 쳐요.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높고 낮은 소리로 불러요.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해 보세요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엄마(아빠)를 따라 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무릎을 ‘쿵, 쿵, 쿵, 쿵’ 고르게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손뼉을 크게 두 번, 작게 두 번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리듬과 가락</a:t>
            </a:r>
            <a:endParaRPr lang="ko-KR" sz="4400" dirty="0"/>
          </a:p>
        </p:txBody>
      </p:sp>
      <p:sp>
        <p:nvSpPr>
          <p:cNvPr id="3" name="S03-text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칸은 한 박이에요.</a:t>
            </a:r>
            <a:endParaRPr lang="ko-KR" sz="3200" dirty="0"/>
          </a:p>
        </p:txBody>
      </p:sp>
      <p:sp>
        <p:nvSpPr>
          <p:cNvPr id="4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글자 칸은 한 박에 빠르게 두 번 쳐요.</a:t>
            </a:r>
            <a:endParaRPr lang="ko-KR" sz="3200" dirty="0"/>
          </a:p>
        </p:txBody>
      </p:sp>
      <p:graphicFrame>
        <p:nvGraphicFramePr>
          <p:cNvPr id="4" name="S03-table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16149"/>
          <a:ext cx="5385816" cy="914400"/>
        </p:xfrm>
        <a:graphic>
          <a:graphicData uri="http://schemas.openxmlformats.org/drawingml/2006/table">
            <a:tbl>
              <a:tblPr/>
              <a:tblGrid>
                <a:gridCol w="1346454"/>
                <a:gridCol w="1346454"/>
                <a:gridCol w="1346454"/>
                <a:gridCol w="1346454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1박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2박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3박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4박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비가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와요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똑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똑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3-label12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리듬: 길고 짧은 소리</a:t>
            </a:r>
            <a:endParaRPr lang="ko-KR" sz="2600" dirty="0"/>
          </a:p>
        </p:txBody>
      </p:sp>
      <p:graphicFrame>
        <p:nvGraphicFramePr>
          <p:cNvPr id="7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496" y="2125599"/>
          <a:ext cx="5385816" cy="914400"/>
        </p:xfrm>
        <a:graphic>
          <a:graphicData uri="http://schemas.openxmlformats.org/drawingml/2006/table">
            <a:tbl>
              <a:tblPr/>
              <a:tblGrid>
                <a:gridCol w="1292596"/>
                <a:gridCol w="1023305"/>
                <a:gridCol w="1023305"/>
                <a:gridCol w="1023305"/>
                <a:gridCol w="1023305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03-label14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가락: 높고 낮은 소리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리듬 치기</a:t>
            </a:r>
            <a:endParaRPr lang="ko-KR" sz="4400" dirty="0"/>
          </a:p>
        </p:txBody>
      </p:sp>
      <p:sp>
        <p:nvSpPr>
          <p:cNvPr id="3" name="S04-text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손뼉으로 치고, 냄비 뚜껑으로도 쳐요.</a:t>
            </a:r>
            <a:endParaRPr lang="ko-KR" sz="3200" dirty="0"/>
          </a:p>
        </p:txBody>
      </p:sp>
      <p:sp>
        <p:nvSpPr>
          <p:cNvPr id="4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‘하나, 둘, 셋, 넷’ 박을 세며 쳐요.</a:t>
            </a:r>
            <a:endParaRPr lang="ko-KR" sz="3200" dirty="0"/>
          </a:p>
        </p:txBody>
      </p:sp>
      <p:sp>
        <p:nvSpPr>
          <p:cNvPr id="6" name="S04-chip1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graphicFrame>
        <p:nvGraphicFramePr>
          <p:cNvPr id="5" name="S04-table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2212594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옹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4-chip2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graphicFrame>
        <p:nvGraphicFramePr>
          <p:cNvPr id="9" name="S04-table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3309874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깡충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깡충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04-chip2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graphicFrame>
        <p:nvGraphicFramePr>
          <p:cNvPr id="13" name="S04-table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4407154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북을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쳐요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높게, 낮게 불러요</a:t>
            </a:r>
            <a:endParaRPr lang="ko-KR" sz="44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올리고 내리며 불러요.</a:t>
            </a:r>
            <a:endParaRPr lang="ko-KR" sz="32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목소리로도 높게 부를 수 있어요.</a:t>
            </a:r>
            <a:endParaRPr lang="ko-KR" sz="3200" dirty="0"/>
          </a:p>
        </p:txBody>
      </p:sp>
      <p:sp>
        <p:nvSpPr>
          <p:cNvPr id="6" name="S05-chip2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graphicFrame>
        <p:nvGraphicFramePr>
          <p:cNvPr id="6" name="S05-table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2018284"/>
          <a:ext cx="5486400" cy="914400"/>
        </p:xfrm>
        <a:graphic>
          <a:graphicData uri="http://schemas.openxmlformats.org/drawingml/2006/table">
            <a:tbl>
              <a:tblPr/>
              <a:tblGrid>
                <a:gridCol w="1316736"/>
                <a:gridCol w="1042416"/>
                <a:gridCol w="1042416"/>
                <a:gridCol w="1042416"/>
                <a:gridCol w="1042416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녕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녕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5-chip2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graphicFrame>
        <p:nvGraphicFramePr>
          <p:cNvPr id="11" name="S05-table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3115564"/>
          <a:ext cx="5486400" cy="914400"/>
        </p:xfrm>
        <a:graphic>
          <a:graphicData uri="http://schemas.openxmlformats.org/drawingml/2006/table">
            <a:tbl>
              <a:tblPr/>
              <a:tblGrid>
                <a:gridCol w="1316736"/>
                <a:gridCol w="1042416"/>
                <a:gridCol w="1042416"/>
                <a:gridCol w="1042416"/>
                <a:gridCol w="1042416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달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05-chip3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graphicFrame>
        <p:nvGraphicFramePr>
          <p:cNvPr id="16" name="S05-table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4212844"/>
          <a:ext cx="5486400" cy="914400"/>
        </p:xfrm>
        <a:graphic>
          <a:graphicData uri="http://schemas.openxmlformats.org/drawingml/2006/table">
            <a:tbl>
              <a:tblPr/>
              <a:tblGrid>
                <a:gridCol w="1316736"/>
                <a:gridCol w="1042416"/>
                <a:gridCol w="1042416"/>
                <a:gridCol w="1042416"/>
                <a:gridCol w="1042416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엄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노래 만들기</a:t>
            </a:r>
            <a:endParaRPr lang="ko-KR" sz="4400" dirty="0"/>
          </a:p>
        </p:txBody>
      </p:sp>
      <p:sp>
        <p:nvSpPr>
          <p:cNvPr id="3" name="S06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냄비 뚜껑은 나무 숟가락으로 살살 쳐요.</a:t>
            </a:r>
            <a:endParaRPr lang="ko-KR" sz="3200" dirty="0"/>
          </a:p>
        </p:txBody>
      </p:sp>
      <p:sp>
        <p:nvSpPr>
          <p:cNvPr id="5" name="S06-card35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36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네 칸에 맞게 말을 넣어요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리듬을 두 번 똑같이 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높고 낮은 소리를 넣어요</a:t>
            </a:r>
            <a:endParaRPr lang="ko-KR" sz="3200" dirty="0"/>
          </a:p>
        </p:txBody>
      </p:sp>
      <p:sp>
        <p:nvSpPr>
          <p:cNvPr id="7" name="S06-stepno37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6-text38"/>
          <p:cNvSpPr txBox="1"/>
          <p:nvPr/>
        </p:nvSpPr>
        <p:spPr>
          <a:xfrm>
            <a:off x="1325880" y="18790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칸에 말을 지어요.</a:t>
            </a:r>
            <a:endParaRPr lang="ko-KR" sz="3200" dirty="0"/>
          </a:p>
        </p:txBody>
      </p:sp>
      <p:sp>
        <p:nvSpPr>
          <p:cNvPr id="9" name="S06-stepno39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6-text40"/>
          <p:cNvSpPr txBox="1"/>
          <p:nvPr/>
        </p:nvSpPr>
        <p:spPr>
          <a:xfrm>
            <a:off x="1325880" y="2592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손뼉으로 리듬을 쳐요.</a:t>
            </a:r>
            <a:endParaRPr lang="ko-KR" sz="3200" dirty="0"/>
          </a:p>
        </p:txBody>
      </p:sp>
      <p:sp>
        <p:nvSpPr>
          <p:cNvPr id="11" name="S06-stepno41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6-text42"/>
          <p:cNvSpPr txBox="1"/>
          <p:nvPr/>
        </p:nvSpPr>
        <p:spPr>
          <a:xfrm>
            <a:off x="1325880" y="3305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높게, 낮게 불러요.</a:t>
            </a:r>
            <a:endParaRPr lang="ko-KR" sz="3200" dirty="0"/>
          </a:p>
        </p:txBody>
      </p:sp>
      <p:sp>
        <p:nvSpPr>
          <p:cNvPr id="13" name="S06-stepno43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6-text44"/>
          <p:cNvSpPr txBox="1"/>
          <p:nvPr/>
        </p:nvSpPr>
        <p:spPr>
          <a:xfrm>
            <a:off x="1325880" y="4018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악기로 들려줘요.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4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4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리듬은 길고 짧은 소리, 가락은 높고 낮은 소리예요.</a:t>
            </a:r>
            <a:endParaRPr lang="ko-KR" sz="3200" dirty="0"/>
          </a:p>
        </p:txBody>
      </p:sp>
      <p:sp>
        <p:nvSpPr>
          <p:cNvPr id="5" name="S07-chip4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박을 세며 치기</a:t>
            </a:r>
            <a:endParaRPr lang="ko-KR" sz="2600" dirty="0"/>
          </a:p>
        </p:txBody>
      </p:sp>
      <p:sp>
        <p:nvSpPr>
          <p:cNvPr id="6" name="S07-chip4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점점 빨라지기</a:t>
            </a:r>
            <a:endParaRPr lang="ko-KR" sz="2600" dirty="0"/>
          </a:p>
        </p:txBody>
      </p:sp>
      <p:sp>
        <p:nvSpPr>
          <p:cNvPr id="7" name="S07-text4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5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‘고양이가 야옹’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 치기</a:t>
            </a:r>
            <a:endParaRPr lang="ko-KR" sz="2600" dirty="0"/>
          </a:p>
        </p:txBody>
      </p:sp>
      <p:sp>
        <p:nvSpPr>
          <p:cNvPr id="9" name="S07-text5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‘올라가요’를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계단으로</a:t>
            </a:r>
            <a:endParaRPr lang="ko-KR" sz="2600" dirty="0"/>
          </a:p>
        </p:txBody>
      </p:sp>
      <p:sp>
        <p:nvSpPr>
          <p:cNvPr id="10" name="S07-text5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내가 만든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노래 부르기</a:t>
            </a:r>
            <a:endParaRPr lang="ko-KR" sz="2600" dirty="0"/>
          </a:p>
        </p:txBody>
      </p:sp>
      <p:sp>
        <p:nvSpPr>
          <p:cNvPr id="11" name="S07-text5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자세히 보고 그리기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박 걷기</a:t>
            </a:r>
            <a:endParaRPr lang="ko-KR" sz="4400" dirty="0"/>
          </a:p>
        </p:txBody>
      </p:sp>
      <p:sp>
        <p:nvSpPr>
          <p:cNvPr id="3" name="S08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걸음처럼 똑같이 ‘쿵, 쿵’ 쳐요.</a:t>
            </a:r>
            <a:endParaRPr lang="ko-KR" sz="3200" dirty="0"/>
          </a:p>
        </p:txBody>
      </p:sp>
      <p:sp>
        <p:nvSpPr>
          <p:cNvPr id="4" name="S08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‘하나, 둘, 셋, 넷’ 세며 제자리걸음을 해요.</a:t>
            </a:r>
            <a:endParaRPr lang="ko-KR" sz="3200" dirty="0"/>
          </a:p>
        </p:txBody>
      </p:sp>
      <p:graphicFrame>
        <p:nvGraphicFramePr>
          <p:cNvPr id="9" name="S08-table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02636" y="3053588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음악·미술 리듬과 가락 표현</dc:title>
  <dc:subject>KR22-G02-ART-RHYTHM-L01</dc:subject>
  <dc:creator>education-ppt</dc:creator>
  <cp:lastModifiedBy>education-ppt</cp:lastModifiedBy>
  <cp:revision>1</cp:revision>
  <dcterms:created xsi:type="dcterms:W3CDTF">2026-10-26T13:18:36Z</dcterms:created>
  <dcterms:modified xsi:type="dcterms:W3CDTF">2026-10-26T13:18:36Z</dcterms:modified>
</cp:coreProperties>
</file>