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8c39e4c-597f-8b8d-8f52-5908ce8b2291}">
          <p14:sldIdLst>
            <p14:sldId id="256"/>
            <p14:sldId id="257"/>
          </p14:sldIdLst>
        </p14:section>
        <p14:section name="개념" id="{55b1f4b9-dbc3-4baf-8160-84a828cfc133}">
          <p14:sldIdLst>
            <p14:sldId id="258"/>
            <p14:sldId id="260"/>
          </p14:sldIdLst>
        </p14:section>
        <p14:section name="연습" id="{c1c4f56b-1ad6-4d6d-40b9-8803aee7d2e6}">
          <p14:sldIdLst>
            <p14:sldId id="259"/>
            <p14:sldId id="261"/>
          </p14:sldIdLst>
        </p14:section>
        <p14:section name="개념" id="{8fd68a5d-6387-57c4-e57b-63eb384a6895}">
          <p14:sldIdLst/>
        </p14:section>
        <p14:section name="연습" id="{52f496ce-33dd-3f99-5d6f-a24e4dc27ef3}">
          <p14:sldIdLst/>
        </p14:section>
        <p14:section name="확인" id="{f8df20a6-4833-36d5-8646-98728c379ba9}">
          <p14:sldIdLst>
            <p14:sldId id="262"/>
          </p14:sldIdLst>
        </p14:section>
        <p14:section name="정리" id="{371875cb-02d9-4cea-9862-1da4eed21d81}">
          <p14:sldIdLst>
            <p14:sldId id="263"/>
          </p14:sldIdLst>
        </p14:section>
        <p14:section name="보충" id="{47894633-97c2-87b0-8dc3-c1bca0694f18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환경·생태 · 생활과환경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환경·생태 · 학교와 마을의 환경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환경·생태 · 학교와 마을의 환경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환경·생태 · 학교와 마을의 환경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학교와 마을의 환경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마을에는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있을까?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마을을 걸으며 보고 들어요.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우리 생활과 이어서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관찰, 기억나요?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지난번에 배운 것을 말해요.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화분이나 개미를 봤던 때를 떠올려요.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무엇을 보나요?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생물을 지키는 약속 하나는?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환경을 살펴봐요</a:t>
            </a:r>
            <a:endParaRPr lang="ko-KR" sz="44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둘레의 모든 것이 환경이에요.</a:t>
            </a:r>
            <a:endParaRPr lang="ko-KR" sz="32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점과 불편한 점을 찾아요.</a:t>
            </a:r>
            <a:endParaRPr lang="ko-KR" sz="3200" dirty="0"/>
          </a:p>
        </p:txBody>
      </p:sp>
      <p:sp>
        <p:nvSpPr>
          <p:cNvPr id="6" name="S03-card13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눈으로 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나무, 길,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건물, 쓰레기</a:t>
            </a:r>
            <a:endParaRPr lang="ko-KR" sz="3200" dirty="0"/>
          </a:p>
        </p:txBody>
      </p:sp>
      <p:sp>
        <p:nvSpPr>
          <p:cNvPr id="8" name="S03-card15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귀로 들어요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새소리,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 소리</a:t>
            </a:r>
            <a:endParaRPr lang="ko-KR" sz="3200" dirty="0"/>
          </a:p>
        </p:txBody>
      </p:sp>
      <p:sp>
        <p:nvSpPr>
          <p:cNvPr id="10" name="S03-card17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몸으로 느껴요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그늘, 바람,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냄새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 마을 지도</a:t>
            </a:r>
            <a:endParaRPr lang="ko-KR" sz="4400" dirty="0"/>
          </a:p>
        </p:txBody>
      </p:sp>
      <p:sp>
        <p:nvSpPr>
          <p:cNvPr id="3" name="S04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지도에서 찾아 짚어요.</a:t>
            </a:r>
            <a:endParaRPr lang="ko-KR" sz="3200" dirty="0"/>
          </a:p>
        </p:txBody>
      </p:sp>
      <p:sp>
        <p:nvSpPr>
          <p:cNvPr id="4" name="S04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말해요.</a:t>
            </a:r>
            <a:endParaRPr lang="ko-KR" sz="3200" dirty="0"/>
          </a:p>
        </p:txBody>
      </p:sp>
      <p:sp>
        <p:nvSpPr>
          <p:cNvPr id="6" name="S04-figure22" descr="지어낸 하늘 마을 지도. 위쪽에 나무 네 그루가 있는 공원, 학교, 공사장이 있고, 가운데로 횡단보도가 있는 큰길이 지나며, 아래쪽에 집, 놀이터, 쓰레기 쌓인 곳이 있다."/>
          <p:cNvSpPr/>
          <p:nvPr/>
        </p:nvSpPr>
        <p:spPr>
          <a:xfrm>
            <a:off x="6607771" y="2110740"/>
            <a:ext cx="1418102" cy="1119554"/>
          </a:xfrm>
          <a:custGeom>
            <a:avLst/>
            <a:gdLst/>
            <a:ahLst/>
            <a:cxnLst/>
            <a:rect l="l" t="t" r="r" b="b"/>
            <a:pathLst>
              <a:path w="1418102" h="1119554">
                <a:moveTo>
                  <a:pt x="0" y="1119554"/>
                </a:moveTo>
                <a:lnTo>
                  <a:pt x="1418102" y="1119554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D8F0DE"/>
          </a:solidFill>
          <a:ln w="28575">
            <a:solidFill>
              <a:srgbClr val="7FB89A"/>
            </a:solidFill>
            <a:prstDash val="solid"/>
          </a:ln>
        </p:spPr>
      </p:sp>
      <p:sp>
        <p:nvSpPr>
          <p:cNvPr id="7" name="S04-mark23"/>
          <p:cNvSpPr/>
          <p:nvPr/>
        </p:nvSpPr>
        <p:spPr>
          <a:xfrm>
            <a:off x="8249783" y="2110740"/>
            <a:ext cx="1418102" cy="1119554"/>
          </a:xfrm>
          <a:custGeom>
            <a:avLst/>
            <a:gdLst/>
            <a:ahLst/>
            <a:cxnLst/>
            <a:rect l="l" t="t" r="r" b="b"/>
            <a:pathLst>
              <a:path w="1418102" h="1119554">
                <a:moveTo>
                  <a:pt x="0" y="1119554"/>
                </a:moveTo>
                <a:lnTo>
                  <a:pt x="1418102" y="1119554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C98A5B"/>
            </a:solidFill>
            <a:prstDash val="solid"/>
          </a:ln>
        </p:spPr>
      </p:sp>
      <p:sp>
        <p:nvSpPr>
          <p:cNvPr id="8" name="S04-mark24"/>
          <p:cNvSpPr/>
          <p:nvPr/>
        </p:nvSpPr>
        <p:spPr>
          <a:xfrm>
            <a:off x="9891796" y="2110740"/>
            <a:ext cx="1418102" cy="1119554"/>
          </a:xfrm>
          <a:custGeom>
            <a:avLst/>
            <a:gdLst/>
            <a:ahLst/>
            <a:cxnLst/>
            <a:rect l="l" t="t" r="r" b="b"/>
            <a:pathLst>
              <a:path w="1418102" h="1119554">
                <a:moveTo>
                  <a:pt x="0" y="1119554"/>
                </a:moveTo>
                <a:lnTo>
                  <a:pt x="1418102" y="1119554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F7E3A1"/>
          </a:solidFill>
          <a:ln w="28575">
            <a:solidFill>
              <a:srgbClr val="B8962E"/>
            </a:solidFill>
            <a:prstDash val="dash"/>
          </a:ln>
        </p:spPr>
      </p:sp>
      <p:sp>
        <p:nvSpPr>
          <p:cNvPr id="9" name="S04-mark25"/>
          <p:cNvSpPr/>
          <p:nvPr/>
        </p:nvSpPr>
        <p:spPr>
          <a:xfrm>
            <a:off x="6533134" y="3379568"/>
            <a:ext cx="4851400" cy="447822"/>
          </a:xfrm>
          <a:custGeom>
            <a:avLst/>
            <a:gdLst/>
            <a:ahLst/>
            <a:cxnLst/>
            <a:rect l="l" t="t" r="r" b="b"/>
            <a:pathLst>
              <a:path w="4851400" h="447822">
                <a:moveTo>
                  <a:pt x="0" y="447822"/>
                </a:moveTo>
                <a:lnTo>
                  <a:pt x="4851400" y="447822"/>
                </a:lnTo>
                <a:lnTo>
                  <a:pt x="4851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AE1"/>
          </a:solidFill>
          <a:ln/>
        </p:spPr>
      </p:sp>
      <p:sp>
        <p:nvSpPr>
          <p:cNvPr id="10" name="S04-mark26"/>
          <p:cNvSpPr/>
          <p:nvPr/>
        </p:nvSpPr>
        <p:spPr>
          <a:xfrm>
            <a:off x="8734923" y="3726629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1" name="S04-mark27"/>
          <p:cNvSpPr/>
          <p:nvPr/>
        </p:nvSpPr>
        <p:spPr>
          <a:xfrm>
            <a:off x="8734923" y="3614674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2" name="S04-mark28"/>
          <p:cNvSpPr/>
          <p:nvPr/>
        </p:nvSpPr>
        <p:spPr>
          <a:xfrm>
            <a:off x="8734923" y="3502719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S04-mark29"/>
          <p:cNvSpPr/>
          <p:nvPr/>
        </p:nvSpPr>
        <p:spPr>
          <a:xfrm>
            <a:off x="8734923" y="3390763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S04-mark30"/>
          <p:cNvSpPr/>
          <p:nvPr/>
        </p:nvSpPr>
        <p:spPr>
          <a:xfrm>
            <a:off x="6757045" y="4051300"/>
            <a:ext cx="1119554" cy="970280"/>
          </a:xfrm>
          <a:custGeom>
            <a:avLst/>
            <a:gdLst/>
            <a:ahLst/>
            <a:cxnLst/>
            <a:rect l="l" t="t" r="r" b="b"/>
            <a:pathLst>
              <a:path w="1119554" h="970280">
                <a:moveTo>
                  <a:pt x="0" y="970280"/>
                </a:moveTo>
                <a:lnTo>
                  <a:pt x="1119554" y="970280"/>
                </a:lnTo>
                <a:lnTo>
                  <a:pt x="1119554" y="373185"/>
                </a:lnTo>
                <a:lnTo>
                  <a:pt x="559777" y="0"/>
                </a:lnTo>
                <a:lnTo>
                  <a:pt x="0" y="373185"/>
                </a:lnTo>
                <a:close/>
              </a:path>
            </a:pathLst>
          </a:custGeom>
          <a:solidFill>
            <a:srgbClr val="D6E4F0"/>
          </a:solidFill>
          <a:ln w="28575">
            <a:solidFill>
              <a:srgbClr val="3D5A80"/>
            </a:solidFill>
            <a:prstDash val="solid"/>
          </a:ln>
        </p:spPr>
      </p:sp>
      <p:sp>
        <p:nvSpPr>
          <p:cNvPr id="15" name="S04-mark31"/>
          <p:cNvSpPr/>
          <p:nvPr/>
        </p:nvSpPr>
        <p:spPr>
          <a:xfrm>
            <a:off x="8249783" y="3976663"/>
            <a:ext cx="1418102" cy="1044917"/>
          </a:xfrm>
          <a:custGeom>
            <a:avLst/>
            <a:gdLst/>
            <a:ahLst/>
            <a:cxnLst/>
            <a:rect l="l" t="t" r="r" b="b"/>
            <a:pathLst>
              <a:path w="1418102" h="1044917">
                <a:moveTo>
                  <a:pt x="0" y="1044917"/>
                </a:moveTo>
                <a:lnTo>
                  <a:pt x="1418102" y="1044917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4F7"/>
          </a:solidFill>
          <a:ln w="28575">
            <a:solidFill>
              <a:srgbClr val="8A6FB0"/>
            </a:solidFill>
            <a:prstDash val="solid"/>
          </a:ln>
        </p:spPr>
      </p:sp>
      <p:sp>
        <p:nvSpPr>
          <p:cNvPr id="16" name="S04-mark32"/>
          <p:cNvSpPr/>
          <p:nvPr/>
        </p:nvSpPr>
        <p:spPr>
          <a:xfrm>
            <a:off x="9891796" y="3976663"/>
            <a:ext cx="1418102" cy="1044917"/>
          </a:xfrm>
          <a:custGeom>
            <a:avLst/>
            <a:gdLst/>
            <a:ahLst/>
            <a:cxnLst/>
            <a:rect l="l" t="t" r="r" b="b"/>
            <a:pathLst>
              <a:path w="1418102" h="1044917">
                <a:moveTo>
                  <a:pt x="0" y="1044917"/>
                </a:moveTo>
                <a:lnTo>
                  <a:pt x="1418102" y="1044917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E8DCCB"/>
          </a:solidFill>
          <a:ln w="28575">
            <a:solidFill>
              <a:srgbClr val="8C6D46"/>
            </a:solidFill>
            <a:prstDash val="solid"/>
          </a:ln>
        </p:spPr>
      </p:sp>
      <p:sp>
        <p:nvSpPr>
          <p:cNvPr id="17" name="S04-mark33"/>
          <p:cNvSpPr/>
          <p:nvPr/>
        </p:nvSpPr>
        <p:spPr>
          <a:xfrm>
            <a:off x="6682408" y="2222695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4-mark34"/>
          <p:cNvSpPr/>
          <p:nvPr/>
        </p:nvSpPr>
        <p:spPr>
          <a:xfrm>
            <a:off x="7092911" y="2185377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4-mark35"/>
          <p:cNvSpPr/>
          <p:nvPr/>
        </p:nvSpPr>
        <p:spPr>
          <a:xfrm>
            <a:off x="7503414" y="2222695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4-mark36"/>
          <p:cNvSpPr/>
          <p:nvPr/>
        </p:nvSpPr>
        <p:spPr>
          <a:xfrm>
            <a:off x="6719726" y="2670517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4-label38"/>
          <p:cNvSpPr txBox="1"/>
          <p:nvPr/>
        </p:nvSpPr>
        <p:spPr>
          <a:xfrm>
            <a:off x="7199591" y="2762690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</a:t>
            </a:r>
            <a:endParaRPr lang="ko-KR" sz="2600" dirty="0"/>
          </a:p>
        </p:txBody>
      </p:sp>
      <p:sp>
        <p:nvSpPr>
          <p:cNvPr id="22" name="S04-label40"/>
          <p:cNvSpPr txBox="1"/>
          <p:nvPr/>
        </p:nvSpPr>
        <p:spPr>
          <a:xfrm>
            <a:off x="8580374" y="2464142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</a:t>
            </a:r>
            <a:endParaRPr lang="ko-KR" sz="2600" dirty="0"/>
          </a:p>
        </p:txBody>
      </p:sp>
      <p:sp>
        <p:nvSpPr>
          <p:cNvPr id="23" name="S04-label42"/>
          <p:cNvSpPr txBox="1"/>
          <p:nvPr/>
        </p:nvSpPr>
        <p:spPr>
          <a:xfrm>
            <a:off x="10060588" y="2464142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공사장</a:t>
            </a:r>
            <a:endParaRPr lang="ko-KR" sz="2600" dirty="0"/>
          </a:p>
        </p:txBody>
      </p:sp>
      <p:sp>
        <p:nvSpPr>
          <p:cNvPr id="24" name="S04-label44"/>
          <p:cNvSpPr txBox="1"/>
          <p:nvPr/>
        </p:nvSpPr>
        <p:spPr>
          <a:xfrm>
            <a:off x="7112547" y="3436791"/>
            <a:ext cx="63246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큰길</a:t>
            </a:r>
            <a:endParaRPr lang="ko-KR" sz="2100" dirty="0"/>
          </a:p>
        </p:txBody>
      </p:sp>
      <p:sp>
        <p:nvSpPr>
          <p:cNvPr id="25" name="S04-label46"/>
          <p:cNvSpPr txBox="1"/>
          <p:nvPr/>
        </p:nvSpPr>
        <p:spPr>
          <a:xfrm>
            <a:off x="10098024" y="3436791"/>
            <a:ext cx="63246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큰길</a:t>
            </a:r>
            <a:endParaRPr lang="ko-KR" sz="2100" dirty="0"/>
          </a:p>
        </p:txBody>
      </p:sp>
      <p:sp>
        <p:nvSpPr>
          <p:cNvPr id="26" name="S04-label48"/>
          <p:cNvSpPr txBox="1"/>
          <p:nvPr/>
        </p:nvSpPr>
        <p:spPr>
          <a:xfrm>
            <a:off x="7100160" y="4516657"/>
            <a:ext cx="433324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</a:t>
            </a:r>
            <a:endParaRPr lang="ko-KR" sz="2600" dirty="0"/>
          </a:p>
        </p:txBody>
      </p:sp>
      <p:sp>
        <p:nvSpPr>
          <p:cNvPr id="27" name="S04-label50"/>
          <p:cNvSpPr txBox="1"/>
          <p:nvPr/>
        </p:nvSpPr>
        <p:spPr>
          <a:xfrm>
            <a:off x="8418576" y="4292747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</a:t>
            </a:r>
            <a:endParaRPr lang="ko-KR" sz="2600" dirty="0"/>
          </a:p>
        </p:txBody>
      </p:sp>
      <p:sp>
        <p:nvSpPr>
          <p:cNvPr id="28" name="S04-label52"/>
          <p:cNvSpPr txBox="1"/>
          <p:nvPr/>
        </p:nvSpPr>
        <p:spPr>
          <a:xfrm>
            <a:off x="10011058" y="4086372"/>
            <a:ext cx="1179576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 곳</a:t>
            </a:r>
            <a:endParaRPr lang="ko-KR" sz="2600" dirty="0"/>
          </a:p>
        </p:txBody>
      </p:sp>
      <p:sp>
        <p:nvSpPr>
          <p:cNvPr id="29" name="S04-chip5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0" name="S04-text54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시원한 그늘이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 곳은?</a:t>
            </a:r>
            <a:endParaRPr lang="ko-KR" sz="2600" dirty="0"/>
          </a:p>
        </p:txBody>
      </p:sp>
      <p:sp>
        <p:nvSpPr>
          <p:cNvPr id="31" name="S04-chip5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2" name="S04-text56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시끄러운 소리가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곳은?</a:t>
            </a:r>
            <a:endParaRPr lang="ko-KR" sz="2600" dirty="0"/>
          </a:p>
        </p:txBody>
      </p:sp>
      <p:sp>
        <p:nvSpPr>
          <p:cNvPr id="33" name="S04-chip5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4" name="S04-text58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냄새가 날 것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곳은?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환경과 우리 생활</a:t>
            </a:r>
            <a:endParaRPr lang="ko-KR" sz="4400" dirty="0"/>
          </a:p>
        </p:txBody>
      </p:sp>
      <p:sp>
        <p:nvSpPr>
          <p:cNvPr id="3" name="S05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환경은 생활과 이어져 있어요.</a:t>
            </a:r>
            <a:endParaRPr lang="ko-KR" sz="3200" dirty="0"/>
          </a:p>
        </p:txBody>
      </p:sp>
      <p:sp>
        <p:nvSpPr>
          <p:cNvPr id="4" name="S05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“○○가 있어서 ~해요.”로 말해요.</a:t>
            </a:r>
            <a:endParaRPr lang="ko-KR" sz="3200" dirty="0"/>
          </a:p>
        </p:txBody>
      </p:sp>
      <p:sp>
        <p:nvSpPr>
          <p:cNvPr id="6" name="S05-card62"/>
          <p:cNvSpPr/>
          <p:nvPr/>
        </p:nvSpPr>
        <p:spPr>
          <a:xfrm>
            <a:off x="548640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63"/>
          <p:cNvSpPr txBox="1"/>
          <p:nvPr/>
        </p:nvSpPr>
        <p:spPr>
          <a:xfrm>
            <a:off x="822960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 그늘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시원하게 쉬어요</a:t>
            </a:r>
            <a:endParaRPr lang="ko-KR" sz="3200" dirty="0"/>
          </a:p>
        </p:txBody>
      </p:sp>
      <p:sp>
        <p:nvSpPr>
          <p:cNvPr id="8" name="S05-card64"/>
          <p:cNvSpPr/>
          <p:nvPr/>
        </p:nvSpPr>
        <p:spPr>
          <a:xfrm>
            <a:off x="6208776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65"/>
          <p:cNvSpPr txBox="1"/>
          <p:nvPr/>
        </p:nvSpPr>
        <p:spPr>
          <a:xfrm>
            <a:off x="6483096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뛰어놀고 산책해요</a:t>
            </a:r>
            <a:endParaRPr lang="ko-KR" sz="3200" dirty="0"/>
          </a:p>
        </p:txBody>
      </p:sp>
      <p:sp>
        <p:nvSpPr>
          <p:cNvPr id="10" name="S05-card66"/>
          <p:cNvSpPr/>
          <p:nvPr/>
        </p:nvSpPr>
        <p:spPr>
          <a:xfrm>
            <a:off x="548640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67"/>
          <p:cNvSpPr txBox="1"/>
          <p:nvPr/>
        </p:nvSpPr>
        <p:spPr>
          <a:xfrm>
            <a:off x="822960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냄새나고 다칠 수 있어요</a:t>
            </a:r>
            <a:endParaRPr lang="ko-KR" sz="3200" dirty="0"/>
          </a:p>
        </p:txBody>
      </p:sp>
      <p:sp>
        <p:nvSpPr>
          <p:cNvPr id="12" name="S05-card68"/>
          <p:cNvSpPr/>
          <p:nvPr/>
        </p:nvSpPr>
        <p:spPr>
          <a:xfrm>
            <a:off x="6208776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3" name="S05-cardtext69"/>
          <p:cNvSpPr txBox="1"/>
          <p:nvPr/>
        </p:nvSpPr>
        <p:spPr>
          <a:xfrm>
            <a:off x="6483096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시끄러운 소리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잠자기 힘들어요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 마을 사람들</a:t>
            </a:r>
            <a:endParaRPr lang="ko-KR" sz="4400" dirty="0"/>
          </a:p>
        </p:txBody>
      </p:sp>
      <p:sp>
        <p:nvSpPr>
          <p:cNvPr id="3" name="S06-text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속 사람들은 어떨까요?</a:t>
            </a:r>
            <a:endParaRPr lang="ko-KR" sz="3200" dirty="0"/>
          </a:p>
        </p:txBody>
      </p:sp>
      <p:sp>
        <p:nvSpPr>
          <p:cNvPr id="4" name="S06-card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“○○가 있어서 ~해요.”</a:t>
            </a:r>
            <a:endParaRPr lang="ko-KR" sz="3200" dirty="0"/>
          </a:p>
        </p:txBody>
      </p:sp>
      <p:sp>
        <p:nvSpPr>
          <p:cNvPr id="6" name="S06-figure73" descr="지어낸 하늘 마을 지도. 위쪽에 나무 네 그루가 있는 공원, 학교, 공사장이 있고, 가운데로 횡단보도가 있는 큰길이 지나며, 아래쪽에 집, 놀이터, 쓰레기 쌓인 곳이 있다."/>
          <p:cNvSpPr/>
          <p:nvPr/>
        </p:nvSpPr>
        <p:spPr>
          <a:xfrm>
            <a:off x="6607771" y="2110740"/>
            <a:ext cx="1418102" cy="1119554"/>
          </a:xfrm>
          <a:custGeom>
            <a:avLst/>
            <a:gdLst/>
            <a:ahLst/>
            <a:cxnLst/>
            <a:rect l="l" t="t" r="r" b="b"/>
            <a:pathLst>
              <a:path w="1418102" h="1119554">
                <a:moveTo>
                  <a:pt x="0" y="1119554"/>
                </a:moveTo>
                <a:lnTo>
                  <a:pt x="1418102" y="1119554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D8F0DE"/>
          </a:solidFill>
          <a:ln w="28575">
            <a:solidFill>
              <a:srgbClr val="7FB89A"/>
            </a:solidFill>
            <a:prstDash val="solid"/>
          </a:ln>
        </p:spPr>
      </p:sp>
      <p:sp>
        <p:nvSpPr>
          <p:cNvPr id="7" name="S06-mark74"/>
          <p:cNvSpPr/>
          <p:nvPr/>
        </p:nvSpPr>
        <p:spPr>
          <a:xfrm>
            <a:off x="8249783" y="2110740"/>
            <a:ext cx="1418102" cy="1119554"/>
          </a:xfrm>
          <a:custGeom>
            <a:avLst/>
            <a:gdLst/>
            <a:ahLst/>
            <a:cxnLst/>
            <a:rect l="l" t="t" r="r" b="b"/>
            <a:pathLst>
              <a:path w="1418102" h="1119554">
                <a:moveTo>
                  <a:pt x="0" y="1119554"/>
                </a:moveTo>
                <a:lnTo>
                  <a:pt x="1418102" y="1119554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C98A5B"/>
            </a:solidFill>
            <a:prstDash val="solid"/>
          </a:ln>
        </p:spPr>
      </p:sp>
      <p:sp>
        <p:nvSpPr>
          <p:cNvPr id="8" name="S06-mark75"/>
          <p:cNvSpPr/>
          <p:nvPr/>
        </p:nvSpPr>
        <p:spPr>
          <a:xfrm>
            <a:off x="9891796" y="2110740"/>
            <a:ext cx="1418102" cy="1119554"/>
          </a:xfrm>
          <a:custGeom>
            <a:avLst/>
            <a:gdLst/>
            <a:ahLst/>
            <a:cxnLst/>
            <a:rect l="l" t="t" r="r" b="b"/>
            <a:pathLst>
              <a:path w="1418102" h="1119554">
                <a:moveTo>
                  <a:pt x="0" y="1119554"/>
                </a:moveTo>
                <a:lnTo>
                  <a:pt x="1418102" y="1119554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F7E3A1"/>
          </a:solidFill>
          <a:ln w="28575">
            <a:solidFill>
              <a:srgbClr val="B8962E"/>
            </a:solidFill>
            <a:prstDash val="dash"/>
          </a:ln>
        </p:spPr>
      </p:sp>
      <p:sp>
        <p:nvSpPr>
          <p:cNvPr id="9" name="S06-mark76"/>
          <p:cNvSpPr/>
          <p:nvPr/>
        </p:nvSpPr>
        <p:spPr>
          <a:xfrm>
            <a:off x="6533134" y="3379568"/>
            <a:ext cx="4851400" cy="447822"/>
          </a:xfrm>
          <a:custGeom>
            <a:avLst/>
            <a:gdLst/>
            <a:ahLst/>
            <a:cxnLst/>
            <a:rect l="l" t="t" r="r" b="b"/>
            <a:pathLst>
              <a:path w="4851400" h="447822">
                <a:moveTo>
                  <a:pt x="0" y="447822"/>
                </a:moveTo>
                <a:lnTo>
                  <a:pt x="4851400" y="447822"/>
                </a:lnTo>
                <a:lnTo>
                  <a:pt x="4851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D5DAE1"/>
          </a:solidFill>
          <a:ln/>
        </p:spPr>
      </p:sp>
      <p:sp>
        <p:nvSpPr>
          <p:cNvPr id="10" name="S06-mark77"/>
          <p:cNvSpPr/>
          <p:nvPr/>
        </p:nvSpPr>
        <p:spPr>
          <a:xfrm>
            <a:off x="8734923" y="3726629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1" name="S06-mark78"/>
          <p:cNvSpPr/>
          <p:nvPr/>
        </p:nvSpPr>
        <p:spPr>
          <a:xfrm>
            <a:off x="8734923" y="3614674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2" name="S06-mark79"/>
          <p:cNvSpPr/>
          <p:nvPr/>
        </p:nvSpPr>
        <p:spPr>
          <a:xfrm>
            <a:off x="8734923" y="3502719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3" name="S06-mark80"/>
          <p:cNvSpPr/>
          <p:nvPr/>
        </p:nvSpPr>
        <p:spPr>
          <a:xfrm>
            <a:off x="8734923" y="3390763"/>
            <a:ext cx="447822" cy="55978"/>
          </a:xfrm>
          <a:custGeom>
            <a:avLst/>
            <a:gdLst/>
            <a:ahLst/>
            <a:cxnLst/>
            <a:rect l="l" t="t" r="r" b="b"/>
            <a:pathLst>
              <a:path w="447822" h="55978">
                <a:moveTo>
                  <a:pt x="0" y="55978"/>
                </a:moveTo>
                <a:lnTo>
                  <a:pt x="447822" y="55978"/>
                </a:lnTo>
                <a:lnTo>
                  <a:pt x="447822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4" name="S06-mark81"/>
          <p:cNvSpPr/>
          <p:nvPr/>
        </p:nvSpPr>
        <p:spPr>
          <a:xfrm>
            <a:off x="6757045" y="4051300"/>
            <a:ext cx="1119554" cy="970280"/>
          </a:xfrm>
          <a:custGeom>
            <a:avLst/>
            <a:gdLst/>
            <a:ahLst/>
            <a:cxnLst/>
            <a:rect l="l" t="t" r="r" b="b"/>
            <a:pathLst>
              <a:path w="1119554" h="970280">
                <a:moveTo>
                  <a:pt x="0" y="970280"/>
                </a:moveTo>
                <a:lnTo>
                  <a:pt x="1119554" y="970280"/>
                </a:lnTo>
                <a:lnTo>
                  <a:pt x="1119554" y="373185"/>
                </a:lnTo>
                <a:lnTo>
                  <a:pt x="559777" y="0"/>
                </a:lnTo>
                <a:lnTo>
                  <a:pt x="0" y="373185"/>
                </a:lnTo>
                <a:close/>
              </a:path>
            </a:pathLst>
          </a:custGeom>
          <a:solidFill>
            <a:srgbClr val="D6E4F0"/>
          </a:solidFill>
          <a:ln w="28575">
            <a:solidFill>
              <a:srgbClr val="3D5A80"/>
            </a:solidFill>
            <a:prstDash val="solid"/>
          </a:ln>
        </p:spPr>
      </p:sp>
      <p:sp>
        <p:nvSpPr>
          <p:cNvPr id="15" name="S06-mark82"/>
          <p:cNvSpPr/>
          <p:nvPr/>
        </p:nvSpPr>
        <p:spPr>
          <a:xfrm>
            <a:off x="8249783" y="3976663"/>
            <a:ext cx="1418102" cy="1044917"/>
          </a:xfrm>
          <a:custGeom>
            <a:avLst/>
            <a:gdLst/>
            <a:ahLst/>
            <a:cxnLst/>
            <a:rect l="l" t="t" r="r" b="b"/>
            <a:pathLst>
              <a:path w="1418102" h="1044917">
                <a:moveTo>
                  <a:pt x="0" y="1044917"/>
                </a:moveTo>
                <a:lnTo>
                  <a:pt x="1418102" y="1044917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EDE4F7"/>
          </a:solidFill>
          <a:ln w="28575">
            <a:solidFill>
              <a:srgbClr val="8A6FB0"/>
            </a:solidFill>
            <a:prstDash val="solid"/>
          </a:ln>
        </p:spPr>
      </p:sp>
      <p:sp>
        <p:nvSpPr>
          <p:cNvPr id="16" name="S06-mark83"/>
          <p:cNvSpPr/>
          <p:nvPr/>
        </p:nvSpPr>
        <p:spPr>
          <a:xfrm>
            <a:off x="9891796" y="3976663"/>
            <a:ext cx="1418102" cy="1044917"/>
          </a:xfrm>
          <a:custGeom>
            <a:avLst/>
            <a:gdLst/>
            <a:ahLst/>
            <a:cxnLst/>
            <a:rect l="l" t="t" r="r" b="b"/>
            <a:pathLst>
              <a:path w="1418102" h="1044917">
                <a:moveTo>
                  <a:pt x="0" y="1044917"/>
                </a:moveTo>
                <a:lnTo>
                  <a:pt x="1418102" y="1044917"/>
                </a:lnTo>
                <a:lnTo>
                  <a:pt x="1418102" y="0"/>
                </a:lnTo>
                <a:lnTo>
                  <a:pt x="0" y="0"/>
                </a:lnTo>
                <a:close/>
              </a:path>
            </a:pathLst>
          </a:custGeom>
          <a:solidFill>
            <a:srgbClr val="E8DCCB"/>
          </a:solidFill>
          <a:ln w="28575">
            <a:solidFill>
              <a:srgbClr val="8C6D46"/>
            </a:solidFill>
            <a:prstDash val="solid"/>
          </a:ln>
        </p:spPr>
      </p:sp>
      <p:sp>
        <p:nvSpPr>
          <p:cNvPr id="17" name="S06-mark84"/>
          <p:cNvSpPr/>
          <p:nvPr/>
        </p:nvSpPr>
        <p:spPr>
          <a:xfrm>
            <a:off x="6682408" y="2222695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6-mark85"/>
          <p:cNvSpPr/>
          <p:nvPr/>
        </p:nvSpPr>
        <p:spPr>
          <a:xfrm>
            <a:off x="7092911" y="2185377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6-mark86"/>
          <p:cNvSpPr/>
          <p:nvPr/>
        </p:nvSpPr>
        <p:spPr>
          <a:xfrm>
            <a:off x="7503414" y="2222695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6-mark87"/>
          <p:cNvSpPr/>
          <p:nvPr/>
        </p:nvSpPr>
        <p:spPr>
          <a:xfrm>
            <a:off x="6719726" y="2670517"/>
            <a:ext cx="373185" cy="373185"/>
          </a:xfrm>
          <a:prstGeom prst="ellipse">
            <a:avLst/>
          </a:prstGeom>
          <a:solidFill>
            <a:srgbClr val="2A9D8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6-label89"/>
          <p:cNvSpPr txBox="1"/>
          <p:nvPr/>
        </p:nvSpPr>
        <p:spPr>
          <a:xfrm>
            <a:off x="7199591" y="2762690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</a:t>
            </a:r>
            <a:endParaRPr lang="ko-KR" sz="2600" dirty="0"/>
          </a:p>
        </p:txBody>
      </p:sp>
      <p:sp>
        <p:nvSpPr>
          <p:cNvPr id="22" name="S06-label91"/>
          <p:cNvSpPr txBox="1"/>
          <p:nvPr/>
        </p:nvSpPr>
        <p:spPr>
          <a:xfrm>
            <a:off x="8580374" y="2464142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</a:t>
            </a:r>
            <a:endParaRPr lang="ko-KR" sz="2600" dirty="0"/>
          </a:p>
        </p:txBody>
      </p:sp>
      <p:sp>
        <p:nvSpPr>
          <p:cNvPr id="23" name="S06-label93"/>
          <p:cNvSpPr txBox="1"/>
          <p:nvPr/>
        </p:nvSpPr>
        <p:spPr>
          <a:xfrm>
            <a:off x="10060588" y="2464142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공사장</a:t>
            </a:r>
            <a:endParaRPr lang="ko-KR" sz="2600" dirty="0"/>
          </a:p>
        </p:txBody>
      </p:sp>
      <p:sp>
        <p:nvSpPr>
          <p:cNvPr id="24" name="S06-label95"/>
          <p:cNvSpPr txBox="1"/>
          <p:nvPr/>
        </p:nvSpPr>
        <p:spPr>
          <a:xfrm>
            <a:off x="7112547" y="3436791"/>
            <a:ext cx="63246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큰길</a:t>
            </a:r>
            <a:endParaRPr lang="ko-KR" sz="2100" dirty="0"/>
          </a:p>
        </p:txBody>
      </p:sp>
      <p:sp>
        <p:nvSpPr>
          <p:cNvPr id="25" name="S06-label97"/>
          <p:cNvSpPr txBox="1"/>
          <p:nvPr/>
        </p:nvSpPr>
        <p:spPr>
          <a:xfrm>
            <a:off x="10098024" y="3436791"/>
            <a:ext cx="63246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큰길</a:t>
            </a:r>
            <a:endParaRPr lang="ko-KR" sz="2100" dirty="0"/>
          </a:p>
        </p:txBody>
      </p:sp>
      <p:sp>
        <p:nvSpPr>
          <p:cNvPr id="26" name="S06-label99"/>
          <p:cNvSpPr txBox="1"/>
          <p:nvPr/>
        </p:nvSpPr>
        <p:spPr>
          <a:xfrm>
            <a:off x="7100160" y="4516657"/>
            <a:ext cx="433324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</a:t>
            </a:r>
            <a:endParaRPr lang="ko-KR" sz="2600" dirty="0"/>
          </a:p>
        </p:txBody>
      </p:sp>
      <p:sp>
        <p:nvSpPr>
          <p:cNvPr id="27" name="S06-label101"/>
          <p:cNvSpPr txBox="1"/>
          <p:nvPr/>
        </p:nvSpPr>
        <p:spPr>
          <a:xfrm>
            <a:off x="8418576" y="4292747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</a:t>
            </a:r>
            <a:endParaRPr lang="ko-KR" sz="2600" dirty="0"/>
          </a:p>
        </p:txBody>
      </p:sp>
      <p:sp>
        <p:nvSpPr>
          <p:cNvPr id="28" name="S06-label103"/>
          <p:cNvSpPr txBox="1"/>
          <p:nvPr/>
        </p:nvSpPr>
        <p:spPr>
          <a:xfrm>
            <a:off x="10011058" y="4086372"/>
            <a:ext cx="1179576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 곳</a:t>
            </a:r>
            <a:endParaRPr lang="ko-KR" sz="2600" dirty="0"/>
          </a:p>
        </p:txBody>
      </p:sp>
      <p:sp>
        <p:nvSpPr>
          <p:cNvPr id="29" name="S06-chip10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0" name="S06-text105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 건너편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살면?</a:t>
            </a:r>
            <a:endParaRPr lang="ko-KR" sz="2600" dirty="0"/>
          </a:p>
        </p:txBody>
      </p:sp>
      <p:sp>
        <p:nvSpPr>
          <p:cNvPr id="31" name="S06-chip10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2" name="S06-text107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공사장 옆 학교에서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공부하면?</a:t>
            </a:r>
            <a:endParaRPr lang="ko-KR" sz="2600" dirty="0"/>
          </a:p>
        </p:txBody>
      </p:sp>
      <p:sp>
        <p:nvSpPr>
          <p:cNvPr id="33" name="S06-chip10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4" name="S06-text109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 옆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놀이터에서 놀면?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마을 한 바퀴</a:t>
            </a:r>
            <a:endParaRPr lang="ko-KR" sz="4400" dirty="0"/>
          </a:p>
        </p:txBody>
      </p:sp>
      <p:sp>
        <p:nvSpPr>
          <p:cNvPr id="3" name="S07-card110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111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어른 손을 잡고 인도로 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쓰레기는 손으로 만지지 않아요.</a:t>
            </a:r>
            <a:endParaRPr lang="ko-KR" sz="3200" dirty="0"/>
          </a:p>
        </p:txBody>
      </p:sp>
      <p:sp>
        <p:nvSpPr>
          <p:cNvPr id="5" name="S07-card112"/>
          <p:cNvSpPr/>
          <p:nvPr/>
        </p:nvSpPr>
        <p:spPr>
          <a:xfrm>
            <a:off x="6813652" y="1325880"/>
            <a:ext cx="4826660" cy="3342640"/>
          </a:xfrm>
          <a:prstGeom prst="roundRect">
            <a:avLst>
              <a:gd name="adj" fmla="val 328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113"/>
          <p:cNvSpPr txBox="1"/>
          <p:nvPr/>
        </p:nvSpPr>
        <p:spPr>
          <a:xfrm>
            <a:off x="7087972" y="1463040"/>
            <a:ext cx="4278020" cy="30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 가지를 적었어요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소리도 하나 적었어요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생활과 이어 두 번 말해요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어른 곁에서 걸었어요</a:t>
            </a:r>
            <a:endParaRPr lang="ko-KR" sz="3200" dirty="0"/>
          </a:p>
        </p:txBody>
      </p:sp>
      <p:sp>
        <p:nvSpPr>
          <p:cNvPr id="7" name="S07-stepno114"/>
          <p:cNvSpPr txBox="1"/>
          <p:nvPr/>
        </p:nvSpPr>
        <p:spPr>
          <a:xfrm>
            <a:off x="548640" y="16530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7-text115"/>
          <p:cNvSpPr txBox="1"/>
          <p:nvPr/>
        </p:nvSpPr>
        <p:spPr>
          <a:xfrm>
            <a:off x="1325880" y="16530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어른과 함께 걸어요.</a:t>
            </a:r>
            <a:endParaRPr lang="ko-KR" sz="3200" dirty="0"/>
          </a:p>
        </p:txBody>
      </p:sp>
      <p:sp>
        <p:nvSpPr>
          <p:cNvPr id="9" name="S07-stepno116"/>
          <p:cNvSpPr txBox="1"/>
          <p:nvPr/>
        </p:nvSpPr>
        <p:spPr>
          <a:xfrm>
            <a:off x="548640" y="23662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7-text117"/>
          <p:cNvSpPr txBox="1"/>
          <p:nvPr/>
        </p:nvSpPr>
        <p:spPr>
          <a:xfrm>
            <a:off x="1325880" y="23662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 들은 것을 적어요.</a:t>
            </a:r>
            <a:endParaRPr lang="ko-KR" sz="3200" dirty="0"/>
          </a:p>
        </p:txBody>
      </p:sp>
      <p:sp>
        <p:nvSpPr>
          <p:cNvPr id="11" name="S07-stepno118"/>
          <p:cNvSpPr txBox="1"/>
          <p:nvPr/>
        </p:nvSpPr>
        <p:spPr>
          <a:xfrm>
            <a:off x="548640" y="30794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7-text119"/>
          <p:cNvSpPr txBox="1"/>
          <p:nvPr/>
        </p:nvSpPr>
        <p:spPr>
          <a:xfrm>
            <a:off x="1325880" y="30794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좋으면 ○, 불편하면 △</a:t>
            </a:r>
            <a:endParaRPr lang="ko-KR" sz="3200" dirty="0"/>
          </a:p>
        </p:txBody>
      </p:sp>
      <p:sp>
        <p:nvSpPr>
          <p:cNvPr id="13" name="S07-stepno120"/>
          <p:cNvSpPr txBox="1"/>
          <p:nvPr/>
        </p:nvSpPr>
        <p:spPr>
          <a:xfrm>
            <a:off x="548640" y="37927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7-text121"/>
          <p:cNvSpPr txBox="1"/>
          <p:nvPr/>
        </p:nvSpPr>
        <p:spPr>
          <a:xfrm>
            <a:off x="1325880" y="37927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와서 이어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8-card12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8-cardtext12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환경은 우리 생활과 이어져 있어요.</a:t>
            </a:r>
            <a:endParaRPr lang="ko-KR" sz="3200" dirty="0"/>
          </a:p>
        </p:txBody>
      </p:sp>
      <p:sp>
        <p:nvSpPr>
          <p:cNvPr id="5" name="S08-chip124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눈·귀·몸으로 살피기</a:t>
            </a:r>
            <a:endParaRPr lang="ko-KR" sz="2600" dirty="0"/>
          </a:p>
        </p:txBody>
      </p:sp>
      <p:sp>
        <p:nvSpPr>
          <p:cNvPr id="6" name="S08-chip125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보기만 하고 지나치기</a:t>
            </a:r>
            <a:endParaRPr lang="ko-KR" sz="2600" dirty="0"/>
          </a:p>
        </p:txBody>
      </p:sp>
      <p:sp>
        <p:nvSpPr>
          <p:cNvPr id="7" name="S08-text126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8-text127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환경을 살피는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 두 가지</a:t>
            </a:r>
            <a:endParaRPr lang="ko-KR" sz="2600" dirty="0"/>
          </a:p>
        </p:txBody>
      </p:sp>
      <p:sp>
        <p:nvSpPr>
          <p:cNvPr id="9" name="S08-text128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나무 그늘이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주는 좋은 점</a:t>
            </a:r>
            <a:endParaRPr lang="ko-KR" sz="2600" dirty="0"/>
          </a:p>
        </p:txBody>
      </p:sp>
      <p:sp>
        <p:nvSpPr>
          <p:cNvPr id="10" name="S08-text129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우리 마을에서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것 하나</a:t>
            </a:r>
            <a:endParaRPr lang="ko-KR" sz="2600" dirty="0"/>
          </a:p>
        </p:txBody>
      </p:sp>
      <p:sp>
        <p:nvSpPr>
          <p:cNvPr id="11" name="S08-text13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쓰레기 줄이기와 분리배출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자세히 살펴보기</a:t>
            </a:r>
            <a:endParaRPr lang="ko-KR" sz="4400" dirty="0"/>
          </a:p>
        </p:txBody>
      </p:sp>
      <p:sp>
        <p:nvSpPr>
          <p:cNvPr id="3" name="S09-text1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창밖의 나무 하나를 봐요.</a:t>
            </a:r>
            <a:endParaRPr lang="ko-KR" sz="3200" dirty="0"/>
          </a:p>
        </p:txBody>
      </p:sp>
      <p:sp>
        <p:nvSpPr>
          <p:cNvPr id="4" name="S09-card1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1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가만히, 오래 보면 더 많이 보여요.</a:t>
            </a:r>
            <a:endParaRPr lang="ko-KR" sz="3200" dirty="0"/>
          </a:p>
        </p:txBody>
      </p:sp>
      <p:sp>
        <p:nvSpPr>
          <p:cNvPr id="6" name="S09-card134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135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색이에요?</a:t>
            </a:r>
            <a:endParaRPr lang="ko-KR" sz="3200" dirty="0"/>
          </a:p>
        </p:txBody>
      </p:sp>
      <p:sp>
        <p:nvSpPr>
          <p:cNvPr id="8" name="S09-card136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137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모양이에요?</a:t>
            </a:r>
            <a:endParaRPr lang="ko-KR" sz="3200" dirty="0"/>
          </a:p>
        </p:txBody>
      </p:sp>
      <p:sp>
        <p:nvSpPr>
          <p:cNvPr id="10" name="S09-card138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9-cardtext139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움직임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흔들려요?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환경·생태 학교와 마을의 환경</dc:title>
  <dc:subject>KR22-G02-ENV-AROUND-L01</dc:subject>
  <dc:creator>education-ppt</dc:creator>
  <cp:lastModifiedBy>education-ppt</cp:lastModifiedBy>
  <cp:revision>1</cp:revision>
  <dcterms:created xsi:type="dcterms:W3CDTF">2026-10-26T13:24:51Z</dcterms:created>
  <dcterms:modified xsi:type="dcterms:W3CDTF">2026-10-26T13:24:51Z</dcterms:modified>
</cp:coreProperties>
</file>