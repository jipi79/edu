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91786b3-fd51-43ce-156b-85691ccdb760}">
          <p14:sldIdLst>
            <p14:sldId id="256"/>
            <p14:sldId id="257"/>
          </p14:sldIdLst>
        </p14:section>
        <p14:section name="개념" id="{a48adc1c-905b-50ab-16f6-69398396079f}">
          <p14:sldIdLst>
            <p14:sldId id="258"/>
            <p14:sldId id="260"/>
          </p14:sldIdLst>
        </p14:section>
        <p14:section name="연습" id="{4f0db032-406f-ec9b-880b-8373133de170}">
          <p14:sldIdLst>
            <p14:sldId id="259"/>
            <p14:sldId id="261"/>
          </p14:sldIdLst>
        </p14:section>
        <p14:section name="개념" id="{fbc2ac66-66b9-15da-953e-2d4386d776f8}">
          <p14:sldIdLst/>
        </p14:section>
        <p14:section name="연습" id="{cb39d6f0-fa0e-8ade-5990-a93f7152b399}">
          <p14:sldIdLst/>
        </p14:section>
        <p14:section name="확인" id="{30df27b7-95e0-8a45-0ab0-a75f02a2b786}">
          <p14:sldIdLst>
            <p14:sldId id="262"/>
          </p14:sldIdLst>
        </p14:section>
        <p14:section name="정리" id="{f8fdf788-6f3e-5717-3aec-7f748f18c371}">
          <p14:sldIdLst>
            <p14:sldId id="263"/>
          </p14:sldIdLst>
        </p14:section>
        <p14:section name="보충" id="{d4f48b05-d59e-e9b4-3dbb-ccf86ae3d332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집과 학교 둘레(마을)의 환경을 살펴보고, 그것이 우리 생활과 어떻게 이어지는지 말해 본다고 알립니다.
시간: 약 2분
이렇게 말해 보세요
- “학교 가는 길에 무엇이 있었는지 떠올려 볼래? 나무, 가게, 큰길…?”
- “오늘은 우리 마을을 눈과 귀로 살펴보고, 그게 우리 생활과 어떻게 이어지는지 말해 볼 거야. 나중에 엄마(아빠)랑 같이 걸으면서 직접 찾아보자.”
예상 답
- “나무요.” / “편의점이요.” / “차가 많아요.” / “몰라요.”
주의
- 이 차시의 중심은 밖에서 걸으며 하는 관찰(S07)입니다. 날씨가 나쁘면 S06까지 하고, S07은 맑은 날에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확인(관찰하는 방법과 약속)]
목적: 1학년 ‘주변 생물 관찰과 보호’에서 배운 관찰하는 방법과 약속을 기억하는지 확인합니다. 오늘 마을을 살필 때 그대로 씁니다.
시간: 약 3분
이렇게 말해 보세요
- “관찰할 때는 무엇을 자세히 봤었지?”
- “개미나 꽃을 볼 때 지키기로 한 약속이 있었어. 하나만 말해 볼래?”
예상 답
- ① “색이요. 모양도요.”
- ② “꽃을 꺾지 않아요.” / “개미 길을 막지 않아요.”
정답
- ① 색, 모양, 움직임 가운데 두 가지
- ② 눈으로 가만히 보기, 잡거나 꺾지 않기, 그대로 두기 가운데 하나
막히면
- “개미를 봤을 때 무슨 색이었지? 어떻게 움직였지?” 하고 떠올리게 합니다.
- 둘 다 말하기 어려우면 S09(보충)를 먼저 하고 S03으로 이어 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환경의 뜻과 살피는 방법]
목적: ‘환경’은 우리 둘레에 있는 모든 것(나무, 길, 건물, 소리, 공기)이라는 것과, 눈·귀·몸으로 살피는 방법을 알려 줍니다(M1, M2).
시간: 약 4분
이렇게 말해 보세요
- “환경이라고 하면 산이나 바다만 생각나지? 사실 우리 집 앞 나무, 길, 건물, 들리는 소리도 다 환경이야.”
- “환경은 눈으로만 살피는 게 아니야. 귀로 듣고, 몸으로 느낄 수도 있어. 여름에 나무 아래에 서면 어때?”
- “살펴보면서 좋은 점과 불편한 점을 찾아보자.”
예상 답
- “나무 아래는 시원해요.” / “차 소리가 시끄러워요.” / “쓰레기 냄새가 나요.”
막히면
- 창밖을 함께 내다보며 보이는 것, 들리는 것을 하나씩 말해 봅니다.
주의
- ‘불편한 점’은 마을을 나쁘게 말하는 것이 아니라 더 좋아질 수 있는 곳을 찾는 것이라고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지어낸 마을 지도에서 찾기(도움 받아)]
목적: 지어낸 마을 지도에서 그늘·소리·냄새처럼 눈·귀·몸으로 살피는 것을 찾아봅니다. 밖에 나가기 전 연습입니다.
시간: 약 4분
이렇게 말해 보세요
- “하늘 마을 지도야. 무엇이 있는지 하나씩 짚어 볼까?”
- “①은 시원한 그늘이 있는 곳이야. 어디일까? 어떻게 알았어?”
- “②, ③도 찾아보자.”
정답
- ① 공원(나무가 많아 그늘이 있어요)
- ② 공사장, 큰길(기계 소리, 차 소리)
- ③ 쓰레기 쌓인 곳
막히면
- “나무 아래에 서 본 적 있어? 어땠어?”처럼 아이의 경험에 빗대어 묻습니다.
- ②에서 공사장만 찾으면 “큰길에는 무엇이 다니지?” 하고 한 번 더 묻습니다.
주의
- 지도는 지어낸 마을입니다. 방향(동서남북)이나 지도 기호는 3학년 사회에서 배우므로 여기서는 다루지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환경과 생활의 관계]
목적: 환경이 우리 생활에 주는 좋은 점과 불편한 점을 보여 주고, “○○가 있어서 ~해요.”로 이어 말하는 방법을 알려 줍니다(M3).
시간: 약 4분
이렇게 말해 보세요
- “나무 그늘이 있으면 우리는 어떻게 할 수 있을까? ‘나무 그늘이 있어서 시원하게 쉬어요.’ 이렇게 말할 수 있어.”
- “쓰레기가 쌓여 있으면? 차 소리가 크면?”
- “시끄러운 소리를 ‘소음’이라고도 해. 소음이 크면 잠을 자거나 책을 읽기 힘들어.”
예상 답
- “공원이 있어서 자전거를 탈 수 있어요.” / “쓰레기가 있어서 냄새가 나요.”
막히면
- 엄마(아빠)가 앞부분 “나무 그늘이 있어서…”를 말하고 아이가 뒷부분을 잇게 합니다.
주의
- 환경을 겁주듯 말하지 않습니다. 좋은 점도 함께 찾게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지도 속 사람의 생활과 이어 말하기]
목적: 지도 속 장소의 환경이 그곳 사람의 생활에 어떤 영향을 주는지 까닭을 넣어 말해 봅니다(M3).
시간: 약 4분
이렇게 말해 보세요
- “①은 공원 건너편 집에 사는 아이야. 그 아이는 어떨까? ‘○○가 있어서 ~해요.’로 말해 볼래?”
- “②는 공사장 옆 학교에서 공부하는 친구야. 어떨까?”
- “③은 쓰레기 옆 놀이터야. 거기서 놀면 어떨까?”
예상 답
- ① “공원이 가까워서 놀러 가기 좋아요.” / “나무가 많아서 공기가 상쾌해요.”
- ② “공사장 소리가 시끄러워서 선생님 말씀이 잘 안 들려요.”
- ③ “냄새가 나서 놀기 싫어요.” / “깨진 것에 다칠 수 있어요.”
정답
- 정해진 답은 없습니다. 환경(공원, 공사장 소리, 쓰레기)과 생활(놀기, 공부, 건강)을 까닭으로 이어 말하면 맞습니다.
막히면
- “네가 그 아이라면 어떨 것 같아?” 하고 묻습니다.
주의
- ①에서 큰길을 건너야 공원에 갈 수 있다는 것을 아이가 찾으면 칭찬하고, 횡단보도에서 신호를 지키는 이야기로 S07의 안전 약속과 이어 줍니다.
- 여기서 나눠도 됩니다. S07은 맑은 날 20분쯤 시간을 내어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마을을 걸으며 살피고 생활과 이어 말하기]
목적: 부모와 함께 실제 마을(집·학교 둘레)을 10분쯤 걸으며 환경을 살피고 기록하는지(A), 집에 와서 생활과 이어 말하는지(B) 확인합니다. 걷기 10분, 집에 와서 이야기 6분쯤 잡습니다.
시간: 약 16분
이렇게 말해 보세요
- “오늘은 우리가 마을 탐험가야. 활동지 1의 기록표를 들고 가자.”
- “여기서 잠깐 멈춰서 눈을 감고 들어 볼까? 무슨 소리가 들려?”
- “이건 좋은 점이야, 불편한 점이야? ○, △ 중에 무엇을 그릴래?”
- (집에 와서) “기록표에 적은 것 가운데 두 가지를 ‘○○가 있어서 ~해요.’로 말해 줄래?”
예상 답
- “놀이터 옆에 나무가 있어서 그늘에서 쉴 수 있어요.” (○)
- “버스 소리가 커서 엄마 말이 잘 안 들렸어요.” (△)
- “길에 과자 봉지가 있어서 지저분해요.” (△)
정답
- 관찰 기준 네 가지를 지키면 목표 A·B 확인 완료입니다. 글씨가 서툴면 낱말이나 그림으로 적거나 부모가 받아 적어도 됩니다.
- 생활과 이어 말한 것이 한 가지뿐이면 기록표에 ‘한 가지’로 적고, 다음 수업 첫머리에 한 번 더 해 봅니다.
막히면
- 적을 것을 찾지 못하면 “위를 봐(나무, 하늘), 아래를 봐(길, 쓰레기), 귀를 기울여 봐(소리)” 하고 눈길을 이끌어 줍니다.
- 생활과 잇기 어려우면 S05 카드를 다시 보여 줍니다.
주의
- 길을 건널 때는 횡단보도에서 초록불을 보고, 차가 멈췄는지 확인한 뒤 건넙니다. 골목이나 주차장 입구에서는 멈춰서 살핍니다.
- 공사장 가까이 가지 않고, 쓰레기·깨진 병은 만지지 않습니다. 적을 때는 걸음을 멈추고 적습니다.
- 밖에 나가기 어려우면 창밖이나 베란다에서 보이는 것과 들리는 것으로 대신합니다. 관찰한 것을 기록표(S07 줄)에 바로 표시해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정리와 다음 학습]
목적: 환경과 생활이 이어져 있다는 것을 한 문장으로 정리하고, 다음 수업 첫 5분에 할 복습을 알려 줍니다.
시간: 약 3분
이렇게 말해 보세요
- “오늘 마을에서 무엇을 찾았어? 그게 우리 생활과 어떻게 이어져 있었지?”
예상 답
- “공원 나무가 있어서 시원하게 쉴 수 있어요. 차 소리는 시끄러웠어요.”
정답
- ① 눈으로 보기, 귀로 듣기, 몸으로 느끼기 가운데 두 가지 ② 예: 시원하게 쉴 수 있어요 ③ 기록표를 보며 하나를 생활과 이어 말하면 맞음
주의
- 다음 차시는 ‘쓰레기 줄이기와 분리배출’입니다. 오늘 기록표에 쓰레기가 나왔다면 다음 수업 첫머리에 그 이야기로 시작하면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보충(자세히 관찰하기)]
목적: S02에서 관찰하는 방법이나 약속을 떠올리지 못하면, 창밖의 나무나 새 하나를 골라 색·모양·움직임을 함께 말해 봅니다.
시간: 약 5분
이렇게 말해 보세요
- “창밖에 나무가 보이지? 무슨 색이야? 한 가지 색만 있어?”
- “모양은 어때? 바람이 불면 어떻게 움직여?”
- “생물을 볼 때는 눈으로 가만히 보고, 꺾지 않고 그대로 두기로 했었지.”
정답
- 색, 모양, 움직임 가운데 두 가지를 실제로 본 대로 말하면 맞습니다. 약속은 ‘눈으로 가만히 보기, 꺾지 않기, 그대로 두기’ 가운데 하나를 말하면 됩니다.
막히면
- 엄마(아빠)가 먼저 하나를 말해 줍니다. “엄마는 잎 끝이 노랗게 보여.”
- 이 차시의 선수 차시는 1학년 ‘주변 생물 관찰과 보호’입니다. 보충으로도 어렵다면 그 차시를 먼저 합니다.
주의
- 보충이 오래 걸리면 오늘은 여기까지 하고,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환경·생태 · 생활과환경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환경·생태 · 학교와 마을의 환경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환경·생태 · 학교와 마을의 환경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환경·생태 · 학교와 마을의 환경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학교와 마을의 환경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마을에는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있을까?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마을을 걸으며 보고 들어요.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우리 생활과 이어서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관찰, 기억나요?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지난번에 배운 것을 말해요.</a:t>
            </a:r>
            <a:endParaRPr lang="ko-KR" sz="32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화분이나 개미를 봤던 때를 떠올려요.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무엇을 보나요?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생물을 지키는 약속 하나는?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환경을 살펴봐요</a:t>
            </a:r>
            <a:endParaRPr lang="ko-KR" sz="44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둘레의 모든 것이 환경이에요.</a:t>
            </a:r>
            <a:endParaRPr lang="ko-KR" sz="32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점과 불편한 점을 찾아요.</a:t>
            </a:r>
            <a:endParaRPr lang="ko-KR" sz="3200" dirty="0"/>
          </a:p>
        </p:txBody>
      </p:sp>
      <p:sp>
        <p:nvSpPr>
          <p:cNvPr id="6" name="S03-card13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눈으로 봐요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나무, 길,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건물, 쓰레기</a:t>
            </a:r>
            <a:endParaRPr lang="ko-KR" sz="3200" dirty="0"/>
          </a:p>
        </p:txBody>
      </p:sp>
      <p:sp>
        <p:nvSpPr>
          <p:cNvPr id="8" name="S03-card15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귀로 들어요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새소리,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 소리</a:t>
            </a:r>
            <a:endParaRPr lang="ko-KR" sz="3200" dirty="0"/>
          </a:p>
        </p:txBody>
      </p:sp>
      <p:sp>
        <p:nvSpPr>
          <p:cNvPr id="10" name="S03-card17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3-cardtext18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몸으로 느껴요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그늘, 바람,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냄새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 마을 지도</a:t>
            </a:r>
            <a:endParaRPr lang="ko-KR" sz="4400" dirty="0"/>
          </a:p>
        </p:txBody>
      </p:sp>
      <p:sp>
        <p:nvSpPr>
          <p:cNvPr id="3" name="S04-text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지도에서 찾아 짚어요.</a:t>
            </a:r>
            <a:endParaRPr lang="ko-KR" sz="3200" dirty="0"/>
          </a:p>
        </p:txBody>
      </p:sp>
      <p:sp>
        <p:nvSpPr>
          <p:cNvPr id="4" name="S04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말해요.</a:t>
            </a:r>
            <a:endParaRPr lang="ko-KR" sz="3200" dirty="0"/>
          </a:p>
        </p:txBody>
      </p:sp>
      <p:sp>
        <p:nvSpPr>
          <p:cNvPr id="6" name="S04-figure22" descr="지어낸 하늘 마을 지도. 위쪽에 나무 네 그루가 있는 공원, 학교, 공사장이 있고, 가운데로 횡단보도가 있는 큰길이 지나며, 아래쪽에 집, 놀이터, 쓰레기 쌓인 곳이 있다."/>
          <p:cNvSpPr/>
          <p:nvPr/>
        </p:nvSpPr>
        <p:spPr>
          <a:xfrm>
            <a:off x="6607771" y="2110740"/>
            <a:ext cx="1418102" cy="1119554"/>
          </a:xfrm>
          <a:custGeom>
            <a:avLst/>
            <a:gdLst/>
            <a:ahLst/>
            <a:cxnLst/>
            <a:rect l="l" t="t" r="r" b="b"/>
            <a:pathLst>
              <a:path w="1418102" h="1119554">
                <a:moveTo>
                  <a:pt x="0" y="1119554"/>
                </a:moveTo>
                <a:lnTo>
                  <a:pt x="1418102" y="1119554"/>
                </a:lnTo>
                <a:lnTo>
                  <a:pt x="1418102" y="0"/>
                </a:lnTo>
                <a:lnTo>
                  <a:pt x="0" y="0"/>
                </a:lnTo>
                <a:close/>
              </a:path>
            </a:pathLst>
          </a:custGeom>
          <a:solidFill>
            <a:srgbClr val="D8F0DE"/>
          </a:solidFill>
          <a:ln w="28575">
            <a:solidFill>
              <a:srgbClr val="7FB89A"/>
            </a:solidFill>
            <a:prstDash val="solid"/>
          </a:ln>
        </p:spPr>
      </p:sp>
      <p:sp>
        <p:nvSpPr>
          <p:cNvPr id="7" name="S04-mark23"/>
          <p:cNvSpPr/>
          <p:nvPr/>
        </p:nvSpPr>
        <p:spPr>
          <a:xfrm>
            <a:off x="8249783" y="2110740"/>
            <a:ext cx="1418102" cy="1119554"/>
          </a:xfrm>
          <a:custGeom>
            <a:avLst/>
            <a:gdLst/>
            <a:ahLst/>
            <a:cxnLst/>
            <a:rect l="l" t="t" r="r" b="b"/>
            <a:pathLst>
              <a:path w="1418102" h="1119554">
                <a:moveTo>
                  <a:pt x="0" y="1119554"/>
                </a:moveTo>
                <a:lnTo>
                  <a:pt x="1418102" y="1119554"/>
                </a:lnTo>
                <a:lnTo>
                  <a:pt x="141810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C98A5B"/>
            </a:solidFill>
            <a:prstDash val="solid"/>
          </a:ln>
        </p:spPr>
      </p:sp>
      <p:sp>
        <p:nvSpPr>
          <p:cNvPr id="8" name="S04-mark24"/>
          <p:cNvSpPr/>
          <p:nvPr/>
        </p:nvSpPr>
        <p:spPr>
          <a:xfrm>
            <a:off x="9891796" y="2110740"/>
            <a:ext cx="1418102" cy="1119554"/>
          </a:xfrm>
          <a:custGeom>
            <a:avLst/>
            <a:gdLst/>
            <a:ahLst/>
            <a:cxnLst/>
            <a:rect l="l" t="t" r="r" b="b"/>
            <a:pathLst>
              <a:path w="1418102" h="1119554">
                <a:moveTo>
                  <a:pt x="0" y="1119554"/>
                </a:moveTo>
                <a:lnTo>
                  <a:pt x="1418102" y="1119554"/>
                </a:lnTo>
                <a:lnTo>
                  <a:pt x="1418102" y="0"/>
                </a:lnTo>
                <a:lnTo>
                  <a:pt x="0" y="0"/>
                </a:lnTo>
                <a:close/>
              </a:path>
            </a:pathLst>
          </a:custGeom>
          <a:solidFill>
            <a:srgbClr val="F7E3A1"/>
          </a:solidFill>
          <a:ln w="28575">
            <a:solidFill>
              <a:srgbClr val="B8962E"/>
            </a:solidFill>
            <a:prstDash val="dash"/>
          </a:ln>
        </p:spPr>
      </p:sp>
      <p:sp>
        <p:nvSpPr>
          <p:cNvPr id="9" name="S04-mark25"/>
          <p:cNvSpPr/>
          <p:nvPr/>
        </p:nvSpPr>
        <p:spPr>
          <a:xfrm>
            <a:off x="6533134" y="3379568"/>
            <a:ext cx="4851400" cy="447822"/>
          </a:xfrm>
          <a:custGeom>
            <a:avLst/>
            <a:gdLst/>
            <a:ahLst/>
            <a:cxnLst/>
            <a:rect l="l" t="t" r="r" b="b"/>
            <a:pathLst>
              <a:path w="4851400" h="447822">
                <a:moveTo>
                  <a:pt x="0" y="447822"/>
                </a:moveTo>
                <a:lnTo>
                  <a:pt x="4851400" y="447822"/>
                </a:lnTo>
                <a:lnTo>
                  <a:pt x="4851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AE1"/>
          </a:solidFill>
          <a:ln/>
        </p:spPr>
      </p:sp>
      <p:sp>
        <p:nvSpPr>
          <p:cNvPr id="10" name="S04-mark26"/>
          <p:cNvSpPr/>
          <p:nvPr/>
        </p:nvSpPr>
        <p:spPr>
          <a:xfrm>
            <a:off x="8734923" y="3726629"/>
            <a:ext cx="447822" cy="55978"/>
          </a:xfrm>
          <a:custGeom>
            <a:avLst/>
            <a:gdLst/>
            <a:ahLst/>
            <a:cxnLst/>
            <a:rect l="l" t="t" r="r" b="b"/>
            <a:pathLst>
              <a:path w="447822" h="55978">
                <a:moveTo>
                  <a:pt x="0" y="55978"/>
                </a:moveTo>
                <a:lnTo>
                  <a:pt x="447822" y="55978"/>
                </a:lnTo>
                <a:lnTo>
                  <a:pt x="44782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04-mark27"/>
          <p:cNvSpPr/>
          <p:nvPr/>
        </p:nvSpPr>
        <p:spPr>
          <a:xfrm>
            <a:off x="8734923" y="3614674"/>
            <a:ext cx="447822" cy="55978"/>
          </a:xfrm>
          <a:custGeom>
            <a:avLst/>
            <a:gdLst/>
            <a:ahLst/>
            <a:cxnLst/>
            <a:rect l="l" t="t" r="r" b="b"/>
            <a:pathLst>
              <a:path w="447822" h="55978">
                <a:moveTo>
                  <a:pt x="0" y="55978"/>
                </a:moveTo>
                <a:lnTo>
                  <a:pt x="447822" y="55978"/>
                </a:lnTo>
                <a:lnTo>
                  <a:pt x="44782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S04-mark28"/>
          <p:cNvSpPr/>
          <p:nvPr/>
        </p:nvSpPr>
        <p:spPr>
          <a:xfrm>
            <a:off x="8734923" y="3502719"/>
            <a:ext cx="447822" cy="55978"/>
          </a:xfrm>
          <a:custGeom>
            <a:avLst/>
            <a:gdLst/>
            <a:ahLst/>
            <a:cxnLst/>
            <a:rect l="l" t="t" r="r" b="b"/>
            <a:pathLst>
              <a:path w="447822" h="55978">
                <a:moveTo>
                  <a:pt x="0" y="55978"/>
                </a:moveTo>
                <a:lnTo>
                  <a:pt x="447822" y="55978"/>
                </a:lnTo>
                <a:lnTo>
                  <a:pt x="44782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S04-mark29"/>
          <p:cNvSpPr/>
          <p:nvPr/>
        </p:nvSpPr>
        <p:spPr>
          <a:xfrm>
            <a:off x="8734923" y="3390763"/>
            <a:ext cx="447822" cy="55978"/>
          </a:xfrm>
          <a:custGeom>
            <a:avLst/>
            <a:gdLst/>
            <a:ahLst/>
            <a:cxnLst/>
            <a:rect l="l" t="t" r="r" b="b"/>
            <a:pathLst>
              <a:path w="447822" h="55978">
                <a:moveTo>
                  <a:pt x="0" y="55978"/>
                </a:moveTo>
                <a:lnTo>
                  <a:pt x="447822" y="55978"/>
                </a:lnTo>
                <a:lnTo>
                  <a:pt x="44782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S04-mark30"/>
          <p:cNvSpPr/>
          <p:nvPr/>
        </p:nvSpPr>
        <p:spPr>
          <a:xfrm>
            <a:off x="6757045" y="4051300"/>
            <a:ext cx="1119554" cy="970280"/>
          </a:xfrm>
          <a:custGeom>
            <a:avLst/>
            <a:gdLst/>
            <a:ahLst/>
            <a:cxnLst/>
            <a:rect l="l" t="t" r="r" b="b"/>
            <a:pathLst>
              <a:path w="1119554" h="970280">
                <a:moveTo>
                  <a:pt x="0" y="970280"/>
                </a:moveTo>
                <a:lnTo>
                  <a:pt x="1119554" y="970280"/>
                </a:lnTo>
                <a:lnTo>
                  <a:pt x="1119554" y="373185"/>
                </a:lnTo>
                <a:lnTo>
                  <a:pt x="559777" y="0"/>
                </a:lnTo>
                <a:lnTo>
                  <a:pt x="0" y="373185"/>
                </a:lnTo>
                <a:close/>
              </a:path>
            </a:pathLst>
          </a:custGeom>
          <a:solidFill>
            <a:srgbClr val="D6E4F0"/>
          </a:solidFill>
          <a:ln w="28575">
            <a:solidFill>
              <a:srgbClr val="3D5A80"/>
            </a:solidFill>
            <a:prstDash val="solid"/>
          </a:ln>
        </p:spPr>
      </p:sp>
      <p:sp>
        <p:nvSpPr>
          <p:cNvPr id="15" name="S04-mark31"/>
          <p:cNvSpPr/>
          <p:nvPr/>
        </p:nvSpPr>
        <p:spPr>
          <a:xfrm>
            <a:off x="8249783" y="3976663"/>
            <a:ext cx="1418102" cy="1044917"/>
          </a:xfrm>
          <a:custGeom>
            <a:avLst/>
            <a:gdLst/>
            <a:ahLst/>
            <a:cxnLst/>
            <a:rect l="l" t="t" r="r" b="b"/>
            <a:pathLst>
              <a:path w="1418102" h="1044917">
                <a:moveTo>
                  <a:pt x="0" y="1044917"/>
                </a:moveTo>
                <a:lnTo>
                  <a:pt x="1418102" y="1044917"/>
                </a:lnTo>
                <a:lnTo>
                  <a:pt x="1418102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4F7"/>
          </a:solidFill>
          <a:ln w="28575">
            <a:solidFill>
              <a:srgbClr val="8A6FB0"/>
            </a:solidFill>
            <a:prstDash val="solid"/>
          </a:ln>
        </p:spPr>
      </p:sp>
      <p:sp>
        <p:nvSpPr>
          <p:cNvPr id="16" name="S04-mark32"/>
          <p:cNvSpPr/>
          <p:nvPr/>
        </p:nvSpPr>
        <p:spPr>
          <a:xfrm>
            <a:off x="9891796" y="3976663"/>
            <a:ext cx="1418102" cy="1044917"/>
          </a:xfrm>
          <a:custGeom>
            <a:avLst/>
            <a:gdLst/>
            <a:ahLst/>
            <a:cxnLst/>
            <a:rect l="l" t="t" r="r" b="b"/>
            <a:pathLst>
              <a:path w="1418102" h="1044917">
                <a:moveTo>
                  <a:pt x="0" y="1044917"/>
                </a:moveTo>
                <a:lnTo>
                  <a:pt x="1418102" y="1044917"/>
                </a:lnTo>
                <a:lnTo>
                  <a:pt x="1418102" y="0"/>
                </a:lnTo>
                <a:lnTo>
                  <a:pt x="0" y="0"/>
                </a:lnTo>
                <a:close/>
              </a:path>
            </a:pathLst>
          </a:custGeom>
          <a:solidFill>
            <a:srgbClr val="E8DCCB"/>
          </a:solidFill>
          <a:ln w="28575">
            <a:solidFill>
              <a:srgbClr val="8C6D46"/>
            </a:solidFill>
            <a:prstDash val="solid"/>
          </a:ln>
        </p:spPr>
      </p:sp>
      <p:sp>
        <p:nvSpPr>
          <p:cNvPr id="17" name="S04-mark33"/>
          <p:cNvSpPr/>
          <p:nvPr/>
        </p:nvSpPr>
        <p:spPr>
          <a:xfrm>
            <a:off x="6682408" y="2222695"/>
            <a:ext cx="373185" cy="373185"/>
          </a:xfrm>
          <a:prstGeom prst="ellipse">
            <a:avLst/>
          </a:prstGeom>
          <a:solidFill>
            <a:srgbClr val="2A9D8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4-mark34"/>
          <p:cNvSpPr/>
          <p:nvPr/>
        </p:nvSpPr>
        <p:spPr>
          <a:xfrm>
            <a:off x="7092911" y="2185377"/>
            <a:ext cx="373185" cy="373185"/>
          </a:xfrm>
          <a:prstGeom prst="ellipse">
            <a:avLst/>
          </a:prstGeom>
          <a:solidFill>
            <a:srgbClr val="2A9D8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4-mark35"/>
          <p:cNvSpPr/>
          <p:nvPr/>
        </p:nvSpPr>
        <p:spPr>
          <a:xfrm>
            <a:off x="7503414" y="2222695"/>
            <a:ext cx="373185" cy="373185"/>
          </a:xfrm>
          <a:prstGeom prst="ellipse">
            <a:avLst/>
          </a:prstGeom>
          <a:solidFill>
            <a:srgbClr val="2A9D8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4-mark36"/>
          <p:cNvSpPr/>
          <p:nvPr/>
        </p:nvSpPr>
        <p:spPr>
          <a:xfrm>
            <a:off x="6719726" y="2670517"/>
            <a:ext cx="373185" cy="373185"/>
          </a:xfrm>
          <a:prstGeom prst="ellipse">
            <a:avLst/>
          </a:prstGeom>
          <a:solidFill>
            <a:srgbClr val="2A9D8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4-label38"/>
          <p:cNvSpPr txBox="1"/>
          <p:nvPr/>
        </p:nvSpPr>
        <p:spPr>
          <a:xfrm>
            <a:off x="7199591" y="2762690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</a:t>
            </a:r>
            <a:endParaRPr lang="ko-KR" sz="2600" dirty="0"/>
          </a:p>
        </p:txBody>
      </p:sp>
      <p:sp>
        <p:nvSpPr>
          <p:cNvPr id="22" name="S04-label40"/>
          <p:cNvSpPr txBox="1"/>
          <p:nvPr/>
        </p:nvSpPr>
        <p:spPr>
          <a:xfrm>
            <a:off x="8580374" y="2464142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</a:t>
            </a:r>
            <a:endParaRPr lang="ko-KR" sz="2600" dirty="0"/>
          </a:p>
        </p:txBody>
      </p:sp>
      <p:sp>
        <p:nvSpPr>
          <p:cNvPr id="23" name="S04-label42"/>
          <p:cNvSpPr txBox="1"/>
          <p:nvPr/>
        </p:nvSpPr>
        <p:spPr>
          <a:xfrm>
            <a:off x="10060588" y="2464142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공사장</a:t>
            </a:r>
            <a:endParaRPr lang="ko-KR" sz="2600" dirty="0"/>
          </a:p>
        </p:txBody>
      </p:sp>
      <p:sp>
        <p:nvSpPr>
          <p:cNvPr id="24" name="S04-label44"/>
          <p:cNvSpPr txBox="1"/>
          <p:nvPr/>
        </p:nvSpPr>
        <p:spPr>
          <a:xfrm>
            <a:off x="7112547" y="3436791"/>
            <a:ext cx="63246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큰길</a:t>
            </a:r>
            <a:endParaRPr lang="ko-KR" sz="2100" dirty="0"/>
          </a:p>
        </p:txBody>
      </p:sp>
      <p:sp>
        <p:nvSpPr>
          <p:cNvPr id="25" name="S04-label46"/>
          <p:cNvSpPr txBox="1"/>
          <p:nvPr/>
        </p:nvSpPr>
        <p:spPr>
          <a:xfrm>
            <a:off x="10098024" y="3436791"/>
            <a:ext cx="63246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큰길</a:t>
            </a:r>
            <a:endParaRPr lang="ko-KR" sz="2100" dirty="0"/>
          </a:p>
        </p:txBody>
      </p:sp>
      <p:sp>
        <p:nvSpPr>
          <p:cNvPr id="26" name="S04-label48"/>
          <p:cNvSpPr txBox="1"/>
          <p:nvPr/>
        </p:nvSpPr>
        <p:spPr>
          <a:xfrm>
            <a:off x="7100160" y="4516657"/>
            <a:ext cx="433324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</a:t>
            </a:r>
            <a:endParaRPr lang="ko-KR" sz="2600" dirty="0"/>
          </a:p>
        </p:txBody>
      </p:sp>
      <p:sp>
        <p:nvSpPr>
          <p:cNvPr id="27" name="S04-label50"/>
          <p:cNvSpPr txBox="1"/>
          <p:nvPr/>
        </p:nvSpPr>
        <p:spPr>
          <a:xfrm>
            <a:off x="8418576" y="4292747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</a:t>
            </a:r>
            <a:endParaRPr lang="ko-KR" sz="2600" dirty="0"/>
          </a:p>
        </p:txBody>
      </p:sp>
      <p:sp>
        <p:nvSpPr>
          <p:cNvPr id="28" name="S04-label52"/>
          <p:cNvSpPr txBox="1"/>
          <p:nvPr/>
        </p:nvSpPr>
        <p:spPr>
          <a:xfrm>
            <a:off x="10011058" y="4086372"/>
            <a:ext cx="117957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쌓인 곳</a:t>
            </a:r>
            <a:endParaRPr lang="ko-KR" sz="2600" dirty="0"/>
          </a:p>
        </p:txBody>
      </p:sp>
      <p:sp>
        <p:nvSpPr>
          <p:cNvPr id="29" name="S04-chip5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30" name="S04-text54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시원한 그늘이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 곳은?</a:t>
            </a:r>
            <a:endParaRPr lang="ko-KR" sz="2600" dirty="0"/>
          </a:p>
        </p:txBody>
      </p:sp>
      <p:sp>
        <p:nvSpPr>
          <p:cNvPr id="31" name="S04-chip5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32" name="S04-text56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시끄러운 소리가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곳은?</a:t>
            </a:r>
            <a:endParaRPr lang="ko-KR" sz="2600" dirty="0"/>
          </a:p>
        </p:txBody>
      </p:sp>
      <p:sp>
        <p:nvSpPr>
          <p:cNvPr id="33" name="S04-chip5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34" name="S04-text58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냄새가 날 것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곳은?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환경과 우리 생활</a:t>
            </a:r>
            <a:endParaRPr lang="ko-KR" sz="4400" dirty="0"/>
          </a:p>
        </p:txBody>
      </p:sp>
      <p:sp>
        <p:nvSpPr>
          <p:cNvPr id="3" name="S05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환경은 생활과 이어져 있어요.</a:t>
            </a:r>
            <a:endParaRPr lang="ko-KR" sz="3200" dirty="0"/>
          </a:p>
        </p:txBody>
      </p:sp>
      <p:sp>
        <p:nvSpPr>
          <p:cNvPr id="4" name="S05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“○○가 있어서 ~해요.”로 말해요.</a:t>
            </a:r>
            <a:endParaRPr lang="ko-KR" sz="3200" dirty="0"/>
          </a:p>
        </p:txBody>
      </p:sp>
      <p:sp>
        <p:nvSpPr>
          <p:cNvPr id="6" name="S05-card62"/>
          <p:cNvSpPr/>
          <p:nvPr/>
        </p:nvSpPr>
        <p:spPr>
          <a:xfrm>
            <a:off x="548640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63"/>
          <p:cNvSpPr txBox="1"/>
          <p:nvPr/>
        </p:nvSpPr>
        <p:spPr>
          <a:xfrm>
            <a:off x="822960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 그늘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시원하게 쉬어요</a:t>
            </a:r>
            <a:endParaRPr lang="ko-KR" sz="3200" dirty="0"/>
          </a:p>
        </p:txBody>
      </p:sp>
      <p:sp>
        <p:nvSpPr>
          <p:cNvPr id="8" name="S05-card64"/>
          <p:cNvSpPr/>
          <p:nvPr/>
        </p:nvSpPr>
        <p:spPr>
          <a:xfrm>
            <a:off x="6208776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65"/>
          <p:cNvSpPr txBox="1"/>
          <p:nvPr/>
        </p:nvSpPr>
        <p:spPr>
          <a:xfrm>
            <a:off x="6483096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뛰어놀고 산책해요</a:t>
            </a:r>
            <a:endParaRPr lang="ko-KR" sz="3200" dirty="0"/>
          </a:p>
        </p:txBody>
      </p:sp>
      <p:sp>
        <p:nvSpPr>
          <p:cNvPr id="10" name="S05-card66"/>
          <p:cNvSpPr/>
          <p:nvPr/>
        </p:nvSpPr>
        <p:spPr>
          <a:xfrm>
            <a:off x="548640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5-cardtext67"/>
          <p:cNvSpPr txBox="1"/>
          <p:nvPr/>
        </p:nvSpPr>
        <p:spPr>
          <a:xfrm>
            <a:off x="822960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냄새나고 다칠 수 있어요</a:t>
            </a:r>
            <a:endParaRPr lang="ko-KR" sz="3200" dirty="0"/>
          </a:p>
        </p:txBody>
      </p:sp>
      <p:sp>
        <p:nvSpPr>
          <p:cNvPr id="12" name="S05-card68"/>
          <p:cNvSpPr/>
          <p:nvPr/>
        </p:nvSpPr>
        <p:spPr>
          <a:xfrm>
            <a:off x="6208776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3" name="S05-cardtext69"/>
          <p:cNvSpPr txBox="1"/>
          <p:nvPr/>
        </p:nvSpPr>
        <p:spPr>
          <a:xfrm>
            <a:off x="6483096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시끄러운 소리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잠자기 힘들어요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 마을 사람들</a:t>
            </a:r>
            <a:endParaRPr lang="ko-KR" sz="4400" dirty="0"/>
          </a:p>
        </p:txBody>
      </p:sp>
      <p:sp>
        <p:nvSpPr>
          <p:cNvPr id="3" name="S06-text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속 사람들은 어떨까요?</a:t>
            </a:r>
            <a:endParaRPr lang="ko-KR" sz="3200" dirty="0"/>
          </a:p>
        </p:txBody>
      </p:sp>
      <p:sp>
        <p:nvSpPr>
          <p:cNvPr id="4" name="S06-card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“○○가 있어서 ~해요.”</a:t>
            </a:r>
            <a:endParaRPr lang="ko-KR" sz="3200" dirty="0"/>
          </a:p>
        </p:txBody>
      </p:sp>
      <p:sp>
        <p:nvSpPr>
          <p:cNvPr id="6" name="S06-figure73" descr="지어낸 하늘 마을 지도. 위쪽에 나무 네 그루가 있는 공원, 학교, 공사장이 있고, 가운데로 횡단보도가 있는 큰길이 지나며, 아래쪽에 집, 놀이터, 쓰레기 쌓인 곳이 있다."/>
          <p:cNvSpPr/>
          <p:nvPr/>
        </p:nvSpPr>
        <p:spPr>
          <a:xfrm>
            <a:off x="6607771" y="2110740"/>
            <a:ext cx="1418102" cy="1119554"/>
          </a:xfrm>
          <a:custGeom>
            <a:avLst/>
            <a:gdLst/>
            <a:ahLst/>
            <a:cxnLst/>
            <a:rect l="l" t="t" r="r" b="b"/>
            <a:pathLst>
              <a:path w="1418102" h="1119554">
                <a:moveTo>
                  <a:pt x="0" y="1119554"/>
                </a:moveTo>
                <a:lnTo>
                  <a:pt x="1418102" y="1119554"/>
                </a:lnTo>
                <a:lnTo>
                  <a:pt x="1418102" y="0"/>
                </a:lnTo>
                <a:lnTo>
                  <a:pt x="0" y="0"/>
                </a:lnTo>
                <a:close/>
              </a:path>
            </a:pathLst>
          </a:custGeom>
          <a:solidFill>
            <a:srgbClr val="D8F0DE"/>
          </a:solidFill>
          <a:ln w="28575">
            <a:solidFill>
              <a:srgbClr val="7FB89A"/>
            </a:solidFill>
            <a:prstDash val="solid"/>
          </a:ln>
        </p:spPr>
      </p:sp>
      <p:sp>
        <p:nvSpPr>
          <p:cNvPr id="7" name="S06-mark74"/>
          <p:cNvSpPr/>
          <p:nvPr/>
        </p:nvSpPr>
        <p:spPr>
          <a:xfrm>
            <a:off x="8249783" y="2110740"/>
            <a:ext cx="1418102" cy="1119554"/>
          </a:xfrm>
          <a:custGeom>
            <a:avLst/>
            <a:gdLst/>
            <a:ahLst/>
            <a:cxnLst/>
            <a:rect l="l" t="t" r="r" b="b"/>
            <a:pathLst>
              <a:path w="1418102" h="1119554">
                <a:moveTo>
                  <a:pt x="0" y="1119554"/>
                </a:moveTo>
                <a:lnTo>
                  <a:pt x="1418102" y="1119554"/>
                </a:lnTo>
                <a:lnTo>
                  <a:pt x="141810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C98A5B"/>
            </a:solidFill>
            <a:prstDash val="solid"/>
          </a:ln>
        </p:spPr>
      </p:sp>
      <p:sp>
        <p:nvSpPr>
          <p:cNvPr id="8" name="S06-mark75"/>
          <p:cNvSpPr/>
          <p:nvPr/>
        </p:nvSpPr>
        <p:spPr>
          <a:xfrm>
            <a:off x="9891796" y="2110740"/>
            <a:ext cx="1418102" cy="1119554"/>
          </a:xfrm>
          <a:custGeom>
            <a:avLst/>
            <a:gdLst/>
            <a:ahLst/>
            <a:cxnLst/>
            <a:rect l="l" t="t" r="r" b="b"/>
            <a:pathLst>
              <a:path w="1418102" h="1119554">
                <a:moveTo>
                  <a:pt x="0" y="1119554"/>
                </a:moveTo>
                <a:lnTo>
                  <a:pt x="1418102" y="1119554"/>
                </a:lnTo>
                <a:lnTo>
                  <a:pt x="1418102" y="0"/>
                </a:lnTo>
                <a:lnTo>
                  <a:pt x="0" y="0"/>
                </a:lnTo>
                <a:close/>
              </a:path>
            </a:pathLst>
          </a:custGeom>
          <a:solidFill>
            <a:srgbClr val="F7E3A1"/>
          </a:solidFill>
          <a:ln w="28575">
            <a:solidFill>
              <a:srgbClr val="B8962E"/>
            </a:solidFill>
            <a:prstDash val="dash"/>
          </a:ln>
        </p:spPr>
      </p:sp>
      <p:sp>
        <p:nvSpPr>
          <p:cNvPr id="9" name="S06-mark76"/>
          <p:cNvSpPr/>
          <p:nvPr/>
        </p:nvSpPr>
        <p:spPr>
          <a:xfrm>
            <a:off x="6533134" y="3379568"/>
            <a:ext cx="4851400" cy="447822"/>
          </a:xfrm>
          <a:custGeom>
            <a:avLst/>
            <a:gdLst/>
            <a:ahLst/>
            <a:cxnLst/>
            <a:rect l="l" t="t" r="r" b="b"/>
            <a:pathLst>
              <a:path w="4851400" h="447822">
                <a:moveTo>
                  <a:pt x="0" y="447822"/>
                </a:moveTo>
                <a:lnTo>
                  <a:pt x="4851400" y="447822"/>
                </a:lnTo>
                <a:lnTo>
                  <a:pt x="4851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AE1"/>
          </a:solidFill>
          <a:ln/>
        </p:spPr>
      </p:sp>
      <p:sp>
        <p:nvSpPr>
          <p:cNvPr id="10" name="S06-mark77"/>
          <p:cNvSpPr/>
          <p:nvPr/>
        </p:nvSpPr>
        <p:spPr>
          <a:xfrm>
            <a:off x="8734923" y="3726629"/>
            <a:ext cx="447822" cy="55978"/>
          </a:xfrm>
          <a:custGeom>
            <a:avLst/>
            <a:gdLst/>
            <a:ahLst/>
            <a:cxnLst/>
            <a:rect l="l" t="t" r="r" b="b"/>
            <a:pathLst>
              <a:path w="447822" h="55978">
                <a:moveTo>
                  <a:pt x="0" y="55978"/>
                </a:moveTo>
                <a:lnTo>
                  <a:pt x="447822" y="55978"/>
                </a:lnTo>
                <a:lnTo>
                  <a:pt x="44782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06-mark78"/>
          <p:cNvSpPr/>
          <p:nvPr/>
        </p:nvSpPr>
        <p:spPr>
          <a:xfrm>
            <a:off x="8734923" y="3614674"/>
            <a:ext cx="447822" cy="55978"/>
          </a:xfrm>
          <a:custGeom>
            <a:avLst/>
            <a:gdLst/>
            <a:ahLst/>
            <a:cxnLst/>
            <a:rect l="l" t="t" r="r" b="b"/>
            <a:pathLst>
              <a:path w="447822" h="55978">
                <a:moveTo>
                  <a:pt x="0" y="55978"/>
                </a:moveTo>
                <a:lnTo>
                  <a:pt x="447822" y="55978"/>
                </a:lnTo>
                <a:lnTo>
                  <a:pt x="44782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S06-mark79"/>
          <p:cNvSpPr/>
          <p:nvPr/>
        </p:nvSpPr>
        <p:spPr>
          <a:xfrm>
            <a:off x="8734923" y="3502719"/>
            <a:ext cx="447822" cy="55978"/>
          </a:xfrm>
          <a:custGeom>
            <a:avLst/>
            <a:gdLst/>
            <a:ahLst/>
            <a:cxnLst/>
            <a:rect l="l" t="t" r="r" b="b"/>
            <a:pathLst>
              <a:path w="447822" h="55978">
                <a:moveTo>
                  <a:pt x="0" y="55978"/>
                </a:moveTo>
                <a:lnTo>
                  <a:pt x="447822" y="55978"/>
                </a:lnTo>
                <a:lnTo>
                  <a:pt x="44782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S06-mark80"/>
          <p:cNvSpPr/>
          <p:nvPr/>
        </p:nvSpPr>
        <p:spPr>
          <a:xfrm>
            <a:off x="8734923" y="3390763"/>
            <a:ext cx="447822" cy="55978"/>
          </a:xfrm>
          <a:custGeom>
            <a:avLst/>
            <a:gdLst/>
            <a:ahLst/>
            <a:cxnLst/>
            <a:rect l="l" t="t" r="r" b="b"/>
            <a:pathLst>
              <a:path w="447822" h="55978">
                <a:moveTo>
                  <a:pt x="0" y="55978"/>
                </a:moveTo>
                <a:lnTo>
                  <a:pt x="447822" y="55978"/>
                </a:lnTo>
                <a:lnTo>
                  <a:pt x="44782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S06-mark81"/>
          <p:cNvSpPr/>
          <p:nvPr/>
        </p:nvSpPr>
        <p:spPr>
          <a:xfrm>
            <a:off x="6757045" y="4051300"/>
            <a:ext cx="1119554" cy="970280"/>
          </a:xfrm>
          <a:custGeom>
            <a:avLst/>
            <a:gdLst/>
            <a:ahLst/>
            <a:cxnLst/>
            <a:rect l="l" t="t" r="r" b="b"/>
            <a:pathLst>
              <a:path w="1119554" h="970280">
                <a:moveTo>
                  <a:pt x="0" y="970280"/>
                </a:moveTo>
                <a:lnTo>
                  <a:pt x="1119554" y="970280"/>
                </a:lnTo>
                <a:lnTo>
                  <a:pt x="1119554" y="373185"/>
                </a:lnTo>
                <a:lnTo>
                  <a:pt x="559777" y="0"/>
                </a:lnTo>
                <a:lnTo>
                  <a:pt x="0" y="373185"/>
                </a:lnTo>
                <a:close/>
              </a:path>
            </a:pathLst>
          </a:custGeom>
          <a:solidFill>
            <a:srgbClr val="D6E4F0"/>
          </a:solidFill>
          <a:ln w="28575">
            <a:solidFill>
              <a:srgbClr val="3D5A80"/>
            </a:solidFill>
            <a:prstDash val="solid"/>
          </a:ln>
        </p:spPr>
      </p:sp>
      <p:sp>
        <p:nvSpPr>
          <p:cNvPr id="15" name="S06-mark82"/>
          <p:cNvSpPr/>
          <p:nvPr/>
        </p:nvSpPr>
        <p:spPr>
          <a:xfrm>
            <a:off x="8249783" y="3976663"/>
            <a:ext cx="1418102" cy="1044917"/>
          </a:xfrm>
          <a:custGeom>
            <a:avLst/>
            <a:gdLst/>
            <a:ahLst/>
            <a:cxnLst/>
            <a:rect l="l" t="t" r="r" b="b"/>
            <a:pathLst>
              <a:path w="1418102" h="1044917">
                <a:moveTo>
                  <a:pt x="0" y="1044917"/>
                </a:moveTo>
                <a:lnTo>
                  <a:pt x="1418102" y="1044917"/>
                </a:lnTo>
                <a:lnTo>
                  <a:pt x="1418102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4F7"/>
          </a:solidFill>
          <a:ln w="28575">
            <a:solidFill>
              <a:srgbClr val="8A6FB0"/>
            </a:solidFill>
            <a:prstDash val="solid"/>
          </a:ln>
        </p:spPr>
      </p:sp>
      <p:sp>
        <p:nvSpPr>
          <p:cNvPr id="16" name="S06-mark83"/>
          <p:cNvSpPr/>
          <p:nvPr/>
        </p:nvSpPr>
        <p:spPr>
          <a:xfrm>
            <a:off x="9891796" y="3976663"/>
            <a:ext cx="1418102" cy="1044917"/>
          </a:xfrm>
          <a:custGeom>
            <a:avLst/>
            <a:gdLst/>
            <a:ahLst/>
            <a:cxnLst/>
            <a:rect l="l" t="t" r="r" b="b"/>
            <a:pathLst>
              <a:path w="1418102" h="1044917">
                <a:moveTo>
                  <a:pt x="0" y="1044917"/>
                </a:moveTo>
                <a:lnTo>
                  <a:pt x="1418102" y="1044917"/>
                </a:lnTo>
                <a:lnTo>
                  <a:pt x="1418102" y="0"/>
                </a:lnTo>
                <a:lnTo>
                  <a:pt x="0" y="0"/>
                </a:lnTo>
                <a:close/>
              </a:path>
            </a:pathLst>
          </a:custGeom>
          <a:solidFill>
            <a:srgbClr val="E8DCCB"/>
          </a:solidFill>
          <a:ln w="28575">
            <a:solidFill>
              <a:srgbClr val="8C6D46"/>
            </a:solidFill>
            <a:prstDash val="solid"/>
          </a:ln>
        </p:spPr>
      </p:sp>
      <p:sp>
        <p:nvSpPr>
          <p:cNvPr id="17" name="S06-mark84"/>
          <p:cNvSpPr/>
          <p:nvPr/>
        </p:nvSpPr>
        <p:spPr>
          <a:xfrm>
            <a:off x="6682408" y="2222695"/>
            <a:ext cx="373185" cy="373185"/>
          </a:xfrm>
          <a:prstGeom prst="ellipse">
            <a:avLst/>
          </a:prstGeom>
          <a:solidFill>
            <a:srgbClr val="2A9D8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6-mark85"/>
          <p:cNvSpPr/>
          <p:nvPr/>
        </p:nvSpPr>
        <p:spPr>
          <a:xfrm>
            <a:off x="7092911" y="2185377"/>
            <a:ext cx="373185" cy="373185"/>
          </a:xfrm>
          <a:prstGeom prst="ellipse">
            <a:avLst/>
          </a:prstGeom>
          <a:solidFill>
            <a:srgbClr val="2A9D8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6-mark86"/>
          <p:cNvSpPr/>
          <p:nvPr/>
        </p:nvSpPr>
        <p:spPr>
          <a:xfrm>
            <a:off x="7503414" y="2222695"/>
            <a:ext cx="373185" cy="373185"/>
          </a:xfrm>
          <a:prstGeom prst="ellipse">
            <a:avLst/>
          </a:prstGeom>
          <a:solidFill>
            <a:srgbClr val="2A9D8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6-mark87"/>
          <p:cNvSpPr/>
          <p:nvPr/>
        </p:nvSpPr>
        <p:spPr>
          <a:xfrm>
            <a:off x="6719726" y="2670517"/>
            <a:ext cx="373185" cy="373185"/>
          </a:xfrm>
          <a:prstGeom prst="ellipse">
            <a:avLst/>
          </a:prstGeom>
          <a:solidFill>
            <a:srgbClr val="2A9D8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6-label89"/>
          <p:cNvSpPr txBox="1"/>
          <p:nvPr/>
        </p:nvSpPr>
        <p:spPr>
          <a:xfrm>
            <a:off x="7199591" y="2762690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</a:t>
            </a:r>
            <a:endParaRPr lang="ko-KR" sz="2600" dirty="0"/>
          </a:p>
        </p:txBody>
      </p:sp>
      <p:sp>
        <p:nvSpPr>
          <p:cNvPr id="22" name="S06-label91"/>
          <p:cNvSpPr txBox="1"/>
          <p:nvPr/>
        </p:nvSpPr>
        <p:spPr>
          <a:xfrm>
            <a:off x="8580374" y="2464142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</a:t>
            </a:r>
            <a:endParaRPr lang="ko-KR" sz="2600" dirty="0"/>
          </a:p>
        </p:txBody>
      </p:sp>
      <p:sp>
        <p:nvSpPr>
          <p:cNvPr id="23" name="S06-label93"/>
          <p:cNvSpPr txBox="1"/>
          <p:nvPr/>
        </p:nvSpPr>
        <p:spPr>
          <a:xfrm>
            <a:off x="10060588" y="2464142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공사장</a:t>
            </a:r>
            <a:endParaRPr lang="ko-KR" sz="2600" dirty="0"/>
          </a:p>
        </p:txBody>
      </p:sp>
      <p:sp>
        <p:nvSpPr>
          <p:cNvPr id="24" name="S06-label95"/>
          <p:cNvSpPr txBox="1"/>
          <p:nvPr/>
        </p:nvSpPr>
        <p:spPr>
          <a:xfrm>
            <a:off x="7112547" y="3436791"/>
            <a:ext cx="63246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큰길</a:t>
            </a:r>
            <a:endParaRPr lang="ko-KR" sz="2100" dirty="0"/>
          </a:p>
        </p:txBody>
      </p:sp>
      <p:sp>
        <p:nvSpPr>
          <p:cNvPr id="25" name="S06-label97"/>
          <p:cNvSpPr txBox="1"/>
          <p:nvPr/>
        </p:nvSpPr>
        <p:spPr>
          <a:xfrm>
            <a:off x="10098024" y="3436791"/>
            <a:ext cx="63246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큰길</a:t>
            </a:r>
            <a:endParaRPr lang="ko-KR" sz="2100" dirty="0"/>
          </a:p>
        </p:txBody>
      </p:sp>
      <p:sp>
        <p:nvSpPr>
          <p:cNvPr id="26" name="S06-label99"/>
          <p:cNvSpPr txBox="1"/>
          <p:nvPr/>
        </p:nvSpPr>
        <p:spPr>
          <a:xfrm>
            <a:off x="7100160" y="4516657"/>
            <a:ext cx="433324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</a:t>
            </a:r>
            <a:endParaRPr lang="ko-KR" sz="2600" dirty="0"/>
          </a:p>
        </p:txBody>
      </p:sp>
      <p:sp>
        <p:nvSpPr>
          <p:cNvPr id="27" name="S06-label101"/>
          <p:cNvSpPr txBox="1"/>
          <p:nvPr/>
        </p:nvSpPr>
        <p:spPr>
          <a:xfrm>
            <a:off x="8418576" y="4292747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</a:t>
            </a:r>
            <a:endParaRPr lang="ko-KR" sz="2600" dirty="0"/>
          </a:p>
        </p:txBody>
      </p:sp>
      <p:sp>
        <p:nvSpPr>
          <p:cNvPr id="28" name="S06-label103"/>
          <p:cNvSpPr txBox="1"/>
          <p:nvPr/>
        </p:nvSpPr>
        <p:spPr>
          <a:xfrm>
            <a:off x="10011058" y="4086372"/>
            <a:ext cx="117957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쌓인 곳</a:t>
            </a:r>
            <a:endParaRPr lang="ko-KR" sz="2600" dirty="0"/>
          </a:p>
        </p:txBody>
      </p:sp>
      <p:sp>
        <p:nvSpPr>
          <p:cNvPr id="29" name="S06-chip10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30" name="S06-text105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 건너편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살면?</a:t>
            </a:r>
            <a:endParaRPr lang="ko-KR" sz="2600" dirty="0"/>
          </a:p>
        </p:txBody>
      </p:sp>
      <p:sp>
        <p:nvSpPr>
          <p:cNvPr id="31" name="S06-chip10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32" name="S06-text107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공사장 옆 학교에서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공부하면?</a:t>
            </a:r>
            <a:endParaRPr lang="ko-KR" sz="2600" dirty="0"/>
          </a:p>
        </p:txBody>
      </p:sp>
      <p:sp>
        <p:nvSpPr>
          <p:cNvPr id="33" name="S06-chip10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34" name="S06-text109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 옆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놀이터에서 놀면?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마을 한 바퀴</a:t>
            </a:r>
            <a:endParaRPr lang="ko-KR" sz="4400" dirty="0"/>
          </a:p>
        </p:txBody>
      </p:sp>
      <p:sp>
        <p:nvSpPr>
          <p:cNvPr id="3" name="S07-card110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111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어른 손을 잡고 인도로 걸어요.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쓰레기는 손으로 만지지 않아요.</a:t>
            </a:r>
            <a:endParaRPr lang="ko-KR" sz="3200" dirty="0"/>
          </a:p>
        </p:txBody>
      </p:sp>
      <p:sp>
        <p:nvSpPr>
          <p:cNvPr id="5" name="S07-card112"/>
          <p:cNvSpPr/>
          <p:nvPr/>
        </p:nvSpPr>
        <p:spPr>
          <a:xfrm>
            <a:off x="6813652" y="1325880"/>
            <a:ext cx="4826660" cy="3342640"/>
          </a:xfrm>
          <a:prstGeom prst="roundRect">
            <a:avLst>
              <a:gd name="adj" fmla="val 328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113"/>
          <p:cNvSpPr txBox="1"/>
          <p:nvPr/>
        </p:nvSpPr>
        <p:spPr>
          <a:xfrm>
            <a:off x="7087972" y="1463040"/>
            <a:ext cx="4278020" cy="306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세 가지를 적었어요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소리도 하나 적었어요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생활과 이어 두 번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어른 곁에서 걸었어요</a:t>
            </a:r>
            <a:endParaRPr lang="ko-KR" sz="3200" dirty="0"/>
          </a:p>
        </p:txBody>
      </p:sp>
      <p:sp>
        <p:nvSpPr>
          <p:cNvPr id="7" name="S07-stepno114"/>
          <p:cNvSpPr txBox="1"/>
          <p:nvPr/>
        </p:nvSpPr>
        <p:spPr>
          <a:xfrm>
            <a:off x="548640" y="16530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7-text115"/>
          <p:cNvSpPr txBox="1"/>
          <p:nvPr/>
        </p:nvSpPr>
        <p:spPr>
          <a:xfrm>
            <a:off x="1325880" y="16530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어른과 함께 걸어요.</a:t>
            </a:r>
            <a:endParaRPr lang="ko-KR" sz="3200" dirty="0"/>
          </a:p>
        </p:txBody>
      </p:sp>
      <p:sp>
        <p:nvSpPr>
          <p:cNvPr id="9" name="S07-stepno116"/>
          <p:cNvSpPr txBox="1"/>
          <p:nvPr/>
        </p:nvSpPr>
        <p:spPr>
          <a:xfrm>
            <a:off x="548640" y="23662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7-text117"/>
          <p:cNvSpPr txBox="1"/>
          <p:nvPr/>
        </p:nvSpPr>
        <p:spPr>
          <a:xfrm>
            <a:off x="1325880" y="23662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들은 것을 적어요.</a:t>
            </a:r>
            <a:endParaRPr lang="ko-KR" sz="3200" dirty="0"/>
          </a:p>
        </p:txBody>
      </p:sp>
      <p:sp>
        <p:nvSpPr>
          <p:cNvPr id="11" name="S07-stepno118"/>
          <p:cNvSpPr txBox="1"/>
          <p:nvPr/>
        </p:nvSpPr>
        <p:spPr>
          <a:xfrm>
            <a:off x="548640" y="30794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7-text119"/>
          <p:cNvSpPr txBox="1"/>
          <p:nvPr/>
        </p:nvSpPr>
        <p:spPr>
          <a:xfrm>
            <a:off x="1325880" y="30794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좋으면 ○, 불편하면 △</a:t>
            </a:r>
            <a:endParaRPr lang="ko-KR" sz="3200" dirty="0"/>
          </a:p>
        </p:txBody>
      </p:sp>
      <p:sp>
        <p:nvSpPr>
          <p:cNvPr id="13" name="S07-stepno120"/>
          <p:cNvSpPr txBox="1"/>
          <p:nvPr/>
        </p:nvSpPr>
        <p:spPr>
          <a:xfrm>
            <a:off x="548640" y="37927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7-text121"/>
          <p:cNvSpPr txBox="1"/>
          <p:nvPr/>
        </p:nvSpPr>
        <p:spPr>
          <a:xfrm>
            <a:off x="1325880" y="37927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와서 이어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8-card12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8-cardtext12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환경은 우리 생활과 이어져 있어요.</a:t>
            </a:r>
            <a:endParaRPr lang="ko-KR" sz="3200" dirty="0"/>
          </a:p>
        </p:txBody>
      </p:sp>
      <p:sp>
        <p:nvSpPr>
          <p:cNvPr id="5" name="S08-chip124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눈·귀·몸으로 살피기</a:t>
            </a:r>
            <a:endParaRPr lang="ko-KR" sz="2600" dirty="0"/>
          </a:p>
        </p:txBody>
      </p:sp>
      <p:sp>
        <p:nvSpPr>
          <p:cNvPr id="6" name="S08-chip125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보기만 하고 지나치기</a:t>
            </a:r>
            <a:endParaRPr lang="ko-KR" sz="2600" dirty="0"/>
          </a:p>
        </p:txBody>
      </p:sp>
      <p:sp>
        <p:nvSpPr>
          <p:cNvPr id="7" name="S08-text126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8-text127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환경을 살피는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두 가지</a:t>
            </a:r>
            <a:endParaRPr lang="ko-KR" sz="2600" dirty="0"/>
          </a:p>
        </p:txBody>
      </p:sp>
      <p:sp>
        <p:nvSpPr>
          <p:cNvPr id="9" name="S08-text128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나무 그늘이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주는 좋은 점</a:t>
            </a:r>
            <a:endParaRPr lang="ko-KR" sz="2600" dirty="0"/>
          </a:p>
        </p:txBody>
      </p:sp>
      <p:sp>
        <p:nvSpPr>
          <p:cNvPr id="10" name="S08-text129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우리 마을에서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것 하나</a:t>
            </a:r>
            <a:endParaRPr lang="ko-KR" sz="2600" dirty="0"/>
          </a:p>
        </p:txBody>
      </p:sp>
      <p:sp>
        <p:nvSpPr>
          <p:cNvPr id="11" name="S08-text13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쓰레기 줄이기와 분리배출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자세히 살펴보기</a:t>
            </a:r>
            <a:endParaRPr lang="ko-KR" sz="4400" dirty="0"/>
          </a:p>
        </p:txBody>
      </p:sp>
      <p:sp>
        <p:nvSpPr>
          <p:cNvPr id="3" name="S09-text1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창밖의 나무 하나를 봐요.</a:t>
            </a:r>
            <a:endParaRPr lang="ko-KR" sz="3200" dirty="0"/>
          </a:p>
        </p:txBody>
      </p:sp>
      <p:sp>
        <p:nvSpPr>
          <p:cNvPr id="4" name="S09-card1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1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가만히, 오래 보면 더 많이 보여요.</a:t>
            </a:r>
            <a:endParaRPr lang="ko-KR" sz="3200" dirty="0"/>
          </a:p>
        </p:txBody>
      </p:sp>
      <p:sp>
        <p:nvSpPr>
          <p:cNvPr id="6" name="S09-card134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135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색이에요?</a:t>
            </a:r>
            <a:endParaRPr lang="ko-KR" sz="3200" dirty="0"/>
          </a:p>
        </p:txBody>
      </p:sp>
      <p:sp>
        <p:nvSpPr>
          <p:cNvPr id="8" name="S09-card136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9-cardtext137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모양이에요?</a:t>
            </a:r>
            <a:endParaRPr lang="ko-KR" sz="3200" dirty="0"/>
          </a:p>
        </p:txBody>
      </p:sp>
      <p:sp>
        <p:nvSpPr>
          <p:cNvPr id="10" name="S09-card138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9-cardtext139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움직임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흔들려요?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환경·생태 학교와 마을의 환경</dc:title>
  <dc:subject>KR22-G02-ENV-AROUND-L01</dc:subject>
  <dc:creator>education-ppt</dc:creator>
  <cp:lastModifiedBy>education-ppt</cp:lastModifiedBy>
  <cp:revision>1</cp:revision>
  <dcterms:created xsi:type="dcterms:W3CDTF">2026-10-26T13:43:03Z</dcterms:created>
  <dcterms:modified xsi:type="dcterms:W3CDTF">2026-10-26T13:43:03Z</dcterms:modified>
</cp:coreProperties>
</file>