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d3213d0-ace8-fd7c-d3f9-e507fac1b073}">
          <p14:sldIdLst>
            <p14:sldId id="256"/>
            <p14:sldId id="257"/>
          </p14:sldIdLst>
        </p14:section>
        <p14:section name="개념" id="{669ea0c8-9e44-8771-cd90-e715082a254a}">
          <p14:sldIdLst>
            <p14:sldId id="258"/>
            <p14:sldId id="260"/>
          </p14:sldIdLst>
        </p14:section>
        <p14:section name="연습" id="{1b11eab4-2be4-525c-0bfc-7e08129667f1}">
          <p14:sldIdLst>
            <p14:sldId id="259"/>
            <p14:sldId id="261"/>
          </p14:sldIdLst>
        </p14:section>
        <p14:section name="개념" id="{4a639f05-067f-7c1b-31e0-9bc5911d7866}">
          <p14:sldIdLst/>
        </p14:section>
        <p14:section name="연습" id="{4dab2478-feb4-5ad4-e09e-e60d7b65e711}">
          <p14:sldIdLst/>
        </p14:section>
        <p14:section name="확인" id="{50b70aa5-dc0a-5b79-5ff9-6280475b08d0}">
          <p14:sldIdLst>
            <p14:sldId id="262"/>
          </p14:sldIdLst>
        </p14:section>
        <p14:section name="정리" id="{50726070-c13e-9bb1-03bd-d3349e9fcec0}">
          <p14:sldIdLst>
            <p14:sldId id="263"/>
          </p14:sldIdLst>
        </p14:section>
        <p14:section name="보충" id="{48c54f46-3ceb-7bee-1dc5-139d2f6b837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쓰레기를 줄이는 방법을 찾고, 재활용품을 약속대로 나누어 내놓는 방법(분리배출)을 배운다고 알립니다.
시간: 약 2분
이렇게 말해 보세요
- “오늘 우리 집에서 나온 쓰레기는 뭐가 있을까?”
- “오늘은 쓰레기를 줄이는 방법을 찾고, 다시 쓸 수 있는 것을 약속대로 나누어 내놓는 방법을 배워 볼 거야.”
예상 답
- “과자 봉지요.” / “휴지요.” / “상자요.”
주의
- 수업 전에 S07에서 쓸 재활용품 5~6가지를 골라 두세요. 깨진 유리, 통조림 캔처럼 날카로운 것은 빼 둡니다.
- 분리배출 규칙은 지역과 아파트마다 조금씩 다릅니다. 사는 곳의 안내(관리사무소 게시판, 시·군·구청 안내)를 미리 한 번 확인해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확인(아껴 쓰기)]
목적: 1학년 ‘물·종이·전기 아끼기’에서 배운 아끼는 방법과 까닭을 기억하는지 확인합니다. 아껴 쓰기는 오늘 배울 ‘쓰레기 줄이기’의 바탕입니다.
시간: 약 3분
이렇게 말해 보세요
- “종이를 아끼는 방법, 기억나? 그림을 망친 종이는 어떻게 했지?”
- “종이는 무엇으로 만든다고 했지?”
예상 답
- ① “뒷면에 그려요.” / “이면지 상자에 모아요.”
- ② “나무요.”
정답
- ① 뒷면(이면지)에도 쓰기, 필요한 만큼만 쓰기 가운데 하나
- ② 나무
막히면
- 공책이나 이면지를 보여 주며 “이 종이의 뒷면은 어때?” 하고 묻습니다.
- 둘 다 어려우면 S09(보충)를 먼저 하고 S03으로 이어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쓰레기를 줄이는 세 가지 방법]
목적: 쓰레기를 줄이는 세 가지 방법(다시 쓰기, 필요 없는 것은 받지 않기, 오래 쓰기)을 알려 주고, 줄이기가 분리배출보다 먼저라는 것을 말합니다(M1).
시간: 약 4분
이렇게 말해 보세요
- “쓰레기통에 버리면 끝일까? 버린 쓰레기는 차가 실어 가서 태우거나 땅에 묻어. 그래서 처음부터 쓰레기를 적게 만드는 게 가장 좋아.”
- “한 번 쓰고 버리는 컵 대신 내 물병을 쓰면? 비닐봉지 대신 장바구니를 들고 가면?”
- “가게에서 필요 없는 빨대나 봉지를 주면 ‘괜찮아요.’ 하고 안 받을 수도 있어.”
- “작아진 옷이나 장난감은 동생이나 친구에게 물려줄 수 있어. 고쳐서 더 쓸 수도 있고.”
예상 답
- “우리 집에도 장바구니가 있어요.” / “내 물병 있어요.”
막히면
- 집에 있는 장바구니, 물병을 실제로 가져와 보여 줍니다.
주의
- 겁을 주는 말보다 ‘우리가 할 수 있는 좋은 일’로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새 장면에서 줄이는 방법 찾기]
목적: 처음 보는 생활 장면에서 쓰레기를 줄이는 방법을 찾아 말합니다(M1).
시간: 약 5분
이렇게 말해 보세요
- “①은 소풍 갈 때야. 물을 사 마시면 무엇이 쓰레기가 될까? 어떻게 하면 줄일 수 있을까?”
- “②는 과자 하나를 샀는데 가게에서 봉투에 넣어 줘. 어떻게 할까?”
- “③은 발이 커져서 작아진 운동화야. 아직 깨끗하다면?”
정답
- ① 집에서 물병에 물을 담아 가요(다시 써요).
- ② “괜찮아요.” 하고 손이나 가방에 넣어 가요(안 받아요).
- ③ 동생이나 친구에게 물려주거나 나눔해요(오래 써요). 해진 것은 어른과 버리는 방법을 확인해요.
막히면
- S03의 세 카드를 다시 보여 주고 “어느 방법을 쓸 수 있을까?” 하고 묻습니다.
주의
- ‘안 받아요’는 공손하게 말하는 연습도 함께 합니다. 엄마(아빠)가 가게 주인 역할을 해 줘도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분리배출 네 가지 약속]
목적: 분리배출의 뜻과 네 가지 약속(비우기, 헹구기, 분리하기, 섞지 않기)을 알려 줍니다(M2).
시간: 약 4분
이렇게 말해 보세요
- “다시 쓸 수 있는 것을 종류별로 나누어 내놓는 걸 ‘분리배출’이라고 해. 그러면 다시 새 물건으로 만들 수 있어.”
- “음료수가 남은 캔을 그대로 내놓으면 어떻게 될까? 다른 것까지 끈적끈적해지겠지? 그래서 먼저 비우고 헹궈.”
- “병에 붙은 뚜껑이나 상자에 붙은 테이프는 다른 재료라서 떼어 내. 그리고 종류끼리 모으면 돼.”
예상 답
- “캔을 씻어요?” / “우리 아파트에도 나누는 통이 있어요.”
막히면
- 빈 플라스틱 통 하나로 비우기 → 헹구기 → 뚜껑 떼기를 직접 보여 줍니다.
주의
- 이 네 가지는 환경부가 안내하는 분리배출의 기본 원칙입니다. 품목마다 세부 규칙(투명 페트병, 종이팩 따로 모으기 등)은 사는 곳마다 다르니 부모님이 확인해 덧붙여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물건을 종류에 맞게 나누기(도움 받아)]
목적: 종류표를 보며 처음 보는 물건을 어디에 넣을지, 내놓기 전에 어떤 약속을 지킬지 말해 봅니다(M3).
시간: 약 6분
이렇게 말해 보세요
- “오른쪽 표를 보자. 라면 봉지는 과자 봉지랑 비슷하지? 어디에 넣을까?”
- “택배 상자는 어디에 넣을까? 상자에 붙은 테이프와 종이 스티커는 어떻게 할까?”
- “샴푸 통과 잼 병은 내놓기 전에 무엇을 해야 할까?”
정답
- ① 비닐 — 안을 비우고, 기름이 묻었으면 헹궈요.
- ② 종이 — 테이프와 송장 스티커를 떼고 납작하게 접어요(분리해요).
- ③ 플라스틱 — 비우고 헹궈요.
- ④ 유리병 — 비우고 헹구고, 뚜껑을 떼요.
막히면
- 실제 물건(과자 봉지, 상자)을 만져 보며 “이건 종이 같아, 비닐 같아?” 하고 묻습니다.
- 물건에 찍힌 분리배출 표시(삼각형 화살표 안의 글자)를 함께 찾아봅니다.
주의
- 떼어 낸 뚜껑을 어디에 넣는지, 투명한 음료수 페트병이나 우유팩(종이팩)을 따로 모으는지는 사는 곳마다 다릅니다. 이런 세부 규칙은 사는 곳의 안내를 확인해 알려 주세요.
- 여기서 나눠도 됩니다. S07은 재활용품을 준비해 두고 다음 날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집에서 직접 분리배출하고 줄이기 약속 정하기]
목적: 부모가 골라 둔 재활용품을 아이가 직접 약속대로 나누는지(B), 줄이기 약속 하나를 스스로 정하는지(A) 확인합니다.
시간: 약 13분
이렇게 말해 보세요
- “여기 우리 집에서 나온 것들이 있어. 하나씩 집어서 어디에 넣을지 말하고, 내놓기 전에 할 일을 해 보자.”
- “이건 왜 거기에 넣었어? 무슨 약속을 지켰어?”
- “이번 주에 쓰레기를 줄이는 약속을 하나 정해 볼까? 활동지 4에 쓰고 밤마다 ○나 △를 그리자.”
예상 답
- “과자 봉지는 비닐이에요. 부스러기를 털었어요.”
- “상자는 종이예요. 테이프를 뗐어요.”
- 줄이기 약속: “학교에 물병 들고 가기.” / “빨대 안 받기.” / “이면지에 그림 그리기.”
정답
- 관찰 기준 세 가지를 지키면 목표 A·B 확인 완료입니다. 물건 다섯 가지 이상을 종류에 맞게 나누고, 물건마다 비우기·헹구기·떼어 내기 가운데 필요한 것을 말하면 됩니다.
- 목표 A의 실천은 일주일 동안 스스로 기록표에 표시했는지로 봅니다. ○ 개수는 평가하지 않습니다.
막히면
- 어디에 넣을지 헷갈리면 S06의 종류표를 다시 보여 줍니다.
- 줄이기 약속을 고르기 어려우면 S03·S04에서 말한 방법 가운데 하나를 고르게 합니다.
주의
- 헹구기는 물을 조금만 받아 흔들어 헹구고, 유리병은 어른 곁에서 두 손으로 다룹니다. 깨진 유리, 통조림 캔 뚜껑처럼 날카로운 것은 아이가 만지지 않고 어른이 사는 곳의 안내에 따라 처리합니다.
- 실제로 내놓는 요일과 장소는 사는 곳마다 다릅니다. 가능하면 아이와 함께 분리배출 장소에 가서 종류별 통을 보여 주세요.
- 관찰한 것을 기록표(S07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정리와 다음 학습]
목적: 줄이기가 먼저이고, 분리배출은 네 가지 약속대로 한다는 것을 정리하고 다음 수업 첫 5분에 할 복습을 알려 줍니다.
시간: 약 3분
이렇게 말해 보세요
- “쓰레기를 줄이는 게 먼저일까, 나누어 버리는 게 먼저일까? 왜 그렇게 생각해?”
- “분리배출 네 가지 약속을 손가락을 접으며 말해 볼까?”
예상 답
- “줄이는 게 먼저예요. 쓰레기가 적게 나오니까요.” / “비우고, 헹구고, 떼고, 나눠요.”
정답
- ① 물병 쓰기, 장바구니 쓰기, 필요 없는 것 안 받기, 물려주기 등 가운데 하나 ② 비우기, 헹구기, 분리하기(떼어 내기), 섞지 않기 ③ 비닐
주의
- 이 차시는 계획상 2학년 환경의 마지막 차시입니다. 같은 갈래(환경)의 다음 차시는 3학년 ‘생물과 사는 곳’입니다.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보충(아껴 쓰기)]
목적: S02에서 아끼는 방법이나 까닭을 떠올리지 못하면, 물·종이·전기를 아끼는 방법을 다시 보고 직접 해 봅니다.
시간: 약 5분
이렇게 말해 보세요
- “종이는 나무로 만들어. 뒷면도 쓰면 나무를 덜 베어도 되겠지?”
- “이 닦을 때 컵에 물을 받아 써 볼까? 방에서 나올 때 불도 꺼 보자.”
정답
- 종이·물·전기마다 아끼는 방법 하나를 말하고, ‘종이는 나무로 만든다’를 말하면 맞습니다.
막히면
- 이면지 한 장을 함께 찾아 뒷면에 그림을 그려 봅니다.
- 이 차시의 선수 차시는 1학년 ‘물·종이·전기 아끼기’입니다. 보충으로도 어렵다면 그 차시를 먼저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자원과실천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환경·생태 · 쓰레기 줄이기와 분리배출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줄이기와 분리배출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어떻게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줄일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쓰레기를 줄이는 방법을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약속대로 나누어 내놓아요.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아끼기,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지난번 약속을 떠올려요.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실천 기록표를 떠올려요.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종이를 아끼는 방법은?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무엇으로 만들까요?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줄여요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버리기 전에 먼저 줄여요.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적게 만드는 게 먼저예요.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물병,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받아요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“빨대는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괜찮아요.”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물려줘요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줄일까요?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어떻게 할까요?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써요, 안 받아요, 오래 써요.</a:t>
            </a:r>
            <a:endParaRPr lang="ko-KR" sz="3200" dirty="0"/>
          </a:p>
        </p:txBody>
      </p:sp>
      <p:sp>
        <p:nvSpPr>
          <p:cNvPr id="6" name="S04-chip2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4-text2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소풍 갈 때 마실 물은?</a:t>
            </a:r>
            <a:endParaRPr lang="ko-KR" sz="3200" dirty="0"/>
          </a:p>
        </p:txBody>
      </p:sp>
      <p:sp>
        <p:nvSpPr>
          <p:cNvPr id="8" name="S04-chip2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4-text2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과자 하나 샀는데 봉투를 줘요.</a:t>
            </a:r>
            <a:endParaRPr lang="ko-KR" sz="3200" dirty="0"/>
          </a:p>
        </p:txBody>
      </p:sp>
      <p:sp>
        <p:nvSpPr>
          <p:cNvPr id="10" name="S04-chip2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4-text2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작아진 운동화는?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네 가지 약속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종류별로 나누어 내놓는 것을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분리배출이라고 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2500376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2637536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 든 것을 버려요</a:t>
            </a:r>
            <a:endParaRPr lang="ko-KR" sz="3200" dirty="0"/>
          </a:p>
        </p:txBody>
      </p:sp>
      <p:sp>
        <p:nvSpPr>
          <p:cNvPr id="6" name="S05-card31"/>
          <p:cNvSpPr/>
          <p:nvPr/>
        </p:nvSpPr>
        <p:spPr>
          <a:xfrm>
            <a:off x="6208776" y="2500376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2"/>
          <p:cNvSpPr txBox="1"/>
          <p:nvPr/>
        </p:nvSpPr>
        <p:spPr>
          <a:xfrm>
            <a:off x="6483096" y="2637536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헹궈요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살짝 씻어요</a:t>
            </a:r>
            <a:endParaRPr lang="ko-KR" sz="3200" dirty="0"/>
          </a:p>
        </p:txBody>
      </p:sp>
      <p:sp>
        <p:nvSpPr>
          <p:cNvPr id="8" name="S05-card33"/>
          <p:cNvSpPr/>
          <p:nvPr/>
        </p:nvSpPr>
        <p:spPr>
          <a:xfrm>
            <a:off x="548640" y="4473448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4"/>
          <p:cNvSpPr txBox="1"/>
          <p:nvPr/>
        </p:nvSpPr>
        <p:spPr>
          <a:xfrm>
            <a:off x="822960" y="4610608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분리해요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뚜껑·스티커를 떼요</a:t>
            </a:r>
            <a:endParaRPr lang="ko-KR" sz="3200" dirty="0"/>
          </a:p>
        </p:txBody>
      </p:sp>
      <p:sp>
        <p:nvSpPr>
          <p:cNvPr id="10" name="S05-card35"/>
          <p:cNvSpPr/>
          <p:nvPr/>
        </p:nvSpPr>
        <p:spPr>
          <a:xfrm>
            <a:off x="6208776" y="4473448"/>
            <a:ext cx="5431536" cy="1744472"/>
          </a:xfrm>
          <a:prstGeom prst="roundRect">
            <a:avLst>
              <a:gd name="adj" fmla="val 629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5-cardtext36"/>
          <p:cNvSpPr txBox="1"/>
          <p:nvPr/>
        </p:nvSpPr>
        <p:spPr>
          <a:xfrm>
            <a:off x="6483096" y="4610608"/>
            <a:ext cx="4882896" cy="1470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섞지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종류끼리 모아요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넣을까요?</a:t>
            </a:r>
            <a:endParaRPr lang="ko-KR" sz="4400" dirty="0"/>
          </a:p>
        </p:txBody>
      </p:sp>
      <p:sp>
        <p:nvSpPr>
          <p:cNvPr id="3" name="S06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곳과 지킬 약속을 말해요.</a:t>
            </a:r>
            <a:endParaRPr lang="ko-KR" sz="3200" dirty="0"/>
          </a:p>
        </p:txBody>
      </p:sp>
      <p:graphicFrame>
        <p:nvGraphicFramePr>
          <p:cNvPr id="7" name="S06-table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461260"/>
          <a:ext cx="5120640" cy="914400"/>
        </p:xfrm>
        <a:graphic>
          <a:graphicData uri="http://schemas.openxmlformats.org/drawingml/2006/table">
            <a:tbl>
              <a:tblPr/>
              <a:tblGrid>
                <a:gridCol w="2150669"/>
                <a:gridCol w="296997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공책, 신문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세제 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 봉지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음료수 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주스 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6-chip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6-text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라면 봉지</a:t>
            </a:r>
            <a:endParaRPr lang="ko-KR" sz="3200" dirty="0"/>
          </a:p>
        </p:txBody>
      </p:sp>
      <p:sp>
        <p:nvSpPr>
          <p:cNvPr id="7" name="S06-chip4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6-text4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 상자</a:t>
            </a:r>
            <a:endParaRPr lang="ko-KR" sz="3200" dirty="0"/>
          </a:p>
        </p:txBody>
      </p:sp>
      <p:sp>
        <p:nvSpPr>
          <p:cNvPr id="9" name="S06-chip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6-text4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샴푸 통</a:t>
            </a:r>
            <a:endParaRPr lang="ko-KR" sz="3200" dirty="0"/>
          </a:p>
        </p:txBody>
      </p:sp>
      <p:sp>
        <p:nvSpPr>
          <p:cNvPr id="11" name="S06-chip45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6-text46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먹은 잼 유리병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분리배출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깨진 유리, 날카로운 캔은 만지지 않아요.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어른이 처리해요.</a:t>
            </a:r>
            <a:endParaRPr lang="ko-KR" sz="32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종류에 맞게 나눴어요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지킨 약속을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줄이기 약속을 정했어요</a:t>
            </a:r>
            <a:endParaRPr lang="ko-KR" sz="32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비우고 헹궈요.</a:t>
            </a:r>
            <a:endParaRPr lang="ko-KR" sz="32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뚜껑·스티커를 떼요.</a:t>
            </a:r>
            <a:endParaRPr lang="ko-KR" sz="32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종류끼리 나눠요.</a:t>
            </a:r>
            <a:endParaRPr lang="ko-KR" sz="32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줄이기 약속을 정해요.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줄이고, 약속대로 나누어 내놓아요.</a:t>
            </a:r>
            <a:endParaRPr lang="ko-KR" sz="3200" dirty="0"/>
          </a:p>
        </p:txBody>
      </p:sp>
      <p:sp>
        <p:nvSpPr>
          <p:cNvPr id="5" name="S08-chip6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비우고 헹궈서 나누기</a:t>
            </a:r>
            <a:endParaRPr lang="ko-KR" sz="2600" dirty="0"/>
          </a:p>
        </p:txBody>
      </p:sp>
      <p:sp>
        <p:nvSpPr>
          <p:cNvPr id="6" name="S08-chip6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아무거나 섞어 버리기</a:t>
            </a:r>
            <a:endParaRPr lang="ko-KR" sz="2600" dirty="0"/>
          </a:p>
        </p:txBody>
      </p:sp>
      <p:sp>
        <p:nvSpPr>
          <p:cNvPr id="7" name="S08-text6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8-text6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쓰레기를 줄이는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9" name="S08-text6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분리배출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약속</a:t>
            </a:r>
            <a:endParaRPr lang="ko-KR" sz="2600" dirty="0"/>
          </a:p>
        </p:txBody>
      </p:sp>
      <p:sp>
        <p:nvSpPr>
          <p:cNvPr id="10" name="S08-text6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과자 봉지는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어디에?</a:t>
            </a:r>
            <a:endParaRPr lang="ko-KR" sz="2600" dirty="0"/>
          </a:p>
        </p:txBody>
      </p:sp>
      <p:sp>
        <p:nvSpPr>
          <p:cNvPr id="11" name="S08-text6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생물과 사는 곳(3학년)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아껴 쓰기</a:t>
            </a:r>
            <a:endParaRPr lang="ko-KR" sz="44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아끼면 버리는 것도 줄어요.</a:t>
            </a:r>
            <a:endParaRPr lang="ko-KR" sz="3200" dirty="0"/>
          </a:p>
        </p:txBody>
      </p:sp>
      <p:sp>
        <p:nvSpPr>
          <p:cNvPr id="4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나무로 만들어요.</a:t>
            </a:r>
            <a:endParaRPr lang="ko-KR" sz="3200" dirty="0"/>
          </a:p>
        </p:txBody>
      </p:sp>
      <p:sp>
        <p:nvSpPr>
          <p:cNvPr id="6" name="S09-card7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7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뒷면도 써요</a:t>
            </a:r>
            <a:endParaRPr lang="ko-KR" sz="3200" dirty="0"/>
          </a:p>
        </p:txBody>
      </p:sp>
      <p:sp>
        <p:nvSpPr>
          <p:cNvPr id="8" name="S09-card7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7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받아 써요</a:t>
            </a:r>
            <a:endParaRPr lang="ko-KR" sz="3200" dirty="0"/>
          </a:p>
        </p:txBody>
      </p:sp>
      <p:sp>
        <p:nvSpPr>
          <p:cNvPr id="10" name="S09-card7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9-cardtext7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나올 때 꺼요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환경·생태 쓰레기 줄이기와 분리배출</dc:title>
  <dc:subject>KR22-G02-ENV-RECYCLE-L01</dc:subject>
  <dc:creator>education-ppt</dc:creator>
  <cp:lastModifiedBy>education-ppt</cp:lastModifiedBy>
  <cp:revision>1</cp:revision>
  <dcterms:created xsi:type="dcterms:W3CDTF">2026-10-26T13:25:18Z</dcterms:created>
  <dcterms:modified xsi:type="dcterms:W3CDTF">2026-10-26T13:25:18Z</dcterms:modified>
</cp:coreProperties>
</file>