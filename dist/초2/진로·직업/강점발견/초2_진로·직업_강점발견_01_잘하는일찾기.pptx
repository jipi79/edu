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9b1d9e3-cb26-e863-a2ff-d4a26a36367e}">
          <p14:sldIdLst>
            <p14:sldId id="256"/>
            <p14:sldId id="257"/>
          </p14:sldIdLst>
        </p14:section>
        <p14:section name="개념" id="{b83a8a19-9e76-332d-67e8-fc9dd57e56ea}">
          <p14:sldIdLst>
            <p14:sldId id="258"/>
          </p14:sldIdLst>
        </p14:section>
        <p14:section name="연습" id="{8a7a880b-de65-4495-35e8-296eeee49d9f}">
          <p14:sldIdLst>
            <p14:sldId id="259"/>
            <p14:sldId id="260"/>
          </p14:sldIdLst>
        </p14:section>
        <p14:section name="확인" id="{e31c6717-a5cb-9bf0-4b62-d2b064b9b8ea}">
          <p14:sldIdLst>
            <p14:sldId id="261"/>
          </p14:sldIdLst>
        </p14:section>
        <p14:section name="정리" id="{d398c00d-ab4f-29be-21d9-afc4dbdcac41}">
          <p14:sldIdLst>
            <p14:sldId id="262"/>
          </p14:sldIdLst>
        </p14:section>
        <p14:section name="보충" id="{3fbdbe86-ecfc-0fe0-6f17-6292f1c44bf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겪은 일 속에서 잘한 일을 찾고, 아직 어려운 일은 어떻게 도움을 받을지 정한다고 알립니다.
시간: 약 2분
이렇게 말해 보세요
- “요즘 해 본 일 중에 ‘와, 이건 잘됐다!’ 싶었던 일이 있어?”
- “오늘은 네가 잘한 일을 찾아보고, 아직 어려운 일은 어떻게 도움을 받으면 좋을지 같이 정해 볼 거야.”
예상 답
- “블록으로 큰 성을 만들었어요.” / “잘하는 게 없어요.” / “몰라요.”
막히면
- “잘하는 게 없어요.”라고 하면 바로 고치려 하지 말고 “그럼 오늘 같이 찾아보자.”라고만 말합니다(오해 M1).
주의
- 이 차시에서는 ‘똑똑하다’, ‘느리다’ 같은 이름표를 붙이지 않습니다. 부모도 “어제 네가 스스로 가방을 쌌지.”처럼 본 행동으로 말해 줍니다.
- 형제자매나 친구와 견주지 않습니다. 비교는 ‘전의 나’와만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확인(좋아하는 활동과 겪은 일 말하기)]
목적: 잘한 일을 겪은 일로 말하려면 좋아하는 것과 겪은 일을 문장으로 말할 수 있어야 합니다. 이 차시는 계획상 선수 차시가 없으므로 1학년 진로 ‘좋아하는 활동과 우리를 돕는 일’(KR22-G01-CAR-HELPERS-L01)에서 해 온 말하기를 확인합니다.
시간: 약 3분
이렇게 말해 보세요
- “① 네가 좋아하는 활동 하나를 까닭과 함께 말해 볼래?”
- “② 지난주에 한 일 하나를 ‘언제, 무엇을 했어요.’로 말해 줘.”
예상 답
- ① “나는 그림 그리기를 좋아해요. 마음대로 그릴 수 있어서요.”
- ② “토요일에 할머니 댁에서 만두를 빚었어요.”
정답
- ① 활동과 까닭을 함께 말하면 맞음 ② ‘언제’와 ‘무엇을’이 들어가면 맞음
막히면
- 둘 다 어려우면 S08(보충)을 먼저 합니다.
- ②에서 ‘언제’를 빠뜨리면 “그게 무슨 요일이었어?” 하고 물어 줍니다.
주의
- ①에서 장난감 이름만 말하면 “그걸로 무엇을 하는 게 좋아?”라고 물어 활동으로 바꾸게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잘하는 일과 도움이 필요한 일의 뜻]
목적: 잘하는 일은 남보다 뛰어난 일만이 아니라 ‘해 봤더니 잘된 일, 전보다 나아진 일’이고, 도움이 필요한 일은 ‘아직’ 어려운 일이라는 것을 부모의 예로 보여 줍니다(목표 A·B, 오해 M1·M3).
시간: 약 5분
이렇게 말해 보세요
- “엄마(아빠)가 먼저 말해 볼게. 지난 주말에 화분 흙을 갈아 줬더니 시들던 잎이 다시 살아났어. 그건 내가 잘한 일이야.”
- “그런데 엄마(아빠)는 아직 줄넘기 이단 뛰기가 어려워. 그래서 영상을 보며 천천히 연습하고 있어.”
- “누구에게나 잘하는 일도, 아직 어려운 일도 있어. 어려운 일에는 ‘아직’을 붙여서 말하자.”
예상 답
- “엄마도 어려운 게 있어요?” / “나도 아직 자전거가 어려워요.”
막히면
- ‘잘하는 일’을 1등이나 상으로만 생각하면 “전보다 나아진 것도 잘한 거야. 처음엔 신발 끈을 못 묶었는데 지금은?”처럼 예를 들어 줍니다.
주의
- 부모의 예는 실제 경험으로 바꾸어 말합니다. 부모가 어려운 일을 솔직하게 말하면 아이도 편하게 말합니다.
- 도움을 청하는 것도 잘하는 일이라는 것을 덧붙입니다(오해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겪은 일에서 잘한 일 찾기]
목적: 이번 주에 한 일을 넓게 떠올린 뒤 잘한 일 두 가지를 골라, 언제·무엇을·어떻게가 드러나게 말하는 연습을 합니다(목표 A, 오해 M1·M2). 활동지 1·2에 씁니다.
시간: 약 9분
이렇게 말해 보세요
- “이번 주에 한 일을 다 말해 보자. 몸으로 한 것, 손으로 만든 것, 누구를 도운 것, 새로 해 본 것 … 엄마(아빠)가 받아 적을게.”
- “이 중에서 ‘잘됐다’, ‘전보다 나아졌다’ 하는 일 두 가지에 동그라미 해 볼까?”
- “그 일을 언제 했어? 어떻게 했는데 잘됐어?”
- “엄마(아빠)가 본 너의 잘한 일도 하나 말해 줄게.”
예상 답
- “수요일에 동생한테 종이비행기 접는 법을 알려 줬어요. 천천히 보여 줬더니 동생도 접었어요.”
- “어제 줄넘기를 여섯 번 넘었어요. 지난주엔 세 번이었어요.”
- 부모가 본 잘한 일 예: “월요일에 말하지 않아도 숙제를 먼저 끝냈지.”
정답
- 관찰 기준 세 가지를 지키면 연습 완료입니다.
막히면
- 떠올리지 못하면 “월요일 아침부터 차례대로 생각해 볼까?”처럼 요일을 짚어 줍니다.
- “나는 똑똑해요.”, “나는 착해요.”처럼 이름표로 말하면 “언제 그랬어? 무엇을 했어?”라고 물어 겪은 일로 바꾸게 합니다(오해 M2).
주의
- 부모가 말해 주는 잘한 일도 “잘했어.”보다 “스스로 ○○을 했지.”처럼 본 행동으로 말합니다.
- 공부와 관련된 일만 고르지 않아도 됩니다. 정리, 돕기, 만들기, 기다리기 모두 잘한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어려운 일을 말하는 두 가지 방법 비교(오해 M3)]
목적: 어려운 일 앞에서 포기하는 말과 ‘아직’을 넣어 도움을 청하는 말을 비교합니다(목표 B, 오해 M3).
시간: 약 5분
이렇게 말해 보세요
- “가처럼 말하면 윤재의 줄넘기는 어떻게 될까? 나처럼 말하면?”
- “나의 말에는 무엇이 들어 있어? ‘아직’과 누구에게 어떤 도움을 받을지가 있지?”
- “너라면 어려운 일이 있을 때 어떻게 말하고 싶어?”
정답
- 나. ‘아직’이라고 말해서 연습하면 나아질 수 있다는 마음이 들고, 누구에게 어떤 도움(박자 세어 주기)을 받을지 말해서 다음에 할 일이 생깁니다.
- 가처럼 말하면 연습할 기회가 사라집니다. 속상한 마음은 괜찮지만 ‘원래 못해’ 대신 ‘아직’이라고 말해 봅니다.
막히면
- “가처럼 말하면 내일 윤재는 줄넘기를 할까?” 하고 다음 날을 떠올리게 합니다.
주의
- 아이가 “나도 가처럼 말한 적 있어요.”라고 하면 나무라지 말고 “그럴 때 있지. 그럼 나처럼 바꿔서 말해 볼까?”라고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나를 소개하고 도움 받을 방법 정하기]
목적: 도움 없이 잘한 일 두 가지를 겪은 일로 소개하고(목표 A), 아직 어려운 일 하나와 도움 받을 방법을 정하는지(목표 B) 관찰합니다. 활동지 3·5에 씁니다.
시간: 약 12분
이렇게 말해 보세요
- “이번엔 엄마(아빠)가 도와주지 않을게. 너를 소개해 줘. 잘한 일 두 가지는 뭐야?”
- “아직 어려운 일은 무엇이야? ‘아직’을 넣어서 말해 볼래?”
- “그 일은 누구에게 어떤 도움을 받으면 좋을까? 이번 주에 몇 번 연습해 볼까?”
- “연습 기록표를 어디에 붙일까?”
예상 답
- “나는 수요일에 동생한테 종이비행기를 알려 줬고, 어제 줄넘기를 여섯 번 넘었어요.”
- “나는 아직 받아쓰기가 어려워요. 엄마가 하루에 다섯 개씩 불러 주면 좋겠어요.”
정답
- 관찰 기준 네 가지를 모두 지키면 목표 A·B 확인 완료입니다. 세 가지 이하이면 다음 수업 처음에 부족한 부분(S04 또는 S05)을 짧게 다시 합니다.
막히면
- 어려운 일을 고르지 못하면 “요즘 하다가 ‘아, 힘들다’ 했던 일이 있어?”라고 묻습니다.
- 도움 방법을 정하지 못하면 “다시 보여 주기, 같이 하기, 천천히 하기 중에 무엇이 좋을까?” 하고 고르게 합니다.
주의
- 어려운 일은 아이가 고릅니다. 부모가 바라는 일(공부 더 하기 등)을 정해 주지 않습니다.
- 연습 기록표(활동지 5)는 연습한 날을 표시하는 표입니다. 잘했는지, 몇 번 성공했는지는 평가하지 않습니다.
- 관찰 결과를 기록표(S06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찾은 것을 정리하고 다음 수업 첫 5분 복습을 알려 줍니다.
시간: 약 3분
이렇게 말해 보세요
- “오늘 찾은 너의 잘한 일은 뭐였지? 아직 어려운 일은 어떻게 연습하기로 했어?”
예상 답
- “동생한테 종이비행기를 알려 줬어요. 받아쓰기는 엄마랑 날마다 다섯 개씩 연습할래요.”
정답
- ① 언제·무엇을이 들어간 잘한 일이면 맞음 ② 연습 기록을 보며 처음과 견주어 말하면 맞음(예: 처음엔 세 개 맞았는데 다섯 개 맞았어요) ③ “도와줄 수 있어요?”, “한 번만 다시 보여 주세요.” 등
막히면
- S03과 S05를 다시 보여 줍니다.
주의
- 일주일 동안 연습한 날에 함께 표시하고, 나아진 점을 ‘전의 나’와 견주어 말해 줍니다.
- 다음 차시 ‘직업과 협력’에서는 여러 사람이 잘하는 일을 나누어 함께 일하는 모습을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보충(어제 한 일 떠올리기)]
목적: S02에서 겪은 일을 문장으로 말하기 어려우면, 보기에서 어제 한 일을 고르고 ‘언제, 무엇을, 어땠는지’를 차례로 말하는 연습을 합니다.
시간: 약 4분
이렇게 말해 보세요
- “어제 이 중에 한 일이 있어? 하나 골라 볼래?”
- “그건 언제 했어? 아침, 저녁?”
- “하고 나서 어땠어? 잘된 점이 있었어?”
예상 답
- “저녁에 장난감을 정리했어요. 다 하니까 방이 넓어졌어요.”
정답
- 하나를 고르고 ‘언제’와 ‘어땠는지’를 말하면 맞습니다.
막히면
- 보기에 없으면 아이가 실제로 한 일로 바꿉니다(“밥 먹고 무엇을 했지?”).
- ‘어땠는지’가 어려우면 “좋았어? 힘들었어?” 둘 중에 고르게 합니다.
주의
- 이 차시는 계획상 선수 차시가 없습니다. 겪은 일 말하기가 계속 어려우면 1학년 진로 ‘좋아하는 활동과 우리를 돕는 일’(KR22-G01-CAR-HELPERS-L01)을 먼저 하고, 며칠 동안 저녁마다 “오늘 무엇을 했어?”를 짧게 물은 뒤 S02부터 다시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강점발견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잘하는 일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잘하는 일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진로·직업 · 잘하는 일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일 찾기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잘하는 일은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잘한 일을 겪은 일로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도움이 필요한 일과 도움 받는 방법을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이야기 말하기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~를 좋아해요. ~해서요.”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 하나와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말해요.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한 일 하나를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‘언제, 무엇을’ 넣어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일, 어려운 일</a:t>
            </a:r>
            <a:endParaRPr lang="ko-KR" sz="44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누구에게나 둘 다 있어요. ‘아직’을 붙여 말해요.</a:t>
            </a:r>
            <a:endParaRPr lang="ko-KR" sz="32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봤더니 잘된 일,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전보다 나아진 일</a:t>
            </a:r>
            <a:endParaRPr lang="ko-KR" sz="32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필요한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어려운 일.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도움을 받으면 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일 찾기</a:t>
            </a:r>
            <a:endParaRPr lang="ko-KR" sz="4400" dirty="0"/>
          </a:p>
        </p:txBody>
      </p:sp>
      <p:sp>
        <p:nvSpPr>
          <p:cNvPr id="3" name="S04-card1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겪은 일로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언제·무엇을이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가지를 말해요</a:t>
            </a:r>
            <a:endParaRPr lang="ko-KR" sz="3200" dirty="0"/>
          </a:p>
        </p:txBody>
      </p:sp>
      <p:sp>
        <p:nvSpPr>
          <p:cNvPr id="5" name="S04-stepno17"/>
          <p:cNvSpPr txBox="1"/>
          <p:nvPr/>
        </p:nvSpPr>
        <p:spPr>
          <a:xfrm>
            <a:off x="548640" y="22062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25880" y="22062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한 일을 떠올려요.</a:t>
            </a:r>
            <a:endParaRPr lang="ko-KR" sz="3200" dirty="0"/>
          </a:p>
        </p:txBody>
      </p:sp>
      <p:sp>
        <p:nvSpPr>
          <p:cNvPr id="7" name="S04-stepno19"/>
          <p:cNvSpPr txBox="1"/>
          <p:nvPr/>
        </p:nvSpPr>
        <p:spPr>
          <a:xfrm>
            <a:off x="548640" y="2919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1325880" y="29194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일 두 가지를 골라요.</a:t>
            </a:r>
            <a:endParaRPr lang="ko-KR" sz="3200" dirty="0"/>
          </a:p>
        </p:txBody>
      </p:sp>
      <p:sp>
        <p:nvSpPr>
          <p:cNvPr id="9" name="S04-stepno21"/>
          <p:cNvSpPr txBox="1"/>
          <p:nvPr/>
        </p:nvSpPr>
        <p:spPr>
          <a:xfrm>
            <a:off x="548640" y="3678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25880" y="363270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무엇을, 어떻게 했는지 말해요.</a:t>
            </a:r>
            <a:endParaRPr lang="ko-KR" sz="3200" dirty="0"/>
          </a:p>
        </p:txBody>
      </p:sp>
      <p:sp>
        <p:nvSpPr>
          <p:cNvPr id="11" name="S04-stepno23"/>
          <p:cNvSpPr txBox="1"/>
          <p:nvPr/>
        </p:nvSpPr>
        <p:spPr>
          <a:xfrm>
            <a:off x="548640" y="4788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4"/>
          <p:cNvSpPr txBox="1"/>
          <p:nvPr/>
        </p:nvSpPr>
        <p:spPr>
          <a:xfrm>
            <a:off x="1325880" y="47889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본 잘한 일도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말할까요?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윤재는 줄넘기 열 번 넘기가 아직 어려워요.</a:t>
            </a:r>
            <a:endParaRPr lang="ko-KR" sz="3200" dirty="0"/>
          </a:p>
        </p:txBody>
      </p:sp>
      <p:sp>
        <p:nvSpPr>
          <p:cNvPr id="5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다음에 도움이 될까요? 왜 그럴까요?</a:t>
            </a:r>
            <a:endParaRPr lang="ko-KR" sz="3200" dirty="0"/>
          </a:p>
        </p:txBody>
      </p:sp>
      <p:sp>
        <p:nvSpPr>
          <p:cNvPr id="7" name="S05-chip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원래 못해.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할래.”</a:t>
            </a:r>
            <a:endParaRPr lang="ko-KR" sz="3200" dirty="0"/>
          </a:p>
        </p:txBody>
      </p:sp>
      <p:sp>
        <p:nvSpPr>
          <p:cNvPr id="9" name="S05-chip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“아직 열 번이 어려워.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박자를 세어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주면 좋겠어.”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소개해요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겪은 일로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‘아직’을 넣어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도움 받을 방법을 정해요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나를 깎아내리지 않아요</a:t>
            </a:r>
            <a:endParaRPr lang="ko-KR" sz="3200" dirty="0"/>
          </a:p>
        </p:txBody>
      </p:sp>
      <p:sp>
        <p:nvSpPr>
          <p:cNvPr id="5" name="S06-stepno35"/>
          <p:cNvSpPr txBox="1"/>
          <p:nvPr/>
        </p:nvSpPr>
        <p:spPr>
          <a:xfrm>
            <a:off x="548640" y="1763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6"/>
          <p:cNvSpPr txBox="1"/>
          <p:nvPr/>
        </p:nvSpPr>
        <p:spPr>
          <a:xfrm>
            <a:off x="1325880" y="17632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일 두 가지를 말해요.</a:t>
            </a:r>
            <a:endParaRPr lang="ko-KR" sz="3200" dirty="0"/>
          </a:p>
        </p:txBody>
      </p:sp>
      <p:sp>
        <p:nvSpPr>
          <p:cNvPr id="7" name="S06-stepno37"/>
          <p:cNvSpPr txBox="1"/>
          <p:nvPr/>
        </p:nvSpPr>
        <p:spPr>
          <a:xfrm>
            <a:off x="548640" y="2522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8"/>
          <p:cNvSpPr txBox="1"/>
          <p:nvPr/>
        </p:nvSpPr>
        <p:spPr>
          <a:xfrm>
            <a:off x="1325880" y="24765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‘아직’ 어려운 일 하나를 말해요.</a:t>
            </a:r>
            <a:endParaRPr lang="ko-KR" sz="3200" dirty="0"/>
          </a:p>
        </p:txBody>
      </p:sp>
      <p:sp>
        <p:nvSpPr>
          <p:cNvPr id="9" name="S06-stepno39"/>
          <p:cNvSpPr txBox="1"/>
          <p:nvPr/>
        </p:nvSpPr>
        <p:spPr>
          <a:xfrm>
            <a:off x="548640" y="3678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0"/>
          <p:cNvSpPr txBox="1"/>
          <p:nvPr/>
        </p:nvSpPr>
        <p:spPr>
          <a:xfrm>
            <a:off x="1325880" y="363270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어떤 도움을 받을지 정해요.</a:t>
            </a:r>
            <a:endParaRPr lang="ko-KR" sz="3200" dirty="0"/>
          </a:p>
        </p:txBody>
      </p:sp>
      <p:sp>
        <p:nvSpPr>
          <p:cNvPr id="11" name="S06-stepno41"/>
          <p:cNvSpPr txBox="1"/>
          <p:nvPr/>
        </p:nvSpPr>
        <p:spPr>
          <a:xfrm>
            <a:off x="548640" y="4834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2"/>
          <p:cNvSpPr txBox="1"/>
          <p:nvPr/>
        </p:nvSpPr>
        <p:spPr>
          <a:xfrm>
            <a:off x="1325880" y="478891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연습 기록표를 붙여요.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잘하는 일도, 아직 어려운 일도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일은 도움을 받아 연습해요.</a:t>
            </a:r>
            <a:endParaRPr lang="ko-KR" sz="3200" dirty="0"/>
          </a:p>
        </p:txBody>
      </p:sp>
      <p:sp>
        <p:nvSpPr>
          <p:cNvPr id="5" name="S07-chip4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겪은 일로 말하기</a:t>
            </a:r>
            <a:endParaRPr lang="ko-KR" sz="2600" dirty="0"/>
          </a:p>
        </p:txBody>
      </p:sp>
      <p:sp>
        <p:nvSpPr>
          <p:cNvPr id="6" name="S07-chip4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‘원래 못해’라고 말하기</a:t>
            </a:r>
            <a:endParaRPr lang="ko-KR" sz="2600" dirty="0"/>
          </a:p>
        </p:txBody>
      </p:sp>
      <p:sp>
        <p:nvSpPr>
          <p:cNvPr id="7" name="S07-text4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잘한 일 하나를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일로 말하기</a:t>
            </a:r>
            <a:endParaRPr lang="ko-KR" sz="2600" dirty="0"/>
          </a:p>
        </p:txBody>
      </p:sp>
      <p:sp>
        <p:nvSpPr>
          <p:cNvPr id="9" name="S07-text4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연습한 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달라졌나요?</a:t>
            </a:r>
            <a:endParaRPr lang="ko-KR" sz="2600" dirty="0"/>
          </a:p>
        </p:txBody>
      </p:sp>
      <p:sp>
        <p:nvSpPr>
          <p:cNvPr id="10" name="S07-text5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도움을 청하는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하나</a:t>
            </a:r>
            <a:endParaRPr lang="ko-KR" sz="2600" dirty="0"/>
          </a:p>
        </p:txBody>
      </p:sp>
      <p:sp>
        <p:nvSpPr>
          <p:cNvPr id="11" name="S07-text5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직업과 협력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어제 한 일</a:t>
            </a:r>
            <a:endParaRPr lang="ko-KR" sz="4400" dirty="0"/>
          </a:p>
        </p:txBody>
      </p:sp>
      <p:sp>
        <p:nvSpPr>
          <p:cNvPr id="3" name="S08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일을 골라요.</a:t>
            </a:r>
            <a:endParaRPr lang="ko-KR" sz="3200" dirty="0"/>
          </a:p>
        </p:txBody>
      </p:sp>
      <p:sp>
        <p:nvSpPr>
          <p:cNvPr id="4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했나요? 하고 나서 어땠나요?</a:t>
            </a:r>
            <a:endParaRPr lang="ko-KR" sz="3200" dirty="0"/>
          </a:p>
        </p:txBody>
      </p:sp>
      <p:sp>
        <p:nvSpPr>
          <p:cNvPr id="6" name="S08-chip55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6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7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정리하기</a:t>
            </a:r>
            <a:endParaRPr lang="ko-KR" sz="3200" dirty="0"/>
          </a:p>
        </p:txBody>
      </p:sp>
      <p:sp>
        <p:nvSpPr>
          <p:cNvPr id="9" name="S08-chip58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59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0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3200" dirty="0"/>
          </a:p>
        </p:txBody>
      </p:sp>
      <p:sp>
        <p:nvSpPr>
          <p:cNvPr id="12" name="S08-chip61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2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3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심부름하기</a:t>
            </a:r>
            <a:endParaRPr lang="ko-KR" sz="3200" dirty="0"/>
          </a:p>
        </p:txBody>
      </p:sp>
      <p:sp>
        <p:nvSpPr>
          <p:cNvPr id="15" name="S08-chip64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8-card65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8-cardtext66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동생과 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진로·직업 잘하는 일 찾기</dc:title>
  <dc:subject>KR22-G02-CAR-STRENGTH-L01</dc:subject>
  <dc:creator>education-ppt</dc:creator>
  <cp:lastModifiedBy>education-ppt</cp:lastModifiedBy>
  <cp:revision>1</cp:revision>
  <dcterms:created xsi:type="dcterms:W3CDTF">2026-10-26T13:22:51Z</dcterms:created>
  <dcterms:modified xsi:type="dcterms:W3CDTF">2026-10-26T13:22:51Z</dcterms:modified>
</cp:coreProperties>
</file>