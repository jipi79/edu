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33276bb-337a-1c7e-2938-d9ebf98c5846}">
          <p14:sldIdLst>
            <p14:sldId id="256"/>
            <p14:sldId id="257"/>
          </p14:sldIdLst>
        </p14:section>
        <p14:section name="개념" id="{a69cf80a-a1de-2d0b-c61a-46acdba9adc7}">
          <p14:sldIdLst>
            <p14:sldId id="258"/>
            <p14:sldId id="260"/>
          </p14:sldIdLst>
        </p14:section>
        <p14:section name="연습" id="{4f3cd11f-7ff9-ca69-2263-117c95ba6570}">
          <p14:sldIdLst>
            <p14:sldId id="259"/>
            <p14:sldId id="261"/>
          </p14:sldIdLst>
        </p14:section>
        <p14:section name="개념" id="{bc19ce39-dcc0-e66b-3c75-81d0a7bd1333}">
          <p14:sldIdLst/>
        </p14:section>
        <p14:section name="연습" id="{426f9e21-7fdd-643e-9447-007675114a95}">
          <p14:sldIdLst/>
        </p14:section>
        <p14:section name="확인" id="{5dc05c4d-f63a-428e-2793-513bd2e16e1b}">
          <p14:sldIdLst>
            <p14:sldId id="262"/>
          </p14:sldIdLst>
        </p14:section>
        <p14:section name="정리" id="{058c6279-fe0a-7bde-bf05-7abbe18269ef}">
          <p14:sldIdLst>
            <p14:sldId id="263"/>
          </p14:sldIdLst>
        </p14:section>
        <p14:section name="보충" id="{58f9df51-1842-aec9-4b8b-e4997b3486b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알리고, 주변 물건이 여러 재료로 만들어졌다는 데 관심을 갖게 합니다.
시간: 약 2분
이렇게 말해 보세요
- “우리 집 물건은 무엇으로 만들었을까? 공책은? 숟가락은? 젓가락은?”
- “오늘은 재료 탐정이 되어 네 가지 재료를 시험해 보고, 가위와 풀도 안전하게 써 볼 거야.”
예상 답
- “공책은 종이요.” “숟가락은 쇠(플라스틱)요.” “나무젓가락은 나무요.”
주의
- 재료(종이, 천 조각, 플라스틱 숟가락, 나무젓가락)와 물 한 컵, 가위, 풀을 미리 식탁에 준비해 둡니다. 식탁에는 신문지나 수건을 깔아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확인(만진 느낌 말하기, 가위 조심)]
목적: 만진 느낌을 낱말(부드럽다, 딱딱하다)로 말할 수 있는지, 가위를 조심해서 써야 한다는 것을 아는지 확인합니다.
시간: 약 3분
이렇게 말해 보세요
- “집에서 만지면 부드러운 물건을 하나 찾아 가져와 볼래? 딱딱한 물건은?”
- “가위를 쓸 때는 무엇을 조심해야 할까?”
예상 답
- ① 수건, 인형, 이불 ② 숟가락, 책상, 컵
- ③ “손가락을 조심해요.” “가위를 들고 뛰지 않아요.” “사람에게 가위를 향하지 않아요.”
막히면
- 느낌 낱말이 나오지 않거나 가위를 어떻게 잡는지 모르면 S09(보충)를 먼저 합니다.
- 이 차시는 계획상 앞 차시가 없습니다. 초1 ‘안전한 재료로 만들기’와 이어지는 내용입니다.
주의
- ③에서 아이가 말한 것은 S05에서 다시 확인하니 정리만 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재료를 비교하는 세 가지 방법]
목적: 재료를 비교하는 세 가지 방법(만지기, 접기, 물 떨어뜨리기)을 알려 주고, 같은 방법으로 시험해야 비교할 수 있다는 것을 알게 합니다.
시간: 약 3분
이렇게 말해 보세요
- “재료를 비교하려면 똑같은 방법으로 시험해야 해. 오늘은 세 가지를 해 볼 거야.”
- “엄마(아빠)가 종이로 먼저 해 볼게. 만져 보니 매끈하네. 접어 보니 잘 접혀. 물을 한 방울 떨어뜨리면… 어떻게 될까?”
예상 답
- “물이 스며들어요.” “종이가 젖어요.”
막히면
- ‘스며들다’는 물이 재료 속으로 들어가 퍼지는 것, ‘맺히다’는 물이 동그란 방울로 위에 남는 것이라고 손가락으로 보여 줍니다.
주의
- 나무는 접으려고 힘을 주면 부러져 가시가 생길 수 있습니다. ‘살짝 구부려 보기만’ 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재료 탐정(비교하고 표에 기록하기)]
목적: 네 재료를 같은 방법으로 시험하고 결과를 표에 기록하며 차이를 말합니다(M1).
시간: 약 12분
이렇게 말해 보세요
- “종이부터 해 볼까? 만져 보니 어때? 표의 ‘만진 느낌’ 칸에 써 보자.”
- “이번엔 천이야. 종이랑 무엇이 같고 무엇이 달라?”
- “물을 떨어뜨린 뒤 잠깐 기다려 보자. 물방울이 어떻게 됐어?”
- “네 재료 가운데 물방울이 그대로 맺힌 건 뭐야?”
예상 답
- 종이: 매끈하고 얇아요 / 잘 접혀요(○) / 물이 스며들어 젖어요(○)
- 천: 부드러워요 / 잘 접혀요(○) / 물이 스며들어 퍼져요(○)
- 플라스틱: 매끈하고 딱딱해요 / 안 접혀요(×) / 물방울이 맺혀요(×)
- 나무: 조금 거칠고 딱딱해요 / 안 접혀요(×) / 천천히 조금 스며들어 색이 진해져요(△)
- (재료에 따라 결과가 조금 다를 수 있습니다. 칠한 나무는 물방울이 맺힐 수 있습니다. 본 대로 적으면 맞음)
막히면
- 글로 쓰기 어려우면 접힘과 물 칸은 ○, ×만 쓰게 하고 느낌은 부모가 받아 적어 줍니다.
- 느낌 낱말이 떠오르지 않으면 S09(보충)의 카드에서 고르게 합니다.
주의
- 물을 떨어뜨린 뒤 10초쯤 기다려야 차이가 잘 보입니다. 나무는 1분쯤 지나 다시 봅니다.
- 아이가 지치면 여기서 쉬고, 다음 날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가위와 풀을 안전하게 쓰는 방법]
목적: 가위와 풀을 안전하게 쓰는 네 가지 방법을 부모가 실제 가위로 시범을 보이며 알려 줍니다(M3, M4).
시간: 약 3분
이렇게 말해 보세요
- “가위는 편리하지만 잘못 쓰면 다칠 수 있어. 엄마(아빠)가 볼 때만 쓰기로 약속하자.”
- “자를 때는 날이 내 몸 반대쪽을 향하게 해. 종이를 잡은 손가락은 날에서 멀리.”
- “건넬 때는 이렇게 날을 닫고, 날 쪽을 내 손으로 감싸 쥐고, 손잡이를 상대에게 내밀어.” (시범)
- “풀은 가장자리까지 얇게 조금만 바르고, 다 쓰면 뚜껑을 닫아.”
예상 답
- 아이가 부모를 따라 가위를 닫고 손잡이 쪽으로 건네 봅니다.
막히면
- 가위 잡는 법부터 어려우면 S09(보충)에서 엄지를 위 구멍에 넣는 법을 먼저 연습합니다.
주의
- 아이용 끝이 둥근 가위를 씁니다. 가위를 들고 걸어야 할 때는 날을 닫아 손으로 감싸 쥐고 아래로 향하게 합니다.
- 풀을 많이 바르면 종이가 젖어 울퉁불퉁해집니다(M4).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재료 카드 만들기(가위·풀 안전하게 쓰기)]
목적: 활동지 4의 점선 상자를 오려 붙이며 가위와 풀을 안전하게 쓰는지 관찰합니다.
시간: 약 10분
이렇게 말해 보세요
- “활동지 4의 점선을 따라 오려 볼까? 날이 어느 쪽을 향하고 있어?”
- “오린 종이를 공책에 붙여 보자. 풀은 얼마나 바를까?”
- “다 오렸으면 가위를 엄마(아빠)에게 건네줄래?”
- “붙인 카드 안에 오늘 가장 마음에 든 재료와 그 까닭을 써 보자.”
예상 답
- 날을 바깥쪽으로 향하게 해서 오리고, 날을 닫아 손잡이 쪽으로 건넵니다.
- 카드에 쓴 글 예: “천이 좋아요. 부드러워서요.”
막히면
- 날이 몸 쪽을 향하면 손을 멈추게 하고 종이를 돌려 다시 오리게 합니다.
- 가위질이 서툴러 선을 벗어나도 괜찮습니다. 오늘은 안전하게 쓰는 것이 목표입니다.
주의
- 관찰 기준을 어기면 바로 멈추고 바른 방법을 다시 보여 준 뒤 이어 합니다. 가위는 끝까지 부모가 보는 곳에서만 씁니다.
- 가위를 건네는 것은 역할을 바꾸어 두세 번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돌아보기(쓰임에 맞는 재료, 가위 건네기)]
목적: 재료의 특징을 쓰임과 연결해 까닭을 말하는지, 가위를 건네는 바른 방법을 혼자 말하고 보여 주는지 확인합니다(M2).
시간: 약 4분
이렇게 말해 보세요
- “①은 종이와 플라스틱 중에 무엇이 좋을까? 왜?”
- “②는 왜 나무나 플라스틱이 아니라 그 재료일까?”
- “③은 말로 하고, 엄마(아빠)에게 직접 건네 줘.”
정답
- ① 플라스틱. 물방울이 맺히고 스며들지 않아 비에 젖지 않기 때문입니다.
- ② 천. 부드럽고 잘 접혀서 아기가 덮기 좋기 때문입니다.
- ③ 가위 날을 닫고, 날 쪽을 내 손으로 감싸 쥐고, 손잡이를 상대 쪽으로 내밀어 건넵니다.
막히면
- ①②는 활동지 1의 표를 보고 답하게 합니다.
- ③에서 날을 벌린 채 건네면 S05의 시범을 다시 보여 주고 따라 하게 합니다.
주의
- 답과 까닭을 모두 말하고 ③을 바르게 보여 주면 목표 A·B 확인 완료입니다. ‘딱딱하니까 좋아요’처럼 쓰임과 맞지 않는 까닭이면 “아기가 덮을 때도 딱딱한 게 좋을까?”라고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정리와 다음 학습]
목적: 오늘 알게 된 재료의 특징과 도구 안전을 정리합니다.
시간: 약 3분
이렇게 말해 보세요
- “오늘 시험한 재료 가운데 가장 놀라웠던 건 뭐야?”
- “가위를 쓸 때 꼭 지킬 것 한 가지만 말해 볼래?”
예상 답
- “플라스틱은 물이 안 스며들어서 신기했어요.” “가위는 손잡이 쪽으로 건네요.”
정답
- ① 플라스틱(칠한 나무도 맺힐 수 있음) ② 날을 닫고 손잡이 쪽으로 ③ 부드럽고 잘 접혀서
주의
- 다 쓴 가위와 풀은 아이가 직접 제자리에 정리하게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보충(느낌 낱말, 가위 잡는 법)]
목적: S02에서 느낌 낱말이 나오지 않거나 가위를 바르게 잡지 못하면, 느낌 낱말과 가위 잡는 법을 먼저 익힙니다.
시간: 약 4분
이렇게 말해 보세요
- “카드에 있는 물건을 집에서 찾아 만져 볼까? 어떤 느낌이야?”
- “가위는 엄지를 위쪽 작은 구멍에, 나머지 손가락을 아래쪽 구멍에 넣어. 그리고 ‘벌렸다, 닫았다’ 해 보자.”
예상 답
- “수건은 부드러워요.” “숟가락은 딱딱해요.”
막히면
- 가위를 쥐기 어려우면 종이 없이 벌렸다 닫았다만 열 번 연습합니다.
주의
- 이 차시는 계획상 앞 차시가 없습니다. 보충으로도 어렵다면 초1 ‘안전한 재료로 만들기’처럼 종이를 손으로 찢고 접어 만드는 활동을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재료와제작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재료 비교와 도구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재료 비교와 도구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기술·가정 · 재료 비교와 도구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비교와 도구 안전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종이와 나무는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재료를 만지고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가위와 풀을 안전하게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찾아봐요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찾아서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 부드러운 물건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 딱딱한 물건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쓸 때 조심할 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시험해요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재료를 같은 방법으로 시험해요.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종이, 천, 플라스틱, 나무를 똑같이 해 봐요.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매끈해요?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거칠어요?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접혀요?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접혀요?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떨어뜨려요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스며들어요?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방울이 맺혀요?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탐정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나무는 부러뜨리지 않아요. 물은 숟가락으로 조금만.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재료를 똑같이 시험해요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표에 적어요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차이를 말로 설명해요</a:t>
            </a:r>
            <a:endParaRPr lang="ko-KR" sz="3200" dirty="0"/>
          </a:p>
        </p:txBody>
      </p:sp>
      <p:sp>
        <p:nvSpPr>
          <p:cNvPr id="7" name="S04-stepno23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24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만지고 느낌을 말해요.</a:t>
            </a:r>
            <a:endParaRPr lang="ko-KR" sz="3200" dirty="0"/>
          </a:p>
        </p:txBody>
      </p:sp>
      <p:sp>
        <p:nvSpPr>
          <p:cNvPr id="9" name="S04-stepno25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6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살짝 접어 봐요.</a:t>
            </a:r>
            <a:endParaRPr lang="ko-KR" sz="3200" dirty="0"/>
          </a:p>
        </p:txBody>
      </p:sp>
      <p:sp>
        <p:nvSpPr>
          <p:cNvPr id="11" name="S04-stepno27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8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한 방울 떨어뜨려요.</a:t>
            </a:r>
            <a:endParaRPr lang="ko-KR" sz="3200" dirty="0"/>
          </a:p>
        </p:txBody>
      </p:sp>
      <p:sp>
        <p:nvSpPr>
          <p:cNvPr id="13" name="S04-stepno29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30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가위와 풀 안전</a:t>
            </a:r>
            <a:endParaRPr lang="ko-KR" sz="44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볼 때만 가위를 써요.</a:t>
            </a:r>
            <a:endParaRPr lang="ko-KR" sz="3200" dirty="0"/>
          </a:p>
        </p:txBody>
      </p:sp>
      <p:sp>
        <p:nvSpPr>
          <p:cNvPr id="4" name="S05-card32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3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 날은 몸 반대쪽으로</a:t>
            </a:r>
            <a:endParaRPr lang="ko-KR" sz="3200" dirty="0"/>
          </a:p>
        </p:txBody>
      </p:sp>
      <p:sp>
        <p:nvSpPr>
          <p:cNvPr id="6" name="S05-card34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05-cardtext35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건넬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날을 닫고 손잡이 쪽으로</a:t>
            </a:r>
            <a:endParaRPr lang="ko-KR" sz="3200" dirty="0"/>
          </a:p>
        </p:txBody>
      </p:sp>
      <p:sp>
        <p:nvSpPr>
          <p:cNvPr id="8" name="S05-card36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7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날을 닫아 제자리에</a:t>
            </a:r>
            <a:endParaRPr lang="ko-KR" sz="3200" dirty="0"/>
          </a:p>
        </p:txBody>
      </p:sp>
      <p:sp>
        <p:nvSpPr>
          <p:cNvPr id="10" name="S05-card38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9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조금만 바르고 뚜껑 닫기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카드 만들기</a:t>
            </a:r>
            <a:endParaRPr lang="ko-KR" sz="4400" dirty="0"/>
          </a:p>
        </p:txBody>
      </p:sp>
      <p:sp>
        <p:nvSpPr>
          <p:cNvPr id="3" name="S06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옆에서 지켜봐요.</a:t>
            </a:r>
            <a:endParaRPr lang="ko-KR" sz="3200" dirty="0"/>
          </a:p>
        </p:txBody>
      </p:sp>
      <p:sp>
        <p:nvSpPr>
          <p:cNvPr id="4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가위는 앉아서, 어른이 볼 때만 써요.</a:t>
            </a:r>
            <a:endParaRPr lang="ko-KR" sz="3200" dirty="0"/>
          </a:p>
        </p:txBody>
      </p:sp>
      <p:sp>
        <p:nvSpPr>
          <p:cNvPr id="6" name="S06-card43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4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날을 몸 반대쪽으로 향해요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손잡이 쪽으로 건네요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 쓰면 날을 닫아요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풀 뚜껑을 닫아요</a:t>
            </a:r>
            <a:endParaRPr lang="ko-KR" sz="2600" dirty="0"/>
          </a:p>
        </p:txBody>
      </p:sp>
      <p:sp>
        <p:nvSpPr>
          <p:cNvPr id="8" name="S06-stepno45"/>
          <p:cNvSpPr txBox="1"/>
          <p:nvPr/>
        </p:nvSpPr>
        <p:spPr>
          <a:xfrm>
            <a:off x="548640" y="2450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46"/>
          <p:cNvSpPr txBox="1"/>
          <p:nvPr/>
        </p:nvSpPr>
        <p:spPr>
          <a:xfrm>
            <a:off x="1325880" y="24500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4의 점선을 따라 오려요.</a:t>
            </a:r>
            <a:endParaRPr lang="ko-KR" sz="2600" dirty="0"/>
          </a:p>
        </p:txBody>
      </p:sp>
      <p:sp>
        <p:nvSpPr>
          <p:cNvPr id="10" name="S06-stepno47"/>
          <p:cNvSpPr txBox="1"/>
          <p:nvPr/>
        </p:nvSpPr>
        <p:spPr>
          <a:xfrm>
            <a:off x="548640" y="3163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48"/>
          <p:cNvSpPr txBox="1"/>
          <p:nvPr/>
        </p:nvSpPr>
        <p:spPr>
          <a:xfrm>
            <a:off x="1325880" y="31633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풀을 얇게 발라 공책에 붙여요.</a:t>
            </a:r>
            <a:endParaRPr lang="ko-KR" sz="2600" dirty="0"/>
          </a:p>
        </p:txBody>
      </p:sp>
      <p:sp>
        <p:nvSpPr>
          <p:cNvPr id="12" name="S06-stepno49"/>
          <p:cNvSpPr txBox="1"/>
          <p:nvPr/>
        </p:nvSpPr>
        <p:spPr>
          <a:xfrm>
            <a:off x="548640" y="3922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50"/>
          <p:cNvSpPr txBox="1"/>
          <p:nvPr/>
        </p:nvSpPr>
        <p:spPr>
          <a:xfrm>
            <a:off x="1325880" y="3876548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닫아 손잡이 쪽으로 건네요.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4400" dirty="0"/>
          </a:p>
        </p:txBody>
      </p:sp>
      <p:sp>
        <p:nvSpPr>
          <p:cNvPr id="3" name="S07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함께 말해요.</a:t>
            </a:r>
            <a:endParaRPr lang="ko-KR" sz="3200" dirty="0"/>
          </a:p>
        </p:txBody>
      </p:sp>
      <p:sp>
        <p:nvSpPr>
          <p:cNvPr id="4" name="S07-chip5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7-text5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 쓸 이름표는 무엇으로 만들까요?</a:t>
            </a:r>
            <a:endParaRPr lang="ko-KR" sz="3200" dirty="0"/>
          </a:p>
        </p:txBody>
      </p:sp>
      <p:sp>
        <p:nvSpPr>
          <p:cNvPr id="6" name="S07-chip5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7-text5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 이불은 무엇으로 만들까요?</a:t>
            </a:r>
            <a:endParaRPr lang="ko-KR" sz="3200" dirty="0"/>
          </a:p>
        </p:txBody>
      </p:sp>
      <p:sp>
        <p:nvSpPr>
          <p:cNvPr id="8" name="S07-chip5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7-text5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건넬 때는 어떻게 하나요?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8-card5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재료마다 느낌·접힘·물에 젖음이 달라요. 가위는 안전하게!</a:t>
            </a:r>
            <a:endParaRPr lang="ko-KR" sz="3200" dirty="0"/>
          </a:p>
        </p:txBody>
      </p:sp>
      <p:sp>
        <p:nvSpPr>
          <p:cNvPr id="5" name="S08-chip6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손잡이 쪽으로 건네기</a:t>
            </a:r>
            <a:endParaRPr lang="ko-KR" sz="2600" dirty="0"/>
          </a:p>
        </p:txBody>
      </p:sp>
      <p:sp>
        <p:nvSpPr>
          <p:cNvPr id="6" name="S08-chip6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가위 들고 뛰기</a:t>
            </a:r>
            <a:endParaRPr lang="ko-KR" sz="2600" dirty="0"/>
          </a:p>
        </p:txBody>
      </p:sp>
      <p:sp>
        <p:nvSpPr>
          <p:cNvPr id="7" name="S08-text6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8-text6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물방울이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맺히는 재료는?</a:t>
            </a:r>
            <a:endParaRPr lang="ko-KR" sz="2600" dirty="0"/>
          </a:p>
        </p:txBody>
      </p:sp>
      <p:sp>
        <p:nvSpPr>
          <p:cNvPr id="9" name="S08-text6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가위를 건넬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쪽으로?</a:t>
            </a:r>
            <a:endParaRPr lang="ko-KR" sz="2600" dirty="0"/>
          </a:p>
        </p:txBody>
      </p:sp>
      <p:sp>
        <p:nvSpPr>
          <p:cNvPr id="10" name="S08-text6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아기 이불을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천으로 만드는 까닭</a:t>
            </a:r>
            <a:endParaRPr lang="ko-KR" sz="2600" dirty="0"/>
          </a:p>
        </p:txBody>
      </p:sp>
      <p:sp>
        <p:nvSpPr>
          <p:cNvPr id="11" name="S08-text6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순서를 바꾸면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느낌 낱말</a:t>
            </a:r>
            <a:endParaRPr lang="ko-KR" sz="4400" dirty="0"/>
          </a:p>
        </p:txBody>
      </p:sp>
      <p:sp>
        <p:nvSpPr>
          <p:cNvPr id="3" name="S09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알맞은 말을 골라요.</a:t>
            </a:r>
            <a:endParaRPr lang="ko-KR" sz="3200" dirty="0"/>
          </a:p>
        </p:txBody>
      </p:sp>
      <p:sp>
        <p:nvSpPr>
          <p:cNvPr id="4" name="S09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가위는 엄지를 위 구멍에 넣어 잡아요.</a:t>
            </a:r>
            <a:endParaRPr lang="ko-KR" sz="3200" dirty="0"/>
          </a:p>
        </p:txBody>
      </p:sp>
      <p:sp>
        <p:nvSpPr>
          <p:cNvPr id="6" name="S09-card70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1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부드러워요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수건, 인형</a:t>
            </a:r>
            <a:endParaRPr lang="ko-KR" sz="3200" dirty="0"/>
          </a:p>
        </p:txBody>
      </p:sp>
      <p:sp>
        <p:nvSpPr>
          <p:cNvPr id="8" name="S09-card72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3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숟가락, 책상</a:t>
            </a:r>
            <a:endParaRPr lang="ko-KR" sz="3200" dirty="0"/>
          </a:p>
        </p:txBody>
      </p:sp>
      <p:sp>
        <p:nvSpPr>
          <p:cNvPr id="10" name="S09-card74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75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접시, 유리창</a:t>
            </a:r>
            <a:endParaRPr lang="ko-KR" sz="3200" dirty="0"/>
          </a:p>
        </p:txBody>
      </p:sp>
      <p:sp>
        <p:nvSpPr>
          <p:cNvPr id="12" name="S09-card76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9-cardtext77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거칠어요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수세미, 나무껍질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기술·가정 재료 비교와 도구 안전</dc:title>
  <dc:subject>KR22-G02-TEC-TOOLS-L01</dc:subject>
  <dc:creator>education-ppt</dc:creator>
  <cp:lastModifiedBy>education-ppt</cp:lastModifiedBy>
  <cp:revision>1</cp:revision>
  <dcterms:created xsi:type="dcterms:W3CDTF">2026-10-26T10:00:44Z</dcterms:created>
  <dcterms:modified xsi:type="dcterms:W3CDTF">2026-10-26T10:00:44Z</dcterms:modified>
</cp:coreProperties>
</file>