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ea56a7e-f2f9-6a0a-369f-35ed25985f34}">
          <p14:sldIdLst>
            <p14:sldId id="256"/>
            <p14:sldId id="257"/>
          </p14:sldIdLst>
        </p14:section>
        <p14:section name="개념" id="{464ba112-f869-987b-3ca7-dcbd28a070a8}">
          <p14:sldIdLst>
            <p14:sldId id="258"/>
          </p14:sldIdLst>
        </p14:section>
        <p14:section name="연습" id="{f4b84126-5fcc-cced-c6c7-1fbe97d35b58}">
          <p14:sldIdLst>
            <p14:sldId id="259"/>
            <p14:sldId id="260"/>
          </p14:sldIdLst>
        </p14:section>
        <p14:section name="확인" id="{7391f93a-cfad-f0ae-fc5b-158c062eec24}">
          <p14:sldIdLst>
            <p14:sldId id="261"/>
          </p14:sldIdLst>
        </p14:section>
        <p14:section name="정리" id="{e0cb8cfe-71d0-1920-1f1c-7dbda4c4bdc9}">
          <p14:sldIdLst>
            <p14:sldId id="262"/>
          </p14:sldIdLst>
        </p14:section>
        <p14:section name="보충" id="{ce785ac7-7d0c-41db-9206-33a5f3ffd400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활동을 알리고, 집안일을 누가 하는지 생각해 보게 합니다.
시간: 약 2분
이렇게 말해 보세요
- “우리 집에서 밥 차리기, 빨래, 청소는 누가 하고 있을까?”
- “오늘은 하루 시간을 나누는 일과표를 만들고, 가족과 집안일도 나눠 볼 거야.”
예상 답
- “엄마가 해요.” “아빠가 해요.” “다 같이 해요.”
주의
- 아이가 ‘엄마가 다 해요’라고 해도 그대로 받아 줍니다. S05·S06에서 함께 나누는 방법을 찾습니다(M1).
- 이 차시는 화면보다 활동지와 가족 회의가 중심입니다. 활동지를 미리 인쇄해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확인(정각·30분 읽기, 하루의 순서)]
목적: 일과표를 쓰는 데 필요한 정각·30분 시각 읽기와 하루의 순서(아침 → 밤)를 아는지 확인합니다.
시간: 약 3분
이렇게 말해 보세요
- “①은 몇 시야? 너는 이 시각에 보통 뭘 해?”
- “②는 몇 시야? 아침 9시일까, 밤 9시일까? 무엇을 하는 시간일까?”
정답
- ① 7시 30분(아침에 일어나기, 씻기 등)
- ② 9시(밤 9시라면 잠자기, 아침 9시라면 학교에서 공부하기 — 아이가 말한 때에 맞으면 맞음)
막히면
- 시각을 읽지 못하면 S08(보충)을 먼저 합니다. 일과표는 시각 대신 ‘아침·낮·저녁·밤’으로 적어도 됩니다.
- 이 차시는 계획상 앞 차시가 없습니다. 초1 ‘내 물건 정리와 집안일’, ‘나의 하루’와 이어지는 내용이며, 시각 읽기는 초2 수학 ‘시각과 시간’에서 자세히 배웁니다.
주의
- 같은 9시도 아침과 밤이 있다는 것을 알면 일과표에 ‘아침·오후·저녁·밤’을 붙여 쓰는 까닭을 이해합니다.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일과표와 집안일 나누기 보기]
목적: 하루 일과표의 모양(시각과 할 일을 시간 순서대로)과, 일과표에 내가 맡은 집안일도 들어간다는 것을 보여 줍니다.
시간: 약 4분
이렇게 말해 보세요
- “하준이가 만든 일과표야. 위에서부터 읽어 볼까? 시간이 흐르는 차례대로 적었지?”
- “하준이는 숙제를 먼저 하고 놀아. 왜 그렇게 정했을까?”
- “저녁 6시에 ‘수저 놓기(내 일)’가 있지? 하준이가 가족과 나눠서 맡은 집안일이야. 우리 집에서는 누가 수저를 놓아?”
예상 답
- “숙제를 먼저 하면 마음 편히 놀 수 있어요.”
- “엄마가 놓아요.” “제가 가끔 놓아요.”
막히면
- 일과표를 손가락으로 짚으며 아침 → 오후 → 저녁 → 밤의 흐름을 함께 따라갑니다.
주의
- 하준이는 지어낸 아이입니다. 학교가 끝나는 시각, 자는 시각은 집마다 다르니 아이의 실제 생활에 맞추어 이야기합니다.
- 집은 가족이 함께 쓰는 곳이라 집안일도 함께 나눈다고 덧붙입니다(M1).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내 일과표 만들기]
목적: 아이가 자기 하루를 시간 순서대로 떠올려 일과표로 만듭니다.
시간: 약 10분
이렇게 말해 보세요
- “너는 보통 몇 시에 일어나? 첫 줄에 적어 볼까?”
- “학교에서 돌아오면 무엇을 먼저 할래? 숙제? 간식? 놀이?”
- “자는 시각은 몇 시로 할까? 잠을 충분히 자려면 언제 자야 할까?”
예상 답
- 아침 7시 30분 일어나기 → 8시 30분 학교 → 오후 2시 간식 → 2시 30분 숙제 → 3시 놀기 → 저녁 6시 30분 저녁 먹기 → 밤 9시 잠자기
- (시간 순서대로 다섯 가지 이상이고 숙제·놀이·잠자기가 들어가면 맞음)
막히면
- 시각을 정하기 어려우면 부모가 실제 시계를 보여 주며 “어제는 몇 시에 일어났지?”라고 묻습니다.
- 시각 읽기가 아직 어려우면 S08(보충)처럼 ‘아침·낮·저녁·밤’으로 적게 합니다.
주의
- 노는 시간만 많거나 할 일만 빽빽하면(M3) “이 시간표대로 하면 하루가 어떨 것 같아?”라고 묻고 함께 고칩니다.
- 집안일 시간은 S06에서 맡을 일을 정한 뒤 넣습니다. 칸을 한두 개 비워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내가 할 수 있는 일과 어른의 일 구별]
목적: 우리 집 일을 내가 할 수 있는 일과 어른이 해야 하는 일로 까닭을 들어 구별합니다(M2).
시간: 약 5분
이렇게 말해 보세요
- “하나씩 읽고, 네가 할 수 있는 일인지 어른이 할 일인지 말해 줘. 왜 그렇게 생각해?”
- “여기에 없는 일 중에 네가 할 수 있는 일이 또 있을까?”
정답
- 내가 할 수 있는 일: ① 수저 놓기 ③ 빨래 개기 ⑤ 신발 정리하기 ⑥ 화분에 물 주기
- 어른이 하는 일: ② 칼로 과일 자르기 ④ 불을 켜고 국 끓이기 — 칼과 불은 다칠 수 있어서
- 그 밖에 할 수 있는 일 예: 내 책상 정리, 장난감 정리, 식탁 닦기, 재활용품 나르기
막히면
- “이 일을 하다가 다칠 수 있을까?”라고 물어 까닭을 찾게 합니다.
주의
- 집마다 아이가 하는 일은 다를 수 있습니다. 어른과 함께라면 할 수 있는 일(예: 어른 옆에서 채소 씻기)은 ‘어른과 함께’라고 정리해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가족 회의로 일 나누기와 실천표 만들기]
목적: 가족과 의논해 내가 맡을 집안일을 스스로 정하고, 일과표와 일주일 실천표에 적는지 관찰합니다.
시간: 약 12분
이렇게 말해 보세요
- “우리 가족 회의를 해 보자. 우리 집에서 해야 하는 일을 다 같이 말해 볼까?” (활동지 2에 적기)
- “이 가운데 네가 맡고 싶은 일은 뭐야? 왜 그 일을 골랐어?”
- “그 일은 하루 중 언제 하면 좋을까? 일과표의 빈칸에 넣어 보자.”
- “실천표에 적고, 한 날마다 ○를 하자.” (활동지 3)
예상 답
- “저는 수저 놓기를 할래요. 저녁 먹기 전에 할 수 있으니까요.”
- “신발 정리를 할래요. 현관이 깨끗하면 모두 좋으니까요.”
정답
- 관찰 기준 세 가지를 지키면 목표 A·B 확인 완료입니다. 맡을 일과 까닭은 아이가 정한 것이면 맞습니다(칼·불을 쓰는 일은 제외).
막히면
- 고르기 어려우면 S05에서 ‘내가 할 수 있는 일’로 고른 것 가운데 두 가지를 보기로 줍니다.
- 가족이 함께하기 어려우면 부모와 아이 둘이서 해도 됩니다. 다른 가족의 일은 부모가 대신 말해 줍니다.
주의
- 맡을 일은 1~2가지로 적게 시작합니다. 너무 많이 맡으면 지키기 어렵습니다.
- 일주일 동안 실천표를 함께 확인하고, 못 한 날은 꾸짖지 않고 “내일은 언제 할까?”라고 묻습니다(M4).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오늘 한 일을 정리하고 일주일 실천을 약속합니다.
시간: 약 3분
이렇게 말해 보세요
- “오늘 만든 일과표와 실천표를 냉장고(잘 보이는 곳)에 붙여 둘까?”
- “다음 수업 때 실천표에 ○가 몇 개인지 같이 세어 보자.”
예상 답
- “일과표를 보고 숙제 먼저 할게요.”
정답
- ① 시각과 할 일 ② 아이가 정한 일과 까닭(예: 수저 놓기 — 저녁 먹기 전에 할 수 있어서) ③ 실천표를 보고 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보충(아침·낮·저녁·밤으로 하루 나누기)]
목적: S02에서 시각을 읽지 못하거나 하루의 순서를 헷갈리면, 아침·낮·저녁·밤으로 하루를 나누어 일과표를 만들 수 있게 합니다.
시간: 약 4분
이렇게 말해 보세요
- “하루는 아침에 시작해서 밤에 끝나. 아침에는 뭘 해? 밤에는?”
- “시계를 읽기 어려우면 일과표의 ‘시각’ 칸에 ‘아침, 낮, 저녁, 밤’이라고 써도 돼.”
예상 답
- “아침에는 일어나서 밥 먹어요. 밤에는 자요.”
막히면
- 아침·낮·저녁·밤을 종이에 크게 써서 바닥에 놓고, 아이가 하는 일을 말하며 그 위로 옮겨 서게 합니다.
주의
- 이 차시는 계획상 앞 차시가 없습니다. 하루의 순서를 말하기 어렵다면 초1 ‘나의 하루’를, 시각 읽기가 어렵다면 초2 수학 ‘시각과 시간’을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기술·가정 · 자립과나눔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기술·가정 · 시간 관리와 집안일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기술·가정 · 시간 관리와 집안일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기술·가정 · 시간 관리와 집안일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관리와 집안일 나누기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일은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할까?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590548"/>
          <a:ext cx="3931920" cy="914400"/>
        </p:xfrm>
        <a:graphic>
          <a:graphicData uri="http://schemas.openxmlformats.org/drawingml/2006/table">
            <a:tbl>
              <a:tblPr/>
              <a:tblGrid>
                <a:gridCol w="1808683"/>
                <a:gridCol w="707746"/>
                <a:gridCol w="707746"/>
                <a:gridCol w="707746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수저 놓기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나의 하루 일과표를 만들어요.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가족과 일을 나누어 맡아요.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시일까요?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시각을 읽고, 이때 하는 일을 말해요.</a:t>
            </a:r>
            <a:endParaRPr lang="ko-KR" sz="3200" dirty="0"/>
          </a:p>
        </p:txBody>
      </p:sp>
      <p:sp>
        <p:nvSpPr>
          <p:cNvPr id="4" name="S02-figure5" descr="시계: 7시 30분"/>
          <p:cNvSpPr/>
          <p:nvPr/>
        </p:nvSpPr>
        <p:spPr>
          <a:xfrm>
            <a:off x="1687068" y="230085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2-line6"/>
          <p:cNvSpPr/>
          <p:nvPr/>
        </p:nvSpPr>
        <p:spPr>
          <a:xfrm>
            <a:off x="3241548" y="233743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2-line7"/>
          <p:cNvSpPr/>
          <p:nvPr/>
        </p:nvSpPr>
        <p:spPr>
          <a:xfrm flipH="1">
            <a:off x="3392088" y="234575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2-line8"/>
          <p:cNvSpPr/>
          <p:nvPr/>
        </p:nvSpPr>
        <p:spPr>
          <a:xfrm flipH="1">
            <a:off x="3540978" y="237060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line9"/>
          <p:cNvSpPr/>
          <p:nvPr/>
        </p:nvSpPr>
        <p:spPr>
          <a:xfrm flipH="1">
            <a:off x="3686588" y="241172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line10"/>
          <p:cNvSpPr/>
          <p:nvPr/>
        </p:nvSpPr>
        <p:spPr>
          <a:xfrm flipH="1">
            <a:off x="3827322" y="246866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line11"/>
          <p:cNvSpPr/>
          <p:nvPr/>
        </p:nvSpPr>
        <p:spPr>
          <a:xfrm flipH="1">
            <a:off x="3915004" y="254079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line12"/>
          <p:cNvSpPr/>
          <p:nvPr/>
        </p:nvSpPr>
        <p:spPr>
          <a:xfrm flipH="1">
            <a:off x="4088065" y="26273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line13"/>
          <p:cNvSpPr/>
          <p:nvPr/>
        </p:nvSpPr>
        <p:spPr>
          <a:xfrm flipH="1">
            <a:off x="4205217" y="272731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2-line14"/>
          <p:cNvSpPr/>
          <p:nvPr/>
        </p:nvSpPr>
        <p:spPr>
          <a:xfrm flipH="1">
            <a:off x="4311810" y="283966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line15"/>
          <p:cNvSpPr/>
          <p:nvPr/>
        </p:nvSpPr>
        <p:spPr>
          <a:xfrm flipH="1">
            <a:off x="4406678" y="296313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line16"/>
          <p:cNvSpPr/>
          <p:nvPr/>
        </p:nvSpPr>
        <p:spPr>
          <a:xfrm flipH="1">
            <a:off x="4408007" y="309638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2-line17"/>
          <p:cNvSpPr/>
          <p:nvPr/>
        </p:nvSpPr>
        <p:spPr>
          <a:xfrm flipH="1">
            <a:off x="4557218" y="323795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2-line18"/>
          <p:cNvSpPr/>
          <p:nvPr/>
        </p:nvSpPr>
        <p:spPr>
          <a:xfrm flipH="1">
            <a:off x="4611241" y="338628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line19"/>
          <p:cNvSpPr/>
          <p:nvPr/>
        </p:nvSpPr>
        <p:spPr>
          <a:xfrm flipH="1">
            <a:off x="4650257" y="353974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line20"/>
          <p:cNvSpPr/>
          <p:nvPr/>
        </p:nvSpPr>
        <p:spPr>
          <a:xfrm flipH="1">
            <a:off x="4673839" y="369667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line21"/>
          <p:cNvSpPr/>
          <p:nvPr/>
        </p:nvSpPr>
        <p:spPr>
          <a:xfrm flipH="1">
            <a:off x="4588459" y="385533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2-line22"/>
          <p:cNvSpPr/>
          <p:nvPr/>
        </p:nvSpPr>
        <p:spPr>
          <a:xfrm flipH="1" flipV="1">
            <a:off x="4673839" y="400587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line23"/>
          <p:cNvSpPr/>
          <p:nvPr/>
        </p:nvSpPr>
        <p:spPr>
          <a:xfrm flipH="1" flipV="1">
            <a:off x="4650257" y="415476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2-line24"/>
          <p:cNvSpPr/>
          <p:nvPr/>
        </p:nvSpPr>
        <p:spPr>
          <a:xfrm flipH="1" flipV="1">
            <a:off x="4611241" y="430037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line25"/>
          <p:cNvSpPr/>
          <p:nvPr/>
        </p:nvSpPr>
        <p:spPr>
          <a:xfrm flipH="1" flipV="1">
            <a:off x="4557218" y="44411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line26"/>
          <p:cNvSpPr/>
          <p:nvPr/>
        </p:nvSpPr>
        <p:spPr>
          <a:xfrm flipH="1" flipV="1">
            <a:off x="4408007" y="452879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2-line27"/>
          <p:cNvSpPr/>
          <p:nvPr/>
        </p:nvSpPr>
        <p:spPr>
          <a:xfrm flipH="1" flipV="1">
            <a:off x="4406678" y="470185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2-line28"/>
          <p:cNvSpPr/>
          <p:nvPr/>
        </p:nvSpPr>
        <p:spPr>
          <a:xfrm flipH="1" flipV="1">
            <a:off x="4311810" y="48190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2-line29"/>
          <p:cNvSpPr/>
          <p:nvPr/>
        </p:nvSpPr>
        <p:spPr>
          <a:xfrm flipH="1" flipV="1">
            <a:off x="4205217" y="492560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2-line30"/>
          <p:cNvSpPr/>
          <p:nvPr/>
        </p:nvSpPr>
        <p:spPr>
          <a:xfrm flipH="1" flipV="1">
            <a:off x="4088065" y="502046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line31"/>
          <p:cNvSpPr/>
          <p:nvPr/>
        </p:nvSpPr>
        <p:spPr>
          <a:xfrm flipH="1" flipV="1">
            <a:off x="3915004" y="502179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2-line32"/>
          <p:cNvSpPr/>
          <p:nvPr/>
        </p:nvSpPr>
        <p:spPr>
          <a:xfrm flipH="1" flipV="1">
            <a:off x="3827322" y="517100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2-line33"/>
          <p:cNvSpPr/>
          <p:nvPr/>
        </p:nvSpPr>
        <p:spPr>
          <a:xfrm flipH="1" flipV="1">
            <a:off x="3686588" y="522503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2-line34"/>
          <p:cNvSpPr/>
          <p:nvPr/>
        </p:nvSpPr>
        <p:spPr>
          <a:xfrm flipH="1" flipV="1">
            <a:off x="3540978" y="526404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line35"/>
          <p:cNvSpPr/>
          <p:nvPr/>
        </p:nvSpPr>
        <p:spPr>
          <a:xfrm flipH="1" flipV="1">
            <a:off x="3392088" y="528763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2-line36"/>
          <p:cNvSpPr/>
          <p:nvPr/>
        </p:nvSpPr>
        <p:spPr>
          <a:xfrm flipV="1">
            <a:off x="3241548" y="520225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2-line37"/>
          <p:cNvSpPr/>
          <p:nvPr/>
        </p:nvSpPr>
        <p:spPr>
          <a:xfrm flipV="1">
            <a:off x="3082884" y="528763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2-line38"/>
          <p:cNvSpPr/>
          <p:nvPr/>
        </p:nvSpPr>
        <p:spPr>
          <a:xfrm flipV="1">
            <a:off x="2925958" y="526404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2-line39"/>
          <p:cNvSpPr/>
          <p:nvPr/>
        </p:nvSpPr>
        <p:spPr>
          <a:xfrm flipV="1">
            <a:off x="2772490" y="522503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2-line40"/>
          <p:cNvSpPr/>
          <p:nvPr/>
        </p:nvSpPr>
        <p:spPr>
          <a:xfrm flipV="1">
            <a:off x="2624161" y="517100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line41"/>
          <p:cNvSpPr/>
          <p:nvPr/>
        </p:nvSpPr>
        <p:spPr>
          <a:xfrm flipV="1">
            <a:off x="2482596" y="502179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2-line42"/>
          <p:cNvSpPr/>
          <p:nvPr/>
        </p:nvSpPr>
        <p:spPr>
          <a:xfrm flipV="1">
            <a:off x="2349346" y="502046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2-line43"/>
          <p:cNvSpPr/>
          <p:nvPr/>
        </p:nvSpPr>
        <p:spPr>
          <a:xfrm flipV="1">
            <a:off x="2225872" y="492560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2-line44"/>
          <p:cNvSpPr/>
          <p:nvPr/>
        </p:nvSpPr>
        <p:spPr>
          <a:xfrm flipV="1">
            <a:off x="2113525" y="48190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line45"/>
          <p:cNvSpPr/>
          <p:nvPr/>
        </p:nvSpPr>
        <p:spPr>
          <a:xfrm flipV="1">
            <a:off x="2013538" y="470185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line46"/>
          <p:cNvSpPr/>
          <p:nvPr/>
        </p:nvSpPr>
        <p:spPr>
          <a:xfrm flipV="1">
            <a:off x="1927005" y="452879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2-line47"/>
          <p:cNvSpPr/>
          <p:nvPr/>
        </p:nvSpPr>
        <p:spPr>
          <a:xfrm flipV="1">
            <a:off x="1854874" y="44411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2-line48"/>
          <p:cNvSpPr/>
          <p:nvPr/>
        </p:nvSpPr>
        <p:spPr>
          <a:xfrm flipV="1">
            <a:off x="1797936" y="430037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2-line49"/>
          <p:cNvSpPr/>
          <p:nvPr/>
        </p:nvSpPr>
        <p:spPr>
          <a:xfrm flipV="1">
            <a:off x="1756814" y="415476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2-line50"/>
          <p:cNvSpPr/>
          <p:nvPr/>
        </p:nvSpPr>
        <p:spPr>
          <a:xfrm flipV="1">
            <a:off x="1731959" y="400587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2-line51"/>
          <p:cNvSpPr/>
          <p:nvPr/>
        </p:nvSpPr>
        <p:spPr>
          <a:xfrm>
            <a:off x="1723644" y="385533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2-line52"/>
          <p:cNvSpPr/>
          <p:nvPr/>
        </p:nvSpPr>
        <p:spPr>
          <a:xfrm>
            <a:off x="1731959" y="369667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2-line53"/>
          <p:cNvSpPr/>
          <p:nvPr/>
        </p:nvSpPr>
        <p:spPr>
          <a:xfrm>
            <a:off x="1756814" y="353974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2-line54"/>
          <p:cNvSpPr/>
          <p:nvPr/>
        </p:nvSpPr>
        <p:spPr>
          <a:xfrm>
            <a:off x="1797936" y="338628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line55"/>
          <p:cNvSpPr/>
          <p:nvPr/>
        </p:nvSpPr>
        <p:spPr>
          <a:xfrm>
            <a:off x="1854874" y="323795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line56"/>
          <p:cNvSpPr/>
          <p:nvPr/>
        </p:nvSpPr>
        <p:spPr>
          <a:xfrm>
            <a:off x="1927005" y="309638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2-line57"/>
          <p:cNvSpPr/>
          <p:nvPr/>
        </p:nvSpPr>
        <p:spPr>
          <a:xfrm>
            <a:off x="2013538" y="296313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2-line58"/>
          <p:cNvSpPr/>
          <p:nvPr/>
        </p:nvSpPr>
        <p:spPr>
          <a:xfrm>
            <a:off x="2113525" y="283966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2-line59"/>
          <p:cNvSpPr/>
          <p:nvPr/>
        </p:nvSpPr>
        <p:spPr>
          <a:xfrm>
            <a:off x="2225872" y="272731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line60"/>
          <p:cNvSpPr/>
          <p:nvPr/>
        </p:nvSpPr>
        <p:spPr>
          <a:xfrm>
            <a:off x="2349346" y="26273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2-line61"/>
          <p:cNvSpPr/>
          <p:nvPr/>
        </p:nvSpPr>
        <p:spPr>
          <a:xfrm>
            <a:off x="2482596" y="254079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2-line62"/>
          <p:cNvSpPr/>
          <p:nvPr/>
        </p:nvSpPr>
        <p:spPr>
          <a:xfrm>
            <a:off x="2624161" y="246866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2-line63"/>
          <p:cNvSpPr/>
          <p:nvPr/>
        </p:nvSpPr>
        <p:spPr>
          <a:xfrm>
            <a:off x="2772490" y="241172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2-line64"/>
          <p:cNvSpPr/>
          <p:nvPr/>
        </p:nvSpPr>
        <p:spPr>
          <a:xfrm>
            <a:off x="2925958" y="237060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line65"/>
          <p:cNvSpPr/>
          <p:nvPr/>
        </p:nvSpPr>
        <p:spPr>
          <a:xfrm>
            <a:off x="3082884" y="234575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label66"/>
          <p:cNvSpPr txBox="1"/>
          <p:nvPr/>
        </p:nvSpPr>
        <p:spPr>
          <a:xfrm>
            <a:off x="3581248" y="26089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6" name="S02-label67"/>
          <p:cNvSpPr txBox="1"/>
          <p:nvPr/>
        </p:nvSpPr>
        <p:spPr>
          <a:xfrm>
            <a:off x="4030741" y="30584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7" name="S02-label68"/>
          <p:cNvSpPr txBox="1"/>
          <p:nvPr/>
        </p:nvSpPr>
        <p:spPr>
          <a:xfrm>
            <a:off x="4195267" y="36724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8" name="S02-label69"/>
          <p:cNvSpPr txBox="1"/>
          <p:nvPr/>
        </p:nvSpPr>
        <p:spPr>
          <a:xfrm>
            <a:off x="4030741" y="428647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9" name="S02-label70"/>
          <p:cNvSpPr txBox="1"/>
          <p:nvPr/>
        </p:nvSpPr>
        <p:spPr>
          <a:xfrm>
            <a:off x="3581248" y="47359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0" name="S02-label71"/>
          <p:cNvSpPr txBox="1"/>
          <p:nvPr/>
        </p:nvSpPr>
        <p:spPr>
          <a:xfrm>
            <a:off x="2967228" y="49004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1" name="S02-label72"/>
          <p:cNvSpPr txBox="1"/>
          <p:nvPr/>
        </p:nvSpPr>
        <p:spPr>
          <a:xfrm>
            <a:off x="2353208" y="47359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2" name="S02-label73"/>
          <p:cNvSpPr txBox="1"/>
          <p:nvPr/>
        </p:nvSpPr>
        <p:spPr>
          <a:xfrm>
            <a:off x="1903715" y="428647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3" name="S02-label74"/>
          <p:cNvSpPr txBox="1"/>
          <p:nvPr/>
        </p:nvSpPr>
        <p:spPr>
          <a:xfrm>
            <a:off x="1739189" y="36724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4" name="S02-label75"/>
          <p:cNvSpPr txBox="1"/>
          <p:nvPr/>
        </p:nvSpPr>
        <p:spPr>
          <a:xfrm>
            <a:off x="1903715" y="30584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5" name="S02-label76"/>
          <p:cNvSpPr txBox="1"/>
          <p:nvPr/>
        </p:nvSpPr>
        <p:spPr>
          <a:xfrm>
            <a:off x="2353208" y="26089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6" name="S02-label77"/>
          <p:cNvSpPr txBox="1"/>
          <p:nvPr/>
        </p:nvSpPr>
        <p:spPr>
          <a:xfrm>
            <a:off x="2967228" y="24444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7" name="S02-line78"/>
          <p:cNvSpPr/>
          <p:nvPr/>
        </p:nvSpPr>
        <p:spPr>
          <a:xfrm flipH="1">
            <a:off x="2757907" y="3855339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2-line79"/>
          <p:cNvSpPr/>
          <p:nvPr/>
        </p:nvSpPr>
        <p:spPr>
          <a:xfrm>
            <a:off x="3241548" y="385533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2-pin80"/>
          <p:cNvSpPr/>
          <p:nvPr/>
        </p:nvSpPr>
        <p:spPr>
          <a:xfrm>
            <a:off x="3186684" y="380047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2-label81"/>
          <p:cNvSpPr txBox="1"/>
          <p:nvPr/>
        </p:nvSpPr>
        <p:spPr>
          <a:xfrm>
            <a:off x="548640" y="577215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1" name="S02-figure82" descr="시계: 9시"/>
          <p:cNvSpPr/>
          <p:nvPr/>
        </p:nvSpPr>
        <p:spPr>
          <a:xfrm>
            <a:off x="7392924" y="230085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2" name="S02-line83"/>
          <p:cNvSpPr/>
          <p:nvPr/>
        </p:nvSpPr>
        <p:spPr>
          <a:xfrm>
            <a:off x="8947404" y="233743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3" name="S02-line84"/>
          <p:cNvSpPr/>
          <p:nvPr/>
        </p:nvSpPr>
        <p:spPr>
          <a:xfrm flipH="1">
            <a:off x="9097944" y="234575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2-line85"/>
          <p:cNvSpPr/>
          <p:nvPr/>
        </p:nvSpPr>
        <p:spPr>
          <a:xfrm flipH="1">
            <a:off x="9246834" y="237060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2-line86"/>
          <p:cNvSpPr/>
          <p:nvPr/>
        </p:nvSpPr>
        <p:spPr>
          <a:xfrm flipH="1">
            <a:off x="9392444" y="241172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2-line87"/>
          <p:cNvSpPr/>
          <p:nvPr/>
        </p:nvSpPr>
        <p:spPr>
          <a:xfrm flipH="1">
            <a:off x="9533178" y="246866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2-line88"/>
          <p:cNvSpPr/>
          <p:nvPr/>
        </p:nvSpPr>
        <p:spPr>
          <a:xfrm flipH="1">
            <a:off x="9620860" y="254079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8" name="S02-line89"/>
          <p:cNvSpPr/>
          <p:nvPr/>
        </p:nvSpPr>
        <p:spPr>
          <a:xfrm flipH="1">
            <a:off x="9793921" y="26273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2-line90"/>
          <p:cNvSpPr/>
          <p:nvPr/>
        </p:nvSpPr>
        <p:spPr>
          <a:xfrm flipH="1">
            <a:off x="9911073" y="272731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2-line91"/>
          <p:cNvSpPr/>
          <p:nvPr/>
        </p:nvSpPr>
        <p:spPr>
          <a:xfrm flipH="1">
            <a:off x="10017666" y="283966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2-line92"/>
          <p:cNvSpPr/>
          <p:nvPr/>
        </p:nvSpPr>
        <p:spPr>
          <a:xfrm flipH="1">
            <a:off x="10112534" y="296313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2-line93"/>
          <p:cNvSpPr/>
          <p:nvPr/>
        </p:nvSpPr>
        <p:spPr>
          <a:xfrm flipH="1">
            <a:off x="10113863" y="309638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3" name="S02-line94"/>
          <p:cNvSpPr/>
          <p:nvPr/>
        </p:nvSpPr>
        <p:spPr>
          <a:xfrm flipH="1">
            <a:off x="10263074" y="323795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2-line95"/>
          <p:cNvSpPr/>
          <p:nvPr/>
        </p:nvSpPr>
        <p:spPr>
          <a:xfrm flipH="1">
            <a:off x="10317097" y="338628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2-line96"/>
          <p:cNvSpPr/>
          <p:nvPr/>
        </p:nvSpPr>
        <p:spPr>
          <a:xfrm flipH="1">
            <a:off x="10356113" y="353974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2-line97"/>
          <p:cNvSpPr/>
          <p:nvPr/>
        </p:nvSpPr>
        <p:spPr>
          <a:xfrm flipH="1">
            <a:off x="10379695" y="369667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2-line98"/>
          <p:cNvSpPr/>
          <p:nvPr/>
        </p:nvSpPr>
        <p:spPr>
          <a:xfrm flipH="1">
            <a:off x="10294315" y="385533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8" name="S02-line99"/>
          <p:cNvSpPr/>
          <p:nvPr/>
        </p:nvSpPr>
        <p:spPr>
          <a:xfrm flipH="1" flipV="1">
            <a:off x="10379695" y="400587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2-line100"/>
          <p:cNvSpPr/>
          <p:nvPr/>
        </p:nvSpPr>
        <p:spPr>
          <a:xfrm flipH="1" flipV="1">
            <a:off x="10356113" y="415476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2-line101"/>
          <p:cNvSpPr/>
          <p:nvPr/>
        </p:nvSpPr>
        <p:spPr>
          <a:xfrm flipH="1" flipV="1">
            <a:off x="10317097" y="430037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2-line102"/>
          <p:cNvSpPr/>
          <p:nvPr/>
        </p:nvSpPr>
        <p:spPr>
          <a:xfrm flipH="1" flipV="1">
            <a:off x="10263074" y="44411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2-line103"/>
          <p:cNvSpPr/>
          <p:nvPr/>
        </p:nvSpPr>
        <p:spPr>
          <a:xfrm flipH="1" flipV="1">
            <a:off x="10113863" y="452879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3" name="S02-line104"/>
          <p:cNvSpPr/>
          <p:nvPr/>
        </p:nvSpPr>
        <p:spPr>
          <a:xfrm flipH="1" flipV="1">
            <a:off x="10112534" y="470185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2-line105"/>
          <p:cNvSpPr/>
          <p:nvPr/>
        </p:nvSpPr>
        <p:spPr>
          <a:xfrm flipH="1" flipV="1">
            <a:off x="10017666" y="48190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2-line106"/>
          <p:cNvSpPr/>
          <p:nvPr/>
        </p:nvSpPr>
        <p:spPr>
          <a:xfrm flipH="1" flipV="1">
            <a:off x="9911073" y="492560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2-line107"/>
          <p:cNvSpPr/>
          <p:nvPr/>
        </p:nvSpPr>
        <p:spPr>
          <a:xfrm flipH="1" flipV="1">
            <a:off x="9793921" y="502046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2-line108"/>
          <p:cNvSpPr/>
          <p:nvPr/>
        </p:nvSpPr>
        <p:spPr>
          <a:xfrm flipH="1" flipV="1">
            <a:off x="9620860" y="502179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8" name="S02-line109"/>
          <p:cNvSpPr/>
          <p:nvPr/>
        </p:nvSpPr>
        <p:spPr>
          <a:xfrm flipH="1" flipV="1">
            <a:off x="9533178" y="517100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2-line110"/>
          <p:cNvSpPr/>
          <p:nvPr/>
        </p:nvSpPr>
        <p:spPr>
          <a:xfrm flipH="1" flipV="1">
            <a:off x="9392444" y="522503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2-line111"/>
          <p:cNvSpPr/>
          <p:nvPr/>
        </p:nvSpPr>
        <p:spPr>
          <a:xfrm flipH="1" flipV="1">
            <a:off x="9246834" y="526404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2-line112"/>
          <p:cNvSpPr/>
          <p:nvPr/>
        </p:nvSpPr>
        <p:spPr>
          <a:xfrm flipH="1" flipV="1">
            <a:off x="9097944" y="528763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2-line113"/>
          <p:cNvSpPr/>
          <p:nvPr/>
        </p:nvSpPr>
        <p:spPr>
          <a:xfrm flipV="1">
            <a:off x="8947404" y="520225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3" name="S02-line114"/>
          <p:cNvSpPr/>
          <p:nvPr/>
        </p:nvSpPr>
        <p:spPr>
          <a:xfrm flipV="1">
            <a:off x="8788740" y="528763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2-line115"/>
          <p:cNvSpPr/>
          <p:nvPr/>
        </p:nvSpPr>
        <p:spPr>
          <a:xfrm flipV="1">
            <a:off x="8631814" y="526404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2-line116"/>
          <p:cNvSpPr/>
          <p:nvPr/>
        </p:nvSpPr>
        <p:spPr>
          <a:xfrm flipV="1">
            <a:off x="8478346" y="522503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2-line117"/>
          <p:cNvSpPr/>
          <p:nvPr/>
        </p:nvSpPr>
        <p:spPr>
          <a:xfrm flipV="1">
            <a:off x="8330017" y="517100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2-line118"/>
          <p:cNvSpPr/>
          <p:nvPr/>
        </p:nvSpPr>
        <p:spPr>
          <a:xfrm flipV="1">
            <a:off x="8188452" y="502179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8" name="S02-line119"/>
          <p:cNvSpPr/>
          <p:nvPr/>
        </p:nvSpPr>
        <p:spPr>
          <a:xfrm flipV="1">
            <a:off x="8055202" y="502046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2-line120"/>
          <p:cNvSpPr/>
          <p:nvPr/>
        </p:nvSpPr>
        <p:spPr>
          <a:xfrm flipV="1">
            <a:off x="7931728" y="492560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2-line121"/>
          <p:cNvSpPr/>
          <p:nvPr/>
        </p:nvSpPr>
        <p:spPr>
          <a:xfrm flipV="1">
            <a:off x="7819381" y="48190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2-line122"/>
          <p:cNvSpPr/>
          <p:nvPr/>
        </p:nvSpPr>
        <p:spPr>
          <a:xfrm flipV="1">
            <a:off x="7719394" y="470185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2-line123"/>
          <p:cNvSpPr/>
          <p:nvPr/>
        </p:nvSpPr>
        <p:spPr>
          <a:xfrm flipV="1">
            <a:off x="7632861" y="452879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3" name="S02-line124"/>
          <p:cNvSpPr/>
          <p:nvPr/>
        </p:nvSpPr>
        <p:spPr>
          <a:xfrm flipV="1">
            <a:off x="7560730" y="44411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2-line125"/>
          <p:cNvSpPr/>
          <p:nvPr/>
        </p:nvSpPr>
        <p:spPr>
          <a:xfrm flipV="1">
            <a:off x="7503792" y="430037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2-line126"/>
          <p:cNvSpPr/>
          <p:nvPr/>
        </p:nvSpPr>
        <p:spPr>
          <a:xfrm flipV="1">
            <a:off x="7462670" y="415476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2-line127"/>
          <p:cNvSpPr/>
          <p:nvPr/>
        </p:nvSpPr>
        <p:spPr>
          <a:xfrm flipV="1">
            <a:off x="7437815" y="400587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2-line128"/>
          <p:cNvSpPr/>
          <p:nvPr/>
        </p:nvSpPr>
        <p:spPr>
          <a:xfrm>
            <a:off x="7429500" y="385533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8" name="S02-line129"/>
          <p:cNvSpPr/>
          <p:nvPr/>
        </p:nvSpPr>
        <p:spPr>
          <a:xfrm>
            <a:off x="7437815" y="369667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2-line130"/>
          <p:cNvSpPr/>
          <p:nvPr/>
        </p:nvSpPr>
        <p:spPr>
          <a:xfrm>
            <a:off x="7462670" y="353974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2-line131"/>
          <p:cNvSpPr/>
          <p:nvPr/>
        </p:nvSpPr>
        <p:spPr>
          <a:xfrm>
            <a:off x="7503792" y="338628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2-line132"/>
          <p:cNvSpPr/>
          <p:nvPr/>
        </p:nvSpPr>
        <p:spPr>
          <a:xfrm>
            <a:off x="7560730" y="323795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2-line133"/>
          <p:cNvSpPr/>
          <p:nvPr/>
        </p:nvSpPr>
        <p:spPr>
          <a:xfrm>
            <a:off x="7632861" y="309638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3" name="S02-line134"/>
          <p:cNvSpPr/>
          <p:nvPr/>
        </p:nvSpPr>
        <p:spPr>
          <a:xfrm>
            <a:off x="7719394" y="296313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2-line135"/>
          <p:cNvSpPr/>
          <p:nvPr/>
        </p:nvSpPr>
        <p:spPr>
          <a:xfrm>
            <a:off x="7819381" y="283966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2-line136"/>
          <p:cNvSpPr/>
          <p:nvPr/>
        </p:nvSpPr>
        <p:spPr>
          <a:xfrm>
            <a:off x="7931728" y="272731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2-line137"/>
          <p:cNvSpPr/>
          <p:nvPr/>
        </p:nvSpPr>
        <p:spPr>
          <a:xfrm>
            <a:off x="8055202" y="26273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2-line138"/>
          <p:cNvSpPr/>
          <p:nvPr/>
        </p:nvSpPr>
        <p:spPr>
          <a:xfrm>
            <a:off x="8188452" y="254079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8" name="S02-line139"/>
          <p:cNvSpPr/>
          <p:nvPr/>
        </p:nvSpPr>
        <p:spPr>
          <a:xfrm>
            <a:off x="8330017" y="246866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2-line140"/>
          <p:cNvSpPr/>
          <p:nvPr/>
        </p:nvSpPr>
        <p:spPr>
          <a:xfrm>
            <a:off x="8478346" y="241172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2-line141"/>
          <p:cNvSpPr/>
          <p:nvPr/>
        </p:nvSpPr>
        <p:spPr>
          <a:xfrm>
            <a:off x="8631814" y="237060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2-line142"/>
          <p:cNvSpPr/>
          <p:nvPr/>
        </p:nvSpPr>
        <p:spPr>
          <a:xfrm>
            <a:off x="8788740" y="234575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2-label143"/>
          <p:cNvSpPr txBox="1"/>
          <p:nvPr/>
        </p:nvSpPr>
        <p:spPr>
          <a:xfrm>
            <a:off x="9287104" y="26089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3" name="S02-label144"/>
          <p:cNvSpPr txBox="1"/>
          <p:nvPr/>
        </p:nvSpPr>
        <p:spPr>
          <a:xfrm>
            <a:off x="9736597" y="30584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4" name="S02-label145"/>
          <p:cNvSpPr txBox="1"/>
          <p:nvPr/>
        </p:nvSpPr>
        <p:spPr>
          <a:xfrm>
            <a:off x="9901123" y="36724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5" name="S02-label146"/>
          <p:cNvSpPr txBox="1"/>
          <p:nvPr/>
        </p:nvSpPr>
        <p:spPr>
          <a:xfrm>
            <a:off x="9736597" y="428647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6" name="S02-label147"/>
          <p:cNvSpPr txBox="1"/>
          <p:nvPr/>
        </p:nvSpPr>
        <p:spPr>
          <a:xfrm>
            <a:off x="9287104" y="47359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7" name="S02-label148"/>
          <p:cNvSpPr txBox="1"/>
          <p:nvPr/>
        </p:nvSpPr>
        <p:spPr>
          <a:xfrm>
            <a:off x="8673084" y="49004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8" name="S02-label149"/>
          <p:cNvSpPr txBox="1"/>
          <p:nvPr/>
        </p:nvSpPr>
        <p:spPr>
          <a:xfrm>
            <a:off x="8059064" y="47359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49" name="S02-label150"/>
          <p:cNvSpPr txBox="1"/>
          <p:nvPr/>
        </p:nvSpPr>
        <p:spPr>
          <a:xfrm>
            <a:off x="7609571" y="428647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0" name="S02-label151"/>
          <p:cNvSpPr txBox="1"/>
          <p:nvPr/>
        </p:nvSpPr>
        <p:spPr>
          <a:xfrm>
            <a:off x="7445045" y="36724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1" name="S02-label152"/>
          <p:cNvSpPr txBox="1"/>
          <p:nvPr/>
        </p:nvSpPr>
        <p:spPr>
          <a:xfrm>
            <a:off x="7609571" y="30584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2" name="S02-label153"/>
          <p:cNvSpPr txBox="1"/>
          <p:nvPr/>
        </p:nvSpPr>
        <p:spPr>
          <a:xfrm>
            <a:off x="8059064" y="26089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3" name="S02-label154"/>
          <p:cNvSpPr txBox="1"/>
          <p:nvPr/>
        </p:nvSpPr>
        <p:spPr>
          <a:xfrm>
            <a:off x="8673084" y="24444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4" name="S02-line155"/>
          <p:cNvSpPr/>
          <p:nvPr/>
        </p:nvSpPr>
        <p:spPr>
          <a:xfrm flipH="1">
            <a:off x="8263433" y="3855339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5" name="S02-line156"/>
          <p:cNvSpPr/>
          <p:nvPr/>
        </p:nvSpPr>
        <p:spPr>
          <a:xfrm flipV="1">
            <a:off x="8947404" y="286047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6" name="S02-pin157"/>
          <p:cNvSpPr/>
          <p:nvPr/>
        </p:nvSpPr>
        <p:spPr>
          <a:xfrm>
            <a:off x="8892540" y="380047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7" name="S02-label158"/>
          <p:cNvSpPr txBox="1"/>
          <p:nvPr/>
        </p:nvSpPr>
        <p:spPr>
          <a:xfrm>
            <a:off x="6254496" y="577215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하준이의 일과표</a:t>
            </a:r>
            <a:endParaRPr lang="ko-KR" sz="4400" dirty="0"/>
          </a:p>
        </p:txBody>
      </p:sp>
      <p:sp>
        <p:nvSpPr>
          <p:cNvPr id="3" name="S03-card1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일, 노는 시간, 내가 맡은 집안일을 함께 적어요.</a:t>
            </a:r>
            <a:endParaRPr lang="ko-KR" sz="3200" dirty="0"/>
          </a:p>
        </p:txBody>
      </p:sp>
      <p:graphicFrame>
        <p:nvGraphicFramePr>
          <p:cNvPr id="4" name="S03-table1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1429258"/>
          <a:ext cx="8229600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452628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 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아침 7시 30분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일어나서 씻기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아침 8시 30분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 가기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오후 2시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숙제하기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오후 3시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6시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수저 놓기(내 일)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밤 9시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잠자기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일과표 만들기</a:t>
            </a:r>
            <a:endParaRPr lang="ko-KR" sz="4400" dirty="0"/>
          </a:p>
        </p:txBody>
      </p:sp>
      <p:sp>
        <p:nvSpPr>
          <p:cNvPr id="3" name="S04-text1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나의 하루를 적어요.</a:t>
            </a:r>
            <a:endParaRPr lang="ko-KR" sz="3200" dirty="0"/>
          </a:p>
        </p:txBody>
      </p:sp>
      <p:sp>
        <p:nvSpPr>
          <p:cNvPr id="4" name="S04-card163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164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시간 순서대로 적었어요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숙제와 놀이가 다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자는 시각이 있어요</a:t>
            </a:r>
            <a:endParaRPr lang="ko-KR" sz="3200" dirty="0"/>
          </a:p>
        </p:txBody>
      </p:sp>
      <p:sp>
        <p:nvSpPr>
          <p:cNvPr id="6" name="S04-stepno165"/>
          <p:cNvSpPr txBox="1"/>
          <p:nvPr/>
        </p:nvSpPr>
        <p:spPr>
          <a:xfrm>
            <a:off x="548640" y="25491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4-text166"/>
          <p:cNvSpPr txBox="1"/>
          <p:nvPr/>
        </p:nvSpPr>
        <p:spPr>
          <a:xfrm>
            <a:off x="1325880" y="25491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일어나는 시각을 적어요.</a:t>
            </a:r>
            <a:endParaRPr lang="ko-KR" sz="3200" dirty="0"/>
          </a:p>
        </p:txBody>
      </p:sp>
      <p:sp>
        <p:nvSpPr>
          <p:cNvPr id="8" name="S04-stepno167"/>
          <p:cNvSpPr txBox="1"/>
          <p:nvPr/>
        </p:nvSpPr>
        <p:spPr>
          <a:xfrm>
            <a:off x="548640" y="3308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4-text168"/>
          <p:cNvSpPr txBox="1"/>
          <p:nvPr/>
        </p:nvSpPr>
        <p:spPr>
          <a:xfrm>
            <a:off x="1325880" y="326237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학교, 숙제, 놀이를 차례로 적어요.</a:t>
            </a:r>
            <a:endParaRPr lang="ko-KR" sz="3200" dirty="0"/>
          </a:p>
        </p:txBody>
      </p:sp>
      <p:sp>
        <p:nvSpPr>
          <p:cNvPr id="10" name="S04-stepno169"/>
          <p:cNvSpPr txBox="1"/>
          <p:nvPr/>
        </p:nvSpPr>
        <p:spPr>
          <a:xfrm>
            <a:off x="548640" y="44185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4-text170"/>
          <p:cNvSpPr txBox="1"/>
          <p:nvPr/>
        </p:nvSpPr>
        <p:spPr>
          <a:xfrm>
            <a:off x="1325880" y="44185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저녁에 하는 일을 적어요.</a:t>
            </a:r>
            <a:endParaRPr lang="ko-KR" sz="3200" dirty="0"/>
          </a:p>
        </p:txBody>
      </p:sp>
      <p:sp>
        <p:nvSpPr>
          <p:cNvPr id="12" name="S04-stepno171"/>
          <p:cNvSpPr txBox="1"/>
          <p:nvPr/>
        </p:nvSpPr>
        <p:spPr>
          <a:xfrm>
            <a:off x="548640" y="5131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4-text172"/>
          <p:cNvSpPr txBox="1"/>
          <p:nvPr/>
        </p:nvSpPr>
        <p:spPr>
          <a:xfrm>
            <a:off x="1325880" y="51318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자는 시각을 적어요.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할까요?</a:t>
            </a:r>
            <a:endParaRPr lang="ko-KR" sz="4400" dirty="0"/>
          </a:p>
        </p:txBody>
      </p:sp>
      <p:sp>
        <p:nvSpPr>
          <p:cNvPr id="3" name="S05-text1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할 수 있는 일일까요? 까닭도 말해요.</a:t>
            </a:r>
            <a:endParaRPr lang="ko-KR" sz="3200" dirty="0"/>
          </a:p>
        </p:txBody>
      </p:sp>
      <p:sp>
        <p:nvSpPr>
          <p:cNvPr id="4" name="S05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칼·불·뜨거운 물을 쓰는 일은 어른이 해요.</a:t>
            </a:r>
            <a:endParaRPr lang="ko-KR" sz="3200" dirty="0"/>
          </a:p>
        </p:txBody>
      </p:sp>
      <p:sp>
        <p:nvSpPr>
          <p:cNvPr id="6" name="S05-chip17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177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놓기</a:t>
            </a:r>
            <a:endParaRPr lang="ko-KR" sz="3200" dirty="0"/>
          </a:p>
        </p:txBody>
      </p:sp>
      <p:sp>
        <p:nvSpPr>
          <p:cNvPr id="8" name="S05-chip178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179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칼로 과일 자르기</a:t>
            </a:r>
            <a:endParaRPr lang="ko-KR" sz="3200" dirty="0"/>
          </a:p>
        </p:txBody>
      </p:sp>
      <p:sp>
        <p:nvSpPr>
          <p:cNvPr id="10" name="S05-chip18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181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 개기</a:t>
            </a:r>
            <a:endParaRPr lang="ko-KR" sz="3200" dirty="0"/>
          </a:p>
        </p:txBody>
      </p:sp>
      <p:sp>
        <p:nvSpPr>
          <p:cNvPr id="12" name="S05-chip182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5-text183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켜고 국 끓이기</a:t>
            </a:r>
            <a:endParaRPr lang="ko-KR" sz="3200" dirty="0"/>
          </a:p>
        </p:txBody>
      </p:sp>
      <p:sp>
        <p:nvSpPr>
          <p:cNvPr id="14" name="S05-chip18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15" name="S05-text185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정리하기</a:t>
            </a:r>
            <a:endParaRPr lang="ko-KR" sz="3200" dirty="0"/>
          </a:p>
        </p:txBody>
      </p:sp>
      <p:sp>
        <p:nvSpPr>
          <p:cNvPr id="16" name="S05-chip186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600" dirty="0"/>
          </a:p>
        </p:txBody>
      </p:sp>
      <p:sp>
        <p:nvSpPr>
          <p:cNvPr id="17" name="S05-text187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화분에 물 주기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회의</a:t>
            </a:r>
            <a:endParaRPr lang="ko-KR" sz="4400" dirty="0"/>
          </a:p>
        </p:txBody>
      </p:sp>
      <p:sp>
        <p:nvSpPr>
          <p:cNvPr id="3" name="S06-text1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가족과 일을 나누고 실천표를 만들어요.</a:t>
            </a:r>
            <a:endParaRPr lang="ko-KR" sz="3200" dirty="0"/>
          </a:p>
        </p:txBody>
      </p:sp>
      <p:sp>
        <p:nvSpPr>
          <p:cNvPr id="4" name="S06-card18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19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맡을 일을 1~2가지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고른 까닭을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일과표에 그 시간을 넣었어요</a:t>
            </a:r>
            <a:endParaRPr lang="ko-KR" sz="3200" dirty="0"/>
          </a:p>
        </p:txBody>
      </p:sp>
      <p:sp>
        <p:nvSpPr>
          <p:cNvPr id="6" name="S06-stepno191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192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일을 함께 찾아요.</a:t>
            </a:r>
            <a:endParaRPr lang="ko-KR" sz="3200" dirty="0"/>
          </a:p>
        </p:txBody>
      </p:sp>
      <p:sp>
        <p:nvSpPr>
          <p:cNvPr id="8" name="S06-stepno193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194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맡을 일을 골라요.</a:t>
            </a:r>
            <a:endParaRPr lang="ko-KR" sz="3200" dirty="0"/>
          </a:p>
        </p:txBody>
      </p:sp>
      <p:sp>
        <p:nvSpPr>
          <p:cNvPr id="10" name="S06-stepno195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196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200" dirty="0"/>
          </a:p>
        </p:txBody>
      </p:sp>
      <p:sp>
        <p:nvSpPr>
          <p:cNvPr id="12" name="S06-stepno197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6-text198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일과표와 실천표에 적어요.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199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200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일과표로 하루 시간을 나누고, 가족과 집안일을 나누어 맡아요.</a:t>
            </a:r>
            <a:endParaRPr lang="ko-KR" sz="3200" dirty="0"/>
          </a:p>
        </p:txBody>
      </p:sp>
      <p:sp>
        <p:nvSpPr>
          <p:cNvPr id="5" name="S07-chip201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맡은 일 끝까지 하기</a:t>
            </a:r>
            <a:endParaRPr lang="ko-KR" sz="2600" dirty="0"/>
          </a:p>
        </p:txBody>
      </p:sp>
      <p:sp>
        <p:nvSpPr>
          <p:cNvPr id="6" name="S07-chip202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칼·불 혼자 쓰기</a:t>
            </a:r>
            <a:endParaRPr lang="ko-KR" sz="2600" dirty="0"/>
          </a:p>
        </p:txBody>
      </p:sp>
      <p:sp>
        <p:nvSpPr>
          <p:cNvPr id="7" name="S07-text203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204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일과표에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적는 두 가지</a:t>
            </a:r>
            <a:endParaRPr lang="ko-KR" sz="2600" dirty="0"/>
          </a:p>
        </p:txBody>
      </p:sp>
      <p:sp>
        <p:nvSpPr>
          <p:cNvPr id="9" name="S07-text205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내가 맡은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집안일과 까닭</a:t>
            </a:r>
            <a:endParaRPr lang="ko-KR" sz="2600" dirty="0"/>
          </a:p>
        </p:txBody>
      </p:sp>
      <p:sp>
        <p:nvSpPr>
          <p:cNvPr id="10" name="S07-text206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실천표의 ○는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개?</a:t>
            </a:r>
            <a:endParaRPr lang="ko-KR" sz="2600" dirty="0"/>
          </a:p>
        </p:txBody>
      </p:sp>
      <p:sp>
        <p:nvSpPr>
          <p:cNvPr id="11" name="S07-text20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재료 비교와 도구 안전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아침·낮·저녁·밤</a:t>
            </a:r>
            <a:endParaRPr lang="ko-KR" sz="4400" dirty="0"/>
          </a:p>
        </p:txBody>
      </p:sp>
      <p:sp>
        <p:nvSpPr>
          <p:cNvPr id="3" name="S08-text2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하루는 이렇게 흘러가요.</a:t>
            </a:r>
            <a:endParaRPr lang="ko-KR" sz="3200" dirty="0"/>
          </a:p>
        </p:txBody>
      </p:sp>
      <p:sp>
        <p:nvSpPr>
          <p:cNvPr id="4" name="S08-card2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 대신 아침·낮·저녁·밤으로 적어도 돼요.</a:t>
            </a:r>
            <a:endParaRPr lang="ko-KR" sz="3200" dirty="0"/>
          </a:p>
        </p:txBody>
      </p:sp>
      <p:sp>
        <p:nvSpPr>
          <p:cNvPr id="6" name="S08-step211"/>
          <p:cNvSpPr txBox="1"/>
          <p:nvPr/>
        </p:nvSpPr>
        <p:spPr>
          <a:xfrm>
            <a:off x="548640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일어나기</a:t>
            </a:r>
            <a:endParaRPr lang="ko-KR" sz="2600" dirty="0"/>
          </a:p>
        </p:txBody>
      </p:sp>
      <p:sp>
        <p:nvSpPr>
          <p:cNvPr id="7" name="S08-line212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213"/>
          <p:cNvSpPr txBox="1"/>
          <p:nvPr/>
        </p:nvSpPr>
        <p:spPr>
          <a:xfrm>
            <a:off x="3424428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학교·숙제</a:t>
            </a:r>
            <a:endParaRPr lang="ko-KR" sz="2600" dirty="0"/>
          </a:p>
        </p:txBody>
      </p:sp>
      <p:sp>
        <p:nvSpPr>
          <p:cNvPr id="9" name="S08-line214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215"/>
          <p:cNvSpPr txBox="1"/>
          <p:nvPr/>
        </p:nvSpPr>
        <p:spPr>
          <a:xfrm>
            <a:off x="6300216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먹기</a:t>
            </a:r>
            <a:endParaRPr lang="ko-KR" sz="2600" dirty="0"/>
          </a:p>
        </p:txBody>
      </p:sp>
      <p:sp>
        <p:nvSpPr>
          <p:cNvPr id="11" name="S08-line216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8-step217"/>
          <p:cNvSpPr txBox="1"/>
          <p:nvPr/>
        </p:nvSpPr>
        <p:spPr>
          <a:xfrm>
            <a:off x="9176004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기술·가정 시간 관리와 집안일 나누기</dc:title>
  <dc:subject>KR22-G02-TEC-CHORES-L01</dc:subject>
  <dc:creator>education-ppt</dc:creator>
  <cp:lastModifiedBy>education-ppt</cp:lastModifiedBy>
  <cp:revision>1</cp:revision>
  <dcterms:created xsi:type="dcterms:W3CDTF">2026-10-26T10:10:52Z</dcterms:created>
  <dcterms:modified xsi:type="dcterms:W3CDTF">2026-10-26T10:10:52Z</dcterms:modified>
</cp:coreProperties>
</file>