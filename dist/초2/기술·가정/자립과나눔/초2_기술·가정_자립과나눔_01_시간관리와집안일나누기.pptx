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3ba89b6-2cb1-7b6d-b1a9-daac6565fbb6}">
          <p14:sldIdLst>
            <p14:sldId id="256"/>
            <p14:sldId id="257"/>
          </p14:sldIdLst>
        </p14:section>
        <p14:section name="개념" id="{8a5f3815-6645-a98c-6052-2afa57abdbd9}">
          <p14:sldIdLst>
            <p14:sldId id="258"/>
          </p14:sldIdLst>
        </p14:section>
        <p14:section name="연습" id="{ac671bd6-0bea-90df-50b7-33ccea319a12}">
          <p14:sldIdLst>
            <p14:sldId id="259"/>
            <p14:sldId id="260"/>
          </p14:sldIdLst>
        </p14:section>
        <p14:section name="확인" id="{2381ecd7-e668-a0a5-fd4e-5260258f583e}">
          <p14:sldIdLst>
            <p14:sldId id="261"/>
          </p14:sldIdLst>
        </p14:section>
        <p14:section name="정리" id="{2112b31f-6418-ce3a-4661-4efe2c401a77}">
          <p14:sldIdLst>
            <p14:sldId id="262"/>
          </p14:sldIdLst>
        </p14:section>
        <p14:section name="보충" id="{bcfa96e5-9285-eb35-0a17-b2cc7f5ef3c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알리고, 집안일을 누가 하는지 생각해 보게 합니다.
시간: 약 2분
이렇게 말해 보세요
- “우리 집에서 밥 차리기, 빨래, 청소는 누가 하고 있을까?”
- “오늘은 하루 시간을 나누는 일과표를 만들고, 가족과 집안일도 나눠 볼 거야.”
예상 답
- “엄마가 해요.” “아빠가 해요.” “다 같이 해요.”
주의
- 아이가 ‘엄마가 다 해요’라고 해도 그대로 받아 줍니다. S05·S06에서 함께 나누는 방법을 찾습니다(M1).
- 이 차시는 화면보다 활동지와 가족 회의가 중심입니다. 활동지를 미리 인쇄해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확인(정각·30분 읽기, 하루의 순서)]
목적: 일과표를 쓰는 데 필요한 정각·30분 시각 읽기와 하루의 순서(아침 → 밤)를 아는지 확인합니다.
시간: 약 3분
이렇게 말해 보세요
- “①은 몇 시야? 너는 이 시각에 보통 뭘 해?”
- “②는 몇 시야? 아침 9시일까, 밤 9시일까? 무엇을 하는 시간일까?”
정답
- ① 7시 30분(아침에 일어나기, 씻기 등)
- ② 9시(밤 9시라면 잠자기, 아침 9시라면 학교에서 공부하기 — 아이가 말한 때에 맞으면 맞음)
막히면
- 시각을 읽지 못하면 S08(보충)을 먼저 합니다. 일과표는 시각 대신 ‘아침·낮·저녁·밤’으로 적어도 됩니다.
- 이 차시는 계획상 앞 차시가 없습니다. 초1 ‘내 물건 정리와 집안일’, ‘나의 하루’와 이어지는 내용이며, 시각 읽기는 초2 수학 ‘시각과 시간’에서 자세히 배웁니다.
주의
- 같은 9시도 아침과 밤이 있다는 것을 알면 일과표에 ‘아침·오후·저녁·밤’을 붙여 쓰는 까닭을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일과표와 집안일 나누기 보기]
목적: 하루 일과표의 모양(시각과 할 일을 시간 순서대로)과, 일과표에 내가 맡은 집안일도 들어간다는 것을 보여 줍니다.
시간: 약 4분
이렇게 말해 보세요
- “하준이가 만든 일과표야. 위에서부터 읽어 볼까? 시간이 흐르는 차례대로 적었지?”
- “하준이는 숙제를 먼저 하고 놀아. 왜 그렇게 정했을까?”
- “저녁 6시에 ‘수저 놓기(내 일)’가 있지? 하준이가 가족과 나눠서 맡은 집안일이야. 우리 집에서는 누가 수저를 놓아?”
예상 답
- “숙제를 먼저 하면 마음 편히 놀 수 있어요.”
- “엄마가 놓아요.” “제가 가끔 놓아요.”
막히면
- 일과표를 손가락으로 짚으며 아침 → 오후 → 저녁 → 밤의 흐름을 함께 따라갑니다.
주의
- 하준이는 지어낸 아이입니다. 학교가 끝나는 시각, 자는 시각은 집마다 다르니 아이의 실제 생활에 맞추어 이야기합니다.
- 집은 가족이 함께 쓰는 곳이라 집안일도 함께 나눈다고 덧붙입니다(M1).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내 일과표 만들기]
목적: 아이가 자기 하루를 시간 순서대로 떠올려 일과표로 만듭니다.
시간: 약 10분
이렇게 말해 보세요
- “너는 보통 몇 시에 일어나? 첫 줄에 적어 볼까?”
- “학교에서 돌아오면 무엇을 먼저 할래? 숙제? 간식? 놀이?”
- “자는 시각은 몇 시로 할까? 잠을 충분히 자려면 언제 자야 할까?”
예상 답
- 아침 7시 30분 일어나기 → 8시 30분 학교 → 오후 2시 간식 → 2시 30분 숙제 → 3시 놀기 → 저녁 6시 30분 저녁 먹기 → 밤 9시 잠자기
- (시간 순서대로 다섯 가지 이상이고 숙제·놀이·잠자기가 들어가면 맞음)
막히면
- 시각을 정하기 어려우면 부모가 실제 시계를 보여 주며 “어제는 몇 시에 일어났지?”라고 묻습니다.
- 시각 읽기가 아직 어려우면 S08(보충)처럼 ‘아침·낮·저녁·밤’으로 적게 합니다.
주의
- 노는 시간만 많거나 할 일만 빽빽하면(M3) “이 시간표대로 하면 하루가 어떨 것 같아?”라고 묻고 함께 고칩니다.
- 집안일 시간은 S06에서 맡을 일을 정한 뒤 넣습니다. 칸을 한두 개 비워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내가 할 수 있는 일과 어른의 일 구별]
목적: 우리 집 일을 내가 할 수 있는 일과 어른이 해야 하는 일로 까닭을 들어 구별합니다(M2).
시간: 약 5분
이렇게 말해 보세요
- “하나씩 읽고, 네가 할 수 있는 일인지 어른이 할 일인지 말해 줘. 왜 그렇게 생각해?”
- “여기에 없는 일 중에 네가 할 수 있는 일이 또 있을까?”
정답
- 내가 할 수 있는 일: ① 수저 놓기 ③ 빨래 개기 ⑤ 신발 정리하기 ⑥ 화분에 물 주기
- 어른이 하는 일: ② 칼로 과일 자르기 ④ 불을 켜고 국 끓이기 — 칼과 불은 다칠 수 있어서
- 그 밖에 할 수 있는 일 예: 내 책상 정리, 장난감 정리, 식탁 닦기, 재활용품 나르기
막히면
- “이 일을 하다가 다칠 수 있을까?”라고 물어 까닭을 찾게 합니다.
주의
- 집마다 아이가 하는 일은 다를 수 있습니다. 어른과 함께라면 할 수 있는 일(예: 어른 옆에서 채소 씻기)은 ‘어른과 함께’라고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가족 회의로 일 나누기와 실천표 만들기]
목적: 가족과 의논해 내가 맡을 집안일을 스스로 정하고, 일과표와 일주일 실천표에 적는지 관찰합니다.
시간: 약 12분
이렇게 말해 보세요
- “우리 가족 회의를 해 보자. 우리 집에서 해야 하는 일을 다 같이 말해 볼까?” (활동지 2에 적기)
- “이 가운데 네가 맡고 싶은 일은 뭐야? 왜 그 일을 골랐어?”
- “그 일은 하루 중 언제 하면 좋을까? 일과표의 빈칸에 넣어 보자.”
- “실천표에 적고, 한 날마다 ○를 하자.” (활동지 3)
예상 답
- “저는 수저 놓기를 할래요. 저녁 먹기 전에 할 수 있으니까요.”
- “신발 정리를 할래요. 현관이 깨끗하면 모두 좋으니까요.”
정답
- 관찰 기준 세 가지를 지키면 목표 A·B 확인 완료입니다. 맡을 일과 까닭은 아이가 정한 것이면 맞습니다(칼·불을 쓰는 일은 제외).
막히면
- 고르기 어려우면 S05에서 ‘내가 할 수 있는 일’로 고른 것 가운데 두 가지를 보기로 줍니다.
- 가족이 함께하기 어려우면 부모와 아이 둘이서 해도 됩니다. 다른 가족의 일은 부모가 대신 말해 줍니다.
주의
- 맡을 일은 1~2가지로 적게 시작합니다. 너무 많이 맡으면 지키기 어렵습니다.
- 일주일 동안 실천표를 함께 확인하고, 못 한 날은 꾸짖지 않고 “내일은 언제 할까?”라고 묻습니다(M4).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한 일을 정리하고 일주일 실천을 약속합니다.
시간: 약 3분
이렇게 말해 보세요
- “오늘 만든 일과표와 실천표를 냉장고(잘 보이는 곳)에 붙여 둘까?”
- “다음 수업 때 실천표에 ○가 몇 개인지 같이 세어 보자.”
예상 답
- “일과표를 보고 숙제 먼저 할게요.”
정답
- ① 시각과 할 일 ② 아이가 정한 일과 까닭(예: 수저 놓기 — 저녁 먹기 전에 할 수 있어서) ③ 실천표를 보고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보충(아침·낮·저녁·밤으로 하루 나누기)]
목적: S02에서 시각을 읽지 못하거나 하루의 순서를 헷갈리면, 아침·낮·저녁·밤으로 하루를 나누어 일과표를 만들 수 있게 합니다.
시간: 약 4분
이렇게 말해 보세요
- “하루는 아침에 시작해서 밤에 끝나. 아침에는 뭘 해? 밤에는?”
- “시계를 읽기 어려우면 일과표의 ‘시각’ 칸에 ‘아침, 낮, 저녁, 밤’이라고 써도 돼.”
예상 답
- “아침에는 일어나서 밥 먹어요. 밤에는 자요.”
막히면
- 아침·낮·저녁·밤을 종이에 크게 써서 바닥에 놓고, 아이가 하는 일을 말하며 그 위로 옮겨 서게 합니다.
주의
- 이 차시는 계획상 앞 차시가 없습니다. 하루의 순서를 말하기 어렵다면 초1 ‘나의 하루’를, 시각 읽기가 어렵다면 초2 수학 ‘시각과 시간’을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자립과나눔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관리와 집안일 나누기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일은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할까?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1808683"/>
                <a:gridCol w="707746"/>
                <a:gridCol w="707746"/>
                <a:gridCol w="707746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수저 놓기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나의 하루 일과표를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가족과 일을 나누어 맡아요.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시각을 읽고, 이때 하는 일을 말해요.</a:t>
            </a:r>
            <a:endParaRPr lang="ko-KR" sz="3200" dirty="0"/>
          </a:p>
        </p:txBody>
      </p:sp>
      <p:sp>
        <p:nvSpPr>
          <p:cNvPr id="4" name="S02-figure5" descr="시계: 7시 30분"/>
          <p:cNvSpPr/>
          <p:nvPr/>
        </p:nvSpPr>
        <p:spPr>
          <a:xfrm>
            <a:off x="1687068" y="230085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6"/>
          <p:cNvSpPr/>
          <p:nvPr/>
        </p:nvSpPr>
        <p:spPr>
          <a:xfrm>
            <a:off x="3241548" y="233743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7"/>
          <p:cNvSpPr/>
          <p:nvPr/>
        </p:nvSpPr>
        <p:spPr>
          <a:xfrm flipH="1">
            <a:off x="3392088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"/>
          <p:cNvSpPr/>
          <p:nvPr/>
        </p:nvSpPr>
        <p:spPr>
          <a:xfrm flipH="1">
            <a:off x="3540978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9"/>
          <p:cNvSpPr/>
          <p:nvPr/>
        </p:nvSpPr>
        <p:spPr>
          <a:xfrm flipH="1">
            <a:off x="3686588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10"/>
          <p:cNvSpPr/>
          <p:nvPr/>
        </p:nvSpPr>
        <p:spPr>
          <a:xfrm flipH="1">
            <a:off x="3827322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11"/>
          <p:cNvSpPr/>
          <p:nvPr/>
        </p:nvSpPr>
        <p:spPr>
          <a:xfrm flipH="1">
            <a:off x="3915004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12"/>
          <p:cNvSpPr/>
          <p:nvPr/>
        </p:nvSpPr>
        <p:spPr>
          <a:xfrm flipH="1">
            <a:off x="4088065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13"/>
          <p:cNvSpPr/>
          <p:nvPr/>
        </p:nvSpPr>
        <p:spPr>
          <a:xfrm flipH="1">
            <a:off x="4205217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14"/>
          <p:cNvSpPr/>
          <p:nvPr/>
        </p:nvSpPr>
        <p:spPr>
          <a:xfrm flipH="1">
            <a:off x="4311810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15"/>
          <p:cNvSpPr/>
          <p:nvPr/>
        </p:nvSpPr>
        <p:spPr>
          <a:xfrm flipH="1">
            <a:off x="4406678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16"/>
          <p:cNvSpPr/>
          <p:nvPr/>
        </p:nvSpPr>
        <p:spPr>
          <a:xfrm flipH="1">
            <a:off x="4408007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17"/>
          <p:cNvSpPr/>
          <p:nvPr/>
        </p:nvSpPr>
        <p:spPr>
          <a:xfrm flipH="1">
            <a:off x="4557218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18"/>
          <p:cNvSpPr/>
          <p:nvPr/>
        </p:nvSpPr>
        <p:spPr>
          <a:xfrm flipH="1">
            <a:off x="4611241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19"/>
          <p:cNvSpPr/>
          <p:nvPr/>
        </p:nvSpPr>
        <p:spPr>
          <a:xfrm flipH="1">
            <a:off x="4650257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20"/>
          <p:cNvSpPr/>
          <p:nvPr/>
        </p:nvSpPr>
        <p:spPr>
          <a:xfrm flipH="1">
            <a:off x="4673839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21"/>
          <p:cNvSpPr/>
          <p:nvPr/>
        </p:nvSpPr>
        <p:spPr>
          <a:xfrm flipH="1">
            <a:off x="4588459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22"/>
          <p:cNvSpPr/>
          <p:nvPr/>
        </p:nvSpPr>
        <p:spPr>
          <a:xfrm flipH="1" flipV="1">
            <a:off x="4673839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23"/>
          <p:cNvSpPr/>
          <p:nvPr/>
        </p:nvSpPr>
        <p:spPr>
          <a:xfrm flipH="1" flipV="1">
            <a:off x="4650257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24"/>
          <p:cNvSpPr/>
          <p:nvPr/>
        </p:nvSpPr>
        <p:spPr>
          <a:xfrm flipH="1" flipV="1">
            <a:off x="4611241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25"/>
          <p:cNvSpPr/>
          <p:nvPr/>
        </p:nvSpPr>
        <p:spPr>
          <a:xfrm flipH="1" flipV="1">
            <a:off x="4557218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26"/>
          <p:cNvSpPr/>
          <p:nvPr/>
        </p:nvSpPr>
        <p:spPr>
          <a:xfrm flipH="1" flipV="1">
            <a:off x="4408007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27"/>
          <p:cNvSpPr/>
          <p:nvPr/>
        </p:nvSpPr>
        <p:spPr>
          <a:xfrm flipH="1" flipV="1">
            <a:off x="4406678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28"/>
          <p:cNvSpPr/>
          <p:nvPr/>
        </p:nvSpPr>
        <p:spPr>
          <a:xfrm flipH="1" flipV="1">
            <a:off x="4311810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29"/>
          <p:cNvSpPr/>
          <p:nvPr/>
        </p:nvSpPr>
        <p:spPr>
          <a:xfrm flipH="1" flipV="1">
            <a:off x="4205217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30"/>
          <p:cNvSpPr/>
          <p:nvPr/>
        </p:nvSpPr>
        <p:spPr>
          <a:xfrm flipH="1" flipV="1">
            <a:off x="4088065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31"/>
          <p:cNvSpPr/>
          <p:nvPr/>
        </p:nvSpPr>
        <p:spPr>
          <a:xfrm flipH="1" flipV="1">
            <a:off x="3915004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32"/>
          <p:cNvSpPr/>
          <p:nvPr/>
        </p:nvSpPr>
        <p:spPr>
          <a:xfrm flipH="1" flipV="1">
            <a:off x="3827322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33"/>
          <p:cNvSpPr/>
          <p:nvPr/>
        </p:nvSpPr>
        <p:spPr>
          <a:xfrm flipH="1" flipV="1">
            <a:off x="3686588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34"/>
          <p:cNvSpPr/>
          <p:nvPr/>
        </p:nvSpPr>
        <p:spPr>
          <a:xfrm flipH="1" flipV="1">
            <a:off x="3540978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35"/>
          <p:cNvSpPr/>
          <p:nvPr/>
        </p:nvSpPr>
        <p:spPr>
          <a:xfrm flipH="1" flipV="1">
            <a:off x="3392088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36"/>
          <p:cNvSpPr/>
          <p:nvPr/>
        </p:nvSpPr>
        <p:spPr>
          <a:xfrm flipV="1">
            <a:off x="3241548" y="520225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37"/>
          <p:cNvSpPr/>
          <p:nvPr/>
        </p:nvSpPr>
        <p:spPr>
          <a:xfrm flipV="1">
            <a:off x="3082884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38"/>
          <p:cNvSpPr/>
          <p:nvPr/>
        </p:nvSpPr>
        <p:spPr>
          <a:xfrm flipV="1">
            <a:off x="2925958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39"/>
          <p:cNvSpPr/>
          <p:nvPr/>
        </p:nvSpPr>
        <p:spPr>
          <a:xfrm flipV="1">
            <a:off x="2772490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0"/>
          <p:cNvSpPr/>
          <p:nvPr/>
        </p:nvSpPr>
        <p:spPr>
          <a:xfrm flipV="1">
            <a:off x="2624161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1"/>
          <p:cNvSpPr/>
          <p:nvPr/>
        </p:nvSpPr>
        <p:spPr>
          <a:xfrm flipV="1">
            <a:off x="2482596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42"/>
          <p:cNvSpPr/>
          <p:nvPr/>
        </p:nvSpPr>
        <p:spPr>
          <a:xfrm flipV="1">
            <a:off x="2349346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43"/>
          <p:cNvSpPr/>
          <p:nvPr/>
        </p:nvSpPr>
        <p:spPr>
          <a:xfrm flipV="1">
            <a:off x="2225872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44"/>
          <p:cNvSpPr/>
          <p:nvPr/>
        </p:nvSpPr>
        <p:spPr>
          <a:xfrm flipV="1">
            <a:off x="2113525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45"/>
          <p:cNvSpPr/>
          <p:nvPr/>
        </p:nvSpPr>
        <p:spPr>
          <a:xfrm flipV="1">
            <a:off x="2013538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46"/>
          <p:cNvSpPr/>
          <p:nvPr/>
        </p:nvSpPr>
        <p:spPr>
          <a:xfrm flipV="1">
            <a:off x="1927005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47"/>
          <p:cNvSpPr/>
          <p:nvPr/>
        </p:nvSpPr>
        <p:spPr>
          <a:xfrm flipV="1">
            <a:off x="1854874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48"/>
          <p:cNvSpPr/>
          <p:nvPr/>
        </p:nvSpPr>
        <p:spPr>
          <a:xfrm flipV="1">
            <a:off x="1797936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49"/>
          <p:cNvSpPr/>
          <p:nvPr/>
        </p:nvSpPr>
        <p:spPr>
          <a:xfrm flipV="1">
            <a:off x="1756814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0"/>
          <p:cNvSpPr/>
          <p:nvPr/>
        </p:nvSpPr>
        <p:spPr>
          <a:xfrm flipV="1">
            <a:off x="1731959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1"/>
          <p:cNvSpPr/>
          <p:nvPr/>
        </p:nvSpPr>
        <p:spPr>
          <a:xfrm>
            <a:off x="1723644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52"/>
          <p:cNvSpPr/>
          <p:nvPr/>
        </p:nvSpPr>
        <p:spPr>
          <a:xfrm>
            <a:off x="1731959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53"/>
          <p:cNvSpPr/>
          <p:nvPr/>
        </p:nvSpPr>
        <p:spPr>
          <a:xfrm>
            <a:off x="1756814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54"/>
          <p:cNvSpPr/>
          <p:nvPr/>
        </p:nvSpPr>
        <p:spPr>
          <a:xfrm>
            <a:off x="1797936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55"/>
          <p:cNvSpPr/>
          <p:nvPr/>
        </p:nvSpPr>
        <p:spPr>
          <a:xfrm>
            <a:off x="1854874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56"/>
          <p:cNvSpPr/>
          <p:nvPr/>
        </p:nvSpPr>
        <p:spPr>
          <a:xfrm>
            <a:off x="1927005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57"/>
          <p:cNvSpPr/>
          <p:nvPr/>
        </p:nvSpPr>
        <p:spPr>
          <a:xfrm>
            <a:off x="2013538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58"/>
          <p:cNvSpPr/>
          <p:nvPr/>
        </p:nvSpPr>
        <p:spPr>
          <a:xfrm>
            <a:off x="2113525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59"/>
          <p:cNvSpPr/>
          <p:nvPr/>
        </p:nvSpPr>
        <p:spPr>
          <a:xfrm>
            <a:off x="2225872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0"/>
          <p:cNvSpPr/>
          <p:nvPr/>
        </p:nvSpPr>
        <p:spPr>
          <a:xfrm>
            <a:off x="2349346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1"/>
          <p:cNvSpPr/>
          <p:nvPr/>
        </p:nvSpPr>
        <p:spPr>
          <a:xfrm>
            <a:off x="2482596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62"/>
          <p:cNvSpPr/>
          <p:nvPr/>
        </p:nvSpPr>
        <p:spPr>
          <a:xfrm>
            <a:off x="2624161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63"/>
          <p:cNvSpPr/>
          <p:nvPr/>
        </p:nvSpPr>
        <p:spPr>
          <a:xfrm>
            <a:off x="2772490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64"/>
          <p:cNvSpPr/>
          <p:nvPr/>
        </p:nvSpPr>
        <p:spPr>
          <a:xfrm>
            <a:off x="2925958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65"/>
          <p:cNvSpPr/>
          <p:nvPr/>
        </p:nvSpPr>
        <p:spPr>
          <a:xfrm>
            <a:off x="3082884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66"/>
          <p:cNvSpPr txBox="1"/>
          <p:nvPr/>
        </p:nvSpPr>
        <p:spPr>
          <a:xfrm>
            <a:off x="3581248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2-label67"/>
          <p:cNvSpPr txBox="1"/>
          <p:nvPr/>
        </p:nvSpPr>
        <p:spPr>
          <a:xfrm>
            <a:off x="4030741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2-label68"/>
          <p:cNvSpPr txBox="1"/>
          <p:nvPr/>
        </p:nvSpPr>
        <p:spPr>
          <a:xfrm>
            <a:off x="4195267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2-label69"/>
          <p:cNvSpPr txBox="1"/>
          <p:nvPr/>
        </p:nvSpPr>
        <p:spPr>
          <a:xfrm>
            <a:off x="4030741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2-label70"/>
          <p:cNvSpPr txBox="1"/>
          <p:nvPr/>
        </p:nvSpPr>
        <p:spPr>
          <a:xfrm>
            <a:off x="3581248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2-label71"/>
          <p:cNvSpPr txBox="1"/>
          <p:nvPr/>
        </p:nvSpPr>
        <p:spPr>
          <a:xfrm>
            <a:off x="2967228" y="49004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2-label72"/>
          <p:cNvSpPr txBox="1"/>
          <p:nvPr/>
        </p:nvSpPr>
        <p:spPr>
          <a:xfrm>
            <a:off x="2353208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2-label73"/>
          <p:cNvSpPr txBox="1"/>
          <p:nvPr/>
        </p:nvSpPr>
        <p:spPr>
          <a:xfrm>
            <a:off x="1903715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2-label74"/>
          <p:cNvSpPr txBox="1"/>
          <p:nvPr/>
        </p:nvSpPr>
        <p:spPr>
          <a:xfrm>
            <a:off x="1739189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2-label75"/>
          <p:cNvSpPr txBox="1"/>
          <p:nvPr/>
        </p:nvSpPr>
        <p:spPr>
          <a:xfrm>
            <a:off x="1903715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2-label76"/>
          <p:cNvSpPr txBox="1"/>
          <p:nvPr/>
        </p:nvSpPr>
        <p:spPr>
          <a:xfrm>
            <a:off x="2353208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2-label77"/>
          <p:cNvSpPr txBox="1"/>
          <p:nvPr/>
        </p:nvSpPr>
        <p:spPr>
          <a:xfrm>
            <a:off x="2967228" y="24444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2-line78"/>
          <p:cNvSpPr/>
          <p:nvPr/>
        </p:nvSpPr>
        <p:spPr>
          <a:xfrm flipH="1">
            <a:off x="2757907" y="385533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79"/>
          <p:cNvSpPr/>
          <p:nvPr/>
        </p:nvSpPr>
        <p:spPr>
          <a:xfrm>
            <a:off x="3241548" y="385533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80"/>
          <p:cNvSpPr/>
          <p:nvPr/>
        </p:nvSpPr>
        <p:spPr>
          <a:xfrm>
            <a:off x="3186684" y="38004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label81"/>
          <p:cNvSpPr txBox="1"/>
          <p:nvPr/>
        </p:nvSpPr>
        <p:spPr>
          <a:xfrm>
            <a:off x="548640" y="57721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1" name="S02-figure82" descr="시계: 9시"/>
          <p:cNvSpPr/>
          <p:nvPr/>
        </p:nvSpPr>
        <p:spPr>
          <a:xfrm>
            <a:off x="7392924" y="230085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83"/>
          <p:cNvSpPr/>
          <p:nvPr/>
        </p:nvSpPr>
        <p:spPr>
          <a:xfrm>
            <a:off x="8947404" y="233743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84"/>
          <p:cNvSpPr/>
          <p:nvPr/>
        </p:nvSpPr>
        <p:spPr>
          <a:xfrm flipH="1">
            <a:off x="9097944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85"/>
          <p:cNvSpPr/>
          <p:nvPr/>
        </p:nvSpPr>
        <p:spPr>
          <a:xfrm flipH="1">
            <a:off x="9246834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86"/>
          <p:cNvSpPr/>
          <p:nvPr/>
        </p:nvSpPr>
        <p:spPr>
          <a:xfrm flipH="1">
            <a:off x="9392444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87"/>
          <p:cNvSpPr/>
          <p:nvPr/>
        </p:nvSpPr>
        <p:spPr>
          <a:xfrm flipH="1">
            <a:off x="9533178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88"/>
          <p:cNvSpPr/>
          <p:nvPr/>
        </p:nvSpPr>
        <p:spPr>
          <a:xfrm flipH="1">
            <a:off x="9620860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89"/>
          <p:cNvSpPr/>
          <p:nvPr/>
        </p:nvSpPr>
        <p:spPr>
          <a:xfrm flipH="1">
            <a:off x="9793921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90"/>
          <p:cNvSpPr/>
          <p:nvPr/>
        </p:nvSpPr>
        <p:spPr>
          <a:xfrm flipH="1">
            <a:off x="9911073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91"/>
          <p:cNvSpPr/>
          <p:nvPr/>
        </p:nvSpPr>
        <p:spPr>
          <a:xfrm flipH="1">
            <a:off x="10017666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92"/>
          <p:cNvSpPr/>
          <p:nvPr/>
        </p:nvSpPr>
        <p:spPr>
          <a:xfrm flipH="1">
            <a:off x="10112534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93"/>
          <p:cNvSpPr/>
          <p:nvPr/>
        </p:nvSpPr>
        <p:spPr>
          <a:xfrm flipH="1">
            <a:off x="10113863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94"/>
          <p:cNvSpPr/>
          <p:nvPr/>
        </p:nvSpPr>
        <p:spPr>
          <a:xfrm flipH="1">
            <a:off x="10263074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95"/>
          <p:cNvSpPr/>
          <p:nvPr/>
        </p:nvSpPr>
        <p:spPr>
          <a:xfrm flipH="1">
            <a:off x="10317097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96"/>
          <p:cNvSpPr/>
          <p:nvPr/>
        </p:nvSpPr>
        <p:spPr>
          <a:xfrm flipH="1">
            <a:off x="10356113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97"/>
          <p:cNvSpPr/>
          <p:nvPr/>
        </p:nvSpPr>
        <p:spPr>
          <a:xfrm flipH="1">
            <a:off x="10379695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98"/>
          <p:cNvSpPr/>
          <p:nvPr/>
        </p:nvSpPr>
        <p:spPr>
          <a:xfrm flipH="1">
            <a:off x="10294315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99"/>
          <p:cNvSpPr/>
          <p:nvPr/>
        </p:nvSpPr>
        <p:spPr>
          <a:xfrm flipH="1" flipV="1">
            <a:off x="10379695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00"/>
          <p:cNvSpPr/>
          <p:nvPr/>
        </p:nvSpPr>
        <p:spPr>
          <a:xfrm flipH="1" flipV="1">
            <a:off x="10356113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01"/>
          <p:cNvSpPr/>
          <p:nvPr/>
        </p:nvSpPr>
        <p:spPr>
          <a:xfrm flipH="1" flipV="1">
            <a:off x="10317097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02"/>
          <p:cNvSpPr/>
          <p:nvPr/>
        </p:nvSpPr>
        <p:spPr>
          <a:xfrm flipH="1" flipV="1">
            <a:off x="10263074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03"/>
          <p:cNvSpPr/>
          <p:nvPr/>
        </p:nvSpPr>
        <p:spPr>
          <a:xfrm flipH="1" flipV="1">
            <a:off x="10113863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04"/>
          <p:cNvSpPr/>
          <p:nvPr/>
        </p:nvSpPr>
        <p:spPr>
          <a:xfrm flipH="1" flipV="1">
            <a:off x="10112534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05"/>
          <p:cNvSpPr/>
          <p:nvPr/>
        </p:nvSpPr>
        <p:spPr>
          <a:xfrm flipH="1" flipV="1">
            <a:off x="10017666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06"/>
          <p:cNvSpPr/>
          <p:nvPr/>
        </p:nvSpPr>
        <p:spPr>
          <a:xfrm flipH="1" flipV="1">
            <a:off x="9911073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07"/>
          <p:cNvSpPr/>
          <p:nvPr/>
        </p:nvSpPr>
        <p:spPr>
          <a:xfrm flipH="1" flipV="1">
            <a:off x="9793921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08"/>
          <p:cNvSpPr/>
          <p:nvPr/>
        </p:nvSpPr>
        <p:spPr>
          <a:xfrm flipH="1" flipV="1">
            <a:off x="9620860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09"/>
          <p:cNvSpPr/>
          <p:nvPr/>
        </p:nvSpPr>
        <p:spPr>
          <a:xfrm flipH="1" flipV="1">
            <a:off x="9533178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10"/>
          <p:cNvSpPr/>
          <p:nvPr/>
        </p:nvSpPr>
        <p:spPr>
          <a:xfrm flipH="1" flipV="1">
            <a:off x="9392444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11"/>
          <p:cNvSpPr/>
          <p:nvPr/>
        </p:nvSpPr>
        <p:spPr>
          <a:xfrm flipH="1" flipV="1">
            <a:off x="9246834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12"/>
          <p:cNvSpPr/>
          <p:nvPr/>
        </p:nvSpPr>
        <p:spPr>
          <a:xfrm flipH="1" flipV="1">
            <a:off x="9097944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13"/>
          <p:cNvSpPr/>
          <p:nvPr/>
        </p:nvSpPr>
        <p:spPr>
          <a:xfrm flipV="1">
            <a:off x="8947404" y="520225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14"/>
          <p:cNvSpPr/>
          <p:nvPr/>
        </p:nvSpPr>
        <p:spPr>
          <a:xfrm flipV="1">
            <a:off x="8788740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15"/>
          <p:cNvSpPr/>
          <p:nvPr/>
        </p:nvSpPr>
        <p:spPr>
          <a:xfrm flipV="1">
            <a:off x="8631814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16"/>
          <p:cNvSpPr/>
          <p:nvPr/>
        </p:nvSpPr>
        <p:spPr>
          <a:xfrm flipV="1">
            <a:off x="8478346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17"/>
          <p:cNvSpPr/>
          <p:nvPr/>
        </p:nvSpPr>
        <p:spPr>
          <a:xfrm flipV="1">
            <a:off x="8330017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18"/>
          <p:cNvSpPr/>
          <p:nvPr/>
        </p:nvSpPr>
        <p:spPr>
          <a:xfrm flipV="1">
            <a:off x="8188452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19"/>
          <p:cNvSpPr/>
          <p:nvPr/>
        </p:nvSpPr>
        <p:spPr>
          <a:xfrm flipV="1">
            <a:off x="8055202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20"/>
          <p:cNvSpPr/>
          <p:nvPr/>
        </p:nvSpPr>
        <p:spPr>
          <a:xfrm flipV="1">
            <a:off x="7931728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21"/>
          <p:cNvSpPr/>
          <p:nvPr/>
        </p:nvSpPr>
        <p:spPr>
          <a:xfrm flipV="1">
            <a:off x="7819381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22"/>
          <p:cNvSpPr/>
          <p:nvPr/>
        </p:nvSpPr>
        <p:spPr>
          <a:xfrm flipV="1">
            <a:off x="7719394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23"/>
          <p:cNvSpPr/>
          <p:nvPr/>
        </p:nvSpPr>
        <p:spPr>
          <a:xfrm flipV="1">
            <a:off x="7632861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24"/>
          <p:cNvSpPr/>
          <p:nvPr/>
        </p:nvSpPr>
        <p:spPr>
          <a:xfrm flipV="1">
            <a:off x="7560730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125"/>
          <p:cNvSpPr/>
          <p:nvPr/>
        </p:nvSpPr>
        <p:spPr>
          <a:xfrm flipV="1">
            <a:off x="7503792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126"/>
          <p:cNvSpPr/>
          <p:nvPr/>
        </p:nvSpPr>
        <p:spPr>
          <a:xfrm flipV="1">
            <a:off x="7462670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127"/>
          <p:cNvSpPr/>
          <p:nvPr/>
        </p:nvSpPr>
        <p:spPr>
          <a:xfrm flipV="1">
            <a:off x="7437815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128"/>
          <p:cNvSpPr/>
          <p:nvPr/>
        </p:nvSpPr>
        <p:spPr>
          <a:xfrm>
            <a:off x="7429500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129"/>
          <p:cNvSpPr/>
          <p:nvPr/>
        </p:nvSpPr>
        <p:spPr>
          <a:xfrm>
            <a:off x="7437815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130"/>
          <p:cNvSpPr/>
          <p:nvPr/>
        </p:nvSpPr>
        <p:spPr>
          <a:xfrm>
            <a:off x="7462670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131"/>
          <p:cNvSpPr/>
          <p:nvPr/>
        </p:nvSpPr>
        <p:spPr>
          <a:xfrm>
            <a:off x="7503792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132"/>
          <p:cNvSpPr/>
          <p:nvPr/>
        </p:nvSpPr>
        <p:spPr>
          <a:xfrm>
            <a:off x="7560730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133"/>
          <p:cNvSpPr/>
          <p:nvPr/>
        </p:nvSpPr>
        <p:spPr>
          <a:xfrm>
            <a:off x="7632861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134"/>
          <p:cNvSpPr/>
          <p:nvPr/>
        </p:nvSpPr>
        <p:spPr>
          <a:xfrm>
            <a:off x="7719394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135"/>
          <p:cNvSpPr/>
          <p:nvPr/>
        </p:nvSpPr>
        <p:spPr>
          <a:xfrm>
            <a:off x="7819381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136"/>
          <p:cNvSpPr/>
          <p:nvPr/>
        </p:nvSpPr>
        <p:spPr>
          <a:xfrm>
            <a:off x="7931728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137"/>
          <p:cNvSpPr/>
          <p:nvPr/>
        </p:nvSpPr>
        <p:spPr>
          <a:xfrm>
            <a:off x="8055202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138"/>
          <p:cNvSpPr/>
          <p:nvPr/>
        </p:nvSpPr>
        <p:spPr>
          <a:xfrm>
            <a:off x="8188452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139"/>
          <p:cNvSpPr/>
          <p:nvPr/>
        </p:nvSpPr>
        <p:spPr>
          <a:xfrm>
            <a:off x="8330017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140"/>
          <p:cNvSpPr/>
          <p:nvPr/>
        </p:nvSpPr>
        <p:spPr>
          <a:xfrm>
            <a:off x="8478346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141"/>
          <p:cNvSpPr/>
          <p:nvPr/>
        </p:nvSpPr>
        <p:spPr>
          <a:xfrm>
            <a:off x="8631814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142"/>
          <p:cNvSpPr/>
          <p:nvPr/>
        </p:nvSpPr>
        <p:spPr>
          <a:xfrm>
            <a:off x="8788740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143"/>
          <p:cNvSpPr txBox="1"/>
          <p:nvPr/>
        </p:nvSpPr>
        <p:spPr>
          <a:xfrm>
            <a:off x="9287104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3" name="S02-label144"/>
          <p:cNvSpPr txBox="1"/>
          <p:nvPr/>
        </p:nvSpPr>
        <p:spPr>
          <a:xfrm>
            <a:off x="9736597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4" name="S02-label145"/>
          <p:cNvSpPr txBox="1"/>
          <p:nvPr/>
        </p:nvSpPr>
        <p:spPr>
          <a:xfrm>
            <a:off x="9901123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5" name="S02-label146"/>
          <p:cNvSpPr txBox="1"/>
          <p:nvPr/>
        </p:nvSpPr>
        <p:spPr>
          <a:xfrm>
            <a:off x="9736597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6" name="S02-label147"/>
          <p:cNvSpPr txBox="1"/>
          <p:nvPr/>
        </p:nvSpPr>
        <p:spPr>
          <a:xfrm>
            <a:off x="9287104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7" name="S02-label148"/>
          <p:cNvSpPr txBox="1"/>
          <p:nvPr/>
        </p:nvSpPr>
        <p:spPr>
          <a:xfrm>
            <a:off x="8673084" y="49004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8" name="S02-label149"/>
          <p:cNvSpPr txBox="1"/>
          <p:nvPr/>
        </p:nvSpPr>
        <p:spPr>
          <a:xfrm>
            <a:off x="8059064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49" name="S02-label150"/>
          <p:cNvSpPr txBox="1"/>
          <p:nvPr/>
        </p:nvSpPr>
        <p:spPr>
          <a:xfrm>
            <a:off x="7609571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0" name="S02-label151"/>
          <p:cNvSpPr txBox="1"/>
          <p:nvPr/>
        </p:nvSpPr>
        <p:spPr>
          <a:xfrm>
            <a:off x="7445045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1" name="S02-label152"/>
          <p:cNvSpPr txBox="1"/>
          <p:nvPr/>
        </p:nvSpPr>
        <p:spPr>
          <a:xfrm>
            <a:off x="7609571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2" name="S02-label153"/>
          <p:cNvSpPr txBox="1"/>
          <p:nvPr/>
        </p:nvSpPr>
        <p:spPr>
          <a:xfrm>
            <a:off x="8059064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3" name="S02-label154"/>
          <p:cNvSpPr txBox="1"/>
          <p:nvPr/>
        </p:nvSpPr>
        <p:spPr>
          <a:xfrm>
            <a:off x="8673084" y="24444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4" name="S02-line155"/>
          <p:cNvSpPr/>
          <p:nvPr/>
        </p:nvSpPr>
        <p:spPr>
          <a:xfrm flipH="1">
            <a:off x="8263433" y="385533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156"/>
          <p:cNvSpPr/>
          <p:nvPr/>
        </p:nvSpPr>
        <p:spPr>
          <a:xfrm flipV="1">
            <a:off x="8947404" y="286047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157"/>
          <p:cNvSpPr/>
          <p:nvPr/>
        </p:nvSpPr>
        <p:spPr>
          <a:xfrm>
            <a:off x="8892540" y="38004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label158"/>
          <p:cNvSpPr txBox="1"/>
          <p:nvPr/>
        </p:nvSpPr>
        <p:spPr>
          <a:xfrm>
            <a:off x="6254496" y="57721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하준이의 일과표</a:t>
            </a:r>
            <a:endParaRPr lang="ko-KR" sz="4400" dirty="0"/>
          </a:p>
        </p:txBody>
      </p:sp>
      <p:sp>
        <p:nvSpPr>
          <p:cNvPr id="3" name="S03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일, 노는 시간, 내가 맡은 집안일을 함께 적어요.</a:t>
            </a:r>
            <a:endParaRPr lang="ko-KR" sz="3200" dirty="0"/>
          </a:p>
        </p:txBody>
      </p:sp>
      <p:graphicFrame>
        <p:nvGraphicFramePr>
          <p:cNvPr id="4" name="S03-table1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1429258"/>
          <a:ext cx="822960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45262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 7시 30분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일어나서 씻기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 8시 30분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 가기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2시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숙제하기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3시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저녁 6시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수저 놓기(내 일)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밤 9시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잠자기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일과표 만들기</a:t>
            </a:r>
            <a:endParaRPr lang="ko-KR" sz="4400" dirty="0"/>
          </a:p>
        </p:txBody>
      </p:sp>
      <p:sp>
        <p:nvSpPr>
          <p:cNvPr id="3" name="S0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나의 하루를 적어요.</a:t>
            </a:r>
            <a:endParaRPr lang="ko-KR" sz="3200" dirty="0"/>
          </a:p>
        </p:txBody>
      </p:sp>
      <p:sp>
        <p:nvSpPr>
          <p:cNvPr id="4" name="S04-card16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16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시간 순서대로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숙제와 놀이가 다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자는 시각이 있어요</a:t>
            </a:r>
            <a:endParaRPr lang="ko-KR" sz="3200" dirty="0"/>
          </a:p>
        </p:txBody>
      </p:sp>
      <p:sp>
        <p:nvSpPr>
          <p:cNvPr id="6" name="S04-stepno165"/>
          <p:cNvSpPr txBox="1"/>
          <p:nvPr/>
        </p:nvSpPr>
        <p:spPr>
          <a:xfrm>
            <a:off x="548640" y="25491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166"/>
          <p:cNvSpPr txBox="1"/>
          <p:nvPr/>
        </p:nvSpPr>
        <p:spPr>
          <a:xfrm>
            <a:off x="1325880" y="25491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시각을 적어요.</a:t>
            </a:r>
            <a:endParaRPr lang="ko-KR" sz="3200" dirty="0"/>
          </a:p>
        </p:txBody>
      </p:sp>
      <p:sp>
        <p:nvSpPr>
          <p:cNvPr id="8" name="S04-stepno167"/>
          <p:cNvSpPr txBox="1"/>
          <p:nvPr/>
        </p:nvSpPr>
        <p:spPr>
          <a:xfrm>
            <a:off x="548640" y="3308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168"/>
          <p:cNvSpPr txBox="1"/>
          <p:nvPr/>
        </p:nvSpPr>
        <p:spPr>
          <a:xfrm>
            <a:off x="1325880" y="326237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학교, 숙제, 놀이를 차례로 적어요.</a:t>
            </a:r>
            <a:endParaRPr lang="ko-KR" sz="3200" dirty="0"/>
          </a:p>
        </p:txBody>
      </p:sp>
      <p:sp>
        <p:nvSpPr>
          <p:cNvPr id="10" name="S04-stepno169"/>
          <p:cNvSpPr txBox="1"/>
          <p:nvPr/>
        </p:nvSpPr>
        <p:spPr>
          <a:xfrm>
            <a:off x="548640" y="441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170"/>
          <p:cNvSpPr txBox="1"/>
          <p:nvPr/>
        </p:nvSpPr>
        <p:spPr>
          <a:xfrm>
            <a:off x="1325880" y="44185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저녁에 하는 일을 적어요.</a:t>
            </a:r>
            <a:endParaRPr lang="ko-KR" sz="3200" dirty="0"/>
          </a:p>
        </p:txBody>
      </p:sp>
      <p:sp>
        <p:nvSpPr>
          <p:cNvPr id="12" name="S04-stepno171"/>
          <p:cNvSpPr txBox="1"/>
          <p:nvPr/>
        </p:nvSpPr>
        <p:spPr>
          <a:xfrm>
            <a:off x="548640" y="5131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4-text172"/>
          <p:cNvSpPr txBox="1"/>
          <p:nvPr/>
        </p:nvSpPr>
        <p:spPr>
          <a:xfrm>
            <a:off x="1325880" y="51318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자는 시각을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할까요?</a:t>
            </a:r>
            <a:endParaRPr lang="ko-KR" sz="4400" dirty="0"/>
          </a:p>
        </p:txBody>
      </p:sp>
      <p:sp>
        <p:nvSpPr>
          <p:cNvPr id="3" name="S05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일일까요? 까닭도 말해요.</a:t>
            </a:r>
            <a:endParaRPr lang="ko-KR" sz="3200" dirty="0"/>
          </a:p>
        </p:txBody>
      </p:sp>
      <p:sp>
        <p:nvSpPr>
          <p:cNvPr id="4" name="S05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칼·불·뜨거운 물을 쓰는 일은 어른이 해요.</a:t>
            </a:r>
            <a:endParaRPr lang="ko-KR" sz="3200" dirty="0"/>
          </a:p>
        </p:txBody>
      </p:sp>
      <p:sp>
        <p:nvSpPr>
          <p:cNvPr id="6" name="S05-chip1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17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</a:t>
            </a:r>
            <a:endParaRPr lang="ko-KR" sz="3200" dirty="0"/>
          </a:p>
        </p:txBody>
      </p:sp>
      <p:sp>
        <p:nvSpPr>
          <p:cNvPr id="8" name="S05-chip178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179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칼로 과일 자르기</a:t>
            </a:r>
            <a:endParaRPr lang="ko-KR" sz="3200" dirty="0"/>
          </a:p>
        </p:txBody>
      </p:sp>
      <p:sp>
        <p:nvSpPr>
          <p:cNvPr id="10" name="S05-chip1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18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 개기</a:t>
            </a:r>
            <a:endParaRPr lang="ko-KR" sz="3200" dirty="0"/>
          </a:p>
        </p:txBody>
      </p:sp>
      <p:sp>
        <p:nvSpPr>
          <p:cNvPr id="12" name="S05-chip182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5-text183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켜고 국 끓이기</a:t>
            </a:r>
            <a:endParaRPr lang="ko-KR" sz="3200" dirty="0"/>
          </a:p>
        </p:txBody>
      </p:sp>
      <p:sp>
        <p:nvSpPr>
          <p:cNvPr id="14" name="S05-chip1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5-text185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</a:t>
            </a:r>
            <a:endParaRPr lang="ko-KR" sz="3200" dirty="0"/>
          </a:p>
        </p:txBody>
      </p:sp>
      <p:sp>
        <p:nvSpPr>
          <p:cNvPr id="16" name="S05-chip186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5-text187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 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회의</a:t>
            </a:r>
            <a:endParaRPr lang="ko-KR" sz="4400" dirty="0"/>
          </a:p>
        </p:txBody>
      </p:sp>
      <p:sp>
        <p:nvSpPr>
          <p:cNvPr id="3" name="S06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가족과 일을 나누고 실천표를 만들어요.</a:t>
            </a:r>
            <a:endParaRPr lang="ko-KR" sz="3200" dirty="0"/>
          </a:p>
        </p:txBody>
      </p:sp>
      <p:sp>
        <p:nvSpPr>
          <p:cNvPr id="4" name="S06-card18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9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맡을 일을 1~2가지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일과표에 그 시간을 넣었어요</a:t>
            </a:r>
            <a:endParaRPr lang="ko-KR" sz="3200" dirty="0"/>
          </a:p>
        </p:txBody>
      </p:sp>
      <p:sp>
        <p:nvSpPr>
          <p:cNvPr id="6" name="S06-stepno19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19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일을 함께 찾아요.</a:t>
            </a:r>
            <a:endParaRPr lang="ko-KR" sz="3200" dirty="0"/>
          </a:p>
        </p:txBody>
      </p:sp>
      <p:sp>
        <p:nvSpPr>
          <p:cNvPr id="8" name="S06-stepno19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19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맡을 일을 골라요.</a:t>
            </a:r>
            <a:endParaRPr lang="ko-KR" sz="3200" dirty="0"/>
          </a:p>
        </p:txBody>
      </p:sp>
      <p:sp>
        <p:nvSpPr>
          <p:cNvPr id="10" name="S06-stepno19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19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200" dirty="0"/>
          </a:p>
        </p:txBody>
      </p:sp>
      <p:sp>
        <p:nvSpPr>
          <p:cNvPr id="12" name="S06-stepno19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19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일과표와 실천표에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19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20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일과표로 하루 시간을 나누고, 가족과 집안일을 나누어 맡아요.</a:t>
            </a:r>
            <a:endParaRPr lang="ko-KR" sz="3200" dirty="0"/>
          </a:p>
        </p:txBody>
      </p:sp>
      <p:sp>
        <p:nvSpPr>
          <p:cNvPr id="5" name="S07-chip20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맡은 일 끝까지 하기</a:t>
            </a:r>
            <a:endParaRPr lang="ko-KR" sz="2600" dirty="0"/>
          </a:p>
        </p:txBody>
      </p:sp>
      <p:sp>
        <p:nvSpPr>
          <p:cNvPr id="6" name="S07-chip20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칼·불 혼자 쓰기</a:t>
            </a:r>
            <a:endParaRPr lang="ko-KR" sz="2600" dirty="0"/>
          </a:p>
        </p:txBody>
      </p:sp>
      <p:sp>
        <p:nvSpPr>
          <p:cNvPr id="7" name="S07-text20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20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일과표에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적는 두 가지</a:t>
            </a:r>
            <a:endParaRPr lang="ko-KR" sz="2600" dirty="0"/>
          </a:p>
        </p:txBody>
      </p:sp>
      <p:sp>
        <p:nvSpPr>
          <p:cNvPr id="9" name="S07-text20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내가 맡은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집안일과 까닭</a:t>
            </a:r>
            <a:endParaRPr lang="ko-KR" sz="2600" dirty="0"/>
          </a:p>
        </p:txBody>
      </p:sp>
      <p:sp>
        <p:nvSpPr>
          <p:cNvPr id="10" name="S07-text20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실천표의 ○는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600" dirty="0"/>
          </a:p>
        </p:txBody>
      </p:sp>
      <p:sp>
        <p:nvSpPr>
          <p:cNvPr id="11" name="S07-text2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재료 비교와 도구 안전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아침·낮·저녁·밤</a:t>
            </a:r>
            <a:endParaRPr lang="ko-KR" sz="4400" dirty="0"/>
          </a:p>
        </p:txBody>
      </p:sp>
      <p:sp>
        <p:nvSpPr>
          <p:cNvPr id="3" name="S08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이렇게 흘러가요.</a:t>
            </a:r>
            <a:endParaRPr lang="ko-KR" sz="3200" dirty="0"/>
          </a:p>
        </p:txBody>
      </p:sp>
      <p:sp>
        <p:nvSpPr>
          <p:cNvPr id="4" name="S08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대신 아침·낮·저녁·밤으로 적어도 돼요.</a:t>
            </a:r>
            <a:endParaRPr lang="ko-KR" sz="3200" dirty="0"/>
          </a:p>
        </p:txBody>
      </p:sp>
      <p:sp>
        <p:nvSpPr>
          <p:cNvPr id="6" name="S08-step211"/>
          <p:cNvSpPr txBox="1"/>
          <p:nvPr/>
        </p:nvSpPr>
        <p:spPr>
          <a:xfrm>
            <a:off x="548640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일어나기</a:t>
            </a:r>
            <a:endParaRPr lang="ko-KR" sz="2600" dirty="0"/>
          </a:p>
        </p:txBody>
      </p:sp>
      <p:sp>
        <p:nvSpPr>
          <p:cNvPr id="7" name="S08-line21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213"/>
          <p:cNvSpPr txBox="1"/>
          <p:nvPr/>
        </p:nvSpPr>
        <p:spPr>
          <a:xfrm>
            <a:off x="3424428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학교·숙제</a:t>
            </a:r>
            <a:endParaRPr lang="ko-KR" sz="2600" dirty="0"/>
          </a:p>
        </p:txBody>
      </p:sp>
      <p:sp>
        <p:nvSpPr>
          <p:cNvPr id="9" name="S08-line21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215"/>
          <p:cNvSpPr txBox="1"/>
          <p:nvPr/>
        </p:nvSpPr>
        <p:spPr>
          <a:xfrm>
            <a:off x="6300216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먹기</a:t>
            </a:r>
            <a:endParaRPr lang="ko-KR" sz="2600" dirty="0"/>
          </a:p>
        </p:txBody>
      </p:sp>
      <p:sp>
        <p:nvSpPr>
          <p:cNvPr id="11" name="S08-line21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217"/>
          <p:cNvSpPr txBox="1"/>
          <p:nvPr/>
        </p:nvSpPr>
        <p:spPr>
          <a:xfrm>
            <a:off x="9176004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기술·가정 시간 관리와 집안일 나누기</dc:title>
  <dc:subject>KR22-G02-TEC-CHORES-L01</dc:subject>
  <dc:creator>education-ppt</dc:creator>
  <cp:lastModifiedBy>education-ppt</cp:lastModifiedBy>
  <cp:revision>1</cp:revision>
  <dcterms:created xsi:type="dcterms:W3CDTF">2026-10-26T09:57:59Z</dcterms:created>
  <dcterms:modified xsi:type="dcterms:W3CDTF">2026-10-26T09:57:59Z</dcterms:modified>
</cp:coreProperties>
</file>