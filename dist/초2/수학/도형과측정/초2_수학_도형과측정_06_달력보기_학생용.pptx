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도입" id="{900be0e5-b434-8d7a-023d-aab5c5a9d32e}">
          <p14:sldIdLst>
            <p14:sldId id="256"/>
            <p14:sldId id="257"/>
          </p14:sldIdLst>
        </p14:section>
        <p14:section name="개념" id="{9d8ba826-d35b-703f-6345-86212cb4b415}">
          <p14:sldIdLst>
            <p14:sldId id="258"/>
            <p14:sldId id="259"/>
            <p14:sldId id="260"/>
            <p14:sldId id="263"/>
            <p14:sldId id="264"/>
          </p14:sldIdLst>
        </p14:section>
        <p14:section name="연습" id="{ce840417-466a-630d-b59f-e5997b98156b}">
          <p14:sldIdLst>
            <p14:sldId id="261"/>
            <p14:sldId id="262"/>
            <p14:sldId id="265"/>
          </p14:sldIdLst>
        </p14:section>
        <p14:section name="개념" id="{2e6a1aca-281a-4fcd-c972-af48a7fc8bb2}">
          <p14:sldIdLst/>
        </p14:section>
        <p14:section name="연습" id="{28ebf5e2-0356-619e-e2d2-d10623426223}">
          <p14:sldIdLst/>
        </p14:section>
        <p14:section name="확인" id="{20fb7423-e14c-95ee-f89f-f0f21cc488ec}">
          <p14:sldIdLst>
            <p14:sldId id="266"/>
            <p14:sldId id="267"/>
          </p14:sldIdLst>
        </p14:section>
        <p14:section name="정리" id="{950b6316-b062-a4f6-3dd6-68e42811c63d}">
          <p14:sldIdLst>
            <p14:sldId id="268"/>
          </p14:sldIdLst>
        </p14:section>
        <p14:section name="보충" id="{152a45f5-e0d1-8a0b-76e1-300b2693c526}">
          <p14:sldIdLst>
            <p14:sldId id="269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rtlCol="0"/>
          <a:lstStyle>
            <a:lvl1pPr indent="0" marL="0">
              <a:buNone/>
              <a:defRPr 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indent="0" marL="0">
              <a:buNone/>
            </a:pPr>
            <a:endParaRPr lang="en-US" sz="3200" dirty="0"/>
          </a:p>
        </p:txBody>
      </p:sp>
      <p:sp>
        <p:nvSpPr>
          <p:cNvPr id="4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도형과측정 · 6차시</a:t>
            </a:r>
            <a:endParaRPr lang="en-US" sz="12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rgbClr val="26465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1004</a:t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UPPORT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defRPr>
            </a:lvl1pPr>
          </a:lstStyle>
          <a:p>
            <a:pPr algn="l" indent="0" marL="0">
              <a:buNone/>
            </a:pPr>
            <a:endParaRPr lang="en-US" sz="4400" dirty="0"/>
          </a:p>
        </p:txBody>
      </p:sp>
      <p:sp>
        <p:nvSpPr>
          <p:cNvPr id="3" name="Text 0"/>
          <p:cNvSpPr/>
          <p:nvPr/>
        </p:nvSpPr>
        <p:spPr>
          <a:xfrm>
            <a:off x="548640" y="6382512"/>
            <a:ext cx="86868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4B5563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 자료 · 초2 수학 · 달력 보기</a:t>
            </a:r>
            <a:endParaRPr lang="en-US" sz="1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1005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5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731520" y="640080"/>
            <a:ext cx="66751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50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 보기</a:t>
            </a:r>
            <a:endParaRPr lang="ko-KR" sz="5000" dirty="0"/>
          </a:p>
        </p:txBody>
      </p:sp>
      <p:sp>
        <p:nvSpPr>
          <p:cNvPr id="3" name="Text 0"/>
          <p:cNvSpPr/>
          <p:nvPr>
            <p:ph idx="101" type="body" hasCustomPrompt="1"/>
          </p:nvPr>
        </p:nvSpPr>
        <p:spPr>
          <a:xfrm>
            <a:off x="731520" y="1920240"/>
            <a:ext cx="66751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indent="0" marL="0">
              <a:buNone/>
            </a:pPr>
            <a:r>
              <a:rPr lang="ko-KR" altLang="en-US" sz="32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오늘은 며칠, 무슨 요일일까?</a:t>
            </a:r>
            <a:endParaRPr lang="ko-KR" sz="3200" dirty="0"/>
          </a:p>
        </p:txBody>
      </p:sp>
      <p:graphicFrame>
        <p:nvGraphicFramePr>
          <p:cNvPr id="2" name="S01-table1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7680960" y="1670050"/>
          <a:ext cx="3931920" cy="914400"/>
        </p:xfrm>
        <a:graphic>
          <a:graphicData uri="http://schemas.openxmlformats.org/drawingml/2006/table">
            <a:tbl>
              <a:tblPr/>
              <a:tblGrid>
                <a:gridCol w="561703"/>
                <a:gridCol w="561703"/>
                <a:gridCol w="561703"/>
                <a:gridCol w="561703"/>
                <a:gridCol w="561703"/>
                <a:gridCol w="561703"/>
                <a:gridCol w="561703"/>
              </a:tblGrid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43307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2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2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1-card2"/>
          <p:cNvSpPr/>
          <p:nvPr/>
        </p:nvSpPr>
        <p:spPr>
          <a:xfrm>
            <a:off x="731520" y="4343400"/>
            <a:ext cx="10725912" cy="1783080"/>
          </a:xfrm>
          <a:prstGeom prst="roundRect">
            <a:avLst>
              <a:gd name="adj" fmla="val 6154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6" name="S01-cardtext3"/>
          <p:cNvSpPr txBox="1"/>
          <p:nvPr/>
        </p:nvSpPr>
        <p:spPr>
          <a:xfrm>
            <a:off x="1005840" y="4480560"/>
            <a:ext cx="10177272" cy="1508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할 수 있게 될 것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달력에서 날짜와 요일을 찾아요.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1주일 = 7일, 1년 = 12개월을 알아요.</a:t>
            </a:r>
            <a:endParaRPr lang="ko-KR" sz="3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지난 시간 기억하기</a:t>
            </a:r>
            <a:endParaRPr lang="ko-KR" sz="4400" dirty="0"/>
          </a:p>
        </p:txBody>
      </p:sp>
      <p:sp>
        <p:nvSpPr>
          <p:cNvPr id="3" name="S02-chip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4" name="S02-eqtext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하루 = □ 시간</a:t>
            </a:r>
            <a:endParaRPr lang="ko-KR" sz="3600" dirty="0"/>
          </a:p>
        </p:txBody>
      </p:sp>
      <p:sp>
        <p:nvSpPr>
          <p:cNvPr id="5" name="S02-chip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6" name="S02-eqtext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1시간 = □ 분</a:t>
            </a:r>
            <a:endParaRPr lang="ko-KR" sz="3600" dirty="0"/>
          </a:p>
        </p:txBody>
      </p:sp>
      <p:sp>
        <p:nvSpPr>
          <p:cNvPr id="7" name="S02-chip8"/>
          <p:cNvSpPr txBox="1"/>
          <p:nvPr/>
        </p:nvSpPr>
        <p:spPr>
          <a:xfrm>
            <a:off x="548640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8" name="S02-eqtext9"/>
          <p:cNvSpPr txBox="1"/>
          <p:nvPr/>
        </p:nvSpPr>
        <p:spPr>
          <a:xfrm>
            <a:off x="1344168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7, 14, □, 28</a:t>
            </a:r>
            <a:endParaRPr lang="ko-KR" sz="3600" dirty="0"/>
          </a:p>
        </p:txBody>
      </p:sp>
      <p:sp>
        <p:nvSpPr>
          <p:cNvPr id="9" name="S02-chip10"/>
          <p:cNvSpPr txBox="1"/>
          <p:nvPr/>
        </p:nvSpPr>
        <p:spPr>
          <a:xfrm>
            <a:off x="6277356" y="43113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0" name="S02-text11"/>
          <p:cNvSpPr txBox="1"/>
          <p:nvPr/>
        </p:nvSpPr>
        <p:spPr>
          <a:xfrm>
            <a:off x="7072884" y="386334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 다음 날은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요일?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 읽기</a:t>
            </a:r>
            <a:endParaRPr lang="ko-KR" sz="4400" dirty="0"/>
          </a:p>
        </p:txBody>
      </p:sp>
      <p:sp>
        <p:nvSpPr>
          <p:cNvPr id="3" name="S03-card12"/>
          <p:cNvSpPr/>
          <p:nvPr/>
        </p:nvSpPr>
        <p:spPr>
          <a:xfrm>
            <a:off x="548640" y="4913884"/>
            <a:ext cx="11091672" cy="1304036"/>
          </a:xfrm>
          <a:prstGeom prst="roundRect">
            <a:avLst>
              <a:gd name="adj" fmla="val 8414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4" name="S03-cardtext13"/>
          <p:cNvSpPr txBox="1"/>
          <p:nvPr/>
        </p:nvSpPr>
        <p:spPr>
          <a:xfrm>
            <a:off x="822960" y="5051044"/>
            <a:ext cx="10543032" cy="10297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15일은 수요일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날짜에서 위로 올라가면 요일이 있어요.</a:t>
            </a:r>
            <a:endParaRPr lang="ko-KR" sz="3200" dirty="0"/>
          </a:p>
        </p:txBody>
      </p:sp>
      <p:graphicFrame>
        <p:nvGraphicFramePr>
          <p:cNvPr id="4" name="S03-table1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2253996" y="1470152"/>
          <a:ext cx="7680960" cy="914400"/>
        </p:xfrm>
        <a:graphic>
          <a:graphicData uri="http://schemas.openxmlformats.org/drawingml/2006/table">
            <a:tbl>
              <a:tblPr/>
              <a:tblGrid>
                <a:gridCol w="1097280"/>
                <a:gridCol w="1097280"/>
                <a:gridCol w="1097280"/>
                <a:gridCol w="1097280"/>
                <a:gridCol w="1097280"/>
                <a:gridCol w="1097280"/>
                <a:gridCol w="109728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1주일은 7일</a:t>
            </a:r>
            <a:endParaRPr lang="ko-KR" sz="4400" dirty="0"/>
          </a:p>
        </p:txBody>
      </p:sp>
      <p:sp>
        <p:nvSpPr>
          <p:cNvPr id="3" name="S04-text15"/>
          <p:cNvSpPr txBox="1"/>
          <p:nvPr/>
        </p:nvSpPr>
        <p:spPr>
          <a:xfrm>
            <a:off x="548640" y="1325880"/>
            <a:ext cx="11091672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수요일은 며칠마다 다시 올까요?</a:t>
            </a:r>
            <a:endParaRPr lang="ko-KR" sz="3200" dirty="0"/>
          </a:p>
        </p:txBody>
      </p:sp>
      <p:graphicFrame>
        <p:nvGraphicFramePr>
          <p:cNvPr id="5" name="S04-table16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87655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04-stepno17"/>
          <p:cNvSpPr txBox="1"/>
          <p:nvPr/>
        </p:nvSpPr>
        <p:spPr>
          <a:xfrm>
            <a:off x="548640" y="302717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400" dirty="0"/>
          </a:p>
        </p:txBody>
      </p:sp>
      <p:sp>
        <p:nvSpPr>
          <p:cNvPr id="6" name="S04-text18"/>
          <p:cNvSpPr txBox="1"/>
          <p:nvPr/>
        </p:nvSpPr>
        <p:spPr>
          <a:xfrm>
            <a:off x="1325880" y="298145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수요일인 날을 모두 찾아요.</a:t>
            </a:r>
            <a:endParaRPr lang="ko-KR" sz="3200" dirty="0"/>
          </a:p>
        </p:txBody>
      </p:sp>
      <p:sp>
        <p:nvSpPr>
          <p:cNvPr id="7" name="S04-stepno19"/>
          <p:cNvSpPr txBox="1"/>
          <p:nvPr/>
        </p:nvSpPr>
        <p:spPr>
          <a:xfrm>
            <a:off x="548640" y="4137660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400" dirty="0"/>
          </a:p>
        </p:txBody>
      </p:sp>
      <p:sp>
        <p:nvSpPr>
          <p:cNvPr id="8" name="S04-text20"/>
          <p:cNvSpPr txBox="1"/>
          <p:nvPr/>
        </p:nvSpPr>
        <p:spPr>
          <a:xfrm>
            <a:off x="1325880" y="4137660"/>
            <a:ext cx="4585716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1, 8, 15, 22, 29일</a:t>
            </a:r>
            <a:endParaRPr lang="ko-KR" sz="3200" dirty="0"/>
          </a:p>
        </p:txBody>
      </p:sp>
      <p:sp>
        <p:nvSpPr>
          <p:cNvPr id="9" name="S04-stepno21"/>
          <p:cNvSpPr txBox="1"/>
          <p:nvPr/>
        </p:nvSpPr>
        <p:spPr>
          <a:xfrm>
            <a:off x="548640" y="4896612"/>
            <a:ext cx="548640" cy="548640"/>
          </a:xfrm>
          <a:prstGeom prst="ellipse">
            <a:avLst/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400" dirty="0"/>
          </a:p>
        </p:txBody>
      </p:sp>
      <p:sp>
        <p:nvSpPr>
          <p:cNvPr id="10" name="S04-text22"/>
          <p:cNvSpPr txBox="1"/>
          <p:nvPr/>
        </p:nvSpPr>
        <p:spPr>
          <a:xfrm>
            <a:off x="1325880" y="4850892"/>
            <a:ext cx="4585716" cy="9916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커져요.</a:t>
            </a:r>
            <a:endParaRPr lang="ko-KR" sz="3200" dirty="0"/>
          </a:p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주일 뒤는?</a:t>
            </a:r>
            <a:endParaRPr lang="ko-KR" sz="4400" dirty="0"/>
          </a:p>
        </p:txBody>
      </p:sp>
      <p:sp>
        <p:nvSpPr>
          <p:cNvPr id="3" name="S05-text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6일 월요일에서 1주일 뒤는?</a:t>
            </a:r>
            <a:endParaRPr lang="ko-KR" sz="3200" dirty="0"/>
          </a:p>
        </p:txBody>
      </p:sp>
      <p:sp>
        <p:nvSpPr>
          <p:cNvPr id="4" name="S05-card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5-cardtext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뒤는 7일 뒤, 같은 요일이에요.</a:t>
            </a:r>
            <a:endParaRPr lang="ko-KR" sz="3200" dirty="0"/>
          </a:p>
        </p:txBody>
      </p:sp>
      <p:sp>
        <p:nvSpPr>
          <p:cNvPr id="6" name="S05-card26"/>
          <p:cNvSpPr/>
          <p:nvPr/>
        </p:nvSpPr>
        <p:spPr>
          <a:xfrm>
            <a:off x="548640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7" name="S05-cardtext27"/>
          <p:cNvSpPr txBox="1"/>
          <p:nvPr/>
        </p:nvSpPr>
        <p:spPr>
          <a:xfrm>
            <a:off x="822960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 → 13일 → 20일</a:t>
            </a:r>
            <a:endParaRPr lang="ko-KR" sz="3200" dirty="0"/>
          </a:p>
        </p:txBody>
      </p:sp>
      <p:sp>
        <p:nvSpPr>
          <p:cNvPr id="8" name="S05-card28"/>
          <p:cNvSpPr/>
          <p:nvPr/>
        </p:nvSpPr>
        <p:spPr>
          <a:xfrm>
            <a:off x="6208776" y="4251960"/>
            <a:ext cx="5431536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9" name="S05-cardtext29"/>
          <p:cNvSpPr txBox="1"/>
          <p:nvPr/>
        </p:nvSpPr>
        <p:spPr>
          <a:xfrm>
            <a:off x="6483096" y="4389120"/>
            <a:ext cx="4882896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월요일이에요.</a:t>
            </a:r>
            <a:endParaRPr lang="ko-KR" sz="3200" dirty="0"/>
          </a:p>
        </p:txBody>
      </p:sp>
      <p:sp>
        <p:nvSpPr>
          <p:cNvPr id="10" name="S05-line30"/>
          <p:cNvSpPr/>
          <p:nvPr/>
        </p:nvSpPr>
        <p:spPr>
          <a:xfrm>
            <a:off x="685800" y="3228340"/>
            <a:ext cx="10817352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11" name="S05-line31"/>
          <p:cNvSpPr/>
          <p:nvPr/>
        </p:nvSpPr>
        <p:spPr>
          <a:xfrm>
            <a:off x="960120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5-label32"/>
          <p:cNvSpPr txBox="1"/>
          <p:nvPr/>
        </p:nvSpPr>
        <p:spPr>
          <a:xfrm>
            <a:off x="502920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</a:t>
            </a:r>
            <a:endParaRPr lang="ko-KR" sz="2600" dirty="0"/>
          </a:p>
        </p:txBody>
      </p:sp>
      <p:sp>
        <p:nvSpPr>
          <p:cNvPr id="13" name="S05-line33"/>
          <p:cNvSpPr/>
          <p:nvPr/>
        </p:nvSpPr>
        <p:spPr>
          <a:xfrm>
            <a:off x="1693599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5-label34"/>
          <p:cNvSpPr txBox="1"/>
          <p:nvPr/>
        </p:nvSpPr>
        <p:spPr>
          <a:xfrm>
            <a:off x="1236399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5" name="S05-line35"/>
          <p:cNvSpPr/>
          <p:nvPr/>
        </p:nvSpPr>
        <p:spPr>
          <a:xfrm>
            <a:off x="2427079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5-label36"/>
          <p:cNvSpPr txBox="1"/>
          <p:nvPr/>
        </p:nvSpPr>
        <p:spPr>
          <a:xfrm>
            <a:off x="1969879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7" name="S05-line37"/>
          <p:cNvSpPr/>
          <p:nvPr/>
        </p:nvSpPr>
        <p:spPr>
          <a:xfrm>
            <a:off x="316055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5-label38"/>
          <p:cNvSpPr txBox="1"/>
          <p:nvPr/>
        </p:nvSpPr>
        <p:spPr>
          <a:xfrm>
            <a:off x="270335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9" name="S05-line39"/>
          <p:cNvSpPr/>
          <p:nvPr/>
        </p:nvSpPr>
        <p:spPr>
          <a:xfrm>
            <a:off x="3894038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5-label40"/>
          <p:cNvSpPr txBox="1"/>
          <p:nvPr/>
        </p:nvSpPr>
        <p:spPr>
          <a:xfrm>
            <a:off x="3436838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21" name="S05-line41"/>
          <p:cNvSpPr/>
          <p:nvPr/>
        </p:nvSpPr>
        <p:spPr>
          <a:xfrm>
            <a:off x="462751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2" name="S05-label42"/>
          <p:cNvSpPr txBox="1"/>
          <p:nvPr/>
        </p:nvSpPr>
        <p:spPr>
          <a:xfrm>
            <a:off x="417031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23" name="S05-line43"/>
          <p:cNvSpPr/>
          <p:nvPr/>
        </p:nvSpPr>
        <p:spPr>
          <a:xfrm>
            <a:off x="5360997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4" name="S05-label44"/>
          <p:cNvSpPr txBox="1"/>
          <p:nvPr/>
        </p:nvSpPr>
        <p:spPr>
          <a:xfrm>
            <a:off x="4903797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5" name="S05-line45"/>
          <p:cNvSpPr/>
          <p:nvPr/>
        </p:nvSpPr>
        <p:spPr>
          <a:xfrm>
            <a:off x="6094476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6" name="S05-label46"/>
          <p:cNvSpPr txBox="1"/>
          <p:nvPr/>
        </p:nvSpPr>
        <p:spPr>
          <a:xfrm>
            <a:off x="5637276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13</a:t>
            </a:r>
            <a:endParaRPr lang="ko-KR" sz="2600" dirty="0"/>
          </a:p>
        </p:txBody>
      </p:sp>
      <p:sp>
        <p:nvSpPr>
          <p:cNvPr id="27" name="S05-line47"/>
          <p:cNvSpPr/>
          <p:nvPr/>
        </p:nvSpPr>
        <p:spPr>
          <a:xfrm>
            <a:off x="682795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8" name="S05-label48"/>
          <p:cNvSpPr txBox="1"/>
          <p:nvPr/>
        </p:nvSpPr>
        <p:spPr>
          <a:xfrm>
            <a:off x="637075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</a:t>
            </a:r>
            <a:endParaRPr lang="ko-KR" sz="2600" dirty="0"/>
          </a:p>
        </p:txBody>
      </p:sp>
      <p:sp>
        <p:nvSpPr>
          <p:cNvPr id="29" name="S05-line49"/>
          <p:cNvSpPr/>
          <p:nvPr/>
        </p:nvSpPr>
        <p:spPr>
          <a:xfrm>
            <a:off x="7561435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0" name="S05-label50"/>
          <p:cNvSpPr txBox="1"/>
          <p:nvPr/>
        </p:nvSpPr>
        <p:spPr>
          <a:xfrm>
            <a:off x="7104235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15</a:t>
            </a:r>
            <a:endParaRPr lang="ko-KR" sz="2600" dirty="0"/>
          </a:p>
        </p:txBody>
      </p:sp>
      <p:sp>
        <p:nvSpPr>
          <p:cNvPr id="31" name="S05-line51"/>
          <p:cNvSpPr/>
          <p:nvPr/>
        </p:nvSpPr>
        <p:spPr>
          <a:xfrm>
            <a:off x="829491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2" name="S05-label52"/>
          <p:cNvSpPr txBox="1"/>
          <p:nvPr/>
        </p:nvSpPr>
        <p:spPr>
          <a:xfrm>
            <a:off x="783771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16</a:t>
            </a:r>
            <a:endParaRPr lang="ko-KR" sz="2600" dirty="0"/>
          </a:p>
        </p:txBody>
      </p:sp>
      <p:sp>
        <p:nvSpPr>
          <p:cNvPr id="33" name="S05-line53"/>
          <p:cNvSpPr/>
          <p:nvPr/>
        </p:nvSpPr>
        <p:spPr>
          <a:xfrm>
            <a:off x="9028394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4" name="S05-label54"/>
          <p:cNvSpPr txBox="1"/>
          <p:nvPr/>
        </p:nvSpPr>
        <p:spPr>
          <a:xfrm>
            <a:off x="8571194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17</a:t>
            </a:r>
            <a:endParaRPr lang="ko-KR" sz="2600" dirty="0"/>
          </a:p>
        </p:txBody>
      </p:sp>
      <p:sp>
        <p:nvSpPr>
          <p:cNvPr id="35" name="S05-line55"/>
          <p:cNvSpPr/>
          <p:nvPr/>
        </p:nvSpPr>
        <p:spPr>
          <a:xfrm>
            <a:off x="9761873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6" name="S05-label56"/>
          <p:cNvSpPr txBox="1"/>
          <p:nvPr/>
        </p:nvSpPr>
        <p:spPr>
          <a:xfrm>
            <a:off x="9304673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18</a:t>
            </a:r>
            <a:endParaRPr lang="ko-KR" sz="2600" dirty="0"/>
          </a:p>
        </p:txBody>
      </p:sp>
      <p:sp>
        <p:nvSpPr>
          <p:cNvPr id="37" name="S05-line57"/>
          <p:cNvSpPr/>
          <p:nvPr/>
        </p:nvSpPr>
        <p:spPr>
          <a:xfrm>
            <a:off x="10495353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8" name="S05-label58"/>
          <p:cNvSpPr txBox="1"/>
          <p:nvPr/>
        </p:nvSpPr>
        <p:spPr>
          <a:xfrm>
            <a:off x="10038153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19</a:t>
            </a:r>
            <a:endParaRPr lang="ko-KR" sz="2600" dirty="0"/>
          </a:p>
        </p:txBody>
      </p:sp>
      <p:sp>
        <p:nvSpPr>
          <p:cNvPr id="39" name="S05-line59"/>
          <p:cNvSpPr/>
          <p:nvPr/>
        </p:nvSpPr>
        <p:spPr>
          <a:xfrm>
            <a:off x="11228832" y="3082036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40" name="S05-label60"/>
          <p:cNvSpPr txBox="1"/>
          <p:nvPr/>
        </p:nvSpPr>
        <p:spPr>
          <a:xfrm>
            <a:off x="10771632" y="3411220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20</a:t>
            </a:r>
            <a:endParaRPr lang="ko-KR" sz="2600" dirty="0"/>
          </a:p>
        </p:txBody>
      </p:sp>
      <p:sp>
        <p:nvSpPr>
          <p:cNvPr id="41" name="S05-mark61"/>
          <p:cNvSpPr/>
          <p:nvPr/>
        </p:nvSpPr>
        <p:spPr>
          <a:xfrm>
            <a:off x="868680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2" name="S05-mark62"/>
          <p:cNvSpPr/>
          <p:nvPr/>
        </p:nvSpPr>
        <p:spPr>
          <a:xfrm>
            <a:off x="6003036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3" name="S05-mark63"/>
          <p:cNvSpPr/>
          <p:nvPr/>
        </p:nvSpPr>
        <p:spPr>
          <a:xfrm>
            <a:off x="11137392" y="3136900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44" name="S05-line64"/>
          <p:cNvSpPr/>
          <p:nvPr/>
        </p:nvSpPr>
        <p:spPr>
          <a:xfrm flipV="1">
            <a:off x="960120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5" name="S05-line65"/>
          <p:cNvSpPr/>
          <p:nvPr/>
        </p:nvSpPr>
        <p:spPr>
          <a:xfrm>
            <a:off x="960120" y="28442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6" name="S05-label66"/>
          <p:cNvSpPr txBox="1"/>
          <p:nvPr/>
        </p:nvSpPr>
        <p:spPr>
          <a:xfrm>
            <a:off x="960120" y="2396744"/>
            <a:ext cx="5134356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</a:t>
            </a:r>
            <a:endParaRPr lang="ko-KR" sz="2600" dirty="0"/>
          </a:p>
        </p:txBody>
      </p:sp>
      <p:sp>
        <p:nvSpPr>
          <p:cNvPr id="47" name="S05-line67"/>
          <p:cNvSpPr/>
          <p:nvPr/>
        </p:nvSpPr>
        <p:spPr>
          <a:xfrm flipV="1">
            <a:off x="6094476" y="2844292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8" name="S05-line68"/>
          <p:cNvSpPr/>
          <p:nvPr/>
        </p:nvSpPr>
        <p:spPr>
          <a:xfrm>
            <a:off x="6094476" y="2844292"/>
            <a:ext cx="5134356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9" name="S05-label69"/>
          <p:cNvSpPr txBox="1"/>
          <p:nvPr/>
        </p:nvSpPr>
        <p:spPr>
          <a:xfrm>
            <a:off x="6094476" y="2396744"/>
            <a:ext cx="5134356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</a:t>
            </a:r>
            <a:endParaRPr lang="ko-KR" sz="2600" dirty="0"/>
          </a:p>
        </p:txBody>
      </p:sp>
      <p:sp>
        <p:nvSpPr>
          <p:cNvPr id="50" name="S05-figure70" descr="6부터 20까지 1씩 눈금이 있는 수직선: 6에서 13으로 7일, 13에서 20으로 7일 뛰기"/>
          <p:cNvSpPr/>
          <p:nvPr/>
        </p:nvSpPr>
        <p:spPr>
          <a:xfrm>
            <a:off x="685800" y="3045460"/>
            <a:ext cx="10817352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달력에서 찾아요</a:t>
            </a:r>
            <a:endParaRPr lang="ko-KR" sz="4400" dirty="0"/>
          </a:p>
        </p:txBody>
      </p:sp>
      <p:sp>
        <p:nvSpPr>
          <p:cNvPr id="3" name="S06-text71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달력을 보고 답해요.</a:t>
            </a:r>
            <a:endParaRPr lang="ko-KR" sz="3200" dirty="0"/>
          </a:p>
        </p:txBody>
      </p:sp>
      <p:sp>
        <p:nvSpPr>
          <p:cNvPr id="4" name="S06-card7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5" name="S06-cardtext7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같은 요일은 7일마다 와요.</a:t>
            </a:r>
            <a:endParaRPr lang="ko-KR" sz="3200" dirty="0"/>
          </a:p>
        </p:txBody>
      </p:sp>
      <p:graphicFrame>
        <p:nvGraphicFramePr>
          <p:cNvPr id="7" name="S06-table74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03073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7" name="S06-chip75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8" name="S06-text76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23일은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무슨 요일?</a:t>
            </a:r>
            <a:endParaRPr lang="ko-KR" sz="2600" dirty="0"/>
          </a:p>
        </p:txBody>
      </p:sp>
      <p:sp>
        <p:nvSpPr>
          <p:cNvPr id="9" name="S06-chip77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10" name="S06-text78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토요일은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모두 몇 번?</a:t>
            </a:r>
            <a:endParaRPr lang="ko-KR" sz="2600" dirty="0"/>
          </a:p>
        </p:txBody>
      </p:sp>
      <p:sp>
        <p:nvSpPr>
          <p:cNvPr id="11" name="S06-chip79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2" name="S06-text80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9일에서 1주일 뒤는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며칠?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</a:t>
            </a:r>
            <a:endParaRPr lang="ko-KR" sz="4400" dirty="0"/>
          </a:p>
        </p:txBody>
      </p:sp>
      <p:sp>
        <p:nvSpPr>
          <p:cNvPr id="3" name="S07-card81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7-cardtext82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8일에서 3일 뒤는 며칠일까요?</a:t>
            </a:r>
            <a:endParaRPr lang="ko-KR" sz="3200" dirty="0"/>
          </a:p>
        </p:txBody>
      </p:sp>
      <p:sp>
        <p:nvSpPr>
          <p:cNvPr id="5" name="S07-card8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6" name="S07-cardtext8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누가 맞았을까요? 왜 그럴까요?</a:t>
            </a:r>
            <a:endParaRPr lang="ko-KR" sz="3200" dirty="0"/>
          </a:p>
        </p:txBody>
      </p:sp>
      <p:sp>
        <p:nvSpPr>
          <p:cNvPr id="7" name="S07-chip85"/>
          <p:cNvSpPr txBox="1"/>
          <p:nvPr/>
        </p:nvSpPr>
        <p:spPr>
          <a:xfrm>
            <a:off x="548640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토끼: 10일</a:t>
            </a:r>
            <a:endParaRPr lang="ko-KR" sz="2600" dirty="0"/>
          </a:p>
        </p:txBody>
      </p:sp>
      <p:sp>
        <p:nvSpPr>
          <p:cNvPr id="8" name="S07-line86"/>
          <p:cNvSpPr/>
          <p:nvPr/>
        </p:nvSpPr>
        <p:spPr>
          <a:xfrm>
            <a:off x="685800" y="3675888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9" name="S07-line87"/>
          <p:cNvSpPr/>
          <p:nvPr/>
        </p:nvSpPr>
        <p:spPr>
          <a:xfrm>
            <a:off x="960120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0" name="S07-label88"/>
          <p:cNvSpPr txBox="1"/>
          <p:nvPr/>
        </p:nvSpPr>
        <p:spPr>
          <a:xfrm>
            <a:off x="502920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11" name="S07-line89"/>
          <p:cNvSpPr/>
          <p:nvPr/>
        </p:nvSpPr>
        <p:spPr>
          <a:xfrm>
            <a:off x="1868119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2" name="S07-label90"/>
          <p:cNvSpPr txBox="1"/>
          <p:nvPr/>
        </p:nvSpPr>
        <p:spPr>
          <a:xfrm>
            <a:off x="1410919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13" name="S07-line91"/>
          <p:cNvSpPr/>
          <p:nvPr/>
        </p:nvSpPr>
        <p:spPr>
          <a:xfrm>
            <a:off x="2776118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4" name="S07-label92"/>
          <p:cNvSpPr txBox="1"/>
          <p:nvPr/>
        </p:nvSpPr>
        <p:spPr>
          <a:xfrm>
            <a:off x="2318918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15" name="S07-line93"/>
          <p:cNvSpPr/>
          <p:nvPr/>
        </p:nvSpPr>
        <p:spPr>
          <a:xfrm>
            <a:off x="3684118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6" name="S07-label94"/>
          <p:cNvSpPr txBox="1"/>
          <p:nvPr/>
        </p:nvSpPr>
        <p:spPr>
          <a:xfrm>
            <a:off x="3226918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17" name="S07-line95"/>
          <p:cNvSpPr/>
          <p:nvPr/>
        </p:nvSpPr>
        <p:spPr>
          <a:xfrm>
            <a:off x="4592117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18" name="S07-label96"/>
          <p:cNvSpPr txBox="1"/>
          <p:nvPr/>
        </p:nvSpPr>
        <p:spPr>
          <a:xfrm>
            <a:off x="4134917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19" name="S07-line97"/>
          <p:cNvSpPr/>
          <p:nvPr/>
        </p:nvSpPr>
        <p:spPr>
          <a:xfrm>
            <a:off x="5500116" y="3529584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0" name="S07-label98"/>
          <p:cNvSpPr txBox="1"/>
          <p:nvPr/>
        </p:nvSpPr>
        <p:spPr>
          <a:xfrm>
            <a:off x="5042916" y="3858768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21" name="S07-mark99"/>
          <p:cNvSpPr/>
          <p:nvPr/>
        </p:nvSpPr>
        <p:spPr>
          <a:xfrm>
            <a:off x="1776679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2" name="S07-mark100"/>
          <p:cNvSpPr/>
          <p:nvPr/>
        </p:nvSpPr>
        <p:spPr>
          <a:xfrm>
            <a:off x="2684678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3" name="S07-mark101"/>
          <p:cNvSpPr/>
          <p:nvPr/>
        </p:nvSpPr>
        <p:spPr>
          <a:xfrm>
            <a:off x="3592678" y="3584448"/>
            <a:ext cx="182880" cy="182880"/>
          </a:xfrm>
          <a:prstGeom prst="ellipse">
            <a:avLst/>
          </a:prstGeom>
          <a:solidFill>
            <a:srgbClr val="E9762B"/>
          </a:solidFill>
          <a:ln w="12700">
            <a:solidFill>
              <a:srgbClr val="E9762B"/>
            </a:solidFill>
            <a:prstDash val="solid"/>
          </a:ln>
        </p:spPr>
      </p:sp>
      <p:sp>
        <p:nvSpPr>
          <p:cNvPr id="24" name="S07-figure102" descr="7부터 12까지 수직선에 8, 9, 10에 점을 찍음"/>
          <p:cNvSpPr/>
          <p:nvPr/>
        </p:nvSpPr>
        <p:spPr>
          <a:xfrm>
            <a:off x="685800" y="3493008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5" name="S07-text103"/>
          <p:cNvSpPr txBox="1"/>
          <p:nvPr/>
        </p:nvSpPr>
        <p:spPr>
          <a:xfrm>
            <a:off x="548640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8, 9, 10 하고 셌어요.</a:t>
            </a:r>
            <a:endParaRPr lang="ko-KR" sz="2600" dirty="0"/>
          </a:p>
        </p:txBody>
      </p:sp>
      <p:sp>
        <p:nvSpPr>
          <p:cNvPr id="26" name="S07-chip104"/>
          <p:cNvSpPr txBox="1"/>
          <p:nvPr/>
        </p:nvSpPr>
        <p:spPr>
          <a:xfrm>
            <a:off x="6277356" y="2423160"/>
            <a:ext cx="5362956" cy="566928"/>
          </a:xfrm>
          <a:prstGeom prst="roundRect">
            <a:avLst>
              <a:gd name="adj" fmla="val 25806"/>
            </a:avLst>
          </a:prstGeom>
          <a:solidFill>
            <a:srgbClr val="E6ECF4"/>
          </a:solidFill>
          <a:ln>
            <a:solidFill>
              <a:srgbClr val="E6ECF4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곰: 11일</a:t>
            </a:r>
            <a:endParaRPr lang="ko-KR" sz="2600" dirty="0"/>
          </a:p>
        </p:txBody>
      </p:sp>
      <p:sp>
        <p:nvSpPr>
          <p:cNvPr id="27" name="S07-line105"/>
          <p:cNvSpPr/>
          <p:nvPr/>
        </p:nvSpPr>
        <p:spPr>
          <a:xfrm>
            <a:off x="6414516" y="3831336"/>
            <a:ext cx="5088636" cy="0"/>
          </a:xfrm>
          <a:prstGeom prst="line">
            <a:avLst/>
          </a:prstGeom>
          <a:noFill/>
          <a:ln w="28575">
            <a:solidFill>
              <a:srgbClr val="1F2937"/>
            </a:solidFill>
            <a:prstDash val="solid"/>
            <a:headEnd type="triangle"/>
            <a:tailEnd type="triangle"/>
          </a:ln>
        </p:spPr>
      </p:sp>
      <p:sp>
        <p:nvSpPr>
          <p:cNvPr id="28" name="S07-line106"/>
          <p:cNvSpPr/>
          <p:nvPr/>
        </p:nvSpPr>
        <p:spPr>
          <a:xfrm>
            <a:off x="6688836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29" name="S07-label107"/>
          <p:cNvSpPr txBox="1"/>
          <p:nvPr/>
        </p:nvSpPr>
        <p:spPr>
          <a:xfrm>
            <a:off x="6231636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</a:t>
            </a:r>
            <a:endParaRPr lang="ko-KR" sz="2600" dirty="0"/>
          </a:p>
        </p:txBody>
      </p:sp>
      <p:sp>
        <p:nvSpPr>
          <p:cNvPr id="30" name="S07-line108"/>
          <p:cNvSpPr/>
          <p:nvPr/>
        </p:nvSpPr>
        <p:spPr>
          <a:xfrm>
            <a:off x="7596835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1" name="S07-label109"/>
          <p:cNvSpPr txBox="1"/>
          <p:nvPr/>
        </p:nvSpPr>
        <p:spPr>
          <a:xfrm>
            <a:off x="7139635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8</a:t>
            </a:r>
            <a:endParaRPr lang="ko-KR" sz="2600" dirty="0"/>
          </a:p>
        </p:txBody>
      </p:sp>
      <p:sp>
        <p:nvSpPr>
          <p:cNvPr id="32" name="S07-line110"/>
          <p:cNvSpPr/>
          <p:nvPr/>
        </p:nvSpPr>
        <p:spPr>
          <a:xfrm>
            <a:off x="8504834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3" name="S07-label111"/>
          <p:cNvSpPr txBox="1"/>
          <p:nvPr/>
        </p:nvSpPr>
        <p:spPr>
          <a:xfrm>
            <a:off x="8047634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</a:t>
            </a:r>
            <a:endParaRPr lang="ko-KR" sz="2600" dirty="0"/>
          </a:p>
        </p:txBody>
      </p:sp>
      <p:sp>
        <p:nvSpPr>
          <p:cNvPr id="34" name="S07-line112"/>
          <p:cNvSpPr/>
          <p:nvPr/>
        </p:nvSpPr>
        <p:spPr>
          <a:xfrm>
            <a:off x="9412834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5" name="S07-label113"/>
          <p:cNvSpPr txBox="1"/>
          <p:nvPr/>
        </p:nvSpPr>
        <p:spPr>
          <a:xfrm>
            <a:off x="8955634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</a:t>
            </a:r>
            <a:endParaRPr lang="ko-KR" sz="2600" dirty="0"/>
          </a:p>
        </p:txBody>
      </p:sp>
      <p:sp>
        <p:nvSpPr>
          <p:cNvPr id="36" name="S07-line114"/>
          <p:cNvSpPr/>
          <p:nvPr/>
        </p:nvSpPr>
        <p:spPr>
          <a:xfrm>
            <a:off x="10320833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7" name="S07-label115"/>
          <p:cNvSpPr txBox="1"/>
          <p:nvPr/>
        </p:nvSpPr>
        <p:spPr>
          <a:xfrm>
            <a:off x="9863633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</a:t>
            </a:r>
            <a:endParaRPr lang="ko-KR" sz="2600" dirty="0"/>
          </a:p>
        </p:txBody>
      </p:sp>
      <p:sp>
        <p:nvSpPr>
          <p:cNvPr id="38" name="S07-line116"/>
          <p:cNvSpPr/>
          <p:nvPr/>
        </p:nvSpPr>
        <p:spPr>
          <a:xfrm>
            <a:off x="11228832" y="3685032"/>
            <a:ext cx="0" cy="292608"/>
          </a:xfrm>
          <a:prstGeom prst="line">
            <a:avLst/>
          </a:prstGeom>
          <a:noFill/>
          <a:ln w="22225">
            <a:solidFill>
              <a:srgbClr val="1F2937"/>
            </a:solidFill>
            <a:prstDash val="solid"/>
          </a:ln>
        </p:spPr>
      </p:sp>
      <p:sp>
        <p:nvSpPr>
          <p:cNvPr id="39" name="S07-label117"/>
          <p:cNvSpPr txBox="1"/>
          <p:nvPr/>
        </p:nvSpPr>
        <p:spPr>
          <a:xfrm>
            <a:off x="10771632" y="4014216"/>
            <a:ext cx="914400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</a:t>
            </a:r>
            <a:endParaRPr lang="ko-KR" sz="2600" dirty="0"/>
          </a:p>
        </p:txBody>
      </p:sp>
      <p:sp>
        <p:nvSpPr>
          <p:cNvPr id="40" name="S07-line118"/>
          <p:cNvSpPr/>
          <p:nvPr/>
        </p:nvSpPr>
        <p:spPr>
          <a:xfrm flipV="1">
            <a:off x="7596835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1" name="S07-line119"/>
          <p:cNvSpPr/>
          <p:nvPr/>
        </p:nvSpPr>
        <p:spPr>
          <a:xfrm>
            <a:off x="7596835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2" name="S07-label120"/>
          <p:cNvSpPr txBox="1"/>
          <p:nvPr/>
        </p:nvSpPr>
        <p:spPr>
          <a:xfrm>
            <a:off x="7596835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</a:t>
            </a:r>
            <a:endParaRPr lang="ko-KR" sz="2600" dirty="0"/>
          </a:p>
        </p:txBody>
      </p:sp>
      <p:sp>
        <p:nvSpPr>
          <p:cNvPr id="43" name="S07-line121"/>
          <p:cNvSpPr/>
          <p:nvPr/>
        </p:nvSpPr>
        <p:spPr>
          <a:xfrm flipV="1">
            <a:off x="8504834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4" name="S07-line122"/>
          <p:cNvSpPr/>
          <p:nvPr/>
        </p:nvSpPr>
        <p:spPr>
          <a:xfrm>
            <a:off x="8504834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5" name="S07-label123"/>
          <p:cNvSpPr txBox="1"/>
          <p:nvPr/>
        </p:nvSpPr>
        <p:spPr>
          <a:xfrm>
            <a:off x="8504834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</a:t>
            </a:r>
            <a:endParaRPr lang="ko-KR" sz="2600" dirty="0"/>
          </a:p>
        </p:txBody>
      </p:sp>
      <p:sp>
        <p:nvSpPr>
          <p:cNvPr id="46" name="S07-line124"/>
          <p:cNvSpPr/>
          <p:nvPr/>
        </p:nvSpPr>
        <p:spPr>
          <a:xfrm flipV="1">
            <a:off x="9412834" y="3447288"/>
            <a:ext cx="0" cy="338328"/>
          </a:xfrm>
          <a:prstGeom prst="line">
            <a:avLst/>
          </a:prstGeom>
          <a:noFill/>
          <a:ln w="19050">
            <a:solidFill>
              <a:srgbClr val="3D5A80"/>
            </a:solidFill>
            <a:prstDash val="solid"/>
          </a:ln>
        </p:spPr>
      </p:sp>
      <p:sp>
        <p:nvSpPr>
          <p:cNvPr id="47" name="S07-line125"/>
          <p:cNvSpPr/>
          <p:nvPr/>
        </p:nvSpPr>
        <p:spPr>
          <a:xfrm>
            <a:off x="9412834" y="3447288"/>
            <a:ext cx="907999" cy="0"/>
          </a:xfrm>
          <a:prstGeom prst="line">
            <a:avLst/>
          </a:prstGeom>
          <a:noFill/>
          <a:ln w="2540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48" name="S07-label126"/>
          <p:cNvSpPr txBox="1"/>
          <p:nvPr/>
        </p:nvSpPr>
        <p:spPr>
          <a:xfrm>
            <a:off x="9412834" y="2999740"/>
            <a:ext cx="907999" cy="4292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3D5A80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</a:t>
            </a:r>
            <a:endParaRPr lang="ko-KR" sz="2600" dirty="0"/>
          </a:p>
        </p:txBody>
      </p:sp>
      <p:sp>
        <p:nvSpPr>
          <p:cNvPr id="49" name="S07-figure127" descr="7부터 12까지 수직선에 8에서 9, 10, 11로 한 칸씩 세 번 뛰기"/>
          <p:cNvSpPr/>
          <p:nvPr/>
        </p:nvSpPr>
        <p:spPr>
          <a:xfrm>
            <a:off x="6414516" y="3648456"/>
            <a:ext cx="5088636" cy="36576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50" name="S07-text128"/>
          <p:cNvSpPr txBox="1"/>
          <p:nvPr/>
        </p:nvSpPr>
        <p:spPr>
          <a:xfrm>
            <a:off x="6277356" y="4626356"/>
            <a:ext cx="5362956" cy="49428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9, 10, 11 하고 셌어요.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1년은 12개월</a:t>
            </a:r>
            <a:endParaRPr lang="ko-KR" sz="4400" dirty="0"/>
          </a:p>
        </p:txBody>
      </p:sp>
      <p:sp>
        <p:nvSpPr>
          <p:cNvPr id="3" name="S08-text129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1년은 1월부터 12월까지 12개월이에요.</a:t>
            </a:r>
            <a:endParaRPr lang="ko-KR" sz="3200" dirty="0"/>
          </a:p>
        </p:txBody>
      </p:sp>
      <p:sp>
        <p:nvSpPr>
          <p:cNvPr id="4" name="S08-card130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08-cardtext131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2월은 해마다 28일 또는 29일이에요.</a:t>
            </a:r>
            <a:endParaRPr lang="ko-KR" sz="3200" dirty="0"/>
          </a:p>
        </p:txBody>
      </p:sp>
      <p:graphicFrame>
        <p:nvGraphicFramePr>
          <p:cNvPr id="9" name="S08-table132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1248156" y="2542540"/>
          <a:ext cx="9692640" cy="914400"/>
        </p:xfrm>
        <a:graphic>
          <a:graphicData uri="http://schemas.openxmlformats.org/drawingml/2006/table">
            <a:tbl>
              <a:tblPr/>
              <a:tblGrid>
                <a:gridCol w="3101645"/>
                <a:gridCol w="6590995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날수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달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31일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1월 3월 5월 7월 8월 10월 12월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4월 6월 9월 11월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28일 또는 29일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주일과 일, 년과 개월</a:t>
            </a:r>
            <a:endParaRPr lang="ko-KR" sz="4400" dirty="0"/>
          </a:p>
        </p:txBody>
      </p:sp>
      <p:sp>
        <p:nvSpPr>
          <p:cNvPr id="3" name="S09-card133"/>
          <p:cNvSpPr/>
          <p:nvPr/>
        </p:nvSpPr>
        <p:spPr>
          <a:xfrm>
            <a:off x="548640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4" name="S09-cardtext134"/>
          <p:cNvSpPr txBox="1"/>
          <p:nvPr/>
        </p:nvSpPr>
        <p:spPr>
          <a:xfrm>
            <a:off x="822960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7일 + 7일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14일</a:t>
            </a:r>
            <a:endParaRPr lang="ko-KR" sz="3200" dirty="0"/>
          </a:p>
        </p:txBody>
      </p:sp>
      <p:sp>
        <p:nvSpPr>
          <p:cNvPr id="5" name="S09-card135"/>
          <p:cNvSpPr/>
          <p:nvPr/>
        </p:nvSpPr>
        <p:spPr>
          <a:xfrm>
            <a:off x="6208776" y="4897120"/>
            <a:ext cx="5431536" cy="1320800"/>
          </a:xfrm>
          <a:prstGeom prst="roundRect">
            <a:avLst>
              <a:gd name="adj" fmla="val 8308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6" name="S09-cardtext136"/>
          <p:cNvSpPr txBox="1"/>
          <p:nvPr/>
        </p:nvSpPr>
        <p:spPr>
          <a:xfrm>
            <a:off x="6483096" y="5034280"/>
            <a:ext cx="4882896" cy="1046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12개월 + 3개월</a:t>
            </a:r>
            <a:endParaRPr lang="ko-KR" sz="3200" dirty="0"/>
          </a:p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= 15개월</a:t>
            </a:r>
            <a:endParaRPr lang="ko-KR" sz="3200" dirty="0"/>
          </a:p>
        </p:txBody>
      </p:sp>
      <p:sp>
        <p:nvSpPr>
          <p:cNvPr id="7" name="S09-dot137"/>
          <p:cNvSpPr/>
          <p:nvPr/>
        </p:nvSpPr>
        <p:spPr>
          <a:xfrm>
            <a:off x="17282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8" name="S09-dot138"/>
          <p:cNvSpPr/>
          <p:nvPr/>
        </p:nvSpPr>
        <p:spPr>
          <a:xfrm>
            <a:off x="21854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9" name="S09-dot139"/>
          <p:cNvSpPr/>
          <p:nvPr/>
        </p:nvSpPr>
        <p:spPr>
          <a:xfrm>
            <a:off x="26426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0" name="S09-dot140"/>
          <p:cNvSpPr/>
          <p:nvPr/>
        </p:nvSpPr>
        <p:spPr>
          <a:xfrm>
            <a:off x="30998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1" name="S09-dot141"/>
          <p:cNvSpPr/>
          <p:nvPr/>
        </p:nvSpPr>
        <p:spPr>
          <a:xfrm>
            <a:off x="35570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2" name="S09-dot142"/>
          <p:cNvSpPr/>
          <p:nvPr/>
        </p:nvSpPr>
        <p:spPr>
          <a:xfrm>
            <a:off x="40142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3" name="S09-dot143"/>
          <p:cNvSpPr/>
          <p:nvPr/>
        </p:nvSpPr>
        <p:spPr>
          <a:xfrm>
            <a:off x="4471416" y="23674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4" name="S09-dot144"/>
          <p:cNvSpPr/>
          <p:nvPr/>
        </p:nvSpPr>
        <p:spPr>
          <a:xfrm>
            <a:off x="17282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5" name="S09-dot145"/>
          <p:cNvSpPr/>
          <p:nvPr/>
        </p:nvSpPr>
        <p:spPr>
          <a:xfrm>
            <a:off x="21854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6" name="S09-dot146"/>
          <p:cNvSpPr/>
          <p:nvPr/>
        </p:nvSpPr>
        <p:spPr>
          <a:xfrm>
            <a:off x="26426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7" name="S09-dot147"/>
          <p:cNvSpPr/>
          <p:nvPr/>
        </p:nvSpPr>
        <p:spPr>
          <a:xfrm>
            <a:off x="30998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8" name="S09-dot148"/>
          <p:cNvSpPr/>
          <p:nvPr/>
        </p:nvSpPr>
        <p:spPr>
          <a:xfrm>
            <a:off x="35570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19" name="S09-dot149"/>
          <p:cNvSpPr/>
          <p:nvPr/>
        </p:nvSpPr>
        <p:spPr>
          <a:xfrm>
            <a:off x="40142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0" name="S09-dot150"/>
          <p:cNvSpPr/>
          <p:nvPr/>
        </p:nvSpPr>
        <p:spPr>
          <a:xfrm>
            <a:off x="4471416" y="2824607"/>
            <a:ext cx="283464" cy="283464"/>
          </a:xfrm>
          <a:prstGeom prst="ellipse">
            <a:avLst/>
          </a:prstGeom>
          <a:solidFill>
            <a:srgbClr val="E9762B"/>
          </a:solidFill>
          <a:ln w="12700">
            <a:solidFill>
              <a:srgbClr val="1F2937"/>
            </a:solidFill>
            <a:prstDash val="solid"/>
          </a:ln>
        </p:spPr>
      </p:sp>
      <p:sp>
        <p:nvSpPr>
          <p:cNvPr id="21" name="S09-group151"/>
          <p:cNvSpPr/>
          <p:nvPr/>
        </p:nvSpPr>
        <p:spPr>
          <a:xfrm>
            <a:off x="1668780" y="2317115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2" name="S09-group152"/>
          <p:cNvSpPr/>
          <p:nvPr/>
        </p:nvSpPr>
        <p:spPr>
          <a:xfrm>
            <a:off x="1668780" y="2774315"/>
            <a:ext cx="3145536" cy="384048"/>
          </a:xfrm>
          <a:prstGeom prst="roundRect">
            <a:avLst>
              <a:gd name="adj" fmla="val 28571"/>
            </a:avLst>
          </a:prstGeom>
          <a:solidFill>
            <a:srgbClr val="FFFFFF">
              <a:alpha val="0"/>
            </a:srgbClr>
          </a:solidFill>
          <a:ln w="25400">
            <a:solidFill>
              <a:srgbClr val="3D5A80"/>
            </a:solidFill>
            <a:prstDash val="solid"/>
          </a:ln>
        </p:spPr>
      </p:sp>
      <p:sp>
        <p:nvSpPr>
          <p:cNvPr id="23" name="S09-figure153" descr="점 7개씩 2줄(한 줄이 1주일): 모두 14개"/>
          <p:cNvSpPr/>
          <p:nvPr/>
        </p:nvSpPr>
        <p:spPr>
          <a:xfrm>
            <a:off x="1641348" y="2280539"/>
            <a:ext cx="3200400" cy="914400"/>
          </a:xfrm>
          <a:prstGeom prst="rect">
            <a:avLst/>
          </a:prstGeom>
          <a:solidFill>
            <a:srgbClr val="FFFFFF">
              <a:alpha val="0"/>
            </a:srgbClr>
          </a:solidFill>
          <a:ln w="12700">
            <a:solidFill>
              <a:srgbClr val="FFFFFF">
                <a:alpha val="0"/>
              </a:srgbClr>
            </a:solidFill>
            <a:prstDash val="solid"/>
          </a:ln>
        </p:spPr>
      </p:sp>
      <p:sp>
        <p:nvSpPr>
          <p:cNvPr id="24" name="S09-label154"/>
          <p:cNvSpPr txBox="1"/>
          <p:nvPr/>
        </p:nvSpPr>
        <p:spPr>
          <a:xfrm>
            <a:off x="548640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2주일</a:t>
            </a:r>
            <a:endParaRPr lang="ko-KR" sz="2600" dirty="0"/>
          </a:p>
        </p:txBody>
      </p:sp>
      <p:sp>
        <p:nvSpPr>
          <p:cNvPr id="25" name="S09-cell155"/>
          <p:cNvSpPr/>
          <p:nvPr/>
        </p:nvSpPr>
        <p:spPr>
          <a:xfrm>
            <a:off x="625449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6" name="S09-cell156"/>
          <p:cNvSpPr/>
          <p:nvPr/>
        </p:nvSpPr>
        <p:spPr>
          <a:xfrm>
            <a:off x="670331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7" name="S09-cell157"/>
          <p:cNvSpPr/>
          <p:nvPr/>
        </p:nvSpPr>
        <p:spPr>
          <a:xfrm>
            <a:off x="7152132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8" name="S09-cell158"/>
          <p:cNvSpPr/>
          <p:nvPr/>
        </p:nvSpPr>
        <p:spPr>
          <a:xfrm>
            <a:off x="7600950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29" name="S09-cell159"/>
          <p:cNvSpPr/>
          <p:nvPr/>
        </p:nvSpPr>
        <p:spPr>
          <a:xfrm>
            <a:off x="8049768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0" name="S09-cell160"/>
          <p:cNvSpPr/>
          <p:nvPr/>
        </p:nvSpPr>
        <p:spPr>
          <a:xfrm>
            <a:off x="849858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1" name="S09-cell161"/>
          <p:cNvSpPr/>
          <p:nvPr/>
        </p:nvSpPr>
        <p:spPr>
          <a:xfrm>
            <a:off x="894740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2" name="S09-cell162"/>
          <p:cNvSpPr/>
          <p:nvPr/>
        </p:nvSpPr>
        <p:spPr>
          <a:xfrm>
            <a:off x="9396222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3" name="S09-cell163"/>
          <p:cNvSpPr/>
          <p:nvPr/>
        </p:nvSpPr>
        <p:spPr>
          <a:xfrm>
            <a:off x="9845040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4" name="S09-cell164"/>
          <p:cNvSpPr/>
          <p:nvPr/>
        </p:nvSpPr>
        <p:spPr>
          <a:xfrm>
            <a:off x="10293858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5" name="S09-cell165"/>
          <p:cNvSpPr/>
          <p:nvPr/>
        </p:nvSpPr>
        <p:spPr>
          <a:xfrm>
            <a:off x="10742676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6" name="S09-cell166"/>
          <p:cNvSpPr/>
          <p:nvPr/>
        </p:nvSpPr>
        <p:spPr>
          <a:xfrm>
            <a:off x="11191494" y="1786763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7" name="S09-figure167" descr="똑같이 12칸으로 나눈 띠, 12칸 색칠"/>
          <p:cNvSpPr/>
          <p:nvPr/>
        </p:nvSpPr>
        <p:spPr>
          <a:xfrm>
            <a:off x="6254496" y="1786763"/>
            <a:ext cx="538581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38" name="S09-cell168"/>
          <p:cNvSpPr/>
          <p:nvPr/>
        </p:nvSpPr>
        <p:spPr>
          <a:xfrm>
            <a:off x="6254496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39" name="S09-cell169"/>
          <p:cNvSpPr/>
          <p:nvPr/>
        </p:nvSpPr>
        <p:spPr>
          <a:xfrm>
            <a:off x="6703314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0" name="S09-cell170"/>
          <p:cNvSpPr/>
          <p:nvPr/>
        </p:nvSpPr>
        <p:spPr>
          <a:xfrm>
            <a:off x="7152132" y="2865755"/>
            <a:ext cx="448818" cy="822960"/>
          </a:xfrm>
          <a:prstGeom prst="rect">
            <a:avLst/>
          </a:prstGeom>
          <a:solidFill>
            <a:srgbClr val="E9762B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1" name="S09-cell171"/>
          <p:cNvSpPr/>
          <p:nvPr/>
        </p:nvSpPr>
        <p:spPr>
          <a:xfrm>
            <a:off x="7600950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2" name="S09-cell172"/>
          <p:cNvSpPr/>
          <p:nvPr/>
        </p:nvSpPr>
        <p:spPr>
          <a:xfrm>
            <a:off x="8049768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3" name="S09-cell173"/>
          <p:cNvSpPr/>
          <p:nvPr/>
        </p:nvSpPr>
        <p:spPr>
          <a:xfrm>
            <a:off x="8498586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4" name="S09-cell174"/>
          <p:cNvSpPr/>
          <p:nvPr/>
        </p:nvSpPr>
        <p:spPr>
          <a:xfrm>
            <a:off x="8947404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5" name="S09-cell175"/>
          <p:cNvSpPr/>
          <p:nvPr/>
        </p:nvSpPr>
        <p:spPr>
          <a:xfrm>
            <a:off x="9396222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6" name="S09-cell176"/>
          <p:cNvSpPr/>
          <p:nvPr/>
        </p:nvSpPr>
        <p:spPr>
          <a:xfrm>
            <a:off x="9845040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7" name="S09-cell177"/>
          <p:cNvSpPr/>
          <p:nvPr/>
        </p:nvSpPr>
        <p:spPr>
          <a:xfrm>
            <a:off x="10293858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8" name="S09-cell178"/>
          <p:cNvSpPr/>
          <p:nvPr/>
        </p:nvSpPr>
        <p:spPr>
          <a:xfrm>
            <a:off x="10742676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49" name="S09-cell179"/>
          <p:cNvSpPr/>
          <p:nvPr/>
        </p:nvSpPr>
        <p:spPr>
          <a:xfrm>
            <a:off x="11191494" y="2865755"/>
            <a:ext cx="448818" cy="822960"/>
          </a:xfrm>
          <a:prstGeom prst="rect">
            <a:avLst/>
          </a:prstGeom>
          <a:solidFill>
            <a:srgbClr val="FFFFFF"/>
          </a:solidFill>
          <a:ln w="19050">
            <a:solidFill>
              <a:srgbClr val="1F2937"/>
            </a:solidFill>
            <a:prstDash val="solid"/>
          </a:ln>
        </p:spPr>
      </p:sp>
      <p:sp>
        <p:nvSpPr>
          <p:cNvPr id="50" name="S09-figure180" descr="똑같이 12칸으로 나눈 띠, 3칸 색칠"/>
          <p:cNvSpPr/>
          <p:nvPr/>
        </p:nvSpPr>
        <p:spPr>
          <a:xfrm>
            <a:off x="6254496" y="2865755"/>
            <a:ext cx="5385816" cy="822960"/>
          </a:xfrm>
          <a:prstGeom prst="rect">
            <a:avLst/>
          </a:prstGeom>
          <a:solidFill>
            <a:srgbClr val="FFFFFF">
              <a:alpha val="0"/>
            </a:srgbClr>
          </a:solidFill>
          <a:ln w="28575">
            <a:solidFill>
              <a:srgbClr val="1F2937"/>
            </a:solidFill>
            <a:prstDash val="solid"/>
          </a:ln>
        </p:spPr>
      </p:sp>
      <p:sp>
        <p:nvSpPr>
          <p:cNvPr id="51" name="S09-label181"/>
          <p:cNvSpPr txBox="1"/>
          <p:nvPr/>
        </p:nvSpPr>
        <p:spPr>
          <a:xfrm>
            <a:off x="6254496" y="4222750"/>
            <a:ext cx="5385816" cy="44577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3개월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바꾸어 보아요</a:t>
            </a:r>
            <a:endParaRPr lang="ko-KR" sz="4400" dirty="0"/>
          </a:p>
        </p:txBody>
      </p:sp>
      <p:sp>
        <p:nvSpPr>
          <p:cNvPr id="3" name="S10-card182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6ECF4"/>
          </a:solidFill>
          <a:ln w="12700">
            <a:solidFill>
              <a:srgbClr val="E6ECF4"/>
            </a:solidFill>
            <a:prstDash val="solid"/>
          </a:ln>
        </p:spPr>
      </p:sp>
      <p:sp>
        <p:nvSpPr>
          <p:cNvPr id="4" name="S10-cardtext183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7일, 1년 = 12개월이에요.</a:t>
            </a:r>
            <a:endParaRPr lang="ko-KR" sz="3200" dirty="0"/>
          </a:p>
        </p:txBody>
      </p:sp>
      <p:sp>
        <p:nvSpPr>
          <p:cNvPr id="5" name="S10-chip184"/>
          <p:cNvSpPr txBox="1"/>
          <p:nvPr/>
        </p:nvSpPr>
        <p:spPr>
          <a:xfrm>
            <a:off x="548640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0-eqtext185"/>
          <p:cNvSpPr txBox="1"/>
          <p:nvPr/>
        </p:nvSpPr>
        <p:spPr>
          <a:xfrm>
            <a:off x="1344168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3주일 = □ 일</a:t>
            </a:r>
            <a:endParaRPr lang="ko-KR" sz="3200" dirty="0"/>
          </a:p>
        </p:txBody>
      </p:sp>
      <p:sp>
        <p:nvSpPr>
          <p:cNvPr id="7" name="S10-chip186"/>
          <p:cNvSpPr txBox="1"/>
          <p:nvPr/>
        </p:nvSpPr>
        <p:spPr>
          <a:xfrm>
            <a:off x="6277356" y="177393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0-eqtext187"/>
          <p:cNvSpPr txBox="1"/>
          <p:nvPr/>
        </p:nvSpPr>
        <p:spPr>
          <a:xfrm>
            <a:off x="7072884" y="132588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= □ 개월</a:t>
            </a:r>
            <a:endParaRPr lang="ko-KR" sz="3200" dirty="0"/>
          </a:p>
        </p:txBody>
      </p:sp>
      <p:sp>
        <p:nvSpPr>
          <p:cNvPr id="9" name="S10-chip188"/>
          <p:cNvSpPr txBox="1"/>
          <p:nvPr/>
        </p:nvSpPr>
        <p:spPr>
          <a:xfrm>
            <a:off x="548640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0-eqtext189"/>
          <p:cNvSpPr txBox="1"/>
          <p:nvPr/>
        </p:nvSpPr>
        <p:spPr>
          <a:xfrm>
            <a:off x="1344168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5개월 = □개월</a:t>
            </a:r>
            <a:endParaRPr lang="ko-KR" sz="3200" dirty="0"/>
          </a:p>
        </p:txBody>
      </p:sp>
      <p:sp>
        <p:nvSpPr>
          <p:cNvPr id="11" name="S10-chip190"/>
          <p:cNvSpPr txBox="1"/>
          <p:nvPr/>
        </p:nvSpPr>
        <p:spPr>
          <a:xfrm>
            <a:off x="6277356" y="37627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0-eqtext191"/>
          <p:cNvSpPr txBox="1"/>
          <p:nvPr/>
        </p:nvSpPr>
        <p:spPr>
          <a:xfrm>
            <a:off x="7072884" y="3314700"/>
            <a:ext cx="4567428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14개월 = □년 □개월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혼자 해 보기</a:t>
            </a:r>
            <a:endParaRPr lang="ko-KR" sz="4400" dirty="0"/>
          </a:p>
        </p:txBody>
      </p:sp>
      <p:sp>
        <p:nvSpPr>
          <p:cNvPr id="3" name="S11-text19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달력을 보고 답해요.</a:t>
            </a:r>
            <a:endParaRPr lang="ko-KR" sz="3200" dirty="0"/>
          </a:p>
        </p:txBody>
      </p:sp>
      <p:graphicFrame>
        <p:nvGraphicFramePr>
          <p:cNvPr id="12" name="S11-table193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6398514" y="2579370"/>
          <a:ext cx="5120640" cy="914400"/>
        </p:xfrm>
        <a:graphic>
          <a:graphicData uri="http://schemas.openxmlformats.org/drawingml/2006/table">
            <a:tbl>
              <a:tblPr/>
              <a:tblGrid>
                <a:gridCol w="731520"/>
                <a:gridCol w="731520"/>
                <a:gridCol w="731520"/>
                <a:gridCol w="731520"/>
                <a:gridCol w="731520"/>
                <a:gridCol w="731520"/>
                <a:gridCol w="731520"/>
              </a:tblGrid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일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화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수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목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금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b="1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토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AF3F1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19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21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22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23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24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25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11810"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26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27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28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29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r>
                        <a:rPr lang="en-US" sz="2600" dirty="0">
                          <a:solidFill>
                            <a:srgbClr val="1F2937"/>
                          </a:solidFill>
                          <a:latin typeface="맑은 고딕" pitchFamily="34" charset="0"/>
                          <a:ea typeface="맑은 고딕" pitchFamily="34" charset="-122"/>
                          <a:cs typeface="맑은 고딕" pitchFamily="34" charset="-120"/>
                        </a:rPr>
                        <a:t>30</a:t>
                      </a: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eaLnBrk="0" algn="ctr" indent="0" marL="0">
                        <a:buNone/>
                      </a:pPr>
                      <a:endParaRPr lang="en-US" sz="2600" dirty="0">
                        <a:latin typeface="맑은 고딕" charset="0"/>
                        <a:ea typeface="맑은 고딕" charset="0"/>
                        <a:cs typeface="맑은 고딕" charset="0"/>
                      </a:endParaRPr>
                    </a:p>
                  </a:txBody>
                  <a:tcPr marL="38100" marR="38100" marT="38100" marB="38100" anchor="ctr">
                    <a:lnL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rgbClr val="94A3B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5" name="S11-chip194"/>
          <p:cNvSpPr txBox="1"/>
          <p:nvPr/>
        </p:nvSpPr>
        <p:spPr>
          <a:xfrm>
            <a:off x="548640" y="218541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</a:t>
            </a:r>
            <a:endParaRPr lang="ko-KR" sz="2600" dirty="0"/>
          </a:p>
        </p:txBody>
      </p:sp>
      <p:sp>
        <p:nvSpPr>
          <p:cNvPr id="6" name="S11-text195"/>
          <p:cNvSpPr txBox="1"/>
          <p:nvPr/>
        </p:nvSpPr>
        <p:spPr>
          <a:xfrm>
            <a:off x="1344168" y="201168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27일은 무슨 요일?</a:t>
            </a:r>
            <a:endParaRPr lang="ko-KR" sz="3200" dirty="0"/>
          </a:p>
        </p:txBody>
      </p:sp>
      <p:sp>
        <p:nvSpPr>
          <p:cNvPr id="7" name="S11-chip196"/>
          <p:cNvSpPr txBox="1"/>
          <p:nvPr/>
        </p:nvSpPr>
        <p:spPr>
          <a:xfrm>
            <a:off x="548640" y="328269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</a:t>
            </a:r>
            <a:endParaRPr lang="ko-KR" sz="2600" dirty="0"/>
          </a:p>
        </p:txBody>
      </p:sp>
      <p:sp>
        <p:nvSpPr>
          <p:cNvPr id="8" name="S11-text197"/>
          <p:cNvSpPr txBox="1"/>
          <p:nvPr/>
        </p:nvSpPr>
        <p:spPr>
          <a:xfrm>
            <a:off x="1344168" y="310896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14일에서 2주일 뒤는?</a:t>
            </a:r>
            <a:endParaRPr lang="ko-KR" sz="3200" dirty="0"/>
          </a:p>
        </p:txBody>
      </p:sp>
      <p:sp>
        <p:nvSpPr>
          <p:cNvPr id="9" name="S11-chip198"/>
          <p:cNvSpPr txBox="1"/>
          <p:nvPr/>
        </p:nvSpPr>
        <p:spPr>
          <a:xfrm>
            <a:off x="548640" y="437997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</a:t>
            </a:r>
            <a:endParaRPr lang="ko-KR" sz="2600" dirty="0"/>
          </a:p>
        </p:txBody>
      </p:sp>
      <p:sp>
        <p:nvSpPr>
          <p:cNvPr id="10" name="S11-eqtext199"/>
          <p:cNvSpPr txBox="1"/>
          <p:nvPr/>
        </p:nvSpPr>
        <p:spPr>
          <a:xfrm>
            <a:off x="1344168" y="420624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1년 4개월 = □개월</a:t>
            </a:r>
            <a:endParaRPr lang="ko-KR" sz="3600" dirty="0"/>
          </a:p>
        </p:txBody>
      </p:sp>
      <p:sp>
        <p:nvSpPr>
          <p:cNvPr id="11" name="S11-chip200"/>
          <p:cNvSpPr txBox="1"/>
          <p:nvPr/>
        </p:nvSpPr>
        <p:spPr>
          <a:xfrm>
            <a:off x="548640" y="5477256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④</a:t>
            </a:r>
            <a:endParaRPr lang="ko-KR" sz="2600" dirty="0"/>
          </a:p>
        </p:txBody>
      </p:sp>
      <p:sp>
        <p:nvSpPr>
          <p:cNvPr id="12" name="S11-text201"/>
          <p:cNvSpPr txBox="1"/>
          <p:nvPr/>
        </p:nvSpPr>
        <p:spPr>
          <a:xfrm>
            <a:off x="1344168" y="5303520"/>
            <a:ext cx="4567428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9월은 며칠까지?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3일 뒤는 언제?</a:t>
            </a:r>
            <a:endParaRPr lang="ko-KR" sz="4400" dirty="0"/>
          </a:p>
        </p:txBody>
      </p:sp>
      <p:sp>
        <p:nvSpPr>
          <p:cNvPr id="3" name="S13-text202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11월 3일 금요일에서 3일 뒤예요.</a:t>
            </a:r>
            <a:endParaRPr lang="ko-KR" sz="3200" dirty="0"/>
          </a:p>
        </p:txBody>
      </p:sp>
      <p:sp>
        <p:nvSpPr>
          <p:cNvPr id="4" name="S13-card203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5" name="S13-cardtext204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알맞은 것을 고르고, 어떻게 알았는지 말해요.</a:t>
            </a:r>
            <a:endParaRPr lang="ko-KR" sz="3200" dirty="0"/>
          </a:p>
        </p:txBody>
      </p:sp>
      <p:sp>
        <p:nvSpPr>
          <p:cNvPr id="6" name="S13-chip205"/>
          <p:cNvSpPr txBox="1"/>
          <p:nvPr/>
        </p:nvSpPr>
        <p:spPr>
          <a:xfrm>
            <a:off x="1991868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가</a:t>
            </a:r>
            <a:endParaRPr lang="ko-KR" sz="3200" dirty="0"/>
          </a:p>
        </p:txBody>
      </p:sp>
      <p:sp>
        <p:nvSpPr>
          <p:cNvPr id="7" name="S13-card206"/>
          <p:cNvSpPr/>
          <p:nvPr/>
        </p:nvSpPr>
        <p:spPr>
          <a:xfrm>
            <a:off x="548640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8" name="S13-cardtext207"/>
          <p:cNvSpPr txBox="1"/>
          <p:nvPr/>
        </p:nvSpPr>
        <p:spPr>
          <a:xfrm>
            <a:off x="822960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5일 일요일</a:t>
            </a:r>
            <a:endParaRPr lang="ko-KR" sz="3200" dirty="0"/>
          </a:p>
        </p:txBody>
      </p:sp>
      <p:sp>
        <p:nvSpPr>
          <p:cNvPr id="9" name="S13-chip208"/>
          <p:cNvSpPr txBox="1"/>
          <p:nvPr/>
        </p:nvSpPr>
        <p:spPr>
          <a:xfrm>
            <a:off x="5811012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나</a:t>
            </a:r>
            <a:endParaRPr lang="ko-KR" sz="3200" dirty="0"/>
          </a:p>
        </p:txBody>
      </p:sp>
      <p:sp>
        <p:nvSpPr>
          <p:cNvPr id="10" name="S13-card209"/>
          <p:cNvSpPr/>
          <p:nvPr/>
        </p:nvSpPr>
        <p:spPr>
          <a:xfrm>
            <a:off x="4367784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1" name="S13-cardtext210"/>
          <p:cNvSpPr txBox="1"/>
          <p:nvPr/>
        </p:nvSpPr>
        <p:spPr>
          <a:xfrm>
            <a:off x="4642104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6일 월요일</a:t>
            </a:r>
            <a:endParaRPr lang="ko-KR" sz="3200" dirty="0"/>
          </a:p>
        </p:txBody>
      </p:sp>
      <p:sp>
        <p:nvSpPr>
          <p:cNvPr id="12" name="S13-chip211"/>
          <p:cNvSpPr txBox="1"/>
          <p:nvPr/>
        </p:nvSpPr>
        <p:spPr>
          <a:xfrm>
            <a:off x="9630156" y="2011680"/>
            <a:ext cx="566928" cy="566928"/>
          </a:xfrm>
          <a:prstGeom prst="roundRect">
            <a:avLst>
              <a:gd name="adj" fmla="val 25806"/>
            </a:avLst>
          </a:prstGeom>
          <a:solidFill>
            <a:srgbClr val="264653"/>
          </a:solidFill>
          <a:ln>
            <a:solidFill>
              <a:srgbClr val="264653"/>
            </a:solidFill>
          </a:ln>
        </p:spPr>
        <p:txBody>
          <a:bodyPr wrap="square" lIns="0" tIns="0" rIns="0" bIns="0" rtlCol="0" anchor="ctr"/>
          <a:lstStyle/>
          <a:p>
            <a:pPr eaLnBrk="0" algn="ctr" indent="0" marL="0">
              <a:buNone/>
            </a:pPr>
            <a:r>
              <a:rPr lang="ko-KR" altLang="en-US" sz="32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</a:t>
            </a:r>
            <a:endParaRPr lang="ko-KR" sz="3200" dirty="0"/>
          </a:p>
        </p:txBody>
      </p:sp>
      <p:sp>
        <p:nvSpPr>
          <p:cNvPr id="13" name="S13-card212"/>
          <p:cNvSpPr/>
          <p:nvPr/>
        </p:nvSpPr>
        <p:spPr>
          <a:xfrm>
            <a:off x="8186928" y="2715768"/>
            <a:ext cx="3453384" cy="2404872"/>
          </a:xfrm>
          <a:prstGeom prst="roundRect">
            <a:avLst>
              <a:gd name="adj" fmla="val 4563"/>
            </a:avLst>
          </a:prstGeom>
          <a:solidFill>
            <a:srgbClr val="EAF3F1"/>
          </a:solidFill>
          <a:ln w="12700">
            <a:solidFill>
              <a:srgbClr val="EAF3F1"/>
            </a:solidFill>
            <a:prstDash val="solid"/>
          </a:ln>
        </p:spPr>
      </p:sp>
      <p:sp>
        <p:nvSpPr>
          <p:cNvPr id="14" name="S13-cardtext213"/>
          <p:cNvSpPr txBox="1"/>
          <p:nvPr/>
        </p:nvSpPr>
        <p:spPr>
          <a:xfrm>
            <a:off x="8461248" y="2852928"/>
            <a:ext cx="2904744" cy="213055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10일 금요일</a:t>
            </a:r>
            <a:endParaRPr lang="ko-KR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오늘 배운 것</a:t>
            </a:r>
            <a:endParaRPr lang="ko-KR" sz="4400" dirty="0"/>
          </a:p>
        </p:txBody>
      </p:sp>
      <p:sp>
        <p:nvSpPr>
          <p:cNvPr id="3" name="S14-card214"/>
          <p:cNvSpPr/>
          <p:nvPr/>
        </p:nvSpPr>
        <p:spPr>
          <a:xfrm>
            <a:off x="548640" y="132588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32606F"/>
          </a:solidFill>
          <a:ln w="12700">
            <a:solidFill>
              <a:srgbClr val="32606F"/>
            </a:solidFill>
            <a:prstDash val="solid"/>
          </a:ln>
        </p:spPr>
      </p:sp>
      <p:sp>
        <p:nvSpPr>
          <p:cNvPr id="4" name="S14-cardtext215"/>
          <p:cNvSpPr txBox="1"/>
          <p:nvPr/>
        </p:nvSpPr>
        <p:spPr>
          <a:xfrm>
            <a:off x="822960" y="146304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1주일 = 7일, 1년 = 12개월이에요.</a:t>
            </a:r>
            <a:endParaRPr lang="ko-KR" sz="3200" dirty="0"/>
          </a:p>
        </p:txBody>
      </p:sp>
      <p:sp>
        <p:nvSpPr>
          <p:cNvPr id="5" name="S14-chip216"/>
          <p:cNvSpPr txBox="1"/>
          <p:nvPr/>
        </p:nvSpPr>
        <p:spPr>
          <a:xfrm>
            <a:off x="548640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2A9D8F"/>
          </a:solidFill>
          <a:ln>
            <a:solidFill>
              <a:srgbClr val="2A9D8F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○ 같은 요일은 7일마다</a:t>
            </a:r>
            <a:endParaRPr lang="ko-KR" sz="2600" dirty="0"/>
          </a:p>
        </p:txBody>
      </p:sp>
      <p:sp>
        <p:nvSpPr>
          <p:cNvPr id="6" name="S14-chip217"/>
          <p:cNvSpPr txBox="1"/>
          <p:nvPr/>
        </p:nvSpPr>
        <p:spPr>
          <a:xfrm>
            <a:off x="6208776" y="2423160"/>
            <a:ext cx="5431536" cy="594360"/>
          </a:xfrm>
          <a:prstGeom prst="roundRect">
            <a:avLst>
              <a:gd name="adj" fmla="val 24615"/>
            </a:avLst>
          </a:prstGeom>
          <a:solidFill>
            <a:srgbClr val="C8434E"/>
          </a:solidFill>
          <a:ln>
            <a:solidFill>
              <a:srgbClr val="C8434E"/>
            </a:solidFill>
          </a:ln>
        </p:spPr>
        <p:txBody>
          <a:bodyPr wrap="square" lIns="177800" tIns="0" rIns="177800" bIns="0" rtlCol="0" anchor="ctr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× 시작한 날부터 세기</a:t>
            </a:r>
            <a:endParaRPr lang="ko-KR" sz="2600" dirty="0"/>
          </a:p>
        </p:txBody>
      </p:sp>
      <p:sp>
        <p:nvSpPr>
          <p:cNvPr id="7" name="S14-text218"/>
          <p:cNvSpPr txBox="1"/>
          <p:nvPr/>
        </p:nvSpPr>
        <p:spPr>
          <a:xfrm>
            <a:off x="548640" y="3246120"/>
            <a:ext cx="11091672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eaLnBrk="0" algn="l" indent="0" marL="0">
              <a:buNone/>
            </a:pPr>
            <a:r>
              <a:rPr lang="ko-KR" altLang="en-US" sz="2600" b="1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수업을 시작할 때 다시 풀어요</a:t>
            </a:r>
            <a:endParaRPr lang="ko-KR" sz="2600" dirty="0"/>
          </a:p>
        </p:txBody>
      </p:sp>
      <p:sp>
        <p:nvSpPr>
          <p:cNvPr id="8" name="S14-text219"/>
          <p:cNvSpPr txBox="1"/>
          <p:nvPr/>
        </p:nvSpPr>
        <p:spPr>
          <a:xfrm>
            <a:off x="548640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① 3주일은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며칠?</a:t>
            </a:r>
            <a:endParaRPr lang="ko-KR" sz="2600" dirty="0"/>
          </a:p>
        </p:txBody>
      </p:sp>
      <p:sp>
        <p:nvSpPr>
          <p:cNvPr id="9" name="S14-text220"/>
          <p:cNvSpPr txBox="1"/>
          <p:nvPr/>
        </p:nvSpPr>
        <p:spPr>
          <a:xfrm>
            <a:off x="4322064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② 1년 6개월은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몇 개월?</a:t>
            </a:r>
            <a:endParaRPr lang="ko-KR" sz="2600" dirty="0"/>
          </a:p>
        </p:txBody>
      </p:sp>
      <p:sp>
        <p:nvSpPr>
          <p:cNvPr id="10" name="S14-text221"/>
          <p:cNvSpPr txBox="1"/>
          <p:nvPr/>
        </p:nvSpPr>
        <p:spPr>
          <a:xfrm>
            <a:off x="8095488" y="3749040"/>
            <a:ext cx="35448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③ 31일까지 있는</a:t>
            </a:r>
            <a:endParaRPr lang="ko-KR" sz="2600" dirty="0"/>
          </a:p>
          <a:p>
            <a:pPr eaLnBrk="0" algn="l" indent="0" marL="0">
              <a:buNone/>
            </a:pPr>
            <a:r>
              <a:rPr lang="ko-KR" altLang="en-US" sz="2600" dirty="0">
                <a:solidFill>
                  <a:srgbClr val="FFFFFF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달 하나는?</a:t>
            </a:r>
            <a:endParaRPr lang="ko-KR" sz="2600" dirty="0"/>
          </a:p>
        </p:txBody>
      </p:sp>
      <p:sp>
        <p:nvSpPr>
          <p:cNvPr id="11" name="S14-text222"/>
          <p:cNvSpPr txBox="1"/>
          <p:nvPr/>
        </p:nvSpPr>
        <p:spPr>
          <a:xfrm>
            <a:off x="548640" y="571500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2600" dirty="0">
                <a:solidFill>
                  <a:srgbClr val="C9DCD8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다음 시간: 분류하기</a:t>
            </a:r>
            <a:endParaRPr lang="ko-KR" sz="26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C9DCD8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>
            <p:ph idx="100" type="title" hasCustomPrompt="1"/>
          </p:nvPr>
        </p:nvSpPr>
        <p:spPr>
          <a:xfrm>
            <a:off x="548640" y="320040"/>
            <a:ext cx="1106424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44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보충: 요일과 7씩 세기</a:t>
            </a:r>
            <a:endParaRPr lang="ko-KR" sz="4400" dirty="0"/>
          </a:p>
        </p:txBody>
      </p:sp>
      <p:sp>
        <p:nvSpPr>
          <p:cNvPr id="3" name="S15-text223"/>
          <p:cNvSpPr txBox="1"/>
          <p:nvPr/>
        </p:nvSpPr>
        <p:spPr>
          <a:xfrm>
            <a:off x="548640" y="132588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algn="l" indent="0" marL="0"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요일은 이 순서로 돌고 돌아요.</a:t>
            </a:r>
            <a:endParaRPr lang="ko-KR" sz="3200" dirty="0"/>
          </a:p>
        </p:txBody>
      </p:sp>
      <p:sp>
        <p:nvSpPr>
          <p:cNvPr id="4" name="S15-card224"/>
          <p:cNvSpPr/>
          <p:nvPr/>
        </p:nvSpPr>
        <p:spPr>
          <a:xfrm>
            <a:off x="548640" y="5349240"/>
            <a:ext cx="11091672" cy="868680"/>
          </a:xfrm>
          <a:prstGeom prst="roundRect">
            <a:avLst>
              <a:gd name="adj" fmla="val 12632"/>
            </a:avLst>
          </a:prstGeom>
          <a:solidFill>
            <a:srgbClr val="FDEBDD"/>
          </a:solidFill>
          <a:ln w="12700">
            <a:solidFill>
              <a:srgbClr val="FDEBDD"/>
            </a:solidFill>
            <a:prstDash val="solid"/>
          </a:ln>
        </p:spPr>
      </p:sp>
      <p:sp>
        <p:nvSpPr>
          <p:cNvPr id="5" name="S15-cardtext225"/>
          <p:cNvSpPr txBox="1"/>
          <p:nvPr/>
        </p:nvSpPr>
        <p:spPr>
          <a:xfrm>
            <a:off x="822960" y="5486400"/>
            <a:ext cx="10543032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eaLnBrk="0" indent="0" marL="0">
              <a:spcAft>
                <a:spcPts val="600"/>
              </a:spcAft>
              <a:buNone/>
            </a:pPr>
            <a:r>
              <a:rPr lang="ko-KR" altLang="en-US" sz="3200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7씩 세기: 7, 14, 21, 28</a:t>
            </a:r>
            <a:endParaRPr lang="ko-KR" sz="3200" dirty="0"/>
          </a:p>
        </p:txBody>
      </p:sp>
      <p:sp>
        <p:nvSpPr>
          <p:cNvPr id="6" name="S15-step226"/>
          <p:cNvSpPr txBox="1"/>
          <p:nvPr/>
        </p:nvSpPr>
        <p:spPr>
          <a:xfrm>
            <a:off x="548640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일</a:t>
            </a:r>
            <a:endParaRPr lang="ko-KR" sz="2600" dirty="0"/>
          </a:p>
        </p:txBody>
      </p:sp>
      <p:sp>
        <p:nvSpPr>
          <p:cNvPr id="7" name="S15-line227"/>
          <p:cNvSpPr/>
          <p:nvPr/>
        </p:nvSpPr>
        <p:spPr>
          <a:xfrm>
            <a:off x="1835331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8" name="S15-step228"/>
          <p:cNvSpPr txBox="1"/>
          <p:nvPr/>
        </p:nvSpPr>
        <p:spPr>
          <a:xfrm>
            <a:off x="2191947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월</a:t>
            </a:r>
            <a:endParaRPr lang="ko-KR" sz="2600" dirty="0"/>
          </a:p>
        </p:txBody>
      </p:sp>
      <p:sp>
        <p:nvSpPr>
          <p:cNvPr id="9" name="S15-line229"/>
          <p:cNvSpPr/>
          <p:nvPr/>
        </p:nvSpPr>
        <p:spPr>
          <a:xfrm>
            <a:off x="3478639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0" name="S15-step230"/>
          <p:cNvSpPr txBox="1"/>
          <p:nvPr/>
        </p:nvSpPr>
        <p:spPr>
          <a:xfrm>
            <a:off x="3835255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화</a:t>
            </a:r>
            <a:endParaRPr lang="ko-KR" sz="2600" dirty="0"/>
          </a:p>
        </p:txBody>
      </p:sp>
      <p:sp>
        <p:nvSpPr>
          <p:cNvPr id="11" name="S15-line231"/>
          <p:cNvSpPr/>
          <p:nvPr/>
        </p:nvSpPr>
        <p:spPr>
          <a:xfrm>
            <a:off x="5121946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2" name="S15-step232"/>
          <p:cNvSpPr txBox="1"/>
          <p:nvPr/>
        </p:nvSpPr>
        <p:spPr>
          <a:xfrm>
            <a:off x="5478562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수</a:t>
            </a:r>
            <a:endParaRPr lang="ko-KR" sz="2600" dirty="0"/>
          </a:p>
        </p:txBody>
      </p:sp>
      <p:sp>
        <p:nvSpPr>
          <p:cNvPr id="13" name="S15-line233"/>
          <p:cNvSpPr/>
          <p:nvPr/>
        </p:nvSpPr>
        <p:spPr>
          <a:xfrm>
            <a:off x="6765254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4" name="S15-step234"/>
          <p:cNvSpPr txBox="1"/>
          <p:nvPr/>
        </p:nvSpPr>
        <p:spPr>
          <a:xfrm>
            <a:off x="7121870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목</a:t>
            </a:r>
            <a:endParaRPr lang="ko-KR" sz="2600" dirty="0"/>
          </a:p>
        </p:txBody>
      </p:sp>
      <p:sp>
        <p:nvSpPr>
          <p:cNvPr id="15" name="S15-line235"/>
          <p:cNvSpPr/>
          <p:nvPr/>
        </p:nvSpPr>
        <p:spPr>
          <a:xfrm>
            <a:off x="8408561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6" name="S15-step236"/>
          <p:cNvSpPr txBox="1"/>
          <p:nvPr/>
        </p:nvSpPr>
        <p:spPr>
          <a:xfrm>
            <a:off x="8765177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금</a:t>
            </a:r>
            <a:endParaRPr lang="ko-KR" sz="2600" dirty="0"/>
          </a:p>
        </p:txBody>
      </p:sp>
      <p:sp>
        <p:nvSpPr>
          <p:cNvPr id="17" name="S15-line237"/>
          <p:cNvSpPr/>
          <p:nvPr/>
        </p:nvSpPr>
        <p:spPr>
          <a:xfrm>
            <a:off x="10051869" y="3337560"/>
            <a:ext cx="301752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18" name="S15-step238"/>
          <p:cNvSpPr txBox="1"/>
          <p:nvPr/>
        </p:nvSpPr>
        <p:spPr>
          <a:xfrm>
            <a:off x="10408485" y="2651760"/>
            <a:ext cx="1231827" cy="1371600"/>
          </a:xfrm>
          <a:prstGeom prst="roundRect">
            <a:avLst>
              <a:gd name="adj" fmla="val 8908"/>
            </a:avLst>
          </a:prstGeom>
          <a:solidFill>
            <a:srgbClr val="EAF3F1"/>
          </a:solidFill>
          <a:ln w="19050">
            <a:solidFill>
              <a:srgbClr val="264653"/>
            </a:solidFill>
          </a:ln>
        </p:spPr>
        <p:txBody>
          <a:bodyPr wrap="square" lIns="76200" tIns="50800" rIns="76200" bIns="50800" rtlCol="0" anchor="ctr"/>
          <a:lstStyle/>
          <a:p>
            <a:pPr eaLnBrk="0" algn="ctr" indent="0" marL="0">
              <a:buNone/>
            </a:pPr>
            <a:r>
              <a:rPr lang="ko-KR" altLang="en-US" sz="2600" b="1" dirty="0">
                <a:solidFill>
                  <a:srgbClr val="1F2937"/>
                </a:solidFill>
                <a:latin typeface="맑은 고딕" pitchFamily="34" charset="0"/>
                <a:ea typeface="맑은 고딕" pitchFamily="34" charset="-122"/>
                <a:cs typeface="맑은 고딕" pitchFamily="34" charset="-120"/>
              </a:rPr>
              <a:t>토</a:t>
            </a:r>
            <a:endParaRPr lang="ko-KR" sz="2600" dirty="0"/>
          </a:p>
        </p:txBody>
      </p:sp>
      <p:sp>
        <p:nvSpPr>
          <p:cNvPr id="19" name="S15-line239"/>
          <p:cNvSpPr/>
          <p:nvPr/>
        </p:nvSpPr>
        <p:spPr>
          <a:xfrm>
            <a:off x="11024398" y="4023360"/>
            <a:ext cx="0" cy="32004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0" name="S15-line240"/>
          <p:cNvSpPr/>
          <p:nvPr/>
        </p:nvSpPr>
        <p:spPr>
          <a:xfrm flipH="1">
            <a:off x="1164554" y="4343400"/>
            <a:ext cx="9859845" cy="0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</a:ln>
        </p:spPr>
      </p:sp>
      <p:sp>
        <p:nvSpPr>
          <p:cNvPr id="21" name="S15-line241"/>
          <p:cNvSpPr/>
          <p:nvPr/>
        </p:nvSpPr>
        <p:spPr>
          <a:xfrm flipV="1">
            <a:off x="1164554" y="4041648"/>
            <a:ext cx="0" cy="301752"/>
          </a:xfrm>
          <a:prstGeom prst="line">
            <a:avLst/>
          </a:prstGeom>
          <a:noFill/>
          <a:ln w="31750">
            <a:solidFill>
              <a:srgbClr val="3D5A80"/>
            </a:solidFill>
            <a:prstDash val="solid"/>
            <a:tailEnd type="triangle"/>
          </a:ln>
        </p:spPr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0881360" y="6382512"/>
            <a:ext cx="731520" cy="32004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200">
                <a:solidFill>
                  <a:srgbClr val="4B5563"/>
                </a:solidFill>
                <a:latin typeface="맑은 고딕"/>
                <a:ea typeface="맑은 고딕"/>
                <a:cs typeface="맑은 고딕"/>
              </a:defRPr>
            </a:lvl1pPr>
          </a:lstStyle>
          <a:p>
            <a:pPr eaLnBrk="0"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Education Classroom">
  <a:themeElements>
    <a:clrScheme name="Education Classroom">
      <a:dk1>
        <a:srgbClr val="1F2937"/>
      </a:dk1>
      <a:lt1>
        <a:srgbClr val="FFFFFF"/>
      </a:lt1>
      <a:dk2>
        <a:srgbClr val="264653"/>
      </a:dk2>
      <a:lt2>
        <a:srgbClr val="EAF3F1"/>
      </a:lt2>
      <a:accent1>
        <a:srgbClr val="E9762B"/>
      </a:accent1>
      <a:accent2>
        <a:srgbClr val="2A9D8F"/>
      </a:accent2>
      <a:accent3>
        <a:srgbClr val="C8434E"/>
      </a:accent3>
      <a:accent4>
        <a:srgbClr val="3D5A80"/>
      </a:accent4>
      <a:accent5>
        <a:srgbClr val="F2C14E"/>
      </a:accent5>
      <a:accent6>
        <a:srgbClr val="4B5563"/>
      </a:accent6>
      <a:hlink>
        <a:srgbClr val="3D5A80"/>
      </a:hlink>
      <a:folHlink>
        <a:srgbClr val="7A4E8A"/>
      </a:folHlink>
    </a:clrScheme>
    <a:fontScheme name="Education Classroom">
      <a:majorFont>
        <a:latin typeface="맑은 고딕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초2 수학 달력 보기</dc:title>
  <dc:subject>KR22-G02-MAT-CALENDAR-L01</dc:subject>
  <dc:creator>education-ppt</dc:creator>
  <cp:lastModifiedBy>education-ppt</cp:lastModifiedBy>
  <cp:revision>1</cp:revision>
  <dcterms:created xsi:type="dcterms:W3CDTF">2026-10-26T07:55:02Z</dcterms:created>
  <dcterms:modified xsi:type="dcterms:W3CDTF">2026-10-26T07:55:02Z</dcterms:modified>
</cp:coreProperties>
</file>