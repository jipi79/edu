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db9918f-959b-9820-7944-75e94e222196}">
          <p14:sldIdLst>
            <p14:sldId id="256"/>
            <p14:sldId id="257"/>
          </p14:sldIdLst>
        </p14:section>
        <p14:section name="개념" id="{4b87ce1f-e3f1-98cb-646f-73234932f646}">
          <p14:sldIdLst>
            <p14:sldId id="258"/>
            <p14:sldId id="259"/>
            <p14:sldId id="260"/>
            <p14:sldId id="263"/>
            <p14:sldId id="264"/>
          </p14:sldIdLst>
        </p14:section>
        <p14:section name="연습" id="{dd8020e0-6655-d974-f469-e8c2accdc7b7}">
          <p14:sldIdLst>
            <p14:sldId id="261"/>
            <p14:sldId id="262"/>
            <p14:sldId id="265"/>
          </p14:sldIdLst>
        </p14:section>
        <p14:section name="개념" id="{aaf0ddc5-f4b4-40b7-b070-c5a04bf38f84}">
          <p14:sldIdLst/>
        </p14:section>
        <p14:section name="연습" id="{a2f687ec-b5e1-1910-fa97-4f716adb3685}">
          <p14:sldIdLst/>
        </p14:section>
        <p14:section name="확인" id="{088c2740-36c5-bd3c-dc77-3d2ae3cb804f}">
          <p14:sldIdLst>
            <p14:sldId id="266"/>
            <p14:sldId id="267"/>
          </p14:sldIdLst>
        </p14:section>
        <p14:section name="정리" id="{f9e26701-9eea-7b04-447d-017c1854928d}">
          <p14:sldIdLst>
            <p14:sldId id="268"/>
          </p14:sldIdLst>
        </p14:section>
        <p14:section name="보충" id="{7af86c83-290a-1359-b252-215fbd7dca07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도형과측정 · 6차시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달력 보기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달력 보기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수학 · 달력 보기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달력 보기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며칠, 무슨 요일일까?</a:t>
            </a:r>
            <a:endParaRPr lang="ko-KR" sz="32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645920"/>
          <a:ext cx="3931920" cy="914400"/>
        </p:xfrm>
        <a:graphic>
          <a:graphicData uri="http://schemas.openxmlformats.org/drawingml/2006/table">
            <a:tbl>
              <a:tblPr/>
              <a:tblGrid>
                <a:gridCol w="561703"/>
                <a:gridCol w="561703"/>
                <a:gridCol w="561703"/>
                <a:gridCol w="561703"/>
                <a:gridCol w="561703"/>
                <a:gridCol w="561703"/>
                <a:gridCol w="561703"/>
              </a:tblGrid>
              <a:tr h="4572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달력에서 날짜와 요일을 찾아요.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1주일 = 7일, 1년 = 12개월을 알아요.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eqtext5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= □ 시간</a:t>
            </a:r>
            <a:endParaRPr lang="ko-KR" sz="3600" dirty="0"/>
          </a:p>
        </p:txBody>
      </p:sp>
      <p:sp>
        <p:nvSpPr>
          <p:cNvPr id="5" name="S02-chip6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eqtext7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1시간 = □ 분</a:t>
            </a:r>
            <a:endParaRPr lang="ko-KR" sz="36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eqtext9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7, 14, □, 28</a:t>
            </a:r>
            <a:endParaRPr lang="ko-KR" sz="3600" dirty="0"/>
          </a:p>
        </p:txBody>
      </p:sp>
      <p:sp>
        <p:nvSpPr>
          <p:cNvPr id="9" name="S02-chip10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0" name="S02-text11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수요일 다음 날은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요일?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11월 달력 읽기</a:t>
            </a:r>
            <a:endParaRPr lang="ko-KR" sz="4400" dirty="0"/>
          </a:p>
        </p:txBody>
      </p:sp>
      <p:sp>
        <p:nvSpPr>
          <p:cNvPr id="3" name="S03-card12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3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15일은 수요일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날짜에서 위로 올라가면 요일이 있어요.</a:t>
            </a:r>
            <a:endParaRPr lang="ko-KR" sz="3200" dirty="0"/>
          </a:p>
        </p:txBody>
      </p:sp>
      <p:graphicFrame>
        <p:nvGraphicFramePr>
          <p:cNvPr id="4" name="S03-table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53996" y="1420622"/>
          <a:ext cx="76809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1주일은 7일</a:t>
            </a:r>
            <a:endParaRPr lang="ko-KR" sz="4400" dirty="0"/>
          </a:p>
        </p:txBody>
      </p:sp>
      <p:sp>
        <p:nvSpPr>
          <p:cNvPr id="3" name="S04-text15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수요일은 며칠마다 다시 올까요?</a:t>
            </a:r>
            <a:endParaRPr lang="ko-KR" sz="3200" dirty="0"/>
          </a:p>
        </p:txBody>
      </p:sp>
      <p:graphicFrame>
        <p:nvGraphicFramePr>
          <p:cNvPr id="5" name="S04-table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98514" y="2827020"/>
          <a:ext cx="51206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4-stepno17"/>
          <p:cNvSpPr txBox="1"/>
          <p:nvPr/>
        </p:nvSpPr>
        <p:spPr>
          <a:xfrm>
            <a:off x="548640" y="3027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4-text18"/>
          <p:cNvSpPr txBox="1"/>
          <p:nvPr/>
        </p:nvSpPr>
        <p:spPr>
          <a:xfrm>
            <a:off x="1325880" y="2981452"/>
            <a:ext cx="4585716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수요일인 날을 모두 찾아요.</a:t>
            </a:r>
            <a:endParaRPr lang="ko-KR" sz="3200" dirty="0"/>
          </a:p>
        </p:txBody>
      </p:sp>
      <p:sp>
        <p:nvSpPr>
          <p:cNvPr id="7" name="S04-stepno19"/>
          <p:cNvSpPr txBox="1"/>
          <p:nvPr/>
        </p:nvSpPr>
        <p:spPr>
          <a:xfrm>
            <a:off x="548640" y="4137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4-text20"/>
          <p:cNvSpPr txBox="1"/>
          <p:nvPr/>
        </p:nvSpPr>
        <p:spPr>
          <a:xfrm>
            <a:off x="1325880" y="4137660"/>
            <a:ext cx="4585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 8, 15, 22, 29일</a:t>
            </a:r>
            <a:endParaRPr lang="ko-KR" sz="3200" dirty="0"/>
          </a:p>
        </p:txBody>
      </p:sp>
      <p:sp>
        <p:nvSpPr>
          <p:cNvPr id="9" name="S04-stepno21"/>
          <p:cNvSpPr txBox="1"/>
          <p:nvPr/>
        </p:nvSpPr>
        <p:spPr>
          <a:xfrm>
            <a:off x="548640" y="48966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4-text22"/>
          <p:cNvSpPr txBox="1"/>
          <p:nvPr/>
        </p:nvSpPr>
        <p:spPr>
          <a:xfrm>
            <a:off x="1325880" y="4850892"/>
            <a:ext cx="4585716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7씩 커져요.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1주일 = 7일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주일 뒤는?</a:t>
            </a:r>
            <a:endParaRPr lang="ko-KR" sz="4400" dirty="0"/>
          </a:p>
        </p:txBody>
      </p:sp>
      <p:sp>
        <p:nvSpPr>
          <p:cNvPr id="3" name="S05-text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11월 6일 월요일에서 1주일 뒤는?</a:t>
            </a:r>
            <a:endParaRPr lang="ko-KR" sz="3200" dirty="0"/>
          </a:p>
        </p:txBody>
      </p:sp>
      <p:sp>
        <p:nvSpPr>
          <p:cNvPr id="4" name="S05-card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1주일 뒤는 7일 뒤, 같은 요일이에요.</a:t>
            </a:r>
            <a:endParaRPr lang="ko-KR" sz="3200" dirty="0"/>
          </a:p>
        </p:txBody>
      </p:sp>
      <p:sp>
        <p:nvSpPr>
          <p:cNvPr id="6" name="S05-card26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27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6일 → 13일 → 20일</a:t>
            </a:r>
            <a:endParaRPr lang="ko-KR" sz="3200" dirty="0"/>
          </a:p>
        </p:txBody>
      </p:sp>
      <p:sp>
        <p:nvSpPr>
          <p:cNvPr id="8" name="S05-card28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5-cardtext29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월요일이에요.</a:t>
            </a:r>
            <a:endParaRPr lang="ko-KR" sz="3200" dirty="0"/>
          </a:p>
        </p:txBody>
      </p:sp>
      <p:sp>
        <p:nvSpPr>
          <p:cNvPr id="10" name="S05-line30"/>
          <p:cNvSpPr/>
          <p:nvPr/>
        </p:nvSpPr>
        <p:spPr>
          <a:xfrm>
            <a:off x="685800" y="3228340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11" name="S05-line31"/>
          <p:cNvSpPr/>
          <p:nvPr/>
        </p:nvSpPr>
        <p:spPr>
          <a:xfrm>
            <a:off x="960120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5-label32"/>
          <p:cNvSpPr txBox="1"/>
          <p:nvPr/>
        </p:nvSpPr>
        <p:spPr>
          <a:xfrm>
            <a:off x="502920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13" name="S05-line33"/>
          <p:cNvSpPr/>
          <p:nvPr/>
        </p:nvSpPr>
        <p:spPr>
          <a:xfrm>
            <a:off x="1693599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5-label34"/>
          <p:cNvSpPr txBox="1"/>
          <p:nvPr/>
        </p:nvSpPr>
        <p:spPr>
          <a:xfrm>
            <a:off x="1236399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15" name="S05-line35"/>
          <p:cNvSpPr/>
          <p:nvPr/>
        </p:nvSpPr>
        <p:spPr>
          <a:xfrm>
            <a:off x="2427079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5-label36"/>
          <p:cNvSpPr txBox="1"/>
          <p:nvPr/>
        </p:nvSpPr>
        <p:spPr>
          <a:xfrm>
            <a:off x="1969879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17" name="S05-line37"/>
          <p:cNvSpPr/>
          <p:nvPr/>
        </p:nvSpPr>
        <p:spPr>
          <a:xfrm>
            <a:off x="3160558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5-label38"/>
          <p:cNvSpPr txBox="1"/>
          <p:nvPr/>
        </p:nvSpPr>
        <p:spPr>
          <a:xfrm>
            <a:off x="2703358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19" name="S05-line39"/>
          <p:cNvSpPr/>
          <p:nvPr/>
        </p:nvSpPr>
        <p:spPr>
          <a:xfrm>
            <a:off x="3894038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5-label40"/>
          <p:cNvSpPr txBox="1"/>
          <p:nvPr/>
        </p:nvSpPr>
        <p:spPr>
          <a:xfrm>
            <a:off x="3436838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21" name="S05-line41"/>
          <p:cNvSpPr/>
          <p:nvPr/>
        </p:nvSpPr>
        <p:spPr>
          <a:xfrm>
            <a:off x="4627517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5-label42"/>
          <p:cNvSpPr txBox="1"/>
          <p:nvPr/>
        </p:nvSpPr>
        <p:spPr>
          <a:xfrm>
            <a:off x="4170317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23" name="S05-line43"/>
          <p:cNvSpPr/>
          <p:nvPr/>
        </p:nvSpPr>
        <p:spPr>
          <a:xfrm>
            <a:off x="5360997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5-label44"/>
          <p:cNvSpPr txBox="1"/>
          <p:nvPr/>
        </p:nvSpPr>
        <p:spPr>
          <a:xfrm>
            <a:off x="4903797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25" name="S05-line45"/>
          <p:cNvSpPr/>
          <p:nvPr/>
        </p:nvSpPr>
        <p:spPr>
          <a:xfrm>
            <a:off x="6094476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5-label46"/>
          <p:cNvSpPr txBox="1"/>
          <p:nvPr/>
        </p:nvSpPr>
        <p:spPr>
          <a:xfrm>
            <a:off x="5637276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ko-KR" sz="2600" dirty="0"/>
          </a:p>
        </p:txBody>
      </p:sp>
      <p:sp>
        <p:nvSpPr>
          <p:cNvPr id="27" name="S05-line47"/>
          <p:cNvSpPr/>
          <p:nvPr/>
        </p:nvSpPr>
        <p:spPr>
          <a:xfrm>
            <a:off x="6827955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5-label48"/>
          <p:cNvSpPr txBox="1"/>
          <p:nvPr/>
        </p:nvSpPr>
        <p:spPr>
          <a:xfrm>
            <a:off x="6370755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ko-KR" sz="2600" dirty="0"/>
          </a:p>
        </p:txBody>
      </p:sp>
      <p:sp>
        <p:nvSpPr>
          <p:cNvPr id="29" name="S05-line49"/>
          <p:cNvSpPr/>
          <p:nvPr/>
        </p:nvSpPr>
        <p:spPr>
          <a:xfrm>
            <a:off x="7561435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5-label50"/>
          <p:cNvSpPr txBox="1"/>
          <p:nvPr/>
        </p:nvSpPr>
        <p:spPr>
          <a:xfrm>
            <a:off x="7104235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600" dirty="0"/>
          </a:p>
        </p:txBody>
      </p:sp>
      <p:sp>
        <p:nvSpPr>
          <p:cNvPr id="31" name="S05-line51"/>
          <p:cNvSpPr/>
          <p:nvPr/>
        </p:nvSpPr>
        <p:spPr>
          <a:xfrm>
            <a:off x="8294914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5-label52"/>
          <p:cNvSpPr txBox="1"/>
          <p:nvPr/>
        </p:nvSpPr>
        <p:spPr>
          <a:xfrm>
            <a:off x="7837714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ko-KR" sz="2600" dirty="0"/>
          </a:p>
        </p:txBody>
      </p:sp>
      <p:sp>
        <p:nvSpPr>
          <p:cNvPr id="33" name="S05-line53"/>
          <p:cNvSpPr/>
          <p:nvPr/>
        </p:nvSpPr>
        <p:spPr>
          <a:xfrm>
            <a:off x="9028394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05-label54"/>
          <p:cNvSpPr txBox="1"/>
          <p:nvPr/>
        </p:nvSpPr>
        <p:spPr>
          <a:xfrm>
            <a:off x="8571194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ko-KR" sz="2600" dirty="0"/>
          </a:p>
        </p:txBody>
      </p:sp>
      <p:sp>
        <p:nvSpPr>
          <p:cNvPr id="35" name="S05-line55"/>
          <p:cNvSpPr/>
          <p:nvPr/>
        </p:nvSpPr>
        <p:spPr>
          <a:xfrm>
            <a:off x="9761873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6" name="S05-label56"/>
          <p:cNvSpPr txBox="1"/>
          <p:nvPr/>
        </p:nvSpPr>
        <p:spPr>
          <a:xfrm>
            <a:off x="9304673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2600" dirty="0"/>
          </a:p>
        </p:txBody>
      </p:sp>
      <p:sp>
        <p:nvSpPr>
          <p:cNvPr id="37" name="S05-line57"/>
          <p:cNvSpPr/>
          <p:nvPr/>
        </p:nvSpPr>
        <p:spPr>
          <a:xfrm>
            <a:off x="10495353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8" name="S05-label58"/>
          <p:cNvSpPr txBox="1"/>
          <p:nvPr/>
        </p:nvSpPr>
        <p:spPr>
          <a:xfrm>
            <a:off x="10038153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ko-KR" sz="2600" dirty="0"/>
          </a:p>
        </p:txBody>
      </p:sp>
      <p:sp>
        <p:nvSpPr>
          <p:cNvPr id="39" name="S05-line59"/>
          <p:cNvSpPr/>
          <p:nvPr/>
        </p:nvSpPr>
        <p:spPr>
          <a:xfrm>
            <a:off x="11228832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0" name="S05-label60"/>
          <p:cNvSpPr txBox="1"/>
          <p:nvPr/>
        </p:nvSpPr>
        <p:spPr>
          <a:xfrm>
            <a:off x="10771632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600" dirty="0"/>
          </a:p>
        </p:txBody>
      </p:sp>
      <p:sp>
        <p:nvSpPr>
          <p:cNvPr id="41" name="S05-mark61"/>
          <p:cNvSpPr/>
          <p:nvPr/>
        </p:nvSpPr>
        <p:spPr>
          <a:xfrm>
            <a:off x="868680" y="313690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42" name="S05-mark62"/>
          <p:cNvSpPr/>
          <p:nvPr/>
        </p:nvSpPr>
        <p:spPr>
          <a:xfrm>
            <a:off x="6003036" y="313690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43" name="S05-mark63"/>
          <p:cNvSpPr/>
          <p:nvPr/>
        </p:nvSpPr>
        <p:spPr>
          <a:xfrm>
            <a:off x="11137392" y="313690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44" name="S05-line64"/>
          <p:cNvSpPr/>
          <p:nvPr/>
        </p:nvSpPr>
        <p:spPr>
          <a:xfrm flipV="1">
            <a:off x="960120" y="284429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5" name="S05-line65"/>
          <p:cNvSpPr/>
          <p:nvPr/>
        </p:nvSpPr>
        <p:spPr>
          <a:xfrm>
            <a:off x="960120" y="2844292"/>
            <a:ext cx="5134356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6" name="S05-label66"/>
          <p:cNvSpPr txBox="1"/>
          <p:nvPr/>
        </p:nvSpPr>
        <p:spPr>
          <a:xfrm>
            <a:off x="960120" y="2396744"/>
            <a:ext cx="5134356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7일</a:t>
            </a:r>
            <a:endParaRPr lang="ko-KR" sz="2600" dirty="0"/>
          </a:p>
        </p:txBody>
      </p:sp>
      <p:sp>
        <p:nvSpPr>
          <p:cNvPr id="47" name="S05-line67"/>
          <p:cNvSpPr/>
          <p:nvPr/>
        </p:nvSpPr>
        <p:spPr>
          <a:xfrm flipV="1">
            <a:off x="6094476" y="284429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8" name="S05-line68"/>
          <p:cNvSpPr/>
          <p:nvPr/>
        </p:nvSpPr>
        <p:spPr>
          <a:xfrm>
            <a:off x="6094476" y="2844292"/>
            <a:ext cx="5134356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9" name="S05-label69"/>
          <p:cNvSpPr txBox="1"/>
          <p:nvPr/>
        </p:nvSpPr>
        <p:spPr>
          <a:xfrm>
            <a:off x="6094476" y="2396744"/>
            <a:ext cx="5134356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7일</a:t>
            </a:r>
            <a:endParaRPr lang="ko-KR" sz="2600" dirty="0"/>
          </a:p>
        </p:txBody>
      </p:sp>
      <p:sp>
        <p:nvSpPr>
          <p:cNvPr id="50" name="S05-figure70" descr="6부터 20까지 1씩 눈금이 있는 수직선: 6에서 13으로 7일, 13에서 20으로 7일 뛰기"/>
          <p:cNvSpPr/>
          <p:nvPr/>
        </p:nvSpPr>
        <p:spPr>
          <a:xfrm>
            <a:off x="685800" y="3045460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달력에서 찾아요</a:t>
            </a:r>
            <a:endParaRPr lang="ko-KR" sz="4400" dirty="0"/>
          </a:p>
        </p:txBody>
      </p:sp>
      <p:sp>
        <p:nvSpPr>
          <p:cNvPr id="3" name="S06-text7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11월 달력을 보고 답해요.</a:t>
            </a:r>
            <a:endParaRPr lang="ko-KR" sz="3200" dirty="0"/>
          </a:p>
        </p:txBody>
      </p:sp>
      <p:sp>
        <p:nvSpPr>
          <p:cNvPr id="4" name="S06-card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요일은 7일마다 와요.</a:t>
            </a:r>
            <a:endParaRPr lang="ko-KR" sz="3200" dirty="0"/>
          </a:p>
        </p:txBody>
      </p:sp>
      <p:graphicFrame>
        <p:nvGraphicFramePr>
          <p:cNvPr id="7" name="S06-table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98514" y="2103120"/>
          <a:ext cx="51206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</a:tblGrid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6-chip75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8" name="S06-text76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23일은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요일?</a:t>
            </a:r>
            <a:endParaRPr lang="ko-KR" sz="2600" dirty="0"/>
          </a:p>
        </p:txBody>
      </p:sp>
      <p:sp>
        <p:nvSpPr>
          <p:cNvPr id="9" name="S06-chip7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0" name="S06-text78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토요일은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몇 번?</a:t>
            </a:r>
            <a:endParaRPr lang="ko-KR" sz="2600" dirty="0"/>
          </a:p>
        </p:txBody>
      </p:sp>
      <p:sp>
        <p:nvSpPr>
          <p:cNvPr id="11" name="S06-chip7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2" name="S06-text80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9일에서 1주일 뒤는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며칠?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07-card8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8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11월 8일에서 3일 뒤는 며칠일까요?</a:t>
            </a:r>
            <a:endParaRPr lang="ko-KR" sz="3200" dirty="0"/>
          </a:p>
        </p:txBody>
      </p:sp>
      <p:sp>
        <p:nvSpPr>
          <p:cNvPr id="5" name="S07-card8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8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07-chip8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10일</a:t>
            </a:r>
            <a:endParaRPr lang="ko-KR" sz="2600" dirty="0"/>
          </a:p>
        </p:txBody>
      </p:sp>
      <p:sp>
        <p:nvSpPr>
          <p:cNvPr id="8" name="S07-line86"/>
          <p:cNvSpPr/>
          <p:nvPr/>
        </p:nvSpPr>
        <p:spPr>
          <a:xfrm>
            <a:off x="685800" y="3675888"/>
            <a:ext cx="50886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9" name="S07-line87"/>
          <p:cNvSpPr/>
          <p:nvPr/>
        </p:nvSpPr>
        <p:spPr>
          <a:xfrm>
            <a:off x="960120" y="352958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7-label88"/>
          <p:cNvSpPr txBox="1"/>
          <p:nvPr/>
        </p:nvSpPr>
        <p:spPr>
          <a:xfrm>
            <a:off x="502920" y="3858768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11" name="S07-line89"/>
          <p:cNvSpPr/>
          <p:nvPr/>
        </p:nvSpPr>
        <p:spPr>
          <a:xfrm>
            <a:off x="1868119" y="352958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7-label90"/>
          <p:cNvSpPr txBox="1"/>
          <p:nvPr/>
        </p:nvSpPr>
        <p:spPr>
          <a:xfrm>
            <a:off x="1410919" y="3858768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13" name="S07-line91"/>
          <p:cNvSpPr/>
          <p:nvPr/>
        </p:nvSpPr>
        <p:spPr>
          <a:xfrm>
            <a:off x="2776118" y="352958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7-label92"/>
          <p:cNvSpPr txBox="1"/>
          <p:nvPr/>
        </p:nvSpPr>
        <p:spPr>
          <a:xfrm>
            <a:off x="2318918" y="3858768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15" name="S07-line93"/>
          <p:cNvSpPr/>
          <p:nvPr/>
        </p:nvSpPr>
        <p:spPr>
          <a:xfrm>
            <a:off x="3684118" y="352958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7-label94"/>
          <p:cNvSpPr txBox="1"/>
          <p:nvPr/>
        </p:nvSpPr>
        <p:spPr>
          <a:xfrm>
            <a:off x="3226918" y="3858768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17" name="S07-line95"/>
          <p:cNvSpPr/>
          <p:nvPr/>
        </p:nvSpPr>
        <p:spPr>
          <a:xfrm>
            <a:off x="4592117" y="352958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7-label96"/>
          <p:cNvSpPr txBox="1"/>
          <p:nvPr/>
        </p:nvSpPr>
        <p:spPr>
          <a:xfrm>
            <a:off x="4134917" y="3858768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19" name="S07-line97"/>
          <p:cNvSpPr/>
          <p:nvPr/>
        </p:nvSpPr>
        <p:spPr>
          <a:xfrm>
            <a:off x="5500116" y="352958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7-label98"/>
          <p:cNvSpPr txBox="1"/>
          <p:nvPr/>
        </p:nvSpPr>
        <p:spPr>
          <a:xfrm>
            <a:off x="5042916" y="3858768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21" name="S07-mark99"/>
          <p:cNvSpPr/>
          <p:nvPr/>
        </p:nvSpPr>
        <p:spPr>
          <a:xfrm>
            <a:off x="1776679" y="3584448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2" name="S07-mark100"/>
          <p:cNvSpPr/>
          <p:nvPr/>
        </p:nvSpPr>
        <p:spPr>
          <a:xfrm>
            <a:off x="2684678" y="3584448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3" name="S07-mark101"/>
          <p:cNvSpPr/>
          <p:nvPr/>
        </p:nvSpPr>
        <p:spPr>
          <a:xfrm>
            <a:off x="3592678" y="3584448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4" name="S07-figure102" descr="7부터 12까지 수직선에 8, 9, 10에 점을 찍음"/>
          <p:cNvSpPr/>
          <p:nvPr/>
        </p:nvSpPr>
        <p:spPr>
          <a:xfrm>
            <a:off x="685800" y="3493008"/>
            <a:ext cx="5088636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07-text103"/>
          <p:cNvSpPr txBox="1"/>
          <p:nvPr/>
        </p:nvSpPr>
        <p:spPr>
          <a:xfrm>
            <a:off x="548640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8, 9, 10 하고 셌어요.</a:t>
            </a:r>
            <a:endParaRPr lang="ko-KR" sz="2600" dirty="0"/>
          </a:p>
        </p:txBody>
      </p:sp>
      <p:sp>
        <p:nvSpPr>
          <p:cNvPr id="26" name="S07-chip10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11일</a:t>
            </a:r>
            <a:endParaRPr lang="ko-KR" sz="2600" dirty="0"/>
          </a:p>
        </p:txBody>
      </p:sp>
      <p:sp>
        <p:nvSpPr>
          <p:cNvPr id="27" name="S07-line105"/>
          <p:cNvSpPr/>
          <p:nvPr/>
        </p:nvSpPr>
        <p:spPr>
          <a:xfrm>
            <a:off x="6414516" y="3831336"/>
            <a:ext cx="50886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28" name="S07-line106"/>
          <p:cNvSpPr/>
          <p:nvPr/>
        </p:nvSpPr>
        <p:spPr>
          <a:xfrm>
            <a:off x="6688836" y="368503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7-label107"/>
          <p:cNvSpPr txBox="1"/>
          <p:nvPr/>
        </p:nvSpPr>
        <p:spPr>
          <a:xfrm>
            <a:off x="6231636" y="4014216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30" name="S07-line108"/>
          <p:cNvSpPr/>
          <p:nvPr/>
        </p:nvSpPr>
        <p:spPr>
          <a:xfrm>
            <a:off x="7596835" y="368503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07-label109"/>
          <p:cNvSpPr txBox="1"/>
          <p:nvPr/>
        </p:nvSpPr>
        <p:spPr>
          <a:xfrm>
            <a:off x="7139635" y="4014216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32" name="S07-line110"/>
          <p:cNvSpPr/>
          <p:nvPr/>
        </p:nvSpPr>
        <p:spPr>
          <a:xfrm>
            <a:off x="8504834" y="368503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3" name="S07-label111"/>
          <p:cNvSpPr txBox="1"/>
          <p:nvPr/>
        </p:nvSpPr>
        <p:spPr>
          <a:xfrm>
            <a:off x="8047634" y="4014216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34" name="S07-line112"/>
          <p:cNvSpPr/>
          <p:nvPr/>
        </p:nvSpPr>
        <p:spPr>
          <a:xfrm>
            <a:off x="9412834" y="368503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5" name="S07-label113"/>
          <p:cNvSpPr txBox="1"/>
          <p:nvPr/>
        </p:nvSpPr>
        <p:spPr>
          <a:xfrm>
            <a:off x="8955634" y="4014216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36" name="S07-line114"/>
          <p:cNvSpPr/>
          <p:nvPr/>
        </p:nvSpPr>
        <p:spPr>
          <a:xfrm>
            <a:off x="10320833" y="368503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7" name="S07-label115"/>
          <p:cNvSpPr txBox="1"/>
          <p:nvPr/>
        </p:nvSpPr>
        <p:spPr>
          <a:xfrm>
            <a:off x="9863633" y="4014216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38" name="S07-line116"/>
          <p:cNvSpPr/>
          <p:nvPr/>
        </p:nvSpPr>
        <p:spPr>
          <a:xfrm>
            <a:off x="11228832" y="368503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9" name="S07-label117"/>
          <p:cNvSpPr txBox="1"/>
          <p:nvPr/>
        </p:nvSpPr>
        <p:spPr>
          <a:xfrm>
            <a:off x="10771632" y="4014216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40" name="S07-line118"/>
          <p:cNvSpPr/>
          <p:nvPr/>
        </p:nvSpPr>
        <p:spPr>
          <a:xfrm flipV="1">
            <a:off x="7596835" y="3447288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1" name="S07-line119"/>
          <p:cNvSpPr/>
          <p:nvPr/>
        </p:nvSpPr>
        <p:spPr>
          <a:xfrm>
            <a:off x="7596835" y="3447288"/>
            <a:ext cx="907999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2" name="S07-label120"/>
          <p:cNvSpPr txBox="1"/>
          <p:nvPr/>
        </p:nvSpPr>
        <p:spPr>
          <a:xfrm>
            <a:off x="7596835" y="2999740"/>
            <a:ext cx="907999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43" name="S07-line121"/>
          <p:cNvSpPr/>
          <p:nvPr/>
        </p:nvSpPr>
        <p:spPr>
          <a:xfrm flipV="1">
            <a:off x="8504834" y="3447288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4" name="S07-line122"/>
          <p:cNvSpPr/>
          <p:nvPr/>
        </p:nvSpPr>
        <p:spPr>
          <a:xfrm>
            <a:off x="8504834" y="3447288"/>
            <a:ext cx="907999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5" name="S07-label123"/>
          <p:cNvSpPr txBox="1"/>
          <p:nvPr/>
        </p:nvSpPr>
        <p:spPr>
          <a:xfrm>
            <a:off x="8504834" y="2999740"/>
            <a:ext cx="907999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46" name="S07-line124"/>
          <p:cNvSpPr/>
          <p:nvPr/>
        </p:nvSpPr>
        <p:spPr>
          <a:xfrm flipV="1">
            <a:off x="9412834" y="3447288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7" name="S07-line125"/>
          <p:cNvSpPr/>
          <p:nvPr/>
        </p:nvSpPr>
        <p:spPr>
          <a:xfrm>
            <a:off x="9412834" y="3447288"/>
            <a:ext cx="907999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8" name="S07-label126"/>
          <p:cNvSpPr txBox="1"/>
          <p:nvPr/>
        </p:nvSpPr>
        <p:spPr>
          <a:xfrm>
            <a:off x="9412834" y="2999740"/>
            <a:ext cx="907999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49" name="S07-figure127" descr="7부터 12까지 수직선에 8에서 9, 10, 11로 한 칸씩 세 번 뛰기"/>
          <p:cNvSpPr/>
          <p:nvPr/>
        </p:nvSpPr>
        <p:spPr>
          <a:xfrm>
            <a:off x="6414516" y="3648456"/>
            <a:ext cx="5088636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07-text128"/>
          <p:cNvSpPr txBox="1"/>
          <p:nvPr/>
        </p:nvSpPr>
        <p:spPr>
          <a:xfrm>
            <a:off x="6277356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9, 10, 11 하고 셌어요.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1년은 12개월</a:t>
            </a:r>
            <a:endParaRPr lang="ko-KR" sz="4400" dirty="0"/>
          </a:p>
        </p:txBody>
      </p:sp>
      <p:sp>
        <p:nvSpPr>
          <p:cNvPr id="3" name="S08-text12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1년은 1월부터 12월까지 12개월이에요.</a:t>
            </a:r>
            <a:endParaRPr lang="ko-KR" sz="3200" dirty="0"/>
          </a:p>
        </p:txBody>
      </p:sp>
      <p:sp>
        <p:nvSpPr>
          <p:cNvPr id="4" name="S08-card1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1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2월은 해마다 28일 또는 29일이에요.</a:t>
            </a:r>
            <a:endParaRPr lang="ko-KR" sz="3200" dirty="0"/>
          </a:p>
        </p:txBody>
      </p:sp>
      <p:graphicFrame>
        <p:nvGraphicFramePr>
          <p:cNvPr id="9" name="S08-table1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48156" y="2509520"/>
          <a:ext cx="9692640" cy="914400"/>
        </p:xfrm>
        <a:graphic>
          <a:graphicData uri="http://schemas.openxmlformats.org/drawingml/2006/table">
            <a:tbl>
              <a:tblPr/>
              <a:tblGrid>
                <a:gridCol w="3101645"/>
                <a:gridCol w="6590995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1월 3월 5월 7월 8월 10월 12월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4월 6월 9월 11월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28일 또는 29일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주일과 일, 년과 개월</a:t>
            </a:r>
            <a:endParaRPr lang="ko-KR" sz="4400" dirty="0"/>
          </a:p>
        </p:txBody>
      </p:sp>
      <p:sp>
        <p:nvSpPr>
          <p:cNvPr id="3" name="S09-card133"/>
          <p:cNvSpPr/>
          <p:nvPr/>
        </p:nvSpPr>
        <p:spPr>
          <a:xfrm>
            <a:off x="548640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134"/>
          <p:cNvSpPr txBox="1"/>
          <p:nvPr/>
        </p:nvSpPr>
        <p:spPr>
          <a:xfrm>
            <a:off x="822960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7일 + 7일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14일</a:t>
            </a:r>
            <a:endParaRPr lang="ko-KR" sz="3200" dirty="0"/>
          </a:p>
        </p:txBody>
      </p:sp>
      <p:sp>
        <p:nvSpPr>
          <p:cNvPr id="5" name="S09-card135"/>
          <p:cNvSpPr/>
          <p:nvPr/>
        </p:nvSpPr>
        <p:spPr>
          <a:xfrm>
            <a:off x="6208776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9-cardtext136"/>
          <p:cNvSpPr txBox="1"/>
          <p:nvPr/>
        </p:nvSpPr>
        <p:spPr>
          <a:xfrm>
            <a:off x="6483096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12개월 + 3개월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15개월</a:t>
            </a:r>
            <a:endParaRPr lang="ko-KR" sz="3200" dirty="0"/>
          </a:p>
        </p:txBody>
      </p:sp>
      <p:sp>
        <p:nvSpPr>
          <p:cNvPr id="7" name="S09-dot137"/>
          <p:cNvSpPr/>
          <p:nvPr/>
        </p:nvSpPr>
        <p:spPr>
          <a:xfrm>
            <a:off x="1728216" y="2367407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9-dot138"/>
          <p:cNvSpPr/>
          <p:nvPr/>
        </p:nvSpPr>
        <p:spPr>
          <a:xfrm>
            <a:off x="2185416" y="2367407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9-dot139"/>
          <p:cNvSpPr/>
          <p:nvPr/>
        </p:nvSpPr>
        <p:spPr>
          <a:xfrm>
            <a:off x="2642616" y="2367407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9-dot140"/>
          <p:cNvSpPr/>
          <p:nvPr/>
        </p:nvSpPr>
        <p:spPr>
          <a:xfrm>
            <a:off x="3099816" y="2367407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9-dot141"/>
          <p:cNvSpPr/>
          <p:nvPr/>
        </p:nvSpPr>
        <p:spPr>
          <a:xfrm>
            <a:off x="3557016" y="2367407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9-dot142"/>
          <p:cNvSpPr/>
          <p:nvPr/>
        </p:nvSpPr>
        <p:spPr>
          <a:xfrm>
            <a:off x="4014216" y="2367407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9-dot143"/>
          <p:cNvSpPr/>
          <p:nvPr/>
        </p:nvSpPr>
        <p:spPr>
          <a:xfrm>
            <a:off x="4471416" y="2367407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9-dot144"/>
          <p:cNvSpPr/>
          <p:nvPr/>
        </p:nvSpPr>
        <p:spPr>
          <a:xfrm>
            <a:off x="1728216" y="2824607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9-dot145"/>
          <p:cNvSpPr/>
          <p:nvPr/>
        </p:nvSpPr>
        <p:spPr>
          <a:xfrm>
            <a:off x="2185416" y="2824607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9-dot146"/>
          <p:cNvSpPr/>
          <p:nvPr/>
        </p:nvSpPr>
        <p:spPr>
          <a:xfrm>
            <a:off x="2642616" y="2824607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9-dot147"/>
          <p:cNvSpPr/>
          <p:nvPr/>
        </p:nvSpPr>
        <p:spPr>
          <a:xfrm>
            <a:off x="3099816" y="2824607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9-dot148"/>
          <p:cNvSpPr/>
          <p:nvPr/>
        </p:nvSpPr>
        <p:spPr>
          <a:xfrm>
            <a:off x="3557016" y="2824607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9-dot149"/>
          <p:cNvSpPr/>
          <p:nvPr/>
        </p:nvSpPr>
        <p:spPr>
          <a:xfrm>
            <a:off x="4014216" y="2824607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9-dot150"/>
          <p:cNvSpPr/>
          <p:nvPr/>
        </p:nvSpPr>
        <p:spPr>
          <a:xfrm>
            <a:off x="4471416" y="2824607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9-group151"/>
          <p:cNvSpPr/>
          <p:nvPr/>
        </p:nvSpPr>
        <p:spPr>
          <a:xfrm>
            <a:off x="1668780" y="2317115"/>
            <a:ext cx="31455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2" name="S09-group152"/>
          <p:cNvSpPr/>
          <p:nvPr/>
        </p:nvSpPr>
        <p:spPr>
          <a:xfrm>
            <a:off x="1668780" y="2774315"/>
            <a:ext cx="31455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3" name="S09-figure153" descr="점 7개씩 2줄(한 줄이 1주일): 모두 14개"/>
          <p:cNvSpPr/>
          <p:nvPr/>
        </p:nvSpPr>
        <p:spPr>
          <a:xfrm>
            <a:off x="1641348" y="2280539"/>
            <a:ext cx="32004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09-label154"/>
          <p:cNvSpPr txBox="1"/>
          <p:nvPr/>
        </p:nvSpPr>
        <p:spPr>
          <a:xfrm>
            <a:off x="548640" y="422275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2주일</a:t>
            </a:r>
            <a:endParaRPr lang="ko-KR" sz="2600" dirty="0"/>
          </a:p>
        </p:txBody>
      </p:sp>
      <p:sp>
        <p:nvSpPr>
          <p:cNvPr id="25" name="S09-cell155"/>
          <p:cNvSpPr/>
          <p:nvPr/>
        </p:nvSpPr>
        <p:spPr>
          <a:xfrm>
            <a:off x="6254496" y="1786763"/>
            <a:ext cx="448818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9-cell156"/>
          <p:cNvSpPr/>
          <p:nvPr/>
        </p:nvSpPr>
        <p:spPr>
          <a:xfrm>
            <a:off x="6703314" y="1786763"/>
            <a:ext cx="448818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9-cell157"/>
          <p:cNvSpPr/>
          <p:nvPr/>
        </p:nvSpPr>
        <p:spPr>
          <a:xfrm>
            <a:off x="7152132" y="1786763"/>
            <a:ext cx="448818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9-cell158"/>
          <p:cNvSpPr/>
          <p:nvPr/>
        </p:nvSpPr>
        <p:spPr>
          <a:xfrm>
            <a:off x="7600950" y="1786763"/>
            <a:ext cx="448818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9-cell159"/>
          <p:cNvSpPr/>
          <p:nvPr/>
        </p:nvSpPr>
        <p:spPr>
          <a:xfrm>
            <a:off x="8049768" y="1786763"/>
            <a:ext cx="448818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9-cell160"/>
          <p:cNvSpPr/>
          <p:nvPr/>
        </p:nvSpPr>
        <p:spPr>
          <a:xfrm>
            <a:off x="8498586" y="1786763"/>
            <a:ext cx="448818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9-cell161"/>
          <p:cNvSpPr/>
          <p:nvPr/>
        </p:nvSpPr>
        <p:spPr>
          <a:xfrm>
            <a:off x="8947404" y="1786763"/>
            <a:ext cx="448818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9-cell162"/>
          <p:cNvSpPr/>
          <p:nvPr/>
        </p:nvSpPr>
        <p:spPr>
          <a:xfrm>
            <a:off x="9396222" y="1786763"/>
            <a:ext cx="448818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9-cell163"/>
          <p:cNvSpPr/>
          <p:nvPr/>
        </p:nvSpPr>
        <p:spPr>
          <a:xfrm>
            <a:off x="9845040" y="1786763"/>
            <a:ext cx="448818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9-cell164"/>
          <p:cNvSpPr/>
          <p:nvPr/>
        </p:nvSpPr>
        <p:spPr>
          <a:xfrm>
            <a:off x="10293858" y="1786763"/>
            <a:ext cx="448818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9-cell165"/>
          <p:cNvSpPr/>
          <p:nvPr/>
        </p:nvSpPr>
        <p:spPr>
          <a:xfrm>
            <a:off x="10742676" y="1786763"/>
            <a:ext cx="448818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9-cell166"/>
          <p:cNvSpPr/>
          <p:nvPr/>
        </p:nvSpPr>
        <p:spPr>
          <a:xfrm>
            <a:off x="11191494" y="1786763"/>
            <a:ext cx="448818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9-figure167" descr="똑같이 12칸으로 나눈 띠, 12칸 색칠"/>
          <p:cNvSpPr/>
          <p:nvPr/>
        </p:nvSpPr>
        <p:spPr>
          <a:xfrm>
            <a:off x="6254496" y="1786763"/>
            <a:ext cx="538581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8" name="S09-cell168"/>
          <p:cNvSpPr/>
          <p:nvPr/>
        </p:nvSpPr>
        <p:spPr>
          <a:xfrm>
            <a:off x="6254496" y="2865755"/>
            <a:ext cx="448818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9-cell169"/>
          <p:cNvSpPr/>
          <p:nvPr/>
        </p:nvSpPr>
        <p:spPr>
          <a:xfrm>
            <a:off x="6703314" y="2865755"/>
            <a:ext cx="448818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9-cell170"/>
          <p:cNvSpPr/>
          <p:nvPr/>
        </p:nvSpPr>
        <p:spPr>
          <a:xfrm>
            <a:off x="7152132" y="2865755"/>
            <a:ext cx="448818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9-cell171"/>
          <p:cNvSpPr/>
          <p:nvPr/>
        </p:nvSpPr>
        <p:spPr>
          <a:xfrm>
            <a:off x="7600950" y="2865755"/>
            <a:ext cx="448818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9-cell172"/>
          <p:cNvSpPr/>
          <p:nvPr/>
        </p:nvSpPr>
        <p:spPr>
          <a:xfrm>
            <a:off x="8049768" y="2865755"/>
            <a:ext cx="448818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9-cell173"/>
          <p:cNvSpPr/>
          <p:nvPr/>
        </p:nvSpPr>
        <p:spPr>
          <a:xfrm>
            <a:off x="8498586" y="2865755"/>
            <a:ext cx="448818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9-cell174"/>
          <p:cNvSpPr/>
          <p:nvPr/>
        </p:nvSpPr>
        <p:spPr>
          <a:xfrm>
            <a:off x="8947404" y="2865755"/>
            <a:ext cx="448818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9-cell175"/>
          <p:cNvSpPr/>
          <p:nvPr/>
        </p:nvSpPr>
        <p:spPr>
          <a:xfrm>
            <a:off x="9396222" y="2865755"/>
            <a:ext cx="448818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9-cell176"/>
          <p:cNvSpPr/>
          <p:nvPr/>
        </p:nvSpPr>
        <p:spPr>
          <a:xfrm>
            <a:off x="9845040" y="2865755"/>
            <a:ext cx="448818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09-cell177"/>
          <p:cNvSpPr/>
          <p:nvPr/>
        </p:nvSpPr>
        <p:spPr>
          <a:xfrm>
            <a:off x="10293858" y="2865755"/>
            <a:ext cx="448818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09-cell178"/>
          <p:cNvSpPr/>
          <p:nvPr/>
        </p:nvSpPr>
        <p:spPr>
          <a:xfrm>
            <a:off x="10742676" y="2865755"/>
            <a:ext cx="448818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09-cell179"/>
          <p:cNvSpPr/>
          <p:nvPr/>
        </p:nvSpPr>
        <p:spPr>
          <a:xfrm>
            <a:off x="11191494" y="2865755"/>
            <a:ext cx="448818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09-figure180" descr="똑같이 12칸으로 나눈 띠, 3칸 색칠"/>
          <p:cNvSpPr/>
          <p:nvPr/>
        </p:nvSpPr>
        <p:spPr>
          <a:xfrm>
            <a:off x="6254496" y="2865755"/>
            <a:ext cx="538581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1" name="S09-label181"/>
          <p:cNvSpPr txBox="1"/>
          <p:nvPr/>
        </p:nvSpPr>
        <p:spPr>
          <a:xfrm>
            <a:off x="6254496" y="422275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 3개월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바꾸어 보아요</a:t>
            </a:r>
            <a:endParaRPr lang="ko-KR" sz="4400" dirty="0"/>
          </a:p>
        </p:txBody>
      </p:sp>
      <p:sp>
        <p:nvSpPr>
          <p:cNvPr id="3" name="S10-card1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0-cardtext1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1주일 = 7일, 1년 = 12개월이에요.</a:t>
            </a:r>
            <a:endParaRPr lang="ko-KR" sz="3200" dirty="0"/>
          </a:p>
        </p:txBody>
      </p:sp>
      <p:sp>
        <p:nvSpPr>
          <p:cNvPr id="5" name="S10-chip18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10-eqtext185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3주일 = □ 일</a:t>
            </a:r>
            <a:endParaRPr lang="ko-KR" sz="3200" dirty="0"/>
          </a:p>
        </p:txBody>
      </p:sp>
      <p:sp>
        <p:nvSpPr>
          <p:cNvPr id="7" name="S10-chip186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10-eqtext187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 = □ 개월</a:t>
            </a:r>
            <a:endParaRPr lang="ko-KR" sz="3200" dirty="0"/>
          </a:p>
        </p:txBody>
      </p:sp>
      <p:sp>
        <p:nvSpPr>
          <p:cNvPr id="9" name="S10-chip188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10-eqtext189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 5개월 = □개월</a:t>
            </a:r>
            <a:endParaRPr lang="ko-KR" sz="3200" dirty="0"/>
          </a:p>
        </p:txBody>
      </p:sp>
      <p:sp>
        <p:nvSpPr>
          <p:cNvPr id="11" name="S10-chip190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10-eqtext191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14개월 = □년 □개월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text19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11월 달력을 보고 답해요.</a:t>
            </a:r>
            <a:endParaRPr lang="ko-KR" sz="3200" dirty="0"/>
          </a:p>
        </p:txBody>
      </p:sp>
      <p:graphicFrame>
        <p:nvGraphicFramePr>
          <p:cNvPr id="12" name="S11-table1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98514" y="2529840"/>
          <a:ext cx="51206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11-chip19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11-text195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27일은 무슨 요일?</a:t>
            </a:r>
            <a:endParaRPr lang="ko-KR" sz="3200" dirty="0"/>
          </a:p>
        </p:txBody>
      </p:sp>
      <p:sp>
        <p:nvSpPr>
          <p:cNvPr id="7" name="S11-chip19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11-text197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14일에서 2주일 뒤는?</a:t>
            </a:r>
            <a:endParaRPr lang="ko-KR" sz="3200" dirty="0"/>
          </a:p>
        </p:txBody>
      </p:sp>
      <p:sp>
        <p:nvSpPr>
          <p:cNvPr id="9" name="S11-chip19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11-eqtext199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 4개월 = □개월</a:t>
            </a:r>
            <a:endParaRPr lang="ko-KR" sz="3600" dirty="0"/>
          </a:p>
        </p:txBody>
      </p:sp>
      <p:sp>
        <p:nvSpPr>
          <p:cNvPr id="11" name="S11-chip200"/>
          <p:cNvSpPr txBox="1"/>
          <p:nvPr/>
        </p:nvSpPr>
        <p:spPr>
          <a:xfrm>
            <a:off x="548640" y="54772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11-text201"/>
          <p:cNvSpPr txBox="1"/>
          <p:nvPr/>
        </p:nvSpPr>
        <p:spPr>
          <a:xfrm>
            <a:off x="1344168" y="530352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9월은 며칠까지?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3일 뒤는 언제?</a:t>
            </a:r>
            <a:endParaRPr lang="ko-KR" sz="4400" dirty="0"/>
          </a:p>
        </p:txBody>
      </p:sp>
      <p:sp>
        <p:nvSpPr>
          <p:cNvPr id="3" name="S13-text20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11월 3일 금요일에서 3일 뒤예요.</a:t>
            </a:r>
            <a:endParaRPr lang="ko-KR" sz="3200" dirty="0"/>
          </a:p>
        </p:txBody>
      </p:sp>
      <p:sp>
        <p:nvSpPr>
          <p:cNvPr id="4" name="S13-card20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20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것을 고르고, 어떻게 알았는지 말해요.</a:t>
            </a:r>
            <a:endParaRPr lang="ko-KR" sz="3200" dirty="0"/>
          </a:p>
        </p:txBody>
      </p:sp>
      <p:sp>
        <p:nvSpPr>
          <p:cNvPr id="6" name="S13-chip205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3-card206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3-cardtext207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5일 일요일</a:t>
            </a:r>
            <a:endParaRPr lang="ko-KR" sz="3200" dirty="0"/>
          </a:p>
        </p:txBody>
      </p:sp>
      <p:sp>
        <p:nvSpPr>
          <p:cNvPr id="9" name="S13-chip208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3-card209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3-cardtext210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6일 월요일</a:t>
            </a:r>
            <a:endParaRPr lang="ko-KR" sz="3200" dirty="0"/>
          </a:p>
        </p:txBody>
      </p:sp>
      <p:sp>
        <p:nvSpPr>
          <p:cNvPr id="12" name="S13-chip211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3-card212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3-cardtext213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10일 금요일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4-card21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21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1주일 = 7일, 1년 = 12개월이에요.</a:t>
            </a:r>
            <a:endParaRPr lang="ko-KR" sz="3200" dirty="0"/>
          </a:p>
        </p:txBody>
      </p:sp>
      <p:sp>
        <p:nvSpPr>
          <p:cNvPr id="5" name="S14-chip216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같은 요일은 7일마다</a:t>
            </a:r>
            <a:endParaRPr lang="ko-KR" sz="2600" dirty="0"/>
          </a:p>
        </p:txBody>
      </p:sp>
      <p:sp>
        <p:nvSpPr>
          <p:cNvPr id="6" name="S14-chip217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시작한 날부터 세기</a:t>
            </a:r>
            <a:endParaRPr lang="ko-KR" sz="2600" dirty="0"/>
          </a:p>
        </p:txBody>
      </p:sp>
      <p:sp>
        <p:nvSpPr>
          <p:cNvPr id="7" name="S14-text218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4-text219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3주일은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며칠?</a:t>
            </a:r>
            <a:endParaRPr lang="ko-KR" sz="2600" dirty="0"/>
          </a:p>
        </p:txBody>
      </p:sp>
      <p:sp>
        <p:nvSpPr>
          <p:cNvPr id="9" name="S14-text220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1년 6개월은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개월?</a:t>
            </a:r>
            <a:endParaRPr lang="ko-KR" sz="2600" dirty="0"/>
          </a:p>
        </p:txBody>
      </p:sp>
      <p:sp>
        <p:nvSpPr>
          <p:cNvPr id="10" name="S14-text221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31일까지 있는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 하나는?</a:t>
            </a:r>
            <a:endParaRPr lang="ko-KR" sz="2600" dirty="0"/>
          </a:p>
        </p:txBody>
      </p:sp>
      <p:sp>
        <p:nvSpPr>
          <p:cNvPr id="11" name="S14-text22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분류하기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요일과 7씩 세기</a:t>
            </a:r>
            <a:endParaRPr lang="ko-KR" sz="4400" dirty="0"/>
          </a:p>
        </p:txBody>
      </p:sp>
      <p:sp>
        <p:nvSpPr>
          <p:cNvPr id="3" name="S15-text2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요일은 이 순서로 돌고 돌아요.</a:t>
            </a:r>
            <a:endParaRPr lang="ko-KR" sz="3200" dirty="0"/>
          </a:p>
        </p:txBody>
      </p:sp>
      <p:sp>
        <p:nvSpPr>
          <p:cNvPr id="4" name="S15-card2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2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7씩 세기: 7, 14, 21, 28</a:t>
            </a:r>
            <a:endParaRPr lang="ko-KR" sz="3200" dirty="0"/>
          </a:p>
        </p:txBody>
      </p:sp>
      <p:sp>
        <p:nvSpPr>
          <p:cNvPr id="6" name="S15-step226"/>
          <p:cNvSpPr txBox="1"/>
          <p:nvPr/>
        </p:nvSpPr>
        <p:spPr>
          <a:xfrm>
            <a:off x="548640" y="2651760"/>
            <a:ext cx="1231827" cy="1371600"/>
          </a:xfrm>
          <a:prstGeom prst="roundRect">
            <a:avLst>
              <a:gd name="adj" fmla="val 8908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</a:t>
            </a:r>
            <a:endParaRPr lang="ko-KR" sz="2600" dirty="0"/>
          </a:p>
        </p:txBody>
      </p:sp>
      <p:sp>
        <p:nvSpPr>
          <p:cNvPr id="7" name="S15-line227"/>
          <p:cNvSpPr/>
          <p:nvPr/>
        </p:nvSpPr>
        <p:spPr>
          <a:xfrm>
            <a:off x="1835331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15-step228"/>
          <p:cNvSpPr txBox="1"/>
          <p:nvPr/>
        </p:nvSpPr>
        <p:spPr>
          <a:xfrm>
            <a:off x="2191947" y="2651760"/>
            <a:ext cx="1231827" cy="1371600"/>
          </a:xfrm>
          <a:prstGeom prst="roundRect">
            <a:avLst>
              <a:gd name="adj" fmla="val 8908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</a:t>
            </a:r>
            <a:endParaRPr lang="ko-KR" sz="2600" dirty="0"/>
          </a:p>
        </p:txBody>
      </p:sp>
      <p:sp>
        <p:nvSpPr>
          <p:cNvPr id="9" name="S15-line229"/>
          <p:cNvSpPr/>
          <p:nvPr/>
        </p:nvSpPr>
        <p:spPr>
          <a:xfrm>
            <a:off x="3478639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15-step230"/>
          <p:cNvSpPr txBox="1"/>
          <p:nvPr/>
        </p:nvSpPr>
        <p:spPr>
          <a:xfrm>
            <a:off x="3835255" y="2651760"/>
            <a:ext cx="1231827" cy="1371600"/>
          </a:xfrm>
          <a:prstGeom prst="roundRect">
            <a:avLst>
              <a:gd name="adj" fmla="val 8908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</a:t>
            </a:r>
            <a:endParaRPr lang="ko-KR" sz="2600" dirty="0"/>
          </a:p>
        </p:txBody>
      </p:sp>
      <p:sp>
        <p:nvSpPr>
          <p:cNvPr id="11" name="S15-line231"/>
          <p:cNvSpPr/>
          <p:nvPr/>
        </p:nvSpPr>
        <p:spPr>
          <a:xfrm>
            <a:off x="5121946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15-step232"/>
          <p:cNvSpPr txBox="1"/>
          <p:nvPr/>
        </p:nvSpPr>
        <p:spPr>
          <a:xfrm>
            <a:off x="5478562" y="2651760"/>
            <a:ext cx="1231827" cy="1371600"/>
          </a:xfrm>
          <a:prstGeom prst="roundRect">
            <a:avLst>
              <a:gd name="adj" fmla="val 8908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</a:t>
            </a:r>
            <a:endParaRPr lang="ko-KR" sz="2600" dirty="0"/>
          </a:p>
        </p:txBody>
      </p:sp>
      <p:sp>
        <p:nvSpPr>
          <p:cNvPr id="13" name="S15-line233"/>
          <p:cNvSpPr/>
          <p:nvPr/>
        </p:nvSpPr>
        <p:spPr>
          <a:xfrm>
            <a:off x="6765254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4" name="S15-step234"/>
          <p:cNvSpPr txBox="1"/>
          <p:nvPr/>
        </p:nvSpPr>
        <p:spPr>
          <a:xfrm>
            <a:off x="7121870" y="2651760"/>
            <a:ext cx="1231827" cy="1371600"/>
          </a:xfrm>
          <a:prstGeom prst="roundRect">
            <a:avLst>
              <a:gd name="adj" fmla="val 8908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</a:t>
            </a:r>
            <a:endParaRPr lang="ko-KR" sz="2600" dirty="0"/>
          </a:p>
        </p:txBody>
      </p:sp>
      <p:sp>
        <p:nvSpPr>
          <p:cNvPr id="15" name="S15-line235"/>
          <p:cNvSpPr/>
          <p:nvPr/>
        </p:nvSpPr>
        <p:spPr>
          <a:xfrm>
            <a:off x="8408561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6" name="S15-step236"/>
          <p:cNvSpPr txBox="1"/>
          <p:nvPr/>
        </p:nvSpPr>
        <p:spPr>
          <a:xfrm>
            <a:off x="8765177" y="2651760"/>
            <a:ext cx="1231827" cy="1371600"/>
          </a:xfrm>
          <a:prstGeom prst="roundRect">
            <a:avLst>
              <a:gd name="adj" fmla="val 8908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</a:t>
            </a:r>
            <a:endParaRPr lang="ko-KR" sz="2600" dirty="0"/>
          </a:p>
        </p:txBody>
      </p:sp>
      <p:sp>
        <p:nvSpPr>
          <p:cNvPr id="17" name="S15-line237"/>
          <p:cNvSpPr/>
          <p:nvPr/>
        </p:nvSpPr>
        <p:spPr>
          <a:xfrm>
            <a:off x="10051869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8" name="S15-step238"/>
          <p:cNvSpPr txBox="1"/>
          <p:nvPr/>
        </p:nvSpPr>
        <p:spPr>
          <a:xfrm>
            <a:off x="10408485" y="2651760"/>
            <a:ext cx="1231827" cy="1371600"/>
          </a:xfrm>
          <a:prstGeom prst="roundRect">
            <a:avLst>
              <a:gd name="adj" fmla="val 8908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</a:t>
            </a:r>
            <a:endParaRPr lang="ko-KR" sz="2600" dirty="0"/>
          </a:p>
        </p:txBody>
      </p:sp>
      <p:sp>
        <p:nvSpPr>
          <p:cNvPr id="19" name="S15-line239"/>
          <p:cNvSpPr/>
          <p:nvPr/>
        </p:nvSpPr>
        <p:spPr>
          <a:xfrm>
            <a:off x="11024398" y="4023360"/>
            <a:ext cx="0" cy="32004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</a:ln>
        </p:spPr>
      </p:sp>
      <p:sp>
        <p:nvSpPr>
          <p:cNvPr id="20" name="S15-line240"/>
          <p:cNvSpPr/>
          <p:nvPr/>
        </p:nvSpPr>
        <p:spPr>
          <a:xfrm flipH="1">
            <a:off x="1164554" y="4343400"/>
            <a:ext cx="9859845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</a:ln>
        </p:spPr>
      </p:sp>
      <p:sp>
        <p:nvSpPr>
          <p:cNvPr id="21" name="S15-line241"/>
          <p:cNvSpPr/>
          <p:nvPr/>
        </p:nvSpPr>
        <p:spPr>
          <a:xfrm flipV="1">
            <a:off x="1164554" y="4041648"/>
            <a:ext cx="0" cy="301752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수학 달력 보기</dc:title>
  <dc:subject>KR22-G02-MAT-CALENDAR-L01</dc:subject>
  <dc:creator>education-ppt</dc:creator>
  <cp:lastModifiedBy>education-ppt</cp:lastModifiedBy>
  <cp:revision>1</cp:revision>
  <dcterms:created xsi:type="dcterms:W3CDTF">2026-10-26T07:33:41Z</dcterms:created>
  <dcterms:modified xsi:type="dcterms:W3CDTF">2026-10-26T07:33:41Z</dcterms:modified>
</cp:coreProperties>
</file>