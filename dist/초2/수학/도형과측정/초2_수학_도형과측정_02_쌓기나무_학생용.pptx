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6e21d1b-174b-02eb-a5bf-ace4ac304c03}">
          <p14:sldIdLst>
            <p14:sldId id="256"/>
            <p14:sldId id="257"/>
          </p14:sldIdLst>
        </p14:section>
        <p14:section name="개념" id="{e4f790af-63d2-0603-8d36-2cd7a326bdb6}">
          <p14:sldIdLst>
            <p14:sldId id="258"/>
            <p14:sldId id="259"/>
            <p14:sldId id="260"/>
            <p14:sldId id="261"/>
          </p14:sldIdLst>
        </p14:section>
        <p14:section name="연습" id="{35778b2a-c297-f0a8-44aa-e909850fc451}">
          <p14:sldIdLst>
            <p14:sldId id="262"/>
            <p14:sldId id="263"/>
            <p14:sldId id="264"/>
          </p14:sldIdLst>
        </p14:section>
        <p14:section name="확인" id="{ad248adc-0cf9-4e73-d0f7-a91c1bc24a62}">
          <p14:sldIdLst>
            <p14:sldId id="265"/>
            <p14:sldId id="266"/>
          </p14:sldIdLst>
        </p14:section>
        <p14:section name="정리" id="{3ef4639d-f54b-f9bc-efc2-2144b29a9298}">
          <p14:sldIdLst>
            <p14:sldId id="267"/>
          </p14:sldIdLst>
        </p14:section>
        <p14:section name="보충" id="{4cf426f0-7647-a5b8-309e-f322d9b169c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몇 개로 만들었을까?</a:t>
            </a:r>
            <a:endParaRPr lang="ko-KR" sz="3200" dirty="0"/>
          </a:p>
        </p:txBody>
      </p:sp>
      <p:sp>
        <p:nvSpPr>
          <p:cNvPr id="4" name="S01-figure1" descr="쌓기나무 한 개(정육면체)"/>
          <p:cNvSpPr/>
          <p:nvPr/>
        </p:nvSpPr>
        <p:spPr>
          <a:xfrm>
            <a:off x="8641080" y="1028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쌓기나무가 몇 개인지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위치를 넣어 쌓은 모양을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말하고 해 봐요.</a:t>
            </a:r>
            <a:endParaRPr lang="ko-KR" sz="32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6" descr="사각형"/>
          <p:cNvSpPr/>
          <p:nvPr/>
        </p:nvSpPr>
        <p:spPr>
          <a:xfrm>
            <a:off x="3515868" y="2011680"/>
            <a:ext cx="11430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8" descr="삼각형"/>
          <p:cNvSpPr/>
          <p:nvPr/>
        </p:nvSpPr>
        <p:spPr>
          <a:xfrm>
            <a:off x="3515868" y="352667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오른손을 들고, 책상 위와 아래를 가리켜요.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그림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면이 똑같은 사각형이에요.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 1개가 쌓기나무 1개예요.</a:t>
            </a:r>
            <a:endParaRPr lang="ko-KR" sz="3200" dirty="0"/>
          </a:p>
        </p:txBody>
      </p:sp>
      <p:sp>
        <p:nvSpPr>
          <p:cNvPr id="7" name="S03-figure15" descr="쌓기나무 한 개"/>
          <p:cNvSpPr/>
          <p:nvPr/>
        </p:nvSpPr>
        <p:spPr>
          <a:xfrm>
            <a:off x="2235708" y="1663319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16"/>
          <p:cNvSpPr txBox="1"/>
          <p:nvPr/>
        </p:nvSpPr>
        <p:spPr>
          <a:xfrm>
            <a:off x="548640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1개</a:t>
            </a:r>
            <a:endParaRPr lang="ko-KR" sz="2600" dirty="0"/>
          </a:p>
        </p:txBody>
      </p:sp>
      <p:sp>
        <p:nvSpPr>
          <p:cNvPr id="9" name="S03-cell17"/>
          <p:cNvSpPr/>
          <p:nvPr/>
        </p:nvSpPr>
        <p:spPr>
          <a:xfrm>
            <a:off x="771296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8"/>
          <p:cNvSpPr/>
          <p:nvPr/>
        </p:nvSpPr>
        <p:spPr>
          <a:xfrm>
            <a:off x="853592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9"/>
          <p:cNvSpPr/>
          <p:nvPr/>
        </p:nvSpPr>
        <p:spPr>
          <a:xfrm>
            <a:off x="935888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20" descr="옆으로 나란히 놓은 쌓기나무 3개를 앞에서 본 그림: 색칠한 칸 3개"/>
          <p:cNvSpPr/>
          <p:nvPr/>
        </p:nvSpPr>
        <p:spPr>
          <a:xfrm>
            <a:off x="7712964" y="2326259"/>
            <a:ext cx="246888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label21"/>
          <p:cNvSpPr txBox="1"/>
          <p:nvPr/>
        </p:nvSpPr>
        <p:spPr>
          <a:xfrm>
            <a:off x="6254496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나란히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세어요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 4개예요.</a:t>
            </a:r>
            <a:endParaRPr lang="ko-KR" sz="3200" dirty="0"/>
          </a:p>
        </p:txBody>
      </p:sp>
      <p:sp>
        <p:nvSpPr>
          <p:cNvPr id="6" name="S04-cell25"/>
          <p:cNvSpPr/>
          <p:nvPr/>
        </p:nvSpPr>
        <p:spPr>
          <a:xfrm>
            <a:off x="1995678" y="252552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26"/>
          <p:cNvSpPr/>
          <p:nvPr/>
        </p:nvSpPr>
        <p:spPr>
          <a:xfrm>
            <a:off x="281863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27"/>
          <p:cNvSpPr/>
          <p:nvPr/>
        </p:nvSpPr>
        <p:spPr>
          <a:xfrm>
            <a:off x="364159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28"/>
          <p:cNvSpPr/>
          <p:nvPr/>
        </p:nvSpPr>
        <p:spPr>
          <a:xfrm>
            <a:off x="199567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29"/>
          <p:cNvSpPr/>
          <p:nvPr/>
        </p:nvSpPr>
        <p:spPr>
          <a:xfrm>
            <a:off x="281863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0"/>
          <p:cNvSpPr/>
          <p:nvPr/>
        </p:nvSpPr>
        <p:spPr>
          <a:xfrm>
            <a:off x="364159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31" descr="한 줄로 쌓은 모양: 1층에 3개, 맨 왼쪽 쌓기나무 위에 1개, 모두 4개"/>
          <p:cNvSpPr/>
          <p:nvPr/>
        </p:nvSpPr>
        <p:spPr>
          <a:xfrm>
            <a:off x="1995678" y="2525522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card3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3200" dirty="0"/>
          </a:p>
        </p:txBody>
      </p:sp>
      <p:sp>
        <p:nvSpPr>
          <p:cNvPr id="15" name="S04-card3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4-cardtext3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놓았나요?</a:t>
            </a:r>
            <a:endParaRPr lang="ko-KR" sz="4400" dirty="0"/>
          </a:p>
        </p:txBody>
      </p:sp>
      <p:sp>
        <p:nvSpPr>
          <p:cNvPr id="3" name="S05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위치를 넣어 말해요.</a:t>
            </a:r>
            <a:endParaRPr lang="ko-KR" sz="3200" dirty="0"/>
          </a:p>
        </p:txBody>
      </p:sp>
      <p:sp>
        <p:nvSpPr>
          <p:cNvPr id="4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쌓기나무의 어느 쪽인지 말해요.</a:t>
            </a:r>
            <a:endParaRPr lang="ko-KR" sz="3200" dirty="0"/>
          </a:p>
        </p:txBody>
      </p:sp>
      <p:sp>
        <p:nvSpPr>
          <p:cNvPr id="6" name="S05-cell39"/>
          <p:cNvSpPr/>
          <p:nvPr/>
        </p:nvSpPr>
        <p:spPr>
          <a:xfrm>
            <a:off x="199567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0"/>
          <p:cNvSpPr/>
          <p:nvPr/>
        </p:nvSpPr>
        <p:spPr>
          <a:xfrm>
            <a:off x="2818638" y="274320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1"/>
          <p:cNvSpPr/>
          <p:nvPr/>
        </p:nvSpPr>
        <p:spPr>
          <a:xfrm>
            <a:off x="364159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2"/>
          <p:cNvSpPr/>
          <p:nvPr/>
        </p:nvSpPr>
        <p:spPr>
          <a:xfrm>
            <a:off x="199567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3"/>
          <p:cNvSpPr/>
          <p:nvPr/>
        </p:nvSpPr>
        <p:spPr>
          <a:xfrm>
            <a:off x="281863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4"/>
          <p:cNvSpPr/>
          <p:nvPr/>
        </p:nvSpPr>
        <p:spPr>
          <a:xfrm>
            <a:off x="364159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figure45" descr="한 줄로 쌓은 모양: 1층에 3개, 가운데 쌓기나무 위에 1개, 모두 4개"/>
          <p:cNvSpPr/>
          <p:nvPr/>
        </p:nvSpPr>
        <p:spPr>
          <a:xfrm>
            <a:off x="1995678" y="2743200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card46"/>
          <p:cNvSpPr/>
          <p:nvPr/>
        </p:nvSpPr>
        <p:spPr>
          <a:xfrm>
            <a:off x="6277356" y="235712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5-cardtext47"/>
          <p:cNvSpPr txBox="1"/>
          <p:nvPr/>
        </p:nvSpPr>
        <p:spPr>
          <a:xfrm>
            <a:off x="6551676" y="249428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3개를 옆으로 나란히</a:t>
            </a:r>
            <a:endParaRPr lang="ko-KR" sz="3200" dirty="0"/>
          </a:p>
        </p:txBody>
      </p:sp>
      <p:sp>
        <p:nvSpPr>
          <p:cNvPr id="15" name="S05-card48"/>
          <p:cNvSpPr/>
          <p:nvPr/>
        </p:nvSpPr>
        <p:spPr>
          <a:xfrm>
            <a:off x="6277356" y="39065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5-cardtext49"/>
          <p:cNvSpPr txBox="1"/>
          <p:nvPr/>
        </p:nvSpPr>
        <p:spPr>
          <a:xfrm>
            <a:off x="6551676" y="40436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쌓기나무 위에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설명대로 쌓아요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 오른쪽 쌓기나무 위에 1개</a:t>
            </a:r>
            <a:endParaRPr lang="ko-KR" sz="3200" dirty="0"/>
          </a:p>
        </p:txBody>
      </p:sp>
      <p:sp>
        <p:nvSpPr>
          <p:cNvPr id="4" name="S06-cell51"/>
          <p:cNvSpPr/>
          <p:nvPr/>
        </p:nvSpPr>
        <p:spPr>
          <a:xfrm>
            <a:off x="8457651" y="3329559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52"/>
          <p:cNvSpPr/>
          <p:nvPr/>
        </p:nvSpPr>
        <p:spPr>
          <a:xfrm>
            <a:off x="9280611" y="33295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53"/>
          <p:cNvSpPr/>
          <p:nvPr/>
        </p:nvSpPr>
        <p:spPr>
          <a:xfrm>
            <a:off x="845765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4"/>
          <p:cNvSpPr/>
          <p:nvPr/>
        </p:nvSpPr>
        <p:spPr>
          <a:xfrm>
            <a:off x="928061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5" descr="한 줄로 쌓은 모양: 1층에 2개, 오른쪽 쌓기나무 위에 1개, 모두 3개"/>
          <p:cNvSpPr/>
          <p:nvPr/>
        </p:nvSpPr>
        <p:spPr>
          <a:xfrm>
            <a:off x="8457651" y="3329559"/>
            <a:ext cx="164592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56"/>
          <p:cNvSpPr txBox="1"/>
          <p:nvPr/>
        </p:nvSpPr>
        <p:spPr>
          <a:xfrm>
            <a:off x="6920911" y="5772150"/>
            <a:ext cx="4719401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쌓은 모양</a:t>
            </a:r>
            <a:endParaRPr lang="ko-KR" sz="26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2개를 나란히 놓아요.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39161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‘오른쪽 쌓기나무’를 찾아요.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50723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위에 1개를 올려요.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한 줄로 쌓았고, ③은 바닥에 놓고 위에서 봤어요.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1층부터 층마다 세고, 센 수를 더해요.</a:t>
            </a:r>
            <a:endParaRPr lang="ko-KR" sz="3200" dirty="0"/>
          </a:p>
        </p:txBody>
      </p:sp>
      <p:sp>
        <p:nvSpPr>
          <p:cNvPr id="6" name="S07-cell6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cell6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6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6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7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7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한 줄로 쌓은 모양: 1층 3개, 2층은 왼쪽과 가운데 위에 2개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label7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7-cell74"/>
          <p:cNvSpPr/>
          <p:nvPr/>
        </p:nvSpPr>
        <p:spPr>
          <a:xfrm>
            <a:off x="499719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75"/>
          <p:cNvSpPr/>
          <p:nvPr/>
        </p:nvSpPr>
        <p:spPr>
          <a:xfrm>
            <a:off x="572871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76"/>
          <p:cNvSpPr/>
          <p:nvPr/>
        </p:nvSpPr>
        <p:spPr>
          <a:xfrm>
            <a:off x="6460236" y="22094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77"/>
          <p:cNvSpPr/>
          <p:nvPr/>
        </p:nvSpPr>
        <p:spPr>
          <a:xfrm>
            <a:off x="4997196" y="294093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78"/>
          <p:cNvSpPr/>
          <p:nvPr/>
        </p:nvSpPr>
        <p:spPr>
          <a:xfrm>
            <a:off x="572871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79"/>
          <p:cNvSpPr/>
          <p:nvPr/>
        </p:nvSpPr>
        <p:spPr>
          <a:xfrm>
            <a:off x="646023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80"/>
          <p:cNvSpPr/>
          <p:nvPr/>
        </p:nvSpPr>
        <p:spPr>
          <a:xfrm>
            <a:off x="499719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81"/>
          <p:cNvSpPr/>
          <p:nvPr/>
        </p:nvSpPr>
        <p:spPr>
          <a:xfrm>
            <a:off x="572871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82"/>
          <p:cNvSpPr/>
          <p:nvPr/>
        </p:nvSpPr>
        <p:spPr>
          <a:xfrm>
            <a:off x="646023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figure83" descr="한 줄로 쌓은 계단 모양: 1층 3개, 2층 2개, 3층 1개"/>
          <p:cNvSpPr/>
          <p:nvPr/>
        </p:nvSpPr>
        <p:spPr>
          <a:xfrm>
            <a:off x="4997196" y="2209419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label84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07-cell85"/>
          <p:cNvSpPr/>
          <p:nvPr/>
        </p:nvSpPr>
        <p:spPr>
          <a:xfrm>
            <a:off x="8801100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86"/>
          <p:cNvSpPr/>
          <p:nvPr/>
        </p:nvSpPr>
        <p:spPr>
          <a:xfrm>
            <a:off x="953262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87"/>
          <p:cNvSpPr/>
          <p:nvPr/>
        </p:nvSpPr>
        <p:spPr>
          <a:xfrm>
            <a:off x="1026414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88"/>
          <p:cNvSpPr/>
          <p:nvPr/>
        </p:nvSpPr>
        <p:spPr>
          <a:xfrm>
            <a:off x="880110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89"/>
          <p:cNvSpPr/>
          <p:nvPr/>
        </p:nvSpPr>
        <p:spPr>
          <a:xfrm>
            <a:off x="953262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90"/>
          <p:cNvSpPr/>
          <p:nvPr/>
        </p:nvSpPr>
        <p:spPr>
          <a:xfrm>
            <a:off x="1026414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figure91" descr="바닥에 1층으로 놓은 모양을 위에서 본 그림: 색칠한 칸 4개"/>
          <p:cNvSpPr/>
          <p:nvPr/>
        </p:nvSpPr>
        <p:spPr>
          <a:xfrm>
            <a:off x="8801100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7-label92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쌓았을까요?</a:t>
            </a:r>
            <a:endParaRPr lang="ko-KR" sz="4400" dirty="0"/>
          </a:p>
        </p:txBody>
      </p:sp>
      <p:sp>
        <p:nvSpPr>
          <p:cNvPr id="3" name="S08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“1층에 3개를 놓고, 위에 1개를 놓아요.”</a:t>
            </a:r>
            <a:endParaRPr lang="ko-KR" sz="3200" dirty="0"/>
          </a:p>
        </p:txBody>
      </p:sp>
      <p:sp>
        <p:nvSpPr>
          <p:cNvPr id="5" name="S08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설명대로 했어요. 어떻게 말하면 같아질까요?</a:t>
            </a:r>
            <a:endParaRPr lang="ko-KR" sz="3200" dirty="0"/>
          </a:p>
        </p:txBody>
      </p:sp>
      <p:sp>
        <p:nvSpPr>
          <p:cNvPr id="7" name="S08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쌓은 모양</a:t>
            </a:r>
            <a:endParaRPr lang="ko-KR" sz="2600" dirty="0"/>
          </a:p>
        </p:txBody>
      </p:sp>
      <p:sp>
        <p:nvSpPr>
          <p:cNvPr id="8" name="S08-cell98"/>
          <p:cNvSpPr/>
          <p:nvPr/>
        </p:nvSpPr>
        <p:spPr>
          <a:xfrm>
            <a:off x="1755648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99"/>
          <p:cNvSpPr/>
          <p:nvPr/>
        </p:nvSpPr>
        <p:spPr>
          <a:xfrm>
            <a:off x="273862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00"/>
          <p:cNvSpPr/>
          <p:nvPr/>
        </p:nvSpPr>
        <p:spPr>
          <a:xfrm>
            <a:off x="372160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01"/>
          <p:cNvSpPr/>
          <p:nvPr/>
        </p:nvSpPr>
        <p:spPr>
          <a:xfrm>
            <a:off x="175564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02"/>
          <p:cNvSpPr/>
          <p:nvPr/>
        </p:nvSpPr>
        <p:spPr>
          <a:xfrm>
            <a:off x="273862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03"/>
          <p:cNvSpPr/>
          <p:nvPr/>
        </p:nvSpPr>
        <p:spPr>
          <a:xfrm>
            <a:off x="372160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04" descr="1층 3개, 맨 왼쪽 위에 1개"/>
          <p:cNvSpPr/>
          <p:nvPr/>
        </p:nvSpPr>
        <p:spPr>
          <a:xfrm>
            <a:off x="1755648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chip10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쌓은 모양</a:t>
            </a:r>
            <a:endParaRPr lang="ko-KR" sz="2600" dirty="0"/>
          </a:p>
        </p:txBody>
      </p:sp>
      <p:sp>
        <p:nvSpPr>
          <p:cNvPr id="16" name="S08-cell106"/>
          <p:cNvSpPr/>
          <p:nvPr/>
        </p:nvSpPr>
        <p:spPr>
          <a:xfrm>
            <a:off x="748436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07"/>
          <p:cNvSpPr/>
          <p:nvPr/>
        </p:nvSpPr>
        <p:spPr>
          <a:xfrm>
            <a:off x="846734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08"/>
          <p:cNvSpPr/>
          <p:nvPr/>
        </p:nvSpPr>
        <p:spPr>
          <a:xfrm>
            <a:off x="9450324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09"/>
          <p:cNvSpPr/>
          <p:nvPr/>
        </p:nvSpPr>
        <p:spPr>
          <a:xfrm>
            <a:off x="748436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10"/>
          <p:cNvSpPr/>
          <p:nvPr/>
        </p:nvSpPr>
        <p:spPr>
          <a:xfrm>
            <a:off x="846734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11"/>
          <p:cNvSpPr/>
          <p:nvPr/>
        </p:nvSpPr>
        <p:spPr>
          <a:xfrm>
            <a:off x="945032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12" descr="1층 3개, 맨 오른쪽 위에 1개"/>
          <p:cNvSpPr/>
          <p:nvPr/>
        </p:nvSpPr>
        <p:spPr>
          <a:xfrm>
            <a:off x="7484364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설명해요</a:t>
            </a:r>
            <a:endParaRPr lang="ko-KR" sz="4400" dirty="0"/>
          </a:p>
        </p:txBody>
      </p:sp>
      <p:sp>
        <p:nvSpPr>
          <p:cNvPr id="3" name="S09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말로 설명하고, ③은 쌓아요.</a:t>
            </a:r>
            <a:endParaRPr lang="ko-KR" sz="3200" dirty="0"/>
          </a:p>
        </p:txBody>
      </p:sp>
      <p:sp>
        <p:nvSpPr>
          <p:cNvPr id="4" name="S09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층에, 어느 쌓기나무의 어느 쪽?</a:t>
            </a:r>
            <a:endParaRPr lang="ko-KR" sz="3200" dirty="0"/>
          </a:p>
        </p:txBody>
      </p:sp>
      <p:sp>
        <p:nvSpPr>
          <p:cNvPr id="6" name="S09-cell11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1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1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1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2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2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122" descr="한 줄로 쌓은 모양: 1층 3개, 맨 왼쪽과 맨 오른쪽 위에 1개씩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12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9-cell124"/>
          <p:cNvSpPr/>
          <p:nvPr/>
        </p:nvSpPr>
        <p:spPr>
          <a:xfrm>
            <a:off x="5362956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25"/>
          <p:cNvSpPr/>
          <p:nvPr/>
        </p:nvSpPr>
        <p:spPr>
          <a:xfrm>
            <a:off x="6094476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26"/>
          <p:cNvSpPr/>
          <p:nvPr/>
        </p:nvSpPr>
        <p:spPr>
          <a:xfrm>
            <a:off x="536295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27"/>
          <p:cNvSpPr/>
          <p:nvPr/>
        </p:nvSpPr>
        <p:spPr>
          <a:xfrm>
            <a:off x="609447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figure128" descr="한 줄로 쌓은 모양: 1층 2개, 왼쪽 쌓기나무 위에 1개"/>
          <p:cNvSpPr/>
          <p:nvPr/>
        </p:nvSpPr>
        <p:spPr>
          <a:xfrm>
            <a:off x="5362956" y="2575179"/>
            <a:ext cx="14630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9-label12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0" name="S09-bigtext130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1개를 놓고,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앞에 1개,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1개</a:t>
            </a:r>
            <a:endParaRPr lang="ko-KR" sz="2800" dirty="0"/>
          </a:p>
        </p:txBody>
      </p:sp>
      <p:sp>
        <p:nvSpPr>
          <p:cNvPr id="21" name="S09-label131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몇 개? ②는 쌓고, ③은 설명해요.</a:t>
            </a:r>
            <a:endParaRPr lang="ko-KR" sz="3200" dirty="0"/>
          </a:p>
        </p:txBody>
      </p:sp>
      <p:sp>
        <p:nvSpPr>
          <p:cNvPr id="4" name="S10-cell133"/>
          <p:cNvSpPr/>
          <p:nvPr/>
        </p:nvSpPr>
        <p:spPr>
          <a:xfrm>
            <a:off x="82753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cell134"/>
          <p:cNvSpPr/>
          <p:nvPr/>
        </p:nvSpPr>
        <p:spPr>
          <a:xfrm>
            <a:off x="155905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cell135"/>
          <p:cNvSpPr/>
          <p:nvPr/>
        </p:nvSpPr>
        <p:spPr>
          <a:xfrm>
            <a:off x="229057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136"/>
          <p:cNvSpPr/>
          <p:nvPr/>
        </p:nvSpPr>
        <p:spPr>
          <a:xfrm>
            <a:off x="302209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137"/>
          <p:cNvSpPr/>
          <p:nvPr/>
        </p:nvSpPr>
        <p:spPr>
          <a:xfrm>
            <a:off x="82753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138"/>
          <p:cNvSpPr/>
          <p:nvPr/>
        </p:nvSpPr>
        <p:spPr>
          <a:xfrm>
            <a:off x="155905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139"/>
          <p:cNvSpPr/>
          <p:nvPr/>
        </p:nvSpPr>
        <p:spPr>
          <a:xfrm>
            <a:off x="229057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140"/>
          <p:cNvSpPr/>
          <p:nvPr/>
        </p:nvSpPr>
        <p:spPr>
          <a:xfrm>
            <a:off x="302209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141" descr="한 줄로 쌓은 모양: 1층 4개, 가운데 두 쌓기나무 위에 1개씩"/>
          <p:cNvSpPr/>
          <p:nvPr/>
        </p:nvSpPr>
        <p:spPr>
          <a:xfrm>
            <a:off x="827532" y="3123819"/>
            <a:ext cx="29260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142"/>
          <p:cNvSpPr txBox="1"/>
          <p:nvPr/>
        </p:nvSpPr>
        <p:spPr>
          <a:xfrm>
            <a:off x="548640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10-bigtext143"/>
          <p:cNvSpPr txBox="1"/>
          <p:nvPr/>
        </p:nvSpPr>
        <p:spPr>
          <a:xfrm>
            <a:off x="4352544" y="2011680"/>
            <a:ext cx="3483864" cy="3687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쌓기나무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2개 더</a:t>
            </a:r>
            <a:endParaRPr lang="ko-KR" sz="2800" dirty="0"/>
          </a:p>
        </p:txBody>
      </p:sp>
      <p:sp>
        <p:nvSpPr>
          <p:cNvPr id="15" name="S10-label144"/>
          <p:cNvSpPr txBox="1"/>
          <p:nvPr/>
        </p:nvSpPr>
        <p:spPr>
          <a:xfrm>
            <a:off x="4352544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0-cell145"/>
          <p:cNvSpPr/>
          <p:nvPr/>
        </p:nvSpPr>
        <p:spPr>
          <a:xfrm>
            <a:off x="8801100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46"/>
          <p:cNvSpPr/>
          <p:nvPr/>
        </p:nvSpPr>
        <p:spPr>
          <a:xfrm>
            <a:off x="953262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47"/>
          <p:cNvSpPr/>
          <p:nvPr/>
        </p:nvSpPr>
        <p:spPr>
          <a:xfrm>
            <a:off x="1026414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48"/>
          <p:cNvSpPr/>
          <p:nvPr/>
        </p:nvSpPr>
        <p:spPr>
          <a:xfrm>
            <a:off x="880110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49"/>
          <p:cNvSpPr/>
          <p:nvPr/>
        </p:nvSpPr>
        <p:spPr>
          <a:xfrm>
            <a:off x="953262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50"/>
          <p:cNvSpPr/>
          <p:nvPr/>
        </p:nvSpPr>
        <p:spPr>
          <a:xfrm>
            <a:off x="1026414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151" descr="한 줄로 쌓은 모양: 1층 3개, 가운데와 오른쪽 위에 1개씩"/>
          <p:cNvSpPr/>
          <p:nvPr/>
        </p:nvSpPr>
        <p:spPr>
          <a:xfrm>
            <a:off x="8801100" y="312381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152"/>
          <p:cNvSpPr txBox="1"/>
          <p:nvPr/>
        </p:nvSpPr>
        <p:spPr>
          <a:xfrm>
            <a:off x="8156448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맞는 모양은?</a:t>
            </a:r>
            <a:endParaRPr lang="ko-KR" sz="4400" dirty="0"/>
          </a:p>
        </p:txBody>
      </p:sp>
      <p:sp>
        <p:nvSpPr>
          <p:cNvPr id="3" name="S12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3개, 맨 오른쪽 쌓기나무 위에 1개</a:t>
            </a:r>
            <a:endParaRPr lang="ko-KR" sz="3200" dirty="0"/>
          </a:p>
        </p:txBody>
      </p:sp>
      <p:sp>
        <p:nvSpPr>
          <p:cNvPr id="4" name="S12-card1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57"/>
          <p:cNvSpPr/>
          <p:nvPr/>
        </p:nvSpPr>
        <p:spPr>
          <a:xfrm>
            <a:off x="766572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58"/>
          <p:cNvSpPr/>
          <p:nvPr/>
        </p:nvSpPr>
        <p:spPr>
          <a:xfrm>
            <a:off x="177241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59"/>
          <p:cNvSpPr/>
          <p:nvPr/>
        </p:nvSpPr>
        <p:spPr>
          <a:xfrm>
            <a:off x="277825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60"/>
          <p:cNvSpPr/>
          <p:nvPr/>
        </p:nvSpPr>
        <p:spPr>
          <a:xfrm>
            <a:off x="76657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61"/>
          <p:cNvSpPr/>
          <p:nvPr/>
        </p:nvSpPr>
        <p:spPr>
          <a:xfrm>
            <a:off x="177241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62"/>
          <p:cNvSpPr/>
          <p:nvPr/>
        </p:nvSpPr>
        <p:spPr>
          <a:xfrm>
            <a:off x="277825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63" descr="1층 3개, 맨 왼쪽 위에 1개"/>
          <p:cNvSpPr/>
          <p:nvPr/>
        </p:nvSpPr>
        <p:spPr>
          <a:xfrm>
            <a:off x="766572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6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65"/>
          <p:cNvSpPr/>
          <p:nvPr/>
        </p:nvSpPr>
        <p:spPr>
          <a:xfrm>
            <a:off x="458571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66"/>
          <p:cNvSpPr/>
          <p:nvPr/>
        </p:nvSpPr>
        <p:spPr>
          <a:xfrm>
            <a:off x="5591556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67"/>
          <p:cNvSpPr/>
          <p:nvPr/>
        </p:nvSpPr>
        <p:spPr>
          <a:xfrm>
            <a:off x="659739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68"/>
          <p:cNvSpPr/>
          <p:nvPr/>
        </p:nvSpPr>
        <p:spPr>
          <a:xfrm>
            <a:off x="458571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69"/>
          <p:cNvSpPr/>
          <p:nvPr/>
        </p:nvSpPr>
        <p:spPr>
          <a:xfrm>
            <a:off x="559155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70"/>
          <p:cNvSpPr/>
          <p:nvPr/>
        </p:nvSpPr>
        <p:spPr>
          <a:xfrm>
            <a:off x="659739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71" descr="1층 3개, 가운데 위에 1개"/>
          <p:cNvSpPr/>
          <p:nvPr/>
        </p:nvSpPr>
        <p:spPr>
          <a:xfrm>
            <a:off x="4585716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7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73"/>
          <p:cNvSpPr/>
          <p:nvPr/>
        </p:nvSpPr>
        <p:spPr>
          <a:xfrm>
            <a:off x="840486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74"/>
          <p:cNvSpPr/>
          <p:nvPr/>
        </p:nvSpPr>
        <p:spPr>
          <a:xfrm>
            <a:off x="941070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75"/>
          <p:cNvSpPr/>
          <p:nvPr/>
        </p:nvSpPr>
        <p:spPr>
          <a:xfrm>
            <a:off x="10416540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76"/>
          <p:cNvSpPr/>
          <p:nvPr/>
        </p:nvSpPr>
        <p:spPr>
          <a:xfrm>
            <a:off x="840486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77"/>
          <p:cNvSpPr/>
          <p:nvPr/>
        </p:nvSpPr>
        <p:spPr>
          <a:xfrm>
            <a:off x="941070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78"/>
          <p:cNvSpPr/>
          <p:nvPr/>
        </p:nvSpPr>
        <p:spPr>
          <a:xfrm>
            <a:off x="1041654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79" descr="1층 3개, 맨 오른쪽 위에 1개"/>
          <p:cNvSpPr/>
          <p:nvPr/>
        </p:nvSpPr>
        <p:spPr>
          <a:xfrm>
            <a:off x="8404860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세고, 어느 쌓기나무의 어느 쪽인지 말해요.</a:t>
            </a:r>
            <a:endParaRPr lang="ko-KR" sz="3200" dirty="0"/>
          </a:p>
        </p:txBody>
      </p:sp>
      <p:sp>
        <p:nvSpPr>
          <p:cNvPr id="5" name="S13-chip18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1층부터 층별로 세기</a:t>
            </a:r>
            <a:endParaRPr lang="ko-KR" sz="2600" dirty="0"/>
          </a:p>
        </p:txBody>
      </p:sp>
      <p:sp>
        <p:nvSpPr>
          <p:cNvPr id="6" name="S13-chip18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‘위에’만 말하기</a:t>
            </a:r>
            <a:endParaRPr lang="ko-KR" sz="2600" dirty="0"/>
          </a:p>
        </p:txBody>
      </p:sp>
      <p:sp>
        <p:nvSpPr>
          <p:cNvPr id="7" name="S13-text18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8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1층 4개,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1개는 모두?</a:t>
            </a:r>
            <a:endParaRPr lang="ko-KR" sz="2600" dirty="0"/>
          </a:p>
        </p:txBody>
      </p:sp>
      <p:sp>
        <p:nvSpPr>
          <p:cNvPr id="9" name="S13-text18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‘왼쪽’과 반대인 말은?</a:t>
            </a:r>
            <a:endParaRPr lang="ko-KR" sz="2600" dirty="0"/>
          </a:p>
        </p:txBody>
      </p:sp>
      <p:sp>
        <p:nvSpPr>
          <p:cNvPr id="10" name="S13-text18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3개로 2층 모양을 쌓고 말해요.</a:t>
            </a:r>
            <a:endParaRPr lang="ko-KR" sz="2600" dirty="0"/>
          </a:p>
        </p:txBody>
      </p:sp>
      <p:sp>
        <p:nvSpPr>
          <p:cNvPr id="11" name="S13-text1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 재기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위치를 말해요</a:t>
            </a:r>
            <a:endParaRPr lang="ko-KR" sz="4400" dirty="0"/>
          </a:p>
        </p:txBody>
      </p:sp>
      <p:sp>
        <p:nvSpPr>
          <p:cNvPr id="3" name="S14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가운데 두고 쌓기나무를 놓아요.</a:t>
            </a:r>
            <a:endParaRPr lang="ko-KR" sz="3200" dirty="0"/>
          </a:p>
        </p:txBody>
      </p:sp>
      <p:sp>
        <p:nvSpPr>
          <p:cNvPr id="4" name="S14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볼 때를 기준으로 말해요.</a:t>
            </a:r>
            <a:endParaRPr lang="ko-KR" sz="3200" dirty="0"/>
          </a:p>
        </p:txBody>
      </p:sp>
      <p:sp>
        <p:nvSpPr>
          <p:cNvPr id="6" name="S14-word192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3600" dirty="0"/>
          </a:p>
        </p:txBody>
      </p:sp>
      <p:sp>
        <p:nvSpPr>
          <p:cNvPr id="7" name="S14-word193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endParaRPr lang="ko-KR" sz="3600" dirty="0"/>
          </a:p>
        </p:txBody>
      </p:sp>
      <p:sp>
        <p:nvSpPr>
          <p:cNvPr id="8" name="S14-word194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3600" dirty="0"/>
          </a:p>
        </p:txBody>
      </p:sp>
      <p:sp>
        <p:nvSpPr>
          <p:cNvPr id="9" name="S14-word195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</a:t>
            </a:r>
            <a:endParaRPr lang="ko-KR" sz="3600" dirty="0"/>
          </a:p>
        </p:txBody>
      </p:sp>
      <p:sp>
        <p:nvSpPr>
          <p:cNvPr id="10" name="S14-word196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</a:t>
            </a:r>
            <a:endParaRPr lang="ko-KR" sz="3600" dirty="0"/>
          </a:p>
        </p:txBody>
      </p:sp>
      <p:sp>
        <p:nvSpPr>
          <p:cNvPr id="11" name="S14-word197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쌓기나무</dc:title>
  <dc:subject>KR22-G02-MAT-BLOCKS-L01</dc:subject>
  <dc:creator>education-ppt</dc:creator>
  <cp:lastModifiedBy>education-ppt</cp:lastModifiedBy>
  <cp:revision>1</cp:revision>
  <dcterms:created xsi:type="dcterms:W3CDTF">2026-10-26T07:46:09Z</dcterms:created>
  <dcterms:modified xsi:type="dcterms:W3CDTF">2026-10-26T07:46:09Z</dcterms:modified>
</cp:coreProperties>
</file>