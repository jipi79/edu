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b9c40f9-cde7-459b-324e-fdaf76a71622}">
          <p14:sldIdLst>
            <p14:sldId id="256"/>
            <p14:sldId id="257"/>
          </p14:sldIdLst>
        </p14:section>
        <p14:section name="개념" id="{be62e986-8407-fea8-f11c-a03a440d1f28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5fd76a4b-f8c2-fd25-8c5b-71d40ee91d20}">
          <p14:sldIdLst>
            <p14:sldId id="264"/>
          </p14:sldIdLst>
        </p14:section>
        <p14:section name="확인" id="{527f0b43-83e3-726a-9154-6d9f76aa7410}">
          <p14:sldIdLst>
            <p14:sldId id="265"/>
            <p14:sldId id="266"/>
            <p14:sldId id="267"/>
          </p14:sldIdLst>
        </p14:section>
        <p14:section name="정리" id="{c6885b0d-62c2-8b36-d951-4ccdf0f4c543}">
          <p14:sldIdLst>
            <p14:sldId id="268"/>
          </p14:sldIdLst>
        </p14:section>
        <p14:section name="보충" id="{2edc0738-ff7e-98d9-a088-d9ee33898db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1학년의 세모·네모·동그라미 모양에서 도형의 정확한 이름으로 넘어간다는 것을 알립니다.
시간: 약 2분
이렇게 말해 보세요
- “1학년 때 세모, 네모, 동그라미 모양을 찾았지? 오늘은 도형마다 진짜 이름을 붙여 볼 거야.”
- “오른쪽 도형들은 무엇이 서로 다를까?”
예상 답
- “뾰족한 곳 개수가 달라요.” “하나는 동그래요.”
막히면
- 답을 확인하지 말고 넘어갑니다. S03에서 자세히 봅니다.
주의
- 오늘은 면봉(또는 빨대 조각)과 컵을 씁니다. 면봉 끝이 뾰족하지 않은지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확인(세모·네모·동그라미 모양)]
목적: 1학년에서 배운 세모·네모·동그라미 모양을 구별하고, 뾰족한 부분을 셀 수 있는지 확인합니다.
시간: 약 3분
이렇게 말해 보세요
- “①, ②, ③은 각각 무슨 모양이야?”
- “뾰족한 곳은 몇 군데씩 있어?”
정답
- ① 세모 모양, 뾰족한 곳 3군데
- ② 네모 모양, 뾰족한 곳 4군데
- ③ 동그라미 모양, 뾰족한 곳 없음
막히면
- 손가락으로 테두리를 따라가며 뾰족한 곳에서 ‘콕’ 하고 멈춥니다.
- 두 개 이상 헷갈리면 S14(보충)를 먼저 합니다. 보충으로도 어려우면 1학년 ‘네모·세모·동그라미 모양’(KR22-G01-MAT-SHAPE2D-L01)을 다시 합니다.
주의
- 오늘부터는 ‘세모 모양’ 대신 ‘삼각형’, ‘네모 모양’ 대신 ‘사각형’, ‘동그라미 모양’ 대신 ‘원’이라는 이름을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변과 꼭짓점의 뜻]
목적: 변(곧은 선)과 꼭짓점(두 곧은 선이 만나는 점)의 뜻을 알고 삼각형에서 찾습니다.
시간: 약 3분
이렇게 말해 보세요
- “이 도형의 곧은 선을 손가락으로 따라가 볼까? 곧은 선을 ‘변’이라고 해. 변이 몇 개야?”
- “곧은 선 두 개가 만나는 뾰족한 점을 ‘꼭짓점’이라고 해. 꼭짓점은 몇 개야?”
예상 답
- “변이 3개요.” “꼭짓점도 3개요.”
막히면
- 부모가 변 하나를 손가락으로 쓸며 “변 하나”, 아이가 다음 변을 쓸며 “변 둘”처럼 번갈아 셉니다.
- 꼭짓점은 화면을 짚으며 ‘콕, 콕, 콕’ 소리를 내어 셉니다.
주의
- 변이 3개, 꼭짓점이 3개인 도형을 ‘삼각형’이라고 합니다. ‘삼’은 셋이라는 뜻이라고 알려 주면 이름을 기억하기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면봉으로 도형 만들기(구체물)]
목적: 면봉 하나가 변 하나, 면봉 끝이 만나는 곳이 꼭짓점이라는 것을 손으로 만들며 압니다.
시간: 약 4분
이렇게 말해 보세요
- “면봉 3개로 안쪽이 막힌 도형을 만들어 볼까? 면봉 하나가 변 하나야. 변이 몇 개야?”
- “면봉 끝이 서로 만나는 곳이 꼭짓점이야. 몇 군데야? 면봉 4개, 5개, 6개로도 만들어 보자.”
예상 답
- “면봉 3개면 변 3개, 꼭짓점 3개예요.”
- “4개로 만들면 꼭짓점도 4개예요.” (5개면 5개, 6개면 6개)
막히면
- 면봉 끝이 서로 떨어져 틈이 있으면 “안쪽이 막혔어?”라고 묻고 끝을 붙이게 합니다(M4).
- 5개, 6개가 어려우면 부모가 면봉 두 개를 먼저 놓아 주고 이어 붙이게 합니다.
주의
- 만든 도형을 모두 남겨 두려면 면봉이 3 + 4 + 5 + 6 = 18개 필요합니다. 6개만 있으면 만들고 세고 다시 풀어 씁니다.
- 면봉 대신 같은 길이로 자른 빨대나 이쑤시개를 쓸 수 있지만, 이쑤시개는 끝이 뾰족하니 부모가 함께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변의 수에 따른 도형의 이름]
목적: 변이 3개, 4개, 5개, 6개인 도형을 삼각형, 사각형, 오각형, 육각형이라고 부른다는 것을 알고, 변의 수와 꼭짓점의 수가 같다는 것을 봅니다.
시간: 약 3분
이렇게 말해 보세요
- “S04에서 면봉 5개로 만든 도형은 변이 5개였지? 그 도형을 ‘오각형’이라고 해. 6개면?”
- “변의 수와 꼭짓점의 수를 비교해 볼까? 어떤 점이 보여?”
예상 답
- “육각형이요.”
- “변이랑 꼭짓점 수가 같아요.”
막히면
- S04에서 만든 면봉 도형을 하나씩 들어 화면의 도형과 짝 지어 봅니다.
주의
- 삼(3)·사(4)·오(5)·육(6)은 수를 세는 말이고, ‘각형’ 앞의 수가 변(꼭짓점)의 수입니다.
- 육각형은 오각형보다 변이 1개 많습니다. 이름의 수가 클수록 변이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연습(변·꼭짓점 세고 이름 붙이기)]
목적: 도움을 받으며 여러 도형의 변과 꼭짓점을 세고, 그 수로 이름을 붙입니다.
시간: 약 4분
이렇게 말해 보세요
- “①부터 하나씩 해 보자. 변은 몇 개, 꼭짓점은 몇 개야? 그러면 이름은 뭘까?”
- “세기 시작한 꼭짓점을 손가락으로 꼭 눌러 두고, 다시 돌아오면 멈추자.”
정답
- ① 변 6개, 꼭짓점 6개, 육각형
- ② 변 3개, 꼭짓점 3개, 삼각형
- ③ 변 4개, 꼭짓점 4개, 사각형
- ④ 변 5개, 꼭짓점 5개, 오각형
막히면
- 화면 대신 활동지 뒷면이나 종이에 비슷하게 그려 주고, 꼭짓점에 연필로 점을 찍으며 셉니다(M3).
- ②가 삼각형처럼 보이지 않는다고 하면 변을 하나씩 짚어 3개뿐임을 확인합니다.
주의
- ②는 한쪽이 반듯한 삼각형, ③은 위가 짧은 사각형입니다. 모양이 달라도 변의 수로 이름을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다루기(기울어진 사각형)]
목적: 기울어지거나 모양이 달라도 변과 꼭짓점이 4개면 사각형이라는 것을 확인합니다(M1).
시간: 약 3분
이렇게 말해 보세요
- “사각형을 모두 찾아볼까? 반듯하지 않아도 괜찮아. 변과 꼭짓점을 세어 봐.”
- “다는 기울어져 있는데, 사각형일까 아닐까? 왜?”
예상 답
- “가, 다, 라요. 다 변이 4개예요.”
정답
- 가, 다, 라가 사각형입니다. 모두 변 4개, 꼭짓점 4개입니다.
- 나는 변 3개, 꼭짓점 3개인 삼각형입니다.
막히면
- 면봉 4개로 반듯한 사각형을 만든 뒤 한쪽으로 밀어 기울게 해 봅니다. “면봉 수가 바뀌었어? 그럼 여전히 사각형이야.”(M1)
주의
- 가·다·라처럼 생긴 사각형의 이름(평행사변형, 마름모, 사다리꼴)은 4학년에서 배웁니다. 오늘은 모두 ‘사각형’이라고만 합니다.
- 지치면 여기서 쉬고, 다음에 S08(원)부터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원의 특징]
목적: 원의 특징(곧은 선·꼭짓점이 없음, 어느 쪽에서 보아도 똑같이 동그란 모양)과 크기가 달라도 원이라는 것을 압니다.
시간: 약 4분
이렇게 말해 보세요
- “컵을 종이에 대고 연필로 따라 그려 볼까? 이런 모양을 ‘원’이라고 해.”
- “원에 곧은 선이 있어? 뾰족한 꼭짓점은? 종이를 돌려 봐도 모양이 똑같아?”
예상 답
- “곧은 선이 없어요. 둥글게 굽은 선만 있어요.”
- “꼭짓점이 없어요. 돌려도 똑같아요.”
막히면
- 병뚜껑과 컵으로 크기가 다른 원을 두 개 그리고, “크기는 다르지만 모양은 같지?”라고 묻습니다.
- 손가락으로 원을 따라가며 ‘콕’ 멈출 곳(꼭짓점)이 있는지 찾아봅니다.
주의
- 달걀처럼 길쭉한 모양은 원이 아닙니다. 어느 쪽에서 보아도 똑같이 동그래야 원입니다.
- 원의 중심과 반지름은 3학년에서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비교(원의 변은 1개?)]
목적: 변은 곧은 선이라는 뜻을 다시 확인하고, 원에는 변과 꼭짓점이 없음을 말합니다(M2).
시간: 약 3분
이렇게 말해 보세요
- “토끼와 곰이 원의 변을 세었는데 생각이 달라. 누가 맞았을까?”
- “변은 어떤 선이었지? 원의 선은 곧아, 굽었어?”
예상 답
- “곰이요. 원의 선은 구부러져 있어서 변이 아니에요.”
정답
- 곰이 맞습니다. 변은 곧은 선이고, 원은 굽은 선으로만 둘러싸여 있어 변이 없습니다.
- 곧은 선이 없으니 두 곧은 선이 만나는 꼭짓점도 없습니다.
막히면
- 면봉(곧은 선)을 원 위에 대어 보고, 원의 선과 겹치지 않는다는 것을 보여 줍니다.
주의
- “그럼 원은 몇 각형이야?”라고 물으면 “원은 각형이 아니라 원이라는 다른 도형”이라고 답해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변과 꼭짓점을 세어 도형의 이름을 말하고, 이름에서 꼭짓점의 수를 알 수 있는지 확인합니다.
시간: 약 5분
이렇게 말해 보세요
- “이번에는 혼자 해 볼래? ①, ②는 이름과 변의 수를 말해 줘.”
- “③, ④는 그림이 없어. 머릿속으로 떠올리거나 종이에 그려 봐도 돼.”
정답
- ① 사각형 (변 4개, 꼭짓점 4개)
- ② 육각형 (변 6개, 꼭짓점 6개)
- ③ 오각형
- ④ 3 + 6 = 9, 9개
막히면
- 바로 알려 주지 말고 “꼭짓점에 점을 찍으며 세어 볼까?”라고만 말합니다.
- 도움을 받아 해결했다면 기록표에 ‘도움’으로 표시합니다.
주의
- ①을 ‘기울어서 사각형이 아니에요’라고 하면 S07로 돌아가 면봉 사각형을 기울여 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같이 다시 세어 보자.”
정답
- ① 사각형 ② 육각형 ③ 오각형 ④ 9개
막히면
- ①을 사각형이 아니라고 했으면 S07을 다시 봅니다(M1).
- ②를 오각형이나 칠각형이라고 했으면 센 꼭짓점에 점을 찍으며 다시 셉니다(M3).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확인(원 고르기)]
목적: 처음 보는 그림에서 크기가 다른 원을 모두 고르고, 원이 아닌 도형의 까닭을 말하는지 확인합니다.
시간: 약 2분
이렇게 말해 보세요
- “원을 모두 찾아볼까? 원이 아닌 것은 왜 원이 아닐까?”
정답
- 가, 다가 원입니다. 크기는 달라도 곧은 선과 꼭짓점이 없고 어느 쪽에서 보아도 똑같이 동그랗습니다.
- 나는 곧은 선(변) 6개와 꼭짓점 6개가 있는 육각형이라 원이 아닙니다.
막히면
- S08의 세 가지 특징을 하나씩 물으며 보기마다 확인합니다.
주의
- 다만 고르고 가를 빠뜨렸다면 ‘작으면 원이 아니다’라고 생각한 것입니다. 병뚜껑과 컵으로 그린 두 원을 다시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“변은 무엇이고 꼭짓점은 무엇이었지?”
- “원은 삼각형, 사각형과 무엇이 달랐어?”
예상 답
- “변은 곧은 선, 꼭짓점은 곧은 선 두 개가 만나는 점이에요.”
- “원은 곧은 선도 꼭짓점도 없어요.”
정답
- ① 육각형 ② 0개(없음) ③ 6개 (3 × 2 = 6 또는 3 + 3 = 6)
막히면
- S05의 네 도형과 S08의 원을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보충(세모·네모·동그라미 모양)]
목적: S02에서 모양 구별이 흔들리면, 오늘 도형을 배우기 전에 뾰족한 곳(꼭짓점)을 세는 것부터 다시 합니다.
시간: 약 5분
이렇게 말해 보세요
- “세모 모양의 뾰족한 곳을 손가락으로 콕콕 눌러 볼까? 몇 군데야? 네모는? 동그라미는?”
- “집에서 세모, 네모, 동그라미 모양 물건을 하나씩 찾아올래?”
정답
- 세모 모양 3군데, 네모 모양 4군데, 동그라미 모양은 없음
막히면
- 실제 물건(삼각김밥 포장, 책, 접시)의 테두리를 손가락으로 따라가며 뾰족한 곳에서 멈춥니다.
- 센 곳에 스티커나 연필 점을 붙여 두 번 세지 않게 합니다.
주의
- 보충으로도 어려우면 1학년 ‘네모·세모·동그라미 모양’(KR22-G01-MAT-SHAPE2D-L01)을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여러 가지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여러 가지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여러 가지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도형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이름은 어떻게 정할까?</a:t>
            </a:r>
            <a:endParaRPr lang="ko-KR" sz="3200" dirty="0"/>
          </a:p>
        </p:txBody>
      </p:sp>
      <p:sp>
        <p:nvSpPr>
          <p:cNvPr id="4" name="S01-figure1" descr="triangle"/>
          <p:cNvSpPr/>
          <p:nvPr/>
        </p:nvSpPr>
        <p:spPr>
          <a:xfrm>
            <a:off x="7864450" y="1605603"/>
            <a:ext cx="943661" cy="857873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figure2" descr="pentagon"/>
          <p:cNvSpPr/>
          <p:nvPr/>
        </p:nvSpPr>
        <p:spPr>
          <a:xfrm>
            <a:off x="9175090" y="1585178"/>
            <a:ext cx="943661" cy="898725"/>
          </a:xfrm>
          <a:prstGeom prst="pent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figure3" descr="circle"/>
          <p:cNvSpPr/>
          <p:nvPr/>
        </p:nvSpPr>
        <p:spPr>
          <a:xfrm>
            <a:off x="10485730" y="1562710"/>
            <a:ext cx="943661" cy="94366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변과 꼭짓점을 세어 도형의 이름을 알아요.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원의 특징을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4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모양인지 말해요.</a:t>
            </a:r>
            <a:endParaRPr lang="ko-KR" sz="32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figure8" descr="triangle"/>
          <p:cNvSpPr/>
          <p:nvPr/>
        </p:nvSpPr>
        <p:spPr>
          <a:xfrm>
            <a:off x="3515868" y="2063635"/>
            <a:ext cx="1143000" cy="103909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2-chip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figure10" descr="rect"/>
          <p:cNvSpPr/>
          <p:nvPr/>
        </p:nvSpPr>
        <p:spPr>
          <a:xfrm>
            <a:off x="3515868" y="3689033"/>
            <a:ext cx="1143000" cy="714375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1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figure12" descr="circle"/>
          <p:cNvSpPr/>
          <p:nvPr/>
        </p:nvSpPr>
        <p:spPr>
          <a:xfrm>
            <a:off x="3515868" y="4937760"/>
            <a:ext cx="1143000" cy="114300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변과 꼭짓점</a:t>
            </a:r>
            <a:endParaRPr lang="ko-KR" sz="44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삼각형을 살펴봐요.</a:t>
            </a:r>
            <a:endParaRPr lang="ko-KR" sz="3200" dirty="0"/>
          </a:p>
        </p:txBody>
      </p:sp>
      <p:sp>
        <p:nvSpPr>
          <p:cNvPr id="4" name="S03-figure14" descr="삼각형"/>
          <p:cNvSpPr/>
          <p:nvPr/>
        </p:nvSpPr>
        <p:spPr>
          <a:xfrm>
            <a:off x="1949958" y="2651298"/>
            <a:ext cx="2560320" cy="2327564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3-label15"/>
          <p:cNvSpPr txBox="1"/>
          <p:nvPr/>
        </p:nvSpPr>
        <p:spPr>
          <a:xfrm>
            <a:off x="548640" y="5755640"/>
            <a:ext cx="5362956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</a:t>
            </a:r>
            <a:endParaRPr lang="ko-KR" sz="2600" dirty="0"/>
          </a:p>
        </p:txBody>
      </p:sp>
      <p:sp>
        <p:nvSpPr>
          <p:cNvPr id="6" name="S03-card16"/>
          <p:cNvSpPr/>
          <p:nvPr/>
        </p:nvSpPr>
        <p:spPr>
          <a:xfrm>
            <a:off x="6277356" y="2495042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7"/>
          <p:cNvSpPr txBox="1"/>
          <p:nvPr/>
        </p:nvSpPr>
        <p:spPr>
          <a:xfrm>
            <a:off x="6551676" y="2632202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곧은 선이에요.</a:t>
            </a:r>
            <a:endParaRPr lang="ko-KR" sz="3200" dirty="0"/>
          </a:p>
        </p:txBody>
      </p:sp>
      <p:sp>
        <p:nvSpPr>
          <p:cNvPr id="8" name="S03-card18"/>
          <p:cNvSpPr/>
          <p:nvPr/>
        </p:nvSpPr>
        <p:spPr>
          <a:xfrm>
            <a:off x="6277356" y="4027678"/>
            <a:ext cx="5362956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9"/>
          <p:cNvSpPr txBox="1"/>
          <p:nvPr/>
        </p:nvSpPr>
        <p:spPr>
          <a:xfrm>
            <a:off x="6551676" y="4164838"/>
            <a:ext cx="4814316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 두 개가 만나는 점이에요.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면봉으로 만들어요</a:t>
            </a:r>
            <a:endParaRPr lang="ko-KR" sz="4400" dirty="0"/>
          </a:p>
        </p:txBody>
      </p:sp>
      <p:sp>
        <p:nvSpPr>
          <p:cNvPr id="3" name="S04-figure20" descr="triangle"/>
          <p:cNvSpPr/>
          <p:nvPr/>
        </p:nvSpPr>
        <p:spPr>
          <a:xfrm>
            <a:off x="7251269" y="2931054"/>
            <a:ext cx="1698984" cy="154453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S04-figure21" descr="square"/>
          <p:cNvSpPr/>
          <p:nvPr/>
        </p:nvSpPr>
        <p:spPr>
          <a:xfrm>
            <a:off x="9610969" y="2853828"/>
            <a:ext cx="1698984" cy="1698984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4-stepno22"/>
          <p:cNvSpPr txBox="1"/>
          <p:nvPr/>
        </p:nvSpPr>
        <p:spPr>
          <a:xfrm>
            <a:off x="548640" y="2165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3"/>
          <p:cNvSpPr txBox="1"/>
          <p:nvPr/>
        </p:nvSpPr>
        <p:spPr>
          <a:xfrm>
            <a:off x="1325880" y="2119884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면봉 3개로 빈틈없이 막힌 도형을 만들어요.</a:t>
            </a:r>
            <a:endParaRPr lang="ko-KR" sz="3200" dirty="0"/>
          </a:p>
        </p:txBody>
      </p:sp>
      <p:sp>
        <p:nvSpPr>
          <p:cNvPr id="7" name="S04-stepno24"/>
          <p:cNvSpPr txBox="1"/>
          <p:nvPr/>
        </p:nvSpPr>
        <p:spPr>
          <a:xfrm>
            <a:off x="548640" y="3321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5"/>
          <p:cNvSpPr txBox="1"/>
          <p:nvPr/>
        </p:nvSpPr>
        <p:spPr>
          <a:xfrm>
            <a:off x="1325880" y="3276092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면봉 4개, 5개, 6개로도 만들어요.</a:t>
            </a:r>
            <a:endParaRPr lang="ko-KR" sz="3200" dirty="0"/>
          </a:p>
        </p:txBody>
      </p:sp>
      <p:sp>
        <p:nvSpPr>
          <p:cNvPr id="9" name="S04-stepno26"/>
          <p:cNvSpPr txBox="1"/>
          <p:nvPr/>
        </p:nvSpPr>
        <p:spPr>
          <a:xfrm>
            <a:off x="548640" y="447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7"/>
          <p:cNvSpPr txBox="1"/>
          <p:nvPr/>
        </p:nvSpPr>
        <p:spPr>
          <a:xfrm>
            <a:off x="1325880" y="4432300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면봉 끝이 만나는 곳을 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이름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수를 세어 이름을 붙여요.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548640" y="4511040"/>
            <a:ext cx="2601468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4648200"/>
            <a:ext cx="20528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3개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3개</a:t>
            </a:r>
            <a:endParaRPr lang="ko-KR" sz="3200" dirty="0"/>
          </a:p>
        </p:txBody>
      </p:sp>
      <p:sp>
        <p:nvSpPr>
          <p:cNvPr id="6" name="S05-card31"/>
          <p:cNvSpPr/>
          <p:nvPr/>
        </p:nvSpPr>
        <p:spPr>
          <a:xfrm>
            <a:off x="3378708" y="4511040"/>
            <a:ext cx="2601468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2"/>
          <p:cNvSpPr txBox="1"/>
          <p:nvPr/>
        </p:nvSpPr>
        <p:spPr>
          <a:xfrm>
            <a:off x="3653028" y="4648200"/>
            <a:ext cx="20528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4개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4개</a:t>
            </a:r>
            <a:endParaRPr lang="ko-KR" sz="3200" dirty="0"/>
          </a:p>
        </p:txBody>
      </p:sp>
      <p:sp>
        <p:nvSpPr>
          <p:cNvPr id="8" name="S05-card33"/>
          <p:cNvSpPr/>
          <p:nvPr/>
        </p:nvSpPr>
        <p:spPr>
          <a:xfrm>
            <a:off x="6208776" y="4511040"/>
            <a:ext cx="2601468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4"/>
          <p:cNvSpPr txBox="1"/>
          <p:nvPr/>
        </p:nvSpPr>
        <p:spPr>
          <a:xfrm>
            <a:off x="6483096" y="4648200"/>
            <a:ext cx="20528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5개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5개</a:t>
            </a:r>
            <a:endParaRPr lang="ko-KR" sz="3200" dirty="0"/>
          </a:p>
        </p:txBody>
      </p:sp>
      <p:sp>
        <p:nvSpPr>
          <p:cNvPr id="10" name="S05-card35"/>
          <p:cNvSpPr/>
          <p:nvPr/>
        </p:nvSpPr>
        <p:spPr>
          <a:xfrm>
            <a:off x="9038844" y="4511040"/>
            <a:ext cx="2601468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36"/>
          <p:cNvSpPr txBox="1"/>
          <p:nvPr/>
        </p:nvSpPr>
        <p:spPr>
          <a:xfrm>
            <a:off x="9313164" y="4648200"/>
            <a:ext cx="20528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육각형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6개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6개</a:t>
            </a:r>
            <a:endParaRPr lang="ko-KR" sz="3200" dirty="0"/>
          </a:p>
        </p:txBody>
      </p:sp>
      <p:sp>
        <p:nvSpPr>
          <p:cNvPr id="12" name="S05-figure37" descr="triangle"/>
          <p:cNvSpPr/>
          <p:nvPr/>
        </p:nvSpPr>
        <p:spPr>
          <a:xfrm>
            <a:off x="936849" y="2170980"/>
            <a:ext cx="1996501" cy="181500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3" name="S05-figure38" descr="square"/>
          <p:cNvSpPr/>
          <p:nvPr/>
        </p:nvSpPr>
        <p:spPr>
          <a:xfrm>
            <a:off x="3709767" y="2080230"/>
            <a:ext cx="1996501" cy="199650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4" name="S05-figure39" descr="pentagon"/>
          <p:cNvSpPr/>
          <p:nvPr/>
        </p:nvSpPr>
        <p:spPr>
          <a:xfrm>
            <a:off x="6482685" y="2127765"/>
            <a:ext cx="1996501" cy="1901429"/>
          </a:xfrm>
          <a:prstGeom prst="pent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5" name="S05-figure40" descr="hexagon"/>
          <p:cNvSpPr/>
          <p:nvPr/>
        </p:nvSpPr>
        <p:spPr>
          <a:xfrm>
            <a:off x="9255603" y="2210436"/>
            <a:ext cx="1996501" cy="1736088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세고 이름 붙이기</a:t>
            </a:r>
            <a:endParaRPr lang="ko-KR" sz="44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변과 꼭짓점을 세고 이름을 말해요.</a:t>
            </a:r>
            <a:endParaRPr lang="ko-KR" sz="3200" dirty="0"/>
          </a:p>
        </p:txBody>
      </p:sp>
      <p:sp>
        <p:nvSpPr>
          <p:cNvPr id="4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 꼭짓점에 점을 찍으며 세요.</a:t>
            </a:r>
            <a:endParaRPr lang="ko-KR" sz="3200" dirty="0"/>
          </a:p>
        </p:txBody>
      </p:sp>
      <p:sp>
        <p:nvSpPr>
          <p:cNvPr id="6" name="S06-chip4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figure45" descr="hexagon"/>
          <p:cNvSpPr/>
          <p:nvPr/>
        </p:nvSpPr>
        <p:spPr>
          <a:xfrm>
            <a:off x="2964942" y="2098150"/>
            <a:ext cx="1325880" cy="1152939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6-chip4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figure47" descr="rtriangle"/>
          <p:cNvSpPr/>
          <p:nvPr/>
        </p:nvSpPr>
        <p:spPr>
          <a:xfrm>
            <a:off x="8693658" y="2071947"/>
            <a:ext cx="1325880" cy="1205345"/>
          </a:xfrm>
          <a:prstGeom prst="rt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06-chip4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figure49" descr="trapezoid"/>
          <p:cNvSpPr/>
          <p:nvPr/>
        </p:nvSpPr>
        <p:spPr>
          <a:xfrm>
            <a:off x="2964942" y="3878580"/>
            <a:ext cx="1325880" cy="883920"/>
          </a:xfrm>
          <a:prstGeom prst="trapezoi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2" name="S06-chip5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6-figure51" descr="pentagon"/>
          <p:cNvSpPr/>
          <p:nvPr/>
        </p:nvSpPr>
        <p:spPr>
          <a:xfrm>
            <a:off x="8693658" y="3689169"/>
            <a:ext cx="1325880" cy="1262743"/>
          </a:xfrm>
          <a:prstGeom prst="pent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사각형을 모두 찾아요</a:t>
            </a:r>
            <a:endParaRPr lang="ko-KR" sz="4400" dirty="0"/>
          </a:p>
        </p:txBody>
      </p:sp>
      <p:sp>
        <p:nvSpPr>
          <p:cNvPr id="3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200" dirty="0"/>
          </a:p>
        </p:txBody>
      </p:sp>
      <p:sp>
        <p:nvSpPr>
          <p:cNvPr id="5" name="S07-chip54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07-figure55" descr="parallelogram"/>
          <p:cNvSpPr/>
          <p:nvPr/>
        </p:nvSpPr>
        <p:spPr>
          <a:xfrm>
            <a:off x="2816352" y="1630204"/>
            <a:ext cx="1623060" cy="1014412"/>
          </a:xfrm>
          <a:prstGeom prst="parallelogram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7-chip5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07-figure57" descr="triangle"/>
          <p:cNvSpPr/>
          <p:nvPr/>
        </p:nvSpPr>
        <p:spPr>
          <a:xfrm>
            <a:off x="8545068" y="1399655"/>
            <a:ext cx="1623060" cy="1475509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7-chip5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07-figure59" descr="rhombus"/>
          <p:cNvSpPr/>
          <p:nvPr/>
        </p:nvSpPr>
        <p:spPr>
          <a:xfrm>
            <a:off x="2978658" y="3360420"/>
            <a:ext cx="1298448" cy="1623060"/>
          </a:xfrm>
          <a:prstGeom prst="diamon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7-chip60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2" name="S07-figure61" descr="trapezoid"/>
          <p:cNvSpPr/>
          <p:nvPr/>
        </p:nvSpPr>
        <p:spPr>
          <a:xfrm>
            <a:off x="8545068" y="3630930"/>
            <a:ext cx="1623060" cy="1082040"/>
          </a:xfrm>
          <a:prstGeom prst="trapezoi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원을 알아봐요</a:t>
            </a:r>
            <a:endParaRPr lang="ko-KR" sz="4400" dirty="0"/>
          </a:p>
        </p:txBody>
      </p:sp>
      <p:sp>
        <p:nvSpPr>
          <p:cNvPr id="3" name="S08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대고 따라 그리면 원이 돼요.</a:t>
            </a:r>
            <a:endParaRPr lang="ko-KR" sz="3200" dirty="0"/>
          </a:p>
        </p:txBody>
      </p:sp>
      <p:sp>
        <p:nvSpPr>
          <p:cNvPr id="4" name="S08-card63"/>
          <p:cNvSpPr/>
          <p:nvPr/>
        </p:nvSpPr>
        <p:spPr>
          <a:xfrm>
            <a:off x="548640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64"/>
          <p:cNvSpPr txBox="1"/>
          <p:nvPr/>
        </p:nvSpPr>
        <p:spPr>
          <a:xfrm>
            <a:off x="822960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선이 없어요.</a:t>
            </a:r>
            <a:endParaRPr lang="ko-KR" sz="3200" dirty="0"/>
          </a:p>
        </p:txBody>
      </p:sp>
      <p:sp>
        <p:nvSpPr>
          <p:cNvPr id="6" name="S08-card65"/>
          <p:cNvSpPr/>
          <p:nvPr/>
        </p:nvSpPr>
        <p:spPr>
          <a:xfrm>
            <a:off x="4322064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66"/>
          <p:cNvSpPr txBox="1"/>
          <p:nvPr/>
        </p:nvSpPr>
        <p:spPr>
          <a:xfrm>
            <a:off x="4596384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꼭짓점이 없어요.</a:t>
            </a:r>
            <a:endParaRPr lang="ko-KR" sz="3200" dirty="0"/>
          </a:p>
        </p:txBody>
      </p:sp>
      <p:sp>
        <p:nvSpPr>
          <p:cNvPr id="8" name="S08-card67"/>
          <p:cNvSpPr/>
          <p:nvPr/>
        </p:nvSpPr>
        <p:spPr>
          <a:xfrm>
            <a:off x="8095488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68"/>
          <p:cNvSpPr txBox="1"/>
          <p:nvPr/>
        </p:nvSpPr>
        <p:spPr>
          <a:xfrm>
            <a:off x="8369808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쪽에서 봐도 똑같이 동그래요.</a:t>
            </a:r>
            <a:endParaRPr lang="ko-KR" sz="3200" dirty="0"/>
          </a:p>
        </p:txBody>
      </p:sp>
      <p:sp>
        <p:nvSpPr>
          <p:cNvPr id="10" name="S08-figure69" descr="circle"/>
          <p:cNvSpPr/>
          <p:nvPr/>
        </p:nvSpPr>
        <p:spPr>
          <a:xfrm>
            <a:off x="2647188" y="2169795"/>
            <a:ext cx="1188720" cy="118872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8-label70"/>
          <p:cNvSpPr txBox="1"/>
          <p:nvPr/>
        </p:nvSpPr>
        <p:spPr>
          <a:xfrm>
            <a:off x="548640" y="3726942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원</a:t>
            </a:r>
            <a:endParaRPr lang="ko-KR" sz="2600" dirty="0"/>
          </a:p>
        </p:txBody>
      </p:sp>
      <p:sp>
        <p:nvSpPr>
          <p:cNvPr id="12" name="S08-figure71" descr="circle"/>
          <p:cNvSpPr/>
          <p:nvPr/>
        </p:nvSpPr>
        <p:spPr>
          <a:xfrm>
            <a:off x="8194929" y="2011680"/>
            <a:ext cx="1504950" cy="150495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3" name="S08-label72"/>
          <p:cNvSpPr txBox="1"/>
          <p:nvPr/>
        </p:nvSpPr>
        <p:spPr>
          <a:xfrm>
            <a:off x="6254496" y="3726942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7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7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변은 몇 개일까요?</a:t>
            </a:r>
            <a:endParaRPr lang="ko-KR" sz="3200" dirty="0"/>
          </a:p>
        </p:txBody>
      </p:sp>
      <p:sp>
        <p:nvSpPr>
          <p:cNvPr id="5" name="S09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9-chip7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1개</a:t>
            </a:r>
            <a:endParaRPr lang="ko-KR" sz="2600" dirty="0"/>
          </a:p>
        </p:txBody>
      </p:sp>
      <p:sp>
        <p:nvSpPr>
          <p:cNvPr id="8" name="S09-text7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“빙 둘러 이어진 선이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있으니까 1개예요.”</a:t>
            </a:r>
            <a:endParaRPr lang="ko-KR" sz="3200" dirty="0"/>
          </a:p>
        </p:txBody>
      </p:sp>
      <p:sp>
        <p:nvSpPr>
          <p:cNvPr id="9" name="S09-chip7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없어요</a:t>
            </a:r>
            <a:endParaRPr lang="ko-KR" sz="2600" dirty="0"/>
          </a:p>
        </p:txBody>
      </p:sp>
      <p:sp>
        <p:nvSpPr>
          <p:cNvPr id="10" name="S09-text8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“변은 곧은 선인데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원에는 곧은 선이 없어요.”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말하고, 어떻게 알았는지 말해요.</a:t>
            </a:r>
            <a:endParaRPr lang="ko-KR" sz="3200" dirty="0"/>
          </a:p>
        </p:txBody>
      </p:sp>
      <p:sp>
        <p:nvSpPr>
          <p:cNvPr id="4" name="S10-chip82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figure83" descr="rhombus"/>
          <p:cNvSpPr/>
          <p:nvPr/>
        </p:nvSpPr>
        <p:spPr>
          <a:xfrm>
            <a:off x="2878074" y="2011680"/>
            <a:ext cx="1499616" cy="1874520"/>
          </a:xfrm>
          <a:prstGeom prst="diamon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0-chip84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figure85" descr="hexagon"/>
          <p:cNvSpPr/>
          <p:nvPr/>
        </p:nvSpPr>
        <p:spPr>
          <a:xfrm>
            <a:off x="8419338" y="2133931"/>
            <a:ext cx="1874520" cy="1630017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0-chip8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8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꼭짓점이 5개인 도형은?</a:t>
            </a:r>
            <a:endParaRPr lang="ko-KR" sz="3200" dirty="0"/>
          </a:p>
        </p:txBody>
      </p:sp>
      <p:sp>
        <p:nvSpPr>
          <p:cNvPr id="10" name="S10-chip8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0-text8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삼각형과 육각형의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 모두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꼭짓점에 점을 찍으며 다시 세게 하세요.</a:t>
            </a:r>
            <a:endParaRPr lang="ko-KR" sz="3200" dirty="0"/>
          </a:p>
        </p:txBody>
      </p:sp>
      <p:sp>
        <p:nvSpPr>
          <p:cNvPr id="5" name="S11-chip9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93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사각형</a:t>
            </a:r>
            <a:endParaRPr lang="ko-KR" sz="3200" dirty="0"/>
          </a:p>
        </p:txBody>
      </p:sp>
      <p:sp>
        <p:nvSpPr>
          <p:cNvPr id="7" name="S11-text94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4개</a:t>
            </a:r>
            <a:endParaRPr lang="ko-KR" sz="2600" dirty="0"/>
          </a:p>
        </p:txBody>
      </p:sp>
      <p:sp>
        <p:nvSpPr>
          <p:cNvPr id="8" name="S11-text95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육각형</a:t>
            </a:r>
            <a:endParaRPr lang="ko-KR" sz="3200" dirty="0"/>
          </a:p>
        </p:txBody>
      </p:sp>
      <p:sp>
        <p:nvSpPr>
          <p:cNvPr id="9" name="S11-text96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6개</a:t>
            </a:r>
            <a:endParaRPr lang="ko-KR" sz="2600" dirty="0"/>
          </a:p>
        </p:txBody>
      </p:sp>
      <p:sp>
        <p:nvSpPr>
          <p:cNvPr id="10" name="S11-text97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오각형</a:t>
            </a:r>
            <a:endParaRPr lang="ko-KR" sz="3200" dirty="0"/>
          </a:p>
        </p:txBody>
      </p:sp>
      <p:sp>
        <p:nvSpPr>
          <p:cNvPr id="11" name="S11-text98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5개</a:t>
            </a:r>
            <a:endParaRPr lang="ko-KR" sz="2600" dirty="0"/>
          </a:p>
        </p:txBody>
      </p:sp>
      <p:sp>
        <p:nvSpPr>
          <p:cNvPr id="12" name="S11-text99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9개</a:t>
            </a:r>
            <a:endParaRPr lang="ko-KR" sz="3200" dirty="0"/>
          </a:p>
        </p:txBody>
      </p:sp>
      <p:sp>
        <p:nvSpPr>
          <p:cNvPr id="13" name="S11-text100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+ 6 = 9</a:t>
            </a:r>
            <a:endParaRPr lang="ko-KR" sz="2600" dirty="0"/>
          </a:p>
        </p:txBody>
      </p:sp>
      <p:sp>
        <p:nvSpPr>
          <p:cNvPr id="14" name="S11-chip10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1-text10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아님</a:t>
            </a:r>
            <a:endParaRPr lang="ko-KR" sz="3200" dirty="0"/>
          </a:p>
        </p:txBody>
      </p:sp>
      <p:sp>
        <p:nvSpPr>
          <p:cNvPr id="16" name="S11-text10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기울어서 착각</a:t>
            </a:r>
            <a:endParaRPr lang="ko-KR" sz="2600" dirty="0"/>
          </a:p>
        </p:txBody>
      </p:sp>
      <p:sp>
        <p:nvSpPr>
          <p:cNvPr id="17" name="S11-text10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오각형</a:t>
            </a:r>
            <a:endParaRPr lang="ko-KR" sz="3200" dirty="0"/>
          </a:p>
        </p:txBody>
      </p:sp>
      <p:sp>
        <p:nvSpPr>
          <p:cNvPr id="18" name="S11-text10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꼭짓점을 빠뜨림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원을 모두 찾아요</a:t>
            </a:r>
            <a:endParaRPr lang="ko-KR" sz="4400" dirty="0"/>
          </a:p>
        </p:txBody>
      </p:sp>
      <p:sp>
        <p:nvSpPr>
          <p:cNvPr id="3" name="S12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원이 아닌 것은 왜 아닐까요?</a:t>
            </a:r>
            <a:endParaRPr lang="ko-KR" sz="3200" dirty="0"/>
          </a:p>
        </p:txBody>
      </p:sp>
      <p:sp>
        <p:nvSpPr>
          <p:cNvPr id="5" name="S12-chip10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figure109" descr="circle"/>
          <p:cNvSpPr/>
          <p:nvPr/>
        </p:nvSpPr>
        <p:spPr>
          <a:xfrm>
            <a:off x="1726692" y="2958084"/>
            <a:ext cx="1097280" cy="10972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2-chip110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figure111" descr="hexagon"/>
          <p:cNvSpPr/>
          <p:nvPr/>
        </p:nvSpPr>
        <p:spPr>
          <a:xfrm>
            <a:off x="5180076" y="2711594"/>
            <a:ext cx="1828800" cy="1590261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2-chip112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figure113" descr="circle"/>
          <p:cNvSpPr/>
          <p:nvPr/>
        </p:nvSpPr>
        <p:spPr>
          <a:xfrm>
            <a:off x="8907780" y="2500884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1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변과 꼭짓점의 수로 도형의 이름을 알아요.</a:t>
            </a:r>
            <a:endParaRPr lang="ko-KR" sz="3200" dirty="0"/>
          </a:p>
        </p:txBody>
      </p:sp>
      <p:sp>
        <p:nvSpPr>
          <p:cNvPr id="5" name="S13-chip11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꼭짓점에 점 찍으며 세기</a:t>
            </a:r>
            <a:endParaRPr lang="ko-KR" sz="2600" dirty="0"/>
          </a:p>
        </p:txBody>
      </p:sp>
      <p:sp>
        <p:nvSpPr>
          <p:cNvPr id="6" name="S13-chip11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기울면 다른 도형이라 하기</a:t>
            </a:r>
            <a:endParaRPr lang="ko-KR" sz="2600" dirty="0"/>
          </a:p>
        </p:txBody>
      </p:sp>
      <p:sp>
        <p:nvSpPr>
          <p:cNvPr id="7" name="S13-text11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변이 6개인 도형은?</a:t>
            </a:r>
            <a:endParaRPr lang="ko-KR" sz="2600" dirty="0"/>
          </a:p>
        </p:txBody>
      </p:sp>
      <p:sp>
        <p:nvSpPr>
          <p:cNvPr id="9" name="S13-text12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원의 꼭짓점 수는?</a:t>
            </a:r>
            <a:endParaRPr lang="ko-KR" sz="2600" dirty="0"/>
          </a:p>
        </p:txBody>
      </p:sp>
      <p:sp>
        <p:nvSpPr>
          <p:cNvPr id="10" name="S13-text12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삼각형 2개의 변은?</a:t>
            </a:r>
            <a:endParaRPr lang="ko-KR" sz="2600" dirty="0"/>
          </a:p>
        </p:txBody>
      </p:sp>
      <p:sp>
        <p:nvSpPr>
          <p:cNvPr id="11" name="S13-text12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쌓기나무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뾰족한 곳 세기</a:t>
            </a:r>
            <a:endParaRPr lang="ko-KR" sz="4400" dirty="0"/>
          </a:p>
        </p:txBody>
      </p:sp>
      <p:sp>
        <p:nvSpPr>
          <p:cNvPr id="3" name="S14-text1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곳을 손가락으로 콕콕 세어요.</a:t>
            </a:r>
            <a:endParaRPr lang="ko-KR" sz="3200" dirty="0"/>
          </a:p>
        </p:txBody>
      </p:sp>
      <p:sp>
        <p:nvSpPr>
          <p:cNvPr id="4" name="S14-card12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2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 3군데, 네모 4군데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모양은 뾰족한 곳이 없어요.</a:t>
            </a:r>
            <a:endParaRPr lang="ko-KR" sz="3200" dirty="0"/>
          </a:p>
        </p:txBody>
      </p:sp>
      <p:sp>
        <p:nvSpPr>
          <p:cNvPr id="6" name="S14-figure126" descr="세모 모양"/>
          <p:cNvSpPr/>
          <p:nvPr/>
        </p:nvSpPr>
        <p:spPr>
          <a:xfrm>
            <a:off x="1391412" y="2134362"/>
            <a:ext cx="2011680" cy="1828800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4-label127"/>
          <p:cNvSpPr txBox="1"/>
          <p:nvPr/>
        </p:nvSpPr>
        <p:spPr>
          <a:xfrm>
            <a:off x="548640" y="4223004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 모양</a:t>
            </a:r>
            <a:endParaRPr lang="ko-KR" sz="2600" dirty="0"/>
          </a:p>
        </p:txBody>
      </p:sp>
      <p:sp>
        <p:nvSpPr>
          <p:cNvPr id="8" name="S14-figure128" descr="네모 모양"/>
          <p:cNvSpPr/>
          <p:nvPr/>
        </p:nvSpPr>
        <p:spPr>
          <a:xfrm>
            <a:off x="5088636" y="2042922"/>
            <a:ext cx="2011680" cy="2011680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4-label129"/>
          <p:cNvSpPr txBox="1"/>
          <p:nvPr/>
        </p:nvSpPr>
        <p:spPr>
          <a:xfrm>
            <a:off x="4245864" y="4223004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모양</a:t>
            </a:r>
            <a:endParaRPr lang="ko-KR" sz="2600" dirty="0"/>
          </a:p>
        </p:txBody>
      </p:sp>
      <p:sp>
        <p:nvSpPr>
          <p:cNvPr id="10" name="S14-figure130" descr="동그라미 모양"/>
          <p:cNvSpPr/>
          <p:nvPr/>
        </p:nvSpPr>
        <p:spPr>
          <a:xfrm>
            <a:off x="8785860" y="2042922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14-label131"/>
          <p:cNvSpPr txBox="1"/>
          <p:nvPr/>
        </p:nvSpPr>
        <p:spPr>
          <a:xfrm>
            <a:off x="7943088" y="4223004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여러 가지 도형</dc:title>
  <dc:subject>KR22-G02-MAT-PLANE-L01</dc:subject>
  <dc:creator>education-ppt</dc:creator>
  <cp:lastModifiedBy>education-ppt</cp:lastModifiedBy>
  <cp:revision>1</cp:revision>
  <dcterms:created xsi:type="dcterms:W3CDTF">2026-10-26T07:46:17Z</dcterms:created>
  <dcterms:modified xsi:type="dcterms:W3CDTF">2026-10-26T07:46:17Z</dcterms:modified>
</cp:coreProperties>
</file>