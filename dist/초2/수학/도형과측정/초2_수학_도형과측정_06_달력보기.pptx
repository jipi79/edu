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268e2b3-741a-e3da-dd5f-26e335f7ffea}">
          <p14:sldIdLst>
            <p14:sldId id="256"/>
            <p14:sldId id="257"/>
          </p14:sldIdLst>
        </p14:section>
        <p14:section name="개념" id="{9ebffda1-3be9-8554-c996-4b4a0f356b01}">
          <p14:sldIdLst>
            <p14:sldId id="258"/>
            <p14:sldId id="259"/>
            <p14:sldId id="260"/>
            <p14:sldId id="263"/>
            <p14:sldId id="264"/>
          </p14:sldIdLst>
        </p14:section>
        <p14:section name="연습" id="{2570ae17-53be-e65d-b0f2-541c1b3f840b}">
          <p14:sldIdLst>
            <p14:sldId id="261"/>
            <p14:sldId id="262"/>
            <p14:sldId id="265"/>
          </p14:sldIdLst>
        </p14:section>
        <p14:section name="개념" id="{54a6f045-5ae7-b725-3407-f06711e5e88c}">
          <p14:sldIdLst/>
        </p14:section>
        <p14:section name="연습" id="{d29518d5-f450-a610-65a8-2d18025f1edd}">
          <p14:sldIdLst/>
        </p14:section>
        <p14:section name="확인" id="{aad0efd7-a694-b73e-ab13-4c280eb8bd09}">
          <p14:sldIdLst>
            <p14:sldId id="266"/>
            <p14:sldId id="267"/>
            <p14:sldId id="268"/>
          </p14:sldIdLst>
        </p14:section>
        <p14:section name="정리" id="{d5286408-cc39-e354-4d41-cbaeb8341a51}">
          <p14:sldIdLst>
            <p14:sldId id="269"/>
          </p14:sldIdLst>
        </p14:section>
        <p14:section name="보충" id="{5cde69f6-7787-eef6-58e5-5e8410d643a4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집에 있는 달력을 보며 날짜와 요일에 관심을 갖게 합니다.
시간: 약 2분
이렇게 말해 보세요
- “오늘은 몇 월 며칠이야? 무슨 요일이야? 어떻게 알 수 있을까?”
- “오른쪽 그림은 달력의 한 줄이야. 오늘은 달력 보는 방법을 배울 거야.”
예상 답
- “달력을 봐요.” “휴대폰에 나와요.” 어떤 답이든 괜찮습니다.
막히면
- 답을 확인하지 않고 넘어갑니다. S03부터 달력 읽는 방법을 차례로 배웁니다.
주의
- 집에 있는 달력을 꺼내 수업 내내 함께 봅니다.
- 화면의 달력은 연습용으로 만든 달력이라 올해 실제 달력과 요일이 다를 수 있습니다. 수업은 화면 달력으로 하고, 집 달력은 확인용으로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확인(하루·1시간, 7씩 세기, 요일 순서)]
목적: 지난 시간의 하루 = 24시간, 1시간 = 60분과 오늘 필요한 7씩 뛰어 세기, 요일 순서를 확인합니다.
시간: 약 3분
이렇게 말해 보세요
- “①② 하루는 몇 시간이지? 1시간은 몇 분이었어?”
- “③ 7씩 뛰어 세면 빈칸은? ④ 수요일 다음 날은 무슨 요일이야?”
정답
- ① 24시간
- ② 60분
- ③ 21
- ④ 목요일
막히면
- ①②가 어려우면 앞 차시 ‘시각과 시간’(KR22-G02-MAT-TIME-L01)을 다시 봅니다.
- ③④가 어려우면 S15(보충)를 먼저 합니다.
주의
- ③은 오늘 ‘1주일 뒤, 2주일 뒤’를 구할 때 씁니다. 손가락을 펴며 “7, 14, 21”을 함께 세어도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달력에서 날짜의 요일 찾기]
목적: 달력의 맨 윗줄이 요일이고, 날짜 칸에서 똑바로 위로 올라가면 그날의 요일을 알 수 있다는 것을 압니다.
시간: 약 3분
이렇게 말해 보세요
- “맨 윗줄에 일, 월, 화, 수, 목, 금, 토가 있지? 이것을 요일이라고 해.”
- “15를 찾아볼까? 손가락을 15에 대고 위로 쭉 올라가 봐. 무슨 요일이 나와?”
- “그럼 1일은 무슨 요일이야?”
예상 답
- “수요일이에요.” “1일도 수요일이에요.”
막히면
- 손가락을 날짜 칸에 대고 한 칸씩 위로 올려 요일 칸에 닿게 합니다.
- 집 달력에서 오늘 날짜를 찾아 같은 방법으로 요일을 읽어 봅니다.
주의
- 첫째 줄의 빈칸은 지난달의 날입니다. 11월 1일은 일요일이 아니라 수요일에서 시작합니다(M2).
- 11월은 30일까지 있습니다. 마지막 날짜도 함께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같은 요일은 7일마다(1주일 = 7일)]
목적: 달력의 한 줄이 일요일부터 토요일까지 7일이고, 같은 요일이 7일마다 돌아온다는 것(1주일 = 7일)을 압니다.
시간: 약 3분
이렇게 말해 보세요
- “수요일 줄을 위에서부터 아래로 읽어 볼까? 1, 8, 15 …”
- “1에서 8까지는 며칠 차이야? 8에서 15까지는?”
- “달력 한 줄에 날이 몇 개 있어? 일요일부터 토요일까지 7일을 1주일이라고 해.”
예상 답
- “1, 8, 15, 22, 29일이요.” “7씩 커져요.” “한 줄에 7일이에요.”
막히면
- 1에서 8까지 손가락으로 한 칸씩 짚으며 “2, 3, 4, 5, 6, 7, 8”을 함께 세면 7번 뜁니다.
- S02의 7씩 뛰어 세기(7, 14, 21)를 다시 해 봅니다.
주의
- 1주일을 학교 가는 5일로 생각하는 아이가 있습니다(M3). 토요일과 일요일도 1주일에 들어간다는 것을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1주일 뒤, 2주일 뒤의 날짜와 요일]
목적: 1주일 뒤는 7을 더한 날이고 요일이 같다는 것을 알고, 2주일 뒤는 7을 두 번 더해 구합니다.
시간: 약 3분
이렇게 말해 보세요
- “6일은 무슨 요일이었지? 달력에서 찾아볼까?”
- “1주일 뒤는 7일 뒤야. 6에 7을 더하면? 13일은 무슨 요일이야?”
- “그럼 2주일 뒤는 며칠일까?”
예상 답
- “월요일이요.” “13일이에요. 13일도 월요일이에요.” “2주일 뒤는 20일이요.”
막히면
- S03의 달력을 다시 보며 6일에서 바로 아래 칸으로 내려가면 13일이라는 것을 보여 줍니다. 아래 칸 = 1주일 뒤입니다.
주의
- 2주일 뒤를 6 + 2 = 8일로 생각하면 “2주일은 며칠이지?”라고 되묻습니다.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연습(달력에서 요일과 날짜 찾기)]
목적: 도움을 받으며 달력에서 날짜의 요일을 찾고, 같은 요일의 날짜를 세며, 1주일 뒤의 날짜를 구합니다.
시간: 약 4분
이렇게 말해 보세요
- “① 23일에 손가락을 대고 위로 올라가 볼까?”
- “② 토요일 줄을 아래로 내려가며 날짜를 세어 봐. 몇 번 있어?”
- “③ 9일에서 1주일 뒤는 바로 아래 칸이야. 9에 7을 더해도 돼.”
정답
- ① 목요일
- ② 4번(4일, 11일, 18일, 25일)
- ③ 16일(목요일)
막히면
- ①에서 다른 줄의 요일을 읽으면 손가락을 대고 똑바로 위로 올리게 합니다(M2).
- ③을 10일이라고 하면 “1주일은 며칠이지?”라고 묻고 9에서 7번 뛰어 세게 합니다.
주의
- ②는 4번이 맞습니다. 30일은 목요일이라 토요일이 다섯 번째로 오지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비교(시작한 날도 세기)]
목적: ‘며칠 뒤’를 셀 때 시작한 날을 함께 세는 실수를 찾고 바로잡습니다(M1).
시간: 약 2분
이렇게 말해 보세요
- “토끼는 8일부터 세었고, 곰은 9일부터 세었어. 누가 맞았을까?”
- “오늘이 8일이면 하루 뒤는 며칠이야? 그럼 3일 뒤는?”
예상 답
- “곰이요. 8일은 오늘이라 안 세요.”
정답
- 곰이 맞습니다. 하루 뒤는 9일, 이틀 뒤는 10일, 3일 뒤는 11일입니다(8 + 3 = 11).
- 토끼는 시작한 날(8일)도 함께 세어 하루가 모자랍니다.
막히면
- “오늘 밤 자고 일어나면 하루 뒤야”처럼 잠을 자는 횟수로 세게 합니다. 8일 밤, 9일 밤, 10일 밤을 자면 11일입니다.
주의
- 수직선에서 점의 수가 아니라 뛴 횟수가 날수라는 것을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1년 = 12개월과 달마다 날수]
목적: 1년은 12개월이고, 달마다 날수가 30일 또는 31일이며 2월만 28일이나 29일이라는 것을 압니다.
시간: 약 3분
이렇게 말해 보세요
- “1월, 2월 … 하고 세어 볼까? 모두 몇 개월이야?”
- “11월 달력의 마지막 날은 며칠이었지? 표에서 11월을 찾아봐.”
- “31일까지 있는 달은 몇 개야? 30일까지 있는 달은?”
예상 답
- “12개월이요.” “11월은 30일이에요.” “31일인 달은 7개, 30일인 달은 4개예요.”
막히면
- 집 달력을 한 장씩 넘기며 달마다 마지막 날짜를 함께 읽습니다.
주의
- 2월은 보통 28일이고, 4년에 한 번쯤 29일이 됩니다. 이 차시에서는 ‘28일 또는 29일’까지만 압니다.
- 날수를 외우게 하기보다 달력에서 확인하는 습관을 들입니다(M4).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주일과 일, 년과 개월 바꾸기]
목적: 1주일 = 7일, 1년 = 12개월을 이용해 몇 주일을 며칠로, 몇 년 몇 개월을 몇 개월로 바꿉니다.
시간: 약 3분
이렇게 말해 보세요
- “점 한 줄이 1주일이야. 2주일은 점이 몇 개일까?”
- “띠 한 칸이 1개월이야. 첫 줄은 12칸이니까 1년이지. 1년 3개월은 모두 몇 칸이야?”
예상 답
- “14개요. 14일이에요.” “15칸, 15개월이에요.”
막히면
- 점을 하나씩 짚으며 세거나, 7 + 7을 손가락으로 계산합니다.
- 1년 = 12개월을 다시 말하고 12에서 3을 이어 세게 합니다(13, 14, 15).
주의
- 지치면 여기서 쉬고, 다음에 S10부터 이어도 됩니다.
- 1년을 10개월로 생각해 1년 3개월을 13개월이라고 하면 M3입니다. S08의 표를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연습(주일·일, 년·개월 바꾸기)]
목적: 도움을 받으며 주일과 일, 년과 개월을 서로 바꿉니다.
시간: 약 4분
이렇게 말해 보세요
- “① 1주일이 7일이니까 3주일은 7을 몇 번 더해?”
- “③ 1년은 몇 개월이지? 거기에 5개월을 더하면?”
- “④는 거꾸로야. 14개월 안에 12개월이 들어 있지? 12개월은 1년이고, 남는 것은?”
정답
- ① 21일
- ② 12개월
- ③ 17개월
- ④ 1년 2개월
막히면
- ①은 S02의 7씩 뛰어 세기(7, 14, 21)를 떠올리게 합니다.
- ④를 1년 4개월이라고 하면 “1년은 몇 개월이었지?”라고 묻습니다(M3).
주의
- ‘시각과 시간’에서 70분 = 1시간 10분으로 바꾼 것과 같은 방법입니다. 그때는 60, 지금은 12입니다.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날짜의 요일 찾기(①), 몇 주일 뒤 구하기(②), 년과 개월 바꾸기(③), 달의 날수(④)를 확인합니다.
시간: 약 4분
이렇게 말해 보세요
- “이번에는 혼자 해 볼래? 다 하면 어떻게 알았는지 말해 줘.”
정답
- ① 월요일
- ② 28일(화요일, 14 + 7 + 7)
- ③ 16개월(12 + 4)
- ④ 30일
막히면
- 바로 알려 주지 말고 “달력에서 손가락으로 짚어 볼까?”라고만 말합니다.
- 도움을 받아 해결했다면 기록표에 ‘도움’으로 표시합니다.
주의
- ②를 21일이라고 하면 1주일 뒤만 구한 것입니다. ④는 S08의 표나 집 달력으로 확인해도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달력으로 다시 해 보자.”
정답
- ① 월요일 ② 28일 ③ 16개월 ④ 30일
막히면
- ①이 틀리면 S03으로 돌아가 위로 올라가며 읽습니다(M2).
- ②가 21일이면 2주일은 7을 두 번 더한다는 것을 S05의 수직선으로 다시 봅니다.
- ③이 14개월이면 S08에서 1월부터 12월까지 다시 셉니다(M3).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확인(며칠 뒤의 날짜와 요일)]
목적: 처음 보는 문제에서 시작한 날을 빼고 세어 ‘며칠 뒤’를 구하고, 요일까지 바르게 말하는지 확인합니다.
시간: 약 2분
이렇게 말해 보세요
- “3일에서 3일 뒤는 며칠이고 무슨 요일일까? 달력은 보지 않고 먼저 생각해 봐. 그다음 달력으로 확인해.”
정답
- 나(6일 월요일). 4일, 5일, 6일로 세 번 뛰어 6일이고(3 + 3 = 6), 금요일 다음 토, 일, 월이므로 월요일입니다.
- 가는 시작한 날(3일)도 센 답, 다는 1주일 뒤(3 + 7 = 10)입니다.
막히면
- S07의 곰처럼 다음 날부터 세게 합니다.
주의
- 가를 고르면 M1입니다. 기록표에 적어 두고 다음 수업 복습 때 다시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1분
이렇게 말해 보세요
- “오늘 배운 것을 말해 볼래? 1주일은 며칠이야? 1년은 몇 개월이야?”
예상 답
- “7일이요.” “12개월이요.”
정답
- ① 21일 ② 18개월 ③ 1월, 3월, 5월, 7월, 8월, 10월, 12월 중 하나
막히면
- S04와 S08을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보충(요일 순서, 7씩 세기)]
목적: S02에서 요일 순서나 7씩 뛰어 세기가 흔들리면 다시 익힙니다.
시간: 약 5분
이렇게 말해 보세요
- “일요일부터 손가락으로 짚으며 요일을 말해 볼까? 토요일 다음은?”
- “요일이 한 바퀴 돌면 며칠이 지난 걸까?”
- “이번엔 7씩 세어 보자. 7, 14, 다음은?”
정답
- 토요일 다음은 다시 일요일
- 한 바퀴는 7일
- 7, 14, 21, 28
막히면
- 바둑돌을 7개씩 줄지어 놓고 한 줄씩 더하며 셉니다.
주의
- 보충으로도 어려우면 앞 차시 ‘시각과 시간’(KR22-G02-MAT-TIME-L01)과 7단 곱셈구구(‘7단과 9단’, KR22-G02-MAT-TIMES79-L01)를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도형과측정 · 6차시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달력 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달력 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달력 보기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달력 보기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며칠, 무슨 요일일까?</a:t>
            </a:r>
            <a:endParaRPr lang="ko-KR" sz="32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645920"/>
          <a:ext cx="3931920" cy="914400"/>
        </p:xfrm>
        <a:graphic>
          <a:graphicData uri="http://schemas.openxmlformats.org/drawingml/2006/table">
            <a:tbl>
              <a:tblPr/>
              <a:tblGrid>
                <a:gridCol w="561703"/>
                <a:gridCol w="561703"/>
                <a:gridCol w="561703"/>
                <a:gridCol w="561703"/>
                <a:gridCol w="561703"/>
                <a:gridCol w="561703"/>
                <a:gridCol w="561703"/>
              </a:tblGrid>
              <a:tr h="4572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달력에서 날짜와 요일을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1주일 = 7일, 1년 = 12개월을 알아요.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= □ 시간</a:t>
            </a:r>
            <a:endParaRPr lang="ko-KR" sz="3600" dirty="0"/>
          </a:p>
        </p:txBody>
      </p:sp>
      <p:sp>
        <p:nvSpPr>
          <p:cNvPr id="5" name="S02-chip6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7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1시간 = □ 분</a:t>
            </a:r>
            <a:endParaRPr lang="ko-KR" sz="36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7, 14, □, 28</a:t>
            </a:r>
            <a:endParaRPr lang="ko-KR" sz="3600" dirty="0"/>
          </a:p>
        </p:txBody>
      </p:sp>
      <p:sp>
        <p:nvSpPr>
          <p:cNvPr id="9" name="S02-chip10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0" name="S02-text11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수요일 다음 날은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요일?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달력 읽기</a:t>
            </a:r>
            <a:endParaRPr lang="ko-KR" sz="4400" dirty="0"/>
          </a:p>
        </p:txBody>
      </p:sp>
      <p:sp>
        <p:nvSpPr>
          <p:cNvPr id="3" name="S03-card12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15일은 수요일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날짜에서 위로 올라가면 요일이 있어요.</a:t>
            </a:r>
            <a:endParaRPr lang="ko-KR" sz="3200" dirty="0"/>
          </a:p>
        </p:txBody>
      </p:sp>
      <p:graphicFrame>
        <p:nvGraphicFramePr>
          <p:cNvPr id="4" name="S03-table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53996" y="1420622"/>
          <a:ext cx="7680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1주일은 7일</a:t>
            </a:r>
            <a:endParaRPr lang="ko-KR" sz="4400" dirty="0"/>
          </a:p>
        </p:txBody>
      </p:sp>
      <p:sp>
        <p:nvSpPr>
          <p:cNvPr id="3" name="S04-text15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수요일은 며칠마다 다시 올까요?</a:t>
            </a:r>
            <a:endParaRPr lang="ko-KR" sz="3200" dirty="0"/>
          </a:p>
        </p:txBody>
      </p:sp>
      <p:graphicFrame>
        <p:nvGraphicFramePr>
          <p:cNvPr id="5" name="S04-table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8514" y="2827020"/>
          <a:ext cx="51206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4-stepno17"/>
          <p:cNvSpPr txBox="1"/>
          <p:nvPr/>
        </p:nvSpPr>
        <p:spPr>
          <a:xfrm>
            <a:off x="548640" y="3027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4-text18"/>
          <p:cNvSpPr txBox="1"/>
          <p:nvPr/>
        </p:nvSpPr>
        <p:spPr>
          <a:xfrm>
            <a:off x="1325880" y="2981452"/>
            <a:ext cx="4585716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수요일인 날을 모두 찾아요.</a:t>
            </a:r>
            <a:endParaRPr lang="ko-KR" sz="3200" dirty="0"/>
          </a:p>
        </p:txBody>
      </p:sp>
      <p:sp>
        <p:nvSpPr>
          <p:cNvPr id="7" name="S04-stepno19"/>
          <p:cNvSpPr txBox="1"/>
          <p:nvPr/>
        </p:nvSpPr>
        <p:spPr>
          <a:xfrm>
            <a:off x="548640" y="4137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4-text20"/>
          <p:cNvSpPr txBox="1"/>
          <p:nvPr/>
        </p:nvSpPr>
        <p:spPr>
          <a:xfrm>
            <a:off x="1325880" y="4137660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 8, 15, 22, 29일</a:t>
            </a:r>
            <a:endParaRPr lang="ko-KR" sz="3200" dirty="0"/>
          </a:p>
        </p:txBody>
      </p:sp>
      <p:sp>
        <p:nvSpPr>
          <p:cNvPr id="9" name="S04-stepno21"/>
          <p:cNvSpPr txBox="1"/>
          <p:nvPr/>
        </p:nvSpPr>
        <p:spPr>
          <a:xfrm>
            <a:off x="548640" y="48966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4-text22"/>
          <p:cNvSpPr txBox="1"/>
          <p:nvPr/>
        </p:nvSpPr>
        <p:spPr>
          <a:xfrm>
            <a:off x="1325880" y="4850892"/>
            <a:ext cx="4585716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7씩 커져요.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1주일 = 7일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주일 뒤는?</a:t>
            </a:r>
            <a:endParaRPr lang="ko-KR" sz="4400" dirty="0"/>
          </a:p>
        </p:txBody>
      </p:sp>
      <p:sp>
        <p:nvSpPr>
          <p:cNvPr id="3" name="S05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6일 월요일에서 1주일 뒤는?</a:t>
            </a:r>
            <a:endParaRPr lang="ko-KR" sz="3200" dirty="0"/>
          </a:p>
        </p:txBody>
      </p:sp>
      <p:sp>
        <p:nvSpPr>
          <p:cNvPr id="4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1주일 뒤는 7일 뒤, 같은 요일이에요.</a:t>
            </a:r>
            <a:endParaRPr lang="ko-KR" sz="3200" dirty="0"/>
          </a:p>
        </p:txBody>
      </p:sp>
      <p:sp>
        <p:nvSpPr>
          <p:cNvPr id="6" name="S05-card26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5-cardtext27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6일 → 13일 → 20일</a:t>
            </a:r>
            <a:endParaRPr lang="ko-KR" sz="3200" dirty="0"/>
          </a:p>
        </p:txBody>
      </p:sp>
      <p:sp>
        <p:nvSpPr>
          <p:cNvPr id="8" name="S05-card28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29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월요일이에요.</a:t>
            </a:r>
            <a:endParaRPr lang="ko-KR" sz="3200" dirty="0"/>
          </a:p>
        </p:txBody>
      </p:sp>
      <p:sp>
        <p:nvSpPr>
          <p:cNvPr id="10" name="S05-line30"/>
          <p:cNvSpPr/>
          <p:nvPr/>
        </p:nvSpPr>
        <p:spPr>
          <a:xfrm>
            <a:off x="685800" y="3228340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1" name="S05-line31"/>
          <p:cNvSpPr/>
          <p:nvPr/>
        </p:nvSpPr>
        <p:spPr>
          <a:xfrm>
            <a:off x="960120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5-label32"/>
          <p:cNvSpPr txBox="1"/>
          <p:nvPr/>
        </p:nvSpPr>
        <p:spPr>
          <a:xfrm>
            <a:off x="502920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3" name="S05-line33"/>
          <p:cNvSpPr/>
          <p:nvPr/>
        </p:nvSpPr>
        <p:spPr>
          <a:xfrm>
            <a:off x="1693599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5-label34"/>
          <p:cNvSpPr txBox="1"/>
          <p:nvPr/>
        </p:nvSpPr>
        <p:spPr>
          <a:xfrm>
            <a:off x="1236399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5" name="S05-line35"/>
          <p:cNvSpPr/>
          <p:nvPr/>
        </p:nvSpPr>
        <p:spPr>
          <a:xfrm>
            <a:off x="2427079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5-label36"/>
          <p:cNvSpPr txBox="1"/>
          <p:nvPr/>
        </p:nvSpPr>
        <p:spPr>
          <a:xfrm>
            <a:off x="1969879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7" name="S05-line37"/>
          <p:cNvSpPr/>
          <p:nvPr/>
        </p:nvSpPr>
        <p:spPr>
          <a:xfrm>
            <a:off x="3160558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5-label38"/>
          <p:cNvSpPr txBox="1"/>
          <p:nvPr/>
        </p:nvSpPr>
        <p:spPr>
          <a:xfrm>
            <a:off x="2703358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9" name="S05-line39"/>
          <p:cNvSpPr/>
          <p:nvPr/>
        </p:nvSpPr>
        <p:spPr>
          <a:xfrm>
            <a:off x="3894038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5-label40"/>
          <p:cNvSpPr txBox="1"/>
          <p:nvPr/>
        </p:nvSpPr>
        <p:spPr>
          <a:xfrm>
            <a:off x="3436838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21" name="S05-line41"/>
          <p:cNvSpPr/>
          <p:nvPr/>
        </p:nvSpPr>
        <p:spPr>
          <a:xfrm>
            <a:off x="4627517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5-label42"/>
          <p:cNvSpPr txBox="1"/>
          <p:nvPr/>
        </p:nvSpPr>
        <p:spPr>
          <a:xfrm>
            <a:off x="4170317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23" name="S05-line43"/>
          <p:cNvSpPr/>
          <p:nvPr/>
        </p:nvSpPr>
        <p:spPr>
          <a:xfrm>
            <a:off x="5360997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5-label44"/>
          <p:cNvSpPr txBox="1"/>
          <p:nvPr/>
        </p:nvSpPr>
        <p:spPr>
          <a:xfrm>
            <a:off x="4903797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25" name="S05-line45"/>
          <p:cNvSpPr/>
          <p:nvPr/>
        </p:nvSpPr>
        <p:spPr>
          <a:xfrm>
            <a:off x="6094476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5-label46"/>
          <p:cNvSpPr txBox="1"/>
          <p:nvPr/>
        </p:nvSpPr>
        <p:spPr>
          <a:xfrm>
            <a:off x="5637276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ko-KR" sz="2600" dirty="0"/>
          </a:p>
        </p:txBody>
      </p:sp>
      <p:sp>
        <p:nvSpPr>
          <p:cNvPr id="27" name="S05-line47"/>
          <p:cNvSpPr/>
          <p:nvPr/>
        </p:nvSpPr>
        <p:spPr>
          <a:xfrm>
            <a:off x="6827955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5-label48"/>
          <p:cNvSpPr txBox="1"/>
          <p:nvPr/>
        </p:nvSpPr>
        <p:spPr>
          <a:xfrm>
            <a:off x="6370755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2600" dirty="0"/>
          </a:p>
        </p:txBody>
      </p:sp>
      <p:sp>
        <p:nvSpPr>
          <p:cNvPr id="29" name="S05-line49"/>
          <p:cNvSpPr/>
          <p:nvPr/>
        </p:nvSpPr>
        <p:spPr>
          <a:xfrm>
            <a:off x="7561435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5-label50"/>
          <p:cNvSpPr txBox="1"/>
          <p:nvPr/>
        </p:nvSpPr>
        <p:spPr>
          <a:xfrm>
            <a:off x="7104235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600" dirty="0"/>
          </a:p>
        </p:txBody>
      </p:sp>
      <p:sp>
        <p:nvSpPr>
          <p:cNvPr id="31" name="S05-line51"/>
          <p:cNvSpPr/>
          <p:nvPr/>
        </p:nvSpPr>
        <p:spPr>
          <a:xfrm>
            <a:off x="8294914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5-label52"/>
          <p:cNvSpPr txBox="1"/>
          <p:nvPr/>
        </p:nvSpPr>
        <p:spPr>
          <a:xfrm>
            <a:off x="7837714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ko-KR" sz="2600" dirty="0"/>
          </a:p>
        </p:txBody>
      </p:sp>
      <p:sp>
        <p:nvSpPr>
          <p:cNvPr id="33" name="S05-line53"/>
          <p:cNvSpPr/>
          <p:nvPr/>
        </p:nvSpPr>
        <p:spPr>
          <a:xfrm>
            <a:off x="9028394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5-label54"/>
          <p:cNvSpPr txBox="1"/>
          <p:nvPr/>
        </p:nvSpPr>
        <p:spPr>
          <a:xfrm>
            <a:off x="8571194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ko-KR" sz="2600" dirty="0"/>
          </a:p>
        </p:txBody>
      </p:sp>
      <p:sp>
        <p:nvSpPr>
          <p:cNvPr id="35" name="S05-line55"/>
          <p:cNvSpPr/>
          <p:nvPr/>
        </p:nvSpPr>
        <p:spPr>
          <a:xfrm>
            <a:off x="9761873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5-label56"/>
          <p:cNvSpPr txBox="1"/>
          <p:nvPr/>
        </p:nvSpPr>
        <p:spPr>
          <a:xfrm>
            <a:off x="9304673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600" dirty="0"/>
          </a:p>
        </p:txBody>
      </p:sp>
      <p:sp>
        <p:nvSpPr>
          <p:cNvPr id="37" name="S05-line57"/>
          <p:cNvSpPr/>
          <p:nvPr/>
        </p:nvSpPr>
        <p:spPr>
          <a:xfrm>
            <a:off x="10495353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05-label58"/>
          <p:cNvSpPr txBox="1"/>
          <p:nvPr/>
        </p:nvSpPr>
        <p:spPr>
          <a:xfrm>
            <a:off x="10038153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ko-KR" sz="2600" dirty="0"/>
          </a:p>
        </p:txBody>
      </p:sp>
      <p:sp>
        <p:nvSpPr>
          <p:cNvPr id="39" name="S05-line59"/>
          <p:cNvSpPr/>
          <p:nvPr/>
        </p:nvSpPr>
        <p:spPr>
          <a:xfrm>
            <a:off x="11228832" y="30820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5-label60"/>
          <p:cNvSpPr txBox="1"/>
          <p:nvPr/>
        </p:nvSpPr>
        <p:spPr>
          <a:xfrm>
            <a:off x="10771632" y="3411220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600" dirty="0"/>
          </a:p>
        </p:txBody>
      </p:sp>
      <p:sp>
        <p:nvSpPr>
          <p:cNvPr id="41" name="S05-mark61"/>
          <p:cNvSpPr/>
          <p:nvPr/>
        </p:nvSpPr>
        <p:spPr>
          <a:xfrm>
            <a:off x="868680" y="31369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2" name="S05-mark62"/>
          <p:cNvSpPr/>
          <p:nvPr/>
        </p:nvSpPr>
        <p:spPr>
          <a:xfrm>
            <a:off x="6003036" y="31369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3" name="S05-mark63"/>
          <p:cNvSpPr/>
          <p:nvPr/>
        </p:nvSpPr>
        <p:spPr>
          <a:xfrm>
            <a:off x="11137392" y="31369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4" name="S05-line64"/>
          <p:cNvSpPr/>
          <p:nvPr/>
        </p:nvSpPr>
        <p:spPr>
          <a:xfrm flipV="1">
            <a:off x="960120" y="28442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5" name="S05-line65"/>
          <p:cNvSpPr/>
          <p:nvPr/>
        </p:nvSpPr>
        <p:spPr>
          <a:xfrm>
            <a:off x="960120" y="2844292"/>
            <a:ext cx="5134356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6" name="S05-label66"/>
          <p:cNvSpPr txBox="1"/>
          <p:nvPr/>
        </p:nvSpPr>
        <p:spPr>
          <a:xfrm>
            <a:off x="960120" y="2396744"/>
            <a:ext cx="5134356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7일</a:t>
            </a:r>
            <a:endParaRPr lang="ko-KR" sz="2600" dirty="0"/>
          </a:p>
        </p:txBody>
      </p:sp>
      <p:sp>
        <p:nvSpPr>
          <p:cNvPr id="47" name="S05-line67"/>
          <p:cNvSpPr/>
          <p:nvPr/>
        </p:nvSpPr>
        <p:spPr>
          <a:xfrm flipV="1">
            <a:off x="6094476" y="28442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8" name="S05-line68"/>
          <p:cNvSpPr/>
          <p:nvPr/>
        </p:nvSpPr>
        <p:spPr>
          <a:xfrm>
            <a:off x="6094476" y="2844292"/>
            <a:ext cx="5134356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9" name="S05-label69"/>
          <p:cNvSpPr txBox="1"/>
          <p:nvPr/>
        </p:nvSpPr>
        <p:spPr>
          <a:xfrm>
            <a:off x="6094476" y="2396744"/>
            <a:ext cx="5134356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7일</a:t>
            </a:r>
            <a:endParaRPr lang="ko-KR" sz="2600" dirty="0"/>
          </a:p>
        </p:txBody>
      </p:sp>
      <p:sp>
        <p:nvSpPr>
          <p:cNvPr id="50" name="S05-figure70" descr="6부터 20까지 1씩 눈금이 있는 수직선: 6에서 13으로 7일, 13에서 20으로 7일 뛰기"/>
          <p:cNvSpPr/>
          <p:nvPr/>
        </p:nvSpPr>
        <p:spPr>
          <a:xfrm>
            <a:off x="685800" y="3045460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달력에서 찾아요</a:t>
            </a:r>
            <a:endParaRPr lang="ko-KR" sz="4400" dirty="0"/>
          </a:p>
        </p:txBody>
      </p:sp>
      <p:sp>
        <p:nvSpPr>
          <p:cNvPr id="3" name="S06-text7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달력을 보고 답해요.</a:t>
            </a:r>
            <a:endParaRPr lang="ko-KR" sz="3200" dirty="0"/>
          </a:p>
        </p:txBody>
      </p:sp>
      <p:sp>
        <p:nvSpPr>
          <p:cNvPr id="4" name="S06-card7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7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요일은 7일마다 와요.</a:t>
            </a:r>
            <a:endParaRPr lang="ko-KR" sz="3200" dirty="0"/>
          </a:p>
        </p:txBody>
      </p:sp>
      <p:graphicFrame>
        <p:nvGraphicFramePr>
          <p:cNvPr id="7" name="S06-table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8514" y="2103120"/>
          <a:ext cx="51206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6-chip7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8" name="S06-text76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23일은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무슨 요일?</a:t>
            </a:r>
            <a:endParaRPr lang="ko-KR" sz="2600" dirty="0"/>
          </a:p>
        </p:txBody>
      </p:sp>
      <p:sp>
        <p:nvSpPr>
          <p:cNvPr id="9" name="S06-chip7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0" name="S06-text78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토요일은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번?</a:t>
            </a:r>
            <a:endParaRPr lang="ko-KR" sz="2600" dirty="0"/>
          </a:p>
        </p:txBody>
      </p:sp>
      <p:sp>
        <p:nvSpPr>
          <p:cNvPr id="11" name="S06-chip7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2" name="S06-text80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9일에서 1주일 뒤는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며칠?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7-card8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8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8일에서 3일 뒤는 며칠일까요?</a:t>
            </a:r>
            <a:endParaRPr lang="ko-KR" sz="3200" dirty="0"/>
          </a:p>
        </p:txBody>
      </p:sp>
      <p:sp>
        <p:nvSpPr>
          <p:cNvPr id="5" name="S07-card8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8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7-chip8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10일</a:t>
            </a:r>
            <a:endParaRPr lang="ko-KR" sz="2600" dirty="0"/>
          </a:p>
        </p:txBody>
      </p:sp>
      <p:sp>
        <p:nvSpPr>
          <p:cNvPr id="8" name="S07-line86"/>
          <p:cNvSpPr/>
          <p:nvPr/>
        </p:nvSpPr>
        <p:spPr>
          <a:xfrm>
            <a:off x="685800" y="3675888"/>
            <a:ext cx="5088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07-line87"/>
          <p:cNvSpPr/>
          <p:nvPr/>
        </p:nvSpPr>
        <p:spPr>
          <a:xfrm>
            <a:off x="960120" y="352958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7-label88"/>
          <p:cNvSpPr txBox="1"/>
          <p:nvPr/>
        </p:nvSpPr>
        <p:spPr>
          <a:xfrm>
            <a:off x="502920" y="3858768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1" name="S07-line89"/>
          <p:cNvSpPr/>
          <p:nvPr/>
        </p:nvSpPr>
        <p:spPr>
          <a:xfrm>
            <a:off x="1868119" y="352958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7-label90"/>
          <p:cNvSpPr txBox="1"/>
          <p:nvPr/>
        </p:nvSpPr>
        <p:spPr>
          <a:xfrm>
            <a:off x="1410919" y="3858768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3" name="S07-line91"/>
          <p:cNvSpPr/>
          <p:nvPr/>
        </p:nvSpPr>
        <p:spPr>
          <a:xfrm>
            <a:off x="2776118" y="352958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7-label92"/>
          <p:cNvSpPr txBox="1"/>
          <p:nvPr/>
        </p:nvSpPr>
        <p:spPr>
          <a:xfrm>
            <a:off x="2318918" y="3858768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" name="S07-line93"/>
          <p:cNvSpPr/>
          <p:nvPr/>
        </p:nvSpPr>
        <p:spPr>
          <a:xfrm>
            <a:off x="3684118" y="352958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7-label94"/>
          <p:cNvSpPr txBox="1"/>
          <p:nvPr/>
        </p:nvSpPr>
        <p:spPr>
          <a:xfrm>
            <a:off x="3226918" y="3858768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7" name="S07-line95"/>
          <p:cNvSpPr/>
          <p:nvPr/>
        </p:nvSpPr>
        <p:spPr>
          <a:xfrm>
            <a:off x="4592117" y="352958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7-label96"/>
          <p:cNvSpPr txBox="1"/>
          <p:nvPr/>
        </p:nvSpPr>
        <p:spPr>
          <a:xfrm>
            <a:off x="4134917" y="3858768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9" name="S07-line97"/>
          <p:cNvSpPr/>
          <p:nvPr/>
        </p:nvSpPr>
        <p:spPr>
          <a:xfrm>
            <a:off x="5500116" y="352958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7-label98"/>
          <p:cNvSpPr txBox="1"/>
          <p:nvPr/>
        </p:nvSpPr>
        <p:spPr>
          <a:xfrm>
            <a:off x="5042916" y="3858768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21" name="S07-mark99"/>
          <p:cNvSpPr/>
          <p:nvPr/>
        </p:nvSpPr>
        <p:spPr>
          <a:xfrm>
            <a:off x="1776679" y="3584448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2" name="S07-mark100"/>
          <p:cNvSpPr/>
          <p:nvPr/>
        </p:nvSpPr>
        <p:spPr>
          <a:xfrm>
            <a:off x="2684678" y="3584448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3" name="S07-mark101"/>
          <p:cNvSpPr/>
          <p:nvPr/>
        </p:nvSpPr>
        <p:spPr>
          <a:xfrm>
            <a:off x="3592678" y="3584448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4" name="S07-figure102" descr="7부터 12까지 수직선에 8, 9, 10에 점을 찍음"/>
          <p:cNvSpPr/>
          <p:nvPr/>
        </p:nvSpPr>
        <p:spPr>
          <a:xfrm>
            <a:off x="685800" y="3493008"/>
            <a:ext cx="508863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07-text103"/>
          <p:cNvSpPr txBox="1"/>
          <p:nvPr/>
        </p:nvSpPr>
        <p:spPr>
          <a:xfrm>
            <a:off x="548640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8, 9, 10 하고 셌어요.</a:t>
            </a:r>
            <a:endParaRPr lang="ko-KR" sz="2600" dirty="0"/>
          </a:p>
        </p:txBody>
      </p:sp>
      <p:sp>
        <p:nvSpPr>
          <p:cNvPr id="26" name="S07-chip10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11일</a:t>
            </a:r>
            <a:endParaRPr lang="ko-KR" sz="2600" dirty="0"/>
          </a:p>
        </p:txBody>
      </p:sp>
      <p:sp>
        <p:nvSpPr>
          <p:cNvPr id="27" name="S07-line105"/>
          <p:cNvSpPr/>
          <p:nvPr/>
        </p:nvSpPr>
        <p:spPr>
          <a:xfrm>
            <a:off x="6414516" y="3831336"/>
            <a:ext cx="5088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28" name="S07-line106"/>
          <p:cNvSpPr/>
          <p:nvPr/>
        </p:nvSpPr>
        <p:spPr>
          <a:xfrm>
            <a:off x="6688836" y="368503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7-label107"/>
          <p:cNvSpPr txBox="1"/>
          <p:nvPr/>
        </p:nvSpPr>
        <p:spPr>
          <a:xfrm>
            <a:off x="6231636" y="4014216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30" name="S07-line108"/>
          <p:cNvSpPr/>
          <p:nvPr/>
        </p:nvSpPr>
        <p:spPr>
          <a:xfrm>
            <a:off x="7596835" y="368503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7-label109"/>
          <p:cNvSpPr txBox="1"/>
          <p:nvPr/>
        </p:nvSpPr>
        <p:spPr>
          <a:xfrm>
            <a:off x="7139635" y="4014216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32" name="S07-line110"/>
          <p:cNvSpPr/>
          <p:nvPr/>
        </p:nvSpPr>
        <p:spPr>
          <a:xfrm>
            <a:off x="8504834" y="368503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7-label111"/>
          <p:cNvSpPr txBox="1"/>
          <p:nvPr/>
        </p:nvSpPr>
        <p:spPr>
          <a:xfrm>
            <a:off x="8047634" y="4014216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34" name="S07-line112"/>
          <p:cNvSpPr/>
          <p:nvPr/>
        </p:nvSpPr>
        <p:spPr>
          <a:xfrm>
            <a:off x="9412834" y="368503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7-label113"/>
          <p:cNvSpPr txBox="1"/>
          <p:nvPr/>
        </p:nvSpPr>
        <p:spPr>
          <a:xfrm>
            <a:off x="8955634" y="4014216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36" name="S07-line114"/>
          <p:cNvSpPr/>
          <p:nvPr/>
        </p:nvSpPr>
        <p:spPr>
          <a:xfrm>
            <a:off x="10320833" y="368503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7-label115"/>
          <p:cNvSpPr txBox="1"/>
          <p:nvPr/>
        </p:nvSpPr>
        <p:spPr>
          <a:xfrm>
            <a:off x="9863633" y="4014216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38" name="S07-line116"/>
          <p:cNvSpPr/>
          <p:nvPr/>
        </p:nvSpPr>
        <p:spPr>
          <a:xfrm>
            <a:off x="11228832" y="3685032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07-label117"/>
          <p:cNvSpPr txBox="1"/>
          <p:nvPr/>
        </p:nvSpPr>
        <p:spPr>
          <a:xfrm>
            <a:off x="10771632" y="4014216"/>
            <a:ext cx="914400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40" name="S07-line118"/>
          <p:cNvSpPr/>
          <p:nvPr/>
        </p:nvSpPr>
        <p:spPr>
          <a:xfrm flipV="1">
            <a:off x="7596835" y="344728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1" name="S07-line119"/>
          <p:cNvSpPr/>
          <p:nvPr/>
        </p:nvSpPr>
        <p:spPr>
          <a:xfrm>
            <a:off x="7596835" y="3447288"/>
            <a:ext cx="907999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2" name="S07-label120"/>
          <p:cNvSpPr txBox="1"/>
          <p:nvPr/>
        </p:nvSpPr>
        <p:spPr>
          <a:xfrm>
            <a:off x="7596835" y="2999740"/>
            <a:ext cx="907999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43" name="S07-line121"/>
          <p:cNvSpPr/>
          <p:nvPr/>
        </p:nvSpPr>
        <p:spPr>
          <a:xfrm flipV="1">
            <a:off x="8504834" y="344728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4" name="S07-line122"/>
          <p:cNvSpPr/>
          <p:nvPr/>
        </p:nvSpPr>
        <p:spPr>
          <a:xfrm>
            <a:off x="8504834" y="3447288"/>
            <a:ext cx="907999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5" name="S07-label123"/>
          <p:cNvSpPr txBox="1"/>
          <p:nvPr/>
        </p:nvSpPr>
        <p:spPr>
          <a:xfrm>
            <a:off x="8504834" y="2999740"/>
            <a:ext cx="907999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46" name="S07-line124"/>
          <p:cNvSpPr/>
          <p:nvPr/>
        </p:nvSpPr>
        <p:spPr>
          <a:xfrm flipV="1">
            <a:off x="9412834" y="3447288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7" name="S07-line125"/>
          <p:cNvSpPr/>
          <p:nvPr/>
        </p:nvSpPr>
        <p:spPr>
          <a:xfrm>
            <a:off x="9412834" y="3447288"/>
            <a:ext cx="907999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8" name="S07-label126"/>
          <p:cNvSpPr txBox="1"/>
          <p:nvPr/>
        </p:nvSpPr>
        <p:spPr>
          <a:xfrm>
            <a:off x="9412834" y="2999740"/>
            <a:ext cx="907999" cy="429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49" name="S07-figure127" descr="7부터 12까지 수직선에 8에서 9, 10, 11로 한 칸씩 세 번 뛰기"/>
          <p:cNvSpPr/>
          <p:nvPr/>
        </p:nvSpPr>
        <p:spPr>
          <a:xfrm>
            <a:off x="6414516" y="3648456"/>
            <a:ext cx="5088636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S07-text128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 10, 11 하고 셌어요.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1년은 12개월</a:t>
            </a:r>
            <a:endParaRPr lang="ko-KR" sz="4400" dirty="0"/>
          </a:p>
        </p:txBody>
      </p:sp>
      <p:sp>
        <p:nvSpPr>
          <p:cNvPr id="3" name="S08-text1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1년은 1월부터 12월까지 12개월이에요.</a:t>
            </a:r>
            <a:endParaRPr lang="ko-KR" sz="3200" dirty="0"/>
          </a:p>
        </p:txBody>
      </p:sp>
      <p:sp>
        <p:nvSpPr>
          <p:cNvPr id="4" name="S08-card1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2월은 해마다 28일 또는 29일이에요.</a:t>
            </a:r>
            <a:endParaRPr lang="ko-KR" sz="3200" dirty="0"/>
          </a:p>
        </p:txBody>
      </p:sp>
      <p:graphicFrame>
        <p:nvGraphicFramePr>
          <p:cNvPr id="9" name="S08-table1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48156" y="2509520"/>
          <a:ext cx="9692640" cy="914400"/>
        </p:xfrm>
        <a:graphic>
          <a:graphicData uri="http://schemas.openxmlformats.org/drawingml/2006/table">
            <a:tbl>
              <a:tblPr/>
              <a:tblGrid>
                <a:gridCol w="3101645"/>
                <a:gridCol w="6590995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날수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1월 3월 5월 7월 8월 10월 12월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4월 6월 9월 11월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28일 또는 29일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주일과 일, 년과 개월</a:t>
            </a:r>
            <a:endParaRPr lang="ko-KR" sz="4400" dirty="0"/>
          </a:p>
        </p:txBody>
      </p:sp>
      <p:sp>
        <p:nvSpPr>
          <p:cNvPr id="3" name="S09-card133"/>
          <p:cNvSpPr/>
          <p:nvPr/>
        </p:nvSpPr>
        <p:spPr>
          <a:xfrm>
            <a:off x="548640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34"/>
          <p:cNvSpPr txBox="1"/>
          <p:nvPr/>
        </p:nvSpPr>
        <p:spPr>
          <a:xfrm>
            <a:off x="822960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7일 + 7일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14일</a:t>
            </a:r>
            <a:endParaRPr lang="ko-KR" sz="3200" dirty="0"/>
          </a:p>
        </p:txBody>
      </p:sp>
      <p:sp>
        <p:nvSpPr>
          <p:cNvPr id="5" name="S09-card135"/>
          <p:cNvSpPr/>
          <p:nvPr/>
        </p:nvSpPr>
        <p:spPr>
          <a:xfrm>
            <a:off x="6208776" y="4897120"/>
            <a:ext cx="543153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9-cardtext136"/>
          <p:cNvSpPr txBox="1"/>
          <p:nvPr/>
        </p:nvSpPr>
        <p:spPr>
          <a:xfrm>
            <a:off x="6483096" y="5034280"/>
            <a:ext cx="488289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12개월 + 3개월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15개월</a:t>
            </a:r>
            <a:endParaRPr lang="ko-KR" sz="3200" dirty="0"/>
          </a:p>
        </p:txBody>
      </p:sp>
      <p:sp>
        <p:nvSpPr>
          <p:cNvPr id="7" name="S09-dot137"/>
          <p:cNvSpPr/>
          <p:nvPr/>
        </p:nvSpPr>
        <p:spPr>
          <a:xfrm>
            <a:off x="1728216" y="23674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9-dot138"/>
          <p:cNvSpPr/>
          <p:nvPr/>
        </p:nvSpPr>
        <p:spPr>
          <a:xfrm>
            <a:off x="2185416" y="23674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9-dot139"/>
          <p:cNvSpPr/>
          <p:nvPr/>
        </p:nvSpPr>
        <p:spPr>
          <a:xfrm>
            <a:off x="2642616" y="23674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9-dot140"/>
          <p:cNvSpPr/>
          <p:nvPr/>
        </p:nvSpPr>
        <p:spPr>
          <a:xfrm>
            <a:off x="3099816" y="23674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9-dot141"/>
          <p:cNvSpPr/>
          <p:nvPr/>
        </p:nvSpPr>
        <p:spPr>
          <a:xfrm>
            <a:off x="3557016" y="23674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9-dot142"/>
          <p:cNvSpPr/>
          <p:nvPr/>
        </p:nvSpPr>
        <p:spPr>
          <a:xfrm>
            <a:off x="4014216" y="23674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9-dot143"/>
          <p:cNvSpPr/>
          <p:nvPr/>
        </p:nvSpPr>
        <p:spPr>
          <a:xfrm>
            <a:off x="4471416" y="23674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9-dot144"/>
          <p:cNvSpPr/>
          <p:nvPr/>
        </p:nvSpPr>
        <p:spPr>
          <a:xfrm>
            <a:off x="1728216" y="28246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9-dot145"/>
          <p:cNvSpPr/>
          <p:nvPr/>
        </p:nvSpPr>
        <p:spPr>
          <a:xfrm>
            <a:off x="2185416" y="28246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9-dot146"/>
          <p:cNvSpPr/>
          <p:nvPr/>
        </p:nvSpPr>
        <p:spPr>
          <a:xfrm>
            <a:off x="2642616" y="28246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9-dot147"/>
          <p:cNvSpPr/>
          <p:nvPr/>
        </p:nvSpPr>
        <p:spPr>
          <a:xfrm>
            <a:off x="3099816" y="28246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9-dot148"/>
          <p:cNvSpPr/>
          <p:nvPr/>
        </p:nvSpPr>
        <p:spPr>
          <a:xfrm>
            <a:off x="3557016" y="28246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9-dot149"/>
          <p:cNvSpPr/>
          <p:nvPr/>
        </p:nvSpPr>
        <p:spPr>
          <a:xfrm>
            <a:off x="4014216" y="28246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9-dot150"/>
          <p:cNvSpPr/>
          <p:nvPr/>
        </p:nvSpPr>
        <p:spPr>
          <a:xfrm>
            <a:off x="4471416" y="2824607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9-group151"/>
          <p:cNvSpPr/>
          <p:nvPr/>
        </p:nvSpPr>
        <p:spPr>
          <a:xfrm>
            <a:off x="1668780" y="2317115"/>
            <a:ext cx="31455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2" name="S09-group152"/>
          <p:cNvSpPr/>
          <p:nvPr/>
        </p:nvSpPr>
        <p:spPr>
          <a:xfrm>
            <a:off x="1668780" y="2774315"/>
            <a:ext cx="3145536" cy="384048"/>
          </a:xfrm>
          <a:prstGeom prst="roundRect">
            <a:avLst>
              <a:gd name="adj" fmla="val 28571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3" name="S09-figure153" descr="점 7개씩 2줄(한 줄이 1주일): 모두 14개"/>
          <p:cNvSpPr/>
          <p:nvPr/>
        </p:nvSpPr>
        <p:spPr>
          <a:xfrm>
            <a:off x="1641348" y="2280539"/>
            <a:ext cx="32004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09-label154"/>
          <p:cNvSpPr txBox="1"/>
          <p:nvPr/>
        </p:nvSpPr>
        <p:spPr>
          <a:xfrm>
            <a:off x="548640" y="422275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2주일</a:t>
            </a:r>
            <a:endParaRPr lang="ko-KR" sz="2600" dirty="0"/>
          </a:p>
        </p:txBody>
      </p:sp>
      <p:sp>
        <p:nvSpPr>
          <p:cNvPr id="25" name="S09-cell155"/>
          <p:cNvSpPr/>
          <p:nvPr/>
        </p:nvSpPr>
        <p:spPr>
          <a:xfrm>
            <a:off x="6254496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9-cell156"/>
          <p:cNvSpPr/>
          <p:nvPr/>
        </p:nvSpPr>
        <p:spPr>
          <a:xfrm>
            <a:off x="6703314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9-cell157"/>
          <p:cNvSpPr/>
          <p:nvPr/>
        </p:nvSpPr>
        <p:spPr>
          <a:xfrm>
            <a:off x="7152132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9-cell158"/>
          <p:cNvSpPr/>
          <p:nvPr/>
        </p:nvSpPr>
        <p:spPr>
          <a:xfrm>
            <a:off x="7600950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9-cell159"/>
          <p:cNvSpPr/>
          <p:nvPr/>
        </p:nvSpPr>
        <p:spPr>
          <a:xfrm>
            <a:off x="8049768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9-cell160"/>
          <p:cNvSpPr/>
          <p:nvPr/>
        </p:nvSpPr>
        <p:spPr>
          <a:xfrm>
            <a:off x="8498586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9-cell161"/>
          <p:cNvSpPr/>
          <p:nvPr/>
        </p:nvSpPr>
        <p:spPr>
          <a:xfrm>
            <a:off x="8947404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9-cell162"/>
          <p:cNvSpPr/>
          <p:nvPr/>
        </p:nvSpPr>
        <p:spPr>
          <a:xfrm>
            <a:off x="9396222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9-cell163"/>
          <p:cNvSpPr/>
          <p:nvPr/>
        </p:nvSpPr>
        <p:spPr>
          <a:xfrm>
            <a:off x="9845040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9-cell164"/>
          <p:cNvSpPr/>
          <p:nvPr/>
        </p:nvSpPr>
        <p:spPr>
          <a:xfrm>
            <a:off x="10293858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9-cell165"/>
          <p:cNvSpPr/>
          <p:nvPr/>
        </p:nvSpPr>
        <p:spPr>
          <a:xfrm>
            <a:off x="10742676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9-cell166"/>
          <p:cNvSpPr/>
          <p:nvPr/>
        </p:nvSpPr>
        <p:spPr>
          <a:xfrm>
            <a:off x="11191494" y="1786763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9-figure167" descr="똑같이 12칸으로 나눈 띠, 12칸 색칠"/>
          <p:cNvSpPr/>
          <p:nvPr/>
        </p:nvSpPr>
        <p:spPr>
          <a:xfrm>
            <a:off x="6254496" y="1786763"/>
            <a:ext cx="538581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8" name="S09-cell168"/>
          <p:cNvSpPr/>
          <p:nvPr/>
        </p:nvSpPr>
        <p:spPr>
          <a:xfrm>
            <a:off x="6254496" y="2865755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9-cell169"/>
          <p:cNvSpPr/>
          <p:nvPr/>
        </p:nvSpPr>
        <p:spPr>
          <a:xfrm>
            <a:off x="6703314" y="2865755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9-cell170"/>
          <p:cNvSpPr/>
          <p:nvPr/>
        </p:nvSpPr>
        <p:spPr>
          <a:xfrm>
            <a:off x="7152132" y="2865755"/>
            <a:ext cx="44881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9-cell171"/>
          <p:cNvSpPr/>
          <p:nvPr/>
        </p:nvSpPr>
        <p:spPr>
          <a:xfrm>
            <a:off x="7600950" y="2865755"/>
            <a:ext cx="44881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9-cell172"/>
          <p:cNvSpPr/>
          <p:nvPr/>
        </p:nvSpPr>
        <p:spPr>
          <a:xfrm>
            <a:off x="8049768" y="2865755"/>
            <a:ext cx="44881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9-cell173"/>
          <p:cNvSpPr/>
          <p:nvPr/>
        </p:nvSpPr>
        <p:spPr>
          <a:xfrm>
            <a:off x="8498586" y="2865755"/>
            <a:ext cx="44881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9-cell174"/>
          <p:cNvSpPr/>
          <p:nvPr/>
        </p:nvSpPr>
        <p:spPr>
          <a:xfrm>
            <a:off x="8947404" y="2865755"/>
            <a:ext cx="44881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9-cell175"/>
          <p:cNvSpPr/>
          <p:nvPr/>
        </p:nvSpPr>
        <p:spPr>
          <a:xfrm>
            <a:off x="9396222" y="2865755"/>
            <a:ext cx="44881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9-cell176"/>
          <p:cNvSpPr/>
          <p:nvPr/>
        </p:nvSpPr>
        <p:spPr>
          <a:xfrm>
            <a:off x="9845040" y="2865755"/>
            <a:ext cx="44881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9-cell177"/>
          <p:cNvSpPr/>
          <p:nvPr/>
        </p:nvSpPr>
        <p:spPr>
          <a:xfrm>
            <a:off x="10293858" y="2865755"/>
            <a:ext cx="44881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09-cell178"/>
          <p:cNvSpPr/>
          <p:nvPr/>
        </p:nvSpPr>
        <p:spPr>
          <a:xfrm>
            <a:off x="10742676" y="2865755"/>
            <a:ext cx="44881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9-cell179"/>
          <p:cNvSpPr/>
          <p:nvPr/>
        </p:nvSpPr>
        <p:spPr>
          <a:xfrm>
            <a:off x="11191494" y="2865755"/>
            <a:ext cx="44881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0" name="S09-figure180" descr="똑같이 12칸으로 나눈 띠, 3칸 색칠"/>
          <p:cNvSpPr/>
          <p:nvPr/>
        </p:nvSpPr>
        <p:spPr>
          <a:xfrm>
            <a:off x="6254496" y="2865755"/>
            <a:ext cx="538581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51" name="S09-label181"/>
          <p:cNvSpPr txBox="1"/>
          <p:nvPr/>
        </p:nvSpPr>
        <p:spPr>
          <a:xfrm>
            <a:off x="6254496" y="422275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3개월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바꾸어 보아요</a:t>
            </a:r>
            <a:endParaRPr lang="ko-KR" sz="4400" dirty="0"/>
          </a:p>
        </p:txBody>
      </p:sp>
      <p:sp>
        <p:nvSpPr>
          <p:cNvPr id="3" name="S10-card1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0-cardtext1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1주일 = 7일, 1년 = 12개월이에요.</a:t>
            </a:r>
            <a:endParaRPr lang="ko-KR" sz="3200" dirty="0"/>
          </a:p>
        </p:txBody>
      </p:sp>
      <p:sp>
        <p:nvSpPr>
          <p:cNvPr id="5" name="S10-chip18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10-eqtext185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3주일 = □ 일</a:t>
            </a:r>
            <a:endParaRPr lang="ko-KR" sz="3200" dirty="0"/>
          </a:p>
        </p:txBody>
      </p:sp>
      <p:sp>
        <p:nvSpPr>
          <p:cNvPr id="7" name="S10-chip186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0-eqtext187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= □ 개월</a:t>
            </a:r>
            <a:endParaRPr lang="ko-KR" sz="3200" dirty="0"/>
          </a:p>
        </p:txBody>
      </p:sp>
      <p:sp>
        <p:nvSpPr>
          <p:cNvPr id="9" name="S10-chip188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10-eqtext189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5개월 = □개월</a:t>
            </a:r>
            <a:endParaRPr lang="ko-KR" sz="3200" dirty="0"/>
          </a:p>
        </p:txBody>
      </p:sp>
      <p:sp>
        <p:nvSpPr>
          <p:cNvPr id="11" name="S10-chip190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10-eqtext191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14개월 = □년 □개월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text1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달력을 보고 답해요.</a:t>
            </a:r>
            <a:endParaRPr lang="ko-KR" sz="3200" dirty="0"/>
          </a:p>
        </p:txBody>
      </p:sp>
      <p:graphicFrame>
        <p:nvGraphicFramePr>
          <p:cNvPr id="12" name="S11-table1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8514" y="2529840"/>
          <a:ext cx="51206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731520"/>
                <a:gridCol w="731520"/>
                <a:gridCol w="731520"/>
                <a:gridCol w="731520"/>
              </a:tblGrid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금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토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11-chip19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11-text195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27일은 무슨 요일?</a:t>
            </a:r>
            <a:endParaRPr lang="ko-KR" sz="3200" dirty="0"/>
          </a:p>
        </p:txBody>
      </p:sp>
      <p:sp>
        <p:nvSpPr>
          <p:cNvPr id="7" name="S11-chip19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11-text197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14일에서 2주일 뒤는?</a:t>
            </a:r>
            <a:endParaRPr lang="ko-KR" sz="3200" dirty="0"/>
          </a:p>
        </p:txBody>
      </p:sp>
      <p:sp>
        <p:nvSpPr>
          <p:cNvPr id="9" name="S11-chip19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11-eqtext199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 4개월 = □개월</a:t>
            </a:r>
            <a:endParaRPr lang="ko-KR" sz="3600" dirty="0"/>
          </a:p>
        </p:txBody>
      </p:sp>
      <p:sp>
        <p:nvSpPr>
          <p:cNvPr id="11" name="S11-chip200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11-text201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9월은 며칠까지?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2-card202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203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달력에서 손가락으로 짚으며 다시 세게 하세요.</a:t>
            </a:r>
            <a:endParaRPr lang="ko-KR" sz="3200" dirty="0"/>
          </a:p>
        </p:txBody>
      </p:sp>
      <p:sp>
        <p:nvSpPr>
          <p:cNvPr id="5" name="S12-chip20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text205"/>
          <p:cNvSpPr txBox="1"/>
          <p:nvPr/>
        </p:nvSpPr>
        <p:spPr>
          <a:xfrm>
            <a:off x="548640" y="2057400"/>
            <a:ext cx="268147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월요일</a:t>
            </a:r>
            <a:endParaRPr lang="ko-KR" sz="3200" dirty="0"/>
          </a:p>
        </p:txBody>
      </p:sp>
      <p:sp>
        <p:nvSpPr>
          <p:cNvPr id="7" name="S12-text206"/>
          <p:cNvSpPr txBox="1"/>
          <p:nvPr/>
        </p:nvSpPr>
        <p:spPr>
          <a:xfrm>
            <a:off x="3367278" y="2057400"/>
            <a:ext cx="254431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위로 올라가기</a:t>
            </a:r>
            <a:endParaRPr lang="ko-KR" sz="2600" dirty="0"/>
          </a:p>
        </p:txBody>
      </p:sp>
      <p:sp>
        <p:nvSpPr>
          <p:cNvPr id="8" name="S12-text207"/>
          <p:cNvSpPr txBox="1"/>
          <p:nvPr/>
        </p:nvSpPr>
        <p:spPr>
          <a:xfrm>
            <a:off x="548640" y="2744470"/>
            <a:ext cx="268147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28일</a:t>
            </a:r>
            <a:endParaRPr lang="ko-KR" sz="3200" dirty="0"/>
          </a:p>
        </p:txBody>
      </p:sp>
      <p:sp>
        <p:nvSpPr>
          <p:cNvPr id="9" name="S12-text208"/>
          <p:cNvSpPr txBox="1"/>
          <p:nvPr/>
        </p:nvSpPr>
        <p:spPr>
          <a:xfrm>
            <a:off x="3367278" y="2744470"/>
            <a:ext cx="254431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+ 7 + 7</a:t>
            </a:r>
            <a:endParaRPr lang="ko-KR" sz="2600" dirty="0"/>
          </a:p>
        </p:txBody>
      </p:sp>
      <p:sp>
        <p:nvSpPr>
          <p:cNvPr id="10" name="S12-text209"/>
          <p:cNvSpPr txBox="1"/>
          <p:nvPr/>
        </p:nvSpPr>
        <p:spPr>
          <a:xfrm>
            <a:off x="548640" y="3431540"/>
            <a:ext cx="268147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16개월</a:t>
            </a:r>
            <a:endParaRPr lang="ko-KR" sz="3200" dirty="0"/>
          </a:p>
        </p:txBody>
      </p:sp>
      <p:sp>
        <p:nvSpPr>
          <p:cNvPr id="11" name="S12-text210"/>
          <p:cNvSpPr txBox="1"/>
          <p:nvPr/>
        </p:nvSpPr>
        <p:spPr>
          <a:xfrm>
            <a:off x="3367278" y="3431540"/>
            <a:ext cx="254431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+ 4</a:t>
            </a:r>
            <a:endParaRPr lang="ko-KR" sz="2600" dirty="0"/>
          </a:p>
        </p:txBody>
      </p:sp>
      <p:sp>
        <p:nvSpPr>
          <p:cNvPr id="12" name="S12-text211"/>
          <p:cNvSpPr txBox="1"/>
          <p:nvPr/>
        </p:nvSpPr>
        <p:spPr>
          <a:xfrm>
            <a:off x="548640" y="4118610"/>
            <a:ext cx="268147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30일</a:t>
            </a:r>
            <a:endParaRPr lang="ko-KR" sz="3200" dirty="0"/>
          </a:p>
        </p:txBody>
      </p:sp>
      <p:sp>
        <p:nvSpPr>
          <p:cNvPr id="13" name="S12-text212"/>
          <p:cNvSpPr txBox="1"/>
          <p:nvPr/>
        </p:nvSpPr>
        <p:spPr>
          <a:xfrm>
            <a:off x="3367278" y="4118610"/>
            <a:ext cx="2544318" cy="54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날수 표</a:t>
            </a:r>
            <a:endParaRPr lang="ko-KR" sz="2600" dirty="0"/>
          </a:p>
        </p:txBody>
      </p:sp>
      <p:sp>
        <p:nvSpPr>
          <p:cNvPr id="14" name="S12-chip21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5" name="S12-text214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21일</a:t>
            </a:r>
            <a:endParaRPr lang="ko-KR" sz="3200" dirty="0"/>
          </a:p>
        </p:txBody>
      </p:sp>
      <p:sp>
        <p:nvSpPr>
          <p:cNvPr id="16" name="S12-text215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1주일 뒤만 구함</a:t>
            </a:r>
            <a:endParaRPr lang="ko-KR" sz="2600" dirty="0"/>
          </a:p>
        </p:txBody>
      </p:sp>
      <p:sp>
        <p:nvSpPr>
          <p:cNvPr id="17" name="S12-text216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14개월</a:t>
            </a:r>
            <a:endParaRPr lang="ko-KR" sz="3200" dirty="0"/>
          </a:p>
        </p:txBody>
      </p:sp>
      <p:sp>
        <p:nvSpPr>
          <p:cNvPr id="18" name="S12-text217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1년을 10개월로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3일 뒤는 언제?</a:t>
            </a:r>
            <a:endParaRPr lang="ko-KR" sz="4400" dirty="0"/>
          </a:p>
        </p:txBody>
      </p:sp>
      <p:sp>
        <p:nvSpPr>
          <p:cNvPr id="3" name="S13-text21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11월 3일 금요일에서 3일 뒤예요.</a:t>
            </a:r>
            <a:endParaRPr lang="ko-KR" sz="3200" dirty="0"/>
          </a:p>
        </p:txBody>
      </p:sp>
      <p:sp>
        <p:nvSpPr>
          <p:cNvPr id="4" name="S13-card2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2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것을 고르고, 어떻게 알았는지 말해요.</a:t>
            </a:r>
            <a:endParaRPr lang="ko-KR" sz="3200" dirty="0"/>
          </a:p>
        </p:txBody>
      </p:sp>
      <p:sp>
        <p:nvSpPr>
          <p:cNvPr id="6" name="S13-chip221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3-card222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3-cardtext223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5일 일요일</a:t>
            </a:r>
            <a:endParaRPr lang="ko-KR" sz="3200" dirty="0"/>
          </a:p>
        </p:txBody>
      </p:sp>
      <p:sp>
        <p:nvSpPr>
          <p:cNvPr id="9" name="S13-chip224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3-card225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3-cardtext226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6일 월요일</a:t>
            </a:r>
            <a:endParaRPr lang="ko-KR" sz="3200" dirty="0"/>
          </a:p>
        </p:txBody>
      </p:sp>
      <p:sp>
        <p:nvSpPr>
          <p:cNvPr id="12" name="S13-chip227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3-card228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229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10일 금요일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4-card23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23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1주일 = 7일, 1년 = 12개월이에요.</a:t>
            </a:r>
            <a:endParaRPr lang="ko-KR" sz="3200" dirty="0"/>
          </a:p>
        </p:txBody>
      </p:sp>
      <p:sp>
        <p:nvSpPr>
          <p:cNvPr id="5" name="S14-chip232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요일은 7일마다</a:t>
            </a:r>
            <a:endParaRPr lang="ko-KR" sz="2600" dirty="0"/>
          </a:p>
        </p:txBody>
      </p:sp>
      <p:sp>
        <p:nvSpPr>
          <p:cNvPr id="6" name="S14-chip233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시작한 날부터 세기</a:t>
            </a:r>
            <a:endParaRPr lang="ko-KR" sz="2600" dirty="0"/>
          </a:p>
        </p:txBody>
      </p:sp>
      <p:sp>
        <p:nvSpPr>
          <p:cNvPr id="7" name="S14-text234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4-text235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3주일은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며칠?</a:t>
            </a:r>
            <a:endParaRPr lang="ko-KR" sz="2600" dirty="0"/>
          </a:p>
        </p:txBody>
      </p:sp>
      <p:sp>
        <p:nvSpPr>
          <p:cNvPr id="9" name="S14-text236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1년 6개월은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개월?</a:t>
            </a:r>
            <a:endParaRPr lang="ko-KR" sz="2600" dirty="0"/>
          </a:p>
        </p:txBody>
      </p:sp>
      <p:sp>
        <p:nvSpPr>
          <p:cNvPr id="10" name="S14-text237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31일까지 있는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 하나는?</a:t>
            </a:r>
            <a:endParaRPr lang="ko-KR" sz="2600" dirty="0"/>
          </a:p>
        </p:txBody>
      </p:sp>
      <p:sp>
        <p:nvSpPr>
          <p:cNvPr id="11" name="S14-text23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분류하기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요일과 7씩 세기</a:t>
            </a:r>
            <a:endParaRPr lang="ko-KR" sz="4400" dirty="0"/>
          </a:p>
        </p:txBody>
      </p:sp>
      <p:sp>
        <p:nvSpPr>
          <p:cNvPr id="3" name="S15-text2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요일은 이 순서로 돌고 돌아요.</a:t>
            </a:r>
            <a:endParaRPr lang="ko-KR" sz="3200" dirty="0"/>
          </a:p>
        </p:txBody>
      </p:sp>
      <p:sp>
        <p:nvSpPr>
          <p:cNvPr id="4" name="S15-card24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24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7씩 세기: 7, 14, 21, 28</a:t>
            </a:r>
            <a:endParaRPr lang="ko-KR" sz="3200" dirty="0"/>
          </a:p>
        </p:txBody>
      </p:sp>
      <p:sp>
        <p:nvSpPr>
          <p:cNvPr id="6" name="S15-step242"/>
          <p:cNvSpPr txBox="1"/>
          <p:nvPr/>
        </p:nvSpPr>
        <p:spPr>
          <a:xfrm>
            <a:off x="548640" y="2651760"/>
            <a:ext cx="1231827" cy="1371600"/>
          </a:xfrm>
          <a:prstGeom prst="roundRect">
            <a:avLst>
              <a:gd name="adj" fmla="val 8908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</a:t>
            </a:r>
            <a:endParaRPr lang="ko-KR" sz="2600" dirty="0"/>
          </a:p>
        </p:txBody>
      </p:sp>
      <p:sp>
        <p:nvSpPr>
          <p:cNvPr id="7" name="S15-line243"/>
          <p:cNvSpPr/>
          <p:nvPr/>
        </p:nvSpPr>
        <p:spPr>
          <a:xfrm>
            <a:off x="1835331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15-step244"/>
          <p:cNvSpPr txBox="1"/>
          <p:nvPr/>
        </p:nvSpPr>
        <p:spPr>
          <a:xfrm>
            <a:off x="2191947" y="2651760"/>
            <a:ext cx="1231827" cy="1371600"/>
          </a:xfrm>
          <a:prstGeom prst="roundRect">
            <a:avLst>
              <a:gd name="adj" fmla="val 8908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</a:t>
            </a:r>
            <a:endParaRPr lang="ko-KR" sz="2600" dirty="0"/>
          </a:p>
        </p:txBody>
      </p:sp>
      <p:sp>
        <p:nvSpPr>
          <p:cNvPr id="9" name="S15-line245"/>
          <p:cNvSpPr/>
          <p:nvPr/>
        </p:nvSpPr>
        <p:spPr>
          <a:xfrm>
            <a:off x="3478639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15-step246"/>
          <p:cNvSpPr txBox="1"/>
          <p:nvPr/>
        </p:nvSpPr>
        <p:spPr>
          <a:xfrm>
            <a:off x="3835255" y="2651760"/>
            <a:ext cx="1231827" cy="1371600"/>
          </a:xfrm>
          <a:prstGeom prst="roundRect">
            <a:avLst>
              <a:gd name="adj" fmla="val 8908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</a:t>
            </a:r>
            <a:endParaRPr lang="ko-KR" sz="2600" dirty="0"/>
          </a:p>
        </p:txBody>
      </p:sp>
      <p:sp>
        <p:nvSpPr>
          <p:cNvPr id="11" name="S15-line247"/>
          <p:cNvSpPr/>
          <p:nvPr/>
        </p:nvSpPr>
        <p:spPr>
          <a:xfrm>
            <a:off x="5121946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15-step248"/>
          <p:cNvSpPr txBox="1"/>
          <p:nvPr/>
        </p:nvSpPr>
        <p:spPr>
          <a:xfrm>
            <a:off x="5478562" y="2651760"/>
            <a:ext cx="1231827" cy="1371600"/>
          </a:xfrm>
          <a:prstGeom prst="roundRect">
            <a:avLst>
              <a:gd name="adj" fmla="val 8908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</a:t>
            </a:r>
            <a:endParaRPr lang="ko-KR" sz="2600" dirty="0"/>
          </a:p>
        </p:txBody>
      </p:sp>
      <p:sp>
        <p:nvSpPr>
          <p:cNvPr id="13" name="S15-line249"/>
          <p:cNvSpPr/>
          <p:nvPr/>
        </p:nvSpPr>
        <p:spPr>
          <a:xfrm>
            <a:off x="6765254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4" name="S15-step250"/>
          <p:cNvSpPr txBox="1"/>
          <p:nvPr/>
        </p:nvSpPr>
        <p:spPr>
          <a:xfrm>
            <a:off x="7121870" y="2651760"/>
            <a:ext cx="1231827" cy="1371600"/>
          </a:xfrm>
          <a:prstGeom prst="roundRect">
            <a:avLst>
              <a:gd name="adj" fmla="val 8908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</a:t>
            </a:r>
            <a:endParaRPr lang="ko-KR" sz="2600" dirty="0"/>
          </a:p>
        </p:txBody>
      </p:sp>
      <p:sp>
        <p:nvSpPr>
          <p:cNvPr id="15" name="S15-line251"/>
          <p:cNvSpPr/>
          <p:nvPr/>
        </p:nvSpPr>
        <p:spPr>
          <a:xfrm>
            <a:off x="8408561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6" name="S15-step252"/>
          <p:cNvSpPr txBox="1"/>
          <p:nvPr/>
        </p:nvSpPr>
        <p:spPr>
          <a:xfrm>
            <a:off x="8765177" y="2651760"/>
            <a:ext cx="1231827" cy="1371600"/>
          </a:xfrm>
          <a:prstGeom prst="roundRect">
            <a:avLst>
              <a:gd name="adj" fmla="val 8908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금</a:t>
            </a:r>
            <a:endParaRPr lang="ko-KR" sz="2600" dirty="0"/>
          </a:p>
        </p:txBody>
      </p:sp>
      <p:sp>
        <p:nvSpPr>
          <p:cNvPr id="17" name="S15-line253"/>
          <p:cNvSpPr/>
          <p:nvPr/>
        </p:nvSpPr>
        <p:spPr>
          <a:xfrm>
            <a:off x="10051869" y="33375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8" name="S15-step254"/>
          <p:cNvSpPr txBox="1"/>
          <p:nvPr/>
        </p:nvSpPr>
        <p:spPr>
          <a:xfrm>
            <a:off x="10408485" y="2651760"/>
            <a:ext cx="1231827" cy="1371600"/>
          </a:xfrm>
          <a:prstGeom prst="roundRect">
            <a:avLst>
              <a:gd name="adj" fmla="val 8908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</a:t>
            </a:r>
            <a:endParaRPr lang="ko-KR" sz="2600" dirty="0"/>
          </a:p>
        </p:txBody>
      </p:sp>
      <p:sp>
        <p:nvSpPr>
          <p:cNvPr id="19" name="S15-line255"/>
          <p:cNvSpPr/>
          <p:nvPr/>
        </p:nvSpPr>
        <p:spPr>
          <a:xfrm>
            <a:off x="11024398" y="4023360"/>
            <a:ext cx="0" cy="32004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20" name="S15-line256"/>
          <p:cNvSpPr/>
          <p:nvPr/>
        </p:nvSpPr>
        <p:spPr>
          <a:xfrm flipH="1">
            <a:off x="1164554" y="4343400"/>
            <a:ext cx="9859845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</a:ln>
        </p:spPr>
      </p:sp>
      <p:sp>
        <p:nvSpPr>
          <p:cNvPr id="21" name="S15-line257"/>
          <p:cNvSpPr/>
          <p:nvPr/>
        </p:nvSpPr>
        <p:spPr>
          <a:xfrm flipV="1">
            <a:off x="1164554" y="4041648"/>
            <a:ext cx="0" cy="301752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달력 보기</dc:title>
  <dc:subject>KR22-G02-MAT-CALENDAR-L01</dc:subject>
  <dc:creator>education-ppt</dc:creator>
  <cp:lastModifiedBy>education-ppt</cp:lastModifiedBy>
  <cp:revision>1</cp:revision>
  <dcterms:created xsi:type="dcterms:W3CDTF">2026-10-26T07:33:41Z</dcterms:created>
  <dcterms:modified xsi:type="dcterms:W3CDTF">2026-10-26T07:33:41Z</dcterms:modified>
</cp:coreProperties>
</file>