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09c713b-1989-a02e-693d-199098349cd8}">
          <p14:sldIdLst>
            <p14:sldId id="256"/>
            <p14:sldId id="257"/>
          </p14:sldIdLst>
        </p14:section>
        <p14:section name="개념" id="{2046fdd3-7ba9-bdc6-5263-eae6d9689333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9d9168fb-f235-81cc-0335-5e1065801ebd}">
          <p14:sldIdLst>
            <p14:sldId id="261"/>
            <p14:sldId id="262"/>
            <p14:sldId id="265"/>
            <p14:sldId id="266"/>
          </p14:sldIdLst>
        </p14:section>
        <p14:section name="개념" id="{119309b4-7e69-ca65-371d-d6093750bbae}">
          <p14:sldIdLst/>
        </p14:section>
        <p14:section name="연습" id="{c32d3a64-265f-e8aa-6ada-71295ea4326a}">
          <p14:sldIdLst/>
        </p14:section>
        <p14:section name="확인" id="{7e3af535-2e7d-3871-b672-59e258644a36}">
          <p14:sldIdLst>
            <p14:sldId id="267"/>
            <p14:sldId id="268"/>
          </p14:sldIdLst>
        </p14:section>
        <p14:section name="정리" id="{10dbbd3c-40eb-da7e-fee8-6fb149e4f233}">
          <p14:sldIdLst>
            <p14:sldId id="269"/>
          </p14:sldIdLst>
        </p14:section>
        <p14:section name="보충" id="{2dbecbce-a907-a8a1-d8c7-86ff20a3c08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m와 cm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m와 cm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m와 cm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m와 cm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cm보다 긴 길이는 어떻게 말할까?</a:t>
            </a:r>
            <a:endParaRPr lang="ko-KR" sz="3200" dirty="0"/>
          </a:p>
        </p:txBody>
      </p:sp>
      <p:sp>
        <p:nvSpPr>
          <p:cNvPr id="4" name="S01-line1"/>
          <p:cNvSpPr/>
          <p:nvPr/>
        </p:nvSpPr>
        <p:spPr>
          <a:xfrm>
            <a:off x="7818120" y="2454250"/>
            <a:ext cx="3657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1-line2"/>
          <p:cNvSpPr/>
          <p:nvPr/>
        </p:nvSpPr>
        <p:spPr>
          <a:xfrm>
            <a:off x="809244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1-label3"/>
          <p:cNvSpPr txBox="1"/>
          <p:nvPr/>
        </p:nvSpPr>
        <p:spPr>
          <a:xfrm>
            <a:off x="7635240" y="263713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7" name="S01-line4"/>
          <p:cNvSpPr/>
          <p:nvPr/>
        </p:nvSpPr>
        <p:spPr>
          <a:xfrm>
            <a:off x="8403336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8714232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9025128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9336024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964692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9957816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10268712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>
            <a:off x="10579608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10890504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11201400" y="230794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1-label14"/>
          <p:cNvSpPr txBox="1"/>
          <p:nvPr/>
        </p:nvSpPr>
        <p:spPr>
          <a:xfrm>
            <a:off x="10744200" y="263713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600" dirty="0"/>
          </a:p>
        </p:txBody>
      </p:sp>
      <p:sp>
        <p:nvSpPr>
          <p:cNvPr id="18" name="S01-mark15"/>
          <p:cNvSpPr/>
          <p:nvPr/>
        </p:nvSpPr>
        <p:spPr>
          <a:xfrm>
            <a:off x="8001000" y="236281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11109960" y="236281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V="1">
            <a:off x="8092440" y="207020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8092440" y="2070202"/>
            <a:ext cx="310896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01-label19"/>
          <p:cNvSpPr txBox="1"/>
          <p:nvPr/>
        </p:nvSpPr>
        <p:spPr>
          <a:xfrm>
            <a:off x="8092440" y="1787754"/>
            <a:ext cx="310896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1600" dirty="0"/>
          </a:p>
        </p:txBody>
      </p:sp>
      <p:sp>
        <p:nvSpPr>
          <p:cNvPr id="23" name="S01-figure20" descr="0부터 100까지 10 cm마다 눈금이 있는 수직선. 0에서 100까지가 1 m"/>
          <p:cNvSpPr/>
          <p:nvPr/>
        </p:nvSpPr>
        <p:spPr>
          <a:xfrm>
            <a:off x="7818120" y="2271370"/>
            <a:ext cx="365760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1-card2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5" name="S01-cardtext2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 m = 100 cm를 알고 바꾸어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m와 cm로 된 길이를 더하고 빼요.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23"/>
          <p:cNvSpPr txBox="1"/>
          <p:nvPr/>
        </p:nvSpPr>
        <p:spPr>
          <a:xfrm>
            <a:off x="548640" y="22197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line24"/>
          <p:cNvSpPr/>
          <p:nvPr/>
        </p:nvSpPr>
        <p:spPr>
          <a:xfrm>
            <a:off x="1481328" y="2785720"/>
            <a:ext cx="42931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2-line25"/>
          <p:cNvSpPr/>
          <p:nvPr/>
        </p:nvSpPr>
        <p:spPr>
          <a:xfrm>
            <a:off x="1755648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2-label26"/>
          <p:cNvSpPr txBox="1"/>
          <p:nvPr/>
        </p:nvSpPr>
        <p:spPr>
          <a:xfrm>
            <a:off x="1298448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7" name="S02-line27"/>
          <p:cNvSpPr/>
          <p:nvPr/>
        </p:nvSpPr>
        <p:spPr>
          <a:xfrm>
            <a:off x="2130095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2-label28"/>
          <p:cNvSpPr txBox="1"/>
          <p:nvPr/>
        </p:nvSpPr>
        <p:spPr>
          <a:xfrm>
            <a:off x="1672895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9" name="S02-line29"/>
          <p:cNvSpPr/>
          <p:nvPr/>
        </p:nvSpPr>
        <p:spPr>
          <a:xfrm>
            <a:off x="2504542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2-label30"/>
          <p:cNvSpPr txBox="1"/>
          <p:nvPr/>
        </p:nvSpPr>
        <p:spPr>
          <a:xfrm>
            <a:off x="2047342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1" name="S02-line31"/>
          <p:cNvSpPr/>
          <p:nvPr/>
        </p:nvSpPr>
        <p:spPr>
          <a:xfrm>
            <a:off x="2878988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2-label32"/>
          <p:cNvSpPr txBox="1"/>
          <p:nvPr/>
        </p:nvSpPr>
        <p:spPr>
          <a:xfrm>
            <a:off x="2421788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3" name="S02-line33"/>
          <p:cNvSpPr/>
          <p:nvPr/>
        </p:nvSpPr>
        <p:spPr>
          <a:xfrm>
            <a:off x="3253435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2-label34"/>
          <p:cNvSpPr txBox="1"/>
          <p:nvPr/>
        </p:nvSpPr>
        <p:spPr>
          <a:xfrm>
            <a:off x="2796235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5" name="S02-line35"/>
          <p:cNvSpPr/>
          <p:nvPr/>
        </p:nvSpPr>
        <p:spPr>
          <a:xfrm>
            <a:off x="3627882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2-label36"/>
          <p:cNvSpPr txBox="1"/>
          <p:nvPr/>
        </p:nvSpPr>
        <p:spPr>
          <a:xfrm>
            <a:off x="3170682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7" name="S02-line37"/>
          <p:cNvSpPr/>
          <p:nvPr/>
        </p:nvSpPr>
        <p:spPr>
          <a:xfrm>
            <a:off x="4002329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2-label38"/>
          <p:cNvSpPr txBox="1"/>
          <p:nvPr/>
        </p:nvSpPr>
        <p:spPr>
          <a:xfrm>
            <a:off x="3545129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9" name="S02-line39"/>
          <p:cNvSpPr/>
          <p:nvPr/>
        </p:nvSpPr>
        <p:spPr>
          <a:xfrm>
            <a:off x="4376776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2-label40"/>
          <p:cNvSpPr txBox="1"/>
          <p:nvPr/>
        </p:nvSpPr>
        <p:spPr>
          <a:xfrm>
            <a:off x="3919576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1" name="S02-line41"/>
          <p:cNvSpPr/>
          <p:nvPr/>
        </p:nvSpPr>
        <p:spPr>
          <a:xfrm>
            <a:off x="4751222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2-label42"/>
          <p:cNvSpPr txBox="1"/>
          <p:nvPr/>
        </p:nvSpPr>
        <p:spPr>
          <a:xfrm>
            <a:off x="4294022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3" name="S02-line43"/>
          <p:cNvSpPr/>
          <p:nvPr/>
        </p:nvSpPr>
        <p:spPr>
          <a:xfrm>
            <a:off x="5125669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2-label44"/>
          <p:cNvSpPr txBox="1"/>
          <p:nvPr/>
        </p:nvSpPr>
        <p:spPr>
          <a:xfrm>
            <a:off x="4668469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5" name="S02-line45"/>
          <p:cNvSpPr/>
          <p:nvPr/>
        </p:nvSpPr>
        <p:spPr>
          <a:xfrm>
            <a:off x="5500116" y="263941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2-label46"/>
          <p:cNvSpPr txBox="1"/>
          <p:nvPr/>
        </p:nvSpPr>
        <p:spPr>
          <a:xfrm>
            <a:off x="5042916" y="296860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7" name="S02-mark47"/>
          <p:cNvSpPr/>
          <p:nvPr/>
        </p:nvSpPr>
        <p:spPr>
          <a:xfrm>
            <a:off x="2413102" y="2694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2-mark48"/>
          <p:cNvSpPr/>
          <p:nvPr/>
        </p:nvSpPr>
        <p:spPr>
          <a:xfrm>
            <a:off x="4659782" y="269428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9" name="S02-line49"/>
          <p:cNvSpPr/>
          <p:nvPr/>
        </p:nvSpPr>
        <p:spPr>
          <a:xfrm flipV="1">
            <a:off x="2504542" y="240167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02-line50"/>
          <p:cNvSpPr/>
          <p:nvPr/>
        </p:nvSpPr>
        <p:spPr>
          <a:xfrm>
            <a:off x="2504542" y="2401672"/>
            <a:ext cx="224668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02-label51"/>
          <p:cNvSpPr txBox="1"/>
          <p:nvPr/>
        </p:nvSpPr>
        <p:spPr>
          <a:xfrm>
            <a:off x="2504542" y="2119224"/>
            <a:ext cx="2246681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</a:t>
            </a:r>
            <a:endParaRPr lang="ko-KR" sz="1600" dirty="0"/>
          </a:p>
        </p:txBody>
      </p:sp>
      <p:sp>
        <p:nvSpPr>
          <p:cNvPr id="32" name="S02-figure52" descr="0부터 10까지 1 cm 눈금이 있는 자 그림. 지우개의 한끝은 눈금 2, 다른 끝은 눈금 8에 있음"/>
          <p:cNvSpPr/>
          <p:nvPr/>
        </p:nvSpPr>
        <p:spPr>
          <a:xfrm>
            <a:off x="1481328" y="2602840"/>
            <a:ext cx="4293108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2-chip5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2-text5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cm가 10번이면?</a:t>
            </a:r>
            <a:endParaRPr lang="ko-KR" sz="3200" dirty="0"/>
          </a:p>
        </p:txBody>
      </p:sp>
      <p:sp>
        <p:nvSpPr>
          <p:cNvPr id="35" name="S02-chip5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6" name="S02-eqtext56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+ 32 = □</a:t>
            </a:r>
            <a:endParaRPr lang="ko-KR" sz="3600" dirty="0"/>
          </a:p>
        </p:txBody>
      </p:sp>
      <p:sp>
        <p:nvSpPr>
          <p:cNvPr id="37" name="S02-chip57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38" name="S02-eqtext58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68 − 25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m를 알아봐요</a:t>
            </a:r>
            <a:endParaRPr lang="ko-KR" sz="4400" dirty="0"/>
          </a:p>
        </p:txBody>
      </p:sp>
      <p:sp>
        <p:nvSpPr>
          <p:cNvPr id="3" name="S03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cm를 1 m라고 해요.</a:t>
            </a:r>
            <a:endParaRPr lang="ko-KR" sz="3200" dirty="0"/>
          </a:p>
        </p:txBody>
      </p:sp>
      <p:sp>
        <p:nvSpPr>
          <p:cNvPr id="4" name="S03-card60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61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m는 ‘1 미터’라고 읽어요.</a:t>
            </a:r>
            <a:endParaRPr lang="ko-KR" sz="3200" dirty="0"/>
          </a:p>
        </p:txBody>
      </p:sp>
      <p:sp>
        <p:nvSpPr>
          <p:cNvPr id="6" name="S03-card62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63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cm가 10번이면 1 m예요.</a:t>
            </a:r>
            <a:endParaRPr lang="ko-KR" sz="3200" dirty="0"/>
          </a:p>
        </p:txBody>
      </p:sp>
      <p:sp>
        <p:nvSpPr>
          <p:cNvPr id="8" name="S03-line64"/>
          <p:cNvSpPr/>
          <p:nvPr/>
        </p:nvSpPr>
        <p:spPr>
          <a:xfrm>
            <a:off x="685800" y="3658921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3-line65"/>
          <p:cNvSpPr/>
          <p:nvPr/>
        </p:nvSpPr>
        <p:spPr>
          <a:xfrm>
            <a:off x="960120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label66"/>
          <p:cNvSpPr txBox="1"/>
          <p:nvPr/>
        </p:nvSpPr>
        <p:spPr>
          <a:xfrm>
            <a:off x="502920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03-line67"/>
          <p:cNvSpPr/>
          <p:nvPr/>
        </p:nvSpPr>
        <p:spPr>
          <a:xfrm>
            <a:off x="1986991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label68"/>
          <p:cNvSpPr txBox="1"/>
          <p:nvPr/>
        </p:nvSpPr>
        <p:spPr>
          <a:xfrm>
            <a:off x="1529791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3" name="S03-line69"/>
          <p:cNvSpPr/>
          <p:nvPr/>
        </p:nvSpPr>
        <p:spPr>
          <a:xfrm>
            <a:off x="3013862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label70"/>
          <p:cNvSpPr txBox="1"/>
          <p:nvPr/>
        </p:nvSpPr>
        <p:spPr>
          <a:xfrm>
            <a:off x="2556662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600" dirty="0"/>
          </a:p>
        </p:txBody>
      </p:sp>
      <p:sp>
        <p:nvSpPr>
          <p:cNvPr id="15" name="S03-line71"/>
          <p:cNvSpPr/>
          <p:nvPr/>
        </p:nvSpPr>
        <p:spPr>
          <a:xfrm>
            <a:off x="4040734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label72"/>
          <p:cNvSpPr txBox="1"/>
          <p:nvPr/>
        </p:nvSpPr>
        <p:spPr>
          <a:xfrm>
            <a:off x="3583534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600" dirty="0"/>
          </a:p>
        </p:txBody>
      </p:sp>
      <p:sp>
        <p:nvSpPr>
          <p:cNvPr id="17" name="S03-line73"/>
          <p:cNvSpPr/>
          <p:nvPr/>
        </p:nvSpPr>
        <p:spPr>
          <a:xfrm>
            <a:off x="5067605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label74"/>
          <p:cNvSpPr txBox="1"/>
          <p:nvPr/>
        </p:nvSpPr>
        <p:spPr>
          <a:xfrm>
            <a:off x="4610405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600" dirty="0"/>
          </a:p>
        </p:txBody>
      </p:sp>
      <p:sp>
        <p:nvSpPr>
          <p:cNvPr id="19" name="S03-line75"/>
          <p:cNvSpPr/>
          <p:nvPr/>
        </p:nvSpPr>
        <p:spPr>
          <a:xfrm>
            <a:off x="6094476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label76"/>
          <p:cNvSpPr txBox="1"/>
          <p:nvPr/>
        </p:nvSpPr>
        <p:spPr>
          <a:xfrm>
            <a:off x="5637276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600" dirty="0"/>
          </a:p>
        </p:txBody>
      </p:sp>
      <p:sp>
        <p:nvSpPr>
          <p:cNvPr id="21" name="S03-line77"/>
          <p:cNvSpPr/>
          <p:nvPr/>
        </p:nvSpPr>
        <p:spPr>
          <a:xfrm>
            <a:off x="7121347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label78"/>
          <p:cNvSpPr txBox="1"/>
          <p:nvPr/>
        </p:nvSpPr>
        <p:spPr>
          <a:xfrm>
            <a:off x="6664147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600" dirty="0"/>
          </a:p>
        </p:txBody>
      </p:sp>
      <p:sp>
        <p:nvSpPr>
          <p:cNvPr id="23" name="S03-line79"/>
          <p:cNvSpPr/>
          <p:nvPr/>
        </p:nvSpPr>
        <p:spPr>
          <a:xfrm>
            <a:off x="8148218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label80"/>
          <p:cNvSpPr txBox="1"/>
          <p:nvPr/>
        </p:nvSpPr>
        <p:spPr>
          <a:xfrm>
            <a:off x="7691018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2600" dirty="0"/>
          </a:p>
        </p:txBody>
      </p:sp>
      <p:sp>
        <p:nvSpPr>
          <p:cNvPr id="25" name="S03-line81"/>
          <p:cNvSpPr/>
          <p:nvPr/>
        </p:nvSpPr>
        <p:spPr>
          <a:xfrm>
            <a:off x="9175090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3-label82"/>
          <p:cNvSpPr txBox="1"/>
          <p:nvPr/>
        </p:nvSpPr>
        <p:spPr>
          <a:xfrm>
            <a:off x="8717890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600" dirty="0"/>
          </a:p>
        </p:txBody>
      </p:sp>
      <p:sp>
        <p:nvSpPr>
          <p:cNvPr id="27" name="S03-line83"/>
          <p:cNvSpPr/>
          <p:nvPr/>
        </p:nvSpPr>
        <p:spPr>
          <a:xfrm>
            <a:off x="10201961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3-label84"/>
          <p:cNvSpPr txBox="1"/>
          <p:nvPr/>
        </p:nvSpPr>
        <p:spPr>
          <a:xfrm>
            <a:off x="9744761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2600" dirty="0"/>
          </a:p>
        </p:txBody>
      </p:sp>
      <p:sp>
        <p:nvSpPr>
          <p:cNvPr id="29" name="S03-line85"/>
          <p:cNvSpPr/>
          <p:nvPr/>
        </p:nvSpPr>
        <p:spPr>
          <a:xfrm>
            <a:off x="11228832" y="3512617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3-label86"/>
          <p:cNvSpPr txBox="1"/>
          <p:nvPr/>
        </p:nvSpPr>
        <p:spPr>
          <a:xfrm>
            <a:off x="10771632" y="3841801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600" dirty="0"/>
          </a:p>
        </p:txBody>
      </p:sp>
      <p:sp>
        <p:nvSpPr>
          <p:cNvPr id="31" name="S03-mark87"/>
          <p:cNvSpPr/>
          <p:nvPr/>
        </p:nvSpPr>
        <p:spPr>
          <a:xfrm>
            <a:off x="868680" y="3567481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03-mark88"/>
          <p:cNvSpPr/>
          <p:nvPr/>
        </p:nvSpPr>
        <p:spPr>
          <a:xfrm>
            <a:off x="11137392" y="3567481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3" name="S03-line89"/>
          <p:cNvSpPr/>
          <p:nvPr/>
        </p:nvSpPr>
        <p:spPr>
          <a:xfrm flipV="1">
            <a:off x="960120" y="3274873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4" name="S03-line90"/>
          <p:cNvSpPr/>
          <p:nvPr/>
        </p:nvSpPr>
        <p:spPr>
          <a:xfrm>
            <a:off x="960120" y="3274873"/>
            <a:ext cx="1026871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3-label91"/>
          <p:cNvSpPr txBox="1"/>
          <p:nvPr/>
        </p:nvSpPr>
        <p:spPr>
          <a:xfrm>
            <a:off x="960120" y="2827325"/>
            <a:ext cx="1026871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</a:t>
            </a:r>
            <a:endParaRPr lang="ko-KR" sz="2600" dirty="0"/>
          </a:p>
        </p:txBody>
      </p:sp>
      <p:sp>
        <p:nvSpPr>
          <p:cNvPr id="36" name="S03-figure92" descr="0부터 100까지 10 cm마다 눈금이 있는 수직선. 0에서 100까지가 1 m = 100 cm"/>
          <p:cNvSpPr/>
          <p:nvPr/>
        </p:nvSpPr>
        <p:spPr>
          <a:xfrm>
            <a:off x="685800" y="3476041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 몇 cm</a:t>
            </a:r>
            <a:endParaRPr lang="ko-KR" sz="4400" dirty="0"/>
          </a:p>
        </p:txBody>
      </p:sp>
      <p:sp>
        <p:nvSpPr>
          <p:cNvPr id="3" name="S04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끈의 길이는 135 cm예요.</a:t>
            </a:r>
            <a:endParaRPr lang="ko-KR" sz="3200" dirty="0"/>
          </a:p>
        </p:txBody>
      </p:sp>
      <p:sp>
        <p:nvSpPr>
          <p:cNvPr id="4" name="S04-card9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9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135 cm = 1 m 35 cm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 미터 35 센티미터’라고 읽어요.</a:t>
            </a:r>
            <a:endParaRPr lang="ko-KR" sz="3200" dirty="0"/>
          </a:p>
        </p:txBody>
      </p:sp>
      <p:sp>
        <p:nvSpPr>
          <p:cNvPr id="6" name="S04-line96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4-line97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label98"/>
          <p:cNvSpPr txBox="1"/>
          <p:nvPr/>
        </p:nvSpPr>
        <p:spPr>
          <a:xfrm>
            <a:off x="502920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9" name="S04-line99"/>
          <p:cNvSpPr/>
          <p:nvPr/>
        </p:nvSpPr>
        <p:spPr>
          <a:xfrm>
            <a:off x="14735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ine100"/>
          <p:cNvSpPr/>
          <p:nvPr/>
        </p:nvSpPr>
        <p:spPr>
          <a:xfrm>
            <a:off x="198699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line101"/>
          <p:cNvSpPr/>
          <p:nvPr/>
        </p:nvSpPr>
        <p:spPr>
          <a:xfrm>
            <a:off x="2500427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ine102"/>
          <p:cNvSpPr/>
          <p:nvPr/>
        </p:nvSpPr>
        <p:spPr>
          <a:xfrm>
            <a:off x="301386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line103"/>
          <p:cNvSpPr/>
          <p:nvPr/>
        </p:nvSpPr>
        <p:spPr>
          <a:xfrm>
            <a:off x="352729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ine104"/>
          <p:cNvSpPr/>
          <p:nvPr/>
        </p:nvSpPr>
        <p:spPr>
          <a:xfrm>
            <a:off x="404073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line105"/>
          <p:cNvSpPr/>
          <p:nvPr/>
        </p:nvSpPr>
        <p:spPr>
          <a:xfrm>
            <a:off x="4554169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ine106"/>
          <p:cNvSpPr/>
          <p:nvPr/>
        </p:nvSpPr>
        <p:spPr>
          <a:xfrm>
            <a:off x="5067605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line107"/>
          <p:cNvSpPr/>
          <p:nvPr/>
        </p:nvSpPr>
        <p:spPr>
          <a:xfrm>
            <a:off x="558104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ine108"/>
          <p:cNvSpPr/>
          <p:nvPr/>
        </p:nvSpPr>
        <p:spPr>
          <a:xfrm>
            <a:off x="609447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4-label109"/>
          <p:cNvSpPr txBox="1"/>
          <p:nvPr/>
        </p:nvSpPr>
        <p:spPr>
          <a:xfrm>
            <a:off x="5637276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400" dirty="0"/>
          </a:p>
        </p:txBody>
      </p:sp>
      <p:sp>
        <p:nvSpPr>
          <p:cNvPr id="20" name="S04-line110"/>
          <p:cNvSpPr/>
          <p:nvPr/>
        </p:nvSpPr>
        <p:spPr>
          <a:xfrm>
            <a:off x="660791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4-line111"/>
          <p:cNvSpPr/>
          <p:nvPr/>
        </p:nvSpPr>
        <p:spPr>
          <a:xfrm>
            <a:off x="7121347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line112"/>
          <p:cNvSpPr/>
          <p:nvPr/>
        </p:nvSpPr>
        <p:spPr>
          <a:xfrm>
            <a:off x="7634783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4-line113"/>
          <p:cNvSpPr/>
          <p:nvPr/>
        </p:nvSpPr>
        <p:spPr>
          <a:xfrm>
            <a:off x="814821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4-line114"/>
          <p:cNvSpPr/>
          <p:nvPr/>
        </p:nvSpPr>
        <p:spPr>
          <a:xfrm>
            <a:off x="866165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4-line115"/>
          <p:cNvSpPr/>
          <p:nvPr/>
        </p:nvSpPr>
        <p:spPr>
          <a:xfrm>
            <a:off x="917509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ine116"/>
          <p:cNvSpPr/>
          <p:nvPr/>
        </p:nvSpPr>
        <p:spPr>
          <a:xfrm>
            <a:off x="9688525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line117"/>
          <p:cNvSpPr/>
          <p:nvPr/>
        </p:nvSpPr>
        <p:spPr>
          <a:xfrm>
            <a:off x="1020196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line118"/>
          <p:cNvSpPr/>
          <p:nvPr/>
        </p:nvSpPr>
        <p:spPr>
          <a:xfrm>
            <a:off x="107153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4-line119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abel120"/>
          <p:cNvSpPr txBox="1"/>
          <p:nvPr/>
        </p:nvSpPr>
        <p:spPr>
          <a:xfrm>
            <a:off x="10771632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2400" dirty="0"/>
          </a:p>
        </p:txBody>
      </p:sp>
      <p:sp>
        <p:nvSpPr>
          <p:cNvPr id="31" name="S04-mark121"/>
          <p:cNvSpPr/>
          <p:nvPr/>
        </p:nvSpPr>
        <p:spPr>
          <a:xfrm>
            <a:off x="868680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04-mark122"/>
          <p:cNvSpPr/>
          <p:nvPr/>
        </p:nvSpPr>
        <p:spPr>
          <a:xfrm>
            <a:off x="7800061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3" name="S04-line123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4" name="S04-line124"/>
          <p:cNvSpPr/>
          <p:nvPr/>
        </p:nvSpPr>
        <p:spPr>
          <a:xfrm>
            <a:off x="960120" y="3285266"/>
            <a:ext cx="513435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04-label125"/>
          <p:cNvSpPr txBox="1"/>
          <p:nvPr/>
        </p:nvSpPr>
        <p:spPr>
          <a:xfrm>
            <a:off x="960120" y="2870738"/>
            <a:ext cx="513435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2400" dirty="0"/>
          </a:p>
        </p:txBody>
      </p:sp>
      <p:sp>
        <p:nvSpPr>
          <p:cNvPr id="36" name="S04-line126"/>
          <p:cNvSpPr/>
          <p:nvPr/>
        </p:nvSpPr>
        <p:spPr>
          <a:xfrm flipV="1">
            <a:off x="609447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7" name="S04-line127"/>
          <p:cNvSpPr/>
          <p:nvPr/>
        </p:nvSpPr>
        <p:spPr>
          <a:xfrm>
            <a:off x="6094476" y="3285266"/>
            <a:ext cx="1797025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8" name="S04-label128"/>
          <p:cNvSpPr txBox="1"/>
          <p:nvPr/>
        </p:nvSpPr>
        <p:spPr>
          <a:xfrm>
            <a:off x="6094476" y="2870738"/>
            <a:ext cx="1797025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cm</a:t>
            </a:r>
            <a:endParaRPr lang="ko-KR" sz="2400" dirty="0"/>
          </a:p>
        </p:txBody>
      </p:sp>
      <p:sp>
        <p:nvSpPr>
          <p:cNvPr id="39" name="S04-figure129" descr="0부터 200까지 10 cm 눈금 수직선. 0에서 100까지 1 m, 100에서 135까지 35 cm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cm로 바꾸어요</a:t>
            </a:r>
            <a:endParaRPr lang="ko-KR" sz="4400" dirty="0"/>
          </a:p>
        </p:txBody>
      </p:sp>
      <p:sp>
        <p:nvSpPr>
          <p:cNvPr id="3" name="S05-eqtext13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40 cm = □ cm</a:t>
            </a:r>
            <a:endParaRPr lang="ko-KR" sz="3600" dirty="0"/>
          </a:p>
        </p:txBody>
      </p:sp>
      <p:sp>
        <p:nvSpPr>
          <p:cNvPr id="4" name="S05-line131"/>
          <p:cNvSpPr/>
          <p:nvPr/>
        </p:nvSpPr>
        <p:spPr>
          <a:xfrm>
            <a:off x="6414516" y="484540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5-line132"/>
          <p:cNvSpPr/>
          <p:nvPr/>
        </p:nvSpPr>
        <p:spPr>
          <a:xfrm>
            <a:off x="668883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5-label133"/>
          <p:cNvSpPr txBox="1"/>
          <p:nvPr/>
        </p:nvSpPr>
        <p:spPr>
          <a:xfrm>
            <a:off x="6231636" y="5028286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7" name="S05-line134"/>
          <p:cNvSpPr/>
          <p:nvPr/>
        </p:nvSpPr>
        <p:spPr>
          <a:xfrm>
            <a:off x="6840169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5-line135"/>
          <p:cNvSpPr/>
          <p:nvPr/>
        </p:nvSpPr>
        <p:spPr>
          <a:xfrm>
            <a:off x="699150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line136"/>
          <p:cNvSpPr/>
          <p:nvPr/>
        </p:nvSpPr>
        <p:spPr>
          <a:xfrm>
            <a:off x="714283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5-line137"/>
          <p:cNvSpPr/>
          <p:nvPr/>
        </p:nvSpPr>
        <p:spPr>
          <a:xfrm>
            <a:off x="7294169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5-line138"/>
          <p:cNvSpPr/>
          <p:nvPr/>
        </p:nvSpPr>
        <p:spPr>
          <a:xfrm>
            <a:off x="744550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ine139"/>
          <p:cNvSpPr/>
          <p:nvPr/>
        </p:nvSpPr>
        <p:spPr>
          <a:xfrm>
            <a:off x="759683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line140"/>
          <p:cNvSpPr/>
          <p:nvPr/>
        </p:nvSpPr>
        <p:spPr>
          <a:xfrm>
            <a:off x="774816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line141"/>
          <p:cNvSpPr/>
          <p:nvPr/>
        </p:nvSpPr>
        <p:spPr>
          <a:xfrm>
            <a:off x="789950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line142"/>
          <p:cNvSpPr/>
          <p:nvPr/>
        </p:nvSpPr>
        <p:spPr>
          <a:xfrm>
            <a:off x="8050835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line143"/>
          <p:cNvSpPr/>
          <p:nvPr/>
        </p:nvSpPr>
        <p:spPr>
          <a:xfrm>
            <a:off x="820216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label144"/>
          <p:cNvSpPr txBox="1"/>
          <p:nvPr/>
        </p:nvSpPr>
        <p:spPr>
          <a:xfrm>
            <a:off x="7744968" y="5028286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1600" dirty="0"/>
          </a:p>
        </p:txBody>
      </p:sp>
      <p:sp>
        <p:nvSpPr>
          <p:cNvPr id="18" name="S05-line145"/>
          <p:cNvSpPr/>
          <p:nvPr/>
        </p:nvSpPr>
        <p:spPr>
          <a:xfrm>
            <a:off x="8353501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5-line146"/>
          <p:cNvSpPr/>
          <p:nvPr/>
        </p:nvSpPr>
        <p:spPr>
          <a:xfrm>
            <a:off x="8504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line147"/>
          <p:cNvSpPr/>
          <p:nvPr/>
        </p:nvSpPr>
        <p:spPr>
          <a:xfrm>
            <a:off x="865616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line148"/>
          <p:cNvSpPr/>
          <p:nvPr/>
        </p:nvSpPr>
        <p:spPr>
          <a:xfrm>
            <a:off x="8807501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line149"/>
          <p:cNvSpPr/>
          <p:nvPr/>
        </p:nvSpPr>
        <p:spPr>
          <a:xfrm>
            <a:off x="8958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5-line150"/>
          <p:cNvSpPr/>
          <p:nvPr/>
        </p:nvSpPr>
        <p:spPr>
          <a:xfrm>
            <a:off x="9110167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5-line151"/>
          <p:cNvSpPr/>
          <p:nvPr/>
        </p:nvSpPr>
        <p:spPr>
          <a:xfrm>
            <a:off x="926150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line152"/>
          <p:cNvSpPr/>
          <p:nvPr/>
        </p:nvSpPr>
        <p:spPr>
          <a:xfrm>
            <a:off x="941283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5-line153"/>
          <p:cNvSpPr/>
          <p:nvPr/>
        </p:nvSpPr>
        <p:spPr>
          <a:xfrm>
            <a:off x="9564167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5-line154"/>
          <p:cNvSpPr/>
          <p:nvPr/>
        </p:nvSpPr>
        <p:spPr>
          <a:xfrm>
            <a:off x="971550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5-label155"/>
          <p:cNvSpPr txBox="1"/>
          <p:nvPr/>
        </p:nvSpPr>
        <p:spPr>
          <a:xfrm>
            <a:off x="9258300" y="5028286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1600" dirty="0"/>
          </a:p>
        </p:txBody>
      </p:sp>
      <p:sp>
        <p:nvSpPr>
          <p:cNvPr id="29" name="S05-line156"/>
          <p:cNvSpPr/>
          <p:nvPr/>
        </p:nvSpPr>
        <p:spPr>
          <a:xfrm>
            <a:off x="9866833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5-line157"/>
          <p:cNvSpPr/>
          <p:nvPr/>
        </p:nvSpPr>
        <p:spPr>
          <a:xfrm>
            <a:off x="1001816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5-line158"/>
          <p:cNvSpPr/>
          <p:nvPr/>
        </p:nvSpPr>
        <p:spPr>
          <a:xfrm>
            <a:off x="1016950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5-line159"/>
          <p:cNvSpPr/>
          <p:nvPr/>
        </p:nvSpPr>
        <p:spPr>
          <a:xfrm>
            <a:off x="10320833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line160"/>
          <p:cNvSpPr/>
          <p:nvPr/>
        </p:nvSpPr>
        <p:spPr>
          <a:xfrm>
            <a:off x="1047216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5-line161"/>
          <p:cNvSpPr/>
          <p:nvPr/>
        </p:nvSpPr>
        <p:spPr>
          <a:xfrm>
            <a:off x="10623499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5-line162"/>
          <p:cNvSpPr/>
          <p:nvPr/>
        </p:nvSpPr>
        <p:spPr>
          <a:xfrm>
            <a:off x="10774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5-line163"/>
          <p:cNvSpPr/>
          <p:nvPr/>
        </p:nvSpPr>
        <p:spPr>
          <a:xfrm>
            <a:off x="1092616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5-line164"/>
          <p:cNvSpPr/>
          <p:nvPr/>
        </p:nvSpPr>
        <p:spPr>
          <a:xfrm>
            <a:off x="11077499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5-line165"/>
          <p:cNvSpPr/>
          <p:nvPr/>
        </p:nvSpPr>
        <p:spPr>
          <a:xfrm>
            <a:off x="11228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5-label166"/>
          <p:cNvSpPr txBox="1"/>
          <p:nvPr/>
        </p:nvSpPr>
        <p:spPr>
          <a:xfrm>
            <a:off x="10771632" y="5028286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1600" dirty="0"/>
          </a:p>
        </p:txBody>
      </p:sp>
      <p:sp>
        <p:nvSpPr>
          <p:cNvPr id="40" name="S05-mark167"/>
          <p:cNvSpPr/>
          <p:nvPr/>
        </p:nvSpPr>
        <p:spPr>
          <a:xfrm>
            <a:off x="6597396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1" name="S05-mark168"/>
          <p:cNvSpPr/>
          <p:nvPr/>
        </p:nvSpPr>
        <p:spPr>
          <a:xfrm>
            <a:off x="10229393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2" name="S05-line169"/>
          <p:cNvSpPr/>
          <p:nvPr/>
        </p:nvSpPr>
        <p:spPr>
          <a:xfrm flipV="1">
            <a:off x="6688836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3" name="S05-line170"/>
          <p:cNvSpPr/>
          <p:nvPr/>
        </p:nvSpPr>
        <p:spPr>
          <a:xfrm>
            <a:off x="6688836" y="4461358"/>
            <a:ext cx="151333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4" name="S05-label171"/>
          <p:cNvSpPr txBox="1"/>
          <p:nvPr/>
        </p:nvSpPr>
        <p:spPr>
          <a:xfrm>
            <a:off x="6688836" y="4178910"/>
            <a:ext cx="151333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1600" dirty="0"/>
          </a:p>
        </p:txBody>
      </p:sp>
      <p:sp>
        <p:nvSpPr>
          <p:cNvPr id="45" name="S05-line172"/>
          <p:cNvSpPr/>
          <p:nvPr/>
        </p:nvSpPr>
        <p:spPr>
          <a:xfrm flipV="1">
            <a:off x="8202168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6" name="S05-line173"/>
          <p:cNvSpPr/>
          <p:nvPr/>
        </p:nvSpPr>
        <p:spPr>
          <a:xfrm>
            <a:off x="8202168" y="4461358"/>
            <a:ext cx="151333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7" name="S05-label174"/>
          <p:cNvSpPr txBox="1"/>
          <p:nvPr/>
        </p:nvSpPr>
        <p:spPr>
          <a:xfrm>
            <a:off x="8202168" y="4178910"/>
            <a:ext cx="1513332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</a:t>
            </a:r>
            <a:endParaRPr lang="ko-KR" sz="1600" dirty="0"/>
          </a:p>
        </p:txBody>
      </p:sp>
      <p:sp>
        <p:nvSpPr>
          <p:cNvPr id="48" name="S05-line175"/>
          <p:cNvSpPr/>
          <p:nvPr/>
        </p:nvSpPr>
        <p:spPr>
          <a:xfrm flipV="1">
            <a:off x="9715500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9" name="S05-line176"/>
          <p:cNvSpPr/>
          <p:nvPr/>
        </p:nvSpPr>
        <p:spPr>
          <a:xfrm>
            <a:off x="9715500" y="4461358"/>
            <a:ext cx="605333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0" name="S05-label177"/>
          <p:cNvSpPr txBox="1"/>
          <p:nvPr/>
        </p:nvSpPr>
        <p:spPr>
          <a:xfrm>
            <a:off x="9715500" y="4178910"/>
            <a:ext cx="605333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1600" dirty="0"/>
          </a:p>
        </p:txBody>
      </p:sp>
      <p:sp>
        <p:nvSpPr>
          <p:cNvPr id="51" name="S05-figure178" descr="0부터 300까지 10 cm 눈금 수직선. 1 m, 1 m, 40 cm를 이어서 240에 도착"/>
          <p:cNvSpPr/>
          <p:nvPr/>
        </p:nvSpPr>
        <p:spPr>
          <a:xfrm>
            <a:off x="6414516" y="466252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05-stepno179"/>
          <p:cNvSpPr txBox="1"/>
          <p:nvPr/>
        </p:nvSpPr>
        <p:spPr>
          <a:xfrm>
            <a:off x="548640" y="3202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3" name="S05-text180"/>
          <p:cNvSpPr txBox="1"/>
          <p:nvPr/>
        </p:nvSpPr>
        <p:spPr>
          <a:xfrm>
            <a:off x="1325880" y="3202940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m는 200 cm예요.</a:t>
            </a:r>
            <a:endParaRPr lang="ko-KR" sz="3200" dirty="0"/>
          </a:p>
        </p:txBody>
      </p:sp>
      <p:sp>
        <p:nvSpPr>
          <p:cNvPr id="54" name="S05-stepno181"/>
          <p:cNvSpPr txBox="1"/>
          <p:nvPr/>
        </p:nvSpPr>
        <p:spPr>
          <a:xfrm>
            <a:off x="548640" y="3961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55" name="S05-text182"/>
          <p:cNvSpPr txBox="1"/>
          <p:nvPr/>
        </p:nvSpPr>
        <p:spPr>
          <a:xfrm>
            <a:off x="1325880" y="391617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 cm와 40 cm를 더해요.</a:t>
            </a:r>
            <a:endParaRPr lang="ko-KR" sz="3200" dirty="0"/>
          </a:p>
        </p:txBody>
      </p:sp>
      <p:sp>
        <p:nvSpPr>
          <p:cNvPr id="56" name="S05-stepno183"/>
          <p:cNvSpPr txBox="1"/>
          <p:nvPr/>
        </p:nvSpPr>
        <p:spPr>
          <a:xfrm>
            <a:off x="548640" y="5072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57" name="S05-text184"/>
          <p:cNvSpPr txBox="1"/>
          <p:nvPr/>
        </p:nvSpPr>
        <p:spPr>
          <a:xfrm>
            <a:off x="1325880" y="5072380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40 cm = 240 cm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써요</a:t>
            </a:r>
            <a:endParaRPr lang="ko-KR" sz="4400" dirty="0"/>
          </a:p>
        </p:txBody>
      </p:sp>
      <p:sp>
        <p:nvSpPr>
          <p:cNvPr id="3" name="S06-card1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1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cm예요.</a:t>
            </a:r>
            <a:endParaRPr lang="ko-KR" sz="3200" dirty="0"/>
          </a:p>
        </p:txBody>
      </p:sp>
      <p:sp>
        <p:nvSpPr>
          <p:cNvPr id="5" name="S06-chip18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6-eqtext18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50 cm = □ cm</a:t>
            </a:r>
            <a:endParaRPr lang="ko-KR" sz="3600" dirty="0"/>
          </a:p>
        </p:txBody>
      </p:sp>
      <p:sp>
        <p:nvSpPr>
          <p:cNvPr id="7" name="S06-chip18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6-eqtext19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8 cm = □ cm</a:t>
            </a:r>
            <a:endParaRPr lang="ko-KR" sz="3600" dirty="0"/>
          </a:p>
        </p:txBody>
      </p:sp>
      <p:sp>
        <p:nvSpPr>
          <p:cNvPr id="9" name="S06-chip191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6-eqtext192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 cm = □ m □ cm</a:t>
            </a:r>
            <a:endParaRPr lang="ko-KR" sz="3600" dirty="0"/>
          </a:p>
        </p:txBody>
      </p:sp>
      <p:sp>
        <p:nvSpPr>
          <p:cNvPr id="11" name="S06-chip193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6-eqtext194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 cm = □ m □ cm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19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9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m 5 cm는 몇 cm일까요?</a:t>
            </a:r>
            <a:endParaRPr lang="ko-KR" sz="3200" dirty="0"/>
          </a:p>
        </p:txBody>
      </p:sp>
      <p:sp>
        <p:nvSpPr>
          <p:cNvPr id="5" name="S07-card1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19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35 cm</a:t>
            </a:r>
            <a:endParaRPr lang="ko-KR" sz="2600" dirty="0"/>
          </a:p>
        </p:txBody>
      </p:sp>
      <p:sp>
        <p:nvSpPr>
          <p:cNvPr id="8" name="S07-text20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5를 붙여 썼어요.</a:t>
            </a:r>
            <a:endParaRPr lang="ko-KR" sz="3200" dirty="0"/>
          </a:p>
        </p:txBody>
      </p:sp>
      <p:sp>
        <p:nvSpPr>
          <p:cNvPr id="9" name="S07-chip20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305 cm</a:t>
            </a:r>
            <a:endParaRPr lang="ko-KR" sz="2600" dirty="0"/>
          </a:p>
        </p:txBody>
      </p:sp>
      <p:sp>
        <p:nvSpPr>
          <p:cNvPr id="10" name="S07-text20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cm와 5 cm를 더했어요.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더해요</a:t>
            </a:r>
            <a:endParaRPr lang="ko-KR" sz="4400" dirty="0"/>
          </a:p>
        </p:txBody>
      </p:sp>
      <p:sp>
        <p:nvSpPr>
          <p:cNvPr id="3" name="S08-eqtext203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20 cm + 2 m 45 cm</a:t>
            </a:r>
            <a:endParaRPr lang="ko-KR" sz="3600" dirty="0"/>
          </a:p>
        </p:txBody>
      </p:sp>
      <p:graphicFrame>
        <p:nvGraphicFramePr>
          <p:cNvPr id="9" name="S08-table2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89408" y="3388360"/>
          <a:ext cx="3840480" cy="914400"/>
        </p:xfrm>
        <a:graphic>
          <a:graphicData uri="http://schemas.openxmlformats.org/drawingml/2006/table">
            <a:tbl>
              <a:tblPr/>
              <a:tblGrid>
                <a:gridCol w="768096"/>
                <a:gridCol w="1536192"/>
                <a:gridCol w="1536192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8-stepno205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206"/>
          <p:cNvSpPr txBox="1"/>
          <p:nvPr/>
        </p:nvSpPr>
        <p:spPr>
          <a:xfrm>
            <a:off x="1325880" y="342442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cm끼리: 20 + 45 = 65</a:t>
            </a:r>
            <a:endParaRPr lang="ko-KR" sz="3200" dirty="0"/>
          </a:p>
        </p:txBody>
      </p:sp>
      <p:sp>
        <p:nvSpPr>
          <p:cNvPr id="7" name="S08-stepno207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208"/>
          <p:cNvSpPr txBox="1"/>
          <p:nvPr/>
        </p:nvSpPr>
        <p:spPr>
          <a:xfrm>
            <a:off x="1325880" y="413766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m끼리: 1 + 2 = 3</a:t>
            </a:r>
            <a:endParaRPr lang="ko-KR" sz="3200" dirty="0"/>
          </a:p>
        </p:txBody>
      </p:sp>
      <p:sp>
        <p:nvSpPr>
          <p:cNvPr id="9" name="S08-stepno209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210"/>
          <p:cNvSpPr txBox="1"/>
          <p:nvPr/>
        </p:nvSpPr>
        <p:spPr>
          <a:xfrm>
            <a:off x="1325880" y="485089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답: 3 m 65 cm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빼요</a:t>
            </a:r>
            <a:endParaRPr lang="ko-KR" sz="4400" dirty="0"/>
          </a:p>
        </p:txBody>
      </p:sp>
      <p:sp>
        <p:nvSpPr>
          <p:cNvPr id="3" name="S09-eqtext211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m 75 cm − 1 m 40 cm</a:t>
            </a:r>
            <a:endParaRPr lang="ko-KR" sz="3600" dirty="0"/>
          </a:p>
        </p:txBody>
      </p:sp>
      <p:graphicFrame>
        <p:nvGraphicFramePr>
          <p:cNvPr id="10" name="S09-table2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89408" y="3388360"/>
          <a:ext cx="3840480" cy="914400"/>
        </p:xfrm>
        <a:graphic>
          <a:graphicData uri="http://schemas.openxmlformats.org/drawingml/2006/table">
            <a:tbl>
              <a:tblPr/>
              <a:tblGrid>
                <a:gridCol w="768096"/>
                <a:gridCol w="1536192"/>
                <a:gridCol w="1536192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cm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9-stepno213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214"/>
          <p:cNvSpPr txBox="1"/>
          <p:nvPr/>
        </p:nvSpPr>
        <p:spPr>
          <a:xfrm>
            <a:off x="1325880" y="342442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cm끼리: 75 − 40 = 35</a:t>
            </a:r>
            <a:endParaRPr lang="ko-KR" sz="3200" dirty="0"/>
          </a:p>
        </p:txBody>
      </p:sp>
      <p:sp>
        <p:nvSpPr>
          <p:cNvPr id="7" name="S09-stepno215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216"/>
          <p:cNvSpPr txBox="1"/>
          <p:nvPr/>
        </p:nvSpPr>
        <p:spPr>
          <a:xfrm>
            <a:off x="1325880" y="413766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m끼리: 3 − 1 = 2</a:t>
            </a:r>
            <a:endParaRPr lang="ko-KR" sz="3200" dirty="0"/>
          </a:p>
        </p:txBody>
      </p:sp>
      <p:sp>
        <p:nvSpPr>
          <p:cNvPr id="9" name="S09-stepno217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218"/>
          <p:cNvSpPr txBox="1"/>
          <p:nvPr/>
        </p:nvSpPr>
        <p:spPr>
          <a:xfrm>
            <a:off x="1325880" y="485089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답: 2 m 35 cm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계산해 봐요</a:t>
            </a:r>
            <a:endParaRPr lang="ko-KR" sz="4400" dirty="0"/>
          </a:p>
        </p:txBody>
      </p:sp>
      <p:sp>
        <p:nvSpPr>
          <p:cNvPr id="3" name="S10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m는 m끼리, cm는 cm끼리 계산해요.</a:t>
            </a:r>
            <a:endParaRPr lang="ko-KR" sz="3200" dirty="0"/>
          </a:p>
        </p:txBody>
      </p:sp>
      <p:sp>
        <p:nvSpPr>
          <p:cNvPr id="5" name="S10-chip221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0-eqtext222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30 cm + 1 m 50 cm = □ m □ cm</a:t>
            </a:r>
            <a:endParaRPr lang="ko-KR" sz="3600" dirty="0"/>
          </a:p>
        </p:txBody>
      </p:sp>
      <p:sp>
        <p:nvSpPr>
          <p:cNvPr id="7" name="S10-chip223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eqtext224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m 15 cm + 3 m 60 cm = □ m □ cm</a:t>
            </a:r>
            <a:endParaRPr lang="ko-KR" sz="3600" dirty="0"/>
          </a:p>
        </p:txBody>
      </p:sp>
      <p:sp>
        <p:nvSpPr>
          <p:cNvPr id="9" name="S10-chip225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0-eqtext226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m 80 cm − 2 m 30 cm = □ m □ cm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단위를 맞췄나요?</a:t>
            </a:r>
            <a:endParaRPr lang="ko-KR" sz="4400" dirty="0"/>
          </a:p>
        </p:txBody>
      </p:sp>
      <p:sp>
        <p:nvSpPr>
          <p:cNvPr id="3" name="S11-card2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cm와 2 m를 더해요.</a:t>
            </a:r>
            <a:endParaRPr lang="ko-KR" sz="3200" dirty="0"/>
          </a:p>
        </p:txBody>
      </p:sp>
      <p:sp>
        <p:nvSpPr>
          <p:cNvPr id="5" name="S11-card2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2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1-chip23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132 cm</a:t>
            </a:r>
            <a:endParaRPr lang="ko-KR" sz="2600" dirty="0"/>
          </a:p>
        </p:txBody>
      </p:sp>
      <p:sp>
        <p:nvSpPr>
          <p:cNvPr id="8" name="S11-text23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+ 2를 했어요.</a:t>
            </a:r>
            <a:endParaRPr lang="ko-KR" sz="3200" dirty="0"/>
          </a:p>
        </p:txBody>
      </p:sp>
      <p:sp>
        <p:nvSpPr>
          <p:cNvPr id="9" name="S11-chip23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 m 30 cm</a:t>
            </a:r>
            <a:endParaRPr lang="ko-KR" sz="2600" dirty="0"/>
          </a:p>
        </p:txBody>
      </p:sp>
      <p:sp>
        <p:nvSpPr>
          <p:cNvPr id="10" name="S11-text23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cm를 1 m 30 cm로 바꿨어요.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chip23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2-eqtext23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70 cm = □ cm</a:t>
            </a:r>
            <a:endParaRPr lang="ko-KR" sz="3600" dirty="0"/>
          </a:p>
        </p:txBody>
      </p:sp>
      <p:sp>
        <p:nvSpPr>
          <p:cNvPr id="5" name="S12-chip23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2-text23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 2 m 35 cm와 1 m 40 cm를 이으면?</a:t>
            </a:r>
            <a:endParaRPr lang="ko-KR" sz="3200" dirty="0"/>
          </a:p>
        </p:txBody>
      </p:sp>
      <p:sp>
        <p:nvSpPr>
          <p:cNvPr id="7" name="S12-chip23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2-text24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 4 m 60 cm에서 1 m 20 cm를 자르면?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긴 길이는?</a:t>
            </a:r>
            <a:endParaRPr lang="ko-KR" sz="4400" dirty="0"/>
          </a:p>
        </p:txBody>
      </p:sp>
      <p:sp>
        <p:nvSpPr>
          <p:cNvPr id="3" name="S14-card2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2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4-chip243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4-card244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245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 cm</a:t>
            </a:r>
            <a:endParaRPr lang="ko-KR" sz="3200" dirty="0"/>
          </a:p>
        </p:txBody>
      </p:sp>
      <p:sp>
        <p:nvSpPr>
          <p:cNvPr id="8" name="S14-chip246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9" name="S14-card247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248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9 cm</a:t>
            </a:r>
            <a:endParaRPr lang="ko-KR" sz="3200" dirty="0"/>
          </a:p>
        </p:txBody>
      </p:sp>
      <p:sp>
        <p:nvSpPr>
          <p:cNvPr id="11" name="S14-chip249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2" name="S14-card250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251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3 cm</a:t>
            </a:r>
            <a:endParaRPr lang="ko-KR" sz="3200" dirty="0"/>
          </a:p>
        </p:txBody>
      </p:sp>
      <p:sp>
        <p:nvSpPr>
          <p:cNvPr id="14" name="S14-chip252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5" name="S14-card253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254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 cm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2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2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cm, m는 m끼리 cm는 cm끼리 계산해요.</a:t>
            </a:r>
            <a:endParaRPr lang="ko-KR" sz="3200" dirty="0"/>
          </a:p>
        </p:txBody>
      </p:sp>
      <p:sp>
        <p:nvSpPr>
          <p:cNvPr id="5" name="S15-chip25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단위를 맞추어 계산하기</a:t>
            </a:r>
            <a:endParaRPr lang="ko-KR" sz="2600" dirty="0"/>
          </a:p>
        </p:txBody>
      </p:sp>
      <p:sp>
        <p:nvSpPr>
          <p:cNvPr id="6" name="S15-chip25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숫자를 이어 붙이기</a:t>
            </a:r>
            <a:endParaRPr lang="ko-KR" sz="2600" dirty="0"/>
          </a:p>
        </p:txBody>
      </p:sp>
      <p:sp>
        <p:nvSpPr>
          <p:cNvPr id="7" name="S15-text25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text26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 m 6 cm는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cm?</a:t>
            </a:r>
            <a:endParaRPr lang="ko-KR" sz="2600" dirty="0"/>
          </a:p>
        </p:txBody>
      </p:sp>
      <p:sp>
        <p:nvSpPr>
          <p:cNvPr id="9" name="S15-text26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 m 30 cm +</a:t>
            </a:r>
            <a:endParaRPr lang="ko-KR" sz="2600" dirty="0"/>
          </a:p>
          <a:p>
            <a:pPr eaLnBrk="0" algn="l" indent="0" marL="0">
              <a:buNone/>
            </a:pPr>
            <a:r>
              <a:rPr lang="en-US" altLang="ko-KR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25 cm</a:t>
            </a:r>
            <a:endParaRPr lang="ko-KR" sz="2600" dirty="0"/>
          </a:p>
        </p:txBody>
      </p:sp>
      <p:sp>
        <p:nvSpPr>
          <p:cNvPr id="10" name="S15-text26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 m 90 cm −</a:t>
            </a:r>
            <a:endParaRPr lang="ko-KR" sz="2600" dirty="0"/>
          </a:p>
          <a:p>
            <a:pPr eaLnBrk="0" algn="l" indent="0" marL="0">
              <a:buNone/>
            </a:pPr>
            <a:r>
              <a:rPr lang="en-US" altLang="ko-KR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m 50 cm</a:t>
            </a:r>
            <a:endParaRPr lang="ko-KR" sz="2600" dirty="0"/>
          </a:p>
        </p:txBody>
      </p:sp>
      <p:sp>
        <p:nvSpPr>
          <p:cNvPr id="11" name="S15-text26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시각과 시간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 cm씩 세요</a:t>
            </a:r>
            <a:endParaRPr lang="ko-KR" sz="4400" dirty="0"/>
          </a:p>
        </p:txBody>
      </p:sp>
      <p:sp>
        <p:nvSpPr>
          <p:cNvPr id="3" name="S16-text2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10 cm씩 표시하며 세어요.</a:t>
            </a:r>
            <a:endParaRPr lang="ko-KR" sz="3200" dirty="0"/>
          </a:p>
        </p:txBody>
      </p:sp>
      <p:sp>
        <p:nvSpPr>
          <p:cNvPr id="4" name="S16-card265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266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 20, 30 … 100</a:t>
            </a:r>
            <a:endParaRPr lang="ko-KR" sz="3200" dirty="0"/>
          </a:p>
        </p:txBody>
      </p:sp>
      <p:sp>
        <p:nvSpPr>
          <p:cNvPr id="6" name="S16-card267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268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cm = 10 cm가 10번</a:t>
            </a:r>
            <a:endParaRPr lang="ko-KR" sz="3200" dirty="0"/>
          </a:p>
        </p:txBody>
      </p:sp>
      <p:sp>
        <p:nvSpPr>
          <p:cNvPr id="8" name="S16-line269"/>
          <p:cNvSpPr/>
          <p:nvPr/>
        </p:nvSpPr>
        <p:spPr>
          <a:xfrm>
            <a:off x="685800" y="393923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16-line270"/>
          <p:cNvSpPr/>
          <p:nvPr/>
        </p:nvSpPr>
        <p:spPr>
          <a:xfrm>
            <a:off x="96012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6-label271"/>
          <p:cNvSpPr txBox="1"/>
          <p:nvPr/>
        </p:nvSpPr>
        <p:spPr>
          <a:xfrm>
            <a:off x="50292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16-line272"/>
          <p:cNvSpPr/>
          <p:nvPr/>
        </p:nvSpPr>
        <p:spPr>
          <a:xfrm>
            <a:off x="198699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6-label273"/>
          <p:cNvSpPr txBox="1"/>
          <p:nvPr/>
        </p:nvSpPr>
        <p:spPr>
          <a:xfrm>
            <a:off x="152979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3" name="S16-line274"/>
          <p:cNvSpPr/>
          <p:nvPr/>
        </p:nvSpPr>
        <p:spPr>
          <a:xfrm>
            <a:off x="301386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6-label275"/>
          <p:cNvSpPr txBox="1"/>
          <p:nvPr/>
        </p:nvSpPr>
        <p:spPr>
          <a:xfrm>
            <a:off x="255666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600" dirty="0"/>
          </a:p>
        </p:txBody>
      </p:sp>
      <p:sp>
        <p:nvSpPr>
          <p:cNvPr id="15" name="S16-line276"/>
          <p:cNvSpPr/>
          <p:nvPr/>
        </p:nvSpPr>
        <p:spPr>
          <a:xfrm>
            <a:off x="404073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6-label277"/>
          <p:cNvSpPr txBox="1"/>
          <p:nvPr/>
        </p:nvSpPr>
        <p:spPr>
          <a:xfrm>
            <a:off x="3583534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600" dirty="0"/>
          </a:p>
        </p:txBody>
      </p:sp>
      <p:sp>
        <p:nvSpPr>
          <p:cNvPr id="17" name="S16-line278"/>
          <p:cNvSpPr/>
          <p:nvPr/>
        </p:nvSpPr>
        <p:spPr>
          <a:xfrm>
            <a:off x="506760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6-label279"/>
          <p:cNvSpPr txBox="1"/>
          <p:nvPr/>
        </p:nvSpPr>
        <p:spPr>
          <a:xfrm>
            <a:off x="4610405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600" dirty="0"/>
          </a:p>
        </p:txBody>
      </p:sp>
      <p:sp>
        <p:nvSpPr>
          <p:cNvPr id="19" name="S16-line280"/>
          <p:cNvSpPr/>
          <p:nvPr/>
        </p:nvSpPr>
        <p:spPr>
          <a:xfrm>
            <a:off x="609447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6-label281"/>
          <p:cNvSpPr txBox="1"/>
          <p:nvPr/>
        </p:nvSpPr>
        <p:spPr>
          <a:xfrm>
            <a:off x="563727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600" dirty="0"/>
          </a:p>
        </p:txBody>
      </p:sp>
      <p:sp>
        <p:nvSpPr>
          <p:cNvPr id="21" name="S16-line282"/>
          <p:cNvSpPr/>
          <p:nvPr/>
        </p:nvSpPr>
        <p:spPr>
          <a:xfrm>
            <a:off x="7121347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6-label283"/>
          <p:cNvSpPr txBox="1"/>
          <p:nvPr/>
        </p:nvSpPr>
        <p:spPr>
          <a:xfrm>
            <a:off x="6664147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600" dirty="0"/>
          </a:p>
        </p:txBody>
      </p:sp>
      <p:sp>
        <p:nvSpPr>
          <p:cNvPr id="23" name="S16-line284"/>
          <p:cNvSpPr/>
          <p:nvPr/>
        </p:nvSpPr>
        <p:spPr>
          <a:xfrm>
            <a:off x="814821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6-label285"/>
          <p:cNvSpPr txBox="1"/>
          <p:nvPr/>
        </p:nvSpPr>
        <p:spPr>
          <a:xfrm>
            <a:off x="7691018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2600" dirty="0"/>
          </a:p>
        </p:txBody>
      </p:sp>
      <p:sp>
        <p:nvSpPr>
          <p:cNvPr id="25" name="S16-line286"/>
          <p:cNvSpPr/>
          <p:nvPr/>
        </p:nvSpPr>
        <p:spPr>
          <a:xfrm>
            <a:off x="917509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6-label287"/>
          <p:cNvSpPr txBox="1"/>
          <p:nvPr/>
        </p:nvSpPr>
        <p:spPr>
          <a:xfrm>
            <a:off x="871789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2600" dirty="0"/>
          </a:p>
        </p:txBody>
      </p:sp>
      <p:sp>
        <p:nvSpPr>
          <p:cNvPr id="27" name="S16-line288"/>
          <p:cNvSpPr/>
          <p:nvPr/>
        </p:nvSpPr>
        <p:spPr>
          <a:xfrm>
            <a:off x="1020196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6-label289"/>
          <p:cNvSpPr txBox="1"/>
          <p:nvPr/>
        </p:nvSpPr>
        <p:spPr>
          <a:xfrm>
            <a:off x="974476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ko-KR" sz="2600" dirty="0"/>
          </a:p>
        </p:txBody>
      </p:sp>
      <p:sp>
        <p:nvSpPr>
          <p:cNvPr id="29" name="S16-line290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6-label291"/>
          <p:cNvSpPr txBox="1"/>
          <p:nvPr/>
        </p:nvSpPr>
        <p:spPr>
          <a:xfrm>
            <a:off x="1077163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2600" dirty="0"/>
          </a:p>
        </p:txBody>
      </p:sp>
      <p:sp>
        <p:nvSpPr>
          <p:cNvPr id="31" name="S16-mark292"/>
          <p:cNvSpPr/>
          <p:nvPr/>
        </p:nvSpPr>
        <p:spPr>
          <a:xfrm>
            <a:off x="868680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16-mark293"/>
          <p:cNvSpPr/>
          <p:nvPr/>
        </p:nvSpPr>
        <p:spPr>
          <a:xfrm>
            <a:off x="11137392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3" name="S16-line294"/>
          <p:cNvSpPr/>
          <p:nvPr/>
        </p:nvSpPr>
        <p:spPr>
          <a:xfrm flipV="1">
            <a:off x="96012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4" name="S16-line295"/>
          <p:cNvSpPr/>
          <p:nvPr/>
        </p:nvSpPr>
        <p:spPr>
          <a:xfrm>
            <a:off x="960120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5" name="S16-line296"/>
          <p:cNvSpPr/>
          <p:nvPr/>
        </p:nvSpPr>
        <p:spPr>
          <a:xfrm flipV="1">
            <a:off x="1986991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6" name="S16-line297"/>
          <p:cNvSpPr/>
          <p:nvPr/>
        </p:nvSpPr>
        <p:spPr>
          <a:xfrm>
            <a:off x="1986991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7" name="S16-line298"/>
          <p:cNvSpPr/>
          <p:nvPr/>
        </p:nvSpPr>
        <p:spPr>
          <a:xfrm flipV="1">
            <a:off x="3013862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16-line299"/>
          <p:cNvSpPr/>
          <p:nvPr/>
        </p:nvSpPr>
        <p:spPr>
          <a:xfrm>
            <a:off x="3013862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16-line300"/>
          <p:cNvSpPr/>
          <p:nvPr/>
        </p:nvSpPr>
        <p:spPr>
          <a:xfrm flipV="1">
            <a:off x="4040734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0" name="S16-line301"/>
          <p:cNvSpPr/>
          <p:nvPr/>
        </p:nvSpPr>
        <p:spPr>
          <a:xfrm>
            <a:off x="4040734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1" name="S16-line302"/>
          <p:cNvSpPr/>
          <p:nvPr/>
        </p:nvSpPr>
        <p:spPr>
          <a:xfrm flipV="1">
            <a:off x="5067605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2" name="S16-line303"/>
          <p:cNvSpPr/>
          <p:nvPr/>
        </p:nvSpPr>
        <p:spPr>
          <a:xfrm>
            <a:off x="5067605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3" name="S16-line304"/>
          <p:cNvSpPr/>
          <p:nvPr/>
        </p:nvSpPr>
        <p:spPr>
          <a:xfrm flipV="1">
            <a:off x="6094476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16-line305"/>
          <p:cNvSpPr/>
          <p:nvPr/>
        </p:nvSpPr>
        <p:spPr>
          <a:xfrm>
            <a:off x="6094476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16-line306"/>
          <p:cNvSpPr/>
          <p:nvPr/>
        </p:nvSpPr>
        <p:spPr>
          <a:xfrm flipV="1">
            <a:off x="7121347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6" name="S16-line307"/>
          <p:cNvSpPr/>
          <p:nvPr/>
        </p:nvSpPr>
        <p:spPr>
          <a:xfrm>
            <a:off x="7121347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7" name="S16-line308"/>
          <p:cNvSpPr/>
          <p:nvPr/>
        </p:nvSpPr>
        <p:spPr>
          <a:xfrm flipV="1">
            <a:off x="8148218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8" name="S16-line309"/>
          <p:cNvSpPr/>
          <p:nvPr/>
        </p:nvSpPr>
        <p:spPr>
          <a:xfrm>
            <a:off x="8148218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9" name="S16-line310"/>
          <p:cNvSpPr/>
          <p:nvPr/>
        </p:nvSpPr>
        <p:spPr>
          <a:xfrm flipV="1">
            <a:off x="917509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16-line311"/>
          <p:cNvSpPr/>
          <p:nvPr/>
        </p:nvSpPr>
        <p:spPr>
          <a:xfrm>
            <a:off x="9175090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16-line312"/>
          <p:cNvSpPr/>
          <p:nvPr/>
        </p:nvSpPr>
        <p:spPr>
          <a:xfrm flipV="1">
            <a:off x="10201961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2" name="S16-line313"/>
          <p:cNvSpPr/>
          <p:nvPr/>
        </p:nvSpPr>
        <p:spPr>
          <a:xfrm>
            <a:off x="10201961" y="3555187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3" name="S16-figure314" descr="0부터 100까지 10씩 열 번 뛰어 세는 수직선"/>
          <p:cNvSpPr/>
          <p:nvPr/>
        </p:nvSpPr>
        <p:spPr>
          <a:xfrm>
            <a:off x="685800" y="375635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m와 cm</dc:title>
  <dc:subject>KR22-G02-MAT-METER-L01</dc:subject>
  <dc:creator>education-ppt</dc:creator>
  <cp:lastModifiedBy>education-ppt</cp:lastModifiedBy>
  <cp:revision>1</cp:revision>
  <dcterms:created xsi:type="dcterms:W3CDTF">2026-10-26T07:46:15Z</dcterms:created>
  <dcterms:modified xsi:type="dcterms:W3CDTF">2026-10-26T07:46:15Z</dcterms:modified>
</cp:coreProperties>
</file>