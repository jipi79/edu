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65e9748-88e0-539b-2379-1da678f1863e}">
          <p14:sldIdLst>
            <p14:sldId id="256"/>
            <p14:sldId id="257"/>
          </p14:sldIdLst>
        </p14:section>
        <p14:section name="개념" id="{9a08d4fa-a50f-1e71-4d0d-f52008791f0f}">
          <p14:sldIdLst>
            <p14:sldId id="258"/>
            <p14:sldId id="259"/>
            <p14:sldId id="260"/>
            <p14:sldId id="261"/>
          </p14:sldIdLst>
        </p14:section>
        <p14:section name="연습" id="{1244dd31-c06c-33c8-aa52-210688b200c0}">
          <p14:sldIdLst>
            <p14:sldId id="262"/>
            <p14:sldId id="263"/>
            <p14:sldId id="264"/>
          </p14:sldIdLst>
        </p14:section>
        <p14:section name="확인" id="{4fb76e86-c92d-0660-d33c-eba81c1aed36}">
          <p14:sldIdLst>
            <p14:sldId id="265"/>
            <p14:sldId id="266"/>
            <p14:sldId id="267"/>
          </p14:sldIdLst>
        </p14:section>
        <p14:section name="정리" id="{a1837dc7-4d53-0a5e-dcb5-53cb25e0ebd9}">
          <p14:sldIdLst>
            <p14:sldId id="268"/>
          </p14:sldIdLst>
        </p14:section>
        <p14:section name="보충" id="{86a5ac06-9575-800f-4789-b0384afd891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실제 쌓기나무를 만져 보며 흥미를 갖게 합니다.
시간: 약 2분
이렇게 말해 보세요
- “이게 쌓기나무야. 모든 면이 똑같이 생긴 나무 상자 모양이지. 오늘은 쌓기나무로 모양을 만들고, 몇 개로 만들었는지, 어디에 놓았는지 말해 볼 거야.”
- “먼저 마음대로 3개를 쌓아 볼래?”
예상 답
- 아이가 3개를 위로 쌓거나 옆으로 놓습니다. 어떤 모양이든 괜찮습니다.
막히면
- 부모가 먼저 1개를 놓고 “이 위에 하나 올려 볼래?”라고 시작해 줍니다.
주의
- 쌓기나무가 없으면 크기가 같은 주사위나 정육면체 블록을 씁니다. 크기가 다르면 층을 셀 때 헷갈리니 같은 크기만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확인(도형, 위치를 나타내는 말)]
목적: 지난 시간의 도형(변과 꼭짓점)과, 오늘 꼭 필요한 위치를 나타내는 말(위·아래·왼쪽·오른쪽)을 아는지 확인합니다.
시간: 약 3분
이렇게 말해 보세요
- “①과 ②는 무슨 도형이야? 변과 꼭짓점은 몇 개씩 있어?”
- “③ 오른손을 들어 볼래? 이번엔 책상 위와 책상 아래를 손으로 가리켜 봐.”
정답
- ① 사각형, 변 4개, 꼭짓점 4개
- ② 삼각형, 변 3개, 꼭짓점 3개
- ③ 오른손을 들고, 책상 위와 아래를 바르게 가리킵니다.
막히면
- ①②가 어려우면 변(곧은 선)을 손가락으로 따라가며 하나씩 셉니다.
- ③에서 왼손과 오른손을 헷갈리거나 위·아래를 바로 가리키지 못하면 S14(보충)를 먼저 합니다. 보충으로도 도형이 흔들리면 앞 차시 ‘여러 가지 도형’(KR22-G02-MAT-PLANE-L01)을 다시 합니다.
주의
- 부모가 아이와 마주 앉아 있으면 왼쪽·오른쪽이 반대로 보입니다. 오늘은 아이 옆에 나란히 앉아서 하세요(M3).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쌓기나무와 그림 읽는 법]
목적: 쌓기나무의 생김새를 알고, 화면의 그림에서 색칠한 칸 하나가 쌓기나무 하나라는 약속을 정합니다.
시간: 약 3분
이렇게 말해 보세요
- “쌓기나무를 돌려 보자. 어느 면을 봐도 똑같은 사각형이지? 그래서 아무 쪽으로 놓아도 쌓을 수 있어.”
- “오른쪽 그림은 쌓기나무 3개를 옆으로 나란히 놓고 앞에서 본 모양이야. 우리도 똑같이 놓아 볼까?”
예상 답
- “다 네모예요.” “3개를 옆으로 놓았어요.”
막히면
- 쌓기나무 3개를 책상에 나란히 놓고, 아이 눈높이를 책상 높이에 맞춰 앞에서 보게 합니다. 그림과 같은 모양으로 보입니다.
주의
- 오늘 화면의 그림은 ‘옆으로 한 줄로 쌓은 모양을 앞에서 본 그림’과 ‘바닥에 1층으로 놓은 모양을 위에서 본 그림’ 두 가지뿐입니다. 그림을 볼 때마다 실제 쌓기나무로 같이 만들어 보면 이해가 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층별로 세기 시범]
목적: 쌓기나무를 아래층(1층)부터 한 층씩 세고 더해서 모두의 개수를 구하는 방법을 시범으로 보여 줍니다.
시간: 약 4분
이렇게 말해 보세요
- “바닥에 닿은 줄이 1층이야. 1층에는 몇 개가 있어? 그 위가 2층이야. 2층에는 몇 개?”
- “1층 3개, 2층 1개. 모두 몇 개일까? 3 더하기 1은 4, 쌓기나무는 모두 4개야.”
- “그림과 똑같이 쌓아 볼래?”
예상 답
- “1층에 3개, 2층에 1개, 모두 4개예요.”
막히면
- 실물로 똑같이 쌓은 뒤, 위층부터 하나씩 내려놓으며 “하나, 둘, 셋, 넷” 하고 셉니다(M1).
- ‘층’이 어려우면 “아파트 1층, 2층처럼 바닥부터 1층이야”라고 말해 줍니다.
주의
- 2층의 쌓기나무는 반드시 1층 쌓기나무 위에 있습니다. 공중에 뜬 쌓기나무는 없다는 것도 함께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위치를 넣어 설명하기]
목적: ‘몇 층’과 ‘어느 쌓기나무의 위(왼쪽, 오른쪽…)’를 넣어 쌓은 모양을 설명하는 방법을 보여 줍니다.
시간: 약 3분
이렇게 말해 보세요
- “이 모양을 말로 설명해 볼게. ‘1층에 3개를 옆으로 나란히 놓고, 가운데 쌓기나무 위에 1개를 놓았어요.’”
- “2층 쌓기나무는 어느 쌓기나무 위에 있어? 왼쪽, 가운데, 오른쪽 중에서 말해 봐.”
예상 답
- “가운데 쌓기나무 위에 있어요.”
막히면
- 실물로 쌓은 뒤 1층의 세 쌓기나무를 차례로 짚으며 “왼쪽, 가운데, 오른쪽”이라고 이름을 붙입니다.
주의
- 왼쪽·오른쪽은 아이가 볼 때를 기준으로 합니다. 부모도 아이 옆에 앉아 같은 쪽에서 봅니다(M3).
- 앞·뒤는 S09 ③에서 실물로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설명대로 쌓기 시범]
목적: 설명을 듣고 1층부터, 기준이 되는 쌓기나무를 찾아 차례로 쌓는 방법을 보여 줍니다.
시간: 약 4분
이렇게 말해 보세요
- “설명을 같이 읽어 보자. 먼저 1층에 몇 개를 놓아야 해?”
- “다음은 ‘오른쪽 쌓기나무’를 찾아. 네가 볼 때 오른쪽에 있는 거야. 그 위에 1개를 올려 봐.”
- “다 쌓았으면 모두 몇 개야?”
예상 답
- 1층에 2개를 놓고, 오른쪽 쌓기나무 위에 1개를 올립니다. “모두 3개예요(2 + 1 = 3).”
막히면
- 부모가 한 단계씩 같이 쌓으며 단계 번호를 손으로 짚어 줍니다.
- 왼쪽 위에 올렸으면 “네가 볼 때 오른쪽은 어느 손 쪽이야?”라고 묻고 오른손으로 짚게 합니다.
주의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연습(개수 세기)]
목적: 도움을 받으며 층별로 세어 쌓기나무의 개수를 구합니다.
시간: 약 4분
이렇게 말해 보세요
- “①은 1층에 몇 개, 2층에 몇 개야? 모두 몇 개야?”
- “②는 층이 셋이야. 1층, 2층, 3층을 차례로 세어 봐.”
- “③은 바닥에 한 층으로만 깔아 놓고 위에서 내려다본 그림이야. 색칠한 칸을 세면 돼.”
정답
- ① 1층 3개, 2층 2개 → 3 + 2 = 5, 모두 5개
- ② 1층 3개, 2층 2개, 3층 1개 → 3 + 2 + 1 = 6, 모두 6개
- ③ 4개(모두 1층)
막히면
- ①②를 실물로 똑같이 쌓고, 위층부터 하나씩 내려놓으며 셉니다(M1).
- ③은 책상 위에 4개를 그림처럼 깔고, 일어서서 위에서 내려다보게 합니다.
주의
- ②에서 ‘3층까지 있으니까 3개’라고 하면 층의 수와 쌓기나무의 수가 다르다는 것을 실물로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비교(기준을 빠뜨린 설명)]
목적: ‘위에 1개’처럼 기준이 되는 쌓기나무를 말하지 않으면 모양이 하나로 정해지지 않는다는 것을 확인합니다(M2, M4).
시간: 약 3분
이렇게 말해 보세요
- “토끼와 곰이 같은 설명을 듣고 쌓았어. 둘 다 몇 개로 쌓았어? 모양은 같아?”
- “둘이 똑같이 쌓으려면 설명에 무슨 말을 더 넣어야 할까?”
예상 답
- “둘 다 4개인데 모양이 달라요.”
- “‘맨 왼쪽 쌓기나무 위에’라고 말해야 해요.”
정답
- 토끼와 곰 모두 4개로, 설명대로 쌓았지만 모양이 다릅니다.
- ‘맨 왼쪽(또는 맨 오른쪽) 쌓기나무 위에 1개’처럼 어느 쌓기나무 위인지 말해야 모양이 하나로 정해집니다.
막히면
- 부모가 설명을 그대로 말하고 아이가 쌓은 뒤, 부모도 다른 자리에 올려 두 모양을 나란히 놓고 비교합니다.
주의
- 개수가 같아도 모양은 다를 수 있습니다(M4). ‘몇 개’와 ‘어디에’를 함께 말해야 한다는 것을 강조합니다.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연습(말로 설명하기, 설명대로 쌓기)]
목적: 도움을 받으며 쌓은 모양을 위치를 넣어 설명하고, 앞·뒤가 들어간 설명을 듣고 실물로 쌓습니다.
시간: 약 5분
이렇게 말해 보세요
- “①을 엄마(아빠)가 쌓을 수 있게 말로 설명해 줄래? 1층에 몇 개야? 2층은 어느 쌓기나무 위에 있어?”
- “③ 이번엔 네가 쌓아 봐. 앞은 네 쪽, 뒤는 네 반대쪽이야.”
정답
- ① 1층에 3개를 옆으로 나란히 놓고, 맨 왼쪽과 맨 오른쪽 쌓기나무 위에 1개씩 놓았어요(모두 5개).
- ② 1층에 2개를 나란히 놓고, 왼쪽 쌓기나무 위에 1개를 놓았어요(모두 3개).
- ③ 1층에만 3개가 아이 쪽에서 먼 쪽으로 한 줄(앞–가운데–뒤)로 놓입니다.
막히면
- 부모가 아이의 설명대로만 쌓아 봅니다. 설명이 빠지면 일부러 다른 자리에 올려 “이렇게 하면 돼?”라고 묻습니다(M2).
- ③은 첫 쌓기나무를 부모가 놓아 주고, “네 배 쪽이 앞이야”라고 알려 줍니다.
주의
- ①을 ‘양쪽 끝 위에 하나씩’이라고 말해도 맞습니다. 듣고 같은 모양을 쌓을 수 있으면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개수를 세고(①), 설명대로 쌓고(②), 모양을 설명하는지(③) 확인합니다.
시간: 약 4분
이렇게 말해 보세요
- “이번에는 혼자 해 볼래? ①은 모두 몇 개인지 층별로 말해 줘. ②는 설명대로 쌓아. ③은 엄마(아빠)가 쌓을 수 있게 설명해 줘.”
정답
- ① 1층 4개, 2층 2개 → 4 + 2 = 6, 모두 6개
- ② 왼쪽 쌓기나무 위로 2개를 더 쌓아, 왼쪽은 3층, 오른쪽은 1층인 모양(모두 4개, 2 + 1 + 1 = 4)
- ③ 기준: ‘1층에 3개를 나란히 놓고, 가운데와 오른쪽 쌓기나무 위에 1개씩’처럼 몇 층·어느 쌓기나무·어느 쪽을 말함(모두 5개)
막히면
- 바로 알려 주지 말고 “1층부터 볼까?”라고만 말합니다.
- 도움을 받아 해결했다면 기록표에 ‘도움’으로 표시합니다.
주의
- ③은 부모가 아이의 설명대로만 쌓아 보고, 화면과 같은 모양이 되면 맞은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“네가 한 것과 같은지 볼까? 다르면 쌓기나무로 다시 해 보자.”
정답
- ① 6개 ② 왼쪽 3층, 오른쪽 1층인 4개 모양 ③ ‘1층에 3개, 가운데와 오른쪽 쌓기나무 위에 1개씩’(모두 5개)
막히면
- ①이 4개면 S04로 돌아가 층별로 세기를 다시 합니다(M1).
- ③에 기준이 빠졌으면 S08처럼 부모가 다른 자리에 올려 보여 줍니다(M2).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확인(설명에 맞는 모양)]
목적: 처음 보는 문제에서 설명에 맞는 모양을 고르고 까닭을 말하는지 확인합니다.
시간: 약 2분
이렇게 말해 보세요
- “설명에 맞는 모양은 어느 것일까? 왜 그렇게 생각해?”
정답
- 다. 1층에 3개가 있고, 2층 쌓기나무가 맨 오른쪽 쌓기나무 위에 있습니다. 가는 맨 왼쪽 위, 나는 가운데 위에 있습니다.
막히면
- 설명을 실물로 쌓아 본 뒤 그림과 비교하게 합니다.
주의
- 세 모양 모두 4개입니다. 개수가 아니라 위치로 골라야 한다는 것을 말하면 더 좋습니다(M4).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1분
이렇게 말해 보세요
- “오늘 배운 것을 말해 볼래? 쌓기나무는 어떻게 세면 좋아? 모양을 설명할 때 꼭 넣어야 하는 말은?”
예상 답
- “1층부터 세요.” “어느 쌓기나무 위인지 말해요.”
정답
- ① 4 + 1 = 5, 5개 ② 오른쪽 ③ 예: ‘1층에 2개를 나란히 놓고, 오른쪽 쌓기나무 위에 1개’ (몇 층·어느 쌓기나무·어느 쪽이 들어가면 맞음)
막히면
- S04와 S05의 그림을 다시 보여 주며 ‘층별로 세기, 기준 말하기’를 함께 말합니다.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보충(위치를 나타내는 말)]
목적: S02에서 위치를 나타내는 말이 흔들리면, 실물로 위·아래·앞·뒤·왼쪽·오른쪽을 익힙니다.
시간: 약 5분
이렇게 말해 보세요
- “컵의 위에 쌓기나무를 놓아 볼래? 이번엔 컵의 오른쪽에 놓아 봐.”
- “앞은 네 쪽이고, 뒤는 네 반대쪽이야. 컵의 앞에 놓아 볼까?”
- “엄마가 놓을게. 쌓기나무가 컵의 어느 쪽에 있어?”
정답
- 말한 쪽에 바르게 놓고, 부모가 놓은 위치를 바른 말로 말합니다.
막히면
- 오른손에 스티커나 고무줄을 붙여 ‘이쪽이 오른쪽’이라고 표시해 줍니다.
- 아이 옆에 나란히 앉아 같은 쪽에서 봅니다(M3).
주의
- S02 ①②의 도형이 흔들리면 앞 차시 ‘여러 가지 도형’(KR22-G02-MAT-PLANE-L01)을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쌓기나무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쌓기나무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쌓기나무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 몇 개로 만들었을까?</a:t>
            </a:r>
            <a:endParaRPr lang="ko-KR" sz="3200" dirty="0"/>
          </a:p>
        </p:txBody>
      </p:sp>
      <p:sp>
        <p:nvSpPr>
          <p:cNvPr id="4" name="S01-figure1" descr="쌓기나무 한 개(정육면체)"/>
          <p:cNvSpPr/>
          <p:nvPr/>
        </p:nvSpPr>
        <p:spPr>
          <a:xfrm>
            <a:off x="8641080" y="1028700"/>
            <a:ext cx="2011680" cy="2011680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쌓기나무가 몇 개인지 세어요.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위치를 넣어 쌓은 모양을 말해요.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알맞게 말하고 해 봐요.</a:t>
            </a:r>
            <a:endParaRPr lang="ko-KR" sz="32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figure6" descr="사각형"/>
          <p:cNvSpPr/>
          <p:nvPr/>
        </p:nvSpPr>
        <p:spPr>
          <a:xfrm>
            <a:off x="3515868" y="2011680"/>
            <a:ext cx="1143000" cy="1143000"/>
          </a:xfrm>
          <a:prstGeom prst="rect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figure8" descr="삼각형"/>
          <p:cNvSpPr/>
          <p:nvPr/>
        </p:nvSpPr>
        <p:spPr>
          <a:xfrm>
            <a:off x="3515868" y="3526675"/>
            <a:ext cx="1143000" cy="1039091"/>
          </a:xfrm>
          <a:prstGeom prst="triangl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오른손을 들고, 책상 위와 아래를 가리켜요.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쌓기나무와 그림</a:t>
            </a:r>
            <a:endParaRPr lang="ko-KR" sz="4400" dirty="0"/>
          </a:p>
        </p:txBody>
      </p:sp>
      <p:sp>
        <p:nvSpPr>
          <p:cNvPr id="3" name="S03-card11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면이 똑같은 사각형이에요.</a:t>
            </a:r>
            <a:endParaRPr lang="ko-KR" sz="3200" dirty="0"/>
          </a:p>
        </p:txBody>
      </p:sp>
      <p:sp>
        <p:nvSpPr>
          <p:cNvPr id="5" name="S03-card13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칸 1개가 쌓기나무 1개예요.</a:t>
            </a:r>
            <a:endParaRPr lang="ko-KR" sz="3200" dirty="0"/>
          </a:p>
        </p:txBody>
      </p:sp>
      <p:sp>
        <p:nvSpPr>
          <p:cNvPr id="7" name="S03-figure15" descr="쌓기나무 한 개"/>
          <p:cNvSpPr/>
          <p:nvPr/>
        </p:nvSpPr>
        <p:spPr>
          <a:xfrm>
            <a:off x="2235708" y="1663319"/>
            <a:ext cx="2011680" cy="2011680"/>
          </a:xfrm>
          <a:prstGeom prst="cube">
            <a:avLst/>
          </a:prstGeom>
          <a:solidFill>
            <a:srgbClr val="FDEBDD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3-label16"/>
          <p:cNvSpPr txBox="1"/>
          <p:nvPr/>
        </p:nvSpPr>
        <p:spPr>
          <a:xfrm>
            <a:off x="548640" y="42227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 1개</a:t>
            </a:r>
            <a:endParaRPr lang="ko-KR" sz="2600" dirty="0"/>
          </a:p>
        </p:txBody>
      </p:sp>
      <p:sp>
        <p:nvSpPr>
          <p:cNvPr id="9" name="S03-cell17"/>
          <p:cNvSpPr/>
          <p:nvPr/>
        </p:nvSpPr>
        <p:spPr>
          <a:xfrm>
            <a:off x="7712964" y="232625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18"/>
          <p:cNvSpPr/>
          <p:nvPr/>
        </p:nvSpPr>
        <p:spPr>
          <a:xfrm>
            <a:off x="8535924" y="232625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cell19"/>
          <p:cNvSpPr/>
          <p:nvPr/>
        </p:nvSpPr>
        <p:spPr>
          <a:xfrm>
            <a:off x="9358884" y="232625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3-figure20" descr="옆으로 나란히 놓은 쌓기나무 3개를 앞에서 본 그림: 색칠한 칸 3개"/>
          <p:cNvSpPr/>
          <p:nvPr/>
        </p:nvSpPr>
        <p:spPr>
          <a:xfrm>
            <a:off x="7712964" y="2326259"/>
            <a:ext cx="2468880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3-label21"/>
          <p:cNvSpPr txBox="1"/>
          <p:nvPr/>
        </p:nvSpPr>
        <p:spPr>
          <a:xfrm>
            <a:off x="6254496" y="42227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옆으로 나란히 3개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층별로 세어요</a:t>
            </a:r>
            <a:endParaRPr lang="ko-KR" sz="44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줄로 쌓은 모양을 앞에서 봤어요.</a:t>
            </a:r>
            <a:endParaRPr lang="ko-KR" sz="3200" dirty="0"/>
          </a:p>
        </p:txBody>
      </p:sp>
      <p:sp>
        <p:nvSpPr>
          <p:cNvPr id="4" name="S04-card23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4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+ 1 = 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쌓기나무는 모두 4개예요.</a:t>
            </a:r>
            <a:endParaRPr lang="ko-KR" sz="3200" dirty="0"/>
          </a:p>
        </p:txBody>
      </p:sp>
      <p:sp>
        <p:nvSpPr>
          <p:cNvPr id="6" name="S04-cell25"/>
          <p:cNvSpPr/>
          <p:nvPr/>
        </p:nvSpPr>
        <p:spPr>
          <a:xfrm>
            <a:off x="1995678" y="2525522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cell26"/>
          <p:cNvSpPr/>
          <p:nvPr/>
        </p:nvSpPr>
        <p:spPr>
          <a:xfrm>
            <a:off x="2818638" y="2525522"/>
            <a:ext cx="822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cell27"/>
          <p:cNvSpPr/>
          <p:nvPr/>
        </p:nvSpPr>
        <p:spPr>
          <a:xfrm>
            <a:off x="3641598" y="2525522"/>
            <a:ext cx="822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cell28"/>
          <p:cNvSpPr/>
          <p:nvPr/>
        </p:nvSpPr>
        <p:spPr>
          <a:xfrm>
            <a:off x="1995678" y="3348482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29"/>
          <p:cNvSpPr/>
          <p:nvPr/>
        </p:nvSpPr>
        <p:spPr>
          <a:xfrm>
            <a:off x="2818638" y="3348482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30"/>
          <p:cNvSpPr/>
          <p:nvPr/>
        </p:nvSpPr>
        <p:spPr>
          <a:xfrm>
            <a:off x="3641598" y="3348482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figure31" descr="한 줄로 쌓은 모양: 1층에 3개, 맨 왼쪽 쌓기나무 위에 1개, 모두 4개"/>
          <p:cNvSpPr/>
          <p:nvPr/>
        </p:nvSpPr>
        <p:spPr>
          <a:xfrm>
            <a:off x="1995678" y="2525522"/>
            <a:ext cx="246888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card32"/>
          <p:cNvSpPr/>
          <p:nvPr/>
        </p:nvSpPr>
        <p:spPr>
          <a:xfrm>
            <a:off x="6277356" y="236550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33"/>
          <p:cNvSpPr txBox="1"/>
          <p:nvPr/>
        </p:nvSpPr>
        <p:spPr>
          <a:xfrm>
            <a:off x="6551676" y="250266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3개</a:t>
            </a:r>
            <a:endParaRPr lang="ko-KR" sz="3200" dirty="0"/>
          </a:p>
        </p:txBody>
      </p:sp>
      <p:sp>
        <p:nvSpPr>
          <p:cNvPr id="15" name="S04-card34"/>
          <p:cNvSpPr/>
          <p:nvPr/>
        </p:nvSpPr>
        <p:spPr>
          <a:xfrm>
            <a:off x="6277356" y="3462782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4-cardtext35"/>
          <p:cNvSpPr txBox="1"/>
          <p:nvPr/>
        </p:nvSpPr>
        <p:spPr>
          <a:xfrm>
            <a:off x="6551676" y="3599942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2층에 1개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놓았나요?</a:t>
            </a:r>
            <a:endParaRPr lang="ko-KR" sz="4400" dirty="0"/>
          </a:p>
        </p:txBody>
      </p:sp>
      <p:sp>
        <p:nvSpPr>
          <p:cNvPr id="3" name="S05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위치를 넣어 말해요.</a:t>
            </a:r>
            <a:endParaRPr lang="ko-KR" sz="3200" dirty="0"/>
          </a:p>
        </p:txBody>
      </p:sp>
      <p:sp>
        <p:nvSpPr>
          <p:cNvPr id="4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쌓기나무의 어느 쪽인지 말해요.</a:t>
            </a:r>
            <a:endParaRPr lang="ko-KR" sz="3200" dirty="0"/>
          </a:p>
        </p:txBody>
      </p:sp>
      <p:sp>
        <p:nvSpPr>
          <p:cNvPr id="6" name="S05-cell39"/>
          <p:cNvSpPr/>
          <p:nvPr/>
        </p:nvSpPr>
        <p:spPr>
          <a:xfrm>
            <a:off x="1995678" y="2743200"/>
            <a:ext cx="822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40"/>
          <p:cNvSpPr/>
          <p:nvPr/>
        </p:nvSpPr>
        <p:spPr>
          <a:xfrm>
            <a:off x="2818638" y="2743200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41"/>
          <p:cNvSpPr/>
          <p:nvPr/>
        </p:nvSpPr>
        <p:spPr>
          <a:xfrm>
            <a:off x="3641598" y="2743200"/>
            <a:ext cx="822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42"/>
          <p:cNvSpPr/>
          <p:nvPr/>
        </p:nvSpPr>
        <p:spPr>
          <a:xfrm>
            <a:off x="1995678" y="3566160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ell43"/>
          <p:cNvSpPr/>
          <p:nvPr/>
        </p:nvSpPr>
        <p:spPr>
          <a:xfrm>
            <a:off x="2818638" y="3566160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44"/>
          <p:cNvSpPr/>
          <p:nvPr/>
        </p:nvSpPr>
        <p:spPr>
          <a:xfrm>
            <a:off x="3641598" y="3566160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figure45" descr="한 줄로 쌓은 모양: 1층에 3개, 가운데 쌓기나무 위에 1개, 모두 4개"/>
          <p:cNvSpPr/>
          <p:nvPr/>
        </p:nvSpPr>
        <p:spPr>
          <a:xfrm>
            <a:off x="1995678" y="2743200"/>
            <a:ext cx="246888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5-card46"/>
          <p:cNvSpPr/>
          <p:nvPr/>
        </p:nvSpPr>
        <p:spPr>
          <a:xfrm>
            <a:off x="6277356" y="235712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5-cardtext47"/>
          <p:cNvSpPr txBox="1"/>
          <p:nvPr/>
        </p:nvSpPr>
        <p:spPr>
          <a:xfrm>
            <a:off x="6551676" y="249428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3개를 옆으로 나란히</a:t>
            </a:r>
            <a:endParaRPr lang="ko-KR" sz="3200" dirty="0"/>
          </a:p>
        </p:txBody>
      </p:sp>
      <p:sp>
        <p:nvSpPr>
          <p:cNvPr id="15" name="S05-card48"/>
          <p:cNvSpPr/>
          <p:nvPr/>
        </p:nvSpPr>
        <p:spPr>
          <a:xfrm>
            <a:off x="6277356" y="39065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5-cardtext49"/>
          <p:cNvSpPr txBox="1"/>
          <p:nvPr/>
        </p:nvSpPr>
        <p:spPr>
          <a:xfrm>
            <a:off x="6551676" y="40436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쌓기나무 위에 1개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설명대로 쌓아요</a:t>
            </a:r>
            <a:endParaRPr lang="ko-KR" sz="4400" dirty="0"/>
          </a:p>
        </p:txBody>
      </p:sp>
      <p:sp>
        <p:nvSpPr>
          <p:cNvPr id="3" name="S06-text5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2개, 오른쪽 쌓기나무 위에 1개</a:t>
            </a:r>
            <a:endParaRPr lang="ko-KR" sz="3200" dirty="0"/>
          </a:p>
        </p:txBody>
      </p:sp>
      <p:sp>
        <p:nvSpPr>
          <p:cNvPr id="4" name="S06-cell51"/>
          <p:cNvSpPr/>
          <p:nvPr/>
        </p:nvSpPr>
        <p:spPr>
          <a:xfrm>
            <a:off x="8457651" y="3329559"/>
            <a:ext cx="82296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6-cell52"/>
          <p:cNvSpPr/>
          <p:nvPr/>
        </p:nvSpPr>
        <p:spPr>
          <a:xfrm>
            <a:off x="9280611" y="332955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cell53"/>
          <p:cNvSpPr/>
          <p:nvPr/>
        </p:nvSpPr>
        <p:spPr>
          <a:xfrm>
            <a:off x="8457651" y="415251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cell54"/>
          <p:cNvSpPr/>
          <p:nvPr/>
        </p:nvSpPr>
        <p:spPr>
          <a:xfrm>
            <a:off x="9280611" y="4152519"/>
            <a:ext cx="822960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figure55" descr="한 줄로 쌓은 모양: 1층에 2개, 오른쪽 쌓기나무 위에 1개, 모두 3개"/>
          <p:cNvSpPr/>
          <p:nvPr/>
        </p:nvSpPr>
        <p:spPr>
          <a:xfrm>
            <a:off x="8457651" y="3329559"/>
            <a:ext cx="1645920" cy="164592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6-label56"/>
          <p:cNvSpPr txBox="1"/>
          <p:nvPr/>
        </p:nvSpPr>
        <p:spPr>
          <a:xfrm>
            <a:off x="6920911" y="5772150"/>
            <a:ext cx="4719401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쌓은 모양</a:t>
            </a:r>
            <a:endParaRPr lang="ko-KR" sz="2600" dirty="0"/>
          </a:p>
        </p:txBody>
      </p:sp>
      <p:sp>
        <p:nvSpPr>
          <p:cNvPr id="10" name="S06-stepno57"/>
          <p:cNvSpPr txBox="1"/>
          <p:nvPr/>
        </p:nvSpPr>
        <p:spPr>
          <a:xfrm>
            <a:off x="548640" y="3202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1" name="S06-text58"/>
          <p:cNvSpPr txBox="1"/>
          <p:nvPr/>
        </p:nvSpPr>
        <p:spPr>
          <a:xfrm>
            <a:off x="1325880" y="320294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2개를 나란히 놓아요.</a:t>
            </a:r>
            <a:endParaRPr lang="ko-KR" sz="3200" dirty="0"/>
          </a:p>
        </p:txBody>
      </p:sp>
      <p:sp>
        <p:nvSpPr>
          <p:cNvPr id="12" name="S06-stepno59"/>
          <p:cNvSpPr txBox="1"/>
          <p:nvPr/>
        </p:nvSpPr>
        <p:spPr>
          <a:xfrm>
            <a:off x="548640" y="39618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3" name="S06-text60"/>
          <p:cNvSpPr txBox="1"/>
          <p:nvPr/>
        </p:nvSpPr>
        <p:spPr>
          <a:xfrm>
            <a:off x="1325880" y="3916172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‘오른쪽 쌓기나무’를 찾아요.</a:t>
            </a:r>
            <a:endParaRPr lang="ko-KR" sz="3200" dirty="0"/>
          </a:p>
        </p:txBody>
      </p:sp>
      <p:sp>
        <p:nvSpPr>
          <p:cNvPr id="14" name="S06-stepno61"/>
          <p:cNvSpPr txBox="1"/>
          <p:nvPr/>
        </p:nvSpPr>
        <p:spPr>
          <a:xfrm>
            <a:off x="548640" y="50723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5" name="S06-text62"/>
          <p:cNvSpPr txBox="1"/>
          <p:nvPr/>
        </p:nvSpPr>
        <p:spPr>
          <a:xfrm>
            <a:off x="1325880" y="507238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위에 1개를 올려요.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개일까요?</a:t>
            </a:r>
            <a:endParaRPr lang="ko-KR" sz="4400" dirty="0"/>
          </a:p>
        </p:txBody>
      </p:sp>
      <p:sp>
        <p:nvSpPr>
          <p:cNvPr id="3" name="S07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한 줄로 쌓았고, ③은 바닥에 놓고 위에서 봤어요.</a:t>
            </a:r>
            <a:endParaRPr lang="ko-KR" sz="3200" dirty="0"/>
          </a:p>
        </p:txBody>
      </p:sp>
      <p:sp>
        <p:nvSpPr>
          <p:cNvPr id="4" name="S07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1층부터 층마다 세고, 센 수를 더해요.</a:t>
            </a:r>
            <a:endParaRPr lang="ko-KR" sz="3200" dirty="0"/>
          </a:p>
        </p:txBody>
      </p:sp>
      <p:sp>
        <p:nvSpPr>
          <p:cNvPr id="6" name="S07-cell66"/>
          <p:cNvSpPr/>
          <p:nvPr/>
        </p:nvSpPr>
        <p:spPr>
          <a:xfrm>
            <a:off x="1193292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7-cell67"/>
          <p:cNvSpPr/>
          <p:nvPr/>
        </p:nvSpPr>
        <p:spPr>
          <a:xfrm>
            <a:off x="1924812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7-cell68"/>
          <p:cNvSpPr/>
          <p:nvPr/>
        </p:nvSpPr>
        <p:spPr>
          <a:xfrm>
            <a:off x="2656332" y="257517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7-cell69"/>
          <p:cNvSpPr/>
          <p:nvPr/>
        </p:nvSpPr>
        <p:spPr>
          <a:xfrm>
            <a:off x="119329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7-cell70"/>
          <p:cNvSpPr/>
          <p:nvPr/>
        </p:nvSpPr>
        <p:spPr>
          <a:xfrm>
            <a:off x="192481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7-cell71"/>
          <p:cNvSpPr/>
          <p:nvPr/>
        </p:nvSpPr>
        <p:spPr>
          <a:xfrm>
            <a:off x="265633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7-figure72" descr="한 줄로 쌓은 모양: 1층 3개, 2층은 왼쪽과 가운데 위에 2개"/>
          <p:cNvSpPr/>
          <p:nvPr/>
        </p:nvSpPr>
        <p:spPr>
          <a:xfrm>
            <a:off x="1193292" y="2575179"/>
            <a:ext cx="21945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7-label73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4" name="S07-cell74"/>
          <p:cNvSpPr/>
          <p:nvPr/>
        </p:nvSpPr>
        <p:spPr>
          <a:xfrm>
            <a:off x="4997196" y="220941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7-cell75"/>
          <p:cNvSpPr/>
          <p:nvPr/>
        </p:nvSpPr>
        <p:spPr>
          <a:xfrm>
            <a:off x="5728716" y="220941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7-cell76"/>
          <p:cNvSpPr/>
          <p:nvPr/>
        </p:nvSpPr>
        <p:spPr>
          <a:xfrm>
            <a:off x="6460236" y="220941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7-cell77"/>
          <p:cNvSpPr/>
          <p:nvPr/>
        </p:nvSpPr>
        <p:spPr>
          <a:xfrm>
            <a:off x="4997196" y="294093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7-cell78"/>
          <p:cNvSpPr/>
          <p:nvPr/>
        </p:nvSpPr>
        <p:spPr>
          <a:xfrm>
            <a:off x="5728716" y="29409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7-cell79"/>
          <p:cNvSpPr/>
          <p:nvPr/>
        </p:nvSpPr>
        <p:spPr>
          <a:xfrm>
            <a:off x="6460236" y="29409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7-cell80"/>
          <p:cNvSpPr/>
          <p:nvPr/>
        </p:nvSpPr>
        <p:spPr>
          <a:xfrm>
            <a:off x="4997196" y="367245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7-cell81"/>
          <p:cNvSpPr/>
          <p:nvPr/>
        </p:nvSpPr>
        <p:spPr>
          <a:xfrm>
            <a:off x="5728716" y="367245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7-cell82"/>
          <p:cNvSpPr/>
          <p:nvPr/>
        </p:nvSpPr>
        <p:spPr>
          <a:xfrm>
            <a:off x="6460236" y="367245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7-figure83" descr="한 줄로 쌓은 계단 모양: 1층 3개, 2층 2개, 3층 1개"/>
          <p:cNvSpPr/>
          <p:nvPr/>
        </p:nvSpPr>
        <p:spPr>
          <a:xfrm>
            <a:off x="4997196" y="2209419"/>
            <a:ext cx="2194560" cy="21945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7-label84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5" name="S07-cell85"/>
          <p:cNvSpPr/>
          <p:nvPr/>
        </p:nvSpPr>
        <p:spPr>
          <a:xfrm>
            <a:off x="8801100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7-cell86"/>
          <p:cNvSpPr/>
          <p:nvPr/>
        </p:nvSpPr>
        <p:spPr>
          <a:xfrm>
            <a:off x="9532620" y="257517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7-cell87"/>
          <p:cNvSpPr/>
          <p:nvPr/>
        </p:nvSpPr>
        <p:spPr>
          <a:xfrm>
            <a:off x="10264140" y="257517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7-cell88"/>
          <p:cNvSpPr/>
          <p:nvPr/>
        </p:nvSpPr>
        <p:spPr>
          <a:xfrm>
            <a:off x="8801100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7-cell89"/>
          <p:cNvSpPr/>
          <p:nvPr/>
        </p:nvSpPr>
        <p:spPr>
          <a:xfrm>
            <a:off x="9532620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7-cell90"/>
          <p:cNvSpPr/>
          <p:nvPr/>
        </p:nvSpPr>
        <p:spPr>
          <a:xfrm>
            <a:off x="10264140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7-figure91" descr="바닥에 1층으로 놓은 모양을 위에서 본 그림: 색칠한 칸 4개"/>
          <p:cNvSpPr/>
          <p:nvPr/>
        </p:nvSpPr>
        <p:spPr>
          <a:xfrm>
            <a:off x="8801100" y="2575179"/>
            <a:ext cx="21945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2" name="S07-label92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똑같이 쌓았을까요?</a:t>
            </a:r>
            <a:endParaRPr lang="ko-KR" sz="4400" dirty="0"/>
          </a:p>
        </p:txBody>
      </p:sp>
      <p:sp>
        <p:nvSpPr>
          <p:cNvPr id="3" name="S08-card9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9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“1층에 3개를 놓고, 위에 1개를 놓아요.”</a:t>
            </a:r>
            <a:endParaRPr lang="ko-KR" sz="3200" dirty="0"/>
          </a:p>
        </p:txBody>
      </p:sp>
      <p:sp>
        <p:nvSpPr>
          <p:cNvPr id="5" name="S08-card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 다 설명대로 했어요. 어떻게 말하면 같아질까요?</a:t>
            </a:r>
            <a:endParaRPr lang="ko-KR" sz="3200" dirty="0"/>
          </a:p>
        </p:txBody>
      </p:sp>
      <p:sp>
        <p:nvSpPr>
          <p:cNvPr id="7" name="S08-chip9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토끼가 쌓은 모양</a:t>
            </a:r>
            <a:endParaRPr lang="ko-KR" sz="2600" dirty="0"/>
          </a:p>
        </p:txBody>
      </p:sp>
      <p:sp>
        <p:nvSpPr>
          <p:cNvPr id="8" name="S08-cell98"/>
          <p:cNvSpPr/>
          <p:nvPr/>
        </p:nvSpPr>
        <p:spPr>
          <a:xfrm>
            <a:off x="1755648" y="315468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8-cell99"/>
          <p:cNvSpPr/>
          <p:nvPr/>
        </p:nvSpPr>
        <p:spPr>
          <a:xfrm>
            <a:off x="2738628" y="3154680"/>
            <a:ext cx="982980" cy="9829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8-cell100"/>
          <p:cNvSpPr/>
          <p:nvPr/>
        </p:nvSpPr>
        <p:spPr>
          <a:xfrm>
            <a:off x="3721608" y="3154680"/>
            <a:ext cx="982980" cy="9829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8-cell101"/>
          <p:cNvSpPr/>
          <p:nvPr/>
        </p:nvSpPr>
        <p:spPr>
          <a:xfrm>
            <a:off x="1755648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102"/>
          <p:cNvSpPr/>
          <p:nvPr/>
        </p:nvSpPr>
        <p:spPr>
          <a:xfrm>
            <a:off x="2738628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103"/>
          <p:cNvSpPr/>
          <p:nvPr/>
        </p:nvSpPr>
        <p:spPr>
          <a:xfrm>
            <a:off x="3721608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figure104" descr="1층 3개, 맨 왼쪽 위에 1개"/>
          <p:cNvSpPr/>
          <p:nvPr/>
        </p:nvSpPr>
        <p:spPr>
          <a:xfrm>
            <a:off x="1755648" y="3154680"/>
            <a:ext cx="294894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8-chip10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곰이 쌓은 모양</a:t>
            </a:r>
            <a:endParaRPr lang="ko-KR" sz="2600" dirty="0"/>
          </a:p>
        </p:txBody>
      </p:sp>
      <p:sp>
        <p:nvSpPr>
          <p:cNvPr id="16" name="S08-cell106"/>
          <p:cNvSpPr/>
          <p:nvPr/>
        </p:nvSpPr>
        <p:spPr>
          <a:xfrm>
            <a:off x="7484364" y="3154680"/>
            <a:ext cx="982980" cy="9829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cell107"/>
          <p:cNvSpPr/>
          <p:nvPr/>
        </p:nvSpPr>
        <p:spPr>
          <a:xfrm>
            <a:off x="8467344" y="3154680"/>
            <a:ext cx="982980" cy="9829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cell108"/>
          <p:cNvSpPr/>
          <p:nvPr/>
        </p:nvSpPr>
        <p:spPr>
          <a:xfrm>
            <a:off x="9450324" y="315468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109"/>
          <p:cNvSpPr/>
          <p:nvPr/>
        </p:nvSpPr>
        <p:spPr>
          <a:xfrm>
            <a:off x="7484364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110"/>
          <p:cNvSpPr/>
          <p:nvPr/>
        </p:nvSpPr>
        <p:spPr>
          <a:xfrm>
            <a:off x="8467344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111"/>
          <p:cNvSpPr/>
          <p:nvPr/>
        </p:nvSpPr>
        <p:spPr>
          <a:xfrm>
            <a:off x="9450324" y="4137660"/>
            <a:ext cx="982980" cy="98298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figure112" descr="1층 3개, 맨 오른쪽 위에 1개"/>
          <p:cNvSpPr/>
          <p:nvPr/>
        </p:nvSpPr>
        <p:spPr>
          <a:xfrm>
            <a:off x="7484364" y="3154680"/>
            <a:ext cx="294894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설명해요</a:t>
            </a:r>
            <a:endParaRPr lang="ko-KR" sz="4400" dirty="0"/>
          </a:p>
        </p:txBody>
      </p:sp>
      <p:sp>
        <p:nvSpPr>
          <p:cNvPr id="3" name="S09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말로 설명하고, ③은 쌓아요.</a:t>
            </a:r>
            <a:endParaRPr lang="ko-KR" sz="3200" dirty="0"/>
          </a:p>
        </p:txBody>
      </p:sp>
      <p:sp>
        <p:nvSpPr>
          <p:cNvPr id="4" name="S09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층에, 어느 쌓기나무의 어느 쪽?</a:t>
            </a:r>
            <a:endParaRPr lang="ko-KR" sz="3200" dirty="0"/>
          </a:p>
        </p:txBody>
      </p:sp>
      <p:sp>
        <p:nvSpPr>
          <p:cNvPr id="6" name="S09-cell116"/>
          <p:cNvSpPr/>
          <p:nvPr/>
        </p:nvSpPr>
        <p:spPr>
          <a:xfrm>
            <a:off x="1193292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9-cell117"/>
          <p:cNvSpPr/>
          <p:nvPr/>
        </p:nvSpPr>
        <p:spPr>
          <a:xfrm>
            <a:off x="1924812" y="257517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9-cell118"/>
          <p:cNvSpPr/>
          <p:nvPr/>
        </p:nvSpPr>
        <p:spPr>
          <a:xfrm>
            <a:off x="2656332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9-cell119"/>
          <p:cNvSpPr/>
          <p:nvPr/>
        </p:nvSpPr>
        <p:spPr>
          <a:xfrm>
            <a:off x="119329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9-cell120"/>
          <p:cNvSpPr/>
          <p:nvPr/>
        </p:nvSpPr>
        <p:spPr>
          <a:xfrm>
            <a:off x="192481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9-cell121"/>
          <p:cNvSpPr/>
          <p:nvPr/>
        </p:nvSpPr>
        <p:spPr>
          <a:xfrm>
            <a:off x="2656332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9-figure122" descr="한 줄로 쌓은 모양: 1층 3개, 맨 왼쪽과 맨 오른쪽 위에 1개씩"/>
          <p:cNvSpPr/>
          <p:nvPr/>
        </p:nvSpPr>
        <p:spPr>
          <a:xfrm>
            <a:off x="1193292" y="2575179"/>
            <a:ext cx="21945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9-label123"/>
          <p:cNvSpPr txBox="1"/>
          <p:nvPr/>
        </p:nvSpPr>
        <p:spPr>
          <a:xfrm>
            <a:off x="548640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4" name="S09-cell124"/>
          <p:cNvSpPr/>
          <p:nvPr/>
        </p:nvSpPr>
        <p:spPr>
          <a:xfrm>
            <a:off x="5362956" y="257517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9-cell125"/>
          <p:cNvSpPr/>
          <p:nvPr/>
        </p:nvSpPr>
        <p:spPr>
          <a:xfrm>
            <a:off x="6094476" y="257517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9-cell126"/>
          <p:cNvSpPr/>
          <p:nvPr/>
        </p:nvSpPr>
        <p:spPr>
          <a:xfrm>
            <a:off x="5362956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9-cell127"/>
          <p:cNvSpPr/>
          <p:nvPr/>
        </p:nvSpPr>
        <p:spPr>
          <a:xfrm>
            <a:off x="6094476" y="330669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9-figure128" descr="한 줄로 쌓은 모양: 1층 2개, 왼쪽 쌓기나무 위에 1개"/>
          <p:cNvSpPr/>
          <p:nvPr/>
        </p:nvSpPr>
        <p:spPr>
          <a:xfrm>
            <a:off x="5362956" y="2575179"/>
            <a:ext cx="146304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9-label129"/>
          <p:cNvSpPr txBox="1"/>
          <p:nvPr/>
        </p:nvSpPr>
        <p:spPr>
          <a:xfrm>
            <a:off x="4352544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0" name="S09-bigtext130"/>
          <p:cNvSpPr txBox="1"/>
          <p:nvPr/>
        </p:nvSpPr>
        <p:spPr>
          <a:xfrm>
            <a:off x="8156448" y="2011680"/>
            <a:ext cx="3483864" cy="259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1개를 놓고,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앞에 1개,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1개</a:t>
            </a:r>
            <a:endParaRPr lang="ko-KR" sz="2800" dirty="0"/>
          </a:p>
        </p:txBody>
      </p:sp>
      <p:sp>
        <p:nvSpPr>
          <p:cNvPr id="21" name="S09-label131"/>
          <p:cNvSpPr txBox="1"/>
          <p:nvPr/>
        </p:nvSpPr>
        <p:spPr>
          <a:xfrm>
            <a:off x="8156448" y="467487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몇 개? ②는 쌓고, ③은 설명해요.</a:t>
            </a:r>
            <a:endParaRPr lang="ko-KR" sz="3200" dirty="0"/>
          </a:p>
        </p:txBody>
      </p:sp>
      <p:sp>
        <p:nvSpPr>
          <p:cNvPr id="4" name="S10-cell133"/>
          <p:cNvSpPr/>
          <p:nvPr/>
        </p:nvSpPr>
        <p:spPr>
          <a:xfrm>
            <a:off x="827532" y="312381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0-cell134"/>
          <p:cNvSpPr/>
          <p:nvPr/>
        </p:nvSpPr>
        <p:spPr>
          <a:xfrm>
            <a:off x="1559052" y="312381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10-cell135"/>
          <p:cNvSpPr/>
          <p:nvPr/>
        </p:nvSpPr>
        <p:spPr>
          <a:xfrm>
            <a:off x="2290572" y="312381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0-cell136"/>
          <p:cNvSpPr/>
          <p:nvPr/>
        </p:nvSpPr>
        <p:spPr>
          <a:xfrm>
            <a:off x="3022092" y="312381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0-cell137"/>
          <p:cNvSpPr/>
          <p:nvPr/>
        </p:nvSpPr>
        <p:spPr>
          <a:xfrm>
            <a:off x="827532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0-cell138"/>
          <p:cNvSpPr/>
          <p:nvPr/>
        </p:nvSpPr>
        <p:spPr>
          <a:xfrm>
            <a:off x="1559052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0-cell139"/>
          <p:cNvSpPr/>
          <p:nvPr/>
        </p:nvSpPr>
        <p:spPr>
          <a:xfrm>
            <a:off x="2290572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0-cell140"/>
          <p:cNvSpPr/>
          <p:nvPr/>
        </p:nvSpPr>
        <p:spPr>
          <a:xfrm>
            <a:off x="3022092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0-figure141" descr="한 줄로 쌓은 모양: 1층 4개, 가운데 두 쌓기나무 위에 1개씩"/>
          <p:cNvSpPr/>
          <p:nvPr/>
        </p:nvSpPr>
        <p:spPr>
          <a:xfrm>
            <a:off x="827532" y="3123819"/>
            <a:ext cx="292608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10-label142"/>
          <p:cNvSpPr txBox="1"/>
          <p:nvPr/>
        </p:nvSpPr>
        <p:spPr>
          <a:xfrm>
            <a:off x="548640" y="57721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4" name="S10-bigtext143"/>
          <p:cNvSpPr txBox="1"/>
          <p:nvPr/>
        </p:nvSpPr>
        <p:spPr>
          <a:xfrm>
            <a:off x="4352544" y="2011680"/>
            <a:ext cx="3483864" cy="3687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2개,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쌓기나무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 2개 더</a:t>
            </a:r>
            <a:endParaRPr lang="ko-KR" sz="2800" dirty="0"/>
          </a:p>
        </p:txBody>
      </p:sp>
      <p:sp>
        <p:nvSpPr>
          <p:cNvPr id="15" name="S10-label144"/>
          <p:cNvSpPr txBox="1"/>
          <p:nvPr/>
        </p:nvSpPr>
        <p:spPr>
          <a:xfrm>
            <a:off x="4352544" y="57721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6" name="S10-cell145"/>
          <p:cNvSpPr/>
          <p:nvPr/>
        </p:nvSpPr>
        <p:spPr>
          <a:xfrm>
            <a:off x="8801100" y="3123819"/>
            <a:ext cx="73152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0-cell146"/>
          <p:cNvSpPr/>
          <p:nvPr/>
        </p:nvSpPr>
        <p:spPr>
          <a:xfrm>
            <a:off x="9532620" y="312381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0-cell147"/>
          <p:cNvSpPr/>
          <p:nvPr/>
        </p:nvSpPr>
        <p:spPr>
          <a:xfrm>
            <a:off x="10264140" y="312381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0-cell148"/>
          <p:cNvSpPr/>
          <p:nvPr/>
        </p:nvSpPr>
        <p:spPr>
          <a:xfrm>
            <a:off x="8801100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0-cell149"/>
          <p:cNvSpPr/>
          <p:nvPr/>
        </p:nvSpPr>
        <p:spPr>
          <a:xfrm>
            <a:off x="9532620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0-cell150"/>
          <p:cNvSpPr/>
          <p:nvPr/>
        </p:nvSpPr>
        <p:spPr>
          <a:xfrm>
            <a:off x="10264140" y="3855339"/>
            <a:ext cx="731520" cy="7315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0-figure151" descr="한 줄로 쌓은 모양: 1층 3개, 가운데와 오른쪽 위에 1개씩"/>
          <p:cNvSpPr/>
          <p:nvPr/>
        </p:nvSpPr>
        <p:spPr>
          <a:xfrm>
            <a:off x="8801100" y="3123819"/>
            <a:ext cx="21945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0-label152"/>
          <p:cNvSpPr txBox="1"/>
          <p:nvPr/>
        </p:nvSpPr>
        <p:spPr>
          <a:xfrm>
            <a:off x="8156448" y="5772150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1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실물로 쌓아 다시 세어 보게 하세요.</a:t>
            </a:r>
            <a:endParaRPr lang="ko-KR" sz="3200" dirty="0"/>
          </a:p>
        </p:txBody>
      </p:sp>
      <p:sp>
        <p:nvSpPr>
          <p:cNvPr id="5" name="S11-chip15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56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 + 2 = 6</a:t>
            </a:r>
            <a:endParaRPr lang="ko-KR" sz="3200" dirty="0"/>
          </a:p>
        </p:txBody>
      </p:sp>
      <p:sp>
        <p:nvSpPr>
          <p:cNvPr id="7" name="S11-text157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4개, 2층 2개</a:t>
            </a:r>
            <a:endParaRPr lang="ko-KR" sz="2600" dirty="0"/>
          </a:p>
        </p:txBody>
      </p:sp>
      <p:sp>
        <p:nvSpPr>
          <p:cNvPr id="8" name="S11-text158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왼쪽만 3층</a:t>
            </a:r>
            <a:endParaRPr lang="ko-KR" sz="3200" dirty="0"/>
          </a:p>
        </p:txBody>
      </p:sp>
      <p:sp>
        <p:nvSpPr>
          <p:cNvPr id="9" name="S11-text159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+ 1 + 1 = 4</a:t>
            </a:r>
            <a:endParaRPr lang="ko-KR" sz="2600" dirty="0"/>
          </a:p>
        </p:txBody>
      </p:sp>
      <p:sp>
        <p:nvSpPr>
          <p:cNvPr id="10" name="S11-text160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가운데와 오른쪽 위에</a:t>
            </a:r>
            <a:endParaRPr lang="ko-KR" sz="2600" dirty="0"/>
          </a:p>
        </p:txBody>
      </p:sp>
      <p:sp>
        <p:nvSpPr>
          <p:cNvPr id="11" name="S11-text161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5개</a:t>
            </a:r>
            <a:endParaRPr lang="ko-KR" sz="2600" dirty="0"/>
          </a:p>
        </p:txBody>
      </p:sp>
      <p:sp>
        <p:nvSpPr>
          <p:cNvPr id="12" name="S11-chip16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16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4개</a:t>
            </a:r>
            <a:endParaRPr lang="ko-KR" sz="3200" dirty="0"/>
          </a:p>
        </p:txBody>
      </p:sp>
      <p:sp>
        <p:nvSpPr>
          <p:cNvPr id="14" name="S11-text16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2층을 빠뜨림</a:t>
            </a:r>
            <a:endParaRPr lang="ko-KR" sz="2600" dirty="0"/>
          </a:p>
        </p:txBody>
      </p:sp>
      <p:sp>
        <p:nvSpPr>
          <p:cNvPr id="15" name="S11-text16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“위에 2개”</a:t>
            </a:r>
            <a:endParaRPr lang="ko-KR" sz="3200" dirty="0"/>
          </a:p>
        </p:txBody>
      </p:sp>
      <p:sp>
        <p:nvSpPr>
          <p:cNvPr id="16" name="S11-text16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쌓기나무인지 없음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설명에 맞는 모양은?</a:t>
            </a:r>
            <a:endParaRPr lang="ko-KR" sz="4400" dirty="0"/>
          </a:p>
        </p:txBody>
      </p:sp>
      <p:sp>
        <p:nvSpPr>
          <p:cNvPr id="3" name="S12-text1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1층에 3개, 맨 오른쪽 쌓기나무 위에 1개</a:t>
            </a:r>
            <a:endParaRPr lang="ko-KR" sz="3200" dirty="0"/>
          </a:p>
        </p:txBody>
      </p:sp>
      <p:sp>
        <p:nvSpPr>
          <p:cNvPr id="4" name="S12-card1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6" name="S12-chip17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ell171"/>
          <p:cNvSpPr/>
          <p:nvPr/>
        </p:nvSpPr>
        <p:spPr>
          <a:xfrm>
            <a:off x="766572" y="291236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cell172"/>
          <p:cNvSpPr/>
          <p:nvPr/>
        </p:nvSpPr>
        <p:spPr>
          <a:xfrm>
            <a:off x="1772412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2-cell173"/>
          <p:cNvSpPr/>
          <p:nvPr/>
        </p:nvSpPr>
        <p:spPr>
          <a:xfrm>
            <a:off x="2778252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2-cell174"/>
          <p:cNvSpPr/>
          <p:nvPr/>
        </p:nvSpPr>
        <p:spPr>
          <a:xfrm>
            <a:off x="766572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2-cell175"/>
          <p:cNvSpPr/>
          <p:nvPr/>
        </p:nvSpPr>
        <p:spPr>
          <a:xfrm>
            <a:off x="1772412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2-cell176"/>
          <p:cNvSpPr/>
          <p:nvPr/>
        </p:nvSpPr>
        <p:spPr>
          <a:xfrm>
            <a:off x="2778252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2-figure177" descr="1층 3개, 맨 왼쪽 위에 1개"/>
          <p:cNvSpPr/>
          <p:nvPr/>
        </p:nvSpPr>
        <p:spPr>
          <a:xfrm>
            <a:off x="766572" y="2912364"/>
            <a:ext cx="30175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2-chip178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5" name="S12-cell179"/>
          <p:cNvSpPr/>
          <p:nvPr/>
        </p:nvSpPr>
        <p:spPr>
          <a:xfrm>
            <a:off x="4585716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2-cell180"/>
          <p:cNvSpPr/>
          <p:nvPr/>
        </p:nvSpPr>
        <p:spPr>
          <a:xfrm>
            <a:off x="5591556" y="291236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2-cell181"/>
          <p:cNvSpPr/>
          <p:nvPr/>
        </p:nvSpPr>
        <p:spPr>
          <a:xfrm>
            <a:off x="6597396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2-cell182"/>
          <p:cNvSpPr/>
          <p:nvPr/>
        </p:nvSpPr>
        <p:spPr>
          <a:xfrm>
            <a:off x="4585716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2-cell183"/>
          <p:cNvSpPr/>
          <p:nvPr/>
        </p:nvSpPr>
        <p:spPr>
          <a:xfrm>
            <a:off x="5591556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2-cell184"/>
          <p:cNvSpPr/>
          <p:nvPr/>
        </p:nvSpPr>
        <p:spPr>
          <a:xfrm>
            <a:off x="6597396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2-figure185" descr="1층 3개, 가운데 위에 1개"/>
          <p:cNvSpPr/>
          <p:nvPr/>
        </p:nvSpPr>
        <p:spPr>
          <a:xfrm>
            <a:off x="4585716" y="2912364"/>
            <a:ext cx="30175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2-chip18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23" name="S12-cell187"/>
          <p:cNvSpPr/>
          <p:nvPr/>
        </p:nvSpPr>
        <p:spPr>
          <a:xfrm>
            <a:off x="8404860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2-cell188"/>
          <p:cNvSpPr/>
          <p:nvPr/>
        </p:nvSpPr>
        <p:spPr>
          <a:xfrm>
            <a:off x="9410700" y="2912364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2-cell189"/>
          <p:cNvSpPr/>
          <p:nvPr/>
        </p:nvSpPr>
        <p:spPr>
          <a:xfrm>
            <a:off x="10416540" y="291236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2-cell190"/>
          <p:cNvSpPr/>
          <p:nvPr/>
        </p:nvSpPr>
        <p:spPr>
          <a:xfrm>
            <a:off x="8404860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2-cell191"/>
          <p:cNvSpPr/>
          <p:nvPr/>
        </p:nvSpPr>
        <p:spPr>
          <a:xfrm>
            <a:off x="9410700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2-cell192"/>
          <p:cNvSpPr/>
          <p:nvPr/>
        </p:nvSpPr>
        <p:spPr>
          <a:xfrm>
            <a:off x="10416540" y="3918204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2-figure193" descr="1층 3개, 맨 오른쪽 위에 1개"/>
          <p:cNvSpPr/>
          <p:nvPr/>
        </p:nvSpPr>
        <p:spPr>
          <a:xfrm>
            <a:off x="8404860" y="2912364"/>
            <a:ext cx="301752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9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9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층별로 세고, 어느 쌓기나무의 어느 쪽인지 말해요.</a:t>
            </a:r>
            <a:endParaRPr lang="ko-KR" sz="3200" dirty="0"/>
          </a:p>
        </p:txBody>
      </p:sp>
      <p:sp>
        <p:nvSpPr>
          <p:cNvPr id="5" name="S13-chip19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1층부터 층별로 세기</a:t>
            </a:r>
            <a:endParaRPr lang="ko-KR" sz="2600" dirty="0"/>
          </a:p>
        </p:txBody>
      </p:sp>
      <p:sp>
        <p:nvSpPr>
          <p:cNvPr id="6" name="S13-chip19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‘위에’만 말하기</a:t>
            </a:r>
            <a:endParaRPr lang="ko-KR" sz="2600" dirty="0"/>
          </a:p>
        </p:txBody>
      </p:sp>
      <p:sp>
        <p:nvSpPr>
          <p:cNvPr id="7" name="S13-text19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99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1층 4개,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2층 1개는 모두?</a:t>
            </a:r>
            <a:endParaRPr lang="ko-KR" sz="2600" dirty="0"/>
          </a:p>
        </p:txBody>
      </p:sp>
      <p:sp>
        <p:nvSpPr>
          <p:cNvPr id="9" name="S13-text200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‘왼쪽’과 반대인 말은?</a:t>
            </a:r>
            <a:endParaRPr lang="ko-KR" sz="2600" dirty="0"/>
          </a:p>
        </p:txBody>
      </p:sp>
      <p:sp>
        <p:nvSpPr>
          <p:cNvPr id="10" name="S13-text201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3개로 2층 모양을 쌓고 말해요.</a:t>
            </a:r>
            <a:endParaRPr lang="ko-KR" sz="2600" dirty="0"/>
          </a:p>
        </p:txBody>
      </p:sp>
      <p:sp>
        <p:nvSpPr>
          <p:cNvPr id="11" name="S13-text20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길이 재기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위치를 말해요</a:t>
            </a:r>
            <a:endParaRPr lang="ko-KR" sz="4400" dirty="0"/>
          </a:p>
        </p:txBody>
      </p:sp>
      <p:sp>
        <p:nvSpPr>
          <p:cNvPr id="3" name="S14-text20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가운데 두고 쌓기나무를 놓아요.</a:t>
            </a:r>
            <a:endParaRPr lang="ko-KR" sz="3200" dirty="0"/>
          </a:p>
        </p:txBody>
      </p:sp>
      <p:sp>
        <p:nvSpPr>
          <p:cNvPr id="4" name="S14-card2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2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볼 때를 기준으로 말해요.</a:t>
            </a:r>
            <a:endParaRPr lang="ko-KR" sz="3200" dirty="0"/>
          </a:p>
        </p:txBody>
      </p:sp>
      <p:sp>
        <p:nvSpPr>
          <p:cNvPr id="6" name="S14-word206"/>
          <p:cNvSpPr txBox="1"/>
          <p:nvPr/>
        </p:nvSpPr>
        <p:spPr>
          <a:xfrm>
            <a:off x="548640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</a:t>
            </a:r>
            <a:endParaRPr lang="ko-KR" sz="3600" dirty="0"/>
          </a:p>
        </p:txBody>
      </p:sp>
      <p:sp>
        <p:nvSpPr>
          <p:cNvPr id="7" name="S14-word207"/>
          <p:cNvSpPr txBox="1"/>
          <p:nvPr/>
        </p:nvSpPr>
        <p:spPr>
          <a:xfrm>
            <a:off x="4337304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</a:t>
            </a:r>
            <a:endParaRPr lang="ko-KR" sz="3600" dirty="0"/>
          </a:p>
        </p:txBody>
      </p:sp>
      <p:sp>
        <p:nvSpPr>
          <p:cNvPr id="8" name="S14-word208"/>
          <p:cNvSpPr txBox="1"/>
          <p:nvPr/>
        </p:nvSpPr>
        <p:spPr>
          <a:xfrm>
            <a:off x="8125968" y="201168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</a:t>
            </a:r>
            <a:endParaRPr lang="ko-KR" sz="3600" dirty="0"/>
          </a:p>
        </p:txBody>
      </p:sp>
      <p:sp>
        <p:nvSpPr>
          <p:cNvPr id="9" name="S14-word209"/>
          <p:cNvSpPr txBox="1"/>
          <p:nvPr/>
        </p:nvSpPr>
        <p:spPr>
          <a:xfrm>
            <a:off x="548640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</a:t>
            </a:r>
            <a:endParaRPr lang="ko-KR" sz="3600" dirty="0"/>
          </a:p>
        </p:txBody>
      </p:sp>
      <p:sp>
        <p:nvSpPr>
          <p:cNvPr id="10" name="S14-word210"/>
          <p:cNvSpPr txBox="1"/>
          <p:nvPr/>
        </p:nvSpPr>
        <p:spPr>
          <a:xfrm>
            <a:off x="4337304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</a:t>
            </a:r>
            <a:endParaRPr lang="ko-KR" sz="3600" dirty="0"/>
          </a:p>
        </p:txBody>
      </p:sp>
      <p:sp>
        <p:nvSpPr>
          <p:cNvPr id="11" name="S14-word211"/>
          <p:cNvSpPr txBox="1"/>
          <p:nvPr/>
        </p:nvSpPr>
        <p:spPr>
          <a:xfrm>
            <a:off x="8125968" y="3703320"/>
            <a:ext cx="3514344" cy="1417320"/>
          </a:xfrm>
          <a:prstGeom prst="roundRect">
            <a:avLst>
              <a:gd name="adj" fmla="val 903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쌓기나무</dc:title>
  <dc:subject>KR22-G02-MAT-BLOCKS-L01</dc:subject>
  <dc:creator>education-ppt</dc:creator>
  <cp:lastModifiedBy>education-ppt</cp:lastModifiedBy>
  <cp:revision>1</cp:revision>
  <dcterms:created xsi:type="dcterms:W3CDTF">2026-10-26T07:46:09Z</dcterms:created>
  <dcterms:modified xsi:type="dcterms:W3CDTF">2026-10-26T07:46:09Z</dcterms:modified>
</cp:coreProperties>
</file>