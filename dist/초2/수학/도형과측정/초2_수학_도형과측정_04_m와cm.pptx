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4b4e42f-b0cb-1f33-064f-2b267d3ee959}">
          <p14:sldIdLst>
            <p14:sldId id="256"/>
            <p14:sldId id="257"/>
          </p14:sldIdLst>
        </p14:section>
        <p14:section name="개념" id="{09c067ab-8cd4-823e-062c-96e6fe9a8292}">
          <p14:sldIdLst>
            <p14:sldId id="258"/>
            <p14:sldId id="259"/>
            <p14:sldId id="260"/>
            <p14:sldId id="263"/>
            <p14:sldId id="264"/>
          </p14:sldIdLst>
        </p14:section>
        <p14:section name="연습" id="{20d46bad-b57b-9769-543d-a2b794a1704b}">
          <p14:sldIdLst>
            <p14:sldId id="261"/>
            <p14:sldId id="262"/>
            <p14:sldId id="265"/>
            <p14:sldId id="266"/>
          </p14:sldIdLst>
        </p14:section>
        <p14:section name="개념" id="{3c755038-e326-7b3a-545c-43eee6f1462c}">
          <p14:sldIdLst/>
        </p14:section>
        <p14:section name="연습" id="{9f82bbbb-1b3d-e7c0-a517-770173d6f39c}">
          <p14:sldIdLst/>
        </p14:section>
        <p14:section name="확인" id="{82b9ac96-e693-b5b9-27bc-06879fff84df}">
          <p14:sldIdLst>
            <p14:sldId id="267"/>
            <p14:sldId id="268"/>
            <p14:sldId id="269"/>
          </p14:sldIdLst>
        </p14:section>
        <p14:section name="정리" id="{ed89dd57-776f-87de-fc4e-ef9f6517c426}">
          <p14:sldIdLst>
            <p14:sldId id="270"/>
          </p14:sldIdLst>
        </p14:section>
        <p14:section name="보충" id="{76896e3d-c852-14be-b4b1-a7f4766416cc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30 cm 자로 재기에는 긴 물건이 있다는 것을 느끼게 합니다.
시간: 약 2분
이렇게 말해 보세요
- “지난 시간에 cm로 길이를 재었지? 그런데 소파나 문처럼 아주 긴 것은 30 cm 자로 재기 힘들어. 오늘은 더 긴 길이를 나타내는 단위를 배울 거야.”
- “네 키는 몇 cm쯤일까?”
예상 답
- “100이요.” “몰라요.” 어떤 답이든 괜찮습니다.
막히면
- 답을 확인하지 않고 넘어갑니다. S03에서 줄자로 1 m를 직접 봅니다.
주의
- 줄자(1 m 이상)와 끈(1 m 50 cm쯤)을 미리 준비합니다. 줄자가 없으면 30 cm 자로 끈에 30 cm씩 표시해 1 m 끈을 만들어 둡니다(30 cm 3번과 10 cm).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확인(cm 재기, 두 자리 수 덧셈·뺄셈)]
목적: 자로 잰 길이 읽기, 10씩 세기, 받아올림·받아내림이 없는 두 자리 수 덧셈·뺄셈이 되는지 확인합니다. 오늘 길이의 합과 차에 모두 쓰입니다.
시간: 약 3분
이렇게 말해 보세요
- “① 지우개는 몇 cm야? ② 10 cm가 10번이면 몇 cm일까? 10, 20, 30… 세어 봐.”
- “③④는 계산해 볼래?”
정답
- ① 6 cm(2에서 8까지 1 cm가 6번)
- ② 100 cm
- ③ 77
- ④ 43
막히면
- ①에서 8 cm라고 하면 1 cm가 몇 번인지 칸을 짚어 세게 합니다.
- ①②가 흔들리면 S16(보충)을 먼저 합니다. 보충으로도 어려우면 앞 차시 ‘길이 재기’(KR22-G02-MAT-CM-L01)를 다시 합니다.
- ③④가 어려우면 오늘은 A(1 m = 100 cm)까지만 하고, 초1 ‘두 자리 수의 덧셈과 뺄셈’(KR22-G01-MAT-ADD2D-L01)을 먼저 복습합니다.
주의
- ③④는 일의 자리끼리, 십의 자리끼리 계산합니다. 오늘 ‘cm끼리, m끼리’ 계산하는 것과 같은 생각입니다.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1 m 알기]
목적: 길이의 단위 1 m를 알고, 1 m = 100 cm임을 줄자로 확인합니다.
시간: 약 3분
이렇게 말해 보세요
- “줄자를 0부터 100까지 쭉 펴 볼까? 100 cm를 1 미터라고 해. m라고 써.”
- “두 팔을 벌려서 1 m가 얼마쯤인지 몸으로 느껴 봐. 네 팔 길이는 1 m보다 길까, 짧을까?”
예상 답
- “1 m는 100 cm예요.” “제 팔보다 조금 짧아요/길어요.”(아이에 따라 다름)
막히면
- 30 cm 자를 끈 위에 세 번 대고 10 cm를 더 재어 1 m 끈을 함께 만듭니다. 줄자의 100 눈금과 비교해 봅니다.
주의
- m는 작게 한 번에 씁니다. 1 m 끈은 S12와 활동지에서도 쓰니 버리지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몇 m 몇 cm로 나타내기]
목적: 100 cm보다 긴 길이를 1 m와 남은 cm로 나누어 ‘몇 m 몇 cm’로 나타내고 읽습니다.
시간: 약 3분
이렇게 말해 보세요
- “135 cm 안에 1 m(100 cm)가 들어 있어. 100 cm를 빼고 나면 몇 cm가 남아?”
- “그래서 135 cm는 1 m 35 cm야. 1 미터 35 센티미터라고 읽어.”
예상 답
- “35 cm가 남아요.” “1 m 35 cm예요.”
막히면
- 줄자로 135 cm 끈을 재어, 100 눈금에 집게나 손가락을 두고 ‘여기까지 1 m, 나머지 35 cm’로 나누어 보여 줍니다.
- 자릿값으로 보면 135의 백의 자리 1이 m, 남은 35가 cm라고 연결합니다.
주의
- 135 cm와 1 m 35 cm는 같은 길이를 두 가지로 쓴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몇 m 몇 cm를 cm로 바꾸기]
목적: 몇 m 몇 cm를 cm로 바꾸는 방법을 보여 줍니다(1 m마다 100 cm).
시간: 약 3분
이렇게 말해 보세요
- “2 m는 몇 cm일까? 1 m가 100 cm니까 2 m는?”
- “200 cm에 40 cm를 더하면 몇 cm야?”
예상 답
- “200 cm요.” “240 cm예요.”
막히면
- 수직선의 화살표를 따라 “100, 200, 그리고 40 더 가서 240”이라고 함께 말합니다.
주의
- 수직선 위 ‘40’은 40 cm를 뜻합니다.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연습(단위 바꾸기)]
목적: 도움을 받으며 몇 m 몇 cm와 몇 cm를 서로 바꿉니다.
시간: 약 4분
이렇게 말해 보세요
- “①은 1 m 50 cm야. 1 m는 몇 cm지? 그럼 모두 몇 cm야?”
- “③은 거꾸로야. 160 cm 안에 1 m가 몇 번 들어 있어? 남는 것은?”
정답
- ① 150 cm
- ② 208 cm
- ③ 1 m 60 cm
- ④ 2 m 47 cm
막히면
- ②를 28 cm라고 쓰면 S07에서 다시 다룹니다. “2 m는 몇 cm였지?”라고 먼저 묻습니다.
- ③④는 백의 자리 숫자가 m, 나머지 두 자리가 cm라고 짚어 줍니다.
주의
- ②의 8 cm는 두 자리로 쓰면 08이 됩니다. 그래서 208 cm입니다.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비교(숫자를 이어 붙이기)]
목적: m와 cm의 숫자를 그대로 이어 붙이는 실수를 찾고 바로잡습니다(M1).
시간: 약 2분
이렇게 말해 보세요
- “토끼는 35 cm, 곰은 305 cm래. 3 m는 몇 cm였지?”
- “35 cm는 1 m보다 길어, 짧아? 3 m가 넘는 길이가 될 수 있을까?”
예상 답
- “곰이요. 3 m는 300 cm니까요.”
정답
- 곰이 맞습니다. 3 m = 300 cm이므로 3 m 5 cm = 300 cm + 5 cm = 305 cm입니다.
- 토끼의 35 cm는 1 m(100 cm)보다도 짧으므로 3 m가 넘는 길이가 될 수 없습니다.
막히면
- 줄자에서 35 cm와 305 cm를 각각 찾아 손가락으로 짚어 길이를 비교합니다.
주의
- 지치면 여기서 쉬고, 다음에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길이의 합 시범]
목적: 몇 m 몇 cm끼리 더할 때 cm는 cm끼리, m는 m끼리 더하는 방법을 보여 줍니다.
시간: 약 3분
이렇게 말해 보세요
- “빨간 끈 1 m 20 cm와 파란 끈 2 m 45 cm를 겹치지 않게 이어 놓으면 모두 몇 m 몇 cm일까?”
- “표처럼 m는 m 칸에, cm는 cm 칸에 맞추어 써. cm끼리 먼저 더하고, m끼리 더해.”
예상 답
- “cm는 65, m는 3이니까 3 m 65 cm예요.”
막히면
- cm로 바꾸어 확인합니다: 120 cm + 245 cm = 365 cm = 3 m 65 cm.
주의
- 오늘은 cm끼리 더해 100이 넘지 않는 문제만 다룹니다.
- 끈은 겹치지 않게 끝과 끝을 이어 놓는다고 생각합니다.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길이의 차 시범]
목적: 길이의 차도 cm는 cm끼리, m는 m끼리 빼서 구한다는 것을 보여 줍니다.
시간: 약 3분
이렇게 말해 보세요
- “3 m 75 cm 끈에서 1 m 40 cm를 잘라 내면 얼마가 남을까?”
- “cm끼리 75 빼기 40, m끼리 3 빼기 1. 그래서 2 m 35 cm야.”
예상 답
- “2 m 35 cm요.”
막히면
- cm로 바꾸어 확인합니다: 375 cm − 140 cm = 235 cm = 2 m 35 cm.
주의
- 오늘은 cm끼리 뺄 수 있는(받아내림이 없는) 문제만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연습(길이의 합과 차)]
목적: 도움을 받으며 길이의 합과 차를 구합니다.
시간: 약 4분
이렇게 말해 보세요
- “①은 cm끼리 먼저 해 볼까? 30 더하기 50은? m끼리는?”
- “종이에 m 칸, cm 칸을 나누어 세로로 써도 돼.”
정답
- ① 3 m 80 cm
- ② 7 m 75 cm
- ③ 3 m 50 cm
막히면
- S08의 표처럼 종이에 m 칸과 cm 칸을 그려 숫자를 옮겨 쓰게 합니다.
주의
- 답을 ‘380’처럼 단위 없이 쓰면 “380 무엇?”이라고 되묻고, 3 m 80 cm로 바꾸어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오개념 비교(단위가 다른 길이 더하기)]
목적: 단위가 다른 길이를 숫자만 보고 더하는 실수를 찾고, 단위를 맞추어 더해야 한다는 것을 압니다(M3).
시간: 약 2분
이렇게 말해 보세요
- “토끼는 132 cm, 곰은 3 m 30 cm래. 2 m는 몇 cm였지? 2 cm랑 같아?”
- “곰은 어떻게 계산했을까?”
예상 답
- “곰이요. 2 m는 200 cm라서 2를 더하면 안 돼요.”
정답
- 곰이 맞습니다. 130 cm = 1 m 30 cm이므로 1 m 30 cm + 2 m = 3 m 30 cm입니다(130 cm + 200 cm = 330 cm).
- 토끼는 2 m를 2 cm처럼 더했습니다.
막히면
- 2 m와 2 cm를 줄자에서 각각 찾아 보여 줍니다.
주의
- 2 m는 2 m 0 cm로 생각하면 cm 칸에 0을 쓰고 계산할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해결]
목적: 도움 없이 단위를 바꾸고(①), 길이의 합(②)과 차(③)를 구하는지 확인합니다.
시간: 약 4분
이렇게 말해 보세요
- “이번에는 혼자 해 볼래? ②③은 종이에 식을 쓰고 답을 말해 줘.”
정답
- ① 170 cm
- ② 2 m 35 cm + 1 m 40 cm = 3 m 75 cm
- ③ 4 m 60 cm − 1 m 20 cm = 3 m 40 cm
막히면
- 바로 알려 주지 말고 “m끼리, cm끼리 나누어 볼까?”라고만 말합니다.
- 도움을 받아 해결했다면 기록표에 ‘도움’으로 표시합니다.
주의
- ②③은 375 cm, 340 cm처럼 cm로 답해도 맞습니다. 그때는 몇 m 몇 cm로도 말해 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아이의 답을 함께 확인하고 흔한 실수를 바로잡습니다. 수업용에만 있는 장입니다.
시간: 약 2분
이렇게 말해 보세요
- “네 답과 같은지 볼까? 다르면 줄자나 표로 다시 해 보자.”
정답
- ① 170 cm ② 3 m 75 cm(375 cm) ③ 3 m 40 cm(340 cm)
막히면
- ①이 17 cm면 S07의 토끼와 곰을 다시 봅니다(M1).
- ②③에서 m와 cm를 섞어 더했으면 S08의 표로 돌아갑니다(M2).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마무리 확인(길이 비교)]
목적: 처음 보는 문제에서 단위를 맞추어 길이를 비교하는지 확인합니다.
시간: 약 2분
이렇게 말해 보세요
- “네 길이 중 가장 긴 것은 어느 것일까? 모두 cm로 바꾸어 볼까?”
정답
- 다(2 m 3 cm = 203 cm). 가 150 cm, 나 1 m 9 cm = 109 cm, 라 199 cm이므로 다가 가장 깁니다.
막히면
- 네 길이를 모두 cm로 바꾸어 종이에 쓰게 한 뒤 비교합니다.
주의
- 라(199 cm)를 고르면 2 m 3 cm를 cm로 바꾸어 보게 합니다. 나를 190 cm로 읽으면 M1입니다.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정리와 다음 수업 복습]
목적: 핵심을 정리하고 다음 수업 첫 5분에 풀 복습 문제를 알려 줍니다.
시간: 약 1분
이렇게 말해 보세요
- “오늘 배운 것을 말해 볼래? 1 m는 몇 cm야? 길이를 더할 때는 어떻게 해?”
예상 답
- “1 m는 100 cm예요.” “m는 m끼리, cm는 cm끼리 더해요.”
정답
- ① 206 cm ② 3 m 55 cm ③ 2 m 40 cm
막히면
- S04와 S08의 그림을 다시 보여 줍니다.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선수 학습 보충(10 cm씩 세기)]
목적: S02에서 cm 재기나 10씩 세기가 흔들리면, 끈에 10 cm씩 표시하며 100 cm까지 세어 봅니다.
시간: 약 5분
이렇게 말해 보세요
- “끈에 자를 대고 10 cm마다 펜으로 표시해 보자. 한 번, 두 번… 몇 번 표시했어?”
- “10, 20, 30… 하고 세어 볼까? 열 번이면 몇 cm야?”
정답
- 10 cm를 10번 표시하면 100 cm입니다.
막히면
- 자의 0을 끈의 끝에 맞추는 것부터 다시 보여 줍니다. 10씩 세기가 어려우면 손가락을 하나씩 접으며 셉니다.
주의
- 보충으로도 어려우면 앞 차시 ‘길이 재기’(KR22-G02-MAT-CM-L01)를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도형과측정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m와 cm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m와 cm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m와 cm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m와 cm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cm보다 긴 길이는 어떻게 말할까?</a:t>
            </a:r>
            <a:endParaRPr lang="ko-KR" sz="3200" dirty="0"/>
          </a:p>
        </p:txBody>
      </p:sp>
      <p:sp>
        <p:nvSpPr>
          <p:cNvPr id="4" name="S01-line1"/>
          <p:cNvSpPr/>
          <p:nvPr/>
        </p:nvSpPr>
        <p:spPr>
          <a:xfrm>
            <a:off x="7818120" y="2454250"/>
            <a:ext cx="36576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5" name="S01-line2"/>
          <p:cNvSpPr/>
          <p:nvPr/>
        </p:nvSpPr>
        <p:spPr>
          <a:xfrm>
            <a:off x="8092440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01-label3"/>
          <p:cNvSpPr txBox="1"/>
          <p:nvPr/>
        </p:nvSpPr>
        <p:spPr>
          <a:xfrm>
            <a:off x="7635240" y="263713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7" name="S01-line4"/>
          <p:cNvSpPr/>
          <p:nvPr/>
        </p:nvSpPr>
        <p:spPr>
          <a:xfrm>
            <a:off x="8403336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1-line5"/>
          <p:cNvSpPr/>
          <p:nvPr/>
        </p:nvSpPr>
        <p:spPr>
          <a:xfrm>
            <a:off x="8714232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1-line6"/>
          <p:cNvSpPr/>
          <p:nvPr/>
        </p:nvSpPr>
        <p:spPr>
          <a:xfrm>
            <a:off x="9025128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1-line7"/>
          <p:cNvSpPr/>
          <p:nvPr/>
        </p:nvSpPr>
        <p:spPr>
          <a:xfrm>
            <a:off x="9336024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1-line8"/>
          <p:cNvSpPr/>
          <p:nvPr/>
        </p:nvSpPr>
        <p:spPr>
          <a:xfrm>
            <a:off x="9646920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1-line9"/>
          <p:cNvSpPr/>
          <p:nvPr/>
        </p:nvSpPr>
        <p:spPr>
          <a:xfrm>
            <a:off x="9957816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1-line10"/>
          <p:cNvSpPr/>
          <p:nvPr/>
        </p:nvSpPr>
        <p:spPr>
          <a:xfrm>
            <a:off x="10268712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1-line11"/>
          <p:cNvSpPr/>
          <p:nvPr/>
        </p:nvSpPr>
        <p:spPr>
          <a:xfrm>
            <a:off x="10579608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1-line12"/>
          <p:cNvSpPr/>
          <p:nvPr/>
        </p:nvSpPr>
        <p:spPr>
          <a:xfrm>
            <a:off x="10890504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1-line13"/>
          <p:cNvSpPr/>
          <p:nvPr/>
        </p:nvSpPr>
        <p:spPr>
          <a:xfrm>
            <a:off x="11201400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1-label14"/>
          <p:cNvSpPr txBox="1"/>
          <p:nvPr/>
        </p:nvSpPr>
        <p:spPr>
          <a:xfrm>
            <a:off x="10744200" y="263713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600" dirty="0"/>
          </a:p>
        </p:txBody>
      </p:sp>
      <p:sp>
        <p:nvSpPr>
          <p:cNvPr id="18" name="S01-mark15"/>
          <p:cNvSpPr/>
          <p:nvPr/>
        </p:nvSpPr>
        <p:spPr>
          <a:xfrm>
            <a:off x="8001000" y="236281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>
            <a:off x="11109960" y="236281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0" name="S01-line17"/>
          <p:cNvSpPr/>
          <p:nvPr/>
        </p:nvSpPr>
        <p:spPr>
          <a:xfrm flipV="1">
            <a:off x="8092440" y="207020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1" name="S01-line18"/>
          <p:cNvSpPr/>
          <p:nvPr/>
        </p:nvSpPr>
        <p:spPr>
          <a:xfrm>
            <a:off x="8092440" y="2070202"/>
            <a:ext cx="3108960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2" name="S01-label19"/>
          <p:cNvSpPr txBox="1"/>
          <p:nvPr/>
        </p:nvSpPr>
        <p:spPr>
          <a:xfrm>
            <a:off x="8092440" y="1787754"/>
            <a:ext cx="310896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</a:t>
            </a:r>
            <a:endParaRPr lang="ko-KR" sz="1600" dirty="0"/>
          </a:p>
        </p:txBody>
      </p:sp>
      <p:sp>
        <p:nvSpPr>
          <p:cNvPr id="23" name="S01-figure20" descr="0부터 100까지 10 cm마다 눈금이 있는 수직선. 0에서 100까지가 1 m"/>
          <p:cNvSpPr/>
          <p:nvPr/>
        </p:nvSpPr>
        <p:spPr>
          <a:xfrm>
            <a:off x="7818120" y="2271370"/>
            <a:ext cx="3657600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01-card2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5" name="S01-cardtext2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 m = 100 cm를 알고 바꾸어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m와 cm로 된 길이를 더하고 빼요.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2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line24"/>
          <p:cNvSpPr/>
          <p:nvPr/>
        </p:nvSpPr>
        <p:spPr>
          <a:xfrm>
            <a:off x="1481328" y="2159000"/>
            <a:ext cx="393192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5" name="S02-line25"/>
          <p:cNvSpPr/>
          <p:nvPr/>
        </p:nvSpPr>
        <p:spPr>
          <a:xfrm>
            <a:off x="1755648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02-label26"/>
          <p:cNvSpPr txBox="1"/>
          <p:nvPr/>
        </p:nvSpPr>
        <p:spPr>
          <a:xfrm>
            <a:off x="1298448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7" name="S02-line27"/>
          <p:cNvSpPr/>
          <p:nvPr/>
        </p:nvSpPr>
        <p:spPr>
          <a:xfrm>
            <a:off x="2093976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2-label28"/>
          <p:cNvSpPr txBox="1"/>
          <p:nvPr/>
        </p:nvSpPr>
        <p:spPr>
          <a:xfrm>
            <a:off x="1636776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9" name="S02-line29"/>
          <p:cNvSpPr/>
          <p:nvPr/>
        </p:nvSpPr>
        <p:spPr>
          <a:xfrm>
            <a:off x="2432304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2-label30"/>
          <p:cNvSpPr txBox="1"/>
          <p:nvPr/>
        </p:nvSpPr>
        <p:spPr>
          <a:xfrm>
            <a:off x="1975104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11" name="S02-line31"/>
          <p:cNvSpPr/>
          <p:nvPr/>
        </p:nvSpPr>
        <p:spPr>
          <a:xfrm>
            <a:off x="2770632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2-label32"/>
          <p:cNvSpPr txBox="1"/>
          <p:nvPr/>
        </p:nvSpPr>
        <p:spPr>
          <a:xfrm>
            <a:off x="2313432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13" name="S02-line33"/>
          <p:cNvSpPr/>
          <p:nvPr/>
        </p:nvSpPr>
        <p:spPr>
          <a:xfrm>
            <a:off x="3108960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2-label34"/>
          <p:cNvSpPr txBox="1"/>
          <p:nvPr/>
        </p:nvSpPr>
        <p:spPr>
          <a:xfrm>
            <a:off x="2651760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15" name="S02-line35"/>
          <p:cNvSpPr/>
          <p:nvPr/>
        </p:nvSpPr>
        <p:spPr>
          <a:xfrm>
            <a:off x="3447288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2-label36"/>
          <p:cNvSpPr txBox="1"/>
          <p:nvPr/>
        </p:nvSpPr>
        <p:spPr>
          <a:xfrm>
            <a:off x="2990088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17" name="S02-line37"/>
          <p:cNvSpPr/>
          <p:nvPr/>
        </p:nvSpPr>
        <p:spPr>
          <a:xfrm>
            <a:off x="3785616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2-label38"/>
          <p:cNvSpPr txBox="1"/>
          <p:nvPr/>
        </p:nvSpPr>
        <p:spPr>
          <a:xfrm>
            <a:off x="3328416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19" name="S02-line39"/>
          <p:cNvSpPr/>
          <p:nvPr/>
        </p:nvSpPr>
        <p:spPr>
          <a:xfrm>
            <a:off x="4123944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2-label40"/>
          <p:cNvSpPr txBox="1"/>
          <p:nvPr/>
        </p:nvSpPr>
        <p:spPr>
          <a:xfrm>
            <a:off x="3666744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21" name="S02-line41"/>
          <p:cNvSpPr/>
          <p:nvPr/>
        </p:nvSpPr>
        <p:spPr>
          <a:xfrm>
            <a:off x="4462272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2-label42"/>
          <p:cNvSpPr txBox="1"/>
          <p:nvPr/>
        </p:nvSpPr>
        <p:spPr>
          <a:xfrm>
            <a:off x="4005072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23" name="S02-line43"/>
          <p:cNvSpPr/>
          <p:nvPr/>
        </p:nvSpPr>
        <p:spPr>
          <a:xfrm>
            <a:off x="4800600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2-label44"/>
          <p:cNvSpPr txBox="1"/>
          <p:nvPr/>
        </p:nvSpPr>
        <p:spPr>
          <a:xfrm>
            <a:off x="4343400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25" name="S02-line45"/>
          <p:cNvSpPr/>
          <p:nvPr/>
        </p:nvSpPr>
        <p:spPr>
          <a:xfrm>
            <a:off x="5138928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2-label46"/>
          <p:cNvSpPr txBox="1"/>
          <p:nvPr/>
        </p:nvSpPr>
        <p:spPr>
          <a:xfrm>
            <a:off x="4681728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27" name="S02-mark47"/>
          <p:cNvSpPr/>
          <p:nvPr/>
        </p:nvSpPr>
        <p:spPr>
          <a:xfrm>
            <a:off x="2340864" y="206756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8" name="S02-mark48"/>
          <p:cNvSpPr/>
          <p:nvPr/>
        </p:nvSpPr>
        <p:spPr>
          <a:xfrm>
            <a:off x="4370832" y="206756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9" name="S02-line49"/>
          <p:cNvSpPr/>
          <p:nvPr/>
        </p:nvSpPr>
        <p:spPr>
          <a:xfrm flipV="1">
            <a:off x="2432304" y="177495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0" name="S02-line50"/>
          <p:cNvSpPr/>
          <p:nvPr/>
        </p:nvSpPr>
        <p:spPr>
          <a:xfrm>
            <a:off x="2432304" y="1774952"/>
            <a:ext cx="2029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1" name="S02-label51"/>
          <p:cNvSpPr txBox="1"/>
          <p:nvPr/>
        </p:nvSpPr>
        <p:spPr>
          <a:xfrm>
            <a:off x="2432304" y="1492504"/>
            <a:ext cx="2029968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지우개</a:t>
            </a:r>
            <a:endParaRPr lang="ko-KR" sz="1600" dirty="0"/>
          </a:p>
        </p:txBody>
      </p:sp>
      <p:sp>
        <p:nvSpPr>
          <p:cNvPr id="32" name="S02-figure52" descr="0부터 10까지 1 cm 눈금이 있는 자 그림. 지우개의 한끝은 눈금 2, 다른 끝은 눈금 8에 있음"/>
          <p:cNvSpPr/>
          <p:nvPr/>
        </p:nvSpPr>
        <p:spPr>
          <a:xfrm>
            <a:off x="1481328" y="1976120"/>
            <a:ext cx="3931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02-chip53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4" name="S02-text54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cm가 10번이면?</a:t>
            </a:r>
            <a:endParaRPr lang="ko-KR" sz="3200" dirty="0"/>
          </a:p>
        </p:txBody>
      </p:sp>
      <p:sp>
        <p:nvSpPr>
          <p:cNvPr id="35" name="S02-chip55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36" name="S02-eqtext56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 + 32 = □</a:t>
            </a:r>
            <a:endParaRPr lang="ko-KR" sz="3600" dirty="0"/>
          </a:p>
        </p:txBody>
      </p:sp>
      <p:sp>
        <p:nvSpPr>
          <p:cNvPr id="37" name="S02-chip57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38" name="S02-eqtext58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68 − 25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m를 알아봐요</a:t>
            </a:r>
            <a:endParaRPr lang="ko-KR" sz="4400" dirty="0"/>
          </a:p>
        </p:txBody>
      </p:sp>
      <p:sp>
        <p:nvSpPr>
          <p:cNvPr id="3" name="S03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cm를 1 m라고 해요.</a:t>
            </a:r>
            <a:endParaRPr lang="ko-KR" sz="3200" dirty="0"/>
          </a:p>
        </p:txBody>
      </p:sp>
      <p:sp>
        <p:nvSpPr>
          <p:cNvPr id="4" name="S03-card60"/>
          <p:cNvSpPr/>
          <p:nvPr/>
        </p:nvSpPr>
        <p:spPr>
          <a:xfrm>
            <a:off x="548640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61"/>
          <p:cNvSpPr txBox="1"/>
          <p:nvPr/>
        </p:nvSpPr>
        <p:spPr>
          <a:xfrm>
            <a:off x="822960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m는 ‘1 미터’라고 읽어요.</a:t>
            </a:r>
            <a:endParaRPr lang="ko-KR" sz="3200" dirty="0"/>
          </a:p>
        </p:txBody>
      </p:sp>
      <p:sp>
        <p:nvSpPr>
          <p:cNvPr id="6" name="S03-card62"/>
          <p:cNvSpPr/>
          <p:nvPr/>
        </p:nvSpPr>
        <p:spPr>
          <a:xfrm>
            <a:off x="6208776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63"/>
          <p:cNvSpPr txBox="1"/>
          <p:nvPr/>
        </p:nvSpPr>
        <p:spPr>
          <a:xfrm>
            <a:off x="6483096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cm가 10번이면 1 m예요.</a:t>
            </a:r>
            <a:endParaRPr lang="ko-KR" sz="3200" dirty="0"/>
          </a:p>
        </p:txBody>
      </p:sp>
      <p:sp>
        <p:nvSpPr>
          <p:cNvPr id="8" name="S03-line64"/>
          <p:cNvSpPr/>
          <p:nvPr/>
        </p:nvSpPr>
        <p:spPr>
          <a:xfrm>
            <a:off x="685800" y="3658921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03-line65"/>
          <p:cNvSpPr/>
          <p:nvPr/>
        </p:nvSpPr>
        <p:spPr>
          <a:xfrm>
            <a:off x="960120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3-label66"/>
          <p:cNvSpPr txBox="1"/>
          <p:nvPr/>
        </p:nvSpPr>
        <p:spPr>
          <a:xfrm>
            <a:off x="502920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11" name="S03-line67"/>
          <p:cNvSpPr/>
          <p:nvPr/>
        </p:nvSpPr>
        <p:spPr>
          <a:xfrm>
            <a:off x="1986991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3-label68"/>
          <p:cNvSpPr txBox="1"/>
          <p:nvPr/>
        </p:nvSpPr>
        <p:spPr>
          <a:xfrm>
            <a:off x="1529791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3" name="S03-line69"/>
          <p:cNvSpPr/>
          <p:nvPr/>
        </p:nvSpPr>
        <p:spPr>
          <a:xfrm>
            <a:off x="3013862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3-label70"/>
          <p:cNvSpPr txBox="1"/>
          <p:nvPr/>
        </p:nvSpPr>
        <p:spPr>
          <a:xfrm>
            <a:off x="2556662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600" dirty="0"/>
          </a:p>
        </p:txBody>
      </p:sp>
      <p:sp>
        <p:nvSpPr>
          <p:cNvPr id="15" name="S03-line71"/>
          <p:cNvSpPr/>
          <p:nvPr/>
        </p:nvSpPr>
        <p:spPr>
          <a:xfrm>
            <a:off x="4040734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3-label72"/>
          <p:cNvSpPr txBox="1"/>
          <p:nvPr/>
        </p:nvSpPr>
        <p:spPr>
          <a:xfrm>
            <a:off x="3583534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600" dirty="0"/>
          </a:p>
        </p:txBody>
      </p:sp>
      <p:sp>
        <p:nvSpPr>
          <p:cNvPr id="17" name="S03-line73"/>
          <p:cNvSpPr/>
          <p:nvPr/>
        </p:nvSpPr>
        <p:spPr>
          <a:xfrm>
            <a:off x="5067605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3-label74"/>
          <p:cNvSpPr txBox="1"/>
          <p:nvPr/>
        </p:nvSpPr>
        <p:spPr>
          <a:xfrm>
            <a:off x="4610405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600" dirty="0"/>
          </a:p>
        </p:txBody>
      </p:sp>
      <p:sp>
        <p:nvSpPr>
          <p:cNvPr id="19" name="S03-line75"/>
          <p:cNvSpPr/>
          <p:nvPr/>
        </p:nvSpPr>
        <p:spPr>
          <a:xfrm>
            <a:off x="6094476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3-label76"/>
          <p:cNvSpPr txBox="1"/>
          <p:nvPr/>
        </p:nvSpPr>
        <p:spPr>
          <a:xfrm>
            <a:off x="5637276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2600" dirty="0"/>
          </a:p>
        </p:txBody>
      </p:sp>
      <p:sp>
        <p:nvSpPr>
          <p:cNvPr id="21" name="S03-line77"/>
          <p:cNvSpPr/>
          <p:nvPr/>
        </p:nvSpPr>
        <p:spPr>
          <a:xfrm>
            <a:off x="7121347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3-label78"/>
          <p:cNvSpPr txBox="1"/>
          <p:nvPr/>
        </p:nvSpPr>
        <p:spPr>
          <a:xfrm>
            <a:off x="6664147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600" dirty="0"/>
          </a:p>
        </p:txBody>
      </p:sp>
      <p:sp>
        <p:nvSpPr>
          <p:cNvPr id="23" name="S03-line79"/>
          <p:cNvSpPr/>
          <p:nvPr/>
        </p:nvSpPr>
        <p:spPr>
          <a:xfrm>
            <a:off x="8148218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3-label80"/>
          <p:cNvSpPr txBox="1"/>
          <p:nvPr/>
        </p:nvSpPr>
        <p:spPr>
          <a:xfrm>
            <a:off x="7691018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2600" dirty="0"/>
          </a:p>
        </p:txBody>
      </p:sp>
      <p:sp>
        <p:nvSpPr>
          <p:cNvPr id="25" name="S03-line81"/>
          <p:cNvSpPr/>
          <p:nvPr/>
        </p:nvSpPr>
        <p:spPr>
          <a:xfrm>
            <a:off x="9175090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3-label82"/>
          <p:cNvSpPr txBox="1"/>
          <p:nvPr/>
        </p:nvSpPr>
        <p:spPr>
          <a:xfrm>
            <a:off x="8717890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2600" dirty="0"/>
          </a:p>
        </p:txBody>
      </p:sp>
      <p:sp>
        <p:nvSpPr>
          <p:cNvPr id="27" name="S03-line83"/>
          <p:cNvSpPr/>
          <p:nvPr/>
        </p:nvSpPr>
        <p:spPr>
          <a:xfrm>
            <a:off x="10201961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3-label84"/>
          <p:cNvSpPr txBox="1"/>
          <p:nvPr/>
        </p:nvSpPr>
        <p:spPr>
          <a:xfrm>
            <a:off x="9744761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2600" dirty="0"/>
          </a:p>
        </p:txBody>
      </p:sp>
      <p:sp>
        <p:nvSpPr>
          <p:cNvPr id="29" name="S03-line85"/>
          <p:cNvSpPr/>
          <p:nvPr/>
        </p:nvSpPr>
        <p:spPr>
          <a:xfrm>
            <a:off x="11228832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3-label86"/>
          <p:cNvSpPr txBox="1"/>
          <p:nvPr/>
        </p:nvSpPr>
        <p:spPr>
          <a:xfrm>
            <a:off x="10771632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2600" dirty="0"/>
          </a:p>
        </p:txBody>
      </p:sp>
      <p:sp>
        <p:nvSpPr>
          <p:cNvPr id="31" name="S03-mark87"/>
          <p:cNvSpPr/>
          <p:nvPr/>
        </p:nvSpPr>
        <p:spPr>
          <a:xfrm>
            <a:off x="868680" y="3567481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2" name="S03-mark88"/>
          <p:cNvSpPr/>
          <p:nvPr/>
        </p:nvSpPr>
        <p:spPr>
          <a:xfrm>
            <a:off x="11137392" y="3567481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3" name="S03-line89"/>
          <p:cNvSpPr/>
          <p:nvPr/>
        </p:nvSpPr>
        <p:spPr>
          <a:xfrm flipV="1">
            <a:off x="960120" y="3274873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4" name="S03-line90"/>
          <p:cNvSpPr/>
          <p:nvPr/>
        </p:nvSpPr>
        <p:spPr>
          <a:xfrm>
            <a:off x="960120" y="3274873"/>
            <a:ext cx="1026871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5" name="S03-label91"/>
          <p:cNvSpPr txBox="1"/>
          <p:nvPr/>
        </p:nvSpPr>
        <p:spPr>
          <a:xfrm>
            <a:off x="960120" y="2827325"/>
            <a:ext cx="1026871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 = 100 cm</a:t>
            </a:r>
            <a:endParaRPr lang="ko-KR" sz="2600" dirty="0"/>
          </a:p>
        </p:txBody>
      </p:sp>
      <p:sp>
        <p:nvSpPr>
          <p:cNvPr id="36" name="S03-figure92" descr="0부터 100까지 10 cm마다 눈금이 있는 수직선. 0에서 100까지가 1 m = 100 cm"/>
          <p:cNvSpPr/>
          <p:nvPr/>
        </p:nvSpPr>
        <p:spPr>
          <a:xfrm>
            <a:off x="685800" y="3476041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m 몇 cm</a:t>
            </a:r>
            <a:endParaRPr lang="ko-KR" sz="4400" dirty="0"/>
          </a:p>
        </p:txBody>
      </p:sp>
      <p:sp>
        <p:nvSpPr>
          <p:cNvPr id="3" name="S04-text9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끈의 길이는 135 cm예요.</a:t>
            </a:r>
            <a:endParaRPr lang="ko-KR" sz="3200" dirty="0"/>
          </a:p>
        </p:txBody>
      </p:sp>
      <p:sp>
        <p:nvSpPr>
          <p:cNvPr id="4" name="S04-card94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95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135 cm = 1 m 35 cm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‘1 미터 35 센티미터’라고 읽어요.</a:t>
            </a:r>
            <a:endParaRPr lang="ko-KR" sz="3200" dirty="0"/>
          </a:p>
        </p:txBody>
      </p:sp>
      <p:sp>
        <p:nvSpPr>
          <p:cNvPr id="6" name="S04-line96"/>
          <p:cNvSpPr/>
          <p:nvPr/>
        </p:nvSpPr>
        <p:spPr>
          <a:xfrm>
            <a:off x="685800" y="3669314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4-line97"/>
          <p:cNvSpPr/>
          <p:nvPr/>
        </p:nvSpPr>
        <p:spPr>
          <a:xfrm>
            <a:off x="96012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4-label98"/>
          <p:cNvSpPr txBox="1"/>
          <p:nvPr/>
        </p:nvSpPr>
        <p:spPr>
          <a:xfrm>
            <a:off x="502920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9" name="S04-line99"/>
          <p:cNvSpPr/>
          <p:nvPr/>
        </p:nvSpPr>
        <p:spPr>
          <a:xfrm>
            <a:off x="147355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4-line100"/>
          <p:cNvSpPr/>
          <p:nvPr/>
        </p:nvSpPr>
        <p:spPr>
          <a:xfrm>
            <a:off x="1986991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4-line101"/>
          <p:cNvSpPr/>
          <p:nvPr/>
        </p:nvSpPr>
        <p:spPr>
          <a:xfrm>
            <a:off x="2500427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4-line102"/>
          <p:cNvSpPr/>
          <p:nvPr/>
        </p:nvSpPr>
        <p:spPr>
          <a:xfrm>
            <a:off x="301386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4-line103"/>
          <p:cNvSpPr/>
          <p:nvPr/>
        </p:nvSpPr>
        <p:spPr>
          <a:xfrm>
            <a:off x="352729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4-line104"/>
          <p:cNvSpPr/>
          <p:nvPr/>
        </p:nvSpPr>
        <p:spPr>
          <a:xfrm>
            <a:off x="404073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4-line105"/>
          <p:cNvSpPr/>
          <p:nvPr/>
        </p:nvSpPr>
        <p:spPr>
          <a:xfrm>
            <a:off x="4554169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4-line106"/>
          <p:cNvSpPr/>
          <p:nvPr/>
        </p:nvSpPr>
        <p:spPr>
          <a:xfrm>
            <a:off x="5067605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4-line107"/>
          <p:cNvSpPr/>
          <p:nvPr/>
        </p:nvSpPr>
        <p:spPr>
          <a:xfrm>
            <a:off x="558104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4-line108"/>
          <p:cNvSpPr/>
          <p:nvPr/>
        </p:nvSpPr>
        <p:spPr>
          <a:xfrm>
            <a:off x="609447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4-label109"/>
          <p:cNvSpPr txBox="1"/>
          <p:nvPr/>
        </p:nvSpPr>
        <p:spPr>
          <a:xfrm>
            <a:off x="5637276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2400" dirty="0"/>
          </a:p>
        </p:txBody>
      </p:sp>
      <p:sp>
        <p:nvSpPr>
          <p:cNvPr id="20" name="S04-line110"/>
          <p:cNvSpPr/>
          <p:nvPr/>
        </p:nvSpPr>
        <p:spPr>
          <a:xfrm>
            <a:off x="660791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4-line111"/>
          <p:cNvSpPr/>
          <p:nvPr/>
        </p:nvSpPr>
        <p:spPr>
          <a:xfrm>
            <a:off x="7121347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4-line112"/>
          <p:cNvSpPr/>
          <p:nvPr/>
        </p:nvSpPr>
        <p:spPr>
          <a:xfrm>
            <a:off x="7634783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4-line113"/>
          <p:cNvSpPr/>
          <p:nvPr/>
        </p:nvSpPr>
        <p:spPr>
          <a:xfrm>
            <a:off x="814821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4-line114"/>
          <p:cNvSpPr/>
          <p:nvPr/>
        </p:nvSpPr>
        <p:spPr>
          <a:xfrm>
            <a:off x="866165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4-line115"/>
          <p:cNvSpPr/>
          <p:nvPr/>
        </p:nvSpPr>
        <p:spPr>
          <a:xfrm>
            <a:off x="917509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4-line116"/>
          <p:cNvSpPr/>
          <p:nvPr/>
        </p:nvSpPr>
        <p:spPr>
          <a:xfrm>
            <a:off x="9688525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4-line117"/>
          <p:cNvSpPr/>
          <p:nvPr/>
        </p:nvSpPr>
        <p:spPr>
          <a:xfrm>
            <a:off x="10201961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4-line118"/>
          <p:cNvSpPr/>
          <p:nvPr/>
        </p:nvSpPr>
        <p:spPr>
          <a:xfrm>
            <a:off x="1071539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4-line119"/>
          <p:cNvSpPr/>
          <p:nvPr/>
        </p:nvSpPr>
        <p:spPr>
          <a:xfrm>
            <a:off x="1122883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4-label120"/>
          <p:cNvSpPr txBox="1"/>
          <p:nvPr/>
        </p:nvSpPr>
        <p:spPr>
          <a:xfrm>
            <a:off x="10771632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</a:t>
            </a:r>
            <a:endParaRPr lang="ko-KR" sz="2400" dirty="0"/>
          </a:p>
        </p:txBody>
      </p:sp>
      <p:sp>
        <p:nvSpPr>
          <p:cNvPr id="31" name="S04-mark121"/>
          <p:cNvSpPr/>
          <p:nvPr/>
        </p:nvSpPr>
        <p:spPr>
          <a:xfrm>
            <a:off x="868680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2" name="S04-mark122"/>
          <p:cNvSpPr/>
          <p:nvPr/>
        </p:nvSpPr>
        <p:spPr>
          <a:xfrm>
            <a:off x="7800061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3" name="S04-line123"/>
          <p:cNvSpPr/>
          <p:nvPr/>
        </p:nvSpPr>
        <p:spPr>
          <a:xfrm flipV="1">
            <a:off x="96012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4" name="S04-line124"/>
          <p:cNvSpPr/>
          <p:nvPr/>
        </p:nvSpPr>
        <p:spPr>
          <a:xfrm>
            <a:off x="960120" y="3285266"/>
            <a:ext cx="5134356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5" name="S04-label125"/>
          <p:cNvSpPr txBox="1"/>
          <p:nvPr/>
        </p:nvSpPr>
        <p:spPr>
          <a:xfrm>
            <a:off x="960120" y="2870738"/>
            <a:ext cx="513435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</a:t>
            </a:r>
            <a:endParaRPr lang="ko-KR" sz="2400" dirty="0"/>
          </a:p>
        </p:txBody>
      </p:sp>
      <p:sp>
        <p:nvSpPr>
          <p:cNvPr id="36" name="S04-line126"/>
          <p:cNvSpPr/>
          <p:nvPr/>
        </p:nvSpPr>
        <p:spPr>
          <a:xfrm flipV="1">
            <a:off x="6094476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7" name="S04-line127"/>
          <p:cNvSpPr/>
          <p:nvPr/>
        </p:nvSpPr>
        <p:spPr>
          <a:xfrm>
            <a:off x="6094476" y="3285266"/>
            <a:ext cx="1797025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8" name="S04-label128"/>
          <p:cNvSpPr txBox="1"/>
          <p:nvPr/>
        </p:nvSpPr>
        <p:spPr>
          <a:xfrm>
            <a:off x="6094476" y="2870738"/>
            <a:ext cx="1797025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cm</a:t>
            </a:r>
            <a:endParaRPr lang="ko-KR" sz="2400" dirty="0"/>
          </a:p>
        </p:txBody>
      </p:sp>
      <p:sp>
        <p:nvSpPr>
          <p:cNvPr id="39" name="S04-figure129" descr="0부터 200까지 10 cm 눈금 수직선. 0에서 100까지 1 m, 100에서 135까지 35 cm"/>
          <p:cNvSpPr/>
          <p:nvPr/>
        </p:nvSpPr>
        <p:spPr>
          <a:xfrm>
            <a:off x="685800" y="3486434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cm로 바꾸어요</a:t>
            </a:r>
            <a:endParaRPr lang="ko-KR" sz="4400" dirty="0"/>
          </a:p>
        </p:txBody>
      </p:sp>
      <p:sp>
        <p:nvSpPr>
          <p:cNvPr id="3" name="S05-eqtext130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m 40 cm = □ cm</a:t>
            </a:r>
            <a:endParaRPr lang="ko-KR" sz="3600" dirty="0"/>
          </a:p>
        </p:txBody>
      </p:sp>
      <p:sp>
        <p:nvSpPr>
          <p:cNvPr id="4" name="S05-line131"/>
          <p:cNvSpPr/>
          <p:nvPr/>
        </p:nvSpPr>
        <p:spPr>
          <a:xfrm>
            <a:off x="6414516" y="4845406"/>
            <a:ext cx="5088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5" name="S05-line132"/>
          <p:cNvSpPr/>
          <p:nvPr/>
        </p:nvSpPr>
        <p:spPr>
          <a:xfrm>
            <a:off x="6688836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05-label133"/>
          <p:cNvSpPr txBox="1"/>
          <p:nvPr/>
        </p:nvSpPr>
        <p:spPr>
          <a:xfrm>
            <a:off x="6231636" y="5028286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7" name="S05-line134"/>
          <p:cNvSpPr/>
          <p:nvPr/>
        </p:nvSpPr>
        <p:spPr>
          <a:xfrm>
            <a:off x="6840169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5-line135"/>
          <p:cNvSpPr/>
          <p:nvPr/>
        </p:nvSpPr>
        <p:spPr>
          <a:xfrm>
            <a:off x="6991502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5-line136"/>
          <p:cNvSpPr/>
          <p:nvPr/>
        </p:nvSpPr>
        <p:spPr>
          <a:xfrm>
            <a:off x="7142836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5-line137"/>
          <p:cNvSpPr/>
          <p:nvPr/>
        </p:nvSpPr>
        <p:spPr>
          <a:xfrm>
            <a:off x="7294169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5-line138"/>
          <p:cNvSpPr/>
          <p:nvPr/>
        </p:nvSpPr>
        <p:spPr>
          <a:xfrm>
            <a:off x="7445502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5-line139"/>
          <p:cNvSpPr/>
          <p:nvPr/>
        </p:nvSpPr>
        <p:spPr>
          <a:xfrm>
            <a:off x="7596835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5-line140"/>
          <p:cNvSpPr/>
          <p:nvPr/>
        </p:nvSpPr>
        <p:spPr>
          <a:xfrm>
            <a:off x="7748168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5-line141"/>
          <p:cNvSpPr/>
          <p:nvPr/>
        </p:nvSpPr>
        <p:spPr>
          <a:xfrm>
            <a:off x="7899502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5-line142"/>
          <p:cNvSpPr/>
          <p:nvPr/>
        </p:nvSpPr>
        <p:spPr>
          <a:xfrm>
            <a:off x="8050835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5-line143"/>
          <p:cNvSpPr/>
          <p:nvPr/>
        </p:nvSpPr>
        <p:spPr>
          <a:xfrm>
            <a:off x="8202168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5-label144"/>
          <p:cNvSpPr txBox="1"/>
          <p:nvPr/>
        </p:nvSpPr>
        <p:spPr>
          <a:xfrm>
            <a:off x="7744968" y="5028286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600" dirty="0"/>
          </a:p>
        </p:txBody>
      </p:sp>
      <p:sp>
        <p:nvSpPr>
          <p:cNvPr id="18" name="S05-line145"/>
          <p:cNvSpPr/>
          <p:nvPr/>
        </p:nvSpPr>
        <p:spPr>
          <a:xfrm>
            <a:off x="8353501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5-line146"/>
          <p:cNvSpPr/>
          <p:nvPr/>
        </p:nvSpPr>
        <p:spPr>
          <a:xfrm>
            <a:off x="8504834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5-line147"/>
          <p:cNvSpPr/>
          <p:nvPr/>
        </p:nvSpPr>
        <p:spPr>
          <a:xfrm>
            <a:off x="8656168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5-line148"/>
          <p:cNvSpPr/>
          <p:nvPr/>
        </p:nvSpPr>
        <p:spPr>
          <a:xfrm>
            <a:off x="8807501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5-line149"/>
          <p:cNvSpPr/>
          <p:nvPr/>
        </p:nvSpPr>
        <p:spPr>
          <a:xfrm>
            <a:off x="8958834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5-line150"/>
          <p:cNvSpPr/>
          <p:nvPr/>
        </p:nvSpPr>
        <p:spPr>
          <a:xfrm>
            <a:off x="9110167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5-line151"/>
          <p:cNvSpPr/>
          <p:nvPr/>
        </p:nvSpPr>
        <p:spPr>
          <a:xfrm>
            <a:off x="9261500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5-line152"/>
          <p:cNvSpPr/>
          <p:nvPr/>
        </p:nvSpPr>
        <p:spPr>
          <a:xfrm>
            <a:off x="9412834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5-line153"/>
          <p:cNvSpPr/>
          <p:nvPr/>
        </p:nvSpPr>
        <p:spPr>
          <a:xfrm>
            <a:off x="9564167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5-line154"/>
          <p:cNvSpPr/>
          <p:nvPr/>
        </p:nvSpPr>
        <p:spPr>
          <a:xfrm>
            <a:off x="9715500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5-label155"/>
          <p:cNvSpPr txBox="1"/>
          <p:nvPr/>
        </p:nvSpPr>
        <p:spPr>
          <a:xfrm>
            <a:off x="9258300" y="5028286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</a:t>
            </a:r>
            <a:endParaRPr lang="ko-KR" sz="1600" dirty="0"/>
          </a:p>
        </p:txBody>
      </p:sp>
      <p:sp>
        <p:nvSpPr>
          <p:cNvPr id="29" name="S05-line156"/>
          <p:cNvSpPr/>
          <p:nvPr/>
        </p:nvSpPr>
        <p:spPr>
          <a:xfrm>
            <a:off x="9866833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5-line157"/>
          <p:cNvSpPr/>
          <p:nvPr/>
        </p:nvSpPr>
        <p:spPr>
          <a:xfrm>
            <a:off x="10018166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5-line158"/>
          <p:cNvSpPr/>
          <p:nvPr/>
        </p:nvSpPr>
        <p:spPr>
          <a:xfrm>
            <a:off x="10169500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5-line159"/>
          <p:cNvSpPr/>
          <p:nvPr/>
        </p:nvSpPr>
        <p:spPr>
          <a:xfrm>
            <a:off x="10320833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5-line160"/>
          <p:cNvSpPr/>
          <p:nvPr/>
        </p:nvSpPr>
        <p:spPr>
          <a:xfrm>
            <a:off x="10472166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5-line161"/>
          <p:cNvSpPr/>
          <p:nvPr/>
        </p:nvSpPr>
        <p:spPr>
          <a:xfrm>
            <a:off x="10623499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05-line162"/>
          <p:cNvSpPr/>
          <p:nvPr/>
        </p:nvSpPr>
        <p:spPr>
          <a:xfrm>
            <a:off x="10774832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5-line163"/>
          <p:cNvSpPr/>
          <p:nvPr/>
        </p:nvSpPr>
        <p:spPr>
          <a:xfrm>
            <a:off x="10926166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5-line164"/>
          <p:cNvSpPr/>
          <p:nvPr/>
        </p:nvSpPr>
        <p:spPr>
          <a:xfrm>
            <a:off x="11077499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05-line165"/>
          <p:cNvSpPr/>
          <p:nvPr/>
        </p:nvSpPr>
        <p:spPr>
          <a:xfrm>
            <a:off x="11228832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9" name="S05-label166"/>
          <p:cNvSpPr txBox="1"/>
          <p:nvPr/>
        </p:nvSpPr>
        <p:spPr>
          <a:xfrm>
            <a:off x="10771632" y="5028286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</a:t>
            </a:r>
            <a:endParaRPr lang="ko-KR" sz="1600" dirty="0"/>
          </a:p>
        </p:txBody>
      </p:sp>
      <p:sp>
        <p:nvSpPr>
          <p:cNvPr id="40" name="S05-mark167"/>
          <p:cNvSpPr/>
          <p:nvPr/>
        </p:nvSpPr>
        <p:spPr>
          <a:xfrm>
            <a:off x="6597396" y="4753966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1" name="S05-mark168"/>
          <p:cNvSpPr/>
          <p:nvPr/>
        </p:nvSpPr>
        <p:spPr>
          <a:xfrm>
            <a:off x="10229393" y="4753966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2" name="S05-line169"/>
          <p:cNvSpPr/>
          <p:nvPr/>
        </p:nvSpPr>
        <p:spPr>
          <a:xfrm flipV="1">
            <a:off x="6688836" y="446135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3" name="S05-line170"/>
          <p:cNvSpPr/>
          <p:nvPr/>
        </p:nvSpPr>
        <p:spPr>
          <a:xfrm>
            <a:off x="6688836" y="4461358"/>
            <a:ext cx="151333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4" name="S05-label171"/>
          <p:cNvSpPr txBox="1"/>
          <p:nvPr/>
        </p:nvSpPr>
        <p:spPr>
          <a:xfrm>
            <a:off x="6688836" y="4178910"/>
            <a:ext cx="1513332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</a:t>
            </a:r>
            <a:endParaRPr lang="ko-KR" sz="1600" dirty="0"/>
          </a:p>
        </p:txBody>
      </p:sp>
      <p:sp>
        <p:nvSpPr>
          <p:cNvPr id="45" name="S05-line172"/>
          <p:cNvSpPr/>
          <p:nvPr/>
        </p:nvSpPr>
        <p:spPr>
          <a:xfrm flipV="1">
            <a:off x="8202168" y="446135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6" name="S05-line173"/>
          <p:cNvSpPr/>
          <p:nvPr/>
        </p:nvSpPr>
        <p:spPr>
          <a:xfrm>
            <a:off x="8202168" y="4461358"/>
            <a:ext cx="151333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7" name="S05-label174"/>
          <p:cNvSpPr txBox="1"/>
          <p:nvPr/>
        </p:nvSpPr>
        <p:spPr>
          <a:xfrm>
            <a:off x="8202168" y="4178910"/>
            <a:ext cx="1513332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</a:t>
            </a:r>
            <a:endParaRPr lang="ko-KR" sz="1600" dirty="0"/>
          </a:p>
        </p:txBody>
      </p:sp>
      <p:sp>
        <p:nvSpPr>
          <p:cNvPr id="48" name="S05-line175"/>
          <p:cNvSpPr/>
          <p:nvPr/>
        </p:nvSpPr>
        <p:spPr>
          <a:xfrm flipV="1">
            <a:off x="9715500" y="446135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9" name="S05-line176"/>
          <p:cNvSpPr/>
          <p:nvPr/>
        </p:nvSpPr>
        <p:spPr>
          <a:xfrm>
            <a:off x="9715500" y="4461358"/>
            <a:ext cx="605333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0" name="S05-label177"/>
          <p:cNvSpPr txBox="1"/>
          <p:nvPr/>
        </p:nvSpPr>
        <p:spPr>
          <a:xfrm>
            <a:off x="9715500" y="4178910"/>
            <a:ext cx="605333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600" dirty="0"/>
          </a:p>
        </p:txBody>
      </p:sp>
      <p:sp>
        <p:nvSpPr>
          <p:cNvPr id="51" name="S05-figure178" descr="0부터 300까지 10 cm 눈금 수직선. 1 m, 1 m, 40 cm를 이어서 240에 도착"/>
          <p:cNvSpPr/>
          <p:nvPr/>
        </p:nvSpPr>
        <p:spPr>
          <a:xfrm>
            <a:off x="6414516" y="4662526"/>
            <a:ext cx="508863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05-stepno179"/>
          <p:cNvSpPr txBox="1"/>
          <p:nvPr/>
        </p:nvSpPr>
        <p:spPr>
          <a:xfrm>
            <a:off x="548640" y="3202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53" name="S05-text180"/>
          <p:cNvSpPr txBox="1"/>
          <p:nvPr/>
        </p:nvSpPr>
        <p:spPr>
          <a:xfrm>
            <a:off x="1325880" y="3202940"/>
            <a:ext cx="4585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m는 200 cm예요.</a:t>
            </a:r>
            <a:endParaRPr lang="ko-KR" sz="3200" dirty="0"/>
          </a:p>
        </p:txBody>
      </p:sp>
      <p:sp>
        <p:nvSpPr>
          <p:cNvPr id="54" name="S05-stepno181"/>
          <p:cNvSpPr txBox="1"/>
          <p:nvPr/>
        </p:nvSpPr>
        <p:spPr>
          <a:xfrm>
            <a:off x="548640" y="3961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55" name="S05-text182"/>
          <p:cNvSpPr txBox="1"/>
          <p:nvPr/>
        </p:nvSpPr>
        <p:spPr>
          <a:xfrm>
            <a:off x="1325880" y="3916172"/>
            <a:ext cx="4585716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 cm와 40 cm를 더해요.</a:t>
            </a:r>
            <a:endParaRPr lang="ko-KR" sz="3200" dirty="0"/>
          </a:p>
        </p:txBody>
      </p:sp>
      <p:sp>
        <p:nvSpPr>
          <p:cNvPr id="56" name="S05-stepno183"/>
          <p:cNvSpPr txBox="1"/>
          <p:nvPr/>
        </p:nvSpPr>
        <p:spPr>
          <a:xfrm>
            <a:off x="548640" y="50723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57" name="S05-text184"/>
          <p:cNvSpPr txBox="1"/>
          <p:nvPr/>
        </p:nvSpPr>
        <p:spPr>
          <a:xfrm>
            <a:off x="1325880" y="5072380"/>
            <a:ext cx="4585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m 40 cm = 240 cm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바꾸어 써요</a:t>
            </a:r>
            <a:endParaRPr lang="ko-KR" sz="4400" dirty="0"/>
          </a:p>
        </p:txBody>
      </p:sp>
      <p:sp>
        <p:nvSpPr>
          <p:cNvPr id="3" name="S06-card1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6-cardtext1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 = 100 cm예요.</a:t>
            </a:r>
            <a:endParaRPr lang="ko-KR" sz="3200" dirty="0"/>
          </a:p>
        </p:txBody>
      </p:sp>
      <p:sp>
        <p:nvSpPr>
          <p:cNvPr id="5" name="S06-chip18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6-eqtext188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 50 cm = □ cm</a:t>
            </a:r>
            <a:endParaRPr lang="ko-KR" sz="3600" dirty="0"/>
          </a:p>
        </p:txBody>
      </p:sp>
      <p:sp>
        <p:nvSpPr>
          <p:cNvPr id="7" name="S06-chip189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6-eqtext190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m 8 cm = □ cm</a:t>
            </a:r>
            <a:endParaRPr lang="ko-KR" sz="3600" dirty="0"/>
          </a:p>
        </p:txBody>
      </p:sp>
      <p:sp>
        <p:nvSpPr>
          <p:cNvPr id="9" name="S06-chip191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6-eqtext192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 cm = □ m □ cm</a:t>
            </a:r>
            <a:endParaRPr lang="ko-KR" sz="3600" dirty="0"/>
          </a:p>
        </p:txBody>
      </p:sp>
      <p:sp>
        <p:nvSpPr>
          <p:cNvPr id="11" name="S06-chip193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6-eqtext194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247 cm = □ m □ cm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7-card19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9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m 5 cm는 몇 cm일까요?</a:t>
            </a:r>
            <a:endParaRPr lang="ko-KR" sz="3200" dirty="0"/>
          </a:p>
        </p:txBody>
      </p:sp>
      <p:sp>
        <p:nvSpPr>
          <p:cNvPr id="5" name="S07-card1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7-chip19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35 cm</a:t>
            </a:r>
            <a:endParaRPr lang="ko-KR" sz="2600" dirty="0"/>
          </a:p>
        </p:txBody>
      </p:sp>
      <p:sp>
        <p:nvSpPr>
          <p:cNvPr id="8" name="S07-text20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5를 붙여 썼어요.</a:t>
            </a:r>
            <a:endParaRPr lang="ko-KR" sz="3200" dirty="0"/>
          </a:p>
        </p:txBody>
      </p:sp>
      <p:sp>
        <p:nvSpPr>
          <p:cNvPr id="9" name="S07-chip20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305 cm</a:t>
            </a:r>
            <a:endParaRPr lang="ko-KR" sz="2600" dirty="0"/>
          </a:p>
        </p:txBody>
      </p:sp>
      <p:sp>
        <p:nvSpPr>
          <p:cNvPr id="10" name="S07-text20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 cm와 5 cm를 더했어요.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길이를 더해요</a:t>
            </a:r>
            <a:endParaRPr lang="ko-KR" sz="4400" dirty="0"/>
          </a:p>
        </p:txBody>
      </p:sp>
      <p:sp>
        <p:nvSpPr>
          <p:cNvPr id="3" name="S08-eqtext203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 20 cm + 2 m 45 cm</a:t>
            </a:r>
            <a:endParaRPr lang="ko-KR" sz="3600" dirty="0"/>
          </a:p>
        </p:txBody>
      </p:sp>
      <p:graphicFrame>
        <p:nvGraphicFramePr>
          <p:cNvPr id="9" name="S08-table2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89408" y="3355340"/>
          <a:ext cx="3840480" cy="914400"/>
        </p:xfrm>
        <a:graphic>
          <a:graphicData uri="http://schemas.openxmlformats.org/drawingml/2006/table">
            <a:tbl>
              <a:tblPr/>
              <a:tblGrid>
                <a:gridCol w="768096"/>
                <a:gridCol w="1536192"/>
                <a:gridCol w="1536192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cm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8-stepno205"/>
          <p:cNvSpPr txBox="1"/>
          <p:nvPr/>
        </p:nvSpPr>
        <p:spPr>
          <a:xfrm>
            <a:off x="548640" y="342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8-text206"/>
          <p:cNvSpPr txBox="1"/>
          <p:nvPr/>
        </p:nvSpPr>
        <p:spPr>
          <a:xfrm>
            <a:off x="1325880" y="3424428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cm끼리: 20 + 45 = 65</a:t>
            </a:r>
            <a:endParaRPr lang="ko-KR" sz="3200" dirty="0"/>
          </a:p>
        </p:txBody>
      </p:sp>
      <p:sp>
        <p:nvSpPr>
          <p:cNvPr id="7" name="S08-stepno207"/>
          <p:cNvSpPr txBox="1"/>
          <p:nvPr/>
        </p:nvSpPr>
        <p:spPr>
          <a:xfrm>
            <a:off x="548640" y="413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8-text208"/>
          <p:cNvSpPr txBox="1"/>
          <p:nvPr/>
        </p:nvSpPr>
        <p:spPr>
          <a:xfrm>
            <a:off x="1325880" y="4137660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m끼리: 1 + 2 = 3</a:t>
            </a:r>
            <a:endParaRPr lang="ko-KR" sz="3200" dirty="0"/>
          </a:p>
        </p:txBody>
      </p:sp>
      <p:sp>
        <p:nvSpPr>
          <p:cNvPr id="9" name="S08-stepno209"/>
          <p:cNvSpPr txBox="1"/>
          <p:nvPr/>
        </p:nvSpPr>
        <p:spPr>
          <a:xfrm>
            <a:off x="548640" y="4850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8-text210"/>
          <p:cNvSpPr txBox="1"/>
          <p:nvPr/>
        </p:nvSpPr>
        <p:spPr>
          <a:xfrm>
            <a:off x="1325880" y="4850892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답: 3 m 65 cm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길이를 빼요</a:t>
            </a:r>
            <a:endParaRPr lang="ko-KR" sz="4400" dirty="0"/>
          </a:p>
        </p:txBody>
      </p:sp>
      <p:sp>
        <p:nvSpPr>
          <p:cNvPr id="3" name="S09-eqtext211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m 75 cm − 1 m 40 cm</a:t>
            </a:r>
            <a:endParaRPr lang="ko-KR" sz="3600" dirty="0"/>
          </a:p>
        </p:txBody>
      </p:sp>
      <p:graphicFrame>
        <p:nvGraphicFramePr>
          <p:cNvPr id="10" name="S09-table2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89408" y="3355340"/>
          <a:ext cx="3840480" cy="914400"/>
        </p:xfrm>
        <a:graphic>
          <a:graphicData uri="http://schemas.openxmlformats.org/drawingml/2006/table">
            <a:tbl>
              <a:tblPr/>
              <a:tblGrid>
                <a:gridCol w="768096"/>
                <a:gridCol w="1536192"/>
                <a:gridCol w="1536192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cm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9-stepno213"/>
          <p:cNvSpPr txBox="1"/>
          <p:nvPr/>
        </p:nvSpPr>
        <p:spPr>
          <a:xfrm>
            <a:off x="548640" y="342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9-text214"/>
          <p:cNvSpPr txBox="1"/>
          <p:nvPr/>
        </p:nvSpPr>
        <p:spPr>
          <a:xfrm>
            <a:off x="1325880" y="3424428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cm끼리: 75 − 40 = 35</a:t>
            </a:r>
            <a:endParaRPr lang="ko-KR" sz="3200" dirty="0"/>
          </a:p>
        </p:txBody>
      </p:sp>
      <p:sp>
        <p:nvSpPr>
          <p:cNvPr id="7" name="S09-stepno215"/>
          <p:cNvSpPr txBox="1"/>
          <p:nvPr/>
        </p:nvSpPr>
        <p:spPr>
          <a:xfrm>
            <a:off x="548640" y="413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9-text216"/>
          <p:cNvSpPr txBox="1"/>
          <p:nvPr/>
        </p:nvSpPr>
        <p:spPr>
          <a:xfrm>
            <a:off x="1325880" y="4137660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m끼리: 3 − 1 = 2</a:t>
            </a:r>
            <a:endParaRPr lang="ko-KR" sz="3200" dirty="0"/>
          </a:p>
        </p:txBody>
      </p:sp>
      <p:sp>
        <p:nvSpPr>
          <p:cNvPr id="9" name="S09-stepno217"/>
          <p:cNvSpPr txBox="1"/>
          <p:nvPr/>
        </p:nvSpPr>
        <p:spPr>
          <a:xfrm>
            <a:off x="548640" y="4850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9-text218"/>
          <p:cNvSpPr txBox="1"/>
          <p:nvPr/>
        </p:nvSpPr>
        <p:spPr>
          <a:xfrm>
            <a:off x="1325880" y="4850892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답: 2 m 35 cm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계산해 봐요</a:t>
            </a:r>
            <a:endParaRPr lang="ko-KR" sz="4400" dirty="0"/>
          </a:p>
        </p:txBody>
      </p:sp>
      <p:sp>
        <p:nvSpPr>
          <p:cNvPr id="3" name="S10-card2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0-cardtext2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m는 m끼리, cm는 cm끼리 계산해요.</a:t>
            </a:r>
            <a:endParaRPr lang="ko-KR" sz="3200" dirty="0"/>
          </a:p>
        </p:txBody>
      </p:sp>
      <p:sp>
        <p:nvSpPr>
          <p:cNvPr id="5" name="S10-chip221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10-eqtext222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m 30 cm + 1 m 50 cm = □ m □ cm</a:t>
            </a:r>
            <a:endParaRPr lang="ko-KR" sz="3600" dirty="0"/>
          </a:p>
        </p:txBody>
      </p:sp>
      <p:sp>
        <p:nvSpPr>
          <p:cNvPr id="7" name="S10-chip223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10-eqtext224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m 15 cm + 3 m 60 cm = □ m □ cm</a:t>
            </a:r>
            <a:endParaRPr lang="ko-KR" sz="3600" dirty="0"/>
          </a:p>
        </p:txBody>
      </p:sp>
      <p:sp>
        <p:nvSpPr>
          <p:cNvPr id="9" name="S10-chip225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10-eqtext226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m 80 cm − 2 m 30 cm = □ m □ cm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단위를 맞췄나요?</a:t>
            </a:r>
            <a:endParaRPr lang="ko-KR" sz="4400" dirty="0"/>
          </a:p>
        </p:txBody>
      </p:sp>
      <p:sp>
        <p:nvSpPr>
          <p:cNvPr id="3" name="S11-card22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22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 cm와 2 m를 더해요.</a:t>
            </a:r>
            <a:endParaRPr lang="ko-KR" sz="3200" dirty="0"/>
          </a:p>
        </p:txBody>
      </p:sp>
      <p:sp>
        <p:nvSpPr>
          <p:cNvPr id="5" name="S11-card2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2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11-chip23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132 cm</a:t>
            </a:r>
            <a:endParaRPr lang="ko-KR" sz="2600" dirty="0"/>
          </a:p>
        </p:txBody>
      </p:sp>
      <p:sp>
        <p:nvSpPr>
          <p:cNvPr id="8" name="S11-text23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 + 2를 했어요.</a:t>
            </a:r>
            <a:endParaRPr lang="ko-KR" sz="3200" dirty="0"/>
          </a:p>
        </p:txBody>
      </p:sp>
      <p:sp>
        <p:nvSpPr>
          <p:cNvPr id="9" name="S11-chip23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 m 30 cm</a:t>
            </a:r>
            <a:endParaRPr lang="ko-KR" sz="2600" dirty="0"/>
          </a:p>
        </p:txBody>
      </p:sp>
      <p:sp>
        <p:nvSpPr>
          <p:cNvPr id="10" name="S11-text23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 cm를 1 m 30 cm로 바꿨어요.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2-chip23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12-eqtext236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 70 cm = □ cm</a:t>
            </a:r>
            <a:endParaRPr lang="ko-KR" sz="3600" dirty="0"/>
          </a:p>
        </p:txBody>
      </p:sp>
      <p:sp>
        <p:nvSpPr>
          <p:cNvPr id="5" name="S12-chip237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12-text238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끈 2 m 35 cm와 1 m 40 cm를 이으면?</a:t>
            </a:r>
            <a:endParaRPr lang="ko-KR" sz="3200" dirty="0"/>
          </a:p>
        </p:txBody>
      </p:sp>
      <p:sp>
        <p:nvSpPr>
          <p:cNvPr id="7" name="S12-chip239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12-text240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끈 4 m 60 cm에서 1 m 20 cm를 자르면?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3-card2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2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m 칸, cm 칸을 나누어 다시 써 보게 하세요.</a:t>
            </a:r>
            <a:endParaRPr lang="ko-KR" sz="3200" dirty="0"/>
          </a:p>
        </p:txBody>
      </p:sp>
      <p:sp>
        <p:nvSpPr>
          <p:cNvPr id="5" name="S13-chip24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3-text244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170 cm</a:t>
            </a:r>
            <a:endParaRPr lang="ko-KR" sz="3200" dirty="0"/>
          </a:p>
        </p:txBody>
      </p:sp>
      <p:sp>
        <p:nvSpPr>
          <p:cNvPr id="7" name="S13-text245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+ 70</a:t>
            </a:r>
            <a:endParaRPr lang="ko-KR" sz="2600" dirty="0"/>
          </a:p>
        </p:txBody>
      </p:sp>
      <p:sp>
        <p:nvSpPr>
          <p:cNvPr id="8" name="S13-text246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 m 75 cm</a:t>
            </a:r>
            <a:endParaRPr lang="ko-KR" sz="3200" dirty="0"/>
          </a:p>
        </p:txBody>
      </p:sp>
      <p:sp>
        <p:nvSpPr>
          <p:cNvPr id="9" name="S13-text247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+ 40, 2 + 1</a:t>
            </a:r>
            <a:endParaRPr lang="ko-KR" sz="2600" dirty="0"/>
          </a:p>
        </p:txBody>
      </p:sp>
      <p:sp>
        <p:nvSpPr>
          <p:cNvPr id="10" name="S13-text248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 m 40 cm</a:t>
            </a:r>
            <a:endParaRPr lang="ko-KR" sz="3200" dirty="0"/>
          </a:p>
        </p:txBody>
      </p:sp>
      <p:sp>
        <p:nvSpPr>
          <p:cNvPr id="11" name="S13-text249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60 − 20, 4 − 1</a:t>
            </a:r>
            <a:endParaRPr lang="ko-KR" sz="2600" dirty="0"/>
          </a:p>
        </p:txBody>
      </p:sp>
      <p:sp>
        <p:nvSpPr>
          <p:cNvPr id="12" name="S13-chip25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3-text25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17 cm</a:t>
            </a:r>
            <a:endParaRPr lang="ko-KR" sz="3200" dirty="0"/>
          </a:p>
        </p:txBody>
      </p:sp>
      <p:sp>
        <p:nvSpPr>
          <p:cNvPr id="14" name="S13-text25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숫자를 붙여 씀</a:t>
            </a:r>
            <a:endParaRPr lang="ko-KR" sz="2600" dirty="0"/>
          </a:p>
        </p:txBody>
      </p:sp>
      <p:sp>
        <p:nvSpPr>
          <p:cNvPr id="15" name="S13-text25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 m 75</a:t>
            </a:r>
            <a:endParaRPr lang="ko-KR" sz="3200" dirty="0"/>
          </a:p>
        </p:txBody>
      </p:sp>
      <p:sp>
        <p:nvSpPr>
          <p:cNvPr id="16" name="S13-text25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cm를 빠뜨림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긴 길이는?</a:t>
            </a:r>
            <a:endParaRPr lang="ko-KR" sz="4400" dirty="0"/>
          </a:p>
        </p:txBody>
      </p:sp>
      <p:sp>
        <p:nvSpPr>
          <p:cNvPr id="3" name="S14-card2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2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5" name="S14-chip257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4-card258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259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 cm</a:t>
            </a:r>
            <a:endParaRPr lang="ko-KR" sz="3200" dirty="0"/>
          </a:p>
        </p:txBody>
      </p:sp>
      <p:sp>
        <p:nvSpPr>
          <p:cNvPr id="8" name="S14-chip260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9" name="S14-card261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4-cardtext262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 9 cm</a:t>
            </a:r>
            <a:endParaRPr lang="ko-KR" sz="3200" dirty="0"/>
          </a:p>
        </p:txBody>
      </p:sp>
      <p:sp>
        <p:nvSpPr>
          <p:cNvPr id="11" name="S14-chip263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2" name="S14-card264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4-cardtext265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m 3 cm</a:t>
            </a:r>
            <a:endParaRPr lang="ko-KR" sz="3200" dirty="0"/>
          </a:p>
        </p:txBody>
      </p:sp>
      <p:sp>
        <p:nvSpPr>
          <p:cNvPr id="14" name="S14-chip266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15" name="S14-card267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4-cardtext268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 cm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5-card26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27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 = 100 cm, m는 m끼리 cm는 cm끼리 계산해요.</a:t>
            </a:r>
            <a:endParaRPr lang="ko-KR" sz="3200" dirty="0"/>
          </a:p>
        </p:txBody>
      </p:sp>
      <p:sp>
        <p:nvSpPr>
          <p:cNvPr id="5" name="S15-chip27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단위를 맞추어 계산하기</a:t>
            </a:r>
            <a:endParaRPr lang="ko-KR" sz="2600" dirty="0"/>
          </a:p>
        </p:txBody>
      </p:sp>
      <p:sp>
        <p:nvSpPr>
          <p:cNvPr id="6" name="S15-chip27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숫자를 이어 붙이기</a:t>
            </a:r>
            <a:endParaRPr lang="ko-KR" sz="2600" dirty="0"/>
          </a:p>
        </p:txBody>
      </p:sp>
      <p:sp>
        <p:nvSpPr>
          <p:cNvPr id="7" name="S15-text27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5-text27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 m 6 cm는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cm?</a:t>
            </a:r>
            <a:endParaRPr lang="ko-KR" sz="2600" dirty="0"/>
          </a:p>
        </p:txBody>
      </p:sp>
      <p:sp>
        <p:nvSpPr>
          <p:cNvPr id="9" name="S15-text27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 m 30 cm +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m 25 cm</a:t>
            </a:r>
            <a:endParaRPr lang="ko-KR" sz="2600" dirty="0"/>
          </a:p>
        </p:txBody>
      </p:sp>
      <p:sp>
        <p:nvSpPr>
          <p:cNvPr id="10" name="S15-text27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 m 90 cm −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m 50 cm</a:t>
            </a:r>
            <a:endParaRPr lang="ko-KR" sz="2600" dirty="0"/>
          </a:p>
        </p:txBody>
      </p:sp>
      <p:sp>
        <p:nvSpPr>
          <p:cNvPr id="11" name="S15-text27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시각과 시간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10 cm씩 세요</a:t>
            </a:r>
            <a:endParaRPr lang="ko-KR" sz="4400" dirty="0"/>
          </a:p>
        </p:txBody>
      </p:sp>
      <p:sp>
        <p:nvSpPr>
          <p:cNvPr id="3" name="S16-text27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자로 10 cm씩 표시하며 세어요.</a:t>
            </a:r>
            <a:endParaRPr lang="ko-KR" sz="3200" dirty="0"/>
          </a:p>
        </p:txBody>
      </p:sp>
      <p:sp>
        <p:nvSpPr>
          <p:cNvPr id="4" name="S16-card279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6-cardtext280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 20, 30 … 100</a:t>
            </a:r>
            <a:endParaRPr lang="ko-KR" sz="3200" dirty="0"/>
          </a:p>
        </p:txBody>
      </p:sp>
      <p:sp>
        <p:nvSpPr>
          <p:cNvPr id="6" name="S16-card281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6-cardtext282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cm = 10 cm가 10번</a:t>
            </a:r>
            <a:endParaRPr lang="ko-KR" sz="3200" dirty="0"/>
          </a:p>
        </p:txBody>
      </p:sp>
      <p:sp>
        <p:nvSpPr>
          <p:cNvPr id="8" name="S16-line283"/>
          <p:cNvSpPr/>
          <p:nvPr/>
        </p:nvSpPr>
        <p:spPr>
          <a:xfrm>
            <a:off x="685800" y="3939235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16-line284"/>
          <p:cNvSpPr/>
          <p:nvPr/>
        </p:nvSpPr>
        <p:spPr>
          <a:xfrm>
            <a:off x="960120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6-label285"/>
          <p:cNvSpPr txBox="1"/>
          <p:nvPr/>
        </p:nvSpPr>
        <p:spPr>
          <a:xfrm>
            <a:off x="502920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11" name="S16-line286"/>
          <p:cNvSpPr/>
          <p:nvPr/>
        </p:nvSpPr>
        <p:spPr>
          <a:xfrm>
            <a:off x="1986991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6-label287"/>
          <p:cNvSpPr txBox="1"/>
          <p:nvPr/>
        </p:nvSpPr>
        <p:spPr>
          <a:xfrm>
            <a:off x="1529791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3" name="S16-line288"/>
          <p:cNvSpPr/>
          <p:nvPr/>
        </p:nvSpPr>
        <p:spPr>
          <a:xfrm>
            <a:off x="3013862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6-label289"/>
          <p:cNvSpPr txBox="1"/>
          <p:nvPr/>
        </p:nvSpPr>
        <p:spPr>
          <a:xfrm>
            <a:off x="2556662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600" dirty="0"/>
          </a:p>
        </p:txBody>
      </p:sp>
      <p:sp>
        <p:nvSpPr>
          <p:cNvPr id="15" name="S16-line290"/>
          <p:cNvSpPr/>
          <p:nvPr/>
        </p:nvSpPr>
        <p:spPr>
          <a:xfrm>
            <a:off x="4040734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6-label291"/>
          <p:cNvSpPr txBox="1"/>
          <p:nvPr/>
        </p:nvSpPr>
        <p:spPr>
          <a:xfrm>
            <a:off x="3583534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600" dirty="0"/>
          </a:p>
        </p:txBody>
      </p:sp>
      <p:sp>
        <p:nvSpPr>
          <p:cNvPr id="17" name="S16-line292"/>
          <p:cNvSpPr/>
          <p:nvPr/>
        </p:nvSpPr>
        <p:spPr>
          <a:xfrm>
            <a:off x="5067605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6-label293"/>
          <p:cNvSpPr txBox="1"/>
          <p:nvPr/>
        </p:nvSpPr>
        <p:spPr>
          <a:xfrm>
            <a:off x="4610405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600" dirty="0"/>
          </a:p>
        </p:txBody>
      </p:sp>
      <p:sp>
        <p:nvSpPr>
          <p:cNvPr id="19" name="S16-line294"/>
          <p:cNvSpPr/>
          <p:nvPr/>
        </p:nvSpPr>
        <p:spPr>
          <a:xfrm>
            <a:off x="6094476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6-label295"/>
          <p:cNvSpPr txBox="1"/>
          <p:nvPr/>
        </p:nvSpPr>
        <p:spPr>
          <a:xfrm>
            <a:off x="5637276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2600" dirty="0"/>
          </a:p>
        </p:txBody>
      </p:sp>
      <p:sp>
        <p:nvSpPr>
          <p:cNvPr id="21" name="S16-line296"/>
          <p:cNvSpPr/>
          <p:nvPr/>
        </p:nvSpPr>
        <p:spPr>
          <a:xfrm>
            <a:off x="7121347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6-label297"/>
          <p:cNvSpPr txBox="1"/>
          <p:nvPr/>
        </p:nvSpPr>
        <p:spPr>
          <a:xfrm>
            <a:off x="6664147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600" dirty="0"/>
          </a:p>
        </p:txBody>
      </p:sp>
      <p:sp>
        <p:nvSpPr>
          <p:cNvPr id="23" name="S16-line298"/>
          <p:cNvSpPr/>
          <p:nvPr/>
        </p:nvSpPr>
        <p:spPr>
          <a:xfrm>
            <a:off x="8148218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6-label299"/>
          <p:cNvSpPr txBox="1"/>
          <p:nvPr/>
        </p:nvSpPr>
        <p:spPr>
          <a:xfrm>
            <a:off x="7691018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2600" dirty="0"/>
          </a:p>
        </p:txBody>
      </p:sp>
      <p:sp>
        <p:nvSpPr>
          <p:cNvPr id="25" name="S16-line300"/>
          <p:cNvSpPr/>
          <p:nvPr/>
        </p:nvSpPr>
        <p:spPr>
          <a:xfrm>
            <a:off x="9175090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6-label301"/>
          <p:cNvSpPr txBox="1"/>
          <p:nvPr/>
        </p:nvSpPr>
        <p:spPr>
          <a:xfrm>
            <a:off x="8717890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2600" dirty="0"/>
          </a:p>
        </p:txBody>
      </p:sp>
      <p:sp>
        <p:nvSpPr>
          <p:cNvPr id="27" name="S16-line302"/>
          <p:cNvSpPr/>
          <p:nvPr/>
        </p:nvSpPr>
        <p:spPr>
          <a:xfrm>
            <a:off x="10201961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6-label303"/>
          <p:cNvSpPr txBox="1"/>
          <p:nvPr/>
        </p:nvSpPr>
        <p:spPr>
          <a:xfrm>
            <a:off x="9744761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2600" dirty="0"/>
          </a:p>
        </p:txBody>
      </p:sp>
      <p:sp>
        <p:nvSpPr>
          <p:cNvPr id="29" name="S16-line304"/>
          <p:cNvSpPr/>
          <p:nvPr/>
        </p:nvSpPr>
        <p:spPr>
          <a:xfrm>
            <a:off x="11228832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16-label305"/>
          <p:cNvSpPr txBox="1"/>
          <p:nvPr/>
        </p:nvSpPr>
        <p:spPr>
          <a:xfrm>
            <a:off x="10771632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2600" dirty="0"/>
          </a:p>
        </p:txBody>
      </p:sp>
      <p:sp>
        <p:nvSpPr>
          <p:cNvPr id="31" name="S16-mark306"/>
          <p:cNvSpPr/>
          <p:nvPr/>
        </p:nvSpPr>
        <p:spPr>
          <a:xfrm>
            <a:off x="868680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2" name="S16-mark307"/>
          <p:cNvSpPr/>
          <p:nvPr/>
        </p:nvSpPr>
        <p:spPr>
          <a:xfrm>
            <a:off x="11137392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3" name="S16-line308"/>
          <p:cNvSpPr/>
          <p:nvPr/>
        </p:nvSpPr>
        <p:spPr>
          <a:xfrm flipV="1">
            <a:off x="960120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4" name="S16-line309"/>
          <p:cNvSpPr/>
          <p:nvPr/>
        </p:nvSpPr>
        <p:spPr>
          <a:xfrm>
            <a:off x="960120" y="3555187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5" name="S16-line310"/>
          <p:cNvSpPr/>
          <p:nvPr/>
        </p:nvSpPr>
        <p:spPr>
          <a:xfrm flipV="1">
            <a:off x="1986991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6" name="S16-line311"/>
          <p:cNvSpPr/>
          <p:nvPr/>
        </p:nvSpPr>
        <p:spPr>
          <a:xfrm>
            <a:off x="1986991" y="3555187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7" name="S16-line312"/>
          <p:cNvSpPr/>
          <p:nvPr/>
        </p:nvSpPr>
        <p:spPr>
          <a:xfrm flipV="1">
            <a:off x="3013862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8" name="S16-line313"/>
          <p:cNvSpPr/>
          <p:nvPr/>
        </p:nvSpPr>
        <p:spPr>
          <a:xfrm>
            <a:off x="3013862" y="3555187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9" name="S16-line314"/>
          <p:cNvSpPr/>
          <p:nvPr/>
        </p:nvSpPr>
        <p:spPr>
          <a:xfrm flipV="1">
            <a:off x="4040734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0" name="S16-line315"/>
          <p:cNvSpPr/>
          <p:nvPr/>
        </p:nvSpPr>
        <p:spPr>
          <a:xfrm>
            <a:off x="4040734" y="3555187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1" name="S16-line316"/>
          <p:cNvSpPr/>
          <p:nvPr/>
        </p:nvSpPr>
        <p:spPr>
          <a:xfrm flipV="1">
            <a:off x="5067605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2" name="S16-line317"/>
          <p:cNvSpPr/>
          <p:nvPr/>
        </p:nvSpPr>
        <p:spPr>
          <a:xfrm>
            <a:off x="5067605" y="3555187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3" name="S16-line318"/>
          <p:cNvSpPr/>
          <p:nvPr/>
        </p:nvSpPr>
        <p:spPr>
          <a:xfrm flipV="1">
            <a:off x="6094476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4" name="S16-line319"/>
          <p:cNvSpPr/>
          <p:nvPr/>
        </p:nvSpPr>
        <p:spPr>
          <a:xfrm>
            <a:off x="6094476" y="3555187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5" name="S16-line320"/>
          <p:cNvSpPr/>
          <p:nvPr/>
        </p:nvSpPr>
        <p:spPr>
          <a:xfrm flipV="1">
            <a:off x="7121347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6" name="S16-line321"/>
          <p:cNvSpPr/>
          <p:nvPr/>
        </p:nvSpPr>
        <p:spPr>
          <a:xfrm>
            <a:off x="7121347" y="3555187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7" name="S16-line322"/>
          <p:cNvSpPr/>
          <p:nvPr/>
        </p:nvSpPr>
        <p:spPr>
          <a:xfrm flipV="1">
            <a:off x="8148218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8" name="S16-line323"/>
          <p:cNvSpPr/>
          <p:nvPr/>
        </p:nvSpPr>
        <p:spPr>
          <a:xfrm>
            <a:off x="8148218" y="3555187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9" name="S16-line324"/>
          <p:cNvSpPr/>
          <p:nvPr/>
        </p:nvSpPr>
        <p:spPr>
          <a:xfrm flipV="1">
            <a:off x="9175090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0" name="S16-line325"/>
          <p:cNvSpPr/>
          <p:nvPr/>
        </p:nvSpPr>
        <p:spPr>
          <a:xfrm>
            <a:off x="9175090" y="3555187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1" name="S16-line326"/>
          <p:cNvSpPr/>
          <p:nvPr/>
        </p:nvSpPr>
        <p:spPr>
          <a:xfrm flipV="1">
            <a:off x="10201961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2" name="S16-line327"/>
          <p:cNvSpPr/>
          <p:nvPr/>
        </p:nvSpPr>
        <p:spPr>
          <a:xfrm>
            <a:off x="10201961" y="3555187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3" name="S16-figure328" descr="0부터 100까지 10씩 열 번 뛰어 세는 수직선"/>
          <p:cNvSpPr/>
          <p:nvPr/>
        </p:nvSpPr>
        <p:spPr>
          <a:xfrm>
            <a:off x="685800" y="3756355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m와 cm</dc:title>
  <dc:subject>KR22-G02-MAT-METER-L01</dc:subject>
  <dc:creator>education-ppt</dc:creator>
  <cp:lastModifiedBy>education-ppt</cp:lastModifiedBy>
  <cp:revision>1</cp:revision>
  <dcterms:created xsi:type="dcterms:W3CDTF">2026-10-26T06:55:03Z</dcterms:created>
  <dcterms:modified xsi:type="dcterms:W3CDTF">2026-10-26T06:55:03Z</dcterms:modified>
</cp:coreProperties>
</file>