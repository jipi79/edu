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d282b7d-8138-ed22-a762-b8fb083b78b1}">
          <p14:sldIdLst>
            <p14:sldId id="256"/>
            <p14:sldId id="257"/>
          </p14:sldIdLst>
        </p14:section>
        <p14:section name="개념" id="{93c3db3c-b251-e136-f6ae-413ce3d9e9e0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0aff3d0c-58b5-d261-eb5b-df87e16fa9d1}">
          <p14:sldIdLst>
            <p14:sldId id="264"/>
            <p14:sldId id="265"/>
            <p14:sldId id="266"/>
          </p14:sldIdLst>
        </p14:section>
        <p14:section name="확인" id="{0a8627e2-0053-a4de-a0cf-5bb3be336d7f}">
          <p14:sldIdLst>
            <p14:sldId id="267"/>
            <p14:sldId id="268"/>
            <p14:sldId id="269"/>
          </p14:sldIdLst>
        </p14:section>
        <p14:section name="정리" id="{453d625b-de94-5640-a46c-e71322106f7c}">
          <p14:sldIdLst>
            <p14:sldId id="270"/>
          </p14:sldIdLst>
        </p14:section>
        <p14:section name="보충" id="{d5e80f42-5754-afcb-c28d-c1201f4718fd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일주일(7일)이라는 생활 속 묶음으로 7단을 시작합니다.
시간: 약 2분
이렇게 말해 보세요
- “일주일은 며칠이지? 일주일이 3번 지나면 며칠일까?”
- “오른쪽 점은 7개씩 몇 줄이야? 오늘은 7단과 9단을 만들고, 생활 문제도 풀어 볼 거야.”
예상 답
- “7일이요. 3번이면… 21일?” (몰라도 괜찮습니다)
막히면
- 답을 확인하지 말고 넘어갑니다. S03에서 수직선으로 함께 구합니다.
주의
- 달력이 있으면 일주일이 한 줄(7칸)이라는 것을 보여 주면 좋습니다. 7 × 3 = 21은 S03에서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확인(4단·8단, 2단·5단)]
목적: 지난 시간의 4단·8단과, 오늘 7단을 만들 때 쓸 5단·2단을 기억하는지 확인합니다.
시간: 약 3분
이렇게 말해 보세요
- “네 문제의 곱을 말해 볼래? 어떻게 구했는지도 하나만 말해 줘.”
정답
- ① 28
- ② 48
- ③ 20
- ④ 8
막히면
- ②는 4 × 6 = 24를 두 번 더해 48로 구할 수 있었다는 것을 떠올리게 합니다.
- 두 문제 이상 틀리면 S16(보충)을 먼저 합니다. 보충으로도 어려우면 9차시 ‘4단과 8단’(KR22-G02-MAT-TIMES48-L01)을 다시 합니다.
주의
- ③과 ④가 흔들리면 오늘 S04(5단 + 2단)가 어렵습니다. S16에서 5씩, 2씩 뛰어 세기를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수직선에서 7씩 뛰어 세기]
목적: 7씩 뛰어 세어 7단의 곱을 구하고, 일주일과 연결합니다.
시간: 약 2분
이렇게 말해 보세요
- “이 수직선은 눈금 한 칸이 7이야. 일주일이 한 번 지날 때마다 한 칸씩 뛰어. 세 번 뛰면 어디야?”
- “눈금 아래의 수 7, 14, 21, 28…이 7단의 곱이야. 같이 읽어 볼까?”
예상 답
- “7, 14, 21. 21일이에요.”
막히면
- 달력에서 한 줄씩 짚으며 7, 14, 21을 확인합니다.
주의
- 7 × 1 = 7, 7 × 2 = 14, 7 × 3 = 21입니다. 7은 큰 수라 뛰어 세기가 어려우니 S04에서 5와 2로 나누는 방법을 함께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7씩 묶음 = 5씩 묶음 + 2씩 묶음(점 배열)]
목적: 점 배열로 ‘7씩 4묶음’이 ‘5씩 4묶음’과 ‘2씩 4묶음’을 합친 것임을 보고, 아는 5단·2단으로 7단의 곱을 구합니다.
시간: 약 4분
이렇게 말해 보세요
- “주황 점은 5씩 몇 묶음이야? 파란 점은 2씩 4묶음이지? 둘을 옆으로 붙이면 한 줄에 몇 개야?”
- “5 × 4는 20, 2 × 4는 8이야. 둘을 더하면 7 × 4가 돼. 얼마야?”
예상 답
- “한 줄에 7개요.”
- “28이요.”
막히면
- 두 색 바둑돌로 줄마다 주황 5개, 파랑 2개를 놓아 7개씩 4줄을 만들고, 주황만, 파랑만, 모두를 차례로 셉니다.
- 손가락으로 ‘한 손(5)과 두 손가락(2)이 7’을 보여 줍니다.
주의
- 5 × 4 + 2 × 4처럼 한 줄로 이어 쓴 식은 2학년에서 쓰지 않습니다. 곱을 따로 구한 뒤 더한다고 말로 설명합니다.
- 지난 시간의 ‘두 번 더하기’와 달리, 오늘은 서로 다른 두 단(5단과 2단)을 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5단과 2단으로 7단 완성하기]
목적: 같은 칸의 5단 곱과 2단 곱을 더해 7단 곱셈구구를 완성하고, 다 만든 뒤 소리 내어 읽습니다.
시간: 약 3분
이렇게 말해 보세요
- “7 × 5는 같은 줄 위의 5 × 5와 2 × 5를 더하면 돼. 25와 10을 더하면?”
- “다 채우면 앞의 곱에 7을 더해서 맞는지 확인해 보자. 28에 7을 더하면?”
정답
- 7 × 5 = 35, 7 × 6 = 42, 7 × 7 = 49, 7 × 8 = 56, 7 × 9 = 63
- 5단 + 2단: 25 + 10 = 35, 30 + 12 = 42, 35 + 14 = 49, 40 + 16 = 56, 45 + 18 = 63
막히면
- 덧셈이 어려우면 십의 자리끼리, 일의 자리끼리 나누어 더합니다(35 + 14 → 30 + 10, 5 + 4).
- 확인은 바둑돌 대신 S03 수직선 눈금으로 해도 됩니다.
주의
- 다 채우면 ‘7 곱하기 1은 7…’로 함께 읽습니다. 7단은 특히 헷갈리기 쉬우니 7 × 6, 7 × 7, 7 × 8을 두 번씩 읽습니다(M3).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9씩 묶어 세기와 10칸 줄에서 빼기]
목적: 9씩 묶어 세기로 9단을 만들고, 9씩 묶음은 10칸 줄보다 1칸 적다는 것을 이용해 곱을 구합니다.
시간: 약 4분
이렇게 말해 보세요
- “왼쪽 점은 9씩 몇 묶음이야? 이 묶음을 10칸짜리 줄에 놓으면 줄마다 몇 칸이 비어?”
- “10칸씩 3줄은 30칸이야. 줄마다 1칸씩, 모두 3칸이 비었으니까 9 × 3은 30에서 3을 뺀 수야.”
예상 답
- “9씩 3묶음이요. 줄마다 1칸씩 비어요.”
- “27이요.”
막히면
- 10칸짜리 줄(달걀판이나 종이에 그린 칸)에 바둑돌을 9개씩 놓아 보고, 빈칸을 손가락으로 짚어 셉니다.
- 30에서 3을 빼기 어려우면 30, 29, 28, 27 하고 거꾸로 셉니다.
주의
- 빼는 수는 ‘묶음 수’입니다. 9 × 3은 3을, 9 × 4는 4를 뺍니다(M1).
- 10칸씩 몇 줄은 1학년에서 배운 ‘10개씩 묶음’과 같습니다(10칸씩 3줄은 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수직선에서 9씩 뛰어 세기]
목적: 9씩 뛰어 세어 9단의 곱을 구하고, 앞의 곱에 9를 더하면 다음 곱이 된다는 것을 압니다.
시간: 약 2분
이렇게 말해 보세요
- “이 수직선은 눈금 한 칸이 9야. 0에서 9씩 5번 뛰어 보자.”
- “9 × 4는 36이야. 9 × 5는 36보다 9 커. 9를 더할 때는 10을 더하고 1을 빼면 쉬워. 36에 10을 더하면 46, 1을 빼면?”
예상 답
- “9, 18, 27, 36, 45. 45예요.”
- “45요.”
막히면
- 눈금 아래 수를 손가락으로 짚으며 뛴 횟수를 셉니다.
주의
- ‘9 더하기 = 10 더하고 1 빼기’는 S08에서 9단을 채울 때도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9단 곱셈구구 완성하고 규칙 찾기]
목적: 9단 곱셈구구를 완성하고, 곱의 십의 자리는 1씩 커지고 일의 자리는 1씩 작아지는 규칙을 찾습니다.
시간: 약 3분
이렇게 말해 보세요
- “빈칸을 채워 볼까? 45에 9를 더하면? 10을 더하고 1을 빼도 돼.”
- “18, 27, 36, 45… 앞자리(십의 자리)는 어떻게 바뀌어? 뒷자리(일의 자리)는?”
정답
- 9 × 6 = 54, 9 × 7 = 63, 9 × 8 = 72, 9 × 9 = 81
- 규칙: 곱이 커질수록 십의 자리는 1씩 커지고(1, 2, 3…), 일의 자리는 1씩 작아집니다(8, 7, 6…).
막히면
- S06처럼 10칸씩 6줄(60)에서 6칸을 빼서 54를 확인합니다.
- 십의 자리만 가리키며 읽고, 다음에 일의 자리만 가리키며 읽습니다.
주의
- 아이가 더 찾으면 칭찬합니다. 예: 두 자리 숫자를 더하면 모두 9입니다(1 + 8, 2 + 7…).
- 다 채우면 ‘9 곱하기 1은 9…’로 함께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생활 문제를 곱셈식으로 푸는 시범]
목적: 생활 문제에서 ‘한 묶음의 수’와 ‘묶음 수’를 찾아 곱셈식을 세우는 순서를 시범으로 보여 줍니다.
시간: 약 3분
이렇게 말해 보세요
- “문제를 같이 읽어 보자. 한 묶음은 무엇이야? 한 팀에 몇 명이야? 팀은 몇 개야?”
- “9명씩 4묶음이니까 9 × 4야. 10칸씩 4줄 40에서 4를 빼면?”
예상 답
- “한 팀에 9명, 4팀이요. 9 × 4 = 36, 36명이요.”
막히면
- 9 + 4 = 13이라고 하면 바둑돌 9개씩 4묶음을 놓아 13이 아님을 보여 줍니다(M2).
- 문장의 수에 밑줄을 긋고 ‘씩’이 붙는 수가 한 묶음의 수라고 알려 줍니다.
주의
- 답에는 ‘명’, ‘일’, ‘개’ 같은 단위를 붙여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연습(생활 문제)]
목적: 도움을 받으며 생활 문제를 7단·9단 곱셈식으로 나타내고 답을 구합니다.
시간: 약 3분
이렇게 말해 보세요
- “①에서 한 주는 며칠이야? 몇 주야? 곱셈식으로 말해 줘.”
- “②는 한 팀에 몇 명이었지? ③은 한 봉지에 몇 개야?”
정답
- ① 7 × 2 = 14, 14일
- ② 9 × 3 = 27, 27명
- ③ 7 × 5 = 35, 35개
막히면
- S09의 순서(한 묶음에 몇? 몇 묶음? 곱셈식, 답)대로 한 줄씩 묻습니다.
- 곱을 잊었으면 S05와 S08의 표를 다시 보게 합니다.
주의
- ②는 야구 한 팀이 9명이라는 것을 S09에서 배웠습니다. 기억하지 못하면 알려 줘도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비교(10칸 줄에서 한 번만 빼기)]
목적: 10칸 줄에서 빼는 수가 묶음 수만큼이라는 것을 그림으로 확인합니다(M1).
시간: 약 3분
이렇게 말해 보세요
- “토끼와 곰이 9 × 4를 구했는데 답이 달라. 누가 맞았을까?”
- “곰의 그림에서 빈칸은 모두 몇 칸이야? 왜 그만큼 빼야 할까?”
예상 답
- “곰이요. 줄마다 하나씩 비어서 4개를 빼야 해요.”
정답
- 곰이 맞습니다. 9 × 4 = 36입니다.
- 9씩 묶음은 10칸 줄보다 줄마다 1칸씩 적습니다. 줄이 4개이므로 4칸을 빼야 합니다. 토끼는 1칸만 뺐습니다.
막히면
- 빈칸을 손가락으로 하나씩 짚으며 세게 한 뒤, 40에서 하나씩 거꾸로 셉니다(39, 38, 37, 36).
주의
- “몇 줄이야? 그러면 몇 칸을 빼?”를 짝으로 묻는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7단·9단의 곱을 구하고, 생활 문제를 곱셈식으로 풀 수 있는지 확인합니다.
시간: 약 5분
이렇게 말해 보세요
- “이번에는 혼자 해 볼래? ③, ④는 곱셈식을 종이에 쓰고 답을 말해 줘.”
- “①이나 ② 중 하나는 어떻게 구했는지 설명해 줘.”
정답
- ① 56
- ② 54
- ③ 9 × 8 = 72, 72명
- ④ 7 × 6 = 42, 42일
막히면
- 바로 알려 주지 말고 “한 묶음에 몇? 몇 묶음?”, “5단과 2단으로 나누면?”이라고만 묻습니다.
- 도움을 받아 해결했다면 기록표에 ‘도움’으로 표시합니다.
주의
- ①은 5 × 8 = 40과 2 × 8 = 16을 더해도, 7 × 7 = 49에 7을 더해도 됩니다.
- ②는 60에서 6을 빼서 구할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다른 방법으로 한 번 더 구해 보자.”
정답
- ① 56 ② 54 ③ 9 × 8 = 72, 72명 ④ 7 × 6 = 42, 42일
막히면
- ②가 59이면 S11의 토끼와 곰을 다시 봅니다(M1).
- ③이 17이면(9 + 8) S09의 순서로 다시 풉니다(M2).
- ①이 54나 63이면 S05의 표에서 5단과 2단을 더해 다시 구합니다(M3).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확인(이야기에 맞는 곱셈식)]
목적: 처음 보는 생활 문제에서 알맞은 곱셈식을 고르고 7단으로 답을 구하는지 확인합니다.
시간: 약 2분
이렇게 말해 보세요
- “한 묶음에 몇 권이야? 몇 묶음이야? 그러면 어떤 식이 맞을까? 모두 몇 권이야?”
정답
- 다(7 × 9 = 63). 7권씩 9묶음이므로 7 × 9이고, 공책은 모두 63권입니다.
- 가(7 + 9)는 두 수를 더했고, 나(9 × 9)는 한 묶음의 수를 잘못 썼습니다.
막히면
- S09의 순서(한 묶음에 몇? 몇 묶음?)대로 묻습니다. 곱이 어려우면 S05의 표를 봅니다.
주의
- 9 × 7 = 63으로 생각해도 곱은 같습니다. 그래도 ‘7권씩 9묶음’은 7 × 9로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2분
이렇게 말해 보세요
- “7단의 곱이 생각나지 않을 때는 어떻게 구할 수 있지? 9단은? 어려운 곱은 아는 곱으로 나누어 구하면 돼.”
- “생활 문제를 곱셈식으로 바꿀 때 무엇을 먼저 찾아?”
예상 답
- “5단이랑 2단을 더해요. 9단은 10칸 줄에서 줄 수만큼 빼요.”
- “한 묶음에 몇 개인지, 몇 묶음인지 찾아요.”
정답
- ① 49 ② 36 ③ 63
막히면
- S04와 S06의 그림을 다시 보여 줍니다.
주의
- 복습 세 문제는 다음 수업을 시작할 때 활동지 마지막 쪽과 함께 풉니다. 다음 시간에는 1단, 0의 곱과 곱셈표 전체를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보충(5씩·2씩 뛰어 세기)]
목적: S02에서 곱셈구구가 흔들리면, 오늘 7단을 만드는 데 필요한 5단과 2단부터 손가락과 수직선으로 다시 다집니다.
시간: 약 5분
이렇게 말해 보세요
- “5씩 네 번 뛰어 보자. 손가락을 하나씩 펴면서 5, 10, 15, 20! 2씩 네 번은?”
- “5 × 4와 2 × 4를 더하면 7 × 4가 돼. 20과 8을 더하면 얼마야?”
정답
- 5 × 4 = 20, 2 × 4 = 8, 둘을 더하면 28(7 × 4)
막히면
- 한 손(5)과 두 손가락(2)을 펴서 7을 만들고, 그것을 네 번 반복하며 셉니다.
- 5단·2단이 많이 흔들리면 7차시 ‘2단과 5단’(KR22-G02-MAT-TIMES25-L01)부터 다시 합니다.
주의
- 보충으로도 어려우면 9차시 ‘4단과 8단’(KR22-G02-MAT-TIMES48-L01)을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10차시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7단과 9단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7단과 9단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7단과 9단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7단과 9단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일주일이 3번이면 며칠일까?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1335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5907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0479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5051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9623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4195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1087678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1335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5907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0479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5051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99623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104195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87678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81335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85907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dot17"/>
          <p:cNvSpPr/>
          <p:nvPr/>
        </p:nvSpPr>
        <p:spPr>
          <a:xfrm>
            <a:off x="90479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95051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dot19"/>
          <p:cNvSpPr/>
          <p:nvPr/>
        </p:nvSpPr>
        <p:spPr>
          <a:xfrm>
            <a:off x="99623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4195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1087678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group22"/>
          <p:cNvSpPr/>
          <p:nvPr/>
        </p:nvSpPr>
        <p:spPr>
          <a:xfrm>
            <a:off x="8074152" y="1453896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1-group23"/>
          <p:cNvSpPr/>
          <p:nvPr/>
        </p:nvSpPr>
        <p:spPr>
          <a:xfrm>
            <a:off x="8074152" y="1911096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1-group24"/>
          <p:cNvSpPr/>
          <p:nvPr/>
        </p:nvSpPr>
        <p:spPr>
          <a:xfrm>
            <a:off x="8074152" y="2368296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1-figure25" descr="7개씩 묶은 점 3줄, 21개"/>
          <p:cNvSpPr/>
          <p:nvPr/>
        </p:nvSpPr>
        <p:spPr>
          <a:xfrm>
            <a:off x="8046720" y="1417320"/>
            <a:ext cx="32004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1-card2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0" name="S01-cardtext2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7씩, 9씩 묶어 세어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생활 속 문제를 곱셈으로 풀어요.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2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7 = □</a:t>
            </a:r>
            <a:endParaRPr lang="ko-KR" sz="3600" dirty="0"/>
          </a:p>
        </p:txBody>
      </p:sp>
      <p:sp>
        <p:nvSpPr>
          <p:cNvPr id="5" name="S02-chip30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1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6 = □</a:t>
            </a:r>
            <a:endParaRPr lang="ko-KR" sz="3600" dirty="0"/>
          </a:p>
        </p:txBody>
      </p:sp>
      <p:sp>
        <p:nvSpPr>
          <p:cNvPr id="7" name="S02-chip32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33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□</a:t>
            </a:r>
            <a:endParaRPr lang="ko-KR" sz="3600" dirty="0"/>
          </a:p>
        </p:txBody>
      </p:sp>
      <p:sp>
        <p:nvSpPr>
          <p:cNvPr id="9" name="S02-chip34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35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뛰어 세요</a:t>
            </a:r>
            <a:endParaRPr lang="ko-KR" sz="4400" dirty="0"/>
          </a:p>
        </p:txBody>
      </p:sp>
      <p:sp>
        <p:nvSpPr>
          <p:cNvPr id="3" name="S03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일주일은 7일! 7씩 3번 뛰어요.</a:t>
            </a:r>
            <a:endParaRPr lang="ko-KR" sz="3200" dirty="0"/>
          </a:p>
        </p:txBody>
      </p:sp>
      <p:sp>
        <p:nvSpPr>
          <p:cNvPr id="4" name="S03-card3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3 = 21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3주는 21일이에요.</a:t>
            </a:r>
            <a:endParaRPr lang="ko-KR" sz="3200" dirty="0"/>
          </a:p>
        </p:txBody>
      </p:sp>
      <p:sp>
        <p:nvSpPr>
          <p:cNvPr id="6" name="S03-line39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3-line40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label41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3-line42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label43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1" name="S03-line44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45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13" name="S03-line46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47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2600" dirty="0"/>
          </a:p>
        </p:txBody>
      </p:sp>
      <p:sp>
        <p:nvSpPr>
          <p:cNvPr id="15" name="S03-line48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49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2600" dirty="0"/>
          </a:p>
        </p:txBody>
      </p:sp>
      <p:sp>
        <p:nvSpPr>
          <p:cNvPr id="17" name="S03-line50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51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600" dirty="0"/>
          </a:p>
        </p:txBody>
      </p:sp>
      <p:sp>
        <p:nvSpPr>
          <p:cNvPr id="19" name="S03-line52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53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600" dirty="0"/>
          </a:p>
        </p:txBody>
      </p:sp>
      <p:sp>
        <p:nvSpPr>
          <p:cNvPr id="21" name="S03-line54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55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2600" dirty="0"/>
          </a:p>
        </p:txBody>
      </p:sp>
      <p:sp>
        <p:nvSpPr>
          <p:cNvPr id="23" name="S03-line56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57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ko-KR" sz="2600" dirty="0"/>
          </a:p>
        </p:txBody>
      </p:sp>
      <p:sp>
        <p:nvSpPr>
          <p:cNvPr id="25" name="S03-line58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59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2600" dirty="0"/>
          </a:p>
        </p:txBody>
      </p:sp>
      <p:sp>
        <p:nvSpPr>
          <p:cNvPr id="27" name="S03-mark60"/>
          <p:cNvSpPr/>
          <p:nvPr/>
        </p:nvSpPr>
        <p:spPr>
          <a:xfrm>
            <a:off x="4291584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3-line61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3-line62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3-label63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3-line64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3-line65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3-label66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3-line67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3-line68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3-label69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3-figure70" descr="0부터 63까지 7씩 눈금이 있는 수직선에서 0부터 7씩 3번 뛰어 21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5씩과 2씩으로</a:t>
            </a:r>
            <a:endParaRPr lang="ko-KR" sz="4400" dirty="0"/>
          </a:p>
        </p:txBody>
      </p:sp>
      <p:sp>
        <p:nvSpPr>
          <p:cNvPr id="3" name="S04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4묶음을 5씩과 2씩으로 나눠요.</a:t>
            </a:r>
            <a:endParaRPr lang="ko-KR" sz="3200" dirty="0"/>
          </a:p>
        </p:txBody>
      </p:sp>
      <p:sp>
        <p:nvSpPr>
          <p:cNvPr id="4" name="S04-card7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7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 = 28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4와 2 × 4를 더해요. 20 + 8 = 28</a:t>
            </a:r>
            <a:endParaRPr lang="ko-KR" sz="3200" dirty="0"/>
          </a:p>
        </p:txBody>
      </p:sp>
      <p:sp>
        <p:nvSpPr>
          <p:cNvPr id="6" name="S04-dot74"/>
          <p:cNvSpPr/>
          <p:nvPr/>
        </p:nvSpPr>
        <p:spPr>
          <a:xfrm>
            <a:off x="134005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75"/>
          <p:cNvSpPr/>
          <p:nvPr/>
        </p:nvSpPr>
        <p:spPr>
          <a:xfrm>
            <a:off x="175153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76"/>
          <p:cNvSpPr/>
          <p:nvPr/>
        </p:nvSpPr>
        <p:spPr>
          <a:xfrm>
            <a:off x="216301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77"/>
          <p:cNvSpPr/>
          <p:nvPr/>
        </p:nvSpPr>
        <p:spPr>
          <a:xfrm>
            <a:off x="257449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dot78"/>
          <p:cNvSpPr/>
          <p:nvPr/>
        </p:nvSpPr>
        <p:spPr>
          <a:xfrm>
            <a:off x="2985973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4-dot79"/>
          <p:cNvSpPr/>
          <p:nvPr/>
        </p:nvSpPr>
        <p:spPr>
          <a:xfrm>
            <a:off x="134005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80"/>
          <p:cNvSpPr/>
          <p:nvPr/>
        </p:nvSpPr>
        <p:spPr>
          <a:xfrm>
            <a:off x="175153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81"/>
          <p:cNvSpPr/>
          <p:nvPr/>
        </p:nvSpPr>
        <p:spPr>
          <a:xfrm>
            <a:off x="216301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82"/>
          <p:cNvSpPr/>
          <p:nvPr/>
        </p:nvSpPr>
        <p:spPr>
          <a:xfrm>
            <a:off x="257449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83"/>
          <p:cNvSpPr/>
          <p:nvPr/>
        </p:nvSpPr>
        <p:spPr>
          <a:xfrm>
            <a:off x="2985973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84"/>
          <p:cNvSpPr/>
          <p:nvPr/>
        </p:nvSpPr>
        <p:spPr>
          <a:xfrm>
            <a:off x="134005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dot85"/>
          <p:cNvSpPr/>
          <p:nvPr/>
        </p:nvSpPr>
        <p:spPr>
          <a:xfrm>
            <a:off x="175153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86"/>
          <p:cNvSpPr/>
          <p:nvPr/>
        </p:nvSpPr>
        <p:spPr>
          <a:xfrm>
            <a:off x="216301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87"/>
          <p:cNvSpPr/>
          <p:nvPr/>
        </p:nvSpPr>
        <p:spPr>
          <a:xfrm>
            <a:off x="257449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dot88"/>
          <p:cNvSpPr/>
          <p:nvPr/>
        </p:nvSpPr>
        <p:spPr>
          <a:xfrm>
            <a:off x="2985973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4-dot89"/>
          <p:cNvSpPr/>
          <p:nvPr/>
        </p:nvSpPr>
        <p:spPr>
          <a:xfrm>
            <a:off x="134005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dot90"/>
          <p:cNvSpPr/>
          <p:nvPr/>
        </p:nvSpPr>
        <p:spPr>
          <a:xfrm>
            <a:off x="175153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4-dot91"/>
          <p:cNvSpPr/>
          <p:nvPr/>
        </p:nvSpPr>
        <p:spPr>
          <a:xfrm>
            <a:off x="216301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dot92"/>
          <p:cNvSpPr/>
          <p:nvPr/>
        </p:nvSpPr>
        <p:spPr>
          <a:xfrm>
            <a:off x="257449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dot93"/>
          <p:cNvSpPr/>
          <p:nvPr/>
        </p:nvSpPr>
        <p:spPr>
          <a:xfrm>
            <a:off x="2985973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group94"/>
          <p:cNvSpPr/>
          <p:nvPr/>
        </p:nvSpPr>
        <p:spPr>
          <a:xfrm>
            <a:off x="1289304" y="230263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4-group95"/>
          <p:cNvSpPr/>
          <p:nvPr/>
        </p:nvSpPr>
        <p:spPr>
          <a:xfrm>
            <a:off x="1289304" y="271411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4-group96"/>
          <p:cNvSpPr/>
          <p:nvPr/>
        </p:nvSpPr>
        <p:spPr>
          <a:xfrm>
            <a:off x="1289304" y="312559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4-group97"/>
          <p:cNvSpPr/>
          <p:nvPr/>
        </p:nvSpPr>
        <p:spPr>
          <a:xfrm>
            <a:off x="1289304" y="3537077"/>
            <a:ext cx="200253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04-figure98" descr="주황 점 5개씩 4묶음, 20개"/>
          <p:cNvSpPr/>
          <p:nvPr/>
        </p:nvSpPr>
        <p:spPr>
          <a:xfrm>
            <a:off x="1261872" y="2266061"/>
            <a:ext cx="205740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4-label99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</a:t>
            </a:r>
            <a:endParaRPr lang="ko-KR" sz="2600" dirty="0"/>
          </a:p>
        </p:txBody>
      </p:sp>
      <p:sp>
        <p:nvSpPr>
          <p:cNvPr id="32" name="S04-dot100"/>
          <p:cNvSpPr/>
          <p:nvPr/>
        </p:nvSpPr>
        <p:spPr>
          <a:xfrm>
            <a:off x="5761177" y="23442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4-dot101"/>
          <p:cNvSpPr/>
          <p:nvPr/>
        </p:nvSpPr>
        <p:spPr>
          <a:xfrm>
            <a:off x="6172657" y="234424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4-dot102"/>
          <p:cNvSpPr/>
          <p:nvPr/>
        </p:nvSpPr>
        <p:spPr>
          <a:xfrm>
            <a:off x="5761177" y="275572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4-dot103"/>
          <p:cNvSpPr/>
          <p:nvPr/>
        </p:nvSpPr>
        <p:spPr>
          <a:xfrm>
            <a:off x="6172657" y="275572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4-dot104"/>
          <p:cNvSpPr/>
          <p:nvPr/>
        </p:nvSpPr>
        <p:spPr>
          <a:xfrm>
            <a:off x="5761177" y="316720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4-dot105"/>
          <p:cNvSpPr/>
          <p:nvPr/>
        </p:nvSpPr>
        <p:spPr>
          <a:xfrm>
            <a:off x="6172657" y="316720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4-dot106"/>
          <p:cNvSpPr/>
          <p:nvPr/>
        </p:nvSpPr>
        <p:spPr>
          <a:xfrm>
            <a:off x="5761177" y="35786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4-dot107"/>
          <p:cNvSpPr/>
          <p:nvPr/>
        </p:nvSpPr>
        <p:spPr>
          <a:xfrm>
            <a:off x="6172657" y="3578682"/>
            <a:ext cx="255118" cy="25511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4-group108"/>
          <p:cNvSpPr/>
          <p:nvPr/>
        </p:nvSpPr>
        <p:spPr>
          <a:xfrm>
            <a:off x="5710428" y="230263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04-group109"/>
          <p:cNvSpPr/>
          <p:nvPr/>
        </p:nvSpPr>
        <p:spPr>
          <a:xfrm>
            <a:off x="5710428" y="271411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4-group110"/>
          <p:cNvSpPr/>
          <p:nvPr/>
        </p:nvSpPr>
        <p:spPr>
          <a:xfrm>
            <a:off x="5710428" y="312559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3" name="S04-group111"/>
          <p:cNvSpPr/>
          <p:nvPr/>
        </p:nvSpPr>
        <p:spPr>
          <a:xfrm>
            <a:off x="5710428" y="3537077"/>
            <a:ext cx="7680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04-figure112" descr="파란 점 2개씩 4묶음, 8개"/>
          <p:cNvSpPr/>
          <p:nvPr/>
        </p:nvSpPr>
        <p:spPr>
          <a:xfrm>
            <a:off x="5682996" y="2266061"/>
            <a:ext cx="8229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04-label113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 = 8</a:t>
            </a:r>
            <a:endParaRPr lang="ko-KR" sz="2600" dirty="0"/>
          </a:p>
        </p:txBody>
      </p:sp>
      <p:sp>
        <p:nvSpPr>
          <p:cNvPr id="46" name="S04-dot114"/>
          <p:cNvSpPr/>
          <p:nvPr/>
        </p:nvSpPr>
        <p:spPr>
          <a:xfrm>
            <a:off x="853638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4-dot115"/>
          <p:cNvSpPr/>
          <p:nvPr/>
        </p:nvSpPr>
        <p:spPr>
          <a:xfrm>
            <a:off x="894786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4-dot116"/>
          <p:cNvSpPr/>
          <p:nvPr/>
        </p:nvSpPr>
        <p:spPr>
          <a:xfrm>
            <a:off x="935934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4-dot117"/>
          <p:cNvSpPr/>
          <p:nvPr/>
        </p:nvSpPr>
        <p:spPr>
          <a:xfrm>
            <a:off x="977082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4-dot118"/>
          <p:cNvSpPr/>
          <p:nvPr/>
        </p:nvSpPr>
        <p:spPr>
          <a:xfrm>
            <a:off x="1018230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4-dot119"/>
          <p:cNvSpPr/>
          <p:nvPr/>
        </p:nvSpPr>
        <p:spPr>
          <a:xfrm>
            <a:off x="1059378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4-dot120"/>
          <p:cNvSpPr/>
          <p:nvPr/>
        </p:nvSpPr>
        <p:spPr>
          <a:xfrm>
            <a:off x="11005261" y="234424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4-dot121"/>
          <p:cNvSpPr/>
          <p:nvPr/>
        </p:nvSpPr>
        <p:spPr>
          <a:xfrm>
            <a:off x="853638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4-dot122"/>
          <p:cNvSpPr/>
          <p:nvPr/>
        </p:nvSpPr>
        <p:spPr>
          <a:xfrm>
            <a:off x="894786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4-dot123"/>
          <p:cNvSpPr/>
          <p:nvPr/>
        </p:nvSpPr>
        <p:spPr>
          <a:xfrm>
            <a:off x="935934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4-dot124"/>
          <p:cNvSpPr/>
          <p:nvPr/>
        </p:nvSpPr>
        <p:spPr>
          <a:xfrm>
            <a:off x="977082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4-dot125"/>
          <p:cNvSpPr/>
          <p:nvPr/>
        </p:nvSpPr>
        <p:spPr>
          <a:xfrm>
            <a:off x="1018230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4-dot126"/>
          <p:cNvSpPr/>
          <p:nvPr/>
        </p:nvSpPr>
        <p:spPr>
          <a:xfrm>
            <a:off x="1059378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4-dot127"/>
          <p:cNvSpPr/>
          <p:nvPr/>
        </p:nvSpPr>
        <p:spPr>
          <a:xfrm>
            <a:off x="11005261" y="275572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4-dot128"/>
          <p:cNvSpPr/>
          <p:nvPr/>
        </p:nvSpPr>
        <p:spPr>
          <a:xfrm>
            <a:off x="853638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4-dot129"/>
          <p:cNvSpPr/>
          <p:nvPr/>
        </p:nvSpPr>
        <p:spPr>
          <a:xfrm>
            <a:off x="894786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4-dot130"/>
          <p:cNvSpPr/>
          <p:nvPr/>
        </p:nvSpPr>
        <p:spPr>
          <a:xfrm>
            <a:off x="935934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4-dot131"/>
          <p:cNvSpPr/>
          <p:nvPr/>
        </p:nvSpPr>
        <p:spPr>
          <a:xfrm>
            <a:off x="977082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4-dot132"/>
          <p:cNvSpPr/>
          <p:nvPr/>
        </p:nvSpPr>
        <p:spPr>
          <a:xfrm>
            <a:off x="1018230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4-dot133"/>
          <p:cNvSpPr/>
          <p:nvPr/>
        </p:nvSpPr>
        <p:spPr>
          <a:xfrm>
            <a:off x="1059378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4-dot134"/>
          <p:cNvSpPr/>
          <p:nvPr/>
        </p:nvSpPr>
        <p:spPr>
          <a:xfrm>
            <a:off x="11005261" y="316720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4-dot135"/>
          <p:cNvSpPr/>
          <p:nvPr/>
        </p:nvSpPr>
        <p:spPr>
          <a:xfrm>
            <a:off x="853638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4-dot136"/>
          <p:cNvSpPr/>
          <p:nvPr/>
        </p:nvSpPr>
        <p:spPr>
          <a:xfrm>
            <a:off x="894786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4-dot137"/>
          <p:cNvSpPr/>
          <p:nvPr/>
        </p:nvSpPr>
        <p:spPr>
          <a:xfrm>
            <a:off x="935934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0" name="S04-dot138"/>
          <p:cNvSpPr/>
          <p:nvPr/>
        </p:nvSpPr>
        <p:spPr>
          <a:xfrm>
            <a:off x="977082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1" name="S04-dot139"/>
          <p:cNvSpPr/>
          <p:nvPr/>
        </p:nvSpPr>
        <p:spPr>
          <a:xfrm>
            <a:off x="1018230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4-dot140"/>
          <p:cNvSpPr/>
          <p:nvPr/>
        </p:nvSpPr>
        <p:spPr>
          <a:xfrm>
            <a:off x="1059378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3" name="S04-dot141"/>
          <p:cNvSpPr/>
          <p:nvPr/>
        </p:nvSpPr>
        <p:spPr>
          <a:xfrm>
            <a:off x="11005261" y="3578682"/>
            <a:ext cx="255118" cy="25511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04-group142"/>
          <p:cNvSpPr/>
          <p:nvPr/>
        </p:nvSpPr>
        <p:spPr>
          <a:xfrm>
            <a:off x="8485632" y="230263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5" name="S04-group143"/>
          <p:cNvSpPr/>
          <p:nvPr/>
        </p:nvSpPr>
        <p:spPr>
          <a:xfrm>
            <a:off x="8485632" y="271411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6" name="S04-group144"/>
          <p:cNvSpPr/>
          <p:nvPr/>
        </p:nvSpPr>
        <p:spPr>
          <a:xfrm>
            <a:off x="8485632" y="312559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7" name="S04-group145"/>
          <p:cNvSpPr/>
          <p:nvPr/>
        </p:nvSpPr>
        <p:spPr>
          <a:xfrm>
            <a:off x="8485632" y="3537077"/>
            <a:ext cx="2825496" cy="338328"/>
          </a:xfrm>
          <a:prstGeom prst="roundRect">
            <a:avLst>
              <a:gd name="adj" fmla="val 324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8" name="S04-figure146" descr="점 7개씩 4묶음, 28개"/>
          <p:cNvSpPr/>
          <p:nvPr/>
        </p:nvSpPr>
        <p:spPr>
          <a:xfrm>
            <a:off x="8458200" y="2266061"/>
            <a:ext cx="288036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04-label147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4 = 28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7단을 완성해요</a:t>
            </a:r>
            <a:endParaRPr lang="ko-KR" sz="4400" dirty="0"/>
          </a:p>
        </p:txBody>
      </p:sp>
      <p:sp>
        <p:nvSpPr>
          <p:cNvPr id="3" name="S05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5단과 2단의 곱을 더해 7단을 채워요.</a:t>
            </a:r>
            <a:endParaRPr lang="ko-KR" sz="3200" dirty="0"/>
          </a:p>
        </p:txBody>
      </p:sp>
      <p:sp>
        <p:nvSpPr>
          <p:cNvPr id="4" name="S05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7단 곱에 7을 더해서 확인해요.</a:t>
            </a:r>
            <a:endParaRPr lang="ko-KR" sz="3200" dirty="0"/>
          </a:p>
        </p:txBody>
      </p:sp>
      <p:graphicFrame>
        <p:nvGraphicFramePr>
          <p:cNvPr id="6" name="S05-table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0952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묶어 세요</a:t>
            </a:r>
            <a:endParaRPr lang="ko-KR" sz="4400" dirty="0"/>
          </a:p>
        </p:txBody>
      </p:sp>
      <p:sp>
        <p:nvSpPr>
          <p:cNvPr id="3" name="S06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3묶음을 10칸 줄에 놓아요.</a:t>
            </a:r>
            <a:endParaRPr lang="ko-KR" sz="3200" dirty="0"/>
          </a:p>
        </p:txBody>
      </p:sp>
      <p:sp>
        <p:nvSpPr>
          <p:cNvPr id="4" name="S06-card15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3 = 27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30칸에서 줄마다 1칸씩 빼요. 30 − 3 = 27</a:t>
            </a:r>
            <a:endParaRPr lang="ko-KR" sz="3200" dirty="0"/>
          </a:p>
        </p:txBody>
      </p:sp>
      <p:sp>
        <p:nvSpPr>
          <p:cNvPr id="6" name="S06-dot155"/>
          <p:cNvSpPr/>
          <p:nvPr/>
        </p:nvSpPr>
        <p:spPr>
          <a:xfrm>
            <a:off x="107396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56"/>
          <p:cNvSpPr/>
          <p:nvPr/>
        </p:nvSpPr>
        <p:spPr>
          <a:xfrm>
            <a:off x="157688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57"/>
          <p:cNvSpPr/>
          <p:nvPr/>
        </p:nvSpPr>
        <p:spPr>
          <a:xfrm>
            <a:off x="207980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58"/>
          <p:cNvSpPr/>
          <p:nvPr/>
        </p:nvSpPr>
        <p:spPr>
          <a:xfrm>
            <a:off x="258272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59"/>
          <p:cNvSpPr/>
          <p:nvPr/>
        </p:nvSpPr>
        <p:spPr>
          <a:xfrm>
            <a:off x="308564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60"/>
          <p:cNvSpPr/>
          <p:nvPr/>
        </p:nvSpPr>
        <p:spPr>
          <a:xfrm>
            <a:off x="358856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61"/>
          <p:cNvSpPr/>
          <p:nvPr/>
        </p:nvSpPr>
        <p:spPr>
          <a:xfrm>
            <a:off x="409148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62"/>
          <p:cNvSpPr/>
          <p:nvPr/>
        </p:nvSpPr>
        <p:spPr>
          <a:xfrm>
            <a:off x="459440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63"/>
          <p:cNvSpPr/>
          <p:nvPr/>
        </p:nvSpPr>
        <p:spPr>
          <a:xfrm>
            <a:off x="5097323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64"/>
          <p:cNvSpPr/>
          <p:nvPr/>
        </p:nvSpPr>
        <p:spPr>
          <a:xfrm>
            <a:off x="107396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65"/>
          <p:cNvSpPr/>
          <p:nvPr/>
        </p:nvSpPr>
        <p:spPr>
          <a:xfrm>
            <a:off x="157688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66"/>
          <p:cNvSpPr/>
          <p:nvPr/>
        </p:nvSpPr>
        <p:spPr>
          <a:xfrm>
            <a:off x="207980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167"/>
          <p:cNvSpPr/>
          <p:nvPr/>
        </p:nvSpPr>
        <p:spPr>
          <a:xfrm>
            <a:off x="258272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168"/>
          <p:cNvSpPr/>
          <p:nvPr/>
        </p:nvSpPr>
        <p:spPr>
          <a:xfrm>
            <a:off x="308564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69"/>
          <p:cNvSpPr/>
          <p:nvPr/>
        </p:nvSpPr>
        <p:spPr>
          <a:xfrm>
            <a:off x="358856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70"/>
          <p:cNvSpPr/>
          <p:nvPr/>
        </p:nvSpPr>
        <p:spPr>
          <a:xfrm>
            <a:off x="409148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71"/>
          <p:cNvSpPr/>
          <p:nvPr/>
        </p:nvSpPr>
        <p:spPr>
          <a:xfrm>
            <a:off x="459440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72"/>
          <p:cNvSpPr/>
          <p:nvPr/>
        </p:nvSpPr>
        <p:spPr>
          <a:xfrm>
            <a:off x="5097323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dot173"/>
          <p:cNvSpPr/>
          <p:nvPr/>
        </p:nvSpPr>
        <p:spPr>
          <a:xfrm>
            <a:off x="107396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74"/>
          <p:cNvSpPr/>
          <p:nvPr/>
        </p:nvSpPr>
        <p:spPr>
          <a:xfrm>
            <a:off x="157688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175"/>
          <p:cNvSpPr/>
          <p:nvPr/>
        </p:nvSpPr>
        <p:spPr>
          <a:xfrm>
            <a:off x="207980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76"/>
          <p:cNvSpPr/>
          <p:nvPr/>
        </p:nvSpPr>
        <p:spPr>
          <a:xfrm>
            <a:off x="258272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77"/>
          <p:cNvSpPr/>
          <p:nvPr/>
        </p:nvSpPr>
        <p:spPr>
          <a:xfrm>
            <a:off x="308564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78"/>
          <p:cNvSpPr/>
          <p:nvPr/>
        </p:nvSpPr>
        <p:spPr>
          <a:xfrm>
            <a:off x="358856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79"/>
          <p:cNvSpPr/>
          <p:nvPr/>
        </p:nvSpPr>
        <p:spPr>
          <a:xfrm>
            <a:off x="409148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80"/>
          <p:cNvSpPr/>
          <p:nvPr/>
        </p:nvSpPr>
        <p:spPr>
          <a:xfrm>
            <a:off x="459440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81"/>
          <p:cNvSpPr/>
          <p:nvPr/>
        </p:nvSpPr>
        <p:spPr>
          <a:xfrm>
            <a:off x="5097323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group182"/>
          <p:cNvSpPr/>
          <p:nvPr/>
        </p:nvSpPr>
        <p:spPr>
          <a:xfrm>
            <a:off x="1005840" y="2371217"/>
            <a:ext cx="44714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6-group183"/>
          <p:cNvSpPr/>
          <p:nvPr/>
        </p:nvSpPr>
        <p:spPr>
          <a:xfrm>
            <a:off x="1005840" y="2874137"/>
            <a:ext cx="44714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06-group184"/>
          <p:cNvSpPr/>
          <p:nvPr/>
        </p:nvSpPr>
        <p:spPr>
          <a:xfrm>
            <a:off x="1005840" y="3377057"/>
            <a:ext cx="447141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6-figure185" descr="점 9개씩 3묶음, 27개"/>
          <p:cNvSpPr/>
          <p:nvPr/>
        </p:nvSpPr>
        <p:spPr>
          <a:xfrm>
            <a:off x="978408" y="2334641"/>
            <a:ext cx="452628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6-label186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3묶음</a:t>
            </a:r>
            <a:endParaRPr lang="ko-KR" sz="2600" dirty="0"/>
          </a:p>
        </p:txBody>
      </p:sp>
      <p:sp>
        <p:nvSpPr>
          <p:cNvPr id="38" name="S06-cell187"/>
          <p:cNvSpPr/>
          <p:nvPr/>
        </p:nvSpPr>
        <p:spPr>
          <a:xfrm>
            <a:off x="6254496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cell188"/>
          <p:cNvSpPr/>
          <p:nvPr/>
        </p:nvSpPr>
        <p:spPr>
          <a:xfrm>
            <a:off x="6793078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cell189"/>
          <p:cNvSpPr/>
          <p:nvPr/>
        </p:nvSpPr>
        <p:spPr>
          <a:xfrm>
            <a:off x="7331659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6-cell190"/>
          <p:cNvSpPr/>
          <p:nvPr/>
        </p:nvSpPr>
        <p:spPr>
          <a:xfrm>
            <a:off x="7870241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6-cell191"/>
          <p:cNvSpPr/>
          <p:nvPr/>
        </p:nvSpPr>
        <p:spPr>
          <a:xfrm>
            <a:off x="8408822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6-cell192"/>
          <p:cNvSpPr/>
          <p:nvPr/>
        </p:nvSpPr>
        <p:spPr>
          <a:xfrm>
            <a:off x="8947404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6-cell193"/>
          <p:cNvSpPr/>
          <p:nvPr/>
        </p:nvSpPr>
        <p:spPr>
          <a:xfrm>
            <a:off x="9485986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6-cell194"/>
          <p:cNvSpPr/>
          <p:nvPr/>
        </p:nvSpPr>
        <p:spPr>
          <a:xfrm>
            <a:off x="10024567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6-cell195"/>
          <p:cNvSpPr/>
          <p:nvPr/>
        </p:nvSpPr>
        <p:spPr>
          <a:xfrm>
            <a:off x="10563149" y="2281149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6-cell196"/>
          <p:cNvSpPr/>
          <p:nvPr/>
        </p:nvSpPr>
        <p:spPr>
          <a:xfrm>
            <a:off x="11101730" y="2281149"/>
            <a:ext cx="538582" cy="53858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6-cell197"/>
          <p:cNvSpPr/>
          <p:nvPr/>
        </p:nvSpPr>
        <p:spPr>
          <a:xfrm>
            <a:off x="6254496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6-cell198"/>
          <p:cNvSpPr/>
          <p:nvPr/>
        </p:nvSpPr>
        <p:spPr>
          <a:xfrm>
            <a:off x="6793078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6-cell199"/>
          <p:cNvSpPr/>
          <p:nvPr/>
        </p:nvSpPr>
        <p:spPr>
          <a:xfrm>
            <a:off x="7331659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6-cell200"/>
          <p:cNvSpPr/>
          <p:nvPr/>
        </p:nvSpPr>
        <p:spPr>
          <a:xfrm>
            <a:off x="7870241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6-cell201"/>
          <p:cNvSpPr/>
          <p:nvPr/>
        </p:nvSpPr>
        <p:spPr>
          <a:xfrm>
            <a:off x="8408822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6-cell202"/>
          <p:cNvSpPr/>
          <p:nvPr/>
        </p:nvSpPr>
        <p:spPr>
          <a:xfrm>
            <a:off x="8947404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06-cell203"/>
          <p:cNvSpPr/>
          <p:nvPr/>
        </p:nvSpPr>
        <p:spPr>
          <a:xfrm>
            <a:off x="9485986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6-cell204"/>
          <p:cNvSpPr/>
          <p:nvPr/>
        </p:nvSpPr>
        <p:spPr>
          <a:xfrm>
            <a:off x="10024567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6-cell205"/>
          <p:cNvSpPr/>
          <p:nvPr/>
        </p:nvSpPr>
        <p:spPr>
          <a:xfrm>
            <a:off x="10563149" y="2819730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6-cell206"/>
          <p:cNvSpPr/>
          <p:nvPr/>
        </p:nvSpPr>
        <p:spPr>
          <a:xfrm>
            <a:off x="11101730" y="2819730"/>
            <a:ext cx="538582" cy="53858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06-cell207"/>
          <p:cNvSpPr/>
          <p:nvPr/>
        </p:nvSpPr>
        <p:spPr>
          <a:xfrm>
            <a:off x="6254496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6-cell208"/>
          <p:cNvSpPr/>
          <p:nvPr/>
        </p:nvSpPr>
        <p:spPr>
          <a:xfrm>
            <a:off x="6793078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6-cell209"/>
          <p:cNvSpPr/>
          <p:nvPr/>
        </p:nvSpPr>
        <p:spPr>
          <a:xfrm>
            <a:off x="7331659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6-cell210"/>
          <p:cNvSpPr/>
          <p:nvPr/>
        </p:nvSpPr>
        <p:spPr>
          <a:xfrm>
            <a:off x="7870241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6-cell211"/>
          <p:cNvSpPr/>
          <p:nvPr/>
        </p:nvSpPr>
        <p:spPr>
          <a:xfrm>
            <a:off x="8408822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6-cell212"/>
          <p:cNvSpPr/>
          <p:nvPr/>
        </p:nvSpPr>
        <p:spPr>
          <a:xfrm>
            <a:off x="8947404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4" name="S06-cell213"/>
          <p:cNvSpPr/>
          <p:nvPr/>
        </p:nvSpPr>
        <p:spPr>
          <a:xfrm>
            <a:off x="9485986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6-cell214"/>
          <p:cNvSpPr/>
          <p:nvPr/>
        </p:nvSpPr>
        <p:spPr>
          <a:xfrm>
            <a:off x="10024567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6" name="S06-cell215"/>
          <p:cNvSpPr/>
          <p:nvPr/>
        </p:nvSpPr>
        <p:spPr>
          <a:xfrm>
            <a:off x="10563149" y="3358312"/>
            <a:ext cx="538582" cy="53858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6-cell216"/>
          <p:cNvSpPr/>
          <p:nvPr/>
        </p:nvSpPr>
        <p:spPr>
          <a:xfrm>
            <a:off x="11101730" y="3358312"/>
            <a:ext cx="538582" cy="53858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06-figure217" descr="10칸씩 3줄 격자에서 줄마다 9칸 색칠, 1칸 빈칸. 색칠 27칸"/>
          <p:cNvSpPr/>
          <p:nvPr/>
        </p:nvSpPr>
        <p:spPr>
          <a:xfrm>
            <a:off x="6254496" y="2281149"/>
            <a:ext cx="5385816" cy="161574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9" name="S06-label218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10칸씩 3줄에 색칠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9씩 뛰어 세요</a:t>
            </a:r>
            <a:endParaRPr lang="ko-KR" sz="4400" dirty="0"/>
          </a:p>
        </p:txBody>
      </p:sp>
      <p:sp>
        <p:nvSpPr>
          <p:cNvPr id="3" name="S07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5는 0에서 9씩 5번 뛰어요.</a:t>
            </a:r>
            <a:endParaRPr lang="ko-KR" sz="3200" dirty="0"/>
          </a:p>
        </p:txBody>
      </p:sp>
      <p:sp>
        <p:nvSpPr>
          <p:cNvPr id="4" name="S07-card220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21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5 = 45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4 = 36보다 9 커요.</a:t>
            </a:r>
            <a:endParaRPr lang="ko-KR" sz="3200" dirty="0"/>
          </a:p>
        </p:txBody>
      </p:sp>
      <p:sp>
        <p:nvSpPr>
          <p:cNvPr id="6" name="S07-line222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23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24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25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26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1" name="S07-line227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28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13" name="S07-line229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30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2600" dirty="0"/>
          </a:p>
        </p:txBody>
      </p:sp>
      <p:sp>
        <p:nvSpPr>
          <p:cNvPr id="15" name="S07-line231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32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600" dirty="0"/>
          </a:p>
        </p:txBody>
      </p:sp>
      <p:sp>
        <p:nvSpPr>
          <p:cNvPr id="17" name="S07-line233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34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600" dirty="0"/>
          </a:p>
        </p:txBody>
      </p:sp>
      <p:sp>
        <p:nvSpPr>
          <p:cNvPr id="19" name="S07-line235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36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2600" dirty="0"/>
          </a:p>
        </p:txBody>
      </p:sp>
      <p:sp>
        <p:nvSpPr>
          <p:cNvPr id="21" name="S07-line237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38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2600" dirty="0"/>
          </a:p>
        </p:txBody>
      </p:sp>
      <p:sp>
        <p:nvSpPr>
          <p:cNvPr id="23" name="S07-line239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40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2600" dirty="0"/>
          </a:p>
        </p:txBody>
      </p:sp>
      <p:sp>
        <p:nvSpPr>
          <p:cNvPr id="25" name="S07-line241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42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</a:t>
            </a:r>
            <a:endParaRPr lang="ko-KR" sz="2600" dirty="0"/>
          </a:p>
        </p:txBody>
      </p:sp>
      <p:sp>
        <p:nvSpPr>
          <p:cNvPr id="27" name="S07-mark243"/>
          <p:cNvSpPr/>
          <p:nvPr/>
        </p:nvSpPr>
        <p:spPr>
          <a:xfrm>
            <a:off x="657352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44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45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46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47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48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49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50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51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52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53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54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55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line256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257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258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43" name="S07-figure259" descr="0부터 81까지 9씩 눈금이 있는 수직선에서 0부터 9씩 5번 뛰어 45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9단의 규칙</a:t>
            </a:r>
            <a:endParaRPr lang="ko-KR" sz="4400" dirty="0"/>
          </a:p>
        </p:txBody>
      </p:sp>
      <p:sp>
        <p:nvSpPr>
          <p:cNvPr id="3" name="S08-text2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채우고 곱의 두 자리를 봐요.</a:t>
            </a:r>
            <a:endParaRPr lang="ko-KR" sz="3200" dirty="0"/>
          </a:p>
        </p:txBody>
      </p:sp>
      <p:sp>
        <p:nvSpPr>
          <p:cNvPr id="4" name="S08-card2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자리와 일의 자리는 어떻게 바뀌나요?</a:t>
            </a:r>
            <a:endParaRPr lang="ko-KR" sz="3200" dirty="0"/>
          </a:p>
        </p:txBody>
      </p:sp>
      <p:graphicFrame>
        <p:nvGraphicFramePr>
          <p:cNvPr id="9" name="S08-table2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78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곱셈으로 풀어요</a:t>
            </a:r>
            <a:endParaRPr lang="ko-KR" sz="4400" dirty="0"/>
          </a:p>
        </p:txBody>
      </p:sp>
      <p:sp>
        <p:nvSpPr>
          <p:cNvPr id="3" name="S09-text26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야구는 한 팀이 9명이에요. 4팀은 몇 명?</a:t>
            </a:r>
            <a:endParaRPr lang="ko-KR" sz="3200" dirty="0"/>
          </a:p>
        </p:txBody>
      </p:sp>
      <p:sp>
        <p:nvSpPr>
          <p:cNvPr id="4" name="S09-stepno265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9-text266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몇 명? 9명</a:t>
            </a:r>
            <a:endParaRPr lang="ko-KR" sz="3200" dirty="0"/>
          </a:p>
        </p:txBody>
      </p:sp>
      <p:sp>
        <p:nvSpPr>
          <p:cNvPr id="6" name="S09-stepno267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9-text268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묶음? 4팀</a:t>
            </a:r>
            <a:endParaRPr lang="ko-KR" sz="3200" dirty="0"/>
          </a:p>
        </p:txBody>
      </p:sp>
      <p:sp>
        <p:nvSpPr>
          <p:cNvPr id="8" name="S09-stepno269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9-text270"/>
          <p:cNvSpPr txBox="1"/>
          <p:nvPr/>
        </p:nvSpPr>
        <p:spPr>
          <a:xfrm>
            <a:off x="1325880" y="4494276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써요.</a:t>
            </a:r>
            <a:endParaRPr lang="ko-KR" sz="3200" dirty="0"/>
          </a:p>
        </p:txBody>
      </p:sp>
      <p:sp>
        <p:nvSpPr>
          <p:cNvPr id="10" name="S09-eqtext271"/>
          <p:cNvSpPr txBox="1"/>
          <p:nvPr/>
        </p:nvSpPr>
        <p:spPr>
          <a:xfrm>
            <a:off x="6981810" y="4494276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4 = 36</a:t>
            </a:r>
            <a:endParaRPr lang="ko-KR" sz="3200" dirty="0"/>
          </a:p>
        </p:txBody>
      </p:sp>
      <p:sp>
        <p:nvSpPr>
          <p:cNvPr id="11" name="S09-stepno272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273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36명이에요.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곱셈</a:t>
            </a:r>
            <a:endParaRPr lang="ko-KR" sz="4400" dirty="0"/>
          </a:p>
        </p:txBody>
      </p:sp>
      <p:sp>
        <p:nvSpPr>
          <p:cNvPr id="3" name="S10-text2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곱셈식을 말하고 답을 구해요.</a:t>
            </a:r>
            <a:endParaRPr lang="ko-KR" sz="3200" dirty="0"/>
          </a:p>
        </p:txBody>
      </p:sp>
      <p:sp>
        <p:nvSpPr>
          <p:cNvPr id="4" name="S10-card2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몇? 몇 묶음?</a:t>
            </a:r>
            <a:endParaRPr lang="ko-KR" sz="3200" dirty="0"/>
          </a:p>
        </p:txBody>
      </p:sp>
      <p:sp>
        <p:nvSpPr>
          <p:cNvPr id="6" name="S10-chip27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27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2주는 며칠일까요?</a:t>
            </a:r>
            <a:endParaRPr lang="ko-KR" sz="3200" dirty="0"/>
          </a:p>
        </p:txBody>
      </p:sp>
      <p:sp>
        <p:nvSpPr>
          <p:cNvPr id="8" name="S10-chip27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28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야구 3팀은 모두 몇 명일까요?</a:t>
            </a:r>
            <a:endParaRPr lang="ko-KR" sz="3200" dirty="0"/>
          </a:p>
        </p:txBody>
      </p:sp>
      <p:sp>
        <p:nvSpPr>
          <p:cNvPr id="10" name="S10-chip28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28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7개씩 5봉지는 몇 개일까요?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1-card2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4를 10칸씩 4줄(40칸)로 구했어요.</a:t>
            </a:r>
            <a:endParaRPr lang="ko-KR" sz="3200" dirty="0"/>
          </a:p>
        </p:txBody>
      </p:sp>
      <p:sp>
        <p:nvSpPr>
          <p:cNvPr id="5" name="S11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1-chip28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39</a:t>
            </a:r>
            <a:endParaRPr lang="ko-KR" sz="2600" dirty="0"/>
          </a:p>
        </p:txBody>
      </p:sp>
      <p:sp>
        <p:nvSpPr>
          <p:cNvPr id="8" name="S11-text28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“1칸 적으니까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40 − 1 = 39예요.”</a:t>
            </a:r>
            <a:endParaRPr lang="ko-KR" sz="3200" dirty="0"/>
          </a:p>
        </p:txBody>
      </p:sp>
      <p:sp>
        <p:nvSpPr>
          <p:cNvPr id="9" name="S11-chip2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36</a:t>
            </a:r>
            <a:endParaRPr lang="ko-KR" sz="2600" dirty="0"/>
          </a:p>
        </p:txBody>
      </p:sp>
      <p:sp>
        <p:nvSpPr>
          <p:cNvPr id="10" name="S11-cell290"/>
          <p:cNvSpPr/>
          <p:nvPr/>
        </p:nvSpPr>
        <p:spPr>
          <a:xfrm>
            <a:off x="713003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cell291"/>
          <p:cNvSpPr/>
          <p:nvPr/>
        </p:nvSpPr>
        <p:spPr>
          <a:xfrm>
            <a:off x="749579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1-cell292"/>
          <p:cNvSpPr/>
          <p:nvPr/>
        </p:nvSpPr>
        <p:spPr>
          <a:xfrm>
            <a:off x="786155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cell293"/>
          <p:cNvSpPr/>
          <p:nvPr/>
        </p:nvSpPr>
        <p:spPr>
          <a:xfrm>
            <a:off x="822731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cell294"/>
          <p:cNvSpPr/>
          <p:nvPr/>
        </p:nvSpPr>
        <p:spPr>
          <a:xfrm>
            <a:off x="859307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cell295"/>
          <p:cNvSpPr/>
          <p:nvPr/>
        </p:nvSpPr>
        <p:spPr>
          <a:xfrm>
            <a:off x="895883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cell296"/>
          <p:cNvSpPr/>
          <p:nvPr/>
        </p:nvSpPr>
        <p:spPr>
          <a:xfrm>
            <a:off x="932459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cell297"/>
          <p:cNvSpPr/>
          <p:nvPr/>
        </p:nvSpPr>
        <p:spPr>
          <a:xfrm>
            <a:off x="969035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1-cell298"/>
          <p:cNvSpPr/>
          <p:nvPr/>
        </p:nvSpPr>
        <p:spPr>
          <a:xfrm>
            <a:off x="10056114" y="315899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cell299"/>
          <p:cNvSpPr/>
          <p:nvPr/>
        </p:nvSpPr>
        <p:spPr>
          <a:xfrm>
            <a:off x="10421874" y="315899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cell300"/>
          <p:cNvSpPr/>
          <p:nvPr/>
        </p:nvSpPr>
        <p:spPr>
          <a:xfrm>
            <a:off x="713003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cell301"/>
          <p:cNvSpPr/>
          <p:nvPr/>
        </p:nvSpPr>
        <p:spPr>
          <a:xfrm>
            <a:off x="749579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cell302"/>
          <p:cNvSpPr/>
          <p:nvPr/>
        </p:nvSpPr>
        <p:spPr>
          <a:xfrm>
            <a:off x="786155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1-cell303"/>
          <p:cNvSpPr/>
          <p:nvPr/>
        </p:nvSpPr>
        <p:spPr>
          <a:xfrm>
            <a:off x="822731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1-cell304"/>
          <p:cNvSpPr/>
          <p:nvPr/>
        </p:nvSpPr>
        <p:spPr>
          <a:xfrm>
            <a:off x="859307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1-cell305"/>
          <p:cNvSpPr/>
          <p:nvPr/>
        </p:nvSpPr>
        <p:spPr>
          <a:xfrm>
            <a:off x="895883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1-cell306"/>
          <p:cNvSpPr/>
          <p:nvPr/>
        </p:nvSpPr>
        <p:spPr>
          <a:xfrm>
            <a:off x="932459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1-cell307"/>
          <p:cNvSpPr/>
          <p:nvPr/>
        </p:nvSpPr>
        <p:spPr>
          <a:xfrm>
            <a:off x="969035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1-cell308"/>
          <p:cNvSpPr/>
          <p:nvPr/>
        </p:nvSpPr>
        <p:spPr>
          <a:xfrm>
            <a:off x="10056114" y="352475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1-cell309"/>
          <p:cNvSpPr/>
          <p:nvPr/>
        </p:nvSpPr>
        <p:spPr>
          <a:xfrm>
            <a:off x="10421874" y="352475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1-cell310"/>
          <p:cNvSpPr/>
          <p:nvPr/>
        </p:nvSpPr>
        <p:spPr>
          <a:xfrm>
            <a:off x="713003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1-cell311"/>
          <p:cNvSpPr/>
          <p:nvPr/>
        </p:nvSpPr>
        <p:spPr>
          <a:xfrm>
            <a:off x="749579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1-cell312"/>
          <p:cNvSpPr/>
          <p:nvPr/>
        </p:nvSpPr>
        <p:spPr>
          <a:xfrm>
            <a:off x="786155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1-cell313"/>
          <p:cNvSpPr/>
          <p:nvPr/>
        </p:nvSpPr>
        <p:spPr>
          <a:xfrm>
            <a:off x="822731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1-cell314"/>
          <p:cNvSpPr/>
          <p:nvPr/>
        </p:nvSpPr>
        <p:spPr>
          <a:xfrm>
            <a:off x="859307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1-cell315"/>
          <p:cNvSpPr/>
          <p:nvPr/>
        </p:nvSpPr>
        <p:spPr>
          <a:xfrm>
            <a:off x="895883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1-cell316"/>
          <p:cNvSpPr/>
          <p:nvPr/>
        </p:nvSpPr>
        <p:spPr>
          <a:xfrm>
            <a:off x="932459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1-cell317"/>
          <p:cNvSpPr/>
          <p:nvPr/>
        </p:nvSpPr>
        <p:spPr>
          <a:xfrm>
            <a:off x="969035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1-cell318"/>
          <p:cNvSpPr/>
          <p:nvPr/>
        </p:nvSpPr>
        <p:spPr>
          <a:xfrm>
            <a:off x="10056114" y="389051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1-cell319"/>
          <p:cNvSpPr/>
          <p:nvPr/>
        </p:nvSpPr>
        <p:spPr>
          <a:xfrm>
            <a:off x="10421874" y="389051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1-cell320"/>
          <p:cNvSpPr/>
          <p:nvPr/>
        </p:nvSpPr>
        <p:spPr>
          <a:xfrm>
            <a:off x="713003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1-cell321"/>
          <p:cNvSpPr/>
          <p:nvPr/>
        </p:nvSpPr>
        <p:spPr>
          <a:xfrm>
            <a:off x="749579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1-cell322"/>
          <p:cNvSpPr/>
          <p:nvPr/>
        </p:nvSpPr>
        <p:spPr>
          <a:xfrm>
            <a:off x="786155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1-cell323"/>
          <p:cNvSpPr/>
          <p:nvPr/>
        </p:nvSpPr>
        <p:spPr>
          <a:xfrm>
            <a:off x="822731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1-cell324"/>
          <p:cNvSpPr/>
          <p:nvPr/>
        </p:nvSpPr>
        <p:spPr>
          <a:xfrm>
            <a:off x="859307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1-cell325"/>
          <p:cNvSpPr/>
          <p:nvPr/>
        </p:nvSpPr>
        <p:spPr>
          <a:xfrm>
            <a:off x="895883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1-cell326"/>
          <p:cNvSpPr/>
          <p:nvPr/>
        </p:nvSpPr>
        <p:spPr>
          <a:xfrm>
            <a:off x="932459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1-cell327"/>
          <p:cNvSpPr/>
          <p:nvPr/>
        </p:nvSpPr>
        <p:spPr>
          <a:xfrm>
            <a:off x="969035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1-cell328"/>
          <p:cNvSpPr/>
          <p:nvPr/>
        </p:nvSpPr>
        <p:spPr>
          <a:xfrm>
            <a:off x="10056114" y="4256278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1-cell329"/>
          <p:cNvSpPr/>
          <p:nvPr/>
        </p:nvSpPr>
        <p:spPr>
          <a:xfrm>
            <a:off x="10421874" y="4256278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1-figure330" descr="10칸씩 4줄 격자에서 줄마다 9칸 색칠, 색칠 36칸"/>
          <p:cNvSpPr/>
          <p:nvPr/>
        </p:nvSpPr>
        <p:spPr>
          <a:xfrm>
            <a:off x="7130034" y="3158998"/>
            <a:ext cx="36576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1" name="S11-text331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“줄마다 1칸씩: 40 − 4”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2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2-chip33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2-eqtext33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8 = □</a:t>
            </a:r>
            <a:endParaRPr lang="ko-KR" sz="3600" dirty="0"/>
          </a:p>
        </p:txBody>
      </p:sp>
      <p:sp>
        <p:nvSpPr>
          <p:cNvPr id="6" name="S12-chip33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2-eqtext33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6 = □</a:t>
            </a:r>
            <a:endParaRPr lang="ko-KR" sz="3600" dirty="0"/>
          </a:p>
        </p:txBody>
      </p:sp>
      <p:sp>
        <p:nvSpPr>
          <p:cNvPr id="8" name="S12-chip33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2-text338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9명씩 8줄은 몇 명?</a:t>
            </a:r>
            <a:endParaRPr lang="ko-KR" sz="3200" dirty="0"/>
          </a:p>
        </p:txBody>
      </p:sp>
      <p:sp>
        <p:nvSpPr>
          <p:cNvPr id="10" name="S12-chip339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2-text340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6주는 며칠?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3-card3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3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그림이나 바둑돌로 다시 구하게 하세요.</a:t>
            </a:r>
            <a:endParaRPr lang="ko-KR" sz="3200" dirty="0"/>
          </a:p>
        </p:txBody>
      </p:sp>
      <p:sp>
        <p:nvSpPr>
          <p:cNvPr id="5" name="S13-chip34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3-text34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56  ② 54</a:t>
            </a:r>
            <a:endParaRPr lang="ko-KR" sz="3200" dirty="0"/>
          </a:p>
        </p:txBody>
      </p:sp>
      <p:sp>
        <p:nvSpPr>
          <p:cNvPr id="7" name="S13-text34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+ 16, 60 − 6</a:t>
            </a:r>
            <a:endParaRPr lang="ko-KR" sz="2600" dirty="0"/>
          </a:p>
        </p:txBody>
      </p:sp>
      <p:sp>
        <p:nvSpPr>
          <p:cNvPr id="8" name="S13-text34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 × 8 = 72</a:t>
            </a:r>
            <a:endParaRPr lang="ko-KR" sz="3200" dirty="0"/>
          </a:p>
        </p:txBody>
      </p:sp>
      <p:sp>
        <p:nvSpPr>
          <p:cNvPr id="9" name="S13-text34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72명</a:t>
            </a:r>
            <a:endParaRPr lang="ko-KR" sz="2600" dirty="0"/>
          </a:p>
        </p:txBody>
      </p:sp>
      <p:sp>
        <p:nvSpPr>
          <p:cNvPr id="10" name="S13-text34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7 × 6 = 42</a:t>
            </a:r>
            <a:endParaRPr lang="ko-KR" sz="3200" dirty="0"/>
          </a:p>
        </p:txBody>
      </p:sp>
      <p:sp>
        <p:nvSpPr>
          <p:cNvPr id="11" name="S13-text34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42일</a:t>
            </a:r>
            <a:endParaRPr lang="ko-KR" sz="2600" dirty="0"/>
          </a:p>
        </p:txBody>
      </p:sp>
      <p:sp>
        <p:nvSpPr>
          <p:cNvPr id="12" name="S13-chip35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3-text35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59</a:t>
            </a:r>
            <a:endParaRPr lang="ko-KR" sz="3200" dirty="0"/>
          </a:p>
        </p:txBody>
      </p:sp>
      <p:sp>
        <p:nvSpPr>
          <p:cNvPr id="14" name="S13-text35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1칸만 뺌</a:t>
            </a:r>
            <a:endParaRPr lang="ko-KR" sz="2600" dirty="0"/>
          </a:p>
        </p:txBody>
      </p:sp>
      <p:sp>
        <p:nvSpPr>
          <p:cNvPr id="15" name="S13-text35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17</a:t>
            </a:r>
            <a:endParaRPr lang="ko-KR" sz="3200" dirty="0"/>
          </a:p>
        </p:txBody>
      </p:sp>
      <p:sp>
        <p:nvSpPr>
          <p:cNvPr id="16" name="S13-text35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9와 8을 더함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식은?</a:t>
            </a:r>
            <a:endParaRPr lang="ko-KR" sz="4400" dirty="0"/>
          </a:p>
        </p:txBody>
      </p:sp>
      <p:sp>
        <p:nvSpPr>
          <p:cNvPr id="3" name="S14-text3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공책이 한 묶음에 7권씩, 9묶음 있어요.</a:t>
            </a:r>
            <a:endParaRPr lang="ko-KR" sz="3200" dirty="0"/>
          </a:p>
        </p:txBody>
      </p:sp>
      <p:sp>
        <p:nvSpPr>
          <p:cNvPr id="4" name="S14-card3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3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고르고, 모두 몇 권인지 말해요.</a:t>
            </a:r>
            <a:endParaRPr lang="ko-KR" sz="3200" dirty="0"/>
          </a:p>
        </p:txBody>
      </p:sp>
      <p:sp>
        <p:nvSpPr>
          <p:cNvPr id="6" name="S14-chip35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4-card35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36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+ 9</a:t>
            </a:r>
            <a:endParaRPr lang="ko-KR" sz="3200" dirty="0"/>
          </a:p>
        </p:txBody>
      </p:sp>
      <p:sp>
        <p:nvSpPr>
          <p:cNvPr id="9" name="S14-chip3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4-card36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36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9</a:t>
            </a:r>
            <a:endParaRPr lang="ko-KR" sz="3200" dirty="0"/>
          </a:p>
        </p:txBody>
      </p:sp>
      <p:sp>
        <p:nvSpPr>
          <p:cNvPr id="12" name="S14-chip36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4-card36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4-cardtext36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9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5-card3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3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곱은 아는 곱으로 나누어 구해요.</a:t>
            </a:r>
            <a:endParaRPr lang="ko-KR" sz="3200" dirty="0"/>
          </a:p>
        </p:txBody>
      </p:sp>
      <p:sp>
        <p:nvSpPr>
          <p:cNvPr id="5" name="S15-chip36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묶음에 몇? 몇 묶음?</a:t>
            </a:r>
            <a:endParaRPr lang="ko-KR" sz="2600" dirty="0"/>
          </a:p>
        </p:txBody>
      </p:sp>
      <p:sp>
        <p:nvSpPr>
          <p:cNvPr id="6" name="S15-chip37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9단에서 1만 빼기</a:t>
            </a:r>
            <a:endParaRPr lang="ko-KR" sz="2600" dirty="0"/>
          </a:p>
        </p:txBody>
      </p:sp>
      <p:sp>
        <p:nvSpPr>
          <p:cNvPr id="7" name="S15-text37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5-eqtext37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 × 7 = □</a:t>
            </a:r>
            <a:endParaRPr lang="ko-KR" sz="3000" dirty="0"/>
          </a:p>
        </p:txBody>
      </p:sp>
      <p:sp>
        <p:nvSpPr>
          <p:cNvPr id="9" name="S15-eqtext37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 × 4 = □</a:t>
            </a:r>
            <a:endParaRPr lang="ko-KR" sz="3000" dirty="0"/>
          </a:p>
        </p:txBody>
      </p:sp>
      <p:sp>
        <p:nvSpPr>
          <p:cNvPr id="10" name="S15-eqtext37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 × 9 = □</a:t>
            </a:r>
            <a:endParaRPr lang="ko-KR" sz="3000" dirty="0"/>
          </a:p>
        </p:txBody>
      </p:sp>
      <p:sp>
        <p:nvSpPr>
          <p:cNvPr id="11" name="S15-text37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1과 0의 곱, 곱셈표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5씩, 2씩</a:t>
            </a:r>
            <a:endParaRPr lang="ko-KR" sz="4400" dirty="0"/>
          </a:p>
        </p:txBody>
      </p:sp>
      <p:sp>
        <p:nvSpPr>
          <p:cNvPr id="3" name="S16-text3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4번, 2씩 4번 뛰어 세어요.</a:t>
            </a:r>
            <a:endParaRPr lang="ko-KR" sz="3200" dirty="0"/>
          </a:p>
        </p:txBody>
      </p:sp>
      <p:sp>
        <p:nvSpPr>
          <p:cNvPr id="4" name="S16-card37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37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 = 20, 2 × 4 =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더하면 7 × 4 = 28이에요.</a:t>
            </a:r>
            <a:endParaRPr lang="ko-KR" sz="3200" dirty="0"/>
          </a:p>
        </p:txBody>
      </p:sp>
      <p:sp>
        <p:nvSpPr>
          <p:cNvPr id="6" name="S16-line379"/>
          <p:cNvSpPr/>
          <p:nvPr/>
        </p:nvSpPr>
        <p:spPr>
          <a:xfrm>
            <a:off x="685800" y="3347583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6-line380"/>
          <p:cNvSpPr/>
          <p:nvPr/>
        </p:nvSpPr>
        <p:spPr>
          <a:xfrm>
            <a:off x="96012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6-label381"/>
          <p:cNvSpPr txBox="1"/>
          <p:nvPr/>
        </p:nvSpPr>
        <p:spPr>
          <a:xfrm>
            <a:off x="502920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16-line382"/>
          <p:cNvSpPr/>
          <p:nvPr/>
        </p:nvSpPr>
        <p:spPr>
          <a:xfrm>
            <a:off x="2100834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6-label383"/>
          <p:cNvSpPr txBox="1"/>
          <p:nvPr/>
        </p:nvSpPr>
        <p:spPr>
          <a:xfrm>
            <a:off x="1643634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1" name="S16-line384"/>
          <p:cNvSpPr/>
          <p:nvPr/>
        </p:nvSpPr>
        <p:spPr>
          <a:xfrm>
            <a:off x="324154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6-label385"/>
          <p:cNvSpPr txBox="1"/>
          <p:nvPr/>
        </p:nvSpPr>
        <p:spPr>
          <a:xfrm>
            <a:off x="2784348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16-line386"/>
          <p:cNvSpPr/>
          <p:nvPr/>
        </p:nvSpPr>
        <p:spPr>
          <a:xfrm>
            <a:off x="438226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6-label387"/>
          <p:cNvSpPr txBox="1"/>
          <p:nvPr/>
        </p:nvSpPr>
        <p:spPr>
          <a:xfrm>
            <a:off x="3925062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15" name="S16-line388"/>
          <p:cNvSpPr/>
          <p:nvPr/>
        </p:nvSpPr>
        <p:spPr>
          <a:xfrm>
            <a:off x="552297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6-label389"/>
          <p:cNvSpPr txBox="1"/>
          <p:nvPr/>
        </p:nvSpPr>
        <p:spPr>
          <a:xfrm>
            <a:off x="5065776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7" name="S16-mark390"/>
          <p:cNvSpPr/>
          <p:nvPr/>
        </p:nvSpPr>
        <p:spPr>
          <a:xfrm>
            <a:off x="5431536" y="32561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18" name="S16-line391"/>
          <p:cNvSpPr/>
          <p:nvPr/>
        </p:nvSpPr>
        <p:spPr>
          <a:xfrm flipV="1">
            <a:off x="960120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19" name="S16-line392"/>
          <p:cNvSpPr/>
          <p:nvPr/>
        </p:nvSpPr>
        <p:spPr>
          <a:xfrm>
            <a:off x="960120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16-line393"/>
          <p:cNvSpPr/>
          <p:nvPr/>
        </p:nvSpPr>
        <p:spPr>
          <a:xfrm flipV="1">
            <a:off x="2100834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1" name="S16-line394"/>
          <p:cNvSpPr/>
          <p:nvPr/>
        </p:nvSpPr>
        <p:spPr>
          <a:xfrm>
            <a:off x="2100834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16-line395"/>
          <p:cNvSpPr/>
          <p:nvPr/>
        </p:nvSpPr>
        <p:spPr>
          <a:xfrm flipV="1">
            <a:off x="3241548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3" name="S16-line396"/>
          <p:cNvSpPr/>
          <p:nvPr/>
        </p:nvSpPr>
        <p:spPr>
          <a:xfrm>
            <a:off x="3241548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4" name="S16-line397"/>
          <p:cNvSpPr/>
          <p:nvPr/>
        </p:nvSpPr>
        <p:spPr>
          <a:xfrm flipV="1">
            <a:off x="4382262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5" name="S16-line398"/>
          <p:cNvSpPr/>
          <p:nvPr/>
        </p:nvSpPr>
        <p:spPr>
          <a:xfrm>
            <a:off x="4382262" y="2963535"/>
            <a:ext cx="114071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6" name="S16-figure399" descr="0부터 20까지 5씩 눈금 수직선에서 5씩 4번 뛰어 20에 닿는 화살표"/>
          <p:cNvSpPr/>
          <p:nvPr/>
        </p:nvSpPr>
        <p:spPr>
          <a:xfrm>
            <a:off x="685800" y="3164703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16-label400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2600" dirty="0"/>
          </a:p>
        </p:txBody>
      </p:sp>
      <p:sp>
        <p:nvSpPr>
          <p:cNvPr id="28" name="S16-line401"/>
          <p:cNvSpPr/>
          <p:nvPr/>
        </p:nvSpPr>
        <p:spPr>
          <a:xfrm>
            <a:off x="6391656" y="3347583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9" name="S16-line402"/>
          <p:cNvSpPr/>
          <p:nvPr/>
        </p:nvSpPr>
        <p:spPr>
          <a:xfrm>
            <a:off x="666597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6-label403"/>
          <p:cNvSpPr txBox="1"/>
          <p:nvPr/>
        </p:nvSpPr>
        <p:spPr>
          <a:xfrm>
            <a:off x="6208776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31" name="S16-line404"/>
          <p:cNvSpPr/>
          <p:nvPr/>
        </p:nvSpPr>
        <p:spPr>
          <a:xfrm>
            <a:off x="7578547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6-label405"/>
          <p:cNvSpPr txBox="1"/>
          <p:nvPr/>
        </p:nvSpPr>
        <p:spPr>
          <a:xfrm>
            <a:off x="7121347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3" name="S16-line406"/>
          <p:cNvSpPr/>
          <p:nvPr/>
        </p:nvSpPr>
        <p:spPr>
          <a:xfrm>
            <a:off x="849111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6-label407"/>
          <p:cNvSpPr txBox="1"/>
          <p:nvPr/>
        </p:nvSpPr>
        <p:spPr>
          <a:xfrm>
            <a:off x="8033918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5" name="S16-line408"/>
          <p:cNvSpPr/>
          <p:nvPr/>
        </p:nvSpPr>
        <p:spPr>
          <a:xfrm>
            <a:off x="940369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6-label409"/>
          <p:cNvSpPr txBox="1"/>
          <p:nvPr/>
        </p:nvSpPr>
        <p:spPr>
          <a:xfrm>
            <a:off x="8946490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37" name="S16-line410"/>
          <p:cNvSpPr/>
          <p:nvPr/>
        </p:nvSpPr>
        <p:spPr>
          <a:xfrm>
            <a:off x="10316261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6-label411"/>
          <p:cNvSpPr txBox="1"/>
          <p:nvPr/>
        </p:nvSpPr>
        <p:spPr>
          <a:xfrm>
            <a:off x="9859061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9" name="S16-line412"/>
          <p:cNvSpPr/>
          <p:nvPr/>
        </p:nvSpPr>
        <p:spPr>
          <a:xfrm>
            <a:off x="1122883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6-label413"/>
          <p:cNvSpPr txBox="1"/>
          <p:nvPr/>
        </p:nvSpPr>
        <p:spPr>
          <a:xfrm>
            <a:off x="10771632" y="3530463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41" name="S16-mark414"/>
          <p:cNvSpPr/>
          <p:nvPr/>
        </p:nvSpPr>
        <p:spPr>
          <a:xfrm>
            <a:off x="10224821" y="32561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2" name="S16-line415"/>
          <p:cNvSpPr/>
          <p:nvPr/>
        </p:nvSpPr>
        <p:spPr>
          <a:xfrm flipV="1">
            <a:off x="6665976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3" name="S16-line416"/>
          <p:cNvSpPr/>
          <p:nvPr/>
        </p:nvSpPr>
        <p:spPr>
          <a:xfrm>
            <a:off x="6665976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4" name="S16-line417"/>
          <p:cNvSpPr/>
          <p:nvPr/>
        </p:nvSpPr>
        <p:spPr>
          <a:xfrm flipV="1">
            <a:off x="7578547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16-line418"/>
          <p:cNvSpPr/>
          <p:nvPr/>
        </p:nvSpPr>
        <p:spPr>
          <a:xfrm>
            <a:off x="7578547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16-line419"/>
          <p:cNvSpPr/>
          <p:nvPr/>
        </p:nvSpPr>
        <p:spPr>
          <a:xfrm flipV="1">
            <a:off x="8491118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16-line420"/>
          <p:cNvSpPr/>
          <p:nvPr/>
        </p:nvSpPr>
        <p:spPr>
          <a:xfrm>
            <a:off x="8491118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16-line421"/>
          <p:cNvSpPr/>
          <p:nvPr/>
        </p:nvSpPr>
        <p:spPr>
          <a:xfrm flipV="1">
            <a:off x="9403690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9" name="S16-line422"/>
          <p:cNvSpPr/>
          <p:nvPr/>
        </p:nvSpPr>
        <p:spPr>
          <a:xfrm>
            <a:off x="9403690" y="2963535"/>
            <a:ext cx="9125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0" name="S16-figure423" descr="0부터 10까지 2씩 눈금 수직선에서 2씩 4번 뛰어 8에 닿는 화살표"/>
          <p:cNvSpPr/>
          <p:nvPr/>
        </p:nvSpPr>
        <p:spPr>
          <a:xfrm>
            <a:off x="6391656" y="3164703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16-label424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7단과 9단</dc:title>
  <dc:subject>KR22-G02-MAT-TIMES79-L01</dc:subject>
  <dc:creator>education-ppt</dc:creator>
  <cp:lastModifiedBy>education-ppt</cp:lastModifiedBy>
  <cp:revision>1</cp:revision>
  <dcterms:created xsi:type="dcterms:W3CDTF">2026-10-26T06:56:57Z</dcterms:created>
  <dcterms:modified xsi:type="dcterms:W3CDTF">2026-10-26T06:56:57Z</dcterms:modified>
</cp:coreProperties>
</file>