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5ec00f6-3799-40f6-691b-7bdba87cf970}">
          <p14:sldIdLst>
            <p14:sldId id="256"/>
            <p14:sldId id="257"/>
          </p14:sldIdLst>
        </p14:section>
        <p14:section name="개념" id="{41a4f22d-1526-8513-13a2-0dd2d0ccac34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b1b5d325-2728-109b-6224-4ff02de33b7e}">
          <p14:sldIdLst>
            <p14:sldId id="263"/>
            <p14:sldId id="264"/>
            <p14:sldId id="265"/>
          </p14:sldIdLst>
        </p14:section>
        <p14:section name="확인" id="{236a1a0d-1e88-cd65-a924-d12a716cebb4}">
          <p14:sldIdLst>
            <p14:sldId id="266"/>
            <p14:sldId id="267"/>
          </p14:sldIdLst>
        </p14:section>
        <p14:section name="정리" id="{b153f766-5c35-8128-99b9-c0accb8ea29e}">
          <p14:sldIdLst>
            <p14:sldId id="268"/>
          </p14:sldIdLst>
        </p14:section>
        <p14:section name="보충" id="{c235a2f9-5c10-531c-3bff-0b8e76cdc42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11차시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1과 0의 곱, 곱셈표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1과 0의 곱, 곱셈표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1과 0의 곱, 곱셈표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0의 곱, 곱셈표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접시가 모두 비면 곱은 얼마일까?</a:t>
            </a:r>
            <a:endParaRPr lang="ko-KR" sz="3200" dirty="0"/>
          </a:p>
        </p:txBody>
      </p:sp>
      <p:sp>
        <p:nvSpPr>
          <p:cNvPr id="4" name="S01-group1"/>
          <p:cNvSpPr/>
          <p:nvPr/>
        </p:nvSpPr>
        <p:spPr>
          <a:xfrm>
            <a:off x="8714232" y="117957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" name="S01-group2"/>
          <p:cNvSpPr/>
          <p:nvPr/>
        </p:nvSpPr>
        <p:spPr>
          <a:xfrm>
            <a:off x="8714232" y="181965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" name="S01-group3"/>
          <p:cNvSpPr/>
          <p:nvPr/>
        </p:nvSpPr>
        <p:spPr>
          <a:xfrm>
            <a:off x="8714232" y="245973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" name="S01-figure4" descr="비어 있는 묶음(접시) 3개"/>
          <p:cNvSpPr/>
          <p:nvPr/>
        </p:nvSpPr>
        <p:spPr>
          <a:xfrm>
            <a:off x="8686800" y="1143000"/>
            <a:ext cx="192024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1을 곱할 때와 0을 곱할 때를 알아요.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곱셈표를 완성하고 규칙을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6 = □</a:t>
            </a:r>
            <a:endParaRPr lang="ko-KR" sz="3600" dirty="0"/>
          </a:p>
        </p:txBody>
      </p:sp>
      <p:sp>
        <p:nvSpPr>
          <p:cNvPr id="5" name="S02-chip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8 = □</a:t>
            </a:r>
            <a:endParaRPr lang="ko-KR" sz="36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1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= □</a:t>
            </a:r>
            <a:endParaRPr lang="ko-KR" sz="3600" dirty="0"/>
          </a:p>
        </p:txBody>
      </p:sp>
      <p:sp>
        <p:nvSpPr>
          <p:cNvPr id="9" name="S02-chip1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eqtext1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1씩 묶어 세요</a:t>
            </a:r>
            <a:endParaRPr lang="ko-KR" sz="4400" dirty="0"/>
          </a:p>
        </p:txBody>
      </p:sp>
      <p:sp>
        <p:nvSpPr>
          <p:cNvPr id="3" name="S03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접시마다 1개씩 담았어요.</a:t>
            </a:r>
            <a:endParaRPr lang="ko-KR" sz="3200" dirty="0"/>
          </a:p>
        </p:txBody>
      </p:sp>
      <p:sp>
        <p:nvSpPr>
          <p:cNvPr id="4" name="S03-card1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4 = 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1묶음도 4예요. 4 × 1 = 4</a:t>
            </a:r>
            <a:endParaRPr lang="ko-KR" sz="3200" dirty="0"/>
          </a:p>
        </p:txBody>
      </p:sp>
      <p:sp>
        <p:nvSpPr>
          <p:cNvPr id="6" name="S03-dot18"/>
          <p:cNvSpPr/>
          <p:nvPr/>
        </p:nvSpPr>
        <p:spPr>
          <a:xfrm>
            <a:off x="308564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19"/>
          <p:cNvSpPr/>
          <p:nvPr/>
        </p:nvSpPr>
        <p:spPr>
          <a:xfrm>
            <a:off x="308564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20"/>
          <p:cNvSpPr/>
          <p:nvPr/>
        </p:nvSpPr>
        <p:spPr>
          <a:xfrm>
            <a:off x="308564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21"/>
          <p:cNvSpPr/>
          <p:nvPr/>
        </p:nvSpPr>
        <p:spPr>
          <a:xfrm>
            <a:off x="308564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group22"/>
          <p:cNvSpPr/>
          <p:nvPr/>
        </p:nvSpPr>
        <p:spPr>
          <a:xfrm>
            <a:off x="3017520" y="2119757"/>
            <a:ext cx="4480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1" name="S03-group23"/>
          <p:cNvSpPr/>
          <p:nvPr/>
        </p:nvSpPr>
        <p:spPr>
          <a:xfrm>
            <a:off x="3017520" y="2622677"/>
            <a:ext cx="4480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2" name="S03-group24"/>
          <p:cNvSpPr/>
          <p:nvPr/>
        </p:nvSpPr>
        <p:spPr>
          <a:xfrm>
            <a:off x="3017520" y="3125597"/>
            <a:ext cx="4480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03-group25"/>
          <p:cNvSpPr/>
          <p:nvPr/>
        </p:nvSpPr>
        <p:spPr>
          <a:xfrm>
            <a:off x="3017520" y="3628517"/>
            <a:ext cx="4480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3-figure26" descr="1개씩 4묶음, 점 4개"/>
          <p:cNvSpPr/>
          <p:nvPr/>
        </p:nvSpPr>
        <p:spPr>
          <a:xfrm>
            <a:off x="2990088" y="2083181"/>
            <a:ext cx="5029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3-label2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1씩 4묶음</a:t>
            </a:r>
            <a:endParaRPr lang="ko-KR" sz="2600" dirty="0"/>
          </a:p>
        </p:txBody>
      </p:sp>
      <p:sp>
        <p:nvSpPr>
          <p:cNvPr id="16" name="S03-line28"/>
          <p:cNvSpPr/>
          <p:nvPr/>
        </p:nvSpPr>
        <p:spPr>
          <a:xfrm>
            <a:off x="6391656" y="3347583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7" name="S03-line29"/>
          <p:cNvSpPr/>
          <p:nvPr/>
        </p:nvSpPr>
        <p:spPr>
          <a:xfrm>
            <a:off x="6665976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abel30"/>
          <p:cNvSpPr txBox="1"/>
          <p:nvPr/>
        </p:nvSpPr>
        <p:spPr>
          <a:xfrm>
            <a:off x="6208776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9" name="S03-line31"/>
          <p:cNvSpPr/>
          <p:nvPr/>
        </p:nvSpPr>
        <p:spPr>
          <a:xfrm>
            <a:off x="7172960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32"/>
          <p:cNvSpPr txBox="1"/>
          <p:nvPr/>
        </p:nvSpPr>
        <p:spPr>
          <a:xfrm>
            <a:off x="6715760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1" name="S03-line33"/>
          <p:cNvSpPr/>
          <p:nvPr/>
        </p:nvSpPr>
        <p:spPr>
          <a:xfrm>
            <a:off x="7679944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abel34"/>
          <p:cNvSpPr txBox="1"/>
          <p:nvPr/>
        </p:nvSpPr>
        <p:spPr>
          <a:xfrm>
            <a:off x="7222744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3" name="S03-line35"/>
          <p:cNvSpPr/>
          <p:nvPr/>
        </p:nvSpPr>
        <p:spPr>
          <a:xfrm>
            <a:off x="8186928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36"/>
          <p:cNvSpPr txBox="1"/>
          <p:nvPr/>
        </p:nvSpPr>
        <p:spPr>
          <a:xfrm>
            <a:off x="7729728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5" name="S03-line37"/>
          <p:cNvSpPr/>
          <p:nvPr/>
        </p:nvSpPr>
        <p:spPr>
          <a:xfrm>
            <a:off x="8693912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abel38"/>
          <p:cNvSpPr txBox="1"/>
          <p:nvPr/>
        </p:nvSpPr>
        <p:spPr>
          <a:xfrm>
            <a:off x="8236712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7" name="S03-line39"/>
          <p:cNvSpPr/>
          <p:nvPr/>
        </p:nvSpPr>
        <p:spPr>
          <a:xfrm>
            <a:off x="9200896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3-label40"/>
          <p:cNvSpPr txBox="1"/>
          <p:nvPr/>
        </p:nvSpPr>
        <p:spPr>
          <a:xfrm>
            <a:off x="8743696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9" name="S03-line41"/>
          <p:cNvSpPr/>
          <p:nvPr/>
        </p:nvSpPr>
        <p:spPr>
          <a:xfrm>
            <a:off x="9707880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3-label42"/>
          <p:cNvSpPr txBox="1"/>
          <p:nvPr/>
        </p:nvSpPr>
        <p:spPr>
          <a:xfrm>
            <a:off x="9250680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31" name="S03-line43"/>
          <p:cNvSpPr/>
          <p:nvPr/>
        </p:nvSpPr>
        <p:spPr>
          <a:xfrm>
            <a:off x="10214864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3-label44"/>
          <p:cNvSpPr txBox="1"/>
          <p:nvPr/>
        </p:nvSpPr>
        <p:spPr>
          <a:xfrm>
            <a:off x="9757664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33" name="S03-line45"/>
          <p:cNvSpPr/>
          <p:nvPr/>
        </p:nvSpPr>
        <p:spPr>
          <a:xfrm>
            <a:off x="10721848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3-label46"/>
          <p:cNvSpPr txBox="1"/>
          <p:nvPr/>
        </p:nvSpPr>
        <p:spPr>
          <a:xfrm>
            <a:off x="10264648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35" name="S03-line47"/>
          <p:cNvSpPr/>
          <p:nvPr/>
        </p:nvSpPr>
        <p:spPr>
          <a:xfrm>
            <a:off x="11228832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3-label48"/>
          <p:cNvSpPr txBox="1"/>
          <p:nvPr/>
        </p:nvSpPr>
        <p:spPr>
          <a:xfrm>
            <a:off x="10771632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37" name="S03-mark49"/>
          <p:cNvSpPr/>
          <p:nvPr/>
        </p:nvSpPr>
        <p:spPr>
          <a:xfrm>
            <a:off x="8602472" y="32561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8" name="S03-line50"/>
          <p:cNvSpPr/>
          <p:nvPr/>
        </p:nvSpPr>
        <p:spPr>
          <a:xfrm flipV="1">
            <a:off x="6665976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9" name="S03-line51"/>
          <p:cNvSpPr/>
          <p:nvPr/>
        </p:nvSpPr>
        <p:spPr>
          <a:xfrm>
            <a:off x="6665976" y="2963535"/>
            <a:ext cx="506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0" name="S03-label52"/>
          <p:cNvSpPr txBox="1"/>
          <p:nvPr/>
        </p:nvSpPr>
        <p:spPr>
          <a:xfrm>
            <a:off x="6665976" y="2582027"/>
            <a:ext cx="5069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1" name="S03-line53"/>
          <p:cNvSpPr/>
          <p:nvPr/>
        </p:nvSpPr>
        <p:spPr>
          <a:xfrm flipV="1">
            <a:off x="7172960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2" name="S03-line54"/>
          <p:cNvSpPr/>
          <p:nvPr/>
        </p:nvSpPr>
        <p:spPr>
          <a:xfrm>
            <a:off x="7172960" y="2963535"/>
            <a:ext cx="506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3" name="S03-label55"/>
          <p:cNvSpPr txBox="1"/>
          <p:nvPr/>
        </p:nvSpPr>
        <p:spPr>
          <a:xfrm>
            <a:off x="7172960" y="2582027"/>
            <a:ext cx="5069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4" name="S03-line56"/>
          <p:cNvSpPr/>
          <p:nvPr/>
        </p:nvSpPr>
        <p:spPr>
          <a:xfrm flipV="1">
            <a:off x="7679944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5" name="S03-line57"/>
          <p:cNvSpPr/>
          <p:nvPr/>
        </p:nvSpPr>
        <p:spPr>
          <a:xfrm>
            <a:off x="7679944" y="2963535"/>
            <a:ext cx="506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6" name="S03-label58"/>
          <p:cNvSpPr txBox="1"/>
          <p:nvPr/>
        </p:nvSpPr>
        <p:spPr>
          <a:xfrm>
            <a:off x="7679944" y="2582027"/>
            <a:ext cx="5069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7" name="S03-line59"/>
          <p:cNvSpPr/>
          <p:nvPr/>
        </p:nvSpPr>
        <p:spPr>
          <a:xfrm flipV="1">
            <a:off x="8186928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8" name="S03-line60"/>
          <p:cNvSpPr/>
          <p:nvPr/>
        </p:nvSpPr>
        <p:spPr>
          <a:xfrm>
            <a:off x="8186928" y="2963535"/>
            <a:ext cx="506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9" name="S03-label61"/>
          <p:cNvSpPr txBox="1"/>
          <p:nvPr/>
        </p:nvSpPr>
        <p:spPr>
          <a:xfrm>
            <a:off x="8186928" y="2582027"/>
            <a:ext cx="5069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50" name="S03-figure62" descr="0부터 9까지 수직선에서 0부터 1씩 4번 뛰어 4에 닿는 화살표"/>
          <p:cNvSpPr/>
          <p:nvPr/>
        </p:nvSpPr>
        <p:spPr>
          <a:xfrm>
            <a:off x="6391656" y="3164703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3-label6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1씩 4번 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곱셈</a:t>
            </a:r>
            <a:endParaRPr lang="ko-KR" sz="4400" dirty="0"/>
          </a:p>
        </p:txBody>
      </p:sp>
      <p:sp>
        <p:nvSpPr>
          <p:cNvPr id="3" name="S04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4개가 모두 비었어요.</a:t>
            </a:r>
            <a:endParaRPr lang="ko-KR" sz="3200" dirty="0"/>
          </a:p>
        </p:txBody>
      </p:sp>
      <p:sp>
        <p:nvSpPr>
          <p:cNvPr id="4" name="S04-group65"/>
          <p:cNvSpPr/>
          <p:nvPr/>
        </p:nvSpPr>
        <p:spPr>
          <a:xfrm>
            <a:off x="2297430" y="2611755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" name="S04-group66"/>
          <p:cNvSpPr/>
          <p:nvPr/>
        </p:nvSpPr>
        <p:spPr>
          <a:xfrm>
            <a:off x="2297430" y="3251835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" name="S04-group67"/>
          <p:cNvSpPr/>
          <p:nvPr/>
        </p:nvSpPr>
        <p:spPr>
          <a:xfrm>
            <a:off x="2297430" y="3891915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" name="S04-group68"/>
          <p:cNvSpPr/>
          <p:nvPr/>
        </p:nvSpPr>
        <p:spPr>
          <a:xfrm>
            <a:off x="2297430" y="4531995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" name="S04-figure69" descr="비어 있는 묶음(접시) 4개, 점 0개"/>
          <p:cNvSpPr/>
          <p:nvPr/>
        </p:nvSpPr>
        <p:spPr>
          <a:xfrm>
            <a:off x="2269998" y="2575179"/>
            <a:ext cx="192024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4-label70"/>
          <p:cNvSpPr txBox="1"/>
          <p:nvPr/>
        </p:nvSpPr>
        <p:spPr>
          <a:xfrm>
            <a:off x="548640" y="577215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접시 4개</a:t>
            </a:r>
            <a:endParaRPr lang="ko-KR" sz="2600" dirty="0"/>
          </a:p>
        </p:txBody>
      </p:sp>
      <p:sp>
        <p:nvSpPr>
          <p:cNvPr id="10" name="S04-card71"/>
          <p:cNvSpPr/>
          <p:nvPr/>
        </p:nvSpPr>
        <p:spPr>
          <a:xfrm>
            <a:off x="6277356" y="269646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72"/>
          <p:cNvSpPr txBox="1"/>
          <p:nvPr/>
        </p:nvSpPr>
        <p:spPr>
          <a:xfrm>
            <a:off x="6551676" y="283362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× 4 = 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0씩 4묶음은 0개예요.</a:t>
            </a:r>
            <a:endParaRPr lang="ko-KR" sz="3200" dirty="0"/>
          </a:p>
        </p:txBody>
      </p:sp>
      <p:sp>
        <p:nvSpPr>
          <p:cNvPr id="12" name="S04-card73"/>
          <p:cNvSpPr/>
          <p:nvPr/>
        </p:nvSpPr>
        <p:spPr>
          <a:xfrm>
            <a:off x="6277356" y="422910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74"/>
          <p:cNvSpPr txBox="1"/>
          <p:nvPr/>
        </p:nvSpPr>
        <p:spPr>
          <a:xfrm>
            <a:off x="6551676" y="436626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0 = 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0묶음도 0개예요.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고리 던지기 점수</a:t>
            </a:r>
            <a:endParaRPr lang="ko-KR" sz="4400" dirty="0"/>
          </a:p>
        </p:txBody>
      </p:sp>
      <p:sp>
        <p:nvSpPr>
          <p:cNvPr id="3" name="S05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칸마다 얻은 점수를 구해요.</a:t>
            </a:r>
            <a:endParaRPr lang="ko-KR" sz="3200" dirty="0"/>
          </a:p>
        </p:txBody>
      </p:sp>
      <p:sp>
        <p:nvSpPr>
          <p:cNvPr id="4" name="S05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점일까요?</a:t>
            </a:r>
            <a:endParaRPr lang="ko-KR" sz="3200" dirty="0"/>
          </a:p>
        </p:txBody>
      </p:sp>
      <p:graphicFrame>
        <p:nvGraphicFramePr>
          <p:cNvPr id="6" name="S05-table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2636" y="2286635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점수 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걸린 횟수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곱셈식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얻은 점수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6-card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0을 계산했어요.</a:t>
            </a:r>
            <a:endParaRPr lang="ko-KR" sz="3200" dirty="0"/>
          </a:p>
        </p:txBody>
      </p:sp>
      <p:sp>
        <p:nvSpPr>
          <p:cNvPr id="5" name="S06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6-chip8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</a:t>
            </a:r>
            <a:endParaRPr lang="ko-KR" sz="2600" dirty="0"/>
          </a:p>
        </p:txBody>
      </p:sp>
      <p:sp>
        <p:nvSpPr>
          <p:cNvPr id="8" name="S06-text8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“0은 아무것도 없으니까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그대로예요.”</a:t>
            </a:r>
            <a:endParaRPr lang="ko-KR" sz="3200" dirty="0"/>
          </a:p>
        </p:txBody>
      </p:sp>
      <p:sp>
        <p:nvSpPr>
          <p:cNvPr id="9" name="S06-chip8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0</a:t>
            </a:r>
            <a:endParaRPr lang="ko-KR" sz="2600" dirty="0"/>
          </a:p>
        </p:txBody>
      </p:sp>
      <p:sp>
        <p:nvSpPr>
          <p:cNvPr id="10" name="S06-text8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“3씩 0묶음이니까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 읽기</a:t>
            </a:r>
            <a:endParaRPr lang="ko-KR" sz="4400" dirty="0"/>
          </a:p>
        </p:txBody>
      </p:sp>
      <p:sp>
        <p:nvSpPr>
          <p:cNvPr id="3" name="S07-card8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8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3의 줄과 위쪽 4의 칸이 만나는 곳이에요.</a:t>
            </a:r>
            <a:endParaRPr lang="ko-KR" sz="3200" dirty="0"/>
          </a:p>
        </p:txBody>
      </p:sp>
      <p:graphicFrame>
        <p:nvGraphicFramePr>
          <p:cNvPr id="8" name="S07-table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1470152"/>
          <a:ext cx="7315200" cy="9144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곱셈표를 완성해요</a:t>
            </a:r>
            <a:endParaRPr lang="ko-KR" sz="4400" dirty="0"/>
          </a:p>
        </p:txBody>
      </p:sp>
      <p:graphicFrame>
        <p:nvGraphicFramePr>
          <p:cNvPr id="9" name="S08-table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0970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바꾸면?</a:t>
            </a:r>
            <a:endParaRPr lang="ko-KR" sz="4400" dirty="0"/>
          </a:p>
        </p:txBody>
      </p:sp>
      <p:sp>
        <p:nvSpPr>
          <p:cNvPr id="3" name="S09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배열을 옆으로 돌려 보아요.</a:t>
            </a:r>
            <a:endParaRPr lang="ko-KR" sz="3200" dirty="0"/>
          </a:p>
        </p:txBody>
      </p:sp>
      <p:sp>
        <p:nvSpPr>
          <p:cNvPr id="4" name="S09-card9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9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3 = 21, 3 × 7 = 21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바꾸어도 곱은 같아요.</a:t>
            </a:r>
            <a:endParaRPr lang="ko-KR" sz="3200" dirty="0"/>
          </a:p>
        </p:txBody>
      </p:sp>
      <p:sp>
        <p:nvSpPr>
          <p:cNvPr id="6" name="S09-dot94"/>
          <p:cNvSpPr/>
          <p:nvPr/>
        </p:nvSpPr>
        <p:spPr>
          <a:xfrm>
            <a:off x="2151949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dot95"/>
          <p:cNvSpPr/>
          <p:nvPr/>
        </p:nvSpPr>
        <p:spPr>
          <a:xfrm>
            <a:off x="2481133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dot96"/>
          <p:cNvSpPr/>
          <p:nvPr/>
        </p:nvSpPr>
        <p:spPr>
          <a:xfrm>
            <a:off x="2810317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97"/>
          <p:cNvSpPr/>
          <p:nvPr/>
        </p:nvSpPr>
        <p:spPr>
          <a:xfrm>
            <a:off x="3139501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98"/>
          <p:cNvSpPr/>
          <p:nvPr/>
        </p:nvSpPr>
        <p:spPr>
          <a:xfrm>
            <a:off x="3468685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99"/>
          <p:cNvSpPr/>
          <p:nvPr/>
        </p:nvSpPr>
        <p:spPr>
          <a:xfrm>
            <a:off x="3797869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100"/>
          <p:cNvSpPr/>
          <p:nvPr/>
        </p:nvSpPr>
        <p:spPr>
          <a:xfrm>
            <a:off x="4127053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101"/>
          <p:cNvSpPr/>
          <p:nvPr/>
        </p:nvSpPr>
        <p:spPr>
          <a:xfrm>
            <a:off x="2151949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102"/>
          <p:cNvSpPr/>
          <p:nvPr/>
        </p:nvSpPr>
        <p:spPr>
          <a:xfrm>
            <a:off x="2481133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103"/>
          <p:cNvSpPr/>
          <p:nvPr/>
        </p:nvSpPr>
        <p:spPr>
          <a:xfrm>
            <a:off x="2810317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104"/>
          <p:cNvSpPr/>
          <p:nvPr/>
        </p:nvSpPr>
        <p:spPr>
          <a:xfrm>
            <a:off x="3139501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105"/>
          <p:cNvSpPr/>
          <p:nvPr/>
        </p:nvSpPr>
        <p:spPr>
          <a:xfrm>
            <a:off x="3468685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106"/>
          <p:cNvSpPr/>
          <p:nvPr/>
        </p:nvSpPr>
        <p:spPr>
          <a:xfrm>
            <a:off x="3797869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107"/>
          <p:cNvSpPr/>
          <p:nvPr/>
        </p:nvSpPr>
        <p:spPr>
          <a:xfrm>
            <a:off x="4127053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108"/>
          <p:cNvSpPr/>
          <p:nvPr/>
        </p:nvSpPr>
        <p:spPr>
          <a:xfrm>
            <a:off x="2151949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dot109"/>
          <p:cNvSpPr/>
          <p:nvPr/>
        </p:nvSpPr>
        <p:spPr>
          <a:xfrm>
            <a:off x="2481133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dot110"/>
          <p:cNvSpPr/>
          <p:nvPr/>
        </p:nvSpPr>
        <p:spPr>
          <a:xfrm>
            <a:off x="2810317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dot111"/>
          <p:cNvSpPr/>
          <p:nvPr/>
        </p:nvSpPr>
        <p:spPr>
          <a:xfrm>
            <a:off x="3139501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9-dot112"/>
          <p:cNvSpPr/>
          <p:nvPr/>
        </p:nvSpPr>
        <p:spPr>
          <a:xfrm>
            <a:off x="3468685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9-dot113"/>
          <p:cNvSpPr/>
          <p:nvPr/>
        </p:nvSpPr>
        <p:spPr>
          <a:xfrm>
            <a:off x="3797869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9-dot114"/>
          <p:cNvSpPr/>
          <p:nvPr/>
        </p:nvSpPr>
        <p:spPr>
          <a:xfrm>
            <a:off x="4127053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9-group115"/>
          <p:cNvSpPr/>
          <p:nvPr/>
        </p:nvSpPr>
        <p:spPr>
          <a:xfrm>
            <a:off x="2116836" y="2631821"/>
            <a:ext cx="2249424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9-group116"/>
          <p:cNvSpPr/>
          <p:nvPr/>
        </p:nvSpPr>
        <p:spPr>
          <a:xfrm>
            <a:off x="2116836" y="2961005"/>
            <a:ext cx="2249424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9-group117"/>
          <p:cNvSpPr/>
          <p:nvPr/>
        </p:nvSpPr>
        <p:spPr>
          <a:xfrm>
            <a:off x="2116836" y="3290189"/>
            <a:ext cx="2249424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0" name="S09-figure118" descr="점 7개씩 3묶음, 21개"/>
          <p:cNvSpPr/>
          <p:nvPr/>
        </p:nvSpPr>
        <p:spPr>
          <a:xfrm>
            <a:off x="2089404" y="2595245"/>
            <a:ext cx="2304288" cy="9875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9-label119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3묶음: 7 × 3</a:t>
            </a:r>
            <a:endParaRPr lang="ko-KR" sz="2600" dirty="0"/>
          </a:p>
        </p:txBody>
      </p:sp>
      <p:sp>
        <p:nvSpPr>
          <p:cNvPr id="32" name="S09-dot120"/>
          <p:cNvSpPr/>
          <p:nvPr/>
        </p:nvSpPr>
        <p:spPr>
          <a:xfrm>
            <a:off x="8544171" y="2070164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9-dot121"/>
          <p:cNvSpPr/>
          <p:nvPr/>
        </p:nvSpPr>
        <p:spPr>
          <a:xfrm>
            <a:off x="8851982" y="2070164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9-dot122"/>
          <p:cNvSpPr/>
          <p:nvPr/>
        </p:nvSpPr>
        <p:spPr>
          <a:xfrm>
            <a:off x="9159794" y="2070164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9-dot123"/>
          <p:cNvSpPr/>
          <p:nvPr/>
        </p:nvSpPr>
        <p:spPr>
          <a:xfrm>
            <a:off x="8544171" y="2377976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9-dot124"/>
          <p:cNvSpPr/>
          <p:nvPr/>
        </p:nvSpPr>
        <p:spPr>
          <a:xfrm>
            <a:off x="8851982" y="2377976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9-dot125"/>
          <p:cNvSpPr/>
          <p:nvPr/>
        </p:nvSpPr>
        <p:spPr>
          <a:xfrm>
            <a:off x="9159794" y="2377976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9-dot126"/>
          <p:cNvSpPr/>
          <p:nvPr/>
        </p:nvSpPr>
        <p:spPr>
          <a:xfrm>
            <a:off x="8544171" y="2685788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9-dot127"/>
          <p:cNvSpPr/>
          <p:nvPr/>
        </p:nvSpPr>
        <p:spPr>
          <a:xfrm>
            <a:off x="8851982" y="2685788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9-dot128"/>
          <p:cNvSpPr/>
          <p:nvPr/>
        </p:nvSpPr>
        <p:spPr>
          <a:xfrm>
            <a:off x="9159794" y="2685788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9-dot129"/>
          <p:cNvSpPr/>
          <p:nvPr/>
        </p:nvSpPr>
        <p:spPr>
          <a:xfrm>
            <a:off x="8544171" y="2993599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9-dot130"/>
          <p:cNvSpPr/>
          <p:nvPr/>
        </p:nvSpPr>
        <p:spPr>
          <a:xfrm>
            <a:off x="8851982" y="2993599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9-dot131"/>
          <p:cNvSpPr/>
          <p:nvPr/>
        </p:nvSpPr>
        <p:spPr>
          <a:xfrm>
            <a:off x="9159794" y="2993599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9-dot132"/>
          <p:cNvSpPr/>
          <p:nvPr/>
        </p:nvSpPr>
        <p:spPr>
          <a:xfrm>
            <a:off x="8544171" y="3301411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9-dot133"/>
          <p:cNvSpPr/>
          <p:nvPr/>
        </p:nvSpPr>
        <p:spPr>
          <a:xfrm>
            <a:off x="8851982" y="3301411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9-dot134"/>
          <p:cNvSpPr/>
          <p:nvPr/>
        </p:nvSpPr>
        <p:spPr>
          <a:xfrm>
            <a:off x="9159794" y="3301411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9-dot135"/>
          <p:cNvSpPr/>
          <p:nvPr/>
        </p:nvSpPr>
        <p:spPr>
          <a:xfrm>
            <a:off x="8544171" y="3609223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9-dot136"/>
          <p:cNvSpPr/>
          <p:nvPr/>
        </p:nvSpPr>
        <p:spPr>
          <a:xfrm>
            <a:off x="8851982" y="3609223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9-dot137"/>
          <p:cNvSpPr/>
          <p:nvPr/>
        </p:nvSpPr>
        <p:spPr>
          <a:xfrm>
            <a:off x="9159794" y="3609223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9-dot138"/>
          <p:cNvSpPr/>
          <p:nvPr/>
        </p:nvSpPr>
        <p:spPr>
          <a:xfrm>
            <a:off x="8544171" y="3917035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9-dot139"/>
          <p:cNvSpPr/>
          <p:nvPr/>
        </p:nvSpPr>
        <p:spPr>
          <a:xfrm>
            <a:off x="8851982" y="3917035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9-dot140"/>
          <p:cNvSpPr/>
          <p:nvPr/>
        </p:nvSpPr>
        <p:spPr>
          <a:xfrm>
            <a:off x="9159794" y="3917035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9-group141"/>
          <p:cNvSpPr/>
          <p:nvPr/>
        </p:nvSpPr>
        <p:spPr>
          <a:xfrm>
            <a:off x="8513118" y="2048256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4" name="S09-group142"/>
          <p:cNvSpPr/>
          <p:nvPr/>
        </p:nvSpPr>
        <p:spPr>
          <a:xfrm>
            <a:off x="8513118" y="2356068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5" name="S09-group143"/>
          <p:cNvSpPr/>
          <p:nvPr/>
        </p:nvSpPr>
        <p:spPr>
          <a:xfrm>
            <a:off x="8513118" y="2663879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6" name="S09-group144"/>
          <p:cNvSpPr/>
          <p:nvPr/>
        </p:nvSpPr>
        <p:spPr>
          <a:xfrm>
            <a:off x="8513118" y="2971691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7" name="S09-group145"/>
          <p:cNvSpPr/>
          <p:nvPr/>
        </p:nvSpPr>
        <p:spPr>
          <a:xfrm>
            <a:off x="8513118" y="3279503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8" name="S09-group146"/>
          <p:cNvSpPr/>
          <p:nvPr/>
        </p:nvSpPr>
        <p:spPr>
          <a:xfrm>
            <a:off x="8513118" y="3587315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9" name="S09-group147"/>
          <p:cNvSpPr/>
          <p:nvPr/>
        </p:nvSpPr>
        <p:spPr>
          <a:xfrm>
            <a:off x="8513118" y="3895126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0" name="S09-figure148" descr="파란 점 3개씩 7묶음, 21개"/>
          <p:cNvSpPr/>
          <p:nvPr/>
        </p:nvSpPr>
        <p:spPr>
          <a:xfrm>
            <a:off x="8485686" y="2011680"/>
            <a:ext cx="923435" cy="21546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09-label149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7묶음: 3 × 7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써 봐요</a:t>
            </a:r>
            <a:endParaRPr lang="ko-KR" sz="4400" dirty="0"/>
          </a:p>
        </p:txBody>
      </p:sp>
      <p:sp>
        <p:nvSpPr>
          <p:cNvPr id="3" name="S10-card1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S08의 곱셈표를 보며 찾아요.</a:t>
            </a:r>
            <a:endParaRPr lang="ko-KR" sz="3200" dirty="0"/>
          </a:p>
        </p:txBody>
      </p:sp>
      <p:sp>
        <p:nvSpPr>
          <p:cNvPr id="5" name="S10-chip15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text153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9 = 36, 9 × 4는?</a:t>
            </a:r>
            <a:endParaRPr lang="ko-KR" sz="3200" dirty="0"/>
          </a:p>
        </p:txBody>
      </p:sp>
      <p:sp>
        <p:nvSpPr>
          <p:cNvPr id="7" name="S10-chip15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text155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12인 곱셈구구는?</a:t>
            </a:r>
            <a:endParaRPr lang="ko-KR" sz="3200" dirty="0"/>
          </a:p>
        </p:txBody>
      </p:sp>
      <p:sp>
        <p:nvSpPr>
          <p:cNvPr id="9" name="S10-chip15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text157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6단의 곱은 짝수? 홀수?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알았는지 말해요.</a:t>
            </a:r>
            <a:endParaRPr lang="ko-KR" sz="3200" dirty="0"/>
          </a:p>
        </p:txBody>
      </p:sp>
      <p:sp>
        <p:nvSpPr>
          <p:cNvPr id="4" name="S11-chip15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16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7 = □</a:t>
            </a:r>
            <a:endParaRPr lang="ko-KR" sz="3600" dirty="0"/>
          </a:p>
        </p:txBody>
      </p:sp>
      <p:sp>
        <p:nvSpPr>
          <p:cNvPr id="6" name="S11-chip16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16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0 = □</a:t>
            </a:r>
            <a:endParaRPr lang="ko-KR" sz="3600" dirty="0"/>
          </a:p>
        </p:txBody>
      </p:sp>
      <p:sp>
        <p:nvSpPr>
          <p:cNvPr id="8" name="S11-chip16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eqtext16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× 6 = □</a:t>
            </a:r>
            <a:endParaRPr lang="ko-KR" sz="3600" dirty="0"/>
          </a:p>
        </p:txBody>
      </p:sp>
      <p:sp>
        <p:nvSpPr>
          <p:cNvPr id="10" name="S11-chip16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16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8 = 48, 8 × 6은?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같은 칸은?</a:t>
            </a:r>
            <a:endParaRPr lang="ko-KR" sz="4400" dirty="0"/>
          </a:p>
        </p:txBody>
      </p:sp>
      <p:sp>
        <p:nvSpPr>
          <p:cNvPr id="3" name="S13-text1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곱셈표에서 3 × 8과 곱이 같은 칸은?</a:t>
            </a:r>
            <a:endParaRPr lang="ko-KR" sz="3200" dirty="0"/>
          </a:p>
        </p:txBody>
      </p:sp>
      <p:sp>
        <p:nvSpPr>
          <p:cNvPr id="4" name="S13-card1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3-chip17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17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7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</a:t>
            </a:r>
            <a:endParaRPr lang="ko-KR" sz="3200" dirty="0"/>
          </a:p>
        </p:txBody>
      </p:sp>
      <p:sp>
        <p:nvSpPr>
          <p:cNvPr id="9" name="S13-chip17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17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7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9</a:t>
            </a:r>
            <a:endParaRPr lang="ko-KR" sz="3200" dirty="0"/>
          </a:p>
        </p:txBody>
      </p:sp>
      <p:sp>
        <p:nvSpPr>
          <p:cNvPr id="12" name="S13-chip17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17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7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곱하면 그 수, 0을 곱하면 0이에요.</a:t>
            </a:r>
            <a:endParaRPr lang="ko-KR" sz="3200" dirty="0"/>
          </a:p>
        </p:txBody>
      </p:sp>
      <p:sp>
        <p:nvSpPr>
          <p:cNvPr id="5" name="S14-chip18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순서를 바꾸어 곱 찾기</a:t>
            </a:r>
            <a:endParaRPr lang="ko-KR" sz="2600" dirty="0"/>
          </a:p>
        </p:txBody>
      </p:sp>
      <p:sp>
        <p:nvSpPr>
          <p:cNvPr id="6" name="S14-chip18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 × 0을 3이라고 하기</a:t>
            </a:r>
            <a:endParaRPr lang="ko-KR" sz="2600" dirty="0"/>
          </a:p>
        </p:txBody>
      </p:sp>
      <p:sp>
        <p:nvSpPr>
          <p:cNvPr id="7" name="S14-text18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18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 × 6 = □</a:t>
            </a:r>
            <a:endParaRPr lang="ko-KR" sz="3000" dirty="0"/>
          </a:p>
        </p:txBody>
      </p:sp>
      <p:sp>
        <p:nvSpPr>
          <p:cNvPr id="9" name="S14-eqtext18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 × 8 = □</a:t>
            </a:r>
            <a:endParaRPr lang="ko-KR" sz="3000" dirty="0"/>
          </a:p>
        </p:txBody>
      </p:sp>
      <p:sp>
        <p:nvSpPr>
          <p:cNvPr id="10" name="S14-eqtext18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9 × 7 = □</a:t>
            </a:r>
            <a:endParaRPr lang="ko-KR" sz="3000" dirty="0"/>
          </a:p>
        </p:txBody>
      </p:sp>
      <p:sp>
        <p:nvSpPr>
          <p:cNvPr id="11" name="S14-text18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여러 가지 도형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아는 곱에서</a:t>
            </a:r>
            <a:endParaRPr lang="ko-KR" sz="4400" dirty="0"/>
          </a:p>
        </p:txBody>
      </p:sp>
      <p:sp>
        <p:nvSpPr>
          <p:cNvPr id="3" name="S15-text1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5를 알면 7 × 6도 구해요.</a:t>
            </a:r>
            <a:endParaRPr lang="ko-KR" sz="3200" dirty="0"/>
          </a:p>
        </p:txBody>
      </p:sp>
      <p:sp>
        <p:nvSpPr>
          <p:cNvPr id="4" name="S15-card189"/>
          <p:cNvSpPr/>
          <p:nvPr/>
        </p:nvSpPr>
        <p:spPr>
          <a:xfrm>
            <a:off x="548640" y="4913884"/>
            <a:ext cx="543153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90"/>
          <p:cNvSpPr txBox="1"/>
          <p:nvPr/>
        </p:nvSpPr>
        <p:spPr>
          <a:xfrm>
            <a:off x="822960" y="5051044"/>
            <a:ext cx="488289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5 = 35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곱에서 출발해요.</a:t>
            </a:r>
            <a:endParaRPr lang="ko-KR" sz="3200" dirty="0"/>
          </a:p>
        </p:txBody>
      </p:sp>
      <p:sp>
        <p:nvSpPr>
          <p:cNvPr id="6" name="S15-card191"/>
          <p:cNvSpPr/>
          <p:nvPr/>
        </p:nvSpPr>
        <p:spPr>
          <a:xfrm>
            <a:off x="6208776" y="4913884"/>
            <a:ext cx="543153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92"/>
          <p:cNvSpPr txBox="1"/>
          <p:nvPr/>
        </p:nvSpPr>
        <p:spPr>
          <a:xfrm>
            <a:off x="6483096" y="5051044"/>
            <a:ext cx="488289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+ 7 = 42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더 뛰면 7 × 6</a:t>
            </a:r>
            <a:endParaRPr lang="ko-KR" sz="3200" dirty="0"/>
          </a:p>
        </p:txBody>
      </p:sp>
      <p:sp>
        <p:nvSpPr>
          <p:cNvPr id="8" name="S15-line193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5-line194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195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15-line196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197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3" name="S15-line198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199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15" name="S15-line200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201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2600" dirty="0"/>
          </a:p>
        </p:txBody>
      </p:sp>
      <p:sp>
        <p:nvSpPr>
          <p:cNvPr id="17" name="S15-line202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203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2600" dirty="0"/>
          </a:p>
        </p:txBody>
      </p:sp>
      <p:sp>
        <p:nvSpPr>
          <p:cNvPr id="19" name="S15-line204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205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600" dirty="0"/>
          </a:p>
        </p:txBody>
      </p:sp>
      <p:sp>
        <p:nvSpPr>
          <p:cNvPr id="21" name="S15-line206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207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2600" dirty="0"/>
          </a:p>
        </p:txBody>
      </p:sp>
      <p:sp>
        <p:nvSpPr>
          <p:cNvPr id="23" name="S15-line208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209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ko-KR" sz="2600" dirty="0"/>
          </a:p>
        </p:txBody>
      </p:sp>
      <p:sp>
        <p:nvSpPr>
          <p:cNvPr id="25" name="S15-line210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211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ko-KR" sz="2600" dirty="0"/>
          </a:p>
        </p:txBody>
      </p:sp>
      <p:sp>
        <p:nvSpPr>
          <p:cNvPr id="27" name="S15-line212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213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ko-KR" sz="2600" dirty="0"/>
          </a:p>
        </p:txBody>
      </p:sp>
      <p:sp>
        <p:nvSpPr>
          <p:cNvPr id="29" name="S15-mark214"/>
          <p:cNvSpPr/>
          <p:nvPr/>
        </p:nvSpPr>
        <p:spPr>
          <a:xfrm>
            <a:off x="657352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5-mark215"/>
          <p:cNvSpPr/>
          <p:nvPr/>
        </p:nvSpPr>
        <p:spPr>
          <a:xfrm>
            <a:off x="771448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15-line216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15-line217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15-label218"/>
          <p:cNvSpPr txBox="1"/>
          <p:nvPr/>
        </p:nvSpPr>
        <p:spPr>
          <a:xfrm>
            <a:off x="666496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</a:t>
            </a:r>
            <a:endParaRPr lang="ko-KR" sz="2600" dirty="0"/>
          </a:p>
        </p:txBody>
      </p:sp>
      <p:sp>
        <p:nvSpPr>
          <p:cNvPr id="34" name="S15-figure219" descr="0부터 63까지 7씩 눈금 수직선에서 35에서 7만큼 뛰어 42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1과 0의 곱, 곱셈표</dc:title>
  <dc:subject>KR22-G02-MAT-TIMES10-L01</dc:subject>
  <dc:creator>education-ppt</dc:creator>
  <cp:lastModifiedBy>education-ppt</cp:lastModifiedBy>
  <cp:revision>1</cp:revision>
  <dcterms:created xsi:type="dcterms:W3CDTF">2026-10-26T07:46:40Z</dcterms:created>
  <dcterms:modified xsi:type="dcterms:W3CDTF">2026-10-26T07:46:40Z</dcterms:modified>
</cp:coreProperties>
</file>