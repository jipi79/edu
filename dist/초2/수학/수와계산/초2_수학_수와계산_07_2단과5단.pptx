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a50adfe-c233-c1fd-c52b-47c039effa56}">
          <p14:sldIdLst>
            <p14:sldId id="256"/>
            <p14:sldId id="257"/>
          </p14:sldIdLst>
        </p14:section>
        <p14:section name="개념" id="{0191199d-e8dc-4a35-7551-cff46befe9e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ee7e8ef2-f49a-4573-bf17-0d129e93e2b9}">
          <p14:sldIdLst>
            <p14:sldId id="264"/>
            <p14:sldId id="265"/>
          </p14:sldIdLst>
        </p14:section>
        <p14:section name="확인" id="{7b01c9a5-5302-9d83-fc5c-158686c54a63}">
          <p14:sldIdLst>
            <p14:sldId id="266"/>
            <p14:sldId id="267"/>
            <p14:sldId id="268"/>
          </p14:sldIdLst>
        </p14:section>
        <p14:section name="정리" id="{4581a76f-848f-9cc5-5c03-96a5e49768b6}">
          <p14:sldIdLst>
            <p14:sldId id="269"/>
          </p14:sldIdLst>
        </p14:section>
        <p14:section name="보충" id="{2de9f939-ba32-d80a-1fc9-6c9b8ddb716b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지난 시간의 ‘몇씩 몇 묶음’이 곱셈구구로 이어진다는 것을 느끼게 합니다.
시간: 약 2분
이렇게 말해 보세요
- “지난 시간에 ‘몇씩 몇 묶음’을 곱셈식으로 썼지? 오늘은 2씩, 5씩 묶어 세면서 2단과 5단 곱셈구구를 만들어 볼 거야.”
- “오른쪽 점은 몇 개씩 몇 묶음일까?”
예상 답
- “5개씩 3묶음이요.” (모두 15개)
막히면
- 답을 확인하지 말고 넘어갑니다. S06에서 같은 묶음을 다시 셉니다.
주의
- 곱셈구구는 1부터 9까지의 수끼리 곱한 것을 모은 것입니다. 오늘은 외우기보다 묶어 세어 ‘만드는’ 것이 먼저입니다.
- 바둑돌과 접시를 미리 준비해 두면 S03, S06에서 바로 묶음을 만들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확인(곱셈의 뜻)]
목적: 오늘 곱셈구구의 바탕인 ‘몇씩 몇 묶음’, 같은 수 더하기, ‘몇의 몇 배’를 곱셈식으로 나타낼 수 있는지 확인합니다.
시간: 약 3분
이렇게 말해 보세요
- “①은 몇 개씩 몇 묶음이야? 곱셈식으로 말해 볼래?”
- “②는 3을 몇 번 더했어? 곱셈식으로 바꿔 보자. ③ 5의 2배는 얼마야?”
정답
- ① 4 × 3 = 12 (4씩 3묶음)
- ② 3 × 4 = 12
- ③ 10 (5 × 2 = 10)
막히면
- 바둑돌을 접시에 4개씩 3접시 놓고 “한 접시에 몇 개? 접시는 몇 개?”를 묻습니다.
- 두 문제 이상 틀리면 S15(보충)를 먼저 합니다. 보충으로도 어려우면 6차시 ‘곱셈의 뜻’(KR22-G02-MAT-MULT-L01)을 다시 합니다.
주의
- ①을 3 × 4라고 해도 곱은 12로 같습니다. 다만 ‘4씩 3묶음’은 4 × 3으로 쓰기로 약속했다고 다시 알려 줍니다(M4).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2씩 묶어 세어 2단 만들기]
목적: 2단 곱셈구구를 2씩 묶어 세기로 만들고, 묶음이 하나 늘 때마다 곱이 2씩 커진다는 것을 봅니다.
시간: 약 3분
이렇게 말해 보세요
- “2개씩 한 묶음이면 2 × 1이야. 점이 몇 개야? 2개씩 두 묶음이면 2 × 2, 몇 개야?”
- “묶음이 하나 늘어날 때마다 점은 몇 개씩 늘어나?”
예상 답
- “2개, 4개, 6개, 8개요.”
- “2개씩 늘어나요.”
막히면
- 접시에 바둑돌을 2개씩 놓으며 접시를 하나씩 늘리고, 그때마다 모두 몇 개인지 셉니다.
- “둘, 넷, 여섯, 여덟” 하고 2씩 뛰어 세며 묶음을 하나씩 짚습니다.
주의
- 2 × 3은 ‘2씩 3묶음’, ‘2의 3배’라는 뜻입니다. 외우기 전에 꼭 묶음과 연결합니다.
- 곱셈구구의 앞의 수 2는 그대로이고, 뒤의 수(묶음 수)만 1씩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수직선에서 2씩 뛰어 세기, ‘곱’이라는 말 알기]
목적: 수직선에서 2씩 뛰어 세어 곱을 구하고, 곱셈의 결과를 ‘곱’이라고 부른다는 것과 앞의 곱에 2를 더하면 다음 곱이 된다는 것을 압니다.
시간: 약 3분
이렇게 말해 보세요
- “2 × 6은 2씩 6번이야. 0에서 출발해서 2칸씩 뛰어 보자. 한 번 뛸 때마다 손가락을 하나씩 펴.”
- “곱셈을 해서 나온 수 12를 ‘곱’이라고 해. ‘2와 6의 곱은 12예요’라고 말해 볼래?”
- “2 × 5는 10이었지? 2 × 6은 10보다 얼마 커?”
예상 답
- “2, 4, 6, 8, 10, 12. 12에 왔어요.”
- “2와 6의 곱은 12예요.” “2 커요.”
막히면
- 종이 수직선 위에서 바둑돌 하나를 2칸씩 옮기며 뛴 횟수를 소리 내어 셉니다(“한 번, 두 번…”).
- 10이나 14라고 하면 뛴 횟수를 손가락으로 다시 세게 합니다(M2).
주의
- 0은 출발점이라 세지 않습니다. 첫 번째로 닿는 곳이 2입니다.
- ‘곱’이라는 말은 오늘 처음 씁니다(6차시 ‘곱셈의 뜻’에서는 쓰지 않았습니다). 이후 장에서 계속 쓰니 두세 번 함께 말해 봅니다.
- ‘앞의 곱 + 2’는 중간 곱을 잊었을 때 다시 찾는 방법입니다(M3).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2단 곱셈구구 완성하고 읽기]
목적: 2단 곱셈구구를 끝까지 만들어 보고, 다 만든 뒤에 소리 내어 읽으며 익힙니다.
시간: 약 3분
이렇게 말해 보세요
- “빈칸에 들어갈 곱은 뭘까? 앞의 곱에서 2만큼 뛰면 돼.”
- “다 채웠으면 같이 읽어 보자. ‘2 곱하기 1은 2, 2 곱하기 2는 4…’”
정답
- 2 × 5 = 10, 2 × 7 = 14, 2 × 8 = 16, 2 × 9 = 18
막히면
- S04의 수직선으로 돌아가 12에서 2씩 더 뛰어 14, 16, 18을 찾습니다.
- 바둑돌을 2개씩 접시에 더 놓아 세어 봅니다.
주의
- 읽기에 익숙해지면 ‘이일은 이, 이이는 사, 이삼은 육…’처럼 짧게 읽어도 됩니다. 이 짧은 읽기는 묶음의 뜻을 안 다음에 합니다.
- 2단의 곱 2, 4, 6, 8, 10, 12, 14, 16, 18은 모두 짝수입니다.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5씩 묶어 세어 5단 만들기]
목적: 5단 곱셈구구를 5씩 묶어 세기로 만들고, 곱이 5씩 커진다는 것을 봅니다.
시간: 약 3분
이렇게 말해 보세요
- “손 하나에 손가락이 몇 개야? 손 두 개면? 5 × 2라고 해.”
- “5개씩 묶음이 하나 늘 때마다 몇 개씩 늘어나?”
예상 답
- “5개, 10개, 15개, 20개요.”
- “5개씩 늘어나요.”
막히면
- 부모와 아이의 손을 펴서 하나씩 보태며 “다섯, 열, 열다섯, 스물” 하고 셉니다.
- 바둑돌을 접시에 5개씩 놓으며 접시를 하나씩 늘립니다.
주의
- 5 × 4는 ‘5씩 4묶음’입니다. 묶음 수 4를 손이나 접시 수와 연결해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수직선에서 5씩 뛰어 세기]
목적: 5씩 뛰어 세어 곱을 구하고, 앞의 곱에 5를 더하면 다음 곱이 된다는 것을 압니다.
시간: 약 3분
이렇게 말해 보세요
- “이 수직선은 눈금 한 칸이 5야. 0에서 5씩 7번 뛰어 보자. 손가락으로 횟수를 세.”
- “일곱 번 뛰니까 어디야? 5 × 6은 30이었으니까 5 × 7은 30보다 얼마 커?”
예상 답
- “5, 10, 15, 20, 25, 30, 35. 35예요.”
- “5 커요.”
막히면
- 손가락을 하나씩 펴며 “다섯, 열, 열다섯…”을 일곱 번 말하게 합니다.
- 30에서 멈추면 펴진 손가락을 다시 세어 6번만 뛰었음을 확인합니다(M2).
주의
- S04 수직선은 한 칸이 1, 이 수직선은 한 칸이 5입니다. 아이가 헷갈리면 눈금 아래 수를 함께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5단 곱셈구구 완성하고 규칙 찾기]
목적: 5단 곱셈구구를 끝까지 만들고, 곱의 일의 자리에 5와 0이 번갈아 나오는 규칙을 찾습니다.
시간: 약 3분
이렇게 말해 보세요
- “빈칸에 들어갈 곱은? 앞의 곱에서 5만큼 뛰어.”
- “곱의 맨 끝 자리(일의 자리)만 읽어 볼까? 5, 0, 5, 0… 어떤 규칙이 보여?”
정답
- 5 × 5 = 25, 5 × 8 = 40, 5 × 9 = 45
- 규칙: 일의 자리가 5, 0, 5, 0…으로 번갈아 나옵니다. 묶음 수가 홀수이면 5, 짝수이면 0입니다.
막히면
- S07 수직선 눈금 아래의 수를 차례로 읽게 합니다.
- 일의 자리를 손가락으로 가리고 하나씩 보여 주며 읽습니다.
주의
- 다 채우면 ‘5 곱하기 1은 5…’로 함께 읽습니다. 익숙하면 ‘오일은 오, 오이 십…’처럼 짧게 읽어도 됩니다.
- 지치면 여기서 쉬고, 다음에 S09부터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연습(곱 구하기와 상황 문제)]
목적: 도움을 받으며 2단·5단의 곱을 구하고, 생활 상황을 곱셈식으로 나타냅니다.
시간: 약 4분
이렇게 말해 보세요
- “①에서 양말 한 켤레는 몇 짝이야? 그러면 몇씩 몇 묶음일까? 곱셈식으로 말해 줘.”
- “②, ③은 2단, 5단 중 어느 단이야? 어떻게 구했는지도 말해 줘.”
정답
- ① 2 × 7 = 14, 14짝
- ② 30
- ③ 16
- ④ 5 × 4 = 20, 20개
막히면
- ①은 양말 한 켤레가 2짝이라는 것을 실제 양말로 보여 줍니다.
- 곱을 잊었으면 아는 곱에서 출발하게 합니다(예: 2 × 8은 2 × 5 = 10에서 2씩 3번 더 뛰어 12, 14, 16).
주의
- ①을 7 × 2라고 써도 곱은 같습니다. ‘2씩 7묶음’이므로 2 × 7로 쓰는 것을 권합니다(M4).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비교(×를 +로 계산)]
목적: 곱셈을 덧셈으로 계산하는 실수를 그림으로 바로잡습니다(M1).
시간: 약 3분
이렇게 말해 보세요
- “토끼와 곰이 5 × 3을 계산했는데 답이 달라. 누가 맞았을까?”
- “5 × 3은 무슨 뜻이었지? 5씩 몇 묶음이야?”
예상 답
- “곰이요. 5 × 3은 5를 세 번 더하는 거라서요.”
정답
- 곰이 맞습니다. 5 × 3은 5씩 3묶음이므로 5 + 5 + 5 = 15입니다.
- 토끼는 두 수를 더했습니다. 5 + 3 = 8은 5와 3을 모은 것이지 5씩 3묶음이 아닙니다.
막히면
- 바둑돌을 5개씩 3묶음 놓고 세어 15를 확인한 뒤, 5개와 3개를 놓은 것(8개)과 나란히 비교합니다.
주의
- 아이가 토끼처럼 생각했다면 ‘×를 보면 몇씩 몇 묶음인지 말하기’를 약속으로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2단·5단의 곱을 구하고, 상황을 곱셈식으로 나타낼 수 있는지 확인합니다.
시간: 약 5분
이렇게 말해 보세요
- “이번에는 혼자 해 볼래? 바둑돌이나 손가락을 써도 돼. ④는 곱셈식을 종이에 쓰고 답을 말해 줘.”
- “어떻게 구했는지 하나만 설명해 줄래?”
정답
- ① 18
- ② 40
- ③ 25
- ④ 2 × 4 = 8, 바퀴 8개
막히면
- 바로 알려 주지 말고 “몇씩 몇 묶음이야?”라고만 묻습니다.
- 도움을 받아 해결했다면 기록표에 ‘도움’으로 표시합니다.
주의
- 답만 맞고 방법을 말하지 못하면 S03·S06의 묶음 그림을 가리키며 다시 설명하게 합니다.
- ④를 4 × 2 = 8로 써도 곱은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돌이나 수직선으로 다시 해 보자.”
정답
- ① 18 ② 40 ③ 25 ④ 2 × 4 = 8(4 × 2 = 8도 맞음), 8개
막히면
- 더해서 답했으면(5 + 8 = 13) S10의 토끼와 곰을 다시 봅니다(M1).
- 한 번 덜 뛰었으면(16) S04처럼 손가락으로 뛴 횟수를 셉니다(M2).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확인(2단과 5단에 모두 있는 곱)]
목적: 처음 보는 물음에서 2단과 5단의 곱을 떠올려 비교할 수 있는지 확인합니다.
시간: 약 2분
이렇게 말해 보세요
- “15, 10, 12 중에서 2단에도 나오고 5단에도 나오는 수는 뭘까? 2단과 5단을 떠올려 봐.”
정답
- 나(10). 2 × 5 = 10이고 5 × 2 = 10입니다.
- 가(15)는 5 × 3 = 15로 5단에만, 다(12)는 2 × 6 = 12로 2단에만 있습니다.
막히면
- S05와 S08에서 채운 표를 다시 보여 주고 같은 수를 찾게 합니다.
주의
- 2 × 5와 5 × 2는 ‘2씩 5묶음’과 ‘5씩 2묶음’으로 뜻은 다르지만 곱은 10으로 같습니다. 순서를 바꾸어도 곱이 같다는 것은 뒤 차시에서 더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“오늘 2단과 5단을 어떻게 만들었지? 2단은 곱이 몇씩 커져? 5단은?”
- “5단 곱의 일의 자리에는 어떤 수가 나왔지?”
예상 답
- “2씩 묶어 세서 만들었어요. 2단은 2씩, 5단은 5씩 커져요.”
- “5와 0이 번갈아 나와요.”
정답
- ① 14 ② 45 ③ 10
막히면
- S03과 S06의 묶음 그림을 다시 보여 주며 ‘묶음이 하나 늘면 2개(5개) 늘어요’를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보충(몇씩 몇 묶음과 곱셈식)]
목적: S02에서 곱셈의 뜻이 흔들리면, 곱셈구구 전에 ‘몇씩 몇 묶음 → 같은 수 더하기 → 곱셈식’을 다시 연결합니다.
시간: 약 5분
이렇게 말해 보세요
- “접시 하나에 몇 개야? 접시는 몇 개야? 그러면 4씩 3묶음이야. 4를 몇 번 더하면 될까?”
- “4 + 4 + 4를 곱셈식으로는 4 × 3이라고 써. 이번에는 3개씩 2접시로 해 볼까?”
정답
- 4씩 3묶음 = 4 + 4 + 4 = 12, 4 × 3 = 12
- 3개씩 2접시는 3 × 2 = 6
막히면
- 접시마다 돌을 하나씩 짚으며 세고, 다 센 접시는 옆으로 밀어 두 번 세지 않게 합니다.
- 같은 수 더하기가 어려우면 3개씩 2접시(3 + 3 = 6, 3 × 2 = 6)처럼 작은 수로 먼저 합니다.
주의
- 보충으로도 어려우면 6차시 ‘곱셈의 뜻’(KR22-G02-MAT-MULT-L01)을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2단과 5단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2단과 5단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2씩, 5씩 빨리 세려면?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80627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7485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94343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101201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10805922" y="12047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0627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87485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94343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101201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805922" y="18905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dot11"/>
          <p:cNvSpPr/>
          <p:nvPr/>
        </p:nvSpPr>
        <p:spPr>
          <a:xfrm>
            <a:off x="80627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87485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dot13"/>
          <p:cNvSpPr/>
          <p:nvPr/>
        </p:nvSpPr>
        <p:spPr>
          <a:xfrm>
            <a:off x="94343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1201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805922" y="257632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group16"/>
          <p:cNvSpPr/>
          <p:nvPr/>
        </p:nvSpPr>
        <p:spPr>
          <a:xfrm>
            <a:off x="7959852" y="11109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1-group17"/>
          <p:cNvSpPr/>
          <p:nvPr/>
        </p:nvSpPr>
        <p:spPr>
          <a:xfrm>
            <a:off x="7959852" y="17967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1-group18"/>
          <p:cNvSpPr/>
          <p:nvPr/>
        </p:nvSpPr>
        <p:spPr>
          <a:xfrm>
            <a:off x="7959852" y="2482596"/>
            <a:ext cx="33741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1-figure19" descr="5개씩 묶은 점 3줄, 모두 15개"/>
          <p:cNvSpPr/>
          <p:nvPr/>
        </p:nvSpPr>
        <p:spPr>
          <a:xfrm>
            <a:off x="7932420" y="1074420"/>
            <a:ext cx="34290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1-card20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4" name="S01-cardtext21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2씩 묶어 세어 2단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5씩 묶어 세어 5단 곱셈구구를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곱셈식으로 나타내요.</a:t>
            </a:r>
            <a:endParaRPr lang="ko-KR" sz="3200" dirty="0"/>
          </a:p>
        </p:txBody>
      </p:sp>
      <p:sp>
        <p:nvSpPr>
          <p:cNvPr id="4" name="S02-chip2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dot24"/>
          <p:cNvSpPr/>
          <p:nvPr/>
        </p:nvSpPr>
        <p:spPr>
          <a:xfrm>
            <a:off x="331500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2-dot25"/>
          <p:cNvSpPr/>
          <p:nvPr/>
        </p:nvSpPr>
        <p:spPr>
          <a:xfrm>
            <a:off x="374172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dot26"/>
          <p:cNvSpPr/>
          <p:nvPr/>
        </p:nvSpPr>
        <p:spPr>
          <a:xfrm>
            <a:off x="416844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dot27"/>
          <p:cNvSpPr/>
          <p:nvPr/>
        </p:nvSpPr>
        <p:spPr>
          <a:xfrm>
            <a:off x="4595165" y="209275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dot28"/>
          <p:cNvSpPr/>
          <p:nvPr/>
        </p:nvSpPr>
        <p:spPr>
          <a:xfrm>
            <a:off x="331500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dot29"/>
          <p:cNvSpPr/>
          <p:nvPr/>
        </p:nvSpPr>
        <p:spPr>
          <a:xfrm>
            <a:off x="374172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2-dot30"/>
          <p:cNvSpPr/>
          <p:nvPr/>
        </p:nvSpPr>
        <p:spPr>
          <a:xfrm>
            <a:off x="416844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2-dot31"/>
          <p:cNvSpPr/>
          <p:nvPr/>
        </p:nvSpPr>
        <p:spPr>
          <a:xfrm>
            <a:off x="4595165" y="251947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32"/>
          <p:cNvSpPr/>
          <p:nvPr/>
        </p:nvSpPr>
        <p:spPr>
          <a:xfrm>
            <a:off x="331500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33"/>
          <p:cNvSpPr/>
          <p:nvPr/>
        </p:nvSpPr>
        <p:spPr>
          <a:xfrm>
            <a:off x="374172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34"/>
          <p:cNvSpPr/>
          <p:nvPr/>
        </p:nvSpPr>
        <p:spPr>
          <a:xfrm>
            <a:off x="416844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35"/>
          <p:cNvSpPr/>
          <p:nvPr/>
        </p:nvSpPr>
        <p:spPr>
          <a:xfrm>
            <a:off x="4595165" y="2946197"/>
            <a:ext cx="264566" cy="26456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group36"/>
          <p:cNvSpPr/>
          <p:nvPr/>
        </p:nvSpPr>
        <p:spPr>
          <a:xfrm>
            <a:off x="3261360" y="204825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02-group37"/>
          <p:cNvSpPr/>
          <p:nvPr/>
        </p:nvSpPr>
        <p:spPr>
          <a:xfrm>
            <a:off x="3261360" y="247497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2-group38"/>
          <p:cNvSpPr/>
          <p:nvPr/>
        </p:nvSpPr>
        <p:spPr>
          <a:xfrm>
            <a:off x="3261360" y="2901696"/>
            <a:ext cx="1652016" cy="353568"/>
          </a:xfrm>
          <a:prstGeom prst="roundRect">
            <a:avLst>
              <a:gd name="adj" fmla="val 31034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2-figure39" descr="4개씩 묶은 점 3줄"/>
          <p:cNvSpPr/>
          <p:nvPr/>
        </p:nvSpPr>
        <p:spPr>
          <a:xfrm>
            <a:off x="3233928" y="2011680"/>
            <a:ext cx="1706880" cy="12801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2-chip40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2" name="S02-text41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+ 3 + 3 + 3을 곱셈식으로</a:t>
            </a:r>
            <a:endParaRPr lang="ko-KR" sz="3200" dirty="0"/>
          </a:p>
        </p:txBody>
      </p:sp>
      <p:sp>
        <p:nvSpPr>
          <p:cNvPr id="23" name="S02-chip42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4" name="S02-text43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5의 2배는 얼마예요?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묶어 세요</a:t>
            </a:r>
            <a:endParaRPr lang="ko-KR" sz="4400" dirty="0"/>
          </a:p>
        </p:txBody>
      </p:sp>
      <p:sp>
        <p:nvSpPr>
          <p:cNvPr id="3" name="S03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2개씩 한 묶음이 하나씩 늘어나요.</a:t>
            </a:r>
            <a:endParaRPr lang="ko-KR" sz="3200" dirty="0"/>
          </a:p>
        </p:txBody>
      </p:sp>
      <p:sp>
        <p:nvSpPr>
          <p:cNvPr id="4" name="S03-card4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2개 늘어요.</a:t>
            </a:r>
            <a:endParaRPr lang="ko-KR" sz="3200" dirty="0"/>
          </a:p>
        </p:txBody>
      </p:sp>
      <p:sp>
        <p:nvSpPr>
          <p:cNvPr id="6" name="S03-dot47"/>
          <p:cNvSpPr/>
          <p:nvPr/>
        </p:nvSpPr>
        <p:spPr>
          <a:xfrm>
            <a:off x="140771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8"/>
          <p:cNvSpPr/>
          <p:nvPr/>
        </p:nvSpPr>
        <p:spPr>
          <a:xfrm>
            <a:off x="191063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group49"/>
          <p:cNvSpPr/>
          <p:nvPr/>
        </p:nvSpPr>
        <p:spPr>
          <a:xfrm>
            <a:off x="1339596" y="287413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9" name="S03-figure50" descr="2개씩 1묶음, 점 2개"/>
          <p:cNvSpPr/>
          <p:nvPr/>
        </p:nvSpPr>
        <p:spPr>
          <a:xfrm>
            <a:off x="1312164" y="2837561"/>
            <a:ext cx="100584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03-label51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1</a:t>
            </a:r>
            <a:endParaRPr lang="ko-KR" sz="2600" dirty="0"/>
          </a:p>
        </p:txBody>
      </p:sp>
      <p:sp>
        <p:nvSpPr>
          <p:cNvPr id="11" name="S03-dot52"/>
          <p:cNvSpPr/>
          <p:nvPr/>
        </p:nvSpPr>
        <p:spPr>
          <a:xfrm>
            <a:off x="426064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dot53"/>
          <p:cNvSpPr/>
          <p:nvPr/>
        </p:nvSpPr>
        <p:spPr>
          <a:xfrm>
            <a:off x="476356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54"/>
          <p:cNvSpPr/>
          <p:nvPr/>
        </p:nvSpPr>
        <p:spPr>
          <a:xfrm>
            <a:off x="426064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55"/>
          <p:cNvSpPr/>
          <p:nvPr/>
        </p:nvSpPr>
        <p:spPr>
          <a:xfrm>
            <a:off x="476356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group56"/>
          <p:cNvSpPr/>
          <p:nvPr/>
        </p:nvSpPr>
        <p:spPr>
          <a:xfrm>
            <a:off x="4192524" y="262267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3-group57"/>
          <p:cNvSpPr/>
          <p:nvPr/>
        </p:nvSpPr>
        <p:spPr>
          <a:xfrm>
            <a:off x="4192524" y="312559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03-figure58" descr="2개씩 2묶음, 점 4개"/>
          <p:cNvSpPr/>
          <p:nvPr/>
        </p:nvSpPr>
        <p:spPr>
          <a:xfrm>
            <a:off x="4165092" y="2586101"/>
            <a:ext cx="100584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3-label59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2</a:t>
            </a:r>
            <a:endParaRPr lang="ko-KR" sz="2600" dirty="0"/>
          </a:p>
        </p:txBody>
      </p:sp>
      <p:sp>
        <p:nvSpPr>
          <p:cNvPr id="19" name="S03-dot60"/>
          <p:cNvSpPr/>
          <p:nvPr/>
        </p:nvSpPr>
        <p:spPr>
          <a:xfrm>
            <a:off x="711357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dot61"/>
          <p:cNvSpPr/>
          <p:nvPr/>
        </p:nvSpPr>
        <p:spPr>
          <a:xfrm>
            <a:off x="761649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3-dot62"/>
          <p:cNvSpPr/>
          <p:nvPr/>
        </p:nvSpPr>
        <p:spPr>
          <a:xfrm>
            <a:off x="711357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dot63"/>
          <p:cNvSpPr/>
          <p:nvPr/>
        </p:nvSpPr>
        <p:spPr>
          <a:xfrm>
            <a:off x="761649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64"/>
          <p:cNvSpPr/>
          <p:nvPr/>
        </p:nvSpPr>
        <p:spPr>
          <a:xfrm>
            <a:off x="711357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65"/>
          <p:cNvSpPr/>
          <p:nvPr/>
        </p:nvSpPr>
        <p:spPr>
          <a:xfrm>
            <a:off x="761649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group66"/>
          <p:cNvSpPr/>
          <p:nvPr/>
        </p:nvSpPr>
        <p:spPr>
          <a:xfrm>
            <a:off x="7045452" y="237121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3-group67"/>
          <p:cNvSpPr/>
          <p:nvPr/>
        </p:nvSpPr>
        <p:spPr>
          <a:xfrm>
            <a:off x="7045452" y="287413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3-group68"/>
          <p:cNvSpPr/>
          <p:nvPr/>
        </p:nvSpPr>
        <p:spPr>
          <a:xfrm>
            <a:off x="7045452" y="337705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3-figure69" descr="2개씩 3묶음, 점 6개"/>
          <p:cNvSpPr/>
          <p:nvPr/>
        </p:nvSpPr>
        <p:spPr>
          <a:xfrm>
            <a:off x="7018020" y="2334641"/>
            <a:ext cx="100584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3-label70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</a:t>
            </a:r>
            <a:endParaRPr lang="ko-KR" sz="2600" dirty="0"/>
          </a:p>
        </p:txBody>
      </p:sp>
      <p:sp>
        <p:nvSpPr>
          <p:cNvPr id="30" name="S03-dot71"/>
          <p:cNvSpPr/>
          <p:nvPr/>
        </p:nvSpPr>
        <p:spPr>
          <a:xfrm>
            <a:off x="996650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dot72"/>
          <p:cNvSpPr/>
          <p:nvPr/>
        </p:nvSpPr>
        <p:spPr>
          <a:xfrm>
            <a:off x="1046942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3-dot73"/>
          <p:cNvSpPr/>
          <p:nvPr/>
        </p:nvSpPr>
        <p:spPr>
          <a:xfrm>
            <a:off x="996650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3-dot74"/>
          <p:cNvSpPr/>
          <p:nvPr/>
        </p:nvSpPr>
        <p:spPr>
          <a:xfrm>
            <a:off x="1046942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3-dot75"/>
          <p:cNvSpPr/>
          <p:nvPr/>
        </p:nvSpPr>
        <p:spPr>
          <a:xfrm>
            <a:off x="996650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3-dot76"/>
          <p:cNvSpPr/>
          <p:nvPr/>
        </p:nvSpPr>
        <p:spPr>
          <a:xfrm>
            <a:off x="1046942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3-dot77"/>
          <p:cNvSpPr/>
          <p:nvPr/>
        </p:nvSpPr>
        <p:spPr>
          <a:xfrm>
            <a:off x="996650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dot78"/>
          <p:cNvSpPr/>
          <p:nvPr/>
        </p:nvSpPr>
        <p:spPr>
          <a:xfrm>
            <a:off x="1046942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group79"/>
          <p:cNvSpPr/>
          <p:nvPr/>
        </p:nvSpPr>
        <p:spPr>
          <a:xfrm>
            <a:off x="9898380" y="211975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3-group80"/>
          <p:cNvSpPr/>
          <p:nvPr/>
        </p:nvSpPr>
        <p:spPr>
          <a:xfrm>
            <a:off x="9898380" y="262267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3-group81"/>
          <p:cNvSpPr/>
          <p:nvPr/>
        </p:nvSpPr>
        <p:spPr>
          <a:xfrm>
            <a:off x="9898380" y="312559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1" name="S03-group82"/>
          <p:cNvSpPr/>
          <p:nvPr/>
        </p:nvSpPr>
        <p:spPr>
          <a:xfrm>
            <a:off x="9898380" y="3628517"/>
            <a:ext cx="95097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2" name="S03-figure83" descr="2개씩 4묶음, 점 8개"/>
          <p:cNvSpPr/>
          <p:nvPr/>
        </p:nvSpPr>
        <p:spPr>
          <a:xfrm>
            <a:off x="9870948" y="2083181"/>
            <a:ext cx="100584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03-label84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뛰어 세요</a:t>
            </a:r>
            <a:endParaRPr lang="ko-KR" sz="4400" dirty="0"/>
          </a:p>
        </p:txBody>
      </p:sp>
      <p:sp>
        <p:nvSpPr>
          <p:cNvPr id="3" name="S04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6은 0에서 2씩 6번 뛰어요.</a:t>
            </a:r>
            <a:endParaRPr lang="ko-KR" sz="3200" dirty="0"/>
          </a:p>
        </p:txBody>
      </p:sp>
      <p:sp>
        <p:nvSpPr>
          <p:cNvPr id="4" name="S04-card8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12는 2와 6의 ‘곱’이에요.</a:t>
            </a:r>
            <a:endParaRPr lang="ko-KR" sz="3200" dirty="0"/>
          </a:p>
        </p:txBody>
      </p:sp>
      <p:sp>
        <p:nvSpPr>
          <p:cNvPr id="6" name="S04-line88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89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0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4-line91"/>
          <p:cNvSpPr/>
          <p:nvPr/>
        </p:nvSpPr>
        <p:spPr>
          <a:xfrm>
            <a:off x="153060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abel92"/>
          <p:cNvSpPr txBox="1"/>
          <p:nvPr/>
        </p:nvSpPr>
        <p:spPr>
          <a:xfrm>
            <a:off x="107340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1" name="S04-line93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94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3" name="S04-line95"/>
          <p:cNvSpPr/>
          <p:nvPr/>
        </p:nvSpPr>
        <p:spPr>
          <a:xfrm>
            <a:off x="267157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abel96"/>
          <p:cNvSpPr txBox="1"/>
          <p:nvPr/>
        </p:nvSpPr>
        <p:spPr>
          <a:xfrm>
            <a:off x="221437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04-line97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98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7" name="S04-line99"/>
          <p:cNvSpPr/>
          <p:nvPr/>
        </p:nvSpPr>
        <p:spPr>
          <a:xfrm>
            <a:off x="38125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abel100"/>
          <p:cNvSpPr txBox="1"/>
          <p:nvPr/>
        </p:nvSpPr>
        <p:spPr>
          <a:xfrm>
            <a:off x="335534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04-line101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102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21" name="S04-line103"/>
          <p:cNvSpPr/>
          <p:nvPr/>
        </p:nvSpPr>
        <p:spPr>
          <a:xfrm>
            <a:off x="495350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abel104"/>
          <p:cNvSpPr txBox="1"/>
          <p:nvPr/>
        </p:nvSpPr>
        <p:spPr>
          <a:xfrm>
            <a:off x="449630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04-line105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106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5" name="S04-line107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abel108"/>
          <p:cNvSpPr txBox="1"/>
          <p:nvPr/>
        </p:nvSpPr>
        <p:spPr>
          <a:xfrm>
            <a:off x="563727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7" name="S04-line109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10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9" name="S04-line111"/>
          <p:cNvSpPr/>
          <p:nvPr/>
        </p:nvSpPr>
        <p:spPr>
          <a:xfrm>
            <a:off x="723544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12"/>
          <p:cNvSpPr txBox="1"/>
          <p:nvPr/>
        </p:nvSpPr>
        <p:spPr>
          <a:xfrm>
            <a:off x="677824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1" name="S04-line113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114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33" name="S04-line115"/>
          <p:cNvSpPr/>
          <p:nvPr/>
        </p:nvSpPr>
        <p:spPr>
          <a:xfrm>
            <a:off x="83764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label116"/>
          <p:cNvSpPr txBox="1"/>
          <p:nvPr/>
        </p:nvSpPr>
        <p:spPr>
          <a:xfrm>
            <a:off x="791921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35" name="S04-line117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abel118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37" name="S04-line119"/>
          <p:cNvSpPr/>
          <p:nvPr/>
        </p:nvSpPr>
        <p:spPr>
          <a:xfrm>
            <a:off x="951738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abel120"/>
          <p:cNvSpPr txBox="1"/>
          <p:nvPr/>
        </p:nvSpPr>
        <p:spPr>
          <a:xfrm>
            <a:off x="906018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9" name="S04-line121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abel122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41" name="S04-line123"/>
          <p:cNvSpPr/>
          <p:nvPr/>
        </p:nvSpPr>
        <p:spPr>
          <a:xfrm>
            <a:off x="1065834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abel124"/>
          <p:cNvSpPr txBox="1"/>
          <p:nvPr/>
        </p:nvSpPr>
        <p:spPr>
          <a:xfrm>
            <a:off x="1020114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600" dirty="0"/>
          </a:p>
        </p:txBody>
      </p:sp>
      <p:sp>
        <p:nvSpPr>
          <p:cNvPr id="43" name="S04-line125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4-label126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45" name="S04-mark127"/>
          <p:cNvSpPr/>
          <p:nvPr/>
        </p:nvSpPr>
        <p:spPr>
          <a:xfrm>
            <a:off x="7714488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4-line128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4-line129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4-label130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9" name="S04-line131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4-line132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4-label133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52" name="S04-line134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4-line135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4-label136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55" name="S04-line137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38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39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58" name="S04-line140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41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42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61" name="S04-line143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44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45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64" name="S04-figure146" descr="0부터 18까지 수직선에서 0부터 2씩 6번 뛰어 1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2단을 완성해요</a:t>
            </a:r>
            <a:endParaRPr lang="ko-KR" sz="4400" dirty="0"/>
          </a:p>
        </p:txBody>
      </p:sp>
      <p:sp>
        <p:nvSpPr>
          <p:cNvPr id="3" name="S05-text1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4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4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2를 더하면 다음 곱이에요.</a:t>
            </a:r>
            <a:endParaRPr lang="ko-KR" sz="3200" dirty="0"/>
          </a:p>
        </p:txBody>
      </p:sp>
      <p:graphicFrame>
        <p:nvGraphicFramePr>
          <p:cNvPr id="6" name="S05-table1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묶어 세요</a:t>
            </a:r>
            <a:endParaRPr lang="ko-KR" sz="4400" dirty="0"/>
          </a:p>
        </p:txBody>
      </p:sp>
      <p:sp>
        <p:nvSpPr>
          <p:cNvPr id="3" name="S06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하나에 손가락이 5개예요.</a:t>
            </a:r>
            <a:endParaRPr lang="ko-KR" sz="3200" dirty="0"/>
          </a:p>
        </p:txBody>
      </p:sp>
      <p:sp>
        <p:nvSpPr>
          <p:cNvPr id="4" name="S06-card15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5, 10, 15, 20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5개 늘어요.</a:t>
            </a:r>
            <a:endParaRPr lang="ko-KR" sz="3200" dirty="0"/>
          </a:p>
        </p:txBody>
      </p:sp>
      <p:sp>
        <p:nvSpPr>
          <p:cNvPr id="6" name="S06-dot154"/>
          <p:cNvSpPr/>
          <p:nvPr/>
        </p:nvSpPr>
        <p:spPr>
          <a:xfrm>
            <a:off x="7589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5"/>
          <p:cNvSpPr/>
          <p:nvPr/>
        </p:nvSpPr>
        <p:spPr>
          <a:xfrm>
            <a:off x="12161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56"/>
          <p:cNvSpPr/>
          <p:nvPr/>
        </p:nvSpPr>
        <p:spPr>
          <a:xfrm>
            <a:off x="16733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57"/>
          <p:cNvSpPr/>
          <p:nvPr/>
        </p:nvSpPr>
        <p:spPr>
          <a:xfrm>
            <a:off x="21305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58"/>
          <p:cNvSpPr/>
          <p:nvPr/>
        </p:nvSpPr>
        <p:spPr>
          <a:xfrm>
            <a:off x="2587752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group159"/>
          <p:cNvSpPr/>
          <p:nvPr/>
        </p:nvSpPr>
        <p:spPr>
          <a:xfrm>
            <a:off x="699516" y="28969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2" name="S06-figure160" descr="5개씩 1묶음, 점 5개"/>
          <p:cNvSpPr/>
          <p:nvPr/>
        </p:nvSpPr>
        <p:spPr>
          <a:xfrm>
            <a:off x="672084" y="2860421"/>
            <a:ext cx="2286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06-label161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1</a:t>
            </a:r>
            <a:endParaRPr lang="ko-KR" sz="2600" dirty="0"/>
          </a:p>
        </p:txBody>
      </p:sp>
      <p:sp>
        <p:nvSpPr>
          <p:cNvPr id="14" name="S06-dot162"/>
          <p:cNvSpPr/>
          <p:nvPr/>
        </p:nvSpPr>
        <p:spPr>
          <a:xfrm>
            <a:off x="36118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3"/>
          <p:cNvSpPr/>
          <p:nvPr/>
        </p:nvSpPr>
        <p:spPr>
          <a:xfrm>
            <a:off x="40690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4"/>
          <p:cNvSpPr/>
          <p:nvPr/>
        </p:nvSpPr>
        <p:spPr>
          <a:xfrm>
            <a:off x="45262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5"/>
          <p:cNvSpPr/>
          <p:nvPr/>
        </p:nvSpPr>
        <p:spPr>
          <a:xfrm>
            <a:off x="49834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dot166"/>
          <p:cNvSpPr/>
          <p:nvPr/>
        </p:nvSpPr>
        <p:spPr>
          <a:xfrm>
            <a:off x="544068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6-dot167"/>
          <p:cNvSpPr/>
          <p:nvPr/>
        </p:nvSpPr>
        <p:spPr>
          <a:xfrm>
            <a:off x="36118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dot168"/>
          <p:cNvSpPr/>
          <p:nvPr/>
        </p:nvSpPr>
        <p:spPr>
          <a:xfrm>
            <a:off x="40690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6-dot169"/>
          <p:cNvSpPr/>
          <p:nvPr/>
        </p:nvSpPr>
        <p:spPr>
          <a:xfrm>
            <a:off x="45262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dot170"/>
          <p:cNvSpPr/>
          <p:nvPr/>
        </p:nvSpPr>
        <p:spPr>
          <a:xfrm>
            <a:off x="49834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6-dot171"/>
          <p:cNvSpPr/>
          <p:nvPr/>
        </p:nvSpPr>
        <p:spPr>
          <a:xfrm>
            <a:off x="544068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group172"/>
          <p:cNvSpPr/>
          <p:nvPr/>
        </p:nvSpPr>
        <p:spPr>
          <a:xfrm>
            <a:off x="3552444" y="26683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5" name="S06-group173"/>
          <p:cNvSpPr/>
          <p:nvPr/>
        </p:nvSpPr>
        <p:spPr>
          <a:xfrm>
            <a:off x="3552444" y="31255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06-figure174" descr="5개씩 2묶음, 점 10개"/>
          <p:cNvSpPr/>
          <p:nvPr/>
        </p:nvSpPr>
        <p:spPr>
          <a:xfrm>
            <a:off x="3525012" y="2631821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06-label175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2</a:t>
            </a:r>
            <a:endParaRPr lang="ko-KR" sz="2600" dirty="0"/>
          </a:p>
        </p:txBody>
      </p:sp>
      <p:sp>
        <p:nvSpPr>
          <p:cNvPr id="28" name="S06-dot176"/>
          <p:cNvSpPr/>
          <p:nvPr/>
        </p:nvSpPr>
        <p:spPr>
          <a:xfrm>
            <a:off x="64648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77"/>
          <p:cNvSpPr/>
          <p:nvPr/>
        </p:nvSpPr>
        <p:spPr>
          <a:xfrm>
            <a:off x="69220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78"/>
          <p:cNvSpPr/>
          <p:nvPr/>
        </p:nvSpPr>
        <p:spPr>
          <a:xfrm>
            <a:off x="73792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79"/>
          <p:cNvSpPr/>
          <p:nvPr/>
        </p:nvSpPr>
        <p:spPr>
          <a:xfrm>
            <a:off x="78364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0"/>
          <p:cNvSpPr/>
          <p:nvPr/>
        </p:nvSpPr>
        <p:spPr>
          <a:xfrm>
            <a:off x="8293608" y="2490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81"/>
          <p:cNvSpPr/>
          <p:nvPr/>
        </p:nvSpPr>
        <p:spPr>
          <a:xfrm>
            <a:off x="64648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82"/>
          <p:cNvSpPr/>
          <p:nvPr/>
        </p:nvSpPr>
        <p:spPr>
          <a:xfrm>
            <a:off x="69220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83"/>
          <p:cNvSpPr/>
          <p:nvPr/>
        </p:nvSpPr>
        <p:spPr>
          <a:xfrm>
            <a:off x="73792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dot184"/>
          <p:cNvSpPr/>
          <p:nvPr/>
        </p:nvSpPr>
        <p:spPr>
          <a:xfrm>
            <a:off x="78364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6-dot185"/>
          <p:cNvSpPr/>
          <p:nvPr/>
        </p:nvSpPr>
        <p:spPr>
          <a:xfrm>
            <a:off x="8293608" y="29472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dot186"/>
          <p:cNvSpPr/>
          <p:nvPr/>
        </p:nvSpPr>
        <p:spPr>
          <a:xfrm>
            <a:off x="64648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6-dot187"/>
          <p:cNvSpPr/>
          <p:nvPr/>
        </p:nvSpPr>
        <p:spPr>
          <a:xfrm>
            <a:off x="69220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6-dot188"/>
          <p:cNvSpPr/>
          <p:nvPr/>
        </p:nvSpPr>
        <p:spPr>
          <a:xfrm>
            <a:off x="73792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6-dot189"/>
          <p:cNvSpPr/>
          <p:nvPr/>
        </p:nvSpPr>
        <p:spPr>
          <a:xfrm>
            <a:off x="78364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6-dot190"/>
          <p:cNvSpPr/>
          <p:nvPr/>
        </p:nvSpPr>
        <p:spPr>
          <a:xfrm>
            <a:off x="8293608" y="3404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group191"/>
          <p:cNvSpPr/>
          <p:nvPr/>
        </p:nvSpPr>
        <p:spPr>
          <a:xfrm>
            <a:off x="6405372" y="24397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4" name="S06-group192"/>
          <p:cNvSpPr/>
          <p:nvPr/>
        </p:nvSpPr>
        <p:spPr>
          <a:xfrm>
            <a:off x="6405372" y="28969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5" name="S06-group193"/>
          <p:cNvSpPr/>
          <p:nvPr/>
        </p:nvSpPr>
        <p:spPr>
          <a:xfrm>
            <a:off x="6405372" y="33541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6" name="S06-figure194" descr="5개씩 3묶음, 점 15개"/>
          <p:cNvSpPr/>
          <p:nvPr/>
        </p:nvSpPr>
        <p:spPr>
          <a:xfrm>
            <a:off x="6377940" y="2403221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06-label195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</a:t>
            </a:r>
            <a:endParaRPr lang="ko-KR" sz="2600" dirty="0"/>
          </a:p>
        </p:txBody>
      </p:sp>
      <p:sp>
        <p:nvSpPr>
          <p:cNvPr id="48" name="S06-dot196"/>
          <p:cNvSpPr/>
          <p:nvPr/>
        </p:nvSpPr>
        <p:spPr>
          <a:xfrm>
            <a:off x="93177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197"/>
          <p:cNvSpPr/>
          <p:nvPr/>
        </p:nvSpPr>
        <p:spPr>
          <a:xfrm>
            <a:off x="97749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198"/>
          <p:cNvSpPr/>
          <p:nvPr/>
        </p:nvSpPr>
        <p:spPr>
          <a:xfrm>
            <a:off x="102321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199"/>
          <p:cNvSpPr/>
          <p:nvPr/>
        </p:nvSpPr>
        <p:spPr>
          <a:xfrm>
            <a:off x="106893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00"/>
          <p:cNvSpPr/>
          <p:nvPr/>
        </p:nvSpPr>
        <p:spPr>
          <a:xfrm>
            <a:off x="11146536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01"/>
          <p:cNvSpPr/>
          <p:nvPr/>
        </p:nvSpPr>
        <p:spPr>
          <a:xfrm>
            <a:off x="93177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02"/>
          <p:cNvSpPr/>
          <p:nvPr/>
        </p:nvSpPr>
        <p:spPr>
          <a:xfrm>
            <a:off x="97749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03"/>
          <p:cNvSpPr/>
          <p:nvPr/>
        </p:nvSpPr>
        <p:spPr>
          <a:xfrm>
            <a:off x="102321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04"/>
          <p:cNvSpPr/>
          <p:nvPr/>
        </p:nvSpPr>
        <p:spPr>
          <a:xfrm>
            <a:off x="106893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05"/>
          <p:cNvSpPr/>
          <p:nvPr/>
        </p:nvSpPr>
        <p:spPr>
          <a:xfrm>
            <a:off x="11146536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06"/>
          <p:cNvSpPr/>
          <p:nvPr/>
        </p:nvSpPr>
        <p:spPr>
          <a:xfrm>
            <a:off x="93177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07"/>
          <p:cNvSpPr/>
          <p:nvPr/>
        </p:nvSpPr>
        <p:spPr>
          <a:xfrm>
            <a:off x="97749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08"/>
          <p:cNvSpPr/>
          <p:nvPr/>
        </p:nvSpPr>
        <p:spPr>
          <a:xfrm>
            <a:off x="102321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09"/>
          <p:cNvSpPr/>
          <p:nvPr/>
        </p:nvSpPr>
        <p:spPr>
          <a:xfrm>
            <a:off x="106893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10"/>
          <p:cNvSpPr/>
          <p:nvPr/>
        </p:nvSpPr>
        <p:spPr>
          <a:xfrm>
            <a:off x="11146536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11"/>
          <p:cNvSpPr/>
          <p:nvPr/>
        </p:nvSpPr>
        <p:spPr>
          <a:xfrm>
            <a:off x="93177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212"/>
          <p:cNvSpPr/>
          <p:nvPr/>
        </p:nvSpPr>
        <p:spPr>
          <a:xfrm>
            <a:off x="97749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213"/>
          <p:cNvSpPr/>
          <p:nvPr/>
        </p:nvSpPr>
        <p:spPr>
          <a:xfrm>
            <a:off x="102321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dot214"/>
          <p:cNvSpPr/>
          <p:nvPr/>
        </p:nvSpPr>
        <p:spPr>
          <a:xfrm>
            <a:off x="106893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7" name="S06-dot215"/>
          <p:cNvSpPr/>
          <p:nvPr/>
        </p:nvSpPr>
        <p:spPr>
          <a:xfrm>
            <a:off x="11146536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6-group216"/>
          <p:cNvSpPr/>
          <p:nvPr/>
        </p:nvSpPr>
        <p:spPr>
          <a:xfrm>
            <a:off x="9258300" y="22111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group217"/>
          <p:cNvSpPr/>
          <p:nvPr/>
        </p:nvSpPr>
        <p:spPr>
          <a:xfrm>
            <a:off x="9258300" y="26683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6-group218"/>
          <p:cNvSpPr/>
          <p:nvPr/>
        </p:nvSpPr>
        <p:spPr>
          <a:xfrm>
            <a:off x="9258300" y="31255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1" name="S06-group219"/>
          <p:cNvSpPr/>
          <p:nvPr/>
        </p:nvSpPr>
        <p:spPr>
          <a:xfrm>
            <a:off x="9258300" y="3582797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2" name="S06-figure220" descr="5개씩 4묶음, 점 20개"/>
          <p:cNvSpPr/>
          <p:nvPr/>
        </p:nvSpPr>
        <p:spPr>
          <a:xfrm>
            <a:off x="9230868" y="2174621"/>
            <a:ext cx="22860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06-label221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뛰어 세요</a:t>
            </a:r>
            <a:endParaRPr lang="ko-KR" sz="4400" dirty="0"/>
          </a:p>
        </p:txBody>
      </p:sp>
      <p:sp>
        <p:nvSpPr>
          <p:cNvPr id="3" name="S07-text2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7은 0에서 5씩 7번 뛰어요.</a:t>
            </a:r>
            <a:endParaRPr lang="ko-KR" sz="3200" dirty="0"/>
          </a:p>
        </p:txBody>
      </p:sp>
      <p:sp>
        <p:nvSpPr>
          <p:cNvPr id="4" name="S07-card22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7 = 35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30보다 5 커요.</a:t>
            </a:r>
            <a:endParaRPr lang="ko-KR" sz="3200" dirty="0"/>
          </a:p>
        </p:txBody>
      </p:sp>
      <p:sp>
        <p:nvSpPr>
          <p:cNvPr id="6" name="S07-line225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6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7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28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29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1" name="S07-line230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31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3" name="S07-line232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3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15" name="S07-line234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5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17" name="S07-line236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7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600" dirty="0"/>
          </a:p>
        </p:txBody>
      </p:sp>
      <p:sp>
        <p:nvSpPr>
          <p:cNvPr id="19" name="S07-line238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39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21" name="S07-line240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41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600" dirty="0"/>
          </a:p>
        </p:txBody>
      </p:sp>
      <p:sp>
        <p:nvSpPr>
          <p:cNvPr id="23" name="S07-line242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3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600" dirty="0"/>
          </a:p>
        </p:txBody>
      </p:sp>
      <p:sp>
        <p:nvSpPr>
          <p:cNvPr id="25" name="S07-line244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5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600" dirty="0"/>
          </a:p>
        </p:txBody>
      </p:sp>
      <p:sp>
        <p:nvSpPr>
          <p:cNvPr id="27" name="S07-mark246"/>
          <p:cNvSpPr/>
          <p:nvPr/>
        </p:nvSpPr>
        <p:spPr>
          <a:xfrm>
            <a:off x="885545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7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48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49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50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51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52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3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4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5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6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7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58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59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60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61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line262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7-line263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7-label264"/>
          <p:cNvSpPr txBox="1"/>
          <p:nvPr/>
        </p:nvSpPr>
        <p:spPr>
          <a:xfrm>
            <a:off x="666496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600" dirty="0"/>
          </a:p>
        </p:txBody>
      </p:sp>
      <p:sp>
        <p:nvSpPr>
          <p:cNvPr id="46" name="S07-line265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7-line266"/>
          <p:cNvSpPr/>
          <p:nvPr/>
        </p:nvSpPr>
        <p:spPr>
          <a:xfrm>
            <a:off x="780592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7-label267"/>
          <p:cNvSpPr txBox="1"/>
          <p:nvPr/>
        </p:nvSpPr>
        <p:spPr>
          <a:xfrm>
            <a:off x="780592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ko-KR" sz="2600" dirty="0"/>
          </a:p>
        </p:txBody>
      </p:sp>
      <p:sp>
        <p:nvSpPr>
          <p:cNvPr id="49" name="S07-figure268" descr="0부터 45까지 5씩 눈금이 있는 수직선에서 0부터 5씩 7번 뛰어 35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5단을 완성해요</a:t>
            </a:r>
            <a:endParaRPr lang="ko-KR" sz="4400" dirty="0"/>
          </a:p>
        </p:txBody>
      </p:sp>
      <p:sp>
        <p:nvSpPr>
          <p:cNvPr id="3" name="S08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채우고 일의 자리를 봐요.</a:t>
            </a:r>
            <a:endParaRPr lang="ko-KR" sz="3200" dirty="0"/>
          </a:p>
        </p:txBody>
      </p:sp>
      <p:sp>
        <p:nvSpPr>
          <p:cNvPr id="4" name="S08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 어떤 수가 되풀이되나요?</a:t>
            </a:r>
            <a:endParaRPr lang="ko-KR" sz="3200" dirty="0"/>
          </a:p>
        </p:txBody>
      </p:sp>
      <p:graphicFrame>
        <p:nvGraphicFramePr>
          <p:cNvPr id="9" name="S08-table2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5435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5" name="S09-chip275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9-text276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양말 7켤레는 몇 짝?</a:t>
            </a:r>
            <a:endParaRPr lang="ko-KR" sz="3200" dirty="0"/>
          </a:p>
        </p:txBody>
      </p:sp>
      <p:sp>
        <p:nvSpPr>
          <p:cNvPr id="7" name="S09-chip277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9-eqtext278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6 = □</a:t>
            </a:r>
            <a:endParaRPr lang="ko-KR" sz="3600" dirty="0"/>
          </a:p>
        </p:txBody>
      </p:sp>
      <p:sp>
        <p:nvSpPr>
          <p:cNvPr id="9" name="S09-chip279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9-eqtext280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8 = □</a:t>
            </a:r>
            <a:endParaRPr lang="ko-KR" sz="3600" dirty="0"/>
          </a:p>
        </p:txBody>
      </p:sp>
      <p:sp>
        <p:nvSpPr>
          <p:cNvPr id="11" name="S09-chip281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9-text282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5개씩 4상자는 몇 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8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8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3을 계산했어요.</a:t>
            </a:r>
            <a:endParaRPr lang="ko-KR" sz="3200" dirty="0"/>
          </a:p>
        </p:txBody>
      </p:sp>
      <p:sp>
        <p:nvSpPr>
          <p:cNvPr id="5" name="S10-card2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28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8</a:t>
            </a:r>
            <a:endParaRPr lang="ko-KR" sz="2600" dirty="0"/>
          </a:p>
        </p:txBody>
      </p:sp>
      <p:sp>
        <p:nvSpPr>
          <p:cNvPr id="8" name="S10-text28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“5와 3이 있으니까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+ 3 = 8이에요.”</a:t>
            </a:r>
            <a:endParaRPr lang="ko-KR" sz="3200" dirty="0"/>
          </a:p>
        </p:txBody>
      </p:sp>
      <p:sp>
        <p:nvSpPr>
          <p:cNvPr id="9" name="S10-chip28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15</a:t>
            </a:r>
            <a:endParaRPr lang="ko-KR" sz="2600" dirty="0"/>
          </a:p>
        </p:txBody>
      </p:sp>
      <p:sp>
        <p:nvSpPr>
          <p:cNvPr id="10" name="S10-dot290"/>
          <p:cNvSpPr/>
          <p:nvPr/>
        </p:nvSpPr>
        <p:spPr>
          <a:xfrm>
            <a:off x="79027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91"/>
          <p:cNvSpPr/>
          <p:nvPr/>
        </p:nvSpPr>
        <p:spPr>
          <a:xfrm>
            <a:off x="83599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92"/>
          <p:cNvSpPr/>
          <p:nvPr/>
        </p:nvSpPr>
        <p:spPr>
          <a:xfrm>
            <a:off x="88171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93"/>
          <p:cNvSpPr/>
          <p:nvPr/>
        </p:nvSpPr>
        <p:spPr>
          <a:xfrm>
            <a:off x="92743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94"/>
          <p:cNvSpPr/>
          <p:nvPr/>
        </p:nvSpPr>
        <p:spPr>
          <a:xfrm>
            <a:off x="9731502" y="32915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95"/>
          <p:cNvSpPr/>
          <p:nvPr/>
        </p:nvSpPr>
        <p:spPr>
          <a:xfrm>
            <a:off x="79027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96"/>
          <p:cNvSpPr/>
          <p:nvPr/>
        </p:nvSpPr>
        <p:spPr>
          <a:xfrm>
            <a:off x="83599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97"/>
          <p:cNvSpPr/>
          <p:nvPr/>
        </p:nvSpPr>
        <p:spPr>
          <a:xfrm>
            <a:off x="88171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98"/>
          <p:cNvSpPr/>
          <p:nvPr/>
        </p:nvSpPr>
        <p:spPr>
          <a:xfrm>
            <a:off x="92743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99"/>
          <p:cNvSpPr/>
          <p:nvPr/>
        </p:nvSpPr>
        <p:spPr>
          <a:xfrm>
            <a:off x="9731502" y="37487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300"/>
          <p:cNvSpPr/>
          <p:nvPr/>
        </p:nvSpPr>
        <p:spPr>
          <a:xfrm>
            <a:off x="79027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301"/>
          <p:cNvSpPr/>
          <p:nvPr/>
        </p:nvSpPr>
        <p:spPr>
          <a:xfrm>
            <a:off x="83599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302"/>
          <p:cNvSpPr/>
          <p:nvPr/>
        </p:nvSpPr>
        <p:spPr>
          <a:xfrm>
            <a:off x="88171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03"/>
          <p:cNvSpPr/>
          <p:nvPr/>
        </p:nvSpPr>
        <p:spPr>
          <a:xfrm>
            <a:off x="92743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04"/>
          <p:cNvSpPr/>
          <p:nvPr/>
        </p:nvSpPr>
        <p:spPr>
          <a:xfrm>
            <a:off x="9731502" y="4205986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group305"/>
          <p:cNvSpPr/>
          <p:nvPr/>
        </p:nvSpPr>
        <p:spPr>
          <a:xfrm>
            <a:off x="7843266" y="32412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6" name="S10-group306"/>
          <p:cNvSpPr/>
          <p:nvPr/>
        </p:nvSpPr>
        <p:spPr>
          <a:xfrm>
            <a:off x="7843266" y="36984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10-group307"/>
          <p:cNvSpPr/>
          <p:nvPr/>
        </p:nvSpPr>
        <p:spPr>
          <a:xfrm>
            <a:off x="7843266" y="4155694"/>
            <a:ext cx="22311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10-figure308" descr="5개씩 묶은 점 3줄, 모두 15개"/>
          <p:cNvSpPr/>
          <p:nvPr/>
        </p:nvSpPr>
        <p:spPr>
          <a:xfrm>
            <a:off x="7815834" y="3204718"/>
            <a:ext cx="22860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10-text309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“5씩 3묶음: 5, 10, 15”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1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1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9 = □</a:t>
            </a:r>
            <a:endParaRPr lang="ko-KR" sz="3600" dirty="0"/>
          </a:p>
        </p:txBody>
      </p:sp>
      <p:sp>
        <p:nvSpPr>
          <p:cNvPr id="6" name="S11-chip31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1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8 = □</a:t>
            </a:r>
            <a:endParaRPr lang="ko-KR" sz="3600" dirty="0"/>
          </a:p>
        </p:txBody>
      </p:sp>
      <p:sp>
        <p:nvSpPr>
          <p:cNvPr id="8" name="S11-chip31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31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5 = □</a:t>
            </a:r>
            <a:endParaRPr lang="ko-KR" sz="3600" dirty="0"/>
          </a:p>
        </p:txBody>
      </p:sp>
      <p:sp>
        <p:nvSpPr>
          <p:cNvPr id="10" name="S11-chip31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1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두발자전거 4대의 바퀴는?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3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바둑돌로 묶음을 다시 놓아 보게 하세요.</a:t>
            </a:r>
            <a:endParaRPr lang="ko-KR" sz="3200" dirty="0"/>
          </a:p>
        </p:txBody>
      </p:sp>
      <p:sp>
        <p:nvSpPr>
          <p:cNvPr id="5" name="S12-chip32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322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18  ② 40</a:t>
            </a:r>
            <a:endParaRPr lang="ko-KR" sz="3200" dirty="0"/>
          </a:p>
        </p:txBody>
      </p:sp>
      <p:sp>
        <p:nvSpPr>
          <p:cNvPr id="7" name="S12-text323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9, 5 × 8</a:t>
            </a:r>
            <a:endParaRPr lang="ko-KR" sz="2600" dirty="0"/>
          </a:p>
        </p:txBody>
      </p:sp>
      <p:sp>
        <p:nvSpPr>
          <p:cNvPr id="8" name="S12-text324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25</a:t>
            </a:r>
            <a:endParaRPr lang="ko-KR" sz="3200" dirty="0"/>
          </a:p>
        </p:txBody>
      </p:sp>
      <p:sp>
        <p:nvSpPr>
          <p:cNvPr id="9" name="S12-text325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5씩 5번 뛰기</a:t>
            </a:r>
            <a:endParaRPr lang="ko-KR" sz="2600" dirty="0"/>
          </a:p>
        </p:txBody>
      </p:sp>
      <p:sp>
        <p:nvSpPr>
          <p:cNvPr id="10" name="S12-text326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 × 4 = 8</a:t>
            </a:r>
            <a:endParaRPr lang="ko-KR" sz="3200" dirty="0"/>
          </a:p>
        </p:txBody>
      </p:sp>
      <p:sp>
        <p:nvSpPr>
          <p:cNvPr id="11" name="S12-text327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바퀴 8개</a:t>
            </a:r>
            <a:endParaRPr lang="ko-KR" sz="2600" dirty="0"/>
          </a:p>
        </p:txBody>
      </p:sp>
      <p:sp>
        <p:nvSpPr>
          <p:cNvPr id="12" name="S12-chip32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2-text32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13</a:t>
            </a:r>
            <a:endParaRPr lang="ko-KR" sz="3200" dirty="0"/>
          </a:p>
        </p:txBody>
      </p:sp>
      <p:sp>
        <p:nvSpPr>
          <p:cNvPr id="14" name="S12-text33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8을 더함</a:t>
            </a:r>
            <a:endParaRPr lang="ko-KR" sz="2600" dirty="0"/>
          </a:p>
        </p:txBody>
      </p:sp>
      <p:sp>
        <p:nvSpPr>
          <p:cNvPr id="15" name="S12-text33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16</a:t>
            </a:r>
            <a:endParaRPr lang="ko-KR" sz="3200" dirty="0"/>
          </a:p>
        </p:txBody>
      </p:sp>
      <p:sp>
        <p:nvSpPr>
          <p:cNvPr id="16" name="S12-text33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덜 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단에 모두 있어요</a:t>
            </a:r>
            <a:endParaRPr lang="ko-KR" sz="4400" dirty="0"/>
          </a:p>
        </p:txBody>
      </p:sp>
      <p:sp>
        <p:nvSpPr>
          <p:cNvPr id="3" name="S13-text3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2단에도 5단에도 나오는 곱은?</a:t>
            </a:r>
            <a:endParaRPr lang="ko-KR" sz="3200" dirty="0"/>
          </a:p>
        </p:txBody>
      </p:sp>
      <p:sp>
        <p:nvSpPr>
          <p:cNvPr id="4" name="S13-card3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곱셈식인지 말해 보세요.</a:t>
            </a:r>
            <a:endParaRPr lang="ko-KR" sz="3200" dirty="0"/>
          </a:p>
        </p:txBody>
      </p:sp>
      <p:sp>
        <p:nvSpPr>
          <p:cNvPr id="6" name="S13-chip33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3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3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9" name="S13-chip33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4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4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2" name="S13-chip34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4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4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4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4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2단은 2씩, 5단은 5씩 곱이 커져요.</a:t>
            </a:r>
            <a:endParaRPr lang="ko-KR" sz="3200" dirty="0"/>
          </a:p>
        </p:txBody>
      </p:sp>
      <p:sp>
        <p:nvSpPr>
          <p:cNvPr id="5" name="S14-chip347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앞의 곱에 2나 5 더하기</a:t>
            </a:r>
            <a:endParaRPr lang="ko-KR" sz="2600" dirty="0"/>
          </a:p>
        </p:txBody>
      </p:sp>
      <p:sp>
        <p:nvSpPr>
          <p:cNvPr id="6" name="S14-chip348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수를 더하기</a:t>
            </a:r>
            <a:endParaRPr lang="ko-KR" sz="2600" dirty="0"/>
          </a:p>
        </p:txBody>
      </p:sp>
      <p:sp>
        <p:nvSpPr>
          <p:cNvPr id="7" name="S14-text349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50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× 7 = □</a:t>
            </a:r>
            <a:endParaRPr lang="ko-KR" sz="3000" dirty="0"/>
          </a:p>
        </p:txBody>
      </p:sp>
      <p:sp>
        <p:nvSpPr>
          <p:cNvPr id="9" name="S14-eqtext351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 × 9 = □</a:t>
            </a:r>
            <a:endParaRPr lang="ko-KR" sz="3000" dirty="0"/>
          </a:p>
        </p:txBody>
      </p:sp>
      <p:sp>
        <p:nvSpPr>
          <p:cNvPr id="10" name="S14-eqtext352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 × 5 = □</a:t>
            </a:r>
            <a:endParaRPr lang="ko-KR" sz="3000" dirty="0"/>
          </a:p>
        </p:txBody>
      </p:sp>
      <p:sp>
        <p:nvSpPr>
          <p:cNvPr id="11" name="S14-text35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3단과 6단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몇씩 몇 묶음</a:t>
            </a:r>
            <a:endParaRPr lang="ko-KR" sz="4400" dirty="0"/>
          </a:p>
        </p:txBody>
      </p:sp>
      <p:sp>
        <p:nvSpPr>
          <p:cNvPr id="3" name="S15-text3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접시에 4개씩, 접시 3개예요.</a:t>
            </a:r>
            <a:endParaRPr lang="ko-KR" sz="3200" dirty="0"/>
          </a:p>
        </p:txBody>
      </p:sp>
      <p:sp>
        <p:nvSpPr>
          <p:cNvPr id="4" name="S15-dot355"/>
          <p:cNvSpPr/>
          <p:nvPr/>
        </p:nvSpPr>
        <p:spPr>
          <a:xfrm>
            <a:off x="207157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15-dot356"/>
          <p:cNvSpPr/>
          <p:nvPr/>
        </p:nvSpPr>
        <p:spPr>
          <a:xfrm>
            <a:off x="271165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5-dot357"/>
          <p:cNvSpPr/>
          <p:nvPr/>
        </p:nvSpPr>
        <p:spPr>
          <a:xfrm>
            <a:off x="335173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5-dot358"/>
          <p:cNvSpPr/>
          <p:nvPr/>
        </p:nvSpPr>
        <p:spPr>
          <a:xfrm>
            <a:off x="3991813" y="327629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5-dot359"/>
          <p:cNvSpPr/>
          <p:nvPr/>
        </p:nvSpPr>
        <p:spPr>
          <a:xfrm>
            <a:off x="207157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5-dot360"/>
          <p:cNvSpPr/>
          <p:nvPr/>
        </p:nvSpPr>
        <p:spPr>
          <a:xfrm>
            <a:off x="271165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5-dot361"/>
          <p:cNvSpPr/>
          <p:nvPr/>
        </p:nvSpPr>
        <p:spPr>
          <a:xfrm>
            <a:off x="335173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5-dot362"/>
          <p:cNvSpPr/>
          <p:nvPr/>
        </p:nvSpPr>
        <p:spPr>
          <a:xfrm>
            <a:off x="3991813" y="391637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5-dot363"/>
          <p:cNvSpPr/>
          <p:nvPr/>
        </p:nvSpPr>
        <p:spPr>
          <a:xfrm>
            <a:off x="207157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5-dot364"/>
          <p:cNvSpPr/>
          <p:nvPr/>
        </p:nvSpPr>
        <p:spPr>
          <a:xfrm>
            <a:off x="271165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5-dot365"/>
          <p:cNvSpPr/>
          <p:nvPr/>
        </p:nvSpPr>
        <p:spPr>
          <a:xfrm>
            <a:off x="335173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5-dot366"/>
          <p:cNvSpPr/>
          <p:nvPr/>
        </p:nvSpPr>
        <p:spPr>
          <a:xfrm>
            <a:off x="3991813" y="4556455"/>
            <a:ext cx="396850" cy="39685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5-group367"/>
          <p:cNvSpPr/>
          <p:nvPr/>
        </p:nvSpPr>
        <p:spPr>
          <a:xfrm>
            <a:off x="1977390" y="319125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7" name="S15-group368"/>
          <p:cNvSpPr/>
          <p:nvPr/>
        </p:nvSpPr>
        <p:spPr>
          <a:xfrm>
            <a:off x="1977390" y="383133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8" name="S15-group369"/>
          <p:cNvSpPr/>
          <p:nvPr/>
        </p:nvSpPr>
        <p:spPr>
          <a:xfrm>
            <a:off x="1977390" y="4471416"/>
            <a:ext cx="2505456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15-figure370" descr="4개씩 묶은 점 3줄, 모두 12개"/>
          <p:cNvSpPr/>
          <p:nvPr/>
        </p:nvSpPr>
        <p:spPr>
          <a:xfrm>
            <a:off x="1949958" y="3154680"/>
            <a:ext cx="256032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5-card371"/>
          <p:cNvSpPr/>
          <p:nvPr/>
        </p:nvSpPr>
        <p:spPr>
          <a:xfrm>
            <a:off x="6277356" y="2696464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1" name="S15-cardtext372"/>
          <p:cNvSpPr txBox="1"/>
          <p:nvPr/>
        </p:nvSpPr>
        <p:spPr>
          <a:xfrm>
            <a:off x="6551676" y="2833624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+ 4 + 4 = 12</a:t>
            </a:r>
            <a:endParaRPr lang="ko-KR" sz="3200" dirty="0"/>
          </a:p>
        </p:txBody>
      </p:sp>
      <p:sp>
        <p:nvSpPr>
          <p:cNvPr id="22" name="S15-card373"/>
          <p:cNvSpPr/>
          <p:nvPr/>
        </p:nvSpPr>
        <p:spPr>
          <a:xfrm>
            <a:off x="6277356" y="4229100"/>
            <a:ext cx="536295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3" name="S15-cardtext374"/>
          <p:cNvSpPr txBox="1"/>
          <p:nvPr/>
        </p:nvSpPr>
        <p:spPr>
          <a:xfrm>
            <a:off x="6551676" y="4366260"/>
            <a:ext cx="481431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3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4의 3배는 12예요.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2단과 5단</dc:title>
  <dc:subject>KR22-G02-MAT-TIMES25-L01</dc:subject>
  <dc:creator>education-ppt</dc:creator>
  <cp:lastModifiedBy>education-ppt</cp:lastModifiedBy>
  <cp:revision>1</cp:revision>
  <dcterms:created xsi:type="dcterms:W3CDTF">2026-10-26T07:46:43Z</dcterms:created>
  <dcterms:modified xsi:type="dcterms:W3CDTF">2026-10-26T07:46:43Z</dcterms:modified>
</cp:coreProperties>
</file>