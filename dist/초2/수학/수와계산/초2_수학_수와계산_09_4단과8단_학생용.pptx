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ebfee14f-0bfe-9a1d-c237-4f1d4fec31ae}">
          <p14:sldIdLst>
            <p14:sldId id="256"/>
            <p14:sldId id="257"/>
          </p14:sldIdLst>
        </p14:section>
        <p14:section name="개념" id="{af3fe34c-7d9a-08c1-1c34-1263ad3c990e}">
          <p14:sldIdLst>
            <p14:sldId id="258"/>
            <p14:sldId id="259"/>
            <p14:sldId id="260"/>
            <p14:sldId id="261"/>
            <p14:sldId id="262"/>
            <p14:sldId id="263"/>
          </p14:sldIdLst>
        </p14:section>
        <p14:section name="연습" id="{764b39ff-fb70-fd45-dd49-2a7ea2602d47}">
          <p14:sldIdLst>
            <p14:sldId id="264"/>
            <p14:sldId id="265"/>
          </p14:sldIdLst>
        </p14:section>
        <p14:section name="확인" id="{6218a6c6-e6f0-7735-a88e-da275cf8a866}">
          <p14:sldIdLst>
            <p14:sldId id="266"/>
            <p14:sldId id="267"/>
          </p14:sldIdLst>
        </p14:section>
        <p14:section name="정리" id="{77c2a7f8-dc73-c0ff-861d-ec50b0cbbdcc}">
          <p14:sldIdLst>
            <p14:sldId id="268"/>
          </p14:sldIdLst>
        </p14:section>
        <p14:section name="보충" id="{75fa387f-1121-f8cf-c89f-41e994e02f70}">
          <p14:sldIdLst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5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32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초2 수학 · 수와계산 · 9차시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초2 수학 · 4단과 8단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초2 수학 · 4단과 8단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초2 수학 · 4단과 8단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5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4단과 8단</a:t>
            </a:r>
            <a:endParaRPr lang="ko-KR" sz="5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3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4단으로 8단을 구할 수 있을까?</a:t>
            </a:r>
            <a:endParaRPr lang="ko-KR" sz="3200" dirty="0"/>
          </a:p>
        </p:txBody>
      </p:sp>
      <p:sp>
        <p:nvSpPr>
          <p:cNvPr id="4" name="S01-dot1"/>
          <p:cNvSpPr/>
          <p:nvPr/>
        </p:nvSpPr>
        <p:spPr>
          <a:xfrm>
            <a:off x="7839151" y="1564081"/>
            <a:ext cx="255118" cy="25511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5" name="S01-dot2"/>
          <p:cNvSpPr/>
          <p:nvPr/>
        </p:nvSpPr>
        <p:spPr>
          <a:xfrm>
            <a:off x="8250631" y="1564081"/>
            <a:ext cx="255118" cy="25511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6" name="S01-dot3"/>
          <p:cNvSpPr/>
          <p:nvPr/>
        </p:nvSpPr>
        <p:spPr>
          <a:xfrm>
            <a:off x="8662111" y="1564081"/>
            <a:ext cx="255118" cy="25511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7" name="S01-dot4"/>
          <p:cNvSpPr/>
          <p:nvPr/>
        </p:nvSpPr>
        <p:spPr>
          <a:xfrm>
            <a:off x="9073591" y="1564081"/>
            <a:ext cx="255118" cy="25511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8" name="S01-dot5"/>
          <p:cNvSpPr/>
          <p:nvPr/>
        </p:nvSpPr>
        <p:spPr>
          <a:xfrm>
            <a:off x="7839151" y="1975561"/>
            <a:ext cx="255118" cy="25511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9" name="S01-dot6"/>
          <p:cNvSpPr/>
          <p:nvPr/>
        </p:nvSpPr>
        <p:spPr>
          <a:xfrm>
            <a:off x="8250631" y="1975561"/>
            <a:ext cx="255118" cy="25511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0" name="S01-dot7"/>
          <p:cNvSpPr/>
          <p:nvPr/>
        </p:nvSpPr>
        <p:spPr>
          <a:xfrm>
            <a:off x="8662111" y="1975561"/>
            <a:ext cx="255118" cy="25511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1" name="S01-dot8"/>
          <p:cNvSpPr/>
          <p:nvPr/>
        </p:nvSpPr>
        <p:spPr>
          <a:xfrm>
            <a:off x="9073591" y="1975561"/>
            <a:ext cx="255118" cy="25511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2" name="S01-dot9"/>
          <p:cNvSpPr/>
          <p:nvPr/>
        </p:nvSpPr>
        <p:spPr>
          <a:xfrm>
            <a:off x="7839151" y="2387041"/>
            <a:ext cx="255118" cy="25511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3" name="S01-dot10"/>
          <p:cNvSpPr/>
          <p:nvPr/>
        </p:nvSpPr>
        <p:spPr>
          <a:xfrm>
            <a:off x="8250631" y="2387041"/>
            <a:ext cx="255118" cy="25511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4" name="S01-dot11"/>
          <p:cNvSpPr/>
          <p:nvPr/>
        </p:nvSpPr>
        <p:spPr>
          <a:xfrm>
            <a:off x="8662111" y="2387041"/>
            <a:ext cx="255118" cy="25511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5" name="S01-dot12"/>
          <p:cNvSpPr/>
          <p:nvPr/>
        </p:nvSpPr>
        <p:spPr>
          <a:xfrm>
            <a:off x="9073591" y="2387041"/>
            <a:ext cx="255118" cy="25511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6" name="S01-group13"/>
          <p:cNvSpPr/>
          <p:nvPr/>
        </p:nvSpPr>
        <p:spPr>
          <a:xfrm>
            <a:off x="7788402" y="1522476"/>
            <a:ext cx="1591056" cy="338328"/>
          </a:xfrm>
          <a:prstGeom prst="roundRect">
            <a:avLst>
              <a:gd name="adj" fmla="val 32432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17" name="S01-group14"/>
          <p:cNvSpPr/>
          <p:nvPr/>
        </p:nvSpPr>
        <p:spPr>
          <a:xfrm>
            <a:off x="7788402" y="1933956"/>
            <a:ext cx="1591056" cy="338328"/>
          </a:xfrm>
          <a:prstGeom prst="roundRect">
            <a:avLst>
              <a:gd name="adj" fmla="val 32432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18" name="S01-group15"/>
          <p:cNvSpPr/>
          <p:nvPr/>
        </p:nvSpPr>
        <p:spPr>
          <a:xfrm>
            <a:off x="7788402" y="2345436"/>
            <a:ext cx="1591056" cy="338328"/>
          </a:xfrm>
          <a:prstGeom prst="roundRect">
            <a:avLst>
              <a:gd name="adj" fmla="val 32432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19" name="S01-figure16" descr="4개씩 묶은 점 3줄"/>
          <p:cNvSpPr/>
          <p:nvPr/>
        </p:nvSpPr>
        <p:spPr>
          <a:xfrm>
            <a:off x="7760970" y="1485900"/>
            <a:ext cx="1645920" cy="123444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S01-dot17"/>
          <p:cNvSpPr/>
          <p:nvPr/>
        </p:nvSpPr>
        <p:spPr>
          <a:xfrm>
            <a:off x="9965131" y="1564081"/>
            <a:ext cx="255118" cy="255118"/>
          </a:xfrm>
          <a:prstGeom prst="ellipse">
            <a:avLst/>
          </a:prstGeom>
          <a:solidFill>
            <a:srgbClr val="3D5A80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1" name="S01-dot18"/>
          <p:cNvSpPr/>
          <p:nvPr/>
        </p:nvSpPr>
        <p:spPr>
          <a:xfrm>
            <a:off x="10376611" y="1564081"/>
            <a:ext cx="255118" cy="255118"/>
          </a:xfrm>
          <a:prstGeom prst="ellipse">
            <a:avLst/>
          </a:prstGeom>
          <a:solidFill>
            <a:srgbClr val="3D5A80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2" name="S01-dot19"/>
          <p:cNvSpPr/>
          <p:nvPr/>
        </p:nvSpPr>
        <p:spPr>
          <a:xfrm>
            <a:off x="10788091" y="1564081"/>
            <a:ext cx="255118" cy="255118"/>
          </a:xfrm>
          <a:prstGeom prst="ellipse">
            <a:avLst/>
          </a:prstGeom>
          <a:solidFill>
            <a:srgbClr val="3D5A80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3" name="S01-dot20"/>
          <p:cNvSpPr/>
          <p:nvPr/>
        </p:nvSpPr>
        <p:spPr>
          <a:xfrm>
            <a:off x="11199571" y="1564081"/>
            <a:ext cx="255118" cy="255118"/>
          </a:xfrm>
          <a:prstGeom prst="ellipse">
            <a:avLst/>
          </a:prstGeom>
          <a:solidFill>
            <a:srgbClr val="3D5A80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4" name="S01-dot21"/>
          <p:cNvSpPr/>
          <p:nvPr/>
        </p:nvSpPr>
        <p:spPr>
          <a:xfrm>
            <a:off x="9965131" y="1975561"/>
            <a:ext cx="255118" cy="255118"/>
          </a:xfrm>
          <a:prstGeom prst="ellipse">
            <a:avLst/>
          </a:prstGeom>
          <a:solidFill>
            <a:srgbClr val="3D5A80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5" name="S01-dot22"/>
          <p:cNvSpPr/>
          <p:nvPr/>
        </p:nvSpPr>
        <p:spPr>
          <a:xfrm>
            <a:off x="10376611" y="1975561"/>
            <a:ext cx="255118" cy="255118"/>
          </a:xfrm>
          <a:prstGeom prst="ellipse">
            <a:avLst/>
          </a:prstGeom>
          <a:solidFill>
            <a:srgbClr val="3D5A80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6" name="S01-dot23"/>
          <p:cNvSpPr/>
          <p:nvPr/>
        </p:nvSpPr>
        <p:spPr>
          <a:xfrm>
            <a:off x="10788091" y="1975561"/>
            <a:ext cx="255118" cy="255118"/>
          </a:xfrm>
          <a:prstGeom prst="ellipse">
            <a:avLst/>
          </a:prstGeom>
          <a:solidFill>
            <a:srgbClr val="3D5A80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7" name="S01-dot24"/>
          <p:cNvSpPr/>
          <p:nvPr/>
        </p:nvSpPr>
        <p:spPr>
          <a:xfrm>
            <a:off x="11199571" y="1975561"/>
            <a:ext cx="255118" cy="255118"/>
          </a:xfrm>
          <a:prstGeom prst="ellipse">
            <a:avLst/>
          </a:prstGeom>
          <a:solidFill>
            <a:srgbClr val="3D5A80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8" name="S01-dot25"/>
          <p:cNvSpPr/>
          <p:nvPr/>
        </p:nvSpPr>
        <p:spPr>
          <a:xfrm>
            <a:off x="9965131" y="2387041"/>
            <a:ext cx="255118" cy="255118"/>
          </a:xfrm>
          <a:prstGeom prst="ellipse">
            <a:avLst/>
          </a:prstGeom>
          <a:solidFill>
            <a:srgbClr val="3D5A80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9" name="S01-dot26"/>
          <p:cNvSpPr/>
          <p:nvPr/>
        </p:nvSpPr>
        <p:spPr>
          <a:xfrm>
            <a:off x="10376611" y="2387041"/>
            <a:ext cx="255118" cy="255118"/>
          </a:xfrm>
          <a:prstGeom prst="ellipse">
            <a:avLst/>
          </a:prstGeom>
          <a:solidFill>
            <a:srgbClr val="3D5A80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0" name="S01-dot27"/>
          <p:cNvSpPr/>
          <p:nvPr/>
        </p:nvSpPr>
        <p:spPr>
          <a:xfrm>
            <a:off x="10788091" y="2387041"/>
            <a:ext cx="255118" cy="255118"/>
          </a:xfrm>
          <a:prstGeom prst="ellipse">
            <a:avLst/>
          </a:prstGeom>
          <a:solidFill>
            <a:srgbClr val="3D5A80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1" name="S01-dot28"/>
          <p:cNvSpPr/>
          <p:nvPr/>
        </p:nvSpPr>
        <p:spPr>
          <a:xfrm>
            <a:off x="11199571" y="2387041"/>
            <a:ext cx="255118" cy="255118"/>
          </a:xfrm>
          <a:prstGeom prst="ellipse">
            <a:avLst/>
          </a:prstGeom>
          <a:solidFill>
            <a:srgbClr val="3D5A80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2" name="S01-group29"/>
          <p:cNvSpPr/>
          <p:nvPr/>
        </p:nvSpPr>
        <p:spPr>
          <a:xfrm>
            <a:off x="9914382" y="1522476"/>
            <a:ext cx="1591056" cy="338328"/>
          </a:xfrm>
          <a:prstGeom prst="roundRect">
            <a:avLst>
              <a:gd name="adj" fmla="val 32432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33" name="S01-group30"/>
          <p:cNvSpPr/>
          <p:nvPr/>
        </p:nvSpPr>
        <p:spPr>
          <a:xfrm>
            <a:off x="9914382" y="1933956"/>
            <a:ext cx="1591056" cy="338328"/>
          </a:xfrm>
          <a:prstGeom prst="roundRect">
            <a:avLst>
              <a:gd name="adj" fmla="val 32432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34" name="S01-group31"/>
          <p:cNvSpPr/>
          <p:nvPr/>
        </p:nvSpPr>
        <p:spPr>
          <a:xfrm>
            <a:off x="9914382" y="2345436"/>
            <a:ext cx="1591056" cy="338328"/>
          </a:xfrm>
          <a:prstGeom prst="roundRect">
            <a:avLst>
              <a:gd name="adj" fmla="val 32432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35" name="S01-figure32" descr="파란 점 4개씩 3줄"/>
          <p:cNvSpPr/>
          <p:nvPr/>
        </p:nvSpPr>
        <p:spPr>
          <a:xfrm>
            <a:off x="9886950" y="1485900"/>
            <a:ext cx="1645920" cy="123444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" name="S01-card33"/>
          <p:cNvSpPr/>
          <p:nvPr/>
        </p:nvSpPr>
        <p:spPr>
          <a:xfrm>
            <a:off x="731520" y="4343400"/>
            <a:ext cx="10725912" cy="1783080"/>
          </a:xfrm>
          <a:prstGeom prst="roundRect">
            <a:avLst>
              <a:gd name="adj" fmla="val 6154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37" name="S01-cardtext34"/>
          <p:cNvSpPr txBox="1"/>
          <p:nvPr/>
        </p:nvSpPr>
        <p:spPr>
          <a:xfrm>
            <a:off x="1005840" y="4480560"/>
            <a:ext cx="1017727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4씩 묶어 세어 4단 곱셈구구를 만들어요.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4단을 두 번 더해 8단을 만들어요.</a:t>
            </a:r>
            <a:endParaRPr lang="ko-KR" sz="3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지난 시간 기억하기</a:t>
            </a:r>
            <a:endParaRPr lang="ko-KR" sz="4400" dirty="0"/>
          </a:p>
        </p:txBody>
      </p:sp>
      <p:sp>
        <p:nvSpPr>
          <p:cNvPr id="3" name="S02-chip35"/>
          <p:cNvSpPr txBox="1"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4" name="S02-eqtext36"/>
          <p:cNvSpPr txBox="1"/>
          <p:nvPr/>
        </p:nvSpPr>
        <p:spPr>
          <a:xfrm>
            <a:off x="1344168" y="132588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 × 6 = □</a:t>
            </a:r>
            <a:endParaRPr lang="ko-KR" sz="3600" dirty="0"/>
          </a:p>
        </p:txBody>
      </p:sp>
      <p:sp>
        <p:nvSpPr>
          <p:cNvPr id="5" name="S02-chip37"/>
          <p:cNvSpPr txBox="1"/>
          <p:nvPr/>
        </p:nvSpPr>
        <p:spPr>
          <a:xfrm>
            <a:off x="548640" y="34655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6" name="S02-eqtext38"/>
          <p:cNvSpPr txBox="1"/>
          <p:nvPr/>
        </p:nvSpPr>
        <p:spPr>
          <a:xfrm>
            <a:off x="1344168" y="301752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 × 7 = □</a:t>
            </a:r>
            <a:endParaRPr lang="ko-KR" sz="3600" dirty="0"/>
          </a:p>
        </p:txBody>
      </p:sp>
      <p:sp>
        <p:nvSpPr>
          <p:cNvPr id="7" name="S02-chip39"/>
          <p:cNvSpPr txBox="1"/>
          <p:nvPr/>
        </p:nvSpPr>
        <p:spPr>
          <a:xfrm>
            <a:off x="548640" y="51572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600" dirty="0"/>
          </a:p>
        </p:txBody>
      </p:sp>
      <p:sp>
        <p:nvSpPr>
          <p:cNvPr id="8" name="S02-text40"/>
          <p:cNvSpPr txBox="1"/>
          <p:nvPr/>
        </p:nvSpPr>
        <p:spPr>
          <a:xfrm>
            <a:off x="1344168" y="470916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 × 4 = 12, 6 × 4는?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4씩 묶어 세요</a:t>
            </a:r>
            <a:endParaRPr lang="ko-KR" sz="4400" dirty="0"/>
          </a:p>
        </p:txBody>
      </p:sp>
      <p:sp>
        <p:nvSpPr>
          <p:cNvPr id="3" name="S03-text41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강아지 한 마리는 다리가 4개예요.</a:t>
            </a:r>
            <a:endParaRPr lang="ko-KR" sz="3200" dirty="0"/>
          </a:p>
        </p:txBody>
      </p:sp>
      <p:sp>
        <p:nvSpPr>
          <p:cNvPr id="4" name="S03-card42"/>
          <p:cNvSpPr/>
          <p:nvPr/>
        </p:nvSpPr>
        <p:spPr>
          <a:xfrm>
            <a:off x="548640" y="4913884"/>
            <a:ext cx="11091672" cy="1304036"/>
          </a:xfrm>
          <a:prstGeom prst="roundRect">
            <a:avLst>
              <a:gd name="adj" fmla="val 8414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3-cardtext43"/>
          <p:cNvSpPr txBox="1"/>
          <p:nvPr/>
        </p:nvSpPr>
        <p:spPr>
          <a:xfrm>
            <a:off x="822960" y="5051044"/>
            <a:ext cx="10543032" cy="10297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4, 8, 12, 16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묶음이 하나 늘면 4개 늘어요.</a:t>
            </a:r>
            <a:endParaRPr lang="ko-KR" sz="3200" dirty="0"/>
          </a:p>
        </p:txBody>
      </p:sp>
      <p:sp>
        <p:nvSpPr>
          <p:cNvPr id="6" name="S03-dot44"/>
          <p:cNvSpPr/>
          <p:nvPr/>
        </p:nvSpPr>
        <p:spPr>
          <a:xfrm>
            <a:off x="904799" y="2933116"/>
            <a:ext cx="311810" cy="3118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7" name="S03-dot45"/>
          <p:cNvSpPr/>
          <p:nvPr/>
        </p:nvSpPr>
        <p:spPr>
          <a:xfrm>
            <a:off x="1407719" y="2933116"/>
            <a:ext cx="311810" cy="3118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8" name="S03-dot46"/>
          <p:cNvSpPr/>
          <p:nvPr/>
        </p:nvSpPr>
        <p:spPr>
          <a:xfrm>
            <a:off x="1910639" y="2933116"/>
            <a:ext cx="311810" cy="3118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9" name="S03-dot47"/>
          <p:cNvSpPr/>
          <p:nvPr/>
        </p:nvSpPr>
        <p:spPr>
          <a:xfrm>
            <a:off x="2413559" y="2933116"/>
            <a:ext cx="311810" cy="3118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0" name="S03-group48"/>
          <p:cNvSpPr/>
          <p:nvPr/>
        </p:nvSpPr>
        <p:spPr>
          <a:xfrm>
            <a:off x="836676" y="2874137"/>
            <a:ext cx="1956816" cy="429768"/>
          </a:xfrm>
          <a:prstGeom prst="roundRect">
            <a:avLst>
              <a:gd name="adj" fmla="val 25532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11" name="S03-figure49" descr="4개씩 1묶음, 점 4개"/>
          <p:cNvSpPr/>
          <p:nvPr/>
        </p:nvSpPr>
        <p:spPr>
          <a:xfrm>
            <a:off x="809244" y="2837561"/>
            <a:ext cx="2011680" cy="50292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S03-label50"/>
          <p:cNvSpPr txBox="1"/>
          <p:nvPr/>
        </p:nvSpPr>
        <p:spPr>
          <a:xfrm>
            <a:off x="548640" y="4239514"/>
            <a:ext cx="2532888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 × 1</a:t>
            </a:r>
            <a:endParaRPr lang="ko-KR" sz="2600" dirty="0"/>
          </a:p>
        </p:txBody>
      </p:sp>
      <p:sp>
        <p:nvSpPr>
          <p:cNvPr id="13" name="S03-dot51"/>
          <p:cNvSpPr/>
          <p:nvPr/>
        </p:nvSpPr>
        <p:spPr>
          <a:xfrm>
            <a:off x="3757727" y="2681656"/>
            <a:ext cx="311810" cy="3118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4" name="S03-dot52"/>
          <p:cNvSpPr/>
          <p:nvPr/>
        </p:nvSpPr>
        <p:spPr>
          <a:xfrm>
            <a:off x="4260647" y="2681656"/>
            <a:ext cx="311810" cy="3118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5" name="S03-dot53"/>
          <p:cNvSpPr/>
          <p:nvPr/>
        </p:nvSpPr>
        <p:spPr>
          <a:xfrm>
            <a:off x="4763567" y="2681656"/>
            <a:ext cx="311810" cy="3118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6" name="S03-dot54"/>
          <p:cNvSpPr/>
          <p:nvPr/>
        </p:nvSpPr>
        <p:spPr>
          <a:xfrm>
            <a:off x="5266487" y="2681656"/>
            <a:ext cx="311810" cy="3118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7" name="S03-dot55"/>
          <p:cNvSpPr/>
          <p:nvPr/>
        </p:nvSpPr>
        <p:spPr>
          <a:xfrm>
            <a:off x="3757727" y="3184576"/>
            <a:ext cx="311810" cy="3118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8" name="S03-dot56"/>
          <p:cNvSpPr/>
          <p:nvPr/>
        </p:nvSpPr>
        <p:spPr>
          <a:xfrm>
            <a:off x="4260647" y="3184576"/>
            <a:ext cx="311810" cy="3118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9" name="S03-dot57"/>
          <p:cNvSpPr/>
          <p:nvPr/>
        </p:nvSpPr>
        <p:spPr>
          <a:xfrm>
            <a:off x="4763567" y="3184576"/>
            <a:ext cx="311810" cy="3118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0" name="S03-dot58"/>
          <p:cNvSpPr/>
          <p:nvPr/>
        </p:nvSpPr>
        <p:spPr>
          <a:xfrm>
            <a:off x="5266487" y="3184576"/>
            <a:ext cx="311810" cy="3118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1" name="S03-group59"/>
          <p:cNvSpPr/>
          <p:nvPr/>
        </p:nvSpPr>
        <p:spPr>
          <a:xfrm>
            <a:off x="3689604" y="2622677"/>
            <a:ext cx="1956816" cy="429768"/>
          </a:xfrm>
          <a:prstGeom prst="roundRect">
            <a:avLst>
              <a:gd name="adj" fmla="val 25532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22" name="S03-group60"/>
          <p:cNvSpPr/>
          <p:nvPr/>
        </p:nvSpPr>
        <p:spPr>
          <a:xfrm>
            <a:off x="3689604" y="3125597"/>
            <a:ext cx="1956816" cy="429768"/>
          </a:xfrm>
          <a:prstGeom prst="roundRect">
            <a:avLst>
              <a:gd name="adj" fmla="val 25532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23" name="S03-figure61" descr="4개씩 2묶음, 점 8개"/>
          <p:cNvSpPr/>
          <p:nvPr/>
        </p:nvSpPr>
        <p:spPr>
          <a:xfrm>
            <a:off x="3662172" y="2586101"/>
            <a:ext cx="2011680" cy="100584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" name="S03-label62"/>
          <p:cNvSpPr txBox="1"/>
          <p:nvPr/>
        </p:nvSpPr>
        <p:spPr>
          <a:xfrm>
            <a:off x="3401568" y="4239514"/>
            <a:ext cx="2532888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 × 2</a:t>
            </a:r>
            <a:endParaRPr lang="ko-KR" sz="2600" dirty="0"/>
          </a:p>
        </p:txBody>
      </p:sp>
      <p:sp>
        <p:nvSpPr>
          <p:cNvPr id="25" name="S03-dot63"/>
          <p:cNvSpPr/>
          <p:nvPr/>
        </p:nvSpPr>
        <p:spPr>
          <a:xfrm>
            <a:off x="6610655" y="2430196"/>
            <a:ext cx="311810" cy="3118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6" name="S03-dot64"/>
          <p:cNvSpPr/>
          <p:nvPr/>
        </p:nvSpPr>
        <p:spPr>
          <a:xfrm>
            <a:off x="7113575" y="2430196"/>
            <a:ext cx="311810" cy="3118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7" name="S03-dot65"/>
          <p:cNvSpPr/>
          <p:nvPr/>
        </p:nvSpPr>
        <p:spPr>
          <a:xfrm>
            <a:off x="7616495" y="2430196"/>
            <a:ext cx="311810" cy="3118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8" name="S03-dot66"/>
          <p:cNvSpPr/>
          <p:nvPr/>
        </p:nvSpPr>
        <p:spPr>
          <a:xfrm>
            <a:off x="8119415" y="2430196"/>
            <a:ext cx="311810" cy="3118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9" name="S03-dot67"/>
          <p:cNvSpPr/>
          <p:nvPr/>
        </p:nvSpPr>
        <p:spPr>
          <a:xfrm>
            <a:off x="6610655" y="2933116"/>
            <a:ext cx="311810" cy="3118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0" name="S03-dot68"/>
          <p:cNvSpPr/>
          <p:nvPr/>
        </p:nvSpPr>
        <p:spPr>
          <a:xfrm>
            <a:off x="7113575" y="2933116"/>
            <a:ext cx="311810" cy="3118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1" name="S03-dot69"/>
          <p:cNvSpPr/>
          <p:nvPr/>
        </p:nvSpPr>
        <p:spPr>
          <a:xfrm>
            <a:off x="7616495" y="2933116"/>
            <a:ext cx="311810" cy="3118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2" name="S03-dot70"/>
          <p:cNvSpPr/>
          <p:nvPr/>
        </p:nvSpPr>
        <p:spPr>
          <a:xfrm>
            <a:off x="8119415" y="2933116"/>
            <a:ext cx="311810" cy="3118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3" name="S03-dot71"/>
          <p:cNvSpPr/>
          <p:nvPr/>
        </p:nvSpPr>
        <p:spPr>
          <a:xfrm>
            <a:off x="6610655" y="3436036"/>
            <a:ext cx="311810" cy="3118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4" name="S03-dot72"/>
          <p:cNvSpPr/>
          <p:nvPr/>
        </p:nvSpPr>
        <p:spPr>
          <a:xfrm>
            <a:off x="7113575" y="3436036"/>
            <a:ext cx="311810" cy="3118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5" name="S03-dot73"/>
          <p:cNvSpPr/>
          <p:nvPr/>
        </p:nvSpPr>
        <p:spPr>
          <a:xfrm>
            <a:off x="7616495" y="3436036"/>
            <a:ext cx="311810" cy="3118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6" name="S03-dot74"/>
          <p:cNvSpPr/>
          <p:nvPr/>
        </p:nvSpPr>
        <p:spPr>
          <a:xfrm>
            <a:off x="8119415" y="3436036"/>
            <a:ext cx="311810" cy="3118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7" name="S03-group75"/>
          <p:cNvSpPr/>
          <p:nvPr/>
        </p:nvSpPr>
        <p:spPr>
          <a:xfrm>
            <a:off x="6542532" y="2371217"/>
            <a:ext cx="1956816" cy="429768"/>
          </a:xfrm>
          <a:prstGeom prst="roundRect">
            <a:avLst>
              <a:gd name="adj" fmla="val 25532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38" name="S03-group76"/>
          <p:cNvSpPr/>
          <p:nvPr/>
        </p:nvSpPr>
        <p:spPr>
          <a:xfrm>
            <a:off x="6542532" y="2874137"/>
            <a:ext cx="1956816" cy="429768"/>
          </a:xfrm>
          <a:prstGeom prst="roundRect">
            <a:avLst>
              <a:gd name="adj" fmla="val 25532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39" name="S03-group77"/>
          <p:cNvSpPr/>
          <p:nvPr/>
        </p:nvSpPr>
        <p:spPr>
          <a:xfrm>
            <a:off x="6542532" y="3377057"/>
            <a:ext cx="1956816" cy="429768"/>
          </a:xfrm>
          <a:prstGeom prst="roundRect">
            <a:avLst>
              <a:gd name="adj" fmla="val 25532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40" name="S03-figure78" descr="4개씩 3묶음, 점 12개"/>
          <p:cNvSpPr/>
          <p:nvPr/>
        </p:nvSpPr>
        <p:spPr>
          <a:xfrm>
            <a:off x="6515100" y="2334641"/>
            <a:ext cx="2011680" cy="150876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1" name="S03-label79"/>
          <p:cNvSpPr txBox="1"/>
          <p:nvPr/>
        </p:nvSpPr>
        <p:spPr>
          <a:xfrm>
            <a:off x="6254496" y="4239514"/>
            <a:ext cx="2532888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 × 3</a:t>
            </a:r>
            <a:endParaRPr lang="ko-KR" sz="2600" dirty="0"/>
          </a:p>
        </p:txBody>
      </p:sp>
      <p:sp>
        <p:nvSpPr>
          <p:cNvPr id="42" name="S03-dot80"/>
          <p:cNvSpPr/>
          <p:nvPr/>
        </p:nvSpPr>
        <p:spPr>
          <a:xfrm>
            <a:off x="9463583" y="2178736"/>
            <a:ext cx="311810" cy="3118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43" name="S03-dot81"/>
          <p:cNvSpPr/>
          <p:nvPr/>
        </p:nvSpPr>
        <p:spPr>
          <a:xfrm>
            <a:off x="9966503" y="2178736"/>
            <a:ext cx="311810" cy="3118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44" name="S03-dot82"/>
          <p:cNvSpPr/>
          <p:nvPr/>
        </p:nvSpPr>
        <p:spPr>
          <a:xfrm>
            <a:off x="10469423" y="2178736"/>
            <a:ext cx="311810" cy="3118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45" name="S03-dot83"/>
          <p:cNvSpPr/>
          <p:nvPr/>
        </p:nvSpPr>
        <p:spPr>
          <a:xfrm>
            <a:off x="10972343" y="2178736"/>
            <a:ext cx="311810" cy="3118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46" name="S03-dot84"/>
          <p:cNvSpPr/>
          <p:nvPr/>
        </p:nvSpPr>
        <p:spPr>
          <a:xfrm>
            <a:off x="9463583" y="2681656"/>
            <a:ext cx="311810" cy="3118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47" name="S03-dot85"/>
          <p:cNvSpPr/>
          <p:nvPr/>
        </p:nvSpPr>
        <p:spPr>
          <a:xfrm>
            <a:off x="9966503" y="2681656"/>
            <a:ext cx="311810" cy="3118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48" name="S03-dot86"/>
          <p:cNvSpPr/>
          <p:nvPr/>
        </p:nvSpPr>
        <p:spPr>
          <a:xfrm>
            <a:off x="10469423" y="2681656"/>
            <a:ext cx="311810" cy="3118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49" name="S03-dot87"/>
          <p:cNvSpPr/>
          <p:nvPr/>
        </p:nvSpPr>
        <p:spPr>
          <a:xfrm>
            <a:off x="10972343" y="2681656"/>
            <a:ext cx="311810" cy="3118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50" name="S03-dot88"/>
          <p:cNvSpPr/>
          <p:nvPr/>
        </p:nvSpPr>
        <p:spPr>
          <a:xfrm>
            <a:off x="9463583" y="3184576"/>
            <a:ext cx="311810" cy="3118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51" name="S03-dot89"/>
          <p:cNvSpPr/>
          <p:nvPr/>
        </p:nvSpPr>
        <p:spPr>
          <a:xfrm>
            <a:off x="9966503" y="3184576"/>
            <a:ext cx="311810" cy="3118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52" name="S03-dot90"/>
          <p:cNvSpPr/>
          <p:nvPr/>
        </p:nvSpPr>
        <p:spPr>
          <a:xfrm>
            <a:off x="10469423" y="3184576"/>
            <a:ext cx="311810" cy="3118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53" name="S03-dot91"/>
          <p:cNvSpPr/>
          <p:nvPr/>
        </p:nvSpPr>
        <p:spPr>
          <a:xfrm>
            <a:off x="10972343" y="3184576"/>
            <a:ext cx="311810" cy="3118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54" name="S03-dot92"/>
          <p:cNvSpPr/>
          <p:nvPr/>
        </p:nvSpPr>
        <p:spPr>
          <a:xfrm>
            <a:off x="9463583" y="3687496"/>
            <a:ext cx="311810" cy="3118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55" name="S03-dot93"/>
          <p:cNvSpPr/>
          <p:nvPr/>
        </p:nvSpPr>
        <p:spPr>
          <a:xfrm>
            <a:off x="9966503" y="3687496"/>
            <a:ext cx="311810" cy="3118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56" name="S03-dot94"/>
          <p:cNvSpPr/>
          <p:nvPr/>
        </p:nvSpPr>
        <p:spPr>
          <a:xfrm>
            <a:off x="10469423" y="3687496"/>
            <a:ext cx="311810" cy="3118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57" name="S03-dot95"/>
          <p:cNvSpPr/>
          <p:nvPr/>
        </p:nvSpPr>
        <p:spPr>
          <a:xfrm>
            <a:off x="10972343" y="3687496"/>
            <a:ext cx="311810" cy="3118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58" name="S03-group96"/>
          <p:cNvSpPr/>
          <p:nvPr/>
        </p:nvSpPr>
        <p:spPr>
          <a:xfrm>
            <a:off x="9395460" y="2119757"/>
            <a:ext cx="1956816" cy="429768"/>
          </a:xfrm>
          <a:prstGeom prst="roundRect">
            <a:avLst>
              <a:gd name="adj" fmla="val 25532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59" name="S03-group97"/>
          <p:cNvSpPr/>
          <p:nvPr/>
        </p:nvSpPr>
        <p:spPr>
          <a:xfrm>
            <a:off x="9395460" y="2622677"/>
            <a:ext cx="1956816" cy="429768"/>
          </a:xfrm>
          <a:prstGeom prst="roundRect">
            <a:avLst>
              <a:gd name="adj" fmla="val 25532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60" name="S03-group98"/>
          <p:cNvSpPr/>
          <p:nvPr/>
        </p:nvSpPr>
        <p:spPr>
          <a:xfrm>
            <a:off x="9395460" y="3125597"/>
            <a:ext cx="1956816" cy="429768"/>
          </a:xfrm>
          <a:prstGeom prst="roundRect">
            <a:avLst>
              <a:gd name="adj" fmla="val 25532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61" name="S03-group99"/>
          <p:cNvSpPr/>
          <p:nvPr/>
        </p:nvSpPr>
        <p:spPr>
          <a:xfrm>
            <a:off x="9395460" y="3628517"/>
            <a:ext cx="1956816" cy="429768"/>
          </a:xfrm>
          <a:prstGeom prst="roundRect">
            <a:avLst>
              <a:gd name="adj" fmla="val 25532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62" name="S03-figure100" descr="4개씩 4묶음, 점 16개"/>
          <p:cNvSpPr/>
          <p:nvPr/>
        </p:nvSpPr>
        <p:spPr>
          <a:xfrm>
            <a:off x="9368028" y="2083181"/>
            <a:ext cx="2011680" cy="201168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3" name="S03-label101"/>
          <p:cNvSpPr txBox="1"/>
          <p:nvPr/>
        </p:nvSpPr>
        <p:spPr>
          <a:xfrm>
            <a:off x="9107424" y="4239514"/>
            <a:ext cx="2532888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 × 4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4씩 뛰어 세요</a:t>
            </a:r>
            <a:endParaRPr lang="ko-KR" sz="4400" dirty="0"/>
          </a:p>
        </p:txBody>
      </p:sp>
      <p:sp>
        <p:nvSpPr>
          <p:cNvPr id="3" name="S04-text102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 × 6은 0에서 4씩 6번 뛰어요.</a:t>
            </a:r>
            <a:endParaRPr lang="ko-KR" sz="3200" dirty="0"/>
          </a:p>
        </p:txBody>
      </p:sp>
      <p:sp>
        <p:nvSpPr>
          <p:cNvPr id="4" name="S04-card103"/>
          <p:cNvSpPr/>
          <p:nvPr/>
        </p:nvSpPr>
        <p:spPr>
          <a:xfrm>
            <a:off x="548640" y="4913884"/>
            <a:ext cx="11091672" cy="1304036"/>
          </a:xfrm>
          <a:prstGeom prst="roundRect">
            <a:avLst>
              <a:gd name="adj" fmla="val 8414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4-cardtext104"/>
          <p:cNvSpPr txBox="1"/>
          <p:nvPr/>
        </p:nvSpPr>
        <p:spPr>
          <a:xfrm>
            <a:off x="822960" y="5051044"/>
            <a:ext cx="10543032" cy="10297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 × 6 = 24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 × 5 = 20보다 4 커요.</a:t>
            </a:r>
            <a:endParaRPr lang="ko-KR" sz="3200" dirty="0"/>
          </a:p>
        </p:txBody>
      </p:sp>
      <p:sp>
        <p:nvSpPr>
          <p:cNvPr id="6" name="S04-line105"/>
          <p:cNvSpPr/>
          <p:nvPr/>
        </p:nvSpPr>
        <p:spPr>
          <a:xfrm>
            <a:off x="685800" y="3669314"/>
            <a:ext cx="10817352" cy="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  <a:headEnd type="triangle"/>
            <a:tailEnd type="triangle"/>
          </a:ln>
        </p:spPr>
      </p:sp>
      <p:sp>
        <p:nvSpPr>
          <p:cNvPr id="7" name="S04-line106"/>
          <p:cNvSpPr/>
          <p:nvPr/>
        </p:nvSpPr>
        <p:spPr>
          <a:xfrm>
            <a:off x="960120" y="3523010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8" name="S04-label107"/>
          <p:cNvSpPr txBox="1"/>
          <p:nvPr/>
        </p:nvSpPr>
        <p:spPr>
          <a:xfrm>
            <a:off x="502920" y="3852194"/>
            <a:ext cx="9144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</a:t>
            </a:r>
            <a:endParaRPr lang="ko-KR" sz="1600" dirty="0"/>
          </a:p>
        </p:txBody>
      </p:sp>
      <p:sp>
        <p:nvSpPr>
          <p:cNvPr id="9" name="S04-line108"/>
          <p:cNvSpPr/>
          <p:nvPr/>
        </p:nvSpPr>
        <p:spPr>
          <a:xfrm>
            <a:off x="1245362" y="3587018"/>
            <a:ext cx="0" cy="164592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0" name="S04-line109"/>
          <p:cNvSpPr/>
          <p:nvPr/>
        </p:nvSpPr>
        <p:spPr>
          <a:xfrm>
            <a:off x="1530604" y="3587018"/>
            <a:ext cx="0" cy="164592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1" name="S04-line110"/>
          <p:cNvSpPr/>
          <p:nvPr/>
        </p:nvSpPr>
        <p:spPr>
          <a:xfrm>
            <a:off x="1815846" y="3587018"/>
            <a:ext cx="0" cy="164592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2" name="S04-line111"/>
          <p:cNvSpPr/>
          <p:nvPr/>
        </p:nvSpPr>
        <p:spPr>
          <a:xfrm>
            <a:off x="2101088" y="3523010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3" name="S04-label112"/>
          <p:cNvSpPr txBox="1"/>
          <p:nvPr/>
        </p:nvSpPr>
        <p:spPr>
          <a:xfrm>
            <a:off x="1643888" y="3852194"/>
            <a:ext cx="9144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1600" dirty="0"/>
          </a:p>
        </p:txBody>
      </p:sp>
      <p:sp>
        <p:nvSpPr>
          <p:cNvPr id="14" name="S04-line113"/>
          <p:cNvSpPr/>
          <p:nvPr/>
        </p:nvSpPr>
        <p:spPr>
          <a:xfrm>
            <a:off x="2386330" y="3587018"/>
            <a:ext cx="0" cy="164592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5" name="S04-line114"/>
          <p:cNvSpPr/>
          <p:nvPr/>
        </p:nvSpPr>
        <p:spPr>
          <a:xfrm>
            <a:off x="2671572" y="3587018"/>
            <a:ext cx="0" cy="164592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6" name="S04-line115"/>
          <p:cNvSpPr/>
          <p:nvPr/>
        </p:nvSpPr>
        <p:spPr>
          <a:xfrm>
            <a:off x="2956814" y="3587018"/>
            <a:ext cx="0" cy="164592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7" name="S04-line116"/>
          <p:cNvSpPr/>
          <p:nvPr/>
        </p:nvSpPr>
        <p:spPr>
          <a:xfrm>
            <a:off x="3242056" y="3523010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8" name="S04-label117"/>
          <p:cNvSpPr txBox="1"/>
          <p:nvPr/>
        </p:nvSpPr>
        <p:spPr>
          <a:xfrm>
            <a:off x="2784856" y="3852194"/>
            <a:ext cx="9144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ko-KR" sz="1600" dirty="0"/>
          </a:p>
        </p:txBody>
      </p:sp>
      <p:sp>
        <p:nvSpPr>
          <p:cNvPr id="19" name="S04-line118"/>
          <p:cNvSpPr/>
          <p:nvPr/>
        </p:nvSpPr>
        <p:spPr>
          <a:xfrm>
            <a:off x="3527298" y="3587018"/>
            <a:ext cx="0" cy="164592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0" name="S04-line119"/>
          <p:cNvSpPr/>
          <p:nvPr/>
        </p:nvSpPr>
        <p:spPr>
          <a:xfrm>
            <a:off x="3812540" y="3587018"/>
            <a:ext cx="0" cy="164592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1" name="S04-line120"/>
          <p:cNvSpPr/>
          <p:nvPr/>
        </p:nvSpPr>
        <p:spPr>
          <a:xfrm>
            <a:off x="4097782" y="3587018"/>
            <a:ext cx="0" cy="164592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2" name="S04-line121"/>
          <p:cNvSpPr/>
          <p:nvPr/>
        </p:nvSpPr>
        <p:spPr>
          <a:xfrm>
            <a:off x="4383024" y="3523010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3" name="S04-label122"/>
          <p:cNvSpPr txBox="1"/>
          <p:nvPr/>
        </p:nvSpPr>
        <p:spPr>
          <a:xfrm>
            <a:off x="3925824" y="3852194"/>
            <a:ext cx="9144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ko-KR" sz="1600" dirty="0"/>
          </a:p>
        </p:txBody>
      </p:sp>
      <p:sp>
        <p:nvSpPr>
          <p:cNvPr id="24" name="S04-line123"/>
          <p:cNvSpPr/>
          <p:nvPr/>
        </p:nvSpPr>
        <p:spPr>
          <a:xfrm>
            <a:off x="4668266" y="3587018"/>
            <a:ext cx="0" cy="164592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5" name="S04-line124"/>
          <p:cNvSpPr/>
          <p:nvPr/>
        </p:nvSpPr>
        <p:spPr>
          <a:xfrm>
            <a:off x="4953508" y="3587018"/>
            <a:ext cx="0" cy="164592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6" name="S04-line125"/>
          <p:cNvSpPr/>
          <p:nvPr/>
        </p:nvSpPr>
        <p:spPr>
          <a:xfrm>
            <a:off x="5238750" y="3587018"/>
            <a:ext cx="0" cy="164592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7" name="S04-line126"/>
          <p:cNvSpPr/>
          <p:nvPr/>
        </p:nvSpPr>
        <p:spPr>
          <a:xfrm>
            <a:off x="5523992" y="3523010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8" name="S04-label127"/>
          <p:cNvSpPr txBox="1"/>
          <p:nvPr/>
        </p:nvSpPr>
        <p:spPr>
          <a:xfrm>
            <a:off x="5066792" y="3852194"/>
            <a:ext cx="9144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16</a:t>
            </a:r>
            <a:endParaRPr lang="ko-KR" sz="1600" dirty="0"/>
          </a:p>
        </p:txBody>
      </p:sp>
      <p:sp>
        <p:nvSpPr>
          <p:cNvPr id="29" name="S04-line128"/>
          <p:cNvSpPr/>
          <p:nvPr/>
        </p:nvSpPr>
        <p:spPr>
          <a:xfrm>
            <a:off x="5809234" y="3587018"/>
            <a:ext cx="0" cy="164592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30" name="S04-line129"/>
          <p:cNvSpPr/>
          <p:nvPr/>
        </p:nvSpPr>
        <p:spPr>
          <a:xfrm>
            <a:off x="6094476" y="3587018"/>
            <a:ext cx="0" cy="164592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31" name="S04-line130"/>
          <p:cNvSpPr/>
          <p:nvPr/>
        </p:nvSpPr>
        <p:spPr>
          <a:xfrm>
            <a:off x="6379718" y="3587018"/>
            <a:ext cx="0" cy="164592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32" name="S04-line131"/>
          <p:cNvSpPr/>
          <p:nvPr/>
        </p:nvSpPr>
        <p:spPr>
          <a:xfrm>
            <a:off x="6664960" y="3523010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33" name="S04-label132"/>
          <p:cNvSpPr txBox="1"/>
          <p:nvPr/>
        </p:nvSpPr>
        <p:spPr>
          <a:xfrm>
            <a:off x="6207760" y="3852194"/>
            <a:ext cx="9144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</a:t>
            </a:r>
            <a:endParaRPr lang="ko-KR" sz="1600" dirty="0"/>
          </a:p>
        </p:txBody>
      </p:sp>
      <p:sp>
        <p:nvSpPr>
          <p:cNvPr id="34" name="S04-line133"/>
          <p:cNvSpPr/>
          <p:nvPr/>
        </p:nvSpPr>
        <p:spPr>
          <a:xfrm>
            <a:off x="6950202" y="3587018"/>
            <a:ext cx="0" cy="164592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35" name="S04-line134"/>
          <p:cNvSpPr/>
          <p:nvPr/>
        </p:nvSpPr>
        <p:spPr>
          <a:xfrm>
            <a:off x="7235444" y="3587018"/>
            <a:ext cx="0" cy="164592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36" name="S04-line135"/>
          <p:cNvSpPr/>
          <p:nvPr/>
        </p:nvSpPr>
        <p:spPr>
          <a:xfrm>
            <a:off x="7520686" y="3587018"/>
            <a:ext cx="0" cy="164592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37" name="S04-line136"/>
          <p:cNvSpPr/>
          <p:nvPr/>
        </p:nvSpPr>
        <p:spPr>
          <a:xfrm>
            <a:off x="7805928" y="3523010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38" name="S04-label137"/>
          <p:cNvSpPr txBox="1"/>
          <p:nvPr/>
        </p:nvSpPr>
        <p:spPr>
          <a:xfrm>
            <a:off x="7348728" y="3852194"/>
            <a:ext cx="9144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24</a:t>
            </a:r>
            <a:endParaRPr lang="ko-KR" sz="1600" dirty="0"/>
          </a:p>
        </p:txBody>
      </p:sp>
      <p:sp>
        <p:nvSpPr>
          <p:cNvPr id="39" name="S04-line138"/>
          <p:cNvSpPr/>
          <p:nvPr/>
        </p:nvSpPr>
        <p:spPr>
          <a:xfrm>
            <a:off x="8091170" y="3587018"/>
            <a:ext cx="0" cy="164592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40" name="S04-line139"/>
          <p:cNvSpPr/>
          <p:nvPr/>
        </p:nvSpPr>
        <p:spPr>
          <a:xfrm>
            <a:off x="8376412" y="3587018"/>
            <a:ext cx="0" cy="164592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41" name="S04-line140"/>
          <p:cNvSpPr/>
          <p:nvPr/>
        </p:nvSpPr>
        <p:spPr>
          <a:xfrm>
            <a:off x="8661654" y="3587018"/>
            <a:ext cx="0" cy="164592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42" name="S04-line141"/>
          <p:cNvSpPr/>
          <p:nvPr/>
        </p:nvSpPr>
        <p:spPr>
          <a:xfrm>
            <a:off x="8946896" y="3523010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43" name="S04-label142"/>
          <p:cNvSpPr txBox="1"/>
          <p:nvPr/>
        </p:nvSpPr>
        <p:spPr>
          <a:xfrm>
            <a:off x="8489696" y="3852194"/>
            <a:ext cx="9144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28</a:t>
            </a:r>
            <a:endParaRPr lang="ko-KR" sz="1600" dirty="0"/>
          </a:p>
        </p:txBody>
      </p:sp>
      <p:sp>
        <p:nvSpPr>
          <p:cNvPr id="44" name="S04-line143"/>
          <p:cNvSpPr/>
          <p:nvPr/>
        </p:nvSpPr>
        <p:spPr>
          <a:xfrm>
            <a:off x="9232138" y="3587018"/>
            <a:ext cx="0" cy="164592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45" name="S04-line144"/>
          <p:cNvSpPr/>
          <p:nvPr/>
        </p:nvSpPr>
        <p:spPr>
          <a:xfrm>
            <a:off x="9517380" y="3587018"/>
            <a:ext cx="0" cy="164592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46" name="S04-line145"/>
          <p:cNvSpPr/>
          <p:nvPr/>
        </p:nvSpPr>
        <p:spPr>
          <a:xfrm>
            <a:off x="9802622" y="3587018"/>
            <a:ext cx="0" cy="164592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47" name="S04-line146"/>
          <p:cNvSpPr/>
          <p:nvPr/>
        </p:nvSpPr>
        <p:spPr>
          <a:xfrm>
            <a:off x="10087864" y="3523010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48" name="S04-label147"/>
          <p:cNvSpPr txBox="1"/>
          <p:nvPr/>
        </p:nvSpPr>
        <p:spPr>
          <a:xfrm>
            <a:off x="9630664" y="3852194"/>
            <a:ext cx="9144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32</a:t>
            </a:r>
            <a:endParaRPr lang="ko-KR" sz="1600" dirty="0"/>
          </a:p>
        </p:txBody>
      </p:sp>
      <p:sp>
        <p:nvSpPr>
          <p:cNvPr id="49" name="S04-line148"/>
          <p:cNvSpPr/>
          <p:nvPr/>
        </p:nvSpPr>
        <p:spPr>
          <a:xfrm>
            <a:off x="10373106" y="3587018"/>
            <a:ext cx="0" cy="164592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50" name="S04-line149"/>
          <p:cNvSpPr/>
          <p:nvPr/>
        </p:nvSpPr>
        <p:spPr>
          <a:xfrm>
            <a:off x="10658348" y="3587018"/>
            <a:ext cx="0" cy="164592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51" name="S04-line150"/>
          <p:cNvSpPr/>
          <p:nvPr/>
        </p:nvSpPr>
        <p:spPr>
          <a:xfrm>
            <a:off x="10943590" y="3587018"/>
            <a:ext cx="0" cy="164592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52" name="S04-line151"/>
          <p:cNvSpPr/>
          <p:nvPr/>
        </p:nvSpPr>
        <p:spPr>
          <a:xfrm>
            <a:off x="11228832" y="3523010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53" name="S04-label152"/>
          <p:cNvSpPr txBox="1"/>
          <p:nvPr/>
        </p:nvSpPr>
        <p:spPr>
          <a:xfrm>
            <a:off x="10771632" y="3852194"/>
            <a:ext cx="9144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36</a:t>
            </a:r>
            <a:endParaRPr lang="ko-KR" sz="1600" dirty="0"/>
          </a:p>
        </p:txBody>
      </p:sp>
      <p:sp>
        <p:nvSpPr>
          <p:cNvPr id="54" name="S04-mark153"/>
          <p:cNvSpPr/>
          <p:nvPr/>
        </p:nvSpPr>
        <p:spPr>
          <a:xfrm>
            <a:off x="7714488" y="3577874"/>
            <a:ext cx="182880" cy="18288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E9762B"/>
            </a:solidFill>
            <a:prstDash val="solid"/>
          </a:ln>
        </p:spPr>
      </p:sp>
      <p:sp>
        <p:nvSpPr>
          <p:cNvPr id="55" name="S04-line154"/>
          <p:cNvSpPr/>
          <p:nvPr/>
        </p:nvSpPr>
        <p:spPr>
          <a:xfrm flipV="1">
            <a:off x="960120" y="3285266"/>
            <a:ext cx="0" cy="338328"/>
          </a:xfrm>
          <a:prstGeom prst="line">
            <a:avLst/>
          </a:prstGeom>
          <a:noFill/>
          <a:ln w="19050">
            <a:solidFill>
              <a:srgbClr val="3D5A80"/>
            </a:solidFill>
            <a:prstDash val="solid"/>
          </a:ln>
        </p:spPr>
      </p:sp>
      <p:sp>
        <p:nvSpPr>
          <p:cNvPr id="56" name="S04-line155"/>
          <p:cNvSpPr/>
          <p:nvPr/>
        </p:nvSpPr>
        <p:spPr>
          <a:xfrm>
            <a:off x="960120" y="3285266"/>
            <a:ext cx="1140968" cy="0"/>
          </a:xfrm>
          <a:prstGeom prst="line">
            <a:avLst/>
          </a:prstGeom>
          <a:noFill/>
          <a:ln w="2540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57" name="S04-label156"/>
          <p:cNvSpPr txBox="1"/>
          <p:nvPr/>
        </p:nvSpPr>
        <p:spPr>
          <a:xfrm>
            <a:off x="960120" y="3002818"/>
            <a:ext cx="1140968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1600" dirty="0"/>
          </a:p>
        </p:txBody>
      </p:sp>
      <p:sp>
        <p:nvSpPr>
          <p:cNvPr id="58" name="S04-line157"/>
          <p:cNvSpPr/>
          <p:nvPr/>
        </p:nvSpPr>
        <p:spPr>
          <a:xfrm flipV="1">
            <a:off x="2101088" y="3285266"/>
            <a:ext cx="0" cy="338328"/>
          </a:xfrm>
          <a:prstGeom prst="line">
            <a:avLst/>
          </a:prstGeom>
          <a:noFill/>
          <a:ln w="19050">
            <a:solidFill>
              <a:srgbClr val="3D5A80"/>
            </a:solidFill>
            <a:prstDash val="solid"/>
          </a:ln>
        </p:spPr>
      </p:sp>
      <p:sp>
        <p:nvSpPr>
          <p:cNvPr id="59" name="S04-line158"/>
          <p:cNvSpPr/>
          <p:nvPr/>
        </p:nvSpPr>
        <p:spPr>
          <a:xfrm>
            <a:off x="2101088" y="3285266"/>
            <a:ext cx="1140968" cy="0"/>
          </a:xfrm>
          <a:prstGeom prst="line">
            <a:avLst/>
          </a:prstGeom>
          <a:noFill/>
          <a:ln w="2540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60" name="S04-label159"/>
          <p:cNvSpPr txBox="1"/>
          <p:nvPr/>
        </p:nvSpPr>
        <p:spPr>
          <a:xfrm>
            <a:off x="2101088" y="3002818"/>
            <a:ext cx="1140968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1600" dirty="0"/>
          </a:p>
        </p:txBody>
      </p:sp>
      <p:sp>
        <p:nvSpPr>
          <p:cNvPr id="61" name="S04-line160"/>
          <p:cNvSpPr/>
          <p:nvPr/>
        </p:nvSpPr>
        <p:spPr>
          <a:xfrm flipV="1">
            <a:off x="3242056" y="3285266"/>
            <a:ext cx="0" cy="338328"/>
          </a:xfrm>
          <a:prstGeom prst="line">
            <a:avLst/>
          </a:prstGeom>
          <a:noFill/>
          <a:ln w="19050">
            <a:solidFill>
              <a:srgbClr val="3D5A80"/>
            </a:solidFill>
            <a:prstDash val="solid"/>
          </a:ln>
        </p:spPr>
      </p:sp>
      <p:sp>
        <p:nvSpPr>
          <p:cNvPr id="62" name="S04-line161"/>
          <p:cNvSpPr/>
          <p:nvPr/>
        </p:nvSpPr>
        <p:spPr>
          <a:xfrm>
            <a:off x="3242056" y="3285266"/>
            <a:ext cx="1140968" cy="0"/>
          </a:xfrm>
          <a:prstGeom prst="line">
            <a:avLst/>
          </a:prstGeom>
          <a:noFill/>
          <a:ln w="2540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63" name="S04-label162"/>
          <p:cNvSpPr txBox="1"/>
          <p:nvPr/>
        </p:nvSpPr>
        <p:spPr>
          <a:xfrm>
            <a:off x="3242056" y="3002818"/>
            <a:ext cx="1140968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1600" dirty="0"/>
          </a:p>
        </p:txBody>
      </p:sp>
      <p:sp>
        <p:nvSpPr>
          <p:cNvPr id="64" name="S04-line163"/>
          <p:cNvSpPr/>
          <p:nvPr/>
        </p:nvSpPr>
        <p:spPr>
          <a:xfrm flipV="1">
            <a:off x="4383024" y="3285266"/>
            <a:ext cx="0" cy="338328"/>
          </a:xfrm>
          <a:prstGeom prst="line">
            <a:avLst/>
          </a:prstGeom>
          <a:noFill/>
          <a:ln w="19050">
            <a:solidFill>
              <a:srgbClr val="3D5A80"/>
            </a:solidFill>
            <a:prstDash val="solid"/>
          </a:ln>
        </p:spPr>
      </p:sp>
      <p:sp>
        <p:nvSpPr>
          <p:cNvPr id="65" name="S04-line164"/>
          <p:cNvSpPr/>
          <p:nvPr/>
        </p:nvSpPr>
        <p:spPr>
          <a:xfrm>
            <a:off x="4383024" y="3285266"/>
            <a:ext cx="1140968" cy="0"/>
          </a:xfrm>
          <a:prstGeom prst="line">
            <a:avLst/>
          </a:prstGeom>
          <a:noFill/>
          <a:ln w="2540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66" name="S04-label165"/>
          <p:cNvSpPr txBox="1"/>
          <p:nvPr/>
        </p:nvSpPr>
        <p:spPr>
          <a:xfrm>
            <a:off x="4383024" y="3002818"/>
            <a:ext cx="1140968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1600" dirty="0"/>
          </a:p>
        </p:txBody>
      </p:sp>
      <p:sp>
        <p:nvSpPr>
          <p:cNvPr id="67" name="S04-line166"/>
          <p:cNvSpPr/>
          <p:nvPr/>
        </p:nvSpPr>
        <p:spPr>
          <a:xfrm flipV="1">
            <a:off x="5523992" y="3285266"/>
            <a:ext cx="0" cy="338328"/>
          </a:xfrm>
          <a:prstGeom prst="line">
            <a:avLst/>
          </a:prstGeom>
          <a:noFill/>
          <a:ln w="19050">
            <a:solidFill>
              <a:srgbClr val="3D5A80"/>
            </a:solidFill>
            <a:prstDash val="solid"/>
          </a:ln>
        </p:spPr>
      </p:sp>
      <p:sp>
        <p:nvSpPr>
          <p:cNvPr id="68" name="S04-line167"/>
          <p:cNvSpPr/>
          <p:nvPr/>
        </p:nvSpPr>
        <p:spPr>
          <a:xfrm>
            <a:off x="5523992" y="3285266"/>
            <a:ext cx="1140968" cy="0"/>
          </a:xfrm>
          <a:prstGeom prst="line">
            <a:avLst/>
          </a:prstGeom>
          <a:noFill/>
          <a:ln w="2540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69" name="S04-label168"/>
          <p:cNvSpPr txBox="1"/>
          <p:nvPr/>
        </p:nvSpPr>
        <p:spPr>
          <a:xfrm>
            <a:off x="5523992" y="3002818"/>
            <a:ext cx="1140968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⑤</a:t>
            </a:r>
            <a:endParaRPr lang="ko-KR" sz="1600" dirty="0"/>
          </a:p>
        </p:txBody>
      </p:sp>
      <p:sp>
        <p:nvSpPr>
          <p:cNvPr id="70" name="S04-line169"/>
          <p:cNvSpPr/>
          <p:nvPr/>
        </p:nvSpPr>
        <p:spPr>
          <a:xfrm flipV="1">
            <a:off x="6664960" y="3285266"/>
            <a:ext cx="0" cy="338328"/>
          </a:xfrm>
          <a:prstGeom prst="line">
            <a:avLst/>
          </a:prstGeom>
          <a:noFill/>
          <a:ln w="19050">
            <a:solidFill>
              <a:srgbClr val="3D5A80"/>
            </a:solidFill>
            <a:prstDash val="solid"/>
          </a:ln>
        </p:spPr>
      </p:sp>
      <p:sp>
        <p:nvSpPr>
          <p:cNvPr id="71" name="S04-line170"/>
          <p:cNvSpPr/>
          <p:nvPr/>
        </p:nvSpPr>
        <p:spPr>
          <a:xfrm>
            <a:off x="6664960" y="3285266"/>
            <a:ext cx="1140968" cy="0"/>
          </a:xfrm>
          <a:prstGeom prst="line">
            <a:avLst/>
          </a:prstGeom>
          <a:noFill/>
          <a:ln w="2540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72" name="S04-label171"/>
          <p:cNvSpPr txBox="1"/>
          <p:nvPr/>
        </p:nvSpPr>
        <p:spPr>
          <a:xfrm>
            <a:off x="6664960" y="3002818"/>
            <a:ext cx="1140968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⑥</a:t>
            </a:r>
            <a:endParaRPr lang="ko-KR" sz="1600" dirty="0"/>
          </a:p>
        </p:txBody>
      </p:sp>
      <p:sp>
        <p:nvSpPr>
          <p:cNvPr id="73" name="S04-figure172" descr="0부터 36까지 수직선(4마다 긴 눈금과 수)에서 0부터 4씩 6번 뛰어 24에 닿는 화살표"/>
          <p:cNvSpPr/>
          <p:nvPr/>
        </p:nvSpPr>
        <p:spPr>
          <a:xfrm>
            <a:off x="685800" y="3486434"/>
            <a:ext cx="10817352" cy="36576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4단을 완성해요</a:t>
            </a:r>
            <a:endParaRPr lang="ko-KR" sz="4400" dirty="0"/>
          </a:p>
        </p:txBody>
      </p:sp>
      <p:sp>
        <p:nvSpPr>
          <p:cNvPr id="3" name="S05-text173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빈칸에 알맞은 곱을 말해요.</a:t>
            </a:r>
            <a:endParaRPr lang="ko-KR" sz="3200" dirty="0"/>
          </a:p>
        </p:txBody>
      </p:sp>
      <p:sp>
        <p:nvSpPr>
          <p:cNvPr id="4" name="S05-card174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5-cardtext175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앞의 곱에 4를 더하면 다음 곱이에요.</a:t>
            </a:r>
            <a:endParaRPr lang="ko-KR" sz="3200" dirty="0"/>
          </a:p>
        </p:txBody>
      </p:sp>
      <p:graphicFrame>
        <p:nvGraphicFramePr>
          <p:cNvPr id="6" name="S05-table17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037840"/>
          <a:ext cx="11091672" cy="914400"/>
        </p:xfrm>
        <a:graphic>
          <a:graphicData uri="http://schemas.openxmlformats.org/drawingml/2006/table">
            <a:tbl>
              <a:tblPr/>
              <a:tblGrid>
                <a:gridCol w="1232408"/>
                <a:gridCol w="1232408"/>
                <a:gridCol w="1232408"/>
                <a:gridCol w="1232408"/>
                <a:gridCol w="1232408"/>
                <a:gridCol w="1232408"/>
                <a:gridCol w="1232408"/>
                <a:gridCol w="1232408"/>
                <a:gridCol w="1232408"/>
              </a:tblGrid>
              <a:tr h="52832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 × 1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 × 2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 × 3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 × 4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 × 5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 × 6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 × 7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 × 8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 × 9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12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16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□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24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□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32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□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4씩 두 개면 8씩</a:t>
            </a:r>
            <a:endParaRPr lang="ko-KR" sz="4400" dirty="0"/>
          </a:p>
        </p:txBody>
      </p:sp>
      <p:sp>
        <p:nvSpPr>
          <p:cNvPr id="3" name="S06-text177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4씩 3묶음 두 개를 붙여요.</a:t>
            </a:r>
            <a:endParaRPr lang="ko-KR" sz="3200" dirty="0"/>
          </a:p>
        </p:txBody>
      </p:sp>
      <p:sp>
        <p:nvSpPr>
          <p:cNvPr id="4" name="S06-card178"/>
          <p:cNvSpPr/>
          <p:nvPr/>
        </p:nvSpPr>
        <p:spPr>
          <a:xfrm>
            <a:off x="548640" y="4913884"/>
            <a:ext cx="11091672" cy="1304036"/>
          </a:xfrm>
          <a:prstGeom prst="roundRect">
            <a:avLst>
              <a:gd name="adj" fmla="val 8414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6-cardtext179"/>
          <p:cNvSpPr txBox="1"/>
          <p:nvPr/>
        </p:nvSpPr>
        <p:spPr>
          <a:xfrm>
            <a:off x="822960" y="5051044"/>
            <a:ext cx="10543032" cy="10297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 × 3은 4 × 3의 2배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 + 12 = 24</a:t>
            </a:r>
            <a:endParaRPr lang="ko-KR" sz="3200" dirty="0"/>
          </a:p>
        </p:txBody>
      </p:sp>
      <p:sp>
        <p:nvSpPr>
          <p:cNvPr id="6" name="S06-dot180"/>
          <p:cNvSpPr/>
          <p:nvPr/>
        </p:nvSpPr>
        <p:spPr>
          <a:xfrm>
            <a:off x="1545793" y="2549982"/>
            <a:ext cx="255118" cy="25511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7" name="S06-dot181"/>
          <p:cNvSpPr/>
          <p:nvPr/>
        </p:nvSpPr>
        <p:spPr>
          <a:xfrm>
            <a:off x="1957273" y="2549982"/>
            <a:ext cx="255118" cy="25511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8" name="S06-dot182"/>
          <p:cNvSpPr/>
          <p:nvPr/>
        </p:nvSpPr>
        <p:spPr>
          <a:xfrm>
            <a:off x="2368753" y="2549982"/>
            <a:ext cx="255118" cy="25511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9" name="S06-dot183"/>
          <p:cNvSpPr/>
          <p:nvPr/>
        </p:nvSpPr>
        <p:spPr>
          <a:xfrm>
            <a:off x="2780233" y="2549982"/>
            <a:ext cx="255118" cy="25511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0" name="S06-dot184"/>
          <p:cNvSpPr/>
          <p:nvPr/>
        </p:nvSpPr>
        <p:spPr>
          <a:xfrm>
            <a:off x="1545793" y="2961462"/>
            <a:ext cx="255118" cy="25511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1" name="S06-dot185"/>
          <p:cNvSpPr/>
          <p:nvPr/>
        </p:nvSpPr>
        <p:spPr>
          <a:xfrm>
            <a:off x="1957273" y="2961462"/>
            <a:ext cx="255118" cy="25511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2" name="S06-dot186"/>
          <p:cNvSpPr/>
          <p:nvPr/>
        </p:nvSpPr>
        <p:spPr>
          <a:xfrm>
            <a:off x="2368753" y="2961462"/>
            <a:ext cx="255118" cy="25511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3" name="S06-dot187"/>
          <p:cNvSpPr/>
          <p:nvPr/>
        </p:nvSpPr>
        <p:spPr>
          <a:xfrm>
            <a:off x="2780233" y="2961462"/>
            <a:ext cx="255118" cy="25511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4" name="S06-dot188"/>
          <p:cNvSpPr/>
          <p:nvPr/>
        </p:nvSpPr>
        <p:spPr>
          <a:xfrm>
            <a:off x="1545793" y="3372942"/>
            <a:ext cx="255118" cy="25511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5" name="S06-dot189"/>
          <p:cNvSpPr/>
          <p:nvPr/>
        </p:nvSpPr>
        <p:spPr>
          <a:xfrm>
            <a:off x="1957273" y="3372942"/>
            <a:ext cx="255118" cy="25511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6" name="S06-dot190"/>
          <p:cNvSpPr/>
          <p:nvPr/>
        </p:nvSpPr>
        <p:spPr>
          <a:xfrm>
            <a:off x="2368753" y="3372942"/>
            <a:ext cx="255118" cy="25511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7" name="S06-dot191"/>
          <p:cNvSpPr/>
          <p:nvPr/>
        </p:nvSpPr>
        <p:spPr>
          <a:xfrm>
            <a:off x="2780233" y="3372942"/>
            <a:ext cx="255118" cy="25511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8" name="S06-group192"/>
          <p:cNvSpPr/>
          <p:nvPr/>
        </p:nvSpPr>
        <p:spPr>
          <a:xfrm>
            <a:off x="1495044" y="2508377"/>
            <a:ext cx="1591056" cy="338328"/>
          </a:xfrm>
          <a:prstGeom prst="roundRect">
            <a:avLst>
              <a:gd name="adj" fmla="val 32432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19" name="S06-group193"/>
          <p:cNvSpPr/>
          <p:nvPr/>
        </p:nvSpPr>
        <p:spPr>
          <a:xfrm>
            <a:off x="1495044" y="2919857"/>
            <a:ext cx="1591056" cy="338328"/>
          </a:xfrm>
          <a:prstGeom prst="roundRect">
            <a:avLst>
              <a:gd name="adj" fmla="val 32432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20" name="S06-group194"/>
          <p:cNvSpPr/>
          <p:nvPr/>
        </p:nvSpPr>
        <p:spPr>
          <a:xfrm>
            <a:off x="1495044" y="3331337"/>
            <a:ext cx="1591056" cy="338328"/>
          </a:xfrm>
          <a:prstGeom prst="roundRect">
            <a:avLst>
              <a:gd name="adj" fmla="val 32432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21" name="S06-figure195" descr="주황 점 4개씩 3묶음, 12개"/>
          <p:cNvSpPr/>
          <p:nvPr/>
        </p:nvSpPr>
        <p:spPr>
          <a:xfrm>
            <a:off x="1467612" y="2471801"/>
            <a:ext cx="1645920" cy="123444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" name="S06-label196"/>
          <p:cNvSpPr txBox="1"/>
          <p:nvPr/>
        </p:nvSpPr>
        <p:spPr>
          <a:xfrm>
            <a:off x="548640" y="4239514"/>
            <a:ext cx="3483864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 × 3 = 12</a:t>
            </a:r>
            <a:endParaRPr lang="ko-KR" sz="2600" dirty="0"/>
          </a:p>
        </p:txBody>
      </p:sp>
      <p:sp>
        <p:nvSpPr>
          <p:cNvPr id="23" name="S06-dot197"/>
          <p:cNvSpPr/>
          <p:nvPr/>
        </p:nvSpPr>
        <p:spPr>
          <a:xfrm>
            <a:off x="5349697" y="2549982"/>
            <a:ext cx="255118" cy="255118"/>
          </a:xfrm>
          <a:prstGeom prst="ellipse">
            <a:avLst/>
          </a:prstGeom>
          <a:solidFill>
            <a:srgbClr val="3D5A80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4" name="S06-dot198"/>
          <p:cNvSpPr/>
          <p:nvPr/>
        </p:nvSpPr>
        <p:spPr>
          <a:xfrm>
            <a:off x="5761177" y="2549982"/>
            <a:ext cx="255118" cy="255118"/>
          </a:xfrm>
          <a:prstGeom prst="ellipse">
            <a:avLst/>
          </a:prstGeom>
          <a:solidFill>
            <a:srgbClr val="3D5A80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5" name="S06-dot199"/>
          <p:cNvSpPr/>
          <p:nvPr/>
        </p:nvSpPr>
        <p:spPr>
          <a:xfrm>
            <a:off x="6172657" y="2549982"/>
            <a:ext cx="255118" cy="255118"/>
          </a:xfrm>
          <a:prstGeom prst="ellipse">
            <a:avLst/>
          </a:prstGeom>
          <a:solidFill>
            <a:srgbClr val="3D5A80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6" name="S06-dot200"/>
          <p:cNvSpPr/>
          <p:nvPr/>
        </p:nvSpPr>
        <p:spPr>
          <a:xfrm>
            <a:off x="6584137" y="2549982"/>
            <a:ext cx="255118" cy="255118"/>
          </a:xfrm>
          <a:prstGeom prst="ellipse">
            <a:avLst/>
          </a:prstGeom>
          <a:solidFill>
            <a:srgbClr val="3D5A80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7" name="S06-dot201"/>
          <p:cNvSpPr/>
          <p:nvPr/>
        </p:nvSpPr>
        <p:spPr>
          <a:xfrm>
            <a:off x="5349697" y="2961462"/>
            <a:ext cx="255118" cy="255118"/>
          </a:xfrm>
          <a:prstGeom prst="ellipse">
            <a:avLst/>
          </a:prstGeom>
          <a:solidFill>
            <a:srgbClr val="3D5A80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8" name="S06-dot202"/>
          <p:cNvSpPr/>
          <p:nvPr/>
        </p:nvSpPr>
        <p:spPr>
          <a:xfrm>
            <a:off x="5761177" y="2961462"/>
            <a:ext cx="255118" cy="255118"/>
          </a:xfrm>
          <a:prstGeom prst="ellipse">
            <a:avLst/>
          </a:prstGeom>
          <a:solidFill>
            <a:srgbClr val="3D5A80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9" name="S06-dot203"/>
          <p:cNvSpPr/>
          <p:nvPr/>
        </p:nvSpPr>
        <p:spPr>
          <a:xfrm>
            <a:off x="6172657" y="2961462"/>
            <a:ext cx="255118" cy="255118"/>
          </a:xfrm>
          <a:prstGeom prst="ellipse">
            <a:avLst/>
          </a:prstGeom>
          <a:solidFill>
            <a:srgbClr val="3D5A80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0" name="S06-dot204"/>
          <p:cNvSpPr/>
          <p:nvPr/>
        </p:nvSpPr>
        <p:spPr>
          <a:xfrm>
            <a:off x="6584137" y="2961462"/>
            <a:ext cx="255118" cy="255118"/>
          </a:xfrm>
          <a:prstGeom prst="ellipse">
            <a:avLst/>
          </a:prstGeom>
          <a:solidFill>
            <a:srgbClr val="3D5A80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1" name="S06-dot205"/>
          <p:cNvSpPr/>
          <p:nvPr/>
        </p:nvSpPr>
        <p:spPr>
          <a:xfrm>
            <a:off x="5349697" y="3372942"/>
            <a:ext cx="255118" cy="255118"/>
          </a:xfrm>
          <a:prstGeom prst="ellipse">
            <a:avLst/>
          </a:prstGeom>
          <a:solidFill>
            <a:srgbClr val="3D5A80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2" name="S06-dot206"/>
          <p:cNvSpPr/>
          <p:nvPr/>
        </p:nvSpPr>
        <p:spPr>
          <a:xfrm>
            <a:off x="5761177" y="3372942"/>
            <a:ext cx="255118" cy="255118"/>
          </a:xfrm>
          <a:prstGeom prst="ellipse">
            <a:avLst/>
          </a:prstGeom>
          <a:solidFill>
            <a:srgbClr val="3D5A80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3" name="S06-dot207"/>
          <p:cNvSpPr/>
          <p:nvPr/>
        </p:nvSpPr>
        <p:spPr>
          <a:xfrm>
            <a:off x="6172657" y="3372942"/>
            <a:ext cx="255118" cy="255118"/>
          </a:xfrm>
          <a:prstGeom prst="ellipse">
            <a:avLst/>
          </a:prstGeom>
          <a:solidFill>
            <a:srgbClr val="3D5A80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4" name="S06-dot208"/>
          <p:cNvSpPr/>
          <p:nvPr/>
        </p:nvSpPr>
        <p:spPr>
          <a:xfrm>
            <a:off x="6584137" y="3372942"/>
            <a:ext cx="255118" cy="255118"/>
          </a:xfrm>
          <a:prstGeom prst="ellipse">
            <a:avLst/>
          </a:prstGeom>
          <a:solidFill>
            <a:srgbClr val="3D5A80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5" name="S06-group209"/>
          <p:cNvSpPr/>
          <p:nvPr/>
        </p:nvSpPr>
        <p:spPr>
          <a:xfrm>
            <a:off x="5298948" y="2508377"/>
            <a:ext cx="1591056" cy="338328"/>
          </a:xfrm>
          <a:prstGeom prst="roundRect">
            <a:avLst>
              <a:gd name="adj" fmla="val 32432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36" name="S06-group210"/>
          <p:cNvSpPr/>
          <p:nvPr/>
        </p:nvSpPr>
        <p:spPr>
          <a:xfrm>
            <a:off x="5298948" y="2919857"/>
            <a:ext cx="1591056" cy="338328"/>
          </a:xfrm>
          <a:prstGeom prst="roundRect">
            <a:avLst>
              <a:gd name="adj" fmla="val 32432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37" name="S06-group211"/>
          <p:cNvSpPr/>
          <p:nvPr/>
        </p:nvSpPr>
        <p:spPr>
          <a:xfrm>
            <a:off x="5298948" y="3331337"/>
            <a:ext cx="1591056" cy="338328"/>
          </a:xfrm>
          <a:prstGeom prst="roundRect">
            <a:avLst>
              <a:gd name="adj" fmla="val 32432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38" name="S06-figure212" descr="파란 점 4개씩 3묶음, 12개"/>
          <p:cNvSpPr/>
          <p:nvPr/>
        </p:nvSpPr>
        <p:spPr>
          <a:xfrm>
            <a:off x="5271516" y="2471801"/>
            <a:ext cx="1645920" cy="123444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9" name="S06-label213"/>
          <p:cNvSpPr txBox="1"/>
          <p:nvPr/>
        </p:nvSpPr>
        <p:spPr>
          <a:xfrm>
            <a:off x="4352544" y="4239514"/>
            <a:ext cx="3483864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 × 3 = 12</a:t>
            </a:r>
            <a:endParaRPr lang="ko-KR" sz="2600" dirty="0"/>
          </a:p>
        </p:txBody>
      </p:sp>
      <p:sp>
        <p:nvSpPr>
          <p:cNvPr id="40" name="S06-dot214"/>
          <p:cNvSpPr/>
          <p:nvPr/>
        </p:nvSpPr>
        <p:spPr>
          <a:xfrm>
            <a:off x="8330641" y="2549982"/>
            <a:ext cx="255118" cy="25511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41" name="S06-dot215"/>
          <p:cNvSpPr/>
          <p:nvPr/>
        </p:nvSpPr>
        <p:spPr>
          <a:xfrm>
            <a:off x="8742121" y="2549982"/>
            <a:ext cx="255118" cy="25511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42" name="S06-dot216"/>
          <p:cNvSpPr/>
          <p:nvPr/>
        </p:nvSpPr>
        <p:spPr>
          <a:xfrm>
            <a:off x="9153601" y="2549982"/>
            <a:ext cx="255118" cy="25511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43" name="S06-dot217"/>
          <p:cNvSpPr/>
          <p:nvPr/>
        </p:nvSpPr>
        <p:spPr>
          <a:xfrm>
            <a:off x="9565081" y="2549982"/>
            <a:ext cx="255118" cy="25511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44" name="S06-dot218"/>
          <p:cNvSpPr/>
          <p:nvPr/>
        </p:nvSpPr>
        <p:spPr>
          <a:xfrm>
            <a:off x="9976561" y="2549982"/>
            <a:ext cx="255118" cy="25511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45" name="S06-dot219"/>
          <p:cNvSpPr/>
          <p:nvPr/>
        </p:nvSpPr>
        <p:spPr>
          <a:xfrm>
            <a:off x="10388041" y="2549982"/>
            <a:ext cx="255118" cy="25511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46" name="S06-dot220"/>
          <p:cNvSpPr/>
          <p:nvPr/>
        </p:nvSpPr>
        <p:spPr>
          <a:xfrm>
            <a:off x="10799521" y="2549982"/>
            <a:ext cx="255118" cy="25511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47" name="S06-dot221"/>
          <p:cNvSpPr/>
          <p:nvPr/>
        </p:nvSpPr>
        <p:spPr>
          <a:xfrm>
            <a:off x="11211001" y="2549982"/>
            <a:ext cx="255118" cy="25511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48" name="S06-dot222"/>
          <p:cNvSpPr/>
          <p:nvPr/>
        </p:nvSpPr>
        <p:spPr>
          <a:xfrm>
            <a:off x="8330641" y="2961462"/>
            <a:ext cx="255118" cy="25511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49" name="S06-dot223"/>
          <p:cNvSpPr/>
          <p:nvPr/>
        </p:nvSpPr>
        <p:spPr>
          <a:xfrm>
            <a:off x="8742121" y="2961462"/>
            <a:ext cx="255118" cy="25511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50" name="S06-dot224"/>
          <p:cNvSpPr/>
          <p:nvPr/>
        </p:nvSpPr>
        <p:spPr>
          <a:xfrm>
            <a:off x="9153601" y="2961462"/>
            <a:ext cx="255118" cy="25511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51" name="S06-dot225"/>
          <p:cNvSpPr/>
          <p:nvPr/>
        </p:nvSpPr>
        <p:spPr>
          <a:xfrm>
            <a:off x="9565081" y="2961462"/>
            <a:ext cx="255118" cy="25511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52" name="S06-dot226"/>
          <p:cNvSpPr/>
          <p:nvPr/>
        </p:nvSpPr>
        <p:spPr>
          <a:xfrm>
            <a:off x="9976561" y="2961462"/>
            <a:ext cx="255118" cy="25511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53" name="S06-dot227"/>
          <p:cNvSpPr/>
          <p:nvPr/>
        </p:nvSpPr>
        <p:spPr>
          <a:xfrm>
            <a:off x="10388041" y="2961462"/>
            <a:ext cx="255118" cy="25511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54" name="S06-dot228"/>
          <p:cNvSpPr/>
          <p:nvPr/>
        </p:nvSpPr>
        <p:spPr>
          <a:xfrm>
            <a:off x="10799521" y="2961462"/>
            <a:ext cx="255118" cy="25511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55" name="S06-dot229"/>
          <p:cNvSpPr/>
          <p:nvPr/>
        </p:nvSpPr>
        <p:spPr>
          <a:xfrm>
            <a:off x="11211001" y="2961462"/>
            <a:ext cx="255118" cy="25511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56" name="S06-dot230"/>
          <p:cNvSpPr/>
          <p:nvPr/>
        </p:nvSpPr>
        <p:spPr>
          <a:xfrm>
            <a:off x="8330641" y="3372942"/>
            <a:ext cx="255118" cy="25511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57" name="S06-dot231"/>
          <p:cNvSpPr/>
          <p:nvPr/>
        </p:nvSpPr>
        <p:spPr>
          <a:xfrm>
            <a:off x="8742121" y="3372942"/>
            <a:ext cx="255118" cy="25511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58" name="S06-dot232"/>
          <p:cNvSpPr/>
          <p:nvPr/>
        </p:nvSpPr>
        <p:spPr>
          <a:xfrm>
            <a:off x="9153601" y="3372942"/>
            <a:ext cx="255118" cy="25511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59" name="S06-dot233"/>
          <p:cNvSpPr/>
          <p:nvPr/>
        </p:nvSpPr>
        <p:spPr>
          <a:xfrm>
            <a:off x="9565081" y="3372942"/>
            <a:ext cx="255118" cy="25511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60" name="S06-dot234"/>
          <p:cNvSpPr/>
          <p:nvPr/>
        </p:nvSpPr>
        <p:spPr>
          <a:xfrm>
            <a:off x="9976561" y="3372942"/>
            <a:ext cx="255118" cy="25511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61" name="S06-dot235"/>
          <p:cNvSpPr/>
          <p:nvPr/>
        </p:nvSpPr>
        <p:spPr>
          <a:xfrm>
            <a:off x="10388041" y="3372942"/>
            <a:ext cx="255118" cy="25511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62" name="S06-dot236"/>
          <p:cNvSpPr/>
          <p:nvPr/>
        </p:nvSpPr>
        <p:spPr>
          <a:xfrm>
            <a:off x="10799521" y="3372942"/>
            <a:ext cx="255118" cy="25511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63" name="S06-dot237"/>
          <p:cNvSpPr/>
          <p:nvPr/>
        </p:nvSpPr>
        <p:spPr>
          <a:xfrm>
            <a:off x="11211001" y="3372942"/>
            <a:ext cx="255118" cy="25511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64" name="S06-group238"/>
          <p:cNvSpPr/>
          <p:nvPr/>
        </p:nvSpPr>
        <p:spPr>
          <a:xfrm>
            <a:off x="8279892" y="2508377"/>
            <a:ext cx="3236976" cy="338328"/>
          </a:xfrm>
          <a:prstGeom prst="roundRect">
            <a:avLst>
              <a:gd name="adj" fmla="val 32432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65" name="S06-group239"/>
          <p:cNvSpPr/>
          <p:nvPr/>
        </p:nvSpPr>
        <p:spPr>
          <a:xfrm>
            <a:off x="8279892" y="2919857"/>
            <a:ext cx="3236976" cy="338328"/>
          </a:xfrm>
          <a:prstGeom prst="roundRect">
            <a:avLst>
              <a:gd name="adj" fmla="val 32432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66" name="S06-group240"/>
          <p:cNvSpPr/>
          <p:nvPr/>
        </p:nvSpPr>
        <p:spPr>
          <a:xfrm>
            <a:off x="8279892" y="3331337"/>
            <a:ext cx="3236976" cy="338328"/>
          </a:xfrm>
          <a:prstGeom prst="roundRect">
            <a:avLst>
              <a:gd name="adj" fmla="val 32432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67" name="S06-figure241" descr="점 8개씩 3묶음, 24개"/>
          <p:cNvSpPr/>
          <p:nvPr/>
        </p:nvSpPr>
        <p:spPr>
          <a:xfrm>
            <a:off x="8252460" y="2471801"/>
            <a:ext cx="3291840" cy="123444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8" name="S06-label242"/>
          <p:cNvSpPr txBox="1"/>
          <p:nvPr/>
        </p:nvSpPr>
        <p:spPr>
          <a:xfrm>
            <a:off x="8156448" y="4239514"/>
            <a:ext cx="3483864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 × 3 = 24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8씩 뛰어 세요</a:t>
            </a:r>
            <a:endParaRPr lang="ko-KR" sz="4400" dirty="0"/>
          </a:p>
        </p:txBody>
      </p:sp>
      <p:sp>
        <p:nvSpPr>
          <p:cNvPr id="3" name="S07-text243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 × 4는 0에서 8씩 4번 뛰어요.</a:t>
            </a:r>
            <a:endParaRPr lang="ko-KR" sz="3200" dirty="0"/>
          </a:p>
        </p:txBody>
      </p:sp>
      <p:sp>
        <p:nvSpPr>
          <p:cNvPr id="4" name="S07-card244"/>
          <p:cNvSpPr/>
          <p:nvPr/>
        </p:nvSpPr>
        <p:spPr>
          <a:xfrm>
            <a:off x="548640" y="4913884"/>
            <a:ext cx="11091672" cy="1304036"/>
          </a:xfrm>
          <a:prstGeom prst="roundRect">
            <a:avLst>
              <a:gd name="adj" fmla="val 8414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7-cardtext245"/>
          <p:cNvSpPr txBox="1"/>
          <p:nvPr/>
        </p:nvSpPr>
        <p:spPr>
          <a:xfrm>
            <a:off x="822960" y="5051044"/>
            <a:ext cx="10543032" cy="10297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 × 4 = 32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 × 3 = 24보다 8 커요.</a:t>
            </a:r>
            <a:endParaRPr lang="ko-KR" sz="3200" dirty="0"/>
          </a:p>
        </p:txBody>
      </p:sp>
      <p:sp>
        <p:nvSpPr>
          <p:cNvPr id="6" name="S07-line246"/>
          <p:cNvSpPr/>
          <p:nvPr/>
        </p:nvSpPr>
        <p:spPr>
          <a:xfrm>
            <a:off x="685800" y="3669314"/>
            <a:ext cx="10817352" cy="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  <a:headEnd type="triangle"/>
            <a:tailEnd type="triangle"/>
          </a:ln>
        </p:spPr>
      </p:sp>
      <p:sp>
        <p:nvSpPr>
          <p:cNvPr id="7" name="S07-line247"/>
          <p:cNvSpPr/>
          <p:nvPr/>
        </p:nvSpPr>
        <p:spPr>
          <a:xfrm>
            <a:off x="960120" y="3523010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8" name="S07-label248"/>
          <p:cNvSpPr txBox="1"/>
          <p:nvPr/>
        </p:nvSpPr>
        <p:spPr>
          <a:xfrm>
            <a:off x="502920" y="3852194"/>
            <a:ext cx="914400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</a:t>
            </a:r>
            <a:endParaRPr lang="ko-KR" sz="2600" dirty="0"/>
          </a:p>
        </p:txBody>
      </p:sp>
      <p:sp>
        <p:nvSpPr>
          <p:cNvPr id="9" name="S07-line249"/>
          <p:cNvSpPr/>
          <p:nvPr/>
        </p:nvSpPr>
        <p:spPr>
          <a:xfrm>
            <a:off x="2101088" y="3523010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0" name="S07-label250"/>
          <p:cNvSpPr txBox="1"/>
          <p:nvPr/>
        </p:nvSpPr>
        <p:spPr>
          <a:xfrm>
            <a:off x="1643888" y="3852194"/>
            <a:ext cx="914400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ko-KR" sz="2600" dirty="0"/>
          </a:p>
        </p:txBody>
      </p:sp>
      <p:sp>
        <p:nvSpPr>
          <p:cNvPr id="11" name="S07-line251"/>
          <p:cNvSpPr/>
          <p:nvPr/>
        </p:nvSpPr>
        <p:spPr>
          <a:xfrm>
            <a:off x="3242056" y="3523010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2" name="S07-label252"/>
          <p:cNvSpPr txBox="1"/>
          <p:nvPr/>
        </p:nvSpPr>
        <p:spPr>
          <a:xfrm>
            <a:off x="2784856" y="3852194"/>
            <a:ext cx="914400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16</a:t>
            </a:r>
            <a:endParaRPr lang="ko-KR" sz="2600" dirty="0"/>
          </a:p>
        </p:txBody>
      </p:sp>
      <p:sp>
        <p:nvSpPr>
          <p:cNvPr id="13" name="S07-line253"/>
          <p:cNvSpPr/>
          <p:nvPr/>
        </p:nvSpPr>
        <p:spPr>
          <a:xfrm>
            <a:off x="4383024" y="3523010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4" name="S07-label254"/>
          <p:cNvSpPr txBox="1"/>
          <p:nvPr/>
        </p:nvSpPr>
        <p:spPr>
          <a:xfrm>
            <a:off x="3925824" y="3852194"/>
            <a:ext cx="914400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24</a:t>
            </a:r>
            <a:endParaRPr lang="ko-KR" sz="2600" dirty="0"/>
          </a:p>
        </p:txBody>
      </p:sp>
      <p:sp>
        <p:nvSpPr>
          <p:cNvPr id="15" name="S07-line255"/>
          <p:cNvSpPr/>
          <p:nvPr/>
        </p:nvSpPr>
        <p:spPr>
          <a:xfrm>
            <a:off x="5523992" y="3523010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6" name="S07-label256"/>
          <p:cNvSpPr txBox="1"/>
          <p:nvPr/>
        </p:nvSpPr>
        <p:spPr>
          <a:xfrm>
            <a:off x="5066792" y="3852194"/>
            <a:ext cx="914400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32</a:t>
            </a:r>
            <a:endParaRPr lang="ko-KR" sz="2600" dirty="0"/>
          </a:p>
        </p:txBody>
      </p:sp>
      <p:sp>
        <p:nvSpPr>
          <p:cNvPr id="17" name="S07-line257"/>
          <p:cNvSpPr/>
          <p:nvPr/>
        </p:nvSpPr>
        <p:spPr>
          <a:xfrm>
            <a:off x="6664960" y="3523010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8" name="S07-label258"/>
          <p:cNvSpPr txBox="1"/>
          <p:nvPr/>
        </p:nvSpPr>
        <p:spPr>
          <a:xfrm>
            <a:off x="6207760" y="3852194"/>
            <a:ext cx="914400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40</a:t>
            </a:r>
            <a:endParaRPr lang="ko-KR" sz="2600" dirty="0"/>
          </a:p>
        </p:txBody>
      </p:sp>
      <p:sp>
        <p:nvSpPr>
          <p:cNvPr id="19" name="S07-line259"/>
          <p:cNvSpPr/>
          <p:nvPr/>
        </p:nvSpPr>
        <p:spPr>
          <a:xfrm>
            <a:off x="7805928" y="3523010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0" name="S07-label260"/>
          <p:cNvSpPr txBox="1"/>
          <p:nvPr/>
        </p:nvSpPr>
        <p:spPr>
          <a:xfrm>
            <a:off x="7348728" y="3852194"/>
            <a:ext cx="914400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48</a:t>
            </a:r>
            <a:endParaRPr lang="ko-KR" sz="2600" dirty="0"/>
          </a:p>
        </p:txBody>
      </p:sp>
      <p:sp>
        <p:nvSpPr>
          <p:cNvPr id="21" name="S07-line261"/>
          <p:cNvSpPr/>
          <p:nvPr/>
        </p:nvSpPr>
        <p:spPr>
          <a:xfrm>
            <a:off x="8946896" y="3523010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2" name="S07-label262"/>
          <p:cNvSpPr txBox="1"/>
          <p:nvPr/>
        </p:nvSpPr>
        <p:spPr>
          <a:xfrm>
            <a:off x="8489696" y="3852194"/>
            <a:ext cx="914400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56</a:t>
            </a:r>
            <a:endParaRPr lang="ko-KR" sz="2600" dirty="0"/>
          </a:p>
        </p:txBody>
      </p:sp>
      <p:sp>
        <p:nvSpPr>
          <p:cNvPr id="23" name="S07-line263"/>
          <p:cNvSpPr/>
          <p:nvPr/>
        </p:nvSpPr>
        <p:spPr>
          <a:xfrm>
            <a:off x="10087864" y="3523010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4" name="S07-label264"/>
          <p:cNvSpPr txBox="1"/>
          <p:nvPr/>
        </p:nvSpPr>
        <p:spPr>
          <a:xfrm>
            <a:off x="9630664" y="3852194"/>
            <a:ext cx="914400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64</a:t>
            </a:r>
            <a:endParaRPr lang="ko-KR" sz="2600" dirty="0"/>
          </a:p>
        </p:txBody>
      </p:sp>
      <p:sp>
        <p:nvSpPr>
          <p:cNvPr id="25" name="S07-line265"/>
          <p:cNvSpPr/>
          <p:nvPr/>
        </p:nvSpPr>
        <p:spPr>
          <a:xfrm>
            <a:off x="11228832" y="3523010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6" name="S07-label266"/>
          <p:cNvSpPr txBox="1"/>
          <p:nvPr/>
        </p:nvSpPr>
        <p:spPr>
          <a:xfrm>
            <a:off x="10771632" y="3852194"/>
            <a:ext cx="914400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72</a:t>
            </a:r>
            <a:endParaRPr lang="ko-KR" sz="2600" dirty="0"/>
          </a:p>
        </p:txBody>
      </p:sp>
      <p:sp>
        <p:nvSpPr>
          <p:cNvPr id="27" name="S07-mark267"/>
          <p:cNvSpPr/>
          <p:nvPr/>
        </p:nvSpPr>
        <p:spPr>
          <a:xfrm>
            <a:off x="5432552" y="3577874"/>
            <a:ext cx="182880" cy="18288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E9762B"/>
            </a:solidFill>
            <a:prstDash val="solid"/>
          </a:ln>
        </p:spPr>
      </p:sp>
      <p:sp>
        <p:nvSpPr>
          <p:cNvPr id="28" name="S07-line268"/>
          <p:cNvSpPr/>
          <p:nvPr/>
        </p:nvSpPr>
        <p:spPr>
          <a:xfrm flipV="1">
            <a:off x="960120" y="3285266"/>
            <a:ext cx="0" cy="338328"/>
          </a:xfrm>
          <a:prstGeom prst="line">
            <a:avLst/>
          </a:prstGeom>
          <a:noFill/>
          <a:ln w="19050">
            <a:solidFill>
              <a:srgbClr val="3D5A80"/>
            </a:solidFill>
            <a:prstDash val="solid"/>
          </a:ln>
        </p:spPr>
      </p:sp>
      <p:sp>
        <p:nvSpPr>
          <p:cNvPr id="29" name="S07-line269"/>
          <p:cNvSpPr/>
          <p:nvPr/>
        </p:nvSpPr>
        <p:spPr>
          <a:xfrm>
            <a:off x="960120" y="3285266"/>
            <a:ext cx="1140968" cy="0"/>
          </a:xfrm>
          <a:prstGeom prst="line">
            <a:avLst/>
          </a:prstGeom>
          <a:noFill/>
          <a:ln w="2540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30" name="S07-label270"/>
          <p:cNvSpPr txBox="1"/>
          <p:nvPr/>
        </p:nvSpPr>
        <p:spPr>
          <a:xfrm>
            <a:off x="960120" y="2837718"/>
            <a:ext cx="1140968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31" name="S07-line271"/>
          <p:cNvSpPr/>
          <p:nvPr/>
        </p:nvSpPr>
        <p:spPr>
          <a:xfrm flipV="1">
            <a:off x="2101088" y="3285266"/>
            <a:ext cx="0" cy="338328"/>
          </a:xfrm>
          <a:prstGeom prst="line">
            <a:avLst/>
          </a:prstGeom>
          <a:noFill/>
          <a:ln w="19050">
            <a:solidFill>
              <a:srgbClr val="3D5A80"/>
            </a:solidFill>
            <a:prstDash val="solid"/>
          </a:ln>
        </p:spPr>
      </p:sp>
      <p:sp>
        <p:nvSpPr>
          <p:cNvPr id="32" name="S07-line272"/>
          <p:cNvSpPr/>
          <p:nvPr/>
        </p:nvSpPr>
        <p:spPr>
          <a:xfrm>
            <a:off x="2101088" y="3285266"/>
            <a:ext cx="1140968" cy="0"/>
          </a:xfrm>
          <a:prstGeom prst="line">
            <a:avLst/>
          </a:prstGeom>
          <a:noFill/>
          <a:ln w="2540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33" name="S07-label273"/>
          <p:cNvSpPr txBox="1"/>
          <p:nvPr/>
        </p:nvSpPr>
        <p:spPr>
          <a:xfrm>
            <a:off x="2101088" y="2837718"/>
            <a:ext cx="1140968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34" name="S07-line274"/>
          <p:cNvSpPr/>
          <p:nvPr/>
        </p:nvSpPr>
        <p:spPr>
          <a:xfrm flipV="1">
            <a:off x="3242056" y="3285266"/>
            <a:ext cx="0" cy="338328"/>
          </a:xfrm>
          <a:prstGeom prst="line">
            <a:avLst/>
          </a:prstGeom>
          <a:noFill/>
          <a:ln w="19050">
            <a:solidFill>
              <a:srgbClr val="3D5A80"/>
            </a:solidFill>
            <a:prstDash val="solid"/>
          </a:ln>
        </p:spPr>
      </p:sp>
      <p:sp>
        <p:nvSpPr>
          <p:cNvPr id="35" name="S07-line275"/>
          <p:cNvSpPr/>
          <p:nvPr/>
        </p:nvSpPr>
        <p:spPr>
          <a:xfrm>
            <a:off x="3242056" y="3285266"/>
            <a:ext cx="1140968" cy="0"/>
          </a:xfrm>
          <a:prstGeom prst="line">
            <a:avLst/>
          </a:prstGeom>
          <a:noFill/>
          <a:ln w="2540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36" name="S07-label276"/>
          <p:cNvSpPr txBox="1"/>
          <p:nvPr/>
        </p:nvSpPr>
        <p:spPr>
          <a:xfrm>
            <a:off x="3242056" y="2837718"/>
            <a:ext cx="1140968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600" dirty="0"/>
          </a:p>
        </p:txBody>
      </p:sp>
      <p:sp>
        <p:nvSpPr>
          <p:cNvPr id="37" name="S07-line277"/>
          <p:cNvSpPr/>
          <p:nvPr/>
        </p:nvSpPr>
        <p:spPr>
          <a:xfrm flipV="1">
            <a:off x="4383024" y="3285266"/>
            <a:ext cx="0" cy="338328"/>
          </a:xfrm>
          <a:prstGeom prst="line">
            <a:avLst/>
          </a:prstGeom>
          <a:noFill/>
          <a:ln w="19050">
            <a:solidFill>
              <a:srgbClr val="3D5A80"/>
            </a:solidFill>
            <a:prstDash val="solid"/>
          </a:ln>
        </p:spPr>
      </p:sp>
      <p:sp>
        <p:nvSpPr>
          <p:cNvPr id="38" name="S07-line278"/>
          <p:cNvSpPr/>
          <p:nvPr/>
        </p:nvSpPr>
        <p:spPr>
          <a:xfrm>
            <a:off x="4383024" y="3285266"/>
            <a:ext cx="1140968" cy="0"/>
          </a:xfrm>
          <a:prstGeom prst="line">
            <a:avLst/>
          </a:prstGeom>
          <a:noFill/>
          <a:ln w="2540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39" name="S07-label279"/>
          <p:cNvSpPr txBox="1"/>
          <p:nvPr/>
        </p:nvSpPr>
        <p:spPr>
          <a:xfrm>
            <a:off x="4383024" y="2837718"/>
            <a:ext cx="1140968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600" dirty="0"/>
          </a:p>
        </p:txBody>
      </p:sp>
      <p:sp>
        <p:nvSpPr>
          <p:cNvPr id="40" name="S07-figure280" descr="0부터 72까지 8씩 눈금이 있는 수직선에서 0부터 8씩 4번 뛰어 32에 닿는 화살표"/>
          <p:cNvSpPr/>
          <p:nvPr/>
        </p:nvSpPr>
        <p:spPr>
          <a:xfrm>
            <a:off x="685800" y="3486434"/>
            <a:ext cx="10817352" cy="36576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8단을 완성해요</a:t>
            </a:r>
            <a:endParaRPr lang="ko-KR" sz="4400" dirty="0"/>
          </a:p>
        </p:txBody>
      </p:sp>
      <p:sp>
        <p:nvSpPr>
          <p:cNvPr id="3" name="S08-text281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4단의 곱을 보고 8단을 채워요.</a:t>
            </a:r>
            <a:endParaRPr lang="ko-KR" sz="3200" dirty="0"/>
          </a:p>
        </p:txBody>
      </p:sp>
      <p:sp>
        <p:nvSpPr>
          <p:cNvPr id="4" name="S08-card282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8-cardtext283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4단의 곱을 두 번 더하면 8단의 곱이에요.</a:t>
            </a:r>
            <a:endParaRPr lang="ko-KR" sz="3200" dirty="0"/>
          </a:p>
        </p:txBody>
      </p:sp>
      <p:graphicFrame>
        <p:nvGraphicFramePr>
          <p:cNvPr id="9" name="S08-table28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773680"/>
          <a:ext cx="11091672" cy="914400"/>
        </p:xfrm>
        <a:graphic>
          <a:graphicData uri="http://schemas.openxmlformats.org/drawingml/2006/table">
            <a:tbl>
              <a:tblPr/>
              <a:tblGrid>
                <a:gridCol w="1109167"/>
                <a:gridCol w="1109167"/>
                <a:gridCol w="1109167"/>
                <a:gridCol w="1109167"/>
                <a:gridCol w="1109167"/>
                <a:gridCol w="1109167"/>
                <a:gridCol w="1109167"/>
                <a:gridCol w="1109167"/>
                <a:gridCol w="1109167"/>
                <a:gridCol w="1109167"/>
              </a:tblGrid>
              <a:tr h="52832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×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9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12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16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24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28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32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36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16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24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32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□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48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□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□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□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곱을 구해요</a:t>
            </a:r>
            <a:endParaRPr lang="ko-KR" sz="4400" dirty="0"/>
          </a:p>
        </p:txBody>
      </p:sp>
      <p:sp>
        <p:nvSpPr>
          <p:cNvPr id="3" name="S09-text285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①④는 다리가 모두 몇 개인지 구해요.</a:t>
            </a:r>
            <a:endParaRPr lang="ko-KR" sz="3200" dirty="0"/>
          </a:p>
        </p:txBody>
      </p:sp>
      <p:sp>
        <p:nvSpPr>
          <p:cNvPr id="4" name="S09-card286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09-cardtext287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몇씩 몇 묶음인지 먼저 말해요.</a:t>
            </a:r>
            <a:endParaRPr lang="ko-KR" sz="3200" dirty="0"/>
          </a:p>
        </p:txBody>
      </p:sp>
      <p:sp>
        <p:nvSpPr>
          <p:cNvPr id="6" name="S09-chip288"/>
          <p:cNvSpPr txBox="1"/>
          <p:nvPr/>
        </p:nvSpPr>
        <p:spPr>
          <a:xfrm>
            <a:off x="548640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7" name="S09-text289"/>
          <p:cNvSpPr txBox="1"/>
          <p:nvPr/>
        </p:nvSpPr>
        <p:spPr>
          <a:xfrm>
            <a:off x="1344168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강아지 7마리</a:t>
            </a:r>
            <a:endParaRPr lang="ko-KR" sz="3200" dirty="0"/>
          </a:p>
        </p:txBody>
      </p:sp>
      <p:sp>
        <p:nvSpPr>
          <p:cNvPr id="8" name="S09-chip290"/>
          <p:cNvSpPr txBox="1"/>
          <p:nvPr/>
        </p:nvSpPr>
        <p:spPr>
          <a:xfrm>
            <a:off x="6277356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9" name="S09-eqtext291"/>
          <p:cNvSpPr txBox="1"/>
          <p:nvPr/>
        </p:nvSpPr>
        <p:spPr>
          <a:xfrm>
            <a:off x="7072884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 × 9 = □</a:t>
            </a:r>
            <a:endParaRPr lang="ko-KR" sz="3600" dirty="0"/>
          </a:p>
        </p:txBody>
      </p:sp>
      <p:sp>
        <p:nvSpPr>
          <p:cNvPr id="10" name="S09-chip292"/>
          <p:cNvSpPr txBox="1"/>
          <p:nvPr/>
        </p:nvSpPr>
        <p:spPr>
          <a:xfrm>
            <a:off x="548640" y="41056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600" dirty="0"/>
          </a:p>
        </p:txBody>
      </p:sp>
      <p:sp>
        <p:nvSpPr>
          <p:cNvPr id="11" name="S09-eqtext293"/>
          <p:cNvSpPr txBox="1"/>
          <p:nvPr/>
        </p:nvSpPr>
        <p:spPr>
          <a:xfrm>
            <a:off x="1344168" y="365760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 × 5 = □</a:t>
            </a:r>
            <a:endParaRPr lang="ko-KR" sz="3600" dirty="0"/>
          </a:p>
        </p:txBody>
      </p:sp>
      <p:sp>
        <p:nvSpPr>
          <p:cNvPr id="12" name="S09-chip294"/>
          <p:cNvSpPr txBox="1"/>
          <p:nvPr/>
        </p:nvSpPr>
        <p:spPr>
          <a:xfrm>
            <a:off x="6277356" y="41056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600" dirty="0"/>
          </a:p>
        </p:txBody>
      </p:sp>
      <p:sp>
        <p:nvSpPr>
          <p:cNvPr id="13" name="S09-text295"/>
          <p:cNvSpPr txBox="1"/>
          <p:nvPr/>
        </p:nvSpPr>
        <p:spPr>
          <a:xfrm>
            <a:off x="7072884" y="365760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문어 6마리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 맞았을까요?</a:t>
            </a:r>
            <a:endParaRPr lang="ko-KR" sz="4400" dirty="0"/>
          </a:p>
        </p:txBody>
      </p:sp>
      <p:sp>
        <p:nvSpPr>
          <p:cNvPr id="3" name="S10-card296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0-cardtext297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 × 2 = 8을 보고 8 × 2를 구했어요.</a:t>
            </a:r>
            <a:endParaRPr lang="ko-KR" sz="3200" dirty="0"/>
          </a:p>
        </p:txBody>
      </p:sp>
      <p:sp>
        <p:nvSpPr>
          <p:cNvPr id="5" name="S10-card298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10-cardtext299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 맞았을까요? 왜 그럴까요?</a:t>
            </a:r>
            <a:endParaRPr lang="ko-KR" sz="3200" dirty="0"/>
          </a:p>
        </p:txBody>
      </p:sp>
      <p:sp>
        <p:nvSpPr>
          <p:cNvPr id="7" name="S10-chip300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토끼: 12</a:t>
            </a:r>
            <a:endParaRPr lang="ko-KR" sz="2600" dirty="0"/>
          </a:p>
        </p:txBody>
      </p:sp>
      <p:sp>
        <p:nvSpPr>
          <p:cNvPr id="8" name="S10-text301"/>
          <p:cNvSpPr txBox="1"/>
          <p:nvPr/>
        </p:nvSpPr>
        <p:spPr>
          <a:xfrm>
            <a:off x="548640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“8은 4보다 4 크니까</a:t>
            </a:r>
            <a:endParaRPr lang="ko-KR" sz="3200" dirty="0"/>
          </a:p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 + 4 = 12예요.”</a:t>
            </a:r>
            <a:endParaRPr lang="ko-KR" sz="3200" dirty="0"/>
          </a:p>
        </p:txBody>
      </p:sp>
      <p:sp>
        <p:nvSpPr>
          <p:cNvPr id="9" name="S10-chip302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곰: 16</a:t>
            </a:r>
            <a:endParaRPr lang="ko-KR" sz="2600" dirty="0"/>
          </a:p>
        </p:txBody>
      </p:sp>
      <p:sp>
        <p:nvSpPr>
          <p:cNvPr id="10" name="S10-dot303"/>
          <p:cNvSpPr/>
          <p:nvPr/>
        </p:nvSpPr>
        <p:spPr>
          <a:xfrm>
            <a:off x="7391095" y="3557219"/>
            <a:ext cx="255118" cy="25511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1" name="S10-dot304"/>
          <p:cNvSpPr/>
          <p:nvPr/>
        </p:nvSpPr>
        <p:spPr>
          <a:xfrm>
            <a:off x="7802575" y="3557219"/>
            <a:ext cx="255118" cy="25511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2" name="S10-dot305"/>
          <p:cNvSpPr/>
          <p:nvPr/>
        </p:nvSpPr>
        <p:spPr>
          <a:xfrm>
            <a:off x="8214055" y="3557219"/>
            <a:ext cx="255118" cy="25511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3" name="S10-dot306"/>
          <p:cNvSpPr/>
          <p:nvPr/>
        </p:nvSpPr>
        <p:spPr>
          <a:xfrm>
            <a:off x="8625535" y="3557219"/>
            <a:ext cx="255118" cy="25511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4" name="S10-dot307"/>
          <p:cNvSpPr/>
          <p:nvPr/>
        </p:nvSpPr>
        <p:spPr>
          <a:xfrm>
            <a:off x="9037015" y="3557219"/>
            <a:ext cx="255118" cy="25511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5" name="S10-dot308"/>
          <p:cNvSpPr/>
          <p:nvPr/>
        </p:nvSpPr>
        <p:spPr>
          <a:xfrm>
            <a:off x="9448495" y="3557219"/>
            <a:ext cx="255118" cy="25511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6" name="S10-dot309"/>
          <p:cNvSpPr/>
          <p:nvPr/>
        </p:nvSpPr>
        <p:spPr>
          <a:xfrm>
            <a:off x="9859975" y="3557219"/>
            <a:ext cx="255118" cy="25511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7" name="S10-dot310"/>
          <p:cNvSpPr/>
          <p:nvPr/>
        </p:nvSpPr>
        <p:spPr>
          <a:xfrm>
            <a:off x="10271455" y="3557219"/>
            <a:ext cx="255118" cy="25511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8" name="S10-dot311"/>
          <p:cNvSpPr/>
          <p:nvPr/>
        </p:nvSpPr>
        <p:spPr>
          <a:xfrm>
            <a:off x="7391095" y="3968699"/>
            <a:ext cx="255118" cy="25511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9" name="S10-dot312"/>
          <p:cNvSpPr/>
          <p:nvPr/>
        </p:nvSpPr>
        <p:spPr>
          <a:xfrm>
            <a:off x="7802575" y="3968699"/>
            <a:ext cx="255118" cy="25511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0" name="S10-dot313"/>
          <p:cNvSpPr/>
          <p:nvPr/>
        </p:nvSpPr>
        <p:spPr>
          <a:xfrm>
            <a:off x="8214055" y="3968699"/>
            <a:ext cx="255118" cy="25511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1" name="S10-dot314"/>
          <p:cNvSpPr/>
          <p:nvPr/>
        </p:nvSpPr>
        <p:spPr>
          <a:xfrm>
            <a:off x="8625535" y="3968699"/>
            <a:ext cx="255118" cy="25511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2" name="S10-dot315"/>
          <p:cNvSpPr/>
          <p:nvPr/>
        </p:nvSpPr>
        <p:spPr>
          <a:xfrm>
            <a:off x="9037015" y="3968699"/>
            <a:ext cx="255118" cy="25511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3" name="S10-dot316"/>
          <p:cNvSpPr/>
          <p:nvPr/>
        </p:nvSpPr>
        <p:spPr>
          <a:xfrm>
            <a:off x="9448495" y="3968699"/>
            <a:ext cx="255118" cy="25511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4" name="S10-dot317"/>
          <p:cNvSpPr/>
          <p:nvPr/>
        </p:nvSpPr>
        <p:spPr>
          <a:xfrm>
            <a:off x="9859975" y="3968699"/>
            <a:ext cx="255118" cy="25511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5" name="S10-dot318"/>
          <p:cNvSpPr/>
          <p:nvPr/>
        </p:nvSpPr>
        <p:spPr>
          <a:xfrm>
            <a:off x="10271455" y="3968699"/>
            <a:ext cx="255118" cy="25511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6" name="S10-group319"/>
          <p:cNvSpPr/>
          <p:nvPr/>
        </p:nvSpPr>
        <p:spPr>
          <a:xfrm>
            <a:off x="7340346" y="3515614"/>
            <a:ext cx="3236976" cy="338328"/>
          </a:xfrm>
          <a:prstGeom prst="roundRect">
            <a:avLst>
              <a:gd name="adj" fmla="val 32432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27" name="S10-group320"/>
          <p:cNvSpPr/>
          <p:nvPr/>
        </p:nvSpPr>
        <p:spPr>
          <a:xfrm>
            <a:off x="7340346" y="3927094"/>
            <a:ext cx="3236976" cy="338328"/>
          </a:xfrm>
          <a:prstGeom prst="roundRect">
            <a:avLst>
              <a:gd name="adj" fmla="val 32432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28" name="S10-figure321" descr="점 8개씩 2묶음, 16개"/>
          <p:cNvSpPr/>
          <p:nvPr/>
        </p:nvSpPr>
        <p:spPr>
          <a:xfrm>
            <a:off x="7312914" y="3479038"/>
            <a:ext cx="3291840" cy="82296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" name="S10-text322"/>
          <p:cNvSpPr txBox="1"/>
          <p:nvPr/>
        </p:nvSpPr>
        <p:spPr>
          <a:xfrm>
            <a:off x="6277356" y="4626356"/>
            <a:ext cx="5362956" cy="4942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“4씩 2묶음이 두 개: 8 + 8”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</a:t>
            </a:r>
            <a:endParaRPr lang="ko-KR" sz="4400" dirty="0"/>
          </a:p>
        </p:txBody>
      </p:sp>
      <p:sp>
        <p:nvSpPr>
          <p:cNvPr id="3" name="S11-text323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곱을 구하고, 어떻게 구했는지 말해요.</a:t>
            </a:r>
            <a:endParaRPr lang="ko-KR" sz="3200" dirty="0"/>
          </a:p>
        </p:txBody>
      </p:sp>
      <p:sp>
        <p:nvSpPr>
          <p:cNvPr id="4" name="S11-chip324"/>
          <p:cNvSpPr txBox="1"/>
          <p:nvPr/>
        </p:nvSpPr>
        <p:spPr>
          <a:xfrm>
            <a:off x="548640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5" name="S11-eqtext325"/>
          <p:cNvSpPr txBox="1"/>
          <p:nvPr/>
        </p:nvSpPr>
        <p:spPr>
          <a:xfrm>
            <a:off x="1344168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 × 8 = □</a:t>
            </a:r>
            <a:endParaRPr lang="ko-KR" sz="3600" dirty="0"/>
          </a:p>
        </p:txBody>
      </p:sp>
      <p:sp>
        <p:nvSpPr>
          <p:cNvPr id="6" name="S11-chip326"/>
          <p:cNvSpPr txBox="1"/>
          <p:nvPr/>
        </p:nvSpPr>
        <p:spPr>
          <a:xfrm>
            <a:off x="6277356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7" name="S11-eqtext327"/>
          <p:cNvSpPr txBox="1"/>
          <p:nvPr/>
        </p:nvSpPr>
        <p:spPr>
          <a:xfrm>
            <a:off x="7072884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 × 9 = □</a:t>
            </a:r>
            <a:endParaRPr lang="ko-KR" sz="3600" dirty="0"/>
          </a:p>
        </p:txBody>
      </p:sp>
      <p:sp>
        <p:nvSpPr>
          <p:cNvPr id="8" name="S11-chip328"/>
          <p:cNvSpPr txBox="1"/>
          <p:nvPr/>
        </p:nvSpPr>
        <p:spPr>
          <a:xfrm>
            <a:off x="548640" y="4654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600" dirty="0"/>
          </a:p>
        </p:txBody>
      </p:sp>
      <p:sp>
        <p:nvSpPr>
          <p:cNvPr id="9" name="S11-text329"/>
          <p:cNvSpPr txBox="1"/>
          <p:nvPr/>
        </p:nvSpPr>
        <p:spPr>
          <a:xfrm>
            <a:off x="1344168" y="420624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 × 7 = 28, 8 × 7은?</a:t>
            </a:r>
            <a:endParaRPr lang="ko-KR" sz="3200" dirty="0"/>
          </a:p>
        </p:txBody>
      </p:sp>
      <p:sp>
        <p:nvSpPr>
          <p:cNvPr id="10" name="S11-chip330"/>
          <p:cNvSpPr txBox="1"/>
          <p:nvPr/>
        </p:nvSpPr>
        <p:spPr>
          <a:xfrm>
            <a:off x="6277356" y="4654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600" dirty="0"/>
          </a:p>
        </p:txBody>
      </p:sp>
      <p:sp>
        <p:nvSpPr>
          <p:cNvPr id="11" name="S11-text331"/>
          <p:cNvSpPr txBox="1"/>
          <p:nvPr/>
        </p:nvSpPr>
        <p:spPr>
          <a:xfrm>
            <a:off x="7072884" y="420624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거미 8마리의 다리는?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알맞은 방법은?</a:t>
            </a:r>
            <a:endParaRPr lang="ko-KR" sz="4400" dirty="0"/>
          </a:p>
        </p:txBody>
      </p:sp>
      <p:sp>
        <p:nvSpPr>
          <p:cNvPr id="3" name="S13-text332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 × 6 = 24예요. 8 × 6을 구하는 식은?</a:t>
            </a:r>
            <a:endParaRPr lang="ko-KR" sz="3200" dirty="0"/>
          </a:p>
        </p:txBody>
      </p:sp>
      <p:sp>
        <p:nvSpPr>
          <p:cNvPr id="4" name="S13-card333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13-cardtext334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왜 그 식인지 말해 보세요.</a:t>
            </a:r>
            <a:endParaRPr lang="ko-KR" sz="3200" dirty="0"/>
          </a:p>
        </p:txBody>
      </p:sp>
      <p:sp>
        <p:nvSpPr>
          <p:cNvPr id="6" name="S13-chip335"/>
          <p:cNvSpPr txBox="1"/>
          <p:nvPr/>
        </p:nvSpPr>
        <p:spPr>
          <a:xfrm>
            <a:off x="1991868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3200" dirty="0"/>
          </a:p>
        </p:txBody>
      </p:sp>
      <p:sp>
        <p:nvSpPr>
          <p:cNvPr id="7" name="S13-card336"/>
          <p:cNvSpPr/>
          <p:nvPr/>
        </p:nvSpPr>
        <p:spPr>
          <a:xfrm>
            <a:off x="548640" y="2715768"/>
            <a:ext cx="3453384" cy="2404872"/>
          </a:xfrm>
          <a:prstGeom prst="roundRect">
            <a:avLst>
              <a:gd name="adj" fmla="val 456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" name="S13-cardtext337"/>
          <p:cNvSpPr txBox="1"/>
          <p:nvPr/>
        </p:nvSpPr>
        <p:spPr>
          <a:xfrm>
            <a:off x="822960" y="2852928"/>
            <a:ext cx="2904744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24 + 4</a:t>
            </a:r>
            <a:endParaRPr lang="ko-KR" sz="3200" dirty="0"/>
          </a:p>
        </p:txBody>
      </p:sp>
      <p:sp>
        <p:nvSpPr>
          <p:cNvPr id="9" name="S13-chip338"/>
          <p:cNvSpPr txBox="1"/>
          <p:nvPr/>
        </p:nvSpPr>
        <p:spPr>
          <a:xfrm>
            <a:off x="5811012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3200" dirty="0"/>
          </a:p>
        </p:txBody>
      </p:sp>
      <p:sp>
        <p:nvSpPr>
          <p:cNvPr id="10" name="S13-card339"/>
          <p:cNvSpPr/>
          <p:nvPr/>
        </p:nvSpPr>
        <p:spPr>
          <a:xfrm>
            <a:off x="4367784" y="2715768"/>
            <a:ext cx="3453384" cy="2404872"/>
          </a:xfrm>
          <a:prstGeom prst="roundRect">
            <a:avLst>
              <a:gd name="adj" fmla="val 456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1" name="S13-cardtext340"/>
          <p:cNvSpPr txBox="1"/>
          <p:nvPr/>
        </p:nvSpPr>
        <p:spPr>
          <a:xfrm>
            <a:off x="4642104" y="2852928"/>
            <a:ext cx="2904744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24 + 8</a:t>
            </a:r>
            <a:endParaRPr lang="ko-KR" sz="3200" dirty="0"/>
          </a:p>
        </p:txBody>
      </p:sp>
      <p:sp>
        <p:nvSpPr>
          <p:cNvPr id="12" name="S13-chip341"/>
          <p:cNvSpPr txBox="1"/>
          <p:nvPr/>
        </p:nvSpPr>
        <p:spPr>
          <a:xfrm>
            <a:off x="9630156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3200" dirty="0"/>
          </a:p>
        </p:txBody>
      </p:sp>
      <p:sp>
        <p:nvSpPr>
          <p:cNvPr id="13" name="S13-card342"/>
          <p:cNvSpPr/>
          <p:nvPr/>
        </p:nvSpPr>
        <p:spPr>
          <a:xfrm>
            <a:off x="8186928" y="2715768"/>
            <a:ext cx="3453384" cy="2404872"/>
          </a:xfrm>
          <a:prstGeom prst="roundRect">
            <a:avLst>
              <a:gd name="adj" fmla="val 456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4" name="S13-cardtext343"/>
          <p:cNvSpPr txBox="1"/>
          <p:nvPr/>
        </p:nvSpPr>
        <p:spPr>
          <a:xfrm>
            <a:off x="8461248" y="2852928"/>
            <a:ext cx="2904744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24 + 24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400" dirty="0"/>
          </a:p>
        </p:txBody>
      </p:sp>
      <p:sp>
        <p:nvSpPr>
          <p:cNvPr id="3" name="S14-card344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4-cardtext345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8단의 곱은 4단 곱의 2배예요.</a:t>
            </a:r>
            <a:endParaRPr lang="ko-KR" sz="3200" dirty="0"/>
          </a:p>
        </p:txBody>
      </p:sp>
      <p:sp>
        <p:nvSpPr>
          <p:cNvPr id="5" name="S14-chip346"/>
          <p:cNvSpPr txBox="1"/>
          <p:nvPr/>
        </p:nvSpPr>
        <p:spPr>
          <a:xfrm>
            <a:off x="548640" y="242316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4단 곱을 두 번 더하기</a:t>
            </a:r>
            <a:endParaRPr lang="ko-KR" sz="2600" dirty="0"/>
          </a:p>
        </p:txBody>
      </p:sp>
      <p:sp>
        <p:nvSpPr>
          <p:cNvPr id="6" name="S14-chip347"/>
          <p:cNvSpPr txBox="1"/>
          <p:nvPr/>
        </p:nvSpPr>
        <p:spPr>
          <a:xfrm>
            <a:off x="6208776" y="242316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4단 곱에 4만 더하기</a:t>
            </a:r>
            <a:endParaRPr lang="ko-KR" sz="2600" dirty="0"/>
          </a:p>
        </p:txBody>
      </p:sp>
      <p:sp>
        <p:nvSpPr>
          <p:cNvPr id="7" name="S14-text348"/>
          <p:cNvSpPr txBox="1"/>
          <p:nvPr/>
        </p:nvSpPr>
        <p:spPr>
          <a:xfrm>
            <a:off x="548640" y="324612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600" dirty="0"/>
          </a:p>
        </p:txBody>
      </p:sp>
      <p:sp>
        <p:nvSpPr>
          <p:cNvPr id="8" name="S14-eqtext349"/>
          <p:cNvSpPr txBox="1"/>
          <p:nvPr/>
        </p:nvSpPr>
        <p:spPr>
          <a:xfrm>
            <a:off x="548640" y="3749040"/>
            <a:ext cx="3544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4 × 5 = □</a:t>
            </a:r>
            <a:endParaRPr lang="ko-KR" sz="3000" dirty="0"/>
          </a:p>
        </p:txBody>
      </p:sp>
      <p:sp>
        <p:nvSpPr>
          <p:cNvPr id="9" name="S14-eqtext350"/>
          <p:cNvSpPr txBox="1"/>
          <p:nvPr/>
        </p:nvSpPr>
        <p:spPr>
          <a:xfrm>
            <a:off x="4322064" y="3749040"/>
            <a:ext cx="3544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8 × 7 = □</a:t>
            </a:r>
            <a:endParaRPr lang="ko-KR" sz="3000" dirty="0"/>
          </a:p>
        </p:txBody>
      </p:sp>
      <p:sp>
        <p:nvSpPr>
          <p:cNvPr id="10" name="S14-eqtext351"/>
          <p:cNvSpPr txBox="1"/>
          <p:nvPr/>
        </p:nvSpPr>
        <p:spPr>
          <a:xfrm>
            <a:off x="8095488" y="3749040"/>
            <a:ext cx="3544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8 × 4 = □</a:t>
            </a:r>
            <a:endParaRPr lang="ko-KR" sz="3000" dirty="0"/>
          </a:p>
        </p:txBody>
      </p:sp>
      <p:sp>
        <p:nvSpPr>
          <p:cNvPr id="11" name="S14-text352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7단과 9단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3씩 두 개</a:t>
            </a:r>
            <a:endParaRPr lang="ko-KR" sz="4400" dirty="0"/>
          </a:p>
        </p:txBody>
      </p:sp>
      <p:sp>
        <p:nvSpPr>
          <p:cNvPr id="3" name="S15-text353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3씩 2묶음 두 개를 붙여요.</a:t>
            </a:r>
            <a:endParaRPr lang="ko-KR" sz="3200" dirty="0"/>
          </a:p>
        </p:txBody>
      </p:sp>
      <p:sp>
        <p:nvSpPr>
          <p:cNvPr id="4" name="S15-card354"/>
          <p:cNvSpPr/>
          <p:nvPr/>
        </p:nvSpPr>
        <p:spPr>
          <a:xfrm>
            <a:off x="548640" y="4913884"/>
            <a:ext cx="11091672" cy="1304036"/>
          </a:xfrm>
          <a:prstGeom prst="roundRect">
            <a:avLst>
              <a:gd name="adj" fmla="val 8414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15-cardtext355"/>
          <p:cNvSpPr txBox="1"/>
          <p:nvPr/>
        </p:nvSpPr>
        <p:spPr>
          <a:xfrm>
            <a:off x="822960" y="5051044"/>
            <a:ext cx="10543032" cy="10297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 + 6 = 12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 × 2는 3 × 2의 2배예요.</a:t>
            </a:r>
            <a:endParaRPr lang="ko-KR" sz="3200" dirty="0"/>
          </a:p>
        </p:txBody>
      </p:sp>
      <p:sp>
        <p:nvSpPr>
          <p:cNvPr id="6" name="S15-dot356"/>
          <p:cNvSpPr/>
          <p:nvPr/>
        </p:nvSpPr>
        <p:spPr>
          <a:xfrm>
            <a:off x="1571854" y="2644623"/>
            <a:ext cx="340157" cy="340157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7" name="S15-dot357"/>
          <p:cNvSpPr/>
          <p:nvPr/>
        </p:nvSpPr>
        <p:spPr>
          <a:xfrm>
            <a:off x="2120494" y="2644623"/>
            <a:ext cx="340157" cy="340157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8" name="S15-dot358"/>
          <p:cNvSpPr/>
          <p:nvPr/>
        </p:nvSpPr>
        <p:spPr>
          <a:xfrm>
            <a:off x="2669134" y="2644623"/>
            <a:ext cx="340157" cy="340157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9" name="S15-dot359"/>
          <p:cNvSpPr/>
          <p:nvPr/>
        </p:nvSpPr>
        <p:spPr>
          <a:xfrm>
            <a:off x="1571854" y="3193263"/>
            <a:ext cx="340157" cy="340157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0" name="S15-dot360"/>
          <p:cNvSpPr/>
          <p:nvPr/>
        </p:nvSpPr>
        <p:spPr>
          <a:xfrm>
            <a:off x="2120494" y="3193263"/>
            <a:ext cx="340157" cy="340157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1" name="S15-dot361"/>
          <p:cNvSpPr/>
          <p:nvPr/>
        </p:nvSpPr>
        <p:spPr>
          <a:xfrm>
            <a:off x="2669134" y="3193263"/>
            <a:ext cx="340157" cy="340157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2" name="S15-group362"/>
          <p:cNvSpPr/>
          <p:nvPr/>
        </p:nvSpPr>
        <p:spPr>
          <a:xfrm>
            <a:off x="1495044" y="2576957"/>
            <a:ext cx="1591056" cy="475488"/>
          </a:xfrm>
          <a:prstGeom prst="roundRect">
            <a:avLst>
              <a:gd name="adj" fmla="val 23077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13" name="S15-group363"/>
          <p:cNvSpPr/>
          <p:nvPr/>
        </p:nvSpPr>
        <p:spPr>
          <a:xfrm>
            <a:off x="1495044" y="3125597"/>
            <a:ext cx="1591056" cy="475488"/>
          </a:xfrm>
          <a:prstGeom prst="roundRect">
            <a:avLst>
              <a:gd name="adj" fmla="val 23077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14" name="S15-figure364" descr="주황 점 3개씩 2묶음, 6개"/>
          <p:cNvSpPr/>
          <p:nvPr/>
        </p:nvSpPr>
        <p:spPr>
          <a:xfrm>
            <a:off x="1467612" y="2540381"/>
            <a:ext cx="1645920" cy="109728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S15-label365"/>
          <p:cNvSpPr txBox="1"/>
          <p:nvPr/>
        </p:nvSpPr>
        <p:spPr>
          <a:xfrm>
            <a:off x="548640" y="4239514"/>
            <a:ext cx="3483864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 × 2</a:t>
            </a:r>
            <a:endParaRPr lang="ko-KR" sz="2600" dirty="0"/>
          </a:p>
        </p:txBody>
      </p:sp>
      <p:sp>
        <p:nvSpPr>
          <p:cNvPr id="16" name="S15-dot366"/>
          <p:cNvSpPr/>
          <p:nvPr/>
        </p:nvSpPr>
        <p:spPr>
          <a:xfrm>
            <a:off x="5375758" y="2644623"/>
            <a:ext cx="340157" cy="340157"/>
          </a:xfrm>
          <a:prstGeom prst="ellipse">
            <a:avLst/>
          </a:prstGeom>
          <a:solidFill>
            <a:srgbClr val="3D5A80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7" name="S15-dot367"/>
          <p:cNvSpPr/>
          <p:nvPr/>
        </p:nvSpPr>
        <p:spPr>
          <a:xfrm>
            <a:off x="5924398" y="2644623"/>
            <a:ext cx="340157" cy="340157"/>
          </a:xfrm>
          <a:prstGeom prst="ellipse">
            <a:avLst/>
          </a:prstGeom>
          <a:solidFill>
            <a:srgbClr val="3D5A80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8" name="S15-dot368"/>
          <p:cNvSpPr/>
          <p:nvPr/>
        </p:nvSpPr>
        <p:spPr>
          <a:xfrm>
            <a:off x="6473038" y="2644623"/>
            <a:ext cx="340157" cy="340157"/>
          </a:xfrm>
          <a:prstGeom prst="ellipse">
            <a:avLst/>
          </a:prstGeom>
          <a:solidFill>
            <a:srgbClr val="3D5A80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9" name="S15-dot369"/>
          <p:cNvSpPr/>
          <p:nvPr/>
        </p:nvSpPr>
        <p:spPr>
          <a:xfrm>
            <a:off x="5375758" y="3193263"/>
            <a:ext cx="340157" cy="340157"/>
          </a:xfrm>
          <a:prstGeom prst="ellipse">
            <a:avLst/>
          </a:prstGeom>
          <a:solidFill>
            <a:srgbClr val="3D5A80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0" name="S15-dot370"/>
          <p:cNvSpPr/>
          <p:nvPr/>
        </p:nvSpPr>
        <p:spPr>
          <a:xfrm>
            <a:off x="5924398" y="3193263"/>
            <a:ext cx="340157" cy="340157"/>
          </a:xfrm>
          <a:prstGeom prst="ellipse">
            <a:avLst/>
          </a:prstGeom>
          <a:solidFill>
            <a:srgbClr val="3D5A80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1" name="S15-dot371"/>
          <p:cNvSpPr/>
          <p:nvPr/>
        </p:nvSpPr>
        <p:spPr>
          <a:xfrm>
            <a:off x="6473038" y="3193263"/>
            <a:ext cx="340157" cy="340157"/>
          </a:xfrm>
          <a:prstGeom prst="ellipse">
            <a:avLst/>
          </a:prstGeom>
          <a:solidFill>
            <a:srgbClr val="3D5A80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2" name="S15-group372"/>
          <p:cNvSpPr/>
          <p:nvPr/>
        </p:nvSpPr>
        <p:spPr>
          <a:xfrm>
            <a:off x="5298948" y="2576957"/>
            <a:ext cx="1591056" cy="475488"/>
          </a:xfrm>
          <a:prstGeom prst="roundRect">
            <a:avLst>
              <a:gd name="adj" fmla="val 23077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23" name="S15-group373"/>
          <p:cNvSpPr/>
          <p:nvPr/>
        </p:nvSpPr>
        <p:spPr>
          <a:xfrm>
            <a:off x="5298948" y="3125597"/>
            <a:ext cx="1591056" cy="475488"/>
          </a:xfrm>
          <a:prstGeom prst="roundRect">
            <a:avLst>
              <a:gd name="adj" fmla="val 23077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24" name="S15-figure374" descr="파란 점 3개씩 2묶음, 6개"/>
          <p:cNvSpPr/>
          <p:nvPr/>
        </p:nvSpPr>
        <p:spPr>
          <a:xfrm>
            <a:off x="5271516" y="2540381"/>
            <a:ext cx="1645920" cy="109728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S15-label375"/>
          <p:cNvSpPr txBox="1"/>
          <p:nvPr/>
        </p:nvSpPr>
        <p:spPr>
          <a:xfrm>
            <a:off x="4352544" y="4239514"/>
            <a:ext cx="3483864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 × 2</a:t>
            </a:r>
            <a:endParaRPr lang="ko-KR" sz="2600" dirty="0"/>
          </a:p>
        </p:txBody>
      </p:sp>
      <p:sp>
        <p:nvSpPr>
          <p:cNvPr id="26" name="S15-dot376"/>
          <p:cNvSpPr/>
          <p:nvPr/>
        </p:nvSpPr>
        <p:spPr>
          <a:xfrm>
            <a:off x="8356702" y="2644623"/>
            <a:ext cx="340157" cy="340157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7" name="S15-dot377"/>
          <p:cNvSpPr/>
          <p:nvPr/>
        </p:nvSpPr>
        <p:spPr>
          <a:xfrm>
            <a:off x="8905342" y="2644623"/>
            <a:ext cx="340157" cy="340157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8" name="S15-dot378"/>
          <p:cNvSpPr/>
          <p:nvPr/>
        </p:nvSpPr>
        <p:spPr>
          <a:xfrm>
            <a:off x="9453982" y="2644623"/>
            <a:ext cx="340157" cy="340157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9" name="S15-dot379"/>
          <p:cNvSpPr/>
          <p:nvPr/>
        </p:nvSpPr>
        <p:spPr>
          <a:xfrm>
            <a:off x="10002622" y="2644623"/>
            <a:ext cx="340157" cy="340157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0" name="S15-dot380"/>
          <p:cNvSpPr/>
          <p:nvPr/>
        </p:nvSpPr>
        <p:spPr>
          <a:xfrm>
            <a:off x="10551262" y="2644623"/>
            <a:ext cx="340157" cy="340157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1" name="S15-dot381"/>
          <p:cNvSpPr/>
          <p:nvPr/>
        </p:nvSpPr>
        <p:spPr>
          <a:xfrm>
            <a:off x="11099902" y="2644623"/>
            <a:ext cx="340157" cy="340157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2" name="S15-dot382"/>
          <p:cNvSpPr/>
          <p:nvPr/>
        </p:nvSpPr>
        <p:spPr>
          <a:xfrm>
            <a:off x="8356702" y="3193263"/>
            <a:ext cx="340157" cy="340157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3" name="S15-dot383"/>
          <p:cNvSpPr/>
          <p:nvPr/>
        </p:nvSpPr>
        <p:spPr>
          <a:xfrm>
            <a:off x="8905342" y="3193263"/>
            <a:ext cx="340157" cy="340157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4" name="S15-dot384"/>
          <p:cNvSpPr/>
          <p:nvPr/>
        </p:nvSpPr>
        <p:spPr>
          <a:xfrm>
            <a:off x="9453982" y="3193263"/>
            <a:ext cx="340157" cy="340157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5" name="S15-dot385"/>
          <p:cNvSpPr/>
          <p:nvPr/>
        </p:nvSpPr>
        <p:spPr>
          <a:xfrm>
            <a:off x="10002622" y="3193263"/>
            <a:ext cx="340157" cy="340157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6" name="S15-dot386"/>
          <p:cNvSpPr/>
          <p:nvPr/>
        </p:nvSpPr>
        <p:spPr>
          <a:xfrm>
            <a:off x="10551262" y="3193263"/>
            <a:ext cx="340157" cy="340157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7" name="S15-dot387"/>
          <p:cNvSpPr/>
          <p:nvPr/>
        </p:nvSpPr>
        <p:spPr>
          <a:xfrm>
            <a:off x="11099902" y="3193263"/>
            <a:ext cx="340157" cy="340157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8" name="S15-group388"/>
          <p:cNvSpPr/>
          <p:nvPr/>
        </p:nvSpPr>
        <p:spPr>
          <a:xfrm>
            <a:off x="8279892" y="2576957"/>
            <a:ext cx="3236976" cy="475488"/>
          </a:xfrm>
          <a:prstGeom prst="roundRect">
            <a:avLst>
              <a:gd name="adj" fmla="val 23077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39" name="S15-group389"/>
          <p:cNvSpPr/>
          <p:nvPr/>
        </p:nvSpPr>
        <p:spPr>
          <a:xfrm>
            <a:off x="8279892" y="3125597"/>
            <a:ext cx="3236976" cy="475488"/>
          </a:xfrm>
          <a:prstGeom prst="roundRect">
            <a:avLst>
              <a:gd name="adj" fmla="val 23077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40" name="S15-figure390" descr="점 6개씩 2묶음, 12개"/>
          <p:cNvSpPr/>
          <p:nvPr/>
        </p:nvSpPr>
        <p:spPr>
          <a:xfrm>
            <a:off x="8252460" y="2540381"/>
            <a:ext cx="3291840" cy="109728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1" name="S15-label391"/>
          <p:cNvSpPr txBox="1"/>
          <p:nvPr/>
        </p:nvSpPr>
        <p:spPr>
          <a:xfrm>
            <a:off x="8156448" y="4239514"/>
            <a:ext cx="3483864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 × 2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초2 수학 4단과 8단</dc:title>
  <dc:subject>KR22-G02-MAT-TIMES48-L01</dc:subject>
  <dc:creator>education-ppt</dc:creator>
  <cp:lastModifiedBy>education-ppt</cp:lastModifiedBy>
  <cp:revision>1</cp:revision>
  <dcterms:created xsi:type="dcterms:W3CDTF">2026-10-26T06:51:42Z</dcterms:created>
  <dcterms:modified xsi:type="dcterms:W3CDTF">2026-10-26T06:51:42Z</dcterms:modified>
</cp:coreProperties>
</file>