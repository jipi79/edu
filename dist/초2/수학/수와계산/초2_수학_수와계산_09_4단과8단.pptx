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e7c3f37c-a393-127e-d6d0-7ffe3195cb82}">
          <p14:sldIdLst>
            <p14:sldId id="256"/>
            <p14:sldId id="257"/>
          </p14:sldIdLst>
        </p14:section>
        <p14:section name="개념" id="{6f52f7f6-ced5-6e0d-b64e-44dd6f1cf2ad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연습" id="{ca01e58e-b054-e111-5e01-8059c2f3b439}">
          <p14:sldIdLst>
            <p14:sldId id="264"/>
            <p14:sldId id="265"/>
          </p14:sldIdLst>
        </p14:section>
        <p14:section name="확인" id="{5b3cd064-82d5-7a59-df23-d36f2576ed6c}">
          <p14:sldIdLst>
            <p14:sldId id="266"/>
            <p14:sldId id="267"/>
            <p14:sldId id="268"/>
          </p14:sldIdLst>
        </p14:section>
        <p14:section name="정리" id="{659d59fd-7c47-8f37-c048-f2926a8c1ead}">
          <p14:sldIdLst>
            <p14:sldId id="269"/>
          </p14:sldIdLst>
        </p14:section>
        <p14:section name="보충" id="{8a00a6bb-2d76-bee5-1ca3-1488c5e92b80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지난 시간의 ‘6단은 3단의 2배’처럼 4단과 8단에도 관계가 있는지 궁금하게 합니다.
시간: 약 2분
이렇게 말해 보세요
- “지난 시간에 3단을 두 번 더해서 6단을 만들었지? 오늘은 4단과 8단이야. 둘 사이에도 그런 관계가 있을까?”
- “오른쪽 두 덩어리를 옆으로 붙이면 한 줄에 몇 개가 될까?”
예상 답
- “8개요.”
막히면
- 답을 확인하지 말고 넘어갑니다. S06에서 자세히 봅니다.
주의
- 오늘의 핵심은 ‘8씩 묶음 하나 = 4씩 묶음 둘’입니다. 외우기는 4단·8단을 만든 다음에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확인(3단·6단과 그 관계)]
목적: 지난 시간의 3단·6단과 ‘6단의 곱은 3단 곱의 2배’라는 관계를 기억하는지 확인합니다.
시간: 약 3분
이렇게 말해 보세요
- “①, ②의 곱은 얼마야? 어떻게 구했어?”
- “③ 3 × 4가 12라는 걸 써서 6 × 4를 구해 볼래?”
정답
- ① 18
- ② 42
- ③ 24 (12 + 12 = 24)
막히면
- ①은 3씩, ②는 6씩 손가락을 펴며 뛰어 세게 합니다.
- 두 문제 이상 틀리면 S15(보충)를 먼저 합니다. 보충으로도 어려우면 8차시 ‘3단과 6단’(KR22-G02-MAT-TIMES36-L01)을 다시 합니다.
주의
- ③을 12 + 3 = 15라고 하면 지난 시간의 실수가 남아 있는 것입니다. 오늘 S06에서 다시 다룹니다.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4씩 묶어 세어 4단 만들기]
목적: 4단 곱셈구구를 4씩 묶어 세기로 만들고, 곱이 4씩 커진다는 것을 봅니다.
시간: 약 3분
이렇게 말해 보세요
- “강아지 한 마리의 다리는 4개야. 4 × 1이지. 강아지 두 마리면 4 × 2, 다리가 몇 개야?”
- “강아지가 한 마리 늘 때마다 다리는 몇 개씩 늘어나?”
예상 답
- “4개, 8개, 12개, 16개요.”
- “4개씩 늘어나요.”
막히면
- 접시에 바둑돌을 4개씩 놓으며 접시를 하나씩 늘리고, 그때마다 모두 몇 개인지 셉니다.
- “넷, 여덟, 열둘, 열여섯” 하고 4씩 뛰어 세며 묶음을 하나씩 짚습니다.
주의
- 4 × 3은 ‘4씩 3묶음’, ‘4의 3배’입니다. 곱셈구구의 앞의 수 4는 그대로이고 묶음 수만 1씩 커집니다.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수직선에서 4씩 뛰어 세기]
목적: 수직선에서 4칸씩 뛰어 세어 곱을 구하고, 앞의 곱에 4를 더하면 다음 곱이 된다는 것을 압니다.
시간: 약 2분
이렇게 말해 보세요
- “작은 눈금 한 칸이 1이야. 0에서 4칸씩 6번 뛰어 보자. 뛸 때마다 손가락을 하나씩 펴.”
- “4 × 5는 20이야. 4 × 6은 20보다 얼마 커?”
예상 답
- “4, 8, 12, 16, 20, 24. 24예요.”
- “4 커요.”
막히면
- 긴 눈금 아래의 수(4, 8, 12…)를 차례로 짚으며 소리 내어 읽고, 짚을 때마다 손가락을 폅니다.
- 20이나 28이라고 하면 펴진 손가락 수를 다시 셉니다.
주의
- 0은 출발점이라 세지 않습니다. 첫 번째로 닿는 곳이 4입니다.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4단 곱셈구구 완성하고 읽기]
목적: 4단 곱셈구구를 끝까지 만들어 보고, 다 만든 뒤에 소리 내어 읽으며 익힙니다.
시간: 약 3분
이렇게 말해 보세요
- “빈칸에 들어갈 곱은 뭘까? 앞의 곱에서 4만큼 뛰면 돼.”
- “다 채웠으면 같이 읽어 보자. ‘4 곱하기 1은 4, 4 곱하기 2는 8…’”
정답
- 4 × 5 = 20, 4 × 7 = 28, 4 × 9 = 36
막히면
- S04 수직선에서 16에서 4칸 더 뛰어 20, 24에서 4칸 더 뛰어 28을 찾습니다.
- 바둑돌을 4개씩 접시에 더 놓아 세어 봅니다.
주의
- 익숙해지면 ‘사일은 사, 사이 팔…’처럼 짧게 읽어도 됩니다. 묶음의 뜻을 안 다음에 합니다.
- 아이가 관심을 보이면 “4단의 곱은 2단 곱의 2배야(2 × 3 = 6, 4 × 3 = 12)”라고 덧붙일 수 있습니다. 꼭 다루지 않아도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8씩 묶음 = 4씩 묶음 두 개(점 배열)]
목적: 점 배열로 ‘8씩 3묶음’이 ‘4씩 3묶음’ 두 개와 같다는 것을 보고, 8단의 곱이 4단 곱의 2배임을 압니다.
시간: 약 4분
이렇게 말해 보세요
- “주황 점은 4씩 몇 묶음이야? 파란 점도 4씩 3묶음이지? 두 덩어리를 옆으로 붙이면 한 줄에 몇 개가 돼?”
- “그러면 8씩 3묶음이야. 4 × 3이 두 개니까 12와 12를 더하면 몇이야?”
예상 답
- “한 줄에 8개요. 8 × 3이에요.”
- “24요.”
막히면
- 두 색 바둑돌로 주황 4개, 파랑 4개를 한 줄로 붙여 8개씩 3줄을 만들고, 줄마다 ‘4 하고 4, 8’이라고 말합니다.
- 주황만 세어 12, 파랑만 세어 12, 모두 세어 24를 차례로 확인합니다.
주의
- 지난 시간 ‘6단은 3단의 2배’와 같은 생각입니다. 아이가 먼저 말하면 크게 칭찬합니다.
- 8은 4의 2배이므로 묶음 수가 같으면 곱도 2배입니다.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수직선에서 8씩 뛰어 세기]
목적: 8씩 뛰어 세어 8단의 곱을 구하고, 앞의 곱에 8을 더하면 다음 곱이 된다는 것을 압니다.
시간: 약 2분
이렇게 말해 보세요
- “이 수직선은 눈금 한 칸이 8이야. 0에서 8씩 4번 뛰어 보자.”
- “8 × 3은 24였지? 8 × 4는 24보다 얼마 커?”
예상 답
- “8, 16, 24, 32. 32예요.”
- “8 커요.”
막히면
- 눈금 아래 수를 손가락으로 짚으며 뛴 횟수를 셉니다.
주의
- 눈금 아래 수 8, 16, 24…가 8단의 곱입니다. 4단의 곱 4, 8, 12, 16…에서 하나 걸러 하나씩 나오는 수이기도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4단으로 8단 완성하기]
목적: 4단의 곱을 2배 하여 8단 곱셈구구를 완성하고, 다 만든 뒤 소리 내어 읽습니다.
시간: 약 4분
이렇게 말해 보세요
- “윗줄은 4단, 아랫줄은 8단이야. 8 × 5는 4 × 5가 두 개야. 20과 20을 더하면?”
- “다른 빈칸도 위의 4단 곱을 두 번 더해서 채워 보자. 앞의 8단 곱에 8을 더해서 확인해도 돼.”
정답
- 8 × 5 = 40, 8 × 7 = 56, 8 × 8 = 64, 8 × 9 = 72
- 4단으로 구하기: 20 + 20 = 40, 28 + 28 = 56, 32 + 32 = 64, 36 + 36 = 72
막히면
- 28 + 28처럼 큰 덧셈은 20 + 20 = 40, 8 + 8 = 16으로 나누어 더하게 합니다.
- 8을 더할 때는 ‘10을 더하고 2를 빼기’(48 + 10 − 2 = 56)를 보여 줄 수 있습니다(M3).
주의
- 다 채우면 ‘8 곱하기 1은 8…’로 함께 읽습니다.
- 지치면 여기서 쉬고, 다음에 S09부터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안내받는 연습(곱 구하기와 상황 문제)]
목적: 도움을 받으며 4단·8단의 곱을 구하고, 생활 상황을 곱셈식으로 나타냅니다.
시간: 약 3분
이렇게 말해 보세요
- “강아지 한 마리의 다리는 몇 개야? 7마리면 몇씩 몇 묶음이야? 곱셈식으로 말해 줘.”
- “문어는 다리가 8개야. 문어 6마리면 어떤 곱셈식일까?”
정답
- ① 4 × 7 = 28, 다리 28개
- ② 36
- ③ 40
- ④ 8 × 6 = 48, 다리 48개
막히면
- ④는 4 × 6 = 24를 두 번 더해(24 + 24) 구할 수 있다고 알려 줍니다.
- 곱을 잊었으면 아는 곱에서 출발해 4나 8씩 더 뛰게 합니다.
주의
- ①을 7 × 4라고 써도 곱은 같습니다. ‘4씩 7묶음’이므로 4 × 7로 쓰는 것을 권합니다.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오개념 비교(8단을 4단 곱 + 4로 계산)]
목적: 8단의 곱을 4단 곱에 4만 더해 구하는 실수를 점 배열로 바로잡습니다(M1).
시간: 약 3분
이렇게 말해 보세요
- “토끼와 곰이 8 × 2를 구했는데 답이 달라. 누가 맞았을까?”
- “곰의 점 배열에서 한 줄을 반으로 나누어 볼까? 반쪽에는 몇 개씩 있어? 4개가 더 있는 줄은 몇 줄이야?”
예상 답
- “곰이요. 두 줄 모두 4개씩 더 있으니까 8을 한 번 더 더해야 해요.”
정답
- 곰이 맞습니다. 8 × 2 = 16입니다.
- 8은 4보다 4 크지만, 묶음 2개마다 4개씩 더 있으므로 4 × 2 = 8만큼 더 큽니다. 그래서 8 + 4가 아니라 8 + 8입니다.
막히면
- 두 색 바둑돌로 8개씩 2줄(주황 4, 파랑 4)을 만들고, 파란 돌만 세어 8개임을 확인합니다.
주의
- 지난 시간과 같은 실수입니다. 반복되면 “더 있는 묶음이 몇 개야?”를 약속 질문으로 정합니다.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혼자 해결]
목적: 도움 없이 4단·8단의 곱을 구하고, 4단 곱으로 8단 곱을 구할 수 있는지 확인합니다.
시간: 약 5분
이렇게 말해 보세요
- “이번에는 혼자 해 볼래? 바둑돌을 써도 돼. 거미는 다리가 8개야. ④는 곱셈식을 종이에 쓰고 답을 말해 줘.”
- “③은 어떻게 구했는지 꼭 설명해 줘.”
정답
- ① 32
- ② 72
- ③ 56 (28 + 28 = 56, 4 × 7의 2배)
- ④ 8 × 8 = 64, 다리 64개
막히면
- 바로 알려 주지 말고 “몇씩 몇 묶음이야?” 또는 “4단에서 무엇을 두 번 더하면 될까?”라고만 묻습니다.
- 도움을 받아 해결했다면 기록표에 ‘도움’으로 표시합니다.
주의
- ③을 8 × 6 = 48에 8을 더해 56으로 구해도 맞습니다. ‘4단의 2배’로도 설명할 수 있는지 물어봅니다.
- ②는 8 × 8 = 64에 8을 더하거나 36 + 36으로 구할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정답과 피드백]
목적: 아이의 답을 함께 확인하고 흔한 실수를 바로잡습니다. 수업용에만 있는 장입니다.
시간: 약 2분
이렇게 말해 보세요
- “네 답과 같은지 볼까? 다르면 다른 방법으로 한 번 더 구해 보자.”
정답
- ① 32 ② 72 ③ 56 ④ 8 × 8 = 64, 64개
막히면
- ③이 32이면 S10의 토끼와 곰을 다시 봅니다(M1).
- ③이 54처럼 덧셈에서 틀렸으면 20 + 20, 8 + 8로 나누어 다시 더합니다(M3).
- 두 수를 더했으면(8 + 5 = 13처럼) “8 × 5는 8씩 몇 묶음?”을 다시 묻습니다(M2).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마무리 확인(4단 곱으로 8단 곱 구하는 식 고르기)]
목적: 처음 보는 물음에서 8단 곱이 4단 곱의 2배라는 관계를 쓸 수 있는지 확인합니다.
시간: 약 2분
이렇게 말해 보세요
- “4 × 6은 24야. 이걸 써서 8 × 6을 구하려면 어떤 식이 맞을까? 왜 그렇게 생각해?”
정답
- 다(24 + 24 = 48). 8씩 6묶음은 4씩 6묶음이 두 개이므로 24를 두 번 더합니다. 8 × 6 = 48입니다.
- 가(24 + 4 = 28)와 나(24 + 8 = 32)는 8 × 6이 아닙니다.
막히면
- S06의 점 배열을 다시 보여 주고, 묶음 수를 6으로 바꾸어 바둑돌을 놓아 봅니다.
주의
- 지난 시간과 정답 위치가 다릅니다. 위치가 아니라 까닭으로 고르는지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정리와 다음 수업 복습]
목적: 핵심을 정리하고 다음 수업 첫 5분에 풀 복습 문제를 알려 줍니다.
시간: 약 2분
이렇게 말해 보세요
- “4단은 곱이 몇씩 커져? 8단은?”
- “4단을 알면 8단을 어떻게 구할 수 있지? 지난 시간의 3단과 6단도 그랬지?”
예상 답
- “4씩, 8씩 커져요.”
- “4단의 곱을 두 번 더하면 돼요.”
정답
- ① 20 ② 56 ③ 32
막히면
- S06의 점 배열을 다시 보여 주며 ‘4씩 두 개면 8씩’을 함께 말합니다.
주의
- 복습 세 문제는 다음 수업을 시작할 때 활동지 마지막 쪽과 함께 풉니다.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선수 학습 보충(3단과 6단의 관계)]
목적: S02에서 3단·6단이나 그 관계가 흔들리면, 작은 수로 ‘6씩 묶음 = 3씩 묶음 둘’을 바둑돌로 다시 확인합니다.
시간: 약 5분
이렇게 말해 보세요
- “주황 3개씩 2줄, 파랑 3개씩 2줄이 있어. 각각 몇 개야? 옆으로 붙이면 한 줄에 몇 개야?”
- “3 × 2가 6이니까, 6 × 2는 6과 6을 더한 12야. 이번에는 3 × 3으로 해 볼까?”
정답
- 3 × 2 = 6, 6 × 2 = 12 (6 + 6)
- 3 × 3 = 9이면 6 × 3 = 18 (9 + 9)
막히면
- 두 색 바둑돌을 실제로 붙였다 떼었다 하며 ‘3과 3이 6’을 줄마다 말합니다.
- 곱 자체가 어려우면 3씩, 6씩 손가락으로 뛰어 세기부터 합니다.
주의
- 보충으로도 어려우면 8차시 ‘3단과 6단’(KR22-G02-MAT-TIMES36-L01)을 먼저 다시 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수와계산 · 9차시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4단과 8단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4단과 8단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수학 · 4단과 8단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4단과 8단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4단으로 8단을 구할 수 있을까?</a:t>
            </a:r>
            <a:endParaRPr lang="ko-KR" sz="3200" dirty="0"/>
          </a:p>
        </p:txBody>
      </p:sp>
      <p:sp>
        <p:nvSpPr>
          <p:cNvPr id="4" name="S01-dot1"/>
          <p:cNvSpPr/>
          <p:nvPr/>
        </p:nvSpPr>
        <p:spPr>
          <a:xfrm>
            <a:off x="7839151" y="1564081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" name="S01-dot2"/>
          <p:cNvSpPr/>
          <p:nvPr/>
        </p:nvSpPr>
        <p:spPr>
          <a:xfrm>
            <a:off x="8250631" y="1564081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1-dot3"/>
          <p:cNvSpPr/>
          <p:nvPr/>
        </p:nvSpPr>
        <p:spPr>
          <a:xfrm>
            <a:off x="8662111" y="1564081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1-dot4"/>
          <p:cNvSpPr/>
          <p:nvPr/>
        </p:nvSpPr>
        <p:spPr>
          <a:xfrm>
            <a:off x="9073591" y="1564081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1-dot5"/>
          <p:cNvSpPr/>
          <p:nvPr/>
        </p:nvSpPr>
        <p:spPr>
          <a:xfrm>
            <a:off x="7839151" y="1975561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1-dot6"/>
          <p:cNvSpPr/>
          <p:nvPr/>
        </p:nvSpPr>
        <p:spPr>
          <a:xfrm>
            <a:off x="8250631" y="1975561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1-dot7"/>
          <p:cNvSpPr/>
          <p:nvPr/>
        </p:nvSpPr>
        <p:spPr>
          <a:xfrm>
            <a:off x="8662111" y="1975561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1-dot8"/>
          <p:cNvSpPr/>
          <p:nvPr/>
        </p:nvSpPr>
        <p:spPr>
          <a:xfrm>
            <a:off x="9073591" y="1975561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1-dot9"/>
          <p:cNvSpPr/>
          <p:nvPr/>
        </p:nvSpPr>
        <p:spPr>
          <a:xfrm>
            <a:off x="7839151" y="2387041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1-dot10"/>
          <p:cNvSpPr/>
          <p:nvPr/>
        </p:nvSpPr>
        <p:spPr>
          <a:xfrm>
            <a:off x="8250631" y="2387041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1-dot11"/>
          <p:cNvSpPr/>
          <p:nvPr/>
        </p:nvSpPr>
        <p:spPr>
          <a:xfrm>
            <a:off x="8662111" y="2387041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1-dot12"/>
          <p:cNvSpPr/>
          <p:nvPr/>
        </p:nvSpPr>
        <p:spPr>
          <a:xfrm>
            <a:off x="9073591" y="2387041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1-group13"/>
          <p:cNvSpPr/>
          <p:nvPr/>
        </p:nvSpPr>
        <p:spPr>
          <a:xfrm>
            <a:off x="7788402" y="1522476"/>
            <a:ext cx="159105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7" name="S01-group14"/>
          <p:cNvSpPr/>
          <p:nvPr/>
        </p:nvSpPr>
        <p:spPr>
          <a:xfrm>
            <a:off x="7788402" y="1933956"/>
            <a:ext cx="159105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8" name="S01-group15"/>
          <p:cNvSpPr/>
          <p:nvPr/>
        </p:nvSpPr>
        <p:spPr>
          <a:xfrm>
            <a:off x="7788402" y="2345436"/>
            <a:ext cx="159105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9" name="S01-figure16" descr="4개씩 묶은 점 3줄"/>
          <p:cNvSpPr/>
          <p:nvPr/>
        </p:nvSpPr>
        <p:spPr>
          <a:xfrm>
            <a:off x="7760970" y="1485900"/>
            <a:ext cx="1645920" cy="12344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01-dot17"/>
          <p:cNvSpPr/>
          <p:nvPr/>
        </p:nvSpPr>
        <p:spPr>
          <a:xfrm>
            <a:off x="9965131" y="1564081"/>
            <a:ext cx="255118" cy="255118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1-dot18"/>
          <p:cNvSpPr/>
          <p:nvPr/>
        </p:nvSpPr>
        <p:spPr>
          <a:xfrm>
            <a:off x="10376611" y="1564081"/>
            <a:ext cx="255118" cy="255118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1-dot19"/>
          <p:cNvSpPr/>
          <p:nvPr/>
        </p:nvSpPr>
        <p:spPr>
          <a:xfrm>
            <a:off x="10788091" y="1564081"/>
            <a:ext cx="255118" cy="255118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1-dot20"/>
          <p:cNvSpPr/>
          <p:nvPr/>
        </p:nvSpPr>
        <p:spPr>
          <a:xfrm>
            <a:off x="11199571" y="1564081"/>
            <a:ext cx="255118" cy="255118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1-dot21"/>
          <p:cNvSpPr/>
          <p:nvPr/>
        </p:nvSpPr>
        <p:spPr>
          <a:xfrm>
            <a:off x="9965131" y="1975561"/>
            <a:ext cx="255118" cy="255118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1-dot22"/>
          <p:cNvSpPr/>
          <p:nvPr/>
        </p:nvSpPr>
        <p:spPr>
          <a:xfrm>
            <a:off x="10376611" y="1975561"/>
            <a:ext cx="255118" cy="255118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1-dot23"/>
          <p:cNvSpPr/>
          <p:nvPr/>
        </p:nvSpPr>
        <p:spPr>
          <a:xfrm>
            <a:off x="10788091" y="1975561"/>
            <a:ext cx="255118" cy="255118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1-dot24"/>
          <p:cNvSpPr/>
          <p:nvPr/>
        </p:nvSpPr>
        <p:spPr>
          <a:xfrm>
            <a:off x="11199571" y="1975561"/>
            <a:ext cx="255118" cy="255118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1-dot25"/>
          <p:cNvSpPr/>
          <p:nvPr/>
        </p:nvSpPr>
        <p:spPr>
          <a:xfrm>
            <a:off x="9965131" y="2387041"/>
            <a:ext cx="255118" cy="255118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1-dot26"/>
          <p:cNvSpPr/>
          <p:nvPr/>
        </p:nvSpPr>
        <p:spPr>
          <a:xfrm>
            <a:off x="10376611" y="2387041"/>
            <a:ext cx="255118" cy="255118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1-dot27"/>
          <p:cNvSpPr/>
          <p:nvPr/>
        </p:nvSpPr>
        <p:spPr>
          <a:xfrm>
            <a:off x="10788091" y="2387041"/>
            <a:ext cx="255118" cy="255118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01-dot28"/>
          <p:cNvSpPr/>
          <p:nvPr/>
        </p:nvSpPr>
        <p:spPr>
          <a:xfrm>
            <a:off x="11199571" y="2387041"/>
            <a:ext cx="255118" cy="255118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01-group29"/>
          <p:cNvSpPr/>
          <p:nvPr/>
        </p:nvSpPr>
        <p:spPr>
          <a:xfrm>
            <a:off x="9914382" y="1522476"/>
            <a:ext cx="159105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3" name="S01-group30"/>
          <p:cNvSpPr/>
          <p:nvPr/>
        </p:nvSpPr>
        <p:spPr>
          <a:xfrm>
            <a:off x="9914382" y="1933956"/>
            <a:ext cx="159105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4" name="S01-group31"/>
          <p:cNvSpPr/>
          <p:nvPr/>
        </p:nvSpPr>
        <p:spPr>
          <a:xfrm>
            <a:off x="9914382" y="2345436"/>
            <a:ext cx="159105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5" name="S01-figure32" descr="파란 점 4개씩 3줄"/>
          <p:cNvSpPr/>
          <p:nvPr/>
        </p:nvSpPr>
        <p:spPr>
          <a:xfrm>
            <a:off x="9886950" y="1485900"/>
            <a:ext cx="1645920" cy="12344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01-card33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37" name="S01-cardtext34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4씩 묶어 세어 4단 곱셈구구를 만들어요.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4단을 두 번 더해 8단을 만들어요.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400" dirty="0"/>
          </a:p>
        </p:txBody>
      </p:sp>
      <p:sp>
        <p:nvSpPr>
          <p:cNvPr id="3" name="S02-chip35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eqtext36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6 = □</a:t>
            </a:r>
            <a:endParaRPr lang="ko-KR" sz="3600" dirty="0"/>
          </a:p>
        </p:txBody>
      </p:sp>
      <p:sp>
        <p:nvSpPr>
          <p:cNvPr id="5" name="S02-chip37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02-eqtext38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× 7 = □</a:t>
            </a:r>
            <a:endParaRPr lang="ko-KR" sz="3600" dirty="0"/>
          </a:p>
        </p:txBody>
      </p:sp>
      <p:sp>
        <p:nvSpPr>
          <p:cNvPr id="7" name="S02-chip39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02-text40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4 = 12, 6 × 4는?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4씩 묶어 세요</a:t>
            </a:r>
            <a:endParaRPr lang="ko-KR" sz="4400" dirty="0"/>
          </a:p>
        </p:txBody>
      </p:sp>
      <p:sp>
        <p:nvSpPr>
          <p:cNvPr id="3" name="S03-text4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강아지 한 마리는 다리가 4개예요.</a:t>
            </a:r>
            <a:endParaRPr lang="ko-KR" sz="3200" dirty="0"/>
          </a:p>
        </p:txBody>
      </p:sp>
      <p:sp>
        <p:nvSpPr>
          <p:cNvPr id="4" name="S03-card42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43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4, 8, 12, 16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묶음이 하나 늘면 4개 늘어요.</a:t>
            </a:r>
            <a:endParaRPr lang="ko-KR" sz="3200" dirty="0"/>
          </a:p>
        </p:txBody>
      </p:sp>
      <p:sp>
        <p:nvSpPr>
          <p:cNvPr id="6" name="S03-dot44"/>
          <p:cNvSpPr/>
          <p:nvPr/>
        </p:nvSpPr>
        <p:spPr>
          <a:xfrm>
            <a:off x="904799" y="293311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3-dot45"/>
          <p:cNvSpPr/>
          <p:nvPr/>
        </p:nvSpPr>
        <p:spPr>
          <a:xfrm>
            <a:off x="1407719" y="293311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3-dot46"/>
          <p:cNvSpPr/>
          <p:nvPr/>
        </p:nvSpPr>
        <p:spPr>
          <a:xfrm>
            <a:off x="1910639" y="293311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3-dot47"/>
          <p:cNvSpPr/>
          <p:nvPr/>
        </p:nvSpPr>
        <p:spPr>
          <a:xfrm>
            <a:off x="2413559" y="293311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3-group48"/>
          <p:cNvSpPr/>
          <p:nvPr/>
        </p:nvSpPr>
        <p:spPr>
          <a:xfrm>
            <a:off x="836676" y="2874137"/>
            <a:ext cx="195681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1" name="S03-figure49" descr="4개씩 1묶음, 점 4개"/>
          <p:cNvSpPr/>
          <p:nvPr/>
        </p:nvSpPr>
        <p:spPr>
          <a:xfrm>
            <a:off x="809244" y="2837561"/>
            <a:ext cx="2011680" cy="50292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03-label50"/>
          <p:cNvSpPr txBox="1"/>
          <p:nvPr/>
        </p:nvSpPr>
        <p:spPr>
          <a:xfrm>
            <a:off x="548640" y="4239514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1</a:t>
            </a:r>
            <a:endParaRPr lang="ko-KR" sz="2600" dirty="0"/>
          </a:p>
        </p:txBody>
      </p:sp>
      <p:sp>
        <p:nvSpPr>
          <p:cNvPr id="13" name="S03-dot51"/>
          <p:cNvSpPr/>
          <p:nvPr/>
        </p:nvSpPr>
        <p:spPr>
          <a:xfrm>
            <a:off x="3757727" y="268165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3-dot52"/>
          <p:cNvSpPr/>
          <p:nvPr/>
        </p:nvSpPr>
        <p:spPr>
          <a:xfrm>
            <a:off x="4260647" y="268165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3-dot53"/>
          <p:cNvSpPr/>
          <p:nvPr/>
        </p:nvSpPr>
        <p:spPr>
          <a:xfrm>
            <a:off x="4763567" y="268165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3-dot54"/>
          <p:cNvSpPr/>
          <p:nvPr/>
        </p:nvSpPr>
        <p:spPr>
          <a:xfrm>
            <a:off x="5266487" y="268165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3-dot55"/>
          <p:cNvSpPr/>
          <p:nvPr/>
        </p:nvSpPr>
        <p:spPr>
          <a:xfrm>
            <a:off x="3757727" y="318457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3-dot56"/>
          <p:cNvSpPr/>
          <p:nvPr/>
        </p:nvSpPr>
        <p:spPr>
          <a:xfrm>
            <a:off x="4260647" y="318457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3-dot57"/>
          <p:cNvSpPr/>
          <p:nvPr/>
        </p:nvSpPr>
        <p:spPr>
          <a:xfrm>
            <a:off x="4763567" y="318457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3-dot58"/>
          <p:cNvSpPr/>
          <p:nvPr/>
        </p:nvSpPr>
        <p:spPr>
          <a:xfrm>
            <a:off x="5266487" y="318457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3-group59"/>
          <p:cNvSpPr/>
          <p:nvPr/>
        </p:nvSpPr>
        <p:spPr>
          <a:xfrm>
            <a:off x="3689604" y="2622677"/>
            <a:ext cx="195681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2" name="S03-group60"/>
          <p:cNvSpPr/>
          <p:nvPr/>
        </p:nvSpPr>
        <p:spPr>
          <a:xfrm>
            <a:off x="3689604" y="3125597"/>
            <a:ext cx="195681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3" name="S03-figure61" descr="4개씩 2묶음, 점 8개"/>
          <p:cNvSpPr/>
          <p:nvPr/>
        </p:nvSpPr>
        <p:spPr>
          <a:xfrm>
            <a:off x="3662172" y="2586101"/>
            <a:ext cx="2011680" cy="10058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03-label62"/>
          <p:cNvSpPr txBox="1"/>
          <p:nvPr/>
        </p:nvSpPr>
        <p:spPr>
          <a:xfrm>
            <a:off x="3401568" y="4239514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2</a:t>
            </a:r>
            <a:endParaRPr lang="ko-KR" sz="2600" dirty="0"/>
          </a:p>
        </p:txBody>
      </p:sp>
      <p:sp>
        <p:nvSpPr>
          <p:cNvPr id="25" name="S03-dot63"/>
          <p:cNvSpPr/>
          <p:nvPr/>
        </p:nvSpPr>
        <p:spPr>
          <a:xfrm>
            <a:off x="6610655" y="243019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3-dot64"/>
          <p:cNvSpPr/>
          <p:nvPr/>
        </p:nvSpPr>
        <p:spPr>
          <a:xfrm>
            <a:off x="7113575" y="243019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3-dot65"/>
          <p:cNvSpPr/>
          <p:nvPr/>
        </p:nvSpPr>
        <p:spPr>
          <a:xfrm>
            <a:off x="7616495" y="243019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3-dot66"/>
          <p:cNvSpPr/>
          <p:nvPr/>
        </p:nvSpPr>
        <p:spPr>
          <a:xfrm>
            <a:off x="8119415" y="243019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3-dot67"/>
          <p:cNvSpPr/>
          <p:nvPr/>
        </p:nvSpPr>
        <p:spPr>
          <a:xfrm>
            <a:off x="6610655" y="293311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3-dot68"/>
          <p:cNvSpPr/>
          <p:nvPr/>
        </p:nvSpPr>
        <p:spPr>
          <a:xfrm>
            <a:off x="7113575" y="293311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03-dot69"/>
          <p:cNvSpPr/>
          <p:nvPr/>
        </p:nvSpPr>
        <p:spPr>
          <a:xfrm>
            <a:off x="7616495" y="293311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03-dot70"/>
          <p:cNvSpPr/>
          <p:nvPr/>
        </p:nvSpPr>
        <p:spPr>
          <a:xfrm>
            <a:off x="8119415" y="293311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03-dot71"/>
          <p:cNvSpPr/>
          <p:nvPr/>
        </p:nvSpPr>
        <p:spPr>
          <a:xfrm>
            <a:off x="6610655" y="343603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03-dot72"/>
          <p:cNvSpPr/>
          <p:nvPr/>
        </p:nvSpPr>
        <p:spPr>
          <a:xfrm>
            <a:off x="7113575" y="343603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5" name="S03-dot73"/>
          <p:cNvSpPr/>
          <p:nvPr/>
        </p:nvSpPr>
        <p:spPr>
          <a:xfrm>
            <a:off x="7616495" y="343603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03-dot74"/>
          <p:cNvSpPr/>
          <p:nvPr/>
        </p:nvSpPr>
        <p:spPr>
          <a:xfrm>
            <a:off x="8119415" y="343603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7" name="S03-group75"/>
          <p:cNvSpPr/>
          <p:nvPr/>
        </p:nvSpPr>
        <p:spPr>
          <a:xfrm>
            <a:off x="6542532" y="2371217"/>
            <a:ext cx="195681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8" name="S03-group76"/>
          <p:cNvSpPr/>
          <p:nvPr/>
        </p:nvSpPr>
        <p:spPr>
          <a:xfrm>
            <a:off x="6542532" y="2874137"/>
            <a:ext cx="195681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9" name="S03-group77"/>
          <p:cNvSpPr/>
          <p:nvPr/>
        </p:nvSpPr>
        <p:spPr>
          <a:xfrm>
            <a:off x="6542532" y="3377057"/>
            <a:ext cx="195681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0" name="S03-figure78" descr="4개씩 3묶음, 점 12개"/>
          <p:cNvSpPr/>
          <p:nvPr/>
        </p:nvSpPr>
        <p:spPr>
          <a:xfrm>
            <a:off x="6515100" y="2334641"/>
            <a:ext cx="2011680" cy="1508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S03-label79"/>
          <p:cNvSpPr txBox="1"/>
          <p:nvPr/>
        </p:nvSpPr>
        <p:spPr>
          <a:xfrm>
            <a:off x="6254496" y="4239514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3</a:t>
            </a:r>
            <a:endParaRPr lang="ko-KR" sz="2600" dirty="0"/>
          </a:p>
        </p:txBody>
      </p:sp>
      <p:sp>
        <p:nvSpPr>
          <p:cNvPr id="42" name="S03-dot80"/>
          <p:cNvSpPr/>
          <p:nvPr/>
        </p:nvSpPr>
        <p:spPr>
          <a:xfrm>
            <a:off x="9463583" y="217873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3" name="S03-dot81"/>
          <p:cNvSpPr/>
          <p:nvPr/>
        </p:nvSpPr>
        <p:spPr>
          <a:xfrm>
            <a:off x="9966503" y="217873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4" name="S03-dot82"/>
          <p:cNvSpPr/>
          <p:nvPr/>
        </p:nvSpPr>
        <p:spPr>
          <a:xfrm>
            <a:off x="10469423" y="217873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5" name="S03-dot83"/>
          <p:cNvSpPr/>
          <p:nvPr/>
        </p:nvSpPr>
        <p:spPr>
          <a:xfrm>
            <a:off x="10972343" y="217873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6" name="S03-dot84"/>
          <p:cNvSpPr/>
          <p:nvPr/>
        </p:nvSpPr>
        <p:spPr>
          <a:xfrm>
            <a:off x="9463583" y="268165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7" name="S03-dot85"/>
          <p:cNvSpPr/>
          <p:nvPr/>
        </p:nvSpPr>
        <p:spPr>
          <a:xfrm>
            <a:off x="9966503" y="268165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8" name="S03-dot86"/>
          <p:cNvSpPr/>
          <p:nvPr/>
        </p:nvSpPr>
        <p:spPr>
          <a:xfrm>
            <a:off x="10469423" y="268165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9" name="S03-dot87"/>
          <p:cNvSpPr/>
          <p:nvPr/>
        </p:nvSpPr>
        <p:spPr>
          <a:xfrm>
            <a:off x="10972343" y="268165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0" name="S03-dot88"/>
          <p:cNvSpPr/>
          <p:nvPr/>
        </p:nvSpPr>
        <p:spPr>
          <a:xfrm>
            <a:off x="9463583" y="318457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1" name="S03-dot89"/>
          <p:cNvSpPr/>
          <p:nvPr/>
        </p:nvSpPr>
        <p:spPr>
          <a:xfrm>
            <a:off x="9966503" y="318457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2" name="S03-dot90"/>
          <p:cNvSpPr/>
          <p:nvPr/>
        </p:nvSpPr>
        <p:spPr>
          <a:xfrm>
            <a:off x="10469423" y="318457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3" name="S03-dot91"/>
          <p:cNvSpPr/>
          <p:nvPr/>
        </p:nvSpPr>
        <p:spPr>
          <a:xfrm>
            <a:off x="10972343" y="318457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4" name="S03-dot92"/>
          <p:cNvSpPr/>
          <p:nvPr/>
        </p:nvSpPr>
        <p:spPr>
          <a:xfrm>
            <a:off x="9463583" y="368749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5" name="S03-dot93"/>
          <p:cNvSpPr/>
          <p:nvPr/>
        </p:nvSpPr>
        <p:spPr>
          <a:xfrm>
            <a:off x="9966503" y="368749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6" name="S03-dot94"/>
          <p:cNvSpPr/>
          <p:nvPr/>
        </p:nvSpPr>
        <p:spPr>
          <a:xfrm>
            <a:off x="10469423" y="368749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7" name="S03-dot95"/>
          <p:cNvSpPr/>
          <p:nvPr/>
        </p:nvSpPr>
        <p:spPr>
          <a:xfrm>
            <a:off x="10972343" y="368749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8" name="S03-group96"/>
          <p:cNvSpPr/>
          <p:nvPr/>
        </p:nvSpPr>
        <p:spPr>
          <a:xfrm>
            <a:off x="9395460" y="2119757"/>
            <a:ext cx="195681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59" name="S03-group97"/>
          <p:cNvSpPr/>
          <p:nvPr/>
        </p:nvSpPr>
        <p:spPr>
          <a:xfrm>
            <a:off x="9395460" y="2622677"/>
            <a:ext cx="195681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60" name="S03-group98"/>
          <p:cNvSpPr/>
          <p:nvPr/>
        </p:nvSpPr>
        <p:spPr>
          <a:xfrm>
            <a:off x="9395460" y="3125597"/>
            <a:ext cx="195681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61" name="S03-group99"/>
          <p:cNvSpPr/>
          <p:nvPr/>
        </p:nvSpPr>
        <p:spPr>
          <a:xfrm>
            <a:off x="9395460" y="3628517"/>
            <a:ext cx="195681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62" name="S03-figure100" descr="4개씩 4묶음, 점 16개"/>
          <p:cNvSpPr/>
          <p:nvPr/>
        </p:nvSpPr>
        <p:spPr>
          <a:xfrm>
            <a:off x="9368028" y="2083181"/>
            <a:ext cx="2011680" cy="20116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03-label101"/>
          <p:cNvSpPr txBox="1"/>
          <p:nvPr/>
        </p:nvSpPr>
        <p:spPr>
          <a:xfrm>
            <a:off x="9107424" y="4239514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4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4씩 뛰어 세요</a:t>
            </a:r>
            <a:endParaRPr lang="ko-KR" sz="4400" dirty="0"/>
          </a:p>
        </p:txBody>
      </p:sp>
      <p:sp>
        <p:nvSpPr>
          <p:cNvPr id="3" name="S04-text10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6은 0에서 4씩 6번 뛰어요.</a:t>
            </a:r>
            <a:endParaRPr lang="ko-KR" sz="3200" dirty="0"/>
          </a:p>
        </p:txBody>
      </p:sp>
      <p:sp>
        <p:nvSpPr>
          <p:cNvPr id="4" name="S04-card103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104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6 = 24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5 = 20보다 4 커요.</a:t>
            </a:r>
            <a:endParaRPr lang="ko-KR" sz="3200" dirty="0"/>
          </a:p>
        </p:txBody>
      </p:sp>
      <p:sp>
        <p:nvSpPr>
          <p:cNvPr id="6" name="S04-line105"/>
          <p:cNvSpPr/>
          <p:nvPr/>
        </p:nvSpPr>
        <p:spPr>
          <a:xfrm>
            <a:off x="685800" y="3669314"/>
            <a:ext cx="1081735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7" name="S04-line106"/>
          <p:cNvSpPr/>
          <p:nvPr/>
        </p:nvSpPr>
        <p:spPr>
          <a:xfrm>
            <a:off x="960120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04-label107"/>
          <p:cNvSpPr txBox="1"/>
          <p:nvPr/>
        </p:nvSpPr>
        <p:spPr>
          <a:xfrm>
            <a:off x="502920" y="3852194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1600" dirty="0"/>
          </a:p>
        </p:txBody>
      </p:sp>
      <p:sp>
        <p:nvSpPr>
          <p:cNvPr id="9" name="S04-line108"/>
          <p:cNvSpPr/>
          <p:nvPr/>
        </p:nvSpPr>
        <p:spPr>
          <a:xfrm>
            <a:off x="1245362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4-line109"/>
          <p:cNvSpPr/>
          <p:nvPr/>
        </p:nvSpPr>
        <p:spPr>
          <a:xfrm>
            <a:off x="1530604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" name="S04-line110"/>
          <p:cNvSpPr/>
          <p:nvPr/>
        </p:nvSpPr>
        <p:spPr>
          <a:xfrm>
            <a:off x="1815846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4-line111"/>
          <p:cNvSpPr/>
          <p:nvPr/>
        </p:nvSpPr>
        <p:spPr>
          <a:xfrm>
            <a:off x="2101088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3" name="S04-label112"/>
          <p:cNvSpPr txBox="1"/>
          <p:nvPr/>
        </p:nvSpPr>
        <p:spPr>
          <a:xfrm>
            <a:off x="1643888" y="3852194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600" dirty="0"/>
          </a:p>
        </p:txBody>
      </p:sp>
      <p:sp>
        <p:nvSpPr>
          <p:cNvPr id="14" name="S04-line113"/>
          <p:cNvSpPr/>
          <p:nvPr/>
        </p:nvSpPr>
        <p:spPr>
          <a:xfrm>
            <a:off x="2386330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5" name="S04-line114"/>
          <p:cNvSpPr/>
          <p:nvPr/>
        </p:nvSpPr>
        <p:spPr>
          <a:xfrm>
            <a:off x="2671572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4-line115"/>
          <p:cNvSpPr/>
          <p:nvPr/>
        </p:nvSpPr>
        <p:spPr>
          <a:xfrm>
            <a:off x="2956814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7" name="S04-line116"/>
          <p:cNvSpPr/>
          <p:nvPr/>
        </p:nvSpPr>
        <p:spPr>
          <a:xfrm>
            <a:off x="3242056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4-label117"/>
          <p:cNvSpPr txBox="1"/>
          <p:nvPr/>
        </p:nvSpPr>
        <p:spPr>
          <a:xfrm>
            <a:off x="2784856" y="3852194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600" dirty="0"/>
          </a:p>
        </p:txBody>
      </p:sp>
      <p:sp>
        <p:nvSpPr>
          <p:cNvPr id="19" name="S04-line118"/>
          <p:cNvSpPr/>
          <p:nvPr/>
        </p:nvSpPr>
        <p:spPr>
          <a:xfrm>
            <a:off x="3527298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4-line119"/>
          <p:cNvSpPr/>
          <p:nvPr/>
        </p:nvSpPr>
        <p:spPr>
          <a:xfrm>
            <a:off x="3812540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1" name="S04-line120"/>
          <p:cNvSpPr/>
          <p:nvPr/>
        </p:nvSpPr>
        <p:spPr>
          <a:xfrm>
            <a:off x="4097782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4-line121"/>
          <p:cNvSpPr/>
          <p:nvPr/>
        </p:nvSpPr>
        <p:spPr>
          <a:xfrm>
            <a:off x="4383024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3" name="S04-label122"/>
          <p:cNvSpPr txBox="1"/>
          <p:nvPr/>
        </p:nvSpPr>
        <p:spPr>
          <a:xfrm>
            <a:off x="3925824" y="3852194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1600" dirty="0"/>
          </a:p>
        </p:txBody>
      </p:sp>
      <p:sp>
        <p:nvSpPr>
          <p:cNvPr id="24" name="S04-line123"/>
          <p:cNvSpPr/>
          <p:nvPr/>
        </p:nvSpPr>
        <p:spPr>
          <a:xfrm>
            <a:off x="4668266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5" name="S04-line124"/>
          <p:cNvSpPr/>
          <p:nvPr/>
        </p:nvSpPr>
        <p:spPr>
          <a:xfrm>
            <a:off x="4953508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04-line125"/>
          <p:cNvSpPr/>
          <p:nvPr/>
        </p:nvSpPr>
        <p:spPr>
          <a:xfrm>
            <a:off x="5238750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7" name="S04-line126"/>
          <p:cNvSpPr/>
          <p:nvPr/>
        </p:nvSpPr>
        <p:spPr>
          <a:xfrm>
            <a:off x="5523992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8" name="S04-label127"/>
          <p:cNvSpPr txBox="1"/>
          <p:nvPr/>
        </p:nvSpPr>
        <p:spPr>
          <a:xfrm>
            <a:off x="5066792" y="3852194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ko-KR" sz="1600" dirty="0"/>
          </a:p>
        </p:txBody>
      </p:sp>
      <p:sp>
        <p:nvSpPr>
          <p:cNvPr id="29" name="S04-line128"/>
          <p:cNvSpPr/>
          <p:nvPr/>
        </p:nvSpPr>
        <p:spPr>
          <a:xfrm>
            <a:off x="5809234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0" name="S04-line129"/>
          <p:cNvSpPr/>
          <p:nvPr/>
        </p:nvSpPr>
        <p:spPr>
          <a:xfrm>
            <a:off x="6094476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1" name="S04-line130"/>
          <p:cNvSpPr/>
          <p:nvPr/>
        </p:nvSpPr>
        <p:spPr>
          <a:xfrm>
            <a:off x="6379718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2" name="S04-line131"/>
          <p:cNvSpPr/>
          <p:nvPr/>
        </p:nvSpPr>
        <p:spPr>
          <a:xfrm>
            <a:off x="6664960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3" name="S04-label132"/>
          <p:cNvSpPr txBox="1"/>
          <p:nvPr/>
        </p:nvSpPr>
        <p:spPr>
          <a:xfrm>
            <a:off x="6207760" y="3852194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1600" dirty="0"/>
          </a:p>
        </p:txBody>
      </p:sp>
      <p:sp>
        <p:nvSpPr>
          <p:cNvPr id="34" name="S04-line133"/>
          <p:cNvSpPr/>
          <p:nvPr/>
        </p:nvSpPr>
        <p:spPr>
          <a:xfrm>
            <a:off x="6950202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5" name="S04-line134"/>
          <p:cNvSpPr/>
          <p:nvPr/>
        </p:nvSpPr>
        <p:spPr>
          <a:xfrm>
            <a:off x="7235444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6" name="S04-line135"/>
          <p:cNvSpPr/>
          <p:nvPr/>
        </p:nvSpPr>
        <p:spPr>
          <a:xfrm>
            <a:off x="7520686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7" name="S04-line136"/>
          <p:cNvSpPr/>
          <p:nvPr/>
        </p:nvSpPr>
        <p:spPr>
          <a:xfrm>
            <a:off x="7805928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8" name="S04-label137"/>
          <p:cNvSpPr txBox="1"/>
          <p:nvPr/>
        </p:nvSpPr>
        <p:spPr>
          <a:xfrm>
            <a:off x="7348728" y="3852194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ko-KR" sz="1600" dirty="0"/>
          </a:p>
        </p:txBody>
      </p:sp>
      <p:sp>
        <p:nvSpPr>
          <p:cNvPr id="39" name="S04-line138"/>
          <p:cNvSpPr/>
          <p:nvPr/>
        </p:nvSpPr>
        <p:spPr>
          <a:xfrm>
            <a:off x="8091170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0" name="S04-line139"/>
          <p:cNvSpPr/>
          <p:nvPr/>
        </p:nvSpPr>
        <p:spPr>
          <a:xfrm>
            <a:off x="8376412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1" name="S04-line140"/>
          <p:cNvSpPr/>
          <p:nvPr/>
        </p:nvSpPr>
        <p:spPr>
          <a:xfrm>
            <a:off x="8661654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2" name="S04-line141"/>
          <p:cNvSpPr/>
          <p:nvPr/>
        </p:nvSpPr>
        <p:spPr>
          <a:xfrm>
            <a:off x="8946896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3" name="S04-label142"/>
          <p:cNvSpPr txBox="1"/>
          <p:nvPr/>
        </p:nvSpPr>
        <p:spPr>
          <a:xfrm>
            <a:off x="8489696" y="3852194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</a:t>
            </a:r>
            <a:endParaRPr lang="ko-KR" sz="1600" dirty="0"/>
          </a:p>
        </p:txBody>
      </p:sp>
      <p:sp>
        <p:nvSpPr>
          <p:cNvPr id="44" name="S04-line143"/>
          <p:cNvSpPr/>
          <p:nvPr/>
        </p:nvSpPr>
        <p:spPr>
          <a:xfrm>
            <a:off x="9232138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5" name="S04-line144"/>
          <p:cNvSpPr/>
          <p:nvPr/>
        </p:nvSpPr>
        <p:spPr>
          <a:xfrm>
            <a:off x="9517380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6" name="S04-line145"/>
          <p:cNvSpPr/>
          <p:nvPr/>
        </p:nvSpPr>
        <p:spPr>
          <a:xfrm>
            <a:off x="9802622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7" name="S04-line146"/>
          <p:cNvSpPr/>
          <p:nvPr/>
        </p:nvSpPr>
        <p:spPr>
          <a:xfrm>
            <a:off x="10087864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8" name="S04-label147"/>
          <p:cNvSpPr txBox="1"/>
          <p:nvPr/>
        </p:nvSpPr>
        <p:spPr>
          <a:xfrm>
            <a:off x="9630664" y="3852194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</a:t>
            </a:r>
            <a:endParaRPr lang="ko-KR" sz="1600" dirty="0"/>
          </a:p>
        </p:txBody>
      </p:sp>
      <p:sp>
        <p:nvSpPr>
          <p:cNvPr id="49" name="S04-line148"/>
          <p:cNvSpPr/>
          <p:nvPr/>
        </p:nvSpPr>
        <p:spPr>
          <a:xfrm>
            <a:off x="10373106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0" name="S04-line149"/>
          <p:cNvSpPr/>
          <p:nvPr/>
        </p:nvSpPr>
        <p:spPr>
          <a:xfrm>
            <a:off x="10658348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1" name="S04-line150"/>
          <p:cNvSpPr/>
          <p:nvPr/>
        </p:nvSpPr>
        <p:spPr>
          <a:xfrm>
            <a:off x="10943590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2" name="S04-line151"/>
          <p:cNvSpPr/>
          <p:nvPr/>
        </p:nvSpPr>
        <p:spPr>
          <a:xfrm>
            <a:off x="11228832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3" name="S04-label152"/>
          <p:cNvSpPr txBox="1"/>
          <p:nvPr/>
        </p:nvSpPr>
        <p:spPr>
          <a:xfrm>
            <a:off x="10771632" y="3852194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</a:t>
            </a:r>
            <a:endParaRPr lang="ko-KR" sz="1600" dirty="0"/>
          </a:p>
        </p:txBody>
      </p:sp>
      <p:sp>
        <p:nvSpPr>
          <p:cNvPr id="54" name="S04-mark153"/>
          <p:cNvSpPr/>
          <p:nvPr/>
        </p:nvSpPr>
        <p:spPr>
          <a:xfrm>
            <a:off x="7714488" y="3577874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55" name="S04-line154"/>
          <p:cNvSpPr/>
          <p:nvPr/>
        </p:nvSpPr>
        <p:spPr>
          <a:xfrm flipV="1">
            <a:off x="960120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56" name="S04-line155"/>
          <p:cNvSpPr/>
          <p:nvPr/>
        </p:nvSpPr>
        <p:spPr>
          <a:xfrm>
            <a:off x="960120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57" name="S04-label156"/>
          <p:cNvSpPr txBox="1"/>
          <p:nvPr/>
        </p:nvSpPr>
        <p:spPr>
          <a:xfrm>
            <a:off x="960120" y="3002818"/>
            <a:ext cx="1140968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1600" dirty="0"/>
          </a:p>
        </p:txBody>
      </p:sp>
      <p:sp>
        <p:nvSpPr>
          <p:cNvPr id="58" name="S04-line157"/>
          <p:cNvSpPr/>
          <p:nvPr/>
        </p:nvSpPr>
        <p:spPr>
          <a:xfrm flipV="1">
            <a:off x="2101088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59" name="S04-line158"/>
          <p:cNvSpPr/>
          <p:nvPr/>
        </p:nvSpPr>
        <p:spPr>
          <a:xfrm>
            <a:off x="2101088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60" name="S04-label159"/>
          <p:cNvSpPr txBox="1"/>
          <p:nvPr/>
        </p:nvSpPr>
        <p:spPr>
          <a:xfrm>
            <a:off x="2101088" y="3002818"/>
            <a:ext cx="1140968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1600" dirty="0"/>
          </a:p>
        </p:txBody>
      </p:sp>
      <p:sp>
        <p:nvSpPr>
          <p:cNvPr id="61" name="S04-line160"/>
          <p:cNvSpPr/>
          <p:nvPr/>
        </p:nvSpPr>
        <p:spPr>
          <a:xfrm flipV="1">
            <a:off x="3242056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62" name="S04-line161"/>
          <p:cNvSpPr/>
          <p:nvPr/>
        </p:nvSpPr>
        <p:spPr>
          <a:xfrm>
            <a:off x="3242056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63" name="S04-label162"/>
          <p:cNvSpPr txBox="1"/>
          <p:nvPr/>
        </p:nvSpPr>
        <p:spPr>
          <a:xfrm>
            <a:off x="3242056" y="3002818"/>
            <a:ext cx="1140968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1600" dirty="0"/>
          </a:p>
        </p:txBody>
      </p:sp>
      <p:sp>
        <p:nvSpPr>
          <p:cNvPr id="64" name="S04-line163"/>
          <p:cNvSpPr/>
          <p:nvPr/>
        </p:nvSpPr>
        <p:spPr>
          <a:xfrm flipV="1">
            <a:off x="4383024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65" name="S04-line164"/>
          <p:cNvSpPr/>
          <p:nvPr/>
        </p:nvSpPr>
        <p:spPr>
          <a:xfrm>
            <a:off x="4383024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66" name="S04-label165"/>
          <p:cNvSpPr txBox="1"/>
          <p:nvPr/>
        </p:nvSpPr>
        <p:spPr>
          <a:xfrm>
            <a:off x="4383024" y="3002818"/>
            <a:ext cx="1140968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1600" dirty="0"/>
          </a:p>
        </p:txBody>
      </p:sp>
      <p:sp>
        <p:nvSpPr>
          <p:cNvPr id="67" name="S04-line166"/>
          <p:cNvSpPr/>
          <p:nvPr/>
        </p:nvSpPr>
        <p:spPr>
          <a:xfrm flipV="1">
            <a:off x="5523992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68" name="S04-line167"/>
          <p:cNvSpPr/>
          <p:nvPr/>
        </p:nvSpPr>
        <p:spPr>
          <a:xfrm>
            <a:off x="5523992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69" name="S04-label168"/>
          <p:cNvSpPr txBox="1"/>
          <p:nvPr/>
        </p:nvSpPr>
        <p:spPr>
          <a:xfrm>
            <a:off x="5523992" y="3002818"/>
            <a:ext cx="1140968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</a:t>
            </a:r>
            <a:endParaRPr lang="ko-KR" sz="1600" dirty="0"/>
          </a:p>
        </p:txBody>
      </p:sp>
      <p:sp>
        <p:nvSpPr>
          <p:cNvPr id="70" name="S04-line169"/>
          <p:cNvSpPr/>
          <p:nvPr/>
        </p:nvSpPr>
        <p:spPr>
          <a:xfrm flipV="1">
            <a:off x="6664960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71" name="S04-line170"/>
          <p:cNvSpPr/>
          <p:nvPr/>
        </p:nvSpPr>
        <p:spPr>
          <a:xfrm>
            <a:off x="6664960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72" name="S04-label171"/>
          <p:cNvSpPr txBox="1"/>
          <p:nvPr/>
        </p:nvSpPr>
        <p:spPr>
          <a:xfrm>
            <a:off x="6664960" y="3002818"/>
            <a:ext cx="1140968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⑥</a:t>
            </a:r>
            <a:endParaRPr lang="ko-KR" sz="1600" dirty="0"/>
          </a:p>
        </p:txBody>
      </p:sp>
      <p:sp>
        <p:nvSpPr>
          <p:cNvPr id="73" name="S04-figure172" descr="0부터 36까지 수직선(4마다 긴 눈금과 수)에서 0부터 4씩 6번 뛰어 24에 닿는 화살표"/>
          <p:cNvSpPr/>
          <p:nvPr/>
        </p:nvSpPr>
        <p:spPr>
          <a:xfrm>
            <a:off x="685800" y="3486434"/>
            <a:ext cx="10817352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4단을 완성해요</a:t>
            </a:r>
            <a:endParaRPr lang="ko-KR" sz="4400" dirty="0"/>
          </a:p>
        </p:txBody>
      </p:sp>
      <p:sp>
        <p:nvSpPr>
          <p:cNvPr id="3" name="S05-text17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빈칸에 알맞은 곱을 말해요.</a:t>
            </a:r>
            <a:endParaRPr lang="ko-KR" sz="3200" dirty="0"/>
          </a:p>
        </p:txBody>
      </p:sp>
      <p:sp>
        <p:nvSpPr>
          <p:cNvPr id="4" name="S05-card17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17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앞의 곱에 4를 더하면 다음 곱이에요.</a:t>
            </a:r>
            <a:endParaRPr lang="ko-KR" sz="3200" dirty="0"/>
          </a:p>
        </p:txBody>
      </p:sp>
      <p:graphicFrame>
        <p:nvGraphicFramePr>
          <p:cNvPr id="6" name="S05-table17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037840"/>
          <a:ext cx="11091672" cy="914400"/>
        </p:xfrm>
        <a:graphic>
          <a:graphicData uri="http://schemas.openxmlformats.org/drawingml/2006/table">
            <a:tbl>
              <a:tblPr/>
              <a:tblGrid>
                <a:gridCol w="1232408"/>
                <a:gridCol w="1232408"/>
                <a:gridCol w="1232408"/>
                <a:gridCol w="1232408"/>
                <a:gridCol w="1232408"/>
                <a:gridCol w="1232408"/>
                <a:gridCol w="1232408"/>
                <a:gridCol w="1232408"/>
                <a:gridCol w="1232408"/>
              </a:tblGrid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 × 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 × 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 × 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 × 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 × 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 × 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 × 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 × 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 × 9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4씩 두 개면 8씩</a:t>
            </a:r>
            <a:endParaRPr lang="ko-KR" sz="4400" dirty="0"/>
          </a:p>
        </p:txBody>
      </p:sp>
      <p:sp>
        <p:nvSpPr>
          <p:cNvPr id="3" name="S06-text17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4씩 3묶음 두 개를 붙여요.</a:t>
            </a:r>
            <a:endParaRPr lang="ko-KR" sz="3200" dirty="0"/>
          </a:p>
        </p:txBody>
      </p:sp>
      <p:sp>
        <p:nvSpPr>
          <p:cNvPr id="4" name="S06-card178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179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× 3은 4 × 3의 2배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+ 12 = 24</a:t>
            </a:r>
            <a:endParaRPr lang="ko-KR" sz="3200" dirty="0"/>
          </a:p>
        </p:txBody>
      </p:sp>
      <p:sp>
        <p:nvSpPr>
          <p:cNvPr id="6" name="S06-dot180"/>
          <p:cNvSpPr/>
          <p:nvPr/>
        </p:nvSpPr>
        <p:spPr>
          <a:xfrm>
            <a:off x="1545793" y="25499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6-dot181"/>
          <p:cNvSpPr/>
          <p:nvPr/>
        </p:nvSpPr>
        <p:spPr>
          <a:xfrm>
            <a:off x="1957273" y="25499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6-dot182"/>
          <p:cNvSpPr/>
          <p:nvPr/>
        </p:nvSpPr>
        <p:spPr>
          <a:xfrm>
            <a:off x="2368753" y="25499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6-dot183"/>
          <p:cNvSpPr/>
          <p:nvPr/>
        </p:nvSpPr>
        <p:spPr>
          <a:xfrm>
            <a:off x="2780233" y="25499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6-dot184"/>
          <p:cNvSpPr/>
          <p:nvPr/>
        </p:nvSpPr>
        <p:spPr>
          <a:xfrm>
            <a:off x="1545793" y="296146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6-dot185"/>
          <p:cNvSpPr/>
          <p:nvPr/>
        </p:nvSpPr>
        <p:spPr>
          <a:xfrm>
            <a:off x="1957273" y="296146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6-dot186"/>
          <p:cNvSpPr/>
          <p:nvPr/>
        </p:nvSpPr>
        <p:spPr>
          <a:xfrm>
            <a:off x="2368753" y="296146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6-dot187"/>
          <p:cNvSpPr/>
          <p:nvPr/>
        </p:nvSpPr>
        <p:spPr>
          <a:xfrm>
            <a:off x="2780233" y="296146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6-dot188"/>
          <p:cNvSpPr/>
          <p:nvPr/>
        </p:nvSpPr>
        <p:spPr>
          <a:xfrm>
            <a:off x="1545793" y="33729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6-dot189"/>
          <p:cNvSpPr/>
          <p:nvPr/>
        </p:nvSpPr>
        <p:spPr>
          <a:xfrm>
            <a:off x="1957273" y="33729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6-dot190"/>
          <p:cNvSpPr/>
          <p:nvPr/>
        </p:nvSpPr>
        <p:spPr>
          <a:xfrm>
            <a:off x="2368753" y="33729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6-dot191"/>
          <p:cNvSpPr/>
          <p:nvPr/>
        </p:nvSpPr>
        <p:spPr>
          <a:xfrm>
            <a:off x="2780233" y="33729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6-group192"/>
          <p:cNvSpPr/>
          <p:nvPr/>
        </p:nvSpPr>
        <p:spPr>
          <a:xfrm>
            <a:off x="1495044" y="2508377"/>
            <a:ext cx="159105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9" name="S06-group193"/>
          <p:cNvSpPr/>
          <p:nvPr/>
        </p:nvSpPr>
        <p:spPr>
          <a:xfrm>
            <a:off x="1495044" y="2919857"/>
            <a:ext cx="159105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0" name="S06-group194"/>
          <p:cNvSpPr/>
          <p:nvPr/>
        </p:nvSpPr>
        <p:spPr>
          <a:xfrm>
            <a:off x="1495044" y="3331337"/>
            <a:ext cx="159105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1" name="S06-figure195" descr="주황 점 4개씩 3묶음, 12개"/>
          <p:cNvSpPr/>
          <p:nvPr/>
        </p:nvSpPr>
        <p:spPr>
          <a:xfrm>
            <a:off x="1467612" y="2471801"/>
            <a:ext cx="1645920" cy="12344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06-label196"/>
          <p:cNvSpPr txBox="1"/>
          <p:nvPr/>
        </p:nvSpPr>
        <p:spPr>
          <a:xfrm>
            <a:off x="548640" y="4239514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3 = 12</a:t>
            </a:r>
            <a:endParaRPr lang="ko-KR" sz="2600" dirty="0"/>
          </a:p>
        </p:txBody>
      </p:sp>
      <p:sp>
        <p:nvSpPr>
          <p:cNvPr id="23" name="S06-dot197"/>
          <p:cNvSpPr/>
          <p:nvPr/>
        </p:nvSpPr>
        <p:spPr>
          <a:xfrm>
            <a:off x="5349697" y="2549982"/>
            <a:ext cx="255118" cy="255118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6-dot198"/>
          <p:cNvSpPr/>
          <p:nvPr/>
        </p:nvSpPr>
        <p:spPr>
          <a:xfrm>
            <a:off x="5761177" y="2549982"/>
            <a:ext cx="255118" cy="255118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6-dot199"/>
          <p:cNvSpPr/>
          <p:nvPr/>
        </p:nvSpPr>
        <p:spPr>
          <a:xfrm>
            <a:off x="6172657" y="2549982"/>
            <a:ext cx="255118" cy="255118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6-dot200"/>
          <p:cNvSpPr/>
          <p:nvPr/>
        </p:nvSpPr>
        <p:spPr>
          <a:xfrm>
            <a:off x="6584137" y="2549982"/>
            <a:ext cx="255118" cy="255118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6-dot201"/>
          <p:cNvSpPr/>
          <p:nvPr/>
        </p:nvSpPr>
        <p:spPr>
          <a:xfrm>
            <a:off x="5349697" y="2961462"/>
            <a:ext cx="255118" cy="255118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6-dot202"/>
          <p:cNvSpPr/>
          <p:nvPr/>
        </p:nvSpPr>
        <p:spPr>
          <a:xfrm>
            <a:off x="5761177" y="2961462"/>
            <a:ext cx="255118" cy="255118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6-dot203"/>
          <p:cNvSpPr/>
          <p:nvPr/>
        </p:nvSpPr>
        <p:spPr>
          <a:xfrm>
            <a:off x="6172657" y="2961462"/>
            <a:ext cx="255118" cy="255118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6-dot204"/>
          <p:cNvSpPr/>
          <p:nvPr/>
        </p:nvSpPr>
        <p:spPr>
          <a:xfrm>
            <a:off x="6584137" y="2961462"/>
            <a:ext cx="255118" cy="255118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06-dot205"/>
          <p:cNvSpPr/>
          <p:nvPr/>
        </p:nvSpPr>
        <p:spPr>
          <a:xfrm>
            <a:off x="5349697" y="3372942"/>
            <a:ext cx="255118" cy="255118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06-dot206"/>
          <p:cNvSpPr/>
          <p:nvPr/>
        </p:nvSpPr>
        <p:spPr>
          <a:xfrm>
            <a:off x="5761177" y="3372942"/>
            <a:ext cx="255118" cy="255118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06-dot207"/>
          <p:cNvSpPr/>
          <p:nvPr/>
        </p:nvSpPr>
        <p:spPr>
          <a:xfrm>
            <a:off x="6172657" y="3372942"/>
            <a:ext cx="255118" cy="255118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06-dot208"/>
          <p:cNvSpPr/>
          <p:nvPr/>
        </p:nvSpPr>
        <p:spPr>
          <a:xfrm>
            <a:off x="6584137" y="3372942"/>
            <a:ext cx="255118" cy="255118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5" name="S06-group209"/>
          <p:cNvSpPr/>
          <p:nvPr/>
        </p:nvSpPr>
        <p:spPr>
          <a:xfrm>
            <a:off x="5298948" y="2508377"/>
            <a:ext cx="159105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6" name="S06-group210"/>
          <p:cNvSpPr/>
          <p:nvPr/>
        </p:nvSpPr>
        <p:spPr>
          <a:xfrm>
            <a:off x="5298948" y="2919857"/>
            <a:ext cx="159105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7" name="S06-group211"/>
          <p:cNvSpPr/>
          <p:nvPr/>
        </p:nvSpPr>
        <p:spPr>
          <a:xfrm>
            <a:off x="5298948" y="3331337"/>
            <a:ext cx="159105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8" name="S06-figure212" descr="파란 점 4개씩 3묶음, 12개"/>
          <p:cNvSpPr/>
          <p:nvPr/>
        </p:nvSpPr>
        <p:spPr>
          <a:xfrm>
            <a:off x="5271516" y="2471801"/>
            <a:ext cx="1645920" cy="12344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06-label213"/>
          <p:cNvSpPr txBox="1"/>
          <p:nvPr/>
        </p:nvSpPr>
        <p:spPr>
          <a:xfrm>
            <a:off x="4352544" y="4239514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3 = 12</a:t>
            </a:r>
            <a:endParaRPr lang="ko-KR" sz="2600" dirty="0"/>
          </a:p>
        </p:txBody>
      </p:sp>
      <p:sp>
        <p:nvSpPr>
          <p:cNvPr id="40" name="S06-dot214"/>
          <p:cNvSpPr/>
          <p:nvPr/>
        </p:nvSpPr>
        <p:spPr>
          <a:xfrm>
            <a:off x="8330641" y="25499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1" name="S06-dot215"/>
          <p:cNvSpPr/>
          <p:nvPr/>
        </p:nvSpPr>
        <p:spPr>
          <a:xfrm>
            <a:off x="8742121" y="25499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2" name="S06-dot216"/>
          <p:cNvSpPr/>
          <p:nvPr/>
        </p:nvSpPr>
        <p:spPr>
          <a:xfrm>
            <a:off x="9153601" y="25499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3" name="S06-dot217"/>
          <p:cNvSpPr/>
          <p:nvPr/>
        </p:nvSpPr>
        <p:spPr>
          <a:xfrm>
            <a:off x="9565081" y="25499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4" name="S06-dot218"/>
          <p:cNvSpPr/>
          <p:nvPr/>
        </p:nvSpPr>
        <p:spPr>
          <a:xfrm>
            <a:off x="9976561" y="25499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5" name="S06-dot219"/>
          <p:cNvSpPr/>
          <p:nvPr/>
        </p:nvSpPr>
        <p:spPr>
          <a:xfrm>
            <a:off x="10388041" y="25499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6" name="S06-dot220"/>
          <p:cNvSpPr/>
          <p:nvPr/>
        </p:nvSpPr>
        <p:spPr>
          <a:xfrm>
            <a:off x="10799521" y="25499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7" name="S06-dot221"/>
          <p:cNvSpPr/>
          <p:nvPr/>
        </p:nvSpPr>
        <p:spPr>
          <a:xfrm>
            <a:off x="11211001" y="25499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8" name="S06-dot222"/>
          <p:cNvSpPr/>
          <p:nvPr/>
        </p:nvSpPr>
        <p:spPr>
          <a:xfrm>
            <a:off x="8330641" y="296146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9" name="S06-dot223"/>
          <p:cNvSpPr/>
          <p:nvPr/>
        </p:nvSpPr>
        <p:spPr>
          <a:xfrm>
            <a:off x="8742121" y="296146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0" name="S06-dot224"/>
          <p:cNvSpPr/>
          <p:nvPr/>
        </p:nvSpPr>
        <p:spPr>
          <a:xfrm>
            <a:off x="9153601" y="296146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1" name="S06-dot225"/>
          <p:cNvSpPr/>
          <p:nvPr/>
        </p:nvSpPr>
        <p:spPr>
          <a:xfrm>
            <a:off x="9565081" y="296146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2" name="S06-dot226"/>
          <p:cNvSpPr/>
          <p:nvPr/>
        </p:nvSpPr>
        <p:spPr>
          <a:xfrm>
            <a:off x="9976561" y="296146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3" name="S06-dot227"/>
          <p:cNvSpPr/>
          <p:nvPr/>
        </p:nvSpPr>
        <p:spPr>
          <a:xfrm>
            <a:off x="10388041" y="296146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4" name="S06-dot228"/>
          <p:cNvSpPr/>
          <p:nvPr/>
        </p:nvSpPr>
        <p:spPr>
          <a:xfrm>
            <a:off x="10799521" y="296146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5" name="S06-dot229"/>
          <p:cNvSpPr/>
          <p:nvPr/>
        </p:nvSpPr>
        <p:spPr>
          <a:xfrm>
            <a:off x="11211001" y="296146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6" name="S06-dot230"/>
          <p:cNvSpPr/>
          <p:nvPr/>
        </p:nvSpPr>
        <p:spPr>
          <a:xfrm>
            <a:off x="8330641" y="33729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7" name="S06-dot231"/>
          <p:cNvSpPr/>
          <p:nvPr/>
        </p:nvSpPr>
        <p:spPr>
          <a:xfrm>
            <a:off x="8742121" y="33729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8" name="S06-dot232"/>
          <p:cNvSpPr/>
          <p:nvPr/>
        </p:nvSpPr>
        <p:spPr>
          <a:xfrm>
            <a:off x="9153601" y="33729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9" name="S06-dot233"/>
          <p:cNvSpPr/>
          <p:nvPr/>
        </p:nvSpPr>
        <p:spPr>
          <a:xfrm>
            <a:off x="9565081" y="33729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0" name="S06-dot234"/>
          <p:cNvSpPr/>
          <p:nvPr/>
        </p:nvSpPr>
        <p:spPr>
          <a:xfrm>
            <a:off x="9976561" y="33729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1" name="S06-dot235"/>
          <p:cNvSpPr/>
          <p:nvPr/>
        </p:nvSpPr>
        <p:spPr>
          <a:xfrm>
            <a:off x="10388041" y="33729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2" name="S06-dot236"/>
          <p:cNvSpPr/>
          <p:nvPr/>
        </p:nvSpPr>
        <p:spPr>
          <a:xfrm>
            <a:off x="10799521" y="33729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3" name="S06-dot237"/>
          <p:cNvSpPr/>
          <p:nvPr/>
        </p:nvSpPr>
        <p:spPr>
          <a:xfrm>
            <a:off x="11211001" y="33729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4" name="S06-group238"/>
          <p:cNvSpPr/>
          <p:nvPr/>
        </p:nvSpPr>
        <p:spPr>
          <a:xfrm>
            <a:off x="8279892" y="2508377"/>
            <a:ext cx="323697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65" name="S06-group239"/>
          <p:cNvSpPr/>
          <p:nvPr/>
        </p:nvSpPr>
        <p:spPr>
          <a:xfrm>
            <a:off x="8279892" y="2919857"/>
            <a:ext cx="323697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66" name="S06-group240"/>
          <p:cNvSpPr/>
          <p:nvPr/>
        </p:nvSpPr>
        <p:spPr>
          <a:xfrm>
            <a:off x="8279892" y="3331337"/>
            <a:ext cx="323697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67" name="S06-figure241" descr="점 8개씩 3묶음, 24개"/>
          <p:cNvSpPr/>
          <p:nvPr/>
        </p:nvSpPr>
        <p:spPr>
          <a:xfrm>
            <a:off x="8252460" y="2471801"/>
            <a:ext cx="3291840" cy="12344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06-label242"/>
          <p:cNvSpPr txBox="1"/>
          <p:nvPr/>
        </p:nvSpPr>
        <p:spPr>
          <a:xfrm>
            <a:off x="8156448" y="4239514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× 3 = 24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8씩 뛰어 세요</a:t>
            </a:r>
            <a:endParaRPr lang="ko-KR" sz="4400" dirty="0"/>
          </a:p>
        </p:txBody>
      </p:sp>
      <p:sp>
        <p:nvSpPr>
          <p:cNvPr id="3" name="S07-text24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× 4는 0에서 8씩 4번 뛰어요.</a:t>
            </a:r>
            <a:endParaRPr lang="ko-KR" sz="3200" dirty="0"/>
          </a:p>
        </p:txBody>
      </p:sp>
      <p:sp>
        <p:nvSpPr>
          <p:cNvPr id="4" name="S07-card244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245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× 4 = 32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× 3 = 24보다 8 커요.</a:t>
            </a:r>
            <a:endParaRPr lang="ko-KR" sz="3200" dirty="0"/>
          </a:p>
        </p:txBody>
      </p:sp>
      <p:sp>
        <p:nvSpPr>
          <p:cNvPr id="6" name="S07-line246"/>
          <p:cNvSpPr/>
          <p:nvPr/>
        </p:nvSpPr>
        <p:spPr>
          <a:xfrm>
            <a:off x="685800" y="3669314"/>
            <a:ext cx="1081735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7" name="S07-line247"/>
          <p:cNvSpPr/>
          <p:nvPr/>
        </p:nvSpPr>
        <p:spPr>
          <a:xfrm>
            <a:off x="960120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07-label248"/>
          <p:cNvSpPr txBox="1"/>
          <p:nvPr/>
        </p:nvSpPr>
        <p:spPr>
          <a:xfrm>
            <a:off x="502920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600" dirty="0"/>
          </a:p>
        </p:txBody>
      </p:sp>
      <p:sp>
        <p:nvSpPr>
          <p:cNvPr id="9" name="S07-line249"/>
          <p:cNvSpPr/>
          <p:nvPr/>
        </p:nvSpPr>
        <p:spPr>
          <a:xfrm>
            <a:off x="2101088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7-label250"/>
          <p:cNvSpPr txBox="1"/>
          <p:nvPr/>
        </p:nvSpPr>
        <p:spPr>
          <a:xfrm>
            <a:off x="1643888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11" name="S07-line251"/>
          <p:cNvSpPr/>
          <p:nvPr/>
        </p:nvSpPr>
        <p:spPr>
          <a:xfrm>
            <a:off x="3242056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7-label252"/>
          <p:cNvSpPr txBox="1"/>
          <p:nvPr/>
        </p:nvSpPr>
        <p:spPr>
          <a:xfrm>
            <a:off x="2784856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ko-KR" sz="2600" dirty="0"/>
          </a:p>
        </p:txBody>
      </p:sp>
      <p:sp>
        <p:nvSpPr>
          <p:cNvPr id="13" name="S07-line253"/>
          <p:cNvSpPr/>
          <p:nvPr/>
        </p:nvSpPr>
        <p:spPr>
          <a:xfrm>
            <a:off x="4383024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7-label254"/>
          <p:cNvSpPr txBox="1"/>
          <p:nvPr/>
        </p:nvSpPr>
        <p:spPr>
          <a:xfrm>
            <a:off x="3925824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ko-KR" sz="2600" dirty="0"/>
          </a:p>
        </p:txBody>
      </p:sp>
      <p:sp>
        <p:nvSpPr>
          <p:cNvPr id="15" name="S07-line255"/>
          <p:cNvSpPr/>
          <p:nvPr/>
        </p:nvSpPr>
        <p:spPr>
          <a:xfrm>
            <a:off x="5523992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7-label256"/>
          <p:cNvSpPr txBox="1"/>
          <p:nvPr/>
        </p:nvSpPr>
        <p:spPr>
          <a:xfrm>
            <a:off x="5066792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</a:t>
            </a:r>
            <a:endParaRPr lang="ko-KR" sz="2600" dirty="0"/>
          </a:p>
        </p:txBody>
      </p:sp>
      <p:sp>
        <p:nvSpPr>
          <p:cNvPr id="17" name="S07-line257"/>
          <p:cNvSpPr/>
          <p:nvPr/>
        </p:nvSpPr>
        <p:spPr>
          <a:xfrm>
            <a:off x="6664960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7-label258"/>
          <p:cNvSpPr txBox="1"/>
          <p:nvPr/>
        </p:nvSpPr>
        <p:spPr>
          <a:xfrm>
            <a:off x="6207760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</a:t>
            </a:r>
            <a:endParaRPr lang="ko-KR" sz="2600" dirty="0"/>
          </a:p>
        </p:txBody>
      </p:sp>
      <p:sp>
        <p:nvSpPr>
          <p:cNvPr id="19" name="S07-line259"/>
          <p:cNvSpPr/>
          <p:nvPr/>
        </p:nvSpPr>
        <p:spPr>
          <a:xfrm>
            <a:off x="7805928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7-label260"/>
          <p:cNvSpPr txBox="1"/>
          <p:nvPr/>
        </p:nvSpPr>
        <p:spPr>
          <a:xfrm>
            <a:off x="7348728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48</a:t>
            </a:r>
            <a:endParaRPr lang="ko-KR" sz="2600" dirty="0"/>
          </a:p>
        </p:txBody>
      </p:sp>
      <p:sp>
        <p:nvSpPr>
          <p:cNvPr id="21" name="S07-line261"/>
          <p:cNvSpPr/>
          <p:nvPr/>
        </p:nvSpPr>
        <p:spPr>
          <a:xfrm>
            <a:off x="8946896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7-label262"/>
          <p:cNvSpPr txBox="1"/>
          <p:nvPr/>
        </p:nvSpPr>
        <p:spPr>
          <a:xfrm>
            <a:off x="8489696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56</a:t>
            </a:r>
            <a:endParaRPr lang="ko-KR" sz="2600" dirty="0"/>
          </a:p>
        </p:txBody>
      </p:sp>
      <p:sp>
        <p:nvSpPr>
          <p:cNvPr id="23" name="S07-line263"/>
          <p:cNvSpPr/>
          <p:nvPr/>
        </p:nvSpPr>
        <p:spPr>
          <a:xfrm>
            <a:off x="10087864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07-label264"/>
          <p:cNvSpPr txBox="1"/>
          <p:nvPr/>
        </p:nvSpPr>
        <p:spPr>
          <a:xfrm>
            <a:off x="9630664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64</a:t>
            </a:r>
            <a:endParaRPr lang="ko-KR" sz="2600" dirty="0"/>
          </a:p>
        </p:txBody>
      </p:sp>
      <p:sp>
        <p:nvSpPr>
          <p:cNvPr id="25" name="S07-line265"/>
          <p:cNvSpPr/>
          <p:nvPr/>
        </p:nvSpPr>
        <p:spPr>
          <a:xfrm>
            <a:off x="11228832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07-label266"/>
          <p:cNvSpPr txBox="1"/>
          <p:nvPr/>
        </p:nvSpPr>
        <p:spPr>
          <a:xfrm>
            <a:off x="10771632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72</a:t>
            </a:r>
            <a:endParaRPr lang="ko-KR" sz="2600" dirty="0"/>
          </a:p>
        </p:txBody>
      </p:sp>
      <p:sp>
        <p:nvSpPr>
          <p:cNvPr id="27" name="S07-mark267"/>
          <p:cNvSpPr/>
          <p:nvPr/>
        </p:nvSpPr>
        <p:spPr>
          <a:xfrm>
            <a:off x="5432552" y="3577874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28" name="S07-line268"/>
          <p:cNvSpPr/>
          <p:nvPr/>
        </p:nvSpPr>
        <p:spPr>
          <a:xfrm flipV="1">
            <a:off x="960120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29" name="S07-line269"/>
          <p:cNvSpPr/>
          <p:nvPr/>
        </p:nvSpPr>
        <p:spPr>
          <a:xfrm>
            <a:off x="960120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0" name="S07-label270"/>
          <p:cNvSpPr txBox="1"/>
          <p:nvPr/>
        </p:nvSpPr>
        <p:spPr>
          <a:xfrm>
            <a:off x="960120" y="2837718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31" name="S07-line271"/>
          <p:cNvSpPr/>
          <p:nvPr/>
        </p:nvSpPr>
        <p:spPr>
          <a:xfrm flipV="1">
            <a:off x="2101088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2" name="S07-line272"/>
          <p:cNvSpPr/>
          <p:nvPr/>
        </p:nvSpPr>
        <p:spPr>
          <a:xfrm>
            <a:off x="2101088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3" name="S07-label273"/>
          <p:cNvSpPr txBox="1"/>
          <p:nvPr/>
        </p:nvSpPr>
        <p:spPr>
          <a:xfrm>
            <a:off x="2101088" y="2837718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34" name="S07-line274"/>
          <p:cNvSpPr/>
          <p:nvPr/>
        </p:nvSpPr>
        <p:spPr>
          <a:xfrm flipV="1">
            <a:off x="3242056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5" name="S07-line275"/>
          <p:cNvSpPr/>
          <p:nvPr/>
        </p:nvSpPr>
        <p:spPr>
          <a:xfrm>
            <a:off x="3242056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6" name="S07-label276"/>
          <p:cNvSpPr txBox="1"/>
          <p:nvPr/>
        </p:nvSpPr>
        <p:spPr>
          <a:xfrm>
            <a:off x="3242056" y="2837718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37" name="S07-line277"/>
          <p:cNvSpPr/>
          <p:nvPr/>
        </p:nvSpPr>
        <p:spPr>
          <a:xfrm flipV="1">
            <a:off x="4383024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8" name="S07-line278"/>
          <p:cNvSpPr/>
          <p:nvPr/>
        </p:nvSpPr>
        <p:spPr>
          <a:xfrm>
            <a:off x="4383024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9" name="S07-label279"/>
          <p:cNvSpPr txBox="1"/>
          <p:nvPr/>
        </p:nvSpPr>
        <p:spPr>
          <a:xfrm>
            <a:off x="4383024" y="2837718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40" name="S07-figure280" descr="0부터 72까지 8씩 눈금이 있는 수직선에서 0부터 8씩 4번 뛰어 32에 닿는 화살표"/>
          <p:cNvSpPr/>
          <p:nvPr/>
        </p:nvSpPr>
        <p:spPr>
          <a:xfrm>
            <a:off x="685800" y="3486434"/>
            <a:ext cx="10817352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8단을 완성해요</a:t>
            </a:r>
            <a:endParaRPr lang="ko-KR" sz="4400" dirty="0"/>
          </a:p>
        </p:txBody>
      </p:sp>
      <p:sp>
        <p:nvSpPr>
          <p:cNvPr id="3" name="S08-text28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4단의 곱을 보고 8단을 채워요.</a:t>
            </a:r>
            <a:endParaRPr lang="ko-KR" sz="3200" dirty="0"/>
          </a:p>
        </p:txBody>
      </p:sp>
      <p:sp>
        <p:nvSpPr>
          <p:cNvPr id="4" name="S08-card28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28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4단의 곱을 두 번 더하면 8단의 곱이에요.</a:t>
            </a:r>
            <a:endParaRPr lang="ko-KR" sz="3200" dirty="0"/>
          </a:p>
        </p:txBody>
      </p:sp>
      <p:graphicFrame>
        <p:nvGraphicFramePr>
          <p:cNvPr id="9" name="S08-table28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773680"/>
          <a:ext cx="11091672" cy="914400"/>
        </p:xfrm>
        <a:graphic>
          <a:graphicData uri="http://schemas.openxmlformats.org/drawingml/2006/table">
            <a:tbl>
              <a:tblPr/>
              <a:tblGrid>
                <a:gridCol w="1109167"/>
                <a:gridCol w="1109167"/>
                <a:gridCol w="1109167"/>
                <a:gridCol w="1109167"/>
                <a:gridCol w="1109167"/>
                <a:gridCol w="1109167"/>
                <a:gridCol w="1109167"/>
                <a:gridCol w="1109167"/>
                <a:gridCol w="1109167"/>
                <a:gridCol w="1109167"/>
              </a:tblGrid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×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곱을 구해요</a:t>
            </a:r>
            <a:endParaRPr lang="ko-KR" sz="4400" dirty="0"/>
          </a:p>
        </p:txBody>
      </p:sp>
      <p:sp>
        <p:nvSpPr>
          <p:cNvPr id="3" name="S09-text28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①④는 다리가 모두 몇 개인지 구해요.</a:t>
            </a:r>
            <a:endParaRPr lang="ko-KR" sz="3200" dirty="0"/>
          </a:p>
        </p:txBody>
      </p:sp>
      <p:sp>
        <p:nvSpPr>
          <p:cNvPr id="4" name="S09-card28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28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몇씩 몇 묶음인지 먼저 말해요.</a:t>
            </a:r>
            <a:endParaRPr lang="ko-KR" sz="3200" dirty="0"/>
          </a:p>
        </p:txBody>
      </p:sp>
      <p:sp>
        <p:nvSpPr>
          <p:cNvPr id="6" name="S09-chip288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9-text289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강아지 7마리</a:t>
            </a:r>
            <a:endParaRPr lang="ko-KR" sz="3200" dirty="0"/>
          </a:p>
        </p:txBody>
      </p:sp>
      <p:sp>
        <p:nvSpPr>
          <p:cNvPr id="8" name="S09-chip290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9-eqtext291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9 = □</a:t>
            </a:r>
            <a:endParaRPr lang="ko-KR" sz="3600" dirty="0"/>
          </a:p>
        </p:txBody>
      </p:sp>
      <p:sp>
        <p:nvSpPr>
          <p:cNvPr id="10" name="S09-chip292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9-eqtext293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× 5 = □</a:t>
            </a:r>
            <a:endParaRPr lang="ko-KR" sz="3600" dirty="0"/>
          </a:p>
        </p:txBody>
      </p:sp>
      <p:sp>
        <p:nvSpPr>
          <p:cNvPr id="12" name="S09-chip294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3" name="S09-text295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문어 6마리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400" dirty="0"/>
          </a:p>
        </p:txBody>
      </p:sp>
      <p:sp>
        <p:nvSpPr>
          <p:cNvPr id="3" name="S10-card296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297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2 = 8을 보고 8 × 2를 구했어요.</a:t>
            </a:r>
            <a:endParaRPr lang="ko-KR" sz="3200" dirty="0"/>
          </a:p>
        </p:txBody>
      </p:sp>
      <p:sp>
        <p:nvSpPr>
          <p:cNvPr id="5" name="S10-card29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0-cardtext29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3200" dirty="0"/>
          </a:p>
        </p:txBody>
      </p:sp>
      <p:sp>
        <p:nvSpPr>
          <p:cNvPr id="7" name="S10-chip300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12</a:t>
            </a:r>
            <a:endParaRPr lang="ko-KR" sz="2600" dirty="0"/>
          </a:p>
        </p:txBody>
      </p:sp>
      <p:sp>
        <p:nvSpPr>
          <p:cNvPr id="8" name="S10-text301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“8은 4보다 4 크니까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+ 4 = 12예요.”</a:t>
            </a:r>
            <a:endParaRPr lang="ko-KR" sz="3200" dirty="0"/>
          </a:p>
        </p:txBody>
      </p:sp>
      <p:sp>
        <p:nvSpPr>
          <p:cNvPr id="9" name="S10-chip302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16</a:t>
            </a:r>
            <a:endParaRPr lang="ko-KR" sz="2600" dirty="0"/>
          </a:p>
        </p:txBody>
      </p:sp>
      <p:sp>
        <p:nvSpPr>
          <p:cNvPr id="10" name="S10-dot303"/>
          <p:cNvSpPr/>
          <p:nvPr/>
        </p:nvSpPr>
        <p:spPr>
          <a:xfrm>
            <a:off x="7391095" y="3557219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10-dot304"/>
          <p:cNvSpPr/>
          <p:nvPr/>
        </p:nvSpPr>
        <p:spPr>
          <a:xfrm>
            <a:off x="7802575" y="3557219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0-dot305"/>
          <p:cNvSpPr/>
          <p:nvPr/>
        </p:nvSpPr>
        <p:spPr>
          <a:xfrm>
            <a:off x="8214055" y="3557219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10-dot306"/>
          <p:cNvSpPr/>
          <p:nvPr/>
        </p:nvSpPr>
        <p:spPr>
          <a:xfrm>
            <a:off x="8625535" y="3557219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0-dot307"/>
          <p:cNvSpPr/>
          <p:nvPr/>
        </p:nvSpPr>
        <p:spPr>
          <a:xfrm>
            <a:off x="9037015" y="3557219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10-dot308"/>
          <p:cNvSpPr/>
          <p:nvPr/>
        </p:nvSpPr>
        <p:spPr>
          <a:xfrm>
            <a:off x="9448495" y="3557219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10-dot309"/>
          <p:cNvSpPr/>
          <p:nvPr/>
        </p:nvSpPr>
        <p:spPr>
          <a:xfrm>
            <a:off x="9859975" y="3557219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10-dot310"/>
          <p:cNvSpPr/>
          <p:nvPr/>
        </p:nvSpPr>
        <p:spPr>
          <a:xfrm>
            <a:off x="10271455" y="3557219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10-dot311"/>
          <p:cNvSpPr/>
          <p:nvPr/>
        </p:nvSpPr>
        <p:spPr>
          <a:xfrm>
            <a:off x="7391095" y="3968699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10-dot312"/>
          <p:cNvSpPr/>
          <p:nvPr/>
        </p:nvSpPr>
        <p:spPr>
          <a:xfrm>
            <a:off x="7802575" y="3968699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10-dot313"/>
          <p:cNvSpPr/>
          <p:nvPr/>
        </p:nvSpPr>
        <p:spPr>
          <a:xfrm>
            <a:off x="8214055" y="3968699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10-dot314"/>
          <p:cNvSpPr/>
          <p:nvPr/>
        </p:nvSpPr>
        <p:spPr>
          <a:xfrm>
            <a:off x="8625535" y="3968699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10-dot315"/>
          <p:cNvSpPr/>
          <p:nvPr/>
        </p:nvSpPr>
        <p:spPr>
          <a:xfrm>
            <a:off x="9037015" y="3968699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10-dot316"/>
          <p:cNvSpPr/>
          <p:nvPr/>
        </p:nvSpPr>
        <p:spPr>
          <a:xfrm>
            <a:off x="9448495" y="3968699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10-dot317"/>
          <p:cNvSpPr/>
          <p:nvPr/>
        </p:nvSpPr>
        <p:spPr>
          <a:xfrm>
            <a:off x="9859975" y="3968699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10-dot318"/>
          <p:cNvSpPr/>
          <p:nvPr/>
        </p:nvSpPr>
        <p:spPr>
          <a:xfrm>
            <a:off x="10271455" y="3968699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10-group319"/>
          <p:cNvSpPr/>
          <p:nvPr/>
        </p:nvSpPr>
        <p:spPr>
          <a:xfrm>
            <a:off x="7340346" y="3515614"/>
            <a:ext cx="323697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7" name="S10-group320"/>
          <p:cNvSpPr/>
          <p:nvPr/>
        </p:nvSpPr>
        <p:spPr>
          <a:xfrm>
            <a:off x="7340346" y="3927094"/>
            <a:ext cx="323697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8" name="S10-figure321" descr="점 8개씩 2묶음, 16개"/>
          <p:cNvSpPr/>
          <p:nvPr/>
        </p:nvSpPr>
        <p:spPr>
          <a:xfrm>
            <a:off x="7312914" y="3479038"/>
            <a:ext cx="3291840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10-text322"/>
          <p:cNvSpPr txBox="1"/>
          <p:nvPr/>
        </p:nvSpPr>
        <p:spPr>
          <a:xfrm>
            <a:off x="6277356" y="4626356"/>
            <a:ext cx="5362956" cy="494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“4씩 2묶음이 두 개: 8 + 8”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1-text32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곱을 구하고, 어떻게 구했는지 말해요.</a:t>
            </a:r>
            <a:endParaRPr lang="ko-KR" sz="3200" dirty="0"/>
          </a:p>
        </p:txBody>
      </p:sp>
      <p:sp>
        <p:nvSpPr>
          <p:cNvPr id="4" name="S11-chip324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1-eqtext325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8 = □</a:t>
            </a:r>
            <a:endParaRPr lang="ko-KR" sz="3600" dirty="0"/>
          </a:p>
        </p:txBody>
      </p:sp>
      <p:sp>
        <p:nvSpPr>
          <p:cNvPr id="6" name="S11-chip326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11-eqtext327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× 9 = □</a:t>
            </a:r>
            <a:endParaRPr lang="ko-KR" sz="3600" dirty="0"/>
          </a:p>
        </p:txBody>
      </p:sp>
      <p:sp>
        <p:nvSpPr>
          <p:cNvPr id="8" name="S11-chip328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11-text329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7 = 28, 8 × 7은?</a:t>
            </a:r>
            <a:endParaRPr lang="ko-KR" sz="3200" dirty="0"/>
          </a:p>
        </p:txBody>
      </p:sp>
      <p:sp>
        <p:nvSpPr>
          <p:cNvPr id="10" name="S11-chip330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1" name="S11-text331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거미 8마리의 다리는?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400" dirty="0"/>
          </a:p>
        </p:txBody>
      </p:sp>
      <p:sp>
        <p:nvSpPr>
          <p:cNvPr id="3" name="S12-card33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33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문제는 다른 방법으로 다시 구하게 하세요.</a:t>
            </a:r>
            <a:endParaRPr lang="ko-KR" sz="3200" dirty="0"/>
          </a:p>
        </p:txBody>
      </p:sp>
      <p:sp>
        <p:nvSpPr>
          <p:cNvPr id="5" name="S12-chip334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2-text335"/>
          <p:cNvSpPr txBox="1"/>
          <p:nvPr/>
        </p:nvSpPr>
        <p:spPr>
          <a:xfrm>
            <a:off x="548640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32  ② 72</a:t>
            </a:r>
            <a:endParaRPr lang="ko-KR" sz="3200" dirty="0"/>
          </a:p>
        </p:txBody>
      </p:sp>
      <p:sp>
        <p:nvSpPr>
          <p:cNvPr id="7" name="S12-text336"/>
          <p:cNvSpPr txBox="1"/>
          <p:nvPr/>
        </p:nvSpPr>
        <p:spPr>
          <a:xfrm>
            <a:off x="3367278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8, 8 × 9</a:t>
            </a:r>
            <a:endParaRPr lang="ko-KR" sz="2600" dirty="0"/>
          </a:p>
        </p:txBody>
      </p:sp>
      <p:sp>
        <p:nvSpPr>
          <p:cNvPr id="8" name="S12-text337"/>
          <p:cNvSpPr txBox="1"/>
          <p:nvPr/>
        </p:nvSpPr>
        <p:spPr>
          <a:xfrm>
            <a:off x="548640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56</a:t>
            </a:r>
            <a:endParaRPr lang="ko-KR" sz="3200" dirty="0"/>
          </a:p>
        </p:txBody>
      </p:sp>
      <p:sp>
        <p:nvSpPr>
          <p:cNvPr id="9" name="S12-text338"/>
          <p:cNvSpPr txBox="1"/>
          <p:nvPr/>
        </p:nvSpPr>
        <p:spPr>
          <a:xfrm>
            <a:off x="3367278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 + 28</a:t>
            </a:r>
            <a:endParaRPr lang="ko-KR" sz="2600" dirty="0"/>
          </a:p>
        </p:txBody>
      </p:sp>
      <p:sp>
        <p:nvSpPr>
          <p:cNvPr id="10" name="S12-text339"/>
          <p:cNvSpPr txBox="1"/>
          <p:nvPr/>
        </p:nvSpPr>
        <p:spPr>
          <a:xfrm>
            <a:off x="548640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8 × 8 = 64</a:t>
            </a:r>
            <a:endParaRPr lang="ko-KR" sz="3200" dirty="0"/>
          </a:p>
        </p:txBody>
      </p:sp>
      <p:sp>
        <p:nvSpPr>
          <p:cNvPr id="11" name="S12-text340"/>
          <p:cNvSpPr txBox="1"/>
          <p:nvPr/>
        </p:nvSpPr>
        <p:spPr>
          <a:xfrm>
            <a:off x="3367278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다리 64개</a:t>
            </a:r>
            <a:endParaRPr lang="ko-KR" sz="2600" dirty="0"/>
          </a:p>
        </p:txBody>
      </p:sp>
      <p:sp>
        <p:nvSpPr>
          <p:cNvPr id="12" name="S12-chip341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3" name="S12-text342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32</a:t>
            </a:r>
            <a:endParaRPr lang="ko-KR" sz="3200" dirty="0"/>
          </a:p>
        </p:txBody>
      </p:sp>
      <p:sp>
        <p:nvSpPr>
          <p:cNvPr id="14" name="S12-text343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28에 4만 더함</a:t>
            </a:r>
            <a:endParaRPr lang="ko-KR" sz="2600" dirty="0"/>
          </a:p>
        </p:txBody>
      </p:sp>
      <p:sp>
        <p:nvSpPr>
          <p:cNvPr id="15" name="S12-text344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54</a:t>
            </a:r>
            <a:endParaRPr lang="ko-KR" sz="3200" dirty="0"/>
          </a:p>
        </p:txBody>
      </p:sp>
      <p:sp>
        <p:nvSpPr>
          <p:cNvPr id="16" name="S12-text345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덧셈 실수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방법은?</a:t>
            </a:r>
            <a:endParaRPr lang="ko-KR" sz="4400" dirty="0"/>
          </a:p>
        </p:txBody>
      </p:sp>
      <p:sp>
        <p:nvSpPr>
          <p:cNvPr id="3" name="S13-text34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6 = 24예요. 8 × 6을 구하는 식은?</a:t>
            </a:r>
            <a:endParaRPr lang="ko-KR" sz="3200" dirty="0"/>
          </a:p>
        </p:txBody>
      </p:sp>
      <p:sp>
        <p:nvSpPr>
          <p:cNvPr id="4" name="S13-card34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3-cardtext34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그 식인지 말해 보세요.</a:t>
            </a:r>
            <a:endParaRPr lang="ko-KR" sz="3200" dirty="0"/>
          </a:p>
        </p:txBody>
      </p:sp>
      <p:sp>
        <p:nvSpPr>
          <p:cNvPr id="6" name="S13-chip349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3-card350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3-cardtext351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 + 4</a:t>
            </a:r>
            <a:endParaRPr lang="ko-KR" sz="3200" dirty="0"/>
          </a:p>
        </p:txBody>
      </p:sp>
      <p:sp>
        <p:nvSpPr>
          <p:cNvPr id="9" name="S13-chip352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3-card353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3-cardtext354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 + 8</a:t>
            </a:r>
            <a:endParaRPr lang="ko-KR" sz="3200" dirty="0"/>
          </a:p>
        </p:txBody>
      </p:sp>
      <p:sp>
        <p:nvSpPr>
          <p:cNvPr id="12" name="S13-chip355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3-card356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3-cardtext357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 + 24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4-card358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359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8단의 곱은 4단 곱의 2배예요.</a:t>
            </a:r>
            <a:endParaRPr lang="ko-KR" sz="3200" dirty="0"/>
          </a:p>
        </p:txBody>
      </p:sp>
      <p:sp>
        <p:nvSpPr>
          <p:cNvPr id="5" name="S14-chip360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4단 곱을 두 번 더하기</a:t>
            </a:r>
            <a:endParaRPr lang="ko-KR" sz="2600" dirty="0"/>
          </a:p>
        </p:txBody>
      </p:sp>
      <p:sp>
        <p:nvSpPr>
          <p:cNvPr id="6" name="S14-chip361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4단 곱에 4만 더하기</a:t>
            </a:r>
            <a:endParaRPr lang="ko-KR" sz="2600" dirty="0"/>
          </a:p>
        </p:txBody>
      </p:sp>
      <p:sp>
        <p:nvSpPr>
          <p:cNvPr id="7" name="S14-text362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4-eqtext363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4 × 5 = □</a:t>
            </a:r>
            <a:endParaRPr lang="ko-KR" sz="3000" dirty="0"/>
          </a:p>
        </p:txBody>
      </p:sp>
      <p:sp>
        <p:nvSpPr>
          <p:cNvPr id="9" name="S14-eqtext364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8 × 7 = □</a:t>
            </a:r>
            <a:endParaRPr lang="ko-KR" sz="3000" dirty="0"/>
          </a:p>
        </p:txBody>
      </p:sp>
      <p:sp>
        <p:nvSpPr>
          <p:cNvPr id="10" name="S14-eqtext365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8 × 4 = □</a:t>
            </a:r>
            <a:endParaRPr lang="ko-KR" sz="3000" dirty="0"/>
          </a:p>
        </p:txBody>
      </p:sp>
      <p:sp>
        <p:nvSpPr>
          <p:cNvPr id="11" name="S14-text366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7단과 9단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3씩 두 개</a:t>
            </a:r>
            <a:endParaRPr lang="ko-KR" sz="4400" dirty="0"/>
          </a:p>
        </p:txBody>
      </p:sp>
      <p:sp>
        <p:nvSpPr>
          <p:cNvPr id="3" name="S15-text36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3씩 2묶음 두 개를 붙여요.</a:t>
            </a:r>
            <a:endParaRPr lang="ko-KR" sz="3200" dirty="0"/>
          </a:p>
        </p:txBody>
      </p:sp>
      <p:sp>
        <p:nvSpPr>
          <p:cNvPr id="4" name="S15-card368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369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+ 6 = 12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× 2는 3 × 2의 2배예요.</a:t>
            </a:r>
            <a:endParaRPr lang="ko-KR" sz="3200" dirty="0"/>
          </a:p>
        </p:txBody>
      </p:sp>
      <p:sp>
        <p:nvSpPr>
          <p:cNvPr id="6" name="S15-dot370"/>
          <p:cNvSpPr/>
          <p:nvPr/>
        </p:nvSpPr>
        <p:spPr>
          <a:xfrm>
            <a:off x="1571854" y="2644623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15-dot371"/>
          <p:cNvSpPr/>
          <p:nvPr/>
        </p:nvSpPr>
        <p:spPr>
          <a:xfrm>
            <a:off x="2120494" y="2644623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15-dot372"/>
          <p:cNvSpPr/>
          <p:nvPr/>
        </p:nvSpPr>
        <p:spPr>
          <a:xfrm>
            <a:off x="2669134" y="2644623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15-dot373"/>
          <p:cNvSpPr/>
          <p:nvPr/>
        </p:nvSpPr>
        <p:spPr>
          <a:xfrm>
            <a:off x="1571854" y="3193263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15-dot374"/>
          <p:cNvSpPr/>
          <p:nvPr/>
        </p:nvSpPr>
        <p:spPr>
          <a:xfrm>
            <a:off x="2120494" y="3193263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15-dot375"/>
          <p:cNvSpPr/>
          <p:nvPr/>
        </p:nvSpPr>
        <p:spPr>
          <a:xfrm>
            <a:off x="2669134" y="3193263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5-group376"/>
          <p:cNvSpPr/>
          <p:nvPr/>
        </p:nvSpPr>
        <p:spPr>
          <a:xfrm>
            <a:off x="1495044" y="2576957"/>
            <a:ext cx="1591056" cy="475488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3" name="S15-group377"/>
          <p:cNvSpPr/>
          <p:nvPr/>
        </p:nvSpPr>
        <p:spPr>
          <a:xfrm>
            <a:off x="1495044" y="3125597"/>
            <a:ext cx="1591056" cy="475488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4" name="S15-figure378" descr="주황 점 3개씩 2묶음, 6개"/>
          <p:cNvSpPr/>
          <p:nvPr/>
        </p:nvSpPr>
        <p:spPr>
          <a:xfrm>
            <a:off x="1467612" y="2540381"/>
            <a:ext cx="1645920" cy="1097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15-label379"/>
          <p:cNvSpPr txBox="1"/>
          <p:nvPr/>
        </p:nvSpPr>
        <p:spPr>
          <a:xfrm>
            <a:off x="548640" y="4239514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2</a:t>
            </a:r>
            <a:endParaRPr lang="ko-KR" sz="2600" dirty="0"/>
          </a:p>
        </p:txBody>
      </p:sp>
      <p:sp>
        <p:nvSpPr>
          <p:cNvPr id="16" name="S15-dot380"/>
          <p:cNvSpPr/>
          <p:nvPr/>
        </p:nvSpPr>
        <p:spPr>
          <a:xfrm>
            <a:off x="5375758" y="2644623"/>
            <a:ext cx="340157" cy="340157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15-dot381"/>
          <p:cNvSpPr/>
          <p:nvPr/>
        </p:nvSpPr>
        <p:spPr>
          <a:xfrm>
            <a:off x="5924398" y="2644623"/>
            <a:ext cx="340157" cy="340157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15-dot382"/>
          <p:cNvSpPr/>
          <p:nvPr/>
        </p:nvSpPr>
        <p:spPr>
          <a:xfrm>
            <a:off x="6473038" y="2644623"/>
            <a:ext cx="340157" cy="340157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15-dot383"/>
          <p:cNvSpPr/>
          <p:nvPr/>
        </p:nvSpPr>
        <p:spPr>
          <a:xfrm>
            <a:off x="5375758" y="3193263"/>
            <a:ext cx="340157" cy="340157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15-dot384"/>
          <p:cNvSpPr/>
          <p:nvPr/>
        </p:nvSpPr>
        <p:spPr>
          <a:xfrm>
            <a:off x="5924398" y="3193263"/>
            <a:ext cx="340157" cy="340157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15-dot385"/>
          <p:cNvSpPr/>
          <p:nvPr/>
        </p:nvSpPr>
        <p:spPr>
          <a:xfrm>
            <a:off x="6473038" y="3193263"/>
            <a:ext cx="340157" cy="340157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15-group386"/>
          <p:cNvSpPr/>
          <p:nvPr/>
        </p:nvSpPr>
        <p:spPr>
          <a:xfrm>
            <a:off x="5298948" y="2576957"/>
            <a:ext cx="1591056" cy="475488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3" name="S15-group387"/>
          <p:cNvSpPr/>
          <p:nvPr/>
        </p:nvSpPr>
        <p:spPr>
          <a:xfrm>
            <a:off x="5298948" y="3125597"/>
            <a:ext cx="1591056" cy="475488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4" name="S15-figure388" descr="파란 점 3개씩 2묶음, 6개"/>
          <p:cNvSpPr/>
          <p:nvPr/>
        </p:nvSpPr>
        <p:spPr>
          <a:xfrm>
            <a:off x="5271516" y="2540381"/>
            <a:ext cx="1645920" cy="1097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15-label389"/>
          <p:cNvSpPr txBox="1"/>
          <p:nvPr/>
        </p:nvSpPr>
        <p:spPr>
          <a:xfrm>
            <a:off x="4352544" y="4239514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2</a:t>
            </a:r>
            <a:endParaRPr lang="ko-KR" sz="2600" dirty="0"/>
          </a:p>
        </p:txBody>
      </p:sp>
      <p:sp>
        <p:nvSpPr>
          <p:cNvPr id="26" name="S15-dot390"/>
          <p:cNvSpPr/>
          <p:nvPr/>
        </p:nvSpPr>
        <p:spPr>
          <a:xfrm>
            <a:off x="8356702" y="2644623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15-dot391"/>
          <p:cNvSpPr/>
          <p:nvPr/>
        </p:nvSpPr>
        <p:spPr>
          <a:xfrm>
            <a:off x="8905342" y="2644623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15-dot392"/>
          <p:cNvSpPr/>
          <p:nvPr/>
        </p:nvSpPr>
        <p:spPr>
          <a:xfrm>
            <a:off x="9453982" y="2644623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15-dot393"/>
          <p:cNvSpPr/>
          <p:nvPr/>
        </p:nvSpPr>
        <p:spPr>
          <a:xfrm>
            <a:off x="10002622" y="2644623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15-dot394"/>
          <p:cNvSpPr/>
          <p:nvPr/>
        </p:nvSpPr>
        <p:spPr>
          <a:xfrm>
            <a:off x="10551262" y="2644623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15-dot395"/>
          <p:cNvSpPr/>
          <p:nvPr/>
        </p:nvSpPr>
        <p:spPr>
          <a:xfrm>
            <a:off x="11099902" y="2644623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15-dot396"/>
          <p:cNvSpPr/>
          <p:nvPr/>
        </p:nvSpPr>
        <p:spPr>
          <a:xfrm>
            <a:off x="8356702" y="3193263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15-dot397"/>
          <p:cNvSpPr/>
          <p:nvPr/>
        </p:nvSpPr>
        <p:spPr>
          <a:xfrm>
            <a:off x="8905342" y="3193263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15-dot398"/>
          <p:cNvSpPr/>
          <p:nvPr/>
        </p:nvSpPr>
        <p:spPr>
          <a:xfrm>
            <a:off x="9453982" y="3193263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5" name="S15-dot399"/>
          <p:cNvSpPr/>
          <p:nvPr/>
        </p:nvSpPr>
        <p:spPr>
          <a:xfrm>
            <a:off x="10002622" y="3193263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15-dot400"/>
          <p:cNvSpPr/>
          <p:nvPr/>
        </p:nvSpPr>
        <p:spPr>
          <a:xfrm>
            <a:off x="10551262" y="3193263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7" name="S15-dot401"/>
          <p:cNvSpPr/>
          <p:nvPr/>
        </p:nvSpPr>
        <p:spPr>
          <a:xfrm>
            <a:off x="11099902" y="3193263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8" name="S15-group402"/>
          <p:cNvSpPr/>
          <p:nvPr/>
        </p:nvSpPr>
        <p:spPr>
          <a:xfrm>
            <a:off x="8279892" y="2576957"/>
            <a:ext cx="3236976" cy="475488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9" name="S15-group403"/>
          <p:cNvSpPr/>
          <p:nvPr/>
        </p:nvSpPr>
        <p:spPr>
          <a:xfrm>
            <a:off x="8279892" y="3125597"/>
            <a:ext cx="3236976" cy="475488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0" name="S15-figure404" descr="점 6개씩 2묶음, 12개"/>
          <p:cNvSpPr/>
          <p:nvPr/>
        </p:nvSpPr>
        <p:spPr>
          <a:xfrm>
            <a:off x="8252460" y="2540381"/>
            <a:ext cx="3291840" cy="1097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S15-label405"/>
          <p:cNvSpPr txBox="1"/>
          <p:nvPr/>
        </p:nvSpPr>
        <p:spPr>
          <a:xfrm>
            <a:off x="8156448" y="4239514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× 2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수학 4단과 8단</dc:title>
  <dc:subject>KR22-G02-MAT-TIMES48-L01</dc:subject>
  <dc:creator>education-ppt</dc:creator>
  <cp:lastModifiedBy>education-ppt</cp:lastModifiedBy>
  <cp:revision>1</cp:revision>
  <dcterms:created xsi:type="dcterms:W3CDTF">2026-10-26T06:51:42Z</dcterms:created>
  <dcterms:modified xsi:type="dcterms:W3CDTF">2026-10-26T06:51:42Z</dcterms:modified>
</cp:coreProperties>
</file>