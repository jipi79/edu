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40a4c35-7d30-9157-7258-a486d45685e5}">
          <p14:sldIdLst>
            <p14:sldId id="256"/>
            <p14:sldId id="257"/>
          </p14:sldIdLst>
        </p14:section>
        <p14:section name="개념" id="{b8721396-2d02-2827-5e4d-03155df5bf89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5b536de6-d1f9-9090-7f00-fa8503519f47}">
          <p14:sldIdLst>
            <p14:sldId id="263"/>
            <p14:sldId id="264"/>
            <p14:sldId id="265"/>
          </p14:sldIdLst>
        </p14:section>
        <p14:section name="확인" id="{f517e0d2-73b2-6704-e408-cf6a0910ed6b}">
          <p14:sldIdLst>
            <p14:sldId id="266"/>
            <p14:sldId id="267"/>
            <p14:sldId id="268"/>
          </p14:sldIdLst>
        </p14:section>
        <p14:section name="정리" id="{178cfed7-83b1-9b03-64fb-be24299e422d}">
          <p14:sldIdLst>
            <p14:sldId id="269"/>
          </p14:sldIdLst>
        </p14:section>
        <p14:section name="보충" id="{8b83dc86-2e5c-c8ef-3ea3-53e0d905c1a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빈 접시처럼 ‘0’이 있는 곱셈을 궁금하게 합니다.
시간: 약 2분
이렇게 말해 보세요
- “지금까지 2단부터 9단까지 만들었지? 오늘은 1단과 0이 있는 곱셈, 그리고 곱셈구구를 한눈에 보는 곱셈표를 볼 거야.”
- “오른쪽은 빈 접시 3개야. 접시에 든 것은 모두 몇 개일까?”
예상 답
- “0개요.” 또는 “3개요.” (S04에서 확인합니다)
막히면
- 답을 확인하지 말고 넘어갑니다.
주의
- 곱셈표는 1단부터 9단까지의 곱을 한 표에 모은 것입니다. 오늘 S08에서 완성합니다.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확인(여러 단의 곱셈구구)]
목적: 곱셈표를 채우기 전에 지난 시간의 7단·9단과 앞에서 배운 단을 기억하는지 확인합니다.
시간: 약 3분
이렇게 말해 보세요
- “네 문제의 곱을 말해 볼래? 생각나지 않으면 어떻게 구할 수 있을까?”
정답
- ① 42
- ② 72
- ③ 15
- ④ 24
막히면
- ①은 5 × 6과 2 × 6을 더해(30 + 12), ②는 10칸씩 8줄에서 8을 빼서(80 − 8) 구하게 합니다.
- 두 문제 이상 틀리면 S15(보충)를 먼저 합니다. 보충으로도 어려우면 10차시 ‘7단과 9단’(KR22-G02-MAT-TIMES79-L01)을 다시 합니다.
주의
- 곱이 바로 나오지 않아도 방법을 알면 괜찮습니다. 오늘 곱셈표를 채우며 다시 익힙니다.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1단 곱셈구구와 1을 곱하기]
목적: 1단 곱셈구구는 곱이 묶음 수와 같고, 어떤 수에 1을 곱하면 그 수 그대로라는 것을 묶음으로 압니다.
시간: 약 3분
이렇게 말해 보세요
- “접시마다 1개씩, 접시가 4개야. 1씩 4묶음이니까 1 × 4. 모두 몇 개야?”
- “이번엔 한 접시에 4개를 담았어. 4씩 1묶음, 4 × 1이야. 몇 개야?”
예상 답
- “4개요.”
- “4개요. 둘 다 4예요.”
막히면
- 접시 4개에 바둑돌을 1개씩 놓아 세고, 다시 한 접시에 4개를 모아 세어 봅니다.
- 5 × 1을 1이라고 하면 바둑돌 5개를 한 접시에 담아 세게 합니다(M2).
주의
- 1단의 곱은 1, 2, 3, …, 9로 1씩 커집니다. 1 × 9 = 9까지 함께 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0과 어떤 수의 곱]
목적: 0씩 몇 묶음, 몇씩 0묶음은 모두 0이라는 것을 빈 접시로 압니다.
시간: 약 3분
이렇게 말해 보세요
- “접시가 4개인데 모두 비었어. 한 접시에 0개씩, 4접시. 0 × 4야. 모두 몇 개야?”
- “이번에는 4개씩 담을 건데 접시가 하나도 없어. 4씩 0묶음, 4 × 0이야. 몇 개가 있을까?”
예상 답
- “0개요.”
- “0개요. 접시가 없으니까요.”
막히면
- 실제 빈 접시 4개를 보여 주고 “여기 바둑돌이 몇 개 있어?”라고 묻습니다.
- 수직선에서 0씩 뛰면 제자리(0)에 그대로 있다는 것을 손가락으로 보여 줍니다.
주의
- 0이 하나라도 있는 곱은 언제나 0입니다. 덧셈(4 + 0 = 4)과 다르다는 것은 S06에서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고리 던지기 점수로 1과 0의 곱 구하기]
목적: 점수 상황에서 1과 0이 있는 곱을 구합니다. 1점 칸, 0점 칸, 0번 걸린 칸을 모두 다룹니다.
시간: 약 3분
이렇게 말해 보세요
- “1점 칸에 고리가 4번 걸렸어. 1점씩 4번이니까 몇 점이야?”
- “0점 칸에 3번 걸리면? 2점 칸에 한 번도 안 걸리면(0번) 몇 점이야? 모두 더하면 몇 점이야?”
정답
- 1 × 4 = 4점, 3 × 1 = 3점, 0 × 3 = 0점, 2 × 0 = 0점
- 모두 4 + 3 + 0 + 0 = 7점
막히면
- 종이 점수판 위에 바둑돌을 고리처럼 올려 직접 점수를 셉니다.
- 2 × 0을 2라고 하면 “2점 칸에 고리가 걸렸어?”라고 묻습니다.
주의
- 점수판을 종이에 그려 실제로 놀이처럼 해도 좋습니다. 고리 대신 바둑돌을 던져도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비교(3 × 0을 3으로)]
목적: 0을 곱하는 것과 0을 더하는 것을 헷갈리는 실수를 바로잡습니다(M1).
시간: 약 3분
이렇게 말해 보세요
- “토끼와 곰이 3 × 0을 계산했는데 답이 달라. 누가 맞았을까?”
- “3 × 0은 3씩 몇 묶음이야? 묶음이 하나도 없으면 바둑돌은 몇 개야?”
예상 답
- “곰이요. 3씩 담을 접시가 하나도 없으니까 0이에요.”
정답
- 곰이 맞습니다. 3 × 0 = 0입니다.
- 토끼는 덧셈 3 + 0 = 3과 헷갈렸습니다. 곱셈에서 0묶음은 아무것도 없으므로 0입니다.
막히면
- 3 + 0은 ‘3개에 0개를 더 놓기’, 3 × 0은 ‘3개씩 담은 접시가 0개’로 두 가지를 바둑돌로 나란히 해 봅니다.
주의
- 지치면 여기서 쉬고, 다음에 S07(곱셈표)부터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곱셈표 읽는 방법]
목적: 곱셈표에서 왼쪽 수(곱해지는 수)와 위쪽 수(곱하는 수)가 만나는 칸에 곱이 있다는 것을 압니다.
시간: 약 2분
이렇게 말해 보세요
- “왼쪽에서 3을 찾고 손가락을 오른쪽으로 움직여. 다른 손가락은 위쪽 4에서 아래로. 두 손가락이 만나는 칸에 뭐가 있어?”
- “3의 줄을 읽어 볼까? 3, 6, 9, 12, 15. 몇씩 커져?”
예상 답
- “12요. 3 × 4 = 12예요.”
- “3씩 커져요.”
막히면
- 종이를 대어 3의 줄만 보이게 하고 읽습니다(M3).
주의
- 이 표는 1단부터 5단까지, 곱하는 수 1부터 5까지만 보여 줍니다. S08에서 9까지 모두 채웁니다.
- 가로줄마다 곱이 단의 수만큼 커지는 것이 첫 번째 규칙입니다.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곱셈표 완성하기]
목적: 1단부터 9단까지의 곱셈표 빈칸을 채우며 곱셈구구 전체를 다시 확인합니다.
시간: 약 5분
이렇게 말해 보세요
- “빈칸이 10개 있어. 하나씩 손가락 두 개로 찾아서 곱을 말해 줘.”
- “생각나지 않으면 같은 줄의 앞의 곱에 단의 수를 더해 봐.”
정답
- 3 × 9 = 27, 4 × 8 = 32, 6 × 7 = 42, 6 × 9 = 54, 7 × 6 = 42, 7 × 7 = 49, 8 × 4 = 32, 8 × 8 = 64, 9 × 3 = 27, 9 × 6 = 54
막히면
- 빈칸 바로 왼쪽의 곱에 그 줄의 단의 수를 더하게 합니다(예: 7의 줄 6칸은 35 + 7 = 42).
- 같은 곱이 짝으로 있는 빈칸(6 × 7과 7 × 6 등)은 하나를 구하면 다른 하나도 알 수 있다는 것을 S09에서 확인합니다.
주의
- 아이가 활동지에 곱셈표를 따로 써 보게 해도 좋습니다. 시간이 오래 걸리면 빈칸 절반만 하고 나머지는 활동지로 넘깁니다.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순서를 바꾸어도 곱이 같음(점 배열)]
목적: 점 배열을 돌려 보며 곱하는 두 수의 순서를 바꾸어도 곱이 같다는 규칙을 찾고, 곱셈표에서 확인합니다.
시간: 약 3분
이렇게 말해 보세요
- “왼쪽은 7씩 3묶음, 오른쪽은 3씩 7묶음이야. 오른쪽을 옆으로 눕히면 왼쪽과 같아질까? 점은 각각 몇 개야?”
- “S08의 곱셈표에서 7의 줄 3칸과 3의 줄 7칸을 찾아볼까? 둘 다 얼마야?”
예상 답
- “둘 다 21개요. 돌리면 똑같아요.”
막히면
- 바둑돌 21개를 7개씩 3줄로 놓았다가 그대로 판을 돌려 3개씩 7줄로 보이게 합니다.
주의
- 7씩 3묶음과 3씩 7묶음은 뜻은 다르지만 곱은 같습니다. 그래서 곱셈표는 왼쪽 위에서 오른쪽 아래로 그은 선을 기준으로 같은 수가 마주 봅니다.
- 이 규칙을 쓰면 외울 곱셈구구가 거의 반으로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곱셈표의 규칙 쓰기]
목적: 곱셈표에서 찾은 규칙으로 곱을 구하고, 같은 곱을 찾고, 짝수 규칙을 말합니다.
시간: 약 3분
이렇게 말해 보세요
- “①은 순서를 바꾼 곱셈이야. 다시 계산하지 않아도 알 수 있을까?”
- “②는 곱셈표에서 12를 모두 찾아봐. ③ 6단의 곱 6, 12, 18…은 짝수일까, 홀수일까?”
정답
- ① 36
- ② 2 × 6, 3 × 4, 4 × 3, 6 × 2 (네 개)
- ③ 짝수. 6, 12, 18, 24, 30, 36, 42, 48, 54는 모두 짝수입니다(2·4·6·8단의 곱도 모두 짝수).
막히면
- ②는 곱셈표에서 12에 바둑돌을 하나씩 올려 놓고 왼쪽 수와 위쪽 수를 읽게 합니다.
- ③은 일의 자리가 0, 2, 4, 6, 8이면 짝수라는 1학년 내용을 떠올리게 합니다.
주의
- ②에서 2 × 6과 6 × 2를 하나로 셌다면 “순서가 다르면 다른 칸이야”라고 알려 주고 네 개 모두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1과 0이 있는 곱과 순서를 바꾼 곱을 구할 수 있는지 확인합니다.
시간: 약 4분
이렇게 말해 보세요
- “이번에는 혼자 해 볼래? 답을 말하고 어떻게 알았는지도 말해 줘.”
정답
- ① 7
- ② 0
- ③ 0
- ④ 48 (순서를 바꾸어도 곱이 같음)
막히면
- 바로 알려 주지 말고 “몇씩 몇 묶음이야?”라고만 묻습니다.
- 도움을 받아 해결했다면 기록표에 ‘도움’으로 표시합니다.
주의
- ②를 9라고 답하면 S06의 토끼와 같은 실수입니다. 까닭을 말하게 한 뒤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접시로 다시 해 보자.”
정답
- ① 7 ② 0 ③ 0 ④ 48
막히면
- ②가 9이면 S06의 토끼와 곰을 다시 봅니다(M1).
- ①이 1이면 S03처럼 접시 7개에 1개씩 놓아 셉니다(M2).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확인(곱이 같은 칸 찾기)]
목적: 처음 보는 물음에서 순서를 바꾸어도 곱이 같다는 규칙을 쓰는지 확인합니다.
시간: 약 2분
이렇게 말해 보세요
- “3 × 8과 곱이 같은 것은 어느 것일까? 계산하지 않고도 알 수 있을까?”
정답
- 가(8 × 3). 순서를 바꾸어도 곱은 24로 같습니다.
- 나(3 × 9 = 27), 다(4 × 8 = 32)는 곱이 다릅니다.
막히면
- 곱셈표에서 3 × 8과 각 보기의 칸을 손가락으로 찾아 수를 비교합니다.
주의
- 아이가 ‘4 × 6, 6 × 4도 24예요’라고 말하면 크게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“어떤 수에 1을 곱하면? 0을 곱하면?”
- “곱셈표에서 찾은 규칙을 하나 말해 볼래?”
예상 답
- “1을 곱하면 그 수 그대로, 0을 곱하면 0이에요.”
- “순서를 바꾸어도 곱이 같아요.” “줄마다 단의 수만큼 커져요.”
정답
- ① 6 ② 0 ③ 63
막히면
- S04의 빈 접시와 S09의 점 배열을 다시 보여 줍니다.
주의
- 복습 세 문제는 다음 수업을 시작할 때 활동지 마지막 쪽과 함께 풉니다.
- 곱셈구구 단원은 오늘로 끝납니다. 다음 차시(여러 가지 도형)를 하는 동안에도 하루 5분씩 곱셈표를 소리 내어 읽으면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보충(아는 곱에서 이어 가기)]
목적: S02에서 곱셈구구가 흔들리면, 외운 곱이 없어도 아는 곱에서 한 번 더 뛰어 다음 곱을 구하는 방법을 연습합니다.
시간: 약 5분
이렇게 말해 보세요
- “7 × 5는 35야. 7 × 6은 7씩 한 묶음 더니까 35에서 7만큼 뛰면 돼. 어디야?”
- “이번에는 9 × 5 = 45에서 9만큼 뛰어 9 × 6을 구해 볼까?”
정답
- 7 × 6 = 42 (35 + 7)
- 9 × 6 = 54 (45 + 9)
막히면
- 더하기가 어려우면 바둑돌 묶음을 하나 더 놓고 이어 셉니다.
- 5단(7 × 5, 9 × 5)부터 흔들리면 7차시 ‘2단과 5단’(KR22-G02-MAT-TIMES25-L01)을 먼저 봅니다.
주의
- 보충으로도 어려우면 10차시 ‘7단과 9단’(KR22-G02-MAT-TIMES79-L01)을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11차시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1과 0의 곱, 곱셈표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1과 0의 곱, 곱셈표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1과 0의 곱, 곱셈표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0의 곱, 곱셈표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접시가 모두 비면 곱은 얼마일까?</a:t>
            </a:r>
            <a:endParaRPr lang="ko-KR" sz="3200" dirty="0"/>
          </a:p>
        </p:txBody>
      </p:sp>
      <p:sp>
        <p:nvSpPr>
          <p:cNvPr id="4" name="S01-group1"/>
          <p:cNvSpPr/>
          <p:nvPr/>
        </p:nvSpPr>
        <p:spPr>
          <a:xfrm>
            <a:off x="8714232" y="117957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" name="S01-group2"/>
          <p:cNvSpPr/>
          <p:nvPr/>
        </p:nvSpPr>
        <p:spPr>
          <a:xfrm>
            <a:off x="8714232" y="181965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" name="S01-group3"/>
          <p:cNvSpPr/>
          <p:nvPr/>
        </p:nvSpPr>
        <p:spPr>
          <a:xfrm>
            <a:off x="8714232" y="2459736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" name="S01-figure4" descr="비어 있는 묶음(접시) 3개"/>
          <p:cNvSpPr/>
          <p:nvPr/>
        </p:nvSpPr>
        <p:spPr>
          <a:xfrm>
            <a:off x="8686800" y="1143000"/>
            <a:ext cx="192024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01-card5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1을 곱할 때와 0을 곱할 때를 알아요.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곱셈표를 완성하고 규칙을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6 = □</a:t>
            </a:r>
            <a:endParaRPr lang="ko-KR" sz="3600" dirty="0"/>
          </a:p>
        </p:txBody>
      </p:sp>
      <p:sp>
        <p:nvSpPr>
          <p:cNvPr id="5" name="S02-chip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8 = □</a:t>
            </a:r>
            <a:endParaRPr lang="ko-KR" sz="3600" dirty="0"/>
          </a:p>
        </p:txBody>
      </p:sp>
      <p:sp>
        <p:nvSpPr>
          <p:cNvPr id="7" name="S02-chip1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1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= □</a:t>
            </a:r>
            <a:endParaRPr lang="ko-KR" sz="3600" dirty="0"/>
          </a:p>
        </p:txBody>
      </p:sp>
      <p:sp>
        <p:nvSpPr>
          <p:cNvPr id="9" name="S02-chip1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eqtext1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1씩 묶어 세요</a:t>
            </a:r>
            <a:endParaRPr lang="ko-KR" sz="4400" dirty="0"/>
          </a:p>
        </p:txBody>
      </p:sp>
      <p:sp>
        <p:nvSpPr>
          <p:cNvPr id="3" name="S03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접시마다 1개씩 담았어요.</a:t>
            </a:r>
            <a:endParaRPr lang="ko-KR" sz="3200" dirty="0"/>
          </a:p>
        </p:txBody>
      </p:sp>
      <p:sp>
        <p:nvSpPr>
          <p:cNvPr id="4" name="S03-card1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4 = 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1묶음도 4예요. 4 × 1 = 4</a:t>
            </a:r>
            <a:endParaRPr lang="ko-KR" sz="3200" dirty="0"/>
          </a:p>
        </p:txBody>
      </p:sp>
      <p:sp>
        <p:nvSpPr>
          <p:cNvPr id="6" name="S03-dot18"/>
          <p:cNvSpPr/>
          <p:nvPr/>
        </p:nvSpPr>
        <p:spPr>
          <a:xfrm>
            <a:off x="308564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19"/>
          <p:cNvSpPr/>
          <p:nvPr/>
        </p:nvSpPr>
        <p:spPr>
          <a:xfrm>
            <a:off x="308564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20"/>
          <p:cNvSpPr/>
          <p:nvPr/>
        </p:nvSpPr>
        <p:spPr>
          <a:xfrm>
            <a:off x="308564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21"/>
          <p:cNvSpPr/>
          <p:nvPr/>
        </p:nvSpPr>
        <p:spPr>
          <a:xfrm>
            <a:off x="308564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group22"/>
          <p:cNvSpPr/>
          <p:nvPr/>
        </p:nvSpPr>
        <p:spPr>
          <a:xfrm>
            <a:off x="3017520" y="2119757"/>
            <a:ext cx="4480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1" name="S03-group23"/>
          <p:cNvSpPr/>
          <p:nvPr/>
        </p:nvSpPr>
        <p:spPr>
          <a:xfrm>
            <a:off x="3017520" y="2622677"/>
            <a:ext cx="4480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2" name="S03-group24"/>
          <p:cNvSpPr/>
          <p:nvPr/>
        </p:nvSpPr>
        <p:spPr>
          <a:xfrm>
            <a:off x="3017520" y="3125597"/>
            <a:ext cx="4480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03-group25"/>
          <p:cNvSpPr/>
          <p:nvPr/>
        </p:nvSpPr>
        <p:spPr>
          <a:xfrm>
            <a:off x="3017520" y="3628517"/>
            <a:ext cx="4480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3-figure26" descr="1개씩 4묶음, 점 4개"/>
          <p:cNvSpPr/>
          <p:nvPr/>
        </p:nvSpPr>
        <p:spPr>
          <a:xfrm>
            <a:off x="2990088" y="2083181"/>
            <a:ext cx="5029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3-label2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1씩 4묶음</a:t>
            </a:r>
            <a:endParaRPr lang="ko-KR" sz="2600" dirty="0"/>
          </a:p>
        </p:txBody>
      </p:sp>
      <p:sp>
        <p:nvSpPr>
          <p:cNvPr id="16" name="S03-line28"/>
          <p:cNvSpPr/>
          <p:nvPr/>
        </p:nvSpPr>
        <p:spPr>
          <a:xfrm>
            <a:off x="6391656" y="3347583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7" name="S03-line29"/>
          <p:cNvSpPr/>
          <p:nvPr/>
        </p:nvSpPr>
        <p:spPr>
          <a:xfrm>
            <a:off x="6665976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abel30"/>
          <p:cNvSpPr txBox="1"/>
          <p:nvPr/>
        </p:nvSpPr>
        <p:spPr>
          <a:xfrm>
            <a:off x="6208776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9" name="S03-line31"/>
          <p:cNvSpPr/>
          <p:nvPr/>
        </p:nvSpPr>
        <p:spPr>
          <a:xfrm>
            <a:off x="7172960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32"/>
          <p:cNvSpPr txBox="1"/>
          <p:nvPr/>
        </p:nvSpPr>
        <p:spPr>
          <a:xfrm>
            <a:off x="6715760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1" name="S03-line33"/>
          <p:cNvSpPr/>
          <p:nvPr/>
        </p:nvSpPr>
        <p:spPr>
          <a:xfrm>
            <a:off x="7679944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abel34"/>
          <p:cNvSpPr txBox="1"/>
          <p:nvPr/>
        </p:nvSpPr>
        <p:spPr>
          <a:xfrm>
            <a:off x="7222744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3" name="S03-line35"/>
          <p:cNvSpPr/>
          <p:nvPr/>
        </p:nvSpPr>
        <p:spPr>
          <a:xfrm>
            <a:off x="8186928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36"/>
          <p:cNvSpPr txBox="1"/>
          <p:nvPr/>
        </p:nvSpPr>
        <p:spPr>
          <a:xfrm>
            <a:off x="7729728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5" name="S03-line37"/>
          <p:cNvSpPr/>
          <p:nvPr/>
        </p:nvSpPr>
        <p:spPr>
          <a:xfrm>
            <a:off x="8693912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abel38"/>
          <p:cNvSpPr txBox="1"/>
          <p:nvPr/>
        </p:nvSpPr>
        <p:spPr>
          <a:xfrm>
            <a:off x="8236712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7" name="S03-line39"/>
          <p:cNvSpPr/>
          <p:nvPr/>
        </p:nvSpPr>
        <p:spPr>
          <a:xfrm>
            <a:off x="9200896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3-label40"/>
          <p:cNvSpPr txBox="1"/>
          <p:nvPr/>
        </p:nvSpPr>
        <p:spPr>
          <a:xfrm>
            <a:off x="8743696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9" name="S03-line41"/>
          <p:cNvSpPr/>
          <p:nvPr/>
        </p:nvSpPr>
        <p:spPr>
          <a:xfrm>
            <a:off x="9707880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3-label42"/>
          <p:cNvSpPr txBox="1"/>
          <p:nvPr/>
        </p:nvSpPr>
        <p:spPr>
          <a:xfrm>
            <a:off x="9250680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31" name="S03-line43"/>
          <p:cNvSpPr/>
          <p:nvPr/>
        </p:nvSpPr>
        <p:spPr>
          <a:xfrm>
            <a:off x="10214864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3-label44"/>
          <p:cNvSpPr txBox="1"/>
          <p:nvPr/>
        </p:nvSpPr>
        <p:spPr>
          <a:xfrm>
            <a:off x="9757664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33" name="S03-line45"/>
          <p:cNvSpPr/>
          <p:nvPr/>
        </p:nvSpPr>
        <p:spPr>
          <a:xfrm>
            <a:off x="10721848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3-label46"/>
          <p:cNvSpPr txBox="1"/>
          <p:nvPr/>
        </p:nvSpPr>
        <p:spPr>
          <a:xfrm>
            <a:off x="10264648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35" name="S03-line47"/>
          <p:cNvSpPr/>
          <p:nvPr/>
        </p:nvSpPr>
        <p:spPr>
          <a:xfrm>
            <a:off x="11228832" y="3201279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3-label48"/>
          <p:cNvSpPr txBox="1"/>
          <p:nvPr/>
        </p:nvSpPr>
        <p:spPr>
          <a:xfrm>
            <a:off x="10771632" y="3530463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37" name="S03-mark49"/>
          <p:cNvSpPr/>
          <p:nvPr/>
        </p:nvSpPr>
        <p:spPr>
          <a:xfrm>
            <a:off x="8602472" y="3256143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8" name="S03-line50"/>
          <p:cNvSpPr/>
          <p:nvPr/>
        </p:nvSpPr>
        <p:spPr>
          <a:xfrm flipV="1">
            <a:off x="6665976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9" name="S03-line51"/>
          <p:cNvSpPr/>
          <p:nvPr/>
        </p:nvSpPr>
        <p:spPr>
          <a:xfrm>
            <a:off x="6665976" y="2963535"/>
            <a:ext cx="506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0" name="S03-label52"/>
          <p:cNvSpPr txBox="1"/>
          <p:nvPr/>
        </p:nvSpPr>
        <p:spPr>
          <a:xfrm>
            <a:off x="6665976" y="2582027"/>
            <a:ext cx="5069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1" name="S03-line53"/>
          <p:cNvSpPr/>
          <p:nvPr/>
        </p:nvSpPr>
        <p:spPr>
          <a:xfrm flipV="1">
            <a:off x="7172960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2" name="S03-line54"/>
          <p:cNvSpPr/>
          <p:nvPr/>
        </p:nvSpPr>
        <p:spPr>
          <a:xfrm>
            <a:off x="7172960" y="2963535"/>
            <a:ext cx="506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3" name="S03-label55"/>
          <p:cNvSpPr txBox="1"/>
          <p:nvPr/>
        </p:nvSpPr>
        <p:spPr>
          <a:xfrm>
            <a:off x="7172960" y="2582027"/>
            <a:ext cx="5069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4" name="S03-line56"/>
          <p:cNvSpPr/>
          <p:nvPr/>
        </p:nvSpPr>
        <p:spPr>
          <a:xfrm flipV="1">
            <a:off x="7679944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5" name="S03-line57"/>
          <p:cNvSpPr/>
          <p:nvPr/>
        </p:nvSpPr>
        <p:spPr>
          <a:xfrm>
            <a:off x="7679944" y="2963535"/>
            <a:ext cx="506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6" name="S03-label58"/>
          <p:cNvSpPr txBox="1"/>
          <p:nvPr/>
        </p:nvSpPr>
        <p:spPr>
          <a:xfrm>
            <a:off x="7679944" y="2582027"/>
            <a:ext cx="5069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7" name="S03-line59"/>
          <p:cNvSpPr/>
          <p:nvPr/>
        </p:nvSpPr>
        <p:spPr>
          <a:xfrm flipV="1">
            <a:off x="8186928" y="2963535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8" name="S03-line60"/>
          <p:cNvSpPr/>
          <p:nvPr/>
        </p:nvSpPr>
        <p:spPr>
          <a:xfrm>
            <a:off x="8186928" y="2963535"/>
            <a:ext cx="50698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9" name="S03-label61"/>
          <p:cNvSpPr txBox="1"/>
          <p:nvPr/>
        </p:nvSpPr>
        <p:spPr>
          <a:xfrm>
            <a:off x="8186928" y="2582027"/>
            <a:ext cx="50698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50" name="S03-figure62" descr="0부터 9까지 수직선에서 0부터 1씩 4번 뛰어 4에 닿는 화살표"/>
          <p:cNvSpPr/>
          <p:nvPr/>
        </p:nvSpPr>
        <p:spPr>
          <a:xfrm>
            <a:off x="6391656" y="3164703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03-label6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1씩 4번 뛰기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있는 곱셈</a:t>
            </a:r>
            <a:endParaRPr lang="ko-KR" sz="4400" dirty="0"/>
          </a:p>
        </p:txBody>
      </p:sp>
      <p:sp>
        <p:nvSpPr>
          <p:cNvPr id="3" name="S04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접시 4개가 모두 비었어요.</a:t>
            </a:r>
            <a:endParaRPr lang="ko-KR" sz="3200" dirty="0"/>
          </a:p>
        </p:txBody>
      </p:sp>
      <p:sp>
        <p:nvSpPr>
          <p:cNvPr id="4" name="S04-group65"/>
          <p:cNvSpPr/>
          <p:nvPr/>
        </p:nvSpPr>
        <p:spPr>
          <a:xfrm>
            <a:off x="2297430" y="2611755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" name="S04-group66"/>
          <p:cNvSpPr/>
          <p:nvPr/>
        </p:nvSpPr>
        <p:spPr>
          <a:xfrm>
            <a:off x="2297430" y="3251835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" name="S04-group67"/>
          <p:cNvSpPr/>
          <p:nvPr/>
        </p:nvSpPr>
        <p:spPr>
          <a:xfrm>
            <a:off x="2297430" y="3891915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" name="S04-group68"/>
          <p:cNvSpPr/>
          <p:nvPr/>
        </p:nvSpPr>
        <p:spPr>
          <a:xfrm>
            <a:off x="2297430" y="4531995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" name="S04-figure69" descr="비어 있는 묶음(접시) 4개, 점 0개"/>
          <p:cNvSpPr/>
          <p:nvPr/>
        </p:nvSpPr>
        <p:spPr>
          <a:xfrm>
            <a:off x="2269998" y="2575179"/>
            <a:ext cx="1920240" cy="2560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4-label70"/>
          <p:cNvSpPr txBox="1"/>
          <p:nvPr/>
        </p:nvSpPr>
        <p:spPr>
          <a:xfrm>
            <a:off x="548640" y="577215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접시 4개</a:t>
            </a:r>
            <a:endParaRPr lang="ko-KR" sz="2600" dirty="0"/>
          </a:p>
        </p:txBody>
      </p:sp>
      <p:sp>
        <p:nvSpPr>
          <p:cNvPr id="10" name="S04-card71"/>
          <p:cNvSpPr/>
          <p:nvPr/>
        </p:nvSpPr>
        <p:spPr>
          <a:xfrm>
            <a:off x="6277356" y="269646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72"/>
          <p:cNvSpPr txBox="1"/>
          <p:nvPr/>
        </p:nvSpPr>
        <p:spPr>
          <a:xfrm>
            <a:off x="6551676" y="283362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× 4 = 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0씩 4묶음은 0개예요.</a:t>
            </a:r>
            <a:endParaRPr lang="ko-KR" sz="3200" dirty="0"/>
          </a:p>
        </p:txBody>
      </p:sp>
      <p:sp>
        <p:nvSpPr>
          <p:cNvPr id="12" name="S04-card73"/>
          <p:cNvSpPr/>
          <p:nvPr/>
        </p:nvSpPr>
        <p:spPr>
          <a:xfrm>
            <a:off x="6277356" y="422910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74"/>
          <p:cNvSpPr txBox="1"/>
          <p:nvPr/>
        </p:nvSpPr>
        <p:spPr>
          <a:xfrm>
            <a:off x="6551676" y="436626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0 = 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0묶음도 0개예요.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고리 던지기 점수</a:t>
            </a:r>
            <a:endParaRPr lang="ko-KR" sz="4400" dirty="0"/>
          </a:p>
        </p:txBody>
      </p:sp>
      <p:sp>
        <p:nvSpPr>
          <p:cNvPr id="3" name="S05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칸마다 얻은 점수를 구해요.</a:t>
            </a:r>
            <a:endParaRPr lang="ko-KR" sz="3200" dirty="0"/>
          </a:p>
        </p:txBody>
      </p:sp>
      <p:sp>
        <p:nvSpPr>
          <p:cNvPr id="4" name="S05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점일까요?</a:t>
            </a:r>
            <a:endParaRPr lang="ko-KR" sz="3200" dirty="0"/>
          </a:p>
        </p:txBody>
      </p:sp>
      <p:graphicFrame>
        <p:nvGraphicFramePr>
          <p:cNvPr id="6" name="S05-table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2636" y="2286635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점수 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걸린 횟수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곱셈식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얻은 점수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6-card7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8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0을 계산했어요.</a:t>
            </a:r>
            <a:endParaRPr lang="ko-KR" sz="3200" dirty="0"/>
          </a:p>
        </p:txBody>
      </p:sp>
      <p:sp>
        <p:nvSpPr>
          <p:cNvPr id="5" name="S06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6-chip8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</a:t>
            </a:r>
            <a:endParaRPr lang="ko-KR" sz="2600" dirty="0"/>
          </a:p>
        </p:txBody>
      </p:sp>
      <p:sp>
        <p:nvSpPr>
          <p:cNvPr id="8" name="S06-text8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“0은 아무것도 없으니까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그대로예요.”</a:t>
            </a:r>
            <a:endParaRPr lang="ko-KR" sz="3200" dirty="0"/>
          </a:p>
        </p:txBody>
      </p:sp>
      <p:sp>
        <p:nvSpPr>
          <p:cNvPr id="9" name="S06-chip8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0</a:t>
            </a:r>
            <a:endParaRPr lang="ko-KR" sz="2600" dirty="0"/>
          </a:p>
        </p:txBody>
      </p:sp>
      <p:sp>
        <p:nvSpPr>
          <p:cNvPr id="10" name="S06-text8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“3씩 0묶음이니까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 읽기</a:t>
            </a:r>
            <a:endParaRPr lang="ko-KR" sz="4400" dirty="0"/>
          </a:p>
        </p:txBody>
      </p:sp>
      <p:sp>
        <p:nvSpPr>
          <p:cNvPr id="3" name="S07-card8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8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3의 줄과 위쪽 4의 칸이 만나는 곳이에요.</a:t>
            </a:r>
            <a:endParaRPr lang="ko-KR" sz="3200" dirty="0"/>
          </a:p>
        </p:txBody>
      </p:sp>
      <p:graphicFrame>
        <p:nvGraphicFramePr>
          <p:cNvPr id="8" name="S07-table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1470152"/>
          <a:ext cx="7315200" cy="9144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곱셈표를 완성해요</a:t>
            </a:r>
            <a:endParaRPr lang="ko-KR" sz="4400" dirty="0"/>
          </a:p>
        </p:txBody>
      </p:sp>
      <p:graphicFrame>
        <p:nvGraphicFramePr>
          <p:cNvPr id="9" name="S08-table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0970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바꾸면?</a:t>
            </a:r>
            <a:endParaRPr lang="ko-KR" sz="4400" dirty="0"/>
          </a:p>
        </p:txBody>
      </p:sp>
      <p:sp>
        <p:nvSpPr>
          <p:cNvPr id="3" name="S09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배열을 옆으로 돌려 보아요.</a:t>
            </a:r>
            <a:endParaRPr lang="ko-KR" sz="3200" dirty="0"/>
          </a:p>
        </p:txBody>
      </p:sp>
      <p:sp>
        <p:nvSpPr>
          <p:cNvPr id="4" name="S09-card9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9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3 = 21, 3 × 7 = 21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바꾸어도 곱은 같아요.</a:t>
            </a:r>
            <a:endParaRPr lang="ko-KR" sz="3200" dirty="0"/>
          </a:p>
        </p:txBody>
      </p:sp>
      <p:sp>
        <p:nvSpPr>
          <p:cNvPr id="6" name="S09-dot94"/>
          <p:cNvSpPr/>
          <p:nvPr/>
        </p:nvSpPr>
        <p:spPr>
          <a:xfrm>
            <a:off x="2151949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dot95"/>
          <p:cNvSpPr/>
          <p:nvPr/>
        </p:nvSpPr>
        <p:spPr>
          <a:xfrm>
            <a:off x="2481133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dot96"/>
          <p:cNvSpPr/>
          <p:nvPr/>
        </p:nvSpPr>
        <p:spPr>
          <a:xfrm>
            <a:off x="2810317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97"/>
          <p:cNvSpPr/>
          <p:nvPr/>
        </p:nvSpPr>
        <p:spPr>
          <a:xfrm>
            <a:off x="3139501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98"/>
          <p:cNvSpPr/>
          <p:nvPr/>
        </p:nvSpPr>
        <p:spPr>
          <a:xfrm>
            <a:off x="3468685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99"/>
          <p:cNvSpPr/>
          <p:nvPr/>
        </p:nvSpPr>
        <p:spPr>
          <a:xfrm>
            <a:off x="3797869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100"/>
          <p:cNvSpPr/>
          <p:nvPr/>
        </p:nvSpPr>
        <p:spPr>
          <a:xfrm>
            <a:off x="4127053" y="2657790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101"/>
          <p:cNvSpPr/>
          <p:nvPr/>
        </p:nvSpPr>
        <p:spPr>
          <a:xfrm>
            <a:off x="2151949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102"/>
          <p:cNvSpPr/>
          <p:nvPr/>
        </p:nvSpPr>
        <p:spPr>
          <a:xfrm>
            <a:off x="2481133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103"/>
          <p:cNvSpPr/>
          <p:nvPr/>
        </p:nvSpPr>
        <p:spPr>
          <a:xfrm>
            <a:off x="2810317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104"/>
          <p:cNvSpPr/>
          <p:nvPr/>
        </p:nvSpPr>
        <p:spPr>
          <a:xfrm>
            <a:off x="3139501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105"/>
          <p:cNvSpPr/>
          <p:nvPr/>
        </p:nvSpPr>
        <p:spPr>
          <a:xfrm>
            <a:off x="3468685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106"/>
          <p:cNvSpPr/>
          <p:nvPr/>
        </p:nvSpPr>
        <p:spPr>
          <a:xfrm>
            <a:off x="3797869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107"/>
          <p:cNvSpPr/>
          <p:nvPr/>
        </p:nvSpPr>
        <p:spPr>
          <a:xfrm>
            <a:off x="4127053" y="2986974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108"/>
          <p:cNvSpPr/>
          <p:nvPr/>
        </p:nvSpPr>
        <p:spPr>
          <a:xfrm>
            <a:off x="2151949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dot109"/>
          <p:cNvSpPr/>
          <p:nvPr/>
        </p:nvSpPr>
        <p:spPr>
          <a:xfrm>
            <a:off x="2481133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dot110"/>
          <p:cNvSpPr/>
          <p:nvPr/>
        </p:nvSpPr>
        <p:spPr>
          <a:xfrm>
            <a:off x="2810317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dot111"/>
          <p:cNvSpPr/>
          <p:nvPr/>
        </p:nvSpPr>
        <p:spPr>
          <a:xfrm>
            <a:off x="3139501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9-dot112"/>
          <p:cNvSpPr/>
          <p:nvPr/>
        </p:nvSpPr>
        <p:spPr>
          <a:xfrm>
            <a:off x="3468685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9-dot113"/>
          <p:cNvSpPr/>
          <p:nvPr/>
        </p:nvSpPr>
        <p:spPr>
          <a:xfrm>
            <a:off x="3797869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9-dot114"/>
          <p:cNvSpPr/>
          <p:nvPr/>
        </p:nvSpPr>
        <p:spPr>
          <a:xfrm>
            <a:off x="4127053" y="3316158"/>
            <a:ext cx="204094" cy="20409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9-group115"/>
          <p:cNvSpPr/>
          <p:nvPr/>
        </p:nvSpPr>
        <p:spPr>
          <a:xfrm>
            <a:off x="2116836" y="2631821"/>
            <a:ext cx="2249424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9-group116"/>
          <p:cNvSpPr/>
          <p:nvPr/>
        </p:nvSpPr>
        <p:spPr>
          <a:xfrm>
            <a:off x="2116836" y="2961005"/>
            <a:ext cx="2249424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9-group117"/>
          <p:cNvSpPr/>
          <p:nvPr/>
        </p:nvSpPr>
        <p:spPr>
          <a:xfrm>
            <a:off x="2116836" y="3290189"/>
            <a:ext cx="2249424" cy="256032"/>
          </a:xfrm>
          <a:prstGeom prst="roundRect">
            <a:avLst>
              <a:gd name="adj" fmla="val 42857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0" name="S09-figure118" descr="점 7개씩 3묶음, 21개"/>
          <p:cNvSpPr/>
          <p:nvPr/>
        </p:nvSpPr>
        <p:spPr>
          <a:xfrm>
            <a:off x="2089404" y="2595245"/>
            <a:ext cx="2304288" cy="98755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09-label119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3묶음: 7 × 3</a:t>
            </a:r>
            <a:endParaRPr lang="ko-KR" sz="2600" dirty="0"/>
          </a:p>
        </p:txBody>
      </p:sp>
      <p:sp>
        <p:nvSpPr>
          <p:cNvPr id="32" name="S09-dot120"/>
          <p:cNvSpPr/>
          <p:nvPr/>
        </p:nvSpPr>
        <p:spPr>
          <a:xfrm>
            <a:off x="8544171" y="2070164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9-dot121"/>
          <p:cNvSpPr/>
          <p:nvPr/>
        </p:nvSpPr>
        <p:spPr>
          <a:xfrm>
            <a:off x="8851982" y="2070164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9-dot122"/>
          <p:cNvSpPr/>
          <p:nvPr/>
        </p:nvSpPr>
        <p:spPr>
          <a:xfrm>
            <a:off x="9159794" y="2070164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9-dot123"/>
          <p:cNvSpPr/>
          <p:nvPr/>
        </p:nvSpPr>
        <p:spPr>
          <a:xfrm>
            <a:off x="8544171" y="2377976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9-dot124"/>
          <p:cNvSpPr/>
          <p:nvPr/>
        </p:nvSpPr>
        <p:spPr>
          <a:xfrm>
            <a:off x="8851982" y="2377976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9-dot125"/>
          <p:cNvSpPr/>
          <p:nvPr/>
        </p:nvSpPr>
        <p:spPr>
          <a:xfrm>
            <a:off x="9159794" y="2377976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9-dot126"/>
          <p:cNvSpPr/>
          <p:nvPr/>
        </p:nvSpPr>
        <p:spPr>
          <a:xfrm>
            <a:off x="8544171" y="2685788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9-dot127"/>
          <p:cNvSpPr/>
          <p:nvPr/>
        </p:nvSpPr>
        <p:spPr>
          <a:xfrm>
            <a:off x="8851982" y="2685788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9-dot128"/>
          <p:cNvSpPr/>
          <p:nvPr/>
        </p:nvSpPr>
        <p:spPr>
          <a:xfrm>
            <a:off x="9159794" y="2685788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9-dot129"/>
          <p:cNvSpPr/>
          <p:nvPr/>
        </p:nvSpPr>
        <p:spPr>
          <a:xfrm>
            <a:off x="8544171" y="2993599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9-dot130"/>
          <p:cNvSpPr/>
          <p:nvPr/>
        </p:nvSpPr>
        <p:spPr>
          <a:xfrm>
            <a:off x="8851982" y="2993599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9-dot131"/>
          <p:cNvSpPr/>
          <p:nvPr/>
        </p:nvSpPr>
        <p:spPr>
          <a:xfrm>
            <a:off x="9159794" y="2993599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9-dot132"/>
          <p:cNvSpPr/>
          <p:nvPr/>
        </p:nvSpPr>
        <p:spPr>
          <a:xfrm>
            <a:off x="8544171" y="3301411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9-dot133"/>
          <p:cNvSpPr/>
          <p:nvPr/>
        </p:nvSpPr>
        <p:spPr>
          <a:xfrm>
            <a:off x="8851982" y="3301411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9-dot134"/>
          <p:cNvSpPr/>
          <p:nvPr/>
        </p:nvSpPr>
        <p:spPr>
          <a:xfrm>
            <a:off x="9159794" y="3301411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9-dot135"/>
          <p:cNvSpPr/>
          <p:nvPr/>
        </p:nvSpPr>
        <p:spPr>
          <a:xfrm>
            <a:off x="8544171" y="3609223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9-dot136"/>
          <p:cNvSpPr/>
          <p:nvPr/>
        </p:nvSpPr>
        <p:spPr>
          <a:xfrm>
            <a:off x="8851982" y="3609223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9-dot137"/>
          <p:cNvSpPr/>
          <p:nvPr/>
        </p:nvSpPr>
        <p:spPr>
          <a:xfrm>
            <a:off x="9159794" y="3609223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9-dot138"/>
          <p:cNvSpPr/>
          <p:nvPr/>
        </p:nvSpPr>
        <p:spPr>
          <a:xfrm>
            <a:off x="8544171" y="3917035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9-dot139"/>
          <p:cNvSpPr/>
          <p:nvPr/>
        </p:nvSpPr>
        <p:spPr>
          <a:xfrm>
            <a:off x="8851982" y="3917035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9-dot140"/>
          <p:cNvSpPr/>
          <p:nvPr/>
        </p:nvSpPr>
        <p:spPr>
          <a:xfrm>
            <a:off x="9159794" y="3917035"/>
            <a:ext cx="190843" cy="190843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9-group141"/>
          <p:cNvSpPr/>
          <p:nvPr/>
        </p:nvSpPr>
        <p:spPr>
          <a:xfrm>
            <a:off x="8513118" y="2048256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4" name="S09-group142"/>
          <p:cNvSpPr/>
          <p:nvPr/>
        </p:nvSpPr>
        <p:spPr>
          <a:xfrm>
            <a:off x="8513118" y="2356068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5" name="S09-group143"/>
          <p:cNvSpPr/>
          <p:nvPr/>
        </p:nvSpPr>
        <p:spPr>
          <a:xfrm>
            <a:off x="8513118" y="2663879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6" name="S09-group144"/>
          <p:cNvSpPr/>
          <p:nvPr/>
        </p:nvSpPr>
        <p:spPr>
          <a:xfrm>
            <a:off x="8513118" y="2971691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7" name="S09-group145"/>
          <p:cNvSpPr/>
          <p:nvPr/>
        </p:nvSpPr>
        <p:spPr>
          <a:xfrm>
            <a:off x="8513118" y="3279503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8" name="S09-group146"/>
          <p:cNvSpPr/>
          <p:nvPr/>
        </p:nvSpPr>
        <p:spPr>
          <a:xfrm>
            <a:off x="8513118" y="3587315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9" name="S09-group147"/>
          <p:cNvSpPr/>
          <p:nvPr/>
        </p:nvSpPr>
        <p:spPr>
          <a:xfrm>
            <a:off x="8513118" y="3895126"/>
            <a:ext cx="868571" cy="234660"/>
          </a:xfrm>
          <a:prstGeom prst="roundRect">
            <a:avLst>
              <a:gd name="adj" fmla="val 4676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0" name="S09-figure148" descr="파란 점 3개씩 7묶음, 21개"/>
          <p:cNvSpPr/>
          <p:nvPr/>
        </p:nvSpPr>
        <p:spPr>
          <a:xfrm>
            <a:off x="8485686" y="2011680"/>
            <a:ext cx="923435" cy="215468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09-label149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7묶음: 3 × 7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써 봐요</a:t>
            </a:r>
            <a:endParaRPr lang="ko-KR" sz="4400" dirty="0"/>
          </a:p>
        </p:txBody>
      </p:sp>
      <p:sp>
        <p:nvSpPr>
          <p:cNvPr id="3" name="S10-card1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S08의 곱셈표를 보며 찾아요.</a:t>
            </a:r>
            <a:endParaRPr lang="ko-KR" sz="3200" dirty="0"/>
          </a:p>
        </p:txBody>
      </p:sp>
      <p:sp>
        <p:nvSpPr>
          <p:cNvPr id="5" name="S10-chip15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text153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9 = 36, 9 × 4는?</a:t>
            </a:r>
            <a:endParaRPr lang="ko-KR" sz="3200" dirty="0"/>
          </a:p>
        </p:txBody>
      </p:sp>
      <p:sp>
        <p:nvSpPr>
          <p:cNvPr id="7" name="S10-chip15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text155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12인 곱셈구구는?</a:t>
            </a:r>
            <a:endParaRPr lang="ko-KR" sz="3200" dirty="0"/>
          </a:p>
        </p:txBody>
      </p:sp>
      <p:sp>
        <p:nvSpPr>
          <p:cNvPr id="9" name="S10-chip15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text157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6단의 곱은 짝수? 홀수?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알았는지 말해요.</a:t>
            </a:r>
            <a:endParaRPr lang="ko-KR" sz="3200" dirty="0"/>
          </a:p>
        </p:txBody>
      </p:sp>
      <p:sp>
        <p:nvSpPr>
          <p:cNvPr id="4" name="S11-chip15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16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7 = □</a:t>
            </a:r>
            <a:endParaRPr lang="ko-KR" sz="3600" dirty="0"/>
          </a:p>
        </p:txBody>
      </p:sp>
      <p:sp>
        <p:nvSpPr>
          <p:cNvPr id="6" name="S11-chip16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16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× 0 = □</a:t>
            </a:r>
            <a:endParaRPr lang="ko-KR" sz="3600" dirty="0"/>
          </a:p>
        </p:txBody>
      </p:sp>
      <p:sp>
        <p:nvSpPr>
          <p:cNvPr id="8" name="S11-chip16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eqtext16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× 6 = □</a:t>
            </a:r>
            <a:endParaRPr lang="ko-KR" sz="3600" dirty="0"/>
          </a:p>
        </p:txBody>
      </p:sp>
      <p:sp>
        <p:nvSpPr>
          <p:cNvPr id="10" name="S11-chip16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16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8 = 48, 8 × 6은?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접시와 바둑돌로 다시 해 보게 하세요.</a:t>
            </a:r>
            <a:endParaRPr lang="ko-KR" sz="3200" dirty="0"/>
          </a:p>
        </p:txBody>
      </p:sp>
      <p:sp>
        <p:nvSpPr>
          <p:cNvPr id="5" name="S12-chip16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170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</a:t>
            </a:r>
            <a:endParaRPr lang="ko-KR" sz="3200" dirty="0"/>
          </a:p>
        </p:txBody>
      </p:sp>
      <p:sp>
        <p:nvSpPr>
          <p:cNvPr id="7" name="S12-text171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1씩 7묶음</a:t>
            </a:r>
            <a:endParaRPr lang="ko-KR" sz="2600" dirty="0"/>
          </a:p>
        </p:txBody>
      </p:sp>
      <p:sp>
        <p:nvSpPr>
          <p:cNvPr id="8" name="S12-text172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  ③ 0</a:t>
            </a:r>
            <a:endParaRPr lang="ko-KR" sz="3200" dirty="0"/>
          </a:p>
        </p:txBody>
      </p:sp>
      <p:sp>
        <p:nvSpPr>
          <p:cNvPr id="9" name="S12-text173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0이 있으면 0</a:t>
            </a:r>
            <a:endParaRPr lang="ko-KR" sz="2600" dirty="0"/>
          </a:p>
        </p:txBody>
      </p:sp>
      <p:sp>
        <p:nvSpPr>
          <p:cNvPr id="10" name="S12-text174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48</a:t>
            </a:r>
            <a:endParaRPr lang="ko-KR" sz="3200" dirty="0"/>
          </a:p>
        </p:txBody>
      </p:sp>
      <p:sp>
        <p:nvSpPr>
          <p:cNvPr id="11" name="S12-text175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바꿈</a:t>
            </a:r>
            <a:endParaRPr lang="ko-KR" sz="2600" dirty="0"/>
          </a:p>
        </p:txBody>
      </p:sp>
      <p:sp>
        <p:nvSpPr>
          <p:cNvPr id="12" name="S12-chip17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17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</a:t>
            </a:r>
            <a:endParaRPr lang="ko-KR" sz="3200" dirty="0"/>
          </a:p>
        </p:txBody>
      </p:sp>
      <p:sp>
        <p:nvSpPr>
          <p:cNvPr id="14" name="S12-text17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덧셈과 헷갈림</a:t>
            </a:r>
            <a:endParaRPr lang="ko-KR" sz="2600" dirty="0"/>
          </a:p>
        </p:txBody>
      </p:sp>
      <p:sp>
        <p:nvSpPr>
          <p:cNvPr id="15" name="S12-text17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</a:t>
            </a:r>
            <a:endParaRPr lang="ko-KR" sz="3200" dirty="0"/>
          </a:p>
        </p:txBody>
      </p:sp>
      <p:sp>
        <p:nvSpPr>
          <p:cNvPr id="16" name="S12-text18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1로 착각함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같은 칸은?</a:t>
            </a:r>
            <a:endParaRPr lang="ko-KR" sz="4400" dirty="0"/>
          </a:p>
        </p:txBody>
      </p:sp>
      <p:sp>
        <p:nvSpPr>
          <p:cNvPr id="3" name="S13-text1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곱셈표에서 3 × 8과 곱이 같은 칸은?</a:t>
            </a:r>
            <a:endParaRPr lang="ko-KR" sz="3200" dirty="0"/>
          </a:p>
        </p:txBody>
      </p:sp>
      <p:sp>
        <p:nvSpPr>
          <p:cNvPr id="4" name="S13-card1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3-chip18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18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8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3</a:t>
            </a:r>
            <a:endParaRPr lang="ko-KR" sz="3200" dirty="0"/>
          </a:p>
        </p:txBody>
      </p:sp>
      <p:sp>
        <p:nvSpPr>
          <p:cNvPr id="9" name="S13-chip18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18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8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9</a:t>
            </a:r>
            <a:endParaRPr lang="ko-KR" sz="3200" dirty="0"/>
          </a:p>
        </p:txBody>
      </p:sp>
      <p:sp>
        <p:nvSpPr>
          <p:cNvPr id="12" name="S13-chip19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19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9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9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9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1을 곱하면 그 수, 0을 곱하면 0이에요.</a:t>
            </a:r>
            <a:endParaRPr lang="ko-KR" sz="3200" dirty="0"/>
          </a:p>
        </p:txBody>
      </p:sp>
      <p:sp>
        <p:nvSpPr>
          <p:cNvPr id="5" name="S14-chip19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순서를 바꾸어 곱 찾기</a:t>
            </a:r>
            <a:endParaRPr lang="ko-KR" sz="2600" dirty="0"/>
          </a:p>
        </p:txBody>
      </p:sp>
      <p:sp>
        <p:nvSpPr>
          <p:cNvPr id="6" name="S14-chip19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 × 0을 3이라고 하기</a:t>
            </a:r>
            <a:endParaRPr lang="ko-KR" sz="2600" dirty="0"/>
          </a:p>
        </p:txBody>
      </p:sp>
      <p:sp>
        <p:nvSpPr>
          <p:cNvPr id="7" name="S14-text19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19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 × 6 = □</a:t>
            </a:r>
            <a:endParaRPr lang="ko-KR" sz="3000" dirty="0"/>
          </a:p>
        </p:txBody>
      </p:sp>
      <p:sp>
        <p:nvSpPr>
          <p:cNvPr id="9" name="S14-eqtext19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 × 8 = □</a:t>
            </a:r>
            <a:endParaRPr lang="ko-KR" sz="3000" dirty="0"/>
          </a:p>
        </p:txBody>
      </p:sp>
      <p:sp>
        <p:nvSpPr>
          <p:cNvPr id="10" name="S14-eqtext20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9 × 7 = □</a:t>
            </a:r>
            <a:endParaRPr lang="ko-KR" sz="3000" dirty="0"/>
          </a:p>
        </p:txBody>
      </p:sp>
      <p:sp>
        <p:nvSpPr>
          <p:cNvPr id="11" name="S14-text2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여러 가지 도형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아는 곱에서</a:t>
            </a:r>
            <a:endParaRPr lang="ko-KR" sz="4400" dirty="0"/>
          </a:p>
        </p:txBody>
      </p:sp>
      <p:sp>
        <p:nvSpPr>
          <p:cNvPr id="3" name="S15-text2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5를 알면 7 × 6도 구해요.</a:t>
            </a:r>
            <a:endParaRPr lang="ko-KR" sz="3200" dirty="0"/>
          </a:p>
        </p:txBody>
      </p:sp>
      <p:sp>
        <p:nvSpPr>
          <p:cNvPr id="4" name="S15-card203"/>
          <p:cNvSpPr/>
          <p:nvPr/>
        </p:nvSpPr>
        <p:spPr>
          <a:xfrm>
            <a:off x="548640" y="4913884"/>
            <a:ext cx="543153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204"/>
          <p:cNvSpPr txBox="1"/>
          <p:nvPr/>
        </p:nvSpPr>
        <p:spPr>
          <a:xfrm>
            <a:off x="822960" y="5051044"/>
            <a:ext cx="488289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5 = 35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곱에서 출발해요.</a:t>
            </a:r>
            <a:endParaRPr lang="ko-KR" sz="3200" dirty="0"/>
          </a:p>
        </p:txBody>
      </p:sp>
      <p:sp>
        <p:nvSpPr>
          <p:cNvPr id="6" name="S15-card205"/>
          <p:cNvSpPr/>
          <p:nvPr/>
        </p:nvSpPr>
        <p:spPr>
          <a:xfrm>
            <a:off x="6208776" y="4913884"/>
            <a:ext cx="543153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206"/>
          <p:cNvSpPr txBox="1"/>
          <p:nvPr/>
        </p:nvSpPr>
        <p:spPr>
          <a:xfrm>
            <a:off x="6483096" y="5051044"/>
            <a:ext cx="488289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+ 7 = 42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더 뛰면 7 × 6</a:t>
            </a:r>
            <a:endParaRPr lang="ko-KR" sz="3200" dirty="0"/>
          </a:p>
        </p:txBody>
      </p:sp>
      <p:sp>
        <p:nvSpPr>
          <p:cNvPr id="8" name="S15-line207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5-line208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209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15-line210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211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3" name="S15-line212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213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15" name="S15-line214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215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2600" dirty="0"/>
          </a:p>
        </p:txBody>
      </p:sp>
      <p:sp>
        <p:nvSpPr>
          <p:cNvPr id="17" name="S15-line216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217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2600" dirty="0"/>
          </a:p>
        </p:txBody>
      </p:sp>
      <p:sp>
        <p:nvSpPr>
          <p:cNvPr id="19" name="S15-line218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219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600" dirty="0"/>
          </a:p>
        </p:txBody>
      </p:sp>
      <p:sp>
        <p:nvSpPr>
          <p:cNvPr id="21" name="S15-line220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221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2600" dirty="0"/>
          </a:p>
        </p:txBody>
      </p:sp>
      <p:sp>
        <p:nvSpPr>
          <p:cNvPr id="23" name="S15-line222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223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ko-KR" sz="2600" dirty="0"/>
          </a:p>
        </p:txBody>
      </p:sp>
      <p:sp>
        <p:nvSpPr>
          <p:cNvPr id="25" name="S15-line224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225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ko-KR" sz="2600" dirty="0"/>
          </a:p>
        </p:txBody>
      </p:sp>
      <p:sp>
        <p:nvSpPr>
          <p:cNvPr id="27" name="S15-line226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227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ko-KR" sz="2600" dirty="0"/>
          </a:p>
        </p:txBody>
      </p:sp>
      <p:sp>
        <p:nvSpPr>
          <p:cNvPr id="29" name="S15-mark228"/>
          <p:cNvSpPr/>
          <p:nvPr/>
        </p:nvSpPr>
        <p:spPr>
          <a:xfrm>
            <a:off x="657352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5-mark229"/>
          <p:cNvSpPr/>
          <p:nvPr/>
        </p:nvSpPr>
        <p:spPr>
          <a:xfrm>
            <a:off x="771448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1" name="S15-line230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15-line231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15-label232"/>
          <p:cNvSpPr txBox="1"/>
          <p:nvPr/>
        </p:nvSpPr>
        <p:spPr>
          <a:xfrm>
            <a:off x="666496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</a:t>
            </a:r>
            <a:endParaRPr lang="ko-KR" sz="2600" dirty="0"/>
          </a:p>
        </p:txBody>
      </p:sp>
      <p:sp>
        <p:nvSpPr>
          <p:cNvPr id="34" name="S15-figure233" descr="0부터 63까지 7씩 눈금 수직선에서 35에서 7만큼 뛰어 42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1과 0의 곱, 곱셈표</dc:title>
  <dc:subject>KR22-G02-MAT-TIMES10-L01</dc:subject>
  <dc:creator>education-ppt</dc:creator>
  <cp:lastModifiedBy>education-ppt</cp:lastModifiedBy>
  <cp:revision>1</cp:revision>
  <dcterms:created xsi:type="dcterms:W3CDTF">2026-10-26T07:46:40Z</dcterms:created>
  <dcterms:modified xsi:type="dcterms:W3CDTF">2026-10-26T07:46:40Z</dcterms:modified>
</cp:coreProperties>
</file>