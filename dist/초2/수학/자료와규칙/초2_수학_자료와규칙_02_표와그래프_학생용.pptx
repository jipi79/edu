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a38672d-d77c-774c-4293-8b88794f440d}">
          <p14:sldIdLst>
            <p14:sldId id="256"/>
            <p14:sldId id="257"/>
          </p14:sldIdLst>
        </p14:section>
        <p14:section name="개념" id="{7e3a75b2-9207-2428-88a0-008af4d08495}">
          <p14:sldIdLst>
            <p14:sldId id="258"/>
            <p14:sldId id="259"/>
            <p14:sldId id="260"/>
            <p14:sldId id="261"/>
          </p14:sldIdLst>
        </p14:section>
        <p14:section name="연습" id="{b459bd0c-c31a-339a-3bf0-28a0a29b183c}">
          <p14:sldIdLst>
            <p14:sldId id="262"/>
            <p14:sldId id="263"/>
            <p14:sldId id="264"/>
            <p14:sldId id="265"/>
          </p14:sldIdLst>
        </p14:section>
        <p14:section name="확인" id="{ede21ef3-1533-fdc0-7396-e3e6f9e61e0e}">
          <p14:sldIdLst>
            <p14:sldId id="266"/>
            <p14:sldId id="267"/>
          </p14:sldIdLst>
        </p14:section>
        <p14:section name="정리" id="{7e5edc66-d038-7160-174b-1b398cca0a48}">
          <p14:sldIdLst>
            <p14:sldId id="268"/>
          </p14:sldIdLst>
        </p14:section>
        <p14:section name="보충" id="{7683e418-6c2d-5e7d-0e6e-74c4302529a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자료와규칙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표와 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표와 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표와 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표와 그래프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과일을 가장 좋아할까?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87869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7878699" y="1408176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7878699" y="1755648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7878699" y="2103120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87869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787869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figure7" descr="○ 그래프의 사과 줄: 아래에서부터 5칸 색칠(○ 5개)"/>
          <p:cNvSpPr/>
          <p:nvPr/>
        </p:nvSpPr>
        <p:spPr>
          <a:xfrm>
            <a:off x="787869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894168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8941689" y="1408176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8941689" y="1755648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941689" y="2103120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94168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94168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figure14" descr="○ 그래프의 귤 줄: 아래에서부터 2칸 색칠(○ 2개)"/>
          <p:cNvSpPr/>
          <p:nvPr/>
        </p:nvSpPr>
        <p:spPr>
          <a:xfrm>
            <a:off x="894168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1000467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04679" y="1408176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004679" y="1755648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10004679" y="2103120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00467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1000467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figure21" descr="○ 그래프의 포도 줄: 아래에서부터 4칸 색칠(○ 4개)"/>
          <p:cNvSpPr/>
          <p:nvPr/>
        </p:nvSpPr>
        <p:spPr>
          <a:xfrm>
            <a:off x="1000467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1106766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1067669" y="1408176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1067669" y="1755648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11067669" y="2103120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106766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106766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figure28" descr="○ 그래프의 딸기 줄: 아래에서부터 3칸 색칠(○ 3개)"/>
          <p:cNvSpPr/>
          <p:nvPr/>
        </p:nvSpPr>
        <p:spPr>
          <a:xfrm>
            <a:off x="1106766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1-card2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3" name="S01-cardtext3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조사한 자료를 표로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○ 그래프로 나타내고 알 수 있는 것을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봐요.</a:t>
            </a:r>
            <a:endParaRPr lang="ko-KR" sz="3200" dirty="0"/>
          </a:p>
        </p:txBody>
      </p:sp>
      <p:sp>
        <p:nvSpPr>
          <p:cNvPr id="4" name="S02-chip32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33"/>
          <p:cNvSpPr txBox="1"/>
          <p:nvPr/>
        </p:nvSpPr>
        <p:spPr>
          <a:xfrm>
            <a:off x="1344168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200" dirty="0"/>
          </a:p>
        </p:txBody>
      </p:sp>
      <p:sp>
        <p:nvSpPr>
          <p:cNvPr id="6" name="S02-tile34"/>
          <p:cNvSpPr txBox="1"/>
          <p:nvPr/>
        </p:nvSpPr>
        <p:spPr>
          <a:xfrm>
            <a:off x="2292096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3200" dirty="0"/>
          </a:p>
        </p:txBody>
      </p:sp>
      <p:sp>
        <p:nvSpPr>
          <p:cNvPr id="7" name="S02-tile35"/>
          <p:cNvSpPr txBox="1"/>
          <p:nvPr/>
        </p:nvSpPr>
        <p:spPr>
          <a:xfrm>
            <a:off x="3240024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200" dirty="0"/>
          </a:p>
        </p:txBody>
      </p:sp>
      <p:sp>
        <p:nvSpPr>
          <p:cNvPr id="8" name="S02-tile36"/>
          <p:cNvSpPr txBox="1"/>
          <p:nvPr/>
        </p:nvSpPr>
        <p:spPr>
          <a:xfrm>
            <a:off x="4187952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3200" dirty="0"/>
          </a:p>
        </p:txBody>
      </p:sp>
      <p:sp>
        <p:nvSpPr>
          <p:cNvPr id="9" name="S02-tile37"/>
          <p:cNvSpPr txBox="1"/>
          <p:nvPr/>
        </p:nvSpPr>
        <p:spPr>
          <a:xfrm>
            <a:off x="5135880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200" dirty="0"/>
          </a:p>
        </p:txBody>
      </p:sp>
      <p:sp>
        <p:nvSpPr>
          <p:cNvPr id="10" name="S02-tile38"/>
          <p:cNvSpPr txBox="1"/>
          <p:nvPr/>
        </p:nvSpPr>
        <p:spPr>
          <a:xfrm>
            <a:off x="6083808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3200" dirty="0"/>
          </a:p>
        </p:txBody>
      </p:sp>
      <p:sp>
        <p:nvSpPr>
          <p:cNvPr id="11" name="S02-chip3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02-text40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센 수를 더하면?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자료</a:t>
            </a:r>
            <a:endParaRPr lang="ko-KR" sz="4400" dirty="0"/>
          </a:p>
        </p:txBody>
      </p:sp>
      <p:sp>
        <p:nvSpPr>
          <p:cNvPr id="3" name="S03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14명이 좋아하는 과일이에요.</a:t>
            </a:r>
            <a:endParaRPr lang="ko-KR" sz="3200" dirty="0"/>
          </a:p>
        </p:txBody>
      </p:sp>
      <p:sp>
        <p:nvSpPr>
          <p:cNvPr id="4" name="S03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이대로는 어떤 과일이 몇 명인지 알기 어려워요.</a:t>
            </a:r>
            <a:endParaRPr lang="ko-KR" sz="3200" dirty="0"/>
          </a:p>
        </p:txBody>
      </p:sp>
      <p:sp>
        <p:nvSpPr>
          <p:cNvPr id="6" name="S03-word44"/>
          <p:cNvSpPr txBox="1"/>
          <p:nvPr/>
        </p:nvSpPr>
        <p:spPr>
          <a:xfrm>
            <a:off x="548640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7" name="S03-word45"/>
          <p:cNvSpPr txBox="1"/>
          <p:nvPr/>
        </p:nvSpPr>
        <p:spPr>
          <a:xfrm>
            <a:off x="2172353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8" name="S03-word46"/>
          <p:cNvSpPr txBox="1"/>
          <p:nvPr/>
        </p:nvSpPr>
        <p:spPr>
          <a:xfrm>
            <a:off x="3796066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9" name="S03-word47"/>
          <p:cNvSpPr txBox="1"/>
          <p:nvPr/>
        </p:nvSpPr>
        <p:spPr>
          <a:xfrm>
            <a:off x="5419779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0" name="S03-word48"/>
          <p:cNvSpPr txBox="1"/>
          <p:nvPr/>
        </p:nvSpPr>
        <p:spPr>
          <a:xfrm>
            <a:off x="7043493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11" name="S03-word49"/>
          <p:cNvSpPr txBox="1"/>
          <p:nvPr/>
        </p:nvSpPr>
        <p:spPr>
          <a:xfrm>
            <a:off x="8667206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2" name="S03-word50"/>
          <p:cNvSpPr txBox="1"/>
          <p:nvPr/>
        </p:nvSpPr>
        <p:spPr>
          <a:xfrm>
            <a:off x="10290919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3" name="S03-word51"/>
          <p:cNvSpPr txBox="1"/>
          <p:nvPr/>
        </p:nvSpPr>
        <p:spPr>
          <a:xfrm>
            <a:off x="548640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14" name="S03-word52"/>
          <p:cNvSpPr txBox="1"/>
          <p:nvPr/>
        </p:nvSpPr>
        <p:spPr>
          <a:xfrm>
            <a:off x="2172353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5" name="S03-word53"/>
          <p:cNvSpPr txBox="1"/>
          <p:nvPr/>
        </p:nvSpPr>
        <p:spPr>
          <a:xfrm>
            <a:off x="3796066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6" name="S03-word54"/>
          <p:cNvSpPr txBox="1"/>
          <p:nvPr/>
        </p:nvSpPr>
        <p:spPr>
          <a:xfrm>
            <a:off x="5419779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7" name="S03-word55"/>
          <p:cNvSpPr txBox="1"/>
          <p:nvPr/>
        </p:nvSpPr>
        <p:spPr>
          <a:xfrm>
            <a:off x="7043493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18" name="S03-word56"/>
          <p:cNvSpPr txBox="1"/>
          <p:nvPr/>
        </p:nvSpPr>
        <p:spPr>
          <a:xfrm>
            <a:off x="8667206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9" name="S03-word57"/>
          <p:cNvSpPr txBox="1"/>
          <p:nvPr/>
        </p:nvSpPr>
        <p:spPr>
          <a:xfrm>
            <a:off x="10290919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나타내요</a:t>
            </a:r>
            <a:endParaRPr lang="ko-KR" sz="4400" dirty="0"/>
          </a:p>
        </p:txBody>
      </p:sp>
      <p:sp>
        <p:nvSpPr>
          <p:cNvPr id="3" name="S04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과일별로 세어 표에 써요.</a:t>
            </a:r>
            <a:endParaRPr lang="ko-KR" sz="3200" dirty="0"/>
          </a:p>
        </p:txBody>
      </p:sp>
      <p:sp>
        <p:nvSpPr>
          <p:cNvPr id="4" name="S04-card5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6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+ 4 + 3 = 14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합계는 조사한 친구 수 14명과 같아요.</a:t>
            </a:r>
            <a:endParaRPr lang="ko-KR" sz="3200" dirty="0"/>
          </a:p>
        </p:txBody>
      </p:sp>
      <p:graphicFrame>
        <p:nvGraphicFramePr>
          <p:cNvPr id="5" name="S04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836672"/>
          <a:ext cx="9875520" cy="914400"/>
        </p:xfrm>
        <a:graphic>
          <a:graphicData uri="http://schemas.openxmlformats.org/drawingml/2006/table">
            <a:tbl>
              <a:tblPr/>
              <a:tblGrid>
                <a:gridCol w="2765146"/>
                <a:gridCol w="1422075"/>
                <a:gridCol w="1422075"/>
                <a:gridCol w="1422075"/>
                <a:gridCol w="1422075"/>
                <a:gridCol w="1422075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딸기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그래프 그리기</a:t>
            </a:r>
            <a:endParaRPr lang="ko-KR" sz="4400" dirty="0"/>
          </a:p>
        </p:txBody>
      </p:sp>
      <p:sp>
        <p:nvSpPr>
          <p:cNvPr id="3" name="S05-text6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표를 보고 그래프로 나타내요.</a:t>
            </a:r>
            <a:endParaRPr lang="ko-KR" sz="3200" dirty="0"/>
          </a:p>
        </p:txBody>
      </p:sp>
      <p:sp>
        <p:nvSpPr>
          <p:cNvPr id="4" name="S05-cell63"/>
          <p:cNvSpPr/>
          <p:nvPr/>
        </p:nvSpPr>
        <p:spPr>
          <a:xfrm>
            <a:off x="7104945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5-cell64"/>
          <p:cNvSpPr/>
          <p:nvPr/>
        </p:nvSpPr>
        <p:spPr>
          <a:xfrm>
            <a:off x="7104945" y="338442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cell65"/>
          <p:cNvSpPr/>
          <p:nvPr/>
        </p:nvSpPr>
        <p:spPr>
          <a:xfrm>
            <a:off x="7104945" y="376847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66"/>
          <p:cNvSpPr/>
          <p:nvPr/>
        </p:nvSpPr>
        <p:spPr>
          <a:xfrm>
            <a:off x="7104945" y="415251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67"/>
          <p:cNvSpPr/>
          <p:nvPr/>
        </p:nvSpPr>
        <p:spPr>
          <a:xfrm>
            <a:off x="7104945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68"/>
          <p:cNvSpPr/>
          <p:nvPr/>
        </p:nvSpPr>
        <p:spPr>
          <a:xfrm>
            <a:off x="7104945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figure69" descr="○ 그래프의 사과 줄: 아래에서부터 5칸 색칠(○ 5개)"/>
          <p:cNvSpPr/>
          <p:nvPr/>
        </p:nvSpPr>
        <p:spPr>
          <a:xfrm>
            <a:off x="7104945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5-label70"/>
          <p:cNvSpPr txBox="1"/>
          <p:nvPr/>
        </p:nvSpPr>
        <p:spPr>
          <a:xfrm>
            <a:off x="6813652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600" dirty="0"/>
          </a:p>
        </p:txBody>
      </p:sp>
      <p:sp>
        <p:nvSpPr>
          <p:cNvPr id="12" name="S05-cell71"/>
          <p:cNvSpPr/>
          <p:nvPr/>
        </p:nvSpPr>
        <p:spPr>
          <a:xfrm>
            <a:off x="8391620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72"/>
          <p:cNvSpPr/>
          <p:nvPr/>
        </p:nvSpPr>
        <p:spPr>
          <a:xfrm>
            <a:off x="8391620" y="338442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73"/>
          <p:cNvSpPr/>
          <p:nvPr/>
        </p:nvSpPr>
        <p:spPr>
          <a:xfrm>
            <a:off x="8391620" y="376847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74"/>
          <p:cNvSpPr/>
          <p:nvPr/>
        </p:nvSpPr>
        <p:spPr>
          <a:xfrm>
            <a:off x="8391620" y="4152519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75"/>
          <p:cNvSpPr/>
          <p:nvPr/>
        </p:nvSpPr>
        <p:spPr>
          <a:xfrm>
            <a:off x="8391620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76"/>
          <p:cNvSpPr/>
          <p:nvPr/>
        </p:nvSpPr>
        <p:spPr>
          <a:xfrm>
            <a:off x="8391620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figure77" descr="○ 그래프의 귤 줄: 아래에서부터 2칸 색칠(○ 2개)"/>
          <p:cNvSpPr/>
          <p:nvPr/>
        </p:nvSpPr>
        <p:spPr>
          <a:xfrm>
            <a:off x="8391620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5-label78"/>
          <p:cNvSpPr txBox="1"/>
          <p:nvPr/>
        </p:nvSpPr>
        <p:spPr>
          <a:xfrm>
            <a:off x="8100327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600" dirty="0"/>
          </a:p>
        </p:txBody>
      </p:sp>
      <p:sp>
        <p:nvSpPr>
          <p:cNvPr id="20" name="S05-cell79"/>
          <p:cNvSpPr/>
          <p:nvPr/>
        </p:nvSpPr>
        <p:spPr>
          <a:xfrm>
            <a:off x="9678295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80"/>
          <p:cNvSpPr/>
          <p:nvPr/>
        </p:nvSpPr>
        <p:spPr>
          <a:xfrm>
            <a:off x="9678295" y="338442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81"/>
          <p:cNvSpPr/>
          <p:nvPr/>
        </p:nvSpPr>
        <p:spPr>
          <a:xfrm>
            <a:off x="9678295" y="376847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cell82"/>
          <p:cNvSpPr/>
          <p:nvPr/>
        </p:nvSpPr>
        <p:spPr>
          <a:xfrm>
            <a:off x="9678295" y="415251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cell83"/>
          <p:cNvSpPr/>
          <p:nvPr/>
        </p:nvSpPr>
        <p:spPr>
          <a:xfrm>
            <a:off x="9678295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cell84"/>
          <p:cNvSpPr/>
          <p:nvPr/>
        </p:nvSpPr>
        <p:spPr>
          <a:xfrm>
            <a:off x="9678295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figure85" descr="○ 그래프의 포도 줄: 아래에서부터 4칸 색칠(○ 4개)"/>
          <p:cNvSpPr/>
          <p:nvPr/>
        </p:nvSpPr>
        <p:spPr>
          <a:xfrm>
            <a:off x="9678295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5-label86"/>
          <p:cNvSpPr txBox="1"/>
          <p:nvPr/>
        </p:nvSpPr>
        <p:spPr>
          <a:xfrm>
            <a:off x="9387002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600" dirty="0"/>
          </a:p>
        </p:txBody>
      </p:sp>
      <p:sp>
        <p:nvSpPr>
          <p:cNvPr id="28" name="S05-cell87"/>
          <p:cNvSpPr/>
          <p:nvPr/>
        </p:nvSpPr>
        <p:spPr>
          <a:xfrm>
            <a:off x="10964970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88"/>
          <p:cNvSpPr/>
          <p:nvPr/>
        </p:nvSpPr>
        <p:spPr>
          <a:xfrm>
            <a:off x="10964970" y="338442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89"/>
          <p:cNvSpPr/>
          <p:nvPr/>
        </p:nvSpPr>
        <p:spPr>
          <a:xfrm>
            <a:off x="10964970" y="376847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90"/>
          <p:cNvSpPr/>
          <p:nvPr/>
        </p:nvSpPr>
        <p:spPr>
          <a:xfrm>
            <a:off x="10964970" y="415251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91"/>
          <p:cNvSpPr/>
          <p:nvPr/>
        </p:nvSpPr>
        <p:spPr>
          <a:xfrm>
            <a:off x="10964970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92"/>
          <p:cNvSpPr/>
          <p:nvPr/>
        </p:nvSpPr>
        <p:spPr>
          <a:xfrm>
            <a:off x="10964970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figure93" descr="○ 그래프의 딸기 줄: 아래에서부터 3칸 색칠(○ 3개)"/>
          <p:cNvSpPr/>
          <p:nvPr/>
        </p:nvSpPr>
        <p:spPr>
          <a:xfrm>
            <a:off x="10964970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5-label94"/>
          <p:cNvSpPr txBox="1"/>
          <p:nvPr/>
        </p:nvSpPr>
        <p:spPr>
          <a:xfrm>
            <a:off x="10673677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2600" dirty="0"/>
          </a:p>
        </p:txBody>
      </p:sp>
      <p:sp>
        <p:nvSpPr>
          <p:cNvPr id="36" name="S05-stepno95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7" name="S05-text96"/>
          <p:cNvSpPr txBox="1"/>
          <p:nvPr/>
        </p:nvSpPr>
        <p:spPr>
          <a:xfrm>
            <a:off x="1325880" y="3424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 과일 이름을 써요.</a:t>
            </a:r>
            <a:endParaRPr lang="ko-KR" sz="3200" dirty="0"/>
          </a:p>
        </p:txBody>
      </p:sp>
      <p:sp>
        <p:nvSpPr>
          <p:cNvPr id="38" name="S05-stepno97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9" name="S05-text98"/>
          <p:cNvSpPr txBox="1"/>
          <p:nvPr/>
        </p:nvSpPr>
        <p:spPr>
          <a:xfrm>
            <a:off x="1325880" y="41376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위로 ○를 그려요.</a:t>
            </a:r>
            <a:endParaRPr lang="ko-KR" sz="3200" dirty="0"/>
          </a:p>
        </p:txBody>
      </p:sp>
      <p:sp>
        <p:nvSpPr>
          <p:cNvPr id="40" name="S05-stepno99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1" name="S05-text100"/>
          <p:cNvSpPr txBox="1"/>
          <p:nvPr/>
        </p:nvSpPr>
        <p:spPr>
          <a:xfrm>
            <a:off x="1325880" y="48508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없이 수만큼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그래프로 알 수 있어요</a:t>
            </a:r>
            <a:endParaRPr lang="ko-KR" sz="4400" dirty="0"/>
          </a:p>
        </p:txBody>
      </p:sp>
      <p:sp>
        <p:nvSpPr>
          <p:cNvPr id="3" name="S06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과일은 가장 높은 줄이에요.</a:t>
            </a:r>
            <a:endParaRPr lang="ko-KR" sz="3200" dirty="0"/>
          </a:p>
        </p:txBody>
      </p:sp>
      <p:sp>
        <p:nvSpPr>
          <p:cNvPr id="5" name="S06-card103"/>
          <p:cNvSpPr/>
          <p:nvPr/>
        </p:nvSpPr>
        <p:spPr>
          <a:xfrm>
            <a:off x="548640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104"/>
          <p:cNvSpPr txBox="1"/>
          <p:nvPr/>
        </p:nvSpPr>
        <p:spPr>
          <a:xfrm>
            <a:off x="822960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것이 한눈에 보여요.</a:t>
            </a:r>
            <a:endParaRPr lang="ko-KR" sz="3200" dirty="0"/>
          </a:p>
        </p:txBody>
      </p:sp>
      <p:sp>
        <p:nvSpPr>
          <p:cNvPr id="7" name="S06-card105"/>
          <p:cNvSpPr/>
          <p:nvPr/>
        </p:nvSpPr>
        <p:spPr>
          <a:xfrm>
            <a:off x="6208776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106"/>
          <p:cNvSpPr txBox="1"/>
          <p:nvPr/>
        </p:nvSpPr>
        <p:spPr>
          <a:xfrm>
            <a:off x="6483096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표는 전체 수를 알기 쉬워요.</a:t>
            </a:r>
            <a:endParaRPr lang="ko-KR" sz="3200" dirty="0"/>
          </a:p>
        </p:txBody>
      </p:sp>
      <p:sp>
        <p:nvSpPr>
          <p:cNvPr id="9" name="S06-cell107"/>
          <p:cNvSpPr/>
          <p:nvPr/>
        </p:nvSpPr>
        <p:spPr>
          <a:xfrm>
            <a:off x="1671214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108"/>
          <p:cNvSpPr/>
          <p:nvPr/>
        </p:nvSpPr>
        <p:spPr>
          <a:xfrm>
            <a:off x="1671214" y="1613620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109"/>
          <p:cNvSpPr/>
          <p:nvPr/>
        </p:nvSpPr>
        <p:spPr>
          <a:xfrm>
            <a:off x="1671214" y="190135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10"/>
          <p:cNvSpPr/>
          <p:nvPr/>
        </p:nvSpPr>
        <p:spPr>
          <a:xfrm>
            <a:off x="1671214" y="218909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11"/>
          <p:cNvSpPr/>
          <p:nvPr/>
        </p:nvSpPr>
        <p:spPr>
          <a:xfrm>
            <a:off x="1671214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12"/>
          <p:cNvSpPr/>
          <p:nvPr/>
        </p:nvSpPr>
        <p:spPr>
          <a:xfrm>
            <a:off x="1671214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figure113" descr="○ 그래프의 사과 줄: 아래에서부터 5칸 색칠(○ 5개)"/>
          <p:cNvSpPr/>
          <p:nvPr/>
        </p:nvSpPr>
        <p:spPr>
          <a:xfrm>
            <a:off x="1671214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6-label114"/>
          <p:cNvSpPr txBox="1"/>
          <p:nvPr/>
        </p:nvSpPr>
        <p:spPr>
          <a:xfrm>
            <a:off x="548640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600" dirty="0"/>
          </a:p>
        </p:txBody>
      </p:sp>
      <p:sp>
        <p:nvSpPr>
          <p:cNvPr id="17" name="S06-cell115"/>
          <p:cNvSpPr/>
          <p:nvPr/>
        </p:nvSpPr>
        <p:spPr>
          <a:xfrm>
            <a:off x="4524142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16"/>
          <p:cNvSpPr/>
          <p:nvPr/>
        </p:nvSpPr>
        <p:spPr>
          <a:xfrm>
            <a:off x="4524142" y="161362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117"/>
          <p:cNvSpPr/>
          <p:nvPr/>
        </p:nvSpPr>
        <p:spPr>
          <a:xfrm>
            <a:off x="4524142" y="1901359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118"/>
          <p:cNvSpPr/>
          <p:nvPr/>
        </p:nvSpPr>
        <p:spPr>
          <a:xfrm>
            <a:off x="4524142" y="2189099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19"/>
          <p:cNvSpPr/>
          <p:nvPr/>
        </p:nvSpPr>
        <p:spPr>
          <a:xfrm>
            <a:off x="4524142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20"/>
          <p:cNvSpPr/>
          <p:nvPr/>
        </p:nvSpPr>
        <p:spPr>
          <a:xfrm>
            <a:off x="4524142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figure121" descr="○ 그래프의 귤 줄: 아래에서부터 2칸 색칠(○ 2개)"/>
          <p:cNvSpPr/>
          <p:nvPr/>
        </p:nvSpPr>
        <p:spPr>
          <a:xfrm>
            <a:off x="4524142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6-label122"/>
          <p:cNvSpPr txBox="1"/>
          <p:nvPr/>
        </p:nvSpPr>
        <p:spPr>
          <a:xfrm>
            <a:off x="3401568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600" dirty="0"/>
          </a:p>
        </p:txBody>
      </p:sp>
      <p:sp>
        <p:nvSpPr>
          <p:cNvPr id="25" name="S06-cell123"/>
          <p:cNvSpPr/>
          <p:nvPr/>
        </p:nvSpPr>
        <p:spPr>
          <a:xfrm>
            <a:off x="7377070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124"/>
          <p:cNvSpPr/>
          <p:nvPr/>
        </p:nvSpPr>
        <p:spPr>
          <a:xfrm>
            <a:off x="7377070" y="161362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125"/>
          <p:cNvSpPr/>
          <p:nvPr/>
        </p:nvSpPr>
        <p:spPr>
          <a:xfrm>
            <a:off x="7377070" y="190135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126"/>
          <p:cNvSpPr/>
          <p:nvPr/>
        </p:nvSpPr>
        <p:spPr>
          <a:xfrm>
            <a:off x="7377070" y="218909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127"/>
          <p:cNvSpPr/>
          <p:nvPr/>
        </p:nvSpPr>
        <p:spPr>
          <a:xfrm>
            <a:off x="7377070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cell128"/>
          <p:cNvSpPr/>
          <p:nvPr/>
        </p:nvSpPr>
        <p:spPr>
          <a:xfrm>
            <a:off x="7377070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figure129" descr="○ 그래프의 포도 줄: 아래에서부터 4칸 색칠(○ 4개)"/>
          <p:cNvSpPr/>
          <p:nvPr/>
        </p:nvSpPr>
        <p:spPr>
          <a:xfrm>
            <a:off x="7377070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6-label130"/>
          <p:cNvSpPr txBox="1"/>
          <p:nvPr/>
        </p:nvSpPr>
        <p:spPr>
          <a:xfrm>
            <a:off x="6254496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600" dirty="0"/>
          </a:p>
        </p:txBody>
      </p:sp>
      <p:sp>
        <p:nvSpPr>
          <p:cNvPr id="33" name="S06-cell131"/>
          <p:cNvSpPr/>
          <p:nvPr/>
        </p:nvSpPr>
        <p:spPr>
          <a:xfrm>
            <a:off x="10229998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6-cell132"/>
          <p:cNvSpPr/>
          <p:nvPr/>
        </p:nvSpPr>
        <p:spPr>
          <a:xfrm>
            <a:off x="10229998" y="161362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cell133"/>
          <p:cNvSpPr/>
          <p:nvPr/>
        </p:nvSpPr>
        <p:spPr>
          <a:xfrm>
            <a:off x="10229998" y="1901359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cell134"/>
          <p:cNvSpPr/>
          <p:nvPr/>
        </p:nvSpPr>
        <p:spPr>
          <a:xfrm>
            <a:off x="10229998" y="218909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cell135"/>
          <p:cNvSpPr/>
          <p:nvPr/>
        </p:nvSpPr>
        <p:spPr>
          <a:xfrm>
            <a:off x="10229998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6-cell136"/>
          <p:cNvSpPr/>
          <p:nvPr/>
        </p:nvSpPr>
        <p:spPr>
          <a:xfrm>
            <a:off x="10229998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figure137" descr="○ 그래프의 딸기 줄: 아래에서부터 3칸 색칠(○ 3개)"/>
          <p:cNvSpPr/>
          <p:nvPr/>
        </p:nvSpPr>
        <p:spPr>
          <a:xfrm>
            <a:off x="10229998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6-label138"/>
          <p:cNvSpPr txBox="1"/>
          <p:nvPr/>
        </p:nvSpPr>
        <p:spPr>
          <a:xfrm>
            <a:off x="9107424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표를 채워요</a:t>
            </a:r>
            <a:endParaRPr lang="ko-KR" sz="4400" dirty="0"/>
          </a:p>
        </p:txBody>
      </p:sp>
      <p:sp>
        <p:nvSpPr>
          <p:cNvPr id="3" name="S07-text1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12명이 좋아하는 색이에요.</a:t>
            </a:r>
            <a:endParaRPr lang="ko-KR" sz="3200" dirty="0"/>
          </a:p>
        </p:txBody>
      </p:sp>
      <p:sp>
        <p:nvSpPr>
          <p:cNvPr id="4" name="S07-card1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색별로 세어 표를 채워요.</a:t>
            </a:r>
            <a:endParaRPr lang="ko-KR" sz="3200" dirty="0"/>
          </a:p>
        </p:txBody>
      </p:sp>
      <p:sp>
        <p:nvSpPr>
          <p:cNvPr id="6" name="S07-word142"/>
          <p:cNvSpPr txBox="1"/>
          <p:nvPr/>
        </p:nvSpPr>
        <p:spPr>
          <a:xfrm>
            <a:off x="548640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7" name="S07-word143"/>
          <p:cNvSpPr txBox="1"/>
          <p:nvPr/>
        </p:nvSpPr>
        <p:spPr>
          <a:xfrm>
            <a:off x="1963674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8" name="S07-word144"/>
          <p:cNvSpPr txBox="1"/>
          <p:nvPr/>
        </p:nvSpPr>
        <p:spPr>
          <a:xfrm>
            <a:off x="3378708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200" dirty="0"/>
          </a:p>
        </p:txBody>
      </p:sp>
      <p:sp>
        <p:nvSpPr>
          <p:cNvPr id="9" name="S07-word145"/>
          <p:cNvSpPr txBox="1"/>
          <p:nvPr/>
        </p:nvSpPr>
        <p:spPr>
          <a:xfrm>
            <a:off x="4793742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10" name="S07-word146"/>
          <p:cNvSpPr txBox="1"/>
          <p:nvPr/>
        </p:nvSpPr>
        <p:spPr>
          <a:xfrm>
            <a:off x="548640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11" name="S07-word147"/>
          <p:cNvSpPr txBox="1"/>
          <p:nvPr/>
        </p:nvSpPr>
        <p:spPr>
          <a:xfrm>
            <a:off x="1963674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12" name="S07-word148"/>
          <p:cNvSpPr txBox="1"/>
          <p:nvPr/>
        </p:nvSpPr>
        <p:spPr>
          <a:xfrm>
            <a:off x="3378708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200" dirty="0"/>
          </a:p>
        </p:txBody>
      </p:sp>
      <p:sp>
        <p:nvSpPr>
          <p:cNvPr id="13" name="S07-word149"/>
          <p:cNvSpPr txBox="1"/>
          <p:nvPr/>
        </p:nvSpPr>
        <p:spPr>
          <a:xfrm>
            <a:off x="4793742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14" name="S07-word150"/>
          <p:cNvSpPr txBox="1"/>
          <p:nvPr/>
        </p:nvSpPr>
        <p:spPr>
          <a:xfrm>
            <a:off x="548640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15" name="S07-word151"/>
          <p:cNvSpPr txBox="1"/>
          <p:nvPr/>
        </p:nvSpPr>
        <p:spPr>
          <a:xfrm>
            <a:off x="1963674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200" dirty="0"/>
          </a:p>
        </p:txBody>
      </p:sp>
      <p:sp>
        <p:nvSpPr>
          <p:cNvPr id="16" name="S07-word152"/>
          <p:cNvSpPr txBox="1"/>
          <p:nvPr/>
        </p:nvSpPr>
        <p:spPr>
          <a:xfrm>
            <a:off x="3378708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17" name="S07-word153"/>
          <p:cNvSpPr txBox="1"/>
          <p:nvPr/>
        </p:nvSpPr>
        <p:spPr>
          <a:xfrm>
            <a:off x="4793742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graphicFrame>
        <p:nvGraphicFramePr>
          <p:cNvPr id="8" name="S07-table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54350"/>
          <a:ext cx="5385816" cy="914400"/>
        </p:xfrm>
        <a:graphic>
          <a:graphicData uri="http://schemas.openxmlformats.org/drawingml/2006/table">
            <a:tbl>
              <a:tblPr/>
              <a:tblGrid>
                <a:gridCol w="1508028"/>
                <a:gridCol w="969447"/>
                <a:gridCol w="969447"/>
                <a:gridCol w="969447"/>
                <a:gridCol w="969447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그래프는?</a:t>
            </a:r>
            <a:endParaRPr lang="ko-KR" sz="4400" dirty="0"/>
          </a:p>
        </p:txBody>
      </p:sp>
      <p:sp>
        <p:nvSpPr>
          <p:cNvPr id="3" name="S08-card1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표: 빨강 5명, 파랑 4명, 노랑 3명</a:t>
            </a:r>
            <a:endParaRPr lang="ko-KR" sz="3200" dirty="0"/>
          </a:p>
        </p:txBody>
      </p:sp>
      <p:sp>
        <p:nvSpPr>
          <p:cNvPr id="5" name="S08-card1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것은 가와 나 중 어느 것일까요?</a:t>
            </a:r>
            <a:endParaRPr lang="ko-KR" sz="3200" dirty="0"/>
          </a:p>
        </p:txBody>
      </p:sp>
      <p:sp>
        <p:nvSpPr>
          <p:cNvPr id="7" name="S08-chip1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cell160"/>
          <p:cNvSpPr/>
          <p:nvPr/>
        </p:nvSpPr>
        <p:spPr>
          <a:xfrm>
            <a:off x="1215200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161"/>
          <p:cNvSpPr/>
          <p:nvPr/>
        </p:nvSpPr>
        <p:spPr>
          <a:xfrm>
            <a:off x="1215200" y="3395853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62"/>
          <p:cNvSpPr/>
          <p:nvPr/>
        </p:nvSpPr>
        <p:spPr>
          <a:xfrm>
            <a:off x="1215200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163"/>
          <p:cNvSpPr/>
          <p:nvPr/>
        </p:nvSpPr>
        <p:spPr>
          <a:xfrm>
            <a:off x="1215200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164"/>
          <p:cNvSpPr/>
          <p:nvPr/>
        </p:nvSpPr>
        <p:spPr>
          <a:xfrm>
            <a:off x="1215200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165"/>
          <p:cNvSpPr/>
          <p:nvPr/>
        </p:nvSpPr>
        <p:spPr>
          <a:xfrm>
            <a:off x="1215200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figure166" descr="○ 그래프의 빨강 줄: 아래에서부터 5칸 색칠(○ 5개)"/>
          <p:cNvSpPr/>
          <p:nvPr/>
        </p:nvSpPr>
        <p:spPr>
          <a:xfrm>
            <a:off x="1215200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8-label167"/>
          <p:cNvSpPr txBox="1"/>
          <p:nvPr/>
        </p:nvSpPr>
        <p:spPr>
          <a:xfrm>
            <a:off x="54864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16" name="S08-cell168"/>
          <p:cNvSpPr/>
          <p:nvPr/>
        </p:nvSpPr>
        <p:spPr>
          <a:xfrm>
            <a:off x="3109532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169"/>
          <p:cNvSpPr/>
          <p:nvPr/>
        </p:nvSpPr>
        <p:spPr>
          <a:xfrm>
            <a:off x="3109532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170"/>
          <p:cNvSpPr/>
          <p:nvPr/>
        </p:nvSpPr>
        <p:spPr>
          <a:xfrm>
            <a:off x="3109532" y="3637026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171"/>
          <p:cNvSpPr/>
          <p:nvPr/>
        </p:nvSpPr>
        <p:spPr>
          <a:xfrm>
            <a:off x="3109532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72"/>
          <p:cNvSpPr/>
          <p:nvPr/>
        </p:nvSpPr>
        <p:spPr>
          <a:xfrm>
            <a:off x="3109532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73"/>
          <p:cNvSpPr/>
          <p:nvPr/>
        </p:nvSpPr>
        <p:spPr>
          <a:xfrm>
            <a:off x="3109532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174" descr="○ 그래프의 파랑 줄: 아래에서부터 3칸 색칠(○ 3개)"/>
          <p:cNvSpPr/>
          <p:nvPr/>
        </p:nvSpPr>
        <p:spPr>
          <a:xfrm>
            <a:off x="3109532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8-label175"/>
          <p:cNvSpPr txBox="1"/>
          <p:nvPr/>
        </p:nvSpPr>
        <p:spPr>
          <a:xfrm>
            <a:off x="2442972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24" name="S08-cell176"/>
          <p:cNvSpPr/>
          <p:nvPr/>
        </p:nvSpPr>
        <p:spPr>
          <a:xfrm>
            <a:off x="5003864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8-cell177"/>
          <p:cNvSpPr/>
          <p:nvPr/>
        </p:nvSpPr>
        <p:spPr>
          <a:xfrm>
            <a:off x="5003864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cell178"/>
          <p:cNvSpPr/>
          <p:nvPr/>
        </p:nvSpPr>
        <p:spPr>
          <a:xfrm>
            <a:off x="5003864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cell179"/>
          <p:cNvSpPr/>
          <p:nvPr/>
        </p:nvSpPr>
        <p:spPr>
          <a:xfrm>
            <a:off x="5003864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cell180"/>
          <p:cNvSpPr/>
          <p:nvPr/>
        </p:nvSpPr>
        <p:spPr>
          <a:xfrm>
            <a:off x="5003864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cell181"/>
          <p:cNvSpPr/>
          <p:nvPr/>
        </p:nvSpPr>
        <p:spPr>
          <a:xfrm>
            <a:off x="5003864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8-figure182" descr="○ 그래프의 노랑 줄: 아래에서부터 4칸 색칠(○ 4개)"/>
          <p:cNvSpPr/>
          <p:nvPr/>
        </p:nvSpPr>
        <p:spPr>
          <a:xfrm>
            <a:off x="5003864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8-label183"/>
          <p:cNvSpPr txBox="1"/>
          <p:nvPr/>
        </p:nvSpPr>
        <p:spPr>
          <a:xfrm>
            <a:off x="4337304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32" name="S08-chip18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33" name="S08-cell185"/>
          <p:cNvSpPr/>
          <p:nvPr/>
        </p:nvSpPr>
        <p:spPr>
          <a:xfrm>
            <a:off x="6943916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8-cell186"/>
          <p:cNvSpPr/>
          <p:nvPr/>
        </p:nvSpPr>
        <p:spPr>
          <a:xfrm>
            <a:off x="6943916" y="3395853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cell187"/>
          <p:cNvSpPr/>
          <p:nvPr/>
        </p:nvSpPr>
        <p:spPr>
          <a:xfrm>
            <a:off x="6943916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cell188"/>
          <p:cNvSpPr/>
          <p:nvPr/>
        </p:nvSpPr>
        <p:spPr>
          <a:xfrm>
            <a:off x="6943916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cell189"/>
          <p:cNvSpPr/>
          <p:nvPr/>
        </p:nvSpPr>
        <p:spPr>
          <a:xfrm>
            <a:off x="6943916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cell190"/>
          <p:cNvSpPr/>
          <p:nvPr/>
        </p:nvSpPr>
        <p:spPr>
          <a:xfrm>
            <a:off x="6943916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figure191" descr="○ 그래프의 빨강 줄: 아래에서부터 5칸 색칠(○ 5개)"/>
          <p:cNvSpPr/>
          <p:nvPr/>
        </p:nvSpPr>
        <p:spPr>
          <a:xfrm>
            <a:off x="6943916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8-label192"/>
          <p:cNvSpPr txBox="1"/>
          <p:nvPr/>
        </p:nvSpPr>
        <p:spPr>
          <a:xfrm>
            <a:off x="6277356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41" name="S08-cell193"/>
          <p:cNvSpPr/>
          <p:nvPr/>
        </p:nvSpPr>
        <p:spPr>
          <a:xfrm>
            <a:off x="8838248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8-cell194"/>
          <p:cNvSpPr/>
          <p:nvPr/>
        </p:nvSpPr>
        <p:spPr>
          <a:xfrm>
            <a:off x="8838248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8-cell195"/>
          <p:cNvSpPr/>
          <p:nvPr/>
        </p:nvSpPr>
        <p:spPr>
          <a:xfrm>
            <a:off x="8838248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8-cell196"/>
          <p:cNvSpPr/>
          <p:nvPr/>
        </p:nvSpPr>
        <p:spPr>
          <a:xfrm>
            <a:off x="8838248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8-cell197"/>
          <p:cNvSpPr/>
          <p:nvPr/>
        </p:nvSpPr>
        <p:spPr>
          <a:xfrm>
            <a:off x="8838248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8-cell198"/>
          <p:cNvSpPr/>
          <p:nvPr/>
        </p:nvSpPr>
        <p:spPr>
          <a:xfrm>
            <a:off x="8838248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8-figure199" descr="○ 그래프의 파랑 줄: 아래에서부터 4칸 색칠(○ 4개)"/>
          <p:cNvSpPr/>
          <p:nvPr/>
        </p:nvSpPr>
        <p:spPr>
          <a:xfrm>
            <a:off x="8838248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8" name="S08-label200"/>
          <p:cNvSpPr txBox="1"/>
          <p:nvPr/>
        </p:nvSpPr>
        <p:spPr>
          <a:xfrm>
            <a:off x="8171688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49" name="S08-cell201"/>
          <p:cNvSpPr/>
          <p:nvPr/>
        </p:nvSpPr>
        <p:spPr>
          <a:xfrm>
            <a:off x="10732580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8-cell202"/>
          <p:cNvSpPr/>
          <p:nvPr/>
        </p:nvSpPr>
        <p:spPr>
          <a:xfrm>
            <a:off x="10732580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8-cell203"/>
          <p:cNvSpPr/>
          <p:nvPr/>
        </p:nvSpPr>
        <p:spPr>
          <a:xfrm>
            <a:off x="10732580" y="3637026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8-cell204"/>
          <p:cNvSpPr/>
          <p:nvPr/>
        </p:nvSpPr>
        <p:spPr>
          <a:xfrm>
            <a:off x="10732580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8-cell205"/>
          <p:cNvSpPr/>
          <p:nvPr/>
        </p:nvSpPr>
        <p:spPr>
          <a:xfrm>
            <a:off x="10732580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8-cell206"/>
          <p:cNvSpPr/>
          <p:nvPr/>
        </p:nvSpPr>
        <p:spPr>
          <a:xfrm>
            <a:off x="10732580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8-figure207" descr="○ 그래프의 노랑 줄: 아래에서부터 3칸 색칠(○ 3개)"/>
          <p:cNvSpPr/>
          <p:nvPr/>
        </p:nvSpPr>
        <p:spPr>
          <a:xfrm>
            <a:off x="10732580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6" name="S08-label208"/>
          <p:cNvSpPr txBox="1"/>
          <p:nvPr/>
        </p:nvSpPr>
        <p:spPr>
          <a:xfrm>
            <a:off x="1006602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그려야 할까요?</a:t>
            </a:r>
            <a:endParaRPr lang="ko-KR" sz="4400" dirty="0"/>
          </a:p>
        </p:txBody>
      </p:sp>
      <p:sp>
        <p:nvSpPr>
          <p:cNvPr id="3" name="S09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표예요. 어느 쪽이 많고 적음을 잘 보여 줄까요?</a:t>
            </a:r>
            <a:endParaRPr lang="ko-KR" sz="3200" dirty="0"/>
          </a:p>
        </p:txBody>
      </p:sp>
      <p:sp>
        <p:nvSpPr>
          <p:cNvPr id="5" name="S09-chip211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위에서부터</a:t>
            </a:r>
            <a:endParaRPr lang="ko-KR" sz="2600" dirty="0"/>
          </a:p>
        </p:txBody>
      </p:sp>
      <p:sp>
        <p:nvSpPr>
          <p:cNvPr id="6" name="S09-cell212"/>
          <p:cNvSpPr/>
          <p:nvPr/>
        </p:nvSpPr>
        <p:spPr>
          <a:xfrm>
            <a:off x="1143762" y="21774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213"/>
          <p:cNvSpPr/>
          <p:nvPr/>
        </p:nvSpPr>
        <p:spPr>
          <a:xfrm>
            <a:off x="1143762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214"/>
          <p:cNvSpPr/>
          <p:nvPr/>
        </p:nvSpPr>
        <p:spPr>
          <a:xfrm>
            <a:off x="1143762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215"/>
          <p:cNvSpPr/>
          <p:nvPr/>
        </p:nvSpPr>
        <p:spPr>
          <a:xfrm>
            <a:off x="1143762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216"/>
          <p:cNvSpPr/>
          <p:nvPr/>
        </p:nvSpPr>
        <p:spPr>
          <a:xfrm>
            <a:off x="1143762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217"/>
          <p:cNvSpPr/>
          <p:nvPr/>
        </p:nvSpPr>
        <p:spPr>
          <a:xfrm>
            <a:off x="1143762" y="40976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figure218" descr="○ 그래프의 빨강 줄: 위에서부터 5칸 색칠(○ 5개)"/>
          <p:cNvSpPr/>
          <p:nvPr/>
        </p:nvSpPr>
        <p:spPr>
          <a:xfrm>
            <a:off x="1143762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9-label219"/>
          <p:cNvSpPr txBox="1"/>
          <p:nvPr/>
        </p:nvSpPr>
        <p:spPr>
          <a:xfrm>
            <a:off x="54864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14" name="S09-cell220"/>
          <p:cNvSpPr/>
          <p:nvPr/>
        </p:nvSpPr>
        <p:spPr>
          <a:xfrm>
            <a:off x="3038094" y="21774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221"/>
          <p:cNvSpPr/>
          <p:nvPr/>
        </p:nvSpPr>
        <p:spPr>
          <a:xfrm>
            <a:off x="3038094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222"/>
          <p:cNvSpPr/>
          <p:nvPr/>
        </p:nvSpPr>
        <p:spPr>
          <a:xfrm>
            <a:off x="3038094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223"/>
          <p:cNvSpPr/>
          <p:nvPr/>
        </p:nvSpPr>
        <p:spPr>
          <a:xfrm>
            <a:off x="3038094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224"/>
          <p:cNvSpPr/>
          <p:nvPr/>
        </p:nvSpPr>
        <p:spPr>
          <a:xfrm>
            <a:off x="3038094" y="371360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225"/>
          <p:cNvSpPr/>
          <p:nvPr/>
        </p:nvSpPr>
        <p:spPr>
          <a:xfrm>
            <a:off x="3038094" y="40976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figure226" descr="○ 그래프의 파랑 줄: 위에서부터 4칸 색칠(○ 4개)"/>
          <p:cNvSpPr/>
          <p:nvPr/>
        </p:nvSpPr>
        <p:spPr>
          <a:xfrm>
            <a:off x="3038094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9-label227"/>
          <p:cNvSpPr txBox="1"/>
          <p:nvPr/>
        </p:nvSpPr>
        <p:spPr>
          <a:xfrm>
            <a:off x="2442972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22" name="S09-cell228"/>
          <p:cNvSpPr/>
          <p:nvPr/>
        </p:nvSpPr>
        <p:spPr>
          <a:xfrm>
            <a:off x="4932426" y="21774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9-cell229"/>
          <p:cNvSpPr/>
          <p:nvPr/>
        </p:nvSpPr>
        <p:spPr>
          <a:xfrm>
            <a:off x="4932426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9-cell230"/>
          <p:cNvSpPr/>
          <p:nvPr/>
        </p:nvSpPr>
        <p:spPr>
          <a:xfrm>
            <a:off x="4932426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cell231"/>
          <p:cNvSpPr/>
          <p:nvPr/>
        </p:nvSpPr>
        <p:spPr>
          <a:xfrm>
            <a:off x="4932426" y="3329559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9-cell232"/>
          <p:cNvSpPr/>
          <p:nvPr/>
        </p:nvSpPr>
        <p:spPr>
          <a:xfrm>
            <a:off x="4932426" y="371360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9-cell233"/>
          <p:cNvSpPr/>
          <p:nvPr/>
        </p:nvSpPr>
        <p:spPr>
          <a:xfrm>
            <a:off x="4932426" y="40976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9-figure234" descr="○ 그래프의 노랑 줄: 위에서부터 3칸 색칠(○ 3개)"/>
          <p:cNvSpPr/>
          <p:nvPr/>
        </p:nvSpPr>
        <p:spPr>
          <a:xfrm>
            <a:off x="4932426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9-label235"/>
          <p:cNvSpPr txBox="1"/>
          <p:nvPr/>
        </p:nvSpPr>
        <p:spPr>
          <a:xfrm>
            <a:off x="4337304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30" name="S09-chip236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아래에서부터</a:t>
            </a:r>
            <a:endParaRPr lang="ko-KR" sz="2600" dirty="0"/>
          </a:p>
        </p:txBody>
      </p:sp>
      <p:sp>
        <p:nvSpPr>
          <p:cNvPr id="31" name="S09-cell237"/>
          <p:cNvSpPr/>
          <p:nvPr/>
        </p:nvSpPr>
        <p:spPr>
          <a:xfrm>
            <a:off x="6872478" y="217741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cell238"/>
          <p:cNvSpPr/>
          <p:nvPr/>
        </p:nvSpPr>
        <p:spPr>
          <a:xfrm>
            <a:off x="6872478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9-cell239"/>
          <p:cNvSpPr/>
          <p:nvPr/>
        </p:nvSpPr>
        <p:spPr>
          <a:xfrm>
            <a:off x="6872478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240"/>
          <p:cNvSpPr/>
          <p:nvPr/>
        </p:nvSpPr>
        <p:spPr>
          <a:xfrm>
            <a:off x="6872478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241"/>
          <p:cNvSpPr/>
          <p:nvPr/>
        </p:nvSpPr>
        <p:spPr>
          <a:xfrm>
            <a:off x="6872478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242"/>
          <p:cNvSpPr/>
          <p:nvPr/>
        </p:nvSpPr>
        <p:spPr>
          <a:xfrm>
            <a:off x="6872478" y="40976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figure243" descr="○ 그래프의 빨강 줄: 아래에서부터 5칸 색칠(○ 5개)"/>
          <p:cNvSpPr/>
          <p:nvPr/>
        </p:nvSpPr>
        <p:spPr>
          <a:xfrm>
            <a:off x="6872478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9-label244"/>
          <p:cNvSpPr txBox="1"/>
          <p:nvPr/>
        </p:nvSpPr>
        <p:spPr>
          <a:xfrm>
            <a:off x="6277356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39" name="S09-cell245"/>
          <p:cNvSpPr/>
          <p:nvPr/>
        </p:nvSpPr>
        <p:spPr>
          <a:xfrm>
            <a:off x="8766810" y="217741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9-cell246"/>
          <p:cNvSpPr/>
          <p:nvPr/>
        </p:nvSpPr>
        <p:spPr>
          <a:xfrm>
            <a:off x="8766810" y="256146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9-cell247"/>
          <p:cNvSpPr/>
          <p:nvPr/>
        </p:nvSpPr>
        <p:spPr>
          <a:xfrm>
            <a:off x="8766810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9-cell248"/>
          <p:cNvSpPr/>
          <p:nvPr/>
        </p:nvSpPr>
        <p:spPr>
          <a:xfrm>
            <a:off x="8766810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9-cell249"/>
          <p:cNvSpPr/>
          <p:nvPr/>
        </p:nvSpPr>
        <p:spPr>
          <a:xfrm>
            <a:off x="8766810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9-cell250"/>
          <p:cNvSpPr/>
          <p:nvPr/>
        </p:nvSpPr>
        <p:spPr>
          <a:xfrm>
            <a:off x="8766810" y="40976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9-figure251" descr="○ 그래프의 파랑 줄: 아래에서부터 4칸 색칠(○ 4개)"/>
          <p:cNvSpPr/>
          <p:nvPr/>
        </p:nvSpPr>
        <p:spPr>
          <a:xfrm>
            <a:off x="8766810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9-label252"/>
          <p:cNvSpPr txBox="1"/>
          <p:nvPr/>
        </p:nvSpPr>
        <p:spPr>
          <a:xfrm>
            <a:off x="8171688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47" name="S09-cell253"/>
          <p:cNvSpPr/>
          <p:nvPr/>
        </p:nvSpPr>
        <p:spPr>
          <a:xfrm>
            <a:off x="10661142" y="217741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9-cell254"/>
          <p:cNvSpPr/>
          <p:nvPr/>
        </p:nvSpPr>
        <p:spPr>
          <a:xfrm>
            <a:off x="10661142" y="256146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9-cell255"/>
          <p:cNvSpPr/>
          <p:nvPr/>
        </p:nvSpPr>
        <p:spPr>
          <a:xfrm>
            <a:off x="10661142" y="294551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9-cell256"/>
          <p:cNvSpPr/>
          <p:nvPr/>
        </p:nvSpPr>
        <p:spPr>
          <a:xfrm>
            <a:off x="10661142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9-cell257"/>
          <p:cNvSpPr/>
          <p:nvPr/>
        </p:nvSpPr>
        <p:spPr>
          <a:xfrm>
            <a:off x="10661142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9-cell258"/>
          <p:cNvSpPr/>
          <p:nvPr/>
        </p:nvSpPr>
        <p:spPr>
          <a:xfrm>
            <a:off x="10661142" y="40976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9-figure259" descr="○ 그래프의 노랑 줄: 아래에서부터 3칸 색칠(○ 3개)"/>
          <p:cNvSpPr/>
          <p:nvPr/>
        </p:nvSpPr>
        <p:spPr>
          <a:xfrm>
            <a:off x="10661142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4" name="S09-label260"/>
          <p:cNvSpPr txBox="1"/>
          <p:nvPr/>
        </p:nvSpPr>
        <p:spPr>
          <a:xfrm>
            <a:off x="1006602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읽어요</a:t>
            </a:r>
            <a:endParaRPr lang="ko-KR" sz="4400" dirty="0"/>
          </a:p>
        </p:txBody>
      </p:sp>
      <p:sp>
        <p:nvSpPr>
          <p:cNvPr id="3" name="S10-text2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수예요.</a:t>
            </a:r>
            <a:endParaRPr lang="ko-KR" sz="3200" dirty="0"/>
          </a:p>
        </p:txBody>
      </p:sp>
      <p:sp>
        <p:nvSpPr>
          <p:cNvPr id="4" name="S10-card262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263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계절은?</a:t>
            </a:r>
            <a:endParaRPr lang="ko-KR" sz="3200" dirty="0"/>
          </a:p>
        </p:txBody>
      </p:sp>
      <p:sp>
        <p:nvSpPr>
          <p:cNvPr id="6" name="S10-card264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265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여름은 겨울보다 몇 명 더?</a:t>
            </a:r>
            <a:endParaRPr lang="ko-KR" sz="3200" dirty="0"/>
          </a:p>
        </p:txBody>
      </p:sp>
      <p:sp>
        <p:nvSpPr>
          <p:cNvPr id="8" name="S10-cell266"/>
          <p:cNvSpPr/>
          <p:nvPr/>
        </p:nvSpPr>
        <p:spPr>
          <a:xfrm>
            <a:off x="1623060" y="21545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0-cell267"/>
          <p:cNvSpPr/>
          <p:nvPr/>
        </p:nvSpPr>
        <p:spPr>
          <a:xfrm>
            <a:off x="1623060" y="253860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cell268"/>
          <p:cNvSpPr/>
          <p:nvPr/>
        </p:nvSpPr>
        <p:spPr>
          <a:xfrm>
            <a:off x="1623060" y="292265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0-cell269"/>
          <p:cNvSpPr/>
          <p:nvPr/>
        </p:nvSpPr>
        <p:spPr>
          <a:xfrm>
            <a:off x="1623060" y="330669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cell270"/>
          <p:cNvSpPr/>
          <p:nvPr/>
        </p:nvSpPr>
        <p:spPr>
          <a:xfrm>
            <a:off x="1623060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271"/>
          <p:cNvSpPr/>
          <p:nvPr/>
        </p:nvSpPr>
        <p:spPr>
          <a:xfrm>
            <a:off x="1623060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figure272" descr="○ 그래프의 봄 줄: 아래에서부터 4칸 색칠(○ 4개)"/>
          <p:cNvSpPr/>
          <p:nvPr/>
        </p:nvSpPr>
        <p:spPr>
          <a:xfrm>
            <a:off x="1623060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0-label273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600" dirty="0"/>
          </a:p>
        </p:txBody>
      </p:sp>
      <p:sp>
        <p:nvSpPr>
          <p:cNvPr id="16" name="S10-cell274"/>
          <p:cNvSpPr/>
          <p:nvPr/>
        </p:nvSpPr>
        <p:spPr>
          <a:xfrm>
            <a:off x="4475988" y="21545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275"/>
          <p:cNvSpPr/>
          <p:nvPr/>
        </p:nvSpPr>
        <p:spPr>
          <a:xfrm>
            <a:off x="4475988" y="253860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276"/>
          <p:cNvSpPr/>
          <p:nvPr/>
        </p:nvSpPr>
        <p:spPr>
          <a:xfrm>
            <a:off x="4475988" y="292265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277"/>
          <p:cNvSpPr/>
          <p:nvPr/>
        </p:nvSpPr>
        <p:spPr>
          <a:xfrm>
            <a:off x="4475988" y="330669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278"/>
          <p:cNvSpPr/>
          <p:nvPr/>
        </p:nvSpPr>
        <p:spPr>
          <a:xfrm>
            <a:off x="4475988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279"/>
          <p:cNvSpPr/>
          <p:nvPr/>
        </p:nvSpPr>
        <p:spPr>
          <a:xfrm>
            <a:off x="4475988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figure280" descr="○ 그래프의 여름 줄: 아래에서부터 6칸 색칠(○ 6개)"/>
          <p:cNvSpPr/>
          <p:nvPr/>
        </p:nvSpPr>
        <p:spPr>
          <a:xfrm>
            <a:off x="4475988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0-label281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600" dirty="0"/>
          </a:p>
        </p:txBody>
      </p:sp>
      <p:sp>
        <p:nvSpPr>
          <p:cNvPr id="24" name="S10-cell282"/>
          <p:cNvSpPr/>
          <p:nvPr/>
        </p:nvSpPr>
        <p:spPr>
          <a:xfrm>
            <a:off x="7328916" y="21545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0-cell283"/>
          <p:cNvSpPr/>
          <p:nvPr/>
        </p:nvSpPr>
        <p:spPr>
          <a:xfrm>
            <a:off x="7328916" y="253860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284"/>
          <p:cNvSpPr/>
          <p:nvPr/>
        </p:nvSpPr>
        <p:spPr>
          <a:xfrm>
            <a:off x="7328916" y="292265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285"/>
          <p:cNvSpPr/>
          <p:nvPr/>
        </p:nvSpPr>
        <p:spPr>
          <a:xfrm>
            <a:off x="7328916" y="330669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cell286"/>
          <p:cNvSpPr/>
          <p:nvPr/>
        </p:nvSpPr>
        <p:spPr>
          <a:xfrm>
            <a:off x="7328916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0-cell287"/>
          <p:cNvSpPr/>
          <p:nvPr/>
        </p:nvSpPr>
        <p:spPr>
          <a:xfrm>
            <a:off x="7328916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0-figure288" descr="○ 그래프의 가을 줄: 아래에서부터 3칸 색칠(○ 3개)"/>
          <p:cNvSpPr/>
          <p:nvPr/>
        </p:nvSpPr>
        <p:spPr>
          <a:xfrm>
            <a:off x="7328916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0-label289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600" dirty="0"/>
          </a:p>
        </p:txBody>
      </p:sp>
      <p:sp>
        <p:nvSpPr>
          <p:cNvPr id="32" name="S10-cell290"/>
          <p:cNvSpPr/>
          <p:nvPr/>
        </p:nvSpPr>
        <p:spPr>
          <a:xfrm>
            <a:off x="10181844" y="21545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0-cell291"/>
          <p:cNvSpPr/>
          <p:nvPr/>
        </p:nvSpPr>
        <p:spPr>
          <a:xfrm>
            <a:off x="10181844" y="253860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0-cell292"/>
          <p:cNvSpPr/>
          <p:nvPr/>
        </p:nvSpPr>
        <p:spPr>
          <a:xfrm>
            <a:off x="10181844" y="292265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0-cell293"/>
          <p:cNvSpPr/>
          <p:nvPr/>
        </p:nvSpPr>
        <p:spPr>
          <a:xfrm>
            <a:off x="10181844" y="3306699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0-cell294"/>
          <p:cNvSpPr/>
          <p:nvPr/>
        </p:nvSpPr>
        <p:spPr>
          <a:xfrm>
            <a:off x="10181844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0-cell295"/>
          <p:cNvSpPr/>
          <p:nvPr/>
        </p:nvSpPr>
        <p:spPr>
          <a:xfrm>
            <a:off x="10181844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0-figure296" descr="○ 그래프의 겨울 줄: 아래에서부터 2칸 색칠(○ 2개)"/>
          <p:cNvSpPr/>
          <p:nvPr/>
        </p:nvSpPr>
        <p:spPr>
          <a:xfrm>
            <a:off x="10181844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9" name="S10-label297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간식을 세어 표를 채우고, 가장 많은 것을 말해요.</a:t>
            </a:r>
            <a:endParaRPr lang="ko-KR" sz="3200" dirty="0"/>
          </a:p>
        </p:txBody>
      </p:sp>
      <p:sp>
        <p:nvSpPr>
          <p:cNvPr id="4" name="S11-card2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3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그래프에는 ○를 몇 개씩 그릴까요?</a:t>
            </a:r>
            <a:endParaRPr lang="ko-KR" sz="3200" dirty="0"/>
          </a:p>
        </p:txBody>
      </p:sp>
      <p:sp>
        <p:nvSpPr>
          <p:cNvPr id="6" name="S11-word301"/>
          <p:cNvSpPr txBox="1"/>
          <p:nvPr/>
        </p:nvSpPr>
        <p:spPr>
          <a:xfrm>
            <a:off x="548640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7" name="S11-word302"/>
          <p:cNvSpPr txBox="1"/>
          <p:nvPr/>
        </p:nvSpPr>
        <p:spPr>
          <a:xfrm>
            <a:off x="1963674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8" name="S11-word303"/>
          <p:cNvSpPr txBox="1"/>
          <p:nvPr/>
        </p:nvSpPr>
        <p:spPr>
          <a:xfrm>
            <a:off x="3378708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9" name="S11-word304"/>
          <p:cNvSpPr txBox="1"/>
          <p:nvPr/>
        </p:nvSpPr>
        <p:spPr>
          <a:xfrm>
            <a:off x="4793742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</a:t>
            </a:r>
            <a:endParaRPr lang="ko-KR" sz="3600" dirty="0"/>
          </a:p>
        </p:txBody>
      </p:sp>
      <p:sp>
        <p:nvSpPr>
          <p:cNvPr id="10" name="S11-word305"/>
          <p:cNvSpPr txBox="1"/>
          <p:nvPr/>
        </p:nvSpPr>
        <p:spPr>
          <a:xfrm>
            <a:off x="548640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11" name="S11-word306"/>
          <p:cNvSpPr txBox="1"/>
          <p:nvPr/>
        </p:nvSpPr>
        <p:spPr>
          <a:xfrm>
            <a:off x="1963674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12" name="S11-word307"/>
          <p:cNvSpPr txBox="1"/>
          <p:nvPr/>
        </p:nvSpPr>
        <p:spPr>
          <a:xfrm>
            <a:off x="3378708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13" name="S11-word308"/>
          <p:cNvSpPr txBox="1"/>
          <p:nvPr/>
        </p:nvSpPr>
        <p:spPr>
          <a:xfrm>
            <a:off x="4793742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14" name="S11-word309"/>
          <p:cNvSpPr txBox="1"/>
          <p:nvPr/>
        </p:nvSpPr>
        <p:spPr>
          <a:xfrm>
            <a:off x="548640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</a:t>
            </a:r>
            <a:endParaRPr lang="ko-KR" sz="3600" dirty="0"/>
          </a:p>
        </p:txBody>
      </p:sp>
      <p:sp>
        <p:nvSpPr>
          <p:cNvPr id="15" name="S11-word310"/>
          <p:cNvSpPr txBox="1"/>
          <p:nvPr/>
        </p:nvSpPr>
        <p:spPr>
          <a:xfrm>
            <a:off x="1963674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16" name="S11-word311"/>
          <p:cNvSpPr txBox="1"/>
          <p:nvPr/>
        </p:nvSpPr>
        <p:spPr>
          <a:xfrm>
            <a:off x="3378708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graphicFrame>
        <p:nvGraphicFramePr>
          <p:cNvPr id="12" name="S11-table3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54350"/>
          <a:ext cx="5385816" cy="914400"/>
        </p:xfrm>
        <a:graphic>
          <a:graphicData uri="http://schemas.openxmlformats.org/drawingml/2006/table">
            <a:tbl>
              <a:tblPr/>
              <a:tblGrid>
                <a:gridCol w="1508028"/>
                <a:gridCol w="969447"/>
                <a:gridCol w="969447"/>
                <a:gridCol w="969447"/>
                <a:gridCol w="969447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표로</a:t>
            </a:r>
            <a:endParaRPr lang="ko-KR" sz="4400" dirty="0"/>
          </a:p>
        </p:txBody>
      </p:sp>
      <p:sp>
        <p:nvSpPr>
          <p:cNvPr id="3" name="S13-text3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운동별 학생 수를 표로 나타내요.</a:t>
            </a:r>
            <a:endParaRPr lang="ko-KR" sz="3200" dirty="0"/>
          </a:p>
        </p:txBody>
      </p:sp>
      <p:sp>
        <p:nvSpPr>
          <p:cNvPr id="4" name="S13-card314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15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 □명, 축구 □명, 야구 □명</a:t>
            </a:r>
            <a:endParaRPr lang="ko-KR" sz="3200" dirty="0"/>
          </a:p>
        </p:txBody>
      </p:sp>
      <p:sp>
        <p:nvSpPr>
          <p:cNvPr id="6" name="S13-card316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317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□명, 가장 적은 운동은?</a:t>
            </a:r>
            <a:endParaRPr lang="ko-KR" sz="3200" dirty="0"/>
          </a:p>
        </p:txBody>
      </p:sp>
      <p:sp>
        <p:nvSpPr>
          <p:cNvPr id="8" name="S13-cell318"/>
          <p:cNvSpPr/>
          <p:nvPr/>
        </p:nvSpPr>
        <p:spPr>
          <a:xfrm>
            <a:off x="2125980" y="2093087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319"/>
          <p:cNvSpPr/>
          <p:nvPr/>
        </p:nvSpPr>
        <p:spPr>
          <a:xfrm>
            <a:off x="2125980" y="2422271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320"/>
          <p:cNvSpPr/>
          <p:nvPr/>
        </p:nvSpPr>
        <p:spPr>
          <a:xfrm>
            <a:off x="2125980" y="2751455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321"/>
          <p:cNvSpPr/>
          <p:nvPr/>
        </p:nvSpPr>
        <p:spPr>
          <a:xfrm>
            <a:off x="2125980" y="3080639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322"/>
          <p:cNvSpPr/>
          <p:nvPr/>
        </p:nvSpPr>
        <p:spPr>
          <a:xfrm>
            <a:off x="2125980" y="3409823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323"/>
          <p:cNvSpPr/>
          <p:nvPr/>
        </p:nvSpPr>
        <p:spPr>
          <a:xfrm>
            <a:off x="2125980" y="3739007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figure324" descr="○ 그래프의 수영 줄: 아래에서부터 3칸 색칠(○ 3개)"/>
          <p:cNvSpPr/>
          <p:nvPr/>
        </p:nvSpPr>
        <p:spPr>
          <a:xfrm>
            <a:off x="2125980" y="2093087"/>
            <a:ext cx="329184" cy="197510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3-label325"/>
          <p:cNvSpPr txBox="1"/>
          <p:nvPr/>
        </p:nvSpPr>
        <p:spPr>
          <a:xfrm>
            <a:off x="548640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</a:t>
            </a:r>
            <a:endParaRPr lang="ko-KR" sz="2600" dirty="0"/>
          </a:p>
        </p:txBody>
      </p:sp>
      <p:sp>
        <p:nvSpPr>
          <p:cNvPr id="16" name="S13-cell326"/>
          <p:cNvSpPr/>
          <p:nvPr/>
        </p:nvSpPr>
        <p:spPr>
          <a:xfrm>
            <a:off x="5929884" y="2093087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327"/>
          <p:cNvSpPr/>
          <p:nvPr/>
        </p:nvSpPr>
        <p:spPr>
          <a:xfrm>
            <a:off x="5929884" y="2422271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328"/>
          <p:cNvSpPr/>
          <p:nvPr/>
        </p:nvSpPr>
        <p:spPr>
          <a:xfrm>
            <a:off x="5929884" y="2751455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329"/>
          <p:cNvSpPr/>
          <p:nvPr/>
        </p:nvSpPr>
        <p:spPr>
          <a:xfrm>
            <a:off x="5929884" y="3080639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cell330"/>
          <p:cNvSpPr/>
          <p:nvPr/>
        </p:nvSpPr>
        <p:spPr>
          <a:xfrm>
            <a:off x="5929884" y="3409823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cell331"/>
          <p:cNvSpPr/>
          <p:nvPr/>
        </p:nvSpPr>
        <p:spPr>
          <a:xfrm>
            <a:off x="5929884" y="3739007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figure332" descr="○ 그래프의 축구 줄: 아래에서부터 5칸 색칠(○ 5개)"/>
          <p:cNvSpPr/>
          <p:nvPr/>
        </p:nvSpPr>
        <p:spPr>
          <a:xfrm>
            <a:off x="5929884" y="2093087"/>
            <a:ext cx="329184" cy="197510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3-label333"/>
          <p:cNvSpPr txBox="1"/>
          <p:nvPr/>
        </p:nvSpPr>
        <p:spPr>
          <a:xfrm>
            <a:off x="4352544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600" dirty="0"/>
          </a:p>
        </p:txBody>
      </p:sp>
      <p:sp>
        <p:nvSpPr>
          <p:cNvPr id="24" name="S13-cell334"/>
          <p:cNvSpPr/>
          <p:nvPr/>
        </p:nvSpPr>
        <p:spPr>
          <a:xfrm>
            <a:off x="9733788" y="2093087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335"/>
          <p:cNvSpPr/>
          <p:nvPr/>
        </p:nvSpPr>
        <p:spPr>
          <a:xfrm>
            <a:off x="9733788" y="2422271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336"/>
          <p:cNvSpPr/>
          <p:nvPr/>
        </p:nvSpPr>
        <p:spPr>
          <a:xfrm>
            <a:off x="9733788" y="2751455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337"/>
          <p:cNvSpPr/>
          <p:nvPr/>
        </p:nvSpPr>
        <p:spPr>
          <a:xfrm>
            <a:off x="9733788" y="3080639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cell338"/>
          <p:cNvSpPr/>
          <p:nvPr/>
        </p:nvSpPr>
        <p:spPr>
          <a:xfrm>
            <a:off x="9733788" y="3409823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339"/>
          <p:cNvSpPr/>
          <p:nvPr/>
        </p:nvSpPr>
        <p:spPr>
          <a:xfrm>
            <a:off x="9733788" y="3739007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figure340" descr="○ 그래프의 야구 줄: 아래에서부터 2칸 색칠(○ 2개)"/>
          <p:cNvSpPr/>
          <p:nvPr/>
        </p:nvSpPr>
        <p:spPr>
          <a:xfrm>
            <a:off x="9733788" y="2093087"/>
            <a:ext cx="329184" cy="197510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3-label341"/>
          <p:cNvSpPr txBox="1"/>
          <p:nvPr/>
        </p:nvSpPr>
        <p:spPr>
          <a:xfrm>
            <a:off x="8156448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4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4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표는 수와 합계를, 그래프는 많고 적음을 한눈에 보여 줘요.</a:t>
            </a:r>
            <a:endParaRPr lang="ko-KR" sz="3200" dirty="0"/>
          </a:p>
        </p:txBody>
      </p:sp>
      <p:sp>
        <p:nvSpPr>
          <p:cNvPr id="5" name="S14-chip34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아래에서부터 빈칸 없이 그리기</a:t>
            </a:r>
            <a:endParaRPr lang="ko-KR" sz="2600" dirty="0"/>
          </a:p>
        </p:txBody>
      </p:sp>
      <p:sp>
        <p:nvSpPr>
          <p:cNvPr id="6" name="S14-chip34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합계 확인 안 하기</a:t>
            </a:r>
            <a:endParaRPr lang="ko-KR" sz="2600" dirty="0"/>
          </a:p>
        </p:txBody>
      </p:sp>
      <p:sp>
        <p:nvSpPr>
          <p:cNvPr id="7" name="S14-text34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34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그래프의 ○는 어디서부터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그려요?</a:t>
            </a:r>
            <a:endParaRPr lang="ko-KR" sz="2600" dirty="0"/>
          </a:p>
        </p:txBody>
      </p:sp>
      <p:sp>
        <p:nvSpPr>
          <p:cNvPr id="9" name="S14-text34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표의 합계는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무엇과 같아요?</a:t>
            </a:r>
            <a:endParaRPr lang="ko-KR" sz="2600" dirty="0"/>
          </a:p>
        </p:txBody>
      </p:sp>
      <p:sp>
        <p:nvSpPr>
          <p:cNvPr id="10" name="S14-text34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가장 많은 것은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찾아요?</a:t>
            </a:r>
            <a:endParaRPr lang="ko-KR" sz="2600" dirty="0"/>
          </a:p>
        </p:txBody>
      </p:sp>
      <p:sp>
        <p:nvSpPr>
          <p:cNvPr id="11" name="S14-text35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무늬와 수의 규칙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종류별로 세요</a:t>
            </a:r>
            <a:endParaRPr lang="ko-KR" sz="4400" dirty="0"/>
          </a:p>
        </p:txBody>
      </p:sp>
      <p:sp>
        <p:nvSpPr>
          <p:cNvPr id="3" name="S15-text3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빨강만 골라서 세어 봐요.</a:t>
            </a:r>
            <a:endParaRPr lang="ko-KR" sz="3200" dirty="0"/>
          </a:p>
        </p:txBody>
      </p:sp>
      <p:sp>
        <p:nvSpPr>
          <p:cNvPr id="4" name="S15-card3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 3, 파랑 1, 노랑 1. 모두 5예요.</a:t>
            </a:r>
            <a:endParaRPr lang="ko-KR" sz="3200" dirty="0"/>
          </a:p>
        </p:txBody>
      </p:sp>
      <p:sp>
        <p:nvSpPr>
          <p:cNvPr id="6" name="S15-word354"/>
          <p:cNvSpPr txBox="1"/>
          <p:nvPr/>
        </p:nvSpPr>
        <p:spPr>
          <a:xfrm>
            <a:off x="548640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600" dirty="0"/>
          </a:p>
        </p:txBody>
      </p:sp>
      <p:sp>
        <p:nvSpPr>
          <p:cNvPr id="7" name="S15-word355"/>
          <p:cNvSpPr txBox="1"/>
          <p:nvPr/>
        </p:nvSpPr>
        <p:spPr>
          <a:xfrm>
            <a:off x="2821838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600" dirty="0"/>
          </a:p>
        </p:txBody>
      </p:sp>
      <p:sp>
        <p:nvSpPr>
          <p:cNvPr id="8" name="S15-word356"/>
          <p:cNvSpPr txBox="1"/>
          <p:nvPr/>
        </p:nvSpPr>
        <p:spPr>
          <a:xfrm>
            <a:off x="5095037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600" dirty="0"/>
          </a:p>
        </p:txBody>
      </p:sp>
      <p:sp>
        <p:nvSpPr>
          <p:cNvPr id="9" name="S15-word357"/>
          <p:cNvSpPr txBox="1"/>
          <p:nvPr/>
        </p:nvSpPr>
        <p:spPr>
          <a:xfrm>
            <a:off x="7368235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600" dirty="0"/>
          </a:p>
        </p:txBody>
      </p:sp>
      <p:sp>
        <p:nvSpPr>
          <p:cNvPr id="10" name="S15-word358"/>
          <p:cNvSpPr txBox="1"/>
          <p:nvPr/>
        </p:nvSpPr>
        <p:spPr>
          <a:xfrm>
            <a:off x="9641434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표와 그래프</dc:title>
  <dc:subject>KR22-G02-MAT-TABLEGRAPH-L01</dc:subject>
  <dc:creator>education-ppt</dc:creator>
  <cp:lastModifiedBy>education-ppt</cp:lastModifiedBy>
  <cp:revision>1</cp:revision>
  <dcterms:created xsi:type="dcterms:W3CDTF">2026-10-26T07:46:58Z</dcterms:created>
  <dcterms:modified xsi:type="dcterms:W3CDTF">2026-10-26T07:46:58Z</dcterms:modified>
</cp:coreProperties>
</file>