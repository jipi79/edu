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b1f0e8a-fa5e-f00a-ec0d-7a407d47b693}">
          <p14:sldIdLst>
            <p14:sldId id="256"/>
            <p14:sldId id="257"/>
          </p14:sldIdLst>
        </p14:section>
        <p14:section name="개념" id="{7b87e894-2d7c-bc43-dd04-91db31b953a2}">
          <p14:sldIdLst>
            <p14:sldId id="258"/>
            <p14:sldId id="259"/>
            <p14:sldId id="260"/>
            <p14:sldId id="261"/>
          </p14:sldIdLst>
        </p14:section>
        <p14:section name="연습" id="{8b10c0cb-64b4-bd8f-7e0e-a2429fd7f24e}">
          <p14:sldIdLst>
            <p14:sldId id="262"/>
            <p14:sldId id="263"/>
            <p14:sldId id="264"/>
            <p14:sldId id="265"/>
          </p14:sldIdLst>
        </p14:section>
        <p14:section name="확인" id="{9bd913f1-dcdb-d459-9fdb-0b865b267084}">
          <p14:sldIdLst>
            <p14:sldId id="266"/>
            <p14:sldId id="267"/>
          </p14:sldIdLst>
        </p14:section>
        <p14:section name="정리" id="{de780b0f-4986-27cf-bb87-1ed5f768038c}">
          <p14:sldIdLst>
            <p14:sldId id="268"/>
          </p14:sldIdLst>
        </p14:section>
        <p14:section name="보충" id="{4efce1bf-73b4-4a5e-4956-7bf2257fb34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표와 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표와 그래프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과일을 가장 좋아할까?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87869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7878699" y="1408176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7878699" y="1755648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787869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87869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787869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figure7" descr="○ 그래프의 사과 줄: 아래에서부터 5칸 색칠(○ 5개)"/>
          <p:cNvSpPr/>
          <p:nvPr/>
        </p:nvSpPr>
        <p:spPr>
          <a:xfrm>
            <a:off x="787869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894168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894168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941689" y="1755648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941689" y="2103120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94168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94168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○ 그래프의 귤 줄: 아래에서부터 2칸 색칠(○ 2개)"/>
          <p:cNvSpPr/>
          <p:nvPr/>
        </p:nvSpPr>
        <p:spPr>
          <a:xfrm>
            <a:off x="894168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1000467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0467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004679" y="1755648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00467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00467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00467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figure21" descr="○ 그래프의 포도 줄: 아래에서부터 4칸 색칠(○ 4개)"/>
          <p:cNvSpPr/>
          <p:nvPr/>
        </p:nvSpPr>
        <p:spPr>
          <a:xfrm>
            <a:off x="1000467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1067669" y="1060704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067669" y="1408176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067669" y="1755648"/>
            <a:ext cx="347472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11067669" y="2103120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1067669" y="2450592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1067669" y="2798064"/>
            <a:ext cx="347472" cy="3474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figure28" descr="○ 그래프의 딸기 줄: 아래에서부터 3칸 색칠(○ 3개)"/>
          <p:cNvSpPr/>
          <p:nvPr/>
        </p:nvSpPr>
        <p:spPr>
          <a:xfrm>
            <a:off x="11067669" y="1060704"/>
            <a:ext cx="347472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1-card2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3" name="S01-cardtext3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조사한 자료를 표로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○ 그래프로 나타내고 알 수 있는 것을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봐요.</a:t>
            </a:r>
            <a:endParaRPr lang="ko-KR" sz="3200" dirty="0"/>
          </a:p>
        </p:txBody>
      </p:sp>
      <p:sp>
        <p:nvSpPr>
          <p:cNvPr id="4" name="S02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33"/>
          <p:cNvSpPr txBox="1"/>
          <p:nvPr/>
        </p:nvSpPr>
        <p:spPr>
          <a:xfrm>
            <a:off x="1344168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6" name="S02-tile34"/>
          <p:cNvSpPr txBox="1"/>
          <p:nvPr/>
        </p:nvSpPr>
        <p:spPr>
          <a:xfrm>
            <a:off x="2078736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7" name="S02-tile35"/>
          <p:cNvSpPr txBox="1"/>
          <p:nvPr/>
        </p:nvSpPr>
        <p:spPr>
          <a:xfrm>
            <a:off x="2813304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8" name="S02-tile36"/>
          <p:cNvSpPr txBox="1"/>
          <p:nvPr/>
        </p:nvSpPr>
        <p:spPr>
          <a:xfrm>
            <a:off x="3547872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2300" dirty="0"/>
          </a:p>
        </p:txBody>
      </p:sp>
      <p:sp>
        <p:nvSpPr>
          <p:cNvPr id="9" name="S02-tile37"/>
          <p:cNvSpPr txBox="1"/>
          <p:nvPr/>
        </p:nvSpPr>
        <p:spPr>
          <a:xfrm>
            <a:off x="4282440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300" dirty="0"/>
          </a:p>
        </p:txBody>
      </p:sp>
      <p:sp>
        <p:nvSpPr>
          <p:cNvPr id="10" name="S02-tile38"/>
          <p:cNvSpPr txBox="1"/>
          <p:nvPr/>
        </p:nvSpPr>
        <p:spPr>
          <a:xfrm>
            <a:off x="5017008" y="247650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11" name="S02-chip3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2-text4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센 수를 더하면?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자료</a:t>
            </a:r>
            <a:endParaRPr lang="ko-KR" sz="44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14명이 좋아하는 과일이에요.</a:t>
            </a:r>
            <a:endParaRPr lang="ko-KR" sz="3200" dirty="0"/>
          </a:p>
        </p:txBody>
      </p:sp>
      <p:sp>
        <p:nvSpPr>
          <p:cNvPr id="4" name="S03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이대로는 어떤 과일이 몇 명인지 알기 어려워요.</a:t>
            </a:r>
            <a:endParaRPr lang="ko-KR" sz="3200" dirty="0"/>
          </a:p>
        </p:txBody>
      </p:sp>
      <p:sp>
        <p:nvSpPr>
          <p:cNvPr id="6" name="S03-word44"/>
          <p:cNvSpPr txBox="1"/>
          <p:nvPr/>
        </p:nvSpPr>
        <p:spPr>
          <a:xfrm>
            <a:off x="548640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7" name="S03-word45"/>
          <p:cNvSpPr txBox="1"/>
          <p:nvPr/>
        </p:nvSpPr>
        <p:spPr>
          <a:xfrm>
            <a:off x="2172353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8" name="S03-word46"/>
          <p:cNvSpPr txBox="1"/>
          <p:nvPr/>
        </p:nvSpPr>
        <p:spPr>
          <a:xfrm>
            <a:off x="3796066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9" name="S03-word47"/>
          <p:cNvSpPr txBox="1"/>
          <p:nvPr/>
        </p:nvSpPr>
        <p:spPr>
          <a:xfrm>
            <a:off x="5419779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0" name="S03-word48"/>
          <p:cNvSpPr txBox="1"/>
          <p:nvPr/>
        </p:nvSpPr>
        <p:spPr>
          <a:xfrm>
            <a:off x="7043493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1" name="S03-word49"/>
          <p:cNvSpPr txBox="1"/>
          <p:nvPr/>
        </p:nvSpPr>
        <p:spPr>
          <a:xfrm>
            <a:off x="8667206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2" name="S03-word50"/>
          <p:cNvSpPr txBox="1"/>
          <p:nvPr/>
        </p:nvSpPr>
        <p:spPr>
          <a:xfrm>
            <a:off x="10290919" y="201168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3" name="S03-word51"/>
          <p:cNvSpPr txBox="1"/>
          <p:nvPr/>
        </p:nvSpPr>
        <p:spPr>
          <a:xfrm>
            <a:off x="548640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4" name="S03-word52"/>
          <p:cNvSpPr txBox="1"/>
          <p:nvPr/>
        </p:nvSpPr>
        <p:spPr>
          <a:xfrm>
            <a:off x="2172353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5" name="S03-word53"/>
          <p:cNvSpPr txBox="1"/>
          <p:nvPr/>
        </p:nvSpPr>
        <p:spPr>
          <a:xfrm>
            <a:off x="3796066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6" name="S03-word54"/>
          <p:cNvSpPr txBox="1"/>
          <p:nvPr/>
        </p:nvSpPr>
        <p:spPr>
          <a:xfrm>
            <a:off x="5419779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7" name="S03-word55"/>
          <p:cNvSpPr txBox="1"/>
          <p:nvPr/>
        </p:nvSpPr>
        <p:spPr>
          <a:xfrm>
            <a:off x="7043493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18" name="S03-word56"/>
          <p:cNvSpPr txBox="1"/>
          <p:nvPr/>
        </p:nvSpPr>
        <p:spPr>
          <a:xfrm>
            <a:off x="8667206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9" name="S03-word57"/>
          <p:cNvSpPr txBox="1"/>
          <p:nvPr/>
        </p:nvSpPr>
        <p:spPr>
          <a:xfrm>
            <a:off x="10290919" y="3703320"/>
            <a:ext cx="1349393" cy="141732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나타내요</a:t>
            </a:r>
            <a:endParaRPr lang="ko-KR" sz="4400" dirty="0"/>
          </a:p>
        </p:txBody>
      </p:sp>
      <p:sp>
        <p:nvSpPr>
          <p:cNvPr id="3" name="S04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과일별로 세어 표에 써요.</a:t>
            </a:r>
            <a:endParaRPr lang="ko-KR" sz="3200" dirty="0"/>
          </a:p>
        </p:txBody>
      </p:sp>
      <p:sp>
        <p:nvSpPr>
          <p:cNvPr id="4" name="S04-card5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+ 4 + 3 = 14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합계는 조사한 친구 수 14명과 같아요.</a:t>
            </a:r>
            <a:endParaRPr lang="ko-KR" sz="3200" dirty="0"/>
          </a:p>
        </p:txBody>
      </p:sp>
      <p:graphicFrame>
        <p:nvGraphicFramePr>
          <p:cNvPr id="5" name="S04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820162"/>
          <a:ext cx="9875520" cy="914400"/>
        </p:xfrm>
        <a:graphic>
          <a:graphicData uri="http://schemas.openxmlformats.org/drawingml/2006/table">
            <a:tbl>
              <a:tblPr/>
              <a:tblGrid>
                <a:gridCol w="2765146"/>
                <a:gridCol w="1422075"/>
                <a:gridCol w="1422075"/>
                <a:gridCol w="1422075"/>
                <a:gridCol w="1422075"/>
                <a:gridCol w="1422075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그래프 그리기</a:t>
            </a:r>
            <a:endParaRPr lang="ko-KR" sz="4400" dirty="0"/>
          </a:p>
        </p:txBody>
      </p:sp>
      <p:sp>
        <p:nvSpPr>
          <p:cNvPr id="3" name="S05-text6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보고 그래프로 나타내요.</a:t>
            </a:r>
            <a:endParaRPr lang="ko-KR" sz="3200" dirty="0"/>
          </a:p>
        </p:txBody>
      </p:sp>
      <p:sp>
        <p:nvSpPr>
          <p:cNvPr id="4" name="S05-cell63"/>
          <p:cNvSpPr/>
          <p:nvPr/>
        </p:nvSpPr>
        <p:spPr>
          <a:xfrm>
            <a:off x="7104945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5-cell64"/>
          <p:cNvSpPr/>
          <p:nvPr/>
        </p:nvSpPr>
        <p:spPr>
          <a:xfrm>
            <a:off x="7104945" y="338442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cell65"/>
          <p:cNvSpPr/>
          <p:nvPr/>
        </p:nvSpPr>
        <p:spPr>
          <a:xfrm>
            <a:off x="7104945" y="376847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66"/>
          <p:cNvSpPr/>
          <p:nvPr/>
        </p:nvSpPr>
        <p:spPr>
          <a:xfrm>
            <a:off x="7104945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67"/>
          <p:cNvSpPr/>
          <p:nvPr/>
        </p:nvSpPr>
        <p:spPr>
          <a:xfrm>
            <a:off x="7104945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68"/>
          <p:cNvSpPr/>
          <p:nvPr/>
        </p:nvSpPr>
        <p:spPr>
          <a:xfrm>
            <a:off x="7104945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figure69" descr="○ 그래프의 사과 줄: 아래에서부터 5칸 색칠(○ 5개)"/>
          <p:cNvSpPr/>
          <p:nvPr/>
        </p:nvSpPr>
        <p:spPr>
          <a:xfrm>
            <a:off x="7104945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label70"/>
          <p:cNvSpPr txBox="1"/>
          <p:nvPr/>
        </p:nvSpPr>
        <p:spPr>
          <a:xfrm>
            <a:off x="6813652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600" dirty="0"/>
          </a:p>
        </p:txBody>
      </p:sp>
      <p:sp>
        <p:nvSpPr>
          <p:cNvPr id="12" name="S05-cell71"/>
          <p:cNvSpPr/>
          <p:nvPr/>
        </p:nvSpPr>
        <p:spPr>
          <a:xfrm>
            <a:off x="8391620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72"/>
          <p:cNvSpPr/>
          <p:nvPr/>
        </p:nvSpPr>
        <p:spPr>
          <a:xfrm>
            <a:off x="8391620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73"/>
          <p:cNvSpPr/>
          <p:nvPr/>
        </p:nvSpPr>
        <p:spPr>
          <a:xfrm>
            <a:off x="8391620" y="376847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74"/>
          <p:cNvSpPr/>
          <p:nvPr/>
        </p:nvSpPr>
        <p:spPr>
          <a:xfrm>
            <a:off x="8391620" y="415251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75"/>
          <p:cNvSpPr/>
          <p:nvPr/>
        </p:nvSpPr>
        <p:spPr>
          <a:xfrm>
            <a:off x="8391620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76"/>
          <p:cNvSpPr/>
          <p:nvPr/>
        </p:nvSpPr>
        <p:spPr>
          <a:xfrm>
            <a:off x="8391620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figure77" descr="○ 그래프의 귤 줄: 아래에서부터 2칸 색칠(○ 2개)"/>
          <p:cNvSpPr/>
          <p:nvPr/>
        </p:nvSpPr>
        <p:spPr>
          <a:xfrm>
            <a:off x="8391620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label78"/>
          <p:cNvSpPr txBox="1"/>
          <p:nvPr/>
        </p:nvSpPr>
        <p:spPr>
          <a:xfrm>
            <a:off x="8100327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20" name="S05-cell79"/>
          <p:cNvSpPr/>
          <p:nvPr/>
        </p:nvSpPr>
        <p:spPr>
          <a:xfrm>
            <a:off x="9678295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80"/>
          <p:cNvSpPr/>
          <p:nvPr/>
        </p:nvSpPr>
        <p:spPr>
          <a:xfrm>
            <a:off x="9678295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81"/>
          <p:cNvSpPr/>
          <p:nvPr/>
        </p:nvSpPr>
        <p:spPr>
          <a:xfrm>
            <a:off x="9678295" y="376847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82"/>
          <p:cNvSpPr/>
          <p:nvPr/>
        </p:nvSpPr>
        <p:spPr>
          <a:xfrm>
            <a:off x="9678295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83"/>
          <p:cNvSpPr/>
          <p:nvPr/>
        </p:nvSpPr>
        <p:spPr>
          <a:xfrm>
            <a:off x="9678295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84"/>
          <p:cNvSpPr/>
          <p:nvPr/>
        </p:nvSpPr>
        <p:spPr>
          <a:xfrm>
            <a:off x="9678295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figure85" descr="○ 그래프의 포도 줄: 아래에서부터 4칸 색칠(○ 4개)"/>
          <p:cNvSpPr/>
          <p:nvPr/>
        </p:nvSpPr>
        <p:spPr>
          <a:xfrm>
            <a:off x="9678295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label86"/>
          <p:cNvSpPr txBox="1"/>
          <p:nvPr/>
        </p:nvSpPr>
        <p:spPr>
          <a:xfrm>
            <a:off x="9387002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600" dirty="0"/>
          </a:p>
        </p:txBody>
      </p:sp>
      <p:sp>
        <p:nvSpPr>
          <p:cNvPr id="28" name="S05-cell87"/>
          <p:cNvSpPr/>
          <p:nvPr/>
        </p:nvSpPr>
        <p:spPr>
          <a:xfrm>
            <a:off x="10964970" y="300037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88"/>
          <p:cNvSpPr/>
          <p:nvPr/>
        </p:nvSpPr>
        <p:spPr>
          <a:xfrm>
            <a:off x="10964970" y="338442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89"/>
          <p:cNvSpPr/>
          <p:nvPr/>
        </p:nvSpPr>
        <p:spPr>
          <a:xfrm>
            <a:off x="10964970" y="376847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90"/>
          <p:cNvSpPr/>
          <p:nvPr/>
        </p:nvSpPr>
        <p:spPr>
          <a:xfrm>
            <a:off x="10964970" y="415251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91"/>
          <p:cNvSpPr/>
          <p:nvPr/>
        </p:nvSpPr>
        <p:spPr>
          <a:xfrm>
            <a:off x="10964970" y="453656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92"/>
          <p:cNvSpPr/>
          <p:nvPr/>
        </p:nvSpPr>
        <p:spPr>
          <a:xfrm>
            <a:off x="10964970" y="49206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figure93" descr="○ 그래프의 딸기 줄: 아래에서부터 3칸 색칠(○ 3개)"/>
          <p:cNvSpPr/>
          <p:nvPr/>
        </p:nvSpPr>
        <p:spPr>
          <a:xfrm>
            <a:off x="10964970" y="300037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5-label94"/>
          <p:cNvSpPr txBox="1"/>
          <p:nvPr/>
        </p:nvSpPr>
        <p:spPr>
          <a:xfrm>
            <a:off x="10673677" y="5772150"/>
            <a:ext cx="96663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2600" dirty="0"/>
          </a:p>
        </p:txBody>
      </p:sp>
      <p:sp>
        <p:nvSpPr>
          <p:cNvPr id="36" name="S05-stepno9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5-text96"/>
          <p:cNvSpPr txBox="1"/>
          <p:nvPr/>
        </p:nvSpPr>
        <p:spPr>
          <a:xfrm>
            <a:off x="1325880" y="3424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 과일 이름을 써요.</a:t>
            </a:r>
            <a:endParaRPr lang="ko-KR" sz="3200" dirty="0"/>
          </a:p>
        </p:txBody>
      </p:sp>
      <p:sp>
        <p:nvSpPr>
          <p:cNvPr id="38" name="S05-stepno9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9" name="S05-text98"/>
          <p:cNvSpPr txBox="1"/>
          <p:nvPr/>
        </p:nvSpPr>
        <p:spPr>
          <a:xfrm>
            <a:off x="1325880" y="41376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위로 ○를 그려요.</a:t>
            </a:r>
            <a:endParaRPr lang="ko-KR" sz="3200" dirty="0"/>
          </a:p>
        </p:txBody>
      </p:sp>
      <p:sp>
        <p:nvSpPr>
          <p:cNvPr id="40" name="S05-stepno9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5-text100"/>
          <p:cNvSpPr txBox="1"/>
          <p:nvPr/>
        </p:nvSpPr>
        <p:spPr>
          <a:xfrm>
            <a:off x="1325880" y="48508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없이 수만큼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알 수 있어요</a:t>
            </a:r>
            <a:endParaRPr lang="ko-KR" sz="4400" dirty="0"/>
          </a:p>
        </p:txBody>
      </p:sp>
      <p:sp>
        <p:nvSpPr>
          <p:cNvPr id="3" name="S06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과일은 가장 높은 줄이에요.</a:t>
            </a:r>
            <a:endParaRPr lang="ko-KR" sz="3200" dirty="0"/>
          </a:p>
        </p:txBody>
      </p:sp>
      <p:sp>
        <p:nvSpPr>
          <p:cNvPr id="5" name="S06-card103"/>
          <p:cNvSpPr/>
          <p:nvPr/>
        </p:nvSpPr>
        <p:spPr>
          <a:xfrm>
            <a:off x="548640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04"/>
          <p:cNvSpPr txBox="1"/>
          <p:nvPr/>
        </p:nvSpPr>
        <p:spPr>
          <a:xfrm>
            <a:off x="822960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것이 한눈에 보여요.</a:t>
            </a:r>
            <a:endParaRPr lang="ko-KR" sz="3200" dirty="0"/>
          </a:p>
        </p:txBody>
      </p:sp>
      <p:sp>
        <p:nvSpPr>
          <p:cNvPr id="7" name="S06-card105"/>
          <p:cNvSpPr/>
          <p:nvPr/>
        </p:nvSpPr>
        <p:spPr>
          <a:xfrm>
            <a:off x="6208776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106"/>
          <p:cNvSpPr txBox="1"/>
          <p:nvPr/>
        </p:nvSpPr>
        <p:spPr>
          <a:xfrm>
            <a:off x="6483096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전체 수를 알기 쉬워요.</a:t>
            </a:r>
            <a:endParaRPr lang="ko-KR" sz="3200" dirty="0"/>
          </a:p>
        </p:txBody>
      </p:sp>
      <p:sp>
        <p:nvSpPr>
          <p:cNvPr id="9" name="S06-cell107"/>
          <p:cNvSpPr/>
          <p:nvPr/>
        </p:nvSpPr>
        <p:spPr>
          <a:xfrm>
            <a:off x="1671214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08"/>
          <p:cNvSpPr/>
          <p:nvPr/>
        </p:nvSpPr>
        <p:spPr>
          <a:xfrm>
            <a:off x="1671214" y="1613620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09"/>
          <p:cNvSpPr/>
          <p:nvPr/>
        </p:nvSpPr>
        <p:spPr>
          <a:xfrm>
            <a:off x="1671214" y="190135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10"/>
          <p:cNvSpPr/>
          <p:nvPr/>
        </p:nvSpPr>
        <p:spPr>
          <a:xfrm>
            <a:off x="1671214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11"/>
          <p:cNvSpPr/>
          <p:nvPr/>
        </p:nvSpPr>
        <p:spPr>
          <a:xfrm>
            <a:off x="1671214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12"/>
          <p:cNvSpPr/>
          <p:nvPr/>
        </p:nvSpPr>
        <p:spPr>
          <a:xfrm>
            <a:off x="1671214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figure113" descr="○ 그래프의 사과 줄: 아래에서부터 5칸 색칠(○ 5개)"/>
          <p:cNvSpPr/>
          <p:nvPr/>
        </p:nvSpPr>
        <p:spPr>
          <a:xfrm>
            <a:off x="1671214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label114"/>
          <p:cNvSpPr txBox="1"/>
          <p:nvPr/>
        </p:nvSpPr>
        <p:spPr>
          <a:xfrm>
            <a:off x="548640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600" dirty="0"/>
          </a:p>
        </p:txBody>
      </p:sp>
      <p:sp>
        <p:nvSpPr>
          <p:cNvPr id="17" name="S06-cell115"/>
          <p:cNvSpPr/>
          <p:nvPr/>
        </p:nvSpPr>
        <p:spPr>
          <a:xfrm>
            <a:off x="4524142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16"/>
          <p:cNvSpPr/>
          <p:nvPr/>
        </p:nvSpPr>
        <p:spPr>
          <a:xfrm>
            <a:off x="4524142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17"/>
          <p:cNvSpPr/>
          <p:nvPr/>
        </p:nvSpPr>
        <p:spPr>
          <a:xfrm>
            <a:off x="4524142" y="190135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18"/>
          <p:cNvSpPr/>
          <p:nvPr/>
        </p:nvSpPr>
        <p:spPr>
          <a:xfrm>
            <a:off x="4524142" y="218909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9"/>
          <p:cNvSpPr/>
          <p:nvPr/>
        </p:nvSpPr>
        <p:spPr>
          <a:xfrm>
            <a:off x="4524142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20"/>
          <p:cNvSpPr/>
          <p:nvPr/>
        </p:nvSpPr>
        <p:spPr>
          <a:xfrm>
            <a:off x="4524142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21" descr="○ 그래프의 귤 줄: 아래에서부터 2칸 색칠(○ 2개)"/>
          <p:cNvSpPr/>
          <p:nvPr/>
        </p:nvSpPr>
        <p:spPr>
          <a:xfrm>
            <a:off x="4524142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label122"/>
          <p:cNvSpPr txBox="1"/>
          <p:nvPr/>
        </p:nvSpPr>
        <p:spPr>
          <a:xfrm>
            <a:off x="3401568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25" name="S06-cell123"/>
          <p:cNvSpPr/>
          <p:nvPr/>
        </p:nvSpPr>
        <p:spPr>
          <a:xfrm>
            <a:off x="7377070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24"/>
          <p:cNvSpPr/>
          <p:nvPr/>
        </p:nvSpPr>
        <p:spPr>
          <a:xfrm>
            <a:off x="7377070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25"/>
          <p:cNvSpPr/>
          <p:nvPr/>
        </p:nvSpPr>
        <p:spPr>
          <a:xfrm>
            <a:off x="7377070" y="190135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26"/>
          <p:cNvSpPr/>
          <p:nvPr/>
        </p:nvSpPr>
        <p:spPr>
          <a:xfrm>
            <a:off x="7377070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27"/>
          <p:cNvSpPr/>
          <p:nvPr/>
        </p:nvSpPr>
        <p:spPr>
          <a:xfrm>
            <a:off x="7377070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28"/>
          <p:cNvSpPr/>
          <p:nvPr/>
        </p:nvSpPr>
        <p:spPr>
          <a:xfrm>
            <a:off x="7377070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figure129" descr="○ 그래프의 포도 줄: 아래에서부터 4칸 색칠(○ 4개)"/>
          <p:cNvSpPr/>
          <p:nvPr/>
        </p:nvSpPr>
        <p:spPr>
          <a:xfrm>
            <a:off x="7377070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6-label130"/>
          <p:cNvSpPr txBox="1"/>
          <p:nvPr/>
        </p:nvSpPr>
        <p:spPr>
          <a:xfrm>
            <a:off x="6254496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600" dirty="0"/>
          </a:p>
        </p:txBody>
      </p:sp>
      <p:sp>
        <p:nvSpPr>
          <p:cNvPr id="33" name="S06-cell131"/>
          <p:cNvSpPr/>
          <p:nvPr/>
        </p:nvSpPr>
        <p:spPr>
          <a:xfrm>
            <a:off x="10229998" y="132588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32"/>
          <p:cNvSpPr/>
          <p:nvPr/>
        </p:nvSpPr>
        <p:spPr>
          <a:xfrm>
            <a:off x="10229998" y="1613620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133"/>
          <p:cNvSpPr/>
          <p:nvPr/>
        </p:nvSpPr>
        <p:spPr>
          <a:xfrm>
            <a:off x="10229998" y="1901359"/>
            <a:ext cx="287740" cy="2877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134"/>
          <p:cNvSpPr/>
          <p:nvPr/>
        </p:nvSpPr>
        <p:spPr>
          <a:xfrm>
            <a:off x="10229998" y="218909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135"/>
          <p:cNvSpPr/>
          <p:nvPr/>
        </p:nvSpPr>
        <p:spPr>
          <a:xfrm>
            <a:off x="10229998" y="2476839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136"/>
          <p:cNvSpPr/>
          <p:nvPr/>
        </p:nvSpPr>
        <p:spPr>
          <a:xfrm>
            <a:off x="10229998" y="2764578"/>
            <a:ext cx="287740" cy="2877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figure137" descr="○ 그래프의 딸기 줄: 아래에서부터 3칸 색칠(○ 3개)"/>
          <p:cNvSpPr/>
          <p:nvPr/>
        </p:nvSpPr>
        <p:spPr>
          <a:xfrm>
            <a:off x="10229998" y="1325880"/>
            <a:ext cx="287740" cy="17264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label138"/>
          <p:cNvSpPr txBox="1"/>
          <p:nvPr/>
        </p:nvSpPr>
        <p:spPr>
          <a:xfrm>
            <a:off x="9107424" y="31254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채워요</a:t>
            </a:r>
            <a:endParaRPr lang="ko-KR" sz="4400" dirty="0"/>
          </a:p>
        </p:txBody>
      </p:sp>
      <p:sp>
        <p:nvSpPr>
          <p:cNvPr id="3" name="S07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12명이 좋아하는 색이에요.</a:t>
            </a:r>
            <a:endParaRPr lang="ko-KR" sz="3200" dirty="0"/>
          </a:p>
        </p:txBody>
      </p:sp>
      <p:sp>
        <p:nvSpPr>
          <p:cNvPr id="4" name="S07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색별로 세어 표를 채워요.</a:t>
            </a:r>
            <a:endParaRPr lang="ko-KR" sz="3200" dirty="0"/>
          </a:p>
        </p:txBody>
      </p:sp>
      <p:sp>
        <p:nvSpPr>
          <p:cNvPr id="6" name="S07-word142"/>
          <p:cNvSpPr txBox="1"/>
          <p:nvPr/>
        </p:nvSpPr>
        <p:spPr>
          <a:xfrm>
            <a:off x="548640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7" name="S07-word143"/>
          <p:cNvSpPr txBox="1"/>
          <p:nvPr/>
        </p:nvSpPr>
        <p:spPr>
          <a:xfrm>
            <a:off x="1963674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8" name="S07-word144"/>
          <p:cNvSpPr txBox="1"/>
          <p:nvPr/>
        </p:nvSpPr>
        <p:spPr>
          <a:xfrm>
            <a:off x="3378708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9" name="S07-word145"/>
          <p:cNvSpPr txBox="1"/>
          <p:nvPr/>
        </p:nvSpPr>
        <p:spPr>
          <a:xfrm>
            <a:off x="4793742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0" name="S07-word146"/>
          <p:cNvSpPr txBox="1"/>
          <p:nvPr/>
        </p:nvSpPr>
        <p:spPr>
          <a:xfrm>
            <a:off x="548640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1" name="S07-word147"/>
          <p:cNvSpPr txBox="1"/>
          <p:nvPr/>
        </p:nvSpPr>
        <p:spPr>
          <a:xfrm>
            <a:off x="1963674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2" name="S07-word148"/>
          <p:cNvSpPr txBox="1"/>
          <p:nvPr/>
        </p:nvSpPr>
        <p:spPr>
          <a:xfrm>
            <a:off x="3378708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13" name="S07-word149"/>
          <p:cNvSpPr txBox="1"/>
          <p:nvPr/>
        </p:nvSpPr>
        <p:spPr>
          <a:xfrm>
            <a:off x="4793742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4" name="S07-word150"/>
          <p:cNvSpPr txBox="1"/>
          <p:nvPr/>
        </p:nvSpPr>
        <p:spPr>
          <a:xfrm>
            <a:off x="548640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sp>
        <p:nvSpPr>
          <p:cNvPr id="15" name="S07-word151"/>
          <p:cNvSpPr txBox="1"/>
          <p:nvPr/>
        </p:nvSpPr>
        <p:spPr>
          <a:xfrm>
            <a:off x="1963674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200" dirty="0"/>
          </a:p>
        </p:txBody>
      </p:sp>
      <p:sp>
        <p:nvSpPr>
          <p:cNvPr id="16" name="S07-word152"/>
          <p:cNvSpPr txBox="1"/>
          <p:nvPr/>
        </p:nvSpPr>
        <p:spPr>
          <a:xfrm>
            <a:off x="3378708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200" dirty="0"/>
          </a:p>
        </p:txBody>
      </p:sp>
      <p:sp>
        <p:nvSpPr>
          <p:cNvPr id="17" name="S07-word153"/>
          <p:cNvSpPr txBox="1"/>
          <p:nvPr/>
        </p:nvSpPr>
        <p:spPr>
          <a:xfrm>
            <a:off x="4793742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200" dirty="0"/>
          </a:p>
        </p:txBody>
      </p:sp>
      <p:graphicFrame>
        <p:nvGraphicFramePr>
          <p:cNvPr id="8" name="S07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508028"/>
                <a:gridCol w="969447"/>
                <a:gridCol w="969447"/>
                <a:gridCol w="969447"/>
                <a:gridCol w="96944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400" dirty="0"/>
          </a:p>
        </p:txBody>
      </p:sp>
      <p:sp>
        <p:nvSpPr>
          <p:cNvPr id="3" name="S08-card1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표: 빨강 5명, 파랑 4명, 노랑 3명</a:t>
            </a:r>
            <a:endParaRPr lang="ko-KR" sz="3200" dirty="0"/>
          </a:p>
        </p:txBody>
      </p:sp>
      <p:sp>
        <p:nvSpPr>
          <p:cNvPr id="5" name="S08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것은 가와 나 중 어느 것일까요?</a:t>
            </a:r>
            <a:endParaRPr lang="ko-KR" sz="3200" dirty="0"/>
          </a:p>
        </p:txBody>
      </p:sp>
      <p:sp>
        <p:nvSpPr>
          <p:cNvPr id="7" name="S08-chip1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cell160"/>
          <p:cNvSpPr/>
          <p:nvPr/>
        </p:nvSpPr>
        <p:spPr>
          <a:xfrm>
            <a:off x="1215200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61"/>
          <p:cNvSpPr/>
          <p:nvPr/>
        </p:nvSpPr>
        <p:spPr>
          <a:xfrm>
            <a:off x="1215200" y="3395853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62"/>
          <p:cNvSpPr/>
          <p:nvPr/>
        </p:nvSpPr>
        <p:spPr>
          <a:xfrm>
            <a:off x="1215200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63"/>
          <p:cNvSpPr/>
          <p:nvPr/>
        </p:nvSpPr>
        <p:spPr>
          <a:xfrm>
            <a:off x="1215200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64"/>
          <p:cNvSpPr/>
          <p:nvPr/>
        </p:nvSpPr>
        <p:spPr>
          <a:xfrm>
            <a:off x="1215200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65"/>
          <p:cNvSpPr/>
          <p:nvPr/>
        </p:nvSpPr>
        <p:spPr>
          <a:xfrm>
            <a:off x="1215200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166" descr="○ 그래프의 빨강 줄: 아래에서부터 5칸 색칠(○ 5개)"/>
          <p:cNvSpPr/>
          <p:nvPr/>
        </p:nvSpPr>
        <p:spPr>
          <a:xfrm>
            <a:off x="1215200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label167"/>
          <p:cNvSpPr txBox="1"/>
          <p:nvPr/>
        </p:nvSpPr>
        <p:spPr>
          <a:xfrm>
            <a:off x="54864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16" name="S08-cell168"/>
          <p:cNvSpPr/>
          <p:nvPr/>
        </p:nvSpPr>
        <p:spPr>
          <a:xfrm>
            <a:off x="3109532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169"/>
          <p:cNvSpPr/>
          <p:nvPr/>
        </p:nvSpPr>
        <p:spPr>
          <a:xfrm>
            <a:off x="3109532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170"/>
          <p:cNvSpPr/>
          <p:nvPr/>
        </p:nvSpPr>
        <p:spPr>
          <a:xfrm>
            <a:off x="3109532" y="3637026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71"/>
          <p:cNvSpPr/>
          <p:nvPr/>
        </p:nvSpPr>
        <p:spPr>
          <a:xfrm>
            <a:off x="3109532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72"/>
          <p:cNvSpPr/>
          <p:nvPr/>
        </p:nvSpPr>
        <p:spPr>
          <a:xfrm>
            <a:off x="3109532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73"/>
          <p:cNvSpPr/>
          <p:nvPr/>
        </p:nvSpPr>
        <p:spPr>
          <a:xfrm>
            <a:off x="3109532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74" descr="○ 그래프의 파랑 줄: 아래에서부터 3칸 색칠(○ 3개)"/>
          <p:cNvSpPr/>
          <p:nvPr/>
        </p:nvSpPr>
        <p:spPr>
          <a:xfrm>
            <a:off x="3109532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label175"/>
          <p:cNvSpPr txBox="1"/>
          <p:nvPr/>
        </p:nvSpPr>
        <p:spPr>
          <a:xfrm>
            <a:off x="2442972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24" name="S08-cell176"/>
          <p:cNvSpPr/>
          <p:nvPr/>
        </p:nvSpPr>
        <p:spPr>
          <a:xfrm>
            <a:off x="5003864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177"/>
          <p:cNvSpPr/>
          <p:nvPr/>
        </p:nvSpPr>
        <p:spPr>
          <a:xfrm>
            <a:off x="5003864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178"/>
          <p:cNvSpPr/>
          <p:nvPr/>
        </p:nvSpPr>
        <p:spPr>
          <a:xfrm>
            <a:off x="5003864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179"/>
          <p:cNvSpPr/>
          <p:nvPr/>
        </p:nvSpPr>
        <p:spPr>
          <a:xfrm>
            <a:off x="5003864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180"/>
          <p:cNvSpPr/>
          <p:nvPr/>
        </p:nvSpPr>
        <p:spPr>
          <a:xfrm>
            <a:off x="5003864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cell181"/>
          <p:cNvSpPr/>
          <p:nvPr/>
        </p:nvSpPr>
        <p:spPr>
          <a:xfrm>
            <a:off x="5003864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figure182" descr="○ 그래프의 노랑 줄: 아래에서부터 4칸 색칠(○ 4개)"/>
          <p:cNvSpPr/>
          <p:nvPr/>
        </p:nvSpPr>
        <p:spPr>
          <a:xfrm>
            <a:off x="5003864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8-label183"/>
          <p:cNvSpPr txBox="1"/>
          <p:nvPr/>
        </p:nvSpPr>
        <p:spPr>
          <a:xfrm>
            <a:off x="4337304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8-chip18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33" name="S08-cell185"/>
          <p:cNvSpPr/>
          <p:nvPr/>
        </p:nvSpPr>
        <p:spPr>
          <a:xfrm>
            <a:off x="6943916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cell186"/>
          <p:cNvSpPr/>
          <p:nvPr/>
        </p:nvSpPr>
        <p:spPr>
          <a:xfrm>
            <a:off x="6943916" y="3395853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187"/>
          <p:cNvSpPr/>
          <p:nvPr/>
        </p:nvSpPr>
        <p:spPr>
          <a:xfrm>
            <a:off x="6943916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188"/>
          <p:cNvSpPr/>
          <p:nvPr/>
        </p:nvSpPr>
        <p:spPr>
          <a:xfrm>
            <a:off x="6943916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189"/>
          <p:cNvSpPr/>
          <p:nvPr/>
        </p:nvSpPr>
        <p:spPr>
          <a:xfrm>
            <a:off x="6943916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190"/>
          <p:cNvSpPr/>
          <p:nvPr/>
        </p:nvSpPr>
        <p:spPr>
          <a:xfrm>
            <a:off x="6943916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figure191" descr="○ 그래프의 빨강 줄: 아래에서부터 5칸 색칠(○ 5개)"/>
          <p:cNvSpPr/>
          <p:nvPr/>
        </p:nvSpPr>
        <p:spPr>
          <a:xfrm>
            <a:off x="6943916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8-label192"/>
          <p:cNvSpPr txBox="1"/>
          <p:nvPr/>
        </p:nvSpPr>
        <p:spPr>
          <a:xfrm>
            <a:off x="6277356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41" name="S08-cell193"/>
          <p:cNvSpPr/>
          <p:nvPr/>
        </p:nvSpPr>
        <p:spPr>
          <a:xfrm>
            <a:off x="8838248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194"/>
          <p:cNvSpPr/>
          <p:nvPr/>
        </p:nvSpPr>
        <p:spPr>
          <a:xfrm>
            <a:off x="8838248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cell195"/>
          <p:cNvSpPr/>
          <p:nvPr/>
        </p:nvSpPr>
        <p:spPr>
          <a:xfrm>
            <a:off x="8838248" y="3637026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8-cell196"/>
          <p:cNvSpPr/>
          <p:nvPr/>
        </p:nvSpPr>
        <p:spPr>
          <a:xfrm>
            <a:off x="8838248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8-cell197"/>
          <p:cNvSpPr/>
          <p:nvPr/>
        </p:nvSpPr>
        <p:spPr>
          <a:xfrm>
            <a:off x="8838248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cell198"/>
          <p:cNvSpPr/>
          <p:nvPr/>
        </p:nvSpPr>
        <p:spPr>
          <a:xfrm>
            <a:off x="8838248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8-figure199" descr="○ 그래프의 파랑 줄: 아래에서부터 4칸 색칠(○ 4개)"/>
          <p:cNvSpPr/>
          <p:nvPr/>
        </p:nvSpPr>
        <p:spPr>
          <a:xfrm>
            <a:off x="8838248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8" name="S08-label200"/>
          <p:cNvSpPr txBox="1"/>
          <p:nvPr/>
        </p:nvSpPr>
        <p:spPr>
          <a:xfrm>
            <a:off x="8171688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49" name="S08-cell201"/>
          <p:cNvSpPr/>
          <p:nvPr/>
        </p:nvSpPr>
        <p:spPr>
          <a:xfrm>
            <a:off x="10732580" y="3154680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8-cell202"/>
          <p:cNvSpPr/>
          <p:nvPr/>
        </p:nvSpPr>
        <p:spPr>
          <a:xfrm>
            <a:off x="10732580" y="3395853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8-cell203"/>
          <p:cNvSpPr/>
          <p:nvPr/>
        </p:nvSpPr>
        <p:spPr>
          <a:xfrm>
            <a:off x="10732580" y="3637026"/>
            <a:ext cx="241173" cy="241173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8-cell204"/>
          <p:cNvSpPr/>
          <p:nvPr/>
        </p:nvSpPr>
        <p:spPr>
          <a:xfrm>
            <a:off x="10732580" y="3878199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8-cell205"/>
          <p:cNvSpPr/>
          <p:nvPr/>
        </p:nvSpPr>
        <p:spPr>
          <a:xfrm>
            <a:off x="10732580" y="4119372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8-cell206"/>
          <p:cNvSpPr/>
          <p:nvPr/>
        </p:nvSpPr>
        <p:spPr>
          <a:xfrm>
            <a:off x="10732580" y="4360545"/>
            <a:ext cx="241173" cy="241173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8-figure207" descr="○ 그래프의 노랑 줄: 아래에서부터 3칸 색칠(○ 3개)"/>
          <p:cNvSpPr/>
          <p:nvPr/>
        </p:nvSpPr>
        <p:spPr>
          <a:xfrm>
            <a:off x="10732580" y="3154680"/>
            <a:ext cx="241173" cy="144703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6" name="S08-label208"/>
          <p:cNvSpPr txBox="1"/>
          <p:nvPr/>
        </p:nvSpPr>
        <p:spPr>
          <a:xfrm>
            <a:off x="1006602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그려야 할까요?</a:t>
            </a:r>
            <a:endParaRPr lang="ko-KR" sz="4400" dirty="0"/>
          </a:p>
        </p:txBody>
      </p:sp>
      <p:sp>
        <p:nvSpPr>
          <p:cNvPr id="3" name="S09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표예요. 어느 쪽이 많고 적음을 잘 보여 줄까요?</a:t>
            </a:r>
            <a:endParaRPr lang="ko-KR" sz="3200" dirty="0"/>
          </a:p>
        </p:txBody>
      </p:sp>
      <p:sp>
        <p:nvSpPr>
          <p:cNvPr id="5" name="S09-chip211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위에서부터</a:t>
            </a:r>
            <a:endParaRPr lang="ko-KR" sz="2600" dirty="0"/>
          </a:p>
        </p:txBody>
      </p:sp>
      <p:sp>
        <p:nvSpPr>
          <p:cNvPr id="6" name="S09-cell212"/>
          <p:cNvSpPr/>
          <p:nvPr/>
        </p:nvSpPr>
        <p:spPr>
          <a:xfrm>
            <a:off x="1143762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213"/>
          <p:cNvSpPr/>
          <p:nvPr/>
        </p:nvSpPr>
        <p:spPr>
          <a:xfrm>
            <a:off x="1143762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214"/>
          <p:cNvSpPr/>
          <p:nvPr/>
        </p:nvSpPr>
        <p:spPr>
          <a:xfrm>
            <a:off x="1143762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215"/>
          <p:cNvSpPr/>
          <p:nvPr/>
        </p:nvSpPr>
        <p:spPr>
          <a:xfrm>
            <a:off x="1143762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216"/>
          <p:cNvSpPr/>
          <p:nvPr/>
        </p:nvSpPr>
        <p:spPr>
          <a:xfrm>
            <a:off x="1143762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217"/>
          <p:cNvSpPr/>
          <p:nvPr/>
        </p:nvSpPr>
        <p:spPr>
          <a:xfrm>
            <a:off x="1143762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figure218" descr="○ 그래프의 빨강 줄: 위에서부터 5칸 색칠(○ 5개)"/>
          <p:cNvSpPr/>
          <p:nvPr/>
        </p:nvSpPr>
        <p:spPr>
          <a:xfrm>
            <a:off x="1143762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219"/>
          <p:cNvSpPr txBox="1"/>
          <p:nvPr/>
        </p:nvSpPr>
        <p:spPr>
          <a:xfrm>
            <a:off x="54864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14" name="S09-cell220"/>
          <p:cNvSpPr/>
          <p:nvPr/>
        </p:nvSpPr>
        <p:spPr>
          <a:xfrm>
            <a:off x="3038094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221"/>
          <p:cNvSpPr/>
          <p:nvPr/>
        </p:nvSpPr>
        <p:spPr>
          <a:xfrm>
            <a:off x="3038094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222"/>
          <p:cNvSpPr/>
          <p:nvPr/>
        </p:nvSpPr>
        <p:spPr>
          <a:xfrm>
            <a:off x="3038094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223"/>
          <p:cNvSpPr/>
          <p:nvPr/>
        </p:nvSpPr>
        <p:spPr>
          <a:xfrm>
            <a:off x="3038094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224"/>
          <p:cNvSpPr/>
          <p:nvPr/>
        </p:nvSpPr>
        <p:spPr>
          <a:xfrm>
            <a:off x="3038094" y="371360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225"/>
          <p:cNvSpPr/>
          <p:nvPr/>
        </p:nvSpPr>
        <p:spPr>
          <a:xfrm>
            <a:off x="3038094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figure226" descr="○ 그래프의 파랑 줄: 위에서부터 4칸 색칠(○ 4개)"/>
          <p:cNvSpPr/>
          <p:nvPr/>
        </p:nvSpPr>
        <p:spPr>
          <a:xfrm>
            <a:off x="3038094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9-label227"/>
          <p:cNvSpPr txBox="1"/>
          <p:nvPr/>
        </p:nvSpPr>
        <p:spPr>
          <a:xfrm>
            <a:off x="2442972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22" name="S09-cell228"/>
          <p:cNvSpPr/>
          <p:nvPr/>
        </p:nvSpPr>
        <p:spPr>
          <a:xfrm>
            <a:off x="4932426" y="217741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229"/>
          <p:cNvSpPr/>
          <p:nvPr/>
        </p:nvSpPr>
        <p:spPr>
          <a:xfrm>
            <a:off x="4932426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cell230"/>
          <p:cNvSpPr/>
          <p:nvPr/>
        </p:nvSpPr>
        <p:spPr>
          <a:xfrm>
            <a:off x="4932426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cell231"/>
          <p:cNvSpPr/>
          <p:nvPr/>
        </p:nvSpPr>
        <p:spPr>
          <a:xfrm>
            <a:off x="4932426" y="332955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232"/>
          <p:cNvSpPr/>
          <p:nvPr/>
        </p:nvSpPr>
        <p:spPr>
          <a:xfrm>
            <a:off x="4932426" y="371360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233"/>
          <p:cNvSpPr/>
          <p:nvPr/>
        </p:nvSpPr>
        <p:spPr>
          <a:xfrm>
            <a:off x="4932426" y="40976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figure234" descr="○ 그래프의 노랑 줄: 위에서부터 3칸 색칠(○ 3개)"/>
          <p:cNvSpPr/>
          <p:nvPr/>
        </p:nvSpPr>
        <p:spPr>
          <a:xfrm>
            <a:off x="4932426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9-label235"/>
          <p:cNvSpPr txBox="1"/>
          <p:nvPr/>
        </p:nvSpPr>
        <p:spPr>
          <a:xfrm>
            <a:off x="4337304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0" name="S09-chip23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아래에서부터</a:t>
            </a:r>
            <a:endParaRPr lang="ko-KR" sz="2600" dirty="0"/>
          </a:p>
        </p:txBody>
      </p:sp>
      <p:sp>
        <p:nvSpPr>
          <p:cNvPr id="31" name="S09-cell237"/>
          <p:cNvSpPr/>
          <p:nvPr/>
        </p:nvSpPr>
        <p:spPr>
          <a:xfrm>
            <a:off x="6872478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238"/>
          <p:cNvSpPr/>
          <p:nvPr/>
        </p:nvSpPr>
        <p:spPr>
          <a:xfrm>
            <a:off x="6872478" y="256146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239"/>
          <p:cNvSpPr/>
          <p:nvPr/>
        </p:nvSpPr>
        <p:spPr>
          <a:xfrm>
            <a:off x="6872478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240"/>
          <p:cNvSpPr/>
          <p:nvPr/>
        </p:nvSpPr>
        <p:spPr>
          <a:xfrm>
            <a:off x="6872478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241"/>
          <p:cNvSpPr/>
          <p:nvPr/>
        </p:nvSpPr>
        <p:spPr>
          <a:xfrm>
            <a:off x="6872478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242"/>
          <p:cNvSpPr/>
          <p:nvPr/>
        </p:nvSpPr>
        <p:spPr>
          <a:xfrm>
            <a:off x="6872478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figure243" descr="○ 그래프의 빨강 줄: 아래에서부터 5칸 색칠(○ 5개)"/>
          <p:cNvSpPr/>
          <p:nvPr/>
        </p:nvSpPr>
        <p:spPr>
          <a:xfrm>
            <a:off x="6872478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9-label244"/>
          <p:cNvSpPr txBox="1"/>
          <p:nvPr/>
        </p:nvSpPr>
        <p:spPr>
          <a:xfrm>
            <a:off x="6277356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9" name="S09-cell245"/>
          <p:cNvSpPr/>
          <p:nvPr/>
        </p:nvSpPr>
        <p:spPr>
          <a:xfrm>
            <a:off x="8766810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cell246"/>
          <p:cNvSpPr/>
          <p:nvPr/>
        </p:nvSpPr>
        <p:spPr>
          <a:xfrm>
            <a:off x="8766810" y="256146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9-cell247"/>
          <p:cNvSpPr/>
          <p:nvPr/>
        </p:nvSpPr>
        <p:spPr>
          <a:xfrm>
            <a:off x="8766810" y="294551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9-cell248"/>
          <p:cNvSpPr/>
          <p:nvPr/>
        </p:nvSpPr>
        <p:spPr>
          <a:xfrm>
            <a:off x="8766810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9-cell249"/>
          <p:cNvSpPr/>
          <p:nvPr/>
        </p:nvSpPr>
        <p:spPr>
          <a:xfrm>
            <a:off x="8766810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cell250"/>
          <p:cNvSpPr/>
          <p:nvPr/>
        </p:nvSpPr>
        <p:spPr>
          <a:xfrm>
            <a:off x="8766810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9-figure251" descr="○ 그래프의 파랑 줄: 아래에서부터 4칸 색칠(○ 4개)"/>
          <p:cNvSpPr/>
          <p:nvPr/>
        </p:nvSpPr>
        <p:spPr>
          <a:xfrm>
            <a:off x="8766810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9-label252"/>
          <p:cNvSpPr txBox="1"/>
          <p:nvPr/>
        </p:nvSpPr>
        <p:spPr>
          <a:xfrm>
            <a:off x="8171688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47" name="S09-cell253"/>
          <p:cNvSpPr/>
          <p:nvPr/>
        </p:nvSpPr>
        <p:spPr>
          <a:xfrm>
            <a:off x="10661142" y="217741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9-cell254"/>
          <p:cNvSpPr/>
          <p:nvPr/>
        </p:nvSpPr>
        <p:spPr>
          <a:xfrm>
            <a:off x="10661142" y="256146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9-cell255"/>
          <p:cNvSpPr/>
          <p:nvPr/>
        </p:nvSpPr>
        <p:spPr>
          <a:xfrm>
            <a:off x="10661142" y="294551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9-cell256"/>
          <p:cNvSpPr/>
          <p:nvPr/>
        </p:nvSpPr>
        <p:spPr>
          <a:xfrm>
            <a:off x="10661142" y="332955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9-cell257"/>
          <p:cNvSpPr/>
          <p:nvPr/>
        </p:nvSpPr>
        <p:spPr>
          <a:xfrm>
            <a:off x="10661142" y="371360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9-cell258"/>
          <p:cNvSpPr/>
          <p:nvPr/>
        </p:nvSpPr>
        <p:spPr>
          <a:xfrm>
            <a:off x="10661142" y="40976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9-figure259" descr="○ 그래프의 노랑 줄: 아래에서부터 3칸 색칠(○ 3개)"/>
          <p:cNvSpPr/>
          <p:nvPr/>
        </p:nvSpPr>
        <p:spPr>
          <a:xfrm>
            <a:off x="10661142" y="217741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4" name="S09-label260"/>
          <p:cNvSpPr txBox="1"/>
          <p:nvPr/>
        </p:nvSpPr>
        <p:spPr>
          <a:xfrm>
            <a:off x="10066020" y="4674870"/>
            <a:ext cx="15742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400" dirty="0"/>
          </a:p>
        </p:txBody>
      </p:sp>
      <p:sp>
        <p:nvSpPr>
          <p:cNvPr id="3" name="S10-text2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수예요.</a:t>
            </a:r>
            <a:endParaRPr lang="ko-KR" sz="3200" dirty="0"/>
          </a:p>
        </p:txBody>
      </p:sp>
      <p:sp>
        <p:nvSpPr>
          <p:cNvPr id="4" name="S10-card262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63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계절은?</a:t>
            </a:r>
            <a:endParaRPr lang="ko-KR" sz="3200" dirty="0"/>
          </a:p>
        </p:txBody>
      </p:sp>
      <p:sp>
        <p:nvSpPr>
          <p:cNvPr id="6" name="S10-card264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65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여름은 겨울보다 몇 명 더?</a:t>
            </a:r>
            <a:endParaRPr lang="ko-KR" sz="3200" dirty="0"/>
          </a:p>
        </p:txBody>
      </p:sp>
      <p:sp>
        <p:nvSpPr>
          <p:cNvPr id="8" name="S10-cell266"/>
          <p:cNvSpPr/>
          <p:nvPr/>
        </p:nvSpPr>
        <p:spPr>
          <a:xfrm>
            <a:off x="1623060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267"/>
          <p:cNvSpPr/>
          <p:nvPr/>
        </p:nvSpPr>
        <p:spPr>
          <a:xfrm>
            <a:off x="1623060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268"/>
          <p:cNvSpPr/>
          <p:nvPr/>
        </p:nvSpPr>
        <p:spPr>
          <a:xfrm>
            <a:off x="1623060" y="292265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269"/>
          <p:cNvSpPr/>
          <p:nvPr/>
        </p:nvSpPr>
        <p:spPr>
          <a:xfrm>
            <a:off x="1623060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cell270"/>
          <p:cNvSpPr/>
          <p:nvPr/>
        </p:nvSpPr>
        <p:spPr>
          <a:xfrm>
            <a:off x="1623060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271"/>
          <p:cNvSpPr/>
          <p:nvPr/>
        </p:nvSpPr>
        <p:spPr>
          <a:xfrm>
            <a:off x="1623060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figure272" descr="○ 그래프의 봄 줄: 아래에서부터 4칸 색칠(○ 4개)"/>
          <p:cNvSpPr/>
          <p:nvPr/>
        </p:nvSpPr>
        <p:spPr>
          <a:xfrm>
            <a:off x="1623060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0-label273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</p:txBody>
      </p:sp>
      <p:sp>
        <p:nvSpPr>
          <p:cNvPr id="16" name="S10-cell274"/>
          <p:cNvSpPr/>
          <p:nvPr/>
        </p:nvSpPr>
        <p:spPr>
          <a:xfrm>
            <a:off x="4475988" y="215455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275"/>
          <p:cNvSpPr/>
          <p:nvPr/>
        </p:nvSpPr>
        <p:spPr>
          <a:xfrm>
            <a:off x="4475988" y="253860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276"/>
          <p:cNvSpPr/>
          <p:nvPr/>
        </p:nvSpPr>
        <p:spPr>
          <a:xfrm>
            <a:off x="4475988" y="292265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277"/>
          <p:cNvSpPr/>
          <p:nvPr/>
        </p:nvSpPr>
        <p:spPr>
          <a:xfrm>
            <a:off x="4475988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278"/>
          <p:cNvSpPr/>
          <p:nvPr/>
        </p:nvSpPr>
        <p:spPr>
          <a:xfrm>
            <a:off x="4475988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279"/>
          <p:cNvSpPr/>
          <p:nvPr/>
        </p:nvSpPr>
        <p:spPr>
          <a:xfrm>
            <a:off x="4475988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figure280" descr="○ 그래프의 여름 줄: 아래에서부터 6칸 색칠(○ 6개)"/>
          <p:cNvSpPr/>
          <p:nvPr/>
        </p:nvSpPr>
        <p:spPr>
          <a:xfrm>
            <a:off x="4475988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0-label281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</p:txBody>
      </p:sp>
      <p:sp>
        <p:nvSpPr>
          <p:cNvPr id="24" name="S10-cell282"/>
          <p:cNvSpPr/>
          <p:nvPr/>
        </p:nvSpPr>
        <p:spPr>
          <a:xfrm>
            <a:off x="7328916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0-cell283"/>
          <p:cNvSpPr/>
          <p:nvPr/>
        </p:nvSpPr>
        <p:spPr>
          <a:xfrm>
            <a:off x="7328916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284"/>
          <p:cNvSpPr/>
          <p:nvPr/>
        </p:nvSpPr>
        <p:spPr>
          <a:xfrm>
            <a:off x="7328916" y="292265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285"/>
          <p:cNvSpPr/>
          <p:nvPr/>
        </p:nvSpPr>
        <p:spPr>
          <a:xfrm>
            <a:off x="7328916" y="330669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286"/>
          <p:cNvSpPr/>
          <p:nvPr/>
        </p:nvSpPr>
        <p:spPr>
          <a:xfrm>
            <a:off x="7328916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287"/>
          <p:cNvSpPr/>
          <p:nvPr/>
        </p:nvSpPr>
        <p:spPr>
          <a:xfrm>
            <a:off x="7328916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figure288" descr="○ 그래프의 가을 줄: 아래에서부터 3칸 색칠(○ 3개)"/>
          <p:cNvSpPr/>
          <p:nvPr/>
        </p:nvSpPr>
        <p:spPr>
          <a:xfrm>
            <a:off x="7328916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0-label289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</p:txBody>
      </p:sp>
      <p:sp>
        <p:nvSpPr>
          <p:cNvPr id="32" name="S10-cell290"/>
          <p:cNvSpPr/>
          <p:nvPr/>
        </p:nvSpPr>
        <p:spPr>
          <a:xfrm>
            <a:off x="10181844" y="215455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0-cell291"/>
          <p:cNvSpPr/>
          <p:nvPr/>
        </p:nvSpPr>
        <p:spPr>
          <a:xfrm>
            <a:off x="10181844" y="2538603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0-cell292"/>
          <p:cNvSpPr/>
          <p:nvPr/>
        </p:nvSpPr>
        <p:spPr>
          <a:xfrm>
            <a:off x="10181844" y="292265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0-cell293"/>
          <p:cNvSpPr/>
          <p:nvPr/>
        </p:nvSpPr>
        <p:spPr>
          <a:xfrm>
            <a:off x="10181844" y="330669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0-cell294"/>
          <p:cNvSpPr/>
          <p:nvPr/>
        </p:nvSpPr>
        <p:spPr>
          <a:xfrm>
            <a:off x="10181844" y="3690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0-cell295"/>
          <p:cNvSpPr/>
          <p:nvPr/>
        </p:nvSpPr>
        <p:spPr>
          <a:xfrm>
            <a:off x="10181844" y="4074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0-figure296" descr="○ 그래프의 겨울 줄: 아래에서부터 2칸 색칠(○ 2개)"/>
          <p:cNvSpPr/>
          <p:nvPr/>
        </p:nvSpPr>
        <p:spPr>
          <a:xfrm>
            <a:off x="10181844" y="2154555"/>
            <a:ext cx="384048" cy="230428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10-label297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간식을 세어 표를 채우고, 가장 많은 것을 말해요.</a:t>
            </a:r>
            <a:endParaRPr lang="ko-KR" sz="3200" dirty="0"/>
          </a:p>
        </p:txBody>
      </p:sp>
      <p:sp>
        <p:nvSpPr>
          <p:cNvPr id="4" name="S11-card2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3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그래프에는 ○를 몇 개씩 그릴까요?</a:t>
            </a:r>
            <a:endParaRPr lang="ko-KR" sz="3200" dirty="0"/>
          </a:p>
        </p:txBody>
      </p:sp>
      <p:sp>
        <p:nvSpPr>
          <p:cNvPr id="6" name="S11-word301"/>
          <p:cNvSpPr txBox="1"/>
          <p:nvPr/>
        </p:nvSpPr>
        <p:spPr>
          <a:xfrm>
            <a:off x="548640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7" name="S11-word302"/>
          <p:cNvSpPr txBox="1"/>
          <p:nvPr/>
        </p:nvSpPr>
        <p:spPr>
          <a:xfrm>
            <a:off x="1963674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8" name="S11-word303"/>
          <p:cNvSpPr txBox="1"/>
          <p:nvPr/>
        </p:nvSpPr>
        <p:spPr>
          <a:xfrm>
            <a:off x="3378708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9" name="S11-word304"/>
          <p:cNvSpPr txBox="1"/>
          <p:nvPr/>
        </p:nvSpPr>
        <p:spPr>
          <a:xfrm>
            <a:off x="4793742" y="201168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</a:t>
            </a:r>
            <a:endParaRPr lang="ko-KR" sz="3600" dirty="0"/>
          </a:p>
        </p:txBody>
      </p:sp>
      <p:sp>
        <p:nvSpPr>
          <p:cNvPr id="10" name="S11-word305"/>
          <p:cNvSpPr txBox="1"/>
          <p:nvPr/>
        </p:nvSpPr>
        <p:spPr>
          <a:xfrm>
            <a:off x="548640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1" name="S11-word306"/>
          <p:cNvSpPr txBox="1"/>
          <p:nvPr/>
        </p:nvSpPr>
        <p:spPr>
          <a:xfrm>
            <a:off x="1963674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12" name="S11-word307"/>
          <p:cNvSpPr txBox="1"/>
          <p:nvPr/>
        </p:nvSpPr>
        <p:spPr>
          <a:xfrm>
            <a:off x="3378708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3" name="S11-word308"/>
          <p:cNvSpPr txBox="1"/>
          <p:nvPr/>
        </p:nvSpPr>
        <p:spPr>
          <a:xfrm>
            <a:off x="4793742" y="313944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sp>
        <p:nvSpPr>
          <p:cNvPr id="14" name="S11-word309"/>
          <p:cNvSpPr txBox="1"/>
          <p:nvPr/>
        </p:nvSpPr>
        <p:spPr>
          <a:xfrm>
            <a:off x="548640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</a:t>
            </a:r>
            <a:endParaRPr lang="ko-KR" sz="3600" dirty="0"/>
          </a:p>
        </p:txBody>
      </p:sp>
      <p:sp>
        <p:nvSpPr>
          <p:cNvPr id="15" name="S11-word310"/>
          <p:cNvSpPr txBox="1"/>
          <p:nvPr/>
        </p:nvSpPr>
        <p:spPr>
          <a:xfrm>
            <a:off x="1963674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</a:t>
            </a:r>
            <a:endParaRPr lang="ko-KR" sz="3600" dirty="0"/>
          </a:p>
        </p:txBody>
      </p:sp>
      <p:sp>
        <p:nvSpPr>
          <p:cNvPr id="16" name="S11-word311"/>
          <p:cNvSpPr txBox="1"/>
          <p:nvPr/>
        </p:nvSpPr>
        <p:spPr>
          <a:xfrm>
            <a:off x="3378708" y="4267200"/>
            <a:ext cx="1140714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200" dirty="0"/>
          </a:p>
        </p:txBody>
      </p:sp>
      <p:graphicFrame>
        <p:nvGraphicFramePr>
          <p:cNvPr id="12" name="S11-table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508028"/>
                <a:gridCol w="969447"/>
                <a:gridCol w="969447"/>
                <a:gridCol w="969447"/>
                <a:gridCol w="96944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표로</a:t>
            </a:r>
            <a:endParaRPr lang="ko-KR" sz="4400" dirty="0"/>
          </a:p>
        </p:txBody>
      </p:sp>
      <p:sp>
        <p:nvSpPr>
          <p:cNvPr id="3" name="S13-text3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운동별 학생 수를 표로 나타내요.</a:t>
            </a:r>
            <a:endParaRPr lang="ko-KR" sz="3200" dirty="0"/>
          </a:p>
        </p:txBody>
      </p:sp>
      <p:sp>
        <p:nvSpPr>
          <p:cNvPr id="4" name="S13-card314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15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 □명, 축구 □명, 야구 □명</a:t>
            </a:r>
            <a:endParaRPr lang="ko-KR" sz="3200" dirty="0"/>
          </a:p>
        </p:txBody>
      </p:sp>
      <p:sp>
        <p:nvSpPr>
          <p:cNvPr id="6" name="S13-card316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17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□명, 가장 적은 운동은?</a:t>
            </a:r>
            <a:endParaRPr lang="ko-KR" sz="3200" dirty="0"/>
          </a:p>
        </p:txBody>
      </p:sp>
      <p:sp>
        <p:nvSpPr>
          <p:cNvPr id="8" name="S13-cell318"/>
          <p:cNvSpPr/>
          <p:nvPr/>
        </p:nvSpPr>
        <p:spPr>
          <a:xfrm>
            <a:off x="2125980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19"/>
          <p:cNvSpPr/>
          <p:nvPr/>
        </p:nvSpPr>
        <p:spPr>
          <a:xfrm>
            <a:off x="2125980" y="2422271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320"/>
          <p:cNvSpPr/>
          <p:nvPr/>
        </p:nvSpPr>
        <p:spPr>
          <a:xfrm>
            <a:off x="2125980" y="2751455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321"/>
          <p:cNvSpPr/>
          <p:nvPr/>
        </p:nvSpPr>
        <p:spPr>
          <a:xfrm>
            <a:off x="2125980" y="3080639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322"/>
          <p:cNvSpPr/>
          <p:nvPr/>
        </p:nvSpPr>
        <p:spPr>
          <a:xfrm>
            <a:off x="2125980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23"/>
          <p:cNvSpPr/>
          <p:nvPr/>
        </p:nvSpPr>
        <p:spPr>
          <a:xfrm>
            <a:off x="2125980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figure324" descr="○ 그래프의 수영 줄: 아래에서부터 3칸 색칠(○ 3개)"/>
          <p:cNvSpPr/>
          <p:nvPr/>
        </p:nvSpPr>
        <p:spPr>
          <a:xfrm>
            <a:off x="2125980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3-label325"/>
          <p:cNvSpPr txBox="1"/>
          <p:nvPr/>
        </p:nvSpPr>
        <p:spPr>
          <a:xfrm>
            <a:off x="548640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</a:t>
            </a:r>
            <a:endParaRPr lang="ko-KR" sz="2600" dirty="0"/>
          </a:p>
        </p:txBody>
      </p:sp>
      <p:sp>
        <p:nvSpPr>
          <p:cNvPr id="16" name="S13-cell326"/>
          <p:cNvSpPr/>
          <p:nvPr/>
        </p:nvSpPr>
        <p:spPr>
          <a:xfrm>
            <a:off x="5929884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327"/>
          <p:cNvSpPr/>
          <p:nvPr/>
        </p:nvSpPr>
        <p:spPr>
          <a:xfrm>
            <a:off x="5929884" y="2422271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328"/>
          <p:cNvSpPr/>
          <p:nvPr/>
        </p:nvSpPr>
        <p:spPr>
          <a:xfrm>
            <a:off x="5929884" y="2751455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329"/>
          <p:cNvSpPr/>
          <p:nvPr/>
        </p:nvSpPr>
        <p:spPr>
          <a:xfrm>
            <a:off x="5929884" y="3080639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cell330"/>
          <p:cNvSpPr/>
          <p:nvPr/>
        </p:nvSpPr>
        <p:spPr>
          <a:xfrm>
            <a:off x="5929884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331"/>
          <p:cNvSpPr/>
          <p:nvPr/>
        </p:nvSpPr>
        <p:spPr>
          <a:xfrm>
            <a:off x="5929884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figure332" descr="○ 그래프의 축구 줄: 아래에서부터 5칸 색칠(○ 5개)"/>
          <p:cNvSpPr/>
          <p:nvPr/>
        </p:nvSpPr>
        <p:spPr>
          <a:xfrm>
            <a:off x="5929884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3-label333"/>
          <p:cNvSpPr txBox="1"/>
          <p:nvPr/>
        </p:nvSpPr>
        <p:spPr>
          <a:xfrm>
            <a:off x="4352544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600" dirty="0"/>
          </a:p>
        </p:txBody>
      </p:sp>
      <p:sp>
        <p:nvSpPr>
          <p:cNvPr id="24" name="S13-cell334"/>
          <p:cNvSpPr/>
          <p:nvPr/>
        </p:nvSpPr>
        <p:spPr>
          <a:xfrm>
            <a:off x="9733788" y="2093087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35"/>
          <p:cNvSpPr/>
          <p:nvPr/>
        </p:nvSpPr>
        <p:spPr>
          <a:xfrm>
            <a:off x="9733788" y="2422271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336"/>
          <p:cNvSpPr/>
          <p:nvPr/>
        </p:nvSpPr>
        <p:spPr>
          <a:xfrm>
            <a:off x="9733788" y="2751455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337"/>
          <p:cNvSpPr/>
          <p:nvPr/>
        </p:nvSpPr>
        <p:spPr>
          <a:xfrm>
            <a:off x="9733788" y="3080639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cell338"/>
          <p:cNvSpPr/>
          <p:nvPr/>
        </p:nvSpPr>
        <p:spPr>
          <a:xfrm>
            <a:off x="9733788" y="3409823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39"/>
          <p:cNvSpPr/>
          <p:nvPr/>
        </p:nvSpPr>
        <p:spPr>
          <a:xfrm>
            <a:off x="9733788" y="3739007"/>
            <a:ext cx="329184" cy="32918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figure340" descr="○ 그래프의 야구 줄: 아래에서부터 2칸 색칠(○ 2개)"/>
          <p:cNvSpPr/>
          <p:nvPr/>
        </p:nvSpPr>
        <p:spPr>
          <a:xfrm>
            <a:off x="9733788" y="2093087"/>
            <a:ext cx="329184" cy="197510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3-label341"/>
          <p:cNvSpPr txBox="1"/>
          <p:nvPr/>
        </p:nvSpPr>
        <p:spPr>
          <a:xfrm>
            <a:off x="8156448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수와 합계를, 그래프는 많고 적음을 한눈에 보여 줘요.</a:t>
            </a:r>
            <a:endParaRPr lang="ko-KR" sz="3200" dirty="0"/>
          </a:p>
        </p:txBody>
      </p:sp>
      <p:sp>
        <p:nvSpPr>
          <p:cNvPr id="5" name="S14-chip34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아래에서부터 빈칸 없이 그리기</a:t>
            </a:r>
            <a:endParaRPr lang="ko-KR" sz="2600" dirty="0"/>
          </a:p>
        </p:txBody>
      </p:sp>
      <p:sp>
        <p:nvSpPr>
          <p:cNvPr id="6" name="S14-chip34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합계 확인 안 하기</a:t>
            </a:r>
            <a:endParaRPr lang="ko-KR" sz="2600" dirty="0"/>
          </a:p>
        </p:txBody>
      </p:sp>
      <p:sp>
        <p:nvSpPr>
          <p:cNvPr id="7" name="S14-text34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34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그래프의 ○는 어디서부터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그려요?</a:t>
            </a:r>
            <a:endParaRPr lang="ko-KR" sz="2600" dirty="0"/>
          </a:p>
        </p:txBody>
      </p:sp>
      <p:sp>
        <p:nvSpPr>
          <p:cNvPr id="9" name="S14-text34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표의 합계는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같아요?</a:t>
            </a:r>
            <a:endParaRPr lang="ko-KR" sz="2600" dirty="0"/>
          </a:p>
        </p:txBody>
      </p:sp>
      <p:sp>
        <p:nvSpPr>
          <p:cNvPr id="10" name="S14-text34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많은 것은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찾아요?</a:t>
            </a:r>
            <a:endParaRPr lang="ko-KR" sz="2600" dirty="0"/>
          </a:p>
        </p:txBody>
      </p:sp>
      <p:sp>
        <p:nvSpPr>
          <p:cNvPr id="11" name="S14-text35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무늬와 수의 규칙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종류별로 세요</a:t>
            </a:r>
            <a:endParaRPr lang="ko-KR" sz="4400" dirty="0"/>
          </a:p>
        </p:txBody>
      </p:sp>
      <p:sp>
        <p:nvSpPr>
          <p:cNvPr id="3" name="S15-text3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빨강만 골라서 세어 봐요.</a:t>
            </a:r>
            <a:endParaRPr lang="ko-KR" sz="3200" dirty="0"/>
          </a:p>
        </p:txBody>
      </p:sp>
      <p:sp>
        <p:nvSpPr>
          <p:cNvPr id="4" name="S15-card3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 3, 파랑 1, 노랑 1. 모두 5예요.</a:t>
            </a:r>
            <a:endParaRPr lang="ko-KR" sz="3200" dirty="0"/>
          </a:p>
        </p:txBody>
      </p:sp>
      <p:sp>
        <p:nvSpPr>
          <p:cNvPr id="6" name="S15-word354"/>
          <p:cNvSpPr txBox="1"/>
          <p:nvPr/>
        </p:nvSpPr>
        <p:spPr>
          <a:xfrm>
            <a:off x="548640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7" name="S15-word355"/>
          <p:cNvSpPr txBox="1"/>
          <p:nvPr/>
        </p:nvSpPr>
        <p:spPr>
          <a:xfrm>
            <a:off x="2821838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3600" dirty="0"/>
          </a:p>
        </p:txBody>
      </p:sp>
      <p:sp>
        <p:nvSpPr>
          <p:cNvPr id="8" name="S15-word356"/>
          <p:cNvSpPr txBox="1"/>
          <p:nvPr/>
        </p:nvSpPr>
        <p:spPr>
          <a:xfrm>
            <a:off x="5095037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9" name="S15-word357"/>
          <p:cNvSpPr txBox="1"/>
          <p:nvPr/>
        </p:nvSpPr>
        <p:spPr>
          <a:xfrm>
            <a:off x="7368235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3600" dirty="0"/>
          </a:p>
        </p:txBody>
      </p:sp>
      <p:sp>
        <p:nvSpPr>
          <p:cNvPr id="10" name="S15-word358"/>
          <p:cNvSpPr txBox="1"/>
          <p:nvPr/>
        </p:nvSpPr>
        <p:spPr>
          <a:xfrm>
            <a:off x="9641434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표와 그래프</dc:title>
  <dc:subject>KR22-G02-MAT-TABLEGRAPH-L01</dc:subject>
  <dc:creator>education-ppt</dc:creator>
  <cp:lastModifiedBy>education-ppt</cp:lastModifiedBy>
  <cp:revision>1</cp:revision>
  <dcterms:created xsi:type="dcterms:W3CDTF">2026-10-26T07:07:31Z</dcterms:created>
  <dcterms:modified xsi:type="dcterms:W3CDTF">2026-10-26T07:07:31Z</dcterms:modified>
</cp:coreProperties>
</file>