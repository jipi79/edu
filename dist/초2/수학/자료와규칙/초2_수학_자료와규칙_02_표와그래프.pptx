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18cb734-df3c-142a-5f88-5de41f4ec487}">
          <p14:sldIdLst>
            <p14:sldId id="256"/>
            <p14:sldId id="257"/>
          </p14:sldIdLst>
        </p14:section>
        <p14:section name="개념" id="{0a43de97-f31e-1520-1db5-4a97fa3b0e00}">
          <p14:sldIdLst>
            <p14:sldId id="258"/>
            <p14:sldId id="259"/>
            <p14:sldId id="260"/>
            <p14:sldId id="261"/>
          </p14:sldIdLst>
        </p14:section>
        <p14:section name="연습" id="{7070356e-5e07-c8a8-4aa8-fd359a9a957d}">
          <p14:sldIdLst>
            <p14:sldId id="262"/>
            <p14:sldId id="263"/>
            <p14:sldId id="264"/>
            <p14:sldId id="265"/>
          </p14:sldIdLst>
        </p14:section>
        <p14:section name="확인" id="{15b00e68-0cc6-bd3d-14b9-12666a3a4a07}">
          <p14:sldIdLst>
            <p14:sldId id="266"/>
            <p14:sldId id="267"/>
            <p14:sldId id="268"/>
          </p14:sldIdLst>
        </p14:section>
        <p14:section name="정리" id="{dfecf280-e2a5-24d7-b5dc-bd10e4fcd25f}">
          <p14:sldIdLst>
            <p14:sldId id="269"/>
          </p14:sldIdLst>
        </p14:section>
        <p14:section name="보충" id="{d93eb1da-15d8-0251-1529-6ae11ef676e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조사한 것을 한눈에 보이게 정리하는 방법이 있다는 것을 느끼게 합니다.
시간: 약 2분
이렇게 말해 보세요
- “친구들이 좋아하는 과일을 물어봤어. 어떤 과일을 가장 좋아하는지 한눈에 알려면 어떻게 정리하면 좋을까?”
- “오른쪽 그림처럼 나타내면 무엇이 가장 많은지 금방 보여. 오늘은 표와 그래프를 배울 거야.”
예상 답
- “세어 봐요.” “제일 높은 거요.” 어떤 답이든 괜찮습니다.
막히면
- 답을 확인하지 않고 넘어갑니다. S03부터 차례로 합니다.
주의
- 오른쪽 그림은 S05에서 만들 ○ 그래프입니다. 지금은 이름을 붙이지 않고 모양만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확인(분류하여 세기)]
목적: 지난 시간처럼 기준(모양)에 따라 나누어 세고, 합계가 전체 수와 같은지 확인할 수 있는지 봅니다.
시간: 약 3분
이렇게 말해 보세요
- “①에서 동그라미, 세모, 네모는 각각 몇 개야?”
- “② 센 수를 모두 더하면 몇 개야? 카드 수와 같아?”
정답
- ① 동그라미 3개, 세모 2개, 네모 1개
- ② 3 + 2 + 1 = 6, 카드 6장과 같습니다.
막히면
- 세기가 흔들리면 S15(보충)를 먼저 합니다. 보충으로도 어려우면 앞 차시 ‘분류하기’(KR22-G02-MAT-SORT-L01)를 다시 합니다.
주의
- 오늘은 이렇게 센 결과를 표와 그래프로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조사한 자료 보기]
목적: 조사한 자료를 그대로 두면 종류별 수를 알기 어렵다는 것을 느끼고, 정리할 필요를 압니다.
시간: 약 2분
이렇게 말해 보세요
- “친구 한 명이 카드 한 장이야. 사과를 좋아하는 친구는 몇 명일까? 바로 알 수 있어?”
- “어떻게 하면 한눈에 알 수 있을까?”
예상 답
- “세어 봐야 알아요.” “과일끼리 모아요.”
막히면
- 지난 시간의 ‘분류하기’처럼 과일 종류별로 나누면 된다고 연결해 줍니다.
주의
- 집에서 가족에게 직접 물어 자료를 모아도 좋습니다. 그때는 S04의 수 대신 실제로 조사한 수를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자료를 표로 나타내기]
목적: 조사한 자료를 종류별로 세어 표로 나타내고, 합계가 조사한 사람 수와 같은지 확인합니다.
시간: 약 3분
이렇게 말해 보세요
- “S03의 카드에서 사과를 세어 보자. 센 카드에 ✓ 표시를 하면서 세면 빠뜨리지 않아.”
- “표로 나타내니까 어때? 사과를 좋아하는 친구는 몇 명이야? 모두 몇 명이야?”
예상 답
- “사과 5명, 귤 2명, 포도 4명, 딸기 3명, 모두 14명이에요.”
막히면
- S03으로 돌아가 과일 하나씩 정해 세게 합니다(종이에 ✓ 표시).
주의
- 표는 종류별 수와 전체 수(합계)를 정확하게 알기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○ 그래프 그리기 시범]
목적: 표의 수만큼 아래에서부터 빈칸 없이 ○를 그려 ○ 그래프를 만드는 방법을 보여 줍니다.
시간: 약 4분
이렇게 말해 보세요
- “표에서 사과는 5명이었지? 그래프의 사과 줄에 아래에서부터 ○를 5개 그려. 화면에서는 칸을 색칠해서 ○를 나타냈어.”
- “귤, 포도, 딸기도 표의 수만큼 채웠는지 세어 볼까?”
예상 답
- “사과 5칸, 귤 2칸, 포도 4칸, 딸기 3칸이에요.”
막히면
- 바둑돌을 과일 이름 위에 하나씩 쌓듯이 놓아 보게 합니다.
주의
- 화면의 색칠한 칸 1개가 ○ 1개입니다. 활동지에서는 칸에 ○를 직접 그립니다.
- 교과서 그래프에는 왼쪽에 1, 2, 3 … 눈금 숫자가 있습니다. 화면 그래프에는 숫자가 없으니 칸을 세어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표와 그래프로 알 수 있는 것]
목적: 그래프를 보면 가장 많은 것과 가장 적은 것을 한눈에 알 수 있고, 표는 수와 합계를 알기 쉽다는 것을 압니다.
시간: 약 3분
이렇게 말해 보세요
- “가장 많은 친구가 좋아하는 과일은 뭐야? 어떻게 바로 알았어?”
- “가장 적은 과일은? 포도는 귤보다 몇 명 더 많아?”
- “모두 몇 명인지 알고 싶으면 표와 그래프 중 무엇을 보면 좋을까?”
예상 답
- “사과요. 제일 높아요.” “귤이 가장 적어요.” “포도가 2명 더 많아요.” “표의 합계를 봐요.”
막히면
- 줄의 높이를 손가락으로 비교하게 합니다.
주의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연습(자료를 표로)]
목적: 도움을 받으며 조사한 자료를 종류별로 세어 표를 완성합니다.
시간: 약 4분
이렇게 말해 보세요
- “빨강을 좋아하는 친구는 몇 명이야? 하나씩 짚으면서 세어 봐.”
- “파랑과 노랑도 세어서 표에 쓰고, 합계를 구해 보자. 조사한 친구 수와 같아?”
정답
- 빨강 5명, 파랑 4명, 노랑 3명, 합계 12명
막히면
- 종이에 빨강·파랑·노랑 칸을 그리고 카드를 읽을 때마다 ✓를 하나씩 그리게 합니다.
주의
- 합계가 12가 아니면 빠뜨리거나 두 번 센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연습(표에 맞는 그래프)]
목적: 도움을 받으며 표의 수와 그래프의 칸 수가 같은지 확인합니다.
시간: 약 3분
이렇게 말해 보세요
- “S07에서 만든 표와 같은 그래프는 가와 나 중 어느 것일까? 색마다 칸을 세어 봐.”
정답
- 나. 빨강 5칸, 파랑 4칸, 노랑 3칸입니다.
- 가는 파랑 3칸, 노랑 4칸으로 표와 다릅니다.
막히면
- 색 하나씩 정해 가와 나의 칸을 차례로 셉니다.
주의
- 표와 그래프는 같은 자료를 나타내므로 수가 똑같아야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비교(○를 위에서부터 그리기)]
목적: ○를 아래에서부터 빈칸 없이 그려야 높이로 많고 적음을 비교할 수 있다는 것을 압니다(M2).
시간: 약 2분
이렇게 말해 보세요
- “토끼와 곰은 같은 수를 그렸어. 어느 그래프가 많고 적음이 더 잘 보여?”
- “곰처럼 아래에서부터 그리면 무엇이 좋을까?”
예상 답
- “곰이요. 높은 게 많은 거라 잘 보여요.”
정답
- 곰의 그래프입니다. 아래에서부터 빈칸 없이 그려야 줄의 높이로 많고 적음을 바로 비교할 수 있습니다.
- 토끼의 그래프도 칸 수는 맞지만, 위에서부터 그려 높이 비교가 어렵습니다.
막히면
- 바둑돌을 위에서 매달 수는 없고 바닥부터 쌓는다고 비유해 줍니다.
주의
- ○ 사이를 띄어 그리는 것도 같은 실수입니다. 활동지에서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연습(그래프 읽기)]
목적: 도움을 받으며 그래프에서 가장 많은 것과 두 종류의 차이를 읽습니다.
시간: 약 4분
이렇게 말해 보세요
- “가장 많은 학생이 좋아하는 계절은 뭐야? 몇 명이야?”
- “여름과 겨울의 칸 수를 세어 봐. 몇 명 차이야?”
- “이 그래프를 표로 나타내면 합계는 몇 명일까?”
정답
- 가장 많은 계절: 여름(6명)
- 여름은 겨울보다 4명 더 많습니다(6 − 2 = 4).
- 합계: 4 + 6 + 3 + 2 = 15명
막히면
- 두 줄을 나란히 보며 높이가 같은 칸까지 손으로 가리고 남는 칸을 셉니다.
주의
- 가장 적은 계절(겨울)도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자료를 표로 나타내고(①), 그래프에 그릴 ○의 수를 말하며(②), 가장 많은 것을 찾는지(③) 확인합니다.
시간: 약 4분
이렇게 말해 보세요
- “이번에는 혼자 해 볼래? 종이에 표를 그려서 써도 돼. 다 하면 그래프에 ○를 몇 개씩 그릴지, 가장 많은 간식은 무엇인지 말해 줘.”
정답
- 표: 과자 5명, 빵 4명, 떡 2명, 합계 11명
- 그래프: 과자 ○ 5개, 빵 ○ 4개, 떡 ○ 2개(아래에서부터)
- 가장 많은 간식: 과자
막히면
- 바로 알려 주지 말고 “합계가 조사한 사람 수와 같아?”라고만 묻습니다.
- 도움을 받아 해결했다면 기록표에 ‘도움’으로 표시합니다.
주의
- 활동지 2번에서 실제로 ○ 그래프를 그려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표와 같은지 볼까? 합계가 11이 아니면 어디서 틀렸는지 찾아보자.”
정답
- 과자 5, 빵 4, 떡 2, 합계 11 / ○ 5, 4, 2개 / 가장 많은 것: 과자
막히면
- 합계가 다르면 ✓ 표시를 하며 다시 셉니다(M1).
- 그래프를 위에서부터 그리겠다고 하면 S09로 돌아갑니다(M2).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확인(그래프를 표로)]
목적: 처음 보는 그래프를 읽어 표로 나타내고, 가장 적은 것을 찾는지 확인합니다.
시간: 약 3분
이렇게 말해 보세요
- “그래프의 칸을 세어서 종이에 표를 그려 채워 볼래? 합계는 몇 명이야? 가장 적은 운동은?”
정답
- 수영 3명, 축구 5명, 야구 2명, 합계 10명
- 가장 적은 운동: 야구
막히면
- 줄 하나씩 손가락으로 칸을 짚으며 셉니다.
주의
- 그래프와 표는 같은 자료이므로 수가 같아야 한다는 것을 다시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“오늘 배운 것을 말해 볼래? 표는 무엇을 알기 좋고, 그래프는 무엇을 알기 좋아?”
예상 답
- “표는 모두 몇 명인지 알기 좋아요.” “그래프는 가장 많은 게 한눈에 보여요.”
정답
- ① 아래에서부터 빈칸 없이 ② 조사한 전체 수 ③ 그래프에서 가장 높은 줄(표에서 가장 큰 수)
막히면
- S05와 S06의 그림을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보충(종류별로 세기)]
목적: S02에서 종류별로 세기가 흔들리면, 한 종류씩 골라 세고 합계를 확인하는 것을 먼저 합니다.
시간: 약 5분
이렇게 말해 보세요
- “진하게 표시된 카드가 빨강이야. 빨강은 몇 장이야? 파랑과 노랑은?”
- “모두 더하면 카드 수와 같아?”
정답
- 빨강 3, 파랑 1, 노랑 1, 합계 5
막히면
- 색이 다른 단추를 접시에 종류별로 나누어 담고 셉니다.
주의
- 보충으로도 어려우면 앞 차시 ‘분류하기’(KR22-G02-MAT-SORT-L01)를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자료와규칙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표와 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표와 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표와 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표와 그래프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과일을 가장 좋아할까?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87869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7878699" y="1408176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7878699" y="1755648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7878699" y="2103120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87869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787869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figure7" descr="○ 그래프의 사과 줄: 아래에서부터 5칸 색칠(○ 5개)"/>
          <p:cNvSpPr/>
          <p:nvPr/>
        </p:nvSpPr>
        <p:spPr>
          <a:xfrm>
            <a:off x="787869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894168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8941689" y="1408176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8941689" y="1755648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941689" y="2103120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94168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94168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figure14" descr="○ 그래프의 귤 줄: 아래에서부터 2칸 색칠(○ 2개)"/>
          <p:cNvSpPr/>
          <p:nvPr/>
        </p:nvSpPr>
        <p:spPr>
          <a:xfrm>
            <a:off x="894168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1000467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10004679" y="1408176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004679" y="1755648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10004679" y="2103120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00467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1000467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figure21" descr="○ 그래프의 포도 줄: 아래에서부터 4칸 색칠(○ 4개)"/>
          <p:cNvSpPr/>
          <p:nvPr/>
        </p:nvSpPr>
        <p:spPr>
          <a:xfrm>
            <a:off x="1000467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1106766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1067669" y="1408176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1067669" y="1755648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11067669" y="2103120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106766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106766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figure28" descr="○ 그래프의 딸기 줄: 아래에서부터 3칸 색칠(○ 3개)"/>
          <p:cNvSpPr/>
          <p:nvPr/>
        </p:nvSpPr>
        <p:spPr>
          <a:xfrm>
            <a:off x="1106766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1-card29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3" name="S01-cardtext30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조사한 자료를 표로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○ 그래프로 나타내고 알 수 있는 것을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봐요.</a:t>
            </a:r>
            <a:endParaRPr lang="ko-KR" sz="3200" dirty="0"/>
          </a:p>
        </p:txBody>
      </p:sp>
      <p:sp>
        <p:nvSpPr>
          <p:cNvPr id="4" name="S02-chip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33"/>
          <p:cNvSpPr txBox="1"/>
          <p:nvPr/>
        </p:nvSpPr>
        <p:spPr>
          <a:xfrm>
            <a:off x="1344168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300" dirty="0"/>
          </a:p>
        </p:txBody>
      </p:sp>
      <p:sp>
        <p:nvSpPr>
          <p:cNvPr id="6" name="S02-tile34"/>
          <p:cNvSpPr txBox="1"/>
          <p:nvPr/>
        </p:nvSpPr>
        <p:spPr>
          <a:xfrm>
            <a:off x="2078736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7" name="S02-tile35"/>
          <p:cNvSpPr txBox="1"/>
          <p:nvPr/>
        </p:nvSpPr>
        <p:spPr>
          <a:xfrm>
            <a:off x="2813304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300" dirty="0"/>
          </a:p>
        </p:txBody>
      </p:sp>
      <p:sp>
        <p:nvSpPr>
          <p:cNvPr id="8" name="S02-tile36"/>
          <p:cNvSpPr txBox="1"/>
          <p:nvPr/>
        </p:nvSpPr>
        <p:spPr>
          <a:xfrm>
            <a:off x="3547872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2300" dirty="0"/>
          </a:p>
        </p:txBody>
      </p:sp>
      <p:sp>
        <p:nvSpPr>
          <p:cNvPr id="9" name="S02-tile37"/>
          <p:cNvSpPr txBox="1"/>
          <p:nvPr/>
        </p:nvSpPr>
        <p:spPr>
          <a:xfrm>
            <a:off x="4282440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300" dirty="0"/>
          </a:p>
        </p:txBody>
      </p:sp>
      <p:sp>
        <p:nvSpPr>
          <p:cNvPr id="10" name="S02-tile38"/>
          <p:cNvSpPr txBox="1"/>
          <p:nvPr/>
        </p:nvSpPr>
        <p:spPr>
          <a:xfrm>
            <a:off x="5017008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11" name="S02-chip3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02-text40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센 수를 더하면?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자료</a:t>
            </a:r>
            <a:endParaRPr lang="ko-KR" sz="4400" dirty="0"/>
          </a:p>
        </p:txBody>
      </p:sp>
      <p:sp>
        <p:nvSpPr>
          <p:cNvPr id="3" name="S03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14명이 좋아하는 과일이에요.</a:t>
            </a:r>
            <a:endParaRPr lang="ko-KR" sz="3200" dirty="0"/>
          </a:p>
        </p:txBody>
      </p:sp>
      <p:sp>
        <p:nvSpPr>
          <p:cNvPr id="4" name="S03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이대로는 어떤 과일이 몇 명인지 알기 어려워요.</a:t>
            </a:r>
            <a:endParaRPr lang="ko-KR" sz="3200" dirty="0"/>
          </a:p>
        </p:txBody>
      </p:sp>
      <p:sp>
        <p:nvSpPr>
          <p:cNvPr id="6" name="S03-word44"/>
          <p:cNvSpPr txBox="1"/>
          <p:nvPr/>
        </p:nvSpPr>
        <p:spPr>
          <a:xfrm>
            <a:off x="548640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7" name="S03-word45"/>
          <p:cNvSpPr txBox="1"/>
          <p:nvPr/>
        </p:nvSpPr>
        <p:spPr>
          <a:xfrm>
            <a:off x="2172353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8" name="S03-word46"/>
          <p:cNvSpPr txBox="1"/>
          <p:nvPr/>
        </p:nvSpPr>
        <p:spPr>
          <a:xfrm>
            <a:off x="3796066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9" name="S03-word47"/>
          <p:cNvSpPr txBox="1"/>
          <p:nvPr/>
        </p:nvSpPr>
        <p:spPr>
          <a:xfrm>
            <a:off x="5419779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0" name="S03-word48"/>
          <p:cNvSpPr txBox="1"/>
          <p:nvPr/>
        </p:nvSpPr>
        <p:spPr>
          <a:xfrm>
            <a:off x="7043493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11" name="S03-word49"/>
          <p:cNvSpPr txBox="1"/>
          <p:nvPr/>
        </p:nvSpPr>
        <p:spPr>
          <a:xfrm>
            <a:off x="8667206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2" name="S03-word50"/>
          <p:cNvSpPr txBox="1"/>
          <p:nvPr/>
        </p:nvSpPr>
        <p:spPr>
          <a:xfrm>
            <a:off x="10290919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3" name="S03-word51"/>
          <p:cNvSpPr txBox="1"/>
          <p:nvPr/>
        </p:nvSpPr>
        <p:spPr>
          <a:xfrm>
            <a:off x="548640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14" name="S03-word52"/>
          <p:cNvSpPr txBox="1"/>
          <p:nvPr/>
        </p:nvSpPr>
        <p:spPr>
          <a:xfrm>
            <a:off x="2172353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5" name="S03-word53"/>
          <p:cNvSpPr txBox="1"/>
          <p:nvPr/>
        </p:nvSpPr>
        <p:spPr>
          <a:xfrm>
            <a:off x="3796066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6" name="S03-word54"/>
          <p:cNvSpPr txBox="1"/>
          <p:nvPr/>
        </p:nvSpPr>
        <p:spPr>
          <a:xfrm>
            <a:off x="5419779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7" name="S03-word55"/>
          <p:cNvSpPr txBox="1"/>
          <p:nvPr/>
        </p:nvSpPr>
        <p:spPr>
          <a:xfrm>
            <a:off x="7043493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18" name="S03-word56"/>
          <p:cNvSpPr txBox="1"/>
          <p:nvPr/>
        </p:nvSpPr>
        <p:spPr>
          <a:xfrm>
            <a:off x="8667206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9" name="S03-word57"/>
          <p:cNvSpPr txBox="1"/>
          <p:nvPr/>
        </p:nvSpPr>
        <p:spPr>
          <a:xfrm>
            <a:off x="10290919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나타내요</a:t>
            </a:r>
            <a:endParaRPr lang="ko-KR" sz="4400" dirty="0"/>
          </a:p>
        </p:txBody>
      </p:sp>
      <p:sp>
        <p:nvSpPr>
          <p:cNvPr id="3" name="S04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과일별로 세어 표에 써요.</a:t>
            </a:r>
            <a:endParaRPr lang="ko-KR" sz="3200" dirty="0"/>
          </a:p>
        </p:txBody>
      </p:sp>
      <p:sp>
        <p:nvSpPr>
          <p:cNvPr id="4" name="S04-card5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+ 4 + 3 = 14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합계는 조사한 친구 수 14명과 같아요.</a:t>
            </a:r>
            <a:endParaRPr lang="ko-KR" sz="3200" dirty="0"/>
          </a:p>
        </p:txBody>
      </p:sp>
      <p:graphicFrame>
        <p:nvGraphicFramePr>
          <p:cNvPr id="5" name="S04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820162"/>
          <a:ext cx="9875520" cy="914400"/>
        </p:xfrm>
        <a:graphic>
          <a:graphicData uri="http://schemas.openxmlformats.org/drawingml/2006/table">
            <a:tbl>
              <a:tblPr/>
              <a:tblGrid>
                <a:gridCol w="2765146"/>
                <a:gridCol w="1422075"/>
                <a:gridCol w="1422075"/>
                <a:gridCol w="1422075"/>
                <a:gridCol w="1422075"/>
                <a:gridCol w="1422075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그래프 그리기</a:t>
            </a:r>
            <a:endParaRPr lang="ko-KR" sz="4400" dirty="0"/>
          </a:p>
        </p:txBody>
      </p:sp>
      <p:sp>
        <p:nvSpPr>
          <p:cNvPr id="3" name="S05-text6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보고 그래프로 나타내요.</a:t>
            </a:r>
            <a:endParaRPr lang="ko-KR" sz="3200" dirty="0"/>
          </a:p>
        </p:txBody>
      </p:sp>
      <p:sp>
        <p:nvSpPr>
          <p:cNvPr id="4" name="S05-cell63"/>
          <p:cNvSpPr/>
          <p:nvPr/>
        </p:nvSpPr>
        <p:spPr>
          <a:xfrm>
            <a:off x="7104945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5-cell64"/>
          <p:cNvSpPr/>
          <p:nvPr/>
        </p:nvSpPr>
        <p:spPr>
          <a:xfrm>
            <a:off x="7104945" y="338442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cell65"/>
          <p:cNvSpPr/>
          <p:nvPr/>
        </p:nvSpPr>
        <p:spPr>
          <a:xfrm>
            <a:off x="7104945" y="376847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66"/>
          <p:cNvSpPr/>
          <p:nvPr/>
        </p:nvSpPr>
        <p:spPr>
          <a:xfrm>
            <a:off x="7104945" y="415251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67"/>
          <p:cNvSpPr/>
          <p:nvPr/>
        </p:nvSpPr>
        <p:spPr>
          <a:xfrm>
            <a:off x="7104945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68"/>
          <p:cNvSpPr/>
          <p:nvPr/>
        </p:nvSpPr>
        <p:spPr>
          <a:xfrm>
            <a:off x="7104945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figure69" descr="○ 그래프의 사과 줄: 아래에서부터 5칸 색칠(○ 5개)"/>
          <p:cNvSpPr/>
          <p:nvPr/>
        </p:nvSpPr>
        <p:spPr>
          <a:xfrm>
            <a:off x="7104945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label70"/>
          <p:cNvSpPr txBox="1"/>
          <p:nvPr/>
        </p:nvSpPr>
        <p:spPr>
          <a:xfrm>
            <a:off x="6813652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600" dirty="0"/>
          </a:p>
        </p:txBody>
      </p:sp>
      <p:sp>
        <p:nvSpPr>
          <p:cNvPr id="12" name="S05-cell71"/>
          <p:cNvSpPr/>
          <p:nvPr/>
        </p:nvSpPr>
        <p:spPr>
          <a:xfrm>
            <a:off x="8391620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72"/>
          <p:cNvSpPr/>
          <p:nvPr/>
        </p:nvSpPr>
        <p:spPr>
          <a:xfrm>
            <a:off x="8391620" y="338442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73"/>
          <p:cNvSpPr/>
          <p:nvPr/>
        </p:nvSpPr>
        <p:spPr>
          <a:xfrm>
            <a:off x="8391620" y="376847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74"/>
          <p:cNvSpPr/>
          <p:nvPr/>
        </p:nvSpPr>
        <p:spPr>
          <a:xfrm>
            <a:off x="8391620" y="415251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75"/>
          <p:cNvSpPr/>
          <p:nvPr/>
        </p:nvSpPr>
        <p:spPr>
          <a:xfrm>
            <a:off x="8391620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76"/>
          <p:cNvSpPr/>
          <p:nvPr/>
        </p:nvSpPr>
        <p:spPr>
          <a:xfrm>
            <a:off x="8391620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figure77" descr="○ 그래프의 귤 줄: 아래에서부터 2칸 색칠(○ 2개)"/>
          <p:cNvSpPr/>
          <p:nvPr/>
        </p:nvSpPr>
        <p:spPr>
          <a:xfrm>
            <a:off x="8391620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label78"/>
          <p:cNvSpPr txBox="1"/>
          <p:nvPr/>
        </p:nvSpPr>
        <p:spPr>
          <a:xfrm>
            <a:off x="8100327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600" dirty="0"/>
          </a:p>
        </p:txBody>
      </p:sp>
      <p:sp>
        <p:nvSpPr>
          <p:cNvPr id="20" name="S05-cell79"/>
          <p:cNvSpPr/>
          <p:nvPr/>
        </p:nvSpPr>
        <p:spPr>
          <a:xfrm>
            <a:off x="9678295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80"/>
          <p:cNvSpPr/>
          <p:nvPr/>
        </p:nvSpPr>
        <p:spPr>
          <a:xfrm>
            <a:off x="9678295" y="338442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81"/>
          <p:cNvSpPr/>
          <p:nvPr/>
        </p:nvSpPr>
        <p:spPr>
          <a:xfrm>
            <a:off x="9678295" y="376847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cell82"/>
          <p:cNvSpPr/>
          <p:nvPr/>
        </p:nvSpPr>
        <p:spPr>
          <a:xfrm>
            <a:off x="9678295" y="415251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cell83"/>
          <p:cNvSpPr/>
          <p:nvPr/>
        </p:nvSpPr>
        <p:spPr>
          <a:xfrm>
            <a:off x="9678295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84"/>
          <p:cNvSpPr/>
          <p:nvPr/>
        </p:nvSpPr>
        <p:spPr>
          <a:xfrm>
            <a:off x="9678295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figure85" descr="○ 그래프의 포도 줄: 아래에서부터 4칸 색칠(○ 4개)"/>
          <p:cNvSpPr/>
          <p:nvPr/>
        </p:nvSpPr>
        <p:spPr>
          <a:xfrm>
            <a:off x="9678295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5-label86"/>
          <p:cNvSpPr txBox="1"/>
          <p:nvPr/>
        </p:nvSpPr>
        <p:spPr>
          <a:xfrm>
            <a:off x="9387002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600" dirty="0"/>
          </a:p>
        </p:txBody>
      </p:sp>
      <p:sp>
        <p:nvSpPr>
          <p:cNvPr id="28" name="S05-cell87"/>
          <p:cNvSpPr/>
          <p:nvPr/>
        </p:nvSpPr>
        <p:spPr>
          <a:xfrm>
            <a:off x="10964970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88"/>
          <p:cNvSpPr/>
          <p:nvPr/>
        </p:nvSpPr>
        <p:spPr>
          <a:xfrm>
            <a:off x="10964970" y="338442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89"/>
          <p:cNvSpPr/>
          <p:nvPr/>
        </p:nvSpPr>
        <p:spPr>
          <a:xfrm>
            <a:off x="10964970" y="376847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90"/>
          <p:cNvSpPr/>
          <p:nvPr/>
        </p:nvSpPr>
        <p:spPr>
          <a:xfrm>
            <a:off x="10964970" y="415251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91"/>
          <p:cNvSpPr/>
          <p:nvPr/>
        </p:nvSpPr>
        <p:spPr>
          <a:xfrm>
            <a:off x="10964970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92"/>
          <p:cNvSpPr/>
          <p:nvPr/>
        </p:nvSpPr>
        <p:spPr>
          <a:xfrm>
            <a:off x="10964970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figure93" descr="○ 그래프의 딸기 줄: 아래에서부터 3칸 색칠(○ 3개)"/>
          <p:cNvSpPr/>
          <p:nvPr/>
        </p:nvSpPr>
        <p:spPr>
          <a:xfrm>
            <a:off x="10964970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5-label94"/>
          <p:cNvSpPr txBox="1"/>
          <p:nvPr/>
        </p:nvSpPr>
        <p:spPr>
          <a:xfrm>
            <a:off x="10673677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2600" dirty="0"/>
          </a:p>
        </p:txBody>
      </p:sp>
      <p:sp>
        <p:nvSpPr>
          <p:cNvPr id="36" name="S05-stepno95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7" name="S05-text96"/>
          <p:cNvSpPr txBox="1"/>
          <p:nvPr/>
        </p:nvSpPr>
        <p:spPr>
          <a:xfrm>
            <a:off x="1325880" y="3424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 과일 이름을 써요.</a:t>
            </a:r>
            <a:endParaRPr lang="ko-KR" sz="3200" dirty="0"/>
          </a:p>
        </p:txBody>
      </p:sp>
      <p:sp>
        <p:nvSpPr>
          <p:cNvPr id="38" name="S05-stepno97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9" name="S05-text98"/>
          <p:cNvSpPr txBox="1"/>
          <p:nvPr/>
        </p:nvSpPr>
        <p:spPr>
          <a:xfrm>
            <a:off x="1325880" y="41376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위로 ○를 그려요.</a:t>
            </a:r>
            <a:endParaRPr lang="ko-KR" sz="3200" dirty="0"/>
          </a:p>
        </p:txBody>
      </p:sp>
      <p:sp>
        <p:nvSpPr>
          <p:cNvPr id="40" name="S05-stepno99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5-text100"/>
          <p:cNvSpPr txBox="1"/>
          <p:nvPr/>
        </p:nvSpPr>
        <p:spPr>
          <a:xfrm>
            <a:off x="1325880" y="48508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없이 수만큼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그래프로 알 수 있어요</a:t>
            </a:r>
            <a:endParaRPr lang="ko-KR" sz="4400" dirty="0"/>
          </a:p>
        </p:txBody>
      </p:sp>
      <p:sp>
        <p:nvSpPr>
          <p:cNvPr id="3" name="S06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과일은 가장 높은 줄이에요.</a:t>
            </a:r>
            <a:endParaRPr lang="ko-KR" sz="3200" dirty="0"/>
          </a:p>
        </p:txBody>
      </p:sp>
      <p:sp>
        <p:nvSpPr>
          <p:cNvPr id="5" name="S06-card103"/>
          <p:cNvSpPr/>
          <p:nvPr/>
        </p:nvSpPr>
        <p:spPr>
          <a:xfrm>
            <a:off x="548640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104"/>
          <p:cNvSpPr txBox="1"/>
          <p:nvPr/>
        </p:nvSpPr>
        <p:spPr>
          <a:xfrm>
            <a:off x="822960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것이 한눈에 보여요.</a:t>
            </a:r>
            <a:endParaRPr lang="ko-KR" sz="3200" dirty="0"/>
          </a:p>
        </p:txBody>
      </p:sp>
      <p:sp>
        <p:nvSpPr>
          <p:cNvPr id="7" name="S06-card105"/>
          <p:cNvSpPr/>
          <p:nvPr/>
        </p:nvSpPr>
        <p:spPr>
          <a:xfrm>
            <a:off x="6208776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106"/>
          <p:cNvSpPr txBox="1"/>
          <p:nvPr/>
        </p:nvSpPr>
        <p:spPr>
          <a:xfrm>
            <a:off x="6483096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전체 수를 알기 쉬워요.</a:t>
            </a:r>
            <a:endParaRPr lang="ko-KR" sz="3200" dirty="0"/>
          </a:p>
        </p:txBody>
      </p:sp>
      <p:sp>
        <p:nvSpPr>
          <p:cNvPr id="9" name="S06-cell107"/>
          <p:cNvSpPr/>
          <p:nvPr/>
        </p:nvSpPr>
        <p:spPr>
          <a:xfrm>
            <a:off x="1671214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08"/>
          <p:cNvSpPr/>
          <p:nvPr/>
        </p:nvSpPr>
        <p:spPr>
          <a:xfrm>
            <a:off x="1671214" y="1613620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09"/>
          <p:cNvSpPr/>
          <p:nvPr/>
        </p:nvSpPr>
        <p:spPr>
          <a:xfrm>
            <a:off x="1671214" y="190135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10"/>
          <p:cNvSpPr/>
          <p:nvPr/>
        </p:nvSpPr>
        <p:spPr>
          <a:xfrm>
            <a:off x="1671214" y="218909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11"/>
          <p:cNvSpPr/>
          <p:nvPr/>
        </p:nvSpPr>
        <p:spPr>
          <a:xfrm>
            <a:off x="1671214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12"/>
          <p:cNvSpPr/>
          <p:nvPr/>
        </p:nvSpPr>
        <p:spPr>
          <a:xfrm>
            <a:off x="1671214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figure113" descr="○ 그래프의 사과 줄: 아래에서부터 5칸 색칠(○ 5개)"/>
          <p:cNvSpPr/>
          <p:nvPr/>
        </p:nvSpPr>
        <p:spPr>
          <a:xfrm>
            <a:off x="1671214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6-label114"/>
          <p:cNvSpPr txBox="1"/>
          <p:nvPr/>
        </p:nvSpPr>
        <p:spPr>
          <a:xfrm>
            <a:off x="548640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600" dirty="0"/>
          </a:p>
        </p:txBody>
      </p:sp>
      <p:sp>
        <p:nvSpPr>
          <p:cNvPr id="17" name="S06-cell115"/>
          <p:cNvSpPr/>
          <p:nvPr/>
        </p:nvSpPr>
        <p:spPr>
          <a:xfrm>
            <a:off x="4524142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16"/>
          <p:cNvSpPr/>
          <p:nvPr/>
        </p:nvSpPr>
        <p:spPr>
          <a:xfrm>
            <a:off x="4524142" y="161362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17"/>
          <p:cNvSpPr/>
          <p:nvPr/>
        </p:nvSpPr>
        <p:spPr>
          <a:xfrm>
            <a:off x="4524142" y="1901359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18"/>
          <p:cNvSpPr/>
          <p:nvPr/>
        </p:nvSpPr>
        <p:spPr>
          <a:xfrm>
            <a:off x="4524142" y="2189099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19"/>
          <p:cNvSpPr/>
          <p:nvPr/>
        </p:nvSpPr>
        <p:spPr>
          <a:xfrm>
            <a:off x="4524142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20"/>
          <p:cNvSpPr/>
          <p:nvPr/>
        </p:nvSpPr>
        <p:spPr>
          <a:xfrm>
            <a:off x="4524142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21" descr="○ 그래프의 귤 줄: 아래에서부터 2칸 색칠(○ 2개)"/>
          <p:cNvSpPr/>
          <p:nvPr/>
        </p:nvSpPr>
        <p:spPr>
          <a:xfrm>
            <a:off x="4524142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label122"/>
          <p:cNvSpPr txBox="1"/>
          <p:nvPr/>
        </p:nvSpPr>
        <p:spPr>
          <a:xfrm>
            <a:off x="3401568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600" dirty="0"/>
          </a:p>
        </p:txBody>
      </p:sp>
      <p:sp>
        <p:nvSpPr>
          <p:cNvPr id="25" name="S06-cell123"/>
          <p:cNvSpPr/>
          <p:nvPr/>
        </p:nvSpPr>
        <p:spPr>
          <a:xfrm>
            <a:off x="7377070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124"/>
          <p:cNvSpPr/>
          <p:nvPr/>
        </p:nvSpPr>
        <p:spPr>
          <a:xfrm>
            <a:off x="7377070" y="161362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125"/>
          <p:cNvSpPr/>
          <p:nvPr/>
        </p:nvSpPr>
        <p:spPr>
          <a:xfrm>
            <a:off x="7377070" y="190135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26"/>
          <p:cNvSpPr/>
          <p:nvPr/>
        </p:nvSpPr>
        <p:spPr>
          <a:xfrm>
            <a:off x="7377070" y="218909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27"/>
          <p:cNvSpPr/>
          <p:nvPr/>
        </p:nvSpPr>
        <p:spPr>
          <a:xfrm>
            <a:off x="7377070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128"/>
          <p:cNvSpPr/>
          <p:nvPr/>
        </p:nvSpPr>
        <p:spPr>
          <a:xfrm>
            <a:off x="7377070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figure129" descr="○ 그래프의 포도 줄: 아래에서부터 4칸 색칠(○ 4개)"/>
          <p:cNvSpPr/>
          <p:nvPr/>
        </p:nvSpPr>
        <p:spPr>
          <a:xfrm>
            <a:off x="7377070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6-label130"/>
          <p:cNvSpPr txBox="1"/>
          <p:nvPr/>
        </p:nvSpPr>
        <p:spPr>
          <a:xfrm>
            <a:off x="6254496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600" dirty="0"/>
          </a:p>
        </p:txBody>
      </p:sp>
      <p:sp>
        <p:nvSpPr>
          <p:cNvPr id="33" name="S06-cell131"/>
          <p:cNvSpPr/>
          <p:nvPr/>
        </p:nvSpPr>
        <p:spPr>
          <a:xfrm>
            <a:off x="10229998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132"/>
          <p:cNvSpPr/>
          <p:nvPr/>
        </p:nvSpPr>
        <p:spPr>
          <a:xfrm>
            <a:off x="10229998" y="161362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133"/>
          <p:cNvSpPr/>
          <p:nvPr/>
        </p:nvSpPr>
        <p:spPr>
          <a:xfrm>
            <a:off x="10229998" y="1901359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cell134"/>
          <p:cNvSpPr/>
          <p:nvPr/>
        </p:nvSpPr>
        <p:spPr>
          <a:xfrm>
            <a:off x="10229998" y="218909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cell135"/>
          <p:cNvSpPr/>
          <p:nvPr/>
        </p:nvSpPr>
        <p:spPr>
          <a:xfrm>
            <a:off x="10229998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6-cell136"/>
          <p:cNvSpPr/>
          <p:nvPr/>
        </p:nvSpPr>
        <p:spPr>
          <a:xfrm>
            <a:off x="10229998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figure137" descr="○ 그래프의 딸기 줄: 아래에서부터 3칸 색칠(○ 3개)"/>
          <p:cNvSpPr/>
          <p:nvPr/>
        </p:nvSpPr>
        <p:spPr>
          <a:xfrm>
            <a:off x="10229998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6-label138"/>
          <p:cNvSpPr txBox="1"/>
          <p:nvPr/>
        </p:nvSpPr>
        <p:spPr>
          <a:xfrm>
            <a:off x="9107424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채워요</a:t>
            </a:r>
            <a:endParaRPr lang="ko-KR" sz="4400" dirty="0"/>
          </a:p>
        </p:txBody>
      </p:sp>
      <p:sp>
        <p:nvSpPr>
          <p:cNvPr id="3" name="S07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12명이 좋아하는 색이에요.</a:t>
            </a:r>
            <a:endParaRPr lang="ko-KR" sz="3200" dirty="0"/>
          </a:p>
        </p:txBody>
      </p:sp>
      <p:sp>
        <p:nvSpPr>
          <p:cNvPr id="4" name="S07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색별로 세어 표를 채워요.</a:t>
            </a:r>
            <a:endParaRPr lang="ko-KR" sz="3200" dirty="0"/>
          </a:p>
        </p:txBody>
      </p:sp>
      <p:sp>
        <p:nvSpPr>
          <p:cNvPr id="6" name="S07-word142"/>
          <p:cNvSpPr txBox="1"/>
          <p:nvPr/>
        </p:nvSpPr>
        <p:spPr>
          <a:xfrm>
            <a:off x="548640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7" name="S07-word143"/>
          <p:cNvSpPr txBox="1"/>
          <p:nvPr/>
        </p:nvSpPr>
        <p:spPr>
          <a:xfrm>
            <a:off x="1963674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8" name="S07-word144"/>
          <p:cNvSpPr txBox="1"/>
          <p:nvPr/>
        </p:nvSpPr>
        <p:spPr>
          <a:xfrm>
            <a:off x="3378708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200" dirty="0"/>
          </a:p>
        </p:txBody>
      </p:sp>
      <p:sp>
        <p:nvSpPr>
          <p:cNvPr id="9" name="S07-word145"/>
          <p:cNvSpPr txBox="1"/>
          <p:nvPr/>
        </p:nvSpPr>
        <p:spPr>
          <a:xfrm>
            <a:off x="4793742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10" name="S07-word146"/>
          <p:cNvSpPr txBox="1"/>
          <p:nvPr/>
        </p:nvSpPr>
        <p:spPr>
          <a:xfrm>
            <a:off x="548640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11" name="S07-word147"/>
          <p:cNvSpPr txBox="1"/>
          <p:nvPr/>
        </p:nvSpPr>
        <p:spPr>
          <a:xfrm>
            <a:off x="1963674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12" name="S07-word148"/>
          <p:cNvSpPr txBox="1"/>
          <p:nvPr/>
        </p:nvSpPr>
        <p:spPr>
          <a:xfrm>
            <a:off x="3378708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200" dirty="0"/>
          </a:p>
        </p:txBody>
      </p:sp>
      <p:sp>
        <p:nvSpPr>
          <p:cNvPr id="13" name="S07-word149"/>
          <p:cNvSpPr txBox="1"/>
          <p:nvPr/>
        </p:nvSpPr>
        <p:spPr>
          <a:xfrm>
            <a:off x="4793742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14" name="S07-word150"/>
          <p:cNvSpPr txBox="1"/>
          <p:nvPr/>
        </p:nvSpPr>
        <p:spPr>
          <a:xfrm>
            <a:off x="548640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15" name="S07-word151"/>
          <p:cNvSpPr txBox="1"/>
          <p:nvPr/>
        </p:nvSpPr>
        <p:spPr>
          <a:xfrm>
            <a:off x="1963674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200" dirty="0"/>
          </a:p>
        </p:txBody>
      </p:sp>
      <p:sp>
        <p:nvSpPr>
          <p:cNvPr id="16" name="S07-word152"/>
          <p:cNvSpPr txBox="1"/>
          <p:nvPr/>
        </p:nvSpPr>
        <p:spPr>
          <a:xfrm>
            <a:off x="3378708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17" name="S07-word153"/>
          <p:cNvSpPr txBox="1"/>
          <p:nvPr/>
        </p:nvSpPr>
        <p:spPr>
          <a:xfrm>
            <a:off x="4793742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graphicFrame>
        <p:nvGraphicFramePr>
          <p:cNvPr id="8" name="S07-table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37840"/>
          <a:ext cx="5385816" cy="914400"/>
        </p:xfrm>
        <a:graphic>
          <a:graphicData uri="http://schemas.openxmlformats.org/drawingml/2006/table">
            <a:tbl>
              <a:tblPr/>
              <a:tblGrid>
                <a:gridCol w="1508028"/>
                <a:gridCol w="969447"/>
                <a:gridCol w="969447"/>
                <a:gridCol w="969447"/>
                <a:gridCol w="96944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그래프는?</a:t>
            </a:r>
            <a:endParaRPr lang="ko-KR" sz="4400" dirty="0"/>
          </a:p>
        </p:txBody>
      </p:sp>
      <p:sp>
        <p:nvSpPr>
          <p:cNvPr id="3" name="S08-card1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표: 빨강 5명, 파랑 4명, 노랑 3명</a:t>
            </a:r>
            <a:endParaRPr lang="ko-KR" sz="3200" dirty="0"/>
          </a:p>
        </p:txBody>
      </p:sp>
      <p:sp>
        <p:nvSpPr>
          <p:cNvPr id="5" name="S08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것은 가와 나 중 어느 것일까요?</a:t>
            </a:r>
            <a:endParaRPr lang="ko-KR" sz="3200" dirty="0"/>
          </a:p>
        </p:txBody>
      </p:sp>
      <p:sp>
        <p:nvSpPr>
          <p:cNvPr id="7" name="S08-chip1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cell160"/>
          <p:cNvSpPr/>
          <p:nvPr/>
        </p:nvSpPr>
        <p:spPr>
          <a:xfrm>
            <a:off x="1215200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161"/>
          <p:cNvSpPr/>
          <p:nvPr/>
        </p:nvSpPr>
        <p:spPr>
          <a:xfrm>
            <a:off x="1215200" y="3395853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62"/>
          <p:cNvSpPr/>
          <p:nvPr/>
        </p:nvSpPr>
        <p:spPr>
          <a:xfrm>
            <a:off x="1215200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63"/>
          <p:cNvSpPr/>
          <p:nvPr/>
        </p:nvSpPr>
        <p:spPr>
          <a:xfrm>
            <a:off x="1215200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64"/>
          <p:cNvSpPr/>
          <p:nvPr/>
        </p:nvSpPr>
        <p:spPr>
          <a:xfrm>
            <a:off x="1215200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65"/>
          <p:cNvSpPr/>
          <p:nvPr/>
        </p:nvSpPr>
        <p:spPr>
          <a:xfrm>
            <a:off x="1215200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figure166" descr="○ 그래프의 빨강 줄: 아래에서부터 5칸 색칠(○ 5개)"/>
          <p:cNvSpPr/>
          <p:nvPr/>
        </p:nvSpPr>
        <p:spPr>
          <a:xfrm>
            <a:off x="1215200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8-label167"/>
          <p:cNvSpPr txBox="1"/>
          <p:nvPr/>
        </p:nvSpPr>
        <p:spPr>
          <a:xfrm>
            <a:off x="54864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16" name="S08-cell168"/>
          <p:cNvSpPr/>
          <p:nvPr/>
        </p:nvSpPr>
        <p:spPr>
          <a:xfrm>
            <a:off x="3109532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169"/>
          <p:cNvSpPr/>
          <p:nvPr/>
        </p:nvSpPr>
        <p:spPr>
          <a:xfrm>
            <a:off x="3109532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170"/>
          <p:cNvSpPr/>
          <p:nvPr/>
        </p:nvSpPr>
        <p:spPr>
          <a:xfrm>
            <a:off x="3109532" y="3637026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171"/>
          <p:cNvSpPr/>
          <p:nvPr/>
        </p:nvSpPr>
        <p:spPr>
          <a:xfrm>
            <a:off x="3109532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72"/>
          <p:cNvSpPr/>
          <p:nvPr/>
        </p:nvSpPr>
        <p:spPr>
          <a:xfrm>
            <a:off x="3109532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73"/>
          <p:cNvSpPr/>
          <p:nvPr/>
        </p:nvSpPr>
        <p:spPr>
          <a:xfrm>
            <a:off x="3109532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174" descr="○ 그래프의 파랑 줄: 아래에서부터 3칸 색칠(○ 3개)"/>
          <p:cNvSpPr/>
          <p:nvPr/>
        </p:nvSpPr>
        <p:spPr>
          <a:xfrm>
            <a:off x="3109532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8-label175"/>
          <p:cNvSpPr txBox="1"/>
          <p:nvPr/>
        </p:nvSpPr>
        <p:spPr>
          <a:xfrm>
            <a:off x="2442972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24" name="S08-cell176"/>
          <p:cNvSpPr/>
          <p:nvPr/>
        </p:nvSpPr>
        <p:spPr>
          <a:xfrm>
            <a:off x="5003864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cell177"/>
          <p:cNvSpPr/>
          <p:nvPr/>
        </p:nvSpPr>
        <p:spPr>
          <a:xfrm>
            <a:off x="5003864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cell178"/>
          <p:cNvSpPr/>
          <p:nvPr/>
        </p:nvSpPr>
        <p:spPr>
          <a:xfrm>
            <a:off x="5003864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179"/>
          <p:cNvSpPr/>
          <p:nvPr/>
        </p:nvSpPr>
        <p:spPr>
          <a:xfrm>
            <a:off x="5003864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cell180"/>
          <p:cNvSpPr/>
          <p:nvPr/>
        </p:nvSpPr>
        <p:spPr>
          <a:xfrm>
            <a:off x="5003864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cell181"/>
          <p:cNvSpPr/>
          <p:nvPr/>
        </p:nvSpPr>
        <p:spPr>
          <a:xfrm>
            <a:off x="5003864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8-figure182" descr="○ 그래프의 노랑 줄: 아래에서부터 4칸 색칠(○ 4개)"/>
          <p:cNvSpPr/>
          <p:nvPr/>
        </p:nvSpPr>
        <p:spPr>
          <a:xfrm>
            <a:off x="5003864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8-label183"/>
          <p:cNvSpPr txBox="1"/>
          <p:nvPr/>
        </p:nvSpPr>
        <p:spPr>
          <a:xfrm>
            <a:off x="4337304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2" name="S08-chip18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33" name="S08-cell185"/>
          <p:cNvSpPr/>
          <p:nvPr/>
        </p:nvSpPr>
        <p:spPr>
          <a:xfrm>
            <a:off x="6943916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cell186"/>
          <p:cNvSpPr/>
          <p:nvPr/>
        </p:nvSpPr>
        <p:spPr>
          <a:xfrm>
            <a:off x="6943916" y="3395853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cell187"/>
          <p:cNvSpPr/>
          <p:nvPr/>
        </p:nvSpPr>
        <p:spPr>
          <a:xfrm>
            <a:off x="6943916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cell188"/>
          <p:cNvSpPr/>
          <p:nvPr/>
        </p:nvSpPr>
        <p:spPr>
          <a:xfrm>
            <a:off x="6943916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cell189"/>
          <p:cNvSpPr/>
          <p:nvPr/>
        </p:nvSpPr>
        <p:spPr>
          <a:xfrm>
            <a:off x="6943916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cell190"/>
          <p:cNvSpPr/>
          <p:nvPr/>
        </p:nvSpPr>
        <p:spPr>
          <a:xfrm>
            <a:off x="6943916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figure191" descr="○ 그래프의 빨강 줄: 아래에서부터 5칸 색칠(○ 5개)"/>
          <p:cNvSpPr/>
          <p:nvPr/>
        </p:nvSpPr>
        <p:spPr>
          <a:xfrm>
            <a:off x="6943916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8-label192"/>
          <p:cNvSpPr txBox="1"/>
          <p:nvPr/>
        </p:nvSpPr>
        <p:spPr>
          <a:xfrm>
            <a:off x="6277356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41" name="S08-cell193"/>
          <p:cNvSpPr/>
          <p:nvPr/>
        </p:nvSpPr>
        <p:spPr>
          <a:xfrm>
            <a:off x="8838248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8-cell194"/>
          <p:cNvSpPr/>
          <p:nvPr/>
        </p:nvSpPr>
        <p:spPr>
          <a:xfrm>
            <a:off x="8838248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8-cell195"/>
          <p:cNvSpPr/>
          <p:nvPr/>
        </p:nvSpPr>
        <p:spPr>
          <a:xfrm>
            <a:off x="8838248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8-cell196"/>
          <p:cNvSpPr/>
          <p:nvPr/>
        </p:nvSpPr>
        <p:spPr>
          <a:xfrm>
            <a:off x="8838248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8-cell197"/>
          <p:cNvSpPr/>
          <p:nvPr/>
        </p:nvSpPr>
        <p:spPr>
          <a:xfrm>
            <a:off x="8838248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8-cell198"/>
          <p:cNvSpPr/>
          <p:nvPr/>
        </p:nvSpPr>
        <p:spPr>
          <a:xfrm>
            <a:off x="8838248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8-figure199" descr="○ 그래프의 파랑 줄: 아래에서부터 4칸 색칠(○ 4개)"/>
          <p:cNvSpPr/>
          <p:nvPr/>
        </p:nvSpPr>
        <p:spPr>
          <a:xfrm>
            <a:off x="8838248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8" name="S08-label200"/>
          <p:cNvSpPr txBox="1"/>
          <p:nvPr/>
        </p:nvSpPr>
        <p:spPr>
          <a:xfrm>
            <a:off x="8171688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49" name="S08-cell201"/>
          <p:cNvSpPr/>
          <p:nvPr/>
        </p:nvSpPr>
        <p:spPr>
          <a:xfrm>
            <a:off x="10732580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8-cell202"/>
          <p:cNvSpPr/>
          <p:nvPr/>
        </p:nvSpPr>
        <p:spPr>
          <a:xfrm>
            <a:off x="10732580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8-cell203"/>
          <p:cNvSpPr/>
          <p:nvPr/>
        </p:nvSpPr>
        <p:spPr>
          <a:xfrm>
            <a:off x="10732580" y="3637026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8-cell204"/>
          <p:cNvSpPr/>
          <p:nvPr/>
        </p:nvSpPr>
        <p:spPr>
          <a:xfrm>
            <a:off x="10732580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8-cell205"/>
          <p:cNvSpPr/>
          <p:nvPr/>
        </p:nvSpPr>
        <p:spPr>
          <a:xfrm>
            <a:off x="10732580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8-cell206"/>
          <p:cNvSpPr/>
          <p:nvPr/>
        </p:nvSpPr>
        <p:spPr>
          <a:xfrm>
            <a:off x="10732580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8-figure207" descr="○ 그래프의 노랑 줄: 아래에서부터 3칸 색칠(○ 3개)"/>
          <p:cNvSpPr/>
          <p:nvPr/>
        </p:nvSpPr>
        <p:spPr>
          <a:xfrm>
            <a:off x="10732580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6" name="S08-label208"/>
          <p:cNvSpPr txBox="1"/>
          <p:nvPr/>
        </p:nvSpPr>
        <p:spPr>
          <a:xfrm>
            <a:off x="1006602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그려야 할까요?</a:t>
            </a:r>
            <a:endParaRPr lang="ko-KR" sz="4400" dirty="0"/>
          </a:p>
        </p:txBody>
      </p:sp>
      <p:sp>
        <p:nvSpPr>
          <p:cNvPr id="3" name="S09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표예요. 어느 쪽이 많고 적음을 잘 보여 줄까요?</a:t>
            </a:r>
            <a:endParaRPr lang="ko-KR" sz="3200" dirty="0"/>
          </a:p>
        </p:txBody>
      </p:sp>
      <p:sp>
        <p:nvSpPr>
          <p:cNvPr id="5" name="S09-chip211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위에서부터</a:t>
            </a:r>
            <a:endParaRPr lang="ko-KR" sz="2600" dirty="0"/>
          </a:p>
        </p:txBody>
      </p:sp>
      <p:sp>
        <p:nvSpPr>
          <p:cNvPr id="6" name="S09-cell212"/>
          <p:cNvSpPr/>
          <p:nvPr/>
        </p:nvSpPr>
        <p:spPr>
          <a:xfrm>
            <a:off x="1143762" y="21774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213"/>
          <p:cNvSpPr/>
          <p:nvPr/>
        </p:nvSpPr>
        <p:spPr>
          <a:xfrm>
            <a:off x="1143762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214"/>
          <p:cNvSpPr/>
          <p:nvPr/>
        </p:nvSpPr>
        <p:spPr>
          <a:xfrm>
            <a:off x="1143762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215"/>
          <p:cNvSpPr/>
          <p:nvPr/>
        </p:nvSpPr>
        <p:spPr>
          <a:xfrm>
            <a:off x="1143762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216"/>
          <p:cNvSpPr/>
          <p:nvPr/>
        </p:nvSpPr>
        <p:spPr>
          <a:xfrm>
            <a:off x="1143762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217"/>
          <p:cNvSpPr/>
          <p:nvPr/>
        </p:nvSpPr>
        <p:spPr>
          <a:xfrm>
            <a:off x="1143762" y="40976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figure218" descr="○ 그래프의 빨강 줄: 위에서부터 5칸 색칠(○ 5개)"/>
          <p:cNvSpPr/>
          <p:nvPr/>
        </p:nvSpPr>
        <p:spPr>
          <a:xfrm>
            <a:off x="1143762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9-label219"/>
          <p:cNvSpPr txBox="1"/>
          <p:nvPr/>
        </p:nvSpPr>
        <p:spPr>
          <a:xfrm>
            <a:off x="54864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14" name="S09-cell220"/>
          <p:cNvSpPr/>
          <p:nvPr/>
        </p:nvSpPr>
        <p:spPr>
          <a:xfrm>
            <a:off x="3038094" y="21774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221"/>
          <p:cNvSpPr/>
          <p:nvPr/>
        </p:nvSpPr>
        <p:spPr>
          <a:xfrm>
            <a:off x="3038094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222"/>
          <p:cNvSpPr/>
          <p:nvPr/>
        </p:nvSpPr>
        <p:spPr>
          <a:xfrm>
            <a:off x="3038094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223"/>
          <p:cNvSpPr/>
          <p:nvPr/>
        </p:nvSpPr>
        <p:spPr>
          <a:xfrm>
            <a:off x="3038094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224"/>
          <p:cNvSpPr/>
          <p:nvPr/>
        </p:nvSpPr>
        <p:spPr>
          <a:xfrm>
            <a:off x="3038094" y="371360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cell225"/>
          <p:cNvSpPr/>
          <p:nvPr/>
        </p:nvSpPr>
        <p:spPr>
          <a:xfrm>
            <a:off x="3038094" y="40976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figure226" descr="○ 그래프의 파랑 줄: 위에서부터 4칸 색칠(○ 4개)"/>
          <p:cNvSpPr/>
          <p:nvPr/>
        </p:nvSpPr>
        <p:spPr>
          <a:xfrm>
            <a:off x="3038094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9-label227"/>
          <p:cNvSpPr txBox="1"/>
          <p:nvPr/>
        </p:nvSpPr>
        <p:spPr>
          <a:xfrm>
            <a:off x="2442972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22" name="S09-cell228"/>
          <p:cNvSpPr/>
          <p:nvPr/>
        </p:nvSpPr>
        <p:spPr>
          <a:xfrm>
            <a:off x="4932426" y="21774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9-cell229"/>
          <p:cNvSpPr/>
          <p:nvPr/>
        </p:nvSpPr>
        <p:spPr>
          <a:xfrm>
            <a:off x="4932426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9-cell230"/>
          <p:cNvSpPr/>
          <p:nvPr/>
        </p:nvSpPr>
        <p:spPr>
          <a:xfrm>
            <a:off x="4932426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cell231"/>
          <p:cNvSpPr/>
          <p:nvPr/>
        </p:nvSpPr>
        <p:spPr>
          <a:xfrm>
            <a:off x="4932426" y="332955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9-cell232"/>
          <p:cNvSpPr/>
          <p:nvPr/>
        </p:nvSpPr>
        <p:spPr>
          <a:xfrm>
            <a:off x="4932426" y="371360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9-cell233"/>
          <p:cNvSpPr/>
          <p:nvPr/>
        </p:nvSpPr>
        <p:spPr>
          <a:xfrm>
            <a:off x="4932426" y="40976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9-figure234" descr="○ 그래프의 노랑 줄: 위에서부터 3칸 색칠(○ 3개)"/>
          <p:cNvSpPr/>
          <p:nvPr/>
        </p:nvSpPr>
        <p:spPr>
          <a:xfrm>
            <a:off x="4932426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9-label235"/>
          <p:cNvSpPr txBox="1"/>
          <p:nvPr/>
        </p:nvSpPr>
        <p:spPr>
          <a:xfrm>
            <a:off x="4337304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0" name="S09-chip236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아래에서부터</a:t>
            </a:r>
            <a:endParaRPr lang="ko-KR" sz="2600" dirty="0"/>
          </a:p>
        </p:txBody>
      </p:sp>
      <p:sp>
        <p:nvSpPr>
          <p:cNvPr id="31" name="S09-cell237"/>
          <p:cNvSpPr/>
          <p:nvPr/>
        </p:nvSpPr>
        <p:spPr>
          <a:xfrm>
            <a:off x="6872478" y="217741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cell238"/>
          <p:cNvSpPr/>
          <p:nvPr/>
        </p:nvSpPr>
        <p:spPr>
          <a:xfrm>
            <a:off x="6872478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9-cell239"/>
          <p:cNvSpPr/>
          <p:nvPr/>
        </p:nvSpPr>
        <p:spPr>
          <a:xfrm>
            <a:off x="6872478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240"/>
          <p:cNvSpPr/>
          <p:nvPr/>
        </p:nvSpPr>
        <p:spPr>
          <a:xfrm>
            <a:off x="6872478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241"/>
          <p:cNvSpPr/>
          <p:nvPr/>
        </p:nvSpPr>
        <p:spPr>
          <a:xfrm>
            <a:off x="6872478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242"/>
          <p:cNvSpPr/>
          <p:nvPr/>
        </p:nvSpPr>
        <p:spPr>
          <a:xfrm>
            <a:off x="6872478" y="40976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figure243" descr="○ 그래프의 빨강 줄: 아래에서부터 5칸 색칠(○ 5개)"/>
          <p:cNvSpPr/>
          <p:nvPr/>
        </p:nvSpPr>
        <p:spPr>
          <a:xfrm>
            <a:off x="6872478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9-label244"/>
          <p:cNvSpPr txBox="1"/>
          <p:nvPr/>
        </p:nvSpPr>
        <p:spPr>
          <a:xfrm>
            <a:off x="6277356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9" name="S09-cell245"/>
          <p:cNvSpPr/>
          <p:nvPr/>
        </p:nvSpPr>
        <p:spPr>
          <a:xfrm>
            <a:off x="8766810" y="217741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9-cell246"/>
          <p:cNvSpPr/>
          <p:nvPr/>
        </p:nvSpPr>
        <p:spPr>
          <a:xfrm>
            <a:off x="8766810" y="256146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9-cell247"/>
          <p:cNvSpPr/>
          <p:nvPr/>
        </p:nvSpPr>
        <p:spPr>
          <a:xfrm>
            <a:off x="8766810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9-cell248"/>
          <p:cNvSpPr/>
          <p:nvPr/>
        </p:nvSpPr>
        <p:spPr>
          <a:xfrm>
            <a:off x="8766810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9-cell249"/>
          <p:cNvSpPr/>
          <p:nvPr/>
        </p:nvSpPr>
        <p:spPr>
          <a:xfrm>
            <a:off x="8766810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9-cell250"/>
          <p:cNvSpPr/>
          <p:nvPr/>
        </p:nvSpPr>
        <p:spPr>
          <a:xfrm>
            <a:off x="8766810" y="40976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9-figure251" descr="○ 그래프의 파랑 줄: 아래에서부터 4칸 색칠(○ 4개)"/>
          <p:cNvSpPr/>
          <p:nvPr/>
        </p:nvSpPr>
        <p:spPr>
          <a:xfrm>
            <a:off x="8766810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09-label252"/>
          <p:cNvSpPr txBox="1"/>
          <p:nvPr/>
        </p:nvSpPr>
        <p:spPr>
          <a:xfrm>
            <a:off x="8171688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47" name="S09-cell253"/>
          <p:cNvSpPr/>
          <p:nvPr/>
        </p:nvSpPr>
        <p:spPr>
          <a:xfrm>
            <a:off x="10661142" y="217741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9-cell254"/>
          <p:cNvSpPr/>
          <p:nvPr/>
        </p:nvSpPr>
        <p:spPr>
          <a:xfrm>
            <a:off x="10661142" y="256146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9-cell255"/>
          <p:cNvSpPr/>
          <p:nvPr/>
        </p:nvSpPr>
        <p:spPr>
          <a:xfrm>
            <a:off x="10661142" y="294551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9-cell256"/>
          <p:cNvSpPr/>
          <p:nvPr/>
        </p:nvSpPr>
        <p:spPr>
          <a:xfrm>
            <a:off x="10661142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9-cell257"/>
          <p:cNvSpPr/>
          <p:nvPr/>
        </p:nvSpPr>
        <p:spPr>
          <a:xfrm>
            <a:off x="10661142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9-cell258"/>
          <p:cNvSpPr/>
          <p:nvPr/>
        </p:nvSpPr>
        <p:spPr>
          <a:xfrm>
            <a:off x="10661142" y="40976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9-figure259" descr="○ 그래프의 노랑 줄: 아래에서부터 3칸 색칠(○ 3개)"/>
          <p:cNvSpPr/>
          <p:nvPr/>
        </p:nvSpPr>
        <p:spPr>
          <a:xfrm>
            <a:off x="10661142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4" name="S09-label260"/>
          <p:cNvSpPr txBox="1"/>
          <p:nvPr/>
        </p:nvSpPr>
        <p:spPr>
          <a:xfrm>
            <a:off x="1006602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400" dirty="0"/>
          </a:p>
        </p:txBody>
      </p:sp>
      <p:sp>
        <p:nvSpPr>
          <p:cNvPr id="3" name="S10-text2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계절별 학생 수예요.</a:t>
            </a:r>
            <a:endParaRPr lang="ko-KR" sz="3200" dirty="0"/>
          </a:p>
        </p:txBody>
      </p:sp>
      <p:sp>
        <p:nvSpPr>
          <p:cNvPr id="4" name="S10-card262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63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계절은?</a:t>
            </a:r>
            <a:endParaRPr lang="ko-KR" sz="3200" dirty="0"/>
          </a:p>
        </p:txBody>
      </p:sp>
      <p:sp>
        <p:nvSpPr>
          <p:cNvPr id="6" name="S10-card264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65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여름은 겨울보다 몇 명 더?</a:t>
            </a:r>
            <a:endParaRPr lang="ko-KR" sz="3200" dirty="0"/>
          </a:p>
        </p:txBody>
      </p:sp>
      <p:sp>
        <p:nvSpPr>
          <p:cNvPr id="8" name="S10-cell266"/>
          <p:cNvSpPr/>
          <p:nvPr/>
        </p:nvSpPr>
        <p:spPr>
          <a:xfrm>
            <a:off x="1623060" y="21545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cell267"/>
          <p:cNvSpPr/>
          <p:nvPr/>
        </p:nvSpPr>
        <p:spPr>
          <a:xfrm>
            <a:off x="1623060" y="253860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cell268"/>
          <p:cNvSpPr/>
          <p:nvPr/>
        </p:nvSpPr>
        <p:spPr>
          <a:xfrm>
            <a:off x="1623060" y="292265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0-cell269"/>
          <p:cNvSpPr/>
          <p:nvPr/>
        </p:nvSpPr>
        <p:spPr>
          <a:xfrm>
            <a:off x="1623060" y="330669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cell270"/>
          <p:cNvSpPr/>
          <p:nvPr/>
        </p:nvSpPr>
        <p:spPr>
          <a:xfrm>
            <a:off x="1623060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0-cell271"/>
          <p:cNvSpPr/>
          <p:nvPr/>
        </p:nvSpPr>
        <p:spPr>
          <a:xfrm>
            <a:off x="1623060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0-figure272" descr="○ 그래프의 봄 줄: 아래에서부터 4칸 색칠(○ 4개)"/>
          <p:cNvSpPr/>
          <p:nvPr/>
        </p:nvSpPr>
        <p:spPr>
          <a:xfrm>
            <a:off x="1623060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0-label273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600" dirty="0"/>
          </a:p>
        </p:txBody>
      </p:sp>
      <p:sp>
        <p:nvSpPr>
          <p:cNvPr id="16" name="S10-cell274"/>
          <p:cNvSpPr/>
          <p:nvPr/>
        </p:nvSpPr>
        <p:spPr>
          <a:xfrm>
            <a:off x="4475988" y="21545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275"/>
          <p:cNvSpPr/>
          <p:nvPr/>
        </p:nvSpPr>
        <p:spPr>
          <a:xfrm>
            <a:off x="4475988" y="253860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276"/>
          <p:cNvSpPr/>
          <p:nvPr/>
        </p:nvSpPr>
        <p:spPr>
          <a:xfrm>
            <a:off x="4475988" y="292265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277"/>
          <p:cNvSpPr/>
          <p:nvPr/>
        </p:nvSpPr>
        <p:spPr>
          <a:xfrm>
            <a:off x="4475988" y="330669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278"/>
          <p:cNvSpPr/>
          <p:nvPr/>
        </p:nvSpPr>
        <p:spPr>
          <a:xfrm>
            <a:off x="4475988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279"/>
          <p:cNvSpPr/>
          <p:nvPr/>
        </p:nvSpPr>
        <p:spPr>
          <a:xfrm>
            <a:off x="4475988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figure280" descr="○ 그래프의 여름 줄: 아래에서부터 6칸 색칠(○ 6개)"/>
          <p:cNvSpPr/>
          <p:nvPr/>
        </p:nvSpPr>
        <p:spPr>
          <a:xfrm>
            <a:off x="4475988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0-label281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600" dirty="0"/>
          </a:p>
        </p:txBody>
      </p:sp>
      <p:sp>
        <p:nvSpPr>
          <p:cNvPr id="24" name="S10-cell282"/>
          <p:cNvSpPr/>
          <p:nvPr/>
        </p:nvSpPr>
        <p:spPr>
          <a:xfrm>
            <a:off x="7328916" y="21545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0-cell283"/>
          <p:cNvSpPr/>
          <p:nvPr/>
        </p:nvSpPr>
        <p:spPr>
          <a:xfrm>
            <a:off x="7328916" y="253860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284"/>
          <p:cNvSpPr/>
          <p:nvPr/>
        </p:nvSpPr>
        <p:spPr>
          <a:xfrm>
            <a:off x="7328916" y="292265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285"/>
          <p:cNvSpPr/>
          <p:nvPr/>
        </p:nvSpPr>
        <p:spPr>
          <a:xfrm>
            <a:off x="7328916" y="330669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cell286"/>
          <p:cNvSpPr/>
          <p:nvPr/>
        </p:nvSpPr>
        <p:spPr>
          <a:xfrm>
            <a:off x="7328916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0-cell287"/>
          <p:cNvSpPr/>
          <p:nvPr/>
        </p:nvSpPr>
        <p:spPr>
          <a:xfrm>
            <a:off x="7328916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0-figure288" descr="○ 그래프의 가을 줄: 아래에서부터 3칸 색칠(○ 3개)"/>
          <p:cNvSpPr/>
          <p:nvPr/>
        </p:nvSpPr>
        <p:spPr>
          <a:xfrm>
            <a:off x="7328916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0-label289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600" dirty="0"/>
          </a:p>
        </p:txBody>
      </p:sp>
      <p:sp>
        <p:nvSpPr>
          <p:cNvPr id="32" name="S10-cell290"/>
          <p:cNvSpPr/>
          <p:nvPr/>
        </p:nvSpPr>
        <p:spPr>
          <a:xfrm>
            <a:off x="10181844" y="21545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0-cell291"/>
          <p:cNvSpPr/>
          <p:nvPr/>
        </p:nvSpPr>
        <p:spPr>
          <a:xfrm>
            <a:off x="10181844" y="253860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0-cell292"/>
          <p:cNvSpPr/>
          <p:nvPr/>
        </p:nvSpPr>
        <p:spPr>
          <a:xfrm>
            <a:off x="10181844" y="292265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0-cell293"/>
          <p:cNvSpPr/>
          <p:nvPr/>
        </p:nvSpPr>
        <p:spPr>
          <a:xfrm>
            <a:off x="10181844" y="330669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0-cell294"/>
          <p:cNvSpPr/>
          <p:nvPr/>
        </p:nvSpPr>
        <p:spPr>
          <a:xfrm>
            <a:off x="10181844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0-cell295"/>
          <p:cNvSpPr/>
          <p:nvPr/>
        </p:nvSpPr>
        <p:spPr>
          <a:xfrm>
            <a:off x="10181844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0-figure296" descr="○ 그래프의 겨울 줄: 아래에서부터 2칸 색칠(○ 2개)"/>
          <p:cNvSpPr/>
          <p:nvPr/>
        </p:nvSpPr>
        <p:spPr>
          <a:xfrm>
            <a:off x="10181844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10-label297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2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간식을 세어 표를 채우고, 가장 많은 것을 말해요.</a:t>
            </a:r>
            <a:endParaRPr lang="ko-KR" sz="3200" dirty="0"/>
          </a:p>
        </p:txBody>
      </p:sp>
      <p:sp>
        <p:nvSpPr>
          <p:cNvPr id="4" name="S11-card2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3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그래프에는 ○를 몇 개씩 그릴까요?</a:t>
            </a:r>
            <a:endParaRPr lang="ko-KR" sz="3200" dirty="0"/>
          </a:p>
        </p:txBody>
      </p:sp>
      <p:sp>
        <p:nvSpPr>
          <p:cNvPr id="6" name="S11-word301"/>
          <p:cNvSpPr txBox="1"/>
          <p:nvPr/>
        </p:nvSpPr>
        <p:spPr>
          <a:xfrm>
            <a:off x="548640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7" name="S11-word302"/>
          <p:cNvSpPr txBox="1"/>
          <p:nvPr/>
        </p:nvSpPr>
        <p:spPr>
          <a:xfrm>
            <a:off x="1963674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8" name="S11-word303"/>
          <p:cNvSpPr txBox="1"/>
          <p:nvPr/>
        </p:nvSpPr>
        <p:spPr>
          <a:xfrm>
            <a:off x="3378708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9" name="S11-word304"/>
          <p:cNvSpPr txBox="1"/>
          <p:nvPr/>
        </p:nvSpPr>
        <p:spPr>
          <a:xfrm>
            <a:off x="4793742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</a:t>
            </a:r>
            <a:endParaRPr lang="ko-KR" sz="3600" dirty="0"/>
          </a:p>
        </p:txBody>
      </p:sp>
      <p:sp>
        <p:nvSpPr>
          <p:cNvPr id="10" name="S11-word305"/>
          <p:cNvSpPr txBox="1"/>
          <p:nvPr/>
        </p:nvSpPr>
        <p:spPr>
          <a:xfrm>
            <a:off x="548640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11" name="S11-word306"/>
          <p:cNvSpPr txBox="1"/>
          <p:nvPr/>
        </p:nvSpPr>
        <p:spPr>
          <a:xfrm>
            <a:off x="1963674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12" name="S11-word307"/>
          <p:cNvSpPr txBox="1"/>
          <p:nvPr/>
        </p:nvSpPr>
        <p:spPr>
          <a:xfrm>
            <a:off x="3378708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13" name="S11-word308"/>
          <p:cNvSpPr txBox="1"/>
          <p:nvPr/>
        </p:nvSpPr>
        <p:spPr>
          <a:xfrm>
            <a:off x="4793742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14" name="S11-word309"/>
          <p:cNvSpPr txBox="1"/>
          <p:nvPr/>
        </p:nvSpPr>
        <p:spPr>
          <a:xfrm>
            <a:off x="548640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</a:t>
            </a:r>
            <a:endParaRPr lang="ko-KR" sz="3600" dirty="0"/>
          </a:p>
        </p:txBody>
      </p:sp>
      <p:sp>
        <p:nvSpPr>
          <p:cNvPr id="15" name="S11-word310"/>
          <p:cNvSpPr txBox="1"/>
          <p:nvPr/>
        </p:nvSpPr>
        <p:spPr>
          <a:xfrm>
            <a:off x="1963674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16" name="S11-word311"/>
          <p:cNvSpPr txBox="1"/>
          <p:nvPr/>
        </p:nvSpPr>
        <p:spPr>
          <a:xfrm>
            <a:off x="3378708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graphicFrame>
        <p:nvGraphicFramePr>
          <p:cNvPr id="12" name="S11-table3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37840"/>
          <a:ext cx="5385816" cy="914400"/>
        </p:xfrm>
        <a:graphic>
          <a:graphicData uri="http://schemas.openxmlformats.org/drawingml/2006/table">
            <a:tbl>
              <a:tblPr/>
              <a:tblGrid>
                <a:gridCol w="1508028"/>
                <a:gridCol w="969447"/>
                <a:gridCol w="969447"/>
                <a:gridCol w="969447"/>
                <a:gridCol w="96944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31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1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칸은 자료 카드에 ✓ 표시를 하며 다시 세어 보게 하세요.</a:t>
            </a:r>
            <a:endParaRPr lang="ko-KR" sz="3200" dirty="0"/>
          </a:p>
        </p:txBody>
      </p:sp>
      <p:sp>
        <p:nvSpPr>
          <p:cNvPr id="5" name="S12-chip31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316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4, 2, 합계 11</a:t>
            </a:r>
            <a:endParaRPr lang="ko-KR" sz="2600" dirty="0"/>
          </a:p>
        </p:txBody>
      </p:sp>
      <p:sp>
        <p:nvSpPr>
          <p:cNvPr id="7" name="S12-text317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과자, 빵, 떡</a:t>
            </a:r>
            <a:endParaRPr lang="ko-KR" sz="2600" dirty="0"/>
          </a:p>
        </p:txBody>
      </p:sp>
      <p:sp>
        <p:nvSpPr>
          <p:cNvPr id="8" name="S12-text318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5, 4, 2개</a:t>
            </a:r>
            <a:endParaRPr lang="ko-KR" sz="3200" dirty="0"/>
          </a:p>
        </p:txBody>
      </p:sp>
      <p:sp>
        <p:nvSpPr>
          <p:cNvPr id="9" name="S12-text319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아래에서부터</a:t>
            </a:r>
            <a:endParaRPr lang="ko-KR" sz="2600" dirty="0"/>
          </a:p>
        </p:txBody>
      </p:sp>
      <p:sp>
        <p:nvSpPr>
          <p:cNvPr id="10" name="S12-text320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것</a:t>
            </a:r>
            <a:endParaRPr lang="ko-KR" sz="3200" dirty="0"/>
          </a:p>
        </p:txBody>
      </p:sp>
      <p:sp>
        <p:nvSpPr>
          <p:cNvPr id="11" name="S12-text321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2600" dirty="0"/>
          </a:p>
        </p:txBody>
      </p:sp>
      <p:sp>
        <p:nvSpPr>
          <p:cNvPr id="12" name="S12-chip32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32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10</a:t>
            </a:r>
            <a:endParaRPr lang="ko-KR" sz="3200" dirty="0"/>
          </a:p>
        </p:txBody>
      </p:sp>
      <p:sp>
        <p:nvSpPr>
          <p:cNvPr id="14" name="S12-text32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빠뜨림</a:t>
            </a:r>
            <a:endParaRPr lang="ko-KR" sz="2600" dirty="0"/>
          </a:p>
        </p:txBody>
      </p:sp>
      <p:sp>
        <p:nvSpPr>
          <p:cNvPr id="15" name="S12-text32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○를 띄어 그림</a:t>
            </a:r>
            <a:endParaRPr lang="ko-KR" sz="3200" dirty="0"/>
          </a:p>
        </p:txBody>
      </p:sp>
      <p:sp>
        <p:nvSpPr>
          <p:cNvPr id="16" name="S12-text32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비교가 어려움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표로</a:t>
            </a:r>
            <a:endParaRPr lang="ko-KR" sz="4400" dirty="0"/>
          </a:p>
        </p:txBody>
      </p:sp>
      <p:sp>
        <p:nvSpPr>
          <p:cNvPr id="3" name="S13-text3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운동별 학생 수를 표로 나타내요.</a:t>
            </a:r>
            <a:endParaRPr lang="ko-KR" sz="3200" dirty="0"/>
          </a:p>
        </p:txBody>
      </p:sp>
      <p:sp>
        <p:nvSpPr>
          <p:cNvPr id="4" name="S13-card328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29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 □명, 축구 □명, 야구 □명</a:t>
            </a:r>
            <a:endParaRPr lang="ko-KR" sz="3200" dirty="0"/>
          </a:p>
        </p:txBody>
      </p:sp>
      <p:sp>
        <p:nvSpPr>
          <p:cNvPr id="6" name="S13-card330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31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□명, 가장 적은 운동은?</a:t>
            </a:r>
            <a:endParaRPr lang="ko-KR" sz="3200" dirty="0"/>
          </a:p>
        </p:txBody>
      </p:sp>
      <p:sp>
        <p:nvSpPr>
          <p:cNvPr id="8" name="S13-cell332"/>
          <p:cNvSpPr/>
          <p:nvPr/>
        </p:nvSpPr>
        <p:spPr>
          <a:xfrm>
            <a:off x="2125980" y="2093087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333"/>
          <p:cNvSpPr/>
          <p:nvPr/>
        </p:nvSpPr>
        <p:spPr>
          <a:xfrm>
            <a:off x="2125980" y="2422271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334"/>
          <p:cNvSpPr/>
          <p:nvPr/>
        </p:nvSpPr>
        <p:spPr>
          <a:xfrm>
            <a:off x="2125980" y="2751455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335"/>
          <p:cNvSpPr/>
          <p:nvPr/>
        </p:nvSpPr>
        <p:spPr>
          <a:xfrm>
            <a:off x="2125980" y="3080639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336"/>
          <p:cNvSpPr/>
          <p:nvPr/>
        </p:nvSpPr>
        <p:spPr>
          <a:xfrm>
            <a:off x="2125980" y="3409823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337"/>
          <p:cNvSpPr/>
          <p:nvPr/>
        </p:nvSpPr>
        <p:spPr>
          <a:xfrm>
            <a:off x="2125980" y="3739007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figure338" descr="○ 그래프의 수영 줄: 아래에서부터 3칸 색칠(○ 3개)"/>
          <p:cNvSpPr/>
          <p:nvPr/>
        </p:nvSpPr>
        <p:spPr>
          <a:xfrm>
            <a:off x="2125980" y="2093087"/>
            <a:ext cx="329184" cy="197510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3-label339"/>
          <p:cNvSpPr txBox="1"/>
          <p:nvPr/>
        </p:nvSpPr>
        <p:spPr>
          <a:xfrm>
            <a:off x="548640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</a:t>
            </a:r>
            <a:endParaRPr lang="ko-KR" sz="2600" dirty="0"/>
          </a:p>
        </p:txBody>
      </p:sp>
      <p:sp>
        <p:nvSpPr>
          <p:cNvPr id="16" name="S13-cell340"/>
          <p:cNvSpPr/>
          <p:nvPr/>
        </p:nvSpPr>
        <p:spPr>
          <a:xfrm>
            <a:off x="5929884" y="2093087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341"/>
          <p:cNvSpPr/>
          <p:nvPr/>
        </p:nvSpPr>
        <p:spPr>
          <a:xfrm>
            <a:off x="5929884" y="2422271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342"/>
          <p:cNvSpPr/>
          <p:nvPr/>
        </p:nvSpPr>
        <p:spPr>
          <a:xfrm>
            <a:off x="5929884" y="2751455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cell343"/>
          <p:cNvSpPr/>
          <p:nvPr/>
        </p:nvSpPr>
        <p:spPr>
          <a:xfrm>
            <a:off x="5929884" y="3080639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cell344"/>
          <p:cNvSpPr/>
          <p:nvPr/>
        </p:nvSpPr>
        <p:spPr>
          <a:xfrm>
            <a:off x="5929884" y="3409823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cell345"/>
          <p:cNvSpPr/>
          <p:nvPr/>
        </p:nvSpPr>
        <p:spPr>
          <a:xfrm>
            <a:off x="5929884" y="3739007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figure346" descr="○ 그래프의 축구 줄: 아래에서부터 5칸 색칠(○ 5개)"/>
          <p:cNvSpPr/>
          <p:nvPr/>
        </p:nvSpPr>
        <p:spPr>
          <a:xfrm>
            <a:off x="5929884" y="2093087"/>
            <a:ext cx="329184" cy="197510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3-label347"/>
          <p:cNvSpPr txBox="1"/>
          <p:nvPr/>
        </p:nvSpPr>
        <p:spPr>
          <a:xfrm>
            <a:off x="4352544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600" dirty="0"/>
          </a:p>
        </p:txBody>
      </p:sp>
      <p:sp>
        <p:nvSpPr>
          <p:cNvPr id="24" name="S13-cell348"/>
          <p:cNvSpPr/>
          <p:nvPr/>
        </p:nvSpPr>
        <p:spPr>
          <a:xfrm>
            <a:off x="9733788" y="2093087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349"/>
          <p:cNvSpPr/>
          <p:nvPr/>
        </p:nvSpPr>
        <p:spPr>
          <a:xfrm>
            <a:off x="9733788" y="2422271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cell350"/>
          <p:cNvSpPr/>
          <p:nvPr/>
        </p:nvSpPr>
        <p:spPr>
          <a:xfrm>
            <a:off x="9733788" y="2751455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cell351"/>
          <p:cNvSpPr/>
          <p:nvPr/>
        </p:nvSpPr>
        <p:spPr>
          <a:xfrm>
            <a:off x="9733788" y="3080639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3-cell352"/>
          <p:cNvSpPr/>
          <p:nvPr/>
        </p:nvSpPr>
        <p:spPr>
          <a:xfrm>
            <a:off x="9733788" y="3409823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353"/>
          <p:cNvSpPr/>
          <p:nvPr/>
        </p:nvSpPr>
        <p:spPr>
          <a:xfrm>
            <a:off x="9733788" y="3739007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figure354" descr="○ 그래프의 야구 줄: 아래에서부터 2칸 색칠(○ 2개)"/>
          <p:cNvSpPr/>
          <p:nvPr/>
        </p:nvSpPr>
        <p:spPr>
          <a:xfrm>
            <a:off x="9733788" y="2093087"/>
            <a:ext cx="329184" cy="197510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3-label355"/>
          <p:cNvSpPr txBox="1"/>
          <p:nvPr/>
        </p:nvSpPr>
        <p:spPr>
          <a:xfrm>
            <a:off x="8156448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수와 합계를, 그래프는 많고 적음을 한눈에 보여 줘요.</a:t>
            </a:r>
            <a:endParaRPr lang="ko-KR" sz="3200" dirty="0"/>
          </a:p>
        </p:txBody>
      </p:sp>
      <p:sp>
        <p:nvSpPr>
          <p:cNvPr id="5" name="S14-chip35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아래에서부터 빈칸 없이 그리기</a:t>
            </a:r>
            <a:endParaRPr lang="ko-KR" sz="2600" dirty="0"/>
          </a:p>
        </p:txBody>
      </p:sp>
      <p:sp>
        <p:nvSpPr>
          <p:cNvPr id="6" name="S14-chip35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합계 확인 안 하기</a:t>
            </a:r>
            <a:endParaRPr lang="ko-KR" sz="2600" dirty="0"/>
          </a:p>
        </p:txBody>
      </p:sp>
      <p:sp>
        <p:nvSpPr>
          <p:cNvPr id="7" name="S14-text36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36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그래프의 ○는 어디서부터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그려요?</a:t>
            </a:r>
            <a:endParaRPr lang="ko-KR" sz="2600" dirty="0"/>
          </a:p>
        </p:txBody>
      </p:sp>
      <p:sp>
        <p:nvSpPr>
          <p:cNvPr id="9" name="S14-text36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표의 합계는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무엇과 같아요?</a:t>
            </a:r>
            <a:endParaRPr lang="ko-KR" sz="2600" dirty="0"/>
          </a:p>
        </p:txBody>
      </p:sp>
      <p:sp>
        <p:nvSpPr>
          <p:cNvPr id="10" name="S14-text36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가장 많은 것은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찾아요?</a:t>
            </a:r>
            <a:endParaRPr lang="ko-KR" sz="2600" dirty="0"/>
          </a:p>
        </p:txBody>
      </p:sp>
      <p:sp>
        <p:nvSpPr>
          <p:cNvPr id="11" name="S14-text36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무늬와 수의 규칙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종류별로 세요</a:t>
            </a:r>
            <a:endParaRPr lang="ko-KR" sz="4400" dirty="0"/>
          </a:p>
        </p:txBody>
      </p:sp>
      <p:sp>
        <p:nvSpPr>
          <p:cNvPr id="3" name="S15-text3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빨강만 골라서 세어 봐요.</a:t>
            </a:r>
            <a:endParaRPr lang="ko-KR" sz="3200" dirty="0"/>
          </a:p>
        </p:txBody>
      </p:sp>
      <p:sp>
        <p:nvSpPr>
          <p:cNvPr id="4" name="S15-card3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 3, 파랑 1, 노랑 1. 모두 5예요.</a:t>
            </a:r>
            <a:endParaRPr lang="ko-KR" sz="3200" dirty="0"/>
          </a:p>
        </p:txBody>
      </p:sp>
      <p:sp>
        <p:nvSpPr>
          <p:cNvPr id="6" name="S15-word368"/>
          <p:cNvSpPr txBox="1"/>
          <p:nvPr/>
        </p:nvSpPr>
        <p:spPr>
          <a:xfrm>
            <a:off x="548640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600" dirty="0"/>
          </a:p>
        </p:txBody>
      </p:sp>
      <p:sp>
        <p:nvSpPr>
          <p:cNvPr id="7" name="S15-word369"/>
          <p:cNvSpPr txBox="1"/>
          <p:nvPr/>
        </p:nvSpPr>
        <p:spPr>
          <a:xfrm>
            <a:off x="2821838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600" dirty="0"/>
          </a:p>
        </p:txBody>
      </p:sp>
      <p:sp>
        <p:nvSpPr>
          <p:cNvPr id="8" name="S15-word370"/>
          <p:cNvSpPr txBox="1"/>
          <p:nvPr/>
        </p:nvSpPr>
        <p:spPr>
          <a:xfrm>
            <a:off x="5095037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600" dirty="0"/>
          </a:p>
        </p:txBody>
      </p:sp>
      <p:sp>
        <p:nvSpPr>
          <p:cNvPr id="9" name="S15-word371"/>
          <p:cNvSpPr txBox="1"/>
          <p:nvPr/>
        </p:nvSpPr>
        <p:spPr>
          <a:xfrm>
            <a:off x="7368235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600" dirty="0"/>
          </a:p>
        </p:txBody>
      </p:sp>
      <p:sp>
        <p:nvSpPr>
          <p:cNvPr id="10" name="S15-word372"/>
          <p:cNvSpPr txBox="1"/>
          <p:nvPr/>
        </p:nvSpPr>
        <p:spPr>
          <a:xfrm>
            <a:off x="9641434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표와 그래프</dc:title>
  <dc:subject>KR22-G02-MAT-TABLEGRAPH-L01</dc:subject>
  <dc:creator>education-ppt</dc:creator>
  <cp:lastModifiedBy>education-ppt</cp:lastModifiedBy>
  <cp:revision>1</cp:revision>
  <dcterms:created xsi:type="dcterms:W3CDTF">2026-10-26T07:07:31Z</dcterms:created>
  <dcterms:modified xsi:type="dcterms:W3CDTF">2026-10-26T07:07:31Z</dcterms:modified>
</cp:coreProperties>
</file>