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646fc01-ff40-b610-175e-908760473dfa}">
          <p14:sldIdLst>
            <p14:sldId id="256"/>
            <p14:sldId id="257"/>
          </p14:sldIdLst>
        </p14:section>
        <p14:section name="개념" id="{846f67d8-1a78-f1a9-8834-769e750b6d57}">
          <p14:sldIdLst>
            <p14:sldId id="258"/>
            <p14:sldId id="259"/>
            <p14:sldId id="260"/>
            <p14:sldId id="261"/>
          </p14:sldIdLst>
        </p14:section>
        <p14:section name="연습" id="{ea9913b4-7e60-0f46-05f7-23888af45121}">
          <p14:sldIdLst>
            <p14:sldId id="262"/>
            <p14:sldId id="263"/>
            <p14:sldId id="264"/>
            <p14:sldId id="265"/>
          </p14:sldIdLst>
        </p14:section>
        <p14:section name="확인" id="{3c691de9-c3ce-b1e9-30ad-489e9d6f20f0}">
          <p14:sldIdLst>
            <p14:sldId id="266"/>
            <p14:sldId id="267"/>
            <p14:sldId id="268"/>
          </p14:sldIdLst>
        </p14:section>
        <p14:section name="정리" id="{60c3295a-83a9-c368-5fc2-d48a95ef6538}">
          <p14:sldIdLst>
            <p14:sldId id="269"/>
          </p14:sldIdLst>
        </p14:section>
        <p14:section name="보충" id="{f60a09a3-b0fc-4a67-da34-96b93ce6f95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조사한 것을 한눈에 보이게 정리하는 방법이 있다는 것을 느끼게 합니다.
시간: 약 2분
이렇게 말해 보세요
- “친구들이 좋아하는 과일을 물어봤어. 어떤 과일을 가장 좋아하는지 한눈에 알려면 어떻게 정리하면 좋을까?”
- “오른쪽 그림처럼 나타내면 무엇이 가장 많은지 금방 보여. 오늘은 표와 그래프를 배울 거야.”
예상 답
- “세어 봐요.” “제일 높은 거요.” 어떤 답이든 괜찮습니다.
막히면
- 답을 확인하지 않고 넘어갑니다. S03부터 차례로 합니다.
주의
- 오른쪽 그림은 S05에서 만들 ○ 그래프입니다. 지금은 이름을 붙이지 않고 모양만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확인(분류하여 세기)]
목적: 지난 시간처럼 기준(모양)에 따라 나누어 세고, 합계가 전체 수와 같은지 확인할 수 있는지 봅니다.
시간: 약 3분
이렇게 말해 보세요
- “①에서 동그라미, 세모, 네모는 각각 몇 개야?”
- “② 센 수를 모두 더하면 몇 개야? 카드 수와 같아?”
정답
- ① 동그라미 3개, 세모 2개, 네모 1개
- ② 3 + 2 + 1 = 6, 카드 6장과 같습니다.
막히면
- 세기가 흔들리면 S15(보충)를 먼저 합니다. 보충으로도 어려우면 앞 차시 ‘분류하기’(KR22-G02-MAT-SORT-L01)를 다시 합니다.
주의
- 오늘은 이렇게 센 결과를 표와 그래프로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조사한 자료 보기]
목적: 조사한 자료를 그대로 두면 종류별 수를 알기 어렵다는 것을 느끼고, 정리할 필요를 압니다.
시간: 약 2분
이렇게 말해 보세요
- “친구 한 명이 카드 한 장이야. 사과를 좋아하는 친구는 몇 명일까? 바로 알 수 있어?”
- “어떻게 하면 한눈에 알 수 있을까?”
예상 답
- “세어 봐야 알아요.” “과일끼리 모아요.”
막히면
- 지난 시간의 ‘분류하기’처럼 과일 종류별로 나누면 된다고 연결해 줍니다.
주의
- 집에서 가족에게 직접 물어 자료를 모아도 좋습니다. 그때는 S04의 수 대신 실제로 조사한 수를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자료를 표로 나타내기]
목적: 조사한 자료를 종류별로 세어 표로 나타내고, 합계가 조사한 사람 수와 같은지 확인합니다.
시간: 약 3분
이렇게 말해 보세요
- “S03의 카드에서 사과를 세어 보자. 센 카드에 ✓ 표시를 하면서 세면 빠뜨리지 않아.”
- “표로 나타내니까 어때? 사과를 좋아하는 친구는 몇 명이야? 모두 몇 명이야?”
예상 답
- “사과 5명, 귤 2명, 포도 4명, 딸기 3명, 모두 14명이에요.”
막히면
- S03으로 돌아가 과일 하나씩 정해 세게 합니다(종이에 ✓ 표시).
주의
- 표는 종류별 수와 전체 수(합계)를 정확하게 알기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○ 그래프 그리기 시범]
목적: 표의 수만큼 아래에서부터 빈칸 없이 ○를 그려 ○ 그래프를 만드는 방법을 보여 줍니다.
시간: 약 4분
이렇게 말해 보세요
- “표에서 사과는 5명이었지? 그래프의 사과 줄에 아래에서부터 ○를 5개 그려. 화면에서는 칸을 색칠해서 ○를 나타냈어.”
- “귤, 포도, 딸기도 표의 수만큼 채웠는지 세어 볼까?”
예상 답
- “사과 5칸, 귤 2칸, 포도 4칸, 딸기 3칸이에요.”
막히면
- 바둑돌을 과일 이름 위에 하나씩 쌓듯이 놓아 보게 합니다.
주의
- 화면의 색칠한 칸 1개가 ○ 1개입니다. 활동지에서는 칸에 ○를 직접 그립니다.
- 교과서 그래프에는 왼쪽에 1, 2, 3 … 눈금 숫자가 있습니다. 화면 그래프에는 숫자가 없으니 칸을 세어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표와 그래프로 알 수 있는 것]
목적: 그래프를 보면 가장 많은 것과 가장 적은 것을 한눈에 알 수 있고, 표는 수와 합계를 알기 쉽다는 것을 압니다.
시간: 약 3분
이렇게 말해 보세요
- “가장 많은 친구가 좋아하는 과일은 뭐야? 어떻게 바로 알았어?”
- “가장 적은 과일은? 포도는 귤보다 몇 명 더 많아?”
- “모두 몇 명인지 알고 싶으면 표와 그래프 중 무엇을 보면 좋을까?”
예상 답
- “사과요. 제일 높아요.” “귤이 가장 적어요.” “포도가 2명 더 많아요.” “표의 합계를 봐요.”
막히면
- 줄의 높이를 손가락으로 비교하게 합니다.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연습(자료를 표로)]
목적: 도움을 받으며 조사한 자료를 종류별로 세어 표를 완성합니다.
시간: 약 4분
이렇게 말해 보세요
- “빨강을 좋아하는 친구는 몇 명이야? 하나씩 짚으면서 세어 봐.”
- “파랑과 노랑도 세어서 표에 쓰고, 합계를 구해 보자. 조사한 친구 수와 같아?”
정답
- 빨강 5명, 파랑 4명, 노랑 3명, 합계 12명
막히면
- 종이에 빨강·파랑·노랑 칸을 그리고 카드를 읽을 때마다 ✓를 하나씩 그리게 합니다.
주의
- 합계가 12가 아니면 빠뜨리거나 두 번 센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연습(표에 맞는 그래프)]
목적: 도움을 받으며 표의 수와 그래프의 칸 수가 같은지 확인합니다.
시간: 약 3분
이렇게 말해 보세요
- “S07에서 만든 표와 같은 그래프는 가와 나 중 어느 것일까? 색마다 칸을 세어 봐.”
정답
- 나. 빨강 5칸, 파랑 4칸, 노랑 3칸입니다.
- 가는 파랑 3칸, 노랑 4칸으로 표와 다릅니다.
막히면
- 색 하나씩 정해 가와 나의 칸을 차례로 셉니다.
주의
- 표와 그래프는 같은 자료를 나타내므로 수가 똑같아야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비교(○를 위에서부터 그리기)]
목적: ○를 아래에서부터 빈칸 없이 그려야 높이로 많고 적음을 비교할 수 있다는 것을 압니다(M2).
시간: 약 2분
이렇게 말해 보세요
- “토끼와 곰은 같은 수를 그렸어. 어느 그래프가 많고 적음이 더 잘 보여?”
- “곰처럼 아래에서부터 그리면 무엇이 좋을까?”
예상 답
- “곰이요. 높은 게 많은 거라 잘 보여요.”
정답
- 곰의 그래프입니다. 아래에서부터 빈칸 없이 그려야 줄의 높이로 많고 적음을 바로 비교할 수 있습니다.
- 토끼의 그래프도 칸 수는 맞지만, 위에서부터 그려 높이 비교가 어렵습니다.
막히면
- 바둑돌을 위에서 매달 수는 없고 바닥부터 쌓는다고 비유해 줍니다.
주의
- ○ 사이를 띄어 그리는 것도 같은 실수입니다. 활동지에서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연습(그래프 읽기)]
목적: 도움을 받으며 그래프에서 가장 많은 것과 두 종류의 차이를 읽습니다.
시간: 약 4분
이렇게 말해 보세요
- “가장 많은 학생이 좋아하는 계절은 뭐야? 몇 명이야?”
- “여름과 겨울의 칸 수를 세어 봐. 몇 명 차이야?”
- “이 그래프를 표로 나타내면 합계는 몇 명일까?”
정답
- 가장 많은 계절: 여름(6명)
- 여름은 겨울보다 4명 더 많습니다(6 − 2 = 4).
- 합계: 4 + 6 + 3 + 2 = 15명
막히면
- 두 줄을 나란히 보며 높이가 같은 칸까지 손으로 가리고 남는 칸을 셉니다.
주의
- 가장 적은 계절(겨울)도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자료를 표로 나타내고(①), 그래프에 그릴 ○의 수를 말하며(②), 가장 많은 것을 찾는지(③) 확인합니다.
시간: 약 4분
이렇게 말해 보세요
- “이번에는 혼자 해 볼래? 종이에 표를 그려서 써도 돼. 다 하면 그래프에 ○를 몇 개씩 그릴지, 가장 많은 간식은 무엇인지 말해 줘.”
정답
- 표: 과자 5명, 빵 4명, 떡 2명, 합계 11명
- 그래프: 과자 ○ 5개, 빵 ○ 4개, 떡 ○ 2개(아래에서부터)
- 가장 많은 간식: 과자
막히면
- 바로 알려 주지 말고 “합계가 조사한 사람 수와 같아?”라고만 묻습니다.
- 도움을 받아 해결했다면 기록표에 ‘도움’으로 표시합니다.
주의
- 활동지 2번에서 실제로 ○ 그래프를 그려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표와 같은지 볼까? 합계가 11이 아니면 어디서 틀렸는지 찾아보자.”
정답
- 과자 5, 빵 4, 떡 2, 합계 11 / ○ 5, 4, 2개 / 가장 많은 것: 과자
막히면
- 합계가 다르면 ✓ 표시를 하며 다시 셉니다(M1).
- 그래프를 위에서부터 그리겠다고 하면 S09로 돌아갑니다(M2).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확인(그래프를 표로)]
목적: 처음 보는 그래프를 읽어 표로 나타내고, 가장 적은 것을 찾는지 확인합니다.
시간: 약 3분
이렇게 말해 보세요
- “그래프의 칸을 세어서 종이에 표를 그려 채워 볼래? 합계는 몇 명이야? 가장 적은 운동은?”
정답
- 수영 3명, 축구 5명, 야구 2명, 합계 10명
- 가장 적은 운동: 야구
막히면
- 줄 하나씩 손가락으로 칸을 짚으며 셉니다.
주의
- 그래프와 표는 같은 자료이므로 수가 같아야 한다는 것을 다시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“오늘 배운 것을 말해 볼래? 표는 무엇을 알기 좋고, 그래프는 무엇을 알기 좋아?”
예상 답
- “표는 모두 몇 명인지 알기 좋아요.” “그래프는 가장 많은 게 한눈에 보여요.”
정답
- ① 아래에서부터 빈칸 없이 ② 조사한 전체 수 ③ 그래프에서 가장 높은 줄(표에서 가장 큰 수)
막히면
- S05와 S06의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보충(종류별로 세기)]
목적: S02에서 종류별로 세기가 흔들리면, 한 종류씩 골라 세고 합계를 확인하는 것을 먼저 합니다.
시간: 약 5분
이렇게 말해 보세요
- “진하게 표시된 카드가 빨강이야. 빨강은 몇 장이야? 파랑과 노랑은?”
- “모두 더하면 카드 수와 같아?”
정답
- 빨강 3, 파랑 1, 노랑 1, 합계 5
막히면
- 색이 다른 단추를 접시에 종류별로 나누어 담고 셉니다.
주의
- 보충으로도 어려우면 앞 차시 ‘분류하기’(KR22-G02-MAT-SORT-L01)를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표와 그래프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과일을 가장 좋아할까?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87869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78699" y="1408176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7869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7869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7869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7869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○ 그래프의 사과 줄: 아래에서부터 5칸 색칠(○ 5개)"/>
          <p:cNvSpPr/>
          <p:nvPr/>
        </p:nvSpPr>
        <p:spPr>
          <a:xfrm>
            <a:off x="787869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4168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4168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4168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41689" y="21031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4168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4168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○ 그래프의 귤 줄: 아래에서부터 2칸 색칠(○ 2개)"/>
          <p:cNvSpPr/>
          <p:nvPr/>
        </p:nvSpPr>
        <p:spPr>
          <a:xfrm>
            <a:off x="894168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1000467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0467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00467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00467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00467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00467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○ 그래프의 포도 줄: 아래에서부터 4칸 색칠(○ 4개)"/>
          <p:cNvSpPr/>
          <p:nvPr/>
        </p:nvSpPr>
        <p:spPr>
          <a:xfrm>
            <a:off x="1000467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6766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6766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6766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6766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6766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6766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○ 그래프의 딸기 줄: 아래에서부터 3칸 색칠(○ 3개)"/>
          <p:cNvSpPr/>
          <p:nvPr/>
        </p:nvSpPr>
        <p:spPr>
          <a:xfrm>
            <a:off x="1106766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조사한 자료를 표로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그래프로 나타내고 알 수 있는 것을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봐요.</a:t>
            </a:r>
            <a:endParaRPr lang="ko-KR" sz="3200" dirty="0"/>
          </a:p>
        </p:txBody>
      </p:sp>
      <p:sp>
        <p:nvSpPr>
          <p:cNvPr id="4" name="S02-chip3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33"/>
          <p:cNvSpPr txBox="1"/>
          <p:nvPr/>
        </p:nvSpPr>
        <p:spPr>
          <a:xfrm>
            <a:off x="134416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6" name="S02-tile34"/>
          <p:cNvSpPr txBox="1"/>
          <p:nvPr/>
        </p:nvSpPr>
        <p:spPr>
          <a:xfrm>
            <a:off x="2292096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7" name="S02-tile35"/>
          <p:cNvSpPr txBox="1"/>
          <p:nvPr/>
        </p:nvSpPr>
        <p:spPr>
          <a:xfrm>
            <a:off x="3240024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8" name="S02-tile36"/>
          <p:cNvSpPr txBox="1"/>
          <p:nvPr/>
        </p:nvSpPr>
        <p:spPr>
          <a:xfrm>
            <a:off x="4187952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200" dirty="0"/>
          </a:p>
        </p:txBody>
      </p:sp>
      <p:sp>
        <p:nvSpPr>
          <p:cNvPr id="9" name="S02-tile37"/>
          <p:cNvSpPr txBox="1"/>
          <p:nvPr/>
        </p:nvSpPr>
        <p:spPr>
          <a:xfrm>
            <a:off x="5135880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10" name="S02-tile38"/>
          <p:cNvSpPr txBox="1"/>
          <p:nvPr/>
        </p:nvSpPr>
        <p:spPr>
          <a:xfrm>
            <a:off x="608380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11" name="S02-chip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2-text4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센 수를 더하면?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자료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14명이 좋아하는 과일이에요.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이대로는 어떤 과일이 몇 명인지 알기 어려워요.</a:t>
            </a:r>
            <a:endParaRPr lang="ko-KR" sz="3200" dirty="0"/>
          </a:p>
        </p:txBody>
      </p:sp>
      <p:sp>
        <p:nvSpPr>
          <p:cNvPr id="6" name="S03-word44"/>
          <p:cNvSpPr txBox="1"/>
          <p:nvPr/>
        </p:nvSpPr>
        <p:spPr>
          <a:xfrm>
            <a:off x="548640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03-word45"/>
          <p:cNvSpPr txBox="1"/>
          <p:nvPr/>
        </p:nvSpPr>
        <p:spPr>
          <a:xfrm>
            <a:off x="217235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8" name="S03-word46"/>
          <p:cNvSpPr txBox="1"/>
          <p:nvPr/>
        </p:nvSpPr>
        <p:spPr>
          <a:xfrm>
            <a:off x="379606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9" name="S03-word47"/>
          <p:cNvSpPr txBox="1"/>
          <p:nvPr/>
        </p:nvSpPr>
        <p:spPr>
          <a:xfrm>
            <a:off x="541977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0" name="S03-word48"/>
          <p:cNvSpPr txBox="1"/>
          <p:nvPr/>
        </p:nvSpPr>
        <p:spPr>
          <a:xfrm>
            <a:off x="704349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1" name="S03-word49"/>
          <p:cNvSpPr txBox="1"/>
          <p:nvPr/>
        </p:nvSpPr>
        <p:spPr>
          <a:xfrm>
            <a:off x="866720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2" name="S03-word50"/>
          <p:cNvSpPr txBox="1"/>
          <p:nvPr/>
        </p:nvSpPr>
        <p:spPr>
          <a:xfrm>
            <a:off x="1029091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3" name="S03-word51"/>
          <p:cNvSpPr txBox="1"/>
          <p:nvPr/>
        </p:nvSpPr>
        <p:spPr>
          <a:xfrm>
            <a:off x="548640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4" name="S03-word52"/>
          <p:cNvSpPr txBox="1"/>
          <p:nvPr/>
        </p:nvSpPr>
        <p:spPr>
          <a:xfrm>
            <a:off x="217235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5" name="S03-word53"/>
          <p:cNvSpPr txBox="1"/>
          <p:nvPr/>
        </p:nvSpPr>
        <p:spPr>
          <a:xfrm>
            <a:off x="379606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6" name="S03-word54"/>
          <p:cNvSpPr txBox="1"/>
          <p:nvPr/>
        </p:nvSpPr>
        <p:spPr>
          <a:xfrm>
            <a:off x="541977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7" name="S03-word55"/>
          <p:cNvSpPr txBox="1"/>
          <p:nvPr/>
        </p:nvSpPr>
        <p:spPr>
          <a:xfrm>
            <a:off x="704349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8" name="S03-word56"/>
          <p:cNvSpPr txBox="1"/>
          <p:nvPr/>
        </p:nvSpPr>
        <p:spPr>
          <a:xfrm>
            <a:off x="866720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9" name="S03-word57"/>
          <p:cNvSpPr txBox="1"/>
          <p:nvPr/>
        </p:nvSpPr>
        <p:spPr>
          <a:xfrm>
            <a:off x="1029091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400" dirty="0"/>
          </a:p>
        </p:txBody>
      </p:sp>
      <p:sp>
        <p:nvSpPr>
          <p:cNvPr id="3" name="S04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과일별로 세어 표에 써요.</a:t>
            </a:r>
            <a:endParaRPr lang="ko-KR" sz="3200" dirty="0"/>
          </a:p>
        </p:txBody>
      </p:sp>
      <p:sp>
        <p:nvSpPr>
          <p:cNvPr id="4" name="S04-card5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 + 3 = 14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합계는 조사한 친구 수 14명과 같아요.</a:t>
            </a:r>
            <a:endParaRPr lang="ko-KR" sz="3200" dirty="0"/>
          </a:p>
        </p:txBody>
      </p:sp>
      <p:graphicFrame>
        <p:nvGraphicFramePr>
          <p:cNvPr id="5" name="S04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820162"/>
          <a:ext cx="9875520" cy="914400"/>
        </p:xfrm>
        <a:graphic>
          <a:graphicData uri="http://schemas.openxmlformats.org/drawingml/2006/table">
            <a:tbl>
              <a:tblPr/>
              <a:tblGrid>
                <a:gridCol w="2765146"/>
                <a:gridCol w="1422075"/>
                <a:gridCol w="1422075"/>
                <a:gridCol w="1422075"/>
                <a:gridCol w="1422075"/>
                <a:gridCol w="1422075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그래프 그리기</a:t>
            </a:r>
            <a:endParaRPr lang="ko-KR" sz="4400" dirty="0"/>
          </a:p>
        </p:txBody>
      </p:sp>
      <p:sp>
        <p:nvSpPr>
          <p:cNvPr id="3" name="S05-text6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그래프로 나타내요.</a:t>
            </a:r>
            <a:endParaRPr lang="ko-KR" sz="3200" dirty="0"/>
          </a:p>
        </p:txBody>
      </p:sp>
      <p:sp>
        <p:nvSpPr>
          <p:cNvPr id="4" name="S05-cell63"/>
          <p:cNvSpPr/>
          <p:nvPr/>
        </p:nvSpPr>
        <p:spPr>
          <a:xfrm>
            <a:off x="710494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5-cell64"/>
          <p:cNvSpPr/>
          <p:nvPr/>
        </p:nvSpPr>
        <p:spPr>
          <a:xfrm>
            <a:off x="7104945" y="338442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65"/>
          <p:cNvSpPr/>
          <p:nvPr/>
        </p:nvSpPr>
        <p:spPr>
          <a:xfrm>
            <a:off x="710494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66"/>
          <p:cNvSpPr/>
          <p:nvPr/>
        </p:nvSpPr>
        <p:spPr>
          <a:xfrm>
            <a:off x="710494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67"/>
          <p:cNvSpPr/>
          <p:nvPr/>
        </p:nvSpPr>
        <p:spPr>
          <a:xfrm>
            <a:off x="710494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68"/>
          <p:cNvSpPr/>
          <p:nvPr/>
        </p:nvSpPr>
        <p:spPr>
          <a:xfrm>
            <a:off x="710494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69" descr="○ 그래프의 사과 줄: 아래에서부터 5칸 색칠(○ 5개)"/>
          <p:cNvSpPr/>
          <p:nvPr/>
        </p:nvSpPr>
        <p:spPr>
          <a:xfrm>
            <a:off x="710494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label70"/>
          <p:cNvSpPr txBox="1"/>
          <p:nvPr/>
        </p:nvSpPr>
        <p:spPr>
          <a:xfrm>
            <a:off x="681365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2" name="S05-cell71"/>
          <p:cNvSpPr/>
          <p:nvPr/>
        </p:nvSpPr>
        <p:spPr>
          <a:xfrm>
            <a:off x="839162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72"/>
          <p:cNvSpPr/>
          <p:nvPr/>
        </p:nvSpPr>
        <p:spPr>
          <a:xfrm>
            <a:off x="839162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73"/>
          <p:cNvSpPr/>
          <p:nvPr/>
        </p:nvSpPr>
        <p:spPr>
          <a:xfrm>
            <a:off x="839162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74"/>
          <p:cNvSpPr/>
          <p:nvPr/>
        </p:nvSpPr>
        <p:spPr>
          <a:xfrm>
            <a:off x="8391620" y="415251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5"/>
          <p:cNvSpPr/>
          <p:nvPr/>
        </p:nvSpPr>
        <p:spPr>
          <a:xfrm>
            <a:off x="839162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76"/>
          <p:cNvSpPr/>
          <p:nvPr/>
        </p:nvSpPr>
        <p:spPr>
          <a:xfrm>
            <a:off x="839162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77" descr="○ 그래프의 귤 줄: 아래에서부터 2칸 색칠(○ 2개)"/>
          <p:cNvSpPr/>
          <p:nvPr/>
        </p:nvSpPr>
        <p:spPr>
          <a:xfrm>
            <a:off x="839162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78"/>
          <p:cNvSpPr txBox="1"/>
          <p:nvPr/>
        </p:nvSpPr>
        <p:spPr>
          <a:xfrm>
            <a:off x="810032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0" name="S05-cell79"/>
          <p:cNvSpPr/>
          <p:nvPr/>
        </p:nvSpPr>
        <p:spPr>
          <a:xfrm>
            <a:off x="967829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80"/>
          <p:cNvSpPr/>
          <p:nvPr/>
        </p:nvSpPr>
        <p:spPr>
          <a:xfrm>
            <a:off x="9678295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81"/>
          <p:cNvSpPr/>
          <p:nvPr/>
        </p:nvSpPr>
        <p:spPr>
          <a:xfrm>
            <a:off x="967829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82"/>
          <p:cNvSpPr/>
          <p:nvPr/>
        </p:nvSpPr>
        <p:spPr>
          <a:xfrm>
            <a:off x="967829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83"/>
          <p:cNvSpPr/>
          <p:nvPr/>
        </p:nvSpPr>
        <p:spPr>
          <a:xfrm>
            <a:off x="967829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84"/>
          <p:cNvSpPr/>
          <p:nvPr/>
        </p:nvSpPr>
        <p:spPr>
          <a:xfrm>
            <a:off x="967829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85" descr="○ 그래프의 포도 줄: 아래에서부터 4칸 색칠(○ 4개)"/>
          <p:cNvSpPr/>
          <p:nvPr/>
        </p:nvSpPr>
        <p:spPr>
          <a:xfrm>
            <a:off x="967829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86"/>
          <p:cNvSpPr txBox="1"/>
          <p:nvPr/>
        </p:nvSpPr>
        <p:spPr>
          <a:xfrm>
            <a:off x="938700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28" name="S05-cell87"/>
          <p:cNvSpPr/>
          <p:nvPr/>
        </p:nvSpPr>
        <p:spPr>
          <a:xfrm>
            <a:off x="1096497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88"/>
          <p:cNvSpPr/>
          <p:nvPr/>
        </p:nvSpPr>
        <p:spPr>
          <a:xfrm>
            <a:off x="1096497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89"/>
          <p:cNvSpPr/>
          <p:nvPr/>
        </p:nvSpPr>
        <p:spPr>
          <a:xfrm>
            <a:off x="1096497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90"/>
          <p:cNvSpPr/>
          <p:nvPr/>
        </p:nvSpPr>
        <p:spPr>
          <a:xfrm>
            <a:off x="10964970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91"/>
          <p:cNvSpPr/>
          <p:nvPr/>
        </p:nvSpPr>
        <p:spPr>
          <a:xfrm>
            <a:off x="1096497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92"/>
          <p:cNvSpPr/>
          <p:nvPr/>
        </p:nvSpPr>
        <p:spPr>
          <a:xfrm>
            <a:off x="1096497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figure93" descr="○ 그래프의 딸기 줄: 아래에서부터 3칸 색칠(○ 3개)"/>
          <p:cNvSpPr/>
          <p:nvPr/>
        </p:nvSpPr>
        <p:spPr>
          <a:xfrm>
            <a:off x="1096497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5-label94"/>
          <p:cNvSpPr txBox="1"/>
          <p:nvPr/>
        </p:nvSpPr>
        <p:spPr>
          <a:xfrm>
            <a:off x="1067367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36" name="S05-stepno9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5-text96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 과일 이름을 써요.</a:t>
            </a:r>
            <a:endParaRPr lang="ko-KR" sz="3200" dirty="0"/>
          </a:p>
        </p:txBody>
      </p:sp>
      <p:sp>
        <p:nvSpPr>
          <p:cNvPr id="38" name="S05-stepno9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5-text98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위로 ○를 그려요.</a:t>
            </a:r>
            <a:endParaRPr lang="ko-KR" sz="3200" dirty="0"/>
          </a:p>
        </p:txBody>
      </p:sp>
      <p:sp>
        <p:nvSpPr>
          <p:cNvPr id="40" name="S05-stepno9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5-text100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없이 수만큼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알 수 있어요</a:t>
            </a:r>
            <a:endParaRPr lang="ko-KR" sz="4400" dirty="0"/>
          </a:p>
        </p:txBody>
      </p:sp>
      <p:sp>
        <p:nvSpPr>
          <p:cNvPr id="3" name="S06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가장 높은 줄이에요.</a:t>
            </a:r>
            <a:endParaRPr lang="ko-KR" sz="3200" dirty="0"/>
          </a:p>
        </p:txBody>
      </p:sp>
      <p:sp>
        <p:nvSpPr>
          <p:cNvPr id="5" name="S06-card10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0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것이 한눈에 보여요.</a:t>
            </a:r>
            <a:endParaRPr lang="ko-KR" sz="3200" dirty="0"/>
          </a:p>
        </p:txBody>
      </p:sp>
      <p:sp>
        <p:nvSpPr>
          <p:cNvPr id="7" name="S06-card10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0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전체 수를 알기 쉬워요.</a:t>
            </a:r>
            <a:endParaRPr lang="ko-KR" sz="3200" dirty="0"/>
          </a:p>
        </p:txBody>
      </p:sp>
      <p:sp>
        <p:nvSpPr>
          <p:cNvPr id="9" name="S06-cell107"/>
          <p:cNvSpPr/>
          <p:nvPr/>
        </p:nvSpPr>
        <p:spPr>
          <a:xfrm>
            <a:off x="1671214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8"/>
          <p:cNvSpPr/>
          <p:nvPr/>
        </p:nvSpPr>
        <p:spPr>
          <a:xfrm>
            <a:off x="1671214" y="1613620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9"/>
          <p:cNvSpPr/>
          <p:nvPr/>
        </p:nvSpPr>
        <p:spPr>
          <a:xfrm>
            <a:off x="1671214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10"/>
          <p:cNvSpPr/>
          <p:nvPr/>
        </p:nvSpPr>
        <p:spPr>
          <a:xfrm>
            <a:off x="1671214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11"/>
          <p:cNvSpPr/>
          <p:nvPr/>
        </p:nvSpPr>
        <p:spPr>
          <a:xfrm>
            <a:off x="1671214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12"/>
          <p:cNvSpPr/>
          <p:nvPr/>
        </p:nvSpPr>
        <p:spPr>
          <a:xfrm>
            <a:off x="1671214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113" descr="○ 그래프의 사과 줄: 아래에서부터 5칸 색칠(○ 5개)"/>
          <p:cNvSpPr/>
          <p:nvPr/>
        </p:nvSpPr>
        <p:spPr>
          <a:xfrm>
            <a:off x="1671214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label114"/>
          <p:cNvSpPr txBox="1"/>
          <p:nvPr/>
        </p:nvSpPr>
        <p:spPr>
          <a:xfrm>
            <a:off x="548640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7" name="S06-cell115"/>
          <p:cNvSpPr/>
          <p:nvPr/>
        </p:nvSpPr>
        <p:spPr>
          <a:xfrm>
            <a:off x="4524142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6"/>
          <p:cNvSpPr/>
          <p:nvPr/>
        </p:nvSpPr>
        <p:spPr>
          <a:xfrm>
            <a:off x="4524142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7"/>
          <p:cNvSpPr/>
          <p:nvPr/>
        </p:nvSpPr>
        <p:spPr>
          <a:xfrm>
            <a:off x="4524142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8"/>
          <p:cNvSpPr/>
          <p:nvPr/>
        </p:nvSpPr>
        <p:spPr>
          <a:xfrm>
            <a:off x="4524142" y="218909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9"/>
          <p:cNvSpPr/>
          <p:nvPr/>
        </p:nvSpPr>
        <p:spPr>
          <a:xfrm>
            <a:off x="4524142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20"/>
          <p:cNvSpPr/>
          <p:nvPr/>
        </p:nvSpPr>
        <p:spPr>
          <a:xfrm>
            <a:off x="4524142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21" descr="○ 그래프의 귤 줄: 아래에서부터 2칸 색칠(○ 2개)"/>
          <p:cNvSpPr/>
          <p:nvPr/>
        </p:nvSpPr>
        <p:spPr>
          <a:xfrm>
            <a:off x="4524142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label122"/>
          <p:cNvSpPr txBox="1"/>
          <p:nvPr/>
        </p:nvSpPr>
        <p:spPr>
          <a:xfrm>
            <a:off x="3401568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5" name="S06-cell123"/>
          <p:cNvSpPr/>
          <p:nvPr/>
        </p:nvSpPr>
        <p:spPr>
          <a:xfrm>
            <a:off x="7377070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24"/>
          <p:cNvSpPr/>
          <p:nvPr/>
        </p:nvSpPr>
        <p:spPr>
          <a:xfrm>
            <a:off x="7377070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25"/>
          <p:cNvSpPr/>
          <p:nvPr/>
        </p:nvSpPr>
        <p:spPr>
          <a:xfrm>
            <a:off x="7377070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26"/>
          <p:cNvSpPr/>
          <p:nvPr/>
        </p:nvSpPr>
        <p:spPr>
          <a:xfrm>
            <a:off x="7377070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27"/>
          <p:cNvSpPr/>
          <p:nvPr/>
        </p:nvSpPr>
        <p:spPr>
          <a:xfrm>
            <a:off x="7377070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28"/>
          <p:cNvSpPr/>
          <p:nvPr/>
        </p:nvSpPr>
        <p:spPr>
          <a:xfrm>
            <a:off x="7377070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29" descr="○ 그래프의 포도 줄: 아래에서부터 4칸 색칠(○ 4개)"/>
          <p:cNvSpPr/>
          <p:nvPr/>
        </p:nvSpPr>
        <p:spPr>
          <a:xfrm>
            <a:off x="7377070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label130"/>
          <p:cNvSpPr txBox="1"/>
          <p:nvPr/>
        </p:nvSpPr>
        <p:spPr>
          <a:xfrm>
            <a:off x="6254496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33" name="S06-cell131"/>
          <p:cNvSpPr/>
          <p:nvPr/>
        </p:nvSpPr>
        <p:spPr>
          <a:xfrm>
            <a:off x="10229998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32"/>
          <p:cNvSpPr/>
          <p:nvPr/>
        </p:nvSpPr>
        <p:spPr>
          <a:xfrm>
            <a:off x="10229998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33"/>
          <p:cNvSpPr/>
          <p:nvPr/>
        </p:nvSpPr>
        <p:spPr>
          <a:xfrm>
            <a:off x="10229998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134"/>
          <p:cNvSpPr/>
          <p:nvPr/>
        </p:nvSpPr>
        <p:spPr>
          <a:xfrm>
            <a:off x="10229998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135"/>
          <p:cNvSpPr/>
          <p:nvPr/>
        </p:nvSpPr>
        <p:spPr>
          <a:xfrm>
            <a:off x="10229998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136"/>
          <p:cNvSpPr/>
          <p:nvPr/>
        </p:nvSpPr>
        <p:spPr>
          <a:xfrm>
            <a:off x="10229998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137" descr="○ 그래프의 딸기 줄: 아래에서부터 3칸 색칠(○ 3개)"/>
          <p:cNvSpPr/>
          <p:nvPr/>
        </p:nvSpPr>
        <p:spPr>
          <a:xfrm>
            <a:off x="10229998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label138"/>
          <p:cNvSpPr txBox="1"/>
          <p:nvPr/>
        </p:nvSpPr>
        <p:spPr>
          <a:xfrm>
            <a:off x="9107424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채워요</a:t>
            </a:r>
            <a:endParaRPr lang="ko-KR" sz="4400" dirty="0"/>
          </a:p>
        </p:txBody>
      </p:sp>
      <p:sp>
        <p:nvSpPr>
          <p:cNvPr id="3" name="S07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12명이 좋아하는 색이에요.</a:t>
            </a:r>
            <a:endParaRPr lang="ko-KR" sz="3200" dirty="0"/>
          </a:p>
        </p:txBody>
      </p:sp>
      <p:sp>
        <p:nvSpPr>
          <p:cNvPr id="4" name="S07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색별로 세어 표를 채워요.</a:t>
            </a:r>
            <a:endParaRPr lang="ko-KR" sz="3200" dirty="0"/>
          </a:p>
        </p:txBody>
      </p:sp>
      <p:sp>
        <p:nvSpPr>
          <p:cNvPr id="6" name="S07-word142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7" name="S07-word143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8" name="S07-word144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9" name="S07-word145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0" name="S07-word146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1" name="S07-word147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2" name="S07-word148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3" name="S07-word149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4" name="S07-word150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5" name="S07-word151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6" name="S07-word152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7" name="S07-word153"/>
          <p:cNvSpPr txBox="1"/>
          <p:nvPr/>
        </p:nvSpPr>
        <p:spPr>
          <a:xfrm>
            <a:off x="4793742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graphicFrame>
        <p:nvGraphicFramePr>
          <p:cNvPr id="8" name="S07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400" dirty="0"/>
          </a:p>
        </p:txBody>
      </p:sp>
      <p:sp>
        <p:nvSpPr>
          <p:cNvPr id="3" name="S08-card1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표: 빨강 5명, 파랑 4명, 노랑 3명</a:t>
            </a:r>
            <a:endParaRPr lang="ko-KR" sz="3200" dirty="0"/>
          </a:p>
        </p:txBody>
      </p:sp>
      <p:sp>
        <p:nvSpPr>
          <p:cNvPr id="5" name="S08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것은 가와 나 중 어느 것일까요?</a:t>
            </a:r>
            <a:endParaRPr lang="ko-KR" sz="3200" dirty="0"/>
          </a:p>
        </p:txBody>
      </p:sp>
      <p:sp>
        <p:nvSpPr>
          <p:cNvPr id="7" name="S08-chip1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cell160"/>
          <p:cNvSpPr/>
          <p:nvPr/>
        </p:nvSpPr>
        <p:spPr>
          <a:xfrm>
            <a:off x="121520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61"/>
          <p:cNvSpPr/>
          <p:nvPr/>
        </p:nvSpPr>
        <p:spPr>
          <a:xfrm>
            <a:off x="1215200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62"/>
          <p:cNvSpPr/>
          <p:nvPr/>
        </p:nvSpPr>
        <p:spPr>
          <a:xfrm>
            <a:off x="1215200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63"/>
          <p:cNvSpPr/>
          <p:nvPr/>
        </p:nvSpPr>
        <p:spPr>
          <a:xfrm>
            <a:off x="121520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64"/>
          <p:cNvSpPr/>
          <p:nvPr/>
        </p:nvSpPr>
        <p:spPr>
          <a:xfrm>
            <a:off x="121520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65"/>
          <p:cNvSpPr/>
          <p:nvPr/>
        </p:nvSpPr>
        <p:spPr>
          <a:xfrm>
            <a:off x="121520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66" descr="○ 그래프의 빨강 줄: 아래에서부터 5칸 색칠(○ 5개)"/>
          <p:cNvSpPr/>
          <p:nvPr/>
        </p:nvSpPr>
        <p:spPr>
          <a:xfrm>
            <a:off x="121520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label167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6" name="S08-cell168"/>
          <p:cNvSpPr/>
          <p:nvPr/>
        </p:nvSpPr>
        <p:spPr>
          <a:xfrm>
            <a:off x="3109532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69"/>
          <p:cNvSpPr/>
          <p:nvPr/>
        </p:nvSpPr>
        <p:spPr>
          <a:xfrm>
            <a:off x="3109532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70"/>
          <p:cNvSpPr/>
          <p:nvPr/>
        </p:nvSpPr>
        <p:spPr>
          <a:xfrm>
            <a:off x="3109532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71"/>
          <p:cNvSpPr/>
          <p:nvPr/>
        </p:nvSpPr>
        <p:spPr>
          <a:xfrm>
            <a:off x="3109532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72"/>
          <p:cNvSpPr/>
          <p:nvPr/>
        </p:nvSpPr>
        <p:spPr>
          <a:xfrm>
            <a:off x="3109532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73"/>
          <p:cNvSpPr/>
          <p:nvPr/>
        </p:nvSpPr>
        <p:spPr>
          <a:xfrm>
            <a:off x="3109532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74" descr="○ 그래프의 파랑 줄: 아래에서부터 3칸 색칠(○ 3개)"/>
          <p:cNvSpPr/>
          <p:nvPr/>
        </p:nvSpPr>
        <p:spPr>
          <a:xfrm>
            <a:off x="3109532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175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4" name="S08-cell176"/>
          <p:cNvSpPr/>
          <p:nvPr/>
        </p:nvSpPr>
        <p:spPr>
          <a:xfrm>
            <a:off x="5003864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77"/>
          <p:cNvSpPr/>
          <p:nvPr/>
        </p:nvSpPr>
        <p:spPr>
          <a:xfrm>
            <a:off x="5003864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78"/>
          <p:cNvSpPr/>
          <p:nvPr/>
        </p:nvSpPr>
        <p:spPr>
          <a:xfrm>
            <a:off x="5003864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79"/>
          <p:cNvSpPr/>
          <p:nvPr/>
        </p:nvSpPr>
        <p:spPr>
          <a:xfrm>
            <a:off x="5003864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80"/>
          <p:cNvSpPr/>
          <p:nvPr/>
        </p:nvSpPr>
        <p:spPr>
          <a:xfrm>
            <a:off x="5003864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cell181"/>
          <p:cNvSpPr/>
          <p:nvPr/>
        </p:nvSpPr>
        <p:spPr>
          <a:xfrm>
            <a:off x="5003864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figure182" descr="○ 그래프의 노랑 줄: 아래에서부터 4칸 색칠(○ 4개)"/>
          <p:cNvSpPr/>
          <p:nvPr/>
        </p:nvSpPr>
        <p:spPr>
          <a:xfrm>
            <a:off x="5003864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8-label183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2" name="S08-chip1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3" name="S08-cell185"/>
          <p:cNvSpPr/>
          <p:nvPr/>
        </p:nvSpPr>
        <p:spPr>
          <a:xfrm>
            <a:off x="6943916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186"/>
          <p:cNvSpPr/>
          <p:nvPr/>
        </p:nvSpPr>
        <p:spPr>
          <a:xfrm>
            <a:off x="6943916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187"/>
          <p:cNvSpPr/>
          <p:nvPr/>
        </p:nvSpPr>
        <p:spPr>
          <a:xfrm>
            <a:off x="6943916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188"/>
          <p:cNvSpPr/>
          <p:nvPr/>
        </p:nvSpPr>
        <p:spPr>
          <a:xfrm>
            <a:off x="6943916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189"/>
          <p:cNvSpPr/>
          <p:nvPr/>
        </p:nvSpPr>
        <p:spPr>
          <a:xfrm>
            <a:off x="6943916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190"/>
          <p:cNvSpPr/>
          <p:nvPr/>
        </p:nvSpPr>
        <p:spPr>
          <a:xfrm>
            <a:off x="6943916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figure191" descr="○ 그래프의 빨강 줄: 아래에서부터 5칸 색칠(○ 5개)"/>
          <p:cNvSpPr/>
          <p:nvPr/>
        </p:nvSpPr>
        <p:spPr>
          <a:xfrm>
            <a:off x="6943916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8-label192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41" name="S08-cell193"/>
          <p:cNvSpPr/>
          <p:nvPr/>
        </p:nvSpPr>
        <p:spPr>
          <a:xfrm>
            <a:off x="8838248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194"/>
          <p:cNvSpPr/>
          <p:nvPr/>
        </p:nvSpPr>
        <p:spPr>
          <a:xfrm>
            <a:off x="8838248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195"/>
          <p:cNvSpPr/>
          <p:nvPr/>
        </p:nvSpPr>
        <p:spPr>
          <a:xfrm>
            <a:off x="8838248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196"/>
          <p:cNvSpPr/>
          <p:nvPr/>
        </p:nvSpPr>
        <p:spPr>
          <a:xfrm>
            <a:off x="8838248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197"/>
          <p:cNvSpPr/>
          <p:nvPr/>
        </p:nvSpPr>
        <p:spPr>
          <a:xfrm>
            <a:off x="8838248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198"/>
          <p:cNvSpPr/>
          <p:nvPr/>
        </p:nvSpPr>
        <p:spPr>
          <a:xfrm>
            <a:off x="8838248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199" descr="○ 그래프의 파랑 줄: 아래에서부터 4칸 색칠(○ 4개)"/>
          <p:cNvSpPr/>
          <p:nvPr/>
        </p:nvSpPr>
        <p:spPr>
          <a:xfrm>
            <a:off x="8838248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label200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9" name="S08-cell201"/>
          <p:cNvSpPr/>
          <p:nvPr/>
        </p:nvSpPr>
        <p:spPr>
          <a:xfrm>
            <a:off x="1073258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8-cell202"/>
          <p:cNvSpPr/>
          <p:nvPr/>
        </p:nvSpPr>
        <p:spPr>
          <a:xfrm>
            <a:off x="10732580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8-cell203"/>
          <p:cNvSpPr/>
          <p:nvPr/>
        </p:nvSpPr>
        <p:spPr>
          <a:xfrm>
            <a:off x="10732580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8-cell204"/>
          <p:cNvSpPr/>
          <p:nvPr/>
        </p:nvSpPr>
        <p:spPr>
          <a:xfrm>
            <a:off x="1073258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8-cell205"/>
          <p:cNvSpPr/>
          <p:nvPr/>
        </p:nvSpPr>
        <p:spPr>
          <a:xfrm>
            <a:off x="1073258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8-cell206"/>
          <p:cNvSpPr/>
          <p:nvPr/>
        </p:nvSpPr>
        <p:spPr>
          <a:xfrm>
            <a:off x="1073258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8-figure207" descr="○ 그래프의 노랑 줄: 아래에서부터 3칸 색칠(○ 3개)"/>
          <p:cNvSpPr/>
          <p:nvPr/>
        </p:nvSpPr>
        <p:spPr>
          <a:xfrm>
            <a:off x="1073258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6" name="S08-label208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그려야 할까요?</a:t>
            </a:r>
            <a:endParaRPr lang="ko-KR" sz="4400" dirty="0"/>
          </a:p>
        </p:txBody>
      </p:sp>
      <p:sp>
        <p:nvSpPr>
          <p:cNvPr id="3" name="S09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표예요. 어느 쪽이 많고 적음을 잘 보여 줄까요?</a:t>
            </a:r>
            <a:endParaRPr lang="ko-KR" sz="3200" dirty="0"/>
          </a:p>
        </p:txBody>
      </p:sp>
      <p:sp>
        <p:nvSpPr>
          <p:cNvPr id="5" name="S09-chip21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위에서부터</a:t>
            </a:r>
            <a:endParaRPr lang="ko-KR" sz="2600" dirty="0"/>
          </a:p>
        </p:txBody>
      </p:sp>
      <p:sp>
        <p:nvSpPr>
          <p:cNvPr id="6" name="S09-cell212"/>
          <p:cNvSpPr/>
          <p:nvPr/>
        </p:nvSpPr>
        <p:spPr>
          <a:xfrm>
            <a:off x="1143762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213"/>
          <p:cNvSpPr/>
          <p:nvPr/>
        </p:nvSpPr>
        <p:spPr>
          <a:xfrm>
            <a:off x="1143762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214"/>
          <p:cNvSpPr/>
          <p:nvPr/>
        </p:nvSpPr>
        <p:spPr>
          <a:xfrm>
            <a:off x="1143762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215"/>
          <p:cNvSpPr/>
          <p:nvPr/>
        </p:nvSpPr>
        <p:spPr>
          <a:xfrm>
            <a:off x="114376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216"/>
          <p:cNvSpPr/>
          <p:nvPr/>
        </p:nvSpPr>
        <p:spPr>
          <a:xfrm>
            <a:off x="114376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217"/>
          <p:cNvSpPr/>
          <p:nvPr/>
        </p:nvSpPr>
        <p:spPr>
          <a:xfrm>
            <a:off x="1143762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218" descr="○ 그래프의 빨강 줄: 위에서부터 5칸 색칠(○ 5개)"/>
          <p:cNvSpPr/>
          <p:nvPr/>
        </p:nvSpPr>
        <p:spPr>
          <a:xfrm>
            <a:off x="114376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219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4" name="S09-cell220"/>
          <p:cNvSpPr/>
          <p:nvPr/>
        </p:nvSpPr>
        <p:spPr>
          <a:xfrm>
            <a:off x="3038094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21"/>
          <p:cNvSpPr/>
          <p:nvPr/>
        </p:nvSpPr>
        <p:spPr>
          <a:xfrm>
            <a:off x="3038094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222"/>
          <p:cNvSpPr/>
          <p:nvPr/>
        </p:nvSpPr>
        <p:spPr>
          <a:xfrm>
            <a:off x="3038094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223"/>
          <p:cNvSpPr/>
          <p:nvPr/>
        </p:nvSpPr>
        <p:spPr>
          <a:xfrm>
            <a:off x="3038094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24"/>
          <p:cNvSpPr/>
          <p:nvPr/>
        </p:nvSpPr>
        <p:spPr>
          <a:xfrm>
            <a:off x="3038094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25"/>
          <p:cNvSpPr/>
          <p:nvPr/>
        </p:nvSpPr>
        <p:spPr>
          <a:xfrm>
            <a:off x="3038094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26" descr="○ 그래프의 파랑 줄: 위에서부터 4칸 색칠(○ 4개)"/>
          <p:cNvSpPr/>
          <p:nvPr/>
        </p:nvSpPr>
        <p:spPr>
          <a:xfrm>
            <a:off x="3038094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label227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2" name="S09-cell228"/>
          <p:cNvSpPr/>
          <p:nvPr/>
        </p:nvSpPr>
        <p:spPr>
          <a:xfrm>
            <a:off x="4932426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29"/>
          <p:cNvSpPr/>
          <p:nvPr/>
        </p:nvSpPr>
        <p:spPr>
          <a:xfrm>
            <a:off x="4932426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230"/>
          <p:cNvSpPr/>
          <p:nvPr/>
        </p:nvSpPr>
        <p:spPr>
          <a:xfrm>
            <a:off x="4932426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231"/>
          <p:cNvSpPr/>
          <p:nvPr/>
        </p:nvSpPr>
        <p:spPr>
          <a:xfrm>
            <a:off x="4932426" y="332955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232"/>
          <p:cNvSpPr/>
          <p:nvPr/>
        </p:nvSpPr>
        <p:spPr>
          <a:xfrm>
            <a:off x="4932426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233"/>
          <p:cNvSpPr/>
          <p:nvPr/>
        </p:nvSpPr>
        <p:spPr>
          <a:xfrm>
            <a:off x="4932426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figure234" descr="○ 그래프의 노랑 줄: 위에서부터 3칸 색칠(○ 3개)"/>
          <p:cNvSpPr/>
          <p:nvPr/>
        </p:nvSpPr>
        <p:spPr>
          <a:xfrm>
            <a:off x="4932426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9-label235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0" name="S09-chip23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아래에서부터</a:t>
            </a:r>
            <a:endParaRPr lang="ko-KR" sz="2600" dirty="0"/>
          </a:p>
        </p:txBody>
      </p:sp>
      <p:sp>
        <p:nvSpPr>
          <p:cNvPr id="31" name="S09-cell237"/>
          <p:cNvSpPr/>
          <p:nvPr/>
        </p:nvSpPr>
        <p:spPr>
          <a:xfrm>
            <a:off x="6872478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238"/>
          <p:cNvSpPr/>
          <p:nvPr/>
        </p:nvSpPr>
        <p:spPr>
          <a:xfrm>
            <a:off x="6872478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239"/>
          <p:cNvSpPr/>
          <p:nvPr/>
        </p:nvSpPr>
        <p:spPr>
          <a:xfrm>
            <a:off x="6872478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40"/>
          <p:cNvSpPr/>
          <p:nvPr/>
        </p:nvSpPr>
        <p:spPr>
          <a:xfrm>
            <a:off x="6872478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41"/>
          <p:cNvSpPr/>
          <p:nvPr/>
        </p:nvSpPr>
        <p:spPr>
          <a:xfrm>
            <a:off x="6872478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42"/>
          <p:cNvSpPr/>
          <p:nvPr/>
        </p:nvSpPr>
        <p:spPr>
          <a:xfrm>
            <a:off x="6872478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243" descr="○ 그래프의 빨강 줄: 아래에서부터 5칸 색칠(○ 5개)"/>
          <p:cNvSpPr/>
          <p:nvPr/>
        </p:nvSpPr>
        <p:spPr>
          <a:xfrm>
            <a:off x="6872478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label244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39" name="S09-cell245"/>
          <p:cNvSpPr/>
          <p:nvPr/>
        </p:nvSpPr>
        <p:spPr>
          <a:xfrm>
            <a:off x="8766810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246"/>
          <p:cNvSpPr/>
          <p:nvPr/>
        </p:nvSpPr>
        <p:spPr>
          <a:xfrm>
            <a:off x="8766810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247"/>
          <p:cNvSpPr/>
          <p:nvPr/>
        </p:nvSpPr>
        <p:spPr>
          <a:xfrm>
            <a:off x="8766810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248"/>
          <p:cNvSpPr/>
          <p:nvPr/>
        </p:nvSpPr>
        <p:spPr>
          <a:xfrm>
            <a:off x="8766810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249"/>
          <p:cNvSpPr/>
          <p:nvPr/>
        </p:nvSpPr>
        <p:spPr>
          <a:xfrm>
            <a:off x="8766810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250"/>
          <p:cNvSpPr/>
          <p:nvPr/>
        </p:nvSpPr>
        <p:spPr>
          <a:xfrm>
            <a:off x="8766810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figure251" descr="○ 그래프의 파랑 줄: 아래에서부터 4칸 색칠(○ 4개)"/>
          <p:cNvSpPr/>
          <p:nvPr/>
        </p:nvSpPr>
        <p:spPr>
          <a:xfrm>
            <a:off x="8766810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9-label252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7" name="S09-cell253"/>
          <p:cNvSpPr/>
          <p:nvPr/>
        </p:nvSpPr>
        <p:spPr>
          <a:xfrm>
            <a:off x="10661142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254"/>
          <p:cNvSpPr/>
          <p:nvPr/>
        </p:nvSpPr>
        <p:spPr>
          <a:xfrm>
            <a:off x="10661142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255"/>
          <p:cNvSpPr/>
          <p:nvPr/>
        </p:nvSpPr>
        <p:spPr>
          <a:xfrm>
            <a:off x="10661142" y="294551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cell256"/>
          <p:cNvSpPr/>
          <p:nvPr/>
        </p:nvSpPr>
        <p:spPr>
          <a:xfrm>
            <a:off x="1066114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9-cell257"/>
          <p:cNvSpPr/>
          <p:nvPr/>
        </p:nvSpPr>
        <p:spPr>
          <a:xfrm>
            <a:off x="1066114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9-cell258"/>
          <p:cNvSpPr/>
          <p:nvPr/>
        </p:nvSpPr>
        <p:spPr>
          <a:xfrm>
            <a:off x="10661142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9-figure259" descr="○ 그래프의 노랑 줄: 아래에서부터 3칸 색칠(○ 3개)"/>
          <p:cNvSpPr/>
          <p:nvPr/>
        </p:nvSpPr>
        <p:spPr>
          <a:xfrm>
            <a:off x="1066114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9-label260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400" dirty="0"/>
          </a:p>
        </p:txBody>
      </p:sp>
      <p:sp>
        <p:nvSpPr>
          <p:cNvPr id="3" name="S10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수예요.</a:t>
            </a:r>
            <a:endParaRPr lang="ko-KR" sz="3200" dirty="0"/>
          </a:p>
        </p:txBody>
      </p:sp>
      <p:sp>
        <p:nvSpPr>
          <p:cNvPr id="4" name="S10-card26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6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계절은?</a:t>
            </a:r>
            <a:endParaRPr lang="ko-KR" sz="3200" dirty="0"/>
          </a:p>
        </p:txBody>
      </p:sp>
      <p:sp>
        <p:nvSpPr>
          <p:cNvPr id="6" name="S10-card26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6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겨울보다 몇 명 더?</a:t>
            </a:r>
            <a:endParaRPr lang="ko-KR" sz="3200" dirty="0"/>
          </a:p>
        </p:txBody>
      </p:sp>
      <p:sp>
        <p:nvSpPr>
          <p:cNvPr id="8" name="S10-cell266"/>
          <p:cNvSpPr/>
          <p:nvPr/>
        </p:nvSpPr>
        <p:spPr>
          <a:xfrm>
            <a:off x="1623060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267"/>
          <p:cNvSpPr/>
          <p:nvPr/>
        </p:nvSpPr>
        <p:spPr>
          <a:xfrm>
            <a:off x="1623060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268"/>
          <p:cNvSpPr/>
          <p:nvPr/>
        </p:nvSpPr>
        <p:spPr>
          <a:xfrm>
            <a:off x="1623060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269"/>
          <p:cNvSpPr/>
          <p:nvPr/>
        </p:nvSpPr>
        <p:spPr>
          <a:xfrm>
            <a:off x="1623060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270"/>
          <p:cNvSpPr/>
          <p:nvPr/>
        </p:nvSpPr>
        <p:spPr>
          <a:xfrm>
            <a:off x="1623060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271"/>
          <p:cNvSpPr/>
          <p:nvPr/>
        </p:nvSpPr>
        <p:spPr>
          <a:xfrm>
            <a:off x="1623060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figure272" descr="○ 그래프의 봄 줄: 아래에서부터 4칸 색칠(○ 4개)"/>
          <p:cNvSpPr/>
          <p:nvPr/>
        </p:nvSpPr>
        <p:spPr>
          <a:xfrm>
            <a:off x="1623060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label273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6" name="S10-cell274"/>
          <p:cNvSpPr/>
          <p:nvPr/>
        </p:nvSpPr>
        <p:spPr>
          <a:xfrm>
            <a:off x="4475988" y="21545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275"/>
          <p:cNvSpPr/>
          <p:nvPr/>
        </p:nvSpPr>
        <p:spPr>
          <a:xfrm>
            <a:off x="4475988" y="253860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276"/>
          <p:cNvSpPr/>
          <p:nvPr/>
        </p:nvSpPr>
        <p:spPr>
          <a:xfrm>
            <a:off x="4475988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277"/>
          <p:cNvSpPr/>
          <p:nvPr/>
        </p:nvSpPr>
        <p:spPr>
          <a:xfrm>
            <a:off x="4475988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78"/>
          <p:cNvSpPr/>
          <p:nvPr/>
        </p:nvSpPr>
        <p:spPr>
          <a:xfrm>
            <a:off x="4475988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279"/>
          <p:cNvSpPr/>
          <p:nvPr/>
        </p:nvSpPr>
        <p:spPr>
          <a:xfrm>
            <a:off x="4475988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280" descr="○ 그래프의 여름 줄: 아래에서부터 6칸 색칠(○ 6개)"/>
          <p:cNvSpPr/>
          <p:nvPr/>
        </p:nvSpPr>
        <p:spPr>
          <a:xfrm>
            <a:off x="4475988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281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4" name="S10-cell282"/>
          <p:cNvSpPr/>
          <p:nvPr/>
        </p:nvSpPr>
        <p:spPr>
          <a:xfrm>
            <a:off x="7328916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cell283"/>
          <p:cNvSpPr/>
          <p:nvPr/>
        </p:nvSpPr>
        <p:spPr>
          <a:xfrm>
            <a:off x="7328916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84"/>
          <p:cNvSpPr/>
          <p:nvPr/>
        </p:nvSpPr>
        <p:spPr>
          <a:xfrm>
            <a:off x="7328916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85"/>
          <p:cNvSpPr/>
          <p:nvPr/>
        </p:nvSpPr>
        <p:spPr>
          <a:xfrm>
            <a:off x="7328916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286"/>
          <p:cNvSpPr/>
          <p:nvPr/>
        </p:nvSpPr>
        <p:spPr>
          <a:xfrm>
            <a:off x="7328916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287"/>
          <p:cNvSpPr/>
          <p:nvPr/>
        </p:nvSpPr>
        <p:spPr>
          <a:xfrm>
            <a:off x="7328916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figure288" descr="○ 그래프의 가을 줄: 아래에서부터 3칸 색칠(○ 3개)"/>
          <p:cNvSpPr/>
          <p:nvPr/>
        </p:nvSpPr>
        <p:spPr>
          <a:xfrm>
            <a:off x="7328916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0-label289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2" name="S10-cell290"/>
          <p:cNvSpPr/>
          <p:nvPr/>
        </p:nvSpPr>
        <p:spPr>
          <a:xfrm>
            <a:off x="10181844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291"/>
          <p:cNvSpPr/>
          <p:nvPr/>
        </p:nvSpPr>
        <p:spPr>
          <a:xfrm>
            <a:off x="10181844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292"/>
          <p:cNvSpPr/>
          <p:nvPr/>
        </p:nvSpPr>
        <p:spPr>
          <a:xfrm>
            <a:off x="10181844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293"/>
          <p:cNvSpPr/>
          <p:nvPr/>
        </p:nvSpPr>
        <p:spPr>
          <a:xfrm>
            <a:off x="10181844" y="330669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294"/>
          <p:cNvSpPr/>
          <p:nvPr/>
        </p:nvSpPr>
        <p:spPr>
          <a:xfrm>
            <a:off x="10181844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cell295"/>
          <p:cNvSpPr/>
          <p:nvPr/>
        </p:nvSpPr>
        <p:spPr>
          <a:xfrm>
            <a:off x="10181844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0-figure296" descr="○ 그래프의 겨울 줄: 아래에서부터 2칸 색칠(○ 2개)"/>
          <p:cNvSpPr/>
          <p:nvPr/>
        </p:nvSpPr>
        <p:spPr>
          <a:xfrm>
            <a:off x="10181844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10-label29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간식을 세어 표를 채우고, 가장 많은 것을 말해요.</a:t>
            </a:r>
            <a:endParaRPr lang="ko-KR" sz="3200" dirty="0"/>
          </a:p>
        </p:txBody>
      </p:sp>
      <p:sp>
        <p:nvSpPr>
          <p:cNvPr id="4" name="S11-card2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3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그래프에는 ○를 몇 개씩 그릴까요?</a:t>
            </a:r>
            <a:endParaRPr lang="ko-KR" sz="3200" dirty="0"/>
          </a:p>
        </p:txBody>
      </p:sp>
      <p:sp>
        <p:nvSpPr>
          <p:cNvPr id="6" name="S11-word301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7" name="S11-word302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8" name="S11-word303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9" name="S11-word304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0" name="S11-word305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1" name="S11-word306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2" name="S11-word307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3" name="S11-word308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4" name="S11-word309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5" name="S11-word310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6" name="S11-word311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graphicFrame>
        <p:nvGraphicFramePr>
          <p:cNvPr id="12" name="S11-table3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1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1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칸은 자료 카드에 ✓ 표시를 하며 다시 세어 보게 하세요.</a:t>
            </a:r>
            <a:endParaRPr lang="ko-KR" sz="3200" dirty="0"/>
          </a:p>
        </p:txBody>
      </p:sp>
      <p:sp>
        <p:nvSpPr>
          <p:cNvPr id="5" name="S12-chip3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1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4, 2, 합계 11</a:t>
            </a:r>
            <a:endParaRPr lang="ko-KR" sz="2600" dirty="0"/>
          </a:p>
        </p:txBody>
      </p:sp>
      <p:sp>
        <p:nvSpPr>
          <p:cNvPr id="7" name="S12-text31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과자, 빵, 떡</a:t>
            </a:r>
            <a:endParaRPr lang="ko-KR" sz="2600" dirty="0"/>
          </a:p>
        </p:txBody>
      </p:sp>
      <p:sp>
        <p:nvSpPr>
          <p:cNvPr id="8" name="S12-text31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5, 4, 2개</a:t>
            </a:r>
            <a:endParaRPr lang="ko-KR" sz="3200" dirty="0"/>
          </a:p>
        </p:txBody>
      </p:sp>
      <p:sp>
        <p:nvSpPr>
          <p:cNvPr id="9" name="S12-text31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아래에서부터</a:t>
            </a:r>
            <a:endParaRPr lang="ko-KR" sz="2600" dirty="0"/>
          </a:p>
        </p:txBody>
      </p:sp>
      <p:sp>
        <p:nvSpPr>
          <p:cNvPr id="10" name="S12-text32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</a:t>
            </a:r>
            <a:endParaRPr lang="ko-KR" sz="3200" dirty="0"/>
          </a:p>
        </p:txBody>
      </p:sp>
      <p:sp>
        <p:nvSpPr>
          <p:cNvPr id="11" name="S12-text32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2600" dirty="0"/>
          </a:p>
        </p:txBody>
      </p:sp>
      <p:sp>
        <p:nvSpPr>
          <p:cNvPr id="12" name="S12-chip3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10</a:t>
            </a:r>
            <a:endParaRPr lang="ko-KR" sz="3200" dirty="0"/>
          </a:p>
        </p:txBody>
      </p:sp>
      <p:sp>
        <p:nvSpPr>
          <p:cNvPr id="14" name="S12-text3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빠뜨림</a:t>
            </a:r>
            <a:endParaRPr lang="ko-KR" sz="2600" dirty="0"/>
          </a:p>
        </p:txBody>
      </p:sp>
      <p:sp>
        <p:nvSpPr>
          <p:cNvPr id="15" name="S12-text3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○를 띄어 그림</a:t>
            </a:r>
            <a:endParaRPr lang="ko-KR" sz="3200" dirty="0"/>
          </a:p>
        </p:txBody>
      </p:sp>
      <p:sp>
        <p:nvSpPr>
          <p:cNvPr id="16" name="S12-text3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비교가 어려움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표로</a:t>
            </a:r>
            <a:endParaRPr lang="ko-KR" sz="4400" dirty="0"/>
          </a:p>
        </p:txBody>
      </p:sp>
      <p:sp>
        <p:nvSpPr>
          <p:cNvPr id="3" name="S13-text3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운동별 학생 수를 표로 나타내요.</a:t>
            </a:r>
            <a:endParaRPr lang="ko-KR" sz="3200" dirty="0"/>
          </a:p>
        </p:txBody>
      </p:sp>
      <p:sp>
        <p:nvSpPr>
          <p:cNvPr id="4" name="S13-card328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9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 □명, 축구 □명, 야구 □명</a:t>
            </a:r>
            <a:endParaRPr lang="ko-KR" sz="3200" dirty="0"/>
          </a:p>
        </p:txBody>
      </p:sp>
      <p:sp>
        <p:nvSpPr>
          <p:cNvPr id="6" name="S13-card330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31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□명, 가장 적은 운동은?</a:t>
            </a:r>
            <a:endParaRPr lang="ko-KR" sz="3200" dirty="0"/>
          </a:p>
        </p:txBody>
      </p:sp>
      <p:sp>
        <p:nvSpPr>
          <p:cNvPr id="8" name="S13-cell332"/>
          <p:cNvSpPr/>
          <p:nvPr/>
        </p:nvSpPr>
        <p:spPr>
          <a:xfrm>
            <a:off x="2125980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33"/>
          <p:cNvSpPr/>
          <p:nvPr/>
        </p:nvSpPr>
        <p:spPr>
          <a:xfrm>
            <a:off x="2125980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34"/>
          <p:cNvSpPr/>
          <p:nvPr/>
        </p:nvSpPr>
        <p:spPr>
          <a:xfrm>
            <a:off x="2125980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35"/>
          <p:cNvSpPr/>
          <p:nvPr/>
        </p:nvSpPr>
        <p:spPr>
          <a:xfrm>
            <a:off x="2125980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36"/>
          <p:cNvSpPr/>
          <p:nvPr/>
        </p:nvSpPr>
        <p:spPr>
          <a:xfrm>
            <a:off x="2125980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37"/>
          <p:cNvSpPr/>
          <p:nvPr/>
        </p:nvSpPr>
        <p:spPr>
          <a:xfrm>
            <a:off x="2125980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figure338" descr="○ 그래프의 수영 줄: 아래에서부터 3칸 색칠(○ 3개)"/>
          <p:cNvSpPr/>
          <p:nvPr/>
        </p:nvSpPr>
        <p:spPr>
          <a:xfrm>
            <a:off x="2125980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label339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600" dirty="0"/>
          </a:p>
        </p:txBody>
      </p:sp>
      <p:sp>
        <p:nvSpPr>
          <p:cNvPr id="16" name="S13-cell340"/>
          <p:cNvSpPr/>
          <p:nvPr/>
        </p:nvSpPr>
        <p:spPr>
          <a:xfrm>
            <a:off x="5929884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41"/>
          <p:cNvSpPr/>
          <p:nvPr/>
        </p:nvSpPr>
        <p:spPr>
          <a:xfrm>
            <a:off x="5929884" y="2422271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42"/>
          <p:cNvSpPr/>
          <p:nvPr/>
        </p:nvSpPr>
        <p:spPr>
          <a:xfrm>
            <a:off x="5929884" y="2751455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343"/>
          <p:cNvSpPr/>
          <p:nvPr/>
        </p:nvSpPr>
        <p:spPr>
          <a:xfrm>
            <a:off x="5929884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344"/>
          <p:cNvSpPr/>
          <p:nvPr/>
        </p:nvSpPr>
        <p:spPr>
          <a:xfrm>
            <a:off x="5929884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45"/>
          <p:cNvSpPr/>
          <p:nvPr/>
        </p:nvSpPr>
        <p:spPr>
          <a:xfrm>
            <a:off x="5929884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346" descr="○ 그래프의 축구 줄: 아래에서부터 5칸 색칠(○ 5개)"/>
          <p:cNvSpPr/>
          <p:nvPr/>
        </p:nvSpPr>
        <p:spPr>
          <a:xfrm>
            <a:off x="5929884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label347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600" dirty="0"/>
          </a:p>
        </p:txBody>
      </p:sp>
      <p:sp>
        <p:nvSpPr>
          <p:cNvPr id="24" name="S13-cell348"/>
          <p:cNvSpPr/>
          <p:nvPr/>
        </p:nvSpPr>
        <p:spPr>
          <a:xfrm>
            <a:off x="9733788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49"/>
          <p:cNvSpPr/>
          <p:nvPr/>
        </p:nvSpPr>
        <p:spPr>
          <a:xfrm>
            <a:off x="9733788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50"/>
          <p:cNvSpPr/>
          <p:nvPr/>
        </p:nvSpPr>
        <p:spPr>
          <a:xfrm>
            <a:off x="9733788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51"/>
          <p:cNvSpPr/>
          <p:nvPr/>
        </p:nvSpPr>
        <p:spPr>
          <a:xfrm>
            <a:off x="9733788" y="3080639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52"/>
          <p:cNvSpPr/>
          <p:nvPr/>
        </p:nvSpPr>
        <p:spPr>
          <a:xfrm>
            <a:off x="9733788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53"/>
          <p:cNvSpPr/>
          <p:nvPr/>
        </p:nvSpPr>
        <p:spPr>
          <a:xfrm>
            <a:off x="9733788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354" descr="○ 그래프의 야구 줄: 아래에서부터 2칸 색칠(○ 2개)"/>
          <p:cNvSpPr/>
          <p:nvPr/>
        </p:nvSpPr>
        <p:spPr>
          <a:xfrm>
            <a:off x="9733788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label355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수와 합계를, 그래프는 많고 적음을 한눈에 보여 줘요.</a:t>
            </a:r>
            <a:endParaRPr lang="ko-KR" sz="3200" dirty="0"/>
          </a:p>
        </p:txBody>
      </p:sp>
      <p:sp>
        <p:nvSpPr>
          <p:cNvPr id="5" name="S14-chip35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아래에서부터 빈칸 없이 그리기</a:t>
            </a:r>
            <a:endParaRPr lang="ko-KR" sz="2600" dirty="0"/>
          </a:p>
        </p:txBody>
      </p:sp>
      <p:sp>
        <p:nvSpPr>
          <p:cNvPr id="6" name="S14-chip35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합계 확인 안 하기</a:t>
            </a:r>
            <a:endParaRPr lang="ko-KR" sz="2600" dirty="0"/>
          </a:p>
        </p:txBody>
      </p:sp>
      <p:sp>
        <p:nvSpPr>
          <p:cNvPr id="7" name="S14-text36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6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그래프의 ○는 어디서부터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그려요?</a:t>
            </a:r>
            <a:endParaRPr lang="ko-KR" sz="2600" dirty="0"/>
          </a:p>
        </p:txBody>
      </p:sp>
      <p:sp>
        <p:nvSpPr>
          <p:cNvPr id="9" name="S14-text36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표의 합계는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같아요?</a:t>
            </a:r>
            <a:endParaRPr lang="ko-KR" sz="2600" dirty="0"/>
          </a:p>
        </p:txBody>
      </p:sp>
      <p:sp>
        <p:nvSpPr>
          <p:cNvPr id="10" name="S14-text36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600" dirty="0"/>
          </a:p>
        </p:txBody>
      </p:sp>
      <p:sp>
        <p:nvSpPr>
          <p:cNvPr id="11" name="S14-text3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무늬와 수의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종류별로 세요</a:t>
            </a:r>
            <a:endParaRPr lang="ko-KR" sz="4400" dirty="0"/>
          </a:p>
        </p:txBody>
      </p:sp>
      <p:sp>
        <p:nvSpPr>
          <p:cNvPr id="3" name="S15-text3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빨강만 골라서 세어 봐요.</a:t>
            </a:r>
            <a:endParaRPr lang="ko-KR" sz="3200" dirty="0"/>
          </a:p>
        </p:txBody>
      </p:sp>
      <p:sp>
        <p:nvSpPr>
          <p:cNvPr id="4" name="S15-card3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3, 파랑 1, 노랑 1. 모두 5예요.</a:t>
            </a:r>
            <a:endParaRPr lang="ko-KR" sz="3200" dirty="0"/>
          </a:p>
        </p:txBody>
      </p:sp>
      <p:sp>
        <p:nvSpPr>
          <p:cNvPr id="6" name="S15-word368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7" name="S15-word369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600" dirty="0"/>
          </a:p>
        </p:txBody>
      </p:sp>
      <p:sp>
        <p:nvSpPr>
          <p:cNvPr id="8" name="S15-word370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9" name="S15-word371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600" dirty="0"/>
          </a:p>
        </p:txBody>
      </p:sp>
      <p:sp>
        <p:nvSpPr>
          <p:cNvPr id="10" name="S15-word372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표와 그래프</dc:title>
  <dc:subject>KR22-G02-MAT-TABLEGRAPH-L01</dc:subject>
  <dc:creator>education-ppt</dc:creator>
  <cp:lastModifiedBy>education-ppt</cp:lastModifiedBy>
  <cp:revision>1</cp:revision>
  <dcterms:created xsi:type="dcterms:W3CDTF">2026-10-26T07:14:37Z</dcterms:created>
  <dcterms:modified xsi:type="dcterms:W3CDTF">2026-10-26T07:14:37Z</dcterms:modified>
</cp:coreProperties>
</file>