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29eef6c-67ef-1877-5774-e854b1437d59}">
          <p14:sldIdLst>
            <p14:sldId id="256"/>
            <p14:sldId id="257"/>
          </p14:sldIdLst>
        </p14:section>
        <p14:section name="개념" id="{b53c7d02-76bd-9bec-1720-a374ed1a6563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889bad62-7761-5e67-dcfb-6b5a26474f83}">
          <p14:sldIdLst>
            <p14:sldId id="261"/>
            <p14:sldId id="262"/>
            <p14:sldId id="265"/>
            <p14:sldId id="266"/>
          </p14:sldIdLst>
        </p14:section>
        <p14:section name="개념" id="{1699f077-0817-62d0-e954-bf6e4ac90c21}">
          <p14:sldIdLst/>
        </p14:section>
        <p14:section name="연습" id="{e393aaa0-be32-395c-47a8-a2f6ca42e309}">
          <p14:sldIdLst/>
        </p14:section>
        <p14:section name="확인" id="{dc1901d6-b78e-7c82-b5db-ae31f97fef59}">
          <p14:sldIdLst>
            <p14:sldId id="267"/>
            <p14:sldId id="268"/>
            <p14:sldId id="269"/>
          </p14:sldIdLst>
        </p14:section>
        <p14:section name="정리" id="{6712d2a4-5bd6-499e-081a-4ef0d1e22846}">
          <p14:sldIdLst>
            <p14:sldId id="270"/>
          </p14:sldIdLst>
        </p14:section>
        <p14:section name="보충" id="{e9414156-9e1e-1564-5786-44170068713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집의 물건을 나누어 정리하는 일과 연결해 흥미를 갖게 합니다.
시간: 약 2분
이렇게 말해 보세요
- “빨래를 갤 때 양말은 양말끼리, 티셔츠는 티셔츠끼리 모으지? 이렇게 기준에 따라 나누는 것을 ‘분류’라고 해.”
- “오른쪽 모양들을 두 무리로 나눈다면 어떻게 나눌래?”
예상 답
- “동그라미랑 네모랑 세모요.” “색칠한 것과 안 한 것이요.” 어떤 답이든 괜찮습니다.
막히면
- 답을 확인하지 않고 넘어갑니다. S04와 S05에서 두 가지 기준으로 나누어 봅니다.
주의
- 색과 모양이 다른 단추·블록·바둑돌을 10개쯤 준비해 두면 화면의 활동을 실물로 함께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확인(모양 이름, 세기)]
목적: 오늘 기준으로 쓸 모양의 이름(동그라미·세모·네모)을 알고, 빠뜨리지 않고 셀 수 있는지 확인합니다.
시간: 약 3분
이렇게 말해 보세요
- “①의 모양 이름을 하나씩 말해 볼래?”
- “②는 점이 몇 개야? 하나씩 짚으면서 세어 봐.”
정답
- ① 동그라미(원), 세모(삼각형), 네모(사각형)
- ② 8개
막히면
- 모양 이름이 어렵거나 세기에서 빠뜨리면 S16(보충)을 먼저 합니다.
- 계획에는 이 차시의 선수 차시가 없습니다. 보충으로도 어려우면 초1 ‘네모·세모·동그라미 모양’(KR22-G01-MAT-SHAPE2D-L01)과 ‘9까지의 수’(KR22-G01-MAT-NUM9-L01)를 먼저 합니다.
주의
- 원·삼각형·사각형이라고 답해도 맞습니다. 오늘은 아이에게 익숙한 동그라미·세모·네모로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분명한 기준과 그렇지 않은 기준]
목적: 분류할 때는 누가 나누어도 결과가 같은 분명한 기준을 써야 한다는 것을 압니다.
시간: 약 3분
이렇게 말해 보세요
- “엄마(아빠)가 예쁘다고 생각하는 것과 네가 예쁘다고 생각하는 것이 같을까?”
- “동그라미인지 아닌지는 누가 봐도 똑같지? 이런 것이 좋은 기준이야. ‘맛있는 것’은 어떨까?”
예상 답
- “아니요, 사람마다 맛있는 게 달라요.”
막히면
- 물건 세 개를 놓고 “예쁜 것을 골라 봐” 하고, 부모는 다른 것을 골라 결과가 다르다는 것을 직접 보여 줍니다.
주의
- ‘큰 것과 작은 것’처럼 애매한 기준도 있습니다. 비교할 것이 분명할 때만 기준으로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모양을 기준으로 분류하기 시범]
목적: 정한 기준(모양)에 따라 하나씩 살펴보며 빠짐없이 나누는 방법을 보여 줍니다.
시간: 약 3분
이렇게 말해 보세요
- “1번은 어떤 모양이야? 동그라미 무리에 넣자. 2번은?”
- “색칠한 것도 안 한 것도 동그라미면 모두 동그라미 무리야. 기준이 ‘모양’이니까.”
예상 답
- “1번 동그라미, 2번 세모, 3번 네모 …”
막히면
- 단추나 블록을 실제로 접시 세 개에 나누어 담게 합니다.
- 번호를 짚으며 한 장씩 차례로 정하게 합니다.
주의
- 색칠한 동그라미와 색칠하지 않은 동그라미를 다른 무리에 넣으면 “지금 기준이 뭐였지?”라고 묻습니다(M2).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기준을 바꾸어 분류하기]
목적: 같은 물건도 기준을 바꾸면 다르게 분류된다는 것을 압니다.
시간: 약 3분
이렇게 말해 보세요
- “아까와 같은 모양들이야. 이번에는 색칠했는지를 기준으로 나누어 볼까?”
- “아까는 세 무리였는데 지금은 몇 무리야? 왜 달라졌을까?”
예상 답
- “두 무리요. 기준이 바뀌어서요.”
막히면
- S04에서 나눈 단추를 다시 섞고 색으로 나누어 담게 합니다.
주의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연습(알맞은 기준 고르기)]
목적: 도움을 받으며 분명한 기준과 그렇지 않은 기준을 구별합니다.
시간: 약 2분
이렇게 말해 보세요
- “가, 나, 다 중에서 누가 나누어도 결과가 같은 기준은 어느 것일까?”
정답
- 나(다리가 2개인 것과 4개인 것). 다리 수는 누가 세어도 같습니다.
- 가와 다는 사람마다 생각이 달라 결과가 달라집니다.
막히면
- “엄마가 귀엽다고 생각하는 동물과 네가 귀엽다고 생각하는 동물이 같을까?”라고 묻습니다.
주의
- 아이가 다른 분명한 기준(날개가 있는지, 털이 있는지)을 더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연습(기준에 따라 나누기)]
목적: 도움을 받으며 정해진 기준에 따라 실제 대상을 나눕니다.
시간: 약 3분
이렇게 말해 보세요
- “강아지는 다리가 몇 개야? 그럼 어느 무리에 넣을까?”
- “다리가 2개인 동물을 모두 말해 볼래? 4개인 동물은?”
정답
- 다리 2개: 닭, 참새, 오리
- 다리 4개: 강아지, 고양이, 소
막히면
- 종이 두 장에 ‘다리 2개’, ‘다리 4개’를 쓰고, 동물 이름을 말할 때마다 손가락으로 해당 종이를 가리키게 합니다.
주의
- 새의 날개는 다리가 아닙니다. 헷갈리면 새가 땅에서 걷는 모습을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분류하여 세고 표에 쓰기 시범]
목적: 분류한 것을 세어 표에 쓰고, 합계로 빠짐없이 셌는지 확인하는 방법을 보여 줍니다.
시간: 약 3분
이렇게 말해 보세요
- “동그라미를 세어 보자. 1번, 4번, 6번, 8번. 몇 개야?”
- “세모와 네모도 세어서 표에 쓰고, 모두 더하면 몇 개야? 처음에 카드가 모두 몇 장이었지?”
예상 답
- “동그라미 4개, 세모 2개, 네모 2개. 모두 8개예요.”
막히면
- 실물 단추로 무리를 나눈 뒤 무리마다 세어 종이 표에 씁니다.
주의
- 합계가 전체 수와 다르면 빠뜨렸거나 두 번 센 것입니다(M3).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빠짐없이 세는 방법]
목적: 세는 동안 표시를 하고 합계로 확인하는 습관을 익힙니다.
시간: 약 3분
이렇게 말해 보세요
- “S04의 카드를 색칠했는지로 나누어 세면 어떻게 될까? 센 것은 종이에 ✓ 표시를 해.”
- “색칠한 것 5개, 안 한 것 3개, 합계 8개. 전체 8개와 같으니까 빠짐없이 셌어.”
예상 답
- “색칠한 것 5개, 안 한 것 3개, 모두 8개예요.”
막히면
- 단추를 센 뒤 옆으로 옮겨 놓으며 세게 합니다(센 것과 안 센 것을 나누기).
주의
- 활동지에서는 그림에 직접 ✓ 표시를 하며 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연습(세어 표에 쓰기)]
목적: 도움을 받으며 대상을 종류별로 세어 표를 완성하고, 가장 많은 것을 찾습니다.
시간: 약 4분
이렇게 말해 보세요
- “사과는 몇 개야? 하나씩 짚으면서 세어 봐. 귤은? 포도는?”
- “합계는 몇 개야? 과일 카드는 모두 몇 장이지? 가장 많은 과일은 뭐야?”
정답
- 사과 4개, 귤 3개, 포도 2개, 합계 9개
- 가장 많은 과일은 사과입니다.
막히면
- 종이에 사과, 귤, 포도 칸을 그리고 카드를 하나 읽을 때마다 해당 칸에 ✓를 하나씩 그리게 합니다.
주의
- 표를 보면 ‘가장 많은 것’을 바로 알 수 있다는 점을 말해 줍니다. 다음 차시의 표와 그래프로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비교(두 번 세기)]
목적: 합계와 전체 수를 비교해 두 번 세거나 빠뜨린 것을 찾아냅니다(M3).
시간: 약 2분
이렇게 말해 보세요
- “토끼와 곰의 합계를 봐. 카드는 모두 몇 장이었지? 누가 잘못 셌을까?”
- “토끼는 어느 모양을 잘못 셌을까?”
예상 답
- “토끼요. 카드는 8장인데 9개라고 했어요.”
정답
- 토끼가 잘못 셌습니다. 합계 9가 전체 8장과 다르고, 세모를 3개로 세었습니다(세모는 2번, 5번 두 개).
- 곰이 바르게 셌습니다.
막히면
- S08 화면으로 돌아가 세모를 다시 세어 봅니다.
주의
- 표를 다 채운 뒤에는 늘 ‘합계 = 전체’인지 확인하는 약속을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기준에 따라 나누어 세고 표에 쓰며(①), 가장 많은 것을 찾고(②), 다른 기준으로도 나누는지(③) 확인합니다.
시간: 약 4분
이렇게 말해 보세요
- “이번에는 혼자 해 볼래? 종이에 표를 그려서 써도 돼. 다 하면 가장 많은 모양을 말해 줘.”
- “아래 칸처럼 색칠했는지로도 나누어 세어 볼래?”
정답
- 모양: 동그라미 2개, 세모 5개, 네모 2개, 합계 9개
- 가장 많은 모양: 세모
- 색칠: 색칠한 것 5개, 안 한 것 4개, 합계 9개
막히면
- 바로 알려 주지 말고 “합계가 전체 카드 수와 같아?”라고만 묻습니다.
- 도움을 받아 해결했다면 기록표에 ‘도움’으로 표시합니다.
주의
- 색칠한 세모와 안 한 세모를 따로 세면 기준을 다시 물어봅니다(M2).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표와 같은지 볼까? 합계가 9가 아니면 어디서 틀렸는지 찾아보자.”
정답
- 동그라미 2, 세모 5, 네모 2, 합계 9 / 가장 많은 것: 세모 / 색칠한 것 5, 안 한 것 4
막히면
- 세모를 3개로 세었으면 기준이 ‘모양’임을 다시 말해 줍니다(M2).
- 합계가 9가 아니면 S11처럼 합계와 전체를 비교합니다(M3).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확인(기준 알아내기)]
목적: 처음 보는 문제에서 분류 결과를 보고 기준을 알아내는지 확인합니다.
시간: 약 2분
이렇게 말해 보세요
- “가 무리와 나 무리는 무엇이 달라? 어떤 기준으로 나누었을까?”
정답
- 색칠했는지(색칠한 것과 색칠하지 않은 것)를 기준으로 나누었습니다.
- 모양은 두 무리에 섞여 있으므로 모양이 기준이 아닙니다.
막히면
- “가 무리에는 어떤 모양들이 있어? 나 무리에는?”이라고 물어 모양이 섞여 있다는 것을 먼저 찾게 합니다.
주의
- “가 무리는 진하고 나 무리는 비어 있어요”처럼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좋은 기준은 어떤 기준이야? 다 센 다음에는 무엇을 확인해?”
예상 답
- “누가 나누어도 같은 기준이요.” “합계가 전체랑 같은지 봐요.”
정답
- ① 아니요(사람마다 다름) ② 3개 ③ 전체 수
막히면
- S03과 S08을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보충(같은 모양 찾기와 세기)]
목적: S02에서 모양 이름이나 세기가 흔들리면, 같은 모양끼리 모으고 하나씩 짚으며 세는 것을 먼저 합니다.
시간: 약 5분
이렇게 말해 보세요
- “테두리가 진한 카드는 무슨 모양이야? 같은 모양끼리 모아 볼까?”
- “단추를 같은 색끼리 접시에 모아 보자. 접시마다 몇 개야?”
정답
- 동그라미 3개, 세모 1개, 네모 1개
막히면
- 센 단추는 옆으로 옮기며 셉니다.
주의
- 계획에는 이 차시의 선수 차시가 없습니다. 보충으로도 어려우면 초1 ‘네모·세모·동그라미 모양’(KR22-G01-MAT-SHAPE2D-L01)과 ‘9까지의 수’(KR22-G01-MAT-NUM9-L01)를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나누면 좋을까?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600" dirty="0"/>
          </a:p>
        </p:txBody>
      </p:sp>
      <p:sp>
        <p:nvSpPr>
          <p:cNvPr id="5" name="S01-tile2"/>
          <p:cNvSpPr txBox="1"/>
          <p:nvPr/>
        </p:nvSpPr>
        <p:spPr>
          <a:xfrm>
            <a:off x="8714232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3600" dirty="0"/>
          </a:p>
        </p:txBody>
      </p:sp>
      <p:sp>
        <p:nvSpPr>
          <p:cNvPr id="6" name="S01-tile3"/>
          <p:cNvSpPr txBox="1"/>
          <p:nvPr/>
        </p:nvSpPr>
        <p:spPr>
          <a:xfrm>
            <a:off x="9747504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3600" dirty="0"/>
          </a:p>
        </p:txBody>
      </p:sp>
      <p:sp>
        <p:nvSpPr>
          <p:cNvPr id="7" name="S01-tile4"/>
          <p:cNvSpPr txBox="1"/>
          <p:nvPr/>
        </p:nvSpPr>
        <p:spPr>
          <a:xfrm>
            <a:off x="10780776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6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분명한 기준을 정해 나누어요.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나눈 것을 세어 표에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모양의 이름을 말하고, 세어 봐요.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9" descr="동그라미"/>
          <p:cNvSpPr/>
          <p:nvPr/>
        </p:nvSpPr>
        <p:spPr>
          <a:xfrm>
            <a:off x="1600200" y="2290572"/>
            <a:ext cx="1316736" cy="131673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figure10" descr="세모"/>
          <p:cNvSpPr/>
          <p:nvPr/>
        </p:nvSpPr>
        <p:spPr>
          <a:xfrm>
            <a:off x="3429000" y="2350424"/>
            <a:ext cx="1316736" cy="119703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2-figure11" descr="네모"/>
          <p:cNvSpPr/>
          <p:nvPr/>
        </p:nvSpPr>
        <p:spPr>
          <a:xfrm>
            <a:off x="5257800" y="2290572"/>
            <a:ext cx="1316736" cy="1316736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dot13"/>
          <p:cNvSpPr/>
          <p:nvPr/>
        </p:nvSpPr>
        <p:spPr>
          <a:xfrm>
            <a:off x="25031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dot14"/>
          <p:cNvSpPr/>
          <p:nvPr/>
        </p:nvSpPr>
        <p:spPr>
          <a:xfrm>
            <a:off x="31889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dot15"/>
          <p:cNvSpPr/>
          <p:nvPr/>
        </p:nvSpPr>
        <p:spPr>
          <a:xfrm>
            <a:off x="38747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dot16"/>
          <p:cNvSpPr/>
          <p:nvPr/>
        </p:nvSpPr>
        <p:spPr>
          <a:xfrm>
            <a:off x="45605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17"/>
          <p:cNvSpPr/>
          <p:nvPr/>
        </p:nvSpPr>
        <p:spPr>
          <a:xfrm>
            <a:off x="52463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18"/>
          <p:cNvSpPr/>
          <p:nvPr/>
        </p:nvSpPr>
        <p:spPr>
          <a:xfrm>
            <a:off x="25031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19"/>
          <p:cNvSpPr/>
          <p:nvPr/>
        </p:nvSpPr>
        <p:spPr>
          <a:xfrm>
            <a:off x="31889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20"/>
          <p:cNvSpPr/>
          <p:nvPr/>
        </p:nvSpPr>
        <p:spPr>
          <a:xfrm>
            <a:off x="38747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figure21" descr="점 8개"/>
          <p:cNvSpPr/>
          <p:nvPr/>
        </p:nvSpPr>
        <p:spPr>
          <a:xfrm>
            <a:off x="2372868" y="4526280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기준이 좋을까요?</a:t>
            </a:r>
            <a:endParaRPr lang="ko-KR" sz="4400" dirty="0"/>
          </a:p>
        </p:txBody>
      </p:sp>
      <p:sp>
        <p:nvSpPr>
          <p:cNvPr id="3" name="S03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결과가 같아야 해요.</a:t>
            </a:r>
            <a:endParaRPr lang="ko-KR" sz="3200" dirty="0"/>
          </a:p>
        </p:txBody>
      </p:sp>
      <p:sp>
        <p:nvSpPr>
          <p:cNvPr id="5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‘맛있는 것’은 기준이 될까요?</a:t>
            </a:r>
            <a:endParaRPr lang="ko-KR" sz="3200" dirty="0"/>
          </a:p>
        </p:txBody>
      </p:sp>
      <p:sp>
        <p:nvSpPr>
          <p:cNvPr id="7" name="S03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모양, 색깔, 다리 수</a:t>
            </a:r>
            <a:endParaRPr lang="ko-KR" sz="2600" dirty="0"/>
          </a:p>
        </p:txBody>
      </p:sp>
      <p:sp>
        <p:nvSpPr>
          <p:cNvPr id="8" name="S03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똑같아요.</a:t>
            </a:r>
            <a:endParaRPr lang="ko-KR" sz="3200" dirty="0"/>
          </a:p>
        </p:txBody>
      </p:sp>
      <p:sp>
        <p:nvSpPr>
          <p:cNvPr id="9" name="S03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예쁜 것, 좋아하는 것</a:t>
            </a:r>
            <a:endParaRPr lang="ko-KR" sz="2600" dirty="0"/>
          </a:p>
        </p:txBody>
      </p:sp>
      <p:sp>
        <p:nvSpPr>
          <p:cNvPr id="10" name="S03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달라요.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모양으로 나누어요</a:t>
            </a:r>
            <a:endParaRPr lang="ko-KR" sz="44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모양</a:t>
            </a:r>
            <a:endParaRPr lang="ko-KR" sz="3200" dirty="0"/>
          </a:p>
        </p:txBody>
      </p:sp>
      <p:sp>
        <p:nvSpPr>
          <p:cNvPr id="4" name="S04-card31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동그라미: 1, 4, 6, 8</a:t>
            </a:r>
            <a:endParaRPr lang="ko-KR" sz="3200" dirty="0"/>
          </a:p>
        </p:txBody>
      </p:sp>
      <p:sp>
        <p:nvSpPr>
          <p:cNvPr id="6" name="S04-card33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4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세모: 2, 5</a:t>
            </a:r>
            <a:endParaRPr lang="ko-KR" sz="3200" dirty="0"/>
          </a:p>
        </p:txBody>
      </p:sp>
      <p:sp>
        <p:nvSpPr>
          <p:cNvPr id="8" name="S04-card35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6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네모: 3, 7</a:t>
            </a:r>
            <a:endParaRPr lang="ko-KR" sz="3200" dirty="0"/>
          </a:p>
        </p:txBody>
      </p:sp>
      <p:sp>
        <p:nvSpPr>
          <p:cNvPr id="10" name="S04-tile37"/>
          <p:cNvSpPr txBox="1"/>
          <p:nvPr/>
        </p:nvSpPr>
        <p:spPr>
          <a:xfrm>
            <a:off x="54864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1" name="S04-label38"/>
          <p:cNvSpPr txBox="1"/>
          <p:nvPr/>
        </p:nvSpPr>
        <p:spPr>
          <a:xfrm>
            <a:off x="44805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4-tile39"/>
          <p:cNvSpPr txBox="1"/>
          <p:nvPr/>
        </p:nvSpPr>
        <p:spPr>
          <a:xfrm>
            <a:off x="196024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5200" dirty="0"/>
          </a:p>
        </p:txBody>
      </p:sp>
      <p:sp>
        <p:nvSpPr>
          <p:cNvPr id="13" name="S04-label40"/>
          <p:cNvSpPr txBox="1"/>
          <p:nvPr/>
        </p:nvSpPr>
        <p:spPr>
          <a:xfrm>
            <a:off x="185966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4-tile41"/>
          <p:cNvSpPr txBox="1"/>
          <p:nvPr/>
        </p:nvSpPr>
        <p:spPr>
          <a:xfrm>
            <a:off x="337185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5" name="S04-label42"/>
          <p:cNvSpPr txBox="1"/>
          <p:nvPr/>
        </p:nvSpPr>
        <p:spPr>
          <a:xfrm>
            <a:off x="327126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6" name="S04-tile43"/>
          <p:cNvSpPr txBox="1"/>
          <p:nvPr/>
        </p:nvSpPr>
        <p:spPr>
          <a:xfrm>
            <a:off x="478345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5200" dirty="0"/>
          </a:p>
        </p:txBody>
      </p:sp>
      <p:sp>
        <p:nvSpPr>
          <p:cNvPr id="17" name="S04-label44"/>
          <p:cNvSpPr txBox="1"/>
          <p:nvPr/>
        </p:nvSpPr>
        <p:spPr>
          <a:xfrm>
            <a:off x="468287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4-tile45"/>
          <p:cNvSpPr txBox="1"/>
          <p:nvPr/>
        </p:nvSpPr>
        <p:spPr>
          <a:xfrm>
            <a:off x="619506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200" dirty="0"/>
          </a:p>
        </p:txBody>
      </p:sp>
      <p:sp>
        <p:nvSpPr>
          <p:cNvPr id="19" name="S04-label46"/>
          <p:cNvSpPr txBox="1"/>
          <p:nvPr/>
        </p:nvSpPr>
        <p:spPr>
          <a:xfrm>
            <a:off x="609447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0" name="S04-tile47"/>
          <p:cNvSpPr txBox="1"/>
          <p:nvPr/>
        </p:nvSpPr>
        <p:spPr>
          <a:xfrm>
            <a:off x="760666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1" name="S04-label48"/>
          <p:cNvSpPr txBox="1"/>
          <p:nvPr/>
        </p:nvSpPr>
        <p:spPr>
          <a:xfrm>
            <a:off x="750608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" name="S04-tile49"/>
          <p:cNvSpPr txBox="1"/>
          <p:nvPr/>
        </p:nvSpPr>
        <p:spPr>
          <a:xfrm>
            <a:off x="901827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5200" dirty="0"/>
          </a:p>
        </p:txBody>
      </p:sp>
      <p:sp>
        <p:nvSpPr>
          <p:cNvPr id="23" name="S04-label50"/>
          <p:cNvSpPr txBox="1"/>
          <p:nvPr/>
        </p:nvSpPr>
        <p:spPr>
          <a:xfrm>
            <a:off x="891768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04-tile51"/>
          <p:cNvSpPr txBox="1"/>
          <p:nvPr/>
        </p:nvSpPr>
        <p:spPr>
          <a:xfrm>
            <a:off x="1042987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5" name="S04-label52"/>
          <p:cNvSpPr txBox="1"/>
          <p:nvPr/>
        </p:nvSpPr>
        <p:spPr>
          <a:xfrm>
            <a:off x="1032929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색칠로 나누어요</a:t>
            </a:r>
            <a:endParaRPr lang="ko-KR" sz="4400" dirty="0"/>
          </a:p>
        </p:txBody>
      </p:sp>
      <p:sp>
        <p:nvSpPr>
          <p:cNvPr id="3" name="S05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색칠했는지</a:t>
            </a:r>
            <a:endParaRPr lang="ko-KR" sz="3200" dirty="0"/>
          </a:p>
        </p:txBody>
      </p:sp>
      <p:sp>
        <p:nvSpPr>
          <p:cNvPr id="4" name="S05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바뀌면 나누는 방법도 바뀌어요.</a:t>
            </a:r>
            <a:endParaRPr lang="ko-KR" sz="3200" dirty="0"/>
          </a:p>
        </p:txBody>
      </p:sp>
      <p:sp>
        <p:nvSpPr>
          <p:cNvPr id="6" name="S05-card56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57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것: 1, 3, 5, 6, 8</a:t>
            </a:r>
            <a:endParaRPr lang="ko-KR" sz="3200" dirty="0"/>
          </a:p>
        </p:txBody>
      </p:sp>
      <p:sp>
        <p:nvSpPr>
          <p:cNvPr id="8" name="S05-card58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59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색칠하지 않은 것: 2, 4, 7</a:t>
            </a:r>
            <a:endParaRPr lang="ko-KR" sz="3200" dirty="0"/>
          </a:p>
        </p:txBody>
      </p:sp>
      <p:sp>
        <p:nvSpPr>
          <p:cNvPr id="10" name="S05-tile60"/>
          <p:cNvSpPr txBox="1"/>
          <p:nvPr/>
        </p:nvSpPr>
        <p:spPr>
          <a:xfrm>
            <a:off x="548640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1" name="S05-label61"/>
          <p:cNvSpPr txBox="1"/>
          <p:nvPr/>
        </p:nvSpPr>
        <p:spPr>
          <a:xfrm>
            <a:off x="448056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5-tile62"/>
          <p:cNvSpPr txBox="1"/>
          <p:nvPr/>
        </p:nvSpPr>
        <p:spPr>
          <a:xfrm>
            <a:off x="1960245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5200" dirty="0"/>
          </a:p>
        </p:txBody>
      </p:sp>
      <p:sp>
        <p:nvSpPr>
          <p:cNvPr id="13" name="S05-label63"/>
          <p:cNvSpPr txBox="1"/>
          <p:nvPr/>
        </p:nvSpPr>
        <p:spPr>
          <a:xfrm>
            <a:off x="1859661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5-tile64"/>
          <p:cNvSpPr txBox="1"/>
          <p:nvPr/>
        </p:nvSpPr>
        <p:spPr>
          <a:xfrm>
            <a:off x="3371850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5" name="S05-label65"/>
          <p:cNvSpPr txBox="1"/>
          <p:nvPr/>
        </p:nvSpPr>
        <p:spPr>
          <a:xfrm>
            <a:off x="3271266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6" name="S05-tile66"/>
          <p:cNvSpPr txBox="1"/>
          <p:nvPr/>
        </p:nvSpPr>
        <p:spPr>
          <a:xfrm>
            <a:off x="4783455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5200" dirty="0"/>
          </a:p>
        </p:txBody>
      </p:sp>
      <p:sp>
        <p:nvSpPr>
          <p:cNvPr id="17" name="S05-label67"/>
          <p:cNvSpPr txBox="1"/>
          <p:nvPr/>
        </p:nvSpPr>
        <p:spPr>
          <a:xfrm>
            <a:off x="4682871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5-tile68"/>
          <p:cNvSpPr txBox="1"/>
          <p:nvPr/>
        </p:nvSpPr>
        <p:spPr>
          <a:xfrm>
            <a:off x="6195060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200" dirty="0"/>
          </a:p>
        </p:txBody>
      </p:sp>
      <p:sp>
        <p:nvSpPr>
          <p:cNvPr id="19" name="S05-label69"/>
          <p:cNvSpPr txBox="1"/>
          <p:nvPr/>
        </p:nvSpPr>
        <p:spPr>
          <a:xfrm>
            <a:off x="6094476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0" name="S05-tile70"/>
          <p:cNvSpPr txBox="1"/>
          <p:nvPr/>
        </p:nvSpPr>
        <p:spPr>
          <a:xfrm>
            <a:off x="7606665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1" name="S05-label71"/>
          <p:cNvSpPr txBox="1"/>
          <p:nvPr/>
        </p:nvSpPr>
        <p:spPr>
          <a:xfrm>
            <a:off x="7506081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" name="S05-tile72"/>
          <p:cNvSpPr txBox="1"/>
          <p:nvPr/>
        </p:nvSpPr>
        <p:spPr>
          <a:xfrm>
            <a:off x="9018270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5200" dirty="0"/>
          </a:p>
        </p:txBody>
      </p:sp>
      <p:sp>
        <p:nvSpPr>
          <p:cNvPr id="23" name="S05-label73"/>
          <p:cNvSpPr txBox="1"/>
          <p:nvPr/>
        </p:nvSpPr>
        <p:spPr>
          <a:xfrm>
            <a:off x="8917686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05-tile74"/>
          <p:cNvSpPr txBox="1"/>
          <p:nvPr/>
        </p:nvSpPr>
        <p:spPr>
          <a:xfrm>
            <a:off x="10429875" y="2183701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5" name="S05-label75"/>
          <p:cNvSpPr txBox="1"/>
          <p:nvPr/>
        </p:nvSpPr>
        <p:spPr>
          <a:xfrm>
            <a:off x="10329291" y="3430714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기준은?</a:t>
            </a:r>
            <a:endParaRPr lang="ko-KR" sz="4400" dirty="0"/>
          </a:p>
        </p:txBody>
      </p:sp>
      <p:sp>
        <p:nvSpPr>
          <p:cNvPr id="3" name="S06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나누는 기준으로 알맞은 것은?</a:t>
            </a:r>
            <a:endParaRPr lang="ko-KR" sz="3200" dirty="0"/>
          </a:p>
        </p:txBody>
      </p:sp>
      <p:sp>
        <p:nvSpPr>
          <p:cNvPr id="4" name="S06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기준이 좋은지 말해 보세요.</a:t>
            </a:r>
            <a:endParaRPr lang="ko-KR" sz="3200" dirty="0"/>
          </a:p>
        </p:txBody>
      </p:sp>
      <p:sp>
        <p:nvSpPr>
          <p:cNvPr id="6" name="S06-chip7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8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8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귀여운 것과 무서운 것</a:t>
            </a:r>
            <a:endParaRPr lang="ko-KR" sz="3200" dirty="0"/>
          </a:p>
        </p:txBody>
      </p:sp>
      <p:sp>
        <p:nvSpPr>
          <p:cNvPr id="9" name="S06-chip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8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8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2개인 것과 4개인 것</a:t>
            </a:r>
            <a:endParaRPr lang="ko-KR" sz="3200" dirty="0"/>
          </a:p>
        </p:txBody>
      </p:sp>
      <p:sp>
        <p:nvSpPr>
          <p:cNvPr id="12" name="S06-chip8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8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8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싫어하는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나누어요</a:t>
            </a:r>
            <a:endParaRPr lang="ko-KR" sz="4400" dirty="0"/>
          </a:p>
        </p:txBody>
      </p:sp>
      <p:sp>
        <p:nvSpPr>
          <p:cNvPr id="3" name="S07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수를 기준으로 나누어요.</a:t>
            </a:r>
            <a:endParaRPr lang="ko-KR" sz="3200" dirty="0"/>
          </a:p>
        </p:txBody>
      </p:sp>
      <p:sp>
        <p:nvSpPr>
          <p:cNvPr id="4" name="S07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2개인 동물과 4개인 동물은?</a:t>
            </a:r>
            <a:endParaRPr lang="ko-KR" sz="3200" dirty="0"/>
          </a:p>
        </p:txBody>
      </p:sp>
      <p:sp>
        <p:nvSpPr>
          <p:cNvPr id="6" name="S07-word91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7" name="S07-word92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</a:t>
            </a:r>
            <a:endParaRPr lang="ko-KR" sz="3600" dirty="0"/>
          </a:p>
        </p:txBody>
      </p:sp>
      <p:sp>
        <p:nvSpPr>
          <p:cNvPr id="8" name="S07-word93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9" name="S07-word94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3600" dirty="0"/>
          </a:p>
        </p:txBody>
      </p:sp>
      <p:sp>
        <p:nvSpPr>
          <p:cNvPr id="10" name="S07-word95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11" name="S07-word96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세어서 표에 써요</a:t>
            </a:r>
            <a:endParaRPr lang="ko-KR" sz="4400" dirty="0"/>
          </a:p>
        </p:txBody>
      </p:sp>
      <p:sp>
        <p:nvSpPr>
          <p:cNvPr id="3" name="S08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표에 써요.</a:t>
            </a:r>
            <a:endParaRPr lang="ko-KR" sz="3200" dirty="0"/>
          </a:p>
        </p:txBody>
      </p:sp>
      <p:sp>
        <p:nvSpPr>
          <p:cNvPr id="4" name="S08-card9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9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+ 2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합계가 전체 8개와 같아요.</a:t>
            </a:r>
            <a:endParaRPr lang="ko-KR" sz="3200" dirty="0"/>
          </a:p>
        </p:txBody>
      </p:sp>
      <p:sp>
        <p:nvSpPr>
          <p:cNvPr id="6" name="S08-tile100"/>
          <p:cNvSpPr txBox="1"/>
          <p:nvPr/>
        </p:nvSpPr>
        <p:spPr>
          <a:xfrm>
            <a:off x="1381760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7" name="S08-label101"/>
          <p:cNvSpPr txBox="1"/>
          <p:nvPr/>
        </p:nvSpPr>
        <p:spPr>
          <a:xfrm>
            <a:off x="1281176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ile102"/>
          <p:cNvSpPr txBox="1"/>
          <p:nvPr/>
        </p:nvSpPr>
        <p:spPr>
          <a:xfrm>
            <a:off x="2361946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3400" dirty="0"/>
          </a:p>
        </p:txBody>
      </p:sp>
      <p:sp>
        <p:nvSpPr>
          <p:cNvPr id="9" name="S08-label103"/>
          <p:cNvSpPr txBox="1"/>
          <p:nvPr/>
        </p:nvSpPr>
        <p:spPr>
          <a:xfrm>
            <a:off x="2261362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ile104"/>
          <p:cNvSpPr txBox="1"/>
          <p:nvPr/>
        </p:nvSpPr>
        <p:spPr>
          <a:xfrm>
            <a:off x="3342132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3400" dirty="0"/>
          </a:p>
        </p:txBody>
      </p:sp>
      <p:sp>
        <p:nvSpPr>
          <p:cNvPr id="11" name="S08-label105"/>
          <p:cNvSpPr txBox="1"/>
          <p:nvPr/>
        </p:nvSpPr>
        <p:spPr>
          <a:xfrm>
            <a:off x="3241548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ile106"/>
          <p:cNvSpPr txBox="1"/>
          <p:nvPr/>
        </p:nvSpPr>
        <p:spPr>
          <a:xfrm>
            <a:off x="4322318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13" name="S08-label107"/>
          <p:cNvSpPr txBox="1"/>
          <p:nvPr/>
        </p:nvSpPr>
        <p:spPr>
          <a:xfrm>
            <a:off x="4221734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8-tile108"/>
          <p:cNvSpPr txBox="1"/>
          <p:nvPr/>
        </p:nvSpPr>
        <p:spPr>
          <a:xfrm>
            <a:off x="1381760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3400" dirty="0"/>
          </a:p>
        </p:txBody>
      </p:sp>
      <p:sp>
        <p:nvSpPr>
          <p:cNvPr id="15" name="S08-label109"/>
          <p:cNvSpPr txBox="1"/>
          <p:nvPr/>
        </p:nvSpPr>
        <p:spPr>
          <a:xfrm>
            <a:off x="1281176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6" name="S08-tile110"/>
          <p:cNvSpPr txBox="1"/>
          <p:nvPr/>
        </p:nvSpPr>
        <p:spPr>
          <a:xfrm>
            <a:off x="2361946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17" name="S08-label111"/>
          <p:cNvSpPr txBox="1"/>
          <p:nvPr/>
        </p:nvSpPr>
        <p:spPr>
          <a:xfrm>
            <a:off x="2261362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8" name="S08-tile112"/>
          <p:cNvSpPr txBox="1"/>
          <p:nvPr/>
        </p:nvSpPr>
        <p:spPr>
          <a:xfrm>
            <a:off x="3342132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400" dirty="0"/>
          </a:p>
        </p:txBody>
      </p:sp>
      <p:sp>
        <p:nvSpPr>
          <p:cNvPr id="19" name="S08-label113"/>
          <p:cNvSpPr txBox="1"/>
          <p:nvPr/>
        </p:nvSpPr>
        <p:spPr>
          <a:xfrm>
            <a:off x="3241548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0" name="S08-tile114"/>
          <p:cNvSpPr txBox="1"/>
          <p:nvPr/>
        </p:nvSpPr>
        <p:spPr>
          <a:xfrm>
            <a:off x="4322318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21" name="S08-label115"/>
          <p:cNvSpPr txBox="1"/>
          <p:nvPr/>
        </p:nvSpPr>
        <p:spPr>
          <a:xfrm>
            <a:off x="4221734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graphicFrame>
        <p:nvGraphicFramePr>
          <p:cNvPr id="9" name="S08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820162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빠짐없이 세요</a:t>
            </a:r>
            <a:endParaRPr lang="ko-KR" sz="4400" dirty="0"/>
          </a:p>
        </p:txBody>
      </p:sp>
      <p:sp>
        <p:nvSpPr>
          <p:cNvPr id="3" name="S09-text11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것과 안 한 것을 세어요.</a:t>
            </a:r>
            <a:endParaRPr lang="ko-KR" sz="3200" dirty="0"/>
          </a:p>
        </p:txBody>
      </p:sp>
      <p:graphicFrame>
        <p:nvGraphicFramePr>
          <p:cNvPr id="10" name="S09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88366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색칠한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119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120"/>
          <p:cNvSpPr txBox="1"/>
          <p:nvPr/>
        </p:nvSpPr>
        <p:spPr>
          <a:xfrm>
            <a:off x="1325880" y="3424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✓ 표시하며 세요.</a:t>
            </a:r>
            <a:endParaRPr lang="ko-KR" sz="3200" dirty="0"/>
          </a:p>
        </p:txBody>
      </p:sp>
      <p:sp>
        <p:nvSpPr>
          <p:cNvPr id="7" name="S09-stepno121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122"/>
          <p:cNvSpPr txBox="1"/>
          <p:nvPr/>
        </p:nvSpPr>
        <p:spPr>
          <a:xfrm>
            <a:off x="1325880" y="41376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세지 않은 것이 없는지 봐요.</a:t>
            </a:r>
            <a:endParaRPr lang="ko-KR" sz="3200" dirty="0"/>
          </a:p>
        </p:txBody>
      </p:sp>
      <p:sp>
        <p:nvSpPr>
          <p:cNvPr id="9" name="S09-stepno123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124"/>
          <p:cNvSpPr txBox="1"/>
          <p:nvPr/>
        </p:nvSpPr>
        <p:spPr>
          <a:xfrm>
            <a:off x="1325880" y="48508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합계가 전체와 같은지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세어요</a:t>
            </a:r>
            <a:endParaRPr lang="ko-KR" sz="4400" dirty="0"/>
          </a:p>
        </p:txBody>
      </p:sp>
      <p:sp>
        <p:nvSpPr>
          <p:cNvPr id="3" name="S10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종류별로 세어 표를 채워요.</a:t>
            </a:r>
            <a:endParaRPr lang="ko-KR" sz="3200" dirty="0"/>
          </a:p>
        </p:txBody>
      </p:sp>
      <p:sp>
        <p:nvSpPr>
          <p:cNvPr id="4" name="S10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과일은 무엇일까요?</a:t>
            </a:r>
            <a:endParaRPr lang="ko-KR" sz="3200" dirty="0"/>
          </a:p>
        </p:txBody>
      </p:sp>
      <p:sp>
        <p:nvSpPr>
          <p:cNvPr id="6" name="S10-word128"/>
          <p:cNvSpPr txBox="1"/>
          <p:nvPr/>
        </p:nvSpPr>
        <p:spPr>
          <a:xfrm>
            <a:off x="548640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7" name="S10-word129"/>
          <p:cNvSpPr txBox="1"/>
          <p:nvPr/>
        </p:nvSpPr>
        <p:spPr>
          <a:xfrm>
            <a:off x="2435352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8" name="S10-word130"/>
          <p:cNvSpPr txBox="1"/>
          <p:nvPr/>
        </p:nvSpPr>
        <p:spPr>
          <a:xfrm>
            <a:off x="4322064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9" name="S10-word131"/>
          <p:cNvSpPr txBox="1"/>
          <p:nvPr/>
        </p:nvSpPr>
        <p:spPr>
          <a:xfrm>
            <a:off x="548640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0" name="S10-word132"/>
          <p:cNvSpPr txBox="1"/>
          <p:nvPr/>
        </p:nvSpPr>
        <p:spPr>
          <a:xfrm>
            <a:off x="2435352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1" name="S10-word133"/>
          <p:cNvSpPr txBox="1"/>
          <p:nvPr/>
        </p:nvSpPr>
        <p:spPr>
          <a:xfrm>
            <a:off x="4322064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2" name="S10-word134"/>
          <p:cNvSpPr txBox="1"/>
          <p:nvPr/>
        </p:nvSpPr>
        <p:spPr>
          <a:xfrm>
            <a:off x="548640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3" name="S10-word135"/>
          <p:cNvSpPr txBox="1"/>
          <p:nvPr/>
        </p:nvSpPr>
        <p:spPr>
          <a:xfrm>
            <a:off x="2435352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4" name="S10-word136"/>
          <p:cNvSpPr txBox="1"/>
          <p:nvPr/>
        </p:nvSpPr>
        <p:spPr>
          <a:xfrm>
            <a:off x="4322064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graphicFrame>
        <p:nvGraphicFramePr>
          <p:cNvPr id="11" name="S10-table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셌을까요?</a:t>
            </a:r>
            <a:endParaRPr lang="ko-KR" sz="4400" dirty="0"/>
          </a:p>
        </p:txBody>
      </p:sp>
      <p:sp>
        <p:nvSpPr>
          <p:cNvPr id="3" name="S11-card1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S08의 카드 8장을 모양별로 세었어요.</a:t>
            </a:r>
            <a:endParaRPr lang="ko-KR" sz="3200" dirty="0"/>
          </a:p>
        </p:txBody>
      </p:sp>
      <p:sp>
        <p:nvSpPr>
          <p:cNvPr id="5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카드는 8장이에요. 누가 잘못 셌을까요?</a:t>
            </a:r>
            <a:endParaRPr lang="ko-KR" sz="3200" dirty="0"/>
          </a:p>
        </p:txBody>
      </p:sp>
      <p:sp>
        <p:nvSpPr>
          <p:cNvPr id="7" name="S11-chip1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graphicFrame>
        <p:nvGraphicFramePr>
          <p:cNvPr id="12" name="S11-table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09340"/>
          <a:ext cx="5362956" cy="914400"/>
        </p:xfrm>
        <a:graphic>
          <a:graphicData uri="http://schemas.openxmlformats.org/drawingml/2006/table">
            <a:tbl>
              <a:tblPr/>
              <a:tblGrid>
                <a:gridCol w="1340739"/>
                <a:gridCol w="1340739"/>
                <a:gridCol w="1340739"/>
                <a:gridCol w="1340739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1-chip1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graphicFrame>
        <p:nvGraphicFramePr>
          <p:cNvPr id="23" name="S11-table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609340"/>
          <a:ext cx="5362956" cy="914400"/>
        </p:xfrm>
        <a:graphic>
          <a:graphicData uri="http://schemas.openxmlformats.org/drawingml/2006/table">
            <a:tbl>
              <a:tblPr/>
              <a:tblGrid>
                <a:gridCol w="1340739"/>
                <a:gridCol w="1340739"/>
                <a:gridCol w="1340739"/>
                <a:gridCol w="1340739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표를 채우고, 가장 많은 것을 말해요.</a:t>
            </a:r>
            <a:endParaRPr lang="ko-KR" sz="3200" dirty="0"/>
          </a:p>
        </p:txBody>
      </p:sp>
      <p:sp>
        <p:nvSpPr>
          <p:cNvPr id="4" name="S12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색칠했는지로도 나누어 세어요.</a:t>
            </a:r>
            <a:endParaRPr lang="ko-KR" sz="3200" dirty="0"/>
          </a:p>
        </p:txBody>
      </p:sp>
      <p:sp>
        <p:nvSpPr>
          <p:cNvPr id="6" name="S12-tile149"/>
          <p:cNvSpPr txBox="1"/>
          <p:nvPr/>
        </p:nvSpPr>
        <p:spPr>
          <a:xfrm>
            <a:off x="548640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7" name="S12-label150"/>
          <p:cNvSpPr txBox="1"/>
          <p:nvPr/>
        </p:nvSpPr>
        <p:spPr>
          <a:xfrm>
            <a:off x="448056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ile151"/>
          <p:cNvSpPr txBox="1"/>
          <p:nvPr/>
        </p:nvSpPr>
        <p:spPr>
          <a:xfrm>
            <a:off x="1666037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4000" dirty="0"/>
          </a:p>
        </p:txBody>
      </p:sp>
      <p:sp>
        <p:nvSpPr>
          <p:cNvPr id="9" name="S12-label152"/>
          <p:cNvSpPr txBox="1"/>
          <p:nvPr/>
        </p:nvSpPr>
        <p:spPr>
          <a:xfrm>
            <a:off x="1565453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ile153"/>
          <p:cNvSpPr txBox="1"/>
          <p:nvPr/>
        </p:nvSpPr>
        <p:spPr>
          <a:xfrm>
            <a:off x="2783434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11" name="S12-label154"/>
          <p:cNvSpPr txBox="1"/>
          <p:nvPr/>
        </p:nvSpPr>
        <p:spPr>
          <a:xfrm>
            <a:off x="2682850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ile155"/>
          <p:cNvSpPr txBox="1"/>
          <p:nvPr/>
        </p:nvSpPr>
        <p:spPr>
          <a:xfrm>
            <a:off x="3900830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000" dirty="0"/>
          </a:p>
        </p:txBody>
      </p:sp>
      <p:sp>
        <p:nvSpPr>
          <p:cNvPr id="13" name="S12-label156"/>
          <p:cNvSpPr txBox="1"/>
          <p:nvPr/>
        </p:nvSpPr>
        <p:spPr>
          <a:xfrm>
            <a:off x="3800246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2-tile157"/>
          <p:cNvSpPr txBox="1"/>
          <p:nvPr/>
        </p:nvSpPr>
        <p:spPr>
          <a:xfrm>
            <a:off x="5018227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4000" dirty="0"/>
          </a:p>
        </p:txBody>
      </p:sp>
      <p:sp>
        <p:nvSpPr>
          <p:cNvPr id="15" name="S12-label158"/>
          <p:cNvSpPr txBox="1"/>
          <p:nvPr/>
        </p:nvSpPr>
        <p:spPr>
          <a:xfrm>
            <a:off x="4917643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6" name="S12-tile159"/>
          <p:cNvSpPr txBox="1"/>
          <p:nvPr/>
        </p:nvSpPr>
        <p:spPr>
          <a:xfrm>
            <a:off x="1107338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000" dirty="0"/>
          </a:p>
        </p:txBody>
      </p:sp>
      <p:sp>
        <p:nvSpPr>
          <p:cNvPr id="17" name="S12-label160"/>
          <p:cNvSpPr txBox="1"/>
          <p:nvPr/>
        </p:nvSpPr>
        <p:spPr>
          <a:xfrm>
            <a:off x="1006754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8" name="S12-tile161"/>
          <p:cNvSpPr txBox="1"/>
          <p:nvPr/>
        </p:nvSpPr>
        <p:spPr>
          <a:xfrm>
            <a:off x="2224735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19" name="S12-label162"/>
          <p:cNvSpPr txBox="1"/>
          <p:nvPr/>
        </p:nvSpPr>
        <p:spPr>
          <a:xfrm>
            <a:off x="2124151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0" name="S12-tile163"/>
          <p:cNvSpPr txBox="1"/>
          <p:nvPr/>
        </p:nvSpPr>
        <p:spPr>
          <a:xfrm>
            <a:off x="3342132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4000" dirty="0"/>
          </a:p>
        </p:txBody>
      </p:sp>
      <p:sp>
        <p:nvSpPr>
          <p:cNvPr id="21" name="S12-label164"/>
          <p:cNvSpPr txBox="1"/>
          <p:nvPr/>
        </p:nvSpPr>
        <p:spPr>
          <a:xfrm>
            <a:off x="3241548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2" name="S12-tile165"/>
          <p:cNvSpPr txBox="1"/>
          <p:nvPr/>
        </p:nvSpPr>
        <p:spPr>
          <a:xfrm>
            <a:off x="4459529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4000" dirty="0"/>
          </a:p>
        </p:txBody>
      </p:sp>
      <p:sp>
        <p:nvSpPr>
          <p:cNvPr id="23" name="S12-label166"/>
          <p:cNvSpPr txBox="1"/>
          <p:nvPr/>
        </p:nvSpPr>
        <p:spPr>
          <a:xfrm>
            <a:off x="4358945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graphicFrame>
        <p:nvGraphicFramePr>
          <p:cNvPr id="13" name="S12-table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37840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칸은 카드에 ✓ 표시를 하며 다시 세어 보게 하세요.</a:t>
            </a:r>
            <a:endParaRPr lang="ko-KR" sz="3200" dirty="0"/>
          </a:p>
        </p:txBody>
      </p:sp>
      <p:sp>
        <p:nvSpPr>
          <p:cNvPr id="5" name="S13-chip1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17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5, 2, 합계 9</a:t>
            </a:r>
            <a:endParaRPr lang="ko-KR" sz="2600" dirty="0"/>
          </a:p>
        </p:txBody>
      </p:sp>
      <p:sp>
        <p:nvSpPr>
          <p:cNvPr id="7" name="S13-text17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동그라미, 세모, 네모</a:t>
            </a:r>
            <a:endParaRPr lang="ko-KR" sz="2600" dirty="0"/>
          </a:p>
        </p:txBody>
      </p:sp>
      <p:sp>
        <p:nvSpPr>
          <p:cNvPr id="8" name="S13-text17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것: 세모</a:t>
            </a:r>
            <a:endParaRPr lang="ko-KR" sz="2600" dirty="0"/>
          </a:p>
        </p:txBody>
      </p:sp>
      <p:sp>
        <p:nvSpPr>
          <p:cNvPr id="9" name="S13-text17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</a:t>
            </a:r>
            <a:endParaRPr lang="ko-KR" sz="2600" dirty="0"/>
          </a:p>
        </p:txBody>
      </p:sp>
      <p:sp>
        <p:nvSpPr>
          <p:cNvPr id="10" name="S13-text17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 5, 안 함 4</a:t>
            </a:r>
            <a:endParaRPr lang="ko-KR" sz="2600" dirty="0"/>
          </a:p>
        </p:txBody>
      </p:sp>
      <p:sp>
        <p:nvSpPr>
          <p:cNvPr id="11" name="S13-text17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9</a:t>
            </a:r>
            <a:endParaRPr lang="ko-KR" sz="2600" dirty="0"/>
          </a:p>
        </p:txBody>
      </p:sp>
      <p:sp>
        <p:nvSpPr>
          <p:cNvPr id="12" name="S13-chip1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17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3개</a:t>
            </a:r>
            <a:endParaRPr lang="ko-KR" sz="3200" dirty="0"/>
          </a:p>
        </p:txBody>
      </p:sp>
      <p:sp>
        <p:nvSpPr>
          <p:cNvPr id="14" name="S13-text17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세모만 셈</a:t>
            </a:r>
            <a:endParaRPr lang="ko-KR" sz="2600" dirty="0"/>
          </a:p>
        </p:txBody>
      </p:sp>
      <p:sp>
        <p:nvSpPr>
          <p:cNvPr id="15" name="S13-text18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10</a:t>
            </a:r>
            <a:endParaRPr lang="ko-KR" sz="3200" dirty="0"/>
          </a:p>
        </p:txBody>
      </p:sp>
      <p:sp>
        <p:nvSpPr>
          <p:cNvPr id="16" name="S13-text18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기준일까요?</a:t>
            </a:r>
            <a:endParaRPr lang="ko-KR" sz="4400" dirty="0"/>
          </a:p>
        </p:txBody>
      </p:sp>
      <p:sp>
        <p:nvSpPr>
          <p:cNvPr id="3" name="S14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무리로 나누었어요.</a:t>
            </a:r>
            <a:endParaRPr lang="ko-KR" sz="3200" dirty="0"/>
          </a:p>
        </p:txBody>
      </p:sp>
      <p:sp>
        <p:nvSpPr>
          <p:cNvPr id="4" name="S14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나누었는지 말해 보세요.</a:t>
            </a:r>
            <a:endParaRPr lang="ko-KR" sz="3200" dirty="0"/>
          </a:p>
        </p:txBody>
      </p:sp>
      <p:sp>
        <p:nvSpPr>
          <p:cNvPr id="6" name="S14-tile185"/>
          <p:cNvSpPr txBox="1"/>
          <p:nvPr/>
        </p:nvSpPr>
        <p:spPr>
          <a:xfrm>
            <a:off x="548640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7" name="S14-tile186"/>
          <p:cNvSpPr txBox="1"/>
          <p:nvPr/>
        </p:nvSpPr>
        <p:spPr>
          <a:xfrm>
            <a:off x="1945386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8" name="S14-tile187"/>
          <p:cNvSpPr txBox="1"/>
          <p:nvPr/>
        </p:nvSpPr>
        <p:spPr>
          <a:xfrm>
            <a:off x="3342132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200" dirty="0"/>
          </a:p>
        </p:txBody>
      </p:sp>
      <p:sp>
        <p:nvSpPr>
          <p:cNvPr id="9" name="S14-tile188"/>
          <p:cNvSpPr txBox="1"/>
          <p:nvPr/>
        </p:nvSpPr>
        <p:spPr>
          <a:xfrm>
            <a:off x="4738878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0" name="S14-label189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무리</a:t>
            </a:r>
            <a:endParaRPr lang="ko-KR" sz="2600" dirty="0"/>
          </a:p>
        </p:txBody>
      </p:sp>
      <p:sp>
        <p:nvSpPr>
          <p:cNvPr id="11" name="S14-tile190"/>
          <p:cNvSpPr txBox="1"/>
          <p:nvPr/>
        </p:nvSpPr>
        <p:spPr>
          <a:xfrm>
            <a:off x="6688836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5900" dirty="0"/>
          </a:p>
        </p:txBody>
      </p:sp>
      <p:sp>
        <p:nvSpPr>
          <p:cNvPr id="12" name="S14-tile191"/>
          <p:cNvSpPr txBox="1"/>
          <p:nvPr/>
        </p:nvSpPr>
        <p:spPr>
          <a:xfrm>
            <a:off x="8261604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5900" dirty="0"/>
          </a:p>
        </p:txBody>
      </p:sp>
      <p:sp>
        <p:nvSpPr>
          <p:cNvPr id="13" name="S14-tile192"/>
          <p:cNvSpPr txBox="1"/>
          <p:nvPr/>
        </p:nvSpPr>
        <p:spPr>
          <a:xfrm>
            <a:off x="9834372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5900" dirty="0"/>
          </a:p>
        </p:txBody>
      </p:sp>
      <p:sp>
        <p:nvSpPr>
          <p:cNvPr id="14" name="S14-label193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무리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같은 기준으로 나누고, 빠짐없이 세어요.</a:t>
            </a:r>
            <a:endParaRPr lang="ko-KR" sz="3200" dirty="0"/>
          </a:p>
        </p:txBody>
      </p:sp>
      <p:sp>
        <p:nvSpPr>
          <p:cNvPr id="5" name="S15-chip19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합계와 전체 비교하기</a:t>
            </a:r>
            <a:endParaRPr lang="ko-KR" sz="2600" dirty="0"/>
          </a:p>
        </p:txBody>
      </p:sp>
      <p:sp>
        <p:nvSpPr>
          <p:cNvPr id="6" name="S15-chip19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‘예쁜 것’으로 나누기</a:t>
            </a:r>
            <a:endParaRPr lang="ko-KR" sz="2600" dirty="0"/>
          </a:p>
        </p:txBody>
      </p:sp>
      <p:sp>
        <p:nvSpPr>
          <p:cNvPr id="7" name="S15-text19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9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‘맛있는 것’은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될까요?</a:t>
            </a:r>
            <a:endParaRPr lang="ko-KR" sz="2600" dirty="0"/>
          </a:p>
        </p:txBody>
      </p:sp>
      <p:sp>
        <p:nvSpPr>
          <p:cNvPr id="9" name="S15-text20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●▲●■●에서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●는 몇 개?</a:t>
            </a:r>
            <a:endParaRPr lang="ko-KR" sz="2600" dirty="0"/>
          </a:p>
        </p:txBody>
      </p:sp>
      <p:sp>
        <p:nvSpPr>
          <p:cNvPr id="10" name="S15-text20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합계는 무엇과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같아야 할까요?</a:t>
            </a:r>
            <a:endParaRPr lang="ko-KR" sz="2600" dirty="0"/>
          </a:p>
        </p:txBody>
      </p:sp>
      <p:sp>
        <p:nvSpPr>
          <p:cNvPr id="11" name="S15-text2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표와 그래프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</a:t>
            </a:r>
            <a:endParaRPr lang="ko-KR" sz="4400" dirty="0"/>
          </a:p>
        </p:txBody>
      </p:sp>
      <p:sp>
        <p:nvSpPr>
          <p:cNvPr id="3" name="S16-text2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모아서 세어요.</a:t>
            </a:r>
            <a:endParaRPr lang="ko-KR" sz="3200" dirty="0"/>
          </a:p>
        </p:txBody>
      </p:sp>
      <p:sp>
        <p:nvSpPr>
          <p:cNvPr id="4" name="S16-card2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2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동그라미는 하나, 둘, 셋. 3개예요.</a:t>
            </a:r>
            <a:endParaRPr lang="ko-KR" sz="3200" dirty="0"/>
          </a:p>
        </p:txBody>
      </p:sp>
      <p:sp>
        <p:nvSpPr>
          <p:cNvPr id="6" name="S16-tile206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16-tile207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16-tile208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9" name="S16-tile209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10" name="S16-tile210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분류하기</dc:title>
  <dc:subject>KR22-G02-MAT-SORT-L01</dc:subject>
  <dc:creator>education-ppt</dc:creator>
  <cp:lastModifiedBy>education-ppt</cp:lastModifiedBy>
  <cp:revision>1</cp:revision>
  <dcterms:created xsi:type="dcterms:W3CDTF">2026-10-26T07:14:34Z</dcterms:created>
  <dcterms:modified xsi:type="dcterms:W3CDTF">2026-10-26T07:14:34Z</dcterms:modified>
</cp:coreProperties>
</file>