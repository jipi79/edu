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1dcd505-7a01-d0e4-e8da-dc0d9ea14c7d}">
          <p14:sldIdLst>
            <p14:sldId id="256"/>
            <p14:sldId id="257"/>
          </p14:sldIdLst>
        </p14:section>
        <p14:section name="개념" id="{efc6e018-5138-ab3e-c857-2d1952247338}">
          <p14:sldIdLst>
            <p14:sldId id="258"/>
            <p14:sldId id="259"/>
            <p14:sldId id="260"/>
            <p14:sldId id="263"/>
            <p14:sldId id="264"/>
            <p14:sldId id="265"/>
          </p14:sldIdLst>
        </p14:section>
        <p14:section name="연습" id="{048212c6-8949-8504-cdc4-bdfbbb4e9e4c}">
          <p14:sldIdLst>
            <p14:sldId id="261"/>
            <p14:sldId id="262"/>
            <p14:sldId id="266"/>
          </p14:sldIdLst>
        </p14:section>
        <p14:section name="개념" id="{33605f8d-88fb-c676-7e1f-cb38d6165576}">
          <p14:sldIdLst/>
        </p14:section>
        <p14:section name="연습" id="{863e55f7-2f71-7fad-0f7d-9e22e650a9c9}">
          <p14:sldIdLst/>
        </p14:section>
        <p14:section name="확인" id="{11397655-87de-1411-ad11-ef604aeb4a6e}">
          <p14:sldIdLst>
            <p14:sldId id="267"/>
            <p14:sldId id="268"/>
          </p14:sldIdLst>
        </p14:section>
        <p14:section name="정리" id="{65c9144c-1c1b-4fa5-d7cd-051078c0726e}">
          <p14:sldIdLst>
            <p14:sldId id="269"/>
          </p14:sldIdLst>
        </p14:section>
        <p14:section name="보충" id="{7f5d2b84-8784-ae3f-b869-0a5af50ef54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자료와규칙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무늬와 수의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무늬와 수의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무늬와 수의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무늬와 수의 규칙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다음에는 무엇이 올까?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768096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700" dirty="0"/>
          </a:p>
        </p:txBody>
      </p:sp>
      <p:sp>
        <p:nvSpPr>
          <p:cNvPr id="5" name="S01-tile2"/>
          <p:cNvSpPr txBox="1"/>
          <p:nvPr/>
        </p:nvSpPr>
        <p:spPr>
          <a:xfrm>
            <a:off x="8507578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700" dirty="0"/>
          </a:p>
        </p:txBody>
      </p:sp>
      <p:sp>
        <p:nvSpPr>
          <p:cNvPr id="6" name="S01-tile3"/>
          <p:cNvSpPr txBox="1"/>
          <p:nvPr/>
        </p:nvSpPr>
        <p:spPr>
          <a:xfrm>
            <a:off x="9334195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700" dirty="0"/>
          </a:p>
        </p:txBody>
      </p:sp>
      <p:sp>
        <p:nvSpPr>
          <p:cNvPr id="7" name="S01-tile4"/>
          <p:cNvSpPr txBox="1"/>
          <p:nvPr/>
        </p:nvSpPr>
        <p:spPr>
          <a:xfrm>
            <a:off x="10160813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700" dirty="0"/>
          </a:p>
        </p:txBody>
      </p:sp>
      <p:sp>
        <p:nvSpPr>
          <p:cNvPr id="8" name="S01-tile5"/>
          <p:cNvSpPr txBox="1"/>
          <p:nvPr/>
        </p:nvSpPr>
        <p:spPr>
          <a:xfrm>
            <a:off x="1098743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700" dirty="0"/>
          </a:p>
        </p:txBody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무늬와 쌓은 모양에서 규칙을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덧셈표와 곱셈표에서 규칙을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4, 6, □, 10</a:t>
            </a:r>
            <a:endParaRPr lang="ko-KR" sz="36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35, 40, 45, □</a:t>
            </a:r>
            <a:endParaRPr lang="ko-KR" sz="36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무늬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되풀이되는지 찾아요.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찾으면 다음을 알 수 있어요.</a:t>
            </a:r>
            <a:endParaRPr lang="ko-KR" sz="3200" dirty="0"/>
          </a:p>
        </p:txBody>
      </p:sp>
      <p:sp>
        <p:nvSpPr>
          <p:cNvPr id="6" name="S03-card17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8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●, ▲, ▲가 되풀이돼요.</a:t>
            </a:r>
            <a:endParaRPr lang="ko-KR" sz="3200" dirty="0"/>
          </a:p>
        </p:txBody>
      </p:sp>
      <p:sp>
        <p:nvSpPr>
          <p:cNvPr id="8" name="S03-card19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20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다음에 또 ●가 와요.</a:t>
            </a:r>
            <a:endParaRPr lang="ko-KR" sz="3200" dirty="0"/>
          </a:p>
        </p:txBody>
      </p:sp>
      <p:sp>
        <p:nvSpPr>
          <p:cNvPr id="10" name="S03-tile21"/>
          <p:cNvSpPr txBox="1"/>
          <p:nvPr/>
        </p:nvSpPr>
        <p:spPr>
          <a:xfrm>
            <a:off x="54864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600" dirty="0"/>
          </a:p>
        </p:txBody>
      </p:sp>
      <p:sp>
        <p:nvSpPr>
          <p:cNvPr id="11" name="S03-tile22"/>
          <p:cNvSpPr txBox="1"/>
          <p:nvPr/>
        </p:nvSpPr>
        <p:spPr>
          <a:xfrm>
            <a:off x="180340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12" name="S03-tile23"/>
          <p:cNvSpPr txBox="1"/>
          <p:nvPr/>
        </p:nvSpPr>
        <p:spPr>
          <a:xfrm>
            <a:off x="305816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13" name="S03-tile24"/>
          <p:cNvSpPr txBox="1"/>
          <p:nvPr/>
        </p:nvSpPr>
        <p:spPr>
          <a:xfrm>
            <a:off x="431292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600" dirty="0"/>
          </a:p>
        </p:txBody>
      </p:sp>
      <p:sp>
        <p:nvSpPr>
          <p:cNvPr id="14" name="S03-tile25"/>
          <p:cNvSpPr txBox="1"/>
          <p:nvPr/>
        </p:nvSpPr>
        <p:spPr>
          <a:xfrm>
            <a:off x="556768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15" name="S03-tile26"/>
          <p:cNvSpPr txBox="1"/>
          <p:nvPr/>
        </p:nvSpPr>
        <p:spPr>
          <a:xfrm>
            <a:off x="682244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16" name="S03-tile27"/>
          <p:cNvSpPr txBox="1"/>
          <p:nvPr/>
        </p:nvSpPr>
        <p:spPr>
          <a:xfrm>
            <a:off x="807720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600" dirty="0"/>
          </a:p>
        </p:txBody>
      </p:sp>
      <p:sp>
        <p:nvSpPr>
          <p:cNvPr id="17" name="S03-tile28"/>
          <p:cNvSpPr txBox="1"/>
          <p:nvPr/>
        </p:nvSpPr>
        <p:spPr>
          <a:xfrm>
            <a:off x="933196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18" name="S03-tile29"/>
          <p:cNvSpPr txBox="1"/>
          <p:nvPr/>
        </p:nvSpPr>
        <p:spPr>
          <a:xfrm>
            <a:off x="1058672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 무늬의 규칙</a:t>
            </a:r>
            <a:endParaRPr lang="ko-KR" sz="4400" dirty="0"/>
          </a:p>
        </p:txBody>
      </p:sp>
      <p:sp>
        <p:nvSpPr>
          <p:cNvPr id="3" name="S04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줄마다 색칠한 칸을 봐요.</a:t>
            </a:r>
            <a:endParaRPr lang="ko-KR" sz="3200" dirty="0"/>
          </a:p>
        </p:txBody>
      </p:sp>
      <p:sp>
        <p:nvSpPr>
          <p:cNvPr id="4" name="S04-card31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32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윗줄: 색칠, 안 함이 번갈아요.</a:t>
            </a:r>
            <a:endParaRPr lang="ko-KR" sz="3200" dirty="0"/>
          </a:p>
        </p:txBody>
      </p:sp>
      <p:sp>
        <p:nvSpPr>
          <p:cNvPr id="6" name="S04-card33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4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아랫줄은 윗줄과 반대예요.</a:t>
            </a:r>
            <a:endParaRPr lang="ko-KR" sz="3200" dirty="0"/>
          </a:p>
        </p:txBody>
      </p:sp>
      <p:sp>
        <p:nvSpPr>
          <p:cNvPr id="8" name="S04-cell35"/>
          <p:cNvSpPr/>
          <p:nvPr/>
        </p:nvSpPr>
        <p:spPr>
          <a:xfrm>
            <a:off x="207111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cell36"/>
          <p:cNvSpPr/>
          <p:nvPr/>
        </p:nvSpPr>
        <p:spPr>
          <a:xfrm>
            <a:off x="3076956" y="233426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37"/>
          <p:cNvSpPr/>
          <p:nvPr/>
        </p:nvSpPr>
        <p:spPr>
          <a:xfrm>
            <a:off x="408279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38"/>
          <p:cNvSpPr/>
          <p:nvPr/>
        </p:nvSpPr>
        <p:spPr>
          <a:xfrm>
            <a:off x="5088636" y="233426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39"/>
          <p:cNvSpPr/>
          <p:nvPr/>
        </p:nvSpPr>
        <p:spPr>
          <a:xfrm>
            <a:off x="609447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40"/>
          <p:cNvSpPr/>
          <p:nvPr/>
        </p:nvSpPr>
        <p:spPr>
          <a:xfrm>
            <a:off x="7100316" y="233426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cell41"/>
          <p:cNvSpPr/>
          <p:nvPr/>
        </p:nvSpPr>
        <p:spPr>
          <a:xfrm>
            <a:off x="810615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42"/>
          <p:cNvSpPr/>
          <p:nvPr/>
        </p:nvSpPr>
        <p:spPr>
          <a:xfrm>
            <a:off x="9111996" y="233426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43"/>
          <p:cNvSpPr/>
          <p:nvPr/>
        </p:nvSpPr>
        <p:spPr>
          <a:xfrm>
            <a:off x="207111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44"/>
          <p:cNvSpPr/>
          <p:nvPr/>
        </p:nvSpPr>
        <p:spPr>
          <a:xfrm>
            <a:off x="307695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45"/>
          <p:cNvSpPr/>
          <p:nvPr/>
        </p:nvSpPr>
        <p:spPr>
          <a:xfrm>
            <a:off x="408279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46"/>
          <p:cNvSpPr/>
          <p:nvPr/>
        </p:nvSpPr>
        <p:spPr>
          <a:xfrm>
            <a:off x="508863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47"/>
          <p:cNvSpPr/>
          <p:nvPr/>
        </p:nvSpPr>
        <p:spPr>
          <a:xfrm>
            <a:off x="609447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48"/>
          <p:cNvSpPr/>
          <p:nvPr/>
        </p:nvSpPr>
        <p:spPr>
          <a:xfrm>
            <a:off x="710031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49"/>
          <p:cNvSpPr/>
          <p:nvPr/>
        </p:nvSpPr>
        <p:spPr>
          <a:xfrm>
            <a:off x="810615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cell50"/>
          <p:cNvSpPr/>
          <p:nvPr/>
        </p:nvSpPr>
        <p:spPr>
          <a:xfrm>
            <a:off x="911199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4-figure51" descr="두 줄 무늬: 윗줄은 색칠한 칸과 안 한 칸이 번갈아, 아랫줄은 윗줄과 반대. 색칠한 칸 8개"/>
          <p:cNvSpPr/>
          <p:nvPr/>
        </p:nvSpPr>
        <p:spPr>
          <a:xfrm>
            <a:off x="2071116" y="2334260"/>
            <a:ext cx="80467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쌓은 모양의 규칙</a:t>
            </a:r>
            <a:endParaRPr lang="ko-KR" sz="4400" dirty="0"/>
          </a:p>
        </p:txBody>
      </p:sp>
      <p:sp>
        <p:nvSpPr>
          <p:cNvPr id="3" name="S05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쌓은 모양을 앞에서 봤어요.</a:t>
            </a:r>
            <a:endParaRPr lang="ko-KR" sz="3200" dirty="0"/>
          </a:p>
        </p:txBody>
      </p:sp>
      <p:sp>
        <p:nvSpPr>
          <p:cNvPr id="4" name="S05-card5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 → 3개 → 5개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 1개, 오른쪽에 1개, 2개씩 늘어나요.</a:t>
            </a:r>
            <a:endParaRPr lang="ko-KR" sz="3200" dirty="0"/>
          </a:p>
        </p:txBody>
      </p:sp>
      <p:sp>
        <p:nvSpPr>
          <p:cNvPr id="6" name="S05-cell55"/>
          <p:cNvSpPr/>
          <p:nvPr/>
        </p:nvSpPr>
        <p:spPr>
          <a:xfrm>
            <a:off x="1536192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56"/>
          <p:cNvSpPr/>
          <p:nvPr/>
        </p:nvSpPr>
        <p:spPr>
          <a:xfrm>
            <a:off x="2039112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57"/>
          <p:cNvSpPr/>
          <p:nvPr/>
        </p:nvSpPr>
        <p:spPr>
          <a:xfrm>
            <a:off x="2542032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58"/>
          <p:cNvSpPr/>
          <p:nvPr/>
        </p:nvSpPr>
        <p:spPr>
          <a:xfrm>
            <a:off x="1536192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ell59"/>
          <p:cNvSpPr/>
          <p:nvPr/>
        </p:nvSpPr>
        <p:spPr>
          <a:xfrm>
            <a:off x="2039112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60"/>
          <p:cNvSpPr/>
          <p:nvPr/>
        </p:nvSpPr>
        <p:spPr>
          <a:xfrm>
            <a:off x="2542032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61"/>
          <p:cNvSpPr/>
          <p:nvPr/>
        </p:nvSpPr>
        <p:spPr>
          <a:xfrm>
            <a:off x="1536192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62"/>
          <p:cNvSpPr/>
          <p:nvPr/>
        </p:nvSpPr>
        <p:spPr>
          <a:xfrm>
            <a:off x="2039112" y="334048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63"/>
          <p:cNvSpPr/>
          <p:nvPr/>
        </p:nvSpPr>
        <p:spPr>
          <a:xfrm>
            <a:off x="2542032" y="334048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figure64" descr="한 줄로 쌓은 모양(앞에서 봄): 1층 1개, 맨 왼쪽 위로 0개, 모두 1개"/>
          <p:cNvSpPr/>
          <p:nvPr/>
        </p:nvSpPr>
        <p:spPr>
          <a:xfrm>
            <a:off x="1536192" y="2334641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5-label65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</a:t>
            </a:r>
            <a:endParaRPr lang="ko-KR" sz="2600" dirty="0"/>
          </a:p>
        </p:txBody>
      </p:sp>
      <p:sp>
        <p:nvSpPr>
          <p:cNvPr id="17" name="S05-cell66"/>
          <p:cNvSpPr/>
          <p:nvPr/>
        </p:nvSpPr>
        <p:spPr>
          <a:xfrm>
            <a:off x="5340096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67"/>
          <p:cNvSpPr/>
          <p:nvPr/>
        </p:nvSpPr>
        <p:spPr>
          <a:xfrm>
            <a:off x="5843016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68"/>
          <p:cNvSpPr/>
          <p:nvPr/>
        </p:nvSpPr>
        <p:spPr>
          <a:xfrm>
            <a:off x="6345936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cell69"/>
          <p:cNvSpPr/>
          <p:nvPr/>
        </p:nvSpPr>
        <p:spPr>
          <a:xfrm>
            <a:off x="5340096" y="283756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cell70"/>
          <p:cNvSpPr/>
          <p:nvPr/>
        </p:nvSpPr>
        <p:spPr>
          <a:xfrm>
            <a:off x="5843016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cell71"/>
          <p:cNvSpPr/>
          <p:nvPr/>
        </p:nvSpPr>
        <p:spPr>
          <a:xfrm>
            <a:off x="6345936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5-cell72"/>
          <p:cNvSpPr/>
          <p:nvPr/>
        </p:nvSpPr>
        <p:spPr>
          <a:xfrm>
            <a:off x="5340096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5-cell73"/>
          <p:cNvSpPr/>
          <p:nvPr/>
        </p:nvSpPr>
        <p:spPr>
          <a:xfrm>
            <a:off x="5843016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cell74"/>
          <p:cNvSpPr/>
          <p:nvPr/>
        </p:nvSpPr>
        <p:spPr>
          <a:xfrm>
            <a:off x="6345936" y="334048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5-figure75" descr="한 줄로 쌓은 모양(앞에서 봄): 1층 2개, 맨 왼쪽 위로 1개, 모두 3개"/>
          <p:cNvSpPr/>
          <p:nvPr/>
        </p:nvSpPr>
        <p:spPr>
          <a:xfrm>
            <a:off x="5340096" y="2334641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5-label76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</a:t>
            </a:r>
            <a:endParaRPr lang="ko-KR" sz="2600" dirty="0"/>
          </a:p>
        </p:txBody>
      </p:sp>
      <p:sp>
        <p:nvSpPr>
          <p:cNvPr id="28" name="S05-cell77"/>
          <p:cNvSpPr/>
          <p:nvPr/>
        </p:nvSpPr>
        <p:spPr>
          <a:xfrm>
            <a:off x="9144000" y="233464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5-cell78"/>
          <p:cNvSpPr/>
          <p:nvPr/>
        </p:nvSpPr>
        <p:spPr>
          <a:xfrm>
            <a:off x="9646920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cell79"/>
          <p:cNvSpPr/>
          <p:nvPr/>
        </p:nvSpPr>
        <p:spPr>
          <a:xfrm>
            <a:off x="10149840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5-cell80"/>
          <p:cNvSpPr/>
          <p:nvPr/>
        </p:nvSpPr>
        <p:spPr>
          <a:xfrm>
            <a:off x="9144000" y="283756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cell81"/>
          <p:cNvSpPr/>
          <p:nvPr/>
        </p:nvSpPr>
        <p:spPr>
          <a:xfrm>
            <a:off x="9646920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5-cell82"/>
          <p:cNvSpPr/>
          <p:nvPr/>
        </p:nvSpPr>
        <p:spPr>
          <a:xfrm>
            <a:off x="10149840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cell83"/>
          <p:cNvSpPr/>
          <p:nvPr/>
        </p:nvSpPr>
        <p:spPr>
          <a:xfrm>
            <a:off x="9144000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5-cell84"/>
          <p:cNvSpPr/>
          <p:nvPr/>
        </p:nvSpPr>
        <p:spPr>
          <a:xfrm>
            <a:off x="9646920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5-cell85"/>
          <p:cNvSpPr/>
          <p:nvPr/>
        </p:nvSpPr>
        <p:spPr>
          <a:xfrm>
            <a:off x="10149840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5-figure86" descr="한 줄로 쌓은 모양(앞에서 봄): 1층 3개, 맨 왼쪽 위로 2개, 모두 5개"/>
          <p:cNvSpPr/>
          <p:nvPr/>
        </p:nvSpPr>
        <p:spPr>
          <a:xfrm>
            <a:off x="9144000" y="2334641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5-label87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올 것은?</a:t>
            </a:r>
            <a:endParaRPr lang="ko-KR" sz="4400" dirty="0"/>
          </a:p>
        </p:txBody>
      </p:sp>
      <p:sp>
        <p:nvSpPr>
          <p:cNvPr id="3" name="S06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묶음을 먼저 찾아요.</a:t>
            </a:r>
            <a:endParaRPr lang="ko-KR" sz="3200" dirty="0"/>
          </a:p>
        </p:txBody>
      </p:sp>
      <p:sp>
        <p:nvSpPr>
          <p:cNvPr id="5" name="S06-chip9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6-tile91"/>
          <p:cNvSpPr txBox="1"/>
          <p:nvPr/>
        </p:nvSpPr>
        <p:spPr>
          <a:xfrm>
            <a:off x="1344168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1500" dirty="0"/>
          </a:p>
        </p:txBody>
      </p:sp>
      <p:sp>
        <p:nvSpPr>
          <p:cNvPr id="7" name="S06-tile92"/>
          <p:cNvSpPr txBox="1"/>
          <p:nvPr/>
        </p:nvSpPr>
        <p:spPr>
          <a:xfrm>
            <a:off x="1895094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8" name="S06-tile93"/>
          <p:cNvSpPr txBox="1"/>
          <p:nvPr/>
        </p:nvSpPr>
        <p:spPr>
          <a:xfrm>
            <a:off x="2446020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9" name="S06-tile94"/>
          <p:cNvSpPr txBox="1"/>
          <p:nvPr/>
        </p:nvSpPr>
        <p:spPr>
          <a:xfrm>
            <a:off x="2996946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1500" dirty="0"/>
          </a:p>
        </p:txBody>
      </p:sp>
      <p:sp>
        <p:nvSpPr>
          <p:cNvPr id="10" name="S06-tile95"/>
          <p:cNvSpPr txBox="1"/>
          <p:nvPr/>
        </p:nvSpPr>
        <p:spPr>
          <a:xfrm>
            <a:off x="3547872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11" name="S06-tile96"/>
          <p:cNvSpPr txBox="1"/>
          <p:nvPr/>
        </p:nvSpPr>
        <p:spPr>
          <a:xfrm>
            <a:off x="4098798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12" name="S06-tile97"/>
          <p:cNvSpPr txBox="1"/>
          <p:nvPr/>
        </p:nvSpPr>
        <p:spPr>
          <a:xfrm>
            <a:off x="4649724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1500" dirty="0"/>
          </a:p>
        </p:txBody>
      </p:sp>
      <p:sp>
        <p:nvSpPr>
          <p:cNvPr id="13" name="S06-tile98"/>
          <p:cNvSpPr txBox="1"/>
          <p:nvPr/>
        </p:nvSpPr>
        <p:spPr>
          <a:xfrm>
            <a:off x="5200650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1500" dirty="0"/>
          </a:p>
        </p:txBody>
      </p:sp>
      <p:sp>
        <p:nvSpPr>
          <p:cNvPr id="14" name="S06-chip9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" name="S06-tile100"/>
          <p:cNvSpPr txBox="1"/>
          <p:nvPr/>
        </p:nvSpPr>
        <p:spPr>
          <a:xfrm>
            <a:off x="7072884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1500" dirty="0"/>
          </a:p>
        </p:txBody>
      </p:sp>
      <p:sp>
        <p:nvSpPr>
          <p:cNvPr id="16" name="S06-tile101"/>
          <p:cNvSpPr txBox="1"/>
          <p:nvPr/>
        </p:nvSpPr>
        <p:spPr>
          <a:xfrm>
            <a:off x="7623810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1500" dirty="0"/>
          </a:p>
        </p:txBody>
      </p:sp>
      <p:sp>
        <p:nvSpPr>
          <p:cNvPr id="17" name="S06-tile102"/>
          <p:cNvSpPr txBox="1"/>
          <p:nvPr/>
        </p:nvSpPr>
        <p:spPr>
          <a:xfrm>
            <a:off x="8174736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18" name="S06-tile103"/>
          <p:cNvSpPr txBox="1"/>
          <p:nvPr/>
        </p:nvSpPr>
        <p:spPr>
          <a:xfrm>
            <a:off x="8725662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1500" dirty="0"/>
          </a:p>
        </p:txBody>
      </p:sp>
      <p:sp>
        <p:nvSpPr>
          <p:cNvPr id="19" name="S06-tile104"/>
          <p:cNvSpPr txBox="1"/>
          <p:nvPr/>
        </p:nvSpPr>
        <p:spPr>
          <a:xfrm>
            <a:off x="9276588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1500" dirty="0"/>
          </a:p>
        </p:txBody>
      </p:sp>
      <p:sp>
        <p:nvSpPr>
          <p:cNvPr id="20" name="S06-tile105"/>
          <p:cNvSpPr txBox="1"/>
          <p:nvPr/>
        </p:nvSpPr>
        <p:spPr>
          <a:xfrm>
            <a:off x="9827514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21" name="S06-tile106"/>
          <p:cNvSpPr txBox="1"/>
          <p:nvPr/>
        </p:nvSpPr>
        <p:spPr>
          <a:xfrm>
            <a:off x="10378440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1500" dirty="0"/>
          </a:p>
        </p:txBody>
      </p:sp>
      <p:sp>
        <p:nvSpPr>
          <p:cNvPr id="22" name="S06-tile107"/>
          <p:cNvSpPr txBox="1"/>
          <p:nvPr/>
        </p:nvSpPr>
        <p:spPr>
          <a:xfrm>
            <a:off x="10929366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1500" dirty="0"/>
          </a:p>
        </p:txBody>
      </p:sp>
      <p:sp>
        <p:nvSpPr>
          <p:cNvPr id="23" name="S06-chip10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4" name="S06-tile109"/>
          <p:cNvSpPr txBox="1"/>
          <p:nvPr/>
        </p:nvSpPr>
        <p:spPr>
          <a:xfrm>
            <a:off x="1344168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300" dirty="0"/>
          </a:p>
        </p:txBody>
      </p:sp>
      <p:sp>
        <p:nvSpPr>
          <p:cNvPr id="25" name="S06-tile110"/>
          <p:cNvSpPr txBox="1"/>
          <p:nvPr/>
        </p:nvSpPr>
        <p:spPr>
          <a:xfrm>
            <a:off x="2078736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2300" dirty="0"/>
          </a:p>
        </p:txBody>
      </p:sp>
      <p:sp>
        <p:nvSpPr>
          <p:cNvPr id="26" name="S06-tile111"/>
          <p:cNvSpPr txBox="1"/>
          <p:nvPr/>
        </p:nvSpPr>
        <p:spPr>
          <a:xfrm>
            <a:off x="2813304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300" dirty="0"/>
          </a:p>
        </p:txBody>
      </p:sp>
      <p:sp>
        <p:nvSpPr>
          <p:cNvPr id="27" name="S06-tile112"/>
          <p:cNvSpPr txBox="1"/>
          <p:nvPr/>
        </p:nvSpPr>
        <p:spPr>
          <a:xfrm>
            <a:off x="3547872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2300" dirty="0"/>
          </a:p>
        </p:txBody>
      </p:sp>
      <p:sp>
        <p:nvSpPr>
          <p:cNvPr id="28" name="S06-tile113"/>
          <p:cNvSpPr txBox="1"/>
          <p:nvPr/>
        </p:nvSpPr>
        <p:spPr>
          <a:xfrm>
            <a:off x="4282440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300" dirty="0"/>
          </a:p>
        </p:txBody>
      </p:sp>
      <p:sp>
        <p:nvSpPr>
          <p:cNvPr id="29" name="S06-tile114"/>
          <p:cNvSpPr txBox="1"/>
          <p:nvPr/>
        </p:nvSpPr>
        <p:spPr>
          <a:xfrm>
            <a:off x="5017008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300" dirty="0"/>
          </a:p>
        </p:txBody>
      </p:sp>
      <p:sp>
        <p:nvSpPr>
          <p:cNvPr id="30" name="S06-chip115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31" name="S06-text116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S05의 넷째 모양은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11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1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■■●■■●■ 다음에 올 모양은?</a:t>
            </a:r>
            <a:endParaRPr lang="ko-KR" sz="3200" dirty="0"/>
          </a:p>
        </p:txBody>
      </p:sp>
      <p:sp>
        <p:nvSpPr>
          <p:cNvPr id="5" name="S07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12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●</a:t>
            </a:r>
            <a:endParaRPr lang="ko-KR" sz="2600" dirty="0"/>
          </a:p>
        </p:txBody>
      </p:sp>
      <p:sp>
        <p:nvSpPr>
          <p:cNvPr id="8" name="S07-text12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다음에는 ●가 와요.</a:t>
            </a:r>
            <a:endParaRPr lang="ko-KR" sz="3200" dirty="0"/>
          </a:p>
        </p:txBody>
      </p:sp>
      <p:sp>
        <p:nvSpPr>
          <p:cNvPr id="9" name="S07-chip1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■</a:t>
            </a:r>
            <a:endParaRPr lang="ko-KR" sz="2600" dirty="0"/>
          </a:p>
        </p:txBody>
      </p:sp>
      <p:sp>
        <p:nvSpPr>
          <p:cNvPr id="10" name="S07-text12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■, ■, ●가 되풀이돼요.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덧셈표의 규칙</a:t>
            </a:r>
            <a:endParaRPr lang="ko-KR" sz="4400" dirty="0"/>
          </a:p>
        </p:txBody>
      </p:sp>
      <p:sp>
        <p:nvSpPr>
          <p:cNvPr id="3" name="S08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줄의 수와 칸의 수를 더한 표예요.</a:t>
            </a:r>
            <a:endParaRPr lang="ko-KR" sz="3200" dirty="0"/>
          </a:p>
        </p:txBody>
      </p:sp>
      <p:sp>
        <p:nvSpPr>
          <p:cNvPr id="4" name="S08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1씩, 아래로 1씩 커져요.</a:t>
            </a:r>
            <a:endParaRPr lang="ko-KR" sz="3200" dirty="0"/>
          </a:p>
        </p:txBody>
      </p:sp>
      <p:graphicFrame>
        <p:nvGraphicFramePr>
          <p:cNvPr id="9" name="S08-table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2103120"/>
          <a:ext cx="9875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비스듬히 보면</a:t>
            </a:r>
            <a:endParaRPr lang="ko-KR" sz="4400" dirty="0"/>
          </a:p>
        </p:txBody>
      </p:sp>
      <p:sp>
        <p:nvSpPr>
          <p:cNvPr id="3" name="S09-card129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30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2, 4, 6, 8, 10: 2씩 커져요.</a:t>
            </a:r>
            <a:endParaRPr lang="ko-KR" sz="3200" dirty="0"/>
          </a:p>
        </p:txBody>
      </p:sp>
      <p:sp>
        <p:nvSpPr>
          <p:cNvPr id="5" name="S09-card131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32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6, 6, 6, 6, 6: 모두 같아요.</a:t>
            </a:r>
            <a:endParaRPr lang="ko-KR" sz="3200" dirty="0"/>
          </a:p>
        </p:txBody>
      </p:sp>
      <p:graphicFrame>
        <p:nvGraphicFramePr>
          <p:cNvPr id="10" name="S09-table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1412240"/>
          <a:ext cx="9875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곱셈표의 규칙</a:t>
            </a:r>
            <a:endParaRPr lang="ko-KR" sz="4400" dirty="0"/>
          </a:p>
        </p:txBody>
      </p:sp>
      <p:sp>
        <p:nvSpPr>
          <p:cNvPr id="3" name="S10-card134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35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3단은 3씩 커져요.</a:t>
            </a:r>
            <a:endParaRPr lang="ko-KR" sz="3200" dirty="0"/>
          </a:p>
        </p:txBody>
      </p:sp>
      <p:sp>
        <p:nvSpPr>
          <p:cNvPr id="5" name="S10-card136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137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4와 4 × 3은 같아요.</a:t>
            </a:r>
            <a:endParaRPr lang="ko-KR" sz="3200" dirty="0"/>
          </a:p>
        </p:txBody>
      </p:sp>
      <p:graphicFrame>
        <p:nvGraphicFramePr>
          <p:cNvPr id="11" name="S10-table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1638300"/>
          <a:ext cx="9875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빈칸을 채워요</a:t>
            </a:r>
            <a:endParaRPr lang="ko-KR" sz="4400" dirty="0"/>
          </a:p>
        </p:txBody>
      </p:sp>
      <p:sp>
        <p:nvSpPr>
          <p:cNvPr id="3" name="S11-text1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 □에 알맞은 수를 말해요.</a:t>
            </a:r>
            <a:endParaRPr lang="ko-KR" sz="3200" dirty="0"/>
          </a:p>
        </p:txBody>
      </p:sp>
      <p:sp>
        <p:nvSpPr>
          <p:cNvPr id="4" name="S11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들어간 줄은 몇씩 커지나요?</a:t>
            </a:r>
            <a:endParaRPr lang="ko-KR" sz="3200" dirty="0"/>
          </a:p>
        </p:txBody>
      </p:sp>
      <p:graphicFrame>
        <p:nvGraphicFramePr>
          <p:cNvPr id="12" name="S11-table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09520"/>
          <a:ext cx="5385816" cy="914400"/>
        </p:xfrm>
        <a:graphic>
          <a:graphicData uri="http://schemas.openxmlformats.org/drawingml/2006/table">
            <a:tbl>
              <a:tblPr/>
              <a:tblGrid>
                <a:gridCol w="1077163"/>
                <a:gridCol w="1077163"/>
                <a:gridCol w="1077163"/>
                <a:gridCol w="1077163"/>
                <a:gridCol w="1077163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S11-table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2509520"/>
          <a:ext cx="5385816" cy="914400"/>
        </p:xfrm>
        <a:graphic>
          <a:graphicData uri="http://schemas.openxmlformats.org/drawingml/2006/table">
            <a:tbl>
              <a:tblPr/>
              <a:tblGrid>
                <a:gridCol w="1077163"/>
                <a:gridCol w="1077163"/>
                <a:gridCol w="1077163"/>
                <a:gridCol w="1077163"/>
                <a:gridCol w="1077163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1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?와 □에 알맞은 것을 쓰고 규칙을 말해요.</a:t>
            </a:r>
            <a:endParaRPr lang="ko-KR" sz="3200" dirty="0"/>
          </a:p>
        </p:txBody>
      </p:sp>
      <p:sp>
        <p:nvSpPr>
          <p:cNvPr id="4" name="S12-card1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쌓기나무가 2개, 4개, 6개로 늘어나면 다음은?</a:t>
            </a:r>
            <a:endParaRPr lang="ko-KR" sz="3200" dirty="0"/>
          </a:p>
        </p:txBody>
      </p:sp>
      <p:sp>
        <p:nvSpPr>
          <p:cNvPr id="6" name="S12-tile147"/>
          <p:cNvSpPr txBox="1"/>
          <p:nvPr/>
        </p:nvSpPr>
        <p:spPr>
          <a:xfrm>
            <a:off x="548640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600" dirty="0"/>
          </a:p>
        </p:txBody>
      </p:sp>
      <p:sp>
        <p:nvSpPr>
          <p:cNvPr id="7" name="S12-tile148"/>
          <p:cNvSpPr txBox="1"/>
          <p:nvPr/>
        </p:nvSpPr>
        <p:spPr>
          <a:xfrm>
            <a:off x="1346781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600" dirty="0"/>
          </a:p>
        </p:txBody>
      </p:sp>
      <p:sp>
        <p:nvSpPr>
          <p:cNvPr id="8" name="S12-tile149"/>
          <p:cNvSpPr txBox="1"/>
          <p:nvPr/>
        </p:nvSpPr>
        <p:spPr>
          <a:xfrm>
            <a:off x="2144921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600" dirty="0"/>
          </a:p>
        </p:txBody>
      </p:sp>
      <p:sp>
        <p:nvSpPr>
          <p:cNvPr id="9" name="S12-tile150"/>
          <p:cNvSpPr txBox="1"/>
          <p:nvPr/>
        </p:nvSpPr>
        <p:spPr>
          <a:xfrm>
            <a:off x="2943062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600" dirty="0"/>
          </a:p>
        </p:txBody>
      </p:sp>
      <p:sp>
        <p:nvSpPr>
          <p:cNvPr id="10" name="S12-tile151"/>
          <p:cNvSpPr txBox="1"/>
          <p:nvPr/>
        </p:nvSpPr>
        <p:spPr>
          <a:xfrm>
            <a:off x="3741202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600" dirty="0"/>
          </a:p>
        </p:txBody>
      </p:sp>
      <p:sp>
        <p:nvSpPr>
          <p:cNvPr id="11" name="S12-tile152"/>
          <p:cNvSpPr txBox="1"/>
          <p:nvPr/>
        </p:nvSpPr>
        <p:spPr>
          <a:xfrm>
            <a:off x="4539343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600" dirty="0"/>
          </a:p>
        </p:txBody>
      </p:sp>
      <p:sp>
        <p:nvSpPr>
          <p:cNvPr id="12" name="S12-tile153"/>
          <p:cNvSpPr txBox="1"/>
          <p:nvPr/>
        </p:nvSpPr>
        <p:spPr>
          <a:xfrm>
            <a:off x="5337483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600" dirty="0"/>
          </a:p>
        </p:txBody>
      </p:sp>
      <p:sp>
        <p:nvSpPr>
          <p:cNvPr id="13" name="S12-label154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graphicFrame>
        <p:nvGraphicFramePr>
          <p:cNvPr id="13" name="S12-table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2778379"/>
          <a:ext cx="5385816" cy="914400"/>
        </p:xfrm>
        <a:graphic>
          <a:graphicData uri="http://schemas.openxmlformats.org/drawingml/2006/table">
            <a:tbl>
              <a:tblPr/>
              <a:tblGrid>
                <a:gridCol w="769402"/>
                <a:gridCol w="769402"/>
                <a:gridCol w="769402"/>
                <a:gridCol w="769402"/>
                <a:gridCol w="769402"/>
                <a:gridCol w="769402"/>
                <a:gridCol w="769402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12-label156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알맞지 않은 규칙은?</a:t>
            </a:r>
            <a:endParaRPr lang="ko-KR" sz="4400" dirty="0"/>
          </a:p>
        </p:txBody>
      </p:sp>
      <p:sp>
        <p:nvSpPr>
          <p:cNvPr id="3" name="S14-text1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4단의 곱: 4, 8, 12, 16, 20</a:t>
            </a:r>
            <a:endParaRPr lang="ko-KR" sz="3200" dirty="0"/>
          </a:p>
        </p:txBody>
      </p:sp>
      <p:sp>
        <p:nvSpPr>
          <p:cNvPr id="4" name="S14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4-chip16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4-card16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6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커져요.</a:t>
            </a:r>
            <a:endParaRPr lang="ko-KR" sz="3200" dirty="0"/>
          </a:p>
        </p:txBody>
      </p:sp>
      <p:sp>
        <p:nvSpPr>
          <p:cNvPr id="9" name="S14-chip16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4-card16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16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커져요.</a:t>
            </a:r>
            <a:endParaRPr lang="ko-KR" sz="3200" dirty="0"/>
          </a:p>
        </p:txBody>
      </p:sp>
      <p:sp>
        <p:nvSpPr>
          <p:cNvPr id="12" name="S14-chip16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4-card16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4-cardtext16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짝수예요.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16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7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묶음이나 커지는 수를 찾아 규칙을 말해요.</a:t>
            </a:r>
            <a:endParaRPr lang="ko-KR" sz="3200" dirty="0"/>
          </a:p>
        </p:txBody>
      </p:sp>
      <p:sp>
        <p:nvSpPr>
          <p:cNvPr id="5" name="S15-chip17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묶음으로 끊어 읽기</a:t>
            </a:r>
            <a:endParaRPr lang="ko-KR" sz="2600" dirty="0"/>
          </a:p>
        </p:txBody>
      </p:sp>
      <p:sp>
        <p:nvSpPr>
          <p:cNvPr id="6" name="S15-chip17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바로 앞만 보고 정하기</a:t>
            </a:r>
            <a:endParaRPr lang="ko-KR" sz="2600" dirty="0"/>
          </a:p>
        </p:txBody>
      </p:sp>
      <p:sp>
        <p:nvSpPr>
          <p:cNvPr id="7" name="S15-text17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17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●●▲●●▲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다음은?</a:t>
            </a:r>
            <a:endParaRPr lang="ko-KR" sz="2600" dirty="0"/>
          </a:p>
        </p:txBody>
      </p:sp>
      <p:sp>
        <p:nvSpPr>
          <p:cNvPr id="9" name="S15-text17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3, 6, 9, □</a:t>
            </a:r>
            <a:endParaRPr lang="ko-KR" sz="2600" dirty="0"/>
          </a:p>
        </p:txBody>
      </p:sp>
      <p:sp>
        <p:nvSpPr>
          <p:cNvPr id="10" name="S15-text17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덧셈표에서 오른쪽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가면?</a:t>
            </a:r>
            <a:endParaRPr lang="ko-KR" sz="2600" dirty="0"/>
          </a:p>
        </p:txBody>
      </p:sp>
      <p:sp>
        <p:nvSpPr>
          <p:cNvPr id="11" name="S15-text17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자리 수의 덧셈(초3)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뛰어 세기</a:t>
            </a:r>
            <a:endParaRPr lang="ko-KR" sz="4400" dirty="0"/>
          </a:p>
        </p:txBody>
      </p:sp>
      <p:sp>
        <p:nvSpPr>
          <p:cNvPr id="3" name="S16-text1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커지는지 찾아요.</a:t>
            </a:r>
            <a:endParaRPr lang="ko-KR" sz="3200" dirty="0"/>
          </a:p>
        </p:txBody>
      </p:sp>
      <p:sp>
        <p:nvSpPr>
          <p:cNvPr id="4" name="S16-card179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180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0, 2, 4, 6, 8, 10</a:t>
            </a:r>
            <a:endParaRPr lang="ko-KR" sz="3200" dirty="0"/>
          </a:p>
        </p:txBody>
      </p:sp>
      <p:sp>
        <p:nvSpPr>
          <p:cNvPr id="6" name="S16-card181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182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커져요.</a:t>
            </a:r>
            <a:endParaRPr lang="ko-KR" sz="3200" dirty="0"/>
          </a:p>
        </p:txBody>
      </p:sp>
      <p:sp>
        <p:nvSpPr>
          <p:cNvPr id="8" name="S16-line183"/>
          <p:cNvSpPr/>
          <p:nvPr/>
        </p:nvSpPr>
        <p:spPr>
          <a:xfrm>
            <a:off x="685800" y="393923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16-line184"/>
          <p:cNvSpPr/>
          <p:nvPr/>
        </p:nvSpPr>
        <p:spPr>
          <a:xfrm>
            <a:off x="96012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6-label185"/>
          <p:cNvSpPr txBox="1"/>
          <p:nvPr/>
        </p:nvSpPr>
        <p:spPr>
          <a:xfrm>
            <a:off x="50292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16-line186"/>
          <p:cNvSpPr/>
          <p:nvPr/>
        </p:nvSpPr>
        <p:spPr>
          <a:xfrm>
            <a:off x="198699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6-label187"/>
          <p:cNvSpPr txBox="1"/>
          <p:nvPr/>
        </p:nvSpPr>
        <p:spPr>
          <a:xfrm>
            <a:off x="152979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3" name="S16-line188"/>
          <p:cNvSpPr/>
          <p:nvPr/>
        </p:nvSpPr>
        <p:spPr>
          <a:xfrm>
            <a:off x="301386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6-label189"/>
          <p:cNvSpPr txBox="1"/>
          <p:nvPr/>
        </p:nvSpPr>
        <p:spPr>
          <a:xfrm>
            <a:off x="255666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5" name="S16-line190"/>
          <p:cNvSpPr/>
          <p:nvPr/>
        </p:nvSpPr>
        <p:spPr>
          <a:xfrm>
            <a:off x="404073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6-label191"/>
          <p:cNvSpPr txBox="1"/>
          <p:nvPr/>
        </p:nvSpPr>
        <p:spPr>
          <a:xfrm>
            <a:off x="3583534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7" name="S16-line192"/>
          <p:cNvSpPr/>
          <p:nvPr/>
        </p:nvSpPr>
        <p:spPr>
          <a:xfrm>
            <a:off x="506760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6-label193"/>
          <p:cNvSpPr txBox="1"/>
          <p:nvPr/>
        </p:nvSpPr>
        <p:spPr>
          <a:xfrm>
            <a:off x="4610405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9" name="S16-line194"/>
          <p:cNvSpPr/>
          <p:nvPr/>
        </p:nvSpPr>
        <p:spPr>
          <a:xfrm>
            <a:off x="609447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6-label195"/>
          <p:cNvSpPr txBox="1"/>
          <p:nvPr/>
        </p:nvSpPr>
        <p:spPr>
          <a:xfrm>
            <a:off x="563727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1" name="S16-line196"/>
          <p:cNvSpPr/>
          <p:nvPr/>
        </p:nvSpPr>
        <p:spPr>
          <a:xfrm>
            <a:off x="7121347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6-label197"/>
          <p:cNvSpPr txBox="1"/>
          <p:nvPr/>
        </p:nvSpPr>
        <p:spPr>
          <a:xfrm>
            <a:off x="6664147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3" name="S16-line198"/>
          <p:cNvSpPr/>
          <p:nvPr/>
        </p:nvSpPr>
        <p:spPr>
          <a:xfrm>
            <a:off x="814821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6-label199"/>
          <p:cNvSpPr txBox="1"/>
          <p:nvPr/>
        </p:nvSpPr>
        <p:spPr>
          <a:xfrm>
            <a:off x="7691018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5" name="S16-line200"/>
          <p:cNvSpPr/>
          <p:nvPr/>
        </p:nvSpPr>
        <p:spPr>
          <a:xfrm>
            <a:off x="917509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6-label201"/>
          <p:cNvSpPr txBox="1"/>
          <p:nvPr/>
        </p:nvSpPr>
        <p:spPr>
          <a:xfrm>
            <a:off x="871789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7" name="S16-line202"/>
          <p:cNvSpPr/>
          <p:nvPr/>
        </p:nvSpPr>
        <p:spPr>
          <a:xfrm>
            <a:off x="1020196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6-label203"/>
          <p:cNvSpPr txBox="1"/>
          <p:nvPr/>
        </p:nvSpPr>
        <p:spPr>
          <a:xfrm>
            <a:off x="974476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9" name="S16-line204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6-label205"/>
          <p:cNvSpPr txBox="1"/>
          <p:nvPr/>
        </p:nvSpPr>
        <p:spPr>
          <a:xfrm>
            <a:off x="1077163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31" name="S16-mark206"/>
          <p:cNvSpPr/>
          <p:nvPr/>
        </p:nvSpPr>
        <p:spPr>
          <a:xfrm>
            <a:off x="868680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16-mark207"/>
          <p:cNvSpPr/>
          <p:nvPr/>
        </p:nvSpPr>
        <p:spPr>
          <a:xfrm>
            <a:off x="2922422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3" name="S16-mark208"/>
          <p:cNvSpPr/>
          <p:nvPr/>
        </p:nvSpPr>
        <p:spPr>
          <a:xfrm>
            <a:off x="4976165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4" name="S16-mark209"/>
          <p:cNvSpPr/>
          <p:nvPr/>
        </p:nvSpPr>
        <p:spPr>
          <a:xfrm>
            <a:off x="7029907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5" name="S16-mark210"/>
          <p:cNvSpPr/>
          <p:nvPr/>
        </p:nvSpPr>
        <p:spPr>
          <a:xfrm>
            <a:off x="9083650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6" name="S16-mark211"/>
          <p:cNvSpPr/>
          <p:nvPr/>
        </p:nvSpPr>
        <p:spPr>
          <a:xfrm>
            <a:off x="11137392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7" name="S16-line212"/>
          <p:cNvSpPr/>
          <p:nvPr/>
        </p:nvSpPr>
        <p:spPr>
          <a:xfrm flipV="1">
            <a:off x="96012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16-line213"/>
          <p:cNvSpPr/>
          <p:nvPr/>
        </p:nvSpPr>
        <p:spPr>
          <a:xfrm>
            <a:off x="960120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16-label214"/>
          <p:cNvSpPr txBox="1"/>
          <p:nvPr/>
        </p:nvSpPr>
        <p:spPr>
          <a:xfrm>
            <a:off x="960120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</a:t>
            </a:r>
            <a:endParaRPr lang="ko-KR" sz="2600" dirty="0"/>
          </a:p>
        </p:txBody>
      </p:sp>
      <p:sp>
        <p:nvSpPr>
          <p:cNvPr id="40" name="S16-line215"/>
          <p:cNvSpPr/>
          <p:nvPr/>
        </p:nvSpPr>
        <p:spPr>
          <a:xfrm flipV="1">
            <a:off x="3013862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16-line216"/>
          <p:cNvSpPr/>
          <p:nvPr/>
        </p:nvSpPr>
        <p:spPr>
          <a:xfrm>
            <a:off x="3013862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16-label217"/>
          <p:cNvSpPr txBox="1"/>
          <p:nvPr/>
        </p:nvSpPr>
        <p:spPr>
          <a:xfrm>
            <a:off x="3013862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</a:t>
            </a:r>
            <a:endParaRPr lang="ko-KR" sz="2600" dirty="0"/>
          </a:p>
        </p:txBody>
      </p:sp>
      <p:sp>
        <p:nvSpPr>
          <p:cNvPr id="43" name="S16-line218"/>
          <p:cNvSpPr/>
          <p:nvPr/>
        </p:nvSpPr>
        <p:spPr>
          <a:xfrm flipV="1">
            <a:off x="5067605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16-line219"/>
          <p:cNvSpPr/>
          <p:nvPr/>
        </p:nvSpPr>
        <p:spPr>
          <a:xfrm>
            <a:off x="5067605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16-label220"/>
          <p:cNvSpPr txBox="1"/>
          <p:nvPr/>
        </p:nvSpPr>
        <p:spPr>
          <a:xfrm>
            <a:off x="5067605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</a:t>
            </a:r>
            <a:endParaRPr lang="ko-KR" sz="2600" dirty="0"/>
          </a:p>
        </p:txBody>
      </p:sp>
      <p:sp>
        <p:nvSpPr>
          <p:cNvPr id="46" name="S16-line221"/>
          <p:cNvSpPr/>
          <p:nvPr/>
        </p:nvSpPr>
        <p:spPr>
          <a:xfrm flipV="1">
            <a:off x="7121347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16-line222"/>
          <p:cNvSpPr/>
          <p:nvPr/>
        </p:nvSpPr>
        <p:spPr>
          <a:xfrm>
            <a:off x="7121347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16-label223"/>
          <p:cNvSpPr txBox="1"/>
          <p:nvPr/>
        </p:nvSpPr>
        <p:spPr>
          <a:xfrm>
            <a:off x="7121347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</a:t>
            </a:r>
            <a:endParaRPr lang="ko-KR" sz="2600" dirty="0"/>
          </a:p>
        </p:txBody>
      </p:sp>
      <p:sp>
        <p:nvSpPr>
          <p:cNvPr id="49" name="S16-line224"/>
          <p:cNvSpPr/>
          <p:nvPr/>
        </p:nvSpPr>
        <p:spPr>
          <a:xfrm flipV="1">
            <a:off x="917509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16-line225"/>
          <p:cNvSpPr/>
          <p:nvPr/>
        </p:nvSpPr>
        <p:spPr>
          <a:xfrm>
            <a:off x="9175090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16-label226"/>
          <p:cNvSpPr txBox="1"/>
          <p:nvPr/>
        </p:nvSpPr>
        <p:spPr>
          <a:xfrm>
            <a:off x="9175090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</a:t>
            </a:r>
            <a:endParaRPr lang="ko-KR" sz="2600" dirty="0"/>
          </a:p>
        </p:txBody>
      </p:sp>
      <p:sp>
        <p:nvSpPr>
          <p:cNvPr id="52" name="S16-figure227" descr="0부터 10까지 2씩 뛰어 세는 수직선"/>
          <p:cNvSpPr/>
          <p:nvPr/>
        </p:nvSpPr>
        <p:spPr>
          <a:xfrm>
            <a:off x="685800" y="375635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무늬와 수의 규칙</dc:title>
  <dc:subject>KR22-G02-MAT-PATTERN-L01</dc:subject>
  <dc:creator>education-ppt</dc:creator>
  <cp:lastModifiedBy>education-ppt</cp:lastModifiedBy>
  <cp:revision>1</cp:revision>
  <dcterms:created xsi:type="dcterms:W3CDTF">2026-10-26T07:10:50Z</dcterms:created>
  <dcterms:modified xsi:type="dcterms:W3CDTF">2026-10-26T07:10:50Z</dcterms:modified>
</cp:coreProperties>
</file>