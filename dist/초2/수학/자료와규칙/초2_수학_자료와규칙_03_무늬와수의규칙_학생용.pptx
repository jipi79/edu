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2fc1a790-6318-a026-5741-c664d8cb2157}">
          <p14:sldIdLst>
            <p14:sldId id="256"/>
            <p14:sldId id="257"/>
          </p14:sldIdLst>
        </p14:section>
        <p14:section name="개념" id="{2424fb44-8021-70b2-13ae-397cf2f00098}">
          <p14:sldIdLst>
            <p14:sldId id="258"/>
            <p14:sldId id="259"/>
            <p14:sldId id="260"/>
            <p14:sldId id="263"/>
            <p14:sldId id="264"/>
            <p14:sldId id="265"/>
          </p14:sldIdLst>
        </p14:section>
        <p14:section name="연습" id="{6179a7b6-f09e-16b8-9e3f-97fd1e219116}">
          <p14:sldIdLst>
            <p14:sldId id="261"/>
            <p14:sldId id="262"/>
            <p14:sldId id="266"/>
          </p14:sldIdLst>
        </p14:section>
        <p14:section name="개념" id="{4ae667df-06fd-b3f3-019e-7bc0fcd0d454}">
          <p14:sldIdLst/>
        </p14:section>
        <p14:section name="연습" id="{6044cda3-f41a-ebc3-2e91-ac60302b1f8e}">
          <p14:sldIdLst/>
        </p14:section>
        <p14:section name="확인" id="{b7ff8962-3b53-e3cf-4f12-321489e9f0b7}">
          <p14:sldIdLst>
            <p14:sldId id="267"/>
            <p14:sldId id="268"/>
          </p14:sldIdLst>
        </p14:section>
        <p14:section name="정리" id="{d62654fc-86fd-4ea3-f3e3-eb334bbde332}">
          <p14:sldIdLst>
            <p14:sldId id="269"/>
          </p14:sldIdLst>
        </p14:section>
        <p14:section name="보충" id="{619dffb0-3a6c-aed2-e3f7-95c2c27fd85c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자료와규칙 · 3차시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무늬와 수의 규칙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무늬와 수의 규칙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수학 · 무늬와 수의 규칙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무늬와 수의 규칙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다음에는 무엇이 올까?</a:t>
            </a:r>
            <a:endParaRPr lang="ko-KR" sz="3200" dirty="0"/>
          </a:p>
        </p:txBody>
      </p:sp>
      <p:sp>
        <p:nvSpPr>
          <p:cNvPr id="4" name="S01-tile1"/>
          <p:cNvSpPr txBox="1"/>
          <p:nvPr/>
        </p:nvSpPr>
        <p:spPr>
          <a:xfrm>
            <a:off x="7680960" y="1790395"/>
            <a:ext cx="625450" cy="625450"/>
          </a:xfrm>
          <a:prstGeom prst="roundRect">
            <a:avLst>
              <a:gd name="adj" fmla="val 2046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2700" dirty="0"/>
          </a:p>
        </p:txBody>
      </p:sp>
      <p:sp>
        <p:nvSpPr>
          <p:cNvPr id="5" name="S01-tile2"/>
          <p:cNvSpPr txBox="1"/>
          <p:nvPr/>
        </p:nvSpPr>
        <p:spPr>
          <a:xfrm>
            <a:off x="8507578" y="1790395"/>
            <a:ext cx="625450" cy="625450"/>
          </a:xfrm>
          <a:prstGeom prst="roundRect">
            <a:avLst>
              <a:gd name="adj" fmla="val 2046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2700" dirty="0"/>
          </a:p>
        </p:txBody>
      </p:sp>
      <p:sp>
        <p:nvSpPr>
          <p:cNvPr id="6" name="S01-tile3"/>
          <p:cNvSpPr txBox="1"/>
          <p:nvPr/>
        </p:nvSpPr>
        <p:spPr>
          <a:xfrm>
            <a:off x="9334195" y="1790395"/>
            <a:ext cx="625450" cy="625450"/>
          </a:xfrm>
          <a:prstGeom prst="roundRect">
            <a:avLst>
              <a:gd name="adj" fmla="val 2046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2700" dirty="0"/>
          </a:p>
        </p:txBody>
      </p:sp>
      <p:sp>
        <p:nvSpPr>
          <p:cNvPr id="7" name="S01-tile4"/>
          <p:cNvSpPr txBox="1"/>
          <p:nvPr/>
        </p:nvSpPr>
        <p:spPr>
          <a:xfrm>
            <a:off x="10160813" y="1790395"/>
            <a:ext cx="625450" cy="625450"/>
          </a:xfrm>
          <a:prstGeom prst="roundRect">
            <a:avLst>
              <a:gd name="adj" fmla="val 2046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2700" dirty="0"/>
          </a:p>
        </p:txBody>
      </p:sp>
      <p:sp>
        <p:nvSpPr>
          <p:cNvPr id="8" name="S01-tile5"/>
          <p:cNvSpPr txBox="1"/>
          <p:nvPr/>
        </p:nvSpPr>
        <p:spPr>
          <a:xfrm>
            <a:off x="10987430" y="1790395"/>
            <a:ext cx="625450" cy="625450"/>
          </a:xfrm>
          <a:prstGeom prst="roundRect">
            <a:avLst>
              <a:gd name="adj" fmla="val 2046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2700" dirty="0"/>
          </a:p>
        </p:txBody>
      </p:sp>
      <p:sp>
        <p:nvSpPr>
          <p:cNvPr id="9" name="S01-card6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0" name="S01-cardtext7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무늬와 쌓은 모양에서 규칙을 찾아요.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덧셈표와 곱셈표에서 규칙을 찾아요.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400" dirty="0"/>
          </a:p>
        </p:txBody>
      </p:sp>
      <p:sp>
        <p:nvSpPr>
          <p:cNvPr id="3" name="S02-chip8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eqtext9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 4, 6, □, 10</a:t>
            </a:r>
            <a:endParaRPr lang="ko-KR" sz="3600" dirty="0"/>
          </a:p>
        </p:txBody>
      </p:sp>
      <p:sp>
        <p:nvSpPr>
          <p:cNvPr id="5" name="S02-chip10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02-eqtext11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35, 40, 45, □</a:t>
            </a:r>
            <a:endParaRPr lang="ko-KR" sz="3600" dirty="0"/>
          </a:p>
        </p:txBody>
      </p:sp>
      <p:sp>
        <p:nvSpPr>
          <p:cNvPr id="7" name="S02-chip12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8" name="S02-eqtext13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4 =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되풀이되는 무늬</a:t>
            </a:r>
            <a:endParaRPr lang="ko-KR" sz="4400" dirty="0"/>
          </a:p>
        </p:txBody>
      </p:sp>
      <p:sp>
        <p:nvSpPr>
          <p:cNvPr id="3" name="S03-text1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되풀이되는지 찾아요.</a:t>
            </a:r>
            <a:endParaRPr lang="ko-KR" sz="3200" dirty="0"/>
          </a:p>
        </p:txBody>
      </p:sp>
      <p:sp>
        <p:nvSpPr>
          <p:cNvPr id="4" name="S03-card1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되풀이되는 부분을 찾으면 다음을 알 수 있어요.</a:t>
            </a:r>
            <a:endParaRPr lang="ko-KR" sz="3200" dirty="0"/>
          </a:p>
        </p:txBody>
      </p:sp>
      <p:sp>
        <p:nvSpPr>
          <p:cNvPr id="6" name="S03-card17"/>
          <p:cNvSpPr/>
          <p:nvPr/>
        </p:nvSpPr>
        <p:spPr>
          <a:xfrm>
            <a:off x="548640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18"/>
          <p:cNvSpPr txBox="1"/>
          <p:nvPr/>
        </p:nvSpPr>
        <p:spPr>
          <a:xfrm>
            <a:off x="822960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●, ▲, ▲가 되풀이돼요.</a:t>
            </a:r>
            <a:endParaRPr lang="ko-KR" sz="3200" dirty="0"/>
          </a:p>
        </p:txBody>
      </p:sp>
      <p:sp>
        <p:nvSpPr>
          <p:cNvPr id="8" name="S03-card19"/>
          <p:cNvSpPr/>
          <p:nvPr/>
        </p:nvSpPr>
        <p:spPr>
          <a:xfrm>
            <a:off x="6208776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3-cardtext20"/>
          <p:cNvSpPr txBox="1"/>
          <p:nvPr/>
        </p:nvSpPr>
        <p:spPr>
          <a:xfrm>
            <a:off x="6483096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 다음에 또 ●가 와요.</a:t>
            </a:r>
            <a:endParaRPr lang="ko-KR" sz="3200" dirty="0"/>
          </a:p>
        </p:txBody>
      </p:sp>
      <p:sp>
        <p:nvSpPr>
          <p:cNvPr id="10" name="S03-tile21"/>
          <p:cNvSpPr txBox="1"/>
          <p:nvPr/>
        </p:nvSpPr>
        <p:spPr>
          <a:xfrm>
            <a:off x="548640" y="249072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4600" dirty="0"/>
          </a:p>
        </p:txBody>
      </p:sp>
      <p:sp>
        <p:nvSpPr>
          <p:cNvPr id="11" name="S03-tile22"/>
          <p:cNvSpPr txBox="1"/>
          <p:nvPr/>
        </p:nvSpPr>
        <p:spPr>
          <a:xfrm>
            <a:off x="1803400" y="249072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4600" dirty="0"/>
          </a:p>
        </p:txBody>
      </p:sp>
      <p:sp>
        <p:nvSpPr>
          <p:cNvPr id="12" name="S03-tile23"/>
          <p:cNvSpPr txBox="1"/>
          <p:nvPr/>
        </p:nvSpPr>
        <p:spPr>
          <a:xfrm>
            <a:off x="3058160" y="249072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4600" dirty="0"/>
          </a:p>
        </p:txBody>
      </p:sp>
      <p:sp>
        <p:nvSpPr>
          <p:cNvPr id="13" name="S03-tile24"/>
          <p:cNvSpPr txBox="1"/>
          <p:nvPr/>
        </p:nvSpPr>
        <p:spPr>
          <a:xfrm>
            <a:off x="4312920" y="249072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4600" dirty="0"/>
          </a:p>
        </p:txBody>
      </p:sp>
      <p:sp>
        <p:nvSpPr>
          <p:cNvPr id="14" name="S03-tile25"/>
          <p:cNvSpPr txBox="1"/>
          <p:nvPr/>
        </p:nvSpPr>
        <p:spPr>
          <a:xfrm>
            <a:off x="5567680" y="249072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4600" dirty="0"/>
          </a:p>
        </p:txBody>
      </p:sp>
      <p:sp>
        <p:nvSpPr>
          <p:cNvPr id="15" name="S03-tile26"/>
          <p:cNvSpPr txBox="1"/>
          <p:nvPr/>
        </p:nvSpPr>
        <p:spPr>
          <a:xfrm>
            <a:off x="6822440" y="249072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4600" dirty="0"/>
          </a:p>
        </p:txBody>
      </p:sp>
      <p:sp>
        <p:nvSpPr>
          <p:cNvPr id="16" name="S03-tile27"/>
          <p:cNvSpPr txBox="1"/>
          <p:nvPr/>
        </p:nvSpPr>
        <p:spPr>
          <a:xfrm>
            <a:off x="8077200" y="249072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4600" dirty="0"/>
          </a:p>
        </p:txBody>
      </p:sp>
      <p:sp>
        <p:nvSpPr>
          <p:cNvPr id="17" name="S03-tile28"/>
          <p:cNvSpPr txBox="1"/>
          <p:nvPr/>
        </p:nvSpPr>
        <p:spPr>
          <a:xfrm>
            <a:off x="9331960" y="249072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4600" dirty="0"/>
          </a:p>
        </p:txBody>
      </p:sp>
      <p:sp>
        <p:nvSpPr>
          <p:cNvPr id="18" name="S03-tile29"/>
          <p:cNvSpPr txBox="1"/>
          <p:nvPr/>
        </p:nvSpPr>
        <p:spPr>
          <a:xfrm>
            <a:off x="10586720" y="249072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4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색칠 무늬의 규칙</a:t>
            </a:r>
            <a:endParaRPr lang="ko-KR" sz="4400" dirty="0"/>
          </a:p>
        </p:txBody>
      </p:sp>
      <p:sp>
        <p:nvSpPr>
          <p:cNvPr id="3" name="S04-text3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줄마다 색칠한 칸을 봐요.</a:t>
            </a:r>
            <a:endParaRPr lang="ko-KR" sz="3200" dirty="0"/>
          </a:p>
        </p:txBody>
      </p:sp>
      <p:sp>
        <p:nvSpPr>
          <p:cNvPr id="4" name="S04-card31"/>
          <p:cNvSpPr/>
          <p:nvPr/>
        </p:nvSpPr>
        <p:spPr>
          <a:xfrm>
            <a:off x="548640" y="4897120"/>
            <a:ext cx="5431536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4-cardtext32"/>
          <p:cNvSpPr txBox="1"/>
          <p:nvPr/>
        </p:nvSpPr>
        <p:spPr>
          <a:xfrm>
            <a:off x="822960" y="5034280"/>
            <a:ext cx="4882896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윗줄: 색칠, 안 함이 번갈아요.</a:t>
            </a:r>
            <a:endParaRPr lang="ko-KR" sz="3200" dirty="0"/>
          </a:p>
        </p:txBody>
      </p:sp>
      <p:sp>
        <p:nvSpPr>
          <p:cNvPr id="6" name="S04-card33"/>
          <p:cNvSpPr/>
          <p:nvPr/>
        </p:nvSpPr>
        <p:spPr>
          <a:xfrm>
            <a:off x="6208776" y="4897120"/>
            <a:ext cx="5431536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4-cardtext34"/>
          <p:cNvSpPr txBox="1"/>
          <p:nvPr/>
        </p:nvSpPr>
        <p:spPr>
          <a:xfrm>
            <a:off x="6483096" y="5034280"/>
            <a:ext cx="4882896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아랫줄은 윗줄과 반대예요.</a:t>
            </a:r>
            <a:endParaRPr lang="ko-KR" sz="3200" dirty="0"/>
          </a:p>
        </p:txBody>
      </p:sp>
      <p:sp>
        <p:nvSpPr>
          <p:cNvPr id="8" name="S04-cell35"/>
          <p:cNvSpPr/>
          <p:nvPr/>
        </p:nvSpPr>
        <p:spPr>
          <a:xfrm>
            <a:off x="2071116" y="2334260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4-cell36"/>
          <p:cNvSpPr/>
          <p:nvPr/>
        </p:nvSpPr>
        <p:spPr>
          <a:xfrm>
            <a:off x="3076956" y="2334260"/>
            <a:ext cx="100584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4-cell37"/>
          <p:cNvSpPr/>
          <p:nvPr/>
        </p:nvSpPr>
        <p:spPr>
          <a:xfrm>
            <a:off x="4082796" y="2334260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4-cell38"/>
          <p:cNvSpPr/>
          <p:nvPr/>
        </p:nvSpPr>
        <p:spPr>
          <a:xfrm>
            <a:off x="5088636" y="2334260"/>
            <a:ext cx="100584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4-cell39"/>
          <p:cNvSpPr/>
          <p:nvPr/>
        </p:nvSpPr>
        <p:spPr>
          <a:xfrm>
            <a:off x="6094476" y="2334260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4-cell40"/>
          <p:cNvSpPr/>
          <p:nvPr/>
        </p:nvSpPr>
        <p:spPr>
          <a:xfrm>
            <a:off x="7100316" y="2334260"/>
            <a:ext cx="100584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4-cell41"/>
          <p:cNvSpPr/>
          <p:nvPr/>
        </p:nvSpPr>
        <p:spPr>
          <a:xfrm>
            <a:off x="8106156" y="2334260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4-cell42"/>
          <p:cNvSpPr/>
          <p:nvPr/>
        </p:nvSpPr>
        <p:spPr>
          <a:xfrm>
            <a:off x="9111996" y="2334260"/>
            <a:ext cx="100584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4-cell43"/>
          <p:cNvSpPr/>
          <p:nvPr/>
        </p:nvSpPr>
        <p:spPr>
          <a:xfrm>
            <a:off x="2071116" y="3340100"/>
            <a:ext cx="100584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4-cell44"/>
          <p:cNvSpPr/>
          <p:nvPr/>
        </p:nvSpPr>
        <p:spPr>
          <a:xfrm>
            <a:off x="3076956" y="3340100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4-cell45"/>
          <p:cNvSpPr/>
          <p:nvPr/>
        </p:nvSpPr>
        <p:spPr>
          <a:xfrm>
            <a:off x="4082796" y="3340100"/>
            <a:ext cx="100584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4-cell46"/>
          <p:cNvSpPr/>
          <p:nvPr/>
        </p:nvSpPr>
        <p:spPr>
          <a:xfrm>
            <a:off x="5088636" y="3340100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4-cell47"/>
          <p:cNvSpPr/>
          <p:nvPr/>
        </p:nvSpPr>
        <p:spPr>
          <a:xfrm>
            <a:off x="6094476" y="3340100"/>
            <a:ext cx="100584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4-cell48"/>
          <p:cNvSpPr/>
          <p:nvPr/>
        </p:nvSpPr>
        <p:spPr>
          <a:xfrm>
            <a:off x="7100316" y="3340100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4-cell49"/>
          <p:cNvSpPr/>
          <p:nvPr/>
        </p:nvSpPr>
        <p:spPr>
          <a:xfrm>
            <a:off x="8106156" y="3340100"/>
            <a:ext cx="100584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4-cell50"/>
          <p:cNvSpPr/>
          <p:nvPr/>
        </p:nvSpPr>
        <p:spPr>
          <a:xfrm>
            <a:off x="9111996" y="3340100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4-figure51" descr="두 줄 무늬: 윗줄은 색칠한 칸과 안 한 칸이 번갈아, 아랫줄은 윗줄과 반대. 색칠한 칸 8개"/>
          <p:cNvSpPr/>
          <p:nvPr/>
        </p:nvSpPr>
        <p:spPr>
          <a:xfrm>
            <a:off x="2071116" y="2334260"/>
            <a:ext cx="8046720" cy="20116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쌓은 모양의 규칙</a:t>
            </a:r>
            <a:endParaRPr lang="ko-KR" sz="4400" dirty="0"/>
          </a:p>
        </p:txBody>
      </p:sp>
      <p:sp>
        <p:nvSpPr>
          <p:cNvPr id="3" name="S05-text5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줄로 쌓은 모양을 앞에서 봤어요.</a:t>
            </a:r>
            <a:endParaRPr lang="ko-KR" sz="3200" dirty="0"/>
          </a:p>
        </p:txBody>
      </p:sp>
      <p:sp>
        <p:nvSpPr>
          <p:cNvPr id="4" name="S05-card53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54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1개 → 3개 → 5개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위에 1개, 오른쪽에 1개, 2개씩 늘어나요.</a:t>
            </a:r>
            <a:endParaRPr lang="ko-KR" sz="3200" dirty="0"/>
          </a:p>
        </p:txBody>
      </p:sp>
      <p:sp>
        <p:nvSpPr>
          <p:cNvPr id="6" name="S05-cell55"/>
          <p:cNvSpPr/>
          <p:nvPr/>
        </p:nvSpPr>
        <p:spPr>
          <a:xfrm>
            <a:off x="1536192" y="2334641"/>
            <a:ext cx="50292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5-cell56"/>
          <p:cNvSpPr/>
          <p:nvPr/>
        </p:nvSpPr>
        <p:spPr>
          <a:xfrm>
            <a:off x="2039112" y="2334641"/>
            <a:ext cx="50292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5-cell57"/>
          <p:cNvSpPr/>
          <p:nvPr/>
        </p:nvSpPr>
        <p:spPr>
          <a:xfrm>
            <a:off x="2542032" y="2334641"/>
            <a:ext cx="50292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5-cell58"/>
          <p:cNvSpPr/>
          <p:nvPr/>
        </p:nvSpPr>
        <p:spPr>
          <a:xfrm>
            <a:off x="1536192" y="2837561"/>
            <a:ext cx="50292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5-cell59"/>
          <p:cNvSpPr/>
          <p:nvPr/>
        </p:nvSpPr>
        <p:spPr>
          <a:xfrm>
            <a:off x="2039112" y="2837561"/>
            <a:ext cx="50292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5-cell60"/>
          <p:cNvSpPr/>
          <p:nvPr/>
        </p:nvSpPr>
        <p:spPr>
          <a:xfrm>
            <a:off x="2542032" y="2837561"/>
            <a:ext cx="50292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5-cell61"/>
          <p:cNvSpPr/>
          <p:nvPr/>
        </p:nvSpPr>
        <p:spPr>
          <a:xfrm>
            <a:off x="1536192" y="3340481"/>
            <a:ext cx="502920" cy="5029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5-cell62"/>
          <p:cNvSpPr/>
          <p:nvPr/>
        </p:nvSpPr>
        <p:spPr>
          <a:xfrm>
            <a:off x="2039112" y="3340481"/>
            <a:ext cx="50292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5-cell63"/>
          <p:cNvSpPr/>
          <p:nvPr/>
        </p:nvSpPr>
        <p:spPr>
          <a:xfrm>
            <a:off x="2542032" y="3340481"/>
            <a:ext cx="50292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5-figure64" descr="한 줄로 쌓은 모양(앞에서 봄): 1층 1개, 맨 왼쪽 위로 0개, 모두 1개"/>
          <p:cNvSpPr/>
          <p:nvPr/>
        </p:nvSpPr>
        <p:spPr>
          <a:xfrm>
            <a:off x="1536192" y="2334641"/>
            <a:ext cx="1508760" cy="15087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6" name="S05-label65"/>
          <p:cNvSpPr txBox="1"/>
          <p:nvPr/>
        </p:nvSpPr>
        <p:spPr>
          <a:xfrm>
            <a:off x="548640" y="4239514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첫째</a:t>
            </a:r>
            <a:endParaRPr lang="ko-KR" sz="2600" dirty="0"/>
          </a:p>
        </p:txBody>
      </p:sp>
      <p:sp>
        <p:nvSpPr>
          <p:cNvPr id="17" name="S05-cell66"/>
          <p:cNvSpPr/>
          <p:nvPr/>
        </p:nvSpPr>
        <p:spPr>
          <a:xfrm>
            <a:off x="5340096" y="2334641"/>
            <a:ext cx="50292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5-cell67"/>
          <p:cNvSpPr/>
          <p:nvPr/>
        </p:nvSpPr>
        <p:spPr>
          <a:xfrm>
            <a:off x="5843016" y="2334641"/>
            <a:ext cx="50292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5-cell68"/>
          <p:cNvSpPr/>
          <p:nvPr/>
        </p:nvSpPr>
        <p:spPr>
          <a:xfrm>
            <a:off x="6345936" y="2334641"/>
            <a:ext cx="50292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5-cell69"/>
          <p:cNvSpPr/>
          <p:nvPr/>
        </p:nvSpPr>
        <p:spPr>
          <a:xfrm>
            <a:off x="5340096" y="2837561"/>
            <a:ext cx="502920" cy="5029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5-cell70"/>
          <p:cNvSpPr/>
          <p:nvPr/>
        </p:nvSpPr>
        <p:spPr>
          <a:xfrm>
            <a:off x="5843016" y="2837561"/>
            <a:ext cx="50292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5-cell71"/>
          <p:cNvSpPr/>
          <p:nvPr/>
        </p:nvSpPr>
        <p:spPr>
          <a:xfrm>
            <a:off x="6345936" y="2837561"/>
            <a:ext cx="50292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5-cell72"/>
          <p:cNvSpPr/>
          <p:nvPr/>
        </p:nvSpPr>
        <p:spPr>
          <a:xfrm>
            <a:off x="5340096" y="3340481"/>
            <a:ext cx="502920" cy="5029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5-cell73"/>
          <p:cNvSpPr/>
          <p:nvPr/>
        </p:nvSpPr>
        <p:spPr>
          <a:xfrm>
            <a:off x="5843016" y="3340481"/>
            <a:ext cx="502920" cy="5029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5-cell74"/>
          <p:cNvSpPr/>
          <p:nvPr/>
        </p:nvSpPr>
        <p:spPr>
          <a:xfrm>
            <a:off x="6345936" y="3340481"/>
            <a:ext cx="50292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5-figure75" descr="한 줄로 쌓은 모양(앞에서 봄): 1층 2개, 맨 왼쪽 위로 1개, 모두 3개"/>
          <p:cNvSpPr/>
          <p:nvPr/>
        </p:nvSpPr>
        <p:spPr>
          <a:xfrm>
            <a:off x="5340096" y="2334641"/>
            <a:ext cx="1508760" cy="15087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7" name="S05-label76"/>
          <p:cNvSpPr txBox="1"/>
          <p:nvPr/>
        </p:nvSpPr>
        <p:spPr>
          <a:xfrm>
            <a:off x="4352544" y="4239514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둘째</a:t>
            </a:r>
            <a:endParaRPr lang="ko-KR" sz="2600" dirty="0"/>
          </a:p>
        </p:txBody>
      </p:sp>
      <p:sp>
        <p:nvSpPr>
          <p:cNvPr id="28" name="S05-cell77"/>
          <p:cNvSpPr/>
          <p:nvPr/>
        </p:nvSpPr>
        <p:spPr>
          <a:xfrm>
            <a:off x="9144000" y="2334641"/>
            <a:ext cx="502920" cy="5029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5-cell78"/>
          <p:cNvSpPr/>
          <p:nvPr/>
        </p:nvSpPr>
        <p:spPr>
          <a:xfrm>
            <a:off x="9646920" y="2334641"/>
            <a:ext cx="50292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5-cell79"/>
          <p:cNvSpPr/>
          <p:nvPr/>
        </p:nvSpPr>
        <p:spPr>
          <a:xfrm>
            <a:off x="10149840" y="2334641"/>
            <a:ext cx="50292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5-cell80"/>
          <p:cNvSpPr/>
          <p:nvPr/>
        </p:nvSpPr>
        <p:spPr>
          <a:xfrm>
            <a:off x="9144000" y="2837561"/>
            <a:ext cx="502920" cy="5029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05-cell81"/>
          <p:cNvSpPr/>
          <p:nvPr/>
        </p:nvSpPr>
        <p:spPr>
          <a:xfrm>
            <a:off x="9646920" y="2837561"/>
            <a:ext cx="50292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5-cell82"/>
          <p:cNvSpPr/>
          <p:nvPr/>
        </p:nvSpPr>
        <p:spPr>
          <a:xfrm>
            <a:off x="10149840" y="2837561"/>
            <a:ext cx="50292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5-cell83"/>
          <p:cNvSpPr/>
          <p:nvPr/>
        </p:nvSpPr>
        <p:spPr>
          <a:xfrm>
            <a:off x="9144000" y="3340481"/>
            <a:ext cx="502920" cy="5029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5-cell84"/>
          <p:cNvSpPr/>
          <p:nvPr/>
        </p:nvSpPr>
        <p:spPr>
          <a:xfrm>
            <a:off x="9646920" y="3340481"/>
            <a:ext cx="502920" cy="5029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5-cell85"/>
          <p:cNvSpPr/>
          <p:nvPr/>
        </p:nvSpPr>
        <p:spPr>
          <a:xfrm>
            <a:off x="10149840" y="3340481"/>
            <a:ext cx="502920" cy="5029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5-figure86" descr="한 줄로 쌓은 모양(앞에서 봄): 1층 3개, 맨 왼쪽 위로 2개, 모두 5개"/>
          <p:cNvSpPr/>
          <p:nvPr/>
        </p:nvSpPr>
        <p:spPr>
          <a:xfrm>
            <a:off x="9144000" y="2334641"/>
            <a:ext cx="1508760" cy="15087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8" name="S05-label87"/>
          <p:cNvSpPr txBox="1"/>
          <p:nvPr/>
        </p:nvSpPr>
        <p:spPr>
          <a:xfrm>
            <a:off x="8156448" y="4239514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셋째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다음에 올 것은?</a:t>
            </a:r>
            <a:endParaRPr lang="ko-KR" sz="4400" dirty="0"/>
          </a:p>
        </p:txBody>
      </p:sp>
      <p:sp>
        <p:nvSpPr>
          <p:cNvPr id="3" name="S06-text8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되풀이되는 묶음을 찾아 ?를 알아내요.</a:t>
            </a:r>
            <a:endParaRPr lang="ko-KR" sz="3200" dirty="0"/>
          </a:p>
        </p:txBody>
      </p:sp>
      <p:sp>
        <p:nvSpPr>
          <p:cNvPr id="4" name="S06-card8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9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S05의 넷째 모양은 쌓기나무 몇 개일까요?</a:t>
            </a:r>
            <a:endParaRPr lang="ko-KR" sz="3200" dirty="0"/>
          </a:p>
        </p:txBody>
      </p:sp>
      <p:sp>
        <p:nvSpPr>
          <p:cNvPr id="6" name="S06-eqtext91"/>
          <p:cNvSpPr txBox="1"/>
          <p:nvPr/>
        </p:nvSpPr>
        <p:spPr>
          <a:xfrm>
            <a:off x="548640" y="2011680"/>
            <a:ext cx="11091672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■ ● ● ■ ● ● ■ ?</a:t>
            </a:r>
            <a:endParaRPr lang="ko-KR" sz="4800" dirty="0"/>
          </a:p>
          <a:p>
            <a:pPr eaLnBrk="0" algn="l" indent="0" marL="0">
              <a:buNone/>
            </a:pPr>
            <a:r>
              <a:rPr lang="ko-KR" altLang="en-US" sz="4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○ ○ ● ○ ○ ● ○ ?</a:t>
            </a:r>
            <a:endParaRPr lang="ko-KR" sz="4800" dirty="0"/>
          </a:p>
          <a:p>
            <a:pPr eaLnBrk="0" algn="l" indent="0" marL="0">
              <a:buNone/>
            </a:pPr>
            <a:r>
              <a:rPr lang="ko-KR" altLang="en-US" sz="4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▲ △ ▲ △ ▲ ?</a:t>
            </a:r>
            <a:endParaRPr lang="ko-KR" sz="4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400" dirty="0"/>
          </a:p>
        </p:txBody>
      </p:sp>
      <p:sp>
        <p:nvSpPr>
          <p:cNvPr id="3" name="S07-card92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93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■■●■■●■ 다음에 올 모양은?</a:t>
            </a:r>
            <a:endParaRPr lang="ko-KR" sz="3200" dirty="0"/>
          </a:p>
        </p:txBody>
      </p:sp>
      <p:sp>
        <p:nvSpPr>
          <p:cNvPr id="5" name="S07-card9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9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왜 그럴까요?</a:t>
            </a:r>
            <a:endParaRPr lang="ko-KR" sz="3200" dirty="0"/>
          </a:p>
        </p:txBody>
      </p:sp>
      <p:sp>
        <p:nvSpPr>
          <p:cNvPr id="7" name="S07-chip96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●</a:t>
            </a:r>
            <a:endParaRPr lang="ko-KR" sz="2600" dirty="0"/>
          </a:p>
        </p:txBody>
      </p:sp>
      <p:sp>
        <p:nvSpPr>
          <p:cNvPr id="8" name="S07-text97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다음에는 ●가 와요.</a:t>
            </a:r>
            <a:endParaRPr lang="ko-KR" sz="3200" dirty="0"/>
          </a:p>
        </p:txBody>
      </p:sp>
      <p:sp>
        <p:nvSpPr>
          <p:cNvPr id="9" name="S07-chip98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■</a:t>
            </a:r>
            <a:endParaRPr lang="ko-KR" sz="2600" dirty="0"/>
          </a:p>
        </p:txBody>
      </p:sp>
      <p:sp>
        <p:nvSpPr>
          <p:cNvPr id="10" name="S07-text99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■, ■, ●가 되풀이돼요.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덧셈표의 규칙</a:t>
            </a:r>
            <a:endParaRPr lang="ko-KR" sz="4400" dirty="0"/>
          </a:p>
        </p:txBody>
      </p:sp>
      <p:sp>
        <p:nvSpPr>
          <p:cNvPr id="3" name="S08-text10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줄의 수와 칸의 수를 더한 표예요.</a:t>
            </a:r>
            <a:endParaRPr lang="ko-KR" sz="3200" dirty="0"/>
          </a:p>
        </p:txBody>
      </p:sp>
      <p:sp>
        <p:nvSpPr>
          <p:cNvPr id="4" name="S08-card10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10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오른쪽으로 1씩, 아래로 1씩 커져요.</a:t>
            </a:r>
            <a:endParaRPr lang="ko-KR" sz="3200" dirty="0"/>
          </a:p>
        </p:txBody>
      </p:sp>
      <p:graphicFrame>
        <p:nvGraphicFramePr>
          <p:cNvPr id="9" name="S08-table10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56716" y="2030730"/>
          <a:ext cx="98755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645920"/>
                <a:gridCol w="1645920"/>
                <a:gridCol w="1645920"/>
                <a:gridCol w="1645920"/>
                <a:gridCol w="1645920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비스듬히 보면</a:t>
            </a:r>
            <a:endParaRPr lang="ko-KR" sz="4400" dirty="0"/>
          </a:p>
        </p:txBody>
      </p:sp>
      <p:sp>
        <p:nvSpPr>
          <p:cNvPr id="3" name="S09-card104"/>
          <p:cNvSpPr/>
          <p:nvPr/>
        </p:nvSpPr>
        <p:spPr>
          <a:xfrm>
            <a:off x="548640" y="4897120"/>
            <a:ext cx="5431536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105"/>
          <p:cNvSpPr txBox="1"/>
          <p:nvPr/>
        </p:nvSpPr>
        <p:spPr>
          <a:xfrm>
            <a:off x="822960" y="5034280"/>
            <a:ext cx="4882896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↘ 2, 4, 6, 8, 10: 2씩 커져요.</a:t>
            </a:r>
            <a:endParaRPr lang="ko-KR" sz="3200" dirty="0"/>
          </a:p>
        </p:txBody>
      </p:sp>
      <p:sp>
        <p:nvSpPr>
          <p:cNvPr id="5" name="S09-card106"/>
          <p:cNvSpPr/>
          <p:nvPr/>
        </p:nvSpPr>
        <p:spPr>
          <a:xfrm>
            <a:off x="6208776" y="4897120"/>
            <a:ext cx="5431536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9-cardtext107"/>
          <p:cNvSpPr txBox="1"/>
          <p:nvPr/>
        </p:nvSpPr>
        <p:spPr>
          <a:xfrm>
            <a:off x="6483096" y="5034280"/>
            <a:ext cx="4882896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↙ 6, 6, 6, 6, 6: 모두 같아요.</a:t>
            </a:r>
            <a:endParaRPr lang="ko-KR" sz="3200" dirty="0"/>
          </a:p>
        </p:txBody>
      </p:sp>
      <p:graphicFrame>
        <p:nvGraphicFramePr>
          <p:cNvPr id="10" name="S09-table10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56716" y="1461770"/>
          <a:ext cx="98755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645920"/>
                <a:gridCol w="1645920"/>
                <a:gridCol w="1645920"/>
                <a:gridCol w="1645920"/>
                <a:gridCol w="1645920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곱셈표의 규칙</a:t>
            </a:r>
            <a:endParaRPr lang="ko-KR" sz="4400" dirty="0"/>
          </a:p>
        </p:txBody>
      </p:sp>
      <p:sp>
        <p:nvSpPr>
          <p:cNvPr id="3" name="S10-card109"/>
          <p:cNvSpPr/>
          <p:nvPr/>
        </p:nvSpPr>
        <p:spPr>
          <a:xfrm>
            <a:off x="548640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110"/>
          <p:cNvSpPr txBox="1"/>
          <p:nvPr/>
        </p:nvSpPr>
        <p:spPr>
          <a:xfrm>
            <a:off x="822960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3단은 3씩 커져요.</a:t>
            </a:r>
            <a:endParaRPr lang="ko-KR" sz="3200" dirty="0"/>
          </a:p>
        </p:txBody>
      </p:sp>
      <p:sp>
        <p:nvSpPr>
          <p:cNvPr id="5" name="S10-card111"/>
          <p:cNvSpPr/>
          <p:nvPr/>
        </p:nvSpPr>
        <p:spPr>
          <a:xfrm>
            <a:off x="6208776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0-cardtext112"/>
          <p:cNvSpPr txBox="1"/>
          <p:nvPr/>
        </p:nvSpPr>
        <p:spPr>
          <a:xfrm>
            <a:off x="6483096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4와 4 × 3은 같아요.</a:t>
            </a:r>
            <a:endParaRPr lang="ko-KR" sz="3200" dirty="0"/>
          </a:p>
        </p:txBody>
      </p:sp>
      <p:graphicFrame>
        <p:nvGraphicFramePr>
          <p:cNvPr id="11" name="S10-table1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56716" y="1687830"/>
          <a:ext cx="98755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645920"/>
                <a:gridCol w="1645920"/>
                <a:gridCol w="1645920"/>
                <a:gridCol w="1645920"/>
                <a:gridCol w="1645920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×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빈칸을 채워요</a:t>
            </a:r>
            <a:endParaRPr lang="ko-KR" sz="4400" dirty="0"/>
          </a:p>
        </p:txBody>
      </p:sp>
      <p:sp>
        <p:nvSpPr>
          <p:cNvPr id="3" name="S11-text11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규칙을 찾아 □에 알맞은 수를 말해요.</a:t>
            </a:r>
            <a:endParaRPr lang="ko-KR" sz="3200" dirty="0"/>
          </a:p>
        </p:txBody>
      </p:sp>
      <p:sp>
        <p:nvSpPr>
          <p:cNvPr id="4" name="S11-card11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1-cardtext11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□가 들어간 줄은 몇씩 커지나요?</a:t>
            </a:r>
            <a:endParaRPr lang="ko-KR" sz="3200" dirty="0"/>
          </a:p>
        </p:txBody>
      </p:sp>
      <p:graphicFrame>
        <p:nvGraphicFramePr>
          <p:cNvPr id="12" name="S11-table1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542540"/>
          <a:ext cx="5385816" cy="914400"/>
        </p:xfrm>
        <a:graphic>
          <a:graphicData uri="http://schemas.openxmlformats.org/drawingml/2006/table">
            <a:tbl>
              <a:tblPr/>
              <a:tblGrid>
                <a:gridCol w="1077163"/>
                <a:gridCol w="1077163"/>
                <a:gridCol w="1077163"/>
                <a:gridCol w="1077163"/>
                <a:gridCol w="1077163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3" name="S11-table1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54496" y="2542540"/>
          <a:ext cx="5385816" cy="914400"/>
        </p:xfrm>
        <a:graphic>
          <a:graphicData uri="http://schemas.openxmlformats.org/drawingml/2006/table">
            <a:tbl>
              <a:tblPr/>
              <a:tblGrid>
                <a:gridCol w="1077163"/>
                <a:gridCol w="1077163"/>
                <a:gridCol w="1077163"/>
                <a:gridCol w="1077163"/>
                <a:gridCol w="1077163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×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2-text11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?와 □에 알맞은 것을 쓰고 규칙을 말해요.</a:t>
            </a:r>
            <a:endParaRPr lang="ko-KR" sz="3200" dirty="0"/>
          </a:p>
        </p:txBody>
      </p:sp>
      <p:sp>
        <p:nvSpPr>
          <p:cNvPr id="4" name="S12-card12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2-cardtext12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쌓기나무가 2개, 4개, 6개로 늘어나면 다음은?</a:t>
            </a:r>
            <a:endParaRPr lang="ko-KR" sz="3200" dirty="0"/>
          </a:p>
        </p:txBody>
      </p:sp>
      <p:sp>
        <p:nvSpPr>
          <p:cNvPr id="6" name="S12-tile122"/>
          <p:cNvSpPr txBox="1"/>
          <p:nvPr/>
        </p:nvSpPr>
        <p:spPr>
          <a:xfrm>
            <a:off x="548640" y="3008213"/>
            <a:ext cx="596973" cy="596973"/>
          </a:xfrm>
          <a:prstGeom prst="roundRect">
            <a:avLst>
              <a:gd name="adj" fmla="val 2144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2600" dirty="0"/>
          </a:p>
        </p:txBody>
      </p:sp>
      <p:sp>
        <p:nvSpPr>
          <p:cNvPr id="7" name="S12-tile123"/>
          <p:cNvSpPr txBox="1"/>
          <p:nvPr/>
        </p:nvSpPr>
        <p:spPr>
          <a:xfrm>
            <a:off x="1346781" y="3008213"/>
            <a:ext cx="596973" cy="596973"/>
          </a:xfrm>
          <a:prstGeom prst="roundRect">
            <a:avLst>
              <a:gd name="adj" fmla="val 2144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2600" dirty="0"/>
          </a:p>
        </p:txBody>
      </p:sp>
      <p:sp>
        <p:nvSpPr>
          <p:cNvPr id="8" name="S12-tile124"/>
          <p:cNvSpPr txBox="1"/>
          <p:nvPr/>
        </p:nvSpPr>
        <p:spPr>
          <a:xfrm>
            <a:off x="2144921" y="3008213"/>
            <a:ext cx="596973" cy="596973"/>
          </a:xfrm>
          <a:prstGeom prst="roundRect">
            <a:avLst>
              <a:gd name="adj" fmla="val 2144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2600" dirty="0"/>
          </a:p>
        </p:txBody>
      </p:sp>
      <p:sp>
        <p:nvSpPr>
          <p:cNvPr id="9" name="S12-tile125"/>
          <p:cNvSpPr txBox="1"/>
          <p:nvPr/>
        </p:nvSpPr>
        <p:spPr>
          <a:xfrm>
            <a:off x="2943062" y="3008213"/>
            <a:ext cx="596973" cy="596973"/>
          </a:xfrm>
          <a:prstGeom prst="roundRect">
            <a:avLst>
              <a:gd name="adj" fmla="val 2144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2600" dirty="0"/>
          </a:p>
        </p:txBody>
      </p:sp>
      <p:sp>
        <p:nvSpPr>
          <p:cNvPr id="10" name="S12-tile126"/>
          <p:cNvSpPr txBox="1"/>
          <p:nvPr/>
        </p:nvSpPr>
        <p:spPr>
          <a:xfrm>
            <a:off x="3741202" y="3008213"/>
            <a:ext cx="596973" cy="596973"/>
          </a:xfrm>
          <a:prstGeom prst="roundRect">
            <a:avLst>
              <a:gd name="adj" fmla="val 2144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2600" dirty="0"/>
          </a:p>
        </p:txBody>
      </p:sp>
      <p:sp>
        <p:nvSpPr>
          <p:cNvPr id="11" name="S12-tile127"/>
          <p:cNvSpPr txBox="1"/>
          <p:nvPr/>
        </p:nvSpPr>
        <p:spPr>
          <a:xfrm>
            <a:off x="4539343" y="3008213"/>
            <a:ext cx="596973" cy="596973"/>
          </a:xfrm>
          <a:prstGeom prst="roundRect">
            <a:avLst>
              <a:gd name="adj" fmla="val 2144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2600" dirty="0"/>
          </a:p>
        </p:txBody>
      </p:sp>
      <p:sp>
        <p:nvSpPr>
          <p:cNvPr id="12" name="S12-tile128"/>
          <p:cNvSpPr txBox="1"/>
          <p:nvPr/>
        </p:nvSpPr>
        <p:spPr>
          <a:xfrm>
            <a:off x="5337483" y="3008213"/>
            <a:ext cx="596973" cy="596973"/>
          </a:xfrm>
          <a:prstGeom prst="roundRect">
            <a:avLst>
              <a:gd name="adj" fmla="val 2144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2600" dirty="0"/>
          </a:p>
        </p:txBody>
      </p:sp>
      <p:sp>
        <p:nvSpPr>
          <p:cNvPr id="13" name="S12-label129"/>
          <p:cNvSpPr txBox="1"/>
          <p:nvPr/>
        </p:nvSpPr>
        <p:spPr>
          <a:xfrm>
            <a:off x="548640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graphicFrame>
        <p:nvGraphicFramePr>
          <p:cNvPr id="13" name="S12-table1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54496" y="2794889"/>
          <a:ext cx="5385816" cy="914400"/>
        </p:xfrm>
        <a:graphic>
          <a:graphicData uri="http://schemas.openxmlformats.org/drawingml/2006/table">
            <a:tbl>
              <a:tblPr/>
              <a:tblGrid>
                <a:gridCol w="769402"/>
                <a:gridCol w="769402"/>
                <a:gridCol w="769402"/>
                <a:gridCol w="769402"/>
                <a:gridCol w="769402"/>
                <a:gridCol w="769402"/>
                <a:gridCol w="769402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×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S12-label131"/>
          <p:cNvSpPr txBox="1"/>
          <p:nvPr/>
        </p:nvSpPr>
        <p:spPr>
          <a:xfrm>
            <a:off x="6254496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알맞지 않은 규칙은?</a:t>
            </a:r>
            <a:endParaRPr lang="ko-KR" sz="4400" dirty="0"/>
          </a:p>
        </p:txBody>
      </p:sp>
      <p:sp>
        <p:nvSpPr>
          <p:cNvPr id="3" name="S14-text13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4단의 곱: 4, 8, 12, 16, 20</a:t>
            </a:r>
            <a:endParaRPr lang="ko-KR" sz="3200" dirty="0"/>
          </a:p>
        </p:txBody>
      </p:sp>
      <p:sp>
        <p:nvSpPr>
          <p:cNvPr id="4" name="S14-card13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4-cardtext13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알았는지 말해 보세요.</a:t>
            </a:r>
            <a:endParaRPr lang="ko-KR" sz="3200" dirty="0"/>
          </a:p>
        </p:txBody>
      </p:sp>
      <p:sp>
        <p:nvSpPr>
          <p:cNvPr id="6" name="S14-chip135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4-card136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4-cardtext137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4씩 커져요.</a:t>
            </a:r>
            <a:endParaRPr lang="ko-KR" sz="3200" dirty="0"/>
          </a:p>
        </p:txBody>
      </p:sp>
      <p:sp>
        <p:nvSpPr>
          <p:cNvPr id="9" name="S14-chip138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4-card139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4-cardtext140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2씩 커져요.</a:t>
            </a:r>
            <a:endParaRPr lang="ko-KR" sz="3200" dirty="0"/>
          </a:p>
        </p:txBody>
      </p:sp>
      <p:sp>
        <p:nvSpPr>
          <p:cNvPr id="12" name="S14-chip141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4-card142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4-cardtext143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짝수예요.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5-card144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5-cardtext145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되풀이되는 묶음이나 커지는 수를 찾아 규칙을 말해요.</a:t>
            </a:r>
            <a:endParaRPr lang="ko-KR" sz="3200" dirty="0"/>
          </a:p>
        </p:txBody>
      </p:sp>
      <p:sp>
        <p:nvSpPr>
          <p:cNvPr id="5" name="S15-chip146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묶음으로 끊어 읽기</a:t>
            </a:r>
            <a:endParaRPr lang="ko-KR" sz="2600" dirty="0"/>
          </a:p>
        </p:txBody>
      </p:sp>
      <p:sp>
        <p:nvSpPr>
          <p:cNvPr id="6" name="S15-chip147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바로 앞만 보고 정하기</a:t>
            </a:r>
            <a:endParaRPr lang="ko-KR" sz="2600" dirty="0"/>
          </a:p>
        </p:txBody>
      </p:sp>
      <p:sp>
        <p:nvSpPr>
          <p:cNvPr id="7" name="S15-text148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5-text149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●●▲●●▲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다음은?</a:t>
            </a:r>
            <a:endParaRPr lang="ko-KR" sz="2600" dirty="0"/>
          </a:p>
        </p:txBody>
      </p:sp>
      <p:sp>
        <p:nvSpPr>
          <p:cNvPr id="9" name="S15-text150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3, 6, 9, □</a:t>
            </a:r>
            <a:endParaRPr lang="ko-KR" sz="2600" dirty="0"/>
          </a:p>
        </p:txBody>
      </p:sp>
      <p:sp>
        <p:nvSpPr>
          <p:cNvPr id="10" name="S15-text151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덧셈표에서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오른쪽으로 가면?</a:t>
            </a:r>
            <a:endParaRPr lang="ko-KR" sz="2600" dirty="0"/>
          </a:p>
        </p:txBody>
      </p:sp>
      <p:sp>
        <p:nvSpPr>
          <p:cNvPr id="11" name="S15-text152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세 자리 수의 덧셈(초3)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뛰어 세기</a:t>
            </a:r>
            <a:endParaRPr lang="ko-KR" sz="4400" dirty="0"/>
          </a:p>
        </p:txBody>
      </p:sp>
      <p:sp>
        <p:nvSpPr>
          <p:cNvPr id="3" name="S16-text15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몇씩 커지는지 찾아요.</a:t>
            </a:r>
            <a:endParaRPr lang="ko-KR" sz="3200" dirty="0"/>
          </a:p>
        </p:txBody>
      </p:sp>
      <p:sp>
        <p:nvSpPr>
          <p:cNvPr id="4" name="S16-card154"/>
          <p:cNvSpPr/>
          <p:nvPr/>
        </p:nvSpPr>
        <p:spPr>
          <a:xfrm>
            <a:off x="548640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6-cardtext155"/>
          <p:cNvSpPr txBox="1"/>
          <p:nvPr/>
        </p:nvSpPr>
        <p:spPr>
          <a:xfrm>
            <a:off x="822960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0, 2, 4, 6, 8, 10</a:t>
            </a:r>
            <a:endParaRPr lang="ko-KR" sz="3200" dirty="0"/>
          </a:p>
        </p:txBody>
      </p:sp>
      <p:sp>
        <p:nvSpPr>
          <p:cNvPr id="6" name="S16-card156"/>
          <p:cNvSpPr/>
          <p:nvPr/>
        </p:nvSpPr>
        <p:spPr>
          <a:xfrm>
            <a:off x="6208776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6-cardtext157"/>
          <p:cNvSpPr txBox="1"/>
          <p:nvPr/>
        </p:nvSpPr>
        <p:spPr>
          <a:xfrm>
            <a:off x="6483096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2씩 커져요.</a:t>
            </a:r>
            <a:endParaRPr lang="ko-KR" sz="3200" dirty="0"/>
          </a:p>
        </p:txBody>
      </p:sp>
      <p:sp>
        <p:nvSpPr>
          <p:cNvPr id="8" name="S16-line158"/>
          <p:cNvSpPr/>
          <p:nvPr/>
        </p:nvSpPr>
        <p:spPr>
          <a:xfrm>
            <a:off x="685800" y="3939235"/>
            <a:ext cx="1081735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9" name="S16-line159"/>
          <p:cNvSpPr/>
          <p:nvPr/>
        </p:nvSpPr>
        <p:spPr>
          <a:xfrm>
            <a:off x="960120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16-label160"/>
          <p:cNvSpPr txBox="1"/>
          <p:nvPr/>
        </p:nvSpPr>
        <p:spPr>
          <a:xfrm>
            <a:off x="502920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600" dirty="0"/>
          </a:p>
        </p:txBody>
      </p:sp>
      <p:sp>
        <p:nvSpPr>
          <p:cNvPr id="11" name="S16-line161"/>
          <p:cNvSpPr/>
          <p:nvPr/>
        </p:nvSpPr>
        <p:spPr>
          <a:xfrm>
            <a:off x="1986991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16-label162"/>
          <p:cNvSpPr txBox="1"/>
          <p:nvPr/>
        </p:nvSpPr>
        <p:spPr>
          <a:xfrm>
            <a:off x="1529791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13" name="S16-line163"/>
          <p:cNvSpPr/>
          <p:nvPr/>
        </p:nvSpPr>
        <p:spPr>
          <a:xfrm>
            <a:off x="3013862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16-label164"/>
          <p:cNvSpPr txBox="1"/>
          <p:nvPr/>
        </p:nvSpPr>
        <p:spPr>
          <a:xfrm>
            <a:off x="2556662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15" name="S16-line165"/>
          <p:cNvSpPr/>
          <p:nvPr/>
        </p:nvSpPr>
        <p:spPr>
          <a:xfrm>
            <a:off x="4040734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16-label166"/>
          <p:cNvSpPr txBox="1"/>
          <p:nvPr/>
        </p:nvSpPr>
        <p:spPr>
          <a:xfrm>
            <a:off x="3583534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7" name="S16-line167"/>
          <p:cNvSpPr/>
          <p:nvPr/>
        </p:nvSpPr>
        <p:spPr>
          <a:xfrm>
            <a:off x="5067605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16-label168"/>
          <p:cNvSpPr txBox="1"/>
          <p:nvPr/>
        </p:nvSpPr>
        <p:spPr>
          <a:xfrm>
            <a:off x="4610405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19" name="S16-line169"/>
          <p:cNvSpPr/>
          <p:nvPr/>
        </p:nvSpPr>
        <p:spPr>
          <a:xfrm>
            <a:off x="6094476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16-label170"/>
          <p:cNvSpPr txBox="1"/>
          <p:nvPr/>
        </p:nvSpPr>
        <p:spPr>
          <a:xfrm>
            <a:off x="5637276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21" name="S16-line171"/>
          <p:cNvSpPr/>
          <p:nvPr/>
        </p:nvSpPr>
        <p:spPr>
          <a:xfrm>
            <a:off x="7121347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16-label172"/>
          <p:cNvSpPr txBox="1"/>
          <p:nvPr/>
        </p:nvSpPr>
        <p:spPr>
          <a:xfrm>
            <a:off x="6664147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23" name="S16-line173"/>
          <p:cNvSpPr/>
          <p:nvPr/>
        </p:nvSpPr>
        <p:spPr>
          <a:xfrm>
            <a:off x="8148218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16-label174"/>
          <p:cNvSpPr txBox="1"/>
          <p:nvPr/>
        </p:nvSpPr>
        <p:spPr>
          <a:xfrm>
            <a:off x="7691018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25" name="S16-line175"/>
          <p:cNvSpPr/>
          <p:nvPr/>
        </p:nvSpPr>
        <p:spPr>
          <a:xfrm>
            <a:off x="9175090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16-label176"/>
          <p:cNvSpPr txBox="1"/>
          <p:nvPr/>
        </p:nvSpPr>
        <p:spPr>
          <a:xfrm>
            <a:off x="8717890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27" name="S16-line177"/>
          <p:cNvSpPr/>
          <p:nvPr/>
        </p:nvSpPr>
        <p:spPr>
          <a:xfrm>
            <a:off x="10201961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8" name="S16-label178"/>
          <p:cNvSpPr txBox="1"/>
          <p:nvPr/>
        </p:nvSpPr>
        <p:spPr>
          <a:xfrm>
            <a:off x="9744761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29" name="S16-line179"/>
          <p:cNvSpPr/>
          <p:nvPr/>
        </p:nvSpPr>
        <p:spPr>
          <a:xfrm>
            <a:off x="11228832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0" name="S16-label180"/>
          <p:cNvSpPr txBox="1"/>
          <p:nvPr/>
        </p:nvSpPr>
        <p:spPr>
          <a:xfrm>
            <a:off x="10771632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31" name="S16-mark181"/>
          <p:cNvSpPr/>
          <p:nvPr/>
        </p:nvSpPr>
        <p:spPr>
          <a:xfrm>
            <a:off x="868680" y="3847795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2" name="S16-mark182"/>
          <p:cNvSpPr/>
          <p:nvPr/>
        </p:nvSpPr>
        <p:spPr>
          <a:xfrm>
            <a:off x="2922422" y="3847795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3" name="S16-mark183"/>
          <p:cNvSpPr/>
          <p:nvPr/>
        </p:nvSpPr>
        <p:spPr>
          <a:xfrm>
            <a:off x="4976165" y="3847795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4" name="S16-mark184"/>
          <p:cNvSpPr/>
          <p:nvPr/>
        </p:nvSpPr>
        <p:spPr>
          <a:xfrm>
            <a:off x="7029907" y="3847795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5" name="S16-mark185"/>
          <p:cNvSpPr/>
          <p:nvPr/>
        </p:nvSpPr>
        <p:spPr>
          <a:xfrm>
            <a:off x="9083650" y="3847795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6" name="S16-mark186"/>
          <p:cNvSpPr/>
          <p:nvPr/>
        </p:nvSpPr>
        <p:spPr>
          <a:xfrm>
            <a:off x="11137392" y="3847795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7" name="S16-line187"/>
          <p:cNvSpPr/>
          <p:nvPr/>
        </p:nvSpPr>
        <p:spPr>
          <a:xfrm flipV="1">
            <a:off x="960120" y="3555187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8" name="S16-line188"/>
          <p:cNvSpPr/>
          <p:nvPr/>
        </p:nvSpPr>
        <p:spPr>
          <a:xfrm>
            <a:off x="960120" y="3555187"/>
            <a:ext cx="2053742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9" name="S16-label189"/>
          <p:cNvSpPr txBox="1"/>
          <p:nvPr/>
        </p:nvSpPr>
        <p:spPr>
          <a:xfrm>
            <a:off x="960120" y="3107639"/>
            <a:ext cx="2053742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+2</a:t>
            </a:r>
            <a:endParaRPr lang="ko-KR" sz="2600" dirty="0"/>
          </a:p>
        </p:txBody>
      </p:sp>
      <p:sp>
        <p:nvSpPr>
          <p:cNvPr id="40" name="S16-line190"/>
          <p:cNvSpPr/>
          <p:nvPr/>
        </p:nvSpPr>
        <p:spPr>
          <a:xfrm flipV="1">
            <a:off x="3013862" y="3555187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1" name="S16-line191"/>
          <p:cNvSpPr/>
          <p:nvPr/>
        </p:nvSpPr>
        <p:spPr>
          <a:xfrm>
            <a:off x="3013862" y="3555187"/>
            <a:ext cx="2053742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2" name="S16-label192"/>
          <p:cNvSpPr txBox="1"/>
          <p:nvPr/>
        </p:nvSpPr>
        <p:spPr>
          <a:xfrm>
            <a:off x="3013862" y="3107639"/>
            <a:ext cx="2053742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+2</a:t>
            </a:r>
            <a:endParaRPr lang="ko-KR" sz="2600" dirty="0"/>
          </a:p>
        </p:txBody>
      </p:sp>
      <p:sp>
        <p:nvSpPr>
          <p:cNvPr id="43" name="S16-line193"/>
          <p:cNvSpPr/>
          <p:nvPr/>
        </p:nvSpPr>
        <p:spPr>
          <a:xfrm flipV="1">
            <a:off x="5067605" y="3555187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4" name="S16-line194"/>
          <p:cNvSpPr/>
          <p:nvPr/>
        </p:nvSpPr>
        <p:spPr>
          <a:xfrm>
            <a:off x="5067605" y="3555187"/>
            <a:ext cx="2053742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5" name="S16-label195"/>
          <p:cNvSpPr txBox="1"/>
          <p:nvPr/>
        </p:nvSpPr>
        <p:spPr>
          <a:xfrm>
            <a:off x="5067605" y="3107639"/>
            <a:ext cx="2053742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+2</a:t>
            </a:r>
            <a:endParaRPr lang="ko-KR" sz="2600" dirty="0"/>
          </a:p>
        </p:txBody>
      </p:sp>
      <p:sp>
        <p:nvSpPr>
          <p:cNvPr id="46" name="S16-line196"/>
          <p:cNvSpPr/>
          <p:nvPr/>
        </p:nvSpPr>
        <p:spPr>
          <a:xfrm flipV="1">
            <a:off x="7121347" y="3555187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7" name="S16-line197"/>
          <p:cNvSpPr/>
          <p:nvPr/>
        </p:nvSpPr>
        <p:spPr>
          <a:xfrm>
            <a:off x="7121347" y="3555187"/>
            <a:ext cx="2053742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8" name="S16-label198"/>
          <p:cNvSpPr txBox="1"/>
          <p:nvPr/>
        </p:nvSpPr>
        <p:spPr>
          <a:xfrm>
            <a:off x="7121347" y="3107639"/>
            <a:ext cx="2053742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+2</a:t>
            </a:r>
            <a:endParaRPr lang="ko-KR" sz="2600" dirty="0"/>
          </a:p>
        </p:txBody>
      </p:sp>
      <p:sp>
        <p:nvSpPr>
          <p:cNvPr id="49" name="S16-line199"/>
          <p:cNvSpPr/>
          <p:nvPr/>
        </p:nvSpPr>
        <p:spPr>
          <a:xfrm flipV="1">
            <a:off x="9175090" y="3555187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50" name="S16-line200"/>
          <p:cNvSpPr/>
          <p:nvPr/>
        </p:nvSpPr>
        <p:spPr>
          <a:xfrm>
            <a:off x="9175090" y="3555187"/>
            <a:ext cx="2053742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51" name="S16-label201"/>
          <p:cNvSpPr txBox="1"/>
          <p:nvPr/>
        </p:nvSpPr>
        <p:spPr>
          <a:xfrm>
            <a:off x="9175090" y="3107639"/>
            <a:ext cx="2053742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+2</a:t>
            </a:r>
            <a:endParaRPr lang="ko-KR" sz="2600" dirty="0"/>
          </a:p>
        </p:txBody>
      </p:sp>
      <p:sp>
        <p:nvSpPr>
          <p:cNvPr id="52" name="S16-figure202" descr="0부터 10까지 2씩 뛰어 세는 수직선"/>
          <p:cNvSpPr/>
          <p:nvPr/>
        </p:nvSpPr>
        <p:spPr>
          <a:xfrm>
            <a:off x="685800" y="3756355"/>
            <a:ext cx="10817352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수학 무늬와 수의 규칙</dc:title>
  <dc:subject>KR22-G02-MAT-PATTERN-L01</dc:subject>
  <dc:creator>education-ppt</dc:creator>
  <cp:lastModifiedBy>education-ppt</cp:lastModifiedBy>
  <cp:revision>1</cp:revision>
  <dcterms:created xsi:type="dcterms:W3CDTF">2026-10-26T07:46:53Z</dcterms:created>
  <dcterms:modified xsi:type="dcterms:W3CDTF">2026-10-26T07:46:53Z</dcterms:modified>
</cp:coreProperties>
</file>