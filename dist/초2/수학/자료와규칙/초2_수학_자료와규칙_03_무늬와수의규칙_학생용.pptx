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3a5e351-20d6-df21-b9c4-8559473ee09a}">
          <p14:sldIdLst>
            <p14:sldId id="256"/>
            <p14:sldId id="257"/>
          </p14:sldIdLst>
        </p14:section>
        <p14:section name="개념" id="{74a839cc-9140-4a3b-5825-5208fd7cba74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06328e48-de47-1c80-2667-31337a4c5420}">
          <p14:sldIdLst>
            <p14:sldId id="261"/>
            <p14:sldId id="262"/>
            <p14:sldId id="266"/>
          </p14:sldIdLst>
        </p14:section>
        <p14:section name="개념" id="{3480687f-28d7-807f-8e2a-d4b6b49629f4}">
          <p14:sldIdLst/>
        </p14:section>
        <p14:section name="연습" id="{358b723d-9910-9b84-3f98-b0f64a15818e}">
          <p14:sldIdLst/>
        </p14:section>
        <p14:section name="확인" id="{bc824d04-07ab-0169-5d37-b1bf2efe4180}">
          <p14:sldIdLst>
            <p14:sldId id="267"/>
            <p14:sldId id="268"/>
          </p14:sldIdLst>
        </p14:section>
        <p14:section name="정리" id="{0ea90470-823f-184e-d6ab-65827d346bb1}">
          <p14:sldIdLst>
            <p14:sldId id="269"/>
          </p14:sldIdLst>
        </p14:section>
        <p14:section name="보충" id="{6b84344e-f2e9-69b5-5f4e-3a215231899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무늬와 수의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무엇이 올까?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무늬와 쌓은 모양에서 규칙을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덧셈표와 곱셈표에서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□, 10</a:t>
            </a:r>
            <a:endParaRPr lang="ko-KR" sz="36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35, 40, 45, □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무늬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되풀이되는지 찾아요.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다음을 알 수 있어요.</a:t>
            </a:r>
            <a:endParaRPr lang="ko-KR" sz="3200" dirty="0"/>
          </a:p>
        </p:txBody>
      </p:sp>
      <p:sp>
        <p:nvSpPr>
          <p:cNvPr id="6" name="S03-card1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●, ▲, ▲가 되풀이돼요.</a:t>
            </a:r>
            <a:endParaRPr lang="ko-KR" sz="3200" dirty="0"/>
          </a:p>
        </p:txBody>
      </p:sp>
      <p:sp>
        <p:nvSpPr>
          <p:cNvPr id="8" name="S03-card1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다음에 또 ●가 와요.</a:t>
            </a:r>
            <a:endParaRPr lang="ko-KR" sz="3200" dirty="0"/>
          </a:p>
        </p:txBody>
      </p:sp>
      <p:sp>
        <p:nvSpPr>
          <p:cNvPr id="10" name="S03-tile21"/>
          <p:cNvSpPr txBox="1"/>
          <p:nvPr/>
        </p:nvSpPr>
        <p:spPr>
          <a:xfrm>
            <a:off x="54864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1" name="S03-tile22"/>
          <p:cNvSpPr txBox="1"/>
          <p:nvPr/>
        </p:nvSpPr>
        <p:spPr>
          <a:xfrm>
            <a:off x="180340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2" name="S03-tile23"/>
          <p:cNvSpPr txBox="1"/>
          <p:nvPr/>
        </p:nvSpPr>
        <p:spPr>
          <a:xfrm>
            <a:off x="305816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3" name="S03-tile24"/>
          <p:cNvSpPr txBox="1"/>
          <p:nvPr/>
        </p:nvSpPr>
        <p:spPr>
          <a:xfrm>
            <a:off x="431292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4" name="S03-tile25"/>
          <p:cNvSpPr txBox="1"/>
          <p:nvPr/>
        </p:nvSpPr>
        <p:spPr>
          <a:xfrm>
            <a:off x="556768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5" name="S03-tile26"/>
          <p:cNvSpPr txBox="1"/>
          <p:nvPr/>
        </p:nvSpPr>
        <p:spPr>
          <a:xfrm>
            <a:off x="682244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6" name="S03-tile27"/>
          <p:cNvSpPr txBox="1"/>
          <p:nvPr/>
        </p:nvSpPr>
        <p:spPr>
          <a:xfrm>
            <a:off x="807720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7" name="S03-tile28"/>
          <p:cNvSpPr txBox="1"/>
          <p:nvPr/>
        </p:nvSpPr>
        <p:spPr>
          <a:xfrm>
            <a:off x="933196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8" name="S03-tile29"/>
          <p:cNvSpPr txBox="1"/>
          <p:nvPr/>
        </p:nvSpPr>
        <p:spPr>
          <a:xfrm>
            <a:off x="1058672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무늬의 규칙</a:t>
            </a:r>
            <a:endParaRPr lang="ko-KR" sz="44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색칠한 칸을 봐요.</a:t>
            </a:r>
            <a:endParaRPr lang="ko-KR" sz="3200" dirty="0"/>
          </a:p>
        </p:txBody>
      </p:sp>
      <p:sp>
        <p:nvSpPr>
          <p:cNvPr id="4" name="S04-card31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윗줄: 색칠, 안 함이 번갈아요.</a:t>
            </a:r>
            <a:endParaRPr lang="ko-KR" sz="3200" dirty="0"/>
          </a:p>
        </p:txBody>
      </p:sp>
      <p:sp>
        <p:nvSpPr>
          <p:cNvPr id="6" name="S04-card33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4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아랫줄은 윗줄과 반대예요.</a:t>
            </a:r>
            <a:endParaRPr lang="ko-KR" sz="3200" dirty="0"/>
          </a:p>
        </p:txBody>
      </p:sp>
      <p:sp>
        <p:nvSpPr>
          <p:cNvPr id="8" name="S04-cell35"/>
          <p:cNvSpPr/>
          <p:nvPr/>
        </p:nvSpPr>
        <p:spPr>
          <a:xfrm>
            <a:off x="207111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36"/>
          <p:cNvSpPr/>
          <p:nvPr/>
        </p:nvSpPr>
        <p:spPr>
          <a:xfrm>
            <a:off x="307695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37"/>
          <p:cNvSpPr/>
          <p:nvPr/>
        </p:nvSpPr>
        <p:spPr>
          <a:xfrm>
            <a:off x="408279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38"/>
          <p:cNvSpPr/>
          <p:nvPr/>
        </p:nvSpPr>
        <p:spPr>
          <a:xfrm>
            <a:off x="508863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39"/>
          <p:cNvSpPr/>
          <p:nvPr/>
        </p:nvSpPr>
        <p:spPr>
          <a:xfrm>
            <a:off x="609447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40"/>
          <p:cNvSpPr/>
          <p:nvPr/>
        </p:nvSpPr>
        <p:spPr>
          <a:xfrm>
            <a:off x="710031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41"/>
          <p:cNvSpPr/>
          <p:nvPr/>
        </p:nvSpPr>
        <p:spPr>
          <a:xfrm>
            <a:off x="810615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42"/>
          <p:cNvSpPr/>
          <p:nvPr/>
        </p:nvSpPr>
        <p:spPr>
          <a:xfrm>
            <a:off x="911199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43"/>
          <p:cNvSpPr/>
          <p:nvPr/>
        </p:nvSpPr>
        <p:spPr>
          <a:xfrm>
            <a:off x="207111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44"/>
          <p:cNvSpPr/>
          <p:nvPr/>
        </p:nvSpPr>
        <p:spPr>
          <a:xfrm>
            <a:off x="307695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45"/>
          <p:cNvSpPr/>
          <p:nvPr/>
        </p:nvSpPr>
        <p:spPr>
          <a:xfrm>
            <a:off x="408279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46"/>
          <p:cNvSpPr/>
          <p:nvPr/>
        </p:nvSpPr>
        <p:spPr>
          <a:xfrm>
            <a:off x="508863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47"/>
          <p:cNvSpPr/>
          <p:nvPr/>
        </p:nvSpPr>
        <p:spPr>
          <a:xfrm>
            <a:off x="609447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48"/>
          <p:cNvSpPr/>
          <p:nvPr/>
        </p:nvSpPr>
        <p:spPr>
          <a:xfrm>
            <a:off x="710031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49"/>
          <p:cNvSpPr/>
          <p:nvPr/>
        </p:nvSpPr>
        <p:spPr>
          <a:xfrm>
            <a:off x="810615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cell50"/>
          <p:cNvSpPr/>
          <p:nvPr/>
        </p:nvSpPr>
        <p:spPr>
          <a:xfrm>
            <a:off x="911199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figure51" descr="두 줄 무늬: 윗줄은 색칠한 칸과 안 한 칸이 번갈아, 아랫줄은 윗줄과 반대. 색칠한 칸 8개"/>
          <p:cNvSpPr/>
          <p:nvPr/>
        </p:nvSpPr>
        <p:spPr>
          <a:xfrm>
            <a:off x="2071116" y="2334260"/>
            <a:ext cx="80467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쌓은 모양의 규칙</a:t>
            </a:r>
            <a:endParaRPr lang="ko-KR" sz="44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쌓은 모양을 앞에서 봤어요.</a:t>
            </a:r>
            <a:endParaRPr lang="ko-KR" sz="3200" dirty="0"/>
          </a:p>
        </p:txBody>
      </p:sp>
      <p:sp>
        <p:nvSpPr>
          <p:cNvPr id="4" name="S05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→ 3개 →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1개, 오른쪽에 1개, 2개씩 늘어나요.</a:t>
            </a:r>
            <a:endParaRPr lang="ko-KR" sz="3200" dirty="0"/>
          </a:p>
        </p:txBody>
      </p:sp>
      <p:sp>
        <p:nvSpPr>
          <p:cNvPr id="6" name="S05-cell55"/>
          <p:cNvSpPr/>
          <p:nvPr/>
        </p:nvSpPr>
        <p:spPr>
          <a:xfrm>
            <a:off x="153619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56"/>
          <p:cNvSpPr/>
          <p:nvPr/>
        </p:nvSpPr>
        <p:spPr>
          <a:xfrm>
            <a:off x="203911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57"/>
          <p:cNvSpPr/>
          <p:nvPr/>
        </p:nvSpPr>
        <p:spPr>
          <a:xfrm>
            <a:off x="254203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58"/>
          <p:cNvSpPr/>
          <p:nvPr/>
        </p:nvSpPr>
        <p:spPr>
          <a:xfrm>
            <a:off x="153619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59"/>
          <p:cNvSpPr/>
          <p:nvPr/>
        </p:nvSpPr>
        <p:spPr>
          <a:xfrm>
            <a:off x="203911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60"/>
          <p:cNvSpPr/>
          <p:nvPr/>
        </p:nvSpPr>
        <p:spPr>
          <a:xfrm>
            <a:off x="254203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61"/>
          <p:cNvSpPr/>
          <p:nvPr/>
        </p:nvSpPr>
        <p:spPr>
          <a:xfrm>
            <a:off x="1536192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62"/>
          <p:cNvSpPr/>
          <p:nvPr/>
        </p:nvSpPr>
        <p:spPr>
          <a:xfrm>
            <a:off x="2039112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63"/>
          <p:cNvSpPr/>
          <p:nvPr/>
        </p:nvSpPr>
        <p:spPr>
          <a:xfrm>
            <a:off x="2542032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figure64" descr="한 줄로 쌓은 모양(앞에서 봄): 1층 1개, 맨 왼쪽 위로 0개, 모두 1개"/>
          <p:cNvSpPr/>
          <p:nvPr/>
        </p:nvSpPr>
        <p:spPr>
          <a:xfrm>
            <a:off x="1536192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5-label6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600" dirty="0"/>
          </a:p>
        </p:txBody>
      </p:sp>
      <p:sp>
        <p:nvSpPr>
          <p:cNvPr id="17" name="S05-cell66"/>
          <p:cNvSpPr/>
          <p:nvPr/>
        </p:nvSpPr>
        <p:spPr>
          <a:xfrm>
            <a:off x="534009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67"/>
          <p:cNvSpPr/>
          <p:nvPr/>
        </p:nvSpPr>
        <p:spPr>
          <a:xfrm>
            <a:off x="584301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68"/>
          <p:cNvSpPr/>
          <p:nvPr/>
        </p:nvSpPr>
        <p:spPr>
          <a:xfrm>
            <a:off x="634593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69"/>
          <p:cNvSpPr/>
          <p:nvPr/>
        </p:nvSpPr>
        <p:spPr>
          <a:xfrm>
            <a:off x="5340096" y="283756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0"/>
          <p:cNvSpPr/>
          <p:nvPr/>
        </p:nvSpPr>
        <p:spPr>
          <a:xfrm>
            <a:off x="5843016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1"/>
          <p:cNvSpPr/>
          <p:nvPr/>
        </p:nvSpPr>
        <p:spPr>
          <a:xfrm>
            <a:off x="6345936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72"/>
          <p:cNvSpPr/>
          <p:nvPr/>
        </p:nvSpPr>
        <p:spPr>
          <a:xfrm>
            <a:off x="5340096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73"/>
          <p:cNvSpPr/>
          <p:nvPr/>
        </p:nvSpPr>
        <p:spPr>
          <a:xfrm>
            <a:off x="5843016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74"/>
          <p:cNvSpPr/>
          <p:nvPr/>
        </p:nvSpPr>
        <p:spPr>
          <a:xfrm>
            <a:off x="6345936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figure75" descr="한 줄로 쌓은 모양(앞에서 봄): 1층 2개, 맨 왼쪽 위로 1개, 모두 3개"/>
          <p:cNvSpPr/>
          <p:nvPr/>
        </p:nvSpPr>
        <p:spPr>
          <a:xfrm>
            <a:off x="5340096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5-label76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600" dirty="0"/>
          </a:p>
        </p:txBody>
      </p:sp>
      <p:sp>
        <p:nvSpPr>
          <p:cNvPr id="28" name="S05-cell77"/>
          <p:cNvSpPr/>
          <p:nvPr/>
        </p:nvSpPr>
        <p:spPr>
          <a:xfrm>
            <a:off x="9144000" y="233464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78"/>
          <p:cNvSpPr/>
          <p:nvPr/>
        </p:nvSpPr>
        <p:spPr>
          <a:xfrm>
            <a:off x="9646920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79"/>
          <p:cNvSpPr/>
          <p:nvPr/>
        </p:nvSpPr>
        <p:spPr>
          <a:xfrm>
            <a:off x="10149840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80"/>
          <p:cNvSpPr/>
          <p:nvPr/>
        </p:nvSpPr>
        <p:spPr>
          <a:xfrm>
            <a:off x="9144000" y="283756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81"/>
          <p:cNvSpPr/>
          <p:nvPr/>
        </p:nvSpPr>
        <p:spPr>
          <a:xfrm>
            <a:off x="9646920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82"/>
          <p:cNvSpPr/>
          <p:nvPr/>
        </p:nvSpPr>
        <p:spPr>
          <a:xfrm>
            <a:off x="10149840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83"/>
          <p:cNvSpPr/>
          <p:nvPr/>
        </p:nvSpPr>
        <p:spPr>
          <a:xfrm>
            <a:off x="914400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cell84"/>
          <p:cNvSpPr/>
          <p:nvPr/>
        </p:nvSpPr>
        <p:spPr>
          <a:xfrm>
            <a:off x="964692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cell85"/>
          <p:cNvSpPr/>
          <p:nvPr/>
        </p:nvSpPr>
        <p:spPr>
          <a:xfrm>
            <a:off x="1014984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5-figure86" descr="한 줄로 쌓은 모양(앞에서 봄): 1층 3개, 맨 왼쪽 위로 2개, 모두 5개"/>
          <p:cNvSpPr/>
          <p:nvPr/>
        </p:nvSpPr>
        <p:spPr>
          <a:xfrm>
            <a:off x="9144000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5-label87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것은?</a:t>
            </a:r>
            <a:endParaRPr lang="ko-KR" sz="4400" dirty="0"/>
          </a:p>
        </p:txBody>
      </p:sp>
      <p:sp>
        <p:nvSpPr>
          <p:cNvPr id="3" name="S06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묶음을 찾아 ?를 알아내요.</a:t>
            </a:r>
            <a:endParaRPr lang="ko-KR" sz="3200" dirty="0"/>
          </a:p>
        </p:txBody>
      </p:sp>
      <p:sp>
        <p:nvSpPr>
          <p:cNvPr id="4" name="S06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S05의 넷째 모양은 쌓기나무 몇 개일까요?</a:t>
            </a:r>
            <a:endParaRPr lang="ko-KR" sz="3200" dirty="0"/>
          </a:p>
        </p:txBody>
      </p:sp>
      <p:sp>
        <p:nvSpPr>
          <p:cNvPr id="6" name="S06-eqtext91"/>
          <p:cNvSpPr txBox="1"/>
          <p:nvPr/>
        </p:nvSpPr>
        <p:spPr>
          <a:xfrm>
            <a:off x="548640" y="2011680"/>
            <a:ext cx="110916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■ ● ● ■ ● ● ■ ?</a:t>
            </a:r>
            <a:endParaRPr lang="ko-KR" sz="4800" dirty="0"/>
          </a:p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○ ○ ● ○ ○ ● ○ ?</a:t>
            </a:r>
            <a:endParaRPr lang="ko-KR" sz="4800" dirty="0"/>
          </a:p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▲ △ ▲ △ ▲ ?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9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9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■■●■■●■ 다음에 올 모양은?</a:t>
            </a:r>
            <a:endParaRPr lang="ko-KR" sz="3200" dirty="0"/>
          </a:p>
        </p:txBody>
      </p:sp>
      <p:sp>
        <p:nvSpPr>
          <p:cNvPr id="5" name="S07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9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●</a:t>
            </a:r>
            <a:endParaRPr lang="ko-KR" sz="2600" dirty="0"/>
          </a:p>
        </p:txBody>
      </p:sp>
      <p:sp>
        <p:nvSpPr>
          <p:cNvPr id="8" name="S07-text9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다음에는 ●가 와요.</a:t>
            </a:r>
            <a:endParaRPr lang="ko-KR" sz="3200" dirty="0"/>
          </a:p>
        </p:txBody>
      </p:sp>
      <p:sp>
        <p:nvSpPr>
          <p:cNvPr id="9" name="S07-chip9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■</a:t>
            </a:r>
            <a:endParaRPr lang="ko-KR" sz="2600" dirty="0"/>
          </a:p>
        </p:txBody>
      </p:sp>
      <p:sp>
        <p:nvSpPr>
          <p:cNvPr id="10" name="S07-text9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■, ■, ●가 되풀이돼요.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덧셈표의 규칙</a:t>
            </a:r>
            <a:endParaRPr lang="ko-KR" sz="4400" dirty="0"/>
          </a:p>
        </p:txBody>
      </p:sp>
      <p:sp>
        <p:nvSpPr>
          <p:cNvPr id="3" name="S08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줄의 수와 칸의 수를 더한 표예요.</a:t>
            </a:r>
            <a:endParaRPr lang="ko-KR" sz="3200" dirty="0"/>
          </a:p>
        </p:txBody>
      </p:sp>
      <p:sp>
        <p:nvSpPr>
          <p:cNvPr id="4" name="S08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1씩, 아래로 1씩 커져요.</a:t>
            </a:r>
            <a:endParaRPr lang="ko-KR" sz="3200" dirty="0"/>
          </a:p>
        </p:txBody>
      </p:sp>
      <p:graphicFrame>
        <p:nvGraphicFramePr>
          <p:cNvPr id="9" name="S08-table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0312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비스듬히 보면</a:t>
            </a:r>
            <a:endParaRPr lang="ko-KR" sz="4400" dirty="0"/>
          </a:p>
        </p:txBody>
      </p:sp>
      <p:sp>
        <p:nvSpPr>
          <p:cNvPr id="3" name="S09-card104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5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2, 4, 6, 8, 10: 2씩 커져요.</a:t>
            </a:r>
            <a:endParaRPr lang="ko-KR" sz="3200" dirty="0"/>
          </a:p>
        </p:txBody>
      </p:sp>
      <p:sp>
        <p:nvSpPr>
          <p:cNvPr id="5" name="S09-card106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07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6, 6, 6, 6, 6: 모두 같아요.</a:t>
            </a:r>
            <a:endParaRPr lang="ko-KR" sz="3200" dirty="0"/>
          </a:p>
        </p:txBody>
      </p:sp>
      <p:graphicFrame>
        <p:nvGraphicFramePr>
          <p:cNvPr id="10" name="S09-table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141224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곱셈표의 규칙</a:t>
            </a:r>
            <a:endParaRPr lang="ko-KR" sz="4400" dirty="0"/>
          </a:p>
        </p:txBody>
      </p:sp>
      <p:sp>
        <p:nvSpPr>
          <p:cNvPr id="3" name="S10-card10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3단은 3씩 커져요.</a:t>
            </a:r>
            <a:endParaRPr lang="ko-KR" sz="3200" dirty="0"/>
          </a:p>
        </p:txBody>
      </p:sp>
      <p:sp>
        <p:nvSpPr>
          <p:cNvPr id="5" name="S10-card11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1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4와 4 × 3은 같아요.</a:t>
            </a:r>
            <a:endParaRPr lang="ko-KR" sz="3200" dirty="0"/>
          </a:p>
        </p:txBody>
      </p:sp>
      <p:graphicFrame>
        <p:nvGraphicFramePr>
          <p:cNvPr id="11" name="S10-table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163830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채워요</a:t>
            </a:r>
            <a:endParaRPr lang="ko-KR" sz="4400" dirty="0"/>
          </a:p>
        </p:txBody>
      </p:sp>
      <p:sp>
        <p:nvSpPr>
          <p:cNvPr id="3" name="S11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 □에 알맞은 수를 말해요.</a:t>
            </a:r>
            <a:endParaRPr lang="ko-KR" sz="3200" dirty="0"/>
          </a:p>
        </p:txBody>
      </p:sp>
      <p:sp>
        <p:nvSpPr>
          <p:cNvPr id="4" name="S11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들어간 줄은 몇씩 커지나요?</a:t>
            </a:r>
            <a:endParaRPr lang="ko-KR" sz="3200" dirty="0"/>
          </a:p>
        </p:txBody>
      </p:sp>
      <p:graphicFrame>
        <p:nvGraphicFramePr>
          <p:cNvPr id="12" name="S11-table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09520"/>
          <a:ext cx="5385816" cy="914400"/>
        </p:xfrm>
        <a:graphic>
          <a:graphicData uri="http://schemas.openxmlformats.org/drawingml/2006/table">
            <a:tbl>
              <a:tblPr/>
              <a:tblGrid>
                <a:gridCol w="1077163"/>
                <a:gridCol w="1077163"/>
                <a:gridCol w="1077163"/>
                <a:gridCol w="1077163"/>
                <a:gridCol w="1077163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S11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509520"/>
          <a:ext cx="5385816" cy="914400"/>
        </p:xfrm>
        <a:graphic>
          <a:graphicData uri="http://schemas.openxmlformats.org/drawingml/2006/table">
            <a:tbl>
              <a:tblPr/>
              <a:tblGrid>
                <a:gridCol w="1077163"/>
                <a:gridCol w="1077163"/>
                <a:gridCol w="1077163"/>
                <a:gridCol w="1077163"/>
                <a:gridCol w="1077163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?와 □에 알맞은 것을 쓰고 규칙을 말해요.</a:t>
            </a:r>
            <a:endParaRPr lang="ko-KR" sz="3200" dirty="0"/>
          </a:p>
        </p:txBody>
      </p:sp>
      <p:sp>
        <p:nvSpPr>
          <p:cNvPr id="4" name="S12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쌓기나무가 2개, 4개, 6개로 늘어나면 다음은?</a:t>
            </a:r>
            <a:endParaRPr lang="ko-KR" sz="3200" dirty="0"/>
          </a:p>
        </p:txBody>
      </p:sp>
      <p:sp>
        <p:nvSpPr>
          <p:cNvPr id="6" name="S12-tile122"/>
          <p:cNvSpPr txBox="1"/>
          <p:nvPr/>
        </p:nvSpPr>
        <p:spPr>
          <a:xfrm>
            <a:off x="548640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600" dirty="0"/>
          </a:p>
        </p:txBody>
      </p:sp>
      <p:sp>
        <p:nvSpPr>
          <p:cNvPr id="7" name="S12-tile123"/>
          <p:cNvSpPr txBox="1"/>
          <p:nvPr/>
        </p:nvSpPr>
        <p:spPr>
          <a:xfrm>
            <a:off x="1346781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8" name="S12-tile124"/>
          <p:cNvSpPr txBox="1"/>
          <p:nvPr/>
        </p:nvSpPr>
        <p:spPr>
          <a:xfrm>
            <a:off x="2144921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9" name="S12-tile125"/>
          <p:cNvSpPr txBox="1"/>
          <p:nvPr/>
        </p:nvSpPr>
        <p:spPr>
          <a:xfrm>
            <a:off x="2943062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600" dirty="0"/>
          </a:p>
        </p:txBody>
      </p:sp>
      <p:sp>
        <p:nvSpPr>
          <p:cNvPr id="10" name="S12-tile126"/>
          <p:cNvSpPr txBox="1"/>
          <p:nvPr/>
        </p:nvSpPr>
        <p:spPr>
          <a:xfrm>
            <a:off x="3741202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11" name="S12-tile127"/>
          <p:cNvSpPr txBox="1"/>
          <p:nvPr/>
        </p:nvSpPr>
        <p:spPr>
          <a:xfrm>
            <a:off x="4539343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12" name="S12-tile128"/>
          <p:cNvSpPr txBox="1"/>
          <p:nvPr/>
        </p:nvSpPr>
        <p:spPr>
          <a:xfrm>
            <a:off x="5337483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13" name="S12-label1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13" name="S12-table1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778379"/>
          <a:ext cx="5385816" cy="914400"/>
        </p:xfrm>
        <a:graphic>
          <a:graphicData uri="http://schemas.openxmlformats.org/drawingml/2006/table">
            <a:tbl>
              <a:tblPr/>
              <a:tblGrid>
                <a:gridCol w="769402"/>
                <a:gridCol w="769402"/>
                <a:gridCol w="769402"/>
                <a:gridCol w="769402"/>
                <a:gridCol w="769402"/>
                <a:gridCol w="769402"/>
                <a:gridCol w="76940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12-label13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않은 규칙은?</a:t>
            </a:r>
            <a:endParaRPr lang="ko-KR" sz="4400" dirty="0"/>
          </a:p>
        </p:txBody>
      </p:sp>
      <p:sp>
        <p:nvSpPr>
          <p:cNvPr id="3" name="S14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곱: 4, 8, 12, 16, 20</a:t>
            </a:r>
            <a:endParaRPr lang="ko-KR" sz="3200" dirty="0"/>
          </a:p>
        </p:txBody>
      </p:sp>
      <p:sp>
        <p:nvSpPr>
          <p:cNvPr id="4" name="S14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3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card13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3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커져요.</a:t>
            </a:r>
            <a:endParaRPr lang="ko-KR" sz="3200" dirty="0"/>
          </a:p>
        </p:txBody>
      </p:sp>
      <p:sp>
        <p:nvSpPr>
          <p:cNvPr id="9" name="S14-chip13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4-card13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4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</p:txBody>
      </p:sp>
      <p:sp>
        <p:nvSpPr>
          <p:cNvPr id="12" name="S14-chip14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4-card14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14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짝수예요.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묶음이나 커지는 수를 찾아 규칙을 말해요.</a:t>
            </a:r>
            <a:endParaRPr lang="ko-KR" sz="3200" dirty="0"/>
          </a:p>
        </p:txBody>
      </p:sp>
      <p:sp>
        <p:nvSpPr>
          <p:cNvPr id="5" name="S15-chip14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묶음으로 끊어 읽기</a:t>
            </a:r>
            <a:endParaRPr lang="ko-KR" sz="2600" dirty="0"/>
          </a:p>
        </p:txBody>
      </p:sp>
      <p:sp>
        <p:nvSpPr>
          <p:cNvPr id="6" name="S15-chip14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바로 앞만 보고 정하기</a:t>
            </a:r>
            <a:endParaRPr lang="ko-KR" sz="2600" dirty="0"/>
          </a:p>
        </p:txBody>
      </p:sp>
      <p:sp>
        <p:nvSpPr>
          <p:cNvPr id="7" name="S15-text14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4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●●▲●●▲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9" name="S15-text15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3, 6, 9, □</a:t>
            </a:r>
            <a:endParaRPr lang="ko-KR" sz="2600" dirty="0"/>
          </a:p>
        </p:txBody>
      </p:sp>
      <p:sp>
        <p:nvSpPr>
          <p:cNvPr id="10" name="S15-text15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덧셈표에서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가면?</a:t>
            </a:r>
            <a:endParaRPr lang="ko-KR" sz="2600" dirty="0"/>
          </a:p>
        </p:txBody>
      </p:sp>
      <p:sp>
        <p:nvSpPr>
          <p:cNvPr id="11" name="S15-text15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수의 덧셈(초3)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뛰어 세기</a:t>
            </a:r>
            <a:endParaRPr lang="ko-KR" sz="4400" dirty="0"/>
          </a:p>
        </p:txBody>
      </p:sp>
      <p:sp>
        <p:nvSpPr>
          <p:cNvPr id="3" name="S16-text1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커지는지 찾아요.</a:t>
            </a:r>
            <a:endParaRPr lang="ko-KR" sz="3200" dirty="0"/>
          </a:p>
        </p:txBody>
      </p:sp>
      <p:sp>
        <p:nvSpPr>
          <p:cNvPr id="4" name="S16-card154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155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0, 2, 4, 6, 8, 10</a:t>
            </a:r>
            <a:endParaRPr lang="ko-KR" sz="3200" dirty="0"/>
          </a:p>
        </p:txBody>
      </p:sp>
      <p:sp>
        <p:nvSpPr>
          <p:cNvPr id="6" name="S16-card156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57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</p:txBody>
      </p:sp>
      <p:sp>
        <p:nvSpPr>
          <p:cNvPr id="8" name="S16-line158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6-line159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160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6-line161"/>
          <p:cNvSpPr/>
          <p:nvPr/>
        </p:nvSpPr>
        <p:spPr>
          <a:xfrm>
            <a:off x="198699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162"/>
          <p:cNvSpPr txBox="1"/>
          <p:nvPr/>
        </p:nvSpPr>
        <p:spPr>
          <a:xfrm>
            <a:off x="152979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16-line163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164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16-line165"/>
          <p:cNvSpPr/>
          <p:nvPr/>
        </p:nvSpPr>
        <p:spPr>
          <a:xfrm>
            <a:off x="40407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166"/>
          <p:cNvSpPr txBox="1"/>
          <p:nvPr/>
        </p:nvSpPr>
        <p:spPr>
          <a:xfrm>
            <a:off x="358353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6-line167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6-label168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9" name="S16-line169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6-label170"/>
          <p:cNvSpPr txBox="1"/>
          <p:nvPr/>
        </p:nvSpPr>
        <p:spPr>
          <a:xfrm>
            <a:off x="563727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1" name="S16-line171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6-label172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3" name="S16-line173"/>
          <p:cNvSpPr/>
          <p:nvPr/>
        </p:nvSpPr>
        <p:spPr>
          <a:xfrm>
            <a:off x="814821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6-label174"/>
          <p:cNvSpPr txBox="1"/>
          <p:nvPr/>
        </p:nvSpPr>
        <p:spPr>
          <a:xfrm>
            <a:off x="769101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5" name="S16-line175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6-label176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7" name="S16-line177"/>
          <p:cNvSpPr/>
          <p:nvPr/>
        </p:nvSpPr>
        <p:spPr>
          <a:xfrm>
            <a:off x="1020196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6-label178"/>
          <p:cNvSpPr txBox="1"/>
          <p:nvPr/>
        </p:nvSpPr>
        <p:spPr>
          <a:xfrm>
            <a:off x="974476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9" name="S16-line179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180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1" name="S16-mark181"/>
          <p:cNvSpPr/>
          <p:nvPr/>
        </p:nvSpPr>
        <p:spPr>
          <a:xfrm>
            <a:off x="86868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6-mark182"/>
          <p:cNvSpPr/>
          <p:nvPr/>
        </p:nvSpPr>
        <p:spPr>
          <a:xfrm>
            <a:off x="292242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16-mark183"/>
          <p:cNvSpPr/>
          <p:nvPr/>
        </p:nvSpPr>
        <p:spPr>
          <a:xfrm>
            <a:off x="4976165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16-mark184"/>
          <p:cNvSpPr/>
          <p:nvPr/>
        </p:nvSpPr>
        <p:spPr>
          <a:xfrm>
            <a:off x="7029907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16-mark185"/>
          <p:cNvSpPr/>
          <p:nvPr/>
        </p:nvSpPr>
        <p:spPr>
          <a:xfrm>
            <a:off x="908365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16-mark186"/>
          <p:cNvSpPr/>
          <p:nvPr/>
        </p:nvSpPr>
        <p:spPr>
          <a:xfrm>
            <a:off x="1113739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16-line187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16-line188"/>
          <p:cNvSpPr/>
          <p:nvPr/>
        </p:nvSpPr>
        <p:spPr>
          <a:xfrm>
            <a:off x="96012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16-label189"/>
          <p:cNvSpPr txBox="1"/>
          <p:nvPr/>
        </p:nvSpPr>
        <p:spPr>
          <a:xfrm>
            <a:off x="96012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0" name="S16-line190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16-line191"/>
          <p:cNvSpPr/>
          <p:nvPr/>
        </p:nvSpPr>
        <p:spPr>
          <a:xfrm>
            <a:off x="3013862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16-label192"/>
          <p:cNvSpPr txBox="1"/>
          <p:nvPr/>
        </p:nvSpPr>
        <p:spPr>
          <a:xfrm>
            <a:off x="3013862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3" name="S16-line193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6-line194"/>
          <p:cNvSpPr/>
          <p:nvPr/>
        </p:nvSpPr>
        <p:spPr>
          <a:xfrm>
            <a:off x="5067605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6-label195"/>
          <p:cNvSpPr txBox="1"/>
          <p:nvPr/>
        </p:nvSpPr>
        <p:spPr>
          <a:xfrm>
            <a:off x="5067605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6" name="S16-line196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6-line197"/>
          <p:cNvSpPr/>
          <p:nvPr/>
        </p:nvSpPr>
        <p:spPr>
          <a:xfrm>
            <a:off x="7121347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6-label198"/>
          <p:cNvSpPr txBox="1"/>
          <p:nvPr/>
        </p:nvSpPr>
        <p:spPr>
          <a:xfrm>
            <a:off x="7121347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9" name="S16-line199"/>
          <p:cNvSpPr/>
          <p:nvPr/>
        </p:nvSpPr>
        <p:spPr>
          <a:xfrm flipV="1">
            <a:off x="917509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6-line200"/>
          <p:cNvSpPr/>
          <p:nvPr/>
        </p:nvSpPr>
        <p:spPr>
          <a:xfrm>
            <a:off x="917509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6-label201"/>
          <p:cNvSpPr txBox="1"/>
          <p:nvPr/>
        </p:nvSpPr>
        <p:spPr>
          <a:xfrm>
            <a:off x="917509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52" name="S16-figure202" descr="0부터 10까지 2씩 뛰어 세는 수직선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무늬와 수의 규칙</dc:title>
  <dc:subject>KR22-G02-MAT-PATTERN-L01</dc:subject>
  <dc:creator>education-ppt</dc:creator>
  <cp:lastModifiedBy>education-ppt</cp:lastModifiedBy>
  <cp:revision>1</cp:revision>
  <dcterms:created xsi:type="dcterms:W3CDTF">2026-10-26T07:14:31Z</dcterms:created>
  <dcterms:modified xsi:type="dcterms:W3CDTF">2026-10-26T07:14:31Z</dcterms:modified>
</cp:coreProperties>
</file>