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3e15370-790b-66c3-2159-39891b150fa8}">
          <p14:sldIdLst>
            <p14:sldId id="256"/>
            <p14:sldId id="257"/>
          </p14:sldIdLst>
        </p14:section>
        <p14:section name="개념" id="{f1e60722-56c7-50bd-4276-3bb1a93ece3f}">
          <p14:sldIdLst>
            <p14:sldId id="258"/>
            <p14:sldId id="259"/>
            <p14:sldId id="260"/>
            <p14:sldId id="263"/>
            <p14:sldId id="264"/>
            <p14:sldId id="265"/>
          </p14:sldIdLst>
        </p14:section>
        <p14:section name="연습" id="{93a785c4-d0d0-321f-c039-ca7cc6327132}">
          <p14:sldIdLst>
            <p14:sldId id="261"/>
            <p14:sldId id="262"/>
            <p14:sldId id="266"/>
          </p14:sldIdLst>
        </p14:section>
        <p14:section name="개념" id="{1430b05d-318d-f528-5f48-5841ebd601ec}">
          <p14:sldIdLst/>
        </p14:section>
        <p14:section name="연습" id="{3bd8d849-4746-9090-d565-a46b567a9699}">
          <p14:sldIdLst/>
        </p14:section>
        <p14:section name="확인" id="{0b919a0c-40c5-7d55-389c-aeef2db6beeb}">
          <p14:sldIdLst>
            <p14:sldId id="267"/>
            <p14:sldId id="268"/>
            <p14:sldId id="269"/>
          </p14:sldIdLst>
        </p14:section>
        <p14:section name="정리" id="{3a6f6d6d-6e17-795c-b15e-d1d563092b42}">
          <p14:sldIdLst>
            <p14:sldId id="270"/>
          </p14:sldIdLst>
        </p14:section>
        <p14:section name="보충" id="{b413d31f-6326-d71f-54a2-2b42600109ac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되풀이되는 것을 찾으면 다음을 알 수 있다는 것에 흥미를 갖게 합니다.
시간: 약 2분
이렇게 말해 보세요
- “동그라미, 세모, 동그라미, 세모… 그다음에는 무엇이 올까? 어떻게 알았어?”
- “이렇게 정해진 대로 되풀이되거나 늘어나는 것을 ‘규칙’이라고 해.”
예상 답
- “동그라미요. 번갈아 나와요.”
막히면
- 손뼉과 무릎 치기를 번갈아 하며 “짝, 탁, 짝, 탁, 그다음은?”으로 소리로 먼저 느끼게 합니다.
주의
- 오늘은 무늬, 쌓은 모양, 덧셈표, 곱셈표의 규칙을 차례로 봅니다. 길면 S07 뒤에서 나누어 이틀에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확인(뛰어 세기, 곱셈구구)]
목적: 수 배열의 규칙(뛰어 세기)과 곱셈구구가 되는지 확인합니다. 오늘 덧셈표·곱셈표의 규칙에 쓰입니다.
시간: 약 3분
이렇게 말해 보세요
- “①은 몇씩 커져? 빈칸은?”
- “②는 몇씩 커져? ③ 3 곱하기 4는?”
정답
- ① 8(2씩 커짐)
- ② 50(5씩 커짐)
- ③ 12
막히면
- ①②가 어려우면 S16(보충)을 먼저 합니다. 보충으로도 어려우면 초1 ‘수 배열의 규칙’(KR22-G01-MAT-NUMPAT-L01)을 먼저 합니다.
- ③이 어려우면 곱셈표 장(S10)은 곱셈구구표를 보면서 합니다. 이 차시의 앞 차시는 ‘표와 그래프’(KR22-G02-MAT-TABLEGRAPH-L01)입니다.
주의
- “몇씩 커져?”라는 질문이 오늘 수의 규칙을 찾는 열쇠입니다.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되풀이되는 무늬의 규칙]
목적: 무늬에서 되풀이되는 부분(●, ▲, ▲)을 찾아 규칙을 말로 설명합니다.
시간: 약 3분
이렇게 말해 보세요
- “테두리가 진한 세 장이 한 묶음이야. 이 묶음이 어떻게 나오는지 봐. 또 나와?”
- “규칙을 말해 볼래? ‘●, ▲, ▲가 되풀이돼요.’”
예상 답
- “동그라미 하나, 세모 둘이 계속 나와요.”
막히면
- 단추와 블록으로 같은 무늬를 늘어놓고, 한 묶음마다 손가락으로 끊어 읽습니다(●▲▲ / ●▲▲ / ●▲▲).
주의
- ‘●와 ▲가 번갈아’라고 하면 M1입니다. 실제로 번갈아 나오는지 한 장씩 짚어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두 줄 무늬의 규칙]
목적: 색칠한 칸과 안 한 칸으로 된 무늬에서 줄마다, 위아래로 규칙을 찾아 설명합니다.
시간: 약 2분
이렇게 말해 보세요
- “윗줄은 어떻게 색칠했어? 아랫줄은?”
- “윗줄과 아랫줄을 위아래로 비교하면 어때?”
예상 답
- “색칠, 안 함, 색칠, 안 함이에요.” “아래는 반대예요.”
막히면
- 윗줄 칸을 하나씩 짚으며 “칠, 안, 칠, 안”을 소리 내어 말합니다.
주의
- 바둑판·타일·보도블록처럼 집 주변의 무늬에서도 같은 규칙을 찾아보게 하면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쌓은 모양의 규칙]
목적: 쌓은 모양에서 쌓기나무가 어디에 몇 개씩 늘어나는지 찾아 규칙을 설명합니다.
시간: 약 3분
이렇게 말해 보세요
- “첫째, 둘째, 셋째 모양의 쌓기나무는 몇 개야?”
- “둘째는 첫째보다 어디에 몇 개가 늘었어? 셋째는?”
- “그럼 넷째는 몇 개일까?”
예상 답
- “1개, 3개, 5개요.” “위에 하나, 오른쪽에 하나씩 늘어요.” “넷째는 7개요.”
막히면
- 쌓기나무로 첫째, 둘째, 셋째를 직접 쌓으며 새로 놓는 쌓기나무를 손으로 짚습니다.
주의
- 색칠한 칸 1개가 쌓기나무 1개입니다(앞 차시 ‘쌓기나무’와 같은 그림 약속).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연습(무늬와 쌓은 모양)]
목적: 도움을 받으며 무늬의 다음 모양과 쌓은 모양의 다음 개수를 구하고 규칙을 말합니다.
시간: 약 4분
이렇게 말해 보세요
- “①은 무엇이 되풀이돼? 그럼 ? 자리에는 무엇이 올까?”
- “④는 S05에서 2개씩 늘어났지? 셋째가 5개면 넷째는?”
정답
- ① ●(■, ●, ●가 되풀이)
- ② ○(○, ○, ●가 되풀이)
- ③ △(▲, △가 번갈아)
- ④ 7개(1, 3, 5, 7로 2개씩 늘어남)
막히면
- 묶음마다 손가락으로 끊어 읽게 합니다(■●● / ■●● / ■●?).
- ④는 쌓기나무로 넷째 모양을 쌓아 봅니다.
주의
- 답과 함께 규칙을 말로 설명하게 합니다. “왜 ●야?” “■●●가 되풀이되니까요.”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비교(묶음을 잘못 찾기)]
목적: 되풀이되는 묶음 전체를 보지 않고 바로 앞 모양만 보고 판단하는 실수를 바로잡습니다(M1).
시간: 약 2분
이렇게 말해 보세요
- “토끼는 ●, 곰은 ■라고 했어. 묶음으로 끊어 읽어 볼까? ■■● / ■■● / ■…”
예상 답
- “곰이요. ■가 두 번 나와야 ●가 나와요.”
정답
- 곰이 맞습니다. ■, ■, ●가 되풀이되므로 ■ 다음에 ■가 한 번 더 옵니다.
- 토끼는 묶음을 보지 않고 ‘■ 다음은 ●’라고만 생각했습니다.
막히면
- 블록으로 ■■● 묶음을 만들어 차례로 놓아 봅니다.
주의
- 지치면 여기서 쉬고, 다음에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덧셈표의 규칙(가로, 세로)]
목적: 덧셈표를 읽는 방법을 알고, 가로줄과 세로줄에서 수가 1씩 커지는 규칙을 찾습니다.
시간: 약 3분
이렇게 말해 보세요
- “맨 왼쪽의 2와 맨 위의 3이 만나는 칸에는 2 + 3 = 5가 있어. 찾아볼래?”
- “2의 가로줄을 오른쪽으로 읽어 봐. 몇씩 커져? 왜 그럴까?”
예상 답
- “3, 4, 5, 6, 7. 1씩 커져요. 더하는 수가 1씩 커지니까요.”
막히면
- 손가락 두 개로 줄 번호와 칸 번호를 동시에 짚어 만나는 칸을 찾게 합니다.
주의
- 표의 칸에 색을 칠할 수 없으니, 이야기하는 줄을 손가락이나 종이로 가려 가며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덧셈표의 규칙(대각선)]
목적: 덧셈표에서 비스듬한 방향(↘, ↙)의 규칙을 찾고 까닭을 말합니다.
시간: 약 3분
이렇게 말해 보세요
- “왼쪽 위 2에서 오른쪽 아래로 비스듬히 읽어 봐. 2, 4, 6 … 몇씩 커져?”
- “이번엔 맨 위 오른쪽 6에서 왼쪽 아래로 읽어 봐. 어떤 수들이야?”
예상 답
- “2씩 커져요.” “전부 6이에요.”
막히면
- 1 + 5, 2 + 4, 3 + 3, 4 + 2, 5 + 1을 써 보며 더하는 두 수가 하나는 커지고 하나는 작아진다는 것을 보여 줍니다.
주의
- ↘ 방향은 두 수가 모두 1씩 커지니 2씩, ↙ 방향은 하나가 1 커지고 하나가 1 작아지니 같습니다.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곱셈표의 규칙]
목적: 곱셈표에서 단마다 그 수만큼 커지는 규칙과, 두 수의 순서를 바꾸어 곱해도 곱이 같은 규칙을 찾습니다.
시간: 약 3분
이렇게 말해 보세요
- “3의 가로줄을 읽어 봐. 3, 6, 9, 12, 15. 몇씩 커져? 5의 가로줄은?”
- “3 × 4와 4 × 3을 표에서 찾아볼래? 어때?”
예상 답
- “3씩 커져요. 5단은 5씩 커져요.” “둘 다 12예요.”
막히면
- 바둑돌을 3개씩 4줄, 4개씩 3줄로 놓아 둘 다 12개임을 확인합니다.
주의
- 5단의 곱은 일의 자리가 5, 0, 5, 0으로 되풀이된다는 것도 찾으면 칭찬해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안내받는 연습(덧셈표·곱셈표 빈칸)]
목적: 도움을 받으며 덧셈표와 곱셈표의 규칙을 이용해 빈칸을 채우고, 계산으로 확인합니다.
시간: 약 4분
이렇게 말해 보세요
- “왼쪽 덧셈표의 첫 줄은 5, 6, □, 8이야. 1씩 커지니까 □는?”
- “오른쪽 곱셈표의 2단 줄은 4, 6, □, 10이야. 몇씩 커져?”
정답
- 덧셈표: 위에서부터 7, 7, 7(빈칸 셋이 ↙ 방향으로 놓여 모두 같음)
- 곱셈표: 2 × 4 = 8, 3 × 5 = 15, 4 × 3 = 12
막히면
- 규칙으로 찾기 어려우면 줄의 수와 칸의 수를 더하거나(곱해서) 바로 계산해 봅니다.
주의
- 덧셈표의 □ 세 개가 모두 7인 까닭(↙ 방향은 같은 수)을 물어보면 S09와 연결됩니다.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해결]
목적: 도움 없이 무늬(①)와 곱셈표(②)의 빈칸을 채우고, 늘어나는 규칙(③)으로 다음 수를 구하며 규칙을 설명하는지 확인합니다.
시간: 약 4분
이렇게 말해 보세요
- “이번에는 혼자 해 볼래? 답을 말할 때 규칙도 함께 말해 줘.”
정답
- ① ▲(▲, ●, ●가 되풀이)
- ② 20, 30(5씩 커짐, 일의 자리가 5와 0이 번갈아)
- ③ 8개(2개씩 늘어남)
막히면
- 바로 알려 주지 말고 “되풀이되는 묶음은?”, “몇씩 커져?”라고만 묻습니다.
- 도움을 받아 해결했다면 기록표에 ‘도움’으로 표시합니다.
주의
- 답만 맞고 규칙을 말하지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아이의 답을 함께 확인하고 흔한 실수를 바로잡습니다. 수업용에만 있는 장입니다.
시간: 약 2분
이렇게 말해 보세요
- “네 답과 같은지 볼까? 규칙도 같았어?”
정답
- ① ▲ ② 20, 30 ③ 8개
막히면
- ①이 ●면 S07처럼 묶음으로 끊어 읽습니다(M1).
- ②에서 표를 차례로 세지 않고 앞 수에 5를 한 번만 더했으면 칸을 하나씩 짚으며 5씩 셉니다(M2).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마무리 확인(규칙 설명 판단)]
목적: 처음 보는 수의 배열에서 규칙을 설명한 말이 맞는지 판단하는지 확인합니다.
시간: 약 2분
이렇게 말해 보세요
- “4단의 곱을 보고 규칙을 말한 것 중에 알맞지 않은 것은 어느 것일까?”
정답
- 나(2씩 커져요). 4, 8, 12 …는 4씩 커집니다.
- 가와 다는 알맞습니다. 4단의 곱은 모두 짝수입니다.
막히면
- 4에서 8, 8에서 12로 몇씩 커지는지 손가락으로 세어 봅니다.
주의
- ‘짝수’가 어려우면 “둘씩 짝을 지을 수 있는 수”라고 풀어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정리와 다음 수업 복습]
목적: 핵심을 정리하고 다음 수업 첫 5분에 풀 복습 문제를 알려 줍니다.
시간: 약 1분
이렇게 말해 보세요
- “오늘 배운 것을 말해 볼래? 무늬에서 규칙을 어떻게 찾았어? 덧셈표와 곱셈표에서는?”
예상 답
- “되풀이되는 걸 찾아요.” “몇씩 커지는지 봐요.”
정답
- ① ● ② 12 ③ 1씩 커져요
막히면
- S03과 S08을 다시 보여 줍니다.
주의
- 초2 수학의 마지막 차시입니다. 계획상 다음 수학 차시는 초3 ‘세 자리 수의 덧셈’입니다.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선수 학습 보충(뛰어 세기)]
목적: S02에서 뛰어 세기가 흔들리면 수직선에서 몇씩 커지는지 찾는 것을 먼저 합니다.
시간: 약 5분
이렇게 말해 보세요
- “0에서 2칸씩 뛰어 볼까? 0, 2, 4 … 몇씩 커졌어?”
- “이번엔 5씩 뛰어 볼까? 0, 5, 10 …”
정답
- 2씩 커집니다. 5씩 뛰면 0, 5, 10, 15, 20입니다.
막히면
- 바닥에 종이를 깔고 실제로 두 칸씩 뛰며 수를 말합니다.
주의
- 보충으로도 어려우면 초1 ‘수 배열의 규칙’(KR22-G01-MAT-NUMPAT-L01)을 먼저 합니다. 이 차시의 앞 차시는 ‘표와 그래프’(KR22-G02-MAT-TABLEGRAPH-L01)입니다.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자료와규칙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무늬와 수의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무늬와 수의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무늬와 수의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무늬와 수의 규칙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다음에는 무엇이 올까?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7680960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2700" dirty="0"/>
          </a:p>
        </p:txBody>
      </p:sp>
      <p:sp>
        <p:nvSpPr>
          <p:cNvPr id="5" name="S01-tile2"/>
          <p:cNvSpPr txBox="1"/>
          <p:nvPr/>
        </p:nvSpPr>
        <p:spPr>
          <a:xfrm>
            <a:off x="8507578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2700" dirty="0"/>
          </a:p>
        </p:txBody>
      </p:sp>
      <p:sp>
        <p:nvSpPr>
          <p:cNvPr id="6" name="S01-tile3"/>
          <p:cNvSpPr txBox="1"/>
          <p:nvPr/>
        </p:nvSpPr>
        <p:spPr>
          <a:xfrm>
            <a:off x="9334195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2700" dirty="0"/>
          </a:p>
        </p:txBody>
      </p:sp>
      <p:sp>
        <p:nvSpPr>
          <p:cNvPr id="7" name="S01-tile4"/>
          <p:cNvSpPr txBox="1"/>
          <p:nvPr/>
        </p:nvSpPr>
        <p:spPr>
          <a:xfrm>
            <a:off x="10160813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2700" dirty="0"/>
          </a:p>
        </p:txBody>
      </p:sp>
      <p:sp>
        <p:nvSpPr>
          <p:cNvPr id="8" name="S01-tile5"/>
          <p:cNvSpPr txBox="1"/>
          <p:nvPr/>
        </p:nvSpPr>
        <p:spPr>
          <a:xfrm>
            <a:off x="10987430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700" dirty="0"/>
          </a:p>
        </p:txBody>
      </p:sp>
      <p:sp>
        <p:nvSpPr>
          <p:cNvPr id="9" name="S01-card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무늬와 쌓은 모양에서 규칙을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덧셈표와 곱셈표에서 규칙을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 4, 6, □, 10</a:t>
            </a:r>
            <a:endParaRPr lang="ko-KR" sz="3600" dirty="0"/>
          </a:p>
        </p:txBody>
      </p:sp>
      <p:sp>
        <p:nvSpPr>
          <p:cNvPr id="5" name="S02-chip1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1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35, 40, 45, □</a:t>
            </a:r>
            <a:endParaRPr lang="ko-KR" sz="3600" dirty="0"/>
          </a:p>
        </p:txBody>
      </p:sp>
      <p:sp>
        <p:nvSpPr>
          <p:cNvPr id="7" name="S02-chip1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1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무늬</a:t>
            </a:r>
            <a:endParaRPr lang="ko-KR" sz="44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되풀이되는지 찾아요.</a:t>
            </a:r>
            <a:endParaRPr lang="ko-KR" sz="3200" dirty="0"/>
          </a:p>
        </p:txBody>
      </p:sp>
      <p:sp>
        <p:nvSpPr>
          <p:cNvPr id="4" name="S03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부분을 찾으면 다음을 알 수 있어요.</a:t>
            </a:r>
            <a:endParaRPr lang="ko-KR" sz="3200" dirty="0"/>
          </a:p>
        </p:txBody>
      </p:sp>
      <p:sp>
        <p:nvSpPr>
          <p:cNvPr id="6" name="S03-card17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8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●, ▲, ▲가 되풀이돼요.</a:t>
            </a:r>
            <a:endParaRPr lang="ko-KR" sz="3200" dirty="0"/>
          </a:p>
        </p:txBody>
      </p:sp>
      <p:sp>
        <p:nvSpPr>
          <p:cNvPr id="8" name="S03-card19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20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다음에 또 ●가 와요.</a:t>
            </a:r>
            <a:endParaRPr lang="ko-KR" sz="3200" dirty="0"/>
          </a:p>
        </p:txBody>
      </p:sp>
      <p:sp>
        <p:nvSpPr>
          <p:cNvPr id="10" name="S03-tile21"/>
          <p:cNvSpPr txBox="1"/>
          <p:nvPr/>
        </p:nvSpPr>
        <p:spPr>
          <a:xfrm>
            <a:off x="54864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600" dirty="0"/>
          </a:p>
        </p:txBody>
      </p:sp>
      <p:sp>
        <p:nvSpPr>
          <p:cNvPr id="11" name="S03-tile22"/>
          <p:cNvSpPr txBox="1"/>
          <p:nvPr/>
        </p:nvSpPr>
        <p:spPr>
          <a:xfrm>
            <a:off x="180340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600" dirty="0"/>
          </a:p>
        </p:txBody>
      </p:sp>
      <p:sp>
        <p:nvSpPr>
          <p:cNvPr id="12" name="S03-tile23"/>
          <p:cNvSpPr txBox="1"/>
          <p:nvPr/>
        </p:nvSpPr>
        <p:spPr>
          <a:xfrm>
            <a:off x="305816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600" dirty="0"/>
          </a:p>
        </p:txBody>
      </p:sp>
      <p:sp>
        <p:nvSpPr>
          <p:cNvPr id="13" name="S03-tile24"/>
          <p:cNvSpPr txBox="1"/>
          <p:nvPr/>
        </p:nvSpPr>
        <p:spPr>
          <a:xfrm>
            <a:off x="431292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600" dirty="0"/>
          </a:p>
        </p:txBody>
      </p:sp>
      <p:sp>
        <p:nvSpPr>
          <p:cNvPr id="14" name="S03-tile25"/>
          <p:cNvSpPr txBox="1"/>
          <p:nvPr/>
        </p:nvSpPr>
        <p:spPr>
          <a:xfrm>
            <a:off x="556768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600" dirty="0"/>
          </a:p>
        </p:txBody>
      </p:sp>
      <p:sp>
        <p:nvSpPr>
          <p:cNvPr id="15" name="S03-tile26"/>
          <p:cNvSpPr txBox="1"/>
          <p:nvPr/>
        </p:nvSpPr>
        <p:spPr>
          <a:xfrm>
            <a:off x="682244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600" dirty="0"/>
          </a:p>
        </p:txBody>
      </p:sp>
      <p:sp>
        <p:nvSpPr>
          <p:cNvPr id="16" name="S03-tile27"/>
          <p:cNvSpPr txBox="1"/>
          <p:nvPr/>
        </p:nvSpPr>
        <p:spPr>
          <a:xfrm>
            <a:off x="807720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4600" dirty="0"/>
          </a:p>
        </p:txBody>
      </p:sp>
      <p:sp>
        <p:nvSpPr>
          <p:cNvPr id="17" name="S03-tile28"/>
          <p:cNvSpPr txBox="1"/>
          <p:nvPr/>
        </p:nvSpPr>
        <p:spPr>
          <a:xfrm>
            <a:off x="933196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600" dirty="0"/>
          </a:p>
        </p:txBody>
      </p:sp>
      <p:sp>
        <p:nvSpPr>
          <p:cNvPr id="18" name="S03-tile29"/>
          <p:cNvSpPr txBox="1"/>
          <p:nvPr/>
        </p:nvSpPr>
        <p:spPr>
          <a:xfrm>
            <a:off x="10586720" y="2490724"/>
            <a:ext cx="1053592" cy="1053592"/>
          </a:xfrm>
          <a:prstGeom prst="roundRect">
            <a:avLst>
              <a:gd name="adj" fmla="val 12150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4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색칠 무늬의 규칙</a:t>
            </a:r>
            <a:endParaRPr lang="ko-KR" sz="4400" dirty="0"/>
          </a:p>
        </p:txBody>
      </p:sp>
      <p:sp>
        <p:nvSpPr>
          <p:cNvPr id="3" name="S04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줄마다 색칠한 칸을 봐요.</a:t>
            </a:r>
            <a:endParaRPr lang="ko-KR" sz="3200" dirty="0"/>
          </a:p>
        </p:txBody>
      </p:sp>
      <p:sp>
        <p:nvSpPr>
          <p:cNvPr id="4" name="S04-card31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4-cardtext32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윗줄: 색칠, 안 함이 번갈아요.</a:t>
            </a:r>
            <a:endParaRPr lang="ko-KR" sz="3200" dirty="0"/>
          </a:p>
        </p:txBody>
      </p:sp>
      <p:sp>
        <p:nvSpPr>
          <p:cNvPr id="6" name="S04-card33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34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아랫줄은 윗줄과 반대예요.</a:t>
            </a:r>
            <a:endParaRPr lang="ko-KR" sz="3200" dirty="0"/>
          </a:p>
        </p:txBody>
      </p:sp>
      <p:sp>
        <p:nvSpPr>
          <p:cNvPr id="8" name="S04-cell35"/>
          <p:cNvSpPr/>
          <p:nvPr/>
        </p:nvSpPr>
        <p:spPr>
          <a:xfrm>
            <a:off x="207111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4-cell36"/>
          <p:cNvSpPr/>
          <p:nvPr/>
        </p:nvSpPr>
        <p:spPr>
          <a:xfrm>
            <a:off x="3076956" y="233426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4-cell37"/>
          <p:cNvSpPr/>
          <p:nvPr/>
        </p:nvSpPr>
        <p:spPr>
          <a:xfrm>
            <a:off x="408279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cell38"/>
          <p:cNvSpPr/>
          <p:nvPr/>
        </p:nvSpPr>
        <p:spPr>
          <a:xfrm>
            <a:off x="5088636" y="233426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4-cell39"/>
          <p:cNvSpPr/>
          <p:nvPr/>
        </p:nvSpPr>
        <p:spPr>
          <a:xfrm>
            <a:off x="609447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cell40"/>
          <p:cNvSpPr/>
          <p:nvPr/>
        </p:nvSpPr>
        <p:spPr>
          <a:xfrm>
            <a:off x="7100316" y="233426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4-cell41"/>
          <p:cNvSpPr/>
          <p:nvPr/>
        </p:nvSpPr>
        <p:spPr>
          <a:xfrm>
            <a:off x="8106156" y="233426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cell42"/>
          <p:cNvSpPr/>
          <p:nvPr/>
        </p:nvSpPr>
        <p:spPr>
          <a:xfrm>
            <a:off x="9111996" y="233426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4-cell43"/>
          <p:cNvSpPr/>
          <p:nvPr/>
        </p:nvSpPr>
        <p:spPr>
          <a:xfrm>
            <a:off x="2071116" y="334010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cell44"/>
          <p:cNvSpPr/>
          <p:nvPr/>
        </p:nvSpPr>
        <p:spPr>
          <a:xfrm>
            <a:off x="3076956" y="334010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4-cell45"/>
          <p:cNvSpPr/>
          <p:nvPr/>
        </p:nvSpPr>
        <p:spPr>
          <a:xfrm>
            <a:off x="4082796" y="334010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4-cell46"/>
          <p:cNvSpPr/>
          <p:nvPr/>
        </p:nvSpPr>
        <p:spPr>
          <a:xfrm>
            <a:off x="5088636" y="334010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4-cell47"/>
          <p:cNvSpPr/>
          <p:nvPr/>
        </p:nvSpPr>
        <p:spPr>
          <a:xfrm>
            <a:off x="6094476" y="334010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4-cell48"/>
          <p:cNvSpPr/>
          <p:nvPr/>
        </p:nvSpPr>
        <p:spPr>
          <a:xfrm>
            <a:off x="7100316" y="334010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4-cell49"/>
          <p:cNvSpPr/>
          <p:nvPr/>
        </p:nvSpPr>
        <p:spPr>
          <a:xfrm>
            <a:off x="8106156" y="3340100"/>
            <a:ext cx="1005840" cy="10058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4-cell50"/>
          <p:cNvSpPr/>
          <p:nvPr/>
        </p:nvSpPr>
        <p:spPr>
          <a:xfrm>
            <a:off x="9111996" y="3340100"/>
            <a:ext cx="1005840" cy="100584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4-figure51" descr="두 줄 무늬: 윗줄은 색칠한 칸과 안 한 칸이 번갈아, 아랫줄은 윗줄과 반대. 색칠한 칸 8개"/>
          <p:cNvSpPr/>
          <p:nvPr/>
        </p:nvSpPr>
        <p:spPr>
          <a:xfrm>
            <a:off x="2071116" y="2334260"/>
            <a:ext cx="80467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쌓은 모양의 규칙</a:t>
            </a:r>
            <a:endParaRPr lang="ko-KR" sz="4400" dirty="0"/>
          </a:p>
        </p:txBody>
      </p:sp>
      <p:sp>
        <p:nvSpPr>
          <p:cNvPr id="3" name="S05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줄로 쌓은 모양을 앞에서 봤어요.</a:t>
            </a:r>
            <a:endParaRPr lang="ko-KR" sz="3200" dirty="0"/>
          </a:p>
        </p:txBody>
      </p:sp>
      <p:sp>
        <p:nvSpPr>
          <p:cNvPr id="4" name="S05-card53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4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 → 3개 → 5개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위에 1개, 오른쪽에 1개, 2개씩 늘어나요.</a:t>
            </a:r>
            <a:endParaRPr lang="ko-KR" sz="3200" dirty="0"/>
          </a:p>
        </p:txBody>
      </p:sp>
      <p:sp>
        <p:nvSpPr>
          <p:cNvPr id="6" name="S05-cell55"/>
          <p:cNvSpPr/>
          <p:nvPr/>
        </p:nvSpPr>
        <p:spPr>
          <a:xfrm>
            <a:off x="1536192" y="233464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5-cell56"/>
          <p:cNvSpPr/>
          <p:nvPr/>
        </p:nvSpPr>
        <p:spPr>
          <a:xfrm>
            <a:off x="2039112" y="233464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5-cell57"/>
          <p:cNvSpPr/>
          <p:nvPr/>
        </p:nvSpPr>
        <p:spPr>
          <a:xfrm>
            <a:off x="2542032" y="233464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5-cell58"/>
          <p:cNvSpPr/>
          <p:nvPr/>
        </p:nvSpPr>
        <p:spPr>
          <a:xfrm>
            <a:off x="1536192" y="283756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5-cell59"/>
          <p:cNvSpPr/>
          <p:nvPr/>
        </p:nvSpPr>
        <p:spPr>
          <a:xfrm>
            <a:off x="2039112" y="283756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cell60"/>
          <p:cNvSpPr/>
          <p:nvPr/>
        </p:nvSpPr>
        <p:spPr>
          <a:xfrm>
            <a:off x="2542032" y="283756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cell61"/>
          <p:cNvSpPr/>
          <p:nvPr/>
        </p:nvSpPr>
        <p:spPr>
          <a:xfrm>
            <a:off x="1536192" y="334048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cell62"/>
          <p:cNvSpPr/>
          <p:nvPr/>
        </p:nvSpPr>
        <p:spPr>
          <a:xfrm>
            <a:off x="2039112" y="334048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cell63"/>
          <p:cNvSpPr/>
          <p:nvPr/>
        </p:nvSpPr>
        <p:spPr>
          <a:xfrm>
            <a:off x="2542032" y="334048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5-figure64" descr="한 줄로 쌓은 모양(앞에서 봄): 1층 1개, 맨 왼쪽 위로 0개, 모두 1개"/>
          <p:cNvSpPr/>
          <p:nvPr/>
        </p:nvSpPr>
        <p:spPr>
          <a:xfrm>
            <a:off x="1536192" y="2334641"/>
            <a:ext cx="150876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6" name="S05-label65"/>
          <p:cNvSpPr txBox="1"/>
          <p:nvPr/>
        </p:nvSpPr>
        <p:spPr>
          <a:xfrm>
            <a:off x="548640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첫째</a:t>
            </a:r>
            <a:endParaRPr lang="ko-KR" sz="2600" dirty="0"/>
          </a:p>
        </p:txBody>
      </p:sp>
      <p:sp>
        <p:nvSpPr>
          <p:cNvPr id="17" name="S05-cell66"/>
          <p:cNvSpPr/>
          <p:nvPr/>
        </p:nvSpPr>
        <p:spPr>
          <a:xfrm>
            <a:off x="5340096" y="233464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05-cell67"/>
          <p:cNvSpPr/>
          <p:nvPr/>
        </p:nvSpPr>
        <p:spPr>
          <a:xfrm>
            <a:off x="5843016" y="233464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5-cell68"/>
          <p:cNvSpPr/>
          <p:nvPr/>
        </p:nvSpPr>
        <p:spPr>
          <a:xfrm>
            <a:off x="6345936" y="233464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5-cell69"/>
          <p:cNvSpPr/>
          <p:nvPr/>
        </p:nvSpPr>
        <p:spPr>
          <a:xfrm>
            <a:off x="5340096" y="283756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5-cell70"/>
          <p:cNvSpPr/>
          <p:nvPr/>
        </p:nvSpPr>
        <p:spPr>
          <a:xfrm>
            <a:off x="5843016" y="283756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5-cell71"/>
          <p:cNvSpPr/>
          <p:nvPr/>
        </p:nvSpPr>
        <p:spPr>
          <a:xfrm>
            <a:off x="6345936" y="283756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5-cell72"/>
          <p:cNvSpPr/>
          <p:nvPr/>
        </p:nvSpPr>
        <p:spPr>
          <a:xfrm>
            <a:off x="5340096" y="334048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5-cell73"/>
          <p:cNvSpPr/>
          <p:nvPr/>
        </p:nvSpPr>
        <p:spPr>
          <a:xfrm>
            <a:off x="5843016" y="334048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5-cell74"/>
          <p:cNvSpPr/>
          <p:nvPr/>
        </p:nvSpPr>
        <p:spPr>
          <a:xfrm>
            <a:off x="6345936" y="334048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5-figure75" descr="한 줄로 쌓은 모양(앞에서 봄): 1층 2개, 맨 왼쪽 위로 1개, 모두 3개"/>
          <p:cNvSpPr/>
          <p:nvPr/>
        </p:nvSpPr>
        <p:spPr>
          <a:xfrm>
            <a:off x="5340096" y="2334641"/>
            <a:ext cx="150876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7" name="S05-label76"/>
          <p:cNvSpPr txBox="1"/>
          <p:nvPr/>
        </p:nvSpPr>
        <p:spPr>
          <a:xfrm>
            <a:off x="4352544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둘째</a:t>
            </a:r>
            <a:endParaRPr lang="ko-KR" sz="2600" dirty="0"/>
          </a:p>
        </p:txBody>
      </p:sp>
      <p:sp>
        <p:nvSpPr>
          <p:cNvPr id="28" name="S05-cell77"/>
          <p:cNvSpPr/>
          <p:nvPr/>
        </p:nvSpPr>
        <p:spPr>
          <a:xfrm>
            <a:off x="9144000" y="233464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5-cell78"/>
          <p:cNvSpPr/>
          <p:nvPr/>
        </p:nvSpPr>
        <p:spPr>
          <a:xfrm>
            <a:off x="9646920" y="233464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5-cell79"/>
          <p:cNvSpPr/>
          <p:nvPr/>
        </p:nvSpPr>
        <p:spPr>
          <a:xfrm>
            <a:off x="10149840" y="233464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5-cell80"/>
          <p:cNvSpPr/>
          <p:nvPr/>
        </p:nvSpPr>
        <p:spPr>
          <a:xfrm>
            <a:off x="9144000" y="283756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5-cell81"/>
          <p:cNvSpPr/>
          <p:nvPr/>
        </p:nvSpPr>
        <p:spPr>
          <a:xfrm>
            <a:off x="9646920" y="283756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5-cell82"/>
          <p:cNvSpPr/>
          <p:nvPr/>
        </p:nvSpPr>
        <p:spPr>
          <a:xfrm>
            <a:off x="10149840" y="2837561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5-cell83"/>
          <p:cNvSpPr/>
          <p:nvPr/>
        </p:nvSpPr>
        <p:spPr>
          <a:xfrm>
            <a:off x="9144000" y="334048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5-cell84"/>
          <p:cNvSpPr/>
          <p:nvPr/>
        </p:nvSpPr>
        <p:spPr>
          <a:xfrm>
            <a:off x="9646920" y="334048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5-cell85"/>
          <p:cNvSpPr/>
          <p:nvPr/>
        </p:nvSpPr>
        <p:spPr>
          <a:xfrm>
            <a:off x="10149840" y="3340481"/>
            <a:ext cx="502920" cy="50292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5-figure86" descr="한 줄로 쌓은 모양(앞에서 봄): 1층 3개, 맨 왼쪽 위로 2개, 모두 5개"/>
          <p:cNvSpPr/>
          <p:nvPr/>
        </p:nvSpPr>
        <p:spPr>
          <a:xfrm>
            <a:off x="9144000" y="2334641"/>
            <a:ext cx="1508760" cy="15087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8" name="S05-label87"/>
          <p:cNvSpPr txBox="1"/>
          <p:nvPr/>
        </p:nvSpPr>
        <p:spPr>
          <a:xfrm>
            <a:off x="8156448" y="4239514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셋째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다음에 올 것은?</a:t>
            </a:r>
            <a:endParaRPr lang="ko-KR" sz="4400" dirty="0"/>
          </a:p>
        </p:txBody>
      </p:sp>
      <p:sp>
        <p:nvSpPr>
          <p:cNvPr id="3" name="S06-text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묶음을 찾아 ?를 알아내요.</a:t>
            </a:r>
            <a:endParaRPr lang="ko-KR" sz="3200" dirty="0"/>
          </a:p>
        </p:txBody>
      </p:sp>
      <p:sp>
        <p:nvSpPr>
          <p:cNvPr id="4" name="S06-card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S05의 넷째 모양은 쌓기나무 몇 개일까요?</a:t>
            </a:r>
            <a:endParaRPr lang="ko-KR" sz="3200" dirty="0"/>
          </a:p>
        </p:txBody>
      </p:sp>
      <p:sp>
        <p:nvSpPr>
          <p:cNvPr id="6" name="S06-eqtext91"/>
          <p:cNvSpPr txBox="1"/>
          <p:nvPr/>
        </p:nvSpPr>
        <p:spPr>
          <a:xfrm>
            <a:off x="548640" y="2011680"/>
            <a:ext cx="110916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■ ● ● ■ ● ● ■ ?</a:t>
            </a:r>
            <a:endParaRPr lang="ko-KR" sz="4800" dirty="0"/>
          </a:p>
          <a:p>
            <a:pPr eaLnBrk="0" algn="l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○ ○ ● ○ ○ ● ○ ?</a:t>
            </a:r>
            <a:endParaRPr lang="ko-KR" sz="4800" dirty="0"/>
          </a:p>
          <a:p>
            <a:pPr eaLnBrk="0" algn="l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▲ △ ▲ △ ▲ ?</a:t>
            </a:r>
            <a:endParaRPr lang="ko-KR" sz="4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7-card9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9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■■●■■●■ 다음에 올 모양은?</a:t>
            </a:r>
            <a:endParaRPr lang="ko-KR" sz="3200" dirty="0"/>
          </a:p>
        </p:txBody>
      </p:sp>
      <p:sp>
        <p:nvSpPr>
          <p:cNvPr id="5" name="S07-card9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9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7-chip9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●</a:t>
            </a:r>
            <a:endParaRPr lang="ko-KR" sz="2600" dirty="0"/>
          </a:p>
        </p:txBody>
      </p:sp>
      <p:sp>
        <p:nvSpPr>
          <p:cNvPr id="8" name="S07-text9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 다음에는 ●가 와요.</a:t>
            </a:r>
            <a:endParaRPr lang="ko-KR" sz="3200" dirty="0"/>
          </a:p>
        </p:txBody>
      </p:sp>
      <p:sp>
        <p:nvSpPr>
          <p:cNvPr id="9" name="S07-chip9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■</a:t>
            </a:r>
            <a:endParaRPr lang="ko-KR" sz="2600" dirty="0"/>
          </a:p>
        </p:txBody>
      </p:sp>
      <p:sp>
        <p:nvSpPr>
          <p:cNvPr id="10" name="S07-text9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■, ■, ●가 되풀이돼요.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덧셈표의 규칙</a:t>
            </a:r>
            <a:endParaRPr lang="ko-KR" sz="4400" dirty="0"/>
          </a:p>
        </p:txBody>
      </p:sp>
      <p:sp>
        <p:nvSpPr>
          <p:cNvPr id="3" name="S08-text10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줄의 수와 칸의 수를 더한 표예요.</a:t>
            </a:r>
            <a:endParaRPr lang="ko-KR" sz="3200" dirty="0"/>
          </a:p>
        </p:txBody>
      </p:sp>
      <p:sp>
        <p:nvSpPr>
          <p:cNvPr id="4" name="S08-card10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0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1씩, 아래로 1씩 커져요.</a:t>
            </a:r>
            <a:endParaRPr lang="ko-KR" sz="3200" dirty="0"/>
          </a:p>
        </p:txBody>
      </p:sp>
      <p:graphicFrame>
        <p:nvGraphicFramePr>
          <p:cNvPr id="9" name="S08-table10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6716" y="2030730"/>
          <a:ext cx="98755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비스듬히 보면</a:t>
            </a:r>
            <a:endParaRPr lang="ko-KR" sz="4400" dirty="0"/>
          </a:p>
        </p:txBody>
      </p:sp>
      <p:sp>
        <p:nvSpPr>
          <p:cNvPr id="3" name="S09-card104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05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↘ 2, 4, 6, 8, 10: 2씩 커져요.</a:t>
            </a:r>
            <a:endParaRPr lang="ko-KR" sz="3200" dirty="0"/>
          </a:p>
        </p:txBody>
      </p:sp>
      <p:sp>
        <p:nvSpPr>
          <p:cNvPr id="5" name="S09-card106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9-cardtext107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↙ 6, 6, 6, 6, 6: 모두 같아요.</a:t>
            </a:r>
            <a:endParaRPr lang="ko-KR" sz="3200" dirty="0"/>
          </a:p>
        </p:txBody>
      </p:sp>
      <p:graphicFrame>
        <p:nvGraphicFramePr>
          <p:cNvPr id="10" name="S09-table10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6716" y="1461770"/>
          <a:ext cx="98755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곱셈표의 규칙</a:t>
            </a:r>
            <a:endParaRPr lang="ko-KR" sz="4400" dirty="0"/>
          </a:p>
        </p:txBody>
      </p:sp>
      <p:sp>
        <p:nvSpPr>
          <p:cNvPr id="3" name="S10-card109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10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3단은 3씩 커져요.</a:t>
            </a:r>
            <a:endParaRPr lang="ko-KR" sz="3200" dirty="0"/>
          </a:p>
        </p:txBody>
      </p:sp>
      <p:sp>
        <p:nvSpPr>
          <p:cNvPr id="5" name="S10-card111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0-cardtext112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4와 4 × 3은 같아요.</a:t>
            </a:r>
            <a:endParaRPr lang="ko-KR" sz="3200" dirty="0"/>
          </a:p>
        </p:txBody>
      </p:sp>
      <p:graphicFrame>
        <p:nvGraphicFramePr>
          <p:cNvPr id="11" name="S10-table1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56716" y="1687830"/>
          <a:ext cx="98755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빈칸을 채워요</a:t>
            </a:r>
            <a:endParaRPr lang="ko-KR" sz="4400" dirty="0"/>
          </a:p>
        </p:txBody>
      </p:sp>
      <p:sp>
        <p:nvSpPr>
          <p:cNvPr id="3" name="S11-text1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규칙을 찾아 □에 알맞은 수를 말해요.</a:t>
            </a:r>
            <a:endParaRPr lang="ko-KR" sz="3200" dirty="0"/>
          </a:p>
        </p:txBody>
      </p:sp>
      <p:sp>
        <p:nvSpPr>
          <p:cNvPr id="4" name="S11-card1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1-cardtext1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□가 들어간 줄은 몇씩 커지나요?</a:t>
            </a:r>
            <a:endParaRPr lang="ko-KR" sz="3200" dirty="0"/>
          </a:p>
        </p:txBody>
      </p:sp>
      <p:graphicFrame>
        <p:nvGraphicFramePr>
          <p:cNvPr id="12" name="S11-table1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42540"/>
          <a:ext cx="5385816" cy="914400"/>
        </p:xfrm>
        <a:graphic>
          <a:graphicData uri="http://schemas.openxmlformats.org/drawingml/2006/table">
            <a:tbl>
              <a:tblPr/>
              <a:tblGrid>
                <a:gridCol w="1077163"/>
                <a:gridCol w="1077163"/>
                <a:gridCol w="1077163"/>
                <a:gridCol w="1077163"/>
                <a:gridCol w="1077163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3" name="S11-table1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2542540"/>
          <a:ext cx="5385816" cy="914400"/>
        </p:xfrm>
        <a:graphic>
          <a:graphicData uri="http://schemas.openxmlformats.org/drawingml/2006/table">
            <a:tbl>
              <a:tblPr/>
              <a:tblGrid>
                <a:gridCol w="1077163"/>
                <a:gridCol w="1077163"/>
                <a:gridCol w="1077163"/>
                <a:gridCol w="1077163"/>
                <a:gridCol w="1077163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text1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?와 □에 알맞은 것을 쓰고 규칙을 말해요.</a:t>
            </a:r>
            <a:endParaRPr lang="ko-KR" sz="3200" dirty="0"/>
          </a:p>
        </p:txBody>
      </p:sp>
      <p:sp>
        <p:nvSpPr>
          <p:cNvPr id="4" name="S12-card1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2-cardtext1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쌓기나무가 2개, 4개, 6개로 늘어나면 다음은?</a:t>
            </a:r>
            <a:endParaRPr lang="ko-KR" sz="3200" dirty="0"/>
          </a:p>
        </p:txBody>
      </p:sp>
      <p:sp>
        <p:nvSpPr>
          <p:cNvPr id="6" name="S12-tile122"/>
          <p:cNvSpPr txBox="1"/>
          <p:nvPr/>
        </p:nvSpPr>
        <p:spPr>
          <a:xfrm>
            <a:off x="548640" y="3008213"/>
            <a:ext cx="596973" cy="596973"/>
          </a:xfrm>
          <a:prstGeom prst="roundRect">
            <a:avLst>
              <a:gd name="adj" fmla="val 214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2600" dirty="0"/>
          </a:p>
        </p:txBody>
      </p:sp>
      <p:sp>
        <p:nvSpPr>
          <p:cNvPr id="7" name="S12-tile123"/>
          <p:cNvSpPr txBox="1"/>
          <p:nvPr/>
        </p:nvSpPr>
        <p:spPr>
          <a:xfrm>
            <a:off x="1346781" y="3008213"/>
            <a:ext cx="596973" cy="596973"/>
          </a:xfrm>
          <a:prstGeom prst="roundRect">
            <a:avLst>
              <a:gd name="adj" fmla="val 214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2600" dirty="0"/>
          </a:p>
        </p:txBody>
      </p:sp>
      <p:sp>
        <p:nvSpPr>
          <p:cNvPr id="8" name="S12-tile124"/>
          <p:cNvSpPr txBox="1"/>
          <p:nvPr/>
        </p:nvSpPr>
        <p:spPr>
          <a:xfrm>
            <a:off x="2144921" y="3008213"/>
            <a:ext cx="596973" cy="596973"/>
          </a:xfrm>
          <a:prstGeom prst="roundRect">
            <a:avLst>
              <a:gd name="adj" fmla="val 214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2600" dirty="0"/>
          </a:p>
        </p:txBody>
      </p:sp>
      <p:sp>
        <p:nvSpPr>
          <p:cNvPr id="9" name="S12-tile125"/>
          <p:cNvSpPr txBox="1"/>
          <p:nvPr/>
        </p:nvSpPr>
        <p:spPr>
          <a:xfrm>
            <a:off x="2943062" y="3008213"/>
            <a:ext cx="596973" cy="596973"/>
          </a:xfrm>
          <a:prstGeom prst="roundRect">
            <a:avLst>
              <a:gd name="adj" fmla="val 214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</a:t>
            </a:r>
            <a:endParaRPr lang="ko-KR" sz="2600" dirty="0"/>
          </a:p>
        </p:txBody>
      </p:sp>
      <p:sp>
        <p:nvSpPr>
          <p:cNvPr id="10" name="S12-tile126"/>
          <p:cNvSpPr txBox="1"/>
          <p:nvPr/>
        </p:nvSpPr>
        <p:spPr>
          <a:xfrm>
            <a:off x="3741202" y="3008213"/>
            <a:ext cx="596973" cy="596973"/>
          </a:xfrm>
          <a:prstGeom prst="roundRect">
            <a:avLst>
              <a:gd name="adj" fmla="val 214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2600" dirty="0"/>
          </a:p>
        </p:txBody>
      </p:sp>
      <p:sp>
        <p:nvSpPr>
          <p:cNvPr id="11" name="S12-tile127"/>
          <p:cNvSpPr txBox="1"/>
          <p:nvPr/>
        </p:nvSpPr>
        <p:spPr>
          <a:xfrm>
            <a:off x="4539343" y="3008213"/>
            <a:ext cx="596973" cy="596973"/>
          </a:xfrm>
          <a:prstGeom prst="roundRect">
            <a:avLst>
              <a:gd name="adj" fmla="val 214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</a:t>
            </a:r>
            <a:endParaRPr lang="ko-KR" sz="2600" dirty="0"/>
          </a:p>
        </p:txBody>
      </p:sp>
      <p:sp>
        <p:nvSpPr>
          <p:cNvPr id="12" name="S12-tile128"/>
          <p:cNvSpPr txBox="1"/>
          <p:nvPr/>
        </p:nvSpPr>
        <p:spPr>
          <a:xfrm>
            <a:off x="5337483" y="3008213"/>
            <a:ext cx="596973" cy="596973"/>
          </a:xfrm>
          <a:prstGeom prst="roundRect">
            <a:avLst>
              <a:gd name="adj" fmla="val 21444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600" dirty="0"/>
          </a:p>
        </p:txBody>
      </p:sp>
      <p:sp>
        <p:nvSpPr>
          <p:cNvPr id="13" name="S12-label129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graphicFrame>
        <p:nvGraphicFramePr>
          <p:cNvPr id="13" name="S12-table1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4496" y="2794889"/>
          <a:ext cx="5385816" cy="914400"/>
        </p:xfrm>
        <a:graphic>
          <a:graphicData uri="http://schemas.openxmlformats.org/drawingml/2006/table">
            <a:tbl>
              <a:tblPr/>
              <a:tblGrid>
                <a:gridCol w="769402"/>
                <a:gridCol w="769402"/>
                <a:gridCol w="769402"/>
                <a:gridCol w="769402"/>
                <a:gridCol w="769402"/>
                <a:gridCol w="769402"/>
                <a:gridCol w="769402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12-label131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3-card132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33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묶음을 끊어 읽거나, 줄을 하나씩 짚으며 다시 해 보게 하세요.</a:t>
            </a:r>
            <a:endParaRPr lang="ko-KR" sz="3200" dirty="0"/>
          </a:p>
        </p:txBody>
      </p:sp>
      <p:sp>
        <p:nvSpPr>
          <p:cNvPr id="5" name="S13-chip13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3-text135"/>
          <p:cNvSpPr txBox="1"/>
          <p:nvPr/>
        </p:nvSpPr>
        <p:spPr>
          <a:xfrm>
            <a:off x="548640" y="2057400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▲</a:t>
            </a:r>
            <a:endParaRPr lang="ko-KR" sz="3200" dirty="0"/>
          </a:p>
        </p:txBody>
      </p:sp>
      <p:sp>
        <p:nvSpPr>
          <p:cNvPr id="7" name="S13-text136"/>
          <p:cNvSpPr txBox="1"/>
          <p:nvPr/>
        </p:nvSpPr>
        <p:spPr>
          <a:xfrm>
            <a:off x="3367278" y="2057400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▲●● 되풀이</a:t>
            </a:r>
            <a:endParaRPr lang="ko-KR" sz="2600" dirty="0"/>
          </a:p>
        </p:txBody>
      </p:sp>
      <p:sp>
        <p:nvSpPr>
          <p:cNvPr id="8" name="S13-text137"/>
          <p:cNvSpPr txBox="1"/>
          <p:nvPr/>
        </p:nvSpPr>
        <p:spPr>
          <a:xfrm>
            <a:off x="548640" y="2973493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20, 30</a:t>
            </a:r>
            <a:endParaRPr lang="ko-KR" sz="3200" dirty="0"/>
          </a:p>
        </p:txBody>
      </p:sp>
      <p:sp>
        <p:nvSpPr>
          <p:cNvPr id="9" name="S13-text138"/>
          <p:cNvSpPr txBox="1"/>
          <p:nvPr/>
        </p:nvSpPr>
        <p:spPr>
          <a:xfrm>
            <a:off x="3367278" y="2973493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5씩 커짐</a:t>
            </a:r>
            <a:endParaRPr lang="ko-KR" sz="2600" dirty="0"/>
          </a:p>
        </p:txBody>
      </p:sp>
      <p:sp>
        <p:nvSpPr>
          <p:cNvPr id="10" name="S13-text139"/>
          <p:cNvSpPr txBox="1"/>
          <p:nvPr/>
        </p:nvSpPr>
        <p:spPr>
          <a:xfrm>
            <a:off x="548640" y="3889587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8개</a:t>
            </a:r>
            <a:endParaRPr lang="ko-KR" sz="3200" dirty="0"/>
          </a:p>
        </p:txBody>
      </p:sp>
      <p:sp>
        <p:nvSpPr>
          <p:cNvPr id="11" name="S13-text140"/>
          <p:cNvSpPr txBox="1"/>
          <p:nvPr/>
        </p:nvSpPr>
        <p:spPr>
          <a:xfrm>
            <a:off x="3367278" y="3889587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2개씩 늘어남</a:t>
            </a:r>
            <a:endParaRPr lang="ko-KR" sz="2600" dirty="0"/>
          </a:p>
        </p:txBody>
      </p:sp>
      <p:sp>
        <p:nvSpPr>
          <p:cNvPr id="12" name="S13-chip14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3-text14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●</a:t>
            </a:r>
            <a:endParaRPr lang="ko-KR" sz="3200" dirty="0"/>
          </a:p>
        </p:txBody>
      </p:sp>
      <p:sp>
        <p:nvSpPr>
          <p:cNvPr id="14" name="S13-text14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번갈아로 봄</a:t>
            </a:r>
            <a:endParaRPr lang="ko-KR" sz="2600" dirty="0"/>
          </a:p>
        </p:txBody>
      </p:sp>
      <p:sp>
        <p:nvSpPr>
          <p:cNvPr id="15" name="S13-text14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25, 35</a:t>
            </a:r>
            <a:endParaRPr lang="ko-KR" sz="3200" dirty="0"/>
          </a:p>
        </p:txBody>
      </p:sp>
      <p:sp>
        <p:nvSpPr>
          <p:cNvPr id="16" name="S13-text14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□를 건너뜀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알맞지 않은 규칙은?</a:t>
            </a:r>
            <a:endParaRPr lang="ko-KR" sz="4400" dirty="0"/>
          </a:p>
        </p:txBody>
      </p:sp>
      <p:sp>
        <p:nvSpPr>
          <p:cNvPr id="3" name="S14-text14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4단의 곱: 4, 8, 12, 16, 20</a:t>
            </a:r>
            <a:endParaRPr lang="ko-KR" sz="3200" dirty="0"/>
          </a:p>
        </p:txBody>
      </p:sp>
      <p:sp>
        <p:nvSpPr>
          <p:cNvPr id="4" name="S14-card1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1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4-chip149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4-card150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4-cardtext151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4씩 커져요.</a:t>
            </a:r>
            <a:endParaRPr lang="ko-KR" sz="3200" dirty="0"/>
          </a:p>
        </p:txBody>
      </p:sp>
      <p:sp>
        <p:nvSpPr>
          <p:cNvPr id="9" name="S14-chip152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4-card153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4-cardtext154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커져요.</a:t>
            </a:r>
            <a:endParaRPr lang="ko-KR" sz="3200" dirty="0"/>
          </a:p>
        </p:txBody>
      </p:sp>
      <p:sp>
        <p:nvSpPr>
          <p:cNvPr id="12" name="S14-chip155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4-card156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4-cardtext157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짝수예요.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5-card158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59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되풀이되는 묶음이나 커지는 수를 찾아 규칙을 말해요.</a:t>
            </a:r>
            <a:endParaRPr lang="ko-KR" sz="3200" dirty="0"/>
          </a:p>
        </p:txBody>
      </p:sp>
      <p:sp>
        <p:nvSpPr>
          <p:cNvPr id="5" name="S15-chip160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묶음으로 끊어 읽기</a:t>
            </a:r>
            <a:endParaRPr lang="ko-KR" sz="2600" dirty="0"/>
          </a:p>
        </p:txBody>
      </p:sp>
      <p:sp>
        <p:nvSpPr>
          <p:cNvPr id="6" name="S15-chip161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바로 앞만 보고 정하기</a:t>
            </a:r>
            <a:endParaRPr lang="ko-KR" sz="2600" dirty="0"/>
          </a:p>
        </p:txBody>
      </p:sp>
      <p:sp>
        <p:nvSpPr>
          <p:cNvPr id="7" name="S15-text162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5-text163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●●▲●●▲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다음은?</a:t>
            </a:r>
            <a:endParaRPr lang="ko-KR" sz="2600" dirty="0"/>
          </a:p>
        </p:txBody>
      </p:sp>
      <p:sp>
        <p:nvSpPr>
          <p:cNvPr id="9" name="S15-text164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3, 6, 9, □</a:t>
            </a:r>
            <a:endParaRPr lang="ko-KR" sz="2600" dirty="0"/>
          </a:p>
        </p:txBody>
      </p:sp>
      <p:sp>
        <p:nvSpPr>
          <p:cNvPr id="10" name="S15-text165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덧셈표에서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가면?</a:t>
            </a:r>
            <a:endParaRPr lang="ko-KR" sz="2600" dirty="0"/>
          </a:p>
        </p:txBody>
      </p:sp>
      <p:sp>
        <p:nvSpPr>
          <p:cNvPr id="11" name="S15-text166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세 자리 수의 덧셈(초3)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뛰어 세기</a:t>
            </a:r>
            <a:endParaRPr lang="ko-KR" sz="4400" dirty="0"/>
          </a:p>
        </p:txBody>
      </p:sp>
      <p:sp>
        <p:nvSpPr>
          <p:cNvPr id="3" name="S16-text16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몇씩 커지는지 찾아요.</a:t>
            </a:r>
            <a:endParaRPr lang="ko-KR" sz="3200" dirty="0"/>
          </a:p>
        </p:txBody>
      </p:sp>
      <p:sp>
        <p:nvSpPr>
          <p:cNvPr id="4" name="S16-card168"/>
          <p:cNvSpPr/>
          <p:nvPr/>
        </p:nvSpPr>
        <p:spPr>
          <a:xfrm>
            <a:off x="548640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6-cardtext169"/>
          <p:cNvSpPr txBox="1"/>
          <p:nvPr/>
        </p:nvSpPr>
        <p:spPr>
          <a:xfrm>
            <a:off x="822960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0, 2, 4, 6, 8, 10</a:t>
            </a:r>
            <a:endParaRPr lang="ko-KR" sz="3200" dirty="0"/>
          </a:p>
        </p:txBody>
      </p:sp>
      <p:sp>
        <p:nvSpPr>
          <p:cNvPr id="6" name="S16-card170"/>
          <p:cNvSpPr/>
          <p:nvPr/>
        </p:nvSpPr>
        <p:spPr>
          <a:xfrm>
            <a:off x="6208776" y="534924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6-cardtext171"/>
          <p:cNvSpPr txBox="1"/>
          <p:nvPr/>
        </p:nvSpPr>
        <p:spPr>
          <a:xfrm>
            <a:off x="6483096" y="548640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커져요.</a:t>
            </a:r>
            <a:endParaRPr lang="ko-KR" sz="3200" dirty="0"/>
          </a:p>
        </p:txBody>
      </p:sp>
      <p:sp>
        <p:nvSpPr>
          <p:cNvPr id="8" name="S16-line172"/>
          <p:cNvSpPr/>
          <p:nvPr/>
        </p:nvSpPr>
        <p:spPr>
          <a:xfrm>
            <a:off x="685800" y="3939235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16-line173"/>
          <p:cNvSpPr/>
          <p:nvPr/>
        </p:nvSpPr>
        <p:spPr>
          <a:xfrm>
            <a:off x="96012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6-label174"/>
          <p:cNvSpPr txBox="1"/>
          <p:nvPr/>
        </p:nvSpPr>
        <p:spPr>
          <a:xfrm>
            <a:off x="502920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11" name="S16-line175"/>
          <p:cNvSpPr/>
          <p:nvPr/>
        </p:nvSpPr>
        <p:spPr>
          <a:xfrm>
            <a:off x="1986991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6-label176"/>
          <p:cNvSpPr txBox="1"/>
          <p:nvPr/>
        </p:nvSpPr>
        <p:spPr>
          <a:xfrm>
            <a:off x="1529791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3" name="S16-line177"/>
          <p:cNvSpPr/>
          <p:nvPr/>
        </p:nvSpPr>
        <p:spPr>
          <a:xfrm>
            <a:off x="301386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6-label178"/>
          <p:cNvSpPr txBox="1"/>
          <p:nvPr/>
        </p:nvSpPr>
        <p:spPr>
          <a:xfrm>
            <a:off x="2556662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5" name="S16-line179"/>
          <p:cNvSpPr/>
          <p:nvPr/>
        </p:nvSpPr>
        <p:spPr>
          <a:xfrm>
            <a:off x="4040734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6-label180"/>
          <p:cNvSpPr txBox="1"/>
          <p:nvPr/>
        </p:nvSpPr>
        <p:spPr>
          <a:xfrm>
            <a:off x="3583534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7" name="S16-line181"/>
          <p:cNvSpPr/>
          <p:nvPr/>
        </p:nvSpPr>
        <p:spPr>
          <a:xfrm>
            <a:off x="5067605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6-label182"/>
          <p:cNvSpPr txBox="1"/>
          <p:nvPr/>
        </p:nvSpPr>
        <p:spPr>
          <a:xfrm>
            <a:off x="4610405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9" name="S16-line183"/>
          <p:cNvSpPr/>
          <p:nvPr/>
        </p:nvSpPr>
        <p:spPr>
          <a:xfrm>
            <a:off x="6094476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16-label184"/>
          <p:cNvSpPr txBox="1"/>
          <p:nvPr/>
        </p:nvSpPr>
        <p:spPr>
          <a:xfrm>
            <a:off x="5637276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1" name="S16-line185"/>
          <p:cNvSpPr/>
          <p:nvPr/>
        </p:nvSpPr>
        <p:spPr>
          <a:xfrm>
            <a:off x="7121347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6-label186"/>
          <p:cNvSpPr txBox="1"/>
          <p:nvPr/>
        </p:nvSpPr>
        <p:spPr>
          <a:xfrm>
            <a:off x="6664147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3" name="S16-line187"/>
          <p:cNvSpPr/>
          <p:nvPr/>
        </p:nvSpPr>
        <p:spPr>
          <a:xfrm>
            <a:off x="8148218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6-label188"/>
          <p:cNvSpPr txBox="1"/>
          <p:nvPr/>
        </p:nvSpPr>
        <p:spPr>
          <a:xfrm>
            <a:off x="7691018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5" name="S16-line189"/>
          <p:cNvSpPr/>
          <p:nvPr/>
        </p:nvSpPr>
        <p:spPr>
          <a:xfrm>
            <a:off x="9175090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6-label190"/>
          <p:cNvSpPr txBox="1"/>
          <p:nvPr/>
        </p:nvSpPr>
        <p:spPr>
          <a:xfrm>
            <a:off x="8717890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7" name="S16-line191"/>
          <p:cNvSpPr/>
          <p:nvPr/>
        </p:nvSpPr>
        <p:spPr>
          <a:xfrm>
            <a:off x="10201961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6-label192"/>
          <p:cNvSpPr txBox="1"/>
          <p:nvPr/>
        </p:nvSpPr>
        <p:spPr>
          <a:xfrm>
            <a:off x="9744761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9" name="S16-line193"/>
          <p:cNvSpPr/>
          <p:nvPr/>
        </p:nvSpPr>
        <p:spPr>
          <a:xfrm>
            <a:off x="11228832" y="3792931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16-label194"/>
          <p:cNvSpPr txBox="1"/>
          <p:nvPr/>
        </p:nvSpPr>
        <p:spPr>
          <a:xfrm>
            <a:off x="10771632" y="4122115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31" name="S16-mark195"/>
          <p:cNvSpPr/>
          <p:nvPr/>
        </p:nvSpPr>
        <p:spPr>
          <a:xfrm>
            <a:off x="868680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2" name="S16-mark196"/>
          <p:cNvSpPr/>
          <p:nvPr/>
        </p:nvSpPr>
        <p:spPr>
          <a:xfrm>
            <a:off x="2922422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3" name="S16-mark197"/>
          <p:cNvSpPr/>
          <p:nvPr/>
        </p:nvSpPr>
        <p:spPr>
          <a:xfrm>
            <a:off x="4976165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4" name="S16-mark198"/>
          <p:cNvSpPr/>
          <p:nvPr/>
        </p:nvSpPr>
        <p:spPr>
          <a:xfrm>
            <a:off x="7029907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5" name="S16-mark199"/>
          <p:cNvSpPr/>
          <p:nvPr/>
        </p:nvSpPr>
        <p:spPr>
          <a:xfrm>
            <a:off x="9083650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6" name="S16-mark200"/>
          <p:cNvSpPr/>
          <p:nvPr/>
        </p:nvSpPr>
        <p:spPr>
          <a:xfrm>
            <a:off x="11137392" y="3847795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7" name="S16-line201"/>
          <p:cNvSpPr/>
          <p:nvPr/>
        </p:nvSpPr>
        <p:spPr>
          <a:xfrm flipV="1">
            <a:off x="960120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8" name="S16-line202"/>
          <p:cNvSpPr/>
          <p:nvPr/>
        </p:nvSpPr>
        <p:spPr>
          <a:xfrm>
            <a:off x="960120" y="3555187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9" name="S16-label203"/>
          <p:cNvSpPr txBox="1"/>
          <p:nvPr/>
        </p:nvSpPr>
        <p:spPr>
          <a:xfrm>
            <a:off x="960120" y="3107639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+2</a:t>
            </a:r>
            <a:endParaRPr lang="ko-KR" sz="2600" dirty="0"/>
          </a:p>
        </p:txBody>
      </p:sp>
      <p:sp>
        <p:nvSpPr>
          <p:cNvPr id="40" name="S16-line204"/>
          <p:cNvSpPr/>
          <p:nvPr/>
        </p:nvSpPr>
        <p:spPr>
          <a:xfrm flipV="1">
            <a:off x="3013862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1" name="S16-line205"/>
          <p:cNvSpPr/>
          <p:nvPr/>
        </p:nvSpPr>
        <p:spPr>
          <a:xfrm>
            <a:off x="3013862" y="3555187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2" name="S16-label206"/>
          <p:cNvSpPr txBox="1"/>
          <p:nvPr/>
        </p:nvSpPr>
        <p:spPr>
          <a:xfrm>
            <a:off x="3013862" y="3107639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+2</a:t>
            </a:r>
            <a:endParaRPr lang="ko-KR" sz="2600" dirty="0"/>
          </a:p>
        </p:txBody>
      </p:sp>
      <p:sp>
        <p:nvSpPr>
          <p:cNvPr id="43" name="S16-line207"/>
          <p:cNvSpPr/>
          <p:nvPr/>
        </p:nvSpPr>
        <p:spPr>
          <a:xfrm flipV="1">
            <a:off x="5067605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4" name="S16-line208"/>
          <p:cNvSpPr/>
          <p:nvPr/>
        </p:nvSpPr>
        <p:spPr>
          <a:xfrm>
            <a:off x="5067605" y="3555187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5" name="S16-label209"/>
          <p:cNvSpPr txBox="1"/>
          <p:nvPr/>
        </p:nvSpPr>
        <p:spPr>
          <a:xfrm>
            <a:off x="5067605" y="3107639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+2</a:t>
            </a:r>
            <a:endParaRPr lang="ko-KR" sz="2600" dirty="0"/>
          </a:p>
        </p:txBody>
      </p:sp>
      <p:sp>
        <p:nvSpPr>
          <p:cNvPr id="46" name="S16-line210"/>
          <p:cNvSpPr/>
          <p:nvPr/>
        </p:nvSpPr>
        <p:spPr>
          <a:xfrm flipV="1">
            <a:off x="7121347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7" name="S16-line211"/>
          <p:cNvSpPr/>
          <p:nvPr/>
        </p:nvSpPr>
        <p:spPr>
          <a:xfrm>
            <a:off x="7121347" y="3555187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8" name="S16-label212"/>
          <p:cNvSpPr txBox="1"/>
          <p:nvPr/>
        </p:nvSpPr>
        <p:spPr>
          <a:xfrm>
            <a:off x="7121347" y="3107639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+2</a:t>
            </a:r>
            <a:endParaRPr lang="ko-KR" sz="2600" dirty="0"/>
          </a:p>
        </p:txBody>
      </p:sp>
      <p:sp>
        <p:nvSpPr>
          <p:cNvPr id="49" name="S16-line213"/>
          <p:cNvSpPr/>
          <p:nvPr/>
        </p:nvSpPr>
        <p:spPr>
          <a:xfrm flipV="1">
            <a:off x="9175090" y="3555187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50" name="S16-line214"/>
          <p:cNvSpPr/>
          <p:nvPr/>
        </p:nvSpPr>
        <p:spPr>
          <a:xfrm>
            <a:off x="9175090" y="3555187"/>
            <a:ext cx="205374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51" name="S16-label215"/>
          <p:cNvSpPr txBox="1"/>
          <p:nvPr/>
        </p:nvSpPr>
        <p:spPr>
          <a:xfrm>
            <a:off x="9175090" y="3107639"/>
            <a:ext cx="205374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+2</a:t>
            </a:r>
            <a:endParaRPr lang="ko-KR" sz="2600" dirty="0"/>
          </a:p>
        </p:txBody>
      </p:sp>
      <p:sp>
        <p:nvSpPr>
          <p:cNvPr id="52" name="S16-figure216" descr="0부터 10까지 2씩 뛰어 세는 수직선"/>
          <p:cNvSpPr/>
          <p:nvPr/>
        </p:nvSpPr>
        <p:spPr>
          <a:xfrm>
            <a:off x="685800" y="3756355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무늬와 수의 규칙</dc:title>
  <dc:subject>KR22-G02-MAT-PATTERN-L01</dc:subject>
  <dc:creator>education-ppt</dc:creator>
  <cp:lastModifiedBy>education-ppt</cp:lastModifiedBy>
  <cp:revision>1</cp:revision>
  <dcterms:created xsi:type="dcterms:W3CDTF">2026-10-26T07:46:53Z</dcterms:created>
  <dcterms:modified xsi:type="dcterms:W3CDTF">2026-10-26T07:46:53Z</dcterms:modified>
</cp:coreProperties>
</file>