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8191546-dc4e-4f2f-d6f7-a36da2d511c0}">
          <p14:sldIdLst>
            <p14:sldId id="256"/>
            <p14:sldId id="257"/>
          </p14:sldIdLst>
        </p14:section>
        <p14:section name="개념" id="{1088b846-8735-de4f-ccbd-583be2ee6265}">
          <p14:sldIdLst>
            <p14:sldId id="258"/>
            <p14:sldId id="259"/>
            <p14:sldId id="260"/>
            <p14:sldId id="263"/>
            <p14:sldId id="264"/>
            <p14:sldId id="265"/>
          </p14:sldIdLst>
        </p14:section>
        <p14:section name="연습" id="{05f2651f-9084-79e8-d4c0-dd497bf242a2}">
          <p14:sldIdLst>
            <p14:sldId id="261"/>
            <p14:sldId id="262"/>
            <p14:sldId id="266"/>
          </p14:sldIdLst>
        </p14:section>
        <p14:section name="개념" id="{e3a41fea-4682-16be-1a41-6706e5dea3af}">
          <p14:sldIdLst/>
        </p14:section>
        <p14:section name="연습" id="{86f5a541-b31b-7597-3649-38aa8205b52c}">
          <p14:sldIdLst/>
        </p14:section>
        <p14:section name="확인" id="{580a13cc-63f8-a1e3-ba1d-5c5b52bae0ed}">
          <p14:sldIdLst>
            <p14:sldId id="267"/>
            <p14:sldId id="268"/>
            <p14:sldId id="269"/>
          </p14:sldIdLst>
        </p14:section>
        <p14:section name="정리" id="{22d13aca-98dc-ead3-a656-0cadc2d6bcf8}">
          <p14:sldIdLst>
            <p14:sldId id="270"/>
          </p14:sldIdLst>
        </p14:section>
        <p14:section name="보충" id="{e0476e7f-785d-3b19-1026-d6f33b295e6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되풀이되는 것을 찾으면 다음을 알 수 있다는 것에 흥미를 갖게 합니다.
시간: 약 2분
이렇게 말해 보세요
- “동그라미, 세모, 동그라미, 세모… 그다음에는 무엇이 올까? 어떻게 알았어?”
- “이렇게 정해진 대로 되풀이되거나 늘어나는 것을 ‘규칙’이라고 해.”
예상 답
- “동그라미요. 번갈아 나와요.”
막히면
- 손뼉과 무릎 치기를 번갈아 하며 “짝, 탁, 짝, 탁, 그다음은?”으로 소리로 먼저 느끼게 합니다.
주의
- 오늘은 무늬, 쌓은 모양, 덧셈표, 곱셈표의 규칙을 차례로 봅니다. 길면 S07 뒤에서 나누어 이틀에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확인(뛰어 세기, 곱셈구구)]
목적: 수 배열의 규칙(뛰어 세기)과 곱셈구구가 되는지 확인합니다. 오늘 덧셈표·곱셈표의 규칙에 쓰입니다.
시간: 약 3분
이렇게 말해 보세요
- “①은 몇씩 커져? 빈칸은?”
- “②는 몇씩 커져? ③ 3 곱하기 4는?”
정답
- ① 8(2씩 커짐)
- ② 50(5씩 커짐)
- ③ 12
막히면
- ①②가 어려우면 S16(보충)을 먼저 합니다. 보충으로도 어려우면 초1 ‘수 배열의 규칙’(KR22-G01-MAT-NUMPAT-L01)을 먼저 합니다.
- ③이 어려우면 곱셈표 장(S10)은 곱셈구구표를 보면서 합니다. 이 차시의 앞 차시는 ‘표와 그래프’(KR22-G02-MAT-TABLEGRAPH-L01)입니다.
주의
- “몇씩 커져?”라는 질문이 오늘 수의 규칙을 찾는 열쇠입니다.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되풀이되는 무늬의 규칙]
목적: 무늬에서 되풀이되는 부분(●, ▲, ▲)을 찾아 규칙을 말로 설명합니다.
시간: 약 3분
이렇게 말해 보세요
- “테두리가 진한 세 장이 한 묶음이야. 이 묶음이 어떻게 나오는지 봐. 또 나와?”
- “규칙을 말해 볼래? ‘●, ▲, ▲가 되풀이돼요.’”
예상 답
- “동그라미 하나, 세모 둘이 계속 나와요.”
막히면
- 단추와 블록으로 같은 무늬를 늘어놓고, 한 묶음마다 손가락으로 끊어 읽습니다(●▲▲ / ●▲▲ / ●▲▲).
주의
- ‘●와 ▲가 번갈아’라고 하면 M1입니다. 실제로 번갈아 나오는지 한 장씩 짚어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두 줄 무늬의 규칙]
목적: 색칠한 칸과 안 한 칸으로 된 무늬에서 줄마다, 위아래로 규칙을 찾아 설명합니다.
시간: 약 2분
이렇게 말해 보세요
- “윗줄은 어떻게 색칠했어? 아랫줄은?”
- “윗줄과 아랫줄을 위아래로 비교하면 어때?”
예상 답
- “색칠, 안 함, 색칠, 안 함이에요.” “아래는 반대예요.”
막히면
- 윗줄 칸을 하나씩 짚으며 “칠, 안, 칠, 안”을 소리 내어 말합니다.
주의
- 바둑판·타일·보도블록처럼 집 주변의 무늬에서도 같은 규칙을 찾아보게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쌓은 모양의 규칙]
목적: 쌓은 모양에서 쌓기나무가 어디에 몇 개씩 늘어나는지 찾아 규칙을 설명합니다.
시간: 약 3분
이렇게 말해 보세요
- “첫째, 둘째, 셋째 모양의 쌓기나무는 몇 개야?”
- “둘째는 첫째보다 어디에 몇 개가 늘었어? 셋째는?”
- “그럼 넷째는 몇 개일까?”
예상 답
- “1개, 3개, 5개요.” “위에 하나, 오른쪽에 하나씩 늘어요.” “넷째는 7개요.”
막히면
- 쌓기나무로 첫째, 둘째, 셋째를 직접 쌓으며 새로 놓는 쌓기나무를 손으로 짚습니다.
주의
- 색칠한 칸 1개가 쌓기나무 1개입니다(앞 차시 ‘쌓기나무’와 같은 그림 약속).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연습(무늬와 쌓은 모양)]
목적: 도움을 받으며 무늬의 다음 모양과 쌓은 모양의 다음 개수를 구하고 규칙을 말합니다.
시간: 약 4분
이렇게 말해 보세요
- “①은 무엇이 되풀이돼? 그럼 ? 자리에는 무엇이 올까?”
- “④는 S05에서 2개씩 늘어났지? 셋째가 5개면 넷째는?”
정답
- ① ●(■, ●, ●가 되풀이)
- ② ○(○, ○, ●가 되풀이)
- ③ △(▲, △가 번갈아)
- ④ 7개(1, 3, 5, 7로 2개씩 늘어남)
막히면
- 묶음마다 손가락으로 끊어 읽게 합니다(■●● / ■●● / ■●?).
- ④는 쌓기나무로 넷째 모양을 쌓아 봅니다.
주의
- 답과 함께 규칙을 말로 설명하게 합니다. “왜 ●야?” “■●●가 되풀이되니까요.”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비교(묶음을 잘못 찾기)]
목적: 되풀이되는 묶음 전체를 보지 않고 바로 앞 모양만 보고 판단하는 실수를 바로잡습니다(M1).
시간: 약 2분
이렇게 말해 보세요
- “토끼는 ●, 곰은 ■라고 했어. 묶음으로 끊어 읽어 볼까? ■■● / ■■● / ■…”
예상 답
- “곰이요. ■가 두 번 나와야 ●가 나와요.”
정답
- 곰이 맞습니다. ■, ■, ●가 되풀이되므로 ■ 다음에 ■가 한 번 더 옵니다.
- 토끼는 묶음을 보지 않고 ‘■ 다음은 ●’라고만 생각했습니다.
막히면
- 블록으로 ■■● 묶음을 만들어 차례로 놓아 봅니다.
주의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덧셈표의 규칙(가로, 세로)]
목적: 덧셈표를 읽는 방법을 알고, 가로줄과 세로줄에서 수가 1씩 커지는 규칙을 찾습니다.
시간: 약 3분
이렇게 말해 보세요
- “맨 왼쪽의 2와 맨 위의 3이 만나는 칸에는 2 + 3 = 5가 있어. 찾아볼래?”
- “2의 가로줄을 오른쪽으로 읽어 봐. 몇씩 커져? 왜 그럴까?”
예상 답
- “3, 4, 5, 6, 7. 1씩 커져요. 더하는 수가 1씩 커지니까요.”
막히면
- 손가락 두 개로 줄 번호와 칸 번호를 동시에 짚어 만나는 칸을 찾게 합니다.
주의
- 표의 칸에 색을 칠할 수 없으니, 이야기하는 줄을 손가락이나 종이로 가려 가며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덧셈표의 규칙(대각선)]
목적: 덧셈표에서 비스듬한 방향(↘, ↙)의 규칙을 찾고 까닭을 말합니다.
시간: 약 3분
이렇게 말해 보세요
- “왼쪽 위 2에서 오른쪽 아래로 비스듬히 읽어 봐. 2, 4, 6 … 몇씩 커져?”
- “이번엔 맨 위 오른쪽 6에서 왼쪽 아래로 읽어 봐. 어떤 수들이야?”
예상 답
- “2씩 커져요.” “전부 6이에요.”
막히면
- 1 + 5, 2 + 4, 3 + 3, 4 + 2, 5 + 1을 써 보며 더하는 두 수가 하나는 커지고 하나는 작아진다는 것을 보여 줍니다.
주의
- ↘ 방향은 두 수가 모두 1씩 커지니 2씩, ↙ 방향은 하나가 1 커지고 하나가 1 작아지니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곱셈표의 규칙]
목적: 곱셈표에서 단마다 그 수만큼 커지는 규칙과, 두 수의 순서를 바꾸어 곱해도 곱이 같은 규칙을 찾습니다.
시간: 약 3분
이렇게 말해 보세요
- “3의 가로줄을 읽어 봐. 3, 6, 9, 12, 15. 몇씩 커져? 5의 가로줄은?”
- “3 × 4와 4 × 3을 표에서 찾아볼래? 어때?”
예상 답
- “3씩 커져요. 5단은 5씩 커져요.” “둘 다 12예요.”
막히면
- 바둑돌을 3개씩 4줄, 4개씩 3줄로 놓아 둘 다 12개임을 확인합니다.
주의
- 5단의 곱은 일의 자리가 5, 0, 5, 0으로 되풀이된다는 것도 찾으면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연습(덧셈표·곱셈표 빈칸)]
목적: 도움을 받으며 덧셈표와 곱셈표의 규칙을 이용해 빈칸을 채우고, 계산으로 확인합니다.
시간: 약 4분
이렇게 말해 보세요
- “왼쪽 덧셈표의 첫 줄은 5, 6, □, 8이야. 1씩 커지니까 □는?”
- “오른쪽 곱셈표의 2단 줄은 4, 6, □, 10이야. 몇씩 커져?”
정답
- 덧셈표: 위에서부터 7, 7, 7(빈칸 셋이 ↙ 방향으로 놓여 모두 같음)
- 곱셈표: 2 × 4 = 8, 3 × 5 = 15, 4 × 3 = 12
막히면
- 규칙으로 찾기 어려우면 줄의 수와 칸의 수를 더하거나(곱해서) 바로 계산해 봅니다.
주의
- 덧셈표의 □ 세 개가 모두 7인 까닭(↙ 방향은 같은 수)을 물어보면 S09와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무늬(①)와 곱셈표(②)의 빈칸을 채우고, 늘어나는 규칙(③)으로 다음 수를 구하며 규칙을 설명하는지 확인합니다.
시간: 약 4분
이렇게 말해 보세요
- “이번에는 혼자 해 볼래? 답을 말할 때 규칙도 함께 말해 줘.”
정답
- ① ▲(▲, ●, ●가 되풀이)
- ② 20, 30(5씩 커짐, 일의 자리가 5와 0이 번갈아)
- ③ 8개(2개씩 늘어남)
막히면
- 바로 알려 주지 말고 “되풀이되는 묶음은?”, “몇씩 커져?”라고만 묻습니다.
- 도움을 받아 해결했다면 기록표에 ‘도움’으로 표시합니다.
주의
- 답만 맞고 규칙을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규칙도 같았어?”
정답
- ① ▲ ② 20, 30 ③ 8개
막히면
- ①이 ●면 S07처럼 묶음으로 끊어 읽습니다(M1).
- ②에서 표를 차례로 세지 않고 앞 수에 5를 한 번만 더했으면 칸을 하나씩 짚으며 5씩 셉니다(M2).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확인(규칙 설명 판단)]
목적: 처음 보는 수의 배열에서 규칙을 설명한 말이 맞는지 판단하는지 확인합니다.
시간: 약 2분
이렇게 말해 보세요
- “4단의 곱을 보고 규칙을 말한 것 중에 알맞지 않은 것은 어느 것일까?”
정답
- 나(2씩 커져요). 4, 8, 12 …는 4씩 커집니다.
- 가와 다는 알맞습니다. 4단의 곱은 모두 짝수입니다.
막히면
- 4에서 8, 8에서 12로 몇씩 커지는지 손가락으로 세어 봅니다.
주의
- ‘짝수’가 어려우면 “둘씩 짝을 지을 수 있는 수”라고 풀어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“오늘 배운 것을 말해 볼래? 무늬에서 규칙을 어떻게 찾았어? 덧셈표와 곱셈표에서는?”
예상 답
- “되풀이되는 걸 찾아요.” “몇씩 커지는지 봐요.”
정답
- ① ● ② 12 ③ 1씩 커져요
막히면
- S03과 S08을 다시 보여 줍니다.
주의
- 초2 수학의 마지막 차시입니다. 계획상 다음 수학 차시는 초3 ‘세 자리 수의 덧셈’입니다.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보충(뛰어 세기)]
목적: S02에서 뛰어 세기가 흔들리면 수직선에서 몇씩 커지는지 찾는 것을 먼저 합니다.
시간: 약 5분
이렇게 말해 보세요
- “0에서 2칸씩 뛰어 볼까? 0, 2, 4 … 몇씩 커졌어?”
- “이번엔 5씩 뛰어 볼까? 0, 5, 10 …”
정답
- 2씩 커집니다. 5씩 뛰면 0, 5, 10, 15, 20입니다.
막히면
- 바닥에 종이를 깔고 실제로 두 칸씩 뛰며 수를 말합니다.
주의
- 보충으로도 어려우면 초1 ‘수 배열의 규칙’(KR22-G01-MAT-NUMPAT-L01)을 먼저 합니다. 이 차시의 앞 차시는 ‘표와 그래프’(KR22-G02-MAT-TABLEGRAPH-L01)입니다.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자료와규칙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무늬와 수의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무늬와 수의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무늬와 수의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무늬와 수의 규칙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다음에는 무엇이 올까?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700" dirty="0"/>
          </a:p>
        </p:txBody>
      </p:sp>
      <p:sp>
        <p:nvSpPr>
          <p:cNvPr id="5" name="S01-tile2"/>
          <p:cNvSpPr txBox="1"/>
          <p:nvPr/>
        </p:nvSpPr>
        <p:spPr>
          <a:xfrm>
            <a:off x="8507578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700" dirty="0"/>
          </a:p>
        </p:txBody>
      </p:sp>
      <p:sp>
        <p:nvSpPr>
          <p:cNvPr id="6" name="S01-tile3"/>
          <p:cNvSpPr txBox="1"/>
          <p:nvPr/>
        </p:nvSpPr>
        <p:spPr>
          <a:xfrm>
            <a:off x="9334195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700" dirty="0"/>
          </a:p>
        </p:txBody>
      </p:sp>
      <p:sp>
        <p:nvSpPr>
          <p:cNvPr id="7" name="S01-tile4"/>
          <p:cNvSpPr txBox="1"/>
          <p:nvPr/>
        </p:nvSpPr>
        <p:spPr>
          <a:xfrm>
            <a:off x="10160813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700" dirty="0"/>
          </a:p>
        </p:txBody>
      </p:sp>
      <p:sp>
        <p:nvSpPr>
          <p:cNvPr id="8" name="S01-tile5"/>
          <p:cNvSpPr txBox="1"/>
          <p:nvPr/>
        </p:nvSpPr>
        <p:spPr>
          <a:xfrm>
            <a:off x="1098743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700" dirty="0"/>
          </a:p>
        </p:txBody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무늬와 쌓은 모양에서 규칙을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덧셈표와 곱셈표에서 규칙을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4, 6, □, 10</a:t>
            </a:r>
            <a:endParaRPr lang="ko-KR" sz="36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35, 40, 45, □</a:t>
            </a:r>
            <a:endParaRPr lang="ko-KR" sz="36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무늬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되풀이되는지 찾아요.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찾으면 다음을 알 수 있어요.</a:t>
            </a:r>
            <a:endParaRPr lang="ko-KR" sz="3200" dirty="0"/>
          </a:p>
        </p:txBody>
      </p:sp>
      <p:sp>
        <p:nvSpPr>
          <p:cNvPr id="6" name="S03-card17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8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●, ▲, ▲가 되풀이돼요.</a:t>
            </a:r>
            <a:endParaRPr lang="ko-KR" sz="3200" dirty="0"/>
          </a:p>
        </p:txBody>
      </p:sp>
      <p:sp>
        <p:nvSpPr>
          <p:cNvPr id="8" name="S03-card19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20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다음에 또 ●가 와요.</a:t>
            </a:r>
            <a:endParaRPr lang="ko-KR" sz="3200" dirty="0"/>
          </a:p>
        </p:txBody>
      </p:sp>
      <p:sp>
        <p:nvSpPr>
          <p:cNvPr id="10" name="S03-tile21"/>
          <p:cNvSpPr txBox="1"/>
          <p:nvPr/>
        </p:nvSpPr>
        <p:spPr>
          <a:xfrm>
            <a:off x="54864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600" dirty="0"/>
          </a:p>
        </p:txBody>
      </p:sp>
      <p:sp>
        <p:nvSpPr>
          <p:cNvPr id="11" name="S03-tile22"/>
          <p:cNvSpPr txBox="1"/>
          <p:nvPr/>
        </p:nvSpPr>
        <p:spPr>
          <a:xfrm>
            <a:off x="180340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2" name="S03-tile23"/>
          <p:cNvSpPr txBox="1"/>
          <p:nvPr/>
        </p:nvSpPr>
        <p:spPr>
          <a:xfrm>
            <a:off x="305816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3" name="S03-tile24"/>
          <p:cNvSpPr txBox="1"/>
          <p:nvPr/>
        </p:nvSpPr>
        <p:spPr>
          <a:xfrm>
            <a:off x="431292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600" dirty="0"/>
          </a:p>
        </p:txBody>
      </p:sp>
      <p:sp>
        <p:nvSpPr>
          <p:cNvPr id="14" name="S03-tile25"/>
          <p:cNvSpPr txBox="1"/>
          <p:nvPr/>
        </p:nvSpPr>
        <p:spPr>
          <a:xfrm>
            <a:off x="556768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5" name="S03-tile26"/>
          <p:cNvSpPr txBox="1"/>
          <p:nvPr/>
        </p:nvSpPr>
        <p:spPr>
          <a:xfrm>
            <a:off x="682244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6" name="S03-tile27"/>
          <p:cNvSpPr txBox="1"/>
          <p:nvPr/>
        </p:nvSpPr>
        <p:spPr>
          <a:xfrm>
            <a:off x="807720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600" dirty="0"/>
          </a:p>
        </p:txBody>
      </p:sp>
      <p:sp>
        <p:nvSpPr>
          <p:cNvPr id="17" name="S03-tile28"/>
          <p:cNvSpPr txBox="1"/>
          <p:nvPr/>
        </p:nvSpPr>
        <p:spPr>
          <a:xfrm>
            <a:off x="933196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18" name="S03-tile29"/>
          <p:cNvSpPr txBox="1"/>
          <p:nvPr/>
        </p:nvSpPr>
        <p:spPr>
          <a:xfrm>
            <a:off x="10586720" y="2490724"/>
            <a:ext cx="1053592" cy="1053592"/>
          </a:xfrm>
          <a:prstGeom prst="roundRect">
            <a:avLst>
              <a:gd name="adj" fmla="val 121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 무늬의 규칙</a:t>
            </a:r>
            <a:endParaRPr lang="ko-KR" sz="4400" dirty="0"/>
          </a:p>
        </p:txBody>
      </p:sp>
      <p:sp>
        <p:nvSpPr>
          <p:cNvPr id="3" name="S04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줄마다 색칠한 칸을 봐요.</a:t>
            </a:r>
            <a:endParaRPr lang="ko-KR" sz="3200" dirty="0"/>
          </a:p>
        </p:txBody>
      </p:sp>
      <p:sp>
        <p:nvSpPr>
          <p:cNvPr id="4" name="S04-card31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2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윗줄: 색칠, 안 함이 번갈아요.</a:t>
            </a:r>
            <a:endParaRPr lang="ko-KR" sz="3200" dirty="0"/>
          </a:p>
        </p:txBody>
      </p:sp>
      <p:sp>
        <p:nvSpPr>
          <p:cNvPr id="6" name="S04-card33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4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아랫줄은 윗줄과 반대예요.</a:t>
            </a:r>
            <a:endParaRPr lang="ko-KR" sz="3200" dirty="0"/>
          </a:p>
        </p:txBody>
      </p:sp>
      <p:sp>
        <p:nvSpPr>
          <p:cNvPr id="8" name="S04-cell35"/>
          <p:cNvSpPr/>
          <p:nvPr/>
        </p:nvSpPr>
        <p:spPr>
          <a:xfrm>
            <a:off x="207111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36"/>
          <p:cNvSpPr/>
          <p:nvPr/>
        </p:nvSpPr>
        <p:spPr>
          <a:xfrm>
            <a:off x="307695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37"/>
          <p:cNvSpPr/>
          <p:nvPr/>
        </p:nvSpPr>
        <p:spPr>
          <a:xfrm>
            <a:off x="408279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38"/>
          <p:cNvSpPr/>
          <p:nvPr/>
        </p:nvSpPr>
        <p:spPr>
          <a:xfrm>
            <a:off x="508863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39"/>
          <p:cNvSpPr/>
          <p:nvPr/>
        </p:nvSpPr>
        <p:spPr>
          <a:xfrm>
            <a:off x="609447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40"/>
          <p:cNvSpPr/>
          <p:nvPr/>
        </p:nvSpPr>
        <p:spPr>
          <a:xfrm>
            <a:off x="710031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cell41"/>
          <p:cNvSpPr/>
          <p:nvPr/>
        </p:nvSpPr>
        <p:spPr>
          <a:xfrm>
            <a:off x="8106156" y="233426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42"/>
          <p:cNvSpPr/>
          <p:nvPr/>
        </p:nvSpPr>
        <p:spPr>
          <a:xfrm>
            <a:off x="9111996" y="233426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43"/>
          <p:cNvSpPr/>
          <p:nvPr/>
        </p:nvSpPr>
        <p:spPr>
          <a:xfrm>
            <a:off x="207111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44"/>
          <p:cNvSpPr/>
          <p:nvPr/>
        </p:nvSpPr>
        <p:spPr>
          <a:xfrm>
            <a:off x="307695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45"/>
          <p:cNvSpPr/>
          <p:nvPr/>
        </p:nvSpPr>
        <p:spPr>
          <a:xfrm>
            <a:off x="408279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46"/>
          <p:cNvSpPr/>
          <p:nvPr/>
        </p:nvSpPr>
        <p:spPr>
          <a:xfrm>
            <a:off x="508863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47"/>
          <p:cNvSpPr/>
          <p:nvPr/>
        </p:nvSpPr>
        <p:spPr>
          <a:xfrm>
            <a:off x="609447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48"/>
          <p:cNvSpPr/>
          <p:nvPr/>
        </p:nvSpPr>
        <p:spPr>
          <a:xfrm>
            <a:off x="710031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49"/>
          <p:cNvSpPr/>
          <p:nvPr/>
        </p:nvSpPr>
        <p:spPr>
          <a:xfrm>
            <a:off x="8106156" y="3340100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cell50"/>
          <p:cNvSpPr/>
          <p:nvPr/>
        </p:nvSpPr>
        <p:spPr>
          <a:xfrm>
            <a:off x="9111996" y="3340100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4-figure51" descr="두 줄 무늬: 윗줄은 색칠한 칸과 안 한 칸이 번갈아, 아랫줄은 윗줄과 반대. 색칠한 칸 8개"/>
          <p:cNvSpPr/>
          <p:nvPr/>
        </p:nvSpPr>
        <p:spPr>
          <a:xfrm>
            <a:off x="2071116" y="2334260"/>
            <a:ext cx="80467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쌓은 모양의 규칙</a:t>
            </a:r>
            <a:endParaRPr lang="ko-KR" sz="4400" dirty="0"/>
          </a:p>
        </p:txBody>
      </p:sp>
      <p:sp>
        <p:nvSpPr>
          <p:cNvPr id="3" name="S05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쌓은 모양을 앞에서 봤어요.</a:t>
            </a:r>
            <a:endParaRPr lang="ko-KR" sz="3200" dirty="0"/>
          </a:p>
        </p:txBody>
      </p:sp>
      <p:sp>
        <p:nvSpPr>
          <p:cNvPr id="4" name="S05-card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 → 3개 → 5개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 1개, 오른쪽에 1개, 2개씩 늘어나요.</a:t>
            </a:r>
            <a:endParaRPr lang="ko-KR" sz="3200" dirty="0"/>
          </a:p>
        </p:txBody>
      </p:sp>
      <p:sp>
        <p:nvSpPr>
          <p:cNvPr id="6" name="S05-cell55"/>
          <p:cNvSpPr/>
          <p:nvPr/>
        </p:nvSpPr>
        <p:spPr>
          <a:xfrm>
            <a:off x="1536192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56"/>
          <p:cNvSpPr/>
          <p:nvPr/>
        </p:nvSpPr>
        <p:spPr>
          <a:xfrm>
            <a:off x="2039112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57"/>
          <p:cNvSpPr/>
          <p:nvPr/>
        </p:nvSpPr>
        <p:spPr>
          <a:xfrm>
            <a:off x="2542032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58"/>
          <p:cNvSpPr/>
          <p:nvPr/>
        </p:nvSpPr>
        <p:spPr>
          <a:xfrm>
            <a:off x="1536192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59"/>
          <p:cNvSpPr/>
          <p:nvPr/>
        </p:nvSpPr>
        <p:spPr>
          <a:xfrm>
            <a:off x="2039112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60"/>
          <p:cNvSpPr/>
          <p:nvPr/>
        </p:nvSpPr>
        <p:spPr>
          <a:xfrm>
            <a:off x="2542032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61"/>
          <p:cNvSpPr/>
          <p:nvPr/>
        </p:nvSpPr>
        <p:spPr>
          <a:xfrm>
            <a:off x="1536192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62"/>
          <p:cNvSpPr/>
          <p:nvPr/>
        </p:nvSpPr>
        <p:spPr>
          <a:xfrm>
            <a:off x="2039112" y="334048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63"/>
          <p:cNvSpPr/>
          <p:nvPr/>
        </p:nvSpPr>
        <p:spPr>
          <a:xfrm>
            <a:off x="2542032" y="334048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figure64" descr="한 줄로 쌓은 모양(앞에서 봄): 1층 1개, 맨 왼쪽 위로 0개, 모두 1개"/>
          <p:cNvSpPr/>
          <p:nvPr/>
        </p:nvSpPr>
        <p:spPr>
          <a:xfrm>
            <a:off x="1536192" y="2334641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5-label65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</a:t>
            </a:r>
            <a:endParaRPr lang="ko-KR" sz="2600" dirty="0"/>
          </a:p>
        </p:txBody>
      </p:sp>
      <p:sp>
        <p:nvSpPr>
          <p:cNvPr id="17" name="S05-cell66"/>
          <p:cNvSpPr/>
          <p:nvPr/>
        </p:nvSpPr>
        <p:spPr>
          <a:xfrm>
            <a:off x="5340096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67"/>
          <p:cNvSpPr/>
          <p:nvPr/>
        </p:nvSpPr>
        <p:spPr>
          <a:xfrm>
            <a:off x="5843016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68"/>
          <p:cNvSpPr/>
          <p:nvPr/>
        </p:nvSpPr>
        <p:spPr>
          <a:xfrm>
            <a:off x="6345936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69"/>
          <p:cNvSpPr/>
          <p:nvPr/>
        </p:nvSpPr>
        <p:spPr>
          <a:xfrm>
            <a:off x="5340096" y="283756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70"/>
          <p:cNvSpPr/>
          <p:nvPr/>
        </p:nvSpPr>
        <p:spPr>
          <a:xfrm>
            <a:off x="5843016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cell71"/>
          <p:cNvSpPr/>
          <p:nvPr/>
        </p:nvSpPr>
        <p:spPr>
          <a:xfrm>
            <a:off x="6345936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cell72"/>
          <p:cNvSpPr/>
          <p:nvPr/>
        </p:nvSpPr>
        <p:spPr>
          <a:xfrm>
            <a:off x="5340096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cell73"/>
          <p:cNvSpPr/>
          <p:nvPr/>
        </p:nvSpPr>
        <p:spPr>
          <a:xfrm>
            <a:off x="5843016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cell74"/>
          <p:cNvSpPr/>
          <p:nvPr/>
        </p:nvSpPr>
        <p:spPr>
          <a:xfrm>
            <a:off x="6345936" y="334048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figure75" descr="한 줄로 쌓은 모양(앞에서 봄): 1층 2개, 맨 왼쪽 위로 1개, 모두 3개"/>
          <p:cNvSpPr/>
          <p:nvPr/>
        </p:nvSpPr>
        <p:spPr>
          <a:xfrm>
            <a:off x="5340096" y="2334641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5-label76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</a:t>
            </a:r>
            <a:endParaRPr lang="ko-KR" sz="2600" dirty="0"/>
          </a:p>
        </p:txBody>
      </p:sp>
      <p:sp>
        <p:nvSpPr>
          <p:cNvPr id="28" name="S05-cell77"/>
          <p:cNvSpPr/>
          <p:nvPr/>
        </p:nvSpPr>
        <p:spPr>
          <a:xfrm>
            <a:off x="9144000" y="233464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cell78"/>
          <p:cNvSpPr/>
          <p:nvPr/>
        </p:nvSpPr>
        <p:spPr>
          <a:xfrm>
            <a:off x="9646920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cell79"/>
          <p:cNvSpPr/>
          <p:nvPr/>
        </p:nvSpPr>
        <p:spPr>
          <a:xfrm>
            <a:off x="10149840" y="233464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80"/>
          <p:cNvSpPr/>
          <p:nvPr/>
        </p:nvSpPr>
        <p:spPr>
          <a:xfrm>
            <a:off x="9144000" y="283756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81"/>
          <p:cNvSpPr/>
          <p:nvPr/>
        </p:nvSpPr>
        <p:spPr>
          <a:xfrm>
            <a:off x="9646920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82"/>
          <p:cNvSpPr/>
          <p:nvPr/>
        </p:nvSpPr>
        <p:spPr>
          <a:xfrm>
            <a:off x="10149840" y="2837561"/>
            <a:ext cx="5029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cell83"/>
          <p:cNvSpPr/>
          <p:nvPr/>
        </p:nvSpPr>
        <p:spPr>
          <a:xfrm>
            <a:off x="9144000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5-cell84"/>
          <p:cNvSpPr/>
          <p:nvPr/>
        </p:nvSpPr>
        <p:spPr>
          <a:xfrm>
            <a:off x="9646920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5-cell85"/>
          <p:cNvSpPr/>
          <p:nvPr/>
        </p:nvSpPr>
        <p:spPr>
          <a:xfrm>
            <a:off x="10149840" y="3340481"/>
            <a:ext cx="502920" cy="502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5-figure86" descr="한 줄로 쌓은 모양(앞에서 봄): 1층 3개, 맨 왼쪽 위로 2개, 모두 5개"/>
          <p:cNvSpPr/>
          <p:nvPr/>
        </p:nvSpPr>
        <p:spPr>
          <a:xfrm>
            <a:off x="9144000" y="2334641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5-label87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올 것은?</a:t>
            </a:r>
            <a:endParaRPr lang="ko-KR" sz="4400" dirty="0"/>
          </a:p>
        </p:txBody>
      </p:sp>
      <p:sp>
        <p:nvSpPr>
          <p:cNvPr id="3" name="S06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묶음을 먼저 찾아요.</a:t>
            </a:r>
            <a:endParaRPr lang="ko-KR" sz="3200" dirty="0"/>
          </a:p>
        </p:txBody>
      </p:sp>
      <p:sp>
        <p:nvSpPr>
          <p:cNvPr id="5" name="S06-chip9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6-tile91"/>
          <p:cNvSpPr txBox="1"/>
          <p:nvPr/>
        </p:nvSpPr>
        <p:spPr>
          <a:xfrm>
            <a:off x="1344168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1500" dirty="0"/>
          </a:p>
        </p:txBody>
      </p:sp>
      <p:sp>
        <p:nvSpPr>
          <p:cNvPr id="7" name="S06-tile92"/>
          <p:cNvSpPr txBox="1"/>
          <p:nvPr/>
        </p:nvSpPr>
        <p:spPr>
          <a:xfrm>
            <a:off x="1895094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8" name="S06-tile93"/>
          <p:cNvSpPr txBox="1"/>
          <p:nvPr/>
        </p:nvSpPr>
        <p:spPr>
          <a:xfrm>
            <a:off x="2446020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9" name="S06-tile94"/>
          <p:cNvSpPr txBox="1"/>
          <p:nvPr/>
        </p:nvSpPr>
        <p:spPr>
          <a:xfrm>
            <a:off x="2996946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1500" dirty="0"/>
          </a:p>
        </p:txBody>
      </p:sp>
      <p:sp>
        <p:nvSpPr>
          <p:cNvPr id="10" name="S06-tile95"/>
          <p:cNvSpPr txBox="1"/>
          <p:nvPr/>
        </p:nvSpPr>
        <p:spPr>
          <a:xfrm>
            <a:off x="3547872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11" name="S06-tile96"/>
          <p:cNvSpPr txBox="1"/>
          <p:nvPr/>
        </p:nvSpPr>
        <p:spPr>
          <a:xfrm>
            <a:off x="4098798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12" name="S06-tile97"/>
          <p:cNvSpPr txBox="1"/>
          <p:nvPr/>
        </p:nvSpPr>
        <p:spPr>
          <a:xfrm>
            <a:off x="4649724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1500" dirty="0"/>
          </a:p>
        </p:txBody>
      </p:sp>
      <p:sp>
        <p:nvSpPr>
          <p:cNvPr id="13" name="S06-tile98"/>
          <p:cNvSpPr txBox="1"/>
          <p:nvPr/>
        </p:nvSpPr>
        <p:spPr>
          <a:xfrm>
            <a:off x="5200650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1500" dirty="0"/>
          </a:p>
        </p:txBody>
      </p:sp>
      <p:sp>
        <p:nvSpPr>
          <p:cNvPr id="14" name="S06-chip9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" name="S06-tile100"/>
          <p:cNvSpPr txBox="1"/>
          <p:nvPr/>
        </p:nvSpPr>
        <p:spPr>
          <a:xfrm>
            <a:off x="7072884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16" name="S06-tile101"/>
          <p:cNvSpPr txBox="1"/>
          <p:nvPr/>
        </p:nvSpPr>
        <p:spPr>
          <a:xfrm>
            <a:off x="7623810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17" name="S06-tile102"/>
          <p:cNvSpPr txBox="1"/>
          <p:nvPr/>
        </p:nvSpPr>
        <p:spPr>
          <a:xfrm>
            <a:off x="8174736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18" name="S06-tile103"/>
          <p:cNvSpPr txBox="1"/>
          <p:nvPr/>
        </p:nvSpPr>
        <p:spPr>
          <a:xfrm>
            <a:off x="8725662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19" name="S06-tile104"/>
          <p:cNvSpPr txBox="1"/>
          <p:nvPr/>
        </p:nvSpPr>
        <p:spPr>
          <a:xfrm>
            <a:off x="9276588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20" name="S06-tile105"/>
          <p:cNvSpPr txBox="1"/>
          <p:nvPr/>
        </p:nvSpPr>
        <p:spPr>
          <a:xfrm>
            <a:off x="9827514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1500" dirty="0"/>
          </a:p>
        </p:txBody>
      </p:sp>
      <p:sp>
        <p:nvSpPr>
          <p:cNvPr id="21" name="S06-tile106"/>
          <p:cNvSpPr txBox="1"/>
          <p:nvPr/>
        </p:nvSpPr>
        <p:spPr>
          <a:xfrm>
            <a:off x="10378440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1500" dirty="0"/>
          </a:p>
        </p:txBody>
      </p:sp>
      <p:sp>
        <p:nvSpPr>
          <p:cNvPr id="22" name="S06-tile107"/>
          <p:cNvSpPr txBox="1"/>
          <p:nvPr/>
        </p:nvSpPr>
        <p:spPr>
          <a:xfrm>
            <a:off x="10929366" y="1882521"/>
            <a:ext cx="349758" cy="349758"/>
          </a:xfrm>
          <a:prstGeom prst="roundRect">
            <a:avLst>
              <a:gd name="adj" fmla="val 3660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1500" dirty="0"/>
          </a:p>
        </p:txBody>
      </p:sp>
      <p:sp>
        <p:nvSpPr>
          <p:cNvPr id="23" name="S06-chip10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4" name="S06-tile109"/>
          <p:cNvSpPr txBox="1"/>
          <p:nvPr/>
        </p:nvSpPr>
        <p:spPr>
          <a:xfrm>
            <a:off x="1344168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25" name="S06-tile110"/>
          <p:cNvSpPr txBox="1"/>
          <p:nvPr/>
        </p:nvSpPr>
        <p:spPr>
          <a:xfrm>
            <a:off x="2078736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2300" dirty="0"/>
          </a:p>
        </p:txBody>
      </p:sp>
      <p:sp>
        <p:nvSpPr>
          <p:cNvPr id="26" name="S06-tile111"/>
          <p:cNvSpPr txBox="1"/>
          <p:nvPr/>
        </p:nvSpPr>
        <p:spPr>
          <a:xfrm>
            <a:off x="2813304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27" name="S06-tile112"/>
          <p:cNvSpPr txBox="1"/>
          <p:nvPr/>
        </p:nvSpPr>
        <p:spPr>
          <a:xfrm>
            <a:off x="3547872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ko-KR" sz="2300" dirty="0"/>
          </a:p>
        </p:txBody>
      </p:sp>
      <p:sp>
        <p:nvSpPr>
          <p:cNvPr id="28" name="S06-tile113"/>
          <p:cNvSpPr txBox="1"/>
          <p:nvPr/>
        </p:nvSpPr>
        <p:spPr>
          <a:xfrm>
            <a:off x="4282440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300" dirty="0"/>
          </a:p>
        </p:txBody>
      </p:sp>
      <p:sp>
        <p:nvSpPr>
          <p:cNvPr id="29" name="S06-tile114"/>
          <p:cNvSpPr txBox="1"/>
          <p:nvPr/>
        </p:nvSpPr>
        <p:spPr>
          <a:xfrm>
            <a:off x="5017008" y="3779520"/>
            <a:ext cx="533400" cy="533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300" dirty="0"/>
          </a:p>
        </p:txBody>
      </p:sp>
      <p:sp>
        <p:nvSpPr>
          <p:cNvPr id="30" name="S06-chip115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1" name="S06-text116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S05의 넷째 모양은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1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■■●■■●■ 다음에 올 모양은?</a:t>
            </a:r>
            <a:endParaRPr lang="ko-KR" sz="3200" dirty="0"/>
          </a:p>
        </p:txBody>
      </p:sp>
      <p:sp>
        <p:nvSpPr>
          <p:cNvPr id="5" name="S07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1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●</a:t>
            </a:r>
            <a:endParaRPr lang="ko-KR" sz="2600" dirty="0"/>
          </a:p>
        </p:txBody>
      </p:sp>
      <p:sp>
        <p:nvSpPr>
          <p:cNvPr id="8" name="S07-text1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다음에는 ●가 와요.</a:t>
            </a:r>
            <a:endParaRPr lang="ko-KR" sz="3200" dirty="0"/>
          </a:p>
        </p:txBody>
      </p:sp>
      <p:sp>
        <p:nvSpPr>
          <p:cNvPr id="9" name="S07-chip1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■</a:t>
            </a:r>
            <a:endParaRPr lang="ko-KR" sz="2600" dirty="0"/>
          </a:p>
        </p:txBody>
      </p:sp>
      <p:sp>
        <p:nvSpPr>
          <p:cNvPr id="10" name="S07-text1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■, ■, ●가 되풀이돼요.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덧셈표의 규칙</a:t>
            </a:r>
            <a:endParaRPr lang="ko-KR" sz="4400" dirty="0"/>
          </a:p>
        </p:txBody>
      </p:sp>
      <p:sp>
        <p:nvSpPr>
          <p:cNvPr id="3" name="S08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줄의 수와 칸의 수를 더한 표예요.</a:t>
            </a:r>
            <a:endParaRPr lang="ko-KR" sz="3200" dirty="0"/>
          </a:p>
        </p:txBody>
      </p:sp>
      <p:sp>
        <p:nvSpPr>
          <p:cNvPr id="4" name="S08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1씩, 아래로 1씩 커져요.</a:t>
            </a:r>
            <a:endParaRPr lang="ko-KR" sz="3200" dirty="0"/>
          </a:p>
        </p:txBody>
      </p:sp>
      <p:graphicFrame>
        <p:nvGraphicFramePr>
          <p:cNvPr id="9" name="S08-table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210312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비스듬히 보면</a:t>
            </a:r>
            <a:endParaRPr lang="ko-KR" sz="4400" dirty="0"/>
          </a:p>
        </p:txBody>
      </p:sp>
      <p:sp>
        <p:nvSpPr>
          <p:cNvPr id="3" name="S09-card129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0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2, 4, 6, 8, 10: 2씩 커져요.</a:t>
            </a:r>
            <a:endParaRPr lang="ko-KR" sz="3200" dirty="0"/>
          </a:p>
        </p:txBody>
      </p:sp>
      <p:sp>
        <p:nvSpPr>
          <p:cNvPr id="5" name="S09-card131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32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6, 6, 6, 6, 6: 모두 같아요.</a:t>
            </a:r>
            <a:endParaRPr lang="ko-KR" sz="3200" dirty="0"/>
          </a:p>
        </p:txBody>
      </p:sp>
      <p:graphicFrame>
        <p:nvGraphicFramePr>
          <p:cNvPr id="10" name="S09-table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141224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곱셈표의 규칙</a:t>
            </a:r>
            <a:endParaRPr lang="ko-KR" sz="4400" dirty="0"/>
          </a:p>
        </p:txBody>
      </p:sp>
      <p:sp>
        <p:nvSpPr>
          <p:cNvPr id="3" name="S10-card134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35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3단은 3씩 커져요.</a:t>
            </a:r>
            <a:endParaRPr lang="ko-KR" sz="3200" dirty="0"/>
          </a:p>
        </p:txBody>
      </p:sp>
      <p:sp>
        <p:nvSpPr>
          <p:cNvPr id="5" name="S10-card136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37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4와 4 × 3은 같아요.</a:t>
            </a:r>
            <a:endParaRPr lang="ko-KR" sz="3200" dirty="0"/>
          </a:p>
        </p:txBody>
      </p:sp>
      <p:graphicFrame>
        <p:nvGraphicFramePr>
          <p:cNvPr id="11" name="S10-table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6716" y="1638300"/>
          <a:ext cx="9875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빈칸을 채워요</a:t>
            </a:r>
            <a:endParaRPr lang="ko-KR" sz="4400" dirty="0"/>
          </a:p>
        </p:txBody>
      </p:sp>
      <p:sp>
        <p:nvSpPr>
          <p:cNvPr id="3" name="S11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 □에 알맞은 수를 말해요.</a:t>
            </a:r>
            <a:endParaRPr lang="ko-KR" sz="3200" dirty="0"/>
          </a:p>
        </p:txBody>
      </p:sp>
      <p:sp>
        <p:nvSpPr>
          <p:cNvPr id="4" name="S11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들어간 줄은 몇씩 커지나요?</a:t>
            </a:r>
            <a:endParaRPr lang="ko-KR" sz="3200" dirty="0"/>
          </a:p>
        </p:txBody>
      </p:sp>
      <p:graphicFrame>
        <p:nvGraphicFramePr>
          <p:cNvPr id="12" name="S11-table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09520"/>
          <a:ext cx="5385816" cy="914400"/>
        </p:xfrm>
        <a:graphic>
          <a:graphicData uri="http://schemas.openxmlformats.org/drawingml/2006/table">
            <a:tbl>
              <a:tblPr/>
              <a:tblGrid>
                <a:gridCol w="1077163"/>
                <a:gridCol w="1077163"/>
                <a:gridCol w="1077163"/>
                <a:gridCol w="1077163"/>
                <a:gridCol w="1077163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S11-table1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509520"/>
          <a:ext cx="5385816" cy="914400"/>
        </p:xfrm>
        <a:graphic>
          <a:graphicData uri="http://schemas.openxmlformats.org/drawingml/2006/table">
            <a:tbl>
              <a:tblPr/>
              <a:tblGrid>
                <a:gridCol w="1077163"/>
                <a:gridCol w="1077163"/>
                <a:gridCol w="1077163"/>
                <a:gridCol w="1077163"/>
                <a:gridCol w="1077163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?와 □에 알맞은 것을 쓰고 규칙을 말해요.</a:t>
            </a:r>
            <a:endParaRPr lang="ko-KR" sz="3200" dirty="0"/>
          </a:p>
        </p:txBody>
      </p:sp>
      <p:sp>
        <p:nvSpPr>
          <p:cNvPr id="4" name="S12-card1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쌓기나무가 2개, 4개, 6개로 늘어나면 다음은?</a:t>
            </a:r>
            <a:endParaRPr lang="ko-KR" sz="3200" dirty="0"/>
          </a:p>
        </p:txBody>
      </p:sp>
      <p:sp>
        <p:nvSpPr>
          <p:cNvPr id="6" name="S12-tile147"/>
          <p:cNvSpPr txBox="1"/>
          <p:nvPr/>
        </p:nvSpPr>
        <p:spPr>
          <a:xfrm>
            <a:off x="548640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600" dirty="0"/>
          </a:p>
        </p:txBody>
      </p:sp>
      <p:sp>
        <p:nvSpPr>
          <p:cNvPr id="7" name="S12-tile148"/>
          <p:cNvSpPr txBox="1"/>
          <p:nvPr/>
        </p:nvSpPr>
        <p:spPr>
          <a:xfrm>
            <a:off x="1346781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600" dirty="0"/>
          </a:p>
        </p:txBody>
      </p:sp>
      <p:sp>
        <p:nvSpPr>
          <p:cNvPr id="8" name="S12-tile149"/>
          <p:cNvSpPr txBox="1"/>
          <p:nvPr/>
        </p:nvSpPr>
        <p:spPr>
          <a:xfrm>
            <a:off x="2144921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600" dirty="0"/>
          </a:p>
        </p:txBody>
      </p:sp>
      <p:sp>
        <p:nvSpPr>
          <p:cNvPr id="9" name="S12-tile150"/>
          <p:cNvSpPr txBox="1"/>
          <p:nvPr/>
        </p:nvSpPr>
        <p:spPr>
          <a:xfrm>
            <a:off x="2943062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600" dirty="0"/>
          </a:p>
        </p:txBody>
      </p:sp>
      <p:sp>
        <p:nvSpPr>
          <p:cNvPr id="10" name="S12-tile151"/>
          <p:cNvSpPr txBox="1"/>
          <p:nvPr/>
        </p:nvSpPr>
        <p:spPr>
          <a:xfrm>
            <a:off x="3741202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600" dirty="0"/>
          </a:p>
        </p:txBody>
      </p:sp>
      <p:sp>
        <p:nvSpPr>
          <p:cNvPr id="11" name="S12-tile152"/>
          <p:cNvSpPr txBox="1"/>
          <p:nvPr/>
        </p:nvSpPr>
        <p:spPr>
          <a:xfrm>
            <a:off x="4539343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600" dirty="0"/>
          </a:p>
        </p:txBody>
      </p:sp>
      <p:sp>
        <p:nvSpPr>
          <p:cNvPr id="12" name="S12-tile153"/>
          <p:cNvSpPr txBox="1"/>
          <p:nvPr/>
        </p:nvSpPr>
        <p:spPr>
          <a:xfrm>
            <a:off x="5337483" y="3008213"/>
            <a:ext cx="596973" cy="596973"/>
          </a:xfrm>
          <a:prstGeom prst="roundRect">
            <a:avLst>
              <a:gd name="adj" fmla="val 214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600" dirty="0"/>
          </a:p>
        </p:txBody>
      </p:sp>
      <p:sp>
        <p:nvSpPr>
          <p:cNvPr id="13" name="S12-label154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graphicFrame>
        <p:nvGraphicFramePr>
          <p:cNvPr id="13" name="S12-table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778379"/>
          <a:ext cx="5385816" cy="914400"/>
        </p:xfrm>
        <a:graphic>
          <a:graphicData uri="http://schemas.openxmlformats.org/drawingml/2006/table">
            <a:tbl>
              <a:tblPr/>
              <a:tblGrid>
                <a:gridCol w="769402"/>
                <a:gridCol w="769402"/>
                <a:gridCol w="769402"/>
                <a:gridCol w="769402"/>
                <a:gridCol w="769402"/>
                <a:gridCol w="769402"/>
                <a:gridCol w="769402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2-label156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3-card157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58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묶음을 끊어 읽거나, 줄을 하나씩 짚으며 다시 해 보게 하세요.</a:t>
            </a:r>
            <a:endParaRPr lang="ko-KR" sz="3200" dirty="0"/>
          </a:p>
        </p:txBody>
      </p:sp>
      <p:sp>
        <p:nvSpPr>
          <p:cNvPr id="5" name="S13-chip15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160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▲</a:t>
            </a:r>
            <a:endParaRPr lang="ko-KR" sz="3200" dirty="0"/>
          </a:p>
        </p:txBody>
      </p:sp>
      <p:sp>
        <p:nvSpPr>
          <p:cNvPr id="7" name="S13-text161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▲●● 되풀이</a:t>
            </a:r>
            <a:endParaRPr lang="ko-KR" sz="2600" dirty="0"/>
          </a:p>
        </p:txBody>
      </p:sp>
      <p:sp>
        <p:nvSpPr>
          <p:cNvPr id="8" name="S13-text162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20, 30</a:t>
            </a:r>
            <a:endParaRPr lang="ko-KR" sz="3200" dirty="0"/>
          </a:p>
        </p:txBody>
      </p:sp>
      <p:sp>
        <p:nvSpPr>
          <p:cNvPr id="9" name="S13-text163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 커짐</a:t>
            </a:r>
            <a:endParaRPr lang="ko-KR" sz="2600" dirty="0"/>
          </a:p>
        </p:txBody>
      </p:sp>
      <p:sp>
        <p:nvSpPr>
          <p:cNvPr id="10" name="S13-text164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8개</a:t>
            </a:r>
            <a:endParaRPr lang="ko-KR" sz="3200" dirty="0"/>
          </a:p>
        </p:txBody>
      </p:sp>
      <p:sp>
        <p:nvSpPr>
          <p:cNvPr id="11" name="S13-text165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2개씩 늘어남</a:t>
            </a:r>
            <a:endParaRPr lang="ko-KR" sz="2600" dirty="0"/>
          </a:p>
        </p:txBody>
      </p:sp>
      <p:sp>
        <p:nvSpPr>
          <p:cNvPr id="12" name="S13-chip16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3-text16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●</a:t>
            </a:r>
            <a:endParaRPr lang="ko-KR" sz="3200" dirty="0"/>
          </a:p>
        </p:txBody>
      </p:sp>
      <p:sp>
        <p:nvSpPr>
          <p:cNvPr id="14" name="S13-text16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번갈아로 봄</a:t>
            </a:r>
            <a:endParaRPr lang="ko-KR" sz="2600" dirty="0"/>
          </a:p>
        </p:txBody>
      </p:sp>
      <p:sp>
        <p:nvSpPr>
          <p:cNvPr id="15" name="S13-text16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25, 35</a:t>
            </a:r>
            <a:endParaRPr lang="ko-KR" sz="3200" dirty="0"/>
          </a:p>
        </p:txBody>
      </p:sp>
      <p:sp>
        <p:nvSpPr>
          <p:cNvPr id="16" name="S13-text17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건너뜀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않은 규칙은?</a:t>
            </a:r>
            <a:endParaRPr lang="ko-KR" sz="4400" dirty="0"/>
          </a:p>
        </p:txBody>
      </p:sp>
      <p:sp>
        <p:nvSpPr>
          <p:cNvPr id="3" name="S14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4단의 곱: 4, 8, 12, 16, 20</a:t>
            </a:r>
            <a:endParaRPr lang="ko-KR" sz="3200" dirty="0"/>
          </a:p>
        </p:txBody>
      </p:sp>
      <p:sp>
        <p:nvSpPr>
          <p:cNvPr id="4" name="S14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4-chip17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4-card17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7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커져요.</a:t>
            </a:r>
            <a:endParaRPr lang="ko-KR" sz="3200" dirty="0"/>
          </a:p>
        </p:txBody>
      </p:sp>
      <p:sp>
        <p:nvSpPr>
          <p:cNvPr id="9" name="S14-chip17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4-card17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7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커져요.</a:t>
            </a:r>
            <a:endParaRPr lang="ko-KR" sz="3200" dirty="0"/>
          </a:p>
        </p:txBody>
      </p:sp>
      <p:sp>
        <p:nvSpPr>
          <p:cNvPr id="12" name="S14-chip18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4-card18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18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짝수예요.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18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8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묶음이나 커지는 수를 찾아 규칙을 말해요.</a:t>
            </a:r>
            <a:endParaRPr lang="ko-KR" sz="3200" dirty="0"/>
          </a:p>
        </p:txBody>
      </p:sp>
      <p:sp>
        <p:nvSpPr>
          <p:cNvPr id="5" name="S15-chip18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묶음으로 끊어 읽기</a:t>
            </a:r>
            <a:endParaRPr lang="ko-KR" sz="2600" dirty="0"/>
          </a:p>
        </p:txBody>
      </p:sp>
      <p:sp>
        <p:nvSpPr>
          <p:cNvPr id="6" name="S15-chip18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바로 앞만 보고 정하기</a:t>
            </a:r>
            <a:endParaRPr lang="ko-KR" sz="2600" dirty="0"/>
          </a:p>
        </p:txBody>
      </p:sp>
      <p:sp>
        <p:nvSpPr>
          <p:cNvPr id="7" name="S15-text18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18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●●▲●●▲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다음은?</a:t>
            </a:r>
            <a:endParaRPr lang="ko-KR" sz="2600" dirty="0"/>
          </a:p>
        </p:txBody>
      </p:sp>
      <p:sp>
        <p:nvSpPr>
          <p:cNvPr id="9" name="S15-text18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3, 6, 9, □</a:t>
            </a:r>
            <a:endParaRPr lang="ko-KR" sz="2600" dirty="0"/>
          </a:p>
        </p:txBody>
      </p:sp>
      <p:sp>
        <p:nvSpPr>
          <p:cNvPr id="10" name="S15-text19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덧셈표에서 오른쪽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가면?</a:t>
            </a:r>
            <a:endParaRPr lang="ko-KR" sz="2600" dirty="0"/>
          </a:p>
        </p:txBody>
      </p:sp>
      <p:sp>
        <p:nvSpPr>
          <p:cNvPr id="11" name="S15-text1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자리 수의 덧셈(초3)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뛰어 세기</a:t>
            </a:r>
            <a:endParaRPr lang="ko-KR" sz="4400" dirty="0"/>
          </a:p>
        </p:txBody>
      </p:sp>
      <p:sp>
        <p:nvSpPr>
          <p:cNvPr id="3" name="S16-text1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커지는지 찾아요.</a:t>
            </a:r>
            <a:endParaRPr lang="ko-KR" sz="3200" dirty="0"/>
          </a:p>
        </p:txBody>
      </p:sp>
      <p:sp>
        <p:nvSpPr>
          <p:cNvPr id="4" name="S16-card193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194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0, 2, 4, 6, 8, 10</a:t>
            </a:r>
            <a:endParaRPr lang="ko-KR" sz="3200" dirty="0"/>
          </a:p>
        </p:txBody>
      </p:sp>
      <p:sp>
        <p:nvSpPr>
          <p:cNvPr id="6" name="S16-card195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196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커져요.</a:t>
            </a:r>
            <a:endParaRPr lang="ko-KR" sz="3200" dirty="0"/>
          </a:p>
        </p:txBody>
      </p:sp>
      <p:sp>
        <p:nvSpPr>
          <p:cNvPr id="8" name="S16-line197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6-line198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6-label199"/>
          <p:cNvSpPr txBox="1"/>
          <p:nvPr/>
        </p:nvSpPr>
        <p:spPr>
          <a:xfrm>
            <a:off x="50292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16-line200"/>
          <p:cNvSpPr/>
          <p:nvPr/>
        </p:nvSpPr>
        <p:spPr>
          <a:xfrm>
            <a:off x="198699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6-label201"/>
          <p:cNvSpPr txBox="1"/>
          <p:nvPr/>
        </p:nvSpPr>
        <p:spPr>
          <a:xfrm>
            <a:off x="152979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3" name="S16-line202"/>
          <p:cNvSpPr/>
          <p:nvPr/>
        </p:nvSpPr>
        <p:spPr>
          <a:xfrm>
            <a:off x="301386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6-label203"/>
          <p:cNvSpPr txBox="1"/>
          <p:nvPr/>
        </p:nvSpPr>
        <p:spPr>
          <a:xfrm>
            <a:off x="255666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5" name="S16-line204"/>
          <p:cNvSpPr/>
          <p:nvPr/>
        </p:nvSpPr>
        <p:spPr>
          <a:xfrm>
            <a:off x="40407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6-label205"/>
          <p:cNvSpPr txBox="1"/>
          <p:nvPr/>
        </p:nvSpPr>
        <p:spPr>
          <a:xfrm>
            <a:off x="358353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16-line206"/>
          <p:cNvSpPr/>
          <p:nvPr/>
        </p:nvSpPr>
        <p:spPr>
          <a:xfrm>
            <a:off x="506760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6-label207"/>
          <p:cNvSpPr txBox="1"/>
          <p:nvPr/>
        </p:nvSpPr>
        <p:spPr>
          <a:xfrm>
            <a:off x="4610405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9" name="S16-line208"/>
          <p:cNvSpPr/>
          <p:nvPr/>
        </p:nvSpPr>
        <p:spPr>
          <a:xfrm>
            <a:off x="609447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6-label209"/>
          <p:cNvSpPr txBox="1"/>
          <p:nvPr/>
        </p:nvSpPr>
        <p:spPr>
          <a:xfrm>
            <a:off x="563727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1" name="S16-line210"/>
          <p:cNvSpPr/>
          <p:nvPr/>
        </p:nvSpPr>
        <p:spPr>
          <a:xfrm>
            <a:off x="7121347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6-label211"/>
          <p:cNvSpPr txBox="1"/>
          <p:nvPr/>
        </p:nvSpPr>
        <p:spPr>
          <a:xfrm>
            <a:off x="6664147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3" name="S16-line212"/>
          <p:cNvSpPr/>
          <p:nvPr/>
        </p:nvSpPr>
        <p:spPr>
          <a:xfrm>
            <a:off x="814821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6-label213"/>
          <p:cNvSpPr txBox="1"/>
          <p:nvPr/>
        </p:nvSpPr>
        <p:spPr>
          <a:xfrm>
            <a:off x="769101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5" name="S16-line214"/>
          <p:cNvSpPr/>
          <p:nvPr/>
        </p:nvSpPr>
        <p:spPr>
          <a:xfrm>
            <a:off x="917509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6-label215"/>
          <p:cNvSpPr txBox="1"/>
          <p:nvPr/>
        </p:nvSpPr>
        <p:spPr>
          <a:xfrm>
            <a:off x="871789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7" name="S16-line216"/>
          <p:cNvSpPr/>
          <p:nvPr/>
        </p:nvSpPr>
        <p:spPr>
          <a:xfrm>
            <a:off x="1020196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6-label217"/>
          <p:cNvSpPr txBox="1"/>
          <p:nvPr/>
        </p:nvSpPr>
        <p:spPr>
          <a:xfrm>
            <a:off x="974476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9" name="S16-line218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6-label219"/>
          <p:cNvSpPr txBox="1"/>
          <p:nvPr/>
        </p:nvSpPr>
        <p:spPr>
          <a:xfrm>
            <a:off x="1077163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31" name="S16-mark220"/>
          <p:cNvSpPr/>
          <p:nvPr/>
        </p:nvSpPr>
        <p:spPr>
          <a:xfrm>
            <a:off x="868680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16-mark221"/>
          <p:cNvSpPr/>
          <p:nvPr/>
        </p:nvSpPr>
        <p:spPr>
          <a:xfrm>
            <a:off x="2922422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16-mark222"/>
          <p:cNvSpPr/>
          <p:nvPr/>
        </p:nvSpPr>
        <p:spPr>
          <a:xfrm>
            <a:off x="4976165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4" name="S16-mark223"/>
          <p:cNvSpPr/>
          <p:nvPr/>
        </p:nvSpPr>
        <p:spPr>
          <a:xfrm>
            <a:off x="7029907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5" name="S16-mark224"/>
          <p:cNvSpPr/>
          <p:nvPr/>
        </p:nvSpPr>
        <p:spPr>
          <a:xfrm>
            <a:off x="9083650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6" name="S16-mark225"/>
          <p:cNvSpPr/>
          <p:nvPr/>
        </p:nvSpPr>
        <p:spPr>
          <a:xfrm>
            <a:off x="11137392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7" name="S16-line226"/>
          <p:cNvSpPr/>
          <p:nvPr/>
        </p:nvSpPr>
        <p:spPr>
          <a:xfrm flipV="1">
            <a:off x="96012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16-line227"/>
          <p:cNvSpPr/>
          <p:nvPr/>
        </p:nvSpPr>
        <p:spPr>
          <a:xfrm>
            <a:off x="960120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16-label228"/>
          <p:cNvSpPr txBox="1"/>
          <p:nvPr/>
        </p:nvSpPr>
        <p:spPr>
          <a:xfrm>
            <a:off x="960120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40" name="S16-line229"/>
          <p:cNvSpPr/>
          <p:nvPr/>
        </p:nvSpPr>
        <p:spPr>
          <a:xfrm flipV="1">
            <a:off x="3013862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16-line230"/>
          <p:cNvSpPr/>
          <p:nvPr/>
        </p:nvSpPr>
        <p:spPr>
          <a:xfrm>
            <a:off x="3013862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16-label231"/>
          <p:cNvSpPr txBox="1"/>
          <p:nvPr/>
        </p:nvSpPr>
        <p:spPr>
          <a:xfrm>
            <a:off x="3013862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43" name="S16-line232"/>
          <p:cNvSpPr/>
          <p:nvPr/>
        </p:nvSpPr>
        <p:spPr>
          <a:xfrm flipV="1">
            <a:off x="5067605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16-line233"/>
          <p:cNvSpPr/>
          <p:nvPr/>
        </p:nvSpPr>
        <p:spPr>
          <a:xfrm>
            <a:off x="5067605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16-label234"/>
          <p:cNvSpPr txBox="1"/>
          <p:nvPr/>
        </p:nvSpPr>
        <p:spPr>
          <a:xfrm>
            <a:off x="5067605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46" name="S16-line235"/>
          <p:cNvSpPr/>
          <p:nvPr/>
        </p:nvSpPr>
        <p:spPr>
          <a:xfrm flipV="1">
            <a:off x="7121347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16-line236"/>
          <p:cNvSpPr/>
          <p:nvPr/>
        </p:nvSpPr>
        <p:spPr>
          <a:xfrm>
            <a:off x="7121347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16-label237"/>
          <p:cNvSpPr txBox="1"/>
          <p:nvPr/>
        </p:nvSpPr>
        <p:spPr>
          <a:xfrm>
            <a:off x="7121347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49" name="S16-line238"/>
          <p:cNvSpPr/>
          <p:nvPr/>
        </p:nvSpPr>
        <p:spPr>
          <a:xfrm flipV="1">
            <a:off x="917509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16-line239"/>
          <p:cNvSpPr/>
          <p:nvPr/>
        </p:nvSpPr>
        <p:spPr>
          <a:xfrm>
            <a:off x="9175090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16-label240"/>
          <p:cNvSpPr txBox="1"/>
          <p:nvPr/>
        </p:nvSpPr>
        <p:spPr>
          <a:xfrm>
            <a:off x="9175090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</a:t>
            </a:r>
            <a:endParaRPr lang="ko-KR" sz="2600" dirty="0"/>
          </a:p>
        </p:txBody>
      </p:sp>
      <p:sp>
        <p:nvSpPr>
          <p:cNvPr id="52" name="S16-figure241" descr="0부터 10까지 2씩 뛰어 세는 수직선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무늬와 수의 규칙</dc:title>
  <dc:subject>KR22-G02-MAT-PATTERN-L01</dc:subject>
  <dc:creator>education-ppt</dc:creator>
  <cp:lastModifiedBy>education-ppt</cp:lastModifiedBy>
  <cp:revision>1</cp:revision>
  <dcterms:created xsi:type="dcterms:W3CDTF">2026-10-26T07:10:50Z</dcterms:created>
  <dcterms:modified xsi:type="dcterms:W3CDTF">2026-10-26T07:10:50Z</dcterms:modified>
</cp:coreProperties>
</file>