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7a2361a-6e42-b444-2813-8c21d50c6f40}">
          <p14:sldIdLst>
            <p14:sldId id="256"/>
            <p14:sldId id="257"/>
          </p14:sldIdLst>
        </p14:section>
        <p14:section name="개념" id="{3ca3cf8a-4d0c-5548-2f32-f304b87b712f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b6dc7024-2ee1-1213-4de8-af58b339c6f3}">
          <p14:sldIdLst>
            <p14:sldId id="262"/>
            <p14:sldId id="263"/>
            <p14:sldId id="264"/>
            <p14:sldId id="265"/>
            <p14:sldId id="267"/>
            <p14:sldId id="268"/>
          </p14:sldIdLst>
        </p14:section>
        <p14:section name="개념" id="{cea4b2db-dedb-24fe-f7f7-837a95bddb5f}">
          <p14:sldIdLst/>
        </p14:section>
        <p14:section name="연습" id="{5d8089b7-628a-f64e-10df-1e262b4483b7}">
          <p14:sldIdLst/>
        </p14:section>
        <p14:section name="확인" id="{00c0d857-5a0b-4454-2a25-ae58a452103c}">
          <p14:sldIdLst>
            <p14:sldId id="269"/>
          </p14:sldIdLst>
        </p14:section>
        <p14:section name="정리" id="{11ab52ff-388f-b2b4-7a7f-71c55d0fd742}">
          <p14:sldIdLst>
            <p14:sldId id="270"/>
          </p14:sldIdLst>
        </p14:section>
        <p14:section name="보충" id="{2b38f174-fb1f-866f-dac4-ae9adf6be13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어떻게 생기고,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전해질까?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종이컵 두 개를 실로 이은 종이컵 전화기"/>
          <p:cNvSpPr/>
          <p:nvPr/>
        </p:nvSpPr>
        <p:spPr>
          <a:xfrm>
            <a:off x="7772400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0" y="856923"/>
                </a:moveTo>
                <a:lnTo>
                  <a:pt x="0" y="160673"/>
                </a:lnTo>
                <a:lnTo>
                  <a:pt x="589135" y="0"/>
                </a:lnTo>
                <a:lnTo>
                  <a:pt x="589135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932305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589135" y="856923"/>
                </a:moveTo>
                <a:lnTo>
                  <a:pt x="589135" y="160673"/>
                </a:lnTo>
                <a:lnTo>
                  <a:pt x="0" y="0"/>
                </a:lnTo>
                <a:lnTo>
                  <a:pt x="0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72400" y="1982615"/>
            <a:ext cx="3749040" cy="0"/>
          </a:xfrm>
          <a:prstGeom prst="line">
            <a:avLst/>
          </a:prstGeom>
          <a:noFill/>
          <a:ln w="22225">
            <a:solidFill>
              <a:srgbClr val="E9762B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9442704" y="15778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ko-KR" sz="2400" dirty="0"/>
          </a:p>
        </p:txBody>
      </p:sp>
      <p:sp>
        <p:nvSpPr>
          <p:cNvPr id="9" name="S01-label8"/>
          <p:cNvSpPr txBox="1"/>
          <p:nvPr/>
        </p:nvSpPr>
        <p:spPr>
          <a:xfrm>
            <a:off x="7564047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723953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1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소리와 작은 소리, 높은 소리와 낮은 소리를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종이컵 전화기로 소리가 전해지는 모습을 관찰해요.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 당길 때와 세게 당길 때 무엇이 달랐나요?</a:t>
            </a:r>
            <a:endParaRPr lang="ko-KR" sz="30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‘자를 튕기면 소리가 날 것 같아요.’는 예상일까요, 결과일까요?</a:t>
            </a:r>
            <a:endParaRPr lang="ko-KR" sz="30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살살 칠 때와 세게 칠 때, 어느 쪽 소리가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 느끼기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얼굴 가까이에서 튕기지 않아요.</a:t>
            </a:r>
            <a:endParaRPr lang="ko-KR" sz="3000" dirty="0"/>
          </a:p>
        </p:txBody>
      </p:sp>
      <p:sp>
        <p:nvSpPr>
          <p:cNvPr id="5" name="S03-card2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무엇이 느껴지는지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고무줄이 어떻게 움직이는지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잡았을 때 소리가 어떻게 되는지 말해요</a:t>
            </a:r>
            <a:endParaRPr lang="ko-KR" sz="3000" dirty="0"/>
          </a:p>
        </p:txBody>
      </p:sp>
      <p:sp>
        <p:nvSpPr>
          <p:cNvPr id="7" name="S03-stepno23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4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손을 대고 “아—” 소리를 내요.</a:t>
            </a:r>
            <a:endParaRPr lang="ko-KR" sz="3000" dirty="0"/>
          </a:p>
        </p:txBody>
      </p:sp>
      <p:sp>
        <p:nvSpPr>
          <p:cNvPr id="9" name="S03-stepno2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6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 건 고무줄을 튕기며 봐요.</a:t>
            </a:r>
            <a:endParaRPr lang="ko-KR" sz="3000" dirty="0"/>
          </a:p>
        </p:txBody>
      </p:sp>
      <p:sp>
        <p:nvSpPr>
          <p:cNvPr id="11" name="S03-stepno27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8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고무줄을 손가락으로 잡아요.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나면 떨려요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“아—” 하면 손에 떨림이 느껴져요.</a:t>
            </a:r>
            <a:endParaRPr lang="ko-KR" sz="3000" dirty="0"/>
          </a:p>
        </p:txBody>
      </p:sp>
      <p:sp>
        <p:nvSpPr>
          <p:cNvPr id="7" name="S04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튕기면 떨리면서 소리가 나요.</a:t>
            </a:r>
            <a:endParaRPr lang="ko-KR" sz="3000" dirty="0"/>
          </a:p>
        </p:txBody>
      </p:sp>
      <p:sp>
        <p:nvSpPr>
          <p:cNvPr id="9" name="S04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멈추고 소리도 멈춰요.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세기와 높낮이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소리와 높은 소리는 서로 달라요.</a:t>
            </a:r>
            <a:endParaRPr lang="ko-KR" sz="3000" dirty="0"/>
          </a:p>
        </p:txBody>
      </p:sp>
      <p:sp>
        <p:nvSpPr>
          <p:cNvPr id="5" name="S05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크고 작은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북을 세게, 살살 쳐요.</a:t>
            </a:r>
            <a:endParaRPr lang="ko-KR" sz="3000" dirty="0"/>
          </a:p>
        </p:txBody>
      </p:sp>
      <p:sp>
        <p:nvSpPr>
          <p:cNvPr id="7" name="S05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높낮이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높고 낮은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피아노 오른쪽은 높고, 왼쪽은 낮아요.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튕기면 어떨까?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튕겨요.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가지만 바꿔요.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7192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튕기는 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(살짝, 세게)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 밖으로 나온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(20 cm, 10 cm)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높은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튕겨 보기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자를 너무 세게 튕기지 말고, 얼굴을 자 가까이 대지 않아요.</a:t>
            </a:r>
            <a:endParaRPr lang="ko-KR" sz="30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세게 튕길 때 자의 떨림을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세기와 높낮이를 나누어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나온 길이를 cm로 써요</a:t>
            </a:r>
            <a:endParaRPr lang="ko-KR" sz="30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한 손으로 꽉 눌러요.</a:t>
            </a:r>
            <a:endParaRPr lang="ko-KR" sz="24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cm가 나오게 하고 살짝, 세게 튕겨요.</a:t>
            </a:r>
            <a:endParaRPr lang="ko-KR" sz="24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길이를 15 cm, 10 cm로 바꾸어 튕겨요.</a:t>
            </a:r>
            <a:endParaRPr lang="ko-KR" sz="24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소리를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튕기기 결과</a:t>
            </a:r>
            <a:endParaRPr lang="ko-KR" sz="40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튕기면 큰 소리, 나온 부분이 짧으면 높은 소리가 나요.</a:t>
            </a:r>
            <a:endParaRPr lang="ko-KR" sz="30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83384"/>
          <a:ext cx="10515600" cy="914400"/>
        </p:xfrm>
        <a:graphic>
          <a:graphicData uri="http://schemas.openxmlformats.org/drawingml/2006/table">
            <a:tbl>
              <a:tblPr/>
              <a:tblGrid>
                <a:gridCol w="4732020"/>
                <a:gridCol w="57835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살짝 → 세게 튕기기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소리 → 큰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(자가 더 크게 떨려요)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나온 길이 20 cm → 10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낮은 소리 → 높은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세기일까요, 높낮이일까요?</a:t>
            </a:r>
            <a:endParaRPr lang="ko-KR" sz="40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달라졌는지 말해요.</a:t>
            </a:r>
            <a:endParaRPr lang="ko-KR" sz="30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작은지, 높고 낮은지 생각해요.</a:t>
            </a:r>
            <a:endParaRPr lang="ko-KR" sz="30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북을 살살 치다가 세게 쳐요.</a:t>
            </a:r>
            <a:endParaRPr lang="ko-KR" sz="3000" dirty="0"/>
          </a:p>
        </p:txBody>
      </p:sp>
      <p:sp>
        <p:nvSpPr>
          <p:cNvPr id="8" name="S09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실로폰의 긴 막대와 짧은 막대를 쳐요.</a:t>
            </a:r>
            <a:endParaRPr lang="ko-KR" sz="30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소리를 줄여요.</a:t>
            </a:r>
            <a:endParaRPr lang="ko-KR" sz="3000" dirty="0"/>
          </a:p>
        </p:txBody>
      </p:sp>
      <p:sp>
        <p:nvSpPr>
          <p:cNvPr id="12" name="S09-chip7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더 팽팽하게 하고 튕겨요.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소리는 높은 소리?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‘큰 소리는 높은 소리야.’라고 했어요.</a:t>
            </a:r>
            <a:endParaRPr lang="ko-KR" sz="3000" dirty="0"/>
          </a:p>
        </p:txBody>
      </p:sp>
      <p:sp>
        <p:nvSpPr>
          <p:cNvPr id="5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10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큰북을 세게 쳐요</a:t>
            </a:r>
            <a:endParaRPr lang="ko-KR" sz="24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‘둥!’ 크고 낮은 소리</a:t>
            </a:r>
            <a:endParaRPr lang="ko-KR" sz="3000" dirty="0"/>
          </a:p>
        </p:txBody>
      </p:sp>
      <p:sp>
        <p:nvSpPr>
          <p:cNvPr id="9" name="S10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모기가 날아요</a:t>
            </a:r>
            <a:endParaRPr lang="ko-KR" sz="2400" dirty="0"/>
          </a:p>
        </p:txBody>
      </p:sp>
      <p:sp>
        <p:nvSpPr>
          <p:cNvPr id="10" name="S10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‘앵—’ 작고 높은 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예상</a:t>
            </a:r>
            <a:endParaRPr lang="ko-KR" sz="40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목소리로 말할 때 잘 들릴까요?</a:t>
            </a:r>
            <a:endParaRPr lang="ko-KR" sz="30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들릴지, 잘 안 들릴지 예상해요.</a:t>
            </a:r>
            <a:endParaRPr lang="ko-KR" sz="3000" dirty="0"/>
          </a:p>
        </p:txBody>
      </p:sp>
      <p:graphicFrame>
        <p:nvGraphicFramePr>
          <p:cNvPr id="12" name="S11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6309360"/>
                <a:gridCol w="29443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팽팽하게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느슨하게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 가운데를 손가락으로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책상에 귀를 대고 반대쪽을 두드려요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전화기로 듣기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 구멍은 어른이 뚫어요. 컵에 대고 소리치지 말고, 실을 몸에 감지 않아요.</a:t>
            </a:r>
            <a:endParaRPr lang="ko-KR" sz="3000" dirty="0"/>
          </a:p>
        </p:txBody>
      </p:sp>
      <p:sp>
        <p:nvSpPr>
          <p:cNvPr id="5" name="S12-card8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크기의 목소리로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들린 정도를 ○, △, ×로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번에 한 가지만 바꿔요</a:t>
            </a:r>
            <a:endParaRPr lang="ko-KR" sz="3000" dirty="0"/>
          </a:p>
        </p:txBody>
      </p:sp>
      <p:sp>
        <p:nvSpPr>
          <p:cNvPr id="7" name="S12-stepno89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2-text90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팽팽하게 하고 작은 목소리로 말해요.</a:t>
            </a:r>
            <a:endParaRPr lang="ko-KR" sz="2400" dirty="0"/>
          </a:p>
        </p:txBody>
      </p:sp>
      <p:sp>
        <p:nvSpPr>
          <p:cNvPr id="9" name="S12-stepno91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2-text92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느슨하게 하고 같은 목소리로 말해요.</a:t>
            </a:r>
            <a:endParaRPr lang="ko-KR" sz="2400" dirty="0"/>
          </a:p>
        </p:txBody>
      </p:sp>
      <p:sp>
        <p:nvSpPr>
          <p:cNvPr id="11" name="S12-stepno9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2-text9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 가운데를 손가락으로 잡고 말해요.</a:t>
            </a:r>
            <a:endParaRPr lang="ko-KR" sz="2400" dirty="0"/>
          </a:p>
        </p:txBody>
      </p:sp>
      <p:sp>
        <p:nvSpPr>
          <p:cNvPr id="13" name="S12-stepno95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2-text96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책상에 귀를 대고 반대쪽을 톡톡 두드려요.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전달 결과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듣는 소리는 공기를 통해 전해져요.</a:t>
            </a:r>
            <a:endParaRPr lang="ko-KR" sz="30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물체를 통해서도 전해져요.</a:t>
            </a:r>
            <a:endParaRPr lang="ko-KR" sz="3000" dirty="0"/>
          </a:p>
        </p:txBody>
      </p:sp>
      <p:graphicFrame>
        <p:nvGraphicFramePr>
          <p:cNvPr id="14" name="S13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188210"/>
          <a:ext cx="9601200" cy="914400"/>
        </p:xfrm>
        <a:graphic>
          <a:graphicData uri="http://schemas.openxmlformats.org/drawingml/2006/table">
            <a:tbl>
              <a:tblPr/>
              <a:tblGrid>
                <a:gridCol w="5280660"/>
                <a:gridCol w="43205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실을 팽팽하게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실을 느슨하게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실 가운데를 잡음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책상에 귀 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똑똑 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4-text10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튕기면 소리가 어떻게 되나요?</a:t>
            </a:r>
            <a:endParaRPr lang="ko-KR" sz="3000" dirty="0"/>
          </a:p>
        </p:txBody>
      </p:sp>
      <p:sp>
        <p:nvSpPr>
          <p:cNvPr id="7" name="S14-chip10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ext10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책상 밖으로 나온 부분을 짧게 하면?</a:t>
            </a:r>
            <a:endParaRPr lang="ko-KR" sz="3000" dirty="0"/>
          </a:p>
        </p:txBody>
      </p:sp>
      <p:sp>
        <p:nvSpPr>
          <p:cNvPr id="9" name="S14-chip1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4-text10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소리가 작아요. 실을 어떻게 할까요?</a:t>
            </a:r>
            <a:endParaRPr lang="ko-KR" sz="3000" dirty="0"/>
          </a:p>
        </p:txBody>
      </p:sp>
      <p:sp>
        <p:nvSpPr>
          <p:cNvPr id="11" name="S14-chip10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4-text11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물체를 손으로 잡으면?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1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1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 세기와 높낮이는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물체로도 전해져요.</a:t>
            </a:r>
            <a:endParaRPr lang="ko-KR" sz="3000" dirty="0"/>
          </a:p>
        </p:txBody>
      </p:sp>
      <p:sp>
        <p:nvSpPr>
          <p:cNvPr id="5" name="S16-chip11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세기와 높낮이 나누어 말하기</a:t>
            </a:r>
            <a:endParaRPr lang="ko-KR" sz="2400" dirty="0"/>
          </a:p>
        </p:txBody>
      </p:sp>
      <p:sp>
        <p:nvSpPr>
          <p:cNvPr id="6" name="S16-chip11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소리 = 높은 소리</a:t>
            </a:r>
            <a:endParaRPr lang="ko-KR" sz="2400" dirty="0"/>
          </a:p>
        </p:txBody>
      </p:sp>
      <p:sp>
        <p:nvSpPr>
          <p:cNvPr id="7" name="S16-text11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1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소리가 나는 물체의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공통점은?</a:t>
            </a:r>
            <a:endParaRPr lang="ko-KR" sz="2400" dirty="0"/>
          </a:p>
        </p:txBody>
      </p:sp>
      <p:sp>
        <p:nvSpPr>
          <p:cNvPr id="9" name="S16-text11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실로폰 짧은 막대는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소리?</a:t>
            </a:r>
            <a:endParaRPr lang="ko-KR" sz="2400" dirty="0"/>
          </a:p>
        </p:txBody>
      </p:sp>
      <p:sp>
        <p:nvSpPr>
          <p:cNvPr id="10" name="S16-text11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종이컵 전화기가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들리려면?</a:t>
            </a:r>
            <a:endParaRPr lang="ko-KR" sz="2400" dirty="0"/>
          </a:p>
        </p:txBody>
      </p:sp>
      <p:sp>
        <p:nvSpPr>
          <p:cNvPr id="11" name="S16-text1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생김새와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소리를 몸으로 나타내요</a:t>
            </a:r>
            <a:endParaRPr lang="ko-KR" sz="4000" dirty="0"/>
          </a:p>
        </p:txBody>
      </p:sp>
      <p:sp>
        <p:nvSpPr>
          <p:cNvPr id="3" name="S17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“아—” 소리를 내요.</a:t>
            </a:r>
            <a:endParaRPr lang="ko-KR" sz="3000" dirty="0"/>
          </a:p>
        </p:txBody>
      </p:sp>
      <p:sp>
        <p:nvSpPr>
          <p:cNvPr id="4" name="S17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 것은 세기, 높고 낮은 것은 높낮이예요.</a:t>
            </a:r>
            <a:endParaRPr lang="ko-KR" sz="3000" dirty="0"/>
          </a:p>
        </p:txBody>
      </p:sp>
      <p:sp>
        <p:nvSpPr>
          <p:cNvPr id="6" name="S17-stepno123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24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크게, 작게 내면 두 팔을 넓게, 좁게 벌려요.</a:t>
            </a:r>
            <a:endParaRPr lang="ko-KR" sz="3000" dirty="0"/>
          </a:p>
        </p:txBody>
      </p:sp>
      <p:sp>
        <p:nvSpPr>
          <p:cNvPr id="8" name="S17-stepno12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26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내면 손을 머리 위, 무릎으로 옮겨요.</a:t>
            </a:r>
            <a:endParaRPr lang="ko-KR" sz="3000" dirty="0"/>
          </a:p>
        </p:txBody>
      </p:sp>
      <p:sp>
        <p:nvSpPr>
          <p:cNvPr id="10" name="S17-stepno127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28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내가 소리를 내고, 엄마(아빠)가 몸으로 나타내요.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소리의 성질</dc:title>
  <dc:subject>KR22-G03-SCI-SOUND-L01</dc:subject>
  <dc:creator>education-ppt</dc:creator>
  <cp:lastModifiedBy>education-ppt</cp:lastModifiedBy>
  <cp:revision>1</cp:revision>
  <dcterms:created xsi:type="dcterms:W3CDTF">2026-10-26T09:46:24Z</dcterms:created>
  <dcterms:modified xsi:type="dcterms:W3CDTF">2026-10-26T09:46:24Z</dcterms:modified>
</cp:coreProperties>
</file>