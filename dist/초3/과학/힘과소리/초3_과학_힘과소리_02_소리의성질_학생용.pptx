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eceeb8b6-e70e-b479-310a-39495b6ec060}">
          <p14:sldIdLst>
            <p14:sldId id="256"/>
            <p14:sldId id="257"/>
          </p14:sldIdLst>
        </p14:section>
        <p14:section name="개념" id="{43520f67-28cb-c472-8cdf-b9c715b4525a}">
          <p14:sldIdLst>
            <p14:sldId id="258"/>
            <p14:sldId id="259"/>
            <p14:sldId id="260"/>
            <p14:sldId id="261"/>
            <p14:sldId id="266"/>
          </p14:sldIdLst>
        </p14:section>
        <p14:section name="연습" id="{693934eb-f688-a5c0-0895-d00b21276158}">
          <p14:sldIdLst>
            <p14:sldId id="262"/>
            <p14:sldId id="263"/>
            <p14:sldId id="264"/>
            <p14:sldId id="265"/>
            <p14:sldId id="267"/>
            <p14:sldId id="268"/>
          </p14:sldIdLst>
        </p14:section>
        <p14:section name="개념" id="{0ac2973c-6a67-bc2f-18d2-833a3cf5912a}">
          <p14:sldIdLst/>
        </p14:section>
        <p14:section name="연습" id="{e5749254-1e9c-2353-509d-88679d61508a}">
          <p14:sldIdLst/>
        </p14:section>
        <p14:section name="확인" id="{897f26e0-3120-4c42-ef46-1f32ac822e2f}">
          <p14:sldIdLst>
            <p14:sldId id="269"/>
          </p14:sldIdLst>
        </p14:section>
        <p14:section name="정리" id="{4f282f2a-b37b-eab9-bb3f-af1940a65301}">
          <p14:sldIdLst>
            <p14:sldId id="270"/>
          </p14:sldIdLst>
        </p14:section>
        <p14:section name="보충" id="{867f4ed1-4629-33f4-7e73-4a3aabf80594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힘과소리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소리의 성질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소리의 성질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과학 · 소리의 성질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소리의 성질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소리는 어떻게 생기고,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전해질까?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종이컵 두 개를 실로 이은 종이컵 전화기"/>
          <p:cNvSpPr/>
          <p:nvPr/>
        </p:nvSpPr>
        <p:spPr>
          <a:xfrm>
            <a:off x="7772400" y="1473817"/>
            <a:ext cx="589135" cy="1017597"/>
          </a:xfrm>
          <a:custGeom>
            <a:avLst/>
            <a:gdLst/>
            <a:ahLst/>
            <a:cxnLst/>
            <a:rect l="l" t="t" r="r" b="b"/>
            <a:pathLst>
              <a:path w="589135" h="1017597">
                <a:moveTo>
                  <a:pt x="0" y="856923"/>
                </a:moveTo>
                <a:lnTo>
                  <a:pt x="0" y="160673"/>
                </a:lnTo>
                <a:lnTo>
                  <a:pt x="589135" y="0"/>
                </a:lnTo>
                <a:lnTo>
                  <a:pt x="589135" y="1017597"/>
                </a:lnTo>
                <a:close/>
              </a:path>
            </a:pathLst>
          </a:custGeom>
          <a:solidFill>
            <a:srgbClr val="FDEBDD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10932305" y="1473817"/>
            <a:ext cx="589135" cy="1017597"/>
          </a:xfrm>
          <a:custGeom>
            <a:avLst/>
            <a:gdLst/>
            <a:ahLst/>
            <a:cxnLst/>
            <a:rect l="l" t="t" r="r" b="b"/>
            <a:pathLst>
              <a:path w="589135" h="1017597">
                <a:moveTo>
                  <a:pt x="589135" y="856923"/>
                </a:moveTo>
                <a:lnTo>
                  <a:pt x="589135" y="160673"/>
                </a:lnTo>
                <a:lnTo>
                  <a:pt x="0" y="0"/>
                </a:lnTo>
                <a:lnTo>
                  <a:pt x="0" y="1017597"/>
                </a:lnTo>
                <a:close/>
              </a:path>
            </a:pathLst>
          </a:custGeom>
          <a:solidFill>
            <a:srgbClr val="FDEBDD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7772400" y="1982615"/>
            <a:ext cx="3749040" cy="0"/>
          </a:xfrm>
          <a:prstGeom prst="line">
            <a:avLst/>
          </a:prstGeom>
          <a:noFill/>
          <a:ln w="22225">
            <a:solidFill>
              <a:srgbClr val="E9762B"/>
            </a:solidFill>
            <a:prstDash val="solid"/>
          </a:ln>
        </p:spPr>
      </p:sp>
      <p:sp>
        <p:nvSpPr>
          <p:cNvPr id="8" name="S01-label6"/>
          <p:cNvSpPr txBox="1"/>
          <p:nvPr/>
        </p:nvSpPr>
        <p:spPr>
          <a:xfrm>
            <a:off x="9442704" y="1577884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</a:t>
            </a:r>
            <a:endParaRPr lang="ko-KR" sz="2400" dirty="0"/>
          </a:p>
        </p:txBody>
      </p:sp>
      <p:sp>
        <p:nvSpPr>
          <p:cNvPr id="9" name="S01-label8"/>
          <p:cNvSpPr txBox="1"/>
          <p:nvPr/>
        </p:nvSpPr>
        <p:spPr>
          <a:xfrm>
            <a:off x="7564047" y="2541923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종이컵</a:t>
            </a:r>
            <a:endParaRPr lang="ko-KR" sz="2400" dirty="0"/>
          </a:p>
        </p:txBody>
      </p:sp>
      <p:sp>
        <p:nvSpPr>
          <p:cNvPr id="10" name="S01-label10"/>
          <p:cNvSpPr txBox="1"/>
          <p:nvPr/>
        </p:nvSpPr>
        <p:spPr>
          <a:xfrm>
            <a:off x="10723953" y="2541923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종이컵</a:t>
            </a:r>
            <a:endParaRPr lang="ko-KR" sz="2400" dirty="0"/>
          </a:p>
        </p:txBody>
      </p:sp>
      <p:sp>
        <p:nvSpPr>
          <p:cNvPr id="11" name="S01-card1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2" name="S01-cardtext1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큰 소리와 작은 소리, 높은 소리와 낮은 소리를 구별해요.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종이컵 전화기로 소리가 전해지는 모습을 관찰해요.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1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1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고무줄을 살짝 당길 때와 세게 당길 때 무엇이 달랐나요?</a:t>
            </a:r>
            <a:endParaRPr lang="ko-KR" sz="3000" dirty="0"/>
          </a:p>
        </p:txBody>
      </p:sp>
      <p:sp>
        <p:nvSpPr>
          <p:cNvPr id="5" name="S02-chip1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1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‘자를 튕기면 소리가 날 것 같아요.’는 예상일까요, 결과일까요?</a:t>
            </a:r>
            <a:endParaRPr lang="ko-KR" sz="3000" dirty="0"/>
          </a:p>
        </p:txBody>
      </p:sp>
      <p:sp>
        <p:nvSpPr>
          <p:cNvPr id="7" name="S02-chip1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text1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손뼉을 살살 칠 때와 세게 칠 때, 어느 쪽 소리가 더 클까요?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떨림 느끼기</a:t>
            </a:r>
            <a:endParaRPr lang="ko-KR" sz="4000" dirty="0"/>
          </a:p>
        </p:txBody>
      </p:sp>
      <p:sp>
        <p:nvSpPr>
          <p:cNvPr id="3" name="S03-card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고무줄은 얼굴 가까이에서 튕기지 않아요.</a:t>
            </a:r>
            <a:endParaRPr lang="ko-KR" sz="3000" dirty="0"/>
          </a:p>
        </p:txBody>
      </p:sp>
      <p:sp>
        <p:nvSpPr>
          <p:cNvPr id="5" name="S03-card21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22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손에 무엇이 느껴지는지 말해요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고무줄이 어떻게 움직이는지 봐요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잡았을 때 소리가 어떻게 되는지 말해요</a:t>
            </a:r>
            <a:endParaRPr lang="ko-KR" sz="3000" dirty="0"/>
          </a:p>
        </p:txBody>
      </p:sp>
      <p:sp>
        <p:nvSpPr>
          <p:cNvPr id="7" name="S03-stepno23"/>
          <p:cNvSpPr txBox="1"/>
          <p:nvPr/>
        </p:nvSpPr>
        <p:spPr>
          <a:xfrm>
            <a:off x="548640" y="17099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3-text24"/>
          <p:cNvSpPr txBox="1"/>
          <p:nvPr/>
        </p:nvSpPr>
        <p:spPr>
          <a:xfrm>
            <a:off x="1325880" y="1664208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목에 손을 대고 “아—” 소리를 내요.</a:t>
            </a:r>
            <a:endParaRPr lang="ko-KR" sz="3000" dirty="0"/>
          </a:p>
        </p:txBody>
      </p:sp>
      <p:sp>
        <p:nvSpPr>
          <p:cNvPr id="9" name="S03-stepno25"/>
          <p:cNvSpPr txBox="1"/>
          <p:nvPr/>
        </p:nvSpPr>
        <p:spPr>
          <a:xfrm>
            <a:off x="548640" y="28041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3-text26"/>
          <p:cNvSpPr txBox="1"/>
          <p:nvPr/>
        </p:nvSpPr>
        <p:spPr>
          <a:xfrm>
            <a:off x="1325880" y="2758440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통에 건 고무줄을 튕기며 봐요.</a:t>
            </a:r>
            <a:endParaRPr lang="ko-KR" sz="3000" dirty="0"/>
          </a:p>
        </p:txBody>
      </p:sp>
      <p:sp>
        <p:nvSpPr>
          <p:cNvPr id="11" name="S03-stepno27"/>
          <p:cNvSpPr txBox="1"/>
          <p:nvPr/>
        </p:nvSpPr>
        <p:spPr>
          <a:xfrm>
            <a:off x="548640" y="38983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3-text28"/>
          <p:cNvSpPr txBox="1"/>
          <p:nvPr/>
        </p:nvSpPr>
        <p:spPr>
          <a:xfrm>
            <a:off x="1325880" y="3852672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나는 고무줄을 손가락으로 잡아요.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소리가 나면 떨려요</a:t>
            </a:r>
            <a:endParaRPr lang="ko-KR" sz="4000" dirty="0"/>
          </a:p>
        </p:txBody>
      </p:sp>
      <p:sp>
        <p:nvSpPr>
          <p:cNvPr id="3" name="S04-card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소리가 나는 물체는 떨려요.</a:t>
            </a:r>
            <a:endParaRPr lang="ko-KR" sz="3000" dirty="0"/>
          </a:p>
        </p:txBody>
      </p:sp>
      <p:sp>
        <p:nvSpPr>
          <p:cNvPr id="5" name="S04-card31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32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“아—” 하면 손에 떨림이 느껴져요.</a:t>
            </a:r>
            <a:endParaRPr lang="ko-KR" sz="3000" dirty="0"/>
          </a:p>
        </p:txBody>
      </p:sp>
      <p:sp>
        <p:nvSpPr>
          <p:cNvPr id="7" name="S04-card33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34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고무줄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튕기면 떨리면서 소리가 나요.</a:t>
            </a:r>
            <a:endParaRPr lang="ko-KR" sz="3000" dirty="0"/>
          </a:p>
        </p:txBody>
      </p:sp>
      <p:sp>
        <p:nvSpPr>
          <p:cNvPr id="9" name="S04-card35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4-cardtext36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잡으면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떨림이 멈추고 소리도 멈춰요.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소리의 세기와 높낮이</a:t>
            </a:r>
            <a:endParaRPr lang="ko-KR" sz="4000" dirty="0"/>
          </a:p>
        </p:txBody>
      </p:sp>
      <p:sp>
        <p:nvSpPr>
          <p:cNvPr id="3" name="S05-card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소리와 높은 소리는 서로 달라요.</a:t>
            </a:r>
            <a:endParaRPr lang="ko-KR" sz="3000" dirty="0"/>
          </a:p>
        </p:txBody>
      </p:sp>
      <p:sp>
        <p:nvSpPr>
          <p:cNvPr id="5" name="S05-card39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40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소리의 세기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소리가 크고 작은 정도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북을 세게, 살살 쳐요.</a:t>
            </a:r>
            <a:endParaRPr lang="ko-KR" sz="3000" dirty="0"/>
          </a:p>
        </p:txBody>
      </p:sp>
      <p:sp>
        <p:nvSpPr>
          <p:cNvPr id="7" name="S05-card41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5-cardtext42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소리의 높낮이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소리가 높고 낮은 정도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피아노 오른쪽은 높고, 왼쪽은 낮아요.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자를 튕기면 어떨까?</a:t>
            </a:r>
            <a:endParaRPr lang="ko-KR" sz="4000" dirty="0"/>
          </a:p>
        </p:txBody>
      </p:sp>
      <p:sp>
        <p:nvSpPr>
          <p:cNvPr id="3" name="S06-text4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자를 책상 끝에 대고 튕겨요.</a:t>
            </a:r>
            <a:endParaRPr lang="ko-KR" sz="3000" dirty="0"/>
          </a:p>
        </p:txBody>
      </p:sp>
      <p:sp>
        <p:nvSpPr>
          <p:cNvPr id="4" name="S06-card4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4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번에 한 가지만 바꿔요.</a:t>
            </a:r>
            <a:endParaRPr lang="ko-KR" sz="3000" dirty="0"/>
          </a:p>
        </p:txBody>
      </p:sp>
      <p:graphicFrame>
        <p:nvGraphicFramePr>
          <p:cNvPr id="7" name="S06-table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471928"/>
          <a:ext cx="100584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3017520"/>
                <a:gridCol w="301752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바꾸는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궁금한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튕기는 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(살짝, 세게)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더 큰 소리는?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책상 밖으로 나온 길이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(20 cm, 10 cm)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더 높은 소리는?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자를 튕겨 보기</a:t>
            </a:r>
            <a:endParaRPr lang="ko-KR" sz="4000" dirty="0"/>
          </a:p>
        </p:txBody>
      </p:sp>
      <p:sp>
        <p:nvSpPr>
          <p:cNvPr id="3" name="S07-card47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48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자를 너무 세게 튕기지 말고, 얼굴을 자 가까이 대지 않아요.</a:t>
            </a:r>
            <a:endParaRPr lang="ko-KR" sz="3000" dirty="0"/>
          </a:p>
        </p:txBody>
      </p:sp>
      <p:sp>
        <p:nvSpPr>
          <p:cNvPr id="5" name="S07-card49"/>
          <p:cNvSpPr/>
          <p:nvPr/>
        </p:nvSpPr>
        <p:spPr>
          <a:xfrm>
            <a:off x="6813652" y="1325880"/>
            <a:ext cx="4826660" cy="3404616"/>
          </a:xfrm>
          <a:prstGeom prst="roundRect">
            <a:avLst>
              <a:gd name="adj" fmla="val 322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50"/>
          <p:cNvSpPr txBox="1"/>
          <p:nvPr/>
        </p:nvSpPr>
        <p:spPr>
          <a:xfrm>
            <a:off x="7087972" y="1463040"/>
            <a:ext cx="4278020" cy="313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세게 튕길 때 자의 떨림을 봐요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세기와 높낮이를 나누어 말해요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나온 길이를 cm로 써요</a:t>
            </a:r>
            <a:endParaRPr lang="ko-KR" sz="3000" dirty="0"/>
          </a:p>
        </p:txBody>
      </p:sp>
      <p:sp>
        <p:nvSpPr>
          <p:cNvPr id="7" name="S07-stepno51"/>
          <p:cNvSpPr txBox="1"/>
          <p:nvPr/>
        </p:nvSpPr>
        <p:spPr>
          <a:xfrm>
            <a:off x="548640" y="14371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7-text52"/>
          <p:cNvSpPr txBox="1"/>
          <p:nvPr/>
        </p:nvSpPr>
        <p:spPr>
          <a:xfrm>
            <a:off x="1325880" y="1391412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자를 책상 끝에 대고 한 손으로 꽉 눌러요.</a:t>
            </a:r>
            <a:endParaRPr lang="ko-KR" sz="2400" dirty="0"/>
          </a:p>
        </p:txBody>
      </p:sp>
      <p:sp>
        <p:nvSpPr>
          <p:cNvPr id="9" name="S07-stepno53"/>
          <p:cNvSpPr txBox="1"/>
          <p:nvPr/>
        </p:nvSpPr>
        <p:spPr>
          <a:xfrm>
            <a:off x="548640" y="23454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7-text54"/>
          <p:cNvSpPr txBox="1"/>
          <p:nvPr/>
        </p:nvSpPr>
        <p:spPr>
          <a:xfrm>
            <a:off x="1325880" y="2299716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cm가 나오게 하고 살짝, 세게 튕겨요.</a:t>
            </a:r>
            <a:endParaRPr lang="ko-KR" sz="2400" dirty="0"/>
          </a:p>
        </p:txBody>
      </p:sp>
      <p:sp>
        <p:nvSpPr>
          <p:cNvPr id="11" name="S07-stepno55"/>
          <p:cNvSpPr txBox="1"/>
          <p:nvPr/>
        </p:nvSpPr>
        <p:spPr>
          <a:xfrm>
            <a:off x="548640" y="32537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7-text56"/>
          <p:cNvSpPr txBox="1"/>
          <p:nvPr/>
        </p:nvSpPr>
        <p:spPr>
          <a:xfrm>
            <a:off x="1325880" y="3208020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나온 길이를 15 cm, 10 cm로 바꾸어 튕겨요.</a:t>
            </a:r>
            <a:endParaRPr lang="ko-KR" sz="2400" dirty="0"/>
          </a:p>
        </p:txBody>
      </p:sp>
      <p:sp>
        <p:nvSpPr>
          <p:cNvPr id="13" name="S07-stepno57"/>
          <p:cNvSpPr txBox="1"/>
          <p:nvPr/>
        </p:nvSpPr>
        <p:spPr>
          <a:xfrm>
            <a:off x="548640" y="4116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7-text58"/>
          <p:cNvSpPr txBox="1"/>
          <p:nvPr/>
        </p:nvSpPr>
        <p:spPr>
          <a:xfrm>
            <a:off x="1325880" y="41163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들은 소리를 활동지 표에 써요.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 튕기기 결과</a:t>
            </a:r>
            <a:endParaRPr lang="ko-KR" sz="4000" dirty="0"/>
          </a:p>
        </p:txBody>
      </p:sp>
      <p:sp>
        <p:nvSpPr>
          <p:cNvPr id="3" name="S08-card5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6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세게 튕기면 큰 소리, 나온 부분이 짧으면 높은 소리가 나요.</a:t>
            </a:r>
            <a:endParaRPr lang="ko-KR" sz="3000" dirty="0"/>
          </a:p>
        </p:txBody>
      </p:sp>
      <p:graphicFrame>
        <p:nvGraphicFramePr>
          <p:cNvPr id="9" name="S08-table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183384"/>
          <a:ext cx="10515600" cy="914400"/>
        </p:xfrm>
        <a:graphic>
          <a:graphicData uri="http://schemas.openxmlformats.org/drawingml/2006/table">
            <a:tbl>
              <a:tblPr/>
              <a:tblGrid>
                <a:gridCol w="4732020"/>
                <a:gridCol w="578358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바꾼 것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97739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살짝 → 세게 튕기기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작은 소리 → 큰 소리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(자가 더 크게 떨려요)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나온 길이 20 cm → 10 cm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낮은 소리 → 높은 소리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세기일까요, 높낮이일까요?</a:t>
            </a:r>
            <a:endParaRPr lang="ko-KR" sz="4000" dirty="0"/>
          </a:p>
        </p:txBody>
      </p:sp>
      <p:sp>
        <p:nvSpPr>
          <p:cNvPr id="3" name="S09-text6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달라졌는지 말해요.</a:t>
            </a:r>
            <a:endParaRPr lang="ko-KR" sz="3000" dirty="0"/>
          </a:p>
        </p:txBody>
      </p:sp>
      <p:sp>
        <p:nvSpPr>
          <p:cNvPr id="4" name="S09-card6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6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크고 작은지, 높고 낮은지 생각해요.</a:t>
            </a:r>
            <a:endParaRPr lang="ko-KR" sz="3000" dirty="0"/>
          </a:p>
        </p:txBody>
      </p:sp>
      <p:sp>
        <p:nvSpPr>
          <p:cNvPr id="6" name="S09-chip6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9-text66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북을 살살 치다가 세게 쳐요.</a:t>
            </a:r>
            <a:endParaRPr lang="ko-KR" sz="3000" dirty="0"/>
          </a:p>
        </p:txBody>
      </p:sp>
      <p:sp>
        <p:nvSpPr>
          <p:cNvPr id="8" name="S09-chip67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9-text68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실로폰의 긴 막대와 짧은 막대를 쳐요.</a:t>
            </a:r>
            <a:endParaRPr lang="ko-KR" sz="3000" dirty="0"/>
          </a:p>
        </p:txBody>
      </p:sp>
      <p:sp>
        <p:nvSpPr>
          <p:cNvPr id="10" name="S09-chip69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9-text70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텔레비전 소리를 줄여요.</a:t>
            </a:r>
            <a:endParaRPr lang="ko-KR" sz="3000" dirty="0"/>
          </a:p>
        </p:txBody>
      </p:sp>
      <p:sp>
        <p:nvSpPr>
          <p:cNvPr id="12" name="S09-chip71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9-text72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고무줄을 더 팽팽하게 하고 튕겨요.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소리는 높은 소리?</a:t>
            </a:r>
            <a:endParaRPr lang="ko-KR" sz="4000" dirty="0"/>
          </a:p>
        </p:txBody>
      </p:sp>
      <p:sp>
        <p:nvSpPr>
          <p:cNvPr id="3" name="S10-card7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7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‘큰 소리는 높은 소리야.’라고 했어요.</a:t>
            </a:r>
            <a:endParaRPr lang="ko-KR" sz="3000" dirty="0"/>
          </a:p>
        </p:txBody>
      </p:sp>
      <p:sp>
        <p:nvSpPr>
          <p:cNvPr id="5" name="S10-card7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7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친구의 말이 맞을까요? 왜 그렇게 생각해요?</a:t>
            </a:r>
            <a:endParaRPr lang="ko-KR" sz="3000" dirty="0"/>
          </a:p>
        </p:txBody>
      </p:sp>
      <p:sp>
        <p:nvSpPr>
          <p:cNvPr id="7" name="S10-chip7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큰북을 세게 쳐요</a:t>
            </a:r>
            <a:endParaRPr lang="ko-KR" sz="2400" dirty="0"/>
          </a:p>
        </p:txBody>
      </p:sp>
      <p:sp>
        <p:nvSpPr>
          <p:cNvPr id="8" name="S10-text78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‘둥!’ 크고 낮은 소리</a:t>
            </a:r>
            <a:endParaRPr lang="ko-KR" sz="3000" dirty="0"/>
          </a:p>
        </p:txBody>
      </p:sp>
      <p:sp>
        <p:nvSpPr>
          <p:cNvPr id="9" name="S10-chip7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모기가 날아요</a:t>
            </a:r>
            <a:endParaRPr lang="ko-KR" sz="2400" dirty="0"/>
          </a:p>
        </p:txBody>
      </p:sp>
      <p:sp>
        <p:nvSpPr>
          <p:cNvPr id="10" name="S10-text80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‘앵—’ 작고 높은 소리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종이컵 전화기 예상</a:t>
            </a:r>
            <a:endParaRPr lang="ko-KR" sz="4000" dirty="0"/>
          </a:p>
        </p:txBody>
      </p:sp>
      <p:sp>
        <p:nvSpPr>
          <p:cNvPr id="3" name="S11-text8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목소리로 말할 때 잘 들릴까요?</a:t>
            </a:r>
            <a:endParaRPr lang="ko-KR" sz="3000" dirty="0"/>
          </a:p>
        </p:txBody>
      </p:sp>
      <p:sp>
        <p:nvSpPr>
          <p:cNvPr id="4" name="S11-card8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1-cardtext8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들릴지, 잘 안 들릴지 예상해요.</a:t>
            </a:r>
            <a:endParaRPr lang="ko-KR" sz="3000" dirty="0"/>
          </a:p>
        </p:txBody>
      </p:sp>
      <p:graphicFrame>
        <p:nvGraphicFramePr>
          <p:cNvPr id="12" name="S11-table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362200"/>
          <a:ext cx="10515600" cy="914400"/>
        </p:xfrm>
        <a:graphic>
          <a:graphicData uri="http://schemas.openxmlformats.org/drawingml/2006/table">
            <a:tbl>
              <a:tblPr/>
              <a:tblGrid>
                <a:gridCol w="1261872"/>
                <a:gridCol w="6309360"/>
                <a:gridCol w="2944368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어떻게 할까?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실을 팽팽하게 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실을 느슨하게 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 가운데를 손가락으로 잡아요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책상에 귀를 대고 반대쪽을 두드려요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종이컵 전화기로 듣기</a:t>
            </a:r>
            <a:endParaRPr lang="ko-KR" sz="4000" dirty="0"/>
          </a:p>
        </p:txBody>
      </p:sp>
      <p:sp>
        <p:nvSpPr>
          <p:cNvPr id="3" name="S12-card85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2-cardtext86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컵 구멍은 어른이 뚫어요. 컵에 대고 소리치지 말고, 실을 몸에 감지 않아요.</a:t>
            </a:r>
            <a:endParaRPr lang="ko-KR" sz="3000" dirty="0"/>
          </a:p>
        </p:txBody>
      </p:sp>
      <p:sp>
        <p:nvSpPr>
          <p:cNvPr id="5" name="S12-card87"/>
          <p:cNvSpPr/>
          <p:nvPr/>
        </p:nvSpPr>
        <p:spPr>
          <a:xfrm>
            <a:off x="6813652" y="1325880"/>
            <a:ext cx="4826660" cy="3404616"/>
          </a:xfrm>
          <a:prstGeom prst="roundRect">
            <a:avLst>
              <a:gd name="adj" fmla="val 322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2-cardtext88"/>
          <p:cNvSpPr txBox="1"/>
          <p:nvPr/>
        </p:nvSpPr>
        <p:spPr>
          <a:xfrm>
            <a:off x="7087972" y="1463040"/>
            <a:ext cx="4278020" cy="313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같은 크기의 목소리로 말해요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들린 정도를 ○, △, ×로 써요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한 번에 한 가지만 바꿔요</a:t>
            </a:r>
            <a:endParaRPr lang="ko-KR" sz="3000" dirty="0"/>
          </a:p>
        </p:txBody>
      </p:sp>
      <p:sp>
        <p:nvSpPr>
          <p:cNvPr id="7" name="S12-stepno89"/>
          <p:cNvSpPr txBox="1"/>
          <p:nvPr/>
        </p:nvSpPr>
        <p:spPr>
          <a:xfrm>
            <a:off x="548640" y="14371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12-text90"/>
          <p:cNvSpPr txBox="1"/>
          <p:nvPr/>
        </p:nvSpPr>
        <p:spPr>
          <a:xfrm>
            <a:off x="1325880" y="1391412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실을 팽팽하게 하고 작은 목소리로 말해요.</a:t>
            </a:r>
            <a:endParaRPr lang="ko-KR" sz="2400" dirty="0"/>
          </a:p>
        </p:txBody>
      </p:sp>
      <p:sp>
        <p:nvSpPr>
          <p:cNvPr id="9" name="S12-stepno91"/>
          <p:cNvSpPr txBox="1"/>
          <p:nvPr/>
        </p:nvSpPr>
        <p:spPr>
          <a:xfrm>
            <a:off x="548640" y="23454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12-text92"/>
          <p:cNvSpPr txBox="1"/>
          <p:nvPr/>
        </p:nvSpPr>
        <p:spPr>
          <a:xfrm>
            <a:off x="1325880" y="2299716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실을 느슨하게 하고 같은 목소리로 말해요.</a:t>
            </a:r>
            <a:endParaRPr lang="ko-KR" sz="2400" dirty="0"/>
          </a:p>
        </p:txBody>
      </p:sp>
      <p:sp>
        <p:nvSpPr>
          <p:cNvPr id="11" name="S12-stepno93"/>
          <p:cNvSpPr txBox="1"/>
          <p:nvPr/>
        </p:nvSpPr>
        <p:spPr>
          <a:xfrm>
            <a:off x="548640" y="3208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12-text94"/>
          <p:cNvSpPr txBox="1"/>
          <p:nvPr/>
        </p:nvSpPr>
        <p:spPr>
          <a:xfrm>
            <a:off x="1325880" y="320802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 가운데를 손가락으로 잡고 말해요.</a:t>
            </a:r>
            <a:endParaRPr lang="ko-KR" sz="2400" dirty="0"/>
          </a:p>
        </p:txBody>
      </p:sp>
      <p:sp>
        <p:nvSpPr>
          <p:cNvPr id="13" name="S12-stepno95"/>
          <p:cNvSpPr txBox="1"/>
          <p:nvPr/>
        </p:nvSpPr>
        <p:spPr>
          <a:xfrm>
            <a:off x="548640" y="39669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12-text96"/>
          <p:cNvSpPr txBox="1"/>
          <p:nvPr/>
        </p:nvSpPr>
        <p:spPr>
          <a:xfrm>
            <a:off x="1325880" y="3921252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책상에 귀를 대고 반대쪽을 톡톡 두드려요.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소리의 전달 결과</a:t>
            </a:r>
            <a:endParaRPr lang="ko-KR" sz="4000" dirty="0"/>
          </a:p>
        </p:txBody>
      </p:sp>
      <p:sp>
        <p:nvSpPr>
          <p:cNvPr id="3" name="S13-text9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평소 듣는 소리는 공기를 통해 전해져요.</a:t>
            </a:r>
            <a:endParaRPr lang="ko-KR" sz="3000" dirty="0"/>
          </a:p>
        </p:txBody>
      </p:sp>
      <p:sp>
        <p:nvSpPr>
          <p:cNvPr id="4" name="S13-card9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9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소리는 실이나 책상 같은 물체를 통해서도 전해져요.</a:t>
            </a:r>
            <a:endParaRPr lang="ko-KR" sz="3000" dirty="0"/>
          </a:p>
        </p:txBody>
      </p:sp>
      <p:graphicFrame>
        <p:nvGraphicFramePr>
          <p:cNvPr id="14" name="S13-table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93876" y="2188210"/>
          <a:ext cx="9601200" cy="914400"/>
        </p:xfrm>
        <a:graphic>
          <a:graphicData uri="http://schemas.openxmlformats.org/drawingml/2006/table">
            <a:tbl>
              <a:tblPr/>
              <a:tblGrid>
                <a:gridCol w="5280660"/>
                <a:gridCol w="432054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 본 것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실을 팽팽하게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잘 들려요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실을 느슨하게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잘 안 들려요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실 가운데를 잡음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거의 안 들려요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 책상에 귀 대기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똑똑 잘 들려요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4-card10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4-cardtext10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실험한 결과를 떠올려 보고 까닭도 말해요.</a:t>
            </a:r>
            <a:endParaRPr lang="ko-KR" sz="3000" dirty="0"/>
          </a:p>
        </p:txBody>
      </p:sp>
      <p:sp>
        <p:nvSpPr>
          <p:cNvPr id="5" name="S14-chip10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6" name="S14-text104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고무줄을 세게 튕기면 소리가 어떻게 되나요?</a:t>
            </a:r>
            <a:endParaRPr lang="ko-KR" sz="3000" dirty="0"/>
          </a:p>
        </p:txBody>
      </p:sp>
      <p:sp>
        <p:nvSpPr>
          <p:cNvPr id="7" name="S14-chip105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" name="S14-text106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 책상 밖으로 나온 부분을 짧게 하면?</a:t>
            </a:r>
            <a:endParaRPr lang="ko-KR" sz="3000" dirty="0"/>
          </a:p>
        </p:txBody>
      </p:sp>
      <p:sp>
        <p:nvSpPr>
          <p:cNvPr id="9" name="S14-chip107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0" name="S14-text108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종이컵 전화기 소리가 작아요. 실을 어떻게 할까요?</a:t>
            </a:r>
            <a:endParaRPr lang="ko-KR" sz="3000" dirty="0"/>
          </a:p>
        </p:txBody>
      </p:sp>
      <p:sp>
        <p:nvSpPr>
          <p:cNvPr id="11" name="S14-chip109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2" name="S14-text110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소리가 나는 물체를 손으로 잡으면?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6-card111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6-cardtext112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소리가 나는 물체는 떨려요. 세기와 높낮이는 달라요.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소리는 실이나 책상 같은 물체로도 전해져요.</a:t>
            </a:r>
            <a:endParaRPr lang="ko-KR" sz="3000" dirty="0"/>
          </a:p>
        </p:txBody>
      </p:sp>
      <p:sp>
        <p:nvSpPr>
          <p:cNvPr id="5" name="S16-chip113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세기와 높낮이 나누어 말하기</a:t>
            </a:r>
            <a:endParaRPr lang="ko-KR" sz="2400" dirty="0"/>
          </a:p>
        </p:txBody>
      </p:sp>
      <p:sp>
        <p:nvSpPr>
          <p:cNvPr id="6" name="S16-chip114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큰 소리 = 높은 소리</a:t>
            </a:r>
            <a:endParaRPr lang="ko-KR" sz="2400" dirty="0"/>
          </a:p>
        </p:txBody>
      </p:sp>
      <p:sp>
        <p:nvSpPr>
          <p:cNvPr id="7" name="S16-text115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6-text116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소리가 나는 물체의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공통점은?</a:t>
            </a:r>
            <a:endParaRPr lang="ko-KR" sz="2400" dirty="0"/>
          </a:p>
        </p:txBody>
      </p:sp>
      <p:sp>
        <p:nvSpPr>
          <p:cNvPr id="9" name="S16-text117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실로폰 짧은 막대는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소리?</a:t>
            </a:r>
            <a:endParaRPr lang="ko-KR" sz="2400" dirty="0"/>
          </a:p>
        </p:txBody>
      </p:sp>
      <p:sp>
        <p:nvSpPr>
          <p:cNvPr id="10" name="S16-text118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종이컵 전화기가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들리려면?</a:t>
            </a:r>
            <a:endParaRPr lang="ko-KR" sz="2400" dirty="0"/>
          </a:p>
        </p:txBody>
      </p:sp>
      <p:sp>
        <p:nvSpPr>
          <p:cNvPr id="11" name="S16-text11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동물의 생김새와 생활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소리를 몸으로 나타내요</a:t>
            </a:r>
            <a:endParaRPr lang="ko-KR" sz="4000" dirty="0"/>
          </a:p>
        </p:txBody>
      </p:sp>
      <p:sp>
        <p:nvSpPr>
          <p:cNvPr id="3" name="S17-text12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“아—” 소리를 내요.</a:t>
            </a:r>
            <a:endParaRPr lang="ko-KR" sz="3000" dirty="0"/>
          </a:p>
        </p:txBody>
      </p:sp>
      <p:sp>
        <p:nvSpPr>
          <p:cNvPr id="4" name="S17-card1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7-cardtext1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크고 작은 것은 세기, 높고 낮은 것은 높낮이예요.</a:t>
            </a:r>
            <a:endParaRPr lang="ko-KR" sz="3000" dirty="0"/>
          </a:p>
        </p:txBody>
      </p:sp>
      <p:sp>
        <p:nvSpPr>
          <p:cNvPr id="6" name="S17-stepno123"/>
          <p:cNvSpPr txBox="1"/>
          <p:nvPr/>
        </p:nvSpPr>
        <p:spPr>
          <a:xfrm>
            <a:off x="548640" y="2578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17-text124"/>
          <p:cNvSpPr txBox="1"/>
          <p:nvPr/>
        </p:nvSpPr>
        <p:spPr>
          <a:xfrm>
            <a:off x="1325880" y="257860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크게, 작게 내면 두 팔을 넓게, 좁게 벌려요.</a:t>
            </a:r>
            <a:endParaRPr lang="ko-KR" sz="3000" dirty="0"/>
          </a:p>
        </p:txBody>
      </p:sp>
      <p:sp>
        <p:nvSpPr>
          <p:cNvPr id="8" name="S17-stepno125"/>
          <p:cNvSpPr txBox="1"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17-text126"/>
          <p:cNvSpPr txBox="1"/>
          <p:nvPr/>
        </p:nvSpPr>
        <p:spPr>
          <a:xfrm>
            <a:off x="1325880" y="329184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높게, 낮게 내면 손을 머리 위, 무릎으로 옮겨요.</a:t>
            </a:r>
            <a:endParaRPr lang="ko-KR" sz="3000" dirty="0"/>
          </a:p>
        </p:txBody>
      </p:sp>
      <p:sp>
        <p:nvSpPr>
          <p:cNvPr id="10" name="S17-stepno127"/>
          <p:cNvSpPr txBox="1"/>
          <p:nvPr/>
        </p:nvSpPr>
        <p:spPr>
          <a:xfrm>
            <a:off x="548640" y="4005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17-text128"/>
          <p:cNvSpPr txBox="1"/>
          <p:nvPr/>
        </p:nvSpPr>
        <p:spPr>
          <a:xfrm>
            <a:off x="1325880" y="400507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이번에는 내가 소리를 내고, 엄마(아빠)가 몸으로 나타내요.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과학 소리의 성질</dc:title>
  <dc:subject>KR22-G03-SCI-SOUND-L01</dc:subject>
  <dc:creator>education-ppt</dc:creator>
  <cp:lastModifiedBy>education-ppt</cp:lastModifiedBy>
  <cp:revision>1</cp:revision>
  <dcterms:created xsi:type="dcterms:W3CDTF">2026-10-26T09:44:09Z</dcterms:created>
  <dcterms:modified xsi:type="dcterms:W3CDTF">2026-10-26T09:44:09Z</dcterms:modified>
</cp:coreProperties>
</file>