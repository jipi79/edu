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2d9d7da-82bf-9323-2844-cf03ccf0c3c6}">
          <p14:sldIdLst>
            <p14:sldId id="256"/>
            <p14:sldId id="257"/>
          </p14:sldIdLst>
        </p14:section>
        <p14:section name="개념" id="{1b84cf99-5f54-9ba7-055e-542dae448e16}">
          <p14:sldIdLst>
            <p14:sldId id="258"/>
            <p14:sldId id="259"/>
            <p14:sldId id="260"/>
            <p14:sldId id="261"/>
            <p14:sldId id="263"/>
            <p14:sldId id="264"/>
          </p14:sldIdLst>
        </p14:section>
        <p14:section name="연습" id="{bfe57e48-9a95-a459-9acd-8fc9977ab781}">
          <p14:sldIdLst>
            <p14:sldId id="262"/>
            <p14:sldId id="265"/>
            <p14:sldId id="266"/>
            <p14:sldId id="267"/>
          </p14:sldIdLst>
        </p14:section>
        <p14:section name="개념" id="{7233bd84-d9df-dd77-82dc-68a4a30d32a5}">
          <p14:sldIdLst/>
        </p14:section>
        <p14:section name="연습" id="{d3a4fa67-2a69-8b32-2e64-7ab970db0e78}">
          <p14:sldIdLst/>
        </p14:section>
        <p14:section name="확인" id="{eaaaf18b-f1c6-0de3-382c-dc849967d9f6}">
          <p14:sldIdLst>
            <p14:sldId id="268"/>
            <p14:sldId id="269"/>
          </p14:sldIdLst>
        </p14:section>
        <p14:section name="정리" id="{2897e577-5093-8da9-d4b6-261cce9427b4}">
          <p14:sldIdLst>
            <p14:sldId id="270"/>
          </p14:sldIdLst>
        </p14:section>
        <p14:section name="보충" id="{693f93f2-02d5-a190-05fb-365c18e0472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힘과소리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밀기·당기기와 수평 잡기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밀기·당기기와 수평 잡기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밀기·당기기와 수평 잡기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밀기·당기기와 수평 잡기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밀고 당기면 물체는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옆에서 본 자 시소: 가운데 받침점 위에 자가 수평으로 놓여 있음"/>
          <p:cNvSpPr/>
          <p:nvPr/>
        </p:nvSpPr>
        <p:spPr>
          <a:xfrm>
            <a:off x="7772400" y="1928165"/>
            <a:ext cx="3749040" cy="99974"/>
          </a:xfrm>
          <a:custGeom>
            <a:avLst/>
            <a:gdLst/>
            <a:ahLst/>
            <a:cxnLst/>
            <a:rect l="l" t="t" r="r" b="b"/>
            <a:pathLst>
              <a:path w="3749040" h="99974">
                <a:moveTo>
                  <a:pt x="0" y="99974"/>
                </a:moveTo>
                <a:lnTo>
                  <a:pt x="3749040" y="99974"/>
                </a:lnTo>
                <a:lnTo>
                  <a:pt x="37490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496958" y="2028139"/>
            <a:ext cx="299923" cy="249936"/>
          </a:xfrm>
          <a:custGeom>
            <a:avLst/>
            <a:gdLst/>
            <a:ahLst/>
            <a:cxnLst/>
            <a:rect l="l" t="t" r="r" b="b"/>
            <a:pathLst>
              <a:path w="299923" h="249936">
                <a:moveTo>
                  <a:pt x="149962" y="0"/>
                </a:moveTo>
                <a:lnTo>
                  <a:pt x="0" y="249936"/>
                </a:lnTo>
                <a:lnTo>
                  <a:pt x="299923" y="249936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772144" y="2278075"/>
            <a:ext cx="1749552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밀거나 당길 때 물체가 어떻게 바뀌는지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 시소에서 수평을 잡는 방법을 찾을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전에 확인해요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‘공이 굴러갈 것 같아요.’는 예상일까요, 관찰한 결과일까요?</a:t>
            </a:r>
            <a:endParaRPr lang="ko-KR" sz="30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양팔 저울이 가 쪽으로 기울었어요. 가와 나 중 더 무거운 것은?</a:t>
            </a:r>
            <a:endParaRPr lang="ko-KR" sz="30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길이를 잴 때 물체의 한쪽 끝을 어디에 맞추나요?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밀기와 당기기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속에서 물체를 밀거나 당겨요.</a:t>
            </a:r>
            <a:endParaRPr lang="ko-KR" sz="3000" dirty="0"/>
          </a:p>
        </p:txBody>
      </p:sp>
      <p:sp>
        <p:nvSpPr>
          <p:cNvPr id="4" name="S03-card1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밀거나 당기는 것을 ‘힘’이라고 해요.</a:t>
            </a:r>
            <a:endParaRPr lang="ko-KR" sz="3000" dirty="0"/>
          </a:p>
        </p:txBody>
      </p:sp>
      <p:sp>
        <p:nvSpPr>
          <p:cNvPr id="6" name="S03-card16"/>
          <p:cNvSpPr/>
          <p:nvPr/>
        </p:nvSpPr>
        <p:spPr>
          <a:xfrm>
            <a:off x="548640" y="228219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7"/>
          <p:cNvSpPr txBox="1"/>
          <p:nvPr/>
        </p:nvSpPr>
        <p:spPr>
          <a:xfrm>
            <a:off x="822960" y="241935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밀어 열어요.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유모차를 밀어요.</a:t>
            </a:r>
            <a:endParaRPr lang="ko-KR" sz="3000" dirty="0"/>
          </a:p>
        </p:txBody>
      </p:sp>
      <p:sp>
        <p:nvSpPr>
          <p:cNvPr id="8" name="S03-card18"/>
          <p:cNvSpPr/>
          <p:nvPr/>
        </p:nvSpPr>
        <p:spPr>
          <a:xfrm>
            <a:off x="6208776" y="228219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9"/>
          <p:cNvSpPr txBox="1"/>
          <p:nvPr/>
        </p:nvSpPr>
        <p:spPr>
          <a:xfrm>
            <a:off x="6483096" y="241935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서랍을 당겨 열어요.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줄다리기 줄을 당겨요.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밀고 당기면 어떻게 될까?</a:t>
            </a:r>
            <a:endParaRPr lang="ko-KR" sz="40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실험하기 전에 예상을 말해요.</a:t>
            </a:r>
            <a:endParaRPr lang="ko-KR" sz="30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5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5632704"/>
                <a:gridCol w="44256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볼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멈춰 있는 지우개를 밀어요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고무줄을 양쪽으로 당겨요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굴러오는 공을 손으로 막아요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스펀지를 손가락으로 눌러요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밀고 당겨 보기</a:t>
            </a:r>
            <a:endParaRPr lang="ko-KR" sz="4000" dirty="0"/>
          </a:p>
        </p:txBody>
      </p:sp>
      <p:sp>
        <p:nvSpPr>
          <p:cNvPr id="3" name="S05-card2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고무줄은 사람 쪽으로 겨누지 말고, 끊어지지 않게 조금만 당겨요.</a:t>
            </a:r>
            <a:endParaRPr lang="ko-KR" sz="3000" dirty="0"/>
          </a:p>
        </p:txBody>
      </p:sp>
      <p:sp>
        <p:nvSpPr>
          <p:cNvPr id="5" name="S05-card26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7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무엇이 바뀌었는지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움직임과 모양을 나누어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결과를 비교해요</a:t>
            </a:r>
            <a:endParaRPr lang="ko-KR" sz="30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 있는 지우개를 손가락으로 밀어요.</a:t>
            </a:r>
            <a:endParaRPr lang="ko-KR" sz="24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살짝, 조금 더 세게 당겨요.</a:t>
            </a:r>
            <a:endParaRPr lang="ko-KR" sz="24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굴러오는 공을 손으로 막아요.</a:t>
            </a:r>
            <a:endParaRPr lang="ko-KR" sz="2400" dirty="0"/>
          </a:p>
        </p:txBody>
      </p:sp>
      <p:sp>
        <p:nvSpPr>
          <p:cNvPr id="13" name="S05-stepno34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5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스펀지를 눌렀다가 놓아요.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결과로 설명해요</a:t>
            </a:r>
            <a:endParaRPr lang="ko-KR" sz="40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결과를 두 가지로 나누어요.</a:t>
            </a:r>
            <a:endParaRPr lang="ko-KR" sz="30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힘을 주면 물체의 움직임이나 모양이 바뀌어요.</a:t>
            </a:r>
            <a:endParaRPr lang="ko-KR" sz="3000" dirty="0"/>
          </a:p>
        </p:txBody>
      </p:sp>
      <p:graphicFrame>
        <p:nvGraphicFramePr>
          <p:cNvPr id="7" name="S06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1892808"/>
                <a:gridCol w="546811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 본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지우개 밀기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멈춰 있다가 움직였어요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 막기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움직임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굴러오다가 멈췄어요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고무줄 당기기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길게 늘어났어요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스펀지 누르기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눌려서 납작해졌어요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바뀌었을까요?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움직임과 모양 중 무엇이 바뀌었나요?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밀거나 당기기 전과 뒤를 견주어요.</a:t>
            </a:r>
            <a:endParaRPr lang="ko-KR" sz="3000" dirty="0"/>
          </a:p>
        </p:txBody>
      </p:sp>
      <p:sp>
        <p:nvSpPr>
          <p:cNvPr id="6" name="S07-chip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4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축구공을 발로 뻥 차요.</a:t>
            </a:r>
            <a:endParaRPr lang="ko-KR" sz="3000" dirty="0"/>
          </a:p>
        </p:txBody>
      </p:sp>
      <p:sp>
        <p:nvSpPr>
          <p:cNvPr id="8" name="S07-chip4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4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찰흙을 손으로 꾹 눌러요.</a:t>
            </a:r>
            <a:endParaRPr lang="ko-KR" sz="3000" dirty="0"/>
          </a:p>
        </p:txBody>
      </p:sp>
      <p:sp>
        <p:nvSpPr>
          <p:cNvPr id="10" name="S07-chip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4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굴러가는 구슬을 톡 쳐요.</a:t>
            </a:r>
            <a:endParaRPr lang="ko-KR" sz="3000" dirty="0"/>
          </a:p>
        </p:txBody>
      </p:sp>
      <p:sp>
        <p:nvSpPr>
          <p:cNvPr id="12" name="S07-chip4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5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용수철을 양쪽으로 당겨요.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 시소 만들기</a:t>
            </a:r>
            <a:endParaRPr lang="ko-KR" sz="40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자의 15 cm 눈금 아래에 연필을 놓아요.</a:t>
            </a:r>
            <a:endParaRPr lang="ko-KR" sz="3000" dirty="0"/>
          </a:p>
        </p:txBody>
      </p:sp>
      <p:sp>
        <p:nvSpPr>
          <p:cNvPr id="4" name="S08-card52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받침점: 자를 받치는 곳</a:t>
            </a:r>
            <a:endParaRPr lang="ko-KR" sz="3000" dirty="0"/>
          </a:p>
        </p:txBody>
      </p:sp>
      <p:sp>
        <p:nvSpPr>
          <p:cNvPr id="6" name="S08-card54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55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수평: 어느 쪽으로도 기울지 않은 상태</a:t>
            </a:r>
            <a:endParaRPr lang="ko-KR" sz="3000" dirty="0"/>
          </a:p>
        </p:txBody>
      </p:sp>
      <p:sp>
        <p:nvSpPr>
          <p:cNvPr id="8" name="S08-figure56" descr="옆에서 본 자 시소: 30 cm 자의 15 cm 눈금 아래에 받침점(세모)이 있고, 자는 어느 쪽으로도 기울지 않은 수평 상태"/>
          <p:cNvSpPr/>
          <p:nvPr/>
        </p:nvSpPr>
        <p:spPr>
          <a:xfrm>
            <a:off x="640080" y="2843830"/>
            <a:ext cx="10908792" cy="290901"/>
          </a:xfrm>
          <a:custGeom>
            <a:avLst/>
            <a:gdLst/>
            <a:ahLst/>
            <a:cxnLst/>
            <a:rect l="l" t="t" r="r" b="b"/>
            <a:pathLst>
              <a:path w="10908792" h="290901">
                <a:moveTo>
                  <a:pt x="0" y="290901"/>
                </a:moveTo>
                <a:lnTo>
                  <a:pt x="10908792" y="290901"/>
                </a:lnTo>
                <a:lnTo>
                  <a:pt x="109087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8-mark57"/>
          <p:cNvSpPr/>
          <p:nvPr/>
        </p:nvSpPr>
        <p:spPr>
          <a:xfrm>
            <a:off x="5658124" y="3134731"/>
            <a:ext cx="872703" cy="727253"/>
          </a:xfrm>
          <a:custGeom>
            <a:avLst/>
            <a:gdLst/>
            <a:ahLst/>
            <a:cxnLst/>
            <a:rect l="l" t="t" r="r" b="b"/>
            <a:pathLst>
              <a:path w="872703" h="727253">
                <a:moveTo>
                  <a:pt x="436352" y="0"/>
                </a:moveTo>
                <a:lnTo>
                  <a:pt x="0" y="727253"/>
                </a:lnTo>
                <a:lnTo>
                  <a:pt x="872703" y="727253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8-mark58"/>
          <p:cNvSpPr/>
          <p:nvPr/>
        </p:nvSpPr>
        <p:spPr>
          <a:xfrm>
            <a:off x="640080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8-mark59"/>
          <p:cNvSpPr/>
          <p:nvPr/>
        </p:nvSpPr>
        <p:spPr>
          <a:xfrm>
            <a:off x="2458212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8-mark60"/>
          <p:cNvSpPr/>
          <p:nvPr/>
        </p:nvSpPr>
        <p:spPr>
          <a:xfrm>
            <a:off x="4276344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8-mark61"/>
          <p:cNvSpPr/>
          <p:nvPr/>
        </p:nvSpPr>
        <p:spPr>
          <a:xfrm>
            <a:off x="6094476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8-mark62"/>
          <p:cNvSpPr/>
          <p:nvPr/>
        </p:nvSpPr>
        <p:spPr>
          <a:xfrm>
            <a:off x="7912608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8-mark63"/>
          <p:cNvSpPr/>
          <p:nvPr/>
        </p:nvSpPr>
        <p:spPr>
          <a:xfrm>
            <a:off x="9730740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8-mark64"/>
          <p:cNvSpPr/>
          <p:nvPr/>
        </p:nvSpPr>
        <p:spPr>
          <a:xfrm>
            <a:off x="11548872" y="2843830"/>
            <a:ext cx="0" cy="12726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8-mark65"/>
          <p:cNvSpPr/>
          <p:nvPr/>
        </p:nvSpPr>
        <p:spPr>
          <a:xfrm>
            <a:off x="3549091" y="3861984"/>
            <a:ext cx="509077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8" name="S08-label67"/>
          <p:cNvSpPr txBox="1"/>
          <p:nvPr/>
        </p:nvSpPr>
        <p:spPr>
          <a:xfrm>
            <a:off x="484632" y="228970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8-label69"/>
          <p:cNvSpPr txBox="1"/>
          <p:nvPr/>
        </p:nvSpPr>
        <p:spPr>
          <a:xfrm>
            <a:off x="2302764" y="228970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0" name="S08-label71"/>
          <p:cNvSpPr txBox="1"/>
          <p:nvPr/>
        </p:nvSpPr>
        <p:spPr>
          <a:xfrm>
            <a:off x="4020312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1" name="S08-label73"/>
          <p:cNvSpPr txBox="1"/>
          <p:nvPr/>
        </p:nvSpPr>
        <p:spPr>
          <a:xfrm>
            <a:off x="5838444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22" name="S08-label75"/>
          <p:cNvSpPr txBox="1"/>
          <p:nvPr/>
        </p:nvSpPr>
        <p:spPr>
          <a:xfrm>
            <a:off x="7656576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3" name="S08-label77"/>
          <p:cNvSpPr txBox="1"/>
          <p:nvPr/>
        </p:nvSpPr>
        <p:spPr>
          <a:xfrm>
            <a:off x="9474708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400" dirty="0"/>
          </a:p>
        </p:txBody>
      </p:sp>
      <p:sp>
        <p:nvSpPr>
          <p:cNvPr id="24" name="S08-label79"/>
          <p:cNvSpPr txBox="1"/>
          <p:nvPr/>
        </p:nvSpPr>
        <p:spPr>
          <a:xfrm>
            <a:off x="11292840" y="228970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5" name="S08-label81"/>
          <p:cNvSpPr txBox="1"/>
          <p:nvPr/>
        </p:nvSpPr>
        <p:spPr>
          <a:xfrm>
            <a:off x="5591556" y="4071473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될지 예상해요</a:t>
            </a:r>
            <a:endParaRPr lang="ko-KR" sz="4000" dirty="0"/>
          </a:p>
        </p:txBody>
      </p:sp>
      <p:sp>
        <p:nvSpPr>
          <p:cNvPr id="3" name="S09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100원짜리 동전으로 실험해요.</a:t>
            </a:r>
            <a:endParaRPr lang="ko-KR" sz="3000" dirty="0"/>
          </a:p>
        </p:txBody>
      </p:sp>
      <p:sp>
        <p:nvSpPr>
          <p:cNvPr id="4" name="S09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거리는 받침점에서 잰 길이예요.</a:t>
            </a:r>
            <a:endParaRPr lang="ko-KR" sz="3000" dirty="0"/>
          </a:p>
        </p:txBody>
      </p:sp>
      <p:graphicFrame>
        <p:nvGraphicFramePr>
          <p:cNvPr id="10" name="S09-table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045208"/>
          <a:ext cx="1005840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2514600"/>
                <a:gridCol w="2514600"/>
                <a:gridCol w="372160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왼쪽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오른쪽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2개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동전 1개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수평이 되려면?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 시소로 수평 잡기</a:t>
            </a:r>
            <a:endParaRPr lang="ko-KR" sz="4000" dirty="0"/>
          </a:p>
        </p:txBody>
      </p:sp>
      <p:sp>
        <p:nvSpPr>
          <p:cNvPr id="3" name="S10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동전은 입에 넣지 말고, 실험이 끝나면 손을 씻어요.</a:t>
            </a:r>
            <a:endParaRPr lang="ko-KR" sz="3000" dirty="0"/>
          </a:p>
        </p:txBody>
      </p:sp>
      <p:sp>
        <p:nvSpPr>
          <p:cNvPr id="5" name="S10-card8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8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동전 가운데를 눈금에 맞춰요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수평인지, 어느 쪽으로 기우는지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수평이 된 곳을 cm로 써요</a:t>
            </a:r>
            <a:endParaRPr lang="ko-KR" sz="3000" dirty="0"/>
          </a:p>
        </p:txBody>
      </p:sp>
      <p:sp>
        <p:nvSpPr>
          <p:cNvPr id="7" name="S10-stepno90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91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cm 눈금을 연필 위에 올려 수평을 맞춰요.</a:t>
            </a:r>
            <a:endParaRPr lang="ko-KR" sz="2400" dirty="0"/>
          </a:p>
        </p:txBody>
      </p:sp>
      <p:sp>
        <p:nvSpPr>
          <p:cNvPr id="9" name="S10-stepno92"/>
          <p:cNvSpPr txBox="1"/>
          <p:nvPr/>
        </p:nvSpPr>
        <p:spPr>
          <a:xfrm>
            <a:off x="548640" y="2540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93"/>
          <p:cNvSpPr txBox="1"/>
          <p:nvPr/>
        </p:nvSpPr>
        <p:spPr>
          <a:xfrm>
            <a:off x="1325880" y="2494788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cm와 25 cm 눈금에 동전을 1개씩 놓아요.</a:t>
            </a:r>
            <a:endParaRPr lang="ko-KR" sz="2400" dirty="0"/>
          </a:p>
        </p:txBody>
      </p:sp>
      <p:sp>
        <p:nvSpPr>
          <p:cNvPr id="11" name="S10-stepno94"/>
          <p:cNvSpPr txBox="1"/>
          <p:nvPr/>
        </p:nvSpPr>
        <p:spPr>
          <a:xfrm>
            <a:off x="548640" y="3403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95"/>
          <p:cNvSpPr txBox="1"/>
          <p:nvPr/>
        </p:nvSpPr>
        <p:spPr>
          <a:xfrm>
            <a:off x="1325880" y="3403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동전을 2개로 바꿔요.</a:t>
            </a:r>
            <a:endParaRPr lang="ko-KR" sz="2400" dirty="0"/>
          </a:p>
        </p:txBody>
      </p:sp>
      <p:sp>
        <p:nvSpPr>
          <p:cNvPr id="13" name="S10-stepno96"/>
          <p:cNvSpPr txBox="1"/>
          <p:nvPr/>
        </p:nvSpPr>
        <p:spPr>
          <a:xfrm>
            <a:off x="548640" y="4162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0-text97"/>
          <p:cNvSpPr txBox="1"/>
          <p:nvPr/>
        </p:nvSpPr>
        <p:spPr>
          <a:xfrm>
            <a:off x="1325880" y="411632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2개를 받침점 쪽으로 옮기며 수평을 찾아요.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 잡기 결과</a:t>
            </a:r>
            <a:endParaRPr lang="ko-KR" sz="4000" dirty="0"/>
          </a:p>
        </p:txBody>
      </p:sp>
      <p:sp>
        <p:nvSpPr>
          <p:cNvPr id="3" name="S11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물체를 받침점에 더 가까이 놓으면 수평이 돼요.</a:t>
            </a:r>
            <a:endParaRPr lang="ko-KR" sz="3000" dirty="0"/>
          </a:p>
        </p:txBody>
      </p:sp>
      <p:sp>
        <p:nvSpPr>
          <p:cNvPr id="5" name="S11-card100"/>
          <p:cNvSpPr/>
          <p:nvPr/>
        </p:nvSpPr>
        <p:spPr>
          <a:xfrm>
            <a:off x="548640" y="339699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101"/>
          <p:cNvSpPr txBox="1"/>
          <p:nvPr/>
        </p:nvSpPr>
        <p:spPr>
          <a:xfrm>
            <a:off x="822960" y="353415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1개와 1개, 같은 거리 → 수평</a:t>
            </a:r>
            <a:endParaRPr lang="ko-KR" sz="3000" dirty="0"/>
          </a:p>
        </p:txBody>
      </p:sp>
      <p:sp>
        <p:nvSpPr>
          <p:cNvPr id="7" name="S11-card102"/>
          <p:cNvSpPr/>
          <p:nvPr/>
        </p:nvSpPr>
        <p:spPr>
          <a:xfrm>
            <a:off x="4322064" y="339699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103"/>
          <p:cNvSpPr txBox="1"/>
          <p:nvPr/>
        </p:nvSpPr>
        <p:spPr>
          <a:xfrm>
            <a:off x="4596384" y="353415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2개와 1개, 같은 거리 → 2개 쪽이 내려가요</a:t>
            </a:r>
            <a:endParaRPr lang="ko-KR" sz="3000" dirty="0"/>
          </a:p>
        </p:txBody>
      </p:sp>
      <p:sp>
        <p:nvSpPr>
          <p:cNvPr id="9" name="S11-card104"/>
          <p:cNvSpPr/>
          <p:nvPr/>
        </p:nvSpPr>
        <p:spPr>
          <a:xfrm>
            <a:off x="8095488" y="3396996"/>
            <a:ext cx="3544824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105"/>
          <p:cNvSpPr txBox="1"/>
          <p:nvPr/>
        </p:nvSpPr>
        <p:spPr>
          <a:xfrm>
            <a:off x="8369808" y="3534156"/>
            <a:ext cx="2996184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2개를 더 가까이 → 수평</a:t>
            </a:r>
            <a:endParaRPr lang="ko-KR" sz="3000" dirty="0"/>
          </a:p>
        </p:txBody>
      </p:sp>
      <p:sp>
        <p:nvSpPr>
          <p:cNvPr id="11" name="S11-figure106" descr="실험 ③ 결과: 받침점에서 왼쪽 5 cm에 동전 2개, 오른쪽 10 cm에 동전 1개를 놓았더니 자가 수평이 됨"/>
          <p:cNvSpPr/>
          <p:nvPr/>
        </p:nvSpPr>
        <p:spPr>
          <a:xfrm>
            <a:off x="3199762" y="2324330"/>
            <a:ext cx="5789428" cy="154385"/>
          </a:xfrm>
          <a:custGeom>
            <a:avLst/>
            <a:gdLst/>
            <a:ahLst/>
            <a:cxnLst/>
            <a:rect l="l" t="t" r="r" b="b"/>
            <a:pathLst>
              <a:path w="5789428" h="154385">
                <a:moveTo>
                  <a:pt x="0" y="154385"/>
                </a:moveTo>
                <a:lnTo>
                  <a:pt x="5789428" y="154385"/>
                </a:lnTo>
                <a:lnTo>
                  <a:pt x="5789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1-mark107"/>
          <p:cNvSpPr/>
          <p:nvPr/>
        </p:nvSpPr>
        <p:spPr>
          <a:xfrm>
            <a:off x="4897994" y="2169946"/>
            <a:ext cx="463154" cy="154385"/>
          </a:xfrm>
          <a:custGeom>
            <a:avLst/>
            <a:gdLst/>
            <a:ahLst/>
            <a:cxnLst/>
            <a:rect l="l" t="t" r="r" b="b"/>
            <a:pathLst>
              <a:path w="463154" h="154385">
                <a:moveTo>
                  <a:pt x="0" y="154385"/>
                </a:moveTo>
                <a:lnTo>
                  <a:pt x="463154" y="154385"/>
                </a:lnTo>
                <a:lnTo>
                  <a:pt x="463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mark108"/>
          <p:cNvSpPr/>
          <p:nvPr/>
        </p:nvSpPr>
        <p:spPr>
          <a:xfrm>
            <a:off x="4897994" y="2015561"/>
            <a:ext cx="463154" cy="154385"/>
          </a:xfrm>
          <a:custGeom>
            <a:avLst/>
            <a:gdLst/>
            <a:ahLst/>
            <a:cxnLst/>
            <a:rect l="l" t="t" r="r" b="b"/>
            <a:pathLst>
              <a:path w="463154" h="154385">
                <a:moveTo>
                  <a:pt x="0" y="154385"/>
                </a:moveTo>
                <a:lnTo>
                  <a:pt x="463154" y="154385"/>
                </a:lnTo>
                <a:lnTo>
                  <a:pt x="463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mark109"/>
          <p:cNvSpPr/>
          <p:nvPr/>
        </p:nvSpPr>
        <p:spPr>
          <a:xfrm>
            <a:off x="7792708" y="2169946"/>
            <a:ext cx="463154" cy="154385"/>
          </a:xfrm>
          <a:custGeom>
            <a:avLst/>
            <a:gdLst/>
            <a:ahLst/>
            <a:cxnLst/>
            <a:rect l="l" t="t" r="r" b="b"/>
            <a:pathLst>
              <a:path w="463154" h="154385">
                <a:moveTo>
                  <a:pt x="0" y="154385"/>
                </a:moveTo>
                <a:lnTo>
                  <a:pt x="463154" y="154385"/>
                </a:lnTo>
                <a:lnTo>
                  <a:pt x="463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mark110"/>
          <p:cNvSpPr/>
          <p:nvPr/>
        </p:nvSpPr>
        <p:spPr>
          <a:xfrm>
            <a:off x="5862899" y="2478715"/>
            <a:ext cx="463154" cy="385962"/>
          </a:xfrm>
          <a:custGeom>
            <a:avLst/>
            <a:gdLst/>
            <a:ahLst/>
            <a:cxnLst/>
            <a:rect l="l" t="t" r="r" b="b"/>
            <a:pathLst>
              <a:path w="463154" h="385962">
                <a:moveTo>
                  <a:pt x="231577" y="0"/>
                </a:moveTo>
                <a:lnTo>
                  <a:pt x="0" y="385962"/>
                </a:lnTo>
                <a:lnTo>
                  <a:pt x="463154" y="385962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1-mark111"/>
          <p:cNvSpPr/>
          <p:nvPr/>
        </p:nvSpPr>
        <p:spPr>
          <a:xfrm>
            <a:off x="5129571" y="1591003"/>
            <a:ext cx="964905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17" name="S11-mark112"/>
          <p:cNvSpPr/>
          <p:nvPr/>
        </p:nvSpPr>
        <p:spPr>
          <a:xfrm flipH="1">
            <a:off x="6094476" y="1591003"/>
            <a:ext cx="1929809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18" name="S11-mark113"/>
          <p:cNvSpPr/>
          <p:nvPr/>
        </p:nvSpPr>
        <p:spPr>
          <a:xfrm flipV="1">
            <a:off x="6094476" y="1475214"/>
            <a:ext cx="0" cy="791222"/>
          </a:xfrm>
          <a:prstGeom prst="line">
            <a:avLst/>
          </a:prstGeom>
          <a:noFill/>
          <a:ln w="15875">
            <a:solidFill>
              <a:srgbClr val="3D5A80"/>
            </a:solidFill>
            <a:prstDash val="dash"/>
          </a:ln>
        </p:spPr>
      </p:sp>
      <p:sp>
        <p:nvSpPr>
          <p:cNvPr id="19" name="S11-mark114"/>
          <p:cNvSpPr/>
          <p:nvPr/>
        </p:nvSpPr>
        <p:spPr>
          <a:xfrm>
            <a:off x="4743609" y="2864677"/>
            <a:ext cx="2701733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1-label116"/>
          <p:cNvSpPr txBox="1"/>
          <p:nvPr/>
        </p:nvSpPr>
        <p:spPr>
          <a:xfrm>
            <a:off x="4480347" y="1632080"/>
            <a:ext cx="12984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2개</a:t>
            </a:r>
            <a:endParaRPr lang="ko-KR" sz="2400" dirty="0"/>
          </a:p>
        </p:txBody>
      </p:sp>
      <p:sp>
        <p:nvSpPr>
          <p:cNvPr id="21" name="S11-label118"/>
          <p:cNvSpPr txBox="1"/>
          <p:nvPr/>
        </p:nvSpPr>
        <p:spPr>
          <a:xfrm>
            <a:off x="5200544" y="122682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</a:t>
            </a:r>
            <a:endParaRPr lang="ko-KR" sz="2400" dirty="0"/>
          </a:p>
        </p:txBody>
      </p:sp>
      <p:sp>
        <p:nvSpPr>
          <p:cNvPr id="22" name="S11-label120"/>
          <p:cNvSpPr txBox="1"/>
          <p:nvPr/>
        </p:nvSpPr>
        <p:spPr>
          <a:xfrm>
            <a:off x="7375061" y="1786465"/>
            <a:ext cx="12984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1개</a:t>
            </a:r>
            <a:endParaRPr lang="ko-KR" sz="2400" dirty="0"/>
          </a:p>
        </p:txBody>
      </p:sp>
      <p:sp>
        <p:nvSpPr>
          <p:cNvPr id="23" name="S11-label122"/>
          <p:cNvSpPr txBox="1"/>
          <p:nvPr/>
        </p:nvSpPr>
        <p:spPr>
          <a:xfrm>
            <a:off x="6547317" y="1226820"/>
            <a:ext cx="10241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cm</a:t>
            </a:r>
            <a:endParaRPr lang="ko-KR" sz="2400" dirty="0"/>
          </a:p>
        </p:txBody>
      </p:sp>
      <p:sp>
        <p:nvSpPr>
          <p:cNvPr id="24" name="S11-label124"/>
          <p:cNvSpPr txBox="1"/>
          <p:nvPr/>
        </p:nvSpPr>
        <p:spPr>
          <a:xfrm>
            <a:off x="5591556" y="2886456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시소를 탈 때</a:t>
            </a:r>
            <a:endParaRPr lang="ko-KR" sz="4000" dirty="0"/>
          </a:p>
        </p:txBody>
      </p:sp>
      <p:sp>
        <p:nvSpPr>
          <p:cNvPr id="3" name="S12-card1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아빠와 아이가 시소를 타요. 아빠가 더 무거워요.</a:t>
            </a:r>
            <a:endParaRPr lang="ko-KR" sz="3000" dirty="0"/>
          </a:p>
        </p:txBody>
      </p:sp>
      <p:sp>
        <p:nvSpPr>
          <p:cNvPr id="5" name="S12-card1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수평을 잡기 쉬울까요? 왜 그럴까요?</a:t>
            </a:r>
            <a:endParaRPr lang="ko-KR" sz="3000" dirty="0"/>
          </a:p>
        </p:txBody>
      </p:sp>
      <p:sp>
        <p:nvSpPr>
          <p:cNvPr id="7" name="S12-chip1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2-text1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받침점 가까이 앉아요.</a:t>
            </a:r>
            <a:endParaRPr lang="ko-KR" sz="3000" dirty="0"/>
          </a:p>
        </p:txBody>
      </p:sp>
      <p:sp>
        <p:nvSpPr>
          <p:cNvPr id="9" name="S12-chip1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2-text1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아빠가 시소 끝에 앉아요.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3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실험한 결과를 떠올려 보고 까닭도 말해요.</a:t>
            </a:r>
            <a:endParaRPr lang="ko-KR" sz="3000" dirty="0"/>
          </a:p>
        </p:txBody>
      </p:sp>
      <p:sp>
        <p:nvSpPr>
          <p:cNvPr id="5" name="S13-chip13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3-text13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고무줄을 세게 당기면 무엇이 바뀌나요?</a:t>
            </a:r>
            <a:endParaRPr lang="ko-KR" sz="3000" dirty="0"/>
          </a:p>
        </p:txBody>
      </p:sp>
      <p:sp>
        <p:nvSpPr>
          <p:cNvPr id="7" name="S13-chip13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3-text13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굴러가는 공을 손으로 막으면 무엇이 바뀌나요?</a:t>
            </a:r>
            <a:endParaRPr lang="ko-KR" sz="3000" dirty="0"/>
          </a:p>
        </p:txBody>
      </p:sp>
      <p:sp>
        <p:nvSpPr>
          <p:cNvPr id="9" name="S13-chip13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3-text14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동전 1개씩을 받침점에서 같은 거리에 놓으면?</a:t>
            </a:r>
            <a:endParaRPr lang="ko-KR" sz="3000" dirty="0"/>
          </a:p>
        </p:txBody>
      </p:sp>
      <p:sp>
        <p:nvSpPr>
          <p:cNvPr id="11" name="S13-chip141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3-text142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무게가 다른 두 물체로 수평을 잡으려면?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무거울까요?</a:t>
            </a:r>
            <a:endParaRPr lang="ko-KR" sz="4000" dirty="0"/>
          </a:p>
        </p:txBody>
      </p:sp>
      <p:sp>
        <p:nvSpPr>
          <p:cNvPr id="3" name="S15-text1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받침점에서 같은 거리에 놓았어요.</a:t>
            </a:r>
            <a:endParaRPr lang="ko-KR" sz="3000" dirty="0"/>
          </a:p>
        </p:txBody>
      </p:sp>
      <p:sp>
        <p:nvSpPr>
          <p:cNvPr id="4" name="S15-figure144" descr="받침점에서 같은 거리(양쪽 10 cm)에 지우개와 딱풀을 놓았더니 지우개 쪽(왼쪽) 끝이 책상에 닿을 만큼 아래로 기울어짐"/>
          <p:cNvSpPr/>
          <p:nvPr/>
        </p:nvSpPr>
        <p:spPr>
          <a:xfrm>
            <a:off x="6535044" y="3872793"/>
            <a:ext cx="4830259" cy="775555"/>
          </a:xfrm>
          <a:custGeom>
            <a:avLst/>
            <a:gdLst/>
            <a:ahLst/>
            <a:cxnLst/>
            <a:rect l="l" t="t" r="r" b="b"/>
            <a:pathLst>
              <a:path w="4830259" h="775555">
                <a:moveTo>
                  <a:pt x="17321" y="775555"/>
                </a:moveTo>
                <a:lnTo>
                  <a:pt x="4830259" y="128369"/>
                </a:lnTo>
                <a:lnTo>
                  <a:pt x="4813100" y="0"/>
                </a:lnTo>
                <a:lnTo>
                  <a:pt x="0" y="647348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" name="S15-mark145"/>
          <p:cNvSpPr/>
          <p:nvPr/>
        </p:nvSpPr>
        <p:spPr>
          <a:xfrm>
            <a:off x="7032169" y="4134873"/>
            <a:ext cx="577740" cy="314042"/>
          </a:xfrm>
          <a:custGeom>
            <a:avLst/>
            <a:gdLst/>
            <a:ahLst/>
            <a:cxnLst/>
            <a:rect l="l" t="t" r="r" b="b"/>
            <a:pathLst>
              <a:path w="577740" h="314042">
                <a:moveTo>
                  <a:pt x="32375" y="314042"/>
                </a:moveTo>
                <a:lnTo>
                  <a:pt x="577740" y="240550"/>
                </a:lnTo>
                <a:lnTo>
                  <a:pt x="545365" y="0"/>
                </a:lnTo>
                <a:lnTo>
                  <a:pt x="0" y="73330"/>
                </a:lnTo>
                <a:close/>
              </a:path>
            </a:pathLst>
          </a:custGeom>
          <a:solidFill>
            <a:srgbClr val="3D5A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mark146"/>
          <p:cNvSpPr/>
          <p:nvPr/>
        </p:nvSpPr>
        <p:spPr>
          <a:xfrm>
            <a:off x="10361501" y="3546287"/>
            <a:ext cx="312747" cy="451638"/>
          </a:xfrm>
          <a:custGeom>
            <a:avLst/>
            <a:gdLst/>
            <a:ahLst/>
            <a:cxnLst/>
            <a:rect l="l" t="t" r="r" b="b"/>
            <a:pathLst>
              <a:path w="312747" h="451638">
                <a:moveTo>
                  <a:pt x="56010" y="451638"/>
                </a:moveTo>
                <a:lnTo>
                  <a:pt x="312747" y="417158"/>
                </a:lnTo>
                <a:lnTo>
                  <a:pt x="256576" y="0"/>
                </a:lnTo>
                <a:lnTo>
                  <a:pt x="0" y="34480"/>
                </a:lnTo>
                <a:close/>
              </a:path>
            </a:pathLst>
          </a:custGeom>
          <a:solidFill>
            <a:srgbClr val="3D5A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147"/>
          <p:cNvSpPr/>
          <p:nvPr/>
        </p:nvSpPr>
        <p:spPr>
          <a:xfrm>
            <a:off x="8764581" y="4324755"/>
            <a:ext cx="388506" cy="323755"/>
          </a:xfrm>
          <a:custGeom>
            <a:avLst/>
            <a:gdLst/>
            <a:ahLst/>
            <a:cxnLst/>
            <a:rect l="l" t="t" r="r" b="b"/>
            <a:pathLst>
              <a:path w="388506" h="323755">
                <a:moveTo>
                  <a:pt x="194253" y="0"/>
                </a:moveTo>
                <a:lnTo>
                  <a:pt x="0" y="323755"/>
                </a:lnTo>
                <a:lnTo>
                  <a:pt x="388506" y="323755"/>
                </a:lnTo>
                <a:close/>
              </a:path>
            </a:pathLst>
          </a:custGeom>
          <a:solidFill>
            <a:srgbClr val="3D5A80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15-mark148"/>
          <p:cNvSpPr/>
          <p:nvPr/>
        </p:nvSpPr>
        <p:spPr>
          <a:xfrm>
            <a:off x="6368796" y="4648510"/>
            <a:ext cx="51800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5-label150"/>
          <p:cNvSpPr txBox="1"/>
          <p:nvPr/>
        </p:nvSpPr>
        <p:spPr>
          <a:xfrm>
            <a:off x="6780321" y="3820537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2400" dirty="0"/>
          </a:p>
        </p:txBody>
      </p:sp>
      <p:sp>
        <p:nvSpPr>
          <p:cNvPr id="10" name="S15-label152"/>
          <p:cNvSpPr txBox="1"/>
          <p:nvPr/>
        </p:nvSpPr>
        <p:spPr>
          <a:xfrm>
            <a:off x="10114611" y="321252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딱풀</a:t>
            </a:r>
            <a:endParaRPr lang="ko-KR" sz="2400" dirty="0"/>
          </a:p>
        </p:txBody>
      </p:sp>
      <p:sp>
        <p:nvSpPr>
          <p:cNvPr id="11" name="S15-label154"/>
          <p:cNvSpPr txBox="1"/>
          <p:nvPr/>
        </p:nvSpPr>
        <p:spPr>
          <a:xfrm>
            <a:off x="8455914" y="4636075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</a:t>
            </a:r>
            <a:endParaRPr lang="ko-KR" sz="2400" dirty="0"/>
          </a:p>
        </p:txBody>
      </p:sp>
      <p:sp>
        <p:nvSpPr>
          <p:cNvPr id="12" name="S15-chip15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3" name="S15-text15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무거운 것은 무엇인가요?</a:t>
            </a:r>
            <a:endParaRPr lang="ko-KR" sz="3000" dirty="0"/>
          </a:p>
        </p:txBody>
      </p:sp>
      <p:sp>
        <p:nvSpPr>
          <p:cNvPr id="14" name="S15-chip15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15-text15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수평을 잡으려면 지우개를 어느 쪽으로 옮길까요?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5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6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힘을 주면 움직임이나 모양이 바뀌어요.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물체를 받침점 가까이 놓으면 수평이 돼요.</a:t>
            </a:r>
            <a:endParaRPr lang="ko-KR" sz="3000" dirty="0"/>
          </a:p>
        </p:txBody>
      </p:sp>
      <p:sp>
        <p:nvSpPr>
          <p:cNvPr id="5" name="S16-chip16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받침점에서 거리 재기</a:t>
            </a:r>
            <a:endParaRPr lang="ko-KR" sz="2400" dirty="0"/>
          </a:p>
        </p:txBody>
      </p:sp>
      <p:sp>
        <p:nvSpPr>
          <p:cNvPr id="6" name="S16-chip16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무거운 쪽을 멀리 놓기</a:t>
            </a:r>
            <a:endParaRPr lang="ko-KR" sz="2400" dirty="0"/>
          </a:p>
        </p:txBody>
      </p:sp>
      <p:sp>
        <p:nvSpPr>
          <p:cNvPr id="7" name="S16-text16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6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물체를 밀거나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당기는 것은?</a:t>
            </a:r>
            <a:endParaRPr lang="ko-KR" sz="2400" dirty="0"/>
          </a:p>
        </p:txBody>
      </p:sp>
      <p:sp>
        <p:nvSpPr>
          <p:cNvPr id="9" name="S16-text16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굴러가는 공을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막으면?</a:t>
            </a:r>
            <a:endParaRPr lang="ko-KR" sz="2400" dirty="0"/>
          </a:p>
        </p:txBody>
      </p:sp>
      <p:sp>
        <p:nvSpPr>
          <p:cNvPr id="10" name="S16-text16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무거운 물체는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받침점 어디에?</a:t>
            </a:r>
            <a:endParaRPr lang="ko-KR" sz="2400" dirty="0"/>
          </a:p>
        </p:txBody>
      </p:sp>
      <p:sp>
        <p:nvSpPr>
          <p:cNvPr id="11" name="S16-text16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소리의 성질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손으로 무게 비교</a:t>
            </a:r>
            <a:endParaRPr lang="ko-KR" sz="4000" dirty="0"/>
          </a:p>
        </p:txBody>
      </p:sp>
      <p:sp>
        <p:nvSpPr>
          <p:cNvPr id="3" name="S17-text1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지우개와 딱풀을 양손에 하나씩 들어요.</a:t>
            </a:r>
            <a:endParaRPr lang="ko-KR" sz="3000" dirty="0"/>
          </a:p>
        </p:txBody>
      </p:sp>
      <p:sp>
        <p:nvSpPr>
          <p:cNvPr id="4" name="S17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해 보기 전의 생각, 결과는 해 본 뒤 알게 된 것이에요.</a:t>
            </a:r>
            <a:endParaRPr lang="ko-KR" sz="3000" dirty="0"/>
          </a:p>
        </p:txBody>
      </p:sp>
      <p:sp>
        <p:nvSpPr>
          <p:cNvPr id="6" name="S17-stepno171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7-text172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예상해요. “어느 쪽이 더 무거울까?”</a:t>
            </a:r>
            <a:endParaRPr lang="ko-KR" sz="3000" dirty="0"/>
          </a:p>
        </p:txBody>
      </p:sp>
      <p:sp>
        <p:nvSpPr>
          <p:cNvPr id="8" name="S17-stepno173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7-text174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양손에 들고 눈을 감아 봐요.</a:t>
            </a:r>
            <a:endParaRPr lang="ko-KR" sz="3000" dirty="0"/>
          </a:p>
        </p:txBody>
      </p:sp>
      <p:sp>
        <p:nvSpPr>
          <p:cNvPr id="10" name="S17-stepno175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7-text176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무거운 쪽 손이 아래로 내려가요.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밀기·당기기와 수평 잡기</dc:title>
  <dc:subject>KR22-G03-SCI-PUSHPULL-L01</dc:subject>
  <dc:creator>education-ppt</dc:creator>
  <cp:lastModifiedBy>education-ppt</cp:lastModifiedBy>
  <cp:revision>1</cp:revision>
  <dcterms:created xsi:type="dcterms:W3CDTF">2026-10-26T09:44:06Z</dcterms:created>
  <dcterms:modified xsi:type="dcterms:W3CDTF">2026-10-26T09:44:06Z</dcterms:modified>
</cp:coreProperties>
</file>