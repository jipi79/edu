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e85357a-3efa-ac43-5192-45e7c85827a6}">
          <p14:sldIdLst>
            <p14:sldId id="256"/>
            <p14:sldId id="257"/>
          </p14:sldIdLst>
        </p14:section>
        <p14:section name="개념" id="{4fb72c39-f10f-a4a0-243f-8161dddb85ca}">
          <p14:sldIdLst>
            <p14:sldId id="258"/>
            <p14:sldId id="259"/>
            <p14:sldId id="260"/>
            <p14:sldId id="261"/>
            <p14:sldId id="263"/>
            <p14:sldId id="264"/>
          </p14:sldIdLst>
        </p14:section>
        <p14:section name="연습" id="{5b6e95d6-ac81-dfaf-0d9c-9f58d159163f}">
          <p14:sldIdLst>
            <p14:sldId id="262"/>
            <p14:sldId id="265"/>
            <p14:sldId id="266"/>
            <p14:sldId id="267"/>
          </p14:sldIdLst>
        </p14:section>
        <p14:section name="개념" id="{dfed36dd-e5fc-2d9e-1941-07067fc94533}">
          <p14:sldIdLst/>
        </p14:section>
        <p14:section name="연습" id="{c6f4b625-6e14-c31e-a5b3-32cdb3f8b5ad}">
          <p14:sldIdLst/>
        </p14:section>
        <p14:section name="확인" id="{05321d05-f22e-34de-654f-433abc0576c9}">
          <p14:sldIdLst>
            <p14:sldId id="268"/>
            <p14:sldId id="269"/>
            <p14:sldId id="270"/>
          </p14:sldIdLst>
        </p14:section>
        <p14:section name="정리" id="{4ea79093-4219-9d14-1aaf-094e3cb3ea83}">
          <p14:sldIdLst>
            <p14:sldId id="271"/>
          </p14:sldIdLst>
        </p14:section>
        <p14:section name="보충" id="{29b2942e-325f-f1c6-e3cc-63b62dc3a6ae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실험으로 답을 찾는 수업이라는 것을 알립니다.
시간: 약 2분
이렇게 말해 보세요
- “문을 열 때 밀기도 하고 당기기도 하지? 밀고 당기면 물체에 어떤 일이 생길까?”
- “오늘은 과학자처럼 먼저 예상하고, 실험해 보고, 본 것을 기록해서 답을 찾을 거야. 그리고 자로 시소를 만들어서 수평을 잡아 볼 거야.”
예상 답
- “문이 열려요.” “움직여요.”
주의
- 오늘은 이 차시의 첫 과학 수업입니다. 결과를 미리 알려 주지 말고, 아이의 예상을 그대로 들어 둡니다.
- 준비물(자, 육각 연필, 100원짜리 동전 3개, 지우개, 딱풀, 고무줄, 스펀지, 작은 공)을 상 위에 미리 놓아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확인(예상과 관찰, 무게 비교, 자의 0 눈금)]
목적: 이 차시는 계획상 선수 차시가 없는 초3 과학의 첫 차시입니다. 오늘 실험에 필요한 세 가지(예상과 관찰 구별, 기울어진 쪽이 무겁다는 것, 자의 0 눈금 맞추기)를 확인합니다.
시간: 약 3분
이렇게 말해 보세요
- “① 아직 해 보지 않고 미리 생각한 걸까, 직접 보고 안 걸까?”
- “② 양팔 저울은 어느 쪽이 아래로 내려가면 그쪽이 무거웠지?”
- “③ 자로 연필 길이를 잴 때 어디에 맞췄지?”
정답
- ① 예상(해 보기 전에 미리 생각한 것)
- ② 가(아래로 기운 쪽이 더 무겁다)
- ③ 자의 0 눈금
막히면
- ①이 어려우면 S17(보충)을 먼저 합니다. 보충으로도 어려우면 초2 ‘예상과 관찰’(KR22-G02-SCI-PREDICT-L01)을 먼저 합니다.
- ②가 어려우면 S17에서 손으로 무게를 비교해 봅니다. 초1 수학 ‘무게·넓이·담을 수 있는 양 비교’(KR22-G01-MAT-COMPARE-L01)에서 다룬 내용입니다.
- ③이 어려우면 초2 수학 ‘길이 재기’(KR22-G02-MAT-CM-L01)에서 배운 대로 0 눈금에 맞추는 것을 함께 해 봅니다.
주의
- ③은 오늘 수평 잡기에서 받침점부터 거리를 잴 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밀기·당기기와 힘의 뜻]
목적: 생활 속 밀기·당기기를 떠올리고, 과학에서 ‘힘’이 물체를 밀거나 당기는 것이라는 뜻을 알려 줍니다(목표 A).
시간: 약 2분
이렇게 말해 보세요
- “집 안에서 밀거나 당기는 것을 세 가지 찾아볼래? 직접 해 봐도 좋아.”
- “이렇게 물체를 밀거나 당기는 것을 과학에서는 ‘힘’이라고 해.”
예상 답
- “냉장고 문을 당겨요.” “의자를 밀어요.” “커튼을 당겨요.”
막히면
- 부모가 서랍을 당기고 문을 밀어 보이며 “지금 밀었어, 당겼어?”라고 묻습니다.
주의
- ‘힘이 세다’처럼 몸의 힘을 말할 때와 달리, 과학에서 힘은 ‘물체를 밀거나 당기는 것’이라는 뜻이라고만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예상하기(밀기·당기기 실험)]
목적: 실험 전에 결과를 예상하게 합니다. 예상과 결과를 나누어 쓰는 것이 과학 탐구의 첫걸음입니다(목표 A).
시간: 약 2분
이렇게 말해 보세요
- “지우개를 밀면 어떻게 될 것 같아? 고무줄을 당기면? 하나씩 말해 줘.”
- “예상은 틀려도 괜찮아. 실험해서 확인하면 돼. 활동지 1에 짧게 써 볼까?”
예상 답
- “지우개가 움직일 것 같아요.” “고무줄이 늘어날 것 같아요.” “공이 멈출 것 같아요.” “스펀지가 들어갈 것 같아요.”
막히면
- 쓰기가 어려우면 아이가 말하고 부모가 대신 받아 적어도 됩니다.
주의
- 이 장에서는 결과를 알려 주지 않습니다. 결과는 실험한 뒤 S06에서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밀기·당기기 실험]
목적: 네 가지 물체를 직접 밀고 당기고 눌러 보며, 바뀐 것을 관찰하고 활동지 2에 기록합니다(목표 A).
시간: 약 5분
이렇게 말해 보세요
- “하나씩 해 보고, 무엇이 바뀌었는지 말해 줘. 움직임이 바뀌었어, 모양이 바뀌었어?”
- “고무줄을 살짝 당길 때와 조금 더 세게 당길 때 무엇이 달라?”
예상 답
- “지우개가 움직였어요.” “공이 멈췄어요.” “고무줄이 늘어났어요. 세게 당기니까 더 길어졌어요.” “스펀지가 눌렸다가 다시 돌아왔어요.”
막히면
- 공은 부모가 바닥에서 아이 쪽으로 천천히 굴려 줍니다. 공이 없으면 연필을 책상 위에서 굴려도 됩니다.
- 무엇이 바뀌었는지 말하기 어려우면 “하기 전에는 어땠어? 한 뒤에는?”처럼 전과 후를 나누어 묻습니다.
주의
- 안전: 고무줄을 얼굴이나 사람 쪽으로 겨누지 않고, 끊어져 튀지 않게 조금만 당깁니다. 공은 바닥에서 천천히 굴리고 유리그릇·화분 근처를 피합니다.
- 스펀지 대신 찰흙이나 밀가루 반죽을 써도 됩니다. 반죽은 눌러도 돌아오지 않는 점이 다를 뿐, 모양이 바뀐 것은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 정리와 설명(움직임과 모양)]
목적: 아이의 기록(활동지 2)과 견주어 보며, 결과를 근거로 ‘힘을 주면 움직임이나 모양이 바뀐다’고 설명하게 합니다(목표 A, 오해 M1).
시간: 약 2분
이렇게 말해 보세요
- “네 기록과 같아? 다른 것이 있으면 왜 달랐을까?”
- “위의 두 가지는 무엇이 바뀌었어? 아래 두 가지는?”
- “고무줄을 세게 당겼을 때는 더 많이 늘어났지? 힘을 크게 주면 변화도 커.”
예상 답
- “위의 둘은 움직임이 바뀌었고, 아래 둘은 모양이 바뀌었어요.”
막히면
- S05의 실험을 하나만 다시 해 보며 “전과 후에 무엇이 달라졌어?”라고 묻습니다.
주의
- 이 장은 실험을 마친 뒤에 보여 줍니다.
- 아이의 예상이 결과와 달랐다면 칭찬해 줍니다. “예상과 달라서 실험해 본 보람이 있네.”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움직임과 모양 구별하기]
목적: 처음 보는 상황에서 힘을 준 뒤 바뀐 것을 움직임과 모양으로 나누어 봅니다(목표 A).
시간: 약 3분
이렇게 말해 보세요
- “①부터 말해 볼래? 밀거나 당기기 전에는 어땠고, 뒤에는 어떻게 됐어?”
- “③은 구슬이 계속 굴러가는데도 무엇이 바뀌었을까? 가는 방향을 봐.”
정답
- ① 움직임(멈춰 있던 공이 날아가거나 굴러감)
- ② 모양(찰흙이 납작해짐)
- ③ 움직임(구슬이 굴러가는 방향이 바뀜)
- ④ 모양(용수철이 길게 늘어남)
막히면
- S06의 표를 다시 보여 주고 “어느 줄과 비슷해?”라고 묻습니다.
- ③이 어려우면 연필을 굴리다가 옆에서 톡 쳐서 방향이 바뀌는 것을 직접 봅니다.
주의
- ①에서 공을 찰 때 공이 아주 잠깐 찌그러지므로 ‘모양도 바뀐다’고 하면 맞다고 해 줍니다.
- 아이가 지치면 여기서 쉬고, 다음 날 S08(수평 잡기)부터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자 시소와 받침점·수평의 뜻]
목적: 자와 연필로 시소를 만들고 받침점과 수평의 뜻을 알려 줍니다(목표 B).
시간: 약 2분
이렇게 말해 보세요
- “놀이터 시소를 떠올려 봐. 가운데에서 시소를 받치는 곳을 ‘받침점’이라고 해.”
- “자의 15 cm 눈금이 연필 위에 오게 올려 볼래? 어느 쪽으로도 기울지 않으면 ‘수평’이라고 해.”
- “5 cm 눈금은 받침점에서 몇 cm 떨어져 있을까? 25 cm 눈금은?”
예상 답
- “둘 다 10 cm요.”
막히면
- 연필이 굴러가면 테이프로 책상에 붙입니다. 자가 한쪽으로 기울면 자를 조금씩 옮겨 수평을 맞춥니다.
- 거리를 어려워하면 15 cm 눈금에 손가락을 대고 “여기서부터 1, 2, 3…” 하고 센티미터를 세어 봅니다.
주의
- 실험 전에 자가 혼자서 수평인지 꼭 확인합니다. 처음부터 기울어 있으면 결과가 바르게 나오지 않습니다.
- 거리는 받침점(15 cm 눈금)에서 잽니다. 5 cm 눈금과 25 cm 눈금은 둘 다 받침점에서 10 cm 떨어져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예상하기(수평 잡기 실험)]
목적: 세 가지 수평 잡기 실험의 결과를 미리 예상합니다(목표 B).
시간: 약 2분
이렇게 말해 보세요
- “①처럼 같은 동전을 양쪽에 같은 거리로 놓으면 어떻게 될까?”
- “②처럼 왼쪽만 2개로 바꾸면? ③에서 동전 2개를 어디에 놓으면 수평이 될까? 받침점 쪽일까, 바깥쪽일까?”
- “활동지 4의 ‘내 예상’ 칸에 써 줘.”
예상 답
- “①은 수평이 될 것 같아요.” “②는 동전 2개 쪽으로 기울 것 같아요.” “③은 동전 2개를 더 바깥에 놓아야 할 것 같아요.”(틀린 예상이어도 그대로 씁니다)
막히면
- ③을 어려워하면 “놀이터에서 무거운 어른과 시소를 탈 때 어른이 어디에 앉았어?”라고 경험을 떠올리게 합니다.
주의
- ③에서 ‘바깥쪽’이라고 예상하는 아이가 많습니다(오해 M3). 고치지 말고 실험으로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수평 잡기 실험]
목적: 세 가지 실험을 차례로 하고, 결과를 활동지 4에 기록합니다(목표 B).
시간: 약 6분
이렇게 말해 보세요
- “①번부터 해 보자. 수평이야, 기울었어? 어느 쪽으로?”
- “②에서 왼쪽을 동전 2개로 바꾸면 어떻게 돼?”
- “③ 동전 1개는 그대로 두고, 동전 2개를 받침점 쪽으로 조금씩 옮겨 봐. 수평이 된 곳은 몇 cm 눈금이야? 받침점에서는 몇 cm야?”
예상 답
- “① 수평이에요.” “② 동전 2개 쪽으로 기울었어요.” “③ 10 cm 눈금쯤, 받침점에서 5 cm쯤에서 수평이 됐어요.”
정답
- ① 수평
- ② 동전 2개 쪽(왼쪽)으로 기욺
- ③ 받침점에서 약 5 cm(10 cm 눈금 근처)에서 수평. 동전 2개가 동전 1개보다 받침점에 가까우면 맞음
막히면
- 동전이 미끄러지면 두 개를 겹쳐 놓습니다. 자가 연필 위에서 밀리면 15 cm 눈금을 다시 맞춥니다.
- 수평을 딱 맞추기 어려우면 ‘거의 수평’도 괜찮습니다. 기울어진 쪽이 바뀌는 곳을 찾게 합니다.
주의
- 안전: 동전은 입에 넣지 않고, 실험이 끝나면 손을 씻습니다.
- 부모용 참고: 동전 2개 × 5 cm와 동전 1개 × 10 cm가 같아서 수평이 됩니다. 아이에게 식으로 가르치지 않고 ‘무거운 쪽이 받침점에 더 가깝다’로만 정리합니다. 자와 연필에 따라 숫자는 조금 달라질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수평 잡기 결과로 설명하기]
목적: 실험 결과를 근거로 수평을 잡는 방법을 설명합니다(목표 B, 오해 M2).
시간: 약 2분
이렇게 말해 보세요
- “네 기록과 같아? ②에서 동전 2개 쪽이 내려간 까닭은 뭘까?”
- “③에서 동전 2개는 받침점에서 몇 cm, 동전 1개는 몇 cm였어? 무거운 쪽이 더 가까워, 더 멀어?”
예상 답
- “동전 2개가 더 무거워서 내려갔어요.” “무거운 쪽이 받침점에 더 가까웠어요.”
막히면
- 자 시소에서 ③을 다시 해 보고, 동전 2개를 바깥쪽으로 옮기면 어떻게 되는지도 봅니다.
주의
- ②처럼 같은 거리에서 아래로 기운 쪽이 더 무겁다는 것은 수평 잡기로 무게를 비교하는 방법입니다. S15에서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시소에 적용하기(오해 M3)]
목적: 실험 결과를 놀이터 시소에 적용해, 무거운 사람이 어디에 앉아야 수평을 잡을 수 있는지 판단합니다(목표 B, 오해 M3).
시간: 약 2분
이렇게 말해 보세요
- “자 시소에서 동전 2개를 어디로 옮겼을 때 수평이 됐지? 아빠가 동전 2개라면?”
- “나처럼 아빠가 끝에 앉으면 어느 쪽이 내려갈까?”
정답
- 가. 무거운 사람이 받침점에 더 가까이 앉아야 수평을 잡을 수 있습니다(S10 ③과 같음).
- 나는 아빠 쪽이 더 많이 내려갑니다.
막히면
- 자 시소에서 동전 2개를 아빠, 동전 1개를 아이라고 하고 가와 나를 직접 놓아 봅니다.
주의
- 아이 몸무게가 더 무거운 경우처럼 반대 상황도 물어보면 좋습니다. “그럼 무거운 사람이 가까이, 가벼운 사람이 멀리.”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 보기]
목적: 도움 없이 목표 A·B를 확인합니다.
시간: 약 3분
이렇게 말해 보세요
- “이번에는 혼자 답해 볼래? 왜 그렇게 생각했는지도 말해 줘.”
정답
- ① 모양(고무줄이 길게 늘어남, 세게 당길수록 더 많이 늘어남)
- ② 움직임(굴러가던 공이 멈춤)
- ③ 수평이 됨
- ④ 무거운 물체를 받침점에 더 가까이 놓음(또는 가벼운 물체를 더 멀리 놓음)
막히면
- ①②는 S06, ③④는 S11을 다시 봅니다. 자 시소로 직접 해 보고 답해도 됩니다.
- 도움을 받아 해결했다면 기록표에 ‘도움’으로 표시합니다.
주의
- ④에서 ‘무거운 것을 멀리’라고 하면 S12로 돌아가 자 시소로 확인합니다(오해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함께 확인하고 흔한 실수를 바로잡습니다. 수업용에만 있는 장입니다.
시간: 약 1분
이렇게 말해 보세요
- “네 답과 같은지 볼까? 다르면 실험으로 다시 확인해 보자.”
정답
- ① 모양 ② 움직임 ③ 수평 ④ 무거운 물체를 받침점에 더 가까이
막히면
- ①을 ‘움직임’이라고 했다면 S06으로(오해 M1), ④를 ‘멀리’라고 했다면 S12로 돌아갑니다(오해 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확인(수평 잡기로 무게 비교)]
목적: 처음 보는 물체로 수평 잡기 결과를 해석하고, 수평을 잡는 방법을 말하는지 확인합니다(목표 B).
시간: 약 1분
이렇게 말해 보세요
- “같은 거리에 놓았는데 지우개 쪽이 내려갔어. 무엇이 더 무거울까?”
- “수평이 되게 하려면 지우개를 받침점 쪽으로 옮길까, 바깥쪽으로 옮길까?”
정답
- ① 지우개(같은 거리에서 지우개 쪽으로 기울었으므로)
- ② 받침점 쪽으로(더 가까이) 옮깁니다. 딱풀을 바깥쪽으로 옮겨도 됩니다.
막히면
- 집에 있는 지우개와 딱풀로 직접 해 봅니다. 실제 물건에 따라 딱풀이 더 무거울 수도 있으니, 그때는 실제 결과대로 말하게 합니다.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정리와 다음 수업 복습]
목적: 핵심을 정리하고 다음 수업 첫 5분에 풀 복습 문제를 알려 줍니다.
시간: 약 1분
이렇게 말해 보세요
- “오늘 실험으로 알게 된 것 두 가지를 말해 볼래?”
예상 답
- “밀거나 당기면 움직임이나 모양이 바뀌어요.” “무거운 건 받침점 가까이에 놓아야 수평이 돼요.”
정답
- ① 힘 ② 움직임(공이 멈춤) ③ 받침점에 더 가까이
막히면
- S06과 S11을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보충(예상과 관찰, 무게 비교)]
목적: 예상과 관찰한 결과를 구별하고, 무거운 쪽이 아래로 내려간다는 것을 몸으로 느끼게 합니다.
시간: 약 4분
이렇게 말해 보세요
- “들어 보기 전에 먼저 말해 줘. 어느 쪽이 더 무거울 것 같아? 이게 ‘예상’이야.”
- “이제 들어 봐. 어느 쪽 손이 더 내려가? 직접 해 보고 안 것이 ‘결과’야.”
예상 답
- “지우개가 더 무거울 것 같아요.” “들어 보니 지우개 쪽 손이 내려가요.”
막히면
- 무게 차이가 큰 물건(동전 1개와 물이 든 컵)으로 바꾸어 다시 해 봅니다.
- 이 차시는 계획상 선수 차시가 없습니다. 보충으로도 예상과 결과를 구별하기 어려우면 초2 ‘예상과 관찰’(KR22-G02-SCI-PREDICT-L01)을, 기울어진 쪽이 무겁다는 것이 어려우면 초1 수학 ‘무게·넓이·담을 수 있는 양 비교’(KR22-G01-MAT-COMPARE-L01)를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힘과소리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밀기·당기기와 수평 잡기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밀기·당기기와 수평 잡기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밀기·당기기와 수평 잡기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밀기·당기기와 수평 잡기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밀고 당기면 물체는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옆에서 본 자 시소: 가운데 받침점 위에 자가 수평으로 놓여 있음"/>
          <p:cNvSpPr/>
          <p:nvPr/>
        </p:nvSpPr>
        <p:spPr>
          <a:xfrm>
            <a:off x="7772400" y="1928165"/>
            <a:ext cx="3749040" cy="99974"/>
          </a:xfrm>
          <a:custGeom>
            <a:avLst/>
            <a:gdLst/>
            <a:ahLst/>
            <a:cxnLst/>
            <a:rect l="l" t="t" r="r" b="b"/>
            <a:pathLst>
              <a:path w="3749040" h="99974">
                <a:moveTo>
                  <a:pt x="0" y="99974"/>
                </a:moveTo>
                <a:lnTo>
                  <a:pt x="3749040" y="99974"/>
                </a:lnTo>
                <a:lnTo>
                  <a:pt x="37490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496958" y="2028139"/>
            <a:ext cx="299923" cy="249936"/>
          </a:xfrm>
          <a:custGeom>
            <a:avLst/>
            <a:gdLst/>
            <a:ahLst/>
            <a:cxnLst/>
            <a:rect l="l" t="t" r="r" b="b"/>
            <a:pathLst>
              <a:path w="299923" h="249936">
                <a:moveTo>
                  <a:pt x="149962" y="0"/>
                </a:moveTo>
                <a:lnTo>
                  <a:pt x="0" y="249936"/>
                </a:lnTo>
                <a:lnTo>
                  <a:pt x="299923" y="249936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772144" y="2278075"/>
            <a:ext cx="1749552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밀거나 당길 때 물체가 어떻게 바뀌는지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 시소에서 수평을 잡는 방법을 찾을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전에 확인해요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‘공이 굴러갈 것 같아요.’는 예상일까요, 관찰한 결과일까요?</a:t>
            </a:r>
            <a:endParaRPr lang="ko-KR" sz="30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양팔 저울이 가 쪽으로 기울었어요. 가와 나 중 더 무거운 것은?</a:t>
            </a:r>
            <a:endParaRPr lang="ko-KR" sz="30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길이를 잴 때 물체의 한쪽 끝을 어디에 맞추나요?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밀기와 당기기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속에서 물체를 밀거나 당겨요.</a:t>
            </a:r>
            <a:endParaRPr lang="ko-KR" sz="3000" dirty="0"/>
          </a:p>
        </p:txBody>
      </p:sp>
      <p:sp>
        <p:nvSpPr>
          <p:cNvPr id="4" name="S03-card1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밀거나 당기는 것을 ‘힘’이라고 해요.</a:t>
            </a:r>
            <a:endParaRPr lang="ko-KR" sz="3000" dirty="0"/>
          </a:p>
        </p:txBody>
      </p:sp>
      <p:sp>
        <p:nvSpPr>
          <p:cNvPr id="6" name="S03-card16"/>
          <p:cNvSpPr/>
          <p:nvPr/>
        </p:nvSpPr>
        <p:spPr>
          <a:xfrm>
            <a:off x="548640" y="228219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822960" y="241935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밀어 열어요.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유모차를 밀어요.</a:t>
            </a:r>
            <a:endParaRPr lang="ko-KR" sz="3000" dirty="0"/>
          </a:p>
        </p:txBody>
      </p:sp>
      <p:sp>
        <p:nvSpPr>
          <p:cNvPr id="8" name="S03-card18"/>
          <p:cNvSpPr/>
          <p:nvPr/>
        </p:nvSpPr>
        <p:spPr>
          <a:xfrm>
            <a:off x="6208776" y="228219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9"/>
          <p:cNvSpPr txBox="1"/>
          <p:nvPr/>
        </p:nvSpPr>
        <p:spPr>
          <a:xfrm>
            <a:off x="6483096" y="241935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서랍을 당겨 열어요.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줄다리기 줄을 당겨요.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밀고 당기면 어떻게 될까?</a:t>
            </a:r>
            <a:endParaRPr lang="ko-KR" sz="40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실험하기 전에 예상을 말해요.</a:t>
            </a:r>
            <a:endParaRPr lang="ko-KR" sz="30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5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5632704"/>
                <a:gridCol w="44256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볼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멈춰 있는 지우개를 밀어요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고무줄을 양쪽으로 당겨요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굴러오는 공을 손으로 막아요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스펀지를 손가락으로 눌러요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밀고 당겨 보기</a:t>
            </a:r>
            <a:endParaRPr lang="ko-KR" sz="4000" dirty="0"/>
          </a:p>
        </p:txBody>
      </p:sp>
      <p:sp>
        <p:nvSpPr>
          <p:cNvPr id="3" name="S05-card2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고무줄은 사람 쪽으로 겨누지 말고, 끊어지지 않게 조금만 당겨요.</a:t>
            </a:r>
            <a:endParaRPr lang="ko-KR" sz="3000" dirty="0"/>
          </a:p>
        </p:txBody>
      </p:sp>
      <p:sp>
        <p:nvSpPr>
          <p:cNvPr id="5" name="S05-card26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7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무엇이 바뀌었는지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움직임과 모양을 나누어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결과를 비교해요</a:t>
            </a:r>
            <a:endParaRPr lang="ko-KR" sz="30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 있는 지우개를 손가락으로 밀어요.</a:t>
            </a:r>
            <a:endParaRPr lang="ko-KR" sz="24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살짝, 조금 더 세게 당겨요.</a:t>
            </a:r>
            <a:endParaRPr lang="ko-KR" sz="24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굴러오는 공을 손으로 막아요.</a:t>
            </a:r>
            <a:endParaRPr lang="ko-KR" sz="2400" dirty="0"/>
          </a:p>
        </p:txBody>
      </p:sp>
      <p:sp>
        <p:nvSpPr>
          <p:cNvPr id="13" name="S05-stepno34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5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스펀지를 눌렀다가 놓아요.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결과로 설명해요</a:t>
            </a:r>
            <a:endParaRPr lang="ko-KR" sz="40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결과를 두 가지로 나누어요.</a:t>
            </a:r>
            <a:endParaRPr lang="ko-KR" sz="30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힘을 주면 물체의 움직임이나 모양이 바뀌어요.</a:t>
            </a:r>
            <a:endParaRPr lang="ko-KR" sz="3000" dirty="0"/>
          </a:p>
        </p:txBody>
      </p:sp>
      <p:graphicFrame>
        <p:nvGraphicFramePr>
          <p:cNvPr id="7" name="S06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892808"/>
                <a:gridCol w="546811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지우개 밀기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멈춰 있다가 움직였어요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막기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굴러오다가 멈췄어요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고무줄 당기기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길게 늘어났어요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스펀지 누르기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눌려서 납작해졌어요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바뀌었을까요?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움직임과 모양 중 무엇이 바뀌었나요?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밀거나 당기기 전과 뒤를 견주어요.</a:t>
            </a:r>
            <a:endParaRPr lang="ko-KR" sz="3000" dirty="0"/>
          </a:p>
        </p:txBody>
      </p:sp>
      <p:sp>
        <p:nvSpPr>
          <p:cNvPr id="6" name="S07-chip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4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축구공을 발로 뻥 차요.</a:t>
            </a:r>
            <a:endParaRPr lang="ko-KR" sz="3000" dirty="0"/>
          </a:p>
        </p:txBody>
      </p:sp>
      <p:sp>
        <p:nvSpPr>
          <p:cNvPr id="8" name="S07-chip4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4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찰흙을 손으로 꾹 눌러요.</a:t>
            </a:r>
            <a:endParaRPr lang="ko-KR" sz="3000" dirty="0"/>
          </a:p>
        </p:txBody>
      </p:sp>
      <p:sp>
        <p:nvSpPr>
          <p:cNvPr id="10" name="S07-chip4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4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굴러가는 구슬을 톡 쳐요.</a:t>
            </a:r>
            <a:endParaRPr lang="ko-KR" sz="3000" dirty="0"/>
          </a:p>
        </p:txBody>
      </p:sp>
      <p:sp>
        <p:nvSpPr>
          <p:cNvPr id="12" name="S07-chip4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5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용수철을 양쪽으로 당겨요.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 시소 만들기</a:t>
            </a:r>
            <a:endParaRPr lang="ko-KR" sz="40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15 cm 눈금 아래에 연필을 놓아요.</a:t>
            </a:r>
            <a:endParaRPr lang="ko-KR" sz="3000" dirty="0"/>
          </a:p>
        </p:txBody>
      </p:sp>
      <p:sp>
        <p:nvSpPr>
          <p:cNvPr id="4" name="S08-card52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받침점: 자를 받치는 곳</a:t>
            </a:r>
            <a:endParaRPr lang="ko-KR" sz="3000" dirty="0"/>
          </a:p>
        </p:txBody>
      </p:sp>
      <p:sp>
        <p:nvSpPr>
          <p:cNvPr id="6" name="S08-card54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55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수평: 어느 쪽으로도 기울지 않은 상태</a:t>
            </a:r>
            <a:endParaRPr lang="ko-KR" sz="3000" dirty="0"/>
          </a:p>
        </p:txBody>
      </p:sp>
      <p:sp>
        <p:nvSpPr>
          <p:cNvPr id="8" name="S08-figure56" descr="옆에서 본 자 시소: 30 cm 자의 15 cm 눈금 아래에 받침점(세모)이 있고, 자는 어느 쪽으로도 기울지 않은 수평 상태"/>
          <p:cNvSpPr/>
          <p:nvPr/>
        </p:nvSpPr>
        <p:spPr>
          <a:xfrm>
            <a:off x="640080" y="2843830"/>
            <a:ext cx="10908792" cy="290901"/>
          </a:xfrm>
          <a:custGeom>
            <a:avLst/>
            <a:gdLst/>
            <a:ahLst/>
            <a:cxnLst/>
            <a:rect l="l" t="t" r="r" b="b"/>
            <a:pathLst>
              <a:path w="10908792" h="290901">
                <a:moveTo>
                  <a:pt x="0" y="290901"/>
                </a:moveTo>
                <a:lnTo>
                  <a:pt x="10908792" y="290901"/>
                </a:lnTo>
                <a:lnTo>
                  <a:pt x="109087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8-mark57"/>
          <p:cNvSpPr/>
          <p:nvPr/>
        </p:nvSpPr>
        <p:spPr>
          <a:xfrm>
            <a:off x="5658124" y="3134731"/>
            <a:ext cx="872703" cy="727253"/>
          </a:xfrm>
          <a:custGeom>
            <a:avLst/>
            <a:gdLst/>
            <a:ahLst/>
            <a:cxnLst/>
            <a:rect l="l" t="t" r="r" b="b"/>
            <a:pathLst>
              <a:path w="872703" h="727253">
                <a:moveTo>
                  <a:pt x="436352" y="0"/>
                </a:moveTo>
                <a:lnTo>
                  <a:pt x="0" y="727253"/>
                </a:lnTo>
                <a:lnTo>
                  <a:pt x="872703" y="727253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8-mark58"/>
          <p:cNvSpPr/>
          <p:nvPr/>
        </p:nvSpPr>
        <p:spPr>
          <a:xfrm>
            <a:off x="640080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8-mark59"/>
          <p:cNvSpPr/>
          <p:nvPr/>
        </p:nvSpPr>
        <p:spPr>
          <a:xfrm>
            <a:off x="2458212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8-mark60"/>
          <p:cNvSpPr/>
          <p:nvPr/>
        </p:nvSpPr>
        <p:spPr>
          <a:xfrm>
            <a:off x="4276344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8-mark61"/>
          <p:cNvSpPr/>
          <p:nvPr/>
        </p:nvSpPr>
        <p:spPr>
          <a:xfrm>
            <a:off x="6094476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8-mark62"/>
          <p:cNvSpPr/>
          <p:nvPr/>
        </p:nvSpPr>
        <p:spPr>
          <a:xfrm>
            <a:off x="7912608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8-mark63"/>
          <p:cNvSpPr/>
          <p:nvPr/>
        </p:nvSpPr>
        <p:spPr>
          <a:xfrm>
            <a:off x="9730740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8-mark64"/>
          <p:cNvSpPr/>
          <p:nvPr/>
        </p:nvSpPr>
        <p:spPr>
          <a:xfrm>
            <a:off x="11548872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8-mark65"/>
          <p:cNvSpPr/>
          <p:nvPr/>
        </p:nvSpPr>
        <p:spPr>
          <a:xfrm>
            <a:off x="3549091" y="3861984"/>
            <a:ext cx="509077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8" name="S08-label67"/>
          <p:cNvSpPr txBox="1"/>
          <p:nvPr/>
        </p:nvSpPr>
        <p:spPr>
          <a:xfrm>
            <a:off x="484632" y="228970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8-label69"/>
          <p:cNvSpPr txBox="1"/>
          <p:nvPr/>
        </p:nvSpPr>
        <p:spPr>
          <a:xfrm>
            <a:off x="2302764" y="228970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0" name="S08-label71"/>
          <p:cNvSpPr txBox="1"/>
          <p:nvPr/>
        </p:nvSpPr>
        <p:spPr>
          <a:xfrm>
            <a:off x="4020312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1" name="S08-label73"/>
          <p:cNvSpPr txBox="1"/>
          <p:nvPr/>
        </p:nvSpPr>
        <p:spPr>
          <a:xfrm>
            <a:off x="5838444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400" dirty="0"/>
          </a:p>
        </p:txBody>
      </p:sp>
      <p:sp>
        <p:nvSpPr>
          <p:cNvPr id="22" name="S08-label75"/>
          <p:cNvSpPr txBox="1"/>
          <p:nvPr/>
        </p:nvSpPr>
        <p:spPr>
          <a:xfrm>
            <a:off x="7656576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3" name="S08-label77"/>
          <p:cNvSpPr txBox="1"/>
          <p:nvPr/>
        </p:nvSpPr>
        <p:spPr>
          <a:xfrm>
            <a:off x="9474708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400" dirty="0"/>
          </a:p>
        </p:txBody>
      </p:sp>
      <p:sp>
        <p:nvSpPr>
          <p:cNvPr id="24" name="S08-label79"/>
          <p:cNvSpPr txBox="1"/>
          <p:nvPr/>
        </p:nvSpPr>
        <p:spPr>
          <a:xfrm>
            <a:off x="11292840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5" name="S08-label81"/>
          <p:cNvSpPr txBox="1"/>
          <p:nvPr/>
        </p:nvSpPr>
        <p:spPr>
          <a:xfrm>
            <a:off x="5591556" y="4071473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될지 예상해요</a:t>
            </a:r>
            <a:endParaRPr lang="ko-KR" sz="4000" dirty="0"/>
          </a:p>
        </p:txBody>
      </p:sp>
      <p:sp>
        <p:nvSpPr>
          <p:cNvPr id="3" name="S09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100원짜리 동전으로 실험해요.</a:t>
            </a:r>
            <a:endParaRPr lang="ko-KR" sz="3000" dirty="0"/>
          </a:p>
        </p:txBody>
      </p:sp>
      <p:sp>
        <p:nvSpPr>
          <p:cNvPr id="4" name="S09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거리는 받침점에서 잰 길이예요.</a:t>
            </a:r>
            <a:endParaRPr lang="ko-KR" sz="3000" dirty="0"/>
          </a:p>
        </p:txBody>
      </p:sp>
      <p:graphicFrame>
        <p:nvGraphicFramePr>
          <p:cNvPr id="10" name="S09-table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045208"/>
          <a:ext cx="100584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514600"/>
                <a:gridCol w="2514600"/>
                <a:gridCol w="372160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왼쪽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오른쪽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수평이 되려면?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 시소로 수평 잡기</a:t>
            </a:r>
            <a:endParaRPr lang="ko-KR" sz="4000" dirty="0"/>
          </a:p>
        </p:txBody>
      </p:sp>
      <p:sp>
        <p:nvSpPr>
          <p:cNvPr id="3" name="S10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동전은 입에 넣지 말고, 실험이 끝나면 손을 씻어요.</a:t>
            </a:r>
            <a:endParaRPr lang="ko-KR" sz="3000" dirty="0"/>
          </a:p>
        </p:txBody>
      </p:sp>
      <p:sp>
        <p:nvSpPr>
          <p:cNvPr id="5" name="S10-card8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8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동전 가운데를 눈금에 맞춰요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수평인지, 어느 쪽으로 기우는지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수평이 된 곳을 cm로 써요</a:t>
            </a:r>
            <a:endParaRPr lang="ko-KR" sz="3000" dirty="0"/>
          </a:p>
        </p:txBody>
      </p:sp>
      <p:sp>
        <p:nvSpPr>
          <p:cNvPr id="7" name="S10-stepno90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91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cm 눈금을 연필 위에 올려 수평을 맞춰요.</a:t>
            </a:r>
            <a:endParaRPr lang="ko-KR" sz="2400" dirty="0"/>
          </a:p>
        </p:txBody>
      </p:sp>
      <p:sp>
        <p:nvSpPr>
          <p:cNvPr id="9" name="S10-stepno92"/>
          <p:cNvSpPr txBox="1"/>
          <p:nvPr/>
        </p:nvSpPr>
        <p:spPr>
          <a:xfrm>
            <a:off x="548640" y="2540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93"/>
          <p:cNvSpPr txBox="1"/>
          <p:nvPr/>
        </p:nvSpPr>
        <p:spPr>
          <a:xfrm>
            <a:off x="1325880" y="249478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cm와 25 cm 눈금에 동전을 1개씩 놓아요.</a:t>
            </a:r>
            <a:endParaRPr lang="ko-KR" sz="2400" dirty="0"/>
          </a:p>
        </p:txBody>
      </p:sp>
      <p:sp>
        <p:nvSpPr>
          <p:cNvPr id="11" name="S10-stepno94"/>
          <p:cNvSpPr txBox="1"/>
          <p:nvPr/>
        </p:nvSpPr>
        <p:spPr>
          <a:xfrm>
            <a:off x="548640" y="3403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95"/>
          <p:cNvSpPr txBox="1"/>
          <p:nvPr/>
        </p:nvSpPr>
        <p:spPr>
          <a:xfrm>
            <a:off x="1325880" y="3403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동전을 2개로 바꿔요.</a:t>
            </a:r>
            <a:endParaRPr lang="ko-KR" sz="2400" dirty="0"/>
          </a:p>
        </p:txBody>
      </p:sp>
      <p:sp>
        <p:nvSpPr>
          <p:cNvPr id="13" name="S10-stepno96"/>
          <p:cNvSpPr txBox="1"/>
          <p:nvPr/>
        </p:nvSpPr>
        <p:spPr>
          <a:xfrm>
            <a:off x="548640" y="4162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0-text97"/>
          <p:cNvSpPr txBox="1"/>
          <p:nvPr/>
        </p:nvSpPr>
        <p:spPr>
          <a:xfrm>
            <a:off x="1325880" y="411632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2개를 받침점 쪽으로 옮기며 수평을 찾아요.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 잡기 결과</a:t>
            </a:r>
            <a:endParaRPr lang="ko-KR" sz="4000" dirty="0"/>
          </a:p>
        </p:txBody>
      </p:sp>
      <p:sp>
        <p:nvSpPr>
          <p:cNvPr id="3" name="S11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물체를 받침점에 더 가까이 놓으면 수평이 돼요.</a:t>
            </a:r>
            <a:endParaRPr lang="ko-KR" sz="3000" dirty="0"/>
          </a:p>
        </p:txBody>
      </p:sp>
      <p:sp>
        <p:nvSpPr>
          <p:cNvPr id="5" name="S11-card100"/>
          <p:cNvSpPr/>
          <p:nvPr/>
        </p:nvSpPr>
        <p:spPr>
          <a:xfrm>
            <a:off x="548640" y="339699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101"/>
          <p:cNvSpPr txBox="1"/>
          <p:nvPr/>
        </p:nvSpPr>
        <p:spPr>
          <a:xfrm>
            <a:off x="822960" y="353415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1개와 1개, 같은 거리 → 수평</a:t>
            </a:r>
            <a:endParaRPr lang="ko-KR" sz="3000" dirty="0"/>
          </a:p>
        </p:txBody>
      </p:sp>
      <p:sp>
        <p:nvSpPr>
          <p:cNvPr id="7" name="S11-card102"/>
          <p:cNvSpPr/>
          <p:nvPr/>
        </p:nvSpPr>
        <p:spPr>
          <a:xfrm>
            <a:off x="4322064" y="339699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103"/>
          <p:cNvSpPr txBox="1"/>
          <p:nvPr/>
        </p:nvSpPr>
        <p:spPr>
          <a:xfrm>
            <a:off x="4596384" y="353415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2개와 1개, 같은 거리 → 2개 쪽이 내려가요</a:t>
            </a:r>
            <a:endParaRPr lang="ko-KR" sz="3000" dirty="0"/>
          </a:p>
        </p:txBody>
      </p:sp>
      <p:sp>
        <p:nvSpPr>
          <p:cNvPr id="9" name="S11-card104"/>
          <p:cNvSpPr/>
          <p:nvPr/>
        </p:nvSpPr>
        <p:spPr>
          <a:xfrm>
            <a:off x="8095488" y="339699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105"/>
          <p:cNvSpPr txBox="1"/>
          <p:nvPr/>
        </p:nvSpPr>
        <p:spPr>
          <a:xfrm>
            <a:off x="8369808" y="353415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2개를 더 가까이 → 수평</a:t>
            </a:r>
            <a:endParaRPr lang="ko-KR" sz="3000" dirty="0"/>
          </a:p>
        </p:txBody>
      </p:sp>
      <p:sp>
        <p:nvSpPr>
          <p:cNvPr id="11" name="S11-figure106" descr="실험 ③ 결과: 받침점에서 왼쪽 5 cm에 동전 2개, 오른쪽 10 cm에 동전 1개를 놓았더니 자가 수평이 됨"/>
          <p:cNvSpPr/>
          <p:nvPr/>
        </p:nvSpPr>
        <p:spPr>
          <a:xfrm>
            <a:off x="3199762" y="2324330"/>
            <a:ext cx="5789428" cy="154385"/>
          </a:xfrm>
          <a:custGeom>
            <a:avLst/>
            <a:gdLst/>
            <a:ahLst/>
            <a:cxnLst/>
            <a:rect l="l" t="t" r="r" b="b"/>
            <a:pathLst>
              <a:path w="5789428" h="154385">
                <a:moveTo>
                  <a:pt x="0" y="154385"/>
                </a:moveTo>
                <a:lnTo>
                  <a:pt x="5789428" y="154385"/>
                </a:lnTo>
                <a:lnTo>
                  <a:pt x="5789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1-mark107"/>
          <p:cNvSpPr/>
          <p:nvPr/>
        </p:nvSpPr>
        <p:spPr>
          <a:xfrm>
            <a:off x="4897994" y="2169946"/>
            <a:ext cx="463154" cy="154385"/>
          </a:xfrm>
          <a:custGeom>
            <a:avLst/>
            <a:gdLst/>
            <a:ahLst/>
            <a:cxnLst/>
            <a:rect l="l" t="t" r="r" b="b"/>
            <a:pathLst>
              <a:path w="463154" h="154385">
                <a:moveTo>
                  <a:pt x="0" y="154385"/>
                </a:moveTo>
                <a:lnTo>
                  <a:pt x="463154" y="154385"/>
                </a:lnTo>
                <a:lnTo>
                  <a:pt x="463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mark108"/>
          <p:cNvSpPr/>
          <p:nvPr/>
        </p:nvSpPr>
        <p:spPr>
          <a:xfrm>
            <a:off x="4897994" y="2015561"/>
            <a:ext cx="463154" cy="154385"/>
          </a:xfrm>
          <a:custGeom>
            <a:avLst/>
            <a:gdLst/>
            <a:ahLst/>
            <a:cxnLst/>
            <a:rect l="l" t="t" r="r" b="b"/>
            <a:pathLst>
              <a:path w="463154" h="154385">
                <a:moveTo>
                  <a:pt x="0" y="154385"/>
                </a:moveTo>
                <a:lnTo>
                  <a:pt x="463154" y="154385"/>
                </a:lnTo>
                <a:lnTo>
                  <a:pt x="463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mark109"/>
          <p:cNvSpPr/>
          <p:nvPr/>
        </p:nvSpPr>
        <p:spPr>
          <a:xfrm>
            <a:off x="7792708" y="2169946"/>
            <a:ext cx="463154" cy="154385"/>
          </a:xfrm>
          <a:custGeom>
            <a:avLst/>
            <a:gdLst/>
            <a:ahLst/>
            <a:cxnLst/>
            <a:rect l="l" t="t" r="r" b="b"/>
            <a:pathLst>
              <a:path w="463154" h="154385">
                <a:moveTo>
                  <a:pt x="0" y="154385"/>
                </a:moveTo>
                <a:lnTo>
                  <a:pt x="463154" y="154385"/>
                </a:lnTo>
                <a:lnTo>
                  <a:pt x="463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mark110"/>
          <p:cNvSpPr/>
          <p:nvPr/>
        </p:nvSpPr>
        <p:spPr>
          <a:xfrm>
            <a:off x="5862899" y="2478715"/>
            <a:ext cx="463154" cy="385962"/>
          </a:xfrm>
          <a:custGeom>
            <a:avLst/>
            <a:gdLst/>
            <a:ahLst/>
            <a:cxnLst/>
            <a:rect l="l" t="t" r="r" b="b"/>
            <a:pathLst>
              <a:path w="463154" h="385962">
                <a:moveTo>
                  <a:pt x="231577" y="0"/>
                </a:moveTo>
                <a:lnTo>
                  <a:pt x="0" y="385962"/>
                </a:lnTo>
                <a:lnTo>
                  <a:pt x="463154" y="385962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1-mark111"/>
          <p:cNvSpPr/>
          <p:nvPr/>
        </p:nvSpPr>
        <p:spPr>
          <a:xfrm>
            <a:off x="5129571" y="1591003"/>
            <a:ext cx="964905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17" name="S11-mark112"/>
          <p:cNvSpPr/>
          <p:nvPr/>
        </p:nvSpPr>
        <p:spPr>
          <a:xfrm flipH="1">
            <a:off x="6094476" y="1591003"/>
            <a:ext cx="1929809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18" name="S11-mark113"/>
          <p:cNvSpPr/>
          <p:nvPr/>
        </p:nvSpPr>
        <p:spPr>
          <a:xfrm flipV="1">
            <a:off x="6094476" y="1475214"/>
            <a:ext cx="0" cy="791222"/>
          </a:xfrm>
          <a:prstGeom prst="line">
            <a:avLst/>
          </a:prstGeom>
          <a:noFill/>
          <a:ln w="15875">
            <a:solidFill>
              <a:srgbClr val="3D5A80"/>
            </a:solidFill>
            <a:prstDash val="dash"/>
          </a:ln>
        </p:spPr>
      </p:sp>
      <p:sp>
        <p:nvSpPr>
          <p:cNvPr id="19" name="S11-mark114"/>
          <p:cNvSpPr/>
          <p:nvPr/>
        </p:nvSpPr>
        <p:spPr>
          <a:xfrm>
            <a:off x="4743609" y="2864677"/>
            <a:ext cx="2701733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1-label116"/>
          <p:cNvSpPr txBox="1"/>
          <p:nvPr/>
        </p:nvSpPr>
        <p:spPr>
          <a:xfrm>
            <a:off x="4480347" y="1632080"/>
            <a:ext cx="12984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2개</a:t>
            </a:r>
            <a:endParaRPr lang="ko-KR" sz="2400" dirty="0"/>
          </a:p>
        </p:txBody>
      </p:sp>
      <p:sp>
        <p:nvSpPr>
          <p:cNvPr id="21" name="S11-label118"/>
          <p:cNvSpPr txBox="1"/>
          <p:nvPr/>
        </p:nvSpPr>
        <p:spPr>
          <a:xfrm>
            <a:off x="5200544" y="122682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22" name="S11-label120"/>
          <p:cNvSpPr txBox="1"/>
          <p:nvPr/>
        </p:nvSpPr>
        <p:spPr>
          <a:xfrm>
            <a:off x="7375061" y="1786465"/>
            <a:ext cx="12984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1개</a:t>
            </a:r>
            <a:endParaRPr lang="ko-KR" sz="2400" dirty="0"/>
          </a:p>
        </p:txBody>
      </p:sp>
      <p:sp>
        <p:nvSpPr>
          <p:cNvPr id="23" name="S11-label122"/>
          <p:cNvSpPr txBox="1"/>
          <p:nvPr/>
        </p:nvSpPr>
        <p:spPr>
          <a:xfrm>
            <a:off x="6547317" y="1226820"/>
            <a:ext cx="10241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</a:t>
            </a:r>
            <a:endParaRPr lang="ko-KR" sz="2400" dirty="0"/>
          </a:p>
        </p:txBody>
      </p:sp>
      <p:sp>
        <p:nvSpPr>
          <p:cNvPr id="24" name="S11-label124"/>
          <p:cNvSpPr txBox="1"/>
          <p:nvPr/>
        </p:nvSpPr>
        <p:spPr>
          <a:xfrm>
            <a:off x="5591556" y="2886456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시소를 탈 때</a:t>
            </a:r>
            <a:endParaRPr lang="ko-KR" sz="4000" dirty="0"/>
          </a:p>
        </p:txBody>
      </p:sp>
      <p:sp>
        <p:nvSpPr>
          <p:cNvPr id="3" name="S12-card1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아이가 시소를 타요. 아빠가 더 무거워요.</a:t>
            </a:r>
            <a:endParaRPr lang="ko-KR" sz="3000" dirty="0"/>
          </a:p>
        </p:txBody>
      </p:sp>
      <p:sp>
        <p:nvSpPr>
          <p:cNvPr id="5" name="S12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수평을 잡기 쉬울까요? 왜 그럴까요?</a:t>
            </a:r>
            <a:endParaRPr lang="ko-KR" sz="3000" dirty="0"/>
          </a:p>
        </p:txBody>
      </p:sp>
      <p:sp>
        <p:nvSpPr>
          <p:cNvPr id="7" name="S12-chip1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2-text1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받침점 가까이 앉아요.</a:t>
            </a:r>
            <a:endParaRPr lang="ko-KR" sz="3000" dirty="0"/>
          </a:p>
        </p:txBody>
      </p:sp>
      <p:sp>
        <p:nvSpPr>
          <p:cNvPr id="9" name="S12-chip1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2-text1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시소 끝에 앉아요.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3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실험한 결과를 떠올려 보고 까닭도 말해요.</a:t>
            </a:r>
            <a:endParaRPr lang="ko-KR" sz="3000" dirty="0"/>
          </a:p>
        </p:txBody>
      </p:sp>
      <p:sp>
        <p:nvSpPr>
          <p:cNvPr id="5" name="S13-chip1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3-text13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세게 당기면 무엇이 바뀌나요?</a:t>
            </a:r>
            <a:endParaRPr lang="ko-KR" sz="3000" dirty="0"/>
          </a:p>
        </p:txBody>
      </p:sp>
      <p:sp>
        <p:nvSpPr>
          <p:cNvPr id="7" name="S13-chip13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3-text13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굴러가는 공을 손으로 막으면 무엇이 바뀌나요?</a:t>
            </a:r>
            <a:endParaRPr lang="ko-KR" sz="3000" dirty="0"/>
          </a:p>
        </p:txBody>
      </p:sp>
      <p:sp>
        <p:nvSpPr>
          <p:cNvPr id="9" name="S13-chip13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3-text14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동전 1개씩을 받침점에서 같은 거리에 놓으면?</a:t>
            </a:r>
            <a:endParaRPr lang="ko-KR" sz="3000" dirty="0"/>
          </a:p>
        </p:txBody>
      </p:sp>
      <p:sp>
        <p:nvSpPr>
          <p:cNvPr id="11" name="S13-chip141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3-text142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무게가 다른 두 물체로 수평을 잡으려면?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4-card1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 시소나 고무줄로 다시 해 보고 결과로 고쳐요.</a:t>
            </a:r>
            <a:endParaRPr lang="ko-KR" sz="3000" dirty="0"/>
          </a:p>
        </p:txBody>
      </p:sp>
      <p:sp>
        <p:nvSpPr>
          <p:cNvPr id="5" name="S14-chip14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4-text146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모양</a:t>
            </a:r>
            <a:endParaRPr lang="ko-KR" sz="3000" dirty="0"/>
          </a:p>
        </p:txBody>
      </p:sp>
      <p:sp>
        <p:nvSpPr>
          <p:cNvPr id="7" name="S14-text147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늘어나요</a:t>
            </a:r>
            <a:endParaRPr lang="ko-KR" sz="2400" dirty="0"/>
          </a:p>
        </p:txBody>
      </p:sp>
      <p:sp>
        <p:nvSpPr>
          <p:cNvPr id="8" name="S14-text148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움직임</a:t>
            </a:r>
            <a:endParaRPr lang="ko-KR" sz="3000" dirty="0"/>
          </a:p>
        </p:txBody>
      </p:sp>
      <p:sp>
        <p:nvSpPr>
          <p:cNvPr id="9" name="S14-text149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멈춰요</a:t>
            </a:r>
            <a:endParaRPr lang="ko-KR" sz="2400" dirty="0"/>
          </a:p>
        </p:txBody>
      </p:sp>
      <p:sp>
        <p:nvSpPr>
          <p:cNvPr id="10" name="S14-text150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수평</a:t>
            </a:r>
            <a:endParaRPr lang="ko-KR" sz="3000" dirty="0"/>
          </a:p>
        </p:txBody>
      </p:sp>
      <p:sp>
        <p:nvSpPr>
          <p:cNvPr id="11" name="S14-text151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거리</a:t>
            </a:r>
            <a:endParaRPr lang="ko-KR" sz="2400" dirty="0"/>
          </a:p>
        </p:txBody>
      </p:sp>
      <p:sp>
        <p:nvSpPr>
          <p:cNvPr id="12" name="S14-text152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가까이</a:t>
            </a:r>
            <a:endParaRPr lang="ko-KR" sz="3000" dirty="0"/>
          </a:p>
        </p:txBody>
      </p:sp>
      <p:sp>
        <p:nvSpPr>
          <p:cNvPr id="13" name="S14-text153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쪽을</a:t>
            </a:r>
            <a:endParaRPr lang="ko-KR" sz="2400" dirty="0"/>
          </a:p>
        </p:txBody>
      </p:sp>
      <p:sp>
        <p:nvSpPr>
          <p:cNvPr id="14" name="S14-chip15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4-text15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움직임</a:t>
            </a:r>
            <a:endParaRPr lang="ko-KR" sz="3000" dirty="0"/>
          </a:p>
        </p:txBody>
      </p:sp>
      <p:sp>
        <p:nvSpPr>
          <p:cNvPr id="16" name="S14-text15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늘어난 것은 모양이 바뀐 거예요</a:t>
            </a:r>
            <a:endParaRPr lang="ko-KR" sz="2400" dirty="0"/>
          </a:p>
        </p:txBody>
      </p:sp>
      <p:sp>
        <p:nvSpPr>
          <p:cNvPr id="17" name="S14-text15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무거운 쪽을 멀리</a:t>
            </a:r>
            <a:endParaRPr lang="ko-KR" sz="3000" dirty="0"/>
          </a:p>
        </p:txBody>
      </p:sp>
      <p:sp>
        <p:nvSpPr>
          <p:cNvPr id="18" name="S14-text15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많이 내려가요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무거울까요?</a:t>
            </a:r>
            <a:endParaRPr lang="ko-KR" sz="4000" dirty="0"/>
          </a:p>
        </p:txBody>
      </p:sp>
      <p:sp>
        <p:nvSpPr>
          <p:cNvPr id="3" name="S15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받침점에서 같은 거리에 놓았어요.</a:t>
            </a:r>
            <a:endParaRPr lang="ko-KR" sz="3000" dirty="0"/>
          </a:p>
        </p:txBody>
      </p:sp>
      <p:sp>
        <p:nvSpPr>
          <p:cNvPr id="4" name="S15-figure160" descr="받침점에서 같은 거리(양쪽 10 cm)에 지우개와 딱풀을 놓았더니 지우개 쪽(왼쪽) 끝이 책상에 닿을 만큼 아래로 기울어짐"/>
          <p:cNvSpPr/>
          <p:nvPr/>
        </p:nvSpPr>
        <p:spPr>
          <a:xfrm>
            <a:off x="6535044" y="3872793"/>
            <a:ext cx="4830259" cy="775555"/>
          </a:xfrm>
          <a:custGeom>
            <a:avLst/>
            <a:gdLst/>
            <a:ahLst/>
            <a:cxnLst/>
            <a:rect l="l" t="t" r="r" b="b"/>
            <a:pathLst>
              <a:path w="4830259" h="775555">
                <a:moveTo>
                  <a:pt x="17321" y="775555"/>
                </a:moveTo>
                <a:lnTo>
                  <a:pt x="4830259" y="128369"/>
                </a:lnTo>
                <a:lnTo>
                  <a:pt x="4813100" y="0"/>
                </a:lnTo>
                <a:lnTo>
                  <a:pt x="0" y="647348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" name="S15-mark161"/>
          <p:cNvSpPr/>
          <p:nvPr/>
        </p:nvSpPr>
        <p:spPr>
          <a:xfrm>
            <a:off x="7032169" y="4134873"/>
            <a:ext cx="577740" cy="314042"/>
          </a:xfrm>
          <a:custGeom>
            <a:avLst/>
            <a:gdLst/>
            <a:ahLst/>
            <a:cxnLst/>
            <a:rect l="l" t="t" r="r" b="b"/>
            <a:pathLst>
              <a:path w="577740" h="314042">
                <a:moveTo>
                  <a:pt x="32375" y="314042"/>
                </a:moveTo>
                <a:lnTo>
                  <a:pt x="577740" y="240550"/>
                </a:lnTo>
                <a:lnTo>
                  <a:pt x="545365" y="0"/>
                </a:lnTo>
                <a:lnTo>
                  <a:pt x="0" y="73330"/>
                </a:lnTo>
                <a:close/>
              </a:path>
            </a:pathLst>
          </a:custGeom>
          <a:solidFill>
            <a:srgbClr val="3D5A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mark162"/>
          <p:cNvSpPr/>
          <p:nvPr/>
        </p:nvSpPr>
        <p:spPr>
          <a:xfrm>
            <a:off x="10361501" y="3546287"/>
            <a:ext cx="312747" cy="451638"/>
          </a:xfrm>
          <a:custGeom>
            <a:avLst/>
            <a:gdLst/>
            <a:ahLst/>
            <a:cxnLst/>
            <a:rect l="l" t="t" r="r" b="b"/>
            <a:pathLst>
              <a:path w="312747" h="451638">
                <a:moveTo>
                  <a:pt x="56010" y="451638"/>
                </a:moveTo>
                <a:lnTo>
                  <a:pt x="312747" y="417158"/>
                </a:lnTo>
                <a:lnTo>
                  <a:pt x="256576" y="0"/>
                </a:lnTo>
                <a:lnTo>
                  <a:pt x="0" y="34480"/>
                </a:lnTo>
                <a:close/>
              </a:path>
            </a:pathLst>
          </a:custGeom>
          <a:solidFill>
            <a:srgbClr val="3D5A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163"/>
          <p:cNvSpPr/>
          <p:nvPr/>
        </p:nvSpPr>
        <p:spPr>
          <a:xfrm>
            <a:off x="8764581" y="4324755"/>
            <a:ext cx="388506" cy="323755"/>
          </a:xfrm>
          <a:custGeom>
            <a:avLst/>
            <a:gdLst/>
            <a:ahLst/>
            <a:cxnLst/>
            <a:rect l="l" t="t" r="r" b="b"/>
            <a:pathLst>
              <a:path w="388506" h="323755">
                <a:moveTo>
                  <a:pt x="194253" y="0"/>
                </a:moveTo>
                <a:lnTo>
                  <a:pt x="0" y="323755"/>
                </a:lnTo>
                <a:lnTo>
                  <a:pt x="388506" y="323755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15-mark164"/>
          <p:cNvSpPr/>
          <p:nvPr/>
        </p:nvSpPr>
        <p:spPr>
          <a:xfrm>
            <a:off x="6368796" y="4648510"/>
            <a:ext cx="51800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5-label166"/>
          <p:cNvSpPr txBox="1"/>
          <p:nvPr/>
        </p:nvSpPr>
        <p:spPr>
          <a:xfrm>
            <a:off x="6780321" y="3820537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2400" dirty="0"/>
          </a:p>
        </p:txBody>
      </p:sp>
      <p:sp>
        <p:nvSpPr>
          <p:cNvPr id="10" name="S15-label168"/>
          <p:cNvSpPr txBox="1"/>
          <p:nvPr/>
        </p:nvSpPr>
        <p:spPr>
          <a:xfrm>
            <a:off x="10114611" y="321252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2400" dirty="0"/>
          </a:p>
        </p:txBody>
      </p:sp>
      <p:sp>
        <p:nvSpPr>
          <p:cNvPr id="11" name="S15-label170"/>
          <p:cNvSpPr txBox="1"/>
          <p:nvPr/>
        </p:nvSpPr>
        <p:spPr>
          <a:xfrm>
            <a:off x="8455914" y="4636075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</a:t>
            </a:r>
            <a:endParaRPr lang="ko-KR" sz="2400" dirty="0"/>
          </a:p>
        </p:txBody>
      </p:sp>
      <p:sp>
        <p:nvSpPr>
          <p:cNvPr id="12" name="S15-chip17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3" name="S15-text17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무거운 것은 무엇인가요?</a:t>
            </a:r>
            <a:endParaRPr lang="ko-KR" sz="3000" dirty="0"/>
          </a:p>
        </p:txBody>
      </p:sp>
      <p:sp>
        <p:nvSpPr>
          <p:cNvPr id="14" name="S15-chip17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15-text17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수평을 잡으려면 지우개를 어느 쪽으로 옮길까요?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7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7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힘을 주면 움직임이나 모양이 바뀌어요.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물체를 받침점 가까이 놓으면 수평이 돼요.</a:t>
            </a:r>
            <a:endParaRPr lang="ko-KR" sz="3000" dirty="0"/>
          </a:p>
        </p:txBody>
      </p:sp>
      <p:sp>
        <p:nvSpPr>
          <p:cNvPr id="5" name="S16-chip17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받침점에서 거리 재기</a:t>
            </a:r>
            <a:endParaRPr lang="ko-KR" sz="2400" dirty="0"/>
          </a:p>
        </p:txBody>
      </p:sp>
      <p:sp>
        <p:nvSpPr>
          <p:cNvPr id="6" name="S16-chip17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무거운 쪽을 멀리 놓기</a:t>
            </a:r>
            <a:endParaRPr lang="ko-KR" sz="2400" dirty="0"/>
          </a:p>
        </p:txBody>
      </p:sp>
      <p:sp>
        <p:nvSpPr>
          <p:cNvPr id="7" name="S16-text17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8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물체를 밀거나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당기는 것은?</a:t>
            </a:r>
            <a:endParaRPr lang="ko-KR" sz="2400" dirty="0"/>
          </a:p>
        </p:txBody>
      </p:sp>
      <p:sp>
        <p:nvSpPr>
          <p:cNvPr id="9" name="S16-text18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굴러가는 공을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막으면?</a:t>
            </a:r>
            <a:endParaRPr lang="ko-KR" sz="2400" dirty="0"/>
          </a:p>
        </p:txBody>
      </p:sp>
      <p:sp>
        <p:nvSpPr>
          <p:cNvPr id="10" name="S16-text18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무거운 물체는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 어디에?</a:t>
            </a:r>
            <a:endParaRPr lang="ko-KR" sz="2400" dirty="0"/>
          </a:p>
        </p:txBody>
      </p:sp>
      <p:sp>
        <p:nvSpPr>
          <p:cNvPr id="11" name="S16-text18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소리의 성질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손으로 무게 비교</a:t>
            </a:r>
            <a:endParaRPr lang="ko-KR" sz="4000" dirty="0"/>
          </a:p>
        </p:txBody>
      </p:sp>
      <p:sp>
        <p:nvSpPr>
          <p:cNvPr id="3" name="S17-text1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지우개와 딱풀을 양손에 하나씩 들어요.</a:t>
            </a:r>
            <a:endParaRPr lang="ko-KR" sz="3000" dirty="0"/>
          </a:p>
        </p:txBody>
      </p:sp>
      <p:sp>
        <p:nvSpPr>
          <p:cNvPr id="4" name="S17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해 보기 전의 생각, 결과는 해 본 뒤 알게 된 것이에요.</a:t>
            </a:r>
            <a:endParaRPr lang="ko-KR" sz="3000" dirty="0"/>
          </a:p>
        </p:txBody>
      </p:sp>
      <p:sp>
        <p:nvSpPr>
          <p:cNvPr id="6" name="S17-stepno187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7-text188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예상해요. “어느 쪽이 더 무거울까?”</a:t>
            </a:r>
            <a:endParaRPr lang="ko-KR" sz="3000" dirty="0"/>
          </a:p>
        </p:txBody>
      </p:sp>
      <p:sp>
        <p:nvSpPr>
          <p:cNvPr id="8" name="S17-stepno189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7-text190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양손에 들고 눈을 감아 봐요.</a:t>
            </a:r>
            <a:endParaRPr lang="ko-KR" sz="3000" dirty="0"/>
          </a:p>
        </p:txBody>
      </p:sp>
      <p:sp>
        <p:nvSpPr>
          <p:cNvPr id="10" name="S17-stepno191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7-text192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무거운 쪽 손이 아래로 내려가요.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밀기·당기기와 수평 잡기</dc:title>
  <dc:subject>KR22-G03-SCI-PUSHPULL-L01</dc:subject>
  <dc:creator>education-ppt</dc:creator>
  <cp:lastModifiedBy>education-ppt</cp:lastModifiedBy>
  <cp:revision>1</cp:revision>
  <dcterms:created xsi:type="dcterms:W3CDTF">2026-10-26T09:28:08Z</dcterms:created>
  <dcterms:modified xsi:type="dcterms:W3CDTF">2026-10-26T09:28:08Z</dcterms:modified>
</cp:coreProperties>
</file>