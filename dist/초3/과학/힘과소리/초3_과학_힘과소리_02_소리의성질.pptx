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fa7c206-6b7b-b13b-9a6f-5e2da49d4e66}">
          <p14:sldIdLst>
            <p14:sldId id="256"/>
            <p14:sldId id="257"/>
          </p14:sldIdLst>
        </p14:section>
        <p14:section name="개념" id="{7645c7e3-901a-8619-150e-cba05ffce4ca}">
          <p14:sldIdLst>
            <p14:sldId id="258"/>
            <p14:sldId id="259"/>
            <p14:sldId id="260"/>
            <p14:sldId id="261"/>
            <p14:sldId id="266"/>
          </p14:sldIdLst>
        </p14:section>
        <p14:section name="연습" id="{38846a42-f6fe-35e5-af78-ca4ff4bdb630}">
          <p14:sldIdLst>
            <p14:sldId id="262"/>
            <p14:sldId id="263"/>
            <p14:sldId id="264"/>
            <p14:sldId id="265"/>
            <p14:sldId id="267"/>
            <p14:sldId id="268"/>
          </p14:sldIdLst>
        </p14:section>
        <p14:section name="개념" id="{a3f43179-44b1-8112-dbbd-59f0e5f9f292}">
          <p14:sldIdLst/>
        </p14:section>
        <p14:section name="연습" id="{ea55f73f-a311-f995-f9ca-d01a7604e67b}">
          <p14:sldIdLst/>
        </p14:section>
        <p14:section name="확인" id="{571a5367-d53a-c15f-0421-fac626e17da2}">
          <p14:sldIdLst>
            <p14:sldId id="269"/>
            <p14:sldId id="270"/>
          </p14:sldIdLst>
        </p14:section>
        <p14:section name="정리" id="{f63e4fb6-b516-c685-f830-4a5cbd3212d8}">
          <p14:sldIdLst>
            <p14:sldId id="271"/>
          </p14:sldIdLst>
        </p14:section>
        <p14:section name="보충" id="{963db9c2-e61c-0eea-51a1-7f3d50da4035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오늘의 질문을 던지고, 소리를 실험으로 알아보는 수업이라는 것을 알립니다.
시간: 약 2분
이렇게 말해 보세요
- “우리 주변에는 큰 소리, 작은 소리, 높은 소리, 낮은 소리가 있지? 소리는 어떻게 생길까? 그리고 어떻게 내 귀까지 올까?”
- “오늘은 자와 고무줄로 소리를 내 보고, 종이컵 전화기도 만들어 볼 거야.”
예상 답
- “입에서 나와요.” “공기로 와요.” “잘 모르겠어요.”
주의
- 종이컵 전화기는 수업 전에 부모가 만들어 두면 시간이 절약됩니다: 종이컵 바닥 가운데에 이쑤시개로 작은 구멍을 뚫고, 실(약 3 m)을 컵 바깥에서 안쪽으로 꿰어 클립에 묶습니다. 다른 컵도 같은 방법으로 잇습니다.
- 아이의 생각을 고치지 말고 들어 둡니다. 실험으로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확인(지난 시간, 예상과 결과)]
목적: 앞 차시 ‘밀기·당기기와 수평 잡기’(KR22-G03-SCI-PUSHPULL-L01)에서 한 실험(힘이 크면 변화가 큼, 예상과 결과 구별)과 생활 속 큰 소리·작은 소리를 확인합니다.
시간: 약 2분
이렇게 말해 보세요
- “① 지난 시간에 고무줄을 세게 당기니까 어떻게 됐지?”
- “② 아직 해 보지 않고 미리 생각한 걸까, 해 보고 안 걸까?”
- “③ 손뼉을 직접 쳐 볼까?”
정답
- ① 세게 당기면 더 많이 늘어났다
- ② 예상
- ③ 세게 칠 때
막히면
- ①②가 어려우면 앞 차시 S06(결과로 설명해요)을 다시 봅니다.
- ③이 어려우면 S17(보충)을 먼저 하여 큰 소리·작은 소리를 몸으로 나타내 봅니다.
주의
- ③에서 ‘세게 치면 높은 소리’라고 말해도 지금은 고치지 않습니다. S05와 S10에서 다룹니다(오해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소리가 날 때의 떨림 관찰]
목적: 소리가 나는 물체를 손으로 느끼고 눈으로 보며 떨림을 관찰하고, 활동지 1에 기록합니다(목표 A).
시간: 약 3분
이렇게 말해 보세요
- “해 보기 전에 예상해 볼까? 소리를 낼 때 목은 어떻게 될 것 같아?”
- “이제 목에 손을 대고 ‘아—’ 해 봐. 손에 무엇이 느껴져?”
- “고무줄을 튕겨 봐. 고무줄이 어떻게 움직여? 손가락으로 잡으면 소리는 어떻게 돼?”
예상 답
- “목이 떨려요.” “부르르 해요.” “고무줄이 흔들려요.” “잡으니까 소리가 멈췄어요.”
막히면
- 고무줄이 잘 안 보이면 빈 휴지 상자의 구멍 위로 고무줄을 걸어 튕깁니다.
- 떨림을 느끼기 어려우면 소리를 조금 더 크게 내거나 손바닥 전체를 목에 댑니다.
주의
- 안전: 고무줄을 얼굴 가까이에서 튕기지 않고, 너무 세게 당기지 않습니다.
- ‘떨림’은 물체가 빠르게 왔다 갔다 흔들리는 것이라고 쉬운 말로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결과 정리(소리와 떨림)]
목적: 관찰한 결과를 모아 ‘소리가 나는 물체는 떨린다’고 정리합니다(목표 A).
시간: 약 2분
이렇게 말해 보세요
- “목과 고무줄에서 같은 점이 있었어?”
- “고무줄을 잡았을 때 소리가 멈춘 까닭은 뭘까?”
예상 답
- “둘 다 떨렸어요.” “떨림이 멈춰서 소리도 멈췄어요.”
막히면
- S03의 고무줄 튕기기를 한 번 더 하고, 잡기 전과 뒤를 견주게 합니다.
주의
- 이 장은 S03에서 직접 관찰한 뒤에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소리의 세기와 높낮이의 뜻]
목적: 교과서 용어 ‘소리의 세기’와 ‘소리의 높낮이’의 뜻을 알려 주고, 둘이 다르다는 것을 소리로 들려줍니다(목표 A, 오해 M1).
시간: 약 2분
이렇게 말해 보세요
- “엄마(아빠)가 ‘아—’를 같은 높이로 크게, 작게 내 볼게. 무엇이 달라졌어? 이게 소리의 세기야.”
- “이번에는 같은 크기로 높게, 낮게 내 볼게. 이게 소리의 높낮이야.”
- “크고 작으면 두 팔을 넓게·좁게, 높고 낮으면 손을 위·아래로 해 볼까?”
예상 답
- “크게, 작게가 달라졌어요.” “높게, 낮게가 달라졌어요.”
막히면
- S17(보충)의 몸으로 나타내기를 먼저 해 봅니다.
- 피아노 앱이나 실로폰이 있으면 같은 건반을 세게·약하게, 오른쪽·왼쪽 건반을 쳐서 들려줍니다.
주의
- ‘소리를 높여 줘’라는 말이 생활에서는 ‘크게 해 줘’라는 뜻으로 쓰여 아이가 헷갈릴 수 있습니다. 과학에서는 크고 작음은 ‘세기’, 높고 낮음은 ‘높낮이’로 구별한다고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예상하기(자 튕기기)]
목적: 자 튕기기 실험의 결과를 미리 예상하게 합니다(목표 A).
시간: 약 2분
이렇게 말해 보세요
- “자를 살짝 튕길 때와 세게 튕길 때, 어느 쪽이 더 큰 소리가 날까?”
- “책상 밖으로 길게 나왔을 때와 짧게 나왔을 때, 어느 쪽이 더 높은 소리가 날까?”
- “활동지 2의 ‘내 예상’ 칸에 써 줘.”
예상 답
- “세게 튕기면 큰 소리가 날 것 같아요.” “길면 높은 소리가 날 것 같아요.”(틀린 예상이어도 그대로 씁니다)
막히면
- “고무줄을 세게 당기면 더 많이 늘어났지? 자를 세게 튕기면?”처럼 지난 시간 결과를 떠올리게 합니다.
주의
- 한 번에 한 가지만 바꾸는 까닭: 세기와 길이를 함께 바꾸면 무엇 때문에 소리가 달라졌는지 알 수 없습니다.
- 이 장에서는 결과를 알려 주지 않습니다. 결과는 S08에서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자 튕기기 실험]
목적: 자 튕기기로 소리의 세기와 높낮이를 바꾸어 보고, 결과를 활동지 2에 기록합니다(목표 A).
시간: 약 5분
이렇게 말해 보세요
- “자의 20 cm 눈금을 책상 끝에 맞추고 손바닥으로 꽉 눌러. 0 쪽이 밖으로 나오게 하면 20 cm가 나와.”
- “먼저 살짝, 다음에 조금 세게 튕겨 봐. 소리와 자의 떨림이 어떻게 달라?”
- “이번에는 15 cm, 10 cm만 나오게 하고 같은 세기로 튕겨 봐. 소리가 어떻게 달라져?”
예상 답
- “세게 튕기니까 소리가 커지고 자가 더 크게 떨려요.” “짧게 하니까 소리가 높아졌어요.”
정답
- 살짝 → 세게: 작은 소리 → 큰 소리(자가 더 크게 떨림)
- 나온 길이 20 cm → 15 cm → 10 cm: 낮은 소리 → 높은 소리
막히면
- 자를 누르는 손이 약하면 소리가 잘 나지 않습니다. 부모가 자를 눌러 주고 아이는 튕기기만 합니다.
- 높낮이를 구별하기 어려우면 20 cm와 10 cm만 번갈아 여러 번 튕겨 들려줍니다.
주의
- 안전: 자를 세게 튕기면 손을 칠 수 있습니다. 얼굴을 자 가까이 대지 않습니다.
- 20 cm가 나오면 책상 위에 10 cm, 10 cm가 나오면 책상 위에 20 cm가 남습니다.
- 아이가 ‘짧으면 더 빨리 떨려요’라고 말하면 본 대로 기록하게 하고 칭찬합니다. 떨림의 빠르기와 높낮이의 관계는 이 차시에서 가르치지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결과 정리(세기와 높낮이)]
목적: 아이의 기록과 견주어 결과를 정리하고, 세기와 높낮이를 바꾼 방법이 다르다는 것을 설명하게 합니다(목표 A).
시간: 약 2분
이렇게 말해 보세요
- “네 기록과 같아? 큰 소리를 내려면 어떻게 했어? 높은 소리를 내려면?”
- “큰 소리가 날 때 자는 어떻게 떨렸어?”
예상 답
- “세게 튕겼어요.” “짧게 했어요.” “크게 떨렸어요.”
막히면
- S07의 실험을 한 번 더 하며 한 가지씩 바꾸어 들려줍니다.
주의
- 이 장은 실험을 마친 뒤에 보여 줍니다. 아이의 결과가 다르면(예: 소리가 잘 나지 않음) 자를 더 꽉 누르고 다시 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세기와 높낮이 구별하기]
목적: 생활 속 소리의 변화를 세기와 높낮이로 구별합니다(목표 A).
시간: 약 3분
이렇게 말해 보세요
- “①부터 말해 볼래? 소리가 커지고 작아진 거야, 높아지고 낮아진 거야?”
- “②에서 짧은 막대는 어떤 소리가 날까? 자 튕기기와 비슷하지?”
정답
- ① 세기(소리가 커짐)
- ② 높낮이(짧은 막대가 높은 소리, 긴 막대가 낮은 소리)
- ③ 세기(소리가 작아짐)
- ④ 높낮이(소리가 높아짐)
막히면
- S08의 표를 다시 보여 줍니다.
- ④는 S03의 고무줄 통으로 직접 해 봅니다. 고무줄을 더 당겨 팽팽하게 하고 튕기면 소리가 높아집니다.
주의
- 실로폰의 막대는 교과서에서 ‘음판’이라고도 합니다.
- ③에서 ‘소리를 낮춰요’라고 말하면 “작게 한 거야, 낮은 소리로 바꾼 거야?”라고 다시 물어 구별하게 합니다(오해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오해 비교(큰 소리 = 높은 소리?)]
목적: 세기와 높낮이가 따로 바뀐다는 것을 두 예로 비교해 오해를 바로잡습니다(목표 A, 오해 M1).
시간: 약 2분
이렇게 말해 보세요
- “큰북 소리는 커, 작아? 높아, 낮아?”
- “모기 소리는? 그럼 큰 소리가 꼭 높은 소리일까?”
정답
- 친구의 말은 맞지 않습니다. 큰북 소리는 크지만 낮고, 모기 소리는 작지만 높습니다. 세기와 높낮이는 따로 바뀝니다.
막히면
- 부모가 ‘아—’를 크고 낮게, 작고 높게 내어 들려줍니다.
주의
- 아이가 지치면 여기서 쉬고, 다음 날 S11(종이컵 전화기)부터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예상하기(종이컵 전화기)]
목적: 소리의 전달 실험 네 가지의 결과를 미리 예상합니다(목표 B).
시간: 약 2분
이렇게 말해 보세요
- “종이컵 전화기는 실로 이어져 있지? 실을 팽팽하게 할 때와 느슨하게 할 때 똑같이 들릴까?”
- “실 가운데를 손가락으로 잡으면? 책상에 귀를 대면 두드리는 소리가 들릴까?”
- “활동지 4의 ‘내 예상’ 칸에 ○(잘 들림), △(조금 들림), ×(안 들림)로 써 줘.”
예상 답
- “팽팽하면 잘 들릴 것 같아요.” “잡아도 들릴 것 같아요.”(틀린 예상이어도 그대로 씁니다)
막히면
- 예상을 말하기 어려우면 ①과 ③ 두 가지만 먼저 예상합니다.
주의
- 이 장에서는 결과를 알려 주지 않습니다. 결과는 S13에서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종이컵 전화기 실험]
목적: 종이컵 전화기와 책상으로 소리가 물체를 통해 전달되는 것을 관찰하고 활동지 4에 기록합니다(목표 B, 오해 M2·M3).
시간: 약 6분
이렇게 말해 보세요
- “엄마(아빠)는 방 저쪽에서 작은 목소리로 말할게. 너는 컵을 귀에 대고 들어 봐. 실을 팽팽하게 하자.”
- “이번에는 실을 느슨하게 해 볼까? 같은 목소리로 말할게.”
- “실 가운데를 손가락으로 꼭 잡아 봐. 어떻게 들려?”
- “마지막으로 책상에 한쪽 귀를 대고, 엄마(아빠)가 반대쪽 끝을 손가락으로 톡톡 두드릴게.”
예상 답
- “팽팽할 때 잘 들려요.” “느슨하면 잘 안 들려요.” “잡으니까 거의 안 들려요.” “책상으로 똑똑 소리가 크게 들려요.”
정답
- ① 잘 들림 ② 잘 안 들림 ③ 거의 안 들림 ④ 잘 들림
막히면
- 실이 짧아 컵 없이도 목소리가 들리면, 부모가 아주 작은 목소리(속삭임)로 말하거나 방문 밖으로 실을 늘입니다.
- 실이 컵 바닥에서 빠지면 클립을 실에 한 번 더 감아 묶습니다.
주의
- 안전: 컵 바닥 구멍은 부모가 이쑤시개로 뚫습니다. 컵을 귀에 댄 사람에게 크게 소리치지 않고, 실을 목이나 몸에 감지 않습니다. 실에 걸려 넘어지지 않게 주변을 정리합니다.
- 컵을 귀에서 떼면 목소리가 공기로도 들릴 수 있습니다. 실을 통해 들리는 소리와 견주게 하려면 속삭이듯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결과 정리(소리의 전달)]
목적: 기록과 견주며 소리가 공기뿐 아니라 실·책상 같은 물체를 통해서도 전달된다고 결과로 설명하게 합니다(목표 B).
시간: 약 2분
이렇게 말해 보세요
- “네 기록과 같아? 종이컵 전화기에서 소리는 무엇을 타고 왔을까?”
- “실을 잡았을 때 잘 안 들린 까닭은 뭘까? 고무줄을 잡았을 때를 떠올려 봐.”
예상 답
- “실을 타고 왔어요.” “잡으니까 떨림이 멈춰서 소리가 안 왔어요.”
막히면
- S04의 ‘잡으면 떨림이 멈추고 소리도 멈춰요’ 카드를 다시 보여 줍니다.
주의
- 소리는 물속에서도 전해집니다. 아이가 수영장 물속에서 소리를 들은 경험이 있으면 이야기 나누고 넘어갑니다.
- 실험 결과가 다르게 나왔다면(예: 느슨해도 들림) 목소리가 공기로 들렸을 수 있으므로 더 작은 목소리로 다시 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혼자 해 보기]
목적: 도움 없이 목표 A·B를 확인합니다.
시간: 약 3분
이렇게 말해 보세요
- “이번에는 혼자 답해 볼래? 왜 그렇게 생각했는지도 말해 줘.”
정답
- ① 큰 소리가 난다(소리의 세기가 커진다)
- ② 높은 소리가 난다
- ③ 실을 팽팽하게 하고, 실을 잡거나 다른 물건에 닿지 않게 한다
- ④ 떨림이 멈추어 소리도 멈춘다(작아진다)
막히면
- ①②④는 S08·S04, ③은 S13을 다시 봅니다. 직접 해 보고 답해도 됩니다.
- 도움을 받아 해결했다면 기록표에 ‘도움’으로 표시합니다.
주의
- ①을 ‘높은 소리’라고 하면 S10으로 돌아갑니다(오해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정답과 피드백]
목적: 아이의 답을 함께 확인하고 흔한 실수를 바로잡습니다. 수업용에만 있는 장입니다.
시간: 약 1분
이렇게 말해 보세요
- “네 답과 같은지 볼까? 다르면 실험으로 다시 확인해 보자.”
정답
- ① 큰 소리 ② 높은 소리 ③ 실을 팽팽하게, 잡지 않기 ④ 떨림과 소리가 멈춤
막히면
- ①이 틀리면 S10으로(오해 M1), ③이 틀리면 S12의 ①·②를 다시 해 봅니다(오해 M3).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정리와 다음 수업 복습]
목적: 핵심을 정리하고 다음 수업 첫 5분에 풀 복습 문제를 알려 줍니다.
시간: 약 1분
이렇게 말해 보세요
- “오늘 실험으로 알게 된 것 세 가지를 말해 볼래?”
예상 답
- “소리가 나면 떨려요.” “세게 치면 큰 소리, 짧으면 높은 소리예요.” “실로도 소리가 와요.”
정답
- ① 떨린다 ② 높은 소리 ③ 실을 팽팽하게 하고 잡지 않는다
막히면
- S04, S08, S13을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보충(크고 작은 소리, 높고 낮은 소리)]
목적: 소리의 크고 작음과 높고 낮음을 몸으로 구별해 보며, 세기와 높낮이를 배울 준비를 합니다.
시간: 약 4분
이렇게 말해 보세요
- “엄마(아빠)가 ‘아—’ 할게. 크면 팔을 넓게, 작으면 좁게 해 봐.”
- “이번에는 높으면 손을 머리 위로, 낮으면 무릎으로 내려 봐.”
- “이제 네가 소리를 내 봐. 엄마(아빠)가 맞혀 볼게.”
예상 답
- 아이가 크기에는 팔, 높이에는 손의 위치로 바르게 나타냅니다.
막히면
- 크기만 바꾸고(높이는 그대로) 여러 번 한 뒤에 높이만 바꾸어 봅니다. 두 가지를 한꺼번에 바꾸지 않습니다.
- 이 차시의 계획상 선수 차시는 ‘밀기·당기기와 수평 잡기’(KR22-G03-SCI-PUSHPULL-L01)입니다. S02의 ①②가 어려웠다면 그 차시의 S06과 S17(보충)을 다시 봅니다.
- 소리의 차이를 몸으로 나타내는 것 자체가 어렵다면 초1 ‘박에 맞춰 노래하기’(KR22-G01-ART-BEAT-L01)처럼 노래와 몸짓으로 소리를 느끼는 활동을 먼저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힘과소리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소리의 성질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소리의 성질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과학 · 소리의 성질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소리의 성질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소리는 어떻게 생기고,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전해질까?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종이컵 두 개를 실로 이은 종이컵 전화기"/>
          <p:cNvSpPr/>
          <p:nvPr/>
        </p:nvSpPr>
        <p:spPr>
          <a:xfrm>
            <a:off x="7772400" y="1473817"/>
            <a:ext cx="589135" cy="1017597"/>
          </a:xfrm>
          <a:custGeom>
            <a:avLst/>
            <a:gdLst/>
            <a:ahLst/>
            <a:cxnLst/>
            <a:rect l="l" t="t" r="r" b="b"/>
            <a:pathLst>
              <a:path w="589135" h="1017597">
                <a:moveTo>
                  <a:pt x="0" y="856923"/>
                </a:moveTo>
                <a:lnTo>
                  <a:pt x="0" y="160673"/>
                </a:lnTo>
                <a:lnTo>
                  <a:pt x="589135" y="0"/>
                </a:lnTo>
                <a:lnTo>
                  <a:pt x="589135" y="1017597"/>
                </a:lnTo>
                <a:close/>
              </a:path>
            </a:pathLst>
          </a:custGeom>
          <a:solidFill>
            <a:srgbClr val="FDEBDD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10932305" y="1473817"/>
            <a:ext cx="589135" cy="1017597"/>
          </a:xfrm>
          <a:custGeom>
            <a:avLst/>
            <a:gdLst/>
            <a:ahLst/>
            <a:cxnLst/>
            <a:rect l="l" t="t" r="r" b="b"/>
            <a:pathLst>
              <a:path w="589135" h="1017597">
                <a:moveTo>
                  <a:pt x="589135" y="856923"/>
                </a:moveTo>
                <a:lnTo>
                  <a:pt x="589135" y="160673"/>
                </a:lnTo>
                <a:lnTo>
                  <a:pt x="0" y="0"/>
                </a:lnTo>
                <a:lnTo>
                  <a:pt x="0" y="1017597"/>
                </a:lnTo>
                <a:close/>
              </a:path>
            </a:pathLst>
          </a:custGeom>
          <a:solidFill>
            <a:srgbClr val="FDEBDD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7772400" y="1982615"/>
            <a:ext cx="3749040" cy="0"/>
          </a:xfrm>
          <a:prstGeom prst="line">
            <a:avLst/>
          </a:prstGeom>
          <a:noFill/>
          <a:ln w="22225">
            <a:solidFill>
              <a:srgbClr val="E9762B"/>
            </a:solidFill>
            <a:prstDash val="solid"/>
          </a:ln>
        </p:spPr>
      </p:sp>
      <p:sp>
        <p:nvSpPr>
          <p:cNvPr id="8" name="S01-label6"/>
          <p:cNvSpPr txBox="1"/>
          <p:nvPr/>
        </p:nvSpPr>
        <p:spPr>
          <a:xfrm>
            <a:off x="9442704" y="157788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</a:t>
            </a:r>
            <a:endParaRPr lang="ko-KR" sz="2400" dirty="0"/>
          </a:p>
        </p:txBody>
      </p:sp>
      <p:sp>
        <p:nvSpPr>
          <p:cNvPr id="9" name="S01-label8"/>
          <p:cNvSpPr txBox="1"/>
          <p:nvPr/>
        </p:nvSpPr>
        <p:spPr>
          <a:xfrm>
            <a:off x="7564047" y="2541923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종이컵</a:t>
            </a:r>
            <a:endParaRPr lang="ko-KR" sz="2400" dirty="0"/>
          </a:p>
        </p:txBody>
      </p:sp>
      <p:sp>
        <p:nvSpPr>
          <p:cNvPr id="10" name="S01-label10"/>
          <p:cNvSpPr txBox="1"/>
          <p:nvPr/>
        </p:nvSpPr>
        <p:spPr>
          <a:xfrm>
            <a:off x="10723953" y="2541923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종이컵</a:t>
            </a:r>
            <a:endParaRPr lang="ko-KR" sz="2400" dirty="0"/>
          </a:p>
        </p:txBody>
      </p:sp>
      <p:sp>
        <p:nvSpPr>
          <p:cNvPr id="11" name="S01-card1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1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큰 소리와 작은 소리, 높은 소리와 낮은 소리를 구별해요.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종이컵 전화기로 소리가 전해지는 모습을 관찰해요.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1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1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고무줄을 살짝 당길 때와 세게 당길 때 무엇이 달랐나요?</a:t>
            </a:r>
            <a:endParaRPr lang="ko-KR" sz="3000" dirty="0"/>
          </a:p>
        </p:txBody>
      </p:sp>
      <p:sp>
        <p:nvSpPr>
          <p:cNvPr id="5" name="S02-chip1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1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‘자를 튕기면 소리가 날 것 같아요.’는 예상일까요, 결과일까요?</a:t>
            </a:r>
            <a:endParaRPr lang="ko-KR" sz="3000" dirty="0"/>
          </a:p>
        </p:txBody>
      </p:sp>
      <p:sp>
        <p:nvSpPr>
          <p:cNvPr id="7" name="S02-chip1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1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손뼉을 살살 칠 때와 세게 칠 때, 어느 쪽 소리가 더 클까요?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떨림 느끼기</a:t>
            </a:r>
            <a:endParaRPr lang="ko-KR" sz="4000" dirty="0"/>
          </a:p>
        </p:txBody>
      </p:sp>
      <p:sp>
        <p:nvSpPr>
          <p:cNvPr id="3" name="S03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고무줄은 얼굴 가까이에서 튕기지 않아요.</a:t>
            </a:r>
            <a:endParaRPr lang="ko-KR" sz="3000" dirty="0"/>
          </a:p>
        </p:txBody>
      </p:sp>
      <p:sp>
        <p:nvSpPr>
          <p:cNvPr id="5" name="S03-card21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2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손에 무엇이 느껴지는지 말해요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고무줄이 어떻게 움직이는지 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잡았을 때 소리가 어떻게 되는지 말해요</a:t>
            </a:r>
            <a:endParaRPr lang="ko-KR" sz="3000" dirty="0"/>
          </a:p>
        </p:txBody>
      </p:sp>
      <p:sp>
        <p:nvSpPr>
          <p:cNvPr id="7" name="S03-stepno23"/>
          <p:cNvSpPr txBox="1"/>
          <p:nvPr/>
        </p:nvSpPr>
        <p:spPr>
          <a:xfrm>
            <a:off x="548640" y="17099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3-text24"/>
          <p:cNvSpPr txBox="1"/>
          <p:nvPr/>
        </p:nvSpPr>
        <p:spPr>
          <a:xfrm>
            <a:off x="1325880" y="166420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목에 손을 대고 “아—” 소리를 내요.</a:t>
            </a:r>
            <a:endParaRPr lang="ko-KR" sz="3000" dirty="0"/>
          </a:p>
        </p:txBody>
      </p:sp>
      <p:sp>
        <p:nvSpPr>
          <p:cNvPr id="9" name="S03-stepno25"/>
          <p:cNvSpPr txBox="1"/>
          <p:nvPr/>
        </p:nvSpPr>
        <p:spPr>
          <a:xfrm>
            <a:off x="548640" y="28041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3-text26"/>
          <p:cNvSpPr txBox="1"/>
          <p:nvPr/>
        </p:nvSpPr>
        <p:spPr>
          <a:xfrm>
            <a:off x="1325880" y="2758440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통에 건 고무줄을 튕기며 봐요.</a:t>
            </a:r>
            <a:endParaRPr lang="ko-KR" sz="3000" dirty="0"/>
          </a:p>
        </p:txBody>
      </p:sp>
      <p:sp>
        <p:nvSpPr>
          <p:cNvPr id="11" name="S03-stepno27"/>
          <p:cNvSpPr txBox="1"/>
          <p:nvPr/>
        </p:nvSpPr>
        <p:spPr>
          <a:xfrm>
            <a:off x="548640" y="38983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3-text28"/>
          <p:cNvSpPr txBox="1"/>
          <p:nvPr/>
        </p:nvSpPr>
        <p:spPr>
          <a:xfrm>
            <a:off x="1325880" y="385267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나는 고무줄을 손가락으로 잡아요.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나면 떨려요</a:t>
            </a:r>
            <a:endParaRPr lang="ko-KR" sz="4000" dirty="0"/>
          </a:p>
        </p:txBody>
      </p:sp>
      <p:sp>
        <p:nvSpPr>
          <p:cNvPr id="3" name="S04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나는 물체는 떨려요.</a:t>
            </a:r>
            <a:endParaRPr lang="ko-KR" sz="3000" dirty="0"/>
          </a:p>
        </p:txBody>
      </p:sp>
      <p:sp>
        <p:nvSpPr>
          <p:cNvPr id="5" name="S04-card31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32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“아—” 하면 손에 떨림이 느껴져요.</a:t>
            </a:r>
            <a:endParaRPr lang="ko-KR" sz="3000" dirty="0"/>
          </a:p>
        </p:txBody>
      </p:sp>
      <p:sp>
        <p:nvSpPr>
          <p:cNvPr id="7" name="S04-card33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34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고무줄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튕기면 떨리면서 소리가 나요.</a:t>
            </a:r>
            <a:endParaRPr lang="ko-KR" sz="3000" dirty="0"/>
          </a:p>
        </p:txBody>
      </p:sp>
      <p:sp>
        <p:nvSpPr>
          <p:cNvPr id="9" name="S04-card35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36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잡으면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떨림이 멈추고 소리도 멈춰요.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소리의 세기와 높낮이</a:t>
            </a:r>
            <a:endParaRPr lang="ko-KR" sz="4000" dirty="0"/>
          </a:p>
        </p:txBody>
      </p:sp>
      <p:sp>
        <p:nvSpPr>
          <p:cNvPr id="3" name="S05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소리와 높은 소리는 서로 달라요.</a:t>
            </a:r>
            <a:endParaRPr lang="ko-KR" sz="3000" dirty="0"/>
          </a:p>
        </p:txBody>
      </p:sp>
      <p:sp>
        <p:nvSpPr>
          <p:cNvPr id="5" name="S05-card39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40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소리의 세기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크고 작은 정도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북을 세게, 살살 쳐요.</a:t>
            </a:r>
            <a:endParaRPr lang="ko-KR" sz="3000" dirty="0"/>
          </a:p>
        </p:txBody>
      </p:sp>
      <p:sp>
        <p:nvSpPr>
          <p:cNvPr id="7" name="S05-card41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42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소리의 높낮이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높고 낮은 정도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피아노 오른쪽은 높고, 왼쪽은 낮아요.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자를 튕기면 어떨까?</a:t>
            </a:r>
            <a:endParaRPr lang="ko-KR" sz="4000" dirty="0"/>
          </a:p>
        </p:txBody>
      </p:sp>
      <p:sp>
        <p:nvSpPr>
          <p:cNvPr id="3" name="S06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자를 책상 끝에 대고 튕겨요.</a:t>
            </a:r>
            <a:endParaRPr lang="ko-KR" sz="3000" dirty="0"/>
          </a:p>
        </p:txBody>
      </p:sp>
      <p:sp>
        <p:nvSpPr>
          <p:cNvPr id="4" name="S06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한 가지만 바꿔요.</a:t>
            </a:r>
            <a:endParaRPr lang="ko-KR" sz="3000" dirty="0"/>
          </a:p>
        </p:txBody>
      </p:sp>
      <p:graphicFrame>
        <p:nvGraphicFramePr>
          <p:cNvPr id="7" name="S06-table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471928"/>
          <a:ext cx="100584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017520"/>
                <a:gridCol w="301752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바꾸는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튕기는 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(살짝, 세게)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 큰 소리는?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책상 밖으로 나온 길이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(20 cm, 10 cm)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 높은 소리는?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자를 튕겨 보기</a:t>
            </a:r>
            <a:endParaRPr lang="ko-KR" sz="4000" dirty="0"/>
          </a:p>
        </p:txBody>
      </p:sp>
      <p:sp>
        <p:nvSpPr>
          <p:cNvPr id="3" name="S07-card4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자를 너무 세게 튕기지 말고, 얼굴을 자 가까이 대지 않아요.</a:t>
            </a:r>
            <a:endParaRPr lang="ko-KR" sz="3000" dirty="0"/>
          </a:p>
        </p:txBody>
      </p:sp>
      <p:sp>
        <p:nvSpPr>
          <p:cNvPr id="5" name="S07-card49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50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세게 튕길 때 자의 떨림을 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세기와 높낮이를 나누어 말해요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나온 길이를 cm로 써요</a:t>
            </a:r>
            <a:endParaRPr lang="ko-KR" sz="3000" dirty="0"/>
          </a:p>
        </p:txBody>
      </p:sp>
      <p:sp>
        <p:nvSpPr>
          <p:cNvPr id="7" name="S07-stepno51"/>
          <p:cNvSpPr txBox="1"/>
          <p:nvPr/>
        </p:nvSpPr>
        <p:spPr>
          <a:xfrm>
            <a:off x="548640" y="14371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52"/>
          <p:cNvSpPr txBox="1"/>
          <p:nvPr/>
        </p:nvSpPr>
        <p:spPr>
          <a:xfrm>
            <a:off x="1325880" y="1391412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자를 책상 끝에 대고 한 손으로 꽉 눌러요.</a:t>
            </a:r>
            <a:endParaRPr lang="ko-KR" sz="2400" dirty="0"/>
          </a:p>
        </p:txBody>
      </p:sp>
      <p:sp>
        <p:nvSpPr>
          <p:cNvPr id="9" name="S07-stepno53"/>
          <p:cNvSpPr txBox="1"/>
          <p:nvPr/>
        </p:nvSpPr>
        <p:spPr>
          <a:xfrm>
            <a:off x="548640" y="23454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54"/>
          <p:cNvSpPr txBox="1"/>
          <p:nvPr/>
        </p:nvSpPr>
        <p:spPr>
          <a:xfrm>
            <a:off x="1325880" y="2299716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cm가 나오게 하고 살짝, 세게 튕겨요.</a:t>
            </a:r>
            <a:endParaRPr lang="ko-KR" sz="2400" dirty="0"/>
          </a:p>
        </p:txBody>
      </p:sp>
      <p:sp>
        <p:nvSpPr>
          <p:cNvPr id="11" name="S07-stepno55"/>
          <p:cNvSpPr txBox="1"/>
          <p:nvPr/>
        </p:nvSpPr>
        <p:spPr>
          <a:xfrm>
            <a:off x="548640" y="32537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56"/>
          <p:cNvSpPr txBox="1"/>
          <p:nvPr/>
        </p:nvSpPr>
        <p:spPr>
          <a:xfrm>
            <a:off x="1325880" y="3208020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나온 길이를 15 cm, 10 cm로 바꾸어 튕겨요.</a:t>
            </a:r>
            <a:endParaRPr lang="ko-KR" sz="2400" dirty="0"/>
          </a:p>
        </p:txBody>
      </p:sp>
      <p:sp>
        <p:nvSpPr>
          <p:cNvPr id="13" name="S07-stepno57"/>
          <p:cNvSpPr txBox="1"/>
          <p:nvPr/>
        </p:nvSpPr>
        <p:spPr>
          <a:xfrm>
            <a:off x="548640" y="4116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7-text58"/>
          <p:cNvSpPr txBox="1"/>
          <p:nvPr/>
        </p:nvSpPr>
        <p:spPr>
          <a:xfrm>
            <a:off x="1325880" y="4116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소리를 활동지 표에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 튕기기 결과</a:t>
            </a:r>
            <a:endParaRPr lang="ko-KR" sz="4000" dirty="0"/>
          </a:p>
        </p:txBody>
      </p:sp>
      <p:sp>
        <p:nvSpPr>
          <p:cNvPr id="3" name="S08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세게 튕기면 큰 소리, 나온 부분이 짧으면 높은 소리가 나요.</a:t>
            </a:r>
            <a:endParaRPr lang="ko-KR" sz="3000" dirty="0"/>
          </a:p>
        </p:txBody>
      </p:sp>
      <p:graphicFrame>
        <p:nvGraphicFramePr>
          <p:cNvPr id="9" name="S08-table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314956"/>
          <a:ext cx="10058400" cy="914400"/>
        </p:xfrm>
        <a:graphic>
          <a:graphicData uri="http://schemas.openxmlformats.org/drawingml/2006/table">
            <a:tbl>
              <a:tblPr/>
              <a:tblGrid>
                <a:gridCol w="4526280"/>
                <a:gridCol w="553212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바꾼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살짝 → 세게 튕기기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소리 → 큰 소리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(자가 더 크게 떨려요)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나온 길이 20 cm → 10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낮은 소리 → 높은 소리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세기일까요, 높낮이일까요?</a:t>
            </a:r>
            <a:endParaRPr lang="ko-KR" sz="4000" dirty="0"/>
          </a:p>
        </p:txBody>
      </p:sp>
      <p:sp>
        <p:nvSpPr>
          <p:cNvPr id="3" name="S09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달라졌는지 말해요.</a:t>
            </a:r>
            <a:endParaRPr lang="ko-KR" sz="3000" dirty="0"/>
          </a:p>
        </p:txBody>
      </p:sp>
      <p:sp>
        <p:nvSpPr>
          <p:cNvPr id="4" name="S09-card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크고 작은지, 높고 낮은지 생각해요.</a:t>
            </a:r>
            <a:endParaRPr lang="ko-KR" sz="3000" dirty="0"/>
          </a:p>
        </p:txBody>
      </p:sp>
      <p:sp>
        <p:nvSpPr>
          <p:cNvPr id="6" name="S09-chip6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6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북을 살살 치다가 세게 쳐요.</a:t>
            </a:r>
            <a:endParaRPr lang="ko-KR" sz="3000" dirty="0"/>
          </a:p>
        </p:txBody>
      </p:sp>
      <p:sp>
        <p:nvSpPr>
          <p:cNvPr id="8" name="S09-chip6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6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실로폰의 긴 막대와 짧은 막대를 쳐요.</a:t>
            </a:r>
            <a:endParaRPr lang="ko-KR" sz="3000" dirty="0"/>
          </a:p>
        </p:txBody>
      </p:sp>
      <p:sp>
        <p:nvSpPr>
          <p:cNvPr id="10" name="S09-chip6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70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텔레비전 소리를 줄여요.</a:t>
            </a:r>
            <a:endParaRPr lang="ko-KR" sz="3000" dirty="0"/>
          </a:p>
        </p:txBody>
      </p:sp>
      <p:sp>
        <p:nvSpPr>
          <p:cNvPr id="12" name="S09-chip71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9-text72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고무줄을 더 팽팽하게 하고 튕겨요.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소리는 높은 소리?</a:t>
            </a:r>
            <a:endParaRPr lang="ko-KR" sz="4000" dirty="0"/>
          </a:p>
        </p:txBody>
      </p:sp>
      <p:sp>
        <p:nvSpPr>
          <p:cNvPr id="3" name="S10-card7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7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‘큰 소리는 높은 소리야.’라고 했어요.</a:t>
            </a:r>
            <a:endParaRPr lang="ko-KR" sz="3000" dirty="0"/>
          </a:p>
        </p:txBody>
      </p:sp>
      <p:sp>
        <p:nvSpPr>
          <p:cNvPr id="5" name="S10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말이 맞을까요? 왜 그렇게 생각해요?</a:t>
            </a:r>
            <a:endParaRPr lang="ko-KR" sz="3000" dirty="0"/>
          </a:p>
        </p:txBody>
      </p:sp>
      <p:sp>
        <p:nvSpPr>
          <p:cNvPr id="7" name="S10-chip7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큰북을 세게 쳐요</a:t>
            </a:r>
            <a:endParaRPr lang="ko-KR" sz="2400" dirty="0"/>
          </a:p>
        </p:txBody>
      </p:sp>
      <p:sp>
        <p:nvSpPr>
          <p:cNvPr id="8" name="S10-text7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‘둥!’ 크고 낮은 소리</a:t>
            </a:r>
            <a:endParaRPr lang="ko-KR" sz="3000" dirty="0"/>
          </a:p>
        </p:txBody>
      </p:sp>
      <p:sp>
        <p:nvSpPr>
          <p:cNvPr id="9" name="S10-chip7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모기가 날아요</a:t>
            </a:r>
            <a:endParaRPr lang="ko-KR" sz="2400" dirty="0"/>
          </a:p>
        </p:txBody>
      </p:sp>
      <p:sp>
        <p:nvSpPr>
          <p:cNvPr id="10" name="S10-text8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‘앵—’ 작고 높은 소리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종이컵 전화기 예상</a:t>
            </a:r>
            <a:endParaRPr lang="ko-KR" sz="4000" dirty="0"/>
          </a:p>
        </p:txBody>
      </p:sp>
      <p:sp>
        <p:nvSpPr>
          <p:cNvPr id="3" name="S11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목소리로 말할 때 잘 들릴까요?</a:t>
            </a:r>
            <a:endParaRPr lang="ko-KR" sz="3000" dirty="0"/>
          </a:p>
        </p:txBody>
      </p:sp>
      <p:sp>
        <p:nvSpPr>
          <p:cNvPr id="4" name="S11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들릴지, 잘 안 들릴지 예상해요.</a:t>
            </a:r>
            <a:endParaRPr lang="ko-KR" sz="3000" dirty="0"/>
          </a:p>
        </p:txBody>
      </p:sp>
      <p:graphicFrame>
        <p:nvGraphicFramePr>
          <p:cNvPr id="12" name="S11-table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62200"/>
          <a:ext cx="10515600" cy="914400"/>
        </p:xfrm>
        <a:graphic>
          <a:graphicData uri="http://schemas.openxmlformats.org/drawingml/2006/table">
            <a:tbl>
              <a:tblPr/>
              <a:tblGrid>
                <a:gridCol w="1261872"/>
                <a:gridCol w="6309360"/>
                <a:gridCol w="294436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 할까?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실을 팽팽하게 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실을 느슨하게 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 가운데를 손가락으로 잡아요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책상에 귀를 대고 반대쪽을 두드려요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종이컵 전화기로 듣기</a:t>
            </a:r>
            <a:endParaRPr lang="ko-KR" sz="4000" dirty="0"/>
          </a:p>
        </p:txBody>
      </p:sp>
      <p:sp>
        <p:nvSpPr>
          <p:cNvPr id="3" name="S12-card85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86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컵 구멍은 어른이 뚫어요. 컵에 대고 소리치지 말고, 실을 몸에 감지 않아요.</a:t>
            </a:r>
            <a:endParaRPr lang="ko-KR" sz="3000" dirty="0"/>
          </a:p>
        </p:txBody>
      </p:sp>
      <p:sp>
        <p:nvSpPr>
          <p:cNvPr id="5" name="S12-card87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2-cardtext88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같은 크기의 목소리로 말해요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들린 정도를 ○, △, ×로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한 번에 한 가지만 바꿔요</a:t>
            </a:r>
            <a:endParaRPr lang="ko-KR" sz="3000" dirty="0"/>
          </a:p>
        </p:txBody>
      </p:sp>
      <p:sp>
        <p:nvSpPr>
          <p:cNvPr id="7" name="S12-stepno89"/>
          <p:cNvSpPr txBox="1"/>
          <p:nvPr/>
        </p:nvSpPr>
        <p:spPr>
          <a:xfrm>
            <a:off x="548640" y="14371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2-text90"/>
          <p:cNvSpPr txBox="1"/>
          <p:nvPr/>
        </p:nvSpPr>
        <p:spPr>
          <a:xfrm>
            <a:off x="1325880" y="1391412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실을 팽팽하게 하고 작은 목소리로 말해요.</a:t>
            </a:r>
            <a:endParaRPr lang="ko-KR" sz="2400" dirty="0"/>
          </a:p>
        </p:txBody>
      </p:sp>
      <p:sp>
        <p:nvSpPr>
          <p:cNvPr id="9" name="S12-stepno91"/>
          <p:cNvSpPr txBox="1"/>
          <p:nvPr/>
        </p:nvSpPr>
        <p:spPr>
          <a:xfrm>
            <a:off x="548640" y="23454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2-text92"/>
          <p:cNvSpPr txBox="1"/>
          <p:nvPr/>
        </p:nvSpPr>
        <p:spPr>
          <a:xfrm>
            <a:off x="1325880" y="2299716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실을 느슨하게 하고 같은 목소리로 말해요.</a:t>
            </a:r>
            <a:endParaRPr lang="ko-KR" sz="2400" dirty="0"/>
          </a:p>
        </p:txBody>
      </p:sp>
      <p:sp>
        <p:nvSpPr>
          <p:cNvPr id="11" name="S12-stepno93"/>
          <p:cNvSpPr txBox="1"/>
          <p:nvPr/>
        </p:nvSpPr>
        <p:spPr>
          <a:xfrm>
            <a:off x="548640" y="3208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2-text94"/>
          <p:cNvSpPr txBox="1"/>
          <p:nvPr/>
        </p:nvSpPr>
        <p:spPr>
          <a:xfrm>
            <a:off x="1325880" y="32080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가운데를 손가락으로 잡고 말해요.</a:t>
            </a:r>
            <a:endParaRPr lang="ko-KR" sz="2400" dirty="0"/>
          </a:p>
        </p:txBody>
      </p:sp>
      <p:sp>
        <p:nvSpPr>
          <p:cNvPr id="13" name="S12-stepno95"/>
          <p:cNvSpPr txBox="1"/>
          <p:nvPr/>
        </p:nvSpPr>
        <p:spPr>
          <a:xfrm>
            <a:off x="548640" y="39669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12-text96"/>
          <p:cNvSpPr txBox="1"/>
          <p:nvPr/>
        </p:nvSpPr>
        <p:spPr>
          <a:xfrm>
            <a:off x="1325880" y="3921252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책상에 귀를 대고 반대쪽을 톡톡 두드려요.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소리의 전달 결과</a:t>
            </a:r>
            <a:endParaRPr lang="ko-KR" sz="4000" dirty="0"/>
          </a:p>
        </p:txBody>
      </p:sp>
      <p:sp>
        <p:nvSpPr>
          <p:cNvPr id="3" name="S13-text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 듣는 소리는 공기를 통해 전해져요.</a:t>
            </a:r>
            <a:endParaRPr lang="ko-KR" sz="3000" dirty="0"/>
          </a:p>
        </p:txBody>
      </p:sp>
      <p:sp>
        <p:nvSpPr>
          <p:cNvPr id="4" name="S13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소리는 실이나 책상 같은 물체를 통해서도 전해져요.</a:t>
            </a:r>
            <a:endParaRPr lang="ko-KR" sz="3000" dirty="0"/>
          </a:p>
        </p:txBody>
      </p:sp>
      <p:graphicFrame>
        <p:nvGraphicFramePr>
          <p:cNvPr id="14" name="S13-table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362200"/>
          <a:ext cx="91440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411480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 본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실을 팽팽하게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 들려요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실을 느슨하게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 안 들려요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 가운데를 잡음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거의 안 들려요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책상에 귀 대기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똑똑 잘 들려요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4-card10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4-cardtext10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실험한 결과를 떠올려 보고 까닭도 말해요.</a:t>
            </a:r>
            <a:endParaRPr lang="ko-KR" sz="3000" dirty="0"/>
          </a:p>
        </p:txBody>
      </p:sp>
      <p:sp>
        <p:nvSpPr>
          <p:cNvPr id="5" name="S14-chip10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4-text10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고무줄을 세게 튕기면 소리가 어떻게 되나요?</a:t>
            </a:r>
            <a:endParaRPr lang="ko-KR" sz="3000" dirty="0"/>
          </a:p>
        </p:txBody>
      </p:sp>
      <p:sp>
        <p:nvSpPr>
          <p:cNvPr id="7" name="S14-chip105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4-text106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 책상 밖으로 나온 부분을 짧게 하면?</a:t>
            </a:r>
            <a:endParaRPr lang="ko-KR" sz="3000" dirty="0"/>
          </a:p>
        </p:txBody>
      </p:sp>
      <p:sp>
        <p:nvSpPr>
          <p:cNvPr id="9" name="S14-chip107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4-text108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종이컵 전화기 소리가 작아요. 실을 어떻게 할까요?</a:t>
            </a:r>
            <a:endParaRPr lang="ko-KR" sz="3000" dirty="0"/>
          </a:p>
        </p:txBody>
      </p:sp>
      <p:sp>
        <p:nvSpPr>
          <p:cNvPr id="11" name="S14-chip109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2" name="S14-text110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나는 물체를 손으로 잡으면?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5-card111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12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자·고무줄·종이컵 전화기로 다시 해 보고 결과로 고쳐요.</a:t>
            </a:r>
            <a:endParaRPr lang="ko-KR" sz="3000" dirty="0"/>
          </a:p>
        </p:txBody>
      </p:sp>
      <p:sp>
        <p:nvSpPr>
          <p:cNvPr id="5" name="S15-chip11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5-text114"/>
          <p:cNvSpPr txBox="1"/>
          <p:nvPr/>
        </p:nvSpPr>
        <p:spPr>
          <a:xfrm>
            <a:off x="548640" y="2057400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큰 소리</a:t>
            </a:r>
            <a:endParaRPr lang="ko-KR" sz="3000" dirty="0"/>
          </a:p>
        </p:txBody>
      </p:sp>
      <p:sp>
        <p:nvSpPr>
          <p:cNvPr id="7" name="S15-text115"/>
          <p:cNvSpPr txBox="1"/>
          <p:nvPr/>
        </p:nvSpPr>
        <p:spPr>
          <a:xfrm>
            <a:off x="3367278" y="2057400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세기</a:t>
            </a:r>
            <a:endParaRPr lang="ko-KR" sz="2400" dirty="0"/>
          </a:p>
        </p:txBody>
      </p:sp>
      <p:sp>
        <p:nvSpPr>
          <p:cNvPr id="8" name="S15-text116"/>
          <p:cNvSpPr txBox="1"/>
          <p:nvPr/>
        </p:nvSpPr>
        <p:spPr>
          <a:xfrm>
            <a:off x="548640" y="2759964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높은 소리</a:t>
            </a:r>
            <a:endParaRPr lang="ko-KR" sz="3000" dirty="0"/>
          </a:p>
        </p:txBody>
      </p:sp>
      <p:sp>
        <p:nvSpPr>
          <p:cNvPr id="9" name="S15-text117"/>
          <p:cNvSpPr txBox="1"/>
          <p:nvPr/>
        </p:nvSpPr>
        <p:spPr>
          <a:xfrm>
            <a:off x="3367278" y="2759964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높낮이</a:t>
            </a:r>
            <a:endParaRPr lang="ko-KR" sz="2400" dirty="0"/>
          </a:p>
        </p:txBody>
      </p:sp>
      <p:sp>
        <p:nvSpPr>
          <p:cNvPr id="10" name="S15-text118"/>
          <p:cNvSpPr txBox="1"/>
          <p:nvPr/>
        </p:nvSpPr>
        <p:spPr>
          <a:xfrm>
            <a:off x="548640" y="3462528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팽팽하게</a:t>
            </a:r>
            <a:endParaRPr lang="ko-KR" sz="3000" dirty="0"/>
          </a:p>
        </p:txBody>
      </p:sp>
      <p:sp>
        <p:nvSpPr>
          <p:cNvPr id="11" name="S15-text119"/>
          <p:cNvSpPr txBox="1"/>
          <p:nvPr/>
        </p:nvSpPr>
        <p:spPr>
          <a:xfrm>
            <a:off x="3367278" y="3462528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잡지 않기</a:t>
            </a:r>
            <a:endParaRPr lang="ko-KR" sz="2400" dirty="0"/>
          </a:p>
        </p:txBody>
      </p:sp>
      <p:sp>
        <p:nvSpPr>
          <p:cNvPr id="12" name="S15-text120"/>
          <p:cNvSpPr txBox="1"/>
          <p:nvPr/>
        </p:nvSpPr>
        <p:spPr>
          <a:xfrm>
            <a:off x="548640" y="4165092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멈춰요</a:t>
            </a:r>
            <a:endParaRPr lang="ko-KR" sz="3000" dirty="0"/>
          </a:p>
        </p:txBody>
      </p:sp>
      <p:sp>
        <p:nvSpPr>
          <p:cNvPr id="13" name="S15-text121"/>
          <p:cNvSpPr txBox="1"/>
          <p:nvPr/>
        </p:nvSpPr>
        <p:spPr>
          <a:xfrm>
            <a:off x="3367278" y="4165092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떨림이 멈춤</a:t>
            </a:r>
            <a:endParaRPr lang="ko-KR" sz="2400" dirty="0"/>
          </a:p>
        </p:txBody>
      </p:sp>
      <p:sp>
        <p:nvSpPr>
          <p:cNvPr id="14" name="S15-chip12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5-text12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높은 소리</a:t>
            </a:r>
            <a:endParaRPr lang="ko-KR" sz="3000" dirty="0"/>
          </a:p>
        </p:txBody>
      </p:sp>
      <p:sp>
        <p:nvSpPr>
          <p:cNvPr id="16" name="S15-text12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세기와 높낮이를 섞음</a:t>
            </a:r>
            <a:endParaRPr lang="ko-KR" sz="2400" dirty="0"/>
          </a:p>
        </p:txBody>
      </p:sp>
      <p:sp>
        <p:nvSpPr>
          <p:cNvPr id="17" name="S15-text12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느슨하게</a:t>
            </a:r>
            <a:endParaRPr lang="ko-KR" sz="3000" dirty="0"/>
          </a:p>
        </p:txBody>
      </p:sp>
      <p:sp>
        <p:nvSpPr>
          <p:cNvPr id="18" name="S15-text12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안 들려요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6-card12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12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나는 물체는 떨려요. 세기와 높낮이는 달라요.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소리는 실이나 책상 같은 물체로도 전해져요.</a:t>
            </a:r>
            <a:endParaRPr lang="ko-KR" sz="3000" dirty="0"/>
          </a:p>
        </p:txBody>
      </p:sp>
      <p:sp>
        <p:nvSpPr>
          <p:cNvPr id="5" name="S16-chip129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세기와 높낮이 나누어 말하기</a:t>
            </a:r>
            <a:endParaRPr lang="ko-KR" sz="2400" dirty="0"/>
          </a:p>
        </p:txBody>
      </p:sp>
      <p:sp>
        <p:nvSpPr>
          <p:cNvPr id="6" name="S16-chip130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큰 소리 = 높은 소리</a:t>
            </a:r>
            <a:endParaRPr lang="ko-KR" sz="2400" dirty="0"/>
          </a:p>
        </p:txBody>
      </p:sp>
      <p:sp>
        <p:nvSpPr>
          <p:cNvPr id="7" name="S16-text131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6-text132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소리가 나는 물체의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공통점은?</a:t>
            </a:r>
            <a:endParaRPr lang="ko-KR" sz="2400" dirty="0"/>
          </a:p>
        </p:txBody>
      </p:sp>
      <p:sp>
        <p:nvSpPr>
          <p:cNvPr id="9" name="S16-text133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실로폰 짧은 막대는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소리?</a:t>
            </a:r>
            <a:endParaRPr lang="ko-KR" sz="2400" dirty="0"/>
          </a:p>
        </p:txBody>
      </p:sp>
      <p:sp>
        <p:nvSpPr>
          <p:cNvPr id="10" name="S16-text134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종이컵 전화기가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들리려면?</a:t>
            </a:r>
            <a:endParaRPr lang="ko-KR" sz="2400" dirty="0"/>
          </a:p>
        </p:txBody>
      </p:sp>
      <p:sp>
        <p:nvSpPr>
          <p:cNvPr id="11" name="S16-text13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동물의 생김새와 생활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소리를 몸으로 나타내요</a:t>
            </a:r>
            <a:endParaRPr lang="ko-KR" sz="4000" dirty="0"/>
          </a:p>
        </p:txBody>
      </p:sp>
      <p:sp>
        <p:nvSpPr>
          <p:cNvPr id="3" name="S17-text1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“아—” 소리를 내요.</a:t>
            </a:r>
            <a:endParaRPr lang="ko-KR" sz="3000" dirty="0"/>
          </a:p>
        </p:txBody>
      </p:sp>
      <p:sp>
        <p:nvSpPr>
          <p:cNvPr id="4" name="S17-card1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7-cardtext1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크고 작은 것은 세기, 높고 낮은 것은 높낮이예요.</a:t>
            </a:r>
            <a:endParaRPr lang="ko-KR" sz="3000" dirty="0"/>
          </a:p>
        </p:txBody>
      </p:sp>
      <p:sp>
        <p:nvSpPr>
          <p:cNvPr id="6" name="S17-stepno139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7-text140"/>
          <p:cNvSpPr txBox="1"/>
          <p:nvPr/>
        </p:nvSpPr>
        <p:spPr>
          <a:xfrm>
            <a:off x="1325880" y="25786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크게, 작게 내면 두 팔을 넓게, 좁게 벌려요.</a:t>
            </a:r>
            <a:endParaRPr lang="ko-KR" sz="3000" dirty="0"/>
          </a:p>
        </p:txBody>
      </p:sp>
      <p:sp>
        <p:nvSpPr>
          <p:cNvPr id="8" name="S17-stepno141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7-text142"/>
          <p:cNvSpPr txBox="1"/>
          <p:nvPr/>
        </p:nvSpPr>
        <p:spPr>
          <a:xfrm>
            <a:off x="1325880" y="32918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높게, 낮게 내면 손을 머리 위, 무릎으로 옮겨요.</a:t>
            </a:r>
            <a:endParaRPr lang="ko-KR" sz="3000" dirty="0"/>
          </a:p>
        </p:txBody>
      </p:sp>
      <p:sp>
        <p:nvSpPr>
          <p:cNvPr id="10" name="S17-stepno143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7-text144"/>
          <p:cNvSpPr txBox="1"/>
          <p:nvPr/>
        </p:nvSpPr>
        <p:spPr>
          <a:xfrm>
            <a:off x="1325880" y="40050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이번에는 내가 소리를 내고, 엄마(아빠)가 몸으로 나타내요.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과학 소리의 성질</dc:title>
  <dc:subject>KR22-G03-SCI-SOUND-L01</dc:subject>
  <dc:creator>education-ppt</dc:creator>
  <cp:lastModifiedBy>education-ppt</cp:lastModifiedBy>
  <cp:revision>1</cp:revision>
  <dcterms:created xsi:type="dcterms:W3CDTF">2026-10-26T09:31:19Z</dcterms:created>
  <dcterms:modified xsi:type="dcterms:W3CDTF">2026-10-26T09:31:19Z</dcterms:modified>
</cp:coreProperties>
</file>