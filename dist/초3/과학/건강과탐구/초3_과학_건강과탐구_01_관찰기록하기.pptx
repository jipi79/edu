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e54c35-672d-850b-1571-b96d98deb8de}">
          <p14:sldIdLst>
            <p14:sldId id="256"/>
            <p14:sldId id="257"/>
          </p14:sldIdLst>
        </p14:section>
        <p14:section name="개념" id="{ac05e060-2b01-934f-9289-09ee1fcff411}">
          <p14:sldIdLst>
            <p14:sldId id="258"/>
            <p14:sldId id="261"/>
            <p14:sldId id="265"/>
          </p14:sldIdLst>
        </p14:section>
        <p14:section name="연습" id="{ef1d1df2-af72-9258-b47d-c2bd55dd2f2e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7f6bb63b-eb16-2026-b74c-6b1c7c5282fd}">
          <p14:sldIdLst/>
        </p14:section>
        <p14:section name="연습" id="{67c93d9f-538d-e8d6-d333-8f32f67821af}">
          <p14:sldIdLst/>
        </p14:section>
        <p14:section name="개념" id="{52e468f9-5bd3-c14a-8f5d-0381a9a5cf15}">
          <p14:sldIdLst/>
        </p14:section>
        <p14:section name="확인" id="{82f60982-ecbe-bd17-751d-6d0ddb0fa107}">
          <p14:sldIdLst>
            <p14:sldId id="266"/>
            <p14:sldId id="267"/>
            <p14:sldId id="268"/>
          </p14:sldIdLst>
        </p14:section>
        <p14:section name="정리" id="{79468882-87a1-8872-9b52-0f0f2cf81f1e}">
          <p14:sldIdLst>
            <p14:sldId id="269"/>
          </p14:sldIdLst>
        </p14:section>
        <p14:section name="보충" id="{8483cc03-1af6-dc1f-e5a3-cb7ff63ac8c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기록이 왜 필요한지 궁금하게 합니다.
시간: 약 2분
이렇게 말해 보세요
- “지난주 월요일 저녁에 먹은 반찬, 기억나? 정확히 말할 수 있어?”
- “과학자들은 본 것을 잊지 않으려고 기록을 해. 오늘은 얼음을 관찰하면서 좋은 기록을 쓰는 방법을 배울 거야.”
예상 답
- “잘 기억 안 나요.” “아마 김치였을 거예요.” 어떤 답이든 괜찮습니다.
막히면
- “그럼 오늘 아침에 먹은 것은?”처럼 가까운 일과 비교해 ‘시간이 지나면 잊는다’는 것을 느끼게 합니다.
주의
- 얼음은 S05에서 꺼냅니다. 컵에 담을 물은 미리 받아 두어 방 온도가 되게 합니다(차가운 수돗물을 바로 쓰지 않습니다).
- 얼음 두 조각은 같은 얼음 틀에서 꺼낸 비슷한 크기로 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확인(자로 길이 재기, 시각 읽기)]
목적: 기록할 때 쓰는 측정 기능을 확인합니다. 자로 cm 재기는 초2 ‘길이 재기’(KR22-G02-MAT-CM-L01), 시각 읽기는 초2 ‘시각과 시간’(KR22-G02-MAT-TIME-L01)에서 배웠습니다. 이 차시는 계획상 선수 차시가 없습니다.
시간: 약 3분
이렇게 말해 보세요
- “① 막대의 한쪽 끝이 0에 맞춰져 있어. 다른 끝은 어디야?”
- “② 짧은바늘과 긴바늘을 차례로 읽어 볼래?”
정답
- ① 5 cm
- ② 2시 25분
막히면
- 둘 중 하나라도 어려우면 S15(보충)를 먼저 합니다. 보충으로도 어려우면 초2 ‘길이 재기’(KR22-G02-MAT-CM-L01)와 ‘시각과 시간’(KR22-G02-MAT-TIME-L01)을 다시 합니다.
주의
- 오늘 기록에서 얼음 길이는 ‘약 3 cm’처럼 어림해도 됩니다. 시각은 휴대 전화 시계를 보고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관찰 기록의 요소]
목적: 관찰 기록에 들어가야 할 것과 그 까닭을 압니다(목표 A).
시간: 약 3분
이렇게 말해 보세요
- “관찰 기록에는 이 여섯 가지를 써. 하나씩 읽어 볼까?”
- “‘조건’은 관찰하는 것을 어디에, 어떻게 두었는지를 말해. 같은 얼음도 어디에 두느냐에 따라 달라질 수 있거든.”
- “측정값은 잰 수야. 수 뒤에는 꼭 cm, 분 같은 단위를 붙여.”
예상 답
- “날짜를 쓰면 언제 본 건지 알 수 있어요.” “단위를 안 쓰면 몇 cm인지 몰라요.”
막히면
- “이 기록을 친구가 읽는다면 무엇을 궁금해할까?”라고 묻고 카드와 이어 줍니다.
주의
- ‘조건’, ‘측정값’은 교과서에서 쓰는 말입니다. 처음에는 ‘어디에 어떻게 두었는지’, ‘잰 수’처럼 쉬운 말과 함께 씁니다.
- 그림 메모는 잘 그리는 것보다 본 대로 모양과 크기를 나타내고 이름표를 붙이는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관찰 전 예상하기]
목적: 관찰하기 전에 결과를 예상하고 까닭을 말하며, 예상을 정해진 칸에 씁니다(목표 B, 오해 M3).
시간: 약 2분
이렇게 말해 보세요
- “가는 접시 위에, 나는 방 온도의 물이 든 컵 속에 넣을 거야. 어느 얼음이 먼저 다 녹을까? 왜 그렇게 생각해?”
- “예상은 활동지 2의 ‘예상’ 줄에 쓰자. 결과는 나중에 다른 칸에 쓸 거야.”
예상 답
- 어떤 예상이든 괜찮습니다. “물은 차가우니까 컵 속 얼음이 늦게 녹을 것 같아요.” “똑같을 것 같아요.”
막히면
- “얼음을 물에 넣어 본 적 있어? 어떻게 됐어?”라고 경험을 떠올리게 합니다.
주의
- 결과를 알려 주지 않습니다. 예상이 틀려도 괜찮고, 예상과 결과를 나누어 쓰는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조건을 다르게 하여 관찰 시작하기]
목적: 놓아 두는 곳(조건)만 다르게 하여 관찰을 시작하고, 시각·측정값을 기록합니다(목표 B).
시간: 약 4분(관찰은 S06~S08을 하는 동안 이어짐)
이렇게 말해 보세요
- “얼음 옆에 자를 대고 가장 긴 쪽을 재 볼까? 약 몇 cm야? 수 뒤에 cm를 꼭 써.”
- “지금 시계를 보자. 몇 시 몇 분이야? ‘처음’ 줄에 써.”
- “이제 5분 뒤와 10분 뒤에 다시 볼 거야. 그동안 다른 사람의 기록을 살펴보자.”
예상 답
- “약 3 cm예요.” “2시 40분이에요.”
막히면
- 길이를 재기 어려우면 자 위에 얼음을 올려 0 눈금에 한쪽 끝을 맞추게 합니다. 정확하지 않아도 ‘약 3 cm’처럼 쓰면 됩니다.
- 쓰기가 느리면 부모가 시각을 읽어 주고 아이는 받아 씁니다.
주의
- 두 얼음을 동시에 넣고, 같은 방(같은 탁자 위)에 둡니다. 조건은 ‘놓아 둔 곳’ 한 가지만 다르게 합니다.
- 타이머(휴대 전화)를 5분에 맞춰 두면 S06~S08을 하다가 관찰 시각을 놓치지 않습니다.
- 유리컵 대신 플라스틱 컵을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본보기 기록 읽기(콩나물)]
목적: 잘 쓴 관찰 기록의 본보기를 읽고, 기록의 요소가 어떤 쓸모가 있는지 압니다(목표 A, 오해 M1).
시간: 약 3분
이렇게 말해 보세요
- “민지의 기록에서 날짜·시각, 조건, 측정값을 찾아 손가락으로 짚어 볼래?”
- “10월 5일과 10월 7일 사이에 콩나물은 몇 cm 자랐을까? 날짜가 없었다면 알 수 있었을까?”
예상 답
- “3 cm 자랐어요.” “날짜가 없으면 어느 게 먼저인지 몰라요.”
막히면
- 표의 한 줄을 부모가 문장으로 읽어 줍니다. “10월 5일 오전 8시, 어두운 곳에서 하루 세 번 물을 준 콩나물의 길이는 1 cm였다.”
주의
- 이 표는 기록 방법을 보여 주는 예시입니다. 실제 콩나물이 자라는 빠르기는 온도 등에 따라 다릅니다.
- ‘같음’은 앞 줄과 조건이 같다는 뜻입니다. 매일 같은 조건, 같은 시각에 재야 비교할 수 있습니다.
- 5분이 되면 잠깐 멈추고 얼음을 관찰해 활동지 2의 ‘5분 뒤’ 줄에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두 기록 비교하기]
목적: 두 기록을 비교해 날짜·시각, 조건, 측정값과 단위가 왜 필요한지 말합니다(목표 A, 오해 M1·M2).
시간: 약 3분
이렇게 말해 보세요
- “가와 나 중에서 다음 날 다시 읽었을 때 더 잘 알 수 있는 기록은 무엇일까?”
- “가 기록에는 무엇이 빠졌을까? S03의 카드를 하나씩 확인해 보자.”
정답
- 나가 더 좋은 기록입니다.
- 가에는 날짜·시각, 조건(어두운 곳), 측정값과 단위(4 cm)가 빠졌습니다. ‘많이’는 사람마다 다르게 생각할 수 있습니다.
막히면
- “‘많이 컸다’는 몇 cm만큼일까? 사람마다 같게 생각할까?”라고 묻습니다.
주의
- 빠진 것을 두 가지 이상 찾으면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빠진 것 찾기]
목적: 도움을 받으며 기록에서 빠진 요소를 찾고 고쳐 말합니다(목표 A, 오해 M1·M2).
시간: 약 3분
이렇게 말해 보세요
- “① 키 6이라고 하면 6 cm일까, 6 mm일까?”
- “② ‘오늘’이라고 쓰면 다음 주에 읽을 때 언제인지 알 수 있을까? 어떤 화분인지도 알 수 있어?”
- “③ 얼음이 얼마나 녹았는지, 몇 분 만에 녹았는지 알 수 있어?”
정답
- ① 단위(6 cm), 시각
- ② 날짜와 시각(‘오늘’ 대신 10월 ○일), 어떤 화분(관찰 대상)인지
- ③ 날짜, 측정값(몇 분 동안, 얼마나 녹았는지), 어디에 두었는지(조건)
- 기준: 빠진 것을 한 문제에 하나 이상 찾으면 맞음
막히면
- S03의 카드 여섯 장을 차례로 짚으며 “이건 있어? 없어?”를 확인합니다.
주의
- 10분이 되면 잠깐 멈추고 얼음을 관찰해 활동지 2의 ‘10분 뒤’ 줄에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관찰 결과 정리]
목적: 기록한 결과를 시각 순서대로 정리하고 예상과 비교합니다(목표 B, 오해 M3).
시간: 약 3분
이렇게 말해 보세요
- “처음, 5분 뒤, 10분 뒤에 가 얼음은 어땠어? 나 얼음은?” 표를 한 줄씩 짚으며 아이가 활동지를 보고 말하게 합니다.
- “어느 얼음이 먼저 다 녹았어(더 많이 녹았어)? 네 예상과 같아?”
예상 답
- 보통 나(물컵 속) 얼음이 몇 분 만에 크게 줄거나 다 녹고, 가(접시 위) 얼음은 10분 뒤에도 많이 남아 있습니다. “물컵 속 얼음이 먼저 녹았어요. 제 예상과 달랐어요.”
막히면
- 활동지에 적은 말이 적으면 지금 두 얼음을 다시 보며 말로 보태게 합니다.
주의
- 화면의 빈칸은 아이가 말로 채우는 자리입니다. 결과가 예상과 달라도 예상 칸을 고치지 않습니다(오해 M3).
- 방이 아주 따뜻하거나 얼음 크기가 많이 다르면 결과가 덜 뚜렷할 수 있습니다. 아이의 기록을 그대로 인정하고, 같은 크기 얼음으로 한 번 더 해 보자고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기록을 근거로 설명하기]
목적: 기록을 근거로 결과를 말하고, 조건이 다르면 결과가 달라질 수 있으므로 조건을 기록해야 한다는 것을 정리합니다(목표 B, 오해 M4).
시간: 약 3분
이렇게 말해 보세요
- “두 얼음에서 같게 한 것은 무엇이고, 다르게 한 것은 무엇이었지?”
- “만약 기록에 ‘어디에 두었는지’를 안 썼다면, 다른 사람이 왜 녹는 빠르기가 달랐는지 알 수 있을까?”
예상 답
- “크기는 같고, 놓은 곳만 달랐어요.” “조건을 안 쓰면 왜 다른지 몰라요.”
막히면
- 활동지 2에서 ‘10분 뒤’ 줄을 손가락으로 짚고 “여기에 쓴 것이 증거야”라고 알려 줍니다.
주의
- 물이 공기보다 얼음에 열을 훨씬 빨리 전해 주기 때문에 물컵 속 얼음이 빨리 녹습니다. 3학년에서는 까닭보다 ‘조건이 다르면 결과가 달라질 수 있다’에 집중합니다.
- 아이의 결과가 달랐다면 ‘결과(기록)’ 카드는 아이의 기록으로 바꾸어 말합니다.
- 지치면 여기서 쉬고, 다음에 S11부터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기록을 고쳐 쓰고(①②), 자기 기록을 근거로 결과를 말하는지(③) 확인합니다(목표 A·B).
시간: 약 4분
이렇게 말해 보세요
- “이번에는 혼자 해 볼래? ①은 활동지 4에 써도 돼.”
- “③은 활동지 2에서 어느 줄을 보고 알았는지 손가락으로 짚어 줘.”
정답
- ① 기준: 날짜·시각과 관찰 대상을 넣어 고치면 맞음. 예) 10월 11일 오후 4시, 베란다의 강낭콩 화분, 잎 4장
- ② 단위(cm). 예) 얼음 길이 약 3 cm
- ③ 보통 물컵 속 얼음(아이의 기록대로). 기준: ‘5분 뒤’나 ‘10분 뒤’ 줄처럼 기록의 칸을 근거로 말하면 맞음
막히면
- 바로 알려 주지 말고 S03의 카드 여섯 장을 보여 주며 “무엇이 빠졌을까?”라고만 묻습니다.
- 도움을 받아 해결했다면 기록표에 ‘도움’으로 표시합니다.
주의
- ③에서 “그냥 봤어요”라고 하면 “어디에 써 놓았어?”라고 다시 묻습니다. 기억이 아니라 기록을 근거로 말하는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무엇이 빠졌는지 찾아보자.”
정답
- ① 날짜·시각과 관찰 대상을 넣은 기록 ② 단위(cm) ③ 아이의 기록대로(보통 물컵 속 얼음), 기록의 칸을 근거로
막히면
- ①②가 틀리면 S07·S08로(M1·M2), ③에서 근거를 말하지 못하면 S09·S10으로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확인(측정값과 단위)]
목적: 처음 보는 문제에서 측정값을 수와 단위로 바르게 쓴 기록을 고르고 까닭을 말하는지 확인합니다(목표 A, 오해 M2).
시간: 약 2분
이렇게 말해 보세요
- “세 기록 중에서 다른 사람이 읽어도 똑같이 알 수 있는 것은 무엇일까? 왜 그렇게 생각해?”
정답
- 나(길이: 3 cm). 수와 단위를 함께 써야 얼마나 긴지 정확히 알 수 있습니다.
- 가는 단위가 없어 3 cm인지 3 mm인지 알 수 없고, 다는 ‘길다’가 사람마다 다르게 느껴집니다.
막히면
- 자를 보여 주며 “3이 3 cm일 수도, 3 mm일 수도 있겠지?”라고 묻습니다.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“좋은 관찰 기록에는 무엇을 써야 했지? 손가락을 접으며 말해 볼래?”
예상 답
- “날짜, 시각, 무엇을 봤는지, 조건, 잰 수랑 단위, 그림이요.”
정답
- ① 날짜·시각, 관찰 대상, 조건, 측정값과 단위, 그림 메모 중 두 가지 ② 단위(예: cm)와 날짜·시각 ③ 조건이 다르면 결과가 달라질 수 있어서, 왜 다른지 알려면
막히면
- S03, S07, S10을 다시 보여 줍니다.
주의
- 복습 세 문제는 다음 수업을 시작할 때 활동지 마지막 쪽과 함께 풉니다. 다음 차시 ‘감염병 예방’에서도 실험 결과를 이 방법으로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보충(자로 재기, 시각 읽기)]
목적: S02가 흔들리면, 자로 cm 재기와 시각 읽기를 다시 연습합니다.
시간: 약 5분
이렇게 말해 보세요
- “막대의 왼쪽 끝이 0에 있지? 오른쪽 끝의 숫자를 읽으면 길이야.”
- “짧은바늘이 4와 5 사이에 있으면 4시야. 긴바늘이 2를 가리키면 10분이야.”
- “집에 있는 연필 길이를 재 볼까? 지금은 몇 시 몇 분이야?”
정답
- 막대 3 cm, 시계 4시 10분
막히면
- 긴바늘이 가리키는 숫자에 5씩 뛰어 세며(5, 10, 15…) 분을 읽게 합니다.
주의
- 이 차시는 계획상 선수 차시가 없습니다. 보충으로도 어려우면 초2 ‘길이 재기’(KR22-G02-MAT-CM-L01)와 ‘시각과 시간’(KR22-G02-MAT-TIME-L01)을 먼저 합니다. 그동안 시각은 부모가 읽어 주고 아이는 받아 써도 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건강과탐구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지난주에 본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똑같이 말할 수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 무엇을 써야 하는지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날짜·조건·측정값·그림으로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자와 시계 읽기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막대의 길이는 몇 cm일까요?  ② 몇 시 몇 분일까요?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figure5" descr="8 cm 자 위에 0부터 5 cm까지 놓인 막대"/>
          <p:cNvSpPr/>
          <p:nvPr/>
        </p:nvSpPr>
        <p:spPr>
          <a:xfrm>
            <a:off x="2834640" y="2809702"/>
            <a:ext cx="7315200" cy="1122218"/>
          </a:xfrm>
          <a:custGeom>
            <a:avLst/>
            <a:gdLst/>
            <a:ahLst/>
            <a:cxnLst/>
            <a:rect l="l" t="t" r="r" b="b"/>
            <a:pathLst>
              <a:path w="7315200" h="1122218">
                <a:moveTo>
                  <a:pt x="0" y="0"/>
                </a:moveTo>
                <a:lnTo>
                  <a:pt x="7315200" y="0"/>
                </a:lnTo>
                <a:lnTo>
                  <a:pt x="7315200" y="1122218"/>
                </a:lnTo>
                <a:lnTo>
                  <a:pt x="0" y="1122218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3167149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2-label8"/>
          <p:cNvSpPr txBox="1"/>
          <p:nvPr/>
        </p:nvSpPr>
        <p:spPr>
          <a:xfrm>
            <a:off x="3011701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2-mark9"/>
          <p:cNvSpPr/>
          <p:nvPr/>
        </p:nvSpPr>
        <p:spPr>
          <a:xfrm>
            <a:off x="3582785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mark10"/>
          <p:cNvSpPr/>
          <p:nvPr/>
        </p:nvSpPr>
        <p:spPr>
          <a:xfrm>
            <a:off x="3998422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2-label12"/>
          <p:cNvSpPr txBox="1"/>
          <p:nvPr/>
        </p:nvSpPr>
        <p:spPr>
          <a:xfrm>
            <a:off x="3842974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2-mark13"/>
          <p:cNvSpPr/>
          <p:nvPr/>
        </p:nvSpPr>
        <p:spPr>
          <a:xfrm>
            <a:off x="4414058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mark14"/>
          <p:cNvSpPr/>
          <p:nvPr/>
        </p:nvSpPr>
        <p:spPr>
          <a:xfrm>
            <a:off x="4829695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label16"/>
          <p:cNvSpPr txBox="1"/>
          <p:nvPr/>
        </p:nvSpPr>
        <p:spPr>
          <a:xfrm>
            <a:off x="4674247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2-mark17"/>
          <p:cNvSpPr/>
          <p:nvPr/>
        </p:nvSpPr>
        <p:spPr>
          <a:xfrm>
            <a:off x="5245331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mark18"/>
          <p:cNvSpPr/>
          <p:nvPr/>
        </p:nvSpPr>
        <p:spPr>
          <a:xfrm>
            <a:off x="5660967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2-label20"/>
          <p:cNvSpPr txBox="1"/>
          <p:nvPr/>
        </p:nvSpPr>
        <p:spPr>
          <a:xfrm>
            <a:off x="5505519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2-mark21"/>
          <p:cNvSpPr/>
          <p:nvPr/>
        </p:nvSpPr>
        <p:spPr>
          <a:xfrm>
            <a:off x="6076604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mark22"/>
          <p:cNvSpPr/>
          <p:nvPr/>
        </p:nvSpPr>
        <p:spPr>
          <a:xfrm>
            <a:off x="6492240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2-label24"/>
          <p:cNvSpPr txBox="1"/>
          <p:nvPr/>
        </p:nvSpPr>
        <p:spPr>
          <a:xfrm>
            <a:off x="6336792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2-mark25"/>
          <p:cNvSpPr/>
          <p:nvPr/>
        </p:nvSpPr>
        <p:spPr>
          <a:xfrm>
            <a:off x="6907876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mark26"/>
          <p:cNvSpPr/>
          <p:nvPr/>
        </p:nvSpPr>
        <p:spPr>
          <a:xfrm>
            <a:off x="7323513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2-label28"/>
          <p:cNvSpPr txBox="1"/>
          <p:nvPr/>
        </p:nvSpPr>
        <p:spPr>
          <a:xfrm>
            <a:off x="7168065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3" name="S02-mark29"/>
          <p:cNvSpPr/>
          <p:nvPr/>
        </p:nvSpPr>
        <p:spPr>
          <a:xfrm>
            <a:off x="7739149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mark30"/>
          <p:cNvSpPr/>
          <p:nvPr/>
        </p:nvSpPr>
        <p:spPr>
          <a:xfrm>
            <a:off x="8154785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2-label32"/>
          <p:cNvSpPr txBox="1"/>
          <p:nvPr/>
        </p:nvSpPr>
        <p:spPr>
          <a:xfrm>
            <a:off x="7999337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6" name="S02-mark33"/>
          <p:cNvSpPr/>
          <p:nvPr/>
        </p:nvSpPr>
        <p:spPr>
          <a:xfrm>
            <a:off x="8570422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mark34"/>
          <p:cNvSpPr/>
          <p:nvPr/>
        </p:nvSpPr>
        <p:spPr>
          <a:xfrm>
            <a:off x="8986058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02-label36"/>
          <p:cNvSpPr txBox="1"/>
          <p:nvPr/>
        </p:nvSpPr>
        <p:spPr>
          <a:xfrm>
            <a:off x="8830610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9" name="S02-mark37"/>
          <p:cNvSpPr/>
          <p:nvPr/>
        </p:nvSpPr>
        <p:spPr>
          <a:xfrm>
            <a:off x="9401695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mark38"/>
          <p:cNvSpPr/>
          <p:nvPr/>
        </p:nvSpPr>
        <p:spPr>
          <a:xfrm>
            <a:off x="9817331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02-label40"/>
          <p:cNvSpPr txBox="1"/>
          <p:nvPr/>
        </p:nvSpPr>
        <p:spPr>
          <a:xfrm>
            <a:off x="9661883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2" name="S02-mark41"/>
          <p:cNvSpPr/>
          <p:nvPr/>
        </p:nvSpPr>
        <p:spPr>
          <a:xfrm>
            <a:off x="3167149" y="2269375"/>
            <a:ext cx="4156364" cy="332509"/>
          </a:xfrm>
          <a:custGeom>
            <a:avLst/>
            <a:gdLst/>
            <a:ahLst/>
            <a:cxnLst/>
            <a:rect l="l" t="t" r="r" b="b"/>
            <a:pathLst>
              <a:path w="4156364" h="332509">
                <a:moveTo>
                  <a:pt x="0" y="332509"/>
                </a:moveTo>
                <a:lnTo>
                  <a:pt x="4156364" y="332509"/>
                </a:lnTo>
                <a:lnTo>
                  <a:pt x="415636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2-mark42"/>
          <p:cNvSpPr/>
          <p:nvPr/>
        </p:nvSpPr>
        <p:spPr>
          <a:xfrm>
            <a:off x="3167149" y="2601884"/>
            <a:ext cx="0" cy="20781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4" name="S02-mark43"/>
          <p:cNvSpPr/>
          <p:nvPr/>
        </p:nvSpPr>
        <p:spPr>
          <a:xfrm>
            <a:off x="7323513" y="2601884"/>
            <a:ext cx="0" cy="20781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5" name="S02-chip4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2-figure45" descr="2시 25분을 가리키는 시계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37" name="S02-line46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2-line47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8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9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50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51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2-line52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53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54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55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56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2-line57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8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9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60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61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2-line62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63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64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65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66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2-line67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8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9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70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71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line72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73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74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ine75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2-line76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02-line77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2-line78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2-line79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2-line80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2-line81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02-line82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2-line83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2-line84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2-line85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2-line86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8" name="S02-line87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2-line88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2-line89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2-line90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2-line91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92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93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94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95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96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97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8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9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00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01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02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03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04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05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abel106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8" name="S02-label107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99" name="S02-label108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0" name="S02-label109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1" name="S02-label110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2" name="S02-label111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3" name="S02-label112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04" name="S02-label113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05" name="S02-label114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06" name="S02-label115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07" name="S02-label116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08" name="S02-label117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09" name="S02-line118"/>
          <p:cNvSpPr/>
          <p:nvPr/>
        </p:nvSpPr>
        <p:spPr>
          <a:xfrm flipV="1">
            <a:off x="4087368" y="5078997"/>
            <a:ext cx="422086" cy="1330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10" name="S02-line119"/>
          <p:cNvSpPr/>
          <p:nvPr/>
        </p:nvSpPr>
        <p:spPr>
          <a:xfrm>
            <a:off x="4087368" y="5212080"/>
            <a:ext cx="321869" cy="55749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11" name="S02-pin120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</a:t>
            </a:r>
            <a:endParaRPr lang="ko-KR" sz="4000" dirty="0"/>
          </a:p>
        </p:txBody>
      </p:sp>
      <p:sp>
        <p:nvSpPr>
          <p:cNvPr id="3" name="S03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사람이 읽어도 똑같이 알 수 있게 써요.</a:t>
            </a:r>
            <a:endParaRPr lang="ko-KR" sz="3000" dirty="0"/>
          </a:p>
        </p:txBody>
      </p:sp>
      <p:sp>
        <p:nvSpPr>
          <p:cNvPr id="5" name="S03-card123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4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날짜·시각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관찰했나요?</a:t>
            </a:r>
            <a:endParaRPr lang="ko-KR" sz="3000" dirty="0"/>
          </a:p>
        </p:txBody>
      </p:sp>
      <p:sp>
        <p:nvSpPr>
          <p:cNvPr id="7" name="S03-card125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6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대상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관찰했나요?</a:t>
            </a:r>
            <a:endParaRPr lang="ko-KR" sz="3000" dirty="0"/>
          </a:p>
        </p:txBody>
      </p:sp>
      <p:sp>
        <p:nvSpPr>
          <p:cNvPr id="9" name="S03-card127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28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어떻게 두었나요?</a:t>
            </a:r>
            <a:endParaRPr lang="ko-KR" sz="3000" dirty="0"/>
          </a:p>
        </p:txBody>
      </p:sp>
      <p:sp>
        <p:nvSpPr>
          <p:cNvPr id="11" name="S03-card129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30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측정값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잰 수와 단위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3 cm, 5분</a:t>
            </a:r>
            <a:endParaRPr lang="ko-KR" sz="3000" dirty="0"/>
          </a:p>
        </p:txBody>
      </p:sp>
      <p:sp>
        <p:nvSpPr>
          <p:cNvPr id="13" name="S03-card131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132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메모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써요.</a:t>
            </a:r>
            <a:endParaRPr lang="ko-KR" sz="3000" dirty="0"/>
          </a:p>
        </p:txBody>
      </p:sp>
      <p:sp>
        <p:nvSpPr>
          <p:cNvPr id="15" name="S03-card133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134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나누어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135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 얼음 두 조각을 놓아요.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얼음이 먼저 다 녹을까요?</a:t>
            </a:r>
            <a:endParaRPr lang="ko-KR" sz="3000" dirty="0"/>
          </a:p>
        </p:txBody>
      </p:sp>
      <p:sp>
        <p:nvSpPr>
          <p:cNvPr id="4" name="S04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활동지 2의 ‘예상’ 줄에 써요.</a:t>
            </a:r>
            <a:endParaRPr lang="ko-KR" sz="3000" dirty="0"/>
          </a:p>
        </p:txBody>
      </p:sp>
      <p:sp>
        <p:nvSpPr>
          <p:cNvPr id="6" name="S04-chip138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card139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40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위의 얼음</a:t>
            </a:r>
            <a:endParaRPr lang="ko-KR" sz="3000" dirty="0"/>
          </a:p>
        </p:txBody>
      </p:sp>
      <p:sp>
        <p:nvSpPr>
          <p:cNvPr id="9" name="S04-chip141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4-card142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143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 속의 얼음</a:t>
            </a:r>
            <a:endParaRPr lang="ko-KR" sz="3000" dirty="0"/>
          </a:p>
        </p:txBody>
      </p:sp>
      <p:sp>
        <p:nvSpPr>
          <p:cNvPr id="12" name="S04-chip144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4-card145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146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녹아요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얼음을 관찰하고 기록해요</a:t>
            </a:r>
            <a:endParaRPr lang="ko-KR" sz="4000" dirty="0"/>
          </a:p>
        </p:txBody>
      </p:sp>
      <p:sp>
        <p:nvSpPr>
          <p:cNvPr id="3" name="S05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얼음을 입에 넣지 않아요. 흘린 물은 바로 닦아요.</a:t>
            </a:r>
            <a:endParaRPr lang="ko-KR" sz="3000" dirty="0"/>
          </a:p>
        </p:txBody>
      </p:sp>
      <p:sp>
        <p:nvSpPr>
          <p:cNvPr id="5" name="S05-card149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0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시각은 시계를 보고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 뒤에 단위를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</p:txBody>
      </p:sp>
      <p:sp>
        <p:nvSpPr>
          <p:cNvPr id="7" name="S05-stepno151"/>
          <p:cNvSpPr txBox="1"/>
          <p:nvPr/>
        </p:nvSpPr>
        <p:spPr>
          <a:xfrm>
            <a:off x="548640" y="1781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52"/>
          <p:cNvSpPr txBox="1"/>
          <p:nvPr/>
        </p:nvSpPr>
        <p:spPr>
          <a:xfrm>
            <a:off x="1325880" y="1781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장소를 활동지 2에 써요.</a:t>
            </a:r>
            <a:endParaRPr lang="ko-KR" sz="2400" dirty="0"/>
          </a:p>
        </p:txBody>
      </p:sp>
      <p:sp>
        <p:nvSpPr>
          <p:cNvPr id="9" name="S05-stepno153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54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얼음의 길이를 자로 재어 써요.</a:t>
            </a:r>
            <a:endParaRPr lang="ko-KR" sz="2400" dirty="0"/>
          </a:p>
        </p:txBody>
      </p:sp>
      <p:sp>
        <p:nvSpPr>
          <p:cNvPr id="11" name="S05-stepno1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접시에, 나는 물컵에 넣고 시각을 써요.</a:t>
            </a:r>
            <a:endParaRPr lang="ko-KR" sz="2400" dirty="0"/>
          </a:p>
        </p:txBody>
      </p:sp>
      <p:sp>
        <p:nvSpPr>
          <p:cNvPr id="13" name="S05-stepno1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1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뒤, 10분 뒤에 모습을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기록의 예: 콩나물</a:t>
            </a:r>
            <a:endParaRPr lang="ko-KR" sz="40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민지가 사흘 동안 콩나물을 관찰한 기록이에요.</a:t>
            </a:r>
            <a:endParaRPr lang="ko-KR" sz="30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단위가 있어서 얼마나 자랐는지 알 수 있어요.</a:t>
            </a:r>
            <a:endParaRPr lang="ko-KR" sz="3000" dirty="0"/>
          </a:p>
        </p:txBody>
      </p:sp>
      <p:graphicFrame>
        <p:nvGraphicFramePr>
          <p:cNvPr id="7" name="S06-table1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53666"/>
          <a:ext cx="109728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3291840"/>
                <a:gridCol w="1426464"/>
                <a:gridCol w="384048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날짜·시각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 메모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5일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하루 세 번 물 주기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하얀 뿌리가 나옴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6일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줄기가 길어짐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7일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줄기가 더 길어짐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기록이 더 좋을까요?</a:t>
            </a:r>
            <a:endParaRPr lang="ko-KR" sz="4000" dirty="0"/>
          </a:p>
        </p:txBody>
      </p:sp>
      <p:sp>
        <p:nvSpPr>
          <p:cNvPr id="3" name="S07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콩나물을 관찰하고 기록했어요.</a:t>
            </a:r>
            <a:endParaRPr lang="ko-KR" sz="3000" dirty="0"/>
          </a:p>
        </p:txBody>
      </p:sp>
      <p:sp>
        <p:nvSpPr>
          <p:cNvPr id="5" name="S07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좋은 기록은? 가 기록에 빠진 것은 무엇일까요?</a:t>
            </a:r>
            <a:endParaRPr lang="ko-KR" sz="3000" dirty="0"/>
          </a:p>
        </p:txBody>
      </p:sp>
      <p:sp>
        <p:nvSpPr>
          <p:cNvPr id="7" name="S07-chip16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16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콩나물이 많이 컸다.</a:t>
            </a:r>
            <a:endParaRPr lang="ko-KR" sz="3000" dirty="0"/>
          </a:p>
        </p:txBody>
      </p:sp>
      <p:sp>
        <p:nvSpPr>
          <p:cNvPr id="9" name="S07-chip16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17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 오전 8시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곳, 길이 4 cm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줄기가 길어짐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것을 찾아요</a:t>
            </a:r>
            <a:endParaRPr lang="ko-KR" sz="4000" dirty="0"/>
          </a:p>
        </p:txBody>
      </p:sp>
      <p:sp>
        <p:nvSpPr>
          <p:cNvPr id="3" name="S08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기록에서 빠진 것을 찾아 말해요.</a:t>
            </a:r>
            <a:endParaRPr lang="ko-KR" sz="3000" dirty="0"/>
          </a:p>
        </p:txBody>
      </p:sp>
      <p:sp>
        <p:nvSpPr>
          <p:cNvPr id="4" name="S08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S03의 여섯 가지를 하나씩 확인해요.</a:t>
            </a:r>
            <a:endParaRPr lang="ko-KR" sz="3000" dirty="0"/>
          </a:p>
        </p:txBody>
      </p:sp>
      <p:sp>
        <p:nvSpPr>
          <p:cNvPr id="6" name="S08-chip1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17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9일, 창가의 강낭콩. 키 6</a:t>
            </a:r>
            <a:endParaRPr lang="ko-KR" sz="3000" dirty="0"/>
          </a:p>
        </p:txBody>
      </p:sp>
      <p:sp>
        <p:nvSpPr>
          <p:cNvPr id="8" name="S08-chip1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17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화분에 물을 줬다. 잎이 3장.</a:t>
            </a:r>
            <a:endParaRPr lang="ko-KR" sz="3000" dirty="0"/>
          </a:p>
        </p:txBody>
      </p:sp>
      <p:sp>
        <p:nvSpPr>
          <p:cNvPr id="10" name="S08-chip1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17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 3시, 거실. 얼음이 녹았다.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9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9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같았나요, 달랐나요?</a:t>
            </a:r>
            <a:endParaRPr lang="ko-KR" sz="3000" dirty="0"/>
          </a:p>
        </p:txBody>
      </p:sp>
      <p:graphicFrame>
        <p:nvGraphicFramePr>
          <p:cNvPr id="10" name="S09-table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3721608"/>
                <a:gridCol w="37216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접시 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물컵 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5분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10분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증거예요</a:t>
            </a:r>
            <a:endParaRPr lang="ko-KR" sz="4000" dirty="0"/>
          </a:p>
        </p:txBody>
      </p:sp>
      <p:sp>
        <p:nvSpPr>
          <p:cNvPr id="3" name="S10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하나만 달랐는데 녹는 빠르기가 달랐어요.</a:t>
            </a:r>
            <a:endParaRPr lang="ko-KR" sz="3000" dirty="0"/>
          </a:p>
        </p:txBody>
      </p:sp>
      <p:sp>
        <p:nvSpPr>
          <p:cNvPr id="4" name="S10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기록에는 조건을 꼭 써요.</a:t>
            </a:r>
            <a:endParaRPr lang="ko-KR" sz="3000" dirty="0"/>
          </a:p>
        </p:txBody>
      </p:sp>
      <p:sp>
        <p:nvSpPr>
          <p:cNvPr id="6" name="S10-card18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8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같게 한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 크기, 같은 방,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시간</a:t>
            </a:r>
            <a:endParaRPr lang="ko-KR" sz="3000" dirty="0"/>
          </a:p>
        </p:txBody>
      </p:sp>
      <p:sp>
        <p:nvSpPr>
          <p:cNvPr id="8" name="S10-card18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9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다르게 한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놓아 둔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(접시 위, 물컵 속)</a:t>
            </a:r>
            <a:endParaRPr lang="ko-KR" sz="3000" dirty="0"/>
          </a:p>
        </p:txBody>
      </p:sp>
      <p:sp>
        <p:nvSpPr>
          <p:cNvPr id="10" name="S10-card19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19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결과(기록)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물컵 속 얼음이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빨리 녹았어요.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9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9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 베란다 화분 잎 4장’을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좋은 기록으로 고쳐 말해요.</a:t>
            </a:r>
            <a:endParaRPr lang="ko-KR" sz="3000" dirty="0"/>
          </a:p>
        </p:txBody>
      </p:sp>
      <p:sp>
        <p:nvSpPr>
          <p:cNvPr id="5" name="S11-chip19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9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‘얼음 길이 3’에 무엇을 더 써야 할까요?</a:t>
            </a:r>
            <a:endParaRPr lang="ko-KR" sz="3000" dirty="0"/>
          </a:p>
        </p:txBody>
      </p:sp>
      <p:sp>
        <p:nvSpPr>
          <p:cNvPr id="7" name="S11-chip19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9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얼음이 먼저 녹았나요?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기록의 어디를 보고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9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0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날짜·시각, 대상, 단위를 넣고, 결과는 기록의 칸을 근거로 말하면 맞아요.</a:t>
            </a:r>
            <a:endParaRPr lang="ko-KR" sz="3000" dirty="0"/>
          </a:p>
        </p:txBody>
      </p:sp>
      <p:sp>
        <p:nvSpPr>
          <p:cNvPr id="5" name="S12-chip20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02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날짜·시각,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넣기</a:t>
            </a:r>
            <a:endParaRPr lang="ko-KR" sz="2400" dirty="0"/>
          </a:p>
        </p:txBody>
      </p:sp>
      <p:sp>
        <p:nvSpPr>
          <p:cNvPr id="7" name="S12-text203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11일 오후 4시, 강낭콩 화분</a:t>
            </a:r>
            <a:endParaRPr lang="ko-KR" sz="2400" dirty="0"/>
          </a:p>
        </p:txBody>
      </p:sp>
      <p:sp>
        <p:nvSpPr>
          <p:cNvPr id="8" name="S12-text204"/>
          <p:cNvSpPr txBox="1"/>
          <p:nvPr/>
        </p:nvSpPr>
        <p:spPr>
          <a:xfrm>
            <a:off x="548640" y="2994152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 3 cm</a:t>
            </a:r>
            <a:endParaRPr lang="ko-KR" sz="3000" dirty="0"/>
          </a:p>
        </p:txBody>
      </p:sp>
      <p:sp>
        <p:nvSpPr>
          <p:cNvPr id="9" name="S12-text205"/>
          <p:cNvSpPr txBox="1"/>
          <p:nvPr/>
        </p:nvSpPr>
        <p:spPr>
          <a:xfrm>
            <a:off x="3367278" y="2994152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</a:t>
            </a:r>
            <a:endParaRPr lang="ko-KR" sz="2400" dirty="0"/>
          </a:p>
        </p:txBody>
      </p:sp>
      <p:sp>
        <p:nvSpPr>
          <p:cNvPr id="10" name="S12-text206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물컵 속 얼음</a:t>
            </a:r>
            <a:endParaRPr lang="ko-KR" sz="3000" dirty="0"/>
          </a:p>
        </p:txBody>
      </p:sp>
      <p:sp>
        <p:nvSpPr>
          <p:cNvPr id="11" name="S12-text207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뒤 줄을 봄</a:t>
            </a:r>
            <a:endParaRPr lang="ko-KR" sz="2400" dirty="0"/>
          </a:p>
        </p:txBody>
      </p:sp>
      <p:sp>
        <p:nvSpPr>
          <p:cNvPr id="12" name="S12-chip20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20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오늘 잎 4장</a:t>
            </a:r>
            <a:endParaRPr lang="ko-KR" sz="3000" dirty="0"/>
          </a:p>
        </p:txBody>
      </p:sp>
      <p:sp>
        <p:nvSpPr>
          <p:cNvPr id="14" name="S12-text21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‘오늘’은 날짜가 아님(M1)</a:t>
            </a:r>
            <a:endParaRPr lang="ko-KR" sz="2400" dirty="0"/>
          </a:p>
        </p:txBody>
      </p:sp>
      <p:sp>
        <p:nvSpPr>
          <p:cNvPr id="15" name="S12-text21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그냥 기억나요</a:t>
            </a:r>
            <a:endParaRPr lang="ko-KR" sz="3000" dirty="0"/>
          </a:p>
        </p:txBody>
      </p:sp>
      <p:sp>
        <p:nvSpPr>
          <p:cNvPr id="16" name="S12-text21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근거로 말하지 않음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기록은?</a:t>
            </a:r>
            <a:endParaRPr lang="ko-KR" sz="4000" dirty="0"/>
          </a:p>
        </p:txBody>
      </p:sp>
      <p:sp>
        <p:nvSpPr>
          <p:cNvPr id="3" name="S13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얼음의 길이를 잰 기록이에요.</a:t>
            </a:r>
            <a:endParaRPr lang="ko-KR" sz="3000" dirty="0"/>
          </a:p>
        </p:txBody>
      </p:sp>
      <p:sp>
        <p:nvSpPr>
          <p:cNvPr id="4" name="S13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것을 고르고, 까닭을 말해요.</a:t>
            </a:r>
            <a:endParaRPr lang="ko-KR" sz="3000" dirty="0"/>
          </a:p>
        </p:txBody>
      </p:sp>
      <p:sp>
        <p:nvSpPr>
          <p:cNvPr id="6" name="S13-chip21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1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1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3</a:t>
            </a:r>
            <a:endParaRPr lang="ko-KR" sz="3000" dirty="0"/>
          </a:p>
        </p:txBody>
      </p:sp>
      <p:sp>
        <p:nvSpPr>
          <p:cNvPr id="9" name="S13-chip21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2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2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3 cm</a:t>
            </a:r>
            <a:endParaRPr lang="ko-KR" sz="3000" dirty="0"/>
          </a:p>
        </p:txBody>
      </p:sp>
      <p:sp>
        <p:nvSpPr>
          <p:cNvPr id="12" name="S13-chip22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2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2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길다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기록에는 날짜·시각, 대상, 조건, 측정값과 단위,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메모를 쓰고, 예상과 결과는 나누어 써요.</a:t>
            </a:r>
            <a:endParaRPr lang="ko-KR" sz="3000" dirty="0"/>
          </a:p>
        </p:txBody>
      </p:sp>
      <p:sp>
        <p:nvSpPr>
          <p:cNvPr id="5" name="S14-chip22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수 뒤에 단위 쓰기</a:t>
            </a:r>
            <a:endParaRPr lang="ko-KR" sz="2400" dirty="0"/>
          </a:p>
        </p:txBody>
      </p:sp>
      <p:sp>
        <p:nvSpPr>
          <p:cNvPr id="6" name="S14-chip22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‘오늘’, ‘어제’로만 쓰기</a:t>
            </a:r>
            <a:endParaRPr lang="ko-KR" sz="2400" dirty="0"/>
          </a:p>
        </p:txBody>
      </p:sp>
      <p:sp>
        <p:nvSpPr>
          <p:cNvPr id="7" name="S14-text22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3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 쓰는 것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400" dirty="0"/>
          </a:p>
        </p:txBody>
      </p:sp>
      <p:sp>
        <p:nvSpPr>
          <p:cNvPr id="9" name="S14-text23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‘키 5’에 빠진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것은?</a:t>
            </a:r>
            <a:endParaRPr lang="ko-KR" sz="2400" dirty="0"/>
          </a:p>
        </p:txBody>
      </p:sp>
      <p:sp>
        <p:nvSpPr>
          <p:cNvPr id="10" name="S14-text23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기록에 조건을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까닭은?</a:t>
            </a:r>
            <a:endParaRPr lang="ko-KR" sz="2400" dirty="0"/>
          </a:p>
        </p:txBody>
      </p:sp>
      <p:sp>
        <p:nvSpPr>
          <p:cNvPr id="11" name="S14-text2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감염병 예방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자와 시계 읽기</a:t>
            </a:r>
            <a:endParaRPr lang="ko-KR" sz="4000" dirty="0"/>
          </a:p>
        </p:txBody>
      </p:sp>
      <p:sp>
        <p:nvSpPr>
          <p:cNvPr id="3" name="S15-text2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0 눈금에 맞추고, 시계는 짧은바늘부터 읽어요.</a:t>
            </a:r>
            <a:endParaRPr lang="ko-KR" sz="3000" dirty="0"/>
          </a:p>
        </p:txBody>
      </p:sp>
      <p:sp>
        <p:nvSpPr>
          <p:cNvPr id="4" name="S15-card2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가리키는 숫자 1은 5분, 2는 10분이에요.</a:t>
            </a:r>
            <a:endParaRPr lang="ko-KR" sz="3000" dirty="0"/>
          </a:p>
        </p:txBody>
      </p:sp>
      <p:sp>
        <p:nvSpPr>
          <p:cNvPr id="6" name="S15-figure237" descr="6 cm 자 위에 0부터 3 cm까지 놓인 막대"/>
          <p:cNvSpPr/>
          <p:nvPr/>
        </p:nvSpPr>
        <p:spPr>
          <a:xfrm>
            <a:off x="640080" y="3132560"/>
            <a:ext cx="5202936" cy="1032936"/>
          </a:xfrm>
          <a:custGeom>
            <a:avLst/>
            <a:gdLst/>
            <a:ahLst/>
            <a:cxnLst/>
            <a:rect l="l" t="t" r="r" b="b"/>
            <a:pathLst>
              <a:path w="5202936" h="1032936">
                <a:moveTo>
                  <a:pt x="0" y="0"/>
                </a:moveTo>
                <a:lnTo>
                  <a:pt x="5202936" y="0"/>
                </a:lnTo>
                <a:lnTo>
                  <a:pt x="5202936" y="1032936"/>
                </a:lnTo>
                <a:lnTo>
                  <a:pt x="0" y="103293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238"/>
          <p:cNvSpPr/>
          <p:nvPr/>
        </p:nvSpPr>
        <p:spPr>
          <a:xfrm>
            <a:off x="946135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5-label240"/>
          <p:cNvSpPr txBox="1"/>
          <p:nvPr/>
        </p:nvSpPr>
        <p:spPr>
          <a:xfrm>
            <a:off x="790687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15-mark241"/>
          <p:cNvSpPr/>
          <p:nvPr/>
        </p:nvSpPr>
        <p:spPr>
          <a:xfrm>
            <a:off x="1328704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mark242"/>
          <p:cNvSpPr/>
          <p:nvPr/>
        </p:nvSpPr>
        <p:spPr>
          <a:xfrm>
            <a:off x="1711273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abel244"/>
          <p:cNvSpPr txBox="1"/>
          <p:nvPr/>
        </p:nvSpPr>
        <p:spPr>
          <a:xfrm>
            <a:off x="1555825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15-mark245"/>
          <p:cNvSpPr/>
          <p:nvPr/>
        </p:nvSpPr>
        <p:spPr>
          <a:xfrm>
            <a:off x="2093842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mark246"/>
          <p:cNvSpPr/>
          <p:nvPr/>
        </p:nvSpPr>
        <p:spPr>
          <a:xfrm>
            <a:off x="2476410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5-label248"/>
          <p:cNvSpPr txBox="1"/>
          <p:nvPr/>
        </p:nvSpPr>
        <p:spPr>
          <a:xfrm>
            <a:off x="2320962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mark249"/>
          <p:cNvSpPr/>
          <p:nvPr/>
        </p:nvSpPr>
        <p:spPr>
          <a:xfrm>
            <a:off x="2858979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mark250"/>
          <p:cNvSpPr/>
          <p:nvPr/>
        </p:nvSpPr>
        <p:spPr>
          <a:xfrm>
            <a:off x="3241548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5-label252"/>
          <p:cNvSpPr txBox="1"/>
          <p:nvPr/>
        </p:nvSpPr>
        <p:spPr>
          <a:xfrm>
            <a:off x="3086100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15-mark253"/>
          <p:cNvSpPr/>
          <p:nvPr/>
        </p:nvSpPr>
        <p:spPr>
          <a:xfrm>
            <a:off x="3624117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mark254"/>
          <p:cNvSpPr/>
          <p:nvPr/>
        </p:nvSpPr>
        <p:spPr>
          <a:xfrm>
            <a:off x="4006686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15-label256"/>
          <p:cNvSpPr txBox="1"/>
          <p:nvPr/>
        </p:nvSpPr>
        <p:spPr>
          <a:xfrm>
            <a:off x="3851238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15-mark257"/>
          <p:cNvSpPr/>
          <p:nvPr/>
        </p:nvSpPr>
        <p:spPr>
          <a:xfrm>
            <a:off x="4389254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mark258"/>
          <p:cNvSpPr/>
          <p:nvPr/>
        </p:nvSpPr>
        <p:spPr>
          <a:xfrm>
            <a:off x="4771823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15-label260"/>
          <p:cNvSpPr txBox="1"/>
          <p:nvPr/>
        </p:nvSpPr>
        <p:spPr>
          <a:xfrm>
            <a:off x="4616375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4" name="S15-mark261"/>
          <p:cNvSpPr/>
          <p:nvPr/>
        </p:nvSpPr>
        <p:spPr>
          <a:xfrm>
            <a:off x="5154392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mark262"/>
          <p:cNvSpPr/>
          <p:nvPr/>
        </p:nvSpPr>
        <p:spPr>
          <a:xfrm>
            <a:off x="5536961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15-label264"/>
          <p:cNvSpPr txBox="1"/>
          <p:nvPr/>
        </p:nvSpPr>
        <p:spPr>
          <a:xfrm>
            <a:off x="5381513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7" name="S15-mark265"/>
          <p:cNvSpPr/>
          <p:nvPr/>
        </p:nvSpPr>
        <p:spPr>
          <a:xfrm>
            <a:off x="946135" y="2635220"/>
            <a:ext cx="2295413" cy="306055"/>
          </a:xfrm>
          <a:custGeom>
            <a:avLst/>
            <a:gdLst/>
            <a:ahLst/>
            <a:cxnLst/>
            <a:rect l="l" t="t" r="r" b="b"/>
            <a:pathLst>
              <a:path w="2295413" h="306055">
                <a:moveTo>
                  <a:pt x="0" y="306055"/>
                </a:moveTo>
                <a:lnTo>
                  <a:pt x="2295413" y="306055"/>
                </a:lnTo>
                <a:lnTo>
                  <a:pt x="229541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mark266"/>
          <p:cNvSpPr/>
          <p:nvPr/>
        </p:nvSpPr>
        <p:spPr>
          <a:xfrm>
            <a:off x="946135" y="2941275"/>
            <a:ext cx="0" cy="19128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9" name="S15-mark267"/>
          <p:cNvSpPr/>
          <p:nvPr/>
        </p:nvSpPr>
        <p:spPr>
          <a:xfrm>
            <a:off x="3241548" y="2941275"/>
            <a:ext cx="0" cy="19128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0" name="S15-label268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막대는 몇 cm?</a:t>
            </a:r>
            <a:endParaRPr lang="ko-KR" sz="2400" dirty="0"/>
          </a:p>
        </p:txBody>
      </p:sp>
      <p:sp>
        <p:nvSpPr>
          <p:cNvPr id="31" name="S15-figure269" descr="4시 10분을 가리키는 시계"/>
          <p:cNvSpPr/>
          <p:nvPr/>
        </p:nvSpPr>
        <p:spPr>
          <a:xfrm>
            <a:off x="7635240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32" name="S15-line270"/>
          <p:cNvSpPr/>
          <p:nvPr/>
        </p:nvSpPr>
        <p:spPr>
          <a:xfrm>
            <a:off x="8947404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5-line271"/>
          <p:cNvSpPr/>
          <p:nvPr/>
        </p:nvSpPr>
        <p:spPr>
          <a:xfrm flipH="1">
            <a:off x="9073881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272"/>
          <p:cNvSpPr/>
          <p:nvPr/>
        </p:nvSpPr>
        <p:spPr>
          <a:xfrm flipH="1">
            <a:off x="9198973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273"/>
          <p:cNvSpPr/>
          <p:nvPr/>
        </p:nvSpPr>
        <p:spPr>
          <a:xfrm flipH="1">
            <a:off x="9321308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274"/>
          <p:cNvSpPr/>
          <p:nvPr/>
        </p:nvSpPr>
        <p:spPr>
          <a:xfrm flipH="1">
            <a:off x="9439547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275"/>
          <p:cNvSpPr/>
          <p:nvPr/>
        </p:nvSpPr>
        <p:spPr>
          <a:xfrm flipH="1">
            <a:off x="9513029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5-line276"/>
          <p:cNvSpPr/>
          <p:nvPr/>
        </p:nvSpPr>
        <p:spPr>
          <a:xfrm flipH="1">
            <a:off x="9658612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277"/>
          <p:cNvSpPr/>
          <p:nvPr/>
        </p:nvSpPr>
        <p:spPr>
          <a:xfrm flipH="1">
            <a:off x="9757039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278"/>
          <p:cNvSpPr/>
          <p:nvPr/>
        </p:nvSpPr>
        <p:spPr>
          <a:xfrm flipH="1">
            <a:off x="9846594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279"/>
          <p:cNvSpPr/>
          <p:nvPr/>
        </p:nvSpPr>
        <p:spPr>
          <a:xfrm flipH="1">
            <a:off x="9926298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280"/>
          <p:cNvSpPr/>
          <p:nvPr/>
        </p:nvSpPr>
        <p:spPr>
          <a:xfrm flipH="1">
            <a:off x="9927095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5-line281"/>
          <p:cNvSpPr/>
          <p:nvPr/>
        </p:nvSpPr>
        <p:spPr>
          <a:xfrm flipH="1">
            <a:off x="10052776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line282"/>
          <p:cNvSpPr/>
          <p:nvPr/>
        </p:nvSpPr>
        <p:spPr>
          <a:xfrm flipH="1">
            <a:off x="10098163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283"/>
          <p:cNvSpPr/>
          <p:nvPr/>
        </p:nvSpPr>
        <p:spPr>
          <a:xfrm flipH="1">
            <a:off x="10130943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284"/>
          <p:cNvSpPr/>
          <p:nvPr/>
        </p:nvSpPr>
        <p:spPr>
          <a:xfrm flipH="1">
            <a:off x="10150755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285"/>
          <p:cNvSpPr/>
          <p:nvPr/>
        </p:nvSpPr>
        <p:spPr>
          <a:xfrm flipH="1">
            <a:off x="10078654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5-line286"/>
          <p:cNvSpPr/>
          <p:nvPr/>
        </p:nvSpPr>
        <p:spPr>
          <a:xfrm flipH="1" flipV="1">
            <a:off x="10150755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5-line287"/>
          <p:cNvSpPr/>
          <p:nvPr/>
        </p:nvSpPr>
        <p:spPr>
          <a:xfrm flipH="1" flipV="1">
            <a:off x="10130943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288"/>
          <p:cNvSpPr/>
          <p:nvPr/>
        </p:nvSpPr>
        <p:spPr>
          <a:xfrm flipH="1" flipV="1">
            <a:off x="10098163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289"/>
          <p:cNvSpPr/>
          <p:nvPr/>
        </p:nvSpPr>
        <p:spPr>
          <a:xfrm flipH="1" flipV="1">
            <a:off x="10052776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290"/>
          <p:cNvSpPr/>
          <p:nvPr/>
        </p:nvSpPr>
        <p:spPr>
          <a:xfrm flipH="1" flipV="1">
            <a:off x="9927095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5-line291"/>
          <p:cNvSpPr/>
          <p:nvPr/>
        </p:nvSpPr>
        <p:spPr>
          <a:xfrm flipH="1" flipV="1">
            <a:off x="9926298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5-line292"/>
          <p:cNvSpPr/>
          <p:nvPr/>
        </p:nvSpPr>
        <p:spPr>
          <a:xfrm flipH="1" flipV="1">
            <a:off x="9846594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293"/>
          <p:cNvSpPr/>
          <p:nvPr/>
        </p:nvSpPr>
        <p:spPr>
          <a:xfrm flipH="1" flipV="1">
            <a:off x="9757039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294"/>
          <p:cNvSpPr/>
          <p:nvPr/>
        </p:nvSpPr>
        <p:spPr>
          <a:xfrm flipH="1" flipV="1">
            <a:off x="9658612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295"/>
          <p:cNvSpPr/>
          <p:nvPr/>
        </p:nvSpPr>
        <p:spPr>
          <a:xfrm flipH="1" flipV="1">
            <a:off x="9513029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5-line296"/>
          <p:cNvSpPr/>
          <p:nvPr/>
        </p:nvSpPr>
        <p:spPr>
          <a:xfrm flipH="1" flipV="1">
            <a:off x="9439547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5-line297"/>
          <p:cNvSpPr/>
          <p:nvPr/>
        </p:nvSpPr>
        <p:spPr>
          <a:xfrm flipH="1" flipV="1">
            <a:off x="9321308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298"/>
          <p:cNvSpPr/>
          <p:nvPr/>
        </p:nvSpPr>
        <p:spPr>
          <a:xfrm flipH="1" flipV="1">
            <a:off x="9198973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299"/>
          <p:cNvSpPr/>
          <p:nvPr/>
        </p:nvSpPr>
        <p:spPr>
          <a:xfrm flipH="1" flipV="1">
            <a:off x="9073881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300"/>
          <p:cNvSpPr/>
          <p:nvPr/>
        </p:nvSpPr>
        <p:spPr>
          <a:xfrm flipV="1">
            <a:off x="8947404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line301"/>
          <p:cNvSpPr/>
          <p:nvPr/>
        </p:nvSpPr>
        <p:spPr>
          <a:xfrm flipV="1">
            <a:off x="8814069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5-line302"/>
          <p:cNvSpPr/>
          <p:nvPr/>
        </p:nvSpPr>
        <p:spPr>
          <a:xfrm flipV="1">
            <a:off x="8682194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303"/>
          <p:cNvSpPr/>
          <p:nvPr/>
        </p:nvSpPr>
        <p:spPr>
          <a:xfrm flipV="1">
            <a:off x="8553226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304"/>
          <p:cNvSpPr/>
          <p:nvPr/>
        </p:nvSpPr>
        <p:spPr>
          <a:xfrm flipV="1">
            <a:off x="8428576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305"/>
          <p:cNvSpPr/>
          <p:nvPr/>
        </p:nvSpPr>
        <p:spPr>
          <a:xfrm flipV="1">
            <a:off x="8309610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15-line306"/>
          <p:cNvSpPr/>
          <p:nvPr/>
        </p:nvSpPr>
        <p:spPr>
          <a:xfrm flipV="1">
            <a:off x="8197632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307"/>
          <p:cNvSpPr/>
          <p:nvPr/>
        </p:nvSpPr>
        <p:spPr>
          <a:xfrm flipV="1">
            <a:off x="8093869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line308"/>
          <p:cNvSpPr/>
          <p:nvPr/>
        </p:nvSpPr>
        <p:spPr>
          <a:xfrm flipV="1">
            <a:off x="7999457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5-line309"/>
          <p:cNvSpPr/>
          <p:nvPr/>
        </p:nvSpPr>
        <p:spPr>
          <a:xfrm flipV="1">
            <a:off x="7915432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310"/>
          <p:cNvSpPr/>
          <p:nvPr/>
        </p:nvSpPr>
        <p:spPr>
          <a:xfrm flipV="1">
            <a:off x="7842712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15-line311"/>
          <p:cNvSpPr/>
          <p:nvPr/>
        </p:nvSpPr>
        <p:spPr>
          <a:xfrm flipV="1">
            <a:off x="7782096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5-line312"/>
          <p:cNvSpPr/>
          <p:nvPr/>
        </p:nvSpPr>
        <p:spPr>
          <a:xfrm flipV="1">
            <a:off x="7734248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5-line313"/>
          <p:cNvSpPr/>
          <p:nvPr/>
        </p:nvSpPr>
        <p:spPr>
          <a:xfrm flipV="1">
            <a:off x="7699691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5-line314"/>
          <p:cNvSpPr/>
          <p:nvPr/>
        </p:nvSpPr>
        <p:spPr>
          <a:xfrm flipV="1">
            <a:off x="7678804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5-line315"/>
          <p:cNvSpPr/>
          <p:nvPr/>
        </p:nvSpPr>
        <p:spPr>
          <a:xfrm>
            <a:off x="7671816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8" name="S15-line316"/>
          <p:cNvSpPr/>
          <p:nvPr/>
        </p:nvSpPr>
        <p:spPr>
          <a:xfrm>
            <a:off x="7678804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5-line317"/>
          <p:cNvSpPr/>
          <p:nvPr/>
        </p:nvSpPr>
        <p:spPr>
          <a:xfrm>
            <a:off x="7699691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5-line318"/>
          <p:cNvSpPr/>
          <p:nvPr/>
        </p:nvSpPr>
        <p:spPr>
          <a:xfrm>
            <a:off x="7734248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5-line319"/>
          <p:cNvSpPr/>
          <p:nvPr/>
        </p:nvSpPr>
        <p:spPr>
          <a:xfrm>
            <a:off x="7782096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320"/>
          <p:cNvSpPr/>
          <p:nvPr/>
        </p:nvSpPr>
        <p:spPr>
          <a:xfrm>
            <a:off x="7842712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15-line321"/>
          <p:cNvSpPr/>
          <p:nvPr/>
        </p:nvSpPr>
        <p:spPr>
          <a:xfrm>
            <a:off x="7915432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322"/>
          <p:cNvSpPr/>
          <p:nvPr/>
        </p:nvSpPr>
        <p:spPr>
          <a:xfrm>
            <a:off x="7999457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323"/>
          <p:cNvSpPr/>
          <p:nvPr/>
        </p:nvSpPr>
        <p:spPr>
          <a:xfrm>
            <a:off x="8093869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324"/>
          <p:cNvSpPr/>
          <p:nvPr/>
        </p:nvSpPr>
        <p:spPr>
          <a:xfrm>
            <a:off x="8197632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325"/>
          <p:cNvSpPr/>
          <p:nvPr/>
        </p:nvSpPr>
        <p:spPr>
          <a:xfrm>
            <a:off x="8309610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15-line326"/>
          <p:cNvSpPr/>
          <p:nvPr/>
        </p:nvSpPr>
        <p:spPr>
          <a:xfrm>
            <a:off x="8428576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327"/>
          <p:cNvSpPr/>
          <p:nvPr/>
        </p:nvSpPr>
        <p:spPr>
          <a:xfrm>
            <a:off x="8553226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328"/>
          <p:cNvSpPr/>
          <p:nvPr/>
        </p:nvSpPr>
        <p:spPr>
          <a:xfrm>
            <a:off x="8682194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5-line329"/>
          <p:cNvSpPr/>
          <p:nvPr/>
        </p:nvSpPr>
        <p:spPr>
          <a:xfrm>
            <a:off x="8814069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abel330"/>
          <p:cNvSpPr txBox="1"/>
          <p:nvPr/>
        </p:nvSpPr>
        <p:spPr>
          <a:xfrm>
            <a:off x="9191389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3" name="S15-label331"/>
          <p:cNvSpPr txBox="1"/>
          <p:nvPr/>
        </p:nvSpPr>
        <p:spPr>
          <a:xfrm>
            <a:off x="9570814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4" name="S15-label332"/>
          <p:cNvSpPr txBox="1"/>
          <p:nvPr/>
        </p:nvSpPr>
        <p:spPr>
          <a:xfrm>
            <a:off x="9709694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5" name="S15-label333"/>
          <p:cNvSpPr txBox="1"/>
          <p:nvPr/>
        </p:nvSpPr>
        <p:spPr>
          <a:xfrm>
            <a:off x="9570814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96" name="S15-label334"/>
          <p:cNvSpPr txBox="1"/>
          <p:nvPr/>
        </p:nvSpPr>
        <p:spPr>
          <a:xfrm>
            <a:off x="9191389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97" name="S15-label335"/>
          <p:cNvSpPr txBox="1"/>
          <p:nvPr/>
        </p:nvSpPr>
        <p:spPr>
          <a:xfrm>
            <a:off x="8673084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98" name="S15-label336"/>
          <p:cNvSpPr txBox="1"/>
          <p:nvPr/>
        </p:nvSpPr>
        <p:spPr>
          <a:xfrm>
            <a:off x="8154779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99" name="S15-label337"/>
          <p:cNvSpPr txBox="1"/>
          <p:nvPr/>
        </p:nvSpPr>
        <p:spPr>
          <a:xfrm>
            <a:off x="7775354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100" name="S15-label338"/>
          <p:cNvSpPr txBox="1"/>
          <p:nvPr/>
        </p:nvSpPr>
        <p:spPr>
          <a:xfrm>
            <a:off x="7636474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101" name="S15-label339"/>
          <p:cNvSpPr txBox="1"/>
          <p:nvPr/>
        </p:nvSpPr>
        <p:spPr>
          <a:xfrm>
            <a:off x="7775354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102" name="S15-label340"/>
          <p:cNvSpPr txBox="1"/>
          <p:nvPr/>
        </p:nvSpPr>
        <p:spPr>
          <a:xfrm>
            <a:off x="8154779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103" name="S15-label341"/>
          <p:cNvSpPr txBox="1"/>
          <p:nvPr/>
        </p:nvSpPr>
        <p:spPr>
          <a:xfrm>
            <a:off x="8673084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104" name="S15-line342"/>
          <p:cNvSpPr/>
          <p:nvPr/>
        </p:nvSpPr>
        <p:spPr>
          <a:xfrm>
            <a:off x="8947404" y="3323844"/>
            <a:ext cx="472939" cy="33115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05" name="S15-line343"/>
          <p:cNvSpPr/>
          <p:nvPr/>
        </p:nvSpPr>
        <p:spPr>
          <a:xfrm flipV="1">
            <a:off x="8947404" y="2903952"/>
            <a:ext cx="727275" cy="41989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06" name="S15-pin344"/>
          <p:cNvSpPr/>
          <p:nvPr/>
        </p:nvSpPr>
        <p:spPr>
          <a:xfrm>
            <a:off x="8892540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7" name="S15-label345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관찰 기록하기</dc:title>
  <dc:subject>KR22-G03-SCI-RECORD-L01</dc:subject>
  <dc:creator>education-ppt</dc:creator>
  <cp:lastModifiedBy>education-ppt</cp:lastModifiedBy>
  <cp:revision>1</cp:revision>
  <dcterms:created xsi:type="dcterms:W3CDTF">2026-10-26T09:53:04Z</dcterms:created>
  <dcterms:modified xsi:type="dcterms:W3CDTF">2026-10-26T09:53:04Z</dcterms:modified>
</cp:coreProperties>
</file>