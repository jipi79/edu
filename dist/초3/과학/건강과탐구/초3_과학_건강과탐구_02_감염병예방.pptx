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dc5afce-b2d0-2f30-1ffd-e3749ba00f75}">
          <p14:sldIdLst>
            <p14:sldId id="256"/>
            <p14:sldId id="257"/>
          </p14:sldIdLst>
        </p14:section>
        <p14:section name="개념" id="{7804bfd9-8ba4-c1ff-ba82-e1e3a8b1fad9}">
          <p14:sldIdLst>
            <p14:sldId id="258"/>
            <p14:sldId id="263"/>
            <p14:sldId id="264"/>
            <p14:sldId id="265"/>
            <p14:sldId id="266"/>
          </p14:sldIdLst>
        </p14:section>
        <p14:section name="연습" id="{a9ba0cd0-879b-75da-3a40-3498296748ef}">
          <p14:sldIdLst>
            <p14:sldId id="259"/>
            <p14:sldId id="260"/>
            <p14:sldId id="261"/>
            <p14:sldId id="262"/>
            <p14:sldId id="267"/>
          </p14:sldIdLst>
        </p14:section>
        <p14:section name="개념" id="{1cc2ff9c-9c90-c7a6-83c2-f7e872ab9ce0}">
          <p14:sldIdLst/>
        </p14:section>
        <p14:section name="연습" id="{bdc6c6aa-0b68-a4de-c687-aff2e30d83d7}">
          <p14:sldIdLst/>
        </p14:section>
        <p14:section name="확인" id="{a572eb58-b5ee-ed83-2f9d-dc8a10bc51c9}">
          <p14:sldIdLst>
            <p14:sldId id="268"/>
            <p14:sldId id="269"/>
            <p14:sldId id="270"/>
          </p14:sldIdLst>
        </p14:section>
        <p14:section name="정리" id="{64bfb4dc-64dd-c68f-4f04-5f1e9c34cd07}">
          <p14:sldIdLst>
            <p14:sldId id="271"/>
          </p14:sldIdLst>
        </p14:section>
        <p14:section name="보충" id="{76c8f4c9-4727-1984-fc29-d11053c89e81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우리 몸을 지키는 방법을 실험으로 알아본다는 것에 관심을 갖게 합니다.
시간: 약 2분
이렇게 말해 보세요
- “가족 중 한 사람이 감기에 걸리면 다른 사람도 걸리는 일이 있지? 감기는 어떻게 옮을까?”
- “오늘은 가루와 분무기로 실험해 보고, 우리 몸을 지키는 습관을 알아볼 거야.”
예상 답
- “기침해서요.” “같이 있어서요.” 어떤 답이든 괜찮습니다.
막히면
- 답을 확인하지 않고 “실험으로 알아보자”라고 넘어갑니다.
주의
- 무섭게 말하지 않습니다. ‘병이 무섭다’보다 ‘이렇게 하면 몸을 지킬 수 있다’에 초점을 둡니다.
- 가루 실험(S05)은 세면대 가까운 곳에서 하고, 분무기(S06)에는 물만 넣습니다.
- 아이가 아픈 가족이나 친구 이야기를 하면 차분히 들어 주고, 치료는 의사 선생님이 돕는다고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확인(관찰 기록, 손 씻는 때)]
목적: 앞 차시 ‘관찰 기록하기’(KR22-G03-SCI-RECORD-L01)에서 배운 기록 방법을 떠올리고(오늘 실험 결과를 기록합니다), 손 씻는 때에 대한 생활 습관을 확인합니다.
시간: 약 2분
이렇게 말해 보세요
- “① 지난 시간에 관찰 기록에 무엇을 써야 한다고 했지?”
- “② 하루 중 언제 손을 씻어?”
예상 답
- ② “밥 먹기 전에요.” “화장실 다녀와서요.” “밖에서 들어왔을 때요.”
정답
- ① 날짜·시각, 관찰 대상, 조건, 측정값과 단위, 그림 메모, 예상과 결과 나누어 쓰기 중 두 가지
막히면
- ①이 흔들리면 앞 차시 ‘관찰 기록하기’의 S03을 다시 봅니다.
- ②에서 손 씻는 때를 한 가지도 말하지 못하면 S17(보충)을 먼저 합니다.
주의
- ②는 정답 하나를 정하지 않습니다. 아이의 생활을 들어 두었다가 활동지 5의 실천 기록과 이어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감염병과 병원체의 뜻]
목적: 감염병과 병원체의 뜻을 쉬운 말로 알고, 병원체가 눈에 보이지 않는다는 것을 압니다(목표 A, 오해 M1).
시간: 약 2분
이렇게 말해 보세요
- “감기처럼 다른 사람에게 옮을 수 있는 병을 ‘감염병’이라고 해. 병을 일으키는 아주 작은 것을 ‘병원체’라고 하고, 세균이나 바이러스가 있어.”
- “병원체는 너무 작아서 눈에 보이지 않아. 그래서 오늘은 가루로 병원체를 흉내 내서 실험해 볼 거야.”
예상 답
- “세균은 눈에 안 보여요.” “손이 깨끗해 보여도 있을 수 있어요?”
막히면
- ‘병원체’가 어려우면 처음에는 ‘병균’이라고 바꾸어 말해도 됩니다. 이후에는 ‘병원체’를 함께 써 줍니다.
주의
- 세균과 바이러스의 차이, 특정 병의 증상과 치료는 이 차시에서 다루지 않습니다.
- ‘몸에는 병원체와 싸우는 힘도 있고, 좋은 습관으로 옮는 것을 줄일 수 있다’고 차분하게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실험 전 예상하기]
목적: 실험하기 전에 결과를 예상하고 까닭을 말합니다(목표 A·B). 결과는 S05·S06에서 직접 확인합니다.
시간: 약 2분
이렇게 말해 보세요
- “세 가지 실험을 할 거야. 실험하기 전에 어떻게 될지 먼저 생각해 보자. 왜 그렇게 생각해?”
- “예상은 활동지 2의 ‘예상’ 칸에 짧게 써 줘.”
예상 답
- 어떤 예상이든 괜찮습니다. “부모님 손에도 가루가 묻을 것 같아요.” “물로 씻어도 깨끗해질 것 같아요.” “휴지로 가리면 덜 젖을 것 같아요.”
막히면
- 쓰기가 느리면 부모가 받아 적고 아이는 말로 예상합니다.
주의
- 결과를 미리 알려 주지 않습니다. 예상이 틀려도 괜찮고, 실험으로 확인하는 것이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가루 모형 실험(손·물건, 손 씻기)]
목적: 가루 모형으로 손과 물건을 통해 퍼지는 모습을 보고, 물로만 씻은 손과 비누로 30초 씻은 손을 비교해 기록합니다(목표 A·B, 오해 M1·M2).
시간: 약 7분
이렇게 말해 보세요
- “가루가 병원체라고 생각해 보자. 공에 가루가 묻었어? 엄마(아빠) 손에는?”
- “이번에는 물로만 10초 씻어 볼까? 하나, 둘, … 열. 손이 어때?”
- “이제 비누 거품을 내서 30초 넘게 문질러 보자. 타이머를 켤게. 손이 어때?”
예상 답
- “부모님 손에도 가루가 묻었어요.” “물로만 씻으니까 가루가 많이 남았어요.” “비누로 씻으니까 거의 없어졌어요.”
막히면
- 가루가 잘 보이지 않으면 흰 종이 위에서 손바닥을 비벼 떨어지는 가루를 보게 합니다.
- 30초를 세기 어려우면 휴대 전화 타이머를 쓰거나 부모가 함께 천천히 30까지 셉니다.
주의
- 가루는 병원체를 흉내 낸 모형입니다. 진짜 병원체는 눈에 보이지 않고, 가루처럼 손에 크림이 있을 때만 붙는 것도 아닙니다. 이 점은 S08에서 다시 말해 줍니다.
- 아이에게 알레르기가 있는 재료(코코아, 곡물 가루 등)는 쓰지 않습니다.
- 결과는 크림의 양에 따라 다를 수 있습니다. 본 대로 기록합니다.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분무기 모형 실험(침방울, 가리기)]
목적: 분무기 모형으로 기침·재채기를 할 때 침방울이 퍼지는 모습과 가렸을 때의 차이를 보고 기록합니다(목표 A·B).
시간: 약 4분
이렇게 말해 보세요
- “자로 재어서 종이에서 30 cm 떨어진 곳에 서 보자. 두 번 다 같은 자리에서 뿌릴 거야. 왜 같은 자리에서 해야 할까?”
- “가리지 않고 뿌린 종이와 휴지로 가리고 뿌린 종이를 비교해 볼까? 무엇이 달라?”
예상 답
- “같은 조건이어야 비교할 수 있어요.” “가리지 않은 종이에는 물방울이 많고, 가린 종이에는 거의 없어요.”
막히면
- 물방울 자국이 잘 안 보이면 색이 진한 종이를 쓰거나 종이를 빛에 비스듬히 비추어 봅니다.
주의
- 휴지는 분무기 입구 바로 앞에 대어 가립니다.
- 아이가 뿌릴 때는 부모가 옆에서 방향을 잡아 줍니다. 얼굴이나 전기 제품 쪽으로 뿌리지 않습니다.
- ‘30 cm’, ‘같은 자리’는 지난 시간에 배운 조건과 측정값입니다. 활동지 2에도 거리를 함께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실험 결과 정리]
목적: 두 실험의 결과를 정리하고 예상과 비교합니다(목표 A·B).
시간: 약 3분
이렇게 말해 보세요
- “표를 한 줄씩 보면서 활동지에 쓴 결과를 말해 줄래?”
- “예상과 다른 것이 있었어? 처음에는 왜 그렇게 예상했을까?”
예상 답
- 보통: 부모님 손에도 가루가 묻음 / 물로만 씻은 손에는 가루가 많이 남음 / 비누로 30초 씻은 손은 거의 깨끗함 / 가리지 않은 종이에는 물방울 자국이 많음 / 가린 종이에는 훨씬 적음
막히면
- 결과가 헷갈리면 활동지 2의 칸을 손가락으로 짚으며 하나씩 말하게 합니다.
주의
- 화면의 빈칸은 아이가 말로 채우는 자리입니다. 결과가 예상과 달라도 예상 칸을 고치지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결과로 퍼지는 길 설명하기]
목적: 실험 결과를 증거로 감염병이 퍼지는 길 세 가지를 정리합니다(목표 A, 오해 M1).
시간: 약 2분
이렇게 말해 보세요
- “분무기에서 물방울이 튀어 종이에 묻었지? 기침이나 재채기를 하면 침방울도 이렇게 튀어 나가.”
- “가루가 공을 거쳐 엄마(아빠) 손으로 갔지? 병원체도 손과 물건을 거쳐 옮아갈 수 있어. 그 손으로 눈·코·입을 만지면 몸에 들어갈 수 있어.”
예상 답
- “손이랑 물건으로도 옮아요.” “기침하면 침이 튀어요.”
막히면
- S07의 표에서 한 줄씩 짚으며 카드와 이어 줍니다(공 → 물건, 부모님 손 → 손, 종이 → 침방울).
주의
- 모형의 한계를 말해 줍니다. 진짜 병원체는 눈에 보이지 않고, 크림이 없어도 손에 묻을 수 있습니다.
-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퍼지는 길과 예방 습관 잇기]
목적: 퍼지는 길과 그 길을 막는 예방 습관을 잇습니다(목표 B).
시간: 약 2분
이렇게 말해 보세요
- “손으로 옮아가는 길은 어떻게 막을 수 있을까? 실험에서 무엇이 가루를 가장 잘 없앴지?”
- “침방울로 퍼지는 길은? 분무기 실험에서 무엇을 했더니 종이가 덜 젖었지?”
예상 답
- “비누로 30초 씻어요.” “휴지로 가려요.”
막히면
- S07의 결과 표와 이 표를 번갈아 보며 “이 결과가 어느 습관과 이어질까?”라고 묻습니다.
주의
- 환기와 기침 예절은 S11에서 자세히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비누로 30초 손 씻기 방법]
목적: 비누로 30초 넘게 손의 구석구석을 씻는 방법을 압니다(목표 B, 오해 M2).
시간: 약 3분
이렇게 말해 보세요
- “실험에서 비누로 30초 씻었을 때 가루가 거의 없어졌지? 이번에는 구석구석 씻는 차례를 배워 보자.”
- “세면대에 가서 네 가지를 차례로 해 볼래? 엄마(아빠)가 30초를 잴게.”
예상 답
- 아이가 네 가지 동작을 차례로 따라 합니다. “손톱 밑은 다른 손바닥에 긁듯이 문질러요.”
막히면
- 부모가 먼저 천천히 시범을 보이고, 아이는 한 동작씩 따라 합니다.
주의
- 질병관리청이 안내하는 손 씻기 6단계(손바닥, 손등, 손가락 사이, 두 손 모아 손가락, 엄지손가락, 손톱 밑)를 네 가지로 묶었습니다. 실제로 씻을 때는 엄지손가락을 다른 손으로 감싸 돌려 문지르고, 손톱 밑은 다른 손바닥에 문지르게 합니다.
- 비누는 손에 붙은 기름기와 함께 병원체를 떼어 내는 데 도움을 줍니다. 물로만 잠깐 헹구면 잘 떨어지지 않습니다(오해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기침 예절과 환기]
목적: 기침 예절과 환기가 침방울로 퍼지는 길을 줄인다는 것을 압니다(목표 B).
시간: 약 2분
이렇게 말해 보세요
- “휴지가 없을 때는 옷소매 안쪽, 팔꿈치 쪽으로 입과 코를 가려 볼까? 한번 해 보자.”
- “창문을 열면 방 안의 공기가 어떻게 될까? 침방울이 섞인 공기가 밖으로 나가고 바깥 공기가 들어와.”
예상 답
- 아이가 팔을 들어 옷소매 안쪽으로 입과 코를 가리는 동작을 합니다. “공기가 바뀌어요.”
막히면
- 분무기 실험에서 휴지로 가렸을 때의 종이를 다시 보여 줍니다.
주의
- 환기는 날씨가 춥거나 바깥 공기가 나쁜 날에는 짧게 여러 번 하면 됩니다. 몇 번, 몇 분을 꼭 지켜야 한다고 말하지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오해 비교(손바닥으로 가리기)]
목적: 손바닥으로 가린 뒤 손을 씻지 않으면 손과 물건의 길로 퍼질 수 있다는 것을 비교로 압니다(목표 B, 오해 M3).
시간: 약 2분
이렇게 말해 보세요
- “토끼는 입을 가리긴 했어. 그런데 그 손으로 무엇을 했지? 가루 실험을 떠올려 볼래?”
정답
- 곰. 토끼는 손바닥에 침방울이 묻은 채 문손잡이를 잡아, 손과 물건의 길로 퍼질 수 있습니다.
- 손바닥으로 가렸다면 바로 비누로 손을 씻으면 됩니다.
막히면
- S05에서 가루가 공을 거쳐 부모님 손으로 옮겨 간 것을 다시 떠올리게 합니다.
주의
- 가리지 않는 것보다는 손으로라도 가리는 것이 낫습니다. 토끼를 나무라기보다 ‘더 좋은 방법’을 찾는 데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혼자 해결]
목적: 도움 없이 퍼지는 길(①)을 말하고, 상황에 맞는 예방 습관과 까닭(②③)을 말하는지 확인합니다(목표 A·B).
시간: 약 3분
이렇게 말해 보세요
- “이번에는 혼자 답해 볼래? ②는 왜 그렇게 해야 하는지도 말해 줘.”
정답
- ① 침방울(기침·재채기), 손, 여럿이 만지는 물건
- ② 비누로 30초 넘게 손 씻기. 까닭: 손에 묻은 병원체가 간식을 거쳐 입으로 들어가지 않게 하려고(기준: 손의 길과 이어 말하면 맞음)
- ③ 휴지나 옷소매 안쪽으로 입과 코를 가린다. 휴지는 바로 버리고 손을 씻는다.
막히면
- 바로 알려 주지 말고 “가루 실험에서 무엇이 가루를 없앴지?”, “분무기 실험에서 무엇으로 가렸지?”라고만 묻습니다.
- 도움을 받아 해결했다면 기록표에 ‘도움’으로 표시합니다.
주의
- ②에서 ‘물로 손 씻기’라고만 하면 “물로만 씻었을 때 결과가 어땠지?”라고 다시 묻습니다(오해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침방울, 손, 물건 ② 비누로 30초 넘게 손 씻기(손의 길) ③ 휴지나 옷소매 안쪽으로 가리기, 휴지는 버리고 손 씻기
막히면
- ①이 틀리면 S08로, ②가 틀리면 S05·S10으로(M2), ③이 틀리면 S11·S12로(M3)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마무리 확인(습관과 퍼지는 길 잇기)]
목적: 처음 보는 문제에서 예방 습관과 그 습관이 막는 길을 잇는지 확인합니다(목표 B).
시간: 약 2분
이렇게 말해 보세요
- “①부터 차례로, 이 습관은 어떤 길을 막을까? 왜 그렇게 생각해?”
정답
- ① 침방울(침방울이 섞인 공기를 바꿈)
- ② 물건(같은 수건을 여럿이 만지지 않음, 손의 길도 인정)
- ③ 침방울
막히면
- S09의 표를 다시 보여 줍니다.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정리와 다음 수업 복습]
목적: 핵심을 정리하고 다음 수업 첫 5분에 풀 복습 문제를 알려 줍니다.
시간: 약 1분
이렇게 말해 보세요
- “오늘 실험으로 알게 된 것을 한 가지 말해 줄래? 그리고 오늘부터 지킬 습관 하나를 정해 보자.”
예상 답
- “물로만 씻으면 가루가 남아요.” “밖에서 오면 비누로 30초 씻을래요.”
정답
- ① 침방울, 손, 물건 ② 30초 ③ 휴지나 옷소매 안쪽
막히면
- S08, S10, S11을 다시 보여 줍니다.
주의
- 복습 세 문제는 다음 수업을 시작할 때 활동지 마지막 쪽과 함께 풉니다. 활동지 5의 손 씻기 실천 기록은 사흘 동안 이어서 씁니다.
- 이 차시는 초3 과학의 마지막 계획 차시입니다. 다음 과학 차시는 초4 ‘자석의 성질’입니다.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선수 학습 보충(손을 씻는 때)]
목적: S02 ②에서 손 씻는 때를 말하지 못하면, 하루 생활과 이어 손을 씻어야 하는 때를 먼저 익힙니다.
시간: 약 4분
이렇게 말해 보세요
- “오늘 하루를 떠올려 보자. 아침부터 지금까지 이 네 가지 중 어떤 일이 있었어? 그때 손을 씻었어?”
예상 답
- “학교에서 돌아와서 씻었어요.” “간식 먹기 전에는 안 씻었어요.”
막히면
- 하루 일과를 시간 순서로 말하게 하고, 카드에 해당하는 때가 나오면 손뼉을 치게 합니다.
주의
- 계획상 선수 차시는 ‘관찰 기록하기’(KR22-G03-SCI-RECORD-L01)입니다. S02 ①이 흔들리면 그 차시의 S03을 다시 봅니다.
- 보충으로도 손 씻는 습관이 잡히지 않으면 초1 ‘손 씻기와 몸의 경계’(KR22-G01-PHE-HANDWASH-L01)와 초2 ‘식사·수면·위생 습관’(KR22-G02-PHE-HABITS-L01)을 먼저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건강과탐구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감염병 예방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감염병 예방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감염병 예방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 예방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감기는 어떻게 다른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사람에게 옮을까?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감염병이 퍼지는 길을 실험으로 알아봐요.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퍼지는 길을 막는 습관을 이어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 꼭 쓰는 것을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말해요.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언제 손을 씻나요?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감염병과 병원체</a:t>
            </a:r>
            <a:endParaRPr lang="ko-KR" sz="40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감염병은 병원체가 몸에 들어와 생기고,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사람에게 옮을 수 있는 병이에요.</a:t>
            </a:r>
            <a:endParaRPr lang="ko-KR" sz="3000" dirty="0"/>
          </a:p>
        </p:txBody>
      </p:sp>
      <p:sp>
        <p:nvSpPr>
          <p:cNvPr id="4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병원체는 너무 작아서 눈에 보이지 않아요.</a:t>
            </a:r>
            <a:endParaRPr lang="ko-KR" sz="3000" dirty="0"/>
          </a:p>
        </p:txBody>
      </p:sp>
      <p:sp>
        <p:nvSpPr>
          <p:cNvPr id="6" name="S03-card10"/>
          <p:cNvSpPr/>
          <p:nvPr/>
        </p:nvSpPr>
        <p:spPr>
          <a:xfrm>
            <a:off x="548640" y="268224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"/>
          <p:cNvSpPr txBox="1"/>
          <p:nvPr/>
        </p:nvSpPr>
        <p:spPr>
          <a:xfrm>
            <a:off x="822960" y="281940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병을 일으키는 아주 작은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세균이나 바이러스</a:t>
            </a:r>
            <a:endParaRPr lang="ko-KR" sz="3000" dirty="0"/>
          </a:p>
        </p:txBody>
      </p:sp>
      <p:sp>
        <p:nvSpPr>
          <p:cNvPr id="8" name="S03-card12"/>
          <p:cNvSpPr/>
          <p:nvPr/>
        </p:nvSpPr>
        <p:spPr>
          <a:xfrm>
            <a:off x="6208776" y="268224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3"/>
          <p:cNvSpPr txBox="1"/>
          <p:nvPr/>
        </p:nvSpPr>
        <p:spPr>
          <a:xfrm>
            <a:off x="6483096" y="281940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감염병의 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감기, 독감처럼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사람에게 옮는 병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가루를 병원체라고 생각해요.</a:t>
            </a:r>
            <a:endParaRPr lang="ko-KR" sz="30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까닭도 말하고, 활동지 2의 ‘예상’ 칸에 써요.</a:t>
            </a:r>
            <a:endParaRPr lang="ko-KR" sz="3000" dirty="0"/>
          </a:p>
        </p:txBody>
      </p:sp>
      <p:sp>
        <p:nvSpPr>
          <p:cNvPr id="6" name="S04-chip1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4-text1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가루 묻은 손으로 만진 공을 부모님이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만지면, 부모님 손은 어떻게 될까요?</a:t>
            </a:r>
            <a:endParaRPr lang="ko-KR" sz="3000" dirty="0"/>
          </a:p>
        </p:txBody>
      </p:sp>
      <p:sp>
        <p:nvSpPr>
          <p:cNvPr id="8" name="S04-chip1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4-text2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물로만 10초 씻은 손과 비누로 30초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씻은 손 중 어느 쪽이 깨끗할까요?</a:t>
            </a:r>
            <a:endParaRPr lang="ko-KR" sz="3000" dirty="0"/>
          </a:p>
        </p:txBody>
      </p:sp>
      <p:sp>
        <p:nvSpPr>
          <p:cNvPr id="10" name="S04-chip2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4-text2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분무기 앞을 휴지로 가리고 뿌리면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종이는 어떻게 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가루로 병원체 흉내 내기</a:t>
            </a:r>
            <a:endParaRPr lang="ko-KR" sz="4000" dirty="0"/>
          </a:p>
        </p:txBody>
      </p:sp>
      <p:sp>
        <p:nvSpPr>
          <p:cNvPr id="3" name="S05-card2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가루 묻은 손으로 눈을 비비지 않아요. 흘린 가루와 물은 바로 닦아요.</a:t>
            </a:r>
            <a:endParaRPr lang="ko-KR" sz="3000" dirty="0"/>
          </a:p>
        </p:txBody>
      </p:sp>
      <p:sp>
        <p:nvSpPr>
          <p:cNvPr id="5" name="S05-card25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6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가루가 옮겨 간 곳을 찾아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두 번 씻은 뒤의 손을 비교해요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대로 활동지 2에 써요</a:t>
            </a:r>
            <a:endParaRPr lang="ko-KR" sz="3000" dirty="0"/>
          </a:p>
        </p:txBody>
      </p:sp>
      <p:sp>
        <p:nvSpPr>
          <p:cNvPr id="7" name="S05-stepno27"/>
          <p:cNvSpPr txBox="1"/>
          <p:nvPr/>
        </p:nvSpPr>
        <p:spPr>
          <a:xfrm>
            <a:off x="548640" y="14371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28"/>
          <p:cNvSpPr txBox="1"/>
          <p:nvPr/>
        </p:nvSpPr>
        <p:spPr>
          <a:xfrm>
            <a:off x="1325880" y="1391412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핸드크림을 바르고 가루를 묻혀요.</a:t>
            </a:r>
            <a:endParaRPr lang="ko-KR" sz="2400" dirty="0"/>
          </a:p>
        </p:txBody>
      </p:sp>
      <p:sp>
        <p:nvSpPr>
          <p:cNvPr id="9" name="S05-stepno29"/>
          <p:cNvSpPr txBox="1"/>
          <p:nvPr/>
        </p:nvSpPr>
        <p:spPr>
          <a:xfrm>
            <a:off x="548640" y="23454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0"/>
          <p:cNvSpPr txBox="1"/>
          <p:nvPr/>
        </p:nvSpPr>
        <p:spPr>
          <a:xfrm>
            <a:off x="1325880" y="229971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손으로 공을 만지고, 부모님이 그 공을 만져요.</a:t>
            </a:r>
            <a:endParaRPr lang="ko-KR" sz="2400" dirty="0"/>
          </a:p>
        </p:txBody>
      </p:sp>
      <p:sp>
        <p:nvSpPr>
          <p:cNvPr id="11" name="S05-stepno31"/>
          <p:cNvSpPr txBox="1"/>
          <p:nvPr/>
        </p:nvSpPr>
        <p:spPr>
          <a:xfrm>
            <a:off x="548640" y="3208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2"/>
          <p:cNvSpPr txBox="1"/>
          <p:nvPr/>
        </p:nvSpPr>
        <p:spPr>
          <a:xfrm>
            <a:off x="1325880" y="3208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물로만 10초 씻고 손을 살펴봐요.</a:t>
            </a:r>
            <a:endParaRPr lang="ko-KR" sz="2400" dirty="0"/>
          </a:p>
        </p:txBody>
      </p:sp>
      <p:sp>
        <p:nvSpPr>
          <p:cNvPr id="13" name="S05-stepno33"/>
          <p:cNvSpPr txBox="1"/>
          <p:nvPr/>
        </p:nvSpPr>
        <p:spPr>
          <a:xfrm>
            <a:off x="548640" y="3966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34"/>
          <p:cNvSpPr txBox="1"/>
          <p:nvPr/>
        </p:nvSpPr>
        <p:spPr>
          <a:xfrm>
            <a:off x="1325880" y="3921252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비누로 30초 넘게 씻고 다시 살펴봐요.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분무기로 기침 흉내 내기</a:t>
            </a:r>
            <a:endParaRPr lang="ko-KR" sz="4000" dirty="0"/>
          </a:p>
        </p:txBody>
      </p:sp>
      <p:sp>
        <p:nvSpPr>
          <p:cNvPr id="3" name="S06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분무기를 기침하는 입이라고 생각해요.</a:t>
            </a:r>
            <a:endParaRPr lang="ko-KR" sz="3000" dirty="0"/>
          </a:p>
        </p:txBody>
      </p:sp>
      <p:sp>
        <p:nvSpPr>
          <p:cNvPr id="4" name="S06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분무기에는 물만 넣어요. 사람 쪽으로 뿌리지 않아요.</a:t>
            </a:r>
            <a:endParaRPr lang="ko-KR" sz="3000" dirty="0"/>
          </a:p>
        </p:txBody>
      </p:sp>
      <p:sp>
        <p:nvSpPr>
          <p:cNvPr id="6" name="S06-card38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39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두 번 모두 30 cm에서 뿌려요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물방울 자국을 비교해 말해요</a:t>
            </a:r>
            <a:endParaRPr lang="ko-KR" sz="3000" dirty="0"/>
          </a:p>
        </p:txBody>
      </p:sp>
      <p:sp>
        <p:nvSpPr>
          <p:cNvPr id="8" name="S06-stepno40"/>
          <p:cNvSpPr txBox="1"/>
          <p:nvPr/>
        </p:nvSpPr>
        <p:spPr>
          <a:xfrm>
            <a:off x="548640" y="20726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text41"/>
          <p:cNvSpPr txBox="1"/>
          <p:nvPr/>
        </p:nvSpPr>
        <p:spPr>
          <a:xfrm>
            <a:off x="1325880" y="2026920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벽에 색 도화지를 붙이고 30 cm 떨어져요.</a:t>
            </a:r>
            <a:endParaRPr lang="ko-KR" sz="2400" dirty="0"/>
          </a:p>
        </p:txBody>
      </p:sp>
      <p:sp>
        <p:nvSpPr>
          <p:cNvPr id="10" name="S06-stepno42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6-text43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쪽으로 분무기를 한 번 뿌려요.</a:t>
            </a:r>
            <a:endParaRPr lang="ko-KR" sz="2400" dirty="0"/>
          </a:p>
        </p:txBody>
      </p:sp>
      <p:sp>
        <p:nvSpPr>
          <p:cNvPr id="12" name="S06-stepno44"/>
          <p:cNvSpPr txBox="1"/>
          <p:nvPr/>
        </p:nvSpPr>
        <p:spPr>
          <a:xfrm>
            <a:off x="548640" y="36941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6-text45"/>
          <p:cNvSpPr txBox="1"/>
          <p:nvPr/>
        </p:nvSpPr>
        <p:spPr>
          <a:xfrm>
            <a:off x="1325880" y="364845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종이로 바꾸고, 분무기 앞을 휴지로 가리고 뿌려요.</a:t>
            </a:r>
            <a:endParaRPr lang="ko-KR" sz="2400" dirty="0"/>
          </a:p>
        </p:txBody>
      </p:sp>
      <p:sp>
        <p:nvSpPr>
          <p:cNvPr id="14" name="S06-stepno46"/>
          <p:cNvSpPr txBox="1"/>
          <p:nvPr/>
        </p:nvSpPr>
        <p:spPr>
          <a:xfrm>
            <a:off x="548640" y="45567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6-text47"/>
          <p:cNvSpPr txBox="1"/>
          <p:nvPr/>
        </p:nvSpPr>
        <p:spPr>
          <a:xfrm>
            <a:off x="1325880" y="45567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종이의 물방울 자국을 비교해요.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7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3000" dirty="0"/>
          </a:p>
        </p:txBody>
      </p:sp>
      <p:sp>
        <p:nvSpPr>
          <p:cNvPr id="4" name="S07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같은 것과 다른 것을 찾아봐요.</a:t>
            </a:r>
            <a:endParaRPr lang="ko-KR" sz="3000" dirty="0"/>
          </a:p>
        </p:txBody>
      </p:sp>
      <p:graphicFrame>
        <p:nvGraphicFramePr>
          <p:cNvPr id="8" name="S07-table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21408"/>
          <a:ext cx="10058400" cy="914400"/>
        </p:xfrm>
        <a:graphic>
          <a:graphicData uri="http://schemas.openxmlformats.org/drawingml/2006/table">
            <a:tbl>
              <a:tblPr/>
              <a:tblGrid>
                <a:gridCol w="4526280"/>
                <a:gridCol w="55321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공을 만진 부모님 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물로만 10초 씻은 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비누로 30초 씻은 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가리지 않고 뿌린 종이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휴지로 가리고 뿌린 종이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감염병이 퍼지는 길</a:t>
            </a:r>
            <a:endParaRPr lang="ko-KR" sz="4000" dirty="0"/>
          </a:p>
        </p:txBody>
      </p:sp>
      <p:sp>
        <p:nvSpPr>
          <p:cNvPr id="3" name="S08-text5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실험에서 본 것처럼 병원체는 이런 길로 퍼져요.</a:t>
            </a:r>
            <a:endParaRPr lang="ko-KR" sz="3000" dirty="0"/>
          </a:p>
        </p:txBody>
      </p:sp>
      <p:sp>
        <p:nvSpPr>
          <p:cNvPr id="4" name="S08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가루는 흉내 낸 모형이에요. 진짜 병원체는 보이지 않아요.</a:t>
            </a:r>
            <a:endParaRPr lang="ko-KR" sz="3000" dirty="0"/>
          </a:p>
        </p:txBody>
      </p:sp>
      <p:sp>
        <p:nvSpPr>
          <p:cNvPr id="6" name="S08-card55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56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침방울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기침·재채기를 하면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침방울이 튀어 나가요.</a:t>
            </a:r>
            <a:endParaRPr lang="ko-KR" sz="3000" dirty="0"/>
          </a:p>
        </p:txBody>
      </p:sp>
      <p:sp>
        <p:nvSpPr>
          <p:cNvPr id="8" name="S08-card57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58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병원체가 묻은 손으로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눈·코·입을 만져요.</a:t>
            </a:r>
            <a:endParaRPr lang="ko-KR" sz="3000" dirty="0"/>
          </a:p>
        </p:txBody>
      </p:sp>
      <p:sp>
        <p:nvSpPr>
          <p:cNvPr id="10" name="S08-card59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0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여럿이 만지는 손잡이나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장난감에 묻어요.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퍼지는 길을 막는 습관</a:t>
            </a:r>
            <a:endParaRPr lang="ko-KR" sz="4000" dirty="0"/>
          </a:p>
        </p:txBody>
      </p:sp>
      <p:sp>
        <p:nvSpPr>
          <p:cNvPr id="3" name="S09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습관마다 막는 길이 있어요.</a:t>
            </a:r>
            <a:endParaRPr lang="ko-KR" sz="3000" dirty="0"/>
          </a:p>
        </p:txBody>
      </p:sp>
      <p:graphicFrame>
        <p:nvGraphicFramePr>
          <p:cNvPr id="10" name="S09-table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1996694"/>
          <a:ext cx="10058400" cy="914400"/>
        </p:xfrm>
        <a:graphic>
          <a:graphicData uri="http://schemas.openxmlformats.org/drawingml/2006/table">
            <a:tbl>
              <a:tblPr/>
              <a:tblGrid>
                <a:gridCol w="2816352"/>
                <a:gridCol w="724204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퍼지는 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막는 습관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침방울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기침 예절, 환기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비누로 30초 넘게 손 씻기,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눈·코·입 만지지 않기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 씻기, 수건·컵 따로 쓰기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비누로 30초 손 씻기</a:t>
            </a:r>
            <a:endParaRPr lang="ko-KR" sz="4000" dirty="0"/>
          </a:p>
        </p:txBody>
      </p:sp>
      <p:sp>
        <p:nvSpPr>
          <p:cNvPr id="3" name="S10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물에 비누 거품을 내어 30초 넘게 문질러요.</a:t>
            </a:r>
            <a:endParaRPr lang="ko-KR" sz="3000" dirty="0"/>
          </a:p>
        </p:txBody>
      </p:sp>
      <p:sp>
        <p:nvSpPr>
          <p:cNvPr id="4" name="S10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물에 헹구고 깨끗한 수건으로 닦아요.</a:t>
            </a:r>
            <a:endParaRPr lang="ko-KR" sz="3000" dirty="0"/>
          </a:p>
        </p:txBody>
      </p:sp>
      <p:sp>
        <p:nvSpPr>
          <p:cNvPr id="6" name="S10-stepno67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68"/>
          <p:cNvSpPr txBox="1"/>
          <p:nvPr/>
        </p:nvSpPr>
        <p:spPr>
          <a:xfrm>
            <a:off x="1325880" y="22219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손바닥끼리 문질러요.</a:t>
            </a:r>
            <a:endParaRPr lang="ko-KR" sz="3000" dirty="0"/>
          </a:p>
        </p:txBody>
      </p:sp>
      <p:sp>
        <p:nvSpPr>
          <p:cNvPr id="8" name="S10-stepno69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70"/>
          <p:cNvSpPr txBox="1"/>
          <p:nvPr/>
        </p:nvSpPr>
        <p:spPr>
          <a:xfrm>
            <a:off x="1325880" y="29352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손등을 문질러요.</a:t>
            </a:r>
            <a:endParaRPr lang="ko-KR" sz="3000" dirty="0"/>
          </a:p>
        </p:txBody>
      </p:sp>
      <p:sp>
        <p:nvSpPr>
          <p:cNvPr id="10" name="S10-stepno71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72"/>
          <p:cNvSpPr txBox="1"/>
          <p:nvPr/>
        </p:nvSpPr>
        <p:spPr>
          <a:xfrm>
            <a:off x="1325880" y="36484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깍지를 끼고 손가락 사이를 문질러요.</a:t>
            </a:r>
            <a:endParaRPr lang="ko-KR" sz="3000" dirty="0"/>
          </a:p>
        </p:txBody>
      </p:sp>
      <p:sp>
        <p:nvSpPr>
          <p:cNvPr id="12" name="S10-stepno73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74"/>
          <p:cNvSpPr txBox="1"/>
          <p:nvPr/>
        </p:nvSpPr>
        <p:spPr>
          <a:xfrm>
            <a:off x="1325880" y="43616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엄지손가락과 손톱 밑도 문질러요.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기침 예절과 환기</a:t>
            </a:r>
            <a:endParaRPr lang="ko-KR" sz="4000" dirty="0"/>
          </a:p>
        </p:txBody>
      </p:sp>
      <p:sp>
        <p:nvSpPr>
          <p:cNvPr id="3" name="S11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가리면 침방울이 덜 퍼지고, 환기하면 방 공기가 바뀌어요.</a:t>
            </a:r>
            <a:endParaRPr lang="ko-KR" sz="3000" dirty="0"/>
          </a:p>
        </p:txBody>
      </p:sp>
      <p:sp>
        <p:nvSpPr>
          <p:cNvPr id="5" name="S11-card77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1-cardtext78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기침 예절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휴지나 옷소매 안쪽으로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입과 코를 가려요.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휴지는 버리고 손을 씻어요.</a:t>
            </a:r>
            <a:endParaRPr lang="ko-KR" sz="3000" dirty="0"/>
          </a:p>
        </p:txBody>
      </p:sp>
      <p:sp>
        <p:nvSpPr>
          <p:cNvPr id="7" name="S11-card79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80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창문을 열어 바깥 공기로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바꿔요. 하루에 여러 번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덜 퍼지게 했을까요?</a:t>
            </a:r>
            <a:endParaRPr lang="ko-KR" sz="4000" dirty="0"/>
          </a:p>
        </p:txBody>
      </p:sp>
      <p:sp>
        <p:nvSpPr>
          <p:cNvPr id="3" name="S12-card8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기침이 나왔어요.</a:t>
            </a:r>
            <a:endParaRPr lang="ko-KR" sz="3000" dirty="0"/>
          </a:p>
        </p:txBody>
      </p:sp>
      <p:sp>
        <p:nvSpPr>
          <p:cNvPr id="5" name="S12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병원체가 덜 퍼지게 했을까요? 왜 그럴까요?</a:t>
            </a:r>
            <a:endParaRPr lang="ko-KR" sz="3000" dirty="0"/>
          </a:p>
        </p:txBody>
      </p:sp>
      <p:sp>
        <p:nvSpPr>
          <p:cNvPr id="7" name="S12-chip8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2-text8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손바닥으로 입을 가리고 기침했어요. 그 손으로 문을 열었어요.</a:t>
            </a:r>
            <a:endParaRPr lang="ko-KR" sz="3000" dirty="0"/>
          </a:p>
        </p:txBody>
      </p:sp>
      <p:sp>
        <p:nvSpPr>
          <p:cNvPr id="9" name="S12-chip8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2-text8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옷소매 안쪽으로 입과 코를 가리고 기침했어요.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chip8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3-text9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감염병이 퍼지는 길 세 가지를 말해요.</a:t>
            </a:r>
            <a:endParaRPr lang="ko-KR" sz="3000" dirty="0"/>
          </a:p>
        </p:txBody>
      </p:sp>
      <p:sp>
        <p:nvSpPr>
          <p:cNvPr id="5" name="S13-chip9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3-text9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놀고 와서 간식을 먹으려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해요. 먼저 할 일과 그 까닭은?</a:t>
            </a:r>
            <a:endParaRPr lang="ko-KR" sz="3000" dirty="0"/>
          </a:p>
        </p:txBody>
      </p:sp>
      <p:sp>
        <p:nvSpPr>
          <p:cNvPr id="7" name="S13-chip9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3-text9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재채기가 나오려고 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해야 할까요?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4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②는 습관과 그 습관이 막는 길을 함께 말하면 맞아요.</a:t>
            </a:r>
            <a:endParaRPr lang="ko-KR" sz="3000" dirty="0"/>
          </a:p>
        </p:txBody>
      </p:sp>
      <p:sp>
        <p:nvSpPr>
          <p:cNvPr id="5" name="S14-chip9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4-text98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침방울·손·물건</a:t>
            </a:r>
            <a:endParaRPr lang="ko-KR" sz="3000" dirty="0"/>
          </a:p>
        </p:txBody>
      </p:sp>
      <p:sp>
        <p:nvSpPr>
          <p:cNvPr id="7" name="S14-text99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모두</a:t>
            </a:r>
            <a:endParaRPr lang="ko-KR" sz="2400" dirty="0"/>
          </a:p>
        </p:txBody>
      </p:sp>
      <p:sp>
        <p:nvSpPr>
          <p:cNvPr id="8" name="S14-text100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비누로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30초 손 씻기</a:t>
            </a:r>
            <a:endParaRPr lang="ko-KR" sz="3000" dirty="0"/>
          </a:p>
        </p:txBody>
      </p:sp>
      <p:sp>
        <p:nvSpPr>
          <p:cNvPr id="9" name="S14-text101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손의 길을 막음</a:t>
            </a:r>
            <a:endParaRPr lang="ko-KR" sz="2400" dirty="0"/>
          </a:p>
        </p:txBody>
      </p:sp>
      <p:sp>
        <p:nvSpPr>
          <p:cNvPr id="10" name="S14-text102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옷소매로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가리기</a:t>
            </a:r>
            <a:endParaRPr lang="ko-KR" sz="3000" dirty="0"/>
          </a:p>
        </p:txBody>
      </p:sp>
      <p:sp>
        <p:nvSpPr>
          <p:cNvPr id="11" name="S14-text103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휴지도 맞음</a:t>
            </a:r>
            <a:endParaRPr lang="ko-KR" sz="2400" dirty="0"/>
          </a:p>
        </p:txBody>
      </p:sp>
      <p:sp>
        <p:nvSpPr>
          <p:cNvPr id="12" name="S14-chip10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4-text10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물로 잠깐 헹구기</a:t>
            </a:r>
            <a:endParaRPr lang="ko-KR" sz="3000" dirty="0"/>
          </a:p>
        </p:txBody>
      </p:sp>
      <p:sp>
        <p:nvSpPr>
          <p:cNvPr id="14" name="S14-text10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가루가 남았음(M2)</a:t>
            </a:r>
            <a:endParaRPr lang="ko-KR" sz="2400" dirty="0"/>
          </a:p>
        </p:txBody>
      </p:sp>
      <p:sp>
        <p:nvSpPr>
          <p:cNvPr id="15" name="S14-text10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손바닥으로 가리고 그냥 두기</a:t>
            </a:r>
            <a:endParaRPr lang="ko-KR" sz="2400" dirty="0"/>
          </a:p>
        </p:txBody>
      </p:sp>
      <p:sp>
        <p:nvSpPr>
          <p:cNvPr id="16" name="S14-text10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씻어야 함(M3)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길을 막을까요?</a:t>
            </a:r>
            <a:endParaRPr lang="ko-KR" sz="4000" dirty="0"/>
          </a:p>
        </p:txBody>
      </p:sp>
      <p:sp>
        <p:nvSpPr>
          <p:cNvPr id="3" name="S15-text10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습관마다 막는 길(침방울·손·물건)을 말해요.</a:t>
            </a:r>
            <a:endParaRPr lang="ko-KR" sz="3000" dirty="0"/>
          </a:p>
        </p:txBody>
      </p:sp>
      <p:sp>
        <p:nvSpPr>
          <p:cNvPr id="4" name="S15-chip11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5-text11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창문을 열어 환기해요.</a:t>
            </a:r>
            <a:endParaRPr lang="ko-KR" sz="3000" dirty="0"/>
          </a:p>
        </p:txBody>
      </p:sp>
      <p:sp>
        <p:nvSpPr>
          <p:cNvPr id="6" name="S15-chip11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5-text11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수건을 따로 써요.</a:t>
            </a:r>
            <a:endParaRPr lang="ko-KR" sz="3000" dirty="0"/>
          </a:p>
        </p:txBody>
      </p:sp>
      <p:sp>
        <p:nvSpPr>
          <p:cNvPr id="8" name="S15-chip11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5-text115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옷소매로 가리고 기침해요.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16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17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감염병은 침방울·손·물건으로 퍼져요.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씻기, 기침 예절, 환기로 퍼지는 길을 막아요.</a:t>
            </a:r>
            <a:endParaRPr lang="ko-KR" sz="3000" dirty="0"/>
          </a:p>
        </p:txBody>
      </p:sp>
      <p:sp>
        <p:nvSpPr>
          <p:cNvPr id="5" name="S16-chip118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비누로 30초 넘게 손 씻기</a:t>
            </a:r>
            <a:endParaRPr lang="ko-KR" sz="2400" dirty="0"/>
          </a:p>
        </p:txBody>
      </p:sp>
      <p:sp>
        <p:nvSpPr>
          <p:cNvPr id="6" name="S16-chip119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물로만 잠깐 헹구기</a:t>
            </a:r>
            <a:endParaRPr lang="ko-KR" sz="2400" dirty="0"/>
          </a:p>
        </p:txBody>
      </p:sp>
      <p:sp>
        <p:nvSpPr>
          <p:cNvPr id="7" name="S16-text120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21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감염병이 퍼지는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 세 가지는?</a:t>
            </a:r>
            <a:endParaRPr lang="ko-KR" sz="2400" dirty="0"/>
          </a:p>
        </p:txBody>
      </p:sp>
      <p:sp>
        <p:nvSpPr>
          <p:cNvPr id="9" name="S16-text122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손은 비누로 몇 초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넘게 씻을까요?</a:t>
            </a:r>
            <a:endParaRPr lang="ko-KR" sz="2400" dirty="0"/>
          </a:p>
        </p:txBody>
      </p:sp>
      <p:sp>
        <p:nvSpPr>
          <p:cNvPr id="10" name="S16-text123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기침할 때는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가릴까요?</a:t>
            </a:r>
            <a:endParaRPr lang="ko-KR" sz="2400" dirty="0"/>
          </a:p>
        </p:txBody>
      </p:sp>
      <p:sp>
        <p:nvSpPr>
          <p:cNvPr id="11" name="S16-text12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자석의 성질(초4)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손을 씻는 때</a:t>
            </a:r>
            <a:endParaRPr lang="ko-KR" sz="4000" dirty="0"/>
          </a:p>
        </p:txBody>
      </p:sp>
      <p:sp>
        <p:nvSpPr>
          <p:cNvPr id="3" name="S17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때는 비누로 손을 씻어요.</a:t>
            </a:r>
            <a:endParaRPr lang="ko-KR" sz="3000" dirty="0"/>
          </a:p>
        </p:txBody>
      </p:sp>
      <p:sp>
        <p:nvSpPr>
          <p:cNvPr id="4" name="S17-card126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7-cardtext127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돌아왔을 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놀이터, 학교, 가게</a:t>
            </a:r>
            <a:endParaRPr lang="ko-KR" sz="3000" dirty="0"/>
          </a:p>
        </p:txBody>
      </p:sp>
      <p:sp>
        <p:nvSpPr>
          <p:cNvPr id="6" name="S17-card128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7-cardtext129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화장실을 다녀온 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용변을 보고 나서</a:t>
            </a:r>
            <a:endParaRPr lang="ko-KR" sz="3000" dirty="0"/>
          </a:p>
        </p:txBody>
      </p:sp>
      <p:sp>
        <p:nvSpPr>
          <p:cNvPr id="8" name="S17-card130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7-cardtext131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음식을 먹기 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밥, 간식을 먹기 전</a:t>
            </a:r>
            <a:endParaRPr lang="ko-KR" sz="3000" dirty="0"/>
          </a:p>
        </p:txBody>
      </p:sp>
      <p:sp>
        <p:nvSpPr>
          <p:cNvPr id="10" name="S17-card132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7-cardtext133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코를 풀거나 기침한 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휴지를 버리고 나서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감염병 예방</dc:title>
  <dc:subject>KR22-G03-SCI-GERMS-L01</dc:subject>
  <dc:creator>education-ppt</dc:creator>
  <cp:lastModifiedBy>education-ppt</cp:lastModifiedBy>
  <cp:revision>1</cp:revision>
  <dcterms:created xsi:type="dcterms:W3CDTF">2026-10-26T09:41:57Z</dcterms:created>
  <dcterms:modified xsi:type="dcterms:W3CDTF">2026-10-26T09:41:57Z</dcterms:modified>
</cp:coreProperties>
</file>