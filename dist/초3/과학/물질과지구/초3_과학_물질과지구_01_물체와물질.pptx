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c77895c-650c-3d93-4071-15a921c0f2b7}">
          <p14:sldIdLst>
            <p14:sldId id="256"/>
            <p14:sldId id="257"/>
          </p14:sldIdLst>
        </p14:section>
        <p14:section name="개념" id="{bb689ea3-2c0c-a39e-986f-f7d47349ee1a}">
          <p14:sldIdLst>
            <p14:sldId id="258"/>
            <p14:sldId id="264"/>
            <p14:sldId id="265"/>
          </p14:sldIdLst>
        </p14:section>
        <p14:section name="연습" id="{88773409-ce8c-e056-3c6e-c69d5a24bdee}">
          <p14:sldIdLst>
            <p14:sldId id="259"/>
            <p14:sldId id="260"/>
            <p14:sldId id="261"/>
            <p14:sldId id="262"/>
            <p14:sldId id="263"/>
            <p14:sldId id="266"/>
          </p14:sldIdLst>
        </p14:section>
        <p14:section name="개념" id="{312888c4-d12f-4fd6-4e6e-a4b7043257b2}">
          <p14:sldIdLst/>
        </p14:section>
        <p14:section name="연습" id="{13030ab6-7e07-7099-3a07-777721d3ae78}">
          <p14:sldIdLst/>
        </p14:section>
        <p14:section name="확인" id="{3bdcefbd-e9ba-c56a-3363-08a359b19be4}">
          <p14:sldIdLst>
            <p14:sldId id="267"/>
            <p14:sldId id="268"/>
            <p14:sldId id="269"/>
          </p14:sldIdLst>
        </p14:section>
        <p14:section name="정리" id="{0f782967-717c-5dee-8705-01b3b6b4e1ea}">
          <p14:sldIdLst>
            <p14:sldId id="270"/>
          </p14:sldIdLst>
        </p14:section>
        <p14:section name="보충" id="{4aae61b0-8032-4601-4da7-235a496caa0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생활 속 물건을 만든 재료에 관심을 갖게 합니다.
시간: 약 2분
이렇게 말해 보세요
- “쇠숟가락과 플라스틱 숟가락을 하나씩 들어 볼래? 둘은 무엇이 다를까?”
- “오늘은 물건을 만든 재료를 살펴보고, 재료마다 어떤 특징이 있는지 직접 시험해 볼 거야.”
예상 답
- “색이 달라요.” “쇠숟가락이 더 무겁고 차가워요.” 어떤 답이든 괜찮습니다.
막히면
- 두 숟가락을 양손에 하나씩 쥐여 주고 “손에 느껴지는 게 어때?”라고 묻습니다.
주의
- 준비물을 미리 쟁반 하나에 모아 두고, 실험용 큰 그릇에는 물을 반쯤만 담습니다(S07에서 씁니다).
- 유리컵은 아이가 들고 실험하지 않습니다. S10에서 부모가 들고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확인(감각으로 관찰하기, 한 가지 기준으로 나누기)]
목적: 물건을 감각으로 관찰해 특징을 말하는 힘(초1 ‘오감으로 관찰하기’)과 한 가지 기준으로 나누는 힘(초1 ‘한 가지 기준으로 나누기’)을 확인합니다. 이 차시는 계획상 선수 차시가 없습니다.
시간: 약 3분
이렇게 말해 보세요
- “① 눈을 감고 쇠숟가락과 고무줄을 만져 볼래? 어떻게 달라?”
- “② 손가락으로 꾹 눌러 보고, 딱딱한 것과 말랑한 것으로 나눠 볼까?”
예상 답
- ① “숟가락은 딱딱하고 차가워요. 고무줄은 말랑하고 잘 늘어나요.”
- ② 딱딱한 것: 나무젓가락, 쇠숟가락 / 말랑한 것: 고무줄
막히면
- ‘딱딱하다, 말랑하다, 매끈하다, 거칠다’ 같은 낱말이 잘 나오지 않거나 나누기를 어려워하면 S16(보충)을 먼저 합니다.
주의
- 표현이 조금 달라도 만져 본 느낌을 말하면 괜찮습니다. 오늘은 이런 특징을 ‘성질’이라는 말로 바꾸어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물체와 물질의 뜻]
목적: 물체와 물질의 뜻을 알고 구별합니다(목표 A).
시간: 약 3분
이렇게 말해 보세요
- “숟가락처럼 모양이 있고 자리를 차지하는 것을 ‘물체’라고 해. 숟가락을 만든 재료인 금속은 ‘물질’이야.”
- “‘이건 뭐야?’ 하고 물으면 물체가 답이고, ‘무엇으로 만들었어?’ 하고 물으면 물질이 답이야. 고무장갑은 무엇으로 만들었을까?”
예상 답
- “고무로 만들었어요.”
막히면
- 실물을 하나씩 들고 “이건 뭐야?(물체)” “뭘로 만들었어?(물질)”를 번갈아 묻습니다.
주의
- 교과서는 물체를 ‘모양이 있고 공간을 차지하는 것’, 물질을 ‘물체를 만드는 재료’라고 합니다. 처음에는 ‘물질’을 ‘재료’라는 말과 함께 써 줍니다.
- 쇠(철)·알루미늄 등은 이 차시에서 ‘금속’으로 묶어 말합니다. 자석에 붙는 금속은 4학년 ‘자석의 성질’에서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물체와 물질 구별하기]
목적: 낱말을 보고 물체와 물질을 구별합니다(목표 A, 오해 M1).
시간: 약 3분
이렇게 말해 보세요
- “하나씩 읽고 물체인지 물질인지 말해 볼래? 어떻게 알았어?”
- “‘나무로 만든 의자’라고 말해 보자. 앞의 나무는 무엇이고 뒤의 의자는 무엇일까?”
정답
- ① 물질 ② 물체 ③ 물질 ④ 물체 ⑤ 물질 ⑥ 물체
막히면
- ‘○○로 만든 □□’ 문장에 넣어 봅니다. ‘유리로 만든 창문’은 되지만 ‘창문으로 만든 유리’는 어색합니다.
주의
- 플라스틱을 물체라고 하면 오해 M1입니다. “플라스틱으로 만든 것을 세 가지 말해 볼래?”라고 물어 플라스틱이 재료라는 것을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생활 속 물체의 물질 찾기]
목적: 생활 속 물체의 물질을 찾아 말하고, 한 물체를 여러 물질로 만들기도 한다는 것을 압니다(목표 A, 오해 M3).
시간: 약 2분
이렇게 말해 보세요
- “창문을 만져 볼까? 무엇으로 만들었어? 창틀은?”
- “우산을 펼쳐 보자. 비를 막는 부분, 우산살, 손잡이는 각각 무엇으로 만들었을까?”
정답
- ① 유리(창틀은 금속이나 플라스틱)
- ② 천(비를 막는 부분), 금속(우산살), 플라스틱이나 나무(손잡이) — 여러 물질로 만듦
- ③ 나무(다리가 금속인 책상도 있음)
- 기준: 집에 있는 실제 물체를 보고 말한 물질이 맞으면 정답입니다.
막히면
- 만지고 손가락으로 톡톡 두드려 보게 합니다. 차갑고 반짝이면 금속, 나뭇결 무늬가 있으면 나무인 경우가 많습니다.
주의
- 나뭇결 무늬 종이를 붙인 가구도 있습니다. 확실하지 않으면 “나무처럼 보여요”라고 말해도 된다고 알려 줍니다.
- ‘천’은 교과서에서 ‘섬유’라고도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실험 전 예상하기]
목적: 실험하기 전에 결과를 예상하고 까닭을 말합니다(목표 B). 결과는 S07에서 직접 확인합니다.
시간: 약 2분
이렇게 말해 보세요
- “네 가지를 물에 넣으면 어떻게 될 것 같아? 뜰 것 같은 것과 가라앉을 것 같은 것을 말해 볼래?”
- “왜 그렇게 생각했어? 활동지 2의 ‘예상’ 칸에 ‘떠요’ 또는 ‘가라앉아요’라고 써 보자.”
예상 답
- 어떤 예상이든 괜찮습니다. “쇠숟가락은 무거워서 가라앉을 것 같아요.” “나무는 뜰 것 같아요.” “고무줄은 가벼워서 뜰 것 같아요.”
막히면
- “물에 떠 있는 것을 본 적이 있어? 무엇으로 만든 거였어?”라고 경험을 떠올리게 합니다.
주의
- 결과를 미리 알려 주지 않습니다. 예상이 틀려도 괜찮고, 실험으로 확인하는 것이 중요하다고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같은 방법으로 시험하기]
목적: 네 가지 물질을 같은 방법으로 시험해 성질을 비교하고 결과를 기록합니다(목표 B).
시간: 약 6분
이렇게 말해 보세요
- “먼저 쇠숟가락부터 해 볼까? 꾹 눌러 봐. 모양이 변해?”
- “이번엔 양 끝을 잡고 살짝만 구부려 봐. 휘어져?”
- “물에 살며시 넣어 보자. 떠, 가라앉아? 예상과 같아?”
예상 답
- 쇠숟가락: 눌러도 그대로, 손으로는 거의 휘어지지 않음, 가라앉음
- 나무젓가락: 눌러도 그대로, 조금 휘어짐, 물에 뜸
- 플라스틱 숟가락: 눌러도 거의 그대로, 조금 휘어짐, 종류에 따라 뜨기도 하고 가라앉기도 함
- 고무줄: 눌리면 들어가고 잘 휘어지며 잘 늘어남, 물에서는 제품에 따라 다름
막히면
- 눌러 보기가 어려우면 부모가 먼저 고무줄을 눌러 “쑥 들어가지?”를 보여 준 뒤 쇠숟가락과 비교하게 합니다.
- 결과를 쓰기 어려우면 부모가 받아 적고 아이는 말로 설명하게 합니다.
주의
- 나무젓가락과 플라스틱 숟가락은 세게 구부리면 부러지고 부러진 끝이 날카롭습니다. ‘살짝’만 구부리게 하고, 부러지면 부모가 치웁니다.
- 플라스틱과 고무는 제품에 따라 물에 뜨기도 하고 가라앉기도 합니다. 정답을 정해 두지 말고 본 결과를 그대로 기록합니다.
- 물에 넣은 물체는 마른 수건으로 닦아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 정리와 예상 비교]
목적: 실험 결과를 표로 정리하고 예상과 비교합니다(목표 B).
시간: 약 3분
이렇게 말해 보세요
- “쇠숟가락은 눌러 보니 어땠어? 구부려 보니? 물에서는?” 표를 한 줄씩 짚으며 아이가 말하게 합니다.
- “예상과 다른 것이 있었어? 처음에는 왜 그렇게 예상했을까?”
예상 답
- S07의 예상답과 같습니다. 아이가 직접 본 결과가 그와 다르면 아이의 결과를 그대로 인정하고, 왜 달랐을지 함께 이야기합니다.
막히면
- 결과가 헷갈리면 그 물체만 다시 한 번 시험해 봅니다. 다시 해 보는 것도 좋은 과학 습관입니다.
주의
- 화면의 빈칸은 아이가 말로 채우는 자리입니다. 정답을 화면에 쓰지 않습니다.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결과로 물질의 성질 설명하기]
목적: 실험 결과를 증거로 금속·나무·플라스틱·고무의 성질을 정리합니다(목표 B).
시간: 약 3분
이렇게 말해 보세요
- “쇠숟가락은 가라앉고 나무젓가락은 떴지? 이렇게 물질마다 가진 특징을 ‘성질’이라고 해.”
- “고무의 성질은 무엇이었어? 네 실험 결과에서 찾아볼래?”
예상 답
- “고무는 잘 휘어지고 늘어나요. 아까 고무줄이 쭉 늘어났어요.”
막히면
- 카드 하나를 읽고, 활동지 2에서 같은 결과를 찾아 손가락으로 짚게 합니다.
주의
- 교과서에서는 금속은 단단하고 광택이 있다고 배웁니다. ‘광택’은 ‘반짝임’으로 풀어 줍니다.
- 아주 무거운 나무 가운데에는 가라앉는 것도 있고, 금속도 그릇 모양이면 물에 뜰 수 있습니다. 오늘은 집에서 시험한 속이 꽉 찬 물체로만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성질과 쓰임 잇기]
목적: 물질의 성질과 물체의 쓰임을 잇습니다(목표 B).
시간: 약 3분
이렇게 말해 보세요
- “고무장갑을 유리로 만들면 어떻게 될까?”
- “집에 있는 유리컵, 플라스틱 컵, 종이컵을 보자. 소풍 갈 때는 어떤 컵이 좋을까? 왜?”
예상 답
- “유리 장갑은 손을 못 움직여요.” “플라스틱 컵이요. 가볍고 안 깨져요.”
막히면
- “만약 ○○를 □□로 만든다면?”처럼 엉뚱한 물질로 바꾸어 물어보면 성질의 차이가 잘 보입니다.
주의
- 유리컵은 부모가 들고 보여 줍니다. 깨지면 날카로워 위험합니다.
- 아이가 다른 까닭을 말해도 물질의 성질과 이어지면 맞습니다(예: 고무장갑은 물이 스며들지 않아요).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오해 비교(크면 가라앉는다)]
목적: 뜨고 가라앉는 것을 크기만으로 판단하는 오해를 실험 결과로 바로잡습니다(목표 B, 오해 M2).
시간: 약 2분
이렇게 말해 보세요
- “토끼와 곰의 생각이 달라. 아까 나무젓가락과 쇠숟가락은 어떻게 됐지?”
- “나무는 크기가 커져도 나무의 성질은 그대로일까?”
정답
- 곰. 나무는 물에 뜨는 성질, 금속은 가라앉는 성질이 있어서 크기와 상관없이 나무토막은 뜨고 쇠 클립은 가라앉습니다.
- 증거: S07에서 나무젓가락은 뜨고 쇠숟가락은 가라앉았습니다.
막히면
- 나무 블록(나무 장난감)과 쇠 클립이 있으면 물속에 넣어 직접 확인합니다.
주의
- 클립을 물 표면에 아주 살며시 올려놓으면 물 표면에 얹혀 떠 있는 것처럼 보일 수 있습니다. 물속으로 넣어 보게 합니다.
- ‘크기와 상관없이’는 속이 꽉 찬 물체일 때입니다. 아이가 배를 물으면 “모양도 영향을 줘. 오늘은 속이 꽉 찬 물체만 비교했어”라고 답합니다(오해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처음 보는 물체의 부분마다 물질을 말하고(①②), 물질의 성질과 쓰임을 잇는지(③) 확인합니다(목표 A·B).
시간: 약 3분
이렇게 말해 보세요
- “이번에는 혼자 답해 볼래? 집에 자전거가 있으면 직접 보고, 없으면 떠올려 봐.”
- “③은 왜 그렇게 생각했는지 꼭 말해 줘.”
정답
- ① 고무
- ② 금속(대부분의 자전거)
- ③ 기준: 고무의 성질과 쓰임을 이어 말하면 맞음. 예) 고무는 잘 휘어져서 울퉁불퉁한 길에서도 덜 덜컹거려요. 고무는 잘 미끄러지지 않아요.
막히면
- 바로 알려 주지 말고 “타이어를 눌러 보면 어떨까? 우리가 시험한 것 중 무엇과 비슷해?”라고만 묻습니다.
- 도움을 받아 해결했다면 기록표에 ‘도움’으로 표시합니다.
주의
- ①을 ‘바퀴’라고 하면 물체를 답한 것입니다(오해 M1). “바퀴를 무엇으로 만들었는지 물었어”라고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고무 ② 금속 ③ 고무가 잘 휘어지고 잘 미끄러지지 않는 성질 때문
막히면
- ①이 ‘바퀴’이면 S04로(M1), ③을 설명하지 못하면 S09·S10으로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확인(성질에 맞는 물질 고르기)]
목적: 처음 보는 문제에서 쓰임에 맞는 성질을 가진 물질을 고르고 까닭을 말하는지 확인합니다(목표 B).
시간: 약 2분
이렇게 말해 보세요
- “장화는 어떤 성질이 있어야 할까? 세 가지 중에서 골라 볼래?”
- “다른 두 가지로 만들면 어떤 문제가 생길까?”
정답
- 나(고무). 고무는 잘 휘어져 걷기 편하고, 물이 스며들지 않습니다.
- 가(종이)는 물에 젖어 찢어지고, 다(유리)는 휘어지지 않고 깨지기 쉽습니다.
막히면
- S09의 카드와 S10의 표를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“물체와 물질은 어떻게 달랐어? 오늘 시험한 물질 중 하나를 골라 성질을 말해 줄래?”
예상 답
- “물체를 만든 재료가 물질이에요.” “고무는 잘 늘어나요.”
정답
- ① 물질 ② 잘 휘어진다, 잘 늘어난다 중 하나 ③ 투명해서 밖이 잘 보이기 때문
막히면
- S03, S09, S10을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보충(느낌을 낱말로 말하기)]
목적: S02가 흔들리면, 물건을 만지고 느낌을 낱말로 말하는 것과 한 가지 기준으로 나누는 것부터 다시 합니다.
시간: 약 4분
이렇게 말해 보세요
- “집 안에서 물건 다섯 가지를 가져와 볼래? 하나씩 만지고 카드 중에서 맞는 낱말을 골라 말해 보자.”
- “이번에는 ‘딱딱해요’와 ‘말랑해요’ 두 무리로 나눠 볼까?”
예상 답
- “냄비는 딱딱하고 매끈해요.” “수건은 말랑해요.”
막히면
- 부모가 먼저 “이 숟가락은 딱딱해”라고 시범을 보이고, 같은 물건을 아이가 따라 말하게 합니다.
주의
- 이 차시는 계획상 선수 차시가 없습니다. 보충으로도 느낌을 말하거나 나누기를 어려워하면 초1 ‘오감으로 관찰하기’(KR22-G01-SCI-SENSES-L01)와 ‘한 가지 기준으로 나누기’(KR22-G01-SCI-SORT-L01)를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물질과지구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물체와 물질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물체와 물질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물체와 물질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물체와 물질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숟가락은 무엇으로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물체가 어떤 물질로 만들어졌는지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물질의 성질을 시험하고 쓰임과 이어요.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말해요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직접 만져 보고 말해요.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쇠숟가락과 고무줄은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보면 어떻게 달라요?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딱딱한 것과 말랑한 것으로 나누어요.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나무젓가락, 고무줄, 쇠숟가락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물체와 물질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있고 자리를 차지하는 것은 물체,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만든 재료는 물질이에요.</a:t>
            </a:r>
            <a:endParaRPr lang="ko-KR" sz="30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‘무엇이야?’는 물체, ‘무엇으로 만들었어?’는 물질</a:t>
            </a:r>
            <a:endParaRPr lang="ko-KR" sz="3000" dirty="0"/>
          </a:p>
        </p:txBody>
      </p:sp>
      <p:graphicFrame>
        <p:nvGraphicFramePr>
          <p:cNvPr id="4" name="S03-table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5476" y="2498090"/>
          <a:ext cx="685800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고무장갑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물체일까, 물질일까?</a:t>
            </a:r>
            <a:endParaRPr lang="ko-KR" sz="4000" dirty="0"/>
          </a:p>
        </p:txBody>
      </p:sp>
      <p:sp>
        <p:nvSpPr>
          <p:cNvPr id="3" name="S04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물체인지 물질인지 말해요.</a:t>
            </a:r>
            <a:endParaRPr lang="ko-KR" sz="3000" dirty="0"/>
          </a:p>
        </p:txBody>
      </p:sp>
      <p:sp>
        <p:nvSpPr>
          <p:cNvPr id="4" name="S04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‘○○로 만든 □□’에서 ○○ 자리에 들어가면 물질이에요.</a:t>
            </a:r>
            <a:endParaRPr lang="ko-KR" sz="3000" dirty="0"/>
          </a:p>
        </p:txBody>
      </p:sp>
      <p:sp>
        <p:nvSpPr>
          <p:cNvPr id="6" name="S04-chip1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1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3000" dirty="0"/>
          </a:p>
        </p:txBody>
      </p:sp>
      <p:sp>
        <p:nvSpPr>
          <p:cNvPr id="8" name="S04-chip17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18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</a:t>
            </a:r>
            <a:endParaRPr lang="ko-KR" sz="3000" dirty="0"/>
          </a:p>
        </p:txBody>
      </p:sp>
      <p:sp>
        <p:nvSpPr>
          <p:cNvPr id="10" name="S04-chip1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text2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</a:t>
            </a:r>
            <a:endParaRPr lang="ko-KR" sz="3000" dirty="0"/>
          </a:p>
        </p:txBody>
      </p:sp>
      <p:sp>
        <p:nvSpPr>
          <p:cNvPr id="12" name="S04-chip21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text22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3000" dirty="0"/>
          </a:p>
        </p:txBody>
      </p:sp>
      <p:sp>
        <p:nvSpPr>
          <p:cNvPr id="14" name="S04-chip2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4-text2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</a:t>
            </a:r>
            <a:endParaRPr lang="ko-KR" sz="3000" dirty="0"/>
          </a:p>
        </p:txBody>
      </p:sp>
      <p:sp>
        <p:nvSpPr>
          <p:cNvPr id="16" name="S04-chip25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4-text26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만들었을까?</a:t>
            </a:r>
            <a:endParaRPr lang="ko-KR" sz="40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찾아 직접 만져 보고 말해요.</a:t>
            </a:r>
            <a:endParaRPr lang="ko-KR" sz="30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물체를 여러 가지 물질로 만들기도 해요.</a:t>
            </a:r>
            <a:endParaRPr lang="ko-KR" sz="3000" dirty="0"/>
          </a:p>
        </p:txBody>
      </p:sp>
      <p:sp>
        <p:nvSpPr>
          <p:cNvPr id="6" name="S05-chip3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3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</a:t>
            </a:r>
            <a:endParaRPr lang="ko-KR" sz="3000" dirty="0"/>
          </a:p>
        </p:txBody>
      </p:sp>
      <p:sp>
        <p:nvSpPr>
          <p:cNvPr id="8" name="S05-chip3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000" dirty="0"/>
          </a:p>
        </p:txBody>
      </p:sp>
      <p:sp>
        <p:nvSpPr>
          <p:cNvPr id="10" name="S05-chip3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넣으면 뜰까요, 가라앉을까요?</a:t>
            </a:r>
            <a:endParaRPr lang="ko-KR" sz="30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말하고, 활동지 2의 ‘예상’ 칸에 써요.</a:t>
            </a:r>
            <a:endParaRPr lang="ko-KR" sz="3000" dirty="0"/>
          </a:p>
        </p:txBody>
      </p:sp>
      <p:sp>
        <p:nvSpPr>
          <p:cNvPr id="6" name="S06-chip3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4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쇠숟가락</a:t>
            </a:r>
            <a:endParaRPr lang="ko-KR" sz="3000" dirty="0"/>
          </a:p>
        </p:txBody>
      </p:sp>
      <p:sp>
        <p:nvSpPr>
          <p:cNvPr id="8" name="S06-chip4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4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나무젓가락</a:t>
            </a:r>
            <a:endParaRPr lang="ko-KR" sz="3000" dirty="0"/>
          </a:p>
        </p:txBody>
      </p:sp>
      <p:sp>
        <p:nvSpPr>
          <p:cNvPr id="10" name="S06-chip4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4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숟가락</a:t>
            </a:r>
            <a:endParaRPr lang="ko-KR" sz="3000" dirty="0"/>
          </a:p>
        </p:txBody>
      </p:sp>
      <p:sp>
        <p:nvSpPr>
          <p:cNvPr id="12" name="S06-chip4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4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가지로 시험해요</a:t>
            </a:r>
            <a:endParaRPr lang="ko-KR" sz="40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물체를 하나씩 같은 방법으로 시험해요.</a:t>
            </a:r>
            <a:endParaRPr lang="ko-KR" sz="3000" dirty="0"/>
          </a:p>
        </p:txBody>
      </p:sp>
      <p:sp>
        <p:nvSpPr>
          <p:cNvPr id="4" name="S07-card48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부러질 만큼 세게 구부리지 않아요. 흘린 물은 바로 닦아요.</a:t>
            </a:r>
            <a:endParaRPr lang="ko-KR" sz="3000" dirty="0"/>
          </a:p>
        </p:txBody>
      </p:sp>
      <p:sp>
        <p:nvSpPr>
          <p:cNvPr id="6" name="S07-card50"/>
          <p:cNvSpPr/>
          <p:nvPr/>
        </p:nvSpPr>
        <p:spPr>
          <a:xfrm>
            <a:off x="6813652" y="2011680"/>
            <a:ext cx="4826660" cy="2718816"/>
          </a:xfrm>
          <a:prstGeom prst="roundRect">
            <a:avLst>
              <a:gd name="adj" fmla="val 403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51"/>
          <p:cNvSpPr txBox="1"/>
          <p:nvPr/>
        </p:nvSpPr>
        <p:spPr>
          <a:xfrm>
            <a:off x="7087972" y="2148840"/>
            <a:ext cx="4278020" cy="244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물체를 모두 같은 방법으로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눈으로 본 것을 말로 설명해요</a:t>
            </a:r>
            <a:endParaRPr lang="ko-KR" sz="3000" dirty="0"/>
          </a:p>
        </p:txBody>
      </p:sp>
      <p:sp>
        <p:nvSpPr>
          <p:cNvPr id="8" name="S07-stepno52"/>
          <p:cNvSpPr txBox="1"/>
          <p:nvPr/>
        </p:nvSpPr>
        <p:spPr>
          <a:xfrm>
            <a:off x="548640" y="20269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7-text53"/>
          <p:cNvSpPr txBox="1"/>
          <p:nvPr/>
        </p:nvSpPr>
        <p:spPr>
          <a:xfrm>
            <a:off x="1325880" y="20269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꾹 눌러 봐요.</a:t>
            </a:r>
            <a:endParaRPr lang="ko-KR" sz="2400" dirty="0"/>
          </a:p>
        </p:txBody>
      </p:sp>
      <p:sp>
        <p:nvSpPr>
          <p:cNvPr id="10" name="S07-stepno54"/>
          <p:cNvSpPr txBox="1"/>
          <p:nvPr/>
        </p:nvSpPr>
        <p:spPr>
          <a:xfrm>
            <a:off x="548640" y="27401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7-text55"/>
          <p:cNvSpPr txBox="1"/>
          <p:nvPr/>
        </p:nvSpPr>
        <p:spPr>
          <a:xfrm>
            <a:off x="1325880" y="27401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 끝을 잡고 살짝 구부려 봐요.</a:t>
            </a:r>
            <a:endParaRPr lang="ko-KR" sz="2400" dirty="0"/>
          </a:p>
        </p:txBody>
      </p:sp>
      <p:sp>
        <p:nvSpPr>
          <p:cNvPr id="12" name="S07-stepno56"/>
          <p:cNvSpPr txBox="1"/>
          <p:nvPr/>
        </p:nvSpPr>
        <p:spPr>
          <a:xfrm>
            <a:off x="548640" y="34533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7-text57"/>
          <p:cNvSpPr txBox="1"/>
          <p:nvPr/>
        </p:nvSpPr>
        <p:spPr>
          <a:xfrm>
            <a:off x="1325880" y="34533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그릇에 살며시 넣어 봐요.</a:t>
            </a:r>
            <a:endParaRPr lang="ko-KR" sz="2400" dirty="0"/>
          </a:p>
        </p:txBody>
      </p:sp>
      <p:sp>
        <p:nvSpPr>
          <p:cNvPr id="14" name="S07-stepno58"/>
          <p:cNvSpPr txBox="1"/>
          <p:nvPr/>
        </p:nvSpPr>
        <p:spPr>
          <a:xfrm>
            <a:off x="548640" y="41666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7-text59"/>
          <p:cNvSpPr txBox="1"/>
          <p:nvPr/>
        </p:nvSpPr>
        <p:spPr>
          <a:xfrm>
            <a:off x="1325880" y="41666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 활동지 2에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30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3000" dirty="0"/>
          </a:p>
        </p:txBody>
      </p:sp>
      <p:graphicFrame>
        <p:nvGraphicFramePr>
          <p:cNvPr id="9" name="S08-table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62200"/>
          <a:ext cx="10972800" cy="914400"/>
        </p:xfrm>
        <a:graphic>
          <a:graphicData uri="http://schemas.openxmlformats.org/drawingml/2006/table">
            <a:tbl>
              <a:tblPr/>
              <a:tblGrid>
                <a:gridCol w="4059936"/>
                <a:gridCol w="2304288"/>
                <a:gridCol w="2304288"/>
                <a:gridCol w="230428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물체(물질)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눌러 보면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구부려 보면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물에 넣으면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쇠숟가락(금속)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나무젓가락(나무)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숟가락(플라스틱)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고무줄(고무)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물질마다 성질이 달라요</a:t>
            </a:r>
            <a:endParaRPr lang="ko-KR" sz="40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결과가 물질의 성질을 알려 줘요.</a:t>
            </a:r>
            <a:endParaRPr lang="ko-KR" sz="30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물질마다 가진 특징을 ‘성질’이라고 해요.</a:t>
            </a:r>
            <a:endParaRPr lang="ko-KR" sz="3000" dirty="0"/>
          </a:p>
        </p:txBody>
      </p:sp>
      <p:sp>
        <p:nvSpPr>
          <p:cNvPr id="6" name="S09-card67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68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단단하고 반짝여요.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가라앉아요.</a:t>
            </a:r>
            <a:endParaRPr lang="ko-KR" sz="2400" dirty="0"/>
          </a:p>
        </p:txBody>
      </p:sp>
      <p:sp>
        <p:nvSpPr>
          <p:cNvPr id="8" name="S09-card69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0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단단하고 무늬가 있어요.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떠요.</a:t>
            </a:r>
            <a:endParaRPr lang="ko-KR" sz="2400" dirty="0"/>
          </a:p>
        </p:txBody>
      </p:sp>
      <p:sp>
        <p:nvSpPr>
          <p:cNvPr id="10" name="S09-card71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72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가볍고 여러 모양과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색으로 만들기 쉬워요.</a:t>
            </a:r>
            <a:endParaRPr lang="ko-KR" sz="2400" dirty="0"/>
          </a:p>
        </p:txBody>
      </p:sp>
      <p:sp>
        <p:nvSpPr>
          <p:cNvPr id="12" name="S09-card73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9-cardtext74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휘어지고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늘어나요.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성질에 맞게 골라 써요</a:t>
            </a:r>
            <a:endParaRPr lang="ko-KR" sz="40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쓰임에 맞는 성질을 가진 물질로 물체를 만들어요.</a:t>
            </a:r>
            <a:endParaRPr lang="ko-KR" sz="3000" dirty="0"/>
          </a:p>
        </p:txBody>
      </p:sp>
      <p:sp>
        <p:nvSpPr>
          <p:cNvPr id="4" name="S10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컵도 물질이 다르면 좋은 점이 달라요.</a:t>
            </a:r>
            <a:endParaRPr lang="ko-KR" sz="3000" dirty="0"/>
          </a:p>
        </p:txBody>
      </p:sp>
      <p:graphicFrame>
        <p:nvGraphicFramePr>
          <p:cNvPr id="11" name="S10-table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6309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물질로 만든 까닭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고무장갑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늘어나 손에 꼭 맞아요.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투명해서 밖이 잘 보여요.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단단해서 잘 휘지 않아요.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바구니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가볍고 잘 깨지지 않아요.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1-card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나무토막과 작은 쇠 클립을 물속에 넣으면?</a:t>
            </a:r>
            <a:endParaRPr lang="ko-KR" sz="3000" dirty="0"/>
          </a:p>
        </p:txBody>
      </p:sp>
      <p:sp>
        <p:nvSpPr>
          <p:cNvPr id="5" name="S11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1-chip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1-text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나무토막이 더 크고 무거우니까 가라앉아요.</a:t>
            </a:r>
            <a:endParaRPr lang="ko-KR" sz="3000" dirty="0"/>
          </a:p>
        </p:txBody>
      </p:sp>
      <p:sp>
        <p:nvSpPr>
          <p:cNvPr id="9" name="S11-chip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1-text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나무토막은 뜨고 쇠 클립은 가라앉아요.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떠올려 보고 답해요.</a:t>
            </a:r>
            <a:endParaRPr lang="ko-KR" sz="3000" dirty="0"/>
          </a:p>
        </p:txBody>
      </p:sp>
      <p:sp>
        <p:nvSpPr>
          <p:cNvPr id="4" name="S12-chip8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8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타이어는 무엇으로 만들었을까요?</a:t>
            </a:r>
            <a:endParaRPr lang="ko-KR" sz="3000" dirty="0"/>
          </a:p>
        </p:txBody>
      </p:sp>
      <p:sp>
        <p:nvSpPr>
          <p:cNvPr id="6" name="S12-chip9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9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자전거의 몸체는 무엇으로 만들었을까요?</a:t>
            </a:r>
            <a:endParaRPr lang="ko-KR" sz="3000" dirty="0"/>
          </a:p>
        </p:txBody>
      </p:sp>
      <p:sp>
        <p:nvSpPr>
          <p:cNvPr id="8" name="S12-chip9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9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타이어를 그 물질로 만든 까닭은 무엇일까요?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9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③은 물질의 성질(휘어짐·늘어남 등)과 쓰임을 이어 말하면 맞아요.</a:t>
            </a:r>
            <a:endParaRPr lang="ko-KR" sz="30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97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고무</a:t>
            </a:r>
            <a:endParaRPr lang="ko-KR" sz="3000" dirty="0"/>
          </a:p>
        </p:txBody>
      </p:sp>
      <p:sp>
        <p:nvSpPr>
          <p:cNvPr id="7" name="S13-text98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타이어의 물질</a:t>
            </a:r>
            <a:endParaRPr lang="ko-KR" sz="24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금속</a:t>
            </a:r>
            <a:endParaRPr lang="ko-KR" sz="3000" dirty="0"/>
          </a:p>
        </p:txBody>
      </p:sp>
      <p:sp>
        <p:nvSpPr>
          <p:cNvPr id="9" name="S13-text100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단단하고 튼튼함</a:t>
            </a:r>
            <a:endParaRPr lang="ko-KR" sz="2400" dirty="0"/>
          </a:p>
        </p:txBody>
      </p:sp>
      <p:sp>
        <p:nvSpPr>
          <p:cNvPr id="10" name="S13-text101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잘 휘어져요</a:t>
            </a:r>
            <a:endParaRPr lang="ko-KR" sz="3000" dirty="0"/>
          </a:p>
        </p:txBody>
      </p:sp>
      <p:sp>
        <p:nvSpPr>
          <p:cNvPr id="11" name="S13-text102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 → 쓰임</a:t>
            </a:r>
            <a:endParaRPr lang="ko-KR" sz="2400" dirty="0"/>
          </a:p>
        </p:txBody>
      </p:sp>
      <p:sp>
        <p:nvSpPr>
          <p:cNvPr id="12" name="S13-chip10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3-text10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바퀴</a:t>
            </a:r>
            <a:endParaRPr lang="ko-KR" sz="3000" dirty="0"/>
          </a:p>
        </p:txBody>
      </p:sp>
      <p:sp>
        <p:nvSpPr>
          <p:cNvPr id="14" name="S13-text10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답함(M1)</a:t>
            </a:r>
            <a:endParaRPr lang="ko-KR" sz="2400" dirty="0"/>
          </a:p>
        </p:txBody>
      </p:sp>
      <p:sp>
        <p:nvSpPr>
          <p:cNvPr id="15" name="S13-text10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원래 그래요</a:t>
            </a:r>
            <a:endParaRPr lang="ko-KR" sz="3000" dirty="0"/>
          </a:p>
        </p:txBody>
      </p:sp>
      <p:sp>
        <p:nvSpPr>
          <p:cNvPr id="16" name="S13-text10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성질을 말하지 않음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물질은?</a:t>
            </a:r>
            <a:endParaRPr lang="ko-KR" sz="4000" dirty="0"/>
          </a:p>
        </p:txBody>
      </p:sp>
      <p:sp>
        <p:nvSpPr>
          <p:cNvPr id="3" name="S14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 신는 장화를 만들려고 해요.</a:t>
            </a:r>
            <a:endParaRPr lang="ko-KR" sz="3000" dirty="0"/>
          </a:p>
        </p:txBody>
      </p:sp>
      <p:sp>
        <p:nvSpPr>
          <p:cNvPr id="4" name="S14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물질을 고르고, 까닭을 말해요.</a:t>
            </a:r>
            <a:endParaRPr lang="ko-KR" sz="3000" dirty="0"/>
          </a:p>
        </p:txBody>
      </p:sp>
      <p:sp>
        <p:nvSpPr>
          <p:cNvPr id="6" name="S14-chip11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11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1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ko-KR" sz="3000" dirty="0"/>
          </a:p>
        </p:txBody>
      </p:sp>
      <p:sp>
        <p:nvSpPr>
          <p:cNvPr id="9" name="S14-chip11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11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1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</a:t>
            </a:r>
            <a:endParaRPr lang="ko-KR" sz="3000" dirty="0"/>
          </a:p>
        </p:txBody>
      </p:sp>
      <p:sp>
        <p:nvSpPr>
          <p:cNvPr id="12" name="S14-chip11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4-card11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11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2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2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물체는 물질로 만들어요.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성질에 맞게 쓰임을 정해요.</a:t>
            </a:r>
            <a:endParaRPr lang="ko-KR" sz="3000" dirty="0"/>
          </a:p>
        </p:txBody>
      </p:sp>
      <p:sp>
        <p:nvSpPr>
          <p:cNvPr id="5" name="S15-chip12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성질과 쓰임을 이어 말하기</a:t>
            </a:r>
            <a:endParaRPr lang="ko-KR" sz="2400" dirty="0"/>
          </a:p>
        </p:txBody>
      </p:sp>
      <p:sp>
        <p:nvSpPr>
          <p:cNvPr id="6" name="S15-chip12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크면 가라앉는다고 생각하기</a:t>
            </a:r>
            <a:endParaRPr lang="ko-KR" sz="2400" dirty="0"/>
          </a:p>
        </p:txBody>
      </p:sp>
      <p:sp>
        <p:nvSpPr>
          <p:cNvPr id="7" name="S15-text12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2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컵은 물체예요.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유리는?</a:t>
            </a:r>
            <a:endParaRPr lang="ko-KR" sz="2400" dirty="0"/>
          </a:p>
        </p:txBody>
      </p:sp>
      <p:sp>
        <p:nvSpPr>
          <p:cNvPr id="9" name="S15-text12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고무의 성질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가지는?</a:t>
            </a:r>
            <a:endParaRPr lang="ko-KR" sz="2400" dirty="0"/>
          </a:p>
        </p:txBody>
      </p:sp>
      <p:sp>
        <p:nvSpPr>
          <p:cNvPr id="10" name="S15-text12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창문을 유리로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까닭은?</a:t>
            </a:r>
            <a:endParaRPr lang="ko-KR" sz="2400" dirty="0"/>
          </a:p>
        </p:txBody>
      </p:sp>
      <p:sp>
        <p:nvSpPr>
          <p:cNvPr id="11" name="S15-text1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지구의 표면과 바다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만져서 말해요</a:t>
            </a:r>
            <a:endParaRPr lang="ko-KR" sz="4000" dirty="0"/>
          </a:p>
        </p:txBody>
      </p:sp>
      <p:sp>
        <p:nvSpPr>
          <p:cNvPr id="3" name="S16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본 느낌을 낱말로 말해요.</a:t>
            </a:r>
            <a:endParaRPr lang="ko-KR" sz="3000" dirty="0"/>
          </a:p>
        </p:txBody>
      </p:sp>
      <p:sp>
        <p:nvSpPr>
          <p:cNvPr id="4" name="S16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느낌을 낱말로 말하면 서로 비교할 수 있어요.</a:t>
            </a:r>
            <a:endParaRPr lang="ko-KR" sz="3000" dirty="0"/>
          </a:p>
        </p:txBody>
      </p:sp>
      <p:sp>
        <p:nvSpPr>
          <p:cNvPr id="6" name="S16-word132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눌러도 그대로</a:t>
            </a:r>
            <a:endParaRPr lang="ko-KR" sz="3400" dirty="0"/>
          </a:p>
        </p:txBody>
      </p:sp>
      <p:sp>
        <p:nvSpPr>
          <p:cNvPr id="7" name="S16-word133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말랑해요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쑥 들어가요</a:t>
            </a:r>
            <a:endParaRPr lang="ko-KR" sz="3400" dirty="0"/>
          </a:p>
        </p:txBody>
      </p:sp>
      <p:sp>
        <p:nvSpPr>
          <p:cNvPr id="8" name="S16-word134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손이 잘 미끄러져요</a:t>
            </a:r>
            <a:endParaRPr lang="ko-KR" sz="3400" dirty="0"/>
          </a:p>
        </p:txBody>
      </p:sp>
      <p:sp>
        <p:nvSpPr>
          <p:cNvPr id="9" name="S16-word135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거칠어요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걸려요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물체와 물질</dc:title>
  <dc:subject>KR22-G03-SCI-MATERIAL-L01</dc:subject>
  <dc:creator>education-ppt</dc:creator>
  <cp:lastModifiedBy>education-ppt</cp:lastModifiedBy>
  <cp:revision>1</cp:revision>
  <dcterms:created xsi:type="dcterms:W3CDTF">2026-10-26T09:52:59Z</dcterms:created>
  <dcterms:modified xsi:type="dcterms:W3CDTF">2026-10-26T09:52:59Z</dcterms:modified>
</cp:coreProperties>
</file>