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8221af-ac47-8b73-d545-b4cb31af1098}">
          <p14:sldIdLst>
            <p14:sldId id="256"/>
            <p14:sldId id="257"/>
          </p14:sldIdLst>
        </p14:section>
        <p14:section name="개념" id="{7f3d4fbc-ce3e-ce09-b594-59321250ec89}">
          <p14:sldIdLst>
            <p14:sldId id="258"/>
            <p14:sldId id="264"/>
            <p14:sldId id="265"/>
          </p14:sldIdLst>
        </p14:section>
        <p14:section name="연습" id="{95ad718f-10e7-4164-81bd-17b3e8fa36e2}">
          <p14:sldIdLst>
            <p14:sldId id="259"/>
            <p14:sldId id="260"/>
            <p14:sldId id="261"/>
            <p14:sldId id="262"/>
            <p14:sldId id="263"/>
            <p14:sldId id="266"/>
          </p14:sldIdLst>
        </p14:section>
        <p14:section name="개념" id="{d2f1a2a1-00ea-0a73-6048-139f72bfca81}">
          <p14:sldIdLst/>
        </p14:section>
        <p14:section name="연습" id="{1db3eb3d-55ad-ae23-6acf-acf26ea795fe}">
          <p14:sldIdLst/>
        </p14:section>
        <p14:section name="확인" id="{1828d766-cdba-381d-7721-1f282a86d1af}">
          <p14:sldIdLst>
            <p14:sldId id="267"/>
            <p14:sldId id="268"/>
          </p14:sldIdLst>
        </p14:section>
        <p14:section name="정리" id="{e847b42f-345a-a017-9346-0bed4e5af468}">
          <p14:sldIdLst>
            <p14:sldId id="269"/>
          </p14:sldIdLst>
        </p14:section>
        <p14:section name="보충" id="{2c01cac2-ffcc-f3c1-bf4f-fd1bb27b80a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물질과지구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물체와 물질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물질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숟가락은 무엇으로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물체가 어떤 물질로 만들어졌는지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물질의 성질을 시험하고 쓰임과 이어요.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말해요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직접 만져 보고 말해요.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쇠숟가락과 고무줄은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보면 어떻게 달라요?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딱딱한 것과 말랑한 것으로 나누어요.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나무젓가락, 고무줄, 쇠숟가락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물질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있고 자리를 차지하는 것은 물체,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재료는 물질이에요.</a:t>
            </a:r>
            <a:endParaRPr lang="ko-KR" sz="30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‘무엇이야?’는 물체, ‘무엇으로 만들었어?’는 물질</a:t>
            </a:r>
            <a:endParaRPr lang="ko-KR" sz="3000" dirty="0"/>
          </a:p>
        </p:txBody>
      </p:sp>
      <p:graphicFrame>
        <p:nvGraphicFramePr>
          <p:cNvPr id="4" name="S03-table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5476" y="2498090"/>
          <a:ext cx="68580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고무장갑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물체일까, 물질일까?</a:t>
            </a:r>
            <a:endParaRPr lang="ko-KR" sz="4000" dirty="0"/>
          </a:p>
        </p:txBody>
      </p:sp>
      <p:sp>
        <p:nvSpPr>
          <p:cNvPr id="3" name="S04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물체인지 물질인지 말해요.</a:t>
            </a:r>
            <a:endParaRPr lang="ko-KR" sz="3000" dirty="0"/>
          </a:p>
        </p:txBody>
      </p:sp>
      <p:sp>
        <p:nvSpPr>
          <p:cNvPr id="4" name="S04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‘○○로 만든 □□’에서 ○○ 자리에 들어가면 물질이에요.</a:t>
            </a:r>
            <a:endParaRPr lang="ko-KR" sz="3000" dirty="0"/>
          </a:p>
        </p:txBody>
      </p:sp>
      <p:sp>
        <p:nvSpPr>
          <p:cNvPr id="6" name="S04-chip1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1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3000" dirty="0"/>
          </a:p>
        </p:txBody>
      </p:sp>
      <p:sp>
        <p:nvSpPr>
          <p:cNvPr id="8" name="S04-chip1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1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</a:t>
            </a:r>
            <a:endParaRPr lang="ko-KR" sz="3000" dirty="0"/>
          </a:p>
        </p:txBody>
      </p:sp>
      <p:sp>
        <p:nvSpPr>
          <p:cNvPr id="10" name="S04-chip1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</a:t>
            </a:r>
            <a:endParaRPr lang="ko-KR" sz="3000" dirty="0"/>
          </a:p>
        </p:txBody>
      </p:sp>
      <p:sp>
        <p:nvSpPr>
          <p:cNvPr id="12" name="S04-chip2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text2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000" dirty="0"/>
          </a:p>
        </p:txBody>
      </p:sp>
      <p:sp>
        <p:nvSpPr>
          <p:cNvPr id="14" name="S04-chip2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4-text2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ko-KR" sz="3000" dirty="0"/>
          </a:p>
        </p:txBody>
      </p:sp>
      <p:sp>
        <p:nvSpPr>
          <p:cNvPr id="16" name="S04-chip25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4-text26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만들었을까?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찾아 직접 만져 보고 말해요.</a:t>
            </a:r>
            <a:endParaRPr lang="ko-KR" sz="30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물체를 여러 가지 물질로 만들기도 해요.</a:t>
            </a:r>
            <a:endParaRPr lang="ko-KR" sz="30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</a:t>
            </a:r>
            <a:endParaRPr lang="ko-KR" sz="3000" dirty="0"/>
          </a:p>
        </p:txBody>
      </p:sp>
      <p:sp>
        <p:nvSpPr>
          <p:cNvPr id="8" name="S05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0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넣으면 뜰까요, 가라앉을까요?</a:t>
            </a:r>
            <a:endParaRPr lang="ko-KR" sz="30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말하고, 활동지 2의 ‘예상’ 칸에 써요.</a:t>
            </a:r>
            <a:endParaRPr lang="ko-KR" sz="3000" dirty="0"/>
          </a:p>
        </p:txBody>
      </p:sp>
      <p:sp>
        <p:nvSpPr>
          <p:cNvPr id="6" name="S06-chip3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4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쇠숟가락</a:t>
            </a:r>
            <a:endParaRPr lang="ko-KR" sz="3000" dirty="0"/>
          </a:p>
        </p:txBody>
      </p:sp>
      <p:sp>
        <p:nvSpPr>
          <p:cNvPr id="8" name="S06-chip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4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나무젓가락</a:t>
            </a:r>
            <a:endParaRPr lang="ko-KR" sz="3000" dirty="0"/>
          </a:p>
        </p:txBody>
      </p:sp>
      <p:sp>
        <p:nvSpPr>
          <p:cNvPr id="10" name="S06-chip4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숟가락</a:t>
            </a:r>
            <a:endParaRPr lang="ko-KR" sz="3000" dirty="0"/>
          </a:p>
        </p:txBody>
      </p:sp>
      <p:sp>
        <p:nvSpPr>
          <p:cNvPr id="12" name="S06-chip4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4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가지로 시험해요</a:t>
            </a:r>
            <a:endParaRPr lang="ko-KR" sz="40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물체를 하나씩 같은 방법으로 시험해요.</a:t>
            </a:r>
            <a:endParaRPr lang="ko-KR" sz="3000" dirty="0"/>
          </a:p>
        </p:txBody>
      </p:sp>
      <p:sp>
        <p:nvSpPr>
          <p:cNvPr id="4" name="S07-card4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부러질 만큼 세게 구부리지 않아요. 흘린 물은 바로 닦아요.</a:t>
            </a:r>
            <a:endParaRPr lang="ko-KR" sz="3000" dirty="0"/>
          </a:p>
        </p:txBody>
      </p:sp>
      <p:sp>
        <p:nvSpPr>
          <p:cNvPr id="6" name="S07-card50"/>
          <p:cNvSpPr/>
          <p:nvPr/>
        </p:nvSpPr>
        <p:spPr>
          <a:xfrm>
            <a:off x="6813652" y="2011680"/>
            <a:ext cx="4826660" cy="2718816"/>
          </a:xfrm>
          <a:prstGeom prst="roundRect">
            <a:avLst>
              <a:gd name="adj" fmla="val 403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51"/>
          <p:cNvSpPr txBox="1"/>
          <p:nvPr/>
        </p:nvSpPr>
        <p:spPr>
          <a:xfrm>
            <a:off x="7087972" y="2148840"/>
            <a:ext cx="4278020" cy="244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물체를 모두 같은 방법으로 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눈으로 본 것을 말로 설명해요</a:t>
            </a:r>
            <a:endParaRPr lang="ko-KR" sz="3000" dirty="0"/>
          </a:p>
        </p:txBody>
      </p:sp>
      <p:sp>
        <p:nvSpPr>
          <p:cNvPr id="8" name="S07-stepno52"/>
          <p:cNvSpPr txBox="1"/>
          <p:nvPr/>
        </p:nvSpPr>
        <p:spPr>
          <a:xfrm>
            <a:off x="548640" y="2026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7-text53"/>
          <p:cNvSpPr txBox="1"/>
          <p:nvPr/>
        </p:nvSpPr>
        <p:spPr>
          <a:xfrm>
            <a:off x="1325880" y="20269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꾹 눌러 봐요.</a:t>
            </a:r>
            <a:endParaRPr lang="ko-KR" sz="2400" dirty="0"/>
          </a:p>
        </p:txBody>
      </p:sp>
      <p:sp>
        <p:nvSpPr>
          <p:cNvPr id="10" name="S07-stepno54"/>
          <p:cNvSpPr txBox="1"/>
          <p:nvPr/>
        </p:nvSpPr>
        <p:spPr>
          <a:xfrm>
            <a:off x="548640" y="27401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7-text55"/>
          <p:cNvSpPr txBox="1"/>
          <p:nvPr/>
        </p:nvSpPr>
        <p:spPr>
          <a:xfrm>
            <a:off x="1325880" y="27401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 끝을 잡고 살짝 구부려 봐요.</a:t>
            </a:r>
            <a:endParaRPr lang="ko-KR" sz="2400" dirty="0"/>
          </a:p>
        </p:txBody>
      </p:sp>
      <p:sp>
        <p:nvSpPr>
          <p:cNvPr id="12" name="S07-stepno56"/>
          <p:cNvSpPr txBox="1"/>
          <p:nvPr/>
        </p:nvSpPr>
        <p:spPr>
          <a:xfrm>
            <a:off x="548640" y="34533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7-text57"/>
          <p:cNvSpPr txBox="1"/>
          <p:nvPr/>
        </p:nvSpPr>
        <p:spPr>
          <a:xfrm>
            <a:off x="1325880" y="34533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그릇에 살며시 넣어 봐요.</a:t>
            </a:r>
            <a:endParaRPr lang="ko-KR" sz="2400" dirty="0"/>
          </a:p>
        </p:txBody>
      </p:sp>
      <p:sp>
        <p:nvSpPr>
          <p:cNvPr id="14" name="S07-stepno58"/>
          <p:cNvSpPr txBox="1"/>
          <p:nvPr/>
        </p:nvSpPr>
        <p:spPr>
          <a:xfrm>
            <a:off x="548640" y="41666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7-text59"/>
          <p:cNvSpPr txBox="1"/>
          <p:nvPr/>
        </p:nvSpPr>
        <p:spPr>
          <a:xfrm>
            <a:off x="1325880" y="41666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9" name="S08-table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304288"/>
                <a:gridCol w="2304288"/>
                <a:gridCol w="230428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물체(물질)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눌러 보면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구부려 보면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넣으면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쇠숟가락(금속)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나무젓가락(나무)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숟가락(플라스틱)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고무줄(고무)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물질마다 성질이 달라요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결과가 물질의 성질을 알려 줘요.</a:t>
            </a:r>
            <a:endParaRPr lang="ko-KR" sz="30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물질마다 가진 특징을 ‘성질’이라고 해요.</a:t>
            </a:r>
            <a:endParaRPr lang="ko-KR" sz="3000" dirty="0"/>
          </a:p>
        </p:txBody>
      </p:sp>
      <p:sp>
        <p:nvSpPr>
          <p:cNvPr id="6" name="S09-card67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8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단단하고 반짝여요.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가라앉아요.</a:t>
            </a:r>
            <a:endParaRPr lang="ko-KR" sz="2400" dirty="0"/>
          </a:p>
        </p:txBody>
      </p:sp>
      <p:sp>
        <p:nvSpPr>
          <p:cNvPr id="8" name="S09-card69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0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단단하고 무늬가 있어요.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떠요.</a:t>
            </a:r>
            <a:endParaRPr lang="ko-KR" sz="2400" dirty="0"/>
          </a:p>
        </p:txBody>
      </p:sp>
      <p:sp>
        <p:nvSpPr>
          <p:cNvPr id="10" name="S09-card71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2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가볍고 여러 모양과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만들기 쉬워요.</a:t>
            </a:r>
            <a:endParaRPr lang="ko-KR" sz="2400" dirty="0"/>
          </a:p>
        </p:txBody>
      </p:sp>
      <p:sp>
        <p:nvSpPr>
          <p:cNvPr id="12" name="S09-card73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9-cardtext74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휘어지고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늘어나요.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성질에 맞게 골라 써요</a:t>
            </a:r>
            <a:endParaRPr lang="ko-KR" sz="40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쓰임에 맞는 성질을 가진 물질로 물체를 만들어요.</a:t>
            </a:r>
            <a:endParaRPr lang="ko-KR" sz="3000" dirty="0"/>
          </a:p>
        </p:txBody>
      </p:sp>
      <p:sp>
        <p:nvSpPr>
          <p:cNvPr id="4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컵도 물질이 다르면 좋은 점이 달라요.</a:t>
            </a:r>
            <a:endParaRPr lang="ko-KR" sz="3000" dirty="0"/>
          </a:p>
        </p:txBody>
      </p:sp>
      <p:graphicFrame>
        <p:nvGraphicFramePr>
          <p:cNvPr id="11" name="S10-table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6309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물질로 만든 까닭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고무장갑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늘어나 손에 꼭 맞아요.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투명해서 밖이 잘 보여요.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단단해서 잘 휘지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바구니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가볍고 잘 깨지지 않아요.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1-card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나무토막과 작은 쇠 클립을 물속에 넣으면?</a:t>
            </a:r>
            <a:endParaRPr lang="ko-KR" sz="3000" dirty="0"/>
          </a:p>
        </p:txBody>
      </p:sp>
      <p:sp>
        <p:nvSpPr>
          <p:cNvPr id="5" name="S11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1-chip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1-text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나무토막이 더 크고 무거우니까 가라앉아요.</a:t>
            </a:r>
            <a:endParaRPr lang="ko-KR" sz="3000" dirty="0"/>
          </a:p>
        </p:txBody>
      </p:sp>
      <p:sp>
        <p:nvSpPr>
          <p:cNvPr id="9" name="S11-chip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1-text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나무토막은 뜨고 쇠 클립은 가라앉아요.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떠올려 보고 답해요.</a:t>
            </a:r>
            <a:endParaRPr lang="ko-KR" sz="3000" dirty="0"/>
          </a:p>
        </p:txBody>
      </p:sp>
      <p:sp>
        <p:nvSpPr>
          <p:cNvPr id="4" name="S12-chip8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8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타이어는 무엇으로 만들었을까요?</a:t>
            </a:r>
            <a:endParaRPr lang="ko-KR" sz="3000" dirty="0"/>
          </a:p>
        </p:txBody>
      </p:sp>
      <p:sp>
        <p:nvSpPr>
          <p:cNvPr id="6" name="S12-chip9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9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자전거의 몸체는 무엇으로 만들었을까요?</a:t>
            </a:r>
            <a:endParaRPr lang="ko-KR" sz="3000" dirty="0"/>
          </a:p>
        </p:txBody>
      </p:sp>
      <p:sp>
        <p:nvSpPr>
          <p:cNvPr id="8" name="S12-chip9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9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타이어를 그 물질로 만든 까닭은 무엇일까요?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물질은?</a:t>
            </a:r>
            <a:endParaRPr lang="ko-KR" sz="4000" dirty="0"/>
          </a:p>
        </p:txBody>
      </p:sp>
      <p:sp>
        <p:nvSpPr>
          <p:cNvPr id="3" name="S14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신는 장화를 만들려고 해요.</a:t>
            </a:r>
            <a:endParaRPr lang="ko-KR" sz="3000" dirty="0"/>
          </a:p>
        </p:txBody>
      </p:sp>
      <p:sp>
        <p:nvSpPr>
          <p:cNvPr id="4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물질을 고르고, 까닭을 말해요.</a:t>
            </a:r>
            <a:endParaRPr lang="ko-KR" sz="3000" dirty="0"/>
          </a:p>
        </p:txBody>
      </p:sp>
      <p:sp>
        <p:nvSpPr>
          <p:cNvPr id="6" name="S14-chip9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9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9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000" dirty="0"/>
          </a:p>
        </p:txBody>
      </p:sp>
      <p:sp>
        <p:nvSpPr>
          <p:cNvPr id="9" name="S14-chip10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10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0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</a:t>
            </a:r>
            <a:endParaRPr lang="ko-KR" sz="3000" dirty="0"/>
          </a:p>
        </p:txBody>
      </p:sp>
      <p:sp>
        <p:nvSpPr>
          <p:cNvPr id="12" name="S14-chip10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4-card10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10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0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0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물체는 물질로 만들어요.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성질에 맞게 쓰임을 정해요.</a:t>
            </a:r>
            <a:endParaRPr lang="ko-KR" sz="3000" dirty="0"/>
          </a:p>
        </p:txBody>
      </p:sp>
      <p:sp>
        <p:nvSpPr>
          <p:cNvPr id="5" name="S15-chip10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성질과 쓰임을 이어 말하기</a:t>
            </a:r>
            <a:endParaRPr lang="ko-KR" sz="2400" dirty="0"/>
          </a:p>
        </p:txBody>
      </p:sp>
      <p:sp>
        <p:nvSpPr>
          <p:cNvPr id="6" name="S15-chip10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크면 가라앉는다고 생각하기</a:t>
            </a:r>
            <a:endParaRPr lang="ko-KR" sz="2400" dirty="0"/>
          </a:p>
        </p:txBody>
      </p:sp>
      <p:sp>
        <p:nvSpPr>
          <p:cNvPr id="7" name="S15-text11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1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컵은 물체예요.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유리는?</a:t>
            </a:r>
            <a:endParaRPr lang="ko-KR" sz="2400" dirty="0"/>
          </a:p>
        </p:txBody>
      </p:sp>
      <p:sp>
        <p:nvSpPr>
          <p:cNvPr id="9" name="S15-text11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고무의 성질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400" dirty="0"/>
          </a:p>
        </p:txBody>
      </p:sp>
      <p:sp>
        <p:nvSpPr>
          <p:cNvPr id="10" name="S15-text11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창문을 유리로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까닭은?</a:t>
            </a:r>
            <a:endParaRPr lang="ko-KR" sz="2400" dirty="0"/>
          </a:p>
        </p:txBody>
      </p:sp>
      <p:sp>
        <p:nvSpPr>
          <p:cNvPr id="11" name="S15-text1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지구의 표면과 바다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만져서 말해요</a:t>
            </a:r>
            <a:endParaRPr lang="ko-KR" sz="4000" dirty="0"/>
          </a:p>
        </p:txBody>
      </p:sp>
      <p:sp>
        <p:nvSpPr>
          <p:cNvPr id="3" name="S16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본 느낌을 낱말로 말해요.</a:t>
            </a:r>
            <a:endParaRPr lang="ko-KR" sz="3000" dirty="0"/>
          </a:p>
        </p:txBody>
      </p:sp>
      <p:sp>
        <p:nvSpPr>
          <p:cNvPr id="4" name="S16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느낌을 낱말로 말하면 서로 비교할 수 있어요.</a:t>
            </a:r>
            <a:endParaRPr lang="ko-KR" sz="3000" dirty="0"/>
          </a:p>
        </p:txBody>
      </p:sp>
      <p:sp>
        <p:nvSpPr>
          <p:cNvPr id="6" name="S16-word118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눌러도 그대로</a:t>
            </a:r>
            <a:endParaRPr lang="ko-KR" sz="3400" dirty="0"/>
          </a:p>
        </p:txBody>
      </p:sp>
      <p:sp>
        <p:nvSpPr>
          <p:cNvPr id="7" name="S16-word119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말랑해요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쑥 들어가요</a:t>
            </a:r>
            <a:endParaRPr lang="ko-KR" sz="3400" dirty="0"/>
          </a:p>
        </p:txBody>
      </p:sp>
      <p:sp>
        <p:nvSpPr>
          <p:cNvPr id="8" name="S16-word120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손이 잘 미끄러져요</a:t>
            </a:r>
            <a:endParaRPr lang="ko-KR" sz="3400" dirty="0"/>
          </a:p>
        </p:txBody>
      </p:sp>
      <p:sp>
        <p:nvSpPr>
          <p:cNvPr id="9" name="S16-word121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거칠어요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걸려요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물체와 물질</dc:title>
  <dc:subject>KR22-G03-SCI-MATERIAL-L01</dc:subject>
  <dc:creator>education-ppt</dc:creator>
  <cp:lastModifiedBy>education-ppt</cp:lastModifiedBy>
  <cp:revision>1</cp:revision>
  <dcterms:created xsi:type="dcterms:W3CDTF">2026-10-26T09:52:59Z</dcterms:created>
  <dcterms:modified xsi:type="dcterms:W3CDTF">2026-10-26T09:52:59Z</dcterms:modified>
</cp:coreProperties>
</file>