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927f3bb-9a0a-0d54-5e75-9ff7e8a65c3b}">
          <p14:sldIdLst>
            <p14:sldId id="256"/>
            <p14:sldId id="257"/>
          </p14:sldIdLst>
        </p14:section>
        <p14:section name="개념" id="{2354360c-b8d7-f822-aecd-fd9ee69ad0ea}">
          <p14:sldIdLst>
            <p14:sldId id="258"/>
            <p14:sldId id="261"/>
            <p14:sldId id="262"/>
            <p14:sldId id="266"/>
          </p14:sldIdLst>
        </p14:section>
        <p14:section name="연습" id="{1a59cb31-0c4b-0e5b-3fd8-d327f6c38ab3}">
          <p14:sldIdLst>
            <p14:sldId id="259"/>
            <p14:sldId id="260"/>
            <p14:sldId id="263"/>
            <p14:sldId id="264"/>
            <p14:sldId id="265"/>
            <p14:sldId id="267"/>
          </p14:sldIdLst>
        </p14:section>
        <p14:section name="개념" id="{cf452383-f504-f091-091c-b95a926e7e7d}">
          <p14:sldIdLst/>
        </p14:section>
        <p14:section name="연습" id="{42e2b745-514b-e606-6a05-1a8d5c82e27d}">
          <p14:sldIdLst/>
        </p14:section>
        <p14:section name="개념" id="{a51f2814-45dc-1ef9-2842-33ed1ca609c7}">
          <p14:sldIdLst/>
        </p14:section>
        <p14:section name="연습" id="{14957b57-69eb-8ada-c1ef-b07a68be259d}">
          <p14:sldIdLst/>
        </p14:section>
        <p14:section name="확인" id="{cdb7c834-fd26-ef6e-b62f-669a656b8c3d}">
          <p14:sldIdLst>
            <p14:sldId id="268"/>
            <p14:sldId id="269"/>
            <p14:sldId id="270"/>
          </p14:sldIdLst>
        </p14:section>
        <p14:section name="정리" id="{b7cb7749-1bb5-8a9e-be6c-d59e681d493e}">
          <p14:sldIdLst>
            <p14:sldId id="271"/>
          </p14:sldIdLst>
        </p14:section>
        <p14:section name="보충" id="{a099c339-5bc4-3fc2-05dc-96362f60f4b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지구 표면(지구의 겉)에 대한 궁금증을 갖게 합니다.
시간: 약 2분
이렇게 말해 보세요
- “우리가 사는 지구의 겉을 ‘지구 표면’이라고 해. 지구 표면에는 땅이 더 많을까, 바다가 더 많을까?”
- “오늘은 지구본으로 직접 살펴보고, 눈에 보이지 않는 공기도 잡아 볼 거야.”
예상 답
- “땅이요.” “바다요.” 어떤 답이든 괜찮습니다. 답을 확인하지 않고 넘어갑니다.
막히면
- 지구본이나 지도를 보여 주지 말고 질문만 던져 둡니다. 확인은 S05에서 합니다.
주의
- 지구본·세계 지도가 없으면 휴대 전화 지도 앱의 위성 사진을 지구 전체가 보이도록 줄여서 쓰거나 교과서 디지털 자료를 준비합니다.
- 비닐봉지와 부채는 S10까지 아이 손이 닿지 않는 곳에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확인(물체와 물질, 땅과 물의 모습)]
목적: 앞 차시 ‘물체와 물질’(KR22-G03-SCI-MATERIAL-L01)의 핵심을 떠올리고, 오늘 쓸 땅과 물의 모습에 대한 경험을 확인합니다.
시간: 약 2분
이렇게 말해 보세요
- “① 지난 시간에 배운 물체와 물질, 기억나? 유리컵에서는 무엇이 물체고 무엇이 물질이야?”
- “② 산이나 바다, 강에 가 본 적 있어? 거기서 무엇을 봤어?”
예상 답
- ② “산에는 나무가 많고 높아요.” “바다는 넓고 물이 짰어요.” 경험을 말하면 됩니다.
정답
- ① 물체: 유리컵, 물질: 유리
막히면
- ①이 흔들리면 앞 차시 ‘물체와 물질’의 S03을 다시 봅니다.
- ②에서 땅과 물의 모습을 말하기 어려우면 S17(보충)을 먼저 합니다.
주의
- ②는 정답이 없습니다. 아이의 경험을 S03에서 다시 꺼내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지구 표면의 여러 모습]
목적: 지구 표면의 여러 모습을 낱말과 뜻으로 알고, 육지와 바다를 구별합니다(목표 A).
시간: 약 3분
이렇게 말해 보세요
- “지구 표면에는 이런 모습들이 있어. 윗줄은 땅, 아랫줄은 물이 있는 곳이야.”
- “우리 동네나 가 본 곳에서 볼 수 있는 것은 무엇이야? 아까 말한 바다는 어떤 곳이었어?”
예상 답
- “우리 동네에는 산이랑 강이 있어요.”
막히면
- 휴대 전화 지도 앱의 위성 사진으로 가까운 산·강·바다를 찾아 함께 봅니다.
주의
- 갯벌·사막·빙하·화산처럼 다른 모습을 아이가 말하면 칭찬하고 함께 찾아봅니다.
- 땅(육지)과 물이 있는 곳 가운데 바다만 짠물입니다. 이 차이는 S07에서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관찰 전 예상하기(육지와 바다)]
목적: 관찰하기 전에 육지와 바다 중 어느 쪽이 넓을지 예상하고 까닭을 말합니다(목표 A). 결과는 S05에서 직접 확인합니다.
시간: 약 1분
이렇게 말해 보세요
- “가, 나, 다 중에서 무엇을 고를래? 왜 그렇게 생각해?”
예상 답
- 어떤 예상이든 괜찮습니다. “우리나라 지도를 보면 땅이 넓어요.” “바다는 끝이 안 보여서 넓을 것 같아요.”
막히면
- “바닷가에서 바다를 봤을 때 끝이 보였어?”처럼 경험을 떠올리게 합니다.
주의
- 결과를 알려 주지 않습니다. 예상이 틀려도 괜찮고, 관찰로 확인하는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지구본으로 육지와 바다 관찰하기]
목적: 지구본(세계 지도)을 관찰해 육지와 바다의 넓이를 비교하고 결과를 기록합니다(목표 A, 오해 M1).
시간: 약 5분
이렇게 말해 보세요
- “지구본에서 바다는 보통 파란색이야. 천천히 돌리면서 파란 곳과 다른 색인 곳을 비교해 봐.”
- “어느 쪽으로 돌렸을 때 파란색이 가장 많아? 예상과 같아?”
예상 답
- “파란 데가 훨씬 많아요.” “어떤 쪽으로 돌리면 거의 다 파란색이에요.”
막히면
- 육지를 손바닥으로 덮어 보게 합니다. 손바닥으로 다 덮이지 않는 파란 부분이 많다는 것을 느끼게 합니다.
주의
- 세계 지도는 둥근 지구를 평평하게 펼친 것이라 위아래 끝의 땅이 실제보다 크게 그려집니다. 지구본이 있으면 지구본으로 비교하는 것이 더 정확합니다.
- 지구본·지도가 없으면 지도 앱의 위성 사진(지구 전체가 보이게 줄인 화면)이나 교과서 디지털 자료로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관찰 결과로 설명하기(바다가 더 넓다)]
목적: 관찰 결과를 칸 수로 정리해, 지구 표면에서 바다가 육지보다 넓다는 것을 설명합니다(목표 A).
시간: 약 3분
이렇게 말해 보세요
- “지구 표면 전체를 10칸으로 나누면 바다는 몇 칸쯤이야? 육지는?”
- “지구본에서 본 것과 같아? 네 예상과는 어땠어?”
예상 답
- “바다가 7칸, 육지가 3칸이에요.” “바다가 훨씬 넓어요. 제 예상과 달랐어요.”
막히면
- 바다 칸을 손가락으로 하나씩 세게 합니다.
주의
- 실제로 바다는 지구 표면의 약 70%입니다. 3학년에서는 ‘10칸 중 약 7칸’처럼 대략 비교합니다.
- 이 그림은 넓이만 나타낸 것이고, 실제 육지와 바다의 위치가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바닷물과 강·호수의 물 비교]
목적: 바닷물은 짜고 강·호수의 물은 짜지 않다는 차이를 압니다(목표 A, 오해 M3).
시간: 약 3분
이렇게 말해 보세요
- “바다에서 물이 입에 들어간 적 있어? 맛이 어땠어?”
- “바닷물에는 소금 같은 물질이 녹아 있어서 짜. 그래서 바닷물은 그대로 마실 수 없어.”
예상 답
- “짰어요.” “바닷물은 마시면 안 돼요.”
막히면
- 부모가 물 한 컵에 소금 한 숟가락을 녹인 소금물과 맹물을 나란히 놓고, 눈으로는 구별하기 어렵다는 것을 보여 준 뒤 깨끗한 숟가락으로 한 방울씩만 맛보게 합니다.
주의
- 세계에는 짠 호수도 있지만 우리 주변의 강과 호수의 물은 짜지 않습니다.
- 바닷물이 짠 까닭을 더 자세히 설명하는 것은 이 차시의 범위가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지구 표면의 모습 익히기]
목적: 도움을 받으며 지구 표면의 모습과 바닷물의 특징을 말합니다(목표 A).
시간: 약 3분
이렇게 말해 보세요
- “①부터 차례로 말해 볼래? 어떻게 알았어?”
정답
- ① 섬 ② 강 ③ 바다 ④ 짜서(소금 같은 물질이 녹아 있어서)
막히면
- S03의 카드를 다시 보여 주고 뜻과 낱말을 이어 보게 합니다.
주의
- ②를 ‘호수’라고 하면 “호수의 물은 흘러, 고여 있어?”라고 묻습니다.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활동 전 예상하기(공기)]
목적: 활동 전에 결과를 예상하고 까닭을 말합니다(목표 B). 결과는 S10에서 직접 확인합니다.
시간: 약 1분
이렇게 말해 보세요
- “봉지 안에 아무것도 안 넣었는데, 휘두르고 입구를 쥐면 어떻게 될까? 왜 그렇게 생각해?”
예상 답
- 어떤 예상이든 괜찮습니다. “아무것도 안 넣었으니 납작할 것 같아요.” “바람이 들어가서 부풀 것 같아요.”
막히면
- “봉지에 넣을 수 있는 것이 있을까?”라고만 묻고 넘어갑니다.
주의
- 결과를 미리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보이지 않는 공기 확인하기]
목적: 눈에 보이지 않는 공기가 우리 주변에 있다는 것을 몸으로 확인하고 기록합니다(목표 B, 오해 M2).
시간: 약 4분
이렇게 말해 보세요
- “봉지가 어떻게 됐어? 예상과 같아?”
- “봉지를 살짝 눌러 봐. 무엇이 손을 밀어내는 것 같아?”
- “이번에는 부채질을 해 볼까? 얼굴에 무엇이 느껴져?”
예상 답
- “봉지가 빵빵해졌어요.” “누르면 다시 밀려 나와요.” “얼굴이 시원해요. 바람이 느껴져요.”
막히면
- 봉지가 잘 부풀지 않으면 입구를 크게 벌린 채 위에서 아래로 빠르게 쓸어내리듯 휘두른 뒤 바로 쥐게 합니다.
주의
- 비닐봉지는 얼굴이나 머리에 쓰면 숨이 막힐 수 있습니다. 활동이 끝나면 바로 아이 손이 닿지 않는 곳에 치웁니다.
- 봉지를 너무 세게 눌러 터뜨리지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공기가 하는 일]
목적: 활동 결과를 증거로 공기가 있다는 것을 정리하고, 공기가 하는 일을 압니다(목표 B).
시간: 약 3분
이렇게 말해 보세요
- “봉지가 부푼 것은 봉지 안에 무엇이 들어갔기 때문일까?”
- “공기가 없으면 어떤 일이 생길까? 카드를 보고 말해 볼래?”
예상 답
- “공기가 들어갔어요.” “공기가 없으면 숨을 못 쉬어요. 바람도 안 불어요.”
막히면
- 숨을 크게 들이마셨다가 내쉬게 하고 “방금 무엇을 들이마셨어?”라고 묻습니다.
주의
- 공기가 공간을 차지하고 무게가 있다는 것은 4학년 ‘기체의 성질’에서 자세히 배웁니다. 오늘은 공기가 있다는 것과 하는 일만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오해 비교(보이지 않으면 없다)]
목적: 눈에 보이지 않으면 없다는 생각을 활동 결과(증거)로 바로잡습니다(목표 B, 오해 M2).
시간: 약 2분
이렇게 말해 보세요
- “토끼는 안 보이니까 없다고 하고, 곰은 봉지가 부풀었다고 해. 누구 말이 맞을까?”
- “눈에 보이지 않아도 있다는 것을 무엇으로 알 수 있었어?”
정답
- 곰. 공기는 눈에 보이지 않지만, 봉지가 부풀고 눌렀을 때 밀어내는 것, 부채질할 때 얼굴에 바람이 닿는 것이 공기가 있다는 증거입니다.
막히면
- 부푼 봉지를 다시 만들어 손으로 눌러 보게 합니다.
주의
- ‘보이지 않아도 있는 것’을 증거로 말하는 연습이 중요합니다. 증거 없이 답만 고르면 “무엇을 보고 알았어?”라고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해결]
목적: 도움 없이 관찰 결과를 근거로 육지와 바다를 비교하고(①), 바닷물의 특징(②)과 공기가 하는 일(③)을 말하는지 확인합니다(목표 A·B).
시간: 약 3분
이렇게 말해 보세요
- “이번에는 혼자 답해 볼래? ①은 무엇을 보고 알았는지도 꼭 말해 줘.”
정답
- ① 바다. 기준: 지구본(지도)에서 파란 부분이 훨씬 많았다, 10칸 중 약 7칸이 바다였다처럼 관찰한 것을 근거로 말하면 맞음
- ② 바닷물은 짜고, 강물은 짜지 않다(바다가 훨씬 넓다도 인정)
- ③ 생물이 숨을 쉬게 한다, 바람이 분다, 새·비행기가 날 수 있다 중 두 가지
막히면
- 바로 알려 주지 말고 “지구본을 돌렸을 때 무슨 색이 많았지?”, “봉지가 부푼 건 무엇 때문이었지?”라고만 묻습니다.
- 도움을 받아 해결했다면 기록표에 ‘도움’으로 표시합니다.
주의
- ①에서 답만 말하고 근거를 말하지 못하면 개념 목표는 아직 확인되지 않은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바다(관찰 근거와 함께) ② 바닷물은 짜다 ③ 숨쉬기, 바람(새·비행기가 날 수 있음)
막히면
- ①이 틀리면 S05·S06으로(M1), ③이 틀리면 S11로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확인(공기가 하는 일과 바다)]
목적: 처음 보는 문제에서 공기가 하는 일과 바닷물의 특징을 구별하는지 확인합니다(목표 A·B).
시간: 약 2분
이렇게 말해 보세요
- “세 가지 중에서 공기가 하는 일이 아닌 것은 무엇일까? 왜 그렇게 생각해?”
정답
- 다. 바닷물이 짠 것은 바닷물에 소금 같은 물질이 녹아 있기 때문이고, 공기가 하는 일이 아닙니다. 가와 나는 공기가 하는 일입니다.
막히면
- S07의 표와 S11의 카드를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“오늘 지구본과 봉지로 알게 된 것을 한 가지씩 말해 볼래?”
예상 답
- “바다가 땅보다 훨씬 넓어요.” “공기는 안 보여도 있어요.”
정답
- ① 바다 ② 짜다 ③ 숨을 쉬게 한다, 바람이 분다 중 하나
막히면
- S06, S07, S11을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보충(땅과 물의 모습 낱말)]
목적: S02 ②에서 땅과 물의 모습을 말하기 어려워하면, 기본 낱말 네 가지부터 경험과 이어 다시 익힙니다.
시간: 약 4분
이렇게 말해 보세요
- “지도 앱 사진(또는 그림책)에서 산을 찾아볼까? 들은? 강은? 바다는?”
- “산과 들은 땅이고, 강과 바다는 물이 있는 곳이야. 무엇이 다를까?”
예상 답
- “산은 높고 들은 평평해요.” “강은 흐르고 바다는 넓어요.”
막히면
- 집 근처에서 볼 수 있는 산이나 강을 먼저 떠올리게 하고, 사진과 이어 줍니다.
주의
- 계획상 선수 차시는 ‘물체와 물질’(KR22-G03-SCI-MATERIAL-L01)이지만, 오늘 내용은 그 차시 없이도 할 수 있습니다. S02 ①이 흔들리면 그 차시의 S03을 다시 봅니다.
- 보충으로도 산·강·바다를 구별하기 어려우면 사진을 보며 며칠 더 이야기한 뒤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물질과지구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지구의 표면과 바다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표면은 땅이 넓을까,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넓을까?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 표면의 모습과 바다의 특징을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지구를 둘러싼 공기가 하는 일을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유리컵에서 물체는 무엇이고,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물질은 무엇일까요?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산이나 바다에 가 본 적이 있나요?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표면의 여러 모습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있는 곳은 육지, 짠물이 있는 넓은 곳은 바다예요.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주변보다 높이 솟은 땅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평평한 땅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둘러싸인 땅</a:t>
            </a:r>
            <a:endParaRPr lang="ko-KR" sz="3000" dirty="0"/>
          </a:p>
        </p:txBody>
      </p:sp>
      <p:sp>
        <p:nvSpPr>
          <p:cNvPr id="11" name="S03-card15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6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육지를 흐르는 큰 물길</a:t>
            </a:r>
            <a:endParaRPr lang="ko-KR" sz="3000" dirty="0"/>
          </a:p>
        </p:txBody>
      </p:sp>
      <p:sp>
        <p:nvSpPr>
          <p:cNvPr id="13" name="S03-card17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18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 안에 물이 고인 곳</a:t>
            </a:r>
            <a:endParaRPr lang="ko-KR" sz="3000" dirty="0"/>
          </a:p>
        </p:txBody>
      </p:sp>
      <p:sp>
        <p:nvSpPr>
          <p:cNvPr id="15" name="S03-card19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0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짠물이 있는 넓은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 전체에서 더 넓은 것은?</a:t>
            </a:r>
            <a:endParaRPr lang="ko-KR" sz="30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활동지 2의 ‘예상’ 줄에 써요.</a:t>
            </a:r>
            <a:endParaRPr lang="ko-KR" sz="3000" dirty="0"/>
          </a:p>
        </p:txBody>
      </p:sp>
      <p:sp>
        <p:nvSpPr>
          <p:cNvPr id="6" name="S04-chip2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card2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3000" dirty="0"/>
          </a:p>
        </p:txBody>
      </p:sp>
      <p:sp>
        <p:nvSpPr>
          <p:cNvPr id="9" name="S04-chip2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4-card2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000" dirty="0"/>
          </a:p>
        </p:txBody>
      </p:sp>
      <p:sp>
        <p:nvSpPr>
          <p:cNvPr id="12" name="S04-chip3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4-card3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비슷해요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지구본으로 살펴봐요</a:t>
            </a:r>
            <a:endParaRPr lang="ko-KR" sz="4000" dirty="0"/>
          </a:p>
        </p:txBody>
      </p:sp>
      <p:sp>
        <p:nvSpPr>
          <p:cNvPr id="3" name="S05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지구본이나 세계 지도로 육지와 바다를 비교해요.</a:t>
            </a:r>
            <a:endParaRPr lang="ko-KR" sz="3000" dirty="0"/>
          </a:p>
        </p:txBody>
      </p:sp>
      <p:sp>
        <p:nvSpPr>
          <p:cNvPr id="4" name="S05-card34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5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방향에서 살펴봐요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색으로 육지와 바다를 구별해요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근거로 말해요</a:t>
            </a:r>
            <a:endParaRPr lang="ko-KR" sz="3000" dirty="0"/>
          </a:p>
        </p:txBody>
      </p:sp>
      <p:sp>
        <p:nvSpPr>
          <p:cNvPr id="6" name="S05-stepno36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5-text37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지구본을 천천히 한 바퀴 돌려 봐요.</a:t>
            </a:r>
            <a:endParaRPr lang="ko-KR" sz="2400" dirty="0"/>
          </a:p>
        </p:txBody>
      </p:sp>
      <p:sp>
        <p:nvSpPr>
          <p:cNvPr id="8" name="S05-stepno38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5-text39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육지를 찾아 손으로 짚어요.</a:t>
            </a:r>
            <a:endParaRPr lang="ko-KR" sz="2400" dirty="0"/>
          </a:p>
        </p:txBody>
      </p:sp>
      <p:sp>
        <p:nvSpPr>
          <p:cNvPr id="10" name="S05-stepno40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5-text41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아래, 앞과 뒤를 모두 살펴봐요.</a:t>
            </a:r>
            <a:endParaRPr lang="ko-KR" sz="2400" dirty="0"/>
          </a:p>
        </p:txBody>
      </p:sp>
      <p:sp>
        <p:nvSpPr>
          <p:cNvPr id="12" name="S05-stepno42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5-text43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넓어 보이는 쪽을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나누어 보면</a:t>
            </a:r>
            <a:endParaRPr lang="ko-KR" sz="40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 전체의 넓이를 10칸으로 나타냈어요.</a:t>
            </a:r>
            <a:endParaRPr lang="ko-KR" sz="3000" dirty="0"/>
          </a:p>
        </p:txBody>
      </p:sp>
      <p:sp>
        <p:nvSpPr>
          <p:cNvPr id="4" name="S06-card45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6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약 7칸</a:t>
            </a:r>
            <a:endParaRPr lang="ko-KR" sz="3000" dirty="0"/>
          </a:p>
        </p:txBody>
      </p:sp>
      <p:sp>
        <p:nvSpPr>
          <p:cNvPr id="6" name="S06-card47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8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육지: 약 3칸</a:t>
            </a:r>
            <a:endParaRPr lang="ko-KR" sz="3000" dirty="0"/>
          </a:p>
        </p:txBody>
      </p:sp>
      <p:sp>
        <p:nvSpPr>
          <p:cNvPr id="8" name="S06-card49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0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훨씬 넓어요.</a:t>
            </a:r>
            <a:endParaRPr lang="ko-KR" sz="3000" dirty="0"/>
          </a:p>
        </p:txBody>
      </p:sp>
      <p:sp>
        <p:nvSpPr>
          <p:cNvPr id="10" name="S06-figure51" descr="지구 표면 전체를 10칸으로 나타낸 그림: 바다 7칸(파란색), 육지 3칸(노란색), 칸마다 바다·육지 글자"/>
          <p:cNvSpPr/>
          <p:nvPr/>
        </p:nvSpPr>
        <p:spPr>
          <a:xfrm>
            <a:off x="2924556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52"/>
          <p:cNvSpPr/>
          <p:nvPr/>
        </p:nvSpPr>
        <p:spPr>
          <a:xfrm>
            <a:off x="4192524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53"/>
          <p:cNvSpPr/>
          <p:nvPr/>
        </p:nvSpPr>
        <p:spPr>
          <a:xfrm>
            <a:off x="5460492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54"/>
          <p:cNvSpPr/>
          <p:nvPr/>
        </p:nvSpPr>
        <p:spPr>
          <a:xfrm>
            <a:off x="6728460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55"/>
          <p:cNvSpPr/>
          <p:nvPr/>
        </p:nvSpPr>
        <p:spPr>
          <a:xfrm>
            <a:off x="7996428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mark56"/>
          <p:cNvSpPr/>
          <p:nvPr/>
        </p:nvSpPr>
        <p:spPr>
          <a:xfrm>
            <a:off x="2924556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57"/>
          <p:cNvSpPr/>
          <p:nvPr/>
        </p:nvSpPr>
        <p:spPr>
          <a:xfrm>
            <a:off x="4192524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8"/>
          <p:cNvSpPr/>
          <p:nvPr/>
        </p:nvSpPr>
        <p:spPr>
          <a:xfrm>
            <a:off x="5460492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59"/>
          <p:cNvSpPr/>
          <p:nvPr/>
        </p:nvSpPr>
        <p:spPr>
          <a:xfrm>
            <a:off x="6728460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60"/>
          <p:cNvSpPr/>
          <p:nvPr/>
        </p:nvSpPr>
        <p:spPr>
          <a:xfrm>
            <a:off x="7996428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label62"/>
          <p:cNvSpPr txBox="1"/>
          <p:nvPr/>
        </p:nvSpPr>
        <p:spPr>
          <a:xfrm>
            <a:off x="3204972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1" name="S06-label64"/>
          <p:cNvSpPr txBox="1"/>
          <p:nvPr/>
        </p:nvSpPr>
        <p:spPr>
          <a:xfrm>
            <a:off x="4472940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2" name="S06-label66"/>
          <p:cNvSpPr txBox="1"/>
          <p:nvPr/>
        </p:nvSpPr>
        <p:spPr>
          <a:xfrm>
            <a:off x="5740908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3" name="S06-label68"/>
          <p:cNvSpPr txBox="1"/>
          <p:nvPr/>
        </p:nvSpPr>
        <p:spPr>
          <a:xfrm>
            <a:off x="7008876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4" name="S06-label70"/>
          <p:cNvSpPr txBox="1"/>
          <p:nvPr/>
        </p:nvSpPr>
        <p:spPr>
          <a:xfrm>
            <a:off x="8276844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5" name="S06-label72"/>
          <p:cNvSpPr txBox="1"/>
          <p:nvPr/>
        </p:nvSpPr>
        <p:spPr>
          <a:xfrm>
            <a:off x="3204972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6" name="S06-label74"/>
          <p:cNvSpPr txBox="1"/>
          <p:nvPr/>
        </p:nvSpPr>
        <p:spPr>
          <a:xfrm>
            <a:off x="4472940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7" name="S06-label76"/>
          <p:cNvSpPr txBox="1"/>
          <p:nvPr/>
        </p:nvSpPr>
        <p:spPr>
          <a:xfrm>
            <a:off x="5740908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8" name="S06-label78"/>
          <p:cNvSpPr txBox="1"/>
          <p:nvPr/>
        </p:nvSpPr>
        <p:spPr>
          <a:xfrm>
            <a:off x="7008876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9" name="S06-label80"/>
          <p:cNvSpPr txBox="1"/>
          <p:nvPr/>
        </p:nvSpPr>
        <p:spPr>
          <a:xfrm>
            <a:off x="8276844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바닷물과 강물</a:t>
            </a:r>
            <a:endParaRPr lang="ko-KR" sz="4000" dirty="0"/>
          </a:p>
        </p:txBody>
      </p:sp>
      <p:sp>
        <p:nvSpPr>
          <p:cNvPr id="3" name="S07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바다의 물과 강·호수의 물을 비교해요.</a:t>
            </a:r>
            <a:endParaRPr lang="ko-KR" sz="3000" dirty="0"/>
          </a:p>
        </p:txBody>
      </p:sp>
      <p:sp>
        <p:nvSpPr>
          <p:cNvPr id="4" name="S07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바닷물에는 소금 같은 물질이 녹아 있어서 짜요.</a:t>
            </a:r>
            <a:endParaRPr lang="ko-KR" sz="3000" dirty="0"/>
          </a:p>
        </p:txBody>
      </p:sp>
      <p:graphicFrame>
        <p:nvGraphicFramePr>
          <p:cNvPr id="8" name="S07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541016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32004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강·호수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물맛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짜지 않아요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바다보다 좁아요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생물(예)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고등어, 미역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붕어, 다슬기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어디일까요?</a:t>
            </a:r>
            <a:endParaRPr lang="ko-KR" sz="4000" dirty="0"/>
          </a:p>
        </p:txBody>
      </p:sp>
      <p:sp>
        <p:nvSpPr>
          <p:cNvPr id="3" name="S08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낱말을 말해요.</a:t>
            </a:r>
            <a:endParaRPr lang="ko-KR" sz="3000" dirty="0"/>
          </a:p>
        </p:txBody>
      </p:sp>
      <p:sp>
        <p:nvSpPr>
          <p:cNvPr id="4" name="S08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S03의 카드와 S07의 표를 떠올려요.</a:t>
            </a:r>
            <a:endParaRPr lang="ko-KR" sz="3000" dirty="0"/>
          </a:p>
        </p:txBody>
      </p:sp>
      <p:sp>
        <p:nvSpPr>
          <p:cNvPr id="6" name="S08-chip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둘러싸인 땅</a:t>
            </a:r>
            <a:endParaRPr lang="ko-KR" sz="3000" dirty="0"/>
          </a:p>
        </p:txBody>
      </p:sp>
      <p:sp>
        <p:nvSpPr>
          <p:cNvPr id="8" name="S08-chip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육지를 흐르는 큰 물길</a:t>
            </a:r>
            <a:endParaRPr lang="ko-KR" sz="3000" dirty="0"/>
          </a:p>
        </p:txBody>
      </p:sp>
      <p:sp>
        <p:nvSpPr>
          <p:cNvPr id="10" name="S08-chip9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9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짜고 아주 넓은 곳</a:t>
            </a:r>
            <a:endParaRPr lang="ko-KR" sz="3000" dirty="0"/>
          </a:p>
        </p:txBody>
      </p:sp>
      <p:sp>
        <p:nvSpPr>
          <p:cNvPr id="12" name="S08-chip9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9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그대로 마시지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까닭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9-text9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비닐봉지를 크게 휘두른 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입구를 꼭 쥐면 어떻게 될까요?</a:t>
            </a:r>
            <a:endParaRPr lang="ko-KR" sz="3000" dirty="0"/>
          </a:p>
        </p:txBody>
      </p:sp>
      <p:sp>
        <p:nvSpPr>
          <p:cNvPr id="4" name="S09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09-chip99"/>
          <p:cNvSpPr txBox="1"/>
          <p:nvPr/>
        </p:nvSpPr>
        <p:spPr>
          <a:xfrm>
            <a:off x="2946654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card100"/>
          <p:cNvSpPr/>
          <p:nvPr/>
        </p:nvSpPr>
        <p:spPr>
          <a:xfrm>
            <a:off x="548640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01"/>
          <p:cNvSpPr txBox="1"/>
          <p:nvPr/>
        </p:nvSpPr>
        <p:spPr>
          <a:xfrm>
            <a:off x="822960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납작한 그대로예요.</a:t>
            </a:r>
            <a:endParaRPr lang="ko-KR" sz="3000" dirty="0"/>
          </a:p>
        </p:txBody>
      </p:sp>
      <p:sp>
        <p:nvSpPr>
          <p:cNvPr id="9" name="S09-chip102"/>
          <p:cNvSpPr txBox="1"/>
          <p:nvPr/>
        </p:nvSpPr>
        <p:spPr>
          <a:xfrm>
            <a:off x="8675370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9-card103"/>
          <p:cNvSpPr/>
          <p:nvPr/>
        </p:nvSpPr>
        <p:spPr>
          <a:xfrm>
            <a:off x="6277356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104"/>
          <p:cNvSpPr txBox="1"/>
          <p:nvPr/>
        </p:nvSpPr>
        <p:spPr>
          <a:xfrm>
            <a:off x="6551676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불룩하게 부풀어요.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잡아 봐요</a:t>
            </a:r>
            <a:endParaRPr lang="ko-KR" sz="4000" dirty="0"/>
          </a:p>
        </p:txBody>
      </p:sp>
      <p:sp>
        <p:nvSpPr>
          <p:cNvPr id="3" name="S10-card10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0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비닐봉지를 얼굴이나 머리에 쓰지 않아요. 다 쓰면 어른이 치워요.</a:t>
            </a:r>
            <a:endParaRPr lang="ko-KR" sz="3000" dirty="0"/>
          </a:p>
        </p:txBody>
      </p:sp>
      <p:sp>
        <p:nvSpPr>
          <p:cNvPr id="5" name="S10-card10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0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봉지가 어떻게 변했는지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손과 얼굴에 느껴진 것을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활동지 4에 써요</a:t>
            </a:r>
            <a:endParaRPr lang="ko-KR" sz="3000" dirty="0"/>
          </a:p>
        </p:txBody>
      </p:sp>
      <p:sp>
        <p:nvSpPr>
          <p:cNvPr id="7" name="S10-stepno109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10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비닐봉지 입구를 벌리고 크게 휘둘러요.</a:t>
            </a:r>
            <a:endParaRPr lang="ko-KR" sz="2400" dirty="0"/>
          </a:p>
        </p:txBody>
      </p:sp>
      <p:sp>
        <p:nvSpPr>
          <p:cNvPr id="9" name="S10-stepno111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12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입구를 손으로 꼭 쥐어요.</a:t>
            </a:r>
            <a:endParaRPr lang="ko-KR" sz="2400" dirty="0"/>
          </a:p>
        </p:txBody>
      </p:sp>
      <p:sp>
        <p:nvSpPr>
          <p:cNvPr id="11" name="S10-stepno113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14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봉지를 살짝 눌러 봐요.</a:t>
            </a:r>
            <a:endParaRPr lang="ko-KR" sz="2400" dirty="0"/>
          </a:p>
        </p:txBody>
      </p:sp>
      <p:sp>
        <p:nvSpPr>
          <p:cNvPr id="13" name="S10-stepno115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0-text116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부채로 얼굴에 바람을 보내 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둘러싼 공기</a:t>
            </a:r>
            <a:endParaRPr lang="ko-KR" sz="4000" dirty="0"/>
          </a:p>
        </p:txBody>
      </p:sp>
      <p:sp>
        <p:nvSpPr>
          <p:cNvPr id="3" name="S11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둘러싸고 있어요.</a:t>
            </a:r>
            <a:endParaRPr lang="ko-KR" sz="3000" dirty="0"/>
          </a:p>
        </p:txBody>
      </p:sp>
      <p:sp>
        <p:nvSpPr>
          <p:cNvPr id="4" name="S11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부푼 봉지와 얼굴에 닿은 바람이 공기가 있다는 증거예요.</a:t>
            </a:r>
            <a:endParaRPr lang="ko-KR" sz="3000" dirty="0"/>
          </a:p>
        </p:txBody>
      </p:sp>
      <p:sp>
        <p:nvSpPr>
          <p:cNvPr id="6" name="S11-card12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12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동물, 식물은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있어야 살 수 있어요.</a:t>
            </a:r>
            <a:endParaRPr lang="ko-KR" sz="3000" dirty="0"/>
          </a:p>
        </p:txBody>
      </p:sp>
      <p:sp>
        <p:nvSpPr>
          <p:cNvPr id="8" name="S11-card12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12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움직이면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불어요.</a:t>
            </a:r>
            <a:endParaRPr lang="ko-KR" sz="3000" dirty="0"/>
          </a:p>
        </p:txBody>
      </p:sp>
      <p:sp>
        <p:nvSpPr>
          <p:cNvPr id="10" name="S11-card12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12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날기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새와 비행기는 공기가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있어서 날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1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비닐봉지 안에는 무엇이 있을까요?</a:t>
            </a:r>
            <a:endParaRPr lang="ko-KR" sz="3000" dirty="0"/>
          </a:p>
        </p:txBody>
      </p:sp>
      <p:sp>
        <p:nvSpPr>
          <p:cNvPr id="5" name="S12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1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1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안 보이잖아요.</a:t>
            </a:r>
            <a:endParaRPr lang="ko-KR" sz="3000" dirty="0"/>
          </a:p>
        </p:txBody>
      </p:sp>
      <p:sp>
        <p:nvSpPr>
          <p:cNvPr id="9" name="S12-chip1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1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휘두르니 봉지가 부풀었어요.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3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3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표면에서 육지와 바다 중 더 넓은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것은? 무엇을 보고 알았나요?</a:t>
            </a:r>
            <a:endParaRPr lang="ko-KR" sz="3000" dirty="0"/>
          </a:p>
        </p:txBody>
      </p:sp>
      <p:sp>
        <p:nvSpPr>
          <p:cNvPr id="5" name="S13-chip13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3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바닷물과 강물의 다른 점을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말해요.</a:t>
            </a:r>
            <a:endParaRPr lang="ko-KR" sz="3000" dirty="0"/>
          </a:p>
        </p:txBody>
      </p:sp>
      <p:sp>
        <p:nvSpPr>
          <p:cNvPr id="7" name="S13-chip13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3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하는 일을 두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4-card140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41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관찰한 것(파란 부분, 10칸 중 약 7칸)을 근거로 말하면 맞아요.</a:t>
            </a:r>
            <a:endParaRPr lang="ko-KR" sz="3000" dirty="0"/>
          </a:p>
        </p:txBody>
      </p:sp>
      <p:sp>
        <p:nvSpPr>
          <p:cNvPr id="5" name="S14-chip14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43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바다</a:t>
            </a:r>
            <a:endParaRPr lang="ko-KR" sz="3000" dirty="0"/>
          </a:p>
        </p:txBody>
      </p:sp>
      <p:sp>
        <p:nvSpPr>
          <p:cNvPr id="7" name="S14-text144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부분이 훨씬 많음</a:t>
            </a:r>
            <a:endParaRPr lang="ko-KR" sz="2400" dirty="0"/>
          </a:p>
        </p:txBody>
      </p:sp>
      <p:sp>
        <p:nvSpPr>
          <p:cNvPr id="8" name="S14-text145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바닷물은 짜요</a:t>
            </a:r>
            <a:endParaRPr lang="ko-KR" sz="2400" dirty="0"/>
          </a:p>
        </p:txBody>
      </p:sp>
      <p:sp>
        <p:nvSpPr>
          <p:cNvPr id="9" name="S14-text146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강물은 짜지 않음</a:t>
            </a:r>
            <a:endParaRPr lang="ko-KR" sz="2400" dirty="0"/>
          </a:p>
        </p:txBody>
      </p:sp>
      <p:sp>
        <p:nvSpPr>
          <p:cNvPr id="10" name="S14-text147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숨 쉬기, 바람</a:t>
            </a:r>
            <a:endParaRPr lang="ko-KR" sz="2400" dirty="0"/>
          </a:p>
        </p:txBody>
      </p:sp>
      <p:sp>
        <p:nvSpPr>
          <p:cNvPr id="11" name="S14-text148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날기도 맞음</a:t>
            </a:r>
            <a:endParaRPr lang="ko-KR" sz="2400" dirty="0"/>
          </a:p>
        </p:txBody>
      </p:sp>
      <p:sp>
        <p:nvSpPr>
          <p:cNvPr id="12" name="S14-chip14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5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육지</a:t>
            </a:r>
            <a:endParaRPr lang="ko-KR" sz="3000" dirty="0"/>
          </a:p>
        </p:txBody>
      </p:sp>
      <p:sp>
        <p:nvSpPr>
          <p:cNvPr id="14" name="S14-text15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지도만 떠올림(M1)</a:t>
            </a:r>
            <a:endParaRPr lang="ko-KR" sz="2400" dirty="0"/>
          </a:p>
        </p:txBody>
      </p:sp>
      <p:sp>
        <p:nvSpPr>
          <p:cNvPr id="15" name="S14-text15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바닷물을 짜게 해요</a:t>
            </a:r>
            <a:endParaRPr lang="ko-KR" sz="3000" dirty="0"/>
          </a:p>
        </p:txBody>
      </p:sp>
      <p:sp>
        <p:nvSpPr>
          <p:cNvPr id="16" name="S14-text15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하는 일이 아님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것은?</a:t>
            </a:r>
            <a:endParaRPr lang="ko-KR" sz="4000" dirty="0"/>
          </a:p>
        </p:txBody>
      </p:sp>
      <p:sp>
        <p:nvSpPr>
          <p:cNvPr id="3" name="S15-text1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하는 일이 아닌 것을 골라요.</a:t>
            </a:r>
            <a:endParaRPr lang="ko-KR" sz="3000" dirty="0"/>
          </a:p>
        </p:txBody>
      </p:sp>
      <p:sp>
        <p:nvSpPr>
          <p:cNvPr id="4" name="S15-card1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15-chip15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5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5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숨을 쉬게 해요.</a:t>
            </a:r>
            <a:endParaRPr lang="ko-KR" sz="3000" dirty="0"/>
          </a:p>
        </p:txBody>
      </p:sp>
      <p:sp>
        <p:nvSpPr>
          <p:cNvPr id="9" name="S15-chip16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6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6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불게 해요.</a:t>
            </a:r>
            <a:endParaRPr lang="ko-KR" sz="3000" dirty="0"/>
          </a:p>
        </p:txBody>
      </p:sp>
      <p:sp>
        <p:nvSpPr>
          <p:cNvPr id="12" name="S15-chip16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5-card16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16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짜게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6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6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표면은 바다가 육지보다 넓고, 바닷물은 짜요.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둘러싸고 있어요.</a:t>
            </a:r>
            <a:endParaRPr lang="ko-KR" sz="3000" dirty="0"/>
          </a:p>
        </p:txBody>
      </p:sp>
      <p:sp>
        <p:nvSpPr>
          <p:cNvPr id="5" name="S16-chip16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본 것을 증거로 말하기</a:t>
            </a:r>
            <a:endParaRPr lang="ko-KR" sz="2400" dirty="0"/>
          </a:p>
        </p:txBody>
      </p:sp>
      <p:sp>
        <p:nvSpPr>
          <p:cNvPr id="6" name="S16-chip16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안 보이면 없다고 생각하기</a:t>
            </a:r>
            <a:endParaRPr lang="ko-KR" sz="2400" dirty="0"/>
          </a:p>
        </p:txBody>
      </p:sp>
      <p:sp>
        <p:nvSpPr>
          <p:cNvPr id="7" name="S16-text17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7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 표면에서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넓은 것은?</a:t>
            </a:r>
            <a:endParaRPr lang="ko-KR" sz="2400" dirty="0"/>
          </a:p>
        </p:txBody>
      </p:sp>
      <p:sp>
        <p:nvSpPr>
          <p:cNvPr id="9" name="S16-text17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바닷물은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맛일까요?</a:t>
            </a:r>
            <a:endParaRPr lang="ko-KR" sz="2400" dirty="0"/>
          </a:p>
        </p:txBody>
      </p:sp>
      <p:sp>
        <p:nvSpPr>
          <p:cNvPr id="10" name="S16-text17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공기가 하는 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400" dirty="0"/>
          </a:p>
        </p:txBody>
      </p:sp>
      <p:sp>
        <p:nvSpPr>
          <p:cNvPr id="11" name="S16-text1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관찰 기록하기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땅과 물의 모습</a:t>
            </a:r>
            <a:endParaRPr lang="ko-KR" sz="4000" dirty="0"/>
          </a:p>
        </p:txBody>
      </p:sp>
      <p:sp>
        <p:nvSpPr>
          <p:cNvPr id="3" name="S17-text1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땅과 물의 모습을 낱말로 말해요.</a:t>
            </a:r>
            <a:endParaRPr lang="ko-KR" sz="3000" dirty="0"/>
          </a:p>
        </p:txBody>
      </p:sp>
      <p:sp>
        <p:nvSpPr>
          <p:cNvPr id="4" name="S17-card1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있는 곳은 육지, 넓고 짠물이 있는 곳은 바다예요.</a:t>
            </a:r>
            <a:endParaRPr lang="ko-KR" sz="3000" dirty="0"/>
          </a:p>
        </p:txBody>
      </p:sp>
      <p:sp>
        <p:nvSpPr>
          <p:cNvPr id="6" name="S17-word178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땅</a:t>
            </a:r>
            <a:endParaRPr lang="ko-KR" sz="3400" dirty="0"/>
          </a:p>
        </p:txBody>
      </p:sp>
      <p:sp>
        <p:nvSpPr>
          <p:cNvPr id="7" name="S17-word179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</a:t>
            </a:r>
            <a:endParaRPr lang="ko-KR" sz="3400" dirty="0"/>
          </a:p>
        </p:txBody>
      </p:sp>
      <p:sp>
        <p:nvSpPr>
          <p:cNvPr id="8" name="S17-word180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</a:t>
            </a:r>
            <a:endParaRPr lang="ko-KR" sz="3400" dirty="0"/>
          </a:p>
        </p:txBody>
      </p:sp>
      <p:sp>
        <p:nvSpPr>
          <p:cNvPr id="9" name="S17-word181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짠물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지구의 표면과 바다</dc:title>
  <dc:subject>KR22-G03-SCI-EARTHSEA-L01</dc:subject>
  <dc:creator>education-ppt</dc:creator>
  <cp:lastModifiedBy>education-ppt</cp:lastModifiedBy>
  <cp:revision>1</cp:revision>
  <dcterms:created xsi:type="dcterms:W3CDTF">2026-10-26T09:33:28Z</dcterms:created>
  <dcterms:modified xsi:type="dcterms:W3CDTF">2026-10-26T09:33:28Z</dcterms:modified>
</cp:coreProperties>
</file>