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notesMasterIdLst>
    <p:notesMasterId r:id="rId1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도입" id="{dd72221b-7ce5-5ef4-8532-4c4243809776}">
          <p14:sldIdLst>
            <p14:sldId id="256"/>
            <p14:sldId id="257"/>
          </p14:sldIdLst>
        </p14:section>
        <p14:section name="개념" id="{5aa0701d-7137-5f0b-4135-a5f881ce6f35}">
          <p14:sldIdLst>
            <p14:sldId id="258"/>
            <p14:sldId id="259"/>
            <p14:sldId id="260"/>
            <p14:sldId id="261"/>
            <p14:sldId id="262"/>
            <p14:sldId id="263"/>
          </p14:sldIdLst>
        </p14:section>
        <p14:section name="연습" id="{b2894478-0f14-a568-8d66-a96b8057d975}">
          <p14:sldIdLst>
            <p14:sldId id="264"/>
            <p14:sldId id="265"/>
            <p14:sldId id="266"/>
          </p14:sldIdLst>
        </p14:section>
        <p14:section name="확인" id="{c27db9db-2848-8367-5ea3-819222f18c43}">
          <p14:sldIdLst>
            <p14:sldId id="267"/>
            <p14:sldId id="268"/>
          </p14:sldIdLst>
        </p14:section>
        <p14:section name="정리" id="{d7ce2b75-b916-92ac-9a82-5d7ab7f936b6}">
          <p14:sldIdLst>
            <p14:sldId id="269"/>
          </p14:sldIdLst>
        </p14:section>
        <p14:section name="보충" id="{9002cf3e-a032-e24d-c4c0-b20ef62787bd}">
          <p14:sldIdLst>
            <p14:sldId id="270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[S01 · 오늘의 질문과 목표]
목적: 오늘의 질문을 던지고, 강낭콩을 직접 심어 여러 주 동안 관찰하는 수업이라는 것을 알립니다.
시간: 약 2분
이렇게 말해 보세요
- “지난 시간에 배추흰나비가 알에서 자라는 것을 봤지? 식물도 한살이가 있을까?”
- “오늘은 강낭콩을 심고, 앞으로 몇 주 동안 자라는 모습을 기록할 거야.”
예상 답
- “씨에서 싹이 나요.” “꽃이 펴요.”
막히면
- 질문을 어려워하면 강낭콩 씨를 손바닥에 올려 주고 “이 씨를 심으면 무엇이 될까?”라고 묻습니다.
주의
- 강낭콩은 꽃집·생활용품점의 씨앗을 쓰면 싹이 잘 틉니다. 집에 있는 마른 강낭콩은 싹이 트지 않을 수도 있으니 여러 개 심습니다.
- 떡잎을 보여 주려면 수업 전날 강낭콩 하나를 물에 불려 둡니다.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[S02 · 선수 학습 확인(동물의 한살이)]
목적: 앞 차시 ‘동물의 한살이’(KR22-G03-SCI-ANIMLIFE-L01)에서 배운 한살이의 뜻과 차례, 한살이가 다시 이어진다는 것을 확인합니다.
시간: 약 3분
이렇게 말해 보세요
- “① 배추흰나비는 어떤 차례로 자랐지?”
- “② 한살이가 무슨 뜻이었는지 네 말로 말해 볼래?”
- “③ 어른벌레가 알을 낳으면 그다음에는?”
정답
- ① 알 → 애벌레 → 번데기 → 어른벌레
- ② 생물이 태어나 자라서 다시 알이나 새끼를 남기기까지의 과정
- ③ 알에서 다시 애벌레가 나와 한살이가 다시 시작된다
막히면
- 어려우면 S15(보충)를 먼저 합니다. 보충으로도 어려우면 앞 차시 ‘동물의 한살이’(KR22-G03-SCI-ANIMLIFE-L01)의 S06을 다시 봅니다.
주의
- ②는 정확한 문장이 아니어도 ‘태어나서 자라고 다시 알을 낳는다’는 뜻이 들어 있으면 맞습니다.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[S03 · 강낭콩 씨 관찰과 길이 재기]
목적: 심기 전에 씨를 관찰하고 자로 길이를 재어 활동지 1에 기록하는 방법을 함께 해 봅니다(목표 B).
시간: 약 4분
이렇게 말해 보세요
- “자의 0 눈금에 강낭콩 한쪽 끝을 맞추고, 다른 끝이 어느 눈금에 닿는지 봐. 몇 cm쯤이야?”
- “색깔은 어때? 모양은 무엇과 닮았어?”
- “한쪽에 오목하게 들어간 곳이 있지? 무엇일까?”
예상 답
- “1 cm보다 조금 길어요.” “빨간색이에요.” “콩팥처럼 길쭉해요.”
막히면
- 씨가 자 위에서 구르면 종이 위에 놓고 자를 옆에 댑니다.
- 눈금 읽기가 어려우면 초3 수학 ‘mm와 km’(KR22-G03-MAT-MMKM-L01)에서 배운 대로 cm와 mm를 함께 읽어 봅니다.
주의
- 강낭콩은 대개 1~2 cm쯤이지만 종류와 씨마다 다릅니다. 아이가 잰 값을 그대로 쓰게 합니다.
- 오목한 곳의 흰 부분은 씨가 꼬투리에 붙어 있던 자리입니다.
- 씨앗용 강낭콩은 약품을 입혀 색이 칠해져 있을 수 있습니다. 입에 넣지 않고 만진 뒤 손을 씻습니다.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[S04 · 예상하기(강낭콩이 자라는 모습)]
목적: 심기 전에 강낭콩이 자라는 모습을 예상하게 합니다(목표 A, 오해 M1).
시간: 약 2분
이렇게 말해 보세요
- “씨를 심으면 뿌리와 잎 중 무엇이 먼저 나올 것 같아? 왜 그렇게 생각해?”
- “며칠 만에 싹이 틀까? 다 자라면 무엇이 생길까?”
- “활동지 2의 ‘내 예상’ 칸에 써 줘. 결과 칸은 기르면서 채울 거야.”
예상 답
- “잎이 먼저 나올 것 같아요.” “3일이요.” “강낭콩이 또 생겨요.”(틀린 예상이어도 그대로 씁니다)
막히면
- 쓰기가 어려우면 아이가 말하고 부모가 대신 받아 적습니다.
주의
- ‘무엇이 먼저 나올까’의 결과는 알려 주지 않습니다. 젖은 키친타월 컵(S05 노트)에서 아이가 직접 확인하게 합니다(오해 M1).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[S05 · 강낭콩 심기와 기록 시작]
목적: 강낭콩을 심고, 여러 주 동안 쓸 관찰 기록표(활동지 6)의 첫 줄을 씁니다(목표 B).
시간: 약 6분
이렇게 말해 보세요
- “손가락 한 마디만큼 구멍을 파고 씨를 넣어 보자. 싹이 안 틀 수도 있으니 두세 개 심자.”
- “오늘 날짜를 기록표 첫 줄에 쓰자. 앞으로 일주일에 한두 번 키를 재서 쓸 거야.”
예상 답
- 아이가 씨를 심고, 기록표 첫 줄에 오늘 날짜와 ‘씨를 심음’을 씁니다.
막히면
- 흙이 없으면 젖은 키친타월 컵으로 먼저 싹을 틔운 뒤 흙에 옮겨 심어도 됩니다.
주의
- 안전: 흙을 만진 뒤 손을 씻습니다. 페트병이나 컵에 구멍을 내거나 자르는 일은 부모가 합니다.
- 더 해 보기(선택): 투명한 컵에 젖은 키친타월을 깔고 강낭콩 두세 개를 올려 둡니다. 키친타월이 마르지 않게 물을 조금씩 주면 며칠 뒤 뿌리가 먼저 나오는 모습을 볼 수 있습니다. 확인하면 활동지 2의 결과 칸에 씁니다.
- 싹이 트는 데 걸리는 날수는 온도에 따라 다릅니다. 따뜻한 곳에서는 보통 일주일 안팎이면 싹이 흙 위로 나옵니다.
- 아이가 지치면 여기서 쉬고, 다음 날 S06부터 이어도 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[S06 · 관찰 기록 읽기(근거)]
목적: 여러 주에 걸친 관찰 기록(예시)을 읽으며, 강낭콩이 자라는 차례를 기록에서 찾게 합니다(목표 A).
시간: 약 3분
이렇게 말해 보세요
- “이 친구의 강낭콩은 1주 뒤에 어떻게 됐어? 꽃은 언제 피었어?”
- “꼬투리 속에는 무엇이 있었을까?”
예상 답
- “1주 뒤에 떡잎이 나왔어요.” “6주 뒤에 꽃이 피었어요.” “꼬투리 속에 씨가 있어요.”
막히면
- 한 줄씩 손가락으로 짚으며 ‘달라진 점’만 소리 내어 읽습니다.
주의
- 이 표는 이해를 돕기 위한 예시입니다. 실제 날수와 키는 강낭콩의 종류, 햇빛, 온도에 따라 많이 다릅니다. 덩굴이 자라는 강낭콩은 훨씬 길게 자라므로 막대를 세워 줍니다.
- 기록에 뿌리 이야기가 없는 까닭은 흙 속이라 보이지 않기 때문입니다. “흙 속에서는 무엇이 먼저 나왔을까? 젖은 키친타월 컵으로 확인해 보자.”라고 말해 둡니다(오해 M1).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[S07 · 결과 정리(강낭콩의 한살이)]
목적: 기록에서 찾은 차례를 한살이 흐름으로 정리하고, 열매 속 씨로 한살이가 이어진다는 것을 알려 줍니다(목표 A, 오해 M2).
시간: 약 2분
이렇게 말해 보세요
- “씨에서 시작해서 무엇을 거쳐 열매가 됐지?”
- “아래 화살표는 열매에서 다시 씨로 돌아가. 왜 그럴까?”
예상 답
- “꼬투리 속에 씨가 생기니까요.” “그 씨를 다시 심으면 돼요.”
막히면
- 배추흰나비의 한살이(어른벌레가 다시 알을 낳음)와 견주어 봅니다.
주의
- ‘싹 트기’는 씨에서 뿌리와 떡잎이 나오는 것을 말합니다.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[S08 · 떡잎·본잎·꼬투리의 뜻]
목적: 교과서 용어 떡잎·본잎·꼬투리의 뜻을 알려 줍니다(목표 A, 오해 M2).
시간: 약 3분
이렇게 말해 보세요
- “물에 불린 강낭콩을 엄마(아빠)가 반으로 갈라 볼게. 두 쪽으로 나뉘지? 이것이 떡잎이야. 씨 속에 벌써 잎이 들어 있었어.”
- “꼬투리는 강낭콩의 열매야. 꼬투리를 까면 무엇이 나올까?”
예상 답
- “콩이 두 쪽으로 나뉘어요.” “꼬투리 속에 강낭콩이 있어요.”
막히면
- 마트에서 파는 완두콩이나 강낭콩 꼬투리가 있으면 함께 까서 속의 씨를 세어 봅니다.
주의
- 떡잎에는 싹이 자라는 데 필요한 양분이 들어 있습니다. 그래서 본잎이 자라면 떡잎은 쪼그라들어 떨어집니다.
- 불린 강낭콩을 가르는 일은 부모가 손톱이나 숟가락으로 합니다. 칼은 쓰지 않습니다.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[S09 · 한살이 단계 알아보기]
목적: 설명을 듣고 강낭콩 한살이의 단계를 알아봅니다(목표 A).
시간: 약 3분
이렇게 말해 보세요
- “①부터 말해 볼래? 어떤 단계일까? 무엇을 보고 알았어?”
정답
- ① 싹 트기
- ② 잎과 줄기 자라기
- ③ 열매 맺기
- ④ 씨(한살이가 다시 시작됨)
막히면
- S07의 흐름을 다시 보여 주고 상자를 하나씩 짚어 봅니다.
주의
- ④에서 ‘처음으로 돌아가요’라고 말하면 칭찬해 줍니다(오해 M2).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[S10 · 관찰 기록 읽고 자란 키 구하기]
목적: 관찰 기록표를 읽어 일정 기간 동안 자란 키를 뺄셈으로 구합니다(목표 B).
시간: 약 3분
이렇게 말해 보세요
- “①은 2주 뒤의 키에서 1주 뒤의 키를 빼면 돼. 식으로 말해 볼래?”
- “①과 ②를 견주어 봐. 매주 비슷하게 자랐어?”
정답
- ① 8 − 3 = 5, 5 cm
- ② 13 − 8 = 5, 5 cm
- ③ 13 − 3 = 10, 10 cm
막히면
- 자를 세워 3 cm와 8 cm를 짚어 보고, 그 사이가 몇 cm인지 눈금으로 셉니다.
주의
- 답을 쓸 때 단위 cm를 빠뜨리지 않게 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[S11 · 키 재는 방법 비교(오해 M3)]
목적: 식물의 키를 재는 바른 방법을 비교로 확인합니다(목표 B, 오해 M3).
시간: 약 2분
이렇게 말해 보세요
- “가처럼 재면 무엇까지 함께 재게 될까?”
- “우리 강낭콩은 자의 0 눈금을 어디에 맞추면 될까?”
정답
- 나. 강낭콩은 흙 표면부터 자라 나오므로, 흙 표면에 자의 0 눈금을 맞추어 줄기 끝(가장 높은 곳)까지 잽니다.
- 가는 화분의 흙 깊이까지 함께 재어 실제보다 크게 나옵니다.
막히면
- 화분 옆에 자를 대어 보며 흙 표면이 어디인지 손가락으로 짚어 봅니다.
주의
- 줄기가 기울어 있으면 줄기를 손으로 세우지 말고 가장 높은 곳까지 잽니다. 매번 같은 방법으로 재는 것이 중요합니다.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[S12 · 혼자 해 보기]
목적: 도움 없이 목표 A·B를 확인합니다.
시간: 약 4분
이렇게 말해 보세요
- “이번에는 혼자 해 볼래? ①은 종이 쪽지에 써서 차례대로 놓아도 돼.”
정답
- ① 씨 → 싹 트기 → 잎과 줄기 자라기 → 꽃 피기 → 열매 맺기
- ② 다시 싹이 트고 자라서 한살이가 다시 시작된다
- ③ 12 − 7 = 5, 5 cm
막히면
- ①②는 S07, ③은 S10을 다시 봅니다.
- 도움을 받아 해결했다면 기록표에 ‘도움’으로 표시합니다.
주의
- ③에서 단위 cm를 빠뜨리면 다시 쓰게 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[S13 · 정답과 피드백]
목적: 아이의 답을 함께 확인하고 흔한 실수를 바로잡습니다. 수업용에만 있는 장입니다.
시간: 약 1분
이렇게 말해 보세요
- “네 답과 같은지 볼까? 다르면 어디가 달랐는지 찾아보자.”
정답
- ① 씨 → 싹 트기 → 잎과 줄기 자라기 → 꽃 피기 → 열매 맺기 ② 다시 싹이 터서 한살이가 시작된다 ③ 5 cm
막히면
- ①이 틀리면 S07로, ③이 틀리면 S10으로 돌아갑니다.
주의
- 이 장은 학생용 파일에는 없습니다. 아이와 함께 볼 때는 슬라이드 쇼로 보여 줍니다.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[S14 · 정리와 다음 수업 복습]
목적: 핵심을 정리하고 다음 수업 첫 5분에 풀 복습 문제를 알려 줍니다. 관찰 기록은 앞으로 여러 주 동안 이어집니다.
시간: 약 1분
이렇게 말해 보세요
- “강낭콩의 한살이를 처음부터 말해 볼래? 앞으로 언제 키를 잴까?”
예상 답
- “씨, 싹 트기, 잎과 줄기 자라기, 꽃 피기, 열매 맺기요.” “일주일에 한두 번 재요.”
정답
- ① 씨 → 싹 트기 → 잎과 줄기 자라기 → 꽃 피기 → 열매 맺기 ② 떡잎 ③ 흙 표면부터 줄기 끝까지
막히면
- S07과 S11을 다시 보여 줍니다.
주의
- 관찰 기록표(활동지 6)는 냉장고 등 잘 보이는 곳에 붙여 두고, 일주일에 한두 번 함께 키를 재어 씁니다. 싹이 트면 활동지 2의 결과 칸도 채웁니다.
- 몇 주 뒤 기록이 쌓이면 아이의 기록으로 S06처럼 ‘몇 cm 자랐는지’를 다시 구해 봅니다.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[S15 · 보충(한살이 차례 다시 보기)]
목적: 앞 차시에서 배운 배추흰나비의 한살이를 쪽지로 다시 놓아 보며, 한살이의 차례와 다시 이어지는 모습을 익힙니다.
시간: 약 4분
이렇게 말해 보세요
- “쪽지를 섞을게. 배추흰나비가 자라는 차례대로 놓아 볼래?”
- “어른벌레가 알을 낳으면 어떻게 될까? 화살표를 어디로 그릴까?”
예상 답
- 아이가 알 → 애벌레 → 번데기 → 어른벌레로 놓고, 어른벌레에서 알로 화살표를 그립니다.
막히면
- 처음 두 장(알, 애벌레)만 놓게 하고 하나씩 늘립니다.
- 이 차시의 계획상 선수 차시는 ‘동물의 한살이’(KR22-G03-SCI-ANIMLIFE-L01)입니다. 보충으로도 어려우면 그 차시의 S06·S07을 다시 하고, 식물이 자라는 모습을 처음 관찰한다면 초2 ‘식물이 자라는 모습’(KR22-G02-SCI-GROW-L01)을 먼저 합니다.
주의
- 보충이 오래 걸리면 오늘은 강낭콩 심기(S03~S05)까지만 하고, 다음 날 S02부터 다시 시작합니다.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VER">
    <p:bg>
      <p:bgPr>
        <a:solidFill>
          <a:srgbClr val="26465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640080"/>
            <a:ext cx="6675120" cy="11887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defRPr>
            </a:lvl1pPr>
          </a:lstStyle>
          <a:p>
            <a:pPr algn="l" indent="0" marL="0">
              <a:buNone/>
            </a:pPr>
            <a:endParaRPr lang="en-US" sz="46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731520" y="1920240"/>
            <a:ext cx="6675120" cy="164592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3000" dirty="0">
                <a:solidFill>
                  <a:srgbClr val="C9DC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defRPr>
            </a:lvl1pPr>
          </a:lstStyle>
          <a:p>
            <a:pPr indent="0" marL="0">
              <a:buNone/>
            </a:pPr>
            <a:endParaRPr lang="en-US" sz="3000" dirty="0"/>
          </a:p>
        </p:txBody>
      </p:sp>
      <p:sp>
        <p:nvSpPr>
          <p:cNvPr id="4" name="Text 0"/>
          <p:cNvSpPr/>
          <p:nvPr/>
        </p:nvSpPr>
        <p:spPr>
          <a:xfrm>
            <a:off x="548640" y="6382512"/>
            <a:ext cx="8686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9DC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초3 과학 · 생물 · 3차시</a:t>
            </a:r>
            <a:endParaRPr lang="en-US" sz="12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defRPr>
            </a:lvl1pPr>
          </a:lstStyle>
          <a:p>
            <a:pPr algn="l" indent="0" marL="0">
              <a:buNone/>
            </a:pPr>
            <a:endParaRPr lang="en-US" sz="4000" dirty="0"/>
          </a:p>
        </p:txBody>
      </p:sp>
      <p:sp>
        <p:nvSpPr>
          <p:cNvPr id="3" name="Text 0"/>
          <p:cNvSpPr/>
          <p:nvPr/>
        </p:nvSpPr>
        <p:spPr>
          <a:xfrm>
            <a:off x="548640" y="6382512"/>
            <a:ext cx="8686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B556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초3 과학 · 식물의 한살이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LOSING">
    <p:bg>
      <p:bgPr>
        <a:solidFill>
          <a:srgbClr val="26465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defRPr>
            </a:lvl1pPr>
          </a:lstStyle>
          <a:p>
            <a:pPr algn="l" indent="0" marL="0">
              <a:buNone/>
            </a:pPr>
            <a:endParaRPr lang="en-US" sz="4000" dirty="0"/>
          </a:p>
        </p:txBody>
      </p:sp>
      <p:sp>
        <p:nvSpPr>
          <p:cNvPr id="3" name="Text 0"/>
          <p:cNvSpPr/>
          <p:nvPr/>
        </p:nvSpPr>
        <p:spPr>
          <a:xfrm>
            <a:off x="548640" y="6382512"/>
            <a:ext cx="8686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9DC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초3 과학 · 식물의 한살이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C9DCD8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algn="r"/>
            <a:fld id="{F7021451-1387-4CA6-816F-3879F97B5CBC}" type="slidenum">
              <a:rPr b="0" lang="en-US"/>
              <a:t>1004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UPPORT">
    <p:bg>
      <p:bgPr>
        <a:solidFill>
          <a:srgbClr val="F4F7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defRPr>
            </a:lvl1pPr>
          </a:lstStyle>
          <a:p>
            <a:pPr algn="l" indent="0" marL="0">
              <a:buNone/>
            </a:pPr>
            <a:endParaRPr lang="en-US" sz="4000" dirty="0"/>
          </a:p>
        </p:txBody>
      </p:sp>
      <p:sp>
        <p:nvSpPr>
          <p:cNvPr id="3" name="Text 0"/>
          <p:cNvSpPr/>
          <p:nvPr/>
        </p:nvSpPr>
        <p:spPr>
          <a:xfrm>
            <a:off x="548640" y="6382512"/>
            <a:ext cx="8686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B556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보충 자료 · 초3 과학 · 식물의 한살이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algn="r"/>
            <a:fld id="{F7021451-1387-4CA6-816F-3879F97B5CBC}" type="slidenum">
              <a:rPr b="0" lang="en-US"/>
              <a:t>1005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640080"/>
            <a:ext cx="66751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식물의 한살이</a:t>
            </a:r>
            <a:endParaRPr lang="ko-KR" sz="46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731520" y="1920240"/>
            <a:ext cx="667512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indent="0" marL="0">
              <a:buNone/>
            </a:pPr>
            <a:r>
              <a:rPr lang="ko-KR" altLang="en-US" sz="3000" dirty="0">
                <a:solidFill>
                  <a:srgbClr val="C9DC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강낭콩 한 알은</a:t>
            </a:r>
            <a:endParaRPr lang="ko-KR" sz="3000" dirty="0"/>
          </a:p>
          <a:p>
            <a:pPr eaLnBrk="0" indent="0" marL="0">
              <a:buNone/>
            </a:pPr>
            <a:r>
              <a:rPr lang="ko-KR" altLang="en-US" sz="3000" dirty="0">
                <a:solidFill>
                  <a:srgbClr val="C9DC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어떻게 자랄까?</a:t>
            </a:r>
            <a:endParaRPr lang="ko-KR" sz="3000" dirty="0"/>
          </a:p>
        </p:txBody>
      </p:sp>
      <p:sp>
        <p:nvSpPr>
          <p:cNvPr id="4" name="S01-card1"/>
          <p:cNvSpPr/>
          <p:nvPr/>
        </p:nvSpPr>
        <p:spPr>
          <a:xfrm>
            <a:off x="731520" y="4436364"/>
            <a:ext cx="10725912" cy="1690116"/>
          </a:xfrm>
          <a:prstGeom prst="roundRect">
            <a:avLst>
              <a:gd name="adj" fmla="val 6492"/>
            </a:avLst>
          </a:prstGeom>
          <a:solidFill>
            <a:srgbClr val="32606F"/>
          </a:solidFill>
          <a:ln w="12700">
            <a:solidFill>
              <a:srgbClr val="32606F"/>
            </a:solidFill>
            <a:prstDash val="solid"/>
          </a:ln>
        </p:spPr>
      </p:sp>
      <p:sp>
        <p:nvSpPr>
          <p:cNvPr id="5" name="S01-cardtext2"/>
          <p:cNvSpPr txBox="1"/>
          <p:nvPr/>
        </p:nvSpPr>
        <p:spPr>
          <a:xfrm>
            <a:off x="1005840" y="4573524"/>
            <a:ext cx="10177272" cy="14157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오늘 할 수 있게 될 것</a:t>
            </a:r>
            <a:endParaRPr lang="ko-KR" sz="30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4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 강낭콩의 한살이를 차례대로 말할 수 있어요.</a:t>
            </a:r>
            <a:endParaRPr lang="ko-KR" sz="30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4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 강낭콩을 심고 관찰 기록표를 쓸 수 있어요.</a:t>
            </a:r>
            <a:endParaRPr lang="ko-KR" sz="3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지난 시간 기억하기</a:t>
            </a:r>
            <a:endParaRPr lang="ko-KR" sz="4000" dirty="0"/>
          </a:p>
        </p:txBody>
      </p:sp>
      <p:sp>
        <p:nvSpPr>
          <p:cNvPr id="3" name="S02-chip3"/>
          <p:cNvSpPr txBox="1"/>
          <p:nvPr/>
        </p:nvSpPr>
        <p:spPr>
          <a:xfrm>
            <a:off x="548640" y="177393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</a:t>
            </a:r>
            <a:endParaRPr lang="ko-KR" sz="2400" dirty="0"/>
          </a:p>
        </p:txBody>
      </p:sp>
      <p:sp>
        <p:nvSpPr>
          <p:cNvPr id="4" name="S02-text4"/>
          <p:cNvSpPr txBox="1"/>
          <p:nvPr/>
        </p:nvSpPr>
        <p:spPr>
          <a:xfrm>
            <a:off x="1344168" y="1325880"/>
            <a:ext cx="10296144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배추흰나비의 한살이를 차례대로 말해요.</a:t>
            </a:r>
            <a:endParaRPr lang="ko-KR" sz="3000" dirty="0"/>
          </a:p>
        </p:txBody>
      </p:sp>
      <p:sp>
        <p:nvSpPr>
          <p:cNvPr id="5" name="S02-chip5"/>
          <p:cNvSpPr txBox="1"/>
          <p:nvPr/>
        </p:nvSpPr>
        <p:spPr>
          <a:xfrm>
            <a:off x="548640" y="346557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</a:t>
            </a:r>
            <a:endParaRPr lang="ko-KR" sz="2400" dirty="0"/>
          </a:p>
        </p:txBody>
      </p:sp>
      <p:sp>
        <p:nvSpPr>
          <p:cNvPr id="6" name="S02-text6"/>
          <p:cNvSpPr txBox="1"/>
          <p:nvPr/>
        </p:nvSpPr>
        <p:spPr>
          <a:xfrm>
            <a:off x="1344168" y="3017520"/>
            <a:ext cx="10296144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‘한살이’는 무엇일까요?</a:t>
            </a:r>
            <a:endParaRPr lang="ko-KR" sz="3000" dirty="0"/>
          </a:p>
        </p:txBody>
      </p:sp>
      <p:sp>
        <p:nvSpPr>
          <p:cNvPr id="7" name="S02-chip7"/>
          <p:cNvSpPr txBox="1"/>
          <p:nvPr/>
        </p:nvSpPr>
        <p:spPr>
          <a:xfrm>
            <a:off x="548640" y="515721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</a:t>
            </a:r>
            <a:endParaRPr lang="ko-KR" sz="2400" dirty="0"/>
          </a:p>
        </p:txBody>
      </p:sp>
      <p:sp>
        <p:nvSpPr>
          <p:cNvPr id="8" name="S02-text8"/>
          <p:cNvSpPr txBox="1"/>
          <p:nvPr/>
        </p:nvSpPr>
        <p:spPr>
          <a:xfrm>
            <a:off x="1344168" y="4709160"/>
            <a:ext cx="10296144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어른벌레가 알을 낳으면 어떻게 되나요?</a:t>
            </a:r>
            <a:endParaRPr lang="ko-KR" sz="3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강낭콩 씨 관찰하기</a:t>
            </a:r>
            <a:endParaRPr lang="ko-KR" sz="4000" dirty="0"/>
          </a:p>
        </p:txBody>
      </p:sp>
      <p:sp>
        <p:nvSpPr>
          <p:cNvPr id="3" name="S03-card9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4" name="S03-cardtext10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안전: 씨는 입에 넣지 말고, 만진 뒤 손을 씻어요.</a:t>
            </a:r>
            <a:endParaRPr lang="ko-KR" sz="3000" dirty="0"/>
          </a:p>
        </p:txBody>
      </p:sp>
      <p:sp>
        <p:nvSpPr>
          <p:cNvPr id="5" name="S03-card11"/>
          <p:cNvSpPr/>
          <p:nvPr/>
        </p:nvSpPr>
        <p:spPr>
          <a:xfrm>
            <a:off x="6813652" y="1325880"/>
            <a:ext cx="4826660" cy="3794760"/>
          </a:xfrm>
          <a:prstGeom prst="roundRect">
            <a:avLst>
              <a:gd name="adj" fmla="val 2892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6" name="S03-cardtext12"/>
          <p:cNvSpPr txBox="1"/>
          <p:nvPr/>
        </p:nvSpPr>
        <p:spPr>
          <a:xfrm>
            <a:off x="7087972" y="1463040"/>
            <a:ext cx="4278020" cy="3520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관찰할 때 확인해요</a:t>
            </a:r>
            <a:endParaRPr lang="ko-KR" sz="30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4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☐ 길이를 cm로 써요</a:t>
            </a:r>
            <a:endParaRPr lang="ko-KR" sz="30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4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☐ 본 것을 그대로 써요</a:t>
            </a:r>
            <a:endParaRPr lang="ko-KR" sz="30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4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☐ 씨를 여러 개 견주어 봐요</a:t>
            </a:r>
            <a:endParaRPr lang="ko-KR" sz="3000" dirty="0"/>
          </a:p>
        </p:txBody>
      </p:sp>
      <p:sp>
        <p:nvSpPr>
          <p:cNvPr id="7" name="S03-stepno13"/>
          <p:cNvSpPr txBox="1"/>
          <p:nvPr/>
        </p:nvSpPr>
        <p:spPr>
          <a:xfrm>
            <a:off x="548640" y="2090928"/>
            <a:ext cx="548640" cy="548640"/>
          </a:xfrm>
          <a:prstGeom prst="ellipse">
            <a:avLst/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</a:t>
            </a:r>
            <a:endParaRPr lang="ko-KR" sz="2400" dirty="0"/>
          </a:p>
        </p:txBody>
      </p:sp>
      <p:sp>
        <p:nvSpPr>
          <p:cNvPr id="8" name="S03-text14"/>
          <p:cNvSpPr txBox="1"/>
          <p:nvPr/>
        </p:nvSpPr>
        <p:spPr>
          <a:xfrm>
            <a:off x="1325880" y="2045208"/>
            <a:ext cx="5122012" cy="929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자의 0 눈금에 씨 끝을 맞춰 길이를 재요.</a:t>
            </a:r>
            <a:endParaRPr lang="ko-KR" sz="3000" dirty="0"/>
          </a:p>
        </p:txBody>
      </p:sp>
      <p:sp>
        <p:nvSpPr>
          <p:cNvPr id="9" name="S03-stepno15"/>
          <p:cNvSpPr txBox="1"/>
          <p:nvPr/>
        </p:nvSpPr>
        <p:spPr>
          <a:xfrm>
            <a:off x="548640" y="3139440"/>
            <a:ext cx="548640" cy="548640"/>
          </a:xfrm>
          <a:prstGeom prst="ellipse">
            <a:avLst/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ko-KR" sz="2400" dirty="0"/>
          </a:p>
        </p:txBody>
      </p:sp>
      <p:sp>
        <p:nvSpPr>
          <p:cNvPr id="10" name="S03-text16"/>
          <p:cNvSpPr txBox="1"/>
          <p:nvPr/>
        </p:nvSpPr>
        <p:spPr>
          <a:xfrm>
            <a:off x="1325880" y="3139440"/>
            <a:ext cx="512201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색깔과 모양을 봐요.</a:t>
            </a:r>
            <a:endParaRPr lang="ko-KR" sz="3000" dirty="0"/>
          </a:p>
        </p:txBody>
      </p:sp>
      <p:sp>
        <p:nvSpPr>
          <p:cNvPr id="11" name="S03-stepno17"/>
          <p:cNvSpPr txBox="1"/>
          <p:nvPr/>
        </p:nvSpPr>
        <p:spPr>
          <a:xfrm>
            <a:off x="548640" y="3852672"/>
            <a:ext cx="548640" cy="548640"/>
          </a:xfrm>
          <a:prstGeom prst="ellipse">
            <a:avLst/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</a:t>
            </a:r>
            <a:endParaRPr lang="ko-KR" sz="2400" dirty="0"/>
          </a:p>
        </p:txBody>
      </p:sp>
      <p:sp>
        <p:nvSpPr>
          <p:cNvPr id="12" name="S03-text18"/>
          <p:cNvSpPr txBox="1"/>
          <p:nvPr/>
        </p:nvSpPr>
        <p:spPr>
          <a:xfrm>
            <a:off x="1325880" y="3852672"/>
            <a:ext cx="512201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오목하게 들어간 곳을 찾아요.</a:t>
            </a:r>
            <a:endParaRPr lang="ko-KR" sz="3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심으면 어떻게 될까?</a:t>
            </a:r>
            <a:endParaRPr lang="ko-KR" sz="4000" dirty="0"/>
          </a:p>
        </p:txBody>
      </p:sp>
      <p:sp>
        <p:nvSpPr>
          <p:cNvPr id="3" name="S04-text19"/>
          <p:cNvSpPr txBox="1"/>
          <p:nvPr/>
        </p:nvSpPr>
        <p:spPr>
          <a:xfrm>
            <a:off x="548640" y="132588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강낭콩을 심기 전에 예상해요.</a:t>
            </a:r>
            <a:endParaRPr lang="ko-KR" sz="3000" dirty="0"/>
          </a:p>
        </p:txBody>
      </p:sp>
      <p:sp>
        <p:nvSpPr>
          <p:cNvPr id="4" name="S04-card20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5" name="S04-cardtext21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예상은 활동지 2에 써요. 결과는 기르면서 확인해요.</a:t>
            </a:r>
            <a:endParaRPr lang="ko-KR" sz="3000" dirty="0"/>
          </a:p>
        </p:txBody>
      </p:sp>
      <p:graphicFrame>
        <p:nvGraphicFramePr>
          <p:cNvPr id="5" name="S04-table2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1065276" y="2602992"/>
          <a:ext cx="10058400" cy="914400"/>
        </p:xfrm>
        <a:graphic>
          <a:graphicData uri="http://schemas.openxmlformats.org/drawingml/2006/table">
            <a:tbl>
              <a:tblPr/>
              <a:tblGrid>
                <a:gridCol w="6236208"/>
                <a:gridCol w="3822192"/>
              </a:tblGrid>
              <a:tr h="481584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400" b="1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궁금한 것</a:t>
                      </a: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400" b="1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내 예상</a:t>
                      </a: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</a:tr>
              <a:tr h="481584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4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뿌리와 잎 중 무엇이 먼저 나올까?</a:t>
                      </a: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81584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4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싹이 트는 데 며칠 걸릴까?</a:t>
                      </a: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81584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4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다 자라면 무엇이 생길까?</a:t>
                      </a: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강낭콩 심기</a:t>
            </a:r>
            <a:endParaRPr lang="ko-KR" sz="4000" dirty="0"/>
          </a:p>
        </p:txBody>
      </p:sp>
      <p:sp>
        <p:nvSpPr>
          <p:cNvPr id="3" name="S05-card23"/>
          <p:cNvSpPr/>
          <p:nvPr/>
        </p:nvSpPr>
        <p:spPr>
          <a:xfrm>
            <a:off x="548640" y="4959096"/>
            <a:ext cx="11091672" cy="1258824"/>
          </a:xfrm>
          <a:prstGeom prst="roundRect">
            <a:avLst>
              <a:gd name="adj" fmla="val 8717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4" name="S05-cardtext24"/>
          <p:cNvSpPr txBox="1"/>
          <p:nvPr/>
        </p:nvSpPr>
        <p:spPr>
          <a:xfrm>
            <a:off x="822960" y="5096256"/>
            <a:ext cx="10543032" cy="984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안전: 흙을 만진 뒤 손을 씻고, 페트병을 잘라 화분을 만들 때는 어른이 잘라요.</a:t>
            </a:r>
            <a:endParaRPr lang="ko-KR" sz="3000" dirty="0"/>
          </a:p>
        </p:txBody>
      </p:sp>
      <p:sp>
        <p:nvSpPr>
          <p:cNvPr id="5" name="S05-card25"/>
          <p:cNvSpPr/>
          <p:nvPr/>
        </p:nvSpPr>
        <p:spPr>
          <a:xfrm>
            <a:off x="6813652" y="1325880"/>
            <a:ext cx="4826660" cy="3404616"/>
          </a:xfrm>
          <a:prstGeom prst="roundRect">
            <a:avLst>
              <a:gd name="adj" fmla="val 3223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6" name="S05-cardtext26"/>
          <p:cNvSpPr txBox="1"/>
          <p:nvPr/>
        </p:nvSpPr>
        <p:spPr>
          <a:xfrm>
            <a:off x="7087972" y="1463040"/>
            <a:ext cx="4278020" cy="31302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기를 때 확인해요</a:t>
            </a:r>
            <a:endParaRPr lang="ko-KR" sz="30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4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☐ 씨를 너무 깊이 묻지 않아요</a:t>
            </a:r>
            <a:endParaRPr lang="ko-KR" sz="30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4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☐ 심은 날짜를 써요</a:t>
            </a:r>
            <a:endParaRPr lang="ko-KR" sz="30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4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☐ 일주일에 한두 번 키를 재요</a:t>
            </a:r>
            <a:endParaRPr lang="ko-KR" sz="3000" dirty="0"/>
          </a:p>
        </p:txBody>
      </p:sp>
      <p:sp>
        <p:nvSpPr>
          <p:cNvPr id="7" name="S05-stepno27"/>
          <p:cNvSpPr txBox="1"/>
          <p:nvPr/>
        </p:nvSpPr>
        <p:spPr>
          <a:xfrm>
            <a:off x="548640" y="1534668"/>
            <a:ext cx="548640" cy="548640"/>
          </a:xfrm>
          <a:prstGeom prst="ellipse">
            <a:avLst/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</a:t>
            </a:r>
            <a:endParaRPr lang="ko-KR" sz="2400" dirty="0"/>
          </a:p>
        </p:txBody>
      </p:sp>
      <p:sp>
        <p:nvSpPr>
          <p:cNvPr id="8" name="S05-text28"/>
          <p:cNvSpPr txBox="1"/>
          <p:nvPr/>
        </p:nvSpPr>
        <p:spPr>
          <a:xfrm>
            <a:off x="1325880" y="1488948"/>
            <a:ext cx="5122012" cy="7437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24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흙을 담고 손가락 한 마디 깊이에 씨를 2~3개 심어요.</a:t>
            </a:r>
            <a:endParaRPr lang="ko-KR" sz="2400" dirty="0"/>
          </a:p>
        </p:txBody>
      </p:sp>
      <p:sp>
        <p:nvSpPr>
          <p:cNvPr id="9" name="S05-stepno29"/>
          <p:cNvSpPr txBox="1"/>
          <p:nvPr/>
        </p:nvSpPr>
        <p:spPr>
          <a:xfrm>
            <a:off x="548640" y="2397252"/>
            <a:ext cx="548640" cy="548640"/>
          </a:xfrm>
          <a:prstGeom prst="ellipse">
            <a:avLst/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ko-KR" sz="2400" dirty="0"/>
          </a:p>
        </p:txBody>
      </p:sp>
      <p:sp>
        <p:nvSpPr>
          <p:cNvPr id="10" name="S05-text30"/>
          <p:cNvSpPr txBox="1"/>
          <p:nvPr/>
        </p:nvSpPr>
        <p:spPr>
          <a:xfrm>
            <a:off x="1325880" y="2397252"/>
            <a:ext cx="512201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24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흙을 덮고 물을 흠뻑 줘요.</a:t>
            </a:r>
            <a:endParaRPr lang="ko-KR" sz="2400" dirty="0"/>
          </a:p>
        </p:txBody>
      </p:sp>
      <p:sp>
        <p:nvSpPr>
          <p:cNvPr id="11" name="S05-stepno31"/>
          <p:cNvSpPr txBox="1"/>
          <p:nvPr/>
        </p:nvSpPr>
        <p:spPr>
          <a:xfrm>
            <a:off x="548640" y="3156204"/>
            <a:ext cx="548640" cy="548640"/>
          </a:xfrm>
          <a:prstGeom prst="ellipse">
            <a:avLst/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</a:t>
            </a:r>
            <a:endParaRPr lang="ko-KR" sz="2400" dirty="0"/>
          </a:p>
        </p:txBody>
      </p:sp>
      <p:sp>
        <p:nvSpPr>
          <p:cNvPr id="12" name="S05-text32"/>
          <p:cNvSpPr txBox="1"/>
          <p:nvPr/>
        </p:nvSpPr>
        <p:spPr>
          <a:xfrm>
            <a:off x="1325880" y="3110484"/>
            <a:ext cx="5122012" cy="7437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24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햇빛이 드는 곳에 두고, 흙이 마르면 물을 줘요.</a:t>
            </a:r>
            <a:endParaRPr lang="ko-KR" sz="2400" dirty="0"/>
          </a:p>
        </p:txBody>
      </p:sp>
      <p:sp>
        <p:nvSpPr>
          <p:cNvPr id="13" name="S05-stepno33"/>
          <p:cNvSpPr txBox="1"/>
          <p:nvPr/>
        </p:nvSpPr>
        <p:spPr>
          <a:xfrm>
            <a:off x="548640" y="4018788"/>
            <a:ext cx="548640" cy="548640"/>
          </a:xfrm>
          <a:prstGeom prst="ellipse">
            <a:avLst/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</a:t>
            </a:r>
            <a:endParaRPr lang="ko-KR" sz="2400" dirty="0"/>
          </a:p>
        </p:txBody>
      </p:sp>
      <p:sp>
        <p:nvSpPr>
          <p:cNvPr id="14" name="S05-text34"/>
          <p:cNvSpPr txBox="1"/>
          <p:nvPr/>
        </p:nvSpPr>
        <p:spPr>
          <a:xfrm>
            <a:off x="1325880" y="4018788"/>
            <a:ext cx="512201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24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심은 날짜를 관찰 기록표에 써요.</a:t>
            </a:r>
            <a:endParaRPr lang="ko-KR" sz="2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친구의 관찰 기록(예시)</a:t>
            </a:r>
            <a:endParaRPr lang="ko-KR" sz="4000" dirty="0"/>
          </a:p>
        </p:txBody>
      </p:sp>
      <p:sp>
        <p:nvSpPr>
          <p:cNvPr id="3" name="S06-card35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4" name="S06-cardtext36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기록을 보면 강낭콩이 자라는 차례를 알 수 있어요.</a:t>
            </a:r>
            <a:endParaRPr lang="ko-KR" sz="3000" dirty="0"/>
          </a:p>
        </p:txBody>
      </p:sp>
      <p:graphicFrame>
        <p:nvGraphicFramePr>
          <p:cNvPr id="7" name="S06-table3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08076" y="1537716"/>
          <a:ext cx="10972800" cy="914400"/>
        </p:xfrm>
        <a:graphic>
          <a:graphicData uri="http://schemas.openxmlformats.org/drawingml/2006/table">
            <a:tbl>
              <a:tblPr/>
              <a:tblGrid>
                <a:gridCol w="1865376"/>
                <a:gridCol w="2194560"/>
                <a:gridCol w="6912864"/>
              </a:tblGrid>
              <a:tr h="481584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400" b="1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날짜</a:t>
                      </a: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400" b="1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키</a:t>
                      </a: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400" b="1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달라진 점</a:t>
                      </a: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</a:tr>
              <a:tr h="481584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4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1주 뒤</a:t>
                      </a: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4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3 cm</a:t>
                      </a: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4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떡잎 두 장이 흙 위로 나왔어요</a:t>
                      </a: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81584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4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2주 뒤</a:t>
                      </a: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4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8 cm</a:t>
                      </a: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4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떡잎 사이에서 본잎이 나왔어요</a:t>
                      </a: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81584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4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3주 뒤</a:t>
                      </a: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4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13 cm</a:t>
                      </a: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4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잎이 많아지고 떡잎이 시들었어요</a:t>
                      </a: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81584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4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6주 뒤</a:t>
                      </a: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4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25 cm</a:t>
                      </a: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4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꽃이 피었어요</a:t>
                      </a: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81584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4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8주 뒤</a:t>
                      </a: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4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28 cm</a:t>
                      </a: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4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꼬투리(열매)가 생겼어요</a:t>
                      </a: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81584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4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11주 뒤</a:t>
                      </a: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4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재지 않음</a:t>
                      </a: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4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꼬투리가 마르고 속의 씨가 여물었어요</a:t>
                      </a: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강낭콩의 한살이</a:t>
            </a:r>
            <a:endParaRPr lang="ko-KR" sz="4000" dirty="0"/>
          </a:p>
        </p:txBody>
      </p:sp>
      <p:sp>
        <p:nvSpPr>
          <p:cNvPr id="3" name="S07-text38"/>
          <p:cNvSpPr txBox="1"/>
          <p:nvPr/>
        </p:nvSpPr>
        <p:spPr>
          <a:xfrm>
            <a:off x="548640" y="132588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기록을 차례대로 정리해요.</a:t>
            </a:r>
            <a:endParaRPr lang="ko-KR" sz="3000" dirty="0"/>
          </a:p>
        </p:txBody>
      </p:sp>
      <p:sp>
        <p:nvSpPr>
          <p:cNvPr id="4" name="S07-card39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5" name="S07-cardtext40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열매 속 씨를 심으면 한살이가 다시 시작돼요.</a:t>
            </a:r>
            <a:endParaRPr lang="ko-KR" sz="3000" dirty="0"/>
          </a:p>
        </p:txBody>
      </p:sp>
      <p:sp>
        <p:nvSpPr>
          <p:cNvPr id="6" name="S07-step41"/>
          <p:cNvSpPr txBox="1"/>
          <p:nvPr/>
        </p:nvSpPr>
        <p:spPr>
          <a:xfrm>
            <a:off x="548640" y="2651760"/>
            <a:ext cx="1889150" cy="1371600"/>
          </a:xfrm>
          <a:prstGeom prst="roundRect">
            <a:avLst>
              <a:gd name="adj" fmla="val 8000"/>
            </a:avLst>
          </a:prstGeom>
          <a:solidFill>
            <a:srgbClr val="EAF3F1"/>
          </a:solidFill>
          <a:ln w="19050">
            <a:solidFill>
              <a:srgbClr val="264653"/>
            </a:solidFill>
          </a:ln>
        </p:spPr>
        <p:txBody>
          <a:bodyPr wrap="square" lIns="76200" tIns="50800" rIns="76200" bIns="50800" rtlCol="0" anchor="ctr"/>
          <a:lstStyle/>
          <a:p>
            <a:pPr eaLnBrk="0" algn="ctr" indent="0" marL="0">
              <a:buNone/>
            </a:pPr>
            <a:r>
              <a:rPr lang="ko-KR" altLang="en-US" sz="28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씨</a:t>
            </a:r>
            <a:endParaRPr lang="ko-KR" sz="2800" dirty="0"/>
          </a:p>
        </p:txBody>
      </p:sp>
      <p:sp>
        <p:nvSpPr>
          <p:cNvPr id="7" name="S07-line42"/>
          <p:cNvSpPr/>
          <p:nvPr/>
        </p:nvSpPr>
        <p:spPr>
          <a:xfrm>
            <a:off x="2492654" y="3337560"/>
            <a:ext cx="301752" cy="0"/>
          </a:xfrm>
          <a:prstGeom prst="line">
            <a:avLst/>
          </a:prstGeom>
          <a:noFill/>
          <a:ln w="31750">
            <a:solidFill>
              <a:srgbClr val="3D5A80"/>
            </a:solidFill>
            <a:prstDash val="solid"/>
            <a:tailEnd type="triangle"/>
          </a:ln>
        </p:spPr>
      </p:sp>
      <p:sp>
        <p:nvSpPr>
          <p:cNvPr id="8" name="S07-step43"/>
          <p:cNvSpPr txBox="1"/>
          <p:nvPr/>
        </p:nvSpPr>
        <p:spPr>
          <a:xfrm>
            <a:off x="2849270" y="2651760"/>
            <a:ext cx="1889150" cy="1371600"/>
          </a:xfrm>
          <a:prstGeom prst="roundRect">
            <a:avLst>
              <a:gd name="adj" fmla="val 8000"/>
            </a:avLst>
          </a:prstGeom>
          <a:solidFill>
            <a:srgbClr val="EAF3F1"/>
          </a:solidFill>
          <a:ln w="19050">
            <a:solidFill>
              <a:srgbClr val="264653"/>
            </a:solidFill>
          </a:ln>
        </p:spPr>
        <p:txBody>
          <a:bodyPr wrap="square" lIns="76200" tIns="50800" rIns="76200" bIns="50800" rtlCol="0" anchor="ctr"/>
          <a:lstStyle/>
          <a:p>
            <a:pPr eaLnBrk="0" algn="ctr" indent="0" marL="0">
              <a:buNone/>
            </a:pPr>
            <a:r>
              <a:rPr lang="ko-KR" altLang="en-US" sz="28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싹 트기</a:t>
            </a:r>
            <a:endParaRPr lang="ko-KR" sz="2800" dirty="0"/>
          </a:p>
        </p:txBody>
      </p:sp>
      <p:sp>
        <p:nvSpPr>
          <p:cNvPr id="9" name="S07-line44"/>
          <p:cNvSpPr/>
          <p:nvPr/>
        </p:nvSpPr>
        <p:spPr>
          <a:xfrm>
            <a:off x="4793285" y="3337560"/>
            <a:ext cx="301752" cy="0"/>
          </a:xfrm>
          <a:prstGeom prst="line">
            <a:avLst/>
          </a:prstGeom>
          <a:noFill/>
          <a:ln w="31750">
            <a:solidFill>
              <a:srgbClr val="3D5A80"/>
            </a:solidFill>
            <a:prstDash val="solid"/>
            <a:tailEnd type="triangle"/>
          </a:ln>
        </p:spPr>
      </p:sp>
      <p:sp>
        <p:nvSpPr>
          <p:cNvPr id="10" name="S07-step45"/>
          <p:cNvSpPr txBox="1"/>
          <p:nvPr/>
        </p:nvSpPr>
        <p:spPr>
          <a:xfrm>
            <a:off x="5149901" y="2651760"/>
            <a:ext cx="1889150" cy="1371600"/>
          </a:xfrm>
          <a:prstGeom prst="roundRect">
            <a:avLst>
              <a:gd name="adj" fmla="val 8000"/>
            </a:avLst>
          </a:prstGeom>
          <a:solidFill>
            <a:srgbClr val="EAF3F1"/>
          </a:solidFill>
          <a:ln w="19050">
            <a:solidFill>
              <a:srgbClr val="264653"/>
            </a:solidFill>
          </a:ln>
        </p:spPr>
        <p:txBody>
          <a:bodyPr wrap="square" lIns="76200" tIns="50800" rIns="76200" bIns="50800" rtlCol="0" anchor="ctr"/>
          <a:lstStyle/>
          <a:p>
            <a:pPr eaLnBrk="0" algn="ctr" indent="0" marL="0">
              <a:buNone/>
            </a:pPr>
            <a:r>
              <a:rPr lang="ko-KR" altLang="en-US" sz="28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잎과 줄기</a:t>
            </a:r>
            <a:endParaRPr lang="ko-KR" sz="2800" dirty="0"/>
          </a:p>
          <a:p>
            <a:pPr eaLnBrk="0" algn="ctr" indent="0" marL="0">
              <a:buNone/>
            </a:pPr>
            <a:r>
              <a:rPr lang="ko-KR" altLang="en-US" sz="28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자라기</a:t>
            </a:r>
            <a:endParaRPr lang="ko-KR" sz="2800" dirty="0"/>
          </a:p>
        </p:txBody>
      </p:sp>
      <p:sp>
        <p:nvSpPr>
          <p:cNvPr id="11" name="S07-line46"/>
          <p:cNvSpPr/>
          <p:nvPr/>
        </p:nvSpPr>
        <p:spPr>
          <a:xfrm>
            <a:off x="7093915" y="3337560"/>
            <a:ext cx="301752" cy="0"/>
          </a:xfrm>
          <a:prstGeom prst="line">
            <a:avLst/>
          </a:prstGeom>
          <a:noFill/>
          <a:ln w="31750">
            <a:solidFill>
              <a:srgbClr val="3D5A80"/>
            </a:solidFill>
            <a:prstDash val="solid"/>
            <a:tailEnd type="triangle"/>
          </a:ln>
        </p:spPr>
      </p:sp>
      <p:sp>
        <p:nvSpPr>
          <p:cNvPr id="12" name="S07-step47"/>
          <p:cNvSpPr txBox="1"/>
          <p:nvPr/>
        </p:nvSpPr>
        <p:spPr>
          <a:xfrm>
            <a:off x="7450531" y="2651760"/>
            <a:ext cx="1889150" cy="1371600"/>
          </a:xfrm>
          <a:prstGeom prst="roundRect">
            <a:avLst>
              <a:gd name="adj" fmla="val 8000"/>
            </a:avLst>
          </a:prstGeom>
          <a:solidFill>
            <a:srgbClr val="EAF3F1"/>
          </a:solidFill>
          <a:ln w="19050">
            <a:solidFill>
              <a:srgbClr val="264653"/>
            </a:solidFill>
          </a:ln>
        </p:spPr>
        <p:txBody>
          <a:bodyPr wrap="square" lIns="76200" tIns="50800" rIns="76200" bIns="50800" rtlCol="0" anchor="ctr"/>
          <a:lstStyle/>
          <a:p>
            <a:pPr eaLnBrk="0" algn="ctr" indent="0" marL="0">
              <a:buNone/>
            </a:pPr>
            <a:r>
              <a:rPr lang="ko-KR" altLang="en-US" sz="28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꽃 피기</a:t>
            </a:r>
            <a:endParaRPr lang="ko-KR" sz="2800" dirty="0"/>
          </a:p>
        </p:txBody>
      </p:sp>
      <p:sp>
        <p:nvSpPr>
          <p:cNvPr id="13" name="S07-line48"/>
          <p:cNvSpPr/>
          <p:nvPr/>
        </p:nvSpPr>
        <p:spPr>
          <a:xfrm>
            <a:off x="9394546" y="3337560"/>
            <a:ext cx="301752" cy="0"/>
          </a:xfrm>
          <a:prstGeom prst="line">
            <a:avLst/>
          </a:prstGeom>
          <a:noFill/>
          <a:ln w="31750">
            <a:solidFill>
              <a:srgbClr val="3D5A80"/>
            </a:solidFill>
            <a:prstDash val="solid"/>
            <a:tailEnd type="triangle"/>
          </a:ln>
        </p:spPr>
      </p:sp>
      <p:sp>
        <p:nvSpPr>
          <p:cNvPr id="14" name="S07-step49"/>
          <p:cNvSpPr txBox="1"/>
          <p:nvPr/>
        </p:nvSpPr>
        <p:spPr>
          <a:xfrm>
            <a:off x="9751162" y="2651760"/>
            <a:ext cx="1889150" cy="1371600"/>
          </a:xfrm>
          <a:prstGeom prst="roundRect">
            <a:avLst>
              <a:gd name="adj" fmla="val 8000"/>
            </a:avLst>
          </a:prstGeom>
          <a:solidFill>
            <a:srgbClr val="EAF3F1"/>
          </a:solidFill>
          <a:ln w="19050">
            <a:solidFill>
              <a:srgbClr val="264653"/>
            </a:solidFill>
          </a:ln>
        </p:spPr>
        <p:txBody>
          <a:bodyPr wrap="square" lIns="76200" tIns="50800" rIns="76200" bIns="50800" rtlCol="0" anchor="ctr"/>
          <a:lstStyle/>
          <a:p>
            <a:pPr eaLnBrk="0" algn="ctr" indent="0" marL="0">
              <a:buNone/>
            </a:pPr>
            <a:r>
              <a:rPr lang="ko-KR" altLang="en-US" sz="28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열매 맺기</a:t>
            </a:r>
            <a:endParaRPr lang="ko-KR" sz="2800" dirty="0"/>
          </a:p>
        </p:txBody>
      </p:sp>
      <p:sp>
        <p:nvSpPr>
          <p:cNvPr id="15" name="S07-line50"/>
          <p:cNvSpPr/>
          <p:nvPr/>
        </p:nvSpPr>
        <p:spPr>
          <a:xfrm>
            <a:off x="10695737" y="4023360"/>
            <a:ext cx="0" cy="320040"/>
          </a:xfrm>
          <a:prstGeom prst="line">
            <a:avLst/>
          </a:prstGeom>
          <a:noFill/>
          <a:ln w="31750">
            <a:solidFill>
              <a:srgbClr val="3D5A80"/>
            </a:solidFill>
            <a:prstDash val="solid"/>
          </a:ln>
        </p:spPr>
      </p:sp>
      <p:sp>
        <p:nvSpPr>
          <p:cNvPr id="16" name="S07-line51"/>
          <p:cNvSpPr/>
          <p:nvPr/>
        </p:nvSpPr>
        <p:spPr>
          <a:xfrm flipH="1">
            <a:off x="1493215" y="4343400"/>
            <a:ext cx="9202522" cy="0"/>
          </a:xfrm>
          <a:prstGeom prst="line">
            <a:avLst/>
          </a:prstGeom>
          <a:noFill/>
          <a:ln w="31750">
            <a:solidFill>
              <a:srgbClr val="3D5A80"/>
            </a:solidFill>
            <a:prstDash val="solid"/>
          </a:ln>
        </p:spPr>
      </p:sp>
      <p:sp>
        <p:nvSpPr>
          <p:cNvPr id="17" name="S07-line52"/>
          <p:cNvSpPr/>
          <p:nvPr/>
        </p:nvSpPr>
        <p:spPr>
          <a:xfrm flipV="1">
            <a:off x="1493215" y="4041648"/>
            <a:ext cx="0" cy="301752"/>
          </a:xfrm>
          <a:prstGeom prst="line">
            <a:avLst/>
          </a:prstGeom>
          <a:noFill/>
          <a:ln w="31750">
            <a:solidFill>
              <a:srgbClr val="3D5A80"/>
            </a:solidFill>
            <a:prstDash val="solid"/>
            <a:tailEnd type="triangle"/>
          </a:ln>
        </p:spPr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떡잎, 본잎, 꼬투리</a:t>
            </a:r>
            <a:endParaRPr lang="ko-KR" sz="4000" dirty="0"/>
          </a:p>
        </p:txBody>
      </p:sp>
      <p:sp>
        <p:nvSpPr>
          <p:cNvPr id="3" name="S08-card53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4" name="S08-cardtext54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본잎이 자라면 떡잎은 점점 시들어요.</a:t>
            </a:r>
            <a:endParaRPr lang="ko-KR" sz="3000" dirty="0"/>
          </a:p>
        </p:txBody>
      </p:sp>
      <p:sp>
        <p:nvSpPr>
          <p:cNvPr id="5" name="S08-card55"/>
          <p:cNvSpPr/>
          <p:nvPr/>
        </p:nvSpPr>
        <p:spPr>
          <a:xfrm>
            <a:off x="548640" y="2125980"/>
            <a:ext cx="3544824" cy="2194560"/>
          </a:xfrm>
          <a:prstGeom prst="roundRect">
            <a:avLst>
              <a:gd name="adj" fmla="val 5000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6" name="S08-cardtext56"/>
          <p:cNvSpPr txBox="1"/>
          <p:nvPr/>
        </p:nvSpPr>
        <p:spPr>
          <a:xfrm>
            <a:off x="822960" y="2263140"/>
            <a:ext cx="2996184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떡잎</a:t>
            </a:r>
            <a:endParaRPr lang="ko-KR" sz="30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4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씨 속에 들어 있던 첫 잎이에요. 두 장이 나와요.</a:t>
            </a:r>
            <a:endParaRPr lang="ko-KR" sz="3000" dirty="0"/>
          </a:p>
        </p:txBody>
      </p:sp>
      <p:sp>
        <p:nvSpPr>
          <p:cNvPr id="7" name="S08-card57"/>
          <p:cNvSpPr/>
          <p:nvPr/>
        </p:nvSpPr>
        <p:spPr>
          <a:xfrm>
            <a:off x="4322064" y="2125980"/>
            <a:ext cx="3544824" cy="2194560"/>
          </a:xfrm>
          <a:prstGeom prst="roundRect">
            <a:avLst>
              <a:gd name="adj" fmla="val 5000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8" name="S08-cardtext58"/>
          <p:cNvSpPr txBox="1"/>
          <p:nvPr/>
        </p:nvSpPr>
        <p:spPr>
          <a:xfrm>
            <a:off x="4596384" y="2263140"/>
            <a:ext cx="2996184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본잎</a:t>
            </a:r>
            <a:endParaRPr lang="ko-KR" sz="30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4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떡잎 다음에 나오는 잎이에요.</a:t>
            </a:r>
            <a:endParaRPr lang="ko-KR" sz="3000" dirty="0"/>
          </a:p>
        </p:txBody>
      </p:sp>
      <p:sp>
        <p:nvSpPr>
          <p:cNvPr id="9" name="S08-card59"/>
          <p:cNvSpPr/>
          <p:nvPr/>
        </p:nvSpPr>
        <p:spPr>
          <a:xfrm>
            <a:off x="8095488" y="2125980"/>
            <a:ext cx="3544824" cy="2194560"/>
          </a:xfrm>
          <a:prstGeom prst="roundRect">
            <a:avLst>
              <a:gd name="adj" fmla="val 5000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10" name="S08-cardtext60"/>
          <p:cNvSpPr txBox="1"/>
          <p:nvPr/>
        </p:nvSpPr>
        <p:spPr>
          <a:xfrm>
            <a:off x="8369808" y="2263140"/>
            <a:ext cx="2996184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꼬투리</a:t>
            </a:r>
            <a:endParaRPr lang="ko-KR" sz="30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4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강낭콩의 열매예요. 속에 씨가 여러 개 있어요.</a:t>
            </a:r>
            <a:endParaRPr lang="ko-KR" sz="3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어느 단계일까요?</a:t>
            </a:r>
            <a:endParaRPr lang="ko-KR" sz="4000" dirty="0"/>
          </a:p>
        </p:txBody>
      </p:sp>
      <p:sp>
        <p:nvSpPr>
          <p:cNvPr id="3" name="S09-text61"/>
          <p:cNvSpPr txBox="1"/>
          <p:nvPr/>
        </p:nvSpPr>
        <p:spPr>
          <a:xfrm>
            <a:off x="548640" y="132588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설명에 알맞은 단계를 말해요.</a:t>
            </a:r>
            <a:endParaRPr lang="ko-KR" sz="3000" dirty="0"/>
          </a:p>
        </p:txBody>
      </p:sp>
      <p:sp>
        <p:nvSpPr>
          <p:cNvPr id="4" name="S09-card62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E6ECF4"/>
          </a:solidFill>
          <a:ln w="12700">
            <a:solidFill>
              <a:srgbClr val="E6ECF4"/>
            </a:solidFill>
            <a:prstDash val="solid"/>
          </a:ln>
        </p:spPr>
      </p:sp>
      <p:sp>
        <p:nvSpPr>
          <p:cNvPr id="5" name="S09-cardtext63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한살이 흐름을 떠올려요.</a:t>
            </a:r>
            <a:endParaRPr lang="ko-KR" sz="3000" dirty="0"/>
          </a:p>
        </p:txBody>
      </p:sp>
      <p:sp>
        <p:nvSpPr>
          <p:cNvPr id="6" name="S09-chip64"/>
          <p:cNvSpPr txBox="1"/>
          <p:nvPr/>
        </p:nvSpPr>
        <p:spPr>
          <a:xfrm>
            <a:off x="548640" y="245973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</a:t>
            </a:r>
            <a:endParaRPr lang="ko-KR" sz="2400" dirty="0"/>
          </a:p>
        </p:txBody>
      </p:sp>
      <p:sp>
        <p:nvSpPr>
          <p:cNvPr id="7" name="S09-text65"/>
          <p:cNvSpPr txBox="1"/>
          <p:nvPr/>
        </p:nvSpPr>
        <p:spPr>
          <a:xfrm>
            <a:off x="1344168" y="2011680"/>
            <a:ext cx="456742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흙 위로 떡잎 두 장이 나왔어요.</a:t>
            </a:r>
            <a:endParaRPr lang="ko-KR" sz="3000" dirty="0"/>
          </a:p>
        </p:txBody>
      </p:sp>
      <p:sp>
        <p:nvSpPr>
          <p:cNvPr id="8" name="S09-chip66"/>
          <p:cNvSpPr txBox="1"/>
          <p:nvPr/>
        </p:nvSpPr>
        <p:spPr>
          <a:xfrm>
            <a:off x="6277356" y="245973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</a:t>
            </a:r>
            <a:endParaRPr lang="ko-KR" sz="2400" dirty="0"/>
          </a:p>
        </p:txBody>
      </p:sp>
      <p:sp>
        <p:nvSpPr>
          <p:cNvPr id="9" name="S09-text67"/>
          <p:cNvSpPr txBox="1"/>
          <p:nvPr/>
        </p:nvSpPr>
        <p:spPr>
          <a:xfrm>
            <a:off x="7072884" y="2011680"/>
            <a:ext cx="456742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줄기가 길어지고 잎이 많아졌어요.</a:t>
            </a:r>
            <a:endParaRPr lang="ko-KR" sz="3000" dirty="0"/>
          </a:p>
        </p:txBody>
      </p:sp>
      <p:sp>
        <p:nvSpPr>
          <p:cNvPr id="10" name="S09-chip68"/>
          <p:cNvSpPr txBox="1"/>
          <p:nvPr/>
        </p:nvSpPr>
        <p:spPr>
          <a:xfrm>
            <a:off x="548640" y="410565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</a:t>
            </a:r>
            <a:endParaRPr lang="ko-KR" sz="2400" dirty="0"/>
          </a:p>
        </p:txBody>
      </p:sp>
      <p:sp>
        <p:nvSpPr>
          <p:cNvPr id="11" name="S09-text69"/>
          <p:cNvSpPr txBox="1"/>
          <p:nvPr/>
        </p:nvSpPr>
        <p:spPr>
          <a:xfrm>
            <a:off x="1344168" y="3657600"/>
            <a:ext cx="456742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꽃이 진 자리에 꼬투리가 생겼어요.</a:t>
            </a:r>
            <a:endParaRPr lang="ko-KR" sz="3000" dirty="0"/>
          </a:p>
        </p:txBody>
      </p:sp>
      <p:sp>
        <p:nvSpPr>
          <p:cNvPr id="12" name="S09-chip70"/>
          <p:cNvSpPr txBox="1"/>
          <p:nvPr/>
        </p:nvSpPr>
        <p:spPr>
          <a:xfrm>
            <a:off x="6277356" y="410565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④</a:t>
            </a:r>
            <a:endParaRPr lang="ko-KR" sz="2400" dirty="0"/>
          </a:p>
        </p:txBody>
      </p:sp>
      <p:sp>
        <p:nvSpPr>
          <p:cNvPr id="13" name="S09-text71"/>
          <p:cNvSpPr txBox="1"/>
          <p:nvPr/>
        </p:nvSpPr>
        <p:spPr>
          <a:xfrm>
            <a:off x="7072884" y="3657600"/>
            <a:ext cx="456742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마른 꼬투리에서 꺼낸 씨를 심어요.</a:t>
            </a:r>
            <a:endParaRPr lang="ko-KR" sz="3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기록을 읽어요</a:t>
            </a:r>
            <a:endParaRPr lang="ko-KR" sz="4000" dirty="0"/>
          </a:p>
        </p:txBody>
      </p:sp>
      <p:sp>
        <p:nvSpPr>
          <p:cNvPr id="3" name="S10-text72"/>
          <p:cNvSpPr txBox="1"/>
          <p:nvPr/>
        </p:nvSpPr>
        <p:spPr>
          <a:xfrm>
            <a:off x="548640" y="132588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몇 cm 자랐는지 뺄셈으로 구해요.</a:t>
            </a:r>
            <a:endParaRPr lang="ko-KR" sz="3000" dirty="0"/>
          </a:p>
        </p:txBody>
      </p:sp>
      <p:sp>
        <p:nvSpPr>
          <p:cNvPr id="4" name="S10-card73"/>
          <p:cNvSpPr/>
          <p:nvPr/>
        </p:nvSpPr>
        <p:spPr>
          <a:xfrm>
            <a:off x="6277356" y="2011680"/>
            <a:ext cx="5362956" cy="4206240"/>
          </a:xfrm>
          <a:prstGeom prst="roundRect">
            <a:avLst>
              <a:gd name="adj" fmla="val 2609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5" name="S10-cardtext74"/>
          <p:cNvSpPr txBox="1"/>
          <p:nvPr/>
        </p:nvSpPr>
        <p:spPr>
          <a:xfrm>
            <a:off x="6551676" y="2148840"/>
            <a:ext cx="4814316" cy="3931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친구의 기록(예시)</a:t>
            </a:r>
            <a:endParaRPr lang="ko-KR" sz="3000" dirty="0"/>
          </a:p>
        </p:txBody>
      </p:sp>
      <p:graphicFrame>
        <p:nvGraphicFramePr>
          <p:cNvPr id="11" name="S10-table7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947154" y="3263900"/>
          <a:ext cx="4023360" cy="914400"/>
        </p:xfrm>
        <a:graphic>
          <a:graphicData uri="http://schemas.openxmlformats.org/drawingml/2006/table">
            <a:tbl>
              <a:tblPr/>
              <a:tblGrid>
                <a:gridCol w="2011680"/>
                <a:gridCol w="2011680"/>
              </a:tblGrid>
              <a:tr h="551180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800" b="1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날짜</a:t>
                      </a:r>
                      <a:endParaRPr lang="en-US" sz="2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800" b="1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키</a:t>
                      </a:r>
                      <a:endParaRPr lang="en-US" sz="2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</a:tr>
              <a:tr h="551180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8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1주 뒤</a:t>
                      </a:r>
                      <a:endParaRPr lang="en-US" sz="2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8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3 cm</a:t>
                      </a:r>
                      <a:endParaRPr lang="en-US" sz="2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51180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8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2주 뒤</a:t>
                      </a:r>
                      <a:endParaRPr lang="en-US" sz="2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8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8 cm</a:t>
                      </a:r>
                      <a:endParaRPr lang="en-US" sz="2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51180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8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3주 뒤</a:t>
                      </a:r>
                      <a:endParaRPr lang="en-US" sz="2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8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13 cm</a:t>
                      </a:r>
                      <a:endParaRPr lang="en-US" sz="2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S10-chip76"/>
          <p:cNvSpPr txBox="1"/>
          <p:nvPr/>
        </p:nvSpPr>
        <p:spPr>
          <a:xfrm>
            <a:off x="548640" y="236829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</a:t>
            </a:r>
            <a:endParaRPr lang="ko-KR" sz="2400" dirty="0"/>
          </a:p>
        </p:txBody>
      </p:sp>
      <p:sp>
        <p:nvSpPr>
          <p:cNvPr id="8" name="S10-text77"/>
          <p:cNvSpPr txBox="1"/>
          <p:nvPr/>
        </p:nvSpPr>
        <p:spPr>
          <a:xfrm>
            <a:off x="1344168" y="2011680"/>
            <a:ext cx="4567428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1주 뒤부터 2주 뒤까지</a:t>
            </a:r>
            <a:endParaRPr lang="ko-KR" sz="3000" dirty="0"/>
          </a:p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자란 키는?</a:t>
            </a:r>
            <a:endParaRPr lang="ko-KR" sz="3000" dirty="0"/>
          </a:p>
        </p:txBody>
      </p:sp>
      <p:sp>
        <p:nvSpPr>
          <p:cNvPr id="9" name="S10-chip78"/>
          <p:cNvSpPr txBox="1"/>
          <p:nvPr/>
        </p:nvSpPr>
        <p:spPr>
          <a:xfrm>
            <a:off x="548640" y="383133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</a:t>
            </a:r>
            <a:endParaRPr lang="ko-KR" sz="2400" dirty="0"/>
          </a:p>
        </p:txBody>
      </p:sp>
      <p:sp>
        <p:nvSpPr>
          <p:cNvPr id="10" name="S10-text79"/>
          <p:cNvSpPr txBox="1"/>
          <p:nvPr/>
        </p:nvSpPr>
        <p:spPr>
          <a:xfrm>
            <a:off x="1344168" y="3474720"/>
            <a:ext cx="4567428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2주 뒤부터 3주 뒤까지</a:t>
            </a:r>
            <a:endParaRPr lang="ko-KR" sz="3000" dirty="0"/>
          </a:p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자란 키는?</a:t>
            </a:r>
            <a:endParaRPr lang="ko-KR" sz="3000" dirty="0"/>
          </a:p>
        </p:txBody>
      </p:sp>
      <p:sp>
        <p:nvSpPr>
          <p:cNvPr id="11" name="S10-chip80"/>
          <p:cNvSpPr txBox="1"/>
          <p:nvPr/>
        </p:nvSpPr>
        <p:spPr>
          <a:xfrm>
            <a:off x="548640" y="529437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</a:t>
            </a:r>
            <a:endParaRPr lang="ko-KR" sz="2400" dirty="0"/>
          </a:p>
        </p:txBody>
      </p:sp>
      <p:sp>
        <p:nvSpPr>
          <p:cNvPr id="12" name="S10-text81"/>
          <p:cNvSpPr txBox="1"/>
          <p:nvPr/>
        </p:nvSpPr>
        <p:spPr>
          <a:xfrm>
            <a:off x="1344168" y="4937760"/>
            <a:ext cx="4567428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3주 뒤의 키는 1주 뒤보다</a:t>
            </a:r>
            <a:endParaRPr lang="ko-KR" sz="3000" dirty="0"/>
          </a:p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얼마나 더 클까요?</a:t>
            </a:r>
            <a:endParaRPr lang="ko-KR" sz="3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키는 어디부터 잴까요?</a:t>
            </a:r>
            <a:endParaRPr lang="ko-KR" sz="4000" dirty="0"/>
          </a:p>
        </p:txBody>
      </p:sp>
      <p:sp>
        <p:nvSpPr>
          <p:cNvPr id="3" name="S11-card82"/>
          <p:cNvSpPr/>
          <p:nvPr/>
        </p:nvSpPr>
        <p:spPr>
          <a:xfrm>
            <a:off x="548640" y="132588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4" name="S11-cardtext83"/>
          <p:cNvSpPr txBox="1"/>
          <p:nvPr/>
        </p:nvSpPr>
        <p:spPr>
          <a:xfrm>
            <a:off x="822960" y="146304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두 친구가 같은 강낭콩의 키를 쟀어요.</a:t>
            </a:r>
            <a:endParaRPr lang="ko-KR" sz="3000" dirty="0"/>
          </a:p>
        </p:txBody>
      </p:sp>
      <p:sp>
        <p:nvSpPr>
          <p:cNvPr id="5" name="S11-card84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6" name="S11-cardtext85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누가 강낭콩의 키를 바르게 쟀을까요? 왜 그럴까요?</a:t>
            </a:r>
            <a:endParaRPr lang="ko-KR" sz="3000" dirty="0"/>
          </a:p>
        </p:txBody>
      </p:sp>
      <p:sp>
        <p:nvSpPr>
          <p:cNvPr id="7" name="S11-chip86"/>
          <p:cNvSpPr txBox="1"/>
          <p:nvPr/>
        </p:nvSpPr>
        <p:spPr>
          <a:xfrm>
            <a:off x="548640" y="2423160"/>
            <a:ext cx="5362956" cy="566928"/>
          </a:xfrm>
          <a:prstGeom prst="roundRect">
            <a:avLst>
              <a:gd name="adj" fmla="val 25806"/>
            </a:avLst>
          </a:prstGeom>
          <a:solidFill>
            <a:srgbClr val="E6ECF4"/>
          </a:solidFill>
          <a:ln>
            <a:solidFill>
              <a:srgbClr val="E6ECF4"/>
            </a:solidFill>
          </a:ln>
        </p:spPr>
        <p:txBody>
          <a:bodyPr wrap="square" lIns="177800" tIns="0" rIns="177800" bIns="0" rtlCol="0" anchor="ctr"/>
          <a:lstStyle/>
          <a:p>
            <a:pPr eaLnBrk="0" algn="l" indent="0" marL="0">
              <a:buNone/>
            </a:pPr>
            <a:r>
              <a:rPr lang="ko-KR" altLang="en-US" sz="2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가</a:t>
            </a:r>
            <a:endParaRPr lang="ko-KR" sz="2400" dirty="0"/>
          </a:p>
        </p:txBody>
      </p:sp>
      <p:sp>
        <p:nvSpPr>
          <p:cNvPr id="8" name="S11-text87"/>
          <p:cNvSpPr txBox="1"/>
          <p:nvPr/>
        </p:nvSpPr>
        <p:spPr>
          <a:xfrm>
            <a:off x="548640" y="3154680"/>
            <a:ext cx="5362956" cy="1965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화분 바닥부터 줄기 끝까지 쟀어요.</a:t>
            </a:r>
            <a:endParaRPr lang="ko-KR" sz="3000" dirty="0"/>
          </a:p>
        </p:txBody>
      </p:sp>
      <p:sp>
        <p:nvSpPr>
          <p:cNvPr id="9" name="S11-chip88"/>
          <p:cNvSpPr txBox="1"/>
          <p:nvPr/>
        </p:nvSpPr>
        <p:spPr>
          <a:xfrm>
            <a:off x="6277356" y="2423160"/>
            <a:ext cx="5362956" cy="566928"/>
          </a:xfrm>
          <a:prstGeom prst="roundRect">
            <a:avLst>
              <a:gd name="adj" fmla="val 25806"/>
            </a:avLst>
          </a:prstGeom>
          <a:solidFill>
            <a:srgbClr val="E6ECF4"/>
          </a:solidFill>
          <a:ln>
            <a:solidFill>
              <a:srgbClr val="E6ECF4"/>
            </a:solidFill>
          </a:ln>
        </p:spPr>
        <p:txBody>
          <a:bodyPr wrap="square" lIns="177800" tIns="0" rIns="177800" bIns="0" rtlCol="0" anchor="ctr"/>
          <a:lstStyle/>
          <a:p>
            <a:pPr eaLnBrk="0" algn="l" indent="0" marL="0">
              <a:buNone/>
            </a:pPr>
            <a:r>
              <a:rPr lang="ko-KR" altLang="en-US" sz="2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나</a:t>
            </a:r>
            <a:endParaRPr lang="ko-KR" sz="2400" dirty="0"/>
          </a:p>
        </p:txBody>
      </p:sp>
      <p:sp>
        <p:nvSpPr>
          <p:cNvPr id="10" name="S11-text89"/>
          <p:cNvSpPr txBox="1"/>
          <p:nvPr/>
        </p:nvSpPr>
        <p:spPr>
          <a:xfrm>
            <a:off x="6277356" y="3154680"/>
            <a:ext cx="5362956" cy="1965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흙 표면부터 줄기 끝까지 쟀어요.</a:t>
            </a:r>
            <a:endParaRPr lang="ko-KR" sz="3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혼자 해 보기</a:t>
            </a:r>
            <a:endParaRPr lang="ko-KR" sz="4000" dirty="0"/>
          </a:p>
        </p:txBody>
      </p:sp>
      <p:sp>
        <p:nvSpPr>
          <p:cNvPr id="3" name="S12-text90"/>
          <p:cNvSpPr txBox="1"/>
          <p:nvPr/>
        </p:nvSpPr>
        <p:spPr>
          <a:xfrm>
            <a:off x="548640" y="132588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씨 · 꽃 피기 · 싹 트기 · 열매 맺기 · 잎과 줄기 자라기</a:t>
            </a:r>
            <a:endParaRPr lang="ko-KR" sz="3000" dirty="0"/>
          </a:p>
        </p:txBody>
      </p:sp>
      <p:sp>
        <p:nvSpPr>
          <p:cNvPr id="4" name="S12-card91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E6ECF4"/>
          </a:solidFill>
          <a:ln w="12700">
            <a:solidFill>
              <a:srgbClr val="E6ECF4"/>
            </a:solidFill>
            <a:prstDash val="solid"/>
          </a:ln>
        </p:spPr>
      </p:sp>
      <p:sp>
        <p:nvSpPr>
          <p:cNvPr id="5" name="S12-cardtext92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그렇게 생각한 까닭도 말해요.</a:t>
            </a:r>
            <a:endParaRPr lang="ko-KR" sz="3000" dirty="0"/>
          </a:p>
        </p:txBody>
      </p:sp>
      <p:sp>
        <p:nvSpPr>
          <p:cNvPr id="6" name="S12-chip93"/>
          <p:cNvSpPr txBox="1"/>
          <p:nvPr/>
        </p:nvSpPr>
        <p:spPr>
          <a:xfrm>
            <a:off x="548640" y="218541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</a:t>
            </a:r>
            <a:endParaRPr lang="ko-KR" sz="2400" dirty="0"/>
          </a:p>
        </p:txBody>
      </p:sp>
      <p:sp>
        <p:nvSpPr>
          <p:cNvPr id="7" name="S12-text94"/>
          <p:cNvSpPr txBox="1"/>
          <p:nvPr/>
        </p:nvSpPr>
        <p:spPr>
          <a:xfrm>
            <a:off x="1344168" y="2011680"/>
            <a:ext cx="1029614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강낭콩의 한살이를 차례대로 말해요.</a:t>
            </a:r>
            <a:endParaRPr lang="ko-KR" sz="3000" dirty="0"/>
          </a:p>
        </p:txBody>
      </p:sp>
      <p:sp>
        <p:nvSpPr>
          <p:cNvPr id="8" name="S12-chip95"/>
          <p:cNvSpPr txBox="1"/>
          <p:nvPr/>
        </p:nvSpPr>
        <p:spPr>
          <a:xfrm>
            <a:off x="548640" y="328269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</a:t>
            </a:r>
            <a:endParaRPr lang="ko-KR" sz="2400" dirty="0"/>
          </a:p>
        </p:txBody>
      </p:sp>
      <p:sp>
        <p:nvSpPr>
          <p:cNvPr id="9" name="S12-text96"/>
          <p:cNvSpPr txBox="1"/>
          <p:nvPr/>
        </p:nvSpPr>
        <p:spPr>
          <a:xfrm>
            <a:off x="1344168" y="3108960"/>
            <a:ext cx="1029614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꼬투리 속 씨를 심으면 어떻게 될까요?</a:t>
            </a:r>
            <a:endParaRPr lang="ko-KR" sz="3000" dirty="0"/>
          </a:p>
        </p:txBody>
      </p:sp>
      <p:sp>
        <p:nvSpPr>
          <p:cNvPr id="10" name="S12-chip97"/>
          <p:cNvSpPr txBox="1"/>
          <p:nvPr/>
        </p:nvSpPr>
        <p:spPr>
          <a:xfrm>
            <a:off x="548640" y="437997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</a:t>
            </a:r>
            <a:endParaRPr lang="ko-KR" sz="2400" dirty="0"/>
          </a:p>
        </p:txBody>
      </p:sp>
      <p:sp>
        <p:nvSpPr>
          <p:cNvPr id="11" name="S12-text98"/>
          <p:cNvSpPr txBox="1"/>
          <p:nvPr/>
        </p:nvSpPr>
        <p:spPr>
          <a:xfrm>
            <a:off x="1344168" y="4206240"/>
            <a:ext cx="1029614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2주 뒤 7 cm, 3주 뒤 12 cm였어요. 1주 동안 몇 cm 자랐나요?</a:t>
            </a:r>
            <a:endParaRPr lang="ko-KR" sz="3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혼자 해 보기 정답</a:t>
            </a:r>
            <a:endParaRPr lang="ko-KR" sz="4000" dirty="0"/>
          </a:p>
        </p:txBody>
      </p:sp>
      <p:sp>
        <p:nvSpPr>
          <p:cNvPr id="3" name="S13-card99"/>
          <p:cNvSpPr/>
          <p:nvPr/>
        </p:nvSpPr>
        <p:spPr>
          <a:xfrm>
            <a:off x="548640" y="4959096"/>
            <a:ext cx="11091672" cy="1258824"/>
          </a:xfrm>
          <a:prstGeom prst="roundRect">
            <a:avLst>
              <a:gd name="adj" fmla="val 8717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4" name="S13-cardtext100"/>
          <p:cNvSpPr txBox="1"/>
          <p:nvPr/>
        </p:nvSpPr>
        <p:spPr>
          <a:xfrm>
            <a:off x="822960" y="5096256"/>
            <a:ext cx="10543032" cy="984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①은 씨 → 싹 트기 → 잎과 줄기 자라기 → 꽃 피기 → 열매 맺기예요.</a:t>
            </a:r>
            <a:endParaRPr lang="ko-KR" sz="3000" dirty="0"/>
          </a:p>
        </p:txBody>
      </p:sp>
      <p:sp>
        <p:nvSpPr>
          <p:cNvPr id="5" name="S13-chip101"/>
          <p:cNvSpPr txBox="1"/>
          <p:nvPr/>
        </p:nvSpPr>
        <p:spPr>
          <a:xfrm>
            <a:off x="548640" y="1325880"/>
            <a:ext cx="5362956" cy="548640"/>
          </a:xfrm>
          <a:prstGeom prst="roundRect">
            <a:avLst>
              <a:gd name="adj" fmla="val 26667"/>
            </a:avLst>
          </a:prstGeom>
          <a:solidFill>
            <a:srgbClr val="E3F4F1"/>
          </a:solidFill>
          <a:ln>
            <a:solidFill>
              <a:srgbClr val="E3F4F1"/>
            </a:solidFill>
          </a:ln>
        </p:spPr>
        <p:txBody>
          <a:bodyPr wrap="square" lIns="177800" tIns="0" rIns="177800" bIns="0" rtlCol="0" anchor="ctr"/>
          <a:lstStyle/>
          <a:p>
            <a:pPr eaLnBrk="0" algn="l" indent="0" marL="0">
              <a:buNone/>
            </a:pPr>
            <a:r>
              <a:rPr lang="ko-KR" altLang="en-US" sz="2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○ 정답</a:t>
            </a:r>
            <a:endParaRPr lang="ko-KR" sz="2400" dirty="0"/>
          </a:p>
        </p:txBody>
      </p:sp>
      <p:sp>
        <p:nvSpPr>
          <p:cNvPr id="6" name="S13-text102"/>
          <p:cNvSpPr txBox="1"/>
          <p:nvPr/>
        </p:nvSpPr>
        <p:spPr>
          <a:xfrm>
            <a:off x="548640" y="2057400"/>
            <a:ext cx="2681478" cy="799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 다섯 단계</a:t>
            </a:r>
            <a:endParaRPr lang="ko-KR" sz="3000" dirty="0"/>
          </a:p>
        </p:txBody>
      </p:sp>
      <p:sp>
        <p:nvSpPr>
          <p:cNvPr id="7" name="S13-text103"/>
          <p:cNvSpPr txBox="1"/>
          <p:nvPr/>
        </p:nvSpPr>
        <p:spPr>
          <a:xfrm>
            <a:off x="3367278" y="2057400"/>
            <a:ext cx="2544318" cy="799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4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씨부터 열매 맺기까지</a:t>
            </a:r>
            <a:endParaRPr lang="ko-KR" sz="2400" dirty="0"/>
          </a:p>
        </p:txBody>
      </p:sp>
      <p:sp>
        <p:nvSpPr>
          <p:cNvPr id="8" name="S13-text104"/>
          <p:cNvSpPr txBox="1"/>
          <p:nvPr/>
        </p:nvSpPr>
        <p:spPr>
          <a:xfrm>
            <a:off x="548640" y="2994152"/>
            <a:ext cx="2681478" cy="799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4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 다시 싹이 터요</a:t>
            </a:r>
            <a:endParaRPr lang="ko-KR" sz="2400" dirty="0"/>
          </a:p>
        </p:txBody>
      </p:sp>
      <p:sp>
        <p:nvSpPr>
          <p:cNvPr id="9" name="S13-text105"/>
          <p:cNvSpPr txBox="1"/>
          <p:nvPr/>
        </p:nvSpPr>
        <p:spPr>
          <a:xfrm>
            <a:off x="3367278" y="2994152"/>
            <a:ext cx="2544318" cy="799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4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한살이가 이어져요</a:t>
            </a:r>
            <a:endParaRPr lang="ko-KR" sz="2400" dirty="0"/>
          </a:p>
        </p:txBody>
      </p:sp>
      <p:sp>
        <p:nvSpPr>
          <p:cNvPr id="10" name="S13-text106"/>
          <p:cNvSpPr txBox="1"/>
          <p:nvPr/>
        </p:nvSpPr>
        <p:spPr>
          <a:xfrm>
            <a:off x="548640" y="3930904"/>
            <a:ext cx="2681478" cy="799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en-US" altLang="ko-KR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 5 cm</a:t>
            </a:r>
            <a:endParaRPr lang="ko-KR" sz="3000" dirty="0"/>
          </a:p>
        </p:txBody>
      </p:sp>
      <p:sp>
        <p:nvSpPr>
          <p:cNvPr id="11" name="S13-text107"/>
          <p:cNvSpPr txBox="1"/>
          <p:nvPr/>
        </p:nvSpPr>
        <p:spPr>
          <a:xfrm>
            <a:off x="3367278" y="3930904"/>
            <a:ext cx="2544318" cy="799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4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12 − 7 = 5</a:t>
            </a:r>
            <a:endParaRPr lang="ko-KR" sz="2400" dirty="0"/>
          </a:p>
        </p:txBody>
      </p:sp>
      <p:sp>
        <p:nvSpPr>
          <p:cNvPr id="12" name="S13-chip108"/>
          <p:cNvSpPr txBox="1"/>
          <p:nvPr/>
        </p:nvSpPr>
        <p:spPr>
          <a:xfrm>
            <a:off x="6277356" y="1325880"/>
            <a:ext cx="5362956" cy="548640"/>
          </a:xfrm>
          <a:prstGeom prst="roundRect">
            <a:avLst>
              <a:gd name="adj" fmla="val 26667"/>
            </a:avLst>
          </a:prstGeom>
          <a:solidFill>
            <a:srgbClr val="FBE6E7"/>
          </a:solidFill>
          <a:ln>
            <a:solidFill>
              <a:srgbClr val="FBE6E7"/>
            </a:solidFill>
          </a:ln>
        </p:spPr>
        <p:txBody>
          <a:bodyPr wrap="square" lIns="177800" tIns="0" rIns="177800" bIns="0" rtlCol="0" anchor="ctr"/>
          <a:lstStyle/>
          <a:p>
            <a:pPr eaLnBrk="0" algn="l" indent="0" marL="0">
              <a:buNone/>
            </a:pPr>
            <a:r>
              <a:rPr lang="ko-KR" altLang="en-US" sz="2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× 흔한 실수</a:t>
            </a:r>
            <a:endParaRPr lang="ko-KR" sz="2400" dirty="0"/>
          </a:p>
        </p:txBody>
      </p:sp>
      <p:sp>
        <p:nvSpPr>
          <p:cNvPr id="13" name="S13-text109"/>
          <p:cNvSpPr txBox="1"/>
          <p:nvPr/>
        </p:nvSpPr>
        <p:spPr>
          <a:xfrm>
            <a:off x="6277356" y="2057400"/>
            <a:ext cx="2681478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꽃 피기 → 싹 트기</a:t>
            </a:r>
            <a:endParaRPr lang="ko-KR" sz="3000" dirty="0"/>
          </a:p>
        </p:txBody>
      </p:sp>
      <p:sp>
        <p:nvSpPr>
          <p:cNvPr id="14" name="S13-text110"/>
          <p:cNvSpPr txBox="1"/>
          <p:nvPr/>
        </p:nvSpPr>
        <p:spPr>
          <a:xfrm>
            <a:off x="9095994" y="2057400"/>
            <a:ext cx="2544318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4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차례가 바뀜</a:t>
            </a:r>
            <a:endParaRPr lang="ko-KR" sz="2400" dirty="0"/>
          </a:p>
        </p:txBody>
      </p:sp>
      <p:sp>
        <p:nvSpPr>
          <p:cNvPr id="15" name="S13-text111"/>
          <p:cNvSpPr txBox="1"/>
          <p:nvPr/>
        </p:nvSpPr>
        <p:spPr>
          <a:xfrm>
            <a:off x="6277356" y="3429000"/>
            <a:ext cx="2681478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en-US" altLang="ko-KR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 12 cm</a:t>
            </a:r>
            <a:endParaRPr lang="ko-KR" sz="3000" dirty="0"/>
          </a:p>
        </p:txBody>
      </p:sp>
      <p:sp>
        <p:nvSpPr>
          <p:cNvPr id="16" name="S13-text112"/>
          <p:cNvSpPr txBox="1"/>
          <p:nvPr/>
        </p:nvSpPr>
        <p:spPr>
          <a:xfrm>
            <a:off x="9095994" y="3429000"/>
            <a:ext cx="2544318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4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3주 뒤의 키만 씀</a:t>
            </a:r>
            <a:endParaRPr lang="ko-KR" sz="2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오늘 배운 것</a:t>
            </a:r>
            <a:endParaRPr lang="ko-KR" sz="4000" dirty="0"/>
          </a:p>
        </p:txBody>
      </p:sp>
      <p:sp>
        <p:nvSpPr>
          <p:cNvPr id="3" name="S14-card113"/>
          <p:cNvSpPr/>
          <p:nvPr/>
        </p:nvSpPr>
        <p:spPr>
          <a:xfrm>
            <a:off x="548640" y="1325880"/>
            <a:ext cx="11091672" cy="1723644"/>
          </a:xfrm>
          <a:prstGeom prst="roundRect">
            <a:avLst>
              <a:gd name="adj" fmla="val 6366"/>
            </a:avLst>
          </a:prstGeom>
          <a:solidFill>
            <a:srgbClr val="32606F"/>
          </a:solidFill>
          <a:ln w="12700">
            <a:solidFill>
              <a:srgbClr val="32606F"/>
            </a:solidFill>
            <a:prstDash val="solid"/>
          </a:ln>
        </p:spPr>
      </p:sp>
      <p:sp>
        <p:nvSpPr>
          <p:cNvPr id="4" name="S14-cardtext114"/>
          <p:cNvSpPr txBox="1"/>
          <p:nvPr/>
        </p:nvSpPr>
        <p:spPr>
          <a:xfrm>
            <a:off x="822960" y="1463040"/>
            <a:ext cx="10543032" cy="14493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강낭콩은 씨 → 싹 트기 → 잎과 줄기 자라기 →</a:t>
            </a:r>
            <a:endParaRPr lang="ko-KR" sz="30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꽃 피기 → 열매 맺기로 자라요.</a:t>
            </a:r>
            <a:endParaRPr lang="ko-KR" sz="30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열매 속 씨를 심으면 한살이가 다시 시작돼요.</a:t>
            </a:r>
            <a:endParaRPr lang="ko-KR" sz="3000" dirty="0"/>
          </a:p>
        </p:txBody>
      </p:sp>
      <p:sp>
        <p:nvSpPr>
          <p:cNvPr id="5" name="S14-chip115"/>
          <p:cNvSpPr txBox="1"/>
          <p:nvPr/>
        </p:nvSpPr>
        <p:spPr>
          <a:xfrm>
            <a:off x="548640" y="3278124"/>
            <a:ext cx="5431536" cy="594360"/>
          </a:xfrm>
          <a:prstGeom prst="roundRect">
            <a:avLst>
              <a:gd name="adj" fmla="val 24615"/>
            </a:avLst>
          </a:prstGeom>
          <a:solidFill>
            <a:srgbClr val="2A9D8F"/>
          </a:solidFill>
          <a:ln>
            <a:solidFill>
              <a:srgbClr val="2A9D8F"/>
            </a:solidFill>
          </a:ln>
        </p:spPr>
        <p:txBody>
          <a:bodyPr wrap="square" lIns="177800" tIns="0" rIns="177800" bIns="0" rtlCol="0" anchor="ctr"/>
          <a:lstStyle/>
          <a:p>
            <a:pPr eaLnBrk="0" algn="l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○ 날짜와 키(cm)를 꼭 쓰기</a:t>
            </a:r>
            <a:endParaRPr lang="ko-KR" sz="2400" dirty="0"/>
          </a:p>
        </p:txBody>
      </p:sp>
      <p:sp>
        <p:nvSpPr>
          <p:cNvPr id="6" name="S14-chip116"/>
          <p:cNvSpPr txBox="1"/>
          <p:nvPr/>
        </p:nvSpPr>
        <p:spPr>
          <a:xfrm>
            <a:off x="6208776" y="3278124"/>
            <a:ext cx="5431536" cy="594360"/>
          </a:xfrm>
          <a:prstGeom prst="roundRect">
            <a:avLst>
              <a:gd name="adj" fmla="val 24615"/>
            </a:avLst>
          </a:prstGeom>
          <a:solidFill>
            <a:srgbClr val="C8434E"/>
          </a:solidFill>
          <a:ln>
            <a:solidFill>
              <a:srgbClr val="C8434E"/>
            </a:solidFill>
          </a:ln>
        </p:spPr>
        <p:txBody>
          <a:bodyPr wrap="square" lIns="177800" tIns="0" rIns="177800" bIns="0" rtlCol="0" anchor="ctr"/>
          <a:lstStyle/>
          <a:p>
            <a:pPr eaLnBrk="0" algn="l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× 화분 바닥부터 키 재기</a:t>
            </a:r>
            <a:endParaRPr lang="ko-KR" sz="2400" dirty="0"/>
          </a:p>
        </p:txBody>
      </p:sp>
      <p:sp>
        <p:nvSpPr>
          <p:cNvPr id="7" name="S14-text117"/>
          <p:cNvSpPr txBox="1"/>
          <p:nvPr/>
        </p:nvSpPr>
        <p:spPr>
          <a:xfrm>
            <a:off x="548640" y="4101084"/>
            <a:ext cx="110916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다음 수업을 시작할 때 다시 풀어요</a:t>
            </a:r>
            <a:endParaRPr lang="ko-KR" sz="2400" dirty="0"/>
          </a:p>
        </p:txBody>
      </p:sp>
      <p:sp>
        <p:nvSpPr>
          <p:cNvPr id="8" name="S14-text118"/>
          <p:cNvSpPr txBox="1"/>
          <p:nvPr/>
        </p:nvSpPr>
        <p:spPr>
          <a:xfrm>
            <a:off x="548640" y="4604004"/>
            <a:ext cx="3544824" cy="9738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4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 강낭콩 한살이의</a:t>
            </a:r>
            <a:endParaRPr lang="ko-KR" sz="2400" dirty="0"/>
          </a:p>
          <a:p>
            <a:pPr eaLnBrk="0" algn="l" indent="0" marL="0">
              <a:buNone/>
            </a:pPr>
            <a:r>
              <a:rPr lang="ko-KR" altLang="en-US" sz="24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차례는?</a:t>
            </a:r>
            <a:endParaRPr lang="ko-KR" sz="2400" dirty="0"/>
          </a:p>
        </p:txBody>
      </p:sp>
      <p:sp>
        <p:nvSpPr>
          <p:cNvPr id="9" name="S14-text119"/>
          <p:cNvSpPr txBox="1"/>
          <p:nvPr/>
        </p:nvSpPr>
        <p:spPr>
          <a:xfrm>
            <a:off x="4322064" y="4604004"/>
            <a:ext cx="3544824" cy="9738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4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 씨 속에 들어 있던</a:t>
            </a:r>
            <a:endParaRPr lang="ko-KR" sz="2400" dirty="0"/>
          </a:p>
          <a:p>
            <a:pPr eaLnBrk="0" algn="l" indent="0" marL="0">
              <a:buNone/>
            </a:pPr>
            <a:r>
              <a:rPr lang="ko-KR" altLang="en-US" sz="24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첫 잎의 이름은?</a:t>
            </a:r>
            <a:endParaRPr lang="ko-KR" sz="2400" dirty="0"/>
          </a:p>
        </p:txBody>
      </p:sp>
      <p:sp>
        <p:nvSpPr>
          <p:cNvPr id="10" name="S14-text120"/>
          <p:cNvSpPr txBox="1"/>
          <p:nvPr/>
        </p:nvSpPr>
        <p:spPr>
          <a:xfrm>
            <a:off x="8095488" y="4604004"/>
            <a:ext cx="3544824" cy="9738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4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 키는 어디부터</a:t>
            </a:r>
            <a:endParaRPr lang="ko-KR" sz="2400" dirty="0"/>
          </a:p>
          <a:p>
            <a:pPr eaLnBrk="0" algn="l" indent="0" marL="0">
              <a:buNone/>
            </a:pPr>
            <a:r>
              <a:rPr lang="ko-KR" altLang="en-US" sz="24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잴까요?</a:t>
            </a:r>
            <a:endParaRPr lang="ko-KR" sz="2400" dirty="0"/>
          </a:p>
        </p:txBody>
      </p:sp>
      <p:sp>
        <p:nvSpPr>
          <p:cNvPr id="11" name="S14-text121"/>
          <p:cNvSpPr txBox="1"/>
          <p:nvPr/>
        </p:nvSpPr>
        <p:spPr>
          <a:xfrm>
            <a:off x="548640" y="571500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400" dirty="0">
                <a:solidFill>
                  <a:srgbClr val="C9DC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다음 시간: 물체와 물질</a:t>
            </a:r>
            <a:endParaRPr lang="ko-KR" sz="2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C9DCD8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보충: 한살이 차례 놓기</a:t>
            </a:r>
            <a:endParaRPr lang="ko-KR" sz="4000" dirty="0"/>
          </a:p>
        </p:txBody>
      </p:sp>
      <p:sp>
        <p:nvSpPr>
          <p:cNvPr id="3" name="S15-text122"/>
          <p:cNvSpPr txBox="1"/>
          <p:nvPr/>
        </p:nvSpPr>
        <p:spPr>
          <a:xfrm>
            <a:off x="548640" y="132588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종이 쪽지로 배추흰나비의 한살이를 놓아요.</a:t>
            </a:r>
            <a:endParaRPr lang="ko-KR" sz="3000" dirty="0"/>
          </a:p>
        </p:txBody>
      </p:sp>
      <p:sp>
        <p:nvSpPr>
          <p:cNvPr id="4" name="S15-card123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5" name="S15-cardtext124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한살이는 끝에서 다시 처음으로 이어져요.</a:t>
            </a:r>
            <a:endParaRPr lang="ko-KR" sz="3000" dirty="0"/>
          </a:p>
        </p:txBody>
      </p:sp>
      <p:sp>
        <p:nvSpPr>
          <p:cNvPr id="6" name="S15-stepno125"/>
          <p:cNvSpPr txBox="1"/>
          <p:nvPr/>
        </p:nvSpPr>
        <p:spPr>
          <a:xfrm>
            <a:off x="548640" y="2578608"/>
            <a:ext cx="548640" cy="548640"/>
          </a:xfrm>
          <a:prstGeom prst="ellipse">
            <a:avLst/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</a:t>
            </a:r>
            <a:endParaRPr lang="ko-KR" sz="2400" dirty="0"/>
          </a:p>
        </p:txBody>
      </p:sp>
      <p:sp>
        <p:nvSpPr>
          <p:cNvPr id="7" name="S15-text126"/>
          <p:cNvSpPr txBox="1"/>
          <p:nvPr/>
        </p:nvSpPr>
        <p:spPr>
          <a:xfrm>
            <a:off x="1325880" y="2578608"/>
            <a:ext cx="1031443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쪽지 네 장에 알, 애벌레, 번데기, 어른벌레를 써요.</a:t>
            </a:r>
            <a:endParaRPr lang="ko-KR" sz="3000" dirty="0"/>
          </a:p>
        </p:txBody>
      </p:sp>
      <p:sp>
        <p:nvSpPr>
          <p:cNvPr id="8" name="S15-stepno127"/>
          <p:cNvSpPr txBox="1"/>
          <p:nvPr/>
        </p:nvSpPr>
        <p:spPr>
          <a:xfrm>
            <a:off x="548640" y="3291840"/>
            <a:ext cx="548640" cy="548640"/>
          </a:xfrm>
          <a:prstGeom prst="ellipse">
            <a:avLst/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ko-KR" sz="2400" dirty="0"/>
          </a:p>
        </p:txBody>
      </p:sp>
      <p:sp>
        <p:nvSpPr>
          <p:cNvPr id="9" name="S15-text128"/>
          <p:cNvSpPr txBox="1"/>
          <p:nvPr/>
        </p:nvSpPr>
        <p:spPr>
          <a:xfrm>
            <a:off x="1325880" y="3291840"/>
            <a:ext cx="1031443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섞은 뒤 차례대로 놓아요.</a:t>
            </a:r>
            <a:endParaRPr lang="ko-KR" sz="3000" dirty="0"/>
          </a:p>
        </p:txBody>
      </p:sp>
      <p:sp>
        <p:nvSpPr>
          <p:cNvPr id="10" name="S15-stepno129"/>
          <p:cNvSpPr txBox="1"/>
          <p:nvPr/>
        </p:nvSpPr>
        <p:spPr>
          <a:xfrm>
            <a:off x="548640" y="4005072"/>
            <a:ext cx="548640" cy="548640"/>
          </a:xfrm>
          <a:prstGeom prst="ellipse">
            <a:avLst/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</a:t>
            </a:r>
            <a:endParaRPr lang="ko-KR" sz="2400" dirty="0"/>
          </a:p>
        </p:txBody>
      </p:sp>
      <p:sp>
        <p:nvSpPr>
          <p:cNvPr id="11" name="S15-text130"/>
          <p:cNvSpPr txBox="1"/>
          <p:nvPr/>
        </p:nvSpPr>
        <p:spPr>
          <a:xfrm>
            <a:off x="1325880" y="4005072"/>
            <a:ext cx="1031443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어른벌레 쪽지에서 알 쪽지로 화살표를 그려요.</a:t>
            </a:r>
            <a:endParaRPr lang="ko-KR" sz="3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15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Education Classroom">
  <a:themeElements>
    <a:clrScheme name="Education Classroom">
      <a:dk1>
        <a:srgbClr val="1F2937"/>
      </a:dk1>
      <a:lt1>
        <a:srgbClr val="FFFFFF"/>
      </a:lt1>
      <a:dk2>
        <a:srgbClr val="264653"/>
      </a:dk2>
      <a:lt2>
        <a:srgbClr val="EAF3F1"/>
      </a:lt2>
      <a:accent1>
        <a:srgbClr val="E9762B"/>
      </a:accent1>
      <a:accent2>
        <a:srgbClr val="2A9D8F"/>
      </a:accent2>
      <a:accent3>
        <a:srgbClr val="C8434E"/>
      </a:accent3>
      <a:accent4>
        <a:srgbClr val="3D5A80"/>
      </a:accent4>
      <a:accent5>
        <a:srgbClr val="F2C14E"/>
      </a:accent5>
      <a:accent6>
        <a:srgbClr val="4B5563"/>
      </a:accent6>
      <a:hlink>
        <a:srgbClr val="3D5A80"/>
      </a:hlink>
      <a:folHlink>
        <a:srgbClr val="7A4E8A"/>
      </a:folHlink>
    </a:clrScheme>
    <a:fontScheme name="Education Classroom">
      <a:majorFont>
        <a:latin typeface="맑은 고딕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초3 과학 식물의 한살이</dc:title>
  <dc:subject>KR22-G03-SCI-PLANTLIFE-L01</dc:subject>
  <dc:creator>education-ppt</dc:creator>
  <cp:lastModifiedBy>education-ppt</cp:lastModifiedBy>
  <cp:revision>1</cp:revision>
  <dcterms:created xsi:type="dcterms:W3CDTF">2026-10-26T09:46:31Z</dcterms:created>
  <dcterms:modified xsi:type="dcterms:W3CDTF">2026-10-26T09:46:31Z</dcterms:modified>
</cp:coreProperties>
</file>