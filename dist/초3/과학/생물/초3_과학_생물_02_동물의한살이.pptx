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f47e712-039a-dde5-f098-58295159b71b}">
          <p14:sldIdLst>
            <p14:sldId id="256"/>
            <p14:sldId id="257"/>
          </p14:sldIdLst>
        </p14:section>
        <p14:section name="개념" id="{6d740031-20fe-97d9-6ae0-0a53e145c28a}">
          <p14:sldIdLst>
            <p14:sldId id="258"/>
            <p14:sldId id="259"/>
            <p14:sldId id="260"/>
            <p14:sldId id="261"/>
            <p14:sldId id="262"/>
            <p14:sldId id="264"/>
            <p14:sldId id="265"/>
          </p14:sldIdLst>
        </p14:section>
        <p14:section name="연습" id="{0c09af9d-5e54-fff7-0291-f57ac5ab8fe9}">
          <p14:sldIdLst>
            <p14:sldId id="263"/>
            <p14:sldId id="266"/>
          </p14:sldIdLst>
        </p14:section>
        <p14:section name="개념" id="{8509a4ac-7ad8-afab-21d1-65310842913e}">
          <p14:sldIdLst/>
        </p14:section>
        <p14:section name="연습" id="{b25f9432-d672-4c65-c591-9d58aa234b8c}">
          <p14:sldIdLst/>
        </p14:section>
        <p14:section name="확인" id="{b8b70f9e-5316-e385-9040-f4fa0b7ad0d0}">
          <p14:sldIdLst>
            <p14:sldId id="267"/>
            <p14:sldId id="268"/>
          </p14:sldIdLst>
        </p14:section>
        <p14:section name="정리" id="{375a7d16-caea-5caf-0443-823905f8b538}">
          <p14:sldIdLst>
            <p14:sldId id="269"/>
          </p14:sldIdLst>
        </p14:section>
        <p14:section name="보충" id="{aa372d69-d0d5-6078-97ea-cab7f9e113b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오늘의 질문을 던지고, 배추흰나비가 자라는 모습을 관찰하는 수업이라는 것을 알립니다.
시간: 약 2분
이렇게 말해 보세요
- “꽃밭에서 하얀 나비를 본 적 있지? 그 나비는 처음부터 날개가 있었을까?”
- “오늘은 나비가 알에서 어떻게 자라는지 영상으로 관찰하고, 잠자리와도 비교해 볼 거야.”
예상 답
- “애벌레가 나비가 돼요.” “처음부터 나비였어요.”
막히면
- 질문을 어려워하면 “나비는 처음에 어떤 모습이었을까?”라고 바꾸어 묻습니다.
주의
- 관찰할 영상을 미리 찾아 둡니다. 교과서 디지털 자료나 교육 방송 영상에서 ‘배추흰나비 한살이’, ‘잠자리 한살이’를 찾으면 됩니다. 영상은 아이와 함께 보고, 단계마다 멈추어 이야기합니다.
- 아이의 생각을 고치지 말고 들어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확인(동물의 생김새와 생활)]
목적: 앞 차시 ‘동물의 생김새와 생활’(KR22-G03-SCI-ANIMAL-L01)에서 배운 나비의 생김새와 분류를 확인합니다. 오늘 어른벌레의 생김새를 말할 때 씁니다.
시간: 약 3분
이렇게 말해 보세요
- “① 땅에서 사는 동물, 물에서 사는 동물, 그리고 또 무엇이 있었지?”
- “② 나비는 어떻게 생겼어? 다리, 날개, 머리에 있는 것을 떠올려 봐.”
- “③ 날개가 있는 동물을 두 가지 말해 볼래?”
정답
- ① 날아다니는 동물
- ② 날개가 있다, 더듬이가 있다, 다리가 6개다 중 하나
- ③ 참새, 나비, 까치, 잠자리 등
막히면
- ②가 어려우면 S15(보충)를 먼저 합니다. 보충으로도 어려우면 앞 차시 ‘동물의 생김새와 생활’(KR22-G03-SCI-ANIMAL-L01)의 S05와 S09를 다시 봅니다.
주의
- ③에서 나비를 ‘새’라고 하면 깃털과 부리가 없다는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한살이의 뜻]
목적: 교과서 용어 ‘한살이’의 뜻을 익숙한 닭의 예로 알려 줍니다(목표 A).
시간: 약 2분
이렇게 말해 보세요
- “달걀에서 병아리가 나오고, 병아리가 자라 큰 닭이 되지. 큰 닭은 다시 알을 낳아. 이렇게 돌고 도는 것을 ‘한살이’라고 해.”
- “아래 화살표가 다시 처음으로 돌아가는 까닭은 뭘까?”
예상 답
- “닭이 또 알을 낳으니까요.”
막히면
- 아이가 아기였을 때 사진을 함께 보며 ‘사람도 태어나서 자란다’는 것부터 이야기합니다.
주의
- 사람이나 개처럼 새끼를 낳는 동물도 한살이가 있습니다. 이 차시에서는 알을 낳는 곤충만 자세히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예상하기(배추흰나비 한살이)]
목적: 관찰하기 전에 배추흰나비가 자라는 모습을 예상하게 합니다(목표 A).
시간: 약 2분
이렇게 말해 보세요
- “알에서는 무엇이 나올 것 같아? 그건 무엇을 먹고 자랄까?”
- “애벌레는 그대로 커지기만 하면 나비가 될까? 활동지 1에 써 볼래?”
예상 답
- “애벌레가 나와요.” “잎을 먹어요.” “애벌레가 크면 바로 나비가 돼요.”(틀린 예상이어도 그대로 씁니다)
막히면
- 쓰기가 어려우면 아이가 말하고 부모가 대신 받아 적습니다.
주의
- 이 장에서는 결과를 알려 주지 않습니다. 결과는 관찰한 뒤 S06·S07에서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배추흰나비 한살이 관찰]
목적: 영상(또는 기르는 배추흰나비)을 보며 단계마다 바뀌는 모습을 관찰하고 활동지 2에 기록합니다(목표 A).
시간: 약 6분
이렇게 말해 보세요
- “알에서 무엇이 나왔어? 무엇을 먹고 있어?”
- “애벌레가 먹기를 멈추고 움직이지 않게 됐네. 지금 모습을 무엇이라고 할까?”
- “번데기에서 무엇이 나왔어? 나비는 무엇을 먹어?”
예상 답
- “노란 알에서 작은 애벌레가 나왔어요.” “잎을 먹고 점점 커져요.” “움직이지 않는 번데기가 됐어요.” “나비가 나와서 꽃의 꿀을 먹어요.”
정답
- 알 → 애벌레 → 번데기 → 어른벌레. 단계 이름은 S06에서 정리하므로, 여기서는 본 모습을 아이 말로 기록하면 됩니다.
막히면
- 영상이 빠르면 단계마다 멈추고 “지금은 무엇을 하고 있어?”라고 묻습니다.
- 영상을 구하기 어려우면 곤충 도감의 배추흰나비 쪽을 함께 봅니다.
주의
- 안전: 애벌레를 기를 때는 맨손으로 잡지 않고 붓이나 잎째 옮기며, 만진 뒤에는 손을 씻습니다. 다 자란 어른벌레는 꽃이 있는 밖에 놓아 줍니다.
- 기르기는 여러 주가 걸립니다. 기른다면 활동지 6의 관찰 기록표를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결과 정리(한살이 차례)]
목적: 관찰 결과를 한살이 흐름으로 정리하고 교과서 용어 ‘애벌레’, ‘번데기’, ‘어른벌레’를 익힙니다(목표 A, 오해 M1).
시간: 약 2분
이렇게 말해 보세요
- “네가 기록한 차례와 같아? 다 자란 나비를 ‘어른벌레’라고 해.”
- “아래 화살표는 어른벌레에서 다시 알로 가지? 왜 그럴까?”
예상 답
- “나비가 다시 알을 낳으니까요.”
막히면
- 종이 쪽지 네 장에 단계 이름을 써서 아이가 차례대로 놓아 보게 합니다.
주의
- 이 장은 관찰한 뒤에 보여 줍니다. 아이의 예상(활동지 1)과 견주어 무엇이 달랐는지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단계별 생김새와 하는 일]
목적: 단계마다 생김새와 하는 일을 정리하고, 번데기가 움직이지 않아도 속에서 큰 변화가 일어난다는 것을 알려 줍니다(목표 A, 오해 M2).
시간: 약 3분
이렇게 말해 보세요
- “애벌레는 몸이 커지면 껍질을 벗어. 이것을 ‘허물을 벗는다’고 해.”
- “번데기는 가만히 있는데, 속에서는 무슨 일이 일어날까? 번데기에서 무엇이 나왔지?”
예상 답
- “나비의 몸이 만들어져요.” “날개가 생겨요.”
막히면
- 영상에서 번데기가 갈라지며 나비가 나오는 장면을 다시 봅니다.
주의
- 알에서 갓 나온 애벌레는 노르스름하다가 잎을 먹으며 초록색이 됩니다. 번데기의 색은 붙어 있는 곳에 따라 초록색이나 갈색입니다.
- 어른벌레의 몸은 머리·가슴·배로 나뉩니다. 아이가 궁금해하면 알려 주되, 이 차시에서는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단계 알아보기]
목적: 설명을 듣고 한살이 단계를 알아봅니다(목표 A, 오해 M1).
시간: 약 3분
이렇게 말해 보세요
- “①부터 말해 볼래? 어떤 단계일까? 무엇을 보고 알았어?”
정답
- ① 애벌레
- ② 번데기
- ③ 어른벌레
- ④ 알
막히면
- S07의 표를 다시 보여 주고 ‘하는 일’ 칸에서 같은 말을 찾게 합니다.
주의
- ②를 ‘애벌레’라고 하면 “애벌레는 잎을 먹었지? 먹지 않는 단계는?”이라고 묻습니다.
- 아이가 지치면 여기서 쉬고, 다음 날 S09(잠자리와 비교)부터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예상하기(잠자리 한살이)]
목적: 잠자리의 한살이를 예상한 뒤 영상으로 확인합니다(목표 B, 오해 M3).
시간: 약 4분
이렇게 말해 보세요
- “잠자리도 배추흰나비처럼 번데기가 될까? 가와 나 중 어느 쪽일 것 같아?”
- “이제 잠자리 한살이 영상을 보자. 번데기가 나오는지 잘 봐.”
예상 답
- “가요. 나비랑 같을 것 같아요.”(틀린 예상이어도 그대로 둡니다)
정답
- 나. 잠자리는 알 → 애벌레 → 어른벌레로, 번데기를 거치지 않습니다. 물속에서 자란 애벌레가 물 밖으로 나와 마지막 허물을 벗고 바로 어른벌레가 됩니다.
막히면
- 영상을 구하기 어려우면 곤충 도감의 잠자리 쪽을 함께 봅니다.
주의
- 예상을 들은 뒤에 영상을 보여 줍니다. 결과는 S10에서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결과 정리(배추흰나비와 잠자리 비교)]
목적: 관찰 결과를 표로 견주어 같은 점과 다른 점을 말하게 합니다(목표 B).
시간: 약 3분
이렇게 말해 보세요
- “배추흰나비와 잠자리의 한살이에서 같은 점은 뭐야?”
- “다른 점은? 어느 줄을 보면 알 수 있어?”
예상 답
- “둘 다 알에서 나와서 애벌레가 돼요.” “잠자리는 번데기가 없어요.”
막히면
- 표에서 ×가 있는 줄을 손가락으로 짚게 합니다.
주의
- 교과서에 따라 번데기를 거치는 한살이를 ‘완전 탈바꿈’, 거치지 않는 한살이를 ‘불완전 탈바꿈’이라고 부르기도 합니다. 아이의 교과서에 이 말이 나오면 이 표와 연결해 주고, 나오지 않으면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번데기를 거치는지 구별하기]
목적: 처음 보는 곤충의 한살이를 번데기를 거치는지로 나눕니다(목표 B, 오해 M3).
시간: 약 3분
이렇게 말해 보세요
- “①의 사마귀는 번데기가 있어? 그럼 배추흰나비와 같아, 잠자리와 같아?”
정답
- ① 잠자리와 같음(번데기를 거치지 않음)
- ② 배추흰나비와 같음(번데기를 거침)
- ③ 잠자리와 같음(번데기를 거치지 않음)
막히면
- S10의 표에서 번데기 줄을 다시 짚어 줍니다.
주의
- 장수풍뎅이 애벌레는 땅속(썩은 나뭇잎이 쌓인 흙)에서 자라 번데기가 됩니다. 아이가 기른 경험이 있으면 이야기 나눕니다.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 보기]
목적: 도움 없이 목표 A·B를 확인합니다.
시간: 약 4분
이렇게 말해 보세요
- “이번에는 혼자 해 볼래? 종이 쪽지를 차례대로 놓아도 돼.”
정답
- ① 알 → 애벌레 → 번데기 → 어른벌레
- ② 먹지 않는다, 움직이지 않는다, 실로 몸을 붙이고 있다, 속에서 어른벌레의 몸이 만들어진다 중 하나
- ③ 배추흰나비는 번데기를 거치고, 잠자리는 번데기를 거치지 않는다
막히면
- ①은 S06, ②는 S07, ③은 S10을 다시 봅니다.
- 도움을 받아 해결했다면 기록표에 ‘도움’으로 표시합니다.
주의
- ①에서 번데기를 빠뜨리면 S08의 ②로 돌아갑니다(오해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어디가 달랐는지 찾아보자.”
정답
- ① 알 → 애벌레 → 번데기 → 어른벌레 ② 먹지도 움직이지도 않는다(속에서 어른벌레의 몸이 만들어진다) ③ 번데기를 거치는지
막히면
- ①에서 번데기를 빠뜨리면 S06으로(오해 M1), ②에서 ‘죽은 것’이라고 하면 S07로(오해 M2)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“배추흰나비의 한살이를 처음부터 끝까지 말해 볼래? 잠자리는 무엇이 달랐지?”
예상 답
- “알, 애벌레, 번데기, 어른벌레요. 잠자리는 번데기가 없어요.”
정답
- ① 알 → 애벌레 → 번데기 → 어른벌레 ② 번데기 ③ 잠자리, 사마귀, 메뚜기 등
막히면
- S06과 S10을 다시 보여 줍니다.
주의
- 다음 시간에는 강낭콩을 심습니다. 강낭콩 씨, 화분(또는 바닥에 구멍을 낸 플라스틱 컵), 흙을 미리 준비해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보충(나비의 생김새 다시 보기)]
목적: 앞 차시에서 배운 나비의 생김새를 참새와 견주어 다시 익힙니다. 오늘 어른벌레(나비)의 생김새를 말할 때 필요합니다.
시간: 약 4분
이렇게 말해 보세요
- “나비와 참새는 둘 다 날아다니지? 그런데 다리는 몇 개씩이야? 더듬이는?”
- “나비 그림책이나 도감을 보며 다리와 더듬이를 세어 볼까?”
예상 답
- “나비는 다리가 6개, 참새는 2개예요.” “나비는 더듬이가 있어요.”
막히면
- 곤충 도감이나 그림책을 함께 보며 다리와 더듬이를 손가락으로 세어 봅니다.
- 이 차시의 계획상 선수 차시는 ‘동물의 생김새와 생활’(KR22-G03-SCI-ANIMAL-L01)입니다. 보충으로도 어려우면 그 차시의 S05(여러 동물의 생김새)와 S09(사는 곳에 따라 나누기)를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생물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동물의 한살이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동물의 한살이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동물의 한살이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동물의 한살이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애벌레는 어떻게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나비가 될까?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배추흰나비의 한살이를 차례대로 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배추흰나비와 잠자리의 한살이를 비교할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나비는 사는 곳에 따라 어떤 동물로 나누었나요?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나비의 생김새를 한 가지 말해요.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‘날개가 있나요?’에 ‘그렇다’인 동물 두 가지는?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한살이란?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동물이 태어나 자라서 다시 알이나 새끼를 낳기까지를 ‘한살이’라고 해요.</a:t>
            </a:r>
            <a:endParaRPr lang="ko-KR" sz="30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배추흰나비의 한살이를 알아봐요.</a:t>
            </a:r>
            <a:endParaRPr lang="ko-KR" sz="3000" dirty="0"/>
          </a:p>
        </p:txBody>
      </p:sp>
      <p:sp>
        <p:nvSpPr>
          <p:cNvPr id="6" name="S03-step12"/>
          <p:cNvSpPr txBox="1"/>
          <p:nvPr/>
        </p:nvSpPr>
        <p:spPr>
          <a:xfrm>
            <a:off x="1293876" y="2759964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</a:t>
            </a:r>
            <a:endParaRPr lang="ko-KR" sz="3000" dirty="0"/>
          </a:p>
        </p:txBody>
      </p:sp>
      <p:sp>
        <p:nvSpPr>
          <p:cNvPr id="7" name="S03-line13"/>
          <p:cNvSpPr/>
          <p:nvPr/>
        </p:nvSpPr>
        <p:spPr>
          <a:xfrm>
            <a:off x="4274820" y="330860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3-step14"/>
          <p:cNvSpPr txBox="1"/>
          <p:nvPr/>
        </p:nvSpPr>
        <p:spPr>
          <a:xfrm>
            <a:off x="4631436" y="2759964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병아리</a:t>
            </a:r>
            <a:endParaRPr lang="ko-KR" sz="3000" dirty="0"/>
          </a:p>
        </p:txBody>
      </p:sp>
      <p:sp>
        <p:nvSpPr>
          <p:cNvPr id="9" name="S03-line15"/>
          <p:cNvSpPr/>
          <p:nvPr/>
        </p:nvSpPr>
        <p:spPr>
          <a:xfrm>
            <a:off x="7612380" y="330860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3-step16"/>
          <p:cNvSpPr txBox="1"/>
          <p:nvPr/>
        </p:nvSpPr>
        <p:spPr>
          <a:xfrm>
            <a:off x="7968996" y="2759964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닭</a:t>
            </a:r>
            <a:endParaRPr lang="ko-KR" sz="3000" dirty="0"/>
          </a:p>
        </p:txBody>
      </p:sp>
      <p:sp>
        <p:nvSpPr>
          <p:cNvPr id="11" name="S03-line17"/>
          <p:cNvSpPr/>
          <p:nvPr/>
        </p:nvSpPr>
        <p:spPr>
          <a:xfrm>
            <a:off x="9432036" y="3857244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2" name="S03-line18"/>
          <p:cNvSpPr/>
          <p:nvPr/>
        </p:nvSpPr>
        <p:spPr>
          <a:xfrm flipH="1">
            <a:off x="2756916" y="4177284"/>
            <a:ext cx="6675120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3" name="S03-line19"/>
          <p:cNvSpPr/>
          <p:nvPr/>
        </p:nvSpPr>
        <p:spPr>
          <a:xfrm flipV="1">
            <a:off x="2756916" y="3875532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3-label20"/>
          <p:cNvSpPr txBox="1"/>
          <p:nvPr/>
        </p:nvSpPr>
        <p:spPr>
          <a:xfrm>
            <a:off x="548640" y="47091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닭의 한살이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 한살이 예상</a:t>
            </a:r>
            <a:endParaRPr lang="ko-KR" sz="4000" dirty="0"/>
          </a:p>
        </p:txBody>
      </p:sp>
      <p:sp>
        <p:nvSpPr>
          <p:cNvPr id="3" name="S04-text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배추흰나비는 배추나 케일 잎에 알을 낳아요.</a:t>
            </a:r>
            <a:endParaRPr lang="ko-KR" sz="3000" dirty="0"/>
          </a:p>
        </p:txBody>
      </p:sp>
      <p:sp>
        <p:nvSpPr>
          <p:cNvPr id="4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3000" dirty="0"/>
          </a:p>
        </p:txBody>
      </p:sp>
      <p:graphicFrame>
        <p:nvGraphicFramePr>
          <p:cNvPr id="5" name="S04-table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02992"/>
          <a:ext cx="1005840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402336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알에서 무엇이 나올까?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애벌레는 무엇을 먹을까?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애벌레는 바로 나비가 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한살이 관찰하기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기를 때는 애벌레를 맨손으로 잡지 말고, 관찰한 뒤 손을 씻어요.</a:t>
            </a:r>
            <a:endParaRPr lang="ko-KR" sz="3000" dirty="0"/>
          </a:p>
        </p:txBody>
      </p:sp>
      <p:sp>
        <p:nvSpPr>
          <p:cNvPr id="5" name="S05-card27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8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모습이 바뀌는 때를 찾아요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색깔·생김새·하는 일을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견주어요</a:t>
            </a:r>
            <a:endParaRPr lang="ko-KR" sz="3000" dirty="0"/>
          </a:p>
        </p:txBody>
      </p:sp>
      <p:sp>
        <p:nvSpPr>
          <p:cNvPr id="7" name="S05-stepno29"/>
          <p:cNvSpPr txBox="1"/>
          <p:nvPr/>
        </p:nvSpPr>
        <p:spPr>
          <a:xfrm>
            <a:off x="548640" y="1684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30"/>
          <p:cNvSpPr txBox="1"/>
          <p:nvPr/>
        </p:nvSpPr>
        <p:spPr>
          <a:xfrm>
            <a:off x="1325880" y="1684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 한살이 영상을 함께 봐요.</a:t>
            </a:r>
            <a:endParaRPr lang="ko-KR" sz="2400" dirty="0"/>
          </a:p>
        </p:txBody>
      </p:sp>
      <p:sp>
        <p:nvSpPr>
          <p:cNvPr id="9" name="S05-stepno31"/>
          <p:cNvSpPr txBox="1"/>
          <p:nvPr/>
        </p:nvSpPr>
        <p:spPr>
          <a:xfrm>
            <a:off x="548640" y="2397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2"/>
          <p:cNvSpPr txBox="1"/>
          <p:nvPr/>
        </p:nvSpPr>
        <p:spPr>
          <a:xfrm>
            <a:off x="1325880" y="2397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모습이 바뀔 때마다 멈추어요.</a:t>
            </a:r>
            <a:endParaRPr lang="ko-KR" sz="2400" dirty="0"/>
          </a:p>
        </p:txBody>
      </p:sp>
      <p:sp>
        <p:nvSpPr>
          <p:cNvPr id="11" name="S05-stepno33"/>
          <p:cNvSpPr txBox="1"/>
          <p:nvPr/>
        </p:nvSpPr>
        <p:spPr>
          <a:xfrm>
            <a:off x="548640" y="31104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4"/>
          <p:cNvSpPr txBox="1"/>
          <p:nvPr/>
        </p:nvSpPr>
        <p:spPr>
          <a:xfrm>
            <a:off x="1325880" y="31104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색깔, 생김새, 하는 일을 봐요.</a:t>
            </a:r>
            <a:endParaRPr lang="ko-KR" sz="2400" dirty="0"/>
          </a:p>
        </p:txBody>
      </p:sp>
      <p:sp>
        <p:nvSpPr>
          <p:cNvPr id="13" name="S05-stepno35"/>
          <p:cNvSpPr txBox="1"/>
          <p:nvPr/>
        </p:nvSpPr>
        <p:spPr>
          <a:xfrm>
            <a:off x="548640" y="38237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36"/>
          <p:cNvSpPr txBox="1"/>
          <p:nvPr/>
        </p:nvSpPr>
        <p:spPr>
          <a:xfrm>
            <a:off x="1325880" y="38237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것을 활동지 표에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배추흰나비의 한살이</a:t>
            </a:r>
            <a:endParaRPr lang="ko-KR" sz="4000" dirty="0"/>
          </a:p>
        </p:txBody>
      </p:sp>
      <p:sp>
        <p:nvSpPr>
          <p:cNvPr id="3" name="S06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관찰한 차례를 정리해요.</a:t>
            </a:r>
            <a:endParaRPr lang="ko-KR" sz="3000" dirty="0"/>
          </a:p>
        </p:txBody>
      </p:sp>
      <p:sp>
        <p:nvSpPr>
          <p:cNvPr id="4" name="S06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배추흰나비는 알 → 애벌레 → 번데기 → 어른벌레로 자라요.</a:t>
            </a:r>
            <a:endParaRPr lang="ko-KR" sz="3000" dirty="0"/>
          </a:p>
        </p:txBody>
      </p:sp>
      <p:sp>
        <p:nvSpPr>
          <p:cNvPr id="6" name="S06-step40"/>
          <p:cNvSpPr txBox="1"/>
          <p:nvPr/>
        </p:nvSpPr>
        <p:spPr>
          <a:xfrm>
            <a:off x="548640" y="2743200"/>
            <a:ext cx="2464308" cy="1188720"/>
          </a:xfrm>
          <a:prstGeom prst="roundRect">
            <a:avLst>
              <a:gd name="adj" fmla="val 923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</a:t>
            </a:r>
            <a:endParaRPr lang="ko-KR" sz="3000" dirty="0"/>
          </a:p>
        </p:txBody>
      </p:sp>
      <p:sp>
        <p:nvSpPr>
          <p:cNvPr id="7" name="S06-line41"/>
          <p:cNvSpPr/>
          <p:nvPr/>
        </p:nvSpPr>
        <p:spPr>
          <a:xfrm>
            <a:off x="3067812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6-step42"/>
          <p:cNvSpPr txBox="1"/>
          <p:nvPr/>
        </p:nvSpPr>
        <p:spPr>
          <a:xfrm>
            <a:off x="3424428" y="2743200"/>
            <a:ext cx="2464308" cy="1188720"/>
          </a:xfrm>
          <a:prstGeom prst="roundRect">
            <a:avLst>
              <a:gd name="adj" fmla="val 923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애벌레</a:t>
            </a:r>
            <a:endParaRPr lang="ko-KR" sz="3000" dirty="0"/>
          </a:p>
        </p:txBody>
      </p:sp>
      <p:sp>
        <p:nvSpPr>
          <p:cNvPr id="9" name="S06-line43"/>
          <p:cNvSpPr/>
          <p:nvPr/>
        </p:nvSpPr>
        <p:spPr>
          <a:xfrm>
            <a:off x="5943600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6-step44"/>
          <p:cNvSpPr txBox="1"/>
          <p:nvPr/>
        </p:nvSpPr>
        <p:spPr>
          <a:xfrm>
            <a:off x="6300216" y="2743200"/>
            <a:ext cx="2464308" cy="1188720"/>
          </a:xfrm>
          <a:prstGeom prst="roundRect">
            <a:avLst>
              <a:gd name="adj" fmla="val 923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번데기</a:t>
            </a:r>
            <a:endParaRPr lang="ko-KR" sz="3000" dirty="0"/>
          </a:p>
        </p:txBody>
      </p:sp>
      <p:sp>
        <p:nvSpPr>
          <p:cNvPr id="11" name="S06-line45"/>
          <p:cNvSpPr/>
          <p:nvPr/>
        </p:nvSpPr>
        <p:spPr>
          <a:xfrm>
            <a:off x="8819388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6-step46"/>
          <p:cNvSpPr txBox="1"/>
          <p:nvPr/>
        </p:nvSpPr>
        <p:spPr>
          <a:xfrm>
            <a:off x="9176004" y="2743200"/>
            <a:ext cx="2464308" cy="1188720"/>
          </a:xfrm>
          <a:prstGeom prst="roundRect">
            <a:avLst>
              <a:gd name="adj" fmla="val 923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어른벌레</a:t>
            </a:r>
            <a:endParaRPr lang="ko-KR" sz="3000" dirty="0"/>
          </a:p>
        </p:txBody>
      </p:sp>
      <p:sp>
        <p:nvSpPr>
          <p:cNvPr id="13" name="S06-line47"/>
          <p:cNvSpPr/>
          <p:nvPr/>
        </p:nvSpPr>
        <p:spPr>
          <a:xfrm>
            <a:off x="10408158" y="3931920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4" name="S06-line48"/>
          <p:cNvSpPr/>
          <p:nvPr/>
        </p:nvSpPr>
        <p:spPr>
          <a:xfrm flipH="1">
            <a:off x="1780794" y="4251960"/>
            <a:ext cx="8627364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5" name="S06-line49"/>
          <p:cNvSpPr/>
          <p:nvPr/>
        </p:nvSpPr>
        <p:spPr>
          <a:xfrm flipV="1">
            <a:off x="1780794" y="3950208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달라요</a:t>
            </a:r>
            <a:endParaRPr lang="ko-KR" sz="4000" dirty="0"/>
          </a:p>
        </p:txBody>
      </p:sp>
      <p:sp>
        <p:nvSpPr>
          <p:cNvPr id="3" name="S07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번데기 속에서는 어른벌레의 몸이 만들어져요.</a:t>
            </a:r>
            <a:endParaRPr lang="ko-KR" sz="3000" dirty="0"/>
          </a:p>
        </p:txBody>
      </p:sp>
      <p:graphicFrame>
        <p:nvGraphicFramePr>
          <p:cNvPr id="8" name="S07-table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833372"/>
          <a:ext cx="10972800" cy="914400"/>
        </p:xfrm>
        <a:graphic>
          <a:graphicData uri="http://schemas.openxmlformats.org/drawingml/2006/table">
            <a:tbl>
              <a:tblPr/>
              <a:tblGrid>
                <a:gridCol w="1865376"/>
                <a:gridCol w="4389120"/>
                <a:gridCol w="471830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생김새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연한 노란색, 길쭉해요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 뒷면에 붙어 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애벌레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초록색, 몸에 털이 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잎을 먹고 허물을 벗으며 자라요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번데기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실로 몸을 붙이고 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먹지 않고 움직이지 않아요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어른벌레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날개 4장, 다리 6개,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더듬이 2개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꽃꿀을 먹고,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암컷은 알을 낳아요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단계일까요?</a:t>
            </a:r>
            <a:endParaRPr lang="ko-KR" sz="4000" dirty="0"/>
          </a:p>
        </p:txBody>
      </p:sp>
      <p:sp>
        <p:nvSpPr>
          <p:cNvPr id="3" name="S08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설명에 알맞은 단계를 말해요.</a:t>
            </a:r>
            <a:endParaRPr lang="ko-KR" sz="3000" dirty="0"/>
          </a:p>
        </p:txBody>
      </p:sp>
      <p:sp>
        <p:nvSpPr>
          <p:cNvPr id="4" name="S08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하는 일을 떠올려요.</a:t>
            </a:r>
            <a:endParaRPr lang="ko-KR" sz="3000" dirty="0"/>
          </a:p>
        </p:txBody>
      </p:sp>
      <p:sp>
        <p:nvSpPr>
          <p:cNvPr id="6" name="S08-chip5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5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 잎을 갉아 먹고 허물을 벗어요.</a:t>
            </a:r>
            <a:endParaRPr lang="ko-KR" sz="3000" dirty="0"/>
          </a:p>
        </p:txBody>
      </p:sp>
      <p:sp>
        <p:nvSpPr>
          <p:cNvPr id="8" name="S08-chip5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5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먹지도 움직이지도 않아요.</a:t>
            </a:r>
            <a:endParaRPr lang="ko-KR" sz="3000" dirty="0"/>
          </a:p>
        </p:txBody>
      </p:sp>
      <p:sp>
        <p:nvSpPr>
          <p:cNvPr id="10" name="S08-chip6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6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꽃에 앉아 꿀을 빨아 먹어요.</a:t>
            </a:r>
            <a:endParaRPr lang="ko-KR" sz="3000" dirty="0"/>
          </a:p>
        </p:txBody>
      </p:sp>
      <p:sp>
        <p:nvSpPr>
          <p:cNvPr id="12" name="S08-chip6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8-text6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 뒷면에 작고 노란 것이 붙어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잠자리의 한살이는?</a:t>
            </a:r>
            <a:endParaRPr lang="ko-KR" sz="4000" dirty="0"/>
          </a:p>
        </p:txBody>
      </p:sp>
      <p:sp>
        <p:nvSpPr>
          <p:cNvPr id="3" name="S09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잠자리 애벌레는 물속에서 살아요.</a:t>
            </a:r>
            <a:endParaRPr lang="ko-KR" sz="3000" dirty="0"/>
          </a:p>
        </p:txBody>
      </p:sp>
      <p:sp>
        <p:nvSpPr>
          <p:cNvPr id="4" name="S09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쪽일 것 같아요? 예상한 뒤 영상으로 확인해요.</a:t>
            </a:r>
            <a:endParaRPr lang="ko-KR" sz="3000" dirty="0"/>
          </a:p>
        </p:txBody>
      </p:sp>
      <p:sp>
        <p:nvSpPr>
          <p:cNvPr id="6" name="S09-chip67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9-card68"/>
          <p:cNvSpPr/>
          <p:nvPr/>
        </p:nvSpPr>
        <p:spPr>
          <a:xfrm>
            <a:off x="548640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69"/>
          <p:cNvSpPr txBox="1"/>
          <p:nvPr/>
        </p:nvSpPr>
        <p:spPr>
          <a:xfrm>
            <a:off x="822960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 → 애벌레 → 번데기 → 어른벌레</a:t>
            </a:r>
            <a:endParaRPr lang="ko-KR" sz="3000" dirty="0"/>
          </a:p>
        </p:txBody>
      </p:sp>
      <p:sp>
        <p:nvSpPr>
          <p:cNvPr id="9" name="S09-chip70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9-card71"/>
          <p:cNvSpPr/>
          <p:nvPr/>
        </p:nvSpPr>
        <p:spPr>
          <a:xfrm>
            <a:off x="6277356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72"/>
          <p:cNvSpPr txBox="1"/>
          <p:nvPr/>
        </p:nvSpPr>
        <p:spPr>
          <a:xfrm>
            <a:off x="6551676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 → 애벌레 → 어른벌레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배추흰나비와 잠자리</a:t>
            </a:r>
            <a:endParaRPr lang="ko-KR" sz="4000" dirty="0"/>
          </a:p>
        </p:txBody>
      </p:sp>
      <p:sp>
        <p:nvSpPr>
          <p:cNvPr id="3" name="S10-card7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7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잠자리는 번데기를 거치지 않고 애벌레에서 바로 어른벌레가 돼요.</a:t>
            </a:r>
            <a:endParaRPr lang="ko-KR" sz="3000" dirty="0"/>
          </a:p>
        </p:txBody>
      </p:sp>
      <p:graphicFrame>
        <p:nvGraphicFramePr>
          <p:cNvPr id="11" name="S10-table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1650238"/>
          <a:ext cx="960120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3360420"/>
                <a:gridCol w="33604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배추흰나비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잠자리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애벌레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잎 위에서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물속에서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번데기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어른벌레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번데기를 거칠까요?</a:t>
            </a:r>
            <a:endParaRPr lang="ko-KR" sz="4000" dirty="0"/>
          </a:p>
        </p:txBody>
      </p:sp>
      <p:sp>
        <p:nvSpPr>
          <p:cNvPr id="3" name="S11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배추흰나비와 같은지, 잠자리와 같은지 말해요.</a:t>
            </a:r>
            <a:endParaRPr lang="ko-KR" sz="3000" dirty="0"/>
          </a:p>
        </p:txBody>
      </p:sp>
      <p:sp>
        <p:nvSpPr>
          <p:cNvPr id="4" name="S11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1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번데기가 있는지 찾아봐요.</a:t>
            </a:r>
            <a:endParaRPr lang="ko-KR" sz="3000" dirty="0"/>
          </a:p>
        </p:txBody>
      </p:sp>
      <p:sp>
        <p:nvSpPr>
          <p:cNvPr id="6" name="S11-chip7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1-text8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사마귀: 알 → 애벌레 → 어른벌레</a:t>
            </a:r>
            <a:endParaRPr lang="ko-KR" sz="3000" dirty="0"/>
          </a:p>
        </p:txBody>
      </p:sp>
      <p:sp>
        <p:nvSpPr>
          <p:cNvPr id="8" name="S11-chip8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1-text8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장수풍뎅이: 알 → 애벌레 → 번데기 → 어른벌레</a:t>
            </a:r>
            <a:endParaRPr lang="ko-KR" sz="3000" dirty="0"/>
          </a:p>
        </p:txBody>
      </p:sp>
      <p:sp>
        <p:nvSpPr>
          <p:cNvPr id="10" name="S11-chip8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1-text8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메뚜기: 알 → 애벌레 → 어른벌레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어른벌레 · 알 · 번데기 · 애벌레</a:t>
            </a:r>
            <a:endParaRPr lang="ko-KR" sz="3000" dirty="0"/>
          </a:p>
        </p:txBody>
      </p:sp>
      <p:sp>
        <p:nvSpPr>
          <p:cNvPr id="4" name="S12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생각한 까닭도 말해요.</a:t>
            </a:r>
            <a:endParaRPr lang="ko-KR" sz="3000" dirty="0"/>
          </a:p>
        </p:txBody>
      </p:sp>
      <p:sp>
        <p:nvSpPr>
          <p:cNvPr id="6" name="S12-chip8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2-text8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배추흰나비의 한살이를 차례대로 말해요.</a:t>
            </a:r>
            <a:endParaRPr lang="ko-KR" sz="3000" dirty="0"/>
          </a:p>
        </p:txBody>
      </p:sp>
      <p:sp>
        <p:nvSpPr>
          <p:cNvPr id="8" name="S12-chip9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2-text9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번데기 단계의 특징을 한 가지 말해요.</a:t>
            </a:r>
            <a:endParaRPr lang="ko-KR" sz="3000" dirty="0"/>
          </a:p>
        </p:txBody>
      </p:sp>
      <p:sp>
        <p:nvSpPr>
          <p:cNvPr id="10" name="S12-chip9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2-text9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배추흰나비와 잠자리의 한살이는 무엇이 달라요?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3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것은 영상의 번데기 장면을 다시 보고 고쳐요.</a:t>
            </a:r>
            <a:endParaRPr lang="ko-KR" sz="3000" dirty="0"/>
          </a:p>
        </p:txBody>
      </p:sp>
      <p:sp>
        <p:nvSpPr>
          <p:cNvPr id="5" name="S13-chip9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3-text97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네 단계</a:t>
            </a:r>
            <a:endParaRPr lang="ko-KR" sz="3000" dirty="0"/>
          </a:p>
        </p:txBody>
      </p:sp>
      <p:sp>
        <p:nvSpPr>
          <p:cNvPr id="7" name="S13-text98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번데기를 넣어 차례대로</a:t>
            </a:r>
            <a:endParaRPr lang="ko-KR" sz="2400" dirty="0"/>
          </a:p>
        </p:txBody>
      </p:sp>
      <p:sp>
        <p:nvSpPr>
          <p:cNvPr id="8" name="S13-text99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먹지 않아요</a:t>
            </a:r>
            <a:endParaRPr lang="ko-KR" sz="3000" dirty="0"/>
          </a:p>
        </p:txBody>
      </p:sp>
      <p:sp>
        <p:nvSpPr>
          <p:cNvPr id="9" name="S13-text100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움직이지 않아요</a:t>
            </a:r>
            <a:endParaRPr lang="ko-KR" sz="2400" dirty="0"/>
          </a:p>
        </p:txBody>
      </p:sp>
      <p:sp>
        <p:nvSpPr>
          <p:cNvPr id="10" name="S13-text101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번데기</a:t>
            </a:r>
            <a:endParaRPr lang="ko-KR" sz="3000" dirty="0"/>
          </a:p>
        </p:txBody>
      </p:sp>
      <p:sp>
        <p:nvSpPr>
          <p:cNvPr id="11" name="S13-text102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잠자리는 없어요</a:t>
            </a:r>
            <a:endParaRPr lang="ko-KR" sz="2400" dirty="0"/>
          </a:p>
        </p:txBody>
      </p:sp>
      <p:sp>
        <p:nvSpPr>
          <p:cNvPr id="12" name="S13-chip10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3-text10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 → 애벌레 → 어른벌레</a:t>
            </a:r>
            <a:endParaRPr lang="ko-KR" sz="3000" dirty="0"/>
          </a:p>
        </p:txBody>
      </p:sp>
      <p:sp>
        <p:nvSpPr>
          <p:cNvPr id="14" name="S13-text10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번데기를 빠뜨림</a:t>
            </a:r>
            <a:endParaRPr lang="ko-KR" sz="2400" dirty="0"/>
          </a:p>
        </p:txBody>
      </p:sp>
      <p:sp>
        <p:nvSpPr>
          <p:cNvPr id="15" name="S13-text10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번데기는 죽은 것</a:t>
            </a:r>
            <a:endParaRPr lang="ko-KR" sz="3000" dirty="0"/>
          </a:p>
        </p:txBody>
      </p:sp>
      <p:sp>
        <p:nvSpPr>
          <p:cNvPr id="16" name="S13-text10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속에서 몸이 만들어져요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08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9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배추흰나비는 알 → 애벌레 → 번데기 → 어른벌레로 자라요.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잠자리는 번데기를 거치지 않아요.</a:t>
            </a:r>
            <a:endParaRPr lang="ko-KR" sz="3000" dirty="0"/>
          </a:p>
        </p:txBody>
      </p:sp>
      <p:sp>
        <p:nvSpPr>
          <p:cNvPr id="5" name="S14-chip110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번데기 단계 기억하기</a:t>
            </a:r>
            <a:endParaRPr lang="ko-KR" sz="2400" dirty="0"/>
          </a:p>
        </p:txBody>
      </p:sp>
      <p:sp>
        <p:nvSpPr>
          <p:cNvPr id="6" name="S14-chip111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애벌레가 바로 나비가 됨</a:t>
            </a:r>
            <a:endParaRPr lang="ko-KR" sz="2400" dirty="0"/>
          </a:p>
        </p:txBody>
      </p:sp>
      <p:sp>
        <p:nvSpPr>
          <p:cNvPr id="7" name="S14-text112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113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배추흰나비 한살이의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단계는?</a:t>
            </a:r>
            <a:endParaRPr lang="ko-KR" sz="2400" dirty="0"/>
          </a:p>
        </p:txBody>
      </p:sp>
      <p:sp>
        <p:nvSpPr>
          <p:cNvPr id="9" name="S14-text114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먹지도 움직이지도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않는 단계는?</a:t>
            </a:r>
            <a:endParaRPr lang="ko-KR" sz="2400" dirty="0"/>
          </a:p>
        </p:txBody>
      </p:sp>
      <p:sp>
        <p:nvSpPr>
          <p:cNvPr id="10" name="S14-text115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번데기를 거치지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않는 곤충은?</a:t>
            </a:r>
            <a:endParaRPr lang="ko-KR" sz="2400" dirty="0"/>
          </a:p>
        </p:txBody>
      </p:sp>
      <p:sp>
        <p:nvSpPr>
          <p:cNvPr id="11" name="S14-text11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식물의 한살이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나비와 참새의 생김새</a:t>
            </a:r>
            <a:endParaRPr lang="ko-KR" sz="4000" dirty="0"/>
          </a:p>
        </p:txBody>
      </p:sp>
      <p:sp>
        <p:nvSpPr>
          <p:cNvPr id="3" name="S15-text1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날아다니지만 생김새가 달라요.</a:t>
            </a:r>
            <a:endParaRPr lang="ko-KR" sz="3000" dirty="0"/>
          </a:p>
        </p:txBody>
      </p:sp>
      <p:sp>
        <p:nvSpPr>
          <p:cNvPr id="4" name="S15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나비는 날개가 있지만 새가 아니에요.</a:t>
            </a:r>
            <a:endParaRPr lang="ko-KR" sz="3000" dirty="0"/>
          </a:p>
        </p:txBody>
      </p:sp>
      <p:graphicFrame>
        <p:nvGraphicFramePr>
          <p:cNvPr id="16" name="S15-table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362200"/>
          <a:ext cx="960120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3264408"/>
                <a:gridCol w="326440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있어요(4장)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있어요(2장)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더듬이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깃털과 부리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동물의 한살이</dc:title>
  <dc:subject>KR22-G03-SCI-ANIMLIFE-L01</dc:subject>
  <dc:creator>education-ppt</dc:creator>
  <cp:lastModifiedBy>education-ppt</cp:lastModifiedBy>
  <cp:revision>1</cp:revision>
  <dcterms:created xsi:type="dcterms:W3CDTF">2026-10-26T09:44:14Z</dcterms:created>
  <dcterms:modified xsi:type="dcterms:W3CDTF">2026-10-26T09:44:14Z</dcterms:modified>
</cp:coreProperties>
</file>