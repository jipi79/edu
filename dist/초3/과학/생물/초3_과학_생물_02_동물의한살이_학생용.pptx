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4ba311c-a1f2-9c92-3a5b-325b14bf4536}">
          <p14:sldIdLst>
            <p14:sldId id="256"/>
            <p14:sldId id="257"/>
          </p14:sldIdLst>
        </p14:section>
        <p14:section name="개념" id="{2b6c3669-4f45-4c6f-afec-223cfce9fd5b}">
          <p14:sldIdLst>
            <p14:sldId id="258"/>
            <p14:sldId id="259"/>
            <p14:sldId id="260"/>
            <p14:sldId id="261"/>
            <p14:sldId id="262"/>
            <p14:sldId id="264"/>
            <p14:sldId id="265"/>
          </p14:sldIdLst>
        </p14:section>
        <p14:section name="연습" id="{f6dff70a-a2f6-9843-f9ce-c2edabb962df}">
          <p14:sldIdLst>
            <p14:sldId id="263"/>
            <p14:sldId id="266"/>
          </p14:sldIdLst>
        </p14:section>
        <p14:section name="개념" id="{fb223c67-65cf-e8b2-f73a-b772c38b4c26}">
          <p14:sldIdLst/>
        </p14:section>
        <p14:section name="연습" id="{861c3cc4-3802-27eb-304f-fe221ef6234d}">
          <p14:sldIdLst/>
        </p14:section>
        <p14:section name="확인" id="{59f22f37-ad37-72f9-4ed0-c77af50398a4}">
          <p14:sldIdLst>
            <p14:sldId id="267"/>
          </p14:sldIdLst>
        </p14:section>
        <p14:section name="정리" id="{b2f5de74-2574-6a8a-92a5-f4eeb82c6ef9}">
          <p14:sldIdLst>
            <p14:sldId id="268"/>
          </p14:sldIdLst>
        </p14:section>
        <p14:section name="보충" id="{0c724bca-c527-d835-e589-6e069ee34fe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생물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동물의 한살이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동물의 한살이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동물의 한살이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동물의 한살이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애벌레는 어떻게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나비가 될까?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배추흰나비의 한살이를 차례대로 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배추흰나비와 잠자리의 한살이를 비교할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나비는 사는 곳에 따라 어떤 동물로 나누었나요?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나비의 생김새를 한 가지 말해요.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‘날개가 있나요?’에 ‘그렇다’인 동물 두 가지는?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한살이란?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동물이 태어나 자라서 다시 알이나 새끼를 낳기까지를 ‘한살이’라고 해요.</a:t>
            </a:r>
            <a:endParaRPr lang="ko-KR" sz="30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배추흰나비의 한살이를 알아봐요.</a:t>
            </a:r>
            <a:endParaRPr lang="ko-KR" sz="3000" dirty="0"/>
          </a:p>
        </p:txBody>
      </p:sp>
      <p:sp>
        <p:nvSpPr>
          <p:cNvPr id="6" name="S03-step12"/>
          <p:cNvSpPr txBox="1"/>
          <p:nvPr/>
        </p:nvSpPr>
        <p:spPr>
          <a:xfrm>
            <a:off x="1293876" y="2759964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</a:t>
            </a:r>
            <a:endParaRPr lang="ko-KR" sz="3000" dirty="0"/>
          </a:p>
        </p:txBody>
      </p:sp>
      <p:sp>
        <p:nvSpPr>
          <p:cNvPr id="7" name="S03-line13"/>
          <p:cNvSpPr/>
          <p:nvPr/>
        </p:nvSpPr>
        <p:spPr>
          <a:xfrm>
            <a:off x="4274820" y="330860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3-step14"/>
          <p:cNvSpPr txBox="1"/>
          <p:nvPr/>
        </p:nvSpPr>
        <p:spPr>
          <a:xfrm>
            <a:off x="4631436" y="2759964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병아리</a:t>
            </a:r>
            <a:endParaRPr lang="ko-KR" sz="3000" dirty="0"/>
          </a:p>
        </p:txBody>
      </p:sp>
      <p:sp>
        <p:nvSpPr>
          <p:cNvPr id="9" name="S03-line15"/>
          <p:cNvSpPr/>
          <p:nvPr/>
        </p:nvSpPr>
        <p:spPr>
          <a:xfrm>
            <a:off x="7612380" y="330860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3-step16"/>
          <p:cNvSpPr txBox="1"/>
          <p:nvPr/>
        </p:nvSpPr>
        <p:spPr>
          <a:xfrm>
            <a:off x="7968996" y="2759964"/>
            <a:ext cx="2926080" cy="1097280"/>
          </a:xfrm>
          <a:prstGeom prst="roundRect">
            <a:avLst>
              <a:gd name="adj" fmla="val 10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닭</a:t>
            </a:r>
            <a:endParaRPr lang="ko-KR" sz="3000" dirty="0"/>
          </a:p>
        </p:txBody>
      </p:sp>
      <p:sp>
        <p:nvSpPr>
          <p:cNvPr id="11" name="S03-line17"/>
          <p:cNvSpPr/>
          <p:nvPr/>
        </p:nvSpPr>
        <p:spPr>
          <a:xfrm>
            <a:off x="9432036" y="3857244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2" name="S03-line18"/>
          <p:cNvSpPr/>
          <p:nvPr/>
        </p:nvSpPr>
        <p:spPr>
          <a:xfrm flipH="1">
            <a:off x="2756916" y="4177284"/>
            <a:ext cx="6675120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3" name="S03-line19"/>
          <p:cNvSpPr/>
          <p:nvPr/>
        </p:nvSpPr>
        <p:spPr>
          <a:xfrm flipV="1">
            <a:off x="2756916" y="3875532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3-label20"/>
          <p:cNvSpPr txBox="1"/>
          <p:nvPr/>
        </p:nvSpPr>
        <p:spPr>
          <a:xfrm>
            <a:off x="548640" y="47091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닭의 한살이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 한살이 예상</a:t>
            </a:r>
            <a:endParaRPr lang="ko-KR" sz="4000" dirty="0"/>
          </a:p>
        </p:txBody>
      </p:sp>
      <p:sp>
        <p:nvSpPr>
          <p:cNvPr id="3" name="S04-text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배추흰나비는 배추나 케일 잎에 알을 낳아요.</a:t>
            </a:r>
            <a:endParaRPr lang="ko-KR" sz="3000" dirty="0"/>
          </a:p>
        </p:txBody>
      </p:sp>
      <p:sp>
        <p:nvSpPr>
          <p:cNvPr id="4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3000" dirty="0"/>
          </a:p>
        </p:txBody>
      </p:sp>
      <p:graphicFrame>
        <p:nvGraphicFramePr>
          <p:cNvPr id="5" name="S04-table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02992"/>
          <a:ext cx="1005840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402336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알에서 무엇이 나올까?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애벌레는 무엇을 먹을까?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애벌레는 바로 나비가 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한살이 관찰하기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기를 때는 애벌레를 맨손으로 잡지 말고, 관찰한 뒤 손을 씻어요.</a:t>
            </a:r>
            <a:endParaRPr lang="ko-KR" sz="3000" dirty="0"/>
          </a:p>
        </p:txBody>
      </p:sp>
      <p:sp>
        <p:nvSpPr>
          <p:cNvPr id="5" name="S05-card27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8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모습이 바뀌는 때를 찾아요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색깔·생김새·하는 일을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견주어요</a:t>
            </a:r>
            <a:endParaRPr lang="ko-KR" sz="3000" dirty="0"/>
          </a:p>
        </p:txBody>
      </p:sp>
      <p:sp>
        <p:nvSpPr>
          <p:cNvPr id="7" name="S05-stepno29"/>
          <p:cNvSpPr txBox="1"/>
          <p:nvPr/>
        </p:nvSpPr>
        <p:spPr>
          <a:xfrm>
            <a:off x="548640" y="1684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30"/>
          <p:cNvSpPr txBox="1"/>
          <p:nvPr/>
        </p:nvSpPr>
        <p:spPr>
          <a:xfrm>
            <a:off x="1325880" y="1684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 한살이 영상을 함께 봐요.</a:t>
            </a:r>
            <a:endParaRPr lang="ko-KR" sz="2400" dirty="0"/>
          </a:p>
        </p:txBody>
      </p:sp>
      <p:sp>
        <p:nvSpPr>
          <p:cNvPr id="9" name="S05-stepno31"/>
          <p:cNvSpPr txBox="1"/>
          <p:nvPr/>
        </p:nvSpPr>
        <p:spPr>
          <a:xfrm>
            <a:off x="548640" y="2397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2"/>
          <p:cNvSpPr txBox="1"/>
          <p:nvPr/>
        </p:nvSpPr>
        <p:spPr>
          <a:xfrm>
            <a:off x="1325880" y="2397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모습이 바뀔 때마다 멈추어요.</a:t>
            </a:r>
            <a:endParaRPr lang="ko-KR" sz="2400" dirty="0"/>
          </a:p>
        </p:txBody>
      </p:sp>
      <p:sp>
        <p:nvSpPr>
          <p:cNvPr id="11" name="S05-stepno33"/>
          <p:cNvSpPr txBox="1"/>
          <p:nvPr/>
        </p:nvSpPr>
        <p:spPr>
          <a:xfrm>
            <a:off x="548640" y="31104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4"/>
          <p:cNvSpPr txBox="1"/>
          <p:nvPr/>
        </p:nvSpPr>
        <p:spPr>
          <a:xfrm>
            <a:off x="1325880" y="31104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색깔, 생김새, 하는 일을 봐요.</a:t>
            </a:r>
            <a:endParaRPr lang="ko-KR" sz="2400" dirty="0"/>
          </a:p>
        </p:txBody>
      </p:sp>
      <p:sp>
        <p:nvSpPr>
          <p:cNvPr id="13" name="S05-stepno35"/>
          <p:cNvSpPr txBox="1"/>
          <p:nvPr/>
        </p:nvSpPr>
        <p:spPr>
          <a:xfrm>
            <a:off x="548640" y="38237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36"/>
          <p:cNvSpPr txBox="1"/>
          <p:nvPr/>
        </p:nvSpPr>
        <p:spPr>
          <a:xfrm>
            <a:off x="1325880" y="38237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것을 활동지 표에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배추흰나비의 한살이</a:t>
            </a:r>
            <a:endParaRPr lang="ko-KR" sz="4000" dirty="0"/>
          </a:p>
        </p:txBody>
      </p:sp>
      <p:sp>
        <p:nvSpPr>
          <p:cNvPr id="3" name="S06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관찰한 차례를 정리해요.</a:t>
            </a:r>
            <a:endParaRPr lang="ko-KR" sz="3000" dirty="0"/>
          </a:p>
        </p:txBody>
      </p:sp>
      <p:sp>
        <p:nvSpPr>
          <p:cNvPr id="4" name="S06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배추흰나비는 알 → 애벌레 → 번데기 → 어른벌레로 자라요.</a:t>
            </a:r>
            <a:endParaRPr lang="ko-KR" sz="3000" dirty="0"/>
          </a:p>
        </p:txBody>
      </p:sp>
      <p:sp>
        <p:nvSpPr>
          <p:cNvPr id="6" name="S06-step40"/>
          <p:cNvSpPr txBox="1"/>
          <p:nvPr/>
        </p:nvSpPr>
        <p:spPr>
          <a:xfrm>
            <a:off x="548640" y="2743200"/>
            <a:ext cx="2464308" cy="1188720"/>
          </a:xfrm>
          <a:prstGeom prst="roundRect">
            <a:avLst>
              <a:gd name="adj" fmla="val 923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</a:t>
            </a:r>
            <a:endParaRPr lang="ko-KR" sz="3000" dirty="0"/>
          </a:p>
        </p:txBody>
      </p:sp>
      <p:sp>
        <p:nvSpPr>
          <p:cNvPr id="7" name="S06-line41"/>
          <p:cNvSpPr/>
          <p:nvPr/>
        </p:nvSpPr>
        <p:spPr>
          <a:xfrm>
            <a:off x="3067812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6-step42"/>
          <p:cNvSpPr txBox="1"/>
          <p:nvPr/>
        </p:nvSpPr>
        <p:spPr>
          <a:xfrm>
            <a:off x="3424428" y="2743200"/>
            <a:ext cx="2464308" cy="1188720"/>
          </a:xfrm>
          <a:prstGeom prst="roundRect">
            <a:avLst>
              <a:gd name="adj" fmla="val 923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애벌레</a:t>
            </a:r>
            <a:endParaRPr lang="ko-KR" sz="3000" dirty="0"/>
          </a:p>
        </p:txBody>
      </p:sp>
      <p:sp>
        <p:nvSpPr>
          <p:cNvPr id="9" name="S06-line43"/>
          <p:cNvSpPr/>
          <p:nvPr/>
        </p:nvSpPr>
        <p:spPr>
          <a:xfrm>
            <a:off x="5943600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6-step44"/>
          <p:cNvSpPr txBox="1"/>
          <p:nvPr/>
        </p:nvSpPr>
        <p:spPr>
          <a:xfrm>
            <a:off x="6300216" y="2743200"/>
            <a:ext cx="2464308" cy="1188720"/>
          </a:xfrm>
          <a:prstGeom prst="roundRect">
            <a:avLst>
              <a:gd name="adj" fmla="val 923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번데기</a:t>
            </a:r>
            <a:endParaRPr lang="ko-KR" sz="3000" dirty="0"/>
          </a:p>
        </p:txBody>
      </p:sp>
      <p:sp>
        <p:nvSpPr>
          <p:cNvPr id="11" name="S06-line45"/>
          <p:cNvSpPr/>
          <p:nvPr/>
        </p:nvSpPr>
        <p:spPr>
          <a:xfrm>
            <a:off x="8819388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6-step46"/>
          <p:cNvSpPr txBox="1"/>
          <p:nvPr/>
        </p:nvSpPr>
        <p:spPr>
          <a:xfrm>
            <a:off x="9176004" y="2743200"/>
            <a:ext cx="2464308" cy="1188720"/>
          </a:xfrm>
          <a:prstGeom prst="roundRect">
            <a:avLst>
              <a:gd name="adj" fmla="val 923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어른벌레</a:t>
            </a:r>
            <a:endParaRPr lang="ko-KR" sz="3000" dirty="0"/>
          </a:p>
        </p:txBody>
      </p:sp>
      <p:sp>
        <p:nvSpPr>
          <p:cNvPr id="13" name="S06-line47"/>
          <p:cNvSpPr/>
          <p:nvPr/>
        </p:nvSpPr>
        <p:spPr>
          <a:xfrm>
            <a:off x="10408158" y="3931920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4" name="S06-line48"/>
          <p:cNvSpPr/>
          <p:nvPr/>
        </p:nvSpPr>
        <p:spPr>
          <a:xfrm flipH="1">
            <a:off x="1780794" y="4251960"/>
            <a:ext cx="8627364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5" name="S06-line49"/>
          <p:cNvSpPr/>
          <p:nvPr/>
        </p:nvSpPr>
        <p:spPr>
          <a:xfrm flipV="1">
            <a:off x="1780794" y="3950208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달라요</a:t>
            </a:r>
            <a:endParaRPr lang="ko-KR" sz="4000" dirty="0"/>
          </a:p>
        </p:txBody>
      </p:sp>
      <p:sp>
        <p:nvSpPr>
          <p:cNvPr id="3" name="S07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번데기 속에서는 어른벌레의 몸이 만들어져요.</a:t>
            </a:r>
            <a:endParaRPr lang="ko-KR" sz="3000" dirty="0"/>
          </a:p>
        </p:txBody>
      </p:sp>
      <p:graphicFrame>
        <p:nvGraphicFramePr>
          <p:cNvPr id="8" name="S07-table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833372"/>
          <a:ext cx="10972800" cy="914400"/>
        </p:xfrm>
        <a:graphic>
          <a:graphicData uri="http://schemas.openxmlformats.org/drawingml/2006/table">
            <a:tbl>
              <a:tblPr/>
              <a:tblGrid>
                <a:gridCol w="1865376"/>
                <a:gridCol w="4389120"/>
                <a:gridCol w="471830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생김새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연한 노란색, 길쭉해요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 뒷면에 붙어 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애벌레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초록색, 몸에 털이 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잎을 먹고 허물을 벗으며 자라요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번데기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실로 몸을 붙이고 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먹지 않고 움직이지 않아요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어른벌레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날개 4장, 다리 6개,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더듬이 2개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꽃꿀을 먹고,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암컷은 알을 낳아요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단계일까요?</a:t>
            </a:r>
            <a:endParaRPr lang="ko-KR" sz="4000" dirty="0"/>
          </a:p>
        </p:txBody>
      </p:sp>
      <p:sp>
        <p:nvSpPr>
          <p:cNvPr id="3" name="S08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설명에 알맞은 단계를 말해요.</a:t>
            </a:r>
            <a:endParaRPr lang="ko-KR" sz="3000" dirty="0"/>
          </a:p>
        </p:txBody>
      </p:sp>
      <p:sp>
        <p:nvSpPr>
          <p:cNvPr id="4" name="S08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하는 일을 떠올려요.</a:t>
            </a:r>
            <a:endParaRPr lang="ko-KR" sz="3000" dirty="0"/>
          </a:p>
        </p:txBody>
      </p:sp>
      <p:sp>
        <p:nvSpPr>
          <p:cNvPr id="6" name="S08-chip5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5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 잎을 갉아 먹고 허물을 벗어요.</a:t>
            </a:r>
            <a:endParaRPr lang="ko-KR" sz="3000" dirty="0"/>
          </a:p>
        </p:txBody>
      </p:sp>
      <p:sp>
        <p:nvSpPr>
          <p:cNvPr id="8" name="S08-chip5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5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먹지도 움직이지도 않아요.</a:t>
            </a:r>
            <a:endParaRPr lang="ko-KR" sz="3000" dirty="0"/>
          </a:p>
        </p:txBody>
      </p:sp>
      <p:sp>
        <p:nvSpPr>
          <p:cNvPr id="10" name="S08-chip6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6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꽃에 앉아 꿀을 빨아 먹어요.</a:t>
            </a:r>
            <a:endParaRPr lang="ko-KR" sz="3000" dirty="0"/>
          </a:p>
        </p:txBody>
      </p:sp>
      <p:sp>
        <p:nvSpPr>
          <p:cNvPr id="12" name="S08-chip6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8-text6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 뒷면에 작고 노란 것이 붙어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잠자리의 한살이는?</a:t>
            </a:r>
            <a:endParaRPr lang="ko-KR" sz="4000" dirty="0"/>
          </a:p>
        </p:txBody>
      </p:sp>
      <p:sp>
        <p:nvSpPr>
          <p:cNvPr id="3" name="S09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잠자리 애벌레는 물속에서 살아요.</a:t>
            </a:r>
            <a:endParaRPr lang="ko-KR" sz="3000" dirty="0"/>
          </a:p>
        </p:txBody>
      </p:sp>
      <p:sp>
        <p:nvSpPr>
          <p:cNvPr id="4" name="S09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쪽일 것 같아요? 예상한 뒤 영상으로 확인해요.</a:t>
            </a:r>
            <a:endParaRPr lang="ko-KR" sz="3000" dirty="0"/>
          </a:p>
        </p:txBody>
      </p:sp>
      <p:sp>
        <p:nvSpPr>
          <p:cNvPr id="6" name="S09-chip67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9-card68"/>
          <p:cNvSpPr/>
          <p:nvPr/>
        </p:nvSpPr>
        <p:spPr>
          <a:xfrm>
            <a:off x="548640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69"/>
          <p:cNvSpPr txBox="1"/>
          <p:nvPr/>
        </p:nvSpPr>
        <p:spPr>
          <a:xfrm>
            <a:off x="822960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 → 애벌레 → 번데기 → 어른벌레</a:t>
            </a:r>
            <a:endParaRPr lang="ko-KR" sz="3000" dirty="0"/>
          </a:p>
        </p:txBody>
      </p:sp>
      <p:sp>
        <p:nvSpPr>
          <p:cNvPr id="9" name="S09-chip70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9-card71"/>
          <p:cNvSpPr/>
          <p:nvPr/>
        </p:nvSpPr>
        <p:spPr>
          <a:xfrm>
            <a:off x="6277356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72"/>
          <p:cNvSpPr txBox="1"/>
          <p:nvPr/>
        </p:nvSpPr>
        <p:spPr>
          <a:xfrm>
            <a:off x="6551676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 → 애벌레 → 어른벌레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배추흰나비와 잠자리</a:t>
            </a:r>
            <a:endParaRPr lang="ko-KR" sz="4000" dirty="0"/>
          </a:p>
        </p:txBody>
      </p:sp>
      <p:sp>
        <p:nvSpPr>
          <p:cNvPr id="3" name="S10-card7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7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잠자리는 번데기를 거치지 않고 애벌레에서 바로 어른벌레가 돼요.</a:t>
            </a:r>
            <a:endParaRPr lang="ko-KR" sz="3000" dirty="0"/>
          </a:p>
        </p:txBody>
      </p:sp>
      <p:graphicFrame>
        <p:nvGraphicFramePr>
          <p:cNvPr id="11" name="S10-table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1650238"/>
          <a:ext cx="960120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3360420"/>
                <a:gridCol w="33604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배추흰나비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잠자리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애벌레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잎 위에서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물속에서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번데기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어른벌레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번데기를 거칠까요?</a:t>
            </a:r>
            <a:endParaRPr lang="ko-KR" sz="4000" dirty="0"/>
          </a:p>
        </p:txBody>
      </p:sp>
      <p:sp>
        <p:nvSpPr>
          <p:cNvPr id="3" name="S11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배추흰나비와 같은지, 잠자리와 같은지 말해요.</a:t>
            </a:r>
            <a:endParaRPr lang="ko-KR" sz="3000" dirty="0"/>
          </a:p>
        </p:txBody>
      </p:sp>
      <p:sp>
        <p:nvSpPr>
          <p:cNvPr id="4" name="S11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1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번데기가 있는지 찾아봐요.</a:t>
            </a:r>
            <a:endParaRPr lang="ko-KR" sz="3000" dirty="0"/>
          </a:p>
        </p:txBody>
      </p:sp>
      <p:sp>
        <p:nvSpPr>
          <p:cNvPr id="6" name="S11-chip7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1-text8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사마귀: 알 → 애벌레 → 어른벌레</a:t>
            </a:r>
            <a:endParaRPr lang="ko-KR" sz="3000" dirty="0"/>
          </a:p>
        </p:txBody>
      </p:sp>
      <p:sp>
        <p:nvSpPr>
          <p:cNvPr id="8" name="S11-chip8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1-text8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장수풍뎅이: 알 → 애벌레 → 번데기 → 어른벌레</a:t>
            </a:r>
            <a:endParaRPr lang="ko-KR" sz="3000" dirty="0"/>
          </a:p>
        </p:txBody>
      </p:sp>
      <p:sp>
        <p:nvSpPr>
          <p:cNvPr id="10" name="S11-chip8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1-text8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메뚜기: 알 → 애벌레 → 어른벌레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어른벌레 · 알 · 번데기 · 애벌레</a:t>
            </a:r>
            <a:endParaRPr lang="ko-KR" sz="3000" dirty="0"/>
          </a:p>
        </p:txBody>
      </p:sp>
      <p:sp>
        <p:nvSpPr>
          <p:cNvPr id="4" name="S12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생각한 까닭도 말해요.</a:t>
            </a:r>
            <a:endParaRPr lang="ko-KR" sz="3000" dirty="0"/>
          </a:p>
        </p:txBody>
      </p:sp>
      <p:sp>
        <p:nvSpPr>
          <p:cNvPr id="6" name="S12-chip8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2-text8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배추흰나비의 한살이를 차례대로 말해요.</a:t>
            </a:r>
            <a:endParaRPr lang="ko-KR" sz="3000" dirty="0"/>
          </a:p>
        </p:txBody>
      </p:sp>
      <p:sp>
        <p:nvSpPr>
          <p:cNvPr id="8" name="S12-chip9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2-text9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번데기 단계의 특징을 한 가지 말해요.</a:t>
            </a:r>
            <a:endParaRPr lang="ko-KR" sz="3000" dirty="0"/>
          </a:p>
        </p:txBody>
      </p:sp>
      <p:sp>
        <p:nvSpPr>
          <p:cNvPr id="10" name="S12-chip9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2-text9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배추흰나비와 잠자리의 한살이는 무엇이 달라요?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배추흰나비는 알 → 애벌레 → 번데기 → 어른벌레로 자라요.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잠자리는 번데기를 거치지 않아요.</a:t>
            </a:r>
            <a:endParaRPr lang="ko-KR" sz="3000" dirty="0"/>
          </a:p>
        </p:txBody>
      </p:sp>
      <p:sp>
        <p:nvSpPr>
          <p:cNvPr id="5" name="S14-chip9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번데기 단계 기억하기</a:t>
            </a:r>
            <a:endParaRPr lang="ko-KR" sz="2400" dirty="0"/>
          </a:p>
        </p:txBody>
      </p:sp>
      <p:sp>
        <p:nvSpPr>
          <p:cNvPr id="6" name="S14-chip9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애벌레가 바로 나비가 됨</a:t>
            </a:r>
            <a:endParaRPr lang="ko-KR" sz="2400" dirty="0"/>
          </a:p>
        </p:txBody>
      </p:sp>
      <p:sp>
        <p:nvSpPr>
          <p:cNvPr id="7" name="S14-text9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9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배추흰나비 한살이의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단계는?</a:t>
            </a:r>
            <a:endParaRPr lang="ko-KR" sz="2400" dirty="0"/>
          </a:p>
        </p:txBody>
      </p:sp>
      <p:sp>
        <p:nvSpPr>
          <p:cNvPr id="9" name="S14-text10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먹지도 움직이지도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않는 단계는?</a:t>
            </a:r>
            <a:endParaRPr lang="ko-KR" sz="2400" dirty="0"/>
          </a:p>
        </p:txBody>
      </p:sp>
      <p:sp>
        <p:nvSpPr>
          <p:cNvPr id="10" name="S14-text10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번데기를 거치지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않는 곤충은?</a:t>
            </a:r>
            <a:endParaRPr lang="ko-KR" sz="2400" dirty="0"/>
          </a:p>
        </p:txBody>
      </p:sp>
      <p:sp>
        <p:nvSpPr>
          <p:cNvPr id="11" name="S14-text10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식물의 한살이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나비와 참새의 생김새</a:t>
            </a:r>
            <a:endParaRPr lang="ko-KR" sz="4000" dirty="0"/>
          </a:p>
        </p:txBody>
      </p:sp>
      <p:sp>
        <p:nvSpPr>
          <p:cNvPr id="3" name="S15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날아다니지만 생김새가 달라요.</a:t>
            </a:r>
            <a:endParaRPr lang="ko-KR" sz="3000" dirty="0"/>
          </a:p>
        </p:txBody>
      </p:sp>
      <p:sp>
        <p:nvSpPr>
          <p:cNvPr id="4" name="S15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나비는 날개가 있지만 새가 아니에요.</a:t>
            </a:r>
            <a:endParaRPr lang="ko-KR" sz="3000" dirty="0"/>
          </a:p>
        </p:txBody>
      </p:sp>
      <p:graphicFrame>
        <p:nvGraphicFramePr>
          <p:cNvPr id="15" name="S15-table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362200"/>
          <a:ext cx="960120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3264408"/>
                <a:gridCol w="326440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있어요(4장)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있어요(2장)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더듬이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깃털과 부리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동물의 한살이</dc:title>
  <dc:subject>KR22-G03-SCI-ANIMLIFE-L01</dc:subject>
  <dc:creator>education-ppt</dc:creator>
  <cp:lastModifiedBy>education-ppt</cp:lastModifiedBy>
  <cp:revision>1</cp:revision>
  <dcterms:created xsi:type="dcterms:W3CDTF">2026-10-26T09:44:14Z</dcterms:created>
  <dcterms:modified xsi:type="dcterms:W3CDTF">2026-10-26T09:44:14Z</dcterms:modified>
</cp:coreProperties>
</file>