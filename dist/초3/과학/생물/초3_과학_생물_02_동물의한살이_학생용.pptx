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bf53067-38ae-6472-fdeb-441d188e6c45}">
          <p14:sldIdLst>
            <p14:sldId id="256"/>
            <p14:sldId id="257"/>
          </p14:sldIdLst>
        </p14:section>
        <p14:section name="개념" id="{1430c502-233e-dc05-9cc3-3c87462bc070}">
          <p14:sldIdLst>
            <p14:sldId id="258"/>
            <p14:sldId id="259"/>
            <p14:sldId id="260"/>
            <p14:sldId id="261"/>
            <p14:sldId id="262"/>
            <p14:sldId id="264"/>
            <p14:sldId id="265"/>
          </p14:sldIdLst>
        </p14:section>
        <p14:section name="연습" id="{f413315a-e973-5ee1-09aa-d6ecd3cec6b3}">
          <p14:sldIdLst>
            <p14:sldId id="263"/>
            <p14:sldId id="266"/>
          </p14:sldIdLst>
        </p14:section>
        <p14:section name="개념" id="{006061aa-6949-d2e8-dbf2-8a46c02f3990}">
          <p14:sldIdLst/>
        </p14:section>
        <p14:section name="연습" id="{7dcffb49-4f39-63bd-cb14-c43d5c75ff7a}">
          <p14:sldIdLst/>
        </p14:section>
        <p14:section name="확인" id="{46a6eac8-71f8-176e-0e1d-8eee22fd8bcf}">
          <p14:sldIdLst>
            <p14:sldId id="267"/>
          </p14:sldIdLst>
        </p14:section>
        <p14:section name="정리" id="{a436ad00-d56e-d20f-f44b-01ecc83084ef}">
          <p14:sldIdLst>
            <p14:sldId id="268"/>
          </p14:sldIdLst>
        </p14:section>
        <p14:section name="보충" id="{d4c6b8ff-9fcd-6eb8-bbf1-c73130f6f8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동물의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동물의 한살이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애벌레는 어떻게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나비가 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배추흰나비의 한살이를 차례대로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배추흰나비와 잠자리의 한살이를 비교할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나비는 사는 곳에 따라 어떤 동물로 나누었나요?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나비의 생김새를 한 가지 말해요.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‘날개가 있나요?’에 ‘그렇다’인 동물 두 가지는?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한살이란?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동물이 태어나 자라서 다시 알이나 새끼를 낳기까지를 ‘한살이’라고 해요.</a:t>
            </a:r>
            <a:endParaRPr lang="ko-KR" sz="30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배추흰나비의 한살이를 알아봐요.</a:t>
            </a:r>
            <a:endParaRPr lang="ko-KR" sz="3000" dirty="0"/>
          </a:p>
        </p:txBody>
      </p:sp>
      <p:sp>
        <p:nvSpPr>
          <p:cNvPr id="6" name="S03-step12"/>
          <p:cNvSpPr txBox="1"/>
          <p:nvPr/>
        </p:nvSpPr>
        <p:spPr>
          <a:xfrm>
            <a:off x="129387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</a:t>
            </a:r>
            <a:endParaRPr lang="ko-KR" sz="3000" dirty="0"/>
          </a:p>
        </p:txBody>
      </p:sp>
      <p:sp>
        <p:nvSpPr>
          <p:cNvPr id="7" name="S03-line13"/>
          <p:cNvSpPr/>
          <p:nvPr/>
        </p:nvSpPr>
        <p:spPr>
          <a:xfrm>
            <a:off x="4274820" y="330860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3-step14"/>
          <p:cNvSpPr txBox="1"/>
          <p:nvPr/>
        </p:nvSpPr>
        <p:spPr>
          <a:xfrm>
            <a:off x="463143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병아리</a:t>
            </a:r>
            <a:endParaRPr lang="ko-KR" sz="3000" dirty="0"/>
          </a:p>
        </p:txBody>
      </p:sp>
      <p:sp>
        <p:nvSpPr>
          <p:cNvPr id="9" name="S03-line15"/>
          <p:cNvSpPr/>
          <p:nvPr/>
        </p:nvSpPr>
        <p:spPr>
          <a:xfrm>
            <a:off x="7612380" y="3308604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3-step16"/>
          <p:cNvSpPr txBox="1"/>
          <p:nvPr/>
        </p:nvSpPr>
        <p:spPr>
          <a:xfrm>
            <a:off x="7968996" y="2759964"/>
            <a:ext cx="2926080" cy="109728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닭</a:t>
            </a:r>
            <a:endParaRPr lang="ko-KR" sz="3000" dirty="0"/>
          </a:p>
        </p:txBody>
      </p:sp>
      <p:sp>
        <p:nvSpPr>
          <p:cNvPr id="11" name="S03-line17"/>
          <p:cNvSpPr/>
          <p:nvPr/>
        </p:nvSpPr>
        <p:spPr>
          <a:xfrm>
            <a:off x="9432036" y="3857244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2" name="S03-line18"/>
          <p:cNvSpPr/>
          <p:nvPr/>
        </p:nvSpPr>
        <p:spPr>
          <a:xfrm flipH="1">
            <a:off x="2756916" y="4177284"/>
            <a:ext cx="6675120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3" name="S03-line19"/>
          <p:cNvSpPr/>
          <p:nvPr/>
        </p:nvSpPr>
        <p:spPr>
          <a:xfrm flipV="1">
            <a:off x="2756916" y="3875532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3-label20"/>
          <p:cNvSpPr txBox="1"/>
          <p:nvPr/>
        </p:nvSpPr>
        <p:spPr>
          <a:xfrm>
            <a:off x="548640" y="4709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한살이 예상</a:t>
            </a:r>
            <a:endParaRPr lang="ko-KR" sz="40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배추나 케일 잎에 알을 낳아요.</a:t>
            </a:r>
            <a:endParaRPr lang="ko-KR" sz="30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알에서 무엇이 나올까?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무엇을 먹을까?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바로 나비가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 관찰하기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기를 때는 애벌레를 맨손으로 잡지 말고, 관찰한 뒤 손을 씻어요.</a:t>
            </a:r>
            <a:endParaRPr lang="ko-KR" sz="3000" dirty="0"/>
          </a:p>
        </p:txBody>
      </p:sp>
      <p:sp>
        <p:nvSpPr>
          <p:cNvPr id="5" name="S05-card2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모습이 바뀌는 때를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색깔·생김새·하는 일을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견주어요</a:t>
            </a:r>
            <a:endParaRPr lang="ko-KR" sz="3000" dirty="0"/>
          </a:p>
        </p:txBody>
      </p:sp>
      <p:sp>
        <p:nvSpPr>
          <p:cNvPr id="7" name="S05-stepno29"/>
          <p:cNvSpPr txBox="1"/>
          <p:nvPr/>
        </p:nvSpPr>
        <p:spPr>
          <a:xfrm>
            <a:off x="548640" y="1684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0"/>
          <p:cNvSpPr txBox="1"/>
          <p:nvPr/>
        </p:nvSpPr>
        <p:spPr>
          <a:xfrm>
            <a:off x="1325880" y="1684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한살이 영상을 함께 봐요.</a:t>
            </a:r>
            <a:endParaRPr lang="ko-KR" sz="2400" dirty="0"/>
          </a:p>
        </p:txBody>
      </p:sp>
      <p:sp>
        <p:nvSpPr>
          <p:cNvPr id="9" name="S05-stepno31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2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모습이 바뀔 때마다 멈추어요.</a:t>
            </a:r>
            <a:endParaRPr lang="ko-KR" sz="2400" dirty="0"/>
          </a:p>
        </p:txBody>
      </p:sp>
      <p:sp>
        <p:nvSpPr>
          <p:cNvPr id="11" name="S05-stepno33"/>
          <p:cNvSpPr txBox="1"/>
          <p:nvPr/>
        </p:nvSpPr>
        <p:spPr>
          <a:xfrm>
            <a:off x="548640" y="3110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4"/>
          <p:cNvSpPr txBox="1"/>
          <p:nvPr/>
        </p:nvSpPr>
        <p:spPr>
          <a:xfrm>
            <a:off x="1325880" y="3110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색깔, 생김새, 하는 일을 봐요.</a:t>
            </a:r>
            <a:endParaRPr lang="ko-KR" sz="2400" dirty="0"/>
          </a:p>
        </p:txBody>
      </p:sp>
      <p:sp>
        <p:nvSpPr>
          <p:cNvPr id="13" name="S05-stepno35"/>
          <p:cNvSpPr txBox="1"/>
          <p:nvPr/>
        </p:nvSpPr>
        <p:spPr>
          <a:xfrm>
            <a:off x="548640" y="382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6"/>
          <p:cNvSpPr txBox="1"/>
          <p:nvPr/>
        </p:nvSpPr>
        <p:spPr>
          <a:xfrm>
            <a:off x="1325880" y="38237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것을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</a:t>
            </a:r>
            <a:endParaRPr lang="ko-KR" sz="4000" dirty="0"/>
          </a:p>
        </p:txBody>
      </p:sp>
      <p:sp>
        <p:nvSpPr>
          <p:cNvPr id="3" name="S06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차례를 정리해요.</a:t>
            </a:r>
            <a:endParaRPr lang="ko-KR" sz="3000" dirty="0"/>
          </a:p>
        </p:txBody>
      </p:sp>
      <p:sp>
        <p:nvSpPr>
          <p:cNvPr id="4" name="S06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알 → 애벌레 → 번데기 → 어른벌레로 자라요.</a:t>
            </a:r>
            <a:endParaRPr lang="ko-KR" sz="3000" dirty="0"/>
          </a:p>
        </p:txBody>
      </p:sp>
      <p:sp>
        <p:nvSpPr>
          <p:cNvPr id="6" name="S06-step40"/>
          <p:cNvSpPr txBox="1"/>
          <p:nvPr/>
        </p:nvSpPr>
        <p:spPr>
          <a:xfrm>
            <a:off x="548640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</a:t>
            </a:r>
            <a:endParaRPr lang="ko-KR" sz="3000" dirty="0"/>
          </a:p>
        </p:txBody>
      </p:sp>
      <p:sp>
        <p:nvSpPr>
          <p:cNvPr id="7" name="S06-line41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42"/>
          <p:cNvSpPr txBox="1"/>
          <p:nvPr/>
        </p:nvSpPr>
        <p:spPr>
          <a:xfrm>
            <a:off x="3424428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애벌레</a:t>
            </a:r>
            <a:endParaRPr lang="ko-KR" sz="3000" dirty="0"/>
          </a:p>
        </p:txBody>
      </p:sp>
      <p:sp>
        <p:nvSpPr>
          <p:cNvPr id="9" name="S06-line43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44"/>
          <p:cNvSpPr txBox="1"/>
          <p:nvPr/>
        </p:nvSpPr>
        <p:spPr>
          <a:xfrm>
            <a:off x="6300216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</a:t>
            </a:r>
            <a:endParaRPr lang="ko-KR" sz="3000" dirty="0"/>
          </a:p>
        </p:txBody>
      </p:sp>
      <p:sp>
        <p:nvSpPr>
          <p:cNvPr id="11" name="S06-line45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6"/>
          <p:cNvSpPr txBox="1"/>
          <p:nvPr/>
        </p:nvSpPr>
        <p:spPr>
          <a:xfrm>
            <a:off x="9176004" y="2743200"/>
            <a:ext cx="2464308" cy="1188720"/>
          </a:xfrm>
          <a:prstGeom prst="roundRect">
            <a:avLst>
              <a:gd name="adj" fmla="val 9231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</a:t>
            </a:r>
            <a:endParaRPr lang="ko-KR" sz="3000" dirty="0"/>
          </a:p>
        </p:txBody>
      </p:sp>
      <p:sp>
        <p:nvSpPr>
          <p:cNvPr id="13" name="S06-line47"/>
          <p:cNvSpPr/>
          <p:nvPr/>
        </p:nvSpPr>
        <p:spPr>
          <a:xfrm>
            <a:off x="10408158" y="393192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06-line48"/>
          <p:cNvSpPr/>
          <p:nvPr/>
        </p:nvSpPr>
        <p:spPr>
          <a:xfrm flipH="1">
            <a:off x="1780794" y="425196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06-line49"/>
          <p:cNvSpPr/>
          <p:nvPr/>
        </p:nvSpPr>
        <p:spPr>
          <a:xfrm flipV="1">
            <a:off x="1780794" y="395020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달라요</a:t>
            </a:r>
            <a:endParaRPr lang="ko-KR" sz="4000" dirty="0"/>
          </a:p>
        </p:txBody>
      </p:sp>
      <p:sp>
        <p:nvSpPr>
          <p:cNvPr id="3" name="S07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 속에서는 어른벌레의 몸이 만들어져요.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33372"/>
          <a:ext cx="10972800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4389120"/>
                <a:gridCol w="471830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생김새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연한 노란색, 길쭉해요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 뒷면에 붙어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초록색, 몸에 털이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잎을 먹고 허물을 벗으며 자라요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실로 몸을 붙이고 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먹지 않고 움직이지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어른벌레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 4장, 다리 6개,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꽃꿀을 먹고,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암컷은 알을 낳아요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단계일까요?</a:t>
            </a:r>
            <a:endParaRPr lang="ko-KR" sz="4000" dirty="0"/>
          </a:p>
        </p:txBody>
      </p:sp>
      <p:sp>
        <p:nvSpPr>
          <p:cNvPr id="3" name="S08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알맞은 단계를 말해요.</a:t>
            </a:r>
            <a:endParaRPr lang="ko-KR" sz="3000" dirty="0"/>
          </a:p>
        </p:txBody>
      </p:sp>
      <p:sp>
        <p:nvSpPr>
          <p:cNvPr id="4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하는 일을 떠올려요.</a:t>
            </a:r>
            <a:endParaRPr lang="ko-KR" sz="3000" dirty="0"/>
          </a:p>
        </p:txBody>
      </p:sp>
      <p:sp>
        <p:nvSpPr>
          <p:cNvPr id="6" name="S08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 잎을 갉아 먹고 허물을 벗어요.</a:t>
            </a:r>
            <a:endParaRPr lang="ko-KR" sz="3000" dirty="0"/>
          </a:p>
        </p:txBody>
      </p:sp>
      <p:sp>
        <p:nvSpPr>
          <p:cNvPr id="8" name="S08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먹지도 움직이지도 않아요.</a:t>
            </a:r>
            <a:endParaRPr lang="ko-KR" sz="3000" dirty="0"/>
          </a:p>
        </p:txBody>
      </p:sp>
      <p:sp>
        <p:nvSpPr>
          <p:cNvPr id="10" name="S08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꽃에 앉아 꿀을 빨아 먹어요.</a:t>
            </a:r>
            <a:endParaRPr lang="ko-KR" sz="3000" dirty="0"/>
          </a:p>
        </p:txBody>
      </p:sp>
      <p:sp>
        <p:nvSpPr>
          <p:cNvPr id="12" name="S08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8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 뒷면에 작고 노란 것이 붙어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잠자리의 한살이는?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 애벌레는 물속에서 살아요.</a:t>
            </a:r>
            <a:endParaRPr lang="ko-KR" sz="30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쪽일 것 같아요? 예상한 뒤 영상으로 확인해요.</a:t>
            </a:r>
            <a:endParaRPr lang="ko-KR" sz="3000" dirty="0"/>
          </a:p>
        </p:txBody>
      </p:sp>
      <p:sp>
        <p:nvSpPr>
          <p:cNvPr id="6" name="S09-chip67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card68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9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→ 애벌레 → 번데기 → 어른벌레</a:t>
            </a:r>
            <a:endParaRPr lang="ko-KR" sz="3000" dirty="0"/>
          </a:p>
        </p:txBody>
      </p:sp>
      <p:sp>
        <p:nvSpPr>
          <p:cNvPr id="9" name="S09-chip7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9-card71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72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 → 애벌레 → 어른벌레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잠자리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잠자리는 번데기를 거치지 않고 애벌레에서 바로 어른벌레가 돼요.</a:t>
            </a:r>
            <a:endParaRPr lang="ko-KR" sz="3000" dirty="0"/>
          </a:p>
        </p:txBody>
      </p:sp>
      <p:graphicFrame>
        <p:nvGraphicFramePr>
          <p:cNvPr id="11" name="S10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650238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배추흰나비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잠자리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잎 위에서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물속에서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어른벌레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번데기를 거칠까요?</a:t>
            </a:r>
            <a:endParaRPr lang="ko-KR" sz="4000" dirty="0"/>
          </a:p>
        </p:txBody>
      </p:sp>
      <p:sp>
        <p:nvSpPr>
          <p:cNvPr id="3" name="S11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같은지, 잠자리와 같은지 말해요.</a:t>
            </a:r>
            <a:endParaRPr lang="ko-KR" sz="3000" dirty="0"/>
          </a:p>
        </p:txBody>
      </p:sp>
      <p:sp>
        <p:nvSpPr>
          <p:cNvPr id="4" name="S11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번데기가 있는지 찾아봐요.</a:t>
            </a:r>
            <a:endParaRPr lang="ko-KR" sz="3000" dirty="0"/>
          </a:p>
        </p:txBody>
      </p:sp>
      <p:sp>
        <p:nvSpPr>
          <p:cNvPr id="6" name="S11-chip7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8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사마귀: 알 → 애벌레 → 어른벌레</a:t>
            </a:r>
            <a:endParaRPr lang="ko-KR" sz="3000" dirty="0"/>
          </a:p>
        </p:txBody>
      </p:sp>
      <p:sp>
        <p:nvSpPr>
          <p:cNvPr id="8" name="S11-chip8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8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장수풍뎅이: 알 → 애벌레 → 번데기 → 어른벌레</a:t>
            </a:r>
            <a:endParaRPr lang="ko-KR" sz="3000" dirty="0"/>
          </a:p>
        </p:txBody>
      </p:sp>
      <p:sp>
        <p:nvSpPr>
          <p:cNvPr id="10" name="S11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1-text8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메뚜기: 알 → 애벌레 → 어른벌레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 · 알 · 번데기 · 애벌레</a:t>
            </a:r>
            <a:endParaRPr lang="ko-KR" sz="30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0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8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한살이를 차례대로 말해요.</a:t>
            </a:r>
            <a:endParaRPr lang="ko-KR" sz="3000" dirty="0"/>
          </a:p>
        </p:txBody>
      </p:sp>
      <p:sp>
        <p:nvSpPr>
          <p:cNvPr id="8" name="S12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9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번데기 단계의 특징을 한 가지 말해요.</a:t>
            </a:r>
            <a:endParaRPr lang="ko-KR" sz="3000" dirty="0"/>
          </a:p>
        </p:txBody>
      </p:sp>
      <p:sp>
        <p:nvSpPr>
          <p:cNvPr id="10" name="S12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9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배추흰나비와 잠자리의 한살이는 무엇이 달라요?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알 → 애벌레 → 번데기 → 어른벌레로 자라요.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잠자리는 번데기를 거치지 않아요.</a:t>
            </a:r>
            <a:endParaRPr lang="ko-KR" sz="3000" dirty="0"/>
          </a:p>
        </p:txBody>
      </p:sp>
      <p:sp>
        <p:nvSpPr>
          <p:cNvPr id="5" name="S14-chip9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번데기 단계 기억하기</a:t>
            </a:r>
            <a:endParaRPr lang="ko-KR" sz="2400" dirty="0"/>
          </a:p>
        </p:txBody>
      </p:sp>
      <p:sp>
        <p:nvSpPr>
          <p:cNvPr id="6" name="S14-chip9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애벌레가 바로 나비가 됨</a:t>
            </a:r>
            <a:endParaRPr lang="ko-KR" sz="2400" dirty="0"/>
          </a:p>
        </p:txBody>
      </p:sp>
      <p:sp>
        <p:nvSpPr>
          <p:cNvPr id="7" name="S14-text9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 한살이의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단계는?</a:t>
            </a:r>
            <a:endParaRPr lang="ko-KR" sz="2400" dirty="0"/>
          </a:p>
        </p:txBody>
      </p:sp>
      <p:sp>
        <p:nvSpPr>
          <p:cNvPr id="9" name="S14-text10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먹지도 움직이지도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단계는?</a:t>
            </a:r>
            <a:endParaRPr lang="ko-KR" sz="2400" dirty="0"/>
          </a:p>
        </p:txBody>
      </p:sp>
      <p:sp>
        <p:nvSpPr>
          <p:cNvPr id="10" name="S14-text10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번데기를 거치지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곤충은?</a:t>
            </a:r>
            <a:endParaRPr lang="ko-KR" sz="2400" dirty="0"/>
          </a:p>
        </p:txBody>
      </p:sp>
      <p:sp>
        <p:nvSpPr>
          <p:cNvPr id="11" name="S14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식물의 한살이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나비와 참새의 생김새</a:t>
            </a:r>
            <a:endParaRPr lang="ko-KR" sz="4000" dirty="0"/>
          </a:p>
        </p:txBody>
      </p:sp>
      <p:sp>
        <p:nvSpPr>
          <p:cNvPr id="3" name="S15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날아다니지만 생김새가 달라요.</a:t>
            </a:r>
            <a:endParaRPr lang="ko-KR" sz="3000" dirty="0"/>
          </a:p>
        </p:txBody>
      </p:sp>
      <p:sp>
        <p:nvSpPr>
          <p:cNvPr id="4" name="S15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나비는 날개가 있지만 새가 아니에요.</a:t>
            </a:r>
            <a:endParaRPr lang="ko-KR" sz="3000" dirty="0"/>
          </a:p>
        </p:txBody>
      </p:sp>
      <p:graphicFrame>
        <p:nvGraphicFramePr>
          <p:cNvPr id="15" name="S15-table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62200"/>
          <a:ext cx="96012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3264408"/>
                <a:gridCol w="32644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있어요(4장)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있어요(2장)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더듬이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깃털과 부리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동물의 한살이</dc:title>
  <dc:subject>KR22-G03-SCI-ANIMLIFE-L01</dc:subject>
  <dc:creator>education-ppt</dc:creator>
  <cp:lastModifiedBy>education-ppt</cp:lastModifiedBy>
  <cp:revision>1</cp:revision>
  <dcterms:created xsi:type="dcterms:W3CDTF">2026-10-26T09:46:29Z</dcterms:created>
  <dcterms:modified xsi:type="dcterms:W3CDTF">2026-10-26T09:46:29Z</dcterms:modified>
</cp:coreProperties>
</file>