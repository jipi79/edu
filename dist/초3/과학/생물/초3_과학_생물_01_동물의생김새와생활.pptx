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fb10a5e-dad0-a7d6-d1f6-42c94cb34bc0}">
          <p14:sldIdLst>
            <p14:sldId id="256"/>
            <p14:sldId id="257"/>
          </p14:sldIdLst>
        </p14:section>
        <p14:section name="개념" id="{76281c57-e709-7510-b18e-bb7e5e7f5aea}">
          <p14:sldIdLst>
            <p14:sldId id="258"/>
            <p14:sldId id="259"/>
            <p14:sldId id="260"/>
            <p14:sldId id="261"/>
            <p14:sldId id="262"/>
            <p14:sldId id="264"/>
          </p14:sldIdLst>
        </p14:section>
        <p14:section name="연습" id="{db2dde9c-94d8-5288-2595-3063fd9e682b}">
          <p14:sldIdLst>
            <p14:sldId id="263"/>
            <p14:sldId id="265"/>
            <p14:sldId id="266"/>
          </p14:sldIdLst>
        </p14:section>
        <p14:section name="개념" id="{fe8f9848-3348-bf5e-1142-a8172e0715f6}">
          <p14:sldIdLst/>
        </p14:section>
        <p14:section name="연습" id="{555445a0-9b0f-619a-0dd3-a05a6999f89c}">
          <p14:sldIdLst/>
        </p14:section>
        <p14:section name="확인" id="{4a33e533-5bd4-5611-655f-a6b69f6e8057}">
          <p14:sldIdLst>
            <p14:sldId id="267"/>
            <p14:sldId id="268"/>
          </p14:sldIdLst>
        </p14:section>
        <p14:section name="정리" id="{605afbae-43a3-6510-7319-f9cefb2b66d9}">
          <p14:sldIdLst>
            <p14:sldId id="269"/>
          </p14:sldIdLst>
        </p14:section>
        <p14:section name="보충" id="{70c188ee-654c-458e-c69a-c403ab2ed233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오늘의 질문을 던지고, 동물을 관찰해 나누어 보는 수업이라는 것을 알립니다.
시간: 약 2분
이렇게 말해 보세요
- “우리 주변에는 개미, 참새, 고양이처럼 여러 동물이 살지. 이 동물들을 어떻게 나누면 좋을까?”
- “오늘은 동물을 직접 관찰하고, 생김새와 사는 곳에 따라 나누어 볼 거야.”
예상 답
- “큰 동물과 작은 동물이요.” “날 수 있는 것과 못 나는 것이요.”
막히면
- 동물을 떠올리기 어려워하면 동물 도감이나 그림책을 펼쳐 놓고 이야기합니다.
주의
- 아이가 말한 나누는 방법은 S06에서 다시 씁니다. 지금은 고치지 말고 들어 둡니다.
- 관찰할 동물을 미리 정해 둡니다. 개미는 수업 전날 놀이터나 화단에서 함께 보면 좋고, 금붕어·반려동물이 있으면 수업 중에 봅니다. 둘 다 어려우면 교과서 디지털 자료의 동물 영상이나 동물 도감을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확인(한 가지 기준으로 나누기, 관찰)]
목적: 이 차시는 계획상 선수 차시가 없는 생물 단원의 첫 차시입니다. 초1에서 익힌 한 가지 기준으로 나누기와 보고 세는 관찰을 확인합니다.
시간: 약 3분
이렇게 말해 보세요
- “① ‘둥근가요?’에 ‘그렇다’인 것과 ‘그렇지 않다’인 것으로 나누어 볼래?”
- “② 우리 동네나 집에서 본 동물을 말해 줘.”
- “③ 고양이를 떠올려 봐. 다리가 몇 개야?”
정답
- ① 둥글다: 공, 동전 / 둥글지 않다: 책, 주사위
- ② 예: 개, 고양이, 참새, 비둘기, 개미, 나비(동물이면 맞음)
- ③ 4개
막히면
- ①이 어려우면 S15(보충)를 먼저 합니다. 보충으로도 어려우면 초1 ‘한 가지 기준으로 나누기’(KR22-G01-SCI-SORT-L01)를 먼저 합니다.
- ②③이 어려우면 동물 도감이나 그림책을 함께 보며 이름과 다리 수를 말해 봅니다.
주의
- ①에서 ‘그렇다/그렇지 않다’라는 말을 써 두면 S07에서 그대로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예상하기(동물 관찰)]
목적: 관찰하기 전에 생김새와 움직임을 예상하게 합니다(목표 A).
시간: 약 2분
이렇게 말해 보세요
- “어떤 동물을 관찰할까? 그 동물은 다리가 몇 개일 것 같아? 날개나 더듬이가 있을까?”
- “예상을 활동지 1의 ‘내 예상’ 칸에 써 줘.”
예상 답
- “개미는 다리가 4개일 것 같아요.” “금붕어는 다리가 없어요.”(틀린 예상이어도 그대로 씁니다)
막히면
- ‘더듬이’는 머리에 난 가늘고 긴 것, ‘지느러미’는 물고기가 헤엄칠 때 움직이는 얇은 부분이라고 쉬운 말로 알려 줍니다.
주의
- 이 장에서는 정답을 알려 주지 않습니다. 관찰한 뒤 S05에서 견줍니다.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동물 관찰하기]
목적: 고른 동물의 생김새와 움직임을 관찰하고 활동지 1에 기록합니다(목표 A).
시간: 약 7분
이렇게 말해 보세요
- “다리를 손가락으로 가리키며 세어 볼까? 몇 개야?”
- “머리에 더듬이가 있어? 날개나 지느러미는?”
- “어떻게 움직여? 걸어, 기어, 헤엄쳐, 날아?”
예상 답
- 개미: “다리가 6개예요. 더듬이가 있어요. 빠르게 걸어 다녀요.”
- 금붕어: “다리가 없어요. 지느러미를 흔들며 헤엄쳐요.”
막히면
- 개미처럼 작은 동물은 돋보기를 쓰거나, 사진을 찍어 크게 확대해 봅니다.
- 영상으로 볼 때는 멈춤 버튼을 눌러 다리를 셉니다.
주의
- 안전: 개미는 물 수 있으니 손으로 만지지 않습니다. 벌 가까이 가지 않고, 털이 많은 애벌레(쐐기벌레 등)는 만지지 않습니다. 관찰한 뒤에는 손을 씻습니다.
- 우리가 흔히 보는 일개미는 날개가 없습니다. 날개 달린 개미를 보았다면 그것도 개미라고 알려 줍니다.
- 관찰한 동물은 제자리에 두고, 금붕어 어항은 두드리지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여러 동물의 생김새(관찰 결과)]
목적: 여러 동물의 관찰 결과를 모아, 생김새가 동물마다 다르다는 것을 정리하고 아이의 관찰과 견줍니다(목표 A, 오해 M2).
시간: 약 3분
이렇게 말해 보세요
- “네가 관찰한 동물과 비슷한 줄이 있어? 무엇이 같고 무엇이 달라?”
- “참새와 나비는 둘 다 날개가 있지? 그럼 다른 점은 뭘까?”
예상 답
- “나비는 다리가 6개고 더듬이가 있어요. 참새는 다리가 2개고 깃털이 있어요.”
막히면
- 동물 도감이 있으면 표의 동물을 찾아 다리 수를 직접 세어 봅니다.
주의
- 달팽이의 ‘껍데기’는 몸을 보호하는 단단한 집입니다.
- 거미는 곤충이 아니어서 다리가 8개입니다. 곤충·거미 같은 분류 이름은 이 차시에서 가르치지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분류 기준의 조건]
목적: 교과서 용어 ‘분류’와 ‘분류 기준’을 알려 주고, 좋은 분류 기준의 조건을 비교로 보여 줍니다(목표 A, 오해 M1).
시간: 약 2분
이렇게 말해 보세요
- “기준에 따라 나누는 것을 ‘분류’라고 하고, 나누는 데 쓰는 질문을 ‘분류 기준’이라고 해.”
- “달팽이는 귀여워? 엄마(아빠)는 귀엽다고 생각하는데 너는? 생각이 다르면 나눈 결과도 달라지겠지?”
- “다리가 있는지는 누가 봐도 같지?”
예상 답
- “귀여운 건 사람마다 달라요.” “다리는 세어 보면 알아요.”
막히면
- 부모와 아이가 S05의 동물을 ‘귀여운가요?’로 따로 나누어 보고 결과가 같은지 견주어 봅니다.
주의
- S01에서 아이가 말한 ‘큰 동물과 작은 동물’도 기준이 모호합니다. “얼마나 커야 큰 거야?”라고 물어 ‘고양이보다 큰가요?’처럼 바꾸면 좋은 기준이 된다고 알려 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분류 시범(날개가 있나요?)]
목적: 분류 기준으로 동물을 두 무리로 나누는 방법을 시범으로 보여 줍니다(목표 A, 오해 M2).
시간: 약 2분
이렇게 말해 보세요
- “‘날개가 있나요?’라고 물으면 참새는? 그렇다. 고양이는? 그렇지 않다. 이렇게 하나씩 나누어 놓는 거야.”
- “참새와 나비가 같은 무리가 됐네. 그럼 나비도 새일까?”
예상 답
- “아니요. 나비는 깃털이 없고 더듬이가 있어요.”
막히면
- 종이 쪽지에 동물 이름을 써서 ‘그렇다’ 쪽과 ‘그렇지 않다’ 쪽으로 직접 옮겨 놓게 합니다.
주의
- 같은 무리에 들어갔다고 같은 종류의 동물인 것은 아닙니다. 그 기준(날개)에서만 같다는 뜻입니다(오해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분류하기 연습(다리가 있나요?)]
목적: 분류 기준 ‘다리가 있나요?’로 여섯 동물을 직접 나누어 봅니다(목표 A).
시간: 약 3분
이렇게 말해 보세요
- “종이 쪽지 여섯 장에 동물 이름을 쓰고, ‘그렇다’와 ‘그렇지 않다’ 쪽에 놓아 볼래?”
- “다 놓았으면 엄마(아빠)가 나누어도 똑같을까? 같이 확인해 보자.”
정답
- 그렇다(다리가 있다): 개미, 참새, 고양이
- 그렇지 않다(다리가 없다): 지렁이, 뱀, 붕어
막히면
- 뱀이나 지렁이가 헷갈리면 “걸어 다녀, 기어 다녀?”라고 묻습니다.
- 붕어를 망설이면 “붕어는 다리로 걸어, 지느러미로 헤엄쳐?”라고 묻습니다.
주의
- 다 나눈 뒤 활동지 2에 옮겨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사는 곳에 따라 나누기]
목적: 동물을 사는 곳(땅 위·땅속, 물, 날아다님)에 따라 나누고, 사는 곳과 생김새·움직임을 연결합니다(목표 B).
시간: 약 3분
이렇게 말해 보세요
- “땅 위에 사는 동물은 어떻게 움직여? 물에 사는 붕어는 무엇으로 헤엄쳐?”
- “두더지는 땅속에서 앞발로 땅을 파. 땅속에 살기에 알맞지?”
- “참새와 나비는 나무나 꽃에 앉기도 하지만, 날개로 날아다니며 생활해서 ‘날아다니는 동물’로 묶어.”
예상 답
- “땅 위 동물은 다리로 걸어요.” “물고기는 지느러미로 헤엄쳐요.” “새와 나비는 날개가 있어요.”
막히면
- 각 줄에서 동물 하나를 골라 “이 동물이 물에서 살면 어떨까?”처럼 바꾸어 물어 생김새와 사는 곳의 관계를 생각하게 합니다.
주의
- 물에서 사는 동물에는 바닷가 갯벌에 사는 게나 조개도 있습니다. 붕어는 강이나 호수, 고등어는 바다에 삽니다.
- 물고기는 ‘아가미’로 물속에서 숨을 쉽니다. 아이가 물어보면 알려 주되, 이 차시에서 따로 다루지는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사는 곳과 움직이는 방법 말하기]
목적: 처음 보는 동물의 사는 곳과 움직이는 방법을 생김새와 연결해 말합니다(목표 B).
시간: 약 3분
이렇게 말해 보세요
- “①부터 말해 볼래? 어디에 살고, 어떻게 움직여? 그 생김새가 왜 알맞을까?”
정답
- ① 두더지: 땅속, 앞발로 땅을 파며 다님
- ② 고등어: 물(바다), 지느러미로 헤엄침
- ③ 까치: 날아다님, 날개로 날고 땅 위를 걷기도 함
- ④ 달팽이: 땅 위(축축한 풀잎이나 돌 틈), 기어서 움직임
막히면
- S09의 표를 다시 보고 “어느 줄의 동물과 비슷해?”라고 묻습니다.
- 동물 도감이나 교과서 디지털 자료에서 모습을 찾아봅니다.
주의
- 달팽이를 물에 사는 동물로 말하면 “비 온 뒤 어디에서 봤어?”라고 경험을 떠올리게 합니다. 물속에 사는 달팽이(우렁이 등)도 있지만, 우리가 흔히 보는 달팽이는 땅 위의 축축한 곳에 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오해 비교(다리가 없으면?)]
목적: 다리가 없는 동물도 사는 곳에 알맞은 방법으로 움직인다는 것을 비교로 확인합니다(목표 B, 오해 M3).
시간: 약 2분
이렇게 말해 보세요
- “뱀은 다리가 없는데 어떻게 움직여? 금붕어는?”
- “지렁이나 달팽이는 어떻게 움직였지?”
정답
- 친구의 말은 맞지 않습니다. 뱀은 몸을 구불구불 움직여 기어가고, 금붕어는 지느러미로 헤엄칩니다. 지렁이와 달팽이도 기어서 움직입니다.
막히면
- 금붕어가 있으면 어항을 보며 지느러미가 움직이는 것을 함께 봅니다.
주의
- 다리가 없는 것도 그 동물이 사는 곳에서 움직이기에 알맞은 생김새라는 점을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 보기]
목적: 도움 없이 생김새와 사는 곳으로 동물을 분류하고, 생김새와 사는 곳을 연결하는지 확인합니다(목표 A·B).
시간: 약 4분
이렇게 말해 보세요
- “이번에는 혼자 해 볼래? 종이 쪽지에 써서 나누어도 돼.”
- “③은 붕어의 생김새 중 하나를 말하고, 왜 물에서 살기에 좋은지 말해 줘.”
정답
- ① 그렇다: 참새, 나비 / 그렇지 않다: 토끼, 붕어, 지렁이, 고등어
- ② 땅: 토끼(땅 위), 지렁이(땅속) / 물: 붕어, 고등어 / 날아다님: 참새, 나비
- ③ 지느러미가 있어 헤엄칠 수 있다(몸이 매끈하다, 비늘이 있다도 맞음)
막히면
- ①은 S07, ②는 S09를 다시 봅니다.
- 도움을 받아 해결했다면 기록표에 ‘도움’으로 표시합니다.
주의
- 지렁이를 ‘땅’ 무리에 넣으면 맞습니다. ‘땅속’이라고 더 자세히 말하면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답과 같은지 볼까? 다르면 어디가 달랐는지 찾아보자.”
정답
- ① 그렇다: 참새, 나비 / 그렇지 않다: 토끼, 붕어, 지렁이, 고등어 ② 땅: 토끼, 지렁이 / 물: 붕어, 고등어 / 날아다님: 참새, 나비 ③ 지느러미
막히면
- ①에서 나비를 빼면 S05의 나비 줄(날개 있음)을, ②에서 지렁이를 물에 넣으면 비 온 뒤 땅 위로 나온 지렁이 경험을 떠올리게 합니다.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1분
이렇게 말해 보세요
- “오늘 배운 것을 두 가지로 말해 볼래?”
예상 답
- “누가 해도 같게 나오는 기준으로 나눠요.” “물고기는 지느러미로 헤엄쳐요.”
정답
- ① 누가 분류해도 같은 결과가 나와야 한다 ② 지느러미 ③ 지렁이, 두더지
막히면
- S06과 S09를 다시 보여 줍니다.
주의
- 다음 시간에는 나비가 알에서 어떻게 자라는지 배웁니다. 산책할 때 배추나 케일 잎 뒷면을 살펴보면 좋은 준비가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보충(한 가지 기준으로 나누기)]
목적: 집에 있는 물건으로 한 가지 기준을 정해 두 무리로 나누는 연습을 합니다.
시간: 약 4분
이렇게 말해 보세요
- “이 숟가락은 쇠로 만들었어? 그럼 ‘그렇다’ 쪽에 놓자. 컵은?”
- “이번에는 엄마(아빠)가 나누어 볼게. 너랑 똑같이 나뉘었어?”
예상 답
- 아이가 물건을 두 곳으로 나누고, 부모가 나눈 결과와 같다고 말합니다.
막히면
- 물건을 두 개만 놓고 시작합니다. ‘그렇다’ 쪽과 ‘그렇지 않다’ 쪽에 종이를 깔아 자리를 정해 줍니다.
- 이 차시는 계획상 선수 차시가 없습니다. 보충으로도 나누기가 어려우면 초1 ‘한 가지 기준으로 나누기’(KR22-G01-SCI-SORT-L01)를 먼저 하고, 관찰이 어려우면 초1 ‘오감으로 관찰하기’(KR22-G01-SCI-SENSES-L01)를 먼저 합니다.
주의
- 집마다 숟가락·컵의 재료가 다를 수 있습니다. 결과가 집마다 달라도, 같은 물건을 두 사람이 나누었을 때 같으면 좋은 기준입니다.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생물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동물의 생김새와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동물의 생김새와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동물의 생김새와 생활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동물의 생김새와 생활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동물을 어떻게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나눌 수 있을까?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생김새를 기준으로 동물을 두 무리로 나눌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사는 곳에 따라 동물을 나누고 생김새와 이어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나누기 전에 확인해요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공, 동전, 책, 주사위를 ‘둥근가요?’로 두 무리로 나누어요.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집이나 밖에서 본 동물 세 가지를 말해요.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고양이의 다리는 몇 개인가요?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전에 예상해요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동물을 하나 골라요.</a:t>
            </a:r>
            <a:endParaRPr lang="ko-KR" sz="3000" dirty="0"/>
          </a:p>
        </p:txBody>
      </p:sp>
      <p:sp>
        <p:nvSpPr>
          <p:cNvPr id="4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개미, 금붕어, 우리 집 동물 중 하나를 골라요.</a:t>
            </a:r>
            <a:endParaRPr lang="ko-KR" sz="3000" dirty="0"/>
          </a:p>
        </p:txBody>
      </p:sp>
      <p:graphicFrame>
        <p:nvGraphicFramePr>
          <p:cNvPr id="4" name="S03-table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362200"/>
          <a:ext cx="10058400" cy="914400"/>
        </p:xfrm>
        <a:graphic>
          <a:graphicData uri="http://schemas.openxmlformats.org/drawingml/2006/table">
            <a:tbl>
              <a:tblPr/>
              <a:tblGrid>
                <a:gridCol w="6236208"/>
                <a:gridCol w="382219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관찰할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다리는 몇 개일까?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날개·더듬이·지느러미가 있을까?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 움직일까?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어디에서 살까?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 관찰하기</a:t>
            </a:r>
            <a:endParaRPr lang="ko-KR" sz="4000" dirty="0"/>
          </a:p>
        </p:txBody>
      </p:sp>
      <p:sp>
        <p:nvSpPr>
          <p:cNvPr id="3" name="S04-card1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동물을 손으로 잡거나 괴롭히지 않고, 관찰한 뒤 손을 씻어요.</a:t>
            </a:r>
            <a:endParaRPr lang="ko-KR" sz="3000" dirty="0"/>
          </a:p>
        </p:txBody>
      </p:sp>
      <p:sp>
        <p:nvSpPr>
          <p:cNvPr id="5" name="S04-card15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6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수를 세어서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것만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견주어요</a:t>
            </a:r>
            <a:endParaRPr lang="ko-KR" sz="3000" dirty="0"/>
          </a:p>
        </p:txBody>
      </p:sp>
      <p:sp>
        <p:nvSpPr>
          <p:cNvPr id="7" name="S04-stepno17"/>
          <p:cNvSpPr txBox="1"/>
          <p:nvPr/>
        </p:nvSpPr>
        <p:spPr>
          <a:xfrm>
            <a:off x="548640" y="14935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4-text18"/>
          <p:cNvSpPr txBox="1"/>
          <p:nvPr/>
        </p:nvSpPr>
        <p:spPr>
          <a:xfrm>
            <a:off x="1325880" y="14935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다리를 세어 봐요.</a:t>
            </a:r>
            <a:endParaRPr lang="ko-KR" sz="3000" dirty="0"/>
          </a:p>
        </p:txBody>
      </p:sp>
      <p:sp>
        <p:nvSpPr>
          <p:cNvPr id="9" name="S04-stepno19"/>
          <p:cNvSpPr txBox="1"/>
          <p:nvPr/>
        </p:nvSpPr>
        <p:spPr>
          <a:xfrm>
            <a:off x="548640" y="22524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4-text20"/>
          <p:cNvSpPr txBox="1"/>
          <p:nvPr/>
        </p:nvSpPr>
        <p:spPr>
          <a:xfrm>
            <a:off x="1325880" y="220675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날개·더듬이·지느러미를 찾아요.</a:t>
            </a:r>
            <a:endParaRPr lang="ko-KR" sz="3000" dirty="0"/>
          </a:p>
        </p:txBody>
      </p:sp>
      <p:sp>
        <p:nvSpPr>
          <p:cNvPr id="11" name="S04-stepno21"/>
          <p:cNvSpPr txBox="1"/>
          <p:nvPr/>
        </p:nvSpPr>
        <p:spPr>
          <a:xfrm>
            <a:off x="548640" y="33009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4-text22"/>
          <p:cNvSpPr txBox="1"/>
          <p:nvPr/>
        </p:nvSpPr>
        <p:spPr>
          <a:xfrm>
            <a:off x="1325880" y="33009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움직이는지 봐요.</a:t>
            </a:r>
            <a:endParaRPr lang="ko-KR" sz="3000" dirty="0"/>
          </a:p>
        </p:txBody>
      </p:sp>
      <p:sp>
        <p:nvSpPr>
          <p:cNvPr id="13" name="S04-stepno23"/>
          <p:cNvSpPr txBox="1"/>
          <p:nvPr/>
        </p:nvSpPr>
        <p:spPr>
          <a:xfrm>
            <a:off x="548640" y="40142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4-text24"/>
          <p:cNvSpPr txBox="1"/>
          <p:nvPr/>
        </p:nvSpPr>
        <p:spPr>
          <a:xfrm>
            <a:off x="1325880" y="40142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것을 활동지 표에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동물의 생김새</a:t>
            </a:r>
            <a:endParaRPr lang="ko-KR" sz="4000" dirty="0"/>
          </a:p>
        </p:txBody>
      </p:sp>
      <p:sp>
        <p:nvSpPr>
          <p:cNvPr id="3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동물마다 다리 수, 날개, 지느러미 같은 생김새가 달라요.</a:t>
            </a:r>
            <a:endParaRPr lang="ko-KR" sz="3000" dirty="0"/>
          </a:p>
        </p:txBody>
      </p:sp>
      <p:graphicFrame>
        <p:nvGraphicFramePr>
          <p:cNvPr id="6" name="S05-table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1537716"/>
          <a:ext cx="10058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10512"/>
                <a:gridCol w="2011680"/>
                <a:gridCol w="422452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밖에 눈에 띄는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부리, 깃털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더듬이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고양이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털, 수염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몸이 두 부분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달팽이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더듬이, 껍데기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금붕어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지느러미, 비늘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분류 기준은?</a:t>
            </a:r>
            <a:endParaRPr lang="ko-KR" sz="4000" dirty="0"/>
          </a:p>
        </p:txBody>
      </p:sp>
      <p:sp>
        <p:nvSpPr>
          <p:cNvPr id="3" name="S06-card2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2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동물을 두 무리로 나누려고 질문을 만들었어요.</a:t>
            </a:r>
            <a:endParaRPr lang="ko-KR" sz="3000" dirty="0"/>
          </a:p>
        </p:txBody>
      </p:sp>
      <p:sp>
        <p:nvSpPr>
          <p:cNvPr id="5" name="S06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기준은 누가 해도 같은 결과가 나와야 해요.</a:t>
            </a:r>
            <a:endParaRPr lang="ko-KR" sz="3000" dirty="0"/>
          </a:p>
        </p:txBody>
      </p:sp>
      <p:sp>
        <p:nvSpPr>
          <p:cNvPr id="7" name="S06-chip3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다리가 있나요?</a:t>
            </a:r>
            <a:endParaRPr lang="ko-KR" sz="2400" dirty="0"/>
          </a:p>
        </p:txBody>
      </p:sp>
      <p:sp>
        <p:nvSpPr>
          <p:cNvPr id="8" name="S06-text3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나누어도 결과가 같아요.</a:t>
            </a:r>
            <a:endParaRPr lang="ko-KR" sz="3000" dirty="0"/>
          </a:p>
        </p:txBody>
      </p:sp>
      <p:sp>
        <p:nvSpPr>
          <p:cNvPr id="9" name="S06-chip3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귀여운가요?</a:t>
            </a:r>
            <a:endParaRPr lang="ko-KR" sz="2400" dirty="0"/>
          </a:p>
        </p:txBody>
      </p:sp>
      <p:sp>
        <p:nvSpPr>
          <p:cNvPr id="10" name="S06-text3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사람마다 생각이 달라 결과가 달라요.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‘날개가 있나요?’로 나누기</a:t>
            </a:r>
            <a:endParaRPr lang="ko-KR" sz="4000" dirty="0"/>
          </a:p>
        </p:txBody>
      </p:sp>
      <p:sp>
        <p:nvSpPr>
          <p:cNvPr id="3" name="S07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 본 여섯 동물을 두 무리로 나누었어요.</a:t>
            </a:r>
            <a:endParaRPr lang="ko-KR" sz="3000" dirty="0"/>
          </a:p>
        </p:txBody>
      </p:sp>
      <p:sp>
        <p:nvSpPr>
          <p:cNvPr id="4" name="S07-card3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3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기준은 ‘그렇다, 그렇지 않다’로 답할 수 있는 질문으로 만들어요.</a:t>
            </a:r>
            <a:endParaRPr lang="ko-KR" sz="3000" dirty="0"/>
          </a:p>
        </p:txBody>
      </p:sp>
      <p:graphicFrame>
        <p:nvGraphicFramePr>
          <p:cNvPr id="8" name="S07-table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606802"/>
          <a:ext cx="91440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45720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그렇다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그렇지 않다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97739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참새, 나비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고양이, 거미,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달팽이, 금붕어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‘다리가 있나요?’로 나누기</a:t>
            </a:r>
            <a:endParaRPr lang="ko-KR" sz="4000" dirty="0"/>
          </a:p>
        </p:txBody>
      </p:sp>
      <p:sp>
        <p:nvSpPr>
          <p:cNvPr id="3" name="S08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 · 지렁이 · 참새 · 뱀 · 고양이 · 붕어</a:t>
            </a:r>
            <a:endParaRPr lang="ko-KR" sz="3000" dirty="0"/>
          </a:p>
        </p:txBody>
      </p:sp>
      <p:sp>
        <p:nvSpPr>
          <p:cNvPr id="4" name="S08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쪽지에 이름을 써서 두 무리로 놓아 봐요.</a:t>
            </a:r>
            <a:endParaRPr lang="ko-KR" sz="3000" dirty="0"/>
          </a:p>
        </p:txBody>
      </p:sp>
      <p:graphicFrame>
        <p:nvGraphicFramePr>
          <p:cNvPr id="9" name="S08-table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739390"/>
          <a:ext cx="91440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45720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그렇다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그렇지 않다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사는 곳에 따라 나누기</a:t>
            </a:r>
            <a:endParaRPr lang="ko-KR" sz="4000" dirty="0"/>
          </a:p>
        </p:txBody>
      </p:sp>
      <p:sp>
        <p:nvSpPr>
          <p:cNvPr id="3" name="S09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동물은 사는 곳에 알맞은 생김새로 움직여요.</a:t>
            </a:r>
            <a:endParaRPr lang="ko-KR" sz="3000" dirty="0"/>
          </a:p>
        </p:txBody>
      </p:sp>
      <p:graphicFrame>
        <p:nvGraphicFramePr>
          <p:cNvPr id="10" name="S09-table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019300"/>
          <a:ext cx="10515600" cy="914400"/>
        </p:xfrm>
        <a:graphic>
          <a:graphicData uri="http://schemas.openxmlformats.org/drawingml/2006/table">
            <a:tbl>
              <a:tblPr/>
              <a:tblGrid>
                <a:gridCol w="2313432"/>
                <a:gridCol w="3785616"/>
                <a:gridCol w="441655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사는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움직이는 방법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땅 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고양이, 토끼, 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걷거나 기어 다녀요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땅속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지렁이, 두더지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땅을 파거나 기어요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붕어, 고등어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지느러미로 헤엄쳐요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날아다녀요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참새, 나비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날개로 날아요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살까요?</a:t>
            </a:r>
            <a:endParaRPr lang="ko-KR" sz="4000" dirty="0"/>
          </a:p>
        </p:txBody>
      </p:sp>
      <p:sp>
        <p:nvSpPr>
          <p:cNvPr id="3" name="S10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사는 곳과 움직이는 방법을 말해요.</a:t>
            </a:r>
            <a:endParaRPr lang="ko-KR" sz="3000" dirty="0"/>
          </a:p>
        </p:txBody>
      </p:sp>
      <p:sp>
        <p:nvSpPr>
          <p:cNvPr id="4" name="S10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생김새를 떠올리면 사는 곳이 보여요.</a:t>
            </a:r>
            <a:endParaRPr lang="ko-KR" sz="3000" dirty="0"/>
          </a:p>
        </p:txBody>
      </p:sp>
      <p:sp>
        <p:nvSpPr>
          <p:cNvPr id="6" name="S10-chip5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5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두더지</a:t>
            </a:r>
            <a:endParaRPr lang="ko-KR" sz="3000" dirty="0"/>
          </a:p>
        </p:txBody>
      </p:sp>
      <p:sp>
        <p:nvSpPr>
          <p:cNvPr id="8" name="S10-chip5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5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고등어</a:t>
            </a:r>
            <a:endParaRPr lang="ko-KR" sz="3000" dirty="0"/>
          </a:p>
        </p:txBody>
      </p:sp>
      <p:sp>
        <p:nvSpPr>
          <p:cNvPr id="10" name="S10-chip5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5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까치</a:t>
            </a:r>
            <a:endParaRPr lang="ko-KR" sz="3000" dirty="0"/>
          </a:p>
        </p:txBody>
      </p:sp>
      <p:sp>
        <p:nvSpPr>
          <p:cNvPr id="12" name="S10-chip5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0-text5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달팽이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다리가 없으면 못 움직일까?</a:t>
            </a:r>
            <a:endParaRPr lang="ko-KR" sz="4000" dirty="0"/>
          </a:p>
        </p:txBody>
      </p:sp>
      <p:sp>
        <p:nvSpPr>
          <p:cNvPr id="3" name="S11-card5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5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‘다리가 없는 동물은 움직일 수 없어.’라고 했어요.</a:t>
            </a:r>
            <a:endParaRPr lang="ko-KR" sz="3000" dirty="0"/>
          </a:p>
        </p:txBody>
      </p:sp>
      <p:sp>
        <p:nvSpPr>
          <p:cNvPr id="5" name="S11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말이 맞을까요? 왜 그럴까요?</a:t>
            </a:r>
            <a:endParaRPr lang="ko-KR" sz="3000" dirty="0"/>
          </a:p>
        </p:txBody>
      </p:sp>
      <p:sp>
        <p:nvSpPr>
          <p:cNvPr id="7" name="S11-chip6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뱀</a:t>
            </a:r>
            <a:endParaRPr lang="ko-KR" sz="2400" dirty="0"/>
          </a:p>
        </p:txBody>
      </p:sp>
      <p:sp>
        <p:nvSpPr>
          <p:cNvPr id="8" name="S11-text6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몸을 구불구불 움직여 기어가요.</a:t>
            </a:r>
            <a:endParaRPr lang="ko-KR" sz="3000" dirty="0"/>
          </a:p>
        </p:txBody>
      </p:sp>
      <p:sp>
        <p:nvSpPr>
          <p:cNvPr id="9" name="S11-chip6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금붕어</a:t>
            </a:r>
            <a:endParaRPr lang="ko-KR" sz="2400" dirty="0"/>
          </a:p>
        </p:txBody>
      </p:sp>
      <p:sp>
        <p:nvSpPr>
          <p:cNvPr id="10" name="S11-text6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지느러미를 움직여 헤엄쳐요.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 · 붕어 · 참새 · 지렁이 · 나비 · 고등어</a:t>
            </a:r>
            <a:endParaRPr lang="ko-KR" sz="3000" dirty="0"/>
          </a:p>
        </p:txBody>
      </p:sp>
      <p:sp>
        <p:nvSpPr>
          <p:cNvPr id="4" name="S12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나눈 까닭도 말해요.</a:t>
            </a:r>
            <a:endParaRPr lang="ko-KR" sz="3000" dirty="0"/>
          </a:p>
        </p:txBody>
      </p:sp>
      <p:sp>
        <p:nvSpPr>
          <p:cNvPr id="6" name="S12-chip6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2-text7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‘날개가 있나요?’로 두 무리로 나누어요.</a:t>
            </a:r>
            <a:endParaRPr lang="ko-KR" sz="3000" dirty="0"/>
          </a:p>
        </p:txBody>
      </p:sp>
      <p:sp>
        <p:nvSpPr>
          <p:cNvPr id="8" name="S12-chip7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2-text7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땅, 물, 날아다님의 세 무리로 나누어요.</a:t>
            </a:r>
            <a:endParaRPr lang="ko-KR" sz="3000" dirty="0"/>
          </a:p>
        </p:txBody>
      </p:sp>
      <p:sp>
        <p:nvSpPr>
          <p:cNvPr id="10" name="S12-chip7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2-text7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붕어가 물에서 살기에 알맞은 생김새는?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3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②의 땅은 토끼·지렁이, 날아다니는 동물은 참새·나비예요.</a:t>
            </a:r>
            <a:endParaRPr lang="ko-KR" sz="3000" dirty="0"/>
          </a:p>
        </p:txBody>
      </p:sp>
      <p:sp>
        <p:nvSpPr>
          <p:cNvPr id="5" name="S13-chip7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3-text78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참새, 나비</a:t>
            </a:r>
            <a:endParaRPr lang="ko-KR" sz="3000" dirty="0"/>
          </a:p>
        </p:txBody>
      </p:sp>
      <p:sp>
        <p:nvSpPr>
          <p:cNvPr id="7" name="S13-text79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날개가 있어요</a:t>
            </a:r>
            <a:endParaRPr lang="ko-KR" sz="2400" dirty="0"/>
          </a:p>
        </p:txBody>
      </p:sp>
      <p:sp>
        <p:nvSpPr>
          <p:cNvPr id="8" name="S13-text80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붕어, 고등어</a:t>
            </a:r>
            <a:endParaRPr lang="ko-KR" sz="3000" dirty="0"/>
          </a:p>
        </p:txBody>
      </p:sp>
      <p:sp>
        <p:nvSpPr>
          <p:cNvPr id="9" name="S13-text81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물에서 살아요</a:t>
            </a:r>
            <a:endParaRPr lang="ko-KR" sz="2400" dirty="0"/>
          </a:p>
        </p:txBody>
      </p:sp>
      <p:sp>
        <p:nvSpPr>
          <p:cNvPr id="10" name="S13-text82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지느러미</a:t>
            </a:r>
            <a:endParaRPr lang="ko-KR" sz="3000" dirty="0"/>
          </a:p>
        </p:txBody>
      </p:sp>
      <p:sp>
        <p:nvSpPr>
          <p:cNvPr id="11" name="S13-text83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헤엄치기 좋아요</a:t>
            </a:r>
            <a:endParaRPr lang="ko-KR" sz="2400" dirty="0"/>
          </a:p>
        </p:txBody>
      </p:sp>
      <p:sp>
        <p:nvSpPr>
          <p:cNvPr id="12" name="S13-chip8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3-text8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나비를 새라고 함</a:t>
            </a:r>
            <a:endParaRPr lang="ko-KR" sz="3000" dirty="0"/>
          </a:p>
        </p:txBody>
      </p:sp>
      <p:sp>
        <p:nvSpPr>
          <p:cNvPr id="14" name="S13-text8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깃털·부리가 없어요</a:t>
            </a:r>
            <a:endParaRPr lang="ko-KR" sz="2400" dirty="0"/>
          </a:p>
        </p:txBody>
      </p:sp>
      <p:sp>
        <p:nvSpPr>
          <p:cNvPr id="15" name="S13-text8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지렁이를 물에 넣음</a:t>
            </a:r>
            <a:endParaRPr lang="ko-KR" sz="3000" dirty="0"/>
          </a:p>
        </p:txBody>
      </p:sp>
      <p:sp>
        <p:nvSpPr>
          <p:cNvPr id="16" name="S13-text8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땅속에 살아요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9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0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같은 결과가 나오는 분류 기준으로 동물을 나눠요.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동물은 사는 곳에 알맞은 생김새로 움직여요.</a:t>
            </a:r>
            <a:endParaRPr lang="ko-KR" sz="3000" dirty="0"/>
          </a:p>
        </p:txBody>
      </p:sp>
      <p:sp>
        <p:nvSpPr>
          <p:cNvPr id="5" name="S14-chip91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‘다리가 있나요?’ 같은 기준</a:t>
            </a:r>
            <a:endParaRPr lang="ko-KR" sz="2400" dirty="0"/>
          </a:p>
        </p:txBody>
      </p:sp>
      <p:sp>
        <p:nvSpPr>
          <p:cNvPr id="6" name="S14-chip92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‘귀여운가요?’ 같은 기준</a:t>
            </a:r>
            <a:endParaRPr lang="ko-KR" sz="2400" dirty="0"/>
          </a:p>
        </p:txBody>
      </p:sp>
      <p:sp>
        <p:nvSpPr>
          <p:cNvPr id="7" name="S14-text93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94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좋은 분류 기준의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조건은?</a:t>
            </a:r>
            <a:endParaRPr lang="ko-KR" sz="2400" dirty="0"/>
          </a:p>
        </p:txBody>
      </p:sp>
      <p:sp>
        <p:nvSpPr>
          <p:cNvPr id="9" name="S14-text95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물에서 사는 동물이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헤엄치는 생김새는?</a:t>
            </a:r>
            <a:endParaRPr lang="ko-KR" sz="2400" dirty="0"/>
          </a:p>
        </p:txBody>
      </p:sp>
      <p:sp>
        <p:nvSpPr>
          <p:cNvPr id="10" name="S14-text96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땅속에 사는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 하나는?</a:t>
            </a:r>
            <a:endParaRPr lang="ko-KR" sz="2400" dirty="0"/>
          </a:p>
        </p:txBody>
      </p:sp>
      <p:sp>
        <p:nvSpPr>
          <p:cNvPr id="11" name="S14-text9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동물의 한살이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한 가지 기준으로 나누기</a:t>
            </a:r>
            <a:endParaRPr lang="ko-KR" sz="4000" dirty="0"/>
          </a:p>
        </p:txBody>
      </p:sp>
      <p:sp>
        <p:nvSpPr>
          <p:cNvPr id="3" name="S15-text9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숟가락, 젓가락, 컵, 접시를 나누어요.</a:t>
            </a:r>
            <a:endParaRPr lang="ko-KR" sz="3000" dirty="0"/>
          </a:p>
        </p:txBody>
      </p:sp>
      <p:sp>
        <p:nvSpPr>
          <p:cNvPr id="4" name="S15-card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나누어도 같은 결과가 나오는 질문이 좋은 기준이에요.</a:t>
            </a:r>
            <a:endParaRPr lang="ko-KR" sz="3000" dirty="0"/>
          </a:p>
        </p:txBody>
      </p:sp>
      <p:sp>
        <p:nvSpPr>
          <p:cNvPr id="6" name="S15-stepno101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5-text102"/>
          <p:cNvSpPr txBox="1"/>
          <p:nvPr/>
        </p:nvSpPr>
        <p:spPr>
          <a:xfrm>
            <a:off x="1325880" y="25786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하나 정해요. “쇠로 만들었나요?”</a:t>
            </a:r>
            <a:endParaRPr lang="ko-KR" sz="3000" dirty="0"/>
          </a:p>
        </p:txBody>
      </p:sp>
      <p:sp>
        <p:nvSpPr>
          <p:cNvPr id="8" name="S15-stepno103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5-text104"/>
          <p:cNvSpPr txBox="1"/>
          <p:nvPr/>
        </p:nvSpPr>
        <p:spPr>
          <a:xfrm>
            <a:off x="1325880" y="32918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‘그렇다’와 ‘그렇지 않다’ 두 곳에 놓아요.</a:t>
            </a:r>
            <a:endParaRPr lang="ko-KR" sz="3000" dirty="0"/>
          </a:p>
        </p:txBody>
      </p:sp>
      <p:sp>
        <p:nvSpPr>
          <p:cNvPr id="10" name="S15-stepno105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5-text106"/>
          <p:cNvSpPr txBox="1"/>
          <p:nvPr/>
        </p:nvSpPr>
        <p:spPr>
          <a:xfrm>
            <a:off x="1325880" y="40050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나누어도 같은지 확인해요.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동물의 생김새와 생활</dc:title>
  <dc:subject>KR22-G03-SCI-ANIMAL-L01</dc:subject>
  <dc:creator>education-ppt</dc:creator>
  <cp:lastModifiedBy>education-ppt</cp:lastModifiedBy>
  <cp:revision>1</cp:revision>
  <dcterms:created xsi:type="dcterms:W3CDTF">2026-10-26T09:46:26Z</dcterms:created>
  <dcterms:modified xsi:type="dcterms:W3CDTF">2026-10-26T09:46:26Z</dcterms:modified>
</cp:coreProperties>
</file>