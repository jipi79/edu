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23df8b7-5438-887b-31b8-c1483b08a51b}">
          <p14:sldIdLst>
            <p14:sldId id="256"/>
            <p14:sldId id="257"/>
          </p14:sldIdLst>
        </p14:section>
        <p14:section name="개념" id="{38e9ca35-9b3f-e7bb-dd5c-b6ab5139a8c2}">
          <p14:sldIdLst>
            <p14:sldId id="258"/>
            <p14:sldId id="259"/>
            <p14:sldId id="260"/>
          </p14:sldIdLst>
        </p14:section>
        <p14:section name="연습" id="{192c44af-edf4-efd9-8211-feab67d0acc4}">
          <p14:sldIdLst>
            <p14:sldId id="261"/>
            <p14:sldId id="262"/>
            <p14:sldId id="263"/>
          </p14:sldIdLst>
        </p14:section>
        <p14:section name="확인" id="{6a8bbf26-52aa-a198-d756-1adcec1a4c5a}">
          <p14:sldIdLst>
            <p14:sldId id="264"/>
            <p14:sldId id="265"/>
            <p14:sldId id="266"/>
          </p14:sldIdLst>
        </p14:section>
        <p14:section name="정리" id="{a4b0154c-fba9-9ff3-2443-bf205edcea21}">
          <p14:sldIdLst>
            <p14:sldId id="267"/>
          </p14:sldIdLst>
        </p14:section>
        <p14:section name="보충" id="{1df86e43-7105-9eb9-c53d-21b90f0b4f2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 ‘가장 중요한 문장’에 대해 먼저 생각해 보게 합니다.
시간: 약 2분
이렇게 말해 보세요
- “글을 읽을 때 문장이 다 똑같이 중요할까? 오늘은 가장 중요한 문장을 찾는 방법을 배울 거야.”
예상 답
- “첫 문장이요.” “잘 모르겠어요.”
주의
- 아이의 생각을 고치지 말고 들어 둡니다. S07에서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확인(문단)]
목적: 문단이 줄을 바꾸고 한 칸 들여 쓴 덩어리라는 것을 아는지 확인합니다.
시간: 약 3분
이렇게 말해 보세요
- “문단은 몇 개야? 어디서 문단이 새로 시작되는지 손가락으로 짚어 볼래?”
정답
- 3개. 줄을 바꾸고 첫 칸을 들여 쓴 곳에서 새 문단이 시작됩니다.
막히면
- 문단의 첫 글자 앞 빈칸을 짚어 보여 줍니다.
- 문장과 문단을 헷갈리면 S13(보충)을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용어 설명]
목적: 문단, 중심 문장, 뒷받침 문장의 뜻을 알려 줍니다.
시간: 약 3분
이렇게 말해 보세요
- “한 문단에는 하고 싶은 말이 하나 있어. 그 말을 담은 문장이 중심 문장이야.”
- “나머지 문장들은 중심 문장을 자세히 설명해 줘. 그래서 뒷받침 문장이라고 해.”
예상 답
- “중심 문장은 대장 문장이에요.”
막히면
- S13의 ‘과일 바구니’ 비유를 먼저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읽기]
목적: 부모가 생각을 소리 내어 말하며 중심 문장 찾는 과정을 보여 줍니다.
시간: 약 4분
이렇게 말해 보세요
- “엄마(아빠)가 먼저 생각해 볼게. 이 문단은 무엇에 대한 이야기일까? 고양이가 몸을 깨끗이 하는 이야기네.”
- “혀로 털을 핥는 것, 앞발로 얼굴을 씻는 것은 모두 몸을 깨끗이 하는 방법이야. 그러니까 첫 문장이 중심 문장이야.”
예상 답
- “고양이는 몸을 깨끗이 하는 동물입니다.”
정답
- 중심 문장: 고양이는 몸을 깨끗이 하는 동물입니다.
막히면
- 문장마다 손가락으로 짚으며 “이 문장은 무엇을 말해?”라고 하나씩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문장들의 관계]
목적: 뒷받침 문장들이 중심 문장의 어떤 점을 설명하는지 연결합니다.
시간: 약 3분
이렇게 말해 보세요
- “뒷받침 문장 1은 중심 문장의 무엇을 설명해?”
- “이 문장들을 빼면 ‘어떻게 깨끗이 하는지’ 알 수 있을까?”
예상 답
- “깨끗이 하는 방법을 알려 줘요.”
막히면
- ‘어떻게?’라는 질문에 답하는 문장을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함께 찾기(중심 문장이 끝)]
목적: 중심 문장이 끝에 있는 문단에서도 찾을 수 있게 합니다.
시간: 약 4분
이렇게 말해 보세요
- “이번에는 함께 찾아보자. 이 문단은 무엇에 대한 이야기야?”
- “냄새 길, 먹이 함께 나르기를 한마디로 하면?”
정답
- 중심 문장: 이처럼 개미는 서로 도우며 살아갑니다.(마지막 문장)
- 앞의 세 문장은 개미가 서로 돕는 예입니다.
막히면
- ‘이처럼’이라는 말이 앞의 내용을 묶어 준다는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비교]
목적: 첫 문장이 늘 중심 문장이라는 오해(M1)를 바로잡습니다.
시간: 약 3분
이렇게 말해 보세요
- “두 문단을 보면 친구 말이 맞아?”
- “그럼 자리 말고 무엇을 보고 찾아야 할까?”
정답
- 친구의 말은 틀렸습니다. 중심 문장은 처음, 끝, 가운데 어디에나 있을 수 있습니다.
- 다른 문장들이 모두 설명하는 문장을 찾습니다.
막히면
- S06의 개미 문단을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찾는 방법 정리]
목적: 찾는 방법을 순서대로 정리해 혼자 할 때 쓰게 합니다.
시간: 약 3분
이렇게 말해 보세요
- “방금 개미 문단에서 우리가 한 순서를 정리해 보자.”
- “4번은 확인하는 방법이야. 중심 문장을 빼면 무슨 이야기인지 알기 어려워져.”
예상 답
- 아이가 1~4를 자기 말로 다시 말합니다.
막히면
- 단계마다 개미 문단에 직접 해 보게 합니다.
주의
- 아이가 지치면 여기서 쉬고, 다음 날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찾기]
목적: 도움 없이 중심 문장과 뒷받침 문장을 찾는지 확인합니다.
시간: 약 4분
이렇게 말해 보세요
- “이번에는 혼자 해 볼래? 활동지에 밑줄을 그어도 돼.”
정답
- 중심 문장: 우리 몸에서 물은 여러 가지 일을 합니다.
- 뒷받침 문장: 나머지 세 문장 중 아무것이나(땀, 소화, 찌꺼기 내보내기).
막히면
- S08의 단계 2 “무엇에 대한 이야기야?”부터 다시 묻습니다.
- 도움을 받아 찾았다면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확인하고 흔한 실수와 비교합니다.
시간: 약 2분
이렇게 말해 보세요
- “네가 고른 문장은 왼쪽이야, 오른쪽이야?”
- “오른쪽 문장은 왜 중심 문장이 아닐까?”
예상 답
- “물이 하는 일 중 하나만 말하니까요.”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뒷받침 문장의 역할(목표 B)을 확인합니다.
시간: 약 2분
이렇게 말해 보세요
- “뒷받침 문장이 하는 일은 무엇일까? 고양이 문단을 떠올려 봐.”
정답
- 나. (가는 중심 문장이 하는 일입니다.)
막히면
- S05의 카드를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“오늘 배운 것을 한 문장으로 말해 볼래?”
예상 답
- “중심 문장은 문단에서 가장 중요한 문장이고, 뒷받침 문장이 설명해 줘요.”
정답
- ① 한 가지 생각을 담은 글의 덩어리 ② 문단 전체의 생각을 나타내는 문장 ③ 중심 문장을 자세히 설명하는 문장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보충(한 가지 생각으로 묶기)]
목적: 문장이 아니라 낱말로 ‘묶는 말’과 ‘묶이는 말’의 관계를 먼저 익힙니다.
시간: 약 4분
이렇게 말해 보세요
- “사과, 배, 귤을 한마디로 하면 뭐라고 할까?”
- “연필, 지우개, 공책을 묶는 말은?”
정답
- 과일 / 학용품
막히면
- 집에 있는 물건(수저, 그릇)을 모아 놓고 묶는 말을 찾게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읽기와어휘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문단의 중심 문장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문단의 중심 문장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문단의 중심 문장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문단의 중심 문장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문단에서 가장 중요한 문장은 무엇일까?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문단에서 중심 문장을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뒷받침 문장이 하는 일을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문단은 몇 개일까요?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글은 문단이 몇 개일까요? 무엇을 보고 알았나요?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공원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동네에는 큰 공원이 있습니다. 공원 가운데에는 분수가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공원에서는 여러 사람이 운동을 합니다. 아침마다 할머니들이 걷기를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저녁이 되면 가족들이 산책을 나옵니다. 강아지와 함께 오는 사람도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이루는 문장들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 하나 + 뒷받침 문장 여러 개 = 문단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생각을 담은 글의 덩어리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전체의 생각을 나타내는 문장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자세히 설명하는 문장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 문단 읽기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문장들이 모두 설명하고 있는 문장은 무엇일까요?</a:t>
            </a:r>
            <a:endParaRPr lang="ko-KR" sz="30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고양이는 몸을 깨끗이 하는 동물입니다. 고양이는 혀로 털을 핥아 먼지를 닦아 냅니다. 앞발에 침을 묻혀 얼굴도 씻습니다. 그래서 고양이의 털은 늘 반질반질합니다.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문장과 뒷받침 문장</a:t>
            </a:r>
            <a:endParaRPr lang="ko-KR" sz="4000" dirty="0"/>
          </a:p>
        </p:txBody>
      </p:sp>
      <p:sp>
        <p:nvSpPr>
          <p:cNvPr id="3" name="S05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문장은 중심 문장을 자세히 설명해요.</a:t>
            </a:r>
            <a:endParaRPr lang="ko-KR" sz="3000" dirty="0"/>
          </a:p>
        </p:txBody>
      </p:sp>
      <p:sp>
        <p:nvSpPr>
          <p:cNvPr id="5" name="S05-card2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고양이는 몸을 깨끗이 하는 동물입니다.</a:t>
            </a:r>
            <a:endParaRPr lang="ko-KR" sz="3000" dirty="0"/>
          </a:p>
        </p:txBody>
      </p:sp>
      <p:sp>
        <p:nvSpPr>
          <p:cNvPr id="7" name="S05-card2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혀로 털을 핥아 먼지를 닦아 냅니다.</a:t>
            </a:r>
            <a:endParaRPr lang="ko-KR" sz="3000" dirty="0"/>
          </a:p>
        </p:txBody>
      </p:sp>
      <p:sp>
        <p:nvSpPr>
          <p:cNvPr id="9" name="S05-card2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5-cardtext2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앞발에 침을 묻혀 얼굴도 씻습니다.</a:t>
            </a:r>
            <a:endParaRPr lang="ko-KR" sz="3000" dirty="0"/>
          </a:p>
        </p:txBody>
      </p:sp>
      <p:sp>
        <p:nvSpPr>
          <p:cNvPr id="11" name="S05-card2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5-cardtext2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털은 늘 반질반질합니다.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문단 읽기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 어디에 있나요? 다른 문장들은 무엇을 설명하나요?</a:t>
            </a:r>
            <a:endParaRPr lang="ko-KR" sz="3000" dirty="0"/>
          </a:p>
        </p:txBody>
      </p:sp>
      <p:sp>
        <p:nvSpPr>
          <p:cNvPr id="5" name="S06-passagebox3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개미는 먹이를 찾으면 냄새 길을 남깁니다. 다른 개미들은 그 냄새를 따라 먹이를 찾아갑니다. 또 개미들은 무거운 먹이를 함께 나릅니다. 이처럼 개미는 서로 도우며 살아갑니다.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문장이 늘 중심 문장일까?</a:t>
            </a:r>
            <a:endParaRPr lang="ko-KR" sz="4000" dirty="0"/>
          </a:p>
        </p:txBody>
      </p:sp>
      <p:sp>
        <p:nvSpPr>
          <p:cNvPr id="3" name="S07-card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친구는 “첫 문장이 항상 중심 문장이야.”라고 했어요.</a:t>
            </a:r>
            <a:endParaRPr lang="ko-KR" sz="3000" dirty="0"/>
          </a:p>
        </p:txBody>
      </p:sp>
      <p:sp>
        <p:nvSpPr>
          <p:cNvPr id="5" name="S07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말이 맞을까요? 중심 문장은 어떻게 찾을까요?</a:t>
            </a:r>
            <a:endParaRPr lang="ko-KR" sz="3000" dirty="0"/>
          </a:p>
        </p:txBody>
      </p:sp>
      <p:sp>
        <p:nvSpPr>
          <p:cNvPr id="7" name="S07-chip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 문단</a:t>
            </a:r>
            <a:endParaRPr lang="ko-KR" sz="2400" dirty="0"/>
          </a:p>
        </p:txBody>
      </p:sp>
      <p:sp>
        <p:nvSpPr>
          <p:cNvPr id="8" name="S07-text3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문장이 처음에 있어요.</a:t>
            </a:r>
            <a:endParaRPr lang="ko-KR" sz="3000" dirty="0"/>
          </a:p>
        </p:txBody>
      </p:sp>
      <p:sp>
        <p:nvSpPr>
          <p:cNvPr id="9" name="S07-chip3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문단</a:t>
            </a:r>
            <a:endParaRPr lang="ko-KR" sz="2400" dirty="0"/>
          </a:p>
        </p:txBody>
      </p:sp>
      <p:sp>
        <p:nvSpPr>
          <p:cNvPr id="10" name="S07-text4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문장이 끝에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 찾는 방법</a:t>
            </a:r>
            <a:endParaRPr lang="ko-KR" sz="4000" dirty="0"/>
          </a:p>
        </p:txBody>
      </p:sp>
      <p:sp>
        <p:nvSpPr>
          <p:cNvPr id="3" name="S08-stepno41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8-text42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끝까지 읽어요.</a:t>
            </a:r>
            <a:endParaRPr lang="ko-KR" sz="3000" dirty="0"/>
          </a:p>
        </p:txBody>
      </p:sp>
      <p:sp>
        <p:nvSpPr>
          <p:cNvPr id="5" name="S08-stepno43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8-text44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대한 이야기인지 한마디로 말해요.</a:t>
            </a:r>
            <a:endParaRPr lang="ko-KR" sz="3000" dirty="0"/>
          </a:p>
        </p:txBody>
      </p:sp>
      <p:sp>
        <p:nvSpPr>
          <p:cNvPr id="7" name="S08-stepno45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8-text46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문장들이 모두 설명하는 문장을 골라요.</a:t>
            </a:r>
            <a:endParaRPr lang="ko-KR" sz="3000" dirty="0"/>
          </a:p>
        </p:txBody>
      </p:sp>
      <p:sp>
        <p:nvSpPr>
          <p:cNvPr id="9" name="S08-stepno47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8-text48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문장을 빼고 읽어 뜻이 흐려지는지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card4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문장에 밑줄을 긋고, 그것을 뒷받침하는 문장을 하나 말해 보세요.</a:t>
            </a:r>
            <a:endParaRPr lang="ko-KR" sz="3000" dirty="0"/>
          </a:p>
        </p:txBody>
      </p:sp>
      <p:sp>
        <p:nvSpPr>
          <p:cNvPr id="5" name="S09-passagebox51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2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몸에서 물은 여러 가지 일을 합니다. 물은 땀이 되어 몸의 열을 식혀 줍니다. 또 음식이 잘 소화되도록 돕습니다. 몸속 찌꺼기를 오줌으로 내보내는 데에도 물이 필요합니다.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0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문장은 중심 문장의 예를 들어 자세히 설명해요.</a:t>
            </a:r>
            <a:endParaRPr lang="ko-KR" sz="3000" dirty="0"/>
          </a:p>
        </p:txBody>
      </p:sp>
      <p:sp>
        <p:nvSpPr>
          <p:cNvPr id="5" name="S10-chip5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56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몸에서 물은 여러 가지 일을 합니다.</a:t>
            </a:r>
            <a:endParaRPr lang="ko-KR" sz="2400" dirty="0"/>
          </a:p>
        </p:txBody>
      </p:sp>
      <p:sp>
        <p:nvSpPr>
          <p:cNvPr id="7" name="S10-text57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문장이 물이 하는 일을 하나씩 설명해요</a:t>
            </a:r>
            <a:endParaRPr lang="ko-KR" sz="2400" dirty="0"/>
          </a:p>
        </p:txBody>
      </p:sp>
      <p:sp>
        <p:nvSpPr>
          <p:cNvPr id="8" name="S10-chip5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9" name="S10-text5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땀이 되어 몸의 열을 식혀 줍니다.</a:t>
            </a:r>
            <a:endParaRPr lang="ko-KR" sz="2400" dirty="0"/>
          </a:p>
        </p:txBody>
      </p:sp>
      <p:sp>
        <p:nvSpPr>
          <p:cNvPr id="10" name="S10-text6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하는 일 중 하나(뒷받침 문장)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문장이 하는 일은?</a:t>
            </a:r>
            <a:endParaRPr lang="ko-KR" sz="4000" dirty="0"/>
          </a:p>
        </p:txBody>
      </p:sp>
      <p:sp>
        <p:nvSpPr>
          <p:cNvPr id="3" name="S11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000" dirty="0"/>
          </a:p>
        </p:txBody>
      </p:sp>
      <p:sp>
        <p:nvSpPr>
          <p:cNvPr id="5" name="S11-chip63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1-card64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65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문단의 생각을 한 문장으로 나타내요.</a:t>
            </a:r>
            <a:endParaRPr lang="ko-KR" sz="3000" dirty="0"/>
          </a:p>
        </p:txBody>
      </p:sp>
      <p:sp>
        <p:nvSpPr>
          <p:cNvPr id="8" name="S11-chip66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1-card67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1-cardtext68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자세히 설명해요.</a:t>
            </a:r>
            <a:endParaRPr lang="ko-KR" sz="3000" dirty="0"/>
          </a:p>
        </p:txBody>
      </p:sp>
      <p:sp>
        <p:nvSpPr>
          <p:cNvPr id="11" name="S11-chip69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1-card70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1-cardtext71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제목을 알려 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7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문단에는 중심 문장이 있고, 뒷받침 문장이 그것을 자세히 설명해요.</a:t>
            </a:r>
            <a:endParaRPr lang="ko-KR" sz="3000" dirty="0"/>
          </a:p>
        </p:txBody>
      </p:sp>
      <p:sp>
        <p:nvSpPr>
          <p:cNvPr id="5" name="S12-chip7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문장들이 설명하는 문장 찾기</a:t>
            </a:r>
            <a:endParaRPr lang="ko-KR" sz="2400" dirty="0"/>
          </a:p>
        </p:txBody>
      </p:sp>
      <p:sp>
        <p:nvSpPr>
          <p:cNvPr id="6" name="S12-chip7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첫 문장이라서 고르기</a:t>
            </a:r>
            <a:endParaRPr lang="ko-KR" sz="2400" dirty="0"/>
          </a:p>
        </p:txBody>
      </p:sp>
      <p:sp>
        <p:nvSpPr>
          <p:cNvPr id="7" name="S12-text7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7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문단이란?</a:t>
            </a:r>
            <a:endParaRPr lang="ko-KR" sz="2400" dirty="0"/>
          </a:p>
        </p:txBody>
      </p:sp>
      <p:sp>
        <p:nvSpPr>
          <p:cNvPr id="9" name="S12-text7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중심 문장의 뜻</a:t>
            </a:r>
            <a:endParaRPr lang="ko-KR" sz="2400" dirty="0"/>
          </a:p>
        </p:txBody>
      </p:sp>
      <p:sp>
        <p:nvSpPr>
          <p:cNvPr id="10" name="S12-text7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뒷받침 문장의 뜻</a:t>
            </a:r>
            <a:endParaRPr lang="ko-KR" sz="2400" dirty="0"/>
          </a:p>
        </p:txBody>
      </p:sp>
      <p:sp>
        <p:nvSpPr>
          <p:cNvPr id="11" name="S12-text8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문맥으로 낱말 뜻 짐작하기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하나로 묶는 말</a:t>
            </a:r>
            <a:endParaRPr lang="ko-KR" sz="4000" dirty="0"/>
          </a:p>
        </p:txBody>
      </p:sp>
      <p:sp>
        <p:nvSpPr>
          <p:cNvPr id="3" name="S13-card81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82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‘과일’이 나머지를 모두 묶어요</a:t>
            </a:r>
            <a:endParaRPr lang="ko-KR" sz="3000" dirty="0"/>
          </a:p>
        </p:txBody>
      </p:sp>
      <p:sp>
        <p:nvSpPr>
          <p:cNvPr id="5" name="S13-card83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84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문장도 다른 문장을 묶어요</a:t>
            </a:r>
            <a:endParaRPr lang="ko-KR" sz="3000" dirty="0"/>
          </a:p>
        </p:txBody>
      </p:sp>
      <p:sp>
        <p:nvSpPr>
          <p:cNvPr id="7" name="S13-word85"/>
          <p:cNvSpPr txBox="1"/>
          <p:nvPr/>
        </p:nvSpPr>
        <p:spPr>
          <a:xfrm>
            <a:off x="548640" y="2159508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묶는 말</a:t>
            </a:r>
            <a:endParaRPr lang="ko-KR" sz="3400" dirty="0"/>
          </a:p>
        </p:txBody>
      </p:sp>
      <p:sp>
        <p:nvSpPr>
          <p:cNvPr id="8" name="S13-word86"/>
          <p:cNvSpPr txBox="1"/>
          <p:nvPr/>
        </p:nvSpPr>
        <p:spPr>
          <a:xfrm>
            <a:off x="3390138" y="2159508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400" dirty="0"/>
          </a:p>
        </p:txBody>
      </p:sp>
      <p:sp>
        <p:nvSpPr>
          <p:cNvPr id="9" name="S13-word87"/>
          <p:cNvSpPr txBox="1"/>
          <p:nvPr/>
        </p:nvSpPr>
        <p:spPr>
          <a:xfrm>
            <a:off x="6231636" y="2159508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3400" dirty="0"/>
          </a:p>
        </p:txBody>
      </p:sp>
      <p:sp>
        <p:nvSpPr>
          <p:cNvPr id="10" name="S13-word88"/>
          <p:cNvSpPr txBox="1"/>
          <p:nvPr/>
        </p:nvSpPr>
        <p:spPr>
          <a:xfrm>
            <a:off x="9073134" y="2159508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문단의 중심 문장</dc:title>
  <dc:subject>KR22-G03-KOR-MAINIDEA-L01</dc:subject>
  <dc:creator>education-ppt</dc:creator>
  <cp:lastModifiedBy>education-ppt</cp:lastModifiedBy>
  <cp:revision>1</cp:revision>
  <dcterms:created xsi:type="dcterms:W3CDTF">2026-10-26T06:38:31Z</dcterms:created>
  <dcterms:modified xsi:type="dcterms:W3CDTF">2026-10-26T06:38:31Z</dcterms:modified>
</cp:coreProperties>
</file>