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0bd3739-eb07-6705-c3e2-280cc0c4904f}">
          <p14:sldIdLst>
            <p14:sldId id="256"/>
            <p14:sldId id="257"/>
          </p14:sldIdLst>
        </p14:section>
        <p14:section name="개념" id="{6098aeed-513d-8f69-a549-687198dfd93c}">
          <p14:sldIdLst>
            <p14:sldId id="258"/>
            <p14:sldId id="259"/>
            <p14:sldId id="260"/>
          </p14:sldIdLst>
        </p14:section>
        <p14:section name="연습" id="{a6c25948-5b8d-8322-de76-4d744d8ce763}">
          <p14:sldIdLst>
            <p14:sldId id="261"/>
            <p14:sldId id="262"/>
            <p14:sldId id="263"/>
          </p14:sldIdLst>
        </p14:section>
        <p14:section name="확인" id="{1c899a2e-0de0-4ac9-04ee-4dcfdefc4c25}">
          <p14:sldIdLst>
            <p14:sldId id="264"/>
            <p14:sldId id="265"/>
          </p14:sldIdLst>
        </p14:section>
        <p14:section name="정리" id="{01a0fb6a-3f5d-c3e3-fa09-1c1c66ad2757}">
          <p14:sldIdLst>
            <p14:sldId id="266"/>
          </p14:sldIdLst>
        </p14:section>
        <p14:section name="보충" id="{5e7fc4c8-87f8-1004-c42b-14c093becd1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읽기와어휘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문맥으로 낱말 뜻 짐작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문맥으로 낱말 뜻 짐작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국어 · 문맥으로 낱말 뜻 짐작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문맥으로 낱말 뜻 짐작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낱말이 나오면 어떻게 할까?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앞뒤 문장에서 단서를 찾을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단서로 낱말의 뜻을 짐작할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대한 이야기일까요?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문단은 무엇에 대한 이야기인가요? 중심 문장은 무엇인가요?</a:t>
            </a:r>
            <a:endParaRPr lang="ko-KR" sz="30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집 강아지 콩이는 산책을 좋아합니다. 목줄을 보면 꼬리를 흔들며 문 앞으로 달려갑니다. 밖에 나가면 이리저리 냄새를 맡으며 신나게 걷습니다.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문맥과 단서</a:t>
            </a:r>
            <a:endParaRPr lang="ko-KR" sz="4000" dirty="0"/>
          </a:p>
        </p:txBody>
      </p:sp>
      <p:sp>
        <p:nvSpPr>
          <p:cNvPr id="3" name="S03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낱말은 앞뒤 문장에서 단서를 찾아요.</a:t>
            </a:r>
            <a:endParaRPr lang="ko-KR" sz="3000" dirty="0"/>
          </a:p>
        </p:txBody>
      </p:sp>
      <p:sp>
        <p:nvSpPr>
          <p:cNvPr id="5" name="S03-card9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0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문맥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앞뒤 문장이 이어지는 흐름</a:t>
            </a:r>
            <a:endParaRPr lang="ko-KR" sz="3000" dirty="0"/>
          </a:p>
        </p:txBody>
      </p:sp>
      <p:sp>
        <p:nvSpPr>
          <p:cNvPr id="7" name="S03-card11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2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뜻을 알려 주는 말</a:t>
            </a:r>
            <a:endParaRPr lang="ko-KR" sz="3000" dirty="0"/>
          </a:p>
        </p:txBody>
      </p:sp>
      <p:sp>
        <p:nvSpPr>
          <p:cNvPr id="9" name="S03-card13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4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짐작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단서를 보고 뜻을 미루어 생각하기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‘허기지다’의 뜻 찾기</a:t>
            </a:r>
            <a:endParaRPr lang="ko-KR" sz="4000" dirty="0"/>
          </a:p>
        </p:txBody>
      </p:sp>
      <p:sp>
        <p:nvSpPr>
          <p:cNvPr id="3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‘허기졌습니다’는 무슨 뜻일까요? 어떤 말이 알려 주나요?</a:t>
            </a:r>
            <a:endParaRPr lang="ko-KR" sz="3000" dirty="0"/>
          </a:p>
        </p:txBody>
      </p:sp>
      <p:sp>
        <p:nvSpPr>
          <p:cNvPr id="5" name="S04-passagebox1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나는 아침을 먹지 못하고 학교에 갔습니다. 점심시간이 되자 몹시 ‘허기졌습니다’. 배에서 꼬르륵 소리가 났습니다. 나는 밥을 두 그릇이나 먹었습니다.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 뜻 짐작하는 방법</a:t>
            </a:r>
            <a:endParaRPr lang="ko-KR" sz="4000" dirty="0"/>
          </a:p>
        </p:txBody>
      </p:sp>
      <p:sp>
        <p:nvSpPr>
          <p:cNvPr id="3" name="S05-stepno19"/>
          <p:cNvSpPr txBox="1"/>
          <p:nvPr/>
        </p:nvSpPr>
        <p:spPr>
          <a:xfrm>
            <a:off x="548640" y="20711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5-text20"/>
          <p:cNvSpPr txBox="1"/>
          <p:nvPr/>
        </p:nvSpPr>
        <p:spPr>
          <a:xfrm>
            <a:off x="1325880" y="207111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낱말에 ○ 해요.</a:t>
            </a:r>
            <a:endParaRPr lang="ko-KR" sz="3000" dirty="0"/>
          </a:p>
        </p:txBody>
      </p:sp>
      <p:sp>
        <p:nvSpPr>
          <p:cNvPr id="5" name="S05-stepno21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5-text22"/>
          <p:cNvSpPr txBox="1"/>
          <p:nvPr/>
        </p:nvSpPr>
        <p:spPr>
          <a:xfrm>
            <a:off x="1325880" y="278434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앞뒤 문장을 다시 읽어요.</a:t>
            </a:r>
            <a:endParaRPr lang="ko-KR" sz="3000" dirty="0"/>
          </a:p>
        </p:txBody>
      </p:sp>
      <p:sp>
        <p:nvSpPr>
          <p:cNvPr id="7" name="S05-stepno23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5-text24"/>
          <p:cNvSpPr txBox="1"/>
          <p:nvPr/>
        </p:nvSpPr>
        <p:spPr>
          <a:xfrm>
            <a:off x="1325880" y="349758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단서가 되는 말에 밑줄을 그어요.</a:t>
            </a:r>
            <a:endParaRPr lang="ko-KR" sz="3000" dirty="0"/>
          </a:p>
        </p:txBody>
      </p:sp>
      <p:sp>
        <p:nvSpPr>
          <p:cNvPr id="9" name="S05-stepno25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5-text26"/>
          <p:cNvSpPr txBox="1"/>
          <p:nvPr/>
        </p:nvSpPr>
        <p:spPr>
          <a:xfrm>
            <a:off x="1325880" y="4210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뜻을 짐작해 쉬운 말로 말해요.</a:t>
            </a:r>
            <a:endParaRPr lang="ko-KR" sz="3000" dirty="0"/>
          </a:p>
        </p:txBody>
      </p:sp>
      <p:sp>
        <p:nvSpPr>
          <p:cNvPr id="11" name="S05-stepno27"/>
          <p:cNvSpPr txBox="1"/>
          <p:nvPr/>
        </p:nvSpPr>
        <p:spPr>
          <a:xfrm>
            <a:off x="548640" y="4924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2" name="S05-text28"/>
          <p:cNvSpPr txBox="1"/>
          <p:nvPr/>
        </p:nvSpPr>
        <p:spPr>
          <a:xfrm>
            <a:off x="1325880" y="4924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짐작한 뜻을 넣어 읽어 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 문단 읽기</a:t>
            </a:r>
            <a:endParaRPr lang="ko-KR" sz="4000" dirty="0"/>
          </a:p>
        </p:txBody>
      </p:sp>
      <p:sp>
        <p:nvSpPr>
          <p:cNvPr id="3" name="S06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‘능숙하게’는 무슨 뜻일까요? 단서를 모두 찾아보세요.</a:t>
            </a:r>
            <a:endParaRPr lang="ko-KR" sz="3000" dirty="0"/>
          </a:p>
        </p:txBody>
      </p:sp>
      <p:sp>
        <p:nvSpPr>
          <p:cNvPr id="5" name="S06-passagebox3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3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언니는 줄넘기를 ‘능숙하게’ 합니다. 쉬지 않고 백 번이나 넘을 수 있습니다. 하지만 나는 아직 서툽니다. 열 번만 넘어도 줄에 걸립니다.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뜻이 어울릴까?</a:t>
            </a:r>
            <a:endParaRPr lang="ko-KR" sz="4000" dirty="0"/>
          </a:p>
        </p:txBody>
      </p:sp>
      <p:sp>
        <p:nvSpPr>
          <p:cNvPr id="3" name="S07-card3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‘능숙하게’ 자리에 짐작한 뜻을 넣어 읽어 보세요.</a:t>
            </a:r>
            <a:endParaRPr lang="ko-KR" sz="3000" dirty="0"/>
          </a:p>
        </p:txBody>
      </p:sp>
      <p:sp>
        <p:nvSpPr>
          <p:cNvPr id="5" name="S07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뒤 문장과 잘 어울리나요? 왜 그런가요?</a:t>
            </a:r>
            <a:endParaRPr lang="ko-KR" sz="3000" dirty="0"/>
          </a:p>
        </p:txBody>
      </p:sp>
      <p:sp>
        <p:nvSpPr>
          <p:cNvPr id="7" name="S07-chip3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‘싫어하다’로 짐작</a:t>
            </a:r>
            <a:endParaRPr lang="ko-KR" sz="2400" dirty="0"/>
          </a:p>
        </p:txBody>
      </p:sp>
      <p:sp>
        <p:nvSpPr>
          <p:cNvPr id="8" name="S07-text3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언니는 줄넘기를 싫어합니다. 하지만 나는 아직 서툽니다.</a:t>
            </a:r>
            <a:endParaRPr lang="ko-KR" sz="3000" dirty="0"/>
          </a:p>
        </p:txBody>
      </p:sp>
      <p:sp>
        <p:nvSpPr>
          <p:cNvPr id="9" name="S07-chip3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‘잘하다’로 짐작</a:t>
            </a:r>
            <a:endParaRPr lang="ko-KR" sz="2400" dirty="0"/>
          </a:p>
        </p:txBody>
      </p:sp>
      <p:sp>
        <p:nvSpPr>
          <p:cNvPr id="10" name="S07-text4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언니는 줄넘기를 잘합니다. 하지만 나는 아직 서툽니다.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단서를 찾아요</a:t>
            </a:r>
            <a:endParaRPr lang="ko-KR" sz="4000" dirty="0"/>
          </a:p>
        </p:txBody>
      </p:sp>
      <p:sp>
        <p:nvSpPr>
          <p:cNvPr id="3" name="S08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단서를 찾아 말하고, 낱말의 뜻을 짐작해 보세요.</a:t>
            </a:r>
            <a:endParaRPr lang="ko-KR" sz="3000" dirty="0"/>
          </a:p>
        </p:txBody>
      </p:sp>
      <p:sp>
        <p:nvSpPr>
          <p:cNvPr id="4" name="S08-chip4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8-text43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방이 ‘어수선해요’. 장난감과 옷이 바닥에 흩어져 있어요.</a:t>
            </a:r>
            <a:endParaRPr lang="ko-KR" sz="3000" dirty="0"/>
          </a:p>
        </p:txBody>
      </p:sp>
      <p:sp>
        <p:nvSpPr>
          <p:cNvPr id="6" name="S08-chip4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8-text4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날씨가 ‘쌀쌀해서’ 겉옷을 입었어요. 손도 시렸어요.</a:t>
            </a:r>
            <a:endParaRPr lang="ko-KR" sz="3000" dirty="0"/>
          </a:p>
        </p:txBody>
      </p:sp>
      <p:sp>
        <p:nvSpPr>
          <p:cNvPr id="8" name="S08-chip4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8-text4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주지 않았더니 꽃이 ‘시들었어요’. 잎도 축 처졌어요.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‘서식합니다’의 뜻을 짐작하고, 단서에 밑줄을 그어 보세요.</a:t>
            </a:r>
            <a:endParaRPr lang="ko-KR" sz="3000" dirty="0"/>
          </a:p>
        </p:txBody>
      </p:sp>
      <p:sp>
        <p:nvSpPr>
          <p:cNvPr id="5" name="S09-passagebox5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5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수달은 맑은 물이 흐르는 강가에 ‘서식합니다’. 수달은 물가의 굴에서 지내며 물고기를 잡아먹습니다. 이처럼 수달은 물과 가까운 곳에서 살아갑니다.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뜻은 무엇일까요?</a:t>
            </a:r>
            <a:endParaRPr lang="ko-KR" sz="4000" dirty="0"/>
          </a:p>
        </p:txBody>
      </p:sp>
      <p:sp>
        <p:nvSpPr>
          <p:cNvPr id="3" name="S11-text52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주말이라 놀이공원은 사람들로 ‘북적였습니다’. 놀이 기구마다 줄이 길었습니다.</a:t>
            </a:r>
            <a:endParaRPr lang="ko-KR" sz="3000" dirty="0"/>
          </a:p>
        </p:txBody>
      </p:sp>
      <p:sp>
        <p:nvSpPr>
          <p:cNvPr id="4" name="S11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뜻을 넣어 읽고, 단서를 말해 보세요.</a:t>
            </a:r>
            <a:endParaRPr lang="ko-KR" sz="3000" dirty="0"/>
          </a:p>
        </p:txBody>
      </p:sp>
      <p:sp>
        <p:nvSpPr>
          <p:cNvPr id="6" name="S11-chip55"/>
          <p:cNvSpPr txBox="1"/>
          <p:nvPr/>
        </p:nvSpPr>
        <p:spPr>
          <a:xfrm>
            <a:off x="1991868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1-card56"/>
          <p:cNvSpPr/>
          <p:nvPr/>
        </p:nvSpPr>
        <p:spPr>
          <a:xfrm>
            <a:off x="548640" y="3142488"/>
            <a:ext cx="3453384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57"/>
          <p:cNvSpPr txBox="1"/>
          <p:nvPr/>
        </p:nvSpPr>
        <p:spPr>
          <a:xfrm>
            <a:off x="822960" y="3279648"/>
            <a:ext cx="2904744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텅 비어 조용했어요.</a:t>
            </a:r>
            <a:endParaRPr lang="ko-KR" sz="3000" dirty="0"/>
          </a:p>
        </p:txBody>
      </p:sp>
      <p:sp>
        <p:nvSpPr>
          <p:cNvPr id="9" name="S11-chip58"/>
          <p:cNvSpPr txBox="1"/>
          <p:nvPr/>
        </p:nvSpPr>
        <p:spPr>
          <a:xfrm>
            <a:off x="5811012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1-card59"/>
          <p:cNvSpPr/>
          <p:nvPr/>
        </p:nvSpPr>
        <p:spPr>
          <a:xfrm>
            <a:off x="4367784" y="3142488"/>
            <a:ext cx="3453384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60"/>
          <p:cNvSpPr txBox="1"/>
          <p:nvPr/>
        </p:nvSpPr>
        <p:spPr>
          <a:xfrm>
            <a:off x="4642104" y="3279648"/>
            <a:ext cx="2904744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많아 붐볐어요.</a:t>
            </a:r>
            <a:endParaRPr lang="ko-KR" sz="3000" dirty="0"/>
          </a:p>
        </p:txBody>
      </p:sp>
      <p:sp>
        <p:nvSpPr>
          <p:cNvPr id="12" name="S11-chip61"/>
          <p:cNvSpPr txBox="1"/>
          <p:nvPr/>
        </p:nvSpPr>
        <p:spPr>
          <a:xfrm>
            <a:off x="9630156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1-card62"/>
          <p:cNvSpPr/>
          <p:nvPr/>
        </p:nvSpPr>
        <p:spPr>
          <a:xfrm>
            <a:off x="8186928" y="3142488"/>
            <a:ext cx="3453384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63"/>
          <p:cNvSpPr txBox="1"/>
          <p:nvPr/>
        </p:nvSpPr>
        <p:spPr>
          <a:xfrm>
            <a:off x="8461248" y="3279648"/>
            <a:ext cx="2904744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와서 젖었어요.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64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65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낱말은 앞뒤 문장의 단서로 뜻을 짐작하고, 넣어 읽어 확인해요.</a:t>
            </a:r>
            <a:endParaRPr lang="ko-KR" sz="3000" dirty="0"/>
          </a:p>
        </p:txBody>
      </p:sp>
      <p:sp>
        <p:nvSpPr>
          <p:cNvPr id="5" name="S12-chip66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앞뒤 문장 모두 읽기</a:t>
            </a:r>
            <a:endParaRPr lang="ko-KR" sz="2400" dirty="0"/>
          </a:p>
        </p:txBody>
      </p:sp>
      <p:sp>
        <p:nvSpPr>
          <p:cNvPr id="6" name="S12-chip67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모르면 그냥 건너뛰기</a:t>
            </a:r>
            <a:endParaRPr lang="ko-KR" sz="2400" dirty="0"/>
          </a:p>
        </p:txBody>
      </p:sp>
      <p:sp>
        <p:nvSpPr>
          <p:cNvPr id="7" name="S12-text68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text69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단서란?</a:t>
            </a:r>
            <a:endParaRPr lang="ko-KR" sz="2400" dirty="0"/>
          </a:p>
        </p:txBody>
      </p:sp>
      <p:sp>
        <p:nvSpPr>
          <p:cNvPr id="9" name="S12-text70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‘허기지다’의 뜻</a:t>
            </a:r>
            <a:endParaRPr lang="ko-KR" sz="2400" dirty="0"/>
          </a:p>
        </p:txBody>
      </p:sp>
      <p:sp>
        <p:nvSpPr>
          <p:cNvPr id="10" name="S12-text71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짐작한 뜻 확인하기</a:t>
            </a:r>
            <a:endParaRPr lang="ko-KR" sz="2400" dirty="0"/>
          </a:p>
        </p:txBody>
      </p:sp>
      <p:sp>
        <p:nvSpPr>
          <p:cNvPr id="11" name="S12-text7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국어사전 찾기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빈칸에 알맞은 말</a:t>
            </a:r>
            <a:endParaRPr lang="ko-KR" sz="4000" dirty="0"/>
          </a:p>
        </p:txBody>
      </p:sp>
      <p:sp>
        <p:nvSpPr>
          <p:cNvPr id="3" name="S13-text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앞뒤 말을 보고 □에 들어갈 낱말을 말해 보세요.</a:t>
            </a:r>
            <a:endParaRPr lang="ko-KR" sz="3000" dirty="0"/>
          </a:p>
        </p:txBody>
      </p:sp>
      <p:sp>
        <p:nvSpPr>
          <p:cNvPr id="4" name="S13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낱말도 □처럼 앞뒤 말을 보면 알 수 있어요.</a:t>
            </a:r>
            <a:endParaRPr lang="ko-KR" sz="3000" dirty="0"/>
          </a:p>
        </p:txBody>
      </p:sp>
      <p:sp>
        <p:nvSpPr>
          <p:cNvPr id="6" name="S13-chip7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3-text7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와서 □을 썼어요.</a:t>
            </a:r>
            <a:endParaRPr lang="ko-KR" sz="3000" dirty="0"/>
          </a:p>
        </p:txBody>
      </p:sp>
      <p:sp>
        <p:nvSpPr>
          <p:cNvPr id="8" name="S13-chip7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3-text7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목이 말라서 □을 마셨어요.</a:t>
            </a:r>
            <a:endParaRPr lang="ko-KR" sz="3000" dirty="0"/>
          </a:p>
        </p:txBody>
      </p:sp>
      <p:sp>
        <p:nvSpPr>
          <p:cNvPr id="10" name="S13-chip8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3-text8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손이 시려서 □을 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국어 문맥으로 낱말 뜻 짐작</dc:title>
  <dc:subject>KR22-G03-KOR-CONTEXT-L01</dc:subject>
  <dc:creator>education-ppt</dc:creator>
  <cp:lastModifiedBy>education-ppt</cp:lastModifiedBy>
  <cp:revision>1</cp:revision>
  <dcterms:created xsi:type="dcterms:W3CDTF">2026-10-26T06:38:27Z</dcterms:created>
  <dcterms:modified xsi:type="dcterms:W3CDTF">2026-10-26T06:38:27Z</dcterms:modified>
</cp:coreProperties>
</file>