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917d470-6287-0a67-13d5-62d66782d0ed}">
          <p14:sldIdLst>
            <p14:sldId id="256"/>
            <p14:sldId id="257"/>
          </p14:sldIdLst>
        </p14:section>
        <p14:section name="개념" id="{a54e007b-6481-290e-80c8-b8c06a5a4916}">
          <p14:sldIdLst>
            <p14:sldId id="258"/>
            <p14:sldId id="259"/>
            <p14:sldId id="261"/>
            <p14:sldId id="262"/>
          </p14:sldIdLst>
        </p14:section>
        <p14:section name="연습" id="{65be6339-6fe4-3a8a-5a05-401cc7124b30}">
          <p14:sldIdLst>
            <p14:sldId id="260"/>
            <p14:sldId id="263"/>
          </p14:sldIdLst>
        </p14:section>
        <p14:section name="개념" id="{e745860f-cf68-8535-c520-93b212bdbf89}">
          <p14:sldIdLst/>
        </p14:section>
        <p14:section name="연습" id="{473a40ec-de2e-583a-65d0-29b852dea9ff}">
          <p14:sldIdLst/>
        </p14:section>
        <p14:section name="확인" id="{3b01d9c5-9b19-b646-7996-e8bda472bd5c}">
          <p14:sldIdLst>
            <p14:sldId id="264"/>
            <p14:sldId id="265"/>
            <p14:sldId id="266"/>
          </p14:sldIdLst>
        </p14:section>
        <p14:section name="정리" id="{099b9acd-c73a-790f-bf52-3df3bf2697b0}">
          <p14:sldIdLst>
            <p14:sldId id="267"/>
          </p14:sldIdLst>
        </p14:section>
        <p14:section name="보충" id="{1a7a8d1f-5826-b3ef-aeb8-3391b469e84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지난 시간에 짐작한 뜻을 확인하는 방법이 국어사전이라는 것을 연결합니다.
시간: 약 2분
이렇게 말해 보세요
- “지난 시간에 앞뒤 문장으로 낱말 뜻을 짐작했지? 짐작한 뜻이 맞는지 확실히 알고 싶으면 어떻게 할까?”
- “오늘은 국어사전에서 낱말을 빨리 찾는 방법을 배울 거야.”
예상 답
- “사전을 찾아요.” “인터넷에서 찾아요.”
막히면
- 집에 있는 국어사전(또는 인터넷 국어사전 화면)을 보여 주며 “이건 무엇을 할 때 쓰는 책일까?”라고 묻습니다.
주의
- 종이 사전이 없어도 됩니다. S09의 ‘사전 쪽’ 표와 인터넷 국어사전으로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확인(뜻 짐작, 자음자 차례)]
목적: 앞 차시(문맥으로 낱말 뜻 짐작)의 뜻 짐작하기와, 국어사전 찾기에 필요한 자음자 차례를 아는지 확인합니다.
시간: 약 3분
이렇게 말해 보세요
- “①에서 ‘세차게’는 무슨 뜻 같아? 어떤 말이 단서야?”
- “②에서 ㄱ, ㄴ, ㄷ 다음에 오는 자음자는? ㅎ까지 이어서 말해 볼래?”
정답
- ① 아주 세게(강하게). 단서: 우산이 뒤집혔어요.
- ② ㄹ (차례: ㄱ ㄴ ㄷ ㄹ ㅁ ㅂ ㅅ ㅇ ㅈ ㅊ ㅋ ㅌ ㅍ ㅎ)
막히면
- ①을 어려워하면 앞 차시 ‘문맥으로 낱말 뜻 짐작’(KR22-G03-KOR-CONTEXT-L01)의 S05 방법을 다시 보여 줍니다.
- ②를 어려워하거나 자음자 차례를 끝까지 말하지 못하면 S13(보충)을 먼저 합니다.
주의
- 자음자 차례는 오늘 수업 내내 쓰입니다. ㄱ부터 ㅎ까지 막힘없이 말하는지 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기본형의 뜻]
목적: 모양이 바뀌는 낱말과 기본형의 뜻을 알려 줍니다.
시간: 약 3분
이렇게 말해 보세요
- “‘먹고, 먹어서, 먹으니’에서 늘 똑같은 부분은 어디야?”
- “바뀌지 않는 부분 ‘먹’에 ‘다’를 붙인 ‘먹다’를 기본형이라고 해. 국어사전에는 이 기본형이 실려 있어.”
예상 답
- “‘먹’이 똑같아요.”
막히면
- 네 낱말을 종이에 써서 ‘먹’ 부분만 남기고 나머지를 손으로 가려 보여 줍니다.
주의
- ‘기본형’이라는 말보다 ‘사전에 실린 모양’이라는 뜻을 먼저 이해하게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기본형 만드는 방법(시범)]
목적: 기본형을 만드는 순서를 부모가 시범으로 보여 줍니다.
시간: 약 3분
이렇게 말해 보세요
- “엄마(아빠)가 먼저 해 볼게. ‘잡았어요’를 ‘잡고’, ‘잡아서’로 바꿔 말해 보면 늘 ‘잡’이 남네.”
- “‘잡’에 ‘다’를 붙이면 ‘잡다’. 이게 기본형이야.”
예상 답
- “잡다요.”
정답
- 잡다
막히면
- “잡고, 잡아서, 잡으니” 하고 부모가 박자를 맞춰 말하고 아이가 따라 하게 합니다.
주의
- ‘~고’를 붙여 말해 보는 것이 바뀌지 않는 부분을 찾는 가장 쉬운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기본형 바꾸기 연습]
목적: 기본형 만들기를 도움을 받으며 연습합니다(목표 A). ②는 흔한 실수(M2)가 나오기 쉬운 낱말입니다.
시간: 약 4분
이렇게 말해 보세요
- “①부터 해 볼까? ‘웃어서’를 ‘웃고’로 바꿔 말하면 바뀌지 않는 부분은?”
- “②는 ‘높고’로 말해 봐. 그때도 ‘으’가 있어?”
정답
- ① 웃다 ② 높다 ③ 찾다 ④ 신다
막히면
- ‘높으다’라고 하면 “‘높고’라고도 하지? 그럼 늘 남는 부분은 ‘높’이야.”라고 짚어 줍니다.
- S04의 세 단계를 손가락으로 짚으며 다시 합니다.
주의
- ‘높은’, ‘신고’처럼 짧은 모양도 기본형과 다르다는 것을 짚어 줍니다.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첫 자음자 차례]
목적: 국어사전에 낱말이 실린 첫 자음자 차례를 알려 줍니다. ㄲ, ㄸ, ㅃ, ㅆ, ㅉ의 자리를 짚습니다(오해 M3).
시간: 약 3분
이렇게 말해 보세요
- “국어사전은 첫 글자의 자음자 차례대로 낱말을 실어. 같이 읽어 볼까?”
- “테두리가 굵은 글자는 어디에 있어? ㄲ은 ㄱ 바로 뒤에 있지?”
예상 답
- “ㄲ은 ㄱ 다음이에요. ㄸ은 ㄷ 다음이에요.”
막히면
- ‘가 까 나 다 따 라 마 바 빠 사 싸 아 자 짜 차 카 타 파 하’처럼 글자 소리로 읽어 줍니다.
주의
- 19개를 다 외우게 하지 않아도 됩니다. 사전을 찾을 때 이 장을 다시 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모음자·받침 차례]
목적: 첫 자음자가 같을 때 모음자 차례로, 모음자도 같으면 받침 차례로 찾는다는 것을 알려 줍니다(오해 M4).
시간: 약 4분
이렇게 말해 보세요
- “‘바다’와 ‘보리’는 둘 다 ㅂ으로 시작하지? 그럼 모음자를 봐. ㅏ와 ㅗ 중에 무엇이 먼저야?”
- “‘가’, ‘각’, ‘간’ 중에 사전에 가장 먼저 나오는 것은? 받침이 없는 ‘가’야.”
예상 답
- “ㅏ가 먼저니까 ‘바다’가 먼저예요.”
막히면
- 기본 모음자 ‘ㅏ ㅑ ㅓ ㅕ ㅗ ㅛ ㅜ ㅠ ㅡ ㅣ’ 차례를 먼저 읽게 하고, 그 사이사이에 ㅐ, ㅒ 같은 글자가 끼어 있다고 알려 줍니다.
주의
- 받침 차례에는 ㄳ, ㄺ 같은 겹받침도 사이사이에 들어갑니다. 오늘은 받침이 하나인 글자만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사전 차례 정하기 연습]
목적: 첫 자음자 → 모음자 → 받침 차례로 낱말의 차례를 정하는 연습을 합니다(목표 B).
시간: 약 4분
이렇게 말해 보세요
- “①은 첫 글자의 자음자가 다 달라. 무엇부터 나올까?”
- “②는 첫 자음자가 모두 ㅂ이네. 그럼 무엇을 봐야 할까?”
- “③은 ‘가’까지 같아. 그다음은 무엇을 볼까?”
정답
- ① 기차 → 나무 → 다리 (ㄱ, ㄴ, ㄷ)
- ② 바다 → 버스 → 보리 (ㅏ, ㅓ, ㅗ)
- ③ 가방 → 감자 → 강물 (받침 없음, ㅁ, ㅇ)
막히면
- S06, S07을 다시 보며 한 글자씩 비교합니다.
- 낱말을 쪽지에 하나씩 써서 손으로 직접 늘어놓게 하면 쉽습니다.
주의
- ③에서 ‘감’과 ‘강’은 받침 ㅁ과 ㅇ의 자음자 차례로 정합니다. ㅁ이 ㅇ보다 앞입니다.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찾기(기본형 + 사전 쪽)]
목적: 기본형으로 바꾸고(목표 A), 사전 차례에 따라 낱말을 찾아 뜻을 읽는지(목표 B) 혼자 해 보게 합니다.
시간: 약 4분
이렇게 말해 보세요
- “이번에는 혼자 해 볼래? ‘신었다’는 사전에 어떤 모양으로 실려 있을까?”
- “표에서 ‘신다’는 어디 있어? 왜 ‘신기하다’보다 뒤에 있을까?”
정답
- 기본형: 신다(바뀌지 않는 부분 ‘신’ + ‘다’). 뜻: 신발이나 양말을 발에 꿰다.
- ‘신기하다’와 ‘신다’는 첫 글자 ‘신’이 같아서 둘째 글자 ‘기’와 ‘다’를 비교합니다. ㄱ이 ㄷ보다 앞이라 ‘신기하다’가 먼저 나옵니다.
막히면
- “‘신고’, ‘신어서’로 바꿔 말해 볼래?”라고 S04의 방법으로 돌아갑니다.
- 도움을 받아 찾았다면 기록표에 ‘도움’으로 표시합니다.
주의
- 실제 국어사전이 있으면 ‘신다’를 직접 찾아보게 합니다. 사전마다 뜻풀이 문장은 조금씩 다를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정답과 피드백]
목적: 아이의 답을 확인하고 흔한 실수와 비교합니다.
시간: 약 2분
이렇게 말해 보세요
- “네가 한 방법은 왼쪽이야, 오른쪽이야?”
- “‘신었다’를 그대로 찾으면 왜 사전에 안 나올까?”
예상 답
- “사전에는 ‘신다’처럼 기본형으로 실려 있어서요.”
정답
- 기본형 ‘신다’, 뜻: 신발이나 양말을 발에 꿰다.
막히면
- 실제 사전이나 인터넷 국어사전에서 ‘신다’를 함께 찾아 보여 줍니다.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낱말로 사전 차례를 정하는지 확인합니다. 된소리 ㄲ의 자리(오해 M3)도 함께 확인합니다.
시간: 약 2분
이렇게 말해 보세요
- “세 낱말의 첫 자음자는 무엇이야? 그중 사전에 가장 먼저 나오는 것은?”
정답
- 나 꽃. 첫 자음자 ㄲ은 ㄱ 바로 뒤라서 ㄴ(나비), ㅌ(토끼)보다 먼저 나옵니다. 차례: 꽃 → 나비 → 토끼
막히면
- S06의 자음자 차례를 다시 보여 주고 ㄲ, ㄴ, ㅌ의 자리를 짚게 합니다.
주의
- ‘토끼’를 고르면 둘째 글자 ‘끼’를 본 것일 수 있습니다. 첫 글자부터 본다는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“국어사전에서 낱말을 찾는 방법을 한 문장으로 말해 볼래?”
예상 답
- “기본형으로 바꾸고, 자음자 차례대로 찾아요.”
정답
- ① 잡다 ② 딸기 → 바나나 → 사과 (ㄸ, ㅂ, ㅅ) ③ 모음자 차례로, 모음자도 같으면 받침 차례로 찾는다.
막히면
- S04와 S06을 다시 보여 줍니다.
주의
- 책을 읽다가 모르는 낱말이 나오면 먼저 짐작하고, 사전으로 확인하는 습관을 들이게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보충(기본 자음자 차례)]
목적: 국어사전 찾기의 바탕인 기본 자음자 14자의 차례를 익힙니다.
시간: 약 4분
이렇게 말해 보세요
- “같이 읽어 보자. 기역, 니은, 디귿… 이번에는 ‘가, 나, 다, 라’로 읽어 볼까?”
- “엄마(아빠)가 글자 하나를 가리키면 다음 글자를 말해 봐.”
정답
- ㄱ ㄴ ㄷ ㄹ ㅁ ㅂ ㅅ ㅇ ㅈ ㅊ ㅋ ㅌ ㅍ ㅎ
막히면
- 자음자 쪽지 14장을 만들어 섞은 뒤 차례대로 늘어놓게 합니다.
- 보충으로도 어렵거나 S02 ①의 뜻 짐작을 어려워하면 앞 차시 ‘문맥으로 낱말 뜻 짐작’(KR22-G03-KOR-CONTEXT-L01)과 1·2학년 한글 자모 학습을 먼저 다시 합니다.
주의
- ㄲ, ㄸ, ㅃ, ㅆ, ㅉ은 이 차례를 익힌 뒤 S06에서 넣어 줍니다.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읽기와어휘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국어사전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국어사전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국어사전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국어사전에서 낱말을 빨리 찾으려면?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낱말의 기본형을 말할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국어사전에서 낱말을 찾을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확인해요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‘세차게’ 불어 우산이 뒤집혔어요. ‘세차게’는 무슨 뜻일까요?</a:t>
            </a:r>
            <a:endParaRPr lang="ko-KR" sz="30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ㄱ, ㄴ, ㄷ, □, ㅁ에서 □에 들어갈 자음자는?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낱말</a:t>
            </a:r>
            <a:endParaRPr lang="ko-KR" sz="4000" dirty="0"/>
          </a:p>
        </p:txBody>
      </p:sp>
      <p:sp>
        <p:nvSpPr>
          <p:cNvPr id="3" name="S03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‘먹다’는 문장에서 모양이 바뀌어요.</a:t>
            </a:r>
            <a:endParaRPr lang="ko-KR" sz="3000" dirty="0"/>
          </a:p>
        </p:txBody>
      </p:sp>
      <p:sp>
        <p:nvSpPr>
          <p:cNvPr id="4" name="S03-card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바뀌지 않는 부분 + 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 + 다 = 먹다(기본형)</a:t>
            </a:r>
            <a:endParaRPr lang="ko-KR" sz="3000" dirty="0"/>
          </a:p>
        </p:txBody>
      </p:sp>
      <p:sp>
        <p:nvSpPr>
          <p:cNvPr id="6" name="S03-card1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국어사전에는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기본형으로 실려 있어요.</a:t>
            </a:r>
            <a:endParaRPr lang="ko-KR" sz="3000" dirty="0"/>
          </a:p>
        </p:txBody>
      </p:sp>
      <p:sp>
        <p:nvSpPr>
          <p:cNvPr id="8" name="S03-word12"/>
          <p:cNvSpPr txBox="1"/>
          <p:nvPr/>
        </p:nvSpPr>
        <p:spPr>
          <a:xfrm>
            <a:off x="548640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먹고</a:t>
            </a:r>
            <a:endParaRPr lang="ko-KR" sz="3400" dirty="0"/>
          </a:p>
        </p:txBody>
      </p:sp>
      <p:sp>
        <p:nvSpPr>
          <p:cNvPr id="9" name="S03-word13"/>
          <p:cNvSpPr txBox="1"/>
          <p:nvPr/>
        </p:nvSpPr>
        <p:spPr>
          <a:xfrm>
            <a:off x="3390138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먹어서</a:t>
            </a:r>
            <a:endParaRPr lang="ko-KR" sz="3400" dirty="0"/>
          </a:p>
        </p:txBody>
      </p:sp>
      <p:sp>
        <p:nvSpPr>
          <p:cNvPr id="10" name="S03-word14"/>
          <p:cNvSpPr txBox="1"/>
          <p:nvPr/>
        </p:nvSpPr>
        <p:spPr>
          <a:xfrm>
            <a:off x="6231636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먹으니</a:t>
            </a:r>
            <a:endParaRPr lang="ko-KR" sz="3400" dirty="0"/>
          </a:p>
        </p:txBody>
      </p:sp>
      <p:sp>
        <p:nvSpPr>
          <p:cNvPr id="11" name="S03-word15"/>
          <p:cNvSpPr txBox="1"/>
          <p:nvPr/>
        </p:nvSpPr>
        <p:spPr>
          <a:xfrm>
            <a:off x="9073134" y="2510790"/>
            <a:ext cx="2567178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 만드는 방법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‘잡았어요’의 기본형은?</a:t>
            </a:r>
            <a:endParaRPr lang="ko-KR" sz="3000" dirty="0"/>
          </a:p>
        </p:txBody>
      </p:sp>
      <p:sp>
        <p:nvSpPr>
          <p:cNvPr id="4" name="S04-stepno1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5" name="S04-text18"/>
          <p:cNvSpPr txBox="1"/>
          <p:nvPr/>
        </p:nvSpPr>
        <p:spPr>
          <a:xfrm>
            <a:off x="1325880" y="342442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‘~고’를 붙여 바꿔 말해요. (잡고)</a:t>
            </a:r>
            <a:endParaRPr lang="ko-KR" sz="3000" dirty="0"/>
          </a:p>
        </p:txBody>
      </p:sp>
      <p:sp>
        <p:nvSpPr>
          <p:cNvPr id="6" name="S04-stepno1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" name="S04-text20"/>
          <p:cNvSpPr txBox="1"/>
          <p:nvPr/>
        </p:nvSpPr>
        <p:spPr>
          <a:xfrm>
            <a:off x="1325880" y="413766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바뀌지 않는 부분을 찾아요. (잡)</a:t>
            </a:r>
            <a:endParaRPr lang="ko-KR" sz="3000" dirty="0"/>
          </a:p>
        </p:txBody>
      </p:sp>
      <p:sp>
        <p:nvSpPr>
          <p:cNvPr id="8" name="S04-stepno2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9" name="S04-text22"/>
          <p:cNvSpPr txBox="1"/>
          <p:nvPr/>
        </p:nvSpPr>
        <p:spPr>
          <a:xfrm>
            <a:off x="1325880" y="48508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뒤에 ‘다’를 붙여요. (잡다)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기본형으로 바꿔요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기본형을 말해 보세요.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‘~고’를 붙여 말해 보면 바뀌지 않는 부분이 보여요.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웃어서</a:t>
            </a:r>
            <a:endParaRPr lang="ko-KR" sz="3000" dirty="0"/>
          </a:p>
        </p:txBody>
      </p:sp>
      <p:sp>
        <p:nvSpPr>
          <p:cNvPr id="8" name="S05-chip2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5-text2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</a:t>
            </a:r>
            <a:endParaRPr lang="ko-KR" sz="30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찾았어요</a:t>
            </a:r>
            <a:endParaRPr lang="ko-KR" sz="3000" dirty="0"/>
          </a:p>
        </p:txBody>
      </p:sp>
      <p:sp>
        <p:nvSpPr>
          <p:cNvPr id="12" name="S05-chip3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5-text3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국어사전의 자음자 차례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글자의 자음자 차례대로 실려 있어요.</a:t>
            </a:r>
            <a:endParaRPr lang="ko-KR" sz="30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ㄲ은 ㄱ 바로 뒤에 와요. ㄸ, ㅃ, ㅆ, ㅉ도 같아요.</a:t>
            </a:r>
            <a:endParaRPr lang="ko-KR" sz="3000" dirty="0"/>
          </a:p>
        </p:txBody>
      </p:sp>
      <p:sp>
        <p:nvSpPr>
          <p:cNvPr id="6" name="S06-tile37"/>
          <p:cNvSpPr txBox="1"/>
          <p:nvPr/>
        </p:nvSpPr>
        <p:spPr>
          <a:xfrm>
            <a:off x="54864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000" dirty="0"/>
          </a:p>
        </p:txBody>
      </p:sp>
      <p:sp>
        <p:nvSpPr>
          <p:cNvPr id="7" name="S06-tile38"/>
          <p:cNvSpPr txBox="1"/>
          <p:nvPr/>
        </p:nvSpPr>
        <p:spPr>
          <a:xfrm>
            <a:off x="167792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ㄲ</a:t>
            </a:r>
            <a:endParaRPr lang="ko-KR" sz="4000" dirty="0"/>
          </a:p>
        </p:txBody>
      </p:sp>
      <p:sp>
        <p:nvSpPr>
          <p:cNvPr id="8" name="S06-tile39"/>
          <p:cNvSpPr txBox="1"/>
          <p:nvPr/>
        </p:nvSpPr>
        <p:spPr>
          <a:xfrm>
            <a:off x="280720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4000" dirty="0"/>
          </a:p>
        </p:txBody>
      </p:sp>
      <p:sp>
        <p:nvSpPr>
          <p:cNvPr id="9" name="S06-tile40"/>
          <p:cNvSpPr txBox="1"/>
          <p:nvPr/>
        </p:nvSpPr>
        <p:spPr>
          <a:xfrm>
            <a:off x="393649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4000" dirty="0"/>
          </a:p>
        </p:txBody>
      </p:sp>
      <p:sp>
        <p:nvSpPr>
          <p:cNvPr id="10" name="S06-tile41"/>
          <p:cNvSpPr txBox="1"/>
          <p:nvPr/>
        </p:nvSpPr>
        <p:spPr>
          <a:xfrm>
            <a:off x="506577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ㄸ</a:t>
            </a:r>
            <a:endParaRPr lang="ko-KR" sz="4000" dirty="0"/>
          </a:p>
        </p:txBody>
      </p:sp>
      <p:sp>
        <p:nvSpPr>
          <p:cNvPr id="11" name="S06-tile42"/>
          <p:cNvSpPr txBox="1"/>
          <p:nvPr/>
        </p:nvSpPr>
        <p:spPr>
          <a:xfrm>
            <a:off x="6195060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4000" dirty="0"/>
          </a:p>
        </p:txBody>
      </p:sp>
      <p:sp>
        <p:nvSpPr>
          <p:cNvPr id="12" name="S06-tile43"/>
          <p:cNvSpPr txBox="1"/>
          <p:nvPr/>
        </p:nvSpPr>
        <p:spPr>
          <a:xfrm>
            <a:off x="7324344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4000" dirty="0"/>
          </a:p>
        </p:txBody>
      </p:sp>
      <p:sp>
        <p:nvSpPr>
          <p:cNvPr id="13" name="S06-tile44"/>
          <p:cNvSpPr txBox="1"/>
          <p:nvPr/>
        </p:nvSpPr>
        <p:spPr>
          <a:xfrm>
            <a:off x="8453628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4000" dirty="0"/>
          </a:p>
        </p:txBody>
      </p:sp>
      <p:sp>
        <p:nvSpPr>
          <p:cNvPr id="14" name="S06-tile45"/>
          <p:cNvSpPr txBox="1"/>
          <p:nvPr/>
        </p:nvSpPr>
        <p:spPr>
          <a:xfrm>
            <a:off x="9582912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ㅃ</a:t>
            </a:r>
            <a:endParaRPr lang="ko-KR" sz="4000" dirty="0"/>
          </a:p>
        </p:txBody>
      </p:sp>
      <p:sp>
        <p:nvSpPr>
          <p:cNvPr id="15" name="S06-tile46"/>
          <p:cNvSpPr txBox="1"/>
          <p:nvPr/>
        </p:nvSpPr>
        <p:spPr>
          <a:xfrm>
            <a:off x="10712196" y="2537460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4000" dirty="0"/>
          </a:p>
        </p:txBody>
      </p:sp>
      <p:sp>
        <p:nvSpPr>
          <p:cNvPr id="16" name="S06-tile47"/>
          <p:cNvSpPr txBox="1"/>
          <p:nvPr/>
        </p:nvSpPr>
        <p:spPr>
          <a:xfrm>
            <a:off x="111328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ㅆ</a:t>
            </a:r>
            <a:endParaRPr lang="ko-KR" sz="4000" dirty="0"/>
          </a:p>
        </p:txBody>
      </p:sp>
      <p:sp>
        <p:nvSpPr>
          <p:cNvPr id="17" name="S06-tile48"/>
          <p:cNvSpPr txBox="1"/>
          <p:nvPr/>
        </p:nvSpPr>
        <p:spPr>
          <a:xfrm>
            <a:off x="224256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4000" dirty="0"/>
          </a:p>
        </p:txBody>
      </p:sp>
      <p:sp>
        <p:nvSpPr>
          <p:cNvPr id="18" name="S06-tile49"/>
          <p:cNvSpPr txBox="1"/>
          <p:nvPr/>
        </p:nvSpPr>
        <p:spPr>
          <a:xfrm>
            <a:off x="337185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4000" dirty="0"/>
          </a:p>
        </p:txBody>
      </p:sp>
      <p:sp>
        <p:nvSpPr>
          <p:cNvPr id="19" name="S06-tile50"/>
          <p:cNvSpPr txBox="1"/>
          <p:nvPr/>
        </p:nvSpPr>
        <p:spPr>
          <a:xfrm>
            <a:off x="450113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ㅉ</a:t>
            </a:r>
            <a:endParaRPr lang="ko-KR" sz="4000" dirty="0"/>
          </a:p>
        </p:txBody>
      </p:sp>
      <p:sp>
        <p:nvSpPr>
          <p:cNvPr id="20" name="S06-tile51"/>
          <p:cNvSpPr txBox="1"/>
          <p:nvPr/>
        </p:nvSpPr>
        <p:spPr>
          <a:xfrm>
            <a:off x="5630418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4000" dirty="0"/>
          </a:p>
        </p:txBody>
      </p:sp>
      <p:sp>
        <p:nvSpPr>
          <p:cNvPr id="21" name="S06-tile52"/>
          <p:cNvSpPr txBox="1"/>
          <p:nvPr/>
        </p:nvSpPr>
        <p:spPr>
          <a:xfrm>
            <a:off x="6759702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4000" dirty="0"/>
          </a:p>
        </p:txBody>
      </p:sp>
      <p:sp>
        <p:nvSpPr>
          <p:cNvPr id="22" name="S06-tile53"/>
          <p:cNvSpPr txBox="1"/>
          <p:nvPr/>
        </p:nvSpPr>
        <p:spPr>
          <a:xfrm>
            <a:off x="7888986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4000" dirty="0"/>
          </a:p>
        </p:txBody>
      </p:sp>
      <p:sp>
        <p:nvSpPr>
          <p:cNvPr id="23" name="S06-tile54"/>
          <p:cNvSpPr txBox="1"/>
          <p:nvPr/>
        </p:nvSpPr>
        <p:spPr>
          <a:xfrm>
            <a:off x="9018270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4000" dirty="0"/>
          </a:p>
        </p:txBody>
      </p:sp>
      <p:sp>
        <p:nvSpPr>
          <p:cNvPr id="24" name="S06-tile55"/>
          <p:cNvSpPr txBox="1"/>
          <p:nvPr/>
        </p:nvSpPr>
        <p:spPr>
          <a:xfrm>
            <a:off x="10147554" y="3666744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모음자와 받침 차례</a:t>
            </a:r>
            <a:endParaRPr lang="ko-KR" sz="4000" dirty="0"/>
          </a:p>
        </p:txBody>
      </p:sp>
      <p:sp>
        <p:nvSpPr>
          <p:cNvPr id="3" name="S07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자음자가 같으면 모음자 차례로 실려요.</a:t>
            </a:r>
            <a:endParaRPr lang="ko-KR" sz="3000" dirty="0"/>
          </a:p>
        </p:txBody>
      </p:sp>
      <p:sp>
        <p:nvSpPr>
          <p:cNvPr id="4" name="S07-card57"/>
          <p:cNvSpPr/>
          <p:nvPr/>
        </p:nvSpPr>
        <p:spPr>
          <a:xfrm>
            <a:off x="548640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58"/>
          <p:cNvSpPr txBox="1"/>
          <p:nvPr/>
        </p:nvSpPr>
        <p:spPr>
          <a:xfrm>
            <a:off x="822960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모음자까지 같으면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 없는 글자가 먼저예요.</a:t>
            </a:r>
            <a:endParaRPr lang="ko-KR" sz="3000" dirty="0"/>
          </a:p>
        </p:txBody>
      </p:sp>
      <p:sp>
        <p:nvSpPr>
          <p:cNvPr id="6" name="S07-card59"/>
          <p:cNvSpPr/>
          <p:nvPr/>
        </p:nvSpPr>
        <p:spPr>
          <a:xfrm>
            <a:off x="6208776" y="4604004"/>
            <a:ext cx="543153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7-cardtext60"/>
          <p:cNvSpPr txBox="1"/>
          <p:nvPr/>
        </p:nvSpPr>
        <p:spPr>
          <a:xfrm>
            <a:off x="6483096" y="4741164"/>
            <a:ext cx="488289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받침이 있으면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받침의 자음자 차례예요.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→ 각 → 간</a:t>
            </a:r>
            <a:endParaRPr lang="ko-KR" sz="3000" dirty="0"/>
          </a:p>
        </p:txBody>
      </p:sp>
      <p:sp>
        <p:nvSpPr>
          <p:cNvPr id="8" name="S07-tile61"/>
          <p:cNvSpPr txBox="1"/>
          <p:nvPr/>
        </p:nvSpPr>
        <p:spPr>
          <a:xfrm>
            <a:off x="548640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ㅏ</a:t>
            </a:r>
            <a:endParaRPr lang="ko-KR" sz="3600" dirty="0"/>
          </a:p>
        </p:txBody>
      </p:sp>
      <p:sp>
        <p:nvSpPr>
          <p:cNvPr id="9" name="S07-tile62"/>
          <p:cNvSpPr txBox="1"/>
          <p:nvPr/>
        </p:nvSpPr>
        <p:spPr>
          <a:xfrm>
            <a:off x="1575262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ㅐ</a:t>
            </a:r>
            <a:endParaRPr lang="ko-KR" sz="3600" dirty="0"/>
          </a:p>
        </p:txBody>
      </p:sp>
      <p:sp>
        <p:nvSpPr>
          <p:cNvPr id="10" name="S07-tile63"/>
          <p:cNvSpPr txBox="1"/>
          <p:nvPr/>
        </p:nvSpPr>
        <p:spPr>
          <a:xfrm>
            <a:off x="2601884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ㅑ</a:t>
            </a:r>
            <a:endParaRPr lang="ko-KR" sz="3600" dirty="0"/>
          </a:p>
        </p:txBody>
      </p:sp>
      <p:sp>
        <p:nvSpPr>
          <p:cNvPr id="11" name="S07-tile64"/>
          <p:cNvSpPr txBox="1"/>
          <p:nvPr/>
        </p:nvSpPr>
        <p:spPr>
          <a:xfrm>
            <a:off x="3628505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ㅒ</a:t>
            </a:r>
            <a:endParaRPr lang="ko-KR" sz="3600" dirty="0"/>
          </a:p>
        </p:txBody>
      </p:sp>
      <p:sp>
        <p:nvSpPr>
          <p:cNvPr id="12" name="S07-tile65"/>
          <p:cNvSpPr txBox="1"/>
          <p:nvPr/>
        </p:nvSpPr>
        <p:spPr>
          <a:xfrm>
            <a:off x="4655127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ㅓ</a:t>
            </a:r>
            <a:endParaRPr lang="ko-KR" sz="3600" dirty="0"/>
          </a:p>
        </p:txBody>
      </p:sp>
      <p:sp>
        <p:nvSpPr>
          <p:cNvPr id="13" name="S07-tile66"/>
          <p:cNvSpPr txBox="1"/>
          <p:nvPr/>
        </p:nvSpPr>
        <p:spPr>
          <a:xfrm>
            <a:off x="5681749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ㅔ</a:t>
            </a:r>
            <a:endParaRPr lang="ko-KR" sz="3600" dirty="0"/>
          </a:p>
        </p:txBody>
      </p:sp>
      <p:sp>
        <p:nvSpPr>
          <p:cNvPr id="14" name="S07-tile67"/>
          <p:cNvSpPr txBox="1"/>
          <p:nvPr/>
        </p:nvSpPr>
        <p:spPr>
          <a:xfrm>
            <a:off x="6708371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ㅕ</a:t>
            </a:r>
            <a:endParaRPr lang="ko-KR" sz="3600" dirty="0"/>
          </a:p>
        </p:txBody>
      </p:sp>
      <p:sp>
        <p:nvSpPr>
          <p:cNvPr id="15" name="S07-tile68"/>
          <p:cNvSpPr txBox="1"/>
          <p:nvPr/>
        </p:nvSpPr>
        <p:spPr>
          <a:xfrm>
            <a:off x="7734993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ㅖ</a:t>
            </a:r>
            <a:endParaRPr lang="ko-KR" sz="3600" dirty="0"/>
          </a:p>
        </p:txBody>
      </p:sp>
      <p:sp>
        <p:nvSpPr>
          <p:cNvPr id="16" name="S07-tile69"/>
          <p:cNvSpPr txBox="1"/>
          <p:nvPr/>
        </p:nvSpPr>
        <p:spPr>
          <a:xfrm>
            <a:off x="8761615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ㅗ</a:t>
            </a:r>
            <a:endParaRPr lang="ko-KR" sz="3600" dirty="0"/>
          </a:p>
        </p:txBody>
      </p:sp>
      <p:sp>
        <p:nvSpPr>
          <p:cNvPr id="17" name="S07-tile70"/>
          <p:cNvSpPr txBox="1"/>
          <p:nvPr/>
        </p:nvSpPr>
        <p:spPr>
          <a:xfrm>
            <a:off x="9788236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ㅘ</a:t>
            </a:r>
            <a:endParaRPr lang="ko-KR" sz="3600" dirty="0"/>
          </a:p>
        </p:txBody>
      </p:sp>
      <p:sp>
        <p:nvSpPr>
          <p:cNvPr id="18" name="S07-tile71"/>
          <p:cNvSpPr txBox="1"/>
          <p:nvPr/>
        </p:nvSpPr>
        <p:spPr>
          <a:xfrm>
            <a:off x="10814858" y="2267504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ㅙ</a:t>
            </a:r>
            <a:endParaRPr lang="ko-KR" sz="3600" dirty="0"/>
          </a:p>
        </p:txBody>
      </p:sp>
      <p:sp>
        <p:nvSpPr>
          <p:cNvPr id="19" name="S07-tile72"/>
          <p:cNvSpPr txBox="1"/>
          <p:nvPr/>
        </p:nvSpPr>
        <p:spPr>
          <a:xfrm>
            <a:off x="1061951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ㅚ</a:t>
            </a:r>
            <a:endParaRPr lang="ko-KR" sz="3600" dirty="0"/>
          </a:p>
        </p:txBody>
      </p:sp>
      <p:sp>
        <p:nvSpPr>
          <p:cNvPr id="20" name="S07-tile73"/>
          <p:cNvSpPr txBox="1"/>
          <p:nvPr/>
        </p:nvSpPr>
        <p:spPr>
          <a:xfrm>
            <a:off x="2088573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ㅛ</a:t>
            </a:r>
            <a:endParaRPr lang="ko-KR" sz="3600" dirty="0"/>
          </a:p>
        </p:txBody>
      </p:sp>
      <p:sp>
        <p:nvSpPr>
          <p:cNvPr id="21" name="S07-tile74"/>
          <p:cNvSpPr txBox="1"/>
          <p:nvPr/>
        </p:nvSpPr>
        <p:spPr>
          <a:xfrm>
            <a:off x="3115195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ㅜ</a:t>
            </a:r>
            <a:endParaRPr lang="ko-KR" sz="3600" dirty="0"/>
          </a:p>
        </p:txBody>
      </p:sp>
      <p:sp>
        <p:nvSpPr>
          <p:cNvPr id="22" name="S07-tile75"/>
          <p:cNvSpPr txBox="1"/>
          <p:nvPr/>
        </p:nvSpPr>
        <p:spPr>
          <a:xfrm>
            <a:off x="4141816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ㅝ</a:t>
            </a:r>
            <a:endParaRPr lang="ko-KR" sz="3600" dirty="0"/>
          </a:p>
        </p:txBody>
      </p:sp>
      <p:sp>
        <p:nvSpPr>
          <p:cNvPr id="23" name="S07-tile76"/>
          <p:cNvSpPr txBox="1"/>
          <p:nvPr/>
        </p:nvSpPr>
        <p:spPr>
          <a:xfrm>
            <a:off x="5168438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ㅞ</a:t>
            </a:r>
            <a:endParaRPr lang="ko-KR" sz="3600" dirty="0"/>
          </a:p>
        </p:txBody>
      </p:sp>
      <p:sp>
        <p:nvSpPr>
          <p:cNvPr id="24" name="S07-tile77"/>
          <p:cNvSpPr txBox="1"/>
          <p:nvPr/>
        </p:nvSpPr>
        <p:spPr>
          <a:xfrm>
            <a:off x="6195060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ㅟ</a:t>
            </a:r>
            <a:endParaRPr lang="ko-KR" sz="3600" dirty="0"/>
          </a:p>
        </p:txBody>
      </p:sp>
      <p:sp>
        <p:nvSpPr>
          <p:cNvPr id="25" name="S07-tile78"/>
          <p:cNvSpPr txBox="1"/>
          <p:nvPr/>
        </p:nvSpPr>
        <p:spPr>
          <a:xfrm>
            <a:off x="7221682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ㅠ</a:t>
            </a:r>
            <a:endParaRPr lang="ko-KR" sz="3600" dirty="0"/>
          </a:p>
        </p:txBody>
      </p:sp>
      <p:sp>
        <p:nvSpPr>
          <p:cNvPr id="26" name="S07-tile79"/>
          <p:cNvSpPr txBox="1"/>
          <p:nvPr/>
        </p:nvSpPr>
        <p:spPr>
          <a:xfrm>
            <a:off x="8248304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ㅡ</a:t>
            </a:r>
            <a:endParaRPr lang="ko-KR" sz="3600" dirty="0"/>
          </a:p>
        </p:txBody>
      </p:sp>
      <p:sp>
        <p:nvSpPr>
          <p:cNvPr id="27" name="S07-tile80"/>
          <p:cNvSpPr txBox="1"/>
          <p:nvPr/>
        </p:nvSpPr>
        <p:spPr>
          <a:xfrm>
            <a:off x="9274925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ㅢ</a:t>
            </a:r>
            <a:endParaRPr lang="ko-KR" sz="3600" dirty="0"/>
          </a:p>
        </p:txBody>
      </p:sp>
      <p:sp>
        <p:nvSpPr>
          <p:cNvPr id="28" name="S07-tile81"/>
          <p:cNvSpPr txBox="1"/>
          <p:nvPr/>
        </p:nvSpPr>
        <p:spPr>
          <a:xfrm>
            <a:off x="10301547" y="3294126"/>
            <a:ext cx="825454" cy="825454"/>
          </a:xfrm>
          <a:prstGeom prst="roundRect">
            <a:avLst>
              <a:gd name="adj" fmla="val 155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ㅣ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사전에 나오는 차례는?</a:t>
            </a:r>
            <a:endParaRPr lang="ko-KR" sz="40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사전에 먼저 나오는 낱말부터 차례로 말해 보세요.</a:t>
            </a:r>
            <a:endParaRPr lang="ko-KR" sz="3000" dirty="0"/>
          </a:p>
        </p:txBody>
      </p:sp>
      <p:sp>
        <p:nvSpPr>
          <p:cNvPr id="4" name="S08-chip8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8-text8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다리 · 기차 · 나무</a:t>
            </a:r>
            <a:endParaRPr lang="ko-KR" sz="3000" dirty="0"/>
          </a:p>
        </p:txBody>
      </p:sp>
      <p:sp>
        <p:nvSpPr>
          <p:cNvPr id="6" name="S08-chip8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8-text8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보리 · 바다 · 버스</a:t>
            </a:r>
            <a:endParaRPr lang="ko-KR" sz="3000" dirty="0"/>
          </a:p>
        </p:txBody>
      </p:sp>
      <p:sp>
        <p:nvSpPr>
          <p:cNvPr id="8" name="S08-chip8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8-text8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 · 가방 · 감자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‘신었다’를 기본형으로 바꿔 아래에서 찾고, 뜻을 읽어 보세요.</a:t>
            </a:r>
            <a:endParaRPr lang="ko-KR" sz="3000" dirty="0"/>
          </a:p>
        </p:txBody>
      </p:sp>
      <p:sp>
        <p:nvSpPr>
          <p:cNvPr id="4" name="S09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 한 쪽처럼 만든 표예요.</a:t>
            </a:r>
            <a:endParaRPr lang="ko-KR" sz="3000" dirty="0"/>
          </a:p>
        </p:txBody>
      </p:sp>
      <p:graphicFrame>
        <p:nvGraphicFramePr>
          <p:cNvPr id="10" name="S09-table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93876" y="2385060"/>
          <a:ext cx="9601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6720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낱말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뜻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시원하다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덥지 않고 알맞게 선선하다.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신기하다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색다르고 놀랍다.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신발이나 양말을 발에 꿰다.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소식을 알려 주는 인쇄물.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0-card9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9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기본형으로 바꾸고, 첫 글자가 같으면 다음 글자까지 비교해요.</a:t>
            </a:r>
            <a:endParaRPr lang="ko-KR" sz="3000" dirty="0"/>
          </a:p>
        </p:txBody>
      </p:sp>
      <p:sp>
        <p:nvSpPr>
          <p:cNvPr id="5" name="S10-chip9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96"/>
          <p:cNvSpPr txBox="1"/>
          <p:nvPr/>
        </p:nvSpPr>
        <p:spPr>
          <a:xfrm>
            <a:off x="548640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신었다 → 신다</a:t>
            </a:r>
            <a:endParaRPr lang="ko-KR" sz="3000" dirty="0"/>
          </a:p>
        </p:txBody>
      </p:sp>
      <p:sp>
        <p:nvSpPr>
          <p:cNvPr id="7" name="S10-text97"/>
          <p:cNvSpPr txBox="1"/>
          <p:nvPr/>
        </p:nvSpPr>
        <p:spPr>
          <a:xfrm>
            <a:off x="3367278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‘신’ + ‘다’</a:t>
            </a:r>
            <a:endParaRPr lang="ko-KR" sz="2400" dirty="0"/>
          </a:p>
        </p:txBody>
      </p:sp>
      <p:sp>
        <p:nvSpPr>
          <p:cNvPr id="8" name="S10-text98"/>
          <p:cNvSpPr txBox="1"/>
          <p:nvPr/>
        </p:nvSpPr>
        <p:spPr>
          <a:xfrm>
            <a:off x="548640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신발이나 양말을 발에 꿰다</a:t>
            </a:r>
            <a:endParaRPr lang="ko-KR" sz="2400" dirty="0"/>
          </a:p>
        </p:txBody>
      </p:sp>
      <p:sp>
        <p:nvSpPr>
          <p:cNvPr id="9" name="S10-text99"/>
          <p:cNvSpPr txBox="1"/>
          <p:nvPr/>
        </p:nvSpPr>
        <p:spPr>
          <a:xfrm>
            <a:off x="3367278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‘신다’의 뜻</a:t>
            </a:r>
            <a:endParaRPr lang="ko-KR" sz="2400" dirty="0"/>
          </a:p>
        </p:txBody>
      </p:sp>
      <p:sp>
        <p:nvSpPr>
          <p:cNvPr id="10" name="S10-chip10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0-text10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‘신었다’를 그대로 찾음</a:t>
            </a:r>
            <a:endParaRPr lang="ko-KR" sz="3000" dirty="0"/>
          </a:p>
        </p:txBody>
      </p:sp>
      <p:sp>
        <p:nvSpPr>
          <p:cNvPr id="12" name="S10-text10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사전에는 기본형이 실려요</a:t>
            </a:r>
            <a:endParaRPr lang="ko-KR" sz="2400" dirty="0"/>
          </a:p>
        </p:txBody>
      </p:sp>
      <p:sp>
        <p:nvSpPr>
          <p:cNvPr id="13" name="S10-text10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‘신기하다’의 뜻을 읽음</a:t>
            </a:r>
            <a:endParaRPr lang="ko-KR" sz="3000" dirty="0"/>
          </a:p>
        </p:txBody>
      </p:sp>
      <p:sp>
        <p:nvSpPr>
          <p:cNvPr id="14" name="S10-text10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글자까지 비교해요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나오는 낱말은?</a:t>
            </a:r>
            <a:endParaRPr lang="ko-KR" sz="4000" dirty="0"/>
          </a:p>
        </p:txBody>
      </p:sp>
      <p:sp>
        <p:nvSpPr>
          <p:cNvPr id="3" name="S11-card10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0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국어사전에 가장 먼저 나오는 낱말을 고르고 까닭을 말해 보세요.</a:t>
            </a:r>
            <a:endParaRPr lang="ko-KR" sz="3000" dirty="0"/>
          </a:p>
        </p:txBody>
      </p:sp>
      <p:sp>
        <p:nvSpPr>
          <p:cNvPr id="5" name="S11-chip107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108"/>
          <p:cNvSpPr/>
          <p:nvPr/>
        </p:nvSpPr>
        <p:spPr>
          <a:xfrm>
            <a:off x="548640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109"/>
          <p:cNvSpPr txBox="1"/>
          <p:nvPr/>
        </p:nvSpPr>
        <p:spPr>
          <a:xfrm>
            <a:off x="822960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000" dirty="0"/>
          </a:p>
        </p:txBody>
      </p:sp>
      <p:sp>
        <p:nvSpPr>
          <p:cNvPr id="8" name="S11-chip110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111"/>
          <p:cNvSpPr/>
          <p:nvPr/>
        </p:nvSpPr>
        <p:spPr>
          <a:xfrm>
            <a:off x="4367784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112"/>
          <p:cNvSpPr txBox="1"/>
          <p:nvPr/>
        </p:nvSpPr>
        <p:spPr>
          <a:xfrm>
            <a:off x="4642104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</a:t>
            </a:r>
            <a:endParaRPr lang="ko-KR" sz="3000" dirty="0"/>
          </a:p>
        </p:txBody>
      </p:sp>
      <p:sp>
        <p:nvSpPr>
          <p:cNvPr id="11" name="S11-chip113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114"/>
          <p:cNvSpPr/>
          <p:nvPr/>
        </p:nvSpPr>
        <p:spPr>
          <a:xfrm>
            <a:off x="8186928" y="2029968"/>
            <a:ext cx="3453384" cy="2700528"/>
          </a:xfrm>
          <a:prstGeom prst="roundRect">
            <a:avLst>
              <a:gd name="adj" fmla="val 40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115"/>
          <p:cNvSpPr txBox="1"/>
          <p:nvPr/>
        </p:nvSpPr>
        <p:spPr>
          <a:xfrm>
            <a:off x="8461248" y="2167128"/>
            <a:ext cx="2904744" cy="2426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16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17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낱말은 기본형으로 바꾸고,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자음자 → 모음자 → 받침 차례로 찾아요.</a:t>
            </a:r>
            <a:endParaRPr lang="ko-KR" sz="3000" dirty="0"/>
          </a:p>
        </p:txBody>
      </p:sp>
      <p:sp>
        <p:nvSpPr>
          <p:cNvPr id="5" name="S12-chip118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기본형으로 바꿔 찾기</a:t>
            </a:r>
            <a:endParaRPr lang="ko-KR" sz="2400" dirty="0"/>
          </a:p>
        </p:txBody>
      </p:sp>
      <p:sp>
        <p:nvSpPr>
          <p:cNvPr id="6" name="S12-chip119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문장 속 모양 그대로 찾기</a:t>
            </a:r>
            <a:endParaRPr lang="ko-KR" sz="2400" dirty="0"/>
          </a:p>
        </p:txBody>
      </p:sp>
      <p:sp>
        <p:nvSpPr>
          <p:cNvPr id="7" name="S12-text120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121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‘잡았어요’의 기본형</a:t>
            </a:r>
            <a:endParaRPr lang="ko-KR" sz="2400" dirty="0"/>
          </a:p>
        </p:txBody>
      </p:sp>
      <p:sp>
        <p:nvSpPr>
          <p:cNvPr id="9" name="S12-text122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딸기·사과·바나나의 사전 차례</a:t>
            </a:r>
            <a:endParaRPr lang="ko-KR" sz="2400" dirty="0"/>
          </a:p>
        </p:txBody>
      </p:sp>
      <p:sp>
        <p:nvSpPr>
          <p:cNvPr id="10" name="S12-text123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첫 자음자가 같으면?</a:t>
            </a:r>
            <a:endParaRPr lang="ko-KR" sz="2400" dirty="0"/>
          </a:p>
        </p:txBody>
      </p:sp>
      <p:sp>
        <p:nvSpPr>
          <p:cNvPr id="11" name="S12-text12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조사한 내용 발표하기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자음자 차례 익히기</a:t>
            </a:r>
            <a:endParaRPr lang="ko-KR" sz="4000" dirty="0"/>
          </a:p>
        </p:txBody>
      </p:sp>
      <p:sp>
        <p:nvSpPr>
          <p:cNvPr id="3" name="S13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ㄱ부터 ㅎ까지 소리 내어 읽어 보세요.</a:t>
            </a:r>
            <a:endParaRPr lang="ko-KR" sz="3000" dirty="0"/>
          </a:p>
        </p:txBody>
      </p:sp>
      <p:sp>
        <p:nvSpPr>
          <p:cNvPr id="4" name="S13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 나 다 라’로 읽으면 차례를 외우기 쉬워요.</a:t>
            </a:r>
            <a:endParaRPr lang="ko-KR" sz="3000" dirty="0"/>
          </a:p>
        </p:txBody>
      </p:sp>
      <p:sp>
        <p:nvSpPr>
          <p:cNvPr id="6" name="S13-tile128"/>
          <p:cNvSpPr txBox="1"/>
          <p:nvPr/>
        </p:nvSpPr>
        <p:spPr>
          <a:xfrm>
            <a:off x="2002536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300" dirty="0"/>
          </a:p>
        </p:txBody>
      </p:sp>
      <p:sp>
        <p:nvSpPr>
          <p:cNvPr id="7" name="S13-label129"/>
          <p:cNvSpPr txBox="1"/>
          <p:nvPr/>
        </p:nvSpPr>
        <p:spPr>
          <a:xfrm>
            <a:off x="1901952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000" dirty="0"/>
          </a:p>
        </p:txBody>
      </p:sp>
      <p:sp>
        <p:nvSpPr>
          <p:cNvPr id="8" name="S13-tile130"/>
          <p:cNvSpPr txBox="1"/>
          <p:nvPr/>
        </p:nvSpPr>
        <p:spPr>
          <a:xfrm>
            <a:off x="3200400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4300" dirty="0"/>
          </a:p>
        </p:txBody>
      </p:sp>
      <p:sp>
        <p:nvSpPr>
          <p:cNvPr id="9" name="S13-label131"/>
          <p:cNvSpPr txBox="1"/>
          <p:nvPr/>
        </p:nvSpPr>
        <p:spPr>
          <a:xfrm>
            <a:off x="3099816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000" dirty="0"/>
          </a:p>
        </p:txBody>
      </p:sp>
      <p:sp>
        <p:nvSpPr>
          <p:cNvPr id="10" name="S13-tile132"/>
          <p:cNvSpPr txBox="1"/>
          <p:nvPr/>
        </p:nvSpPr>
        <p:spPr>
          <a:xfrm>
            <a:off x="4398264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4300" dirty="0"/>
          </a:p>
        </p:txBody>
      </p:sp>
      <p:sp>
        <p:nvSpPr>
          <p:cNvPr id="11" name="S13-label133"/>
          <p:cNvSpPr txBox="1"/>
          <p:nvPr/>
        </p:nvSpPr>
        <p:spPr>
          <a:xfrm>
            <a:off x="4297680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000" dirty="0"/>
          </a:p>
        </p:txBody>
      </p:sp>
      <p:sp>
        <p:nvSpPr>
          <p:cNvPr id="12" name="S13-tile134"/>
          <p:cNvSpPr txBox="1"/>
          <p:nvPr/>
        </p:nvSpPr>
        <p:spPr>
          <a:xfrm>
            <a:off x="5596128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4300" dirty="0"/>
          </a:p>
        </p:txBody>
      </p:sp>
      <p:sp>
        <p:nvSpPr>
          <p:cNvPr id="13" name="S13-label135"/>
          <p:cNvSpPr txBox="1"/>
          <p:nvPr/>
        </p:nvSpPr>
        <p:spPr>
          <a:xfrm>
            <a:off x="5495544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000" dirty="0"/>
          </a:p>
        </p:txBody>
      </p:sp>
      <p:sp>
        <p:nvSpPr>
          <p:cNvPr id="14" name="S13-tile136"/>
          <p:cNvSpPr txBox="1"/>
          <p:nvPr/>
        </p:nvSpPr>
        <p:spPr>
          <a:xfrm>
            <a:off x="6793992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ㅁ</a:t>
            </a:r>
            <a:endParaRPr lang="ko-KR" sz="4300" dirty="0"/>
          </a:p>
        </p:txBody>
      </p:sp>
      <p:sp>
        <p:nvSpPr>
          <p:cNvPr id="15" name="S13-label137"/>
          <p:cNvSpPr txBox="1"/>
          <p:nvPr/>
        </p:nvSpPr>
        <p:spPr>
          <a:xfrm>
            <a:off x="6693408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000" dirty="0"/>
          </a:p>
        </p:txBody>
      </p:sp>
      <p:sp>
        <p:nvSpPr>
          <p:cNvPr id="16" name="S13-tile138"/>
          <p:cNvSpPr txBox="1"/>
          <p:nvPr/>
        </p:nvSpPr>
        <p:spPr>
          <a:xfrm>
            <a:off x="7991856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ㅂ</a:t>
            </a:r>
            <a:endParaRPr lang="ko-KR" sz="4300" dirty="0"/>
          </a:p>
        </p:txBody>
      </p:sp>
      <p:sp>
        <p:nvSpPr>
          <p:cNvPr id="17" name="S13-label139"/>
          <p:cNvSpPr txBox="1"/>
          <p:nvPr/>
        </p:nvSpPr>
        <p:spPr>
          <a:xfrm>
            <a:off x="7891272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000" dirty="0"/>
          </a:p>
        </p:txBody>
      </p:sp>
      <p:sp>
        <p:nvSpPr>
          <p:cNvPr id="18" name="S13-tile140"/>
          <p:cNvSpPr txBox="1"/>
          <p:nvPr/>
        </p:nvSpPr>
        <p:spPr>
          <a:xfrm>
            <a:off x="9189720" y="2011680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4300" dirty="0"/>
          </a:p>
        </p:txBody>
      </p:sp>
      <p:sp>
        <p:nvSpPr>
          <p:cNvPr id="19" name="S13-label141"/>
          <p:cNvSpPr txBox="1"/>
          <p:nvPr/>
        </p:nvSpPr>
        <p:spPr>
          <a:xfrm>
            <a:off x="9089136" y="3044952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</a:t>
            </a:r>
            <a:endParaRPr lang="ko-KR" sz="2000" dirty="0"/>
          </a:p>
        </p:txBody>
      </p:sp>
      <p:sp>
        <p:nvSpPr>
          <p:cNvPr id="20" name="S13-tile142"/>
          <p:cNvSpPr txBox="1"/>
          <p:nvPr/>
        </p:nvSpPr>
        <p:spPr>
          <a:xfrm>
            <a:off x="2002536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4300" dirty="0"/>
          </a:p>
        </p:txBody>
      </p:sp>
      <p:sp>
        <p:nvSpPr>
          <p:cNvPr id="21" name="S13-label143"/>
          <p:cNvSpPr txBox="1"/>
          <p:nvPr/>
        </p:nvSpPr>
        <p:spPr>
          <a:xfrm>
            <a:off x="1901952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</a:t>
            </a:r>
            <a:endParaRPr lang="ko-KR" sz="2000" dirty="0"/>
          </a:p>
        </p:txBody>
      </p:sp>
      <p:sp>
        <p:nvSpPr>
          <p:cNvPr id="22" name="S13-tile144"/>
          <p:cNvSpPr txBox="1"/>
          <p:nvPr/>
        </p:nvSpPr>
        <p:spPr>
          <a:xfrm>
            <a:off x="3200400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ㅈ</a:t>
            </a:r>
            <a:endParaRPr lang="ko-KR" sz="4300" dirty="0"/>
          </a:p>
        </p:txBody>
      </p:sp>
      <p:sp>
        <p:nvSpPr>
          <p:cNvPr id="23" name="S13-label145"/>
          <p:cNvSpPr txBox="1"/>
          <p:nvPr/>
        </p:nvSpPr>
        <p:spPr>
          <a:xfrm>
            <a:off x="3099816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</a:t>
            </a:r>
            <a:endParaRPr lang="ko-KR" sz="2000" dirty="0"/>
          </a:p>
        </p:txBody>
      </p:sp>
      <p:sp>
        <p:nvSpPr>
          <p:cNvPr id="24" name="S13-tile146"/>
          <p:cNvSpPr txBox="1"/>
          <p:nvPr/>
        </p:nvSpPr>
        <p:spPr>
          <a:xfrm>
            <a:off x="4398264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ㅊ</a:t>
            </a:r>
            <a:endParaRPr lang="ko-KR" sz="4300" dirty="0"/>
          </a:p>
        </p:txBody>
      </p:sp>
      <p:sp>
        <p:nvSpPr>
          <p:cNvPr id="25" name="S13-label147"/>
          <p:cNvSpPr txBox="1"/>
          <p:nvPr/>
        </p:nvSpPr>
        <p:spPr>
          <a:xfrm>
            <a:off x="4297680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</a:t>
            </a:r>
            <a:endParaRPr lang="ko-KR" sz="2000" dirty="0"/>
          </a:p>
        </p:txBody>
      </p:sp>
      <p:sp>
        <p:nvSpPr>
          <p:cNvPr id="26" name="S13-tile148"/>
          <p:cNvSpPr txBox="1"/>
          <p:nvPr/>
        </p:nvSpPr>
        <p:spPr>
          <a:xfrm>
            <a:off x="5596128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ㅋ</a:t>
            </a:r>
            <a:endParaRPr lang="ko-KR" sz="4300" dirty="0"/>
          </a:p>
        </p:txBody>
      </p:sp>
      <p:sp>
        <p:nvSpPr>
          <p:cNvPr id="27" name="S13-label149"/>
          <p:cNvSpPr txBox="1"/>
          <p:nvPr/>
        </p:nvSpPr>
        <p:spPr>
          <a:xfrm>
            <a:off x="5495544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</a:t>
            </a:r>
            <a:endParaRPr lang="ko-KR" sz="2000" dirty="0"/>
          </a:p>
        </p:txBody>
      </p:sp>
      <p:sp>
        <p:nvSpPr>
          <p:cNvPr id="28" name="S13-tile150"/>
          <p:cNvSpPr txBox="1"/>
          <p:nvPr/>
        </p:nvSpPr>
        <p:spPr>
          <a:xfrm>
            <a:off x="6793992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ㅌ</a:t>
            </a:r>
            <a:endParaRPr lang="ko-KR" sz="4300" dirty="0"/>
          </a:p>
        </p:txBody>
      </p:sp>
      <p:sp>
        <p:nvSpPr>
          <p:cNvPr id="29" name="S13-label151"/>
          <p:cNvSpPr txBox="1"/>
          <p:nvPr/>
        </p:nvSpPr>
        <p:spPr>
          <a:xfrm>
            <a:off x="6693408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</a:t>
            </a:r>
            <a:endParaRPr lang="ko-KR" sz="2000" dirty="0"/>
          </a:p>
        </p:txBody>
      </p:sp>
      <p:sp>
        <p:nvSpPr>
          <p:cNvPr id="30" name="S13-tile152"/>
          <p:cNvSpPr txBox="1"/>
          <p:nvPr/>
        </p:nvSpPr>
        <p:spPr>
          <a:xfrm>
            <a:off x="7991856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ㅍ</a:t>
            </a:r>
            <a:endParaRPr lang="ko-KR" sz="4300" dirty="0"/>
          </a:p>
        </p:txBody>
      </p:sp>
      <p:sp>
        <p:nvSpPr>
          <p:cNvPr id="31" name="S13-label153"/>
          <p:cNvSpPr txBox="1"/>
          <p:nvPr/>
        </p:nvSpPr>
        <p:spPr>
          <a:xfrm>
            <a:off x="7891272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</a:t>
            </a:r>
            <a:endParaRPr lang="ko-KR" sz="2000" dirty="0"/>
          </a:p>
        </p:txBody>
      </p:sp>
      <p:sp>
        <p:nvSpPr>
          <p:cNvPr id="32" name="S13-tile154"/>
          <p:cNvSpPr txBox="1"/>
          <p:nvPr/>
        </p:nvSpPr>
        <p:spPr>
          <a:xfrm>
            <a:off x="9189720" y="3666744"/>
            <a:ext cx="996696" cy="996696"/>
          </a:xfrm>
          <a:prstGeom prst="roundRect">
            <a:avLst>
              <a:gd name="adj" fmla="val 1284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ㅎ</a:t>
            </a:r>
            <a:endParaRPr lang="ko-KR" sz="4300" dirty="0"/>
          </a:p>
        </p:txBody>
      </p:sp>
      <p:sp>
        <p:nvSpPr>
          <p:cNvPr id="33" name="S13-label155"/>
          <p:cNvSpPr txBox="1"/>
          <p:nvPr/>
        </p:nvSpPr>
        <p:spPr>
          <a:xfrm>
            <a:off x="9089136" y="47000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국어사전 찾기</dc:title>
  <dc:subject>KR22-G03-KOR-DICT-L01</dc:subject>
  <dc:creator>education-ppt</dc:creator>
  <cp:lastModifiedBy>education-ppt</cp:lastModifiedBy>
  <cp:revision>1</cp:revision>
  <dcterms:created xsi:type="dcterms:W3CDTF">2026-10-26T07:47:20Z</dcterms:created>
  <dcterms:modified xsi:type="dcterms:W3CDTF">2026-10-26T07:47:20Z</dcterms:modified>
</cp:coreProperties>
</file>