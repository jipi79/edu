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e2f4256-bd6f-42fb-e7b1-4e610edbae3a}">
          <p14:sldIdLst>
            <p14:sldId id="256"/>
            <p14:sldId id="257"/>
          </p14:sldIdLst>
        </p14:section>
        <p14:section name="개념" id="{0833e59e-dbff-ad36-beee-e803aef0aec3}">
          <p14:sldIdLst>
            <p14:sldId id="258"/>
            <p14:sldId id="259"/>
            <p14:sldId id="260"/>
          </p14:sldIdLst>
        </p14:section>
        <p14:section name="연습" id="{9ac5acd3-7cc7-12f3-cb35-55bf2b17be6c}">
          <p14:sldIdLst>
            <p14:sldId id="261"/>
            <p14:sldId id="262"/>
            <p14:sldId id="263"/>
          </p14:sldIdLst>
        </p14:section>
        <p14:section name="확인" id="{a1fa4911-d94c-f18d-f2d7-789d11bb0552}">
          <p14:sldIdLst>
            <p14:sldId id="264"/>
            <p14:sldId id="265"/>
            <p14:sldId id="266"/>
          </p14:sldIdLst>
        </p14:section>
        <p14:section name="정리" id="{5713d4b0-4eef-9324-0484-34888c63dcd5}">
          <p14:sldIdLst>
            <p14:sldId id="267"/>
          </p14:sldIdLst>
        </p14:section>
        <p14:section name="보충" id="{2e8523f0-0e05-a7a2-740d-30e08d6e944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모르는 낱말을 만났을 때 아이가 평소 어떻게 하는지 들어 봅니다.
시간: 약 2분
이렇게 말해 보세요
- “책을 읽다가 모르는 낱말이 나오면 어떻게 해?”
- “오늘은 사전 없이도 앞뒤 문장을 보고 뜻을 짐작하는 방법을 배울 거야.”
예상 답
- “그냥 넘어가요.” “엄마한테 물어봐요.”
막히면
- “최근에 읽은 책에서 모르는 말이 있었니?”처럼 아이의 경험에서 시작합니다.
주의
- 어떤 답이든 고치지 말고 들어 둡니다. 건너뛰는 습관(M1)은 S05~S08에서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확인(문단의 중심 내용)]
목적: 앞 차시(문단의 중심 문장)에서 배운, 문단을 읽고 무엇에 대한 이야기인지 말하는 힘을 확인합니다. 낱말 뜻을 짐작하려면 글의 흐름을 알아야 합니다.
시간: 약 3분
이렇게 말해 보세요
- “천천히 읽어 볼래? 이 문단은 무엇에 대한 이야기야?”
- “다른 문장들이 모두 설명하는 문장은 어느 것이지?”
정답
- 강아지 콩이가 산책을 좋아한다는 이야기입니다.
- 중심 문장: 우리 집 강아지 콩이는 산책을 좋아합니다.(첫 문장)
막히면
- 문장마다 “이 문장은 무엇을 말해?”라고 하나씩 묻습니다.
- 문장의 뜻을 이어서 이해하기 어려워하면 S13(보충)을 먼저 합니다. 중심 문장을 찾지 못하면 앞 차시 ‘문단의 중심 문장’(KR22-G03-KOR-MAINIDEA-L01)을 다시 합니다.
주의
- 낱말 하나하나보다 ‘무슨 이야기인지’를 말하는지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용어 설명]
목적: 문맥, 단서, 짐작의 뜻을 알려 줍니다.
시간: 약 3분
이렇게 말해 보세요
- “글은 문장들이 서로 이어져 있어. 이 흐름을 ‘문맥’이라고 해.”
- “모르는 낱말 근처에는 뜻을 알려 주는 말이 숨어 있어. 탐정처럼 그 ‘단서’를 찾으면 뜻을 짐작할 수 있어.”
예상 답
- “탐정이 범인을 찾는 것처럼 찾아요.”
막히면
- “엄마(아빠)가 젖은 우산을 들고 들어오면 밖에 무슨 일이 있는 것 같아?”처럼 생활 속 단서로 먼저 이야기합니다.
주의
- 용어를 외우게 하기보다 ‘단서 = 뜻을 알려 주는 말’만 기억하게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읽기]
목적: 부모가 생각을 소리 내어 말하며 단서를 찾고 뜻을 짐작하는 과정을 보여 줍니다.
시간: 약 4분
이렇게 말해 보세요
- “엄마(아빠)도 ‘허기지다’를 모른다고 생각하고 해 볼게. 앞 문장을 보니 아침을 못 먹었대.”
- “뒤 문장에는 배에서 꼬르륵 소리가 나고, 밥을 두 그릇이나 먹었대. 그러니까 ‘허기지다’는 ‘배가 몹시 고프다’는 뜻 같아.”
- “확인해 볼까? ‘점심시간이 되자 몹시 배가 고팠습니다.’ 말이 되지?”
예상 답
- “배고프다는 뜻이에요.”
정답
- 허기지다: 배가 몹시 고프다.
- 단서: 아침을 먹지 못함, 배에서 꼬르륵 소리가 남, 밥을 두 그릇이나 먹음.
막히면
- 단서가 되는 말을 손가락으로 짚어 주고 “이런 일이 있으면 몸이 어떨까?”라고 묻습니다.
주의
- 이 장은 시범입니다. 아이에게 묻기보다 부모가 생각하는 과정을 들려주는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짐작하는 방법 정리]
목적: 방금 시범에서 한 일을 순서로 정리합니다. 5번(넣어 읽기)은 짐작이 맞는지 확인하는 방법입니다.
시간: 약 3분
이렇게 말해 보세요
- “방금 ‘허기지다’를 찾을 때 엄마(아빠)가 한 순서야. 하나씩 읽어 볼래?”
- “5번이 중요해. 짐작한 뜻을 낱말 자리에 넣어서 읽었을 때 말이 되면 잘 짐작한 거야.”
예상 답
- 아이가 순서를 자기 말로 다시 말합니다. 예: “모르는 말에 동그라미 하고, 앞뒤를 읽고, 단서를 찾아요.”
막히면
- S04의 문단에 1~5를 직접 해 보게 합니다(○, 밑줄).
주의
- 단서는 낱말 앞에도 뒤에도 있을 수 있다고 꼭 말해 줍니다.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함께 찾기(단서가 뒤에 있음)]
목적: 단서가 낱말 뒤에 있고, 반대되는 말(서툴다)도 단서가 되는 문단으로 함께 찾아봅니다.
시간: 약 4분
이렇게 말해 보세요
- “이번에는 같이 해 보자. 모르는 낱말에 동그라미 했지? 이제 뒤 문장까지 읽어 봐.”
- “‘하지만’ 뒤에서 나는 어떻다고 했어? 언니와 나는 같아, 반대야?”
정답
- 능숙하다: 어떤 일을 익숙하게 잘하다.
- 단서: 쉬지 않고 백 번이나 넘을 수 있습니다. / 하지만 나는 아직 서툽니다.(반대되는 말)
막히면
- ‘서툴다’부터 묻습니다. “열 번만 넘어도 걸리면 잘하는 거야, 못하는 거야?”
- “언니는 나와 반대래. 그럼 언니는?”이라고 이어 묻습니다.
주의
- ‘하지만’, ‘그런데’ 뒤에는 앞과 반대되는 내용이 온다는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넣어 읽어 확인하기(오해 비교)]
목적: 짐작한 뜻을 낱말 자리에 넣어 읽으면 맞는지 확인할 수 있다는 것을 익힙니다(오해 M3).
시간: 약 3분
이렇게 말해 보세요
- “두 쪽을 소리 내어 읽어 봐. 어느 쪽이 ‘하지만’ 뒤 문장과 잘 이어져?”
- “‘싫어하다’를 넣으면 왜 어색할까?”
정답
- 나. ‘잘한다’와 ‘서툴다’는 반대되는 말이어서 ‘하지만’으로 자연스럽게 이어집니다.
- 가는 ‘싫어한다’와 ‘서툴다’가 반대되는 말이 아니어서 어색하고, 백 번이나 넘는다는 앞 내용과도 맞지 않습니다.
막히면
- “엄마는 김치를 좋아해. 하지만 나는 김치를 ___.”처럼 ‘하지만’ 문장을 하나 더 만들어 보여 줍니다.
주의
- ‘가’를 고르면 틀렸다고 말하기 전에 두 쪽을 천천히 다시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단서 찾기 연습]
목적: 짧은 글에서 단서를 찾는 연습을 합니다(목표 A).
시간: 약 4분
이렇게 말해 보세요
- “①부터 읽어 볼래? 뜻을 알려 주는 말은 어디 있어?”
- “그럼 ‘어수선하다’는 어떤 뜻 같아? 그 뜻을 넣어서 다시 읽어 봐.”
정답
- ① 어수선하다: 물건이 흩어져 정리가 안 되어 있다. 단서: 장난감과 옷이 바닥에 흩어져 있어요.
- ② 쌀쌀하다: 날씨가 조금 춥다. 단서: 겉옷을 입었어요, 손도 시렸어요.
- ③ 시들다: 꽃이나 풀이 말라 힘이 없어지다. 단서: 물을 주지 않았더니, 잎도 축 처졌어요.
막히면
- “이 방에 들어가면 어떤 모습일까?”처럼 장면을 떠올리게 합니다.
- 단서 문장을 부모가 천천히 다시 읽어 줍니다.
주의
- 사전처럼 정확히 말하지 않아도 됩니다. 쉬운 말로 비슷하게 말하면 맞은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짐작하기]
목적: 도움 없이 단서를 찾고 뜻을 짐작하는지 확인합니다.
시간: 약 4분
이렇게 말해 보세요
- “이번에는 혼자 해 볼래? 활동지 2번에 같은 글이 있으니 밑줄을 그어도 돼.”
- “짐작한 뜻을 넣어서 다시 읽어 봐. 말이 돼?”
정답
- 서식하다: (동물이나 식물이) 어떤 곳에 자리 잡고 살다. ‘산다’, ‘살고 있다’처럼 말하면 맞습니다.
- 단서: 물가의 굴에서 지내며 / 물과 가까운 곳에서 살아갑니다.
막히면
- S05의 2번 “앞뒤 문장을 다시 읽어요”부터 다시 하게 합니다.
- 도움을 받아 찾았다면 기록표에 ‘도움’으로 표시합니다.
주의
- ‘이처럼’은 앞 내용을 묶어 말하는 신호입니다. 마지막 문장이 가장 큰 단서입니다.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“‘서식합니다’ 자리에 ‘먹습니다’를 넣어 볼까? ‘수달은 강가에 먹습니다.’ 어때?”
- “‘삽니다’를 넣으면?”
예상 답
- “‘강가에 먹습니다’는 이상해요. ‘강가에 삽니다’가 맞아요.”
정답
- 서식하다: 어떤 곳에 자리 잡고 살다.
막히면
- 두 문장을 부모가 소리 내어 읽어 어색함을 들려줍니다.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낱말의 뜻을 단서로 고르고, 넣어 읽어 확인하는지 봅니다(목표 B).
시간: 약 3분
이렇게 말해 보세요
- “‘북적였습니다’ 자리에 가, 나, 다를 하나씩 넣어 읽어 볼래?”
- “어느 말이 단서였어?”
정답
- 나. 단서: 사람들로 / 놀이 기구마다 줄이 길었습니다.
막히면
- “줄이 길면 사람이 많을까, 적을까?”라고 묻습니다.
주의
- 답만 맞히고 단서를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“모르는 낱말은 앞뒤 문장에서 단서를 찾아 뜻을 짐작해요.”
정답
- ① 낱말의 뜻을 알려 주는 말 ② 배가 몹시 고프다 ③ 짐작한 뜻을 낱말 자리에 넣어 읽어 말이 되는지 본다.
막히면
- S05의 순서를 다시 보여 줍니다.
주의
- 다음 시간에는 짐작한 뜻을 국어사전으로 확인하는 방법을 배운다고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보충(한 문장 안에서 앞뒤 말 보기)]
목적: 한 문장 안에서 앞뒤 말을 보고 빈칸을 채우며, 문맥을 단서로 쓰는 경험을 먼저 합니다.
시간: 약 4분
이렇게 말해 보세요
- “비가 와서 무엇을 썼을까? 어떻게 알았어?”
- “‘비가 와서’라는 말이 단서였지? 모르는 낱말도 빈칸처럼 생각하면 돼.”
정답
- ① 우산 ② 물(마실 것이면 맞음) ③ 장갑
막히면
- 실제 우산·컵·장갑을 보여 주며 말하게 합니다.
- 보충으로도 문단 읽기가 어려우면 앞 차시 ‘문단의 중심 문장’(KR22-G03-KOR-MAINIDEA-L01)을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문맥으로 낱말 뜻 짐작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낱말이 나오면 어떻게 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앞뒤 문장에서 단서를 찾을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단서로 낱말의 뜻을 짐작할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대한 이야기일까요?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문단은 무엇에 대한 이야기인가요? 중심 문장은 무엇인가요?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집 강아지 콩이는 산책을 좋아합니다. 목줄을 보면 꼬리를 흔들며 문 앞으로 달려갑니다. 밖에 나가면 이리저리 냄새를 맡으며 신나게 걷습니다.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문맥과 단서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낱말은 앞뒤 문장에서 단서를 찾아요.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문장이 이어지는 흐름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알려 주는 말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보고 뜻을 미루어 생각하기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‘허기지다’의 뜻 찾기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‘허기졌습니다’는 무슨 뜻일까요? 어떤 말이 알려 주나요?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나는 아침을 먹지 못하고 학교에 갔습니다. 점심시간이 되자 몹시 ‘허기졌습니다’. 배에서 꼬르륵 소리가 났습니다. 나는 밥을 두 그릇이나 먹었습니다.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뜻 짐작하는 방법</a:t>
            </a:r>
            <a:endParaRPr lang="ko-KR" sz="4000" dirty="0"/>
          </a:p>
        </p:txBody>
      </p:sp>
      <p:sp>
        <p:nvSpPr>
          <p:cNvPr id="3" name="S05-stepno19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0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낱말에 ○ 해요.</a:t>
            </a:r>
            <a:endParaRPr lang="ko-KR" sz="3000" dirty="0"/>
          </a:p>
        </p:txBody>
      </p:sp>
      <p:sp>
        <p:nvSpPr>
          <p:cNvPr id="5" name="S05-stepno21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2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문장을 다시 읽어요.</a:t>
            </a:r>
            <a:endParaRPr lang="ko-KR" sz="3000" dirty="0"/>
          </a:p>
        </p:txBody>
      </p:sp>
      <p:sp>
        <p:nvSpPr>
          <p:cNvPr id="7" name="S05-stepno2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4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단서가 되는 말에 밑줄을 그어요.</a:t>
            </a:r>
            <a:endParaRPr lang="ko-KR" sz="3000" dirty="0"/>
          </a:p>
        </p:txBody>
      </p:sp>
      <p:sp>
        <p:nvSpPr>
          <p:cNvPr id="9" name="S05-stepno25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6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짐작해 쉬운 말로 말해요.</a:t>
            </a:r>
            <a:endParaRPr lang="ko-KR" sz="3000" dirty="0"/>
          </a:p>
        </p:txBody>
      </p:sp>
      <p:sp>
        <p:nvSpPr>
          <p:cNvPr id="11" name="S05-stepno27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5-text28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짐작한 뜻을 넣어 읽어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문단 읽기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‘능숙하게’는 무슨 뜻일까요? 단서를 모두 찾아보세요.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언니는 줄넘기를 ‘능숙하게’ 합니다. 쉬지 않고 백 번이나 넘을 수 있습니다. 하지만 나는 아직 서툽니다. 열 번만 넘어도 줄에 걸립니다.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뜻이 어울릴까?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‘능숙하게’ 자리에 짐작한 뜻을 넣어 읽어 보세요.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뒤 문장과 잘 어울리나요? 왜 그런가요?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‘싫어하다’로 짐작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언니는 줄넘기를 싫어합니다. 하지만 나는 아직 서툽니다.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‘잘하다’로 짐작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언니는 줄넘기를 잘합니다. 하지만 나는 아직 서툽니다.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찾아요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찾아 말하고, 낱말의 뜻을 짐작해 보세요.</a:t>
            </a:r>
            <a:endParaRPr lang="ko-KR" sz="3000" dirty="0"/>
          </a:p>
        </p:txBody>
      </p:sp>
      <p:sp>
        <p:nvSpPr>
          <p:cNvPr id="4" name="S08-chip4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ext4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‘어수선해요’. 장난감과 옷이 바닥에 흩어져 있어요.</a:t>
            </a:r>
            <a:endParaRPr lang="ko-KR" sz="30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‘쌀쌀해서’ 겉옷을 입었어요. 손도 시렸어요.</a:t>
            </a:r>
            <a:endParaRPr lang="ko-KR" sz="30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주지 않았더니 꽃이 ‘시들었어요’. 잎도 축 처졌어요.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‘서식합니다’의 뜻을 짐작하고, 단서에 밑줄을 그어 보세요.</a:t>
            </a:r>
            <a:endParaRPr lang="ko-KR" sz="3000" dirty="0"/>
          </a:p>
        </p:txBody>
      </p:sp>
      <p:sp>
        <p:nvSpPr>
          <p:cNvPr id="5" name="S09-passagebox5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수달은 맑은 물이 흐르는 강가에 ‘서식합니다’. 수달은 물가의 굴에서 지내며 물고기를 잡아먹습니다. 이처럼 수달은 물과 가까운 곳에서 살아갑니다.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짐작한 뜻을 넣어 읽어 말이 되는지 꼭 확인해요.</a:t>
            </a:r>
            <a:endParaRPr lang="ko-KR" sz="3000" dirty="0"/>
          </a:p>
        </p:txBody>
      </p:sp>
      <p:sp>
        <p:nvSpPr>
          <p:cNvPr id="5" name="S10-chip5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55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서식하다: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잡고 살다</a:t>
            </a:r>
            <a:endParaRPr lang="ko-KR" sz="3000" dirty="0"/>
          </a:p>
        </p:txBody>
      </p:sp>
      <p:sp>
        <p:nvSpPr>
          <p:cNvPr id="7" name="S10-text56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‘지내며’,</a:t>
            </a:r>
            <a:endParaRPr lang="ko-KR" sz="2400" dirty="0"/>
          </a:p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‘살아갑니다’가 단서</a:t>
            </a:r>
            <a:endParaRPr lang="ko-KR" sz="2400" dirty="0"/>
          </a:p>
        </p:txBody>
      </p:sp>
      <p:sp>
        <p:nvSpPr>
          <p:cNvPr id="8" name="S10-chip5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9" name="S10-text5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서식하다: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</a:t>
            </a:r>
            <a:endParaRPr lang="ko-KR" sz="3000" dirty="0"/>
          </a:p>
        </p:txBody>
      </p:sp>
      <p:sp>
        <p:nvSpPr>
          <p:cNvPr id="10" name="S10-text5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‘잡아먹습니다’만</a:t>
            </a:r>
            <a:endParaRPr lang="ko-KR" sz="2400" dirty="0"/>
          </a:p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짐작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뜻은 무엇일까요?</a:t>
            </a:r>
            <a:endParaRPr lang="ko-KR" sz="4000" dirty="0"/>
          </a:p>
        </p:txBody>
      </p:sp>
      <p:sp>
        <p:nvSpPr>
          <p:cNvPr id="3" name="S11-text60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주말이라 놀이공원은 사람들로 ‘북적였습니다’. 놀이 기구마다 줄이 길었습니다.</a:t>
            </a:r>
            <a:endParaRPr lang="ko-KR" sz="3000" dirty="0"/>
          </a:p>
        </p:txBody>
      </p:sp>
      <p:sp>
        <p:nvSpPr>
          <p:cNvPr id="4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뜻을 넣어 읽고, 단서를 말해 보세요.</a:t>
            </a:r>
            <a:endParaRPr lang="ko-KR" sz="3000" dirty="0"/>
          </a:p>
        </p:txBody>
      </p:sp>
      <p:sp>
        <p:nvSpPr>
          <p:cNvPr id="6" name="S11-chip63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64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65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텅 비어 조용했어요.</a:t>
            </a:r>
            <a:endParaRPr lang="ko-KR" sz="3000" dirty="0"/>
          </a:p>
        </p:txBody>
      </p:sp>
      <p:sp>
        <p:nvSpPr>
          <p:cNvPr id="9" name="S11-chip66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67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68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많아 붐볐어요.</a:t>
            </a:r>
            <a:endParaRPr lang="ko-KR" sz="3000" dirty="0"/>
          </a:p>
        </p:txBody>
      </p:sp>
      <p:sp>
        <p:nvSpPr>
          <p:cNvPr id="12" name="S11-chip69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70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1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젖었어요.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낱말은 앞뒤 문장의 단서로 뜻을 짐작하고, 넣어 읽어 확인해요.</a:t>
            </a:r>
            <a:endParaRPr lang="ko-KR" sz="30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앞뒤 문장 모두 읽기</a:t>
            </a:r>
            <a:endParaRPr lang="ko-KR" sz="2400" dirty="0"/>
          </a:p>
        </p:txBody>
      </p:sp>
      <p:sp>
        <p:nvSpPr>
          <p:cNvPr id="6" name="S12-chip7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모르면 그냥 건너뛰기</a:t>
            </a:r>
            <a:endParaRPr lang="ko-KR" sz="2400" dirty="0"/>
          </a:p>
        </p:txBody>
      </p:sp>
      <p:sp>
        <p:nvSpPr>
          <p:cNvPr id="7" name="S12-text7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7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단서란?</a:t>
            </a:r>
            <a:endParaRPr lang="ko-KR" sz="2400" dirty="0"/>
          </a:p>
        </p:txBody>
      </p:sp>
      <p:sp>
        <p:nvSpPr>
          <p:cNvPr id="9" name="S12-text7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‘허기지다’의 뜻</a:t>
            </a:r>
            <a:endParaRPr lang="ko-KR" sz="2400" dirty="0"/>
          </a:p>
        </p:txBody>
      </p:sp>
      <p:sp>
        <p:nvSpPr>
          <p:cNvPr id="10" name="S12-text7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짐작한 뜻 확인하기</a:t>
            </a:r>
            <a:endParaRPr lang="ko-KR" sz="2400" dirty="0"/>
          </a:p>
        </p:txBody>
      </p:sp>
      <p:sp>
        <p:nvSpPr>
          <p:cNvPr id="11" name="S12-text8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국어사전 찾기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빈칸에 알맞은 말</a:t>
            </a:r>
            <a:endParaRPr lang="ko-KR" sz="4000" dirty="0"/>
          </a:p>
        </p:txBody>
      </p:sp>
      <p:sp>
        <p:nvSpPr>
          <p:cNvPr id="3" name="S1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말을 보고 □에 들어갈 낱말을 말해 보세요.</a:t>
            </a:r>
            <a:endParaRPr lang="ko-KR" sz="3000" dirty="0"/>
          </a:p>
        </p:txBody>
      </p:sp>
      <p:sp>
        <p:nvSpPr>
          <p:cNvPr id="4" name="S13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낱말도 □처럼 앞뒤 말을 보면 알 수 있어요.</a:t>
            </a:r>
            <a:endParaRPr lang="ko-KR" sz="3000" dirty="0"/>
          </a:p>
        </p:txBody>
      </p:sp>
      <p:sp>
        <p:nvSpPr>
          <p:cNvPr id="6" name="S13-chip8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8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□을 썼어요.</a:t>
            </a:r>
            <a:endParaRPr lang="ko-KR" sz="3000" dirty="0"/>
          </a:p>
        </p:txBody>
      </p:sp>
      <p:sp>
        <p:nvSpPr>
          <p:cNvPr id="8" name="S13-chip8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8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말라서 □을 마셨어요.</a:t>
            </a:r>
            <a:endParaRPr lang="ko-KR" sz="3000" dirty="0"/>
          </a:p>
        </p:txBody>
      </p:sp>
      <p:sp>
        <p:nvSpPr>
          <p:cNvPr id="10" name="S13-chip8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8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손이 시려서 □을 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문맥으로 낱말 뜻 짐작</dc:title>
  <dc:subject>KR22-G03-KOR-CONTEXT-L01</dc:subject>
  <dc:creator>education-ppt</dc:creator>
  <cp:lastModifiedBy>education-ppt</cp:lastModifiedBy>
  <cp:revision>1</cp:revision>
  <dcterms:created xsi:type="dcterms:W3CDTF">2026-10-26T06:36:01Z</dcterms:created>
  <dcterms:modified xsi:type="dcterms:W3CDTF">2026-10-26T06:36:01Z</dcterms:modified>
</cp:coreProperties>
</file>