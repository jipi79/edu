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347399-d040-8d2d-c548-7add2285ec11}">
          <p14:sldIdLst>
            <p14:sldId id="256"/>
            <p14:sldId id="257"/>
          </p14:sldIdLst>
        </p14:section>
        <p14:section name="개념" id="{965e5fb1-b821-22b7-41a8-d5d5ea3995c5}">
          <p14:sldIdLst>
            <p14:sldId id="258"/>
            <p14:sldId id="259"/>
            <p14:sldId id="261"/>
            <p14:sldId id="262"/>
          </p14:sldIdLst>
        </p14:section>
        <p14:section name="연습" id="{2f6a9d45-3fda-251c-0cce-39a56670e1db}">
          <p14:sldIdLst>
            <p14:sldId id="260"/>
            <p14:sldId id="263"/>
          </p14:sldIdLst>
        </p14:section>
        <p14:section name="개념" id="{82fd2251-ca0c-d208-31df-4a6af8a539e8}">
          <p14:sldIdLst/>
        </p14:section>
        <p14:section name="연습" id="{a28f8a13-1493-666c-1459-3df3539b0421}">
          <p14:sldIdLst/>
        </p14:section>
        <p14:section name="확인" id="{a0525a15-2e01-485c-8fa3-07f154859568}">
          <p14:sldIdLst>
            <p14:sldId id="264"/>
            <p14:sldId id="265"/>
          </p14:sldIdLst>
        </p14:section>
        <p14:section name="정리" id="{7b0b123b-0244-e19a-4055-10cb4eecd880}">
          <p14:sldIdLst>
            <p14:sldId id="266"/>
          </p14:sldIdLst>
        </p14:section>
        <p14:section name="보충" id="{f3b20a71-422e-d66f-101e-cf6ffe6daed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국어사전에서 낱말을 빨리 찾으려면?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낱말의 기본형을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국어사전에서 낱말을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확인해요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‘세차게’ 불어 우산이 뒤집혔어요. ‘세차게’는 무슨 뜻일까요?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ㄱ, ㄴ, ㄷ, □, ㅁ에서 □에 들어갈 자음자는?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‘먹다’는 문장에서 모양이 바뀌어요.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 + 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 + 다 = 먹다(기본형)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실려 있어요.</a:t>
            </a:r>
            <a:endParaRPr lang="ko-KR" sz="3000" dirty="0"/>
          </a:p>
        </p:txBody>
      </p:sp>
      <p:sp>
        <p:nvSpPr>
          <p:cNvPr id="8" name="S03-word12"/>
          <p:cNvSpPr txBox="1"/>
          <p:nvPr/>
        </p:nvSpPr>
        <p:spPr>
          <a:xfrm>
            <a:off x="548640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</a:t>
            </a:r>
            <a:endParaRPr lang="ko-KR" sz="3400" dirty="0"/>
          </a:p>
        </p:txBody>
      </p:sp>
      <p:sp>
        <p:nvSpPr>
          <p:cNvPr id="9" name="S03-word13"/>
          <p:cNvSpPr txBox="1"/>
          <p:nvPr/>
        </p:nvSpPr>
        <p:spPr>
          <a:xfrm>
            <a:off x="3390138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먹어서</a:t>
            </a:r>
            <a:endParaRPr lang="ko-KR" sz="3400" dirty="0"/>
          </a:p>
        </p:txBody>
      </p:sp>
      <p:sp>
        <p:nvSpPr>
          <p:cNvPr id="10" name="S03-word14"/>
          <p:cNvSpPr txBox="1"/>
          <p:nvPr/>
        </p:nvSpPr>
        <p:spPr>
          <a:xfrm>
            <a:off x="6231636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먹으니</a:t>
            </a:r>
            <a:endParaRPr lang="ko-KR" sz="3400" dirty="0"/>
          </a:p>
        </p:txBody>
      </p:sp>
      <p:sp>
        <p:nvSpPr>
          <p:cNvPr id="11" name="S03-word15"/>
          <p:cNvSpPr txBox="1"/>
          <p:nvPr/>
        </p:nvSpPr>
        <p:spPr>
          <a:xfrm>
            <a:off x="9073134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 만드는 방법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‘잡았어요’의 기본형은?</a:t>
            </a:r>
            <a:endParaRPr lang="ko-KR" sz="3000" dirty="0"/>
          </a:p>
        </p:txBody>
      </p:sp>
      <p:sp>
        <p:nvSpPr>
          <p:cNvPr id="4" name="S04-stepno1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18"/>
          <p:cNvSpPr txBox="1"/>
          <p:nvPr/>
        </p:nvSpPr>
        <p:spPr>
          <a:xfrm>
            <a:off x="1325880" y="3424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바꿔 말해요. (잡고)</a:t>
            </a:r>
            <a:endParaRPr lang="ko-KR" sz="3000" dirty="0"/>
          </a:p>
        </p:txBody>
      </p:sp>
      <p:sp>
        <p:nvSpPr>
          <p:cNvPr id="6" name="S04-stepno1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20"/>
          <p:cNvSpPr txBox="1"/>
          <p:nvPr/>
        </p:nvSpPr>
        <p:spPr>
          <a:xfrm>
            <a:off x="1325880" y="413766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부분을 찾아요. (잡)</a:t>
            </a:r>
            <a:endParaRPr lang="ko-KR" sz="3000" dirty="0"/>
          </a:p>
        </p:txBody>
      </p:sp>
      <p:sp>
        <p:nvSpPr>
          <p:cNvPr id="8" name="S04-stepno2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22"/>
          <p:cNvSpPr txBox="1"/>
          <p:nvPr/>
        </p:nvSpPr>
        <p:spPr>
          <a:xfrm>
            <a:off x="1325880" y="48508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뒤에 ‘다’를 붙여요. (잡다)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바꿔요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기본형을 말해 보세요.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말해 보면 바뀌지 않는 부분이 보여요.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웃어서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</a:t>
            </a:r>
            <a:endParaRPr lang="ko-KR" sz="30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찾았어요</a:t>
            </a:r>
            <a:endParaRPr lang="ko-KR" sz="3000" dirty="0"/>
          </a:p>
        </p:txBody>
      </p:sp>
      <p:sp>
        <p:nvSpPr>
          <p:cNvPr id="12" name="S05-chip3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국어사전의 자음자 차례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글자의 자음자 차례대로 실려 있어요.</a:t>
            </a:r>
            <a:endParaRPr lang="ko-KR" sz="30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ㄲ은 ㄱ 바로 뒤에 와요. ㄸ, ㅃ, ㅆ, ㅉ도 같아요.</a:t>
            </a:r>
            <a:endParaRPr lang="ko-KR" sz="3000" dirty="0"/>
          </a:p>
        </p:txBody>
      </p:sp>
      <p:sp>
        <p:nvSpPr>
          <p:cNvPr id="6" name="S06-tile37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000" dirty="0"/>
          </a:p>
        </p:txBody>
      </p:sp>
      <p:sp>
        <p:nvSpPr>
          <p:cNvPr id="7" name="S06-tile38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4000" dirty="0"/>
          </a:p>
        </p:txBody>
      </p:sp>
      <p:sp>
        <p:nvSpPr>
          <p:cNvPr id="8" name="S06-tile39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000" dirty="0"/>
          </a:p>
        </p:txBody>
      </p:sp>
      <p:sp>
        <p:nvSpPr>
          <p:cNvPr id="9" name="S06-tile40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000" dirty="0"/>
          </a:p>
        </p:txBody>
      </p:sp>
      <p:sp>
        <p:nvSpPr>
          <p:cNvPr id="10" name="S06-tile41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4000" dirty="0"/>
          </a:p>
        </p:txBody>
      </p:sp>
      <p:sp>
        <p:nvSpPr>
          <p:cNvPr id="11" name="S06-tile42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000" dirty="0"/>
          </a:p>
        </p:txBody>
      </p:sp>
      <p:sp>
        <p:nvSpPr>
          <p:cNvPr id="12" name="S06-tile43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000" dirty="0"/>
          </a:p>
        </p:txBody>
      </p:sp>
      <p:sp>
        <p:nvSpPr>
          <p:cNvPr id="13" name="S06-tile44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000" dirty="0"/>
          </a:p>
        </p:txBody>
      </p:sp>
      <p:sp>
        <p:nvSpPr>
          <p:cNvPr id="14" name="S06-tile45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4000" dirty="0"/>
          </a:p>
        </p:txBody>
      </p:sp>
      <p:sp>
        <p:nvSpPr>
          <p:cNvPr id="15" name="S06-tile46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000" dirty="0"/>
          </a:p>
        </p:txBody>
      </p:sp>
      <p:sp>
        <p:nvSpPr>
          <p:cNvPr id="16" name="S06-tile47"/>
          <p:cNvSpPr txBox="1"/>
          <p:nvPr/>
        </p:nvSpPr>
        <p:spPr>
          <a:xfrm>
            <a:off x="111328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4000" dirty="0"/>
          </a:p>
        </p:txBody>
      </p:sp>
      <p:sp>
        <p:nvSpPr>
          <p:cNvPr id="17" name="S06-tile48"/>
          <p:cNvSpPr txBox="1"/>
          <p:nvPr/>
        </p:nvSpPr>
        <p:spPr>
          <a:xfrm>
            <a:off x="224256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000" dirty="0"/>
          </a:p>
        </p:txBody>
      </p:sp>
      <p:sp>
        <p:nvSpPr>
          <p:cNvPr id="18" name="S06-tile49"/>
          <p:cNvSpPr txBox="1"/>
          <p:nvPr/>
        </p:nvSpPr>
        <p:spPr>
          <a:xfrm>
            <a:off x="337185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000" dirty="0"/>
          </a:p>
        </p:txBody>
      </p:sp>
      <p:sp>
        <p:nvSpPr>
          <p:cNvPr id="19" name="S06-tile50"/>
          <p:cNvSpPr txBox="1"/>
          <p:nvPr/>
        </p:nvSpPr>
        <p:spPr>
          <a:xfrm>
            <a:off x="450113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4000" dirty="0"/>
          </a:p>
        </p:txBody>
      </p:sp>
      <p:sp>
        <p:nvSpPr>
          <p:cNvPr id="20" name="S06-tile51"/>
          <p:cNvSpPr txBox="1"/>
          <p:nvPr/>
        </p:nvSpPr>
        <p:spPr>
          <a:xfrm>
            <a:off x="563041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000" dirty="0"/>
          </a:p>
        </p:txBody>
      </p:sp>
      <p:sp>
        <p:nvSpPr>
          <p:cNvPr id="21" name="S06-tile52"/>
          <p:cNvSpPr txBox="1"/>
          <p:nvPr/>
        </p:nvSpPr>
        <p:spPr>
          <a:xfrm>
            <a:off x="675970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000" dirty="0"/>
          </a:p>
        </p:txBody>
      </p:sp>
      <p:sp>
        <p:nvSpPr>
          <p:cNvPr id="22" name="S06-tile53"/>
          <p:cNvSpPr txBox="1"/>
          <p:nvPr/>
        </p:nvSpPr>
        <p:spPr>
          <a:xfrm>
            <a:off x="788898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000" dirty="0"/>
          </a:p>
        </p:txBody>
      </p:sp>
      <p:sp>
        <p:nvSpPr>
          <p:cNvPr id="23" name="S06-tile54"/>
          <p:cNvSpPr txBox="1"/>
          <p:nvPr/>
        </p:nvSpPr>
        <p:spPr>
          <a:xfrm>
            <a:off x="901827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000" dirty="0"/>
          </a:p>
        </p:txBody>
      </p:sp>
      <p:sp>
        <p:nvSpPr>
          <p:cNvPr id="24" name="S06-tile55"/>
          <p:cNvSpPr txBox="1"/>
          <p:nvPr/>
        </p:nvSpPr>
        <p:spPr>
          <a:xfrm>
            <a:off x="1014755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모음자와 받침 차례</a:t>
            </a:r>
            <a:endParaRPr lang="ko-KR" sz="40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자음자가 같으면 모음자 차례로 실려요.</a:t>
            </a:r>
            <a:endParaRPr lang="ko-KR" sz="3000" dirty="0"/>
          </a:p>
        </p:txBody>
      </p:sp>
      <p:sp>
        <p:nvSpPr>
          <p:cNvPr id="4" name="S07-card57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모음자까지 같으면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글자가 먼저예요.</a:t>
            </a:r>
            <a:endParaRPr lang="ko-KR" sz="3000" dirty="0"/>
          </a:p>
        </p:txBody>
      </p:sp>
      <p:sp>
        <p:nvSpPr>
          <p:cNvPr id="6" name="S07-card59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0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받침의 자음자 차례예요.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각 → 간</a:t>
            </a:r>
            <a:endParaRPr lang="ko-KR" sz="3000" dirty="0"/>
          </a:p>
        </p:txBody>
      </p:sp>
      <p:sp>
        <p:nvSpPr>
          <p:cNvPr id="8" name="S07-tile61"/>
          <p:cNvSpPr txBox="1"/>
          <p:nvPr/>
        </p:nvSpPr>
        <p:spPr>
          <a:xfrm>
            <a:off x="548640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3600" dirty="0"/>
          </a:p>
        </p:txBody>
      </p:sp>
      <p:sp>
        <p:nvSpPr>
          <p:cNvPr id="9" name="S07-tile62"/>
          <p:cNvSpPr txBox="1"/>
          <p:nvPr/>
        </p:nvSpPr>
        <p:spPr>
          <a:xfrm>
            <a:off x="1575262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3600" dirty="0"/>
          </a:p>
        </p:txBody>
      </p:sp>
      <p:sp>
        <p:nvSpPr>
          <p:cNvPr id="10" name="S07-tile63"/>
          <p:cNvSpPr txBox="1"/>
          <p:nvPr/>
        </p:nvSpPr>
        <p:spPr>
          <a:xfrm>
            <a:off x="2601884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3600" dirty="0"/>
          </a:p>
        </p:txBody>
      </p:sp>
      <p:sp>
        <p:nvSpPr>
          <p:cNvPr id="11" name="S07-tile64"/>
          <p:cNvSpPr txBox="1"/>
          <p:nvPr/>
        </p:nvSpPr>
        <p:spPr>
          <a:xfrm>
            <a:off x="362850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ㅒ</a:t>
            </a:r>
            <a:endParaRPr lang="ko-KR" sz="3600" dirty="0"/>
          </a:p>
        </p:txBody>
      </p:sp>
      <p:sp>
        <p:nvSpPr>
          <p:cNvPr id="12" name="S07-tile65"/>
          <p:cNvSpPr txBox="1"/>
          <p:nvPr/>
        </p:nvSpPr>
        <p:spPr>
          <a:xfrm>
            <a:off x="4655127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3600" dirty="0"/>
          </a:p>
        </p:txBody>
      </p:sp>
      <p:sp>
        <p:nvSpPr>
          <p:cNvPr id="13" name="S07-tile66"/>
          <p:cNvSpPr txBox="1"/>
          <p:nvPr/>
        </p:nvSpPr>
        <p:spPr>
          <a:xfrm>
            <a:off x="5681749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3600" dirty="0"/>
          </a:p>
        </p:txBody>
      </p:sp>
      <p:sp>
        <p:nvSpPr>
          <p:cNvPr id="14" name="S07-tile67"/>
          <p:cNvSpPr txBox="1"/>
          <p:nvPr/>
        </p:nvSpPr>
        <p:spPr>
          <a:xfrm>
            <a:off x="6708371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3600" dirty="0"/>
          </a:p>
        </p:txBody>
      </p:sp>
      <p:sp>
        <p:nvSpPr>
          <p:cNvPr id="15" name="S07-tile68"/>
          <p:cNvSpPr txBox="1"/>
          <p:nvPr/>
        </p:nvSpPr>
        <p:spPr>
          <a:xfrm>
            <a:off x="7734993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ㅖ</a:t>
            </a:r>
            <a:endParaRPr lang="ko-KR" sz="3600" dirty="0"/>
          </a:p>
        </p:txBody>
      </p:sp>
      <p:sp>
        <p:nvSpPr>
          <p:cNvPr id="16" name="S07-tile69"/>
          <p:cNvSpPr txBox="1"/>
          <p:nvPr/>
        </p:nvSpPr>
        <p:spPr>
          <a:xfrm>
            <a:off x="876161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3600" dirty="0"/>
          </a:p>
        </p:txBody>
      </p:sp>
      <p:sp>
        <p:nvSpPr>
          <p:cNvPr id="17" name="S07-tile70"/>
          <p:cNvSpPr txBox="1"/>
          <p:nvPr/>
        </p:nvSpPr>
        <p:spPr>
          <a:xfrm>
            <a:off x="9788236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3600" dirty="0"/>
          </a:p>
        </p:txBody>
      </p:sp>
      <p:sp>
        <p:nvSpPr>
          <p:cNvPr id="18" name="S07-tile71"/>
          <p:cNvSpPr txBox="1"/>
          <p:nvPr/>
        </p:nvSpPr>
        <p:spPr>
          <a:xfrm>
            <a:off x="10814858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ㅙ</a:t>
            </a:r>
            <a:endParaRPr lang="ko-KR" sz="3600" dirty="0"/>
          </a:p>
        </p:txBody>
      </p:sp>
      <p:sp>
        <p:nvSpPr>
          <p:cNvPr id="19" name="S07-tile72"/>
          <p:cNvSpPr txBox="1"/>
          <p:nvPr/>
        </p:nvSpPr>
        <p:spPr>
          <a:xfrm>
            <a:off x="1061951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ㅚ</a:t>
            </a:r>
            <a:endParaRPr lang="ko-KR" sz="3600" dirty="0"/>
          </a:p>
        </p:txBody>
      </p:sp>
      <p:sp>
        <p:nvSpPr>
          <p:cNvPr id="20" name="S07-tile73"/>
          <p:cNvSpPr txBox="1"/>
          <p:nvPr/>
        </p:nvSpPr>
        <p:spPr>
          <a:xfrm>
            <a:off x="2088573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3600" dirty="0"/>
          </a:p>
        </p:txBody>
      </p:sp>
      <p:sp>
        <p:nvSpPr>
          <p:cNvPr id="21" name="S07-tile74"/>
          <p:cNvSpPr txBox="1"/>
          <p:nvPr/>
        </p:nvSpPr>
        <p:spPr>
          <a:xfrm>
            <a:off x="311519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3600" dirty="0"/>
          </a:p>
        </p:txBody>
      </p:sp>
      <p:sp>
        <p:nvSpPr>
          <p:cNvPr id="22" name="S07-tile75"/>
          <p:cNvSpPr txBox="1"/>
          <p:nvPr/>
        </p:nvSpPr>
        <p:spPr>
          <a:xfrm>
            <a:off x="4141816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3600" dirty="0"/>
          </a:p>
        </p:txBody>
      </p:sp>
      <p:sp>
        <p:nvSpPr>
          <p:cNvPr id="23" name="S07-tile76"/>
          <p:cNvSpPr txBox="1"/>
          <p:nvPr/>
        </p:nvSpPr>
        <p:spPr>
          <a:xfrm>
            <a:off x="5168438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ㅞ</a:t>
            </a:r>
            <a:endParaRPr lang="ko-KR" sz="3600" dirty="0"/>
          </a:p>
        </p:txBody>
      </p:sp>
      <p:sp>
        <p:nvSpPr>
          <p:cNvPr id="24" name="S07-tile77"/>
          <p:cNvSpPr txBox="1"/>
          <p:nvPr/>
        </p:nvSpPr>
        <p:spPr>
          <a:xfrm>
            <a:off x="6195060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ㅟ</a:t>
            </a:r>
            <a:endParaRPr lang="ko-KR" sz="3600" dirty="0"/>
          </a:p>
        </p:txBody>
      </p:sp>
      <p:sp>
        <p:nvSpPr>
          <p:cNvPr id="25" name="S07-tile78"/>
          <p:cNvSpPr txBox="1"/>
          <p:nvPr/>
        </p:nvSpPr>
        <p:spPr>
          <a:xfrm>
            <a:off x="7221682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3600" dirty="0"/>
          </a:p>
        </p:txBody>
      </p:sp>
      <p:sp>
        <p:nvSpPr>
          <p:cNvPr id="26" name="S07-tile79"/>
          <p:cNvSpPr txBox="1"/>
          <p:nvPr/>
        </p:nvSpPr>
        <p:spPr>
          <a:xfrm>
            <a:off x="8248304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3600" dirty="0"/>
          </a:p>
        </p:txBody>
      </p:sp>
      <p:sp>
        <p:nvSpPr>
          <p:cNvPr id="27" name="S07-tile80"/>
          <p:cNvSpPr txBox="1"/>
          <p:nvPr/>
        </p:nvSpPr>
        <p:spPr>
          <a:xfrm>
            <a:off x="927492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3600" dirty="0"/>
          </a:p>
        </p:txBody>
      </p:sp>
      <p:sp>
        <p:nvSpPr>
          <p:cNvPr id="28" name="S07-tile81"/>
          <p:cNvSpPr txBox="1"/>
          <p:nvPr/>
        </p:nvSpPr>
        <p:spPr>
          <a:xfrm>
            <a:off x="10301547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나오는 차례는?</a:t>
            </a:r>
            <a:endParaRPr lang="ko-KR" sz="40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먼저 나오는 낱말부터 차례로 말해 보세요.</a:t>
            </a:r>
            <a:endParaRPr lang="ko-KR" sz="3000" dirty="0"/>
          </a:p>
        </p:txBody>
      </p:sp>
      <p:sp>
        <p:nvSpPr>
          <p:cNvPr id="4" name="S08-chip8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8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· 기차 · 나무</a:t>
            </a:r>
            <a:endParaRPr lang="ko-KR" sz="3000" dirty="0"/>
          </a:p>
        </p:txBody>
      </p:sp>
      <p:sp>
        <p:nvSpPr>
          <p:cNvPr id="6" name="S08-chip8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8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보리 · 바다 · 버스</a:t>
            </a:r>
            <a:endParaRPr lang="ko-KR" sz="3000" dirty="0"/>
          </a:p>
        </p:txBody>
      </p:sp>
      <p:sp>
        <p:nvSpPr>
          <p:cNvPr id="8" name="S08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 · 가방 · 감자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‘신었다’를 기본형으로 바꿔 아래에서 찾고, 뜻을 읽어 보세요.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한 쪽처럼 만든 표예요.</a:t>
            </a:r>
            <a:endParaRPr lang="ko-KR" sz="3000" dirty="0"/>
          </a:p>
        </p:txBody>
      </p:sp>
      <p:graphicFrame>
        <p:nvGraphicFramePr>
          <p:cNvPr id="10" name="S09-table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46960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6720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시원하다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덥지 않고 알맞게 선선하다.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신기하다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색다르고 놀랍다.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신발이나 양말을 발에 꿰다.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소식을 알려 주는 인쇄물.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나오는 낱말은?</a:t>
            </a:r>
            <a:endParaRPr lang="ko-KR" sz="4000" dirty="0"/>
          </a:p>
        </p:txBody>
      </p:sp>
      <p:sp>
        <p:nvSpPr>
          <p:cNvPr id="3" name="S11-card9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 가장 먼저 나오는 낱말을 고르고 까닭을 말해 보세요.</a:t>
            </a:r>
            <a:endParaRPr lang="ko-KR" sz="3000" dirty="0"/>
          </a:p>
        </p:txBody>
      </p:sp>
      <p:sp>
        <p:nvSpPr>
          <p:cNvPr id="5" name="S11-chip95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96"/>
          <p:cNvSpPr/>
          <p:nvPr/>
        </p:nvSpPr>
        <p:spPr>
          <a:xfrm>
            <a:off x="548640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97"/>
          <p:cNvSpPr txBox="1"/>
          <p:nvPr/>
        </p:nvSpPr>
        <p:spPr>
          <a:xfrm>
            <a:off x="822960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</p:txBody>
      </p:sp>
      <p:sp>
        <p:nvSpPr>
          <p:cNvPr id="8" name="S11-chip9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99"/>
          <p:cNvSpPr/>
          <p:nvPr/>
        </p:nvSpPr>
        <p:spPr>
          <a:xfrm>
            <a:off x="4367784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00"/>
          <p:cNvSpPr txBox="1"/>
          <p:nvPr/>
        </p:nvSpPr>
        <p:spPr>
          <a:xfrm>
            <a:off x="4642104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</a:t>
            </a:r>
            <a:endParaRPr lang="ko-KR" sz="3000" dirty="0"/>
          </a:p>
        </p:txBody>
      </p:sp>
      <p:sp>
        <p:nvSpPr>
          <p:cNvPr id="11" name="S11-chip10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102"/>
          <p:cNvSpPr/>
          <p:nvPr/>
        </p:nvSpPr>
        <p:spPr>
          <a:xfrm>
            <a:off x="8186928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103"/>
          <p:cNvSpPr txBox="1"/>
          <p:nvPr/>
        </p:nvSpPr>
        <p:spPr>
          <a:xfrm>
            <a:off x="8461248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0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낱말은 기본형으로 바꾸고,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→ 모음자 → 받침 차례로 찾아요.</a:t>
            </a:r>
            <a:endParaRPr lang="ko-KR" sz="3000" dirty="0"/>
          </a:p>
        </p:txBody>
      </p:sp>
      <p:sp>
        <p:nvSpPr>
          <p:cNvPr id="5" name="S12-chip10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기본형으로 바꿔 찾기</a:t>
            </a:r>
            <a:endParaRPr lang="ko-KR" sz="2400" dirty="0"/>
          </a:p>
        </p:txBody>
      </p:sp>
      <p:sp>
        <p:nvSpPr>
          <p:cNvPr id="6" name="S12-chip10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문장 속 모양 그대로 찾기</a:t>
            </a:r>
            <a:endParaRPr lang="ko-KR" sz="2400" dirty="0"/>
          </a:p>
        </p:txBody>
      </p:sp>
      <p:sp>
        <p:nvSpPr>
          <p:cNvPr id="7" name="S12-text10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10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‘잡았어요’의 기본형</a:t>
            </a:r>
            <a:endParaRPr lang="ko-KR" sz="2400" dirty="0"/>
          </a:p>
        </p:txBody>
      </p:sp>
      <p:sp>
        <p:nvSpPr>
          <p:cNvPr id="9" name="S12-text11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딸기·사과·바나나의 사전 차례</a:t>
            </a:r>
            <a:endParaRPr lang="ko-KR" sz="2400" dirty="0"/>
          </a:p>
        </p:txBody>
      </p:sp>
      <p:sp>
        <p:nvSpPr>
          <p:cNvPr id="10" name="S12-text11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첫 자음자가 같으면?</a:t>
            </a:r>
            <a:endParaRPr lang="ko-KR" sz="2400" dirty="0"/>
          </a:p>
        </p:txBody>
      </p:sp>
      <p:sp>
        <p:nvSpPr>
          <p:cNvPr id="11" name="S12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조사한 내용 발표하기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차례 익히기</a:t>
            </a:r>
            <a:endParaRPr lang="ko-KR" sz="4000" dirty="0"/>
          </a:p>
        </p:txBody>
      </p:sp>
      <p:sp>
        <p:nvSpPr>
          <p:cNvPr id="3" name="S13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소리 내어 읽어 보세요.</a:t>
            </a:r>
            <a:endParaRPr lang="ko-KR" sz="3000" dirty="0"/>
          </a:p>
        </p:txBody>
      </p:sp>
      <p:sp>
        <p:nvSpPr>
          <p:cNvPr id="4" name="S13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 나 다 라’로 읽으면 차례를 외우기 쉬워요.</a:t>
            </a:r>
            <a:endParaRPr lang="ko-KR" sz="3000" dirty="0"/>
          </a:p>
        </p:txBody>
      </p:sp>
      <p:sp>
        <p:nvSpPr>
          <p:cNvPr id="6" name="S13-tile116"/>
          <p:cNvSpPr txBox="1"/>
          <p:nvPr/>
        </p:nvSpPr>
        <p:spPr>
          <a:xfrm>
            <a:off x="200253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300" dirty="0"/>
          </a:p>
        </p:txBody>
      </p:sp>
      <p:sp>
        <p:nvSpPr>
          <p:cNvPr id="7" name="S13-label117"/>
          <p:cNvSpPr txBox="1"/>
          <p:nvPr/>
        </p:nvSpPr>
        <p:spPr>
          <a:xfrm>
            <a:off x="190195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000" dirty="0"/>
          </a:p>
        </p:txBody>
      </p:sp>
      <p:sp>
        <p:nvSpPr>
          <p:cNvPr id="8" name="S13-tile118"/>
          <p:cNvSpPr txBox="1"/>
          <p:nvPr/>
        </p:nvSpPr>
        <p:spPr>
          <a:xfrm>
            <a:off x="320040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300" dirty="0"/>
          </a:p>
        </p:txBody>
      </p:sp>
      <p:sp>
        <p:nvSpPr>
          <p:cNvPr id="9" name="S13-label119"/>
          <p:cNvSpPr txBox="1"/>
          <p:nvPr/>
        </p:nvSpPr>
        <p:spPr>
          <a:xfrm>
            <a:off x="309981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000" dirty="0"/>
          </a:p>
        </p:txBody>
      </p:sp>
      <p:sp>
        <p:nvSpPr>
          <p:cNvPr id="10" name="S13-tile120"/>
          <p:cNvSpPr txBox="1"/>
          <p:nvPr/>
        </p:nvSpPr>
        <p:spPr>
          <a:xfrm>
            <a:off x="4398264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300" dirty="0"/>
          </a:p>
        </p:txBody>
      </p:sp>
      <p:sp>
        <p:nvSpPr>
          <p:cNvPr id="11" name="S13-label121"/>
          <p:cNvSpPr txBox="1"/>
          <p:nvPr/>
        </p:nvSpPr>
        <p:spPr>
          <a:xfrm>
            <a:off x="4297680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000" dirty="0"/>
          </a:p>
        </p:txBody>
      </p:sp>
      <p:sp>
        <p:nvSpPr>
          <p:cNvPr id="12" name="S13-tile122"/>
          <p:cNvSpPr txBox="1"/>
          <p:nvPr/>
        </p:nvSpPr>
        <p:spPr>
          <a:xfrm>
            <a:off x="5596128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300" dirty="0"/>
          </a:p>
        </p:txBody>
      </p:sp>
      <p:sp>
        <p:nvSpPr>
          <p:cNvPr id="13" name="S13-label123"/>
          <p:cNvSpPr txBox="1"/>
          <p:nvPr/>
        </p:nvSpPr>
        <p:spPr>
          <a:xfrm>
            <a:off x="5495544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000" dirty="0"/>
          </a:p>
        </p:txBody>
      </p:sp>
      <p:sp>
        <p:nvSpPr>
          <p:cNvPr id="14" name="S13-tile124"/>
          <p:cNvSpPr txBox="1"/>
          <p:nvPr/>
        </p:nvSpPr>
        <p:spPr>
          <a:xfrm>
            <a:off x="6793992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300" dirty="0"/>
          </a:p>
        </p:txBody>
      </p:sp>
      <p:sp>
        <p:nvSpPr>
          <p:cNvPr id="15" name="S13-label125"/>
          <p:cNvSpPr txBox="1"/>
          <p:nvPr/>
        </p:nvSpPr>
        <p:spPr>
          <a:xfrm>
            <a:off x="6693408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000" dirty="0"/>
          </a:p>
        </p:txBody>
      </p:sp>
      <p:sp>
        <p:nvSpPr>
          <p:cNvPr id="16" name="S13-tile126"/>
          <p:cNvSpPr txBox="1"/>
          <p:nvPr/>
        </p:nvSpPr>
        <p:spPr>
          <a:xfrm>
            <a:off x="799185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300" dirty="0"/>
          </a:p>
        </p:txBody>
      </p:sp>
      <p:sp>
        <p:nvSpPr>
          <p:cNvPr id="17" name="S13-label127"/>
          <p:cNvSpPr txBox="1"/>
          <p:nvPr/>
        </p:nvSpPr>
        <p:spPr>
          <a:xfrm>
            <a:off x="789127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000" dirty="0"/>
          </a:p>
        </p:txBody>
      </p:sp>
      <p:sp>
        <p:nvSpPr>
          <p:cNvPr id="18" name="S13-tile128"/>
          <p:cNvSpPr txBox="1"/>
          <p:nvPr/>
        </p:nvSpPr>
        <p:spPr>
          <a:xfrm>
            <a:off x="918972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300" dirty="0"/>
          </a:p>
        </p:txBody>
      </p:sp>
      <p:sp>
        <p:nvSpPr>
          <p:cNvPr id="19" name="S13-label129"/>
          <p:cNvSpPr txBox="1"/>
          <p:nvPr/>
        </p:nvSpPr>
        <p:spPr>
          <a:xfrm>
            <a:off x="908913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</a:t>
            </a:r>
            <a:endParaRPr lang="ko-KR" sz="2000" dirty="0"/>
          </a:p>
        </p:txBody>
      </p:sp>
      <p:sp>
        <p:nvSpPr>
          <p:cNvPr id="20" name="S13-tile130"/>
          <p:cNvSpPr txBox="1"/>
          <p:nvPr/>
        </p:nvSpPr>
        <p:spPr>
          <a:xfrm>
            <a:off x="200253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300" dirty="0"/>
          </a:p>
        </p:txBody>
      </p:sp>
      <p:sp>
        <p:nvSpPr>
          <p:cNvPr id="21" name="S13-label131"/>
          <p:cNvSpPr txBox="1"/>
          <p:nvPr/>
        </p:nvSpPr>
        <p:spPr>
          <a:xfrm>
            <a:off x="190195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000" dirty="0"/>
          </a:p>
        </p:txBody>
      </p:sp>
      <p:sp>
        <p:nvSpPr>
          <p:cNvPr id="22" name="S13-tile132"/>
          <p:cNvSpPr txBox="1"/>
          <p:nvPr/>
        </p:nvSpPr>
        <p:spPr>
          <a:xfrm>
            <a:off x="320040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300" dirty="0"/>
          </a:p>
        </p:txBody>
      </p:sp>
      <p:sp>
        <p:nvSpPr>
          <p:cNvPr id="23" name="S13-label133"/>
          <p:cNvSpPr txBox="1"/>
          <p:nvPr/>
        </p:nvSpPr>
        <p:spPr>
          <a:xfrm>
            <a:off x="309981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</a:t>
            </a:r>
            <a:endParaRPr lang="ko-KR" sz="2000" dirty="0"/>
          </a:p>
        </p:txBody>
      </p:sp>
      <p:sp>
        <p:nvSpPr>
          <p:cNvPr id="24" name="S13-tile134"/>
          <p:cNvSpPr txBox="1"/>
          <p:nvPr/>
        </p:nvSpPr>
        <p:spPr>
          <a:xfrm>
            <a:off x="4398264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300" dirty="0"/>
          </a:p>
        </p:txBody>
      </p:sp>
      <p:sp>
        <p:nvSpPr>
          <p:cNvPr id="25" name="S13-label135"/>
          <p:cNvSpPr txBox="1"/>
          <p:nvPr/>
        </p:nvSpPr>
        <p:spPr>
          <a:xfrm>
            <a:off x="4297680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</a:t>
            </a:r>
            <a:endParaRPr lang="ko-KR" sz="2000" dirty="0"/>
          </a:p>
        </p:txBody>
      </p:sp>
      <p:sp>
        <p:nvSpPr>
          <p:cNvPr id="26" name="S13-tile136"/>
          <p:cNvSpPr txBox="1"/>
          <p:nvPr/>
        </p:nvSpPr>
        <p:spPr>
          <a:xfrm>
            <a:off x="5596128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300" dirty="0"/>
          </a:p>
        </p:txBody>
      </p:sp>
      <p:sp>
        <p:nvSpPr>
          <p:cNvPr id="27" name="S13-label137"/>
          <p:cNvSpPr txBox="1"/>
          <p:nvPr/>
        </p:nvSpPr>
        <p:spPr>
          <a:xfrm>
            <a:off x="5495544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2000" dirty="0"/>
          </a:p>
        </p:txBody>
      </p:sp>
      <p:sp>
        <p:nvSpPr>
          <p:cNvPr id="28" name="S13-tile138"/>
          <p:cNvSpPr txBox="1"/>
          <p:nvPr/>
        </p:nvSpPr>
        <p:spPr>
          <a:xfrm>
            <a:off x="6793992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300" dirty="0"/>
          </a:p>
        </p:txBody>
      </p:sp>
      <p:sp>
        <p:nvSpPr>
          <p:cNvPr id="29" name="S13-label139"/>
          <p:cNvSpPr txBox="1"/>
          <p:nvPr/>
        </p:nvSpPr>
        <p:spPr>
          <a:xfrm>
            <a:off x="6693408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</a:t>
            </a:r>
            <a:endParaRPr lang="ko-KR" sz="2000" dirty="0"/>
          </a:p>
        </p:txBody>
      </p:sp>
      <p:sp>
        <p:nvSpPr>
          <p:cNvPr id="30" name="S13-tile140"/>
          <p:cNvSpPr txBox="1"/>
          <p:nvPr/>
        </p:nvSpPr>
        <p:spPr>
          <a:xfrm>
            <a:off x="799185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300" dirty="0"/>
          </a:p>
        </p:txBody>
      </p:sp>
      <p:sp>
        <p:nvSpPr>
          <p:cNvPr id="31" name="S13-label141"/>
          <p:cNvSpPr txBox="1"/>
          <p:nvPr/>
        </p:nvSpPr>
        <p:spPr>
          <a:xfrm>
            <a:off x="789127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</a:t>
            </a:r>
            <a:endParaRPr lang="ko-KR" sz="2000" dirty="0"/>
          </a:p>
        </p:txBody>
      </p:sp>
      <p:sp>
        <p:nvSpPr>
          <p:cNvPr id="32" name="S13-tile142"/>
          <p:cNvSpPr txBox="1"/>
          <p:nvPr/>
        </p:nvSpPr>
        <p:spPr>
          <a:xfrm>
            <a:off x="918972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300" dirty="0"/>
          </a:p>
        </p:txBody>
      </p:sp>
      <p:sp>
        <p:nvSpPr>
          <p:cNvPr id="33" name="S13-label143"/>
          <p:cNvSpPr txBox="1"/>
          <p:nvPr/>
        </p:nvSpPr>
        <p:spPr>
          <a:xfrm>
            <a:off x="908913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국어사전 찾기</dc:title>
  <dc:subject>KR22-G03-KOR-DICT-L01</dc:subject>
  <dc:creator>education-ppt</dc:creator>
  <cp:lastModifiedBy>education-ppt</cp:lastModifiedBy>
  <cp:revision>1</cp:revision>
  <dcterms:created xsi:type="dcterms:W3CDTF">2026-10-26T06:38:29Z</dcterms:created>
  <dcterms:modified xsi:type="dcterms:W3CDTF">2026-10-26T06:38:29Z</dcterms:modified>
</cp:coreProperties>
</file>