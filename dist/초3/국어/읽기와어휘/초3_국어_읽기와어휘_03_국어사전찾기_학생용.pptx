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e857d5c0-7e0e-135e-4f10-28265bdded70}">
          <p14:sldIdLst>
            <p14:sldId id="256"/>
            <p14:sldId id="257"/>
          </p14:sldIdLst>
        </p14:section>
        <p14:section name="개념" id="{fd8ba772-a80c-65b5-07fe-fb2d6aa5a256}">
          <p14:sldIdLst>
            <p14:sldId id="258"/>
            <p14:sldId id="259"/>
            <p14:sldId id="261"/>
            <p14:sldId id="262"/>
          </p14:sldIdLst>
        </p14:section>
        <p14:section name="연습" id="{8d48766b-44f2-f2d7-418c-b16aa03105bb}">
          <p14:sldIdLst>
            <p14:sldId id="260"/>
            <p14:sldId id="263"/>
          </p14:sldIdLst>
        </p14:section>
        <p14:section name="개념" id="{a9a6cded-2c6a-73ef-fe89-6c3ca7f47030}">
          <p14:sldIdLst/>
        </p14:section>
        <p14:section name="연습" id="{667ef90f-4bdc-a496-1aef-b947c82c8de5}">
          <p14:sldIdLst/>
        </p14:section>
        <p14:section name="확인" id="{d2f8f282-becd-9cbc-391b-bfd1f2c6772b}">
          <p14:sldIdLst>
            <p14:sldId id="264"/>
            <p14:sldId id="265"/>
          </p14:sldIdLst>
        </p14:section>
        <p14:section name="정리" id="{ba687617-fb3b-daa8-54b5-f3a7c48f2c18}">
          <p14:sldIdLst>
            <p14:sldId id="266"/>
          </p14:sldIdLst>
        </p14:section>
        <p14:section name="보충" id="{7c9f96f3-7231-17d2-2f36-8bc90a37155f}">
          <p14:sldIdLst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초3 국어 · 읽기와어휘 · 3차시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초3 국어 · 국어사전 찾기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초3 국어 · 국어사전 찾기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초3 국어 · 국어사전 찾기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국어사전 찾기</a:t>
            </a:r>
            <a:endParaRPr lang="ko-KR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국어사전에서 낱말을 빨리 찾으려면?</a:t>
            </a:r>
            <a:endParaRPr lang="ko-KR" sz="3000" dirty="0"/>
          </a:p>
        </p:txBody>
      </p:sp>
      <p:sp>
        <p:nvSpPr>
          <p:cNvPr id="4" name="S01-card1"/>
          <p:cNvSpPr/>
          <p:nvPr/>
        </p:nvSpPr>
        <p:spPr>
          <a:xfrm>
            <a:off x="731520" y="4436364"/>
            <a:ext cx="10725912" cy="1690116"/>
          </a:xfrm>
          <a:prstGeom prst="roundRect">
            <a:avLst>
              <a:gd name="adj" fmla="val 6492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5" name="S01-cardtext2"/>
          <p:cNvSpPr txBox="1"/>
          <p:nvPr/>
        </p:nvSpPr>
        <p:spPr>
          <a:xfrm>
            <a:off x="1005840" y="4573524"/>
            <a:ext cx="10177272" cy="1415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000" dirty="0"/>
          </a:p>
          <a:p>
            <a:pPr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낱말의 기본형을 말할 수 있어요.</a:t>
            </a:r>
            <a:endParaRPr lang="ko-KR" sz="3000" dirty="0"/>
          </a:p>
          <a:p>
            <a:pPr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국어사전에서 낱말을 찾을 수 있어요.</a:t>
            </a:r>
            <a:endParaRPr lang="ko-KR" sz="3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먼저 확인해요</a:t>
            </a:r>
            <a:endParaRPr lang="ko-KR" sz="4000" dirty="0"/>
          </a:p>
        </p:txBody>
      </p:sp>
      <p:sp>
        <p:nvSpPr>
          <p:cNvPr id="3" name="S02-chip3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4" name="S02-text4"/>
          <p:cNvSpPr txBox="1"/>
          <p:nvPr/>
        </p:nvSpPr>
        <p:spPr>
          <a:xfrm>
            <a:off x="1344168" y="13258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바람이 ‘세차게’ 불어 우산이 뒤집혔어요. ‘세차게’는 무슨 뜻일까요?</a:t>
            </a:r>
            <a:endParaRPr lang="ko-KR" sz="3000" dirty="0"/>
          </a:p>
        </p:txBody>
      </p:sp>
      <p:sp>
        <p:nvSpPr>
          <p:cNvPr id="5" name="S02-chip5"/>
          <p:cNvSpPr txBox="1"/>
          <p:nvPr/>
        </p:nvSpPr>
        <p:spPr>
          <a:xfrm>
            <a:off x="548640" y="43113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6" name="S02-text6"/>
          <p:cNvSpPr txBox="1"/>
          <p:nvPr/>
        </p:nvSpPr>
        <p:spPr>
          <a:xfrm>
            <a:off x="1344168" y="386334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ㄱ, ㄴ, ㄷ, □, ㅁ에서 □에 들어갈 자음자는?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모양이 바뀌는 낱말</a:t>
            </a:r>
            <a:endParaRPr lang="ko-KR" sz="4000" dirty="0"/>
          </a:p>
        </p:txBody>
      </p:sp>
      <p:sp>
        <p:nvSpPr>
          <p:cNvPr id="3" name="S03-text7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‘먹다’는 문장에서 모양이 바뀌어요.</a:t>
            </a:r>
            <a:endParaRPr lang="ko-KR" sz="3000" dirty="0"/>
          </a:p>
        </p:txBody>
      </p:sp>
      <p:sp>
        <p:nvSpPr>
          <p:cNvPr id="4" name="S03-card8"/>
          <p:cNvSpPr/>
          <p:nvPr/>
        </p:nvSpPr>
        <p:spPr>
          <a:xfrm>
            <a:off x="548640" y="4975860"/>
            <a:ext cx="5431536" cy="1242060"/>
          </a:xfrm>
          <a:prstGeom prst="roundRect">
            <a:avLst>
              <a:gd name="adj" fmla="val 883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03-cardtext9"/>
          <p:cNvSpPr txBox="1"/>
          <p:nvPr/>
        </p:nvSpPr>
        <p:spPr>
          <a:xfrm>
            <a:off x="822960" y="5113020"/>
            <a:ext cx="4882896" cy="967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바뀌지 않는 부분 + 다</a:t>
            </a:r>
            <a:endParaRPr lang="ko-KR" sz="3000" dirty="0"/>
          </a:p>
          <a:p>
            <a:pPr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먹 + 다 = 먹다(기본형)</a:t>
            </a:r>
            <a:endParaRPr lang="ko-KR" sz="3000" dirty="0"/>
          </a:p>
        </p:txBody>
      </p:sp>
      <p:sp>
        <p:nvSpPr>
          <p:cNvPr id="6" name="S03-card10"/>
          <p:cNvSpPr/>
          <p:nvPr/>
        </p:nvSpPr>
        <p:spPr>
          <a:xfrm>
            <a:off x="6208776" y="4975860"/>
            <a:ext cx="5431536" cy="1242060"/>
          </a:xfrm>
          <a:prstGeom prst="roundRect">
            <a:avLst>
              <a:gd name="adj" fmla="val 883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03-cardtext11"/>
          <p:cNvSpPr txBox="1"/>
          <p:nvPr/>
        </p:nvSpPr>
        <p:spPr>
          <a:xfrm>
            <a:off x="6483096" y="5113020"/>
            <a:ext cx="4882896" cy="967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국어사전에는</a:t>
            </a:r>
            <a:endParaRPr lang="ko-KR" sz="3000" dirty="0"/>
          </a:p>
          <a:p>
            <a:pPr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기본형으로 실려 있어요.</a:t>
            </a:r>
            <a:endParaRPr lang="ko-KR" sz="3000" dirty="0"/>
          </a:p>
        </p:txBody>
      </p:sp>
      <p:sp>
        <p:nvSpPr>
          <p:cNvPr id="8" name="S03-word12"/>
          <p:cNvSpPr txBox="1"/>
          <p:nvPr/>
        </p:nvSpPr>
        <p:spPr>
          <a:xfrm>
            <a:off x="548640" y="2510790"/>
            <a:ext cx="2567178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먹고</a:t>
            </a:r>
            <a:endParaRPr lang="ko-KR" sz="3400" dirty="0"/>
          </a:p>
        </p:txBody>
      </p:sp>
      <p:sp>
        <p:nvSpPr>
          <p:cNvPr id="9" name="S03-word13"/>
          <p:cNvSpPr txBox="1"/>
          <p:nvPr/>
        </p:nvSpPr>
        <p:spPr>
          <a:xfrm>
            <a:off x="3390138" y="2510790"/>
            <a:ext cx="2567178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먹어서</a:t>
            </a:r>
            <a:endParaRPr lang="ko-KR" sz="3400" dirty="0"/>
          </a:p>
        </p:txBody>
      </p:sp>
      <p:sp>
        <p:nvSpPr>
          <p:cNvPr id="10" name="S03-word14"/>
          <p:cNvSpPr txBox="1"/>
          <p:nvPr/>
        </p:nvSpPr>
        <p:spPr>
          <a:xfrm>
            <a:off x="6231636" y="2510790"/>
            <a:ext cx="2567178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먹으니</a:t>
            </a:r>
            <a:endParaRPr lang="ko-KR" sz="3400" dirty="0"/>
          </a:p>
        </p:txBody>
      </p:sp>
      <p:sp>
        <p:nvSpPr>
          <p:cNvPr id="11" name="S03-word15"/>
          <p:cNvSpPr txBox="1"/>
          <p:nvPr/>
        </p:nvSpPr>
        <p:spPr>
          <a:xfrm>
            <a:off x="9073134" y="2510790"/>
            <a:ext cx="2567178" cy="1737360"/>
          </a:xfrm>
          <a:prstGeom prst="roundRect">
            <a:avLst>
              <a:gd name="adj" fmla="val 7368"/>
            </a:avLst>
          </a:prstGeom>
          <a:solidFill>
            <a:srgbClr val="FDEBDD"/>
          </a:solidFill>
          <a:ln w="31750">
            <a:solidFill>
              <a:srgbClr val="E9762B"/>
            </a:solidFill>
          </a:ln>
        </p:spPr>
        <p:txBody>
          <a:bodyPr wrap="square" lIns="76200" tIns="50800" rIns="76200" bIns="50800" rtlCol="0" anchor="ctr"/>
          <a:lstStyle/>
          <a:p>
            <a:pPr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먹다</a:t>
            </a:r>
            <a:endParaRPr lang="ko-KR" sz="3400" dirty="0"/>
          </a:p>
          <a:p>
            <a:pPr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기본형</a:t>
            </a:r>
            <a:endParaRPr lang="ko-KR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기본형 만드는 방법</a:t>
            </a:r>
            <a:endParaRPr lang="ko-KR" sz="4000" dirty="0"/>
          </a:p>
        </p:txBody>
      </p:sp>
      <p:sp>
        <p:nvSpPr>
          <p:cNvPr id="3" name="S04-text16"/>
          <p:cNvSpPr txBox="1"/>
          <p:nvPr/>
        </p:nvSpPr>
        <p:spPr>
          <a:xfrm>
            <a:off x="548640" y="1325880"/>
            <a:ext cx="1109167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‘잡았어요’의 기본형은?</a:t>
            </a:r>
            <a:endParaRPr lang="ko-KR" sz="3000" dirty="0"/>
          </a:p>
        </p:txBody>
      </p:sp>
      <p:sp>
        <p:nvSpPr>
          <p:cNvPr id="4" name="S04-stepno17"/>
          <p:cNvSpPr txBox="1"/>
          <p:nvPr/>
        </p:nvSpPr>
        <p:spPr>
          <a:xfrm>
            <a:off x="548640" y="342442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5" name="S04-text18"/>
          <p:cNvSpPr txBox="1"/>
          <p:nvPr/>
        </p:nvSpPr>
        <p:spPr>
          <a:xfrm>
            <a:off x="1325880" y="3424428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‘~고’를 붙여 바꿔 말해요. (잡고)</a:t>
            </a:r>
            <a:endParaRPr lang="ko-KR" sz="3000" dirty="0"/>
          </a:p>
        </p:txBody>
      </p:sp>
      <p:sp>
        <p:nvSpPr>
          <p:cNvPr id="6" name="S04-stepno19"/>
          <p:cNvSpPr txBox="1"/>
          <p:nvPr/>
        </p:nvSpPr>
        <p:spPr>
          <a:xfrm>
            <a:off x="548640" y="413766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7" name="S04-text20"/>
          <p:cNvSpPr txBox="1"/>
          <p:nvPr/>
        </p:nvSpPr>
        <p:spPr>
          <a:xfrm>
            <a:off x="1325880" y="4137660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바뀌지 않는 부분을 찾아요. (잡)</a:t>
            </a:r>
            <a:endParaRPr lang="ko-KR" sz="3000" dirty="0"/>
          </a:p>
        </p:txBody>
      </p:sp>
      <p:sp>
        <p:nvSpPr>
          <p:cNvPr id="8" name="S04-stepno21"/>
          <p:cNvSpPr txBox="1"/>
          <p:nvPr/>
        </p:nvSpPr>
        <p:spPr>
          <a:xfrm>
            <a:off x="548640" y="485089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9" name="S04-text22"/>
          <p:cNvSpPr txBox="1"/>
          <p:nvPr/>
        </p:nvSpPr>
        <p:spPr>
          <a:xfrm>
            <a:off x="1325880" y="4850892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 뒤에 ‘다’를 붙여요. (잡다)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기본형으로 바꿔요</a:t>
            </a:r>
            <a:endParaRPr lang="ko-KR" sz="4000" dirty="0"/>
          </a:p>
        </p:txBody>
      </p:sp>
      <p:sp>
        <p:nvSpPr>
          <p:cNvPr id="3" name="S05-text2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기본형을 말해 보세요.</a:t>
            </a:r>
            <a:endParaRPr lang="ko-KR" sz="3000" dirty="0"/>
          </a:p>
        </p:txBody>
      </p:sp>
      <p:sp>
        <p:nvSpPr>
          <p:cNvPr id="4" name="S05-card2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5-cardtext2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‘~고’를 붙여 말해 보면 바뀌지 않는 부분이 보여요.</a:t>
            </a:r>
            <a:endParaRPr lang="ko-KR" sz="3000" dirty="0"/>
          </a:p>
        </p:txBody>
      </p:sp>
      <p:sp>
        <p:nvSpPr>
          <p:cNvPr id="6" name="S05-chip26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7" name="S05-text27"/>
          <p:cNvSpPr txBox="1"/>
          <p:nvPr/>
        </p:nvSpPr>
        <p:spPr>
          <a:xfrm>
            <a:off x="1344168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웃어서</a:t>
            </a:r>
            <a:endParaRPr lang="ko-KR" sz="3000" dirty="0"/>
          </a:p>
        </p:txBody>
      </p:sp>
      <p:sp>
        <p:nvSpPr>
          <p:cNvPr id="8" name="S05-chip28"/>
          <p:cNvSpPr txBox="1"/>
          <p:nvPr/>
        </p:nvSpPr>
        <p:spPr>
          <a:xfrm>
            <a:off x="6277356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9" name="S05-text29"/>
          <p:cNvSpPr txBox="1"/>
          <p:nvPr/>
        </p:nvSpPr>
        <p:spPr>
          <a:xfrm>
            <a:off x="7072884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높은</a:t>
            </a:r>
            <a:endParaRPr lang="ko-KR" sz="3000" dirty="0"/>
          </a:p>
        </p:txBody>
      </p:sp>
      <p:sp>
        <p:nvSpPr>
          <p:cNvPr id="10" name="S05-chip30"/>
          <p:cNvSpPr txBox="1"/>
          <p:nvPr/>
        </p:nvSpPr>
        <p:spPr>
          <a:xfrm>
            <a:off x="548640" y="41056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11" name="S05-text31"/>
          <p:cNvSpPr txBox="1"/>
          <p:nvPr/>
        </p:nvSpPr>
        <p:spPr>
          <a:xfrm>
            <a:off x="1344168" y="36576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찾았어요</a:t>
            </a:r>
            <a:endParaRPr lang="ko-KR" sz="3000" dirty="0"/>
          </a:p>
        </p:txBody>
      </p:sp>
      <p:sp>
        <p:nvSpPr>
          <p:cNvPr id="12" name="S05-chip32"/>
          <p:cNvSpPr txBox="1"/>
          <p:nvPr/>
        </p:nvSpPr>
        <p:spPr>
          <a:xfrm>
            <a:off x="6277356" y="41056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400" dirty="0"/>
          </a:p>
        </p:txBody>
      </p:sp>
      <p:sp>
        <p:nvSpPr>
          <p:cNvPr id="13" name="S05-text33"/>
          <p:cNvSpPr txBox="1"/>
          <p:nvPr/>
        </p:nvSpPr>
        <p:spPr>
          <a:xfrm>
            <a:off x="7072884" y="36576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신고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국어사전의 자음자 차례</a:t>
            </a:r>
            <a:endParaRPr lang="ko-KR" sz="4000" dirty="0"/>
          </a:p>
        </p:txBody>
      </p:sp>
      <p:sp>
        <p:nvSpPr>
          <p:cNvPr id="3" name="S06-text34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첫 글자의 자음자 차례대로 실려 있어요.</a:t>
            </a:r>
            <a:endParaRPr lang="ko-KR" sz="3000" dirty="0"/>
          </a:p>
        </p:txBody>
      </p:sp>
      <p:sp>
        <p:nvSpPr>
          <p:cNvPr id="4" name="S06-card3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6-cardtext3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ㄲ은 ㄱ 바로 뒤에 와요. ㄸ, ㅃ, ㅆ, ㅉ도 같아요.</a:t>
            </a:r>
            <a:endParaRPr lang="ko-KR" sz="3000" dirty="0"/>
          </a:p>
        </p:txBody>
      </p:sp>
      <p:sp>
        <p:nvSpPr>
          <p:cNvPr id="6" name="S06-tile37"/>
          <p:cNvSpPr txBox="1"/>
          <p:nvPr/>
        </p:nvSpPr>
        <p:spPr>
          <a:xfrm>
            <a:off x="548640" y="2537460"/>
            <a:ext cx="928116" cy="928116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ㄱ</a:t>
            </a:r>
            <a:endParaRPr lang="ko-KR" sz="4000" dirty="0"/>
          </a:p>
        </p:txBody>
      </p:sp>
      <p:sp>
        <p:nvSpPr>
          <p:cNvPr id="7" name="S06-tile38"/>
          <p:cNvSpPr txBox="1"/>
          <p:nvPr/>
        </p:nvSpPr>
        <p:spPr>
          <a:xfrm>
            <a:off x="1677924" y="2537460"/>
            <a:ext cx="928116" cy="928116"/>
          </a:xfrm>
          <a:prstGeom prst="roundRect">
            <a:avLst>
              <a:gd name="adj" fmla="val 13793"/>
            </a:avLst>
          </a:prstGeom>
          <a:solidFill>
            <a:srgbClr val="FDEBDD"/>
          </a:solidFill>
          <a:ln w="38100">
            <a:solidFill>
              <a:srgbClr val="E9762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ㄲ</a:t>
            </a:r>
            <a:endParaRPr lang="ko-KR" sz="4000" dirty="0"/>
          </a:p>
        </p:txBody>
      </p:sp>
      <p:sp>
        <p:nvSpPr>
          <p:cNvPr id="8" name="S06-tile39"/>
          <p:cNvSpPr txBox="1"/>
          <p:nvPr/>
        </p:nvSpPr>
        <p:spPr>
          <a:xfrm>
            <a:off x="2807208" y="2537460"/>
            <a:ext cx="928116" cy="928116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ㄴ</a:t>
            </a:r>
            <a:endParaRPr lang="ko-KR" sz="4000" dirty="0"/>
          </a:p>
        </p:txBody>
      </p:sp>
      <p:sp>
        <p:nvSpPr>
          <p:cNvPr id="9" name="S06-tile40"/>
          <p:cNvSpPr txBox="1"/>
          <p:nvPr/>
        </p:nvSpPr>
        <p:spPr>
          <a:xfrm>
            <a:off x="3936492" y="2537460"/>
            <a:ext cx="928116" cy="928116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ㄷ</a:t>
            </a:r>
            <a:endParaRPr lang="ko-KR" sz="4000" dirty="0"/>
          </a:p>
        </p:txBody>
      </p:sp>
      <p:sp>
        <p:nvSpPr>
          <p:cNvPr id="10" name="S06-tile41"/>
          <p:cNvSpPr txBox="1"/>
          <p:nvPr/>
        </p:nvSpPr>
        <p:spPr>
          <a:xfrm>
            <a:off x="5065776" y="2537460"/>
            <a:ext cx="928116" cy="928116"/>
          </a:xfrm>
          <a:prstGeom prst="roundRect">
            <a:avLst>
              <a:gd name="adj" fmla="val 13793"/>
            </a:avLst>
          </a:prstGeom>
          <a:solidFill>
            <a:srgbClr val="FDEBDD"/>
          </a:solidFill>
          <a:ln w="38100">
            <a:solidFill>
              <a:srgbClr val="E9762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ㄸ</a:t>
            </a:r>
            <a:endParaRPr lang="ko-KR" sz="4000" dirty="0"/>
          </a:p>
        </p:txBody>
      </p:sp>
      <p:sp>
        <p:nvSpPr>
          <p:cNvPr id="11" name="S06-tile42"/>
          <p:cNvSpPr txBox="1"/>
          <p:nvPr/>
        </p:nvSpPr>
        <p:spPr>
          <a:xfrm>
            <a:off x="6195060" y="2537460"/>
            <a:ext cx="928116" cy="928116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ㄹ</a:t>
            </a:r>
            <a:endParaRPr lang="ko-KR" sz="4000" dirty="0"/>
          </a:p>
        </p:txBody>
      </p:sp>
      <p:sp>
        <p:nvSpPr>
          <p:cNvPr id="12" name="S06-tile43"/>
          <p:cNvSpPr txBox="1"/>
          <p:nvPr/>
        </p:nvSpPr>
        <p:spPr>
          <a:xfrm>
            <a:off x="7324344" y="2537460"/>
            <a:ext cx="928116" cy="928116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ㅁ</a:t>
            </a:r>
            <a:endParaRPr lang="ko-KR" sz="4000" dirty="0"/>
          </a:p>
        </p:txBody>
      </p:sp>
      <p:sp>
        <p:nvSpPr>
          <p:cNvPr id="13" name="S06-tile44"/>
          <p:cNvSpPr txBox="1"/>
          <p:nvPr/>
        </p:nvSpPr>
        <p:spPr>
          <a:xfrm>
            <a:off x="8453628" y="2537460"/>
            <a:ext cx="928116" cy="928116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ㅂ</a:t>
            </a:r>
            <a:endParaRPr lang="ko-KR" sz="4000" dirty="0"/>
          </a:p>
        </p:txBody>
      </p:sp>
      <p:sp>
        <p:nvSpPr>
          <p:cNvPr id="14" name="S06-tile45"/>
          <p:cNvSpPr txBox="1"/>
          <p:nvPr/>
        </p:nvSpPr>
        <p:spPr>
          <a:xfrm>
            <a:off x="9582912" y="2537460"/>
            <a:ext cx="928116" cy="928116"/>
          </a:xfrm>
          <a:prstGeom prst="roundRect">
            <a:avLst>
              <a:gd name="adj" fmla="val 13793"/>
            </a:avLst>
          </a:prstGeom>
          <a:solidFill>
            <a:srgbClr val="FDEBDD"/>
          </a:solidFill>
          <a:ln w="38100">
            <a:solidFill>
              <a:srgbClr val="E9762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ㅃ</a:t>
            </a:r>
            <a:endParaRPr lang="ko-KR" sz="4000" dirty="0"/>
          </a:p>
        </p:txBody>
      </p:sp>
      <p:sp>
        <p:nvSpPr>
          <p:cNvPr id="15" name="S06-tile46"/>
          <p:cNvSpPr txBox="1"/>
          <p:nvPr/>
        </p:nvSpPr>
        <p:spPr>
          <a:xfrm>
            <a:off x="10712196" y="2537460"/>
            <a:ext cx="928116" cy="928116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ㅅ</a:t>
            </a:r>
            <a:endParaRPr lang="ko-KR" sz="4000" dirty="0"/>
          </a:p>
        </p:txBody>
      </p:sp>
      <p:sp>
        <p:nvSpPr>
          <p:cNvPr id="16" name="S06-tile47"/>
          <p:cNvSpPr txBox="1"/>
          <p:nvPr/>
        </p:nvSpPr>
        <p:spPr>
          <a:xfrm>
            <a:off x="1113282" y="3666744"/>
            <a:ext cx="928116" cy="928116"/>
          </a:xfrm>
          <a:prstGeom prst="roundRect">
            <a:avLst>
              <a:gd name="adj" fmla="val 13793"/>
            </a:avLst>
          </a:prstGeom>
          <a:solidFill>
            <a:srgbClr val="FDEBDD"/>
          </a:solidFill>
          <a:ln w="38100">
            <a:solidFill>
              <a:srgbClr val="E9762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ㅆ</a:t>
            </a:r>
            <a:endParaRPr lang="ko-KR" sz="4000" dirty="0"/>
          </a:p>
        </p:txBody>
      </p:sp>
      <p:sp>
        <p:nvSpPr>
          <p:cNvPr id="17" name="S06-tile48"/>
          <p:cNvSpPr txBox="1"/>
          <p:nvPr/>
        </p:nvSpPr>
        <p:spPr>
          <a:xfrm>
            <a:off x="2242566" y="3666744"/>
            <a:ext cx="928116" cy="928116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ㅇ</a:t>
            </a:r>
            <a:endParaRPr lang="ko-KR" sz="4000" dirty="0"/>
          </a:p>
        </p:txBody>
      </p:sp>
      <p:sp>
        <p:nvSpPr>
          <p:cNvPr id="18" name="S06-tile49"/>
          <p:cNvSpPr txBox="1"/>
          <p:nvPr/>
        </p:nvSpPr>
        <p:spPr>
          <a:xfrm>
            <a:off x="3371850" y="3666744"/>
            <a:ext cx="928116" cy="928116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ㅈ</a:t>
            </a:r>
            <a:endParaRPr lang="ko-KR" sz="4000" dirty="0"/>
          </a:p>
        </p:txBody>
      </p:sp>
      <p:sp>
        <p:nvSpPr>
          <p:cNvPr id="19" name="S06-tile50"/>
          <p:cNvSpPr txBox="1"/>
          <p:nvPr/>
        </p:nvSpPr>
        <p:spPr>
          <a:xfrm>
            <a:off x="4501134" y="3666744"/>
            <a:ext cx="928116" cy="928116"/>
          </a:xfrm>
          <a:prstGeom prst="roundRect">
            <a:avLst>
              <a:gd name="adj" fmla="val 13793"/>
            </a:avLst>
          </a:prstGeom>
          <a:solidFill>
            <a:srgbClr val="FDEBDD"/>
          </a:solidFill>
          <a:ln w="38100">
            <a:solidFill>
              <a:srgbClr val="E9762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ㅉ</a:t>
            </a:r>
            <a:endParaRPr lang="ko-KR" sz="4000" dirty="0"/>
          </a:p>
        </p:txBody>
      </p:sp>
      <p:sp>
        <p:nvSpPr>
          <p:cNvPr id="20" name="S06-tile51"/>
          <p:cNvSpPr txBox="1"/>
          <p:nvPr/>
        </p:nvSpPr>
        <p:spPr>
          <a:xfrm>
            <a:off x="5630418" y="3666744"/>
            <a:ext cx="928116" cy="928116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ㅊ</a:t>
            </a:r>
            <a:endParaRPr lang="ko-KR" sz="4000" dirty="0"/>
          </a:p>
        </p:txBody>
      </p:sp>
      <p:sp>
        <p:nvSpPr>
          <p:cNvPr id="21" name="S06-tile52"/>
          <p:cNvSpPr txBox="1"/>
          <p:nvPr/>
        </p:nvSpPr>
        <p:spPr>
          <a:xfrm>
            <a:off x="6759702" y="3666744"/>
            <a:ext cx="928116" cy="928116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ㅋ</a:t>
            </a:r>
            <a:endParaRPr lang="ko-KR" sz="4000" dirty="0"/>
          </a:p>
        </p:txBody>
      </p:sp>
      <p:sp>
        <p:nvSpPr>
          <p:cNvPr id="22" name="S06-tile53"/>
          <p:cNvSpPr txBox="1"/>
          <p:nvPr/>
        </p:nvSpPr>
        <p:spPr>
          <a:xfrm>
            <a:off x="7888986" y="3666744"/>
            <a:ext cx="928116" cy="928116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ㅌ</a:t>
            </a:r>
            <a:endParaRPr lang="ko-KR" sz="4000" dirty="0"/>
          </a:p>
        </p:txBody>
      </p:sp>
      <p:sp>
        <p:nvSpPr>
          <p:cNvPr id="23" name="S06-tile54"/>
          <p:cNvSpPr txBox="1"/>
          <p:nvPr/>
        </p:nvSpPr>
        <p:spPr>
          <a:xfrm>
            <a:off x="9018270" y="3666744"/>
            <a:ext cx="928116" cy="928116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ㅍ</a:t>
            </a:r>
            <a:endParaRPr lang="ko-KR" sz="4000" dirty="0"/>
          </a:p>
        </p:txBody>
      </p:sp>
      <p:sp>
        <p:nvSpPr>
          <p:cNvPr id="24" name="S06-tile55"/>
          <p:cNvSpPr txBox="1"/>
          <p:nvPr/>
        </p:nvSpPr>
        <p:spPr>
          <a:xfrm>
            <a:off x="10147554" y="3666744"/>
            <a:ext cx="928116" cy="928116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ㅎ</a:t>
            </a:r>
            <a:endParaRPr lang="ko-KR" sz="4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모음자와 받침 차례</a:t>
            </a:r>
            <a:endParaRPr lang="ko-KR" sz="4000" dirty="0"/>
          </a:p>
        </p:txBody>
      </p:sp>
      <p:sp>
        <p:nvSpPr>
          <p:cNvPr id="3" name="S07-text56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첫 자음자가 같으면 모음자 차례로 실려요.</a:t>
            </a:r>
            <a:endParaRPr lang="ko-KR" sz="3000" dirty="0"/>
          </a:p>
        </p:txBody>
      </p:sp>
      <p:sp>
        <p:nvSpPr>
          <p:cNvPr id="4" name="S07-card57"/>
          <p:cNvSpPr/>
          <p:nvPr/>
        </p:nvSpPr>
        <p:spPr>
          <a:xfrm>
            <a:off x="548640" y="4604004"/>
            <a:ext cx="5431536" cy="1613916"/>
          </a:xfrm>
          <a:prstGeom prst="roundRect">
            <a:avLst>
              <a:gd name="adj" fmla="val 6799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07-cardtext58"/>
          <p:cNvSpPr txBox="1"/>
          <p:nvPr/>
        </p:nvSpPr>
        <p:spPr>
          <a:xfrm>
            <a:off x="822960" y="4741164"/>
            <a:ext cx="4882896" cy="1339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모음자까지 같으면</a:t>
            </a:r>
            <a:endParaRPr lang="ko-KR" sz="3000" dirty="0"/>
          </a:p>
          <a:p>
            <a:pPr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받침 없는 글자가 먼저예요.</a:t>
            </a:r>
            <a:endParaRPr lang="ko-KR" sz="3000" dirty="0"/>
          </a:p>
        </p:txBody>
      </p:sp>
      <p:sp>
        <p:nvSpPr>
          <p:cNvPr id="6" name="S07-card59"/>
          <p:cNvSpPr/>
          <p:nvPr/>
        </p:nvSpPr>
        <p:spPr>
          <a:xfrm>
            <a:off x="6208776" y="4604004"/>
            <a:ext cx="5431536" cy="1613916"/>
          </a:xfrm>
          <a:prstGeom prst="roundRect">
            <a:avLst>
              <a:gd name="adj" fmla="val 6799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07-cardtext60"/>
          <p:cNvSpPr txBox="1"/>
          <p:nvPr/>
        </p:nvSpPr>
        <p:spPr>
          <a:xfrm>
            <a:off x="6483096" y="4741164"/>
            <a:ext cx="4882896" cy="1339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받침이 있으면</a:t>
            </a:r>
            <a:endParaRPr lang="ko-KR" sz="3000" dirty="0"/>
          </a:p>
          <a:p>
            <a:pPr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받침의 자음자 차례예요.</a:t>
            </a:r>
            <a:endParaRPr lang="ko-KR" sz="3000" dirty="0"/>
          </a:p>
          <a:p>
            <a:pPr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 → 각 → 간</a:t>
            </a:r>
            <a:endParaRPr lang="ko-KR" sz="3000" dirty="0"/>
          </a:p>
        </p:txBody>
      </p:sp>
      <p:sp>
        <p:nvSpPr>
          <p:cNvPr id="8" name="S07-tile61"/>
          <p:cNvSpPr txBox="1"/>
          <p:nvPr/>
        </p:nvSpPr>
        <p:spPr>
          <a:xfrm>
            <a:off x="548640" y="2267504"/>
            <a:ext cx="825454" cy="825454"/>
          </a:xfrm>
          <a:prstGeom prst="roundRect">
            <a:avLst>
              <a:gd name="adj" fmla="val 15509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ㅏ</a:t>
            </a:r>
            <a:endParaRPr lang="ko-KR" sz="3600" dirty="0"/>
          </a:p>
        </p:txBody>
      </p:sp>
      <p:sp>
        <p:nvSpPr>
          <p:cNvPr id="9" name="S07-tile62"/>
          <p:cNvSpPr txBox="1"/>
          <p:nvPr/>
        </p:nvSpPr>
        <p:spPr>
          <a:xfrm>
            <a:off x="1575262" y="2267504"/>
            <a:ext cx="825454" cy="825454"/>
          </a:xfrm>
          <a:prstGeom prst="roundRect">
            <a:avLst>
              <a:gd name="adj" fmla="val 15509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ㅐ</a:t>
            </a:r>
            <a:endParaRPr lang="ko-KR" sz="3600" dirty="0"/>
          </a:p>
        </p:txBody>
      </p:sp>
      <p:sp>
        <p:nvSpPr>
          <p:cNvPr id="10" name="S07-tile63"/>
          <p:cNvSpPr txBox="1"/>
          <p:nvPr/>
        </p:nvSpPr>
        <p:spPr>
          <a:xfrm>
            <a:off x="2601884" y="2267504"/>
            <a:ext cx="825454" cy="825454"/>
          </a:xfrm>
          <a:prstGeom prst="roundRect">
            <a:avLst>
              <a:gd name="adj" fmla="val 15509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ㅑ</a:t>
            </a:r>
            <a:endParaRPr lang="ko-KR" sz="3600" dirty="0"/>
          </a:p>
        </p:txBody>
      </p:sp>
      <p:sp>
        <p:nvSpPr>
          <p:cNvPr id="11" name="S07-tile64"/>
          <p:cNvSpPr txBox="1"/>
          <p:nvPr/>
        </p:nvSpPr>
        <p:spPr>
          <a:xfrm>
            <a:off x="3628505" y="2267504"/>
            <a:ext cx="825454" cy="825454"/>
          </a:xfrm>
          <a:prstGeom prst="roundRect">
            <a:avLst>
              <a:gd name="adj" fmla="val 15509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ㅒ</a:t>
            </a:r>
            <a:endParaRPr lang="ko-KR" sz="3600" dirty="0"/>
          </a:p>
        </p:txBody>
      </p:sp>
      <p:sp>
        <p:nvSpPr>
          <p:cNvPr id="12" name="S07-tile65"/>
          <p:cNvSpPr txBox="1"/>
          <p:nvPr/>
        </p:nvSpPr>
        <p:spPr>
          <a:xfrm>
            <a:off x="4655127" y="2267504"/>
            <a:ext cx="825454" cy="825454"/>
          </a:xfrm>
          <a:prstGeom prst="roundRect">
            <a:avLst>
              <a:gd name="adj" fmla="val 15509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ㅓ</a:t>
            </a:r>
            <a:endParaRPr lang="ko-KR" sz="3600" dirty="0"/>
          </a:p>
        </p:txBody>
      </p:sp>
      <p:sp>
        <p:nvSpPr>
          <p:cNvPr id="13" name="S07-tile66"/>
          <p:cNvSpPr txBox="1"/>
          <p:nvPr/>
        </p:nvSpPr>
        <p:spPr>
          <a:xfrm>
            <a:off x="5681749" y="2267504"/>
            <a:ext cx="825454" cy="825454"/>
          </a:xfrm>
          <a:prstGeom prst="roundRect">
            <a:avLst>
              <a:gd name="adj" fmla="val 15509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ㅔ</a:t>
            </a:r>
            <a:endParaRPr lang="ko-KR" sz="3600" dirty="0"/>
          </a:p>
        </p:txBody>
      </p:sp>
      <p:sp>
        <p:nvSpPr>
          <p:cNvPr id="14" name="S07-tile67"/>
          <p:cNvSpPr txBox="1"/>
          <p:nvPr/>
        </p:nvSpPr>
        <p:spPr>
          <a:xfrm>
            <a:off x="6708371" y="2267504"/>
            <a:ext cx="825454" cy="825454"/>
          </a:xfrm>
          <a:prstGeom prst="roundRect">
            <a:avLst>
              <a:gd name="adj" fmla="val 15509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ㅕ</a:t>
            </a:r>
            <a:endParaRPr lang="ko-KR" sz="3600" dirty="0"/>
          </a:p>
        </p:txBody>
      </p:sp>
      <p:sp>
        <p:nvSpPr>
          <p:cNvPr id="15" name="S07-tile68"/>
          <p:cNvSpPr txBox="1"/>
          <p:nvPr/>
        </p:nvSpPr>
        <p:spPr>
          <a:xfrm>
            <a:off x="7734993" y="2267504"/>
            <a:ext cx="825454" cy="825454"/>
          </a:xfrm>
          <a:prstGeom prst="roundRect">
            <a:avLst>
              <a:gd name="adj" fmla="val 15509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ㅖ</a:t>
            </a:r>
            <a:endParaRPr lang="ko-KR" sz="3600" dirty="0"/>
          </a:p>
        </p:txBody>
      </p:sp>
      <p:sp>
        <p:nvSpPr>
          <p:cNvPr id="16" name="S07-tile69"/>
          <p:cNvSpPr txBox="1"/>
          <p:nvPr/>
        </p:nvSpPr>
        <p:spPr>
          <a:xfrm>
            <a:off x="8761615" y="2267504"/>
            <a:ext cx="825454" cy="825454"/>
          </a:xfrm>
          <a:prstGeom prst="roundRect">
            <a:avLst>
              <a:gd name="adj" fmla="val 15509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ㅗ</a:t>
            </a:r>
            <a:endParaRPr lang="ko-KR" sz="3600" dirty="0"/>
          </a:p>
        </p:txBody>
      </p:sp>
      <p:sp>
        <p:nvSpPr>
          <p:cNvPr id="17" name="S07-tile70"/>
          <p:cNvSpPr txBox="1"/>
          <p:nvPr/>
        </p:nvSpPr>
        <p:spPr>
          <a:xfrm>
            <a:off x="9788236" y="2267504"/>
            <a:ext cx="825454" cy="825454"/>
          </a:xfrm>
          <a:prstGeom prst="roundRect">
            <a:avLst>
              <a:gd name="adj" fmla="val 15509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ㅘ</a:t>
            </a:r>
            <a:endParaRPr lang="ko-KR" sz="3600" dirty="0"/>
          </a:p>
        </p:txBody>
      </p:sp>
      <p:sp>
        <p:nvSpPr>
          <p:cNvPr id="18" name="S07-tile71"/>
          <p:cNvSpPr txBox="1"/>
          <p:nvPr/>
        </p:nvSpPr>
        <p:spPr>
          <a:xfrm>
            <a:off x="10814858" y="2267504"/>
            <a:ext cx="825454" cy="825454"/>
          </a:xfrm>
          <a:prstGeom prst="roundRect">
            <a:avLst>
              <a:gd name="adj" fmla="val 15509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ㅙ</a:t>
            </a:r>
            <a:endParaRPr lang="ko-KR" sz="3600" dirty="0"/>
          </a:p>
        </p:txBody>
      </p:sp>
      <p:sp>
        <p:nvSpPr>
          <p:cNvPr id="19" name="S07-tile72"/>
          <p:cNvSpPr txBox="1"/>
          <p:nvPr/>
        </p:nvSpPr>
        <p:spPr>
          <a:xfrm>
            <a:off x="1061951" y="3294126"/>
            <a:ext cx="825454" cy="825454"/>
          </a:xfrm>
          <a:prstGeom prst="roundRect">
            <a:avLst>
              <a:gd name="adj" fmla="val 15509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ㅚ</a:t>
            </a:r>
            <a:endParaRPr lang="ko-KR" sz="3600" dirty="0"/>
          </a:p>
        </p:txBody>
      </p:sp>
      <p:sp>
        <p:nvSpPr>
          <p:cNvPr id="20" name="S07-tile73"/>
          <p:cNvSpPr txBox="1"/>
          <p:nvPr/>
        </p:nvSpPr>
        <p:spPr>
          <a:xfrm>
            <a:off x="2088573" y="3294126"/>
            <a:ext cx="825454" cy="825454"/>
          </a:xfrm>
          <a:prstGeom prst="roundRect">
            <a:avLst>
              <a:gd name="adj" fmla="val 15509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ㅛ</a:t>
            </a:r>
            <a:endParaRPr lang="ko-KR" sz="3600" dirty="0"/>
          </a:p>
        </p:txBody>
      </p:sp>
      <p:sp>
        <p:nvSpPr>
          <p:cNvPr id="21" name="S07-tile74"/>
          <p:cNvSpPr txBox="1"/>
          <p:nvPr/>
        </p:nvSpPr>
        <p:spPr>
          <a:xfrm>
            <a:off x="3115195" y="3294126"/>
            <a:ext cx="825454" cy="825454"/>
          </a:xfrm>
          <a:prstGeom prst="roundRect">
            <a:avLst>
              <a:gd name="adj" fmla="val 15509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ㅜ</a:t>
            </a:r>
            <a:endParaRPr lang="ko-KR" sz="3600" dirty="0"/>
          </a:p>
        </p:txBody>
      </p:sp>
      <p:sp>
        <p:nvSpPr>
          <p:cNvPr id="22" name="S07-tile75"/>
          <p:cNvSpPr txBox="1"/>
          <p:nvPr/>
        </p:nvSpPr>
        <p:spPr>
          <a:xfrm>
            <a:off x="4141816" y="3294126"/>
            <a:ext cx="825454" cy="825454"/>
          </a:xfrm>
          <a:prstGeom prst="roundRect">
            <a:avLst>
              <a:gd name="adj" fmla="val 15509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ㅝ</a:t>
            </a:r>
            <a:endParaRPr lang="ko-KR" sz="3600" dirty="0"/>
          </a:p>
        </p:txBody>
      </p:sp>
      <p:sp>
        <p:nvSpPr>
          <p:cNvPr id="23" name="S07-tile76"/>
          <p:cNvSpPr txBox="1"/>
          <p:nvPr/>
        </p:nvSpPr>
        <p:spPr>
          <a:xfrm>
            <a:off x="5168438" y="3294126"/>
            <a:ext cx="825454" cy="825454"/>
          </a:xfrm>
          <a:prstGeom prst="roundRect">
            <a:avLst>
              <a:gd name="adj" fmla="val 15509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ㅞ</a:t>
            </a:r>
            <a:endParaRPr lang="ko-KR" sz="3600" dirty="0"/>
          </a:p>
        </p:txBody>
      </p:sp>
      <p:sp>
        <p:nvSpPr>
          <p:cNvPr id="24" name="S07-tile77"/>
          <p:cNvSpPr txBox="1"/>
          <p:nvPr/>
        </p:nvSpPr>
        <p:spPr>
          <a:xfrm>
            <a:off x="6195060" y="3294126"/>
            <a:ext cx="825454" cy="825454"/>
          </a:xfrm>
          <a:prstGeom prst="roundRect">
            <a:avLst>
              <a:gd name="adj" fmla="val 15509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ㅟ</a:t>
            </a:r>
            <a:endParaRPr lang="ko-KR" sz="3600" dirty="0"/>
          </a:p>
        </p:txBody>
      </p:sp>
      <p:sp>
        <p:nvSpPr>
          <p:cNvPr id="25" name="S07-tile78"/>
          <p:cNvSpPr txBox="1"/>
          <p:nvPr/>
        </p:nvSpPr>
        <p:spPr>
          <a:xfrm>
            <a:off x="7221682" y="3294126"/>
            <a:ext cx="825454" cy="825454"/>
          </a:xfrm>
          <a:prstGeom prst="roundRect">
            <a:avLst>
              <a:gd name="adj" fmla="val 15509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ㅠ</a:t>
            </a:r>
            <a:endParaRPr lang="ko-KR" sz="3600" dirty="0"/>
          </a:p>
        </p:txBody>
      </p:sp>
      <p:sp>
        <p:nvSpPr>
          <p:cNvPr id="26" name="S07-tile79"/>
          <p:cNvSpPr txBox="1"/>
          <p:nvPr/>
        </p:nvSpPr>
        <p:spPr>
          <a:xfrm>
            <a:off x="8248304" y="3294126"/>
            <a:ext cx="825454" cy="825454"/>
          </a:xfrm>
          <a:prstGeom prst="roundRect">
            <a:avLst>
              <a:gd name="adj" fmla="val 15509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ㅡ</a:t>
            </a:r>
            <a:endParaRPr lang="ko-KR" sz="3600" dirty="0"/>
          </a:p>
        </p:txBody>
      </p:sp>
      <p:sp>
        <p:nvSpPr>
          <p:cNvPr id="27" name="S07-tile80"/>
          <p:cNvSpPr txBox="1"/>
          <p:nvPr/>
        </p:nvSpPr>
        <p:spPr>
          <a:xfrm>
            <a:off x="9274925" y="3294126"/>
            <a:ext cx="825454" cy="825454"/>
          </a:xfrm>
          <a:prstGeom prst="roundRect">
            <a:avLst>
              <a:gd name="adj" fmla="val 15509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ㅢ</a:t>
            </a:r>
            <a:endParaRPr lang="ko-KR" sz="3600" dirty="0"/>
          </a:p>
        </p:txBody>
      </p:sp>
      <p:sp>
        <p:nvSpPr>
          <p:cNvPr id="28" name="S07-tile81"/>
          <p:cNvSpPr txBox="1"/>
          <p:nvPr/>
        </p:nvSpPr>
        <p:spPr>
          <a:xfrm>
            <a:off x="10301547" y="3294126"/>
            <a:ext cx="825454" cy="825454"/>
          </a:xfrm>
          <a:prstGeom prst="roundRect">
            <a:avLst>
              <a:gd name="adj" fmla="val 15509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ㅣ</a:t>
            </a:r>
            <a:endParaRPr lang="ko-KR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사전에 나오는 차례는?</a:t>
            </a:r>
            <a:endParaRPr lang="ko-KR" sz="4000" dirty="0"/>
          </a:p>
        </p:txBody>
      </p:sp>
      <p:sp>
        <p:nvSpPr>
          <p:cNvPr id="3" name="S08-text82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사전에 먼저 나오는 낱말부터 차례로 말해 보세요.</a:t>
            </a:r>
            <a:endParaRPr lang="ko-KR" sz="3000" dirty="0"/>
          </a:p>
        </p:txBody>
      </p:sp>
      <p:sp>
        <p:nvSpPr>
          <p:cNvPr id="4" name="S08-chip83"/>
          <p:cNvSpPr txBox="1"/>
          <p:nvPr/>
        </p:nvSpPr>
        <p:spPr>
          <a:xfrm>
            <a:off x="548640" y="2368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5" name="S08-text84"/>
          <p:cNvSpPr txBox="1"/>
          <p:nvPr/>
        </p:nvSpPr>
        <p:spPr>
          <a:xfrm>
            <a:off x="1344168" y="201168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다리 · 기차 · 나무</a:t>
            </a:r>
            <a:endParaRPr lang="ko-KR" sz="3000" dirty="0"/>
          </a:p>
        </p:txBody>
      </p:sp>
      <p:sp>
        <p:nvSpPr>
          <p:cNvPr id="6" name="S08-chip85"/>
          <p:cNvSpPr txBox="1"/>
          <p:nvPr/>
        </p:nvSpPr>
        <p:spPr>
          <a:xfrm>
            <a:off x="548640" y="38313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7" name="S08-text86"/>
          <p:cNvSpPr txBox="1"/>
          <p:nvPr/>
        </p:nvSpPr>
        <p:spPr>
          <a:xfrm>
            <a:off x="1344168" y="347472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보리 · 바다 · 버스</a:t>
            </a:r>
            <a:endParaRPr lang="ko-KR" sz="3000" dirty="0"/>
          </a:p>
        </p:txBody>
      </p:sp>
      <p:sp>
        <p:nvSpPr>
          <p:cNvPr id="8" name="S08-chip87"/>
          <p:cNvSpPr txBox="1"/>
          <p:nvPr/>
        </p:nvSpPr>
        <p:spPr>
          <a:xfrm>
            <a:off x="548640" y="52943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9" name="S08-text88"/>
          <p:cNvSpPr txBox="1"/>
          <p:nvPr/>
        </p:nvSpPr>
        <p:spPr>
          <a:xfrm>
            <a:off x="1344168" y="493776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강물 · 가방 · 감자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000" dirty="0"/>
          </a:p>
        </p:txBody>
      </p:sp>
      <p:sp>
        <p:nvSpPr>
          <p:cNvPr id="3" name="S09-text89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‘신었다’를 기본형으로 바꿔 아래에서 찾고, 뜻을 읽어 보세요.</a:t>
            </a:r>
            <a:endParaRPr lang="ko-KR" sz="3000" dirty="0"/>
          </a:p>
        </p:txBody>
      </p:sp>
      <p:sp>
        <p:nvSpPr>
          <p:cNvPr id="4" name="S09-card9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9-cardtext9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국어사전 한 쪽처럼 만든 표예요.</a:t>
            </a:r>
            <a:endParaRPr lang="ko-KR" sz="3000" dirty="0"/>
          </a:p>
        </p:txBody>
      </p:sp>
      <p:graphicFrame>
        <p:nvGraphicFramePr>
          <p:cNvPr id="10" name="S09-table9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293876" y="2346960"/>
          <a:ext cx="9601200" cy="914400"/>
        </p:xfrm>
        <a:graphic>
          <a:graphicData uri="http://schemas.openxmlformats.org/drawingml/2006/table">
            <a:tbl>
              <a:tblPr/>
              <a:tblGrid>
                <a:gridCol w="2880360"/>
                <a:gridCol w="6720840"/>
              </a:tblGrid>
              <a:tr h="4876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낱말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뜻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시원하다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덥지 않고 알맞게 선선하다.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신기하다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색다르고 놀랍다.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신다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신발이나 양말을 발에 꿰다.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신문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새 소식을 알려 주는 인쇄물.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가장 먼저 나오는 낱말은?</a:t>
            </a:r>
            <a:endParaRPr lang="ko-KR" sz="4000" dirty="0"/>
          </a:p>
        </p:txBody>
      </p:sp>
      <p:sp>
        <p:nvSpPr>
          <p:cNvPr id="3" name="S11-card93"/>
          <p:cNvSpPr/>
          <p:nvPr/>
        </p:nvSpPr>
        <p:spPr>
          <a:xfrm>
            <a:off x="548640" y="4959096"/>
            <a:ext cx="11091672" cy="1258824"/>
          </a:xfrm>
          <a:prstGeom prst="roundRect">
            <a:avLst>
              <a:gd name="adj" fmla="val 8717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1-cardtext94"/>
          <p:cNvSpPr txBox="1"/>
          <p:nvPr/>
        </p:nvSpPr>
        <p:spPr>
          <a:xfrm>
            <a:off x="822960" y="5096256"/>
            <a:ext cx="10543032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국어사전에 가장 먼저 나오는 낱말을 고르고 까닭을 말해 보세요.</a:t>
            </a:r>
            <a:endParaRPr lang="ko-KR" sz="3000" dirty="0"/>
          </a:p>
        </p:txBody>
      </p:sp>
      <p:sp>
        <p:nvSpPr>
          <p:cNvPr id="5" name="S11-chip95"/>
          <p:cNvSpPr txBox="1"/>
          <p:nvPr/>
        </p:nvSpPr>
        <p:spPr>
          <a:xfrm>
            <a:off x="1991868" y="13258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3000" dirty="0"/>
          </a:p>
        </p:txBody>
      </p:sp>
      <p:sp>
        <p:nvSpPr>
          <p:cNvPr id="6" name="S11-card96"/>
          <p:cNvSpPr/>
          <p:nvPr/>
        </p:nvSpPr>
        <p:spPr>
          <a:xfrm>
            <a:off x="548640" y="2029968"/>
            <a:ext cx="3453384" cy="2700528"/>
          </a:xfrm>
          <a:prstGeom prst="roundRect">
            <a:avLst>
              <a:gd name="adj" fmla="val 40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11-cardtext97"/>
          <p:cNvSpPr txBox="1"/>
          <p:nvPr/>
        </p:nvSpPr>
        <p:spPr>
          <a:xfrm>
            <a:off x="822960" y="2167128"/>
            <a:ext cx="2904744" cy="2426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토끼</a:t>
            </a:r>
            <a:endParaRPr lang="ko-KR" sz="3000" dirty="0"/>
          </a:p>
        </p:txBody>
      </p:sp>
      <p:sp>
        <p:nvSpPr>
          <p:cNvPr id="8" name="S11-chip98"/>
          <p:cNvSpPr txBox="1"/>
          <p:nvPr/>
        </p:nvSpPr>
        <p:spPr>
          <a:xfrm>
            <a:off x="5811012" y="13258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3000" dirty="0"/>
          </a:p>
        </p:txBody>
      </p:sp>
      <p:sp>
        <p:nvSpPr>
          <p:cNvPr id="9" name="S11-card99"/>
          <p:cNvSpPr/>
          <p:nvPr/>
        </p:nvSpPr>
        <p:spPr>
          <a:xfrm>
            <a:off x="4367784" y="2029968"/>
            <a:ext cx="3453384" cy="2700528"/>
          </a:xfrm>
          <a:prstGeom prst="roundRect">
            <a:avLst>
              <a:gd name="adj" fmla="val 40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0" name="S11-cardtext100"/>
          <p:cNvSpPr txBox="1"/>
          <p:nvPr/>
        </p:nvSpPr>
        <p:spPr>
          <a:xfrm>
            <a:off x="4642104" y="2167128"/>
            <a:ext cx="2904744" cy="2426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꽃</a:t>
            </a:r>
            <a:endParaRPr lang="ko-KR" sz="3000" dirty="0"/>
          </a:p>
        </p:txBody>
      </p:sp>
      <p:sp>
        <p:nvSpPr>
          <p:cNvPr id="11" name="S11-chip101"/>
          <p:cNvSpPr txBox="1"/>
          <p:nvPr/>
        </p:nvSpPr>
        <p:spPr>
          <a:xfrm>
            <a:off x="9630156" y="13258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3000" dirty="0"/>
          </a:p>
        </p:txBody>
      </p:sp>
      <p:sp>
        <p:nvSpPr>
          <p:cNvPr id="12" name="S11-card102"/>
          <p:cNvSpPr/>
          <p:nvPr/>
        </p:nvSpPr>
        <p:spPr>
          <a:xfrm>
            <a:off x="8186928" y="2029968"/>
            <a:ext cx="3453384" cy="2700528"/>
          </a:xfrm>
          <a:prstGeom prst="roundRect">
            <a:avLst>
              <a:gd name="adj" fmla="val 40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3" name="S11-cardtext103"/>
          <p:cNvSpPr txBox="1"/>
          <p:nvPr/>
        </p:nvSpPr>
        <p:spPr>
          <a:xfrm>
            <a:off x="8461248" y="2167128"/>
            <a:ext cx="2904744" cy="2426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나비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000" dirty="0"/>
          </a:p>
        </p:txBody>
      </p:sp>
      <p:sp>
        <p:nvSpPr>
          <p:cNvPr id="3" name="S12-card104"/>
          <p:cNvSpPr/>
          <p:nvPr/>
        </p:nvSpPr>
        <p:spPr>
          <a:xfrm>
            <a:off x="548640" y="1325880"/>
            <a:ext cx="11091672" cy="1258824"/>
          </a:xfrm>
          <a:prstGeom prst="roundRect">
            <a:avLst>
              <a:gd name="adj" fmla="val 8717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2-cardtext105"/>
          <p:cNvSpPr txBox="1"/>
          <p:nvPr/>
        </p:nvSpPr>
        <p:spPr>
          <a:xfrm>
            <a:off x="822960" y="1463040"/>
            <a:ext cx="10543032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모양이 바뀌는 낱말은 기본형으로 바꾸고,</a:t>
            </a:r>
            <a:endParaRPr lang="ko-KR" sz="3000" dirty="0"/>
          </a:p>
          <a:p>
            <a:pPr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자음자 → 모음자 → 받침 차례로 찾아요.</a:t>
            </a:r>
            <a:endParaRPr lang="ko-KR" sz="3000" dirty="0"/>
          </a:p>
        </p:txBody>
      </p:sp>
      <p:sp>
        <p:nvSpPr>
          <p:cNvPr id="5" name="S12-chip106"/>
          <p:cNvSpPr txBox="1"/>
          <p:nvPr/>
        </p:nvSpPr>
        <p:spPr>
          <a:xfrm>
            <a:off x="548640" y="2813304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기본형으로 바꿔 찾기</a:t>
            </a:r>
            <a:endParaRPr lang="ko-KR" sz="2400" dirty="0"/>
          </a:p>
        </p:txBody>
      </p:sp>
      <p:sp>
        <p:nvSpPr>
          <p:cNvPr id="6" name="S12-chip107"/>
          <p:cNvSpPr txBox="1"/>
          <p:nvPr/>
        </p:nvSpPr>
        <p:spPr>
          <a:xfrm>
            <a:off x="6208776" y="2813304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문장 속 모양 그대로 찾기</a:t>
            </a:r>
            <a:endParaRPr lang="ko-KR" sz="2400" dirty="0"/>
          </a:p>
        </p:txBody>
      </p:sp>
      <p:sp>
        <p:nvSpPr>
          <p:cNvPr id="7" name="S12-text108"/>
          <p:cNvSpPr txBox="1"/>
          <p:nvPr/>
        </p:nvSpPr>
        <p:spPr>
          <a:xfrm>
            <a:off x="548640" y="3636264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400" dirty="0"/>
          </a:p>
        </p:txBody>
      </p:sp>
      <p:sp>
        <p:nvSpPr>
          <p:cNvPr id="8" name="S12-text109"/>
          <p:cNvSpPr txBox="1"/>
          <p:nvPr/>
        </p:nvSpPr>
        <p:spPr>
          <a:xfrm>
            <a:off x="548640" y="4139184"/>
            <a:ext cx="3544824" cy="1438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‘잡았어요’의 기본형</a:t>
            </a:r>
            <a:endParaRPr lang="ko-KR" sz="2400" dirty="0"/>
          </a:p>
        </p:txBody>
      </p:sp>
      <p:sp>
        <p:nvSpPr>
          <p:cNvPr id="9" name="S12-text110"/>
          <p:cNvSpPr txBox="1"/>
          <p:nvPr/>
        </p:nvSpPr>
        <p:spPr>
          <a:xfrm>
            <a:off x="4322064" y="4139184"/>
            <a:ext cx="3544824" cy="1438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딸기·사과·바나나의 사전 차례</a:t>
            </a:r>
            <a:endParaRPr lang="ko-KR" sz="2400" dirty="0"/>
          </a:p>
        </p:txBody>
      </p:sp>
      <p:sp>
        <p:nvSpPr>
          <p:cNvPr id="10" name="S12-text111"/>
          <p:cNvSpPr txBox="1"/>
          <p:nvPr/>
        </p:nvSpPr>
        <p:spPr>
          <a:xfrm>
            <a:off x="8095488" y="4139184"/>
            <a:ext cx="3544824" cy="1438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첫 자음자가 같으면?</a:t>
            </a:r>
            <a:endParaRPr lang="ko-KR" sz="2400" dirty="0"/>
          </a:p>
        </p:txBody>
      </p:sp>
      <p:sp>
        <p:nvSpPr>
          <p:cNvPr id="11" name="S12-text112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24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조사한 내용 발표하기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자음자 차례 익히기</a:t>
            </a:r>
            <a:endParaRPr lang="ko-KR" sz="4000" dirty="0"/>
          </a:p>
        </p:txBody>
      </p:sp>
      <p:sp>
        <p:nvSpPr>
          <p:cNvPr id="3" name="S13-text11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ㄱ부터 ㅎ까지 소리 내어 읽어 보세요.</a:t>
            </a:r>
            <a:endParaRPr lang="ko-KR" sz="3000" dirty="0"/>
          </a:p>
        </p:txBody>
      </p:sp>
      <p:sp>
        <p:nvSpPr>
          <p:cNvPr id="4" name="S13-card11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3-cardtext11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‘가 나 다 라’로 읽으면 차례를 외우기 쉬워요.</a:t>
            </a:r>
            <a:endParaRPr lang="ko-KR" sz="3000" dirty="0"/>
          </a:p>
        </p:txBody>
      </p:sp>
      <p:sp>
        <p:nvSpPr>
          <p:cNvPr id="6" name="S13-tile116"/>
          <p:cNvSpPr txBox="1"/>
          <p:nvPr/>
        </p:nvSpPr>
        <p:spPr>
          <a:xfrm>
            <a:off x="2002536" y="2011680"/>
            <a:ext cx="996696" cy="996696"/>
          </a:xfrm>
          <a:prstGeom prst="roundRect">
            <a:avLst>
              <a:gd name="adj" fmla="val 12844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4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ㄱ</a:t>
            </a:r>
            <a:endParaRPr lang="ko-KR" sz="4300" dirty="0"/>
          </a:p>
        </p:txBody>
      </p:sp>
      <p:sp>
        <p:nvSpPr>
          <p:cNvPr id="7" name="S13-label117"/>
          <p:cNvSpPr txBox="1"/>
          <p:nvPr/>
        </p:nvSpPr>
        <p:spPr>
          <a:xfrm>
            <a:off x="1901952" y="3044952"/>
            <a:ext cx="11978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20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000" dirty="0"/>
          </a:p>
        </p:txBody>
      </p:sp>
      <p:sp>
        <p:nvSpPr>
          <p:cNvPr id="8" name="S13-tile118"/>
          <p:cNvSpPr txBox="1"/>
          <p:nvPr/>
        </p:nvSpPr>
        <p:spPr>
          <a:xfrm>
            <a:off x="3200400" y="2011680"/>
            <a:ext cx="996696" cy="996696"/>
          </a:xfrm>
          <a:prstGeom prst="roundRect">
            <a:avLst>
              <a:gd name="adj" fmla="val 12844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4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ㄴ</a:t>
            </a:r>
            <a:endParaRPr lang="ko-KR" sz="4300" dirty="0"/>
          </a:p>
        </p:txBody>
      </p:sp>
      <p:sp>
        <p:nvSpPr>
          <p:cNvPr id="9" name="S13-label119"/>
          <p:cNvSpPr txBox="1"/>
          <p:nvPr/>
        </p:nvSpPr>
        <p:spPr>
          <a:xfrm>
            <a:off x="3099816" y="3044952"/>
            <a:ext cx="11978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20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000" dirty="0"/>
          </a:p>
        </p:txBody>
      </p:sp>
      <p:sp>
        <p:nvSpPr>
          <p:cNvPr id="10" name="S13-tile120"/>
          <p:cNvSpPr txBox="1"/>
          <p:nvPr/>
        </p:nvSpPr>
        <p:spPr>
          <a:xfrm>
            <a:off x="4398264" y="2011680"/>
            <a:ext cx="996696" cy="996696"/>
          </a:xfrm>
          <a:prstGeom prst="roundRect">
            <a:avLst>
              <a:gd name="adj" fmla="val 12844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4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ㄷ</a:t>
            </a:r>
            <a:endParaRPr lang="ko-KR" sz="4300" dirty="0"/>
          </a:p>
        </p:txBody>
      </p:sp>
      <p:sp>
        <p:nvSpPr>
          <p:cNvPr id="11" name="S13-label121"/>
          <p:cNvSpPr txBox="1"/>
          <p:nvPr/>
        </p:nvSpPr>
        <p:spPr>
          <a:xfrm>
            <a:off x="4297680" y="3044952"/>
            <a:ext cx="11978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20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2000" dirty="0"/>
          </a:p>
        </p:txBody>
      </p:sp>
      <p:sp>
        <p:nvSpPr>
          <p:cNvPr id="12" name="S13-tile122"/>
          <p:cNvSpPr txBox="1"/>
          <p:nvPr/>
        </p:nvSpPr>
        <p:spPr>
          <a:xfrm>
            <a:off x="5596128" y="2011680"/>
            <a:ext cx="996696" cy="996696"/>
          </a:xfrm>
          <a:prstGeom prst="roundRect">
            <a:avLst>
              <a:gd name="adj" fmla="val 12844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4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ㄹ</a:t>
            </a:r>
            <a:endParaRPr lang="ko-KR" sz="4300" dirty="0"/>
          </a:p>
        </p:txBody>
      </p:sp>
      <p:sp>
        <p:nvSpPr>
          <p:cNvPr id="13" name="S13-label123"/>
          <p:cNvSpPr txBox="1"/>
          <p:nvPr/>
        </p:nvSpPr>
        <p:spPr>
          <a:xfrm>
            <a:off x="5495544" y="3044952"/>
            <a:ext cx="11978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20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</a:t>
            </a:r>
            <a:endParaRPr lang="ko-KR" sz="2000" dirty="0"/>
          </a:p>
        </p:txBody>
      </p:sp>
      <p:sp>
        <p:nvSpPr>
          <p:cNvPr id="14" name="S13-tile124"/>
          <p:cNvSpPr txBox="1"/>
          <p:nvPr/>
        </p:nvSpPr>
        <p:spPr>
          <a:xfrm>
            <a:off x="6793992" y="2011680"/>
            <a:ext cx="996696" cy="996696"/>
          </a:xfrm>
          <a:prstGeom prst="roundRect">
            <a:avLst>
              <a:gd name="adj" fmla="val 12844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4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ㅁ</a:t>
            </a:r>
            <a:endParaRPr lang="ko-KR" sz="4300" dirty="0"/>
          </a:p>
        </p:txBody>
      </p:sp>
      <p:sp>
        <p:nvSpPr>
          <p:cNvPr id="15" name="S13-label125"/>
          <p:cNvSpPr txBox="1"/>
          <p:nvPr/>
        </p:nvSpPr>
        <p:spPr>
          <a:xfrm>
            <a:off x="6693408" y="3044952"/>
            <a:ext cx="11978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20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</a:t>
            </a:r>
            <a:endParaRPr lang="ko-KR" sz="2000" dirty="0"/>
          </a:p>
        </p:txBody>
      </p:sp>
      <p:sp>
        <p:nvSpPr>
          <p:cNvPr id="16" name="S13-tile126"/>
          <p:cNvSpPr txBox="1"/>
          <p:nvPr/>
        </p:nvSpPr>
        <p:spPr>
          <a:xfrm>
            <a:off x="7991856" y="2011680"/>
            <a:ext cx="996696" cy="996696"/>
          </a:xfrm>
          <a:prstGeom prst="roundRect">
            <a:avLst>
              <a:gd name="adj" fmla="val 12844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4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ㅂ</a:t>
            </a:r>
            <a:endParaRPr lang="ko-KR" sz="4300" dirty="0"/>
          </a:p>
        </p:txBody>
      </p:sp>
      <p:sp>
        <p:nvSpPr>
          <p:cNvPr id="17" name="S13-label127"/>
          <p:cNvSpPr txBox="1"/>
          <p:nvPr/>
        </p:nvSpPr>
        <p:spPr>
          <a:xfrm>
            <a:off x="7891272" y="3044952"/>
            <a:ext cx="11978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20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</a:t>
            </a:r>
            <a:endParaRPr lang="ko-KR" sz="2000" dirty="0"/>
          </a:p>
        </p:txBody>
      </p:sp>
      <p:sp>
        <p:nvSpPr>
          <p:cNvPr id="18" name="S13-tile128"/>
          <p:cNvSpPr txBox="1"/>
          <p:nvPr/>
        </p:nvSpPr>
        <p:spPr>
          <a:xfrm>
            <a:off x="9189720" y="2011680"/>
            <a:ext cx="996696" cy="996696"/>
          </a:xfrm>
          <a:prstGeom prst="roundRect">
            <a:avLst>
              <a:gd name="adj" fmla="val 12844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4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ㅅ</a:t>
            </a:r>
            <a:endParaRPr lang="ko-KR" sz="4300" dirty="0"/>
          </a:p>
        </p:txBody>
      </p:sp>
      <p:sp>
        <p:nvSpPr>
          <p:cNvPr id="19" name="S13-label129"/>
          <p:cNvSpPr txBox="1"/>
          <p:nvPr/>
        </p:nvSpPr>
        <p:spPr>
          <a:xfrm>
            <a:off x="9089136" y="3044952"/>
            <a:ext cx="11978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20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</a:t>
            </a:r>
            <a:endParaRPr lang="ko-KR" sz="2000" dirty="0"/>
          </a:p>
        </p:txBody>
      </p:sp>
      <p:sp>
        <p:nvSpPr>
          <p:cNvPr id="20" name="S13-tile130"/>
          <p:cNvSpPr txBox="1"/>
          <p:nvPr/>
        </p:nvSpPr>
        <p:spPr>
          <a:xfrm>
            <a:off x="2002536" y="3666744"/>
            <a:ext cx="996696" cy="996696"/>
          </a:xfrm>
          <a:prstGeom prst="roundRect">
            <a:avLst>
              <a:gd name="adj" fmla="val 12844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4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ㅇ</a:t>
            </a:r>
            <a:endParaRPr lang="ko-KR" sz="4300" dirty="0"/>
          </a:p>
        </p:txBody>
      </p:sp>
      <p:sp>
        <p:nvSpPr>
          <p:cNvPr id="21" name="S13-label131"/>
          <p:cNvSpPr txBox="1"/>
          <p:nvPr/>
        </p:nvSpPr>
        <p:spPr>
          <a:xfrm>
            <a:off x="1901952" y="4700016"/>
            <a:ext cx="11978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20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</a:t>
            </a:r>
            <a:endParaRPr lang="ko-KR" sz="2000" dirty="0"/>
          </a:p>
        </p:txBody>
      </p:sp>
      <p:sp>
        <p:nvSpPr>
          <p:cNvPr id="22" name="S13-tile132"/>
          <p:cNvSpPr txBox="1"/>
          <p:nvPr/>
        </p:nvSpPr>
        <p:spPr>
          <a:xfrm>
            <a:off x="3200400" y="3666744"/>
            <a:ext cx="996696" cy="996696"/>
          </a:xfrm>
          <a:prstGeom prst="roundRect">
            <a:avLst>
              <a:gd name="adj" fmla="val 12844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4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ㅈ</a:t>
            </a:r>
            <a:endParaRPr lang="ko-KR" sz="4300" dirty="0"/>
          </a:p>
        </p:txBody>
      </p:sp>
      <p:sp>
        <p:nvSpPr>
          <p:cNvPr id="23" name="S13-label133"/>
          <p:cNvSpPr txBox="1"/>
          <p:nvPr/>
        </p:nvSpPr>
        <p:spPr>
          <a:xfrm>
            <a:off x="3099816" y="4700016"/>
            <a:ext cx="11978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20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</a:t>
            </a:r>
            <a:endParaRPr lang="ko-KR" sz="2000" dirty="0"/>
          </a:p>
        </p:txBody>
      </p:sp>
      <p:sp>
        <p:nvSpPr>
          <p:cNvPr id="24" name="S13-tile134"/>
          <p:cNvSpPr txBox="1"/>
          <p:nvPr/>
        </p:nvSpPr>
        <p:spPr>
          <a:xfrm>
            <a:off x="4398264" y="3666744"/>
            <a:ext cx="996696" cy="996696"/>
          </a:xfrm>
          <a:prstGeom prst="roundRect">
            <a:avLst>
              <a:gd name="adj" fmla="val 12844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4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ㅊ</a:t>
            </a:r>
            <a:endParaRPr lang="ko-KR" sz="4300" dirty="0"/>
          </a:p>
        </p:txBody>
      </p:sp>
      <p:sp>
        <p:nvSpPr>
          <p:cNvPr id="25" name="S13-label135"/>
          <p:cNvSpPr txBox="1"/>
          <p:nvPr/>
        </p:nvSpPr>
        <p:spPr>
          <a:xfrm>
            <a:off x="4297680" y="4700016"/>
            <a:ext cx="11978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20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차</a:t>
            </a:r>
            <a:endParaRPr lang="ko-KR" sz="2000" dirty="0"/>
          </a:p>
        </p:txBody>
      </p:sp>
      <p:sp>
        <p:nvSpPr>
          <p:cNvPr id="26" name="S13-tile136"/>
          <p:cNvSpPr txBox="1"/>
          <p:nvPr/>
        </p:nvSpPr>
        <p:spPr>
          <a:xfrm>
            <a:off x="5596128" y="3666744"/>
            <a:ext cx="996696" cy="996696"/>
          </a:xfrm>
          <a:prstGeom prst="roundRect">
            <a:avLst>
              <a:gd name="adj" fmla="val 12844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4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ㅋ</a:t>
            </a:r>
            <a:endParaRPr lang="ko-KR" sz="4300" dirty="0"/>
          </a:p>
        </p:txBody>
      </p:sp>
      <p:sp>
        <p:nvSpPr>
          <p:cNvPr id="27" name="S13-label137"/>
          <p:cNvSpPr txBox="1"/>
          <p:nvPr/>
        </p:nvSpPr>
        <p:spPr>
          <a:xfrm>
            <a:off x="5495544" y="4700016"/>
            <a:ext cx="11978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20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</a:t>
            </a:r>
            <a:endParaRPr lang="ko-KR" sz="2000" dirty="0"/>
          </a:p>
        </p:txBody>
      </p:sp>
      <p:sp>
        <p:nvSpPr>
          <p:cNvPr id="28" name="S13-tile138"/>
          <p:cNvSpPr txBox="1"/>
          <p:nvPr/>
        </p:nvSpPr>
        <p:spPr>
          <a:xfrm>
            <a:off x="6793992" y="3666744"/>
            <a:ext cx="996696" cy="996696"/>
          </a:xfrm>
          <a:prstGeom prst="roundRect">
            <a:avLst>
              <a:gd name="adj" fmla="val 12844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4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ㅌ</a:t>
            </a:r>
            <a:endParaRPr lang="ko-KR" sz="4300" dirty="0"/>
          </a:p>
        </p:txBody>
      </p:sp>
      <p:sp>
        <p:nvSpPr>
          <p:cNvPr id="29" name="S13-label139"/>
          <p:cNvSpPr txBox="1"/>
          <p:nvPr/>
        </p:nvSpPr>
        <p:spPr>
          <a:xfrm>
            <a:off x="6693408" y="4700016"/>
            <a:ext cx="11978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20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타</a:t>
            </a:r>
            <a:endParaRPr lang="ko-KR" sz="2000" dirty="0"/>
          </a:p>
        </p:txBody>
      </p:sp>
      <p:sp>
        <p:nvSpPr>
          <p:cNvPr id="30" name="S13-tile140"/>
          <p:cNvSpPr txBox="1"/>
          <p:nvPr/>
        </p:nvSpPr>
        <p:spPr>
          <a:xfrm>
            <a:off x="7991856" y="3666744"/>
            <a:ext cx="996696" cy="996696"/>
          </a:xfrm>
          <a:prstGeom prst="roundRect">
            <a:avLst>
              <a:gd name="adj" fmla="val 12844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4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ㅍ</a:t>
            </a:r>
            <a:endParaRPr lang="ko-KR" sz="4300" dirty="0"/>
          </a:p>
        </p:txBody>
      </p:sp>
      <p:sp>
        <p:nvSpPr>
          <p:cNvPr id="31" name="S13-label141"/>
          <p:cNvSpPr txBox="1"/>
          <p:nvPr/>
        </p:nvSpPr>
        <p:spPr>
          <a:xfrm>
            <a:off x="7891272" y="4700016"/>
            <a:ext cx="11978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20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</a:t>
            </a:r>
            <a:endParaRPr lang="ko-KR" sz="2000" dirty="0"/>
          </a:p>
        </p:txBody>
      </p:sp>
      <p:sp>
        <p:nvSpPr>
          <p:cNvPr id="32" name="S13-tile142"/>
          <p:cNvSpPr txBox="1"/>
          <p:nvPr/>
        </p:nvSpPr>
        <p:spPr>
          <a:xfrm>
            <a:off x="9189720" y="3666744"/>
            <a:ext cx="996696" cy="996696"/>
          </a:xfrm>
          <a:prstGeom prst="roundRect">
            <a:avLst>
              <a:gd name="adj" fmla="val 12844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4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ㅎ</a:t>
            </a:r>
            <a:endParaRPr lang="ko-KR" sz="4300" dirty="0"/>
          </a:p>
        </p:txBody>
      </p:sp>
      <p:sp>
        <p:nvSpPr>
          <p:cNvPr id="33" name="S13-label143"/>
          <p:cNvSpPr txBox="1"/>
          <p:nvPr/>
        </p:nvSpPr>
        <p:spPr>
          <a:xfrm>
            <a:off x="9089136" y="4700016"/>
            <a:ext cx="11978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20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</a:t>
            </a:r>
            <a:endParaRPr lang="ko-KR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초3 국어 국어사전 찾기</dc:title>
  <dc:subject>KR22-G03-KOR-DICT-L01</dc:subject>
  <dc:creator>education-ppt</dc:creator>
  <cp:lastModifiedBy>education-ppt</cp:lastModifiedBy>
  <cp:revision>1</cp:revision>
  <dcterms:created xsi:type="dcterms:W3CDTF">2026-10-26T06:36:03Z</dcterms:created>
  <dcterms:modified xsi:type="dcterms:W3CDTF">2026-10-26T06:36:03Z</dcterms:modified>
</cp:coreProperties>
</file>