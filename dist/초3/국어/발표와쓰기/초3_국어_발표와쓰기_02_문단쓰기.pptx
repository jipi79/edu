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830bebc-debc-4ead-7806-064fad08cfbe}">
          <p14:sldIdLst>
            <p14:sldId id="256"/>
            <p14:sldId id="257"/>
          </p14:sldIdLst>
        </p14:section>
        <p14:section name="개념" id="{c6b3f119-683c-0ef2-60bb-280373c31b93}">
          <p14:sldIdLst>
            <p14:sldId id="258"/>
            <p14:sldId id="259"/>
            <p14:sldId id="260"/>
          </p14:sldIdLst>
        </p14:section>
        <p14:section name="연습" id="{4277987f-463c-5218-57fe-23fabf81cf83}">
          <p14:sldIdLst>
            <p14:sldId id="261"/>
            <p14:sldId id="262"/>
            <p14:sldId id="263"/>
          </p14:sldIdLst>
        </p14:section>
        <p14:section name="확인" id="{24131846-8c5c-22cd-667d-1a6664d52f5e}">
          <p14:sldIdLst>
            <p14:sldId id="264"/>
            <p14:sldId id="265"/>
            <p14:sldId id="266"/>
          </p14:sldIdLst>
        </p14:section>
        <p14:section name="정리" id="{f4a31b16-2c24-5181-b387-4dce2bd3b1a5}">
          <p14:sldIdLst>
            <p14:sldId id="267"/>
          </p14:sldIdLst>
        </p14:section>
        <p14:section name="보충" id="{58c50128-0acd-01be-b21c-ff629d000e05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읽기에서 배운 문단을 이제 직접 쓴다는 것을 연결합니다.
시간: 약 2분
이렇게 말해 보세요
- “전에 문단에서 중심 문장을 찾아봤지? 오늘은 거꾸로 우리가 직접 문단을 써 볼 거야.”
- “글을 쓸 때 생각이 잘 전해지려면 무엇이 필요할까?”
예상 답
- “중심 문장이요.” “잘 모르겠어요.”
막히면
- “발표할 때 처음, 가운데, 끝으로 나눴던 것처럼 글에도 짜임이 있어.”라고 앞 차시를 떠올리게 합니다.
주의
- 어떤 답이든 들어 두고, S03에서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확인(중심 문장 찾기)]
목적: 앞 차시 ‘문단의 중심 문장’(KR22-G03-KOR-MAINIDEA-L01)에서 배운 중심 문장·뒷받침 문장 찾기를 할 수 있는지 확인합니다.
시간: 약 3분
이렇게 말해 보세요
- “이 문단에서 하고 싶은 말은 무엇이야? 중심 문장을 찾아볼래?”
- “나머지 문장들은 중심 문장의 무엇을 설명해?”
정답
- 중심 문장: 여름에는 시원한 음식을 많이 먹습니다.(첫 문장)
- 뒷받침 문장: 여름에 먹는 시원한 음식의 예(수박, 팥빙수, 냉면)
막히면
- 중심 문장을 찾지 못하면 S13(보충)을 먼저 하고, 그래도 어려우면 앞 차시 ‘문단의 중심 문장’(KR22-G03-KOR-MAINIDEA-L01)을 다시 합니다.
- ‘조사한 내용 발표하기’(KR22-G03-KOR-PRESENT-L01)에서 처음에 주제를 말하고 가운데에 자세한 내용을 말했던 것과 비슷하다고 연결해 줍니다.
주의
- 중심 문장을 찾고 ‘예를 들어 설명한다’는 것까지 말하면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문단의 짜임]
목적: 문단을 쓸 때 필요한 세 가지(중심 문장, 뒷받침 문장, 들여쓰기)를 알려 줍니다.
시간: 약 3분
이렇게 말해 보세요
- “문단을 쓰려면 먼저 하고 싶은 말 한 가지를 중심 문장으로 써.”
- “그다음 ‘왜 그런지’, ‘예를 들면 무엇인지’를 뒷받침 문장으로 써. 그리고 문단은 첫 칸을 비우고 시작해.”
예상 답
- “중심 문장 하나, 뒷받침 문장 두세 개, 첫 칸 비우기요.”
막히면
- S02의 여름 문단을 다시 보여 주며 세 가지를 하나씩 짚어 줍니다.
주의
- 한 문단 안에서는 문장마다 줄을 바꾸지 않고 이어 쓴다는 것(M3)도 함께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문단 쓰는 차례]
목적: 문단을 쓰는 차례를 다섯 단계로 정리합니다.
시간: 약 3분
이렇게 말해 보세요
- “문단은 이 차례대로 쓰면 돼. 하나씩 읽어 볼래?”
- “3번이 가장 중요해. 중심 문장에 ‘왜?’라고 물어보면 뒷받침 문장이 생각나.”
예상 답
- 아이가 차례를 자기 말로 다시 말합니다. 예: “쓸 거리를 정하고, 중심 문장을 쓰고, 왜 그런지 써요.”
막히면
- 단계마다 “이건 무엇을 하는 거야?”라고 묻고, 바로 S05의 시범으로 넘어가 실제로 보여 줍니다.
주의
- 5번(고쳐 쓰기)은 S06에서 직접 연습합니다.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시범 쓰기]
목적: 부모가 생각을 소리 내어 말하며 S04의 차례대로 문단을 쓰는 과정을 보여 줍니다.
시간: 약 4분
이렇게 말해 보세요
- “엄마(아빠)는 ‘비 오는 날’로 써 볼게. 하고 싶은 말은 ‘나는 비 오는 날이 좋다’야. 이게 중심 문장이야.”
- “왜 좋을까? 빗소리가 좋고, 노란 우산을 쓸 수 있고, 물웅덩이를 밟는 게 재미있어. 이걸 뒷받침 문장으로 쓰는 거야.”
- “첫 칸은 비우고, 줄을 바꾸지 않고 이어서 썼어.”
예상 답
- “비 오는 날이 좋은 까닭을 설명해요.”
정답
- 중심 문장: 나는 비 오는 날이 좋습니다.
- 뒷받침 문장: 비 오는 날이 좋은 까닭 세 가지(빗소리, 노란 우산, 물웅덩이)
막히면
- 뒷받침 문장마다 “이 문장은 비 오는 날이 왜 좋은지 말해 줘?”라고 묻습니다.
주의
- 종이에 직접 쓰면서 보여 주면 더 좋습니다. 첫 칸을 비우는 모습을 꼭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어울리지 않는 문장 찾기]
목적: 중심 문장을 설명하지 않는 문장을 찾아 빼는 연습을 합니다(목표 A, 오해 M2).
시간: 약 3분
이렇게 말해 보세요
- “먼저 중심 문장을 찾아볼까?”
- “문장마다 물어보자. 이 문장은 운동장이 놀기 좋은 까닭을 말해 줘?”
정답
- 어울리지 않는 문장: 나는 어제 동생과 김밥을 먹었습니다.
- 까닭: 운동장이 놀기 좋은 곳이라는 중심 문장을 설명하지 않습니다.
막히면
- 문장을 하나씩 짚으며 “놀기 좋은 까닭이야, 아니야?”라고 둘 중에서 고르게 합니다.
주의
- 활동지 1에 같은 문단이 있으니 × 표시를 하게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오해 비교(중심 문장만 쓴 문단)]
목적: 중심 문장만 쓰면 생각이 자세히 전해지지 않는다는 것을 비교로 확인합니다(오해 M1).
시간: 약 3분
이렇게 말해 보세요
- “두 쪽을 읽어 볼래? ‘가’만 읽으면 왜 여름이 좋은지 알 수 있어?”
- “‘나’의 둘째, 셋째 문장은 무슨 일을 해?”
정답
- 나. 뒷받침 문장이 여름이 좋은 까닭을 자세히 설명해서 생각이 잘 전해집니다.
- 가는 중심 문장만 있어서 왜 좋은지 알 수 없습니다.
막히면
- “엄마(아빠)가 ‘나는 여름이 좋아.’라고만 하면 궁금한 게 없어?”라고 묻습니다.
주의
- 화면에는 보기 쉽게 문장마다 줄을 바꿨지만, 실제 문단은 줄을 바꾸지 않고 이어 쓴다고 말해 줍니다.
- 아이가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뒷받침 문장 이어 말하기]
목적: 중심 문장에 어울리는 뒷받침 문장을 도움을 받아 만들어 봅니다(목표 B). 말로 먼저 하고 ①은 활동지 2에 씁니다.
시간: 약 4분
이렇게 말해 보세요
- “①에 ‘예를 들면?’ 하고 물어볼까? 어떤 놀이 기구가 어떻게 재미있어?”
- “②에 ‘왜?’ 하고 물어볼까? 아침밥을 먹으면 무엇이 좋아?”
예상 답
- ① 미끄럼틀을 타면 바람을 가르며 내려와 신납니다. 그네를 타면 하늘을 나는 것 같습니다.
- ② 배가 든든해서 힘이 납니다. 공부할 때 집중하기 쉽습니다.
정답
- 기준: 중심 문장을 설명하는 문장이면 맞습니다. ①은 놀이 기구가 재미있다는 것, ②는 아침밥을 먹으면 좋은 점이어야 합니다.
막히면
- 부모가 첫 문장을 먼저 말해 주고 “또 무엇이 있을까?”라고 묻습니다.
주의
- 중심 문장과 상관없는 문장(예: “나는 놀이터에 갔습니다.”)을 말하면 “그 문장은 놀이 기구가 재미있다는 걸 설명해?”라고 되묻습니다.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문단 쓰기]
목적: 도움 없이 한 문단을 쓰는지 확인합니다(목표 B). 활동지 4에 씁니다.
시간: 약 6분
이렇게 말해 보세요
- “이번에는 혼자 써 볼래? 쓸 거리를 하나 고르고 S04의 차례대로 써 봐.”
- “다 쓰면 소리 내어 읽고, 오른쪽 기준표에 스스로 표시해 봐.”
정답
- 기준: 첫 칸 비우기, 중심 문장 1개, 중심 문장을 설명하는 뒷받침 문장 2개 이상, 상관없는 문장 없음.
- 4가지를 모두 지키면 목표 B 달성, 3가지면 거의 달성으로 봅니다.
막히면
- 쓰기 전에 말로 먼저 문단을 말해 보게 하고, 말한 것을 그대로 쓰게 합니다.
- 도움을 받아 썼다면 기록표에 ‘도움’으로 표시합니다.
주의
- 맞춤법을 하나하나 고치기보다 문단의 짜임을 먼저 봅니다. 고칠 점은 한 가지만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잘 쓴 예와 피드백]
목적: 아이의 문단을 예시와 비교하고 흔한 실수를 확인합니다.
시간: 약 2분
이렇게 말해 보세요
- “네 문단을 소리 내어 읽어 볼래? 왼쪽 예처럼 중심 문장과 뒷받침 문장이 있어?”
- “오른쪽 실수 중에 고칠 것이 있을까?”
예상 답
- “뒷받침 문장이 하나밖에 없어요. 하나 더 쓸게요.”
정답
- 예: 나는 떡볶이를 좋아합니다.(중심 문장) 매콤하고 달콤한 맛이 납니다. 쫄깃한 떡을 씹는 느낌도 좋습니다.(뒷받침 문장)
막히면
- 아이 문단의 문장마다 “중심 문장이야, 뒷받침 문장이야?”라고 물어 표시합니다.
주의
- 이 장은 학생용 파일에서 빠집니다. 잘한 점을 먼저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확인]
목적: 처음 보는 중심 문장에 어울리는 뒷받침 문장을 고르고 까닭을 말하는지 확인합니다(목표 A).
시간: 약 2분
이렇게 말해 보세요
- “가, 나, 다 가운데 겨울 놀이를 설명하는 문장은 어느 것일까?”
정답
- 가. 겨울에 하는 즐거운 놀이(눈썰매)를 예로 들어 설명합니다.
- 나는 여름 이야기, 다는 놀이와 상관없는 이야기여서 어울리지 않습니다.
막히면
- “중심 문장은 어느 계절 이야기야? 무엇에 대한 이야기야?”라고 먼저 묻습니다.
주의
- 답만 맞히고 까닭을 말하지 못하면 기록표에 ‘답만’으로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다음 학습과 복습]
목적: 핵심을 정리하고 다음 수업의 복습 질문을 알려 줍니다.
시간: 약 2분
이렇게 말해 보세요
- “문단을 잘 쓰는 방법을 한 문장으로 말해 볼래?”
예상 답
- “중심 문장을 쓰고 뒷받침 문장으로 자세히 써요.”
정답
- ① 문단에서 하고 싶은 말 한 가지를 담은 문장 ② 까닭이나 예로 중심 문장을 자세히 설명한다 ③ 첫 칸을 비운다(들여 쓴다).
막히면
- S03을 다시 보여 줍니다.
주의
- 다음 시간에는 오늘 배운 문단 쓰기로 마음을 전하는 편지를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보충(‘왜?’ 물어 문장 늘이기)]
목적: 중심 문장에 ‘왜?’, ‘또?’를 물어 뒷받침 문장을 만드는 경험을 말로 먼저 해 봅니다.
시간: 약 3분
이렇게 말해 보세요
- “‘나는 공원이 좋아요.’ 왜 좋을까? 또 무엇이 좋을까?”
- “이번에는 네가 좋아하는 곳으로 해 볼까? ‘나는 ○○이 좋아요.’ 왜?”
정답
- 예: 나는 도서관이 좋아요. → 왜? 재미있는 책이 많아요. → 또? 조용해서 책 읽기 좋아요. (중심 문장을 설명하는 문장이면 맞음)
막히면
- 부모가 먼저 “나는 ○○이 좋아. 왜냐하면…”을 들려주고 따라 하게 합니다.
- 중심 문장과 뒷받침 문장을 구별하지 못하면 앞 차시 ‘문단의 중심 문장’(KR22-G03-KOR-MAINIDEA-L01)을, 생각을 차례대로 말하기 어려워하면 ‘조사한 내용 발표하기’(KR22-G03-KOR-PRESENT-L01)를 먼저 다시 합니다.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발표와쓰기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문단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문단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국어 · 문단 쓰기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 쓰기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 잘 전해지는</a:t>
            </a:r>
            <a:endParaRPr lang="ko-KR" sz="3000" dirty="0"/>
          </a:p>
          <a:p>
            <a:pPr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문단은 어떻게 쓸까?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중심 문장에 어울리는 문장을 고를 수 있어요.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중심 문장과 뒷받침 문장으로 문단을 쓸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문장은 무엇일까요?</a:t>
            </a:r>
            <a:endParaRPr lang="ko-KR" sz="4000" dirty="0"/>
          </a:p>
        </p:txBody>
      </p:sp>
      <p:sp>
        <p:nvSpPr>
          <p:cNvPr id="3" name="S02-card3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4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문장을 찾고, 뒷받침 문장이 무엇을 설명하는지 말해 보세요.</a:t>
            </a:r>
            <a:endParaRPr lang="ko-KR" sz="3000" dirty="0"/>
          </a:p>
        </p:txBody>
      </p:sp>
      <p:sp>
        <p:nvSpPr>
          <p:cNvPr id="5" name="S02-passagebox5"/>
          <p:cNvSpPr/>
          <p:nvPr/>
        </p:nvSpPr>
        <p:spPr>
          <a:xfrm>
            <a:off x="548640" y="1325880"/>
            <a:ext cx="11091672" cy="3404616"/>
          </a:xfrm>
          <a:prstGeom prst="roundRect">
            <a:avLst>
              <a:gd name="adj" fmla="val 268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2-passage6"/>
          <p:cNvSpPr txBox="1"/>
          <p:nvPr/>
        </p:nvSpPr>
        <p:spPr>
          <a:xfrm>
            <a:off x="822960" y="1508760"/>
            <a:ext cx="10543032" cy="3038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여름에는 시원한 음식을 많이 먹습니다. 수박을 잘라 나누어 먹습니다. 얼음을 갈아 팥빙수를 만들기도 합니다. 시원한 냉면도 인기가 많습니다.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문단을 쓸 때 필요한 것</a:t>
            </a:r>
            <a:endParaRPr lang="ko-KR" sz="4000" dirty="0"/>
          </a:p>
        </p:txBody>
      </p:sp>
      <p:sp>
        <p:nvSpPr>
          <p:cNvPr id="3" name="S03-card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 1개 + 뒷받침 문장 2~3개 = 한 문단</a:t>
            </a:r>
            <a:endParaRPr lang="ko-KR" sz="3000" dirty="0"/>
          </a:p>
        </p:txBody>
      </p:sp>
      <p:sp>
        <p:nvSpPr>
          <p:cNvPr id="5" name="S03-card9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0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싶은 말 한 가지</a:t>
            </a:r>
            <a:endParaRPr lang="ko-KR" sz="3000" dirty="0"/>
          </a:p>
        </p:txBody>
      </p:sp>
      <p:sp>
        <p:nvSpPr>
          <p:cNvPr id="7" name="S03-card11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2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까닭이나 예로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설명</a:t>
            </a:r>
            <a:endParaRPr lang="ko-KR" sz="3000" dirty="0"/>
          </a:p>
        </p:txBody>
      </p:sp>
      <p:sp>
        <p:nvSpPr>
          <p:cNvPr id="9" name="S03-card13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4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들여쓰기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문단의 첫 칸 비우기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문단 쓰는 차례</a:t>
            </a:r>
            <a:endParaRPr lang="ko-KR" sz="4000" dirty="0"/>
          </a:p>
        </p:txBody>
      </p:sp>
      <p:sp>
        <p:nvSpPr>
          <p:cNvPr id="3" name="S04-stepno15"/>
          <p:cNvSpPr txBox="1"/>
          <p:nvPr/>
        </p:nvSpPr>
        <p:spPr>
          <a:xfrm>
            <a:off x="548640" y="20711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4" name="S04-text16"/>
          <p:cNvSpPr txBox="1"/>
          <p:nvPr/>
        </p:nvSpPr>
        <p:spPr>
          <a:xfrm>
            <a:off x="1325880" y="207111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거리를 정해요.</a:t>
            </a:r>
            <a:endParaRPr lang="ko-KR" sz="3000" dirty="0"/>
          </a:p>
        </p:txBody>
      </p:sp>
      <p:sp>
        <p:nvSpPr>
          <p:cNvPr id="5" name="S04-stepno17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6" name="S04-text18"/>
          <p:cNvSpPr txBox="1"/>
          <p:nvPr/>
        </p:nvSpPr>
        <p:spPr>
          <a:xfrm>
            <a:off x="1325880" y="278434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싶은 말을 중심 문장으로 써요.</a:t>
            </a:r>
            <a:endParaRPr lang="ko-KR" sz="3000" dirty="0"/>
          </a:p>
        </p:txBody>
      </p:sp>
      <p:sp>
        <p:nvSpPr>
          <p:cNvPr id="7" name="S04-stepno19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8" name="S04-text20"/>
          <p:cNvSpPr txBox="1"/>
          <p:nvPr/>
        </p:nvSpPr>
        <p:spPr>
          <a:xfrm>
            <a:off x="1325880" y="349758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‘왜?’, ‘예를 들면?’에 답해 뒷받침 문장을 써요.</a:t>
            </a:r>
            <a:endParaRPr lang="ko-KR" sz="3000" dirty="0"/>
          </a:p>
        </p:txBody>
      </p:sp>
      <p:sp>
        <p:nvSpPr>
          <p:cNvPr id="9" name="S04-stepno21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0" name="S04-text22"/>
          <p:cNvSpPr txBox="1"/>
          <p:nvPr/>
        </p:nvSpPr>
        <p:spPr>
          <a:xfrm>
            <a:off x="1325880" y="4210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칸을 비우고 이어서 써요.</a:t>
            </a:r>
            <a:endParaRPr lang="ko-KR" sz="3000" dirty="0"/>
          </a:p>
        </p:txBody>
      </p:sp>
      <p:sp>
        <p:nvSpPr>
          <p:cNvPr id="11" name="S04-stepno23"/>
          <p:cNvSpPr txBox="1"/>
          <p:nvPr/>
        </p:nvSpPr>
        <p:spPr>
          <a:xfrm>
            <a:off x="548640" y="4924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2" name="S04-text24"/>
          <p:cNvSpPr txBox="1"/>
          <p:nvPr/>
        </p:nvSpPr>
        <p:spPr>
          <a:xfrm>
            <a:off x="1325880" y="4924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읽고 어울리지 않는 문장을 빼요.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시범: 비 오는 날 문단</a:t>
            </a:r>
            <a:endParaRPr lang="ko-KR" sz="4000" dirty="0"/>
          </a:p>
        </p:txBody>
      </p:sp>
      <p:sp>
        <p:nvSpPr>
          <p:cNvPr id="3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문장은 무엇이고, 뒷받침 문장은 무엇을 설명하나요?</a:t>
            </a:r>
            <a:endParaRPr lang="ko-KR" sz="3000" dirty="0"/>
          </a:p>
        </p:txBody>
      </p:sp>
      <p:sp>
        <p:nvSpPr>
          <p:cNvPr id="5" name="S05-passagebox27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5-passage28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나는 비 오는 날이 좋습니다. 빗소리를 들으면 마음이 편안해집니다. 좋아하는 노란 우산을 쓸 수 있습니다. 물웅덩이를 첨벙첨벙 밟는 것도 재미있습니다.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어울리지 않는 문장 찾기</a:t>
            </a:r>
            <a:endParaRPr lang="ko-KR" sz="4000" dirty="0"/>
          </a:p>
        </p:txBody>
      </p:sp>
      <p:sp>
        <p:nvSpPr>
          <p:cNvPr id="3" name="S06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문장과 어울리지 않는 문장은 무엇일까요? 왜 그럴까요?</a:t>
            </a:r>
            <a:endParaRPr lang="ko-KR" sz="3000" dirty="0"/>
          </a:p>
        </p:txBody>
      </p:sp>
      <p:sp>
        <p:nvSpPr>
          <p:cNvPr id="5" name="S06-passagebox31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6-passage32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우리 학교 운동장은 놀기 좋은 곳입니다. 운동장이 넓어서 마음껏 달릴 수 있습니다. 그네와 미끄럼틀도 있습니다. 나는 어제 동생과 김밥을 먹었습니다. 나무 그늘에서 쉴 수도 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잘 전해질까?</a:t>
            </a:r>
            <a:endParaRPr lang="ko-KR" sz="4000" dirty="0"/>
          </a:p>
        </p:txBody>
      </p:sp>
      <p:sp>
        <p:nvSpPr>
          <p:cNvPr id="3" name="S07-card3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3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‘나는 여름이 좋습니다.’로 문단을 썼어요.</a:t>
            </a:r>
            <a:endParaRPr lang="ko-KR" sz="3000" dirty="0"/>
          </a:p>
        </p:txBody>
      </p:sp>
      <p:sp>
        <p:nvSpPr>
          <p:cNvPr id="5" name="S07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생각을 더 잘 전하나요? 왜 그럴까요?</a:t>
            </a:r>
            <a:endParaRPr lang="ko-KR" sz="3000" dirty="0"/>
          </a:p>
        </p:txBody>
      </p:sp>
      <p:sp>
        <p:nvSpPr>
          <p:cNvPr id="7" name="S07-chip3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7-text3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여름이 좋습니다.</a:t>
            </a:r>
            <a:endParaRPr lang="ko-KR" sz="3000" dirty="0"/>
          </a:p>
        </p:txBody>
      </p:sp>
      <p:sp>
        <p:nvSpPr>
          <p:cNvPr id="9" name="S07-chip3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7-text4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여름이 좋습니다.</a:t>
            </a:r>
            <a:endParaRPr lang="ko-KR" sz="3000" dirty="0"/>
          </a:p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바다에서 수영할 수 있습니다.</a:t>
            </a:r>
            <a:endParaRPr lang="ko-KR" sz="3000" dirty="0"/>
          </a:p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수박도 실컷 먹을 수 있습니다.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 이어 쓰기</a:t>
            </a:r>
            <a:endParaRPr lang="ko-KR" sz="4000" dirty="0"/>
          </a:p>
        </p:txBody>
      </p:sp>
      <p:sp>
        <p:nvSpPr>
          <p:cNvPr id="3" name="S08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문장을 뒷받침하는 문장을 두 개씩 말해 보세요.</a:t>
            </a:r>
            <a:endParaRPr lang="ko-KR" sz="3000" dirty="0"/>
          </a:p>
        </p:txBody>
      </p:sp>
      <p:sp>
        <p:nvSpPr>
          <p:cNvPr id="4" name="S08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문장에 ‘왜?’, ‘예를 들면?’ 하고 물어보세요.</a:t>
            </a:r>
            <a:endParaRPr lang="ko-KR" sz="3000" dirty="0"/>
          </a:p>
        </p:txBody>
      </p:sp>
      <p:sp>
        <p:nvSpPr>
          <p:cNvPr id="6" name="S08-chip4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text4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놀이터에는 재미있는 놀이 기구가 많습니다.</a:t>
            </a:r>
            <a:endParaRPr lang="ko-KR" sz="3000" dirty="0"/>
          </a:p>
        </p:txBody>
      </p:sp>
      <p:sp>
        <p:nvSpPr>
          <p:cNvPr id="8" name="S08-chip4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text47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아침밥을 먹으면 좋은 점이 많습니다.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써 보기</a:t>
            </a:r>
            <a:endParaRPr lang="ko-KR" sz="4000" dirty="0"/>
          </a:p>
        </p:txBody>
      </p:sp>
      <p:sp>
        <p:nvSpPr>
          <p:cNvPr id="3" name="S09-text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거리: 좋아하는 계절 · 좋아하는 음식 · 내가 잘하는 것</a:t>
            </a:r>
            <a:endParaRPr lang="ko-KR" sz="3000" dirty="0"/>
          </a:p>
        </p:txBody>
      </p:sp>
      <p:sp>
        <p:nvSpPr>
          <p:cNvPr id="4" name="S09-card49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50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첫 칸을 비웠어요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중심 문장이 있어요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뒷받침 문장이 두 개 이상이에요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모두 중심 문장과 어울려요</a:t>
            </a:r>
            <a:endParaRPr lang="ko-KR" sz="3000" dirty="0"/>
          </a:p>
        </p:txBody>
      </p:sp>
      <p:sp>
        <p:nvSpPr>
          <p:cNvPr id="6" name="S09-stepno51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9-text52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 거리를 하나 골라요.</a:t>
            </a:r>
            <a:endParaRPr lang="ko-KR" sz="3000" dirty="0"/>
          </a:p>
        </p:txBody>
      </p:sp>
      <p:sp>
        <p:nvSpPr>
          <p:cNvPr id="8" name="S09-stepno53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9-text54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문장을 써요.</a:t>
            </a:r>
            <a:endParaRPr lang="ko-KR" sz="3000" dirty="0"/>
          </a:p>
        </p:txBody>
      </p:sp>
      <p:sp>
        <p:nvSpPr>
          <p:cNvPr id="10" name="S09-stepno55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9-text56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문장을 두세 개 써요.</a:t>
            </a:r>
            <a:endParaRPr lang="ko-KR" sz="3000" dirty="0"/>
          </a:p>
        </p:txBody>
      </p:sp>
      <p:sp>
        <p:nvSpPr>
          <p:cNvPr id="12" name="S09-stepno57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9-text58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읽고 고쳐요.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 쓴 예와 흔한 실수</a:t>
            </a:r>
            <a:endParaRPr lang="ko-KR" sz="4000" dirty="0"/>
          </a:p>
        </p:txBody>
      </p:sp>
      <p:sp>
        <p:nvSpPr>
          <p:cNvPr id="3" name="S10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4가지를 모두 지키면 잘 쓴 문단이에요.</a:t>
            </a:r>
            <a:endParaRPr lang="ko-KR" sz="3000" dirty="0"/>
          </a:p>
        </p:txBody>
      </p:sp>
      <p:sp>
        <p:nvSpPr>
          <p:cNvPr id="5" name="S10-chip6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0-text62"/>
          <p:cNvSpPr txBox="1"/>
          <p:nvPr/>
        </p:nvSpPr>
        <p:spPr>
          <a:xfrm>
            <a:off x="548640" y="20574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나는 떡볶이를 좋아합니다. 매콤하고 달콤한 맛이 납니다. 쫄깃한 떡을 씹는 느낌도 좋습니다.</a:t>
            </a:r>
            <a:endParaRPr lang="ko-KR" sz="2400" dirty="0"/>
          </a:p>
        </p:txBody>
      </p:sp>
      <p:sp>
        <p:nvSpPr>
          <p:cNvPr id="7" name="S10-chip6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8" name="S10-text64"/>
          <p:cNvSpPr txBox="1"/>
          <p:nvPr/>
        </p:nvSpPr>
        <p:spPr>
          <a:xfrm>
            <a:off x="6277356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 한 문장만 씀</a:t>
            </a:r>
            <a:endParaRPr lang="ko-KR" sz="3000" dirty="0"/>
          </a:p>
        </p:txBody>
      </p:sp>
      <p:sp>
        <p:nvSpPr>
          <p:cNvPr id="9" name="S10-text65"/>
          <p:cNvSpPr txBox="1"/>
          <p:nvPr/>
        </p:nvSpPr>
        <p:spPr>
          <a:xfrm>
            <a:off x="6277356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상관없는 문장이 섞임</a:t>
            </a:r>
            <a:endParaRPr lang="ko-KR" sz="3000" dirty="0"/>
          </a:p>
        </p:txBody>
      </p:sp>
      <p:sp>
        <p:nvSpPr>
          <p:cNvPr id="10" name="S10-text66"/>
          <p:cNvSpPr txBox="1"/>
          <p:nvPr/>
        </p:nvSpPr>
        <p:spPr>
          <a:xfrm>
            <a:off x="6277356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칸을 비우지 않음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어울리는 뒷받침 문장은?</a:t>
            </a:r>
            <a:endParaRPr lang="ko-KR" sz="4000" dirty="0"/>
          </a:p>
        </p:txBody>
      </p:sp>
      <p:sp>
        <p:nvSpPr>
          <p:cNvPr id="3" name="S11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문장: 겨울에는 즐거운 놀이가 많습니다.</a:t>
            </a:r>
            <a:endParaRPr lang="ko-KR" sz="3000" dirty="0"/>
          </a:p>
        </p:txBody>
      </p:sp>
      <p:sp>
        <p:nvSpPr>
          <p:cNvPr id="4" name="S11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1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말해 보세요.</a:t>
            </a:r>
            <a:endParaRPr lang="ko-KR" sz="3000" dirty="0"/>
          </a:p>
        </p:txBody>
      </p:sp>
      <p:sp>
        <p:nvSpPr>
          <p:cNvPr id="6" name="S11-chip7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1-card7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1-cardtext7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눈썰매를 타고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언덕을 내려옵니다.</a:t>
            </a:r>
            <a:endParaRPr lang="ko-KR" sz="3000" dirty="0"/>
          </a:p>
        </p:txBody>
      </p:sp>
      <p:sp>
        <p:nvSpPr>
          <p:cNvPr id="9" name="S11-chip7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1-card7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1-cardtext7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여름에는 바다에서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수영을 합니다.</a:t>
            </a:r>
            <a:endParaRPr lang="ko-KR" sz="3000" dirty="0"/>
          </a:p>
        </p:txBody>
      </p:sp>
      <p:sp>
        <p:nvSpPr>
          <p:cNvPr id="12" name="S11-chip7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1-card7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1-cardtext7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어제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감기에 걸렸습니다.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79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80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문장으로 하고 싶은 말을 쓰고,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뒷받침 문장으로 자세히 설명해요.</a:t>
            </a:r>
            <a:endParaRPr lang="ko-KR" sz="3000" dirty="0"/>
          </a:p>
        </p:txBody>
      </p:sp>
      <p:sp>
        <p:nvSpPr>
          <p:cNvPr id="5" name="S12-chip81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‘왜?’, ‘예를 들면?’에 답하기</a:t>
            </a:r>
            <a:endParaRPr lang="ko-KR" sz="2400" dirty="0"/>
          </a:p>
        </p:txBody>
      </p:sp>
      <p:sp>
        <p:nvSpPr>
          <p:cNvPr id="6" name="S12-chip82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상관없는 문장 섞기</a:t>
            </a:r>
            <a:endParaRPr lang="ko-KR" sz="2400" dirty="0"/>
          </a:p>
        </p:txBody>
      </p:sp>
      <p:sp>
        <p:nvSpPr>
          <p:cNvPr id="7" name="S12-text83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text84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중심 문장이란?</a:t>
            </a:r>
            <a:endParaRPr lang="ko-KR" sz="2400" dirty="0"/>
          </a:p>
        </p:txBody>
      </p:sp>
      <p:sp>
        <p:nvSpPr>
          <p:cNvPr id="9" name="S12-text85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뒷받침 문장이 하는 일</a:t>
            </a:r>
            <a:endParaRPr lang="ko-KR" sz="2400" dirty="0"/>
          </a:p>
        </p:txBody>
      </p:sp>
      <p:sp>
        <p:nvSpPr>
          <p:cNvPr id="10" name="S12-text86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문단을 시작할 때 할 일</a:t>
            </a:r>
            <a:endParaRPr lang="ko-KR" sz="2400" dirty="0"/>
          </a:p>
        </p:txBody>
      </p:sp>
      <p:sp>
        <p:nvSpPr>
          <p:cNvPr id="11" name="S12-text8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마음을 전하는 편지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‘왜?’ 물어 문장 늘이기</a:t>
            </a:r>
            <a:endParaRPr lang="ko-KR" sz="4000" dirty="0"/>
          </a:p>
        </p:txBody>
      </p:sp>
      <p:sp>
        <p:nvSpPr>
          <p:cNvPr id="3" name="S13-text8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문장에 ‘왜?’, ‘또?’를 물어보세요.</a:t>
            </a:r>
            <a:endParaRPr lang="ko-KR" sz="3000" dirty="0"/>
          </a:p>
        </p:txBody>
      </p:sp>
      <p:sp>
        <p:nvSpPr>
          <p:cNvPr id="4" name="S13-card8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9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답한 문장이 뒷받침 문장이 돼요.</a:t>
            </a:r>
            <a:endParaRPr lang="ko-KR" sz="3000" dirty="0"/>
          </a:p>
        </p:txBody>
      </p:sp>
      <p:sp>
        <p:nvSpPr>
          <p:cNvPr id="6" name="S13-card91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7" name="S13-cardtext92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문장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공원이 좋아요.</a:t>
            </a:r>
            <a:endParaRPr lang="ko-KR" sz="3000" dirty="0"/>
          </a:p>
        </p:txBody>
      </p:sp>
      <p:sp>
        <p:nvSpPr>
          <p:cNvPr id="8" name="S13-card93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3-cardtext94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왜?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그네를 탈 수 있어요.</a:t>
            </a:r>
            <a:endParaRPr lang="ko-KR" sz="3000" dirty="0"/>
          </a:p>
        </p:txBody>
      </p:sp>
      <p:sp>
        <p:nvSpPr>
          <p:cNvPr id="10" name="S13-card95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96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또?</a:t>
            </a:r>
            <a:endParaRPr lang="ko-KR" sz="3000" dirty="0"/>
          </a:p>
          <a:p>
            <a:pPr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친구를 만날 수 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국어 문단 쓰기</dc:title>
  <dc:subject>KR22-G03-KOR-PARAGRAPH-L01</dc:subject>
  <dc:creator>education-ppt</dc:creator>
  <cp:lastModifiedBy>education-ppt</cp:lastModifiedBy>
  <cp:revision>1</cp:revision>
  <dcterms:created xsi:type="dcterms:W3CDTF">2026-10-26T06:36:07Z</dcterms:created>
  <dcterms:modified xsi:type="dcterms:W3CDTF">2026-10-26T06:36:07Z</dcterms:modified>
</cp:coreProperties>
</file>