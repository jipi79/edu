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4a56634-aaa6-86b5-dc13-d3cf615043be}">
          <p14:sldIdLst>
            <p14:sldId id="256"/>
            <p14:sldId id="257"/>
          </p14:sldIdLst>
        </p14:section>
        <p14:section name="개념" id="{0d863086-a358-9a8f-c498-8e71cf207af8}">
          <p14:sldIdLst>
            <p14:sldId id="258"/>
            <p14:sldId id="259"/>
            <p14:sldId id="260"/>
            <p14:sldId id="261"/>
          </p14:sldIdLst>
        </p14:section>
        <p14:section name="연습" id="{ca1609a6-5165-8af1-bdd5-1f3ce3d1d35e}">
          <p14:sldIdLst>
            <p14:sldId id="262"/>
            <p14:sldId id="263"/>
          </p14:sldIdLst>
        </p14:section>
        <p14:section name="확인" id="{0ac4af28-a659-c084-1f8f-d4ddc0bb7188}">
          <p14:sldIdLst>
            <p14:sldId id="264"/>
            <p14:sldId id="265"/>
            <p14:sldId id="266"/>
          </p14:sldIdLst>
        </p14:section>
        <p14:section name="정리" id="{7660f2af-54ae-ca5c-1fd3-4c95a6085035}">
          <p14:sldIdLst>
            <p14:sldId id="267"/>
          </p14:sldIdLst>
        </p14:section>
        <p14:section name="보충" id="{bcbfbcf7-baf1-b3b8-4439-8dba56950e8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이야기를 읽으며 인물의 마음을 생각해 본 경험을 떠올리게 합니다.
시간: 약 2분
이렇게 말해 보세요
- “책을 읽다가 ‘이 사람 지금 슬프겠다’ 하고 생각한 적 있어? 어떻게 알았어?”
- “오늘은 인물의 마음을 짐작하고, 왜 그렇게 생각했는지 글에서 까닭을 찾는 방법을 배울 거야.”
예상 답
- “울고 있어서 슬픈 줄 알았어요.”
막히면
- 최근에 함께 읽은 책이나 본 만화의 한 장면을 떠올려 “그때 주인공은 어땠어?”라고 묻습니다.
주의
- 아이가 말한 까닭이 글이나 장면에 있는 것인지 들어 둡니다. S08에서 다시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확인(행동으로 마음 짐작)]
목적: 2학년 ‘인물의 마음’(KR22-G02-KOR-FEELING-L01)에서 배운, 행동으로 마음을 짐작하기를 할 수 있는지 확인합니다.
시간: 약 3분
이렇게 말해 보세요
- “①에서 동생은 어떤 마음일까? 무엇을 보고 알았어?”
- “②의 친구는 어떤 마음일까?”
정답
- ① 속상해요, 화가 나요(슬퍼요도 맞음). 단서: 발을 동동 구르며 울어요.
- ② 기뻐요, 뿌듯해요. 단서: 상장을 들고 활짝 웃어요.
막히면
- 부모가 그 행동을 직접 흉내 내어 보여 주고 “엄마(아빠) 지금 어떤 마음 같아?”라고 묻습니다.
- 행동으로 마음을 짐작하기 어려워하면 S13(보충)을 먼저 하고, 그래도 어려우면 2학년 ‘인물의 마음’(KR22-G02-KOR-FEELING-L01)을 다시 합니다.
주의
- 마음과 함께 ‘무엇을 보고 알았는지’를 말하는지 들어 봅니다. 오늘의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마음을 짐작하는 단서]
목적: 인물의 마음을 짐작하게 해 주는 세 가지 단서(말, 행동, 일어난 일)를 알려 줍니다.
시간: 약 3분
이렇게 말해 보세요
- “이야기에는 인물의 마음이 직접 쓰여 있지 않을 때가 많아. 그때는 단서를 찾아야 해.”
- “인물이 한 말, 하는 행동과 표정, 인물에게 생긴 일을 보면 마음을 짐작할 수 있어.”
예상 답
- “울고 있으면 행동 단서예요.”
막히면
- S02의 두 문장에서 단서가 무엇이었는지(행동) 다시 짚어 줍니다.
주의
- ‘단서’는 문맥으로 낱말 뜻을 짐작할 때도 쓴 말입니다. 같은 뜻이라고 연결해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마음을 나타내는 말]
목적: 인물의 마음을 자세히 나타내는 낱말을 익힙니다(오해 M2).
시간: 약 3분
이렇게 말해 보세요
- “이 낱말들을 같이 읽어 볼까? 위 줄은 어떤 마음이고, 아래 줄은 어떤 마음일까?”
- “‘설레다’는 언제 쓰는 말일까? 소풍 가기 전날 밤 같은 때야.”
예상 답
- “위는 좋은 마음, 아래는 힘든 마음이에요.”
막히면
- 낱말마다 그런 마음이 들었던 경험을 하나씩 말해 보게 합니다(예: “생일 선물을 받았을 때 기뻤어요.”).
주의
- 모든 낱말을 외우게 하지 않습니다. 이 장은 S07~S09에서 마음을 말할 때 다시 보여 주는 ‘낱말 창고’입니다.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읽기]
목적: 부모가 생각을 소리 내어 말하며 단서를 찾아 마음과 까닭을 말하는 과정을 보여 줍니다.
시간: 약 4분
이렇게 말해 보세요
- “엄마(아빠)가 먼저 생각해 볼게. 민호에게 무슨 일이 있지? 처음으로 이어달리기 대표로 뛰는 날이래.”
- “손에 땀이 나고, ‘넘어지면 어떡하지?’라고 중얼거렸어. 그러니까 민호는 손에 땀이 날 만큼 긴장한 것 같아.”
예상 답
- “떨려요.” “걱정돼요.”
정답
- 마음: 긴장되다, 걱정되다, 떨리다 (셋 다 맞음)
- 까닭: 운동화 끈을 몇 번이나 다시 묶음(행동), 처음으로 대표로 뛰는 날(일어난 일), 손에 땀이 남(행동), “넘어지면 어떡하지?”(말)
막히면
- “너도 처음 해 보는 일 앞에서 손에 땀이 난 적 있어? 그때 어떤 마음이었어?”라고 묻습니다.
주의
- 이 장은 시범입니다. 부모가 생각하는 과정을 들려준 뒤 아이에게 같은 단서를 짚어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마음과 까닭 말하는 방법]
목적: 방금 시범에서 한 일을 순서로 정리하고, 까닭을 말하는 틀을 알려 줍니다(목표 B).
시간: 약 3분
이렇게 말해 보세요
- “방금 민호 이야기에서 엄마(아빠)가 한 순서야. 하나씩 읽어 볼래?”
- “4번처럼 말하면 마음과 까닭을 한 번에 말할 수 있어. 민호로 한번 말해 볼래?”
예상 답
- “‘넘어지면 어떡하지?’ 하고 중얼거려서 걱정한 것 같아요.”
막히면
- 부모가 “○○해서”까지 말해 주고, 아이가 “○○한 것 같아요”를 채우게 합니다.
주의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함께 찾기]
목적: 말, 행동, 일어난 일의 단서를 함께 찾아 마음과 까닭을 말해 봅니다(목표 A·B).
시간: 약 4분
이렇게 말해 보세요
- “이번에는 같이 해 보자. 수아에게 무슨 일이 생겼어?”
- “수아가 한 말과 행동에 밑줄을 그어 볼까? 그럼 수아는 어떤 마음일까? S04의 낱말 가운데 골라 봐.”
정답
- 마음: 화나다, 속상하다 (실망하다도 맞음)
- 까닭: 열심히 만든 카드에 동생이 주스를 쏟음(일어난 일), 얼굴이 빨개짐(행동·표정), “내가 얼마나 열심히 만들었는데!”라고 소리침(말)
막히면
- “네가 열심히 만든 그림에 누가 물을 쏟으면 어떨 것 같아?”라고 묻고, 다시 글의 문장으로 돌아가게 합니다.
주의
- ‘화나다’와 ‘속상하다’는 둘 다 맞습니다. 글 속 단서와 이어서 말하면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비교(글 속 까닭과 내 생각)]
목적: 까닭은 글 속의 말·행동·일어난 일에서 찾아야 한다는 것을 비교로 확인합니다(오해 M1).
시간: 약 3분
이렇게 말해 보세요
- “두 친구의 까닭을 읽어 볼래? 어느 친구의 까닭이 민호 이야기에 쓰여 있어?”
- “‘나라면 신났을 테니까요’는 글에 있는 말이야, 친구 생각이야?”
정답
- 가. 글에 있는 행동(손에 땀이 났다)을 까닭으로 들었습니다.
- 나는 글이 아니라 자기 생각을 까닭으로 들었고, 글의 단서(손에 땀, “넘어지면 어떡하지?”)와도 맞지 않습니다.
막히면
- S05의 민호 이야기를 다시 보여 주고 ‘손에 땀이 났습니다’를 찾아 짚게 합니다.
주의
- 내 경험을 떠올리는 것은 좋은 일이지만, 까닭은 글에서 찾아야 한다고 구별해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짐작하기]
목적: 도움 없이 인물의 마음과 그 까닭을 글에서 찾아 말하는지 확인합니다(목표 A·B).
시간: 약 5분
이렇게 말해 보세요
- “이번에는 혼자 해 볼래? 활동지 3에 같은 글이 있으니 밑줄을 그어도 돼.”
- “S06의 틀처럼 ‘~해서 ~한 것 같아요.’로 말해 줘.”
정답
- 마음: 기쁘다, 반갑다, 안심되다 (하나 이상이면 맞음)
- 까닭: 사흘 동안 보이지 않던 보리가 돌아옴(일어난 일), 맨발로 뛰어나감, 보리를 꼭 껴안음(행동)
- 더 나아가기: 앞부분에서는 밤마다 창밖을 내다볼 만큼 걱정되는 마음이었습니다.
막히면
- “준서는 왜 맨발로 뛰어나갔을까?”라고 행동 단서부터 묻습니다.
- 도움을 받아 찾았다면 기록표에 ‘도움’으로 표시합니다.
주의
- ‘걱정돼요’라고 하면 틀렸다고 하지 말고 “그건 언제의 마음이야? 마지막 장면에서는?”이라고 묻습니다(오해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확인하고 흔한 실수와 비교합니다.
시간: 약 2분
이렇게 말해 보세요
- “네가 말한 마음과 까닭은 왼쪽과 비슷해?”
- “준서의 마음은 처음과 마지막이 같았을까, 달랐을까?”
예상 답
- “처음에는 걱정했는데, 마지막에는 기뻐요.”
정답
- 마지막 장면: 기쁘다·반갑다·안심되다. 까닭: 보리가 돌아오자 맨발로 뛰어나가 꼭 껴안음.
막히면
- 글의 첫 두 문장과 마지막 문장을 번갈아 읽어 마음이 어떻게 달라졌는지 비교합니다.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처음 보는 장면에서 마음의 까닭을 글 속 행동·말에서 고르는지 확인합니다(목표 B).
시간: 약 3분
이렇게 말해 보세요
- “지호가 기뻐했다는 것을 글의 어느 부분에서 알 수 있어?”
- “나와 다는 왜 까닭이 될 수 없을까?”
정답
- 가. 글에 있는 말(“와!”)과 행동(펄쩍 뛰었다)입니다.
- 나는 글에 없는 내 생각, 다는 마음과 상관없는 내용입니다.
막히면
- S08의 두 친구 비교를 다시 보여 줍니다.
주의
- 답만 고르고 나머지가 왜 아닌지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“인물의 마음을 짐작하는 방법을 한 문장으로 말해 볼래?”
예상 답
- “말이랑 행동을 보고 마음을 짐작하고, 까닭은 글에서 찾아요.”
정답
- ① 말, 행동(표정), 일어난 일 ② 예: 기쁘다, 속상하다(마음을 나타내는 말이면 맞음) ③ “~해서 ~한 것 같아요.”
막히면
- S03과 S06을 다시 보여 줍니다.
주의
- 잠자리에서 책을 읽어 줄 때 “지금 주인공은 어떤 마음일까? 왜?”라고 한 번씩 물어보면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보충(표정·몸짓으로 마음 알기)]
목적: 글이 아닌 실제 표정과 몸짓으로 마음을 짐작하고 까닭을 말하는 경험을 먼저 합니다.
시간: 약 4분
이렇게 말해 보세요
- “엄마(아빠)가 표정을 지어 볼게. 어떤 마음 같아? 왜 그렇게 생각했어?”
- “이번에는 네가 표정을 지어 봐. 엄마(아빠)가 맞혀 볼게.”
정답
- 예: “입꼬리가 올라가 있어서 기쁜 것 같아요.” (마음과 그렇게 본 까닭을 함께 말하면 맞음)
막히면
- 네 가지 낱말 카드 가운데 하나를 고르게 하고, 부모의 표정에서 단서를 함께 찾습니다.
- 보충으로도 어렵다면 2학년 ‘인물의 마음’(KR22-G02-KOR-FEELING-L01)을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문학과매체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인물의 마음과 까닭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인물의 마음과 까닭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인물의 마음과 까닭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마음과 까닭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 속 인물은 어떤 마음일까?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인물의 마음을 짐작할 수 있어요.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그렇게 생각한 까닭을 글에서 찾아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마음일까요?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행동을 보고 마음을 말해 보세요.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동생이 발을 동동 구르며 울어요.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상장을 들고 활짝 웃어요.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알려 주는 단서</a:t>
            </a:r>
            <a:endParaRPr lang="ko-KR" sz="40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찾으면 인물의 마음을 짐작할 수 있어요.</a:t>
            </a:r>
            <a:endParaRPr lang="ko-KR" sz="3000" dirty="0"/>
          </a:p>
        </p:txBody>
      </p:sp>
      <p:sp>
        <p:nvSpPr>
          <p:cNvPr id="5" name="S03-card1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한 말</a:t>
            </a:r>
            <a:endParaRPr lang="ko-KR" sz="3000" dirty="0"/>
          </a:p>
        </p:txBody>
      </p:sp>
      <p:sp>
        <p:nvSpPr>
          <p:cNvPr id="7" name="S03-card1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하는 일, 표정</a:t>
            </a:r>
            <a:endParaRPr lang="ko-KR" sz="3000" dirty="0"/>
          </a:p>
        </p:txBody>
      </p:sp>
      <p:sp>
        <p:nvSpPr>
          <p:cNvPr id="9" name="S03-card1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일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인물에게 생긴 일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나타내는 말</a:t>
            </a:r>
            <a:endParaRPr lang="ko-KR" sz="40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‘좋다’, ‘싫다’보다 자세히 말해 봐요.</a:t>
            </a:r>
            <a:endParaRPr lang="ko-KR" sz="3000" dirty="0"/>
          </a:p>
        </p:txBody>
      </p:sp>
      <p:sp>
        <p:nvSpPr>
          <p:cNvPr id="4" name="S04-word17"/>
          <p:cNvSpPr txBox="1"/>
          <p:nvPr/>
        </p:nvSpPr>
        <p:spPr>
          <a:xfrm>
            <a:off x="548640" y="22402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기쁘다</a:t>
            </a:r>
            <a:endParaRPr lang="ko-KR" sz="3400" dirty="0"/>
          </a:p>
        </p:txBody>
      </p:sp>
      <p:sp>
        <p:nvSpPr>
          <p:cNvPr id="5" name="S04-word18"/>
          <p:cNvSpPr txBox="1"/>
          <p:nvPr/>
        </p:nvSpPr>
        <p:spPr>
          <a:xfrm>
            <a:off x="3390138" y="22402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설레다</a:t>
            </a:r>
            <a:endParaRPr lang="ko-KR" sz="3400" dirty="0"/>
          </a:p>
        </p:txBody>
      </p:sp>
      <p:sp>
        <p:nvSpPr>
          <p:cNvPr id="6" name="S04-word19"/>
          <p:cNvSpPr txBox="1"/>
          <p:nvPr/>
        </p:nvSpPr>
        <p:spPr>
          <a:xfrm>
            <a:off x="6231636" y="22402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뿌듯하다</a:t>
            </a:r>
            <a:endParaRPr lang="ko-KR" sz="3400" dirty="0"/>
          </a:p>
        </p:txBody>
      </p:sp>
      <p:sp>
        <p:nvSpPr>
          <p:cNvPr id="7" name="S04-word20"/>
          <p:cNvSpPr txBox="1"/>
          <p:nvPr/>
        </p:nvSpPr>
        <p:spPr>
          <a:xfrm>
            <a:off x="9073134" y="22402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반갑다</a:t>
            </a:r>
            <a:endParaRPr lang="ko-KR" sz="3400" dirty="0"/>
          </a:p>
        </p:txBody>
      </p:sp>
      <p:sp>
        <p:nvSpPr>
          <p:cNvPr id="8" name="S04-word21"/>
          <p:cNvSpPr txBox="1"/>
          <p:nvPr/>
        </p:nvSpPr>
        <p:spPr>
          <a:xfrm>
            <a:off x="548640" y="425196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걱정되다</a:t>
            </a:r>
            <a:endParaRPr lang="ko-KR" sz="3400" dirty="0"/>
          </a:p>
        </p:txBody>
      </p:sp>
      <p:sp>
        <p:nvSpPr>
          <p:cNvPr id="9" name="S04-word22"/>
          <p:cNvSpPr txBox="1"/>
          <p:nvPr/>
        </p:nvSpPr>
        <p:spPr>
          <a:xfrm>
            <a:off x="3390138" y="425196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긴장되다</a:t>
            </a:r>
            <a:endParaRPr lang="ko-KR" sz="3400" dirty="0"/>
          </a:p>
        </p:txBody>
      </p:sp>
      <p:sp>
        <p:nvSpPr>
          <p:cNvPr id="10" name="S04-word23"/>
          <p:cNvSpPr txBox="1"/>
          <p:nvPr/>
        </p:nvSpPr>
        <p:spPr>
          <a:xfrm>
            <a:off x="6231636" y="425196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속상하다</a:t>
            </a:r>
            <a:endParaRPr lang="ko-KR" sz="3400" dirty="0"/>
          </a:p>
        </p:txBody>
      </p:sp>
      <p:sp>
        <p:nvSpPr>
          <p:cNvPr id="11" name="S04-word24"/>
          <p:cNvSpPr txBox="1"/>
          <p:nvPr/>
        </p:nvSpPr>
        <p:spPr>
          <a:xfrm>
            <a:off x="9073134" y="425196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화나다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 이야기 읽기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민호는 어떤 마음일까요? 어느 문장에서 알 수 있나요?</a:t>
            </a:r>
            <a:endParaRPr lang="ko-KR" sz="3000" dirty="0"/>
          </a:p>
        </p:txBody>
      </p:sp>
      <p:sp>
        <p:nvSpPr>
          <p:cNvPr id="5" name="S05-passagebox2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민호는 아침부터 운동화 끈을 몇 번이나 다시 묶었습니다. 오늘은 처음으로 이어달리기 대표로 뛰는 날입니다. 출발선에 서자 민호의 손에 땀이 났습니다. 민호는 “넘어지면 어떡하지?” 하고 중얼거렸습니다.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마음과 까닭 말하는 방법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손에 땀이 나서 긴장한 것 같아요.</a:t>
            </a:r>
            <a:endParaRPr lang="ko-KR" sz="3000" dirty="0"/>
          </a:p>
        </p:txBody>
      </p:sp>
      <p:sp>
        <p:nvSpPr>
          <p:cNvPr id="5" name="S06-stepno31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6-text32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인물에게 무슨 일이 있었는지 봐요.</a:t>
            </a:r>
            <a:endParaRPr lang="ko-KR" sz="3000" dirty="0"/>
          </a:p>
        </p:txBody>
      </p:sp>
      <p:sp>
        <p:nvSpPr>
          <p:cNvPr id="7" name="S06-stepno33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6-text34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말과 행동에 밑줄을 그어요.</a:t>
            </a:r>
            <a:endParaRPr lang="ko-KR" sz="3000" dirty="0"/>
          </a:p>
        </p:txBody>
      </p:sp>
      <p:sp>
        <p:nvSpPr>
          <p:cNvPr id="9" name="S06-stepno35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6-text36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마음을 나타내는 말을 골라요.</a:t>
            </a:r>
            <a:endParaRPr lang="ko-KR" sz="3000" dirty="0"/>
          </a:p>
        </p:txBody>
      </p:sp>
      <p:sp>
        <p:nvSpPr>
          <p:cNvPr id="11" name="S06-stepno37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6-text38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“~해서 ~한 것 같아요.”로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 이야기 읽기</a:t>
            </a:r>
            <a:endParaRPr lang="ko-KR" sz="4000" dirty="0"/>
          </a:p>
        </p:txBody>
      </p:sp>
      <p:sp>
        <p:nvSpPr>
          <p:cNvPr id="3" name="S07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수아는 어떤 마음일까요? 그렇게 생각한 까닭은요?</a:t>
            </a:r>
            <a:endParaRPr lang="ko-KR" sz="3000" dirty="0"/>
          </a:p>
        </p:txBody>
      </p:sp>
      <p:sp>
        <p:nvSpPr>
          <p:cNvPr id="5" name="S07-passagebox4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7-passage4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수아는 엄마 생일에 드릴 카드를 열심히 만들었습니다. 그런데 동생이 카드에 주스를 쏟고 말았습니다. 수아는 젖은 카드를 들고 얼굴이 빨개졌습니다. “내가 얼마나 열심히 만들었는데!” 수아가 소리쳤습니다.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까닭이 알맞을까?</a:t>
            </a:r>
            <a:endParaRPr lang="ko-KR" sz="4000" dirty="0"/>
          </a:p>
        </p:txBody>
      </p:sp>
      <p:sp>
        <p:nvSpPr>
          <p:cNvPr id="3" name="S08-card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민호의 마음을 두 친구가 이렇게 말했어요.</a:t>
            </a:r>
            <a:endParaRPr lang="ko-KR" sz="3000" dirty="0"/>
          </a:p>
        </p:txBody>
      </p:sp>
      <p:sp>
        <p:nvSpPr>
          <p:cNvPr id="5" name="S08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친구가 글에서 까닭을 찾았나요?</a:t>
            </a:r>
            <a:endParaRPr lang="ko-KR" sz="3000" dirty="0"/>
          </a:p>
        </p:txBody>
      </p:sp>
      <p:sp>
        <p:nvSpPr>
          <p:cNvPr id="7" name="S08-chip4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4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민호는 떨렸을 거예요.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땀이 났으니까요.</a:t>
            </a:r>
            <a:endParaRPr lang="ko-KR" sz="3000" dirty="0"/>
          </a:p>
        </p:txBody>
      </p:sp>
      <p:sp>
        <p:nvSpPr>
          <p:cNvPr id="9" name="S08-chip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5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민호는 신났을 거예요.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신났을 테니까요.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 준서는 어떤 마음일까요? 까닭도 말해 보세요.</a:t>
            </a:r>
            <a:endParaRPr lang="ko-KR" sz="3000" dirty="0"/>
          </a:p>
        </p:txBody>
      </p:sp>
      <p:sp>
        <p:nvSpPr>
          <p:cNvPr id="5" name="S09-passagebox5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준서네 강아지 보리가 사흘째 보이지 않았습니다. 준서는 밤마다 창밖을 내다보았습니다. 그런데 오늘 아침, 대문 앞에서 낑낑대는 소리가 들렸습니다. 준서는 맨발로 뛰어나가 보리를 꼭 껴안았습니다.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0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마음은 바뀔 수 있어요. 마지막 장면의 말과 행동을 봐요.</a:t>
            </a:r>
            <a:endParaRPr lang="ko-KR" sz="3000" dirty="0"/>
          </a:p>
        </p:txBody>
      </p:sp>
      <p:sp>
        <p:nvSpPr>
          <p:cNvPr id="5" name="S10-chip5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0-text58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반가워요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(기뻐요)</a:t>
            </a:r>
            <a:endParaRPr lang="ko-KR" sz="3000" dirty="0"/>
          </a:p>
        </p:txBody>
      </p:sp>
      <p:sp>
        <p:nvSpPr>
          <p:cNvPr id="7" name="S10-text59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맨발로 뛰어나가 꼭 껴안았어요</a:t>
            </a:r>
            <a:endParaRPr lang="ko-KR" sz="2400" dirty="0"/>
          </a:p>
        </p:txBody>
      </p:sp>
      <p:sp>
        <p:nvSpPr>
          <p:cNvPr id="8" name="S10-chip6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9" name="S10-text6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걱정돼요</a:t>
            </a:r>
            <a:endParaRPr lang="ko-KR" sz="3000" dirty="0"/>
          </a:p>
        </p:txBody>
      </p:sp>
      <p:sp>
        <p:nvSpPr>
          <p:cNvPr id="10" name="S10-text6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앞부분의 마음이에요</a:t>
            </a:r>
            <a:endParaRPr lang="ko-KR" sz="2400" dirty="0"/>
          </a:p>
        </p:txBody>
      </p:sp>
      <p:sp>
        <p:nvSpPr>
          <p:cNvPr id="11" name="S10-text6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강아지가 귀여워서요</a:t>
            </a:r>
            <a:endParaRPr lang="ko-KR" sz="3000" dirty="0"/>
          </a:p>
        </p:txBody>
      </p:sp>
      <p:sp>
        <p:nvSpPr>
          <p:cNvPr id="12" name="S10-text6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글에 없는 까닭이에요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까닭으로 알맞은 것은?</a:t>
            </a:r>
            <a:endParaRPr lang="ko-KR" sz="4000" dirty="0"/>
          </a:p>
        </p:txBody>
      </p:sp>
      <p:sp>
        <p:nvSpPr>
          <p:cNvPr id="3" name="S11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지호는 상자를 열자마자 “와!” 하고 소리치며 펄쩍 뛰었습니다.</a:t>
            </a:r>
            <a:endParaRPr lang="ko-KR" sz="3000" dirty="0"/>
          </a:p>
        </p:txBody>
      </p:sp>
      <p:sp>
        <p:nvSpPr>
          <p:cNvPr id="4" name="S11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지호가 기뻐했다고 생각한 까닭으로 알맞은 것을 고르세요.</a:t>
            </a:r>
            <a:endParaRPr lang="ko-KR" sz="3000" dirty="0"/>
          </a:p>
        </p:txBody>
      </p:sp>
      <p:sp>
        <p:nvSpPr>
          <p:cNvPr id="6" name="S11-chip6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1-card6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7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“와!” 하고 소리치며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펄쩍 뛰었어요.</a:t>
            </a:r>
            <a:endParaRPr lang="ko-KR" sz="3000" dirty="0"/>
          </a:p>
        </p:txBody>
      </p:sp>
      <p:sp>
        <p:nvSpPr>
          <p:cNvPr id="9" name="S11-chip7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1-card7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7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선물을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좋아해요.</a:t>
            </a:r>
            <a:endParaRPr lang="ko-KR" sz="3000" dirty="0"/>
          </a:p>
        </p:txBody>
      </p:sp>
      <p:sp>
        <p:nvSpPr>
          <p:cNvPr id="12" name="S11-chip7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1-card7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7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상자는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네모 모양이에요.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7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7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인물의 말·행동·일어난 일을 단서로 마음을 짐작하고,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까닭을 글에서 찾아 말해요.</a:t>
            </a:r>
            <a:endParaRPr lang="ko-KR" sz="3000" dirty="0"/>
          </a:p>
        </p:txBody>
      </p:sp>
      <p:sp>
        <p:nvSpPr>
          <p:cNvPr id="5" name="S12-chip7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글에서 까닭 찾기</a:t>
            </a:r>
            <a:endParaRPr lang="ko-KR" sz="2400" dirty="0"/>
          </a:p>
        </p:txBody>
      </p:sp>
      <p:sp>
        <p:nvSpPr>
          <p:cNvPr id="6" name="S12-chip8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내 생각만으로 까닭 대기</a:t>
            </a:r>
            <a:endParaRPr lang="ko-KR" sz="2400" dirty="0"/>
          </a:p>
        </p:txBody>
      </p:sp>
      <p:sp>
        <p:nvSpPr>
          <p:cNvPr id="7" name="S12-text8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8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마음을 알려 주는 단서</a:t>
            </a:r>
            <a:endParaRPr lang="ko-KR" sz="2400" dirty="0"/>
          </a:p>
        </p:txBody>
      </p:sp>
      <p:sp>
        <p:nvSpPr>
          <p:cNvPr id="9" name="S12-text8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마음을 나타내는 말</a:t>
            </a:r>
            <a:endParaRPr lang="ko-KR" sz="2400" dirty="0"/>
          </a:p>
        </p:txBody>
      </p:sp>
      <p:sp>
        <p:nvSpPr>
          <p:cNvPr id="10" name="S12-text8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까닭을 말하는 틀</a:t>
            </a:r>
            <a:endParaRPr lang="ko-KR" sz="2400" dirty="0"/>
          </a:p>
        </p:txBody>
      </p:sp>
      <p:sp>
        <p:nvSpPr>
          <p:cNvPr id="11" name="S12-text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감각적 표현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표정으로 마음 알기</a:t>
            </a:r>
            <a:endParaRPr lang="ko-KR" sz="4000" dirty="0"/>
          </a:p>
        </p:txBody>
      </p:sp>
      <p:sp>
        <p:nvSpPr>
          <p:cNvPr id="3" name="S13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표정과 몸짓을 보고 마음을 말해 보세요.</a:t>
            </a:r>
            <a:endParaRPr lang="ko-KR" sz="3000" dirty="0"/>
          </a:p>
        </p:txBody>
      </p:sp>
      <p:sp>
        <p:nvSpPr>
          <p:cNvPr id="4" name="S13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“웃고 있어서 기쁜 것 같아요.”처럼 까닭도 말해요.</a:t>
            </a:r>
            <a:endParaRPr lang="ko-KR" sz="3000" dirty="0"/>
          </a:p>
        </p:txBody>
      </p:sp>
      <p:sp>
        <p:nvSpPr>
          <p:cNvPr id="6" name="S13-word89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400" dirty="0"/>
          </a:p>
        </p:txBody>
      </p:sp>
      <p:sp>
        <p:nvSpPr>
          <p:cNvPr id="7" name="S13-word90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슬퍼요</a:t>
            </a:r>
            <a:endParaRPr lang="ko-KR" sz="3400" dirty="0"/>
          </a:p>
        </p:txBody>
      </p:sp>
      <p:sp>
        <p:nvSpPr>
          <p:cNvPr id="8" name="S13-word91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400" dirty="0"/>
          </a:p>
        </p:txBody>
      </p:sp>
      <p:sp>
        <p:nvSpPr>
          <p:cNvPr id="9" name="S13-word92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무서워요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인물의 마음과 까닭</dc:title>
  <dc:subject>KR22-G03-KOR-CHARACTER-L01</dc:subject>
  <dc:creator>education-ppt</dc:creator>
  <cp:lastModifiedBy>education-ppt</cp:lastModifiedBy>
  <cp:revision>1</cp:revision>
  <dcterms:created xsi:type="dcterms:W3CDTF">2026-10-26T06:36:12Z</dcterms:created>
  <dcterms:modified xsi:type="dcterms:W3CDTF">2026-10-26T06:36:12Z</dcterms:modified>
</cp:coreProperties>
</file>