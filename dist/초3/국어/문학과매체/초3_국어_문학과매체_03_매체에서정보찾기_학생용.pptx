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49c268f-8c4d-9c9a-ab16-e7e9490c9654}">
          <p14:sldIdLst>
            <p14:sldId id="256"/>
            <p14:sldId id="257"/>
          </p14:sldIdLst>
        </p14:section>
        <p14:section name="개념" id="{914e0cd1-2f8f-bd00-ac72-69ccaccc208b}">
          <p14:sldIdLst>
            <p14:sldId id="258"/>
            <p14:sldId id="259"/>
            <p14:sldId id="260"/>
          </p14:sldIdLst>
        </p14:section>
        <p14:section name="연습" id="{25ff6a60-e649-6588-e085-dee09edab866}">
          <p14:sldIdLst>
            <p14:sldId id="261"/>
            <p14:sldId id="262"/>
            <p14:sldId id="263"/>
            <p14:sldId id="264"/>
            <p14:sldId id="265"/>
          </p14:sldIdLst>
        </p14:section>
        <p14:section name="확인" id="{6e87c40d-8d39-95a2-e632-e9de4197c4ff}">
          <p14:sldIdLst>
            <p14:sldId id="266"/>
            <p14:sldId id="267"/>
          </p14:sldIdLst>
        </p14:section>
        <p14:section name="정리" id="{5c6c4afb-149f-8fb6-775a-5a4eefbc8040}">
          <p14:sldIdLst>
            <p14:sldId id="268"/>
          </p14:sldIdLst>
        </p14:section>
        <p14:section name="보충" id="{f1e1db2d-2711-5e61-5392-d9d70a8ec7d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문학과매체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매체에서 정보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매체에서 정보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국어 · 매체에서 정보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매체에서 정보 찾기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것을 누리집이나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영상에서 어떻게 찾을까?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누리집에서 필요한 정보를 찾을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안내 영상에서 필요한 장면을 찾을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안내문을 읽어 볼까요?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무엇을 고치나요?  ② 언제부터 언제까지인가요?</a:t>
            </a:r>
            <a:endParaRPr lang="ko-KR" sz="30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 공사 안내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아파트 놀이터의 미끄럼틀을 새로 고칩니다. 공사 기간은 5월 3일부터 5월 10일까지입니다. 이 기간에는 놀이터에 들어갈 수 없습니다.</a:t>
            </a:r>
            <a:endParaRPr lang="ko-KR" sz="3200" dirty="0"/>
          </a:p>
          <a:p>
            <a:pPr eaLnBrk="0" algn="r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관리사무소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누리집 첫 화면 살펴보기</a:t>
            </a:r>
            <a:endParaRPr lang="ko-KR" sz="40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‘별빛마을 어린이도서관’ 누리집의 첫 화면이에요.</a:t>
            </a:r>
            <a:endParaRPr lang="ko-KR" sz="3000" dirty="0"/>
          </a:p>
        </p:txBody>
      </p:sp>
      <p:sp>
        <p:nvSpPr>
          <p:cNvPr id="4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메뉴는 책의 차례처럼 내용을 나누어 놓은 곳이에요.</a:t>
            </a:r>
            <a:endParaRPr lang="ko-KR" sz="3000" dirty="0"/>
          </a:p>
        </p:txBody>
      </p:sp>
      <p:graphicFrame>
        <p:nvGraphicFramePr>
          <p:cNvPr id="4" name="S03-table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245360"/>
          <a:ext cx="10058400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7845552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보이는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도서관 소개 · 이용 안내 · 행사 안내 · 책 찾기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검색창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 이름을 넣어 찾는 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알림판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그림책 읽어 주기 행사 (10월 5일 올림)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알림판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새로 들어온 책 소개 (9월 28일 올림)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도서관은 언제 쉴까?</a:t>
            </a:r>
            <a:endParaRPr lang="ko-KR" sz="4000" dirty="0"/>
          </a:p>
        </p:txBody>
      </p:sp>
      <p:sp>
        <p:nvSpPr>
          <p:cNvPr id="3" name="S04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‘이용 안내’를 눌렀더니 이런 화면이 나왔어요.</a:t>
            </a:r>
            <a:endParaRPr lang="ko-KR" sz="3000" dirty="0"/>
          </a:p>
        </p:txBody>
      </p:sp>
      <p:sp>
        <p:nvSpPr>
          <p:cNvPr id="4" name="S04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것: 도서관은 무슨 요일에 쉬나요?</a:t>
            </a:r>
            <a:endParaRPr lang="ko-KR" sz="3000" dirty="0"/>
          </a:p>
        </p:txBody>
      </p:sp>
      <p:graphicFrame>
        <p:nvGraphicFramePr>
          <p:cNvPr id="5" name="S04-table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712720"/>
          <a:ext cx="100584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754380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여는 시간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화요일~일요일 오전 9시~오후 6시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쉬는 날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월요일, 설날·추석 당일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 빌리기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사람 5권까지, 14일 동안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정보 찾는 순서</a:t>
            </a:r>
            <a:endParaRPr lang="ko-KR" sz="4000" dirty="0"/>
          </a:p>
        </p:txBody>
      </p:sp>
      <p:sp>
        <p:nvSpPr>
          <p:cNvPr id="3" name="S05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쉬는 날? → ‘이용 안내’ → “월요일에 쉬어요.”</a:t>
            </a:r>
            <a:endParaRPr lang="ko-KR" sz="3000" dirty="0"/>
          </a:p>
        </p:txBody>
      </p:sp>
      <p:sp>
        <p:nvSpPr>
          <p:cNvPr id="5" name="S05-stepno17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5-text18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 싶은 것을 질문으로 정해요.</a:t>
            </a:r>
            <a:endParaRPr lang="ko-KR" sz="3000" dirty="0"/>
          </a:p>
        </p:txBody>
      </p:sp>
      <p:sp>
        <p:nvSpPr>
          <p:cNvPr id="7" name="S05-stepno19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5-text20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메뉴나 제목에서 찾을 곳을 골라요.</a:t>
            </a:r>
            <a:endParaRPr lang="ko-KR" sz="3000" dirty="0"/>
          </a:p>
        </p:txBody>
      </p:sp>
      <p:sp>
        <p:nvSpPr>
          <p:cNvPr id="9" name="S05-stepno21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5-text22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부분만 골라 읽어요.</a:t>
            </a:r>
            <a:endParaRPr lang="ko-KR" sz="3000" dirty="0"/>
          </a:p>
        </p:txBody>
      </p:sp>
      <p:sp>
        <p:nvSpPr>
          <p:cNvPr id="11" name="S05-stepno23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5-text24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정보를 질문에 맞게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메뉴를 누를까요?</a:t>
            </a:r>
            <a:endParaRPr lang="ko-KR" sz="4000" dirty="0"/>
          </a:p>
        </p:txBody>
      </p:sp>
      <p:sp>
        <p:nvSpPr>
          <p:cNvPr id="3" name="S06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도서관에 공룡 책이 있는지 알고 싶어요.</a:t>
            </a:r>
            <a:endParaRPr lang="ko-KR" sz="3000" dirty="0"/>
          </a:p>
        </p:txBody>
      </p:sp>
      <p:sp>
        <p:nvSpPr>
          <p:cNvPr id="4" name="S06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까닭도 말해 보세요.</a:t>
            </a:r>
            <a:endParaRPr lang="ko-KR" sz="3000" dirty="0"/>
          </a:p>
        </p:txBody>
      </p:sp>
      <p:sp>
        <p:nvSpPr>
          <p:cNvPr id="6" name="S06-chip28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6-card29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30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 소개</a:t>
            </a:r>
            <a:endParaRPr lang="ko-KR" sz="3000" dirty="0"/>
          </a:p>
        </p:txBody>
      </p:sp>
      <p:sp>
        <p:nvSpPr>
          <p:cNvPr id="9" name="S06-chip31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06-card32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33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 안내</a:t>
            </a:r>
            <a:endParaRPr lang="ko-KR" sz="3000" dirty="0"/>
          </a:p>
        </p:txBody>
      </p:sp>
      <p:sp>
        <p:nvSpPr>
          <p:cNvPr id="12" name="S06-chip34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06-card35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6-cardtext36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행사 안내</a:t>
            </a:r>
            <a:endParaRPr lang="ko-KR" sz="3000" dirty="0"/>
          </a:p>
        </p:txBody>
      </p:sp>
      <p:sp>
        <p:nvSpPr>
          <p:cNvPr id="15" name="S06-chip37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6" name="S06-card38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6-cardtext39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찾기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행사 안내 함께 읽기</a:t>
            </a:r>
            <a:endParaRPr lang="ko-KR" sz="4000" dirty="0"/>
          </a:p>
        </p:txBody>
      </p:sp>
      <p:sp>
        <p:nvSpPr>
          <p:cNvPr id="3" name="S07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‘행사 안내’에서 그림책 행사 글을 눌렀어요.</a:t>
            </a:r>
            <a:endParaRPr lang="ko-KR" sz="3000" dirty="0"/>
          </a:p>
        </p:txBody>
      </p:sp>
      <p:sp>
        <p:nvSpPr>
          <p:cNvPr id="4" name="S07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어디에서 하나요?  ② 언제까지 신청하나요?</a:t>
            </a:r>
            <a:endParaRPr lang="ko-KR" sz="3000" dirty="0"/>
          </a:p>
        </p:txBody>
      </p:sp>
      <p:graphicFrame>
        <p:nvGraphicFramePr>
          <p:cNvPr id="8" name="S07-table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143760"/>
          <a:ext cx="9144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85800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행사 이름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그림책 읽어 주기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18일 토요일 오전 10시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도서관 2층 이야기방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7살~9살 어린이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누리집에서 10월 15일까지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맞게 찾았을까?</a:t>
            </a:r>
            <a:endParaRPr lang="ko-KR" sz="4000" dirty="0"/>
          </a:p>
        </p:txBody>
      </p:sp>
      <p:sp>
        <p:nvSpPr>
          <p:cNvPr id="3" name="S08-card4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“그림책 행사는 언제예요?” 두 친구의 답이에요.</a:t>
            </a:r>
            <a:endParaRPr lang="ko-KR" sz="3000" dirty="0"/>
          </a:p>
        </p:txBody>
      </p:sp>
      <p:sp>
        <p:nvSpPr>
          <p:cNvPr id="5" name="S08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맞게 찾았나요? 10월 5일은 무슨 날짜일까요?</a:t>
            </a:r>
            <a:endParaRPr lang="ko-KR" sz="3000" dirty="0"/>
          </a:p>
        </p:txBody>
      </p:sp>
      <p:sp>
        <p:nvSpPr>
          <p:cNvPr id="7" name="S08-chip4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8-text4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5일이에요.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알림판에서 봤어요.</a:t>
            </a:r>
            <a:endParaRPr lang="ko-KR" sz="3000" dirty="0"/>
          </a:p>
        </p:txBody>
      </p:sp>
      <p:sp>
        <p:nvSpPr>
          <p:cNvPr id="9" name="S08-chip5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8-text5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18일 토요일이에요.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행사 글에서 봤어요.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영상의 장면 차례</a:t>
            </a:r>
            <a:endParaRPr lang="ko-KR" sz="4000" dirty="0"/>
          </a:p>
        </p:txBody>
      </p:sp>
      <p:sp>
        <p:nvSpPr>
          <p:cNvPr id="3" name="S09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‘종이컵 전화기 만들기’ 영상의 장면 차례예요.</a:t>
            </a:r>
            <a:endParaRPr lang="ko-KR" sz="3000" dirty="0"/>
          </a:p>
        </p:txBody>
      </p:sp>
      <p:sp>
        <p:nvSpPr>
          <p:cNvPr id="4" name="S09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0:20은 0분 20초예요. 그 시간으로 옮기면 그 장면부터 봐요.</a:t>
            </a:r>
            <a:endParaRPr lang="ko-KR" sz="3000" dirty="0"/>
          </a:p>
        </p:txBody>
      </p:sp>
      <p:graphicFrame>
        <p:nvGraphicFramePr>
          <p:cNvPr id="10" name="S09-table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94076" y="2103120"/>
          <a:ext cx="6400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48056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0:20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 알아보기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1:00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만드는 순서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3:10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소리 들어 보기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4:00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정리하기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영상에서 장면 찾기</a:t>
            </a:r>
            <a:endParaRPr lang="ko-KR" sz="4000" dirty="0"/>
          </a:p>
        </p:txBody>
      </p:sp>
      <p:sp>
        <p:nvSpPr>
          <p:cNvPr id="3" name="S10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차례를 보고 답해 보세요.</a:t>
            </a:r>
            <a:endParaRPr lang="ko-KR" sz="3000" dirty="0"/>
          </a:p>
        </p:txBody>
      </p:sp>
      <p:graphicFrame>
        <p:nvGraphicFramePr>
          <p:cNvPr id="11" name="S10-table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1394" y="2651760"/>
          <a:ext cx="4754880" cy="914400"/>
        </p:xfrm>
        <a:graphic>
          <a:graphicData uri="http://schemas.openxmlformats.org/drawingml/2006/table">
            <a:tbl>
              <a:tblPr/>
              <a:tblGrid>
                <a:gridCol w="1521562"/>
                <a:gridCol w="3233318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0:20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 알아보기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1:00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만드는 순서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3:10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소리 들어 보기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4:00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정리하기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10-chip5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0-text59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순서는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분 몇 초부터?</a:t>
            </a:r>
            <a:endParaRPr lang="ko-KR" sz="3000" dirty="0"/>
          </a:p>
        </p:txBody>
      </p:sp>
      <p:sp>
        <p:nvSpPr>
          <p:cNvPr id="7" name="S10-chip6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0-text61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들어 보는 장면을 보려면?</a:t>
            </a:r>
            <a:endParaRPr lang="ko-KR" sz="3000" dirty="0"/>
          </a:p>
        </p:txBody>
      </p:sp>
      <p:sp>
        <p:nvSpPr>
          <p:cNvPr id="9" name="S10-chip6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10-text63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말이 있으면 어떻게 할까요?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‘초록공원’ 누리집의 행사 안내 글이에요.</a:t>
            </a:r>
            <a:endParaRPr lang="ko-KR" sz="3000" dirty="0"/>
          </a:p>
        </p:txBody>
      </p:sp>
      <p:graphicFrame>
        <p:nvGraphicFramePr>
          <p:cNvPr id="12" name="S11-table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8514" y="2895600"/>
          <a:ext cx="5120640" cy="914400"/>
        </p:xfrm>
        <a:graphic>
          <a:graphicData uri="http://schemas.openxmlformats.org/drawingml/2006/table">
            <a:tbl>
              <a:tblPr/>
              <a:tblGrid>
                <a:gridCol w="1843430"/>
                <a:gridCol w="327721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 나무 심기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4월 5일 토요일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오전 10시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모이는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공원 정문 앞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장갑, 물병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올린 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3월 20일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11-chip6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1-text67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모이나요?</a:t>
            </a:r>
            <a:endParaRPr lang="ko-KR" sz="3000" dirty="0"/>
          </a:p>
        </p:txBody>
      </p:sp>
      <p:sp>
        <p:nvSpPr>
          <p:cNvPr id="7" name="S11-chip6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1-text69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챙겨 가나요?</a:t>
            </a:r>
            <a:endParaRPr lang="ko-KR" sz="3000" dirty="0"/>
          </a:p>
        </p:txBody>
      </p:sp>
      <p:sp>
        <p:nvSpPr>
          <p:cNvPr id="9" name="S11-chip7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11-text71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행사는 몇 월 며칠인가요?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차례 보고 찾기</a:t>
            </a:r>
            <a:endParaRPr lang="ko-KR" sz="4000" dirty="0"/>
          </a:p>
        </p:txBody>
      </p:sp>
      <p:sp>
        <p:nvSpPr>
          <p:cNvPr id="3" name="S13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‘콩나물 기르기’ 영상의 장면 차례예요.</a:t>
            </a:r>
            <a:endParaRPr lang="ko-KR" sz="3000" dirty="0"/>
          </a:p>
        </p:txBody>
      </p:sp>
      <p:graphicFrame>
        <p:nvGraphicFramePr>
          <p:cNvPr id="13" name="S13-table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1394" y="2651760"/>
          <a:ext cx="4754880" cy="914400"/>
        </p:xfrm>
        <a:graphic>
          <a:graphicData uri="http://schemas.openxmlformats.org/drawingml/2006/table">
            <a:tbl>
              <a:tblPr/>
              <a:tblGrid>
                <a:gridCol w="1521562"/>
                <a:gridCol w="3233318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시작하기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0:15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0:50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콩 불리기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2:00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 주는 방법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3:30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 자란 콩나물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13-chip7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3-text7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주는 방법을 다시 보려면 어디로 갈까요?</a:t>
            </a:r>
            <a:endParaRPr lang="ko-KR" sz="3000" dirty="0"/>
          </a:p>
        </p:txBody>
      </p:sp>
      <p:sp>
        <p:nvSpPr>
          <p:cNvPr id="7" name="S13-chip7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3-text77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준비물은 몇 초부터 나오나요?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78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79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 싶은 것을 정하고, 메뉴나 장면 차례에서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찾을 곳을 골라 필요한 부분만 읽어요.</a:t>
            </a:r>
            <a:endParaRPr lang="ko-KR" sz="3000" dirty="0"/>
          </a:p>
        </p:txBody>
      </p:sp>
      <p:sp>
        <p:nvSpPr>
          <p:cNvPr id="5" name="S14-chip80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질문에 맞는 곳 골라 찾기</a:t>
            </a:r>
            <a:endParaRPr lang="ko-KR" sz="2400" dirty="0"/>
          </a:p>
        </p:txBody>
      </p:sp>
      <p:sp>
        <p:nvSpPr>
          <p:cNvPr id="6" name="S14-chip81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올린 날과 행사 날 헷갈리기</a:t>
            </a:r>
            <a:endParaRPr lang="ko-KR" sz="2400" dirty="0"/>
          </a:p>
        </p:txBody>
      </p:sp>
      <p:sp>
        <p:nvSpPr>
          <p:cNvPr id="7" name="S14-text82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83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정보 찾는 순서는?</a:t>
            </a:r>
            <a:endParaRPr lang="ko-KR" sz="2400" dirty="0"/>
          </a:p>
        </p:txBody>
      </p:sp>
      <p:sp>
        <p:nvSpPr>
          <p:cNvPr id="9" name="S14-text84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‘2:30’은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분 몇 초?</a:t>
            </a:r>
            <a:endParaRPr lang="ko-KR" sz="2400" dirty="0"/>
          </a:p>
        </p:txBody>
      </p:sp>
      <p:sp>
        <p:nvSpPr>
          <p:cNvPr id="10" name="S14-text85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‘올린 날’은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날짜?</a:t>
            </a:r>
            <a:endParaRPr lang="ko-KR" sz="2400" dirty="0"/>
          </a:p>
        </p:txBody>
      </p:sp>
      <p:sp>
        <p:nvSpPr>
          <p:cNvPr id="11" name="S14-text8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문단과 문단의 관계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무엇을 찾을까?</a:t>
            </a:r>
            <a:endParaRPr lang="ko-KR" sz="4000" dirty="0"/>
          </a:p>
        </p:txBody>
      </p:sp>
      <p:sp>
        <p:nvSpPr>
          <p:cNvPr id="3" name="S15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질문의 낱말을 보면 찾을 정보를 알 수 있어요.</a:t>
            </a:r>
            <a:endParaRPr lang="ko-KR" sz="3000" dirty="0"/>
          </a:p>
        </p:txBody>
      </p:sp>
      <p:sp>
        <p:nvSpPr>
          <p:cNvPr id="4" name="S15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있는 안내문에서 ‘언제’와 ‘어디서’를 찾아봐요.</a:t>
            </a:r>
            <a:endParaRPr lang="ko-KR" sz="3000" dirty="0"/>
          </a:p>
        </p:txBody>
      </p:sp>
      <p:sp>
        <p:nvSpPr>
          <p:cNvPr id="6" name="S15-word90"/>
          <p:cNvSpPr txBox="1"/>
          <p:nvPr/>
        </p:nvSpPr>
        <p:spPr>
          <a:xfrm>
            <a:off x="548640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날짜·시간</a:t>
            </a:r>
            <a:endParaRPr lang="ko-KR" sz="3400" dirty="0"/>
          </a:p>
        </p:txBody>
      </p:sp>
      <p:sp>
        <p:nvSpPr>
          <p:cNvPr id="7" name="S15-word91"/>
          <p:cNvSpPr txBox="1"/>
          <p:nvPr/>
        </p:nvSpPr>
        <p:spPr>
          <a:xfrm>
            <a:off x="3390138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</a:t>
            </a:r>
            <a:endParaRPr lang="ko-KR" sz="3400" dirty="0"/>
          </a:p>
        </p:txBody>
      </p:sp>
      <p:sp>
        <p:nvSpPr>
          <p:cNvPr id="8" name="S15-word92"/>
          <p:cNvSpPr txBox="1"/>
          <p:nvPr/>
        </p:nvSpPr>
        <p:spPr>
          <a:xfrm>
            <a:off x="6231636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일·준비물</a:t>
            </a:r>
            <a:endParaRPr lang="ko-KR" sz="3400" dirty="0"/>
          </a:p>
        </p:txBody>
      </p:sp>
      <p:sp>
        <p:nvSpPr>
          <p:cNvPr id="9" name="S15-word93"/>
          <p:cNvSpPr txBox="1"/>
          <p:nvPr/>
        </p:nvSpPr>
        <p:spPr>
          <a:xfrm>
            <a:off x="9073134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사람·대상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국어 매체에서 정보 찾기</dc:title>
  <dc:subject>KR22-G03-KOR-MEDIA-L01</dc:subject>
  <dc:creator>education-ppt</dc:creator>
  <cp:lastModifiedBy>education-ppt</cp:lastModifiedBy>
  <cp:revision>1</cp:revision>
  <dcterms:created xsi:type="dcterms:W3CDTF">2026-10-26T07:25:57Z</dcterms:created>
  <dcterms:modified xsi:type="dcterms:W3CDTF">2026-10-26T07:25:57Z</dcterms:modified>
</cp:coreProperties>
</file>