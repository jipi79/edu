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65e0d53-95c5-8893-d9e7-c46cfdf37566}">
          <p14:sldIdLst>
            <p14:sldId id="256"/>
            <p14:sldId id="257"/>
          </p14:sldIdLst>
        </p14:section>
        <p14:section name="개념" id="{f62679c0-46e8-de87-0f8c-6e73372082f2}">
          <p14:sldIdLst>
            <p14:sldId id="258"/>
            <p14:sldId id="259"/>
            <p14:sldId id="260"/>
          </p14:sldIdLst>
        </p14:section>
        <p14:section name="연습" id="{4a2e43c6-8c16-df16-1818-9421140c17f9}">
          <p14:sldIdLst>
            <p14:sldId id="261"/>
            <p14:sldId id="262"/>
            <p14:sldId id="263"/>
            <p14:sldId id="264"/>
            <p14:sldId id="265"/>
          </p14:sldIdLst>
        </p14:section>
        <p14:section name="확인" id="{22df7832-619a-6469-b4e6-7edb3d200b2a}">
          <p14:sldIdLst>
            <p14:sldId id="266"/>
            <p14:sldId id="267"/>
            <p14:sldId id="268"/>
          </p14:sldIdLst>
        </p14:section>
        <p14:section name="정리" id="{0cdf6cdb-cda8-ce01-89da-69cc0179c38d}">
          <p14:sldIdLst>
            <p14:sldId id="269"/>
          </p14:sldIdLst>
        </p14:section>
        <p14:section name="보충" id="{b6ed264a-79dd-8381-968f-9ba7899ae209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‘매체’라는 말을 알려 줍니다.
시간: 약 2분
이렇게 말해 보세요
- “궁금한 게 있을 때 어디에서 찾아봐? 책, 안내문, 인터넷, 영상… 이렇게 정보를 전해 주는 것을 ‘매체’라고 해.”
- “누리집은 인터넷에서 보는 안내 화면이야. 홈페이지라고도 해. 오늘은 누리집과 안내 영상에서 필요한 정보를 빨리 찾는 방법을 배울 거야.”
예상 답
- “인터넷에서 찾아요.” “엄마한테 물어봐요.”
막히면
- 집에서 함께 본 요리 영상이나 학교 알림장을 예로 들어 “거기에서 무엇을 알 수 있었어?”라고 묻습니다.
주의
- 오늘 화면의 도서관·공원·영상은 수업을 위해 지어낸 것입니다. 실제 누리집을 열지 않아도 수업을 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확인(안내문에서 정보 찾기)]
목적: 종이 안내문에서 ‘무엇을’, ‘언제’ 같은 필요한 정보를 찾을 수 있는지 확인합니다. 2학년 ‘글과 그림에서 정보 찾기’(KR22-G02-KOR-FINDINFO-L01)에서 다루는 힘입니다.
시간: 약 3분
이렇게 말해 보세요
- “안내문을 소리 내어 읽어 볼래? 그리고 ①, ②의 답을 찾아 손가락으로 짚어 봐.”
정답
- ① 놀이터의 미끄럼틀
- ② 5월 3일부터 5월 10일까지
막히면
- “‘언제’를 물으면 날짜를 찾으면 돼. 날짜가 쓰인 곳이 어디야?”라고 묻습니다.
- 답을 찾지 못하거나 글 전체를 다시 읽기만 하면 S15(보충)를 먼저 합니다.
주의
- 답을 글에서 짚어 말하는지 봅니다. 짐작으로 말하면 “어디에 쓰여 있어?”라고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누리집 첫 화면의 짜임]
목적: 누리집 첫 화면의 메뉴, 검색창, 알림판이 하는 일을 알려 줍니다(목표 A).
시간: 약 3분
이렇게 말해 보세요
- “누리집 맨 위에는 메뉴가 있어. 책의 차례처럼 내용을 나누어 둔 거야. 메뉴를 누르면 그 내용이 나와.”
- “검색창에는 찾고 싶은 낱말을 넣어. 알림판에는 새 소식의 제목과 글을 올린 날짜가 있어.”
- “행사 소식이 궁금하면 어느 메뉴를 누를까?”
예상 답
- “행사 안내요.”
막히면
- 집에 있는 책의 차례를 펼쳐 보여 주고 “여기서 ○○ 이야기는 몇 쪽에 있어?”라고 찾게 한 뒤 메뉴와 같다고 연결합니다.
주의
- 알림판 괄호 안의 날짜는 글을 올린 날입니다. S08에서 다시 다루므로 여기서는 ‘올림’이라는 말만 짚어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시범(메뉴 골라 정보 찾기)]
목적: 부모가 생각을 소리 내어 말하며 질문 정하기 → 메뉴 고르기 → 필요한 부분만 읽기 → 답 말하기를 보여 줍니다.
시간: 약 3분
이렇게 말해 보세요
- “엄마(아빠)는 도서관이 언제 쉬는지 궁금해. 쉬는 날은 도서관을 이용하는 것과 관계있으니까 ‘이용 안내’를 눌러 볼게.”
- “다 읽지 않아도 돼. ‘쉬는 날’이라고 쓰인 줄만 보면 되지. 그러니까 답은 ‘월요일에 쉬어요.’야.”
- “그럼 책은 몇 권까지 빌릴 수 있을까? 어느 줄을 보면 될까?”
예상 답
- “‘책 빌리기’ 줄이요. 5권까지요.”
정답
- 쉬는 날: 월요일(설날·추석 당일도 쉼)
- 책 빌리기: 한 사람 5권까지, 14일 동안
막히면
- 표의 왼쪽 칸(여는 시간, 쉬는 날, 책 빌리기)을 먼저 읽고 “질문과 같은 말이 어디 있어?”라고 묻습니다.
주의
- 아이가 표를 처음부터 끝까지 다 읽으려 하면 “질문에 필요한 줄만 찾자.”라고 말해 줍니다(오해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정보 찾는 순서]
목적: 방금 시범에서 한 일을 순서로 정리합니다. 이 순서는 영상에서 찾을 때도 같습니다(목표 A·B).
시간: 약 3분
이렇게 말해 보세요
- “방금 엄마(아빠)가 한 순서야. 하나씩 같이 읽어 볼까?”
- “2번에서 메뉴 대신 영상의 장면 차례를 보면, 영상에서도 똑같이 찾을 수 있어.”
예상 답
- 아이가 1~4를 자기 말로 다시 말합니다.
막히면
- S04로 돌아가 단계마다 무엇을 했는지 짚어 봅니다.
주의
- 아이가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알맞은 메뉴 고르기]
목적: 질문과 관계있는 메뉴를 고르는 연습을 합니다(목표 A, 오해 M2).
시간: 약 2분
이렇게 말해 보세요
- “공룡 책이 있는지 알고 싶어. 어느 메뉴를 누르면 좋을까? 왜?”
- “메뉴 말고 다른 방법은 없을까? 첫 화면에 낱말을 넣는 칸이 있었지?”
정답
- 라(책 찾기). 검색창에 ‘공룡’을 넣어 찾는다고 해도 맞습니다.
막히면
- 메뉴 이름을 하나씩 읽고 “여기를 누르면 무엇이 나올 것 같아?”라고 묻습니다.
주의
- ‘이용 안내’를 고르면 “이용 안내에는 무엇이 있었지?”라고 S04를 떠올리게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함께 찾기(행사 안내 글)]
목적: 안내 글에서 묻는 정보를 함께 찾아봅니다(목표 A).
시간: 약 3분
이렇게 말해 보세요
- “①은 ‘어디에서’를 물었어. 왼쪽 칸에서 어느 줄을 보면 될까?”
- “②는 ‘신청’을 언제까지 하느냐고 물었어. 어느 줄일까?”
정답
- ① 도서관 2층 이야기방
- ② 누리집에서 10월 15일까지
막히면
- 질문의 낱말(어디, 신청)과 표 왼쪽 칸의 낱말(장소, 신청)을 짝지어 줍니다. ‘어디’를 물으면 ‘장소’를 봅니다.
주의
- ②에서 행사 날(10월 18일)을 말하면 “행사 날이 아니라 신청하는 마지막 날을 물었어.”라고 질문을 다시 읽게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비교(올린 날과 행사 날)]
목적: 누리집의 ‘올린 날’과 행사 날짜를 구별하게 합니다(오해 M1).
시간: 약 3분
이렇게 말해 보세요
- “S03의 알림판을 다시 볼까? ‘10월 5일’ 옆에 무엇이라고 쓰여 있었어?”
- “‘올림’은 글을 누리집에 올린 날이야. 그럼 행사는 언제 할까?”
정답
- 나. 행사 날짜는 10월 18일 토요일입니다.
- 10월 5일은 도서관이 누리집에 행사 글을 올린 날입니다.
막히면
- S03과 S07을 번갈아 보여 주고 두 날짜 옆에 쓰인 말(‘올림’, ‘날짜’)을 읽게 합니다.
주의
- 날짜를 찾으면 날짜 옆에 쓰인 말을 꼭 함께 읽는 습관을 들이게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 영상의 장면 차례 읽기]
목적: 영상의 장면 차례를 읽는 법(분:초)과, 필요한 장면으로 옮겨 보는 방법을 알려 줍니다(목표 B, 오해 M3).
시간: 약 3분
이렇게 말해 보세요
- “영상에도 책의 차례처럼 장면 차례가 있어. 앞의 수는 분, 뒤의 수는 초야. ‘0:20’은 ‘0분 20초’라고 읽어.”
- “엄마(아빠)는 준비물을 다시 보고 싶어. 그럼 ‘준비물 알아보기’를 찾아서 0분 20초로 옮기면 돼.”
- “‘3:10’은 어떻게 읽을까?”
예상 답
- “3분 10초요.”
막히면
- 휴대 전화나 텔레비전의 영상 재생 막대를 함께 보며 시간이 어떻게 바뀌는지 보여 줍니다(실제 영상은 무엇이든 괜찮습니다).
주의
- ‘1:00’을 ‘1시’로 읽으면 “영상이 한 시간이나 될까? 1분이야.”라고 바로잡아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장면 차례 보고 찾기]
목적: 장면 차례에서 필요한 장면의 시간을 찾고, 영상을 다시 보는 방법을 말해 봅니다(목표 B).
시간: 약 3분
이렇게 말해 보세요
- “①은 ‘만드는 순서’ 장면을 찾으면 돼. 몇 분 몇 초야?”
- “③ 영상을 보다가 말을 놓쳤어. 책이면 앞 쪽을 다시 읽잖아. 영상은 어떻게 하면 될까?”
정답
- ① 1:00(1분 0초)
- ② 3:10(3분 10초)으로 옮겨요.
- ③ 멈추고 조금 앞으로 돌려 다시 봐요(자막이 있으면 자막을 켜도 돼요).
막히면
- 오른쪽 표의 장면 이름을 하나씩 읽고, 질문의 낱말과 같은 장면에 손가락을 대게 합니다.
주의
- ③은 정답이 하나가 아닙니다. 멈추기, 앞으로 돌리기, 다시 보기, 자막 켜기 가운데 하나를 말하면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찾기(처음 보는 안내 글)]
목적: 도움 없이 처음 보는 안내 글에서 필요한 정보를 찾는지 확인합니다(목표 A).
시간: 약 4분
이렇게 말해 보세요
- “이번에는 혼자 해 볼래? 활동지 3에 같은 안내 글이 있으니 찾은 곳에 표시해도 돼.”
정답
- ① 공원 정문 앞
- ② 장갑, 물병
- ③ 4월 5일(토요일). 3월 20일은 글을 올린 날입니다.
막히면
- S05의 단계 3 “필요한 부분만 골라 읽어요.”를 보여 주고, 질문의 낱말과 표 왼쪽 칸을 짝지어 보게 합니다.
- 도움을 받아 찾았다면 기록표에 ‘도움’으로 표시합니다.
주의
- ③에서 ‘3월 20일’이라고 하면 S08을 떠올리게 하고 “그 날짜 옆에 무엇이라고 쓰여 있어?”라고 묻습니다(오해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“네가 찾은 답은 왼쪽과 같아? 오른쪽 답은 왜 아쉬울까?”
예상 답
- “3월 20일은 올린 날이라서요.” “‘공원’만 쓰면 공원 어디인지 몰라요.”
정답
- ① 공원 정문 앞 ② 장갑, 물병 ③ 4월 5일 토요일
막히면
- S11의 표에서 답이 있는 칸을 함께 짚어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확인(처음 보는 영상 차례)]
목적: 처음 보는 장면 차례에서 필요한 장면의 시간을 찾는지 확인합니다(목표 B).
시간: 약 3분
이렇게 말해 보세요
- “콩나물 기르는 영상이래. ①, ②의 답을 장면 차례에서 찾아 말해 줘. 어떻게 읽는지도 말해 줄래?”
정답
- ① 2:00(2분 0초)으로 옮겨요.
- ② 0:15(15초)부터 나와요.
막히면
- S09의 ‘분:초’ 읽는 법을 다시 보여 줍니다.
주의
- 시간은 찾았지만 ‘2시’처럼 읽으면 기록표에 ‘시간 읽기 도움’으로 적어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“누리집이나 영상에서 정보를 빨리 찾는 방법을 한 문장으로 말해 볼래?”
예상 답
- “궁금한 걸 정하고, 메뉴나 차례에서 골라서 필요한 데만 읽어요.”
정답
- ① 질문 정하기 → 찾을 곳 고르기 → 필요한 부분만 읽기 → 질문에 맞게 말하기 ② 2분 30초 ③ 글을 누리집에 올린 날
막히면
- S05와 S09를 다시 보여 줍니다.
주의
- 생활 속에서 학교 알림장이나 동네 도서관 누리집을 함께 보며 “여기서 ○○을 찾아볼래?”라고 해 보면 좋은 복습이 됩니다(선택).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보충(질문 낱말과 찾을 정보 짝짓기)]
목적: 질문하는 말(언제·어디서·무엇을·누가)과 찾아야 할 정보를 짝지어, 종이 안내문에서 먼저 정보를 찾아봅니다.
시간: 약 4분
이렇게 말해 보세요
- “‘언제’를 물으면 무엇을 찾아야 할까? 날짜나 시간이야. ‘어디서’를 물으면?”
- “이 안내문(학교 알림장, 아파트 안내문, 전단지 등)에서 ‘언제’에 맞는 곳에 동그라미를 쳐 볼까?”
정답
- 언제 → 날짜·시간, 어디서 → 장소, 무엇을 → 할 일·준비물, 누가 → 사람·대상. 안내문에서 질문에 맞는 곳을 짚으면 맞음
막히면
- S02의 놀이터 안내문으로 돌아가 ‘언제’에 맞는 ‘5월 3일부터 5월 10일까지’를 함께 짚습니다.
- 보충으로도 어렵다면 2학년 ‘글과 그림에서 정보 찾기’(KR22-G02-KOR-FINDINFO-L01)를 먼저 합니다. 계획상 앞 차시인 ‘감각적 표현’(KR22-G03-KOR-SENSORY-L01)은 이 차시와 내용이 직접 이어지지 않으므로 다시 하지 않아도 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문학과매체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매체에서 정보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매체에서 정보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국어 · 매체에서 정보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매체에서 정보 찾기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것을 누리집이나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영상에서 어떻게 찾을까?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누리집에서 필요한 정보를 찾을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안내 영상에서 필요한 장면을 찾을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안내문을 읽어 볼까요?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무엇을 고치나요?  ② 언제부터 언제까지인가요?</a:t>
            </a:r>
            <a:endParaRPr lang="ko-KR" sz="30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 공사 안내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아파트 놀이터의 미끄럼틀을 새로 고칩니다. 공사 기간은 5월 3일부터 5월 10일까지입니다. 이 기간에는 놀이터에 들어갈 수 없습니다.</a:t>
            </a:r>
            <a:endParaRPr lang="ko-KR" sz="3200" dirty="0"/>
          </a:p>
          <a:p>
            <a:pPr eaLnBrk="0" algn="r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관리사무소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누리집 첫 화면 살펴보기</a:t>
            </a:r>
            <a:endParaRPr lang="ko-KR" sz="40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‘별빛마을 어린이도서관’ 누리집의 첫 화면이에요.</a:t>
            </a:r>
            <a:endParaRPr lang="ko-KR" sz="3000" dirty="0"/>
          </a:p>
        </p:txBody>
      </p:sp>
      <p:sp>
        <p:nvSpPr>
          <p:cNvPr id="4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메뉴는 책의 차례처럼 내용을 나누어 놓은 곳이에요.</a:t>
            </a:r>
            <a:endParaRPr lang="ko-KR" sz="3000" dirty="0"/>
          </a:p>
        </p:txBody>
      </p:sp>
      <p:graphicFrame>
        <p:nvGraphicFramePr>
          <p:cNvPr id="4" name="S03-table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286635"/>
          <a:ext cx="10058400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7845552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보이는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도서관 소개 · 이용 안내 · 행사 안내 · 책 찾기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검색창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 이름을 넣어 찾는 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알림판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그림책 읽어 주기 행사 (10월 5일 올림)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알림판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새로 들어온 책 소개 (9월 28일 올림)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도서관은 언제 쉴까?</a:t>
            </a:r>
            <a:endParaRPr lang="ko-KR" sz="4000" dirty="0"/>
          </a:p>
        </p:txBody>
      </p:sp>
      <p:sp>
        <p:nvSpPr>
          <p:cNvPr id="3" name="S04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‘이용 안내’를 눌렀더니 이런 화면이 나왔어요.</a:t>
            </a:r>
            <a:endParaRPr lang="ko-KR" sz="3000" dirty="0"/>
          </a:p>
        </p:txBody>
      </p:sp>
      <p:sp>
        <p:nvSpPr>
          <p:cNvPr id="4" name="S04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것: 도서관은 무슨 요일에 쉬나요?</a:t>
            </a:r>
            <a:endParaRPr lang="ko-KR" sz="3000" dirty="0"/>
          </a:p>
        </p:txBody>
      </p:sp>
      <p:graphicFrame>
        <p:nvGraphicFramePr>
          <p:cNvPr id="5" name="S04-table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739390"/>
          <a:ext cx="100584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754380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여는 시간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화요일~일요일 오전 9시~오후 6시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쉬는 날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월요일, 설날·추석 당일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 빌리기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사람 5권까지, 14일 동안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정보 찾는 순서</a:t>
            </a:r>
            <a:endParaRPr lang="ko-KR" sz="4000" dirty="0"/>
          </a:p>
        </p:txBody>
      </p:sp>
      <p:sp>
        <p:nvSpPr>
          <p:cNvPr id="3" name="S05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쉬는 날? → ‘이용 안내’ → “월요일에 쉬어요.”</a:t>
            </a:r>
            <a:endParaRPr lang="ko-KR" sz="3000" dirty="0"/>
          </a:p>
        </p:txBody>
      </p:sp>
      <p:sp>
        <p:nvSpPr>
          <p:cNvPr id="5" name="S05-stepno17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5-text18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 싶은 것을 질문으로 정해요.</a:t>
            </a:r>
            <a:endParaRPr lang="ko-KR" sz="3000" dirty="0"/>
          </a:p>
        </p:txBody>
      </p:sp>
      <p:sp>
        <p:nvSpPr>
          <p:cNvPr id="7" name="S05-stepno19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5-text20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메뉴나 제목에서 찾을 곳을 골라요.</a:t>
            </a:r>
            <a:endParaRPr lang="ko-KR" sz="3000" dirty="0"/>
          </a:p>
        </p:txBody>
      </p:sp>
      <p:sp>
        <p:nvSpPr>
          <p:cNvPr id="9" name="S05-stepno21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5-text22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부분만 골라 읽어요.</a:t>
            </a:r>
            <a:endParaRPr lang="ko-KR" sz="3000" dirty="0"/>
          </a:p>
        </p:txBody>
      </p:sp>
      <p:sp>
        <p:nvSpPr>
          <p:cNvPr id="11" name="S05-stepno23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5-text24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정보를 질문에 맞게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메뉴를 누를까요?</a:t>
            </a:r>
            <a:endParaRPr lang="ko-KR" sz="4000" dirty="0"/>
          </a:p>
        </p:txBody>
      </p:sp>
      <p:sp>
        <p:nvSpPr>
          <p:cNvPr id="3" name="S06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도서관에 공룡 책이 있는지 알고 싶어요.</a:t>
            </a:r>
            <a:endParaRPr lang="ko-KR" sz="3000" dirty="0"/>
          </a:p>
        </p:txBody>
      </p:sp>
      <p:sp>
        <p:nvSpPr>
          <p:cNvPr id="4" name="S06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까닭도 말해 보세요.</a:t>
            </a:r>
            <a:endParaRPr lang="ko-KR" sz="3000" dirty="0"/>
          </a:p>
        </p:txBody>
      </p:sp>
      <p:sp>
        <p:nvSpPr>
          <p:cNvPr id="6" name="S06-chip28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6-card29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30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 소개</a:t>
            </a:r>
            <a:endParaRPr lang="ko-KR" sz="3000" dirty="0"/>
          </a:p>
        </p:txBody>
      </p:sp>
      <p:sp>
        <p:nvSpPr>
          <p:cNvPr id="9" name="S06-chip31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06-card32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33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 안내</a:t>
            </a:r>
            <a:endParaRPr lang="ko-KR" sz="3000" dirty="0"/>
          </a:p>
        </p:txBody>
      </p:sp>
      <p:sp>
        <p:nvSpPr>
          <p:cNvPr id="12" name="S06-chip34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06-card35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6-cardtext36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행사 안내</a:t>
            </a:r>
            <a:endParaRPr lang="ko-KR" sz="3000" dirty="0"/>
          </a:p>
        </p:txBody>
      </p:sp>
      <p:sp>
        <p:nvSpPr>
          <p:cNvPr id="15" name="S06-chip37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6" name="S06-card38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6-cardtext39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찾기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행사 안내 함께 읽기</a:t>
            </a:r>
            <a:endParaRPr lang="ko-KR" sz="4000" dirty="0"/>
          </a:p>
        </p:txBody>
      </p:sp>
      <p:sp>
        <p:nvSpPr>
          <p:cNvPr id="3" name="S07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‘행사 안내’에서 그림책 행사 글을 눌렀어요.</a:t>
            </a:r>
            <a:endParaRPr lang="ko-KR" sz="3000" dirty="0"/>
          </a:p>
        </p:txBody>
      </p:sp>
      <p:sp>
        <p:nvSpPr>
          <p:cNvPr id="4" name="S07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어디에서 하나요?  ② 언제까지 신청하나요?</a:t>
            </a:r>
            <a:endParaRPr lang="ko-KR" sz="3000" dirty="0"/>
          </a:p>
        </p:txBody>
      </p:sp>
      <p:graphicFrame>
        <p:nvGraphicFramePr>
          <p:cNvPr id="8" name="S07-table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188210"/>
          <a:ext cx="9144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85800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행사 이름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그림책 읽어 주기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18일 토요일 오전 10시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도서관 2층 이야기방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7살~9살 어린이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누리집에서 10월 15일까지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맞게 찾았을까?</a:t>
            </a:r>
            <a:endParaRPr lang="ko-KR" sz="4000" dirty="0"/>
          </a:p>
        </p:txBody>
      </p:sp>
      <p:sp>
        <p:nvSpPr>
          <p:cNvPr id="3" name="S08-card4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“그림책 행사는 언제예요?” 두 친구의 답이에요.</a:t>
            </a:r>
            <a:endParaRPr lang="ko-KR" sz="3000" dirty="0"/>
          </a:p>
        </p:txBody>
      </p:sp>
      <p:sp>
        <p:nvSpPr>
          <p:cNvPr id="5" name="S08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맞게 찾았나요? 10월 5일은 무슨 날짜일까요?</a:t>
            </a:r>
            <a:endParaRPr lang="ko-KR" sz="3000" dirty="0"/>
          </a:p>
        </p:txBody>
      </p:sp>
      <p:sp>
        <p:nvSpPr>
          <p:cNvPr id="7" name="S08-chip4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8-text4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5일이에요.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알림판에서 봤어요.</a:t>
            </a:r>
            <a:endParaRPr lang="ko-KR" sz="3000" dirty="0"/>
          </a:p>
        </p:txBody>
      </p:sp>
      <p:sp>
        <p:nvSpPr>
          <p:cNvPr id="9" name="S08-chip5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8-text5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18일 토요일이에요.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행사 글에서 봤어요.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영상의 장면 차례</a:t>
            </a:r>
            <a:endParaRPr lang="ko-KR" sz="4000" dirty="0"/>
          </a:p>
        </p:txBody>
      </p:sp>
      <p:sp>
        <p:nvSpPr>
          <p:cNvPr id="3" name="S09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‘종이컵 전화기 만들기’ 영상의 장면 차례예요.</a:t>
            </a:r>
            <a:endParaRPr lang="ko-KR" sz="3000" dirty="0"/>
          </a:p>
        </p:txBody>
      </p:sp>
      <p:sp>
        <p:nvSpPr>
          <p:cNvPr id="4" name="S09-card5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5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0:20은 0분 20초예요. 그 시간으로 옮기면 그 장면부터 봐요.</a:t>
            </a:r>
            <a:endParaRPr lang="ko-KR" sz="3000" dirty="0"/>
          </a:p>
        </p:txBody>
      </p:sp>
      <p:graphicFrame>
        <p:nvGraphicFramePr>
          <p:cNvPr id="10" name="S09-table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94076" y="2071878"/>
          <a:ext cx="6400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480560"/>
              </a:tblGrid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장면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0:00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0:20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 알아보기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1:00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만드는 순서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3:10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소리 들어 보기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4:00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정리하기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영상에서 장면 찾기</a:t>
            </a:r>
            <a:endParaRPr lang="ko-KR" sz="4000" dirty="0"/>
          </a:p>
        </p:txBody>
      </p:sp>
      <p:sp>
        <p:nvSpPr>
          <p:cNvPr id="3" name="S10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차례를 보고 답해 보세요.</a:t>
            </a:r>
            <a:endParaRPr lang="ko-KR" sz="3000" dirty="0"/>
          </a:p>
        </p:txBody>
      </p:sp>
      <p:graphicFrame>
        <p:nvGraphicFramePr>
          <p:cNvPr id="11" name="S10-table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1394" y="2697480"/>
          <a:ext cx="4754880" cy="914400"/>
        </p:xfrm>
        <a:graphic>
          <a:graphicData uri="http://schemas.openxmlformats.org/drawingml/2006/table">
            <a:tbl>
              <a:tblPr/>
              <a:tblGrid>
                <a:gridCol w="1521562"/>
                <a:gridCol w="3233318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0:20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 알아보기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1:00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만드는 순서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3:10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소리 들어 보기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4:00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정리하기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10-chip58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0-text59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순서는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분 몇 초부터?</a:t>
            </a:r>
            <a:endParaRPr lang="ko-KR" sz="3000" dirty="0"/>
          </a:p>
        </p:txBody>
      </p:sp>
      <p:sp>
        <p:nvSpPr>
          <p:cNvPr id="7" name="S10-chip6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0-text61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들어 보는 장면을 보려면?</a:t>
            </a:r>
            <a:endParaRPr lang="ko-KR" sz="3000" dirty="0"/>
          </a:p>
        </p:txBody>
      </p:sp>
      <p:sp>
        <p:nvSpPr>
          <p:cNvPr id="9" name="S10-chip6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10-text63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말이 있으면 어떻게 할까요?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‘초록공원’ 누리집의 행사 안내 글이에요.</a:t>
            </a:r>
            <a:endParaRPr lang="ko-KR" sz="3000" dirty="0"/>
          </a:p>
        </p:txBody>
      </p:sp>
      <p:graphicFrame>
        <p:nvGraphicFramePr>
          <p:cNvPr id="12" name="S11-table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8514" y="2933700"/>
          <a:ext cx="5120640" cy="914400"/>
        </p:xfrm>
        <a:graphic>
          <a:graphicData uri="http://schemas.openxmlformats.org/drawingml/2006/table">
            <a:tbl>
              <a:tblPr/>
              <a:tblGrid>
                <a:gridCol w="1843430"/>
                <a:gridCol w="327721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 나무 심기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4월 5일 토요일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오전 10시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모이는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공원 정문 앞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장갑, 물병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올린 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3월 20일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11-chip6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1-text67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모이나요?</a:t>
            </a:r>
            <a:endParaRPr lang="ko-KR" sz="3000" dirty="0"/>
          </a:p>
        </p:txBody>
      </p:sp>
      <p:sp>
        <p:nvSpPr>
          <p:cNvPr id="7" name="S11-chip6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1-text69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챙겨 가나요?</a:t>
            </a:r>
            <a:endParaRPr lang="ko-KR" sz="3000" dirty="0"/>
          </a:p>
        </p:txBody>
      </p:sp>
      <p:sp>
        <p:nvSpPr>
          <p:cNvPr id="9" name="S11-chip7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11-text71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행사는 몇 월 며칠인가요?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옆에 쓰인 말을 함께 읽어요.</a:t>
            </a:r>
            <a:endParaRPr lang="ko-KR" sz="3000" dirty="0"/>
          </a:p>
        </p:txBody>
      </p:sp>
      <p:sp>
        <p:nvSpPr>
          <p:cNvPr id="5" name="S12-chip7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75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 정문 앞</a:t>
            </a:r>
            <a:endParaRPr lang="ko-KR" sz="3000" dirty="0"/>
          </a:p>
        </p:txBody>
      </p:sp>
      <p:sp>
        <p:nvSpPr>
          <p:cNvPr id="7" name="S12-text76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모이는 곳</a:t>
            </a:r>
            <a:endParaRPr lang="ko-KR" sz="2400" dirty="0"/>
          </a:p>
        </p:txBody>
      </p:sp>
      <p:sp>
        <p:nvSpPr>
          <p:cNvPr id="8" name="S12-text77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장갑, 물병</a:t>
            </a:r>
            <a:endParaRPr lang="ko-KR" sz="3000" dirty="0"/>
          </a:p>
        </p:txBody>
      </p:sp>
      <p:sp>
        <p:nvSpPr>
          <p:cNvPr id="9" name="S12-text78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준비물</a:t>
            </a:r>
            <a:endParaRPr lang="ko-KR" sz="2400" dirty="0"/>
          </a:p>
        </p:txBody>
      </p:sp>
      <p:sp>
        <p:nvSpPr>
          <p:cNvPr id="10" name="S12-text79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 5일</a:t>
            </a:r>
            <a:endParaRPr lang="ko-KR" sz="3000" dirty="0"/>
          </a:p>
        </p:txBody>
      </p:sp>
      <p:sp>
        <p:nvSpPr>
          <p:cNvPr id="11" name="S12-text80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</a:t>
            </a:r>
            <a:endParaRPr lang="ko-KR" sz="2400" dirty="0"/>
          </a:p>
        </p:txBody>
      </p:sp>
      <p:sp>
        <p:nvSpPr>
          <p:cNvPr id="12" name="S12-chip8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2-text8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 20일</a:t>
            </a:r>
            <a:endParaRPr lang="ko-KR" sz="3000" dirty="0"/>
          </a:p>
        </p:txBody>
      </p:sp>
      <p:sp>
        <p:nvSpPr>
          <p:cNvPr id="14" name="S12-text8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글을 올린 날이에요</a:t>
            </a:r>
            <a:endParaRPr lang="ko-KR" sz="2400" dirty="0"/>
          </a:p>
        </p:txBody>
      </p:sp>
      <p:sp>
        <p:nvSpPr>
          <p:cNvPr id="15" name="S12-text8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</a:t>
            </a:r>
            <a:endParaRPr lang="ko-KR" sz="3000" dirty="0"/>
          </a:p>
        </p:txBody>
      </p:sp>
      <p:sp>
        <p:nvSpPr>
          <p:cNvPr id="16" name="S12-text8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어디인지 자세히 써야 해요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차례 보고 찾기</a:t>
            </a:r>
            <a:endParaRPr lang="ko-KR" sz="4000" dirty="0"/>
          </a:p>
        </p:txBody>
      </p:sp>
      <p:sp>
        <p:nvSpPr>
          <p:cNvPr id="3" name="S13-text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‘콩나물 기르기’ 영상의 장면 차례예요.</a:t>
            </a:r>
            <a:endParaRPr lang="ko-KR" sz="3000" dirty="0"/>
          </a:p>
        </p:txBody>
      </p:sp>
      <p:graphicFrame>
        <p:nvGraphicFramePr>
          <p:cNvPr id="14" name="S13-table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1394" y="2697480"/>
          <a:ext cx="4754880" cy="914400"/>
        </p:xfrm>
        <a:graphic>
          <a:graphicData uri="http://schemas.openxmlformats.org/drawingml/2006/table">
            <a:tbl>
              <a:tblPr/>
              <a:tblGrid>
                <a:gridCol w="1521562"/>
                <a:gridCol w="3233318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시작하기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0:15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0:50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콩 불리기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2:00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 주는 방법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3:30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 자란 콩나물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13-chip8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3-text8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주는 방법을 다시 보려면 어디로 갈까요?</a:t>
            </a:r>
            <a:endParaRPr lang="ko-KR" sz="3000" dirty="0"/>
          </a:p>
        </p:txBody>
      </p:sp>
      <p:sp>
        <p:nvSpPr>
          <p:cNvPr id="7" name="S13-chip9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3-text9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준비물은 몇 초부터 나오나요?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2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3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 싶은 것을 정하고, 메뉴나 장면 차례에서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찾을 곳을 골라 필요한 부분만 읽어요.</a:t>
            </a:r>
            <a:endParaRPr lang="ko-KR" sz="3000" dirty="0"/>
          </a:p>
        </p:txBody>
      </p:sp>
      <p:sp>
        <p:nvSpPr>
          <p:cNvPr id="5" name="S14-chip94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질문에 맞는 곳 골라 찾기</a:t>
            </a:r>
            <a:endParaRPr lang="ko-KR" sz="2400" dirty="0"/>
          </a:p>
        </p:txBody>
      </p:sp>
      <p:sp>
        <p:nvSpPr>
          <p:cNvPr id="6" name="S14-chip95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올린 날과 행사 날 헷갈리기</a:t>
            </a:r>
            <a:endParaRPr lang="ko-KR" sz="2400" dirty="0"/>
          </a:p>
        </p:txBody>
      </p:sp>
      <p:sp>
        <p:nvSpPr>
          <p:cNvPr id="7" name="S14-text96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97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정보 찾는 순서는?</a:t>
            </a:r>
            <a:endParaRPr lang="ko-KR" sz="2400" dirty="0"/>
          </a:p>
        </p:txBody>
      </p:sp>
      <p:sp>
        <p:nvSpPr>
          <p:cNvPr id="9" name="S14-text98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‘2:30’은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분 몇 초?</a:t>
            </a:r>
            <a:endParaRPr lang="ko-KR" sz="2400" dirty="0"/>
          </a:p>
        </p:txBody>
      </p:sp>
      <p:sp>
        <p:nvSpPr>
          <p:cNvPr id="10" name="S14-text99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‘올린 날’은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날짜?</a:t>
            </a:r>
            <a:endParaRPr lang="ko-KR" sz="2400" dirty="0"/>
          </a:p>
        </p:txBody>
      </p:sp>
      <p:sp>
        <p:nvSpPr>
          <p:cNvPr id="11" name="S14-text10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문단과 문단의 관계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무엇을 찾을까?</a:t>
            </a:r>
            <a:endParaRPr lang="ko-KR" sz="4000" dirty="0"/>
          </a:p>
        </p:txBody>
      </p:sp>
      <p:sp>
        <p:nvSpPr>
          <p:cNvPr id="3" name="S15-text1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질문의 낱말을 보면 찾을 정보를 알 수 있어요.</a:t>
            </a:r>
            <a:endParaRPr lang="ko-KR" sz="3000" dirty="0"/>
          </a:p>
        </p:txBody>
      </p:sp>
      <p:sp>
        <p:nvSpPr>
          <p:cNvPr id="4" name="S15-card1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있는 안내문에서 ‘언제’와 ‘어디서’를 찾아봐요.</a:t>
            </a:r>
            <a:endParaRPr lang="ko-KR" sz="3000" dirty="0"/>
          </a:p>
        </p:txBody>
      </p:sp>
      <p:sp>
        <p:nvSpPr>
          <p:cNvPr id="6" name="S15-word104"/>
          <p:cNvSpPr txBox="1"/>
          <p:nvPr/>
        </p:nvSpPr>
        <p:spPr>
          <a:xfrm>
            <a:off x="548640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날짜·시간</a:t>
            </a:r>
            <a:endParaRPr lang="ko-KR" sz="3400" dirty="0"/>
          </a:p>
        </p:txBody>
      </p:sp>
      <p:sp>
        <p:nvSpPr>
          <p:cNvPr id="7" name="S15-word105"/>
          <p:cNvSpPr txBox="1"/>
          <p:nvPr/>
        </p:nvSpPr>
        <p:spPr>
          <a:xfrm>
            <a:off x="3390138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</a:t>
            </a:r>
            <a:endParaRPr lang="ko-KR" sz="3400" dirty="0"/>
          </a:p>
        </p:txBody>
      </p:sp>
      <p:sp>
        <p:nvSpPr>
          <p:cNvPr id="8" name="S15-word106"/>
          <p:cNvSpPr txBox="1"/>
          <p:nvPr/>
        </p:nvSpPr>
        <p:spPr>
          <a:xfrm>
            <a:off x="6231636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일·준비물</a:t>
            </a:r>
            <a:endParaRPr lang="ko-KR" sz="3400" dirty="0"/>
          </a:p>
        </p:txBody>
      </p:sp>
      <p:sp>
        <p:nvSpPr>
          <p:cNvPr id="9" name="S15-word107"/>
          <p:cNvSpPr txBox="1"/>
          <p:nvPr/>
        </p:nvSpPr>
        <p:spPr>
          <a:xfrm>
            <a:off x="9073134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사람·대상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국어 매체에서 정보 찾기</dc:title>
  <dc:subject>KR22-G03-KOR-MEDIA-L01</dc:subject>
  <dc:creator>education-ppt</dc:creator>
  <cp:lastModifiedBy>education-ppt</cp:lastModifiedBy>
  <cp:revision>1</cp:revision>
  <dcterms:created xsi:type="dcterms:W3CDTF">2026-10-26T07:47:06Z</dcterms:created>
  <dcterms:modified xsi:type="dcterms:W3CDTF">2026-10-26T07:47:06Z</dcterms:modified>
</cp:coreProperties>
</file>