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7dc286fe-4647-fffe-a6cf-b740caef0308}">
          <p14:sldIdLst>
            <p14:sldId id="256"/>
            <p14:sldId id="257"/>
          </p14:sldIdLst>
        </p14:section>
        <p14:section name="개념" id="{d16e2a35-f4e8-b981-b11b-c81be4eba648}">
          <p14:sldIdLst>
            <p14:sldId id="258"/>
            <p14:sldId id="259"/>
            <p14:sldId id="260"/>
            <p14:sldId id="261"/>
          </p14:sldIdLst>
        </p14:section>
        <p14:section name="연습" id="{06e96b9c-2853-d48b-c42b-71ea0a6b8a93}">
          <p14:sldIdLst>
            <p14:sldId id="262"/>
            <p14:sldId id="263"/>
          </p14:sldIdLst>
        </p14:section>
        <p14:section name="확인" id="{e9b22bb5-e060-3d46-69fd-66f21bae191d}">
          <p14:sldIdLst>
            <p14:sldId id="264"/>
            <p14:sldId id="265"/>
          </p14:sldIdLst>
        </p14:section>
        <p14:section name="정리" id="{b8e82792-3978-3b85-8f0a-aa8283b9e1b4}">
          <p14:sldIdLst>
            <p14:sldId id="266"/>
          </p14:sldIdLst>
        </p14:section>
        <p14:section name="보충" id="{9950c56d-3202-8989-87be-44fcf6016d2d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국어 · 문학과매체 · 1차시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국어 · 인물의 마음과 까닭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국어 · 인물의 마음과 까닭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초3 국어 · 인물의 마음과 까닭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인물의 마음과 까닭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이야기 속 인물은 어떤 마음일까?</a:t>
            </a:r>
            <a:endParaRPr lang="ko-KR" sz="3000" dirty="0"/>
          </a:p>
        </p:txBody>
      </p:sp>
      <p:sp>
        <p:nvSpPr>
          <p:cNvPr id="4" name="S01-card1"/>
          <p:cNvSpPr/>
          <p:nvPr/>
        </p:nvSpPr>
        <p:spPr>
          <a:xfrm>
            <a:off x="731520" y="4436364"/>
            <a:ext cx="10725912" cy="1690116"/>
          </a:xfrm>
          <a:prstGeom prst="roundRect">
            <a:avLst>
              <a:gd name="adj" fmla="val 649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573524"/>
            <a:ext cx="10177272" cy="1415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인물의 마음을 짐작할 수 있어요.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그렇게 생각한 까닭을 글에서 찾아 말할 수 있어요.</a:t>
            </a:r>
            <a:endParaRPr lang="ko-KR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마음일까요?</a:t>
            </a:r>
            <a:endParaRPr lang="ko-KR" sz="4000" dirty="0"/>
          </a:p>
        </p:txBody>
      </p:sp>
      <p:sp>
        <p:nvSpPr>
          <p:cNvPr id="3" name="S02-text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행동을 보고 마음을 말해 보세요.</a:t>
            </a:r>
            <a:endParaRPr lang="ko-KR" sz="3000" dirty="0"/>
          </a:p>
        </p:txBody>
      </p:sp>
      <p:sp>
        <p:nvSpPr>
          <p:cNvPr id="4" name="S02-chip4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5" name="S02-text5"/>
          <p:cNvSpPr txBox="1"/>
          <p:nvPr/>
        </p:nvSpPr>
        <p:spPr>
          <a:xfrm>
            <a:off x="1344168" y="20116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동생이 발을 동동 구르며 울어요.</a:t>
            </a:r>
            <a:endParaRPr lang="ko-KR" sz="3000" dirty="0"/>
          </a:p>
        </p:txBody>
      </p:sp>
      <p:sp>
        <p:nvSpPr>
          <p:cNvPr id="6" name="S02-chip6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7" name="S02-text7"/>
          <p:cNvSpPr txBox="1"/>
          <p:nvPr/>
        </p:nvSpPr>
        <p:spPr>
          <a:xfrm>
            <a:off x="1344168" y="420624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친구가 상장을 들고 활짝 웃어요.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마음을 알려 주는 단서</a:t>
            </a:r>
            <a:endParaRPr lang="ko-KR" sz="4000" dirty="0"/>
          </a:p>
        </p:txBody>
      </p:sp>
      <p:sp>
        <p:nvSpPr>
          <p:cNvPr id="3" name="S03-card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3-cardtext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단서를 찾으면 인물의 마음을 짐작할 수 있어요.</a:t>
            </a:r>
            <a:endParaRPr lang="ko-KR" sz="3000" dirty="0"/>
          </a:p>
        </p:txBody>
      </p:sp>
      <p:sp>
        <p:nvSpPr>
          <p:cNvPr id="5" name="S03-card10"/>
          <p:cNvSpPr/>
          <p:nvPr/>
        </p:nvSpPr>
        <p:spPr>
          <a:xfrm>
            <a:off x="548640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3-cardtext11"/>
          <p:cNvSpPr txBox="1"/>
          <p:nvPr/>
        </p:nvSpPr>
        <p:spPr>
          <a:xfrm>
            <a:off x="822960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인물이 한 말</a:t>
            </a:r>
            <a:endParaRPr lang="ko-KR" sz="3000" dirty="0"/>
          </a:p>
        </p:txBody>
      </p:sp>
      <p:sp>
        <p:nvSpPr>
          <p:cNvPr id="7" name="S03-card12"/>
          <p:cNvSpPr/>
          <p:nvPr/>
        </p:nvSpPr>
        <p:spPr>
          <a:xfrm>
            <a:off x="4322064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8" name="S03-cardtext13"/>
          <p:cNvSpPr txBox="1"/>
          <p:nvPr/>
        </p:nvSpPr>
        <p:spPr>
          <a:xfrm>
            <a:off x="4596384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행동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인물이 하는 일, 표정</a:t>
            </a:r>
            <a:endParaRPr lang="ko-KR" sz="3000" dirty="0"/>
          </a:p>
        </p:txBody>
      </p:sp>
      <p:sp>
        <p:nvSpPr>
          <p:cNvPr id="9" name="S03-card14"/>
          <p:cNvSpPr/>
          <p:nvPr/>
        </p:nvSpPr>
        <p:spPr>
          <a:xfrm>
            <a:off x="8095488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03-cardtext15"/>
          <p:cNvSpPr txBox="1"/>
          <p:nvPr/>
        </p:nvSpPr>
        <p:spPr>
          <a:xfrm>
            <a:off x="8369808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일어난 일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인물에게 생긴 일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마음을 나타내는 말</a:t>
            </a:r>
            <a:endParaRPr lang="ko-KR" sz="4000" dirty="0"/>
          </a:p>
        </p:txBody>
      </p:sp>
      <p:sp>
        <p:nvSpPr>
          <p:cNvPr id="3" name="S04-text1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‘좋다’, ‘싫다’보다 자세히 말해 봐요.</a:t>
            </a:r>
            <a:endParaRPr lang="ko-KR" sz="3000" dirty="0"/>
          </a:p>
        </p:txBody>
      </p:sp>
      <p:sp>
        <p:nvSpPr>
          <p:cNvPr id="4" name="S04-word17"/>
          <p:cNvSpPr txBox="1"/>
          <p:nvPr/>
        </p:nvSpPr>
        <p:spPr>
          <a:xfrm>
            <a:off x="548640" y="2240280"/>
            <a:ext cx="2567178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기쁘다</a:t>
            </a:r>
            <a:endParaRPr lang="ko-KR" sz="3400" dirty="0"/>
          </a:p>
        </p:txBody>
      </p:sp>
      <p:sp>
        <p:nvSpPr>
          <p:cNvPr id="5" name="S04-word18"/>
          <p:cNvSpPr txBox="1"/>
          <p:nvPr/>
        </p:nvSpPr>
        <p:spPr>
          <a:xfrm>
            <a:off x="3390138" y="2240280"/>
            <a:ext cx="2567178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설레다</a:t>
            </a:r>
            <a:endParaRPr lang="ko-KR" sz="3400" dirty="0"/>
          </a:p>
        </p:txBody>
      </p:sp>
      <p:sp>
        <p:nvSpPr>
          <p:cNvPr id="6" name="S04-word19"/>
          <p:cNvSpPr txBox="1"/>
          <p:nvPr/>
        </p:nvSpPr>
        <p:spPr>
          <a:xfrm>
            <a:off x="6231636" y="2240280"/>
            <a:ext cx="2567178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뿌듯하다</a:t>
            </a:r>
            <a:endParaRPr lang="ko-KR" sz="3400" dirty="0"/>
          </a:p>
        </p:txBody>
      </p:sp>
      <p:sp>
        <p:nvSpPr>
          <p:cNvPr id="7" name="S04-word20"/>
          <p:cNvSpPr txBox="1"/>
          <p:nvPr/>
        </p:nvSpPr>
        <p:spPr>
          <a:xfrm>
            <a:off x="9073134" y="2240280"/>
            <a:ext cx="2567178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반갑다</a:t>
            </a:r>
            <a:endParaRPr lang="ko-KR" sz="3400" dirty="0"/>
          </a:p>
        </p:txBody>
      </p:sp>
      <p:sp>
        <p:nvSpPr>
          <p:cNvPr id="8" name="S04-word21"/>
          <p:cNvSpPr txBox="1"/>
          <p:nvPr/>
        </p:nvSpPr>
        <p:spPr>
          <a:xfrm>
            <a:off x="548640" y="4251960"/>
            <a:ext cx="2567178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걱정되다</a:t>
            </a:r>
            <a:endParaRPr lang="ko-KR" sz="3400" dirty="0"/>
          </a:p>
        </p:txBody>
      </p:sp>
      <p:sp>
        <p:nvSpPr>
          <p:cNvPr id="9" name="S04-word22"/>
          <p:cNvSpPr txBox="1"/>
          <p:nvPr/>
        </p:nvSpPr>
        <p:spPr>
          <a:xfrm>
            <a:off x="3390138" y="4251960"/>
            <a:ext cx="2567178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긴장되다</a:t>
            </a:r>
            <a:endParaRPr lang="ko-KR" sz="3400" dirty="0"/>
          </a:p>
        </p:txBody>
      </p:sp>
      <p:sp>
        <p:nvSpPr>
          <p:cNvPr id="10" name="S04-word23"/>
          <p:cNvSpPr txBox="1"/>
          <p:nvPr/>
        </p:nvSpPr>
        <p:spPr>
          <a:xfrm>
            <a:off x="6231636" y="4251960"/>
            <a:ext cx="2567178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속상하다</a:t>
            </a:r>
            <a:endParaRPr lang="ko-KR" sz="3400" dirty="0"/>
          </a:p>
        </p:txBody>
      </p:sp>
      <p:sp>
        <p:nvSpPr>
          <p:cNvPr id="11" name="S04-word24"/>
          <p:cNvSpPr txBox="1"/>
          <p:nvPr/>
        </p:nvSpPr>
        <p:spPr>
          <a:xfrm>
            <a:off x="9073134" y="4251960"/>
            <a:ext cx="2567178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화나다</a:t>
            </a:r>
            <a:endParaRPr lang="ko-KR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민호 이야기 읽기</a:t>
            </a:r>
            <a:endParaRPr lang="ko-KR" sz="4000" dirty="0"/>
          </a:p>
        </p:txBody>
      </p:sp>
      <p:sp>
        <p:nvSpPr>
          <p:cNvPr id="3" name="S05-card2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5-cardtext2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민호는 어떤 마음일까요? 어느 문장에서 알 수 있나요?</a:t>
            </a:r>
            <a:endParaRPr lang="ko-KR" sz="3000" dirty="0"/>
          </a:p>
        </p:txBody>
      </p:sp>
      <p:sp>
        <p:nvSpPr>
          <p:cNvPr id="5" name="S05-passagebox27"/>
          <p:cNvSpPr/>
          <p:nvPr/>
        </p:nvSpPr>
        <p:spPr>
          <a:xfrm>
            <a:off x="548640" y="1325880"/>
            <a:ext cx="11091672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05-passage28"/>
          <p:cNvSpPr txBox="1"/>
          <p:nvPr/>
        </p:nvSpPr>
        <p:spPr>
          <a:xfrm>
            <a:off x="822960" y="1508760"/>
            <a:ext cx="10543032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　민호는 아침부터 운동화 끈을 몇 번이나 다시 묶었습니다. 오늘은 처음으로 이어달리기 대표로 뛰는 날입니다. 출발선에 서자 민호의 손에 땀이 났습니다. 민호는 “넘어지면 어떡하지?” 하고 중얼거렸습니다.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마음과 까닭 말하는 방법</a:t>
            </a:r>
            <a:endParaRPr lang="ko-KR" sz="4000" dirty="0"/>
          </a:p>
        </p:txBody>
      </p:sp>
      <p:sp>
        <p:nvSpPr>
          <p:cNvPr id="3" name="S06-card2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6-cardtext3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예: 손에 땀이 나서 긴장한 것 같아요.</a:t>
            </a:r>
            <a:endParaRPr lang="ko-KR" sz="3000" dirty="0"/>
          </a:p>
        </p:txBody>
      </p:sp>
      <p:sp>
        <p:nvSpPr>
          <p:cNvPr id="5" name="S06-stepno31"/>
          <p:cNvSpPr txBox="1"/>
          <p:nvPr/>
        </p:nvSpPr>
        <p:spPr>
          <a:xfrm>
            <a:off x="548640" y="187909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6" name="S06-text32"/>
          <p:cNvSpPr txBox="1"/>
          <p:nvPr/>
        </p:nvSpPr>
        <p:spPr>
          <a:xfrm>
            <a:off x="1325880" y="1879092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인물에게 무슨 일이 있었는지 봐요.</a:t>
            </a:r>
            <a:endParaRPr lang="ko-KR" sz="3000" dirty="0"/>
          </a:p>
        </p:txBody>
      </p:sp>
      <p:sp>
        <p:nvSpPr>
          <p:cNvPr id="7" name="S06-stepno33"/>
          <p:cNvSpPr txBox="1"/>
          <p:nvPr/>
        </p:nvSpPr>
        <p:spPr>
          <a:xfrm>
            <a:off x="548640" y="259232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8" name="S06-text34"/>
          <p:cNvSpPr txBox="1"/>
          <p:nvPr/>
        </p:nvSpPr>
        <p:spPr>
          <a:xfrm>
            <a:off x="1325880" y="2592324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인물의 말과 행동에 밑줄을 그어요.</a:t>
            </a:r>
            <a:endParaRPr lang="ko-KR" sz="3000" dirty="0"/>
          </a:p>
        </p:txBody>
      </p:sp>
      <p:sp>
        <p:nvSpPr>
          <p:cNvPr id="9" name="S06-stepno35"/>
          <p:cNvSpPr txBox="1"/>
          <p:nvPr/>
        </p:nvSpPr>
        <p:spPr>
          <a:xfrm>
            <a:off x="548640" y="330555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0" name="S06-text36"/>
          <p:cNvSpPr txBox="1"/>
          <p:nvPr/>
        </p:nvSpPr>
        <p:spPr>
          <a:xfrm>
            <a:off x="1325880" y="3305556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마음을 나타내는 말을 골라요.</a:t>
            </a:r>
            <a:endParaRPr lang="ko-KR" sz="3000" dirty="0"/>
          </a:p>
        </p:txBody>
      </p:sp>
      <p:sp>
        <p:nvSpPr>
          <p:cNvPr id="11" name="S06-stepno37"/>
          <p:cNvSpPr txBox="1"/>
          <p:nvPr/>
        </p:nvSpPr>
        <p:spPr>
          <a:xfrm>
            <a:off x="548640" y="401878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2" name="S06-text38"/>
          <p:cNvSpPr txBox="1"/>
          <p:nvPr/>
        </p:nvSpPr>
        <p:spPr>
          <a:xfrm>
            <a:off x="1325880" y="4018788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“~해서 ~한 것 같아요.”로 말해요.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수아 이야기 읽기</a:t>
            </a:r>
            <a:endParaRPr lang="ko-KR" sz="4000" dirty="0"/>
          </a:p>
        </p:txBody>
      </p:sp>
      <p:sp>
        <p:nvSpPr>
          <p:cNvPr id="3" name="S07-card3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7-cardtext4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수아는 어떤 마음일까요? 그렇게 생각한 까닭은요?</a:t>
            </a:r>
            <a:endParaRPr lang="ko-KR" sz="3000" dirty="0"/>
          </a:p>
        </p:txBody>
      </p:sp>
      <p:sp>
        <p:nvSpPr>
          <p:cNvPr id="5" name="S07-passagebox41"/>
          <p:cNvSpPr/>
          <p:nvPr/>
        </p:nvSpPr>
        <p:spPr>
          <a:xfrm>
            <a:off x="548640" y="1325880"/>
            <a:ext cx="11091672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07-passage42"/>
          <p:cNvSpPr txBox="1"/>
          <p:nvPr/>
        </p:nvSpPr>
        <p:spPr>
          <a:xfrm>
            <a:off x="822960" y="1508760"/>
            <a:ext cx="10543032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　수아는 엄마 생일에 드릴 카드를 열심히 만들었습니다. 그런데 동생이 카드에 주스를 쏟고 말았습니다. 수아는 젖은 카드를 들고 얼굴이 빨개졌습니다. “내가 얼마나 열심히 만들었는데!” 수아가 소리쳤습니다.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까닭이 알맞을까?</a:t>
            </a:r>
            <a:endParaRPr lang="ko-KR" sz="4000" dirty="0"/>
          </a:p>
        </p:txBody>
      </p:sp>
      <p:sp>
        <p:nvSpPr>
          <p:cNvPr id="3" name="S08-card43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8-cardtext44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민호의 마음을 두 친구가 이렇게 말했어요.</a:t>
            </a:r>
            <a:endParaRPr lang="ko-KR" sz="3000" dirty="0"/>
          </a:p>
        </p:txBody>
      </p:sp>
      <p:sp>
        <p:nvSpPr>
          <p:cNvPr id="5" name="S08-card4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8-cardtext4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친구가 글에서 까닭을 찾았나요?</a:t>
            </a:r>
            <a:endParaRPr lang="ko-KR" sz="3000" dirty="0"/>
          </a:p>
        </p:txBody>
      </p:sp>
      <p:sp>
        <p:nvSpPr>
          <p:cNvPr id="7" name="S08-chip47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400" dirty="0"/>
          </a:p>
        </p:txBody>
      </p:sp>
      <p:sp>
        <p:nvSpPr>
          <p:cNvPr id="8" name="S08-text48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민호는 떨렸을 거예요.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손에 땀이 났으니까요.</a:t>
            </a:r>
            <a:endParaRPr lang="ko-KR" sz="3000" dirty="0"/>
          </a:p>
        </p:txBody>
      </p:sp>
      <p:sp>
        <p:nvSpPr>
          <p:cNvPr id="9" name="S08-chip49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400" dirty="0"/>
          </a:p>
        </p:txBody>
      </p:sp>
      <p:sp>
        <p:nvSpPr>
          <p:cNvPr id="10" name="S08-text50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민호는 신났을 거예요.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나라면 신났을 테니까요.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09-card5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9-cardtext5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마지막에 준서는 어떤 마음일까요? 까닭도 말해 보세요.</a:t>
            </a:r>
            <a:endParaRPr lang="ko-KR" sz="3000" dirty="0"/>
          </a:p>
        </p:txBody>
      </p:sp>
      <p:sp>
        <p:nvSpPr>
          <p:cNvPr id="5" name="S09-passagebox53"/>
          <p:cNvSpPr/>
          <p:nvPr/>
        </p:nvSpPr>
        <p:spPr>
          <a:xfrm>
            <a:off x="548640" y="1325880"/>
            <a:ext cx="11091672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09-passage54"/>
          <p:cNvSpPr txBox="1"/>
          <p:nvPr/>
        </p:nvSpPr>
        <p:spPr>
          <a:xfrm>
            <a:off x="822960" y="1508760"/>
            <a:ext cx="10543032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　준서네 강아지 보리가 사흘째 보이지 않았습니다. 준서는 밤마다 창밖을 내다보았습니다. 그런데 오늘 아침, 대문 앞에서 낑낑대는 소리가 들렸습니다. 준서는 맨발로 뛰어나가 보리를 꼭 껴안았습니다.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까닭으로 알맞은 것은?</a:t>
            </a:r>
            <a:endParaRPr lang="ko-KR" sz="4000" dirty="0"/>
          </a:p>
        </p:txBody>
      </p:sp>
      <p:sp>
        <p:nvSpPr>
          <p:cNvPr id="3" name="S11-text5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지호는 상자를 열자마자 “와!” 하고 소리치며 펄쩍 뛰었습니다.</a:t>
            </a:r>
            <a:endParaRPr lang="ko-KR" sz="3000" dirty="0"/>
          </a:p>
        </p:txBody>
      </p:sp>
      <p:sp>
        <p:nvSpPr>
          <p:cNvPr id="4" name="S11-card5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1-cardtext5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지호가 기뻐했다고 생각한 까닭으로 알맞은 것을 고르세요.</a:t>
            </a:r>
            <a:endParaRPr lang="ko-KR" sz="3000" dirty="0"/>
          </a:p>
        </p:txBody>
      </p:sp>
      <p:sp>
        <p:nvSpPr>
          <p:cNvPr id="6" name="S11-chip58"/>
          <p:cNvSpPr txBox="1"/>
          <p:nvPr/>
        </p:nvSpPr>
        <p:spPr>
          <a:xfrm>
            <a:off x="1991868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000" dirty="0"/>
          </a:p>
        </p:txBody>
      </p:sp>
      <p:sp>
        <p:nvSpPr>
          <p:cNvPr id="7" name="S11-card59"/>
          <p:cNvSpPr/>
          <p:nvPr/>
        </p:nvSpPr>
        <p:spPr>
          <a:xfrm>
            <a:off x="548640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11-cardtext60"/>
          <p:cNvSpPr txBox="1"/>
          <p:nvPr/>
        </p:nvSpPr>
        <p:spPr>
          <a:xfrm>
            <a:off x="822960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“와!” 하고 소리치며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펄쩍 뛰었어요.</a:t>
            </a:r>
            <a:endParaRPr lang="ko-KR" sz="3000" dirty="0"/>
          </a:p>
        </p:txBody>
      </p:sp>
      <p:sp>
        <p:nvSpPr>
          <p:cNvPr id="9" name="S11-chip61"/>
          <p:cNvSpPr txBox="1"/>
          <p:nvPr/>
        </p:nvSpPr>
        <p:spPr>
          <a:xfrm>
            <a:off x="5811012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000" dirty="0"/>
          </a:p>
        </p:txBody>
      </p:sp>
      <p:sp>
        <p:nvSpPr>
          <p:cNvPr id="10" name="S11-card62"/>
          <p:cNvSpPr/>
          <p:nvPr/>
        </p:nvSpPr>
        <p:spPr>
          <a:xfrm>
            <a:off x="4367784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11-cardtext63"/>
          <p:cNvSpPr txBox="1"/>
          <p:nvPr/>
        </p:nvSpPr>
        <p:spPr>
          <a:xfrm>
            <a:off x="4642104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나도 선물을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좋아해요.</a:t>
            </a:r>
            <a:endParaRPr lang="ko-KR" sz="3000" dirty="0"/>
          </a:p>
        </p:txBody>
      </p:sp>
      <p:sp>
        <p:nvSpPr>
          <p:cNvPr id="12" name="S11-chip64"/>
          <p:cNvSpPr txBox="1"/>
          <p:nvPr/>
        </p:nvSpPr>
        <p:spPr>
          <a:xfrm>
            <a:off x="9630156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000" dirty="0"/>
          </a:p>
        </p:txBody>
      </p:sp>
      <p:sp>
        <p:nvSpPr>
          <p:cNvPr id="13" name="S11-card65"/>
          <p:cNvSpPr/>
          <p:nvPr/>
        </p:nvSpPr>
        <p:spPr>
          <a:xfrm>
            <a:off x="8186928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11-cardtext66"/>
          <p:cNvSpPr txBox="1"/>
          <p:nvPr/>
        </p:nvSpPr>
        <p:spPr>
          <a:xfrm>
            <a:off x="8461248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상자는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네모 모양이에요.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2-card67"/>
          <p:cNvSpPr/>
          <p:nvPr/>
        </p:nvSpPr>
        <p:spPr>
          <a:xfrm>
            <a:off x="548640" y="1325880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2-cardtext68"/>
          <p:cNvSpPr txBox="1"/>
          <p:nvPr/>
        </p:nvSpPr>
        <p:spPr>
          <a:xfrm>
            <a:off x="822960" y="1463040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인물의 말·행동·일어난 일을 단서로 마음을 짐작하고,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까닭을 글에서 찾아 말해요.</a:t>
            </a:r>
            <a:endParaRPr lang="ko-KR" sz="3000" dirty="0"/>
          </a:p>
        </p:txBody>
      </p:sp>
      <p:sp>
        <p:nvSpPr>
          <p:cNvPr id="5" name="S12-chip69"/>
          <p:cNvSpPr txBox="1"/>
          <p:nvPr/>
        </p:nvSpPr>
        <p:spPr>
          <a:xfrm>
            <a:off x="548640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글에서 까닭 찾기</a:t>
            </a:r>
            <a:endParaRPr lang="ko-KR" sz="2400" dirty="0"/>
          </a:p>
        </p:txBody>
      </p:sp>
      <p:sp>
        <p:nvSpPr>
          <p:cNvPr id="6" name="S12-chip70"/>
          <p:cNvSpPr txBox="1"/>
          <p:nvPr/>
        </p:nvSpPr>
        <p:spPr>
          <a:xfrm>
            <a:off x="6208776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내 생각만으로 까닭 대기</a:t>
            </a:r>
            <a:endParaRPr lang="ko-KR" sz="2400" dirty="0"/>
          </a:p>
        </p:txBody>
      </p:sp>
      <p:sp>
        <p:nvSpPr>
          <p:cNvPr id="7" name="S12-text71"/>
          <p:cNvSpPr txBox="1"/>
          <p:nvPr/>
        </p:nvSpPr>
        <p:spPr>
          <a:xfrm>
            <a:off x="548640" y="3636264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400" dirty="0"/>
          </a:p>
        </p:txBody>
      </p:sp>
      <p:sp>
        <p:nvSpPr>
          <p:cNvPr id="8" name="S12-text72"/>
          <p:cNvSpPr txBox="1"/>
          <p:nvPr/>
        </p:nvSpPr>
        <p:spPr>
          <a:xfrm>
            <a:off x="548640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마음을 알려 주는 단서</a:t>
            </a:r>
            <a:endParaRPr lang="ko-KR" sz="2400" dirty="0"/>
          </a:p>
        </p:txBody>
      </p:sp>
      <p:sp>
        <p:nvSpPr>
          <p:cNvPr id="9" name="S12-text73"/>
          <p:cNvSpPr txBox="1"/>
          <p:nvPr/>
        </p:nvSpPr>
        <p:spPr>
          <a:xfrm>
            <a:off x="4322064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마음을 나타내는 말</a:t>
            </a:r>
            <a:endParaRPr lang="ko-KR" sz="2400" dirty="0"/>
          </a:p>
        </p:txBody>
      </p:sp>
      <p:sp>
        <p:nvSpPr>
          <p:cNvPr id="10" name="S12-text74"/>
          <p:cNvSpPr txBox="1"/>
          <p:nvPr/>
        </p:nvSpPr>
        <p:spPr>
          <a:xfrm>
            <a:off x="8095488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까닭을 말하는 틀</a:t>
            </a:r>
            <a:endParaRPr lang="ko-KR" sz="2400" dirty="0"/>
          </a:p>
        </p:txBody>
      </p:sp>
      <p:sp>
        <p:nvSpPr>
          <p:cNvPr id="11" name="S12-text75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감각적 표현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표정으로 마음 알기</a:t>
            </a:r>
            <a:endParaRPr lang="ko-KR" sz="4000" dirty="0"/>
          </a:p>
        </p:txBody>
      </p:sp>
      <p:sp>
        <p:nvSpPr>
          <p:cNvPr id="3" name="S13-text7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가족의 표정과 몸짓을 보고 마음을 말해 보세요.</a:t>
            </a:r>
            <a:endParaRPr lang="ko-KR" sz="3000" dirty="0"/>
          </a:p>
        </p:txBody>
      </p:sp>
      <p:sp>
        <p:nvSpPr>
          <p:cNvPr id="4" name="S13-card7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3-cardtext7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“웃고 있어서 기쁜 것 같아요.”처럼 까닭도 말해요.</a:t>
            </a:r>
            <a:endParaRPr lang="ko-KR" sz="3000" dirty="0"/>
          </a:p>
        </p:txBody>
      </p:sp>
      <p:sp>
        <p:nvSpPr>
          <p:cNvPr id="6" name="S13-word79"/>
          <p:cNvSpPr txBox="1"/>
          <p:nvPr/>
        </p:nvSpPr>
        <p:spPr>
          <a:xfrm>
            <a:off x="548640" y="2697480"/>
            <a:ext cx="2567178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기뻐요</a:t>
            </a:r>
            <a:endParaRPr lang="ko-KR" sz="3400" dirty="0"/>
          </a:p>
        </p:txBody>
      </p:sp>
      <p:sp>
        <p:nvSpPr>
          <p:cNvPr id="7" name="S13-word80"/>
          <p:cNvSpPr txBox="1"/>
          <p:nvPr/>
        </p:nvSpPr>
        <p:spPr>
          <a:xfrm>
            <a:off x="3390138" y="2697480"/>
            <a:ext cx="2567178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슬퍼요</a:t>
            </a:r>
            <a:endParaRPr lang="ko-KR" sz="3400" dirty="0"/>
          </a:p>
        </p:txBody>
      </p:sp>
      <p:sp>
        <p:nvSpPr>
          <p:cNvPr id="8" name="S13-word81"/>
          <p:cNvSpPr txBox="1"/>
          <p:nvPr/>
        </p:nvSpPr>
        <p:spPr>
          <a:xfrm>
            <a:off x="6231636" y="2697480"/>
            <a:ext cx="2567178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화나요</a:t>
            </a:r>
            <a:endParaRPr lang="ko-KR" sz="3400" dirty="0"/>
          </a:p>
        </p:txBody>
      </p:sp>
      <p:sp>
        <p:nvSpPr>
          <p:cNvPr id="9" name="S13-word82"/>
          <p:cNvSpPr txBox="1"/>
          <p:nvPr/>
        </p:nvSpPr>
        <p:spPr>
          <a:xfrm>
            <a:off x="9073134" y="2697480"/>
            <a:ext cx="2567178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무서워요</a:t>
            </a:r>
            <a:endParaRPr lang="ko-KR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초3 국어 인물의 마음과 까닭</dc:title>
  <dc:subject>KR22-G03-KOR-CHARACTER-L01</dc:subject>
  <dc:creator>education-ppt</dc:creator>
  <cp:lastModifiedBy>education-ppt</cp:lastModifiedBy>
  <cp:revision>1</cp:revision>
  <dcterms:created xsi:type="dcterms:W3CDTF">2026-10-26T06:38:18Z</dcterms:created>
  <dcterms:modified xsi:type="dcterms:W3CDTF">2026-10-26T06:38:18Z</dcterms:modified>
</cp:coreProperties>
</file>