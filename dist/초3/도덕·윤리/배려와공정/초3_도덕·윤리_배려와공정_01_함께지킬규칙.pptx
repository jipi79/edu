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c948528e-6a12-0942-c885-81fb2119d46d}">
          <p14:sldIdLst>
            <p14:sldId id="256"/>
            <p14:sldId id="257"/>
          </p14:sldIdLst>
        </p14:section>
        <p14:section name="개념" id="{018da28e-417d-408d-0253-9483e90d18e4}">
          <p14:sldIdLst>
            <p14:sldId id="258"/>
            <p14:sldId id="259"/>
            <p14:sldId id="261"/>
            <p14:sldId id="262"/>
          </p14:sldIdLst>
        </p14:section>
        <p14:section name="연습" id="{cb7daddc-049f-eeba-b2ab-15a9dda66546}">
          <p14:sldIdLst>
            <p14:sldId id="260"/>
            <p14:sldId id="263"/>
            <p14:sldId id="264"/>
          </p14:sldIdLst>
        </p14:section>
        <p14:section name="개념" id="{955f96ac-1061-31e3-750b-c8eeb8d6075d}">
          <p14:sldIdLst/>
        </p14:section>
        <p14:section name="연습" id="{24110948-ce80-41e7-d3d0-4027fa366d4c}">
          <p14:sldIdLst/>
        </p14:section>
        <p14:section name="확인" id="{5d208e50-50d8-0fb0-d95f-8bd7203dcc7c}">
          <p14:sldIdLst>
            <p14:sldId id="265"/>
            <p14:sldId id="266"/>
            <p14:sldId id="267"/>
          </p14:sldIdLst>
        </p14:section>
        <p14:section name="정리" id="{cadabcf8-47e8-7079-4380-7a24bea44679}">
          <p14:sldIdLst>
            <p14:sldId id="268"/>
          </p14:sldIdLst>
        </p14:section>
        <p14:section name="보충" id="{d55b7734-88c1-5cce-a8ce-cd298be09703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여러 사람의 입장을 생각해 모두에게 공정한 규칙을 함께 정하는 방법을 배운다고 알립니다.
시간: 약 2분
이렇게 말해 보세요
- “친구들과 놀 때 규칙 때문에 다툰 적 있어?”
- “오늘은 모두에게 공정한 규칙을 어떻게 만드는지 배워 볼 거야. 마지막에는 우리 집 규칙도 하나 같이 정해 보자.”
예상 답
- “가위바위보 하다 싸웠어요.” / “동생이 순서를 안 지켜요.” / “없어요.”
주의
- 형제자매가 없는 아이라면 친구와 노는 장면이나 부모와 하는 보드게임으로 바꾸어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확인(공정의 뜻, 차례 정하기)]
목적: 2학년 ‘공감과 공정한 사용’에서 배운 공정의 뜻과 차례 정하기를 기억하는지 확인합니다. 오늘 배울 ‘공정한 규칙’의 바탕입니다.
시간: 약 3분
이렇게 말해 보세요
- “그네가 하나인데 너도 친구도 타고 싶어. 어떻게 하면 좋을까?”
- “‘공정하다’는 건 무슨 뜻이었지?”
예상 답
- ① “열 번씩 타고 바꿔요.”
- ② “똑같이 하는 거요.” / “모두 할 수 있게 하는 거요.”
정답
- ① 차례 정하기(예: 열 번씩 번갈아 타기, 가위바위보로 먼저 탈 사람 정하기)
- ② 모두에게 고르게 기회가 가는 것
막히면
- “그네는 반으로 나눌 수 있을까? 그럼 어떻게 해야 둘 다 탈 수 있을까?” 하고 묻습니다.
- 둘 다 어려우면 S14(보충)를 먼저 하고 S03으로 이어 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한 사람에게만 유리한 규칙(상황 제시)]
목적: 한 사람에게만 유리한 규칙의 예를 보여 주고, 다른 사람의 입장을 생각하게 합니다(M1).
시간: 약 3분
이렇게 말해 보세요
- (천천히 읽어 준 뒤) “하준이는 왜 언제나 먼저 하고 싶을까?”
- “다온이와 지수는 어떤 마음일까? 이 규칙으로 계속 놀고 싶을까?”
예상 답
- “자기 게임이니까요.” / “먼저 하면 이기기 쉬우니까요.”
- “다온이랑 지수는 속상해요. 재미없어요.”
막히면
- “네가 다온이라면, 게임을 할 때마다 늘 나중에 하면 어떨 것 같아?” 하고 입장을 바꿔 묻습니다.
주의
- 하준이를 나쁜 아이로 말하지 않습니다. 먼저 하고 싶은 마음은 누구에게나 있다고 받아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두 규칙을 세 사람의 입장에서 견주기]
목적: 같은 놀이의 두 규칙을 세 사람의 입장에서 차례로 살펴, 공정한 규칙은 누구의 입장에서 봐도 괜찮은 규칙이라는 것을 이해합니다(M1).
시간: 약 3분
이렇게 말해 보세요
- “가 규칙이면 하준이는 어때? 다온이는? 지수는?”
- “나 규칙이면 세 사람은 각각 어때?”
- “어느 규칙이 세 사람 모두에게 괜찮을까?”
예상 답
- 가: “하준이만 좋아요. 다온이랑 지수는 늘 나중이에요.”
- 나: “셋 다 먼저 할 수 있어요. 하준이는 조금 아쉽지만 친구들이 계속 같이 놀아 줘요.”
막히면
- 세 사람 이름을 종이에 쓰고, 규칙마다 ‘좋아요’에는 ○, ‘속상해요’에는 △를 붙여 봅니다.
주의
- 공정한 규칙에서도 누군가는 조금 아쉬울 수 있다고 말해 줍니다. 공정은 모두가 늘 원하는 대로 하는 것이 아니라, 모두에게 기회가 가는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불리한 사람과 까닭 찾기(도움 받아)]
목적: 여러 규칙에서 불리한 사람을 찾고, 그 사람의 입장에서 까닭을 말해 봅니다(M3).
시간: 약 4분
이렇게 말해 보세요
- “①은 늦게 온 사람이 끝까지 술래를 하는 규칙이야. 누구에게 불리할까? 왜?”
- “②, ③도 그 사람이 되어 생각해 볼래?”
정답
- ① 늦게 온 사람 — 숨을 기회가 한 번도 없어요. 사정이 있어 늦었을 수도 있어요.
- ② 목소리가 작은 사람, 동생 — 보고 싶은 것을 말해도 못 봐요.
- ③ 처음 하는 친구 — 규칙을 몰라 계속 지고 재미가 없어요. 규칙을 설명해 주거나 연습 판을 한 번 하면 공정해져요.
막히면
- “네가 늦게 온 사람이라면 어떨 것 같아?”처럼 아이를 그 자리에 세워 묻습니다.
주의
- ③은 ‘모두 똑같이 시작하기’만이 공정은 아니라는 예입니다(M3). 아이가 찾기 어려워하면 부모가 먼저 말해 주어도 됩니다.
- 여기서 나눠도 됩니다. 다음 날 S06부터 이어 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공정한 규칙을 함께 정하는 차례]
목적: 공정한 규칙을 함께 정하는 네 단계를 알려 줍니다(M1, M2).
시간: 약 3분
이렇게 말해 보세요
- “규칙은 한 사람이 정하는 게 아니라 함께 정해. 먼저 모두의 생각을 들어 보는 거야.”
- “규칙을 정했으면 ‘모두에게 공정한가?’ 하고 물어봐. 그다음 장에서 물어볼 질문 네 가지를 알려 줄게.”
- “고칠 곳이 보이면 고치고, 정한 규칙은 모두 볼 수 있게 적어 두면 잊지 않아.”
예상 답
- “하준이 게임도 셋이 같이 정하면 돼요.”
막히면
- S03의 하준이 게임을 예로 들어 네 단계를 하나씩 따라가 봅니다.
주의
- ‘함께 정하기’가 언제나 다수결(손 들어 많은 쪽으로 정하기)을 뜻하지는 않습니다. 오늘은 모두의 생각을 듣고 모두가 괜찮다고 할 때까지 고쳐 보는 것을 연습합니다.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‘모두에게 공정한가?’ 점검 질문]
목적: 규칙이 공정한지 살펴보는 점검 질문 네 가지를 알려 줍니다(M2).
시간: 약 3분
이렇게 말해 보세요
- “하준이의 가 규칙에 네 질문을 물어볼까? 모두에게 먼저 할 기회가 있었어?”
- “한 사람만 유리하지 않아? 다온이와 지수도 좋다고 했어?”
- “④는 누구나 지킬 수 있는지야. ‘한 번도 안 틀리기’ 같은 규칙은 지키기 어렵겠지?”
예상 답
- “가 규칙은 ①도 ②도 ③도 안 돼요.” / “나 규칙은 네 개 다 돼요.”
막히면
- 질문을 하나씩 손가락으로 세며 S04의 나 규칙에 대어 봅니다.
주의
- ‘동의’는 ‘좋다고 하는 것’이라고 쉬운 말로 풀어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점검 질문으로 규칙 고치기(도움 받아)]
목적: 한쪽에 유리한 규칙을 점검 질문으로 살펴보고, 모두에게 기회가 가도록 고쳐 봅니다.
시간: 약 4분
이렇게 말해 보세요
- “①을 네 질문으로 살펴볼까? 어느 질문에서 걸려?”
- “어떻게 고치면 동생도 형도 괜찮을까?”
- “②도 해 보자.”
예상 답
- ① “20분씩 번갈아 써요. 오늘은 형, 내일은 동생이 먼저요.”
- ② “가위바위보로 술래를 정해요.”
정답
- ① ‘기회’와 ‘유리함’에서 걸립니다. 고친 예: 시간을 정해 번갈아 쓰고, 먼저 쓰는 사람은 날마다 바꿔요.
- ② ‘유리함’에서 걸립니다. 고친 예: 술래는 가위바위보로 정해요. / 돌아가며 술래를 해요.
- 모두에게 기회가 가고, 고친 까닭을 점검 질문과 이어 말하면 맞습니다.
막히면
- 2학년 때 배운 ‘차례 정하기’를 떠올리게 합니다. “시간을 정해서 번갈아 하면 어때?”
주의
- 태블릿을 쓰는 전체 시간은 가족이 정한 약속을 따릅니다. 여기서는 형제끼리 차례를 정하는 연습만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가족과 함께 규칙 정하기]
목적: 실제로 가족과 함께 규칙 하나를 정하며, 모두의 입장을 듣고 점검 질문으로 살피는 연습을 합니다.
시간: 약 5분
이렇게 말해 보세요
- “우리 집에서 규칙이 필요한 일이 뭐가 있을까? 보드게임 순서, 텔레비전 채널, 주말 간식 고르기…?”
- “엄마(아빠) 생각은 이래. 너는 어떻게 생각해?”
- “이 규칙을 네 질문으로 살펴볼까? 모두에게 기회가 있어?”
예상 답
- “보드게임은 가장 어린 사람부터 하고, 다음 판은 시계 방향으로 돌아가요.”
- “주말 간식은 토요일엔 내가, 일요일엔 동생이 골라요.”
정답
- 관찰 기준 세 가지를 지키면 됩니다. 정한 규칙과 까닭을 활동지 3에, 점검 결과를 활동지 4에 적습니다.
막히면
- 부모가 정할 일 두세 가지를 보기로 주고 고르게 합니다.
- 의견이 다르면 “둘 다 괜찮은 방법이 있을까?” 하고 함께 찾습니다.
주의
- 잠자는 시간이나 안전처럼 어른이 정하는 일은 회의로 바꾸지 않는다고 미리 말해 둡니다. 오늘은 아이가 의견을 낼 수 있는 일을 고릅니다.
- 정한 규칙은 일주일 동안 가족 모두가 지켜 보고 활동지 5에 표시합니다. 부모도 함께 지키는 모습을 보여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 보기(새 규칙 살피고 고치기)]
목적: 처음 보는 규칙에서 혼자 불리한 사람과 까닭을 찾고(A), 점검 질문으로 살펴 고치는지(B) 확인합니다.
시간: 약 4분
이렇게 말해 보세요
- “이번에는 엄마(아빠)가 도와주지 않을게. 하나씩 말해 줄래?”
예상 답
- ① “막내요. 줄만 돌리고 한 번도 못 넘어요.”
- ② “걸린 사람이 줄을 돌려요.” / “다섯 번씩 돌아가며 돌려요.”
- ③ “모두 넘을 기회가 있어요. 막내만 불리하지 않아요. 다 같이 좋다고 하면 돼요. 누구나 지킬 수 있어요.”
정답
- ① 불리한 사람(막내)과 까닭(넘을 기회가 없음)을 말하면 목표 A 확인 완료.
- ②③ 모두에게 기회가 가는 규칙으로 고치고, 점검 질문 두 가지 이상과 이어 까닭을 말하면 목표 B 확인 완료.
막히면
- ③에서 질문을 떠올리지 못하면 S07의 카드 제목(기회, 유리함, 동의, 지키기)만 들려주고 기록표에 ‘도움’으로 표시합니다.
주의
- 관찰한 것을 기록표(S10 줄)에 바로 표시해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잘한 모습과 다시 생각해 볼 모습]
목적: S10에서 아이가 한 말을 잘한 모습, 다시 생각해 볼 모습과 견주며 돌아봅니다.
시간: 약 2분
이렇게 말해 보세요
- “네가 고친 규칙이면 막내도 줄을 넘을 수 있어?”
- “‘막내니까 괜찮아.’라고 하면 막내는 어떤 마음일까?”
예상 답
- “막내도 넘을 수 있어요.” / “막내는 속상해요.”
주의
- 이 장은 학생용 파일에서 빠집니다. 잘한 점을 먼저 말하고, 빠진 것은 하나만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확인(공정한 규칙 고르기)]
목적: 처음 보는 규칙들 가운데 공정한 것을 고르고, 점검 질문으로 까닭을 말하는지 확인합니다.
시간: 약 2분
이렇게 말해 보세요
- “세 규칙 가운데 모두에게 공정한 건 무엇일까? 네 질문 가운데 어떤 질문으로 알 수 있어?”
정답
- 나. 모두에게 고를 기회가 돌아가고(기회), 한 사람만 유리하지 않으며(유리함), 모두 좋다고 했습니다(동의).
- 가는 빠른 사람이나 힘센 사람에게 유리하고, 다는 형에게만 유리합니다. 나를 고르고 점검 질문 하나 이상과 이어 까닭을 말하면 확인 완료입니다.
막히면
- S07의 네 카드를 다시 보여 주고 규칙마다 하나씩 물어봅니다.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학습]
목적: 공정한 규칙을 정하는 방법을 한 문장으로 정리하고, 다음 수업 첫 5분에 할 복습을 알려 줍니다.
시간: 약 2분
이렇게 말해 보세요
- “처음에 물어본 ‘모두가 즐거운 규칙은 어떻게 만들까?’에 지금은 어떻게 답할래?”
예상 답
- “모두 생각을 듣고 같이 정해요. 그리고 네 가지 질문으로 살펴봐요.”
정답
- ① 모두의 생각 듣기 → 함께 정하기 → 점검 질문으로 묻기 → 고치기 ② 모두에게 기회가 있나요? 한 사람만 유리하지 않나요? 모두 알고 좋다고 했나요? 누구나 지킬 수 있나요? 가운데 두 가지 ③ 활동지 5를 보며 이야기합니다(지킨 날의 수는 평가하지 않음).
주의
- 일주일 동안 규칙이 잘 안 지켜지면 아이 탓을 하기보다 “규칙을 고쳐야 할까?” 하고 함께 다시 살펴봅니다. 규칙을 고치는 것도 오늘 배운 단계입니다.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보충(공정하게 쓰는 방법)]
목적: S02에서 공정의 뜻이나 차례 정하기를 떠올리지 못하면, 함께 쓰는 물건을 공정하게 쓰는 세 가지 방법을 다시 봅니다.
시간: 약 5분
이렇게 말해 보세요
- “공정하다는 건 모두에게 고르게 기회가 가는 거야.”
- “블록은 반씩 나눌 수 있지만, 그네는 나눌 수 없지? 그럴 땐 차례를 정해.”
- “지금 색연필 한 상자를 엄마(아빠)랑 공정하게 써 볼까? 어떻게 할래?”
정답
- 공정의 뜻(모두에게 고르게 기회)과 상황에 맞는 방법 하나(차례 정하기, 나누어 쓰기, 쓰고 정리하기)를 말하면 맞습니다.
막히면
- 실제로 색연필이나 블록을 나누어 쓰거나 1분씩 번갈아 써 봅니다.
- 이 차시의 선수 차시는 2학년 ‘공감과 공정한 사용’입니다. 보충으로도 어렵다면 그 차시를 먼저 합니다.
주의
- 보충이 오래 걸리면 오늘은 여기까지 하고,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도덕·윤리 · 배려와공정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도덕·윤리 · 함께 지킬 규칙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도덕·윤리 · 함께 지킬 규칙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도덕·윤리 · 함께 지킬 규칙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지킬 규칙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모두가 즐거운 규칙은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만들까?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여러 사람의 입장에서 규칙을 살펴요.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공정한 규칙을 함께 정해요.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공정, 기억나요?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2학년 때 배운 것을 떠올려요.</a:t>
            </a:r>
            <a:endParaRPr lang="ko-KR" sz="30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그네는 하나인데 둘이 타고 싶어요. 어떻게 할까요?</a:t>
            </a:r>
            <a:endParaRPr lang="ko-KR" sz="30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‘공정하다’는 무슨 뜻일까요?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하준이의 게임 규칙</a:t>
            </a:r>
            <a:endParaRPr lang="ko-KR" sz="4000" dirty="0"/>
          </a:p>
        </p:txBody>
      </p:sp>
      <p:sp>
        <p:nvSpPr>
          <p:cNvPr id="3" name="S03-card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다온이와 지수는 어떤 마음일까요?</a:t>
            </a:r>
            <a:endParaRPr lang="ko-KR" sz="3000" dirty="0"/>
          </a:p>
        </p:txBody>
      </p:sp>
      <p:sp>
        <p:nvSpPr>
          <p:cNvPr id="5" name="S03-passagebox10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3-passage11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게임이니까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하준이가 집에서 보드게임을 가져왔어요.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“내 게임이니까 언제나 내가 먼저 할 거야.”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다온이와 지수는 한 번도 먼저 하지 못했어요.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규칙을 견주어요</a:t>
            </a:r>
            <a:endParaRPr lang="ko-KR" sz="4000" dirty="0"/>
          </a:p>
        </p:txBody>
      </p:sp>
      <p:sp>
        <p:nvSpPr>
          <p:cNvPr id="3" name="S04-card1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1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게임, 두 가지 규칙이에요.</a:t>
            </a:r>
            <a:endParaRPr lang="ko-KR" sz="3000" dirty="0"/>
          </a:p>
        </p:txBody>
      </p:sp>
      <p:sp>
        <p:nvSpPr>
          <p:cNvPr id="5" name="S04-card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4-cardtext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하준, 다온, 지수의 입장에서 각각 생각해 봐요.</a:t>
            </a:r>
            <a:endParaRPr lang="ko-KR" sz="3000" dirty="0"/>
          </a:p>
        </p:txBody>
      </p:sp>
      <p:sp>
        <p:nvSpPr>
          <p:cNvPr id="7" name="S04-chip16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4-text17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게임 주인이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언제나 먼저 해요.</a:t>
            </a:r>
            <a:endParaRPr lang="ko-KR" sz="3000" dirty="0"/>
          </a:p>
        </p:txBody>
      </p:sp>
      <p:sp>
        <p:nvSpPr>
          <p:cNvPr id="9" name="S04-chip18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4-text19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가위바위보로 정하고,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판마다 돌아가며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누구에게 불리할까요?</a:t>
            </a:r>
            <a:endParaRPr lang="ko-KR" sz="4000" dirty="0"/>
          </a:p>
        </p:txBody>
      </p:sp>
      <p:sp>
        <p:nvSpPr>
          <p:cNvPr id="3" name="S05-text2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누구에게 불리한지, 왜 그런지 말해요.</a:t>
            </a:r>
            <a:endParaRPr lang="ko-KR" sz="3000" dirty="0"/>
          </a:p>
        </p:txBody>
      </p:sp>
      <p:sp>
        <p:nvSpPr>
          <p:cNvPr id="4" name="S05-card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사람이 되어 생각해 봐요.</a:t>
            </a:r>
            <a:endParaRPr lang="ko-KR" sz="3000" dirty="0"/>
          </a:p>
        </p:txBody>
      </p:sp>
      <p:sp>
        <p:nvSpPr>
          <p:cNvPr id="6" name="S05-chip23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5-text24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늦게 온 사람은 끝까지 술래를 해요.</a:t>
            </a:r>
            <a:endParaRPr lang="ko-KR" sz="3000" dirty="0"/>
          </a:p>
        </p:txBody>
      </p:sp>
      <p:sp>
        <p:nvSpPr>
          <p:cNvPr id="8" name="S05-chip25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5-text26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목소리가 가장 큰 사람이 채널을 정해요.</a:t>
            </a:r>
            <a:endParaRPr lang="ko-KR" sz="3000" dirty="0"/>
          </a:p>
        </p:txBody>
      </p:sp>
      <p:sp>
        <p:nvSpPr>
          <p:cNvPr id="10" name="S05-chip2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5-text28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하는 친구에게도 설명 없이 바로 시작해요.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공정한 규칙 만들기</a:t>
            </a:r>
            <a:endParaRPr lang="ko-KR" sz="4000" dirty="0"/>
          </a:p>
        </p:txBody>
      </p:sp>
      <p:sp>
        <p:nvSpPr>
          <p:cNvPr id="3" name="S06-card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정한 규칙은 모두 볼 수 있게 적어 둬요.</a:t>
            </a:r>
            <a:endParaRPr lang="ko-KR" sz="3000" dirty="0"/>
          </a:p>
        </p:txBody>
      </p:sp>
      <p:sp>
        <p:nvSpPr>
          <p:cNvPr id="5" name="S06-stepno31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6-text32"/>
          <p:cNvSpPr txBox="1"/>
          <p:nvPr/>
        </p:nvSpPr>
        <p:spPr>
          <a:xfrm>
            <a:off x="1325880" y="18790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모두의 생각을 들어요.</a:t>
            </a:r>
            <a:endParaRPr lang="ko-KR" sz="3000" dirty="0"/>
          </a:p>
        </p:txBody>
      </p:sp>
      <p:sp>
        <p:nvSpPr>
          <p:cNvPr id="7" name="S06-stepno33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6-text34"/>
          <p:cNvSpPr txBox="1"/>
          <p:nvPr/>
        </p:nvSpPr>
        <p:spPr>
          <a:xfrm>
            <a:off x="1325880" y="259232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규칙을 정해요.</a:t>
            </a:r>
            <a:endParaRPr lang="ko-KR" sz="3000" dirty="0"/>
          </a:p>
        </p:txBody>
      </p:sp>
      <p:sp>
        <p:nvSpPr>
          <p:cNvPr id="9" name="S06-stepno35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6-text36"/>
          <p:cNvSpPr txBox="1"/>
          <p:nvPr/>
        </p:nvSpPr>
        <p:spPr>
          <a:xfrm>
            <a:off x="1325880" y="330555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“모두에게 공정한가?” 물어요.</a:t>
            </a:r>
            <a:endParaRPr lang="ko-KR" sz="3000" dirty="0"/>
          </a:p>
        </p:txBody>
      </p:sp>
      <p:sp>
        <p:nvSpPr>
          <p:cNvPr id="11" name="S06-stepno37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6-text38"/>
          <p:cNvSpPr txBox="1"/>
          <p:nvPr/>
        </p:nvSpPr>
        <p:spPr>
          <a:xfrm>
            <a:off x="1325880" y="40187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고칠 곳이 있으면 고쳐요.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모두에게 공정한가?</a:t>
            </a:r>
            <a:endParaRPr lang="ko-KR" sz="4000" dirty="0"/>
          </a:p>
        </p:txBody>
      </p:sp>
      <p:sp>
        <p:nvSpPr>
          <p:cNvPr id="3" name="S07-text3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규칙을 정하면 네 가지를 물어요.</a:t>
            </a:r>
            <a:endParaRPr lang="ko-KR" sz="3000" dirty="0"/>
          </a:p>
        </p:txBody>
      </p:sp>
      <p:sp>
        <p:nvSpPr>
          <p:cNvPr id="4" name="S07-card40"/>
          <p:cNvSpPr/>
          <p:nvPr/>
        </p:nvSpPr>
        <p:spPr>
          <a:xfrm>
            <a:off x="548640" y="201168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7-cardtext41"/>
          <p:cNvSpPr txBox="1"/>
          <p:nvPr/>
        </p:nvSpPr>
        <p:spPr>
          <a:xfrm>
            <a:off x="822960" y="214884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기회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모두에게 기회가 있나요?</a:t>
            </a:r>
            <a:endParaRPr lang="ko-KR" sz="3000" dirty="0"/>
          </a:p>
        </p:txBody>
      </p:sp>
      <p:sp>
        <p:nvSpPr>
          <p:cNvPr id="6" name="S07-card42"/>
          <p:cNvSpPr/>
          <p:nvPr/>
        </p:nvSpPr>
        <p:spPr>
          <a:xfrm>
            <a:off x="6208776" y="201168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7-cardtext43"/>
          <p:cNvSpPr txBox="1"/>
          <p:nvPr/>
        </p:nvSpPr>
        <p:spPr>
          <a:xfrm>
            <a:off x="6483096" y="214884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유리함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사람만 유리하지 않나요?</a:t>
            </a:r>
            <a:endParaRPr lang="ko-KR" sz="3000" dirty="0"/>
          </a:p>
        </p:txBody>
      </p:sp>
      <p:sp>
        <p:nvSpPr>
          <p:cNvPr id="8" name="S07-card44"/>
          <p:cNvSpPr/>
          <p:nvPr/>
        </p:nvSpPr>
        <p:spPr>
          <a:xfrm>
            <a:off x="548640" y="422910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7-cardtext45"/>
          <p:cNvSpPr txBox="1"/>
          <p:nvPr/>
        </p:nvSpPr>
        <p:spPr>
          <a:xfrm>
            <a:off x="822960" y="436626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동의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알고 좋다고 했나요?</a:t>
            </a:r>
            <a:endParaRPr lang="ko-KR" sz="3000" dirty="0"/>
          </a:p>
        </p:txBody>
      </p:sp>
      <p:sp>
        <p:nvSpPr>
          <p:cNvPr id="10" name="S07-card46"/>
          <p:cNvSpPr/>
          <p:nvPr/>
        </p:nvSpPr>
        <p:spPr>
          <a:xfrm>
            <a:off x="6208776" y="422910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07-cardtext47"/>
          <p:cNvSpPr txBox="1"/>
          <p:nvPr/>
        </p:nvSpPr>
        <p:spPr>
          <a:xfrm>
            <a:off x="6483096" y="436626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지키기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누구나 지킬 수 있나요?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규칙을 고쳐요</a:t>
            </a:r>
            <a:endParaRPr lang="ko-KR" sz="4000" dirty="0"/>
          </a:p>
        </p:txBody>
      </p:sp>
      <p:sp>
        <p:nvSpPr>
          <p:cNvPr id="3" name="S08-text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질문으로 살펴보고 고쳐요.</a:t>
            </a:r>
            <a:endParaRPr lang="ko-KR" sz="3000" dirty="0"/>
          </a:p>
        </p:txBody>
      </p:sp>
      <p:sp>
        <p:nvSpPr>
          <p:cNvPr id="4" name="S08-card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모두에게 기회가 가게 고쳐요.</a:t>
            </a:r>
            <a:endParaRPr lang="ko-KR" sz="3000" dirty="0"/>
          </a:p>
        </p:txBody>
      </p:sp>
      <p:sp>
        <p:nvSpPr>
          <p:cNvPr id="6" name="S08-chip51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8-text52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‘형이 태블릿을 먼저, 하고 싶은 만큼 써요.’</a:t>
            </a:r>
            <a:endParaRPr lang="ko-KR" sz="3000" dirty="0"/>
          </a:p>
        </p:txBody>
      </p:sp>
      <p:sp>
        <p:nvSpPr>
          <p:cNvPr id="8" name="S08-chip53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8-text54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‘달리기가 가장 빠른 사람이 늘 술래를 정해요.’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 규칙 회의</a:t>
            </a:r>
            <a:endParaRPr lang="ko-KR" sz="4000" dirty="0"/>
          </a:p>
        </p:txBody>
      </p:sp>
      <p:sp>
        <p:nvSpPr>
          <p:cNvPr id="3" name="S09-card55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56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모두의 생각을 들었어요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네 질문으로 살폈어요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규칙과 까닭을 말했어요</a:t>
            </a:r>
            <a:endParaRPr lang="ko-KR" sz="3000" dirty="0"/>
          </a:p>
        </p:txBody>
      </p:sp>
      <p:sp>
        <p:nvSpPr>
          <p:cNvPr id="5" name="S09-stepno57"/>
          <p:cNvSpPr txBox="1"/>
          <p:nvPr/>
        </p:nvSpPr>
        <p:spPr>
          <a:xfrm>
            <a:off x="548640" y="24277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9-text58"/>
          <p:cNvSpPr txBox="1"/>
          <p:nvPr/>
        </p:nvSpPr>
        <p:spPr>
          <a:xfrm>
            <a:off x="1325880" y="24277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정할 일을 하나 골라요.</a:t>
            </a:r>
            <a:endParaRPr lang="ko-KR" sz="3000" dirty="0"/>
          </a:p>
        </p:txBody>
      </p:sp>
      <p:sp>
        <p:nvSpPr>
          <p:cNvPr id="7" name="S09-stepno59"/>
          <p:cNvSpPr txBox="1"/>
          <p:nvPr/>
        </p:nvSpPr>
        <p:spPr>
          <a:xfrm>
            <a:off x="548640" y="31409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9-text60"/>
          <p:cNvSpPr txBox="1"/>
          <p:nvPr/>
        </p:nvSpPr>
        <p:spPr>
          <a:xfrm>
            <a:off x="1325880" y="31409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사람씩 생각을 말해요.</a:t>
            </a:r>
            <a:endParaRPr lang="ko-KR" sz="3000" dirty="0"/>
          </a:p>
        </p:txBody>
      </p:sp>
      <p:sp>
        <p:nvSpPr>
          <p:cNvPr id="9" name="S09-stepno61"/>
          <p:cNvSpPr txBox="1"/>
          <p:nvPr/>
        </p:nvSpPr>
        <p:spPr>
          <a:xfrm>
            <a:off x="548640" y="3854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9-text62"/>
          <p:cNvSpPr txBox="1"/>
          <p:nvPr/>
        </p:nvSpPr>
        <p:spPr>
          <a:xfrm>
            <a:off x="1325880" y="38541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규칙을 정해요.</a:t>
            </a:r>
            <a:endParaRPr lang="ko-KR" sz="3000" dirty="0"/>
          </a:p>
        </p:txBody>
      </p:sp>
      <p:sp>
        <p:nvSpPr>
          <p:cNvPr id="11" name="S09-stepno63"/>
          <p:cNvSpPr txBox="1"/>
          <p:nvPr/>
        </p:nvSpPr>
        <p:spPr>
          <a:xfrm>
            <a:off x="548640" y="4567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9-text64"/>
          <p:cNvSpPr txBox="1"/>
          <p:nvPr/>
        </p:nvSpPr>
        <p:spPr>
          <a:xfrm>
            <a:off x="1325880" y="45674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가지 질문으로 살펴요.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6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줄넘기 놀이 규칙: ‘줄은 언제나 막내가 돌려요.’</a:t>
            </a:r>
            <a:endParaRPr lang="ko-KR" sz="3000" dirty="0"/>
          </a:p>
        </p:txBody>
      </p:sp>
      <p:sp>
        <p:nvSpPr>
          <p:cNvPr id="4" name="S10-chip66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0-text67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누구에게 불리한가요? 왜요?</a:t>
            </a:r>
            <a:endParaRPr lang="ko-KR" sz="3000" dirty="0"/>
          </a:p>
        </p:txBody>
      </p:sp>
      <p:sp>
        <p:nvSpPr>
          <p:cNvPr id="6" name="S10-chip68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0-text69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공정하게 고쳐 보세요.</a:t>
            </a:r>
            <a:endParaRPr lang="ko-KR" sz="3000" dirty="0"/>
          </a:p>
        </p:txBody>
      </p:sp>
      <p:sp>
        <p:nvSpPr>
          <p:cNvPr id="8" name="S10-chip70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0-text71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고친 규칙을 네 질문으로 살펴요.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잘한 모습과 다시 생각해 볼 모습</a:t>
            </a:r>
            <a:endParaRPr lang="ko-KR" sz="4000" dirty="0"/>
          </a:p>
        </p:txBody>
      </p:sp>
      <p:sp>
        <p:nvSpPr>
          <p:cNvPr id="3" name="S11-card7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7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불리한 사람의 입장에서 보고, 모두에게 기회가 가게 고쳐요.</a:t>
            </a:r>
            <a:endParaRPr lang="ko-KR" sz="3000" dirty="0"/>
          </a:p>
        </p:txBody>
      </p:sp>
      <p:sp>
        <p:nvSpPr>
          <p:cNvPr id="5" name="S11-chip74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잘한 모습</a:t>
            </a:r>
            <a:endParaRPr lang="ko-KR" sz="2400" dirty="0"/>
          </a:p>
        </p:txBody>
      </p:sp>
      <p:sp>
        <p:nvSpPr>
          <p:cNvPr id="6" name="S11-text75"/>
          <p:cNvSpPr txBox="1"/>
          <p:nvPr/>
        </p:nvSpPr>
        <p:spPr>
          <a:xfrm>
            <a:off x="548640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“막내는 한 번도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못 넘어요.”</a:t>
            </a:r>
            <a:endParaRPr lang="ko-KR" sz="2400" dirty="0"/>
          </a:p>
        </p:txBody>
      </p:sp>
      <p:sp>
        <p:nvSpPr>
          <p:cNvPr id="7" name="S11-text76"/>
          <p:cNvSpPr txBox="1"/>
          <p:nvPr/>
        </p:nvSpPr>
        <p:spPr>
          <a:xfrm>
            <a:off x="3367278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막내의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입장</a:t>
            </a:r>
            <a:endParaRPr lang="ko-KR" sz="2400" dirty="0"/>
          </a:p>
        </p:txBody>
      </p:sp>
      <p:sp>
        <p:nvSpPr>
          <p:cNvPr id="8" name="S11-text77"/>
          <p:cNvSpPr txBox="1"/>
          <p:nvPr/>
        </p:nvSpPr>
        <p:spPr>
          <a:xfrm>
            <a:off x="548640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“다섯 번씩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돌아가며 돌려요.”</a:t>
            </a:r>
            <a:endParaRPr lang="ko-KR" sz="2400" dirty="0"/>
          </a:p>
        </p:txBody>
      </p:sp>
      <p:sp>
        <p:nvSpPr>
          <p:cNvPr id="9" name="S11-text78"/>
          <p:cNvSpPr txBox="1"/>
          <p:nvPr/>
        </p:nvSpPr>
        <p:spPr>
          <a:xfrm>
            <a:off x="3367278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모두에게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기회</a:t>
            </a:r>
            <a:endParaRPr lang="ko-KR" sz="2400" dirty="0"/>
          </a:p>
        </p:txBody>
      </p:sp>
      <p:sp>
        <p:nvSpPr>
          <p:cNvPr id="10" name="S11-chip79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생각해 볼 모습</a:t>
            </a:r>
            <a:endParaRPr lang="ko-KR" sz="2400" dirty="0"/>
          </a:p>
        </p:txBody>
      </p:sp>
      <p:sp>
        <p:nvSpPr>
          <p:cNvPr id="11" name="S11-text80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“막내니까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괜찮아요.”</a:t>
            </a:r>
            <a:endParaRPr lang="ko-KR" sz="3000" dirty="0"/>
          </a:p>
        </p:txBody>
      </p:sp>
      <p:sp>
        <p:nvSpPr>
          <p:cNvPr id="12" name="S11-text81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사람만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불리</a:t>
            </a:r>
            <a:endParaRPr lang="ko-KR" sz="2400" dirty="0"/>
          </a:p>
        </p:txBody>
      </p:sp>
      <p:sp>
        <p:nvSpPr>
          <p:cNvPr id="13" name="S11-text82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“내가 정한 대로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해요.”</a:t>
            </a:r>
            <a:endParaRPr lang="ko-KR" sz="2400" dirty="0"/>
          </a:p>
        </p:txBody>
      </p:sp>
      <p:sp>
        <p:nvSpPr>
          <p:cNvPr id="14" name="S11-text83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정하지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않음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규칙이 공정할까요?</a:t>
            </a:r>
            <a:endParaRPr lang="ko-KR" sz="4000" dirty="0"/>
          </a:p>
        </p:txBody>
      </p:sp>
      <p:sp>
        <p:nvSpPr>
          <p:cNvPr id="3" name="S12-text8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거실 텔레비전을 볼 때의 규칙이에요.</a:t>
            </a:r>
            <a:endParaRPr lang="ko-KR" sz="3000" dirty="0"/>
          </a:p>
        </p:txBody>
      </p:sp>
      <p:sp>
        <p:nvSpPr>
          <p:cNvPr id="4" name="S12-card8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8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공정한 규칙을 고르고, 점검 질문으로 까닭을 말해요.</a:t>
            </a:r>
            <a:endParaRPr lang="ko-KR" sz="3000" dirty="0"/>
          </a:p>
        </p:txBody>
      </p:sp>
      <p:sp>
        <p:nvSpPr>
          <p:cNvPr id="6" name="S12-chip87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2-card88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89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리모컨을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잡은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정해요.</a:t>
            </a:r>
            <a:endParaRPr lang="ko-KR" sz="3000" dirty="0"/>
          </a:p>
        </p:txBody>
      </p:sp>
      <p:sp>
        <p:nvSpPr>
          <p:cNvPr id="9" name="S12-chip90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2-card91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92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요일마다 정하는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사람을 바꿔요.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좋다고 했어요.</a:t>
            </a:r>
            <a:endParaRPr lang="ko-KR" sz="3000" dirty="0"/>
          </a:p>
        </p:txBody>
      </p:sp>
      <p:sp>
        <p:nvSpPr>
          <p:cNvPr id="12" name="S12-chip93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2-card94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95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형이 좋아하는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것만 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96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97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모두의 입장에서 살피고 함께 정한 뒤, “모두에게 공정한가?” 물어요.</a:t>
            </a:r>
            <a:endParaRPr lang="ko-KR" sz="3000" dirty="0"/>
          </a:p>
        </p:txBody>
      </p:sp>
      <p:sp>
        <p:nvSpPr>
          <p:cNvPr id="5" name="S13-chip98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모두의 생각 듣기</a:t>
            </a:r>
            <a:endParaRPr lang="ko-KR" sz="2400" dirty="0"/>
          </a:p>
        </p:txBody>
      </p:sp>
      <p:sp>
        <p:nvSpPr>
          <p:cNvPr id="6" name="S13-chip99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한 사람 마음대로 정하기</a:t>
            </a:r>
            <a:endParaRPr lang="ko-KR" sz="2400" dirty="0"/>
          </a:p>
        </p:txBody>
      </p:sp>
      <p:sp>
        <p:nvSpPr>
          <p:cNvPr id="7" name="S13-text100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text101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공정한 규칙을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만드는 차례</a:t>
            </a:r>
            <a:endParaRPr lang="ko-KR" sz="2400" dirty="0"/>
          </a:p>
        </p:txBody>
      </p:sp>
      <p:sp>
        <p:nvSpPr>
          <p:cNvPr id="9" name="S13-text102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점검 질문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</a:t>
            </a:r>
            <a:endParaRPr lang="ko-KR" sz="2400" dirty="0"/>
          </a:p>
        </p:txBody>
      </p:sp>
      <p:sp>
        <p:nvSpPr>
          <p:cNvPr id="10" name="S13-text103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우리 집 규칙,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지켰나요?</a:t>
            </a:r>
            <a:endParaRPr lang="ko-KR" sz="2400" dirty="0"/>
          </a:p>
        </p:txBody>
      </p:sp>
      <p:sp>
        <p:nvSpPr>
          <p:cNvPr id="11" name="S13-text10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작은 생명 돌보기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공정하게 쓰기</a:t>
            </a:r>
            <a:endParaRPr lang="ko-KR" sz="4000" dirty="0"/>
          </a:p>
        </p:txBody>
      </p:sp>
      <p:sp>
        <p:nvSpPr>
          <p:cNvPr id="3" name="S14-text10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모두에게 고르게 기회가 가는 것이 공정이에요.</a:t>
            </a:r>
            <a:endParaRPr lang="ko-KR" sz="3000" dirty="0"/>
          </a:p>
        </p:txBody>
      </p:sp>
      <p:sp>
        <p:nvSpPr>
          <p:cNvPr id="4" name="S14-card10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0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그네처럼 나눌 수 없으면 차례를 정해요.</a:t>
            </a:r>
            <a:endParaRPr lang="ko-KR" sz="3000" dirty="0"/>
          </a:p>
        </p:txBody>
      </p:sp>
      <p:sp>
        <p:nvSpPr>
          <p:cNvPr id="6" name="S14-card108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4-cardtext109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 정하기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시간을 정해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번갈아 써요</a:t>
            </a:r>
            <a:endParaRPr lang="ko-KR" sz="3000" dirty="0"/>
          </a:p>
        </p:txBody>
      </p:sp>
      <p:sp>
        <p:nvSpPr>
          <p:cNvPr id="8" name="S14-card110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4-cardtext111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나누어 쓰기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반씩 나누어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써요</a:t>
            </a:r>
            <a:endParaRPr lang="ko-KR" sz="3000" dirty="0"/>
          </a:p>
        </p:txBody>
      </p:sp>
      <p:sp>
        <p:nvSpPr>
          <p:cNvPr id="10" name="S14-card112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14-cardtext113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쓰고 정리하기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사람이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쓰기 좋게 해요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도덕·윤리 함께 지킬 규칙</dc:title>
  <dc:subject>KR22-G03-ETH-FAIRRULE-L01</dc:subject>
  <dc:creator>education-ppt</dc:creator>
  <cp:lastModifiedBy>education-ppt</cp:lastModifiedBy>
  <cp:revision>1</cp:revision>
  <dcterms:created xsi:type="dcterms:W3CDTF">2026-10-26T13:43:10Z</dcterms:created>
  <dcterms:modified xsi:type="dcterms:W3CDTF">2026-10-26T13:43:10Z</dcterms:modified>
</cp:coreProperties>
</file>