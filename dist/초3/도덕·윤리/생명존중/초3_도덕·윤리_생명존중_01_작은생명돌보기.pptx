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85ebd0f-2157-3661-dfd5-6fdcea785bc1}">
          <p14:sldIdLst>
            <p14:sldId id="256"/>
            <p14:sldId id="257"/>
          </p14:sldIdLst>
        </p14:section>
        <p14:section name="개념" id="{2a3e9c66-994e-a81a-3786-3b30007730dd}">
          <p14:sldIdLst>
            <p14:sldId id="258"/>
            <p14:sldId id="261"/>
            <p14:sldId id="262"/>
          </p14:sldIdLst>
        </p14:section>
        <p14:section name="연습" id="{8fb85aac-8c66-adf7-4ef0-5a75fce8dec6}">
          <p14:sldIdLst>
            <p14:sldId id="259"/>
            <p14:sldId id="260"/>
            <p14:sldId id="263"/>
            <p14:sldId id="264"/>
          </p14:sldIdLst>
        </p14:section>
        <p14:section name="개념" id="{674e477a-708c-41d1-241c-6ac79e0577f7}">
          <p14:sldIdLst/>
        </p14:section>
        <p14:section name="연습" id="{e591db96-64ac-97b2-7e40-063dac4c0a4b}">
          <p14:sldIdLst/>
        </p14:section>
        <p14:section name="확인" id="{bcde8909-f755-90e6-b69a-dae93dda965d}">
          <p14:sldIdLst>
            <p14:sldId id="265"/>
            <p14:sldId id="266"/>
            <p14:sldId id="267"/>
          </p14:sldIdLst>
        </p14:section>
        <p14:section name="정리" id="{34e01150-191f-54f5-ad6e-60f20032762a}">
          <p14:sldIdLst>
            <p14:sldId id="268"/>
          </p14:sldIdLst>
        </p14:section>
        <p14:section name="보충" id="{c1305d7f-a592-b623-07ae-5bc37a0c55b2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작은 생명을 해치지 않고 대하는 방법과, 계획을 세워 꾸준히 돌보는 방법을 배운다고 알립니다.
시간: 약 2분
이렇게 말해 보세요
- “개미, 무당벌레, 화분의 식물처럼 우리 둘레에는 작은 생명이 많아. 이런 생명을 만나면 어떻게 하면 좋을까?”
- “오늘은 작은 생명을 해치지 않고 살펴보는 방법과, 우리 집에서 생명 하나를 정해 일주일 동안 돌보는 계획을 세워 볼 거야.”
예상 답
- “잡아요!” / “물을 줘요.” / “가만히 봐요.”
주의
- 수업 전에 집에서 돌볼 수 있는 생명(화분, 베란다 채소)이 있는지 확인해 두세요. 없으면 양파나 고구마의 뿌리 쪽만 물에 닿게 컵에 올려 싹을 키우는 것으로 시작할 수 있습니다.
- ‘잡아요’라고 답해도 나무라지 않습니다. 궁금한 마음은 좋은 것이라고 받아 주고 S03에서 다른 방법을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확인(생물에게 필요한 것, 생물 배려)]
목적: 1학년 ‘맡은 일과 배려’에서 배운 생물에게 필요한 것과 생물을 배려하는 행동을 기억하는지 확인합니다.
시간: 약 3분
이렇게 말해 보세요
- “식물이 잘 자라려면 무엇이 있어야 할까? 두 가지만 말해 볼래?”
- “놀이터에서 개미가 줄지어 가고 있어. 너는 어떻게 할래?”
예상 답
- ① “물이요. 햇빛도요.”
- ② “안 밟게 피해 가요.”
정답
- ① 물, 햇빛 (흙, 공기를 말해도 맞음)
- ② 밟지 않게 돌아서 가요. / 쪼그려 앉아 조용히 구경해요.
막히면
- 화분을 보여 주며 “이 식물은 무엇을 먹고 자랄까?” 하고 묻습니다.
- 둘 다 어려우면 S14(보충)를 먼저 하고 S03으로 이어 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작은 생명을 만날 때의 약속]
목적: 작은 생명을 만났을 때 지킬 네 가지 약속과 그 까닭을 알려 줍니다(M1).
시간: 약 3분
이렇게 말해 보세요
- “곤충이나 지렁이는 사는 곳에서 먹이를 찾고 쉬어. 집으로 데려오면 먹이도, 살던 곳도 잃게 돼.”
- “그래서 가만히 보고, 혹시 만졌다면 본 곳에 살살 놓아줘. 공원이나 산에 사는 동물은 집에서 기르지 않아.”
- “흙이나 동물을 만진 손에는 눈에 안 보이는 균이 있을 수 있어. 그래서 비누로 손을 씻어. 이건 내 몸을 지키는 약속이야.”
예상 답
- “돋보기로 보면 돼요?” / “잠깐만 만지는 건 괜찮아요?”
막히면
- “네가 놀다가 갑자기 커다란 손에 잡혀서 낯선 곳에 가면 어떨까?” 하고 입장을 바꿔 묻습니다.
주의
- 벌, 털이 많은 애벌레, 사마귀처럼 쏘거나 물 수 있는 생물은 손대지 않고 멀리서만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무당벌레를 대하는 두 가지 모습]
목적: 작은 생명을 데려가는 행동과 그대로 두고 보는 행동을 견주고, 생명의 입장에서 까닭을 말합니다(M1).
시간: 약 3분
이렇게 말해 보세요
- “가처럼 하면 무당벌레는 어떻게 될까? 나처럼 하면?”
- “가처럼 하고 싶은 마음이 들 때는 어떻게 하면 좋을까?”
예상 답
- “나요. 무당벌레도 집이 있으니까요.” / “가요. 집에서 계속 보고 싶어요.”
정답
- 나. 무당벌레가 살던 풀밭에서 먹이를 찾고 쉴 수 있습니다. 우리도 무당벌레가 어떻게 움직이는지 오래 볼 수 있습니다.
- 가는 병 속에서 먹이와 살 곳을 잃어 약해질 수 있습니다. 더 보고 싶으면 그림이나 사진(어른과 함께)으로 남기면 됩니다.
막히면
- 가를 고르면 “병 속에서 무당벌레는 무엇을 먹을까? 친구들은 어디 있을까?” 하고 묻습니다.
주의
- 보고 싶은 마음은 좋은 것이라고 먼저 말해 줍니다. 그 마음을 지키는 방법(그림 그리기, 다음에 또 보러 오기)을 함께 찾습니다.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여러 장면에서 생명을 대하는 행동 찾기(도움 받아)]
목적: 여러 장면에서 작은 생명을 해치지 않는 행동과 내 몸을 지키는 행동을 찾아 말해 봅니다.
시간: 약 4분
이렇게 말해 보세요
- “①은 지렁이를 손에 올려 봤어. 그다음에는 무엇을 해야 할까? 두 가지가 있어.”
- “②는 길에 아기 새가 있어. 어떻게 할까?”
- “③은 개미집 속이 궁금해. 파 보면 개미들은 어떻게 될까?”
예상 답
- ① “흙에 다시 놓아줘요.”(손 씻기를 빠뜨리면 “그다음 네 손은?” 하고 묻습니다)
- ② “데려가서 키워요.” → “아기 새는 누가 돌볼까?” 하고 다시 생각하게 합니다.
정답
- ① 본 곳(촉촉한 흙 위)에 살살 놓아주고, 비누로 손을 씻어요.
- ② 만지지 않고 조금 떨어져서 어른에게 알려요.
- ③ 파지 않아요. 개미집이 무너지니까 드나드는 개미를 조용히 지켜봐요.
막히면
- S03의 네 카드를 다시 보여 주고 “어느 약속을 쓸 수 있을까?” 하고 묻습니다.
주의
- ②는 아이 혼자 판단하지 않고 어른에게 알리는 것이 답입니다. 다친 야생 동물을 보면 어른이 지역의 야생 동물 구조 기관에 문의할 수 있다고만 알려 줍니다.
- 여기서 나눠도 됩니다. 다음 날 S06부터 이어 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식물을 돌보는 방법]
목적: 화분 식물을 돌보는 기본 방법(흙 살피기, 마르면 물 주기, 밝은 곳에 두기, 살펴 적기)을 알려 줍니다(M2).
시간: 약 3분
이렇게 말해 보세요
- “식물은 물이 너무 적어도, 너무 많아도 힘들어해. 그래서 겉흙을 손가락으로 살짝 만져 보고, 말랐을 때 물을 줘.”
- “식물은 빛을 받아야 잘 자라. 밝은 곳에 두자.”
- “날마다 잎 색과 키를 살펴서 적으면 식물이 잘 지내는지 알 수 있어.”
예상 답
- “물은 날마다 주는 거 아니에요?” / “우리 집 화분은 창가에 있어요.”
막히면
- 실제 화분 흙을 함께 만져 보며 ‘촉촉해요’와 ‘보송보송 말랐어요’를 견주어 봅니다.
주의
- 선인장이나 다육 식물처럼 물을 아주 가끔 주는 식물, 햇빛이 너무 세면 힘들어하는 식물도 있습니다. 집에 있는 식물의 이름표나 산 곳의 안내를 확인해 아이에게 알려 주세요.
- 물에 키우는 양파·고구마는 흙 대신 물을 살펴, 물이 줄면 채우고 흐려지면 갈아 줍니다. 흙을 만진 뒤에는 손을 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돌봄 계획의 예(무엇을·언제·어떻게)]
목적: 돌봄 계획에는 무엇을·언제·어떻게가 모두 들어가야 한다는 것을 예로 보여 줍니다(M3).
시간: 약 3분
이렇게 말해 보세요
- “다인이는 화분을 돌보기로 했어. 무엇을 할지, 언제 할지, 어떻게 할지 정했지?”
- “물 주기는 왜 ‘날마다’가 아니라 ‘흙이 마른 날’일까?”
- “‘언제’를 정해 두면 무엇이 좋을까?”
예상 답
- “물을 너무 많이 주면 안 되니까요.” / “잊어버리지 않아요.”
막히면
- 표의 한 줄씩 손으로 짚으며 “무엇을? 언제? 어떻게?”를 읽어 줍니다.
주의
- ‘날마다 저녁’처럼 아이가 이미 하는 일(저녁 먹은 뒤, 양치 전) 뒤에 붙이면 잊지 않기 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돌봄 계획 고치기(도움 받아)]
목적: 흔히 세우는 돌봄 계획에서 빠진 것이나 생명에게 맞지 않는 점을 찾아 고칩니다(M1, M2, M3).
시간: 약 4분
이렇게 말해 보세요
- “①은 무엇이 문제일까? 어떻게 고칠까?”
- “②에는 무엇이 빠졌을까?”
- “③은 개미의 입장에서 생각해 볼래?”
예상 답
- ① “물을 조금만 줘요.” ② “저녁에 할래요.” ③ “개미는 그냥 볼래요.”
정답
- ① 날마다 가득 주면 흙이 늘 젖어 뿌리가 상할 수 있어요. ‘흙이 마른 날에 촉촉해질 만큼’으로 고쳐요.
- ② ‘언제’가 빠졌어요. ‘날마다 저녁 먹고’처럼 때를 정해요.
- ③ 개미는 야생에 사는 생명이라 잡아 기르지 않아요. 관찰만 하고, 집에서 돌볼 생명은 화분처럼 우리 집에 있는 것으로 골라요.
막히면
- S07의 다인이 계획표를 다시 보여 주고 견주어 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나의 돌봄 계획 세우고 첫 돌봄 하기]
목적: 아이가 집에서 돌볼 생명 하나를 골라 계획을 세우고, 실제로 첫 돌봄을 해 봅니다.
시간: 약 5분
이렇게 말해 보세요
- “우리 집에서 네가 돌볼 생명을 하나 골라 볼까? 거실 화분? 베란다 상추?”
- “활동지 3에 무엇을, 언제, 어떻게 할지 써 보자. 그리고 기록표는 어디에 붙여 둘까?”
- “지금 첫 돌봄을 해 볼까? 흙을 만져 보니 어때?”
예상 답
- “거실 화분이요. 저녁 먹고 흙을 만져 볼래요. 마르면 물을 줄래요.”
정답
- 관찰 기준 세 가지를 지키면 됩니다. 계획에 무엇을·언제·어떻게가 모두 들어가야 합니다.
막히면
- 화분이 없으면 양파나 고구마의 뿌리 쪽만 물에 닿게 컵에 올려 싹 키우기를 시작합니다. 아파트 화단의 나무 한 그루를 정해 날마다 살펴보는 것으로 대신해도 됩니다.
- 집에 금붕어 같은 반려동물이 있으면 아이가 할 수 있는 일(어른이 정한 양만큼 먹이 주기, 살펴보기)을 골라도 됩니다.
주의
- 물 주는 양과 때는 부모가 그 식물에 맞게 한 번 정해 줍니다. 일주일 동안 아이가 스스로 기록표(활동지 4·5)에 표시하게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 보기(새 장면, 나의 계획)]
목적: 처음 보는 장면에서 생명을 해치지 않는 행동과 까닭을 말하는지(A), 자기 돌봄 계획을 무엇을·언제·어떻게로 말하는지(B) 확인합니다.
시간: 약 4분
이렇게 말해 보세요
- “이번에는 엄마(아빠)가 도와주지 않을게. 하나씩 말해 줄래?”
예상 답
- ① “잡지 않고 가만히 볼래요. 사마귀도 풀밭에서 살아야 하니까요.”
- ② “비누로 손을 씻어요.”
- ③ “거실 화분을 돌볼 거예요. 날마다 저녁에 흙을 만져 보고, 마르면 물을 줘요. 잎 색도 적어요.”
정답
- ①② 해치지 않는 행동(잡지 않고 보기)과 까닭, 손 씻기를 말하면 목표 A 확인 완료.
- ③ 무엇을·언제·어떻게가 모두 들어가면 목표 B의 계획 확인 완료. 실천은 일주일 기록표로 봅니다.
막히면
- ③에서 하나가 빠지면 “언제 할 거야?”처럼 빠진 것만 묻고, 기록표에 ‘도움’으로 표시합니다.
주의
- 사마귀는 앞다리로 꽉 잡을 수 있으니 손대지 않고 보는 것이 생명에게도 아이에게도 안전합니다. 관찰한 것을 기록표(S10 줄)에 바로 표시해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잘한 모습과 다시 생각해 볼 모습]
목적: S10에서 아이가 한 말을 잘한 모습, 다시 생각해 볼 모습과 견주며 돌아봅니다.
시간: 약 2분
이렇게 말해 보세요
- “네가 말한 방법이면 사마귀는 어떻게 지낼까?”
- “네 계획에는 무엇을, 언제, 어떻게가 다 들어 있었어?”
예상 답
- “사마귀는 풀밭에서 계속 살아요.” / “언제를 빠뜨렸어요.”
주의
- 이 장은 학생용 파일에서 빠집니다. 잘한 점을 먼저 말하고, 빠진 것은 하나만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확인(생명을 대하는 행동 고르기)]
목적: 처음 보는 장면에서 생명을 해치지 않는 행동을 고르고, 다른 행동을 바로잡는 말을 할 수 있는지 확인합니다.
시간: 약 2분
이렇게 말해 보세요
- “세 친구 가운데 누가 달팽이를 잘 대했을까? 왜?”
- “가와 다 친구에게는 뭐라고 말해 주고 싶어?”
정답
- 나. 달팽이가 살던 곳에서 계속 살 수 있습니다.
- 가에게는 “달팽이를 만졌으면 먼저 손을 씻어야 해.”, 다에게는 “달팽이는 살던 곳에 두고 보자.”라고 말하면 됩니다. 나를 고르고 까닭과 함께 다른 친구에게 할 말 하나를 하면 목표 A 확인 완료입니다.
막히면
- S03의 네 카드를 다시 보여 주고 “가 친구는 어느 약속을 잊었을까?” 하고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학습]
목적: 작은 생명을 대하는 약속과 돌봄 계획을 한 문장으로 정리하고, 다음 수업 첫 5분에 할 복습을 알려 줍니다.
시간: 약 2분
이렇게 말해 보세요
- “작은 생명을 만나면 어떻게 하기로 했지? 네가 돌볼 생명은 무엇이고 언제 돌볼 거야?”
예상 답
- “가만히 보고 놓아줘요. 만지면 손을 씻어요. 화분은 저녁마다 흙을 만져 봐요.”
정답
- ① 눈으로 보기, 본 곳에 놓아주기, 야생 동물 데려오지 않기, 만진 뒤 손 씻기 가운데 하나 ② 흙(겉흙)이 말랐을 때 ③ 기록표를 보며 한 일과 본 것을 말하면 맞음(표시한 날의 수는 평가하지 않음)
주의
- 이 차시는 계획상 3학년 도덕의 마지막 차시입니다. 같은 갈래(도덕)의 다음 차시는 4학년 ‘충동 조절과 선택’입니다. 일주일 뒤 기록표를 함께 보며 식물이 어떻게 달라졌는지 이야기해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보충(생물에게 필요한 것)]
목적: S02에서 생물에게 필요한 것이나 생물을 배려하는 행동을 떠올리지 못하면, 생물이 살아가는 데 필요한 네 가지를 다시 봅니다.
시간: 약 5분
이렇게 말해 보세요
- “화분의 식물은 무엇이 있어야 살까? 물, 햇빛… 또?”
- “개미는 무엇을 먹고, 어디에서 쉴까?”
- “개미 줄을 막거나 밟으면 개미는 먹이도 살 곳도 잃겠지? 그래서 돌아서 가는 거야.”
정답
- 물, 햇빛, 먹이, 살 곳 가운데 식물·동물에게 맞는 것을 말하고, 생물을 배려하는 행동 하나(밟지 않기, 조용히 보기)를 말하면 맞습니다.
막히면
- 집 안의 화분과 창밖의 새를 가리키며 하나씩 묻습니다.
- 이 차시의 선수 차시는 1학년 ‘맡은 일과 배려’입니다. 보충으로도 어렵다면 그 차시를 먼저 합니다.
주의
- 보충이 오래 걸리면 오늘은 여기까지 하고,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도덕·윤리 · 생명존중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도덕·윤리 · 작은 생명 돌보기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도덕·윤리 · 작은 생명 돌보기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도덕·윤리 · 작은 생명 돌보기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생명 돌보기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생명을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대하고 돌볼까?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해치지 않고 살펴봐요.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돌봄 계획을 세워 실천해요.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생명, 기억나요?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1학년 때 배운 것을 떠올려요.</a:t>
            </a:r>
            <a:endParaRPr lang="ko-KR" sz="30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식물이 살아가는 데 필요한 것 두 가지는?</a:t>
            </a:r>
            <a:endParaRPr lang="ko-KR" sz="30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개미가 줄지어 가요. 어떻게 할까요?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생명을 만나면</a:t>
            </a:r>
            <a:endParaRPr lang="ko-KR" sz="4000" dirty="0"/>
          </a:p>
        </p:txBody>
      </p:sp>
      <p:sp>
        <p:nvSpPr>
          <p:cNvPr id="3" name="S03-text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생명도 살던 곳이 있어요.</a:t>
            </a:r>
            <a:endParaRPr lang="ko-KR" sz="3000" dirty="0"/>
          </a:p>
        </p:txBody>
      </p:sp>
      <p:sp>
        <p:nvSpPr>
          <p:cNvPr id="4" name="S03-card9"/>
          <p:cNvSpPr/>
          <p:nvPr/>
        </p:nvSpPr>
        <p:spPr>
          <a:xfrm>
            <a:off x="548640" y="201168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3-cardtext10"/>
          <p:cNvSpPr txBox="1"/>
          <p:nvPr/>
        </p:nvSpPr>
        <p:spPr>
          <a:xfrm>
            <a:off x="822960" y="214884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눈으로 봐요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가만히, 가까이 들여다봐요</a:t>
            </a:r>
            <a:endParaRPr lang="ko-KR" sz="3000" dirty="0"/>
          </a:p>
        </p:txBody>
      </p:sp>
      <p:sp>
        <p:nvSpPr>
          <p:cNvPr id="6" name="S03-card11"/>
          <p:cNvSpPr/>
          <p:nvPr/>
        </p:nvSpPr>
        <p:spPr>
          <a:xfrm>
            <a:off x="6208776" y="201168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2"/>
          <p:cNvSpPr txBox="1"/>
          <p:nvPr/>
        </p:nvSpPr>
        <p:spPr>
          <a:xfrm>
            <a:off x="6483096" y="214884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제자리에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곳에 놓아줘요</a:t>
            </a:r>
            <a:endParaRPr lang="ko-KR" sz="3000" dirty="0"/>
          </a:p>
        </p:txBody>
      </p:sp>
      <p:sp>
        <p:nvSpPr>
          <p:cNvPr id="8" name="S03-card13"/>
          <p:cNvSpPr/>
          <p:nvPr/>
        </p:nvSpPr>
        <p:spPr>
          <a:xfrm>
            <a:off x="548640" y="422910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4"/>
          <p:cNvSpPr txBox="1"/>
          <p:nvPr/>
        </p:nvSpPr>
        <p:spPr>
          <a:xfrm>
            <a:off x="822960" y="436626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데려오지 않아요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야생 동물은 집에서 안 길러요</a:t>
            </a:r>
            <a:endParaRPr lang="ko-KR" sz="3000" dirty="0"/>
          </a:p>
        </p:txBody>
      </p:sp>
      <p:sp>
        <p:nvSpPr>
          <p:cNvPr id="10" name="S03-card15"/>
          <p:cNvSpPr/>
          <p:nvPr/>
        </p:nvSpPr>
        <p:spPr>
          <a:xfrm>
            <a:off x="6208776" y="422910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3-cardtext16"/>
          <p:cNvSpPr txBox="1"/>
          <p:nvPr/>
        </p:nvSpPr>
        <p:spPr>
          <a:xfrm>
            <a:off x="6483096" y="436626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손을 씻어요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흙·동물을 만진 뒤 비누로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무당벌레를 만났어요</a:t>
            </a:r>
            <a:endParaRPr lang="ko-KR" sz="4000" dirty="0"/>
          </a:p>
        </p:txBody>
      </p:sp>
      <p:sp>
        <p:nvSpPr>
          <p:cNvPr id="3" name="S04-card1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1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 풀잎에 무당벌레가 앉아 있어요.</a:t>
            </a:r>
            <a:endParaRPr lang="ko-KR" sz="3000" dirty="0"/>
          </a:p>
        </p:txBody>
      </p:sp>
      <p:sp>
        <p:nvSpPr>
          <p:cNvPr id="5" name="S04-card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4-cardtext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무당벌레에게 좋은 쪽은 어느 쪽일까요? 왜요?</a:t>
            </a:r>
            <a:endParaRPr lang="ko-KR" sz="3000" dirty="0"/>
          </a:p>
        </p:txBody>
      </p:sp>
      <p:sp>
        <p:nvSpPr>
          <p:cNvPr id="7" name="S04-chip2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4-text2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“병에 넣어서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 가져갈래.”</a:t>
            </a:r>
            <a:endParaRPr lang="ko-KR" sz="3000" dirty="0"/>
          </a:p>
        </p:txBody>
      </p:sp>
      <p:sp>
        <p:nvSpPr>
          <p:cNvPr id="9" name="S04-chip2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4-text2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“잎에 앉은 채로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자세히 보고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 둘래.”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땐 어떻게 할까요?</a:t>
            </a:r>
            <a:endParaRPr lang="ko-KR" sz="4000" dirty="0"/>
          </a:p>
        </p:txBody>
      </p:sp>
      <p:sp>
        <p:nvSpPr>
          <p:cNvPr id="3" name="S05-text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생명을 해치지 않는 방법을 말해요.</a:t>
            </a:r>
            <a:endParaRPr lang="ko-KR" sz="3000" dirty="0"/>
          </a:p>
        </p:txBody>
      </p:sp>
      <p:sp>
        <p:nvSpPr>
          <p:cNvPr id="4" name="S05-card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생명의 입장과 내 몸을 함께 생각해요.</a:t>
            </a:r>
            <a:endParaRPr lang="ko-KR" sz="3000" dirty="0"/>
          </a:p>
        </p:txBody>
      </p:sp>
      <p:sp>
        <p:nvSpPr>
          <p:cNvPr id="6" name="S05-chip2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5-text29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화단에서 지렁이를 손에 올려 봤어요. 그다음엔?</a:t>
            </a:r>
            <a:endParaRPr lang="ko-KR" sz="3000" dirty="0"/>
          </a:p>
        </p:txBody>
      </p:sp>
      <p:sp>
        <p:nvSpPr>
          <p:cNvPr id="8" name="S05-chip3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5-text31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길에 아기 새가 떨어져 있어요.</a:t>
            </a:r>
            <a:endParaRPr lang="ko-KR" sz="3000" dirty="0"/>
          </a:p>
        </p:txBody>
      </p:sp>
      <p:sp>
        <p:nvSpPr>
          <p:cNvPr id="10" name="S05-chip3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5-text33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개미를 보려고 개미집을 파 보고 싶어요.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식물을 돌보는 방법</a:t>
            </a:r>
            <a:endParaRPr lang="ko-KR" sz="4000" dirty="0"/>
          </a:p>
        </p:txBody>
      </p:sp>
      <p:sp>
        <p:nvSpPr>
          <p:cNvPr id="3" name="S06-card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식물마다 물 주는 때가 달라요. 어른과 확인해요.</a:t>
            </a:r>
            <a:endParaRPr lang="ko-KR" sz="3000" dirty="0"/>
          </a:p>
        </p:txBody>
      </p:sp>
      <p:sp>
        <p:nvSpPr>
          <p:cNvPr id="5" name="S06-stepno36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6-text37"/>
          <p:cNvSpPr txBox="1"/>
          <p:nvPr/>
        </p:nvSpPr>
        <p:spPr>
          <a:xfrm>
            <a:off x="1325880" y="18790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흙을 만져 말랐는지 봐요.</a:t>
            </a:r>
            <a:endParaRPr lang="ko-KR" sz="3000" dirty="0"/>
          </a:p>
        </p:txBody>
      </p:sp>
      <p:sp>
        <p:nvSpPr>
          <p:cNvPr id="7" name="S06-stepno38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6-text39"/>
          <p:cNvSpPr txBox="1"/>
          <p:nvPr/>
        </p:nvSpPr>
        <p:spPr>
          <a:xfrm>
            <a:off x="1325880" y="25923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마른 날에 물을 줘요.</a:t>
            </a:r>
            <a:endParaRPr lang="ko-KR" sz="3000" dirty="0"/>
          </a:p>
        </p:txBody>
      </p:sp>
      <p:sp>
        <p:nvSpPr>
          <p:cNvPr id="9" name="S06-stepno40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6-text41"/>
          <p:cNvSpPr txBox="1"/>
          <p:nvPr/>
        </p:nvSpPr>
        <p:spPr>
          <a:xfrm>
            <a:off x="1325880" y="33055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밝은 곳에 두어요.</a:t>
            </a:r>
            <a:endParaRPr lang="ko-KR" sz="3000" dirty="0"/>
          </a:p>
        </p:txBody>
      </p:sp>
      <p:sp>
        <p:nvSpPr>
          <p:cNvPr id="11" name="S06-stepno42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6-text43"/>
          <p:cNvSpPr txBox="1"/>
          <p:nvPr/>
        </p:nvSpPr>
        <p:spPr>
          <a:xfrm>
            <a:off x="1325880" y="4018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잎과 키를 살펴 적어요.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다인이의 돌봄 계획</a:t>
            </a:r>
            <a:endParaRPr lang="ko-KR" sz="4000" dirty="0"/>
          </a:p>
        </p:txBody>
      </p:sp>
      <p:sp>
        <p:nvSpPr>
          <p:cNvPr id="3" name="S07-text4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무엇을, 언제, 어떻게 할지 정했어요.</a:t>
            </a:r>
            <a:endParaRPr lang="ko-KR" sz="3000" dirty="0"/>
          </a:p>
        </p:txBody>
      </p:sp>
      <p:sp>
        <p:nvSpPr>
          <p:cNvPr id="4" name="S07-card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기록표에 표시하고, 본 것을 적어요.</a:t>
            </a:r>
            <a:endParaRPr lang="ko-KR" sz="3000" dirty="0"/>
          </a:p>
        </p:txBody>
      </p:sp>
      <p:graphicFrame>
        <p:nvGraphicFramePr>
          <p:cNvPr id="8" name="S07-table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541016"/>
          <a:ext cx="10515600" cy="914400"/>
        </p:xfrm>
        <a:graphic>
          <a:graphicData uri="http://schemas.openxmlformats.org/drawingml/2006/table">
            <a:tbl>
              <a:tblPr/>
              <a:tblGrid>
                <a:gridCol w="2839212"/>
                <a:gridCol w="3154680"/>
                <a:gridCol w="4521708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어떻게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흙 살피기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날마다 저녁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손가락으로 만져 봐요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 주기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흙이 마른 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흙이 촉촉해질 만큼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잎 살피기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날마다 저녁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색과 키를 적어요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계획을 고쳐요</a:t>
            </a:r>
            <a:endParaRPr lang="ko-KR" sz="4000" dirty="0"/>
          </a:p>
        </p:txBody>
      </p:sp>
      <p:sp>
        <p:nvSpPr>
          <p:cNvPr id="3" name="S08-text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것이나 고칠 점을 찾아요.</a:t>
            </a:r>
            <a:endParaRPr lang="ko-KR" sz="3000" dirty="0"/>
          </a:p>
        </p:txBody>
      </p:sp>
      <p:sp>
        <p:nvSpPr>
          <p:cNvPr id="4" name="S08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무엇을·언제·어떻게, 그리고 생명의 입장</a:t>
            </a:r>
            <a:endParaRPr lang="ko-KR" sz="3000" dirty="0"/>
          </a:p>
        </p:txBody>
      </p:sp>
      <p:sp>
        <p:nvSpPr>
          <p:cNvPr id="6" name="S08-chip51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8-text52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“화분에 날마다 물을 가득 줄래요.”</a:t>
            </a:r>
            <a:endParaRPr lang="ko-KR" sz="3000" dirty="0"/>
          </a:p>
        </p:txBody>
      </p:sp>
      <p:sp>
        <p:nvSpPr>
          <p:cNvPr id="8" name="S08-chip5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8-text54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“생각날 때 돌볼래요.”</a:t>
            </a:r>
            <a:endParaRPr lang="ko-KR" sz="3000" dirty="0"/>
          </a:p>
        </p:txBody>
      </p:sp>
      <p:sp>
        <p:nvSpPr>
          <p:cNvPr id="10" name="S08-chip55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8-text56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“개미를 잡아 통에 넣고 기를래요.”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돌봄 계획 세우기</a:t>
            </a:r>
            <a:endParaRPr lang="ko-KR" sz="4000" dirty="0"/>
          </a:p>
        </p:txBody>
      </p:sp>
      <p:sp>
        <p:nvSpPr>
          <p:cNvPr id="3" name="S09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흙을 만진 뒤에는 비누로 손을 씻어요.</a:t>
            </a:r>
            <a:endParaRPr lang="ko-KR" sz="3000" dirty="0"/>
          </a:p>
        </p:txBody>
      </p:sp>
      <p:sp>
        <p:nvSpPr>
          <p:cNvPr id="5" name="S09-card59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9-cardtext60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세 가지를 다 정했어요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생명에게 알맞은 방법이에요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돌본 뒤 손을 씻었어요</a:t>
            </a:r>
            <a:endParaRPr lang="ko-KR" sz="3000" dirty="0"/>
          </a:p>
        </p:txBody>
      </p:sp>
      <p:sp>
        <p:nvSpPr>
          <p:cNvPr id="7" name="S09-stepno61"/>
          <p:cNvSpPr txBox="1"/>
          <p:nvPr/>
        </p:nvSpPr>
        <p:spPr>
          <a:xfrm>
            <a:off x="548640" y="16885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9-text62"/>
          <p:cNvSpPr txBox="1"/>
          <p:nvPr/>
        </p:nvSpPr>
        <p:spPr>
          <a:xfrm>
            <a:off x="1325880" y="16885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돌볼 생명을 하나 골라요.</a:t>
            </a:r>
            <a:endParaRPr lang="ko-KR" sz="3000" dirty="0"/>
          </a:p>
        </p:txBody>
      </p:sp>
      <p:sp>
        <p:nvSpPr>
          <p:cNvPr id="9" name="S09-stepno63"/>
          <p:cNvSpPr txBox="1"/>
          <p:nvPr/>
        </p:nvSpPr>
        <p:spPr>
          <a:xfrm>
            <a:off x="548640" y="24475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9-text64"/>
          <p:cNvSpPr txBox="1"/>
          <p:nvPr/>
        </p:nvSpPr>
        <p:spPr>
          <a:xfrm>
            <a:off x="1325880" y="2401824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무엇을·언제·어떻게 정해요.</a:t>
            </a:r>
            <a:endParaRPr lang="ko-KR" sz="3000" dirty="0"/>
          </a:p>
        </p:txBody>
      </p:sp>
      <p:sp>
        <p:nvSpPr>
          <p:cNvPr id="11" name="S09-stepno65"/>
          <p:cNvSpPr txBox="1"/>
          <p:nvPr/>
        </p:nvSpPr>
        <p:spPr>
          <a:xfrm>
            <a:off x="548640" y="34960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9-text66"/>
          <p:cNvSpPr txBox="1"/>
          <p:nvPr/>
        </p:nvSpPr>
        <p:spPr>
          <a:xfrm>
            <a:off x="1325880" y="34960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기록표를 붙여 둬요.</a:t>
            </a:r>
            <a:endParaRPr lang="ko-KR" sz="3000" dirty="0"/>
          </a:p>
        </p:txBody>
      </p:sp>
      <p:sp>
        <p:nvSpPr>
          <p:cNvPr id="13" name="S09-stepno67"/>
          <p:cNvSpPr txBox="1"/>
          <p:nvPr/>
        </p:nvSpPr>
        <p:spPr>
          <a:xfrm>
            <a:off x="548640" y="42092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9-text68"/>
          <p:cNvSpPr txBox="1"/>
          <p:nvPr/>
        </p:nvSpPr>
        <p:spPr>
          <a:xfrm>
            <a:off x="1325880" y="42092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첫 돌봄을 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6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엄마(아빠)는 듣기만 해요.</a:t>
            </a:r>
            <a:endParaRPr lang="ko-KR" sz="3000" dirty="0"/>
          </a:p>
        </p:txBody>
      </p:sp>
      <p:sp>
        <p:nvSpPr>
          <p:cNvPr id="4" name="S10-chip70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0-text71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공원에서 사마귀를 봤어요. 어떻게 할까요? 왜요?</a:t>
            </a:r>
            <a:endParaRPr lang="ko-KR" sz="3000" dirty="0"/>
          </a:p>
        </p:txBody>
      </p:sp>
      <p:sp>
        <p:nvSpPr>
          <p:cNvPr id="6" name="S10-chip72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0-text73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화분을 옮기다 손에 흙이 묻었어요. 그다음엔?</a:t>
            </a:r>
            <a:endParaRPr lang="ko-KR" sz="3000" dirty="0"/>
          </a:p>
        </p:txBody>
      </p:sp>
      <p:sp>
        <p:nvSpPr>
          <p:cNvPr id="8" name="S10-chip74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0-text75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돌봄 계획을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잘한 모습과 다시 생각해 볼 모습</a:t>
            </a:r>
            <a:endParaRPr lang="ko-KR" sz="4000" dirty="0"/>
          </a:p>
        </p:txBody>
      </p:sp>
      <p:sp>
        <p:nvSpPr>
          <p:cNvPr id="3" name="S11-card7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7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생명의 입장에서 생각하고, 무엇을·언제·어떻게를 정해요.</a:t>
            </a:r>
            <a:endParaRPr lang="ko-KR" sz="3000" dirty="0"/>
          </a:p>
        </p:txBody>
      </p:sp>
      <p:sp>
        <p:nvSpPr>
          <p:cNvPr id="5" name="S11-chip78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잘한 모습</a:t>
            </a:r>
            <a:endParaRPr lang="ko-KR" sz="2400" dirty="0"/>
          </a:p>
        </p:txBody>
      </p:sp>
      <p:sp>
        <p:nvSpPr>
          <p:cNvPr id="6" name="S11-text79"/>
          <p:cNvSpPr txBox="1"/>
          <p:nvPr/>
        </p:nvSpPr>
        <p:spPr>
          <a:xfrm>
            <a:off x="548640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“가만히 보고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 둘래요.”</a:t>
            </a:r>
            <a:endParaRPr lang="ko-KR" sz="2400" dirty="0"/>
          </a:p>
        </p:txBody>
      </p:sp>
      <p:sp>
        <p:nvSpPr>
          <p:cNvPr id="7" name="S11-text80"/>
          <p:cNvSpPr txBox="1"/>
          <p:nvPr/>
        </p:nvSpPr>
        <p:spPr>
          <a:xfrm>
            <a:off x="3367278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살던 곳을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지켜 줌</a:t>
            </a:r>
            <a:endParaRPr lang="ko-KR" sz="2400" dirty="0"/>
          </a:p>
        </p:txBody>
      </p:sp>
      <p:sp>
        <p:nvSpPr>
          <p:cNvPr id="8" name="S11-text81"/>
          <p:cNvSpPr txBox="1"/>
          <p:nvPr/>
        </p:nvSpPr>
        <p:spPr>
          <a:xfrm>
            <a:off x="548640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“흙을 만지면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손을 씻어요.”</a:t>
            </a:r>
            <a:endParaRPr lang="ko-KR" sz="3000" dirty="0"/>
          </a:p>
        </p:txBody>
      </p:sp>
      <p:sp>
        <p:nvSpPr>
          <p:cNvPr id="9" name="S11-text82"/>
          <p:cNvSpPr txBox="1"/>
          <p:nvPr/>
        </p:nvSpPr>
        <p:spPr>
          <a:xfrm>
            <a:off x="3367278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몸도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지킴</a:t>
            </a:r>
            <a:endParaRPr lang="ko-KR" sz="2400" dirty="0"/>
          </a:p>
        </p:txBody>
      </p:sp>
      <p:sp>
        <p:nvSpPr>
          <p:cNvPr id="10" name="S11-chip83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생각해 볼 모습</a:t>
            </a:r>
            <a:endParaRPr lang="ko-KR" sz="2400" dirty="0"/>
          </a:p>
        </p:txBody>
      </p:sp>
      <p:sp>
        <p:nvSpPr>
          <p:cNvPr id="11" name="S11-text84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“잡아서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키울래요.”</a:t>
            </a:r>
            <a:endParaRPr lang="ko-KR" sz="3000" dirty="0"/>
          </a:p>
        </p:txBody>
      </p:sp>
      <p:sp>
        <p:nvSpPr>
          <p:cNvPr id="12" name="S11-text85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살던 곳을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잃음</a:t>
            </a:r>
            <a:endParaRPr lang="ko-KR" sz="2400" dirty="0"/>
          </a:p>
        </p:txBody>
      </p:sp>
      <p:sp>
        <p:nvSpPr>
          <p:cNvPr id="13" name="S11-text86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“날마다 물을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가득 줘요.”</a:t>
            </a:r>
            <a:endParaRPr lang="ko-KR" sz="3000" dirty="0"/>
          </a:p>
        </p:txBody>
      </p:sp>
      <p:sp>
        <p:nvSpPr>
          <p:cNvPr id="14" name="S11-text87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식물에게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맞음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잘 대했을까요?</a:t>
            </a:r>
            <a:endParaRPr lang="ko-KR" sz="4000" dirty="0"/>
          </a:p>
        </p:txBody>
      </p:sp>
      <p:sp>
        <p:nvSpPr>
          <p:cNvPr id="3" name="S12-text8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친구가 비 온 뒤 달팽이를 만났어요.</a:t>
            </a:r>
            <a:endParaRPr lang="ko-KR" sz="3000" dirty="0"/>
          </a:p>
        </p:txBody>
      </p:sp>
      <p:sp>
        <p:nvSpPr>
          <p:cNvPr id="4" name="S12-card8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9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잘했나요? 다른 친구에게는 뭐라고 할까요?</a:t>
            </a:r>
            <a:endParaRPr lang="ko-KR" sz="3000" dirty="0"/>
          </a:p>
        </p:txBody>
      </p:sp>
      <p:sp>
        <p:nvSpPr>
          <p:cNvPr id="6" name="S12-chip91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2-card92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93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달팽이를 만지고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간식을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먹었어요.</a:t>
            </a:r>
            <a:endParaRPr lang="ko-KR" sz="3000" dirty="0"/>
          </a:p>
        </p:txBody>
      </p:sp>
      <p:sp>
        <p:nvSpPr>
          <p:cNvPr id="9" name="S12-chip94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2-card95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96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자세히 본 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곳에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놓아줬어요.</a:t>
            </a:r>
            <a:endParaRPr lang="ko-KR" sz="3000" dirty="0"/>
          </a:p>
        </p:txBody>
      </p:sp>
      <p:sp>
        <p:nvSpPr>
          <p:cNvPr id="12" name="S12-chip97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2-card98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99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통에 넣어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집에서 기르기로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00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01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생명은 해치지 않고 살펴보고, 계획을 세워 꾸준히 돌봐요.</a:t>
            </a:r>
            <a:endParaRPr lang="ko-KR" sz="3000" dirty="0"/>
          </a:p>
        </p:txBody>
      </p:sp>
      <p:sp>
        <p:nvSpPr>
          <p:cNvPr id="5" name="S13-chip102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보고, 놓아주고, 손 씻기</a:t>
            </a:r>
            <a:endParaRPr lang="ko-KR" sz="2400" dirty="0"/>
          </a:p>
        </p:txBody>
      </p:sp>
      <p:sp>
        <p:nvSpPr>
          <p:cNvPr id="6" name="S13-chip103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잡아서 집에 데려오기</a:t>
            </a:r>
            <a:endParaRPr lang="ko-KR" sz="2400" dirty="0"/>
          </a:p>
        </p:txBody>
      </p:sp>
      <p:sp>
        <p:nvSpPr>
          <p:cNvPr id="7" name="S13-text104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105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작은 생명을 만날 때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 하나</a:t>
            </a:r>
            <a:endParaRPr lang="ko-KR" sz="2400" dirty="0"/>
          </a:p>
        </p:txBody>
      </p:sp>
      <p:sp>
        <p:nvSpPr>
          <p:cNvPr id="9" name="S13-text106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식물에 물을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주는 때</a:t>
            </a:r>
            <a:endParaRPr lang="ko-KR" sz="2400" dirty="0"/>
          </a:p>
        </p:txBody>
      </p:sp>
      <p:sp>
        <p:nvSpPr>
          <p:cNvPr id="10" name="S13-text107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돌봄 기록표,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어땠나요?</a:t>
            </a:r>
            <a:endParaRPr lang="ko-KR" sz="2400" dirty="0"/>
          </a:p>
        </p:txBody>
      </p:sp>
      <p:sp>
        <p:nvSpPr>
          <p:cNvPr id="11" name="S13-text10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충동 조절과 선택(4학년)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생명에게 필요한 것</a:t>
            </a:r>
            <a:endParaRPr lang="ko-KR" sz="4000" dirty="0"/>
          </a:p>
        </p:txBody>
      </p:sp>
      <p:sp>
        <p:nvSpPr>
          <p:cNvPr id="3" name="S14-text10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생물은 이것이 있어야 살아요.</a:t>
            </a:r>
            <a:endParaRPr lang="ko-KR" sz="3000" dirty="0"/>
          </a:p>
        </p:txBody>
      </p:sp>
      <p:sp>
        <p:nvSpPr>
          <p:cNvPr id="4" name="S14-card110"/>
          <p:cNvSpPr/>
          <p:nvPr/>
        </p:nvSpPr>
        <p:spPr>
          <a:xfrm>
            <a:off x="548640" y="201168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4-cardtext111"/>
          <p:cNvSpPr txBox="1"/>
          <p:nvPr/>
        </p:nvSpPr>
        <p:spPr>
          <a:xfrm>
            <a:off x="822960" y="214884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식물도 동물도 물이 필요해요</a:t>
            </a:r>
            <a:endParaRPr lang="ko-KR" sz="3000" dirty="0"/>
          </a:p>
        </p:txBody>
      </p:sp>
      <p:sp>
        <p:nvSpPr>
          <p:cNvPr id="6" name="S14-card112"/>
          <p:cNvSpPr/>
          <p:nvPr/>
        </p:nvSpPr>
        <p:spPr>
          <a:xfrm>
            <a:off x="6208776" y="201168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4-cardtext113"/>
          <p:cNvSpPr txBox="1"/>
          <p:nvPr/>
        </p:nvSpPr>
        <p:spPr>
          <a:xfrm>
            <a:off x="6483096" y="214884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햇빛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식물은 빛을 받아 자라요</a:t>
            </a:r>
            <a:endParaRPr lang="ko-KR" sz="3000" dirty="0"/>
          </a:p>
        </p:txBody>
      </p:sp>
      <p:sp>
        <p:nvSpPr>
          <p:cNvPr id="8" name="S14-card114"/>
          <p:cNvSpPr/>
          <p:nvPr/>
        </p:nvSpPr>
        <p:spPr>
          <a:xfrm>
            <a:off x="548640" y="422910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4-cardtext115"/>
          <p:cNvSpPr txBox="1"/>
          <p:nvPr/>
        </p:nvSpPr>
        <p:spPr>
          <a:xfrm>
            <a:off x="822960" y="436626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동물은 먹이를 먹어요</a:t>
            </a:r>
            <a:endParaRPr lang="ko-KR" sz="3000" dirty="0"/>
          </a:p>
        </p:txBody>
      </p:sp>
      <p:sp>
        <p:nvSpPr>
          <p:cNvPr id="10" name="S14-card116"/>
          <p:cNvSpPr/>
          <p:nvPr/>
        </p:nvSpPr>
        <p:spPr>
          <a:xfrm>
            <a:off x="6208776" y="422910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14-cardtext117"/>
          <p:cNvSpPr txBox="1"/>
          <p:nvPr/>
        </p:nvSpPr>
        <p:spPr>
          <a:xfrm>
            <a:off x="6483096" y="436626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 곳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편히 쉴 곳이 필요해요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도덕·윤리 작은 생명 돌보기</dc:title>
  <dc:subject>KR22-G03-ETH-LIFECARE-L01</dc:subject>
  <dc:creator>education-ppt</dc:creator>
  <cp:lastModifiedBy>education-ppt</cp:lastModifiedBy>
  <cp:revision>1</cp:revision>
  <dcterms:created xsi:type="dcterms:W3CDTF">2026-10-26T13:43:12Z</dcterms:created>
  <dcterms:modified xsi:type="dcterms:W3CDTF">2026-10-26T13:43:12Z</dcterms:modified>
</cp:coreProperties>
</file>