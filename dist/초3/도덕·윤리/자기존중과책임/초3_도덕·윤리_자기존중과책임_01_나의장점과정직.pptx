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26bd1650-7b01-cdf9-37b4-dfc370dcda5a}">
          <p14:sldIdLst>
            <p14:sldId id="256"/>
            <p14:sldId id="257"/>
          </p14:sldIdLst>
        </p14:section>
        <p14:section name="개념" id="{df9ec3ac-28c6-9770-bf6d-a2d9dff46e27}">
          <p14:sldIdLst>
            <p14:sldId id="258"/>
            <p14:sldId id="259"/>
            <p14:sldId id="261"/>
            <p14:sldId id="262"/>
          </p14:sldIdLst>
        </p14:section>
        <p14:section name="연습" id="{3946d723-25a5-cb9e-a760-b3bd9cd752e5}">
          <p14:sldIdLst>
            <p14:sldId id="260"/>
            <p14:sldId id="263"/>
            <p14:sldId id="264"/>
          </p14:sldIdLst>
        </p14:section>
        <p14:section name="개념" id="{628abdc2-414d-3f6e-9847-dbd3e2972c59}">
          <p14:sldIdLst/>
        </p14:section>
        <p14:section name="연습" id="{165ab908-b291-69ab-4daa-a27fb13dfc2c}">
          <p14:sldIdLst/>
        </p14:section>
        <p14:section name="확인" id="{7cb38ee0-8216-7e54-401b-6f49de81b301}">
          <p14:sldIdLst>
            <p14:sldId id="265"/>
            <p14:sldId id="266"/>
            <p14:sldId id="267"/>
          </p14:sldIdLst>
        </p14:section>
        <p14:section name="정리" id="{67687742-8376-dda4-e271-2ffb64a0bff6}">
          <p14:sldIdLst>
            <p14:sldId id="268"/>
          </p14:sldIdLst>
        </p14:section>
        <p14:section name="보충" id="{22880579-ae1e-b9eb-1d46-f5f90e449f02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나의 장점을 찾고, 정직하게 생활해야 하는 까닭을 함께 생각한다고 알립니다.
시간: 약 2분
이렇게 말해 보세요
- “오늘은 너의 좋은 점, ‘장점’을 찾아볼 거야. 엄마(아빠)도 네 장점을 몇 가지 알고 있어.”
- “그리고 사실대로 말하는 ‘정직’이 왜 중요한지도 이야기해 보자.”
예상 답
- “그림 그리기요.” / “몰라요.” / “저는 장점이 없어요.”
주의
- 아이가 “장점이 없어요.”라고 해도 바로 고치려 하지 않습니다. “오늘 같이 찾아보자.”라고 말하고 S03으로 갑니다.
- 이 차시는 약점이나 고칠 점을 찾는 시간이 아닙니다. 수업 내내 아이가 한 일과 노력을 구체적으로 칭찬해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확인(솔직하게 사과하기, 약속 지키기)]
목적: 2학년 ‘정직과 약속’에서 배운 솔직하게 사과하는 방법과 약속을 지키는 방법을 기억하는지 확인합니다. 오늘 배울 ‘정직’의 바탕입니다.
시간: 약 3분
이렇게 말해 보세요
- “실수했을 때 사과하는 말에는 세 가지를 넣기로 했었어. 기억나?”
- “약속을 잊지 않으려면 어떻게 하면 좋을까?”
예상 답
- ① “미안해요. 다음엔 조심할게요.”(두 가지만 말해도 기억을 떠올린 것입니다)
- ② “달력에 써요.”
정답
- ① 무슨 일인지, 미안한 마음, 다음에 어떻게 할지
- ② 쪽지나 달력에 쓰기, 지킬 수 있는 약속만 하기, 못 지킬 것 같으면 미리 말하기 가운데 하나
막히면
- ①이 어려우면 “동생 블록 탑을 실수로 무너뜨렸어. 뭐라고 할까?” 하고 장면을 주어 말하게 합니다.
- 둘 다 어려우면 S14(보충)를 먼저 하고 S03으로 이어 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장점의 여러 모습]
목적: 장점에는 잘하는 것뿐 아니라 노력하는 모습과 마음씨도 있다는 것을 알려 줍니다(M1).
시간: 약 3분
이렇게 말해 보세요
- “장점은 잘하는 것만 말하는 게 아니야. 어려워도 끝까지 해 보는 것, 날마다 조금씩 연습하는 것도 장점이야.”
- “친구를 도와주거나 동생에게 양보하는 마음씨도 장점이지.”
- “장점은 다른 사람과 견주지 않아도 돼. 내가 한 일 속에 있어.”
예상 답
- “저는 레고를 끝까지 만들어요.” / “동생이랑 잘 놀아 줘요.”
막히면
- 부모가 최근에 본 일을 들어 먼저 말해 줍니다. “어제 숙제가 어려웠는데 끝까지 했지? 그게 끈기야.”
주의
- 아이가 말한 장점을 “그건 장점이 아니야.”처럼 깎아내리지 않습니다. 작은 일이라도 한 일과 이어 주면 장점입니다.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남과 견주는 생각과 노력에서 찾는 생각]
목적: 장점을 남과 견주어 정하는 생각(가)과 노력에서 찾는 생각(나)을 견주어, 노력하는 모습도 장점이라는 것을 이해합니다(M1).
시간: 약 3분
이렇게 말해 보세요
- “서준이는 줄넘기를 열 번밖에 못 해. 그런데 날마다 연습해. 가와 나, 어느 생각에 찬성해? 왜?”
- “서준이가 가처럼 생각하면 어떤 마음일까? 나처럼 생각하면?”
예상 답
- “나요. 날마다 하는 것도 대단하니까요.” / “가요. 잘해야 장점이잖아요.”
막히면
- 가를 고르면 “날마다 연습하면 한 달 뒤 서준이는 어떻게 될까? 날마다 하는 건 쉬운 일일까?” 하고 묻습니다.
주의
- 나의 생각(노력도 장점)으로 정리해 줍니다. 아이가 꾸준히 해 온 일(양치, 책 읽기, 연습 등)이 있다면 그 자리에서 짚어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한 일에서 장점 찾기(도움 받아)]
목적: 다른 사람이 한 일을 보고 그 속의 장점을 찾아 “~해서 ~한 점이 좋아요.”로 말하는 연습을 합니다(M2).
시간: 약 4분
이렇게 말해 보세요
- “①의 지아는 모르는 문제를 선생님께 여쭤봐. 지아의 장점은 뭘까?”
- “②, ③도 ‘~해서 ~한 점이 좋아요.’로 말해 볼래?”
예상 답
- ① “모르는 걸 물어봐서 용기 있는 점이 좋아요.” / “배우려는 마음이 좋아요.”
- ② “다시 쌓아서 포기하지 않는 점이 좋아요.”
- ③ “책을 읽어 줘서 다정한 점이 좋아요.”
정답
- 정해진 낱말은 없습니다. 한 일과 장점이 이어지면 맞습니다. 낱말 예: 용기, 끈기, 꾸준함, 성실함, 친절함, 다정함, 꼼꼼함.
막히면
- 낱말이 떠오르지 않으면 위의 낱말 예 가운데 두세 개를 들려주고 고르게 합니다.
주의
- ①은 아이 자신과 이어 주기 좋습니다. 모르는 것을 묻는 것은 부끄러운 일이 아니라 장점이라고 꼭 말해 주세요.
- 여기서 나눠도 됩니다. 다음 날 S06부터 이어 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아무도 모를 때의 정직(상황 제시)]
목적: 아무도 보지 않을 때 사실과 다르게 하고 싶은 장면을 보여 주고, 그 뒤에 생길 일을 생각해 봅니다(M3).
시간: 약 3분
이렇게 말해 보세요
- (천천히 읽어 준 뒤) “도윤이는 왜 숫자를 바꾸고 싶을까?”
- “숫자를 바꿔서 이기면 도윤이 마음은 어떨까? 엄마가 나중에 알게 되면?”
예상 답
- “이기고 싶어서요.” / “이겨도 기쁘지 않을 것 같아요.” / “엄마가 다음에 같이 안 할지도 몰라요.”
막히면
- “네가 엄마라면, 도윤이가 숫자를 바꾼 걸 알면 어떤 마음일까?” 하고 입장을 바꿔 묻습니다.
주의
- 이기고 싶은 마음은 누구에게나 있다고 먼저 받아 줍니다. 도윤이를 나쁜 아이로 말하지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정직의 뜻과 정직해야 하는 까닭]
목적: 정직의 뜻과 정직해야 하는 까닭 네 가지를 알려 줍니다.
시간: 약 3분
이렇게 말해 보세요
- “정직은 사실대로 말하고, 사실대로 행동하는 거야. 도윤이 이야기로 생각해 보자.”
- “도윤이가 1이 나온 대로 한 칸 가면, 엄마는 다음에도 도윤이를 믿고 게임을 하겠지?”
- “숨긴 게 있으면 들킬까 봐 계속 걱정되잖아. 사실대로 하면 마음이 편해.”
- “모르는 걸 모른다고 말해야 어른이 도와줄 수 있어. 그리고 내가 숨기면 다른 사람이 대신 의심받을 수도 있어.”
예상 답
- “거짓말하면 다음에 안 믿어 줘요.” / “마음이 콩닥콩닥해요.”
막히면
- S06의 도윤이에게 카드를 하나씩 대어 봅니다. “도윤이가 정직하면 엄마는? 도윤이 마음은?”
주의
- ‘거짓말하면 혼난다’만 까닭으로 들지 않도록, 믿음과 내 마음, 도움 받기, 다른 사람의 마음을 함께 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숙제 장면에서 정직한 행동 고르기]
목적: 실제로 있을 법한 장면에서 정직한 행동을 고르고, 까닭을 말하는 연습을 합니다(M3).
시간: 약 4분
이렇게 말해 보세요
- “가, 나, 다 가운데 너라면 무엇을 할래? 왜?”
- “가처럼 말하면 내일 어떻게 될까? 나처럼 말하면 아빠는 무엇을 해 줄 수 있을까?”
예상 답
- “나요. 아빠가 도와줄 수 있으니까요.” / “가요. 혼날까 봐요.”
정답
- 나. 사실대로 말하면 아빠가 어려운 곳을 도와줄 수 있고(도움), 아빠는 다음에도 아이의 말을 믿을 수 있습니다(믿음).
- 가나 다를 고르면 “내일 선생님이 숙제를 보시면 어떻게 될까? 그때 마음은?” 하고 한 번 더 묻습니다.
막히면
- S07의 네 카드를 다시 보여 주고 “나를 고르면 어떤 카드가 생길까?” 하고 묻습니다.
주의
- 아이에게 실제로 있을 수 있는 일입니다. 아이가 “저도 그런 적 있어요.”라고 하면 혼내지 않고 “말해 줘서 고마워. 다음엔 같이 하자.”라고 답해 주세요. 사실대로 말하면 도움을 받는다는 경험이 가장 중요합니다.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여러 장면에서 정직한 행동과 까닭 말하기]
목적: 여러 생활 장면에서 정직한 행동을 찾고, 까닭을 장면과 이어 말해 봅니다.
시간: 약 4분
이렇게 말해 보세요
- “①은 가게에서 돈을 더 받았어. 어떻게 할까? 왜?”
- “②는 친구가 ‘그림 멋지다!’ 했는데 언니가 많이 도와준 그림이야. 뭐라고 말할까?”
- “③은 숨바꼭질 술래인데 눈을 살짝 떴어. 어떻게 할까?”
예상 답
- ① “가게 아저씨께 돌려드려요. 아저씨가 돈을 잃으니까요.”
- ② “고마워. 언니가 많이 도와줬어.” — 언니가 서운하지 않고, 친구가 나를 믿어요.
- ③ “눈을 떴어. 다시 할게.” — 놀이가 공정하고, 친구들이 나를 믿어요.
정답
- 정직한 행동(돌려드리기, 사실대로 말하기, 다시 하기)과 그 까닭(믿음, 편한 마음, 다른 사람이 억울하지 않음 등)이 이어지면 맞습니다.
막히면
- “그렇게 안 하면 가게 아저씨는(언니는, 친구들은) 어떤 마음일까?” 하고 다른 사람의 입장에서 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혼자 해 보기(나의 장점, 정직한 행동과 까닭)]
목적: 도움 없이 자기 장점 두 가지를 한 일과 함께 말하는지(A), 처음 보는 장면에서 정직한 행동과 까닭을 말하는지(B) 확인합니다.
시간: 약 5분
이렇게 말해 보세요
- “이번에는 엄마(아빠)가 도와주지 않을게. 하나씩 말해 줄래?”
예상 답
- ① “줄넘기를 날마다 연습해서 꾸준해요. 동생에게 장난감을 빌려줘서 친절해요.”
- ② “친구에게 잃어버렸다고 말하고 사과할래요. 같이 찾아보고, 못 찾으면 새것으로 줄게요.”
- ③ “친구가 나를 믿을 수 있어요. 마음이 편해요.”
정답
- ① 장점 두 가지가 각각 한 일과 이어지고, 남과 견주지 않으면 목표 A 확인 완료(한 가지면 ‘도움’으로 기록).
- ②③ 사실대로 말하는 행동과 까닭 두 가지(믿음, 편한 마음, 도움, 다른 사람이 억울하지 않음 가운데)를 말하면 목표 B 확인 완료.
막히면
- ①에서 장점이 하나만 나오면 엄마(아빠)가 최근에 본 일을 하나 들려주고, 기록표에 ‘도움’으로 표시합니다.
주의
- 아이가 “없어요.”라고 해도 실망한 표정을 보이지 않습니다. “엄마(아빠)는 하나 알고 있는데, 들어 볼래?” 하고 이어 갑니다. 관찰한 것을 기록표(S10 줄)에 바로 표시해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잘한 말과 다시 생각해 볼 말]
목적: S10에서 아이가 한 말을 잘한 말, 다시 생각해 볼 말과 견주며 돌아봅니다.
시간: 약 2분
이렇게 말해 보세요
- “네가 말한 장점에는 한 일이 들어 있었어?”
- “지우개를 잃어버렸을 때 ‘처음부터 없었어.’라고 하면 친구는 어떤 마음일까?”
예상 답
- “한 일을 같이 말했어요!” / “까닭을 하나만 말했어요.”
주의
- 이 장은 학생용 파일에서 빠집니다. 잘한 점을 먼저 말하고, 빠진 것은 하나만 알려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마무리 확인(장점을 말하는 방법)]
목적: 처음 보는 말 가운데 노력과 한 일에서 장점을 찾은 말을 고르고, 까닭을 말하는지 확인합니다(M1).
시간: 약 2분
이렇게 말해 보세요
- “세 친구 가운데 누가 장점을 잘 찾았을까? 왜 그렇게 생각해?”
- “나 친구에게는 뭐라고 말해 주고 싶어?”
정답
- 다. 내가 한 일(날마다 책 정리)과 장점(성실함)을 함께 말했습니다.
- 가도 달리기라는 장점이 있지만 남과 견주어 말해서, 1등을 못 하면 장점이 없어지는 것처럼 들립니다. “열심히 연습해서 빨라졌어.”처럼 바꾸면 더 좋습니다.
- 나에게는 “너도 끝까지 해 본 일이 있잖아. 그게 장점이야.”처럼 말해 줄 수 있습니다. 다를 고르고 ‘한 일이 들어 있어서’, ‘남과 견주지 않아서’처럼 까닭을 말하면 확인 완료입니다.
막히면
- S03의 세 카드를 다시 보여 주고 “다 친구의 장점은 어느 카드에 들어갈까?” 하고 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정리와 다음 학습]
목적: 장점과 정직을 한 문장씩 정리하고, 다음 수업 첫 5분에 할 복습을 알려 줍니다.
시간: 약 2분
이렇게 말해 보세요
- “오늘 찾은 너의 장점을 한 번 더 말해 볼래? 정직하면 무엇이 좋았지?”
- “이번 주에 새 장점을 찾으면 활동지에 적어 두자. 다음 시간에 들려줘.”
예상 답
- “저는 끝까지 하는 게 장점이에요. 정직하면 엄마가 저를 믿어요.”
정답
- ① 한 일과 함께 말한 장점 두 가지 ② 믿음, 편한 마음, 도움, 다른 사람이 억울하지 않음 가운데 하나 ③ 이번 주에 있었던 일과 이어 말하면 맞음
주의
- 수업을 마치며 엄마(아빠)가 본 아이의 장점 하나를 한 일과 함께 꼭 말해 주세요(예: “오늘 어려운 질문에도 끝까지 생각했지. 그게 너의 장점이야.”). 활동지 2에도 적어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보충(솔직하게 사과하기)]
목적: S02에서 사과하는 말이나 약속 지키는 방법을 떠올리지 못하면, 솔직하게 사과하는 세 가지를 역할 놀이로 다시 해 봅니다.
시간: 약 5분
이렇게 말해 보세요
- “실수했을 때는 무슨 일인지, 미안한 마음, 다음에 어떻게 할지를 말하면 돼.”
- “엄마(아빠)가 동생이 될게. 내 색연필을 부러뜨렸다고 해 보자. 뭐라고 말할래?”
- “약속을 잊지 않으려면 쪽지나 달력에 써 두면 좋아.”
정답
- “색연필을 부러뜨려서 미안해. 다음엔 살살 쓸게.”처럼 세 가지를 넣어 말하면 맞습니다.
막히면
- 손가락 세 개를 하나씩 접으며 “무슨 일, 미안해, 다음엔” 하고 함께 말합니다.
- 이 차시의 선수 차시는 2학년 ‘정직과 약속’입니다. 보충으로도 어렵다면 그 차시를 먼저 합니다.
주의
- 사과를 받는 역할을 할 때는 “말해 줘서 고마워. 괜찮아.”라고 따뜻하게 답해 줍니다. 보충이 오래 걸리면 오늘은 여기까지 하고,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도덕·윤리 · 자기존중과책임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도덕·윤리 · 나의 장점과 정직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도덕·윤리 · 나의 장점과 정직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도덕·윤리 · 나의 장점과 정직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나의 장점과 정직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나에게는 어떤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점이 있을까?</a:t>
            </a:r>
            <a:endParaRPr lang="ko-KR" sz="3000" dirty="0"/>
          </a:p>
        </p:txBody>
      </p:sp>
      <p:sp>
        <p:nvSpPr>
          <p:cNvPr id="4" name="S01-card1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노력한 일에서 나의 장점을 찾아요.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정직해야 하는 까닭을 말해요.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솔직하게 말하기, 기억나요?</a:t>
            </a:r>
            <a:endParaRPr lang="ko-KR" sz="40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2학년 때 배운 것을 떠올려요.</a:t>
            </a:r>
            <a:endParaRPr lang="ko-KR" sz="3000" dirty="0"/>
          </a:p>
        </p:txBody>
      </p:sp>
      <p:sp>
        <p:nvSpPr>
          <p:cNvPr id="4" name="S02-chip4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2-text5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실수했을 때 사과하는 말에 넣을 세 가지는?</a:t>
            </a:r>
            <a:endParaRPr lang="ko-KR" sz="30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42062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약속을 잊지 않는 방법 하나는?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장점은 여러 가지예요</a:t>
            </a:r>
            <a:endParaRPr lang="ko-KR" sz="4000" dirty="0"/>
          </a:p>
        </p:txBody>
      </p:sp>
      <p:sp>
        <p:nvSpPr>
          <p:cNvPr id="3" name="S03-text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장점은 나의 좋은 점이에요.</a:t>
            </a:r>
            <a:endParaRPr lang="ko-KR" sz="3000" dirty="0"/>
          </a:p>
        </p:txBody>
      </p:sp>
      <p:sp>
        <p:nvSpPr>
          <p:cNvPr id="4" name="S03-card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남과 견주지 않고, 내가 한 일에서 찾아요.</a:t>
            </a:r>
            <a:endParaRPr lang="ko-KR" sz="3000" dirty="0"/>
          </a:p>
        </p:txBody>
      </p:sp>
      <p:sp>
        <p:nvSpPr>
          <p:cNvPr id="6" name="S03-card11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12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잘하는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그리기,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줄넘기</a:t>
            </a:r>
            <a:endParaRPr lang="ko-KR" sz="3000" dirty="0"/>
          </a:p>
        </p:txBody>
      </p:sp>
      <p:sp>
        <p:nvSpPr>
          <p:cNvPr id="8" name="S03-card13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9" name="S03-cardtext14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노력하는 모습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끝까지 해요,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 해 봐요</a:t>
            </a:r>
            <a:endParaRPr lang="ko-KR" sz="3000" dirty="0"/>
          </a:p>
        </p:txBody>
      </p:sp>
      <p:sp>
        <p:nvSpPr>
          <p:cNvPr id="10" name="S03-card15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3-cardtext16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마음씨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친절해요,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도와줘요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1등이 아니어도 장점일까요?</a:t>
            </a:r>
            <a:endParaRPr lang="ko-KR" sz="4000" dirty="0"/>
          </a:p>
        </p:txBody>
      </p:sp>
      <p:sp>
        <p:nvSpPr>
          <p:cNvPr id="3" name="S04-card17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4-cardtext18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서준이는 줄넘기를 아직 열 번밖에 못 하지만, 날마다 연습해요.</a:t>
            </a:r>
            <a:endParaRPr lang="ko-KR" sz="3000" dirty="0"/>
          </a:p>
        </p:txBody>
      </p:sp>
      <p:sp>
        <p:nvSpPr>
          <p:cNvPr id="5" name="S04-card1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4-cardtext2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생각에 찬성해요? 왜요?</a:t>
            </a:r>
            <a:endParaRPr lang="ko-KR" sz="3000" dirty="0"/>
          </a:p>
        </p:txBody>
      </p:sp>
      <p:sp>
        <p:nvSpPr>
          <p:cNvPr id="7" name="S04-chip21"/>
          <p:cNvSpPr txBox="1"/>
          <p:nvPr/>
        </p:nvSpPr>
        <p:spPr>
          <a:xfrm>
            <a:off x="548640" y="2813304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8" name="S04-text22"/>
          <p:cNvSpPr txBox="1"/>
          <p:nvPr/>
        </p:nvSpPr>
        <p:spPr>
          <a:xfrm>
            <a:off x="548640" y="3544824"/>
            <a:ext cx="5362956" cy="1575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“1등이 아니니까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장점이 아니야.”</a:t>
            </a:r>
            <a:endParaRPr lang="ko-KR" sz="3000" dirty="0"/>
          </a:p>
        </p:txBody>
      </p:sp>
      <p:sp>
        <p:nvSpPr>
          <p:cNvPr id="9" name="S04-chip23"/>
          <p:cNvSpPr txBox="1"/>
          <p:nvPr/>
        </p:nvSpPr>
        <p:spPr>
          <a:xfrm>
            <a:off x="6277356" y="2813304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10" name="S04-text24"/>
          <p:cNvSpPr txBox="1"/>
          <p:nvPr/>
        </p:nvSpPr>
        <p:spPr>
          <a:xfrm>
            <a:off x="6277356" y="3544824"/>
            <a:ext cx="5362956" cy="1575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“날마다 연습하니까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꾸준한 게 장점이야.”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장점을 찾아 줘요</a:t>
            </a:r>
            <a:endParaRPr lang="ko-KR" sz="4000" dirty="0"/>
          </a:p>
        </p:txBody>
      </p:sp>
      <p:sp>
        <p:nvSpPr>
          <p:cNvPr id="3" name="S05-text2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친구들의 장점은 무엇일까요?</a:t>
            </a:r>
            <a:endParaRPr lang="ko-KR" sz="3000" dirty="0"/>
          </a:p>
        </p:txBody>
      </p:sp>
      <p:sp>
        <p:nvSpPr>
          <p:cNvPr id="4" name="S05-card2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2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“~해서 ~한 점이 좋아요.”</a:t>
            </a:r>
            <a:endParaRPr lang="ko-KR" sz="3000" dirty="0"/>
          </a:p>
        </p:txBody>
      </p:sp>
      <p:sp>
        <p:nvSpPr>
          <p:cNvPr id="6" name="S05-chip28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5-text29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지아는 모르는 문제를 선생님께 여쭤봐요.</a:t>
            </a:r>
            <a:endParaRPr lang="ko-KR" sz="3000" dirty="0"/>
          </a:p>
        </p:txBody>
      </p:sp>
      <p:sp>
        <p:nvSpPr>
          <p:cNvPr id="8" name="S05-chip30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5-text31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하준이는 블록이 무너져도 다시 쌓아요.</a:t>
            </a:r>
            <a:endParaRPr lang="ko-KR" sz="3000" dirty="0"/>
          </a:p>
        </p:txBody>
      </p:sp>
      <p:sp>
        <p:nvSpPr>
          <p:cNvPr id="10" name="S05-chip32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5-text33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민서는 동생에게 책을 읽어 줘요.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도윤이의 고민</a:t>
            </a:r>
            <a:endParaRPr lang="ko-KR" sz="4000" dirty="0"/>
          </a:p>
        </p:txBody>
      </p:sp>
      <p:sp>
        <p:nvSpPr>
          <p:cNvPr id="3" name="S06-card3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3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도윤이가 숫자를 바꾸면 어떻게 될까요?</a:t>
            </a:r>
            <a:endParaRPr lang="ko-KR" sz="3000" dirty="0"/>
          </a:p>
        </p:txBody>
      </p:sp>
      <p:sp>
        <p:nvSpPr>
          <p:cNvPr id="5" name="S06-passagebox36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6-passage37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주사위 숫자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도윤이가 엄마와 보드게임을 해요.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엄마가 잠깐 전화를 받으러 갔어요.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주사위를 던졌는데 1이 나왔어요.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‘6으로 바꿔 놓을까? 아무도 모를 거야.’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정직하면 좋은 까닭</a:t>
            </a:r>
            <a:endParaRPr lang="ko-KR" sz="4000" dirty="0"/>
          </a:p>
        </p:txBody>
      </p:sp>
      <p:sp>
        <p:nvSpPr>
          <p:cNvPr id="3" name="S07-text3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정직은 사실대로 말하고 행동하는 거예요.</a:t>
            </a:r>
            <a:endParaRPr lang="ko-KR" sz="3000" dirty="0"/>
          </a:p>
        </p:txBody>
      </p:sp>
      <p:sp>
        <p:nvSpPr>
          <p:cNvPr id="4" name="S07-card39"/>
          <p:cNvSpPr/>
          <p:nvPr/>
        </p:nvSpPr>
        <p:spPr>
          <a:xfrm>
            <a:off x="548640" y="2011680"/>
            <a:ext cx="5431536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7-cardtext40"/>
          <p:cNvSpPr txBox="1"/>
          <p:nvPr/>
        </p:nvSpPr>
        <p:spPr>
          <a:xfrm>
            <a:off x="822960" y="2148840"/>
            <a:ext cx="4882896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믿음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서로 믿을 수 있어요</a:t>
            </a:r>
            <a:endParaRPr lang="ko-KR" sz="3000" dirty="0"/>
          </a:p>
        </p:txBody>
      </p:sp>
      <p:sp>
        <p:nvSpPr>
          <p:cNvPr id="6" name="S07-card41"/>
          <p:cNvSpPr/>
          <p:nvPr/>
        </p:nvSpPr>
        <p:spPr>
          <a:xfrm>
            <a:off x="6208776" y="2011680"/>
            <a:ext cx="5431536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7-cardtext42"/>
          <p:cNvSpPr txBox="1"/>
          <p:nvPr/>
        </p:nvSpPr>
        <p:spPr>
          <a:xfrm>
            <a:off x="6483096" y="2148840"/>
            <a:ext cx="4882896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편한 마음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걱정 없이 지내요</a:t>
            </a:r>
            <a:endParaRPr lang="ko-KR" sz="3000" dirty="0"/>
          </a:p>
        </p:txBody>
      </p:sp>
      <p:sp>
        <p:nvSpPr>
          <p:cNvPr id="8" name="S07-card43"/>
          <p:cNvSpPr/>
          <p:nvPr/>
        </p:nvSpPr>
        <p:spPr>
          <a:xfrm>
            <a:off x="548640" y="4229100"/>
            <a:ext cx="5431536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7-cardtext44"/>
          <p:cNvSpPr txBox="1"/>
          <p:nvPr/>
        </p:nvSpPr>
        <p:spPr>
          <a:xfrm>
            <a:off x="822960" y="4366260"/>
            <a:ext cx="4882896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도움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사실을 알면 도와줄 수 있어요</a:t>
            </a:r>
            <a:endParaRPr lang="ko-KR" sz="3000" dirty="0"/>
          </a:p>
        </p:txBody>
      </p:sp>
      <p:sp>
        <p:nvSpPr>
          <p:cNvPr id="10" name="S07-card45"/>
          <p:cNvSpPr/>
          <p:nvPr/>
        </p:nvSpPr>
        <p:spPr>
          <a:xfrm>
            <a:off x="6208776" y="4229100"/>
            <a:ext cx="5431536" cy="1988820"/>
          </a:xfrm>
          <a:prstGeom prst="roundRect">
            <a:avLst>
              <a:gd name="adj" fmla="val 55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1" name="S07-cardtext46"/>
          <p:cNvSpPr txBox="1"/>
          <p:nvPr/>
        </p:nvSpPr>
        <p:spPr>
          <a:xfrm>
            <a:off x="6483096" y="4366260"/>
            <a:ext cx="4882896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사람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억울한 일이 생기지 않아요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이럴 때는 어떻게 할까요?</a:t>
            </a:r>
            <a:endParaRPr lang="ko-KR" sz="4000" dirty="0"/>
          </a:p>
        </p:txBody>
      </p:sp>
      <p:sp>
        <p:nvSpPr>
          <p:cNvPr id="3" name="S08-text4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숙제를 반만 했는데, 아빠가 “숙제 다 했니?” 하고 물어요.</a:t>
            </a:r>
            <a:endParaRPr lang="ko-KR" sz="3000" dirty="0"/>
          </a:p>
        </p:txBody>
      </p:sp>
      <p:sp>
        <p:nvSpPr>
          <p:cNvPr id="4" name="S08-card4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8-cardtext4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나라면 어떻게 할까요? 까닭도 말해요.</a:t>
            </a:r>
            <a:endParaRPr lang="ko-KR" sz="3000" dirty="0"/>
          </a:p>
        </p:txBody>
      </p:sp>
      <p:sp>
        <p:nvSpPr>
          <p:cNvPr id="6" name="S08-chip50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08-card51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8-cardtext52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“네, 다 했어요.”</a:t>
            </a:r>
            <a:endParaRPr lang="ko-KR" sz="3000" dirty="0"/>
          </a:p>
        </p:txBody>
      </p:sp>
      <p:sp>
        <p:nvSpPr>
          <p:cNvPr id="9" name="S08-chip53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0" name="S08-card54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8-cardtext55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“반만 했어요.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어려운 데가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있어요.”</a:t>
            </a:r>
            <a:endParaRPr lang="ko-KR" sz="3000" dirty="0"/>
          </a:p>
        </p:txBody>
      </p:sp>
      <p:sp>
        <p:nvSpPr>
          <p:cNvPr id="12" name="S08-chip56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3" name="S08-card57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8-cardtext58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못 들은 척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방으로 가요.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정직하게, 왜요?</a:t>
            </a:r>
            <a:endParaRPr lang="ko-KR" sz="4000" dirty="0"/>
          </a:p>
        </p:txBody>
      </p:sp>
      <p:sp>
        <p:nvSpPr>
          <p:cNvPr id="3" name="S09-text5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할지와 까닭을 말해요.</a:t>
            </a:r>
            <a:endParaRPr lang="ko-KR" sz="3000" dirty="0"/>
          </a:p>
        </p:txBody>
      </p:sp>
      <p:sp>
        <p:nvSpPr>
          <p:cNvPr id="4" name="S09-card6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6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어떤 마음일까요?</a:t>
            </a:r>
            <a:endParaRPr lang="ko-KR" sz="3000" dirty="0"/>
          </a:p>
        </p:txBody>
      </p:sp>
      <p:sp>
        <p:nvSpPr>
          <p:cNvPr id="6" name="S09-chip62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9-text63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가게에서 거스름돈을 더 받았어요.</a:t>
            </a:r>
            <a:endParaRPr lang="ko-KR" sz="3000" dirty="0"/>
          </a:p>
        </p:txBody>
      </p:sp>
      <p:sp>
        <p:nvSpPr>
          <p:cNvPr id="8" name="S09-chip64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9-text65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내 그림을 칭찬했는데, 언니가 많이 도와줬어요.</a:t>
            </a:r>
            <a:endParaRPr lang="ko-KR" sz="3000" dirty="0"/>
          </a:p>
        </p:txBody>
      </p:sp>
      <p:sp>
        <p:nvSpPr>
          <p:cNvPr id="10" name="S09-chip66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9-text67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숨바꼭질 술래인데 눈을 살짝 떴어요.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text6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엄마(아빠)는 듣기만 해요.</a:t>
            </a:r>
            <a:endParaRPr lang="ko-KR" sz="3000" dirty="0"/>
          </a:p>
        </p:txBody>
      </p:sp>
      <p:sp>
        <p:nvSpPr>
          <p:cNvPr id="4" name="S10-chip69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0-text70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나의 장점 두 가지와 그 장점이 보인 일은?</a:t>
            </a:r>
            <a:endParaRPr lang="ko-KR" sz="3000" dirty="0"/>
          </a:p>
        </p:txBody>
      </p:sp>
      <p:sp>
        <p:nvSpPr>
          <p:cNvPr id="6" name="S10-chip71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10-text72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빌린 지우개를 잃어버렸어요. 어떻게 할까요?</a:t>
            </a:r>
            <a:endParaRPr lang="ko-KR" sz="3000" dirty="0"/>
          </a:p>
        </p:txBody>
      </p:sp>
      <p:sp>
        <p:nvSpPr>
          <p:cNvPr id="8" name="S10-chip73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10-text74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정직해야 하는 까닭 두 가지는?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잘한 말과 다시 생각해 볼 말</a:t>
            </a:r>
            <a:endParaRPr lang="ko-KR" sz="4000" dirty="0"/>
          </a:p>
        </p:txBody>
      </p:sp>
      <p:sp>
        <p:nvSpPr>
          <p:cNvPr id="3" name="S11-card7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7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장점은 한 일과 함께, 정직은 까닭과 함께 말해요.</a:t>
            </a:r>
            <a:endParaRPr lang="ko-KR" sz="3000" dirty="0"/>
          </a:p>
        </p:txBody>
      </p:sp>
      <p:sp>
        <p:nvSpPr>
          <p:cNvPr id="5" name="S11-chip77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잘한 말</a:t>
            </a:r>
            <a:endParaRPr lang="ko-KR" sz="2400" dirty="0"/>
          </a:p>
        </p:txBody>
      </p:sp>
      <p:sp>
        <p:nvSpPr>
          <p:cNvPr id="6" name="S11-text78"/>
          <p:cNvSpPr txBox="1"/>
          <p:nvPr/>
        </p:nvSpPr>
        <p:spPr>
          <a:xfrm>
            <a:off x="548640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“날마다 연습해서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꾸준해요.”</a:t>
            </a:r>
            <a:endParaRPr lang="ko-KR" sz="2400" dirty="0"/>
          </a:p>
        </p:txBody>
      </p:sp>
      <p:sp>
        <p:nvSpPr>
          <p:cNvPr id="7" name="S11-text79"/>
          <p:cNvSpPr txBox="1"/>
          <p:nvPr/>
        </p:nvSpPr>
        <p:spPr>
          <a:xfrm>
            <a:off x="3367278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일과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장점</a:t>
            </a:r>
            <a:endParaRPr lang="ko-KR" sz="2400" dirty="0"/>
          </a:p>
        </p:txBody>
      </p:sp>
      <p:sp>
        <p:nvSpPr>
          <p:cNvPr id="8" name="S11-text80"/>
          <p:cNvSpPr txBox="1"/>
          <p:nvPr/>
        </p:nvSpPr>
        <p:spPr>
          <a:xfrm>
            <a:off x="548640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“잃어버렸어.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미안해.”</a:t>
            </a:r>
            <a:endParaRPr lang="ko-KR" sz="3000" dirty="0"/>
          </a:p>
        </p:txBody>
      </p:sp>
      <p:sp>
        <p:nvSpPr>
          <p:cNvPr id="9" name="S11-text81"/>
          <p:cNvSpPr txBox="1"/>
          <p:nvPr/>
        </p:nvSpPr>
        <p:spPr>
          <a:xfrm>
            <a:off x="3367278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사실대로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말하기</a:t>
            </a:r>
            <a:endParaRPr lang="ko-KR" sz="2400" dirty="0"/>
          </a:p>
        </p:txBody>
      </p:sp>
      <p:sp>
        <p:nvSpPr>
          <p:cNvPr id="10" name="S11-chip82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 생각해 볼 말</a:t>
            </a:r>
            <a:endParaRPr lang="ko-KR" sz="2400" dirty="0"/>
          </a:p>
        </p:txBody>
      </p:sp>
      <p:sp>
        <p:nvSpPr>
          <p:cNvPr id="11" name="S11-text83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“저는 장점이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없어요.”</a:t>
            </a:r>
            <a:endParaRPr lang="ko-KR" sz="3000" dirty="0"/>
          </a:p>
        </p:txBody>
      </p:sp>
      <p:sp>
        <p:nvSpPr>
          <p:cNvPr id="12" name="S11-text84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노력도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장점이에요</a:t>
            </a:r>
            <a:endParaRPr lang="ko-KR" sz="2400" dirty="0"/>
          </a:p>
        </p:txBody>
      </p:sp>
      <p:sp>
        <p:nvSpPr>
          <p:cNvPr id="13" name="S11-text85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“처음부터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없었어.”</a:t>
            </a:r>
            <a:endParaRPr lang="ko-KR" sz="3000" dirty="0"/>
          </a:p>
        </p:txBody>
      </p:sp>
      <p:sp>
        <p:nvSpPr>
          <p:cNvPr id="14" name="S11-text86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숨기기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장점을 잘 찾은 친구는?</a:t>
            </a:r>
            <a:endParaRPr lang="ko-KR" sz="4000" dirty="0"/>
          </a:p>
        </p:txBody>
      </p:sp>
      <p:sp>
        <p:nvSpPr>
          <p:cNvPr id="3" name="S12-text8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친구가 자기 장점을 말해요.</a:t>
            </a:r>
            <a:endParaRPr lang="ko-KR" sz="3000" dirty="0"/>
          </a:p>
        </p:txBody>
      </p:sp>
      <p:sp>
        <p:nvSpPr>
          <p:cNvPr id="4" name="S12-card8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2-cardtext8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장점을 잘 찾았나요? 왜요?</a:t>
            </a:r>
            <a:endParaRPr lang="ko-KR" sz="3000" dirty="0"/>
          </a:p>
        </p:txBody>
      </p:sp>
      <p:sp>
        <p:nvSpPr>
          <p:cNvPr id="6" name="S12-chip90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12-card91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2-cardtext92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“나는 우리 반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달리기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1등이야.”</a:t>
            </a:r>
            <a:endParaRPr lang="ko-KR" sz="3000" dirty="0"/>
          </a:p>
        </p:txBody>
      </p:sp>
      <p:sp>
        <p:nvSpPr>
          <p:cNvPr id="9" name="S12-chip93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0" name="S12-card94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2-cardtext95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“나는 잘하는 게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하나도 없어.”</a:t>
            </a:r>
            <a:endParaRPr lang="ko-KR" sz="3000" dirty="0"/>
          </a:p>
        </p:txBody>
      </p:sp>
      <p:sp>
        <p:nvSpPr>
          <p:cNvPr id="12" name="S12-chip96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3" name="S12-card97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2-cardtext98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“책 정리를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날마다 해서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성실해.”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99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100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장점은 내가 한 일 속에 있어요. 정직하면 서로 믿을 수 있어요.</a:t>
            </a:r>
            <a:endParaRPr lang="ko-KR" sz="3000" dirty="0"/>
          </a:p>
        </p:txBody>
      </p:sp>
      <p:sp>
        <p:nvSpPr>
          <p:cNvPr id="5" name="S13-chip101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노력에서 장점 찾기</a:t>
            </a:r>
            <a:endParaRPr lang="ko-KR" sz="2400" dirty="0"/>
          </a:p>
        </p:txBody>
      </p:sp>
      <p:sp>
        <p:nvSpPr>
          <p:cNvPr id="6" name="S13-chip102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아무도 모른다고 숨기기</a:t>
            </a:r>
            <a:endParaRPr lang="ko-KR" sz="2400" dirty="0"/>
          </a:p>
        </p:txBody>
      </p:sp>
      <p:sp>
        <p:nvSpPr>
          <p:cNvPr id="7" name="S13-text103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3-text104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나의 장점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가지</a:t>
            </a:r>
            <a:endParaRPr lang="ko-KR" sz="2400" dirty="0"/>
          </a:p>
        </p:txBody>
      </p:sp>
      <p:sp>
        <p:nvSpPr>
          <p:cNvPr id="9" name="S13-text105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정직하면 좋은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 하나</a:t>
            </a:r>
            <a:endParaRPr lang="ko-KR" sz="2400" dirty="0"/>
          </a:p>
        </p:txBody>
      </p:sp>
      <p:sp>
        <p:nvSpPr>
          <p:cNvPr id="10" name="S13-text106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이번 주에 찾은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장점</a:t>
            </a:r>
            <a:endParaRPr lang="ko-KR" sz="2400" dirty="0"/>
          </a:p>
        </p:txBody>
      </p:sp>
      <p:sp>
        <p:nvSpPr>
          <p:cNvPr id="11" name="S13-text107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함께 지킬 규칙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솔직하게 말하기</a:t>
            </a:r>
            <a:endParaRPr lang="ko-KR" sz="4000" dirty="0"/>
          </a:p>
        </p:txBody>
      </p:sp>
      <p:sp>
        <p:nvSpPr>
          <p:cNvPr id="3" name="S14-text10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실수했을 때 이렇게 말해요.</a:t>
            </a:r>
            <a:endParaRPr lang="ko-KR" sz="3000" dirty="0"/>
          </a:p>
        </p:txBody>
      </p:sp>
      <p:sp>
        <p:nvSpPr>
          <p:cNvPr id="4" name="S14-card10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4-cardtext11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솔직하게 말하면 서로 믿을 수 있어요.</a:t>
            </a:r>
            <a:endParaRPr lang="ko-KR" sz="3000" dirty="0"/>
          </a:p>
        </p:txBody>
      </p:sp>
      <p:sp>
        <p:nvSpPr>
          <p:cNvPr id="6" name="S14-card111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4-cardtext112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무슨 일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“컵을 깼어요.”</a:t>
            </a:r>
            <a:endParaRPr lang="ko-KR" sz="3000" dirty="0"/>
          </a:p>
        </p:txBody>
      </p:sp>
      <p:sp>
        <p:nvSpPr>
          <p:cNvPr id="8" name="S14-card113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14-cardtext114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미안한 마음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“죄송해요.”</a:t>
            </a:r>
            <a:endParaRPr lang="ko-KR" sz="3000" dirty="0"/>
          </a:p>
        </p:txBody>
      </p:sp>
      <p:sp>
        <p:nvSpPr>
          <p:cNvPr id="10" name="S14-card115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1" name="S14-cardtext116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행동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“다음엔 조심할게요.”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도덕·윤리 나의 장점과 정직</dc:title>
  <dc:subject>KR22-G03-ETH-MYSTRENGTH-L01</dc:subject>
  <dc:creator>education-ppt</dc:creator>
  <cp:lastModifiedBy>education-ppt</cp:lastModifiedBy>
  <cp:revision>1</cp:revision>
  <dcterms:created xsi:type="dcterms:W3CDTF">2026-10-26T13:43:07Z</dcterms:created>
  <dcterms:modified xsi:type="dcterms:W3CDTF">2026-10-26T13:43:07Z</dcterms:modified>
</cp:coreProperties>
</file>