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24cbd73-445e-0d2d-3b78-8e5ae8e67993}">
          <p14:sldIdLst>
            <p14:sldId id="256"/>
            <p14:sldId id="257"/>
          </p14:sldIdLst>
        </p14:section>
        <p14:section name="개념" id="{04e21ae0-cae0-6c09-1928-e7c5cf72838a}">
          <p14:sldIdLst>
            <p14:sldId id="258"/>
            <p14:sldId id="259"/>
            <p14:sldId id="260"/>
            <p14:sldId id="263"/>
          </p14:sldIdLst>
        </p14:section>
        <p14:section name="연습" id="{9dfb6872-cfd9-69f1-2558-559ecb8260a2}">
          <p14:sldIdLst>
            <p14:sldId id="261"/>
            <p14:sldId id="262"/>
            <p14:sldId id="264"/>
            <p14:sldId id="265"/>
          </p14:sldIdLst>
        </p14:section>
        <p14:section name="개념" id="{ceabedc7-651f-05a2-ddee-7333f198da82}">
          <p14:sldIdLst/>
        </p14:section>
        <p14:section name="연습" id="{14db330e-d4e9-d307-d64a-70c078ba2f3b}">
          <p14:sldIdLst/>
        </p14:section>
        <p14:section name="확인" id="{3004a17d-a10b-dbd8-0eb8-887e75035479}">
          <p14:sldIdLst>
            <p14:sldId id="266"/>
            <p14:sldId id="267"/>
          </p14:sldIdLst>
        </p14:section>
        <p14:section name="정리" id="{330bd0fb-a135-fdc3-07c3-9bda719779f3}">
          <p14:sldIdLst>
            <p14:sldId id="268"/>
          </p14:sldIdLst>
        </p14:section>
        <p14:section name="보충" id="{c5872963-206f-a85d-10e2-2202ac357faa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도형과측정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선분·반직선·직선과 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선분·반직선·직선과 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선분·반직선·직선과 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선분·반직선·직선과 각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선에도 이름이 있을까?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mark2"/>
          <p:cNvSpPr/>
          <p:nvPr/>
        </p:nvSpPr>
        <p:spPr>
          <a:xfrm>
            <a:off x="7892681" y="2682240"/>
            <a:ext cx="792480" cy="792480"/>
          </a:xfrm>
          <a:prstGeom prst="pie">
            <a:avLst>
              <a:gd name="adj1" fmla="val 18221404"/>
              <a:gd name="adj2" fmla="val 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6" name="S01-figure3" descr="점 ㄴ에서 그은 두 반직선으로 된 각"/>
          <p:cNvSpPr/>
          <p:nvPr/>
        </p:nvSpPr>
        <p:spPr>
          <a:xfrm flipV="1">
            <a:off x="8288921" y="1127760"/>
            <a:ext cx="1300480" cy="195072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8288921" y="3078480"/>
            <a:ext cx="2715997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9195173" y="1570512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8229485" y="301904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>
            <a:off x="10341928" y="301904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label9"/>
          <p:cNvSpPr txBox="1"/>
          <p:nvPr/>
        </p:nvSpPr>
        <p:spPr>
          <a:xfrm>
            <a:off x="8847506" y="130419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2400" dirty="0"/>
          </a:p>
        </p:txBody>
      </p:sp>
      <p:sp>
        <p:nvSpPr>
          <p:cNvPr id="12" name="S01-label11"/>
          <p:cNvSpPr txBox="1"/>
          <p:nvPr/>
        </p:nvSpPr>
        <p:spPr>
          <a:xfrm>
            <a:off x="7869718" y="3003038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2400" dirty="0"/>
          </a:p>
        </p:txBody>
      </p:sp>
      <p:sp>
        <p:nvSpPr>
          <p:cNvPr id="13" name="S01-label13"/>
          <p:cNvSpPr txBox="1"/>
          <p:nvPr/>
        </p:nvSpPr>
        <p:spPr>
          <a:xfrm>
            <a:off x="10197148" y="264414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2400" dirty="0"/>
          </a:p>
        </p:txBody>
      </p:sp>
      <p:sp>
        <p:nvSpPr>
          <p:cNvPr id="14" name="S01-card14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5" name="S01-cardtext15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선분·반직선·직선을 구별해요.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각을 찾고 이름을 읽어요.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000" dirty="0"/>
          </a:p>
        </p:txBody>
      </p:sp>
      <p:sp>
        <p:nvSpPr>
          <p:cNvPr id="3" name="S02-text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변과 꼭짓점의 수를 말해요.</a:t>
            </a:r>
            <a:endParaRPr lang="ko-KR" sz="3000" dirty="0"/>
          </a:p>
        </p:txBody>
      </p:sp>
      <p:sp>
        <p:nvSpPr>
          <p:cNvPr id="4" name="S02-chip17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figure18" descr="triangle"/>
          <p:cNvSpPr/>
          <p:nvPr/>
        </p:nvSpPr>
        <p:spPr>
          <a:xfrm>
            <a:off x="3515868" y="2063635"/>
            <a:ext cx="1143000" cy="1039091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2-chip19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figure20" descr="pentagon"/>
          <p:cNvSpPr/>
          <p:nvPr/>
        </p:nvSpPr>
        <p:spPr>
          <a:xfrm>
            <a:off x="3515868" y="3501934"/>
            <a:ext cx="1143000" cy="1088571"/>
          </a:xfrm>
          <a:prstGeom prst="pentago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2-chip21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2-text22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변은 곧은 선일까요,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굽은 선일까요?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점을 곧게 이으면</a:t>
            </a:r>
            <a:endParaRPr lang="ko-KR" sz="4000" dirty="0"/>
          </a:p>
        </p:txBody>
      </p:sp>
      <p:sp>
        <p:nvSpPr>
          <p:cNvPr id="3" name="S03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자를 대고 두 점을 곧게 이어요.</a:t>
            </a:r>
            <a:endParaRPr lang="ko-KR" sz="3000" dirty="0"/>
          </a:p>
        </p:txBody>
      </p:sp>
      <p:sp>
        <p:nvSpPr>
          <p:cNvPr id="4" name="S03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선분은 양쪽 끝에 끝점이 있어요.</a:t>
            </a:r>
            <a:endParaRPr lang="ko-KR" sz="3000" dirty="0"/>
          </a:p>
        </p:txBody>
      </p:sp>
      <p:sp>
        <p:nvSpPr>
          <p:cNvPr id="6" name="S03-figure26" descr="선분 ㄱㄴ: 점 ㄱ과 점 ㄴ을 곧게 이은 선"/>
          <p:cNvSpPr/>
          <p:nvPr/>
        </p:nvSpPr>
        <p:spPr>
          <a:xfrm flipV="1">
            <a:off x="1036320" y="2908021"/>
            <a:ext cx="4387596" cy="1316279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" name="S03-mark27"/>
          <p:cNvSpPr/>
          <p:nvPr/>
        </p:nvSpPr>
        <p:spPr>
          <a:xfrm>
            <a:off x="976884" y="4164863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mark28"/>
          <p:cNvSpPr/>
          <p:nvPr/>
        </p:nvSpPr>
        <p:spPr>
          <a:xfrm>
            <a:off x="5364480" y="2848585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label30"/>
          <p:cNvSpPr txBox="1"/>
          <p:nvPr/>
        </p:nvSpPr>
        <p:spPr>
          <a:xfrm>
            <a:off x="598548" y="4103866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2400" dirty="0"/>
          </a:p>
        </p:txBody>
      </p:sp>
      <p:sp>
        <p:nvSpPr>
          <p:cNvPr id="10" name="S03-label32"/>
          <p:cNvSpPr txBox="1"/>
          <p:nvPr/>
        </p:nvSpPr>
        <p:spPr>
          <a:xfrm>
            <a:off x="5453256" y="264745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2400" dirty="0"/>
          </a:p>
        </p:txBody>
      </p:sp>
      <p:sp>
        <p:nvSpPr>
          <p:cNvPr id="11" name="S03-card33"/>
          <p:cNvSpPr/>
          <p:nvPr/>
        </p:nvSpPr>
        <p:spPr>
          <a:xfrm>
            <a:off x="6277356" y="220980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3-cardtext34"/>
          <p:cNvSpPr txBox="1"/>
          <p:nvPr/>
        </p:nvSpPr>
        <p:spPr>
          <a:xfrm>
            <a:off x="6551676" y="234696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점을 곧게 이은 선</a:t>
            </a:r>
            <a:endParaRPr lang="ko-KR" sz="3000" dirty="0"/>
          </a:p>
        </p:txBody>
      </p:sp>
      <p:sp>
        <p:nvSpPr>
          <p:cNvPr id="13" name="S03-card35"/>
          <p:cNvSpPr/>
          <p:nvPr/>
        </p:nvSpPr>
        <p:spPr>
          <a:xfrm>
            <a:off x="6277356" y="368046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3-cardtext36"/>
          <p:cNvSpPr txBox="1"/>
          <p:nvPr/>
        </p:nvSpPr>
        <p:spPr>
          <a:xfrm>
            <a:off x="6551676" y="381762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선분 ㄱㄴ 또는 선분 ㄴㄱ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선분, 반직선, 직선</a:t>
            </a:r>
            <a:endParaRPr lang="ko-KR" sz="4000" dirty="0"/>
          </a:p>
        </p:txBody>
      </p:sp>
      <p:sp>
        <p:nvSpPr>
          <p:cNvPr id="3" name="S04-text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선이 어디에서 끝나는지 보세요.</a:t>
            </a:r>
            <a:endParaRPr lang="ko-KR" sz="3000" dirty="0"/>
          </a:p>
        </p:txBody>
      </p:sp>
      <p:sp>
        <p:nvSpPr>
          <p:cNvPr id="4" name="S04-card38"/>
          <p:cNvSpPr/>
          <p:nvPr/>
        </p:nvSpPr>
        <p:spPr>
          <a:xfrm>
            <a:off x="548640" y="4975860"/>
            <a:ext cx="3544824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4-cardtext39"/>
          <p:cNvSpPr txBox="1"/>
          <p:nvPr/>
        </p:nvSpPr>
        <p:spPr>
          <a:xfrm>
            <a:off x="822960" y="5113020"/>
            <a:ext cx="2996184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끝점 2개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점에서 멈춰요</a:t>
            </a:r>
            <a:endParaRPr lang="ko-KR" sz="3000" dirty="0"/>
          </a:p>
        </p:txBody>
      </p:sp>
      <p:sp>
        <p:nvSpPr>
          <p:cNvPr id="6" name="S04-card40"/>
          <p:cNvSpPr/>
          <p:nvPr/>
        </p:nvSpPr>
        <p:spPr>
          <a:xfrm>
            <a:off x="4322064" y="4975860"/>
            <a:ext cx="3544824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41"/>
          <p:cNvSpPr txBox="1"/>
          <p:nvPr/>
        </p:nvSpPr>
        <p:spPr>
          <a:xfrm>
            <a:off x="4596384" y="5113020"/>
            <a:ext cx="2996184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끝점 1개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한쪽으로 끝없이</a:t>
            </a:r>
            <a:endParaRPr lang="ko-KR" sz="3000" dirty="0"/>
          </a:p>
        </p:txBody>
      </p:sp>
      <p:sp>
        <p:nvSpPr>
          <p:cNvPr id="8" name="S04-card42"/>
          <p:cNvSpPr/>
          <p:nvPr/>
        </p:nvSpPr>
        <p:spPr>
          <a:xfrm>
            <a:off x="8095488" y="4975860"/>
            <a:ext cx="3544824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43"/>
          <p:cNvSpPr txBox="1"/>
          <p:nvPr/>
        </p:nvSpPr>
        <p:spPr>
          <a:xfrm>
            <a:off x="8369808" y="5113020"/>
            <a:ext cx="2996184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끝점 없음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양쪽으로 끝없이</a:t>
            </a:r>
            <a:endParaRPr lang="ko-KR" sz="3000" dirty="0"/>
          </a:p>
        </p:txBody>
      </p:sp>
      <p:sp>
        <p:nvSpPr>
          <p:cNvPr id="10" name="S04-figure44" descr="선분 ㄱㄴ: 점 ㄱ과 점 ㄴ을 곧게 이은 선"/>
          <p:cNvSpPr/>
          <p:nvPr/>
        </p:nvSpPr>
        <p:spPr>
          <a:xfrm>
            <a:off x="1663446" y="3137154"/>
            <a:ext cx="12542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1" name="S04-mark45"/>
          <p:cNvSpPr/>
          <p:nvPr/>
        </p:nvSpPr>
        <p:spPr>
          <a:xfrm>
            <a:off x="1604010" y="3077718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4-mark46"/>
          <p:cNvSpPr/>
          <p:nvPr/>
        </p:nvSpPr>
        <p:spPr>
          <a:xfrm>
            <a:off x="2858262" y="3077718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4-label48"/>
          <p:cNvSpPr txBox="1"/>
          <p:nvPr/>
        </p:nvSpPr>
        <p:spPr>
          <a:xfrm>
            <a:off x="1459230" y="319049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2400" dirty="0"/>
          </a:p>
        </p:txBody>
      </p:sp>
      <p:sp>
        <p:nvSpPr>
          <p:cNvPr id="14" name="S04-label50"/>
          <p:cNvSpPr txBox="1"/>
          <p:nvPr/>
        </p:nvSpPr>
        <p:spPr>
          <a:xfrm>
            <a:off x="2713482" y="319049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2400" dirty="0"/>
          </a:p>
        </p:txBody>
      </p:sp>
      <p:sp>
        <p:nvSpPr>
          <p:cNvPr id="15" name="S04-label51"/>
          <p:cNvSpPr txBox="1"/>
          <p:nvPr/>
        </p:nvSpPr>
        <p:spPr>
          <a:xfrm>
            <a:off x="548640" y="433578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선분 ㄱㄴ</a:t>
            </a:r>
            <a:endParaRPr lang="ko-KR" sz="2400" dirty="0"/>
          </a:p>
        </p:txBody>
      </p:sp>
      <p:sp>
        <p:nvSpPr>
          <p:cNvPr id="16" name="S04-figure52" descr="반직선 ㄱㄴ: 점 ㄱ에서 시작해 점 ㄴ를 지나 한쪽으로 늘인 선"/>
          <p:cNvSpPr/>
          <p:nvPr/>
        </p:nvSpPr>
        <p:spPr>
          <a:xfrm>
            <a:off x="5467350" y="3137154"/>
            <a:ext cx="188137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7" name="S04-mark53"/>
          <p:cNvSpPr/>
          <p:nvPr/>
        </p:nvSpPr>
        <p:spPr>
          <a:xfrm>
            <a:off x="5407914" y="3077718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4-mark54"/>
          <p:cNvSpPr/>
          <p:nvPr/>
        </p:nvSpPr>
        <p:spPr>
          <a:xfrm>
            <a:off x="6662166" y="3077718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4-label56"/>
          <p:cNvSpPr txBox="1"/>
          <p:nvPr/>
        </p:nvSpPr>
        <p:spPr>
          <a:xfrm>
            <a:off x="5263134" y="319049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2400" dirty="0"/>
          </a:p>
        </p:txBody>
      </p:sp>
      <p:sp>
        <p:nvSpPr>
          <p:cNvPr id="20" name="S04-label58"/>
          <p:cNvSpPr txBox="1"/>
          <p:nvPr/>
        </p:nvSpPr>
        <p:spPr>
          <a:xfrm>
            <a:off x="6517386" y="319049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2400" dirty="0"/>
          </a:p>
        </p:txBody>
      </p:sp>
      <p:sp>
        <p:nvSpPr>
          <p:cNvPr id="21" name="S04-label59"/>
          <p:cNvSpPr txBox="1"/>
          <p:nvPr/>
        </p:nvSpPr>
        <p:spPr>
          <a:xfrm>
            <a:off x="4352544" y="433578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반직선 ㄱㄴ</a:t>
            </a:r>
            <a:endParaRPr lang="ko-KR" sz="2400" dirty="0"/>
          </a:p>
        </p:txBody>
      </p:sp>
      <p:sp>
        <p:nvSpPr>
          <p:cNvPr id="22" name="S04-figure60" descr="직선 ㄱㄴ: 점 ㄱ과 점 ㄴ을 지나 양쪽으로 늘인 선"/>
          <p:cNvSpPr/>
          <p:nvPr/>
        </p:nvSpPr>
        <p:spPr>
          <a:xfrm>
            <a:off x="8644128" y="3137154"/>
            <a:ext cx="2508504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3" name="S04-mark61"/>
          <p:cNvSpPr/>
          <p:nvPr/>
        </p:nvSpPr>
        <p:spPr>
          <a:xfrm>
            <a:off x="9211818" y="3077718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4-mark62"/>
          <p:cNvSpPr/>
          <p:nvPr/>
        </p:nvSpPr>
        <p:spPr>
          <a:xfrm>
            <a:off x="10466070" y="3077718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4-label64"/>
          <p:cNvSpPr txBox="1"/>
          <p:nvPr/>
        </p:nvSpPr>
        <p:spPr>
          <a:xfrm>
            <a:off x="9067038" y="319049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2400" dirty="0"/>
          </a:p>
        </p:txBody>
      </p:sp>
      <p:sp>
        <p:nvSpPr>
          <p:cNvPr id="26" name="S04-label66"/>
          <p:cNvSpPr txBox="1"/>
          <p:nvPr/>
        </p:nvSpPr>
        <p:spPr>
          <a:xfrm>
            <a:off x="10321290" y="319049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2400" dirty="0"/>
          </a:p>
        </p:txBody>
      </p:sp>
      <p:sp>
        <p:nvSpPr>
          <p:cNvPr id="27" name="S04-label67"/>
          <p:cNvSpPr txBox="1"/>
          <p:nvPr/>
        </p:nvSpPr>
        <p:spPr>
          <a:xfrm>
            <a:off x="8156448" y="433578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직선 ㄱㄴ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반직선 ㄱㄴ과 반직선 ㄴㄱ</a:t>
            </a:r>
            <a:endParaRPr lang="ko-KR" sz="4000" dirty="0"/>
          </a:p>
        </p:txBody>
      </p:sp>
      <p:sp>
        <p:nvSpPr>
          <p:cNvPr id="3" name="S05-text6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시작하는 점이 달라요.</a:t>
            </a:r>
            <a:endParaRPr lang="ko-KR" sz="3000" dirty="0"/>
          </a:p>
        </p:txBody>
      </p:sp>
      <p:sp>
        <p:nvSpPr>
          <p:cNvPr id="4" name="S05-card69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5-cardtext70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반직선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시작하는 점을 먼저 읽어요</a:t>
            </a:r>
            <a:endParaRPr lang="ko-KR" sz="3000" dirty="0"/>
          </a:p>
        </p:txBody>
      </p:sp>
      <p:sp>
        <p:nvSpPr>
          <p:cNvPr id="6" name="S05-card71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72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선분·직선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ㄱㄴ, ㄴㄱ 어느 쪽도 같아요</a:t>
            </a:r>
            <a:endParaRPr lang="ko-KR" sz="3000" dirty="0"/>
          </a:p>
        </p:txBody>
      </p:sp>
      <p:sp>
        <p:nvSpPr>
          <p:cNvPr id="8" name="S05-figure73" descr="반직선 ㄱㄴ: 점 ㄱ에서 시작해 점 ㄴ를 지나 한쪽으로 늘인 선"/>
          <p:cNvSpPr/>
          <p:nvPr/>
        </p:nvSpPr>
        <p:spPr>
          <a:xfrm>
            <a:off x="2138934" y="3137154"/>
            <a:ext cx="330784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9" name="S05-mark74"/>
          <p:cNvSpPr/>
          <p:nvPr/>
        </p:nvSpPr>
        <p:spPr>
          <a:xfrm>
            <a:off x="2079498" y="3077718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5-mark75"/>
          <p:cNvSpPr/>
          <p:nvPr/>
        </p:nvSpPr>
        <p:spPr>
          <a:xfrm>
            <a:off x="4284726" y="3077718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5-label77"/>
          <p:cNvSpPr txBox="1"/>
          <p:nvPr/>
        </p:nvSpPr>
        <p:spPr>
          <a:xfrm>
            <a:off x="1934718" y="319049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2400" dirty="0"/>
          </a:p>
        </p:txBody>
      </p:sp>
      <p:sp>
        <p:nvSpPr>
          <p:cNvPr id="12" name="S05-label79"/>
          <p:cNvSpPr txBox="1"/>
          <p:nvPr/>
        </p:nvSpPr>
        <p:spPr>
          <a:xfrm>
            <a:off x="4139946" y="319049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2400" dirty="0"/>
          </a:p>
        </p:txBody>
      </p:sp>
      <p:sp>
        <p:nvSpPr>
          <p:cNvPr id="13" name="S05-label80"/>
          <p:cNvSpPr txBox="1"/>
          <p:nvPr/>
        </p:nvSpPr>
        <p:spPr>
          <a:xfrm>
            <a:off x="548640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반직선 ㄱㄴ</a:t>
            </a:r>
            <a:endParaRPr lang="ko-KR" sz="2400" dirty="0"/>
          </a:p>
        </p:txBody>
      </p:sp>
      <p:sp>
        <p:nvSpPr>
          <p:cNvPr id="14" name="S05-figure81" descr="반직선 ㄴㄱ: 점 ㄴ에서 시작해 점 ㄱ를 지나 한쪽으로 늘인 선"/>
          <p:cNvSpPr/>
          <p:nvPr/>
        </p:nvSpPr>
        <p:spPr>
          <a:xfrm flipH="1">
            <a:off x="6742176" y="3137154"/>
            <a:ext cx="330784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5" name="S05-mark82"/>
          <p:cNvSpPr/>
          <p:nvPr/>
        </p:nvSpPr>
        <p:spPr>
          <a:xfrm>
            <a:off x="9990582" y="3077718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5-mark83"/>
          <p:cNvSpPr/>
          <p:nvPr/>
        </p:nvSpPr>
        <p:spPr>
          <a:xfrm>
            <a:off x="7785354" y="3077718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5-label85"/>
          <p:cNvSpPr txBox="1"/>
          <p:nvPr/>
        </p:nvSpPr>
        <p:spPr>
          <a:xfrm>
            <a:off x="9845802" y="319049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2400" dirty="0"/>
          </a:p>
        </p:txBody>
      </p:sp>
      <p:sp>
        <p:nvSpPr>
          <p:cNvPr id="18" name="S05-label87"/>
          <p:cNvSpPr txBox="1"/>
          <p:nvPr/>
        </p:nvSpPr>
        <p:spPr>
          <a:xfrm>
            <a:off x="7640574" y="319049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2400" dirty="0"/>
          </a:p>
        </p:txBody>
      </p:sp>
      <p:sp>
        <p:nvSpPr>
          <p:cNvPr id="19" name="S05-label88"/>
          <p:cNvSpPr txBox="1"/>
          <p:nvPr/>
        </p:nvSpPr>
        <p:spPr>
          <a:xfrm>
            <a:off x="6254496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반직선 ㄴㄱ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말해요</a:t>
            </a:r>
            <a:endParaRPr lang="ko-KR" sz="4000" dirty="0"/>
          </a:p>
        </p:txBody>
      </p:sp>
      <p:sp>
        <p:nvSpPr>
          <p:cNvPr id="3" name="S06-text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도형의 이름을 말해요.</a:t>
            </a:r>
            <a:endParaRPr lang="ko-KR" sz="3000" dirty="0"/>
          </a:p>
        </p:txBody>
      </p:sp>
      <p:sp>
        <p:nvSpPr>
          <p:cNvPr id="4" name="S06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반직선은 어느 점부터 읽었나요?</a:t>
            </a:r>
            <a:endParaRPr lang="ko-KR" sz="3000" dirty="0"/>
          </a:p>
        </p:txBody>
      </p:sp>
      <p:sp>
        <p:nvSpPr>
          <p:cNvPr id="6" name="S06-chip92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06-figure93" descr="선분 ㄷㄹ: 점 ㄷ과 점 ㄹ을 곧게 이은 선"/>
          <p:cNvSpPr/>
          <p:nvPr/>
        </p:nvSpPr>
        <p:spPr>
          <a:xfrm>
            <a:off x="1860042" y="2499360"/>
            <a:ext cx="3535680" cy="44196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06-mark94"/>
          <p:cNvSpPr/>
          <p:nvPr/>
        </p:nvSpPr>
        <p:spPr>
          <a:xfrm>
            <a:off x="1800606" y="243992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mark95"/>
          <p:cNvSpPr/>
          <p:nvPr/>
        </p:nvSpPr>
        <p:spPr>
          <a:xfrm>
            <a:off x="5336286" y="288188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label97"/>
          <p:cNvSpPr txBox="1"/>
          <p:nvPr/>
        </p:nvSpPr>
        <p:spPr>
          <a:xfrm>
            <a:off x="1413869" y="2278615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2400" dirty="0"/>
          </a:p>
        </p:txBody>
      </p:sp>
      <p:sp>
        <p:nvSpPr>
          <p:cNvPr id="11" name="S06-label99"/>
          <p:cNvSpPr txBox="1"/>
          <p:nvPr/>
        </p:nvSpPr>
        <p:spPr>
          <a:xfrm>
            <a:off x="5433463" y="2781065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2400" dirty="0"/>
          </a:p>
        </p:txBody>
      </p:sp>
      <p:sp>
        <p:nvSpPr>
          <p:cNvPr id="12" name="S06-chip100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3" name="S06-figure101" descr="직선 ㅁㅂ: 점 ㅁ과 점 ㅂ을 지나 양쪽으로 늘인 선"/>
          <p:cNvSpPr/>
          <p:nvPr/>
        </p:nvSpPr>
        <p:spPr>
          <a:xfrm flipV="1">
            <a:off x="7699248" y="2499360"/>
            <a:ext cx="3314700" cy="44196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4" name="S06-mark102"/>
          <p:cNvSpPr/>
          <p:nvPr/>
        </p:nvSpPr>
        <p:spPr>
          <a:xfrm>
            <a:off x="8464836" y="2771881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mark103"/>
          <p:cNvSpPr/>
          <p:nvPr/>
        </p:nvSpPr>
        <p:spPr>
          <a:xfrm>
            <a:off x="10129488" y="2549927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label105"/>
          <p:cNvSpPr txBox="1"/>
          <p:nvPr/>
        </p:nvSpPr>
        <p:spPr>
          <a:xfrm>
            <a:off x="8287830" y="2399116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2400" dirty="0"/>
          </a:p>
        </p:txBody>
      </p:sp>
      <p:sp>
        <p:nvSpPr>
          <p:cNvPr id="17" name="S06-label107"/>
          <p:cNvSpPr txBox="1"/>
          <p:nvPr/>
        </p:nvSpPr>
        <p:spPr>
          <a:xfrm>
            <a:off x="9952481" y="2177162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2400" dirty="0"/>
          </a:p>
        </p:txBody>
      </p:sp>
      <p:sp>
        <p:nvSpPr>
          <p:cNvPr id="18" name="S06-chip108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9" name="S06-figure109" descr="반직선 ㅅㅇ: 점 ㅅ에서 시작해 점 ㅇ를 지나 한쪽으로 늘인 선"/>
          <p:cNvSpPr/>
          <p:nvPr/>
        </p:nvSpPr>
        <p:spPr>
          <a:xfrm>
            <a:off x="1831848" y="4411980"/>
            <a:ext cx="359206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0" name="S06-mark110"/>
          <p:cNvSpPr/>
          <p:nvPr/>
        </p:nvSpPr>
        <p:spPr>
          <a:xfrm>
            <a:off x="1772412" y="435254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6-mark111"/>
          <p:cNvSpPr/>
          <p:nvPr/>
        </p:nvSpPr>
        <p:spPr>
          <a:xfrm>
            <a:off x="4167124" y="435254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6-label113"/>
          <p:cNvSpPr txBox="1"/>
          <p:nvPr/>
        </p:nvSpPr>
        <p:spPr>
          <a:xfrm>
            <a:off x="1383792" y="422148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2400" dirty="0"/>
          </a:p>
        </p:txBody>
      </p:sp>
      <p:sp>
        <p:nvSpPr>
          <p:cNvPr id="23" name="S06-label115"/>
          <p:cNvSpPr txBox="1"/>
          <p:nvPr/>
        </p:nvSpPr>
        <p:spPr>
          <a:xfrm>
            <a:off x="4022344" y="397764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2400" dirty="0"/>
          </a:p>
        </p:txBody>
      </p:sp>
      <p:sp>
        <p:nvSpPr>
          <p:cNvPr id="24" name="S06-chip116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25" name="S06-figure117" descr="반직선 ㅊㅈ: 점 ㅊ에서 시작해 점 ㅈ를 지나 한쪽으로 늘인 선"/>
          <p:cNvSpPr/>
          <p:nvPr/>
        </p:nvSpPr>
        <p:spPr>
          <a:xfrm flipH="1" flipV="1">
            <a:off x="7699248" y="4191000"/>
            <a:ext cx="3314700" cy="44196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6" name="S06-mark118"/>
          <p:cNvSpPr/>
          <p:nvPr/>
        </p:nvSpPr>
        <p:spPr>
          <a:xfrm>
            <a:off x="10954512" y="457352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6-mark119"/>
          <p:cNvSpPr/>
          <p:nvPr/>
        </p:nvSpPr>
        <p:spPr>
          <a:xfrm>
            <a:off x="8738232" y="4278020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6-label121"/>
          <p:cNvSpPr txBox="1"/>
          <p:nvPr/>
        </p:nvSpPr>
        <p:spPr>
          <a:xfrm>
            <a:off x="11051433" y="4474687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ㅊ</a:t>
            </a:r>
            <a:endParaRPr lang="ko-KR" sz="2400" dirty="0"/>
          </a:p>
        </p:txBody>
      </p:sp>
      <p:sp>
        <p:nvSpPr>
          <p:cNvPr id="29" name="S06-label123"/>
          <p:cNvSpPr txBox="1"/>
          <p:nvPr/>
        </p:nvSpPr>
        <p:spPr>
          <a:xfrm>
            <a:off x="8625678" y="3905255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ㅈ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직선을 모두 찾아요</a:t>
            </a:r>
            <a:endParaRPr lang="ko-KR" sz="4000" dirty="0"/>
          </a:p>
        </p:txBody>
      </p:sp>
      <p:sp>
        <p:nvSpPr>
          <p:cNvPr id="3" name="S07-card1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1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길게 그린 가도 직선일까요? 왜 그럴까요?</a:t>
            </a:r>
            <a:endParaRPr lang="ko-KR" sz="3000" dirty="0"/>
          </a:p>
        </p:txBody>
      </p:sp>
      <p:sp>
        <p:nvSpPr>
          <p:cNvPr id="5" name="S07-chip126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07-figure127" descr="두 점을 곧게 이은 선(양쪽 끝에 점)"/>
          <p:cNvSpPr/>
          <p:nvPr/>
        </p:nvSpPr>
        <p:spPr>
          <a:xfrm flipV="1">
            <a:off x="1435608" y="2059838"/>
            <a:ext cx="4384548" cy="292303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" name="S07-mark128"/>
          <p:cNvSpPr/>
          <p:nvPr/>
        </p:nvSpPr>
        <p:spPr>
          <a:xfrm>
            <a:off x="1376172" y="2292706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7-mark129"/>
          <p:cNvSpPr/>
          <p:nvPr/>
        </p:nvSpPr>
        <p:spPr>
          <a:xfrm>
            <a:off x="5760720" y="2000402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7-chip130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07-figure131" descr="두 점을 지나 양쪽으로 늘인 곧은 선"/>
          <p:cNvSpPr/>
          <p:nvPr/>
        </p:nvSpPr>
        <p:spPr>
          <a:xfrm>
            <a:off x="7344918" y="2205990"/>
            <a:ext cx="402336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1" name="S07-mark132"/>
          <p:cNvSpPr/>
          <p:nvPr/>
        </p:nvSpPr>
        <p:spPr>
          <a:xfrm>
            <a:off x="8657082" y="214655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7-mark133"/>
          <p:cNvSpPr/>
          <p:nvPr/>
        </p:nvSpPr>
        <p:spPr>
          <a:xfrm>
            <a:off x="9937242" y="214655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7-chip134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4" name="S07-figure135" descr="한 점에서 시작해 다른 점을 지나 한쪽으로 늘인 곧은 선"/>
          <p:cNvSpPr/>
          <p:nvPr/>
        </p:nvSpPr>
        <p:spPr>
          <a:xfrm>
            <a:off x="1583800" y="3831714"/>
            <a:ext cx="4088164" cy="817633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5" name="S07-mark136"/>
          <p:cNvSpPr/>
          <p:nvPr/>
        </p:nvSpPr>
        <p:spPr>
          <a:xfrm>
            <a:off x="1524364" y="3772278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7-mark137"/>
          <p:cNvSpPr/>
          <p:nvPr/>
        </p:nvSpPr>
        <p:spPr>
          <a:xfrm>
            <a:off x="4267564" y="4320918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7-chip138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8" name="S07-figure139" descr="두 점을 지나 양쪽으로 늘인 곧은 선"/>
          <p:cNvSpPr/>
          <p:nvPr/>
        </p:nvSpPr>
        <p:spPr>
          <a:xfrm flipV="1">
            <a:off x="7635863" y="3451860"/>
            <a:ext cx="3441469" cy="157734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9" name="S07-mark140"/>
          <p:cNvSpPr/>
          <p:nvPr/>
        </p:nvSpPr>
        <p:spPr>
          <a:xfrm>
            <a:off x="8491699" y="45502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7-mark141"/>
          <p:cNvSpPr/>
          <p:nvPr/>
        </p:nvSpPr>
        <p:spPr>
          <a:xfrm>
            <a:off x="10102625" y="381192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</a:t>
            </a:r>
            <a:endParaRPr lang="ko-KR" sz="4000" dirty="0"/>
          </a:p>
        </p:txBody>
      </p:sp>
      <p:sp>
        <p:nvSpPr>
          <p:cNvPr id="3" name="S08-text14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점에서 그은 두 반직선으로 된 도형이에요.</a:t>
            </a:r>
            <a:endParaRPr lang="ko-KR" sz="3000" dirty="0"/>
          </a:p>
        </p:txBody>
      </p:sp>
      <p:sp>
        <p:nvSpPr>
          <p:cNvPr id="4" name="S08-card1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1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ㄱㄴㄷ: 꼭짓점 ㄴ을 가운데에 읽어요.</a:t>
            </a:r>
            <a:endParaRPr lang="ko-KR" sz="3000" dirty="0"/>
          </a:p>
        </p:txBody>
      </p:sp>
      <p:sp>
        <p:nvSpPr>
          <p:cNvPr id="6" name="S08-mark145"/>
          <p:cNvSpPr/>
          <p:nvPr/>
        </p:nvSpPr>
        <p:spPr>
          <a:xfrm>
            <a:off x="1288534" y="4236720"/>
            <a:ext cx="792480" cy="792480"/>
          </a:xfrm>
          <a:prstGeom prst="pie">
            <a:avLst>
              <a:gd name="adj1" fmla="val 18096450"/>
              <a:gd name="adj2" fmla="val 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7" name="S08-figure146" descr="각 ㄱㄴㄷ: 점 ㄴ에서 그은 반직선 ㄴㄱ과 반직선 ㄴㄷ"/>
          <p:cNvSpPr/>
          <p:nvPr/>
        </p:nvSpPr>
        <p:spPr>
          <a:xfrm flipV="1">
            <a:off x="1684774" y="2499360"/>
            <a:ext cx="1312985" cy="21336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08-mark147"/>
          <p:cNvSpPr/>
          <p:nvPr/>
        </p:nvSpPr>
        <p:spPr>
          <a:xfrm>
            <a:off x="1684774" y="4632960"/>
            <a:ext cx="309068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9" name="S08-mark148"/>
          <p:cNvSpPr/>
          <p:nvPr/>
        </p:nvSpPr>
        <p:spPr>
          <a:xfrm>
            <a:off x="2614358" y="2966366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8-mark149"/>
          <p:cNvSpPr/>
          <p:nvPr/>
        </p:nvSpPr>
        <p:spPr>
          <a:xfrm>
            <a:off x="1625338" y="457352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8-mark150"/>
          <p:cNvSpPr/>
          <p:nvPr/>
        </p:nvSpPr>
        <p:spPr>
          <a:xfrm>
            <a:off x="4097888" y="457352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8-label152"/>
          <p:cNvSpPr txBox="1"/>
          <p:nvPr/>
        </p:nvSpPr>
        <p:spPr>
          <a:xfrm>
            <a:off x="2261910" y="2707506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2400" dirty="0"/>
          </a:p>
        </p:txBody>
      </p:sp>
      <p:sp>
        <p:nvSpPr>
          <p:cNvPr id="13" name="S08-label154"/>
          <p:cNvSpPr txBox="1"/>
          <p:nvPr/>
        </p:nvSpPr>
        <p:spPr>
          <a:xfrm>
            <a:off x="1267697" y="4561406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2400" dirty="0"/>
          </a:p>
        </p:txBody>
      </p:sp>
      <p:sp>
        <p:nvSpPr>
          <p:cNvPr id="14" name="S08-label156"/>
          <p:cNvSpPr txBox="1"/>
          <p:nvPr/>
        </p:nvSpPr>
        <p:spPr>
          <a:xfrm>
            <a:off x="3953108" y="419862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2400" dirty="0"/>
          </a:p>
        </p:txBody>
      </p:sp>
      <p:sp>
        <p:nvSpPr>
          <p:cNvPr id="15" name="S08-card157"/>
          <p:cNvSpPr/>
          <p:nvPr/>
        </p:nvSpPr>
        <p:spPr>
          <a:xfrm>
            <a:off x="6277356" y="220980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08-cardtext158"/>
          <p:cNvSpPr txBox="1"/>
          <p:nvPr/>
        </p:nvSpPr>
        <p:spPr>
          <a:xfrm>
            <a:off x="6551676" y="234696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ㄴ</a:t>
            </a:r>
            <a:endParaRPr lang="ko-KR" sz="3000" dirty="0"/>
          </a:p>
        </p:txBody>
      </p:sp>
      <p:sp>
        <p:nvSpPr>
          <p:cNvPr id="17" name="S08-card159"/>
          <p:cNvSpPr/>
          <p:nvPr/>
        </p:nvSpPr>
        <p:spPr>
          <a:xfrm>
            <a:off x="6277356" y="368046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8" name="S08-cardtext160"/>
          <p:cNvSpPr txBox="1"/>
          <p:nvPr/>
        </p:nvSpPr>
        <p:spPr>
          <a:xfrm>
            <a:off x="6551676" y="381762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 ㄴㄱ, 변 ㄴㄷ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각을 읽어요</a:t>
            </a:r>
            <a:endParaRPr lang="ko-KR" sz="4000" dirty="0"/>
          </a:p>
        </p:txBody>
      </p:sp>
      <p:sp>
        <p:nvSpPr>
          <p:cNvPr id="3" name="S09-text1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그림을 보고 답해요.</a:t>
            </a:r>
            <a:endParaRPr lang="ko-KR" sz="3000" dirty="0"/>
          </a:p>
        </p:txBody>
      </p:sp>
      <p:sp>
        <p:nvSpPr>
          <p:cNvPr id="4" name="S09-card1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1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꼭짓점을 가운데에 읽어요.</a:t>
            </a:r>
            <a:endParaRPr lang="ko-KR" sz="3000" dirty="0"/>
          </a:p>
        </p:txBody>
      </p:sp>
      <p:sp>
        <p:nvSpPr>
          <p:cNvPr id="6" name="S09-mark164"/>
          <p:cNvSpPr/>
          <p:nvPr/>
        </p:nvSpPr>
        <p:spPr>
          <a:xfrm>
            <a:off x="7329687" y="4236720"/>
            <a:ext cx="792480" cy="792480"/>
          </a:xfrm>
          <a:prstGeom prst="pie">
            <a:avLst>
              <a:gd name="adj1" fmla="val 17306097"/>
              <a:gd name="adj2" fmla="val 20668553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7" name="S09-figure165" descr="점 ㅁ에서 그은 반직선 ㅁㄹ과 반직선 ㅁㅂ으로 된 각"/>
          <p:cNvSpPr/>
          <p:nvPr/>
        </p:nvSpPr>
        <p:spPr>
          <a:xfrm flipV="1">
            <a:off x="7725927" y="3948011"/>
            <a:ext cx="2465815" cy="684949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09-mark166"/>
          <p:cNvSpPr/>
          <p:nvPr/>
        </p:nvSpPr>
        <p:spPr>
          <a:xfrm flipV="1">
            <a:off x="7725927" y="2499360"/>
            <a:ext cx="711200" cy="21336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9" name="S09-mark167"/>
          <p:cNvSpPr/>
          <p:nvPr/>
        </p:nvSpPr>
        <p:spPr>
          <a:xfrm>
            <a:off x="9611686" y="4033192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9-mark168"/>
          <p:cNvSpPr/>
          <p:nvPr/>
        </p:nvSpPr>
        <p:spPr>
          <a:xfrm>
            <a:off x="7666491" y="457352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9-mark169"/>
          <p:cNvSpPr/>
          <p:nvPr/>
        </p:nvSpPr>
        <p:spPr>
          <a:xfrm>
            <a:off x="8206823" y="2952528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9-label171"/>
          <p:cNvSpPr txBox="1"/>
          <p:nvPr/>
        </p:nvSpPr>
        <p:spPr>
          <a:xfrm>
            <a:off x="9401644" y="366718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2400" dirty="0"/>
          </a:p>
        </p:txBody>
      </p:sp>
      <p:sp>
        <p:nvSpPr>
          <p:cNvPr id="13" name="S09-label173"/>
          <p:cNvSpPr txBox="1"/>
          <p:nvPr/>
        </p:nvSpPr>
        <p:spPr>
          <a:xfrm>
            <a:off x="7344966" y="4610446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2400" dirty="0"/>
          </a:p>
        </p:txBody>
      </p:sp>
      <p:sp>
        <p:nvSpPr>
          <p:cNvPr id="14" name="S09-label175"/>
          <p:cNvSpPr txBox="1"/>
          <p:nvPr/>
        </p:nvSpPr>
        <p:spPr>
          <a:xfrm>
            <a:off x="7830716" y="2744355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2400" dirty="0"/>
          </a:p>
        </p:txBody>
      </p:sp>
      <p:sp>
        <p:nvSpPr>
          <p:cNvPr id="15" name="S09-chip17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16" name="S09-text177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각의 이름은?</a:t>
            </a:r>
            <a:endParaRPr lang="ko-KR" sz="3000" dirty="0"/>
          </a:p>
        </p:txBody>
      </p:sp>
      <p:sp>
        <p:nvSpPr>
          <p:cNvPr id="17" name="S09-chip17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8" name="S09-text179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꼭짓점은?</a:t>
            </a:r>
            <a:endParaRPr lang="ko-KR" sz="3000" dirty="0"/>
          </a:p>
        </p:txBody>
      </p:sp>
      <p:sp>
        <p:nvSpPr>
          <p:cNvPr id="19" name="S09-chip18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20" name="S09-text181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변의 이름은?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각을 모두 찾아요</a:t>
            </a:r>
            <a:endParaRPr lang="ko-KR" sz="4000" dirty="0"/>
          </a:p>
        </p:txBody>
      </p:sp>
      <p:sp>
        <p:nvSpPr>
          <p:cNvPr id="3" name="S10-card1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각이 아닌 것은 왜 아닐까요?</a:t>
            </a:r>
            <a:endParaRPr lang="ko-KR" sz="3000" dirty="0"/>
          </a:p>
        </p:txBody>
      </p:sp>
      <p:sp>
        <p:nvSpPr>
          <p:cNvPr id="5" name="S10-chip184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0-figure185" descr="한 점에서 그은 곧은 선 두 개"/>
          <p:cNvSpPr/>
          <p:nvPr/>
        </p:nvSpPr>
        <p:spPr>
          <a:xfrm flipV="1">
            <a:off x="903732" y="2569464"/>
            <a:ext cx="914400" cy="201168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" name="S10-mark186"/>
          <p:cNvSpPr/>
          <p:nvPr/>
        </p:nvSpPr>
        <p:spPr>
          <a:xfrm>
            <a:off x="903732" y="4581144"/>
            <a:ext cx="27432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10-chip187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0-figure188" descr="만나지 않는 곧은 선 두 개"/>
          <p:cNvSpPr/>
          <p:nvPr/>
        </p:nvSpPr>
        <p:spPr>
          <a:xfrm flipV="1">
            <a:off x="4928616" y="2569464"/>
            <a:ext cx="685800" cy="13716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0" name="S10-mark189"/>
          <p:cNvSpPr/>
          <p:nvPr/>
        </p:nvSpPr>
        <p:spPr>
          <a:xfrm>
            <a:off x="5340096" y="4581144"/>
            <a:ext cx="192024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1" name="S10-chip190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0-figure191" descr="한 점에서 넓게 벌어진 곧은 선 두 개"/>
          <p:cNvSpPr/>
          <p:nvPr/>
        </p:nvSpPr>
        <p:spPr>
          <a:xfrm flipH="1" flipV="1">
            <a:off x="8278368" y="2886777"/>
            <a:ext cx="1204923" cy="1377054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3" name="S10-mark192"/>
          <p:cNvSpPr/>
          <p:nvPr/>
        </p:nvSpPr>
        <p:spPr>
          <a:xfrm>
            <a:off x="9483291" y="4263831"/>
            <a:ext cx="2065581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19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이름을, ③은 각의 수를 말해요.</a:t>
            </a:r>
            <a:endParaRPr lang="ko-KR" sz="3000" dirty="0"/>
          </a:p>
        </p:txBody>
      </p:sp>
      <p:sp>
        <p:nvSpPr>
          <p:cNvPr id="4" name="S11-chip194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figure195" descr="반직선 ㅌㅋ: 점 ㅌ에서 시작해 점 ㅋ를 지나 한쪽으로 늘인 선"/>
          <p:cNvSpPr/>
          <p:nvPr/>
        </p:nvSpPr>
        <p:spPr>
          <a:xfrm flipH="1">
            <a:off x="1831848" y="2538578"/>
            <a:ext cx="3592068" cy="957885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6" name="S11-mark196"/>
          <p:cNvSpPr/>
          <p:nvPr/>
        </p:nvSpPr>
        <p:spPr>
          <a:xfrm>
            <a:off x="5364480" y="2479142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1-mark197"/>
          <p:cNvSpPr/>
          <p:nvPr/>
        </p:nvSpPr>
        <p:spPr>
          <a:xfrm>
            <a:off x="2942509" y="3125001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1-label199"/>
          <p:cNvSpPr txBox="1"/>
          <p:nvPr/>
        </p:nvSpPr>
        <p:spPr>
          <a:xfrm>
            <a:off x="5455307" y="2285249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ㅌ</a:t>
            </a:r>
            <a:endParaRPr lang="ko-KR" sz="2400" dirty="0"/>
          </a:p>
        </p:txBody>
      </p:sp>
      <p:sp>
        <p:nvSpPr>
          <p:cNvPr id="9" name="S11-label201"/>
          <p:cNvSpPr txBox="1"/>
          <p:nvPr/>
        </p:nvSpPr>
        <p:spPr>
          <a:xfrm>
            <a:off x="2734900" y="275833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</a:t>
            </a:r>
            <a:endParaRPr lang="ko-KR" sz="2400" dirty="0"/>
          </a:p>
        </p:txBody>
      </p:sp>
      <p:sp>
        <p:nvSpPr>
          <p:cNvPr id="10" name="S11-chip202"/>
          <p:cNvSpPr txBox="1"/>
          <p:nvPr/>
        </p:nvSpPr>
        <p:spPr>
          <a:xfrm>
            <a:off x="6277356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11-figure203" descr="선분 ㅍㅎ: 점 ㅍ과 점 ㅎ을 곧게 이은 선"/>
          <p:cNvSpPr/>
          <p:nvPr/>
        </p:nvSpPr>
        <p:spPr>
          <a:xfrm>
            <a:off x="7756398" y="2743200"/>
            <a:ext cx="3200400" cy="54864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2" name="S11-mark204"/>
          <p:cNvSpPr/>
          <p:nvPr/>
        </p:nvSpPr>
        <p:spPr>
          <a:xfrm>
            <a:off x="7696962" y="26837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1-mark205"/>
          <p:cNvSpPr/>
          <p:nvPr/>
        </p:nvSpPr>
        <p:spPr>
          <a:xfrm>
            <a:off x="10897362" y="323240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1-label207"/>
          <p:cNvSpPr txBox="1"/>
          <p:nvPr/>
        </p:nvSpPr>
        <p:spPr>
          <a:xfrm>
            <a:off x="7311848" y="251150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ㅍ</a:t>
            </a:r>
            <a:endParaRPr lang="ko-KR" sz="2400" dirty="0"/>
          </a:p>
        </p:txBody>
      </p:sp>
      <p:sp>
        <p:nvSpPr>
          <p:cNvPr id="15" name="S11-label209"/>
          <p:cNvSpPr txBox="1"/>
          <p:nvPr/>
        </p:nvSpPr>
        <p:spPr>
          <a:xfrm>
            <a:off x="10992916" y="314254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ㅎ</a:t>
            </a:r>
            <a:endParaRPr lang="ko-KR" sz="2400" dirty="0"/>
          </a:p>
        </p:txBody>
      </p:sp>
      <p:sp>
        <p:nvSpPr>
          <p:cNvPr id="16" name="S11-chip210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7" name="S11-figure211" descr="hexagon"/>
          <p:cNvSpPr/>
          <p:nvPr/>
        </p:nvSpPr>
        <p:spPr>
          <a:xfrm>
            <a:off x="2690622" y="4328491"/>
            <a:ext cx="1874520" cy="1630017"/>
          </a:xfrm>
          <a:prstGeom prst="hexago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8" name="S11-chip212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9" name="S11-text213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ㄱㄴㄷ의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꼭짓점은?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 속의 각</a:t>
            </a:r>
            <a:endParaRPr lang="ko-KR" sz="4000" dirty="0"/>
          </a:p>
        </p:txBody>
      </p:sp>
      <p:sp>
        <p:nvSpPr>
          <p:cNvPr id="3" name="S13-text2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각은 모두 몇 개일까요?</a:t>
            </a:r>
            <a:endParaRPr lang="ko-KR" sz="3000" dirty="0"/>
          </a:p>
        </p:txBody>
      </p:sp>
      <p:sp>
        <p:nvSpPr>
          <p:cNvPr id="4" name="S13-chip21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3-figure216" descr="trapezoid"/>
          <p:cNvSpPr/>
          <p:nvPr/>
        </p:nvSpPr>
        <p:spPr>
          <a:xfrm>
            <a:off x="3515868" y="2202180"/>
            <a:ext cx="1143000" cy="762000"/>
          </a:xfrm>
          <a:prstGeom prst="trapezoid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13-chip21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3-figure218" descr="circle"/>
          <p:cNvSpPr/>
          <p:nvPr/>
        </p:nvSpPr>
        <p:spPr>
          <a:xfrm>
            <a:off x="3515868" y="3474720"/>
            <a:ext cx="1143000" cy="114300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13-chip21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3-text220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삼각형과 사각형의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각을 모두 더하면?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221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222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끝점이 선분은 2개, 반직선은 1개, 직선은 없어요. 각은 한 점에서 그은 두 반직선이에요.</a:t>
            </a:r>
            <a:endParaRPr lang="ko-KR" sz="3000" dirty="0"/>
          </a:p>
        </p:txBody>
      </p:sp>
      <p:sp>
        <p:nvSpPr>
          <p:cNvPr id="5" name="S14-chip223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반직선은 시작점부터 읽기</a:t>
            </a:r>
            <a:endParaRPr lang="ko-KR" sz="2400" dirty="0"/>
          </a:p>
        </p:txBody>
      </p:sp>
      <p:sp>
        <p:nvSpPr>
          <p:cNvPr id="6" name="S14-chip224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길면 직선이라고 하기</a:t>
            </a:r>
            <a:endParaRPr lang="ko-KR" sz="2400" dirty="0"/>
          </a:p>
        </p:txBody>
      </p:sp>
      <p:sp>
        <p:nvSpPr>
          <p:cNvPr id="7" name="S14-text225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226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끝점이 1개인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선은?</a:t>
            </a:r>
            <a:endParaRPr lang="ko-KR" sz="2400" dirty="0"/>
          </a:p>
        </p:txBody>
      </p:sp>
      <p:sp>
        <p:nvSpPr>
          <p:cNvPr id="9" name="S14-text227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각 ㄹㅁㅂ의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꼭짓점은?</a:t>
            </a:r>
            <a:endParaRPr lang="ko-KR" sz="2400" dirty="0"/>
          </a:p>
        </p:txBody>
      </p:sp>
      <p:sp>
        <p:nvSpPr>
          <p:cNvPr id="10" name="S14-text228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오각형의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각의 수는?</a:t>
            </a:r>
            <a:endParaRPr lang="ko-KR" sz="2400" dirty="0"/>
          </a:p>
        </p:txBody>
      </p:sp>
      <p:sp>
        <p:nvSpPr>
          <p:cNvPr id="11" name="S14-text22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직각과 직사각형·정사각형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변과 꼭짓점</a:t>
            </a:r>
            <a:endParaRPr lang="ko-KR" sz="4000" dirty="0"/>
          </a:p>
        </p:txBody>
      </p:sp>
      <p:sp>
        <p:nvSpPr>
          <p:cNvPr id="3" name="S15-text2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선과 만나는 점을 찾아요.</a:t>
            </a:r>
            <a:endParaRPr lang="ko-KR" sz="3000" dirty="0"/>
          </a:p>
        </p:txBody>
      </p:sp>
      <p:sp>
        <p:nvSpPr>
          <p:cNvPr id="4" name="S15-figure231" descr="삼각형"/>
          <p:cNvSpPr/>
          <p:nvPr/>
        </p:nvSpPr>
        <p:spPr>
          <a:xfrm>
            <a:off x="924047" y="2955285"/>
            <a:ext cx="1930664" cy="1755149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15-label232"/>
          <p:cNvSpPr txBox="1"/>
          <p:nvPr/>
        </p:nvSpPr>
        <p:spPr>
          <a:xfrm>
            <a:off x="548640" y="5791200"/>
            <a:ext cx="2681478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삼각형</a:t>
            </a:r>
            <a:endParaRPr lang="ko-KR" sz="2400" dirty="0"/>
          </a:p>
        </p:txBody>
      </p:sp>
      <p:sp>
        <p:nvSpPr>
          <p:cNvPr id="6" name="S15-figure233" descr="사각형"/>
          <p:cNvSpPr/>
          <p:nvPr/>
        </p:nvSpPr>
        <p:spPr>
          <a:xfrm>
            <a:off x="3605525" y="2867528"/>
            <a:ext cx="1930664" cy="1930664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15-label234"/>
          <p:cNvSpPr txBox="1"/>
          <p:nvPr/>
        </p:nvSpPr>
        <p:spPr>
          <a:xfrm>
            <a:off x="3230118" y="5791200"/>
            <a:ext cx="2681478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사각형</a:t>
            </a:r>
            <a:endParaRPr lang="ko-KR" sz="2400" dirty="0"/>
          </a:p>
        </p:txBody>
      </p:sp>
      <p:sp>
        <p:nvSpPr>
          <p:cNvPr id="8" name="S15-card235"/>
          <p:cNvSpPr/>
          <p:nvPr/>
        </p:nvSpPr>
        <p:spPr>
          <a:xfrm>
            <a:off x="6277356" y="275844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5-cardtext236"/>
          <p:cNvSpPr txBox="1"/>
          <p:nvPr/>
        </p:nvSpPr>
        <p:spPr>
          <a:xfrm>
            <a:off x="6551676" y="289560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도형의 곧은 선</a:t>
            </a:r>
            <a:endParaRPr lang="ko-KR" sz="3000" dirty="0"/>
          </a:p>
        </p:txBody>
      </p:sp>
      <p:sp>
        <p:nvSpPr>
          <p:cNvPr id="10" name="S15-card237"/>
          <p:cNvSpPr/>
          <p:nvPr/>
        </p:nvSpPr>
        <p:spPr>
          <a:xfrm>
            <a:off x="6277356" y="422910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5-cardtext238"/>
          <p:cNvSpPr txBox="1"/>
          <p:nvPr/>
        </p:nvSpPr>
        <p:spPr>
          <a:xfrm>
            <a:off x="6551676" y="436626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 두 개가 만나는 점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선분·반직선·직선과 각</dc:title>
  <dc:subject>KR22-G03-MAT-LINES-L01</dc:subject>
  <dc:creator>education-ppt</dc:creator>
  <cp:lastModifiedBy>education-ppt</cp:lastModifiedBy>
  <cp:revision>1</cp:revision>
  <dcterms:created xsi:type="dcterms:W3CDTF">2026-10-26T07:37:13Z</dcterms:created>
  <dcterms:modified xsi:type="dcterms:W3CDTF">2026-10-26T07:37:13Z</dcterms:modified>
</cp:coreProperties>
</file>