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da256322-127b-546d-edeb-5b96666d4cfd}">
          <p14:sldIdLst>
            <p14:sldId id="256"/>
            <p14:sldId id="257"/>
          </p14:sldIdLst>
        </p14:section>
        <p14:section name="개념" id="{56046541-2a28-e313-2408-22ae3b0fe61b}">
          <p14:sldIdLst>
            <p14:sldId id="258"/>
            <p14:sldId id="259"/>
            <p14:sldId id="260"/>
            <p14:sldId id="263"/>
          </p14:sldIdLst>
        </p14:section>
        <p14:section name="연습" id="{6193d56a-6ff3-2f5f-9d04-a4caab966118}">
          <p14:sldIdLst>
            <p14:sldId id="261"/>
            <p14:sldId id="262"/>
            <p14:sldId id="264"/>
            <p14:sldId id="265"/>
          </p14:sldIdLst>
        </p14:section>
        <p14:section name="개념" id="{970ddc95-cbcf-e496-0ebd-49e99519caae}">
          <p14:sldIdLst/>
        </p14:section>
        <p14:section name="연습" id="{36acdb15-1ae3-129c-f96a-6ce21496fda6}">
          <p14:sldIdLst/>
        </p14:section>
        <p14:section name="확인" id="{27862ff1-6976-f4d7-7f0f-fed5866cc4e0}">
          <p14:sldIdLst>
            <p14:sldId id="266"/>
            <p14:sldId id="267"/>
          </p14:sldIdLst>
        </p14:section>
        <p14:section name="정리" id="{587e6edb-62bc-d290-4c5a-7f5388cad7c5}">
          <p14:sldIdLst>
            <p14:sldId id="268"/>
          </p14:sldIdLst>
        </p14:section>
        <p14:section name="보충" id="{f832ad4d-0b15-548b-68c2-e63dd143a2ed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도형과측정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선분·반직선·직선과 각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선분·반직선·직선과 각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수학 · 선분·반직선·직선과 각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선분·반직선·직선과 각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곧은 선에도 이름이 있을까?</a:t>
            </a:r>
            <a:endParaRPr lang="ko-KR" sz="30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mark2"/>
          <p:cNvSpPr/>
          <p:nvPr/>
        </p:nvSpPr>
        <p:spPr>
          <a:xfrm>
            <a:off x="7722931" y="2804160"/>
            <a:ext cx="792480" cy="792480"/>
          </a:xfrm>
          <a:prstGeom prst="pie">
            <a:avLst>
              <a:gd name="adj1" fmla="val 18221404"/>
              <a:gd name="adj2" fmla="val 0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6" name="S01-figure3" descr="점 ㄴ에서 그은 두 반직선으로 된 각"/>
          <p:cNvSpPr/>
          <p:nvPr/>
        </p:nvSpPr>
        <p:spPr>
          <a:xfrm flipV="1">
            <a:off x="8119171" y="1005840"/>
            <a:ext cx="1463040" cy="219456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>
            <a:off x="8119171" y="3200400"/>
            <a:ext cx="3055497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8" name="S01-mark5"/>
          <p:cNvSpPr/>
          <p:nvPr/>
        </p:nvSpPr>
        <p:spPr>
          <a:xfrm>
            <a:off x="9146134" y="1511366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1-mark6"/>
          <p:cNvSpPr/>
          <p:nvPr/>
        </p:nvSpPr>
        <p:spPr>
          <a:xfrm>
            <a:off x="8059735" y="314096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1-mark7"/>
          <p:cNvSpPr/>
          <p:nvPr/>
        </p:nvSpPr>
        <p:spPr>
          <a:xfrm>
            <a:off x="10436233" y="314096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1-label9"/>
          <p:cNvSpPr txBox="1"/>
          <p:nvPr/>
        </p:nvSpPr>
        <p:spPr>
          <a:xfrm>
            <a:off x="8748683" y="1181544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3200" dirty="0"/>
          </a:p>
        </p:txBody>
      </p:sp>
      <p:sp>
        <p:nvSpPr>
          <p:cNvPr id="12" name="S01-label11"/>
          <p:cNvSpPr txBox="1"/>
          <p:nvPr/>
        </p:nvSpPr>
        <p:spPr>
          <a:xfrm>
            <a:off x="7650184" y="3061458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3200" dirty="0"/>
          </a:p>
        </p:txBody>
      </p:sp>
      <p:sp>
        <p:nvSpPr>
          <p:cNvPr id="13" name="S01-label13"/>
          <p:cNvSpPr txBox="1"/>
          <p:nvPr/>
        </p:nvSpPr>
        <p:spPr>
          <a:xfrm>
            <a:off x="10241669" y="270256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</a:t>
            </a:r>
            <a:endParaRPr lang="ko-KR" sz="3200" dirty="0"/>
          </a:p>
        </p:txBody>
      </p:sp>
      <p:sp>
        <p:nvSpPr>
          <p:cNvPr id="14" name="S01-card14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5" name="S01-cardtext15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선분·반직선·직선을 구별해요.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각을 찾고 이름을 읽어요.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학년 기억하기</a:t>
            </a:r>
            <a:endParaRPr lang="ko-KR" sz="4000" dirty="0"/>
          </a:p>
        </p:txBody>
      </p:sp>
      <p:sp>
        <p:nvSpPr>
          <p:cNvPr id="3" name="S02-text1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①②는 변과 꼭짓점의 수를 말해요.</a:t>
            </a:r>
            <a:endParaRPr lang="ko-KR" sz="3000" dirty="0"/>
          </a:p>
        </p:txBody>
      </p:sp>
      <p:sp>
        <p:nvSpPr>
          <p:cNvPr id="4" name="S02-chip17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2-figure18" descr="triangle"/>
          <p:cNvSpPr/>
          <p:nvPr/>
        </p:nvSpPr>
        <p:spPr>
          <a:xfrm>
            <a:off x="3515868" y="2063635"/>
            <a:ext cx="1143000" cy="1039091"/>
          </a:xfrm>
          <a:prstGeom prst="triangl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6" name="S02-chip19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02-figure20" descr="pentagon"/>
          <p:cNvSpPr/>
          <p:nvPr/>
        </p:nvSpPr>
        <p:spPr>
          <a:xfrm>
            <a:off x="3515868" y="3501934"/>
            <a:ext cx="1143000" cy="1088571"/>
          </a:xfrm>
          <a:prstGeom prst="pentagon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8" name="S02-chip21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02-text22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변은 곧은 선일까요,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굽은 선일까요?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점을 곧게 이으면</a:t>
            </a:r>
            <a:endParaRPr lang="ko-KR" sz="4000" dirty="0"/>
          </a:p>
        </p:txBody>
      </p:sp>
      <p:sp>
        <p:nvSpPr>
          <p:cNvPr id="3" name="S03-text2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자를 대고 두 점을 곧게 이어요.</a:t>
            </a:r>
            <a:endParaRPr lang="ko-KR" sz="3000" dirty="0"/>
          </a:p>
        </p:txBody>
      </p:sp>
      <p:sp>
        <p:nvSpPr>
          <p:cNvPr id="4" name="S03-card2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2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선분은 양쪽 끝에 끝점이 있어요.</a:t>
            </a:r>
            <a:endParaRPr lang="ko-KR" sz="3000" dirty="0"/>
          </a:p>
        </p:txBody>
      </p:sp>
      <p:sp>
        <p:nvSpPr>
          <p:cNvPr id="6" name="S03-figure26" descr="선분 ㄱㄴ: 점 ㄱ과 점 ㄴ을 곧게 이은 선"/>
          <p:cNvSpPr/>
          <p:nvPr/>
        </p:nvSpPr>
        <p:spPr>
          <a:xfrm flipV="1">
            <a:off x="944118" y="2880360"/>
            <a:ext cx="4572000" cy="137160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7" name="S03-mark27"/>
          <p:cNvSpPr/>
          <p:nvPr/>
        </p:nvSpPr>
        <p:spPr>
          <a:xfrm>
            <a:off x="884682" y="419252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3-mark28"/>
          <p:cNvSpPr/>
          <p:nvPr/>
        </p:nvSpPr>
        <p:spPr>
          <a:xfrm>
            <a:off x="5456682" y="282092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3-label30"/>
          <p:cNvSpPr txBox="1"/>
          <p:nvPr/>
        </p:nvSpPr>
        <p:spPr>
          <a:xfrm>
            <a:off x="456562" y="4068027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3200" dirty="0"/>
          </a:p>
        </p:txBody>
      </p:sp>
      <p:sp>
        <p:nvSpPr>
          <p:cNvPr id="10" name="S03-label32"/>
          <p:cNvSpPr txBox="1"/>
          <p:nvPr/>
        </p:nvSpPr>
        <p:spPr>
          <a:xfrm>
            <a:off x="5495674" y="2556293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3200" dirty="0"/>
          </a:p>
        </p:txBody>
      </p:sp>
      <p:sp>
        <p:nvSpPr>
          <p:cNvPr id="11" name="S03-card33"/>
          <p:cNvSpPr/>
          <p:nvPr/>
        </p:nvSpPr>
        <p:spPr>
          <a:xfrm>
            <a:off x="6277356" y="2209800"/>
            <a:ext cx="536295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03-cardtext34"/>
          <p:cNvSpPr txBox="1"/>
          <p:nvPr/>
        </p:nvSpPr>
        <p:spPr>
          <a:xfrm>
            <a:off x="6551676" y="2346960"/>
            <a:ext cx="481431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점을 곧게 이은 선</a:t>
            </a:r>
            <a:endParaRPr lang="ko-KR" sz="3000" dirty="0"/>
          </a:p>
        </p:txBody>
      </p:sp>
      <p:sp>
        <p:nvSpPr>
          <p:cNvPr id="13" name="S03-card35"/>
          <p:cNvSpPr/>
          <p:nvPr/>
        </p:nvSpPr>
        <p:spPr>
          <a:xfrm>
            <a:off x="6277356" y="3680460"/>
            <a:ext cx="536295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3-cardtext36"/>
          <p:cNvSpPr txBox="1"/>
          <p:nvPr/>
        </p:nvSpPr>
        <p:spPr>
          <a:xfrm>
            <a:off x="6551676" y="3817620"/>
            <a:ext cx="481431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선분 ㄱㄴ 또는 선분 ㄴㄱ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선분, 반직선, 직선</a:t>
            </a:r>
            <a:endParaRPr lang="ko-KR" sz="4000" dirty="0"/>
          </a:p>
        </p:txBody>
      </p:sp>
      <p:sp>
        <p:nvSpPr>
          <p:cNvPr id="3" name="S04-text3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선이 어디에서 끝나는지 보세요.</a:t>
            </a:r>
            <a:endParaRPr lang="ko-KR" sz="3000" dirty="0"/>
          </a:p>
        </p:txBody>
      </p:sp>
      <p:sp>
        <p:nvSpPr>
          <p:cNvPr id="4" name="S04-card38"/>
          <p:cNvSpPr/>
          <p:nvPr/>
        </p:nvSpPr>
        <p:spPr>
          <a:xfrm>
            <a:off x="548640" y="4975860"/>
            <a:ext cx="3544824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4-cardtext39"/>
          <p:cNvSpPr txBox="1"/>
          <p:nvPr/>
        </p:nvSpPr>
        <p:spPr>
          <a:xfrm>
            <a:off x="822960" y="5113020"/>
            <a:ext cx="2996184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끝점 2개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점에서 멈춰요</a:t>
            </a:r>
            <a:endParaRPr lang="ko-KR" sz="3000" dirty="0"/>
          </a:p>
        </p:txBody>
      </p:sp>
      <p:sp>
        <p:nvSpPr>
          <p:cNvPr id="6" name="S04-card40"/>
          <p:cNvSpPr/>
          <p:nvPr/>
        </p:nvSpPr>
        <p:spPr>
          <a:xfrm>
            <a:off x="4322064" y="4975860"/>
            <a:ext cx="3544824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4-cardtext41"/>
          <p:cNvSpPr txBox="1"/>
          <p:nvPr/>
        </p:nvSpPr>
        <p:spPr>
          <a:xfrm>
            <a:off x="4596384" y="5113020"/>
            <a:ext cx="2996184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끝점 1개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한쪽으로 끝없이</a:t>
            </a:r>
            <a:endParaRPr lang="ko-KR" sz="3000" dirty="0"/>
          </a:p>
        </p:txBody>
      </p:sp>
      <p:sp>
        <p:nvSpPr>
          <p:cNvPr id="8" name="S04-card42"/>
          <p:cNvSpPr/>
          <p:nvPr/>
        </p:nvSpPr>
        <p:spPr>
          <a:xfrm>
            <a:off x="8095488" y="4975860"/>
            <a:ext cx="3544824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4-cardtext43"/>
          <p:cNvSpPr txBox="1"/>
          <p:nvPr/>
        </p:nvSpPr>
        <p:spPr>
          <a:xfrm>
            <a:off x="8369808" y="5113020"/>
            <a:ext cx="2996184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끝점 없음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양쪽으로 끝없이</a:t>
            </a:r>
            <a:endParaRPr lang="ko-KR" sz="3000" dirty="0"/>
          </a:p>
        </p:txBody>
      </p:sp>
      <p:sp>
        <p:nvSpPr>
          <p:cNvPr id="10" name="S04-figure44" descr="선분 ㄱㄴ: 점 ㄱ과 점 ㄴ을 곧게 이은 선"/>
          <p:cNvSpPr/>
          <p:nvPr/>
        </p:nvSpPr>
        <p:spPr>
          <a:xfrm>
            <a:off x="1602486" y="3137154"/>
            <a:ext cx="137617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1" name="S04-mark45"/>
          <p:cNvSpPr/>
          <p:nvPr/>
        </p:nvSpPr>
        <p:spPr>
          <a:xfrm>
            <a:off x="1543050" y="3077718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4-mark46"/>
          <p:cNvSpPr/>
          <p:nvPr/>
        </p:nvSpPr>
        <p:spPr>
          <a:xfrm>
            <a:off x="2919222" y="3077718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4-label48"/>
          <p:cNvSpPr txBox="1"/>
          <p:nvPr/>
        </p:nvSpPr>
        <p:spPr>
          <a:xfrm>
            <a:off x="1348486" y="3126994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3200" dirty="0"/>
          </a:p>
        </p:txBody>
      </p:sp>
      <p:sp>
        <p:nvSpPr>
          <p:cNvPr id="14" name="S04-label50"/>
          <p:cNvSpPr txBox="1"/>
          <p:nvPr/>
        </p:nvSpPr>
        <p:spPr>
          <a:xfrm>
            <a:off x="2724658" y="3126994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3200" dirty="0"/>
          </a:p>
        </p:txBody>
      </p:sp>
      <p:sp>
        <p:nvSpPr>
          <p:cNvPr id="15" name="S04-label51"/>
          <p:cNvSpPr txBox="1"/>
          <p:nvPr/>
        </p:nvSpPr>
        <p:spPr>
          <a:xfrm>
            <a:off x="548640" y="4335780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선분 ㄱㄴ</a:t>
            </a:r>
            <a:endParaRPr lang="ko-KR" sz="2400" dirty="0"/>
          </a:p>
        </p:txBody>
      </p:sp>
      <p:sp>
        <p:nvSpPr>
          <p:cNvPr id="16" name="S04-figure52" descr="반직선 ㄱㄴ: 점 ㄱ에서 시작해 점 ㄴ를 지나 한쪽으로 늘인 선"/>
          <p:cNvSpPr/>
          <p:nvPr/>
        </p:nvSpPr>
        <p:spPr>
          <a:xfrm>
            <a:off x="5406390" y="3137154"/>
            <a:ext cx="2064258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7" name="S04-mark53"/>
          <p:cNvSpPr/>
          <p:nvPr/>
        </p:nvSpPr>
        <p:spPr>
          <a:xfrm>
            <a:off x="5346954" y="3077718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4-mark54"/>
          <p:cNvSpPr/>
          <p:nvPr/>
        </p:nvSpPr>
        <p:spPr>
          <a:xfrm>
            <a:off x="6723126" y="3077718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4-label56"/>
          <p:cNvSpPr txBox="1"/>
          <p:nvPr/>
        </p:nvSpPr>
        <p:spPr>
          <a:xfrm>
            <a:off x="5152390" y="3126994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3200" dirty="0"/>
          </a:p>
        </p:txBody>
      </p:sp>
      <p:sp>
        <p:nvSpPr>
          <p:cNvPr id="20" name="S04-label58"/>
          <p:cNvSpPr txBox="1"/>
          <p:nvPr/>
        </p:nvSpPr>
        <p:spPr>
          <a:xfrm>
            <a:off x="6528562" y="3126994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3200" dirty="0"/>
          </a:p>
        </p:txBody>
      </p:sp>
      <p:sp>
        <p:nvSpPr>
          <p:cNvPr id="21" name="S04-label59"/>
          <p:cNvSpPr txBox="1"/>
          <p:nvPr/>
        </p:nvSpPr>
        <p:spPr>
          <a:xfrm>
            <a:off x="4352544" y="4335780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반직선 ㄱㄴ</a:t>
            </a:r>
            <a:endParaRPr lang="ko-KR" sz="2400" dirty="0"/>
          </a:p>
        </p:txBody>
      </p:sp>
      <p:sp>
        <p:nvSpPr>
          <p:cNvPr id="22" name="S04-figure60" descr="직선 ㄱㄴ: 점 ㄱ과 점 ㄴ을 지나 양쪽으로 늘인 선"/>
          <p:cNvSpPr/>
          <p:nvPr/>
        </p:nvSpPr>
        <p:spPr>
          <a:xfrm>
            <a:off x="8522208" y="3137154"/>
            <a:ext cx="2752344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3" name="S04-mark61"/>
          <p:cNvSpPr/>
          <p:nvPr/>
        </p:nvSpPr>
        <p:spPr>
          <a:xfrm>
            <a:off x="9150858" y="3077718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4-mark62"/>
          <p:cNvSpPr/>
          <p:nvPr/>
        </p:nvSpPr>
        <p:spPr>
          <a:xfrm>
            <a:off x="10527030" y="3077718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4-label64"/>
          <p:cNvSpPr txBox="1"/>
          <p:nvPr/>
        </p:nvSpPr>
        <p:spPr>
          <a:xfrm>
            <a:off x="8956294" y="3126994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3200" dirty="0"/>
          </a:p>
        </p:txBody>
      </p:sp>
      <p:sp>
        <p:nvSpPr>
          <p:cNvPr id="26" name="S04-label66"/>
          <p:cNvSpPr txBox="1"/>
          <p:nvPr/>
        </p:nvSpPr>
        <p:spPr>
          <a:xfrm>
            <a:off x="10332466" y="3126994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3200" dirty="0"/>
          </a:p>
        </p:txBody>
      </p:sp>
      <p:sp>
        <p:nvSpPr>
          <p:cNvPr id="27" name="S04-label67"/>
          <p:cNvSpPr txBox="1"/>
          <p:nvPr/>
        </p:nvSpPr>
        <p:spPr>
          <a:xfrm>
            <a:off x="8156448" y="4335780"/>
            <a:ext cx="3483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직선 ㄱㄴ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반직선 ㄱㄴ과 반직선 ㄴㄱ</a:t>
            </a:r>
            <a:endParaRPr lang="ko-KR" sz="4000" dirty="0"/>
          </a:p>
        </p:txBody>
      </p:sp>
      <p:sp>
        <p:nvSpPr>
          <p:cNvPr id="3" name="S05-text6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시작하는 점이 달라요.</a:t>
            </a:r>
            <a:endParaRPr lang="ko-KR" sz="3000" dirty="0"/>
          </a:p>
        </p:txBody>
      </p:sp>
      <p:sp>
        <p:nvSpPr>
          <p:cNvPr id="4" name="S05-card69"/>
          <p:cNvSpPr/>
          <p:nvPr/>
        </p:nvSpPr>
        <p:spPr>
          <a:xfrm>
            <a:off x="548640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5-cardtext70"/>
          <p:cNvSpPr txBox="1"/>
          <p:nvPr/>
        </p:nvSpPr>
        <p:spPr>
          <a:xfrm>
            <a:off x="822960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반직선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시작하는 점을 먼저 읽어요</a:t>
            </a:r>
            <a:endParaRPr lang="ko-KR" sz="3000" dirty="0"/>
          </a:p>
        </p:txBody>
      </p:sp>
      <p:sp>
        <p:nvSpPr>
          <p:cNvPr id="6" name="S05-card71"/>
          <p:cNvSpPr/>
          <p:nvPr/>
        </p:nvSpPr>
        <p:spPr>
          <a:xfrm>
            <a:off x="6208776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5-cardtext72"/>
          <p:cNvSpPr txBox="1"/>
          <p:nvPr/>
        </p:nvSpPr>
        <p:spPr>
          <a:xfrm>
            <a:off x="6483096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선분·직선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ㄱㄴ, ㄴㄱ 어느 쪽도 같아요</a:t>
            </a:r>
            <a:endParaRPr lang="ko-KR" sz="3000" dirty="0"/>
          </a:p>
        </p:txBody>
      </p:sp>
      <p:sp>
        <p:nvSpPr>
          <p:cNvPr id="8" name="S05-figure73" descr="반직선 ㄱㄴ: 점 ㄱ에서 시작해 점 ㄴ를 지나 한쪽으로 늘인 선"/>
          <p:cNvSpPr/>
          <p:nvPr/>
        </p:nvSpPr>
        <p:spPr>
          <a:xfrm>
            <a:off x="2077974" y="3137154"/>
            <a:ext cx="349072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9" name="S05-mark74"/>
          <p:cNvSpPr/>
          <p:nvPr/>
        </p:nvSpPr>
        <p:spPr>
          <a:xfrm>
            <a:off x="2018538" y="3077718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5-mark75"/>
          <p:cNvSpPr/>
          <p:nvPr/>
        </p:nvSpPr>
        <p:spPr>
          <a:xfrm>
            <a:off x="4345686" y="3077718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5-label77"/>
          <p:cNvSpPr txBox="1"/>
          <p:nvPr/>
        </p:nvSpPr>
        <p:spPr>
          <a:xfrm>
            <a:off x="1823974" y="3126994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3200" dirty="0"/>
          </a:p>
        </p:txBody>
      </p:sp>
      <p:sp>
        <p:nvSpPr>
          <p:cNvPr id="12" name="S05-label79"/>
          <p:cNvSpPr txBox="1"/>
          <p:nvPr/>
        </p:nvSpPr>
        <p:spPr>
          <a:xfrm>
            <a:off x="4151122" y="3126994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3200" dirty="0"/>
          </a:p>
        </p:txBody>
      </p:sp>
      <p:sp>
        <p:nvSpPr>
          <p:cNvPr id="13" name="S05-label80"/>
          <p:cNvSpPr txBox="1"/>
          <p:nvPr/>
        </p:nvSpPr>
        <p:spPr>
          <a:xfrm>
            <a:off x="548640" y="433578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반직선 ㄱㄴ</a:t>
            </a:r>
            <a:endParaRPr lang="ko-KR" sz="2400" dirty="0"/>
          </a:p>
        </p:txBody>
      </p:sp>
      <p:sp>
        <p:nvSpPr>
          <p:cNvPr id="14" name="S05-figure81" descr="반직선 ㄴㄱ: 점 ㄴ에서 시작해 점 ㄱ를 지나 한쪽으로 늘인 선"/>
          <p:cNvSpPr/>
          <p:nvPr/>
        </p:nvSpPr>
        <p:spPr>
          <a:xfrm flipH="1">
            <a:off x="6620256" y="3137154"/>
            <a:ext cx="349072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5" name="S05-mark82"/>
          <p:cNvSpPr/>
          <p:nvPr/>
        </p:nvSpPr>
        <p:spPr>
          <a:xfrm>
            <a:off x="10051542" y="3077718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5-mark83"/>
          <p:cNvSpPr/>
          <p:nvPr/>
        </p:nvSpPr>
        <p:spPr>
          <a:xfrm>
            <a:off x="7724394" y="3077718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5-label85"/>
          <p:cNvSpPr txBox="1"/>
          <p:nvPr/>
        </p:nvSpPr>
        <p:spPr>
          <a:xfrm>
            <a:off x="9856978" y="3126994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3200" dirty="0"/>
          </a:p>
        </p:txBody>
      </p:sp>
      <p:sp>
        <p:nvSpPr>
          <p:cNvPr id="18" name="S05-label87"/>
          <p:cNvSpPr txBox="1"/>
          <p:nvPr/>
        </p:nvSpPr>
        <p:spPr>
          <a:xfrm>
            <a:off x="7529830" y="3126994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3200" dirty="0"/>
          </a:p>
        </p:txBody>
      </p:sp>
      <p:sp>
        <p:nvSpPr>
          <p:cNvPr id="19" name="S05-label88"/>
          <p:cNvSpPr txBox="1"/>
          <p:nvPr/>
        </p:nvSpPr>
        <p:spPr>
          <a:xfrm>
            <a:off x="6254496" y="433578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반직선 ㄴㄱ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이름을 말해요</a:t>
            </a:r>
            <a:endParaRPr lang="ko-KR" sz="4000" dirty="0"/>
          </a:p>
        </p:txBody>
      </p:sp>
      <p:sp>
        <p:nvSpPr>
          <p:cNvPr id="3" name="S06-text8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도형의 이름을 말해요.</a:t>
            </a:r>
            <a:endParaRPr lang="ko-KR" sz="3000" dirty="0"/>
          </a:p>
        </p:txBody>
      </p:sp>
      <p:sp>
        <p:nvSpPr>
          <p:cNvPr id="4" name="S06-card9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6-cardtext9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반직선은 어느 점부터 읽었나요?</a:t>
            </a:r>
            <a:endParaRPr lang="ko-KR" sz="3000" dirty="0"/>
          </a:p>
        </p:txBody>
      </p:sp>
      <p:sp>
        <p:nvSpPr>
          <p:cNvPr id="6" name="S06-chip92"/>
          <p:cNvSpPr txBox="1"/>
          <p:nvPr/>
        </p:nvSpPr>
        <p:spPr>
          <a:xfrm>
            <a:off x="548640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06-figure93" descr="선분 ㄷㄹ: 점 ㄷ과 점 ㄹ을 곧게 이은 선"/>
          <p:cNvSpPr/>
          <p:nvPr/>
        </p:nvSpPr>
        <p:spPr>
          <a:xfrm>
            <a:off x="1799082" y="2491740"/>
            <a:ext cx="3657600" cy="45720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8" name="S06-mark94"/>
          <p:cNvSpPr/>
          <p:nvPr/>
        </p:nvSpPr>
        <p:spPr>
          <a:xfrm>
            <a:off x="1739646" y="243230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6-mark95"/>
          <p:cNvSpPr/>
          <p:nvPr/>
        </p:nvSpPr>
        <p:spPr>
          <a:xfrm>
            <a:off x="5397246" y="288950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6-label97"/>
          <p:cNvSpPr txBox="1"/>
          <p:nvPr/>
        </p:nvSpPr>
        <p:spPr>
          <a:xfrm>
            <a:off x="1303125" y="2207495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</a:t>
            </a:r>
            <a:endParaRPr lang="ko-KR" sz="3200" dirty="0"/>
          </a:p>
        </p:txBody>
      </p:sp>
      <p:sp>
        <p:nvSpPr>
          <p:cNvPr id="11" name="S06-label99"/>
          <p:cNvSpPr txBox="1"/>
          <p:nvPr/>
        </p:nvSpPr>
        <p:spPr>
          <a:xfrm>
            <a:off x="5444639" y="2725185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ㄹ</a:t>
            </a:r>
            <a:endParaRPr lang="ko-KR" sz="3200" dirty="0"/>
          </a:p>
        </p:txBody>
      </p:sp>
      <p:sp>
        <p:nvSpPr>
          <p:cNvPr id="12" name="S06-chip100"/>
          <p:cNvSpPr txBox="1"/>
          <p:nvPr/>
        </p:nvSpPr>
        <p:spPr>
          <a:xfrm>
            <a:off x="6277356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3" name="S06-figure101" descr="직선 ㅁㅂ: 점 ㅁ과 점 ㅂ을 지나 양쪽으로 늘인 선"/>
          <p:cNvSpPr/>
          <p:nvPr/>
        </p:nvSpPr>
        <p:spPr>
          <a:xfrm flipV="1">
            <a:off x="7356348" y="2453640"/>
            <a:ext cx="4000500" cy="53340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4" name="S06-mark102"/>
          <p:cNvSpPr/>
          <p:nvPr/>
        </p:nvSpPr>
        <p:spPr>
          <a:xfrm>
            <a:off x="8292631" y="2794841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6-mark103"/>
          <p:cNvSpPr/>
          <p:nvPr/>
        </p:nvSpPr>
        <p:spPr>
          <a:xfrm>
            <a:off x="10301693" y="2526967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6-label105"/>
          <p:cNvSpPr txBox="1"/>
          <p:nvPr/>
        </p:nvSpPr>
        <p:spPr>
          <a:xfrm>
            <a:off x="8065840" y="2358576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ㅁ</a:t>
            </a:r>
            <a:endParaRPr lang="ko-KR" sz="3200" dirty="0"/>
          </a:p>
        </p:txBody>
      </p:sp>
      <p:sp>
        <p:nvSpPr>
          <p:cNvPr id="17" name="S06-label107"/>
          <p:cNvSpPr txBox="1"/>
          <p:nvPr/>
        </p:nvSpPr>
        <p:spPr>
          <a:xfrm>
            <a:off x="10074902" y="2090702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ㅂ</a:t>
            </a:r>
            <a:endParaRPr lang="ko-KR" sz="3200" dirty="0"/>
          </a:p>
        </p:txBody>
      </p:sp>
      <p:sp>
        <p:nvSpPr>
          <p:cNvPr id="18" name="S06-chip108"/>
          <p:cNvSpPr txBox="1"/>
          <p:nvPr/>
        </p:nvSpPr>
        <p:spPr>
          <a:xfrm>
            <a:off x="548640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9" name="S06-figure109" descr="반직선 ㅅㅇ: 점 ㅅ에서 시작해 점 ㅇ를 지나 한쪽으로 늘인 선"/>
          <p:cNvSpPr/>
          <p:nvPr/>
        </p:nvSpPr>
        <p:spPr>
          <a:xfrm>
            <a:off x="1627632" y="4411980"/>
            <a:ext cx="40005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0" name="S06-mark110"/>
          <p:cNvSpPr/>
          <p:nvPr/>
        </p:nvSpPr>
        <p:spPr>
          <a:xfrm>
            <a:off x="1568196" y="435254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6-mark111"/>
          <p:cNvSpPr/>
          <p:nvPr/>
        </p:nvSpPr>
        <p:spPr>
          <a:xfrm>
            <a:off x="4235196" y="435254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6-label113"/>
          <p:cNvSpPr txBox="1"/>
          <p:nvPr/>
        </p:nvSpPr>
        <p:spPr>
          <a:xfrm>
            <a:off x="1129792" y="415798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ㅅ</a:t>
            </a:r>
            <a:endParaRPr lang="ko-KR" sz="3200" dirty="0"/>
          </a:p>
        </p:txBody>
      </p:sp>
      <p:sp>
        <p:nvSpPr>
          <p:cNvPr id="23" name="S06-label115"/>
          <p:cNvSpPr txBox="1"/>
          <p:nvPr/>
        </p:nvSpPr>
        <p:spPr>
          <a:xfrm>
            <a:off x="4040632" y="391414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ㅇ</a:t>
            </a:r>
            <a:endParaRPr lang="ko-KR" sz="3200" dirty="0"/>
          </a:p>
        </p:txBody>
      </p:sp>
      <p:sp>
        <p:nvSpPr>
          <p:cNvPr id="24" name="S06-chip116"/>
          <p:cNvSpPr txBox="1"/>
          <p:nvPr/>
        </p:nvSpPr>
        <p:spPr>
          <a:xfrm>
            <a:off x="6277356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000" dirty="0"/>
          </a:p>
        </p:txBody>
      </p:sp>
      <p:sp>
        <p:nvSpPr>
          <p:cNvPr id="25" name="S06-figure117" descr="반직선 ㅊㅈ: 점 ㅊ에서 시작해 점 ㅈ를 지나 한쪽으로 늘인 선"/>
          <p:cNvSpPr/>
          <p:nvPr/>
        </p:nvSpPr>
        <p:spPr>
          <a:xfrm flipH="1" flipV="1">
            <a:off x="7356348" y="4145280"/>
            <a:ext cx="4000500" cy="53340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6" name="S06-mark118"/>
          <p:cNvSpPr/>
          <p:nvPr/>
        </p:nvSpPr>
        <p:spPr>
          <a:xfrm>
            <a:off x="11297412" y="461924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06-mark119"/>
          <p:cNvSpPr/>
          <p:nvPr/>
        </p:nvSpPr>
        <p:spPr>
          <a:xfrm>
            <a:off x="8622591" y="4262601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06-label121"/>
          <p:cNvSpPr txBox="1"/>
          <p:nvPr/>
        </p:nvSpPr>
        <p:spPr>
          <a:xfrm>
            <a:off x="11344549" y="4456907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ㅊ</a:t>
            </a:r>
            <a:endParaRPr lang="ko-KR" sz="3200" dirty="0"/>
          </a:p>
        </p:txBody>
      </p:sp>
      <p:sp>
        <p:nvSpPr>
          <p:cNvPr id="29" name="S06-label123"/>
          <p:cNvSpPr txBox="1"/>
          <p:nvPr/>
        </p:nvSpPr>
        <p:spPr>
          <a:xfrm>
            <a:off x="8460254" y="3826336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ㅈ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직선을 모두 찾아요</a:t>
            </a:r>
            <a:endParaRPr lang="ko-KR" sz="4000" dirty="0"/>
          </a:p>
        </p:txBody>
      </p:sp>
      <p:sp>
        <p:nvSpPr>
          <p:cNvPr id="3" name="S07-card12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12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길게 그린 가도 직선일까요? 왜 그럴까요?</a:t>
            </a:r>
            <a:endParaRPr lang="ko-KR" sz="3000" dirty="0"/>
          </a:p>
        </p:txBody>
      </p:sp>
      <p:sp>
        <p:nvSpPr>
          <p:cNvPr id="5" name="S07-chip126"/>
          <p:cNvSpPr txBox="1"/>
          <p:nvPr/>
        </p:nvSpPr>
        <p:spPr>
          <a:xfrm>
            <a:off x="548640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6" name="S07-figure127" descr="두 점을 곧게 이은 선(양쪽 끝에 점)"/>
          <p:cNvSpPr/>
          <p:nvPr/>
        </p:nvSpPr>
        <p:spPr>
          <a:xfrm flipV="1">
            <a:off x="1435608" y="2059838"/>
            <a:ext cx="4384548" cy="292303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7" name="S07-mark128"/>
          <p:cNvSpPr/>
          <p:nvPr/>
        </p:nvSpPr>
        <p:spPr>
          <a:xfrm>
            <a:off x="1376172" y="2292706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7-mark129"/>
          <p:cNvSpPr/>
          <p:nvPr/>
        </p:nvSpPr>
        <p:spPr>
          <a:xfrm>
            <a:off x="5760720" y="2000402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7-chip130"/>
          <p:cNvSpPr txBox="1"/>
          <p:nvPr/>
        </p:nvSpPr>
        <p:spPr>
          <a:xfrm>
            <a:off x="6277356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0" name="S07-figure131" descr="두 점을 지나 양쪽으로 늘인 곧은 선"/>
          <p:cNvSpPr/>
          <p:nvPr/>
        </p:nvSpPr>
        <p:spPr>
          <a:xfrm>
            <a:off x="7344918" y="2205990"/>
            <a:ext cx="402336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1" name="S07-mark132"/>
          <p:cNvSpPr/>
          <p:nvPr/>
        </p:nvSpPr>
        <p:spPr>
          <a:xfrm>
            <a:off x="8657082" y="214655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7-mark133"/>
          <p:cNvSpPr/>
          <p:nvPr/>
        </p:nvSpPr>
        <p:spPr>
          <a:xfrm>
            <a:off x="9937242" y="214655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7-chip134"/>
          <p:cNvSpPr txBox="1"/>
          <p:nvPr/>
        </p:nvSpPr>
        <p:spPr>
          <a:xfrm>
            <a:off x="548640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4" name="S07-figure135" descr="한 점에서 시작해 다른 점을 지나 한쪽으로 늘인 곧은 선"/>
          <p:cNvSpPr/>
          <p:nvPr/>
        </p:nvSpPr>
        <p:spPr>
          <a:xfrm>
            <a:off x="1583800" y="3831714"/>
            <a:ext cx="4088164" cy="817633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5" name="S07-mark136"/>
          <p:cNvSpPr/>
          <p:nvPr/>
        </p:nvSpPr>
        <p:spPr>
          <a:xfrm>
            <a:off x="1524364" y="3772278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7-mark137"/>
          <p:cNvSpPr/>
          <p:nvPr/>
        </p:nvSpPr>
        <p:spPr>
          <a:xfrm>
            <a:off x="4267564" y="4320918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7-chip138"/>
          <p:cNvSpPr txBox="1"/>
          <p:nvPr/>
        </p:nvSpPr>
        <p:spPr>
          <a:xfrm>
            <a:off x="6277356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000" dirty="0"/>
          </a:p>
        </p:txBody>
      </p:sp>
      <p:sp>
        <p:nvSpPr>
          <p:cNvPr id="18" name="S07-figure139" descr="두 점을 지나 양쪽으로 늘인 곧은 선"/>
          <p:cNvSpPr/>
          <p:nvPr/>
        </p:nvSpPr>
        <p:spPr>
          <a:xfrm flipV="1">
            <a:off x="7635863" y="3451860"/>
            <a:ext cx="3441469" cy="157734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9" name="S07-mark140"/>
          <p:cNvSpPr/>
          <p:nvPr/>
        </p:nvSpPr>
        <p:spPr>
          <a:xfrm>
            <a:off x="8491699" y="455026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7-mark141"/>
          <p:cNvSpPr/>
          <p:nvPr/>
        </p:nvSpPr>
        <p:spPr>
          <a:xfrm>
            <a:off x="10102625" y="381192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</a:t>
            </a:r>
            <a:endParaRPr lang="ko-KR" sz="4000" dirty="0"/>
          </a:p>
        </p:txBody>
      </p:sp>
      <p:sp>
        <p:nvSpPr>
          <p:cNvPr id="3" name="S08-text14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점에서 그은 두 반직선으로 된 도형이에요.</a:t>
            </a:r>
            <a:endParaRPr lang="ko-KR" sz="3000" dirty="0"/>
          </a:p>
        </p:txBody>
      </p:sp>
      <p:sp>
        <p:nvSpPr>
          <p:cNvPr id="4" name="S08-card14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14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ㄱㄴㄷ: 꼭짓점 ㄴ을 가운데에 읽어요.</a:t>
            </a:r>
            <a:endParaRPr lang="ko-KR" sz="3000" dirty="0"/>
          </a:p>
        </p:txBody>
      </p:sp>
      <p:sp>
        <p:nvSpPr>
          <p:cNvPr id="6" name="S08-mark145"/>
          <p:cNvSpPr/>
          <p:nvPr/>
        </p:nvSpPr>
        <p:spPr>
          <a:xfrm>
            <a:off x="1111923" y="4358640"/>
            <a:ext cx="792480" cy="792480"/>
          </a:xfrm>
          <a:prstGeom prst="pie">
            <a:avLst>
              <a:gd name="adj1" fmla="val 18096450"/>
              <a:gd name="adj2" fmla="val 0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7" name="S08-figure146" descr="각 ㄱㄴㄷ: 점 ㄴ에서 그은 반직선 ㄴㄱ과 반직선 ㄴㄷ"/>
          <p:cNvSpPr/>
          <p:nvPr/>
        </p:nvSpPr>
        <p:spPr>
          <a:xfrm flipV="1">
            <a:off x="1508163" y="2377440"/>
            <a:ext cx="1463040" cy="237744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8" name="S08-mark147"/>
          <p:cNvSpPr/>
          <p:nvPr/>
        </p:nvSpPr>
        <p:spPr>
          <a:xfrm>
            <a:off x="1508163" y="4754880"/>
            <a:ext cx="344391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9" name="S08-mark148"/>
          <p:cNvSpPr/>
          <p:nvPr/>
        </p:nvSpPr>
        <p:spPr>
          <a:xfrm>
            <a:off x="2550778" y="2904611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8-mark149"/>
          <p:cNvSpPr/>
          <p:nvPr/>
        </p:nvSpPr>
        <p:spPr>
          <a:xfrm>
            <a:off x="1448727" y="469544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8-mark150"/>
          <p:cNvSpPr/>
          <p:nvPr/>
        </p:nvSpPr>
        <p:spPr>
          <a:xfrm>
            <a:off x="4203855" y="469544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8-label152"/>
          <p:cNvSpPr txBox="1"/>
          <p:nvPr/>
        </p:nvSpPr>
        <p:spPr>
          <a:xfrm>
            <a:off x="2148546" y="2582251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3200" dirty="0"/>
          </a:p>
        </p:txBody>
      </p:sp>
      <p:sp>
        <p:nvSpPr>
          <p:cNvPr id="13" name="S08-label154"/>
          <p:cNvSpPr txBox="1"/>
          <p:nvPr/>
        </p:nvSpPr>
        <p:spPr>
          <a:xfrm>
            <a:off x="1041302" y="4619826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3200" dirty="0"/>
          </a:p>
        </p:txBody>
      </p:sp>
      <p:sp>
        <p:nvSpPr>
          <p:cNvPr id="14" name="S08-label156"/>
          <p:cNvSpPr txBox="1"/>
          <p:nvPr/>
        </p:nvSpPr>
        <p:spPr>
          <a:xfrm>
            <a:off x="4009291" y="425704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</a:t>
            </a:r>
            <a:endParaRPr lang="ko-KR" sz="3200" dirty="0"/>
          </a:p>
        </p:txBody>
      </p:sp>
      <p:sp>
        <p:nvSpPr>
          <p:cNvPr id="15" name="S08-card157"/>
          <p:cNvSpPr/>
          <p:nvPr/>
        </p:nvSpPr>
        <p:spPr>
          <a:xfrm>
            <a:off x="6277356" y="2209800"/>
            <a:ext cx="536295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6" name="S08-cardtext158"/>
          <p:cNvSpPr txBox="1"/>
          <p:nvPr/>
        </p:nvSpPr>
        <p:spPr>
          <a:xfrm>
            <a:off x="6551676" y="2346960"/>
            <a:ext cx="481431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꼭짓점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 ㄴ</a:t>
            </a:r>
            <a:endParaRPr lang="ko-KR" sz="3000" dirty="0"/>
          </a:p>
        </p:txBody>
      </p:sp>
      <p:sp>
        <p:nvSpPr>
          <p:cNvPr id="17" name="S08-card159"/>
          <p:cNvSpPr/>
          <p:nvPr/>
        </p:nvSpPr>
        <p:spPr>
          <a:xfrm>
            <a:off x="6277356" y="3680460"/>
            <a:ext cx="536295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8" name="S08-cardtext160"/>
          <p:cNvSpPr txBox="1"/>
          <p:nvPr/>
        </p:nvSpPr>
        <p:spPr>
          <a:xfrm>
            <a:off x="6551676" y="3817620"/>
            <a:ext cx="481431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 ㄴㄱ, 변 ㄴㄷ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각을 읽어요</a:t>
            </a:r>
            <a:endParaRPr lang="ko-KR" sz="4000" dirty="0"/>
          </a:p>
        </p:txBody>
      </p:sp>
      <p:sp>
        <p:nvSpPr>
          <p:cNvPr id="3" name="S09-text16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그림을 보고 답해요.</a:t>
            </a:r>
            <a:endParaRPr lang="ko-KR" sz="3000" dirty="0"/>
          </a:p>
        </p:txBody>
      </p:sp>
      <p:sp>
        <p:nvSpPr>
          <p:cNvPr id="4" name="S09-card16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16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꼭짓점을 가운데에 읽어요.</a:t>
            </a:r>
            <a:endParaRPr lang="ko-KR" sz="3000" dirty="0"/>
          </a:p>
        </p:txBody>
      </p:sp>
      <p:sp>
        <p:nvSpPr>
          <p:cNvPr id="6" name="S09-mark164"/>
          <p:cNvSpPr/>
          <p:nvPr/>
        </p:nvSpPr>
        <p:spPr>
          <a:xfrm>
            <a:off x="7188783" y="4358640"/>
            <a:ext cx="792480" cy="792480"/>
          </a:xfrm>
          <a:prstGeom prst="pie">
            <a:avLst>
              <a:gd name="adj1" fmla="val 17306097"/>
              <a:gd name="adj2" fmla="val 20668553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7" name="S09-figure165" descr="점 ㅁ에서 그은 반직선 ㅁㄹ과 반직선 ㅁㅂ으로 된 각"/>
          <p:cNvSpPr/>
          <p:nvPr/>
        </p:nvSpPr>
        <p:spPr>
          <a:xfrm flipV="1">
            <a:off x="7585023" y="3991652"/>
            <a:ext cx="2747622" cy="763228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8" name="S09-mark166"/>
          <p:cNvSpPr/>
          <p:nvPr/>
        </p:nvSpPr>
        <p:spPr>
          <a:xfrm flipV="1">
            <a:off x="7585023" y="2377440"/>
            <a:ext cx="792480" cy="237744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9" name="S09-mark167"/>
          <p:cNvSpPr/>
          <p:nvPr/>
        </p:nvSpPr>
        <p:spPr>
          <a:xfrm>
            <a:off x="9693090" y="4093360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9-mark168"/>
          <p:cNvSpPr/>
          <p:nvPr/>
        </p:nvSpPr>
        <p:spPr>
          <a:xfrm>
            <a:off x="7525587" y="469544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9-mark169"/>
          <p:cNvSpPr/>
          <p:nvPr/>
        </p:nvSpPr>
        <p:spPr>
          <a:xfrm>
            <a:off x="8127671" y="2889191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9-label171"/>
          <p:cNvSpPr txBox="1"/>
          <p:nvPr/>
        </p:nvSpPr>
        <p:spPr>
          <a:xfrm>
            <a:off x="9433264" y="3663852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ㄹ</a:t>
            </a:r>
            <a:endParaRPr lang="ko-KR" sz="3200" dirty="0"/>
          </a:p>
        </p:txBody>
      </p:sp>
      <p:sp>
        <p:nvSpPr>
          <p:cNvPr id="13" name="S09-label173"/>
          <p:cNvSpPr txBox="1"/>
          <p:nvPr/>
        </p:nvSpPr>
        <p:spPr>
          <a:xfrm>
            <a:off x="7154278" y="4668866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ㅁ</a:t>
            </a:r>
            <a:endParaRPr lang="ko-KR" sz="3200" dirty="0"/>
          </a:p>
        </p:txBody>
      </p:sp>
      <p:sp>
        <p:nvSpPr>
          <p:cNvPr id="14" name="S09-label175"/>
          <p:cNvSpPr txBox="1"/>
          <p:nvPr/>
        </p:nvSpPr>
        <p:spPr>
          <a:xfrm>
            <a:off x="7701780" y="2617518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ㅂ</a:t>
            </a:r>
            <a:endParaRPr lang="ko-KR" sz="3200" dirty="0"/>
          </a:p>
        </p:txBody>
      </p:sp>
      <p:sp>
        <p:nvSpPr>
          <p:cNvPr id="15" name="S09-chip176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16" name="S09-text177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각의 이름은?</a:t>
            </a:r>
            <a:endParaRPr lang="ko-KR" sz="3000" dirty="0"/>
          </a:p>
        </p:txBody>
      </p:sp>
      <p:sp>
        <p:nvSpPr>
          <p:cNvPr id="17" name="S09-chip178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8" name="S09-text179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꼭짓점은?</a:t>
            </a:r>
            <a:endParaRPr lang="ko-KR" sz="3000" dirty="0"/>
          </a:p>
        </p:txBody>
      </p:sp>
      <p:sp>
        <p:nvSpPr>
          <p:cNvPr id="19" name="S09-chip180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20" name="S09-text181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변의 이름은?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각을 모두 찾아요</a:t>
            </a:r>
            <a:endParaRPr lang="ko-KR" sz="4000" dirty="0"/>
          </a:p>
        </p:txBody>
      </p:sp>
      <p:sp>
        <p:nvSpPr>
          <p:cNvPr id="3" name="S10-card18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18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각이 아닌 것은 왜 아닐까요?</a:t>
            </a:r>
            <a:endParaRPr lang="ko-KR" sz="3000" dirty="0"/>
          </a:p>
        </p:txBody>
      </p:sp>
      <p:sp>
        <p:nvSpPr>
          <p:cNvPr id="5" name="S10-chip184"/>
          <p:cNvSpPr txBox="1"/>
          <p:nvPr/>
        </p:nvSpPr>
        <p:spPr>
          <a:xfrm>
            <a:off x="1991868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6" name="S10-figure185" descr="한 점에서 그은 곧은 선 두 개"/>
          <p:cNvSpPr/>
          <p:nvPr/>
        </p:nvSpPr>
        <p:spPr>
          <a:xfrm flipV="1">
            <a:off x="903732" y="2569464"/>
            <a:ext cx="914400" cy="201168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7" name="S10-mark186"/>
          <p:cNvSpPr/>
          <p:nvPr/>
        </p:nvSpPr>
        <p:spPr>
          <a:xfrm>
            <a:off x="903732" y="4581144"/>
            <a:ext cx="274320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8" name="S10-chip187"/>
          <p:cNvSpPr txBox="1"/>
          <p:nvPr/>
        </p:nvSpPr>
        <p:spPr>
          <a:xfrm>
            <a:off x="5811012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9" name="S10-figure188" descr="만나지 않는 곧은 선 두 개"/>
          <p:cNvSpPr/>
          <p:nvPr/>
        </p:nvSpPr>
        <p:spPr>
          <a:xfrm flipV="1">
            <a:off x="4928616" y="2569464"/>
            <a:ext cx="685800" cy="137160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0" name="S10-mark189"/>
          <p:cNvSpPr/>
          <p:nvPr/>
        </p:nvSpPr>
        <p:spPr>
          <a:xfrm>
            <a:off x="5340096" y="4581144"/>
            <a:ext cx="192024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1" name="S10-chip190"/>
          <p:cNvSpPr txBox="1"/>
          <p:nvPr/>
        </p:nvSpPr>
        <p:spPr>
          <a:xfrm>
            <a:off x="9630156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2" name="S10-figure191" descr="한 점에서 넓게 벌어진 곧은 선 두 개"/>
          <p:cNvSpPr/>
          <p:nvPr/>
        </p:nvSpPr>
        <p:spPr>
          <a:xfrm flipH="1" flipV="1">
            <a:off x="8278368" y="2886777"/>
            <a:ext cx="1204923" cy="1377054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3" name="S10-mark192"/>
          <p:cNvSpPr/>
          <p:nvPr/>
        </p:nvSpPr>
        <p:spPr>
          <a:xfrm>
            <a:off x="9483291" y="4263831"/>
            <a:ext cx="2065581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19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①②는 이름을, ③은 각의 수를 말해요.</a:t>
            </a:r>
            <a:endParaRPr lang="ko-KR" sz="3000" dirty="0"/>
          </a:p>
        </p:txBody>
      </p:sp>
      <p:sp>
        <p:nvSpPr>
          <p:cNvPr id="4" name="S11-chip194"/>
          <p:cNvSpPr txBox="1"/>
          <p:nvPr/>
        </p:nvSpPr>
        <p:spPr>
          <a:xfrm>
            <a:off x="548640" y="27340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1-figure195" descr="반직선 ㅌㅋ: 점 ㅌ에서 시작해 점 ㅋ를 지나 한쪽으로 늘인 선"/>
          <p:cNvSpPr/>
          <p:nvPr/>
        </p:nvSpPr>
        <p:spPr>
          <a:xfrm flipH="1">
            <a:off x="1709928" y="2506066"/>
            <a:ext cx="3835908" cy="1022909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6" name="S11-mark196"/>
          <p:cNvSpPr/>
          <p:nvPr/>
        </p:nvSpPr>
        <p:spPr>
          <a:xfrm>
            <a:off x="5486400" y="2446630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11-mark197"/>
          <p:cNvSpPr/>
          <p:nvPr/>
        </p:nvSpPr>
        <p:spPr>
          <a:xfrm>
            <a:off x="2900018" y="3136331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11-label199"/>
          <p:cNvSpPr txBox="1"/>
          <p:nvPr/>
        </p:nvSpPr>
        <p:spPr>
          <a:xfrm>
            <a:off x="5527443" y="2189237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ㅌ</a:t>
            </a:r>
            <a:endParaRPr lang="ko-KR" sz="3200" dirty="0"/>
          </a:p>
        </p:txBody>
      </p:sp>
      <p:sp>
        <p:nvSpPr>
          <p:cNvPr id="9" name="S11-label201"/>
          <p:cNvSpPr txBox="1"/>
          <p:nvPr/>
        </p:nvSpPr>
        <p:spPr>
          <a:xfrm>
            <a:off x="2642626" y="2706161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ㅋ</a:t>
            </a:r>
            <a:endParaRPr lang="ko-KR" sz="3200" dirty="0"/>
          </a:p>
        </p:txBody>
      </p:sp>
      <p:sp>
        <p:nvSpPr>
          <p:cNvPr id="10" name="S11-chip202"/>
          <p:cNvSpPr txBox="1"/>
          <p:nvPr/>
        </p:nvSpPr>
        <p:spPr>
          <a:xfrm>
            <a:off x="6277356" y="27340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1" name="S11-figure203" descr="선분 ㅍㅎ: 점 ㅍ과 점 ㅎ을 곧게 이은 선"/>
          <p:cNvSpPr/>
          <p:nvPr/>
        </p:nvSpPr>
        <p:spPr>
          <a:xfrm>
            <a:off x="7756398" y="2743200"/>
            <a:ext cx="3200400" cy="54864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2" name="S11-mark204"/>
          <p:cNvSpPr/>
          <p:nvPr/>
        </p:nvSpPr>
        <p:spPr>
          <a:xfrm>
            <a:off x="7696962" y="268376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11-mark205"/>
          <p:cNvSpPr/>
          <p:nvPr/>
        </p:nvSpPr>
        <p:spPr>
          <a:xfrm>
            <a:off x="10897362" y="323240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11-label207"/>
          <p:cNvSpPr txBox="1"/>
          <p:nvPr/>
        </p:nvSpPr>
        <p:spPr>
          <a:xfrm>
            <a:off x="7262064" y="244800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ㅍ</a:t>
            </a:r>
            <a:endParaRPr lang="ko-KR" sz="3200" dirty="0"/>
          </a:p>
        </p:txBody>
      </p:sp>
      <p:sp>
        <p:nvSpPr>
          <p:cNvPr id="15" name="S11-label209"/>
          <p:cNvSpPr txBox="1"/>
          <p:nvPr/>
        </p:nvSpPr>
        <p:spPr>
          <a:xfrm>
            <a:off x="10943132" y="307904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ㅎ</a:t>
            </a:r>
            <a:endParaRPr lang="ko-KR" sz="3200" dirty="0"/>
          </a:p>
        </p:txBody>
      </p:sp>
      <p:sp>
        <p:nvSpPr>
          <p:cNvPr id="16" name="S11-chip210"/>
          <p:cNvSpPr txBox="1"/>
          <p:nvPr/>
        </p:nvSpPr>
        <p:spPr>
          <a:xfrm>
            <a:off x="548640" y="49286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7" name="S11-figure211" descr="hexagon"/>
          <p:cNvSpPr/>
          <p:nvPr/>
        </p:nvSpPr>
        <p:spPr>
          <a:xfrm>
            <a:off x="2690622" y="4328491"/>
            <a:ext cx="1874520" cy="1630017"/>
          </a:xfrm>
          <a:prstGeom prst="hexagon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18" name="S11-chip212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9" name="S11-text213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ㄱㄴㄷ의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꼭짓점은?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도형 속의 각</a:t>
            </a:r>
            <a:endParaRPr lang="ko-KR" sz="4000" dirty="0"/>
          </a:p>
        </p:txBody>
      </p:sp>
      <p:sp>
        <p:nvSpPr>
          <p:cNvPr id="3" name="S13-text21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각은 모두 몇 개일까요?</a:t>
            </a:r>
            <a:endParaRPr lang="ko-KR" sz="3000" dirty="0"/>
          </a:p>
        </p:txBody>
      </p:sp>
      <p:sp>
        <p:nvSpPr>
          <p:cNvPr id="4" name="S13-chip215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3-figure216" descr="trapezoid"/>
          <p:cNvSpPr/>
          <p:nvPr/>
        </p:nvSpPr>
        <p:spPr>
          <a:xfrm>
            <a:off x="3515868" y="2202180"/>
            <a:ext cx="1143000" cy="762000"/>
          </a:xfrm>
          <a:prstGeom prst="trapezoid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6" name="S13-chip217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13-figure218" descr="circle"/>
          <p:cNvSpPr/>
          <p:nvPr/>
        </p:nvSpPr>
        <p:spPr>
          <a:xfrm>
            <a:off x="3515868" y="3474720"/>
            <a:ext cx="1143000" cy="1143000"/>
          </a:xfrm>
          <a:prstGeom prst="ellips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8" name="S13-chip219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13-text220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삼각형과 사각형의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각을 모두 더하면?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221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222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끝점이 선분은 2개, 반직선은 1개, 직선은 없어요. 각은 한 점에서 그은 두 반직선이에요.</a:t>
            </a:r>
            <a:endParaRPr lang="ko-KR" sz="3000" dirty="0"/>
          </a:p>
        </p:txBody>
      </p:sp>
      <p:sp>
        <p:nvSpPr>
          <p:cNvPr id="5" name="S14-chip223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반직선은 시작점부터 읽기</a:t>
            </a:r>
            <a:endParaRPr lang="ko-KR" sz="2400" dirty="0"/>
          </a:p>
        </p:txBody>
      </p:sp>
      <p:sp>
        <p:nvSpPr>
          <p:cNvPr id="6" name="S14-chip224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길면 직선이라고 하기</a:t>
            </a:r>
            <a:endParaRPr lang="ko-KR" sz="2400" dirty="0"/>
          </a:p>
        </p:txBody>
      </p:sp>
      <p:sp>
        <p:nvSpPr>
          <p:cNvPr id="7" name="S14-text225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4-text226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끝점이 1개인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곧은 선은?</a:t>
            </a:r>
            <a:endParaRPr lang="ko-KR" sz="2400" dirty="0"/>
          </a:p>
        </p:txBody>
      </p:sp>
      <p:sp>
        <p:nvSpPr>
          <p:cNvPr id="9" name="S14-text227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각 ㄹㅁㅂ의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꼭짓점은?</a:t>
            </a:r>
            <a:endParaRPr lang="ko-KR" sz="2400" dirty="0"/>
          </a:p>
        </p:txBody>
      </p:sp>
      <p:sp>
        <p:nvSpPr>
          <p:cNvPr id="10" name="S14-text228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오각형의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각의 수는?</a:t>
            </a:r>
            <a:endParaRPr lang="ko-KR" sz="2400" dirty="0"/>
          </a:p>
        </p:txBody>
      </p:sp>
      <p:sp>
        <p:nvSpPr>
          <p:cNvPr id="11" name="S14-text229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직각과 직사각형·정사각형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변과 꼭짓점</a:t>
            </a:r>
            <a:endParaRPr lang="ko-KR" sz="4000" dirty="0"/>
          </a:p>
        </p:txBody>
      </p:sp>
      <p:sp>
        <p:nvSpPr>
          <p:cNvPr id="3" name="S15-text23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곧은 선과 만나는 점을 찾아요.</a:t>
            </a:r>
            <a:endParaRPr lang="ko-KR" sz="3000" dirty="0"/>
          </a:p>
        </p:txBody>
      </p:sp>
      <p:sp>
        <p:nvSpPr>
          <p:cNvPr id="4" name="S15-figure231" descr="삼각형"/>
          <p:cNvSpPr/>
          <p:nvPr/>
        </p:nvSpPr>
        <p:spPr>
          <a:xfrm>
            <a:off x="924047" y="2955285"/>
            <a:ext cx="1930664" cy="1755149"/>
          </a:xfrm>
          <a:prstGeom prst="triangl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5" name="S15-label232"/>
          <p:cNvSpPr txBox="1"/>
          <p:nvPr/>
        </p:nvSpPr>
        <p:spPr>
          <a:xfrm>
            <a:off x="548640" y="5791200"/>
            <a:ext cx="2681478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삼각형</a:t>
            </a:r>
            <a:endParaRPr lang="ko-KR" sz="2400" dirty="0"/>
          </a:p>
        </p:txBody>
      </p:sp>
      <p:sp>
        <p:nvSpPr>
          <p:cNvPr id="6" name="S15-figure233" descr="사각형"/>
          <p:cNvSpPr/>
          <p:nvPr/>
        </p:nvSpPr>
        <p:spPr>
          <a:xfrm>
            <a:off x="3605525" y="2867528"/>
            <a:ext cx="1930664" cy="1930664"/>
          </a:xfrm>
          <a:prstGeom prst="rect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7" name="S15-label234"/>
          <p:cNvSpPr txBox="1"/>
          <p:nvPr/>
        </p:nvSpPr>
        <p:spPr>
          <a:xfrm>
            <a:off x="3230118" y="5791200"/>
            <a:ext cx="2681478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사각형</a:t>
            </a:r>
            <a:endParaRPr lang="ko-KR" sz="2400" dirty="0"/>
          </a:p>
        </p:txBody>
      </p:sp>
      <p:sp>
        <p:nvSpPr>
          <p:cNvPr id="8" name="S15-card235"/>
          <p:cNvSpPr/>
          <p:nvPr/>
        </p:nvSpPr>
        <p:spPr>
          <a:xfrm>
            <a:off x="6277356" y="2758440"/>
            <a:ext cx="536295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15-cardtext236"/>
          <p:cNvSpPr txBox="1"/>
          <p:nvPr/>
        </p:nvSpPr>
        <p:spPr>
          <a:xfrm>
            <a:off x="6551676" y="2895600"/>
            <a:ext cx="481431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도형의 곧은 선</a:t>
            </a:r>
            <a:endParaRPr lang="ko-KR" sz="3000" dirty="0"/>
          </a:p>
        </p:txBody>
      </p:sp>
      <p:sp>
        <p:nvSpPr>
          <p:cNvPr id="10" name="S15-card237"/>
          <p:cNvSpPr/>
          <p:nvPr/>
        </p:nvSpPr>
        <p:spPr>
          <a:xfrm>
            <a:off x="6277356" y="4229100"/>
            <a:ext cx="536295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5-cardtext238"/>
          <p:cNvSpPr txBox="1"/>
          <p:nvPr/>
        </p:nvSpPr>
        <p:spPr>
          <a:xfrm>
            <a:off x="6551676" y="4366260"/>
            <a:ext cx="481431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꼭짓점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곧은 선 두 개가 만나는 점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수학 선분·반직선·직선과 각</dc:title>
  <dc:subject>KR22-G03-MAT-LINES-L01</dc:subject>
  <dc:creator>education-ppt</dc:creator>
  <cp:lastModifiedBy>education-ppt</cp:lastModifiedBy>
  <cp:revision>1</cp:revision>
  <dcterms:created xsi:type="dcterms:W3CDTF">2026-10-26T07:54:31Z</dcterms:created>
  <dcterms:modified xsi:type="dcterms:W3CDTF">2026-10-26T07:54:31Z</dcterms:modified>
</cp:coreProperties>
</file>