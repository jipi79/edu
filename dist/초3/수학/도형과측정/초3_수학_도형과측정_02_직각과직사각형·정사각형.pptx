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942e7ad-7fbd-d542-3b46-1e37ef56c37b}">
          <p14:sldIdLst>
            <p14:sldId id="256"/>
            <p14:sldId id="257"/>
          </p14:sldIdLst>
        </p14:section>
        <p14:section name="개념" id="{5a99585c-8582-d432-5e80-a2c37156e333}">
          <p14:sldIdLst>
            <p14:sldId id="258"/>
            <p14:sldId id="259"/>
            <p14:sldId id="261"/>
            <p14:sldId id="262"/>
          </p14:sldIdLst>
        </p14:section>
        <p14:section name="연습" id="{272ae053-34be-aa0a-dd0b-76741f2c36f5}">
          <p14:sldIdLst>
            <p14:sldId id="260"/>
            <p14:sldId id="263"/>
            <p14:sldId id="264"/>
          </p14:sldIdLst>
        </p14:section>
        <p14:section name="개념" id="{936dfca8-6dd5-9aac-0dd4-1bbfff7f9993}">
          <p14:sldIdLst/>
        </p14:section>
        <p14:section name="연습" id="{379ac77d-e014-f6ff-b8d0-60622c36cede}">
          <p14:sldIdLst/>
        </p14:section>
        <p14:section name="확인" id="{a086486d-31f8-4e78-22e4-615007367fee}">
          <p14:sldIdLst>
            <p14:sldId id="265"/>
            <p14:sldId id="266"/>
            <p14:sldId id="267"/>
          </p14:sldIdLst>
        </p14:section>
        <p14:section name="정리" id="{26787d73-22fb-4b57-9936-8a912c43e360}">
          <p14:sldIdLst>
            <p14:sldId id="268"/>
          </p14:sldIdLst>
        </p14:section>
        <p14:section name="보충" id="{2a57f57f-7d63-a0f1-69a6-2df62432bea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책이나 공책의 반듯한 모서리처럼 생긴 각이 무엇인지 궁금하게 합니다.
시간: 약 2분
이렇게 말해 보세요
- “책 모서리를 손가락으로 만져 볼까? 반듯하지? 오늘은 이렇게 반듯한 각의 이름을 배울 거야.”
- “오른쪽 사각형의 네 모서리에 작은 표시가 있지? 무슨 뜻일까?”
예상 답
- “네모가 반듯해요.” “모서리 표시 같아요.” “잘 모르겠어요.”
막히면
- 답을 확인하지 않고 넘어갑니다. S04에서 이 표시를 배웁니다.
주의
- 오늘은 네모난 종이(A4 이면지 2장), 자, 색연필을 씁니다. 종이를 두 번 접어 ‘직각 본’을 만들어 계속 씁니다.
- 제목이 길어 화면에는 ‘직각과 직사각형’으로 줄였습니다. 이 차시에서 정사각형도 함께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확인(각, 꼭짓점, 변)]
목적: 지난 차시에서 배운 각, 각의 꼭짓점과 이름, 도형의 각의 수를 확인합니다. 오늘은 각 가운데 특별한 각(직각)을 배웁니다.
시간: 약 3분
이렇게 말해 보세요
- “오른쪽 각의 이름은 뭐야? 꼭짓점은 어디야?”
- “③ 삼각형에는 각이 몇 개 있어?”
정답
- ① 각 ㄹㅁㅂ(또는 각 ㅂㅁㄹ)
- ② 점 ㅁ
- ③ 3개
막히면
- ‘꼭짓점을 가운데에 읽는다’를 다시 떠올리게 합니다.
- 두 개 이상 틀리면 S14(보충)를 먼저 합니다. 보충으로도 어려우면 앞 차시 ‘선분·반직선·직선과 각’(KR22-G03-MAT-LINES-L01)을 다시 합니다.
주의
- 화면의 점 이름(ㄹ, ㅁ, ㅂ)이 작게 보이면 손가락으로 짚어 함께 읽어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종이를 접어 직각 만들기]
목적: 종이를 반듯하게 두 번 접으면 생기는 각이 직각이라는 것을 직접 만들어 알고, 이 종이(직각 본)로 직각을 찾을 준비를 합니다.
시간: 약 4분
이렇게 말해 보세요
- “종이를 반으로 접어 볼래? 이제 접힌 선끼리 꼭 맞추어 한 번 더 접어 봐.”
- “접힌 모서리를 봐. 이런 각을 ‘직각’이라고 해. 이 종이를 ‘직각 본’이라고 부르자.”
예상 답
- “네모 모서리처럼 반듯해요.”
막히면
- 두 번째 접을 때 접힌 선끼리 어긋나면 직각이 되지 않습니다. 부모가 끝을 맞추어 잡아 주고 아이가 눌러 접게 합니다.
- 모양이 삐뚤어진 종이(찢은 종이)로 해도 접힌 선끼리만 잘 맞추면 직각이 생깁니다.
주의
- 직각 본은 오늘 계속 씁니다. 잃어버리지 않게 활동지 옆에 둡니다.
- 각의 크기를 ‘90도’라고 재는 것은 4학년에서 배웁니다. 오늘은 ‘직각’이라는 이름만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직각 표시와 주변의 직각]
목적: 직각을 나타낼 때 꼭짓점에 직각 표시를 하는 방법을 알고, 주변에서 직각을 찾습니다.
시간: 약 3분
이렇게 말해 보세요
- “각 ㄱㄴㄷ에 직각 본을 대어 볼까? 꼭 맞으면 직각이야. 이 각은 ‘직각 ㄱㄴㄷ’이라고 해.”
- “직각이라는 것을 알려 주려고 꼭짓점 ㄴ에 작은 네모 모양 표시를 해. 이것을 직각 표시라고 해.”
- “집 안에서 직각을 찾아볼까? 직각 본을 대어 확인해 봐.”
예상 답
- “책 모서리요.” “창문 모서리요.” “식탁 모서리요.”
막히면
- 직각 본의 꼭짓점을 각의 꼭짓점에 맞추고, 한 변을 각의 한 변에 겹친 뒤 다른 변도 겹치는지 봅니다.
주의
- 둥근 모서리(책상 모서리가 둥근 것)는 꼭짓점이 없어 직각이라고 하기 어렵습니다. 반듯한 모서리를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연습(직각 찾기)]
목적: 도움을 받으며 직각 본을 대어 직각과 직각이 아닌 각을 구별하고, 방향이 기울어져도 직각일 수 있다는 것을 압니다(M1).
시간: 약 4분
이렇게 말해 보세요
- “직각 본을 화면에 대어 볼래? 꼭 맞는 각은 어느 것이야?”
- “라는 비스듬히 놓였어. 직각 본도 같이 돌려서 대 보자.”
정답
- 나, 라가 직각입니다.
- 가는 직각보다 좁은 각, 다는 직각보다 넓은 각입니다.
- 라는 기울어져 있지만 직각 본을 돌려 대면 꼭 맞으므로 직각입니다.
막히면
- 직각 본을 각의 꼭짓점에 먼저 맞추고, 한 변을 겹친 뒤 다른 변을 봅니다.
- 화면이 너무 크거나 작으면 활동지 1번의 같은 그림으로 확인합니다.
주의
- ‘직각보다 좁다·넓다’는 말로 충분합니다. 예각·둔각이라는 이름은 4학년에서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직각삼각형의 뜻]
목적: 한 각이 직각인 삼각형을 직각삼각형이라고 하고, 놓인 방향이 달라도 직각이 있으면 직각삼각형이라는 것을 압니다.
시간: 약 3분
이렇게 말해 보세요
- “두 삼각형에서 직각을 찾아볼까? 직각 본을 대어 봐.”
- “한 각이 직각인 삼각형을 ‘직각삼각형’이라고 해. 오른쪽 삼각형도 직각삼각형일까?”
예상 답
- “왼쪽 아래가 직각이에요.” “오른쪽도 직각이 있어서 직각삼각형이에요.”
막히면
- 직각 본을 오른쪽 삼각형의 직각 표시가 있는 꼭짓점에 돌려서 대어 봅니다.
- 종이 직각 본의 모서리를 가위 없이 대각선으로 접어 직각삼각형을 만들어 봅니다.
주의
- 삼각형에는 직각이 2개 있을 수 없습니다. 아이가 물으면 “직각 두 개를 그려 보면 세 번째 변이 만나지 않아.”라고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직사각형과 정사각형의 뜻]
목적: 네 각이 모두 직각인 사각형(직사각형)과, 네 각이 모두 직각이고 네 변의 길이가 모두 같은 사각형(정사각형)을 압니다.
시간: 약 4분
이렇게 말해 보세요
- “두 사각형의 네 각에 직각 본을 대어 볼까? 모두 직각이야? 이렇게 네 각이 모두 직각인 사각형을 ‘직사각형’이라고 해.”
- “모눈의 칸을 세어 변의 길이를 비교해 보자. 오른쪽 사각형은 네 변의 길이가 어때?”
- “네 각이 모두 직각이고 네 변의 길이가 모두 같은 사각형을 ‘정사각형’이라고 해.”
예상 답
- “네 각이 다 직각이에요.” “왼쪽은 4칸, 2칸이고 오른쪽은 다 3칸이에요.”
막히면
- 공책이나 책(직사각형), 색종이(정사각형)를 꺼내 직각 본을 대고, 자로 네 변을 재어 비교합니다.
주의
- 직사각형은 마주 보는 두 변의 길이가 같습니다(4칸과 4칸, 2칸과 2칸).
- 정사각형도 네 각이 모두 직각이므로 직사각형입니다. 이것은 S09에서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연습(직사각형 찾기)]
목적: 도움을 받으며 네 각이 모두 직각인지로 직사각형을 고르고, 정사각형도 직사각형이라는 것을 확인합니다.
시간: 약 3분
이렇게 말해 보세요
- “네 각에 직각 본을 하나씩 대어 볼까? 네 각이 모두 직각인 것은?”
- “라는 왼쪽 두 각이 직각인데, 직사각형일까?”
정답
- 가, 나가 직사각형입니다. 네 각이 모두 직각입니다.
- 나는 네 변의 길이도 모두 같으므로 정사각형이기도 합니다.
- 다는 직각이 없고, 라는 직각이 2개뿐이라 직사각형이 아닙니다.
막히면
- 각마다 직각이면 연필로 ○, 아니면 ×를 공책에 적으며 셉니다. ○가 4개여야 직사각형입니다.
주의
- 라처럼 직각이 몇 개 있다고 직사각형이 되지는 않습니다. ‘네 각이 모두’ 직각이어야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비교(정사각형과 직사각형의 관계)]
목적: 정사각형은 직사각형의 조건(네 각이 모두 직각)을 갖추었으므로 직사각형이라고 할 수 있지만, 직사각형이 모두 정사각형은 아니라는 것을 설명합니다(M2).
시간: 약 3분
이렇게 말해 보세요
- “토끼 말을 볼까? 정사각형도 네 각이 모두 직각이야? 그러면 직사각형이라고 할 수 있을까?”
- “곰 말은? 오른쪽 직사각형은 네 변의 길이가 모두 같아?”
예상 답
- “토끼요. 정사각형도 네 각이 다 직각이에요.” “곰은 틀렸어요. 오른쪽은 4칸, 2칸이라 길이가 달라요.”
정답
- 토끼가 맞습니다. 정사각형은 네 각이 모두 직각이므로 직사각형이라고 할 수 있습니다.
- 곰은 틀렸습니다. 직사각형 중에는 네 변의 길이가 같지 않은 것(가로 4칸, 세로 2칸)이 있어서 모두 정사각형이라고 할 수 없습니다.
막히면
- ‘직사각형의 조건: 네 각이 모두 직각’, ‘정사각형의 조건: 네 각이 모두 직각 + 네 변이 모두 같음’을 종이에 적고, 그림마다 조건에 ○를 칩니다.
주의
- 여기까지 하고 지치면 쉬고, 다음에 S10부터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직각을 찾고(목표 ①), 직각삼각형·정사각형·직사각형의 뜻을 아는지(목표 ②) 확인합니다.
시간: 약 5분
이렇게 말해 보세요
- “이번에는 혼자 해 볼래? 직각 본을 써도 돼. 다 하면 어떻게 알았는지 말해 줘.”
정답
- ① 직각입니다(기울어져 있지만 직각 본이 꼭 맞음).
- ② 직각삼각형(오른쪽 꼭짓점의 각이 직각)
- ③ 정사각형
- ④ 4개
막히면
- 바로 알려 주지 말고 “직각 본을 돌려서 대 봤어?”라고만 묻습니다.
- 도움을 받아 해결했다면 기록표에 ‘도움’으로 표시합니다.
주의
- ②의 직각은 가장 오른쪽 꼭짓점에 있습니다. 직각 표시가 없으니 부모가 먼저 직각 본으로 확인해 두면 안내하기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직각 본으로 같이 다시 대어 보자.”
정답
- ① 직각 ② 직각삼각형 ③ 정사각형 ④ 4개
막히면
- ①이 틀렸으면 S05를, ②가 틀렸으면 S06을, ③④가 틀렸으면 S07을 다시 봅니다.
주의
- ②를 ‘삼각형’이라고만 해도 틀린 말은 아니지만, 직각이 있으므로 더 정확한 이름(직각삼각형)을 말하게 합니다.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확인(모눈 위의 사각형)]
목적: 처음 보는 모눈 그림에서 직사각형과 정사각형을 모두 고르고 까닭(각과 변의 길이)을 말하는지 확인합니다.
시간: 약 2분
이렇게 말해 보세요
- “직사각형을 모두 골라 볼래? 정사각형은? 모눈의 칸을 세어 봐.”
정답
- 직사각형: 가, 나, 다 모두(네 각이 모두 직각)
- 정사각형: 나(네 변이 모두 3칸)
막히면
- 네 각에 직각 본을 대고, 네 변의 칸 수를 세어 적게 합니다.
주의
- 나를 직사각형에서 빼면 ‘정사각형은 직사각형이 아니다’라고 생각한 것입니다(M2). S09로 돌아갑니다.
- 세 가지를 모두 고르고 까닭을 말하면 목표 ②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“직각은 어떻게 만들었지? 직사각형과 정사각형은 무엇이 같고 무엇이 달라?”
예상 답
- “종이를 두 번 접어요.” “둘 다 네 각이 직각인데, 정사각형은 네 변이 다 같아요.”
정답
- ① 직각삼각형
- ② 4개
- ③ 아니요(네 변의 길이가 다른 직사각형이 있음)
막히면
- S07의 두 그림을 다시 보여 줍니다.
주의
- 복습 세 문제는 다음 수업을 시작할 때 활동지 마지막 쪽과 함께 풉니다.
- 다음 차시는 원입니다. 컵이나 병뚜껑을 준비해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보충(각의 꼭짓점과 변)]
목적: S02에서 각의 이름이나 꼭짓점이 흔들리면, 오늘 내용 전에 각의 뜻과 읽는 법을 다시 익힙니다.
시간: 약 5분
이렇게 말해 보세요
- “빨대 두 개의 끝을 맞대어 각을 만들어 볼까? 맞댄 곳이 꼭짓점이야.”
- “화면의 각은 이름이 뭐야? 꼭짓점을 가운데에 넣어 읽어 봐.”
정답
- 각 ㄱㄴㄷ(또는 각 ㄷㄴㄱ), 꼭짓점 ㄴ, 변 ㄴㄱ과 변 ㄴㄷ
막히면
- 삼각형 그림을 그리고 꼭짓점마다 각이 하나씩 있다는 것을 세어 봅니다.
주의
- 보충으로도 어려우면 앞 차시 ‘선분·반직선·직선과 각’(KR22-G03-MAT-LINES-L01)을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직각과 직사각형·정사각형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직각과 직사각형·정사각형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직각과 직사각형·정사각형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직각과 직사각형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반듯한 모서리는 어떤 각일까?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네 각에 직각 표시를 한 직사각형"/>
          <p:cNvSpPr/>
          <p:nvPr/>
        </p:nvSpPr>
        <p:spPr>
          <a:xfrm>
            <a:off x="7818120" y="1005840"/>
            <a:ext cx="3657600" cy="2194560"/>
          </a:xfrm>
          <a:custGeom>
            <a:avLst/>
            <a:gdLst/>
            <a:ahLst/>
            <a:cxnLst/>
            <a:rect l="l" t="t" r="r" b="b"/>
            <a:pathLst>
              <a:path w="3657600" h="2194560">
                <a:moveTo>
                  <a:pt x="0" y="2194560"/>
                </a:moveTo>
                <a:lnTo>
                  <a:pt x="3657600" y="2194560"/>
                </a:lnTo>
                <a:lnTo>
                  <a:pt x="3657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818120" y="2971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1247120" y="2971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11247120" y="10058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7818120" y="10058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1-card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1" name="S01-cardtext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직각을 찾아요.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직각삼각형·직사각형·정사각형을 구별해요.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답해요.</a:t>
            </a:r>
            <a:endParaRPr lang="ko-KR" sz="3000" dirty="0"/>
          </a:p>
        </p:txBody>
      </p:sp>
      <p:sp>
        <p:nvSpPr>
          <p:cNvPr id="4" name="S02-mark10"/>
          <p:cNvSpPr/>
          <p:nvPr/>
        </p:nvSpPr>
        <p:spPr>
          <a:xfrm>
            <a:off x="7373874" y="4795723"/>
            <a:ext cx="792480" cy="792480"/>
          </a:xfrm>
          <a:prstGeom prst="pie">
            <a:avLst>
              <a:gd name="adj1" fmla="val 17700454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S02-figure11" descr="점 ㅁ에서 그은 두 반직선으로 된 각"/>
          <p:cNvSpPr/>
          <p:nvPr/>
        </p:nvSpPr>
        <p:spPr>
          <a:xfrm flipV="1">
            <a:off x="7770114" y="3037637"/>
            <a:ext cx="1004926" cy="2154326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2-mark12"/>
          <p:cNvSpPr/>
          <p:nvPr/>
        </p:nvSpPr>
        <p:spPr>
          <a:xfrm>
            <a:off x="7770114" y="5191963"/>
            <a:ext cx="23774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2-mark13"/>
          <p:cNvSpPr/>
          <p:nvPr/>
        </p:nvSpPr>
        <p:spPr>
          <a:xfrm>
            <a:off x="8715604" y="297820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mark14"/>
          <p:cNvSpPr/>
          <p:nvPr/>
        </p:nvSpPr>
        <p:spPr>
          <a:xfrm>
            <a:off x="7710678" y="51325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2-mark15"/>
          <p:cNvSpPr/>
          <p:nvPr/>
        </p:nvSpPr>
        <p:spPr>
          <a:xfrm>
            <a:off x="10088118" y="51325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label17"/>
          <p:cNvSpPr txBox="1"/>
          <p:nvPr/>
        </p:nvSpPr>
        <p:spPr>
          <a:xfrm>
            <a:off x="8673904" y="262615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2400" dirty="0"/>
          </a:p>
        </p:txBody>
      </p:sp>
      <p:sp>
        <p:nvSpPr>
          <p:cNvPr id="11" name="S02-label19"/>
          <p:cNvSpPr txBox="1"/>
          <p:nvPr/>
        </p:nvSpPr>
        <p:spPr>
          <a:xfrm>
            <a:off x="7360237" y="513246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2400" dirty="0"/>
          </a:p>
        </p:txBody>
      </p:sp>
      <p:sp>
        <p:nvSpPr>
          <p:cNvPr id="12" name="S02-label21"/>
          <p:cNvSpPr txBox="1"/>
          <p:nvPr/>
        </p:nvSpPr>
        <p:spPr>
          <a:xfrm>
            <a:off x="10187178" y="500146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2400" dirty="0"/>
          </a:p>
        </p:txBody>
      </p:sp>
      <p:sp>
        <p:nvSpPr>
          <p:cNvPr id="13" name="S02-chip2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4" name="S02-text23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각의 이름은?</a:t>
            </a:r>
            <a:endParaRPr lang="ko-KR" sz="3000" dirty="0"/>
          </a:p>
        </p:txBody>
      </p:sp>
      <p:sp>
        <p:nvSpPr>
          <p:cNvPr id="15" name="S02-chip2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02-text25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각의 꼭짓점은?</a:t>
            </a:r>
            <a:endParaRPr lang="ko-KR" sz="3000" dirty="0"/>
          </a:p>
        </p:txBody>
      </p:sp>
      <p:sp>
        <p:nvSpPr>
          <p:cNvPr id="17" name="S02-chip2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8" name="S02-text27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각은 몇 개?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두 번 접으면</a:t>
            </a:r>
            <a:endParaRPr lang="ko-KR" sz="4000" dirty="0"/>
          </a:p>
        </p:txBody>
      </p:sp>
      <p:sp>
        <p:nvSpPr>
          <p:cNvPr id="3" name="S03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생긴 각을 직각이라고 해요.</a:t>
            </a:r>
            <a:endParaRPr lang="ko-KR" sz="3000" dirty="0"/>
          </a:p>
        </p:txBody>
      </p:sp>
      <p:sp>
        <p:nvSpPr>
          <p:cNvPr id="5" name="S03-mark30"/>
          <p:cNvSpPr/>
          <p:nvPr/>
        </p:nvSpPr>
        <p:spPr>
          <a:xfrm>
            <a:off x="8123530" y="43662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3-figure31" descr="종이를 두 번 접어 생긴 각(직각)"/>
          <p:cNvSpPr/>
          <p:nvPr/>
        </p:nvSpPr>
        <p:spPr>
          <a:xfrm flipV="1">
            <a:off x="8123530" y="1851660"/>
            <a:ext cx="0" cy="27432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3-mark32"/>
          <p:cNvSpPr/>
          <p:nvPr/>
        </p:nvSpPr>
        <p:spPr>
          <a:xfrm>
            <a:off x="8123530" y="459486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3-stepno33"/>
          <p:cNvSpPr txBox="1"/>
          <p:nvPr/>
        </p:nvSpPr>
        <p:spPr>
          <a:xfrm>
            <a:off x="548640" y="20452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3-text34"/>
          <p:cNvSpPr txBox="1"/>
          <p:nvPr/>
        </p:nvSpPr>
        <p:spPr>
          <a:xfrm>
            <a:off x="1325880" y="20452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반으로 접어요.</a:t>
            </a:r>
            <a:endParaRPr lang="ko-KR" sz="3000" dirty="0"/>
          </a:p>
        </p:txBody>
      </p:sp>
      <p:sp>
        <p:nvSpPr>
          <p:cNvPr id="10" name="S03-stepno35"/>
          <p:cNvSpPr txBox="1"/>
          <p:nvPr/>
        </p:nvSpPr>
        <p:spPr>
          <a:xfrm>
            <a:off x="548640" y="28041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3-text36"/>
          <p:cNvSpPr txBox="1"/>
          <p:nvPr/>
        </p:nvSpPr>
        <p:spPr>
          <a:xfrm>
            <a:off x="1325880" y="27584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선끼리 맞추어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더 접어요.</a:t>
            </a:r>
            <a:endParaRPr lang="ko-KR" sz="3000" dirty="0"/>
          </a:p>
        </p:txBody>
      </p:sp>
      <p:sp>
        <p:nvSpPr>
          <p:cNvPr id="12" name="S03-stepno37"/>
          <p:cNvSpPr txBox="1"/>
          <p:nvPr/>
        </p:nvSpPr>
        <p:spPr>
          <a:xfrm>
            <a:off x="548640" y="38526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3-text38"/>
          <p:cNvSpPr txBox="1"/>
          <p:nvPr/>
        </p:nvSpPr>
        <p:spPr>
          <a:xfrm>
            <a:off x="1325880" y="38526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모서리의 각을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 ㄱㄴㄷ</a:t>
            </a:r>
            <a:endParaRPr lang="ko-KR" sz="4000" dirty="0"/>
          </a:p>
        </p:txBody>
      </p:sp>
      <p:sp>
        <p:nvSpPr>
          <p:cNvPr id="3" name="S04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직각인 곳에 직각 표시를 해요.</a:t>
            </a:r>
            <a:endParaRPr lang="ko-KR" sz="3000" dirty="0"/>
          </a:p>
        </p:txBody>
      </p:sp>
      <p:sp>
        <p:nvSpPr>
          <p:cNvPr id="4" name="S04-mark40"/>
          <p:cNvSpPr/>
          <p:nvPr/>
        </p:nvSpPr>
        <p:spPr>
          <a:xfrm>
            <a:off x="1858518" y="525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" name="S04-figure41" descr="직각 ㄱㄴㄷ: 꼭짓점 ㄴ에 직각 표시"/>
          <p:cNvSpPr/>
          <p:nvPr/>
        </p:nvSpPr>
        <p:spPr>
          <a:xfrm flipV="1">
            <a:off x="1858518" y="2743200"/>
            <a:ext cx="0" cy="27432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4-mark42"/>
          <p:cNvSpPr/>
          <p:nvPr/>
        </p:nvSpPr>
        <p:spPr>
          <a:xfrm>
            <a:off x="1858518" y="548640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43"/>
          <p:cNvSpPr/>
          <p:nvPr/>
        </p:nvSpPr>
        <p:spPr>
          <a:xfrm>
            <a:off x="1799082" y="26837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mark44"/>
          <p:cNvSpPr/>
          <p:nvPr/>
        </p:nvSpPr>
        <p:spPr>
          <a:xfrm>
            <a:off x="1799082" y="54269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mark45"/>
          <p:cNvSpPr/>
          <p:nvPr/>
        </p:nvSpPr>
        <p:spPr>
          <a:xfrm>
            <a:off x="4542282" y="54269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label47"/>
          <p:cNvSpPr txBox="1"/>
          <p:nvPr/>
        </p:nvSpPr>
        <p:spPr>
          <a:xfrm>
            <a:off x="1654302" y="23088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2400" dirty="0"/>
          </a:p>
        </p:txBody>
      </p:sp>
      <p:sp>
        <p:nvSpPr>
          <p:cNvPr id="11" name="S04-label49"/>
          <p:cNvSpPr txBox="1"/>
          <p:nvPr/>
        </p:nvSpPr>
        <p:spPr>
          <a:xfrm>
            <a:off x="1481881" y="546832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2400" dirty="0"/>
          </a:p>
        </p:txBody>
      </p:sp>
      <p:sp>
        <p:nvSpPr>
          <p:cNvPr id="12" name="S04-label51"/>
          <p:cNvSpPr txBox="1"/>
          <p:nvPr/>
        </p:nvSpPr>
        <p:spPr>
          <a:xfrm>
            <a:off x="4641342" y="52959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2400" dirty="0"/>
          </a:p>
        </p:txBody>
      </p:sp>
      <p:sp>
        <p:nvSpPr>
          <p:cNvPr id="13" name="S04-card52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53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 ㄱㄴㄷ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ㄴ에 직각 표시</a:t>
            </a:r>
            <a:endParaRPr lang="ko-KR" sz="3000" dirty="0"/>
          </a:p>
        </p:txBody>
      </p:sp>
      <p:sp>
        <p:nvSpPr>
          <p:cNvPr id="15" name="S04-card54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4-cardtext55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주변의 직각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모서리, 공책, 문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직각을 모두 찾아요</a:t>
            </a:r>
            <a:endParaRPr lang="ko-KR" sz="4000" dirty="0"/>
          </a:p>
        </p:txBody>
      </p:sp>
      <p:sp>
        <p:nvSpPr>
          <p:cNvPr id="3" name="S05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 본을 대어 확인해요.</a:t>
            </a:r>
            <a:endParaRPr lang="ko-KR" sz="3000" dirty="0"/>
          </a:p>
        </p:txBody>
      </p:sp>
      <p:sp>
        <p:nvSpPr>
          <p:cNvPr id="4" name="S05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라는 기울어졌어요. 직각일까요?</a:t>
            </a:r>
            <a:endParaRPr lang="ko-KR" sz="3000" dirty="0"/>
          </a:p>
        </p:txBody>
      </p:sp>
      <p:sp>
        <p:nvSpPr>
          <p:cNvPr id="6" name="S05-chip59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5-mark60"/>
          <p:cNvSpPr/>
          <p:nvPr/>
        </p:nvSpPr>
        <p:spPr>
          <a:xfrm>
            <a:off x="2518917" y="2941320"/>
            <a:ext cx="792480" cy="792480"/>
          </a:xfrm>
          <a:prstGeom prst="pie">
            <a:avLst>
              <a:gd name="adj1" fmla="val 18000044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8" name="S05-figure61" descr="좁은 각"/>
          <p:cNvSpPr/>
          <p:nvPr/>
        </p:nvSpPr>
        <p:spPr>
          <a:xfrm flipV="1">
            <a:off x="2915157" y="2103120"/>
            <a:ext cx="712725" cy="1234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62"/>
          <p:cNvSpPr/>
          <p:nvPr/>
        </p:nvSpPr>
        <p:spPr>
          <a:xfrm>
            <a:off x="2915157" y="3337560"/>
            <a:ext cx="142545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5-chip63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1" name="S05-mark64"/>
          <p:cNvSpPr/>
          <p:nvPr/>
        </p:nvSpPr>
        <p:spPr>
          <a:xfrm>
            <a:off x="8343138" y="2941320"/>
            <a:ext cx="792480" cy="79248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S05-figure65" descr="직각(한 변이 가로)"/>
          <p:cNvSpPr/>
          <p:nvPr/>
        </p:nvSpPr>
        <p:spPr>
          <a:xfrm flipV="1">
            <a:off x="8739378" y="2103120"/>
            <a:ext cx="0" cy="1234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5-mark66"/>
          <p:cNvSpPr/>
          <p:nvPr/>
        </p:nvSpPr>
        <p:spPr>
          <a:xfrm>
            <a:off x="8739378" y="3337560"/>
            <a:ext cx="12344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5-chip67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5" name="S05-mark68"/>
          <p:cNvSpPr/>
          <p:nvPr/>
        </p:nvSpPr>
        <p:spPr>
          <a:xfrm>
            <a:off x="2875279" y="4632960"/>
            <a:ext cx="792480" cy="792480"/>
          </a:xfrm>
          <a:prstGeom prst="pie">
            <a:avLst>
              <a:gd name="adj1" fmla="val 14399956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S05-figure69" descr="넓은 각"/>
          <p:cNvSpPr/>
          <p:nvPr/>
        </p:nvSpPr>
        <p:spPr>
          <a:xfrm flipH="1" flipV="1">
            <a:off x="2558794" y="3794760"/>
            <a:ext cx="712725" cy="1234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5-mark70"/>
          <p:cNvSpPr/>
          <p:nvPr/>
        </p:nvSpPr>
        <p:spPr>
          <a:xfrm>
            <a:off x="3271519" y="5029200"/>
            <a:ext cx="142545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5-chip71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9" name="S05-mark72"/>
          <p:cNvSpPr/>
          <p:nvPr/>
        </p:nvSpPr>
        <p:spPr>
          <a:xfrm>
            <a:off x="8960358" y="4632960"/>
            <a:ext cx="792480" cy="792480"/>
          </a:xfrm>
          <a:prstGeom prst="pie">
            <a:avLst>
              <a:gd name="adj1" fmla="val 13500000"/>
              <a:gd name="adj2" fmla="val 1890000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S05-figure73" descr="직각(두 변이 비스듬함)"/>
          <p:cNvSpPr/>
          <p:nvPr/>
        </p:nvSpPr>
        <p:spPr>
          <a:xfrm flipH="1" flipV="1">
            <a:off x="8122158" y="3794760"/>
            <a:ext cx="1234440" cy="1234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5-mark74"/>
          <p:cNvSpPr/>
          <p:nvPr/>
        </p:nvSpPr>
        <p:spPr>
          <a:xfrm flipV="1">
            <a:off x="9356598" y="3794760"/>
            <a:ext cx="1234440" cy="1234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직각삼각형</a:t>
            </a:r>
            <a:endParaRPr lang="ko-KR" sz="4000" dirty="0"/>
          </a:p>
        </p:txBody>
      </p:sp>
      <p:sp>
        <p:nvSpPr>
          <p:cNvPr id="3" name="S06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각이 직각인 삼각형이에요.</a:t>
            </a:r>
            <a:endParaRPr lang="ko-KR" sz="3000" dirty="0"/>
          </a:p>
        </p:txBody>
      </p:sp>
      <p:sp>
        <p:nvSpPr>
          <p:cNvPr id="4" name="S06-card76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77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직각이 1개 있어요</a:t>
            </a:r>
            <a:endParaRPr lang="ko-KR" sz="3000" dirty="0"/>
          </a:p>
        </p:txBody>
      </p:sp>
      <p:sp>
        <p:nvSpPr>
          <p:cNvPr id="6" name="S06-card78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79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기울어져도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직각이 있으면 직각삼각형</a:t>
            </a:r>
            <a:endParaRPr lang="ko-KR" sz="3000" dirty="0"/>
          </a:p>
        </p:txBody>
      </p:sp>
      <p:sp>
        <p:nvSpPr>
          <p:cNvPr id="8" name="S06-figure80" descr="직각삼각형(직각이 왼쪽 아래)"/>
          <p:cNvSpPr/>
          <p:nvPr/>
        </p:nvSpPr>
        <p:spPr>
          <a:xfrm>
            <a:off x="1869948" y="2373630"/>
            <a:ext cx="2743200" cy="2011680"/>
          </a:xfrm>
          <a:custGeom>
            <a:avLst/>
            <a:gdLst/>
            <a:ahLst/>
            <a:cxnLst/>
            <a:rect l="l" t="t" r="r" b="b"/>
            <a:pathLst>
              <a:path w="2743200" h="2011680">
                <a:moveTo>
                  <a:pt x="0" y="2011680"/>
                </a:moveTo>
                <a:lnTo>
                  <a:pt x="2743200" y="201168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mark81"/>
          <p:cNvSpPr/>
          <p:nvPr/>
        </p:nvSpPr>
        <p:spPr>
          <a:xfrm>
            <a:off x="1869948" y="41567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figure82" descr="기울어진 직각삼각형"/>
          <p:cNvSpPr/>
          <p:nvPr/>
        </p:nvSpPr>
        <p:spPr>
          <a:xfrm>
            <a:off x="7821213" y="2103120"/>
            <a:ext cx="2252382" cy="2552700"/>
          </a:xfrm>
          <a:custGeom>
            <a:avLst/>
            <a:gdLst/>
            <a:ahLst/>
            <a:cxnLst/>
            <a:rect l="l" t="t" r="r" b="b"/>
            <a:pathLst>
              <a:path w="2252382" h="2552700">
                <a:moveTo>
                  <a:pt x="0" y="2552700"/>
                </a:moveTo>
                <a:lnTo>
                  <a:pt x="2252382" y="1801906"/>
                </a:lnTo>
                <a:lnTo>
                  <a:pt x="165174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6-mark83"/>
          <p:cNvSpPr/>
          <p:nvPr/>
        </p:nvSpPr>
        <p:spPr>
          <a:xfrm>
            <a:off x="9784437" y="3688157"/>
            <a:ext cx="216869" cy="289159"/>
          </a:xfrm>
          <a:custGeom>
            <a:avLst/>
            <a:gdLst/>
            <a:ahLst/>
            <a:cxnLst/>
            <a:rect l="l" t="t" r="r" b="b"/>
            <a:pathLst>
              <a:path w="216869" h="289159">
                <a:moveTo>
                  <a:pt x="72290" y="289159"/>
                </a:moveTo>
                <a:lnTo>
                  <a:pt x="0" y="72290"/>
                </a:lnTo>
                <a:lnTo>
                  <a:pt x="216869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직사각형과 정사각형</a:t>
            </a:r>
            <a:endParaRPr lang="ko-KR" sz="4000" dirty="0"/>
          </a:p>
        </p:txBody>
      </p:sp>
      <p:sp>
        <p:nvSpPr>
          <p:cNvPr id="3" name="S07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칸의 길이는 모두 같아요.</a:t>
            </a:r>
            <a:endParaRPr lang="ko-KR" sz="3000" dirty="0"/>
          </a:p>
        </p:txBody>
      </p:sp>
      <p:sp>
        <p:nvSpPr>
          <p:cNvPr id="4" name="S07-mark85"/>
          <p:cNvSpPr/>
          <p:nvPr/>
        </p:nvSpPr>
        <p:spPr>
          <a:xfrm>
            <a:off x="1036320" y="4032533"/>
            <a:ext cx="2193798" cy="1096899"/>
          </a:xfrm>
          <a:custGeom>
            <a:avLst/>
            <a:gdLst/>
            <a:ahLst/>
            <a:cxnLst/>
            <a:rect l="l" t="t" r="r" b="b"/>
            <a:pathLst>
              <a:path w="2193798" h="1096899">
                <a:moveTo>
                  <a:pt x="0" y="1096899"/>
                </a:moveTo>
                <a:lnTo>
                  <a:pt x="2193798" y="1096899"/>
                </a:lnTo>
                <a:lnTo>
                  <a:pt x="21937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7-mark86"/>
          <p:cNvSpPr/>
          <p:nvPr/>
        </p:nvSpPr>
        <p:spPr>
          <a:xfrm>
            <a:off x="3778568" y="3484083"/>
            <a:ext cx="1645348" cy="1645349"/>
          </a:xfrm>
          <a:custGeom>
            <a:avLst/>
            <a:gdLst/>
            <a:ahLst/>
            <a:cxnLst/>
            <a:rect l="l" t="t" r="r" b="b"/>
            <a:pathLst>
              <a:path w="1645348" h="1645349">
                <a:moveTo>
                  <a:pt x="0" y="1645349"/>
                </a:moveTo>
                <a:lnTo>
                  <a:pt x="1645348" y="1645349"/>
                </a:lnTo>
                <a:lnTo>
                  <a:pt x="16453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7-mark87"/>
          <p:cNvSpPr/>
          <p:nvPr/>
        </p:nvSpPr>
        <p:spPr>
          <a:xfrm flipV="1">
            <a:off x="1036320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88"/>
          <p:cNvSpPr/>
          <p:nvPr/>
        </p:nvSpPr>
        <p:spPr>
          <a:xfrm flipV="1">
            <a:off x="1584770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89"/>
          <p:cNvSpPr/>
          <p:nvPr/>
        </p:nvSpPr>
        <p:spPr>
          <a:xfrm flipV="1">
            <a:off x="2133219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90"/>
          <p:cNvSpPr/>
          <p:nvPr/>
        </p:nvSpPr>
        <p:spPr>
          <a:xfrm flipV="1">
            <a:off x="2681669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91"/>
          <p:cNvSpPr/>
          <p:nvPr/>
        </p:nvSpPr>
        <p:spPr>
          <a:xfrm flipV="1">
            <a:off x="3230118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92"/>
          <p:cNvSpPr/>
          <p:nvPr/>
        </p:nvSpPr>
        <p:spPr>
          <a:xfrm flipV="1">
            <a:off x="3778568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93"/>
          <p:cNvSpPr/>
          <p:nvPr/>
        </p:nvSpPr>
        <p:spPr>
          <a:xfrm flipV="1">
            <a:off x="4327017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94"/>
          <p:cNvSpPr/>
          <p:nvPr/>
        </p:nvSpPr>
        <p:spPr>
          <a:xfrm flipV="1">
            <a:off x="4875467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95"/>
          <p:cNvSpPr/>
          <p:nvPr/>
        </p:nvSpPr>
        <p:spPr>
          <a:xfrm flipV="1">
            <a:off x="5423916" y="3100168"/>
            <a:ext cx="0" cy="202926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96"/>
          <p:cNvSpPr/>
          <p:nvPr/>
        </p:nvSpPr>
        <p:spPr>
          <a:xfrm>
            <a:off x="1036320" y="5129432"/>
            <a:ext cx="43875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97"/>
          <p:cNvSpPr/>
          <p:nvPr/>
        </p:nvSpPr>
        <p:spPr>
          <a:xfrm>
            <a:off x="1036320" y="4580982"/>
            <a:ext cx="43875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98"/>
          <p:cNvSpPr/>
          <p:nvPr/>
        </p:nvSpPr>
        <p:spPr>
          <a:xfrm>
            <a:off x="1036320" y="4032533"/>
            <a:ext cx="43875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99"/>
          <p:cNvSpPr/>
          <p:nvPr/>
        </p:nvSpPr>
        <p:spPr>
          <a:xfrm>
            <a:off x="1036320" y="3484083"/>
            <a:ext cx="43875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figure100" descr="모눈 위의 직사각형(가로 4칸, 세로 2칸)과 정사각형(네 변 모두 3칸), 네 각에 모두 직각 표시"/>
          <p:cNvSpPr/>
          <p:nvPr/>
        </p:nvSpPr>
        <p:spPr>
          <a:xfrm>
            <a:off x="1036320" y="4032533"/>
            <a:ext cx="2193798" cy="1096899"/>
          </a:xfrm>
          <a:custGeom>
            <a:avLst/>
            <a:gdLst/>
            <a:ahLst/>
            <a:cxnLst/>
            <a:rect l="l" t="t" r="r" b="b"/>
            <a:pathLst>
              <a:path w="2193798" h="1096899">
                <a:moveTo>
                  <a:pt x="0" y="1096899"/>
                </a:moveTo>
                <a:lnTo>
                  <a:pt x="2193798" y="1096899"/>
                </a:lnTo>
                <a:lnTo>
                  <a:pt x="219379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7-mark101"/>
          <p:cNvSpPr/>
          <p:nvPr/>
        </p:nvSpPr>
        <p:spPr>
          <a:xfrm>
            <a:off x="3778568" y="3484083"/>
            <a:ext cx="1645348" cy="1645349"/>
          </a:xfrm>
          <a:custGeom>
            <a:avLst/>
            <a:gdLst/>
            <a:ahLst/>
            <a:cxnLst/>
            <a:rect l="l" t="t" r="r" b="b"/>
            <a:pathLst>
              <a:path w="1645348" h="1645349">
                <a:moveTo>
                  <a:pt x="0" y="1645349"/>
                </a:moveTo>
                <a:lnTo>
                  <a:pt x="1645348" y="1645349"/>
                </a:lnTo>
                <a:lnTo>
                  <a:pt x="164534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7-mark102"/>
          <p:cNvSpPr/>
          <p:nvPr/>
        </p:nvSpPr>
        <p:spPr>
          <a:xfrm>
            <a:off x="1036320" y="4900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mark103"/>
          <p:cNvSpPr/>
          <p:nvPr/>
        </p:nvSpPr>
        <p:spPr>
          <a:xfrm>
            <a:off x="3001518" y="4900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7-mark104"/>
          <p:cNvSpPr/>
          <p:nvPr/>
        </p:nvSpPr>
        <p:spPr>
          <a:xfrm>
            <a:off x="3001518" y="403253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mark105"/>
          <p:cNvSpPr/>
          <p:nvPr/>
        </p:nvSpPr>
        <p:spPr>
          <a:xfrm>
            <a:off x="1036320" y="403253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7-mark106"/>
          <p:cNvSpPr/>
          <p:nvPr/>
        </p:nvSpPr>
        <p:spPr>
          <a:xfrm>
            <a:off x="3778568" y="4900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mark107"/>
          <p:cNvSpPr/>
          <p:nvPr/>
        </p:nvSpPr>
        <p:spPr>
          <a:xfrm>
            <a:off x="5195316" y="4900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7-mark108"/>
          <p:cNvSpPr/>
          <p:nvPr/>
        </p:nvSpPr>
        <p:spPr>
          <a:xfrm>
            <a:off x="5195316" y="348408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7-mark109"/>
          <p:cNvSpPr/>
          <p:nvPr/>
        </p:nvSpPr>
        <p:spPr>
          <a:xfrm>
            <a:off x="3778568" y="348408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label111"/>
          <p:cNvSpPr txBox="1"/>
          <p:nvPr/>
        </p:nvSpPr>
        <p:spPr>
          <a:xfrm>
            <a:off x="1831467" y="5198012"/>
            <a:ext cx="6035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4칸</a:t>
            </a:r>
            <a:endParaRPr lang="ko-KR" sz="2400" dirty="0"/>
          </a:p>
        </p:txBody>
      </p:sp>
      <p:sp>
        <p:nvSpPr>
          <p:cNvPr id="30" name="S07-label113"/>
          <p:cNvSpPr txBox="1"/>
          <p:nvPr/>
        </p:nvSpPr>
        <p:spPr>
          <a:xfrm>
            <a:off x="323088" y="4390482"/>
            <a:ext cx="6035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2칸</a:t>
            </a:r>
            <a:endParaRPr lang="ko-KR" sz="2400" dirty="0"/>
          </a:p>
        </p:txBody>
      </p:sp>
      <p:sp>
        <p:nvSpPr>
          <p:cNvPr id="31" name="S07-label115"/>
          <p:cNvSpPr txBox="1"/>
          <p:nvPr/>
        </p:nvSpPr>
        <p:spPr>
          <a:xfrm>
            <a:off x="4299490" y="5198012"/>
            <a:ext cx="6035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</a:t>
            </a:r>
            <a:endParaRPr lang="ko-KR" sz="2400" dirty="0"/>
          </a:p>
        </p:txBody>
      </p:sp>
      <p:sp>
        <p:nvSpPr>
          <p:cNvPr id="32" name="S07-label117"/>
          <p:cNvSpPr txBox="1"/>
          <p:nvPr/>
        </p:nvSpPr>
        <p:spPr>
          <a:xfrm>
            <a:off x="5533644" y="4116257"/>
            <a:ext cx="6035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</a:t>
            </a:r>
            <a:endParaRPr lang="ko-KR" sz="2400" dirty="0"/>
          </a:p>
        </p:txBody>
      </p:sp>
      <p:sp>
        <p:nvSpPr>
          <p:cNvPr id="33" name="S07-label119"/>
          <p:cNvSpPr txBox="1"/>
          <p:nvPr/>
        </p:nvSpPr>
        <p:spPr>
          <a:xfrm>
            <a:off x="1480947" y="2909668"/>
            <a:ext cx="1304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2400" dirty="0"/>
          </a:p>
        </p:txBody>
      </p:sp>
      <p:sp>
        <p:nvSpPr>
          <p:cNvPr id="34" name="S07-label121"/>
          <p:cNvSpPr txBox="1"/>
          <p:nvPr/>
        </p:nvSpPr>
        <p:spPr>
          <a:xfrm>
            <a:off x="3948970" y="2909668"/>
            <a:ext cx="1304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400" dirty="0"/>
          </a:p>
        </p:txBody>
      </p:sp>
      <p:sp>
        <p:nvSpPr>
          <p:cNvPr id="35" name="S07-card122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6" name="S07-cardtext123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</a:t>
            </a:r>
            <a:endParaRPr lang="ko-KR" sz="3000" dirty="0"/>
          </a:p>
        </p:txBody>
      </p:sp>
      <p:sp>
        <p:nvSpPr>
          <p:cNvPr id="37" name="S07-card124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8" name="S07-cardtext125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직각, 네 변이 같아요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직사각형을 찾아요</a:t>
            </a:r>
            <a:endParaRPr lang="ko-KR" sz="4000" dirty="0"/>
          </a:p>
        </p:txBody>
      </p:sp>
      <p:sp>
        <p:nvSpPr>
          <p:cNvPr id="3" name="S08-text1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직사각형을 모두 찾아요.</a:t>
            </a:r>
            <a:endParaRPr lang="ko-KR" sz="3000" dirty="0"/>
          </a:p>
        </p:txBody>
      </p:sp>
      <p:sp>
        <p:nvSpPr>
          <p:cNvPr id="4" name="S08-card1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1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직사각형일까요? 왜 그럴까요?</a:t>
            </a:r>
            <a:endParaRPr lang="ko-KR" sz="3000" dirty="0"/>
          </a:p>
        </p:txBody>
      </p:sp>
      <p:sp>
        <p:nvSpPr>
          <p:cNvPr id="6" name="S08-chip129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8-figure130" descr="가로가 긴 사각형(네 각 직각)"/>
          <p:cNvSpPr/>
          <p:nvPr/>
        </p:nvSpPr>
        <p:spPr>
          <a:xfrm>
            <a:off x="2393442" y="2103120"/>
            <a:ext cx="2468880" cy="1234440"/>
          </a:xfrm>
          <a:custGeom>
            <a:avLst/>
            <a:gdLst/>
            <a:ahLst/>
            <a:cxnLst/>
            <a:rect l="l" t="t" r="r" b="b"/>
            <a:pathLst>
              <a:path w="2468880" h="1234440">
                <a:moveTo>
                  <a:pt x="0" y="1234440"/>
                </a:moveTo>
                <a:lnTo>
                  <a:pt x="2468880" y="1234440"/>
                </a:lnTo>
                <a:lnTo>
                  <a:pt x="246888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8-chip13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08-figure132" descr="네 변의 길이가 같은 사각형(네 각 직각)"/>
          <p:cNvSpPr/>
          <p:nvPr/>
        </p:nvSpPr>
        <p:spPr>
          <a:xfrm>
            <a:off x="8739378" y="210312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0" y="1234440"/>
                </a:moveTo>
                <a:lnTo>
                  <a:pt x="1234440" y="1234440"/>
                </a:lnTo>
                <a:lnTo>
                  <a:pt x="1234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8-chip133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08-figure134" descr="기울어진 사각형(평행사변형 모양)"/>
          <p:cNvSpPr/>
          <p:nvPr/>
        </p:nvSpPr>
        <p:spPr>
          <a:xfrm>
            <a:off x="2269998" y="3794760"/>
            <a:ext cx="2715768" cy="1234440"/>
          </a:xfrm>
          <a:custGeom>
            <a:avLst/>
            <a:gdLst/>
            <a:ahLst/>
            <a:cxnLst/>
            <a:rect l="l" t="t" r="r" b="b"/>
            <a:pathLst>
              <a:path w="2715768" h="1234440">
                <a:moveTo>
                  <a:pt x="0" y="1234440"/>
                </a:moveTo>
                <a:lnTo>
                  <a:pt x="2098548" y="1234440"/>
                </a:lnTo>
                <a:lnTo>
                  <a:pt x="2715768" y="0"/>
                </a:lnTo>
                <a:lnTo>
                  <a:pt x="61722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8-chip13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3" name="S08-figure136" descr="직각이 2개뿐인 사각형"/>
          <p:cNvSpPr/>
          <p:nvPr/>
        </p:nvSpPr>
        <p:spPr>
          <a:xfrm>
            <a:off x="8122158" y="3794760"/>
            <a:ext cx="2468880" cy="1234440"/>
          </a:xfrm>
          <a:custGeom>
            <a:avLst/>
            <a:gdLst/>
            <a:ahLst/>
            <a:cxnLst/>
            <a:rect l="l" t="t" r="r" b="b"/>
            <a:pathLst>
              <a:path w="2468880" h="1234440">
                <a:moveTo>
                  <a:pt x="0" y="1234440"/>
                </a:moveTo>
                <a:lnTo>
                  <a:pt x="2468880" y="1234440"/>
                </a:lnTo>
                <a:lnTo>
                  <a:pt x="160477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1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정사각형과 직사각형은 어떤 사이일까요?</a:t>
            </a:r>
            <a:endParaRPr lang="ko-KR" sz="3000" dirty="0"/>
          </a:p>
        </p:txBody>
      </p:sp>
      <p:sp>
        <p:nvSpPr>
          <p:cNvPr id="5" name="S09-card1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9-chip1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9-mark142"/>
          <p:cNvSpPr/>
          <p:nvPr/>
        </p:nvSpPr>
        <p:spPr>
          <a:xfrm>
            <a:off x="2598166" y="3246120"/>
            <a:ext cx="947928" cy="947928"/>
          </a:xfrm>
          <a:custGeom>
            <a:avLst/>
            <a:gdLst/>
            <a:ahLst/>
            <a:cxnLst/>
            <a:rect l="l" t="t" r="r" b="b"/>
            <a:pathLst>
              <a:path w="947928" h="947928">
                <a:moveTo>
                  <a:pt x="0" y="947928"/>
                </a:moveTo>
                <a:lnTo>
                  <a:pt x="947928" y="947928"/>
                </a:lnTo>
                <a:lnTo>
                  <a:pt x="9479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9-mark143"/>
          <p:cNvSpPr/>
          <p:nvPr/>
        </p:nvSpPr>
        <p:spPr>
          <a:xfrm flipV="1">
            <a:off x="2598166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144"/>
          <p:cNvSpPr/>
          <p:nvPr/>
        </p:nvSpPr>
        <p:spPr>
          <a:xfrm flipV="1">
            <a:off x="2914142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145"/>
          <p:cNvSpPr/>
          <p:nvPr/>
        </p:nvSpPr>
        <p:spPr>
          <a:xfrm flipV="1">
            <a:off x="3230118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146"/>
          <p:cNvSpPr/>
          <p:nvPr/>
        </p:nvSpPr>
        <p:spPr>
          <a:xfrm flipV="1">
            <a:off x="3546094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147"/>
          <p:cNvSpPr/>
          <p:nvPr/>
        </p:nvSpPr>
        <p:spPr>
          <a:xfrm flipV="1">
            <a:off x="3862070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148"/>
          <p:cNvSpPr/>
          <p:nvPr/>
        </p:nvSpPr>
        <p:spPr>
          <a:xfrm>
            <a:off x="2598166" y="4194048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149"/>
          <p:cNvSpPr/>
          <p:nvPr/>
        </p:nvSpPr>
        <p:spPr>
          <a:xfrm>
            <a:off x="2598166" y="3878072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150"/>
          <p:cNvSpPr/>
          <p:nvPr/>
        </p:nvSpPr>
        <p:spPr>
          <a:xfrm>
            <a:off x="2598166" y="3562096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mark151"/>
          <p:cNvSpPr/>
          <p:nvPr/>
        </p:nvSpPr>
        <p:spPr>
          <a:xfrm>
            <a:off x="2598166" y="3246120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9-figure152" descr="모눈 위의 정사각형"/>
          <p:cNvSpPr/>
          <p:nvPr/>
        </p:nvSpPr>
        <p:spPr>
          <a:xfrm>
            <a:off x="2598166" y="3246120"/>
            <a:ext cx="947928" cy="947928"/>
          </a:xfrm>
          <a:custGeom>
            <a:avLst/>
            <a:gdLst/>
            <a:ahLst/>
            <a:cxnLst/>
            <a:rect l="l" t="t" r="r" b="b"/>
            <a:pathLst>
              <a:path w="947928" h="947928">
                <a:moveTo>
                  <a:pt x="0" y="947928"/>
                </a:moveTo>
                <a:lnTo>
                  <a:pt x="947928" y="947928"/>
                </a:lnTo>
                <a:lnTo>
                  <a:pt x="94792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9-text153"/>
          <p:cNvSpPr txBox="1"/>
          <p:nvPr/>
        </p:nvSpPr>
        <p:spPr>
          <a:xfrm>
            <a:off x="548640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“정사각형은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직사각형이라고 할 수 있어요.”</a:t>
            </a:r>
            <a:endParaRPr lang="ko-KR" sz="2400" dirty="0"/>
          </a:p>
        </p:txBody>
      </p:sp>
      <p:sp>
        <p:nvSpPr>
          <p:cNvPr id="20" name="S09-chip15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21" name="S09-mark155"/>
          <p:cNvSpPr/>
          <p:nvPr/>
        </p:nvSpPr>
        <p:spPr>
          <a:xfrm>
            <a:off x="8326882" y="3562096"/>
            <a:ext cx="1263904" cy="631952"/>
          </a:xfrm>
          <a:custGeom>
            <a:avLst/>
            <a:gdLst/>
            <a:ahLst/>
            <a:cxnLst/>
            <a:rect l="l" t="t" r="r" b="b"/>
            <a:pathLst>
              <a:path w="1263904" h="631952">
                <a:moveTo>
                  <a:pt x="0" y="631952"/>
                </a:moveTo>
                <a:lnTo>
                  <a:pt x="1263904" y="631952"/>
                </a:lnTo>
                <a:lnTo>
                  <a:pt x="1263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2" name="S09-mark156"/>
          <p:cNvSpPr/>
          <p:nvPr/>
        </p:nvSpPr>
        <p:spPr>
          <a:xfrm flipV="1">
            <a:off x="8326882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9-mark157"/>
          <p:cNvSpPr/>
          <p:nvPr/>
        </p:nvSpPr>
        <p:spPr>
          <a:xfrm flipV="1">
            <a:off x="8642858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9-mark158"/>
          <p:cNvSpPr/>
          <p:nvPr/>
        </p:nvSpPr>
        <p:spPr>
          <a:xfrm flipV="1">
            <a:off x="8958834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9-mark159"/>
          <p:cNvSpPr/>
          <p:nvPr/>
        </p:nvSpPr>
        <p:spPr>
          <a:xfrm flipV="1">
            <a:off x="9274810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9-mark160"/>
          <p:cNvSpPr/>
          <p:nvPr/>
        </p:nvSpPr>
        <p:spPr>
          <a:xfrm flipV="1">
            <a:off x="9590786" y="3246120"/>
            <a:ext cx="0" cy="9479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9-mark161"/>
          <p:cNvSpPr/>
          <p:nvPr/>
        </p:nvSpPr>
        <p:spPr>
          <a:xfrm>
            <a:off x="8326882" y="4194048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9-mark162"/>
          <p:cNvSpPr/>
          <p:nvPr/>
        </p:nvSpPr>
        <p:spPr>
          <a:xfrm>
            <a:off x="8326882" y="3878072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9-mark163"/>
          <p:cNvSpPr/>
          <p:nvPr/>
        </p:nvSpPr>
        <p:spPr>
          <a:xfrm>
            <a:off x="8326882" y="3562096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9-mark164"/>
          <p:cNvSpPr/>
          <p:nvPr/>
        </p:nvSpPr>
        <p:spPr>
          <a:xfrm>
            <a:off x="8326882" y="3246120"/>
            <a:ext cx="12639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9-figure165" descr="모눈 위의 직사각형"/>
          <p:cNvSpPr/>
          <p:nvPr/>
        </p:nvSpPr>
        <p:spPr>
          <a:xfrm>
            <a:off x="8326882" y="3562096"/>
            <a:ext cx="1263904" cy="631952"/>
          </a:xfrm>
          <a:custGeom>
            <a:avLst/>
            <a:gdLst/>
            <a:ahLst/>
            <a:cxnLst/>
            <a:rect l="l" t="t" r="r" b="b"/>
            <a:pathLst>
              <a:path w="1263904" h="631952">
                <a:moveTo>
                  <a:pt x="0" y="631952"/>
                </a:moveTo>
                <a:lnTo>
                  <a:pt x="1263904" y="631952"/>
                </a:lnTo>
                <a:lnTo>
                  <a:pt x="126390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2" name="S09-text166"/>
          <p:cNvSpPr txBox="1"/>
          <p:nvPr/>
        </p:nvSpPr>
        <p:spPr>
          <a:xfrm>
            <a:off x="6277356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“직사각형은 모두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정사각형이라고 할 수 있어요.”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직각인지, ②는 이름을 말해요.</a:t>
            </a:r>
            <a:endParaRPr lang="ko-KR" sz="3000" dirty="0"/>
          </a:p>
        </p:txBody>
      </p:sp>
      <p:sp>
        <p:nvSpPr>
          <p:cNvPr id="4" name="S10-chip168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mark169"/>
          <p:cNvSpPr/>
          <p:nvPr/>
        </p:nvSpPr>
        <p:spPr>
          <a:xfrm>
            <a:off x="2651983" y="2866199"/>
            <a:ext cx="792480" cy="792480"/>
          </a:xfrm>
          <a:prstGeom prst="pie">
            <a:avLst>
              <a:gd name="adj1" fmla="val 18000330"/>
              <a:gd name="adj2" fmla="val 180033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6" name="S10-figure170" descr="기울어진 각"/>
          <p:cNvSpPr/>
          <p:nvPr/>
        </p:nvSpPr>
        <p:spPr>
          <a:xfrm flipV="1">
            <a:off x="3048223" y="2103120"/>
            <a:ext cx="669481" cy="1159319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0-mark171"/>
          <p:cNvSpPr/>
          <p:nvPr/>
        </p:nvSpPr>
        <p:spPr>
          <a:xfrm>
            <a:off x="3048223" y="3262439"/>
            <a:ext cx="1159319" cy="66948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0-chip172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figure173" descr="기울어진 삼각형"/>
          <p:cNvSpPr/>
          <p:nvPr/>
        </p:nvSpPr>
        <p:spPr>
          <a:xfrm>
            <a:off x="8594598" y="2103120"/>
            <a:ext cx="1524000" cy="1828800"/>
          </a:xfrm>
          <a:custGeom>
            <a:avLst/>
            <a:gdLst/>
            <a:ahLst/>
            <a:cxnLst/>
            <a:rect l="l" t="t" r="r" b="b"/>
            <a:pathLst>
              <a:path w="1524000" h="1828800">
                <a:moveTo>
                  <a:pt x="0" y="1828800"/>
                </a:moveTo>
                <a:lnTo>
                  <a:pt x="1524000" y="1066800"/>
                </a:lnTo>
                <a:lnTo>
                  <a:pt x="9906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0-chip17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17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직각, 네 변이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같은 사각형은?</a:t>
            </a:r>
            <a:endParaRPr lang="ko-KR" sz="3000" dirty="0"/>
          </a:p>
        </p:txBody>
      </p:sp>
      <p:sp>
        <p:nvSpPr>
          <p:cNvPr id="12" name="S10-chip17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text17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직사각형에서 직각은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1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직각 본을 돌려 대어 다시 확인하게 하세요.</a:t>
            </a:r>
            <a:endParaRPr lang="ko-KR" sz="3000" dirty="0"/>
          </a:p>
        </p:txBody>
      </p:sp>
      <p:sp>
        <p:nvSpPr>
          <p:cNvPr id="5" name="S11-chip18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181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직각</a:t>
            </a:r>
            <a:endParaRPr lang="ko-KR" sz="3000" dirty="0"/>
          </a:p>
        </p:txBody>
      </p:sp>
      <p:sp>
        <p:nvSpPr>
          <p:cNvPr id="7" name="S11-text182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직각삼각형</a:t>
            </a:r>
            <a:endParaRPr lang="ko-KR" sz="3000" dirty="0"/>
          </a:p>
        </p:txBody>
      </p:sp>
      <p:sp>
        <p:nvSpPr>
          <p:cNvPr id="8" name="S11-text183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정사각형</a:t>
            </a:r>
            <a:endParaRPr lang="ko-KR" sz="3000" dirty="0"/>
          </a:p>
        </p:txBody>
      </p:sp>
      <p:sp>
        <p:nvSpPr>
          <p:cNvPr id="9" name="S11-text184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4개</a:t>
            </a:r>
            <a:endParaRPr lang="ko-KR" sz="3000" dirty="0"/>
          </a:p>
        </p:txBody>
      </p:sp>
      <p:sp>
        <p:nvSpPr>
          <p:cNvPr id="10" name="S11-chip18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1-text18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직각 아님</a:t>
            </a:r>
            <a:endParaRPr lang="ko-KR" sz="3000" dirty="0"/>
          </a:p>
        </p:txBody>
      </p:sp>
      <p:sp>
        <p:nvSpPr>
          <p:cNvPr id="12" name="S11-text18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기울어서 착각</a:t>
            </a:r>
            <a:endParaRPr lang="ko-KR" sz="2400" dirty="0"/>
          </a:p>
        </p:txBody>
      </p:sp>
      <p:sp>
        <p:nvSpPr>
          <p:cNvPr id="13" name="S11-text18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삼각형</a:t>
            </a:r>
            <a:endParaRPr lang="ko-KR" sz="3000" dirty="0"/>
          </a:p>
        </p:txBody>
      </p:sp>
      <p:sp>
        <p:nvSpPr>
          <p:cNvPr id="14" name="S11-text18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직각을 안 찾음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위의 사각형</a:t>
            </a:r>
            <a:endParaRPr lang="ko-KR" sz="4000" dirty="0"/>
          </a:p>
        </p:txBody>
      </p:sp>
      <p:sp>
        <p:nvSpPr>
          <p:cNvPr id="3" name="S12-card1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직사각형과 정사각형을 모두 고르고, 까닭을 말해요.</a:t>
            </a:r>
            <a:endParaRPr lang="ko-KR" sz="3000" dirty="0"/>
          </a:p>
        </p:txBody>
      </p:sp>
      <p:sp>
        <p:nvSpPr>
          <p:cNvPr id="5" name="S12-chip192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mark193"/>
          <p:cNvSpPr/>
          <p:nvPr/>
        </p:nvSpPr>
        <p:spPr>
          <a:xfrm>
            <a:off x="1107295" y="3575304"/>
            <a:ext cx="2336074" cy="934430"/>
          </a:xfrm>
          <a:custGeom>
            <a:avLst/>
            <a:gdLst/>
            <a:ahLst/>
            <a:cxnLst/>
            <a:rect l="l" t="t" r="r" b="b"/>
            <a:pathLst>
              <a:path w="2336074" h="934430">
                <a:moveTo>
                  <a:pt x="0" y="934430"/>
                </a:moveTo>
                <a:lnTo>
                  <a:pt x="2336074" y="934430"/>
                </a:lnTo>
                <a:lnTo>
                  <a:pt x="2336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12-mark194"/>
          <p:cNvSpPr/>
          <p:nvPr/>
        </p:nvSpPr>
        <p:spPr>
          <a:xfrm flipV="1">
            <a:off x="640080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2-mark195"/>
          <p:cNvSpPr/>
          <p:nvPr/>
        </p:nvSpPr>
        <p:spPr>
          <a:xfrm flipV="1">
            <a:off x="1107295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2-mark196"/>
          <p:cNvSpPr/>
          <p:nvPr/>
        </p:nvSpPr>
        <p:spPr>
          <a:xfrm flipV="1">
            <a:off x="1574510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2-mark197"/>
          <p:cNvSpPr/>
          <p:nvPr/>
        </p:nvSpPr>
        <p:spPr>
          <a:xfrm flipV="1">
            <a:off x="2041725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2-mark198"/>
          <p:cNvSpPr/>
          <p:nvPr/>
        </p:nvSpPr>
        <p:spPr>
          <a:xfrm flipV="1">
            <a:off x="2508939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2-mark199"/>
          <p:cNvSpPr/>
          <p:nvPr/>
        </p:nvSpPr>
        <p:spPr>
          <a:xfrm flipV="1">
            <a:off x="2976154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2-mark200"/>
          <p:cNvSpPr/>
          <p:nvPr/>
        </p:nvSpPr>
        <p:spPr>
          <a:xfrm flipV="1">
            <a:off x="3443369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2-mark201"/>
          <p:cNvSpPr/>
          <p:nvPr/>
        </p:nvSpPr>
        <p:spPr>
          <a:xfrm flipV="1">
            <a:off x="3910584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2-mark202"/>
          <p:cNvSpPr/>
          <p:nvPr/>
        </p:nvSpPr>
        <p:spPr>
          <a:xfrm>
            <a:off x="640080" y="497694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2-mark203"/>
          <p:cNvSpPr/>
          <p:nvPr/>
        </p:nvSpPr>
        <p:spPr>
          <a:xfrm>
            <a:off x="640080" y="450973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2-mark204"/>
          <p:cNvSpPr/>
          <p:nvPr/>
        </p:nvSpPr>
        <p:spPr>
          <a:xfrm>
            <a:off x="640080" y="404251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2-mark205"/>
          <p:cNvSpPr/>
          <p:nvPr/>
        </p:nvSpPr>
        <p:spPr>
          <a:xfrm>
            <a:off x="640080" y="357530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2-mark206"/>
          <p:cNvSpPr/>
          <p:nvPr/>
        </p:nvSpPr>
        <p:spPr>
          <a:xfrm>
            <a:off x="640080" y="310808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2-mark207"/>
          <p:cNvSpPr/>
          <p:nvPr/>
        </p:nvSpPr>
        <p:spPr>
          <a:xfrm>
            <a:off x="640080" y="264087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2-mark208"/>
          <p:cNvSpPr/>
          <p:nvPr/>
        </p:nvSpPr>
        <p:spPr>
          <a:xfrm>
            <a:off x="640080" y="217365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2-figure209" descr="모눈 위의 사각형 가: 가로 5칸, 세로 2칸"/>
          <p:cNvSpPr/>
          <p:nvPr/>
        </p:nvSpPr>
        <p:spPr>
          <a:xfrm>
            <a:off x="1107295" y="3575304"/>
            <a:ext cx="2336074" cy="934430"/>
          </a:xfrm>
          <a:custGeom>
            <a:avLst/>
            <a:gdLst/>
            <a:ahLst/>
            <a:cxnLst/>
            <a:rect l="l" t="t" r="r" b="b"/>
            <a:pathLst>
              <a:path w="2336074" h="934430">
                <a:moveTo>
                  <a:pt x="0" y="934430"/>
                </a:moveTo>
                <a:lnTo>
                  <a:pt x="2336074" y="934430"/>
                </a:lnTo>
                <a:lnTo>
                  <a:pt x="233607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12-chip210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4" name="S12-mark211"/>
          <p:cNvSpPr/>
          <p:nvPr/>
        </p:nvSpPr>
        <p:spPr>
          <a:xfrm>
            <a:off x="4926439" y="3108089"/>
            <a:ext cx="1401645" cy="1401645"/>
          </a:xfrm>
          <a:custGeom>
            <a:avLst/>
            <a:gdLst/>
            <a:ahLst/>
            <a:cxnLst/>
            <a:rect l="l" t="t" r="r" b="b"/>
            <a:pathLst>
              <a:path w="1401645" h="1401645">
                <a:moveTo>
                  <a:pt x="0" y="1401645"/>
                </a:moveTo>
                <a:lnTo>
                  <a:pt x="1401645" y="1401645"/>
                </a:lnTo>
                <a:lnTo>
                  <a:pt x="140164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5" name="S12-mark212"/>
          <p:cNvSpPr/>
          <p:nvPr/>
        </p:nvSpPr>
        <p:spPr>
          <a:xfrm flipV="1">
            <a:off x="4459224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2-mark213"/>
          <p:cNvSpPr/>
          <p:nvPr/>
        </p:nvSpPr>
        <p:spPr>
          <a:xfrm flipV="1">
            <a:off x="4926439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2-mark214"/>
          <p:cNvSpPr/>
          <p:nvPr/>
        </p:nvSpPr>
        <p:spPr>
          <a:xfrm flipV="1">
            <a:off x="5393654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2-mark215"/>
          <p:cNvSpPr/>
          <p:nvPr/>
        </p:nvSpPr>
        <p:spPr>
          <a:xfrm flipV="1">
            <a:off x="5860869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2-mark216"/>
          <p:cNvSpPr/>
          <p:nvPr/>
        </p:nvSpPr>
        <p:spPr>
          <a:xfrm flipV="1">
            <a:off x="6328083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2-mark217"/>
          <p:cNvSpPr/>
          <p:nvPr/>
        </p:nvSpPr>
        <p:spPr>
          <a:xfrm flipV="1">
            <a:off x="6795298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2-mark218"/>
          <p:cNvSpPr/>
          <p:nvPr/>
        </p:nvSpPr>
        <p:spPr>
          <a:xfrm flipV="1">
            <a:off x="7262513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2-mark219"/>
          <p:cNvSpPr/>
          <p:nvPr/>
        </p:nvSpPr>
        <p:spPr>
          <a:xfrm flipV="1">
            <a:off x="7729728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2-mark220"/>
          <p:cNvSpPr/>
          <p:nvPr/>
        </p:nvSpPr>
        <p:spPr>
          <a:xfrm>
            <a:off x="4459224" y="497694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2-mark221"/>
          <p:cNvSpPr/>
          <p:nvPr/>
        </p:nvSpPr>
        <p:spPr>
          <a:xfrm>
            <a:off x="4459224" y="450973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2-mark222"/>
          <p:cNvSpPr/>
          <p:nvPr/>
        </p:nvSpPr>
        <p:spPr>
          <a:xfrm>
            <a:off x="4459224" y="404251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2-mark223"/>
          <p:cNvSpPr/>
          <p:nvPr/>
        </p:nvSpPr>
        <p:spPr>
          <a:xfrm>
            <a:off x="4459224" y="357530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2-mark224"/>
          <p:cNvSpPr/>
          <p:nvPr/>
        </p:nvSpPr>
        <p:spPr>
          <a:xfrm>
            <a:off x="4459224" y="310808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2-mark225"/>
          <p:cNvSpPr/>
          <p:nvPr/>
        </p:nvSpPr>
        <p:spPr>
          <a:xfrm>
            <a:off x="4459224" y="264087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2-mark226"/>
          <p:cNvSpPr/>
          <p:nvPr/>
        </p:nvSpPr>
        <p:spPr>
          <a:xfrm>
            <a:off x="4459224" y="217365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2-figure227" descr="모눈 위의 사각형 나: 가로 3칸, 세로 3칸"/>
          <p:cNvSpPr/>
          <p:nvPr/>
        </p:nvSpPr>
        <p:spPr>
          <a:xfrm>
            <a:off x="4926439" y="3108089"/>
            <a:ext cx="1401645" cy="1401645"/>
          </a:xfrm>
          <a:custGeom>
            <a:avLst/>
            <a:gdLst/>
            <a:ahLst/>
            <a:cxnLst/>
            <a:rect l="l" t="t" r="r" b="b"/>
            <a:pathLst>
              <a:path w="1401645" h="1401645">
                <a:moveTo>
                  <a:pt x="0" y="1401645"/>
                </a:moveTo>
                <a:lnTo>
                  <a:pt x="1401645" y="1401645"/>
                </a:lnTo>
                <a:lnTo>
                  <a:pt x="140164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12-chip228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2" name="S12-mark229"/>
          <p:cNvSpPr/>
          <p:nvPr/>
        </p:nvSpPr>
        <p:spPr>
          <a:xfrm>
            <a:off x="8745583" y="2640874"/>
            <a:ext cx="934430" cy="1868859"/>
          </a:xfrm>
          <a:custGeom>
            <a:avLst/>
            <a:gdLst/>
            <a:ahLst/>
            <a:cxnLst/>
            <a:rect l="l" t="t" r="r" b="b"/>
            <a:pathLst>
              <a:path w="934430" h="1868859">
                <a:moveTo>
                  <a:pt x="0" y="1868859"/>
                </a:moveTo>
                <a:lnTo>
                  <a:pt x="934430" y="1868859"/>
                </a:lnTo>
                <a:lnTo>
                  <a:pt x="93443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3" name="S12-mark230"/>
          <p:cNvSpPr/>
          <p:nvPr/>
        </p:nvSpPr>
        <p:spPr>
          <a:xfrm flipV="1">
            <a:off x="8278368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2-mark231"/>
          <p:cNvSpPr/>
          <p:nvPr/>
        </p:nvSpPr>
        <p:spPr>
          <a:xfrm flipV="1">
            <a:off x="8745583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2-mark232"/>
          <p:cNvSpPr/>
          <p:nvPr/>
        </p:nvSpPr>
        <p:spPr>
          <a:xfrm flipV="1">
            <a:off x="9212798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2-mark233"/>
          <p:cNvSpPr/>
          <p:nvPr/>
        </p:nvSpPr>
        <p:spPr>
          <a:xfrm flipV="1">
            <a:off x="9680013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2-mark234"/>
          <p:cNvSpPr/>
          <p:nvPr/>
        </p:nvSpPr>
        <p:spPr>
          <a:xfrm flipV="1">
            <a:off x="10147227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2-mark235"/>
          <p:cNvSpPr/>
          <p:nvPr/>
        </p:nvSpPr>
        <p:spPr>
          <a:xfrm flipV="1">
            <a:off x="10614442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12-mark236"/>
          <p:cNvSpPr/>
          <p:nvPr/>
        </p:nvSpPr>
        <p:spPr>
          <a:xfrm flipV="1">
            <a:off x="11081657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12-mark237"/>
          <p:cNvSpPr/>
          <p:nvPr/>
        </p:nvSpPr>
        <p:spPr>
          <a:xfrm flipV="1">
            <a:off x="11548872" y="2173659"/>
            <a:ext cx="0" cy="28032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12-mark238"/>
          <p:cNvSpPr/>
          <p:nvPr/>
        </p:nvSpPr>
        <p:spPr>
          <a:xfrm>
            <a:off x="8278368" y="497694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12-mark239"/>
          <p:cNvSpPr/>
          <p:nvPr/>
        </p:nvSpPr>
        <p:spPr>
          <a:xfrm>
            <a:off x="8278368" y="450973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12-mark240"/>
          <p:cNvSpPr/>
          <p:nvPr/>
        </p:nvSpPr>
        <p:spPr>
          <a:xfrm>
            <a:off x="8278368" y="404251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4" name="S12-mark241"/>
          <p:cNvSpPr/>
          <p:nvPr/>
        </p:nvSpPr>
        <p:spPr>
          <a:xfrm>
            <a:off x="8278368" y="357530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5" name="S12-mark242"/>
          <p:cNvSpPr/>
          <p:nvPr/>
        </p:nvSpPr>
        <p:spPr>
          <a:xfrm>
            <a:off x="8278368" y="310808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12-mark243"/>
          <p:cNvSpPr/>
          <p:nvPr/>
        </p:nvSpPr>
        <p:spPr>
          <a:xfrm>
            <a:off x="8278368" y="2640874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12-mark244"/>
          <p:cNvSpPr/>
          <p:nvPr/>
        </p:nvSpPr>
        <p:spPr>
          <a:xfrm>
            <a:off x="8278368" y="2173659"/>
            <a:ext cx="327050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12-figure245" descr="모눈 위의 사각형 다: 가로 2칸, 세로 4칸"/>
          <p:cNvSpPr/>
          <p:nvPr/>
        </p:nvSpPr>
        <p:spPr>
          <a:xfrm>
            <a:off x="8745583" y="2640874"/>
            <a:ext cx="934430" cy="1868859"/>
          </a:xfrm>
          <a:custGeom>
            <a:avLst/>
            <a:gdLst/>
            <a:ahLst/>
            <a:cxnLst/>
            <a:rect l="l" t="t" r="r" b="b"/>
            <a:pathLst>
              <a:path w="934430" h="1868859">
                <a:moveTo>
                  <a:pt x="0" y="1868859"/>
                </a:moveTo>
                <a:lnTo>
                  <a:pt x="934430" y="1868859"/>
                </a:lnTo>
                <a:lnTo>
                  <a:pt x="93443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24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4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직각이면 직사각형, 네 변의 길이까지 같으면 정사각형이에요.</a:t>
            </a:r>
            <a:endParaRPr lang="ko-KR" sz="3000" dirty="0"/>
          </a:p>
        </p:txBody>
      </p:sp>
      <p:sp>
        <p:nvSpPr>
          <p:cNvPr id="5" name="S13-chip24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직각 본을 돌려 대어 확인</a:t>
            </a:r>
            <a:endParaRPr lang="ko-KR" sz="2400" dirty="0"/>
          </a:p>
        </p:txBody>
      </p:sp>
      <p:sp>
        <p:nvSpPr>
          <p:cNvPr id="6" name="S13-chip24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기울면 직각이 아니라고 하기</a:t>
            </a:r>
            <a:endParaRPr lang="ko-KR" sz="2400" dirty="0"/>
          </a:p>
        </p:txBody>
      </p:sp>
      <p:sp>
        <p:nvSpPr>
          <p:cNvPr id="7" name="S13-text25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25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 각이 직각인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삼각형은?</a:t>
            </a:r>
            <a:endParaRPr lang="ko-KR" sz="2400" dirty="0"/>
          </a:p>
        </p:txBody>
      </p:sp>
      <p:sp>
        <p:nvSpPr>
          <p:cNvPr id="9" name="S13-text25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정사각형의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 수는?</a:t>
            </a:r>
            <a:endParaRPr lang="ko-KR" sz="2400" dirty="0"/>
          </a:p>
        </p:txBody>
      </p:sp>
      <p:sp>
        <p:nvSpPr>
          <p:cNvPr id="10" name="S13-text25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직사각형은 모두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정사각형일까요?</a:t>
            </a:r>
            <a:endParaRPr lang="ko-KR" sz="2400" dirty="0"/>
          </a:p>
        </p:txBody>
      </p:sp>
      <p:sp>
        <p:nvSpPr>
          <p:cNvPr id="11" name="S13-text25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원의 중심·반지름·지름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각을 다시 봐요</a:t>
            </a:r>
            <a:endParaRPr lang="ko-KR" sz="4000" dirty="0"/>
          </a:p>
        </p:txBody>
      </p:sp>
      <p:sp>
        <p:nvSpPr>
          <p:cNvPr id="3" name="S14-text2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점에서 그은 두 반직선이 각이에요.</a:t>
            </a:r>
            <a:endParaRPr lang="ko-KR" sz="3000" dirty="0"/>
          </a:p>
        </p:txBody>
      </p:sp>
      <p:sp>
        <p:nvSpPr>
          <p:cNvPr id="4" name="S14-mark256"/>
          <p:cNvSpPr/>
          <p:nvPr/>
        </p:nvSpPr>
        <p:spPr>
          <a:xfrm>
            <a:off x="1462278" y="4841900"/>
            <a:ext cx="792480" cy="792480"/>
          </a:xfrm>
          <a:prstGeom prst="pie">
            <a:avLst>
              <a:gd name="adj1" fmla="val 18300554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S14-figure257" descr="각 ㄱㄴㄷ"/>
          <p:cNvSpPr/>
          <p:nvPr/>
        </p:nvSpPr>
        <p:spPr>
          <a:xfrm flipV="1">
            <a:off x="1858518" y="2991460"/>
            <a:ext cx="1573682" cy="224668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4-mark258"/>
          <p:cNvSpPr/>
          <p:nvPr/>
        </p:nvSpPr>
        <p:spPr>
          <a:xfrm>
            <a:off x="1858518" y="523814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4-mark259"/>
          <p:cNvSpPr/>
          <p:nvPr/>
        </p:nvSpPr>
        <p:spPr>
          <a:xfrm>
            <a:off x="3372764" y="29320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mark260"/>
          <p:cNvSpPr/>
          <p:nvPr/>
        </p:nvSpPr>
        <p:spPr>
          <a:xfrm>
            <a:off x="1799082" y="51787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mark261"/>
          <p:cNvSpPr/>
          <p:nvPr/>
        </p:nvSpPr>
        <p:spPr>
          <a:xfrm>
            <a:off x="4542282" y="51787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label263"/>
          <p:cNvSpPr txBox="1"/>
          <p:nvPr/>
        </p:nvSpPr>
        <p:spPr>
          <a:xfrm>
            <a:off x="3367877" y="260124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2400" dirty="0"/>
          </a:p>
        </p:txBody>
      </p:sp>
      <p:sp>
        <p:nvSpPr>
          <p:cNvPr id="11" name="S14-label265"/>
          <p:cNvSpPr txBox="1"/>
          <p:nvPr/>
        </p:nvSpPr>
        <p:spPr>
          <a:xfrm>
            <a:off x="1438004" y="516021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2400" dirty="0"/>
          </a:p>
        </p:txBody>
      </p:sp>
      <p:sp>
        <p:nvSpPr>
          <p:cNvPr id="12" name="S14-label267"/>
          <p:cNvSpPr txBox="1"/>
          <p:nvPr/>
        </p:nvSpPr>
        <p:spPr>
          <a:xfrm>
            <a:off x="4641342" y="504764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2400" dirty="0"/>
          </a:p>
        </p:txBody>
      </p:sp>
      <p:sp>
        <p:nvSpPr>
          <p:cNvPr id="13" name="S14-card268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4-cardtext269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변이 시작하는 점 ㄴ</a:t>
            </a:r>
            <a:endParaRPr lang="ko-KR" sz="3000" dirty="0"/>
          </a:p>
        </p:txBody>
      </p:sp>
      <p:sp>
        <p:nvSpPr>
          <p:cNvPr id="15" name="S14-card270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271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ㄱㄴㄷ(꼭짓점을 가운데)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직각과 직사각형·정사각형</dc:title>
  <dc:subject>KR22-G03-MAT-RIGHT-L01</dc:subject>
  <dc:creator>education-ppt</dc:creator>
  <cp:lastModifiedBy>education-ppt</cp:lastModifiedBy>
  <cp:revision>1</cp:revision>
  <dcterms:created xsi:type="dcterms:W3CDTF">2026-10-26T07:41:50Z</dcterms:created>
  <dcterms:modified xsi:type="dcterms:W3CDTF">2026-10-26T07:41:50Z</dcterms:modified>
</cp:coreProperties>
</file>