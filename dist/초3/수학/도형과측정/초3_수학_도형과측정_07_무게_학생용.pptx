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cf16f50-a38a-20d2-1a8e-0a3b7595a8f3}">
          <p14:sldIdLst>
            <p14:sldId id="256"/>
            <p14:sldId id="257"/>
          </p14:sldIdLst>
        </p14:section>
        <p14:section name="개념" id="{535ef7ba-dcf6-1a5e-9be8-f55763da7f1a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07169f57-ca74-b32c-a536-f88f6fea752d}">
          <p14:sldIdLst>
            <p14:sldId id="262"/>
            <p14:sldId id="263"/>
            <p14:sldId id="266"/>
          </p14:sldIdLst>
        </p14:section>
        <p14:section name="개념" id="{6f9d5f80-52ff-557e-4727-0134a6f47643}">
          <p14:sldIdLst/>
        </p14:section>
        <p14:section name="연습" id="{2a13b3be-a8bc-1e93-4185-5912c0970d02}">
          <p14:sldIdLst/>
        </p14:section>
        <p14:section name="확인" id="{cb144021-2b40-b4e1-3b27-2cb3f6341f08}">
          <p14:sldIdLst>
            <p14:sldId id="267"/>
            <p14:sldId id="268"/>
          </p14:sldIdLst>
        </p14:section>
        <p14:section name="정리" id="{5637b769-f4b7-606d-6ca9-3ff78b162e30}">
          <p14:sldIdLst>
            <p14:sldId id="269"/>
          </p14:sldIdLst>
        </p14:section>
        <p14:section name="보충" id="{23b76304-73b2-8fde-e265-484810d91d6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무게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무게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무게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한 개는 몇 g일까?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둥근 저울: 0부터 2000 g까지, 작은 눈금 한 칸 100 g, 바늘이 300 g을 가리킴"/>
          <p:cNvSpPr/>
          <p:nvPr/>
        </p:nvSpPr>
        <p:spPr>
          <a:xfrm>
            <a:off x="8275320" y="731520"/>
            <a:ext cx="2743200" cy="2743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578340" y="2034540"/>
            <a:ext cx="137160" cy="13716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731520"/>
            <a:ext cx="0" cy="2743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H="1">
            <a:off x="10024110" y="798728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H="1">
            <a:off x="10364541" y="993496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H="1">
            <a:off x="10634472" y="1296894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H="1">
            <a:off x="10807842" y="1679296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H="1">
            <a:off x="10744200" y="2103120"/>
            <a:ext cx="27432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H="1" flipV="1">
            <a:off x="10807842" y="2480310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H="1" flipV="1">
            <a:off x="10634472" y="2820741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H="1" flipV="1">
            <a:off x="10364541" y="3090672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H="1" flipV="1">
            <a:off x="10024110" y="3264042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9646920" y="3200400"/>
            <a:ext cx="0" cy="2743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V="1">
            <a:off x="9223096" y="3264042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8840694" y="3090672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V="1">
            <a:off x="8537296" y="2820741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 flipV="1">
            <a:off x="8342528" y="2480310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8275320" y="2103120"/>
            <a:ext cx="27432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8342528" y="1679296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8537296" y="1296894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8840694" y="993496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9223096" y="798728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 flipV="1">
            <a:off x="9646920" y="1409913"/>
            <a:ext cx="954359" cy="693207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8" name="S01-label26"/>
          <p:cNvSpPr txBox="1"/>
          <p:nvPr/>
        </p:nvSpPr>
        <p:spPr>
          <a:xfrm>
            <a:off x="9491472" y="117195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9" name="S01-label28"/>
          <p:cNvSpPr txBox="1"/>
          <p:nvPr/>
        </p:nvSpPr>
        <p:spPr>
          <a:xfrm>
            <a:off x="10030968" y="1912620"/>
            <a:ext cx="713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2400" dirty="0"/>
          </a:p>
        </p:txBody>
      </p:sp>
      <p:sp>
        <p:nvSpPr>
          <p:cNvPr id="30" name="S01-label30"/>
          <p:cNvSpPr txBox="1"/>
          <p:nvPr/>
        </p:nvSpPr>
        <p:spPr>
          <a:xfrm>
            <a:off x="9189720" y="2653284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31" name="S01-label32"/>
          <p:cNvSpPr txBox="1"/>
          <p:nvPr/>
        </p:nvSpPr>
        <p:spPr>
          <a:xfrm>
            <a:off x="8449056" y="191262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</a:t>
            </a:r>
            <a:endParaRPr lang="ko-KR" sz="2400" dirty="0"/>
          </a:p>
        </p:txBody>
      </p:sp>
      <p:sp>
        <p:nvSpPr>
          <p:cNvPr id="32" name="S01-label34"/>
          <p:cNvSpPr txBox="1"/>
          <p:nvPr/>
        </p:nvSpPr>
        <p:spPr>
          <a:xfrm>
            <a:off x="9323832" y="1528572"/>
            <a:ext cx="6461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</a:t>
            </a:r>
            <a:endParaRPr lang="ko-KR" sz="2400" dirty="0"/>
          </a:p>
        </p:txBody>
      </p:sp>
      <p:sp>
        <p:nvSpPr>
          <p:cNvPr id="33" name="S01-card3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4" name="S01-cardtext3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kg, g, t으로 무게를 나타내고 어림해요.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무게를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300 mL = □ mL</a:t>
            </a:r>
            <a:endParaRPr lang="ko-KR" sz="3400" dirty="0"/>
          </a:p>
        </p:txBody>
      </p:sp>
      <p:sp>
        <p:nvSpPr>
          <p:cNvPr id="5" name="S02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4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양팔 저울이 가 쪽으로 기울었어요. 더 무거운 것은 가와 나 중 어느 것일까요?</a:t>
            </a:r>
            <a:endParaRPr lang="ko-KR" sz="3000" dirty="0"/>
          </a:p>
        </p:txBody>
      </p:sp>
      <p:sp>
        <p:nvSpPr>
          <p:cNvPr id="7" name="S02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4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1200 − 500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kg과 g</a:t>
            </a:r>
            <a:endParaRPr lang="ko-KR" sz="4000" dirty="0"/>
          </a:p>
        </p:txBody>
      </p:sp>
      <p:sp>
        <p:nvSpPr>
          <p:cNvPr id="3" name="S03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무게를 나타내는 단위에는 kg과 g이 있어요.</a:t>
            </a:r>
            <a:endParaRPr lang="ko-KR" sz="3000" dirty="0"/>
          </a:p>
        </p:txBody>
      </p:sp>
      <p:sp>
        <p:nvSpPr>
          <p:cNvPr id="4" name="S03-card4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= 1000 g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1 L의 무게가 약 1 kg이에요.</a:t>
            </a:r>
            <a:endParaRPr lang="ko-KR" sz="3000" dirty="0"/>
          </a:p>
        </p:txBody>
      </p:sp>
      <p:sp>
        <p:nvSpPr>
          <p:cNvPr id="6" name="S03-bigtext46"/>
          <p:cNvSpPr txBox="1"/>
          <p:nvPr/>
        </p:nvSpPr>
        <p:spPr>
          <a:xfrm>
            <a:off x="548640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</a:t>
            </a:r>
            <a:endParaRPr lang="ko-KR" sz="5400" dirty="0"/>
          </a:p>
        </p:txBody>
      </p:sp>
      <p:sp>
        <p:nvSpPr>
          <p:cNvPr id="7" name="S03-label47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킬로그램</a:t>
            </a:r>
            <a:endParaRPr lang="ko-KR" sz="2400" dirty="0"/>
          </a:p>
        </p:txBody>
      </p:sp>
      <p:sp>
        <p:nvSpPr>
          <p:cNvPr id="8" name="S03-bigtext48"/>
          <p:cNvSpPr txBox="1"/>
          <p:nvPr/>
        </p:nvSpPr>
        <p:spPr>
          <a:xfrm>
            <a:off x="6254496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g</a:t>
            </a:r>
            <a:endParaRPr lang="ko-KR" sz="5400" dirty="0"/>
          </a:p>
        </p:txBody>
      </p:sp>
      <p:sp>
        <p:nvSpPr>
          <p:cNvPr id="9" name="S03-label49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그램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저울 눈금 읽기</a:t>
            </a:r>
            <a:endParaRPr lang="ko-KR" sz="4000" dirty="0"/>
          </a:p>
        </p:txBody>
      </p:sp>
      <p:sp>
        <p:nvSpPr>
          <p:cNvPr id="3" name="S04-card5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200 g = 1200 g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킬로그램 200 그램’이라고 읽어요.</a:t>
            </a:r>
            <a:endParaRPr lang="ko-KR" sz="3000" dirty="0"/>
          </a:p>
        </p:txBody>
      </p:sp>
      <p:sp>
        <p:nvSpPr>
          <p:cNvPr id="5" name="S04-figure52" descr="둥근 저울: 0부터 2000 g까지, 500 g마다 숫자, 작은 눈금 한 칸 100 g, 바늘이 1000보다 2칸 더 간 1200 g을 가리킴"/>
          <p:cNvSpPr/>
          <p:nvPr/>
        </p:nvSpPr>
        <p:spPr>
          <a:xfrm>
            <a:off x="1342720" y="1417320"/>
            <a:ext cx="3238500" cy="32385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4-mark53"/>
          <p:cNvSpPr/>
          <p:nvPr/>
        </p:nvSpPr>
        <p:spPr>
          <a:xfrm>
            <a:off x="2881008" y="2955607"/>
            <a:ext cx="161925" cy="16192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mark54"/>
          <p:cNvSpPr/>
          <p:nvPr/>
        </p:nvSpPr>
        <p:spPr>
          <a:xfrm>
            <a:off x="2961970" y="1417320"/>
            <a:ext cx="0" cy="32385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55"/>
          <p:cNvSpPr/>
          <p:nvPr/>
        </p:nvSpPr>
        <p:spPr>
          <a:xfrm flipH="1">
            <a:off x="3407264" y="149666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56"/>
          <p:cNvSpPr/>
          <p:nvPr/>
        </p:nvSpPr>
        <p:spPr>
          <a:xfrm flipH="1">
            <a:off x="3809162" y="1726597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4-mark57"/>
          <p:cNvSpPr/>
          <p:nvPr/>
        </p:nvSpPr>
        <p:spPr>
          <a:xfrm flipH="1">
            <a:off x="4127830" y="2084775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4-mark58"/>
          <p:cNvSpPr/>
          <p:nvPr/>
        </p:nvSpPr>
        <p:spPr>
          <a:xfrm flipH="1">
            <a:off x="4332503" y="2536222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59"/>
          <p:cNvSpPr/>
          <p:nvPr/>
        </p:nvSpPr>
        <p:spPr>
          <a:xfrm flipH="1">
            <a:off x="4257370" y="3036570"/>
            <a:ext cx="32385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4-mark60"/>
          <p:cNvSpPr/>
          <p:nvPr/>
        </p:nvSpPr>
        <p:spPr>
          <a:xfrm flipH="1" flipV="1">
            <a:off x="4332503" y="3481864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4-mark61"/>
          <p:cNvSpPr/>
          <p:nvPr/>
        </p:nvSpPr>
        <p:spPr>
          <a:xfrm flipH="1" flipV="1">
            <a:off x="4127830" y="3883762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4-mark62"/>
          <p:cNvSpPr/>
          <p:nvPr/>
        </p:nvSpPr>
        <p:spPr>
          <a:xfrm flipH="1" flipV="1">
            <a:off x="3809162" y="4202430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4-mark63"/>
          <p:cNvSpPr/>
          <p:nvPr/>
        </p:nvSpPr>
        <p:spPr>
          <a:xfrm flipH="1" flipV="1">
            <a:off x="3407264" y="440710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4-mark64"/>
          <p:cNvSpPr/>
          <p:nvPr/>
        </p:nvSpPr>
        <p:spPr>
          <a:xfrm flipV="1">
            <a:off x="2961970" y="4331970"/>
            <a:ext cx="0" cy="32385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4-mark65"/>
          <p:cNvSpPr/>
          <p:nvPr/>
        </p:nvSpPr>
        <p:spPr>
          <a:xfrm flipV="1">
            <a:off x="2461622" y="440710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4-mark66"/>
          <p:cNvSpPr/>
          <p:nvPr/>
        </p:nvSpPr>
        <p:spPr>
          <a:xfrm flipV="1">
            <a:off x="2010175" y="4202430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4-mark67"/>
          <p:cNvSpPr/>
          <p:nvPr/>
        </p:nvSpPr>
        <p:spPr>
          <a:xfrm flipV="1">
            <a:off x="1651997" y="3883762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4-mark68"/>
          <p:cNvSpPr/>
          <p:nvPr/>
        </p:nvSpPr>
        <p:spPr>
          <a:xfrm flipV="1">
            <a:off x="1422063" y="3481864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4-mark69"/>
          <p:cNvSpPr/>
          <p:nvPr/>
        </p:nvSpPr>
        <p:spPr>
          <a:xfrm>
            <a:off x="1342720" y="3036570"/>
            <a:ext cx="32385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4-mark70"/>
          <p:cNvSpPr/>
          <p:nvPr/>
        </p:nvSpPr>
        <p:spPr>
          <a:xfrm>
            <a:off x="1422063" y="2536222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4-mark71"/>
          <p:cNvSpPr/>
          <p:nvPr/>
        </p:nvSpPr>
        <p:spPr>
          <a:xfrm>
            <a:off x="1651997" y="2084775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4-mark72"/>
          <p:cNvSpPr/>
          <p:nvPr/>
        </p:nvSpPr>
        <p:spPr>
          <a:xfrm>
            <a:off x="2010175" y="1726597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4-mark73"/>
          <p:cNvSpPr/>
          <p:nvPr/>
        </p:nvSpPr>
        <p:spPr>
          <a:xfrm>
            <a:off x="2461622" y="149666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4-mark74"/>
          <p:cNvSpPr/>
          <p:nvPr/>
        </p:nvSpPr>
        <p:spPr>
          <a:xfrm flipH="1">
            <a:off x="2143601" y="3036570"/>
            <a:ext cx="818369" cy="1126674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8" name="S04-label76"/>
          <p:cNvSpPr txBox="1"/>
          <p:nvPr/>
        </p:nvSpPr>
        <p:spPr>
          <a:xfrm>
            <a:off x="2806522" y="197167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9" name="S04-label78"/>
          <p:cNvSpPr txBox="1"/>
          <p:nvPr/>
        </p:nvSpPr>
        <p:spPr>
          <a:xfrm>
            <a:off x="3479749" y="2846070"/>
            <a:ext cx="713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2400" dirty="0"/>
          </a:p>
        </p:txBody>
      </p:sp>
      <p:sp>
        <p:nvSpPr>
          <p:cNvPr id="30" name="S04-label80"/>
          <p:cNvSpPr txBox="1"/>
          <p:nvPr/>
        </p:nvSpPr>
        <p:spPr>
          <a:xfrm>
            <a:off x="2504770" y="3720465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31" name="S04-label82"/>
          <p:cNvSpPr txBox="1"/>
          <p:nvPr/>
        </p:nvSpPr>
        <p:spPr>
          <a:xfrm>
            <a:off x="1630375" y="284607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</a:t>
            </a:r>
            <a:endParaRPr lang="ko-KR" sz="2400" dirty="0"/>
          </a:p>
        </p:txBody>
      </p:sp>
      <p:sp>
        <p:nvSpPr>
          <p:cNvPr id="32" name="S04-label84"/>
          <p:cNvSpPr txBox="1"/>
          <p:nvPr/>
        </p:nvSpPr>
        <p:spPr>
          <a:xfrm>
            <a:off x="2638882" y="2392680"/>
            <a:ext cx="6461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</a:t>
            </a:r>
            <a:endParaRPr lang="ko-KR" sz="2400" dirty="0"/>
          </a:p>
        </p:txBody>
      </p:sp>
      <p:sp>
        <p:nvSpPr>
          <p:cNvPr id="33" name="S04-card85"/>
          <p:cNvSpPr/>
          <p:nvPr/>
        </p:nvSpPr>
        <p:spPr>
          <a:xfrm>
            <a:off x="5741060" y="150495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4-cardtext86"/>
          <p:cNvSpPr txBox="1"/>
          <p:nvPr/>
        </p:nvSpPr>
        <p:spPr>
          <a:xfrm>
            <a:off x="6015380" y="164211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사이는 5칸, 500 g</a:t>
            </a:r>
            <a:endParaRPr lang="ko-KR" sz="3000" dirty="0"/>
          </a:p>
        </p:txBody>
      </p:sp>
      <p:sp>
        <p:nvSpPr>
          <p:cNvPr id="35" name="S04-card87"/>
          <p:cNvSpPr/>
          <p:nvPr/>
        </p:nvSpPr>
        <p:spPr>
          <a:xfrm>
            <a:off x="5741060" y="260223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4-cardtext88"/>
          <p:cNvSpPr txBox="1"/>
          <p:nvPr/>
        </p:nvSpPr>
        <p:spPr>
          <a:xfrm>
            <a:off x="6015380" y="273939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한 칸은 100 g</a:t>
            </a:r>
            <a:endParaRPr lang="ko-KR" sz="3000" dirty="0"/>
          </a:p>
        </p:txBody>
      </p:sp>
      <p:sp>
        <p:nvSpPr>
          <p:cNvPr id="37" name="S04-card89"/>
          <p:cNvSpPr/>
          <p:nvPr/>
        </p:nvSpPr>
        <p:spPr>
          <a:xfrm>
            <a:off x="5741060" y="369951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8" name="S04-cardtext90"/>
          <p:cNvSpPr txBox="1"/>
          <p:nvPr/>
        </p:nvSpPr>
        <p:spPr>
          <a:xfrm>
            <a:off x="6015380" y="383667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1000보다 2칸 더 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무거운 무게, t</a:t>
            </a:r>
            <a:endParaRPr lang="ko-KR" sz="4000" dirty="0"/>
          </a:p>
        </p:txBody>
      </p:sp>
      <p:sp>
        <p:nvSpPr>
          <p:cNvPr id="3" name="S05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무거운 것은 t으로 나타내요.</a:t>
            </a:r>
            <a:endParaRPr lang="ko-KR" sz="3000" dirty="0"/>
          </a:p>
        </p:txBody>
      </p:sp>
      <p:sp>
        <p:nvSpPr>
          <p:cNvPr id="4" name="S05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kg을 1 t이라 하고 ‘1 톤’이라고 읽어요.</a:t>
            </a:r>
            <a:endParaRPr lang="ko-KR" sz="3000" dirty="0"/>
          </a:p>
        </p:txBody>
      </p:sp>
      <p:sp>
        <p:nvSpPr>
          <p:cNvPr id="6" name="S05-bigtext94"/>
          <p:cNvSpPr txBox="1"/>
          <p:nvPr/>
        </p:nvSpPr>
        <p:spPr>
          <a:xfrm>
            <a:off x="548640" y="2011680"/>
            <a:ext cx="536295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t</a:t>
            </a:r>
            <a:endParaRPr lang="ko-KR" sz="5400" dirty="0"/>
          </a:p>
        </p:txBody>
      </p:sp>
      <p:sp>
        <p:nvSpPr>
          <p:cNvPr id="7" name="S05-label95"/>
          <p:cNvSpPr txBox="1"/>
          <p:nvPr/>
        </p:nvSpPr>
        <p:spPr>
          <a:xfrm>
            <a:off x="548640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톤</a:t>
            </a:r>
            <a:endParaRPr lang="ko-KR" sz="2400" dirty="0"/>
          </a:p>
        </p:txBody>
      </p:sp>
      <p:sp>
        <p:nvSpPr>
          <p:cNvPr id="8" name="S05-card96"/>
          <p:cNvSpPr/>
          <p:nvPr/>
        </p:nvSpPr>
        <p:spPr>
          <a:xfrm>
            <a:off x="6277356" y="20345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97"/>
          <p:cNvSpPr txBox="1"/>
          <p:nvPr/>
        </p:nvSpPr>
        <p:spPr>
          <a:xfrm>
            <a:off x="6551676" y="21717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t = 1000 kg</a:t>
            </a:r>
            <a:endParaRPr lang="ko-KR" sz="3000" dirty="0"/>
          </a:p>
        </p:txBody>
      </p:sp>
      <p:sp>
        <p:nvSpPr>
          <p:cNvPr id="10" name="S05-card98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99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자동차 한 대가 약 1 t</a:t>
            </a:r>
            <a:endParaRPr lang="ko-KR" sz="3000" dirty="0"/>
          </a:p>
        </p:txBody>
      </p:sp>
      <p:sp>
        <p:nvSpPr>
          <p:cNvPr id="12" name="S05-card100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101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t = 2000 kg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무게를 어림해요</a:t>
            </a:r>
            <a:endParaRPr lang="ko-KR" sz="4000" dirty="0"/>
          </a:p>
        </p:txBody>
      </p:sp>
      <p:sp>
        <p:nvSpPr>
          <p:cNvPr id="3" name="S06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되는 무게를 알면 어림할 수 있어요.</a:t>
            </a:r>
            <a:endParaRPr lang="ko-KR" sz="3000" dirty="0"/>
          </a:p>
        </p:txBody>
      </p:sp>
      <p:sp>
        <p:nvSpPr>
          <p:cNvPr id="4" name="S06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것은 g, 무거운 것은 kg, 아주 무거운 것은 t</a:t>
            </a:r>
            <a:endParaRPr lang="ko-KR" sz="3000" dirty="0"/>
          </a:p>
        </p:txBody>
      </p:sp>
      <p:graphicFrame>
        <p:nvGraphicFramePr>
          <p:cNvPr id="7" name="S06-table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1488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100원짜리 동전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 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 한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300 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우유 1 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 kg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 한 포대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 kg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자동차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 t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바꾸고 어림해요</a:t>
            </a:r>
            <a:endParaRPr lang="ko-KR" sz="4000" dirty="0"/>
          </a:p>
        </p:txBody>
      </p:sp>
      <p:sp>
        <p:nvSpPr>
          <p:cNvPr id="3" name="S07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□에 알맞은 단위(g, kg, t)를 써요.</a:t>
            </a:r>
            <a:endParaRPr lang="ko-KR" sz="3000" dirty="0"/>
          </a:p>
        </p:txBody>
      </p:sp>
      <p:sp>
        <p:nvSpPr>
          <p:cNvPr id="4" name="S07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= 1000 g, 1 t = 1000 kg이에요.</a:t>
            </a:r>
            <a:endParaRPr lang="ko-KR" sz="3000" dirty="0"/>
          </a:p>
        </p:txBody>
      </p:sp>
      <p:sp>
        <p:nvSpPr>
          <p:cNvPr id="6" name="S07-chip10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eqtext11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kg 200 g = □ g</a:t>
            </a:r>
            <a:endParaRPr lang="ko-KR" sz="3000" dirty="0"/>
          </a:p>
        </p:txBody>
      </p:sp>
      <p:sp>
        <p:nvSpPr>
          <p:cNvPr id="8" name="S07-chip11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eqtext11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1050 g = □ kg □ g</a:t>
            </a:r>
            <a:endParaRPr lang="ko-KR" sz="3000" dirty="0"/>
          </a:p>
        </p:txBody>
      </p:sp>
      <p:sp>
        <p:nvSpPr>
          <p:cNvPr id="10" name="S07-chip11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eqtext11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t = □ kg</a:t>
            </a:r>
            <a:endParaRPr lang="ko-KR" sz="3000" dirty="0"/>
          </a:p>
        </p:txBody>
      </p:sp>
      <p:sp>
        <p:nvSpPr>
          <p:cNvPr id="12" name="S07-chip11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11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 한 통: 약 6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kg 50 g은 몇 g일까요?</a:t>
            </a:r>
            <a:endParaRPr lang="ko-KR" sz="3000" dirty="0"/>
          </a:p>
        </p:txBody>
      </p:sp>
      <p:sp>
        <p:nvSpPr>
          <p:cNvPr id="5" name="S08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1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250 g</a:t>
            </a:r>
            <a:endParaRPr lang="ko-KR" sz="2400" dirty="0"/>
          </a:p>
        </p:txBody>
      </p:sp>
      <p:sp>
        <p:nvSpPr>
          <p:cNvPr id="8" name="S08-text1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50을 붙여 썼어요.</a:t>
            </a:r>
            <a:endParaRPr lang="ko-KR" sz="3000" dirty="0"/>
          </a:p>
        </p:txBody>
      </p:sp>
      <p:sp>
        <p:nvSpPr>
          <p:cNvPr id="9" name="S08-chip1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2050 g</a:t>
            </a:r>
            <a:endParaRPr lang="ko-KR" sz="2400" dirty="0"/>
          </a:p>
        </p:txBody>
      </p:sp>
      <p:sp>
        <p:nvSpPr>
          <p:cNvPr id="10" name="S08-text1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 g + 50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2050 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무게의 덧셈</a:t>
            </a:r>
            <a:endParaRPr lang="ko-KR" sz="4000" dirty="0"/>
          </a:p>
        </p:txBody>
      </p:sp>
      <p:sp>
        <p:nvSpPr>
          <p:cNvPr id="3" name="S09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kg 700 g + 1 kg 500 g을 세로로 계산해요.</a:t>
            </a:r>
            <a:endParaRPr lang="ko-KR" sz="3000" dirty="0"/>
          </a:p>
        </p:txBody>
      </p:sp>
      <p:sp>
        <p:nvSpPr>
          <p:cNvPr id="4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g은 1 kg으로 받아올려요.</a:t>
            </a:r>
            <a:endParaRPr lang="ko-KR" sz="3000" dirty="0"/>
          </a:p>
        </p:txBody>
      </p:sp>
      <p:graphicFrame>
        <p:nvGraphicFramePr>
          <p:cNvPr id="10" name="S09-table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129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30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g: 700 + 500 = 1200</a:t>
            </a:r>
            <a:endParaRPr lang="ko-KR" sz="3000" dirty="0"/>
          </a:p>
        </p:txBody>
      </p:sp>
      <p:sp>
        <p:nvSpPr>
          <p:cNvPr id="9" name="S09-stepno131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32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 g = 1 kg 200 g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200을 쓰고 1 kg을 올려요.</a:t>
            </a:r>
            <a:endParaRPr lang="ko-KR" sz="3000" dirty="0"/>
          </a:p>
        </p:txBody>
      </p:sp>
      <p:sp>
        <p:nvSpPr>
          <p:cNvPr id="11" name="S09-stepno133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34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kg: 1 + 2 + 1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무게의 뺄셈</a:t>
            </a:r>
            <a:endParaRPr lang="ko-KR" sz="4000" dirty="0"/>
          </a:p>
        </p:txBody>
      </p:sp>
      <p:sp>
        <p:nvSpPr>
          <p:cNvPr id="3" name="S10-text1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kg 300 g − 1 kg 800 g을 세로로 계산해요.</a:t>
            </a:r>
            <a:endParaRPr lang="ko-KR" sz="3000" dirty="0"/>
          </a:p>
        </p:txBody>
      </p:sp>
      <p:sp>
        <p:nvSpPr>
          <p:cNvPr id="4" name="S10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kg은 1000 g이에요.</a:t>
            </a:r>
            <a:endParaRPr lang="ko-KR" sz="3000" dirty="0"/>
          </a:p>
        </p:txBody>
      </p:sp>
      <p:graphicFrame>
        <p:nvGraphicFramePr>
          <p:cNvPr id="11" name="S10-table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139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140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g: 300에서 800을 뺄 수 없어요.</a:t>
            </a:r>
            <a:endParaRPr lang="ko-KR" sz="3000" dirty="0"/>
          </a:p>
        </p:txBody>
      </p:sp>
      <p:sp>
        <p:nvSpPr>
          <p:cNvPr id="9" name="S10-stepno141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142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kg을 1000 g으로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+ 300 − 800 = 500</a:t>
            </a:r>
            <a:endParaRPr lang="ko-KR" sz="3000" dirty="0"/>
          </a:p>
        </p:txBody>
      </p:sp>
      <p:sp>
        <p:nvSpPr>
          <p:cNvPr id="11" name="S10-stepno143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144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kg: 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11-card1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g이 되면 1 kg으로 올려요.</a:t>
            </a:r>
            <a:endParaRPr lang="ko-KR" sz="3000" dirty="0"/>
          </a:p>
        </p:txBody>
      </p:sp>
      <p:graphicFrame>
        <p:nvGraphicFramePr>
          <p:cNvPr id="12" name="S11-table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kg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148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세로로</a:t>
            </a:r>
            <a:endParaRPr lang="ko-KR" sz="2400" dirty="0"/>
          </a:p>
        </p:txBody>
      </p:sp>
      <p:sp>
        <p:nvSpPr>
          <p:cNvPr id="7" name="S11-chip14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15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400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kg 300 g</a:t>
            </a:r>
            <a:endParaRPr lang="ko-KR" sz="3000" dirty="0"/>
          </a:p>
        </p:txBody>
      </p:sp>
      <p:sp>
        <p:nvSpPr>
          <p:cNvPr id="9" name="S11-chip15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15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kg 600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+ 800 g</a:t>
            </a:r>
            <a:endParaRPr lang="ko-KR" sz="3000" dirty="0"/>
          </a:p>
        </p:txBody>
      </p:sp>
      <p:sp>
        <p:nvSpPr>
          <p:cNvPr id="11" name="S11-chip15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15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kg 200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 kg 700 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세로로 써서 계산해요.</a:t>
            </a:r>
            <a:endParaRPr lang="ko-KR" sz="3000" dirty="0"/>
          </a:p>
        </p:txBody>
      </p:sp>
      <p:sp>
        <p:nvSpPr>
          <p:cNvPr id="4" name="S12-chip1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1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kg 80 g = □ g</a:t>
            </a:r>
            <a:endParaRPr lang="ko-KR" sz="3000" dirty="0"/>
          </a:p>
        </p:txBody>
      </p:sp>
      <p:sp>
        <p:nvSpPr>
          <p:cNvPr id="6" name="S12-chip1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1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t = □ kg</a:t>
            </a:r>
            <a:endParaRPr lang="ko-KR" sz="3000" dirty="0"/>
          </a:p>
        </p:txBody>
      </p:sp>
      <p:sp>
        <p:nvSpPr>
          <p:cNvPr id="8" name="S12-chip1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1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650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kg 550 g</a:t>
            </a:r>
            <a:endParaRPr lang="ko-KR" sz="3000" dirty="0"/>
          </a:p>
        </p:txBody>
      </p:sp>
      <p:sp>
        <p:nvSpPr>
          <p:cNvPr id="10" name="S12-chip1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1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kg 100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 kg 400 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어림은?</a:t>
            </a:r>
            <a:endParaRPr lang="ko-KR" sz="4000" dirty="0"/>
          </a:p>
        </p:txBody>
      </p:sp>
      <p:sp>
        <p:nvSpPr>
          <p:cNvPr id="3" name="S14-text1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한 마리의 무게는?</a:t>
            </a:r>
            <a:endParaRPr lang="ko-KR" sz="3000" dirty="0"/>
          </a:p>
        </p:txBody>
      </p:sp>
      <p:sp>
        <p:nvSpPr>
          <p:cNvPr id="4" name="S14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까닭을 말해요.</a:t>
            </a:r>
            <a:endParaRPr lang="ko-KR" sz="3000" dirty="0"/>
          </a:p>
        </p:txBody>
      </p:sp>
      <p:sp>
        <p:nvSpPr>
          <p:cNvPr id="6" name="S14-chip16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bigtext168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 g</a:t>
            </a:r>
            <a:endParaRPr lang="ko-KR" sz="4400" dirty="0"/>
          </a:p>
        </p:txBody>
      </p:sp>
      <p:sp>
        <p:nvSpPr>
          <p:cNvPr id="8" name="S14-chip16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4-bigtext170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 kg</a:t>
            </a:r>
            <a:endParaRPr lang="ko-KR" sz="4400" dirty="0"/>
          </a:p>
        </p:txBody>
      </p:sp>
      <p:sp>
        <p:nvSpPr>
          <p:cNvPr id="10" name="S14-chip17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4-bigtext172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 t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7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7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= 1000 g, 1 t = 1000 kg이에요. 같은 단위끼리 계산해요.</a:t>
            </a:r>
            <a:endParaRPr lang="ko-KR" sz="3000" dirty="0"/>
          </a:p>
        </p:txBody>
      </p:sp>
      <p:sp>
        <p:nvSpPr>
          <p:cNvPr id="5" name="S15-chip17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1000 g은 1 kg으로 올리기</a:t>
            </a:r>
            <a:endParaRPr lang="ko-KR" sz="2400" dirty="0"/>
          </a:p>
        </p:txBody>
      </p:sp>
      <p:sp>
        <p:nvSpPr>
          <p:cNvPr id="6" name="S15-chip17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 kg 50 g = 250 g</a:t>
            </a:r>
            <a:endParaRPr lang="ko-KR" sz="2400" dirty="0"/>
          </a:p>
        </p:txBody>
      </p:sp>
      <p:sp>
        <p:nvSpPr>
          <p:cNvPr id="7" name="S15-text17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7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 kg 300 g은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g?</a:t>
            </a:r>
            <a:endParaRPr lang="ko-KR" sz="2400" dirty="0"/>
          </a:p>
        </p:txBody>
      </p:sp>
      <p:sp>
        <p:nvSpPr>
          <p:cNvPr id="9" name="S15-text17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 kg 600 g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kg 700 g은?</a:t>
            </a:r>
            <a:endParaRPr lang="ko-KR" sz="2400" dirty="0"/>
          </a:p>
        </p:txBody>
      </p:sp>
      <p:sp>
        <p:nvSpPr>
          <p:cNvPr id="10" name="S15-text18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 t은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kg?</a:t>
            </a:r>
            <a:endParaRPr lang="ko-KR" sz="2400" dirty="0"/>
          </a:p>
        </p:txBody>
      </p:sp>
      <p:sp>
        <p:nvSpPr>
          <p:cNvPr id="11" name="S15-text1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무게 비교하기</a:t>
            </a:r>
            <a:endParaRPr lang="ko-KR" sz="4000" dirty="0"/>
          </a:p>
        </p:txBody>
      </p:sp>
      <p:sp>
        <p:nvSpPr>
          <p:cNvPr id="3" name="S16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양팔 저울에 100원짜리 동전을 올려 비교했어요.</a:t>
            </a:r>
            <a:endParaRPr lang="ko-KR" sz="3000" dirty="0"/>
          </a:p>
        </p:txBody>
      </p:sp>
      <p:sp>
        <p:nvSpPr>
          <p:cNvPr id="4" name="S16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동전이 더 많이 필요한 풀이 더 무거워요.</a:t>
            </a:r>
            <a:endParaRPr lang="ko-KR" sz="3000" dirty="0"/>
          </a:p>
        </p:txBody>
      </p:sp>
      <p:sp>
        <p:nvSpPr>
          <p:cNvPr id="6" name="S16-dot185"/>
          <p:cNvSpPr/>
          <p:nvPr/>
        </p:nvSpPr>
        <p:spPr>
          <a:xfrm>
            <a:off x="20002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6-dot186"/>
          <p:cNvSpPr/>
          <p:nvPr/>
        </p:nvSpPr>
        <p:spPr>
          <a:xfrm>
            <a:off x="26860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6-dot187"/>
          <p:cNvSpPr/>
          <p:nvPr/>
        </p:nvSpPr>
        <p:spPr>
          <a:xfrm>
            <a:off x="33718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6-dot188"/>
          <p:cNvSpPr/>
          <p:nvPr/>
        </p:nvSpPr>
        <p:spPr>
          <a:xfrm>
            <a:off x="40576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6-dot189"/>
          <p:cNvSpPr/>
          <p:nvPr/>
        </p:nvSpPr>
        <p:spPr>
          <a:xfrm>
            <a:off x="20002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6-dot190"/>
          <p:cNvSpPr/>
          <p:nvPr/>
        </p:nvSpPr>
        <p:spPr>
          <a:xfrm>
            <a:off x="26860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6-dot191"/>
          <p:cNvSpPr/>
          <p:nvPr/>
        </p:nvSpPr>
        <p:spPr>
          <a:xfrm>
            <a:off x="33718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6-dot192"/>
          <p:cNvSpPr/>
          <p:nvPr/>
        </p:nvSpPr>
        <p:spPr>
          <a:xfrm>
            <a:off x="40576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6-figure193" descr="점 8개(풀과 무게가 같은 동전 8개)"/>
          <p:cNvSpPr/>
          <p:nvPr/>
        </p:nvSpPr>
        <p:spPr>
          <a:xfrm>
            <a:off x="1869948" y="2638044"/>
            <a:ext cx="27432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6-label194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풀: 동전 8개</a:t>
            </a:r>
            <a:endParaRPr lang="ko-KR" sz="2400" dirty="0"/>
          </a:p>
        </p:txBody>
      </p:sp>
      <p:sp>
        <p:nvSpPr>
          <p:cNvPr id="16" name="S16-dot195"/>
          <p:cNvSpPr/>
          <p:nvPr/>
        </p:nvSpPr>
        <p:spPr>
          <a:xfrm>
            <a:off x="77061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6-dot196"/>
          <p:cNvSpPr/>
          <p:nvPr/>
        </p:nvSpPr>
        <p:spPr>
          <a:xfrm>
            <a:off x="83919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6-dot197"/>
          <p:cNvSpPr/>
          <p:nvPr/>
        </p:nvSpPr>
        <p:spPr>
          <a:xfrm>
            <a:off x="90777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6-dot198"/>
          <p:cNvSpPr/>
          <p:nvPr/>
        </p:nvSpPr>
        <p:spPr>
          <a:xfrm>
            <a:off x="97635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6-dot199"/>
          <p:cNvSpPr/>
          <p:nvPr/>
        </p:nvSpPr>
        <p:spPr>
          <a:xfrm>
            <a:off x="7706106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6-figure200" descr="점 5개(지우개와 무게가 같은 동전 5개)"/>
          <p:cNvSpPr/>
          <p:nvPr/>
        </p:nvSpPr>
        <p:spPr>
          <a:xfrm>
            <a:off x="7575804" y="2638044"/>
            <a:ext cx="27432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16-label201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지우개: 동전 5개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무게</dc:title>
  <dc:subject>KR22-G03-MAT-WEIGHT-L01</dc:subject>
  <dc:creator>education-ppt</dc:creator>
  <cp:lastModifiedBy>education-ppt</cp:lastModifiedBy>
  <cp:revision>1</cp:revision>
  <dcterms:created xsi:type="dcterms:W3CDTF">2026-10-26T07:46:59Z</dcterms:created>
  <dcterms:modified xsi:type="dcterms:W3CDTF">2026-10-26T07:46:59Z</dcterms:modified>
</cp:coreProperties>
</file>