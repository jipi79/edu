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7c2d173-0d6e-0fd6-3da3-795ae07d0133}">
          <p14:sldIdLst>
            <p14:sldId id="256"/>
            <p14:sldId id="257"/>
          </p14:sldIdLst>
        </p14:section>
        <p14:section name="개념" id="{d4837336-2a78-93d0-f91a-b39d14157384}">
          <p14:sldIdLst>
            <p14:sldId id="258"/>
            <p14:sldId id="259"/>
            <p14:sldId id="260"/>
            <p14:sldId id="261"/>
            <p14:sldId id="264"/>
            <p14:sldId id="265"/>
          </p14:sldIdLst>
        </p14:section>
        <p14:section name="연습" id="{53e87246-28e1-d212-26ce-0b501de46717}">
          <p14:sldIdLst>
            <p14:sldId id="262"/>
            <p14:sldId id="263"/>
            <p14:sldId id="266"/>
          </p14:sldIdLst>
        </p14:section>
        <p14:section name="개념" id="{941a3251-02a0-97bf-2d5d-a8ecf3b33844}">
          <p14:sldIdLst/>
        </p14:section>
        <p14:section name="연습" id="{7784e0fb-4957-d171-bd14-c98ab7b65ebf}">
          <p14:sldIdLst/>
        </p14:section>
        <p14:section name="확인" id="{51788c66-58c6-e72b-39b7-712790b2a06a}">
          <p14:sldIdLst>
            <p14:sldId id="267"/>
            <p14:sldId id="268"/>
          </p14:sldIdLst>
        </p14:section>
        <p14:section name="정리" id="{9c0d33c0-558c-1b3d-c5af-ab64306517fc}">
          <p14:sldIdLst>
            <p14:sldId id="269"/>
          </p14:sldIdLst>
        </p14:section>
        <p14:section name="보충" id="{3de6e31b-664d-366f-8e5a-dc9ff748597a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도형과측정 · 7차시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무게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무게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무게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 한 개는 몇 g일까?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둥근 저울: 0부터 2000 g까지, 작은 눈금 한 칸 100 g, 바늘이 300 g을 가리킴"/>
          <p:cNvSpPr/>
          <p:nvPr/>
        </p:nvSpPr>
        <p:spPr>
          <a:xfrm>
            <a:off x="8275320" y="731520"/>
            <a:ext cx="2743200" cy="27432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9578340" y="2034540"/>
            <a:ext cx="137160" cy="13716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9646920" y="731520"/>
            <a:ext cx="0" cy="27432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 flipH="1">
            <a:off x="10024110" y="798728"/>
            <a:ext cx="46634" cy="14346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 flipH="1">
            <a:off x="10364541" y="993496"/>
            <a:ext cx="88605" cy="12207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 flipH="1">
            <a:off x="10634472" y="1296894"/>
            <a:ext cx="122072" cy="8860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 flipH="1">
            <a:off x="10807842" y="1679296"/>
            <a:ext cx="143469" cy="4663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 flipH="1">
            <a:off x="10744200" y="2103120"/>
            <a:ext cx="27432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 flipH="1" flipV="1">
            <a:off x="10807842" y="2480310"/>
            <a:ext cx="143469" cy="4663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 flipH="1" flipV="1">
            <a:off x="10634472" y="2820741"/>
            <a:ext cx="122072" cy="8860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 flipH="1" flipV="1">
            <a:off x="10364541" y="3090672"/>
            <a:ext cx="88605" cy="12207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6" name="S01-mark13"/>
          <p:cNvSpPr/>
          <p:nvPr/>
        </p:nvSpPr>
        <p:spPr>
          <a:xfrm flipH="1" flipV="1">
            <a:off x="10024110" y="3264042"/>
            <a:ext cx="46634" cy="14346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7" name="S01-mark14"/>
          <p:cNvSpPr/>
          <p:nvPr/>
        </p:nvSpPr>
        <p:spPr>
          <a:xfrm flipV="1">
            <a:off x="9646920" y="3200400"/>
            <a:ext cx="0" cy="27432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01-mark15"/>
          <p:cNvSpPr/>
          <p:nvPr/>
        </p:nvSpPr>
        <p:spPr>
          <a:xfrm flipV="1">
            <a:off x="9223096" y="3264042"/>
            <a:ext cx="46634" cy="14346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9" name="S01-mark16"/>
          <p:cNvSpPr/>
          <p:nvPr/>
        </p:nvSpPr>
        <p:spPr>
          <a:xfrm flipV="1">
            <a:off x="8840694" y="3090672"/>
            <a:ext cx="88605" cy="12207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0" name="S01-mark17"/>
          <p:cNvSpPr/>
          <p:nvPr/>
        </p:nvSpPr>
        <p:spPr>
          <a:xfrm flipV="1">
            <a:off x="8537296" y="2820741"/>
            <a:ext cx="122072" cy="8860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1" name="S01-mark18"/>
          <p:cNvSpPr/>
          <p:nvPr/>
        </p:nvSpPr>
        <p:spPr>
          <a:xfrm flipV="1">
            <a:off x="8342528" y="2480310"/>
            <a:ext cx="143469" cy="4663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2" name="S01-mark19"/>
          <p:cNvSpPr/>
          <p:nvPr/>
        </p:nvSpPr>
        <p:spPr>
          <a:xfrm>
            <a:off x="8275320" y="2103120"/>
            <a:ext cx="27432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3" name="S01-mark20"/>
          <p:cNvSpPr/>
          <p:nvPr/>
        </p:nvSpPr>
        <p:spPr>
          <a:xfrm>
            <a:off x="8342528" y="1679296"/>
            <a:ext cx="143469" cy="4663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4" name="S01-mark21"/>
          <p:cNvSpPr/>
          <p:nvPr/>
        </p:nvSpPr>
        <p:spPr>
          <a:xfrm>
            <a:off x="8537296" y="1296894"/>
            <a:ext cx="122072" cy="8860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5" name="S01-mark22"/>
          <p:cNvSpPr/>
          <p:nvPr/>
        </p:nvSpPr>
        <p:spPr>
          <a:xfrm>
            <a:off x="8840694" y="993496"/>
            <a:ext cx="88605" cy="12207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6" name="S01-mark23"/>
          <p:cNvSpPr/>
          <p:nvPr/>
        </p:nvSpPr>
        <p:spPr>
          <a:xfrm>
            <a:off x="9223096" y="798728"/>
            <a:ext cx="46634" cy="14346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7" name="S01-mark24"/>
          <p:cNvSpPr/>
          <p:nvPr/>
        </p:nvSpPr>
        <p:spPr>
          <a:xfrm flipV="1">
            <a:off x="9646920" y="1409913"/>
            <a:ext cx="954359" cy="693207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  <a:tailEnd type="triangle"/>
          </a:ln>
        </p:spPr>
      </p:sp>
      <p:sp>
        <p:nvSpPr>
          <p:cNvPr id="28" name="S01-label26"/>
          <p:cNvSpPr txBox="1"/>
          <p:nvPr/>
        </p:nvSpPr>
        <p:spPr>
          <a:xfrm>
            <a:off x="9545955" y="1275143"/>
            <a:ext cx="201930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100" dirty="0"/>
          </a:p>
        </p:txBody>
      </p:sp>
      <p:sp>
        <p:nvSpPr>
          <p:cNvPr id="29" name="S01-label28"/>
          <p:cNvSpPr txBox="1"/>
          <p:nvPr/>
        </p:nvSpPr>
        <p:spPr>
          <a:xfrm>
            <a:off x="10194417" y="2015807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</a:t>
            </a:r>
            <a:endParaRPr lang="ko-KR" sz="1100" dirty="0"/>
          </a:p>
        </p:txBody>
      </p:sp>
      <p:sp>
        <p:nvSpPr>
          <p:cNvPr id="30" name="S01-label30"/>
          <p:cNvSpPr txBox="1"/>
          <p:nvPr/>
        </p:nvSpPr>
        <p:spPr>
          <a:xfrm>
            <a:off x="9407652" y="2756472"/>
            <a:ext cx="478536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</a:t>
            </a:r>
            <a:endParaRPr lang="ko-KR" sz="1100" dirty="0"/>
          </a:p>
        </p:txBody>
      </p:sp>
      <p:sp>
        <p:nvSpPr>
          <p:cNvPr id="31" name="S01-label32"/>
          <p:cNvSpPr txBox="1"/>
          <p:nvPr/>
        </p:nvSpPr>
        <p:spPr>
          <a:xfrm>
            <a:off x="8666988" y="2015807"/>
            <a:ext cx="478536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1500</a:t>
            </a:r>
            <a:endParaRPr lang="ko-KR" sz="1100" dirty="0"/>
          </a:p>
        </p:txBody>
      </p:sp>
      <p:sp>
        <p:nvSpPr>
          <p:cNvPr id="32" name="S01-label34"/>
          <p:cNvSpPr txBox="1"/>
          <p:nvPr/>
        </p:nvSpPr>
        <p:spPr>
          <a:xfrm>
            <a:off x="9469120" y="1631759"/>
            <a:ext cx="355600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(g)</a:t>
            </a:r>
            <a:endParaRPr lang="ko-KR" sz="1100" dirty="0"/>
          </a:p>
        </p:txBody>
      </p:sp>
      <p:sp>
        <p:nvSpPr>
          <p:cNvPr id="33" name="S01-card35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4" name="S01-cardtext36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kg, g, t으로 무게를 나타내고 어림해요.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무게를 더하고 빼요.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3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3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L 300 mL = □ mL</a:t>
            </a:r>
            <a:endParaRPr lang="ko-KR" sz="3400" dirty="0"/>
          </a:p>
        </p:txBody>
      </p:sp>
      <p:sp>
        <p:nvSpPr>
          <p:cNvPr id="5" name="S02-chip3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4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양팔 저울이 가 쪽으로 기울었어요. 더 무거운 것은 가와 나 중 어느 것일까요?</a:t>
            </a:r>
            <a:endParaRPr lang="ko-KR" sz="3000" dirty="0"/>
          </a:p>
        </p:txBody>
      </p:sp>
      <p:sp>
        <p:nvSpPr>
          <p:cNvPr id="7" name="S02-chip4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4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1200 − 500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kg과 g</a:t>
            </a:r>
            <a:endParaRPr lang="ko-KR" sz="4000" dirty="0"/>
          </a:p>
        </p:txBody>
      </p:sp>
      <p:sp>
        <p:nvSpPr>
          <p:cNvPr id="3" name="S03-text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무게를 나타내는 단위에는 kg과 g이 있어요.</a:t>
            </a:r>
            <a:endParaRPr lang="ko-KR" sz="3000" dirty="0"/>
          </a:p>
        </p:txBody>
      </p:sp>
      <p:sp>
        <p:nvSpPr>
          <p:cNvPr id="4" name="S03-card44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45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 = 1000 g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우유 1 L의 무게가 약 1 kg이에요.</a:t>
            </a:r>
            <a:endParaRPr lang="ko-KR" sz="3000" dirty="0"/>
          </a:p>
        </p:txBody>
      </p:sp>
      <p:sp>
        <p:nvSpPr>
          <p:cNvPr id="6" name="S03-bigtext46"/>
          <p:cNvSpPr txBox="1"/>
          <p:nvPr/>
        </p:nvSpPr>
        <p:spPr>
          <a:xfrm>
            <a:off x="548640" y="2011680"/>
            <a:ext cx="5385816" cy="2250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</a:t>
            </a:r>
            <a:endParaRPr lang="ko-KR" sz="5400" dirty="0"/>
          </a:p>
        </p:txBody>
      </p:sp>
      <p:sp>
        <p:nvSpPr>
          <p:cNvPr id="7" name="S03-label47"/>
          <p:cNvSpPr txBox="1"/>
          <p:nvPr/>
        </p:nvSpPr>
        <p:spPr>
          <a:xfrm>
            <a:off x="548640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킬로그램</a:t>
            </a:r>
            <a:endParaRPr lang="ko-KR" sz="2400" dirty="0"/>
          </a:p>
        </p:txBody>
      </p:sp>
      <p:sp>
        <p:nvSpPr>
          <p:cNvPr id="8" name="S03-bigtext48"/>
          <p:cNvSpPr txBox="1"/>
          <p:nvPr/>
        </p:nvSpPr>
        <p:spPr>
          <a:xfrm>
            <a:off x="6254496" y="2011680"/>
            <a:ext cx="5385816" cy="2250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g</a:t>
            </a:r>
            <a:endParaRPr lang="ko-KR" sz="5400" dirty="0"/>
          </a:p>
        </p:txBody>
      </p:sp>
      <p:sp>
        <p:nvSpPr>
          <p:cNvPr id="9" name="S03-label49"/>
          <p:cNvSpPr txBox="1"/>
          <p:nvPr/>
        </p:nvSpPr>
        <p:spPr>
          <a:xfrm>
            <a:off x="6254496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그램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저울 눈금 읽기</a:t>
            </a:r>
            <a:endParaRPr lang="ko-KR" sz="4000" dirty="0"/>
          </a:p>
        </p:txBody>
      </p:sp>
      <p:sp>
        <p:nvSpPr>
          <p:cNvPr id="3" name="S04-card50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51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 200 g = 1200 g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‘1 킬로그램 200 그램’이라고 읽어요.</a:t>
            </a:r>
            <a:endParaRPr lang="ko-KR" sz="3000" dirty="0"/>
          </a:p>
        </p:txBody>
      </p:sp>
      <p:sp>
        <p:nvSpPr>
          <p:cNvPr id="5" name="S04-figure52" descr="둥근 저울: 0부터 2000 g까지, 500 g마다 숫자, 작은 눈금 한 칸 100 g, 바늘이 1000보다 2칸 더 간 1200 g을 가리킴"/>
          <p:cNvSpPr/>
          <p:nvPr/>
        </p:nvSpPr>
        <p:spPr>
          <a:xfrm>
            <a:off x="1342720" y="1417320"/>
            <a:ext cx="3238500" cy="32385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6" name="S04-mark53"/>
          <p:cNvSpPr/>
          <p:nvPr/>
        </p:nvSpPr>
        <p:spPr>
          <a:xfrm>
            <a:off x="2881008" y="2955607"/>
            <a:ext cx="161925" cy="16192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4-mark54"/>
          <p:cNvSpPr/>
          <p:nvPr/>
        </p:nvSpPr>
        <p:spPr>
          <a:xfrm>
            <a:off x="2961970" y="1417320"/>
            <a:ext cx="0" cy="32385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8" name="S04-mark55"/>
          <p:cNvSpPr/>
          <p:nvPr/>
        </p:nvSpPr>
        <p:spPr>
          <a:xfrm flipH="1">
            <a:off x="3407264" y="1496663"/>
            <a:ext cx="55054" cy="16937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9" name="S04-mark56"/>
          <p:cNvSpPr/>
          <p:nvPr/>
        </p:nvSpPr>
        <p:spPr>
          <a:xfrm flipH="1">
            <a:off x="3809162" y="1726597"/>
            <a:ext cx="104604" cy="14411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0" name="S04-mark57"/>
          <p:cNvSpPr/>
          <p:nvPr/>
        </p:nvSpPr>
        <p:spPr>
          <a:xfrm flipH="1">
            <a:off x="4127830" y="2084775"/>
            <a:ext cx="144113" cy="10460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1" name="S04-mark58"/>
          <p:cNvSpPr/>
          <p:nvPr/>
        </p:nvSpPr>
        <p:spPr>
          <a:xfrm flipH="1">
            <a:off x="4332503" y="2536222"/>
            <a:ext cx="169374" cy="5505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2" name="S04-mark59"/>
          <p:cNvSpPr/>
          <p:nvPr/>
        </p:nvSpPr>
        <p:spPr>
          <a:xfrm flipH="1">
            <a:off x="4257370" y="3036570"/>
            <a:ext cx="32385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3" name="S04-mark60"/>
          <p:cNvSpPr/>
          <p:nvPr/>
        </p:nvSpPr>
        <p:spPr>
          <a:xfrm flipH="1" flipV="1">
            <a:off x="4332503" y="3481864"/>
            <a:ext cx="169374" cy="5505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4" name="S04-mark61"/>
          <p:cNvSpPr/>
          <p:nvPr/>
        </p:nvSpPr>
        <p:spPr>
          <a:xfrm flipH="1" flipV="1">
            <a:off x="4127830" y="3883762"/>
            <a:ext cx="144113" cy="10460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5" name="S04-mark62"/>
          <p:cNvSpPr/>
          <p:nvPr/>
        </p:nvSpPr>
        <p:spPr>
          <a:xfrm flipH="1" flipV="1">
            <a:off x="3809162" y="4202430"/>
            <a:ext cx="104604" cy="14411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6" name="S04-mark63"/>
          <p:cNvSpPr/>
          <p:nvPr/>
        </p:nvSpPr>
        <p:spPr>
          <a:xfrm flipH="1" flipV="1">
            <a:off x="3407264" y="4407103"/>
            <a:ext cx="55054" cy="16937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7" name="S04-mark64"/>
          <p:cNvSpPr/>
          <p:nvPr/>
        </p:nvSpPr>
        <p:spPr>
          <a:xfrm flipV="1">
            <a:off x="2961970" y="4331970"/>
            <a:ext cx="0" cy="32385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04-mark65"/>
          <p:cNvSpPr/>
          <p:nvPr/>
        </p:nvSpPr>
        <p:spPr>
          <a:xfrm flipV="1">
            <a:off x="2461622" y="4407103"/>
            <a:ext cx="55054" cy="16937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9" name="S04-mark66"/>
          <p:cNvSpPr/>
          <p:nvPr/>
        </p:nvSpPr>
        <p:spPr>
          <a:xfrm flipV="1">
            <a:off x="2010175" y="4202430"/>
            <a:ext cx="104604" cy="14411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0" name="S04-mark67"/>
          <p:cNvSpPr/>
          <p:nvPr/>
        </p:nvSpPr>
        <p:spPr>
          <a:xfrm flipV="1">
            <a:off x="1651997" y="3883762"/>
            <a:ext cx="144113" cy="10460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1" name="S04-mark68"/>
          <p:cNvSpPr/>
          <p:nvPr/>
        </p:nvSpPr>
        <p:spPr>
          <a:xfrm flipV="1">
            <a:off x="1422063" y="3481864"/>
            <a:ext cx="169374" cy="5505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2" name="S04-mark69"/>
          <p:cNvSpPr/>
          <p:nvPr/>
        </p:nvSpPr>
        <p:spPr>
          <a:xfrm>
            <a:off x="1342720" y="3036570"/>
            <a:ext cx="32385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3" name="S04-mark70"/>
          <p:cNvSpPr/>
          <p:nvPr/>
        </p:nvSpPr>
        <p:spPr>
          <a:xfrm>
            <a:off x="1422063" y="2536222"/>
            <a:ext cx="169374" cy="5505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4" name="S04-mark71"/>
          <p:cNvSpPr/>
          <p:nvPr/>
        </p:nvSpPr>
        <p:spPr>
          <a:xfrm>
            <a:off x="1651997" y="2084775"/>
            <a:ext cx="144113" cy="10460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5" name="S04-mark72"/>
          <p:cNvSpPr/>
          <p:nvPr/>
        </p:nvSpPr>
        <p:spPr>
          <a:xfrm>
            <a:off x="2010175" y="1726597"/>
            <a:ext cx="104604" cy="14411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6" name="S04-mark73"/>
          <p:cNvSpPr/>
          <p:nvPr/>
        </p:nvSpPr>
        <p:spPr>
          <a:xfrm>
            <a:off x="2461622" y="1496663"/>
            <a:ext cx="55054" cy="16937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7" name="S04-mark74"/>
          <p:cNvSpPr/>
          <p:nvPr/>
        </p:nvSpPr>
        <p:spPr>
          <a:xfrm flipH="1">
            <a:off x="2143601" y="3036570"/>
            <a:ext cx="818369" cy="1126674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  <a:tailEnd type="triangle"/>
          </a:ln>
        </p:spPr>
      </p:sp>
      <p:sp>
        <p:nvSpPr>
          <p:cNvPr id="28" name="S04-label76"/>
          <p:cNvSpPr txBox="1"/>
          <p:nvPr/>
        </p:nvSpPr>
        <p:spPr>
          <a:xfrm>
            <a:off x="2806522" y="197167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29" name="S04-label78"/>
          <p:cNvSpPr txBox="1"/>
          <p:nvPr/>
        </p:nvSpPr>
        <p:spPr>
          <a:xfrm>
            <a:off x="3479749" y="2846070"/>
            <a:ext cx="7132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</a:t>
            </a:r>
            <a:endParaRPr lang="ko-KR" sz="2400" dirty="0"/>
          </a:p>
        </p:txBody>
      </p:sp>
      <p:sp>
        <p:nvSpPr>
          <p:cNvPr id="30" name="S04-label80"/>
          <p:cNvSpPr txBox="1"/>
          <p:nvPr/>
        </p:nvSpPr>
        <p:spPr>
          <a:xfrm>
            <a:off x="2504770" y="3720465"/>
            <a:ext cx="914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</a:t>
            </a:r>
            <a:endParaRPr lang="ko-KR" sz="2400" dirty="0"/>
          </a:p>
        </p:txBody>
      </p:sp>
      <p:sp>
        <p:nvSpPr>
          <p:cNvPr id="31" name="S04-label82"/>
          <p:cNvSpPr txBox="1"/>
          <p:nvPr/>
        </p:nvSpPr>
        <p:spPr>
          <a:xfrm>
            <a:off x="1630375" y="2846070"/>
            <a:ext cx="914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1500</a:t>
            </a:r>
            <a:endParaRPr lang="ko-KR" sz="2400" dirty="0"/>
          </a:p>
        </p:txBody>
      </p:sp>
      <p:sp>
        <p:nvSpPr>
          <p:cNvPr id="32" name="S04-label84"/>
          <p:cNvSpPr txBox="1"/>
          <p:nvPr/>
        </p:nvSpPr>
        <p:spPr>
          <a:xfrm>
            <a:off x="2638882" y="2392680"/>
            <a:ext cx="64617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(g)</a:t>
            </a:r>
            <a:endParaRPr lang="ko-KR" sz="2400" dirty="0"/>
          </a:p>
        </p:txBody>
      </p:sp>
      <p:sp>
        <p:nvSpPr>
          <p:cNvPr id="33" name="S04-card85"/>
          <p:cNvSpPr/>
          <p:nvPr/>
        </p:nvSpPr>
        <p:spPr>
          <a:xfrm>
            <a:off x="5741060" y="1504950"/>
            <a:ext cx="589925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4" name="S04-cardtext86"/>
          <p:cNvSpPr txBox="1"/>
          <p:nvPr/>
        </p:nvSpPr>
        <p:spPr>
          <a:xfrm>
            <a:off x="6015380" y="1642110"/>
            <a:ext cx="5350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사이는 5칸, 500 g</a:t>
            </a:r>
            <a:endParaRPr lang="ko-KR" sz="3000" dirty="0"/>
          </a:p>
        </p:txBody>
      </p:sp>
      <p:sp>
        <p:nvSpPr>
          <p:cNvPr id="35" name="S04-card87"/>
          <p:cNvSpPr/>
          <p:nvPr/>
        </p:nvSpPr>
        <p:spPr>
          <a:xfrm>
            <a:off x="5741060" y="2602230"/>
            <a:ext cx="589925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6" name="S04-cardtext88"/>
          <p:cNvSpPr txBox="1"/>
          <p:nvPr/>
        </p:nvSpPr>
        <p:spPr>
          <a:xfrm>
            <a:off x="6015380" y="2739390"/>
            <a:ext cx="5350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눈금 한 칸은 100 g</a:t>
            </a:r>
            <a:endParaRPr lang="ko-KR" sz="3000" dirty="0"/>
          </a:p>
        </p:txBody>
      </p:sp>
      <p:sp>
        <p:nvSpPr>
          <p:cNvPr id="37" name="S04-card89"/>
          <p:cNvSpPr/>
          <p:nvPr/>
        </p:nvSpPr>
        <p:spPr>
          <a:xfrm>
            <a:off x="5741060" y="3699510"/>
            <a:ext cx="589925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8" name="S04-cardtext90"/>
          <p:cNvSpPr txBox="1"/>
          <p:nvPr/>
        </p:nvSpPr>
        <p:spPr>
          <a:xfrm>
            <a:off x="6015380" y="3836670"/>
            <a:ext cx="5350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1000보다 2칸 더 갔어요.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아주 무거운 무게, t</a:t>
            </a:r>
            <a:endParaRPr lang="ko-KR" sz="4000" dirty="0"/>
          </a:p>
        </p:txBody>
      </p:sp>
      <p:sp>
        <p:nvSpPr>
          <p:cNvPr id="3" name="S05-text9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아주 무거운 것은 t으로 나타내요.</a:t>
            </a:r>
            <a:endParaRPr lang="ko-KR" sz="3000" dirty="0"/>
          </a:p>
        </p:txBody>
      </p:sp>
      <p:sp>
        <p:nvSpPr>
          <p:cNvPr id="4" name="S05-card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 kg을 1 t이라 하고 ‘1 톤’이라고 읽어요.</a:t>
            </a:r>
            <a:endParaRPr lang="ko-KR" sz="3000" dirty="0"/>
          </a:p>
        </p:txBody>
      </p:sp>
      <p:sp>
        <p:nvSpPr>
          <p:cNvPr id="6" name="S05-bigtext94"/>
          <p:cNvSpPr txBox="1"/>
          <p:nvPr/>
        </p:nvSpPr>
        <p:spPr>
          <a:xfrm>
            <a:off x="548640" y="2011680"/>
            <a:ext cx="5362956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t</a:t>
            </a:r>
            <a:endParaRPr lang="ko-KR" sz="5400" dirty="0"/>
          </a:p>
        </p:txBody>
      </p:sp>
      <p:sp>
        <p:nvSpPr>
          <p:cNvPr id="7" name="S05-label95"/>
          <p:cNvSpPr txBox="1"/>
          <p:nvPr/>
        </p:nvSpPr>
        <p:spPr>
          <a:xfrm>
            <a:off x="548640" y="4709160"/>
            <a:ext cx="5362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톤</a:t>
            </a:r>
            <a:endParaRPr lang="ko-KR" sz="2400" dirty="0"/>
          </a:p>
        </p:txBody>
      </p:sp>
      <p:sp>
        <p:nvSpPr>
          <p:cNvPr id="8" name="S05-card96"/>
          <p:cNvSpPr/>
          <p:nvPr/>
        </p:nvSpPr>
        <p:spPr>
          <a:xfrm>
            <a:off x="6277356" y="203454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97"/>
          <p:cNvSpPr txBox="1"/>
          <p:nvPr/>
        </p:nvSpPr>
        <p:spPr>
          <a:xfrm>
            <a:off x="6551676" y="217170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t = 1000 kg</a:t>
            </a:r>
            <a:endParaRPr lang="ko-KR" sz="3000" dirty="0"/>
          </a:p>
        </p:txBody>
      </p:sp>
      <p:sp>
        <p:nvSpPr>
          <p:cNvPr id="10" name="S05-card98"/>
          <p:cNvSpPr/>
          <p:nvPr/>
        </p:nvSpPr>
        <p:spPr>
          <a:xfrm>
            <a:off x="6277356" y="31318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5-cardtext99"/>
          <p:cNvSpPr txBox="1"/>
          <p:nvPr/>
        </p:nvSpPr>
        <p:spPr>
          <a:xfrm>
            <a:off x="6551676" y="32689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자동차 한 대가 약 1 t</a:t>
            </a:r>
            <a:endParaRPr lang="ko-KR" sz="3000" dirty="0"/>
          </a:p>
        </p:txBody>
      </p:sp>
      <p:sp>
        <p:nvSpPr>
          <p:cNvPr id="12" name="S05-card100"/>
          <p:cNvSpPr/>
          <p:nvPr/>
        </p:nvSpPr>
        <p:spPr>
          <a:xfrm>
            <a:off x="6277356" y="422910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05-cardtext101"/>
          <p:cNvSpPr txBox="1"/>
          <p:nvPr/>
        </p:nvSpPr>
        <p:spPr>
          <a:xfrm>
            <a:off x="6551676" y="436626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t = 2000 kg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무게를 어림해요</a:t>
            </a:r>
            <a:endParaRPr lang="ko-KR" sz="4000" dirty="0"/>
          </a:p>
        </p:txBody>
      </p:sp>
      <p:sp>
        <p:nvSpPr>
          <p:cNvPr id="3" name="S06-text1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기준이 되는 무게를 알면 어림할 수 있어요.</a:t>
            </a:r>
            <a:endParaRPr lang="ko-KR" sz="3000" dirty="0"/>
          </a:p>
        </p:txBody>
      </p:sp>
      <p:sp>
        <p:nvSpPr>
          <p:cNvPr id="4" name="S06-card1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가벼운 것은 g, 무거운 것은 kg, 아주 무거운 것은 t</a:t>
            </a:r>
            <a:endParaRPr lang="ko-KR" sz="3000" dirty="0"/>
          </a:p>
        </p:txBody>
      </p:sp>
      <p:graphicFrame>
        <p:nvGraphicFramePr>
          <p:cNvPr id="7" name="S06-table10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436876" y="2148840"/>
          <a:ext cx="731520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29184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100원짜리 동전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5 g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사과 한 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300 g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우유 1 L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 kg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쌀 한 포대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 kg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작은 자동차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 t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바꾸고 어림해요</a:t>
            </a:r>
            <a:endParaRPr lang="ko-KR" sz="4000" dirty="0"/>
          </a:p>
        </p:txBody>
      </p:sp>
      <p:sp>
        <p:nvSpPr>
          <p:cNvPr id="3" name="S07-text10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④는 □에 알맞은 단위(g, kg, t)를 써요.</a:t>
            </a:r>
            <a:endParaRPr lang="ko-KR" sz="3000" dirty="0"/>
          </a:p>
        </p:txBody>
      </p:sp>
      <p:sp>
        <p:nvSpPr>
          <p:cNvPr id="4" name="S07-card10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10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 = 1000 g, 1 t = 1000 kg이에요.</a:t>
            </a:r>
            <a:endParaRPr lang="ko-KR" sz="3000" dirty="0"/>
          </a:p>
        </p:txBody>
      </p:sp>
      <p:sp>
        <p:nvSpPr>
          <p:cNvPr id="6" name="S07-chip10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7-eqtext110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kg 200 g = □ g</a:t>
            </a:r>
            <a:endParaRPr lang="ko-KR" sz="3000" dirty="0"/>
          </a:p>
        </p:txBody>
      </p:sp>
      <p:sp>
        <p:nvSpPr>
          <p:cNvPr id="8" name="S07-chip11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7-eqtext112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1050 g = □ kg □ g</a:t>
            </a:r>
            <a:endParaRPr lang="ko-KR" sz="3000" dirty="0"/>
          </a:p>
        </p:txBody>
      </p:sp>
      <p:sp>
        <p:nvSpPr>
          <p:cNvPr id="10" name="S07-chip113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7-eqtext114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t = □ kg</a:t>
            </a:r>
            <a:endParaRPr lang="ko-KR" sz="3000" dirty="0"/>
          </a:p>
        </p:txBody>
      </p:sp>
      <p:sp>
        <p:nvSpPr>
          <p:cNvPr id="12" name="S07-chip115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7-text116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수박 한 통: 약 6 □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8-card11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1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kg 50 g은 몇 g일까요?</a:t>
            </a:r>
            <a:endParaRPr lang="ko-KR" sz="3000" dirty="0"/>
          </a:p>
        </p:txBody>
      </p:sp>
      <p:sp>
        <p:nvSpPr>
          <p:cNvPr id="5" name="S08-card1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000" dirty="0"/>
          </a:p>
        </p:txBody>
      </p:sp>
      <p:sp>
        <p:nvSpPr>
          <p:cNvPr id="7" name="S08-chip12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250 g</a:t>
            </a:r>
            <a:endParaRPr lang="ko-KR" sz="2400" dirty="0"/>
          </a:p>
        </p:txBody>
      </p:sp>
      <p:sp>
        <p:nvSpPr>
          <p:cNvPr id="8" name="S08-text12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2와 50을 붙여 썼어요.</a:t>
            </a:r>
            <a:endParaRPr lang="ko-KR" sz="3000" dirty="0"/>
          </a:p>
        </p:txBody>
      </p:sp>
      <p:sp>
        <p:nvSpPr>
          <p:cNvPr id="9" name="S08-chip12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2050 g</a:t>
            </a:r>
            <a:endParaRPr lang="ko-KR" sz="2400" dirty="0"/>
          </a:p>
        </p:txBody>
      </p:sp>
      <p:sp>
        <p:nvSpPr>
          <p:cNvPr id="10" name="S08-text12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2000 g + 50 g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2050 g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무게의 덧셈</a:t>
            </a:r>
            <a:endParaRPr lang="ko-KR" sz="4000" dirty="0"/>
          </a:p>
        </p:txBody>
      </p:sp>
      <p:sp>
        <p:nvSpPr>
          <p:cNvPr id="3" name="S09-text1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kg 700 g + 1 kg 500 g을 세로로 계산해요.</a:t>
            </a:r>
            <a:endParaRPr lang="ko-KR" sz="3000" dirty="0"/>
          </a:p>
        </p:txBody>
      </p:sp>
      <p:sp>
        <p:nvSpPr>
          <p:cNvPr id="4" name="S09-card1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1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 g은 1 kg으로 받아올려요.</a:t>
            </a:r>
            <a:endParaRPr lang="ko-KR" sz="3000" dirty="0"/>
          </a:p>
        </p:txBody>
      </p:sp>
      <p:graphicFrame>
        <p:nvGraphicFramePr>
          <p:cNvPr id="10" name="S09-table1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90709" y="2188210"/>
          <a:ext cx="4023360" cy="914400"/>
        </p:xfrm>
        <a:graphic>
          <a:graphicData uri="http://schemas.openxmlformats.org/drawingml/2006/table">
            <a:tbl>
              <a:tblPr/>
              <a:tblGrid>
                <a:gridCol w="1341120"/>
                <a:gridCol w="1341120"/>
                <a:gridCol w="13411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kg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9-stepno129"/>
          <p:cNvSpPr txBox="1"/>
          <p:nvPr/>
        </p:nvSpPr>
        <p:spPr>
          <a:xfrm>
            <a:off x="548640" y="23881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9-text130"/>
          <p:cNvSpPr txBox="1"/>
          <p:nvPr/>
        </p:nvSpPr>
        <p:spPr>
          <a:xfrm>
            <a:off x="1325880" y="2388108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g: 700 + 500 = 1200</a:t>
            </a:r>
            <a:endParaRPr lang="ko-KR" sz="3000" dirty="0"/>
          </a:p>
        </p:txBody>
      </p:sp>
      <p:sp>
        <p:nvSpPr>
          <p:cNvPr id="9" name="S09-stepno131"/>
          <p:cNvSpPr txBox="1"/>
          <p:nvPr/>
        </p:nvSpPr>
        <p:spPr>
          <a:xfrm>
            <a:off x="548640" y="31470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9-text132"/>
          <p:cNvSpPr txBox="1"/>
          <p:nvPr/>
        </p:nvSpPr>
        <p:spPr>
          <a:xfrm>
            <a:off x="1325880" y="3101340"/>
            <a:ext cx="5872825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1200 g = 1 kg 200 g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200을 쓰고 1 kg을 올려요.</a:t>
            </a:r>
            <a:endParaRPr lang="ko-KR" sz="3000" dirty="0"/>
          </a:p>
        </p:txBody>
      </p:sp>
      <p:sp>
        <p:nvSpPr>
          <p:cNvPr id="11" name="S09-stepno133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9-text134"/>
          <p:cNvSpPr txBox="1"/>
          <p:nvPr/>
        </p:nvSpPr>
        <p:spPr>
          <a:xfrm>
            <a:off x="1325880" y="4195572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kg: 1 + 2 + 1 = 4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무게의 뺄셈</a:t>
            </a:r>
            <a:endParaRPr lang="ko-KR" sz="4000" dirty="0"/>
          </a:p>
        </p:txBody>
      </p:sp>
      <p:sp>
        <p:nvSpPr>
          <p:cNvPr id="3" name="S10-text1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kg 300 g − 1 kg 800 g을 세로로 계산해요.</a:t>
            </a:r>
            <a:endParaRPr lang="ko-KR" sz="3000" dirty="0"/>
          </a:p>
        </p:txBody>
      </p:sp>
      <p:sp>
        <p:nvSpPr>
          <p:cNvPr id="4" name="S10-card1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1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받아내린 1 kg은 1000 g이에요.</a:t>
            </a:r>
            <a:endParaRPr lang="ko-KR" sz="3000" dirty="0"/>
          </a:p>
        </p:txBody>
      </p:sp>
      <p:graphicFrame>
        <p:nvGraphicFramePr>
          <p:cNvPr id="11" name="S10-table1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90709" y="2188210"/>
          <a:ext cx="4023360" cy="914400"/>
        </p:xfrm>
        <a:graphic>
          <a:graphicData uri="http://schemas.openxmlformats.org/drawingml/2006/table">
            <a:tbl>
              <a:tblPr/>
              <a:tblGrid>
                <a:gridCol w="1341120"/>
                <a:gridCol w="1341120"/>
                <a:gridCol w="13411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kg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10-stepno139"/>
          <p:cNvSpPr txBox="1"/>
          <p:nvPr/>
        </p:nvSpPr>
        <p:spPr>
          <a:xfrm>
            <a:off x="548640" y="23881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0-text140"/>
          <p:cNvSpPr txBox="1"/>
          <p:nvPr/>
        </p:nvSpPr>
        <p:spPr>
          <a:xfrm>
            <a:off x="1325880" y="2388108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g: 300에서 800을 뺄 수 없어요.</a:t>
            </a:r>
            <a:endParaRPr lang="ko-KR" sz="3000" dirty="0"/>
          </a:p>
        </p:txBody>
      </p:sp>
      <p:sp>
        <p:nvSpPr>
          <p:cNvPr id="9" name="S10-stepno141"/>
          <p:cNvSpPr txBox="1"/>
          <p:nvPr/>
        </p:nvSpPr>
        <p:spPr>
          <a:xfrm>
            <a:off x="548640" y="31470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0-text142"/>
          <p:cNvSpPr txBox="1"/>
          <p:nvPr/>
        </p:nvSpPr>
        <p:spPr>
          <a:xfrm>
            <a:off x="1325880" y="3101340"/>
            <a:ext cx="5872825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kg을 1000 g으로 받아내려요.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 + 300 − 800 = 500</a:t>
            </a:r>
            <a:endParaRPr lang="ko-KR" sz="3000" dirty="0"/>
          </a:p>
        </p:txBody>
      </p:sp>
      <p:sp>
        <p:nvSpPr>
          <p:cNvPr id="11" name="S10-stepno143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0-text144"/>
          <p:cNvSpPr txBox="1"/>
          <p:nvPr/>
        </p:nvSpPr>
        <p:spPr>
          <a:xfrm>
            <a:off x="1325880" y="4195572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kg: 3 − 1 = 2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세로로 계산해요</a:t>
            </a:r>
            <a:endParaRPr lang="ko-KR" sz="4000" dirty="0"/>
          </a:p>
        </p:txBody>
      </p:sp>
      <p:sp>
        <p:nvSpPr>
          <p:cNvPr id="3" name="S11-card1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1-cardtext1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 g이 되면 1 kg으로 올려요.</a:t>
            </a:r>
            <a:endParaRPr lang="ko-KR" sz="3000" dirty="0"/>
          </a:p>
        </p:txBody>
      </p:sp>
      <p:graphicFrame>
        <p:nvGraphicFramePr>
          <p:cNvPr id="12" name="S11-table1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7154" y="1701419"/>
          <a:ext cx="4023360" cy="914400"/>
        </p:xfrm>
        <a:graphic>
          <a:graphicData uri="http://schemas.openxmlformats.org/drawingml/2006/table">
            <a:tbl>
              <a:tblPr/>
              <a:tblGrid>
                <a:gridCol w="1341120"/>
                <a:gridCol w="1341120"/>
                <a:gridCol w="134112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kg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11-label148"/>
          <p:cNvSpPr txBox="1"/>
          <p:nvPr/>
        </p:nvSpPr>
        <p:spPr>
          <a:xfrm>
            <a:off x="6277356" y="4709160"/>
            <a:ext cx="5362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②를 세로로</a:t>
            </a:r>
            <a:endParaRPr lang="ko-KR" sz="2400" dirty="0"/>
          </a:p>
        </p:txBody>
      </p:sp>
      <p:sp>
        <p:nvSpPr>
          <p:cNvPr id="7" name="S11-chip149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8" name="S11-eqtext150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 400 g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+ 2 kg 300 g</a:t>
            </a:r>
            <a:endParaRPr lang="ko-KR" sz="3000" dirty="0"/>
          </a:p>
        </p:txBody>
      </p:sp>
      <p:sp>
        <p:nvSpPr>
          <p:cNvPr id="9" name="S11-chip151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11-eqtext152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kg 600 g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+ 800 g</a:t>
            </a:r>
            <a:endParaRPr lang="ko-KR" sz="3000" dirty="0"/>
          </a:p>
        </p:txBody>
      </p:sp>
      <p:sp>
        <p:nvSpPr>
          <p:cNvPr id="11" name="S11-chip153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2" name="S11-eqtext154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kg 200 g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− 2 kg 700 g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text1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③④는 세로로 써서 계산해요.</a:t>
            </a:r>
            <a:endParaRPr lang="ko-KR" sz="3000" dirty="0"/>
          </a:p>
        </p:txBody>
      </p:sp>
      <p:sp>
        <p:nvSpPr>
          <p:cNvPr id="4" name="S12-chip15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2-eqtext15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kg 80 g = □ g</a:t>
            </a:r>
            <a:endParaRPr lang="ko-KR" sz="3000" dirty="0"/>
          </a:p>
        </p:txBody>
      </p:sp>
      <p:sp>
        <p:nvSpPr>
          <p:cNvPr id="6" name="S12-chip15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2-eqtext15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t = □ kg</a:t>
            </a:r>
            <a:endParaRPr lang="ko-KR" sz="3000" dirty="0"/>
          </a:p>
        </p:txBody>
      </p:sp>
      <p:sp>
        <p:nvSpPr>
          <p:cNvPr id="8" name="S12-chip16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2-eqtext161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 650 g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+ 2 kg 550 g</a:t>
            </a:r>
            <a:endParaRPr lang="ko-KR" sz="3000" dirty="0"/>
          </a:p>
        </p:txBody>
      </p:sp>
      <p:sp>
        <p:nvSpPr>
          <p:cNvPr id="10" name="S12-chip162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2-eqtext163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 kg 100 g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− 3 kg 400 g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어림은?</a:t>
            </a:r>
            <a:endParaRPr lang="ko-KR" sz="4000" dirty="0"/>
          </a:p>
        </p:txBody>
      </p:sp>
      <p:sp>
        <p:nvSpPr>
          <p:cNvPr id="3" name="S14-text1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 한 마리의 무게는?</a:t>
            </a:r>
            <a:endParaRPr lang="ko-KR" sz="3000" dirty="0"/>
          </a:p>
        </p:txBody>
      </p:sp>
      <p:sp>
        <p:nvSpPr>
          <p:cNvPr id="4" name="S14-card1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1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것을 고르고, 까닭을 말해요.</a:t>
            </a:r>
            <a:endParaRPr lang="ko-KR" sz="3000" dirty="0"/>
          </a:p>
        </p:txBody>
      </p:sp>
      <p:sp>
        <p:nvSpPr>
          <p:cNvPr id="6" name="S14-chip167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4-bigtext168"/>
          <p:cNvSpPr txBox="1"/>
          <p:nvPr/>
        </p:nvSpPr>
        <p:spPr>
          <a:xfrm>
            <a:off x="548640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 g</a:t>
            </a:r>
            <a:endParaRPr lang="ko-KR" sz="4400" dirty="0"/>
          </a:p>
        </p:txBody>
      </p:sp>
      <p:sp>
        <p:nvSpPr>
          <p:cNvPr id="8" name="S14-chip169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4-bigtext170"/>
          <p:cNvSpPr txBox="1"/>
          <p:nvPr/>
        </p:nvSpPr>
        <p:spPr>
          <a:xfrm>
            <a:off x="4367784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 kg</a:t>
            </a:r>
            <a:endParaRPr lang="ko-KR" sz="4400" dirty="0"/>
          </a:p>
        </p:txBody>
      </p:sp>
      <p:sp>
        <p:nvSpPr>
          <p:cNvPr id="10" name="S14-chip171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1" name="S14-bigtext172"/>
          <p:cNvSpPr txBox="1"/>
          <p:nvPr/>
        </p:nvSpPr>
        <p:spPr>
          <a:xfrm>
            <a:off x="8186928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 t</a:t>
            </a:r>
            <a:endParaRPr lang="ko-KR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5-card173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174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 = 1000 g, 1 t = 1000 kg이에요. 같은 단위끼리 계산해요.</a:t>
            </a:r>
            <a:endParaRPr lang="ko-KR" sz="3000" dirty="0"/>
          </a:p>
        </p:txBody>
      </p:sp>
      <p:sp>
        <p:nvSpPr>
          <p:cNvPr id="5" name="S15-chip175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1000 g은 1 kg으로 올리기</a:t>
            </a:r>
            <a:endParaRPr lang="ko-KR" sz="2400" dirty="0"/>
          </a:p>
        </p:txBody>
      </p:sp>
      <p:sp>
        <p:nvSpPr>
          <p:cNvPr id="6" name="S15-chip176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2 kg 50 g = 250 g</a:t>
            </a:r>
            <a:endParaRPr lang="ko-KR" sz="2400" dirty="0"/>
          </a:p>
        </p:txBody>
      </p:sp>
      <p:sp>
        <p:nvSpPr>
          <p:cNvPr id="7" name="S15-text177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5-text178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 kg 300 g은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g?</a:t>
            </a:r>
            <a:endParaRPr lang="ko-KR" sz="2400" dirty="0"/>
          </a:p>
        </p:txBody>
      </p:sp>
      <p:sp>
        <p:nvSpPr>
          <p:cNvPr id="9" name="S15-text179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 kg 600 g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+ 1 kg 700 g은?</a:t>
            </a:r>
            <a:endParaRPr lang="ko-KR" sz="2400" dirty="0"/>
          </a:p>
        </p:txBody>
      </p:sp>
      <p:sp>
        <p:nvSpPr>
          <p:cNvPr id="10" name="S15-text180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 t은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kg?</a:t>
            </a:r>
            <a:endParaRPr lang="ko-KR" sz="2400" dirty="0"/>
          </a:p>
        </p:txBody>
      </p:sp>
      <p:sp>
        <p:nvSpPr>
          <p:cNvPr id="11" name="S15-text18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그림그래프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무게 비교하기</a:t>
            </a:r>
            <a:endParaRPr lang="ko-KR" sz="4000" dirty="0"/>
          </a:p>
        </p:txBody>
      </p:sp>
      <p:sp>
        <p:nvSpPr>
          <p:cNvPr id="3" name="S16-text18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양팔 저울에 100원짜리 동전을 올려 비교했어요.</a:t>
            </a:r>
            <a:endParaRPr lang="ko-KR" sz="3000" dirty="0"/>
          </a:p>
        </p:txBody>
      </p:sp>
      <p:sp>
        <p:nvSpPr>
          <p:cNvPr id="4" name="S16-card1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6-cardtext1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동전이 더 많이 필요한 풀이 더 무거워요.</a:t>
            </a:r>
            <a:endParaRPr lang="ko-KR" sz="3000" dirty="0"/>
          </a:p>
        </p:txBody>
      </p:sp>
      <p:sp>
        <p:nvSpPr>
          <p:cNvPr id="6" name="S16-dot185"/>
          <p:cNvSpPr/>
          <p:nvPr/>
        </p:nvSpPr>
        <p:spPr>
          <a:xfrm>
            <a:off x="2000250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6-dot186"/>
          <p:cNvSpPr/>
          <p:nvPr/>
        </p:nvSpPr>
        <p:spPr>
          <a:xfrm>
            <a:off x="2686050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6-dot187"/>
          <p:cNvSpPr/>
          <p:nvPr/>
        </p:nvSpPr>
        <p:spPr>
          <a:xfrm>
            <a:off x="3371850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6-dot188"/>
          <p:cNvSpPr/>
          <p:nvPr/>
        </p:nvSpPr>
        <p:spPr>
          <a:xfrm>
            <a:off x="4057650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6-dot189"/>
          <p:cNvSpPr/>
          <p:nvPr/>
        </p:nvSpPr>
        <p:spPr>
          <a:xfrm>
            <a:off x="2000250" y="34541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6-dot190"/>
          <p:cNvSpPr/>
          <p:nvPr/>
        </p:nvSpPr>
        <p:spPr>
          <a:xfrm>
            <a:off x="2686050" y="34541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6-dot191"/>
          <p:cNvSpPr/>
          <p:nvPr/>
        </p:nvSpPr>
        <p:spPr>
          <a:xfrm>
            <a:off x="3371850" y="34541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6-dot192"/>
          <p:cNvSpPr/>
          <p:nvPr/>
        </p:nvSpPr>
        <p:spPr>
          <a:xfrm>
            <a:off x="4057650" y="34541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6-figure193" descr="점 8개(풀과 무게가 같은 동전 8개)"/>
          <p:cNvSpPr/>
          <p:nvPr/>
        </p:nvSpPr>
        <p:spPr>
          <a:xfrm>
            <a:off x="1869948" y="2638044"/>
            <a:ext cx="27432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16-label194"/>
          <p:cNvSpPr txBox="1"/>
          <p:nvPr/>
        </p:nvSpPr>
        <p:spPr>
          <a:xfrm>
            <a:off x="548640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풀: 동전 8개</a:t>
            </a:r>
            <a:endParaRPr lang="ko-KR" sz="2400" dirty="0"/>
          </a:p>
        </p:txBody>
      </p:sp>
      <p:sp>
        <p:nvSpPr>
          <p:cNvPr id="16" name="S16-dot195"/>
          <p:cNvSpPr/>
          <p:nvPr/>
        </p:nvSpPr>
        <p:spPr>
          <a:xfrm>
            <a:off x="7706106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6-dot196"/>
          <p:cNvSpPr/>
          <p:nvPr/>
        </p:nvSpPr>
        <p:spPr>
          <a:xfrm>
            <a:off x="8391906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6-dot197"/>
          <p:cNvSpPr/>
          <p:nvPr/>
        </p:nvSpPr>
        <p:spPr>
          <a:xfrm>
            <a:off x="9077706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6-dot198"/>
          <p:cNvSpPr/>
          <p:nvPr/>
        </p:nvSpPr>
        <p:spPr>
          <a:xfrm>
            <a:off x="9763506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6-dot199"/>
          <p:cNvSpPr/>
          <p:nvPr/>
        </p:nvSpPr>
        <p:spPr>
          <a:xfrm>
            <a:off x="7706106" y="34541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6-figure200" descr="점 5개(지우개와 무게가 같은 동전 5개)"/>
          <p:cNvSpPr/>
          <p:nvPr/>
        </p:nvSpPr>
        <p:spPr>
          <a:xfrm>
            <a:off x="7575804" y="2638044"/>
            <a:ext cx="27432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16-label201"/>
          <p:cNvSpPr txBox="1"/>
          <p:nvPr/>
        </p:nvSpPr>
        <p:spPr>
          <a:xfrm>
            <a:off x="6254496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지우개: 동전 5개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무게</dc:title>
  <dc:subject>KR22-G03-MAT-WEIGHT-L01</dc:subject>
  <dc:creator>education-ppt</dc:creator>
  <cp:lastModifiedBy>education-ppt</cp:lastModifiedBy>
  <cp:revision>1</cp:revision>
  <dcterms:created xsi:type="dcterms:W3CDTF">2026-10-26T07:55:14Z</dcterms:created>
  <dcterms:modified xsi:type="dcterms:W3CDTF">2026-10-26T07:55:14Z</dcterms:modified>
</cp:coreProperties>
</file>