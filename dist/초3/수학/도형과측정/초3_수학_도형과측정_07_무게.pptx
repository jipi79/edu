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e5f7c22-c29d-66fa-bafc-0d61a7bba784}">
          <p14:sldIdLst>
            <p14:sldId id="256"/>
            <p14:sldId id="257"/>
          </p14:sldIdLst>
        </p14:section>
        <p14:section name="개념" id="{98407232-7612-5f04-84f6-015fb176e2d2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fcbbb922-1d5d-f728-5544-7c9de1d55271}">
          <p14:sldIdLst>
            <p14:sldId id="262"/>
            <p14:sldId id="263"/>
            <p14:sldId id="266"/>
          </p14:sldIdLst>
        </p14:section>
        <p14:section name="개념" id="{6c428c0f-9b84-c080-ffa4-a432142ce730}">
          <p14:sldIdLst/>
        </p14:section>
        <p14:section name="연습" id="{de8f4946-3d86-9208-9eff-9a4eeeab1a83}">
          <p14:sldIdLst/>
        </p14:section>
        <p14:section name="확인" id="{132b0b97-3f75-468f-1af7-4a87a4bd1f6d}">
          <p14:sldIdLst>
            <p14:sldId id="267"/>
            <p14:sldId id="268"/>
            <p14:sldId id="269"/>
          </p14:sldIdLst>
        </p14:section>
        <p14:section name="정리" id="{6513f7cd-e706-c7be-6d7e-731807023e0e}">
          <p14:sldIdLst>
            <p14:sldId id="270"/>
          </p14:sldIdLst>
        </p14:section>
        <p14:section name="보충" id="{cb0b2f92-373c-48cc-5ce7-f9f994c4de4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물건의 무게를 수와 단위로 나타낼 수 있다는 것에 관심을 갖게 합니다.
시간: 약 2분
이렇게 말해 보세요
- “사과 한 개와 우유 한 갑 중 어느 것이 더 무거울까? 얼마나 무거울까?”
- “오른쪽은 둥근 저울이야. 오늘은 무게의 단위 kg, g, t을 배울 거야.”
예상 답
- “우유요.” “잘 모르겠어요.” 어떤 답이든 괜찮습니다.
막히면
- 답을 확인하지 않고 넘어갑니다.
주의
- 주방 저울이 있으면 꺼내 두고, 쌀 포대나 밀가루 봉지처럼 무게가 쓰인 물건을 준비합니다.
- 그림의 바늘은 300 g을 가리킵니다. 사과 한 개는 보통 200~350 g쯤입니다.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확인(들이 바꾸기, 무게 비교, 뺄셈)]
목적: 앞 차시의 1 L = 1000 mL 바꾸기, 초1의 무게 비교, 받아내림이 있는 뺄셈을 확인합니다.
시간: 약 3분
이렇게 말해 보세요
- “① 1 L는 몇 mL였지? 1 L 300 mL는?”
- “② 양팔 저울은 무거운 쪽이 아래로 내려가. 가 쪽으로 기울었으면?”
- “③ 1200 − 500은?”
정답
- ① 1300 mL
- ② 가
- ③ 700
막히면
- ①이 어려우면 앞 차시 ‘들이’(KR22-G03-MAT-LITER-L01)의 S04를 다시 봅니다.
- ②가 어려우면 S16(보충)을 먼저 합니다. 보충으로도 어려우면 초1 ‘무게·넓이·담을 수 있는 양 비교’(KR22-G01-MAT-COMPARE-L01)를 다시 합니다.
주의
- 오늘 배울 1 kg = 1000 g도 1 L = 1000 mL와 같은 1000의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무게의 단위 kg과 g]
목적: 무게의 단위 kg(킬로그램)과 g(그램)을 읽고 쓰며, 1 kg = 1000 g임을 압니다.
시간: 약 3분
이렇게 말해 보세요
- “1 kg은 ‘1 킬로그램’, 1 g은 ‘1 그램’이라고 읽어.”
- “우유가 든 큰 우유갑을 들어 볼래? 그게 약 1 kg이야. 1 kg은 1000 g이야.”
- “100원짜리 동전 하나는 약 5 g이야. 아주 가볍지?”
예상 답
- “1 킬로그램이요.” “1 kg은 1000 g이에요.”
막히면
- kg과 g을 손가락으로 따라 쓰게 합니다. k와 g은 소문자로 씁니다.
주의
- 우유 1 L는 1 kg보다 조금 더 무겁지만 ‘약 1 kg’으로 기억하면 어림에 편리합니다.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저울 눈금 읽기와 몇 kg 몇 g]
목적: 둥근 저울에서 작은 눈금 한 칸의 크기를 먼저 정하고 바늘이 가리키는 무게를 읽으며, ‘몇 kg 몇 g’과 ‘몇 g’으로 나타냅니다.
시간: 약 3분
이렇게 말해 보세요
- “0과 500 사이가 작은 눈금 몇 칸으로 나뉘어 있어? 5칸이니까 한 칸은 100 g이야.”
- “바늘은 1000에서 몇 칸 더 갔어? 그럼 몇 g이야?”
- “1000 g은 1 kg이니까 1200 g은 몇 kg 몇 g일까?”
예상 답
- “2칸이요.” “1200 g이요.” “1 kg 200 g이에요.”
막히면
- 1000부터 바늘까지 “1100, 1200”을 짚으며 셉니다.
- 주방 저울이 있으면 물건을 올려 바늘을 직접 읽어 봅니다.
주의
- 저울마다 한 칸의 크기가 다릅니다. 숫자 사이의 칸 수를 먼저 세는 습관을 들입니다(M2).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 t = 1000 kg]
목적: 아주 무거운 무게를 나타내는 단위 t(톤)을 알고 1 t = 1000 kg임을 압니다.
시간: 약 2분
이렇게 말해 보세요
- “자동차의 무게를 kg으로 나타내면 아주 큰 수가 돼. 그래서 t이라는 단위를 써.”
- “1 t은 1000 kg이야. 2 t은 몇 kg일까?”
예상 답
- “2000 kg이요.”
막히면
- 1 kg = 1000 g처럼 1000씩 커지는 관계라고 말해 줍니다.
주의
- 작은 자동차(경차) 한 대가 약 1 t입니다. 큰 차는 더 무겁습니다.
- 이 차시에서는 t을 kg으로 바꾸는 것만 하고, t이 들어간 덧셈·뺄셈은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무게 어림의 기준]
목적: 생활 속 물건의 무게를 기준으로 삼아 다른 물건의 무게를 어림하고, 알맞은 단위를 고릅니다.
시간: 약 2분
이렇게 말해 보세요
- “동전, 사과, 우유를 차례로 들어 볼까? 어느 것이 가장 무거워?”
- “네 가방은 사과에 가까울까, 쌀 포대에 가까울까?”
예상 답
- “우유가 제일 무거워요.” “가방은 kg으로 나타내요.”
막히면
- 한 손에 우유, 다른 손에 물건을 들고 “더 무거워? 더 가벼워?”를 비교해 어림합니다.
주의
- 쌀 포대는 10 kg, 20 kg 등 여러 가지입니다. 집에 있는 포대에 쓰인 무게를 함께 읽어 봅니다.
- 부피가 크다고 무거운 것은 아닙니다(솜과 돌). 들어 보고 비교합니다(M4).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연습(바꾸기와 어림)]
목적: 도움을 받으며 kg·g·t을 바꾸고, 생활 속 물건의 무게에 알맞은 단위를 고릅니다.
시간: 약 3분
이렇게 말해 보세요
- “① 3 kg은 몇 g이지? 거기에 200 g을 더하면?”
- “② 1050 g에서 1000 g을 떼어 내면 남는 것은?”
- “④ 수박 한 통이 6 g일까, 6 kg일까, 6 t일까?”
정답
- ① 3200 g
- ② 1 kg 50 g
- ③ 2000 kg
- ④ kg(약 6 kg)
막히면
- ②를 1 kg 500 g이라고 하면 1050을 1000과 50으로 가르게 합니다.
- ④는 S06의 표와 비교해 “우유 1 L보다 무거울까?”를 묻습니다.
주의
- 수박은 크기에 따라 다르지만 보통 5~8 kg쯤입니다. ‘kg’을 고르면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비교(kg과 g의 수를 이어 붙이기)]
목적: kg과 g의 수를 이어 붙이는 실수를 찾고 바로잡습니다(M1).
시간: 약 2분
이렇게 말해 보세요
- “토끼와 곰의 답이 달라. 2 kg은 몇 g이지?”
- “250 g은 1 kg보다 무거울까, 가벼울까?”
예상 답
- “곰이요. 2 kg이 2000 g이라서요.”
정답
- 곰이 맞습니다. 2 kg = 2000 g이므로 2 kg 50 g = 2000 g + 50 g = 2050 g입니다.
- 250 g은 1 kg(1000 g)보다도 가벼우므로 2 kg 50 g이 될 수 없습니다.
막히면
- ‘들이’ 차시의 1 L 50 mL = 1050 mL와 같은 문제라고 연결해 줍니다.
주의
- 3 kg 70 g = 3070 g처럼 0이 들어가는 경우는 활동지 1번에서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무게의 덧셈(g에서 받아올림)]
목적: 무게의 덧셈은 kg은 kg끼리, g은 g끼리 더하고, g이 1000을 넘으면 1000 g을 1 kg으로 받아올린다는 것을 보여 줍니다.
시간: 약 3분
이렇게 말해 보세요
- “g끼리 먼저 더해 볼까? 700 + 500은?”
- “1200 g 안에 1000 g이 들어 있지? 1000 g은 1 kg이니까 kg으로 올리고 200 g만 남겨.”
- “kg은 올린 1까지 더해서 1 + 2 + 1 = 4. 4 kg 200 g이야.”
예상 답
- “1200이요.” “4 kg 200 g이에요.”
막히면
- ‘들이’에서 1000 mL를 1 L로 올린 것과 같은 방법이라고 말해 줍니다.
주의
- 3 kg 1200 g으로 쓰면 M3입니다. g은 1000보다 작아야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무게의 뺄셈(kg에서 받아내림)]
목적: g끼리 뺄 수 없으면 1 kg을 1000 g으로 받아내려 계산한다는 것을 보여 줍니다.
시간: 약 3분
이렇게 말해 보세요
- “300 g에서 800 g을 뺄 수 있어? 없으면 4 kg에서 1 kg을 빌려 와.”
- “1 kg은 1000 g이니까 1000 + 300 = 1300 g. 1300 − 800은?”
- “kg은 1 kg을 빌려 줘서 3 kg. 3 − 1 = 2. 그래서 2 kg 500 g이야.”
예상 답
- “못 빼요.” “500 g이요.” “2 kg 500 g이에요.”
막히면
- ‘들이’의 뺄셈(1 L를 1000 mL로 받아내림)을 다시 떠올리게 합니다.
주의
- 800 − 300 = 500으로 거꾸로 빼면 답의 g은 우연히 같지만 kg이 3 kg으로 틀립니다. 받아내린 뒤 kg에서 1을 빼는지 꼭 봅니다.
- 지치면 여기서 쉬고, 다음에 S11부터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연습(무게의 덧셈·뺄셈)]
목적: 도움을 받으며 받아올림이 없는 덧셈, 받아올림이 있는 덧셈, 받아내림이 있는 뺄셈을 합니다.
시간: 약 3분
이렇게 말해 보세요
- “① g끼리, kg끼리 더하면 돼. 1000 g이 넘어?”
- “② 600 + 800은 1400이야. 1000 g은 어떻게 하지?”
- “③ 200 g에서 700 g을 뺄 수 있어? 없으면 1 kg을 받아내려.”
정답
- ① 3 kg 700 g
- ② 4 kg 400 g
- ③ 2 kg 500 g(1200 − 700 = 500, kg은 4 − 2 = 2)
막히면
- 오른쪽 표처럼 종이에 kg·g 칸을 그려 세로로 쓰게 합니다.
- ②를 3 kg 1400 g으로 쓰면 S09로 돌아갑니다(M3).
주의
- ②의 800 g은 kg이 없으므로 kg 칸을 비워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무게 바꾸기(①②)와 받아올림·받아내림이 있는 무게 계산(③④)을 하는지 확인합니다.
시간: 약 4분
이렇게 말해 보세요
- “이번에는 혼자 해 볼래? 다 하면 어떻게 계산했는지 말해 줘.”
정답
- ① 4080 g
- ② 3000 kg
- ③ 4 kg 200 g(650 + 550 = 1200 g = 1 kg 200 g)
- ④ 2 kg 700 g(1100 − 400 = 700, kg은 5 − 3 = 2)
막히면
- 바로 알려 주지 말고 “1 kg은 몇 g이었지?”라고만 묻습니다.
- 도움을 받아 해결했다면 기록표에 ‘도움’으로 표시합니다.
주의
- ①을 480 g으로 쓰면 M1입니다. 4 kg = 4000 g을 먼저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4080 g ② 3000 kg ③ 4 kg 200 g ④ 2 kg 700 g
막히면
- ①이 틀리면 S08로(M1), ③이 3 kg 1200 g이면 S09로(M3), ④가 3 kg 300 g이면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확인(무게 어림)]
목적: 처음 보는 문제에서 기준이 되는 무게와 비교해 알맞게 어림하는지 확인합니다.
시간: 약 2분
이렇게 말해 보세요
- “고양이 한 마리는 얼마나 무거울까? 우유 1 L(약 1 kg)나 작은 자동차(약 1 t)와 비교해 봐.”
정답
- 나(약 4 kg). 고양이는 우유 1 L 몇 개를 합한 것쯤의 무게이므로 kg으로 나타냅니다(집고양이는 보통 3~5 kg).
- 가(4 g)는 동전 하나 정도, 다(4 t)는 자동차 네 대 정도의 무게입니다.
막히면
- S06의 표를 다시 보며 가장 가까운 물건을 찾게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 kg은 몇 g이야? 1 t은 몇 kg이야?”
예상 답
- “1000 g이요.” “1000 kg이요.”
정답
- ① 1300 g ② 4 kg 300 g ③ 3000 kg
막히면
- S03, S05,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물건으로 무게 비교)]
목적: S02 ②가 흔들리면, 같은 물건(동전) 몇 개와 무게가 같은지 세어 무게를 비교하는 것부터 다시 합니다. kg과 g도 ‘동전’처럼 정해 둔 단위입니다.
시간: 약 5분
이렇게 말해 보세요
- “점 하나가 동전 하나야. 풀은 동전 몇 개와 무게가 같아? 지우개는?”
- “어느 것이 더 무거워? 동전 몇 개만큼 더 무거워?”
정답
- 풀 8개, 지우개 5개
- 풀이 동전 3개만큼 더 무겁습니다.
막히면
- 옷걸이에 비닐봉지 두 개를 걸어 양팔 저울을 만들고 직접 동전을 넣어 봅니다.
주의
- 집의 풀과 지우개는 크기에 따라 동전 수가 다를 수 있습니다. 직접 해 본 결과로 이야기합니다.
- 보충으로도 어려우면 초1 ‘무게·넓이·담을 수 있는 양 비교’(KR22-G01-MAT-COMPARE-L01)를 먼저 합니다. 이 차시의 앞 차시는 ‘들이’(KR22-G03-MAT-LITER-L01)입니다.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545955" y="1275143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194417" y="2015807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100" dirty="0"/>
          </a:p>
        </p:txBody>
      </p:sp>
      <p:sp>
        <p:nvSpPr>
          <p:cNvPr id="30" name="S01-label30"/>
          <p:cNvSpPr txBox="1"/>
          <p:nvPr/>
        </p:nvSpPr>
        <p:spPr>
          <a:xfrm>
            <a:off x="9407652" y="2756472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100" dirty="0"/>
          </a:p>
        </p:txBody>
      </p:sp>
      <p:sp>
        <p:nvSpPr>
          <p:cNvPr id="31" name="S01-label32"/>
          <p:cNvSpPr txBox="1"/>
          <p:nvPr/>
        </p:nvSpPr>
        <p:spPr>
          <a:xfrm>
            <a:off x="8666988" y="2015807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1100" dirty="0"/>
          </a:p>
        </p:txBody>
      </p:sp>
      <p:sp>
        <p:nvSpPr>
          <p:cNvPr id="32" name="S01-label34"/>
          <p:cNvSpPr txBox="1"/>
          <p:nvPr/>
        </p:nvSpPr>
        <p:spPr>
          <a:xfrm>
            <a:off x="9469120" y="1631759"/>
            <a:ext cx="3556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11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6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kg·g 칸에 다시 써서 같은 단위끼리 계산하게 하세요.</a:t>
            </a:r>
            <a:endParaRPr lang="ko-KR" sz="3000" dirty="0"/>
          </a:p>
        </p:txBody>
      </p:sp>
      <p:sp>
        <p:nvSpPr>
          <p:cNvPr id="5" name="S13-chip1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67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4080 g</a:t>
            </a:r>
            <a:endParaRPr lang="ko-KR" sz="3000" dirty="0"/>
          </a:p>
        </p:txBody>
      </p:sp>
      <p:sp>
        <p:nvSpPr>
          <p:cNvPr id="7" name="S13-text168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4000 + 80</a:t>
            </a:r>
            <a:endParaRPr lang="ko-KR" sz="2400" dirty="0"/>
          </a:p>
        </p:txBody>
      </p:sp>
      <p:sp>
        <p:nvSpPr>
          <p:cNvPr id="8" name="S13-text169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3000 kg</a:t>
            </a:r>
            <a:endParaRPr lang="ko-KR" sz="3000" dirty="0"/>
          </a:p>
        </p:txBody>
      </p:sp>
      <p:sp>
        <p:nvSpPr>
          <p:cNvPr id="9" name="S13-text170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× 3</a:t>
            </a:r>
            <a:endParaRPr lang="ko-KR" sz="2400" dirty="0"/>
          </a:p>
        </p:txBody>
      </p:sp>
      <p:sp>
        <p:nvSpPr>
          <p:cNvPr id="10" name="S13-text171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kg 200 g</a:t>
            </a:r>
            <a:endParaRPr lang="ko-KR" sz="3000" dirty="0"/>
          </a:p>
        </p:txBody>
      </p:sp>
      <p:sp>
        <p:nvSpPr>
          <p:cNvPr id="11" name="S13-text172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올림</a:t>
            </a:r>
            <a:endParaRPr lang="ko-KR" sz="2400" dirty="0"/>
          </a:p>
        </p:txBody>
      </p:sp>
      <p:sp>
        <p:nvSpPr>
          <p:cNvPr id="12" name="S13-text173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 kg 700 g</a:t>
            </a:r>
            <a:endParaRPr lang="ko-KR" sz="3000" dirty="0"/>
          </a:p>
        </p:txBody>
      </p:sp>
      <p:sp>
        <p:nvSpPr>
          <p:cNvPr id="13" name="S13-text174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1100 − 400</a:t>
            </a:r>
            <a:endParaRPr lang="ko-KR" sz="2400" dirty="0"/>
          </a:p>
        </p:txBody>
      </p:sp>
      <p:sp>
        <p:nvSpPr>
          <p:cNvPr id="14" name="S13-chip1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1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480 g</a:t>
            </a:r>
            <a:endParaRPr lang="ko-KR" sz="3000" dirty="0"/>
          </a:p>
        </p:txBody>
      </p:sp>
      <p:sp>
        <p:nvSpPr>
          <p:cNvPr id="16" name="S13-text1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80을 붙임</a:t>
            </a:r>
            <a:endParaRPr lang="ko-KR" sz="2400" dirty="0"/>
          </a:p>
        </p:txBody>
      </p:sp>
      <p:sp>
        <p:nvSpPr>
          <p:cNvPr id="17" name="S13-text1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 kg 300 g</a:t>
            </a:r>
            <a:endParaRPr lang="ko-KR" sz="3000" dirty="0"/>
          </a:p>
        </p:txBody>
      </p:sp>
      <p:sp>
        <p:nvSpPr>
          <p:cNvPr id="18" name="S13-text1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400 − 100을 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8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8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8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8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8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8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9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9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9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9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9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9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201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202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203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204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205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206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207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208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209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21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211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212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213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214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215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16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17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2026-10-26T07:55:14Z</dcterms:created>
  <dcterms:modified xsi:type="dcterms:W3CDTF">2026-10-26T07:55:14Z</dcterms:modified>
</cp:coreProperties>
</file>