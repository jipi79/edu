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7f0fe35-c275-1484-dcf3-103ee98dffa9}">
          <p14:sldIdLst>
            <p14:sldId id="256"/>
            <p14:sldId id="257"/>
          </p14:sldIdLst>
        </p14:section>
        <p14:section name="개념" id="{2d63cca5-fa00-8150-b44c-0b1e2de37986}">
          <p14:sldIdLst>
            <p14:sldId id="258"/>
            <p14:sldId id="259"/>
            <p14:sldId id="260"/>
            <p14:sldId id="261"/>
            <p14:sldId id="264"/>
            <p14:sldId id="265"/>
          </p14:sldIdLst>
        </p14:section>
        <p14:section name="연습" id="{2a87374a-0940-5de1-62b9-13a405754568}">
          <p14:sldIdLst>
            <p14:sldId id="262"/>
            <p14:sldId id="263"/>
            <p14:sldId id="266"/>
          </p14:sldIdLst>
        </p14:section>
        <p14:section name="개념" id="{13ab4e04-9498-117d-7e98-8adc240142c1}">
          <p14:sldIdLst/>
        </p14:section>
        <p14:section name="연습" id="{dcd0b937-3450-71cc-80e9-f21b4c132e8b}">
          <p14:sldIdLst/>
        </p14:section>
        <p14:section name="확인" id="{9325ea2f-612f-6fc1-9c53-1fb9df5ef6a1}">
          <p14:sldIdLst>
            <p14:sldId id="267"/>
            <p14:sldId id="268"/>
            <p14:sldId id="269"/>
          </p14:sldIdLst>
        </p14:section>
        <p14:section name="정리" id="{963474c3-f777-f4b3-64d3-ed3eeaa74d1d}">
          <p14:sldIdLst>
            <p14:sldId id="270"/>
          </p14:sldIdLst>
        </p14:section>
        <p14:section name="보충" id="{e7397b1f-84bd-346b-8e96-3e1193cb377e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물건의 무게를 수와 단위로 나타낼 수 있다는 것에 관심을 갖게 합니다.
시간: 약 2분
이렇게 말해 보세요
- “사과 한 개와 우유 한 갑 중 어느 것이 더 무거울까? 얼마나 무거울까?”
- “오른쪽은 둥근 저울이야. 오늘은 무게의 단위 kg, g, t을 배울 거야.”
예상 답
- “우유요.” “잘 모르겠어요.” 어떤 답이든 괜찮습니다.
막히면
- 답을 확인하지 않고 넘어갑니다.
주의
- 주방 저울이 있으면 꺼내 두고, 쌀 포대나 밀가루 봉지처럼 무게가 쓰인 물건을 준비합니다.
- 그림의 바늘은 300 g을 가리킵니다. 사과 한 개는 보통 200~350 g쯤입니다.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확인(들이 바꾸기, 무게 비교, 뺄셈)]
목적: 앞 차시의 1 L = 1000 mL 바꾸기, 초1의 무게 비교, 받아내림이 있는 뺄셈을 확인합니다.
시간: 약 3분
이렇게 말해 보세요
- “① 1 L는 몇 mL였지? 1 L 300 mL는?”
- “② 양팔 저울은 무거운 쪽이 아래로 내려가. 가 쪽으로 기울었으면?”
- “③ 1200 − 500은?”
정답
- ① 1300 mL
- ② 가
- ③ 700
막히면
- ①이 어려우면 앞 차시 ‘들이’(KR22-G03-MAT-LITER-L01)의 S04를 다시 봅니다.
- ②가 어려우면 S16(보충)을 먼저 합니다. 보충으로도 어려우면 초1 ‘무게·넓이·담을 수 있는 양 비교’(KR22-G01-MAT-COMPARE-L01)를 다시 합니다.
주의
- 오늘 배울 1 kg = 1000 g도 1 L = 1000 mL와 같은 1000의 관계입니다.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무게의 단위 kg과 g]
목적: 무게의 단위 kg(킬로그램)과 g(그램)을 읽고 쓰며, 1 kg = 1000 g임을 압니다.
시간: 약 3분
이렇게 말해 보세요
- “1 kg은 ‘1 킬로그램’, 1 g은 ‘1 그램’이라고 읽어.”
- “우유가 든 큰 우유갑을 들어 볼래? 그게 약 1 kg이야. 1 kg은 1000 g이야.”
- “100원짜리 동전 하나는 약 5 g이야. 아주 가볍지?”
예상 답
- “1 킬로그램이요.” “1 kg은 1000 g이에요.”
막히면
- kg과 g을 손가락으로 따라 쓰게 합니다. k와 g은 소문자로 씁니다.
주의
- 우유 1 L는 1 kg보다 조금 더 무겁지만 ‘약 1 kg’으로 기억하면 어림에 편리합니다.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저울 눈금 읽기와 몇 kg 몇 g]
목적: 둥근 저울에서 작은 눈금 한 칸의 크기를 먼저 정하고 바늘이 가리키는 무게를 읽으며, ‘몇 kg 몇 g’과 ‘몇 g’으로 나타냅니다.
시간: 약 3분
이렇게 말해 보세요
- “0과 500 사이가 작은 눈금 몇 칸으로 나뉘어 있어? 5칸이니까 한 칸은 100 g이야.”
- “바늘은 1000에서 몇 칸 더 갔어? 그럼 몇 g이야?”
- “1000 g은 1 kg이니까 1200 g은 몇 kg 몇 g일까?”
예상 답
- “2칸이요.” “1200 g이요.” “1 kg 200 g이에요.”
막히면
- 1000부터 바늘까지 “1100, 1200”을 짚으며 셉니다.
- 주방 저울이 있으면 물건을 올려 바늘을 직접 읽어 봅니다.
주의
- 저울마다 한 칸의 크기가 다릅니다. 숫자 사이의 칸 수를 먼저 세는 습관을 들입니다(M2).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1 t = 1000 kg]
목적: 아주 무거운 무게를 나타내는 단위 t(톤)을 알고 1 t = 1000 kg임을 압니다.
시간: 약 2분
이렇게 말해 보세요
- “자동차의 무게를 kg으로 나타내면 아주 큰 수가 돼. 그래서 t이라는 단위를 써.”
- “1 t은 1000 kg이야. 2 t은 몇 kg일까?”
예상 답
- “2000 kg이요.”
막히면
- 1 kg = 1000 g처럼 1000씩 커지는 관계라고 말해 줍니다.
주의
- 작은 자동차(경차) 한 대가 약 1 t입니다. 큰 차는 더 무겁습니다.
- 이 차시에서는 t을 kg으로 바꾸는 것만 하고, t이 들어간 덧셈·뺄셈은 하지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무게 어림의 기준]
목적: 생활 속 물건의 무게를 기준으로 삼아 다른 물건의 무게를 어림하고, 알맞은 단위를 고릅니다.
시간: 약 2분
이렇게 말해 보세요
- “동전, 사과, 우유를 차례로 들어 볼까? 어느 것이 가장 무거워?”
- “네 가방은 사과에 가까울까, 쌀 포대에 가까울까?”
예상 답
- “우유가 제일 무거워요.” “가방은 kg으로 나타내요.”
막히면
- 한 손에 우유, 다른 손에 물건을 들고 “더 무거워? 더 가벼워?”를 비교해 어림합니다.
주의
- 쌀 포대는 10 kg, 20 kg 등 여러 가지입니다. 집에 있는 포대에 쓰인 무게를 함께 읽어 봅니다.
- 부피가 크다고 무거운 것은 아닙니다(솜과 돌). 들어 보고 비교합니다(M4).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안내받는 연습(바꾸기와 어림)]
목적: 도움을 받으며 kg·g·t을 바꾸고, 생활 속 물건의 무게에 알맞은 단위를 고릅니다.
시간: 약 3분
이렇게 말해 보세요
- “① 3 kg은 몇 g이지? 거기에 200 g을 더하면?”
- “② 1050 g에서 1000 g을 떼어 내면 남는 것은?”
- “④ 수박 한 통이 6 g일까, 6 kg일까, 6 t일까?”
정답
- ① 3200 g
- ② 1 kg 50 g
- ③ 2000 kg
- ④ kg(약 6 kg)
막히면
- ②를 1 kg 500 g이라고 하면 1050을 1000과 50으로 가르게 합니다.
- ④는 S06의 표와 비교해 “우유 1 L보다 무거울까?”를 묻습니다.
주의
- 수박은 크기에 따라 다르지만 보통 5~8 kg쯤입니다. ‘kg’을 고르면 맞습니다.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오개념 비교(kg과 g의 수를 이어 붙이기)]
목적: kg과 g의 수를 이어 붙이는 실수를 찾고 바로잡습니다(M1).
시간: 약 2분
이렇게 말해 보세요
- “토끼와 곰의 답이 달라. 2 kg은 몇 g이지?”
- “250 g은 1 kg보다 무거울까, 가벼울까?”
예상 답
- “곰이요. 2 kg이 2000 g이라서요.”
정답
- 곰이 맞습니다. 2 kg = 2000 g이므로 2 kg 50 g = 2000 g + 50 g = 2050 g입니다.
- 250 g은 1 kg(1000 g)보다도 가벼우므로 2 kg 50 g이 될 수 없습니다.
막히면
- ‘들이’ 차시의 1 L 50 mL = 1050 mL와 같은 문제라고 연결해 줍니다.
주의
- 3 kg 70 g = 3070 g처럼 0이 들어가는 경우는 활동지 1번에서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무게의 덧셈(g에서 받아올림)]
목적: 무게의 덧셈은 kg은 kg끼리, g은 g끼리 더하고, g이 1000을 넘으면 1000 g을 1 kg으로 받아올린다는 것을 보여 줍니다.
시간: 약 3분
이렇게 말해 보세요
- “g끼리 먼저 더해 볼까? 700 + 500은?”
- “1200 g 안에 1000 g이 들어 있지? 1000 g은 1 kg이니까 kg으로 올리고 200 g만 남겨.”
- “kg은 올린 1까지 더해서 1 + 2 + 1 = 4. 4 kg 200 g이야.”
예상 답
- “1200이요.” “4 kg 200 g이에요.”
막히면
- ‘들이’에서 1000 mL를 1 L로 올린 것과 같은 방법이라고 말해 줍니다.
주의
- 3 kg 1200 g으로 쓰면 M3입니다. g은 1000보다 작아야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무게의 뺄셈(kg에서 받아내림)]
목적: g끼리 뺄 수 없으면 1 kg을 1000 g으로 받아내려 계산한다는 것을 보여 줍니다.
시간: 약 3분
이렇게 말해 보세요
- “300 g에서 800 g을 뺄 수 있어? 없으면 4 kg에서 1 kg을 빌려 와.”
- “1 kg은 1000 g이니까 1000 + 300 = 1300 g. 1300 − 800은?”
- “kg은 1 kg을 빌려 줘서 3 kg. 3 − 1 = 2. 그래서 2 kg 500 g이야.”
예상 답
- “못 빼요.” “500 g이요.” “2 kg 500 g이에요.”
막히면
- ‘들이’의 뺄셈(1 L를 1000 mL로 받아내림)을 다시 떠올리게 합니다.
주의
- 800 − 300 = 500으로 거꾸로 빼면 답의 g은 우연히 같지만 kg이 3 kg으로 틀립니다. 받아내린 뒤 kg에서 1을 빼는지 꼭 봅니다.
- 지치면 여기서 쉬고, 다음에 S11부터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안내받는 연습(무게의 덧셈·뺄셈)]
목적: 도움을 받으며 받아올림이 없는 덧셈, 받아올림이 있는 덧셈, 받아내림이 있는 뺄셈을 합니다.
시간: 약 3분
이렇게 말해 보세요
- “① g끼리, kg끼리 더하면 돼. 1000 g이 넘어?”
- “② 600 + 800은 1400이야. 1000 g은 어떻게 하지?”
- “③ 200 g에서 700 g을 뺄 수 있어? 없으면 1 kg을 받아내려.”
정답
- ① 3 kg 700 g
- ② 4 kg 400 g
- ③ 2 kg 500 g(1200 − 700 = 500, kg은 4 − 2 = 2)
막히면
- 오른쪽 표처럼 종이에 kg·g 칸을 그려 세로로 쓰게 합니다.
- ②를 3 kg 1400 g으로 쓰면 S09로 돌아갑니다(M3).
주의
- ②의 800 g은 kg이 없으므로 kg 칸을 비워 둡니다.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무게 바꾸기(①②)와 받아올림·받아내림이 있는 무게 계산(③④)을 하는지 확인합니다.
시간: 약 4분
이렇게 말해 보세요
- “이번에는 혼자 해 볼래? 다 하면 어떻게 계산했는지 말해 줘.”
정답
- ① 4080 g
- ② 3000 kg
- ③ 4 kg 200 g(650 + 550 = 1200 g = 1 kg 200 g)
- ④ 2 kg 700 g(1100 − 400 = 700, kg은 5 − 3 = 2)
막히면
- 바로 알려 주지 말고 “1 kg은 몇 g이었지?”라고만 묻습니다.
- 도움을 받아 해결했다면 기록표에 ‘도움’으로 표시합니다.
주의
- ①을 480 g으로 쓰면 M1입니다. 4 kg = 4000 g을 먼저 쓰게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어디서 달라졌는지 찾아보자.”
정답
- ① 4080 g ② 3000 kg ③ 4 kg 200 g ④ 2 kg 700 g
막히면
- ①이 틀리면 S08로(M1), ③이 3 kg 1200 g이면 S09로(M3), ④가 3 kg 300 g이면 S10으로 돌아갑니다.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확인(무게 어림)]
목적: 처음 보는 문제에서 기준이 되는 무게와 비교해 알맞게 어림하는지 확인합니다.
시간: 약 2분
이렇게 말해 보세요
- “고양이 한 마리는 얼마나 무거울까? 우유 1 L(약 1 kg)나 작은 자동차(약 1 t)와 비교해 봐.”
정답
- 나(약 4 kg). 고양이는 우유 1 L 몇 개를 합한 것쯤의 무게이므로 kg으로 나타냅니다(집고양이는 보통 3~5 kg).
- 가(4 g)는 동전 하나 정도, 다(4 t)는 자동차 네 대 정도의 무게입니다.
막히면
- S06의 표를 다시 보며 가장 가까운 물건을 찾게 합니다.
주의
- 답만 맞히고 까닭을 말하지 못하면 기록표에 ‘답만’으로 적습니다.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1분
이렇게 말해 보세요
- “오늘 배운 것을 말해 볼래? 1 kg은 몇 g이야? 1 t은 몇 kg이야?”
예상 답
- “1000 g이요.” “1000 kg이요.”
정답
- ① 1300 g ② 4 kg 300 g ③ 3000 kg
막히면
- S03, S05, S09를 다시 보여 줍니다.
주의
- 복습 세 문제는 다음 수업을 시작할 때 활동지 마지막 쪽과 함께 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보충(같은 물건으로 무게 비교)]
목적: S02 ②가 흔들리면, 같은 물건(동전) 몇 개와 무게가 같은지 세어 무게를 비교하는 것부터 다시 합니다. kg과 g도 ‘동전’처럼 정해 둔 단위입니다.
시간: 약 5분
이렇게 말해 보세요
- “점 하나가 동전 하나야. 풀은 동전 몇 개와 무게가 같아? 지우개는?”
- “어느 것이 더 무거워? 동전 몇 개만큼 더 무거워?”
정답
- 풀 8개, 지우개 5개
- 풀이 동전 3개만큼 더 무겁습니다.
막히면
- 옷걸이에 비닐봉지 두 개를 걸어 양팔 저울을 만들고 직접 동전을 넣어 봅니다.
주의
- 집의 풀과 지우개는 크기에 따라 동전 수가 다를 수 있습니다. 직접 해 본 결과로 이야기합니다.
- 보충으로도 어려우면 초1 ‘무게·넓이·담을 수 있는 양 비교’(KR22-G01-MAT-COMPARE-L01)를 먼저 합니다. 이 차시의 앞 차시는 ‘들이’(KR22-G03-MAT-LITER-L01)입니다.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7차시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무게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무게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무게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 한 개는 몇 g일까?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둥근 저울: 0부터 2000 g까지, 작은 눈금 한 칸 100 g, 바늘이 300 g을 가리킴"/>
          <p:cNvSpPr/>
          <p:nvPr/>
        </p:nvSpPr>
        <p:spPr>
          <a:xfrm>
            <a:off x="8275320" y="731520"/>
            <a:ext cx="2743200" cy="27432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578340" y="2034540"/>
            <a:ext cx="137160" cy="13716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1-mark4"/>
          <p:cNvSpPr/>
          <p:nvPr/>
        </p:nvSpPr>
        <p:spPr>
          <a:xfrm>
            <a:off x="9646920" y="731520"/>
            <a:ext cx="0" cy="2743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1-mark5"/>
          <p:cNvSpPr/>
          <p:nvPr/>
        </p:nvSpPr>
        <p:spPr>
          <a:xfrm flipH="1">
            <a:off x="10024110" y="798728"/>
            <a:ext cx="46634" cy="14346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1-mark6"/>
          <p:cNvSpPr/>
          <p:nvPr/>
        </p:nvSpPr>
        <p:spPr>
          <a:xfrm flipH="1">
            <a:off x="10364541" y="993496"/>
            <a:ext cx="88605" cy="12207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1-mark7"/>
          <p:cNvSpPr/>
          <p:nvPr/>
        </p:nvSpPr>
        <p:spPr>
          <a:xfrm flipH="1">
            <a:off x="10634472" y="1296894"/>
            <a:ext cx="122072" cy="886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1-mark8"/>
          <p:cNvSpPr/>
          <p:nvPr/>
        </p:nvSpPr>
        <p:spPr>
          <a:xfrm flipH="1">
            <a:off x="10807842" y="1679296"/>
            <a:ext cx="143469" cy="4663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1-mark9"/>
          <p:cNvSpPr/>
          <p:nvPr/>
        </p:nvSpPr>
        <p:spPr>
          <a:xfrm flipH="1">
            <a:off x="10744200" y="2103120"/>
            <a:ext cx="27432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1-mark10"/>
          <p:cNvSpPr/>
          <p:nvPr/>
        </p:nvSpPr>
        <p:spPr>
          <a:xfrm flipH="1" flipV="1">
            <a:off x="10807842" y="2480310"/>
            <a:ext cx="143469" cy="4663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1-mark11"/>
          <p:cNvSpPr/>
          <p:nvPr/>
        </p:nvSpPr>
        <p:spPr>
          <a:xfrm flipH="1" flipV="1">
            <a:off x="10634472" y="2820741"/>
            <a:ext cx="122072" cy="886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1-mark12"/>
          <p:cNvSpPr/>
          <p:nvPr/>
        </p:nvSpPr>
        <p:spPr>
          <a:xfrm flipH="1" flipV="1">
            <a:off x="10364541" y="3090672"/>
            <a:ext cx="88605" cy="12207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1-mark13"/>
          <p:cNvSpPr/>
          <p:nvPr/>
        </p:nvSpPr>
        <p:spPr>
          <a:xfrm flipH="1" flipV="1">
            <a:off x="10024110" y="3264042"/>
            <a:ext cx="46634" cy="14346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1-mark14"/>
          <p:cNvSpPr/>
          <p:nvPr/>
        </p:nvSpPr>
        <p:spPr>
          <a:xfrm flipV="1">
            <a:off x="9646920" y="3200400"/>
            <a:ext cx="0" cy="27432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1-mark15"/>
          <p:cNvSpPr/>
          <p:nvPr/>
        </p:nvSpPr>
        <p:spPr>
          <a:xfrm flipV="1">
            <a:off x="9223096" y="3264042"/>
            <a:ext cx="46634" cy="14346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1-mark16"/>
          <p:cNvSpPr/>
          <p:nvPr/>
        </p:nvSpPr>
        <p:spPr>
          <a:xfrm flipV="1">
            <a:off x="8840694" y="3090672"/>
            <a:ext cx="88605" cy="12207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1-mark17"/>
          <p:cNvSpPr/>
          <p:nvPr/>
        </p:nvSpPr>
        <p:spPr>
          <a:xfrm flipV="1">
            <a:off x="8537296" y="2820741"/>
            <a:ext cx="122072" cy="886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1-mark18"/>
          <p:cNvSpPr/>
          <p:nvPr/>
        </p:nvSpPr>
        <p:spPr>
          <a:xfrm flipV="1">
            <a:off x="8342528" y="2480310"/>
            <a:ext cx="143469" cy="4663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1-mark19"/>
          <p:cNvSpPr/>
          <p:nvPr/>
        </p:nvSpPr>
        <p:spPr>
          <a:xfrm>
            <a:off x="8275320" y="2103120"/>
            <a:ext cx="27432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1-mark20"/>
          <p:cNvSpPr/>
          <p:nvPr/>
        </p:nvSpPr>
        <p:spPr>
          <a:xfrm>
            <a:off x="8342528" y="1679296"/>
            <a:ext cx="143469" cy="4663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1-mark21"/>
          <p:cNvSpPr/>
          <p:nvPr/>
        </p:nvSpPr>
        <p:spPr>
          <a:xfrm>
            <a:off x="8537296" y="1296894"/>
            <a:ext cx="122072" cy="88605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1-mark22"/>
          <p:cNvSpPr/>
          <p:nvPr/>
        </p:nvSpPr>
        <p:spPr>
          <a:xfrm>
            <a:off x="8840694" y="993496"/>
            <a:ext cx="88605" cy="122072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1-mark23"/>
          <p:cNvSpPr/>
          <p:nvPr/>
        </p:nvSpPr>
        <p:spPr>
          <a:xfrm>
            <a:off x="9223096" y="798728"/>
            <a:ext cx="46634" cy="143469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1-mark24"/>
          <p:cNvSpPr/>
          <p:nvPr/>
        </p:nvSpPr>
        <p:spPr>
          <a:xfrm flipV="1">
            <a:off x="9646920" y="1409913"/>
            <a:ext cx="954359" cy="693207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8" name="S01-label26"/>
          <p:cNvSpPr txBox="1"/>
          <p:nvPr/>
        </p:nvSpPr>
        <p:spPr>
          <a:xfrm>
            <a:off x="9554337" y="1291018"/>
            <a:ext cx="18516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900" dirty="0"/>
          </a:p>
        </p:txBody>
      </p:sp>
      <p:sp>
        <p:nvSpPr>
          <p:cNvPr id="29" name="S01-label28"/>
          <p:cNvSpPr txBox="1"/>
          <p:nvPr/>
        </p:nvSpPr>
        <p:spPr>
          <a:xfrm>
            <a:off x="10219563" y="2031682"/>
            <a:ext cx="33604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900" dirty="0"/>
          </a:p>
        </p:txBody>
      </p:sp>
      <p:sp>
        <p:nvSpPr>
          <p:cNvPr id="30" name="S01-label30"/>
          <p:cNvSpPr txBox="1"/>
          <p:nvPr/>
        </p:nvSpPr>
        <p:spPr>
          <a:xfrm>
            <a:off x="9441180" y="2772347"/>
            <a:ext cx="411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900" dirty="0"/>
          </a:p>
        </p:txBody>
      </p:sp>
      <p:sp>
        <p:nvSpPr>
          <p:cNvPr id="31" name="S01-label32"/>
          <p:cNvSpPr txBox="1"/>
          <p:nvPr/>
        </p:nvSpPr>
        <p:spPr>
          <a:xfrm>
            <a:off x="8700516" y="2031682"/>
            <a:ext cx="4114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</a:t>
            </a:r>
            <a:endParaRPr lang="ko-KR" sz="900" dirty="0"/>
          </a:p>
        </p:txBody>
      </p:sp>
      <p:sp>
        <p:nvSpPr>
          <p:cNvPr id="32" name="S01-label34"/>
          <p:cNvSpPr txBox="1"/>
          <p:nvPr/>
        </p:nvSpPr>
        <p:spPr>
          <a:xfrm>
            <a:off x="9491472" y="1647635"/>
            <a:ext cx="3108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9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(g)</a:t>
            </a:r>
            <a:endParaRPr lang="ko-KR" sz="900" dirty="0"/>
          </a:p>
        </p:txBody>
      </p:sp>
      <p:sp>
        <p:nvSpPr>
          <p:cNvPr id="33" name="S01-card35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34" name="S01-cardtext36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kg, g, t으로 무게를 나타내고 어림해요.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무게를 더하고 빼요.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기억하기</a:t>
            </a:r>
            <a:endParaRPr lang="ko-KR" sz="4000" dirty="0"/>
          </a:p>
        </p:txBody>
      </p:sp>
      <p:sp>
        <p:nvSpPr>
          <p:cNvPr id="3" name="S02-chip37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4" name="S02-eqtext38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L 300 mL = □ mL</a:t>
            </a:r>
            <a:endParaRPr lang="ko-KR" sz="3400" dirty="0"/>
          </a:p>
        </p:txBody>
      </p:sp>
      <p:sp>
        <p:nvSpPr>
          <p:cNvPr id="5" name="S02-chip39"/>
          <p:cNvSpPr txBox="1"/>
          <p:nvPr/>
        </p:nvSpPr>
        <p:spPr>
          <a:xfrm>
            <a:off x="548640" y="34655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" name="S02-text40"/>
          <p:cNvSpPr txBox="1"/>
          <p:nvPr/>
        </p:nvSpPr>
        <p:spPr>
          <a:xfrm>
            <a:off x="1344168" y="301752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양팔 저울이 가 쪽으로 기울었어요. 더 무거운 것은 가와 나 중 어느 것일까요?</a:t>
            </a:r>
            <a:endParaRPr lang="ko-KR" sz="3000" dirty="0"/>
          </a:p>
        </p:txBody>
      </p:sp>
      <p:sp>
        <p:nvSpPr>
          <p:cNvPr id="7" name="S02-chip41"/>
          <p:cNvSpPr txBox="1"/>
          <p:nvPr/>
        </p:nvSpPr>
        <p:spPr>
          <a:xfrm>
            <a:off x="548640" y="51572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8" name="S02-eqtext42"/>
          <p:cNvSpPr txBox="1"/>
          <p:nvPr/>
        </p:nvSpPr>
        <p:spPr>
          <a:xfrm>
            <a:off x="1344168" y="470916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1200 − 500 = □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kg과 g</a:t>
            </a:r>
            <a:endParaRPr lang="ko-KR" sz="4000" dirty="0"/>
          </a:p>
        </p:txBody>
      </p:sp>
      <p:sp>
        <p:nvSpPr>
          <p:cNvPr id="3" name="S03-text4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무게를 나타내는 단위에는 kg과 g이 있어요.</a:t>
            </a:r>
            <a:endParaRPr lang="ko-KR" sz="3000" dirty="0"/>
          </a:p>
        </p:txBody>
      </p:sp>
      <p:sp>
        <p:nvSpPr>
          <p:cNvPr id="4" name="S03-card44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45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= 1000 g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우유 1 L의 무게가 약 1 kg이에요.</a:t>
            </a:r>
            <a:endParaRPr lang="ko-KR" sz="3000" dirty="0"/>
          </a:p>
        </p:txBody>
      </p:sp>
      <p:sp>
        <p:nvSpPr>
          <p:cNvPr id="6" name="S03-bigtext46"/>
          <p:cNvSpPr txBox="1"/>
          <p:nvPr/>
        </p:nvSpPr>
        <p:spPr>
          <a:xfrm>
            <a:off x="548640" y="2011680"/>
            <a:ext cx="5385816" cy="225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</a:t>
            </a:r>
            <a:endParaRPr lang="ko-KR" sz="5400" dirty="0"/>
          </a:p>
        </p:txBody>
      </p:sp>
      <p:sp>
        <p:nvSpPr>
          <p:cNvPr id="7" name="S03-label47"/>
          <p:cNvSpPr txBox="1"/>
          <p:nvPr/>
        </p:nvSpPr>
        <p:spPr>
          <a:xfrm>
            <a:off x="548640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킬로그램</a:t>
            </a:r>
            <a:endParaRPr lang="ko-KR" sz="2400" dirty="0"/>
          </a:p>
        </p:txBody>
      </p:sp>
      <p:sp>
        <p:nvSpPr>
          <p:cNvPr id="8" name="S03-bigtext48"/>
          <p:cNvSpPr txBox="1"/>
          <p:nvPr/>
        </p:nvSpPr>
        <p:spPr>
          <a:xfrm>
            <a:off x="6254496" y="2011680"/>
            <a:ext cx="5385816" cy="2250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g</a:t>
            </a:r>
            <a:endParaRPr lang="ko-KR" sz="5400" dirty="0"/>
          </a:p>
        </p:txBody>
      </p:sp>
      <p:sp>
        <p:nvSpPr>
          <p:cNvPr id="9" name="S03-label49"/>
          <p:cNvSpPr txBox="1"/>
          <p:nvPr/>
        </p:nvSpPr>
        <p:spPr>
          <a:xfrm>
            <a:off x="6254496" y="433578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그램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저울 눈금 읽기</a:t>
            </a:r>
            <a:endParaRPr lang="ko-KR" sz="4000" dirty="0"/>
          </a:p>
        </p:txBody>
      </p:sp>
      <p:sp>
        <p:nvSpPr>
          <p:cNvPr id="3" name="S04-card50"/>
          <p:cNvSpPr/>
          <p:nvPr/>
        </p:nvSpPr>
        <p:spPr>
          <a:xfrm>
            <a:off x="548640" y="4975860"/>
            <a:ext cx="11091672" cy="1242060"/>
          </a:xfrm>
          <a:prstGeom prst="roundRect">
            <a:avLst>
              <a:gd name="adj" fmla="val 8834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1"/>
          <p:cNvSpPr txBox="1"/>
          <p:nvPr/>
        </p:nvSpPr>
        <p:spPr>
          <a:xfrm>
            <a:off x="822960" y="5113020"/>
            <a:ext cx="10543032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200 g = 1200 g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킬로그램 200 그램’이라고 읽어요.</a:t>
            </a:r>
            <a:endParaRPr lang="ko-KR" sz="3000" dirty="0"/>
          </a:p>
        </p:txBody>
      </p:sp>
      <p:sp>
        <p:nvSpPr>
          <p:cNvPr id="5" name="S04-figure52" descr="둥근 저울: 0부터 2000 g까지, 500 g마다 숫자, 작은 눈금 한 칸 100 g, 바늘이 1000보다 2칸 더 간 1200 g을 가리킴"/>
          <p:cNvSpPr/>
          <p:nvPr/>
        </p:nvSpPr>
        <p:spPr>
          <a:xfrm>
            <a:off x="1342720" y="1417320"/>
            <a:ext cx="3238500" cy="32385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F2937"/>
            </a:solidFill>
            <a:prstDash val="solid"/>
          </a:ln>
        </p:spPr>
      </p:sp>
      <p:sp>
        <p:nvSpPr>
          <p:cNvPr id="6" name="S04-mark53"/>
          <p:cNvSpPr/>
          <p:nvPr/>
        </p:nvSpPr>
        <p:spPr>
          <a:xfrm>
            <a:off x="2881008" y="2955607"/>
            <a:ext cx="161925" cy="161925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4-mark54"/>
          <p:cNvSpPr/>
          <p:nvPr/>
        </p:nvSpPr>
        <p:spPr>
          <a:xfrm>
            <a:off x="2961970" y="1417320"/>
            <a:ext cx="0" cy="32385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" name="S04-mark55"/>
          <p:cNvSpPr/>
          <p:nvPr/>
        </p:nvSpPr>
        <p:spPr>
          <a:xfrm flipH="1">
            <a:off x="3407264" y="1496663"/>
            <a:ext cx="55054" cy="16937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9" name="S04-mark56"/>
          <p:cNvSpPr/>
          <p:nvPr/>
        </p:nvSpPr>
        <p:spPr>
          <a:xfrm flipH="1">
            <a:off x="3809162" y="1726597"/>
            <a:ext cx="104604" cy="14411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0" name="S04-mark57"/>
          <p:cNvSpPr/>
          <p:nvPr/>
        </p:nvSpPr>
        <p:spPr>
          <a:xfrm flipH="1">
            <a:off x="4127830" y="2084775"/>
            <a:ext cx="144113" cy="10460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1" name="S04-mark58"/>
          <p:cNvSpPr/>
          <p:nvPr/>
        </p:nvSpPr>
        <p:spPr>
          <a:xfrm flipH="1">
            <a:off x="4332503" y="2536222"/>
            <a:ext cx="169374" cy="5505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2" name="S04-mark59"/>
          <p:cNvSpPr/>
          <p:nvPr/>
        </p:nvSpPr>
        <p:spPr>
          <a:xfrm flipH="1">
            <a:off x="4257370" y="3036570"/>
            <a:ext cx="32385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04-mark60"/>
          <p:cNvSpPr/>
          <p:nvPr/>
        </p:nvSpPr>
        <p:spPr>
          <a:xfrm flipH="1" flipV="1">
            <a:off x="4332503" y="3481864"/>
            <a:ext cx="169374" cy="5505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4" name="S04-mark61"/>
          <p:cNvSpPr/>
          <p:nvPr/>
        </p:nvSpPr>
        <p:spPr>
          <a:xfrm flipH="1" flipV="1">
            <a:off x="4127830" y="3883762"/>
            <a:ext cx="144113" cy="10460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5" name="S04-mark62"/>
          <p:cNvSpPr/>
          <p:nvPr/>
        </p:nvSpPr>
        <p:spPr>
          <a:xfrm flipH="1" flipV="1">
            <a:off x="3809162" y="4202430"/>
            <a:ext cx="104604" cy="14411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6" name="S04-mark63"/>
          <p:cNvSpPr/>
          <p:nvPr/>
        </p:nvSpPr>
        <p:spPr>
          <a:xfrm flipH="1" flipV="1">
            <a:off x="3407264" y="4407103"/>
            <a:ext cx="55054" cy="16937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7" name="S04-mark64"/>
          <p:cNvSpPr/>
          <p:nvPr/>
        </p:nvSpPr>
        <p:spPr>
          <a:xfrm flipV="1">
            <a:off x="2961970" y="4331970"/>
            <a:ext cx="0" cy="32385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4-mark65"/>
          <p:cNvSpPr/>
          <p:nvPr/>
        </p:nvSpPr>
        <p:spPr>
          <a:xfrm flipV="1">
            <a:off x="2461622" y="4407103"/>
            <a:ext cx="55054" cy="16937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19" name="S04-mark66"/>
          <p:cNvSpPr/>
          <p:nvPr/>
        </p:nvSpPr>
        <p:spPr>
          <a:xfrm flipV="1">
            <a:off x="2010175" y="4202430"/>
            <a:ext cx="104604" cy="14411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0" name="S04-mark67"/>
          <p:cNvSpPr/>
          <p:nvPr/>
        </p:nvSpPr>
        <p:spPr>
          <a:xfrm flipV="1">
            <a:off x="1651997" y="3883762"/>
            <a:ext cx="144113" cy="10460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1" name="S04-mark68"/>
          <p:cNvSpPr/>
          <p:nvPr/>
        </p:nvSpPr>
        <p:spPr>
          <a:xfrm flipV="1">
            <a:off x="1422063" y="3481864"/>
            <a:ext cx="169374" cy="5505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2" name="S04-mark69"/>
          <p:cNvSpPr/>
          <p:nvPr/>
        </p:nvSpPr>
        <p:spPr>
          <a:xfrm>
            <a:off x="1342720" y="3036570"/>
            <a:ext cx="323850" cy="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4-mark70"/>
          <p:cNvSpPr/>
          <p:nvPr/>
        </p:nvSpPr>
        <p:spPr>
          <a:xfrm>
            <a:off x="1422063" y="2536222"/>
            <a:ext cx="169374" cy="5505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4" name="S04-mark71"/>
          <p:cNvSpPr/>
          <p:nvPr/>
        </p:nvSpPr>
        <p:spPr>
          <a:xfrm>
            <a:off x="1651997" y="2084775"/>
            <a:ext cx="144113" cy="10460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5" name="S04-mark72"/>
          <p:cNvSpPr/>
          <p:nvPr/>
        </p:nvSpPr>
        <p:spPr>
          <a:xfrm>
            <a:off x="2010175" y="1726597"/>
            <a:ext cx="104604" cy="144113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6" name="S04-mark73"/>
          <p:cNvSpPr/>
          <p:nvPr/>
        </p:nvSpPr>
        <p:spPr>
          <a:xfrm>
            <a:off x="2461622" y="1496663"/>
            <a:ext cx="55054" cy="169374"/>
          </a:xfrm>
          <a:prstGeom prst="line">
            <a:avLst/>
          </a:prstGeom>
          <a:noFill/>
          <a:ln w="12700">
            <a:solidFill>
              <a:srgbClr val="1F2937"/>
            </a:solidFill>
            <a:prstDash val="solid"/>
          </a:ln>
        </p:spPr>
      </p:sp>
      <p:sp>
        <p:nvSpPr>
          <p:cNvPr id="27" name="S04-mark74"/>
          <p:cNvSpPr/>
          <p:nvPr/>
        </p:nvSpPr>
        <p:spPr>
          <a:xfrm flipH="1">
            <a:off x="2143601" y="3036570"/>
            <a:ext cx="818369" cy="1126674"/>
          </a:xfrm>
          <a:prstGeom prst="line">
            <a:avLst/>
          </a:prstGeom>
          <a:noFill/>
          <a:ln w="444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28" name="S04-label76"/>
          <p:cNvSpPr txBox="1"/>
          <p:nvPr/>
        </p:nvSpPr>
        <p:spPr>
          <a:xfrm>
            <a:off x="2806522" y="1971675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29" name="S04-label78"/>
          <p:cNvSpPr txBox="1"/>
          <p:nvPr/>
        </p:nvSpPr>
        <p:spPr>
          <a:xfrm>
            <a:off x="3479749" y="2846070"/>
            <a:ext cx="7132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</a:t>
            </a:r>
            <a:endParaRPr lang="ko-KR" sz="2400" dirty="0"/>
          </a:p>
        </p:txBody>
      </p:sp>
      <p:sp>
        <p:nvSpPr>
          <p:cNvPr id="30" name="S04-label80"/>
          <p:cNvSpPr txBox="1"/>
          <p:nvPr/>
        </p:nvSpPr>
        <p:spPr>
          <a:xfrm>
            <a:off x="2504770" y="3720465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2400" dirty="0"/>
          </a:p>
        </p:txBody>
      </p:sp>
      <p:sp>
        <p:nvSpPr>
          <p:cNvPr id="31" name="S04-label82"/>
          <p:cNvSpPr txBox="1"/>
          <p:nvPr/>
        </p:nvSpPr>
        <p:spPr>
          <a:xfrm>
            <a:off x="1630375" y="2846070"/>
            <a:ext cx="9144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</a:t>
            </a:r>
            <a:endParaRPr lang="ko-KR" sz="2400" dirty="0"/>
          </a:p>
        </p:txBody>
      </p:sp>
      <p:sp>
        <p:nvSpPr>
          <p:cNvPr id="32" name="S04-label84"/>
          <p:cNvSpPr txBox="1"/>
          <p:nvPr/>
        </p:nvSpPr>
        <p:spPr>
          <a:xfrm>
            <a:off x="2638882" y="2392680"/>
            <a:ext cx="64617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(g)</a:t>
            </a:r>
            <a:endParaRPr lang="ko-KR" sz="2400" dirty="0"/>
          </a:p>
        </p:txBody>
      </p:sp>
      <p:sp>
        <p:nvSpPr>
          <p:cNvPr id="33" name="S04-card85"/>
          <p:cNvSpPr/>
          <p:nvPr/>
        </p:nvSpPr>
        <p:spPr>
          <a:xfrm>
            <a:off x="5741060" y="150495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4" name="S04-cardtext86"/>
          <p:cNvSpPr txBox="1"/>
          <p:nvPr/>
        </p:nvSpPr>
        <p:spPr>
          <a:xfrm>
            <a:off x="6015380" y="164211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사이는 5칸, 500 g</a:t>
            </a:r>
            <a:endParaRPr lang="ko-KR" sz="3000" dirty="0"/>
          </a:p>
        </p:txBody>
      </p:sp>
      <p:sp>
        <p:nvSpPr>
          <p:cNvPr id="35" name="S04-card87"/>
          <p:cNvSpPr/>
          <p:nvPr/>
        </p:nvSpPr>
        <p:spPr>
          <a:xfrm>
            <a:off x="5741060" y="260223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6" name="S04-cardtext88"/>
          <p:cNvSpPr txBox="1"/>
          <p:nvPr/>
        </p:nvSpPr>
        <p:spPr>
          <a:xfrm>
            <a:off x="6015380" y="273939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한 칸은 100 g</a:t>
            </a:r>
            <a:endParaRPr lang="ko-KR" sz="3000" dirty="0"/>
          </a:p>
        </p:txBody>
      </p:sp>
      <p:sp>
        <p:nvSpPr>
          <p:cNvPr id="37" name="S04-card89"/>
          <p:cNvSpPr/>
          <p:nvPr/>
        </p:nvSpPr>
        <p:spPr>
          <a:xfrm>
            <a:off x="5741060" y="3699510"/>
            <a:ext cx="589925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38" name="S04-cardtext90"/>
          <p:cNvSpPr txBox="1"/>
          <p:nvPr/>
        </p:nvSpPr>
        <p:spPr>
          <a:xfrm>
            <a:off x="6015380" y="3836670"/>
            <a:ext cx="53506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1000보다 2칸 더 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무거운 무게, t</a:t>
            </a:r>
            <a:endParaRPr lang="ko-KR" sz="4000" dirty="0"/>
          </a:p>
        </p:txBody>
      </p:sp>
      <p:sp>
        <p:nvSpPr>
          <p:cNvPr id="3" name="S05-text9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무거운 것은 t으로 나타내요.</a:t>
            </a:r>
            <a:endParaRPr lang="ko-KR" sz="3000" dirty="0"/>
          </a:p>
        </p:txBody>
      </p:sp>
      <p:sp>
        <p:nvSpPr>
          <p:cNvPr id="4" name="S05-card9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9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kg을 1 t이라 하고 ‘1 톤’이라고 읽어요.</a:t>
            </a:r>
            <a:endParaRPr lang="ko-KR" sz="3000" dirty="0"/>
          </a:p>
        </p:txBody>
      </p:sp>
      <p:sp>
        <p:nvSpPr>
          <p:cNvPr id="6" name="S05-bigtext94"/>
          <p:cNvSpPr txBox="1"/>
          <p:nvPr/>
        </p:nvSpPr>
        <p:spPr>
          <a:xfrm>
            <a:off x="548640" y="2011680"/>
            <a:ext cx="5362956" cy="2624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5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t</a:t>
            </a:r>
            <a:endParaRPr lang="ko-KR" sz="5400" dirty="0"/>
          </a:p>
        </p:txBody>
      </p:sp>
      <p:sp>
        <p:nvSpPr>
          <p:cNvPr id="7" name="S05-label95"/>
          <p:cNvSpPr txBox="1"/>
          <p:nvPr/>
        </p:nvSpPr>
        <p:spPr>
          <a:xfrm>
            <a:off x="548640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톤</a:t>
            </a:r>
            <a:endParaRPr lang="ko-KR" sz="2400" dirty="0"/>
          </a:p>
        </p:txBody>
      </p:sp>
      <p:sp>
        <p:nvSpPr>
          <p:cNvPr id="8" name="S05-card96"/>
          <p:cNvSpPr/>
          <p:nvPr/>
        </p:nvSpPr>
        <p:spPr>
          <a:xfrm>
            <a:off x="6277356" y="203454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5-cardtext97"/>
          <p:cNvSpPr txBox="1"/>
          <p:nvPr/>
        </p:nvSpPr>
        <p:spPr>
          <a:xfrm>
            <a:off x="6551676" y="217170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t = 1000 kg</a:t>
            </a:r>
            <a:endParaRPr lang="ko-KR" sz="3000" dirty="0"/>
          </a:p>
        </p:txBody>
      </p:sp>
      <p:sp>
        <p:nvSpPr>
          <p:cNvPr id="10" name="S05-card98"/>
          <p:cNvSpPr/>
          <p:nvPr/>
        </p:nvSpPr>
        <p:spPr>
          <a:xfrm>
            <a:off x="6277356" y="31318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5-cardtext99"/>
          <p:cNvSpPr txBox="1"/>
          <p:nvPr/>
        </p:nvSpPr>
        <p:spPr>
          <a:xfrm>
            <a:off x="6551676" y="32689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자동차 한 대가 약 1 t</a:t>
            </a:r>
            <a:endParaRPr lang="ko-KR" sz="3000" dirty="0"/>
          </a:p>
        </p:txBody>
      </p:sp>
      <p:sp>
        <p:nvSpPr>
          <p:cNvPr id="12" name="S05-card100"/>
          <p:cNvSpPr/>
          <p:nvPr/>
        </p:nvSpPr>
        <p:spPr>
          <a:xfrm>
            <a:off x="6277356" y="422910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5-cardtext101"/>
          <p:cNvSpPr txBox="1"/>
          <p:nvPr/>
        </p:nvSpPr>
        <p:spPr>
          <a:xfrm>
            <a:off x="6551676" y="436626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t = 2000 kg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무게를 어림해요</a:t>
            </a:r>
            <a:endParaRPr lang="ko-KR" sz="4000" dirty="0"/>
          </a:p>
        </p:txBody>
      </p:sp>
      <p:sp>
        <p:nvSpPr>
          <p:cNvPr id="3" name="S06-text10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기준이 되는 무게를 알면 어림할 수 있어요.</a:t>
            </a:r>
            <a:endParaRPr lang="ko-KR" sz="3000" dirty="0"/>
          </a:p>
        </p:txBody>
      </p:sp>
      <p:sp>
        <p:nvSpPr>
          <p:cNvPr id="4" name="S06-card10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10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가벼운 것은 g, 무거운 것은 kg, 아주 무거운 것은 t</a:t>
            </a:r>
            <a:endParaRPr lang="ko-KR" sz="3000" dirty="0"/>
          </a:p>
        </p:txBody>
      </p:sp>
      <p:graphicFrame>
        <p:nvGraphicFramePr>
          <p:cNvPr id="7" name="S06-table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436876" y="2148840"/>
          <a:ext cx="73152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291840"/>
              </a:tblGrid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물건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100원짜리 동전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5 g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사과 한 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300 g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우유 1 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 kg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쌀 한 포대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 kg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작은 자동차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약 1 t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바꾸고 어림해요</a:t>
            </a:r>
            <a:endParaRPr lang="ko-KR" sz="4000" dirty="0"/>
          </a:p>
        </p:txBody>
      </p:sp>
      <p:sp>
        <p:nvSpPr>
          <p:cNvPr id="3" name="S07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④는 □에 알맞은 단위(g, kg, t)를 써요.</a:t>
            </a:r>
            <a:endParaRPr lang="ko-KR" sz="3000" dirty="0"/>
          </a:p>
        </p:txBody>
      </p:sp>
      <p:sp>
        <p:nvSpPr>
          <p:cNvPr id="4" name="S07-card10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7-cardtext10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= 1000 g, 1 t = 1000 kg이에요.</a:t>
            </a:r>
            <a:endParaRPr lang="ko-KR" sz="3000" dirty="0"/>
          </a:p>
        </p:txBody>
      </p:sp>
      <p:sp>
        <p:nvSpPr>
          <p:cNvPr id="6" name="S07-chip109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7-eqtext110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kg 200 g = □ g</a:t>
            </a:r>
            <a:endParaRPr lang="ko-KR" sz="3000" dirty="0"/>
          </a:p>
        </p:txBody>
      </p:sp>
      <p:sp>
        <p:nvSpPr>
          <p:cNvPr id="8" name="S07-chip111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7-eqtext112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1050 g = □ kg □ g</a:t>
            </a:r>
            <a:endParaRPr lang="ko-KR" sz="3000" dirty="0"/>
          </a:p>
        </p:txBody>
      </p:sp>
      <p:sp>
        <p:nvSpPr>
          <p:cNvPr id="10" name="S07-chip113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7-eqtext114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t = □ kg</a:t>
            </a:r>
            <a:endParaRPr lang="ko-KR" sz="3000" dirty="0"/>
          </a:p>
        </p:txBody>
      </p:sp>
      <p:sp>
        <p:nvSpPr>
          <p:cNvPr id="12" name="S07-chip115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7-text116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수박 한 통: 약 6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8-card11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11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kg 50 g은 몇 g일까요?</a:t>
            </a:r>
            <a:endParaRPr lang="ko-KR" sz="3000" dirty="0"/>
          </a:p>
        </p:txBody>
      </p:sp>
      <p:sp>
        <p:nvSpPr>
          <p:cNvPr id="5" name="S08-card11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12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8-chip12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250 g</a:t>
            </a:r>
            <a:endParaRPr lang="ko-KR" sz="2400" dirty="0"/>
          </a:p>
        </p:txBody>
      </p:sp>
      <p:sp>
        <p:nvSpPr>
          <p:cNvPr id="8" name="S08-text12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2와 50을 붙여 썼어요.</a:t>
            </a:r>
            <a:endParaRPr lang="ko-KR" sz="3000" dirty="0"/>
          </a:p>
        </p:txBody>
      </p:sp>
      <p:sp>
        <p:nvSpPr>
          <p:cNvPr id="9" name="S08-chip12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2050 g</a:t>
            </a:r>
            <a:endParaRPr lang="ko-KR" sz="2400" dirty="0"/>
          </a:p>
        </p:txBody>
      </p:sp>
      <p:sp>
        <p:nvSpPr>
          <p:cNvPr id="10" name="S08-text124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 g + 50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= 2050 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무게의 덧셈</a:t>
            </a:r>
            <a:endParaRPr lang="ko-KR" sz="4000" dirty="0"/>
          </a:p>
        </p:txBody>
      </p:sp>
      <p:sp>
        <p:nvSpPr>
          <p:cNvPr id="3" name="S09-text12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 kg 700 g + 1 kg 500 g을 세로로 계산해요.</a:t>
            </a:r>
            <a:endParaRPr lang="ko-KR" sz="3000" dirty="0"/>
          </a:p>
        </p:txBody>
      </p:sp>
      <p:sp>
        <p:nvSpPr>
          <p:cNvPr id="4" name="S09-card12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9-cardtext12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g은 1 kg으로 받아올려요.</a:t>
            </a:r>
            <a:endParaRPr lang="ko-KR" sz="3000" dirty="0"/>
          </a:p>
        </p:txBody>
      </p:sp>
      <p:graphicFrame>
        <p:nvGraphicFramePr>
          <p:cNvPr id="10" name="S09-table1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700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09-stepno129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09-text130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g: 700 + 500 = 1200</a:t>
            </a:r>
            <a:endParaRPr lang="ko-KR" sz="3000" dirty="0"/>
          </a:p>
        </p:txBody>
      </p:sp>
      <p:sp>
        <p:nvSpPr>
          <p:cNvPr id="9" name="S09-stepno131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09-text132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1200 g = 1 kg 200 g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200을 쓰고 1 kg을 올려요.</a:t>
            </a:r>
            <a:endParaRPr lang="ko-KR" sz="3000" dirty="0"/>
          </a:p>
        </p:txBody>
      </p:sp>
      <p:sp>
        <p:nvSpPr>
          <p:cNvPr id="11" name="S09-stepno133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09-text134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kg: 1 + 2 + 1 = 4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무게의 뺄셈</a:t>
            </a:r>
            <a:endParaRPr lang="ko-KR" sz="4000" dirty="0"/>
          </a:p>
        </p:txBody>
      </p:sp>
      <p:sp>
        <p:nvSpPr>
          <p:cNvPr id="3" name="S10-text13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kg 300 g − 1 kg 800 g을 세로로 계산해요.</a:t>
            </a:r>
            <a:endParaRPr lang="ko-KR" sz="3000" dirty="0"/>
          </a:p>
        </p:txBody>
      </p:sp>
      <p:sp>
        <p:nvSpPr>
          <p:cNvPr id="4" name="S10-card13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13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받아내린 1 kg은 1000 g이에요.</a:t>
            </a:r>
            <a:endParaRPr lang="ko-KR" sz="3000" dirty="0"/>
          </a:p>
        </p:txBody>
      </p:sp>
      <p:graphicFrame>
        <p:nvGraphicFramePr>
          <p:cNvPr id="11" name="S10-table1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90709" y="2188210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1000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4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−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2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500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10-stepno139"/>
          <p:cNvSpPr txBox="1"/>
          <p:nvPr/>
        </p:nvSpPr>
        <p:spPr>
          <a:xfrm>
            <a:off x="548640" y="238810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8" name="S10-text140"/>
          <p:cNvSpPr txBox="1"/>
          <p:nvPr/>
        </p:nvSpPr>
        <p:spPr>
          <a:xfrm>
            <a:off x="1325880" y="2388108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g: 300에서 800을 뺄 수 없어요.</a:t>
            </a:r>
            <a:endParaRPr lang="ko-KR" sz="3000" dirty="0"/>
          </a:p>
        </p:txBody>
      </p:sp>
      <p:sp>
        <p:nvSpPr>
          <p:cNvPr id="9" name="S10-stepno141"/>
          <p:cNvSpPr txBox="1"/>
          <p:nvPr/>
        </p:nvSpPr>
        <p:spPr>
          <a:xfrm>
            <a:off x="548640" y="314706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" name="S10-text142"/>
          <p:cNvSpPr txBox="1"/>
          <p:nvPr/>
        </p:nvSpPr>
        <p:spPr>
          <a:xfrm>
            <a:off x="1325880" y="3101340"/>
            <a:ext cx="5872825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kg을 1000 g으로 받아내려요.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+ 300 − 800 = 500</a:t>
            </a:r>
            <a:endParaRPr lang="ko-KR" sz="3000" dirty="0"/>
          </a:p>
        </p:txBody>
      </p:sp>
      <p:sp>
        <p:nvSpPr>
          <p:cNvPr id="11" name="S10-stepno143"/>
          <p:cNvSpPr txBox="1"/>
          <p:nvPr/>
        </p:nvSpPr>
        <p:spPr>
          <a:xfrm>
            <a:off x="548640" y="419557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2" name="S10-text144"/>
          <p:cNvSpPr txBox="1"/>
          <p:nvPr/>
        </p:nvSpPr>
        <p:spPr>
          <a:xfrm>
            <a:off x="1325880" y="4195572"/>
            <a:ext cx="587282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kg: 3 − 1 = 2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세로로 계산해요</a:t>
            </a:r>
            <a:endParaRPr lang="ko-KR" sz="4000" dirty="0"/>
          </a:p>
        </p:txBody>
      </p:sp>
      <p:sp>
        <p:nvSpPr>
          <p:cNvPr id="3" name="S11-card1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4" name="S11-cardtext1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 g이 되면 1 kg으로 올려요.</a:t>
            </a:r>
            <a:endParaRPr lang="ko-KR" sz="3000" dirty="0"/>
          </a:p>
        </p:txBody>
      </p:sp>
      <p:graphicFrame>
        <p:nvGraphicFramePr>
          <p:cNvPr id="12" name="S11-table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7154" y="1701419"/>
          <a:ext cx="4023360" cy="914400"/>
        </p:xfrm>
        <a:graphic>
          <a:graphicData uri="http://schemas.openxmlformats.org/drawingml/2006/table">
            <a:tbl>
              <a:tblPr/>
              <a:tblGrid>
                <a:gridCol w="1341120"/>
                <a:gridCol w="1341120"/>
                <a:gridCol w="1341120"/>
              </a:tblGrid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kg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g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+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800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181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□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11-label148"/>
          <p:cNvSpPr txBox="1"/>
          <p:nvPr/>
        </p:nvSpPr>
        <p:spPr>
          <a:xfrm>
            <a:off x="6277356" y="4709160"/>
            <a:ext cx="53629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②를 세로로</a:t>
            </a:r>
            <a:endParaRPr lang="ko-KR" sz="2400" dirty="0"/>
          </a:p>
        </p:txBody>
      </p:sp>
      <p:sp>
        <p:nvSpPr>
          <p:cNvPr id="7" name="S11-chip149"/>
          <p:cNvSpPr txBox="1"/>
          <p:nvPr/>
        </p:nvSpPr>
        <p:spPr>
          <a:xfrm>
            <a:off x="548640" y="16139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8" name="S11-eqtext150"/>
          <p:cNvSpPr txBox="1"/>
          <p:nvPr/>
        </p:nvSpPr>
        <p:spPr>
          <a:xfrm>
            <a:off x="1344168" y="132588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400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kg 300 g</a:t>
            </a:r>
            <a:endParaRPr lang="ko-KR" sz="3000" dirty="0"/>
          </a:p>
        </p:txBody>
      </p:sp>
      <p:sp>
        <p:nvSpPr>
          <p:cNvPr id="9" name="S11-chip151"/>
          <p:cNvSpPr txBox="1"/>
          <p:nvPr/>
        </p:nvSpPr>
        <p:spPr>
          <a:xfrm>
            <a:off x="548640" y="29397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10" name="S11-eqtext152"/>
          <p:cNvSpPr txBox="1"/>
          <p:nvPr/>
        </p:nvSpPr>
        <p:spPr>
          <a:xfrm>
            <a:off x="1344168" y="265176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kg 600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+ 800 g</a:t>
            </a:r>
            <a:endParaRPr lang="ko-KR" sz="3000" dirty="0"/>
          </a:p>
        </p:txBody>
      </p:sp>
      <p:sp>
        <p:nvSpPr>
          <p:cNvPr id="11" name="S11-chip153"/>
          <p:cNvSpPr txBox="1"/>
          <p:nvPr/>
        </p:nvSpPr>
        <p:spPr>
          <a:xfrm>
            <a:off x="548640" y="42656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2" name="S11-eqtext154"/>
          <p:cNvSpPr txBox="1"/>
          <p:nvPr/>
        </p:nvSpPr>
        <p:spPr>
          <a:xfrm>
            <a:off x="1344168" y="3977640"/>
            <a:ext cx="4567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 kg 200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− 2 kg 700 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15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③④는 세로로 써서 계산해요.</a:t>
            </a:r>
            <a:endParaRPr lang="ko-KR" sz="3000" dirty="0"/>
          </a:p>
        </p:txBody>
      </p:sp>
      <p:sp>
        <p:nvSpPr>
          <p:cNvPr id="4" name="S12-chip156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2-eqtext157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 kg 80 g = □ g</a:t>
            </a:r>
            <a:endParaRPr lang="ko-KR" sz="3000" dirty="0"/>
          </a:p>
        </p:txBody>
      </p:sp>
      <p:sp>
        <p:nvSpPr>
          <p:cNvPr id="6" name="S12-chip158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2-eqtext159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 t = □ kg</a:t>
            </a:r>
            <a:endParaRPr lang="ko-KR" sz="3000" dirty="0"/>
          </a:p>
        </p:txBody>
      </p:sp>
      <p:sp>
        <p:nvSpPr>
          <p:cNvPr id="8" name="S12-chip160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2-eqtext161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650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+ 2 kg 550 g</a:t>
            </a:r>
            <a:endParaRPr lang="ko-KR" sz="3000" dirty="0"/>
          </a:p>
        </p:txBody>
      </p:sp>
      <p:sp>
        <p:nvSpPr>
          <p:cNvPr id="10" name="S12-chip162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2-eqtext163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 kg 100 g</a:t>
            </a:r>
            <a:endParaRPr lang="ko-KR" sz="3000" dirty="0"/>
          </a:p>
          <a:p>
            <a:pPr eaLnBrk="0" algn="l" indent="0" marL="0"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− 3 kg 400 g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164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165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kg·g 칸에 다시 써서 같은 단위끼리 계산하게 하세요.</a:t>
            </a:r>
            <a:endParaRPr lang="ko-KR" sz="3000" dirty="0"/>
          </a:p>
        </p:txBody>
      </p:sp>
      <p:sp>
        <p:nvSpPr>
          <p:cNvPr id="5" name="S13-chip166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167"/>
          <p:cNvSpPr txBox="1"/>
          <p:nvPr/>
        </p:nvSpPr>
        <p:spPr>
          <a:xfrm>
            <a:off x="548640" y="2057400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4080 g</a:t>
            </a:r>
            <a:endParaRPr lang="ko-KR" sz="3000" dirty="0"/>
          </a:p>
        </p:txBody>
      </p:sp>
      <p:sp>
        <p:nvSpPr>
          <p:cNvPr id="7" name="S13-text168"/>
          <p:cNvSpPr txBox="1"/>
          <p:nvPr/>
        </p:nvSpPr>
        <p:spPr>
          <a:xfrm>
            <a:off x="3367278" y="2057400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4000 + 80</a:t>
            </a:r>
            <a:endParaRPr lang="ko-KR" sz="2400" dirty="0"/>
          </a:p>
        </p:txBody>
      </p:sp>
      <p:sp>
        <p:nvSpPr>
          <p:cNvPr id="8" name="S13-text169"/>
          <p:cNvSpPr txBox="1"/>
          <p:nvPr/>
        </p:nvSpPr>
        <p:spPr>
          <a:xfrm>
            <a:off x="548640" y="2759964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3000 kg</a:t>
            </a:r>
            <a:endParaRPr lang="ko-KR" sz="3000" dirty="0"/>
          </a:p>
        </p:txBody>
      </p:sp>
      <p:sp>
        <p:nvSpPr>
          <p:cNvPr id="9" name="S13-text170"/>
          <p:cNvSpPr txBox="1"/>
          <p:nvPr/>
        </p:nvSpPr>
        <p:spPr>
          <a:xfrm>
            <a:off x="3367278" y="2759964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× 3</a:t>
            </a:r>
            <a:endParaRPr lang="ko-KR" sz="2400" dirty="0"/>
          </a:p>
        </p:txBody>
      </p:sp>
      <p:sp>
        <p:nvSpPr>
          <p:cNvPr id="10" name="S13-text171"/>
          <p:cNvSpPr txBox="1"/>
          <p:nvPr/>
        </p:nvSpPr>
        <p:spPr>
          <a:xfrm>
            <a:off x="548640" y="3462528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 kg 200 g</a:t>
            </a:r>
            <a:endParaRPr lang="ko-KR" sz="3000" dirty="0"/>
          </a:p>
        </p:txBody>
      </p:sp>
      <p:sp>
        <p:nvSpPr>
          <p:cNvPr id="11" name="S13-text172"/>
          <p:cNvSpPr txBox="1"/>
          <p:nvPr/>
        </p:nvSpPr>
        <p:spPr>
          <a:xfrm>
            <a:off x="3367278" y="3462528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올림</a:t>
            </a:r>
            <a:endParaRPr lang="ko-KR" sz="2400" dirty="0"/>
          </a:p>
        </p:txBody>
      </p:sp>
      <p:sp>
        <p:nvSpPr>
          <p:cNvPr id="12" name="S13-text173"/>
          <p:cNvSpPr txBox="1"/>
          <p:nvPr/>
        </p:nvSpPr>
        <p:spPr>
          <a:xfrm>
            <a:off x="548640" y="4165092"/>
            <a:ext cx="268147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 kg 700 g</a:t>
            </a:r>
            <a:endParaRPr lang="ko-KR" sz="3000" dirty="0"/>
          </a:p>
        </p:txBody>
      </p:sp>
      <p:sp>
        <p:nvSpPr>
          <p:cNvPr id="13" name="S13-text174"/>
          <p:cNvSpPr txBox="1"/>
          <p:nvPr/>
        </p:nvSpPr>
        <p:spPr>
          <a:xfrm>
            <a:off x="3367278" y="4165092"/>
            <a:ext cx="2544318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1100 − 400</a:t>
            </a:r>
            <a:endParaRPr lang="ko-KR" sz="2400" dirty="0"/>
          </a:p>
        </p:txBody>
      </p:sp>
      <p:sp>
        <p:nvSpPr>
          <p:cNvPr id="14" name="S13-chip175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5" name="S13-text176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480 g</a:t>
            </a:r>
            <a:endParaRPr lang="ko-KR" sz="3000" dirty="0"/>
          </a:p>
        </p:txBody>
      </p:sp>
      <p:sp>
        <p:nvSpPr>
          <p:cNvPr id="16" name="S13-text177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4와 80을 붙임</a:t>
            </a:r>
            <a:endParaRPr lang="ko-KR" sz="2400" dirty="0"/>
          </a:p>
        </p:txBody>
      </p:sp>
      <p:sp>
        <p:nvSpPr>
          <p:cNvPr id="17" name="S13-text178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3 kg 300 g</a:t>
            </a:r>
            <a:endParaRPr lang="ko-KR" sz="3000" dirty="0"/>
          </a:p>
        </p:txBody>
      </p:sp>
      <p:sp>
        <p:nvSpPr>
          <p:cNvPr id="18" name="S13-text179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400 − 100을 함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어림은?</a:t>
            </a:r>
            <a:endParaRPr lang="ko-KR" sz="4000" dirty="0"/>
          </a:p>
        </p:txBody>
      </p:sp>
      <p:sp>
        <p:nvSpPr>
          <p:cNvPr id="3" name="S14-text18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고양이 한 마리의 무게는?</a:t>
            </a:r>
            <a:endParaRPr lang="ko-KR" sz="3000" dirty="0"/>
          </a:p>
        </p:txBody>
      </p:sp>
      <p:sp>
        <p:nvSpPr>
          <p:cNvPr id="4" name="S14-card18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18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것을 고르고, 까닭을 말해요.</a:t>
            </a:r>
            <a:endParaRPr lang="ko-KR" sz="3000" dirty="0"/>
          </a:p>
        </p:txBody>
      </p:sp>
      <p:sp>
        <p:nvSpPr>
          <p:cNvPr id="6" name="S14-chip183"/>
          <p:cNvSpPr txBox="1"/>
          <p:nvPr/>
        </p:nvSpPr>
        <p:spPr>
          <a:xfrm>
            <a:off x="1991868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bigtext184"/>
          <p:cNvSpPr txBox="1"/>
          <p:nvPr/>
        </p:nvSpPr>
        <p:spPr>
          <a:xfrm>
            <a:off x="548640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 g</a:t>
            </a:r>
            <a:endParaRPr lang="ko-KR" sz="4400" dirty="0"/>
          </a:p>
        </p:txBody>
      </p:sp>
      <p:sp>
        <p:nvSpPr>
          <p:cNvPr id="8" name="S14-chip185"/>
          <p:cNvSpPr txBox="1"/>
          <p:nvPr/>
        </p:nvSpPr>
        <p:spPr>
          <a:xfrm>
            <a:off x="5811012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9" name="S14-bigtext186"/>
          <p:cNvSpPr txBox="1"/>
          <p:nvPr/>
        </p:nvSpPr>
        <p:spPr>
          <a:xfrm>
            <a:off x="4367784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 kg</a:t>
            </a:r>
            <a:endParaRPr lang="ko-KR" sz="4400" dirty="0"/>
          </a:p>
        </p:txBody>
      </p:sp>
      <p:sp>
        <p:nvSpPr>
          <p:cNvPr id="10" name="S14-chip187"/>
          <p:cNvSpPr txBox="1"/>
          <p:nvPr/>
        </p:nvSpPr>
        <p:spPr>
          <a:xfrm>
            <a:off x="9630156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000" dirty="0"/>
          </a:p>
        </p:txBody>
      </p:sp>
      <p:sp>
        <p:nvSpPr>
          <p:cNvPr id="11" name="S14-bigtext188"/>
          <p:cNvSpPr txBox="1"/>
          <p:nvPr/>
        </p:nvSpPr>
        <p:spPr>
          <a:xfrm>
            <a:off x="8186928" y="2715768"/>
            <a:ext cx="3453384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4 t</a:t>
            </a:r>
            <a:endParaRPr lang="ko-KR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189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190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 kg = 1000 g, 1 t = 1000 kg이에요. 같은 단위끼리 계산해요.</a:t>
            </a:r>
            <a:endParaRPr lang="ko-KR" sz="3000" dirty="0"/>
          </a:p>
        </p:txBody>
      </p:sp>
      <p:sp>
        <p:nvSpPr>
          <p:cNvPr id="5" name="S15-chip191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1000 g은 1 kg으로 올리기</a:t>
            </a:r>
            <a:endParaRPr lang="ko-KR" sz="2400" dirty="0"/>
          </a:p>
        </p:txBody>
      </p:sp>
      <p:sp>
        <p:nvSpPr>
          <p:cNvPr id="6" name="S15-chip192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en-US" altLang="ko-KR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2 kg 50 g = 250 g</a:t>
            </a:r>
            <a:endParaRPr lang="ko-KR" sz="2400" dirty="0"/>
          </a:p>
        </p:txBody>
      </p:sp>
      <p:sp>
        <p:nvSpPr>
          <p:cNvPr id="7" name="S15-text193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194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 kg 300 g은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g?</a:t>
            </a:r>
            <a:endParaRPr lang="ko-KR" sz="2400" dirty="0"/>
          </a:p>
        </p:txBody>
      </p:sp>
      <p:sp>
        <p:nvSpPr>
          <p:cNvPr id="9" name="S15-text195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2 kg 600 g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+ 1 kg 700 g은?</a:t>
            </a:r>
            <a:endParaRPr lang="ko-KR" sz="2400" dirty="0"/>
          </a:p>
        </p:txBody>
      </p:sp>
      <p:sp>
        <p:nvSpPr>
          <p:cNvPr id="10" name="S15-text196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3 t은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kg?</a:t>
            </a:r>
            <a:endParaRPr lang="ko-KR" sz="2400" dirty="0"/>
          </a:p>
        </p:txBody>
      </p:sp>
      <p:sp>
        <p:nvSpPr>
          <p:cNvPr id="11" name="S15-text197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길이의 덧셈과 뺄셈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무게 비교하기</a:t>
            </a:r>
            <a:endParaRPr lang="ko-KR" sz="4000" dirty="0"/>
          </a:p>
        </p:txBody>
      </p:sp>
      <p:sp>
        <p:nvSpPr>
          <p:cNvPr id="3" name="S16-text19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양팔 저울에 100원짜리 동전을 올려 비교했어요.</a:t>
            </a:r>
            <a:endParaRPr lang="ko-KR" sz="3000" dirty="0"/>
          </a:p>
        </p:txBody>
      </p:sp>
      <p:sp>
        <p:nvSpPr>
          <p:cNvPr id="4" name="S16-card19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6-cardtext20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동전이 더 많이 필요한 풀이 더 무거워요.</a:t>
            </a:r>
            <a:endParaRPr lang="ko-KR" sz="3000" dirty="0"/>
          </a:p>
        </p:txBody>
      </p:sp>
      <p:sp>
        <p:nvSpPr>
          <p:cNvPr id="6" name="S16-dot201"/>
          <p:cNvSpPr/>
          <p:nvPr/>
        </p:nvSpPr>
        <p:spPr>
          <a:xfrm>
            <a:off x="200025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6-dot202"/>
          <p:cNvSpPr/>
          <p:nvPr/>
        </p:nvSpPr>
        <p:spPr>
          <a:xfrm>
            <a:off x="268605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6-dot203"/>
          <p:cNvSpPr/>
          <p:nvPr/>
        </p:nvSpPr>
        <p:spPr>
          <a:xfrm>
            <a:off x="337185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6-dot204"/>
          <p:cNvSpPr/>
          <p:nvPr/>
        </p:nvSpPr>
        <p:spPr>
          <a:xfrm>
            <a:off x="4057650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6-dot205"/>
          <p:cNvSpPr/>
          <p:nvPr/>
        </p:nvSpPr>
        <p:spPr>
          <a:xfrm>
            <a:off x="2000250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16-dot206"/>
          <p:cNvSpPr/>
          <p:nvPr/>
        </p:nvSpPr>
        <p:spPr>
          <a:xfrm>
            <a:off x="2686050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6-dot207"/>
          <p:cNvSpPr/>
          <p:nvPr/>
        </p:nvSpPr>
        <p:spPr>
          <a:xfrm>
            <a:off x="3371850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6-dot208"/>
          <p:cNvSpPr/>
          <p:nvPr/>
        </p:nvSpPr>
        <p:spPr>
          <a:xfrm>
            <a:off x="4057650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6-figure209" descr="점 8개(풀과 무게가 같은 동전 8개)"/>
          <p:cNvSpPr/>
          <p:nvPr/>
        </p:nvSpPr>
        <p:spPr>
          <a:xfrm>
            <a:off x="1869948" y="2638044"/>
            <a:ext cx="27432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16-label210"/>
          <p:cNvSpPr txBox="1"/>
          <p:nvPr/>
        </p:nvSpPr>
        <p:spPr>
          <a:xfrm>
            <a:off x="548640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풀: 동전 8개</a:t>
            </a:r>
            <a:endParaRPr lang="ko-KR" sz="2400" dirty="0"/>
          </a:p>
        </p:txBody>
      </p:sp>
      <p:sp>
        <p:nvSpPr>
          <p:cNvPr id="16" name="S16-dot211"/>
          <p:cNvSpPr/>
          <p:nvPr/>
        </p:nvSpPr>
        <p:spPr>
          <a:xfrm>
            <a:off x="7706106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16-dot212"/>
          <p:cNvSpPr/>
          <p:nvPr/>
        </p:nvSpPr>
        <p:spPr>
          <a:xfrm>
            <a:off x="8391906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6-dot213"/>
          <p:cNvSpPr/>
          <p:nvPr/>
        </p:nvSpPr>
        <p:spPr>
          <a:xfrm>
            <a:off x="9077706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16-dot214"/>
          <p:cNvSpPr/>
          <p:nvPr/>
        </p:nvSpPr>
        <p:spPr>
          <a:xfrm>
            <a:off x="9763506" y="27683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16-dot215"/>
          <p:cNvSpPr/>
          <p:nvPr/>
        </p:nvSpPr>
        <p:spPr>
          <a:xfrm>
            <a:off x="7706106" y="345414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16-figure216" descr="점 5개(지우개와 무게가 같은 동전 5개)"/>
          <p:cNvSpPr/>
          <p:nvPr/>
        </p:nvSpPr>
        <p:spPr>
          <a:xfrm>
            <a:off x="7575804" y="2638044"/>
            <a:ext cx="27432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16-label217"/>
          <p:cNvSpPr txBox="1"/>
          <p:nvPr/>
        </p:nvSpPr>
        <p:spPr>
          <a:xfrm>
            <a:off x="6254496" y="4709160"/>
            <a:ext cx="5385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지우개: 동전 5개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무게</dc:title>
  <dc:subject>KR22-G03-MAT-WEIGHT-L01</dc:subject>
  <dc:creator>education-ppt</dc:creator>
  <cp:lastModifiedBy>education-ppt</cp:lastModifiedBy>
  <cp:revision>1</cp:revision>
  <dcterms:created xsi:type="dcterms:W3CDTF">2026-10-26T08:29:41Z</dcterms:created>
  <dcterms:modified xsi:type="dcterms:W3CDTF">2026-10-26T08:29:41Z</dcterms:modified>
</cp:coreProperties>
</file>