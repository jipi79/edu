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baff38d-0ab0-c435-991c-36c27fd66b4f}">
          <p14:sldIdLst>
            <p14:sldId id="256"/>
            <p14:sldId id="257"/>
          </p14:sldIdLst>
        </p14:section>
        <p14:section name="개념" id="{30449fe3-8924-af00-a16a-8626de38f272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4be48d50-3197-c081-3887-c635afc236d6}">
          <p14:sldIdLst>
            <p14:sldId id="262"/>
            <p14:sldId id="263"/>
            <p14:sldId id="265"/>
          </p14:sldIdLst>
        </p14:section>
        <p14:section name="개념" id="{3c1ab53c-17d5-be0c-e128-8255bfa13536}">
          <p14:sldIdLst/>
        </p14:section>
        <p14:section name="연습" id="{f7870113-c1a0-4add-2e1e-c5914ce50fb2}">
          <p14:sldIdLst/>
        </p14:section>
        <p14:section name="확인" id="{766cc171-0987-0b5a-dc09-eaa5d0f2d4bd}">
          <p14:sldIdLst>
            <p14:sldId id="266"/>
            <p14:sldId id="267"/>
          </p14:sldIdLst>
        </p14:section>
        <p14:section name="정리" id="{8a66c760-247e-ac93-ad56-a3d8a0b599f5}">
          <p14:sldIdLst>
            <p14:sldId id="268"/>
          </p14:sldIdLst>
        </p14:section>
        <p14:section name="보충" id="{5c3e7ef7-4fa5-f677-507f-7fdc4acd155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원의 중심·반지름·지름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원의 중심·반지름·지름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원의 중심·반지름·지름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중심·반지름·지름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가운데에서 원까지의 길이는 모두 같을까?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과 가운데 점 ㅇ, 점 ㅇ에서 원 위의 점 ㄱ까지 그은 선분"/>
          <p:cNvSpPr/>
          <p:nvPr/>
        </p:nvSpPr>
        <p:spPr>
          <a:xfrm>
            <a:off x="8549640" y="1005840"/>
            <a:ext cx="2194560" cy="219456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V="1">
            <a:off x="9646920" y="1554480"/>
            <a:ext cx="950244" cy="5486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587484" y="204368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10537728" y="14950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label7"/>
          <p:cNvSpPr txBox="1"/>
          <p:nvPr/>
        </p:nvSpPr>
        <p:spPr>
          <a:xfrm>
            <a:off x="9392920" y="20929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200" dirty="0"/>
          </a:p>
        </p:txBody>
      </p:sp>
      <p:sp>
        <p:nvSpPr>
          <p:cNvPr id="10" name="S01-label9"/>
          <p:cNvSpPr txBox="1"/>
          <p:nvPr/>
        </p:nvSpPr>
        <p:spPr>
          <a:xfrm>
            <a:off x="10554335" y="117855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1" name="S01-card1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1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원의 중심·반지름·지름을 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반지름을 정해 원을 그려요.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30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1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점을 곧게 이은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선의 이름은?</a:t>
            </a:r>
            <a:endParaRPr lang="ko-KR" sz="3000" dirty="0"/>
          </a:p>
        </p:txBody>
      </p:sp>
      <p:sp>
        <p:nvSpPr>
          <p:cNvPr id="6" name="S02-chip1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eqtext1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 = □</a:t>
            </a:r>
            <a:endParaRPr lang="ko-KR" sz="3400" dirty="0"/>
          </a:p>
        </p:txBody>
      </p:sp>
      <p:sp>
        <p:nvSpPr>
          <p:cNvPr id="8" name="S02-chip1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네 변의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길이는 어때요?</a:t>
            </a:r>
            <a:endParaRPr lang="ko-KR" sz="3000" dirty="0"/>
          </a:p>
        </p:txBody>
      </p:sp>
      <p:sp>
        <p:nvSpPr>
          <p:cNvPr id="10" name="S02-chip1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2-eqtext2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2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끈으로 원 그리기</a:t>
            </a:r>
            <a:endParaRPr lang="ko-KR" sz="4000" dirty="0"/>
          </a:p>
        </p:txBody>
      </p:sp>
      <p:sp>
        <p:nvSpPr>
          <p:cNvPr id="3" name="S03-card21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2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누름 못이나 압정 대신 손가락으로 눌러요. 연필 끝을 얼굴 쪽으로 돌리지 않아요.</a:t>
            </a:r>
            <a:endParaRPr lang="ko-KR" sz="3000" dirty="0"/>
          </a:p>
        </p:txBody>
      </p:sp>
      <p:sp>
        <p:nvSpPr>
          <p:cNvPr id="5" name="S03-card23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4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그렸는지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끈이 계속 팽팽했나요?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누른 점이 움직이지 않았나요?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처음 자리로 돌아왔나요?</a:t>
            </a:r>
            <a:endParaRPr lang="ko-KR" sz="3000" dirty="0"/>
          </a:p>
        </p:txBody>
      </p:sp>
      <p:sp>
        <p:nvSpPr>
          <p:cNvPr id="7" name="S03-stepno25"/>
          <p:cNvSpPr txBox="1"/>
          <p:nvPr/>
        </p:nvSpPr>
        <p:spPr>
          <a:xfrm>
            <a:off x="548640" y="18455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3-text26"/>
          <p:cNvSpPr txBox="1"/>
          <p:nvPr/>
        </p:nvSpPr>
        <p:spPr>
          <a:xfrm>
            <a:off x="1325880" y="18455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가운데에 점 ㅇ을 찍어요.</a:t>
            </a:r>
            <a:endParaRPr lang="ko-KR" sz="2400" dirty="0"/>
          </a:p>
        </p:txBody>
      </p:sp>
      <p:sp>
        <p:nvSpPr>
          <p:cNvPr id="9" name="S03-stepno27"/>
          <p:cNvSpPr txBox="1"/>
          <p:nvPr/>
        </p:nvSpPr>
        <p:spPr>
          <a:xfrm>
            <a:off x="548640" y="2604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3-text28"/>
          <p:cNvSpPr txBox="1"/>
          <p:nvPr/>
        </p:nvSpPr>
        <p:spPr>
          <a:xfrm>
            <a:off x="1325880" y="255879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한쪽 끝을 점 ㅇ에 대고 손가락으로 꼭 눌러요.</a:t>
            </a:r>
            <a:endParaRPr lang="ko-KR" sz="2400" dirty="0"/>
          </a:p>
        </p:txBody>
      </p:sp>
      <p:sp>
        <p:nvSpPr>
          <p:cNvPr id="11" name="S03-stepno29"/>
          <p:cNvSpPr txBox="1"/>
          <p:nvPr/>
        </p:nvSpPr>
        <p:spPr>
          <a:xfrm>
            <a:off x="548640" y="35128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3-text30"/>
          <p:cNvSpPr txBox="1"/>
          <p:nvPr/>
        </p:nvSpPr>
        <p:spPr>
          <a:xfrm>
            <a:off x="1325880" y="346710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쪽 끝을 연필에 감아 쥐고, 끈을 팽팽하게 하여 한 바퀴 돌려요.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중심과 반지름</a:t>
            </a:r>
            <a:endParaRPr lang="ko-KR" sz="4000" dirty="0"/>
          </a:p>
        </p:txBody>
      </p:sp>
      <p:sp>
        <p:nvSpPr>
          <p:cNvPr id="3" name="S04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끈을 누른 점이 원의 중심이에요.</a:t>
            </a:r>
            <a:endParaRPr lang="ko-KR" sz="3000" dirty="0"/>
          </a:p>
        </p:txBody>
      </p:sp>
      <p:sp>
        <p:nvSpPr>
          <p:cNvPr id="4" name="S04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원에서 반지름은 모두 같아요.</a:t>
            </a:r>
            <a:endParaRPr lang="ko-KR" sz="3000" dirty="0"/>
          </a:p>
        </p:txBody>
      </p:sp>
      <p:sp>
        <p:nvSpPr>
          <p:cNvPr id="6" name="S04-figure34" descr="원의 중심 ㅇ과 반지름 ㅇㄱ, ㅇㄴ, ㅇㄷ"/>
          <p:cNvSpPr/>
          <p:nvPr/>
        </p:nvSpPr>
        <p:spPr>
          <a:xfrm>
            <a:off x="2041398" y="2377440"/>
            <a:ext cx="2377440" cy="237744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35"/>
          <p:cNvSpPr/>
          <p:nvPr/>
        </p:nvSpPr>
        <p:spPr>
          <a:xfrm>
            <a:off x="3230118" y="3566160"/>
            <a:ext cx="11887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36"/>
          <p:cNvSpPr/>
          <p:nvPr/>
        </p:nvSpPr>
        <p:spPr>
          <a:xfrm flipV="1">
            <a:off x="3230118" y="2377440"/>
            <a:ext cx="0" cy="11887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37"/>
          <p:cNvSpPr/>
          <p:nvPr/>
        </p:nvSpPr>
        <p:spPr>
          <a:xfrm flipH="1">
            <a:off x="2200686" y="3566160"/>
            <a:ext cx="1029432" cy="5943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38"/>
          <p:cNvSpPr/>
          <p:nvPr/>
        </p:nvSpPr>
        <p:spPr>
          <a:xfrm>
            <a:off x="317068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mark39"/>
          <p:cNvSpPr/>
          <p:nvPr/>
        </p:nvSpPr>
        <p:spPr>
          <a:xfrm>
            <a:off x="435940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mark40"/>
          <p:cNvSpPr/>
          <p:nvPr/>
        </p:nvSpPr>
        <p:spPr>
          <a:xfrm>
            <a:off x="3170682" y="23180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mark41"/>
          <p:cNvSpPr/>
          <p:nvPr/>
        </p:nvSpPr>
        <p:spPr>
          <a:xfrm>
            <a:off x="2141250" y="410108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label43"/>
          <p:cNvSpPr txBox="1"/>
          <p:nvPr/>
        </p:nvSpPr>
        <p:spPr>
          <a:xfrm>
            <a:off x="3148539" y="348458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200" dirty="0"/>
          </a:p>
        </p:txBody>
      </p:sp>
      <p:sp>
        <p:nvSpPr>
          <p:cNvPr id="15" name="S04-label45"/>
          <p:cNvSpPr txBox="1"/>
          <p:nvPr/>
        </p:nvSpPr>
        <p:spPr>
          <a:xfrm>
            <a:off x="4408678" y="33121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6" name="S04-label47"/>
          <p:cNvSpPr txBox="1"/>
          <p:nvPr/>
        </p:nvSpPr>
        <p:spPr>
          <a:xfrm>
            <a:off x="2976118" y="18796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7" name="S04-label49"/>
          <p:cNvSpPr txBox="1"/>
          <p:nvPr/>
        </p:nvSpPr>
        <p:spPr>
          <a:xfrm>
            <a:off x="1735516" y="4028443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8" name="S04-card50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4-cardtext51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중심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한가운데 점 ㅇ</a:t>
            </a:r>
            <a:endParaRPr lang="ko-KR" sz="3000" dirty="0"/>
          </a:p>
        </p:txBody>
      </p:sp>
      <p:sp>
        <p:nvSpPr>
          <p:cNvPr id="20" name="S04-card52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4-cardtext53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중심과 원 위의 한 점을 이은 선분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4000" dirty="0"/>
          </a:p>
        </p:txBody>
      </p:sp>
      <p:sp>
        <p:nvSpPr>
          <p:cNvPr id="3" name="S05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중심을 지나는 선분 ㄱㄴ이 지름이에요.</a:t>
            </a:r>
            <a:endParaRPr lang="ko-KR" sz="3000" dirty="0"/>
          </a:p>
        </p:txBody>
      </p:sp>
      <p:sp>
        <p:nvSpPr>
          <p:cNvPr id="4" name="S05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원 안의 선분 중 가장 길어요.</a:t>
            </a:r>
            <a:endParaRPr lang="ko-KR" sz="3000" dirty="0"/>
          </a:p>
        </p:txBody>
      </p:sp>
      <p:sp>
        <p:nvSpPr>
          <p:cNvPr id="6" name="S05-figure57" descr="원의 중심 ㅇ을 지나는 지름 ㄱㄴ과, 중심을 지나지 않는 점선 선분 ㄷㄹ"/>
          <p:cNvSpPr/>
          <p:nvPr/>
        </p:nvSpPr>
        <p:spPr>
          <a:xfrm>
            <a:off x="2041398" y="2377440"/>
            <a:ext cx="2377440" cy="237744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58"/>
          <p:cNvSpPr/>
          <p:nvPr/>
        </p:nvSpPr>
        <p:spPr>
          <a:xfrm>
            <a:off x="2041398" y="3566160"/>
            <a:ext cx="23774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59"/>
          <p:cNvSpPr/>
          <p:nvPr/>
        </p:nvSpPr>
        <p:spPr>
          <a:xfrm>
            <a:off x="2279142" y="2852928"/>
            <a:ext cx="19019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5-mark60"/>
          <p:cNvSpPr/>
          <p:nvPr/>
        </p:nvSpPr>
        <p:spPr>
          <a:xfrm>
            <a:off x="317068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61"/>
          <p:cNvSpPr/>
          <p:nvPr/>
        </p:nvSpPr>
        <p:spPr>
          <a:xfrm>
            <a:off x="198196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mark62"/>
          <p:cNvSpPr/>
          <p:nvPr/>
        </p:nvSpPr>
        <p:spPr>
          <a:xfrm>
            <a:off x="4359402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mark63"/>
          <p:cNvSpPr/>
          <p:nvPr/>
        </p:nvSpPr>
        <p:spPr>
          <a:xfrm>
            <a:off x="2219706" y="2793492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mark64"/>
          <p:cNvSpPr/>
          <p:nvPr/>
        </p:nvSpPr>
        <p:spPr>
          <a:xfrm>
            <a:off x="4121658" y="2793492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label66"/>
          <p:cNvSpPr txBox="1"/>
          <p:nvPr/>
        </p:nvSpPr>
        <p:spPr>
          <a:xfrm>
            <a:off x="2976118" y="35560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200" dirty="0"/>
          </a:p>
        </p:txBody>
      </p:sp>
      <p:sp>
        <p:nvSpPr>
          <p:cNvPr id="15" name="S05-label68"/>
          <p:cNvSpPr txBox="1"/>
          <p:nvPr/>
        </p:nvSpPr>
        <p:spPr>
          <a:xfrm>
            <a:off x="1543558" y="33121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6" name="S05-label70"/>
          <p:cNvSpPr txBox="1"/>
          <p:nvPr/>
        </p:nvSpPr>
        <p:spPr>
          <a:xfrm>
            <a:off x="4408678" y="33121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7" name="S05-label72"/>
          <p:cNvSpPr txBox="1"/>
          <p:nvPr/>
        </p:nvSpPr>
        <p:spPr>
          <a:xfrm>
            <a:off x="1781302" y="259892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8" name="S05-label74"/>
          <p:cNvSpPr txBox="1"/>
          <p:nvPr/>
        </p:nvSpPr>
        <p:spPr>
          <a:xfrm>
            <a:off x="4170934" y="259892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19" name="S05-card75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5-cardtext76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ㄱㄴ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위의 두 점을 잇고 중심을 지나요</a:t>
            </a:r>
            <a:endParaRPr lang="ko-KR" sz="3000" dirty="0"/>
          </a:p>
        </p:txBody>
      </p:sp>
      <p:sp>
        <p:nvSpPr>
          <p:cNvPr id="21" name="S05-card77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05-cardtext78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ㄷㄹ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중심을 지나지 않아요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반지름의 2배</a:t>
            </a:r>
            <a:endParaRPr lang="ko-KR" sz="4000" dirty="0"/>
          </a:p>
        </p:txBody>
      </p:sp>
      <p:sp>
        <p:nvSpPr>
          <p:cNvPr id="3" name="S06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반지름 2개를 이은 길이예요.</a:t>
            </a:r>
            <a:endParaRPr lang="ko-KR" sz="3000" dirty="0"/>
          </a:p>
        </p:txBody>
      </p:sp>
      <p:sp>
        <p:nvSpPr>
          <p:cNvPr id="4" name="S06-figure80" descr="반지름 ㅇㄷ 3 cm, 지름 ㄱㄴ 6 cm인 원"/>
          <p:cNvSpPr/>
          <p:nvPr/>
        </p:nvSpPr>
        <p:spPr>
          <a:xfrm>
            <a:off x="1492758" y="2377440"/>
            <a:ext cx="3474720" cy="347472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06-mark81"/>
          <p:cNvSpPr/>
          <p:nvPr/>
        </p:nvSpPr>
        <p:spPr>
          <a:xfrm>
            <a:off x="1492758" y="4114800"/>
            <a:ext cx="34747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82"/>
          <p:cNvSpPr/>
          <p:nvPr/>
        </p:nvSpPr>
        <p:spPr>
          <a:xfrm flipV="1">
            <a:off x="3230118" y="2377440"/>
            <a:ext cx="0" cy="17373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6-label84"/>
          <p:cNvSpPr txBox="1"/>
          <p:nvPr/>
        </p:nvSpPr>
        <p:spPr>
          <a:xfrm>
            <a:off x="2818638" y="419862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cm</a:t>
            </a:r>
            <a:endParaRPr lang="ko-KR" sz="2400" dirty="0"/>
          </a:p>
        </p:txBody>
      </p:sp>
      <p:sp>
        <p:nvSpPr>
          <p:cNvPr id="8" name="S06-label86"/>
          <p:cNvSpPr txBox="1"/>
          <p:nvPr/>
        </p:nvSpPr>
        <p:spPr>
          <a:xfrm>
            <a:off x="2398014" y="305562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9" name="S06-mark87"/>
          <p:cNvSpPr/>
          <p:nvPr/>
        </p:nvSpPr>
        <p:spPr>
          <a:xfrm>
            <a:off x="3170682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mark88"/>
          <p:cNvSpPr/>
          <p:nvPr/>
        </p:nvSpPr>
        <p:spPr>
          <a:xfrm>
            <a:off x="1433322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mark89"/>
          <p:cNvSpPr/>
          <p:nvPr/>
        </p:nvSpPr>
        <p:spPr>
          <a:xfrm>
            <a:off x="4908042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mark90"/>
          <p:cNvSpPr/>
          <p:nvPr/>
        </p:nvSpPr>
        <p:spPr>
          <a:xfrm>
            <a:off x="3170682" y="23180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label92"/>
          <p:cNvSpPr txBox="1"/>
          <p:nvPr/>
        </p:nvSpPr>
        <p:spPr>
          <a:xfrm>
            <a:off x="2803697" y="368837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200" dirty="0"/>
          </a:p>
        </p:txBody>
      </p:sp>
      <p:sp>
        <p:nvSpPr>
          <p:cNvPr id="14" name="S06-label94"/>
          <p:cNvSpPr txBox="1"/>
          <p:nvPr/>
        </p:nvSpPr>
        <p:spPr>
          <a:xfrm>
            <a:off x="994918" y="3860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5" name="S06-label96"/>
          <p:cNvSpPr txBox="1"/>
          <p:nvPr/>
        </p:nvSpPr>
        <p:spPr>
          <a:xfrm>
            <a:off x="4957318" y="3860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6" name="S06-label98"/>
          <p:cNvSpPr txBox="1"/>
          <p:nvPr/>
        </p:nvSpPr>
        <p:spPr>
          <a:xfrm>
            <a:off x="2976118" y="18796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7" name="S06-card99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6-cardtext100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반지름 ×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 = 6</a:t>
            </a:r>
            <a:endParaRPr lang="ko-KR" sz="3000" dirty="0"/>
          </a:p>
        </p:txBody>
      </p:sp>
      <p:sp>
        <p:nvSpPr>
          <p:cNvPr id="19" name="S06-card101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6-cardtext102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= 지름 ÷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÷ 2 =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구해요</a:t>
            </a:r>
            <a:endParaRPr lang="ko-KR" sz="4000" dirty="0"/>
          </a:p>
        </p:txBody>
      </p:sp>
      <p:sp>
        <p:nvSpPr>
          <p:cNvPr id="3" name="S07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반지름과 지름을 구해요.</a:t>
            </a:r>
            <a:endParaRPr lang="ko-KR" sz="3000" dirty="0"/>
          </a:p>
        </p:txBody>
      </p:sp>
      <p:sp>
        <p:nvSpPr>
          <p:cNvPr id="4" name="S07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반지름의 2배예요.</a:t>
            </a:r>
            <a:endParaRPr lang="ko-KR" sz="3000" dirty="0"/>
          </a:p>
        </p:txBody>
      </p:sp>
      <p:sp>
        <p:nvSpPr>
          <p:cNvPr id="6" name="S07-figure106" descr="지름이 10 cm인 원"/>
          <p:cNvSpPr/>
          <p:nvPr/>
        </p:nvSpPr>
        <p:spPr>
          <a:xfrm>
            <a:off x="7770114" y="2377440"/>
            <a:ext cx="2377440" cy="237744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07"/>
          <p:cNvSpPr/>
          <p:nvPr/>
        </p:nvSpPr>
        <p:spPr>
          <a:xfrm>
            <a:off x="7770114" y="3566160"/>
            <a:ext cx="23774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7-label109"/>
          <p:cNvSpPr txBox="1"/>
          <p:nvPr/>
        </p:nvSpPr>
        <p:spPr>
          <a:xfrm>
            <a:off x="8446770" y="3649980"/>
            <a:ext cx="10241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</a:t>
            </a:r>
            <a:endParaRPr lang="ko-KR" sz="2400" dirty="0"/>
          </a:p>
        </p:txBody>
      </p:sp>
      <p:sp>
        <p:nvSpPr>
          <p:cNvPr id="9" name="S07-mark110"/>
          <p:cNvSpPr/>
          <p:nvPr/>
        </p:nvSpPr>
        <p:spPr>
          <a:xfrm>
            <a:off x="8899398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7-mark111"/>
          <p:cNvSpPr/>
          <p:nvPr/>
        </p:nvSpPr>
        <p:spPr>
          <a:xfrm>
            <a:off x="7710678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mark112"/>
          <p:cNvSpPr/>
          <p:nvPr/>
        </p:nvSpPr>
        <p:spPr>
          <a:xfrm>
            <a:off x="10088118" y="35067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label114"/>
          <p:cNvSpPr txBox="1"/>
          <p:nvPr/>
        </p:nvSpPr>
        <p:spPr>
          <a:xfrm>
            <a:off x="8704834" y="306832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200" dirty="0"/>
          </a:p>
        </p:txBody>
      </p:sp>
      <p:sp>
        <p:nvSpPr>
          <p:cNvPr id="13" name="S07-chip11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07-text11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4 cm인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지름은?</a:t>
            </a:r>
            <a:endParaRPr lang="ko-KR" sz="3000" dirty="0"/>
          </a:p>
        </p:txBody>
      </p:sp>
      <p:sp>
        <p:nvSpPr>
          <p:cNvPr id="15" name="S07-chip11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07-text118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14 cm인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반지름은?</a:t>
            </a:r>
            <a:endParaRPr lang="ko-KR" sz="3000" dirty="0"/>
          </a:p>
        </p:txBody>
      </p:sp>
      <p:sp>
        <p:nvSpPr>
          <p:cNvPr id="17" name="S07-chip11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07-text12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원의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5 cm인 원의 지름은 몇 cm일까요?</a:t>
            </a:r>
            <a:endParaRPr lang="ko-KR" sz="3000" dirty="0"/>
          </a:p>
        </p:txBody>
      </p:sp>
      <p:sp>
        <p:nvSpPr>
          <p:cNvPr id="5" name="S08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12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 cm</a:t>
            </a:r>
            <a:endParaRPr lang="ko-KR" sz="2400" dirty="0"/>
          </a:p>
        </p:txBody>
      </p:sp>
      <p:sp>
        <p:nvSpPr>
          <p:cNvPr id="8" name="S08-text12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“지름은 반지름의 2배니까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= 7이에요.”</a:t>
            </a:r>
            <a:endParaRPr lang="ko-KR" sz="3000" dirty="0"/>
          </a:p>
        </p:txBody>
      </p:sp>
      <p:sp>
        <p:nvSpPr>
          <p:cNvPr id="9" name="S08-chip12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10 cm</a:t>
            </a:r>
            <a:endParaRPr lang="ko-KR" sz="2400" dirty="0"/>
          </a:p>
        </p:txBody>
      </p:sp>
      <p:sp>
        <p:nvSpPr>
          <p:cNvPr id="10" name="S08-text12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“지름은 반지름 2개니까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 = 10이에요.”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컴퍼스로 원 그리기</a:t>
            </a:r>
            <a:endParaRPr lang="ko-KR" sz="4000" dirty="0"/>
          </a:p>
        </p:txBody>
      </p:sp>
      <p:sp>
        <p:nvSpPr>
          <p:cNvPr id="3" name="S09-card12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3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컴퍼스 침은 뾰족해요. 어른과 함께 쓰고, 종이 밑에 두꺼운 종이를 깔아요.</a:t>
            </a:r>
            <a:endParaRPr lang="ko-KR" sz="3000" dirty="0"/>
          </a:p>
        </p:txBody>
      </p:sp>
      <p:sp>
        <p:nvSpPr>
          <p:cNvPr id="5" name="S09-figure131" descr="자의 0에서 3까지 컴퍼스를 벌린 모습을 나타낸 막대(반지름 3 cm)"/>
          <p:cNvSpPr/>
          <p:nvPr/>
        </p:nvSpPr>
        <p:spPr>
          <a:xfrm>
            <a:off x="6905092" y="2857461"/>
            <a:ext cx="4643780" cy="921927"/>
          </a:xfrm>
          <a:custGeom>
            <a:avLst/>
            <a:gdLst/>
            <a:ahLst/>
            <a:cxnLst/>
            <a:rect l="l" t="t" r="r" b="b"/>
            <a:pathLst>
              <a:path w="4643780" h="921927">
                <a:moveTo>
                  <a:pt x="0" y="0"/>
                </a:moveTo>
                <a:lnTo>
                  <a:pt x="4643780" y="0"/>
                </a:lnTo>
                <a:lnTo>
                  <a:pt x="4643780" y="921927"/>
                </a:lnTo>
                <a:lnTo>
                  <a:pt x="0" y="92192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mark132"/>
          <p:cNvSpPr/>
          <p:nvPr/>
        </p:nvSpPr>
        <p:spPr>
          <a:xfrm>
            <a:off x="7178255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9-label134"/>
          <p:cNvSpPr txBox="1"/>
          <p:nvPr/>
        </p:nvSpPr>
        <p:spPr>
          <a:xfrm>
            <a:off x="7022807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" name="S09-mark135"/>
          <p:cNvSpPr/>
          <p:nvPr/>
        </p:nvSpPr>
        <p:spPr>
          <a:xfrm>
            <a:off x="724654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9-mark136"/>
          <p:cNvSpPr/>
          <p:nvPr/>
        </p:nvSpPr>
        <p:spPr>
          <a:xfrm>
            <a:off x="731483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9-mark137"/>
          <p:cNvSpPr/>
          <p:nvPr/>
        </p:nvSpPr>
        <p:spPr>
          <a:xfrm>
            <a:off x="738312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9-mark138"/>
          <p:cNvSpPr/>
          <p:nvPr/>
        </p:nvSpPr>
        <p:spPr>
          <a:xfrm>
            <a:off x="745141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9-mark139"/>
          <p:cNvSpPr/>
          <p:nvPr/>
        </p:nvSpPr>
        <p:spPr>
          <a:xfrm>
            <a:off x="7519710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9-mark140"/>
          <p:cNvSpPr/>
          <p:nvPr/>
        </p:nvSpPr>
        <p:spPr>
          <a:xfrm>
            <a:off x="758800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9-mark141"/>
          <p:cNvSpPr/>
          <p:nvPr/>
        </p:nvSpPr>
        <p:spPr>
          <a:xfrm>
            <a:off x="7656291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9-mark142"/>
          <p:cNvSpPr/>
          <p:nvPr/>
        </p:nvSpPr>
        <p:spPr>
          <a:xfrm>
            <a:off x="772458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9-mark143"/>
          <p:cNvSpPr/>
          <p:nvPr/>
        </p:nvSpPr>
        <p:spPr>
          <a:xfrm>
            <a:off x="7792873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9-mark144"/>
          <p:cNvSpPr/>
          <p:nvPr/>
        </p:nvSpPr>
        <p:spPr>
          <a:xfrm>
            <a:off x="7861164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9-label146"/>
          <p:cNvSpPr txBox="1"/>
          <p:nvPr/>
        </p:nvSpPr>
        <p:spPr>
          <a:xfrm>
            <a:off x="7705716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09-mark147"/>
          <p:cNvSpPr/>
          <p:nvPr/>
        </p:nvSpPr>
        <p:spPr>
          <a:xfrm>
            <a:off x="7929455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9-mark148"/>
          <p:cNvSpPr/>
          <p:nvPr/>
        </p:nvSpPr>
        <p:spPr>
          <a:xfrm>
            <a:off x="799774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9-mark149"/>
          <p:cNvSpPr/>
          <p:nvPr/>
        </p:nvSpPr>
        <p:spPr>
          <a:xfrm>
            <a:off x="806603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9-mark150"/>
          <p:cNvSpPr/>
          <p:nvPr/>
        </p:nvSpPr>
        <p:spPr>
          <a:xfrm>
            <a:off x="813432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9-mark151"/>
          <p:cNvSpPr/>
          <p:nvPr/>
        </p:nvSpPr>
        <p:spPr>
          <a:xfrm>
            <a:off x="8202618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9-mark152"/>
          <p:cNvSpPr/>
          <p:nvPr/>
        </p:nvSpPr>
        <p:spPr>
          <a:xfrm>
            <a:off x="827090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9-mark153"/>
          <p:cNvSpPr/>
          <p:nvPr/>
        </p:nvSpPr>
        <p:spPr>
          <a:xfrm>
            <a:off x="833920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9-mark154"/>
          <p:cNvSpPr/>
          <p:nvPr/>
        </p:nvSpPr>
        <p:spPr>
          <a:xfrm>
            <a:off x="8407491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9-mark155"/>
          <p:cNvSpPr/>
          <p:nvPr/>
        </p:nvSpPr>
        <p:spPr>
          <a:xfrm>
            <a:off x="847578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9-mark156"/>
          <p:cNvSpPr/>
          <p:nvPr/>
        </p:nvSpPr>
        <p:spPr>
          <a:xfrm>
            <a:off x="8544073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9-label158"/>
          <p:cNvSpPr txBox="1"/>
          <p:nvPr/>
        </p:nvSpPr>
        <p:spPr>
          <a:xfrm>
            <a:off x="8388625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9-mark159"/>
          <p:cNvSpPr/>
          <p:nvPr/>
        </p:nvSpPr>
        <p:spPr>
          <a:xfrm>
            <a:off x="8612364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9-mark160"/>
          <p:cNvSpPr/>
          <p:nvPr/>
        </p:nvSpPr>
        <p:spPr>
          <a:xfrm>
            <a:off x="8680655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9-mark161"/>
          <p:cNvSpPr/>
          <p:nvPr/>
        </p:nvSpPr>
        <p:spPr>
          <a:xfrm>
            <a:off x="874894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9-mark162"/>
          <p:cNvSpPr/>
          <p:nvPr/>
        </p:nvSpPr>
        <p:spPr>
          <a:xfrm>
            <a:off x="881723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9-mark163"/>
          <p:cNvSpPr/>
          <p:nvPr/>
        </p:nvSpPr>
        <p:spPr>
          <a:xfrm>
            <a:off x="8885527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9-mark164"/>
          <p:cNvSpPr/>
          <p:nvPr/>
        </p:nvSpPr>
        <p:spPr>
          <a:xfrm>
            <a:off x="895381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9-mark165"/>
          <p:cNvSpPr/>
          <p:nvPr/>
        </p:nvSpPr>
        <p:spPr>
          <a:xfrm>
            <a:off x="902210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9-mark166"/>
          <p:cNvSpPr/>
          <p:nvPr/>
        </p:nvSpPr>
        <p:spPr>
          <a:xfrm>
            <a:off x="909040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9-mark167"/>
          <p:cNvSpPr/>
          <p:nvPr/>
        </p:nvSpPr>
        <p:spPr>
          <a:xfrm>
            <a:off x="9158691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9-mark168"/>
          <p:cNvSpPr/>
          <p:nvPr/>
        </p:nvSpPr>
        <p:spPr>
          <a:xfrm>
            <a:off x="9226982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0" name="S09-label170"/>
          <p:cNvSpPr txBox="1"/>
          <p:nvPr/>
        </p:nvSpPr>
        <p:spPr>
          <a:xfrm>
            <a:off x="9071534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9-mark171"/>
          <p:cNvSpPr/>
          <p:nvPr/>
        </p:nvSpPr>
        <p:spPr>
          <a:xfrm>
            <a:off x="9295273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9-mark172"/>
          <p:cNvSpPr/>
          <p:nvPr/>
        </p:nvSpPr>
        <p:spPr>
          <a:xfrm>
            <a:off x="9363564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9-mark173"/>
          <p:cNvSpPr/>
          <p:nvPr/>
        </p:nvSpPr>
        <p:spPr>
          <a:xfrm>
            <a:off x="9431854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9-mark174"/>
          <p:cNvSpPr/>
          <p:nvPr/>
        </p:nvSpPr>
        <p:spPr>
          <a:xfrm>
            <a:off x="9500145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9-mark175"/>
          <p:cNvSpPr/>
          <p:nvPr/>
        </p:nvSpPr>
        <p:spPr>
          <a:xfrm>
            <a:off x="9568436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9-mark176"/>
          <p:cNvSpPr/>
          <p:nvPr/>
        </p:nvSpPr>
        <p:spPr>
          <a:xfrm>
            <a:off x="963672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9-mark177"/>
          <p:cNvSpPr/>
          <p:nvPr/>
        </p:nvSpPr>
        <p:spPr>
          <a:xfrm>
            <a:off x="970501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9-mark178"/>
          <p:cNvSpPr/>
          <p:nvPr/>
        </p:nvSpPr>
        <p:spPr>
          <a:xfrm>
            <a:off x="977330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9-mark179"/>
          <p:cNvSpPr/>
          <p:nvPr/>
        </p:nvSpPr>
        <p:spPr>
          <a:xfrm>
            <a:off x="984160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9-mark180"/>
          <p:cNvSpPr/>
          <p:nvPr/>
        </p:nvSpPr>
        <p:spPr>
          <a:xfrm>
            <a:off x="9909891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1" name="S09-label182"/>
          <p:cNvSpPr txBox="1"/>
          <p:nvPr/>
        </p:nvSpPr>
        <p:spPr>
          <a:xfrm>
            <a:off x="9754443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2" name="S09-mark183"/>
          <p:cNvSpPr/>
          <p:nvPr/>
        </p:nvSpPr>
        <p:spPr>
          <a:xfrm>
            <a:off x="997818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9-mark184"/>
          <p:cNvSpPr/>
          <p:nvPr/>
        </p:nvSpPr>
        <p:spPr>
          <a:xfrm>
            <a:off x="1004647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9-mark185"/>
          <p:cNvSpPr/>
          <p:nvPr/>
        </p:nvSpPr>
        <p:spPr>
          <a:xfrm>
            <a:off x="10114763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9-mark186"/>
          <p:cNvSpPr/>
          <p:nvPr/>
        </p:nvSpPr>
        <p:spPr>
          <a:xfrm>
            <a:off x="10183054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9-mark187"/>
          <p:cNvSpPr/>
          <p:nvPr/>
        </p:nvSpPr>
        <p:spPr>
          <a:xfrm>
            <a:off x="10251345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9-mark188"/>
          <p:cNvSpPr/>
          <p:nvPr/>
        </p:nvSpPr>
        <p:spPr>
          <a:xfrm>
            <a:off x="1031963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9-mark189"/>
          <p:cNvSpPr/>
          <p:nvPr/>
        </p:nvSpPr>
        <p:spPr>
          <a:xfrm>
            <a:off x="1038792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9-mark190"/>
          <p:cNvSpPr/>
          <p:nvPr/>
        </p:nvSpPr>
        <p:spPr>
          <a:xfrm>
            <a:off x="1045621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9-mark191"/>
          <p:cNvSpPr/>
          <p:nvPr/>
        </p:nvSpPr>
        <p:spPr>
          <a:xfrm>
            <a:off x="10524509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9-mark192"/>
          <p:cNvSpPr/>
          <p:nvPr/>
        </p:nvSpPr>
        <p:spPr>
          <a:xfrm>
            <a:off x="10592800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2" name="S09-label194"/>
          <p:cNvSpPr txBox="1"/>
          <p:nvPr/>
        </p:nvSpPr>
        <p:spPr>
          <a:xfrm>
            <a:off x="10437352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3" name="S09-mark195"/>
          <p:cNvSpPr/>
          <p:nvPr/>
        </p:nvSpPr>
        <p:spPr>
          <a:xfrm>
            <a:off x="10661090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9-mark196"/>
          <p:cNvSpPr/>
          <p:nvPr/>
        </p:nvSpPr>
        <p:spPr>
          <a:xfrm>
            <a:off x="10729381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9-mark197"/>
          <p:cNvSpPr/>
          <p:nvPr/>
        </p:nvSpPr>
        <p:spPr>
          <a:xfrm>
            <a:off x="10797672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9-mark198"/>
          <p:cNvSpPr/>
          <p:nvPr/>
        </p:nvSpPr>
        <p:spPr>
          <a:xfrm>
            <a:off x="10865963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9-mark199"/>
          <p:cNvSpPr/>
          <p:nvPr/>
        </p:nvSpPr>
        <p:spPr>
          <a:xfrm>
            <a:off x="10934254" y="2857461"/>
            <a:ext cx="0" cy="239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9-mark200"/>
          <p:cNvSpPr/>
          <p:nvPr/>
        </p:nvSpPr>
        <p:spPr>
          <a:xfrm>
            <a:off x="11002545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9-mark201"/>
          <p:cNvSpPr/>
          <p:nvPr/>
        </p:nvSpPr>
        <p:spPr>
          <a:xfrm>
            <a:off x="11070836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9-mark202"/>
          <p:cNvSpPr/>
          <p:nvPr/>
        </p:nvSpPr>
        <p:spPr>
          <a:xfrm>
            <a:off x="11139127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9-mark203"/>
          <p:cNvSpPr/>
          <p:nvPr/>
        </p:nvSpPr>
        <p:spPr>
          <a:xfrm>
            <a:off x="11207418" y="2857461"/>
            <a:ext cx="0" cy="1502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9-mark204"/>
          <p:cNvSpPr/>
          <p:nvPr/>
        </p:nvSpPr>
        <p:spPr>
          <a:xfrm>
            <a:off x="11275708" y="2857461"/>
            <a:ext cx="0" cy="34145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3" name="S09-label206"/>
          <p:cNvSpPr txBox="1"/>
          <p:nvPr/>
        </p:nvSpPr>
        <p:spPr>
          <a:xfrm>
            <a:off x="11120260" y="31912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4" name="S09-mark207"/>
          <p:cNvSpPr/>
          <p:nvPr/>
        </p:nvSpPr>
        <p:spPr>
          <a:xfrm>
            <a:off x="7178255" y="2413570"/>
            <a:ext cx="2048727" cy="273164"/>
          </a:xfrm>
          <a:custGeom>
            <a:avLst/>
            <a:gdLst/>
            <a:ahLst/>
            <a:cxnLst/>
            <a:rect l="l" t="t" r="r" b="b"/>
            <a:pathLst>
              <a:path w="2048727" h="273164">
                <a:moveTo>
                  <a:pt x="0" y="273164"/>
                </a:moveTo>
                <a:lnTo>
                  <a:pt x="2048727" y="273164"/>
                </a:lnTo>
                <a:lnTo>
                  <a:pt x="20487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9-label209"/>
          <p:cNvSpPr txBox="1"/>
          <p:nvPr/>
        </p:nvSpPr>
        <p:spPr>
          <a:xfrm>
            <a:off x="7791138" y="2359652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76" name="S09-mark210"/>
          <p:cNvSpPr/>
          <p:nvPr/>
        </p:nvSpPr>
        <p:spPr>
          <a:xfrm>
            <a:off x="7178255" y="2686734"/>
            <a:ext cx="0" cy="170727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77" name="S09-mark211"/>
          <p:cNvSpPr/>
          <p:nvPr/>
        </p:nvSpPr>
        <p:spPr>
          <a:xfrm>
            <a:off x="9226982" y="2686734"/>
            <a:ext cx="0" cy="170727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78" name="S09-stepno212"/>
          <p:cNvSpPr txBox="1"/>
          <p:nvPr/>
        </p:nvSpPr>
        <p:spPr>
          <a:xfrm>
            <a:off x="548640" y="15148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9" name="S09-text213"/>
          <p:cNvSpPr txBox="1"/>
          <p:nvPr/>
        </p:nvSpPr>
        <p:spPr>
          <a:xfrm>
            <a:off x="1325880" y="146913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중심이 될 점 ㅇ을 찍어요.</a:t>
            </a:r>
            <a:endParaRPr lang="ko-KR" sz="3000" dirty="0"/>
          </a:p>
        </p:txBody>
      </p:sp>
      <p:sp>
        <p:nvSpPr>
          <p:cNvPr id="80" name="S09-stepno214"/>
          <p:cNvSpPr txBox="1"/>
          <p:nvPr/>
        </p:nvSpPr>
        <p:spPr>
          <a:xfrm>
            <a:off x="548640" y="26090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1" name="S09-text215"/>
          <p:cNvSpPr txBox="1"/>
          <p:nvPr/>
        </p:nvSpPr>
        <p:spPr>
          <a:xfrm>
            <a:off x="1325880" y="256336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컴퍼스를 자에 대고 반지름만큼 벌려요.</a:t>
            </a:r>
            <a:endParaRPr lang="ko-KR" sz="3000" dirty="0"/>
          </a:p>
        </p:txBody>
      </p:sp>
      <p:sp>
        <p:nvSpPr>
          <p:cNvPr id="82" name="S09-stepno216"/>
          <p:cNvSpPr txBox="1"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3" name="S09-text217"/>
          <p:cNvSpPr txBox="1"/>
          <p:nvPr/>
        </p:nvSpPr>
        <p:spPr>
          <a:xfrm>
            <a:off x="1325880" y="365760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침을 점 ㅇ에 꽂고 손잡이를 잡고 한 바퀴 돌려요.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벌릴까요?</a:t>
            </a:r>
            <a:endParaRPr lang="ko-KR" sz="4000" dirty="0"/>
          </a:p>
        </p:txBody>
      </p:sp>
      <p:sp>
        <p:nvSpPr>
          <p:cNvPr id="3" name="S10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컴퍼스를 몇 cm 벌려야 할까요?</a:t>
            </a:r>
            <a:endParaRPr lang="ko-KR" sz="3000" dirty="0"/>
          </a:p>
        </p:txBody>
      </p:sp>
      <p:sp>
        <p:nvSpPr>
          <p:cNvPr id="4" name="S10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컴퍼스를 벌린 길이가 반지름이에요.</a:t>
            </a:r>
            <a:endParaRPr lang="ko-KR" sz="3000" dirty="0"/>
          </a:p>
        </p:txBody>
      </p:sp>
      <p:sp>
        <p:nvSpPr>
          <p:cNvPr id="6" name="S10-chip22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22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2 cm인 원</a:t>
            </a:r>
            <a:endParaRPr lang="ko-KR" sz="3000" dirty="0"/>
          </a:p>
        </p:txBody>
      </p:sp>
      <p:sp>
        <p:nvSpPr>
          <p:cNvPr id="8" name="S10-chip22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22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6 cm인 원</a:t>
            </a:r>
            <a:endParaRPr lang="ko-KR" sz="3000" dirty="0"/>
          </a:p>
        </p:txBody>
      </p:sp>
      <p:sp>
        <p:nvSpPr>
          <p:cNvPr id="10" name="S10-chip22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22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10 cm인 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구하고, 어떻게 알았는지 말해요.</a:t>
            </a:r>
            <a:endParaRPr lang="ko-KR" sz="3000" dirty="0"/>
          </a:p>
        </p:txBody>
      </p:sp>
      <p:sp>
        <p:nvSpPr>
          <p:cNvPr id="4" name="S11-figure228" descr="반지름이 4 cm인 원"/>
          <p:cNvSpPr/>
          <p:nvPr/>
        </p:nvSpPr>
        <p:spPr>
          <a:xfrm>
            <a:off x="7221474" y="2377440"/>
            <a:ext cx="3474720" cy="347472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1-mark229"/>
          <p:cNvSpPr/>
          <p:nvPr/>
        </p:nvSpPr>
        <p:spPr>
          <a:xfrm>
            <a:off x="8958834" y="4114800"/>
            <a:ext cx="17373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1-label231"/>
          <p:cNvSpPr txBox="1"/>
          <p:nvPr/>
        </p:nvSpPr>
        <p:spPr>
          <a:xfrm>
            <a:off x="9416034" y="364998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7" name="S11-mark232"/>
          <p:cNvSpPr/>
          <p:nvPr/>
        </p:nvSpPr>
        <p:spPr>
          <a:xfrm>
            <a:off x="8899398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mark233"/>
          <p:cNvSpPr/>
          <p:nvPr/>
        </p:nvSpPr>
        <p:spPr>
          <a:xfrm>
            <a:off x="10636758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label235"/>
          <p:cNvSpPr txBox="1"/>
          <p:nvPr/>
        </p:nvSpPr>
        <p:spPr>
          <a:xfrm>
            <a:off x="8460994" y="3860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200" dirty="0"/>
          </a:p>
        </p:txBody>
      </p:sp>
      <p:sp>
        <p:nvSpPr>
          <p:cNvPr id="10" name="S11-label237"/>
          <p:cNvSpPr txBox="1"/>
          <p:nvPr/>
        </p:nvSpPr>
        <p:spPr>
          <a:xfrm>
            <a:off x="10686034" y="3860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1" name="S11-chip23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2" name="S11-text23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원의 지름은?</a:t>
            </a:r>
            <a:endParaRPr lang="ko-KR" sz="3000" dirty="0"/>
          </a:p>
        </p:txBody>
      </p:sp>
      <p:sp>
        <p:nvSpPr>
          <p:cNvPr id="13" name="S11-chip24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4" name="S11-text24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12 cm인 원의 반지름은?</a:t>
            </a:r>
            <a:endParaRPr lang="ko-KR" sz="3000" dirty="0"/>
          </a:p>
        </p:txBody>
      </p:sp>
      <p:sp>
        <p:nvSpPr>
          <p:cNvPr id="15" name="S11-chip24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6" name="S11-text24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8 cm인 원을 그릴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컴퍼스를 벌릴 길이는?</a:t>
            </a:r>
            <a:endParaRPr lang="ko-KR" sz="2400" dirty="0"/>
          </a:p>
        </p:txBody>
      </p:sp>
      <p:sp>
        <p:nvSpPr>
          <p:cNvPr id="17" name="S11-chip244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8" name="S11-text245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원에 반지름을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 그을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원은?</a:t>
            </a:r>
            <a:endParaRPr lang="ko-KR" sz="4000" dirty="0"/>
          </a:p>
        </p:txBody>
      </p:sp>
      <p:sp>
        <p:nvSpPr>
          <p:cNvPr id="3" name="S13-card2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원을 고르고, 까닭을 말해요.</a:t>
            </a:r>
            <a:endParaRPr lang="ko-KR" sz="3000" dirty="0"/>
          </a:p>
        </p:txBody>
      </p:sp>
      <p:sp>
        <p:nvSpPr>
          <p:cNvPr id="5" name="S13-chip24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249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50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cm인 원</a:t>
            </a:r>
            <a:endParaRPr lang="ko-KR" sz="3000" dirty="0"/>
          </a:p>
        </p:txBody>
      </p:sp>
      <p:sp>
        <p:nvSpPr>
          <p:cNvPr id="8" name="S13-chip251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252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253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cm인 원</a:t>
            </a:r>
            <a:endParaRPr lang="ko-KR" sz="3000" dirty="0"/>
          </a:p>
        </p:txBody>
      </p:sp>
      <p:sp>
        <p:nvSpPr>
          <p:cNvPr id="11" name="S13-chip254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255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256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cm인 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5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5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원에서 반지름은 모두 같고, 지름은 반지름의 2배예요.</a:t>
            </a:r>
            <a:endParaRPr lang="ko-KR" sz="3000" dirty="0"/>
          </a:p>
        </p:txBody>
      </p:sp>
      <p:sp>
        <p:nvSpPr>
          <p:cNvPr id="5" name="S14-chip25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컴퍼스를 반지름만큼 벌리기</a:t>
            </a:r>
            <a:endParaRPr lang="ko-KR" sz="2400" dirty="0"/>
          </a:p>
        </p:txBody>
      </p:sp>
      <p:sp>
        <p:nvSpPr>
          <p:cNvPr id="6" name="S14-chip26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반지름에 2를 더해 지름 구하기</a:t>
            </a:r>
            <a:endParaRPr lang="ko-KR" sz="2400" dirty="0"/>
          </a:p>
        </p:txBody>
      </p:sp>
      <p:sp>
        <p:nvSpPr>
          <p:cNvPr id="7" name="S14-text26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6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반지름 6 cm인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지름은?</a:t>
            </a:r>
            <a:endParaRPr lang="ko-KR" sz="2400" dirty="0"/>
          </a:p>
        </p:txBody>
      </p:sp>
      <p:sp>
        <p:nvSpPr>
          <p:cNvPr id="9" name="S14-text26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지름 18 cm인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반지름은?</a:t>
            </a:r>
            <a:endParaRPr lang="ko-KR" sz="2400" dirty="0"/>
          </a:p>
        </p:txBody>
      </p:sp>
      <p:sp>
        <p:nvSpPr>
          <p:cNvPr id="10" name="S14-text26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중심을 지나는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안의 선분은?</a:t>
            </a:r>
            <a:endParaRPr lang="ko-KR" sz="2400" dirty="0"/>
          </a:p>
        </p:txBody>
      </p:sp>
      <p:sp>
        <p:nvSpPr>
          <p:cNvPr id="11" name="S14-text26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mm와 km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2배와 반</a:t>
            </a:r>
            <a:endParaRPr lang="ko-KR" sz="4000" dirty="0"/>
          </a:p>
        </p:txBody>
      </p:sp>
      <p:sp>
        <p:nvSpPr>
          <p:cNvPr id="3" name="S15-text2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2배와 반을 알아봐요.</a:t>
            </a:r>
            <a:endParaRPr lang="ko-KR" sz="3000" dirty="0"/>
          </a:p>
        </p:txBody>
      </p:sp>
      <p:sp>
        <p:nvSpPr>
          <p:cNvPr id="4" name="S15-card26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26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5의 2배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 = 10</a:t>
            </a:r>
            <a:endParaRPr lang="ko-KR" sz="3000" dirty="0"/>
          </a:p>
        </p:txBody>
      </p:sp>
      <p:sp>
        <p:nvSpPr>
          <p:cNvPr id="6" name="S15-card26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27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10의 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÷ 2 = 5</a:t>
            </a:r>
            <a:endParaRPr lang="ko-KR" sz="3000" dirty="0"/>
          </a:p>
        </p:txBody>
      </p:sp>
      <p:sp>
        <p:nvSpPr>
          <p:cNvPr id="8" name="S15-dot271"/>
          <p:cNvSpPr/>
          <p:nvPr/>
        </p:nvSpPr>
        <p:spPr>
          <a:xfrm>
            <a:off x="207980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272"/>
          <p:cNvSpPr/>
          <p:nvPr/>
        </p:nvSpPr>
        <p:spPr>
          <a:xfrm>
            <a:off x="258272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273"/>
          <p:cNvSpPr/>
          <p:nvPr/>
        </p:nvSpPr>
        <p:spPr>
          <a:xfrm>
            <a:off x="308564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274"/>
          <p:cNvSpPr/>
          <p:nvPr/>
        </p:nvSpPr>
        <p:spPr>
          <a:xfrm>
            <a:off x="358856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275"/>
          <p:cNvSpPr/>
          <p:nvPr/>
        </p:nvSpPr>
        <p:spPr>
          <a:xfrm>
            <a:off x="4091483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group276"/>
          <p:cNvSpPr/>
          <p:nvPr/>
        </p:nvSpPr>
        <p:spPr>
          <a:xfrm>
            <a:off x="2011680" y="3164586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15-figure277" descr="바둑돌 5개 한 줄"/>
          <p:cNvSpPr/>
          <p:nvPr/>
        </p:nvSpPr>
        <p:spPr>
          <a:xfrm>
            <a:off x="1984248" y="3128010"/>
            <a:ext cx="251460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5-dot278"/>
          <p:cNvSpPr/>
          <p:nvPr/>
        </p:nvSpPr>
        <p:spPr>
          <a:xfrm>
            <a:off x="778565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279"/>
          <p:cNvSpPr/>
          <p:nvPr/>
        </p:nvSpPr>
        <p:spPr>
          <a:xfrm>
            <a:off x="828857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280"/>
          <p:cNvSpPr/>
          <p:nvPr/>
        </p:nvSpPr>
        <p:spPr>
          <a:xfrm>
            <a:off x="879149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281"/>
          <p:cNvSpPr/>
          <p:nvPr/>
        </p:nvSpPr>
        <p:spPr>
          <a:xfrm>
            <a:off x="929441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282"/>
          <p:cNvSpPr/>
          <p:nvPr/>
        </p:nvSpPr>
        <p:spPr>
          <a:xfrm>
            <a:off x="9797339" y="322356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group283"/>
          <p:cNvSpPr/>
          <p:nvPr/>
        </p:nvSpPr>
        <p:spPr>
          <a:xfrm>
            <a:off x="7717536" y="3164586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15-figure284" descr="바둑돌 5개 한 줄"/>
          <p:cNvSpPr/>
          <p:nvPr/>
        </p:nvSpPr>
        <p:spPr>
          <a:xfrm>
            <a:off x="7690104" y="3128010"/>
            <a:ext cx="251460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원의 중심·반지름·지름</dc:title>
  <dc:subject>KR22-G03-MAT-CIRCLE-L01</dc:subject>
  <dc:creator>education-ppt</dc:creator>
  <cp:lastModifiedBy>education-ppt</cp:lastModifiedBy>
  <cp:revision>1</cp:revision>
  <dcterms:created xsi:type="dcterms:W3CDTF">2026-10-26T07:54:35Z</dcterms:created>
  <dcterms:modified xsi:type="dcterms:W3CDTF">2026-10-26T07:54:35Z</dcterms:modified>
</cp:coreProperties>
</file>