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8a0c040-b43a-80ed-4c7d-6144a1cc637d}">
          <p14:sldIdLst>
            <p14:sldId id="256"/>
            <p14:sldId id="257"/>
          </p14:sldIdLst>
        </p14:section>
        <p14:section name="개념" id="{3e3c9850-4a75-cca6-8378-50aedb3ede08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adbbfba9-e56f-f163-1691-70b367072191}">
          <p14:sldIdLst>
            <p14:sldId id="262"/>
            <p14:sldId id="263"/>
            <p14:sldId id="265"/>
          </p14:sldIdLst>
        </p14:section>
        <p14:section name="개념" id="{b7180dab-716d-6da3-6921-754b3f346c55}">
          <p14:sldIdLst/>
        </p14:section>
        <p14:section name="연습" id="{53b18bf7-9c60-6632-31c9-ec06393d4500}">
          <p14:sldIdLst/>
        </p14:section>
        <p14:section name="확인" id="{ddbdc22d-1180-b96a-a338-f048c1e51c1b}">
          <p14:sldIdLst>
            <p14:sldId id="266"/>
            <p14:sldId id="267"/>
            <p14:sldId id="268"/>
          </p14:sldIdLst>
        </p14:section>
        <p14:section name="정리" id="{a5617e89-2d22-338d-2e0b-7dc8ef0de8de}">
          <p14:sldIdLst>
            <p14:sldId id="269"/>
          </p14:sldIdLst>
        </p14:section>
        <p14:section name="보충" id="{84553be1-d0ae-0de3-03f3-3184a69a4ea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원의 가운데 점과 원 위의 점을 잇는 선분에 관심을 갖게 합니다.
시간: 약 2분
이렇게 말해 보세요
- “2학년 때 컵을 대고 원을 그렸지? 오늘은 원의 가운데 점과 원 사이의 길이를 알아볼 거야.”
- “점 ㅇ에서 원까지 선을 여러 개 그으면 길이가 모두 같을까, 다를까? 예상해 볼래?”
예상 답
- “같을 것 같아요.” “잘 모르겠어요.”
막히면
- 예상만 듣고 넘어갑니다. S03에서 끈으로 원을 그리며 확인합니다.
주의
- 오늘은 끈(30 cm쯤), 연필, 자, 컵이나 병뚜껑, 컴퍼스(있으면), 두꺼운 종이(받침)를 씁니다.
- 컴퍼스는 침이 뾰족하므로 부모가 꺼내 주고 S09에서만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확인(선분, 2배와 반)]
목적: 오늘 필요한 선분의 뜻, 2배(× 2)와 반(÷ 2) 계산, 지난 차시의 정사각형을 확인합니다. 반지름은 선분이고, 지름은 반지름의 2배입니다.
시간: 약 3분
이렇게 말해 보세요
- “①은 선분, 반직선, 직선 중 무엇이었지?”
- “②, ④는 계산해 볼래? ③은 지난 시간에 배운 정사각형이야.”
정답
- ① 선분
- ② 10
- ③ 모두 같아요
- ④ 6
막히면
- ②④가 어려우면 바둑돌 5개를 두 번 놓아 세고(10개), 12개를 두 묶음으로 똑같이 나누어 봅니다(6개).
- 두 개 이상 틀리면 S15(보충)를 먼저 합니다. 보충으로도 어려우면 앞 차시 ‘직각과 직사각형·정사각형’(KR22-G03-MAT-RIGHT-L01)과 ‘선분·반직선·직선과 각’(KR22-G03-MAT-LINES-L01)을 다시 봅니다.
주의
- ②④의 계산은 오늘 반지름과 지름을 바꿀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끈과 연필로 원 그리기(원의 중심)]
목적: 끈의 한쪽 끝을 고정하고 팽팽하게 돌려 원을 그리며, 누른 점(원의 중심)에서 원까지의 거리가 끈의 길이로 늘 같다는 것을 몸으로 느낍니다.
시간: 약 3분
이렇게 말해 보세요
- “엄마(아빠)가 끈 끝을 점 ㅇ에 꼭 누르고 있을게. 너는 연필로 끈을 팽팽하게 당긴 채로 한 바퀴 돌려 봐.”
- “어떤 모양이 생겼어? 점 ㅇ에서 원까지의 길이는 무엇과 같아?”
예상 답
- “원이 생겼어요.” “끈 길이랑 같아요.”
막히면
- 끈이 느슨해지면 원이 찌그러집니다. 천천히 돌리며 끈이 늘 팽팽한지 함께 봅니다.
- 끈이 미끄러지면 끈 끝을 테이프로 종이에 붙이고 그 위를 누릅니다.
주의
- 교과서에서는 누름 못과 띠 종이로 그리기도 합니다. 집에서는 손가락으로 눌러 안전하게 합니다.
- 이 원은 S04~S06에서 그대로 씁니다. 자로 점 ㅇ에서 원까지 여러 방향으로 재어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원의 중심과 반지름]
목적: 원의 중심(원을 그릴 때 누른 점)과 반지름(중심과 원 위의 한 점을 이은 선분)을 알고, 한 원에서 반지름의 길이는 모두 같다는 것을 압니다.
시간: 약 3분
이렇게 말해 보세요
- “S03에서 끈을 누른 점이 원의 한가운데였지? 이 점을 ‘원의 중심’이라고 해.”
- “중심과 원 위의 한 점을 이은 선분을 ‘반지름’이라고 해. 선분 ㅇㄱ, ㅇㄴ, ㅇㄷ 모두 반지름이야.”
- “그린 원에서 반지름을 세 개 그어 자로 재어 볼래? 길이가 어때?”
예상 답
- “모두 같아요. 끈 길이랑 같아요.”
막히면
- 반지름을 잴 때 자의 0을 중심에 맞추게 합니다.
주의
- 반지름은 셀 수 없이 많이 그을 수 있고 길이는 모두 같습니다. 원의 중심은 하나뿐입니다.
- 손으로 그린 원은 조금 찌그러질 수 있어 잰 길이가 1~2 mm 다를 수 있습니다. ‘거의 같다’면 괜찮다고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지름의 뜻과 특징]
목적: 원 위의 두 점을 이은 선분 가운데 원의 중심을 지나는 것이 지름이며, 지름은 원을 똑같이 둘로 나누고 원 안에 그을 수 있는 가장 긴 선분이라는 것을 압니다.
시간: 약 3분
이렇게 말해 보세요
- “선분 ㄱㄴ은 원의 중심을 지나? 선분 ㄷㄹ은?”
- “원 위의 두 점을 이은 선분이 원의 중심을 지날 때, 이 선분을 ‘지름’이라고 해. 두 선분 중 어느 것이 더 길어?”
- “컵을 대고 원을 그려 오린 다음 반으로 접어 볼까? 접힌 선이 지름이야.”
예상 답
- “ㄱㄴ은 지나고 ㄷㄹ은 안 지나요.” “ㄱㄴ이 더 길어요.”
막히면
- 오린 종이 원을 반으로 두 번 접었다 펴면 접힌 선 두 개가 만나는 점이 중심입니다. 접힌 선이 모두 중심을 지나는 지름임을 확인합니다.
주의
- 원 안의 곧은 선이라고 모두 지름은 아닙니다(M2). 반드시 중심을 지나야 합니다. 지름은 원을 똑같이 둘로 나눕니다.
- 지름도 셀 수 없이 많이 그을 수 있고, 길이는 모두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반지름과 지름의 관계]
목적: 지름은 반지름의 2배, 반지름은 지름의 반이라는 관계를 알고 곱셈·나눗셈으로 길이를 구합니다.
시간: 약 3분
이렇게 말해 보세요
- “지름 ㄱㄴ은 반지름 몇 개로 되어 있어? 선분 ㄱㅇ과 선분 ㅇㄴ 모두 반지름이야.”
- “반지름이 3 cm이면 지름은? 지름이 6 cm이면 반지름은?”
예상 답
- “반지름 2개요.” “6 cm요.” “3 cm요.”
막히면
- 끈을 반지름 길이로 잘라 두 개를 이어 지름 위에 놓아 봅니다.
- S03에서 그린 원에 지름을 긋고 자로 재어, 반지름 길이의 두 배인지 확인합니다.
주의
- 지름은 반지름에 2를 ‘더한’ 것이 아니라 2를 ‘곱한’ 것입니다(M3). S08에서 다룹니다.
- 그림의 길이는 실제 cm가 아니지만, 지름이 반지름의 정확히 2배가 되게 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연습(반지름·지름 구하기)]
목적: 도움을 받으며 반지름에서 지름을, 지름에서 반지름을 구합니다.
시간: 약 3분
이렇게 말해 보세요
- “①은 반지름이 4 cm야. 지름은 반지름의 몇 배였지?”
- “②는 거꾸로 지름을 알아. 반지름은 지름을 어떻게 하면 돼?”
- “③의 원은 지름이 10 cm야. 반지름은?”
정답
- ① 8 cm (4 × 2 = 8)
- ② 7 cm (14 ÷ 2 = 7)
- ③ 5 cm (10 ÷ 2 = 5)
막히면
- ‘지름 = 반지름 + 반지름’으로 바꾸어 4 + 4처럼 더해도 됩니다. ②는 “어떤 수를 두 번 더하면 14가 될까?”라고 묻습니다.
주의
- 단위 cm를 함께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비교(지름 = 반지름 + 2?)]
목적: ‘2배’를 ‘2를 더한다’로 잘못 계산하는 실수를 찾고, 지름은 반지름 2개를 이은 길이라는 것으로 설명합니다(M3).
시간: 약 3분
이렇게 말해 보세요
- “토끼와 곰의 답이 달라. 누가 맞았을까?”
- “2배는 2를 더하는 거야, 두 번 있는 거야?”
예상 답
- “곰이요. 반지름이 두 개 있으니까 5 + 5 = 10이에요.”
정답
- 곰이 맞습니다. 지름은 반지름 2개를 이은 길이이므로 5 × 2 = 10(5 + 5 = 10), 10 cm입니다.
- 토끼는 ‘2배’를 ‘2를 더한다’로 계산했습니다.
막히면
- S06의 그림에서 반지름 두 개를 손가락으로 하나씩 짚으며 “5 cm, 또 5 cm”라고 셉니다.
주의
- 여기까지가 목표 ①입니다.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컴퍼스로 원 그리기(시범)]
목적: 컴퍼스로 원을 그리는 순서(중심 정하기 → 반지름만큼 벌리기 → 침을 꽂고 돌리기)를 알고, 컴퍼스를 벌린 길이가 반지름이라는 것을 압니다.
시간: 약 3분
이렇게 말해 보세요
- “컴퍼스의 침이 있는 쪽이 끈을 누른 손가락, 연필심 쪽이 연필이야. 벌린 길이가 무엇이 될까?”
- “자의 0에 침을 대고, 연필심을 3에 맞추어 벌려 보자. 그다음 점 ㅇ에 침을 꽂고 한 바퀴 돌려.”
예상 답
- “반지름이요.” “반지름이 3 cm인 원이 그려졌어요.”
막히면
- 손잡이 대신 다리를 잡으면 벌린 길이가 바뀝니다. 손잡이만 잡고 돌리게 합니다.
- 한 번에 돌리기 어려우면 종이를 조금씩 돌려 가며 그려도 됩니다.
- 컴퍼스가 없으면 S03의 끈 방법으로 그립니다. 끈을 반지름 길이(3 cm)에서 손가락으로 눌러 잡습니다.
주의
- 안전: 컴퍼스를 쓰는 동안 부모가 옆에 있고, 다 쓰면 침을 접거나 뚜껑을 씌워 바로 정리합니다. 침을 사람 쪽으로 향하지 않습니다.
- 그린 원의 지름을 자로 재어 6 cm쯤인지 확인하면 지름 = 반지름 × 2도 다시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연습(컴퍼스 벌리기)]
목적: 도움을 받으며 반지름이나 지름이 주어진 원을 그리려면 컴퍼스를 얼마나 벌려야 하는지 구하고, 실제로 그려 봅니다.
시간: 약 3분
이렇게 말해 보세요
- “①은 반지름이 2 cm야. 컴퍼스를 몇 cm 벌리면 될까?”
- “②는 지름이 6 cm야. 컴퍼스를 6 cm 벌리면 될까?”
- “①과 ②는 활동지 2번에 직접 그려 보자.”
정답
- ① 2 cm
- ② 3 cm (6 ÷ 2 = 3)
- ③ 5 cm (10 ÷ 2 = 5)
막히면
- ②에서 6 cm를 벌리면 지름이 12 cm인 원이 됩니다. 실제로 그려 보고 지름을 재어 비교하게 합니다.
주의
- 지름이 주어지면 반으로 나누어 반지름만큼 벌린다는 것이 핵심입니다(M4).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반지름과 지름의 관계로 길이를 구하고(목표 ①), 원을 그릴 때 컴퍼스를 벌릴 길이를 정하는지(목표 ②) 확인합니다.
시간: 약 5분
이렇게 말해 보세요
- “이번에는 혼자 해 볼래? 다 하면 어떻게 알았는지 말해 줘.”
정답
- ① 8 cm (4 × 2 = 8)
- ② 6 cm (12 ÷ 2 = 6)
- ③ 4 cm (8 ÷ 2 = 4)
- ④ 셀 수 없이 많이(모두 길이가 같음)
막히면
- 바로 알려 주지 말고 “지름은 반지름 몇 개였지?”라고만 묻습니다.
- 도움을 받아 해결했다면 기록표에 ‘도움’으로 표시합니다.
주의
- ①을 6 cm(4 + 2)라고 하면 S08로, ③을 8 cm라고 하면 S10으로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그림을 보며 같이 다시 생각해 보자.”
정답
- ① 8 cm ② 6 cm ③ 4 cm ④ 셀 수 없이 많이
막히면
- ①②가 틀렸으면 S06을, ③이 틀렸으면 S09·S10을, ④가 틀렸으면 S04를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확인(크기 비교)]
목적: 반지름과 지름이 섞여 주어졌을 때 같은 것(지름)으로 바꾸어 크기를 비교하는지 확인합니다.
시간: 약 2분
이렇게 말해 보세요
- “가장 큰 원은 어느 것일까? 반지름과 지름이 섞여 있어. 어떻게 비교하면 좋을까?”
정답
- 가. 지름으로 바꾸면 가 8 cm, 나 7 cm, 다 6 cm이므로 가가 가장 큽니다.
막히면
- “모두 지름으로 바꾸어 볼까?”라고 말하고 가와 다의 지름을 먼저 구하게 합니다.
주의
- 나를 고르면 ‘7이 가장 큰 수’만 본 것입니다. 반지름과 지름을 구별하게 합니다.
- 까닭까지 말하면 목표 ①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“원의 중심, 반지름, 지름을 각각 설명해 볼래?”
- “반지름이 3 cm인 원을 그리려면 컴퍼스를 몇 cm 벌려?”
예상 답
- “중심은 한가운데 점, 반지름은 중심과 원 위의 점을 이은 선분, 지름은 중심을 지나는 선분이에요.” “3 cm요.”
정답
- ① 12 cm
- ② 9 cm
- ③ 지름
막히면
- S04~S06을 다시 보여 줍니다.
주의
- 복습 세 문제는 다음 수업을 시작할 때 활동지 마지막 쪽과 함께 풉니다.
- 다음 차시는 mm와 km입니다. mm 눈금이 있는 자를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보충(2배와 반)]
목적: S02에서 2배·반 계산이 흔들리면, 오늘 반지름과 지름을 바꾸기 전에 바둑돌로 2배와 반을 다시 익힙니다.
시간: 약 5분
이렇게 말해 보세요
- “바둑돌 5개를 한 줄 놓고, 똑같이 한 줄 더 놓아 볼까? 모두 몇 개야? 이게 5의 2배야.”
- “10개를 두 줄로 똑같이 나누면 한 줄은 몇 개야? 이게 10의 반이야.”
정답
- 5의 2배는 10, 10의 반은 5
막히면
- 3, 4, 6으로도 해 봅니다(2배: 6, 8, 12 / 반: 3, 4, 6을 만드는 수).
- 원은 2학년에서 배운 ‘곧은 선과 꼭짓점이 없는 동그란 모양’이라는 것도 함께 떠올립니다.
주의
- 보충으로도 어려우면 곱셈구구(2단)와 나눗셈을 먼저 다시 하고, 초2 ‘여러 가지 도형’(KR22-G02-MAT-PLANE-L01)의 원도 함께 봅니다. 계획상 바로 앞 차시는 ‘직각과 직사각형·정사각형’(KR22-G03-MAT-RIGHT-L01)입니다.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중심·반지름·지름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가운데에서 원까지의 길이는 모두 같을까?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과 가운데 점 ㅇ, 점 ㅇ에서 원 위의 점 ㄱ까지 그은 선분"/>
          <p:cNvSpPr/>
          <p:nvPr/>
        </p:nvSpPr>
        <p:spPr>
          <a:xfrm>
            <a:off x="8671560" y="1127760"/>
            <a:ext cx="1950720" cy="195072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9646920" y="1615440"/>
            <a:ext cx="844662" cy="487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587484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432146" y="15560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label7"/>
          <p:cNvSpPr txBox="1"/>
          <p:nvPr/>
        </p:nvSpPr>
        <p:spPr>
          <a:xfrm>
            <a:off x="9442704" y="21564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0" name="S01-label9"/>
          <p:cNvSpPr txBox="1"/>
          <p:nvPr/>
        </p:nvSpPr>
        <p:spPr>
          <a:xfrm>
            <a:off x="10498536" y="130301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원의 중심·반지름·지름을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반지름을 정해 원을 그려요.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선의 이름은?</a:t>
            </a:r>
            <a:endParaRPr lang="ko-KR" sz="3000" dirty="0"/>
          </a:p>
        </p:txBody>
      </p:sp>
      <p:sp>
        <p:nvSpPr>
          <p:cNvPr id="6" name="S02-chip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□</a:t>
            </a:r>
            <a:endParaRPr lang="ko-KR" sz="3400" dirty="0"/>
          </a:p>
        </p:txBody>
      </p:sp>
      <p:sp>
        <p:nvSpPr>
          <p:cNvPr id="8" name="S02-chip1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변의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길이는 어때요?</a:t>
            </a:r>
            <a:endParaRPr lang="ko-KR" sz="3000" dirty="0"/>
          </a:p>
        </p:txBody>
      </p:sp>
      <p:sp>
        <p:nvSpPr>
          <p:cNvPr id="10" name="S02-chip1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eqtext2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끈으로 원 그리기</a:t>
            </a:r>
            <a:endParaRPr lang="ko-KR" sz="4000" dirty="0"/>
          </a:p>
        </p:txBody>
      </p:sp>
      <p:sp>
        <p:nvSpPr>
          <p:cNvPr id="3" name="S03-card2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누름 못이나 압정 대신 손가락으로 눌러요. 연필 끝을 얼굴 쪽으로 돌리지 않아요.</a:t>
            </a:r>
            <a:endParaRPr lang="ko-KR" sz="3000" dirty="0"/>
          </a:p>
        </p:txBody>
      </p:sp>
      <p:sp>
        <p:nvSpPr>
          <p:cNvPr id="5" name="S03-card23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4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그렸는지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끈이 계속 팽팽했나요?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누른 점이 움직이지 않았나요?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 자리로 돌아왔나요?</a:t>
            </a:r>
            <a:endParaRPr lang="ko-KR" sz="3000" dirty="0"/>
          </a:p>
        </p:txBody>
      </p:sp>
      <p:sp>
        <p:nvSpPr>
          <p:cNvPr id="7" name="S03-stepno25"/>
          <p:cNvSpPr txBox="1"/>
          <p:nvPr/>
        </p:nvSpPr>
        <p:spPr>
          <a:xfrm>
            <a:off x="548640" y="18455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26"/>
          <p:cNvSpPr txBox="1"/>
          <p:nvPr/>
        </p:nvSpPr>
        <p:spPr>
          <a:xfrm>
            <a:off x="1325880" y="18455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가운데에 점 ㅇ을 찍어요.</a:t>
            </a:r>
            <a:endParaRPr lang="ko-KR" sz="2400" dirty="0"/>
          </a:p>
        </p:txBody>
      </p:sp>
      <p:sp>
        <p:nvSpPr>
          <p:cNvPr id="9" name="S03-stepno27"/>
          <p:cNvSpPr txBox="1"/>
          <p:nvPr/>
        </p:nvSpPr>
        <p:spPr>
          <a:xfrm>
            <a:off x="548640" y="2604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8"/>
          <p:cNvSpPr txBox="1"/>
          <p:nvPr/>
        </p:nvSpPr>
        <p:spPr>
          <a:xfrm>
            <a:off x="1325880" y="255879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한쪽 끝을 점 ㅇ에 대고 손가락으로 꼭 눌러요.</a:t>
            </a:r>
            <a:endParaRPr lang="ko-KR" sz="2400" dirty="0"/>
          </a:p>
        </p:txBody>
      </p:sp>
      <p:sp>
        <p:nvSpPr>
          <p:cNvPr id="11" name="S03-stepno29"/>
          <p:cNvSpPr txBox="1"/>
          <p:nvPr/>
        </p:nvSpPr>
        <p:spPr>
          <a:xfrm>
            <a:off x="548640" y="35128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30"/>
          <p:cNvSpPr txBox="1"/>
          <p:nvPr/>
        </p:nvSpPr>
        <p:spPr>
          <a:xfrm>
            <a:off x="1325880" y="346710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쪽 끝을 연필에 감아 쥐고, 끈을 팽팽하게 하여 한 바퀴 돌려요.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중심과 반지름</a:t>
            </a:r>
            <a:endParaRPr lang="ko-KR" sz="4000" dirty="0"/>
          </a:p>
        </p:txBody>
      </p:sp>
      <p:sp>
        <p:nvSpPr>
          <p:cNvPr id="3" name="S04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끈을 누른 점이 원의 중심이에요.</a:t>
            </a:r>
            <a:endParaRPr lang="ko-KR" sz="3000" dirty="0"/>
          </a:p>
        </p:txBody>
      </p:sp>
      <p:sp>
        <p:nvSpPr>
          <p:cNvPr id="4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원에서 반지름은 모두 같아요.</a:t>
            </a:r>
            <a:endParaRPr lang="ko-KR" sz="3000" dirty="0"/>
          </a:p>
        </p:txBody>
      </p:sp>
      <p:sp>
        <p:nvSpPr>
          <p:cNvPr id="6" name="S04-figure34" descr="원의 중심 ㅇ과 반지름 ㅇㄱ, ㅇㄴ, ㅇㄷ"/>
          <p:cNvSpPr/>
          <p:nvPr/>
        </p:nvSpPr>
        <p:spPr>
          <a:xfrm>
            <a:off x="2163318" y="2499360"/>
            <a:ext cx="2133600" cy="21336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35"/>
          <p:cNvSpPr/>
          <p:nvPr/>
        </p:nvSpPr>
        <p:spPr>
          <a:xfrm>
            <a:off x="3230118" y="3566160"/>
            <a:ext cx="10668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36"/>
          <p:cNvSpPr/>
          <p:nvPr/>
        </p:nvSpPr>
        <p:spPr>
          <a:xfrm flipV="1">
            <a:off x="3230118" y="2499360"/>
            <a:ext cx="0" cy="1066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37"/>
          <p:cNvSpPr/>
          <p:nvPr/>
        </p:nvSpPr>
        <p:spPr>
          <a:xfrm flipH="1">
            <a:off x="2306269" y="3566160"/>
            <a:ext cx="923849" cy="533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38"/>
          <p:cNvSpPr/>
          <p:nvPr/>
        </p:nvSpPr>
        <p:spPr>
          <a:xfrm>
            <a:off x="31706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39"/>
          <p:cNvSpPr/>
          <p:nvPr/>
        </p:nvSpPr>
        <p:spPr>
          <a:xfrm>
            <a:off x="42374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40"/>
          <p:cNvSpPr/>
          <p:nvPr/>
        </p:nvSpPr>
        <p:spPr>
          <a:xfrm>
            <a:off x="3170682" y="2439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mark41"/>
          <p:cNvSpPr/>
          <p:nvPr/>
        </p:nvSpPr>
        <p:spPr>
          <a:xfrm>
            <a:off x="2246833" y="40401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label43"/>
          <p:cNvSpPr txBox="1"/>
          <p:nvPr/>
        </p:nvSpPr>
        <p:spPr>
          <a:xfrm>
            <a:off x="3198323" y="354808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5" name="S04-label45"/>
          <p:cNvSpPr txBox="1"/>
          <p:nvPr/>
        </p:nvSpPr>
        <p:spPr>
          <a:xfrm>
            <a:off x="4336542" y="3375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6" name="S04-label47"/>
          <p:cNvSpPr txBox="1"/>
          <p:nvPr/>
        </p:nvSpPr>
        <p:spPr>
          <a:xfrm>
            <a:off x="3025902" y="206502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7" name="S04-label49"/>
          <p:cNvSpPr txBox="1"/>
          <p:nvPr/>
        </p:nvSpPr>
        <p:spPr>
          <a:xfrm>
            <a:off x="1890883" y="403098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8" name="S04-card50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51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한가운데 점 ㅇ</a:t>
            </a:r>
            <a:endParaRPr lang="ko-KR" sz="3000" dirty="0"/>
          </a:p>
        </p:txBody>
      </p:sp>
      <p:sp>
        <p:nvSpPr>
          <p:cNvPr id="20" name="S04-card52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53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원 위의 한 점을 이은 선분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40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중심을 지나는 선분 ㄱㄴ이 지름이에요.</a:t>
            </a:r>
            <a:endParaRPr lang="ko-KR" sz="3000" dirty="0"/>
          </a:p>
        </p:txBody>
      </p:sp>
      <p:sp>
        <p:nvSpPr>
          <p:cNvPr id="4" name="S05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원 안의 선분 중 가장 길어요.</a:t>
            </a:r>
            <a:endParaRPr lang="ko-KR" sz="3000" dirty="0"/>
          </a:p>
        </p:txBody>
      </p:sp>
      <p:sp>
        <p:nvSpPr>
          <p:cNvPr id="6" name="S05-figure57" descr="원의 중심 ㅇ을 지나는 지름 ㄱㄴ과, 중심을 지나지 않는 점선 선분 ㄷㄹ"/>
          <p:cNvSpPr/>
          <p:nvPr/>
        </p:nvSpPr>
        <p:spPr>
          <a:xfrm>
            <a:off x="2163318" y="2499360"/>
            <a:ext cx="2133600" cy="21336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58"/>
          <p:cNvSpPr/>
          <p:nvPr/>
        </p:nvSpPr>
        <p:spPr>
          <a:xfrm>
            <a:off x="2163318" y="3566160"/>
            <a:ext cx="2133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59"/>
          <p:cNvSpPr/>
          <p:nvPr/>
        </p:nvSpPr>
        <p:spPr>
          <a:xfrm>
            <a:off x="2376678" y="2926080"/>
            <a:ext cx="170688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5-mark60"/>
          <p:cNvSpPr/>
          <p:nvPr/>
        </p:nvSpPr>
        <p:spPr>
          <a:xfrm>
            <a:off x="31706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61"/>
          <p:cNvSpPr/>
          <p:nvPr/>
        </p:nvSpPr>
        <p:spPr>
          <a:xfrm>
            <a:off x="21038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62"/>
          <p:cNvSpPr/>
          <p:nvPr/>
        </p:nvSpPr>
        <p:spPr>
          <a:xfrm>
            <a:off x="42374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63"/>
          <p:cNvSpPr/>
          <p:nvPr/>
        </p:nvSpPr>
        <p:spPr>
          <a:xfrm>
            <a:off x="2317242" y="28666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64"/>
          <p:cNvSpPr/>
          <p:nvPr/>
        </p:nvSpPr>
        <p:spPr>
          <a:xfrm>
            <a:off x="4024122" y="28666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label66"/>
          <p:cNvSpPr txBox="1"/>
          <p:nvPr/>
        </p:nvSpPr>
        <p:spPr>
          <a:xfrm>
            <a:off x="3025902" y="36195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5" name="S05-label68"/>
          <p:cNvSpPr txBox="1"/>
          <p:nvPr/>
        </p:nvSpPr>
        <p:spPr>
          <a:xfrm>
            <a:off x="1715262" y="3375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6" name="S05-label70"/>
          <p:cNvSpPr txBox="1"/>
          <p:nvPr/>
        </p:nvSpPr>
        <p:spPr>
          <a:xfrm>
            <a:off x="4336542" y="3375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7" name="S05-label72"/>
          <p:cNvSpPr txBox="1"/>
          <p:nvPr/>
        </p:nvSpPr>
        <p:spPr>
          <a:xfrm>
            <a:off x="1928622" y="27355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8" name="S05-label74"/>
          <p:cNvSpPr txBox="1"/>
          <p:nvPr/>
        </p:nvSpPr>
        <p:spPr>
          <a:xfrm>
            <a:off x="4123182" y="27355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2400" dirty="0"/>
          </a:p>
        </p:txBody>
      </p:sp>
      <p:sp>
        <p:nvSpPr>
          <p:cNvPr id="19" name="S05-card75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5-cardtext76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ㄱㄴ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위의 두 점을 잇고 중심을 지나요</a:t>
            </a:r>
            <a:endParaRPr lang="ko-KR" sz="3000" dirty="0"/>
          </a:p>
        </p:txBody>
      </p:sp>
      <p:sp>
        <p:nvSpPr>
          <p:cNvPr id="21" name="S05-card77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5-cardtext78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ㄷㄹ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중심을 지나지 않아요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반지름의 2배</a:t>
            </a:r>
            <a:endParaRPr lang="ko-KR" sz="4000" dirty="0"/>
          </a:p>
        </p:txBody>
      </p:sp>
      <p:sp>
        <p:nvSpPr>
          <p:cNvPr id="3" name="S06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 2개를 이은 길이예요.</a:t>
            </a:r>
            <a:endParaRPr lang="ko-KR" sz="3000" dirty="0"/>
          </a:p>
        </p:txBody>
      </p:sp>
      <p:sp>
        <p:nvSpPr>
          <p:cNvPr id="4" name="S06-figure80" descr="반지름 ㅇㄷ 3 cm, 지름 ㄱㄴ 6 cm인 원"/>
          <p:cNvSpPr/>
          <p:nvPr/>
        </p:nvSpPr>
        <p:spPr>
          <a:xfrm>
            <a:off x="1614678" y="2499360"/>
            <a:ext cx="3230880" cy="323088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6-mark81"/>
          <p:cNvSpPr/>
          <p:nvPr/>
        </p:nvSpPr>
        <p:spPr>
          <a:xfrm>
            <a:off x="1614678" y="4114800"/>
            <a:ext cx="323088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82"/>
          <p:cNvSpPr/>
          <p:nvPr/>
        </p:nvSpPr>
        <p:spPr>
          <a:xfrm flipV="1">
            <a:off x="3230118" y="2499360"/>
            <a:ext cx="0" cy="1615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label84"/>
          <p:cNvSpPr txBox="1"/>
          <p:nvPr/>
        </p:nvSpPr>
        <p:spPr>
          <a:xfrm>
            <a:off x="2818638" y="418338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8" name="S06-label86"/>
          <p:cNvSpPr txBox="1"/>
          <p:nvPr/>
        </p:nvSpPr>
        <p:spPr>
          <a:xfrm>
            <a:off x="2254758" y="311658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9" name="S06-mark87"/>
          <p:cNvSpPr/>
          <p:nvPr/>
        </p:nvSpPr>
        <p:spPr>
          <a:xfrm>
            <a:off x="317068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88"/>
          <p:cNvSpPr/>
          <p:nvPr/>
        </p:nvSpPr>
        <p:spPr>
          <a:xfrm>
            <a:off x="155524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mark89"/>
          <p:cNvSpPr/>
          <p:nvPr/>
        </p:nvSpPr>
        <p:spPr>
          <a:xfrm>
            <a:off x="478612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90"/>
          <p:cNvSpPr/>
          <p:nvPr/>
        </p:nvSpPr>
        <p:spPr>
          <a:xfrm>
            <a:off x="3170682" y="2439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label92"/>
          <p:cNvSpPr txBox="1"/>
          <p:nvPr/>
        </p:nvSpPr>
        <p:spPr>
          <a:xfrm>
            <a:off x="2853481" y="375187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4" name="S06-label94"/>
          <p:cNvSpPr txBox="1"/>
          <p:nvPr/>
        </p:nvSpPr>
        <p:spPr>
          <a:xfrm>
            <a:off x="1166622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5" name="S06-label96"/>
          <p:cNvSpPr txBox="1"/>
          <p:nvPr/>
        </p:nvSpPr>
        <p:spPr>
          <a:xfrm>
            <a:off x="4885182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6" name="S06-label98"/>
          <p:cNvSpPr txBox="1"/>
          <p:nvPr/>
        </p:nvSpPr>
        <p:spPr>
          <a:xfrm>
            <a:off x="3025902" y="206502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7" name="S06-card99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6-cardtext100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반지름 ×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</a:t>
            </a:r>
            <a:endParaRPr lang="ko-KR" sz="3000" dirty="0"/>
          </a:p>
        </p:txBody>
      </p:sp>
      <p:sp>
        <p:nvSpPr>
          <p:cNvPr id="19" name="S06-card101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6-cardtext102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= 지름 ÷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÷ 2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구해요</a:t>
            </a:r>
            <a:endParaRPr lang="ko-KR" sz="4000" dirty="0"/>
          </a:p>
        </p:txBody>
      </p:sp>
      <p:sp>
        <p:nvSpPr>
          <p:cNvPr id="3" name="S07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반지름과 지름을 구해요.</a:t>
            </a:r>
            <a:endParaRPr lang="ko-KR" sz="3000" dirty="0"/>
          </a:p>
        </p:txBody>
      </p:sp>
      <p:sp>
        <p:nvSpPr>
          <p:cNvPr id="4" name="S07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반지름의 2배예요.</a:t>
            </a:r>
            <a:endParaRPr lang="ko-KR" sz="3000" dirty="0"/>
          </a:p>
        </p:txBody>
      </p:sp>
      <p:sp>
        <p:nvSpPr>
          <p:cNvPr id="6" name="S07-figure106" descr="지름이 10 cm인 원"/>
          <p:cNvSpPr/>
          <p:nvPr/>
        </p:nvSpPr>
        <p:spPr>
          <a:xfrm>
            <a:off x="7892034" y="2499360"/>
            <a:ext cx="2133600" cy="21336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07"/>
          <p:cNvSpPr/>
          <p:nvPr/>
        </p:nvSpPr>
        <p:spPr>
          <a:xfrm>
            <a:off x="7892034" y="3566160"/>
            <a:ext cx="2133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label109"/>
          <p:cNvSpPr txBox="1"/>
          <p:nvPr/>
        </p:nvSpPr>
        <p:spPr>
          <a:xfrm>
            <a:off x="8446770" y="3634740"/>
            <a:ext cx="10241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400" dirty="0"/>
          </a:p>
        </p:txBody>
      </p:sp>
      <p:sp>
        <p:nvSpPr>
          <p:cNvPr id="9" name="S07-mark110"/>
          <p:cNvSpPr/>
          <p:nvPr/>
        </p:nvSpPr>
        <p:spPr>
          <a:xfrm>
            <a:off x="889939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111"/>
          <p:cNvSpPr/>
          <p:nvPr/>
        </p:nvSpPr>
        <p:spPr>
          <a:xfrm>
            <a:off x="783259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12"/>
          <p:cNvSpPr/>
          <p:nvPr/>
        </p:nvSpPr>
        <p:spPr>
          <a:xfrm>
            <a:off x="996619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label114"/>
          <p:cNvSpPr txBox="1"/>
          <p:nvPr/>
        </p:nvSpPr>
        <p:spPr>
          <a:xfrm>
            <a:off x="8754618" y="313182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3" name="S07-chip11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7-text11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3000" dirty="0"/>
          </a:p>
        </p:txBody>
      </p:sp>
      <p:sp>
        <p:nvSpPr>
          <p:cNvPr id="15" name="S07-chip11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7-text11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14 cm인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반지름은?</a:t>
            </a:r>
            <a:endParaRPr lang="ko-KR" sz="3000" dirty="0"/>
          </a:p>
        </p:txBody>
      </p:sp>
      <p:sp>
        <p:nvSpPr>
          <p:cNvPr id="17" name="S07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7-text12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원의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5 cm인 원의 지름은 몇 cm일까요?</a:t>
            </a:r>
            <a:endParaRPr lang="ko-KR" sz="3000" dirty="0"/>
          </a:p>
        </p:txBody>
      </p:sp>
      <p:sp>
        <p:nvSpPr>
          <p:cNvPr id="5" name="S08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 cm</a:t>
            </a:r>
            <a:endParaRPr lang="ko-KR" sz="2400" dirty="0"/>
          </a:p>
        </p:txBody>
      </p:sp>
      <p:sp>
        <p:nvSpPr>
          <p:cNvPr id="8" name="S08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“지름은 반지름의 2배니까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7이에요.”</a:t>
            </a:r>
            <a:endParaRPr lang="ko-KR" sz="3000" dirty="0"/>
          </a:p>
        </p:txBody>
      </p:sp>
      <p:sp>
        <p:nvSpPr>
          <p:cNvPr id="9" name="S08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 cm</a:t>
            </a:r>
            <a:endParaRPr lang="ko-KR" sz="2400" dirty="0"/>
          </a:p>
        </p:txBody>
      </p:sp>
      <p:sp>
        <p:nvSpPr>
          <p:cNvPr id="10" name="S08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“지름은 반지름 2개니까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10이에요.”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컴퍼스로 원 그리기</a:t>
            </a:r>
            <a:endParaRPr lang="ko-KR" sz="4000" dirty="0"/>
          </a:p>
        </p:txBody>
      </p:sp>
      <p:sp>
        <p:nvSpPr>
          <p:cNvPr id="3" name="S09-card1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컴퍼스 침은 뾰족해요. 어른과 함께 쓰고, 종이 밑에 두꺼운 종이를 깔아요.</a:t>
            </a:r>
            <a:endParaRPr lang="ko-KR" sz="3000" dirty="0"/>
          </a:p>
        </p:txBody>
      </p:sp>
      <p:sp>
        <p:nvSpPr>
          <p:cNvPr id="5" name="S09-figure131" descr="자의 0에서 3까지 컴퍼스를 벌린 모습을 나타낸 막대(반지름 3 cm)"/>
          <p:cNvSpPr/>
          <p:nvPr/>
        </p:nvSpPr>
        <p:spPr>
          <a:xfrm>
            <a:off x="6905092" y="2857461"/>
            <a:ext cx="4643780" cy="921927"/>
          </a:xfrm>
          <a:custGeom>
            <a:avLst/>
            <a:gdLst/>
            <a:ahLst/>
            <a:cxnLst/>
            <a:rect l="l" t="t" r="r" b="b"/>
            <a:pathLst>
              <a:path w="4643780" h="921927">
                <a:moveTo>
                  <a:pt x="0" y="0"/>
                </a:moveTo>
                <a:lnTo>
                  <a:pt x="4643780" y="0"/>
                </a:lnTo>
                <a:lnTo>
                  <a:pt x="4643780" y="921927"/>
                </a:lnTo>
                <a:lnTo>
                  <a:pt x="0" y="92192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mark132"/>
          <p:cNvSpPr/>
          <p:nvPr/>
        </p:nvSpPr>
        <p:spPr>
          <a:xfrm>
            <a:off x="7178255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9-label134"/>
          <p:cNvSpPr txBox="1"/>
          <p:nvPr/>
        </p:nvSpPr>
        <p:spPr>
          <a:xfrm>
            <a:off x="7022807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9-mark135"/>
          <p:cNvSpPr/>
          <p:nvPr/>
        </p:nvSpPr>
        <p:spPr>
          <a:xfrm>
            <a:off x="72465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mark136"/>
          <p:cNvSpPr/>
          <p:nvPr/>
        </p:nvSpPr>
        <p:spPr>
          <a:xfrm>
            <a:off x="731483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mark137"/>
          <p:cNvSpPr/>
          <p:nvPr/>
        </p:nvSpPr>
        <p:spPr>
          <a:xfrm>
            <a:off x="738312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38"/>
          <p:cNvSpPr/>
          <p:nvPr/>
        </p:nvSpPr>
        <p:spPr>
          <a:xfrm>
            <a:off x="745141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mark139"/>
          <p:cNvSpPr/>
          <p:nvPr/>
        </p:nvSpPr>
        <p:spPr>
          <a:xfrm>
            <a:off x="7519710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mark140"/>
          <p:cNvSpPr/>
          <p:nvPr/>
        </p:nvSpPr>
        <p:spPr>
          <a:xfrm>
            <a:off x="75880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41"/>
          <p:cNvSpPr/>
          <p:nvPr/>
        </p:nvSpPr>
        <p:spPr>
          <a:xfrm>
            <a:off x="76562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mark142"/>
          <p:cNvSpPr/>
          <p:nvPr/>
        </p:nvSpPr>
        <p:spPr>
          <a:xfrm>
            <a:off x="77245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9-mark143"/>
          <p:cNvSpPr/>
          <p:nvPr/>
        </p:nvSpPr>
        <p:spPr>
          <a:xfrm>
            <a:off x="779287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144"/>
          <p:cNvSpPr/>
          <p:nvPr/>
        </p:nvSpPr>
        <p:spPr>
          <a:xfrm>
            <a:off x="7861164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label146"/>
          <p:cNvSpPr txBox="1"/>
          <p:nvPr/>
        </p:nvSpPr>
        <p:spPr>
          <a:xfrm>
            <a:off x="7705716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9-mark147"/>
          <p:cNvSpPr/>
          <p:nvPr/>
        </p:nvSpPr>
        <p:spPr>
          <a:xfrm>
            <a:off x="792945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148"/>
          <p:cNvSpPr/>
          <p:nvPr/>
        </p:nvSpPr>
        <p:spPr>
          <a:xfrm>
            <a:off x="79977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9-mark149"/>
          <p:cNvSpPr/>
          <p:nvPr/>
        </p:nvSpPr>
        <p:spPr>
          <a:xfrm>
            <a:off x="806603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mark150"/>
          <p:cNvSpPr/>
          <p:nvPr/>
        </p:nvSpPr>
        <p:spPr>
          <a:xfrm>
            <a:off x="813432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151"/>
          <p:cNvSpPr/>
          <p:nvPr/>
        </p:nvSpPr>
        <p:spPr>
          <a:xfrm>
            <a:off x="8202618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mark152"/>
          <p:cNvSpPr/>
          <p:nvPr/>
        </p:nvSpPr>
        <p:spPr>
          <a:xfrm>
            <a:off x="82709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9-mark153"/>
          <p:cNvSpPr/>
          <p:nvPr/>
        </p:nvSpPr>
        <p:spPr>
          <a:xfrm>
            <a:off x="83392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154"/>
          <p:cNvSpPr/>
          <p:nvPr/>
        </p:nvSpPr>
        <p:spPr>
          <a:xfrm>
            <a:off x="84074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mark155"/>
          <p:cNvSpPr/>
          <p:nvPr/>
        </p:nvSpPr>
        <p:spPr>
          <a:xfrm>
            <a:off x="84757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mark156"/>
          <p:cNvSpPr/>
          <p:nvPr/>
        </p:nvSpPr>
        <p:spPr>
          <a:xfrm>
            <a:off x="8544073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9-label158"/>
          <p:cNvSpPr txBox="1"/>
          <p:nvPr/>
        </p:nvSpPr>
        <p:spPr>
          <a:xfrm>
            <a:off x="8388625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9-mark159"/>
          <p:cNvSpPr/>
          <p:nvPr/>
        </p:nvSpPr>
        <p:spPr>
          <a:xfrm>
            <a:off x="861236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9-mark160"/>
          <p:cNvSpPr/>
          <p:nvPr/>
        </p:nvSpPr>
        <p:spPr>
          <a:xfrm>
            <a:off x="868065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161"/>
          <p:cNvSpPr/>
          <p:nvPr/>
        </p:nvSpPr>
        <p:spPr>
          <a:xfrm>
            <a:off x="87489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mark162"/>
          <p:cNvSpPr/>
          <p:nvPr/>
        </p:nvSpPr>
        <p:spPr>
          <a:xfrm>
            <a:off x="88172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mark163"/>
          <p:cNvSpPr/>
          <p:nvPr/>
        </p:nvSpPr>
        <p:spPr>
          <a:xfrm>
            <a:off x="8885527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mark164"/>
          <p:cNvSpPr/>
          <p:nvPr/>
        </p:nvSpPr>
        <p:spPr>
          <a:xfrm>
            <a:off x="89538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9-mark165"/>
          <p:cNvSpPr/>
          <p:nvPr/>
        </p:nvSpPr>
        <p:spPr>
          <a:xfrm>
            <a:off x="90221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mark166"/>
          <p:cNvSpPr/>
          <p:nvPr/>
        </p:nvSpPr>
        <p:spPr>
          <a:xfrm>
            <a:off x="90904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mark167"/>
          <p:cNvSpPr/>
          <p:nvPr/>
        </p:nvSpPr>
        <p:spPr>
          <a:xfrm>
            <a:off x="91586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mark168"/>
          <p:cNvSpPr/>
          <p:nvPr/>
        </p:nvSpPr>
        <p:spPr>
          <a:xfrm>
            <a:off x="9226982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9-label170"/>
          <p:cNvSpPr txBox="1"/>
          <p:nvPr/>
        </p:nvSpPr>
        <p:spPr>
          <a:xfrm>
            <a:off x="9071534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9-mark171"/>
          <p:cNvSpPr/>
          <p:nvPr/>
        </p:nvSpPr>
        <p:spPr>
          <a:xfrm>
            <a:off x="929527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mark172"/>
          <p:cNvSpPr/>
          <p:nvPr/>
        </p:nvSpPr>
        <p:spPr>
          <a:xfrm>
            <a:off x="936356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mark173"/>
          <p:cNvSpPr/>
          <p:nvPr/>
        </p:nvSpPr>
        <p:spPr>
          <a:xfrm>
            <a:off x="943185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9-mark174"/>
          <p:cNvSpPr/>
          <p:nvPr/>
        </p:nvSpPr>
        <p:spPr>
          <a:xfrm>
            <a:off x="950014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mark175"/>
          <p:cNvSpPr/>
          <p:nvPr/>
        </p:nvSpPr>
        <p:spPr>
          <a:xfrm>
            <a:off x="9568436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9-mark176"/>
          <p:cNvSpPr/>
          <p:nvPr/>
        </p:nvSpPr>
        <p:spPr>
          <a:xfrm>
            <a:off x="96367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mark177"/>
          <p:cNvSpPr/>
          <p:nvPr/>
        </p:nvSpPr>
        <p:spPr>
          <a:xfrm>
            <a:off x="97050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mark178"/>
          <p:cNvSpPr/>
          <p:nvPr/>
        </p:nvSpPr>
        <p:spPr>
          <a:xfrm>
            <a:off x="97733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mark179"/>
          <p:cNvSpPr/>
          <p:nvPr/>
        </p:nvSpPr>
        <p:spPr>
          <a:xfrm>
            <a:off x="98416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mark180"/>
          <p:cNvSpPr/>
          <p:nvPr/>
        </p:nvSpPr>
        <p:spPr>
          <a:xfrm>
            <a:off x="9909891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9-label182"/>
          <p:cNvSpPr txBox="1"/>
          <p:nvPr/>
        </p:nvSpPr>
        <p:spPr>
          <a:xfrm>
            <a:off x="9754443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9-mark183"/>
          <p:cNvSpPr/>
          <p:nvPr/>
        </p:nvSpPr>
        <p:spPr>
          <a:xfrm>
            <a:off x="99781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mark184"/>
          <p:cNvSpPr/>
          <p:nvPr/>
        </p:nvSpPr>
        <p:spPr>
          <a:xfrm>
            <a:off x="1004647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9-mark185"/>
          <p:cNvSpPr/>
          <p:nvPr/>
        </p:nvSpPr>
        <p:spPr>
          <a:xfrm>
            <a:off x="1011476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mark186"/>
          <p:cNvSpPr/>
          <p:nvPr/>
        </p:nvSpPr>
        <p:spPr>
          <a:xfrm>
            <a:off x="1018305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9-mark187"/>
          <p:cNvSpPr/>
          <p:nvPr/>
        </p:nvSpPr>
        <p:spPr>
          <a:xfrm>
            <a:off x="10251345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mark188"/>
          <p:cNvSpPr/>
          <p:nvPr/>
        </p:nvSpPr>
        <p:spPr>
          <a:xfrm>
            <a:off x="103196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mark189"/>
          <p:cNvSpPr/>
          <p:nvPr/>
        </p:nvSpPr>
        <p:spPr>
          <a:xfrm>
            <a:off x="103879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mark190"/>
          <p:cNvSpPr/>
          <p:nvPr/>
        </p:nvSpPr>
        <p:spPr>
          <a:xfrm>
            <a:off x="104562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mark191"/>
          <p:cNvSpPr/>
          <p:nvPr/>
        </p:nvSpPr>
        <p:spPr>
          <a:xfrm>
            <a:off x="105245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9-mark192"/>
          <p:cNvSpPr/>
          <p:nvPr/>
        </p:nvSpPr>
        <p:spPr>
          <a:xfrm>
            <a:off x="10592800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2" name="S09-label194"/>
          <p:cNvSpPr txBox="1"/>
          <p:nvPr/>
        </p:nvSpPr>
        <p:spPr>
          <a:xfrm>
            <a:off x="10437352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3" name="S09-mark195"/>
          <p:cNvSpPr/>
          <p:nvPr/>
        </p:nvSpPr>
        <p:spPr>
          <a:xfrm>
            <a:off x="1066109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9-mark196"/>
          <p:cNvSpPr/>
          <p:nvPr/>
        </p:nvSpPr>
        <p:spPr>
          <a:xfrm>
            <a:off x="1072938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mark197"/>
          <p:cNvSpPr/>
          <p:nvPr/>
        </p:nvSpPr>
        <p:spPr>
          <a:xfrm>
            <a:off x="1079767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9-mark198"/>
          <p:cNvSpPr/>
          <p:nvPr/>
        </p:nvSpPr>
        <p:spPr>
          <a:xfrm>
            <a:off x="1086596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9-mark199"/>
          <p:cNvSpPr/>
          <p:nvPr/>
        </p:nvSpPr>
        <p:spPr>
          <a:xfrm>
            <a:off x="10934254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9-mark200"/>
          <p:cNvSpPr/>
          <p:nvPr/>
        </p:nvSpPr>
        <p:spPr>
          <a:xfrm>
            <a:off x="1100254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9-mark201"/>
          <p:cNvSpPr/>
          <p:nvPr/>
        </p:nvSpPr>
        <p:spPr>
          <a:xfrm>
            <a:off x="110708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9-mark202"/>
          <p:cNvSpPr/>
          <p:nvPr/>
        </p:nvSpPr>
        <p:spPr>
          <a:xfrm>
            <a:off x="111391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9-mark203"/>
          <p:cNvSpPr/>
          <p:nvPr/>
        </p:nvSpPr>
        <p:spPr>
          <a:xfrm>
            <a:off x="112074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9-mark204"/>
          <p:cNvSpPr/>
          <p:nvPr/>
        </p:nvSpPr>
        <p:spPr>
          <a:xfrm>
            <a:off x="11275708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3" name="S09-label206"/>
          <p:cNvSpPr txBox="1"/>
          <p:nvPr/>
        </p:nvSpPr>
        <p:spPr>
          <a:xfrm>
            <a:off x="11120260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09-mark207"/>
          <p:cNvSpPr/>
          <p:nvPr/>
        </p:nvSpPr>
        <p:spPr>
          <a:xfrm>
            <a:off x="7178255" y="2413570"/>
            <a:ext cx="2048727" cy="273164"/>
          </a:xfrm>
          <a:custGeom>
            <a:avLst/>
            <a:gdLst/>
            <a:ahLst/>
            <a:cxnLst/>
            <a:rect l="l" t="t" r="r" b="b"/>
            <a:pathLst>
              <a:path w="2048727" h="273164">
                <a:moveTo>
                  <a:pt x="0" y="273164"/>
                </a:moveTo>
                <a:lnTo>
                  <a:pt x="2048727" y="273164"/>
                </a:lnTo>
                <a:lnTo>
                  <a:pt x="2048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9-label209"/>
          <p:cNvSpPr txBox="1"/>
          <p:nvPr/>
        </p:nvSpPr>
        <p:spPr>
          <a:xfrm>
            <a:off x="7791138" y="2359652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76" name="S09-mark210"/>
          <p:cNvSpPr/>
          <p:nvPr/>
        </p:nvSpPr>
        <p:spPr>
          <a:xfrm>
            <a:off x="7178255" y="2686734"/>
            <a:ext cx="0" cy="17072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7" name="S09-mark211"/>
          <p:cNvSpPr/>
          <p:nvPr/>
        </p:nvSpPr>
        <p:spPr>
          <a:xfrm>
            <a:off x="9226982" y="2686734"/>
            <a:ext cx="0" cy="17072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8" name="S09-stepno212"/>
          <p:cNvSpPr txBox="1"/>
          <p:nvPr/>
        </p:nvSpPr>
        <p:spPr>
          <a:xfrm>
            <a:off x="548640" y="15148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9" name="S09-text213"/>
          <p:cNvSpPr txBox="1"/>
          <p:nvPr/>
        </p:nvSpPr>
        <p:spPr>
          <a:xfrm>
            <a:off x="1325880" y="146913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중심이 될 점 ㅇ을 찍어요.</a:t>
            </a:r>
            <a:endParaRPr lang="ko-KR" sz="3000" dirty="0"/>
          </a:p>
        </p:txBody>
      </p:sp>
      <p:sp>
        <p:nvSpPr>
          <p:cNvPr id="80" name="S09-stepno214"/>
          <p:cNvSpPr txBox="1"/>
          <p:nvPr/>
        </p:nvSpPr>
        <p:spPr>
          <a:xfrm>
            <a:off x="548640" y="260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1" name="S09-text215"/>
          <p:cNvSpPr txBox="1"/>
          <p:nvPr/>
        </p:nvSpPr>
        <p:spPr>
          <a:xfrm>
            <a:off x="1325880" y="256336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자에 대고 반지름만큼 벌려요.</a:t>
            </a:r>
            <a:endParaRPr lang="ko-KR" sz="3000" dirty="0"/>
          </a:p>
        </p:txBody>
      </p:sp>
      <p:sp>
        <p:nvSpPr>
          <p:cNvPr id="82" name="S09-stepno216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3" name="S09-text217"/>
          <p:cNvSpPr txBox="1"/>
          <p:nvPr/>
        </p:nvSpPr>
        <p:spPr>
          <a:xfrm>
            <a:off x="1325880" y="365760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침을 점 ㅇ에 꽂고 손잡이를 잡고 한 바퀴 돌려요.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벌릴까요?</a:t>
            </a:r>
            <a:endParaRPr lang="ko-KR" sz="4000" dirty="0"/>
          </a:p>
        </p:txBody>
      </p:sp>
      <p:sp>
        <p:nvSpPr>
          <p:cNvPr id="3" name="S10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몇 cm 벌려야 할까요?</a:t>
            </a:r>
            <a:endParaRPr lang="ko-KR" sz="3000" dirty="0"/>
          </a:p>
        </p:txBody>
      </p:sp>
      <p:sp>
        <p:nvSpPr>
          <p:cNvPr id="4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벌린 길이가 반지름이에요.</a:t>
            </a:r>
            <a:endParaRPr lang="ko-KR" sz="3000" dirty="0"/>
          </a:p>
        </p:txBody>
      </p:sp>
      <p:sp>
        <p:nvSpPr>
          <p:cNvPr id="6" name="S10-chip22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22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2 cm인 원</a:t>
            </a:r>
            <a:endParaRPr lang="ko-KR" sz="3000" dirty="0"/>
          </a:p>
        </p:txBody>
      </p:sp>
      <p:sp>
        <p:nvSpPr>
          <p:cNvPr id="8" name="S10-chip2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22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6 cm인 원</a:t>
            </a:r>
            <a:endParaRPr lang="ko-KR" sz="3000" dirty="0"/>
          </a:p>
        </p:txBody>
      </p:sp>
      <p:sp>
        <p:nvSpPr>
          <p:cNvPr id="10" name="S10-chip22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22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10 cm인 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구하고, 어떻게 알았는지 말해요.</a:t>
            </a:r>
            <a:endParaRPr lang="ko-KR" sz="3000" dirty="0"/>
          </a:p>
        </p:txBody>
      </p:sp>
      <p:sp>
        <p:nvSpPr>
          <p:cNvPr id="4" name="S11-figure228" descr="반지름이 4 cm인 원"/>
          <p:cNvSpPr/>
          <p:nvPr/>
        </p:nvSpPr>
        <p:spPr>
          <a:xfrm>
            <a:off x="7343394" y="2499360"/>
            <a:ext cx="3230880" cy="323088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1-mark229"/>
          <p:cNvSpPr/>
          <p:nvPr/>
        </p:nvSpPr>
        <p:spPr>
          <a:xfrm>
            <a:off x="8958834" y="4114800"/>
            <a:ext cx="1615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label231"/>
          <p:cNvSpPr txBox="1"/>
          <p:nvPr/>
        </p:nvSpPr>
        <p:spPr>
          <a:xfrm>
            <a:off x="9355074" y="366522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7" name="S11-mark232"/>
          <p:cNvSpPr/>
          <p:nvPr/>
        </p:nvSpPr>
        <p:spPr>
          <a:xfrm>
            <a:off x="8899398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mark233"/>
          <p:cNvSpPr/>
          <p:nvPr/>
        </p:nvSpPr>
        <p:spPr>
          <a:xfrm>
            <a:off x="10514838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label235"/>
          <p:cNvSpPr txBox="1"/>
          <p:nvPr/>
        </p:nvSpPr>
        <p:spPr>
          <a:xfrm>
            <a:off x="8510778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400" dirty="0"/>
          </a:p>
        </p:txBody>
      </p:sp>
      <p:sp>
        <p:nvSpPr>
          <p:cNvPr id="10" name="S11-label237"/>
          <p:cNvSpPr txBox="1"/>
          <p:nvPr/>
        </p:nvSpPr>
        <p:spPr>
          <a:xfrm>
            <a:off x="10613898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11-chip23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1-text23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원의 지름은?</a:t>
            </a:r>
            <a:endParaRPr lang="ko-KR" sz="3000" dirty="0"/>
          </a:p>
        </p:txBody>
      </p:sp>
      <p:sp>
        <p:nvSpPr>
          <p:cNvPr id="13" name="S11-chip24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1-text24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12 cm인 원의 반지름은?</a:t>
            </a:r>
            <a:endParaRPr lang="ko-KR" sz="3000" dirty="0"/>
          </a:p>
        </p:txBody>
      </p:sp>
      <p:sp>
        <p:nvSpPr>
          <p:cNvPr id="15" name="S11-chip24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1-text24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8 cm인 원을 그릴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벌릴 길이는?</a:t>
            </a:r>
            <a:endParaRPr lang="ko-KR" sz="2400" dirty="0"/>
          </a:p>
        </p:txBody>
      </p:sp>
      <p:sp>
        <p:nvSpPr>
          <p:cNvPr id="17" name="S11-chip244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1-text245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 반지름을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그을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4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4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반지름 두 개가 지름이 되는 그림을 다시 보게 하세요.</a:t>
            </a:r>
            <a:endParaRPr lang="ko-KR" sz="3000" dirty="0"/>
          </a:p>
        </p:txBody>
      </p:sp>
      <p:sp>
        <p:nvSpPr>
          <p:cNvPr id="5" name="S12-chip24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49"/>
          <p:cNvSpPr txBox="1"/>
          <p:nvPr/>
        </p:nvSpPr>
        <p:spPr>
          <a:xfrm>
            <a:off x="548640" y="2057400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 cm</a:t>
            </a:r>
            <a:endParaRPr lang="ko-KR" sz="3000" dirty="0"/>
          </a:p>
        </p:txBody>
      </p:sp>
      <p:sp>
        <p:nvSpPr>
          <p:cNvPr id="7" name="S12-text250"/>
          <p:cNvSpPr txBox="1"/>
          <p:nvPr/>
        </p:nvSpPr>
        <p:spPr>
          <a:xfrm>
            <a:off x="548640" y="2759964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cm</a:t>
            </a:r>
            <a:endParaRPr lang="ko-KR" sz="3000" dirty="0"/>
          </a:p>
        </p:txBody>
      </p:sp>
      <p:sp>
        <p:nvSpPr>
          <p:cNvPr id="8" name="S12-text251"/>
          <p:cNvSpPr txBox="1"/>
          <p:nvPr/>
        </p:nvSpPr>
        <p:spPr>
          <a:xfrm>
            <a:off x="548640" y="3462528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 cm</a:t>
            </a:r>
            <a:endParaRPr lang="ko-KR" sz="3000" dirty="0"/>
          </a:p>
        </p:txBody>
      </p:sp>
      <p:sp>
        <p:nvSpPr>
          <p:cNvPr id="9" name="S12-text252"/>
          <p:cNvSpPr txBox="1"/>
          <p:nvPr/>
        </p:nvSpPr>
        <p:spPr>
          <a:xfrm>
            <a:off x="548640" y="4165092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셀 수 없이 많이</a:t>
            </a:r>
            <a:endParaRPr lang="ko-KR" sz="3000" dirty="0"/>
          </a:p>
        </p:txBody>
      </p:sp>
      <p:sp>
        <p:nvSpPr>
          <p:cNvPr id="10" name="S12-chip25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25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cm</a:t>
            </a:r>
            <a:endParaRPr lang="ko-KR" sz="3000" dirty="0"/>
          </a:p>
        </p:txBody>
      </p:sp>
      <p:sp>
        <p:nvSpPr>
          <p:cNvPr id="12" name="S12-text25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+ 2로 계산</a:t>
            </a:r>
            <a:endParaRPr lang="ko-KR" sz="2400" dirty="0"/>
          </a:p>
        </p:txBody>
      </p:sp>
      <p:sp>
        <p:nvSpPr>
          <p:cNvPr id="13" name="S12-text25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cm</a:t>
            </a:r>
            <a:endParaRPr lang="ko-KR" sz="3000" dirty="0"/>
          </a:p>
        </p:txBody>
      </p:sp>
      <p:sp>
        <p:nvSpPr>
          <p:cNvPr id="14" name="S12-text25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지름만큼 벌림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원은?</a:t>
            </a:r>
            <a:endParaRPr lang="ko-KR" sz="4000" dirty="0"/>
          </a:p>
        </p:txBody>
      </p:sp>
      <p:sp>
        <p:nvSpPr>
          <p:cNvPr id="3" name="S13-card2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원을 고르고, 까닭을 말해요.</a:t>
            </a:r>
            <a:endParaRPr lang="ko-KR" sz="3000" dirty="0"/>
          </a:p>
        </p:txBody>
      </p:sp>
      <p:sp>
        <p:nvSpPr>
          <p:cNvPr id="5" name="S13-chip26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261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62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cm인 원</a:t>
            </a:r>
            <a:endParaRPr lang="ko-KR" sz="3000" dirty="0"/>
          </a:p>
        </p:txBody>
      </p:sp>
      <p:sp>
        <p:nvSpPr>
          <p:cNvPr id="8" name="S13-chip263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264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65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cm인 원</a:t>
            </a:r>
            <a:endParaRPr lang="ko-KR" sz="3000" dirty="0"/>
          </a:p>
        </p:txBody>
      </p:sp>
      <p:sp>
        <p:nvSpPr>
          <p:cNvPr id="11" name="S13-chip266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267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68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cm인 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원에서 반지름은 모두 같고, 지름은 반지름의 2배예요.</a:t>
            </a:r>
            <a:endParaRPr lang="ko-KR" sz="3000" dirty="0"/>
          </a:p>
        </p:txBody>
      </p:sp>
      <p:sp>
        <p:nvSpPr>
          <p:cNvPr id="5" name="S14-chip27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컴퍼스를 반지름만큼 벌리기</a:t>
            </a:r>
            <a:endParaRPr lang="ko-KR" sz="2400" dirty="0"/>
          </a:p>
        </p:txBody>
      </p:sp>
      <p:sp>
        <p:nvSpPr>
          <p:cNvPr id="6" name="S14-chip27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반지름에 2를 더해 지름 구하기</a:t>
            </a:r>
            <a:endParaRPr lang="ko-KR" sz="2400" dirty="0"/>
          </a:p>
        </p:txBody>
      </p:sp>
      <p:sp>
        <p:nvSpPr>
          <p:cNvPr id="7" name="S14-text27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7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반지름 6 cm인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400" dirty="0"/>
          </a:p>
        </p:txBody>
      </p:sp>
      <p:sp>
        <p:nvSpPr>
          <p:cNvPr id="9" name="S14-text27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지름 18 cm인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반지름은?</a:t>
            </a:r>
            <a:endParaRPr lang="ko-KR" sz="2400" dirty="0"/>
          </a:p>
        </p:txBody>
      </p:sp>
      <p:sp>
        <p:nvSpPr>
          <p:cNvPr id="10" name="S14-text27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중심을 지나는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안의 선분은?</a:t>
            </a:r>
            <a:endParaRPr lang="ko-KR" sz="2400" dirty="0"/>
          </a:p>
        </p:txBody>
      </p:sp>
      <p:sp>
        <p:nvSpPr>
          <p:cNvPr id="11" name="S14-text2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mm와 km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2배와 반</a:t>
            </a:r>
            <a:endParaRPr lang="ko-KR" sz="4000" dirty="0"/>
          </a:p>
        </p:txBody>
      </p:sp>
      <p:sp>
        <p:nvSpPr>
          <p:cNvPr id="3" name="S15-text2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2배와 반을 알아봐요.</a:t>
            </a:r>
            <a:endParaRPr lang="ko-KR" sz="3000" dirty="0"/>
          </a:p>
        </p:txBody>
      </p:sp>
      <p:sp>
        <p:nvSpPr>
          <p:cNvPr id="4" name="S15-card27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8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5의 2배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10</a:t>
            </a:r>
            <a:endParaRPr lang="ko-KR" sz="3000" dirty="0"/>
          </a:p>
        </p:txBody>
      </p:sp>
      <p:sp>
        <p:nvSpPr>
          <p:cNvPr id="6" name="S15-card28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8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10의 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÷ 2 = 5</a:t>
            </a:r>
            <a:endParaRPr lang="ko-KR" sz="3000" dirty="0"/>
          </a:p>
        </p:txBody>
      </p:sp>
      <p:sp>
        <p:nvSpPr>
          <p:cNvPr id="8" name="S15-dot283"/>
          <p:cNvSpPr/>
          <p:nvPr/>
        </p:nvSpPr>
        <p:spPr>
          <a:xfrm>
            <a:off x="207980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84"/>
          <p:cNvSpPr/>
          <p:nvPr/>
        </p:nvSpPr>
        <p:spPr>
          <a:xfrm>
            <a:off x="258272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85"/>
          <p:cNvSpPr/>
          <p:nvPr/>
        </p:nvSpPr>
        <p:spPr>
          <a:xfrm>
            <a:off x="308564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86"/>
          <p:cNvSpPr/>
          <p:nvPr/>
        </p:nvSpPr>
        <p:spPr>
          <a:xfrm>
            <a:off x="358856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87"/>
          <p:cNvSpPr/>
          <p:nvPr/>
        </p:nvSpPr>
        <p:spPr>
          <a:xfrm>
            <a:off x="409148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group288"/>
          <p:cNvSpPr/>
          <p:nvPr/>
        </p:nvSpPr>
        <p:spPr>
          <a:xfrm>
            <a:off x="2011680" y="3164586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15-figure289" descr="바둑돌 5개 한 줄"/>
          <p:cNvSpPr/>
          <p:nvPr/>
        </p:nvSpPr>
        <p:spPr>
          <a:xfrm>
            <a:off x="1984248" y="3128010"/>
            <a:ext cx="2514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5-dot290"/>
          <p:cNvSpPr/>
          <p:nvPr/>
        </p:nvSpPr>
        <p:spPr>
          <a:xfrm>
            <a:off x="778565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91"/>
          <p:cNvSpPr/>
          <p:nvPr/>
        </p:nvSpPr>
        <p:spPr>
          <a:xfrm>
            <a:off x="828857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92"/>
          <p:cNvSpPr/>
          <p:nvPr/>
        </p:nvSpPr>
        <p:spPr>
          <a:xfrm>
            <a:off x="879149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93"/>
          <p:cNvSpPr/>
          <p:nvPr/>
        </p:nvSpPr>
        <p:spPr>
          <a:xfrm>
            <a:off x="929441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94"/>
          <p:cNvSpPr/>
          <p:nvPr/>
        </p:nvSpPr>
        <p:spPr>
          <a:xfrm>
            <a:off x="979733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group295"/>
          <p:cNvSpPr/>
          <p:nvPr/>
        </p:nvSpPr>
        <p:spPr>
          <a:xfrm>
            <a:off x="7717536" y="3164586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figure296" descr="바둑돌 5개 한 줄"/>
          <p:cNvSpPr/>
          <p:nvPr/>
        </p:nvSpPr>
        <p:spPr>
          <a:xfrm>
            <a:off x="7690104" y="3128010"/>
            <a:ext cx="2514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원의 중심·반지름·지름</dc:title>
  <dc:subject>KR22-G03-MAT-CIRCLE-L01</dc:subject>
  <dc:creator>education-ppt</dc:creator>
  <cp:lastModifiedBy>education-ppt</cp:lastModifiedBy>
  <cp:revision>1</cp:revision>
  <dcterms:created xsi:type="dcterms:W3CDTF">2026-10-26T07:46:38Z</dcterms:created>
  <dcterms:modified xsi:type="dcterms:W3CDTF">2026-10-26T07:46:38Z</dcterms:modified>
</cp:coreProperties>
</file>