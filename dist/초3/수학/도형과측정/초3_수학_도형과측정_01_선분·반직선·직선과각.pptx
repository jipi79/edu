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e62d88f-2edb-aee6-a3a5-a62c39fcc07e}">
          <p14:sldIdLst>
            <p14:sldId id="256"/>
            <p14:sldId id="257"/>
          </p14:sldIdLst>
        </p14:section>
        <p14:section name="개념" id="{4d2d05b2-c3da-09fc-b4ee-ef40724e9bc2}">
          <p14:sldIdLst>
            <p14:sldId id="258"/>
            <p14:sldId id="259"/>
            <p14:sldId id="260"/>
            <p14:sldId id="263"/>
          </p14:sldIdLst>
        </p14:section>
        <p14:section name="연습" id="{a047e461-6419-1a20-50d6-f59261dc1288}">
          <p14:sldIdLst>
            <p14:sldId id="261"/>
            <p14:sldId id="262"/>
            <p14:sldId id="264"/>
            <p14:sldId id="265"/>
          </p14:sldIdLst>
        </p14:section>
        <p14:section name="개념" id="{7f386b24-62bd-e476-6d73-0fffe41de1f5}">
          <p14:sldIdLst/>
        </p14:section>
        <p14:section name="연습" id="{3dab9f06-1b51-a05c-5b72-f1430a22e80b}">
          <p14:sldIdLst/>
        </p14:section>
        <p14:section name="확인" id="{fc778ed4-71de-78fb-19c2-757de88c10e1}">
          <p14:sldIdLst>
            <p14:sldId id="266"/>
            <p14:sldId id="267"/>
            <p14:sldId id="268"/>
          </p14:sldIdLst>
        </p14:section>
        <p14:section name="정리" id="{9bd4fd62-969f-8ad9-790c-13d847a1016f}">
          <p14:sldIdLst>
            <p14:sldId id="269"/>
          </p14:sldIdLst>
        </p14:section>
        <p14:section name="보충" id="{f3c0186f-e299-8928-11e0-158690cf066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2학년에서 배운 ‘곧은 선’에도 끝이 어떻게 생겼는지에 따라 이름이 있다는 것을 궁금하게 합니다.
시간: 약 2분
이렇게 말해 보세요
- “2학년 때 도형의 곧은 선을 ‘변’이라고 했지? 오늘은 곧은 선에도 여러 가지 이름이 있다는 것을 배울 거야.”
- “오른쪽 그림에서 곧은 선 두 개가 어디에서 만나?”
예상 답
- “점 ㄴ에서 만나요.” “뾰족한 모양이에요.”
막히면
- 답을 확인하지 않고 넘어갑니다. S08에서 이 그림을 자세히 봅니다.
주의
- 오늘은 자(30 cm 자), 연필, 빨대 2개(또는 연필 2자루), 실 한 가닥을 씁니다.
- 점 이름은 ㄱ, ㄴ, ㄷ처럼 자음으로 씁니다. 화면에서 이름 글자가 작게 보이면 손가락으로 짚어 함께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확인(변과 꼭짓점)]
목적: 2학년에서 배운 변(곧은 선)과 꼭짓점(두 곧은 선이 만나는 점)을 알고 있는지 확인합니다. 오늘 배우는 각의 꼭짓점과 변이 여기서 이어집니다.
시간: 약 3분
이렇게 말해 보세요
- “①과 ②는 변이 몇 개, 꼭짓점이 몇 개야?”
- “③ 변은 어떤 선이었지? 곧은 선이야, 굽은 선이야?”
정답
- ① 변 3개, 꼭짓점 3개(삼각형)
- ② 변 5개, 꼭짓점 5개(오각형)
- ③ 곧은 선
막히면
- 꼭짓점에 손가락을 대며 ‘콕, 콕’ 세게 합니다.
- 두 개 이상 틀리면 S15(보충)를 먼저 합니다. 보충으로도 어려우면 초2 ‘여러 가지 도형’(KR22-G02-MAT-PLANE-L01)을 다시 합니다.
주의
- ‘곧은 선’과 ‘굽은 선’을 구별하는 것이 오늘의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선분의 뜻]
목적: 두 점을 곧게 이은 선을 선분이라고 하고, 선분은 두 점에서 끝난다(끝점이 2개)는 것을 압니다.
시간: 약 3분
이렇게 말해 보세요
- “종이에 점 두 개를 찍고 이름을 ㄱ, ㄴ이라고 쓰자. 자를 대고 두 점을 곧게 이어 볼래?”
- “이렇게 두 점을 곧게 이은 선을 ‘선분’이라고 해. 점 ㄱ과 점 ㄴ을 이었으니 선분 ㄱㄴ, 거꾸로 선분 ㄴㄱ이라고 읽어도 돼.”
- “선분은 어디에서 끝나? 선이 끝나는 점을 ‘끝점’이라고 하자.”
예상 답
- “점 ㄱ이랑 점 ㄴ에서 끝나요. 끝점이 2개예요.”
막히면
- 자가 미끄러지면 부모가 자를 눌러 주고 아이는 연필만 긋습니다.
- 두 점을 구불구불하게 이은 선도 하나 그려 보이고 “이것도 선분일까?”라고 묻습니다. 곧은 선이 아니므로 선분이 아닙니다.
주의
- ‘끝점’은 선이 끝나는 점을 쉽게 부르는 말입니다. 선분은 끝점이 2개라는 것이 다음 장에서 반직선·직선과 구별하는 기준이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선분·반직선·직선 비교]
목적: 선분을 한쪽으로 끝없이 늘인 반직선, 양쪽으로 끝없이 늘인 직선을 알고, 끝점의 수(2개·1개·없음)로 세 가지를 구별합니다.
시간: 약 3분
이렇게 말해 보세요
- “선분 ㄱㄴ은 점 ㄱ과 점 ㄴ에서 딱 멈췄지? 반직선 ㄱㄴ은 어때? 점 ㄴ을 지나서 계속 가지?”
- “반직선은 점 ㄱ에서 시작해서 한쪽으로 끝없이 늘인 곧은 선이야. 직선은 선분을 양쪽으로 끝없이 늘인 곧은 선이야.”
- “세 가지의 끝점은 각각 몇 개야?”
예상 답
- “선분은 2개, 반직선은 1개, 직선은 없어요.”
막히면
- 실 한 가닥을 팽팽하게 당겨 보입니다. 양손으로 잡은 부분은 선분, 한 손을 놓고 실이 한쪽으로 계속 이어진다고 상상하면 반직선입니다.
- 손가락으로 반직선을 따라가다가 그림이 끝나도 ‘계속, 계속…’ 하며 화면 밖까지 손을 움직여 봅니다.
주의
- 종이에는 끝없이 그릴 수 없어서, 점 바깥으로 선을 조금 더 그어 ‘끝없이 늘어난다’를 나타냅니다. 그림에서 선이 끝나 보이는 곳은 끝점이 아닙니다(점이 없음). 이 자료는 교과서처럼 화살표 없이 그렸습니다. 화살표로 나타낸 문제집을 보면 같은 뜻이라고 알려 줍니다.
- 길게 그렸다고 직선이 아니고, 짧게 그렸다고 선분이 아닙니다. 끝점이 있는지로 구별합니다(M2).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반직선의 이름(시작점)]
목적: 반직선은 시작하는 점(끝점)을 먼저 읽으므로 반직선 ㄱㄴ과 반직선 ㄴㄱ은 다른 도형이라는 것을 압니다.
시간: 약 3분
이렇게 말해 보세요
- “왼쪽 반직선은 어느 점에서 시작해? 어느 쪽으로 늘어나? 오른쪽 반직선은?”
- “그래서 왼쪽은 반직선 ㄱㄴ, 오른쪽은 반직선 ㄴㄱ이야. 두 반직선은 같을까?”
- “선분 ㄱㄴ과 선분 ㄴㄱ은 같은 선분일까?”
예상 답
- “왼쪽은 ㄱ에서 시작해서 오른쪽으로, 오른쪽은 ㄴ에서 시작해서 왼쪽으로 가요.” “달라요.”
- “선분은 같아요.”
막히면
- 손전등을 켜서 벽에 비추는 모습을 떠올리게 합니다. 빛이 나오는 곳(시작점)이 다르면 빛이 가는 방향도 다릅니다. 손전등 빛을 눈에 비추지 않습니다.
주의
- 반직선의 이름은 ‘시작하는 점 → 지나가는 점’ 순서로 읽습니다(M3). 선분과 직선은 두 점의 순서를 바꾸어 읽어도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연습(이름 말하기)]
목적: 도움을 받으며 끝점의 수로 선분·반직선·직선을 구별하고, 점의 이름을 붙여 읽습니다.
시간: 약 3분
이렇게 말해 보세요
- “가부터 볼까? 끝점이 몇 개야? 그러면 이름은?”
- “라는 어느 점에서 시작해서 어느 쪽으로 늘어났어? 시작하는 점을 먼저 읽어 봐.”
정답
- 가: 선분 ㄷㄹ(또는 선분 ㄹㄷ)
- 나: 직선 ㅁㅂ(또는 직선 ㅂㅁ)
- 다: 반직선 ㅅㅇ(점 ㅅ에서 시작)
- 라: 반직선 ㅊㅈ(점 ㅊ에서 시작해 점 ㅈ을 지남)
막히면
- 선의 두 끝을 손가락으로 하나씩 짚으며 “여기서 멈춰? 계속 가?”라고 묻습니다.
주의
- 라를 ‘반직선 ㅈㅊ’이라고 하면 시작점을 다시 확인합니다(M3). 선이 점 ㅈ 바깥으로 이어지고, 점 ㅊ에서는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다루기(길면 직선?)]
목적: 길게 그린 선분을 직선이라고 생각하는 오개념을 다루고, 직선은 길이가 아니라 끝점이 없는 것으로 구별한다는 것을 확인합니다(M2).
시간: 약 3분
이렇게 말해 보세요
- “직선을 모두 찾아볼까? 선의 두 끝을 잘 봐.”
- “가는 제일 길어. 그런데 직선일까?”
예상 답
- “나랑 라요. 가는 끝에 점이 있어서 선분이에요.”
정답
- 나, 라가 직선입니다. 두 점 바깥 양쪽으로 선이 이어져 끝점이 없습니다.
- 가는 길지만 양쪽 끝에 끝점이 있는 선분입니다. 다는 끝점이 1개인 반직선입니다.
막히면
- S04의 세 그림을 다시 보여 주고 끝점의 수를 하나씩 셉니다.
주의
- 직선은 끝없이 늘어나므로 길이를 잴 수 없습니다. 길이를 잴 수 있는 것은 선분뿐입니다.
- 여기까지가 목표 ①입니다.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각의 뜻과 꼭짓점·변·이름]
목적: 각의 뜻(한 점에서 그은 두 반직선으로 이루어진 도형)과 각의 꼭짓점·변·이름을 압니다.
시간: 약 3분
이렇게 말해 보세요
- “점 ㄴ에서 반직선이 두 개 그어졌지? 이런 도형을 ‘각’이라고 해.”
- “두 반직선이 시작하는 점 ㄴ을 각의 ‘꼭짓점’, 두 반직선을 각의 ‘변’이라고 해. 변 ㄴㄱ, 변 ㄴㄷ이라고 읽어.”
- “각의 이름은 꼭짓점을 가운데에 넣어 ‘각 ㄱㄴㄷ’ 또는 ‘각 ㄷㄴㄱ’이라고 읽어.”
예상 답
- “꼭짓점은 점 ㄴ이에요.” “각 ㄱㄴㄷ이요.”
막히면
- 빨대 두 개(또는 연필 두 자루)의 끝을 맞대어 각을 만들어 보고, 맞댄 곳을 짚으며 “여기가 꼭짓점”이라고 말합니다.
주의
- 2학년에서 배운 도형의 꼭짓점과 같은 이름입니다. 삼각형의 꼭짓점마다 각이 하나씩 있습니다.
- ‘각 ㄴㄱㄷ’처럼 꼭짓점을 가운데에 두지 않으면 다른 각이 됩니다(M4).
- 노란색 부채꼴은 각의 자리를 보여 주는 표시입니다. 변을 길게 그려도 각은 같다는 것(각의 크기)은 4학년에서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연습(각의 이름·꼭짓점·변)]
목적: 도움을 받으며 처음 보는 각에서 꼭짓점을 찾고, 각과 변의 이름을 읽습니다.
시간: 약 3분
이렇게 말해 보세요
- “두 반직선이 시작하는 점은 어디야? 그 점이 꼭짓점이야.”
- “꼭짓점을 가운데에 넣어 각의 이름을 말해 볼래? 변은 꼭짓점부터 읽어.”
정답
- ① 각 ㄹㅁㅂ 또는 각 ㅂㅁㄹ
- ② 점 ㅁ
- ③ 변 ㅁㄹ, 변 ㅁㅂ
막히면
- 꼭짓점에 연필 끝을 대고 두 변을 따라 손가락으로 쭉 그어 봅니다.
주의
- 각 ㅁㄹㅂ처럼 꼭짓점을 처음에 두면 틀린 이름입니다. 꼭짓점 ㅁ이 가운데에 와야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각과 각이 아닌 것 구별]
목적: 두 곧은 선이 한 점에서 만나야 각이라는 것을 확인하고, 벌어진 정도가 달라도 각이라는 것을 압니다.
시간: 약 3분
이렇게 말해 보세요
- “각을 모두 찾아볼까? 두 선이 한 점에서 만나는지 봐.”
- “나는 왜 각이 아닐까? 다는 많이 벌어졌는데 각일까?”
예상 답
- “가랑 다요. 나는 선이 안 만나요.”
정답
- 가, 다가 각입니다. 한 점에서 그은 곧은 선 두 개로 되어 있습니다.
- 나는 두 곧은 선이 한 점에서 만나지 않아 각이 아닙니다(꼭짓점이 없음).
막히면
- 빨대 두 개의 끝을 맞대었다가 떼어 보며 “이제도 꼭짓점이 있어?”라고 묻습니다.
주의
- 그림에서는 변을 끝까지 그릴 수 없어 짧게 그립니다. 한 점에서 곧은 선 두 개가 뻗어 나가면 각입니다.
- 굽은 선이 있으면 각이 아닙니다. 아이가 물으면 컵 테두리처럼 둥근 모양에는 꼭짓점이 없다고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선분·반직선을 구별해 이름을 읽고(목표 ①), 도형에서 각의 수를 세고 각의 꼭짓점을 찾는지(목표 ②) 확인합니다.
시간: 약 5분
이렇게 말해 보세요
- “이번에는 혼자 해 볼래? 다 하면 어떻게 알았는지 말해 줘.”
- “④는 그림이 없어. 각의 이름에서 꼭짓점을 찾아봐.”
정답
- ① 반직선 ㅌㅋ (점 ㅌ에서 시작해 점 ㅋ을 지남)
- ② 선분 ㅍㅎ(또는 선분 ㅎㅍ)
- ③ 6개 (육각형의 꼭짓점마다 각이 하나씩)
- ④ 점 ㄴ (가운데 글자)
막히면
- 바로 알려 주지 말고 “끝점이 몇 개야?”, “어느 점에서 시작해?”라고만 묻습니다.
- 도움을 받아 해결했다면 기록표에 ‘도움’으로 표시합니다.
주의
- ①을 ‘반직선 ㅋㅌ’이라고 하면 시작점을 거꾸로 읽은 것입니다(M3).
- ③에서 같은 각을 두 번 세지 않도록 센 꼭짓점에 점을 찍게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그림을 같이 다시 보자.”
정답
- ① 반직선 ㅌㅋ ② 선분 ㅍㅎ(선분 ㅎㅍ도 정답) ③ 6개 ④ 점 ㄴ
막히면
- ①이 틀렸으면 S05를, ②가 틀렸으면 S04를, ③④가 틀렸으면 S08을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확인(도형에서 각 찾기)]
목적: 처음 보는 도형에서 각을 찾아 세고, 원에는 각이 없는 까닭을 말하는지 확인합니다.
시간: 약 2분
이렇게 말해 보세요
- “①과 ②의 각은 몇 개야? 어떻게 셌어?”
- “③은 그림 없이 생각해 볼래?”
정답
- ① 4개
- ② 0개(없음). 원은 곧은 선이 없어 꼭짓점도 각도 없습니다.
- ③ 7개 (3 + 4 = 7)
막히면
- 각의 꼭짓점에 하나씩 점을 찍으며 셉니다.
주의
- ②의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“선분, 반직선, 직선은 무엇으로 구별했지?”
- “각의 이름을 읽을 때 꼭짓점은 어디에 넣었어?”
예상 답
- “끝점이 몇 개인지로요.” “가운데요.”
정답
- ① 반직선
- ② 점 ㅁ
- ③ 5개
막히면
- S04와 S08을 다시 보여 줍니다.
주의
- 복습 세 문제는 다음 수업을 시작할 때 활동지 마지막 쪽과 함께 풉니다.
- 다음 차시에서는 종이를 접어 만드는 반듯한 각(직각)을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보충(변과 꼭짓점)]
목적: S02에서 변과 꼭짓점이 흔들리면, 오늘 내용 전에 곧은 선(변)과 두 곧은 선이 만나는 점(꼭짓점)을 다시 찾습니다.
시간: 약 5분
이렇게 말해 보세요
- “삼각형의 곧은 선을 손가락으로 따라가 볼까? 몇 개야?”
- “곧은 선 두 개가 만나는 뾰족한 점은 몇 개야? 사각형도 해 보자.”
정답
- 삼각형: 변 3개, 꼭짓점 3개 / 사각형: 변 4개, 꼭짓점 4개
막히면
- 책이나 공책의 모서리를 손가락으로 따라가며 곧은 선과 뾰족한 점을 찾습니다.
- 컵 테두리처럼 굽은 선도 따라가 보고 “곧은 선이야, 굽은 선이야?”라고 묻습니다.
주의
- 보충으로도 어려우면 초2 ‘여러 가지 도형’(KR22-G02-MAT-PLANE-L01)을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선분·반직선·직선과 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선에도 이름이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7722931" y="2804160"/>
            <a:ext cx="792480" cy="792480"/>
          </a:xfrm>
          <a:prstGeom prst="pie">
            <a:avLst>
              <a:gd name="adj1" fmla="val 1822140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S01-figure3" descr="점 ㄴ에서 그은 두 반직선으로 된 각"/>
          <p:cNvSpPr/>
          <p:nvPr/>
        </p:nvSpPr>
        <p:spPr>
          <a:xfrm flipV="1">
            <a:off x="8119171" y="1005840"/>
            <a:ext cx="1463040" cy="21945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119171" y="3200400"/>
            <a:ext cx="3055497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146134" y="151136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059735" y="3140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436233" y="3140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label9"/>
          <p:cNvSpPr txBox="1"/>
          <p:nvPr/>
        </p:nvSpPr>
        <p:spPr>
          <a:xfrm>
            <a:off x="8748683" y="118154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1-label11"/>
          <p:cNvSpPr txBox="1"/>
          <p:nvPr/>
        </p:nvSpPr>
        <p:spPr>
          <a:xfrm>
            <a:off x="7650184" y="306145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1-label13"/>
          <p:cNvSpPr txBox="1"/>
          <p:nvPr/>
        </p:nvSpPr>
        <p:spPr>
          <a:xfrm>
            <a:off x="10241669" y="27025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4" name="S01-card1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선분·반직선·직선을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각을 찾고 이름을 읽어요.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변과 꼭짓점의 수를 말해요.</a:t>
            </a:r>
            <a:endParaRPr lang="ko-KR" sz="3000" dirty="0"/>
          </a:p>
        </p:txBody>
      </p:sp>
      <p:sp>
        <p:nvSpPr>
          <p:cNvPr id="4" name="S02-chip1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figure18" descr="triangle"/>
          <p:cNvSpPr/>
          <p:nvPr/>
        </p:nvSpPr>
        <p:spPr>
          <a:xfrm>
            <a:off x="3515868" y="206363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1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figure20" descr="pentagon"/>
          <p:cNvSpPr/>
          <p:nvPr/>
        </p:nvSpPr>
        <p:spPr>
          <a:xfrm>
            <a:off x="3515868" y="3501934"/>
            <a:ext cx="1143000" cy="1088571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2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변은 곧은 선일까요,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이으면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대고 두 점을 곧게 이어요.</a:t>
            </a:r>
            <a:endParaRPr lang="ko-KR" sz="30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선분은 양쪽 끝에 끝점이 있어요.</a:t>
            </a:r>
            <a:endParaRPr lang="ko-KR" sz="3000" dirty="0"/>
          </a:p>
        </p:txBody>
      </p:sp>
      <p:sp>
        <p:nvSpPr>
          <p:cNvPr id="6" name="S03-figure26" descr="선분 ㄱㄴ: 점 ㄱ과 점 ㄴ을 곧게 이은 선"/>
          <p:cNvSpPr/>
          <p:nvPr/>
        </p:nvSpPr>
        <p:spPr>
          <a:xfrm flipV="1">
            <a:off x="944118" y="2880360"/>
            <a:ext cx="457200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27"/>
          <p:cNvSpPr/>
          <p:nvPr/>
        </p:nvSpPr>
        <p:spPr>
          <a:xfrm>
            <a:off x="884682" y="41925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28"/>
          <p:cNvSpPr/>
          <p:nvPr/>
        </p:nvSpPr>
        <p:spPr>
          <a:xfrm>
            <a:off x="5456682" y="2820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0"/>
          <p:cNvSpPr txBox="1"/>
          <p:nvPr/>
        </p:nvSpPr>
        <p:spPr>
          <a:xfrm>
            <a:off x="456562" y="406802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3-label32"/>
          <p:cNvSpPr txBox="1"/>
          <p:nvPr/>
        </p:nvSpPr>
        <p:spPr>
          <a:xfrm>
            <a:off x="5495674" y="255629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1" name="S03-card33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34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이은 선</a:t>
            </a:r>
            <a:endParaRPr lang="ko-KR" sz="3000" dirty="0"/>
          </a:p>
        </p:txBody>
      </p:sp>
      <p:sp>
        <p:nvSpPr>
          <p:cNvPr id="13" name="S03-card35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36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 또는 선분 ㄴㄱ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선분, 반직선, 직선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선이 어디에서 끝나는지 보세요.</a:t>
            </a:r>
            <a:endParaRPr lang="ko-KR" sz="3000" dirty="0"/>
          </a:p>
        </p:txBody>
      </p:sp>
      <p:sp>
        <p:nvSpPr>
          <p:cNvPr id="4" name="S04-card3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2개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점에서 멈춰요</a:t>
            </a:r>
            <a:endParaRPr lang="ko-KR" sz="3000" dirty="0"/>
          </a:p>
        </p:txBody>
      </p:sp>
      <p:sp>
        <p:nvSpPr>
          <p:cNvPr id="6" name="S04-card4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4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1개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한쪽으로 끝없이</a:t>
            </a:r>
            <a:endParaRPr lang="ko-KR" sz="3000" dirty="0"/>
          </a:p>
        </p:txBody>
      </p:sp>
      <p:sp>
        <p:nvSpPr>
          <p:cNvPr id="8" name="S04-card4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4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없음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양쪽으로 끝없이</a:t>
            </a:r>
            <a:endParaRPr lang="ko-KR" sz="3000" dirty="0"/>
          </a:p>
        </p:txBody>
      </p:sp>
      <p:sp>
        <p:nvSpPr>
          <p:cNvPr id="10" name="S04-figure44" descr="선분 ㄱㄴ: 점 ㄱ과 점 ㄴ을 곧게 이은 선"/>
          <p:cNvSpPr/>
          <p:nvPr/>
        </p:nvSpPr>
        <p:spPr>
          <a:xfrm>
            <a:off x="1602486" y="3137154"/>
            <a:ext cx="137617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45"/>
          <p:cNvSpPr/>
          <p:nvPr/>
        </p:nvSpPr>
        <p:spPr>
          <a:xfrm>
            <a:off x="1543050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46"/>
          <p:cNvSpPr/>
          <p:nvPr/>
        </p:nvSpPr>
        <p:spPr>
          <a:xfrm>
            <a:off x="2919222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label48"/>
          <p:cNvSpPr txBox="1"/>
          <p:nvPr/>
        </p:nvSpPr>
        <p:spPr>
          <a:xfrm>
            <a:off x="1348486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4" name="S04-label50"/>
          <p:cNvSpPr txBox="1"/>
          <p:nvPr/>
        </p:nvSpPr>
        <p:spPr>
          <a:xfrm>
            <a:off x="2724658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5" name="S04-label51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</a:t>
            </a:r>
            <a:endParaRPr lang="ko-KR" sz="2400" dirty="0"/>
          </a:p>
        </p:txBody>
      </p:sp>
      <p:sp>
        <p:nvSpPr>
          <p:cNvPr id="16" name="S04-figure52" descr="반직선 ㄱㄴ: 점 ㄱ에서 시작해 점 ㄴ를 지나 한쪽으로 늘인 선"/>
          <p:cNvSpPr/>
          <p:nvPr/>
        </p:nvSpPr>
        <p:spPr>
          <a:xfrm>
            <a:off x="5406390" y="3137154"/>
            <a:ext cx="20642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53"/>
          <p:cNvSpPr/>
          <p:nvPr/>
        </p:nvSpPr>
        <p:spPr>
          <a:xfrm>
            <a:off x="5346954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mark54"/>
          <p:cNvSpPr/>
          <p:nvPr/>
        </p:nvSpPr>
        <p:spPr>
          <a:xfrm>
            <a:off x="6723126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label56"/>
          <p:cNvSpPr txBox="1"/>
          <p:nvPr/>
        </p:nvSpPr>
        <p:spPr>
          <a:xfrm>
            <a:off x="5152390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0" name="S04-label58"/>
          <p:cNvSpPr txBox="1"/>
          <p:nvPr/>
        </p:nvSpPr>
        <p:spPr>
          <a:xfrm>
            <a:off x="6528562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1" name="S04-label59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</a:t>
            </a:r>
            <a:endParaRPr lang="ko-KR" sz="2400" dirty="0"/>
          </a:p>
        </p:txBody>
      </p:sp>
      <p:sp>
        <p:nvSpPr>
          <p:cNvPr id="22" name="S04-figure60" descr="직선 ㄱㄴ: 점 ㄱ과 점 ㄴ을 지나 양쪽으로 늘인 선"/>
          <p:cNvSpPr/>
          <p:nvPr/>
        </p:nvSpPr>
        <p:spPr>
          <a:xfrm>
            <a:off x="8522208" y="3137154"/>
            <a:ext cx="27523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4-mark61"/>
          <p:cNvSpPr/>
          <p:nvPr/>
        </p:nvSpPr>
        <p:spPr>
          <a:xfrm>
            <a:off x="9150858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62"/>
          <p:cNvSpPr/>
          <p:nvPr/>
        </p:nvSpPr>
        <p:spPr>
          <a:xfrm>
            <a:off x="10527030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label64"/>
          <p:cNvSpPr txBox="1"/>
          <p:nvPr/>
        </p:nvSpPr>
        <p:spPr>
          <a:xfrm>
            <a:off x="8956294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6" name="S04-label66"/>
          <p:cNvSpPr txBox="1"/>
          <p:nvPr/>
        </p:nvSpPr>
        <p:spPr>
          <a:xfrm>
            <a:off x="10332466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7" name="S04-label67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ㄱㄴ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ㄱㄴ과 반직선 ㄴㄱ</a:t>
            </a:r>
            <a:endParaRPr lang="ko-KR" sz="4000" dirty="0"/>
          </a:p>
        </p:txBody>
      </p:sp>
      <p:sp>
        <p:nvSpPr>
          <p:cNvPr id="3" name="S05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시작하는 점이 달라요.</a:t>
            </a:r>
            <a:endParaRPr lang="ko-KR" sz="3000" dirty="0"/>
          </a:p>
        </p:txBody>
      </p:sp>
      <p:sp>
        <p:nvSpPr>
          <p:cNvPr id="4" name="S05-card6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7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시작하는 점을 먼저 읽어요</a:t>
            </a:r>
            <a:endParaRPr lang="ko-KR" sz="3000" dirty="0"/>
          </a:p>
        </p:txBody>
      </p:sp>
      <p:sp>
        <p:nvSpPr>
          <p:cNvPr id="6" name="S05-card7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선분·직선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ㄱㄴ, ㄴㄱ 어느 쪽도 같아요</a:t>
            </a:r>
            <a:endParaRPr lang="ko-KR" sz="3000" dirty="0"/>
          </a:p>
        </p:txBody>
      </p:sp>
      <p:sp>
        <p:nvSpPr>
          <p:cNvPr id="8" name="S05-figure73" descr="반직선 ㄱㄴ: 점 ㄱ에서 시작해 점 ㄴ를 지나 한쪽으로 늘인 선"/>
          <p:cNvSpPr/>
          <p:nvPr/>
        </p:nvSpPr>
        <p:spPr>
          <a:xfrm>
            <a:off x="2077974" y="3137154"/>
            <a:ext cx="349072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74"/>
          <p:cNvSpPr/>
          <p:nvPr/>
        </p:nvSpPr>
        <p:spPr>
          <a:xfrm>
            <a:off x="2018538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75"/>
          <p:cNvSpPr/>
          <p:nvPr/>
        </p:nvSpPr>
        <p:spPr>
          <a:xfrm>
            <a:off x="4345686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label77"/>
          <p:cNvSpPr txBox="1"/>
          <p:nvPr/>
        </p:nvSpPr>
        <p:spPr>
          <a:xfrm>
            <a:off x="1823974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5-label79"/>
          <p:cNvSpPr txBox="1"/>
          <p:nvPr/>
        </p:nvSpPr>
        <p:spPr>
          <a:xfrm>
            <a:off x="4151122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5-label80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</a:t>
            </a:r>
            <a:endParaRPr lang="ko-KR" sz="2400" dirty="0"/>
          </a:p>
        </p:txBody>
      </p:sp>
      <p:sp>
        <p:nvSpPr>
          <p:cNvPr id="14" name="S05-figure81" descr="반직선 ㄴㄱ: 점 ㄴ에서 시작해 점 ㄱ를 지나 한쪽으로 늘인 선"/>
          <p:cNvSpPr/>
          <p:nvPr/>
        </p:nvSpPr>
        <p:spPr>
          <a:xfrm flipH="1">
            <a:off x="6620256" y="3137154"/>
            <a:ext cx="349072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82"/>
          <p:cNvSpPr/>
          <p:nvPr/>
        </p:nvSpPr>
        <p:spPr>
          <a:xfrm>
            <a:off x="10051542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83"/>
          <p:cNvSpPr/>
          <p:nvPr/>
        </p:nvSpPr>
        <p:spPr>
          <a:xfrm>
            <a:off x="7724394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label85"/>
          <p:cNvSpPr txBox="1"/>
          <p:nvPr/>
        </p:nvSpPr>
        <p:spPr>
          <a:xfrm>
            <a:off x="9856978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8" name="S05-label87"/>
          <p:cNvSpPr txBox="1"/>
          <p:nvPr/>
        </p:nvSpPr>
        <p:spPr>
          <a:xfrm>
            <a:off x="7529830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9" name="S05-label88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ㄴㄱ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말해요</a:t>
            </a:r>
            <a:endParaRPr lang="ko-KR" sz="4000" dirty="0"/>
          </a:p>
        </p:txBody>
      </p:sp>
      <p:sp>
        <p:nvSpPr>
          <p:cNvPr id="3" name="S06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이름을 말해요.</a:t>
            </a:r>
            <a:endParaRPr lang="ko-KR" sz="3000" dirty="0"/>
          </a:p>
        </p:txBody>
      </p:sp>
      <p:sp>
        <p:nvSpPr>
          <p:cNvPr id="4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반직선은 어느 점부터 읽었나요?</a:t>
            </a:r>
            <a:endParaRPr lang="ko-KR" sz="3000" dirty="0"/>
          </a:p>
        </p:txBody>
      </p:sp>
      <p:sp>
        <p:nvSpPr>
          <p:cNvPr id="6" name="S06-chip92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6-figure93" descr="선분 ㄷㄹ: 점 ㄷ과 점 ㄹ을 곧게 이은 선"/>
          <p:cNvSpPr/>
          <p:nvPr/>
        </p:nvSpPr>
        <p:spPr>
          <a:xfrm>
            <a:off x="1799082" y="2491740"/>
            <a:ext cx="3657600" cy="457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94"/>
          <p:cNvSpPr/>
          <p:nvPr/>
        </p:nvSpPr>
        <p:spPr>
          <a:xfrm>
            <a:off x="1739646" y="24323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95"/>
          <p:cNvSpPr/>
          <p:nvPr/>
        </p:nvSpPr>
        <p:spPr>
          <a:xfrm>
            <a:off x="5397246" y="28895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label97"/>
          <p:cNvSpPr txBox="1"/>
          <p:nvPr/>
        </p:nvSpPr>
        <p:spPr>
          <a:xfrm>
            <a:off x="1303125" y="220749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1" name="S06-label99"/>
          <p:cNvSpPr txBox="1"/>
          <p:nvPr/>
        </p:nvSpPr>
        <p:spPr>
          <a:xfrm>
            <a:off x="5444639" y="272518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2" name="S06-chip10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06-figure101" descr="직선 ㅁㅂ: 점 ㅁ과 점 ㅂ을 지나 양쪽으로 늘인 선"/>
          <p:cNvSpPr/>
          <p:nvPr/>
        </p:nvSpPr>
        <p:spPr>
          <a:xfrm flipV="1">
            <a:off x="7356348" y="2453640"/>
            <a:ext cx="4000500" cy="533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102"/>
          <p:cNvSpPr/>
          <p:nvPr/>
        </p:nvSpPr>
        <p:spPr>
          <a:xfrm>
            <a:off x="8292631" y="279484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03"/>
          <p:cNvSpPr/>
          <p:nvPr/>
        </p:nvSpPr>
        <p:spPr>
          <a:xfrm>
            <a:off x="10301693" y="252696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label105"/>
          <p:cNvSpPr txBox="1"/>
          <p:nvPr/>
        </p:nvSpPr>
        <p:spPr>
          <a:xfrm>
            <a:off x="8065840" y="235857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7" name="S06-label107"/>
          <p:cNvSpPr txBox="1"/>
          <p:nvPr/>
        </p:nvSpPr>
        <p:spPr>
          <a:xfrm>
            <a:off x="10074902" y="209070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8" name="S06-chip10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9" name="S06-figure109" descr="반직선 ㅅㅇ: 점 ㅅ에서 시작해 점 ㅇ를 지나 한쪽으로 늘인 선"/>
          <p:cNvSpPr/>
          <p:nvPr/>
        </p:nvSpPr>
        <p:spPr>
          <a:xfrm>
            <a:off x="1627632" y="4411980"/>
            <a:ext cx="40005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110"/>
          <p:cNvSpPr/>
          <p:nvPr/>
        </p:nvSpPr>
        <p:spPr>
          <a:xfrm>
            <a:off x="1568196" y="43525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11"/>
          <p:cNvSpPr/>
          <p:nvPr/>
        </p:nvSpPr>
        <p:spPr>
          <a:xfrm>
            <a:off x="4235196" y="43525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label113"/>
          <p:cNvSpPr txBox="1"/>
          <p:nvPr/>
        </p:nvSpPr>
        <p:spPr>
          <a:xfrm>
            <a:off x="1129792" y="415798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200" dirty="0"/>
          </a:p>
        </p:txBody>
      </p:sp>
      <p:sp>
        <p:nvSpPr>
          <p:cNvPr id="23" name="S06-label115"/>
          <p:cNvSpPr txBox="1"/>
          <p:nvPr/>
        </p:nvSpPr>
        <p:spPr>
          <a:xfrm>
            <a:off x="4040632" y="39141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24" name="S06-chip11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5" name="S06-figure117" descr="반직선 ㅊㅈ: 점 ㅊ에서 시작해 점 ㅈ를 지나 한쪽으로 늘인 선"/>
          <p:cNvSpPr/>
          <p:nvPr/>
        </p:nvSpPr>
        <p:spPr>
          <a:xfrm flipH="1" flipV="1">
            <a:off x="7356348" y="4145280"/>
            <a:ext cx="4000500" cy="533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118"/>
          <p:cNvSpPr/>
          <p:nvPr/>
        </p:nvSpPr>
        <p:spPr>
          <a:xfrm>
            <a:off x="11297412" y="46192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mark119"/>
          <p:cNvSpPr/>
          <p:nvPr/>
        </p:nvSpPr>
        <p:spPr>
          <a:xfrm>
            <a:off x="8622591" y="426260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label121"/>
          <p:cNvSpPr txBox="1"/>
          <p:nvPr/>
        </p:nvSpPr>
        <p:spPr>
          <a:xfrm>
            <a:off x="11344549" y="445690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3200" dirty="0"/>
          </a:p>
        </p:txBody>
      </p:sp>
      <p:sp>
        <p:nvSpPr>
          <p:cNvPr id="29" name="S06-label123"/>
          <p:cNvSpPr txBox="1"/>
          <p:nvPr/>
        </p:nvSpPr>
        <p:spPr>
          <a:xfrm>
            <a:off x="8460254" y="382633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직선을 모두 찾아요</a:t>
            </a:r>
            <a:endParaRPr lang="ko-KR" sz="4000" dirty="0"/>
          </a:p>
        </p:txBody>
      </p:sp>
      <p:sp>
        <p:nvSpPr>
          <p:cNvPr id="3" name="S07-card1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길게 그린 가도 직선일까요? 왜 그럴까요?</a:t>
            </a:r>
            <a:endParaRPr lang="ko-KR" sz="3000" dirty="0"/>
          </a:p>
        </p:txBody>
      </p:sp>
      <p:sp>
        <p:nvSpPr>
          <p:cNvPr id="5" name="S07-chip12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7-figure127" descr="두 점을 곧게 이은 선(양쪽 끝에 점)"/>
          <p:cNvSpPr/>
          <p:nvPr/>
        </p:nvSpPr>
        <p:spPr>
          <a:xfrm flipV="1">
            <a:off x="1435608" y="2059838"/>
            <a:ext cx="4384548" cy="2923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28"/>
          <p:cNvSpPr/>
          <p:nvPr/>
        </p:nvSpPr>
        <p:spPr>
          <a:xfrm>
            <a:off x="1376172" y="229270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mark129"/>
          <p:cNvSpPr/>
          <p:nvPr/>
        </p:nvSpPr>
        <p:spPr>
          <a:xfrm>
            <a:off x="5760720" y="200040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chip13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7-figure131" descr="두 점을 지나 양쪽으로 늘인 곧은 선"/>
          <p:cNvSpPr/>
          <p:nvPr/>
        </p:nvSpPr>
        <p:spPr>
          <a:xfrm>
            <a:off x="7344918" y="2205990"/>
            <a:ext cx="40233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132"/>
          <p:cNvSpPr/>
          <p:nvPr/>
        </p:nvSpPr>
        <p:spPr>
          <a:xfrm>
            <a:off x="8657082" y="214655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33"/>
          <p:cNvSpPr/>
          <p:nvPr/>
        </p:nvSpPr>
        <p:spPr>
          <a:xfrm>
            <a:off x="9937242" y="214655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chip13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07-figure135" descr="한 점에서 시작해 다른 점을 지나 한쪽으로 늘인 곧은 선"/>
          <p:cNvSpPr/>
          <p:nvPr/>
        </p:nvSpPr>
        <p:spPr>
          <a:xfrm>
            <a:off x="1583800" y="3831714"/>
            <a:ext cx="4088164" cy="81763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136"/>
          <p:cNvSpPr/>
          <p:nvPr/>
        </p:nvSpPr>
        <p:spPr>
          <a:xfrm>
            <a:off x="1524364" y="377227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137"/>
          <p:cNvSpPr/>
          <p:nvPr/>
        </p:nvSpPr>
        <p:spPr>
          <a:xfrm>
            <a:off x="4267564" y="43209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chip13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8" name="S07-figure139" descr="두 점을 지나 양쪽으로 늘인 곧은 선"/>
          <p:cNvSpPr/>
          <p:nvPr/>
        </p:nvSpPr>
        <p:spPr>
          <a:xfrm flipV="1">
            <a:off x="7635863" y="3451860"/>
            <a:ext cx="3441469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7-mark140"/>
          <p:cNvSpPr/>
          <p:nvPr/>
        </p:nvSpPr>
        <p:spPr>
          <a:xfrm>
            <a:off x="8491699" y="45502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141"/>
          <p:cNvSpPr/>
          <p:nvPr/>
        </p:nvSpPr>
        <p:spPr>
          <a:xfrm>
            <a:off x="10102625" y="3811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</a:t>
            </a:r>
            <a:endParaRPr lang="ko-KR" sz="4000" dirty="0"/>
          </a:p>
        </p:txBody>
      </p:sp>
      <p:sp>
        <p:nvSpPr>
          <p:cNvPr id="3" name="S08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반직선으로 된 도형이에요.</a:t>
            </a:r>
            <a:endParaRPr lang="ko-KR" sz="3000" dirty="0"/>
          </a:p>
        </p:txBody>
      </p:sp>
      <p:sp>
        <p:nvSpPr>
          <p:cNvPr id="4" name="S08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ㄱㄴㄷ: 꼭짓점 ㄴ을 가운데에 읽어요.</a:t>
            </a:r>
            <a:endParaRPr lang="ko-KR" sz="3000" dirty="0"/>
          </a:p>
        </p:txBody>
      </p:sp>
      <p:sp>
        <p:nvSpPr>
          <p:cNvPr id="6" name="S08-mark145"/>
          <p:cNvSpPr/>
          <p:nvPr/>
        </p:nvSpPr>
        <p:spPr>
          <a:xfrm>
            <a:off x="1111923" y="4358640"/>
            <a:ext cx="792480" cy="792480"/>
          </a:xfrm>
          <a:prstGeom prst="pie">
            <a:avLst>
              <a:gd name="adj1" fmla="val 1809645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8-figure146" descr="각 ㄱㄴㄷ: 점 ㄴ에서 그은 반직선 ㄴㄱ과 반직선 ㄴㄷ"/>
          <p:cNvSpPr/>
          <p:nvPr/>
        </p:nvSpPr>
        <p:spPr>
          <a:xfrm flipV="1">
            <a:off x="1508163" y="2377440"/>
            <a:ext cx="146304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147"/>
          <p:cNvSpPr/>
          <p:nvPr/>
        </p:nvSpPr>
        <p:spPr>
          <a:xfrm>
            <a:off x="1508163" y="4754880"/>
            <a:ext cx="34439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8-mark148"/>
          <p:cNvSpPr/>
          <p:nvPr/>
        </p:nvSpPr>
        <p:spPr>
          <a:xfrm>
            <a:off x="2550778" y="29046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149"/>
          <p:cNvSpPr/>
          <p:nvPr/>
        </p:nvSpPr>
        <p:spPr>
          <a:xfrm>
            <a:off x="1448727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mark150"/>
          <p:cNvSpPr/>
          <p:nvPr/>
        </p:nvSpPr>
        <p:spPr>
          <a:xfrm>
            <a:off x="4203855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label152"/>
          <p:cNvSpPr txBox="1"/>
          <p:nvPr/>
        </p:nvSpPr>
        <p:spPr>
          <a:xfrm>
            <a:off x="2148546" y="258225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3" name="S08-label154"/>
          <p:cNvSpPr txBox="1"/>
          <p:nvPr/>
        </p:nvSpPr>
        <p:spPr>
          <a:xfrm>
            <a:off x="1041302" y="461982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4" name="S08-label156"/>
          <p:cNvSpPr txBox="1"/>
          <p:nvPr/>
        </p:nvSpPr>
        <p:spPr>
          <a:xfrm>
            <a:off x="4009291" y="42570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5" name="S08-card157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8-cardtext158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ㄴ</a:t>
            </a:r>
            <a:endParaRPr lang="ko-KR" sz="3000" dirty="0"/>
          </a:p>
        </p:txBody>
      </p:sp>
      <p:sp>
        <p:nvSpPr>
          <p:cNvPr id="17" name="S08-card159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8-cardtext160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ㄴㄱ, 변 ㄴㄷ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읽어요</a:t>
            </a:r>
            <a:endParaRPr lang="ko-KR" sz="4000" dirty="0"/>
          </a:p>
        </p:txBody>
      </p:sp>
      <p:sp>
        <p:nvSpPr>
          <p:cNvPr id="3" name="S09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답해요.</a:t>
            </a:r>
            <a:endParaRPr lang="ko-KR" sz="3000" dirty="0"/>
          </a:p>
        </p:txBody>
      </p:sp>
      <p:sp>
        <p:nvSpPr>
          <p:cNvPr id="4" name="S09-card1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꼭짓점을 가운데에 읽어요.</a:t>
            </a:r>
            <a:endParaRPr lang="ko-KR" sz="3000" dirty="0"/>
          </a:p>
        </p:txBody>
      </p:sp>
      <p:sp>
        <p:nvSpPr>
          <p:cNvPr id="6" name="S09-mark164"/>
          <p:cNvSpPr/>
          <p:nvPr/>
        </p:nvSpPr>
        <p:spPr>
          <a:xfrm>
            <a:off x="7188783" y="4358640"/>
            <a:ext cx="792480" cy="792480"/>
          </a:xfrm>
          <a:prstGeom prst="pie">
            <a:avLst>
              <a:gd name="adj1" fmla="val 17306097"/>
              <a:gd name="adj2" fmla="val 20668553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9-figure165" descr="점 ㅁ에서 그은 반직선 ㅁㄹ과 반직선 ㅁㅂ으로 된 각"/>
          <p:cNvSpPr/>
          <p:nvPr/>
        </p:nvSpPr>
        <p:spPr>
          <a:xfrm flipV="1">
            <a:off x="7585023" y="3991652"/>
            <a:ext cx="2747622" cy="76322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166"/>
          <p:cNvSpPr/>
          <p:nvPr/>
        </p:nvSpPr>
        <p:spPr>
          <a:xfrm flipV="1">
            <a:off x="7585023" y="2377440"/>
            <a:ext cx="79248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167"/>
          <p:cNvSpPr/>
          <p:nvPr/>
        </p:nvSpPr>
        <p:spPr>
          <a:xfrm>
            <a:off x="9693090" y="409336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mark168"/>
          <p:cNvSpPr/>
          <p:nvPr/>
        </p:nvSpPr>
        <p:spPr>
          <a:xfrm>
            <a:off x="7525587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mark169"/>
          <p:cNvSpPr/>
          <p:nvPr/>
        </p:nvSpPr>
        <p:spPr>
          <a:xfrm>
            <a:off x="8127671" y="288919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label171"/>
          <p:cNvSpPr txBox="1"/>
          <p:nvPr/>
        </p:nvSpPr>
        <p:spPr>
          <a:xfrm>
            <a:off x="9433264" y="366385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3" name="S09-label173"/>
          <p:cNvSpPr txBox="1"/>
          <p:nvPr/>
        </p:nvSpPr>
        <p:spPr>
          <a:xfrm>
            <a:off x="7154278" y="466886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4" name="S09-label175"/>
          <p:cNvSpPr txBox="1"/>
          <p:nvPr/>
        </p:nvSpPr>
        <p:spPr>
          <a:xfrm>
            <a:off x="7701780" y="26175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5" name="S09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6" name="S09-text17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이름은?</a:t>
            </a:r>
            <a:endParaRPr lang="ko-KR" sz="3000" dirty="0"/>
          </a:p>
        </p:txBody>
      </p:sp>
      <p:sp>
        <p:nvSpPr>
          <p:cNvPr id="17" name="S09-chip1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8" name="S09-text17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3000" dirty="0"/>
          </a:p>
        </p:txBody>
      </p:sp>
      <p:sp>
        <p:nvSpPr>
          <p:cNvPr id="19" name="S09-chip1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0" name="S09-text18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변의 이름은?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찾아요</a:t>
            </a:r>
            <a:endParaRPr lang="ko-KR" sz="40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각이 아닌 것은 왜 아닐까요?</a:t>
            </a:r>
            <a:endParaRPr lang="ko-KR" sz="3000" dirty="0"/>
          </a:p>
        </p:txBody>
      </p:sp>
      <p:sp>
        <p:nvSpPr>
          <p:cNvPr id="5" name="S10-chip18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0-figure185" descr="한 점에서 그은 곧은 선 두 개"/>
          <p:cNvSpPr/>
          <p:nvPr/>
        </p:nvSpPr>
        <p:spPr>
          <a:xfrm flipV="1">
            <a:off x="903732" y="2569464"/>
            <a:ext cx="91440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86"/>
          <p:cNvSpPr/>
          <p:nvPr/>
        </p:nvSpPr>
        <p:spPr>
          <a:xfrm>
            <a:off x="903732" y="4581144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0-chip18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0-figure188" descr="만나지 않는 곧은 선 두 개"/>
          <p:cNvSpPr/>
          <p:nvPr/>
        </p:nvSpPr>
        <p:spPr>
          <a:xfrm flipV="1">
            <a:off x="4928616" y="2569464"/>
            <a:ext cx="68580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0-mark189"/>
          <p:cNvSpPr/>
          <p:nvPr/>
        </p:nvSpPr>
        <p:spPr>
          <a:xfrm>
            <a:off x="5340096" y="4581144"/>
            <a:ext cx="19202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0-chip19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0-figure191" descr="한 점에서 넓게 벌어진 곧은 선 두 개"/>
          <p:cNvSpPr/>
          <p:nvPr/>
        </p:nvSpPr>
        <p:spPr>
          <a:xfrm flipH="1" flipV="1">
            <a:off x="8278368" y="2886777"/>
            <a:ext cx="1204923" cy="1377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0-mark192"/>
          <p:cNvSpPr/>
          <p:nvPr/>
        </p:nvSpPr>
        <p:spPr>
          <a:xfrm>
            <a:off x="9483291" y="4263831"/>
            <a:ext cx="206558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이름을, ③은 각의 수를 말해요.</a:t>
            </a:r>
            <a:endParaRPr lang="ko-KR" sz="3000" dirty="0"/>
          </a:p>
        </p:txBody>
      </p:sp>
      <p:sp>
        <p:nvSpPr>
          <p:cNvPr id="4" name="S11-chip19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figure195" descr="반직선 ㅌㅋ: 점 ㅌ에서 시작해 점 ㅋ를 지나 한쪽으로 늘인 선"/>
          <p:cNvSpPr/>
          <p:nvPr/>
        </p:nvSpPr>
        <p:spPr>
          <a:xfrm flipH="1">
            <a:off x="1709928" y="2506066"/>
            <a:ext cx="3835908" cy="1022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196"/>
          <p:cNvSpPr/>
          <p:nvPr/>
        </p:nvSpPr>
        <p:spPr>
          <a:xfrm>
            <a:off x="5486400" y="24466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mark197"/>
          <p:cNvSpPr/>
          <p:nvPr/>
        </p:nvSpPr>
        <p:spPr>
          <a:xfrm>
            <a:off x="2900018" y="3136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label199"/>
          <p:cNvSpPr txBox="1"/>
          <p:nvPr/>
        </p:nvSpPr>
        <p:spPr>
          <a:xfrm>
            <a:off x="5527443" y="218923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3200" dirty="0"/>
          </a:p>
        </p:txBody>
      </p:sp>
      <p:sp>
        <p:nvSpPr>
          <p:cNvPr id="9" name="S11-label201"/>
          <p:cNvSpPr txBox="1"/>
          <p:nvPr/>
        </p:nvSpPr>
        <p:spPr>
          <a:xfrm>
            <a:off x="2642626" y="270616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3200" dirty="0"/>
          </a:p>
        </p:txBody>
      </p:sp>
      <p:sp>
        <p:nvSpPr>
          <p:cNvPr id="10" name="S11-chip202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1-figure203" descr="선분 ㅍㅎ: 점 ㅍ과 점 ㅎ을 곧게 이은 선"/>
          <p:cNvSpPr/>
          <p:nvPr/>
        </p:nvSpPr>
        <p:spPr>
          <a:xfrm>
            <a:off x="7756398" y="2743200"/>
            <a:ext cx="3200400" cy="5486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204"/>
          <p:cNvSpPr/>
          <p:nvPr/>
        </p:nvSpPr>
        <p:spPr>
          <a:xfrm>
            <a:off x="7696962" y="26837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05"/>
          <p:cNvSpPr/>
          <p:nvPr/>
        </p:nvSpPr>
        <p:spPr>
          <a:xfrm>
            <a:off x="10897362" y="32324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label207"/>
          <p:cNvSpPr txBox="1"/>
          <p:nvPr/>
        </p:nvSpPr>
        <p:spPr>
          <a:xfrm>
            <a:off x="7262064" y="2448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3200" dirty="0"/>
          </a:p>
        </p:txBody>
      </p:sp>
      <p:sp>
        <p:nvSpPr>
          <p:cNvPr id="15" name="S11-label209"/>
          <p:cNvSpPr txBox="1"/>
          <p:nvPr/>
        </p:nvSpPr>
        <p:spPr>
          <a:xfrm>
            <a:off x="10943132" y="30790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3200" dirty="0"/>
          </a:p>
        </p:txBody>
      </p:sp>
      <p:sp>
        <p:nvSpPr>
          <p:cNvPr id="16" name="S11-chip210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1-figure211" descr="hexagon"/>
          <p:cNvSpPr/>
          <p:nvPr/>
        </p:nvSpPr>
        <p:spPr>
          <a:xfrm>
            <a:off x="2690622" y="4328491"/>
            <a:ext cx="1874520" cy="1630017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11-chip2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11-text21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끝점을 손가락으로 짚으며 다시 보게 하세요.</a:t>
            </a:r>
            <a:endParaRPr lang="ko-KR" sz="3000" dirty="0"/>
          </a:p>
        </p:txBody>
      </p:sp>
      <p:sp>
        <p:nvSpPr>
          <p:cNvPr id="5" name="S12-chip21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17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반직선 ㅌㅋ</a:t>
            </a:r>
            <a:endParaRPr lang="ko-KR" sz="3000" dirty="0"/>
          </a:p>
        </p:txBody>
      </p:sp>
      <p:sp>
        <p:nvSpPr>
          <p:cNvPr id="7" name="S12-text218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선분 ㅍㅎ</a:t>
            </a:r>
            <a:endParaRPr lang="ko-KR" sz="3000" dirty="0"/>
          </a:p>
        </p:txBody>
      </p:sp>
      <p:sp>
        <p:nvSpPr>
          <p:cNvPr id="8" name="S12-text219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6개</a:t>
            </a:r>
            <a:endParaRPr lang="ko-KR" sz="3000" dirty="0"/>
          </a:p>
        </p:txBody>
      </p:sp>
      <p:sp>
        <p:nvSpPr>
          <p:cNvPr id="9" name="S12-text220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점 ㄴ</a:t>
            </a:r>
            <a:endParaRPr lang="ko-KR" sz="3000" dirty="0"/>
          </a:p>
        </p:txBody>
      </p:sp>
      <p:sp>
        <p:nvSpPr>
          <p:cNvPr id="10" name="S12-chip22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22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반직선 ㅋㅌ</a:t>
            </a:r>
            <a:endParaRPr lang="ko-KR" sz="3000" dirty="0"/>
          </a:p>
        </p:txBody>
      </p:sp>
      <p:sp>
        <p:nvSpPr>
          <p:cNvPr id="12" name="S12-text22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시작점을 거꾸로</a:t>
            </a:r>
            <a:endParaRPr lang="ko-KR" sz="2400" dirty="0"/>
          </a:p>
        </p:txBody>
      </p:sp>
      <p:sp>
        <p:nvSpPr>
          <p:cNvPr id="13" name="S12-text22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직선 ㅍㅎ</a:t>
            </a:r>
            <a:endParaRPr lang="ko-KR" sz="3000" dirty="0"/>
          </a:p>
        </p:txBody>
      </p:sp>
      <p:sp>
        <p:nvSpPr>
          <p:cNvPr id="14" name="S12-text22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끝점을 안 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속의 각</a:t>
            </a:r>
            <a:endParaRPr lang="ko-KR" sz="4000" dirty="0"/>
          </a:p>
        </p:txBody>
      </p:sp>
      <p:sp>
        <p:nvSpPr>
          <p:cNvPr id="3" name="S13-text2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각은 모두 몇 개일까요?</a:t>
            </a:r>
            <a:endParaRPr lang="ko-KR" sz="3000" dirty="0"/>
          </a:p>
        </p:txBody>
      </p:sp>
      <p:sp>
        <p:nvSpPr>
          <p:cNvPr id="4" name="S13-chip22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figure228" descr="trapezoid"/>
          <p:cNvSpPr/>
          <p:nvPr/>
        </p:nvSpPr>
        <p:spPr>
          <a:xfrm>
            <a:off x="3515868" y="2202180"/>
            <a:ext cx="1143000" cy="76200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3-chip22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figure230" descr="circle"/>
          <p:cNvSpPr/>
          <p:nvPr/>
        </p:nvSpPr>
        <p:spPr>
          <a:xfrm>
            <a:off x="3515868" y="3474720"/>
            <a:ext cx="1143000" cy="114300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chip23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23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삼각형과 사각형의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더하면?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3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3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끝점이 선분은 2개, 반직선은 1개, 직선은 없어요. 각은 한 점에서 그은 두 반직선이에요.</a:t>
            </a:r>
            <a:endParaRPr lang="ko-KR" sz="3000" dirty="0"/>
          </a:p>
        </p:txBody>
      </p:sp>
      <p:sp>
        <p:nvSpPr>
          <p:cNvPr id="5" name="S14-chip23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반직선은 시작점부터 읽기</a:t>
            </a:r>
            <a:endParaRPr lang="ko-KR" sz="2400" dirty="0"/>
          </a:p>
        </p:txBody>
      </p:sp>
      <p:sp>
        <p:nvSpPr>
          <p:cNvPr id="6" name="S14-chip23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길면 직선이라고 하기</a:t>
            </a:r>
            <a:endParaRPr lang="ko-KR" sz="2400" dirty="0"/>
          </a:p>
        </p:txBody>
      </p:sp>
      <p:sp>
        <p:nvSpPr>
          <p:cNvPr id="7" name="S14-text23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3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끝점이 1개인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선은?</a:t>
            </a:r>
            <a:endParaRPr lang="ko-KR" sz="2400" dirty="0"/>
          </a:p>
        </p:txBody>
      </p:sp>
      <p:sp>
        <p:nvSpPr>
          <p:cNvPr id="9" name="S14-text23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ㄹㅁㅂ의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2400" dirty="0"/>
          </a:p>
        </p:txBody>
      </p:sp>
      <p:sp>
        <p:nvSpPr>
          <p:cNvPr id="10" name="S14-text24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오각형의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수는?</a:t>
            </a:r>
            <a:endParaRPr lang="ko-KR" sz="2400" dirty="0"/>
          </a:p>
        </p:txBody>
      </p:sp>
      <p:sp>
        <p:nvSpPr>
          <p:cNvPr id="11" name="S14-text24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직각과 직사각형·정사각형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변과 꼭짓점</a:t>
            </a:r>
            <a:endParaRPr lang="ko-KR" sz="4000" dirty="0"/>
          </a:p>
        </p:txBody>
      </p:sp>
      <p:sp>
        <p:nvSpPr>
          <p:cNvPr id="3" name="S15-text2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만나는 점을 찾아요.</a:t>
            </a:r>
            <a:endParaRPr lang="ko-KR" sz="3000" dirty="0"/>
          </a:p>
        </p:txBody>
      </p:sp>
      <p:sp>
        <p:nvSpPr>
          <p:cNvPr id="4" name="S15-figure243" descr="삼각형"/>
          <p:cNvSpPr/>
          <p:nvPr/>
        </p:nvSpPr>
        <p:spPr>
          <a:xfrm>
            <a:off x="924047" y="295528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15-label244"/>
          <p:cNvSpPr txBox="1"/>
          <p:nvPr/>
        </p:nvSpPr>
        <p:spPr>
          <a:xfrm>
            <a:off x="548640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2400" dirty="0"/>
          </a:p>
        </p:txBody>
      </p:sp>
      <p:sp>
        <p:nvSpPr>
          <p:cNvPr id="6" name="S15-figure245" descr="사각형"/>
          <p:cNvSpPr/>
          <p:nvPr/>
        </p:nvSpPr>
        <p:spPr>
          <a:xfrm>
            <a:off x="3605525" y="2867528"/>
            <a:ext cx="1930664" cy="193066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label246"/>
          <p:cNvSpPr txBox="1"/>
          <p:nvPr/>
        </p:nvSpPr>
        <p:spPr>
          <a:xfrm>
            <a:off x="3230118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</a:t>
            </a:r>
            <a:endParaRPr lang="ko-KR" sz="2400" dirty="0"/>
          </a:p>
        </p:txBody>
      </p:sp>
      <p:sp>
        <p:nvSpPr>
          <p:cNvPr id="8" name="S15-card247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248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곧은 선</a:t>
            </a:r>
            <a:endParaRPr lang="ko-KR" sz="3000" dirty="0"/>
          </a:p>
        </p:txBody>
      </p:sp>
      <p:sp>
        <p:nvSpPr>
          <p:cNvPr id="10" name="S15-card249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250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 두 개가 만나는 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선분·반직선·직선과 각</dc:title>
  <dc:subject>KR22-G03-MAT-LINES-L01</dc:subject>
  <dc:creator>education-ppt</dc:creator>
  <cp:lastModifiedBy>education-ppt</cp:lastModifiedBy>
  <cp:revision>1</cp:revision>
  <dcterms:created xsi:type="dcterms:W3CDTF">2026-10-26T07:54:31Z</dcterms:created>
  <dcterms:modified xsi:type="dcterms:W3CDTF">2026-10-26T07:54:31Z</dcterms:modified>
</cp:coreProperties>
</file>