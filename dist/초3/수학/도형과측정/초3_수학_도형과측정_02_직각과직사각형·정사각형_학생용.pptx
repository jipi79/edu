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f54cdd1-2e3e-cec0-238e-54ce71b34d7b}">
          <p14:sldIdLst>
            <p14:sldId id="256"/>
            <p14:sldId id="257"/>
          </p14:sldIdLst>
        </p14:section>
        <p14:section name="개념" id="{a0180f68-d15f-fd33-8f01-0c49cd818c25}">
          <p14:sldIdLst>
            <p14:sldId id="258"/>
            <p14:sldId id="259"/>
            <p14:sldId id="261"/>
            <p14:sldId id="262"/>
          </p14:sldIdLst>
        </p14:section>
        <p14:section name="연습" id="{fccb896e-5555-590c-563d-358c20e423ba}">
          <p14:sldIdLst>
            <p14:sldId id="260"/>
            <p14:sldId id="263"/>
            <p14:sldId id="264"/>
          </p14:sldIdLst>
        </p14:section>
        <p14:section name="개념" id="{f5a8eae9-d691-3b96-b62c-41a7ea6714a3}">
          <p14:sldIdLst/>
        </p14:section>
        <p14:section name="연습" id="{c780ba23-7416-af60-0c8a-f4134acf5d38}">
          <p14:sldIdLst/>
        </p14:section>
        <p14:section name="확인" id="{4c7c0de3-2d98-59ae-11e6-6929588bf19a}">
          <p14:sldIdLst>
            <p14:sldId id="265"/>
            <p14:sldId id="266"/>
          </p14:sldIdLst>
        </p14:section>
        <p14:section name="정리" id="{e39840f4-1d09-0bfe-da03-ae25cd938f8e}">
          <p14:sldIdLst>
            <p14:sldId id="267"/>
          </p14:sldIdLst>
        </p14:section>
        <p14:section name="보충" id="{11fe7b5f-9820-aefb-e914-b2251ab9968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직각과 직사각형·정사각형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직각과 직사각형·정사각형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직각과 직사각형·정사각형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직각과 직사각형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반듯한 모서리는 어떤 각일까?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네 각에 직각 표시를 한 직사각형"/>
          <p:cNvSpPr/>
          <p:nvPr/>
        </p:nvSpPr>
        <p:spPr>
          <a:xfrm>
            <a:off x="7818120" y="1005840"/>
            <a:ext cx="3657600" cy="2194560"/>
          </a:xfrm>
          <a:custGeom>
            <a:avLst/>
            <a:gdLst/>
            <a:ahLst/>
            <a:cxnLst/>
            <a:rect l="l" t="t" r="r" b="b"/>
            <a:pathLst>
              <a:path w="3657600" h="2194560">
                <a:moveTo>
                  <a:pt x="0" y="2194560"/>
                </a:moveTo>
                <a:lnTo>
                  <a:pt x="3657600" y="219456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818120" y="297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1247120" y="297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1247120" y="1005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7818120" y="1005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직각을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직각삼각형·직사각형·정사각형을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2-mark10"/>
          <p:cNvSpPr/>
          <p:nvPr/>
        </p:nvSpPr>
        <p:spPr>
          <a:xfrm>
            <a:off x="7373874" y="4795723"/>
            <a:ext cx="792480" cy="792480"/>
          </a:xfrm>
          <a:prstGeom prst="pie">
            <a:avLst>
              <a:gd name="adj1" fmla="val 1770045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S02-figure11" descr="점 ㅁ에서 그은 두 반직선으로 된 각"/>
          <p:cNvSpPr/>
          <p:nvPr/>
        </p:nvSpPr>
        <p:spPr>
          <a:xfrm flipV="1">
            <a:off x="7770114" y="3037637"/>
            <a:ext cx="1004926" cy="2154326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12"/>
          <p:cNvSpPr/>
          <p:nvPr/>
        </p:nvSpPr>
        <p:spPr>
          <a:xfrm>
            <a:off x="7770114" y="5191963"/>
            <a:ext cx="2377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2-mark13"/>
          <p:cNvSpPr/>
          <p:nvPr/>
        </p:nvSpPr>
        <p:spPr>
          <a:xfrm>
            <a:off x="8715604" y="297820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mark14"/>
          <p:cNvSpPr/>
          <p:nvPr/>
        </p:nvSpPr>
        <p:spPr>
          <a:xfrm>
            <a:off x="7710678" y="51325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mark15"/>
          <p:cNvSpPr/>
          <p:nvPr/>
        </p:nvSpPr>
        <p:spPr>
          <a:xfrm>
            <a:off x="10088118" y="51325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label17"/>
          <p:cNvSpPr txBox="1"/>
          <p:nvPr/>
        </p:nvSpPr>
        <p:spPr>
          <a:xfrm>
            <a:off x="8673904" y="262615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2400" dirty="0"/>
          </a:p>
        </p:txBody>
      </p:sp>
      <p:sp>
        <p:nvSpPr>
          <p:cNvPr id="11" name="S02-label19"/>
          <p:cNvSpPr txBox="1"/>
          <p:nvPr/>
        </p:nvSpPr>
        <p:spPr>
          <a:xfrm>
            <a:off x="7360237" y="513246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2400" dirty="0"/>
          </a:p>
        </p:txBody>
      </p:sp>
      <p:sp>
        <p:nvSpPr>
          <p:cNvPr id="12" name="S02-label21"/>
          <p:cNvSpPr txBox="1"/>
          <p:nvPr/>
        </p:nvSpPr>
        <p:spPr>
          <a:xfrm>
            <a:off x="10187178" y="500146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2400" dirty="0"/>
          </a:p>
        </p:txBody>
      </p:sp>
      <p:sp>
        <p:nvSpPr>
          <p:cNvPr id="13" name="S02-chip2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2-text2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각의 이름은?</a:t>
            </a:r>
            <a:endParaRPr lang="ko-KR" sz="3000" dirty="0"/>
          </a:p>
        </p:txBody>
      </p:sp>
      <p:sp>
        <p:nvSpPr>
          <p:cNvPr id="15" name="S02-chip2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2-text2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각의 꼭짓점은?</a:t>
            </a:r>
            <a:endParaRPr lang="ko-KR" sz="3000" dirty="0"/>
          </a:p>
        </p:txBody>
      </p:sp>
      <p:sp>
        <p:nvSpPr>
          <p:cNvPr id="17" name="S02-chip2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02-text2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각은 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두 번 접으면</a:t>
            </a:r>
            <a:endParaRPr lang="ko-KR" sz="4000" dirty="0"/>
          </a:p>
        </p:txBody>
      </p:sp>
      <p:sp>
        <p:nvSpPr>
          <p:cNvPr id="3" name="S03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생긴 각을 직각이라고 해요.</a:t>
            </a:r>
            <a:endParaRPr lang="ko-KR" sz="3000" dirty="0"/>
          </a:p>
        </p:txBody>
      </p:sp>
      <p:sp>
        <p:nvSpPr>
          <p:cNvPr id="5" name="S03-mark30"/>
          <p:cNvSpPr/>
          <p:nvPr/>
        </p:nvSpPr>
        <p:spPr>
          <a:xfrm>
            <a:off x="8123530" y="43662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3-figure31" descr="종이를 두 번 접어 생긴 각(직각)"/>
          <p:cNvSpPr/>
          <p:nvPr/>
        </p:nvSpPr>
        <p:spPr>
          <a:xfrm flipV="1">
            <a:off x="8123530" y="1851660"/>
            <a:ext cx="0" cy="2743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32"/>
          <p:cNvSpPr/>
          <p:nvPr/>
        </p:nvSpPr>
        <p:spPr>
          <a:xfrm>
            <a:off x="8123530" y="459486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3-stepno33"/>
          <p:cNvSpPr txBox="1"/>
          <p:nvPr/>
        </p:nvSpPr>
        <p:spPr>
          <a:xfrm>
            <a:off x="548640" y="20452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3-text34"/>
          <p:cNvSpPr txBox="1"/>
          <p:nvPr/>
        </p:nvSpPr>
        <p:spPr>
          <a:xfrm>
            <a:off x="1325880" y="20452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반으로 접어요.</a:t>
            </a:r>
            <a:endParaRPr lang="ko-KR" sz="3000" dirty="0"/>
          </a:p>
        </p:txBody>
      </p:sp>
      <p:sp>
        <p:nvSpPr>
          <p:cNvPr id="10" name="S03-stepno35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3-text36"/>
          <p:cNvSpPr txBox="1"/>
          <p:nvPr/>
        </p:nvSpPr>
        <p:spPr>
          <a:xfrm>
            <a:off x="1325880" y="27584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선끼리 맞추어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접어요.</a:t>
            </a:r>
            <a:endParaRPr lang="ko-KR" sz="3000" dirty="0"/>
          </a:p>
        </p:txBody>
      </p:sp>
      <p:sp>
        <p:nvSpPr>
          <p:cNvPr id="12" name="S03-stepno37"/>
          <p:cNvSpPr txBox="1"/>
          <p:nvPr/>
        </p:nvSpPr>
        <p:spPr>
          <a:xfrm>
            <a:off x="548640" y="38526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3-text38"/>
          <p:cNvSpPr txBox="1"/>
          <p:nvPr/>
        </p:nvSpPr>
        <p:spPr>
          <a:xfrm>
            <a:off x="1325880" y="38526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모서리의 각을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ㄱㄴㄷ</a:t>
            </a:r>
            <a:endParaRPr lang="ko-KR" sz="4000" dirty="0"/>
          </a:p>
        </p:txBody>
      </p:sp>
      <p:sp>
        <p:nvSpPr>
          <p:cNvPr id="3" name="S04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직각인 곳에 직각 표시를 해요.</a:t>
            </a:r>
            <a:endParaRPr lang="ko-KR" sz="3000" dirty="0"/>
          </a:p>
        </p:txBody>
      </p:sp>
      <p:sp>
        <p:nvSpPr>
          <p:cNvPr id="4" name="S04-mark40"/>
          <p:cNvSpPr/>
          <p:nvPr/>
        </p:nvSpPr>
        <p:spPr>
          <a:xfrm>
            <a:off x="1858518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4-figure41" descr="직각 ㄱㄴㄷ: 꼭짓점 ㄴ에 직각 표시"/>
          <p:cNvSpPr/>
          <p:nvPr/>
        </p:nvSpPr>
        <p:spPr>
          <a:xfrm flipV="1">
            <a:off x="1858518" y="2743200"/>
            <a:ext cx="0" cy="2743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42"/>
          <p:cNvSpPr/>
          <p:nvPr/>
        </p:nvSpPr>
        <p:spPr>
          <a:xfrm>
            <a:off x="1858518" y="54864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43"/>
          <p:cNvSpPr/>
          <p:nvPr/>
        </p:nvSpPr>
        <p:spPr>
          <a:xfrm>
            <a:off x="1799082" y="26837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mark44"/>
          <p:cNvSpPr/>
          <p:nvPr/>
        </p:nvSpPr>
        <p:spPr>
          <a:xfrm>
            <a:off x="1799082" y="5426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45"/>
          <p:cNvSpPr/>
          <p:nvPr/>
        </p:nvSpPr>
        <p:spPr>
          <a:xfrm>
            <a:off x="4542282" y="5426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label47"/>
          <p:cNvSpPr txBox="1"/>
          <p:nvPr/>
        </p:nvSpPr>
        <p:spPr>
          <a:xfrm>
            <a:off x="1654302" y="23088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1" name="S04-label49"/>
          <p:cNvSpPr txBox="1"/>
          <p:nvPr/>
        </p:nvSpPr>
        <p:spPr>
          <a:xfrm>
            <a:off x="1481881" y="546832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2" name="S04-label51"/>
          <p:cNvSpPr txBox="1"/>
          <p:nvPr/>
        </p:nvSpPr>
        <p:spPr>
          <a:xfrm>
            <a:off x="4641342" y="52959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3" name="S04-card52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53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ㄱㄴㄷ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ㄴ에 직각 표시</a:t>
            </a:r>
            <a:endParaRPr lang="ko-KR" sz="3000" dirty="0"/>
          </a:p>
        </p:txBody>
      </p:sp>
      <p:sp>
        <p:nvSpPr>
          <p:cNvPr id="15" name="S04-card54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55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주변의 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모서리, 공책, 문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모두 찾아요</a:t>
            </a:r>
            <a:endParaRPr lang="ko-KR" sz="4000" dirty="0"/>
          </a:p>
        </p:txBody>
      </p:sp>
      <p:sp>
        <p:nvSpPr>
          <p:cNvPr id="3" name="S05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본을 대어 확인해요.</a:t>
            </a:r>
            <a:endParaRPr lang="ko-KR" sz="3000" dirty="0"/>
          </a:p>
        </p:txBody>
      </p:sp>
      <p:sp>
        <p:nvSpPr>
          <p:cNvPr id="4" name="S05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라는 기울어졌어요. 직각일까요?</a:t>
            </a:r>
            <a:endParaRPr lang="ko-KR" sz="3000" dirty="0"/>
          </a:p>
        </p:txBody>
      </p:sp>
      <p:sp>
        <p:nvSpPr>
          <p:cNvPr id="6" name="S05-chip5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5-mark60"/>
          <p:cNvSpPr/>
          <p:nvPr/>
        </p:nvSpPr>
        <p:spPr>
          <a:xfrm>
            <a:off x="2518917" y="2941320"/>
            <a:ext cx="792480" cy="792480"/>
          </a:xfrm>
          <a:prstGeom prst="pie">
            <a:avLst>
              <a:gd name="adj1" fmla="val 1800004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8" name="S05-figure61" descr="좁은 각"/>
          <p:cNvSpPr/>
          <p:nvPr/>
        </p:nvSpPr>
        <p:spPr>
          <a:xfrm flipV="1">
            <a:off x="2915157" y="2103120"/>
            <a:ext cx="712725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62"/>
          <p:cNvSpPr/>
          <p:nvPr/>
        </p:nvSpPr>
        <p:spPr>
          <a:xfrm>
            <a:off x="2915157" y="3337560"/>
            <a:ext cx="142545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5-chip6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05-mark64"/>
          <p:cNvSpPr/>
          <p:nvPr/>
        </p:nvSpPr>
        <p:spPr>
          <a:xfrm>
            <a:off x="8343138" y="2941320"/>
            <a:ext cx="792480" cy="7924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S05-figure65" descr="직각(한 변이 가로)"/>
          <p:cNvSpPr/>
          <p:nvPr/>
        </p:nvSpPr>
        <p:spPr>
          <a:xfrm flipV="1">
            <a:off x="8739378" y="2103120"/>
            <a:ext cx="0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66"/>
          <p:cNvSpPr/>
          <p:nvPr/>
        </p:nvSpPr>
        <p:spPr>
          <a:xfrm>
            <a:off x="8739378" y="3337560"/>
            <a:ext cx="1234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5-chip6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5" name="S05-mark68"/>
          <p:cNvSpPr/>
          <p:nvPr/>
        </p:nvSpPr>
        <p:spPr>
          <a:xfrm>
            <a:off x="2875279" y="4632960"/>
            <a:ext cx="792480" cy="792480"/>
          </a:xfrm>
          <a:prstGeom prst="pie">
            <a:avLst>
              <a:gd name="adj1" fmla="val 14399956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S05-figure69" descr="넓은 각"/>
          <p:cNvSpPr/>
          <p:nvPr/>
        </p:nvSpPr>
        <p:spPr>
          <a:xfrm flipH="1" flipV="1">
            <a:off x="2558794" y="3794760"/>
            <a:ext cx="712725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5-mark70"/>
          <p:cNvSpPr/>
          <p:nvPr/>
        </p:nvSpPr>
        <p:spPr>
          <a:xfrm>
            <a:off x="3271519" y="5029200"/>
            <a:ext cx="142545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5-chip71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9" name="S05-mark72"/>
          <p:cNvSpPr/>
          <p:nvPr/>
        </p:nvSpPr>
        <p:spPr>
          <a:xfrm>
            <a:off x="8960358" y="4632960"/>
            <a:ext cx="792480" cy="792480"/>
          </a:xfrm>
          <a:prstGeom prst="pie">
            <a:avLst>
              <a:gd name="adj1" fmla="val 13500000"/>
              <a:gd name="adj2" fmla="val 1890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S05-figure73" descr="직각(두 변이 비스듬함)"/>
          <p:cNvSpPr/>
          <p:nvPr/>
        </p:nvSpPr>
        <p:spPr>
          <a:xfrm flipH="1" flipV="1">
            <a:off x="8122158" y="3794760"/>
            <a:ext cx="1234440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5-mark74"/>
          <p:cNvSpPr/>
          <p:nvPr/>
        </p:nvSpPr>
        <p:spPr>
          <a:xfrm flipV="1">
            <a:off x="9356598" y="3794760"/>
            <a:ext cx="1234440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4000" dirty="0"/>
          </a:p>
        </p:txBody>
      </p:sp>
      <p:sp>
        <p:nvSpPr>
          <p:cNvPr id="3" name="S06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직각인 삼각형이에요.</a:t>
            </a:r>
            <a:endParaRPr lang="ko-KR" sz="3000" dirty="0"/>
          </a:p>
        </p:txBody>
      </p:sp>
      <p:sp>
        <p:nvSpPr>
          <p:cNvPr id="4" name="S06-card7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7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직각이 1개 있어요</a:t>
            </a:r>
            <a:endParaRPr lang="ko-KR" sz="3000" dirty="0"/>
          </a:p>
        </p:txBody>
      </p:sp>
      <p:sp>
        <p:nvSpPr>
          <p:cNvPr id="6" name="S06-card7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7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기울어져도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직각이 있으면 직각삼각형</a:t>
            </a:r>
            <a:endParaRPr lang="ko-KR" sz="3000" dirty="0"/>
          </a:p>
        </p:txBody>
      </p:sp>
      <p:sp>
        <p:nvSpPr>
          <p:cNvPr id="8" name="S06-figure80" descr="직각삼각형(직각이 왼쪽 아래)"/>
          <p:cNvSpPr/>
          <p:nvPr/>
        </p:nvSpPr>
        <p:spPr>
          <a:xfrm>
            <a:off x="1869948" y="2373630"/>
            <a:ext cx="2743200" cy="2011680"/>
          </a:xfrm>
          <a:custGeom>
            <a:avLst/>
            <a:gdLst/>
            <a:ahLst/>
            <a:cxnLst/>
            <a:rect l="l" t="t" r="r" b="b"/>
            <a:pathLst>
              <a:path w="2743200" h="2011680">
                <a:moveTo>
                  <a:pt x="0" y="2011680"/>
                </a:moveTo>
                <a:lnTo>
                  <a:pt x="2743200" y="201168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81"/>
          <p:cNvSpPr/>
          <p:nvPr/>
        </p:nvSpPr>
        <p:spPr>
          <a:xfrm>
            <a:off x="1869948" y="41567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figure82" descr="기울어진 직각삼각형"/>
          <p:cNvSpPr/>
          <p:nvPr/>
        </p:nvSpPr>
        <p:spPr>
          <a:xfrm>
            <a:off x="7821213" y="2103120"/>
            <a:ext cx="2252382" cy="2552700"/>
          </a:xfrm>
          <a:custGeom>
            <a:avLst/>
            <a:gdLst/>
            <a:ahLst/>
            <a:cxnLst/>
            <a:rect l="l" t="t" r="r" b="b"/>
            <a:pathLst>
              <a:path w="2252382" h="2552700">
                <a:moveTo>
                  <a:pt x="0" y="2552700"/>
                </a:moveTo>
                <a:lnTo>
                  <a:pt x="2252382" y="1801906"/>
                </a:lnTo>
                <a:lnTo>
                  <a:pt x="165174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83"/>
          <p:cNvSpPr/>
          <p:nvPr/>
        </p:nvSpPr>
        <p:spPr>
          <a:xfrm>
            <a:off x="9784437" y="3688157"/>
            <a:ext cx="216869" cy="289159"/>
          </a:xfrm>
          <a:custGeom>
            <a:avLst/>
            <a:gdLst/>
            <a:ahLst/>
            <a:cxnLst/>
            <a:rect l="l" t="t" r="r" b="b"/>
            <a:pathLst>
              <a:path w="216869" h="289159">
                <a:moveTo>
                  <a:pt x="72290" y="289159"/>
                </a:moveTo>
                <a:lnTo>
                  <a:pt x="0" y="72290"/>
                </a:lnTo>
                <a:lnTo>
                  <a:pt x="216869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직사각형과 정사각형</a:t>
            </a:r>
            <a:endParaRPr lang="ko-KR" sz="4000" dirty="0"/>
          </a:p>
        </p:txBody>
      </p:sp>
      <p:sp>
        <p:nvSpPr>
          <p:cNvPr id="3" name="S07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칸의 길이는 모두 같아요.</a:t>
            </a:r>
            <a:endParaRPr lang="ko-KR" sz="3000" dirty="0"/>
          </a:p>
        </p:txBody>
      </p:sp>
      <p:sp>
        <p:nvSpPr>
          <p:cNvPr id="4" name="S07-mark85"/>
          <p:cNvSpPr/>
          <p:nvPr/>
        </p:nvSpPr>
        <p:spPr>
          <a:xfrm>
            <a:off x="1036320" y="4032533"/>
            <a:ext cx="2193798" cy="1096899"/>
          </a:xfrm>
          <a:custGeom>
            <a:avLst/>
            <a:gdLst/>
            <a:ahLst/>
            <a:cxnLst/>
            <a:rect l="l" t="t" r="r" b="b"/>
            <a:pathLst>
              <a:path w="2193798" h="1096899">
                <a:moveTo>
                  <a:pt x="0" y="1096899"/>
                </a:moveTo>
                <a:lnTo>
                  <a:pt x="2193798" y="1096899"/>
                </a:lnTo>
                <a:lnTo>
                  <a:pt x="21937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7-mark86"/>
          <p:cNvSpPr/>
          <p:nvPr/>
        </p:nvSpPr>
        <p:spPr>
          <a:xfrm>
            <a:off x="3778568" y="3484083"/>
            <a:ext cx="1645348" cy="1645349"/>
          </a:xfrm>
          <a:custGeom>
            <a:avLst/>
            <a:gdLst/>
            <a:ahLst/>
            <a:cxnLst/>
            <a:rect l="l" t="t" r="r" b="b"/>
            <a:pathLst>
              <a:path w="1645348" h="1645349">
                <a:moveTo>
                  <a:pt x="0" y="1645349"/>
                </a:moveTo>
                <a:lnTo>
                  <a:pt x="1645348" y="1645349"/>
                </a:lnTo>
                <a:lnTo>
                  <a:pt x="16453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7-mark87"/>
          <p:cNvSpPr/>
          <p:nvPr/>
        </p:nvSpPr>
        <p:spPr>
          <a:xfrm flipV="1">
            <a:off x="1036320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88"/>
          <p:cNvSpPr/>
          <p:nvPr/>
        </p:nvSpPr>
        <p:spPr>
          <a:xfrm flipV="1">
            <a:off x="1584770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89"/>
          <p:cNvSpPr/>
          <p:nvPr/>
        </p:nvSpPr>
        <p:spPr>
          <a:xfrm flipV="1">
            <a:off x="2133219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90"/>
          <p:cNvSpPr/>
          <p:nvPr/>
        </p:nvSpPr>
        <p:spPr>
          <a:xfrm flipV="1">
            <a:off x="2681669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91"/>
          <p:cNvSpPr/>
          <p:nvPr/>
        </p:nvSpPr>
        <p:spPr>
          <a:xfrm flipV="1">
            <a:off x="3230118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92"/>
          <p:cNvSpPr/>
          <p:nvPr/>
        </p:nvSpPr>
        <p:spPr>
          <a:xfrm flipV="1">
            <a:off x="3778568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93"/>
          <p:cNvSpPr/>
          <p:nvPr/>
        </p:nvSpPr>
        <p:spPr>
          <a:xfrm flipV="1">
            <a:off x="4327017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94"/>
          <p:cNvSpPr/>
          <p:nvPr/>
        </p:nvSpPr>
        <p:spPr>
          <a:xfrm flipV="1">
            <a:off x="4875467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95"/>
          <p:cNvSpPr/>
          <p:nvPr/>
        </p:nvSpPr>
        <p:spPr>
          <a:xfrm flipV="1">
            <a:off x="5423916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96"/>
          <p:cNvSpPr/>
          <p:nvPr/>
        </p:nvSpPr>
        <p:spPr>
          <a:xfrm>
            <a:off x="1036320" y="5129432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97"/>
          <p:cNvSpPr/>
          <p:nvPr/>
        </p:nvSpPr>
        <p:spPr>
          <a:xfrm>
            <a:off x="1036320" y="4580982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98"/>
          <p:cNvSpPr/>
          <p:nvPr/>
        </p:nvSpPr>
        <p:spPr>
          <a:xfrm>
            <a:off x="1036320" y="4032533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99"/>
          <p:cNvSpPr/>
          <p:nvPr/>
        </p:nvSpPr>
        <p:spPr>
          <a:xfrm>
            <a:off x="1036320" y="3484083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figure100" descr="모눈 위의 직사각형(가로 4칸, 세로 2칸)과 정사각형(네 변 모두 3칸), 네 각에 모두 직각 표시"/>
          <p:cNvSpPr/>
          <p:nvPr/>
        </p:nvSpPr>
        <p:spPr>
          <a:xfrm>
            <a:off x="1036320" y="4032533"/>
            <a:ext cx="2193798" cy="1096899"/>
          </a:xfrm>
          <a:custGeom>
            <a:avLst/>
            <a:gdLst/>
            <a:ahLst/>
            <a:cxnLst/>
            <a:rect l="l" t="t" r="r" b="b"/>
            <a:pathLst>
              <a:path w="2193798" h="1096899">
                <a:moveTo>
                  <a:pt x="0" y="1096899"/>
                </a:moveTo>
                <a:lnTo>
                  <a:pt x="2193798" y="1096899"/>
                </a:lnTo>
                <a:lnTo>
                  <a:pt x="219379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7-mark101"/>
          <p:cNvSpPr/>
          <p:nvPr/>
        </p:nvSpPr>
        <p:spPr>
          <a:xfrm>
            <a:off x="3778568" y="3484083"/>
            <a:ext cx="1645348" cy="1645349"/>
          </a:xfrm>
          <a:custGeom>
            <a:avLst/>
            <a:gdLst/>
            <a:ahLst/>
            <a:cxnLst/>
            <a:rect l="l" t="t" r="r" b="b"/>
            <a:pathLst>
              <a:path w="1645348" h="1645349">
                <a:moveTo>
                  <a:pt x="0" y="1645349"/>
                </a:moveTo>
                <a:lnTo>
                  <a:pt x="1645348" y="1645349"/>
                </a:lnTo>
                <a:lnTo>
                  <a:pt x="164534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7-mark102"/>
          <p:cNvSpPr/>
          <p:nvPr/>
        </p:nvSpPr>
        <p:spPr>
          <a:xfrm>
            <a:off x="1036320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mark103"/>
          <p:cNvSpPr/>
          <p:nvPr/>
        </p:nvSpPr>
        <p:spPr>
          <a:xfrm>
            <a:off x="3001518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mark104"/>
          <p:cNvSpPr/>
          <p:nvPr/>
        </p:nvSpPr>
        <p:spPr>
          <a:xfrm>
            <a:off x="3001518" y="40325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mark105"/>
          <p:cNvSpPr/>
          <p:nvPr/>
        </p:nvSpPr>
        <p:spPr>
          <a:xfrm>
            <a:off x="1036320" y="40325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mark106"/>
          <p:cNvSpPr/>
          <p:nvPr/>
        </p:nvSpPr>
        <p:spPr>
          <a:xfrm>
            <a:off x="3778568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mark107"/>
          <p:cNvSpPr/>
          <p:nvPr/>
        </p:nvSpPr>
        <p:spPr>
          <a:xfrm>
            <a:off x="5195316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mark108"/>
          <p:cNvSpPr/>
          <p:nvPr/>
        </p:nvSpPr>
        <p:spPr>
          <a:xfrm>
            <a:off x="5195316" y="34840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mark109"/>
          <p:cNvSpPr/>
          <p:nvPr/>
        </p:nvSpPr>
        <p:spPr>
          <a:xfrm>
            <a:off x="3778568" y="34840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abel111"/>
          <p:cNvSpPr txBox="1"/>
          <p:nvPr/>
        </p:nvSpPr>
        <p:spPr>
          <a:xfrm>
            <a:off x="1831467" y="5198012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</a:t>
            </a:r>
            <a:endParaRPr lang="ko-KR" sz="2400" dirty="0"/>
          </a:p>
        </p:txBody>
      </p:sp>
      <p:sp>
        <p:nvSpPr>
          <p:cNvPr id="30" name="S07-label113"/>
          <p:cNvSpPr txBox="1"/>
          <p:nvPr/>
        </p:nvSpPr>
        <p:spPr>
          <a:xfrm>
            <a:off x="323088" y="4390482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2칸</a:t>
            </a:r>
            <a:endParaRPr lang="ko-KR" sz="2400" dirty="0"/>
          </a:p>
        </p:txBody>
      </p:sp>
      <p:sp>
        <p:nvSpPr>
          <p:cNvPr id="31" name="S07-label115"/>
          <p:cNvSpPr txBox="1"/>
          <p:nvPr/>
        </p:nvSpPr>
        <p:spPr>
          <a:xfrm>
            <a:off x="4299490" y="5198012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400" dirty="0"/>
          </a:p>
        </p:txBody>
      </p:sp>
      <p:sp>
        <p:nvSpPr>
          <p:cNvPr id="32" name="S07-label117"/>
          <p:cNvSpPr txBox="1"/>
          <p:nvPr/>
        </p:nvSpPr>
        <p:spPr>
          <a:xfrm>
            <a:off x="5533644" y="4116257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400" dirty="0"/>
          </a:p>
        </p:txBody>
      </p:sp>
      <p:sp>
        <p:nvSpPr>
          <p:cNvPr id="33" name="S07-label119"/>
          <p:cNvSpPr txBox="1"/>
          <p:nvPr/>
        </p:nvSpPr>
        <p:spPr>
          <a:xfrm>
            <a:off x="1480947" y="2909668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400" dirty="0"/>
          </a:p>
        </p:txBody>
      </p:sp>
      <p:sp>
        <p:nvSpPr>
          <p:cNvPr id="34" name="S07-label121"/>
          <p:cNvSpPr txBox="1"/>
          <p:nvPr/>
        </p:nvSpPr>
        <p:spPr>
          <a:xfrm>
            <a:off x="3948970" y="2909668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400" dirty="0"/>
          </a:p>
        </p:txBody>
      </p:sp>
      <p:sp>
        <p:nvSpPr>
          <p:cNvPr id="35" name="S07-card122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7-cardtext123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</a:t>
            </a:r>
            <a:endParaRPr lang="ko-KR" sz="3000" dirty="0"/>
          </a:p>
        </p:txBody>
      </p:sp>
      <p:sp>
        <p:nvSpPr>
          <p:cNvPr id="37" name="S07-card124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8" name="S07-cardtext125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직각, 네 변이 같아요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직사각형을 찾아요</a:t>
            </a:r>
            <a:endParaRPr lang="ko-KR" sz="4000" dirty="0"/>
          </a:p>
        </p:txBody>
      </p:sp>
      <p:sp>
        <p:nvSpPr>
          <p:cNvPr id="3" name="S08-text1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직사각형을 모두 찾아요.</a:t>
            </a:r>
            <a:endParaRPr lang="ko-KR" sz="3000" dirty="0"/>
          </a:p>
        </p:txBody>
      </p:sp>
      <p:sp>
        <p:nvSpPr>
          <p:cNvPr id="4" name="S08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직사각형일까요? 왜 그럴까요?</a:t>
            </a:r>
            <a:endParaRPr lang="ko-KR" sz="3000" dirty="0"/>
          </a:p>
        </p:txBody>
      </p:sp>
      <p:sp>
        <p:nvSpPr>
          <p:cNvPr id="6" name="S08-chip12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8-figure130" descr="가로가 긴 사각형(네 각 직각)"/>
          <p:cNvSpPr/>
          <p:nvPr/>
        </p:nvSpPr>
        <p:spPr>
          <a:xfrm>
            <a:off x="2393442" y="2103120"/>
            <a:ext cx="2468880" cy="1234440"/>
          </a:xfrm>
          <a:custGeom>
            <a:avLst/>
            <a:gdLst/>
            <a:ahLst/>
            <a:cxnLst/>
            <a:rect l="l" t="t" r="r" b="b"/>
            <a:pathLst>
              <a:path w="2468880" h="1234440">
                <a:moveTo>
                  <a:pt x="0" y="1234440"/>
                </a:moveTo>
                <a:lnTo>
                  <a:pt x="2468880" y="1234440"/>
                </a:lnTo>
                <a:lnTo>
                  <a:pt x="24688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chip13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08-figure132" descr="네 변의 길이가 같은 사각형(네 각 직각)"/>
          <p:cNvSpPr/>
          <p:nvPr/>
        </p:nvSpPr>
        <p:spPr>
          <a:xfrm>
            <a:off x="8739378" y="21031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0" y="1234440"/>
                </a:moveTo>
                <a:lnTo>
                  <a:pt x="1234440" y="1234440"/>
                </a:lnTo>
                <a:lnTo>
                  <a:pt x="1234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8-chip133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08-figure134" descr="기울어진 사각형(평행사변형 모양)"/>
          <p:cNvSpPr/>
          <p:nvPr/>
        </p:nvSpPr>
        <p:spPr>
          <a:xfrm>
            <a:off x="2269998" y="3794760"/>
            <a:ext cx="2715768" cy="1234440"/>
          </a:xfrm>
          <a:custGeom>
            <a:avLst/>
            <a:gdLst/>
            <a:ahLst/>
            <a:cxnLst/>
            <a:rect l="l" t="t" r="r" b="b"/>
            <a:pathLst>
              <a:path w="2715768" h="1234440">
                <a:moveTo>
                  <a:pt x="0" y="1234440"/>
                </a:moveTo>
                <a:lnTo>
                  <a:pt x="2098548" y="1234440"/>
                </a:lnTo>
                <a:lnTo>
                  <a:pt x="2715768" y="0"/>
                </a:lnTo>
                <a:lnTo>
                  <a:pt x="61722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8-chip13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3" name="S08-figure136" descr="직각이 2개뿐인 사각형"/>
          <p:cNvSpPr/>
          <p:nvPr/>
        </p:nvSpPr>
        <p:spPr>
          <a:xfrm>
            <a:off x="8122158" y="3794760"/>
            <a:ext cx="2468880" cy="1234440"/>
          </a:xfrm>
          <a:custGeom>
            <a:avLst/>
            <a:gdLst/>
            <a:ahLst/>
            <a:cxnLst/>
            <a:rect l="l" t="t" r="r" b="b"/>
            <a:pathLst>
              <a:path w="2468880" h="1234440">
                <a:moveTo>
                  <a:pt x="0" y="1234440"/>
                </a:moveTo>
                <a:lnTo>
                  <a:pt x="2468880" y="1234440"/>
                </a:lnTo>
                <a:lnTo>
                  <a:pt x="16047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1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정사각형과 직사각형은 어떤 사이일까요?</a:t>
            </a:r>
            <a:endParaRPr lang="ko-KR" sz="3000" dirty="0"/>
          </a:p>
        </p:txBody>
      </p:sp>
      <p:sp>
        <p:nvSpPr>
          <p:cNvPr id="5" name="S09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9-chip1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9-mark142"/>
          <p:cNvSpPr/>
          <p:nvPr/>
        </p:nvSpPr>
        <p:spPr>
          <a:xfrm>
            <a:off x="2598166" y="3246120"/>
            <a:ext cx="947928" cy="947928"/>
          </a:xfrm>
          <a:custGeom>
            <a:avLst/>
            <a:gdLst/>
            <a:ahLst/>
            <a:cxnLst/>
            <a:rect l="l" t="t" r="r" b="b"/>
            <a:pathLst>
              <a:path w="947928" h="947928">
                <a:moveTo>
                  <a:pt x="0" y="947928"/>
                </a:moveTo>
                <a:lnTo>
                  <a:pt x="947928" y="947928"/>
                </a:lnTo>
                <a:lnTo>
                  <a:pt x="9479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9-mark143"/>
          <p:cNvSpPr/>
          <p:nvPr/>
        </p:nvSpPr>
        <p:spPr>
          <a:xfrm flipV="1">
            <a:off x="2598166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144"/>
          <p:cNvSpPr/>
          <p:nvPr/>
        </p:nvSpPr>
        <p:spPr>
          <a:xfrm flipV="1">
            <a:off x="2914142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145"/>
          <p:cNvSpPr/>
          <p:nvPr/>
        </p:nvSpPr>
        <p:spPr>
          <a:xfrm flipV="1">
            <a:off x="3230118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146"/>
          <p:cNvSpPr/>
          <p:nvPr/>
        </p:nvSpPr>
        <p:spPr>
          <a:xfrm flipV="1">
            <a:off x="3546094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147"/>
          <p:cNvSpPr/>
          <p:nvPr/>
        </p:nvSpPr>
        <p:spPr>
          <a:xfrm flipV="1">
            <a:off x="3862070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148"/>
          <p:cNvSpPr/>
          <p:nvPr/>
        </p:nvSpPr>
        <p:spPr>
          <a:xfrm>
            <a:off x="2598166" y="4194048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149"/>
          <p:cNvSpPr/>
          <p:nvPr/>
        </p:nvSpPr>
        <p:spPr>
          <a:xfrm>
            <a:off x="2598166" y="3878072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150"/>
          <p:cNvSpPr/>
          <p:nvPr/>
        </p:nvSpPr>
        <p:spPr>
          <a:xfrm>
            <a:off x="2598166" y="3562096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151"/>
          <p:cNvSpPr/>
          <p:nvPr/>
        </p:nvSpPr>
        <p:spPr>
          <a:xfrm>
            <a:off x="2598166" y="3246120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figure152" descr="모눈 위의 정사각형"/>
          <p:cNvSpPr/>
          <p:nvPr/>
        </p:nvSpPr>
        <p:spPr>
          <a:xfrm>
            <a:off x="2598166" y="3246120"/>
            <a:ext cx="947928" cy="947928"/>
          </a:xfrm>
          <a:custGeom>
            <a:avLst/>
            <a:gdLst/>
            <a:ahLst/>
            <a:cxnLst/>
            <a:rect l="l" t="t" r="r" b="b"/>
            <a:pathLst>
              <a:path w="947928" h="947928">
                <a:moveTo>
                  <a:pt x="0" y="947928"/>
                </a:moveTo>
                <a:lnTo>
                  <a:pt x="947928" y="947928"/>
                </a:lnTo>
                <a:lnTo>
                  <a:pt x="94792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9-text153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“정사각형은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직사각형이라고 할 수 있어요.”</a:t>
            </a:r>
            <a:endParaRPr lang="ko-KR" sz="2400" dirty="0"/>
          </a:p>
        </p:txBody>
      </p:sp>
      <p:sp>
        <p:nvSpPr>
          <p:cNvPr id="20" name="S09-chip1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1" name="S09-mark155"/>
          <p:cNvSpPr/>
          <p:nvPr/>
        </p:nvSpPr>
        <p:spPr>
          <a:xfrm>
            <a:off x="8326882" y="3562096"/>
            <a:ext cx="1263904" cy="631952"/>
          </a:xfrm>
          <a:custGeom>
            <a:avLst/>
            <a:gdLst/>
            <a:ahLst/>
            <a:cxnLst/>
            <a:rect l="l" t="t" r="r" b="b"/>
            <a:pathLst>
              <a:path w="1263904" h="631952">
                <a:moveTo>
                  <a:pt x="0" y="631952"/>
                </a:moveTo>
                <a:lnTo>
                  <a:pt x="1263904" y="631952"/>
                </a:lnTo>
                <a:lnTo>
                  <a:pt x="1263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2" name="S09-mark156"/>
          <p:cNvSpPr/>
          <p:nvPr/>
        </p:nvSpPr>
        <p:spPr>
          <a:xfrm flipV="1">
            <a:off x="8326882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157"/>
          <p:cNvSpPr/>
          <p:nvPr/>
        </p:nvSpPr>
        <p:spPr>
          <a:xfrm flipV="1">
            <a:off x="8642858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158"/>
          <p:cNvSpPr/>
          <p:nvPr/>
        </p:nvSpPr>
        <p:spPr>
          <a:xfrm flipV="1">
            <a:off x="8958834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159"/>
          <p:cNvSpPr/>
          <p:nvPr/>
        </p:nvSpPr>
        <p:spPr>
          <a:xfrm flipV="1">
            <a:off x="9274810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mark160"/>
          <p:cNvSpPr/>
          <p:nvPr/>
        </p:nvSpPr>
        <p:spPr>
          <a:xfrm flipV="1">
            <a:off x="9590786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9-mark161"/>
          <p:cNvSpPr/>
          <p:nvPr/>
        </p:nvSpPr>
        <p:spPr>
          <a:xfrm>
            <a:off x="8326882" y="4194048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9-mark162"/>
          <p:cNvSpPr/>
          <p:nvPr/>
        </p:nvSpPr>
        <p:spPr>
          <a:xfrm>
            <a:off x="8326882" y="3878072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mark163"/>
          <p:cNvSpPr/>
          <p:nvPr/>
        </p:nvSpPr>
        <p:spPr>
          <a:xfrm>
            <a:off x="8326882" y="3562096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9-mark164"/>
          <p:cNvSpPr/>
          <p:nvPr/>
        </p:nvSpPr>
        <p:spPr>
          <a:xfrm>
            <a:off x="8326882" y="3246120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9-figure165" descr="모눈 위의 직사각형"/>
          <p:cNvSpPr/>
          <p:nvPr/>
        </p:nvSpPr>
        <p:spPr>
          <a:xfrm>
            <a:off x="8326882" y="3562096"/>
            <a:ext cx="1263904" cy="631952"/>
          </a:xfrm>
          <a:custGeom>
            <a:avLst/>
            <a:gdLst/>
            <a:ahLst/>
            <a:cxnLst/>
            <a:rect l="l" t="t" r="r" b="b"/>
            <a:pathLst>
              <a:path w="1263904" h="631952">
                <a:moveTo>
                  <a:pt x="0" y="631952"/>
                </a:moveTo>
                <a:lnTo>
                  <a:pt x="1263904" y="631952"/>
                </a:lnTo>
                <a:lnTo>
                  <a:pt x="126390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09-text166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“직사각형은 모두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정사각형이라고 할 수 있어요.”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직각인지, ②는 이름을 말해요.</a:t>
            </a:r>
            <a:endParaRPr lang="ko-KR" sz="3000" dirty="0"/>
          </a:p>
        </p:txBody>
      </p:sp>
      <p:sp>
        <p:nvSpPr>
          <p:cNvPr id="4" name="S10-chip16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mark169"/>
          <p:cNvSpPr/>
          <p:nvPr/>
        </p:nvSpPr>
        <p:spPr>
          <a:xfrm>
            <a:off x="2651983" y="2866199"/>
            <a:ext cx="792480" cy="792480"/>
          </a:xfrm>
          <a:prstGeom prst="pie">
            <a:avLst>
              <a:gd name="adj1" fmla="val 18000330"/>
              <a:gd name="adj2" fmla="val 180033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S10-figure170" descr="기울어진 각"/>
          <p:cNvSpPr/>
          <p:nvPr/>
        </p:nvSpPr>
        <p:spPr>
          <a:xfrm flipV="1">
            <a:off x="3048223" y="2103120"/>
            <a:ext cx="669481" cy="115931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71"/>
          <p:cNvSpPr/>
          <p:nvPr/>
        </p:nvSpPr>
        <p:spPr>
          <a:xfrm>
            <a:off x="3048223" y="3262439"/>
            <a:ext cx="1159319" cy="66948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0-chip172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figure173" descr="기울어진 삼각형"/>
          <p:cNvSpPr/>
          <p:nvPr/>
        </p:nvSpPr>
        <p:spPr>
          <a:xfrm>
            <a:off x="8594598" y="2103120"/>
            <a:ext cx="1524000" cy="1828800"/>
          </a:xfrm>
          <a:custGeom>
            <a:avLst/>
            <a:gdLst/>
            <a:ahLst/>
            <a:cxnLst/>
            <a:rect l="l" t="t" r="r" b="b"/>
            <a:pathLst>
              <a:path w="1524000" h="1828800">
                <a:moveTo>
                  <a:pt x="0" y="1828800"/>
                </a:moveTo>
                <a:lnTo>
                  <a:pt x="1524000" y="1066800"/>
                </a:lnTo>
                <a:lnTo>
                  <a:pt x="990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0-chip17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17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직각, 네 변이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같은 사각형은?</a:t>
            </a:r>
            <a:endParaRPr lang="ko-KR" sz="3000" dirty="0"/>
          </a:p>
        </p:txBody>
      </p:sp>
      <p:sp>
        <p:nvSpPr>
          <p:cNvPr id="12" name="S10-chip17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17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직사각형에서 직각은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위의 사각형</a:t>
            </a:r>
            <a:endParaRPr lang="ko-KR" sz="4000" dirty="0"/>
          </a:p>
        </p:txBody>
      </p:sp>
      <p:sp>
        <p:nvSpPr>
          <p:cNvPr id="3" name="S12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직사각형과 정사각형을 모두 고르고, 까닭을 말해요.</a:t>
            </a:r>
            <a:endParaRPr lang="ko-KR" sz="3000" dirty="0"/>
          </a:p>
        </p:txBody>
      </p:sp>
      <p:sp>
        <p:nvSpPr>
          <p:cNvPr id="5" name="S12-chip18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mark181"/>
          <p:cNvSpPr/>
          <p:nvPr/>
        </p:nvSpPr>
        <p:spPr>
          <a:xfrm>
            <a:off x="1107295" y="3575304"/>
            <a:ext cx="2336074" cy="934430"/>
          </a:xfrm>
          <a:custGeom>
            <a:avLst/>
            <a:gdLst/>
            <a:ahLst/>
            <a:cxnLst/>
            <a:rect l="l" t="t" r="r" b="b"/>
            <a:pathLst>
              <a:path w="2336074" h="934430">
                <a:moveTo>
                  <a:pt x="0" y="934430"/>
                </a:moveTo>
                <a:lnTo>
                  <a:pt x="2336074" y="934430"/>
                </a:lnTo>
                <a:lnTo>
                  <a:pt x="2336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2-mark182"/>
          <p:cNvSpPr/>
          <p:nvPr/>
        </p:nvSpPr>
        <p:spPr>
          <a:xfrm flipV="1">
            <a:off x="640080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2-mark183"/>
          <p:cNvSpPr/>
          <p:nvPr/>
        </p:nvSpPr>
        <p:spPr>
          <a:xfrm flipV="1">
            <a:off x="1107295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2-mark184"/>
          <p:cNvSpPr/>
          <p:nvPr/>
        </p:nvSpPr>
        <p:spPr>
          <a:xfrm flipV="1">
            <a:off x="1574510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2-mark185"/>
          <p:cNvSpPr/>
          <p:nvPr/>
        </p:nvSpPr>
        <p:spPr>
          <a:xfrm flipV="1">
            <a:off x="2041725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2-mark186"/>
          <p:cNvSpPr/>
          <p:nvPr/>
        </p:nvSpPr>
        <p:spPr>
          <a:xfrm flipV="1">
            <a:off x="250893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2-mark187"/>
          <p:cNvSpPr/>
          <p:nvPr/>
        </p:nvSpPr>
        <p:spPr>
          <a:xfrm flipV="1">
            <a:off x="297615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2-mark188"/>
          <p:cNvSpPr/>
          <p:nvPr/>
        </p:nvSpPr>
        <p:spPr>
          <a:xfrm flipV="1">
            <a:off x="344336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2-mark189"/>
          <p:cNvSpPr/>
          <p:nvPr/>
        </p:nvSpPr>
        <p:spPr>
          <a:xfrm flipV="1">
            <a:off x="391058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2-mark190"/>
          <p:cNvSpPr/>
          <p:nvPr/>
        </p:nvSpPr>
        <p:spPr>
          <a:xfrm>
            <a:off x="640080" y="497694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2-mark191"/>
          <p:cNvSpPr/>
          <p:nvPr/>
        </p:nvSpPr>
        <p:spPr>
          <a:xfrm>
            <a:off x="640080" y="450973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2-mark192"/>
          <p:cNvSpPr/>
          <p:nvPr/>
        </p:nvSpPr>
        <p:spPr>
          <a:xfrm>
            <a:off x="640080" y="404251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2-mark193"/>
          <p:cNvSpPr/>
          <p:nvPr/>
        </p:nvSpPr>
        <p:spPr>
          <a:xfrm>
            <a:off x="640080" y="357530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2-mark194"/>
          <p:cNvSpPr/>
          <p:nvPr/>
        </p:nvSpPr>
        <p:spPr>
          <a:xfrm>
            <a:off x="640080" y="310808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2-mark195"/>
          <p:cNvSpPr/>
          <p:nvPr/>
        </p:nvSpPr>
        <p:spPr>
          <a:xfrm>
            <a:off x="640080" y="264087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2-mark196"/>
          <p:cNvSpPr/>
          <p:nvPr/>
        </p:nvSpPr>
        <p:spPr>
          <a:xfrm>
            <a:off x="640080" y="217365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2-figure197" descr="모눈 위의 사각형 가: 가로 5칸, 세로 2칸"/>
          <p:cNvSpPr/>
          <p:nvPr/>
        </p:nvSpPr>
        <p:spPr>
          <a:xfrm>
            <a:off x="1107295" y="3575304"/>
            <a:ext cx="2336074" cy="934430"/>
          </a:xfrm>
          <a:custGeom>
            <a:avLst/>
            <a:gdLst/>
            <a:ahLst/>
            <a:cxnLst/>
            <a:rect l="l" t="t" r="r" b="b"/>
            <a:pathLst>
              <a:path w="2336074" h="934430">
                <a:moveTo>
                  <a:pt x="0" y="934430"/>
                </a:moveTo>
                <a:lnTo>
                  <a:pt x="2336074" y="934430"/>
                </a:lnTo>
                <a:lnTo>
                  <a:pt x="233607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12-chip19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4" name="S12-mark199"/>
          <p:cNvSpPr/>
          <p:nvPr/>
        </p:nvSpPr>
        <p:spPr>
          <a:xfrm>
            <a:off x="4926439" y="3108089"/>
            <a:ext cx="1401645" cy="1401645"/>
          </a:xfrm>
          <a:custGeom>
            <a:avLst/>
            <a:gdLst/>
            <a:ahLst/>
            <a:cxnLst/>
            <a:rect l="l" t="t" r="r" b="b"/>
            <a:pathLst>
              <a:path w="1401645" h="1401645">
                <a:moveTo>
                  <a:pt x="0" y="1401645"/>
                </a:moveTo>
                <a:lnTo>
                  <a:pt x="1401645" y="1401645"/>
                </a:lnTo>
                <a:lnTo>
                  <a:pt x="140164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5" name="S12-mark200"/>
          <p:cNvSpPr/>
          <p:nvPr/>
        </p:nvSpPr>
        <p:spPr>
          <a:xfrm flipV="1">
            <a:off x="445922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2-mark201"/>
          <p:cNvSpPr/>
          <p:nvPr/>
        </p:nvSpPr>
        <p:spPr>
          <a:xfrm flipV="1">
            <a:off x="492643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2-mark202"/>
          <p:cNvSpPr/>
          <p:nvPr/>
        </p:nvSpPr>
        <p:spPr>
          <a:xfrm flipV="1">
            <a:off x="539365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2-mark203"/>
          <p:cNvSpPr/>
          <p:nvPr/>
        </p:nvSpPr>
        <p:spPr>
          <a:xfrm flipV="1">
            <a:off x="586086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2-mark204"/>
          <p:cNvSpPr/>
          <p:nvPr/>
        </p:nvSpPr>
        <p:spPr>
          <a:xfrm flipV="1">
            <a:off x="632808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2-mark205"/>
          <p:cNvSpPr/>
          <p:nvPr/>
        </p:nvSpPr>
        <p:spPr>
          <a:xfrm flipV="1">
            <a:off x="679529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2-mark206"/>
          <p:cNvSpPr/>
          <p:nvPr/>
        </p:nvSpPr>
        <p:spPr>
          <a:xfrm flipV="1">
            <a:off x="726251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2-mark207"/>
          <p:cNvSpPr/>
          <p:nvPr/>
        </p:nvSpPr>
        <p:spPr>
          <a:xfrm flipV="1">
            <a:off x="772972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2-mark208"/>
          <p:cNvSpPr/>
          <p:nvPr/>
        </p:nvSpPr>
        <p:spPr>
          <a:xfrm>
            <a:off x="4459224" y="497694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2-mark209"/>
          <p:cNvSpPr/>
          <p:nvPr/>
        </p:nvSpPr>
        <p:spPr>
          <a:xfrm>
            <a:off x="4459224" y="450973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2-mark210"/>
          <p:cNvSpPr/>
          <p:nvPr/>
        </p:nvSpPr>
        <p:spPr>
          <a:xfrm>
            <a:off x="4459224" y="404251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2-mark211"/>
          <p:cNvSpPr/>
          <p:nvPr/>
        </p:nvSpPr>
        <p:spPr>
          <a:xfrm>
            <a:off x="4459224" y="357530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2-mark212"/>
          <p:cNvSpPr/>
          <p:nvPr/>
        </p:nvSpPr>
        <p:spPr>
          <a:xfrm>
            <a:off x="4459224" y="310808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2-mark213"/>
          <p:cNvSpPr/>
          <p:nvPr/>
        </p:nvSpPr>
        <p:spPr>
          <a:xfrm>
            <a:off x="4459224" y="264087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2-mark214"/>
          <p:cNvSpPr/>
          <p:nvPr/>
        </p:nvSpPr>
        <p:spPr>
          <a:xfrm>
            <a:off x="4459224" y="217365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2-figure215" descr="모눈 위의 사각형 나: 가로 3칸, 세로 3칸"/>
          <p:cNvSpPr/>
          <p:nvPr/>
        </p:nvSpPr>
        <p:spPr>
          <a:xfrm>
            <a:off x="4926439" y="3108089"/>
            <a:ext cx="1401645" cy="1401645"/>
          </a:xfrm>
          <a:custGeom>
            <a:avLst/>
            <a:gdLst/>
            <a:ahLst/>
            <a:cxnLst/>
            <a:rect l="l" t="t" r="r" b="b"/>
            <a:pathLst>
              <a:path w="1401645" h="1401645">
                <a:moveTo>
                  <a:pt x="0" y="1401645"/>
                </a:moveTo>
                <a:lnTo>
                  <a:pt x="1401645" y="1401645"/>
                </a:lnTo>
                <a:lnTo>
                  <a:pt x="140164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12-chip216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2" name="S12-mark217"/>
          <p:cNvSpPr/>
          <p:nvPr/>
        </p:nvSpPr>
        <p:spPr>
          <a:xfrm>
            <a:off x="8745583" y="2640874"/>
            <a:ext cx="934430" cy="1868859"/>
          </a:xfrm>
          <a:custGeom>
            <a:avLst/>
            <a:gdLst/>
            <a:ahLst/>
            <a:cxnLst/>
            <a:rect l="l" t="t" r="r" b="b"/>
            <a:pathLst>
              <a:path w="934430" h="1868859">
                <a:moveTo>
                  <a:pt x="0" y="1868859"/>
                </a:moveTo>
                <a:lnTo>
                  <a:pt x="934430" y="1868859"/>
                </a:lnTo>
                <a:lnTo>
                  <a:pt x="9344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3" name="S12-mark218"/>
          <p:cNvSpPr/>
          <p:nvPr/>
        </p:nvSpPr>
        <p:spPr>
          <a:xfrm flipV="1">
            <a:off x="827836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2-mark219"/>
          <p:cNvSpPr/>
          <p:nvPr/>
        </p:nvSpPr>
        <p:spPr>
          <a:xfrm flipV="1">
            <a:off x="874558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2-mark220"/>
          <p:cNvSpPr/>
          <p:nvPr/>
        </p:nvSpPr>
        <p:spPr>
          <a:xfrm flipV="1">
            <a:off x="921279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2-mark221"/>
          <p:cNvSpPr/>
          <p:nvPr/>
        </p:nvSpPr>
        <p:spPr>
          <a:xfrm flipV="1">
            <a:off x="968001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2-mark222"/>
          <p:cNvSpPr/>
          <p:nvPr/>
        </p:nvSpPr>
        <p:spPr>
          <a:xfrm flipV="1">
            <a:off x="10147227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2-mark223"/>
          <p:cNvSpPr/>
          <p:nvPr/>
        </p:nvSpPr>
        <p:spPr>
          <a:xfrm flipV="1">
            <a:off x="10614442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2-mark224"/>
          <p:cNvSpPr/>
          <p:nvPr/>
        </p:nvSpPr>
        <p:spPr>
          <a:xfrm flipV="1">
            <a:off x="11081657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2-mark225"/>
          <p:cNvSpPr/>
          <p:nvPr/>
        </p:nvSpPr>
        <p:spPr>
          <a:xfrm flipV="1">
            <a:off x="11548872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2-mark226"/>
          <p:cNvSpPr/>
          <p:nvPr/>
        </p:nvSpPr>
        <p:spPr>
          <a:xfrm>
            <a:off x="8278368" y="497694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12-mark227"/>
          <p:cNvSpPr/>
          <p:nvPr/>
        </p:nvSpPr>
        <p:spPr>
          <a:xfrm>
            <a:off x="8278368" y="450973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12-mark228"/>
          <p:cNvSpPr/>
          <p:nvPr/>
        </p:nvSpPr>
        <p:spPr>
          <a:xfrm>
            <a:off x="8278368" y="404251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12-mark229"/>
          <p:cNvSpPr/>
          <p:nvPr/>
        </p:nvSpPr>
        <p:spPr>
          <a:xfrm>
            <a:off x="8278368" y="357530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12-mark230"/>
          <p:cNvSpPr/>
          <p:nvPr/>
        </p:nvSpPr>
        <p:spPr>
          <a:xfrm>
            <a:off x="8278368" y="310808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2-mark231"/>
          <p:cNvSpPr/>
          <p:nvPr/>
        </p:nvSpPr>
        <p:spPr>
          <a:xfrm>
            <a:off x="8278368" y="264087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2-mark232"/>
          <p:cNvSpPr/>
          <p:nvPr/>
        </p:nvSpPr>
        <p:spPr>
          <a:xfrm>
            <a:off x="8278368" y="217365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2-figure233" descr="모눈 위의 사각형 다: 가로 2칸, 세로 4칸"/>
          <p:cNvSpPr/>
          <p:nvPr/>
        </p:nvSpPr>
        <p:spPr>
          <a:xfrm>
            <a:off x="8745583" y="2640874"/>
            <a:ext cx="934430" cy="1868859"/>
          </a:xfrm>
          <a:custGeom>
            <a:avLst/>
            <a:gdLst/>
            <a:ahLst/>
            <a:cxnLst/>
            <a:rect l="l" t="t" r="r" b="b"/>
            <a:pathLst>
              <a:path w="934430" h="1868859">
                <a:moveTo>
                  <a:pt x="0" y="1868859"/>
                </a:moveTo>
                <a:lnTo>
                  <a:pt x="934430" y="1868859"/>
                </a:lnTo>
                <a:lnTo>
                  <a:pt x="93443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3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3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직각이면 직사각형, 네 변의 길이까지 같으면 정사각형이에요.</a:t>
            </a:r>
            <a:endParaRPr lang="ko-KR" sz="3000" dirty="0"/>
          </a:p>
        </p:txBody>
      </p:sp>
      <p:sp>
        <p:nvSpPr>
          <p:cNvPr id="5" name="S13-chip23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직각 본을 돌려 대어 확인</a:t>
            </a:r>
            <a:endParaRPr lang="ko-KR" sz="2400" dirty="0"/>
          </a:p>
        </p:txBody>
      </p:sp>
      <p:sp>
        <p:nvSpPr>
          <p:cNvPr id="6" name="S13-chip23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기울면 직각이 아니라고 하기</a:t>
            </a:r>
            <a:endParaRPr lang="ko-KR" sz="2400" dirty="0"/>
          </a:p>
        </p:txBody>
      </p:sp>
      <p:sp>
        <p:nvSpPr>
          <p:cNvPr id="7" name="S13-text23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23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각이 직각인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삼각형은?</a:t>
            </a:r>
            <a:endParaRPr lang="ko-KR" sz="2400" dirty="0"/>
          </a:p>
        </p:txBody>
      </p:sp>
      <p:sp>
        <p:nvSpPr>
          <p:cNvPr id="9" name="S13-text24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정사각형의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수는?</a:t>
            </a:r>
            <a:endParaRPr lang="ko-KR" sz="2400" dirty="0"/>
          </a:p>
        </p:txBody>
      </p:sp>
      <p:sp>
        <p:nvSpPr>
          <p:cNvPr id="10" name="S13-text24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직사각형은 모두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정사각형일까요?</a:t>
            </a:r>
            <a:endParaRPr lang="ko-KR" sz="2400" dirty="0"/>
          </a:p>
        </p:txBody>
      </p:sp>
      <p:sp>
        <p:nvSpPr>
          <p:cNvPr id="11" name="S13-text24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원의 중심·반지름·지름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각을 다시 봐요</a:t>
            </a:r>
            <a:endParaRPr lang="ko-KR" sz="4000" dirty="0"/>
          </a:p>
        </p:txBody>
      </p:sp>
      <p:sp>
        <p:nvSpPr>
          <p:cNvPr id="3" name="S14-text2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점에서 그은 두 반직선이 각이에요.</a:t>
            </a:r>
            <a:endParaRPr lang="ko-KR" sz="3000" dirty="0"/>
          </a:p>
        </p:txBody>
      </p:sp>
      <p:sp>
        <p:nvSpPr>
          <p:cNvPr id="4" name="S14-mark244"/>
          <p:cNvSpPr/>
          <p:nvPr/>
        </p:nvSpPr>
        <p:spPr>
          <a:xfrm>
            <a:off x="1462278" y="4841900"/>
            <a:ext cx="792480" cy="792480"/>
          </a:xfrm>
          <a:prstGeom prst="pie">
            <a:avLst>
              <a:gd name="adj1" fmla="val 1830055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S14-figure245" descr="각 ㄱㄴㄷ"/>
          <p:cNvSpPr/>
          <p:nvPr/>
        </p:nvSpPr>
        <p:spPr>
          <a:xfrm flipV="1">
            <a:off x="1858518" y="2991460"/>
            <a:ext cx="1573682" cy="224668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4-mark246"/>
          <p:cNvSpPr/>
          <p:nvPr/>
        </p:nvSpPr>
        <p:spPr>
          <a:xfrm>
            <a:off x="1858518" y="523814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4-mark247"/>
          <p:cNvSpPr/>
          <p:nvPr/>
        </p:nvSpPr>
        <p:spPr>
          <a:xfrm>
            <a:off x="3372764" y="29320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mark248"/>
          <p:cNvSpPr/>
          <p:nvPr/>
        </p:nvSpPr>
        <p:spPr>
          <a:xfrm>
            <a:off x="1799082" y="51787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mark249"/>
          <p:cNvSpPr/>
          <p:nvPr/>
        </p:nvSpPr>
        <p:spPr>
          <a:xfrm>
            <a:off x="4542282" y="51787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label251"/>
          <p:cNvSpPr txBox="1"/>
          <p:nvPr/>
        </p:nvSpPr>
        <p:spPr>
          <a:xfrm>
            <a:off x="3367877" y="260124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1" name="S14-label253"/>
          <p:cNvSpPr txBox="1"/>
          <p:nvPr/>
        </p:nvSpPr>
        <p:spPr>
          <a:xfrm>
            <a:off x="1438004" y="516021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2" name="S14-label255"/>
          <p:cNvSpPr txBox="1"/>
          <p:nvPr/>
        </p:nvSpPr>
        <p:spPr>
          <a:xfrm>
            <a:off x="4641342" y="504764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3" name="S14-card256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257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변이 시작하는 점 ㄴ</a:t>
            </a:r>
            <a:endParaRPr lang="ko-KR" sz="3000" dirty="0"/>
          </a:p>
        </p:txBody>
      </p:sp>
      <p:sp>
        <p:nvSpPr>
          <p:cNvPr id="15" name="S14-card258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59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ㄱㄴㄷ(꼭짓점을 가운데)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직각과 직사각형·정사각형</dc:title>
  <dc:subject>KR22-G03-MAT-RIGHT-L01</dc:subject>
  <dc:creator>education-ppt</dc:creator>
  <cp:lastModifiedBy>education-ppt</cp:lastModifiedBy>
  <cp:revision>1</cp:revision>
  <dcterms:created xsi:type="dcterms:W3CDTF">2026-10-26T07:41:50Z</dcterms:created>
  <dcterms:modified xsi:type="dcterms:W3CDTF">2026-10-26T07:41:50Z</dcterms:modified>
</cp:coreProperties>
</file>