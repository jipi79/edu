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b103429-87a1-851c-2b5b-1298934af6cc}">
          <p14:sldIdLst>
            <p14:sldId id="256"/>
            <p14:sldId id="257"/>
          </p14:sldIdLst>
        </p14:section>
        <p14:section name="개념" id="{f65de12f-9027-3c2d-67b2-a67fa30fd574}">
          <p14:sldIdLst>
            <p14:sldId id="258"/>
            <p14:sldId id="260"/>
            <p14:sldId id="261"/>
          </p14:sldIdLst>
        </p14:section>
        <p14:section name="연습" id="{3730896b-0ef2-8e7d-b96b-9576b3e677e8}">
          <p14:sldIdLst>
            <p14:sldId id="259"/>
            <p14:sldId id="262"/>
            <p14:sldId id="263"/>
          </p14:sldIdLst>
        </p14:section>
        <p14:section name="개념" id="{b9de69ff-6b9b-dd80-10c9-ded4782d3241}">
          <p14:sldIdLst/>
        </p14:section>
        <p14:section name="연습" id="{c6d45253-6b31-00e4-9ae3-324bc1870cd6}">
          <p14:sldIdLst/>
        </p14:section>
        <p14:section name="확인" id="{839a6abf-619f-5936-91cc-b612668adc70}">
          <p14:sldIdLst>
            <p14:sldId id="264"/>
            <p14:sldId id="265"/>
            <p14:sldId id="266"/>
          </p14:sldIdLst>
        </p14:section>
        <p14:section name="정리" id="{970112e7-c91e-eb80-5f17-ca0452d0c670}">
          <p14:sldIdLst>
            <p14:sldId id="267"/>
          </p14:sldIdLst>
        </p14:section>
        <p14:section name="보충" id="{dc3babd0-ef58-d0a8-2f78-d3a599bde5f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전체의 한 부분을 수로 나타내는 방법이 궁금하게 합니다.
시간: 약 2분
이렇게 말해 보세요
- “피자 한 판을 4명이 똑같이 나누어 먹으면, 한 사람이 먹은 양은 피자 한 판의 얼마일까?”
- “1개보다 작은 양을 나타내는 수를 오늘 배울 거야.”
예상 답
- “한 조각이요.” “반의 반이요.” 또는 “잘 모르겠어요.”
막히면
- 답을 확인하지 않고 넘어갑니다. S05에서 함께 알아봅니다.
주의
- 오늘 ‘분수’, ‘분모’, ‘분자’라는 말을 처음 씁니다. 말보다 ‘똑같이 나누기’가 먼저입니다.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확인(똑같이 나누기)]
목적: 나눗셈의 뜻(똑같이 나누기)을 기억하는지 확인합니다. 오늘은 물건 여러 개 대신 ‘한 개’를 똑같이 나눕니다.
시간: 약 3분
이렇게 말해 보세요
- “①은 8개를 2명에게 똑같이 나누면 한 명에게 몇 개야? ②도 말해 볼래?”
- “③은 한 명이 몇 개씩 가질까? 왜 똑같이 나누어야 할까?”
정답
- ① 4
- ② 4
- ③ 2개씩 (한 사람이 더 많이 가지면 똑같이 나눈 것이 아니에요)
막히면
- 바둑돌을 접시에 하나씩 번갈아 놓으며 똑같이 나눕니다.
- 두 문제 이상 틀리면 S13(보충)을 먼저 합니다. 보충으로도 어려우면 초3 3차시 ‘나눗셈의 뜻’(KR22-G03-MAT-DIVIDE-L01)을 먼저 다시 합니다.
주의
- ③에서 ‘똑같이’라는 말을 아이가 직접 말하게 합니다. 오늘 수업의 열쇠말입니다.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똑같이 나눈 것과 아닌 것(반례)]
목적: 조각의 수가 같아도 크기가 모두 같아야 ‘똑같이 나누었다’고 한다는 것을 반례로 봅니다.
시간: 약 4분
이렇게 말해 보세요
- “두 띠 모두 4조각이야. 그런데 나는 왜 똑같이 나눈 것이 아닐까?”
- “종이 띠를 반으로 접고 또 반으로 접어서 펴 볼까? 조각을 잘라서 서로 포개면 꼭 맞아?”
예상 답
- “나는 조각 크기가 달라요. 큰 조각도 있고 작은 조각도 있어요.”
막히면
- 종이 띠 두 장으로 하나는 접어서(똑같이), 하나는 아무렇게나 선을 그어 4조각을 만들고 잘라 포개 봅니다.
주의
- ‘똑같이 나누었다’는 조각의 크기(길이·넓이)가 모두 같다는 뜻입니다. 조각의 모양이 달라도 넓이가 같으면 똑같이 나눈 것이지만, 오늘은 띠와 원처럼 모양도 같은 경우만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똑같이 나눈 것 고르기]
목적: 여러 그림에서 똑같이 나눈 것을 고르고 까닭을 말합니다.
시간: 약 3분
이렇게 말해 보세요
- “똑같이 나눈 것을 모두 골라 볼래? 왜 그렇게 생각해?”
- “라는 두 조각이 같아. 그래도 똑같이 나눈 걸까?”
정답
- 가와 다입니다. 가는 원을 크기가 같은 3조각으로, 다는 띠를 크기가 같은 5조각으로 나누었습니다.
- 나는 세 조각의 크기가 모두 다르고, 라는 오른쪽 조각이 다른 두 조각보다 큽니다.
막히면
- 손가락이나 종이 조각으로 한 칸의 길이를 재어 다른 칸에 대 봅니다.
주의
- 라처럼 일부만 같은 그림을 ‘똑같이 나눈 것’으로 고르면 “모든 조각이 같아야 해.”라고 바로잡습니다.
- 지치면 여기서 쉬고, 다음에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분수 4분의 1과 분모·분자]
목적: 전체를 똑같이 4로 나눈 것 중의 1을 분수로 쓰고 읽으며, 분모와 분자가 무엇을 나타내는지 압니다.
시간: 약 4분
이렇게 말해 보세요
- “띠를 똑같이 몇 칸으로 나누었어? 그중 몇 칸을 색칠했어?”
- “이것을 이렇게 써. 아래에는 똑같이 나눈 수 4, 위에는 색칠한 수 1. ‘4분의 1’이라고 읽어. 아래 수를 분모, 위 수를 분자라고 해.”
예상 답
- “4칸 중 1칸이요.” “4분의 1이요.”
막히면
- 종이 띠를 반으로 두 번 접어 4칸을 만들고 1칸을 색칠하며 함께 말합니다.
주의
- 가로선을 먼저 긋고 아래에 분모(나눈 수)부터 쓰게 하면 분모와 분자를 바꾸어 쓰는 실수가 줄어듭니다(M3).
- 읽을 때도 분모를 먼저 읽습니다(4분의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분수 4분의 3, 색칠하지 않은 부분]
목적: 부분이 여러 칸일 때도 분수로 나타내고, 색칠하지 않은 부분도 분수로 나타낼 수 있음을 압니다.
시간: 약 3분
이렇게 말해 보세요
- “이번에는 몇 칸을 색칠했어? 분모와 분자는 뭐야?”
- “색칠하지 않은 부분은 전체의 얼마일까?”
예상 답
- “4분의 3이요.” “색칠하지 않은 건 4분의 1이에요.”
막히면
- “전체를 똑같이 몇 칸으로 나누었지?”를 먼저 묻고 분모를 정한 뒤, 색칠한 칸을 셉니다.
주의
- 분모는 언제나 전체 칸 수입니다. 색칠하지 않은 칸 수(1)를 분모에 쓰는 실수(1분의 3)를 조심합니다(M2).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연습(그림을 분수로)]
목적: 도움을 받으며 그림을 분수로 쓰고 읽습니다.
시간: 약 5분
이렇게 말해 보세요
- “①은 원을 똑같이 몇 조각으로 나누었어? 그중 몇 조각을 색칠했어? 분수로 써 보고 읽어 줘.”
- “②도 분모부터 정해 볼까?”
정답
- ① 6분의 1
- ② 5분의 2
- ③ 8분의 3
- ④ 3분의 2
막히면
- 조각에 연필로 1, 2, 3… 번호를 붙여 전체 수를 세게 합니다(③ 8조각).
주의
- 공책에 분수를 세로로 쓰게 합니다. 2/5처럼 빗금으로 쓰기보다 가로선 아래에 분모, 위에 분자를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비교(똑같이 나누지 않은 조각)]
목적: 똑같이 나누지 않은 조각은 분수로 나타낼 수 없다는 것을 반례로 확인합니다(M1).
시간: 약 3분
이렇게 말해 보세요
- “토끼는 4조각 중 1조각이니까 4분의 1이래. 곰은 아니래. 누구 말이 맞을까?”
- “토끼의 색칠한 조각과 곰의 4분의 1을 비교해 봐. 길이가 같아?”
예상 답
- “곰이요. 토끼 띠는 조각 크기가 달라요.”
정답
- 곰이 맞습니다. 토끼의 띠는 똑같이 나누지 않아서 색칠한 조각을 4분의 1이라고 할 수 없습니다.
- 토끼의 색칠한 조각은 진짜 4분의 1보다 깁니다.
막히면
- 같은 길이의 종이 띠 두 장으로 하나는 접어서 4칸, 하나는 크기가 다르게 4칸을 그린 뒤 첫 칸을 겹쳐 봅니다.
주의
- 아이가 “조각이 4개니까 4분의 1”이라고 하면 S03으로 돌아가 ‘똑같이’를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그림을 분수로 나타내고, 분모와 분자의 뜻을 아는지 확인합니다.
시간: 약 5분
이렇게 말해 보세요
- “이번에는 혼자 해 볼래? ①, ②는 색칠한 부분을 분수로 공책에 쓰고 읽어 줘.”
- “③, ④는 말로 답해도 돼.”
정답
- ① 3분의 2
- ② 6분의 5
- ③ 6분의 1
- ④ 분모 7, 분자 4
막히면
- 바로 알려 주지 말고 “똑같이 몇으로 나누었어?”라고만 묻습니다.
- 도움을 받아 해결했다면 기록표에 ‘도움’으로 표시합니다.
주의
- ④에서 분모와 분자를 바꾸어 말하면 S05의 ‘분모는 나눈 수, 분자는 부분의 수’를 다시 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그림에서 칸을 다시 세어 보자.”
정답
- ① 3분의 2 ② 6분의 5 ③ 6분의 1 ④ 분모 7, 분자 4
막히면
- 분모·분자를 바꾸어 썼으면 S05로, 분모에 색칠하지 않은 칸 수를 썼으면 S06으로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확인(똑같이 나누기와 분수)]
목적: 처음 보는 그림에서 똑같이 나누었는지와 분모·분자를 함께 판단하는지 확인합니다.
시간: 약 3분
이렇게 말해 보세요
- “4분의 1만큼 색칠한 것을 모두 골라 볼래? 나와 라는 왜 아닐까?”
정답
- 가와 다입니다. 둘 다 똑같이 4로 나눈 것 중의 1을 색칠했습니다.
- 나는 4조각이지만 똑같이 나누지 않았고, 라는 똑같이 3으로 나눈 것 중의 1(3분의 1)입니다.
막히면
- 그림마다 “똑같이 나누었어?”, “몇으로 나누었어?”를 차례로 묻습니다.
주의
- 나를 고르면 목표 A, 라를 고르면 목표 B가 아직입니다. 기록표에 무엇을 헷갈렸는지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“분수로 나타내려면 먼저 무엇을 봐야 했지? 분모와 분자는 각각 무엇이었어?”
예상 답
- “똑같이 나누었는지요.” “분모는 나눈 수, 분자는 색칠한 수예요.”
정답
- ① 5분의 2 ② 8 ③ 3분의 1(같은 간격으로 선 2개를 긋고 1칸 색칠)
막히면
- S03과 S05를 다시 보여 주며 함께 말합니다.
주의
- 다음 차시에서는 분수끼리 크기를 비교합니다.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보충(똑같이 나누기)]
목적: S02에서 ‘똑같이 나누기’가 흔들리면, 종이 띠 접기와 바둑돌 나누기로 다시 익힙니다.
시간: 약 5분
이렇게 말해 보세요
- “종이 띠를 끝과 끝을 맞추어 반으로 접어 볼까? 펴면 몇 칸이야? 두 칸의 크기가 같아?”
- “바둑돌 12개를 3접시에 똑같이 나누어 볼래? 한 접시에 몇 개야?”
정답
- 반으로 접으면 크기가 같은 2칸, 한 번 더 접으면 4칸
- 12 ÷ 3 = 4
막히면
- 끝과 끝을 맞추어 접는 것을 부모가 함께 잡아 줍니다. 접힌 선을 따라 잘라 두 조각을 포개 봅니다.
주의
- 보충으로도 어려우면 초3 3차시 ‘나눗셈의 뜻’(KR22-G03-MAT-DIVIDE-L01)을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분수의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분수의 뜻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한 조각을 어떻게 나타낼까?</a:t>
            </a:r>
            <a:endParaRPr lang="ko-KR" sz="3000" dirty="0"/>
          </a:p>
        </p:txBody>
      </p:sp>
      <p:sp>
        <p:nvSpPr>
          <p:cNvPr id="4" name="S01-sector1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sector2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sector3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sector4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figure5" descr="원을 똑같이 4조각으로 나누고 1조각 색칠"/>
          <p:cNvSpPr/>
          <p:nvPr/>
        </p:nvSpPr>
        <p:spPr>
          <a:xfrm>
            <a:off x="8366760" y="822960"/>
            <a:ext cx="2560320" cy="2560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똑같이 나누었는지 보고, 까닭을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색칠한 부분을 분수로 쓰고 읽어요.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 기억하기</a:t>
            </a:r>
            <a:endParaRPr lang="ko-KR" sz="40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2 = □</a:t>
            </a:r>
            <a:endParaRPr lang="ko-KR" sz="34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□</a:t>
            </a:r>
            <a:endParaRPr lang="ko-KR" sz="34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6개를 3명이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나누었나요?</a:t>
            </a:r>
            <a:endParaRPr lang="ko-KR" sz="4000" dirty="0"/>
          </a:p>
        </p:txBody>
      </p:sp>
      <p:sp>
        <p:nvSpPr>
          <p:cNvPr id="3" name="S03-card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띠를 모두 4조각으로 나누었어요.</a:t>
            </a:r>
            <a:endParaRPr lang="ko-KR" sz="3000" dirty="0"/>
          </a:p>
        </p:txBody>
      </p:sp>
      <p:sp>
        <p:nvSpPr>
          <p:cNvPr id="5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포개어 보면 조각이 꼭 맞을까요?</a:t>
            </a:r>
            <a:endParaRPr lang="ko-KR" sz="3000" dirty="0"/>
          </a:p>
        </p:txBody>
      </p:sp>
      <p:sp>
        <p:nvSpPr>
          <p:cNvPr id="7" name="S03-chip1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가: 똑같이 나눔</a:t>
            </a:r>
            <a:endParaRPr lang="ko-KR" sz="2400" dirty="0"/>
          </a:p>
        </p:txBody>
      </p:sp>
      <p:sp>
        <p:nvSpPr>
          <p:cNvPr id="8" name="S03-cell19"/>
          <p:cNvSpPr/>
          <p:nvPr/>
        </p:nvSpPr>
        <p:spPr>
          <a:xfrm>
            <a:off x="548640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cell20"/>
          <p:cNvSpPr/>
          <p:nvPr/>
        </p:nvSpPr>
        <p:spPr>
          <a:xfrm>
            <a:off x="1889379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21"/>
          <p:cNvSpPr/>
          <p:nvPr/>
        </p:nvSpPr>
        <p:spPr>
          <a:xfrm>
            <a:off x="3230118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22"/>
          <p:cNvSpPr/>
          <p:nvPr/>
        </p:nvSpPr>
        <p:spPr>
          <a:xfrm>
            <a:off x="4570857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figure23" descr="똑같이 4칸으로 나눈 띠"/>
          <p:cNvSpPr/>
          <p:nvPr/>
        </p:nvSpPr>
        <p:spPr>
          <a:xfrm>
            <a:off x="548640" y="3494532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text24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조각의 크기가 모두 같아요.</a:t>
            </a:r>
            <a:endParaRPr lang="ko-KR" sz="2400" dirty="0"/>
          </a:p>
        </p:txBody>
      </p:sp>
      <p:sp>
        <p:nvSpPr>
          <p:cNvPr id="14" name="S03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나: 똑같이 나누지 않음</a:t>
            </a:r>
            <a:endParaRPr lang="ko-KR" sz="2400" dirty="0"/>
          </a:p>
        </p:txBody>
      </p:sp>
      <p:sp>
        <p:nvSpPr>
          <p:cNvPr id="15" name="S03-cell26"/>
          <p:cNvSpPr/>
          <p:nvPr/>
        </p:nvSpPr>
        <p:spPr>
          <a:xfrm>
            <a:off x="6277356" y="3494532"/>
            <a:ext cx="214518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27"/>
          <p:cNvSpPr/>
          <p:nvPr/>
        </p:nvSpPr>
        <p:spPr>
          <a:xfrm>
            <a:off x="8422538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28"/>
          <p:cNvSpPr/>
          <p:nvPr/>
        </p:nvSpPr>
        <p:spPr>
          <a:xfrm>
            <a:off x="9763277" y="3494532"/>
            <a:ext cx="107259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29"/>
          <p:cNvSpPr/>
          <p:nvPr/>
        </p:nvSpPr>
        <p:spPr>
          <a:xfrm>
            <a:off x="10835869" y="3494532"/>
            <a:ext cx="80444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figure30" descr="크기가 다른 4조각으로 나눈 띠"/>
          <p:cNvSpPr/>
          <p:nvPr/>
        </p:nvSpPr>
        <p:spPr>
          <a:xfrm>
            <a:off x="6277356" y="3494532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3-text31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조각의 크기가 서로 달라요.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것 찾기</a:t>
            </a:r>
            <a:endParaRPr lang="ko-KR" sz="4000" dirty="0"/>
          </a:p>
        </p:txBody>
      </p:sp>
      <p:sp>
        <p:nvSpPr>
          <p:cNvPr id="3" name="S04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것을 모두 골라요.</a:t>
            </a:r>
            <a:endParaRPr lang="ko-KR" sz="3000" dirty="0"/>
          </a:p>
        </p:txBody>
      </p:sp>
      <p:sp>
        <p:nvSpPr>
          <p:cNvPr id="4" name="S04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000" dirty="0"/>
          </a:p>
        </p:txBody>
      </p:sp>
      <p:sp>
        <p:nvSpPr>
          <p:cNvPr id="6" name="S04-chip35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4-sector36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sector37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sector38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figure39" descr="원을 똑같이 3조각으로 나눔"/>
          <p:cNvSpPr/>
          <p:nvPr/>
        </p:nvSpPr>
        <p:spPr>
          <a:xfrm>
            <a:off x="2919222" y="201168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4-chip40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2" name="S04-cell41"/>
          <p:cNvSpPr/>
          <p:nvPr/>
        </p:nvSpPr>
        <p:spPr>
          <a:xfrm>
            <a:off x="7072884" y="2354580"/>
            <a:ext cx="228371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42"/>
          <p:cNvSpPr/>
          <p:nvPr/>
        </p:nvSpPr>
        <p:spPr>
          <a:xfrm>
            <a:off x="9356598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43"/>
          <p:cNvSpPr/>
          <p:nvPr/>
        </p:nvSpPr>
        <p:spPr>
          <a:xfrm>
            <a:off x="10726826" y="235458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figure44" descr="크기가 다른 3조각으로 나눈 띠"/>
          <p:cNvSpPr/>
          <p:nvPr/>
        </p:nvSpPr>
        <p:spPr>
          <a:xfrm>
            <a:off x="7072884" y="235458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chip4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7" name="S04-cell46"/>
          <p:cNvSpPr/>
          <p:nvPr/>
        </p:nvSpPr>
        <p:spPr>
          <a:xfrm>
            <a:off x="1344168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47"/>
          <p:cNvSpPr/>
          <p:nvPr/>
        </p:nvSpPr>
        <p:spPr>
          <a:xfrm>
            <a:off x="2257654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48"/>
          <p:cNvSpPr/>
          <p:nvPr/>
        </p:nvSpPr>
        <p:spPr>
          <a:xfrm>
            <a:off x="3171139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49"/>
          <p:cNvSpPr/>
          <p:nvPr/>
        </p:nvSpPr>
        <p:spPr>
          <a:xfrm>
            <a:off x="4084625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50"/>
          <p:cNvSpPr/>
          <p:nvPr/>
        </p:nvSpPr>
        <p:spPr>
          <a:xfrm>
            <a:off x="4998110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figure51" descr="똑같이 5칸으로 나눈 띠"/>
          <p:cNvSpPr/>
          <p:nvPr/>
        </p:nvSpPr>
        <p:spPr>
          <a:xfrm>
            <a:off x="1344168" y="404622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4-chip5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4" name="S04-cell53"/>
          <p:cNvSpPr/>
          <p:nvPr/>
        </p:nvSpPr>
        <p:spPr>
          <a:xfrm>
            <a:off x="7072884" y="4046220"/>
            <a:ext cx="1141857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cell54"/>
          <p:cNvSpPr/>
          <p:nvPr/>
        </p:nvSpPr>
        <p:spPr>
          <a:xfrm>
            <a:off x="8214741" y="4046220"/>
            <a:ext cx="1141857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cell55"/>
          <p:cNvSpPr/>
          <p:nvPr/>
        </p:nvSpPr>
        <p:spPr>
          <a:xfrm>
            <a:off x="9356598" y="4046220"/>
            <a:ext cx="228371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figure56" descr="두 조각은 같고 한 조각은 큰 띠"/>
          <p:cNvSpPr/>
          <p:nvPr/>
        </p:nvSpPr>
        <p:spPr>
          <a:xfrm>
            <a:off x="7072884" y="404622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4000" dirty="0"/>
          </a:p>
        </p:txBody>
      </p:sp>
      <p:sp>
        <p:nvSpPr>
          <p:cNvPr id="3" name="S05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4로 나눈 것 중의 1이에요.</a:t>
            </a:r>
            <a:endParaRPr lang="ko-KR" sz="3000" dirty="0"/>
          </a:p>
        </p:txBody>
      </p:sp>
      <p:sp>
        <p:nvSpPr>
          <p:cNvPr id="4" name="S05-card58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59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나눈 수</a:t>
            </a:r>
            <a:endParaRPr lang="ko-KR" sz="3000" dirty="0"/>
          </a:p>
        </p:txBody>
      </p:sp>
      <p:sp>
        <p:nvSpPr>
          <p:cNvPr id="6" name="S05-card60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61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색칠한 부분의 수</a:t>
            </a:r>
            <a:endParaRPr lang="ko-KR" sz="3000" dirty="0"/>
          </a:p>
        </p:txBody>
      </p:sp>
      <p:sp>
        <p:nvSpPr>
          <p:cNvPr id="8" name="S05-card62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63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3000" dirty="0"/>
          </a:p>
        </p:txBody>
      </p:sp>
      <p:sp>
        <p:nvSpPr>
          <p:cNvPr id="10" name="S05-num64"/>
          <p:cNvSpPr txBox="1"/>
          <p:nvPr/>
        </p:nvSpPr>
        <p:spPr>
          <a:xfrm>
            <a:off x="764286" y="292328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1" name="S05-fracbar65"/>
          <p:cNvSpPr/>
          <p:nvPr/>
        </p:nvSpPr>
        <p:spPr>
          <a:xfrm>
            <a:off x="800862" y="337947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num66"/>
          <p:cNvSpPr txBox="1"/>
          <p:nvPr/>
        </p:nvSpPr>
        <p:spPr>
          <a:xfrm>
            <a:off x="764286" y="341604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3" name="S05-cell67"/>
          <p:cNvSpPr/>
          <p:nvPr/>
        </p:nvSpPr>
        <p:spPr>
          <a:xfrm>
            <a:off x="1600200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68"/>
          <p:cNvSpPr/>
          <p:nvPr/>
        </p:nvSpPr>
        <p:spPr>
          <a:xfrm>
            <a:off x="2683764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69"/>
          <p:cNvSpPr/>
          <p:nvPr/>
        </p:nvSpPr>
        <p:spPr>
          <a:xfrm>
            <a:off x="3767328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70"/>
          <p:cNvSpPr/>
          <p:nvPr/>
        </p:nvSpPr>
        <p:spPr>
          <a:xfrm>
            <a:off x="4850892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figure71" descr="똑같이 4칸으로 나눈 띠, 1칸 색칠"/>
          <p:cNvSpPr/>
          <p:nvPr/>
        </p:nvSpPr>
        <p:spPr>
          <a:xfrm>
            <a:off x="1600200" y="296799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5-sector72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sector73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sector74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sector75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figure76" descr="원을 똑같이 4조각으로 나누고 1조각 색칠"/>
          <p:cNvSpPr/>
          <p:nvPr/>
        </p:nvSpPr>
        <p:spPr>
          <a:xfrm>
            <a:off x="8033004" y="246507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</a:t>
            </a:r>
            <a:endParaRPr lang="ko-KR" sz="4000" dirty="0"/>
          </a:p>
        </p:txBody>
      </p:sp>
      <p:sp>
        <p:nvSpPr>
          <p:cNvPr id="3" name="S06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4로 나눈 것 중의 3이에요.</a:t>
            </a:r>
            <a:endParaRPr lang="ko-KR" sz="3000" dirty="0"/>
          </a:p>
        </p:txBody>
      </p:sp>
      <p:sp>
        <p:nvSpPr>
          <p:cNvPr id="4" name="S06-card7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7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</a:t>
            </a:r>
            <a:endParaRPr lang="ko-KR" sz="3000" dirty="0"/>
          </a:p>
        </p:txBody>
      </p:sp>
      <p:sp>
        <p:nvSpPr>
          <p:cNvPr id="6" name="S06-card8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8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색칠하지 않은 부분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3000" dirty="0"/>
          </a:p>
        </p:txBody>
      </p:sp>
      <p:sp>
        <p:nvSpPr>
          <p:cNvPr id="8" name="S06-num82"/>
          <p:cNvSpPr txBox="1"/>
          <p:nvPr/>
        </p:nvSpPr>
        <p:spPr>
          <a:xfrm>
            <a:off x="764286" y="292328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06-fracbar83"/>
          <p:cNvSpPr/>
          <p:nvPr/>
        </p:nvSpPr>
        <p:spPr>
          <a:xfrm>
            <a:off x="800862" y="337947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num84"/>
          <p:cNvSpPr txBox="1"/>
          <p:nvPr/>
        </p:nvSpPr>
        <p:spPr>
          <a:xfrm>
            <a:off x="764286" y="341604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06-cell85"/>
          <p:cNvSpPr/>
          <p:nvPr/>
        </p:nvSpPr>
        <p:spPr>
          <a:xfrm>
            <a:off x="1600200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86"/>
          <p:cNvSpPr/>
          <p:nvPr/>
        </p:nvSpPr>
        <p:spPr>
          <a:xfrm>
            <a:off x="2683764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87"/>
          <p:cNvSpPr/>
          <p:nvPr/>
        </p:nvSpPr>
        <p:spPr>
          <a:xfrm>
            <a:off x="3767328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88"/>
          <p:cNvSpPr/>
          <p:nvPr/>
        </p:nvSpPr>
        <p:spPr>
          <a:xfrm>
            <a:off x="4850892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figure89" descr="똑같이 4칸으로 나눈 띠, 3칸 색칠"/>
          <p:cNvSpPr/>
          <p:nvPr/>
        </p:nvSpPr>
        <p:spPr>
          <a:xfrm>
            <a:off x="1600200" y="296799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sector90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sector91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sector92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sector93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figure94" descr="원을 똑같이 4조각으로 나누고 3조각 색칠"/>
          <p:cNvSpPr/>
          <p:nvPr/>
        </p:nvSpPr>
        <p:spPr>
          <a:xfrm>
            <a:off x="8033004" y="246507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나타내요</a:t>
            </a:r>
            <a:endParaRPr lang="ko-KR" sz="4000" dirty="0"/>
          </a:p>
        </p:txBody>
      </p:sp>
      <p:sp>
        <p:nvSpPr>
          <p:cNvPr id="3" name="S07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부분을 분수로 쓰고 읽어요.</a:t>
            </a:r>
            <a:endParaRPr lang="ko-KR" sz="3000" dirty="0"/>
          </a:p>
        </p:txBody>
      </p:sp>
      <p:sp>
        <p:nvSpPr>
          <p:cNvPr id="4" name="S07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몇으로 똑같이 나누었나요? 몇 칸을 색칠했나요?</a:t>
            </a:r>
            <a:endParaRPr lang="ko-KR" sz="3000" dirty="0"/>
          </a:p>
        </p:txBody>
      </p:sp>
      <p:sp>
        <p:nvSpPr>
          <p:cNvPr id="6" name="S07-chip9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sector99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6200000"/>
              <a:gd name="adj2" fmla="val 19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sector100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9800000"/>
              <a:gd name="adj2" fmla="val 1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sector101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80000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sector102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54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sector103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9000000"/>
              <a:gd name="adj2" fmla="val 126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sector104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26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figure105" descr="원을 똑같이 6조각으로 나누고 1조각 색칠"/>
          <p:cNvSpPr/>
          <p:nvPr/>
        </p:nvSpPr>
        <p:spPr>
          <a:xfrm>
            <a:off x="2896362" y="201168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chip10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07-cell107"/>
          <p:cNvSpPr/>
          <p:nvPr/>
        </p:nvSpPr>
        <p:spPr>
          <a:xfrm>
            <a:off x="7072884" y="2423160"/>
            <a:ext cx="91348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108"/>
          <p:cNvSpPr/>
          <p:nvPr/>
        </p:nvSpPr>
        <p:spPr>
          <a:xfrm>
            <a:off x="7986370" y="2423160"/>
            <a:ext cx="91348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09"/>
          <p:cNvSpPr/>
          <p:nvPr/>
        </p:nvSpPr>
        <p:spPr>
          <a:xfrm>
            <a:off x="8899855" y="2423160"/>
            <a:ext cx="91348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110"/>
          <p:cNvSpPr/>
          <p:nvPr/>
        </p:nvSpPr>
        <p:spPr>
          <a:xfrm>
            <a:off x="9813341" y="2423160"/>
            <a:ext cx="91348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111"/>
          <p:cNvSpPr/>
          <p:nvPr/>
        </p:nvSpPr>
        <p:spPr>
          <a:xfrm>
            <a:off x="10726826" y="2423160"/>
            <a:ext cx="91348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figure112" descr="똑같이 5칸으로 나눈 띠, 2칸 색칠"/>
          <p:cNvSpPr/>
          <p:nvPr/>
        </p:nvSpPr>
        <p:spPr>
          <a:xfrm>
            <a:off x="7072884" y="2423160"/>
            <a:ext cx="4567428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7-chip11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2" name="S07-sector114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sector115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89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sector116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0"/>
              <a:gd name="adj2" fmla="val 27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sector117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sector118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sector119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sector120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sector121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122" descr="원을 똑같이 8조각으로 나누고 3조각 색칠"/>
          <p:cNvSpPr/>
          <p:nvPr/>
        </p:nvSpPr>
        <p:spPr>
          <a:xfrm>
            <a:off x="2896362" y="365760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7-chip12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32" name="S07-cell124"/>
          <p:cNvSpPr/>
          <p:nvPr/>
        </p:nvSpPr>
        <p:spPr>
          <a:xfrm>
            <a:off x="7072884" y="4069080"/>
            <a:ext cx="152247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125"/>
          <p:cNvSpPr/>
          <p:nvPr/>
        </p:nvSpPr>
        <p:spPr>
          <a:xfrm>
            <a:off x="8595360" y="4069080"/>
            <a:ext cx="152247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126"/>
          <p:cNvSpPr/>
          <p:nvPr/>
        </p:nvSpPr>
        <p:spPr>
          <a:xfrm>
            <a:off x="10117836" y="4069080"/>
            <a:ext cx="152247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figure127" descr="똑같이 3칸으로 나눈 띠, 2칸 색칠"/>
          <p:cNvSpPr/>
          <p:nvPr/>
        </p:nvSpPr>
        <p:spPr>
          <a:xfrm>
            <a:off x="7072884" y="4069080"/>
            <a:ext cx="4567428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1일까요?</a:t>
            </a:r>
            <a:endParaRPr lang="ko-KR" sz="4000" dirty="0"/>
          </a:p>
        </p:txBody>
      </p:sp>
      <p:sp>
        <p:nvSpPr>
          <p:cNvPr id="3" name="S08-card1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다른 4조각 중 1조각을 색칠했어요.</a:t>
            </a:r>
            <a:endParaRPr lang="ko-KR" sz="3000" dirty="0"/>
          </a:p>
        </p:txBody>
      </p:sp>
      <p:sp>
        <p:nvSpPr>
          <p:cNvPr id="5" name="S08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까닭을 말해요.</a:t>
            </a:r>
            <a:endParaRPr lang="ko-KR" sz="3000" dirty="0"/>
          </a:p>
        </p:txBody>
      </p:sp>
      <p:sp>
        <p:nvSpPr>
          <p:cNvPr id="7" name="S08-chip1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4분의 1이에요</a:t>
            </a:r>
            <a:endParaRPr lang="ko-KR" sz="2400" dirty="0"/>
          </a:p>
        </p:txBody>
      </p:sp>
      <p:sp>
        <p:nvSpPr>
          <p:cNvPr id="8" name="S08-label133"/>
          <p:cNvSpPr txBox="1"/>
          <p:nvPr/>
        </p:nvSpPr>
        <p:spPr>
          <a:xfrm>
            <a:off x="548640" y="354025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9" name="S08-cell134"/>
          <p:cNvSpPr/>
          <p:nvPr/>
        </p:nvSpPr>
        <p:spPr>
          <a:xfrm>
            <a:off x="1600200" y="3540252"/>
            <a:ext cx="172455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35"/>
          <p:cNvSpPr/>
          <p:nvPr/>
        </p:nvSpPr>
        <p:spPr>
          <a:xfrm>
            <a:off x="3324758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36"/>
          <p:cNvSpPr/>
          <p:nvPr/>
        </p:nvSpPr>
        <p:spPr>
          <a:xfrm>
            <a:off x="4402607" y="3540252"/>
            <a:ext cx="86227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37"/>
          <p:cNvSpPr/>
          <p:nvPr/>
        </p:nvSpPr>
        <p:spPr>
          <a:xfrm>
            <a:off x="5264887" y="3540252"/>
            <a:ext cx="64670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figure138" descr="크기가 다른 4조각 중 가장 큰 조각 색칠"/>
          <p:cNvSpPr/>
          <p:nvPr/>
        </p:nvSpPr>
        <p:spPr>
          <a:xfrm>
            <a:off x="1600200" y="3540252"/>
            <a:ext cx="4311396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8-text139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“4조각 중 1조각이니까요.”</a:t>
            </a:r>
            <a:endParaRPr lang="ko-KR" sz="2400" dirty="0"/>
          </a:p>
        </p:txBody>
      </p:sp>
      <p:sp>
        <p:nvSpPr>
          <p:cNvPr id="15" name="S08-chip1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4분의 1이 아니에요</a:t>
            </a:r>
            <a:endParaRPr lang="ko-KR" sz="2400" dirty="0"/>
          </a:p>
        </p:txBody>
      </p:sp>
      <p:sp>
        <p:nvSpPr>
          <p:cNvPr id="16" name="S08-num141"/>
          <p:cNvSpPr txBox="1"/>
          <p:nvPr/>
        </p:nvSpPr>
        <p:spPr>
          <a:xfrm>
            <a:off x="6499670" y="3464814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700" dirty="0"/>
          </a:p>
        </p:txBody>
      </p:sp>
      <p:sp>
        <p:nvSpPr>
          <p:cNvPr id="17" name="S08-fracbar142"/>
          <p:cNvSpPr/>
          <p:nvPr/>
        </p:nvSpPr>
        <p:spPr>
          <a:xfrm>
            <a:off x="6536246" y="3906012"/>
            <a:ext cx="396621" cy="0"/>
          </a:xfrm>
          <a:prstGeom prst="line">
            <a:avLst/>
          </a:prstGeom>
          <a:noFill/>
          <a:ln w="21431">
            <a:solidFill>
              <a:srgbClr val="1F2937"/>
            </a:solidFill>
            <a:prstDash val="solid"/>
          </a:ln>
        </p:spPr>
      </p:sp>
      <p:sp>
        <p:nvSpPr>
          <p:cNvPr id="18" name="S08-num143"/>
          <p:cNvSpPr txBox="1"/>
          <p:nvPr/>
        </p:nvSpPr>
        <p:spPr>
          <a:xfrm>
            <a:off x="6499670" y="3942588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9" name="S08-cell144"/>
          <p:cNvSpPr/>
          <p:nvPr/>
        </p:nvSpPr>
        <p:spPr>
          <a:xfrm>
            <a:off x="7328916" y="3540252"/>
            <a:ext cx="1077849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45"/>
          <p:cNvSpPr/>
          <p:nvPr/>
        </p:nvSpPr>
        <p:spPr>
          <a:xfrm>
            <a:off x="8406765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46"/>
          <p:cNvSpPr/>
          <p:nvPr/>
        </p:nvSpPr>
        <p:spPr>
          <a:xfrm>
            <a:off x="9484614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cell147"/>
          <p:cNvSpPr/>
          <p:nvPr/>
        </p:nvSpPr>
        <p:spPr>
          <a:xfrm>
            <a:off x="10562463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figure148" descr="똑같이 4칸으로 나눈 띠, 1칸 색칠"/>
          <p:cNvSpPr/>
          <p:nvPr/>
        </p:nvSpPr>
        <p:spPr>
          <a:xfrm>
            <a:off x="7328916" y="3540252"/>
            <a:ext cx="4311396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8-text149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“4분의 1은 이만큼이에요.”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쓰고, 물음에 답해요.</a:t>
            </a:r>
            <a:endParaRPr lang="ko-KR" sz="3000" dirty="0"/>
          </a:p>
        </p:txBody>
      </p:sp>
      <p:sp>
        <p:nvSpPr>
          <p:cNvPr id="4" name="S09-chip151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sector152"/>
          <p:cNvSpPr/>
          <p:nvPr/>
        </p:nvSpPr>
        <p:spPr>
          <a:xfrm>
            <a:off x="2622042" y="2011680"/>
            <a:ext cx="2011680" cy="201168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sector153"/>
          <p:cNvSpPr/>
          <p:nvPr/>
        </p:nvSpPr>
        <p:spPr>
          <a:xfrm>
            <a:off x="2622042" y="2011680"/>
            <a:ext cx="2011680" cy="201168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sector154"/>
          <p:cNvSpPr/>
          <p:nvPr/>
        </p:nvSpPr>
        <p:spPr>
          <a:xfrm>
            <a:off x="2622042" y="2011680"/>
            <a:ext cx="2011680" cy="201168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figure155" descr="원을 똑같이 3조각으로 나누고 2조각 색칠"/>
          <p:cNvSpPr/>
          <p:nvPr/>
        </p:nvSpPr>
        <p:spPr>
          <a:xfrm>
            <a:off x="2622042" y="2011680"/>
            <a:ext cx="2011680" cy="2011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9-chip156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9-cell157"/>
          <p:cNvSpPr/>
          <p:nvPr/>
        </p:nvSpPr>
        <p:spPr>
          <a:xfrm>
            <a:off x="7072884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158"/>
          <p:cNvSpPr/>
          <p:nvPr/>
        </p:nvSpPr>
        <p:spPr>
          <a:xfrm>
            <a:off x="7834122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cell159"/>
          <p:cNvSpPr/>
          <p:nvPr/>
        </p:nvSpPr>
        <p:spPr>
          <a:xfrm>
            <a:off x="8595360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cell160"/>
          <p:cNvSpPr/>
          <p:nvPr/>
        </p:nvSpPr>
        <p:spPr>
          <a:xfrm>
            <a:off x="9356598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161"/>
          <p:cNvSpPr/>
          <p:nvPr/>
        </p:nvSpPr>
        <p:spPr>
          <a:xfrm>
            <a:off x="10117836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62"/>
          <p:cNvSpPr/>
          <p:nvPr/>
        </p:nvSpPr>
        <p:spPr>
          <a:xfrm>
            <a:off x="10879074" y="2697480"/>
            <a:ext cx="7612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figure163" descr="똑같이 6칸으로 나눈 띠, 5칸 색칠"/>
          <p:cNvSpPr/>
          <p:nvPr/>
        </p:nvSpPr>
        <p:spPr>
          <a:xfrm>
            <a:off x="7072884" y="2697480"/>
            <a:ext cx="4567428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9-chip1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09-text1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②에서 색칠하지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않은 부분은?</a:t>
            </a:r>
            <a:endParaRPr lang="ko-KR" sz="3000" dirty="0"/>
          </a:p>
        </p:txBody>
      </p:sp>
      <p:sp>
        <p:nvSpPr>
          <p:cNvPr id="19" name="S09-chip1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09-text1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4의 분모와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똑같이 나눈 전체 칸 수예요. 틀리면 S05로 돌아가요.</a:t>
            </a:r>
            <a:endParaRPr lang="ko-KR" sz="3000" dirty="0"/>
          </a:p>
        </p:txBody>
      </p:sp>
      <p:sp>
        <p:nvSpPr>
          <p:cNvPr id="5" name="S10-chip1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171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3분의 2</a:t>
            </a:r>
            <a:endParaRPr lang="ko-KR" sz="3000" dirty="0"/>
          </a:p>
        </p:txBody>
      </p:sp>
      <p:sp>
        <p:nvSpPr>
          <p:cNvPr id="7" name="S10-text172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3조각 중 2</a:t>
            </a:r>
            <a:endParaRPr lang="ko-KR" sz="2400" dirty="0"/>
          </a:p>
        </p:txBody>
      </p:sp>
      <p:sp>
        <p:nvSpPr>
          <p:cNvPr id="8" name="S10-text173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6분의 5</a:t>
            </a:r>
            <a:endParaRPr lang="ko-KR" sz="3000" dirty="0"/>
          </a:p>
        </p:txBody>
      </p:sp>
      <p:sp>
        <p:nvSpPr>
          <p:cNvPr id="9" name="S10-text174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6칸 중 5칸</a:t>
            </a:r>
            <a:endParaRPr lang="ko-KR" sz="2400" dirty="0"/>
          </a:p>
        </p:txBody>
      </p:sp>
      <p:sp>
        <p:nvSpPr>
          <p:cNvPr id="10" name="S10-text175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6분의 1</a:t>
            </a:r>
            <a:endParaRPr lang="ko-KR" sz="3000" dirty="0"/>
          </a:p>
        </p:txBody>
      </p:sp>
      <p:sp>
        <p:nvSpPr>
          <p:cNvPr id="11" name="S10-text176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1칸</a:t>
            </a:r>
            <a:endParaRPr lang="ko-KR" sz="2400" dirty="0"/>
          </a:p>
        </p:txBody>
      </p:sp>
      <p:sp>
        <p:nvSpPr>
          <p:cNvPr id="12" name="S10-text177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분모 7, 분자 4</a:t>
            </a:r>
            <a:endParaRPr lang="ko-KR" sz="3000" dirty="0"/>
          </a:p>
        </p:txBody>
      </p:sp>
      <p:sp>
        <p:nvSpPr>
          <p:cNvPr id="13" name="S10-chip17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4" name="S10-text17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2분의 3</a:t>
            </a:r>
            <a:endParaRPr lang="ko-KR" sz="3000" dirty="0"/>
          </a:p>
        </p:txBody>
      </p:sp>
      <p:sp>
        <p:nvSpPr>
          <p:cNvPr id="15" name="S10-text18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분모·분자를 바꿈</a:t>
            </a:r>
            <a:endParaRPr lang="ko-KR" sz="2400" dirty="0"/>
          </a:p>
        </p:txBody>
      </p:sp>
      <p:sp>
        <p:nvSpPr>
          <p:cNvPr id="16" name="S10-text18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1분의 5</a:t>
            </a:r>
            <a:endParaRPr lang="ko-KR" sz="3000" dirty="0"/>
          </a:p>
        </p:txBody>
      </p:sp>
      <p:sp>
        <p:nvSpPr>
          <p:cNvPr id="17" name="S10-text18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분모에 빈칸 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 찾기</a:t>
            </a:r>
            <a:endParaRPr lang="ko-KR" sz="4000" dirty="0"/>
          </a:p>
        </p:txBody>
      </p:sp>
      <p:sp>
        <p:nvSpPr>
          <p:cNvPr id="3" name="S11-text1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1만큼 색칠한 것을 모두 골라요.</a:t>
            </a:r>
            <a:endParaRPr lang="ko-KR" sz="3000" dirty="0"/>
          </a:p>
        </p:txBody>
      </p:sp>
      <p:sp>
        <p:nvSpPr>
          <p:cNvPr id="4" name="S11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고르지 않은 까닭을 말해요.</a:t>
            </a:r>
            <a:endParaRPr lang="ko-KR" sz="3000" dirty="0"/>
          </a:p>
        </p:txBody>
      </p:sp>
      <p:sp>
        <p:nvSpPr>
          <p:cNvPr id="6" name="S11-chip18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sector187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1-sector188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1-sector189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1-sector190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figure191" descr="원을 똑같이 4조각으로 나누고 1조각 색칠"/>
          <p:cNvSpPr/>
          <p:nvPr/>
        </p:nvSpPr>
        <p:spPr>
          <a:xfrm>
            <a:off x="2919222" y="201168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1-chip19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11-cell193"/>
          <p:cNvSpPr/>
          <p:nvPr/>
        </p:nvSpPr>
        <p:spPr>
          <a:xfrm>
            <a:off x="7072884" y="2354580"/>
            <a:ext cx="456743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cell194"/>
          <p:cNvSpPr/>
          <p:nvPr/>
        </p:nvSpPr>
        <p:spPr>
          <a:xfrm>
            <a:off x="7529627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cell195"/>
          <p:cNvSpPr/>
          <p:nvPr/>
        </p:nvSpPr>
        <p:spPr>
          <a:xfrm>
            <a:off x="8899855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cell196"/>
          <p:cNvSpPr/>
          <p:nvPr/>
        </p:nvSpPr>
        <p:spPr>
          <a:xfrm>
            <a:off x="10270084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figure197" descr="크기가 다른 4조각 중 가장 작은 조각 색칠"/>
          <p:cNvSpPr/>
          <p:nvPr/>
        </p:nvSpPr>
        <p:spPr>
          <a:xfrm>
            <a:off x="7072884" y="235458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1-chip19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9" name="S11-cell199"/>
          <p:cNvSpPr/>
          <p:nvPr/>
        </p:nvSpPr>
        <p:spPr>
          <a:xfrm>
            <a:off x="2942082" y="372618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cell200"/>
          <p:cNvSpPr/>
          <p:nvPr/>
        </p:nvSpPr>
        <p:spPr>
          <a:xfrm>
            <a:off x="3627882" y="3726180"/>
            <a:ext cx="685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cell201"/>
          <p:cNvSpPr/>
          <p:nvPr/>
        </p:nvSpPr>
        <p:spPr>
          <a:xfrm>
            <a:off x="2942082" y="4411980"/>
            <a:ext cx="685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cell202"/>
          <p:cNvSpPr/>
          <p:nvPr/>
        </p:nvSpPr>
        <p:spPr>
          <a:xfrm>
            <a:off x="3627882" y="4411980"/>
            <a:ext cx="685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1-figure203" descr="정사각형을 똑같이 4칸으로 나누고 1칸 색칠"/>
          <p:cNvSpPr/>
          <p:nvPr/>
        </p:nvSpPr>
        <p:spPr>
          <a:xfrm>
            <a:off x="2942082" y="372618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1-chip204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5" name="S11-sector205"/>
          <p:cNvSpPr/>
          <p:nvPr/>
        </p:nvSpPr>
        <p:spPr>
          <a:xfrm>
            <a:off x="8647938" y="3703320"/>
            <a:ext cx="1417320" cy="141732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1-sector206"/>
          <p:cNvSpPr/>
          <p:nvPr/>
        </p:nvSpPr>
        <p:spPr>
          <a:xfrm>
            <a:off x="8647938" y="3703320"/>
            <a:ext cx="1417320" cy="141732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1-sector207"/>
          <p:cNvSpPr/>
          <p:nvPr/>
        </p:nvSpPr>
        <p:spPr>
          <a:xfrm>
            <a:off x="8647938" y="3703320"/>
            <a:ext cx="1417320" cy="141732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1-figure208" descr="원을 똑같이 3조각으로 나누고 1조각 색칠"/>
          <p:cNvSpPr/>
          <p:nvPr/>
        </p:nvSpPr>
        <p:spPr>
          <a:xfrm>
            <a:off x="8647938" y="370332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20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1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나누어야 분수로 나타낼 수 있어요.</a:t>
            </a:r>
            <a:endParaRPr lang="ko-KR" sz="3000" dirty="0"/>
          </a:p>
        </p:txBody>
      </p:sp>
      <p:sp>
        <p:nvSpPr>
          <p:cNvPr id="5" name="S12-chip21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똑같이 나누었는지 먼저 보기</a:t>
            </a:r>
            <a:endParaRPr lang="ko-KR" sz="2400" dirty="0"/>
          </a:p>
        </p:txBody>
      </p:sp>
      <p:sp>
        <p:nvSpPr>
          <p:cNvPr id="6" name="S12-chip21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크기가 다른 조각 세기</a:t>
            </a:r>
            <a:endParaRPr lang="ko-KR" sz="2400" dirty="0"/>
          </a:p>
        </p:txBody>
      </p:sp>
      <p:sp>
        <p:nvSpPr>
          <p:cNvPr id="7" name="S12-text21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21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똑같이 5로 나눈 것 중의 2를 분수로</a:t>
            </a:r>
            <a:endParaRPr lang="ko-KR" sz="2400" dirty="0"/>
          </a:p>
        </p:txBody>
      </p:sp>
      <p:sp>
        <p:nvSpPr>
          <p:cNvPr id="9" name="S12-text21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8분의 3의 분모는?</a:t>
            </a:r>
            <a:endParaRPr lang="ko-KR" sz="2400" dirty="0"/>
          </a:p>
        </p:txBody>
      </p:sp>
      <p:sp>
        <p:nvSpPr>
          <p:cNvPr id="10" name="S12-text21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띠를 똑같이 3칸으로 나누고 1칸 색칠하기</a:t>
            </a:r>
            <a:endParaRPr lang="ko-KR" sz="2400" dirty="0"/>
          </a:p>
        </p:txBody>
      </p:sp>
      <p:sp>
        <p:nvSpPr>
          <p:cNvPr id="11" name="S12-text2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단위분수와 크기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반으로 접기</a:t>
            </a:r>
            <a:endParaRPr lang="ko-KR" sz="4000" dirty="0"/>
          </a:p>
        </p:txBody>
      </p:sp>
      <p:sp>
        <p:nvSpPr>
          <p:cNvPr id="3" name="S13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띠를 반으로 접고, 또 반으로 접어요.</a:t>
            </a:r>
            <a:endParaRPr lang="ko-KR" sz="3000" dirty="0"/>
          </a:p>
        </p:txBody>
      </p:sp>
      <p:sp>
        <p:nvSpPr>
          <p:cNvPr id="4" name="S13-card21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2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반으로 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2칸</a:t>
            </a:r>
            <a:endParaRPr lang="ko-KR" sz="3000" dirty="0"/>
          </a:p>
        </p:txBody>
      </p:sp>
      <p:sp>
        <p:nvSpPr>
          <p:cNvPr id="6" name="S13-card22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2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4칸</a:t>
            </a:r>
            <a:endParaRPr lang="ko-KR" sz="3000" dirty="0"/>
          </a:p>
        </p:txBody>
      </p:sp>
      <p:sp>
        <p:nvSpPr>
          <p:cNvPr id="8" name="S13-cell223"/>
          <p:cNvSpPr/>
          <p:nvPr/>
        </p:nvSpPr>
        <p:spPr>
          <a:xfrm>
            <a:off x="1065276" y="2428494"/>
            <a:ext cx="5029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224"/>
          <p:cNvSpPr/>
          <p:nvPr/>
        </p:nvSpPr>
        <p:spPr>
          <a:xfrm>
            <a:off x="6094476" y="2428494"/>
            <a:ext cx="5029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figure225" descr="똑같이 2칸으로 나눈 띠"/>
          <p:cNvSpPr/>
          <p:nvPr/>
        </p:nvSpPr>
        <p:spPr>
          <a:xfrm>
            <a:off x="1065276" y="2428494"/>
            <a:ext cx="10058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ell226"/>
          <p:cNvSpPr/>
          <p:nvPr/>
        </p:nvSpPr>
        <p:spPr>
          <a:xfrm>
            <a:off x="10652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27"/>
          <p:cNvSpPr/>
          <p:nvPr/>
        </p:nvSpPr>
        <p:spPr>
          <a:xfrm>
            <a:off x="35798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28"/>
          <p:cNvSpPr/>
          <p:nvPr/>
        </p:nvSpPr>
        <p:spPr>
          <a:xfrm>
            <a:off x="60944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29"/>
          <p:cNvSpPr/>
          <p:nvPr/>
        </p:nvSpPr>
        <p:spPr>
          <a:xfrm>
            <a:off x="86090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figure230" descr="똑같이 4칸으로 나눈 띠"/>
          <p:cNvSpPr/>
          <p:nvPr/>
        </p:nvSpPr>
        <p:spPr>
          <a:xfrm>
            <a:off x="1065276" y="3507486"/>
            <a:ext cx="10058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분수의 뜻</dc:title>
  <dc:subject>KR22-G03-MAT-FRAC-L01</dc:subject>
  <dc:creator>education-ppt</dc:creator>
  <cp:lastModifiedBy>education-ppt</cp:lastModifiedBy>
  <cp:revision>1</cp:revision>
  <dcterms:created xsi:type="dcterms:W3CDTF">2026-10-26T07:47:27Z</dcterms:created>
  <dcterms:modified xsi:type="dcterms:W3CDTF">2026-10-26T07:47:27Z</dcterms:modified>
</cp:coreProperties>
</file>