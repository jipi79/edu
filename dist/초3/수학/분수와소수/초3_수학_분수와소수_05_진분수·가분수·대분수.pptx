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dba403-44a5-4860-be54-6c065fa86340}">
          <p14:sldIdLst>
            <p14:sldId id="256"/>
            <p14:sldId id="257"/>
          </p14:sldIdLst>
        </p14:section>
        <p14:section name="개념" id="{17e69400-5ff9-96dd-e9c5-14bdba9d1732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816963b5-277f-278f-89c1-ae2d1d0b772f}">
          <p14:sldIdLst>
            <p14:sldId id="261"/>
            <p14:sldId id="262"/>
            <p14:sldId id="265"/>
          </p14:sldIdLst>
        </p14:section>
        <p14:section name="개념" id="{ea834bb1-6d20-9b3f-3275-a415d29621ed}">
          <p14:sldIdLst/>
        </p14:section>
        <p14:section name="연습" id="{97227286-2d87-fc0f-b3e0-866bd9e2ff70}">
          <p14:sldIdLst/>
        </p14:section>
        <p14:section name="확인" id="{c07ca857-737a-1abe-3bc0-515732cd1b79}">
          <p14:sldIdLst>
            <p14:sldId id="266"/>
            <p14:sldId id="267"/>
            <p14:sldId id="268"/>
          </p14:sldIdLst>
        </p14:section>
        <p14:section name="정리" id="{b8b657b6-142a-9f72-8882-bced3ea97ccd}">
          <p14:sldIdLst>
            <p14:sldId id="269"/>
          </p14:sldIdLst>
        </p14:section>
        <p14:section name="보충" id="{6cf07f24-786a-e1cf-2ad2-fed10dd5cbf2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1보다 큰 양도 분수로 나타낼 수 있다는 것을 궁금하게 합니다.
시간: 약 2분
이렇게 말해 보세요
- “지금까지 배운 분수는 4분의 3처럼 분자가 분모보다 작았지? 오늘은 분자가 분모보다 큰 분수를 만나 볼 거야.”
- “오른쪽 띠는 4칸 중 몇 칸이 색칠되었을까? 띠가 두 개야.”
예상 답
- “4칸이랑 1칸, 모두 5칸이요.” “4분의 5인가요?” “잘 모르겠어요.”
막히면
- 답을 확인하지 않고 넘어갑니다. S04에서 같은 그림을 자세히 봅니다.
주의
- 띠 하나가 ‘1’입니다. 두 띠의 길이가 같아야 합니다. 오늘은 같은 길이의 종이 띠 4장을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확인(분수의 뜻, 단위분수, 묶음)]
목적: 분수의 뜻, 단위분수가 몇 개인지 세기, 지난 차시의 ‘분수만큼은 얼마’를 할 수 있는지 확인합니다. 오늘 바꾸기는 단위분수의 개수를 세는 일입니다.
시간: 약 3분
이렇게 말해 보세요
- “①에서 색칠한 부분은 전체의 얼마야?”
- “②의 6분의 5는 6분의 1이 몇 개 모인 거야? ③은 지난 시간에 배운 거야.”
정답
- ① 5분의 2
- ② 5개
- ③ 4 (12 ÷ 3 = 4)
막히면
- ②가 어려우면 6칸 띠를 그려 한 칸씩 짚으며 “6분의 1, 6분의 2 … 6분의 5”라고 셉니다.
- ①②를 틀리면 S15(보충)를 먼저 합니다. 보충으로도 어려우면 초3 ‘단위분수와 크기 비교’(KR22-G03-MAT-UNITFRAC-L01)를 다시 합니다. ③만 틀리면 앞 차시 ‘묶음을 분수로’(KR22-G03-MAT-FRACSET-L01)의 S07을 다시 봅니다.
주의
- 오늘 가장 중요한 선수 학습은 ②(단위분수가 몇 개)입니다.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진분수의 뜻]
목적: 분자가 분모보다 작은 분수를 진분수라고 하며, 진분수는 1보다 작다는 것을 띠로 봅니다.
시간: 약 2분
이렇게 말해 보세요
- “세 분수는 분자와 분모 중 어느 쪽이 더 커? 이런 분수를 ‘진분수’라고 해.”
- “띠 하나가 1이야. 진분수만큼 색칠하면 띠가 다 찼어?”
예상 답
- “분모가 더 커요.” “다 안 찼어요. 1보다 작아요.”
막히면
- 종이 띠를 4칸으로 접어 1칸, 2칸, 3칸을 차례로 색칠해 보게 합니다.
주의
- 지금까지 배운 분수는 모두 진분수였다고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가분수의 뜻]
목적: 분자가 분모와 같거나 분모보다 큰 분수를 가분수라고 하며, 4분의 4는 1과 같고 4분의 5는 1보다 크다는 것을 띠로 봅니다.
시간: 약 3분
이렇게 말해 보세요
- “4분의 1이 4개 모이면 띠 하나가 꽉 차지? 그래서 4분의 4는 1이야.”
- “4분의 5는 4분의 1이 몇 개야? 띠 하나로 모자라서 띠가 하나 더 필요해.”
- “세 분수는 분자와 분모 중 어느 쪽이 더 커? 같은 것도 있어?”
예상 답
- “4분의 5는 4분의 1이 5개예요.” “분자가 더 크거나 같아요.”
막히면
- 종이 띠 두 장을 4칸으로 접어, 한 칸씩 색칠하며 “4분의 1, 4분의 2 … 4분의 5”라고 셉니다. 첫 띠가 다 차면 다음 띠로 넘어갑니다.
주의
- 4분의 4처럼 분자와 분모가 같은 분수도 가분수입니다(M1). ‘가분수’라는 이름보다 ‘1과 같거나 1보다 크다’는 뜻이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자연수와 대분수의 뜻]
목적: 1, 2, 3과 같은 수를 자연수라고 하고, 자연수와 진분수로 된 분수(대분수)를 쓰고 읽습니다. 4분의 5를 대분수로 나타낼 수 있음을 봅니다.
시간: 약 3분
이렇게 말해 보세요
- “S04의 4분의 5를 다시 보자. 다 찬 띠 하나는 1이지? 남은 것은 4분의 1이야.”
- “그래서 4분의 5를 ‘1과 4분의 1’이라고도 써. 자연수 1을 크게 쓰고 바로 옆에 4분의 1을 붙여 써.”
예상 답
- “1과 4분의 1이요.”
막히면
- 공책에 부모가 먼저 크게 써 보이고 따라 쓰게 합니다. 자연수와 분수 사이를 너무 띄우지 않습니다.
주의
- ‘1과 4분의 1’은 1 × 4분의 1이 아니라 1에 4분의 1을 더한 크기입니다. 대분수는 1보다 큽니다(M4).
- 대분수의 분수 부분은 항상 진분수입니다(1과 4분의 5처럼 쓰지 않습니다).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연습(분류하기)]
목적: 도움을 받으며 분자와 분모를 비교해 진분수·가분수를 가르고, 자연수가 붙은 대분수를 알아봅니다.
시간: 약 3분
이렇게 말해 보세요
- “①은 분자와 분모 중 어느 쪽이 커? 그러면 무슨 분수야?”
- “③과 ⑤는 앞에 자연수가 있어. 이런 분수는 뭐라고 했지?”
정답
- ① 진분수 ② 가분수 ③ 대분수(2와 3분의 1) ④ 가분수(분자와 분모가 같음, 1과 같음) ⑤ 대분수(1과 8분의 5) ⑥ 가분수
막히면
- 분자와 분모에 손가락을 하나씩 대고 “어느 수가 더 커?”만 묻습니다. 그다음 S03·S04 가운데 맞는 장을 떠올리게 합니다.
주의
- ④를 진분수라고 하면 S07에서 바로 다룹니다(M1).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비교(분자와 분모가 같은 분수)]
목적: 분자와 분모가 같은 분수를 진분수로 잘못 분류하는 실수를 찾고, 진분수는 1보다 작고 가분수는 1과 같거나 크다는 것으로 설명합니다(M1).
시간: 약 3분
이렇게 말해 보세요
- “토끼와 곰이 5분의 5를 다르게 말했어. 누가 맞았을까?”
- “진분수는 분자가 분모보다 어때야 했지? 5분의 5는 띠가 다 찼어?”
예상 답
- “곰이요. 띠가 꽉 차서 1이에요.” “진분수는 분자가 분모보다 작아야 해요.”
정답
- 곰이 맞습니다. 5분의 5는 분자와 분모가 같은 가분수이고 1과 같습니다.
- 진분수는 분자가 분모보다 ‘작은’ 분수입니다. 같은 것은 진분수가 아닙니다.
막히면
- 5칸 띠를 한 칸씩 색칠하며 다 찼을 때 “이제 1이 됐어. 1보다 작아?”라고 묻습니다.
주의
- 여기까지가 목표 ①(구별하기)입니다.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대분수를 가분수로 바꾸기(시범)]
목적: 대분수를 가분수로 바꿀 때 자연수 1을 4분의 4로 보고 단위분수(4분의 1)의 개수를 모두 센다는 것을 시범으로 보입니다.
시간: 약 4분
이렇게 말해 보세요
- “1과 4분의 3을 띠로 나타냈어. 왼쪽 띠는 4분의 1이 몇 개야? 오른쪽 띠는?”
- “모두 4분의 1이 몇 개야? 그러면 4분의 몇이야?”
예상 답
- “4개, 3개, 모두 7개라서 4분의 7이에요.”
막히면
- 띠의 칸을 한 칸씩 짚으며 1부터 7까지 셉니다.
- 종이 띠 두 장으로 직접 만들어 봅니다.
주의
- ‘1 + 3 = 4라서 4분의 4’처럼 자연수를 분자에 그냥 더하는 실수가 있습니다(M2). 자연수 1은 4분의 1이 1개가 아니라 4개입니다.
- 자연수가 2이면 4분의 1이 8개(2 × 4)입니다. 곱셈으로 셀 수 있지만, 처음에는 띠를 그려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가분수를 대분수로 바꾸기(시범)]
목적: 가분수를 대분수로 바꿀 때 분모만큼(3분의 3)씩 묶어 1을 만들고, 묶고 남은 것을 진분수로 쓴다는 것을 시범으로 보입니다.
시간: 약 4분
이렇게 말해 보세요
- “3분의 8은 3분의 1이 8개야. 3개씩 묶으면 1이 되지? 몇 번 묶을 수 있어?”
- “묶고 남은 것은 3분의 1이 몇 개야? 그러면 대분수로 어떻게 쓸까?”
예상 답
- “두 번이요. 1이 2개예요.” “2개 남아서 2와 3분의 2예요.”
막히면
- 바둑돌 8개를 3개씩 묶어 봅니다. 묶음 2개와 남은 2개를 확인한 뒤 띠 그림으로 돌아옵니다.
주의
- 2를 찾은 뒤에도 분자를 8 그대로 써서 ‘2와 3분의 8’로 쓰는 실수가 있습니다(M3). 남은 칸만 세게 합니다.
- 나머지가 있는 나눗셈을 배웠다면 8 ÷ 3 = 2 … 2로 확인할 수 있습니다. 몫 2가 자연수, 나머지 2가 분자입니다.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연습(바꾸기)]
목적: 도움을 받으며 대분수를 가분수로, 가분수를 대분수로 바꿉니다.
시간: 약 3분
이렇게 말해 보세요
- “①의 1은 2분의 몇이야? 그러면 2분의 1이 모두 몇 개야?”
- “③은 4분의 9야. 4분의 4씩 몇 번 묶을 수 있어? 남은 것은?”
정답
- ① 2분의 3 (1 = 2분의 2, 2 + 1 = 3)
- ② 5분의 11 (2 = 5분의 10, 10 + 1 = 11)
- ③ 2와 4분의 1 (4분의 4가 2번, 1 남음)
- ④ 1과 6분의 1
막히면
- 띠를 그려 확인하게 합니다. ②는 5칸 띠 세 개(다 칠한 띠 2개와 1칸 칠한 띠)를 그립니다.
주의
- ②를 5분의 3(2 + 1)이라고 하면 자연수를 분자에 그냥 더한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분수의 종류를 구별하고(목표 ①), 대분수와 가분수를 서로 바꾸는지(목표 ②) 확인합니다.
시간: 약 4분
이렇게 말해 보세요
- “이번에는 혼자 해 볼래? 띠를 그려도 돼. 다 하면 어떻게 했는지 말해 줘.”
정답
- ① 가분수 (분자와 분모가 같음, 1과 같음)
- ② 2분의 7 (3 = 2분의 6, 6 + 1 = 7)
- ③ 2와 4분의 3 (4분의 4가 2번, 3 남음)
- ④ 5분의 9 (5 + 4 = 9)
막히면
- 바로 알려 주지 말고 “1은 2분의 몇이야?”, “4분의 4씩 몇 번 묶을 수 있어?”라고만 묻습니다.
- 도움을 받아 해결했다면 기록표에 ‘도움’으로 표시합니다.
주의
- ②를 2분의 4라고 하면 자연수 3을 분자에 그냥 더한 것입니다(M2).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띠를 그려서 같이 세어 보자.”
정답
- ① 가분수 ② 2분의 7 ③ 2와 4분의 3 ④ 5분의 9
막히면
- ①이 틀렸으면 S07을, ②④가 틀렸으면 S08을, ③이 틀렸으면 S09를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확인(그림을 두 가지로)]
목적: 처음 보는 그림에서 같은 양을 가분수와 대분수 두 가지로 나타내고 까닭을 말하는지 확인합니다.
시간: 약 2분
이렇게 말해 보세요
- “띠 하나가 1이야. 색칠한 부분을 가분수로 말하면? 대분수로 말하면? 어떻게 알았어?”
정답
- ① 6분의 11 (6분의 1이 6 + 5 = 11개)
- ② 1과 6분의 5 (다 찬 띠 1개와 6분의 5)
- ③ 기준: ‘6분의 1이 11개’ 또는 ‘다 찬 띠가 1이고 5칸이 남았다’처럼 단위분수나 1을 들어 설명하면 성공
막히면
- 띠의 칸을 한 칸씩 세게 합니다. 다 찬 띠를 손으로 가리고 “이건 얼마야?”라고 묻습니다.
주의
- 두 답을 모두 맞히고 까닭을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“진분수, 가분수, 대분수를 하나씩 설명해 볼래?”
- “1과 4분의 3을 가분수로 바꿀 때 1은 4분의 몇으로 봤지?”
예상 답
- “진분수는 분자가 작고, 가분수는 분자가 같거나 크고, 대분수는 자연수랑 진분수예요.” “4분의 4요.”
정답
- ① 가분수(1과 같음)
- ② 5분의 7
- ③ 2와 3분의 1
막히면
- S03~S05의 띠 그림을 차례로 다시 보여 줍니다.
주의
- 복습 세 문제는 다음 수업을 시작할 때 활동지 마지막 쪽과 함께 풉니다.
- 다음 차시부터는 도형(선분·반직선·직선과 각)을 배웁니다. 분수는 4학년에서 더하기·빼기로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보충(단위분수의 개수)]
목적: S02에서 분수의 뜻이나 ‘단위분수가 몇 개’가 흔들리면, 오늘 바꾸기 전에 단위분수의 개수를 세는 것부터 다시 합니다.
시간: 약 5분
이렇게 말해 보세요
- “띠 한 칸이 4분의 1이야. 첫 띠는 4분의 1이 몇 개 색칠됐어? 둘째 띠는?”
- “4분의 1이 4개면 띠가 다 찼지? 그래서 4분의 4는 1이야.”
정답
- 4분의 3은 4분의 1이 3개, 4분의 4는 4분의 1이 4개이고 1과 같습니다.
막히면
- 종이 띠를 반으로 두 번 접어 4칸을 만들고 한 칸씩 색칠하며 셉니다.
- 3칸 띠(3분의 1이 몇 개), 5칸 띠로도 해 봅니다.
주의
- 보충으로도 어려우면 초3 ‘단위분수와 크기 비교’(KR22-G03-MAT-UNITFRAC-L01)를 먼저 합니다. 계획상 바로 앞 차시는 ‘묶음을 분수로’(KR22-G03-MAT-FRACSET-L01)입니다.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진분수·가분수·대분수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진분수·가분수·대분수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분모보다 큰 분수도 있을까?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68096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8132445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58393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9035415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figure5" descr="똑같이 4칸으로 나눈 띠, 4칸 색칠"/>
          <p:cNvSpPr/>
          <p:nvPr/>
        </p:nvSpPr>
        <p:spPr>
          <a:xfrm>
            <a:off x="7680960" y="1691640"/>
            <a:ext cx="1805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9806940" y="1691640"/>
            <a:ext cx="451485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258425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10709910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1161395" y="1691640"/>
            <a:ext cx="451485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figure10" descr="똑같이 4칸으로 나눈 띠, 1칸 색칠"/>
          <p:cNvSpPr/>
          <p:nvPr/>
        </p:nvSpPr>
        <p:spPr>
          <a:xfrm>
            <a:off x="9806940" y="1691640"/>
            <a:ext cx="1805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1-card1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진분수·가분수·대분수를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대분수와 가분수를 서로 바꿔요.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분수로 말하고, ②③은 답을 구해요.</a:t>
            </a:r>
            <a:endParaRPr lang="ko-KR" sz="3000" dirty="0"/>
          </a:p>
        </p:txBody>
      </p:sp>
      <p:sp>
        <p:nvSpPr>
          <p:cNvPr id="4" name="S02-chip1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15"/>
          <p:cNvSpPr/>
          <p:nvPr/>
        </p:nvSpPr>
        <p:spPr>
          <a:xfrm>
            <a:off x="1344168" y="2240280"/>
            <a:ext cx="109728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6"/>
          <p:cNvSpPr/>
          <p:nvPr/>
        </p:nvSpPr>
        <p:spPr>
          <a:xfrm>
            <a:off x="2441448" y="2240280"/>
            <a:ext cx="109728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7"/>
          <p:cNvSpPr/>
          <p:nvPr/>
        </p:nvSpPr>
        <p:spPr>
          <a:xfrm>
            <a:off x="353872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8"/>
          <p:cNvSpPr/>
          <p:nvPr/>
        </p:nvSpPr>
        <p:spPr>
          <a:xfrm>
            <a:off x="463600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cell19"/>
          <p:cNvSpPr/>
          <p:nvPr/>
        </p:nvSpPr>
        <p:spPr>
          <a:xfrm>
            <a:off x="5733288" y="2240280"/>
            <a:ext cx="10972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figure20" descr="똑같이 5칸으로 나눈 띠, 2칸 색칠"/>
          <p:cNvSpPr/>
          <p:nvPr/>
        </p:nvSpPr>
        <p:spPr>
          <a:xfrm>
            <a:off x="1344168" y="2240280"/>
            <a:ext cx="5486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2-chip2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02-text2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 5는 6분의 1이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3000" dirty="0"/>
          </a:p>
        </p:txBody>
      </p:sp>
      <p:sp>
        <p:nvSpPr>
          <p:cNvPr id="13" name="S02-chip2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4" name="S02-op24"/>
          <p:cNvSpPr txBox="1"/>
          <p:nvPr/>
        </p:nvSpPr>
        <p:spPr>
          <a:xfrm>
            <a:off x="1344168" y="503174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</a:t>
            </a:r>
            <a:endParaRPr lang="ko-KR" sz="3400" dirty="0"/>
          </a:p>
        </p:txBody>
      </p:sp>
      <p:sp>
        <p:nvSpPr>
          <p:cNvPr id="15" name="S02-num25"/>
          <p:cNvSpPr txBox="1"/>
          <p:nvPr/>
        </p:nvSpPr>
        <p:spPr>
          <a:xfrm>
            <a:off x="2703068" y="50317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6" name="S02-fracbar26"/>
          <p:cNvSpPr/>
          <p:nvPr/>
        </p:nvSpPr>
        <p:spPr>
          <a:xfrm>
            <a:off x="2739644" y="55778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7" name="S02-num27"/>
          <p:cNvSpPr txBox="1"/>
          <p:nvPr/>
        </p:nvSpPr>
        <p:spPr>
          <a:xfrm>
            <a:off x="2703068" y="56144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8" name="S02-op28"/>
          <p:cNvSpPr txBox="1"/>
          <p:nvPr/>
        </p:nvSpPr>
        <p:spPr>
          <a:xfrm>
            <a:off x="3375914" y="50317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9" name="S02-blank29"/>
          <p:cNvSpPr/>
          <p:nvPr/>
        </p:nvSpPr>
        <p:spPr>
          <a:xfrm>
            <a:off x="4074104" y="538931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</a:t>
            </a:r>
            <a:endParaRPr lang="ko-KR" sz="4000" dirty="0"/>
          </a:p>
        </p:txBody>
      </p:sp>
      <p:sp>
        <p:nvSpPr>
          <p:cNvPr id="3" name="S03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분모보다 작은 분수를 진분수라고 해요.</a:t>
            </a:r>
            <a:endParaRPr lang="ko-KR" sz="3000" dirty="0"/>
          </a:p>
        </p:txBody>
      </p:sp>
      <p:sp>
        <p:nvSpPr>
          <p:cNvPr id="4" name="S03-card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&lt; 분모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&lt; 4, 2 &lt; 4, 3 &lt; 4</a:t>
            </a:r>
            <a:endParaRPr lang="ko-KR" sz="3000" dirty="0"/>
          </a:p>
        </p:txBody>
      </p:sp>
      <p:sp>
        <p:nvSpPr>
          <p:cNvPr id="6" name="S03-card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1보다 작아요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띠가 다 차지 않아요</a:t>
            </a:r>
            <a:endParaRPr lang="ko-KR" sz="3000" dirty="0"/>
          </a:p>
        </p:txBody>
      </p:sp>
      <p:sp>
        <p:nvSpPr>
          <p:cNvPr id="8" name="S03-num35"/>
          <p:cNvSpPr txBox="1"/>
          <p:nvPr/>
        </p:nvSpPr>
        <p:spPr>
          <a:xfrm>
            <a:off x="790956" y="208711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3-fracbar36"/>
          <p:cNvSpPr/>
          <p:nvPr/>
        </p:nvSpPr>
        <p:spPr>
          <a:xfrm>
            <a:off x="827532" y="2483358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3-num37"/>
          <p:cNvSpPr txBox="1"/>
          <p:nvPr/>
        </p:nvSpPr>
        <p:spPr>
          <a:xfrm>
            <a:off x="790956" y="2519934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1" name="S03-cell38"/>
          <p:cNvSpPr/>
          <p:nvPr/>
        </p:nvSpPr>
        <p:spPr>
          <a:xfrm>
            <a:off x="1600200" y="2163318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9"/>
          <p:cNvSpPr/>
          <p:nvPr/>
        </p:nvSpPr>
        <p:spPr>
          <a:xfrm>
            <a:off x="4110228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0"/>
          <p:cNvSpPr/>
          <p:nvPr/>
        </p:nvSpPr>
        <p:spPr>
          <a:xfrm>
            <a:off x="6620256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41"/>
          <p:cNvSpPr/>
          <p:nvPr/>
        </p:nvSpPr>
        <p:spPr>
          <a:xfrm>
            <a:off x="9130284" y="2163318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figure42" descr="똑같이 4칸으로 나눈 띠, 1칸 색칠"/>
          <p:cNvSpPr/>
          <p:nvPr/>
        </p:nvSpPr>
        <p:spPr>
          <a:xfrm>
            <a:off x="1600200" y="2163318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3-num43"/>
          <p:cNvSpPr txBox="1"/>
          <p:nvPr/>
        </p:nvSpPr>
        <p:spPr>
          <a:xfrm>
            <a:off x="790956" y="298323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03-fracbar44"/>
          <p:cNvSpPr/>
          <p:nvPr/>
        </p:nvSpPr>
        <p:spPr>
          <a:xfrm>
            <a:off x="827532" y="337947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3-num45"/>
          <p:cNvSpPr txBox="1"/>
          <p:nvPr/>
        </p:nvSpPr>
        <p:spPr>
          <a:xfrm>
            <a:off x="790956" y="341604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03-cell46"/>
          <p:cNvSpPr/>
          <p:nvPr/>
        </p:nvSpPr>
        <p:spPr>
          <a:xfrm>
            <a:off x="1600200" y="3059430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7"/>
          <p:cNvSpPr/>
          <p:nvPr/>
        </p:nvSpPr>
        <p:spPr>
          <a:xfrm>
            <a:off x="4110228" y="3059430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8"/>
          <p:cNvSpPr/>
          <p:nvPr/>
        </p:nvSpPr>
        <p:spPr>
          <a:xfrm>
            <a:off x="6620256" y="3059430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9"/>
          <p:cNvSpPr/>
          <p:nvPr/>
        </p:nvSpPr>
        <p:spPr>
          <a:xfrm>
            <a:off x="9130284" y="3059430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figure50" descr="똑같이 4칸으로 나눈 띠, 2칸 색칠"/>
          <p:cNvSpPr/>
          <p:nvPr/>
        </p:nvSpPr>
        <p:spPr>
          <a:xfrm>
            <a:off x="1600200" y="3059430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3-num51"/>
          <p:cNvSpPr txBox="1"/>
          <p:nvPr/>
        </p:nvSpPr>
        <p:spPr>
          <a:xfrm>
            <a:off x="790956" y="3879342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03-fracbar52"/>
          <p:cNvSpPr/>
          <p:nvPr/>
        </p:nvSpPr>
        <p:spPr>
          <a:xfrm>
            <a:off x="827532" y="4275582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03-num53"/>
          <p:cNvSpPr txBox="1"/>
          <p:nvPr/>
        </p:nvSpPr>
        <p:spPr>
          <a:xfrm>
            <a:off x="790956" y="4312158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7" name="S03-cell54"/>
          <p:cNvSpPr/>
          <p:nvPr/>
        </p:nvSpPr>
        <p:spPr>
          <a:xfrm>
            <a:off x="1600200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5"/>
          <p:cNvSpPr/>
          <p:nvPr/>
        </p:nvSpPr>
        <p:spPr>
          <a:xfrm>
            <a:off x="4110228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56"/>
          <p:cNvSpPr/>
          <p:nvPr/>
        </p:nvSpPr>
        <p:spPr>
          <a:xfrm>
            <a:off x="6620256" y="3955542"/>
            <a:ext cx="251002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57"/>
          <p:cNvSpPr/>
          <p:nvPr/>
        </p:nvSpPr>
        <p:spPr>
          <a:xfrm>
            <a:off x="9130284" y="3955542"/>
            <a:ext cx="251002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figure58" descr="똑같이 4칸으로 나눈 띠, 3칸 색칠"/>
          <p:cNvSpPr/>
          <p:nvPr/>
        </p:nvSpPr>
        <p:spPr>
          <a:xfrm>
            <a:off x="1600200" y="3955542"/>
            <a:ext cx="10040112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</a:t>
            </a:r>
            <a:endParaRPr lang="ko-KR" sz="4000" dirty="0"/>
          </a:p>
        </p:txBody>
      </p:sp>
      <p:sp>
        <p:nvSpPr>
          <p:cNvPr id="3" name="S04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분자가 분모와 같거나 분모보다 큰 분수예요.</a:t>
            </a:r>
            <a:endParaRPr lang="ko-KR" sz="3000" dirty="0"/>
          </a:p>
        </p:txBody>
      </p:sp>
      <p:sp>
        <p:nvSpPr>
          <p:cNvPr id="4" name="S04-card60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61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 =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분모가 같으면 1</a:t>
            </a:r>
            <a:endParaRPr lang="ko-KR" sz="3000" dirty="0"/>
          </a:p>
        </p:txBody>
      </p:sp>
      <p:sp>
        <p:nvSpPr>
          <p:cNvPr id="6" name="S04-card62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63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같거나 1보다 커요</a:t>
            </a:r>
            <a:endParaRPr lang="ko-KR" sz="3000" dirty="0"/>
          </a:p>
        </p:txBody>
      </p:sp>
      <p:sp>
        <p:nvSpPr>
          <p:cNvPr id="8" name="S04-cell64"/>
          <p:cNvSpPr/>
          <p:nvPr/>
        </p:nvSpPr>
        <p:spPr>
          <a:xfrm>
            <a:off x="548640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65"/>
          <p:cNvSpPr/>
          <p:nvPr/>
        </p:nvSpPr>
        <p:spPr>
          <a:xfrm>
            <a:off x="1419606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66"/>
          <p:cNvSpPr/>
          <p:nvPr/>
        </p:nvSpPr>
        <p:spPr>
          <a:xfrm>
            <a:off x="2290572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67"/>
          <p:cNvSpPr/>
          <p:nvPr/>
        </p:nvSpPr>
        <p:spPr>
          <a:xfrm>
            <a:off x="3161538" y="272567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68" descr="똑같이 4칸으로 나눈 띠, 4칸 색칠"/>
          <p:cNvSpPr/>
          <p:nvPr/>
        </p:nvSpPr>
        <p:spPr>
          <a:xfrm>
            <a:off x="548640" y="272567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label69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</a:t>
            </a:r>
            <a:endParaRPr lang="ko-KR" sz="2400" dirty="0"/>
          </a:p>
        </p:txBody>
      </p:sp>
      <p:sp>
        <p:nvSpPr>
          <p:cNvPr id="14" name="S04-cell70"/>
          <p:cNvSpPr/>
          <p:nvPr/>
        </p:nvSpPr>
        <p:spPr>
          <a:xfrm>
            <a:off x="4352544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71"/>
          <p:cNvSpPr/>
          <p:nvPr/>
        </p:nvSpPr>
        <p:spPr>
          <a:xfrm>
            <a:off x="5223510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72"/>
          <p:cNvSpPr/>
          <p:nvPr/>
        </p:nvSpPr>
        <p:spPr>
          <a:xfrm>
            <a:off x="6094476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73"/>
          <p:cNvSpPr/>
          <p:nvPr/>
        </p:nvSpPr>
        <p:spPr>
          <a:xfrm>
            <a:off x="6965442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figure74" descr="똑같이 4칸으로 나눈 띠, 4칸 색칠"/>
          <p:cNvSpPr/>
          <p:nvPr/>
        </p:nvSpPr>
        <p:spPr>
          <a:xfrm>
            <a:off x="4352544" y="2186178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cell75"/>
          <p:cNvSpPr/>
          <p:nvPr/>
        </p:nvSpPr>
        <p:spPr>
          <a:xfrm>
            <a:off x="4352544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76"/>
          <p:cNvSpPr/>
          <p:nvPr/>
        </p:nvSpPr>
        <p:spPr>
          <a:xfrm>
            <a:off x="5223510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77"/>
          <p:cNvSpPr/>
          <p:nvPr/>
        </p:nvSpPr>
        <p:spPr>
          <a:xfrm>
            <a:off x="6094476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78"/>
          <p:cNvSpPr/>
          <p:nvPr/>
        </p:nvSpPr>
        <p:spPr>
          <a:xfrm>
            <a:off x="6965442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79" descr="똑같이 4칸으로 나눈 띠, 1칸 색칠"/>
          <p:cNvSpPr/>
          <p:nvPr/>
        </p:nvSpPr>
        <p:spPr>
          <a:xfrm>
            <a:off x="4352544" y="3265170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label80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5</a:t>
            </a:r>
            <a:endParaRPr lang="ko-KR" sz="2400" dirty="0"/>
          </a:p>
        </p:txBody>
      </p:sp>
      <p:sp>
        <p:nvSpPr>
          <p:cNvPr id="25" name="S04-cell81"/>
          <p:cNvSpPr/>
          <p:nvPr/>
        </p:nvSpPr>
        <p:spPr>
          <a:xfrm>
            <a:off x="8156448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82"/>
          <p:cNvSpPr/>
          <p:nvPr/>
        </p:nvSpPr>
        <p:spPr>
          <a:xfrm>
            <a:off x="9027414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cell83"/>
          <p:cNvSpPr/>
          <p:nvPr/>
        </p:nvSpPr>
        <p:spPr>
          <a:xfrm>
            <a:off x="9898380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4-cell84"/>
          <p:cNvSpPr/>
          <p:nvPr/>
        </p:nvSpPr>
        <p:spPr>
          <a:xfrm>
            <a:off x="10769346" y="2186178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4-figure85" descr="똑같이 4칸으로 나눈 띠, 4칸 색칠"/>
          <p:cNvSpPr/>
          <p:nvPr/>
        </p:nvSpPr>
        <p:spPr>
          <a:xfrm>
            <a:off x="8156448" y="2186178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4-cell86"/>
          <p:cNvSpPr/>
          <p:nvPr/>
        </p:nvSpPr>
        <p:spPr>
          <a:xfrm>
            <a:off x="8156448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4-cell87"/>
          <p:cNvSpPr/>
          <p:nvPr/>
        </p:nvSpPr>
        <p:spPr>
          <a:xfrm>
            <a:off x="9027414" y="3265170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4-cell88"/>
          <p:cNvSpPr/>
          <p:nvPr/>
        </p:nvSpPr>
        <p:spPr>
          <a:xfrm>
            <a:off x="9898380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4-cell89"/>
          <p:cNvSpPr/>
          <p:nvPr/>
        </p:nvSpPr>
        <p:spPr>
          <a:xfrm>
            <a:off x="10769346" y="3265170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4-figure90" descr="똑같이 4칸으로 나눈 띠, 2칸 색칠"/>
          <p:cNvSpPr/>
          <p:nvPr/>
        </p:nvSpPr>
        <p:spPr>
          <a:xfrm>
            <a:off x="8156448" y="3265170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5" name="S04-label91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6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</a:t>
            </a:r>
            <a:endParaRPr lang="ko-KR" sz="4000" dirty="0"/>
          </a:p>
        </p:txBody>
      </p:sp>
      <p:sp>
        <p:nvSpPr>
          <p:cNvPr id="3" name="S05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진분수로 된 분수를 대분수라고 해요.</a:t>
            </a:r>
            <a:endParaRPr lang="ko-KR" sz="3000" dirty="0"/>
          </a:p>
        </p:txBody>
      </p:sp>
      <p:sp>
        <p:nvSpPr>
          <p:cNvPr id="4" name="S05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5와 1과 4분의 1은 같은 크기예요.</a:t>
            </a:r>
            <a:endParaRPr lang="ko-KR" sz="3000" dirty="0"/>
          </a:p>
        </p:txBody>
      </p:sp>
      <p:sp>
        <p:nvSpPr>
          <p:cNvPr id="6" name="S05-card95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96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2, 3과 같은 수</a:t>
            </a:r>
            <a:endParaRPr lang="ko-KR" sz="3000" dirty="0"/>
          </a:p>
        </p:txBody>
      </p:sp>
      <p:sp>
        <p:nvSpPr>
          <p:cNvPr id="8" name="S05-card97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98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‘1과 4분의 1’이라고 읽어요</a:t>
            </a:r>
            <a:endParaRPr lang="ko-KR" sz="3000" dirty="0"/>
          </a:p>
        </p:txBody>
      </p:sp>
      <p:sp>
        <p:nvSpPr>
          <p:cNvPr id="10" name="S05-cell99"/>
          <p:cNvSpPr/>
          <p:nvPr/>
        </p:nvSpPr>
        <p:spPr>
          <a:xfrm>
            <a:off x="548640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100"/>
          <p:cNvSpPr/>
          <p:nvPr/>
        </p:nvSpPr>
        <p:spPr>
          <a:xfrm>
            <a:off x="1419606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101"/>
          <p:cNvSpPr/>
          <p:nvPr/>
        </p:nvSpPr>
        <p:spPr>
          <a:xfrm>
            <a:off x="2290572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102"/>
          <p:cNvSpPr/>
          <p:nvPr/>
        </p:nvSpPr>
        <p:spPr>
          <a:xfrm>
            <a:off x="3161538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figure103" descr="똑같이 4칸으로 나눈 띠, 4칸 색칠"/>
          <p:cNvSpPr/>
          <p:nvPr/>
        </p:nvSpPr>
        <p:spPr>
          <a:xfrm>
            <a:off x="548640" y="217703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label104"/>
          <p:cNvSpPr txBox="1"/>
          <p:nvPr/>
        </p:nvSpPr>
        <p:spPr>
          <a:xfrm>
            <a:off x="548640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6" name="S05-cell105"/>
          <p:cNvSpPr/>
          <p:nvPr/>
        </p:nvSpPr>
        <p:spPr>
          <a:xfrm>
            <a:off x="4352544" y="2177034"/>
            <a:ext cx="87096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06"/>
          <p:cNvSpPr/>
          <p:nvPr/>
        </p:nvSpPr>
        <p:spPr>
          <a:xfrm>
            <a:off x="5223510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07"/>
          <p:cNvSpPr/>
          <p:nvPr/>
        </p:nvSpPr>
        <p:spPr>
          <a:xfrm>
            <a:off x="6094476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08"/>
          <p:cNvSpPr/>
          <p:nvPr/>
        </p:nvSpPr>
        <p:spPr>
          <a:xfrm>
            <a:off x="6965442" y="2177034"/>
            <a:ext cx="87096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figure109" descr="똑같이 4칸으로 나눈 띠, 1칸 색칠"/>
          <p:cNvSpPr/>
          <p:nvPr/>
        </p:nvSpPr>
        <p:spPr>
          <a:xfrm>
            <a:off x="4352544" y="2177034"/>
            <a:ext cx="348386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5-label110"/>
          <p:cNvSpPr txBox="1"/>
          <p:nvPr/>
        </p:nvSpPr>
        <p:spPr>
          <a:xfrm>
            <a:off x="4352544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2400" dirty="0"/>
          </a:p>
        </p:txBody>
      </p:sp>
      <p:sp>
        <p:nvSpPr>
          <p:cNvPr id="22" name="S05-op111"/>
          <p:cNvSpPr txBox="1"/>
          <p:nvPr/>
        </p:nvSpPr>
        <p:spPr>
          <a:xfrm>
            <a:off x="9269730" y="2012442"/>
            <a:ext cx="55778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23" name="S05-num112"/>
          <p:cNvSpPr txBox="1"/>
          <p:nvPr/>
        </p:nvSpPr>
        <p:spPr>
          <a:xfrm>
            <a:off x="9937242" y="201244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24" name="S05-fracbar113"/>
          <p:cNvSpPr/>
          <p:nvPr/>
        </p:nvSpPr>
        <p:spPr>
          <a:xfrm>
            <a:off x="9973818" y="258851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5-num114"/>
          <p:cNvSpPr txBox="1"/>
          <p:nvPr/>
        </p:nvSpPr>
        <p:spPr>
          <a:xfrm>
            <a:off x="9937242" y="262509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26" name="S05-label115"/>
          <p:cNvSpPr txBox="1"/>
          <p:nvPr/>
        </p:nvSpPr>
        <p:spPr>
          <a:xfrm>
            <a:off x="8156448" y="323850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4분의 1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분수일까요?</a:t>
            </a:r>
            <a:endParaRPr lang="ko-KR" sz="4000" dirty="0"/>
          </a:p>
        </p:txBody>
      </p:sp>
      <p:sp>
        <p:nvSpPr>
          <p:cNvPr id="3" name="S06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진분수, 가분수, 대분수 중 무엇인지 말해요.</a:t>
            </a:r>
            <a:endParaRPr lang="ko-KR" sz="3000" dirty="0"/>
          </a:p>
        </p:txBody>
      </p:sp>
      <p:sp>
        <p:nvSpPr>
          <p:cNvPr id="4" name="S06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분모의 크기를 비교해요.</a:t>
            </a:r>
            <a:endParaRPr lang="ko-KR" sz="3000" dirty="0"/>
          </a:p>
        </p:txBody>
      </p:sp>
      <p:sp>
        <p:nvSpPr>
          <p:cNvPr id="6" name="S06-chip11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num12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6-fracbar12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num12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0" name="S06-chip12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num124"/>
          <p:cNvSpPr txBox="1"/>
          <p:nvPr/>
        </p:nvSpPr>
        <p:spPr>
          <a:xfrm>
            <a:off x="707288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2" name="S06-fracbar125"/>
          <p:cNvSpPr/>
          <p:nvPr/>
        </p:nvSpPr>
        <p:spPr>
          <a:xfrm>
            <a:off x="710946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num126"/>
          <p:cNvSpPr txBox="1"/>
          <p:nvPr/>
        </p:nvSpPr>
        <p:spPr>
          <a:xfrm>
            <a:off x="707288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06-chip12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6-op128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6" name="S06-num129"/>
          <p:cNvSpPr txBox="1"/>
          <p:nvPr/>
        </p:nvSpPr>
        <p:spPr>
          <a:xfrm>
            <a:off x="194462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7" name="S06-fracbar130"/>
          <p:cNvSpPr/>
          <p:nvPr/>
        </p:nvSpPr>
        <p:spPr>
          <a:xfrm>
            <a:off x="198120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num131"/>
          <p:cNvSpPr txBox="1"/>
          <p:nvPr/>
        </p:nvSpPr>
        <p:spPr>
          <a:xfrm>
            <a:off x="194462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9" name="S06-chip132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6-num133"/>
          <p:cNvSpPr txBox="1"/>
          <p:nvPr/>
        </p:nvSpPr>
        <p:spPr>
          <a:xfrm>
            <a:off x="7072884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06-fracbar134"/>
          <p:cNvSpPr/>
          <p:nvPr/>
        </p:nvSpPr>
        <p:spPr>
          <a:xfrm>
            <a:off x="7109460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num135"/>
          <p:cNvSpPr txBox="1"/>
          <p:nvPr/>
        </p:nvSpPr>
        <p:spPr>
          <a:xfrm>
            <a:off x="7072884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3" name="S06-chip13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24" name="S06-op137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6-num138"/>
          <p:cNvSpPr txBox="1"/>
          <p:nvPr/>
        </p:nvSpPr>
        <p:spPr>
          <a:xfrm>
            <a:off x="19446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06-fracbar139"/>
          <p:cNvSpPr/>
          <p:nvPr/>
        </p:nvSpPr>
        <p:spPr>
          <a:xfrm>
            <a:off x="19812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num140"/>
          <p:cNvSpPr txBox="1"/>
          <p:nvPr/>
        </p:nvSpPr>
        <p:spPr>
          <a:xfrm>
            <a:off x="19446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8" name="S06-chip141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29" name="S06-num142"/>
          <p:cNvSpPr txBox="1"/>
          <p:nvPr/>
        </p:nvSpPr>
        <p:spPr>
          <a:xfrm>
            <a:off x="707288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30" name="S06-fracbar143"/>
          <p:cNvSpPr/>
          <p:nvPr/>
        </p:nvSpPr>
        <p:spPr>
          <a:xfrm>
            <a:off x="710946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num144"/>
          <p:cNvSpPr txBox="1"/>
          <p:nvPr/>
        </p:nvSpPr>
        <p:spPr>
          <a:xfrm>
            <a:off x="707288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1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5는 진분수일까요, 가분수일까요?</a:t>
            </a:r>
            <a:endParaRPr lang="ko-KR" sz="3000" dirty="0"/>
          </a:p>
        </p:txBody>
      </p:sp>
      <p:sp>
        <p:nvSpPr>
          <p:cNvPr id="5" name="S07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1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진분수</a:t>
            </a:r>
            <a:endParaRPr lang="ko-KR" sz="2400" dirty="0"/>
          </a:p>
        </p:txBody>
      </p:sp>
      <p:sp>
        <p:nvSpPr>
          <p:cNvPr id="8" name="S07-cell150"/>
          <p:cNvSpPr/>
          <p:nvPr/>
        </p:nvSpPr>
        <p:spPr>
          <a:xfrm>
            <a:off x="548640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151"/>
          <p:cNvSpPr/>
          <p:nvPr/>
        </p:nvSpPr>
        <p:spPr>
          <a:xfrm>
            <a:off x="1621231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152"/>
          <p:cNvSpPr/>
          <p:nvPr/>
        </p:nvSpPr>
        <p:spPr>
          <a:xfrm>
            <a:off x="2693822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153"/>
          <p:cNvSpPr/>
          <p:nvPr/>
        </p:nvSpPr>
        <p:spPr>
          <a:xfrm>
            <a:off x="3766414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cell154"/>
          <p:cNvSpPr/>
          <p:nvPr/>
        </p:nvSpPr>
        <p:spPr>
          <a:xfrm>
            <a:off x="4839005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155" descr="똑같이 5칸으로 나눈 띠, 5칸 색칠"/>
          <p:cNvSpPr/>
          <p:nvPr/>
        </p:nvSpPr>
        <p:spPr>
          <a:xfrm>
            <a:off x="548640" y="3308604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text156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“분자가 분모보다 크지 않으니까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진분수예요.”</a:t>
            </a:r>
            <a:endParaRPr lang="ko-KR" sz="2400" dirty="0"/>
          </a:p>
        </p:txBody>
      </p:sp>
      <p:sp>
        <p:nvSpPr>
          <p:cNvPr id="15" name="S07-chip1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가분수</a:t>
            </a:r>
            <a:endParaRPr lang="ko-KR" sz="2400" dirty="0"/>
          </a:p>
        </p:txBody>
      </p:sp>
      <p:sp>
        <p:nvSpPr>
          <p:cNvPr id="16" name="S07-cell158"/>
          <p:cNvSpPr/>
          <p:nvPr/>
        </p:nvSpPr>
        <p:spPr>
          <a:xfrm>
            <a:off x="6277356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59"/>
          <p:cNvSpPr/>
          <p:nvPr/>
        </p:nvSpPr>
        <p:spPr>
          <a:xfrm>
            <a:off x="7349947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60"/>
          <p:cNvSpPr/>
          <p:nvPr/>
        </p:nvSpPr>
        <p:spPr>
          <a:xfrm>
            <a:off x="8422538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61"/>
          <p:cNvSpPr/>
          <p:nvPr/>
        </p:nvSpPr>
        <p:spPr>
          <a:xfrm>
            <a:off x="9495130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162"/>
          <p:cNvSpPr/>
          <p:nvPr/>
        </p:nvSpPr>
        <p:spPr>
          <a:xfrm>
            <a:off x="10567721" y="3308604"/>
            <a:ext cx="107259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figure163" descr="똑같이 5칸으로 나눈 띠, 5칸 색칠"/>
          <p:cNvSpPr/>
          <p:nvPr/>
        </p:nvSpPr>
        <p:spPr>
          <a:xfrm>
            <a:off x="6277356" y="3308604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7-text164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“분자와 분모가 같으면 1이니까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가분수예요.”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대분수를 가분수로</a:t>
            </a:r>
            <a:endParaRPr lang="ko-KR" sz="4000" dirty="0"/>
          </a:p>
        </p:txBody>
      </p:sp>
      <p:sp>
        <p:nvSpPr>
          <p:cNvPr id="3" name="S08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분모가 같은 가분수로 바꿔 세어요.</a:t>
            </a:r>
            <a:endParaRPr lang="ko-KR" sz="3000" dirty="0"/>
          </a:p>
        </p:txBody>
      </p:sp>
      <p:sp>
        <p:nvSpPr>
          <p:cNvPr id="5" name="S08-op167"/>
          <p:cNvSpPr txBox="1"/>
          <p:nvPr/>
        </p:nvSpPr>
        <p:spPr>
          <a:xfrm>
            <a:off x="548640" y="135128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6" name="S08-num168"/>
          <p:cNvSpPr txBox="1"/>
          <p:nvPr/>
        </p:nvSpPr>
        <p:spPr>
          <a:xfrm>
            <a:off x="1199388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7" name="S08-fracbar169"/>
          <p:cNvSpPr/>
          <p:nvPr/>
        </p:nvSpPr>
        <p:spPr>
          <a:xfrm>
            <a:off x="1235964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8-num170"/>
          <p:cNvSpPr txBox="1"/>
          <p:nvPr/>
        </p:nvSpPr>
        <p:spPr>
          <a:xfrm>
            <a:off x="1199388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9" name="S08-op171"/>
          <p:cNvSpPr txBox="1"/>
          <p:nvPr/>
        </p:nvSpPr>
        <p:spPr>
          <a:xfrm>
            <a:off x="1872234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8-blank172"/>
          <p:cNvSpPr/>
          <p:nvPr/>
        </p:nvSpPr>
        <p:spPr>
          <a:xfrm>
            <a:off x="2512385" y="14175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fracbar173"/>
          <p:cNvSpPr/>
          <p:nvPr/>
        </p:nvSpPr>
        <p:spPr>
          <a:xfrm>
            <a:off x="245592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08-num174"/>
          <p:cNvSpPr txBox="1"/>
          <p:nvPr/>
        </p:nvSpPr>
        <p:spPr>
          <a:xfrm>
            <a:off x="241935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13" name="S08-cell175"/>
          <p:cNvSpPr/>
          <p:nvPr/>
        </p:nvSpPr>
        <p:spPr>
          <a:xfrm>
            <a:off x="7778984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76"/>
          <p:cNvSpPr/>
          <p:nvPr/>
        </p:nvSpPr>
        <p:spPr>
          <a:xfrm>
            <a:off x="8221645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77"/>
          <p:cNvSpPr/>
          <p:nvPr/>
        </p:nvSpPr>
        <p:spPr>
          <a:xfrm>
            <a:off x="8664306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78"/>
          <p:cNvSpPr/>
          <p:nvPr/>
        </p:nvSpPr>
        <p:spPr>
          <a:xfrm>
            <a:off x="9106967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79" descr="똑같이 4칸으로 나눈 띠, 4칸 색칠"/>
          <p:cNvSpPr/>
          <p:nvPr/>
        </p:nvSpPr>
        <p:spPr>
          <a:xfrm>
            <a:off x="7778984" y="3451860"/>
            <a:ext cx="177064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cell180"/>
          <p:cNvSpPr/>
          <p:nvPr/>
        </p:nvSpPr>
        <p:spPr>
          <a:xfrm>
            <a:off x="9869668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81"/>
          <p:cNvSpPr/>
          <p:nvPr/>
        </p:nvSpPr>
        <p:spPr>
          <a:xfrm>
            <a:off x="10312329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82"/>
          <p:cNvSpPr/>
          <p:nvPr/>
        </p:nvSpPr>
        <p:spPr>
          <a:xfrm>
            <a:off x="10754990" y="3451860"/>
            <a:ext cx="44266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83"/>
          <p:cNvSpPr/>
          <p:nvPr/>
        </p:nvSpPr>
        <p:spPr>
          <a:xfrm>
            <a:off x="11197651" y="3451860"/>
            <a:ext cx="44266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84" descr="똑같이 4칸으로 나눈 띠, 3칸 색칠"/>
          <p:cNvSpPr/>
          <p:nvPr/>
        </p:nvSpPr>
        <p:spPr>
          <a:xfrm>
            <a:off x="9869668" y="3451860"/>
            <a:ext cx="1770644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8-stepno185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8-text186"/>
          <p:cNvSpPr txBox="1"/>
          <p:nvPr/>
        </p:nvSpPr>
        <p:spPr>
          <a:xfrm>
            <a:off x="1325880" y="2875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4분의 1이 4개</a:t>
            </a:r>
            <a:endParaRPr lang="ko-KR" sz="3000" dirty="0"/>
          </a:p>
        </p:txBody>
      </p:sp>
      <p:sp>
        <p:nvSpPr>
          <p:cNvPr id="25" name="S08-stepno187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6" name="S08-text188"/>
          <p:cNvSpPr txBox="1"/>
          <p:nvPr/>
        </p:nvSpPr>
        <p:spPr>
          <a:xfrm>
            <a:off x="1325880" y="358902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3은 4분의 1이 3개</a:t>
            </a:r>
            <a:endParaRPr lang="ko-KR" sz="3000" dirty="0"/>
          </a:p>
        </p:txBody>
      </p:sp>
      <p:sp>
        <p:nvSpPr>
          <p:cNvPr id="27" name="S08-stepno189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8-text190"/>
          <p:cNvSpPr txBox="1"/>
          <p:nvPr/>
        </p:nvSpPr>
        <p:spPr>
          <a:xfrm>
            <a:off x="1325880" y="430225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= 7 → 4분의 7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가분수를 대분수로</a:t>
            </a:r>
            <a:endParaRPr lang="ko-KR" sz="4000" dirty="0"/>
          </a:p>
        </p:txBody>
      </p:sp>
      <p:sp>
        <p:nvSpPr>
          <p:cNvPr id="3" name="S09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분모만큼씩 묶어 1을 만들어요.</a:t>
            </a:r>
            <a:endParaRPr lang="ko-KR" sz="3000" dirty="0"/>
          </a:p>
        </p:txBody>
      </p:sp>
      <p:sp>
        <p:nvSpPr>
          <p:cNvPr id="5" name="S09-num193"/>
          <p:cNvSpPr txBox="1"/>
          <p:nvPr/>
        </p:nvSpPr>
        <p:spPr>
          <a:xfrm>
            <a:off x="548640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6" name="S09-fracbar194"/>
          <p:cNvSpPr/>
          <p:nvPr/>
        </p:nvSpPr>
        <p:spPr>
          <a:xfrm>
            <a:off x="58521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09-num195"/>
          <p:cNvSpPr txBox="1"/>
          <p:nvPr/>
        </p:nvSpPr>
        <p:spPr>
          <a:xfrm>
            <a:off x="54864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8" name="S09-op196"/>
          <p:cNvSpPr txBox="1"/>
          <p:nvPr/>
        </p:nvSpPr>
        <p:spPr>
          <a:xfrm>
            <a:off x="1221486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9" name="S09-blank197"/>
          <p:cNvSpPr/>
          <p:nvPr/>
        </p:nvSpPr>
        <p:spPr>
          <a:xfrm>
            <a:off x="1919676" y="17088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9-blank198"/>
          <p:cNvSpPr/>
          <p:nvPr/>
        </p:nvSpPr>
        <p:spPr>
          <a:xfrm>
            <a:off x="2650561" y="141751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9-fracbar199"/>
          <p:cNvSpPr/>
          <p:nvPr/>
        </p:nvSpPr>
        <p:spPr>
          <a:xfrm>
            <a:off x="2594102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09-num200"/>
          <p:cNvSpPr txBox="1"/>
          <p:nvPr/>
        </p:nvSpPr>
        <p:spPr>
          <a:xfrm>
            <a:off x="2557526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3" name="S09-cell201"/>
          <p:cNvSpPr/>
          <p:nvPr/>
        </p:nvSpPr>
        <p:spPr>
          <a:xfrm>
            <a:off x="7778984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202"/>
          <p:cNvSpPr/>
          <p:nvPr/>
        </p:nvSpPr>
        <p:spPr>
          <a:xfrm>
            <a:off x="8136900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203"/>
          <p:cNvSpPr/>
          <p:nvPr/>
        </p:nvSpPr>
        <p:spPr>
          <a:xfrm>
            <a:off x="8494817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figure204" descr="똑같이 3칸으로 나눈 띠, 3칸 색칠"/>
          <p:cNvSpPr/>
          <p:nvPr/>
        </p:nvSpPr>
        <p:spPr>
          <a:xfrm>
            <a:off x="7778984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9-cell205"/>
          <p:cNvSpPr/>
          <p:nvPr/>
        </p:nvSpPr>
        <p:spPr>
          <a:xfrm>
            <a:off x="9172773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cell206"/>
          <p:cNvSpPr/>
          <p:nvPr/>
        </p:nvSpPr>
        <p:spPr>
          <a:xfrm>
            <a:off x="9530690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9-cell207"/>
          <p:cNvSpPr/>
          <p:nvPr/>
        </p:nvSpPr>
        <p:spPr>
          <a:xfrm>
            <a:off x="9888606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figure208" descr="똑같이 3칸으로 나눈 띠, 3칸 색칠"/>
          <p:cNvSpPr/>
          <p:nvPr/>
        </p:nvSpPr>
        <p:spPr>
          <a:xfrm>
            <a:off x="9172773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9-cell209"/>
          <p:cNvSpPr/>
          <p:nvPr/>
        </p:nvSpPr>
        <p:spPr>
          <a:xfrm>
            <a:off x="10566563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cell210"/>
          <p:cNvSpPr/>
          <p:nvPr/>
        </p:nvSpPr>
        <p:spPr>
          <a:xfrm>
            <a:off x="10924479" y="3451860"/>
            <a:ext cx="35791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9-cell211"/>
          <p:cNvSpPr/>
          <p:nvPr/>
        </p:nvSpPr>
        <p:spPr>
          <a:xfrm>
            <a:off x="11282396" y="3451860"/>
            <a:ext cx="35791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9-figure212" descr="똑같이 3칸으로 나눈 띠, 2칸 색칠"/>
          <p:cNvSpPr/>
          <p:nvPr/>
        </p:nvSpPr>
        <p:spPr>
          <a:xfrm>
            <a:off x="10566563" y="3451860"/>
            <a:ext cx="1073749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9-stepno213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6" name="S09-text214"/>
          <p:cNvSpPr txBox="1"/>
          <p:nvPr/>
        </p:nvSpPr>
        <p:spPr>
          <a:xfrm>
            <a:off x="1325880" y="287578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3을 묶으면 1</a:t>
            </a:r>
            <a:endParaRPr lang="ko-KR" sz="3000" dirty="0"/>
          </a:p>
        </p:txBody>
      </p:sp>
      <p:sp>
        <p:nvSpPr>
          <p:cNvPr id="27" name="S09-stepno215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8" name="S09-text216"/>
          <p:cNvSpPr txBox="1"/>
          <p:nvPr/>
        </p:nvSpPr>
        <p:spPr>
          <a:xfrm>
            <a:off x="1325880" y="358902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8에는 1이 2개</a:t>
            </a:r>
            <a:endParaRPr lang="ko-KR" sz="3000" dirty="0"/>
          </a:p>
        </p:txBody>
      </p:sp>
      <p:sp>
        <p:nvSpPr>
          <p:cNvPr id="29" name="S09-stepno21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0" name="S09-text218"/>
          <p:cNvSpPr txBox="1"/>
          <p:nvPr/>
        </p:nvSpPr>
        <p:spPr>
          <a:xfrm>
            <a:off x="1325880" y="430225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3분의 2 → 2와 3분의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000" dirty="0"/>
          </a:p>
        </p:txBody>
      </p:sp>
      <p:sp>
        <p:nvSpPr>
          <p:cNvPr id="3" name="S10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가분수로, ③④는 대분수로 바꿔요.</a:t>
            </a:r>
            <a:endParaRPr lang="ko-KR" sz="3000" dirty="0"/>
          </a:p>
        </p:txBody>
      </p:sp>
      <p:sp>
        <p:nvSpPr>
          <p:cNvPr id="4" name="S10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1은 분자와 분모가 같은 분수예요.</a:t>
            </a:r>
            <a:endParaRPr lang="ko-KR" sz="3000" dirty="0"/>
          </a:p>
        </p:txBody>
      </p:sp>
      <p:sp>
        <p:nvSpPr>
          <p:cNvPr id="6" name="S10-chip2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op223"/>
          <p:cNvSpPr txBox="1"/>
          <p:nvPr/>
        </p:nvSpPr>
        <p:spPr>
          <a:xfrm>
            <a:off x="1344168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8" name="S10-num224"/>
          <p:cNvSpPr txBox="1"/>
          <p:nvPr/>
        </p:nvSpPr>
        <p:spPr>
          <a:xfrm>
            <a:off x="1994916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9" name="S10-fracbar225"/>
          <p:cNvSpPr/>
          <p:nvPr/>
        </p:nvSpPr>
        <p:spPr>
          <a:xfrm>
            <a:off x="2031492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0" name="S10-num226"/>
          <p:cNvSpPr txBox="1"/>
          <p:nvPr/>
        </p:nvSpPr>
        <p:spPr>
          <a:xfrm>
            <a:off x="1994916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1" name="S10-op227"/>
          <p:cNvSpPr txBox="1"/>
          <p:nvPr/>
        </p:nvSpPr>
        <p:spPr>
          <a:xfrm>
            <a:off x="2667762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2" name="S10-blank228"/>
          <p:cNvSpPr/>
          <p:nvPr/>
        </p:nvSpPr>
        <p:spPr>
          <a:xfrm>
            <a:off x="3307913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0-fracbar229"/>
          <p:cNvSpPr/>
          <p:nvPr/>
        </p:nvSpPr>
        <p:spPr>
          <a:xfrm>
            <a:off x="325145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4" name="S10-num230"/>
          <p:cNvSpPr txBox="1"/>
          <p:nvPr/>
        </p:nvSpPr>
        <p:spPr>
          <a:xfrm>
            <a:off x="321487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5" name="S10-chip2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6" name="S10-op232"/>
          <p:cNvSpPr txBox="1"/>
          <p:nvPr/>
        </p:nvSpPr>
        <p:spPr>
          <a:xfrm>
            <a:off x="7072884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7" name="S10-num233"/>
          <p:cNvSpPr txBox="1"/>
          <p:nvPr/>
        </p:nvSpPr>
        <p:spPr>
          <a:xfrm>
            <a:off x="7723632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8" name="S10-fracbar234"/>
          <p:cNvSpPr/>
          <p:nvPr/>
        </p:nvSpPr>
        <p:spPr>
          <a:xfrm>
            <a:off x="77602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9" name="S10-num235"/>
          <p:cNvSpPr txBox="1"/>
          <p:nvPr/>
        </p:nvSpPr>
        <p:spPr>
          <a:xfrm>
            <a:off x="77236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0" name="S10-op236"/>
          <p:cNvSpPr txBox="1"/>
          <p:nvPr/>
        </p:nvSpPr>
        <p:spPr>
          <a:xfrm>
            <a:off x="8396478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1" name="S10-blank237"/>
          <p:cNvSpPr/>
          <p:nvPr/>
        </p:nvSpPr>
        <p:spPr>
          <a:xfrm>
            <a:off x="9036629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fracbar238"/>
          <p:cNvSpPr/>
          <p:nvPr/>
        </p:nvSpPr>
        <p:spPr>
          <a:xfrm>
            <a:off x="898017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3" name="S10-num239"/>
          <p:cNvSpPr txBox="1"/>
          <p:nvPr/>
        </p:nvSpPr>
        <p:spPr>
          <a:xfrm>
            <a:off x="894359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4" name="S10-chip24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5" name="S10-num241"/>
          <p:cNvSpPr txBox="1"/>
          <p:nvPr/>
        </p:nvSpPr>
        <p:spPr>
          <a:xfrm>
            <a:off x="1344168" y="384302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26" name="S10-fracbar242"/>
          <p:cNvSpPr/>
          <p:nvPr/>
        </p:nvSpPr>
        <p:spPr>
          <a:xfrm>
            <a:off x="1380744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7" name="S10-num243"/>
          <p:cNvSpPr txBox="1"/>
          <p:nvPr/>
        </p:nvSpPr>
        <p:spPr>
          <a:xfrm>
            <a:off x="1344168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8" name="S10-op244"/>
          <p:cNvSpPr txBox="1"/>
          <p:nvPr/>
        </p:nvSpPr>
        <p:spPr>
          <a:xfrm>
            <a:off x="2017014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9" name="S10-blank245"/>
          <p:cNvSpPr/>
          <p:nvPr/>
        </p:nvSpPr>
        <p:spPr>
          <a:xfrm>
            <a:off x="2715204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10-blank246"/>
          <p:cNvSpPr/>
          <p:nvPr/>
        </p:nvSpPr>
        <p:spPr>
          <a:xfrm>
            <a:off x="3446089" y="390925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0-fracbar247"/>
          <p:cNvSpPr/>
          <p:nvPr/>
        </p:nvSpPr>
        <p:spPr>
          <a:xfrm>
            <a:off x="3389630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2" name="S10-num248"/>
          <p:cNvSpPr txBox="1"/>
          <p:nvPr/>
        </p:nvSpPr>
        <p:spPr>
          <a:xfrm>
            <a:off x="3353054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33" name="S10-chip2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34" name="S10-num250"/>
          <p:cNvSpPr txBox="1"/>
          <p:nvPr/>
        </p:nvSpPr>
        <p:spPr>
          <a:xfrm>
            <a:off x="7072884" y="384302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35" name="S10-fracbar251"/>
          <p:cNvSpPr/>
          <p:nvPr/>
        </p:nvSpPr>
        <p:spPr>
          <a:xfrm>
            <a:off x="7109460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6" name="S10-num252"/>
          <p:cNvSpPr txBox="1"/>
          <p:nvPr/>
        </p:nvSpPr>
        <p:spPr>
          <a:xfrm>
            <a:off x="7072884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37" name="S10-op253"/>
          <p:cNvSpPr txBox="1"/>
          <p:nvPr/>
        </p:nvSpPr>
        <p:spPr>
          <a:xfrm>
            <a:off x="7745730" y="384302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8" name="S10-blank254"/>
          <p:cNvSpPr/>
          <p:nvPr/>
        </p:nvSpPr>
        <p:spPr>
          <a:xfrm>
            <a:off x="8443920" y="420059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9" name="S10-blank255"/>
          <p:cNvSpPr/>
          <p:nvPr/>
        </p:nvSpPr>
        <p:spPr>
          <a:xfrm>
            <a:off x="9174805" y="390925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0-fracbar256"/>
          <p:cNvSpPr/>
          <p:nvPr/>
        </p:nvSpPr>
        <p:spPr>
          <a:xfrm>
            <a:off x="9118346" y="438912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1" name="S10-num257"/>
          <p:cNvSpPr txBox="1"/>
          <p:nvPr/>
        </p:nvSpPr>
        <p:spPr>
          <a:xfrm>
            <a:off x="9081770" y="442569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어떤 분수인지 말하고, ②~④는 바꿔요.</a:t>
            </a:r>
            <a:endParaRPr lang="ko-KR" sz="3000" dirty="0"/>
          </a:p>
        </p:txBody>
      </p:sp>
      <p:sp>
        <p:nvSpPr>
          <p:cNvPr id="4" name="S11-chip2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num260"/>
          <p:cNvSpPr txBox="1"/>
          <p:nvPr/>
        </p:nvSpPr>
        <p:spPr>
          <a:xfrm>
            <a:off x="1344168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6" name="S11-fracbar261"/>
          <p:cNvSpPr/>
          <p:nvPr/>
        </p:nvSpPr>
        <p:spPr>
          <a:xfrm>
            <a:off x="1380744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7" name="S11-num262"/>
          <p:cNvSpPr txBox="1"/>
          <p:nvPr/>
        </p:nvSpPr>
        <p:spPr>
          <a:xfrm>
            <a:off x="1344168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8" name="S11-chip2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op264"/>
          <p:cNvSpPr txBox="1"/>
          <p:nvPr/>
        </p:nvSpPr>
        <p:spPr>
          <a:xfrm>
            <a:off x="7072884" y="219710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10" name="S11-num265"/>
          <p:cNvSpPr txBox="1"/>
          <p:nvPr/>
        </p:nvSpPr>
        <p:spPr>
          <a:xfrm>
            <a:off x="7723632" y="219710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11" name="S11-fracbar266"/>
          <p:cNvSpPr/>
          <p:nvPr/>
        </p:nvSpPr>
        <p:spPr>
          <a:xfrm>
            <a:off x="7760208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2" name="S11-num267"/>
          <p:cNvSpPr txBox="1"/>
          <p:nvPr/>
        </p:nvSpPr>
        <p:spPr>
          <a:xfrm>
            <a:off x="7723632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3" name="S11-op268"/>
          <p:cNvSpPr txBox="1"/>
          <p:nvPr/>
        </p:nvSpPr>
        <p:spPr>
          <a:xfrm>
            <a:off x="8396478" y="219710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4" name="S11-blank269"/>
          <p:cNvSpPr/>
          <p:nvPr/>
        </p:nvSpPr>
        <p:spPr>
          <a:xfrm>
            <a:off x="9036629" y="226333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11-fracbar270"/>
          <p:cNvSpPr/>
          <p:nvPr/>
        </p:nvSpPr>
        <p:spPr>
          <a:xfrm>
            <a:off x="8980170" y="274320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16" name="S11-num271"/>
          <p:cNvSpPr txBox="1"/>
          <p:nvPr/>
        </p:nvSpPr>
        <p:spPr>
          <a:xfrm>
            <a:off x="8943594" y="277977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17" name="S11-chip27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11-num273"/>
          <p:cNvSpPr txBox="1"/>
          <p:nvPr/>
        </p:nvSpPr>
        <p:spPr>
          <a:xfrm>
            <a:off x="1344168" y="4391660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400" dirty="0"/>
          </a:p>
        </p:txBody>
      </p:sp>
      <p:sp>
        <p:nvSpPr>
          <p:cNvPr id="19" name="S11-fracbar274"/>
          <p:cNvSpPr/>
          <p:nvPr/>
        </p:nvSpPr>
        <p:spPr>
          <a:xfrm>
            <a:off x="1380744" y="4937760"/>
            <a:ext cx="592328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0" name="S11-num275"/>
          <p:cNvSpPr txBox="1"/>
          <p:nvPr/>
        </p:nvSpPr>
        <p:spPr>
          <a:xfrm>
            <a:off x="1344168" y="4974336"/>
            <a:ext cx="665480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1" name="S11-op276"/>
          <p:cNvSpPr txBox="1"/>
          <p:nvPr/>
        </p:nvSpPr>
        <p:spPr>
          <a:xfrm>
            <a:off x="2119376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22" name="S11-blank277"/>
          <p:cNvSpPr/>
          <p:nvPr/>
        </p:nvSpPr>
        <p:spPr>
          <a:xfrm>
            <a:off x="2817566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1-blank278"/>
          <p:cNvSpPr/>
          <p:nvPr/>
        </p:nvSpPr>
        <p:spPr>
          <a:xfrm>
            <a:off x="3548451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fracbar279"/>
          <p:cNvSpPr/>
          <p:nvPr/>
        </p:nvSpPr>
        <p:spPr>
          <a:xfrm>
            <a:off x="3491992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25" name="S11-num280"/>
          <p:cNvSpPr txBox="1"/>
          <p:nvPr/>
        </p:nvSpPr>
        <p:spPr>
          <a:xfrm>
            <a:off x="3455416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6" name="S11-chip28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7" name="S11-op282"/>
          <p:cNvSpPr txBox="1"/>
          <p:nvPr/>
        </p:nvSpPr>
        <p:spPr>
          <a:xfrm>
            <a:off x="7072884" y="4391660"/>
            <a:ext cx="541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8" name="S11-num283"/>
          <p:cNvSpPr txBox="1"/>
          <p:nvPr/>
        </p:nvSpPr>
        <p:spPr>
          <a:xfrm>
            <a:off x="7723632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29" name="S11-fracbar284"/>
          <p:cNvSpPr/>
          <p:nvPr/>
        </p:nvSpPr>
        <p:spPr>
          <a:xfrm>
            <a:off x="7760208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0" name="S11-num285"/>
          <p:cNvSpPr txBox="1"/>
          <p:nvPr/>
        </p:nvSpPr>
        <p:spPr>
          <a:xfrm>
            <a:off x="7723632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31" name="S11-op286"/>
          <p:cNvSpPr txBox="1"/>
          <p:nvPr/>
        </p:nvSpPr>
        <p:spPr>
          <a:xfrm>
            <a:off x="8396478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2" name="S11-blank287"/>
          <p:cNvSpPr/>
          <p:nvPr/>
        </p:nvSpPr>
        <p:spPr>
          <a:xfrm>
            <a:off x="9036629" y="4457898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1-fracbar288"/>
          <p:cNvSpPr/>
          <p:nvPr/>
        </p:nvSpPr>
        <p:spPr>
          <a:xfrm>
            <a:off x="8980170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4" name="S11-num289"/>
          <p:cNvSpPr txBox="1"/>
          <p:nvPr/>
        </p:nvSpPr>
        <p:spPr>
          <a:xfrm>
            <a:off x="8943594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29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9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띠를 그려 4분의 1(2분의 1)이 몇 개인지 세게 하세요.</a:t>
            </a:r>
            <a:endParaRPr lang="ko-KR" sz="3000" dirty="0"/>
          </a:p>
        </p:txBody>
      </p:sp>
      <p:sp>
        <p:nvSpPr>
          <p:cNvPr id="5" name="S12-chip29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93"/>
          <p:cNvSpPr txBox="1"/>
          <p:nvPr/>
        </p:nvSpPr>
        <p:spPr>
          <a:xfrm>
            <a:off x="548640" y="2057400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가분수</a:t>
            </a:r>
            <a:endParaRPr lang="ko-KR" sz="3000" dirty="0"/>
          </a:p>
        </p:txBody>
      </p:sp>
      <p:sp>
        <p:nvSpPr>
          <p:cNvPr id="7" name="S12-text294"/>
          <p:cNvSpPr txBox="1"/>
          <p:nvPr/>
        </p:nvSpPr>
        <p:spPr>
          <a:xfrm>
            <a:off x="548640" y="2759964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2분의 7</a:t>
            </a:r>
            <a:endParaRPr lang="ko-KR" sz="3000" dirty="0"/>
          </a:p>
        </p:txBody>
      </p:sp>
      <p:sp>
        <p:nvSpPr>
          <p:cNvPr id="8" name="S12-text295"/>
          <p:cNvSpPr txBox="1"/>
          <p:nvPr/>
        </p:nvSpPr>
        <p:spPr>
          <a:xfrm>
            <a:off x="548640" y="3462528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 4분의 3</a:t>
            </a:r>
            <a:endParaRPr lang="ko-KR" sz="3000" dirty="0"/>
          </a:p>
        </p:txBody>
      </p:sp>
      <p:sp>
        <p:nvSpPr>
          <p:cNvPr id="9" name="S12-text296"/>
          <p:cNvSpPr txBox="1"/>
          <p:nvPr/>
        </p:nvSpPr>
        <p:spPr>
          <a:xfrm>
            <a:off x="548640" y="4165092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5분의 9</a:t>
            </a:r>
            <a:endParaRPr lang="ko-KR" sz="3000" dirty="0"/>
          </a:p>
        </p:txBody>
      </p:sp>
      <p:sp>
        <p:nvSpPr>
          <p:cNvPr id="10" name="S12-chip29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2-text29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진분수</a:t>
            </a:r>
            <a:endParaRPr lang="ko-KR" sz="3000" dirty="0"/>
          </a:p>
        </p:txBody>
      </p:sp>
      <p:sp>
        <p:nvSpPr>
          <p:cNvPr id="12" name="S12-text29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= 분모를 진분수로</a:t>
            </a:r>
            <a:endParaRPr lang="ko-KR" sz="2400" dirty="0"/>
          </a:p>
        </p:txBody>
      </p:sp>
      <p:sp>
        <p:nvSpPr>
          <p:cNvPr id="13" name="S12-text30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2분의 4</a:t>
            </a:r>
            <a:endParaRPr lang="ko-KR" sz="3000" dirty="0"/>
          </a:p>
        </p:txBody>
      </p:sp>
      <p:sp>
        <p:nvSpPr>
          <p:cNvPr id="14" name="S12-text30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분자에 그냥 더함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분수로</a:t>
            </a:r>
            <a:endParaRPr lang="ko-KR" sz="4000" dirty="0"/>
          </a:p>
        </p:txBody>
      </p:sp>
      <p:sp>
        <p:nvSpPr>
          <p:cNvPr id="3" name="S13-text3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부분을 두 가지로 나타내요.</a:t>
            </a:r>
            <a:endParaRPr lang="ko-KR" sz="3000" dirty="0"/>
          </a:p>
        </p:txBody>
      </p:sp>
      <p:sp>
        <p:nvSpPr>
          <p:cNvPr id="4" name="S13-cell303"/>
          <p:cNvSpPr/>
          <p:nvPr/>
        </p:nvSpPr>
        <p:spPr>
          <a:xfrm>
            <a:off x="6277356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3-cell304"/>
          <p:cNvSpPr/>
          <p:nvPr/>
        </p:nvSpPr>
        <p:spPr>
          <a:xfrm>
            <a:off x="6697599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3-cell305"/>
          <p:cNvSpPr/>
          <p:nvPr/>
        </p:nvSpPr>
        <p:spPr>
          <a:xfrm>
            <a:off x="7117842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306"/>
          <p:cNvSpPr/>
          <p:nvPr/>
        </p:nvSpPr>
        <p:spPr>
          <a:xfrm>
            <a:off x="7538085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307"/>
          <p:cNvSpPr/>
          <p:nvPr/>
        </p:nvSpPr>
        <p:spPr>
          <a:xfrm>
            <a:off x="7958328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08"/>
          <p:cNvSpPr/>
          <p:nvPr/>
        </p:nvSpPr>
        <p:spPr>
          <a:xfrm>
            <a:off x="8378571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309" descr="똑같이 6칸으로 나눈 띠, 6칸 색칠"/>
          <p:cNvSpPr/>
          <p:nvPr/>
        </p:nvSpPr>
        <p:spPr>
          <a:xfrm>
            <a:off x="6277356" y="3703320"/>
            <a:ext cx="252145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ell310"/>
          <p:cNvSpPr/>
          <p:nvPr/>
        </p:nvSpPr>
        <p:spPr>
          <a:xfrm>
            <a:off x="9118854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311"/>
          <p:cNvSpPr/>
          <p:nvPr/>
        </p:nvSpPr>
        <p:spPr>
          <a:xfrm>
            <a:off x="9539097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12"/>
          <p:cNvSpPr/>
          <p:nvPr/>
        </p:nvSpPr>
        <p:spPr>
          <a:xfrm>
            <a:off x="9959340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313"/>
          <p:cNvSpPr/>
          <p:nvPr/>
        </p:nvSpPr>
        <p:spPr>
          <a:xfrm>
            <a:off x="10379583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314"/>
          <p:cNvSpPr/>
          <p:nvPr/>
        </p:nvSpPr>
        <p:spPr>
          <a:xfrm>
            <a:off x="10799826" y="3703320"/>
            <a:ext cx="42024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315"/>
          <p:cNvSpPr/>
          <p:nvPr/>
        </p:nvSpPr>
        <p:spPr>
          <a:xfrm>
            <a:off x="11220069" y="3703320"/>
            <a:ext cx="42024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figure316" descr="똑같이 6칸으로 나눈 띠, 5칸 색칠"/>
          <p:cNvSpPr/>
          <p:nvPr/>
        </p:nvSpPr>
        <p:spPr>
          <a:xfrm>
            <a:off x="9118854" y="3703320"/>
            <a:ext cx="2521458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3-chip31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9" name="S13-text318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쓰면?</a:t>
            </a:r>
            <a:endParaRPr lang="ko-KR" sz="3000" dirty="0"/>
          </a:p>
        </p:txBody>
      </p:sp>
      <p:sp>
        <p:nvSpPr>
          <p:cNvPr id="20" name="S13-chip31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1" name="S13-text32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쓰면?</a:t>
            </a:r>
            <a:endParaRPr lang="ko-KR" sz="3000" dirty="0"/>
          </a:p>
        </p:txBody>
      </p:sp>
      <p:sp>
        <p:nvSpPr>
          <p:cNvPr id="22" name="S13-chip3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3" name="S13-text322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2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2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진분수는 1보다 작고, 가분수는 1과 같거나 커요. 대분수는 자연수와 진분수예요.</a:t>
            </a:r>
            <a:endParaRPr lang="ko-KR" sz="3000" dirty="0"/>
          </a:p>
        </p:txBody>
      </p:sp>
      <p:sp>
        <p:nvSpPr>
          <p:cNvPr id="5" name="S14-chip32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1을 분모가 같은 분수로</a:t>
            </a:r>
            <a:endParaRPr lang="ko-KR" sz="2400" dirty="0"/>
          </a:p>
        </p:txBody>
      </p:sp>
      <p:sp>
        <p:nvSpPr>
          <p:cNvPr id="6" name="S14-chip32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자연수를 분자에 그냥 더하기</a:t>
            </a:r>
            <a:endParaRPr lang="ko-KR" sz="2400" dirty="0"/>
          </a:p>
        </p:txBody>
      </p:sp>
      <p:sp>
        <p:nvSpPr>
          <p:cNvPr id="7" name="S14-text32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32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7분의 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진분수? 가분수?</a:t>
            </a:r>
            <a:endParaRPr lang="ko-KR" sz="2400" dirty="0"/>
          </a:p>
        </p:txBody>
      </p:sp>
      <p:sp>
        <p:nvSpPr>
          <p:cNvPr id="9" name="S14-op329"/>
          <p:cNvSpPr txBox="1"/>
          <p:nvPr/>
        </p:nvSpPr>
        <p:spPr>
          <a:xfrm>
            <a:off x="4322064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0" name="S14-op330"/>
          <p:cNvSpPr txBox="1"/>
          <p:nvPr/>
        </p:nvSpPr>
        <p:spPr>
          <a:xfrm>
            <a:off x="5036312" y="4402328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1" name="S14-num331"/>
          <p:cNvSpPr txBox="1"/>
          <p:nvPr/>
        </p:nvSpPr>
        <p:spPr>
          <a:xfrm>
            <a:off x="5636768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4-fracbar332"/>
          <p:cNvSpPr/>
          <p:nvPr/>
        </p:nvSpPr>
        <p:spPr>
          <a:xfrm>
            <a:off x="5673344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3" name="S14-num333"/>
          <p:cNvSpPr txBox="1"/>
          <p:nvPr/>
        </p:nvSpPr>
        <p:spPr>
          <a:xfrm>
            <a:off x="5636768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14-op334"/>
          <p:cNvSpPr txBox="1"/>
          <p:nvPr/>
        </p:nvSpPr>
        <p:spPr>
          <a:xfrm>
            <a:off x="6229604" y="440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14-blank335"/>
          <p:cNvSpPr/>
          <p:nvPr/>
        </p:nvSpPr>
        <p:spPr>
          <a:xfrm>
            <a:off x="6831015" y="445687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6" name="S14-fracbar336"/>
          <p:cNvSpPr/>
          <p:nvPr/>
        </p:nvSpPr>
        <p:spPr>
          <a:xfrm>
            <a:off x="678129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17" name="S14-num337"/>
          <p:cNvSpPr txBox="1"/>
          <p:nvPr/>
        </p:nvSpPr>
        <p:spPr>
          <a:xfrm>
            <a:off x="674471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8" name="S14-op338"/>
          <p:cNvSpPr txBox="1"/>
          <p:nvPr/>
        </p:nvSpPr>
        <p:spPr>
          <a:xfrm>
            <a:off x="8095488" y="440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19" name="S14-num339"/>
          <p:cNvSpPr txBox="1"/>
          <p:nvPr/>
        </p:nvSpPr>
        <p:spPr>
          <a:xfrm>
            <a:off x="8809736" y="440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4-fracbar340"/>
          <p:cNvSpPr/>
          <p:nvPr/>
        </p:nvSpPr>
        <p:spPr>
          <a:xfrm>
            <a:off x="8846312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1" name="S14-num341"/>
          <p:cNvSpPr txBox="1"/>
          <p:nvPr/>
        </p:nvSpPr>
        <p:spPr>
          <a:xfrm>
            <a:off x="8809736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2" name="S14-op342"/>
          <p:cNvSpPr txBox="1"/>
          <p:nvPr/>
        </p:nvSpPr>
        <p:spPr>
          <a:xfrm>
            <a:off x="9402572" y="440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14-blank343"/>
          <p:cNvSpPr/>
          <p:nvPr/>
        </p:nvSpPr>
        <p:spPr>
          <a:xfrm>
            <a:off x="10064689" y="470325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4" name="S14-blank344"/>
          <p:cNvSpPr/>
          <p:nvPr/>
        </p:nvSpPr>
        <p:spPr>
          <a:xfrm>
            <a:off x="10718231" y="4456877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S14-fracbar345"/>
          <p:cNvSpPr/>
          <p:nvPr/>
        </p:nvSpPr>
        <p:spPr>
          <a:xfrm>
            <a:off x="10668508" y="4858512"/>
            <a:ext cx="409956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26" name="S14-num346"/>
          <p:cNvSpPr txBox="1"/>
          <p:nvPr/>
        </p:nvSpPr>
        <p:spPr>
          <a:xfrm>
            <a:off x="10631932" y="489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7" name="S14-text3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선분·반직선·직선과 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4분의 1이 몇 개?</a:t>
            </a:r>
            <a:endParaRPr lang="ko-KR" sz="4000" dirty="0"/>
          </a:p>
        </p:txBody>
      </p:sp>
      <p:sp>
        <p:nvSpPr>
          <p:cNvPr id="3" name="S15-text3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몇 개인지 세어요.</a:t>
            </a:r>
            <a:endParaRPr lang="ko-KR" sz="3000" dirty="0"/>
          </a:p>
        </p:txBody>
      </p:sp>
      <p:sp>
        <p:nvSpPr>
          <p:cNvPr id="4" name="S15-card34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5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3개</a:t>
            </a:r>
            <a:endParaRPr lang="ko-KR" sz="3000" dirty="0"/>
          </a:p>
        </p:txBody>
      </p:sp>
      <p:sp>
        <p:nvSpPr>
          <p:cNvPr id="6" name="S15-card35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5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4개, 1과 같아요</a:t>
            </a:r>
            <a:endParaRPr lang="ko-KR" sz="3000" dirty="0"/>
          </a:p>
        </p:txBody>
      </p:sp>
      <p:sp>
        <p:nvSpPr>
          <p:cNvPr id="8" name="S15-num353"/>
          <p:cNvSpPr txBox="1"/>
          <p:nvPr/>
        </p:nvSpPr>
        <p:spPr>
          <a:xfrm>
            <a:off x="770954" y="2444496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700" dirty="0"/>
          </a:p>
        </p:txBody>
      </p:sp>
      <p:sp>
        <p:nvSpPr>
          <p:cNvPr id="9" name="S15-fracbar354"/>
          <p:cNvSpPr/>
          <p:nvPr/>
        </p:nvSpPr>
        <p:spPr>
          <a:xfrm>
            <a:off x="807530" y="2885694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0" name="S15-num355"/>
          <p:cNvSpPr txBox="1"/>
          <p:nvPr/>
        </p:nvSpPr>
        <p:spPr>
          <a:xfrm>
            <a:off x="770954" y="2922270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1" name="S15-cell356"/>
          <p:cNvSpPr/>
          <p:nvPr/>
        </p:nvSpPr>
        <p:spPr>
          <a:xfrm>
            <a:off x="1600200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357"/>
          <p:cNvSpPr/>
          <p:nvPr/>
        </p:nvSpPr>
        <p:spPr>
          <a:xfrm>
            <a:off x="4110228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358"/>
          <p:cNvSpPr/>
          <p:nvPr/>
        </p:nvSpPr>
        <p:spPr>
          <a:xfrm>
            <a:off x="6620256" y="2519934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359"/>
          <p:cNvSpPr/>
          <p:nvPr/>
        </p:nvSpPr>
        <p:spPr>
          <a:xfrm>
            <a:off x="9130284" y="2519934"/>
            <a:ext cx="25100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figure360" descr="똑같이 4칸으로 나눈 띠, 3칸 색칠"/>
          <p:cNvSpPr/>
          <p:nvPr/>
        </p:nvSpPr>
        <p:spPr>
          <a:xfrm>
            <a:off x="1600200" y="2519934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15-num361"/>
          <p:cNvSpPr txBox="1"/>
          <p:nvPr/>
        </p:nvSpPr>
        <p:spPr>
          <a:xfrm>
            <a:off x="770954" y="3432048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7" name="S15-fracbar362"/>
          <p:cNvSpPr/>
          <p:nvPr/>
        </p:nvSpPr>
        <p:spPr>
          <a:xfrm>
            <a:off x="807530" y="3873246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8" name="S15-num363"/>
          <p:cNvSpPr txBox="1"/>
          <p:nvPr/>
        </p:nvSpPr>
        <p:spPr>
          <a:xfrm>
            <a:off x="770954" y="3909822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9" name="S15-cell364"/>
          <p:cNvSpPr/>
          <p:nvPr/>
        </p:nvSpPr>
        <p:spPr>
          <a:xfrm>
            <a:off x="1600200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365"/>
          <p:cNvSpPr/>
          <p:nvPr/>
        </p:nvSpPr>
        <p:spPr>
          <a:xfrm>
            <a:off x="4110228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366"/>
          <p:cNvSpPr/>
          <p:nvPr/>
        </p:nvSpPr>
        <p:spPr>
          <a:xfrm>
            <a:off x="6620256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367"/>
          <p:cNvSpPr/>
          <p:nvPr/>
        </p:nvSpPr>
        <p:spPr>
          <a:xfrm>
            <a:off x="9130284" y="3507486"/>
            <a:ext cx="251002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figure368" descr="똑같이 4칸으로 나눈 띠, 4칸 색칠"/>
          <p:cNvSpPr/>
          <p:nvPr/>
        </p:nvSpPr>
        <p:spPr>
          <a:xfrm>
            <a:off x="1600200" y="3507486"/>
            <a:ext cx="10040112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진분수·가분수·대분수</dc:title>
  <dc:subject>KR22-G03-MAT-MIXED-L01</dc:subject>
  <dc:creator>education-ppt</dc:creator>
  <cp:lastModifiedBy>education-ppt</cp:lastModifiedBy>
  <cp:revision>1</cp:revision>
  <dcterms:created xsi:type="dcterms:W3CDTF">2026-10-26T07:54:28Z</dcterms:created>
  <dcterms:modified xsi:type="dcterms:W3CDTF">2026-10-26T07:54:28Z</dcterms:modified>
</cp:coreProperties>
</file>