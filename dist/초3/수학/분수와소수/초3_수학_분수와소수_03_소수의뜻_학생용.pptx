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3bd71fd-a77c-dbe4-1384-bc504dd7148e}">
          <p14:sldIdLst>
            <p14:sldId id="256"/>
            <p14:sldId id="257"/>
          </p14:sldIdLst>
        </p14:section>
        <p14:section name="개념" id="{7d05c61d-7089-9bf7-f190-6eb47591fa95}">
          <p14:sldIdLst>
            <p14:sldId id="258"/>
            <p14:sldId id="259"/>
            <p14:sldId id="261"/>
            <p14:sldId id="263"/>
          </p14:sldIdLst>
        </p14:section>
        <p14:section name="연습" id="{109e67ad-eb27-c9a8-0c93-d7d23100b7bd}">
          <p14:sldIdLst>
            <p14:sldId id="260"/>
            <p14:sldId id="262"/>
            <p14:sldId id="264"/>
            <p14:sldId id="265"/>
          </p14:sldIdLst>
        </p14:section>
        <p14:section name="개념" id="{84d0fce0-f847-5e3f-901a-99d6b956c3e7}">
          <p14:sldIdLst/>
        </p14:section>
        <p14:section name="연습" id="{9a9ee6e2-d567-12cc-1177-0da64e62487b}">
          <p14:sldIdLst/>
        </p14:section>
        <p14:section name="개념" id="{d399d3b1-a9e8-0900-dd23-b0eb03a5e825}">
          <p14:sldIdLst/>
        </p14:section>
        <p14:section name="연습" id="{36c0807d-c775-8c2a-4454-a58573051893}">
          <p14:sldIdLst/>
        </p14:section>
        <p14:section name="확인" id="{1f155c9b-3f6b-8e9c-75d9-b8b3144ea628}">
          <p14:sldIdLst>
            <p14:sldId id="266"/>
            <p14:sldId id="267"/>
          </p14:sldIdLst>
        </p14:section>
        <p14:section name="정리" id="{124b65f6-1822-b696-0a93-c780b13a367f}">
          <p14:sldIdLst>
            <p14:sldId id="268"/>
          </p14:sldIdLst>
        </p14:section>
        <p14:section name="보충" id="{dae14f11-0952-d703-ec64-a27e82ccb4bf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분수와소수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소수의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소수의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소수의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소수의 뜻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10칸 중 1칸을 수로 어떻게 쓸까?</a:t>
            </a:r>
            <a:endParaRPr lang="ko-KR" sz="3000" dirty="0"/>
          </a:p>
        </p:txBody>
      </p:sp>
      <p:sp>
        <p:nvSpPr>
          <p:cNvPr id="4" name="S01-cell1"/>
          <p:cNvSpPr/>
          <p:nvPr/>
        </p:nvSpPr>
        <p:spPr>
          <a:xfrm>
            <a:off x="7680960" y="1783080"/>
            <a:ext cx="393192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cell2"/>
          <p:cNvSpPr/>
          <p:nvPr/>
        </p:nvSpPr>
        <p:spPr>
          <a:xfrm>
            <a:off x="8074152" y="1783080"/>
            <a:ext cx="393192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cell3"/>
          <p:cNvSpPr/>
          <p:nvPr/>
        </p:nvSpPr>
        <p:spPr>
          <a:xfrm>
            <a:off x="8467344" y="1783080"/>
            <a:ext cx="393192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cell4"/>
          <p:cNvSpPr/>
          <p:nvPr/>
        </p:nvSpPr>
        <p:spPr>
          <a:xfrm>
            <a:off x="8860536" y="1783080"/>
            <a:ext cx="393192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1-cell5"/>
          <p:cNvSpPr/>
          <p:nvPr/>
        </p:nvSpPr>
        <p:spPr>
          <a:xfrm>
            <a:off x="9253728" y="1783080"/>
            <a:ext cx="393192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1-cell6"/>
          <p:cNvSpPr/>
          <p:nvPr/>
        </p:nvSpPr>
        <p:spPr>
          <a:xfrm>
            <a:off x="9646920" y="1783080"/>
            <a:ext cx="393192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1-cell7"/>
          <p:cNvSpPr/>
          <p:nvPr/>
        </p:nvSpPr>
        <p:spPr>
          <a:xfrm>
            <a:off x="10040112" y="1783080"/>
            <a:ext cx="393192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1-cell8"/>
          <p:cNvSpPr/>
          <p:nvPr/>
        </p:nvSpPr>
        <p:spPr>
          <a:xfrm>
            <a:off x="10433304" y="1783080"/>
            <a:ext cx="393192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1-cell9"/>
          <p:cNvSpPr/>
          <p:nvPr/>
        </p:nvSpPr>
        <p:spPr>
          <a:xfrm>
            <a:off x="10826496" y="1783080"/>
            <a:ext cx="393192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1-cell10"/>
          <p:cNvSpPr/>
          <p:nvPr/>
        </p:nvSpPr>
        <p:spPr>
          <a:xfrm>
            <a:off x="11219688" y="1783080"/>
            <a:ext cx="393192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1-figure11" descr="똑같이 10칸으로 나눈 띠, 1칸 색칠"/>
          <p:cNvSpPr/>
          <p:nvPr/>
        </p:nvSpPr>
        <p:spPr>
          <a:xfrm>
            <a:off x="7680960" y="1783080"/>
            <a:ext cx="3931920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1-card1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6" name="S01-cardtext1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0.1을 알고, 소수를 읽고 써요.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소수의 크기를 비교해요.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14"/>
          <p:cNvSpPr txBox="1"/>
          <p:nvPr/>
        </p:nvSpPr>
        <p:spPr>
          <a:xfrm>
            <a:off x="548640" y="1796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cell15"/>
          <p:cNvSpPr/>
          <p:nvPr/>
        </p:nvSpPr>
        <p:spPr>
          <a:xfrm>
            <a:off x="1344168" y="1760220"/>
            <a:ext cx="548640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2-cell16"/>
          <p:cNvSpPr/>
          <p:nvPr/>
        </p:nvSpPr>
        <p:spPr>
          <a:xfrm>
            <a:off x="1892808" y="1760220"/>
            <a:ext cx="548640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2-cell17"/>
          <p:cNvSpPr/>
          <p:nvPr/>
        </p:nvSpPr>
        <p:spPr>
          <a:xfrm>
            <a:off x="2441448" y="1760220"/>
            <a:ext cx="548640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2-cell18"/>
          <p:cNvSpPr/>
          <p:nvPr/>
        </p:nvSpPr>
        <p:spPr>
          <a:xfrm>
            <a:off x="2990088" y="1760220"/>
            <a:ext cx="5486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2-cell19"/>
          <p:cNvSpPr/>
          <p:nvPr/>
        </p:nvSpPr>
        <p:spPr>
          <a:xfrm>
            <a:off x="3538728" y="1760220"/>
            <a:ext cx="5486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2-cell20"/>
          <p:cNvSpPr/>
          <p:nvPr/>
        </p:nvSpPr>
        <p:spPr>
          <a:xfrm>
            <a:off x="4087368" y="1760220"/>
            <a:ext cx="5486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2-cell21"/>
          <p:cNvSpPr/>
          <p:nvPr/>
        </p:nvSpPr>
        <p:spPr>
          <a:xfrm>
            <a:off x="4636008" y="1760220"/>
            <a:ext cx="5486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2-cell22"/>
          <p:cNvSpPr/>
          <p:nvPr/>
        </p:nvSpPr>
        <p:spPr>
          <a:xfrm>
            <a:off x="5184648" y="1760220"/>
            <a:ext cx="5486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2-cell23"/>
          <p:cNvSpPr/>
          <p:nvPr/>
        </p:nvSpPr>
        <p:spPr>
          <a:xfrm>
            <a:off x="5733288" y="1760220"/>
            <a:ext cx="5486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2-cell24"/>
          <p:cNvSpPr/>
          <p:nvPr/>
        </p:nvSpPr>
        <p:spPr>
          <a:xfrm>
            <a:off x="6281928" y="1760220"/>
            <a:ext cx="5486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2-figure25" descr="똑같이 10칸으로 나눈 띠, 3칸 색칠"/>
          <p:cNvSpPr/>
          <p:nvPr/>
        </p:nvSpPr>
        <p:spPr>
          <a:xfrm>
            <a:off x="1344168" y="1760220"/>
            <a:ext cx="5486400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2-chip2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6" name="S02-num27"/>
          <p:cNvSpPr txBox="1"/>
          <p:nvPr/>
        </p:nvSpPr>
        <p:spPr>
          <a:xfrm>
            <a:off x="1344168" y="3202940"/>
            <a:ext cx="665480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17" name="S02-fracbar28"/>
          <p:cNvSpPr/>
          <p:nvPr/>
        </p:nvSpPr>
        <p:spPr>
          <a:xfrm>
            <a:off x="1380744" y="3749040"/>
            <a:ext cx="592328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8" name="S02-num29"/>
          <p:cNvSpPr txBox="1"/>
          <p:nvPr/>
        </p:nvSpPr>
        <p:spPr>
          <a:xfrm>
            <a:off x="1344168" y="3785616"/>
            <a:ext cx="665480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400" dirty="0"/>
          </a:p>
        </p:txBody>
      </p:sp>
      <p:sp>
        <p:nvSpPr>
          <p:cNvPr id="19" name="S02-op30"/>
          <p:cNvSpPr txBox="1"/>
          <p:nvPr/>
        </p:nvSpPr>
        <p:spPr>
          <a:xfrm>
            <a:off x="2119376" y="3202940"/>
            <a:ext cx="67919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3400" dirty="0"/>
          </a:p>
        </p:txBody>
      </p:sp>
      <p:sp>
        <p:nvSpPr>
          <p:cNvPr id="20" name="S02-num31"/>
          <p:cNvSpPr txBox="1"/>
          <p:nvPr/>
        </p:nvSpPr>
        <p:spPr>
          <a:xfrm>
            <a:off x="2908300" y="3202940"/>
            <a:ext cx="665480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400" dirty="0"/>
          </a:p>
        </p:txBody>
      </p:sp>
      <p:sp>
        <p:nvSpPr>
          <p:cNvPr id="21" name="S02-fracbar32"/>
          <p:cNvSpPr/>
          <p:nvPr/>
        </p:nvSpPr>
        <p:spPr>
          <a:xfrm>
            <a:off x="2944876" y="3749040"/>
            <a:ext cx="592328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22" name="S02-num33"/>
          <p:cNvSpPr txBox="1"/>
          <p:nvPr/>
        </p:nvSpPr>
        <p:spPr>
          <a:xfrm>
            <a:off x="2908300" y="3785616"/>
            <a:ext cx="665480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400" dirty="0"/>
          </a:p>
        </p:txBody>
      </p:sp>
      <p:sp>
        <p:nvSpPr>
          <p:cNvPr id="23" name="S02-chip34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24" name="S02-text35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10분의 1이 6개인 분수는?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 알아보기</a:t>
            </a:r>
            <a:endParaRPr lang="ko-KR" sz="4000" dirty="0"/>
          </a:p>
        </p:txBody>
      </p:sp>
      <p:sp>
        <p:nvSpPr>
          <p:cNvPr id="3" name="S03-text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10칸으로 나눈 것 중 1칸이에요.</a:t>
            </a:r>
            <a:endParaRPr lang="ko-KR" sz="3000" dirty="0"/>
          </a:p>
        </p:txBody>
      </p:sp>
      <p:sp>
        <p:nvSpPr>
          <p:cNvPr id="4" name="S03-card37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38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10분의 1 = 0.1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‘영 점 일’이라고 읽어요.</a:t>
            </a:r>
            <a:endParaRPr lang="ko-KR" sz="3000" dirty="0"/>
          </a:p>
        </p:txBody>
      </p:sp>
      <p:sp>
        <p:nvSpPr>
          <p:cNvPr id="6" name="S03-card39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40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0과 1 사이의 점(.)</a:t>
            </a:r>
            <a:endParaRPr lang="ko-KR" sz="3000" dirty="0"/>
          </a:p>
        </p:txBody>
      </p:sp>
      <p:sp>
        <p:nvSpPr>
          <p:cNvPr id="8" name="S03-num41"/>
          <p:cNvSpPr txBox="1"/>
          <p:nvPr/>
        </p:nvSpPr>
        <p:spPr>
          <a:xfrm>
            <a:off x="717296" y="292328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9" name="S03-fracbar42"/>
          <p:cNvSpPr/>
          <p:nvPr/>
        </p:nvSpPr>
        <p:spPr>
          <a:xfrm>
            <a:off x="753872" y="337947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3-num43"/>
          <p:cNvSpPr txBox="1"/>
          <p:nvPr/>
        </p:nvSpPr>
        <p:spPr>
          <a:xfrm>
            <a:off x="717296" y="341604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11" name="S03-cell44"/>
          <p:cNvSpPr/>
          <p:nvPr/>
        </p:nvSpPr>
        <p:spPr>
          <a:xfrm>
            <a:off x="1600200" y="2967990"/>
            <a:ext cx="100401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cell45"/>
          <p:cNvSpPr/>
          <p:nvPr/>
        </p:nvSpPr>
        <p:spPr>
          <a:xfrm>
            <a:off x="2604211" y="2967990"/>
            <a:ext cx="100401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cell46"/>
          <p:cNvSpPr/>
          <p:nvPr/>
        </p:nvSpPr>
        <p:spPr>
          <a:xfrm>
            <a:off x="3608222" y="2967990"/>
            <a:ext cx="100401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3-cell47"/>
          <p:cNvSpPr/>
          <p:nvPr/>
        </p:nvSpPr>
        <p:spPr>
          <a:xfrm>
            <a:off x="4612234" y="2967990"/>
            <a:ext cx="100401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3-cell48"/>
          <p:cNvSpPr/>
          <p:nvPr/>
        </p:nvSpPr>
        <p:spPr>
          <a:xfrm>
            <a:off x="5616245" y="2967990"/>
            <a:ext cx="100401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3-cell49"/>
          <p:cNvSpPr/>
          <p:nvPr/>
        </p:nvSpPr>
        <p:spPr>
          <a:xfrm>
            <a:off x="6620256" y="2967990"/>
            <a:ext cx="100401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cell50"/>
          <p:cNvSpPr/>
          <p:nvPr/>
        </p:nvSpPr>
        <p:spPr>
          <a:xfrm>
            <a:off x="7624267" y="2967990"/>
            <a:ext cx="100401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3-cell51"/>
          <p:cNvSpPr/>
          <p:nvPr/>
        </p:nvSpPr>
        <p:spPr>
          <a:xfrm>
            <a:off x="8628278" y="2967990"/>
            <a:ext cx="100401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3-cell52"/>
          <p:cNvSpPr/>
          <p:nvPr/>
        </p:nvSpPr>
        <p:spPr>
          <a:xfrm>
            <a:off x="9632290" y="2967990"/>
            <a:ext cx="100401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3-cell53"/>
          <p:cNvSpPr/>
          <p:nvPr/>
        </p:nvSpPr>
        <p:spPr>
          <a:xfrm>
            <a:off x="10636301" y="2967990"/>
            <a:ext cx="100401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3-figure54" descr="똑같이 10칸으로 나눈 띠, 1칸 색칠"/>
          <p:cNvSpPr/>
          <p:nvPr/>
        </p:nvSpPr>
        <p:spPr>
          <a:xfrm>
            <a:off x="1600200" y="2967990"/>
            <a:ext cx="10040112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몇 개일까요</a:t>
            </a:r>
            <a:endParaRPr lang="ko-KR" sz="4000" dirty="0"/>
          </a:p>
        </p:txBody>
      </p:sp>
      <p:sp>
        <p:nvSpPr>
          <p:cNvPr id="3" name="S04-text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3개면 0.3이에요.</a:t>
            </a:r>
            <a:endParaRPr lang="ko-KR" sz="3000" dirty="0"/>
          </a:p>
        </p:txBody>
      </p:sp>
      <p:sp>
        <p:nvSpPr>
          <p:cNvPr id="4" name="S04-card56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57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10분의 3 = 0.3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 점 삼</a:t>
            </a:r>
            <a:endParaRPr lang="ko-KR" sz="3000" dirty="0"/>
          </a:p>
        </p:txBody>
      </p:sp>
      <p:sp>
        <p:nvSpPr>
          <p:cNvPr id="6" name="S04-card58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59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10분의 7 = 0.7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 점 칠</a:t>
            </a:r>
            <a:endParaRPr lang="ko-KR" sz="3000" dirty="0"/>
          </a:p>
        </p:txBody>
      </p:sp>
      <p:sp>
        <p:nvSpPr>
          <p:cNvPr id="8" name="S04-line60"/>
          <p:cNvSpPr/>
          <p:nvPr/>
        </p:nvSpPr>
        <p:spPr>
          <a:xfrm>
            <a:off x="685800" y="3707740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9" name="S04-line61"/>
          <p:cNvSpPr/>
          <p:nvPr/>
        </p:nvSpPr>
        <p:spPr>
          <a:xfrm>
            <a:off x="960120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4-label62"/>
          <p:cNvSpPr txBox="1"/>
          <p:nvPr/>
        </p:nvSpPr>
        <p:spPr>
          <a:xfrm>
            <a:off x="502920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1" name="S04-line63"/>
          <p:cNvSpPr/>
          <p:nvPr/>
        </p:nvSpPr>
        <p:spPr>
          <a:xfrm>
            <a:off x="1986991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4-label64"/>
          <p:cNvSpPr txBox="1"/>
          <p:nvPr/>
        </p:nvSpPr>
        <p:spPr>
          <a:xfrm>
            <a:off x="1529791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</a:t>
            </a:r>
            <a:endParaRPr lang="ko-KR" sz="2400" dirty="0"/>
          </a:p>
        </p:txBody>
      </p:sp>
      <p:sp>
        <p:nvSpPr>
          <p:cNvPr id="13" name="S04-line65"/>
          <p:cNvSpPr/>
          <p:nvPr/>
        </p:nvSpPr>
        <p:spPr>
          <a:xfrm>
            <a:off x="3013862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4-label66"/>
          <p:cNvSpPr txBox="1"/>
          <p:nvPr/>
        </p:nvSpPr>
        <p:spPr>
          <a:xfrm>
            <a:off x="2556662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0.2</a:t>
            </a:r>
            <a:endParaRPr lang="ko-KR" sz="2400" dirty="0"/>
          </a:p>
        </p:txBody>
      </p:sp>
      <p:sp>
        <p:nvSpPr>
          <p:cNvPr id="15" name="S04-line67"/>
          <p:cNvSpPr/>
          <p:nvPr/>
        </p:nvSpPr>
        <p:spPr>
          <a:xfrm>
            <a:off x="4040734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4-label68"/>
          <p:cNvSpPr txBox="1"/>
          <p:nvPr/>
        </p:nvSpPr>
        <p:spPr>
          <a:xfrm>
            <a:off x="3583534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</a:t>
            </a:r>
            <a:endParaRPr lang="ko-KR" sz="2400" dirty="0"/>
          </a:p>
        </p:txBody>
      </p:sp>
      <p:sp>
        <p:nvSpPr>
          <p:cNvPr id="17" name="S04-line69"/>
          <p:cNvSpPr/>
          <p:nvPr/>
        </p:nvSpPr>
        <p:spPr>
          <a:xfrm>
            <a:off x="5067605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4-label70"/>
          <p:cNvSpPr txBox="1"/>
          <p:nvPr/>
        </p:nvSpPr>
        <p:spPr>
          <a:xfrm>
            <a:off x="4610405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</a:t>
            </a:r>
            <a:endParaRPr lang="ko-KR" sz="2400" dirty="0"/>
          </a:p>
        </p:txBody>
      </p:sp>
      <p:sp>
        <p:nvSpPr>
          <p:cNvPr id="19" name="S04-line71"/>
          <p:cNvSpPr/>
          <p:nvPr/>
        </p:nvSpPr>
        <p:spPr>
          <a:xfrm>
            <a:off x="6094476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4-label72"/>
          <p:cNvSpPr txBox="1"/>
          <p:nvPr/>
        </p:nvSpPr>
        <p:spPr>
          <a:xfrm>
            <a:off x="5637276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</a:t>
            </a:r>
            <a:endParaRPr lang="ko-KR" sz="2400" dirty="0"/>
          </a:p>
        </p:txBody>
      </p:sp>
      <p:sp>
        <p:nvSpPr>
          <p:cNvPr id="21" name="S04-line73"/>
          <p:cNvSpPr/>
          <p:nvPr/>
        </p:nvSpPr>
        <p:spPr>
          <a:xfrm>
            <a:off x="7121347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4-label74"/>
          <p:cNvSpPr txBox="1"/>
          <p:nvPr/>
        </p:nvSpPr>
        <p:spPr>
          <a:xfrm>
            <a:off x="6664147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</a:t>
            </a:r>
            <a:endParaRPr lang="ko-KR" sz="2400" dirty="0"/>
          </a:p>
        </p:txBody>
      </p:sp>
      <p:sp>
        <p:nvSpPr>
          <p:cNvPr id="23" name="S04-line75"/>
          <p:cNvSpPr/>
          <p:nvPr/>
        </p:nvSpPr>
        <p:spPr>
          <a:xfrm>
            <a:off x="8148218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4-label76"/>
          <p:cNvSpPr txBox="1"/>
          <p:nvPr/>
        </p:nvSpPr>
        <p:spPr>
          <a:xfrm>
            <a:off x="7691018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</a:t>
            </a:r>
            <a:endParaRPr lang="ko-KR" sz="2400" dirty="0"/>
          </a:p>
        </p:txBody>
      </p:sp>
      <p:sp>
        <p:nvSpPr>
          <p:cNvPr id="25" name="S04-line77"/>
          <p:cNvSpPr/>
          <p:nvPr/>
        </p:nvSpPr>
        <p:spPr>
          <a:xfrm>
            <a:off x="9175090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4-label78"/>
          <p:cNvSpPr txBox="1"/>
          <p:nvPr/>
        </p:nvSpPr>
        <p:spPr>
          <a:xfrm>
            <a:off x="8717890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0.8</a:t>
            </a:r>
            <a:endParaRPr lang="ko-KR" sz="2400" dirty="0"/>
          </a:p>
        </p:txBody>
      </p:sp>
      <p:sp>
        <p:nvSpPr>
          <p:cNvPr id="27" name="S04-line79"/>
          <p:cNvSpPr/>
          <p:nvPr/>
        </p:nvSpPr>
        <p:spPr>
          <a:xfrm>
            <a:off x="10201961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4-label80"/>
          <p:cNvSpPr txBox="1"/>
          <p:nvPr/>
        </p:nvSpPr>
        <p:spPr>
          <a:xfrm>
            <a:off x="9744761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</a:t>
            </a:r>
            <a:endParaRPr lang="ko-KR" sz="2400" dirty="0"/>
          </a:p>
        </p:txBody>
      </p:sp>
      <p:sp>
        <p:nvSpPr>
          <p:cNvPr id="29" name="S04-line81"/>
          <p:cNvSpPr/>
          <p:nvPr/>
        </p:nvSpPr>
        <p:spPr>
          <a:xfrm>
            <a:off x="11228832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4-label82"/>
          <p:cNvSpPr txBox="1"/>
          <p:nvPr/>
        </p:nvSpPr>
        <p:spPr>
          <a:xfrm>
            <a:off x="10771632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31" name="S04-mark83"/>
          <p:cNvSpPr/>
          <p:nvPr/>
        </p:nvSpPr>
        <p:spPr>
          <a:xfrm>
            <a:off x="3949294" y="361630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2" name="S04-line84"/>
          <p:cNvSpPr/>
          <p:nvPr/>
        </p:nvSpPr>
        <p:spPr>
          <a:xfrm flipV="1">
            <a:off x="960120" y="332369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3" name="S04-line85"/>
          <p:cNvSpPr/>
          <p:nvPr/>
        </p:nvSpPr>
        <p:spPr>
          <a:xfrm>
            <a:off x="960120" y="3323692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4" name="S04-line86"/>
          <p:cNvSpPr/>
          <p:nvPr/>
        </p:nvSpPr>
        <p:spPr>
          <a:xfrm flipV="1">
            <a:off x="1986991" y="332369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5" name="S04-line87"/>
          <p:cNvSpPr/>
          <p:nvPr/>
        </p:nvSpPr>
        <p:spPr>
          <a:xfrm>
            <a:off x="1986991" y="3323692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6" name="S04-line88"/>
          <p:cNvSpPr/>
          <p:nvPr/>
        </p:nvSpPr>
        <p:spPr>
          <a:xfrm flipV="1">
            <a:off x="3013862" y="332369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7" name="S04-line89"/>
          <p:cNvSpPr/>
          <p:nvPr/>
        </p:nvSpPr>
        <p:spPr>
          <a:xfrm>
            <a:off x="3013862" y="3323692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8" name="S04-figure90" descr="0부터 1까지 0.1마다 눈금과 수가 있는 수직선. 0에서 0.1씩 3번 뛰어 0.3에 점"/>
          <p:cNvSpPr/>
          <p:nvPr/>
        </p:nvSpPr>
        <p:spPr>
          <a:xfrm>
            <a:off x="685800" y="3524860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소수로 나타내요</a:t>
            </a:r>
            <a:endParaRPr lang="ko-KR" sz="4000" dirty="0"/>
          </a:p>
        </p:txBody>
      </p:sp>
      <p:sp>
        <p:nvSpPr>
          <p:cNvPr id="3" name="S05-text9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가, 나와 띠를 소수로 써요.</a:t>
            </a:r>
            <a:endParaRPr lang="ko-KR" sz="3000" dirty="0"/>
          </a:p>
        </p:txBody>
      </p:sp>
      <p:sp>
        <p:nvSpPr>
          <p:cNvPr id="4" name="S05-card9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9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0에서 몇 칸 갔는지 세어요.</a:t>
            </a:r>
            <a:endParaRPr lang="ko-KR" sz="3000" dirty="0"/>
          </a:p>
        </p:txBody>
      </p:sp>
      <p:sp>
        <p:nvSpPr>
          <p:cNvPr id="6" name="S05-line94"/>
          <p:cNvSpPr/>
          <p:nvPr/>
        </p:nvSpPr>
        <p:spPr>
          <a:xfrm>
            <a:off x="6414516" y="3939235"/>
            <a:ext cx="50886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05-line95"/>
          <p:cNvSpPr/>
          <p:nvPr/>
        </p:nvSpPr>
        <p:spPr>
          <a:xfrm>
            <a:off x="6688836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5-label96"/>
          <p:cNvSpPr txBox="1"/>
          <p:nvPr/>
        </p:nvSpPr>
        <p:spPr>
          <a:xfrm>
            <a:off x="6231636" y="4122115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000" dirty="0"/>
          </a:p>
        </p:txBody>
      </p:sp>
      <p:sp>
        <p:nvSpPr>
          <p:cNvPr id="9" name="S05-line97"/>
          <p:cNvSpPr/>
          <p:nvPr/>
        </p:nvSpPr>
        <p:spPr>
          <a:xfrm>
            <a:off x="7142836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5-line98"/>
          <p:cNvSpPr/>
          <p:nvPr/>
        </p:nvSpPr>
        <p:spPr>
          <a:xfrm>
            <a:off x="7596835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5-line99"/>
          <p:cNvSpPr/>
          <p:nvPr/>
        </p:nvSpPr>
        <p:spPr>
          <a:xfrm>
            <a:off x="8050835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5-line100"/>
          <p:cNvSpPr/>
          <p:nvPr/>
        </p:nvSpPr>
        <p:spPr>
          <a:xfrm>
            <a:off x="8504834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5-line101"/>
          <p:cNvSpPr/>
          <p:nvPr/>
        </p:nvSpPr>
        <p:spPr>
          <a:xfrm>
            <a:off x="8958834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5-line102"/>
          <p:cNvSpPr/>
          <p:nvPr/>
        </p:nvSpPr>
        <p:spPr>
          <a:xfrm>
            <a:off x="9412834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5-line103"/>
          <p:cNvSpPr/>
          <p:nvPr/>
        </p:nvSpPr>
        <p:spPr>
          <a:xfrm>
            <a:off x="9866833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5-line104"/>
          <p:cNvSpPr/>
          <p:nvPr/>
        </p:nvSpPr>
        <p:spPr>
          <a:xfrm>
            <a:off x="10320833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5-line105"/>
          <p:cNvSpPr/>
          <p:nvPr/>
        </p:nvSpPr>
        <p:spPr>
          <a:xfrm>
            <a:off x="10774832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5-line106"/>
          <p:cNvSpPr/>
          <p:nvPr/>
        </p:nvSpPr>
        <p:spPr>
          <a:xfrm>
            <a:off x="11228832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5-label107"/>
          <p:cNvSpPr txBox="1"/>
          <p:nvPr/>
        </p:nvSpPr>
        <p:spPr>
          <a:xfrm>
            <a:off x="10771632" y="4122115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000" dirty="0"/>
          </a:p>
        </p:txBody>
      </p:sp>
      <p:sp>
        <p:nvSpPr>
          <p:cNvPr id="20" name="S05-mark108"/>
          <p:cNvSpPr/>
          <p:nvPr/>
        </p:nvSpPr>
        <p:spPr>
          <a:xfrm>
            <a:off x="8413394" y="384779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1" name="S05-label109"/>
          <p:cNvSpPr txBox="1"/>
          <p:nvPr/>
        </p:nvSpPr>
        <p:spPr>
          <a:xfrm>
            <a:off x="7956194" y="3380435"/>
            <a:ext cx="109728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000" dirty="0"/>
          </a:p>
        </p:txBody>
      </p:sp>
      <p:sp>
        <p:nvSpPr>
          <p:cNvPr id="22" name="S05-mark110"/>
          <p:cNvSpPr/>
          <p:nvPr/>
        </p:nvSpPr>
        <p:spPr>
          <a:xfrm>
            <a:off x="10229393" y="384779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3" name="S05-label111"/>
          <p:cNvSpPr txBox="1"/>
          <p:nvPr/>
        </p:nvSpPr>
        <p:spPr>
          <a:xfrm>
            <a:off x="9772193" y="3380435"/>
            <a:ext cx="109728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000" dirty="0"/>
          </a:p>
        </p:txBody>
      </p:sp>
      <p:sp>
        <p:nvSpPr>
          <p:cNvPr id="24" name="S05-figure112" descr="0과 1만 수가 적힌 0.1 간격 수직선. 가는 0.4, 나는 0.8 자리"/>
          <p:cNvSpPr/>
          <p:nvPr/>
        </p:nvSpPr>
        <p:spPr>
          <a:xfrm>
            <a:off x="6414516" y="3756355"/>
            <a:ext cx="5088636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05-chip11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26" name="S05-text114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가가 나타내는 소수</a:t>
            </a:r>
            <a:endParaRPr lang="ko-KR" sz="3000" dirty="0"/>
          </a:p>
        </p:txBody>
      </p:sp>
      <p:sp>
        <p:nvSpPr>
          <p:cNvPr id="27" name="S05-chip11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28" name="S05-text116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나가 나타내는 소수</a:t>
            </a:r>
            <a:endParaRPr lang="ko-KR" sz="3000" dirty="0"/>
          </a:p>
        </p:txBody>
      </p:sp>
      <p:sp>
        <p:nvSpPr>
          <p:cNvPr id="29" name="S05-chip11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30" name="S05-cell118"/>
          <p:cNvSpPr/>
          <p:nvPr/>
        </p:nvSpPr>
        <p:spPr>
          <a:xfrm>
            <a:off x="1344168" y="4389120"/>
            <a:ext cx="456743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5-cell119"/>
          <p:cNvSpPr/>
          <p:nvPr/>
        </p:nvSpPr>
        <p:spPr>
          <a:xfrm>
            <a:off x="1800911" y="4389120"/>
            <a:ext cx="456743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5-cell120"/>
          <p:cNvSpPr/>
          <p:nvPr/>
        </p:nvSpPr>
        <p:spPr>
          <a:xfrm>
            <a:off x="2257654" y="4389120"/>
            <a:ext cx="456743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5-cell121"/>
          <p:cNvSpPr/>
          <p:nvPr/>
        </p:nvSpPr>
        <p:spPr>
          <a:xfrm>
            <a:off x="2714396" y="4389120"/>
            <a:ext cx="456743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5-cell122"/>
          <p:cNvSpPr/>
          <p:nvPr/>
        </p:nvSpPr>
        <p:spPr>
          <a:xfrm>
            <a:off x="3171139" y="4389120"/>
            <a:ext cx="456743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5-cell123"/>
          <p:cNvSpPr/>
          <p:nvPr/>
        </p:nvSpPr>
        <p:spPr>
          <a:xfrm>
            <a:off x="3627882" y="4389120"/>
            <a:ext cx="456743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5-cell124"/>
          <p:cNvSpPr/>
          <p:nvPr/>
        </p:nvSpPr>
        <p:spPr>
          <a:xfrm>
            <a:off x="4084625" y="4389120"/>
            <a:ext cx="456743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5-cell125"/>
          <p:cNvSpPr/>
          <p:nvPr/>
        </p:nvSpPr>
        <p:spPr>
          <a:xfrm>
            <a:off x="4541368" y="4389120"/>
            <a:ext cx="456743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5-cell126"/>
          <p:cNvSpPr/>
          <p:nvPr/>
        </p:nvSpPr>
        <p:spPr>
          <a:xfrm>
            <a:off x="4998110" y="4389120"/>
            <a:ext cx="456743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5-cell127"/>
          <p:cNvSpPr/>
          <p:nvPr/>
        </p:nvSpPr>
        <p:spPr>
          <a:xfrm>
            <a:off x="5454853" y="4389120"/>
            <a:ext cx="456743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5-figure128" descr="똑같이 10칸으로 나눈 띠, 6칸 색칠"/>
          <p:cNvSpPr/>
          <p:nvPr/>
        </p:nvSpPr>
        <p:spPr>
          <a:xfrm>
            <a:off x="1344168" y="4389120"/>
            <a:ext cx="4567428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1보다 큰 소수</a:t>
            </a:r>
            <a:endParaRPr lang="ko-KR" sz="4000" dirty="0"/>
          </a:p>
        </p:txBody>
      </p:sp>
      <p:sp>
        <p:nvSpPr>
          <p:cNvPr id="3" name="S06-text1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0.3만큼을 1.3이라고 써요.</a:t>
            </a:r>
            <a:endParaRPr lang="ko-KR" sz="3000" dirty="0"/>
          </a:p>
        </p:txBody>
      </p:sp>
      <p:sp>
        <p:nvSpPr>
          <p:cNvPr id="4" name="S06-card130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131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1.3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‘일 점 삼’이라고 읽어요.</a:t>
            </a:r>
            <a:endParaRPr lang="ko-KR" sz="3000" dirty="0"/>
          </a:p>
        </p:txBody>
      </p:sp>
      <p:sp>
        <p:nvSpPr>
          <p:cNvPr id="6" name="S06-card132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133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13개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10개는 1, 3개는 0.3</a:t>
            </a:r>
            <a:endParaRPr lang="ko-KR" sz="3000" dirty="0"/>
          </a:p>
        </p:txBody>
      </p:sp>
      <p:sp>
        <p:nvSpPr>
          <p:cNvPr id="8" name="S06-label134"/>
          <p:cNvSpPr txBox="1"/>
          <p:nvPr/>
        </p:nvSpPr>
        <p:spPr>
          <a:xfrm>
            <a:off x="548640" y="251993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6-cell135"/>
          <p:cNvSpPr/>
          <p:nvPr/>
        </p:nvSpPr>
        <p:spPr>
          <a:xfrm>
            <a:off x="1600200" y="2519934"/>
            <a:ext cx="1004011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6-cell136"/>
          <p:cNvSpPr/>
          <p:nvPr/>
        </p:nvSpPr>
        <p:spPr>
          <a:xfrm>
            <a:off x="2604211" y="2519934"/>
            <a:ext cx="1004011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6-cell137"/>
          <p:cNvSpPr/>
          <p:nvPr/>
        </p:nvSpPr>
        <p:spPr>
          <a:xfrm>
            <a:off x="3608222" y="2519934"/>
            <a:ext cx="1004011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6-cell138"/>
          <p:cNvSpPr/>
          <p:nvPr/>
        </p:nvSpPr>
        <p:spPr>
          <a:xfrm>
            <a:off x="4612234" y="2519934"/>
            <a:ext cx="1004011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6-cell139"/>
          <p:cNvSpPr/>
          <p:nvPr/>
        </p:nvSpPr>
        <p:spPr>
          <a:xfrm>
            <a:off x="5616245" y="2519934"/>
            <a:ext cx="1004011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6-cell140"/>
          <p:cNvSpPr/>
          <p:nvPr/>
        </p:nvSpPr>
        <p:spPr>
          <a:xfrm>
            <a:off x="6620256" y="2519934"/>
            <a:ext cx="1004011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6-cell141"/>
          <p:cNvSpPr/>
          <p:nvPr/>
        </p:nvSpPr>
        <p:spPr>
          <a:xfrm>
            <a:off x="7624267" y="2519934"/>
            <a:ext cx="1004011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6-cell142"/>
          <p:cNvSpPr/>
          <p:nvPr/>
        </p:nvSpPr>
        <p:spPr>
          <a:xfrm>
            <a:off x="8628278" y="2519934"/>
            <a:ext cx="1004011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6-cell143"/>
          <p:cNvSpPr/>
          <p:nvPr/>
        </p:nvSpPr>
        <p:spPr>
          <a:xfrm>
            <a:off x="9632290" y="2519934"/>
            <a:ext cx="1004011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6-cell144"/>
          <p:cNvSpPr/>
          <p:nvPr/>
        </p:nvSpPr>
        <p:spPr>
          <a:xfrm>
            <a:off x="10636301" y="2519934"/>
            <a:ext cx="1004011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6-figure145" descr="똑같이 10칸으로 나눈 띠, 10칸 색칠"/>
          <p:cNvSpPr/>
          <p:nvPr/>
        </p:nvSpPr>
        <p:spPr>
          <a:xfrm>
            <a:off x="1600200" y="2519934"/>
            <a:ext cx="10040112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06-label146"/>
          <p:cNvSpPr txBox="1"/>
          <p:nvPr/>
        </p:nvSpPr>
        <p:spPr>
          <a:xfrm>
            <a:off x="548640" y="3507486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</a:t>
            </a:r>
            <a:endParaRPr lang="ko-KR" sz="2400" dirty="0"/>
          </a:p>
        </p:txBody>
      </p:sp>
      <p:sp>
        <p:nvSpPr>
          <p:cNvPr id="21" name="S06-cell147"/>
          <p:cNvSpPr/>
          <p:nvPr/>
        </p:nvSpPr>
        <p:spPr>
          <a:xfrm>
            <a:off x="1600200" y="3507486"/>
            <a:ext cx="1004011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6-cell148"/>
          <p:cNvSpPr/>
          <p:nvPr/>
        </p:nvSpPr>
        <p:spPr>
          <a:xfrm>
            <a:off x="2604211" y="3507486"/>
            <a:ext cx="1004011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6-cell149"/>
          <p:cNvSpPr/>
          <p:nvPr/>
        </p:nvSpPr>
        <p:spPr>
          <a:xfrm>
            <a:off x="3608222" y="3507486"/>
            <a:ext cx="1004011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6-cell150"/>
          <p:cNvSpPr/>
          <p:nvPr/>
        </p:nvSpPr>
        <p:spPr>
          <a:xfrm>
            <a:off x="4612234" y="3507486"/>
            <a:ext cx="1004011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6-cell151"/>
          <p:cNvSpPr/>
          <p:nvPr/>
        </p:nvSpPr>
        <p:spPr>
          <a:xfrm>
            <a:off x="5616245" y="3507486"/>
            <a:ext cx="1004011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6-cell152"/>
          <p:cNvSpPr/>
          <p:nvPr/>
        </p:nvSpPr>
        <p:spPr>
          <a:xfrm>
            <a:off x="6620256" y="3507486"/>
            <a:ext cx="1004011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6-cell153"/>
          <p:cNvSpPr/>
          <p:nvPr/>
        </p:nvSpPr>
        <p:spPr>
          <a:xfrm>
            <a:off x="7624267" y="3507486"/>
            <a:ext cx="1004011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6-cell154"/>
          <p:cNvSpPr/>
          <p:nvPr/>
        </p:nvSpPr>
        <p:spPr>
          <a:xfrm>
            <a:off x="8628278" y="3507486"/>
            <a:ext cx="1004011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6-cell155"/>
          <p:cNvSpPr/>
          <p:nvPr/>
        </p:nvSpPr>
        <p:spPr>
          <a:xfrm>
            <a:off x="9632290" y="3507486"/>
            <a:ext cx="1004011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6-cell156"/>
          <p:cNvSpPr/>
          <p:nvPr/>
        </p:nvSpPr>
        <p:spPr>
          <a:xfrm>
            <a:off x="10636301" y="3507486"/>
            <a:ext cx="1004011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6-figure157" descr="똑같이 10칸으로 나눈 띠, 3칸 색칠"/>
          <p:cNvSpPr/>
          <p:nvPr/>
        </p:nvSpPr>
        <p:spPr>
          <a:xfrm>
            <a:off x="1600200" y="3507486"/>
            <a:ext cx="10040112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읽고 써요</a:t>
            </a:r>
            <a:endParaRPr lang="ko-KR" sz="4000" dirty="0"/>
          </a:p>
        </p:txBody>
      </p:sp>
      <p:sp>
        <p:nvSpPr>
          <p:cNvPr id="3" name="S07-text15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물음에 답해요.</a:t>
            </a:r>
            <a:endParaRPr lang="ko-KR" sz="3000" dirty="0"/>
          </a:p>
        </p:txBody>
      </p:sp>
      <p:sp>
        <p:nvSpPr>
          <p:cNvPr id="4" name="S07-card1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1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몇 개인지 생각해요.</a:t>
            </a:r>
            <a:endParaRPr lang="ko-KR" sz="3000" dirty="0"/>
          </a:p>
        </p:txBody>
      </p:sp>
      <p:sp>
        <p:nvSpPr>
          <p:cNvPr id="6" name="S07-chip16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7-text162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0.7을 읽어요.</a:t>
            </a:r>
            <a:endParaRPr lang="ko-KR" sz="3000" dirty="0"/>
          </a:p>
        </p:txBody>
      </p:sp>
      <p:sp>
        <p:nvSpPr>
          <p:cNvPr id="8" name="S07-chip16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7-text164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9개인 수</a:t>
            </a:r>
            <a:endParaRPr lang="ko-KR" sz="3000" dirty="0"/>
          </a:p>
        </p:txBody>
      </p:sp>
      <p:sp>
        <p:nvSpPr>
          <p:cNvPr id="10" name="S07-chip165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7-text166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2와 0.4만큼인 수</a:t>
            </a:r>
            <a:endParaRPr lang="ko-KR" sz="3000" dirty="0"/>
          </a:p>
        </p:txBody>
      </p:sp>
      <p:sp>
        <p:nvSpPr>
          <p:cNvPr id="12" name="S07-chip167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7-num168"/>
          <p:cNvSpPr txBox="1"/>
          <p:nvPr/>
        </p:nvSpPr>
        <p:spPr>
          <a:xfrm>
            <a:off x="7072884" y="3843020"/>
            <a:ext cx="665480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14" name="S07-fracbar169"/>
          <p:cNvSpPr/>
          <p:nvPr/>
        </p:nvSpPr>
        <p:spPr>
          <a:xfrm>
            <a:off x="7109460" y="4389120"/>
            <a:ext cx="592328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5" name="S07-num170"/>
          <p:cNvSpPr txBox="1"/>
          <p:nvPr/>
        </p:nvSpPr>
        <p:spPr>
          <a:xfrm>
            <a:off x="7072884" y="4425696"/>
            <a:ext cx="665480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400" dirty="0"/>
          </a:p>
        </p:txBody>
      </p:sp>
      <p:sp>
        <p:nvSpPr>
          <p:cNvPr id="16" name="S07-op171"/>
          <p:cNvSpPr txBox="1"/>
          <p:nvPr/>
        </p:nvSpPr>
        <p:spPr>
          <a:xfrm>
            <a:off x="7848092" y="384302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17" name="S07-blank172"/>
          <p:cNvSpPr/>
          <p:nvPr/>
        </p:nvSpPr>
        <p:spPr>
          <a:xfrm>
            <a:off x="8546282" y="4200596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소수의 크기 비교</a:t>
            </a:r>
            <a:endParaRPr lang="ko-KR" sz="4000" dirty="0"/>
          </a:p>
        </p:txBody>
      </p:sp>
      <p:sp>
        <p:nvSpPr>
          <p:cNvPr id="3" name="S08-text17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0.6과 0.4를 비교해요.</a:t>
            </a:r>
            <a:endParaRPr lang="ko-KR" sz="3000" dirty="0"/>
          </a:p>
        </p:txBody>
      </p:sp>
      <p:sp>
        <p:nvSpPr>
          <p:cNvPr id="4" name="S08-card174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175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 &gt; 0.4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6개인 수가 4개인 수보다 커요.</a:t>
            </a:r>
            <a:endParaRPr lang="ko-KR" sz="3000" dirty="0"/>
          </a:p>
        </p:txBody>
      </p:sp>
      <p:sp>
        <p:nvSpPr>
          <p:cNvPr id="6" name="S08-label176"/>
          <p:cNvSpPr txBox="1"/>
          <p:nvPr/>
        </p:nvSpPr>
        <p:spPr>
          <a:xfrm>
            <a:off x="548640" y="2474214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</a:t>
            </a:r>
            <a:endParaRPr lang="ko-KR" sz="2400" dirty="0"/>
          </a:p>
        </p:txBody>
      </p:sp>
      <p:sp>
        <p:nvSpPr>
          <p:cNvPr id="7" name="S08-cell177"/>
          <p:cNvSpPr/>
          <p:nvPr/>
        </p:nvSpPr>
        <p:spPr>
          <a:xfrm>
            <a:off x="1600200" y="2474214"/>
            <a:ext cx="1004011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8-cell178"/>
          <p:cNvSpPr/>
          <p:nvPr/>
        </p:nvSpPr>
        <p:spPr>
          <a:xfrm>
            <a:off x="2604211" y="2474214"/>
            <a:ext cx="1004011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8-cell179"/>
          <p:cNvSpPr/>
          <p:nvPr/>
        </p:nvSpPr>
        <p:spPr>
          <a:xfrm>
            <a:off x="3608222" y="2474214"/>
            <a:ext cx="1004011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8-cell180"/>
          <p:cNvSpPr/>
          <p:nvPr/>
        </p:nvSpPr>
        <p:spPr>
          <a:xfrm>
            <a:off x="4612234" y="2474214"/>
            <a:ext cx="1004011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8-cell181"/>
          <p:cNvSpPr/>
          <p:nvPr/>
        </p:nvSpPr>
        <p:spPr>
          <a:xfrm>
            <a:off x="5616245" y="2474214"/>
            <a:ext cx="1004011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8-cell182"/>
          <p:cNvSpPr/>
          <p:nvPr/>
        </p:nvSpPr>
        <p:spPr>
          <a:xfrm>
            <a:off x="6620256" y="2474214"/>
            <a:ext cx="1004011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8-cell183"/>
          <p:cNvSpPr/>
          <p:nvPr/>
        </p:nvSpPr>
        <p:spPr>
          <a:xfrm>
            <a:off x="7624267" y="2474214"/>
            <a:ext cx="1004011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8-cell184"/>
          <p:cNvSpPr/>
          <p:nvPr/>
        </p:nvSpPr>
        <p:spPr>
          <a:xfrm>
            <a:off x="8628278" y="2474214"/>
            <a:ext cx="1004011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8-cell185"/>
          <p:cNvSpPr/>
          <p:nvPr/>
        </p:nvSpPr>
        <p:spPr>
          <a:xfrm>
            <a:off x="9632290" y="2474214"/>
            <a:ext cx="1004011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8-cell186"/>
          <p:cNvSpPr/>
          <p:nvPr/>
        </p:nvSpPr>
        <p:spPr>
          <a:xfrm>
            <a:off x="10636301" y="2474214"/>
            <a:ext cx="1004011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8-figure187" descr="똑같이 10칸으로 나눈 띠, 6칸 색칠"/>
          <p:cNvSpPr/>
          <p:nvPr/>
        </p:nvSpPr>
        <p:spPr>
          <a:xfrm>
            <a:off x="1600200" y="2474214"/>
            <a:ext cx="10040112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8-label188"/>
          <p:cNvSpPr txBox="1"/>
          <p:nvPr/>
        </p:nvSpPr>
        <p:spPr>
          <a:xfrm>
            <a:off x="548640" y="3507486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</a:t>
            </a:r>
            <a:endParaRPr lang="ko-KR" sz="2400" dirty="0"/>
          </a:p>
        </p:txBody>
      </p:sp>
      <p:sp>
        <p:nvSpPr>
          <p:cNvPr id="19" name="S08-cell189"/>
          <p:cNvSpPr/>
          <p:nvPr/>
        </p:nvSpPr>
        <p:spPr>
          <a:xfrm>
            <a:off x="1600200" y="3507486"/>
            <a:ext cx="1004011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8-cell190"/>
          <p:cNvSpPr/>
          <p:nvPr/>
        </p:nvSpPr>
        <p:spPr>
          <a:xfrm>
            <a:off x="2604211" y="3507486"/>
            <a:ext cx="1004011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8-cell191"/>
          <p:cNvSpPr/>
          <p:nvPr/>
        </p:nvSpPr>
        <p:spPr>
          <a:xfrm>
            <a:off x="3608222" y="3507486"/>
            <a:ext cx="1004011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8-cell192"/>
          <p:cNvSpPr/>
          <p:nvPr/>
        </p:nvSpPr>
        <p:spPr>
          <a:xfrm>
            <a:off x="4612234" y="3507486"/>
            <a:ext cx="1004011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8-cell193"/>
          <p:cNvSpPr/>
          <p:nvPr/>
        </p:nvSpPr>
        <p:spPr>
          <a:xfrm>
            <a:off x="5616245" y="3507486"/>
            <a:ext cx="1004011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8-cell194"/>
          <p:cNvSpPr/>
          <p:nvPr/>
        </p:nvSpPr>
        <p:spPr>
          <a:xfrm>
            <a:off x="6620256" y="3507486"/>
            <a:ext cx="1004011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8-cell195"/>
          <p:cNvSpPr/>
          <p:nvPr/>
        </p:nvSpPr>
        <p:spPr>
          <a:xfrm>
            <a:off x="7624267" y="3507486"/>
            <a:ext cx="1004011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8-cell196"/>
          <p:cNvSpPr/>
          <p:nvPr/>
        </p:nvSpPr>
        <p:spPr>
          <a:xfrm>
            <a:off x="8628278" y="3507486"/>
            <a:ext cx="1004011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8-cell197"/>
          <p:cNvSpPr/>
          <p:nvPr/>
        </p:nvSpPr>
        <p:spPr>
          <a:xfrm>
            <a:off x="9632290" y="3507486"/>
            <a:ext cx="1004011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8-cell198"/>
          <p:cNvSpPr/>
          <p:nvPr/>
        </p:nvSpPr>
        <p:spPr>
          <a:xfrm>
            <a:off x="10636301" y="3507486"/>
            <a:ext cx="1004011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8-figure199" descr="똑같이 10칸으로 나눈 띠, 4칸 색칠"/>
          <p:cNvSpPr/>
          <p:nvPr/>
        </p:nvSpPr>
        <p:spPr>
          <a:xfrm>
            <a:off x="1600200" y="3507486"/>
            <a:ext cx="10040112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0" name="S08-guide200"/>
          <p:cNvSpPr/>
          <p:nvPr/>
        </p:nvSpPr>
        <p:spPr>
          <a:xfrm>
            <a:off x="7624267" y="2337054"/>
            <a:ext cx="0" cy="2084832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9-card20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20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1.2와 0.9를 비교했어요.</a:t>
            </a:r>
            <a:endParaRPr lang="ko-KR" sz="3000" dirty="0"/>
          </a:p>
        </p:txBody>
      </p:sp>
      <p:sp>
        <p:nvSpPr>
          <p:cNvPr id="5" name="S09-card2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2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0.1이 몇 개인지 세어 봐요.</a:t>
            </a:r>
            <a:endParaRPr lang="ko-KR" sz="3000" dirty="0"/>
          </a:p>
        </p:txBody>
      </p:sp>
      <p:sp>
        <p:nvSpPr>
          <p:cNvPr id="7" name="S09-chip20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0.9가 더 커요</a:t>
            </a:r>
            <a:endParaRPr lang="ko-KR" sz="2400" dirty="0"/>
          </a:p>
        </p:txBody>
      </p:sp>
      <p:sp>
        <p:nvSpPr>
          <p:cNvPr id="8" name="S09-text20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“9가 2보다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크니까요.”</a:t>
            </a:r>
            <a:endParaRPr lang="ko-KR" sz="3000" dirty="0"/>
          </a:p>
        </p:txBody>
      </p:sp>
      <p:sp>
        <p:nvSpPr>
          <p:cNvPr id="9" name="S09-chip20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1.2가 더 커요</a:t>
            </a:r>
            <a:endParaRPr lang="ko-KR" sz="2400" dirty="0"/>
          </a:p>
        </p:txBody>
      </p:sp>
      <p:sp>
        <p:nvSpPr>
          <p:cNvPr id="10" name="S09-line208"/>
          <p:cNvSpPr/>
          <p:nvPr/>
        </p:nvSpPr>
        <p:spPr>
          <a:xfrm>
            <a:off x="6414516" y="3655568"/>
            <a:ext cx="50886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1" name="S09-line209"/>
          <p:cNvSpPr/>
          <p:nvPr/>
        </p:nvSpPr>
        <p:spPr>
          <a:xfrm>
            <a:off x="6688836" y="35092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9-label210"/>
          <p:cNvSpPr txBox="1"/>
          <p:nvPr/>
        </p:nvSpPr>
        <p:spPr>
          <a:xfrm>
            <a:off x="6231636" y="38384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13" name="S09-line211"/>
          <p:cNvSpPr/>
          <p:nvPr/>
        </p:nvSpPr>
        <p:spPr>
          <a:xfrm>
            <a:off x="6915836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9-line212"/>
          <p:cNvSpPr/>
          <p:nvPr/>
        </p:nvSpPr>
        <p:spPr>
          <a:xfrm>
            <a:off x="7142836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9-line213"/>
          <p:cNvSpPr/>
          <p:nvPr/>
        </p:nvSpPr>
        <p:spPr>
          <a:xfrm>
            <a:off x="7369835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9-line214"/>
          <p:cNvSpPr/>
          <p:nvPr/>
        </p:nvSpPr>
        <p:spPr>
          <a:xfrm>
            <a:off x="7596835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9-line215"/>
          <p:cNvSpPr/>
          <p:nvPr/>
        </p:nvSpPr>
        <p:spPr>
          <a:xfrm>
            <a:off x="7823835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9-line216"/>
          <p:cNvSpPr/>
          <p:nvPr/>
        </p:nvSpPr>
        <p:spPr>
          <a:xfrm>
            <a:off x="8050835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9-line217"/>
          <p:cNvSpPr/>
          <p:nvPr/>
        </p:nvSpPr>
        <p:spPr>
          <a:xfrm>
            <a:off x="8277835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9-line218"/>
          <p:cNvSpPr/>
          <p:nvPr/>
        </p:nvSpPr>
        <p:spPr>
          <a:xfrm>
            <a:off x="8504834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9-line219"/>
          <p:cNvSpPr/>
          <p:nvPr/>
        </p:nvSpPr>
        <p:spPr>
          <a:xfrm>
            <a:off x="8731834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9-line220"/>
          <p:cNvSpPr/>
          <p:nvPr/>
        </p:nvSpPr>
        <p:spPr>
          <a:xfrm>
            <a:off x="8958834" y="35092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9-label221"/>
          <p:cNvSpPr txBox="1"/>
          <p:nvPr/>
        </p:nvSpPr>
        <p:spPr>
          <a:xfrm>
            <a:off x="8501634" y="38384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24" name="S09-line222"/>
          <p:cNvSpPr/>
          <p:nvPr/>
        </p:nvSpPr>
        <p:spPr>
          <a:xfrm>
            <a:off x="9185834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9-line223"/>
          <p:cNvSpPr/>
          <p:nvPr/>
        </p:nvSpPr>
        <p:spPr>
          <a:xfrm>
            <a:off x="9412834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9-line224"/>
          <p:cNvSpPr/>
          <p:nvPr/>
        </p:nvSpPr>
        <p:spPr>
          <a:xfrm>
            <a:off x="9639833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9-line225"/>
          <p:cNvSpPr/>
          <p:nvPr/>
        </p:nvSpPr>
        <p:spPr>
          <a:xfrm>
            <a:off x="9866833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9-line226"/>
          <p:cNvSpPr/>
          <p:nvPr/>
        </p:nvSpPr>
        <p:spPr>
          <a:xfrm>
            <a:off x="10093833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9-line227"/>
          <p:cNvSpPr/>
          <p:nvPr/>
        </p:nvSpPr>
        <p:spPr>
          <a:xfrm>
            <a:off x="10320833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9-line228"/>
          <p:cNvSpPr/>
          <p:nvPr/>
        </p:nvSpPr>
        <p:spPr>
          <a:xfrm>
            <a:off x="10547833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9-line229"/>
          <p:cNvSpPr/>
          <p:nvPr/>
        </p:nvSpPr>
        <p:spPr>
          <a:xfrm>
            <a:off x="10774832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9-line230"/>
          <p:cNvSpPr/>
          <p:nvPr/>
        </p:nvSpPr>
        <p:spPr>
          <a:xfrm>
            <a:off x="11001832" y="3573272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3" name="S09-line231"/>
          <p:cNvSpPr/>
          <p:nvPr/>
        </p:nvSpPr>
        <p:spPr>
          <a:xfrm>
            <a:off x="11228832" y="35092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09-label232"/>
          <p:cNvSpPr txBox="1"/>
          <p:nvPr/>
        </p:nvSpPr>
        <p:spPr>
          <a:xfrm>
            <a:off x="10771632" y="3838448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35" name="S09-mark233"/>
          <p:cNvSpPr/>
          <p:nvPr/>
        </p:nvSpPr>
        <p:spPr>
          <a:xfrm>
            <a:off x="8640394" y="3564128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6" name="S09-label234"/>
          <p:cNvSpPr txBox="1"/>
          <p:nvPr/>
        </p:nvSpPr>
        <p:spPr>
          <a:xfrm>
            <a:off x="8183194" y="3162808"/>
            <a:ext cx="109728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</a:t>
            </a:r>
            <a:endParaRPr lang="ko-KR" sz="1600" dirty="0"/>
          </a:p>
        </p:txBody>
      </p:sp>
      <p:sp>
        <p:nvSpPr>
          <p:cNvPr id="37" name="S09-mark235"/>
          <p:cNvSpPr/>
          <p:nvPr/>
        </p:nvSpPr>
        <p:spPr>
          <a:xfrm>
            <a:off x="9321394" y="3564128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8" name="S09-label236"/>
          <p:cNvSpPr txBox="1"/>
          <p:nvPr/>
        </p:nvSpPr>
        <p:spPr>
          <a:xfrm>
            <a:off x="8864194" y="3162808"/>
            <a:ext cx="109728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</a:t>
            </a:r>
            <a:endParaRPr lang="ko-KR" sz="1600" dirty="0"/>
          </a:p>
        </p:txBody>
      </p:sp>
      <p:sp>
        <p:nvSpPr>
          <p:cNvPr id="39" name="S09-figure237" descr="0부터 2까지 0.1 간격 수직선, 0.9와 1.2에 점"/>
          <p:cNvSpPr/>
          <p:nvPr/>
        </p:nvSpPr>
        <p:spPr>
          <a:xfrm>
            <a:off x="6414516" y="3472688"/>
            <a:ext cx="5088636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09-text238"/>
          <p:cNvSpPr txBox="1"/>
          <p:nvPr/>
        </p:nvSpPr>
        <p:spPr>
          <a:xfrm>
            <a:off x="6277356" y="4285488"/>
            <a:ext cx="5362956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“1.2는 1보다 크고,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0.9는 1보다 작아요.”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크기를 비교해요</a:t>
            </a:r>
            <a:endParaRPr lang="ko-KR" sz="4000" dirty="0"/>
          </a:p>
        </p:txBody>
      </p:sp>
      <p:sp>
        <p:nvSpPr>
          <p:cNvPr id="3" name="S10-text2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안에 &gt;, &lt;를 알맞게 써요.</a:t>
            </a:r>
            <a:endParaRPr lang="ko-KR" sz="3000" dirty="0"/>
          </a:p>
        </p:txBody>
      </p:sp>
      <p:sp>
        <p:nvSpPr>
          <p:cNvPr id="4" name="S10-card2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2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몇 개인지 비교해요.</a:t>
            </a:r>
            <a:endParaRPr lang="ko-KR" sz="3000" dirty="0"/>
          </a:p>
        </p:txBody>
      </p:sp>
      <p:sp>
        <p:nvSpPr>
          <p:cNvPr id="6" name="S10-chip24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0-eqtext243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 ○ 0.8</a:t>
            </a:r>
            <a:endParaRPr lang="ko-KR" sz="3400" dirty="0"/>
          </a:p>
        </p:txBody>
      </p:sp>
      <p:sp>
        <p:nvSpPr>
          <p:cNvPr id="8" name="S10-chip244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0-eqtext245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 ○ 0.3</a:t>
            </a:r>
            <a:endParaRPr lang="ko-KR" sz="3400" dirty="0"/>
          </a:p>
        </p:txBody>
      </p:sp>
      <p:sp>
        <p:nvSpPr>
          <p:cNvPr id="10" name="S10-chip246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0-eqtext247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1.4 ○ 0.6</a:t>
            </a:r>
            <a:endParaRPr lang="ko-KR" sz="3400" dirty="0"/>
          </a:p>
        </p:txBody>
      </p:sp>
      <p:sp>
        <p:nvSpPr>
          <p:cNvPr id="12" name="S10-chip248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10-eqtext249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2.1 ○ 1.9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2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까닭을 말해요.</a:t>
            </a:r>
            <a:endParaRPr lang="ko-KR" sz="3000" dirty="0"/>
          </a:p>
        </p:txBody>
      </p:sp>
      <p:sp>
        <p:nvSpPr>
          <p:cNvPr id="4" name="S11-chip25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1-text252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10분의 7을 소수로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쓰고 읽어요.</a:t>
            </a:r>
            <a:endParaRPr lang="ko-KR" sz="3000" dirty="0"/>
          </a:p>
        </p:txBody>
      </p:sp>
      <p:sp>
        <p:nvSpPr>
          <p:cNvPr id="6" name="S11-chip25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1-text254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15개인 수는?</a:t>
            </a:r>
            <a:endParaRPr lang="ko-KR" sz="3000" dirty="0"/>
          </a:p>
        </p:txBody>
      </p:sp>
      <p:sp>
        <p:nvSpPr>
          <p:cNvPr id="8" name="S11-chip255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1-eqtext256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 ○ 0.9</a:t>
            </a:r>
            <a:endParaRPr lang="ko-KR" sz="3400" dirty="0"/>
          </a:p>
        </p:txBody>
      </p:sp>
      <p:sp>
        <p:nvSpPr>
          <p:cNvPr id="10" name="S11-chip257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1-eqtext258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1.3 ○ 0.8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0.6과 같은 것은?</a:t>
            </a:r>
            <a:endParaRPr lang="ko-KR" sz="4000" dirty="0"/>
          </a:p>
        </p:txBody>
      </p:sp>
      <p:sp>
        <p:nvSpPr>
          <p:cNvPr id="3" name="S13-text2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0.6과 크기가 같은 것을 모두 골라요.</a:t>
            </a:r>
            <a:endParaRPr lang="ko-KR" sz="3000" dirty="0"/>
          </a:p>
        </p:txBody>
      </p:sp>
      <p:sp>
        <p:nvSpPr>
          <p:cNvPr id="4" name="S13-card2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2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까닭을 말해요.</a:t>
            </a:r>
            <a:endParaRPr lang="ko-KR" sz="3000" dirty="0"/>
          </a:p>
        </p:txBody>
      </p:sp>
      <p:sp>
        <p:nvSpPr>
          <p:cNvPr id="6" name="S13-chip262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3-cell263"/>
          <p:cNvSpPr/>
          <p:nvPr/>
        </p:nvSpPr>
        <p:spPr>
          <a:xfrm>
            <a:off x="548640" y="3598164"/>
            <a:ext cx="345338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3-cell264"/>
          <p:cNvSpPr/>
          <p:nvPr/>
        </p:nvSpPr>
        <p:spPr>
          <a:xfrm>
            <a:off x="893978" y="3598164"/>
            <a:ext cx="345338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3-cell265"/>
          <p:cNvSpPr/>
          <p:nvPr/>
        </p:nvSpPr>
        <p:spPr>
          <a:xfrm>
            <a:off x="1239317" y="3598164"/>
            <a:ext cx="345338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3-cell266"/>
          <p:cNvSpPr/>
          <p:nvPr/>
        </p:nvSpPr>
        <p:spPr>
          <a:xfrm>
            <a:off x="1584655" y="3598164"/>
            <a:ext cx="345338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3-cell267"/>
          <p:cNvSpPr/>
          <p:nvPr/>
        </p:nvSpPr>
        <p:spPr>
          <a:xfrm>
            <a:off x="1929994" y="3598164"/>
            <a:ext cx="345338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3-cell268"/>
          <p:cNvSpPr/>
          <p:nvPr/>
        </p:nvSpPr>
        <p:spPr>
          <a:xfrm>
            <a:off x="2275332" y="3598164"/>
            <a:ext cx="345338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3-cell269"/>
          <p:cNvSpPr/>
          <p:nvPr/>
        </p:nvSpPr>
        <p:spPr>
          <a:xfrm>
            <a:off x="2620670" y="3598164"/>
            <a:ext cx="345338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3-cell270"/>
          <p:cNvSpPr/>
          <p:nvPr/>
        </p:nvSpPr>
        <p:spPr>
          <a:xfrm>
            <a:off x="2966009" y="3598164"/>
            <a:ext cx="345338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3-cell271"/>
          <p:cNvSpPr/>
          <p:nvPr/>
        </p:nvSpPr>
        <p:spPr>
          <a:xfrm>
            <a:off x="3311347" y="3598164"/>
            <a:ext cx="345338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3-cell272"/>
          <p:cNvSpPr/>
          <p:nvPr/>
        </p:nvSpPr>
        <p:spPr>
          <a:xfrm>
            <a:off x="3656686" y="3598164"/>
            <a:ext cx="345338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3-figure273" descr="똑같이 10칸으로 나눈 띠, 6칸 색칠"/>
          <p:cNvSpPr/>
          <p:nvPr/>
        </p:nvSpPr>
        <p:spPr>
          <a:xfrm>
            <a:off x="548640" y="3598164"/>
            <a:ext cx="3453384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13-chip274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9" name="S13-card275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0" name="S13-cardtext276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10분의 6</a:t>
            </a:r>
            <a:endParaRPr lang="ko-KR" sz="3000" dirty="0"/>
          </a:p>
        </p:txBody>
      </p:sp>
      <p:sp>
        <p:nvSpPr>
          <p:cNvPr id="21" name="S13-chip277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22" name="S13-card278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3" name="S13-cardtext279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16개인 수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28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28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10분의 1은 0.1이에요. 0.1이 많을수록 큰 수예요.</a:t>
            </a:r>
            <a:endParaRPr lang="ko-KR" sz="3000" dirty="0"/>
          </a:p>
        </p:txBody>
      </p:sp>
      <p:sp>
        <p:nvSpPr>
          <p:cNvPr id="5" name="S14-chip282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0.1이 몇 개인지 세기</a:t>
            </a:r>
            <a:endParaRPr lang="ko-KR" sz="2400" dirty="0"/>
          </a:p>
        </p:txBody>
      </p:sp>
      <p:sp>
        <p:nvSpPr>
          <p:cNvPr id="6" name="S14-chip283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숫자 하나만 보고 비교하기</a:t>
            </a:r>
            <a:endParaRPr lang="ko-KR" sz="2400" dirty="0"/>
          </a:p>
        </p:txBody>
      </p:sp>
      <p:sp>
        <p:nvSpPr>
          <p:cNvPr id="7" name="S14-text284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285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10분의 4를 소수로</a:t>
            </a:r>
            <a:endParaRPr lang="ko-KR" sz="2400" dirty="0"/>
          </a:p>
        </p:txBody>
      </p:sp>
      <p:sp>
        <p:nvSpPr>
          <p:cNvPr id="9" name="S14-eqtext286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0.7 ○ 1.1</a:t>
            </a:r>
            <a:endParaRPr lang="ko-KR" sz="2800" dirty="0"/>
          </a:p>
        </p:txBody>
      </p:sp>
      <p:sp>
        <p:nvSpPr>
          <p:cNvPr id="10" name="S14-text287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0.1이 23개인 수</a:t>
            </a:r>
            <a:endParaRPr lang="ko-KR" sz="2400" dirty="0"/>
          </a:p>
        </p:txBody>
      </p:sp>
      <p:sp>
        <p:nvSpPr>
          <p:cNvPr id="11" name="S14-text28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묶음을 분수로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10분의 3</a:t>
            </a:r>
            <a:endParaRPr lang="ko-KR" sz="4000" dirty="0"/>
          </a:p>
        </p:txBody>
      </p:sp>
      <p:sp>
        <p:nvSpPr>
          <p:cNvPr id="3" name="S15-text28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10칸으로 나눈 것 중 3칸이에요.</a:t>
            </a:r>
            <a:endParaRPr lang="ko-KR" sz="3000" dirty="0"/>
          </a:p>
        </p:txBody>
      </p:sp>
      <p:sp>
        <p:nvSpPr>
          <p:cNvPr id="4" name="S15-card290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5-cardtext291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10분의 1이 3개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10분의 3</a:t>
            </a:r>
            <a:endParaRPr lang="ko-KR" sz="3000" dirty="0"/>
          </a:p>
        </p:txBody>
      </p:sp>
      <p:sp>
        <p:nvSpPr>
          <p:cNvPr id="6" name="S15-card292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293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 10, 분자 3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10칸 중 3칸</a:t>
            </a:r>
            <a:endParaRPr lang="ko-KR" sz="3000" dirty="0"/>
          </a:p>
        </p:txBody>
      </p:sp>
      <p:sp>
        <p:nvSpPr>
          <p:cNvPr id="8" name="S15-num294"/>
          <p:cNvSpPr txBox="1"/>
          <p:nvPr/>
        </p:nvSpPr>
        <p:spPr>
          <a:xfrm>
            <a:off x="717296" y="292328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9" name="S15-fracbar295"/>
          <p:cNvSpPr/>
          <p:nvPr/>
        </p:nvSpPr>
        <p:spPr>
          <a:xfrm>
            <a:off x="753872" y="337947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5-num296"/>
          <p:cNvSpPr txBox="1"/>
          <p:nvPr/>
        </p:nvSpPr>
        <p:spPr>
          <a:xfrm>
            <a:off x="717296" y="341604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11" name="S15-cell297"/>
          <p:cNvSpPr/>
          <p:nvPr/>
        </p:nvSpPr>
        <p:spPr>
          <a:xfrm>
            <a:off x="1600200" y="2967990"/>
            <a:ext cx="100401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5-cell298"/>
          <p:cNvSpPr/>
          <p:nvPr/>
        </p:nvSpPr>
        <p:spPr>
          <a:xfrm>
            <a:off x="2604211" y="2967990"/>
            <a:ext cx="100401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5-cell299"/>
          <p:cNvSpPr/>
          <p:nvPr/>
        </p:nvSpPr>
        <p:spPr>
          <a:xfrm>
            <a:off x="3608222" y="2967990"/>
            <a:ext cx="100401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5-cell300"/>
          <p:cNvSpPr/>
          <p:nvPr/>
        </p:nvSpPr>
        <p:spPr>
          <a:xfrm>
            <a:off x="4612234" y="2967990"/>
            <a:ext cx="100401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5-cell301"/>
          <p:cNvSpPr/>
          <p:nvPr/>
        </p:nvSpPr>
        <p:spPr>
          <a:xfrm>
            <a:off x="5616245" y="2967990"/>
            <a:ext cx="100401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5-cell302"/>
          <p:cNvSpPr/>
          <p:nvPr/>
        </p:nvSpPr>
        <p:spPr>
          <a:xfrm>
            <a:off x="6620256" y="2967990"/>
            <a:ext cx="100401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5-cell303"/>
          <p:cNvSpPr/>
          <p:nvPr/>
        </p:nvSpPr>
        <p:spPr>
          <a:xfrm>
            <a:off x="7624267" y="2967990"/>
            <a:ext cx="100401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5-cell304"/>
          <p:cNvSpPr/>
          <p:nvPr/>
        </p:nvSpPr>
        <p:spPr>
          <a:xfrm>
            <a:off x="8628278" y="2967990"/>
            <a:ext cx="100401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5-cell305"/>
          <p:cNvSpPr/>
          <p:nvPr/>
        </p:nvSpPr>
        <p:spPr>
          <a:xfrm>
            <a:off x="9632290" y="2967990"/>
            <a:ext cx="100401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5-cell306"/>
          <p:cNvSpPr/>
          <p:nvPr/>
        </p:nvSpPr>
        <p:spPr>
          <a:xfrm>
            <a:off x="10636301" y="2967990"/>
            <a:ext cx="100401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5-figure307" descr="똑같이 10칸으로 나눈 띠, 3칸 색칠"/>
          <p:cNvSpPr/>
          <p:nvPr/>
        </p:nvSpPr>
        <p:spPr>
          <a:xfrm>
            <a:off x="1600200" y="2967990"/>
            <a:ext cx="10040112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소수의 뜻</dc:title>
  <dc:subject>KR22-G03-MAT-DECIMAL-L01</dc:subject>
  <dc:creator>education-ppt</dc:creator>
  <cp:lastModifiedBy>education-ppt</cp:lastModifiedBy>
  <cp:revision>1</cp:revision>
  <dcterms:created xsi:type="dcterms:W3CDTF">2026-10-26T07:47:24Z</dcterms:created>
  <dcterms:modified xsi:type="dcterms:W3CDTF">2026-10-26T07:47:24Z</dcterms:modified>
</cp:coreProperties>
</file>