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710751a-d425-67a9-3886-780b993d06f5}">
          <p14:sldIdLst>
            <p14:sldId id="256"/>
            <p14:sldId id="257"/>
          </p14:sldIdLst>
        </p14:section>
        <p14:section name="개념" id="{cae3760c-5bed-cf42-5ffb-f399c1b8c940}">
          <p14:sldIdLst>
            <p14:sldId id="258"/>
            <p14:sldId id="259"/>
            <p14:sldId id="261"/>
            <p14:sldId id="263"/>
          </p14:sldIdLst>
        </p14:section>
        <p14:section name="연습" id="{9f4613c7-7b12-985d-687b-5718a653b2e3}">
          <p14:sldIdLst>
            <p14:sldId id="260"/>
            <p14:sldId id="262"/>
            <p14:sldId id="264"/>
            <p14:sldId id="265"/>
          </p14:sldIdLst>
        </p14:section>
        <p14:section name="개념" id="{308265bc-d750-e0f5-a8a9-f0f058f72c1a}">
          <p14:sldIdLst/>
        </p14:section>
        <p14:section name="연습" id="{f0fba926-1f31-1c6f-fa3c-8128ea77d297}">
          <p14:sldIdLst/>
        </p14:section>
        <p14:section name="개념" id="{f45186eb-efa3-d2e9-13db-964049c407d2}">
          <p14:sldIdLst/>
        </p14:section>
        <p14:section name="연습" id="{e40797db-a105-a0df-17c5-96bde81577eb}">
          <p14:sldIdLst/>
        </p14:section>
        <p14:section name="확인" id="{169d8e72-4e0a-a899-79a1-28044bd10d35}">
          <p14:sldIdLst>
            <p14:sldId id="266"/>
            <p14:sldId id="267"/>
            <p14:sldId id="268"/>
          </p14:sldIdLst>
        </p14:section>
        <p14:section name="정리" id="{9a378aa4-b279-3b93-4ad5-f16bd12b4a0f}">
          <p14:sldIdLst>
            <p14:sldId id="269"/>
          </p14:sldIdLst>
        </p14:section>
        <p14:section name="보충" id="{0c558b3e-f1b6-ee00-f3f0-e30adc27332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분수 말고도 1보다 작은 양을 나타내는 방법이 있다는 것을 궁금하게 합니다.
시간: 약 2분
이렇게 말해 보세요
- “띠를 똑같이 10칸으로 나눈 것 중 1칸이야. 분수로 어떻게 쓰지?”
- “오늘은 이것을 다른 방법으로 쓰는 걸 배울 거야. 혹시 0.1 같은 수를 본 적 있어?”
예상 답
- “10분의 1이요.” “체온계에서 36.5를 봤어요.”
막히면
- 분수가 떠오르지 않으면 S15(보충)를 잠깐 봅니다.
주의
- 체온(36.5도)이나 시력(0.8)처럼 생활에서 본 소수를 말하면 칭찬하고, 오늘은 그런 수의 뜻을 배운다고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확인(10분의 몇, 분수 비교)]
목적: 10분의 몇을 분수로 쓰기, 분모가 같은 분수의 비교, 단위분수의 개수가 되는지 확인합니다. 오늘 소수는 이 생각 위에 세웁니다.
시간: 약 3분
이렇게 말해 보세요
- “①의 색칠한 부분을 분수로 말해 줘. ②는 ○ 안에 &gt;, &lt; 중 무엇을 쓸까? ③도 말해 볼래?”
정답
- ① 10분의 3
- ② &lt;
- ③ 10분의 6
막히면
- ①은 칸을 손가락으로 세어 10칸인지 먼저 확인합니다.
- 두 문제 이상 틀리면 S15(보충)를 먼저 합니다. 보충으로도 어려우면 초3 분수와소수 2차시 ‘단위분수와 크기 비교’(KR22-G03-MAT-UNITFRAC-L01)를 먼저 다시 합니다.
주의
- ③의 ‘10분의 1이 몇 개’라는 생각이 오늘 ‘0.1이 몇 개’로 그대로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10분의 1 = 0.1, 소수점]
목적: 10분의 1을 0.1로 쓰고 읽는 방법과, 0.1처럼 쓰는 수를 소수, 가운데 점을 소수점이라고 한다는 것을 압니다.
시간: 약 3분
이렇게 말해 보세요
- “10분의 1을 0.1이라고도 써. ‘영 점 일’이라고 읽어. 따라 읽어 볼까?”
- “0.1의 가운데 점을 소수점이라고 하고, 0.1처럼 쓰는 수를 소수라고 해.”
예상 답
- “영 점 일.”
막히면
- 종이 띠(10 cm, 1 cm마다 선)에 1칸을 색칠하고 ‘10분의 1, 0.1’을 함께 써 봅니다.
주의
- 0.1은 1보다 작은 수입니다. 0과 1 사이에 있다는 것을 S04 수직선에서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0.1이 몇 개(수직선)]
목적: 0과 1 사이를 똑같이 10칸으로 나눈 수직선에서 0.1, 0.2, …, 0.9를 알고, 0.1이 몇 개인지로 소수를 나타냅니다.
시간: 약 3분
이렇게 말해 보세요
- “0과 1 사이를 똑같이 10칸으로 나누었어. 한 칸이 0.1이야. 0에서 0.1씩 3번 뛰면 어디야?”
- “10분의 7은 소수로 어떻게 쓸까? 수직선에서 찾아볼래?”
예상 답
- “0.3이요.” “0.7이요. 영 점 칠.”
막히면
- 눈금 아래 수를 0.1, 0.2, 0.3… 하고 함께 읽으며 손가락으로 짚습니다.
주의
- 0.9 다음 눈금은 1입니다. 0.1이 10개면 1이 됩니다. 1.0이 아니라 1로 씁니다(1.0으로 써도 같은 수입니다).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연습(수직선·띠를 소수로)]
목적: 도움을 받으며 수직선의 위치와 띠의 색칠한 부분을 소수로 나타냅니다.
시간: 약 3분
이렇게 말해 보세요
- “가는 0에서 몇 칸 떨어져 있어? 한 칸이 0.1이니까 가는 얼마야?”
- “③은 10칸 중 몇 칸을 색칠했어? 분수와 소수로 말해 줘.”
정답
- ① 가 0.4
- ② 나 0.8
- ③ 10분의 6 = 0.6
막히면
- 수직선의 눈금을 0부터 손가락으로 짚으며 0.1, 0.2, 0.3… 하고 셉니다.
주의
- 0.4를 4라고만 말하면 “4칸이야, 4야?”라고 물어 0.1이 4개임을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1보다 큰 소수(1.3)]
목적: 1과 0.3만큼을 1.3으로 쓰고 읽으며, 1.3은 0.1이 13개라는 것을 압니다.
시간: 약 3분
이렇게 말해 보세요
- “위 띠는 10칸이 모두 색칠되었지? 이건 1이야. 아래 띠는 0.3이야. 모두 합하면 1과 0.3, 1.3이라고 써.”
- “0.1이 모두 몇 개야? 위 띠에 10개, 아래 띠에 3개.”
예상 답
- “일 점 삼.” “0.1이 13개예요.”
막히면
- 종이 띠 두 장을 놓고 한 장은 모두, 한 장은 3칸만 색칠해 0.1을 하나씩 셉니다.
주의
- 소수점 왼쪽은 1이 몇 개인지, 오른쪽은 0.1이 몇 개인지(1보다 작은 부분)를 나타냅니다.
- 1.3을 ‘십삼’이나 ‘일 점 십삼’으로 읽지 않게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연습(소수 읽기·쓰기)]
목적: 도움을 받으며 소수를 읽고 쓰고, 분수와 소수를 바꾸어 나타냅니다.
시간: 약 3분
이렇게 말해 보세요
- “①은 어떻게 읽을까? ②는 0.1이 9개면 얼마야?”
- “③은 2와 0.4만큼이면 어떻게 쓸까? ④는 10분의 5를 소수로 써 봐.”
정답
- ① 영 점 칠
- ② 0.9
- ③ 2.4(이 점 사)
- ④ 0.5
막히면
- ②, ④는 S04 수직선에서 찾아보게 합니다. ③은 S06처럼 띠를 그려 봅니다(띠 2개와 4칸).
주의
- ③을 0.24나 24로 쓰면 “2는 1이 2개, 0.4는 0.1이 4개야. 소수점은 어디에 찍을까?”라고 묻습니다.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소수의 크기 비교(0.1의 개수)]
목적: 소수의 크기를 0.1의 개수로 비교합니다. 분모가 같은 분수의 비교와 같은 생각입니다.
시간: 약 3분
이렇게 말해 보세요
- “0.6은 0.1이 몇 개야? 0.4는? 어느 것이 더 커?”
- “10분의 6과 10분의 4를 비교한 것과 같지?”
예상 답
- “6개, 4개요. 0.6이 더 커요.”
막히면
- 두 띠의 색칠한 칸을 하나씩 세어 보고, 점선으로 끝을 비교합니다.
주의
- 수직선에서는 오른쪽에 있는 수가 더 큽니다. 다음 장에서 수직선으로도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비교(숫자만 보고 비교)]
목적: 소수점 뒤의 숫자만 보고 비교하는 실수를 수직선과 0.1의 개수로 바로잡습니다(M1).
시간: 약 3분
이렇게 말해 보세요
- “토끼는 9가 2보다 크니까 0.9가 크대. 수직선에서 0.9와 1.2는 어디 있어? 어느 쪽이 오른쪽이야?”
- “0.9는 0.1이 몇 개야? 1.2는?”
예상 답
- “곰이요. 1.2는 1을 넘어요.”
정답
- 곰이 맞습니다. 1.2 &gt; 0.9입니다.
- 1.2는 0.1이 12개, 0.9는 0.1이 9개입니다. 1.2는 1보다 크고 0.9는 1보다 작습니다.
막히면
- 종이 띠로 1.2(띠 1장과 2칸)와 0.9(9칸)를 만들어 나란히 놓아 봅니다.
주의
- 소수를 비교할 때는 먼저 소수점 왼쪽(1이 몇 개)을 비교하고, 같으면 오른쪽(0.1이 몇 개)을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연습(소수의 크기 비교)]
목적: 도움을 받으며 소수 한 자리 수의 크기를 비교합니다.
시간: 약 3분
이렇게 말해 보세요
- “①은 0.1이 몇 개와 몇 개야? 어느 것이 더 커?”
- “④는 소수점 왼쪽부터 비교해 볼까? 2와 1 중 어느 것이 커?”
정답
- ① &lt;
- ② &gt;
- ③ &gt;
- ④ &gt;
막히면
- S04 수직선이나 S09 수직선에서 두 수의 자리를 찾아 어느 쪽이 오른쪽인지 봅니다.
주의
- ④를 ‘9가 1보다 크니까 1.9가 커요’라고 하면 S09로 돌아갑니다(M1).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소수를 쓰고 읽고, 0.1의 개수로 나타내며, 크기를 비교하는지 확인합니다.
시간: 약 5분
이렇게 말해 보세요
- “이번에는 혼자 해 볼래? 공책에 쓰고, ③, ④는 까닭도 말해 줘.”
정답
- ① 0.7, 영 점 칠
- ② 1.5
- ③ &lt;
- ④ &gt;
막히면
- 바로 알려 주지 말고 “0.1이 몇 개야?”라고만 묻습니다.
- 도움을 받아 해결했다면 기록표에 ‘도움’으로 표시합니다.
주의
- ②를 0.15로 쓰면 0.1이 10개면 1이라는 것을 S06으로 다시 확인합니다(M2).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띠를 그려서 같이 세어 보자.”
정답
- ① 0.7(영 점 칠) ② 1.5 ③ 0.4 &lt; 0.9 ④ 1.3 &gt; 0.8
막히면
- ②가 틀리면 S06으로, ④가 틀리면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확인(소수의 여러 표현)]
목적: 처음 보는 표현(그림·분수·0.1의 개수)에서 0.6과 같은 것을 찾는지 확인합니다.
시간: 약 2분
이렇게 말해 보세요
- “0.6과 크기가 같은 것을 모두 골라 볼래? 다는 얼마야?”
정답
- 가와 나입니다. 가는 10칸 중 6칸으로 0.6, 나는 10분의 6 = 0.6입니다.
- 다는 0.1이 16개라서 1.6입니다.
막히면
- 다를 띠 2장(한 장 가득, 6칸)으로 그려 보게 합니다.
주의
- 가만 고르면 “10분의 6을 소수로 쓰면?”이라고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“0.1은 무엇과 같았지? 1.3은 0.1이 몇 개야? 소수는 어떻게 비교했어?”
예상 답
- “10분의 1이요.” “13개요.” “0.1이 몇 개인지 세어서 비교해요.”
정답
- ① 0.4 ② &lt; ③ 2.3
막히면
- S04 수직선과 S06 띠를 다시 보여 주며 함께 말합니다.
주의
- 다음 차시는 여러 개의 물건(묶음)을 분수로 나타냅니다.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보충(10분의 몇)]
목적: S02에서 10분의 몇과 단위분수의 개수가 흔들리면, 10칸 띠로 다시 익힙니다.
시간: 약 5분
이렇게 말해 보세요
- “띠를 똑같이 10칸으로 나누었어. 3칸을 색칠하면 분수로 어떻게 써? 10분의 1이 몇 개야?”
정답
- 10분의 3, 10분의 1이 3개
막히면
- 10 cm 종이 띠에 1 cm마다 선을 긋고 한 칸씩 색칠하며 10분의 1, 10분의 2, 10분의 3을 말합니다.
주의
- 보충으로도 어려우면 초3 분수와소수 2차시 ‘단위분수와 크기 비교’(KR22-G03-MAT-UNITFRAC-L01)와 1차시 ‘분수의 뜻’을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소수의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소수의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소수의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뜻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 중 1칸을 수로 어떻게 쓸까?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680960" y="1783080"/>
            <a:ext cx="393192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074152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467344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8860536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253728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646920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040112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433304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826496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11219688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figure11" descr="똑같이 10칸으로 나눈 띠, 1칸 색칠"/>
          <p:cNvSpPr/>
          <p:nvPr/>
        </p:nvSpPr>
        <p:spPr>
          <a:xfrm>
            <a:off x="7680960" y="1783080"/>
            <a:ext cx="393192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1-card1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0.1을 알고, 소수를 읽고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소수의 크기를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96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cell15"/>
          <p:cNvSpPr/>
          <p:nvPr/>
        </p:nvSpPr>
        <p:spPr>
          <a:xfrm>
            <a:off x="1344168" y="1760220"/>
            <a:ext cx="5486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cell16"/>
          <p:cNvSpPr/>
          <p:nvPr/>
        </p:nvSpPr>
        <p:spPr>
          <a:xfrm>
            <a:off x="1892808" y="1760220"/>
            <a:ext cx="5486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7"/>
          <p:cNvSpPr/>
          <p:nvPr/>
        </p:nvSpPr>
        <p:spPr>
          <a:xfrm>
            <a:off x="2441448" y="1760220"/>
            <a:ext cx="5486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8"/>
          <p:cNvSpPr/>
          <p:nvPr/>
        </p:nvSpPr>
        <p:spPr>
          <a:xfrm>
            <a:off x="299008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9"/>
          <p:cNvSpPr/>
          <p:nvPr/>
        </p:nvSpPr>
        <p:spPr>
          <a:xfrm>
            <a:off x="353872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20"/>
          <p:cNvSpPr/>
          <p:nvPr/>
        </p:nvSpPr>
        <p:spPr>
          <a:xfrm>
            <a:off x="408736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cell21"/>
          <p:cNvSpPr/>
          <p:nvPr/>
        </p:nvSpPr>
        <p:spPr>
          <a:xfrm>
            <a:off x="463600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cell22"/>
          <p:cNvSpPr/>
          <p:nvPr/>
        </p:nvSpPr>
        <p:spPr>
          <a:xfrm>
            <a:off x="518464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23"/>
          <p:cNvSpPr/>
          <p:nvPr/>
        </p:nvSpPr>
        <p:spPr>
          <a:xfrm>
            <a:off x="573328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24"/>
          <p:cNvSpPr/>
          <p:nvPr/>
        </p:nvSpPr>
        <p:spPr>
          <a:xfrm>
            <a:off x="628192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figure25" descr="똑같이 10칸으로 나눈 띠, 3칸 색칠"/>
          <p:cNvSpPr/>
          <p:nvPr/>
        </p:nvSpPr>
        <p:spPr>
          <a:xfrm>
            <a:off x="1344168" y="1760220"/>
            <a:ext cx="54864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2-chip2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2-num27"/>
          <p:cNvSpPr txBox="1"/>
          <p:nvPr/>
        </p:nvSpPr>
        <p:spPr>
          <a:xfrm>
            <a:off x="1344168" y="320294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7" name="S02-fracbar28"/>
          <p:cNvSpPr/>
          <p:nvPr/>
        </p:nvSpPr>
        <p:spPr>
          <a:xfrm>
            <a:off x="1380744" y="374904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8" name="S02-num29"/>
          <p:cNvSpPr txBox="1"/>
          <p:nvPr/>
        </p:nvSpPr>
        <p:spPr>
          <a:xfrm>
            <a:off x="1344168" y="378561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9" name="S02-op30"/>
          <p:cNvSpPr txBox="1"/>
          <p:nvPr/>
        </p:nvSpPr>
        <p:spPr>
          <a:xfrm>
            <a:off x="2119376" y="320294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20" name="S02-num31"/>
          <p:cNvSpPr txBox="1"/>
          <p:nvPr/>
        </p:nvSpPr>
        <p:spPr>
          <a:xfrm>
            <a:off x="2908300" y="320294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21" name="S02-fracbar32"/>
          <p:cNvSpPr/>
          <p:nvPr/>
        </p:nvSpPr>
        <p:spPr>
          <a:xfrm>
            <a:off x="2944876" y="374904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2" name="S02-num33"/>
          <p:cNvSpPr txBox="1"/>
          <p:nvPr/>
        </p:nvSpPr>
        <p:spPr>
          <a:xfrm>
            <a:off x="2908300" y="378561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23" name="S02-chip3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4" name="S02-text3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1이 6개인 분수는?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 알아보기</a:t>
            </a:r>
            <a:endParaRPr lang="ko-KR" sz="4000" dirty="0"/>
          </a:p>
        </p:txBody>
      </p:sp>
      <p:sp>
        <p:nvSpPr>
          <p:cNvPr id="3" name="S03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10칸으로 나눈 것 중 1칸이에요.</a:t>
            </a:r>
            <a:endParaRPr lang="ko-KR" sz="3000" dirty="0"/>
          </a:p>
        </p:txBody>
      </p:sp>
      <p:sp>
        <p:nvSpPr>
          <p:cNvPr id="4" name="S03-card3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 = 0.1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‘영 점 일’이라고 읽어요.</a:t>
            </a:r>
            <a:endParaRPr lang="ko-KR" sz="3000" dirty="0"/>
          </a:p>
        </p:txBody>
      </p:sp>
      <p:sp>
        <p:nvSpPr>
          <p:cNvPr id="6" name="S03-card3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4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1 사이의 점(.)</a:t>
            </a:r>
            <a:endParaRPr lang="ko-KR" sz="3000" dirty="0"/>
          </a:p>
        </p:txBody>
      </p:sp>
      <p:sp>
        <p:nvSpPr>
          <p:cNvPr id="8" name="S03-num41"/>
          <p:cNvSpPr txBox="1"/>
          <p:nvPr/>
        </p:nvSpPr>
        <p:spPr>
          <a:xfrm>
            <a:off x="717296" y="292328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03-fracbar42"/>
          <p:cNvSpPr/>
          <p:nvPr/>
        </p:nvSpPr>
        <p:spPr>
          <a:xfrm>
            <a:off x="753872" y="337947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num43"/>
          <p:cNvSpPr txBox="1"/>
          <p:nvPr/>
        </p:nvSpPr>
        <p:spPr>
          <a:xfrm>
            <a:off x="717296" y="341604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1" name="S03-cell44"/>
          <p:cNvSpPr/>
          <p:nvPr/>
        </p:nvSpPr>
        <p:spPr>
          <a:xfrm>
            <a:off x="1600200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45"/>
          <p:cNvSpPr/>
          <p:nvPr/>
        </p:nvSpPr>
        <p:spPr>
          <a:xfrm>
            <a:off x="2604211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6"/>
          <p:cNvSpPr/>
          <p:nvPr/>
        </p:nvSpPr>
        <p:spPr>
          <a:xfrm>
            <a:off x="3608222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47"/>
          <p:cNvSpPr/>
          <p:nvPr/>
        </p:nvSpPr>
        <p:spPr>
          <a:xfrm>
            <a:off x="4612234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48"/>
          <p:cNvSpPr/>
          <p:nvPr/>
        </p:nvSpPr>
        <p:spPr>
          <a:xfrm>
            <a:off x="5616245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49"/>
          <p:cNvSpPr/>
          <p:nvPr/>
        </p:nvSpPr>
        <p:spPr>
          <a:xfrm>
            <a:off x="6620256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50"/>
          <p:cNvSpPr/>
          <p:nvPr/>
        </p:nvSpPr>
        <p:spPr>
          <a:xfrm>
            <a:off x="7624267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51"/>
          <p:cNvSpPr/>
          <p:nvPr/>
        </p:nvSpPr>
        <p:spPr>
          <a:xfrm>
            <a:off x="8628278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52"/>
          <p:cNvSpPr/>
          <p:nvPr/>
        </p:nvSpPr>
        <p:spPr>
          <a:xfrm>
            <a:off x="9632290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53"/>
          <p:cNvSpPr/>
          <p:nvPr/>
        </p:nvSpPr>
        <p:spPr>
          <a:xfrm>
            <a:off x="10636301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54" descr="똑같이 10칸으로 나눈 띠, 1칸 색칠"/>
          <p:cNvSpPr/>
          <p:nvPr/>
        </p:nvSpPr>
        <p:spPr>
          <a:xfrm>
            <a:off x="1600200" y="296799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개일까요</a:t>
            </a:r>
            <a:endParaRPr lang="ko-KR" sz="4000" dirty="0"/>
          </a:p>
        </p:txBody>
      </p:sp>
      <p:sp>
        <p:nvSpPr>
          <p:cNvPr id="3" name="S04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3개면 0.3이에요.</a:t>
            </a:r>
            <a:endParaRPr lang="ko-KR" sz="3000" dirty="0"/>
          </a:p>
        </p:txBody>
      </p:sp>
      <p:sp>
        <p:nvSpPr>
          <p:cNvPr id="4" name="S04-card5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5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3 = 0.3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삼</a:t>
            </a:r>
            <a:endParaRPr lang="ko-KR" sz="3000" dirty="0"/>
          </a:p>
        </p:txBody>
      </p:sp>
      <p:sp>
        <p:nvSpPr>
          <p:cNvPr id="6" name="S04-card5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5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7 = 0.7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칠</a:t>
            </a:r>
            <a:endParaRPr lang="ko-KR" sz="3000" dirty="0"/>
          </a:p>
        </p:txBody>
      </p:sp>
      <p:sp>
        <p:nvSpPr>
          <p:cNvPr id="8" name="S04-line60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4-line61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abel62"/>
          <p:cNvSpPr txBox="1"/>
          <p:nvPr/>
        </p:nvSpPr>
        <p:spPr>
          <a:xfrm>
            <a:off x="50292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04-line63"/>
          <p:cNvSpPr/>
          <p:nvPr/>
        </p:nvSpPr>
        <p:spPr>
          <a:xfrm>
            <a:off x="1986991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64"/>
          <p:cNvSpPr txBox="1"/>
          <p:nvPr/>
        </p:nvSpPr>
        <p:spPr>
          <a:xfrm>
            <a:off x="1529791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</a:t>
            </a:r>
            <a:endParaRPr lang="ko-KR" sz="2400" dirty="0"/>
          </a:p>
        </p:txBody>
      </p:sp>
      <p:sp>
        <p:nvSpPr>
          <p:cNvPr id="13" name="S04-line65"/>
          <p:cNvSpPr/>
          <p:nvPr/>
        </p:nvSpPr>
        <p:spPr>
          <a:xfrm>
            <a:off x="301386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66"/>
          <p:cNvSpPr txBox="1"/>
          <p:nvPr/>
        </p:nvSpPr>
        <p:spPr>
          <a:xfrm>
            <a:off x="255666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</a:t>
            </a:r>
            <a:endParaRPr lang="ko-KR" sz="2400" dirty="0"/>
          </a:p>
        </p:txBody>
      </p:sp>
      <p:sp>
        <p:nvSpPr>
          <p:cNvPr id="15" name="S04-line67"/>
          <p:cNvSpPr/>
          <p:nvPr/>
        </p:nvSpPr>
        <p:spPr>
          <a:xfrm>
            <a:off x="404073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68"/>
          <p:cNvSpPr txBox="1"/>
          <p:nvPr/>
        </p:nvSpPr>
        <p:spPr>
          <a:xfrm>
            <a:off x="3583534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400" dirty="0"/>
          </a:p>
        </p:txBody>
      </p:sp>
      <p:sp>
        <p:nvSpPr>
          <p:cNvPr id="17" name="S04-line69"/>
          <p:cNvSpPr/>
          <p:nvPr/>
        </p:nvSpPr>
        <p:spPr>
          <a:xfrm>
            <a:off x="5067605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70"/>
          <p:cNvSpPr txBox="1"/>
          <p:nvPr/>
        </p:nvSpPr>
        <p:spPr>
          <a:xfrm>
            <a:off x="4610405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400" dirty="0"/>
          </a:p>
        </p:txBody>
      </p:sp>
      <p:sp>
        <p:nvSpPr>
          <p:cNvPr id="19" name="S04-line71"/>
          <p:cNvSpPr/>
          <p:nvPr/>
        </p:nvSpPr>
        <p:spPr>
          <a:xfrm>
            <a:off x="609447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72"/>
          <p:cNvSpPr txBox="1"/>
          <p:nvPr/>
        </p:nvSpPr>
        <p:spPr>
          <a:xfrm>
            <a:off x="5637276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2400" dirty="0"/>
          </a:p>
        </p:txBody>
      </p:sp>
      <p:sp>
        <p:nvSpPr>
          <p:cNvPr id="21" name="S04-line73"/>
          <p:cNvSpPr/>
          <p:nvPr/>
        </p:nvSpPr>
        <p:spPr>
          <a:xfrm>
            <a:off x="7121347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abel74"/>
          <p:cNvSpPr txBox="1"/>
          <p:nvPr/>
        </p:nvSpPr>
        <p:spPr>
          <a:xfrm>
            <a:off x="6664147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400" dirty="0"/>
          </a:p>
        </p:txBody>
      </p:sp>
      <p:sp>
        <p:nvSpPr>
          <p:cNvPr id="23" name="S04-line75"/>
          <p:cNvSpPr/>
          <p:nvPr/>
        </p:nvSpPr>
        <p:spPr>
          <a:xfrm>
            <a:off x="814821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abel76"/>
          <p:cNvSpPr txBox="1"/>
          <p:nvPr/>
        </p:nvSpPr>
        <p:spPr>
          <a:xfrm>
            <a:off x="7691018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</a:t>
            </a:r>
            <a:endParaRPr lang="ko-KR" sz="2400" dirty="0"/>
          </a:p>
        </p:txBody>
      </p:sp>
      <p:sp>
        <p:nvSpPr>
          <p:cNvPr id="25" name="S04-line77"/>
          <p:cNvSpPr/>
          <p:nvPr/>
        </p:nvSpPr>
        <p:spPr>
          <a:xfrm>
            <a:off x="917509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abel78"/>
          <p:cNvSpPr txBox="1"/>
          <p:nvPr/>
        </p:nvSpPr>
        <p:spPr>
          <a:xfrm>
            <a:off x="871789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</a:t>
            </a:r>
            <a:endParaRPr lang="ko-KR" sz="2400" dirty="0"/>
          </a:p>
        </p:txBody>
      </p:sp>
      <p:sp>
        <p:nvSpPr>
          <p:cNvPr id="27" name="S04-line79"/>
          <p:cNvSpPr/>
          <p:nvPr/>
        </p:nvSpPr>
        <p:spPr>
          <a:xfrm>
            <a:off x="10201961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80"/>
          <p:cNvSpPr txBox="1"/>
          <p:nvPr/>
        </p:nvSpPr>
        <p:spPr>
          <a:xfrm>
            <a:off x="9744761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ko-KR" sz="2400" dirty="0"/>
          </a:p>
        </p:txBody>
      </p:sp>
      <p:sp>
        <p:nvSpPr>
          <p:cNvPr id="29" name="S04-line81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82"/>
          <p:cNvSpPr txBox="1"/>
          <p:nvPr/>
        </p:nvSpPr>
        <p:spPr>
          <a:xfrm>
            <a:off x="1077163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1" name="S04-mark83"/>
          <p:cNvSpPr/>
          <p:nvPr/>
        </p:nvSpPr>
        <p:spPr>
          <a:xfrm>
            <a:off x="3949294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4-line84"/>
          <p:cNvSpPr/>
          <p:nvPr/>
        </p:nvSpPr>
        <p:spPr>
          <a:xfrm flipV="1">
            <a:off x="96012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04-line85"/>
          <p:cNvSpPr/>
          <p:nvPr/>
        </p:nvSpPr>
        <p:spPr>
          <a:xfrm>
            <a:off x="960120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4-line86"/>
          <p:cNvSpPr/>
          <p:nvPr/>
        </p:nvSpPr>
        <p:spPr>
          <a:xfrm flipV="1">
            <a:off x="1986991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4-line87"/>
          <p:cNvSpPr/>
          <p:nvPr/>
        </p:nvSpPr>
        <p:spPr>
          <a:xfrm>
            <a:off x="1986991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4-line88"/>
          <p:cNvSpPr/>
          <p:nvPr/>
        </p:nvSpPr>
        <p:spPr>
          <a:xfrm flipV="1">
            <a:off x="3013862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7" name="S04-line89"/>
          <p:cNvSpPr/>
          <p:nvPr/>
        </p:nvSpPr>
        <p:spPr>
          <a:xfrm>
            <a:off x="3013862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8" name="S04-figure90" descr="0부터 1까지 0.1마다 눈금과 수가 있는 수직선. 0에서 0.1씩 3번 뛰어 0.3에 점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 나타내요</a:t>
            </a:r>
            <a:endParaRPr lang="ko-KR" sz="4000" dirty="0"/>
          </a:p>
        </p:txBody>
      </p:sp>
      <p:sp>
        <p:nvSpPr>
          <p:cNvPr id="3" name="S05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나와 띠를 소수로 써요.</a:t>
            </a:r>
            <a:endParaRPr lang="ko-KR" sz="3000" dirty="0"/>
          </a:p>
        </p:txBody>
      </p:sp>
      <p:sp>
        <p:nvSpPr>
          <p:cNvPr id="4" name="S05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몇 칸 갔는지 세어요.</a:t>
            </a:r>
            <a:endParaRPr lang="ko-KR" sz="3000" dirty="0"/>
          </a:p>
        </p:txBody>
      </p:sp>
      <p:sp>
        <p:nvSpPr>
          <p:cNvPr id="6" name="S05-line94"/>
          <p:cNvSpPr/>
          <p:nvPr/>
        </p:nvSpPr>
        <p:spPr>
          <a:xfrm>
            <a:off x="6414516" y="3939235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5-line95"/>
          <p:cNvSpPr/>
          <p:nvPr/>
        </p:nvSpPr>
        <p:spPr>
          <a:xfrm>
            <a:off x="668883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label96"/>
          <p:cNvSpPr txBox="1"/>
          <p:nvPr/>
        </p:nvSpPr>
        <p:spPr>
          <a:xfrm>
            <a:off x="6231636" y="4122115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9" name="S05-line97"/>
          <p:cNvSpPr/>
          <p:nvPr/>
        </p:nvSpPr>
        <p:spPr>
          <a:xfrm>
            <a:off x="714283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line98"/>
          <p:cNvSpPr/>
          <p:nvPr/>
        </p:nvSpPr>
        <p:spPr>
          <a:xfrm>
            <a:off x="759683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line99"/>
          <p:cNvSpPr/>
          <p:nvPr/>
        </p:nvSpPr>
        <p:spPr>
          <a:xfrm>
            <a:off x="805083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ine100"/>
          <p:cNvSpPr/>
          <p:nvPr/>
        </p:nvSpPr>
        <p:spPr>
          <a:xfrm>
            <a:off x="85048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line101"/>
          <p:cNvSpPr/>
          <p:nvPr/>
        </p:nvSpPr>
        <p:spPr>
          <a:xfrm>
            <a:off x="89588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ine102"/>
          <p:cNvSpPr/>
          <p:nvPr/>
        </p:nvSpPr>
        <p:spPr>
          <a:xfrm>
            <a:off x="94128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line103"/>
          <p:cNvSpPr/>
          <p:nvPr/>
        </p:nvSpPr>
        <p:spPr>
          <a:xfrm>
            <a:off x="986683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ine104"/>
          <p:cNvSpPr/>
          <p:nvPr/>
        </p:nvSpPr>
        <p:spPr>
          <a:xfrm>
            <a:off x="1032083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line105"/>
          <p:cNvSpPr/>
          <p:nvPr/>
        </p:nvSpPr>
        <p:spPr>
          <a:xfrm>
            <a:off x="10774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ine106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label107"/>
          <p:cNvSpPr txBox="1"/>
          <p:nvPr/>
        </p:nvSpPr>
        <p:spPr>
          <a:xfrm>
            <a:off x="10771632" y="4122115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20" name="S05-mark108"/>
          <p:cNvSpPr/>
          <p:nvPr/>
        </p:nvSpPr>
        <p:spPr>
          <a:xfrm>
            <a:off x="8413394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1" name="S05-label109"/>
          <p:cNvSpPr txBox="1"/>
          <p:nvPr/>
        </p:nvSpPr>
        <p:spPr>
          <a:xfrm>
            <a:off x="7956194" y="3380435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000" dirty="0"/>
          </a:p>
        </p:txBody>
      </p:sp>
      <p:sp>
        <p:nvSpPr>
          <p:cNvPr id="22" name="S05-mark110"/>
          <p:cNvSpPr/>
          <p:nvPr/>
        </p:nvSpPr>
        <p:spPr>
          <a:xfrm>
            <a:off x="10229393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05-label111"/>
          <p:cNvSpPr txBox="1"/>
          <p:nvPr/>
        </p:nvSpPr>
        <p:spPr>
          <a:xfrm>
            <a:off x="9772193" y="3380435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000" dirty="0"/>
          </a:p>
        </p:txBody>
      </p:sp>
      <p:sp>
        <p:nvSpPr>
          <p:cNvPr id="24" name="S05-figure112" descr="0과 1만 수가 적힌 0.1 간격 수직선. 가는 0.4, 나는 0.8 자리"/>
          <p:cNvSpPr/>
          <p:nvPr/>
        </p:nvSpPr>
        <p:spPr>
          <a:xfrm>
            <a:off x="6414516" y="3756355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5-chip11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6" name="S05-text11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가가 나타내는 소수</a:t>
            </a:r>
            <a:endParaRPr lang="ko-KR" sz="3000" dirty="0"/>
          </a:p>
        </p:txBody>
      </p:sp>
      <p:sp>
        <p:nvSpPr>
          <p:cNvPr id="27" name="S05-chip11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8" name="S05-text11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 나타내는 소수</a:t>
            </a:r>
            <a:endParaRPr lang="ko-KR" sz="3000" dirty="0"/>
          </a:p>
        </p:txBody>
      </p:sp>
      <p:sp>
        <p:nvSpPr>
          <p:cNvPr id="29" name="S05-chip11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0" name="S05-cell118"/>
          <p:cNvSpPr/>
          <p:nvPr/>
        </p:nvSpPr>
        <p:spPr>
          <a:xfrm>
            <a:off x="1344168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119"/>
          <p:cNvSpPr/>
          <p:nvPr/>
        </p:nvSpPr>
        <p:spPr>
          <a:xfrm>
            <a:off x="1800911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120"/>
          <p:cNvSpPr/>
          <p:nvPr/>
        </p:nvSpPr>
        <p:spPr>
          <a:xfrm>
            <a:off x="2257654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121"/>
          <p:cNvSpPr/>
          <p:nvPr/>
        </p:nvSpPr>
        <p:spPr>
          <a:xfrm>
            <a:off x="2714396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122"/>
          <p:cNvSpPr/>
          <p:nvPr/>
        </p:nvSpPr>
        <p:spPr>
          <a:xfrm>
            <a:off x="3171139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cell123"/>
          <p:cNvSpPr/>
          <p:nvPr/>
        </p:nvSpPr>
        <p:spPr>
          <a:xfrm>
            <a:off x="3627882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cell124"/>
          <p:cNvSpPr/>
          <p:nvPr/>
        </p:nvSpPr>
        <p:spPr>
          <a:xfrm>
            <a:off x="4084625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5-cell125"/>
          <p:cNvSpPr/>
          <p:nvPr/>
        </p:nvSpPr>
        <p:spPr>
          <a:xfrm>
            <a:off x="4541368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5-cell126"/>
          <p:cNvSpPr/>
          <p:nvPr/>
        </p:nvSpPr>
        <p:spPr>
          <a:xfrm>
            <a:off x="4998110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5-cell127"/>
          <p:cNvSpPr/>
          <p:nvPr/>
        </p:nvSpPr>
        <p:spPr>
          <a:xfrm>
            <a:off x="5454853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figure128" descr="똑같이 10칸으로 나눈 띠, 6칸 색칠"/>
          <p:cNvSpPr/>
          <p:nvPr/>
        </p:nvSpPr>
        <p:spPr>
          <a:xfrm>
            <a:off x="1344168" y="4389120"/>
            <a:ext cx="4567428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1보다 큰 소수</a:t>
            </a:r>
            <a:endParaRPr lang="ko-KR" sz="4000" dirty="0"/>
          </a:p>
        </p:txBody>
      </p:sp>
      <p:sp>
        <p:nvSpPr>
          <p:cNvPr id="3" name="S06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0.3만큼을 1.3이라고 써요.</a:t>
            </a:r>
            <a:endParaRPr lang="ko-KR" sz="3000" dirty="0"/>
          </a:p>
        </p:txBody>
      </p:sp>
      <p:sp>
        <p:nvSpPr>
          <p:cNvPr id="4" name="S06-card130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31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‘일 점 삼’이라고 읽어요.</a:t>
            </a:r>
            <a:endParaRPr lang="ko-KR" sz="3000" dirty="0"/>
          </a:p>
        </p:txBody>
      </p:sp>
      <p:sp>
        <p:nvSpPr>
          <p:cNvPr id="6" name="S06-card132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33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10개는 1, 3개는 0.3</a:t>
            </a:r>
            <a:endParaRPr lang="ko-KR" sz="3000" dirty="0"/>
          </a:p>
        </p:txBody>
      </p:sp>
      <p:sp>
        <p:nvSpPr>
          <p:cNvPr id="8" name="S06-label134"/>
          <p:cNvSpPr txBox="1"/>
          <p:nvPr/>
        </p:nvSpPr>
        <p:spPr>
          <a:xfrm>
            <a:off x="548640" y="251993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cell135"/>
          <p:cNvSpPr/>
          <p:nvPr/>
        </p:nvSpPr>
        <p:spPr>
          <a:xfrm>
            <a:off x="1600200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36"/>
          <p:cNvSpPr/>
          <p:nvPr/>
        </p:nvSpPr>
        <p:spPr>
          <a:xfrm>
            <a:off x="2604211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37"/>
          <p:cNvSpPr/>
          <p:nvPr/>
        </p:nvSpPr>
        <p:spPr>
          <a:xfrm>
            <a:off x="3608222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38"/>
          <p:cNvSpPr/>
          <p:nvPr/>
        </p:nvSpPr>
        <p:spPr>
          <a:xfrm>
            <a:off x="4612234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39"/>
          <p:cNvSpPr/>
          <p:nvPr/>
        </p:nvSpPr>
        <p:spPr>
          <a:xfrm>
            <a:off x="5616245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40"/>
          <p:cNvSpPr/>
          <p:nvPr/>
        </p:nvSpPr>
        <p:spPr>
          <a:xfrm>
            <a:off x="6620256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41"/>
          <p:cNvSpPr/>
          <p:nvPr/>
        </p:nvSpPr>
        <p:spPr>
          <a:xfrm>
            <a:off x="7624267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42"/>
          <p:cNvSpPr/>
          <p:nvPr/>
        </p:nvSpPr>
        <p:spPr>
          <a:xfrm>
            <a:off x="8628278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43"/>
          <p:cNvSpPr/>
          <p:nvPr/>
        </p:nvSpPr>
        <p:spPr>
          <a:xfrm>
            <a:off x="9632290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44"/>
          <p:cNvSpPr/>
          <p:nvPr/>
        </p:nvSpPr>
        <p:spPr>
          <a:xfrm>
            <a:off x="10636301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figure145" descr="똑같이 10칸으로 나눈 띠, 10칸 색칠"/>
          <p:cNvSpPr/>
          <p:nvPr/>
        </p:nvSpPr>
        <p:spPr>
          <a:xfrm>
            <a:off x="1600200" y="2519934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6-label146"/>
          <p:cNvSpPr txBox="1"/>
          <p:nvPr/>
        </p:nvSpPr>
        <p:spPr>
          <a:xfrm>
            <a:off x="548640" y="350748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400" dirty="0"/>
          </a:p>
        </p:txBody>
      </p:sp>
      <p:sp>
        <p:nvSpPr>
          <p:cNvPr id="21" name="S06-cell147"/>
          <p:cNvSpPr/>
          <p:nvPr/>
        </p:nvSpPr>
        <p:spPr>
          <a:xfrm>
            <a:off x="1600200" y="3507486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48"/>
          <p:cNvSpPr/>
          <p:nvPr/>
        </p:nvSpPr>
        <p:spPr>
          <a:xfrm>
            <a:off x="2604211" y="3507486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49"/>
          <p:cNvSpPr/>
          <p:nvPr/>
        </p:nvSpPr>
        <p:spPr>
          <a:xfrm>
            <a:off x="3608222" y="3507486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50"/>
          <p:cNvSpPr/>
          <p:nvPr/>
        </p:nvSpPr>
        <p:spPr>
          <a:xfrm>
            <a:off x="4612234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51"/>
          <p:cNvSpPr/>
          <p:nvPr/>
        </p:nvSpPr>
        <p:spPr>
          <a:xfrm>
            <a:off x="5616245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152"/>
          <p:cNvSpPr/>
          <p:nvPr/>
        </p:nvSpPr>
        <p:spPr>
          <a:xfrm>
            <a:off x="6620256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153"/>
          <p:cNvSpPr/>
          <p:nvPr/>
        </p:nvSpPr>
        <p:spPr>
          <a:xfrm>
            <a:off x="7624267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54"/>
          <p:cNvSpPr/>
          <p:nvPr/>
        </p:nvSpPr>
        <p:spPr>
          <a:xfrm>
            <a:off x="8628278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55"/>
          <p:cNvSpPr/>
          <p:nvPr/>
        </p:nvSpPr>
        <p:spPr>
          <a:xfrm>
            <a:off x="9632290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156"/>
          <p:cNvSpPr/>
          <p:nvPr/>
        </p:nvSpPr>
        <p:spPr>
          <a:xfrm>
            <a:off x="10636301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figure157" descr="똑같이 10칸으로 나눈 띠, 3칸 색칠"/>
          <p:cNvSpPr/>
          <p:nvPr/>
        </p:nvSpPr>
        <p:spPr>
          <a:xfrm>
            <a:off x="1600200" y="3507486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써요</a:t>
            </a:r>
            <a:endParaRPr lang="ko-KR" sz="4000" dirty="0"/>
          </a:p>
        </p:txBody>
      </p:sp>
      <p:sp>
        <p:nvSpPr>
          <p:cNvPr id="3" name="S07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7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생각해요.</a:t>
            </a:r>
            <a:endParaRPr lang="ko-KR" sz="3000" dirty="0"/>
          </a:p>
        </p:txBody>
      </p:sp>
      <p:sp>
        <p:nvSpPr>
          <p:cNvPr id="6" name="S07-chip1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16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0.7을 읽어요.</a:t>
            </a:r>
            <a:endParaRPr lang="ko-KR" sz="3000" dirty="0"/>
          </a:p>
        </p:txBody>
      </p:sp>
      <p:sp>
        <p:nvSpPr>
          <p:cNvPr id="8" name="S07-chip1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16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9개인 수</a:t>
            </a:r>
            <a:endParaRPr lang="ko-KR" sz="3000" dirty="0"/>
          </a:p>
        </p:txBody>
      </p:sp>
      <p:sp>
        <p:nvSpPr>
          <p:cNvPr id="10" name="S07-chip16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6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0.4만큼인 수</a:t>
            </a:r>
            <a:endParaRPr lang="ko-KR" sz="3000" dirty="0"/>
          </a:p>
        </p:txBody>
      </p:sp>
      <p:sp>
        <p:nvSpPr>
          <p:cNvPr id="12" name="S07-chip16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num168"/>
          <p:cNvSpPr txBox="1"/>
          <p:nvPr/>
        </p:nvSpPr>
        <p:spPr>
          <a:xfrm>
            <a:off x="7072884" y="384302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4" name="S07-fracbar169"/>
          <p:cNvSpPr/>
          <p:nvPr/>
        </p:nvSpPr>
        <p:spPr>
          <a:xfrm>
            <a:off x="7109460" y="438912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07-num170"/>
          <p:cNvSpPr txBox="1"/>
          <p:nvPr/>
        </p:nvSpPr>
        <p:spPr>
          <a:xfrm>
            <a:off x="7072884" y="442569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6" name="S07-op171"/>
          <p:cNvSpPr txBox="1"/>
          <p:nvPr/>
        </p:nvSpPr>
        <p:spPr>
          <a:xfrm>
            <a:off x="7848092" y="384302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7" name="S07-blank172"/>
          <p:cNvSpPr/>
          <p:nvPr/>
        </p:nvSpPr>
        <p:spPr>
          <a:xfrm>
            <a:off x="8546282" y="420059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크기 비교</a:t>
            </a:r>
            <a:endParaRPr lang="ko-KR" sz="4000" dirty="0"/>
          </a:p>
        </p:txBody>
      </p:sp>
      <p:sp>
        <p:nvSpPr>
          <p:cNvPr id="3" name="S08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0.6과 0.4를 비교해요.</a:t>
            </a:r>
            <a:endParaRPr lang="ko-KR" sz="3000" dirty="0"/>
          </a:p>
        </p:txBody>
      </p:sp>
      <p:sp>
        <p:nvSpPr>
          <p:cNvPr id="4" name="S08-card17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7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&gt; 0.4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6개인 수가 4개인 수보다 커요.</a:t>
            </a:r>
            <a:endParaRPr lang="ko-KR" sz="3000" dirty="0"/>
          </a:p>
        </p:txBody>
      </p:sp>
      <p:sp>
        <p:nvSpPr>
          <p:cNvPr id="6" name="S08-label176"/>
          <p:cNvSpPr txBox="1"/>
          <p:nvPr/>
        </p:nvSpPr>
        <p:spPr>
          <a:xfrm>
            <a:off x="548640" y="247421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400" dirty="0"/>
          </a:p>
        </p:txBody>
      </p:sp>
      <p:sp>
        <p:nvSpPr>
          <p:cNvPr id="7" name="S08-cell177"/>
          <p:cNvSpPr/>
          <p:nvPr/>
        </p:nvSpPr>
        <p:spPr>
          <a:xfrm>
            <a:off x="1600200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178"/>
          <p:cNvSpPr/>
          <p:nvPr/>
        </p:nvSpPr>
        <p:spPr>
          <a:xfrm>
            <a:off x="2604211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179"/>
          <p:cNvSpPr/>
          <p:nvPr/>
        </p:nvSpPr>
        <p:spPr>
          <a:xfrm>
            <a:off x="3608222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80"/>
          <p:cNvSpPr/>
          <p:nvPr/>
        </p:nvSpPr>
        <p:spPr>
          <a:xfrm>
            <a:off x="4612234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81"/>
          <p:cNvSpPr/>
          <p:nvPr/>
        </p:nvSpPr>
        <p:spPr>
          <a:xfrm>
            <a:off x="5616245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82"/>
          <p:cNvSpPr/>
          <p:nvPr/>
        </p:nvSpPr>
        <p:spPr>
          <a:xfrm>
            <a:off x="6620256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83"/>
          <p:cNvSpPr/>
          <p:nvPr/>
        </p:nvSpPr>
        <p:spPr>
          <a:xfrm>
            <a:off x="7624267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84"/>
          <p:cNvSpPr/>
          <p:nvPr/>
        </p:nvSpPr>
        <p:spPr>
          <a:xfrm>
            <a:off x="8628278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185"/>
          <p:cNvSpPr/>
          <p:nvPr/>
        </p:nvSpPr>
        <p:spPr>
          <a:xfrm>
            <a:off x="9632290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186"/>
          <p:cNvSpPr/>
          <p:nvPr/>
        </p:nvSpPr>
        <p:spPr>
          <a:xfrm>
            <a:off x="10636301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figure187" descr="똑같이 10칸으로 나눈 띠, 6칸 색칠"/>
          <p:cNvSpPr/>
          <p:nvPr/>
        </p:nvSpPr>
        <p:spPr>
          <a:xfrm>
            <a:off x="1600200" y="2474214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8-label188"/>
          <p:cNvSpPr txBox="1"/>
          <p:nvPr/>
        </p:nvSpPr>
        <p:spPr>
          <a:xfrm>
            <a:off x="548640" y="350748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400" dirty="0"/>
          </a:p>
        </p:txBody>
      </p:sp>
      <p:sp>
        <p:nvSpPr>
          <p:cNvPr id="19" name="S08-cell189"/>
          <p:cNvSpPr/>
          <p:nvPr/>
        </p:nvSpPr>
        <p:spPr>
          <a:xfrm>
            <a:off x="1600200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90"/>
          <p:cNvSpPr/>
          <p:nvPr/>
        </p:nvSpPr>
        <p:spPr>
          <a:xfrm>
            <a:off x="2604211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91"/>
          <p:cNvSpPr/>
          <p:nvPr/>
        </p:nvSpPr>
        <p:spPr>
          <a:xfrm>
            <a:off x="3608222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cell192"/>
          <p:cNvSpPr/>
          <p:nvPr/>
        </p:nvSpPr>
        <p:spPr>
          <a:xfrm>
            <a:off x="4612234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cell193"/>
          <p:cNvSpPr/>
          <p:nvPr/>
        </p:nvSpPr>
        <p:spPr>
          <a:xfrm>
            <a:off x="5616245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8-cell194"/>
          <p:cNvSpPr/>
          <p:nvPr/>
        </p:nvSpPr>
        <p:spPr>
          <a:xfrm>
            <a:off x="6620256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cell195"/>
          <p:cNvSpPr/>
          <p:nvPr/>
        </p:nvSpPr>
        <p:spPr>
          <a:xfrm>
            <a:off x="7624267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cell196"/>
          <p:cNvSpPr/>
          <p:nvPr/>
        </p:nvSpPr>
        <p:spPr>
          <a:xfrm>
            <a:off x="8628278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197"/>
          <p:cNvSpPr/>
          <p:nvPr/>
        </p:nvSpPr>
        <p:spPr>
          <a:xfrm>
            <a:off x="9632290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cell198"/>
          <p:cNvSpPr/>
          <p:nvPr/>
        </p:nvSpPr>
        <p:spPr>
          <a:xfrm>
            <a:off x="10636301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figure199" descr="똑같이 10칸으로 나눈 띠, 4칸 색칠"/>
          <p:cNvSpPr/>
          <p:nvPr/>
        </p:nvSpPr>
        <p:spPr>
          <a:xfrm>
            <a:off x="1600200" y="3507486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8-guide200"/>
          <p:cNvSpPr/>
          <p:nvPr/>
        </p:nvSpPr>
        <p:spPr>
          <a:xfrm>
            <a:off x="7624267" y="2337054"/>
            <a:ext cx="0" cy="208483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2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1.2와 0.9를 비교했어요.</a:t>
            </a:r>
            <a:endParaRPr lang="ko-KR" sz="3000" dirty="0"/>
          </a:p>
        </p:txBody>
      </p:sp>
      <p:sp>
        <p:nvSpPr>
          <p:cNvPr id="5" name="S09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0.1이 몇 개인지 세어 봐요.</a:t>
            </a:r>
            <a:endParaRPr lang="ko-KR" sz="3000" dirty="0"/>
          </a:p>
        </p:txBody>
      </p:sp>
      <p:sp>
        <p:nvSpPr>
          <p:cNvPr id="7" name="S09-chip2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0.9가 더 커요</a:t>
            </a:r>
            <a:endParaRPr lang="ko-KR" sz="2400" dirty="0"/>
          </a:p>
        </p:txBody>
      </p:sp>
      <p:sp>
        <p:nvSpPr>
          <p:cNvPr id="8" name="S09-text2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“9가 2보다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크니까요.”</a:t>
            </a:r>
            <a:endParaRPr lang="ko-KR" sz="3000" dirty="0"/>
          </a:p>
        </p:txBody>
      </p:sp>
      <p:sp>
        <p:nvSpPr>
          <p:cNvPr id="9" name="S09-chip2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1.2가 더 커요</a:t>
            </a:r>
            <a:endParaRPr lang="ko-KR" sz="2400" dirty="0"/>
          </a:p>
        </p:txBody>
      </p:sp>
      <p:sp>
        <p:nvSpPr>
          <p:cNvPr id="10" name="S09-line208"/>
          <p:cNvSpPr/>
          <p:nvPr/>
        </p:nvSpPr>
        <p:spPr>
          <a:xfrm>
            <a:off x="6414516" y="3655568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9-line209"/>
          <p:cNvSpPr/>
          <p:nvPr/>
        </p:nvSpPr>
        <p:spPr>
          <a:xfrm>
            <a:off x="6688836" y="35092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abel210"/>
          <p:cNvSpPr txBox="1"/>
          <p:nvPr/>
        </p:nvSpPr>
        <p:spPr>
          <a:xfrm>
            <a:off x="6231636" y="38384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3" name="S09-line211"/>
          <p:cNvSpPr/>
          <p:nvPr/>
        </p:nvSpPr>
        <p:spPr>
          <a:xfrm>
            <a:off x="6915836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ine212"/>
          <p:cNvSpPr/>
          <p:nvPr/>
        </p:nvSpPr>
        <p:spPr>
          <a:xfrm>
            <a:off x="7142836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line213"/>
          <p:cNvSpPr/>
          <p:nvPr/>
        </p:nvSpPr>
        <p:spPr>
          <a:xfrm>
            <a:off x="7369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ine214"/>
          <p:cNvSpPr/>
          <p:nvPr/>
        </p:nvSpPr>
        <p:spPr>
          <a:xfrm>
            <a:off x="7596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9-line215"/>
          <p:cNvSpPr/>
          <p:nvPr/>
        </p:nvSpPr>
        <p:spPr>
          <a:xfrm>
            <a:off x="7823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ine216"/>
          <p:cNvSpPr/>
          <p:nvPr/>
        </p:nvSpPr>
        <p:spPr>
          <a:xfrm>
            <a:off x="8050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9-line217"/>
          <p:cNvSpPr/>
          <p:nvPr/>
        </p:nvSpPr>
        <p:spPr>
          <a:xfrm>
            <a:off x="8277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ine218"/>
          <p:cNvSpPr/>
          <p:nvPr/>
        </p:nvSpPr>
        <p:spPr>
          <a:xfrm>
            <a:off x="8504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9-line219"/>
          <p:cNvSpPr/>
          <p:nvPr/>
        </p:nvSpPr>
        <p:spPr>
          <a:xfrm>
            <a:off x="8731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ine220"/>
          <p:cNvSpPr/>
          <p:nvPr/>
        </p:nvSpPr>
        <p:spPr>
          <a:xfrm>
            <a:off x="8958834" y="35092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9-label221"/>
          <p:cNvSpPr txBox="1"/>
          <p:nvPr/>
        </p:nvSpPr>
        <p:spPr>
          <a:xfrm>
            <a:off x="8501634" y="38384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4" name="S09-line222"/>
          <p:cNvSpPr/>
          <p:nvPr/>
        </p:nvSpPr>
        <p:spPr>
          <a:xfrm>
            <a:off x="9185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line223"/>
          <p:cNvSpPr/>
          <p:nvPr/>
        </p:nvSpPr>
        <p:spPr>
          <a:xfrm>
            <a:off x="9412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ine224"/>
          <p:cNvSpPr/>
          <p:nvPr/>
        </p:nvSpPr>
        <p:spPr>
          <a:xfrm>
            <a:off x="9639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line225"/>
          <p:cNvSpPr/>
          <p:nvPr/>
        </p:nvSpPr>
        <p:spPr>
          <a:xfrm>
            <a:off x="9866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ine226"/>
          <p:cNvSpPr/>
          <p:nvPr/>
        </p:nvSpPr>
        <p:spPr>
          <a:xfrm>
            <a:off x="10093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9-line227"/>
          <p:cNvSpPr/>
          <p:nvPr/>
        </p:nvSpPr>
        <p:spPr>
          <a:xfrm>
            <a:off x="10320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ine228"/>
          <p:cNvSpPr/>
          <p:nvPr/>
        </p:nvSpPr>
        <p:spPr>
          <a:xfrm>
            <a:off x="10547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9-line229"/>
          <p:cNvSpPr/>
          <p:nvPr/>
        </p:nvSpPr>
        <p:spPr>
          <a:xfrm>
            <a:off x="10774832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ine230"/>
          <p:cNvSpPr/>
          <p:nvPr/>
        </p:nvSpPr>
        <p:spPr>
          <a:xfrm>
            <a:off x="11001832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9-line231"/>
          <p:cNvSpPr/>
          <p:nvPr/>
        </p:nvSpPr>
        <p:spPr>
          <a:xfrm>
            <a:off x="11228832" y="35092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9-label232"/>
          <p:cNvSpPr txBox="1"/>
          <p:nvPr/>
        </p:nvSpPr>
        <p:spPr>
          <a:xfrm>
            <a:off x="10771632" y="38384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35" name="S09-mark233"/>
          <p:cNvSpPr/>
          <p:nvPr/>
        </p:nvSpPr>
        <p:spPr>
          <a:xfrm>
            <a:off x="8640394" y="35641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6" name="S09-label234"/>
          <p:cNvSpPr txBox="1"/>
          <p:nvPr/>
        </p:nvSpPr>
        <p:spPr>
          <a:xfrm>
            <a:off x="8183194" y="3162808"/>
            <a:ext cx="109728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ko-KR" sz="1600" dirty="0"/>
          </a:p>
        </p:txBody>
      </p:sp>
      <p:sp>
        <p:nvSpPr>
          <p:cNvPr id="37" name="S09-mark235"/>
          <p:cNvSpPr/>
          <p:nvPr/>
        </p:nvSpPr>
        <p:spPr>
          <a:xfrm>
            <a:off x="9321394" y="35641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8" name="S09-label236"/>
          <p:cNvSpPr txBox="1"/>
          <p:nvPr/>
        </p:nvSpPr>
        <p:spPr>
          <a:xfrm>
            <a:off x="8864194" y="3162808"/>
            <a:ext cx="109728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1600" dirty="0"/>
          </a:p>
        </p:txBody>
      </p:sp>
      <p:sp>
        <p:nvSpPr>
          <p:cNvPr id="39" name="S09-figure237" descr="0부터 2까지 0.1 간격 수직선, 0.9와 1.2에 점"/>
          <p:cNvSpPr/>
          <p:nvPr/>
        </p:nvSpPr>
        <p:spPr>
          <a:xfrm>
            <a:off x="6414516" y="3472688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9-text238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“1.2는 1보다 크고,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0.9는 1보다 작아요.”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비교해요</a:t>
            </a:r>
            <a:endParaRPr lang="ko-KR" sz="4000" dirty="0"/>
          </a:p>
        </p:txBody>
      </p:sp>
      <p:sp>
        <p:nvSpPr>
          <p:cNvPr id="3" name="S10-text2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알맞게 써요.</a:t>
            </a:r>
            <a:endParaRPr lang="ko-KR" sz="3000" dirty="0"/>
          </a:p>
        </p:txBody>
      </p:sp>
      <p:sp>
        <p:nvSpPr>
          <p:cNvPr id="4" name="S10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비교해요.</a:t>
            </a:r>
            <a:endParaRPr lang="ko-KR" sz="3000" dirty="0"/>
          </a:p>
        </p:txBody>
      </p:sp>
      <p:sp>
        <p:nvSpPr>
          <p:cNvPr id="6" name="S10-chip24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24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○ 0.8</a:t>
            </a:r>
            <a:endParaRPr lang="ko-KR" sz="3400" dirty="0"/>
          </a:p>
        </p:txBody>
      </p:sp>
      <p:sp>
        <p:nvSpPr>
          <p:cNvPr id="8" name="S10-chip24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24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 ○ 0.3</a:t>
            </a:r>
            <a:endParaRPr lang="ko-KR" sz="3400" dirty="0"/>
          </a:p>
        </p:txBody>
      </p:sp>
      <p:sp>
        <p:nvSpPr>
          <p:cNvPr id="10" name="S10-chip24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eqtext24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○ 0.6</a:t>
            </a:r>
            <a:endParaRPr lang="ko-KR" sz="3400" dirty="0"/>
          </a:p>
        </p:txBody>
      </p:sp>
      <p:sp>
        <p:nvSpPr>
          <p:cNvPr id="12" name="S10-chip24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eqtext24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○ 1.9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까닭을 말해요.</a:t>
            </a:r>
            <a:endParaRPr lang="ko-KR" sz="3000" dirty="0"/>
          </a:p>
        </p:txBody>
      </p:sp>
      <p:sp>
        <p:nvSpPr>
          <p:cNvPr id="4" name="S11-chip2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5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7을 소수로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읽어요.</a:t>
            </a:r>
            <a:endParaRPr lang="ko-KR" sz="3000" dirty="0"/>
          </a:p>
        </p:txBody>
      </p:sp>
      <p:sp>
        <p:nvSpPr>
          <p:cNvPr id="6" name="S11-chip25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5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15개인 수는?</a:t>
            </a:r>
            <a:endParaRPr lang="ko-KR" sz="3000" dirty="0"/>
          </a:p>
        </p:txBody>
      </p:sp>
      <p:sp>
        <p:nvSpPr>
          <p:cNvPr id="8" name="S11-chip25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25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○ 0.9</a:t>
            </a:r>
            <a:endParaRPr lang="ko-KR" sz="3400" dirty="0"/>
          </a:p>
        </p:txBody>
      </p:sp>
      <p:sp>
        <p:nvSpPr>
          <p:cNvPr id="10" name="S11-chip25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eqtext25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 ○ 0.8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5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6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띠나 수직선에 나타내어 0.1의 개수를 다시 세어 보세요.</a:t>
            </a:r>
            <a:endParaRPr lang="ko-KR" sz="3000" dirty="0"/>
          </a:p>
        </p:txBody>
      </p:sp>
      <p:sp>
        <p:nvSpPr>
          <p:cNvPr id="5" name="S12-chip26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62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0.7</a:t>
            </a:r>
            <a:endParaRPr lang="ko-KR" sz="3000" dirty="0"/>
          </a:p>
        </p:txBody>
      </p:sp>
      <p:sp>
        <p:nvSpPr>
          <p:cNvPr id="7" name="S12-text263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칠</a:t>
            </a:r>
            <a:endParaRPr lang="ko-KR" sz="2400" dirty="0"/>
          </a:p>
        </p:txBody>
      </p:sp>
      <p:sp>
        <p:nvSpPr>
          <p:cNvPr id="8" name="S12-text264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1.5</a:t>
            </a:r>
            <a:endParaRPr lang="ko-KR" sz="3000" dirty="0"/>
          </a:p>
        </p:txBody>
      </p:sp>
      <p:sp>
        <p:nvSpPr>
          <p:cNvPr id="9" name="S12-text265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10개는 1</a:t>
            </a:r>
            <a:endParaRPr lang="ko-KR" sz="2400" dirty="0"/>
          </a:p>
        </p:txBody>
      </p:sp>
      <p:sp>
        <p:nvSpPr>
          <p:cNvPr id="10" name="S12-text266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&lt;</a:t>
            </a:r>
            <a:endParaRPr lang="ko-KR" sz="3000" dirty="0"/>
          </a:p>
        </p:txBody>
      </p:sp>
      <p:sp>
        <p:nvSpPr>
          <p:cNvPr id="11" name="S12-text267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&lt; 9개</a:t>
            </a:r>
            <a:endParaRPr lang="ko-KR" sz="2400" dirty="0"/>
          </a:p>
        </p:txBody>
      </p:sp>
      <p:sp>
        <p:nvSpPr>
          <p:cNvPr id="12" name="S12-text268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&gt;</a:t>
            </a:r>
            <a:endParaRPr lang="ko-KR" sz="3000" dirty="0"/>
          </a:p>
        </p:txBody>
      </p:sp>
      <p:sp>
        <p:nvSpPr>
          <p:cNvPr id="13" name="S12-text269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 &gt; 8개</a:t>
            </a:r>
            <a:endParaRPr lang="ko-KR" sz="2400" dirty="0"/>
          </a:p>
        </p:txBody>
      </p:sp>
      <p:sp>
        <p:nvSpPr>
          <p:cNvPr id="14" name="S12-chip27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27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0.15</a:t>
            </a:r>
            <a:endParaRPr lang="ko-KR" sz="3000" dirty="0"/>
          </a:p>
        </p:txBody>
      </p:sp>
      <p:sp>
        <p:nvSpPr>
          <p:cNvPr id="16" name="S12-text27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= 1을 놓침</a:t>
            </a:r>
            <a:endParaRPr lang="ko-KR" sz="2400" dirty="0"/>
          </a:p>
        </p:txBody>
      </p:sp>
      <p:sp>
        <p:nvSpPr>
          <p:cNvPr id="17" name="S12-text27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&lt;</a:t>
            </a:r>
            <a:endParaRPr lang="ko-KR" sz="3000" dirty="0"/>
          </a:p>
        </p:txBody>
      </p:sp>
      <p:sp>
        <p:nvSpPr>
          <p:cNvPr id="18" name="S12-text27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8만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0.6과 같은 것은?</a:t>
            </a:r>
            <a:endParaRPr lang="ko-KR" sz="4000" dirty="0"/>
          </a:p>
        </p:txBody>
      </p:sp>
      <p:sp>
        <p:nvSpPr>
          <p:cNvPr id="3" name="S13-text2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0.6과 크기가 같은 것을 모두 골라요.</a:t>
            </a:r>
            <a:endParaRPr lang="ko-KR" sz="3000" dirty="0"/>
          </a:p>
        </p:txBody>
      </p:sp>
      <p:sp>
        <p:nvSpPr>
          <p:cNvPr id="4" name="S13-card2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까닭을 말해요.</a:t>
            </a:r>
            <a:endParaRPr lang="ko-KR" sz="3000" dirty="0"/>
          </a:p>
        </p:txBody>
      </p:sp>
      <p:sp>
        <p:nvSpPr>
          <p:cNvPr id="6" name="S13-chip27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ell279"/>
          <p:cNvSpPr/>
          <p:nvPr/>
        </p:nvSpPr>
        <p:spPr>
          <a:xfrm>
            <a:off x="548640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280"/>
          <p:cNvSpPr/>
          <p:nvPr/>
        </p:nvSpPr>
        <p:spPr>
          <a:xfrm>
            <a:off x="893978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281"/>
          <p:cNvSpPr/>
          <p:nvPr/>
        </p:nvSpPr>
        <p:spPr>
          <a:xfrm>
            <a:off x="1239317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282"/>
          <p:cNvSpPr/>
          <p:nvPr/>
        </p:nvSpPr>
        <p:spPr>
          <a:xfrm>
            <a:off x="1584655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283"/>
          <p:cNvSpPr/>
          <p:nvPr/>
        </p:nvSpPr>
        <p:spPr>
          <a:xfrm>
            <a:off x="1929994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84"/>
          <p:cNvSpPr/>
          <p:nvPr/>
        </p:nvSpPr>
        <p:spPr>
          <a:xfrm>
            <a:off x="2275332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85"/>
          <p:cNvSpPr/>
          <p:nvPr/>
        </p:nvSpPr>
        <p:spPr>
          <a:xfrm>
            <a:off x="2620670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86"/>
          <p:cNvSpPr/>
          <p:nvPr/>
        </p:nvSpPr>
        <p:spPr>
          <a:xfrm>
            <a:off x="2966009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287"/>
          <p:cNvSpPr/>
          <p:nvPr/>
        </p:nvSpPr>
        <p:spPr>
          <a:xfrm>
            <a:off x="3311347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288"/>
          <p:cNvSpPr/>
          <p:nvPr/>
        </p:nvSpPr>
        <p:spPr>
          <a:xfrm>
            <a:off x="3656686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figure289" descr="똑같이 10칸으로 나눈 띠, 6칸 색칠"/>
          <p:cNvSpPr/>
          <p:nvPr/>
        </p:nvSpPr>
        <p:spPr>
          <a:xfrm>
            <a:off x="548640" y="3598164"/>
            <a:ext cx="3453384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3-chip2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9" name="S13-card29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13-cardtext29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6</a:t>
            </a:r>
            <a:endParaRPr lang="ko-KR" sz="3000" dirty="0"/>
          </a:p>
        </p:txBody>
      </p:sp>
      <p:sp>
        <p:nvSpPr>
          <p:cNvPr id="21" name="S13-chip29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2" name="S13-card29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3-cardtext29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16개인 수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9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9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1은 0.1이에요. 0.1이 많을수록 큰 수예요.</a:t>
            </a:r>
            <a:endParaRPr lang="ko-KR" sz="3000" dirty="0"/>
          </a:p>
        </p:txBody>
      </p:sp>
      <p:sp>
        <p:nvSpPr>
          <p:cNvPr id="5" name="S14-chip29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0.1이 몇 개인지 세기</a:t>
            </a:r>
            <a:endParaRPr lang="ko-KR" sz="2400" dirty="0"/>
          </a:p>
        </p:txBody>
      </p:sp>
      <p:sp>
        <p:nvSpPr>
          <p:cNvPr id="6" name="S14-chip29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숫자 하나만 보고 비교하기</a:t>
            </a:r>
            <a:endParaRPr lang="ko-KR" sz="2400" dirty="0"/>
          </a:p>
        </p:txBody>
      </p:sp>
      <p:sp>
        <p:nvSpPr>
          <p:cNvPr id="7" name="S14-text30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30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10분의 4를 소수로</a:t>
            </a:r>
            <a:endParaRPr lang="ko-KR" sz="2400" dirty="0"/>
          </a:p>
        </p:txBody>
      </p:sp>
      <p:sp>
        <p:nvSpPr>
          <p:cNvPr id="9" name="S14-eqtext30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0.7 ○ 1.1</a:t>
            </a:r>
            <a:endParaRPr lang="ko-KR" sz="2800" dirty="0"/>
          </a:p>
        </p:txBody>
      </p:sp>
      <p:sp>
        <p:nvSpPr>
          <p:cNvPr id="10" name="S14-text30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0.1이 23개인 수</a:t>
            </a:r>
            <a:endParaRPr lang="ko-KR" sz="2400" dirty="0"/>
          </a:p>
        </p:txBody>
      </p:sp>
      <p:sp>
        <p:nvSpPr>
          <p:cNvPr id="11" name="S14-text30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묶음을 분수로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10분의 3</a:t>
            </a:r>
            <a:endParaRPr lang="ko-KR" sz="4000" dirty="0"/>
          </a:p>
        </p:txBody>
      </p:sp>
      <p:sp>
        <p:nvSpPr>
          <p:cNvPr id="3" name="S15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10칸으로 나눈 것 중 3칸이에요.</a:t>
            </a:r>
            <a:endParaRPr lang="ko-KR" sz="3000" dirty="0"/>
          </a:p>
        </p:txBody>
      </p:sp>
      <p:sp>
        <p:nvSpPr>
          <p:cNvPr id="4" name="S15-card30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0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1이 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3</a:t>
            </a:r>
            <a:endParaRPr lang="ko-KR" sz="3000" dirty="0"/>
          </a:p>
        </p:txBody>
      </p:sp>
      <p:sp>
        <p:nvSpPr>
          <p:cNvPr id="6" name="S15-card30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0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10, 분자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 중 3칸</a:t>
            </a:r>
            <a:endParaRPr lang="ko-KR" sz="3000" dirty="0"/>
          </a:p>
        </p:txBody>
      </p:sp>
      <p:sp>
        <p:nvSpPr>
          <p:cNvPr id="8" name="S15-num310"/>
          <p:cNvSpPr txBox="1"/>
          <p:nvPr/>
        </p:nvSpPr>
        <p:spPr>
          <a:xfrm>
            <a:off x="717296" y="292328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15-fracbar311"/>
          <p:cNvSpPr/>
          <p:nvPr/>
        </p:nvSpPr>
        <p:spPr>
          <a:xfrm>
            <a:off x="753872" y="337947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num312"/>
          <p:cNvSpPr txBox="1"/>
          <p:nvPr/>
        </p:nvSpPr>
        <p:spPr>
          <a:xfrm>
            <a:off x="717296" y="341604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1" name="S15-cell313"/>
          <p:cNvSpPr/>
          <p:nvPr/>
        </p:nvSpPr>
        <p:spPr>
          <a:xfrm>
            <a:off x="1600200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314"/>
          <p:cNvSpPr/>
          <p:nvPr/>
        </p:nvSpPr>
        <p:spPr>
          <a:xfrm>
            <a:off x="2604211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315"/>
          <p:cNvSpPr/>
          <p:nvPr/>
        </p:nvSpPr>
        <p:spPr>
          <a:xfrm>
            <a:off x="3608222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316"/>
          <p:cNvSpPr/>
          <p:nvPr/>
        </p:nvSpPr>
        <p:spPr>
          <a:xfrm>
            <a:off x="4612234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cell317"/>
          <p:cNvSpPr/>
          <p:nvPr/>
        </p:nvSpPr>
        <p:spPr>
          <a:xfrm>
            <a:off x="5616245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cell318"/>
          <p:cNvSpPr/>
          <p:nvPr/>
        </p:nvSpPr>
        <p:spPr>
          <a:xfrm>
            <a:off x="6620256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cell319"/>
          <p:cNvSpPr/>
          <p:nvPr/>
        </p:nvSpPr>
        <p:spPr>
          <a:xfrm>
            <a:off x="7624267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cell320"/>
          <p:cNvSpPr/>
          <p:nvPr/>
        </p:nvSpPr>
        <p:spPr>
          <a:xfrm>
            <a:off x="8628278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321"/>
          <p:cNvSpPr/>
          <p:nvPr/>
        </p:nvSpPr>
        <p:spPr>
          <a:xfrm>
            <a:off x="9632290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322"/>
          <p:cNvSpPr/>
          <p:nvPr/>
        </p:nvSpPr>
        <p:spPr>
          <a:xfrm>
            <a:off x="10636301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figure323" descr="똑같이 10칸으로 나눈 띠, 3칸 색칠"/>
          <p:cNvSpPr/>
          <p:nvPr/>
        </p:nvSpPr>
        <p:spPr>
          <a:xfrm>
            <a:off x="1600200" y="296799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소수의 뜻</dc:title>
  <dc:subject>KR22-G03-MAT-DECIMAL-L01</dc:subject>
  <dc:creator>education-ppt</dc:creator>
  <cp:lastModifiedBy>education-ppt</cp:lastModifiedBy>
  <cp:revision>1</cp:revision>
  <dcterms:created xsi:type="dcterms:W3CDTF">2026-10-26T07:38:13Z</dcterms:created>
  <dcterms:modified xsi:type="dcterms:W3CDTF">2026-10-26T07:38:13Z</dcterms:modified>
</cp:coreProperties>
</file>