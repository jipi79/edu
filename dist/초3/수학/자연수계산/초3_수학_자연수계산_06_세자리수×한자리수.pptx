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e45f324-ecd4-a9ed-bad8-650ac84eb210}">
          <p14:sldIdLst>
            <p14:sldId id="256"/>
            <p14:sldId id="257"/>
          </p14:sldIdLst>
        </p14:section>
        <p14:section name="개념" id="{952f9a09-e6be-0a6e-8737-410f262a4bcb}">
          <p14:sldIdLst>
            <p14:sldId id="258"/>
            <p14:sldId id="259"/>
            <p14:sldId id="260"/>
            <p14:sldId id="262"/>
          </p14:sldIdLst>
        </p14:section>
        <p14:section name="연습" id="{a22291c7-1cea-8372-2bb6-ea07f1548b56}">
          <p14:sldIdLst>
            <p14:sldId id="261"/>
            <p14:sldId id="263"/>
            <p14:sldId id="264"/>
          </p14:sldIdLst>
        </p14:section>
        <p14:section name="개념" id="{95354929-fb48-989a-53c7-856da18682fa}">
          <p14:sldIdLst/>
        </p14:section>
        <p14:section name="연습" id="{30b2e728-ebda-00a8-4b47-0132edc59a81}">
          <p14:sldIdLst/>
        </p14:section>
        <p14:section name="확인" id="{c2a04798-b4ff-1bac-4b1d-c982755d546b}">
          <p14:sldIdLst>
            <p14:sldId id="265"/>
            <p14:sldId id="266"/>
            <p14:sldId id="267"/>
          </p14:sldIdLst>
        </p14:section>
        <p14:section name="정리" id="{0c02377f-4519-f806-4d8f-1b49c770c7af}">
          <p14:sldIdLst>
            <p14:sldId id="268"/>
          </p14:sldIdLst>
        </p14:section>
        <p14:section name="보충" id="{816234d5-3da4-c7b0-2d20-dd08f0e06bf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곱셈을 세 자리 수로 넓힐 수 있을지 궁금하게 합니다.
시간: 약 2분
이렇게 말해 보세요
- “지난 시간에 26 × 3을 자리별로 곱하고 세로셈으로 했지? 오늘은 128 × 3처럼 세 자리 수에 곱해 볼 거야.”
- “백의 자리가 하나 늘었어. 어떻게 하면 될까?”
예상 답
- “백의 자리도 곱해요.” “일의 자리부터 곱해요.” 또는 “잘 모르겠어요.”
막히면
- 답을 확인하지 않고 넘어갑니다. S04~S05에서 같은 문제를 함께 풉니다.
주의
- 오늘 배우는 방법은 지난 시간과 같고 자리만 하나 늘었다고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확인((두 자리 수)×(한 자리 수), 몇십 곱하기, 자릿값)]
목적: 지난 차시의 (두 자리 수)×(한 자리 수), (몇십)×(몇), 세 자리 수의 자릿값이 되는지 확인합니다.
시간: 약 3분
이렇게 말해 보세요
- “①은 지난 시간에 한 47 × 6이야. 세로셈으로 해 볼래? 올린 수가 무엇인지도 말해 줘.”
- “②는 20 × 4, ③은 300 + 60 + 9야.”
정답
- ① 282
- ② 80
- ③ 369
막히면
- ①은 자리별로 나누어 7 × 6 = 42, 40 × 6 = 240, 42 + 240 = 282로 해 보게 합니다.
- ①을 틀리면 S14(보충)를 먼저 합니다. 보충으로도 어려우면 초3 5차시 ‘(두 자리 수)×(한 자리 수)’(KR22-G03-MAT-MUL2X1-L01)를 다시 합니다.
주의
- ②는 2 × 4 = 8이니까 십 모형 8개, 80입니다. 오늘은 같은 생각으로 100 × 3, 200 × 3도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(세 자리 수)×(한 자리 수)를 자리별로 나누어 곱하기]
목적: 213을 200, 10, 3으로 나누어 각각 3을 곱하고 더하면 213 × 3이 된다는 것을 압니다.
시간: 약 3분
이렇게 말해 보세요
- “213은 백 모형 2개, 십 모형 1개, 일 모형 3개야. 213 × 3이면 모형마다 3배가 되지?”
- “200 × 3 = 600, 10 × 3 = 30, 3 × 3 = 9. 모두 더하면 639야.”
예상 답
- “백 6개, 십 3개, 일 9개라서 639예요.”
막히면
- 종이 수 모형으로 213을 세 번 놓고 백·십·일 모형을 따로 셉니다.
주의
- 200 × 3을 2 × 3 = 6으로만 쓰지 않게 합니다. 백 모형 6개는 600입니다(M3).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자리별 곱을 세로셈으로 쓰고 더하기(128 × 3)]
목적: 128 × 3을 일·십·백의 자리 곱으로 나누어 세로로 쓰고 더하는 방법을 시범으로 보여 줍니다.
시간: 약 3분
이렇게 말해 보세요
- “일의 자리부터 곱해. 8 × 3 = 24. 십의 자리 2는 20이니까 20 × 3 = 60. 백의 자리 1은 100이니까 100 × 3 = 300.”
- “세 곱을 자리를 맞추어 쓰고 더하면 24 + 60 + 300 = 384야.”
예상 답
- “384예요.”
막히면
- 표의 24, 60, 300 옆에 각각 ‘8 × 3’, ‘20 × 3’, ‘100 × 3’을 부모가 손가락으로 짚어 줍니다.
주의
- 표의 셋째·넷째·다섯째 줄이 자리별 곱이고, 맨 아래 줄이 그 합입니다. 공책에는 더하기 전에 선을 긋게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세로셈 시범(일의 자리에서 올림)]
목적: 자리별 곱을 한 줄로 짧게 쓰는 세로셈으로 128 × 3을 계산하고, 올림을 바로 윗자리에 더한다는 것을 압니다.
시간: 약 4분
이렇게 말해 보세요
- “일의 자리 8 × 3 = 24. 4를 쓰고 2를 십의 자리 위에 올려.”
- “십의 자리 2 × 3 = 6에 올린 2를 더해 8. 백의 자리 1 × 3 = 3. 그래서 384야. S04와 같지?”
예상 답
- “384예요.”
막히면
- S04의 표와 나란히 놓고 ‘24의 2 = 올린 2’, 곧 십 모형 2개라고 짚어 줍니다.
주의
- 올린 2는 바로 윗자리(십의 자리)에만 더합니다. 백의 자리에 더하면 틀립니다(M2).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연습(올림이 한 번, 두 번)]
목적: 도움을 받으며 올림이 있는 (세 자리 수)×(한 자리 수)를 세로셈으로 계산합니다.
시간: 약 4분
이렇게 말해 보세요
- “①은 일의 자리에서, ②는 십의 자리에서 올림이 있어. 어디에 무엇을 올렸는지 말하면서 풀어 볼래?”
- “③은 오른쪽 세로셈 칸에 써 보자. 올림이 몇 번 있어?”
정답
- ① 864(6 × 4 = 24, 1 × 4 + 2 = 6, 2 × 4 = 8)
- ② 459(3 × 3 = 9, 5 × 3 = 15, 1 × 3 + 1 = 4)
- ③ 741(7 × 3 = 21, 4 × 3 + 2 = 14, 2 × 3 + 1 = 7). 맨 위 □는 백의 자리 위 1, 십의 자리 위 2
막히면
- S04처럼 자리별로 곱해서 더해 확인하게 합니다(① 24 + 40 + 800 = 864).
주의
- ③은 올림이 두 번입니다. 올린 수에 동그라미를 치고, 곱한 다음 더하게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세로셈 시범(올림이 여러 번, 곱이 네 자리 수)]
목적: 올림이 여러 번 있고 백의 자리 곱이 10 이상이라 곱이 네 자리 수가 되는 곱셈을 세로셈으로 계산합니다.
시간: 약 4분
이렇게 말해 보세요
- “365 × 4야. 일의 자리 5 × 4 = 20, 0을 쓰고 2를 올려. 십의 자리 6 × 4 = 24에 2를 더해 26, 6을 쓰고 2를 올려.”
- “백의 자리 3 × 4 = 12에 2를 더해 14. 4는 백의 자리, 1은 천의 자리에 써. 1460이야.”
예상 답
- “1460이에요.”
막히면
- 자리별로 계산해 확인합니다. 20 + 240 + 1200 = 1460.
주의
- 14를 백의 자리 한 칸에 쓰거나 1을 빠뜨려 460으로 쓰지 않게 합니다(M4). 백 모형 14개는 천 모형 1개와 백 모형 4개입니다.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비교(올린 수 빠뜨리기), 자리별 곱으로 확인]
목적: 올린 수를 더하지 않는 실수를 찾고, 자리별 곱으로 확인해 까닭을 설명합니다(M1).
시간: 약 3분
이렇게 말해 보세요
- “토끼와 곰의 답이 달라. 자리별로 곱해 볼까? 4 × 3 = 12, 70 × 3 = 210, 200 × 3 = 600. 더하면?”
- “토끼는 12, 21에서 1과 2를 어떻게 했어?”
예상 답
- “곰이요. 토끼는 올린 수를 안 더했어요.”
정답
- 곰이 맞습니다. 274 × 3 = 822입니다(12 + 210 + 600 = 822).
- 토끼는 12와 21에서 일의 자리 숫자만 쓰고 올린 1과 2를 버렸습니다. 그래서 210만큼 작은 612가 되었습니다.
막히면
- 세로셈 위에 올린 수를 작게 쓰고 동그라미를 친 뒤, 곱할 때마다 짚어 더하게 합니다.
주의
- 올린 수를 백의 자리에 한꺼번에 더하는 실수도 있습니다(M2). 올린 수는 바로 윗자리에 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연습(문장제, 0이 있는 수)]
목적: 도움을 받으며 문장을 곱셈식으로 쓰고, 0이 있는 세 자리 수의 곱셈도 세로셈으로 계산합니다.
시간: 약 3분
이렇게 말해 보세요
- “①은 125개씩 4상자야. 곱셈식은 125 × 4. 세로셈으로 계산해 볼래?”
- “③은 십의 자리가 0이야. 0 × 2 = 0에 올린 수가 있으면 더해야 해.”
정답
- ① 125 × 4 = 500, 500개(5 × 4 = 20, 2 × 4 + 2 = 10, 1 × 4 + 1 = 5)
- ② 230 × 3 = 690, 690번
- ③ 816(8 × 2 = 16, 0 × 2 + 1 = 1, 4 × 2 = 8)
막히면
- ①은 일의 자리와 십의 자리 모두 0이 나오지만 올린 수가 있다는 것을 한 자리씩 짚어 줍니다.
주의
- ③을 806으로 쓰면 십의 자리에서 0 × 2 = 0만 쓰고 올린 1을 더하지 않은 것입니다(M5).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(세 자리 수)×(한 자리 수)를 세로셈으로 계산하는지 확인합니다.
시간: 약 5분
이렇게 말해 보세요
- “이번에는 혼자 공책에 세로셈으로 풀어 볼래? 다 풀면 어디에 무엇을 올렸는지 말해 줘.”
정답
- ① 936
- ② 872
- ③ 762
- ④ 2365
막히면
- 바로 알려 주지 말고 “일의 자리부터 곱하면 얼마야? 올릴 수가 있어?”라고만 묻습니다.
- 도움을 받아 해결했다면 기록표에 ‘도움’으로 표시합니다.
주의
- ④는 올림이 여러 번 있고 곱이 네 자리 수입니다. ①~③을 맞히고 ④만 틀렸다면 S07을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자리별로 나누어 곱해서 확인해 보자.”
정답
- ① 936 ② 872 ③ 762 ④ 2365
막히면
- 올린 수를 빠뜨렸으면 S08로, 곱이 네 자리 수인 문제가 틀렸으면 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확인(자리별로 나누어 곱하기)]
목적: 처음 보는 곱셈을 자릿값에 맞게 나누어 곱하는 방법을 고르고 설명하는지 확인합니다.
시간: 약 2분
이렇게 말해 보세요
- “236 × 3을 바르게 나누어 계산한 것을 골라 볼래? 그리고 236 × 3을 구해 줘.”
정답
- 가. 600 + 90 + 18 = 708이라 236 × 3 = 708입니다.
- 나는 30에 3을 곱하지 않았고(648), 다는 백·십의 자리 숫자를 200, 30이 아니라 2, 3으로 곱했습니다(33).
막히면
- 236을 수 모형(백 2개, 십 3개, 일 6개)으로 놓고 3묶음을 만들어 보게 합니다.
주의
- ‘236은 200과 30과 6, 모두 3번씩’이라고 말하면 목표 A를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128 × 3을 자리별로 어떻게 나누었지? 올린 수는 어디에 더해?”
예상 답
- “100 × 3, 20 × 3, 8 × 3을 더해요.” “바로 윗자리에서 곱한 다음 더해요.”
정답
- ① 284 ② 978 ③ 1032
막히면
- S04와 S05를 나란히 보여 주며 자리별 곱과 세로셈을 연결해 말합니다.
주의
- 다음 차시((두 자리 수)×(두 자리 수))에서는 곱하는 수도 두 자리 수가 됩니다.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보충((두 자리 수)×(한 자리 수))]
목적: S02에서 (두 자리 수)×(한 자리 수)가 흔들리면, 올림이 있는 세로셈을 다시 익힙니다.
시간: 약 5분
이렇게 말해 보세요
- “47 × 6을 해 보자. 일의 자리 7 × 6 = 42, 2를 쓰고 4를 올려.”
- “십의 자리 4 × 6 = 24에 올린 4를 더해 28. 그래서 282야.”
정답
- 47 × 6 = 282
막히면
- 자리별로 7 × 6 = 42, 40 × 6 = 240을 구해 더해 봅니다. 36 × 4, 58 × 3으로도 해 봅니다(144, 174).
주의
- 보충으로도 어려우면 초3 5차시 ‘(두 자리 수)×(한 자리 수)’(KR22-G03-MAT-MUL2X1-L01)를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(세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(세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(세 자리 수)×(한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(몇백몇십몇)×(몇)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× 3은 어떻게 계산할까?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0007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백·십·일의 자리로 나누어 곱하고 더해요.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올림이 있는 곱셈을 세로셈으로 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× 6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4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+ 60 + 9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자리별로 곱해요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213은 200과 10과 3이에요.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 = 639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 + 30 + 9 = 639</a:t>
            </a:r>
            <a:endParaRPr lang="ko-KR" sz="3000" dirty="0"/>
          </a:p>
        </p:txBody>
      </p:sp>
      <p:sp>
        <p:nvSpPr>
          <p:cNvPr id="6" name="S03-card13"/>
          <p:cNvSpPr/>
          <p:nvPr/>
        </p:nvSpPr>
        <p:spPr>
          <a:xfrm>
            <a:off x="548640" y="387858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401574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× 3 = 600</a:t>
            </a:r>
            <a:endParaRPr lang="ko-KR" sz="3000" dirty="0"/>
          </a:p>
        </p:txBody>
      </p:sp>
      <p:sp>
        <p:nvSpPr>
          <p:cNvPr id="8" name="S03-card15"/>
          <p:cNvSpPr/>
          <p:nvPr/>
        </p:nvSpPr>
        <p:spPr>
          <a:xfrm>
            <a:off x="4322064" y="387858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401574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× 3 = 30</a:t>
            </a:r>
            <a:endParaRPr lang="ko-KR" sz="3000" dirty="0"/>
          </a:p>
        </p:txBody>
      </p:sp>
      <p:sp>
        <p:nvSpPr>
          <p:cNvPr id="10" name="S03-card17"/>
          <p:cNvSpPr/>
          <p:nvPr/>
        </p:nvSpPr>
        <p:spPr>
          <a:xfrm>
            <a:off x="8095488" y="387858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401574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3 = 9</a:t>
            </a:r>
            <a:endParaRPr lang="ko-KR" sz="3000" dirty="0"/>
          </a:p>
        </p:txBody>
      </p:sp>
      <p:sp>
        <p:nvSpPr>
          <p:cNvPr id="12" name="S03-flat19"/>
          <p:cNvSpPr/>
          <p:nvPr/>
        </p:nvSpPr>
        <p:spPr>
          <a:xfrm>
            <a:off x="4196253" y="2043186"/>
            <a:ext cx="1575288" cy="157528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4353782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4196253" y="2200715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4511311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3"/>
          <p:cNvSpPr/>
          <p:nvPr/>
        </p:nvSpPr>
        <p:spPr>
          <a:xfrm>
            <a:off x="4196253" y="2358243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4668840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4196253" y="2515772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4826369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4196253" y="2673301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4983898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4196253" y="2830830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5141426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4196253" y="2988359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5298955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4196253" y="3145888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5456484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35"/>
          <p:cNvSpPr/>
          <p:nvPr/>
        </p:nvSpPr>
        <p:spPr>
          <a:xfrm>
            <a:off x="4196253" y="3303417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5614013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4196253" y="3460945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flat38"/>
          <p:cNvSpPr/>
          <p:nvPr/>
        </p:nvSpPr>
        <p:spPr>
          <a:xfrm>
            <a:off x="5866059" y="2043186"/>
            <a:ext cx="1575288" cy="157528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6023588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5866059" y="2200715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6181117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5866059" y="2358243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6338646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5866059" y="2515772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6496175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5866059" y="2673301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6653703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5866059" y="2830830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6811232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5866059" y="2988359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6968761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5866059" y="3145888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7126290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5866059" y="3303417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7283819" y="2043186"/>
            <a:ext cx="0" cy="15752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5866059" y="3460945"/>
            <a:ext cx="157528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rod57"/>
          <p:cNvSpPr/>
          <p:nvPr/>
        </p:nvSpPr>
        <p:spPr>
          <a:xfrm>
            <a:off x="7535865" y="2043186"/>
            <a:ext cx="157529" cy="157528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7535865" y="2200715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7535865" y="2358243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7535865" y="2515772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7535865" y="2673301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7535865" y="2830830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7535865" y="2988359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7535865" y="3145888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7535865" y="3303417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7535865" y="3460945"/>
            <a:ext cx="157529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unit67"/>
          <p:cNvSpPr/>
          <p:nvPr/>
        </p:nvSpPr>
        <p:spPr>
          <a:xfrm>
            <a:off x="7787911" y="3421563"/>
            <a:ext cx="157529" cy="15752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unit68"/>
          <p:cNvSpPr/>
          <p:nvPr/>
        </p:nvSpPr>
        <p:spPr>
          <a:xfrm>
            <a:off x="7787911" y="3224652"/>
            <a:ext cx="157529" cy="15752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unit69"/>
          <p:cNvSpPr/>
          <p:nvPr/>
        </p:nvSpPr>
        <p:spPr>
          <a:xfrm>
            <a:off x="7787911" y="3027741"/>
            <a:ext cx="157529" cy="15752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3-figure70" descr="수 모형: 백 2개, 십 1개, 일 3개(213)"/>
          <p:cNvSpPr/>
          <p:nvPr/>
        </p:nvSpPr>
        <p:spPr>
          <a:xfrm>
            <a:off x="548640" y="204318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 곱을 더해요</a:t>
            </a:r>
            <a:endParaRPr lang="ko-KR" sz="4000" dirty="0"/>
          </a:p>
        </p:txBody>
      </p:sp>
      <p:sp>
        <p:nvSpPr>
          <p:cNvPr id="3" name="S04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× 3을 자리별로 곱해서 더해요.</a:t>
            </a:r>
            <a:endParaRPr lang="ko-KR" sz="3000" dirty="0"/>
          </a:p>
        </p:txBody>
      </p:sp>
      <p:graphicFrame>
        <p:nvGraphicFramePr>
          <p:cNvPr id="5" name="S04-table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32346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4-stepno73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74"/>
          <p:cNvSpPr txBox="1"/>
          <p:nvPr/>
        </p:nvSpPr>
        <p:spPr>
          <a:xfrm>
            <a:off x="1325880" y="277063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8 × 3 = 24</a:t>
            </a:r>
            <a:endParaRPr lang="ko-KR" sz="3000" dirty="0"/>
          </a:p>
        </p:txBody>
      </p:sp>
      <p:sp>
        <p:nvSpPr>
          <p:cNvPr id="7" name="S04-stepno75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76"/>
          <p:cNvSpPr txBox="1"/>
          <p:nvPr/>
        </p:nvSpPr>
        <p:spPr>
          <a:xfrm>
            <a:off x="1325880" y="348386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20 × 3 = 60</a:t>
            </a:r>
            <a:endParaRPr lang="ko-KR" sz="3000" dirty="0"/>
          </a:p>
        </p:txBody>
      </p:sp>
      <p:sp>
        <p:nvSpPr>
          <p:cNvPr id="9" name="S04-stepno77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78"/>
          <p:cNvSpPr txBox="1"/>
          <p:nvPr/>
        </p:nvSpPr>
        <p:spPr>
          <a:xfrm>
            <a:off x="1325880" y="419709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100 × 3 = 300</a:t>
            </a:r>
            <a:endParaRPr lang="ko-KR" sz="3000" dirty="0"/>
          </a:p>
        </p:txBody>
      </p:sp>
      <p:sp>
        <p:nvSpPr>
          <p:cNvPr id="11" name="S04-stepno79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80"/>
          <p:cNvSpPr txBox="1"/>
          <p:nvPr/>
        </p:nvSpPr>
        <p:spPr>
          <a:xfrm>
            <a:off x="1325880" y="491032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+ 60 + 300 = 384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쓰는 세로셈</a:t>
            </a:r>
            <a:endParaRPr lang="ko-KR" sz="4000" dirty="0"/>
          </a:p>
        </p:txBody>
      </p:sp>
      <p:sp>
        <p:nvSpPr>
          <p:cNvPr id="3" name="S05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× 3을 짧게 써요.</a:t>
            </a:r>
            <a:endParaRPr lang="ko-KR" sz="3000" dirty="0"/>
          </a:p>
        </p:txBody>
      </p:sp>
      <p:sp>
        <p:nvSpPr>
          <p:cNvPr id="4" name="S05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2는 십 모형 2개예요.</a:t>
            </a:r>
            <a:endParaRPr lang="ko-KR" sz="3000" dirty="0"/>
          </a:p>
        </p:txBody>
      </p:sp>
      <p:graphicFrame>
        <p:nvGraphicFramePr>
          <p:cNvPr id="6" name="S05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85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86"/>
          <p:cNvSpPr txBox="1"/>
          <p:nvPr/>
        </p:nvSpPr>
        <p:spPr>
          <a:xfrm>
            <a:off x="1325880" y="23881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8 × 3 = 24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쓰고 2를 올려요.</a:t>
            </a:r>
            <a:endParaRPr lang="ko-KR" sz="3000" dirty="0"/>
          </a:p>
        </p:txBody>
      </p:sp>
      <p:sp>
        <p:nvSpPr>
          <p:cNvPr id="9" name="S05-stepno87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88"/>
          <p:cNvSpPr txBox="1"/>
          <p:nvPr/>
        </p:nvSpPr>
        <p:spPr>
          <a:xfrm>
            <a:off x="1325880" y="34823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 × 3 = 6, 6 + 2 = 8</a:t>
            </a:r>
            <a:endParaRPr lang="ko-KR" sz="3000" dirty="0"/>
          </a:p>
        </p:txBody>
      </p:sp>
      <p:sp>
        <p:nvSpPr>
          <p:cNvPr id="11" name="S05-stepno89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90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× 3 = 3, 곱은 384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6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수는 바로 윗자리에서 곱한 다음 더해요.</a:t>
            </a:r>
            <a:endParaRPr lang="ko-KR" sz="3000" dirty="0"/>
          </a:p>
        </p:txBody>
      </p:sp>
      <p:sp>
        <p:nvSpPr>
          <p:cNvPr id="5" name="S06-card93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94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 해요</a:t>
            </a:r>
            <a:endParaRPr lang="ko-KR" sz="3000" dirty="0"/>
          </a:p>
        </p:txBody>
      </p:sp>
      <p:graphicFrame>
        <p:nvGraphicFramePr>
          <p:cNvPr id="7" name="S06-table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19519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6-chip96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6-eqtext97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216 × 4 = □</a:t>
            </a:r>
            <a:endParaRPr lang="ko-KR" sz="3400" dirty="0"/>
          </a:p>
        </p:txBody>
      </p:sp>
      <p:sp>
        <p:nvSpPr>
          <p:cNvPr id="10" name="S06-chip98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eqtext99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 × 3 = □</a:t>
            </a:r>
            <a:endParaRPr lang="ko-KR" sz="3400" dirty="0"/>
          </a:p>
        </p:txBody>
      </p:sp>
      <p:sp>
        <p:nvSpPr>
          <p:cNvPr id="12" name="S06-chip100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6-eqtext101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× 3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네 자리 수</a:t>
            </a:r>
            <a:endParaRPr lang="ko-KR" sz="4000" dirty="0"/>
          </a:p>
        </p:txBody>
      </p:sp>
      <p:sp>
        <p:nvSpPr>
          <p:cNvPr id="3" name="S07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365 × 4를 세로셈으로 해요.</a:t>
            </a:r>
            <a:endParaRPr lang="ko-KR" sz="3000" dirty="0"/>
          </a:p>
        </p:txBody>
      </p:sp>
      <p:sp>
        <p:nvSpPr>
          <p:cNvPr id="4" name="S07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곱이 10을 넘으면 천의 자리에 써요.</a:t>
            </a:r>
            <a:endParaRPr lang="ko-KR" sz="3000" dirty="0"/>
          </a:p>
        </p:txBody>
      </p:sp>
      <p:graphicFrame>
        <p:nvGraphicFramePr>
          <p:cNvPr id="8" name="S07-table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0911" y="2089785"/>
          <a:ext cx="4719401" cy="914400"/>
        </p:xfrm>
        <a:graphic>
          <a:graphicData uri="http://schemas.openxmlformats.org/drawingml/2006/table">
            <a:tbl>
              <a:tblPr/>
              <a:tblGrid>
                <a:gridCol w="943880"/>
                <a:gridCol w="943880"/>
                <a:gridCol w="943880"/>
                <a:gridCol w="943880"/>
                <a:gridCol w="9438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stepno106"/>
          <p:cNvSpPr txBox="1"/>
          <p:nvPr/>
        </p:nvSpPr>
        <p:spPr>
          <a:xfrm>
            <a:off x="548640" y="20726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107"/>
          <p:cNvSpPr txBox="1"/>
          <p:nvPr/>
        </p:nvSpPr>
        <p:spPr>
          <a:xfrm>
            <a:off x="1325880" y="2026920"/>
            <a:ext cx="5229271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5 × 4 = 20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쓰고 2를 올려요.</a:t>
            </a:r>
            <a:endParaRPr lang="ko-KR" sz="2400" dirty="0"/>
          </a:p>
        </p:txBody>
      </p:sp>
      <p:sp>
        <p:nvSpPr>
          <p:cNvPr id="9" name="S07-stepno108"/>
          <p:cNvSpPr txBox="1"/>
          <p:nvPr/>
        </p:nvSpPr>
        <p:spPr>
          <a:xfrm>
            <a:off x="548640" y="29809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109"/>
          <p:cNvSpPr txBox="1"/>
          <p:nvPr/>
        </p:nvSpPr>
        <p:spPr>
          <a:xfrm>
            <a:off x="1325880" y="2935224"/>
            <a:ext cx="5229271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6 × 4 + 2 = 26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쓰고 2를 올려요.</a:t>
            </a:r>
            <a:endParaRPr lang="ko-KR" sz="2400" dirty="0"/>
          </a:p>
        </p:txBody>
      </p:sp>
      <p:sp>
        <p:nvSpPr>
          <p:cNvPr id="11" name="S07-stepno110"/>
          <p:cNvSpPr txBox="1"/>
          <p:nvPr/>
        </p:nvSpPr>
        <p:spPr>
          <a:xfrm>
            <a:off x="548640" y="38435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111"/>
          <p:cNvSpPr txBox="1"/>
          <p:nvPr/>
        </p:nvSpPr>
        <p:spPr>
          <a:xfrm>
            <a:off x="1325880" y="38435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3 × 4 + 2 = 14</a:t>
            </a:r>
            <a:endParaRPr lang="ko-KR" sz="2400" dirty="0"/>
          </a:p>
        </p:txBody>
      </p:sp>
      <p:sp>
        <p:nvSpPr>
          <p:cNvPr id="13" name="S07-stepno112"/>
          <p:cNvSpPr txBox="1"/>
          <p:nvPr/>
        </p:nvSpPr>
        <p:spPr>
          <a:xfrm>
            <a:off x="548640" y="4556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113"/>
          <p:cNvSpPr txBox="1"/>
          <p:nvPr/>
        </p:nvSpPr>
        <p:spPr>
          <a:xfrm>
            <a:off x="1325880" y="45567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곱은 1460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1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1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274 × 3을 세로셈으로 했어요.</a:t>
            </a:r>
            <a:endParaRPr lang="ko-KR" sz="3000" dirty="0"/>
          </a:p>
        </p:txBody>
      </p:sp>
      <p:sp>
        <p:nvSpPr>
          <p:cNvPr id="5" name="S08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자리별로 곱해 확인하고, 누가 맞았는지 말해요.</a:t>
            </a:r>
            <a:endParaRPr lang="ko-KR" sz="3000" dirty="0"/>
          </a:p>
        </p:txBody>
      </p:sp>
      <p:sp>
        <p:nvSpPr>
          <p:cNvPr id="7" name="S08-chip11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612</a:t>
            </a:r>
            <a:endParaRPr lang="ko-KR" sz="2400" dirty="0"/>
          </a:p>
        </p:txBody>
      </p:sp>
      <p:sp>
        <p:nvSpPr>
          <p:cNvPr id="8" name="S08-text11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12, 7 × 3 = 21에서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숫자만 썼어요.</a:t>
            </a:r>
            <a:endParaRPr lang="ko-KR" sz="3000" dirty="0"/>
          </a:p>
        </p:txBody>
      </p:sp>
      <p:sp>
        <p:nvSpPr>
          <p:cNvPr id="9" name="S08-chip12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822</a:t>
            </a:r>
            <a:endParaRPr lang="ko-KR" sz="2400" dirty="0"/>
          </a:p>
        </p:txBody>
      </p:sp>
      <p:sp>
        <p:nvSpPr>
          <p:cNvPr id="10" name="S08-text12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1과 2를 바로 윗자리의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곱에 더했어요.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계산하기</a:t>
            </a:r>
            <a:endParaRPr lang="ko-KR" sz="4000" dirty="0"/>
          </a:p>
        </p:txBody>
      </p:sp>
      <p:sp>
        <p:nvSpPr>
          <p:cNvPr id="3" name="S09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곱셈식을 쓰고, 세로셈으로 계산해요.</a:t>
            </a:r>
            <a:endParaRPr lang="ko-KR" sz="3000" dirty="0"/>
          </a:p>
        </p:txBody>
      </p:sp>
      <p:sp>
        <p:nvSpPr>
          <p:cNvPr id="4" name="S09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 곱해도 올린 수는 더해요.</a:t>
            </a:r>
            <a:endParaRPr lang="ko-KR" sz="3000" dirty="0"/>
          </a:p>
        </p:txBody>
      </p:sp>
      <p:sp>
        <p:nvSpPr>
          <p:cNvPr id="6" name="S09-chip12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12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구슬이 한 상자에 125개씩 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4상자에는 모두 몇 개일까요?</a:t>
            </a:r>
            <a:endParaRPr lang="ko-KR" sz="3000" dirty="0"/>
          </a:p>
        </p:txBody>
      </p:sp>
      <p:sp>
        <p:nvSpPr>
          <p:cNvPr id="8" name="S09-chip12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12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하루에 230번씩 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동안 모두 몇 번일까요?</a:t>
            </a:r>
            <a:endParaRPr lang="ko-KR" sz="3000" dirty="0"/>
          </a:p>
        </p:txBody>
      </p:sp>
      <p:sp>
        <p:nvSpPr>
          <p:cNvPr id="10" name="S09-chip12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eqtext13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408 × 2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올림을 말해요.</a:t>
            </a:r>
            <a:endParaRPr lang="ko-KR" sz="3000" dirty="0"/>
          </a:p>
        </p:txBody>
      </p:sp>
      <p:sp>
        <p:nvSpPr>
          <p:cNvPr id="4" name="S10-chip1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13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312 × 3 = □</a:t>
            </a:r>
            <a:endParaRPr lang="ko-KR" sz="3400" dirty="0"/>
          </a:p>
        </p:txBody>
      </p:sp>
      <p:sp>
        <p:nvSpPr>
          <p:cNvPr id="6" name="S10-chip13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13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218 × 4 = □</a:t>
            </a:r>
            <a:endParaRPr lang="ko-KR" sz="3400" dirty="0"/>
          </a:p>
        </p:txBody>
      </p:sp>
      <p:sp>
        <p:nvSpPr>
          <p:cNvPr id="8" name="S10-chip13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13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254 × 3 = □</a:t>
            </a:r>
            <a:endParaRPr lang="ko-KR" sz="3400" dirty="0"/>
          </a:p>
        </p:txBody>
      </p:sp>
      <p:sp>
        <p:nvSpPr>
          <p:cNvPr id="10" name="S10-chip13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13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473 × 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자리별로 나누어 곱해 확인하게 하세요.</a:t>
            </a:r>
            <a:endParaRPr lang="ko-KR" sz="3000" dirty="0"/>
          </a:p>
        </p:txBody>
      </p:sp>
      <p:sp>
        <p:nvSpPr>
          <p:cNvPr id="5" name="S11-chip14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143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936</a:t>
            </a:r>
            <a:endParaRPr lang="ko-KR" sz="3000" dirty="0"/>
          </a:p>
        </p:txBody>
      </p:sp>
      <p:sp>
        <p:nvSpPr>
          <p:cNvPr id="7" name="S11-text144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올림 없음</a:t>
            </a:r>
            <a:endParaRPr lang="ko-KR" sz="2400" dirty="0"/>
          </a:p>
        </p:txBody>
      </p:sp>
      <p:sp>
        <p:nvSpPr>
          <p:cNvPr id="8" name="S11-text145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872</a:t>
            </a:r>
            <a:endParaRPr lang="ko-KR" sz="3000" dirty="0"/>
          </a:p>
        </p:txBody>
      </p:sp>
      <p:sp>
        <p:nvSpPr>
          <p:cNvPr id="9" name="S11-text146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4 = 32</a:t>
            </a:r>
            <a:endParaRPr lang="ko-KR" sz="2400" dirty="0"/>
          </a:p>
        </p:txBody>
      </p:sp>
      <p:sp>
        <p:nvSpPr>
          <p:cNvPr id="10" name="S11-text147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762</a:t>
            </a:r>
            <a:endParaRPr lang="ko-KR" sz="3000" dirty="0"/>
          </a:p>
        </p:txBody>
      </p:sp>
      <p:sp>
        <p:nvSpPr>
          <p:cNvPr id="11" name="S11-text148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+ 1 = 16</a:t>
            </a:r>
            <a:endParaRPr lang="ko-KR" sz="2400" dirty="0"/>
          </a:p>
        </p:txBody>
      </p:sp>
      <p:sp>
        <p:nvSpPr>
          <p:cNvPr id="12" name="S11-text149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2365</a:t>
            </a:r>
            <a:endParaRPr lang="ko-KR" sz="3000" dirty="0"/>
          </a:p>
        </p:txBody>
      </p:sp>
      <p:sp>
        <p:nvSpPr>
          <p:cNvPr id="13" name="S11-text150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+ 3 = 23</a:t>
            </a:r>
            <a:endParaRPr lang="ko-KR" sz="2400" dirty="0"/>
          </a:p>
        </p:txBody>
      </p:sp>
      <p:sp>
        <p:nvSpPr>
          <p:cNvPr id="14" name="S11-chip15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15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2055</a:t>
            </a:r>
            <a:endParaRPr lang="ko-KR" sz="3000" dirty="0"/>
          </a:p>
        </p:txBody>
      </p:sp>
      <p:sp>
        <p:nvSpPr>
          <p:cNvPr id="16" name="S11-text15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수를 빠뜨림</a:t>
            </a:r>
            <a:endParaRPr lang="ko-KR" sz="2400" dirty="0"/>
          </a:p>
        </p:txBody>
      </p:sp>
      <p:sp>
        <p:nvSpPr>
          <p:cNvPr id="17" name="S11-text15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662</a:t>
            </a:r>
            <a:endParaRPr lang="ko-KR" sz="3000" dirty="0"/>
          </a:p>
        </p:txBody>
      </p:sp>
      <p:sp>
        <p:nvSpPr>
          <p:cNvPr id="18" name="S11-text15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백에 1을 안 더함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나눈 것은?</a:t>
            </a:r>
            <a:endParaRPr lang="ko-KR" sz="4000" dirty="0"/>
          </a:p>
        </p:txBody>
      </p:sp>
      <p:sp>
        <p:nvSpPr>
          <p:cNvPr id="3" name="S12-text1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236 × 3을 자리별로 나누어 계산하려고 해요.</a:t>
            </a:r>
            <a:endParaRPr lang="ko-KR" sz="3000" dirty="0"/>
          </a:p>
        </p:txBody>
      </p:sp>
      <p:sp>
        <p:nvSpPr>
          <p:cNvPr id="4" name="S12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나눈 것을 고르고, 236 × 3을 구해요.</a:t>
            </a:r>
            <a:endParaRPr lang="ko-KR" sz="3000" dirty="0"/>
          </a:p>
        </p:txBody>
      </p:sp>
      <p:sp>
        <p:nvSpPr>
          <p:cNvPr id="6" name="S12-chip15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bigtext160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+ 30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 × 3</a:t>
            </a:r>
            <a:endParaRPr lang="ko-KR" sz="2800" dirty="0"/>
          </a:p>
        </p:txBody>
      </p:sp>
      <p:sp>
        <p:nvSpPr>
          <p:cNvPr id="8" name="S12-chip16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bigtext162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+ 30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 × 3</a:t>
            </a:r>
            <a:endParaRPr lang="ko-KR" sz="2800" dirty="0"/>
          </a:p>
        </p:txBody>
      </p:sp>
      <p:sp>
        <p:nvSpPr>
          <p:cNvPr id="10" name="S12-chip16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2-bigtext164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+ 3 × 3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 × 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6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6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백·십·일의 자리를 차례로 곱하고, 올린 수를 더해요.</a:t>
            </a:r>
            <a:endParaRPr lang="ko-KR" sz="3000" dirty="0"/>
          </a:p>
        </p:txBody>
      </p:sp>
      <p:sp>
        <p:nvSpPr>
          <p:cNvPr id="5" name="S13-chip16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올린 수는 바로 윗자리에</a:t>
            </a:r>
            <a:endParaRPr lang="ko-KR" sz="2400" dirty="0"/>
          </a:p>
        </p:txBody>
      </p:sp>
      <p:sp>
        <p:nvSpPr>
          <p:cNvPr id="6" name="S13-chip16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올린 수 빠뜨리기</a:t>
            </a:r>
            <a:endParaRPr lang="ko-KR" sz="2400" dirty="0"/>
          </a:p>
        </p:txBody>
      </p:sp>
      <p:sp>
        <p:nvSpPr>
          <p:cNvPr id="7" name="S13-text16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7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142 × 2 = □</a:t>
            </a:r>
            <a:endParaRPr lang="ko-KR" sz="2800" dirty="0"/>
          </a:p>
        </p:txBody>
      </p:sp>
      <p:sp>
        <p:nvSpPr>
          <p:cNvPr id="9" name="S13-eqtext17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326 × 3 = □</a:t>
            </a:r>
            <a:endParaRPr lang="ko-KR" sz="2800" dirty="0"/>
          </a:p>
        </p:txBody>
      </p:sp>
      <p:sp>
        <p:nvSpPr>
          <p:cNvPr id="10" name="S13-eqtext17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258 × 4 = □</a:t>
            </a:r>
            <a:endParaRPr lang="ko-KR" sz="2800" dirty="0"/>
          </a:p>
        </p:txBody>
      </p:sp>
      <p:sp>
        <p:nvSpPr>
          <p:cNvPr id="11" name="S13-text17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(두 자리 수)×(두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자리 수 곱셈</a:t>
            </a:r>
            <a:endParaRPr lang="ko-KR" sz="4000" dirty="0"/>
          </a:p>
        </p:txBody>
      </p:sp>
      <p:sp>
        <p:nvSpPr>
          <p:cNvPr id="3" name="S14-text1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× 6을 세로셈으로 다시 해요.</a:t>
            </a:r>
            <a:endParaRPr lang="ko-KR" sz="3000" dirty="0"/>
          </a:p>
        </p:txBody>
      </p:sp>
      <p:sp>
        <p:nvSpPr>
          <p:cNvPr id="4" name="S14-card1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수는 곱한 다음에 더해요.</a:t>
            </a:r>
            <a:endParaRPr lang="ko-KR" sz="3000" dirty="0"/>
          </a:p>
        </p:txBody>
      </p:sp>
      <p:graphicFrame>
        <p:nvGraphicFramePr>
          <p:cNvPr id="15" name="S14-table1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4-stepno178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4-text179"/>
          <p:cNvSpPr txBox="1"/>
          <p:nvPr/>
        </p:nvSpPr>
        <p:spPr>
          <a:xfrm>
            <a:off x="1325880" y="23881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7 × 6 = 42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쓰고 4를 올려요.</a:t>
            </a:r>
            <a:endParaRPr lang="ko-KR" sz="3000" dirty="0"/>
          </a:p>
        </p:txBody>
      </p:sp>
      <p:sp>
        <p:nvSpPr>
          <p:cNvPr id="9" name="S14-stepno180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4-text181"/>
          <p:cNvSpPr txBox="1"/>
          <p:nvPr/>
        </p:nvSpPr>
        <p:spPr>
          <a:xfrm>
            <a:off x="1325880" y="34823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 × 6 + 4 = 28</a:t>
            </a:r>
            <a:endParaRPr lang="ko-KR" sz="3000" dirty="0"/>
          </a:p>
        </p:txBody>
      </p:sp>
      <p:sp>
        <p:nvSpPr>
          <p:cNvPr id="11" name="S14-stepno182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4-text183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× 6 = 282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(세 자리 수)×(한 자리 수)</dc:title>
  <dc:subject>KR22-G03-MAT-MUL3X1-L01</dc:subject>
  <dc:creator>education-ppt</dc:creator>
  <cp:lastModifiedBy>education-ppt</cp:lastModifiedBy>
  <cp:revision>1</cp:revision>
  <dcterms:created xsi:type="dcterms:W3CDTF">2026-10-26T07:47:56Z</dcterms:created>
  <dcterms:modified xsi:type="dcterms:W3CDTF">2026-10-26T07:47:56Z</dcterms:modified>
</cp:coreProperties>
</file>