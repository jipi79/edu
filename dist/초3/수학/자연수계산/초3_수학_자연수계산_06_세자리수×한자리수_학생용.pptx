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</p:sldIdLst>
  <p:notesMasterIdLst>
    <p:notesMasterId r:id="rId15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도입" id="{4522cfc2-66ab-df89-bf20-29dba9f6a946}">
          <p14:sldIdLst>
            <p14:sldId id="256"/>
            <p14:sldId id="257"/>
          </p14:sldIdLst>
        </p14:section>
        <p14:section name="개념" id="{cea96a16-7758-de6f-862a-e173a8cb8bb8}">
          <p14:sldIdLst>
            <p14:sldId id="258"/>
            <p14:sldId id="259"/>
            <p14:sldId id="260"/>
            <p14:sldId id="262"/>
          </p14:sldIdLst>
        </p14:section>
        <p14:section name="연습" id="{2bd0a2ce-00cd-2582-e734-6dd0d1e19acb}">
          <p14:sldIdLst>
            <p14:sldId id="261"/>
            <p14:sldId id="263"/>
            <p14:sldId id="264"/>
          </p14:sldIdLst>
        </p14:section>
        <p14:section name="개념" id="{b93c02de-63c5-c91c-6147-50d1d2c5dc81}">
          <p14:sldIdLst/>
        </p14:section>
        <p14:section name="연습" id="{01d0b8c4-657e-961a-17e8-3ef0d0110a74}">
          <p14:sldIdLst/>
        </p14:section>
        <p14:section name="확인" id="{05f87cd0-9100-fdb7-4d90-03a4d90400a0}">
          <p14:sldIdLst>
            <p14:sldId id="265"/>
            <p14:sldId id="266"/>
          </p14:sldIdLst>
        </p14:section>
        <p14:section name="정리" id="{5c806914-9cfd-2ea5-9d6b-b09142cb9909}">
          <p14:sldIdLst>
            <p14:sldId id="267"/>
          </p14:sldIdLst>
        </p14:section>
        <p14:section name="보충" id="{b0651692-4f95-f3cf-9ae7-c09ecfcc09d1}">
          <p14:sldIdLst>
            <p14:sldId id="268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notesMaster" Target="notesMasters/notesMaster1.xml"/><Relationship Id="rId16" Type="http://schemas.openxmlformats.org/officeDocument/2006/relationships/presProps" Target="presProps.xml"/><Relationship Id="rId17" Type="http://schemas.openxmlformats.org/officeDocument/2006/relationships/viewProps" Target="viewProps.xml"/><Relationship Id="rId18" Type="http://schemas.openxmlformats.org/officeDocument/2006/relationships/theme" Target="theme/theme1.xml"/><Relationship Id="rId19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VER">
    <p:bg>
      <p:bgPr>
        <a:solidFill>
          <a:srgbClr val="26465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640080"/>
            <a:ext cx="6675120" cy="118872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algn="l" indent="0" marL="0">
              <a:buNone/>
            </a:pPr>
            <a:endParaRPr lang="en-US" sz="46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731520" y="1920240"/>
            <a:ext cx="6675120" cy="164592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30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indent="0" marL="0">
              <a:buNone/>
            </a:pPr>
            <a:endParaRPr lang="en-US" sz="3000" dirty="0"/>
          </a:p>
        </p:txBody>
      </p:sp>
      <p:sp>
        <p:nvSpPr>
          <p:cNvPr id="4" name="Text 0"/>
          <p:cNvSpPr/>
          <p:nvPr/>
        </p:nvSpPr>
        <p:spPr>
          <a:xfrm>
            <a:off x="548640" y="6382512"/>
            <a:ext cx="8686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초3 수학 · 자연수계산 · 6차시</a:t>
            </a:r>
            <a:endParaRPr lang="en-US" sz="1200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algn="l" indent="0" marL="0">
              <a:buNone/>
            </a:pPr>
            <a:endParaRPr lang="en-US" sz="4000" dirty="0"/>
          </a:p>
        </p:txBody>
      </p:sp>
      <p:sp>
        <p:nvSpPr>
          <p:cNvPr id="3" name="Text 0"/>
          <p:cNvSpPr/>
          <p:nvPr/>
        </p:nvSpPr>
        <p:spPr>
          <a:xfrm>
            <a:off x="548640" y="6382512"/>
            <a:ext cx="8686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초3 수학 · (세 자리 수)×(한 자리 수)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LOSING">
    <p:bg>
      <p:bgPr>
        <a:solidFill>
          <a:srgbClr val="26465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algn="l" indent="0" marL="0">
              <a:buNone/>
            </a:pPr>
            <a:endParaRPr lang="en-US" sz="4000" dirty="0"/>
          </a:p>
        </p:txBody>
      </p:sp>
      <p:sp>
        <p:nvSpPr>
          <p:cNvPr id="3" name="Text 0"/>
          <p:cNvSpPr/>
          <p:nvPr/>
        </p:nvSpPr>
        <p:spPr>
          <a:xfrm>
            <a:off x="548640" y="6382512"/>
            <a:ext cx="8686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초3 수학 · (세 자리 수)×(한 자리 수)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C9DCD8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1004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UPPORT">
    <p:bg>
      <p:bgPr>
        <a:solidFill>
          <a:srgbClr val="F4F7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algn="l" indent="0" marL="0">
              <a:buNone/>
            </a:pPr>
            <a:endParaRPr lang="en-US" sz="4000" dirty="0"/>
          </a:p>
        </p:txBody>
      </p:sp>
      <p:sp>
        <p:nvSpPr>
          <p:cNvPr id="3" name="Text 0"/>
          <p:cNvSpPr/>
          <p:nvPr/>
        </p:nvSpPr>
        <p:spPr>
          <a:xfrm>
            <a:off x="548640" y="6382512"/>
            <a:ext cx="8686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보충 자료 · 초3 수학 · (세 자리 수)×(한 자리 수)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1005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640080"/>
            <a:ext cx="66751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(몇백몇십몇)×(몇)</a:t>
            </a:r>
            <a:endParaRPr lang="ko-KR" sz="46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731520" y="1920240"/>
            <a:ext cx="667512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indent="0" marL="0">
              <a:buNone/>
            </a:pPr>
            <a:r>
              <a:rPr lang="ko-KR" altLang="en-US" sz="30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128 × 3은 어떻게 계산할까?</a:t>
            </a:r>
            <a:endParaRPr lang="ko-KR" sz="3000" dirty="0"/>
          </a:p>
        </p:txBody>
      </p:sp>
      <p:graphicFrame>
        <p:nvGraphicFramePr>
          <p:cNvPr id="2" name="S01-table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7726680" y="965200"/>
          <a:ext cx="3840480" cy="914400"/>
        </p:xfrm>
        <a:graphic>
          <a:graphicData uri="http://schemas.openxmlformats.org/drawingml/2006/table">
            <a:tbl>
              <a:tblPr/>
              <a:tblGrid>
                <a:gridCol w="960120"/>
                <a:gridCol w="960120"/>
                <a:gridCol w="960120"/>
                <a:gridCol w="960120"/>
              </a:tblGrid>
              <a:tr h="568960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endParaRPr lang="en-US" sz="28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8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백</a:t>
                      </a:r>
                      <a:endParaRPr lang="en-US" sz="28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8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십</a:t>
                      </a:r>
                      <a:endParaRPr lang="en-US" sz="28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8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일</a:t>
                      </a:r>
                      <a:endParaRPr lang="en-US" sz="28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</a:tr>
              <a:tr h="568960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endParaRPr lang="en-US" sz="28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8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</a:t>
                      </a:r>
                      <a:endParaRPr lang="en-US" sz="28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8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</a:t>
                      </a:r>
                      <a:endParaRPr lang="en-US" sz="28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8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8</a:t>
                      </a:r>
                      <a:endParaRPr lang="en-US" sz="28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68960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8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×</a:t>
                      </a:r>
                      <a:endParaRPr lang="en-US" sz="28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endParaRPr lang="en-US" sz="28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endParaRPr lang="en-US" sz="28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8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3</a:t>
                      </a:r>
                      <a:endParaRPr lang="en-US" sz="28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68960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endParaRPr lang="en-US" sz="28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8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□</a:t>
                      </a:r>
                      <a:endParaRPr lang="en-US" sz="28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8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□</a:t>
                      </a:r>
                      <a:endParaRPr lang="en-US" sz="28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8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□</a:t>
                      </a:r>
                      <a:endParaRPr lang="en-US" sz="28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S01-card2"/>
          <p:cNvSpPr/>
          <p:nvPr/>
        </p:nvSpPr>
        <p:spPr>
          <a:xfrm>
            <a:off x="731520" y="4436364"/>
            <a:ext cx="10725912" cy="1690116"/>
          </a:xfrm>
          <a:prstGeom prst="roundRect">
            <a:avLst>
              <a:gd name="adj" fmla="val 6492"/>
            </a:avLst>
          </a:prstGeom>
          <a:solidFill>
            <a:srgbClr val="32606F"/>
          </a:solidFill>
          <a:ln w="12700">
            <a:solidFill>
              <a:srgbClr val="32606F"/>
            </a:solidFill>
            <a:prstDash val="solid"/>
          </a:ln>
        </p:spPr>
      </p:sp>
      <p:sp>
        <p:nvSpPr>
          <p:cNvPr id="6" name="S01-cardtext3"/>
          <p:cNvSpPr txBox="1"/>
          <p:nvPr/>
        </p:nvSpPr>
        <p:spPr>
          <a:xfrm>
            <a:off x="1005840" y="4573524"/>
            <a:ext cx="10177272" cy="14157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오늘 할 수 있게 될 것</a:t>
            </a:r>
            <a:endParaRPr lang="ko-KR" sz="30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4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 백·십·일의 자리로 나누어 곱하고 더해요.</a:t>
            </a:r>
            <a:endParaRPr lang="ko-KR" sz="30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4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 올림이 있는 곱셈을 세로셈으로 해요.</a:t>
            </a:r>
            <a:endParaRPr lang="ko-KR" sz="3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지난 시간 기억하기</a:t>
            </a:r>
            <a:endParaRPr lang="ko-KR" sz="4000" dirty="0"/>
          </a:p>
        </p:txBody>
      </p:sp>
      <p:sp>
        <p:nvSpPr>
          <p:cNvPr id="3" name="S02-chip4"/>
          <p:cNvSpPr txBox="1"/>
          <p:nvPr/>
        </p:nvSpPr>
        <p:spPr>
          <a:xfrm>
            <a:off x="548640" y="177393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</a:t>
            </a:r>
            <a:endParaRPr lang="ko-KR" sz="2400" dirty="0"/>
          </a:p>
        </p:txBody>
      </p:sp>
      <p:sp>
        <p:nvSpPr>
          <p:cNvPr id="4" name="S02-eqtext5"/>
          <p:cNvSpPr txBox="1"/>
          <p:nvPr/>
        </p:nvSpPr>
        <p:spPr>
          <a:xfrm>
            <a:off x="1344168" y="1325880"/>
            <a:ext cx="10296144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47 × 6 = □</a:t>
            </a:r>
            <a:endParaRPr lang="ko-KR" sz="3400" dirty="0"/>
          </a:p>
        </p:txBody>
      </p:sp>
      <p:sp>
        <p:nvSpPr>
          <p:cNvPr id="5" name="S02-chip6"/>
          <p:cNvSpPr txBox="1"/>
          <p:nvPr/>
        </p:nvSpPr>
        <p:spPr>
          <a:xfrm>
            <a:off x="548640" y="346557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</a:t>
            </a:r>
            <a:endParaRPr lang="ko-KR" sz="2400" dirty="0"/>
          </a:p>
        </p:txBody>
      </p:sp>
      <p:sp>
        <p:nvSpPr>
          <p:cNvPr id="6" name="S02-eqtext7"/>
          <p:cNvSpPr txBox="1"/>
          <p:nvPr/>
        </p:nvSpPr>
        <p:spPr>
          <a:xfrm>
            <a:off x="1344168" y="3017520"/>
            <a:ext cx="10296144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20 × 4 = □</a:t>
            </a:r>
            <a:endParaRPr lang="ko-KR" sz="3400" dirty="0"/>
          </a:p>
        </p:txBody>
      </p:sp>
      <p:sp>
        <p:nvSpPr>
          <p:cNvPr id="7" name="S02-chip8"/>
          <p:cNvSpPr txBox="1"/>
          <p:nvPr/>
        </p:nvSpPr>
        <p:spPr>
          <a:xfrm>
            <a:off x="548640" y="515721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</a:t>
            </a:r>
            <a:endParaRPr lang="ko-KR" sz="2400" dirty="0"/>
          </a:p>
        </p:txBody>
      </p:sp>
      <p:sp>
        <p:nvSpPr>
          <p:cNvPr id="8" name="S02-eqtext9"/>
          <p:cNvSpPr txBox="1"/>
          <p:nvPr/>
        </p:nvSpPr>
        <p:spPr>
          <a:xfrm>
            <a:off x="1344168" y="4709160"/>
            <a:ext cx="10296144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300 + 60 + 9 = □</a:t>
            </a:r>
            <a:endParaRPr lang="ko-KR" sz="3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자리별로 곱해요</a:t>
            </a:r>
            <a:endParaRPr lang="ko-KR" sz="4000" dirty="0"/>
          </a:p>
        </p:txBody>
      </p:sp>
      <p:sp>
        <p:nvSpPr>
          <p:cNvPr id="3" name="S03-text10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213은 200과 10과 3이에요.</a:t>
            </a:r>
            <a:endParaRPr lang="ko-KR" sz="3000" dirty="0"/>
          </a:p>
        </p:txBody>
      </p:sp>
      <p:sp>
        <p:nvSpPr>
          <p:cNvPr id="4" name="S03-card11"/>
          <p:cNvSpPr/>
          <p:nvPr/>
        </p:nvSpPr>
        <p:spPr>
          <a:xfrm>
            <a:off x="548640" y="4975860"/>
            <a:ext cx="11091672" cy="1242060"/>
          </a:xfrm>
          <a:prstGeom prst="roundRect">
            <a:avLst>
              <a:gd name="adj" fmla="val 8834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5" name="S03-cardtext12"/>
          <p:cNvSpPr txBox="1"/>
          <p:nvPr/>
        </p:nvSpPr>
        <p:spPr>
          <a:xfrm>
            <a:off x="822960" y="5113020"/>
            <a:ext cx="10543032" cy="9677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213 × 3 = 639</a:t>
            </a:r>
            <a:endParaRPr lang="ko-KR" sz="30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600 + 30 + 9 = 639</a:t>
            </a:r>
            <a:endParaRPr lang="ko-KR" sz="3000" dirty="0"/>
          </a:p>
        </p:txBody>
      </p:sp>
      <p:sp>
        <p:nvSpPr>
          <p:cNvPr id="6" name="S03-card13"/>
          <p:cNvSpPr/>
          <p:nvPr/>
        </p:nvSpPr>
        <p:spPr>
          <a:xfrm>
            <a:off x="548640" y="3878580"/>
            <a:ext cx="3544824" cy="868680"/>
          </a:xfrm>
          <a:prstGeom prst="roundRect">
            <a:avLst>
              <a:gd name="adj" fmla="val 12632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7" name="S03-cardtext14"/>
          <p:cNvSpPr txBox="1"/>
          <p:nvPr/>
        </p:nvSpPr>
        <p:spPr>
          <a:xfrm>
            <a:off x="822960" y="4015740"/>
            <a:ext cx="2996184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200 × 3 = 600</a:t>
            </a:r>
            <a:endParaRPr lang="ko-KR" sz="3000" dirty="0"/>
          </a:p>
        </p:txBody>
      </p:sp>
      <p:sp>
        <p:nvSpPr>
          <p:cNvPr id="8" name="S03-card15"/>
          <p:cNvSpPr/>
          <p:nvPr/>
        </p:nvSpPr>
        <p:spPr>
          <a:xfrm>
            <a:off x="4322064" y="3878580"/>
            <a:ext cx="3544824" cy="868680"/>
          </a:xfrm>
          <a:prstGeom prst="roundRect">
            <a:avLst>
              <a:gd name="adj" fmla="val 12632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9" name="S03-cardtext16"/>
          <p:cNvSpPr txBox="1"/>
          <p:nvPr/>
        </p:nvSpPr>
        <p:spPr>
          <a:xfrm>
            <a:off x="4596384" y="4015740"/>
            <a:ext cx="2996184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10 × 3 = 30</a:t>
            </a:r>
            <a:endParaRPr lang="ko-KR" sz="3000" dirty="0"/>
          </a:p>
        </p:txBody>
      </p:sp>
      <p:sp>
        <p:nvSpPr>
          <p:cNvPr id="10" name="S03-card17"/>
          <p:cNvSpPr/>
          <p:nvPr/>
        </p:nvSpPr>
        <p:spPr>
          <a:xfrm>
            <a:off x="8095488" y="3878580"/>
            <a:ext cx="3544824" cy="868680"/>
          </a:xfrm>
          <a:prstGeom prst="roundRect">
            <a:avLst>
              <a:gd name="adj" fmla="val 12632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11" name="S03-cardtext18"/>
          <p:cNvSpPr txBox="1"/>
          <p:nvPr/>
        </p:nvSpPr>
        <p:spPr>
          <a:xfrm>
            <a:off x="8369808" y="4015740"/>
            <a:ext cx="2996184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 × 3 = 9</a:t>
            </a:r>
            <a:endParaRPr lang="ko-KR" sz="3000" dirty="0"/>
          </a:p>
        </p:txBody>
      </p:sp>
      <p:sp>
        <p:nvSpPr>
          <p:cNvPr id="12" name="S03-flat19"/>
          <p:cNvSpPr/>
          <p:nvPr/>
        </p:nvSpPr>
        <p:spPr>
          <a:xfrm>
            <a:off x="4196253" y="2043186"/>
            <a:ext cx="1575288" cy="1575288"/>
          </a:xfrm>
          <a:prstGeom prst="rect">
            <a:avLst/>
          </a:prstGeom>
          <a:solidFill>
            <a:srgbClr val="FBD3B4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3" name="S03-line20"/>
          <p:cNvSpPr/>
          <p:nvPr/>
        </p:nvSpPr>
        <p:spPr>
          <a:xfrm>
            <a:off x="4353782" y="2043186"/>
            <a:ext cx="0" cy="1575288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4" name="S03-line21"/>
          <p:cNvSpPr/>
          <p:nvPr/>
        </p:nvSpPr>
        <p:spPr>
          <a:xfrm>
            <a:off x="4196253" y="2200715"/>
            <a:ext cx="1575288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5" name="S03-line22"/>
          <p:cNvSpPr/>
          <p:nvPr/>
        </p:nvSpPr>
        <p:spPr>
          <a:xfrm>
            <a:off x="4511311" y="2043186"/>
            <a:ext cx="0" cy="1575288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6" name="S03-line23"/>
          <p:cNvSpPr/>
          <p:nvPr/>
        </p:nvSpPr>
        <p:spPr>
          <a:xfrm>
            <a:off x="4196253" y="2358243"/>
            <a:ext cx="1575288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7" name="S03-line24"/>
          <p:cNvSpPr/>
          <p:nvPr/>
        </p:nvSpPr>
        <p:spPr>
          <a:xfrm>
            <a:off x="4668840" y="2043186"/>
            <a:ext cx="0" cy="1575288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8" name="S03-line25"/>
          <p:cNvSpPr/>
          <p:nvPr/>
        </p:nvSpPr>
        <p:spPr>
          <a:xfrm>
            <a:off x="4196253" y="2515772"/>
            <a:ext cx="1575288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9" name="S03-line26"/>
          <p:cNvSpPr/>
          <p:nvPr/>
        </p:nvSpPr>
        <p:spPr>
          <a:xfrm>
            <a:off x="4826369" y="2043186"/>
            <a:ext cx="0" cy="1575288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0" name="S03-line27"/>
          <p:cNvSpPr/>
          <p:nvPr/>
        </p:nvSpPr>
        <p:spPr>
          <a:xfrm>
            <a:off x="4196253" y="2673301"/>
            <a:ext cx="1575288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1" name="S03-line28"/>
          <p:cNvSpPr/>
          <p:nvPr/>
        </p:nvSpPr>
        <p:spPr>
          <a:xfrm>
            <a:off x="4983898" y="2043186"/>
            <a:ext cx="0" cy="1575288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2" name="S03-line29"/>
          <p:cNvSpPr/>
          <p:nvPr/>
        </p:nvSpPr>
        <p:spPr>
          <a:xfrm>
            <a:off x="4196253" y="2830830"/>
            <a:ext cx="1575288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3" name="S03-line30"/>
          <p:cNvSpPr/>
          <p:nvPr/>
        </p:nvSpPr>
        <p:spPr>
          <a:xfrm>
            <a:off x="5141426" y="2043186"/>
            <a:ext cx="0" cy="1575288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4" name="S03-line31"/>
          <p:cNvSpPr/>
          <p:nvPr/>
        </p:nvSpPr>
        <p:spPr>
          <a:xfrm>
            <a:off x="4196253" y="2988359"/>
            <a:ext cx="1575288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5" name="S03-line32"/>
          <p:cNvSpPr/>
          <p:nvPr/>
        </p:nvSpPr>
        <p:spPr>
          <a:xfrm>
            <a:off x="5298955" y="2043186"/>
            <a:ext cx="0" cy="1575288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6" name="S03-line33"/>
          <p:cNvSpPr/>
          <p:nvPr/>
        </p:nvSpPr>
        <p:spPr>
          <a:xfrm>
            <a:off x="4196253" y="3145888"/>
            <a:ext cx="1575288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7" name="S03-line34"/>
          <p:cNvSpPr/>
          <p:nvPr/>
        </p:nvSpPr>
        <p:spPr>
          <a:xfrm>
            <a:off x="5456484" y="2043186"/>
            <a:ext cx="0" cy="1575288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8" name="S03-line35"/>
          <p:cNvSpPr/>
          <p:nvPr/>
        </p:nvSpPr>
        <p:spPr>
          <a:xfrm>
            <a:off x="4196253" y="3303417"/>
            <a:ext cx="1575288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9" name="S03-line36"/>
          <p:cNvSpPr/>
          <p:nvPr/>
        </p:nvSpPr>
        <p:spPr>
          <a:xfrm>
            <a:off x="5614013" y="2043186"/>
            <a:ext cx="0" cy="1575288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30" name="S03-line37"/>
          <p:cNvSpPr/>
          <p:nvPr/>
        </p:nvSpPr>
        <p:spPr>
          <a:xfrm>
            <a:off x="4196253" y="3460945"/>
            <a:ext cx="1575288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31" name="S03-flat38"/>
          <p:cNvSpPr/>
          <p:nvPr/>
        </p:nvSpPr>
        <p:spPr>
          <a:xfrm>
            <a:off x="5866059" y="2043186"/>
            <a:ext cx="1575288" cy="1575288"/>
          </a:xfrm>
          <a:prstGeom prst="rect">
            <a:avLst/>
          </a:prstGeom>
          <a:solidFill>
            <a:srgbClr val="FBD3B4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32" name="S03-line39"/>
          <p:cNvSpPr/>
          <p:nvPr/>
        </p:nvSpPr>
        <p:spPr>
          <a:xfrm>
            <a:off x="6023588" y="2043186"/>
            <a:ext cx="0" cy="1575288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33" name="S03-line40"/>
          <p:cNvSpPr/>
          <p:nvPr/>
        </p:nvSpPr>
        <p:spPr>
          <a:xfrm>
            <a:off x="5866059" y="2200715"/>
            <a:ext cx="1575288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34" name="S03-line41"/>
          <p:cNvSpPr/>
          <p:nvPr/>
        </p:nvSpPr>
        <p:spPr>
          <a:xfrm>
            <a:off x="6181117" y="2043186"/>
            <a:ext cx="0" cy="1575288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35" name="S03-line42"/>
          <p:cNvSpPr/>
          <p:nvPr/>
        </p:nvSpPr>
        <p:spPr>
          <a:xfrm>
            <a:off x="5866059" y="2358243"/>
            <a:ext cx="1575288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36" name="S03-line43"/>
          <p:cNvSpPr/>
          <p:nvPr/>
        </p:nvSpPr>
        <p:spPr>
          <a:xfrm>
            <a:off x="6338646" y="2043186"/>
            <a:ext cx="0" cy="1575288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37" name="S03-line44"/>
          <p:cNvSpPr/>
          <p:nvPr/>
        </p:nvSpPr>
        <p:spPr>
          <a:xfrm>
            <a:off x="5866059" y="2515772"/>
            <a:ext cx="1575288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38" name="S03-line45"/>
          <p:cNvSpPr/>
          <p:nvPr/>
        </p:nvSpPr>
        <p:spPr>
          <a:xfrm>
            <a:off x="6496175" y="2043186"/>
            <a:ext cx="0" cy="1575288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39" name="S03-line46"/>
          <p:cNvSpPr/>
          <p:nvPr/>
        </p:nvSpPr>
        <p:spPr>
          <a:xfrm>
            <a:off x="5866059" y="2673301"/>
            <a:ext cx="1575288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40" name="S03-line47"/>
          <p:cNvSpPr/>
          <p:nvPr/>
        </p:nvSpPr>
        <p:spPr>
          <a:xfrm>
            <a:off x="6653703" y="2043186"/>
            <a:ext cx="0" cy="1575288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41" name="S03-line48"/>
          <p:cNvSpPr/>
          <p:nvPr/>
        </p:nvSpPr>
        <p:spPr>
          <a:xfrm>
            <a:off x="5866059" y="2830830"/>
            <a:ext cx="1575288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42" name="S03-line49"/>
          <p:cNvSpPr/>
          <p:nvPr/>
        </p:nvSpPr>
        <p:spPr>
          <a:xfrm>
            <a:off x="6811232" y="2043186"/>
            <a:ext cx="0" cy="1575288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43" name="S03-line50"/>
          <p:cNvSpPr/>
          <p:nvPr/>
        </p:nvSpPr>
        <p:spPr>
          <a:xfrm>
            <a:off x="5866059" y="2988359"/>
            <a:ext cx="1575288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44" name="S03-line51"/>
          <p:cNvSpPr/>
          <p:nvPr/>
        </p:nvSpPr>
        <p:spPr>
          <a:xfrm>
            <a:off x="6968761" y="2043186"/>
            <a:ext cx="0" cy="1575288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45" name="S03-line52"/>
          <p:cNvSpPr/>
          <p:nvPr/>
        </p:nvSpPr>
        <p:spPr>
          <a:xfrm>
            <a:off x="5866059" y="3145888"/>
            <a:ext cx="1575288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46" name="S03-line53"/>
          <p:cNvSpPr/>
          <p:nvPr/>
        </p:nvSpPr>
        <p:spPr>
          <a:xfrm>
            <a:off x="7126290" y="2043186"/>
            <a:ext cx="0" cy="1575288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47" name="S03-line54"/>
          <p:cNvSpPr/>
          <p:nvPr/>
        </p:nvSpPr>
        <p:spPr>
          <a:xfrm>
            <a:off x="5866059" y="3303417"/>
            <a:ext cx="1575288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48" name="S03-line55"/>
          <p:cNvSpPr/>
          <p:nvPr/>
        </p:nvSpPr>
        <p:spPr>
          <a:xfrm>
            <a:off x="7283819" y="2043186"/>
            <a:ext cx="0" cy="1575288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49" name="S03-line56"/>
          <p:cNvSpPr/>
          <p:nvPr/>
        </p:nvSpPr>
        <p:spPr>
          <a:xfrm>
            <a:off x="5866059" y="3460945"/>
            <a:ext cx="1575288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50" name="S03-rod57"/>
          <p:cNvSpPr/>
          <p:nvPr/>
        </p:nvSpPr>
        <p:spPr>
          <a:xfrm>
            <a:off x="7535865" y="2043186"/>
            <a:ext cx="157529" cy="1575288"/>
          </a:xfrm>
          <a:prstGeom prst="rect">
            <a:avLst/>
          </a:prstGeom>
          <a:solidFill>
            <a:srgbClr val="FBD3B4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51" name="S03-line58"/>
          <p:cNvSpPr/>
          <p:nvPr/>
        </p:nvSpPr>
        <p:spPr>
          <a:xfrm>
            <a:off x="7535865" y="2200715"/>
            <a:ext cx="157529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52" name="S03-line59"/>
          <p:cNvSpPr/>
          <p:nvPr/>
        </p:nvSpPr>
        <p:spPr>
          <a:xfrm>
            <a:off x="7535865" y="2358243"/>
            <a:ext cx="157529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53" name="S03-line60"/>
          <p:cNvSpPr/>
          <p:nvPr/>
        </p:nvSpPr>
        <p:spPr>
          <a:xfrm>
            <a:off x="7535865" y="2515772"/>
            <a:ext cx="157529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54" name="S03-line61"/>
          <p:cNvSpPr/>
          <p:nvPr/>
        </p:nvSpPr>
        <p:spPr>
          <a:xfrm>
            <a:off x="7535865" y="2673301"/>
            <a:ext cx="157529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55" name="S03-line62"/>
          <p:cNvSpPr/>
          <p:nvPr/>
        </p:nvSpPr>
        <p:spPr>
          <a:xfrm>
            <a:off x="7535865" y="2830830"/>
            <a:ext cx="157529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56" name="S03-line63"/>
          <p:cNvSpPr/>
          <p:nvPr/>
        </p:nvSpPr>
        <p:spPr>
          <a:xfrm>
            <a:off x="7535865" y="2988359"/>
            <a:ext cx="157529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57" name="S03-line64"/>
          <p:cNvSpPr/>
          <p:nvPr/>
        </p:nvSpPr>
        <p:spPr>
          <a:xfrm>
            <a:off x="7535865" y="3145888"/>
            <a:ext cx="157529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58" name="S03-line65"/>
          <p:cNvSpPr/>
          <p:nvPr/>
        </p:nvSpPr>
        <p:spPr>
          <a:xfrm>
            <a:off x="7535865" y="3303417"/>
            <a:ext cx="157529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59" name="S03-line66"/>
          <p:cNvSpPr/>
          <p:nvPr/>
        </p:nvSpPr>
        <p:spPr>
          <a:xfrm>
            <a:off x="7535865" y="3460945"/>
            <a:ext cx="157529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60" name="S03-unit67"/>
          <p:cNvSpPr/>
          <p:nvPr/>
        </p:nvSpPr>
        <p:spPr>
          <a:xfrm>
            <a:off x="7787911" y="3421563"/>
            <a:ext cx="157529" cy="157529"/>
          </a:xfrm>
          <a:prstGeom prst="rect">
            <a:avLst/>
          </a:prstGeom>
          <a:solidFill>
            <a:srgbClr val="FBD3B4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61" name="S03-unit68"/>
          <p:cNvSpPr/>
          <p:nvPr/>
        </p:nvSpPr>
        <p:spPr>
          <a:xfrm>
            <a:off x="7787911" y="3224652"/>
            <a:ext cx="157529" cy="157529"/>
          </a:xfrm>
          <a:prstGeom prst="rect">
            <a:avLst/>
          </a:prstGeom>
          <a:solidFill>
            <a:srgbClr val="FBD3B4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62" name="S03-unit69"/>
          <p:cNvSpPr/>
          <p:nvPr/>
        </p:nvSpPr>
        <p:spPr>
          <a:xfrm>
            <a:off x="7787911" y="3027741"/>
            <a:ext cx="157529" cy="157529"/>
          </a:xfrm>
          <a:prstGeom prst="rect">
            <a:avLst/>
          </a:prstGeom>
          <a:solidFill>
            <a:srgbClr val="FBD3B4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63" name="S03-figure70" descr="수 모형: 백 2개, 십 1개, 일 3개(213)"/>
          <p:cNvSpPr/>
          <p:nvPr/>
        </p:nvSpPr>
        <p:spPr>
          <a:xfrm>
            <a:off x="548640" y="2043186"/>
            <a:ext cx="9144" cy="9144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자리별 곱을 더해요</a:t>
            </a:r>
            <a:endParaRPr lang="ko-KR" sz="4000" dirty="0"/>
          </a:p>
        </p:txBody>
      </p:sp>
      <p:sp>
        <p:nvSpPr>
          <p:cNvPr id="3" name="S04-text71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128 × 3을 자리별로 곱해서 더해요.</a:t>
            </a:r>
            <a:endParaRPr lang="ko-KR" sz="3000" dirty="0"/>
          </a:p>
        </p:txBody>
      </p:sp>
      <p:graphicFrame>
        <p:nvGraphicFramePr>
          <p:cNvPr id="5" name="S04-table72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7590709" y="2265680"/>
          <a:ext cx="4023360" cy="914400"/>
        </p:xfrm>
        <a:graphic>
          <a:graphicData uri="http://schemas.openxmlformats.org/drawingml/2006/table">
            <a:tbl>
              <a:tblPr/>
              <a:tblGrid>
                <a:gridCol w="1005840"/>
                <a:gridCol w="1005840"/>
                <a:gridCol w="1005840"/>
                <a:gridCol w="1005840"/>
              </a:tblGrid>
              <a:tr h="528320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백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십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일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</a:tr>
              <a:tr h="528320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8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28320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×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3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28320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4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28320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6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0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28320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3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0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0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28320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3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8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4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S04-stepno73"/>
          <p:cNvSpPr txBox="1"/>
          <p:nvPr/>
        </p:nvSpPr>
        <p:spPr>
          <a:xfrm>
            <a:off x="548640" y="2770632"/>
            <a:ext cx="548640" cy="548640"/>
          </a:xfrm>
          <a:prstGeom prst="ellipse">
            <a:avLst/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ko-KR" sz="2400" dirty="0"/>
          </a:p>
        </p:txBody>
      </p:sp>
      <p:sp>
        <p:nvSpPr>
          <p:cNvPr id="6" name="S04-text74"/>
          <p:cNvSpPr txBox="1"/>
          <p:nvPr/>
        </p:nvSpPr>
        <p:spPr>
          <a:xfrm>
            <a:off x="1325880" y="2770632"/>
            <a:ext cx="587282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일: 8 × 3 = 24</a:t>
            </a:r>
            <a:endParaRPr lang="ko-KR" sz="3000" dirty="0"/>
          </a:p>
        </p:txBody>
      </p:sp>
      <p:sp>
        <p:nvSpPr>
          <p:cNvPr id="7" name="S04-stepno75"/>
          <p:cNvSpPr txBox="1"/>
          <p:nvPr/>
        </p:nvSpPr>
        <p:spPr>
          <a:xfrm>
            <a:off x="548640" y="3483864"/>
            <a:ext cx="548640" cy="548640"/>
          </a:xfrm>
          <a:prstGeom prst="ellipse">
            <a:avLst/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ko-KR" sz="2400" dirty="0"/>
          </a:p>
        </p:txBody>
      </p:sp>
      <p:sp>
        <p:nvSpPr>
          <p:cNvPr id="8" name="S04-text76"/>
          <p:cNvSpPr txBox="1"/>
          <p:nvPr/>
        </p:nvSpPr>
        <p:spPr>
          <a:xfrm>
            <a:off x="1325880" y="3483864"/>
            <a:ext cx="587282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십: 20 × 3 = 60</a:t>
            </a:r>
            <a:endParaRPr lang="ko-KR" sz="3000" dirty="0"/>
          </a:p>
        </p:txBody>
      </p:sp>
      <p:sp>
        <p:nvSpPr>
          <p:cNvPr id="9" name="S04-stepno77"/>
          <p:cNvSpPr txBox="1"/>
          <p:nvPr/>
        </p:nvSpPr>
        <p:spPr>
          <a:xfrm>
            <a:off x="548640" y="4197096"/>
            <a:ext cx="548640" cy="548640"/>
          </a:xfrm>
          <a:prstGeom prst="ellipse">
            <a:avLst/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ko-KR" sz="2400" dirty="0"/>
          </a:p>
        </p:txBody>
      </p:sp>
      <p:sp>
        <p:nvSpPr>
          <p:cNvPr id="10" name="S04-text78"/>
          <p:cNvSpPr txBox="1"/>
          <p:nvPr/>
        </p:nvSpPr>
        <p:spPr>
          <a:xfrm>
            <a:off x="1325880" y="4197096"/>
            <a:ext cx="587282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백: 100 × 3 = 300</a:t>
            </a:r>
            <a:endParaRPr lang="ko-KR" sz="3000" dirty="0"/>
          </a:p>
        </p:txBody>
      </p:sp>
      <p:sp>
        <p:nvSpPr>
          <p:cNvPr id="11" name="S04-stepno79"/>
          <p:cNvSpPr txBox="1"/>
          <p:nvPr/>
        </p:nvSpPr>
        <p:spPr>
          <a:xfrm>
            <a:off x="548640" y="4910328"/>
            <a:ext cx="548640" cy="548640"/>
          </a:xfrm>
          <a:prstGeom prst="ellipse">
            <a:avLst/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</a:t>
            </a:r>
            <a:endParaRPr lang="ko-KR" sz="2400" dirty="0"/>
          </a:p>
        </p:txBody>
      </p:sp>
      <p:sp>
        <p:nvSpPr>
          <p:cNvPr id="12" name="S04-text80"/>
          <p:cNvSpPr txBox="1"/>
          <p:nvPr/>
        </p:nvSpPr>
        <p:spPr>
          <a:xfrm>
            <a:off x="1325880" y="4910328"/>
            <a:ext cx="587282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24 + 60 + 300 = 384</a:t>
            </a:r>
            <a:endParaRPr lang="ko-KR" sz="3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짧게 쓰는 세로셈</a:t>
            </a:r>
            <a:endParaRPr lang="ko-KR" sz="4000" dirty="0"/>
          </a:p>
        </p:txBody>
      </p:sp>
      <p:sp>
        <p:nvSpPr>
          <p:cNvPr id="3" name="S05-text81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128 × 3을 짧게 써요.</a:t>
            </a:r>
            <a:endParaRPr lang="ko-KR" sz="3000" dirty="0"/>
          </a:p>
        </p:txBody>
      </p:sp>
      <p:sp>
        <p:nvSpPr>
          <p:cNvPr id="4" name="S05-card82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5" name="S05-cardtext83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올린 2는 십 모형 2개예요.</a:t>
            </a:r>
            <a:endParaRPr lang="ko-KR" sz="3000" dirty="0"/>
          </a:p>
        </p:txBody>
      </p:sp>
      <p:graphicFrame>
        <p:nvGraphicFramePr>
          <p:cNvPr id="6" name="S05-table84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7483450" y="2042160"/>
          <a:ext cx="4023360" cy="914400"/>
        </p:xfrm>
        <a:graphic>
          <a:graphicData uri="http://schemas.openxmlformats.org/drawingml/2006/table">
            <a:tbl>
              <a:tblPr/>
              <a:tblGrid>
                <a:gridCol w="1005840"/>
                <a:gridCol w="1005840"/>
                <a:gridCol w="1005840"/>
                <a:gridCol w="1005840"/>
              </a:tblGrid>
              <a:tr h="609600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endParaRPr lang="en-US" sz="3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30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백</a:t>
                      </a:r>
                      <a:endParaRPr lang="en-US" sz="3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30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십</a:t>
                      </a:r>
                      <a:endParaRPr lang="en-US" sz="3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30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일</a:t>
                      </a:r>
                      <a:endParaRPr lang="en-US" sz="3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</a:tr>
              <a:tr h="609600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endParaRPr lang="en-US" sz="3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endParaRPr lang="en-US" sz="3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30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</a:t>
                      </a:r>
                      <a:endParaRPr lang="en-US" sz="3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endParaRPr lang="en-US" sz="3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609600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endParaRPr lang="en-US" sz="3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30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</a:t>
                      </a:r>
                      <a:endParaRPr lang="en-US" sz="3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30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</a:t>
                      </a:r>
                      <a:endParaRPr lang="en-US" sz="3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30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8</a:t>
                      </a:r>
                      <a:endParaRPr lang="en-US" sz="3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609600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30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×</a:t>
                      </a:r>
                      <a:endParaRPr lang="en-US" sz="3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endParaRPr lang="en-US" sz="3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endParaRPr lang="en-US" sz="3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30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3</a:t>
                      </a:r>
                      <a:endParaRPr lang="en-US" sz="3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609600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endParaRPr lang="en-US" sz="3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30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3</a:t>
                      </a:r>
                      <a:endParaRPr lang="en-US" sz="3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30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8</a:t>
                      </a:r>
                      <a:endParaRPr lang="en-US" sz="3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30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4</a:t>
                      </a:r>
                      <a:endParaRPr lang="en-US" sz="3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S05-stepno85"/>
          <p:cNvSpPr txBox="1"/>
          <p:nvPr/>
        </p:nvSpPr>
        <p:spPr>
          <a:xfrm>
            <a:off x="548640" y="2433828"/>
            <a:ext cx="548640" cy="548640"/>
          </a:xfrm>
          <a:prstGeom prst="ellipse">
            <a:avLst/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ko-KR" sz="2400" dirty="0"/>
          </a:p>
        </p:txBody>
      </p:sp>
      <p:sp>
        <p:nvSpPr>
          <p:cNvPr id="8" name="S05-text86"/>
          <p:cNvSpPr txBox="1"/>
          <p:nvPr/>
        </p:nvSpPr>
        <p:spPr>
          <a:xfrm>
            <a:off x="1325880" y="2388108"/>
            <a:ext cx="5658307" cy="929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일: 8 × 3 = 24</a:t>
            </a:r>
            <a:endParaRPr lang="ko-KR" sz="3000" dirty="0"/>
          </a:p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4를 쓰고 2를 올려요.</a:t>
            </a:r>
            <a:endParaRPr lang="ko-KR" sz="3000" dirty="0"/>
          </a:p>
        </p:txBody>
      </p:sp>
      <p:sp>
        <p:nvSpPr>
          <p:cNvPr id="9" name="S05-stepno87"/>
          <p:cNvSpPr txBox="1"/>
          <p:nvPr/>
        </p:nvSpPr>
        <p:spPr>
          <a:xfrm>
            <a:off x="548640" y="3482340"/>
            <a:ext cx="548640" cy="548640"/>
          </a:xfrm>
          <a:prstGeom prst="ellipse">
            <a:avLst/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ko-KR" sz="2400" dirty="0"/>
          </a:p>
        </p:txBody>
      </p:sp>
      <p:sp>
        <p:nvSpPr>
          <p:cNvPr id="10" name="S05-text88"/>
          <p:cNvSpPr txBox="1"/>
          <p:nvPr/>
        </p:nvSpPr>
        <p:spPr>
          <a:xfrm>
            <a:off x="1325880" y="3482340"/>
            <a:ext cx="5658307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십: 2 × 3 = 6, 6 + 2 = 8</a:t>
            </a:r>
            <a:endParaRPr lang="ko-KR" sz="3000" dirty="0"/>
          </a:p>
        </p:txBody>
      </p:sp>
      <p:sp>
        <p:nvSpPr>
          <p:cNvPr id="11" name="S05-stepno89"/>
          <p:cNvSpPr txBox="1"/>
          <p:nvPr/>
        </p:nvSpPr>
        <p:spPr>
          <a:xfrm>
            <a:off x="548640" y="4195572"/>
            <a:ext cx="548640" cy="548640"/>
          </a:xfrm>
          <a:prstGeom prst="ellipse">
            <a:avLst/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ko-KR" sz="2400" dirty="0"/>
          </a:p>
        </p:txBody>
      </p:sp>
      <p:sp>
        <p:nvSpPr>
          <p:cNvPr id="12" name="S05-text90"/>
          <p:cNvSpPr txBox="1"/>
          <p:nvPr/>
        </p:nvSpPr>
        <p:spPr>
          <a:xfrm>
            <a:off x="1325880" y="4195572"/>
            <a:ext cx="5658307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백: 1 × 3 = 3, 곱은 384</a:t>
            </a:r>
            <a:endParaRPr lang="ko-KR" sz="3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세로셈 해 보기</a:t>
            </a:r>
            <a:endParaRPr lang="ko-KR" sz="4000" dirty="0"/>
          </a:p>
        </p:txBody>
      </p:sp>
      <p:sp>
        <p:nvSpPr>
          <p:cNvPr id="3" name="S06-card91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E6ECF4"/>
          </a:solidFill>
          <a:ln w="12700">
            <a:solidFill>
              <a:srgbClr val="E6ECF4"/>
            </a:solidFill>
            <a:prstDash val="solid"/>
          </a:ln>
        </p:spPr>
      </p:sp>
      <p:sp>
        <p:nvSpPr>
          <p:cNvPr id="4" name="S06-cardtext92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올린 수는 바로 윗자리에서 곱한 다음 더해요.</a:t>
            </a:r>
            <a:endParaRPr lang="ko-KR" sz="3000" dirty="0"/>
          </a:p>
        </p:txBody>
      </p:sp>
      <p:sp>
        <p:nvSpPr>
          <p:cNvPr id="5" name="S06-card93"/>
          <p:cNvSpPr/>
          <p:nvPr/>
        </p:nvSpPr>
        <p:spPr>
          <a:xfrm>
            <a:off x="6277356" y="1325880"/>
            <a:ext cx="5362956" cy="3794760"/>
          </a:xfrm>
          <a:prstGeom prst="roundRect">
            <a:avLst>
              <a:gd name="adj" fmla="val 2892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6" name="S06-cardtext94"/>
          <p:cNvSpPr txBox="1"/>
          <p:nvPr/>
        </p:nvSpPr>
        <p:spPr>
          <a:xfrm>
            <a:off x="6551676" y="1463040"/>
            <a:ext cx="4814316" cy="3520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③을 세로셈으로 해요</a:t>
            </a:r>
            <a:endParaRPr lang="ko-KR" sz="3000" dirty="0"/>
          </a:p>
        </p:txBody>
      </p:sp>
      <p:graphicFrame>
        <p:nvGraphicFramePr>
          <p:cNvPr id="7" name="S06-table95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947154" y="2153920"/>
          <a:ext cx="4023360" cy="914400"/>
        </p:xfrm>
        <a:graphic>
          <a:graphicData uri="http://schemas.openxmlformats.org/drawingml/2006/table">
            <a:tbl>
              <a:tblPr/>
              <a:tblGrid>
                <a:gridCol w="1005840"/>
                <a:gridCol w="1005840"/>
                <a:gridCol w="1005840"/>
                <a:gridCol w="1005840"/>
              </a:tblGrid>
              <a:tr h="528320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백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십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일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</a:tr>
              <a:tr h="528320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□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□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28320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4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7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28320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×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3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28320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□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□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□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8" name="S06-chip96"/>
          <p:cNvSpPr txBox="1"/>
          <p:nvPr/>
        </p:nvSpPr>
        <p:spPr>
          <a:xfrm>
            <a:off x="548640" y="161391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</a:t>
            </a:r>
            <a:endParaRPr lang="ko-KR" sz="2400" dirty="0"/>
          </a:p>
        </p:txBody>
      </p:sp>
      <p:sp>
        <p:nvSpPr>
          <p:cNvPr id="9" name="S06-eqtext97"/>
          <p:cNvSpPr txBox="1"/>
          <p:nvPr/>
        </p:nvSpPr>
        <p:spPr>
          <a:xfrm>
            <a:off x="1344168" y="1325880"/>
            <a:ext cx="4567428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216 × 4 = □</a:t>
            </a:r>
            <a:endParaRPr lang="ko-KR" sz="3400" dirty="0"/>
          </a:p>
        </p:txBody>
      </p:sp>
      <p:sp>
        <p:nvSpPr>
          <p:cNvPr id="10" name="S06-chip98"/>
          <p:cNvSpPr txBox="1"/>
          <p:nvPr/>
        </p:nvSpPr>
        <p:spPr>
          <a:xfrm>
            <a:off x="548640" y="293979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</a:t>
            </a:r>
            <a:endParaRPr lang="ko-KR" sz="2400" dirty="0"/>
          </a:p>
        </p:txBody>
      </p:sp>
      <p:sp>
        <p:nvSpPr>
          <p:cNvPr id="11" name="S06-eqtext99"/>
          <p:cNvSpPr txBox="1"/>
          <p:nvPr/>
        </p:nvSpPr>
        <p:spPr>
          <a:xfrm>
            <a:off x="1344168" y="2651760"/>
            <a:ext cx="4567428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153 × 3 = □</a:t>
            </a:r>
            <a:endParaRPr lang="ko-KR" sz="3400" dirty="0"/>
          </a:p>
        </p:txBody>
      </p:sp>
      <p:sp>
        <p:nvSpPr>
          <p:cNvPr id="12" name="S06-chip100"/>
          <p:cNvSpPr txBox="1"/>
          <p:nvPr/>
        </p:nvSpPr>
        <p:spPr>
          <a:xfrm>
            <a:off x="548640" y="426567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</a:t>
            </a:r>
            <a:endParaRPr lang="ko-KR" sz="2400" dirty="0"/>
          </a:p>
        </p:txBody>
      </p:sp>
      <p:sp>
        <p:nvSpPr>
          <p:cNvPr id="13" name="S06-eqtext101"/>
          <p:cNvSpPr txBox="1"/>
          <p:nvPr/>
        </p:nvSpPr>
        <p:spPr>
          <a:xfrm>
            <a:off x="1344168" y="3977640"/>
            <a:ext cx="4567428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247 × 3 = □</a:t>
            </a:r>
            <a:endParaRPr lang="ko-KR" sz="3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곱이 네 자리 수</a:t>
            </a:r>
            <a:endParaRPr lang="ko-KR" sz="4000" dirty="0"/>
          </a:p>
        </p:txBody>
      </p:sp>
      <p:sp>
        <p:nvSpPr>
          <p:cNvPr id="3" name="S07-text102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365 × 4를 세로셈으로 해요.</a:t>
            </a:r>
            <a:endParaRPr lang="ko-KR" sz="3000" dirty="0"/>
          </a:p>
        </p:txBody>
      </p:sp>
      <p:sp>
        <p:nvSpPr>
          <p:cNvPr id="4" name="S07-card103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5" name="S07-cardtext104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백의 자리 곱이 10을 넘으면 천의 자리에 써요.</a:t>
            </a:r>
            <a:endParaRPr lang="ko-KR" sz="3000" dirty="0"/>
          </a:p>
        </p:txBody>
      </p:sp>
      <p:graphicFrame>
        <p:nvGraphicFramePr>
          <p:cNvPr id="8" name="S07-table105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920911" y="2042160"/>
          <a:ext cx="4719401" cy="914400"/>
        </p:xfrm>
        <a:graphic>
          <a:graphicData uri="http://schemas.openxmlformats.org/drawingml/2006/table">
            <a:tbl>
              <a:tblPr/>
              <a:tblGrid>
                <a:gridCol w="943880"/>
                <a:gridCol w="943880"/>
                <a:gridCol w="943880"/>
                <a:gridCol w="943880"/>
                <a:gridCol w="943880"/>
              </a:tblGrid>
              <a:tr h="609600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endParaRPr lang="en-US" sz="3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30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천</a:t>
                      </a:r>
                      <a:endParaRPr lang="en-US" sz="3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30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백</a:t>
                      </a:r>
                      <a:endParaRPr lang="en-US" sz="3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30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십</a:t>
                      </a:r>
                      <a:endParaRPr lang="en-US" sz="3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30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일</a:t>
                      </a:r>
                      <a:endParaRPr lang="en-US" sz="3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</a:tr>
              <a:tr h="609600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endParaRPr lang="en-US" sz="3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endParaRPr lang="en-US" sz="3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30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</a:t>
                      </a:r>
                      <a:endParaRPr lang="en-US" sz="3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30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</a:t>
                      </a:r>
                      <a:endParaRPr lang="en-US" sz="3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endParaRPr lang="en-US" sz="3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609600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endParaRPr lang="en-US" sz="3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endParaRPr lang="en-US" sz="3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30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3</a:t>
                      </a:r>
                      <a:endParaRPr lang="en-US" sz="3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30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6</a:t>
                      </a:r>
                      <a:endParaRPr lang="en-US" sz="3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30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5</a:t>
                      </a:r>
                      <a:endParaRPr lang="en-US" sz="3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609600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30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×</a:t>
                      </a:r>
                      <a:endParaRPr lang="en-US" sz="3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endParaRPr lang="en-US" sz="3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endParaRPr lang="en-US" sz="3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endParaRPr lang="en-US" sz="3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30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4</a:t>
                      </a:r>
                      <a:endParaRPr lang="en-US" sz="3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609600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endParaRPr lang="en-US" sz="3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30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</a:t>
                      </a:r>
                      <a:endParaRPr lang="en-US" sz="3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30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4</a:t>
                      </a:r>
                      <a:endParaRPr lang="en-US" sz="3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30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6</a:t>
                      </a:r>
                      <a:endParaRPr lang="en-US" sz="3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30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0</a:t>
                      </a:r>
                      <a:endParaRPr lang="en-US" sz="3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S07-stepno106"/>
          <p:cNvSpPr txBox="1"/>
          <p:nvPr/>
        </p:nvSpPr>
        <p:spPr>
          <a:xfrm>
            <a:off x="548640" y="2072640"/>
            <a:ext cx="548640" cy="548640"/>
          </a:xfrm>
          <a:prstGeom prst="ellipse">
            <a:avLst/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ko-KR" sz="2400" dirty="0"/>
          </a:p>
        </p:txBody>
      </p:sp>
      <p:sp>
        <p:nvSpPr>
          <p:cNvPr id="8" name="S07-text107"/>
          <p:cNvSpPr txBox="1"/>
          <p:nvPr/>
        </p:nvSpPr>
        <p:spPr>
          <a:xfrm>
            <a:off x="1325880" y="2026920"/>
            <a:ext cx="5229271" cy="7437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일: 5 × 4 = 20</a:t>
            </a:r>
            <a:endParaRPr lang="ko-KR" sz="2400" dirty="0"/>
          </a:p>
          <a:p>
            <a:pPr eaLnBrk="0" algn="l" indent="0" marL="0"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0을 쓰고 2를 올려요.</a:t>
            </a:r>
            <a:endParaRPr lang="ko-KR" sz="2400" dirty="0"/>
          </a:p>
        </p:txBody>
      </p:sp>
      <p:sp>
        <p:nvSpPr>
          <p:cNvPr id="9" name="S07-stepno108"/>
          <p:cNvSpPr txBox="1"/>
          <p:nvPr/>
        </p:nvSpPr>
        <p:spPr>
          <a:xfrm>
            <a:off x="548640" y="2980944"/>
            <a:ext cx="548640" cy="548640"/>
          </a:xfrm>
          <a:prstGeom prst="ellipse">
            <a:avLst/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ko-KR" sz="2400" dirty="0"/>
          </a:p>
        </p:txBody>
      </p:sp>
      <p:sp>
        <p:nvSpPr>
          <p:cNvPr id="10" name="S07-text109"/>
          <p:cNvSpPr txBox="1"/>
          <p:nvPr/>
        </p:nvSpPr>
        <p:spPr>
          <a:xfrm>
            <a:off x="1325880" y="2935224"/>
            <a:ext cx="5229271" cy="7437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십: 6 × 4 + 2 = 26</a:t>
            </a:r>
            <a:endParaRPr lang="ko-KR" sz="2400" dirty="0"/>
          </a:p>
          <a:p>
            <a:pPr eaLnBrk="0" algn="l" indent="0" marL="0"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6을 쓰고 2를 올려요.</a:t>
            </a:r>
            <a:endParaRPr lang="ko-KR" sz="2400" dirty="0"/>
          </a:p>
        </p:txBody>
      </p:sp>
      <p:sp>
        <p:nvSpPr>
          <p:cNvPr id="11" name="S07-stepno110"/>
          <p:cNvSpPr txBox="1"/>
          <p:nvPr/>
        </p:nvSpPr>
        <p:spPr>
          <a:xfrm>
            <a:off x="548640" y="3843528"/>
            <a:ext cx="548640" cy="548640"/>
          </a:xfrm>
          <a:prstGeom prst="ellipse">
            <a:avLst/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ko-KR" sz="2400" dirty="0"/>
          </a:p>
        </p:txBody>
      </p:sp>
      <p:sp>
        <p:nvSpPr>
          <p:cNvPr id="12" name="S07-text111"/>
          <p:cNvSpPr txBox="1"/>
          <p:nvPr/>
        </p:nvSpPr>
        <p:spPr>
          <a:xfrm>
            <a:off x="1325880" y="3843528"/>
            <a:ext cx="5229271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백: 3 × 4 + 2 = 14</a:t>
            </a:r>
            <a:endParaRPr lang="ko-KR" sz="2400" dirty="0"/>
          </a:p>
        </p:txBody>
      </p:sp>
      <p:sp>
        <p:nvSpPr>
          <p:cNvPr id="13" name="S07-stepno112"/>
          <p:cNvSpPr txBox="1"/>
          <p:nvPr/>
        </p:nvSpPr>
        <p:spPr>
          <a:xfrm>
            <a:off x="548640" y="4556760"/>
            <a:ext cx="548640" cy="548640"/>
          </a:xfrm>
          <a:prstGeom prst="ellipse">
            <a:avLst/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</a:t>
            </a:r>
            <a:endParaRPr lang="ko-KR" sz="2400" dirty="0"/>
          </a:p>
        </p:txBody>
      </p:sp>
      <p:sp>
        <p:nvSpPr>
          <p:cNvPr id="14" name="S07-text113"/>
          <p:cNvSpPr txBox="1"/>
          <p:nvPr/>
        </p:nvSpPr>
        <p:spPr>
          <a:xfrm>
            <a:off x="1325880" y="4556760"/>
            <a:ext cx="5229271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곱은 1460</a:t>
            </a:r>
            <a:endParaRPr lang="ko-KR" sz="2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누가 맞았을까요?</a:t>
            </a:r>
            <a:endParaRPr lang="ko-KR" sz="4000" dirty="0"/>
          </a:p>
        </p:txBody>
      </p:sp>
      <p:sp>
        <p:nvSpPr>
          <p:cNvPr id="3" name="S08-card114"/>
          <p:cNvSpPr/>
          <p:nvPr/>
        </p:nvSpPr>
        <p:spPr>
          <a:xfrm>
            <a:off x="548640" y="132588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4" name="S08-cardtext115"/>
          <p:cNvSpPr txBox="1"/>
          <p:nvPr/>
        </p:nvSpPr>
        <p:spPr>
          <a:xfrm>
            <a:off x="822960" y="146304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274 × 3을 세로셈으로 했어요.</a:t>
            </a:r>
            <a:endParaRPr lang="ko-KR" sz="3000" dirty="0"/>
          </a:p>
        </p:txBody>
      </p:sp>
      <p:sp>
        <p:nvSpPr>
          <p:cNvPr id="5" name="S08-card116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6" name="S08-cardtext117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자리별로 곱해 확인하고, 누가 맞았는지 말해요.</a:t>
            </a:r>
            <a:endParaRPr lang="ko-KR" sz="3000" dirty="0"/>
          </a:p>
        </p:txBody>
      </p:sp>
      <p:sp>
        <p:nvSpPr>
          <p:cNvPr id="7" name="S08-chip118"/>
          <p:cNvSpPr txBox="1"/>
          <p:nvPr/>
        </p:nvSpPr>
        <p:spPr>
          <a:xfrm>
            <a:off x="548640" y="2423160"/>
            <a:ext cx="5362956" cy="566928"/>
          </a:xfrm>
          <a:prstGeom prst="roundRect">
            <a:avLst>
              <a:gd name="adj" fmla="val 25806"/>
            </a:avLst>
          </a:prstGeom>
          <a:solidFill>
            <a:srgbClr val="E6ECF4"/>
          </a:solidFill>
          <a:ln>
            <a:solidFill>
              <a:srgbClr val="E6ECF4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토끼: 612</a:t>
            </a:r>
            <a:endParaRPr lang="ko-KR" sz="2400" dirty="0"/>
          </a:p>
        </p:txBody>
      </p:sp>
      <p:sp>
        <p:nvSpPr>
          <p:cNvPr id="8" name="S08-text119"/>
          <p:cNvSpPr txBox="1"/>
          <p:nvPr/>
        </p:nvSpPr>
        <p:spPr>
          <a:xfrm>
            <a:off x="548640" y="3154680"/>
            <a:ext cx="5362956" cy="1965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 × 3 = 12, 7 × 3 = 21에서</a:t>
            </a:r>
            <a:endParaRPr lang="ko-KR" sz="3000" dirty="0"/>
          </a:p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일의 자리 숫자만 썼어요.</a:t>
            </a:r>
            <a:endParaRPr lang="ko-KR" sz="3000" dirty="0"/>
          </a:p>
        </p:txBody>
      </p:sp>
      <p:sp>
        <p:nvSpPr>
          <p:cNvPr id="9" name="S08-chip120"/>
          <p:cNvSpPr txBox="1"/>
          <p:nvPr/>
        </p:nvSpPr>
        <p:spPr>
          <a:xfrm>
            <a:off x="6277356" y="2423160"/>
            <a:ext cx="5362956" cy="566928"/>
          </a:xfrm>
          <a:prstGeom prst="roundRect">
            <a:avLst>
              <a:gd name="adj" fmla="val 25806"/>
            </a:avLst>
          </a:prstGeom>
          <a:solidFill>
            <a:srgbClr val="E6ECF4"/>
          </a:solidFill>
          <a:ln>
            <a:solidFill>
              <a:srgbClr val="E6ECF4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곰: 822</a:t>
            </a:r>
            <a:endParaRPr lang="ko-KR" sz="2400" dirty="0"/>
          </a:p>
        </p:txBody>
      </p:sp>
      <p:sp>
        <p:nvSpPr>
          <p:cNvPr id="10" name="S08-text121"/>
          <p:cNvSpPr txBox="1"/>
          <p:nvPr/>
        </p:nvSpPr>
        <p:spPr>
          <a:xfrm>
            <a:off x="6277356" y="3154680"/>
            <a:ext cx="5362956" cy="1965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올린 1과 2를 바로 윗자리의</a:t>
            </a:r>
            <a:endParaRPr lang="ko-KR" sz="3000" dirty="0"/>
          </a:p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곱에 더했어요.</a:t>
            </a:r>
            <a:endParaRPr lang="ko-KR" sz="3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식을 쓰고 계산하기</a:t>
            </a:r>
            <a:endParaRPr lang="ko-KR" sz="4000" dirty="0"/>
          </a:p>
        </p:txBody>
      </p:sp>
      <p:sp>
        <p:nvSpPr>
          <p:cNvPr id="3" name="S09-text122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곱셈식을 쓰고, 세로셈으로 계산해요.</a:t>
            </a:r>
            <a:endParaRPr lang="ko-KR" sz="3000" dirty="0"/>
          </a:p>
        </p:txBody>
      </p:sp>
      <p:sp>
        <p:nvSpPr>
          <p:cNvPr id="4" name="S09-card123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E6ECF4"/>
          </a:solidFill>
          <a:ln w="12700">
            <a:solidFill>
              <a:srgbClr val="E6ECF4"/>
            </a:solidFill>
            <a:prstDash val="solid"/>
          </a:ln>
        </p:spPr>
      </p:sp>
      <p:sp>
        <p:nvSpPr>
          <p:cNvPr id="5" name="S09-cardtext124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0에 곱해도 올린 수는 더해요.</a:t>
            </a:r>
            <a:endParaRPr lang="ko-KR" sz="3000" dirty="0"/>
          </a:p>
        </p:txBody>
      </p:sp>
      <p:sp>
        <p:nvSpPr>
          <p:cNvPr id="6" name="S09-chip125"/>
          <p:cNvSpPr txBox="1"/>
          <p:nvPr/>
        </p:nvSpPr>
        <p:spPr>
          <a:xfrm>
            <a:off x="548640" y="218541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</a:t>
            </a:r>
            <a:endParaRPr lang="ko-KR" sz="2400" dirty="0"/>
          </a:p>
        </p:txBody>
      </p:sp>
      <p:sp>
        <p:nvSpPr>
          <p:cNvPr id="7" name="S09-text126"/>
          <p:cNvSpPr txBox="1"/>
          <p:nvPr/>
        </p:nvSpPr>
        <p:spPr>
          <a:xfrm>
            <a:off x="1344168" y="2011680"/>
            <a:ext cx="10296144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구슬이 한 상자에 125개씩 있어요.</a:t>
            </a:r>
            <a:endParaRPr lang="ko-KR" sz="3000" dirty="0"/>
          </a:p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4상자에는 모두 몇 개일까요?</a:t>
            </a:r>
            <a:endParaRPr lang="ko-KR" sz="3000" dirty="0"/>
          </a:p>
        </p:txBody>
      </p:sp>
      <p:sp>
        <p:nvSpPr>
          <p:cNvPr id="8" name="S09-chip127"/>
          <p:cNvSpPr txBox="1"/>
          <p:nvPr/>
        </p:nvSpPr>
        <p:spPr>
          <a:xfrm>
            <a:off x="548640" y="328269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</a:t>
            </a:r>
            <a:endParaRPr lang="ko-KR" sz="2400" dirty="0"/>
          </a:p>
        </p:txBody>
      </p:sp>
      <p:sp>
        <p:nvSpPr>
          <p:cNvPr id="9" name="S09-text128"/>
          <p:cNvSpPr txBox="1"/>
          <p:nvPr/>
        </p:nvSpPr>
        <p:spPr>
          <a:xfrm>
            <a:off x="1344168" y="3108960"/>
            <a:ext cx="10296144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줄넘기를 하루에 230번씩 했어요.</a:t>
            </a:r>
            <a:endParaRPr lang="ko-KR" sz="3000" dirty="0"/>
          </a:p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3일 동안 모두 몇 번일까요?</a:t>
            </a:r>
            <a:endParaRPr lang="ko-KR" sz="3000" dirty="0"/>
          </a:p>
        </p:txBody>
      </p:sp>
      <p:sp>
        <p:nvSpPr>
          <p:cNvPr id="10" name="S09-chip129"/>
          <p:cNvSpPr txBox="1"/>
          <p:nvPr/>
        </p:nvSpPr>
        <p:spPr>
          <a:xfrm>
            <a:off x="548640" y="437997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</a:t>
            </a:r>
            <a:endParaRPr lang="ko-KR" sz="2400" dirty="0"/>
          </a:p>
        </p:txBody>
      </p:sp>
      <p:sp>
        <p:nvSpPr>
          <p:cNvPr id="11" name="S09-eqtext130"/>
          <p:cNvSpPr txBox="1"/>
          <p:nvPr/>
        </p:nvSpPr>
        <p:spPr>
          <a:xfrm>
            <a:off x="1344168" y="4206240"/>
            <a:ext cx="10296144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408 × 2 = □</a:t>
            </a:r>
            <a:endParaRPr lang="ko-KR" sz="3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혼자 해 보기</a:t>
            </a:r>
            <a:endParaRPr lang="ko-KR" sz="4000" dirty="0"/>
          </a:p>
        </p:txBody>
      </p:sp>
      <p:sp>
        <p:nvSpPr>
          <p:cNvPr id="3" name="S10-text131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세로셈으로 풀고, 올림을 말해요.</a:t>
            </a:r>
            <a:endParaRPr lang="ko-KR" sz="3000" dirty="0"/>
          </a:p>
        </p:txBody>
      </p:sp>
      <p:sp>
        <p:nvSpPr>
          <p:cNvPr id="4" name="S10-chip132"/>
          <p:cNvSpPr txBox="1"/>
          <p:nvPr/>
        </p:nvSpPr>
        <p:spPr>
          <a:xfrm>
            <a:off x="548640" y="245973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</a:t>
            </a:r>
            <a:endParaRPr lang="ko-KR" sz="2400" dirty="0"/>
          </a:p>
        </p:txBody>
      </p:sp>
      <p:sp>
        <p:nvSpPr>
          <p:cNvPr id="5" name="S10-eqtext133"/>
          <p:cNvSpPr txBox="1"/>
          <p:nvPr/>
        </p:nvSpPr>
        <p:spPr>
          <a:xfrm>
            <a:off x="1344168" y="2011680"/>
            <a:ext cx="456742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312 × 3 = □</a:t>
            </a:r>
            <a:endParaRPr lang="ko-KR" sz="3400" dirty="0"/>
          </a:p>
        </p:txBody>
      </p:sp>
      <p:sp>
        <p:nvSpPr>
          <p:cNvPr id="6" name="S10-chip134"/>
          <p:cNvSpPr txBox="1"/>
          <p:nvPr/>
        </p:nvSpPr>
        <p:spPr>
          <a:xfrm>
            <a:off x="6277356" y="245973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</a:t>
            </a:r>
            <a:endParaRPr lang="ko-KR" sz="2400" dirty="0"/>
          </a:p>
        </p:txBody>
      </p:sp>
      <p:sp>
        <p:nvSpPr>
          <p:cNvPr id="7" name="S10-eqtext135"/>
          <p:cNvSpPr txBox="1"/>
          <p:nvPr/>
        </p:nvSpPr>
        <p:spPr>
          <a:xfrm>
            <a:off x="7072884" y="2011680"/>
            <a:ext cx="456742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218 × 4 = □</a:t>
            </a:r>
            <a:endParaRPr lang="ko-KR" sz="3400" dirty="0"/>
          </a:p>
        </p:txBody>
      </p:sp>
      <p:sp>
        <p:nvSpPr>
          <p:cNvPr id="8" name="S10-chip136"/>
          <p:cNvSpPr txBox="1"/>
          <p:nvPr/>
        </p:nvSpPr>
        <p:spPr>
          <a:xfrm>
            <a:off x="548640" y="465429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</a:t>
            </a:r>
            <a:endParaRPr lang="ko-KR" sz="2400" dirty="0"/>
          </a:p>
        </p:txBody>
      </p:sp>
      <p:sp>
        <p:nvSpPr>
          <p:cNvPr id="9" name="S10-eqtext137"/>
          <p:cNvSpPr txBox="1"/>
          <p:nvPr/>
        </p:nvSpPr>
        <p:spPr>
          <a:xfrm>
            <a:off x="1344168" y="4206240"/>
            <a:ext cx="456742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254 × 3 = □</a:t>
            </a:r>
            <a:endParaRPr lang="ko-KR" sz="3400" dirty="0"/>
          </a:p>
        </p:txBody>
      </p:sp>
      <p:sp>
        <p:nvSpPr>
          <p:cNvPr id="10" name="S10-chip138"/>
          <p:cNvSpPr txBox="1"/>
          <p:nvPr/>
        </p:nvSpPr>
        <p:spPr>
          <a:xfrm>
            <a:off x="6277356" y="465429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④</a:t>
            </a:r>
            <a:endParaRPr lang="ko-KR" sz="2400" dirty="0"/>
          </a:p>
        </p:txBody>
      </p:sp>
      <p:sp>
        <p:nvSpPr>
          <p:cNvPr id="11" name="S10-eqtext139"/>
          <p:cNvSpPr txBox="1"/>
          <p:nvPr/>
        </p:nvSpPr>
        <p:spPr>
          <a:xfrm>
            <a:off x="7072884" y="4206240"/>
            <a:ext cx="456742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473 × 5 = □</a:t>
            </a:r>
            <a:endParaRPr lang="ko-KR" sz="3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바르게 나눈 것은?</a:t>
            </a:r>
            <a:endParaRPr lang="ko-KR" sz="4000" dirty="0"/>
          </a:p>
        </p:txBody>
      </p:sp>
      <p:sp>
        <p:nvSpPr>
          <p:cNvPr id="3" name="S12-text140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236 × 3을 자리별로 나누어 계산하려고 해요.</a:t>
            </a:r>
            <a:endParaRPr lang="ko-KR" sz="3000" dirty="0"/>
          </a:p>
        </p:txBody>
      </p:sp>
      <p:sp>
        <p:nvSpPr>
          <p:cNvPr id="4" name="S12-card141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5" name="S12-cardtext142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바르게 나눈 것을 고르고, 236 × 3을 구해요.</a:t>
            </a:r>
            <a:endParaRPr lang="ko-KR" sz="3000" dirty="0"/>
          </a:p>
        </p:txBody>
      </p:sp>
      <p:sp>
        <p:nvSpPr>
          <p:cNvPr id="6" name="S12-chip143"/>
          <p:cNvSpPr txBox="1"/>
          <p:nvPr/>
        </p:nvSpPr>
        <p:spPr>
          <a:xfrm>
            <a:off x="1991868" y="2011680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가</a:t>
            </a:r>
            <a:endParaRPr lang="ko-KR" sz="3000" dirty="0"/>
          </a:p>
        </p:txBody>
      </p:sp>
      <p:sp>
        <p:nvSpPr>
          <p:cNvPr id="7" name="S12-bigtext144"/>
          <p:cNvSpPr txBox="1"/>
          <p:nvPr/>
        </p:nvSpPr>
        <p:spPr>
          <a:xfrm>
            <a:off x="548640" y="2715768"/>
            <a:ext cx="3453384" cy="24048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8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200 × 3</a:t>
            </a:r>
            <a:endParaRPr lang="ko-KR" sz="2800" dirty="0"/>
          </a:p>
          <a:p>
            <a:pPr eaLnBrk="0" algn="ctr" indent="0" marL="0">
              <a:buNone/>
            </a:pPr>
            <a:r>
              <a:rPr lang="ko-KR" altLang="en-US" sz="28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+ 30 × 3</a:t>
            </a:r>
            <a:endParaRPr lang="ko-KR" sz="2800" dirty="0"/>
          </a:p>
          <a:p>
            <a:pPr eaLnBrk="0" algn="ctr" indent="0" marL="0">
              <a:buNone/>
            </a:pPr>
            <a:r>
              <a:rPr lang="ko-KR" altLang="en-US" sz="28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+ 6 × 3</a:t>
            </a:r>
            <a:endParaRPr lang="ko-KR" sz="2800" dirty="0"/>
          </a:p>
        </p:txBody>
      </p:sp>
      <p:sp>
        <p:nvSpPr>
          <p:cNvPr id="8" name="S12-chip145"/>
          <p:cNvSpPr txBox="1"/>
          <p:nvPr/>
        </p:nvSpPr>
        <p:spPr>
          <a:xfrm>
            <a:off x="5811012" y="2011680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나</a:t>
            </a:r>
            <a:endParaRPr lang="ko-KR" sz="3000" dirty="0"/>
          </a:p>
        </p:txBody>
      </p:sp>
      <p:sp>
        <p:nvSpPr>
          <p:cNvPr id="9" name="S12-bigtext146"/>
          <p:cNvSpPr txBox="1"/>
          <p:nvPr/>
        </p:nvSpPr>
        <p:spPr>
          <a:xfrm>
            <a:off x="4367784" y="2715768"/>
            <a:ext cx="3453384" cy="24048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8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200 × 3</a:t>
            </a:r>
            <a:endParaRPr lang="ko-KR" sz="2800" dirty="0"/>
          </a:p>
          <a:p>
            <a:pPr eaLnBrk="0" algn="ctr" indent="0" marL="0">
              <a:buNone/>
            </a:pPr>
            <a:r>
              <a:rPr lang="ko-KR" altLang="en-US" sz="28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+ 30</a:t>
            </a:r>
            <a:endParaRPr lang="ko-KR" sz="2800" dirty="0"/>
          </a:p>
          <a:p>
            <a:pPr eaLnBrk="0" algn="ctr" indent="0" marL="0">
              <a:buNone/>
            </a:pPr>
            <a:r>
              <a:rPr lang="ko-KR" altLang="en-US" sz="28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+ 6 × 3</a:t>
            </a:r>
            <a:endParaRPr lang="ko-KR" sz="2800" dirty="0"/>
          </a:p>
        </p:txBody>
      </p:sp>
      <p:sp>
        <p:nvSpPr>
          <p:cNvPr id="10" name="S12-chip147"/>
          <p:cNvSpPr txBox="1"/>
          <p:nvPr/>
        </p:nvSpPr>
        <p:spPr>
          <a:xfrm>
            <a:off x="9630156" y="2011680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다</a:t>
            </a:r>
            <a:endParaRPr lang="ko-KR" sz="3000" dirty="0"/>
          </a:p>
        </p:txBody>
      </p:sp>
      <p:sp>
        <p:nvSpPr>
          <p:cNvPr id="11" name="S12-bigtext148"/>
          <p:cNvSpPr txBox="1"/>
          <p:nvPr/>
        </p:nvSpPr>
        <p:spPr>
          <a:xfrm>
            <a:off x="8186928" y="2715768"/>
            <a:ext cx="3453384" cy="24048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8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 × 3</a:t>
            </a:r>
            <a:endParaRPr lang="ko-KR" sz="2800" dirty="0"/>
          </a:p>
          <a:p>
            <a:pPr eaLnBrk="0" algn="ctr" indent="0" marL="0">
              <a:buNone/>
            </a:pPr>
            <a:r>
              <a:rPr lang="ko-KR" altLang="en-US" sz="28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+ 3 × 3</a:t>
            </a:r>
            <a:endParaRPr lang="ko-KR" sz="2800" dirty="0"/>
          </a:p>
          <a:p>
            <a:pPr eaLnBrk="0" algn="ctr" indent="0" marL="0">
              <a:buNone/>
            </a:pPr>
            <a:r>
              <a:rPr lang="ko-KR" altLang="en-US" sz="28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+ 6 × 3</a:t>
            </a:r>
            <a:endParaRPr lang="ko-KR" sz="2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오늘 배운 것</a:t>
            </a:r>
            <a:endParaRPr lang="ko-KR" sz="4000" dirty="0"/>
          </a:p>
        </p:txBody>
      </p:sp>
      <p:sp>
        <p:nvSpPr>
          <p:cNvPr id="3" name="S13-card149"/>
          <p:cNvSpPr/>
          <p:nvPr/>
        </p:nvSpPr>
        <p:spPr>
          <a:xfrm>
            <a:off x="548640" y="132588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32606F"/>
          </a:solidFill>
          <a:ln w="12700">
            <a:solidFill>
              <a:srgbClr val="32606F"/>
            </a:solidFill>
            <a:prstDash val="solid"/>
          </a:ln>
        </p:spPr>
      </p:sp>
      <p:sp>
        <p:nvSpPr>
          <p:cNvPr id="4" name="S13-cardtext150"/>
          <p:cNvSpPr txBox="1"/>
          <p:nvPr/>
        </p:nvSpPr>
        <p:spPr>
          <a:xfrm>
            <a:off x="822960" y="146304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백·십·일의 자리를 차례로 곱하고, 올린 수를 더해요.</a:t>
            </a:r>
            <a:endParaRPr lang="ko-KR" sz="3000" dirty="0"/>
          </a:p>
        </p:txBody>
      </p:sp>
      <p:sp>
        <p:nvSpPr>
          <p:cNvPr id="5" name="S13-chip151"/>
          <p:cNvSpPr txBox="1"/>
          <p:nvPr/>
        </p:nvSpPr>
        <p:spPr>
          <a:xfrm>
            <a:off x="548640" y="2423160"/>
            <a:ext cx="5431536" cy="594360"/>
          </a:xfrm>
          <a:prstGeom prst="roundRect">
            <a:avLst>
              <a:gd name="adj" fmla="val 24615"/>
            </a:avLst>
          </a:prstGeom>
          <a:solidFill>
            <a:srgbClr val="2A9D8F"/>
          </a:solidFill>
          <a:ln>
            <a:solidFill>
              <a:srgbClr val="2A9D8F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○ 올린 수는 바로 윗자리에</a:t>
            </a:r>
            <a:endParaRPr lang="ko-KR" sz="2400" dirty="0"/>
          </a:p>
        </p:txBody>
      </p:sp>
      <p:sp>
        <p:nvSpPr>
          <p:cNvPr id="6" name="S13-chip152"/>
          <p:cNvSpPr txBox="1"/>
          <p:nvPr/>
        </p:nvSpPr>
        <p:spPr>
          <a:xfrm>
            <a:off x="6208776" y="2423160"/>
            <a:ext cx="5431536" cy="594360"/>
          </a:xfrm>
          <a:prstGeom prst="roundRect">
            <a:avLst>
              <a:gd name="adj" fmla="val 24615"/>
            </a:avLst>
          </a:prstGeom>
          <a:solidFill>
            <a:srgbClr val="C8434E"/>
          </a:solidFill>
          <a:ln>
            <a:solidFill>
              <a:srgbClr val="C8434E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× 올린 수 빠뜨리기</a:t>
            </a:r>
            <a:endParaRPr lang="ko-KR" sz="2400" dirty="0"/>
          </a:p>
        </p:txBody>
      </p:sp>
      <p:sp>
        <p:nvSpPr>
          <p:cNvPr id="7" name="S13-text153"/>
          <p:cNvSpPr txBox="1"/>
          <p:nvPr/>
        </p:nvSpPr>
        <p:spPr>
          <a:xfrm>
            <a:off x="548640" y="3246120"/>
            <a:ext cx="1109167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다음 수업을 시작할 때 다시 풀어요</a:t>
            </a:r>
            <a:endParaRPr lang="ko-KR" sz="2400" dirty="0"/>
          </a:p>
        </p:txBody>
      </p:sp>
      <p:sp>
        <p:nvSpPr>
          <p:cNvPr id="8" name="S13-eqtext154"/>
          <p:cNvSpPr txBox="1"/>
          <p:nvPr/>
        </p:nvSpPr>
        <p:spPr>
          <a:xfrm>
            <a:off x="548640" y="3749040"/>
            <a:ext cx="3544824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8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 142 × 2 = □</a:t>
            </a:r>
            <a:endParaRPr lang="ko-KR" sz="2800" dirty="0"/>
          </a:p>
        </p:txBody>
      </p:sp>
      <p:sp>
        <p:nvSpPr>
          <p:cNvPr id="9" name="S13-eqtext155"/>
          <p:cNvSpPr txBox="1"/>
          <p:nvPr/>
        </p:nvSpPr>
        <p:spPr>
          <a:xfrm>
            <a:off x="4322064" y="3749040"/>
            <a:ext cx="3544824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8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 326 × 3 = □</a:t>
            </a:r>
            <a:endParaRPr lang="ko-KR" sz="2800" dirty="0"/>
          </a:p>
        </p:txBody>
      </p:sp>
      <p:sp>
        <p:nvSpPr>
          <p:cNvPr id="10" name="S13-eqtext156"/>
          <p:cNvSpPr txBox="1"/>
          <p:nvPr/>
        </p:nvSpPr>
        <p:spPr>
          <a:xfrm>
            <a:off x="8095488" y="3749040"/>
            <a:ext cx="3544824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8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 258 × 4 = □</a:t>
            </a:r>
            <a:endParaRPr lang="ko-KR" sz="2800" dirty="0"/>
          </a:p>
        </p:txBody>
      </p:sp>
      <p:sp>
        <p:nvSpPr>
          <p:cNvPr id="11" name="S13-text157"/>
          <p:cNvSpPr txBox="1"/>
          <p:nvPr/>
        </p:nvSpPr>
        <p:spPr>
          <a:xfrm>
            <a:off x="548640" y="571500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4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다음 시간: (두 자리 수)×(두 자리 수)</a:t>
            </a:r>
            <a:endParaRPr lang="ko-KR" sz="2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C9DCD8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보충: 두 자리 수 곱셈</a:t>
            </a:r>
            <a:endParaRPr lang="ko-KR" sz="4000" dirty="0"/>
          </a:p>
        </p:txBody>
      </p:sp>
      <p:sp>
        <p:nvSpPr>
          <p:cNvPr id="3" name="S14-text158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47 × 6을 세로셈으로 다시 해요.</a:t>
            </a:r>
            <a:endParaRPr lang="ko-KR" sz="3000" dirty="0"/>
          </a:p>
        </p:txBody>
      </p:sp>
      <p:sp>
        <p:nvSpPr>
          <p:cNvPr id="4" name="S14-card159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5" name="S14-cardtext160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올린 수는 곱한 다음에 더해요.</a:t>
            </a:r>
            <a:endParaRPr lang="ko-KR" sz="3000" dirty="0"/>
          </a:p>
        </p:txBody>
      </p:sp>
      <p:graphicFrame>
        <p:nvGraphicFramePr>
          <p:cNvPr id="14" name="S14-table16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7483450" y="2042160"/>
          <a:ext cx="4023360" cy="914400"/>
        </p:xfrm>
        <a:graphic>
          <a:graphicData uri="http://schemas.openxmlformats.org/drawingml/2006/table">
            <a:tbl>
              <a:tblPr/>
              <a:tblGrid>
                <a:gridCol w="1005840"/>
                <a:gridCol w="1005840"/>
                <a:gridCol w="1005840"/>
                <a:gridCol w="1005840"/>
              </a:tblGrid>
              <a:tr h="609600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endParaRPr lang="en-US" sz="3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30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백</a:t>
                      </a:r>
                      <a:endParaRPr lang="en-US" sz="3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30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십</a:t>
                      </a:r>
                      <a:endParaRPr lang="en-US" sz="3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30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일</a:t>
                      </a:r>
                      <a:endParaRPr lang="en-US" sz="3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</a:tr>
              <a:tr h="609600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endParaRPr lang="en-US" sz="3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endParaRPr lang="en-US" sz="3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30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4</a:t>
                      </a:r>
                      <a:endParaRPr lang="en-US" sz="3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endParaRPr lang="en-US" sz="3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609600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endParaRPr lang="en-US" sz="3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endParaRPr lang="en-US" sz="3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30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4</a:t>
                      </a:r>
                      <a:endParaRPr lang="en-US" sz="3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30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7</a:t>
                      </a:r>
                      <a:endParaRPr lang="en-US" sz="3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609600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30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×</a:t>
                      </a:r>
                      <a:endParaRPr lang="en-US" sz="3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endParaRPr lang="en-US" sz="3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endParaRPr lang="en-US" sz="3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30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6</a:t>
                      </a:r>
                      <a:endParaRPr lang="en-US" sz="3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609600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endParaRPr lang="en-US" sz="3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30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</a:t>
                      </a:r>
                      <a:endParaRPr lang="en-US" sz="3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30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8</a:t>
                      </a:r>
                      <a:endParaRPr lang="en-US" sz="3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30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</a:t>
                      </a:r>
                      <a:endParaRPr lang="en-US" sz="3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S14-stepno162"/>
          <p:cNvSpPr txBox="1"/>
          <p:nvPr/>
        </p:nvSpPr>
        <p:spPr>
          <a:xfrm>
            <a:off x="548640" y="2433828"/>
            <a:ext cx="548640" cy="548640"/>
          </a:xfrm>
          <a:prstGeom prst="ellipse">
            <a:avLst/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ko-KR" sz="2400" dirty="0"/>
          </a:p>
        </p:txBody>
      </p:sp>
      <p:sp>
        <p:nvSpPr>
          <p:cNvPr id="8" name="S14-text163"/>
          <p:cNvSpPr txBox="1"/>
          <p:nvPr/>
        </p:nvSpPr>
        <p:spPr>
          <a:xfrm>
            <a:off x="1325880" y="2388108"/>
            <a:ext cx="5658307" cy="929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일: 7 × 6 = 42</a:t>
            </a:r>
            <a:endParaRPr lang="ko-KR" sz="3000" dirty="0"/>
          </a:p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2를 쓰고 4를 올려요.</a:t>
            </a:r>
            <a:endParaRPr lang="ko-KR" sz="3000" dirty="0"/>
          </a:p>
        </p:txBody>
      </p:sp>
      <p:sp>
        <p:nvSpPr>
          <p:cNvPr id="9" name="S14-stepno164"/>
          <p:cNvSpPr txBox="1"/>
          <p:nvPr/>
        </p:nvSpPr>
        <p:spPr>
          <a:xfrm>
            <a:off x="548640" y="3482340"/>
            <a:ext cx="548640" cy="548640"/>
          </a:xfrm>
          <a:prstGeom prst="ellipse">
            <a:avLst/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ko-KR" sz="2400" dirty="0"/>
          </a:p>
        </p:txBody>
      </p:sp>
      <p:sp>
        <p:nvSpPr>
          <p:cNvPr id="10" name="S14-text165"/>
          <p:cNvSpPr txBox="1"/>
          <p:nvPr/>
        </p:nvSpPr>
        <p:spPr>
          <a:xfrm>
            <a:off x="1325880" y="3482340"/>
            <a:ext cx="5658307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십: 4 × 6 + 4 = 28</a:t>
            </a:r>
            <a:endParaRPr lang="ko-KR" sz="3000" dirty="0"/>
          </a:p>
        </p:txBody>
      </p:sp>
      <p:sp>
        <p:nvSpPr>
          <p:cNvPr id="11" name="S14-stepno166"/>
          <p:cNvSpPr txBox="1"/>
          <p:nvPr/>
        </p:nvSpPr>
        <p:spPr>
          <a:xfrm>
            <a:off x="548640" y="4195572"/>
            <a:ext cx="548640" cy="548640"/>
          </a:xfrm>
          <a:prstGeom prst="ellipse">
            <a:avLst/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ko-KR" sz="2400" dirty="0"/>
          </a:p>
        </p:txBody>
      </p:sp>
      <p:sp>
        <p:nvSpPr>
          <p:cNvPr id="12" name="S14-text167"/>
          <p:cNvSpPr txBox="1"/>
          <p:nvPr/>
        </p:nvSpPr>
        <p:spPr>
          <a:xfrm>
            <a:off x="1325880" y="4195572"/>
            <a:ext cx="5658307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47 × 6 = 282</a:t>
            </a:r>
            <a:endParaRPr lang="ko-KR" sz="3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13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Education Classroom">
  <a:themeElements>
    <a:clrScheme name="Education Classroom">
      <a:dk1>
        <a:srgbClr val="1F2937"/>
      </a:dk1>
      <a:lt1>
        <a:srgbClr val="FFFFFF"/>
      </a:lt1>
      <a:dk2>
        <a:srgbClr val="264653"/>
      </a:dk2>
      <a:lt2>
        <a:srgbClr val="EAF3F1"/>
      </a:lt2>
      <a:accent1>
        <a:srgbClr val="E9762B"/>
      </a:accent1>
      <a:accent2>
        <a:srgbClr val="2A9D8F"/>
      </a:accent2>
      <a:accent3>
        <a:srgbClr val="C8434E"/>
      </a:accent3>
      <a:accent4>
        <a:srgbClr val="3D5A80"/>
      </a:accent4>
      <a:accent5>
        <a:srgbClr val="F2C14E"/>
      </a:accent5>
      <a:accent6>
        <a:srgbClr val="4B5563"/>
      </a:accent6>
      <a:hlink>
        <a:srgbClr val="3D5A80"/>
      </a:hlink>
      <a:folHlink>
        <a:srgbClr val="7A4E8A"/>
      </a:folHlink>
    </a:clrScheme>
    <a:fontScheme name="Education Classroom">
      <a:majorFont>
        <a:latin typeface="맑은 고딕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13</Slides>
  <Notes>13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13</vt:i4>
      </vt:variant>
    </vt:vector>
  </HeadingPairs>
  <TitlesOfParts>
    <vt:vector size="16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초3 수학 (세 자리 수)×(한 자리 수)</dc:title>
  <dc:subject>KR22-G03-MAT-MUL3X1-L01</dc:subject>
  <dc:creator>education-ppt</dc:creator>
  <cp:lastModifiedBy>education-ppt</cp:lastModifiedBy>
  <cp:revision>1</cp:revision>
  <dcterms:created xsi:type="dcterms:W3CDTF">2026-10-26T07:36:51Z</dcterms:created>
  <dcterms:modified xsi:type="dcterms:W3CDTF">2026-10-26T07:36:51Z</dcterms:modified>
</cp:coreProperties>
</file>