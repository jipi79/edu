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dabd739-ea07-6144-c744-f1525b7537fe}">
          <p14:sldIdLst>
            <p14:sldId id="256"/>
            <p14:sldId id="257"/>
          </p14:sldIdLst>
        </p14:section>
        <p14:section name="개념" id="{8ea2eff8-271c-2a5e-407f-0908ea62846a}">
          <p14:sldIdLst>
            <p14:sldId id="258"/>
            <p14:sldId id="259"/>
            <p14:sldId id="260"/>
            <p14:sldId id="262"/>
          </p14:sldIdLst>
        </p14:section>
        <p14:section name="연습" id="{23269daf-1867-4174-5605-4929633c315b}">
          <p14:sldIdLst>
            <p14:sldId id="261"/>
            <p14:sldId id="263"/>
            <p14:sldId id="264"/>
          </p14:sldIdLst>
        </p14:section>
        <p14:section name="개념" id="{57dbceeb-3345-7cac-90f1-29c33feb6d65}">
          <p14:sldIdLst/>
        </p14:section>
        <p14:section name="연습" id="{cae6634e-a523-5975-e655-ef4bc16379e1}">
          <p14:sldIdLst/>
        </p14:section>
        <p14:section name="확인" id="{1681c1e4-5920-c68d-3941-9554d62be286}">
          <p14:sldIdLst>
            <p14:sldId id="265"/>
            <p14:sldId id="266"/>
          </p14:sldIdLst>
        </p14:section>
        <p14:section name="정리" id="{6da38cf0-14cc-1427-9f8e-6d1f28440f1c}">
          <p14:sldIdLst>
            <p14:sldId id="267"/>
          </p14:sldIdLst>
        </p14:section>
        <p14:section name="보충" id="{c5efdfa4-d366-6a66-9f22-3774e5b28919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자연수계산 · 6차시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(세 자리 수)×(한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(세 자리 수)×(한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(세 자리 수)×(한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(몇백몇십몇)×(몇)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128 × 3은 어떻게 계산할까?</a:t>
            </a:r>
            <a:endParaRPr lang="ko-KR" sz="30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1000760"/>
          <a:ext cx="38404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백·십·일의 자리로 나누어 곱하고 더해요.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올림이 있는 곱셈을 세로셈으로 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 × 6 = □</a:t>
            </a:r>
            <a:endParaRPr lang="ko-KR" sz="34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eq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× 4 = □</a:t>
            </a:r>
            <a:endParaRPr lang="ko-KR" sz="34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eq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 + 60 + 9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자리별로 곱해요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213은 200과 10과 3이에요.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213 × 3 = 639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600 + 30 + 9 = 639</a:t>
            </a:r>
            <a:endParaRPr lang="ko-KR" sz="3000" dirty="0"/>
          </a:p>
        </p:txBody>
      </p:sp>
      <p:sp>
        <p:nvSpPr>
          <p:cNvPr id="6" name="S03-card13"/>
          <p:cNvSpPr/>
          <p:nvPr/>
        </p:nvSpPr>
        <p:spPr>
          <a:xfrm>
            <a:off x="548640" y="387858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4"/>
          <p:cNvSpPr txBox="1"/>
          <p:nvPr/>
        </p:nvSpPr>
        <p:spPr>
          <a:xfrm>
            <a:off x="822960" y="401574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 × 3 = 600</a:t>
            </a:r>
            <a:endParaRPr lang="ko-KR" sz="3000" dirty="0"/>
          </a:p>
        </p:txBody>
      </p:sp>
      <p:sp>
        <p:nvSpPr>
          <p:cNvPr id="8" name="S03-card15"/>
          <p:cNvSpPr/>
          <p:nvPr/>
        </p:nvSpPr>
        <p:spPr>
          <a:xfrm>
            <a:off x="4322064" y="387858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6"/>
          <p:cNvSpPr txBox="1"/>
          <p:nvPr/>
        </p:nvSpPr>
        <p:spPr>
          <a:xfrm>
            <a:off x="4596384" y="401574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× 3 = 30</a:t>
            </a:r>
            <a:endParaRPr lang="ko-KR" sz="3000" dirty="0"/>
          </a:p>
        </p:txBody>
      </p:sp>
      <p:sp>
        <p:nvSpPr>
          <p:cNvPr id="10" name="S03-card17"/>
          <p:cNvSpPr/>
          <p:nvPr/>
        </p:nvSpPr>
        <p:spPr>
          <a:xfrm>
            <a:off x="8095488" y="387858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8"/>
          <p:cNvSpPr txBox="1"/>
          <p:nvPr/>
        </p:nvSpPr>
        <p:spPr>
          <a:xfrm>
            <a:off x="8369808" y="401574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3 = 9</a:t>
            </a:r>
            <a:endParaRPr lang="ko-KR" sz="3000" dirty="0"/>
          </a:p>
        </p:txBody>
      </p:sp>
      <p:sp>
        <p:nvSpPr>
          <p:cNvPr id="12" name="S03-flat19"/>
          <p:cNvSpPr/>
          <p:nvPr/>
        </p:nvSpPr>
        <p:spPr>
          <a:xfrm>
            <a:off x="4196253" y="2043186"/>
            <a:ext cx="1575288" cy="157528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line20"/>
          <p:cNvSpPr/>
          <p:nvPr/>
        </p:nvSpPr>
        <p:spPr>
          <a:xfrm>
            <a:off x="4353782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3-line21"/>
          <p:cNvSpPr/>
          <p:nvPr/>
        </p:nvSpPr>
        <p:spPr>
          <a:xfrm>
            <a:off x="4196253" y="2200715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3-line22"/>
          <p:cNvSpPr/>
          <p:nvPr/>
        </p:nvSpPr>
        <p:spPr>
          <a:xfrm>
            <a:off x="4511311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3-line23"/>
          <p:cNvSpPr/>
          <p:nvPr/>
        </p:nvSpPr>
        <p:spPr>
          <a:xfrm>
            <a:off x="4196253" y="2358243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3-line24"/>
          <p:cNvSpPr/>
          <p:nvPr/>
        </p:nvSpPr>
        <p:spPr>
          <a:xfrm>
            <a:off x="4668840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3-line25"/>
          <p:cNvSpPr/>
          <p:nvPr/>
        </p:nvSpPr>
        <p:spPr>
          <a:xfrm>
            <a:off x="4196253" y="2515772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line26"/>
          <p:cNvSpPr/>
          <p:nvPr/>
        </p:nvSpPr>
        <p:spPr>
          <a:xfrm>
            <a:off x="4826369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3-line27"/>
          <p:cNvSpPr/>
          <p:nvPr/>
        </p:nvSpPr>
        <p:spPr>
          <a:xfrm>
            <a:off x="4196253" y="2673301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3-line28"/>
          <p:cNvSpPr/>
          <p:nvPr/>
        </p:nvSpPr>
        <p:spPr>
          <a:xfrm>
            <a:off x="4983898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3-line29"/>
          <p:cNvSpPr/>
          <p:nvPr/>
        </p:nvSpPr>
        <p:spPr>
          <a:xfrm>
            <a:off x="4196253" y="2830830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3-line30"/>
          <p:cNvSpPr/>
          <p:nvPr/>
        </p:nvSpPr>
        <p:spPr>
          <a:xfrm>
            <a:off x="5141426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3-line31"/>
          <p:cNvSpPr/>
          <p:nvPr/>
        </p:nvSpPr>
        <p:spPr>
          <a:xfrm>
            <a:off x="4196253" y="2988359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3-line32"/>
          <p:cNvSpPr/>
          <p:nvPr/>
        </p:nvSpPr>
        <p:spPr>
          <a:xfrm>
            <a:off x="5298955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3-line33"/>
          <p:cNvSpPr/>
          <p:nvPr/>
        </p:nvSpPr>
        <p:spPr>
          <a:xfrm>
            <a:off x="4196253" y="3145888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3-line34"/>
          <p:cNvSpPr/>
          <p:nvPr/>
        </p:nvSpPr>
        <p:spPr>
          <a:xfrm>
            <a:off x="5456484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3-line35"/>
          <p:cNvSpPr/>
          <p:nvPr/>
        </p:nvSpPr>
        <p:spPr>
          <a:xfrm>
            <a:off x="4196253" y="3303417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3-line36"/>
          <p:cNvSpPr/>
          <p:nvPr/>
        </p:nvSpPr>
        <p:spPr>
          <a:xfrm>
            <a:off x="5614013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3-line37"/>
          <p:cNvSpPr/>
          <p:nvPr/>
        </p:nvSpPr>
        <p:spPr>
          <a:xfrm>
            <a:off x="4196253" y="3460945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3-flat38"/>
          <p:cNvSpPr/>
          <p:nvPr/>
        </p:nvSpPr>
        <p:spPr>
          <a:xfrm>
            <a:off x="5866059" y="2043186"/>
            <a:ext cx="1575288" cy="157528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3-line39"/>
          <p:cNvSpPr/>
          <p:nvPr/>
        </p:nvSpPr>
        <p:spPr>
          <a:xfrm>
            <a:off x="6023588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3-line40"/>
          <p:cNvSpPr/>
          <p:nvPr/>
        </p:nvSpPr>
        <p:spPr>
          <a:xfrm>
            <a:off x="5866059" y="2200715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3-line41"/>
          <p:cNvSpPr/>
          <p:nvPr/>
        </p:nvSpPr>
        <p:spPr>
          <a:xfrm>
            <a:off x="6181117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3-line42"/>
          <p:cNvSpPr/>
          <p:nvPr/>
        </p:nvSpPr>
        <p:spPr>
          <a:xfrm>
            <a:off x="5866059" y="2358243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3-line43"/>
          <p:cNvSpPr/>
          <p:nvPr/>
        </p:nvSpPr>
        <p:spPr>
          <a:xfrm>
            <a:off x="6338646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3-line44"/>
          <p:cNvSpPr/>
          <p:nvPr/>
        </p:nvSpPr>
        <p:spPr>
          <a:xfrm>
            <a:off x="5866059" y="2515772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3-line45"/>
          <p:cNvSpPr/>
          <p:nvPr/>
        </p:nvSpPr>
        <p:spPr>
          <a:xfrm>
            <a:off x="6496175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3-line46"/>
          <p:cNvSpPr/>
          <p:nvPr/>
        </p:nvSpPr>
        <p:spPr>
          <a:xfrm>
            <a:off x="5866059" y="2673301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3-line47"/>
          <p:cNvSpPr/>
          <p:nvPr/>
        </p:nvSpPr>
        <p:spPr>
          <a:xfrm>
            <a:off x="6653703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3-line48"/>
          <p:cNvSpPr/>
          <p:nvPr/>
        </p:nvSpPr>
        <p:spPr>
          <a:xfrm>
            <a:off x="5866059" y="2830830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3-line49"/>
          <p:cNvSpPr/>
          <p:nvPr/>
        </p:nvSpPr>
        <p:spPr>
          <a:xfrm>
            <a:off x="6811232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3-line50"/>
          <p:cNvSpPr/>
          <p:nvPr/>
        </p:nvSpPr>
        <p:spPr>
          <a:xfrm>
            <a:off x="5866059" y="2988359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3-line51"/>
          <p:cNvSpPr/>
          <p:nvPr/>
        </p:nvSpPr>
        <p:spPr>
          <a:xfrm>
            <a:off x="6968761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3-line52"/>
          <p:cNvSpPr/>
          <p:nvPr/>
        </p:nvSpPr>
        <p:spPr>
          <a:xfrm>
            <a:off x="5866059" y="3145888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3-line53"/>
          <p:cNvSpPr/>
          <p:nvPr/>
        </p:nvSpPr>
        <p:spPr>
          <a:xfrm>
            <a:off x="7126290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3-line54"/>
          <p:cNvSpPr/>
          <p:nvPr/>
        </p:nvSpPr>
        <p:spPr>
          <a:xfrm>
            <a:off x="5866059" y="3303417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3-line55"/>
          <p:cNvSpPr/>
          <p:nvPr/>
        </p:nvSpPr>
        <p:spPr>
          <a:xfrm>
            <a:off x="7283819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3-line56"/>
          <p:cNvSpPr/>
          <p:nvPr/>
        </p:nvSpPr>
        <p:spPr>
          <a:xfrm>
            <a:off x="5866059" y="3460945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3-rod57"/>
          <p:cNvSpPr/>
          <p:nvPr/>
        </p:nvSpPr>
        <p:spPr>
          <a:xfrm>
            <a:off x="7535865" y="2043186"/>
            <a:ext cx="157529" cy="157528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3-line58"/>
          <p:cNvSpPr/>
          <p:nvPr/>
        </p:nvSpPr>
        <p:spPr>
          <a:xfrm>
            <a:off x="7535865" y="2200715"/>
            <a:ext cx="157529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3-line59"/>
          <p:cNvSpPr/>
          <p:nvPr/>
        </p:nvSpPr>
        <p:spPr>
          <a:xfrm>
            <a:off x="7535865" y="2358243"/>
            <a:ext cx="157529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3-line60"/>
          <p:cNvSpPr/>
          <p:nvPr/>
        </p:nvSpPr>
        <p:spPr>
          <a:xfrm>
            <a:off x="7535865" y="2515772"/>
            <a:ext cx="157529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3-line61"/>
          <p:cNvSpPr/>
          <p:nvPr/>
        </p:nvSpPr>
        <p:spPr>
          <a:xfrm>
            <a:off x="7535865" y="2673301"/>
            <a:ext cx="157529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3-line62"/>
          <p:cNvSpPr/>
          <p:nvPr/>
        </p:nvSpPr>
        <p:spPr>
          <a:xfrm>
            <a:off x="7535865" y="2830830"/>
            <a:ext cx="157529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3-line63"/>
          <p:cNvSpPr/>
          <p:nvPr/>
        </p:nvSpPr>
        <p:spPr>
          <a:xfrm>
            <a:off x="7535865" y="2988359"/>
            <a:ext cx="157529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3-line64"/>
          <p:cNvSpPr/>
          <p:nvPr/>
        </p:nvSpPr>
        <p:spPr>
          <a:xfrm>
            <a:off x="7535865" y="3145888"/>
            <a:ext cx="157529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3-line65"/>
          <p:cNvSpPr/>
          <p:nvPr/>
        </p:nvSpPr>
        <p:spPr>
          <a:xfrm>
            <a:off x="7535865" y="3303417"/>
            <a:ext cx="157529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3-line66"/>
          <p:cNvSpPr/>
          <p:nvPr/>
        </p:nvSpPr>
        <p:spPr>
          <a:xfrm>
            <a:off x="7535865" y="3460945"/>
            <a:ext cx="157529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3-unit67"/>
          <p:cNvSpPr/>
          <p:nvPr/>
        </p:nvSpPr>
        <p:spPr>
          <a:xfrm>
            <a:off x="7787911" y="3421563"/>
            <a:ext cx="157529" cy="15752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3-unit68"/>
          <p:cNvSpPr/>
          <p:nvPr/>
        </p:nvSpPr>
        <p:spPr>
          <a:xfrm>
            <a:off x="7787911" y="3224652"/>
            <a:ext cx="157529" cy="15752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03-unit69"/>
          <p:cNvSpPr/>
          <p:nvPr/>
        </p:nvSpPr>
        <p:spPr>
          <a:xfrm>
            <a:off x="7787911" y="3027741"/>
            <a:ext cx="157529" cy="15752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03-figure70" descr="수 모형: 백 2개, 십 1개, 일 3개(213)"/>
          <p:cNvSpPr/>
          <p:nvPr/>
        </p:nvSpPr>
        <p:spPr>
          <a:xfrm>
            <a:off x="548640" y="2043186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자리별 곱을 더해요</a:t>
            </a:r>
            <a:endParaRPr lang="ko-KR" sz="4000" dirty="0"/>
          </a:p>
        </p:txBody>
      </p:sp>
      <p:sp>
        <p:nvSpPr>
          <p:cNvPr id="3" name="S04-text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128 × 3을 자리별로 곱해서 더해요.</a:t>
            </a:r>
            <a:endParaRPr lang="ko-KR" sz="3000" dirty="0"/>
          </a:p>
        </p:txBody>
      </p:sp>
      <p:graphicFrame>
        <p:nvGraphicFramePr>
          <p:cNvPr id="5" name="S04-table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90709" y="2323465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4-stepno73"/>
          <p:cNvSpPr txBox="1"/>
          <p:nvPr/>
        </p:nvSpPr>
        <p:spPr>
          <a:xfrm>
            <a:off x="548640" y="27706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4-text74"/>
          <p:cNvSpPr txBox="1"/>
          <p:nvPr/>
        </p:nvSpPr>
        <p:spPr>
          <a:xfrm>
            <a:off x="1325880" y="2770632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8 × 3 = 24</a:t>
            </a:r>
            <a:endParaRPr lang="ko-KR" sz="3000" dirty="0"/>
          </a:p>
        </p:txBody>
      </p:sp>
      <p:sp>
        <p:nvSpPr>
          <p:cNvPr id="7" name="S04-stepno75"/>
          <p:cNvSpPr txBox="1"/>
          <p:nvPr/>
        </p:nvSpPr>
        <p:spPr>
          <a:xfrm>
            <a:off x="548640" y="3483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4-text76"/>
          <p:cNvSpPr txBox="1"/>
          <p:nvPr/>
        </p:nvSpPr>
        <p:spPr>
          <a:xfrm>
            <a:off x="1325880" y="3483864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20 × 3 = 60</a:t>
            </a:r>
            <a:endParaRPr lang="ko-KR" sz="3000" dirty="0"/>
          </a:p>
        </p:txBody>
      </p:sp>
      <p:sp>
        <p:nvSpPr>
          <p:cNvPr id="9" name="S04-stepno77"/>
          <p:cNvSpPr txBox="1"/>
          <p:nvPr/>
        </p:nvSpPr>
        <p:spPr>
          <a:xfrm>
            <a:off x="548640" y="4197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4-text78"/>
          <p:cNvSpPr txBox="1"/>
          <p:nvPr/>
        </p:nvSpPr>
        <p:spPr>
          <a:xfrm>
            <a:off x="1325880" y="4197096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100 × 3 = 300</a:t>
            </a:r>
            <a:endParaRPr lang="ko-KR" sz="3000" dirty="0"/>
          </a:p>
        </p:txBody>
      </p:sp>
      <p:sp>
        <p:nvSpPr>
          <p:cNvPr id="11" name="S04-stepno79"/>
          <p:cNvSpPr txBox="1"/>
          <p:nvPr/>
        </p:nvSpPr>
        <p:spPr>
          <a:xfrm>
            <a:off x="548640" y="4910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4-text80"/>
          <p:cNvSpPr txBox="1"/>
          <p:nvPr/>
        </p:nvSpPr>
        <p:spPr>
          <a:xfrm>
            <a:off x="1325880" y="4910328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+ 60 + 300 = 384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짧게 쓰는 세로셈</a:t>
            </a:r>
            <a:endParaRPr lang="ko-KR" sz="4000" dirty="0"/>
          </a:p>
        </p:txBody>
      </p:sp>
      <p:sp>
        <p:nvSpPr>
          <p:cNvPr id="3" name="S05-text8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128 × 3을 짧게 써요.</a:t>
            </a:r>
            <a:endParaRPr lang="ko-KR" sz="3000" dirty="0"/>
          </a:p>
        </p:txBody>
      </p:sp>
      <p:sp>
        <p:nvSpPr>
          <p:cNvPr id="4" name="S05-card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올린 2는 십 모형 2개예요.</a:t>
            </a:r>
            <a:endParaRPr lang="ko-KR" sz="3000" dirty="0"/>
          </a:p>
        </p:txBody>
      </p:sp>
      <p:graphicFrame>
        <p:nvGraphicFramePr>
          <p:cNvPr id="6" name="S05-table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3450" y="2089785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5-stepno85"/>
          <p:cNvSpPr txBox="1"/>
          <p:nvPr/>
        </p:nvSpPr>
        <p:spPr>
          <a:xfrm>
            <a:off x="548640" y="24338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5-text86"/>
          <p:cNvSpPr txBox="1"/>
          <p:nvPr/>
        </p:nvSpPr>
        <p:spPr>
          <a:xfrm>
            <a:off x="1325880" y="2388108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8 × 3 = 24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4를 쓰고 2를 올려요.</a:t>
            </a:r>
            <a:endParaRPr lang="ko-KR" sz="3000" dirty="0"/>
          </a:p>
        </p:txBody>
      </p:sp>
      <p:sp>
        <p:nvSpPr>
          <p:cNvPr id="9" name="S05-stepno87"/>
          <p:cNvSpPr txBox="1"/>
          <p:nvPr/>
        </p:nvSpPr>
        <p:spPr>
          <a:xfrm>
            <a:off x="548640" y="34823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5-text88"/>
          <p:cNvSpPr txBox="1"/>
          <p:nvPr/>
        </p:nvSpPr>
        <p:spPr>
          <a:xfrm>
            <a:off x="1325880" y="3482340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2 × 3 = 6, 6 + 2 = 8</a:t>
            </a:r>
            <a:endParaRPr lang="ko-KR" sz="3000" dirty="0"/>
          </a:p>
        </p:txBody>
      </p:sp>
      <p:sp>
        <p:nvSpPr>
          <p:cNvPr id="11" name="S05-stepno89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5-text90"/>
          <p:cNvSpPr txBox="1"/>
          <p:nvPr/>
        </p:nvSpPr>
        <p:spPr>
          <a:xfrm>
            <a:off x="1325880" y="419557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1 × 3 = 3, 곱은 384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 해 보기</a:t>
            </a:r>
            <a:endParaRPr lang="ko-KR" sz="4000" dirty="0"/>
          </a:p>
        </p:txBody>
      </p:sp>
      <p:sp>
        <p:nvSpPr>
          <p:cNvPr id="3" name="S06-card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6-cardtext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올린 수는 바로 윗자리에서 곱한 다음 더해요.</a:t>
            </a:r>
            <a:endParaRPr lang="ko-KR" sz="3000" dirty="0"/>
          </a:p>
        </p:txBody>
      </p:sp>
      <p:sp>
        <p:nvSpPr>
          <p:cNvPr id="5" name="S06-card93"/>
          <p:cNvSpPr/>
          <p:nvPr/>
        </p:nvSpPr>
        <p:spPr>
          <a:xfrm>
            <a:off x="6277356" y="1325880"/>
            <a:ext cx="5362956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94"/>
          <p:cNvSpPr txBox="1"/>
          <p:nvPr/>
        </p:nvSpPr>
        <p:spPr>
          <a:xfrm>
            <a:off x="6551676" y="1463040"/>
            <a:ext cx="481431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③을 세로셈으로 해요</a:t>
            </a:r>
            <a:endParaRPr lang="ko-KR" sz="3000" dirty="0"/>
          </a:p>
        </p:txBody>
      </p:sp>
      <p:graphicFrame>
        <p:nvGraphicFramePr>
          <p:cNvPr id="7" name="S06-table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7154" y="2195195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06-chip96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9" name="S06-eqtext97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216 × 4 = □</a:t>
            </a:r>
            <a:endParaRPr lang="ko-KR" sz="3400" dirty="0"/>
          </a:p>
        </p:txBody>
      </p:sp>
      <p:sp>
        <p:nvSpPr>
          <p:cNvPr id="10" name="S06-chip98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06-eqtext99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153 × 3 = □</a:t>
            </a:r>
            <a:endParaRPr lang="ko-KR" sz="3400" dirty="0"/>
          </a:p>
        </p:txBody>
      </p:sp>
      <p:sp>
        <p:nvSpPr>
          <p:cNvPr id="12" name="S06-chip100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3" name="S06-eqtext101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247 × 3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곱이 네 자리 수</a:t>
            </a:r>
            <a:endParaRPr lang="ko-KR" sz="4000" dirty="0"/>
          </a:p>
        </p:txBody>
      </p:sp>
      <p:sp>
        <p:nvSpPr>
          <p:cNvPr id="3" name="S07-text10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365 × 4를 세로셈으로 해요.</a:t>
            </a:r>
            <a:endParaRPr lang="ko-KR" sz="3000" dirty="0"/>
          </a:p>
        </p:txBody>
      </p:sp>
      <p:sp>
        <p:nvSpPr>
          <p:cNvPr id="4" name="S07-card1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1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백의 자리 곱이 10을 넘으면 천의 자리에 써요.</a:t>
            </a:r>
            <a:endParaRPr lang="ko-KR" sz="3000" dirty="0"/>
          </a:p>
        </p:txBody>
      </p:sp>
      <p:graphicFrame>
        <p:nvGraphicFramePr>
          <p:cNvPr id="8" name="S07-table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20911" y="2089785"/>
          <a:ext cx="4719401" cy="914400"/>
        </p:xfrm>
        <a:graphic>
          <a:graphicData uri="http://schemas.openxmlformats.org/drawingml/2006/table">
            <a:tbl>
              <a:tblPr/>
              <a:tblGrid>
                <a:gridCol w="943880"/>
                <a:gridCol w="943880"/>
                <a:gridCol w="943880"/>
                <a:gridCol w="943880"/>
                <a:gridCol w="94388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7-stepno106"/>
          <p:cNvSpPr txBox="1"/>
          <p:nvPr/>
        </p:nvSpPr>
        <p:spPr>
          <a:xfrm>
            <a:off x="548640" y="20726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7-text107"/>
          <p:cNvSpPr txBox="1"/>
          <p:nvPr/>
        </p:nvSpPr>
        <p:spPr>
          <a:xfrm>
            <a:off x="1325880" y="2026920"/>
            <a:ext cx="5229271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5 × 4 = 20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0을 쓰고 2를 올려요.</a:t>
            </a:r>
            <a:endParaRPr lang="ko-KR" sz="2400" dirty="0"/>
          </a:p>
        </p:txBody>
      </p:sp>
      <p:sp>
        <p:nvSpPr>
          <p:cNvPr id="9" name="S07-stepno108"/>
          <p:cNvSpPr txBox="1"/>
          <p:nvPr/>
        </p:nvSpPr>
        <p:spPr>
          <a:xfrm>
            <a:off x="548640" y="29809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7-text109"/>
          <p:cNvSpPr txBox="1"/>
          <p:nvPr/>
        </p:nvSpPr>
        <p:spPr>
          <a:xfrm>
            <a:off x="1325880" y="2935224"/>
            <a:ext cx="5229271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6 × 4 + 2 = 26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6을 쓰고 2를 올려요.</a:t>
            </a:r>
            <a:endParaRPr lang="ko-KR" sz="2400" dirty="0"/>
          </a:p>
        </p:txBody>
      </p:sp>
      <p:sp>
        <p:nvSpPr>
          <p:cNvPr id="11" name="S07-stepno110"/>
          <p:cNvSpPr txBox="1"/>
          <p:nvPr/>
        </p:nvSpPr>
        <p:spPr>
          <a:xfrm>
            <a:off x="548640" y="38435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7-text111"/>
          <p:cNvSpPr txBox="1"/>
          <p:nvPr/>
        </p:nvSpPr>
        <p:spPr>
          <a:xfrm>
            <a:off x="1325880" y="3843528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3 × 4 + 2 = 14</a:t>
            </a:r>
            <a:endParaRPr lang="ko-KR" sz="2400" dirty="0"/>
          </a:p>
        </p:txBody>
      </p:sp>
      <p:sp>
        <p:nvSpPr>
          <p:cNvPr id="13" name="S07-stepno112"/>
          <p:cNvSpPr txBox="1"/>
          <p:nvPr/>
        </p:nvSpPr>
        <p:spPr>
          <a:xfrm>
            <a:off x="548640" y="45567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7-text113"/>
          <p:cNvSpPr txBox="1"/>
          <p:nvPr/>
        </p:nvSpPr>
        <p:spPr>
          <a:xfrm>
            <a:off x="1325880" y="455676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곱은 1460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8-card11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1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274 × 3을 세로셈으로 했어요.</a:t>
            </a:r>
            <a:endParaRPr lang="ko-KR" sz="3000" dirty="0"/>
          </a:p>
        </p:txBody>
      </p:sp>
      <p:sp>
        <p:nvSpPr>
          <p:cNvPr id="5" name="S08-card1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자리별로 곱해 확인하고, 누가 맞았는지 말해요.</a:t>
            </a:r>
            <a:endParaRPr lang="ko-KR" sz="3000" dirty="0"/>
          </a:p>
        </p:txBody>
      </p:sp>
      <p:sp>
        <p:nvSpPr>
          <p:cNvPr id="7" name="S08-chip11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612</a:t>
            </a:r>
            <a:endParaRPr lang="ko-KR" sz="2400" dirty="0"/>
          </a:p>
        </p:txBody>
      </p:sp>
      <p:sp>
        <p:nvSpPr>
          <p:cNvPr id="8" name="S08-text11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3 = 12, 7 × 3 = 21에서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 숫자만 썼어요.</a:t>
            </a:r>
            <a:endParaRPr lang="ko-KR" sz="3000" dirty="0"/>
          </a:p>
        </p:txBody>
      </p:sp>
      <p:sp>
        <p:nvSpPr>
          <p:cNvPr id="9" name="S08-chip12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822</a:t>
            </a:r>
            <a:endParaRPr lang="ko-KR" sz="2400" dirty="0"/>
          </a:p>
        </p:txBody>
      </p:sp>
      <p:sp>
        <p:nvSpPr>
          <p:cNvPr id="10" name="S08-text12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올린 1과 2를 바로 윗자리의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곱에 더했어요.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식을 쓰고 계산하기</a:t>
            </a:r>
            <a:endParaRPr lang="ko-KR" sz="4000" dirty="0"/>
          </a:p>
        </p:txBody>
      </p:sp>
      <p:sp>
        <p:nvSpPr>
          <p:cNvPr id="3" name="S09-text1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곱셈식을 쓰고, 세로셈으로 계산해요.</a:t>
            </a:r>
            <a:endParaRPr lang="ko-KR" sz="3000" dirty="0"/>
          </a:p>
        </p:txBody>
      </p:sp>
      <p:sp>
        <p:nvSpPr>
          <p:cNvPr id="4" name="S09-card1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1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0에 곱해도 올린 수는 더해요.</a:t>
            </a:r>
            <a:endParaRPr lang="ko-KR" sz="3000" dirty="0"/>
          </a:p>
        </p:txBody>
      </p:sp>
      <p:sp>
        <p:nvSpPr>
          <p:cNvPr id="6" name="S09-chip12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text126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구슬이 한 상자에 125개씩 있어요.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4상자에는 모두 몇 개일까요?</a:t>
            </a:r>
            <a:endParaRPr lang="ko-KR" sz="3000" dirty="0"/>
          </a:p>
        </p:txBody>
      </p:sp>
      <p:sp>
        <p:nvSpPr>
          <p:cNvPr id="8" name="S09-chip12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9-text128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줄넘기를 하루에 230번씩 했어요.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3일 동안 모두 몇 번일까요?</a:t>
            </a:r>
            <a:endParaRPr lang="ko-KR" sz="3000" dirty="0"/>
          </a:p>
        </p:txBody>
      </p:sp>
      <p:sp>
        <p:nvSpPr>
          <p:cNvPr id="10" name="S09-chip12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9-eqtext130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408 × 2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1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풀고, 올림을 말해요.</a:t>
            </a:r>
            <a:endParaRPr lang="ko-KR" sz="3000" dirty="0"/>
          </a:p>
        </p:txBody>
      </p:sp>
      <p:sp>
        <p:nvSpPr>
          <p:cNvPr id="4" name="S10-chip13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eqtext133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312 × 3 = □</a:t>
            </a:r>
            <a:endParaRPr lang="ko-KR" sz="3400" dirty="0"/>
          </a:p>
        </p:txBody>
      </p:sp>
      <p:sp>
        <p:nvSpPr>
          <p:cNvPr id="6" name="S10-chip13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0-eqtext135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218 × 4 = □</a:t>
            </a:r>
            <a:endParaRPr lang="ko-KR" sz="3400" dirty="0"/>
          </a:p>
        </p:txBody>
      </p:sp>
      <p:sp>
        <p:nvSpPr>
          <p:cNvPr id="8" name="S10-chip13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0-eqtext137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254 × 3 = □</a:t>
            </a:r>
            <a:endParaRPr lang="ko-KR" sz="3400" dirty="0"/>
          </a:p>
        </p:txBody>
      </p:sp>
      <p:sp>
        <p:nvSpPr>
          <p:cNvPr id="10" name="S10-chip138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0-eqtext139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473 × 5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나눈 것은?</a:t>
            </a:r>
            <a:endParaRPr lang="ko-KR" sz="4000" dirty="0"/>
          </a:p>
        </p:txBody>
      </p:sp>
      <p:sp>
        <p:nvSpPr>
          <p:cNvPr id="3" name="S12-text1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236 × 3을 자리별로 나누어 계산하려고 해요.</a:t>
            </a:r>
            <a:endParaRPr lang="ko-KR" sz="3000" dirty="0"/>
          </a:p>
        </p:txBody>
      </p:sp>
      <p:sp>
        <p:nvSpPr>
          <p:cNvPr id="4" name="S12-card1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1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나눈 것을 고르고, 236 × 3을 구해요.</a:t>
            </a:r>
            <a:endParaRPr lang="ko-KR" sz="3000" dirty="0"/>
          </a:p>
        </p:txBody>
      </p:sp>
      <p:sp>
        <p:nvSpPr>
          <p:cNvPr id="6" name="S12-chip143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2-bigtext144"/>
          <p:cNvSpPr txBox="1"/>
          <p:nvPr/>
        </p:nvSpPr>
        <p:spPr>
          <a:xfrm>
            <a:off x="548640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 × 3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+ 30 × 3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+ 6 × 3</a:t>
            </a:r>
            <a:endParaRPr lang="ko-KR" sz="2800" dirty="0"/>
          </a:p>
        </p:txBody>
      </p:sp>
      <p:sp>
        <p:nvSpPr>
          <p:cNvPr id="8" name="S12-chip145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2-bigtext146"/>
          <p:cNvSpPr txBox="1"/>
          <p:nvPr/>
        </p:nvSpPr>
        <p:spPr>
          <a:xfrm>
            <a:off x="4367784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 × 3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+ 30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+ 6 × 3</a:t>
            </a:r>
            <a:endParaRPr lang="ko-KR" sz="2800" dirty="0"/>
          </a:p>
        </p:txBody>
      </p:sp>
      <p:sp>
        <p:nvSpPr>
          <p:cNvPr id="10" name="S12-chip147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1" name="S12-bigtext148"/>
          <p:cNvSpPr txBox="1"/>
          <p:nvPr/>
        </p:nvSpPr>
        <p:spPr>
          <a:xfrm>
            <a:off x="8186928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3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+ 3 × 3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+ 6 × 3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4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5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백·십·일의 자리를 차례로 곱하고, 올린 수를 더해요.</a:t>
            </a:r>
            <a:endParaRPr lang="ko-KR" sz="3000" dirty="0"/>
          </a:p>
        </p:txBody>
      </p:sp>
      <p:sp>
        <p:nvSpPr>
          <p:cNvPr id="5" name="S13-chip151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올린 수는 바로 윗자리에</a:t>
            </a:r>
            <a:endParaRPr lang="ko-KR" sz="2400" dirty="0"/>
          </a:p>
        </p:txBody>
      </p:sp>
      <p:sp>
        <p:nvSpPr>
          <p:cNvPr id="6" name="S13-chip152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올린 수 빠뜨리기</a:t>
            </a:r>
            <a:endParaRPr lang="ko-KR" sz="2400" dirty="0"/>
          </a:p>
        </p:txBody>
      </p:sp>
      <p:sp>
        <p:nvSpPr>
          <p:cNvPr id="7" name="S13-text153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eqtext154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142 × 2 = □</a:t>
            </a:r>
            <a:endParaRPr lang="ko-KR" sz="2800" dirty="0"/>
          </a:p>
        </p:txBody>
      </p:sp>
      <p:sp>
        <p:nvSpPr>
          <p:cNvPr id="9" name="S13-eqtext155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326 × 3 = □</a:t>
            </a:r>
            <a:endParaRPr lang="ko-KR" sz="2800" dirty="0"/>
          </a:p>
        </p:txBody>
      </p:sp>
      <p:sp>
        <p:nvSpPr>
          <p:cNvPr id="10" name="S13-eqtext156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258 × 4 = □</a:t>
            </a:r>
            <a:endParaRPr lang="ko-KR" sz="2800" dirty="0"/>
          </a:p>
        </p:txBody>
      </p:sp>
      <p:sp>
        <p:nvSpPr>
          <p:cNvPr id="11" name="S13-text15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(두 자리 수)×(두 자리 수)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두 자리 수 곱셈</a:t>
            </a:r>
            <a:endParaRPr lang="ko-KR" sz="4000" dirty="0"/>
          </a:p>
        </p:txBody>
      </p:sp>
      <p:sp>
        <p:nvSpPr>
          <p:cNvPr id="3" name="S14-text15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 × 6을 세로셈으로 다시 해요.</a:t>
            </a:r>
            <a:endParaRPr lang="ko-KR" sz="3000" dirty="0"/>
          </a:p>
        </p:txBody>
      </p:sp>
      <p:sp>
        <p:nvSpPr>
          <p:cNvPr id="4" name="S14-card1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올린 수는 곱한 다음에 더해요.</a:t>
            </a:r>
            <a:endParaRPr lang="ko-KR" sz="3000" dirty="0"/>
          </a:p>
        </p:txBody>
      </p:sp>
      <p:graphicFrame>
        <p:nvGraphicFramePr>
          <p:cNvPr id="14" name="S14-table1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3450" y="2089785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14-stepno162"/>
          <p:cNvSpPr txBox="1"/>
          <p:nvPr/>
        </p:nvSpPr>
        <p:spPr>
          <a:xfrm>
            <a:off x="548640" y="24338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4-text163"/>
          <p:cNvSpPr txBox="1"/>
          <p:nvPr/>
        </p:nvSpPr>
        <p:spPr>
          <a:xfrm>
            <a:off x="1325880" y="2388108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7 × 6 = 42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2를 쓰고 4를 올려요.</a:t>
            </a:r>
            <a:endParaRPr lang="ko-KR" sz="3000" dirty="0"/>
          </a:p>
        </p:txBody>
      </p:sp>
      <p:sp>
        <p:nvSpPr>
          <p:cNvPr id="9" name="S14-stepno164"/>
          <p:cNvSpPr txBox="1"/>
          <p:nvPr/>
        </p:nvSpPr>
        <p:spPr>
          <a:xfrm>
            <a:off x="548640" y="34823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4-text165"/>
          <p:cNvSpPr txBox="1"/>
          <p:nvPr/>
        </p:nvSpPr>
        <p:spPr>
          <a:xfrm>
            <a:off x="1325880" y="3482340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4 × 6 + 4 = 28</a:t>
            </a:r>
            <a:endParaRPr lang="ko-KR" sz="3000" dirty="0"/>
          </a:p>
        </p:txBody>
      </p:sp>
      <p:sp>
        <p:nvSpPr>
          <p:cNvPr id="11" name="S14-stepno166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4-text167"/>
          <p:cNvSpPr txBox="1"/>
          <p:nvPr/>
        </p:nvSpPr>
        <p:spPr>
          <a:xfrm>
            <a:off x="1325880" y="419557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 × 6 = 282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(세 자리 수)×(한 자리 수)</dc:title>
  <dc:subject>KR22-G03-MAT-MUL3X1-L01</dc:subject>
  <dc:creator>education-ppt</dc:creator>
  <cp:lastModifiedBy>education-ppt</cp:lastModifiedBy>
  <cp:revision>1</cp:revision>
  <dcterms:created xsi:type="dcterms:W3CDTF">2026-10-26T07:47:56Z</dcterms:created>
  <dcterms:modified xsi:type="dcterms:W3CDTF">2026-10-26T07:47:56Z</dcterms:modified>
</cp:coreProperties>
</file>