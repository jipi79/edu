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714b76f7-21e6-74d9-173e-c949f7b32e33}">
          <p14:sldIdLst>
            <p14:sldId id="256"/>
            <p14:sldId id="257"/>
          </p14:sldIdLst>
        </p14:section>
        <p14:section name="개념" id="{d5e34a0b-7477-eaf8-9b89-fd4272359e7e}">
          <p14:sldIdLst>
            <p14:sldId id="258"/>
            <p14:sldId id="259"/>
            <p14:sldId id="260"/>
            <p14:sldId id="261"/>
            <p14:sldId id="263"/>
          </p14:sldIdLst>
        </p14:section>
        <p14:section name="연습" id="{05830f17-f152-cd6f-50c3-0c1b0ce4c43a}">
          <p14:sldIdLst>
            <p14:sldId id="262"/>
            <p14:sldId id="264"/>
            <p14:sldId id="265"/>
          </p14:sldIdLst>
        </p14:section>
        <p14:section name="개념" id="{2ad2c93e-6b5b-8671-8cc1-27b30a963cfe}">
          <p14:sldIdLst/>
        </p14:section>
        <p14:section name="연습" id="{bfde1d69-c96f-4c91-ca7a-5d1090b9fbcf}">
          <p14:sldIdLst/>
        </p14:section>
        <p14:section name="확인" id="{ca69f4fd-1dbc-fe0b-ee22-931ff4964571}">
          <p14:sldIdLst>
            <p14:sldId id="266"/>
            <p14:sldId id="267"/>
          </p14:sldIdLst>
        </p14:section>
        <p14:section name="정리" id="{f2dc2cc2-81d6-5a81-c8f2-dc5db88e3e1a}">
          <p14:sldIdLst>
            <p14:sldId id="268"/>
          </p14:sldIdLst>
        </p14:section>
        <p14:section name="보충" id="{28fbe94c-17b1-239a-e791-b7ea42ce8e6f}">
          <p14:sldIdLst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0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30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초3 수학 · 자연수계산 · 2차시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초3 수학 · 세 자리 수의 뺄셈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초3 수학 · 세 자리 수의 뺄셈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초3 수학 · 세 자리 수의 뺄셈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 자리 수의 뺄셈</a:t>
            </a:r>
            <a:endParaRPr lang="ko-KR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30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여러 자리에서 뺄 수 없으면?</a:t>
            </a:r>
            <a:endParaRPr lang="ko-KR" sz="3000" dirty="0"/>
          </a:p>
        </p:txBody>
      </p:sp>
      <p:graphicFrame>
        <p:nvGraphicFramePr>
          <p:cNvPr id="2" name="S01-table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26680" y="1000760"/>
          <a:ext cx="3840480" cy="914400"/>
        </p:xfrm>
        <a:graphic>
          <a:graphicData uri="http://schemas.openxmlformats.org/drawingml/2006/table">
            <a:tbl>
              <a:tblPr/>
              <a:tblGrid>
                <a:gridCol w="960120"/>
                <a:gridCol w="960120"/>
                <a:gridCol w="960120"/>
                <a:gridCol w="960120"/>
              </a:tblGrid>
              <a:tr h="55118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백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십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일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55118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5118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−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5118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□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□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□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01-card2"/>
          <p:cNvSpPr/>
          <p:nvPr/>
        </p:nvSpPr>
        <p:spPr>
          <a:xfrm>
            <a:off x="731520" y="4436364"/>
            <a:ext cx="10725912" cy="1690116"/>
          </a:xfrm>
          <a:prstGeom prst="roundRect">
            <a:avLst>
              <a:gd name="adj" fmla="val 6492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6" name="S01-cardtext3"/>
          <p:cNvSpPr txBox="1"/>
          <p:nvPr/>
        </p:nvSpPr>
        <p:spPr>
          <a:xfrm>
            <a:off x="1005840" y="4573524"/>
            <a:ext cx="10177272" cy="1415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받아내림이 있는 뺄셈을 세로셈으로 해요.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덧셈으로 답이 맞는지 확인해요.</a:t>
            </a:r>
            <a:endParaRPr lang="ko-KR" sz="3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지난 시간 기억하기</a:t>
            </a:r>
            <a:endParaRPr lang="ko-KR" sz="4000" dirty="0"/>
          </a:p>
        </p:txBody>
      </p:sp>
      <p:sp>
        <p:nvSpPr>
          <p:cNvPr id="3" name="S02-chip4"/>
          <p:cNvSpPr txBox="1"/>
          <p:nvPr/>
        </p:nvSpPr>
        <p:spPr>
          <a:xfrm>
            <a:off x="548640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4" name="S02-eqtext5"/>
          <p:cNvSpPr txBox="1"/>
          <p:nvPr/>
        </p:nvSpPr>
        <p:spPr>
          <a:xfrm>
            <a:off x="1344168" y="132588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52 − 27 = □</a:t>
            </a:r>
            <a:endParaRPr lang="ko-KR" sz="3400" dirty="0"/>
          </a:p>
        </p:txBody>
      </p:sp>
      <p:sp>
        <p:nvSpPr>
          <p:cNvPr id="5" name="S02-chip6"/>
          <p:cNvSpPr txBox="1"/>
          <p:nvPr/>
        </p:nvSpPr>
        <p:spPr>
          <a:xfrm>
            <a:off x="548640" y="34655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6" name="S02-text7"/>
          <p:cNvSpPr txBox="1"/>
          <p:nvPr/>
        </p:nvSpPr>
        <p:spPr>
          <a:xfrm>
            <a:off x="1344168" y="301752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백 모형 1개는 십 모형 몇 개?</a:t>
            </a:r>
            <a:endParaRPr lang="ko-KR" sz="3000" dirty="0"/>
          </a:p>
        </p:txBody>
      </p:sp>
      <p:sp>
        <p:nvSpPr>
          <p:cNvPr id="7" name="S02-chip8"/>
          <p:cNvSpPr txBox="1"/>
          <p:nvPr/>
        </p:nvSpPr>
        <p:spPr>
          <a:xfrm>
            <a:off x="548640" y="51572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8" name="S02-eqtext9"/>
          <p:cNvSpPr txBox="1"/>
          <p:nvPr/>
        </p:nvSpPr>
        <p:spPr>
          <a:xfrm>
            <a:off x="1344168" y="470916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25 + 27 = □</a:t>
            </a:r>
            <a:endParaRPr lang="ko-KR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십 모형 1개를 일 모형 10개로</a:t>
            </a:r>
            <a:endParaRPr lang="ko-KR" sz="4000" dirty="0"/>
          </a:p>
        </p:txBody>
      </p:sp>
      <p:sp>
        <p:nvSpPr>
          <p:cNvPr id="3" name="S03-text10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352 − 127을 수 모형의 개수로 나타냈어요.</a:t>
            </a:r>
            <a:endParaRPr lang="ko-KR" sz="3000" dirty="0"/>
          </a:p>
        </p:txBody>
      </p:sp>
      <p:sp>
        <p:nvSpPr>
          <p:cNvPr id="4" name="S03-card11"/>
          <p:cNvSpPr/>
          <p:nvPr/>
        </p:nvSpPr>
        <p:spPr>
          <a:xfrm>
            <a:off x="548640" y="4975860"/>
            <a:ext cx="11091672" cy="1242060"/>
          </a:xfrm>
          <a:prstGeom prst="roundRect">
            <a:avLst>
              <a:gd name="adj" fmla="val 8834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3-cardtext12"/>
          <p:cNvSpPr txBox="1"/>
          <p:nvPr/>
        </p:nvSpPr>
        <p:spPr>
          <a:xfrm>
            <a:off x="822960" y="5113020"/>
            <a:ext cx="10543032" cy="967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352 − 127 = 225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십 모형 1개를 일 모형 10개로 바꾸어 빼요.</a:t>
            </a:r>
            <a:endParaRPr lang="ko-KR" sz="3000" dirty="0"/>
          </a:p>
        </p:txBody>
      </p:sp>
      <p:graphicFrame>
        <p:nvGraphicFramePr>
          <p:cNvPr id="4" name="S03-table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162556" y="2355850"/>
          <a:ext cx="7863840" cy="914400"/>
        </p:xfrm>
        <a:graphic>
          <a:graphicData uri="http://schemas.openxmlformats.org/drawingml/2006/table">
            <a:tbl>
              <a:tblPr/>
              <a:tblGrid>
                <a:gridCol w="2437790"/>
                <a:gridCol w="1808683"/>
                <a:gridCol w="1808683"/>
                <a:gridCol w="1808683"/>
              </a:tblGrid>
              <a:tr h="51181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백 모형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십 모형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일 모형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51181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352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3개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5개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2개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181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바꾸면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3개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4개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12개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181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127을 빼면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2개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2개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5개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일의 자리로 받아내림</a:t>
            </a:r>
            <a:endParaRPr lang="ko-KR" sz="4000" dirty="0"/>
          </a:p>
        </p:txBody>
      </p:sp>
      <p:sp>
        <p:nvSpPr>
          <p:cNvPr id="3" name="S04-text14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352 − 127을 세로셈으로 해요.</a:t>
            </a:r>
            <a:endParaRPr lang="ko-KR" sz="3000" dirty="0"/>
          </a:p>
        </p:txBody>
      </p:sp>
      <p:sp>
        <p:nvSpPr>
          <p:cNvPr id="4" name="S04-card15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4-cardtext16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고친 숫자로 빼요.</a:t>
            </a:r>
            <a:endParaRPr lang="ko-KR" sz="3000" dirty="0"/>
          </a:p>
        </p:txBody>
      </p:sp>
      <p:graphicFrame>
        <p:nvGraphicFramePr>
          <p:cNvPr id="5" name="S04-table1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483450" y="2089785"/>
          <a:ext cx="402336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1005840"/>
                <a:gridCol w="1005840"/>
                <a:gridCol w="1005840"/>
              </a:tblGrid>
              <a:tr h="59055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백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십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일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10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−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04-stepno18"/>
          <p:cNvSpPr txBox="1"/>
          <p:nvPr/>
        </p:nvSpPr>
        <p:spPr>
          <a:xfrm>
            <a:off x="548640" y="2026920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8" name="S04-text19"/>
          <p:cNvSpPr txBox="1"/>
          <p:nvPr/>
        </p:nvSpPr>
        <p:spPr>
          <a:xfrm>
            <a:off x="1325880" y="2026920"/>
            <a:ext cx="565830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일: 2에서 7을 뺄 수 없어요.</a:t>
            </a:r>
            <a:endParaRPr lang="ko-KR" sz="2400" dirty="0"/>
          </a:p>
        </p:txBody>
      </p:sp>
      <p:sp>
        <p:nvSpPr>
          <p:cNvPr id="9" name="S04-stepno20"/>
          <p:cNvSpPr txBox="1"/>
          <p:nvPr/>
        </p:nvSpPr>
        <p:spPr>
          <a:xfrm>
            <a:off x="548640" y="278587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10" name="S04-text21"/>
          <p:cNvSpPr txBox="1"/>
          <p:nvPr/>
        </p:nvSpPr>
        <p:spPr>
          <a:xfrm>
            <a:off x="1325880" y="2740152"/>
            <a:ext cx="5658307" cy="743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5를 4로 고치고,</a:t>
            </a:r>
            <a:endParaRPr lang="ko-KR" sz="2400" dirty="0"/>
          </a:p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 위에 10을 써요.</a:t>
            </a:r>
            <a:endParaRPr lang="ko-KR" sz="2400" dirty="0"/>
          </a:p>
        </p:txBody>
      </p:sp>
      <p:sp>
        <p:nvSpPr>
          <p:cNvPr id="11" name="S04-stepno22"/>
          <p:cNvSpPr txBox="1"/>
          <p:nvPr/>
        </p:nvSpPr>
        <p:spPr>
          <a:xfrm>
            <a:off x="548640" y="369417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12" name="S04-text23"/>
          <p:cNvSpPr txBox="1"/>
          <p:nvPr/>
        </p:nvSpPr>
        <p:spPr>
          <a:xfrm>
            <a:off x="1325880" y="3648456"/>
            <a:ext cx="5658307" cy="743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일: 12 − 7 = 5</a:t>
            </a:r>
            <a:endParaRPr lang="ko-KR" sz="2400" dirty="0"/>
          </a:p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십: 4 − 2 = 2</a:t>
            </a:r>
            <a:endParaRPr lang="ko-KR" sz="2400" dirty="0"/>
          </a:p>
        </p:txBody>
      </p:sp>
      <p:sp>
        <p:nvSpPr>
          <p:cNvPr id="13" name="S04-stepno24"/>
          <p:cNvSpPr txBox="1"/>
          <p:nvPr/>
        </p:nvSpPr>
        <p:spPr>
          <a:xfrm>
            <a:off x="548640" y="4556760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400" dirty="0"/>
          </a:p>
        </p:txBody>
      </p:sp>
      <p:sp>
        <p:nvSpPr>
          <p:cNvPr id="14" name="S04-text25"/>
          <p:cNvSpPr txBox="1"/>
          <p:nvPr/>
        </p:nvSpPr>
        <p:spPr>
          <a:xfrm>
            <a:off x="1325880" y="4556760"/>
            <a:ext cx="565830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백: 3 − 1 = 2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십의 자리로 받아내림</a:t>
            </a:r>
            <a:endParaRPr lang="ko-KR" sz="4000" dirty="0"/>
          </a:p>
        </p:txBody>
      </p:sp>
      <p:sp>
        <p:nvSpPr>
          <p:cNvPr id="3" name="S05-text26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528 − 263을 세로셈으로 해요.</a:t>
            </a:r>
            <a:endParaRPr lang="ko-KR" sz="3000" dirty="0"/>
          </a:p>
        </p:txBody>
      </p:sp>
      <p:sp>
        <p:nvSpPr>
          <p:cNvPr id="4" name="S05-card27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5-cardtext28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백 모형 1개는 십 모형 10개예요.</a:t>
            </a:r>
            <a:endParaRPr lang="ko-KR" sz="3000" dirty="0"/>
          </a:p>
        </p:txBody>
      </p:sp>
      <p:graphicFrame>
        <p:nvGraphicFramePr>
          <p:cNvPr id="6" name="S05-table2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483450" y="2089785"/>
          <a:ext cx="402336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1005840"/>
                <a:gridCol w="1005840"/>
                <a:gridCol w="1005840"/>
              </a:tblGrid>
              <a:tr h="59055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백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십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일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10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−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05-stepno30"/>
          <p:cNvSpPr txBox="1"/>
          <p:nvPr/>
        </p:nvSpPr>
        <p:spPr>
          <a:xfrm>
            <a:off x="548640" y="203149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8" name="S05-text31"/>
          <p:cNvSpPr txBox="1"/>
          <p:nvPr/>
        </p:nvSpPr>
        <p:spPr>
          <a:xfrm>
            <a:off x="1325880" y="2031492"/>
            <a:ext cx="565830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일: 8 − 3 = 5</a:t>
            </a:r>
            <a:endParaRPr lang="ko-KR" sz="3000" dirty="0"/>
          </a:p>
        </p:txBody>
      </p:sp>
      <p:sp>
        <p:nvSpPr>
          <p:cNvPr id="9" name="S05-stepno32"/>
          <p:cNvSpPr txBox="1"/>
          <p:nvPr/>
        </p:nvSpPr>
        <p:spPr>
          <a:xfrm>
            <a:off x="548640" y="2790444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10" name="S05-text33"/>
          <p:cNvSpPr txBox="1"/>
          <p:nvPr/>
        </p:nvSpPr>
        <p:spPr>
          <a:xfrm>
            <a:off x="1325880" y="2744724"/>
            <a:ext cx="5658307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십: 2에서 6을 뺄 수 없어요.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백 1개를 십 10개로 바꿔요.</a:t>
            </a:r>
            <a:endParaRPr lang="ko-KR" sz="3000" dirty="0"/>
          </a:p>
        </p:txBody>
      </p:sp>
      <p:sp>
        <p:nvSpPr>
          <p:cNvPr id="11" name="S05-stepno34"/>
          <p:cNvSpPr txBox="1"/>
          <p:nvPr/>
        </p:nvSpPr>
        <p:spPr>
          <a:xfrm>
            <a:off x="548640" y="383895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12" name="S05-text35"/>
          <p:cNvSpPr txBox="1"/>
          <p:nvPr/>
        </p:nvSpPr>
        <p:spPr>
          <a:xfrm>
            <a:off x="1325880" y="3838956"/>
            <a:ext cx="565830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십: 12 − 6 = 6</a:t>
            </a:r>
            <a:endParaRPr lang="ko-KR" sz="3000" dirty="0"/>
          </a:p>
        </p:txBody>
      </p:sp>
      <p:sp>
        <p:nvSpPr>
          <p:cNvPr id="13" name="S05-stepno36"/>
          <p:cNvSpPr txBox="1"/>
          <p:nvPr/>
        </p:nvSpPr>
        <p:spPr>
          <a:xfrm>
            <a:off x="548640" y="455218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400" dirty="0"/>
          </a:p>
        </p:txBody>
      </p:sp>
      <p:sp>
        <p:nvSpPr>
          <p:cNvPr id="14" name="S05-text37"/>
          <p:cNvSpPr txBox="1"/>
          <p:nvPr/>
        </p:nvSpPr>
        <p:spPr>
          <a:xfrm>
            <a:off x="1325880" y="4552188"/>
            <a:ext cx="565830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백: 4 − 2 = 2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받아내림이 두 번</a:t>
            </a:r>
            <a:endParaRPr lang="ko-KR" sz="4000" dirty="0"/>
          </a:p>
        </p:txBody>
      </p:sp>
      <p:sp>
        <p:nvSpPr>
          <p:cNvPr id="3" name="S06-text38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423 − 156을 세로셈으로 해요.</a:t>
            </a:r>
            <a:endParaRPr lang="ko-KR" sz="3000" dirty="0"/>
          </a:p>
        </p:txBody>
      </p:sp>
      <p:sp>
        <p:nvSpPr>
          <p:cNvPr id="4" name="S06-card39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6-cardtext40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뺄 수 없으면 바로 윗자리에서 받아내려요.</a:t>
            </a:r>
            <a:endParaRPr lang="ko-KR" sz="3000" dirty="0"/>
          </a:p>
        </p:txBody>
      </p:sp>
      <p:graphicFrame>
        <p:nvGraphicFramePr>
          <p:cNvPr id="7" name="S06-table4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483450" y="2030730"/>
          <a:ext cx="402336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1005840"/>
                <a:gridCol w="1005840"/>
                <a:gridCol w="1005840"/>
              </a:tblGrid>
              <a:tr h="51181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백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십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일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51181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10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181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10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181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181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−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181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06-stepno42"/>
          <p:cNvSpPr txBox="1"/>
          <p:nvPr/>
        </p:nvSpPr>
        <p:spPr>
          <a:xfrm>
            <a:off x="548640" y="224332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8" name="S06-text43"/>
          <p:cNvSpPr txBox="1"/>
          <p:nvPr/>
        </p:nvSpPr>
        <p:spPr>
          <a:xfrm>
            <a:off x="1325880" y="2197608"/>
            <a:ext cx="5658307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일: 십에서 받아내려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13 − 6 = 7</a:t>
            </a:r>
            <a:endParaRPr lang="ko-KR" sz="3000" dirty="0"/>
          </a:p>
        </p:txBody>
      </p:sp>
      <p:sp>
        <p:nvSpPr>
          <p:cNvPr id="9" name="S06-stepno44"/>
          <p:cNvSpPr txBox="1"/>
          <p:nvPr/>
        </p:nvSpPr>
        <p:spPr>
          <a:xfrm>
            <a:off x="548640" y="3337560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10" name="S06-text45"/>
          <p:cNvSpPr txBox="1"/>
          <p:nvPr/>
        </p:nvSpPr>
        <p:spPr>
          <a:xfrm>
            <a:off x="1325880" y="3291840"/>
            <a:ext cx="5658307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십: 1에서 5를 뺄 수 없어요.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백에서 받아내려 11 − 5 = 6</a:t>
            </a:r>
            <a:endParaRPr lang="ko-KR" sz="3000" dirty="0"/>
          </a:p>
        </p:txBody>
      </p:sp>
      <p:sp>
        <p:nvSpPr>
          <p:cNvPr id="11" name="S06-stepno46"/>
          <p:cNvSpPr txBox="1"/>
          <p:nvPr/>
        </p:nvSpPr>
        <p:spPr>
          <a:xfrm>
            <a:off x="548640" y="438607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12" name="S06-text47"/>
          <p:cNvSpPr txBox="1"/>
          <p:nvPr/>
        </p:nvSpPr>
        <p:spPr>
          <a:xfrm>
            <a:off x="1325880" y="4386072"/>
            <a:ext cx="565830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백: 3 − 1 = 2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세로셈 해 보기</a:t>
            </a:r>
            <a:endParaRPr lang="ko-KR" sz="4000" dirty="0"/>
          </a:p>
        </p:txBody>
      </p:sp>
      <p:sp>
        <p:nvSpPr>
          <p:cNvPr id="3" name="S07-card48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4" name="S07-cardtext49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뺄 수 없으면 윗자리 숫자를 1 작게 고쳐요.</a:t>
            </a:r>
            <a:endParaRPr lang="ko-KR" sz="3000" dirty="0"/>
          </a:p>
        </p:txBody>
      </p:sp>
      <p:sp>
        <p:nvSpPr>
          <p:cNvPr id="5" name="S07-card50"/>
          <p:cNvSpPr/>
          <p:nvPr/>
        </p:nvSpPr>
        <p:spPr>
          <a:xfrm>
            <a:off x="6277356" y="1325880"/>
            <a:ext cx="5362956" cy="3794760"/>
          </a:xfrm>
          <a:prstGeom prst="roundRect">
            <a:avLst>
              <a:gd name="adj" fmla="val 289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07-cardtext51"/>
          <p:cNvSpPr txBox="1"/>
          <p:nvPr/>
        </p:nvSpPr>
        <p:spPr>
          <a:xfrm>
            <a:off x="6551676" y="1463040"/>
            <a:ext cx="4814316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③을 세로셈으로 해요</a:t>
            </a:r>
            <a:endParaRPr lang="ko-KR" sz="3000" dirty="0"/>
          </a:p>
        </p:txBody>
      </p:sp>
      <p:graphicFrame>
        <p:nvGraphicFramePr>
          <p:cNvPr id="8" name="S07-table5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947154" y="2057400"/>
          <a:ext cx="402336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1005840"/>
                <a:gridCol w="1005840"/>
                <a:gridCol w="1005840"/>
              </a:tblGrid>
              <a:tr h="47244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백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십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일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□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□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□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□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−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□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□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□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07-chip53"/>
          <p:cNvSpPr txBox="1"/>
          <p:nvPr/>
        </p:nvSpPr>
        <p:spPr>
          <a:xfrm>
            <a:off x="548640" y="16139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9" name="S07-eqtext54"/>
          <p:cNvSpPr txBox="1"/>
          <p:nvPr/>
        </p:nvSpPr>
        <p:spPr>
          <a:xfrm>
            <a:off x="1344168" y="1325880"/>
            <a:ext cx="456742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463 − 128 = □</a:t>
            </a:r>
            <a:endParaRPr lang="ko-KR" sz="3400" dirty="0"/>
          </a:p>
        </p:txBody>
      </p:sp>
      <p:sp>
        <p:nvSpPr>
          <p:cNvPr id="10" name="S07-chip55"/>
          <p:cNvSpPr txBox="1"/>
          <p:nvPr/>
        </p:nvSpPr>
        <p:spPr>
          <a:xfrm>
            <a:off x="548640" y="29397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11" name="S07-eqtext56"/>
          <p:cNvSpPr txBox="1"/>
          <p:nvPr/>
        </p:nvSpPr>
        <p:spPr>
          <a:xfrm>
            <a:off x="1344168" y="2651760"/>
            <a:ext cx="456742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617 − 254 = □</a:t>
            </a:r>
            <a:endParaRPr lang="ko-KR" sz="3400" dirty="0"/>
          </a:p>
        </p:txBody>
      </p:sp>
      <p:sp>
        <p:nvSpPr>
          <p:cNvPr id="12" name="S07-chip57"/>
          <p:cNvSpPr txBox="1"/>
          <p:nvPr/>
        </p:nvSpPr>
        <p:spPr>
          <a:xfrm>
            <a:off x="548640" y="42656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13" name="S07-eqtext58"/>
          <p:cNvSpPr txBox="1"/>
          <p:nvPr/>
        </p:nvSpPr>
        <p:spPr>
          <a:xfrm>
            <a:off x="1344168" y="3977640"/>
            <a:ext cx="456742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732 − 458 = □</a:t>
            </a:r>
            <a:endParaRPr lang="ko-KR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덧셈으로 확인해요</a:t>
            </a:r>
            <a:endParaRPr lang="ko-KR" sz="4000" dirty="0"/>
          </a:p>
        </p:txBody>
      </p:sp>
      <p:sp>
        <p:nvSpPr>
          <p:cNvPr id="3" name="S08-text59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423 − 156 = 267이 맞을까요?</a:t>
            </a:r>
            <a:endParaRPr lang="ko-KR" sz="3000" dirty="0"/>
          </a:p>
        </p:txBody>
      </p:sp>
      <p:sp>
        <p:nvSpPr>
          <p:cNvPr id="4" name="S08-card60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8-cardtext61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답 + 빼는 수 = 처음 수</a:t>
            </a:r>
            <a:endParaRPr lang="ko-KR" sz="3000" dirty="0"/>
          </a:p>
        </p:txBody>
      </p:sp>
      <p:graphicFrame>
        <p:nvGraphicFramePr>
          <p:cNvPr id="9" name="S08-table6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483450" y="2089785"/>
          <a:ext cx="402336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1005840"/>
                <a:gridCol w="1005840"/>
                <a:gridCol w="1005840"/>
              </a:tblGrid>
              <a:tr h="59055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백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십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일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+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08-stepno63"/>
          <p:cNvSpPr txBox="1"/>
          <p:nvPr/>
        </p:nvSpPr>
        <p:spPr>
          <a:xfrm>
            <a:off x="548640" y="224332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8" name="S08-text64"/>
          <p:cNvSpPr txBox="1"/>
          <p:nvPr/>
        </p:nvSpPr>
        <p:spPr>
          <a:xfrm>
            <a:off x="1325880" y="2197608"/>
            <a:ext cx="5658307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답 267에 빼는 수 156을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더해 보아요.</a:t>
            </a:r>
            <a:endParaRPr lang="ko-KR" sz="3000" dirty="0"/>
          </a:p>
        </p:txBody>
      </p:sp>
      <p:sp>
        <p:nvSpPr>
          <p:cNvPr id="9" name="S08-stepno65"/>
          <p:cNvSpPr txBox="1"/>
          <p:nvPr/>
        </p:nvSpPr>
        <p:spPr>
          <a:xfrm>
            <a:off x="548640" y="3291840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10" name="S08-text66"/>
          <p:cNvSpPr txBox="1"/>
          <p:nvPr/>
        </p:nvSpPr>
        <p:spPr>
          <a:xfrm>
            <a:off x="1325880" y="3291840"/>
            <a:ext cx="565830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267 + 156 = 423</a:t>
            </a:r>
            <a:endParaRPr lang="ko-KR" sz="3000" dirty="0"/>
          </a:p>
        </p:txBody>
      </p:sp>
      <p:sp>
        <p:nvSpPr>
          <p:cNvPr id="11" name="S08-stepno67"/>
          <p:cNvSpPr txBox="1"/>
          <p:nvPr/>
        </p:nvSpPr>
        <p:spPr>
          <a:xfrm>
            <a:off x="548640" y="405079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12" name="S08-text68"/>
          <p:cNvSpPr txBox="1"/>
          <p:nvPr/>
        </p:nvSpPr>
        <p:spPr>
          <a:xfrm>
            <a:off x="1325880" y="4005072"/>
            <a:ext cx="5658307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처음 수 423이 나오면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맞게 계산한 거예요.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 맞았을까요?</a:t>
            </a:r>
            <a:endParaRPr lang="ko-KR" sz="4000" dirty="0"/>
          </a:p>
        </p:txBody>
      </p:sp>
      <p:sp>
        <p:nvSpPr>
          <p:cNvPr id="3" name="S09-card69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9-cardtext70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531 − 264를 계산했어요.</a:t>
            </a:r>
            <a:endParaRPr lang="ko-KR" sz="3000" dirty="0"/>
          </a:p>
        </p:txBody>
      </p:sp>
      <p:sp>
        <p:nvSpPr>
          <p:cNvPr id="5" name="S09-card71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09-cardtext72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덧셈으로 확인하고, 누가 맞았는지 말해요.</a:t>
            </a:r>
            <a:endParaRPr lang="ko-KR" sz="3000" dirty="0"/>
          </a:p>
        </p:txBody>
      </p:sp>
      <p:sp>
        <p:nvSpPr>
          <p:cNvPr id="7" name="S09-chip73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토끼: 333</a:t>
            </a:r>
            <a:endParaRPr lang="ko-KR" sz="2400" dirty="0"/>
          </a:p>
        </p:txBody>
      </p:sp>
      <p:sp>
        <p:nvSpPr>
          <p:cNvPr id="8" name="S09-text74"/>
          <p:cNvSpPr txBox="1"/>
          <p:nvPr/>
        </p:nvSpPr>
        <p:spPr>
          <a:xfrm>
            <a:off x="548640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4 − 1, 6 − 3, 5 − 2처럼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큰 수에서 작은 수를 뺐어요.</a:t>
            </a:r>
            <a:endParaRPr lang="ko-KR" sz="3000" dirty="0"/>
          </a:p>
        </p:txBody>
      </p:sp>
      <p:sp>
        <p:nvSpPr>
          <p:cNvPr id="9" name="S09-chip75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곰: 267</a:t>
            </a:r>
            <a:endParaRPr lang="ko-KR" sz="2400" dirty="0"/>
          </a:p>
        </p:txBody>
      </p:sp>
      <p:sp>
        <p:nvSpPr>
          <p:cNvPr id="10" name="S09-text76"/>
          <p:cNvSpPr txBox="1"/>
          <p:nvPr/>
        </p:nvSpPr>
        <p:spPr>
          <a:xfrm>
            <a:off x="6277356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받아내림을 두 번 해서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11 − 4, 12 − 6, 4 − 2를 했어요.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계산하고 확인하기</a:t>
            </a:r>
            <a:endParaRPr lang="ko-KR" sz="4000" dirty="0"/>
          </a:p>
        </p:txBody>
      </p:sp>
      <p:sp>
        <p:nvSpPr>
          <p:cNvPr id="3" name="S10-text77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계산하고, 덧셈으로 확인해요.</a:t>
            </a:r>
            <a:endParaRPr lang="ko-KR" sz="3000" dirty="0"/>
          </a:p>
        </p:txBody>
      </p:sp>
      <p:sp>
        <p:nvSpPr>
          <p:cNvPr id="4" name="S10-card78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10-cardtext79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답 + 빼는 수 = 처음 수</a:t>
            </a:r>
            <a:endParaRPr lang="ko-KR" sz="3000" dirty="0"/>
          </a:p>
        </p:txBody>
      </p:sp>
      <p:sp>
        <p:nvSpPr>
          <p:cNvPr id="6" name="S10-chip80"/>
          <p:cNvSpPr txBox="1"/>
          <p:nvPr/>
        </p:nvSpPr>
        <p:spPr>
          <a:xfrm>
            <a:off x="548640" y="21854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7" name="S10-eqtext81"/>
          <p:cNvSpPr txBox="1"/>
          <p:nvPr/>
        </p:nvSpPr>
        <p:spPr>
          <a:xfrm>
            <a:off x="1344168" y="201168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645 − 318 = □</a:t>
            </a:r>
            <a:endParaRPr lang="ko-KR" sz="3400" dirty="0"/>
          </a:p>
        </p:txBody>
      </p:sp>
      <p:sp>
        <p:nvSpPr>
          <p:cNvPr id="8" name="S10-chip82"/>
          <p:cNvSpPr txBox="1"/>
          <p:nvPr/>
        </p:nvSpPr>
        <p:spPr>
          <a:xfrm>
            <a:off x="548640" y="32826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9" name="S10-eqtext83"/>
          <p:cNvSpPr txBox="1"/>
          <p:nvPr/>
        </p:nvSpPr>
        <p:spPr>
          <a:xfrm>
            <a:off x="1344168" y="310896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826 − 571 = □</a:t>
            </a:r>
            <a:endParaRPr lang="ko-KR" sz="3400" dirty="0"/>
          </a:p>
        </p:txBody>
      </p:sp>
      <p:sp>
        <p:nvSpPr>
          <p:cNvPr id="10" name="S10-chip84"/>
          <p:cNvSpPr txBox="1"/>
          <p:nvPr/>
        </p:nvSpPr>
        <p:spPr>
          <a:xfrm>
            <a:off x="548640" y="43799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11" name="S10-text85"/>
          <p:cNvSpPr txBox="1"/>
          <p:nvPr/>
        </p:nvSpPr>
        <p:spPr>
          <a:xfrm>
            <a:off x="1344168" y="420624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374 − 185 = 199가 맞나요?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</a:t>
            </a:r>
            <a:endParaRPr lang="ko-KR" sz="4000" dirty="0"/>
          </a:p>
        </p:txBody>
      </p:sp>
      <p:sp>
        <p:nvSpPr>
          <p:cNvPr id="3" name="S11-text86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세로셈으로 풀고, ④는 덧셈으로 확인해요.</a:t>
            </a:r>
            <a:endParaRPr lang="ko-KR" sz="3000" dirty="0"/>
          </a:p>
        </p:txBody>
      </p:sp>
      <p:sp>
        <p:nvSpPr>
          <p:cNvPr id="4" name="S11-chip87"/>
          <p:cNvSpPr txBox="1"/>
          <p:nvPr/>
        </p:nvSpPr>
        <p:spPr>
          <a:xfrm>
            <a:off x="548640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5" name="S11-eqtext88"/>
          <p:cNvSpPr txBox="1"/>
          <p:nvPr/>
        </p:nvSpPr>
        <p:spPr>
          <a:xfrm>
            <a:off x="1344168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581 − 247 = □</a:t>
            </a:r>
            <a:endParaRPr lang="ko-KR" sz="3400" dirty="0"/>
          </a:p>
        </p:txBody>
      </p:sp>
      <p:sp>
        <p:nvSpPr>
          <p:cNvPr id="6" name="S11-chip89"/>
          <p:cNvSpPr txBox="1"/>
          <p:nvPr/>
        </p:nvSpPr>
        <p:spPr>
          <a:xfrm>
            <a:off x="6277356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7" name="S11-eqtext90"/>
          <p:cNvSpPr txBox="1"/>
          <p:nvPr/>
        </p:nvSpPr>
        <p:spPr>
          <a:xfrm>
            <a:off x="7072884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736 − 482 = □</a:t>
            </a:r>
            <a:endParaRPr lang="ko-KR" sz="3400" dirty="0"/>
          </a:p>
        </p:txBody>
      </p:sp>
      <p:sp>
        <p:nvSpPr>
          <p:cNvPr id="8" name="S11-chip91"/>
          <p:cNvSpPr txBox="1"/>
          <p:nvPr/>
        </p:nvSpPr>
        <p:spPr>
          <a:xfrm>
            <a:off x="548640" y="4654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9" name="S11-eqtext92"/>
          <p:cNvSpPr txBox="1"/>
          <p:nvPr/>
        </p:nvSpPr>
        <p:spPr>
          <a:xfrm>
            <a:off x="1344168" y="420624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813 − 568 = □</a:t>
            </a:r>
            <a:endParaRPr lang="ko-KR" sz="3400" dirty="0"/>
          </a:p>
        </p:txBody>
      </p:sp>
      <p:sp>
        <p:nvSpPr>
          <p:cNvPr id="10" name="S11-chip93"/>
          <p:cNvSpPr txBox="1"/>
          <p:nvPr/>
        </p:nvSpPr>
        <p:spPr>
          <a:xfrm>
            <a:off x="6277356" y="4654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400" dirty="0"/>
          </a:p>
        </p:txBody>
      </p:sp>
      <p:sp>
        <p:nvSpPr>
          <p:cNvPr id="11" name="S11-text94"/>
          <p:cNvSpPr txBox="1"/>
          <p:nvPr/>
        </p:nvSpPr>
        <p:spPr>
          <a:xfrm>
            <a:off x="7072884" y="420624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652 − 375 = 277이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맞나요?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맞게 계산한 것은?</a:t>
            </a:r>
            <a:endParaRPr lang="ko-KR" sz="4000" dirty="0"/>
          </a:p>
        </p:txBody>
      </p:sp>
      <p:sp>
        <p:nvSpPr>
          <p:cNvPr id="3" name="S13-text95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524 − 286을 계산했어요.</a:t>
            </a:r>
            <a:endParaRPr lang="ko-KR" sz="3000" dirty="0"/>
          </a:p>
        </p:txBody>
      </p:sp>
      <p:sp>
        <p:nvSpPr>
          <p:cNvPr id="4" name="S13-card96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13-cardtext97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덧셈으로 확인해 맞는 답을 고르고, 까닭을 말해요.</a:t>
            </a:r>
            <a:endParaRPr lang="ko-KR" sz="3000" dirty="0"/>
          </a:p>
        </p:txBody>
      </p:sp>
      <p:sp>
        <p:nvSpPr>
          <p:cNvPr id="6" name="S13-chip98"/>
          <p:cNvSpPr txBox="1"/>
          <p:nvPr/>
        </p:nvSpPr>
        <p:spPr>
          <a:xfrm>
            <a:off x="1991868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3000" dirty="0"/>
          </a:p>
        </p:txBody>
      </p:sp>
      <p:sp>
        <p:nvSpPr>
          <p:cNvPr id="7" name="S13-bigtext99"/>
          <p:cNvSpPr txBox="1"/>
          <p:nvPr/>
        </p:nvSpPr>
        <p:spPr>
          <a:xfrm>
            <a:off x="548640" y="2715768"/>
            <a:ext cx="3453384" cy="2404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238</a:t>
            </a:r>
            <a:endParaRPr lang="ko-KR" sz="4800" dirty="0"/>
          </a:p>
        </p:txBody>
      </p:sp>
      <p:sp>
        <p:nvSpPr>
          <p:cNvPr id="8" name="S13-chip100"/>
          <p:cNvSpPr txBox="1"/>
          <p:nvPr/>
        </p:nvSpPr>
        <p:spPr>
          <a:xfrm>
            <a:off x="5811012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3000" dirty="0"/>
          </a:p>
        </p:txBody>
      </p:sp>
      <p:sp>
        <p:nvSpPr>
          <p:cNvPr id="9" name="S13-bigtext101"/>
          <p:cNvSpPr txBox="1"/>
          <p:nvPr/>
        </p:nvSpPr>
        <p:spPr>
          <a:xfrm>
            <a:off x="4367784" y="2715768"/>
            <a:ext cx="3453384" cy="2404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362</a:t>
            </a:r>
            <a:endParaRPr lang="ko-KR" sz="4800" dirty="0"/>
          </a:p>
        </p:txBody>
      </p:sp>
      <p:sp>
        <p:nvSpPr>
          <p:cNvPr id="10" name="S13-chip102"/>
          <p:cNvSpPr txBox="1"/>
          <p:nvPr/>
        </p:nvSpPr>
        <p:spPr>
          <a:xfrm>
            <a:off x="9630156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</a:t>
            </a:r>
            <a:endParaRPr lang="ko-KR" sz="3000" dirty="0"/>
          </a:p>
        </p:txBody>
      </p:sp>
      <p:sp>
        <p:nvSpPr>
          <p:cNvPr id="11" name="S13-bigtext103"/>
          <p:cNvSpPr txBox="1"/>
          <p:nvPr/>
        </p:nvSpPr>
        <p:spPr>
          <a:xfrm>
            <a:off x="8186928" y="2715768"/>
            <a:ext cx="3453384" cy="2404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348</a:t>
            </a:r>
            <a:endParaRPr lang="ko-KR" sz="4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000" dirty="0"/>
          </a:p>
        </p:txBody>
      </p:sp>
      <p:sp>
        <p:nvSpPr>
          <p:cNvPr id="3" name="S14-card104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4-cardtext105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뺄 수 없으면 윗자리에서 10을 받아내려요.</a:t>
            </a:r>
            <a:endParaRPr lang="ko-KR" sz="3000" dirty="0"/>
          </a:p>
        </p:txBody>
      </p:sp>
      <p:sp>
        <p:nvSpPr>
          <p:cNvPr id="5" name="S14-chip106"/>
          <p:cNvSpPr txBox="1"/>
          <p:nvPr/>
        </p:nvSpPr>
        <p:spPr>
          <a:xfrm>
            <a:off x="548640" y="242316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덧셈으로 답 확인하기</a:t>
            </a:r>
            <a:endParaRPr lang="ko-KR" sz="2400" dirty="0"/>
          </a:p>
        </p:txBody>
      </p:sp>
      <p:sp>
        <p:nvSpPr>
          <p:cNvPr id="6" name="S14-chip107"/>
          <p:cNvSpPr txBox="1"/>
          <p:nvPr/>
        </p:nvSpPr>
        <p:spPr>
          <a:xfrm>
            <a:off x="6208776" y="242316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자리마다 큰 수에서 작은 수 빼기</a:t>
            </a:r>
            <a:endParaRPr lang="ko-KR" sz="2400" dirty="0"/>
          </a:p>
        </p:txBody>
      </p:sp>
      <p:sp>
        <p:nvSpPr>
          <p:cNvPr id="7" name="S14-text108"/>
          <p:cNvSpPr txBox="1"/>
          <p:nvPr/>
        </p:nvSpPr>
        <p:spPr>
          <a:xfrm>
            <a:off x="548640" y="324612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400" dirty="0"/>
          </a:p>
        </p:txBody>
      </p:sp>
      <p:sp>
        <p:nvSpPr>
          <p:cNvPr id="8" name="S14-eqtext109"/>
          <p:cNvSpPr txBox="1"/>
          <p:nvPr/>
        </p:nvSpPr>
        <p:spPr>
          <a:xfrm>
            <a:off x="548640" y="3749040"/>
            <a:ext cx="3544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562 − 237 = □</a:t>
            </a:r>
            <a:endParaRPr lang="ko-KR" sz="2800" dirty="0"/>
          </a:p>
        </p:txBody>
      </p:sp>
      <p:sp>
        <p:nvSpPr>
          <p:cNvPr id="9" name="S14-eqtext110"/>
          <p:cNvSpPr txBox="1"/>
          <p:nvPr/>
        </p:nvSpPr>
        <p:spPr>
          <a:xfrm>
            <a:off x="4322064" y="3749040"/>
            <a:ext cx="3544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718 − 453 = □</a:t>
            </a:r>
            <a:endParaRPr lang="ko-KR" sz="2800" dirty="0"/>
          </a:p>
        </p:txBody>
      </p:sp>
      <p:sp>
        <p:nvSpPr>
          <p:cNvPr id="10" name="S14-eqtext111"/>
          <p:cNvSpPr txBox="1"/>
          <p:nvPr/>
        </p:nvSpPr>
        <p:spPr>
          <a:xfrm>
            <a:off x="8095488" y="3749040"/>
            <a:ext cx="3544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641 − 275 = □</a:t>
            </a:r>
            <a:endParaRPr lang="ko-KR" sz="2800" dirty="0"/>
          </a:p>
        </p:txBody>
      </p:sp>
      <p:sp>
        <p:nvSpPr>
          <p:cNvPr id="11" name="S14-text112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나눗셈의 뜻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두 자리 수 뺄셈</a:t>
            </a:r>
            <a:endParaRPr lang="ko-KR" sz="4000" dirty="0"/>
          </a:p>
        </p:txBody>
      </p:sp>
      <p:sp>
        <p:nvSpPr>
          <p:cNvPr id="3" name="S15-text113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52 − 27을 세로셈으로 다시 해요.</a:t>
            </a:r>
            <a:endParaRPr lang="ko-KR" sz="3000" dirty="0"/>
          </a:p>
        </p:txBody>
      </p:sp>
      <p:sp>
        <p:nvSpPr>
          <p:cNvPr id="4" name="S15-card114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15-cardtext115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십 1개를 일 10개로 바꿔요.</a:t>
            </a:r>
            <a:endParaRPr lang="ko-KR" sz="3000" dirty="0"/>
          </a:p>
        </p:txBody>
      </p:sp>
      <p:graphicFrame>
        <p:nvGraphicFramePr>
          <p:cNvPr id="15" name="S15-table1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063728" y="2089785"/>
          <a:ext cx="329184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1097280"/>
                <a:gridCol w="1097280"/>
              </a:tblGrid>
              <a:tr h="59055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십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일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10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−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15-stepno117"/>
          <p:cNvSpPr txBox="1"/>
          <p:nvPr/>
        </p:nvSpPr>
        <p:spPr>
          <a:xfrm>
            <a:off x="548640" y="238810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8" name="S15-text118"/>
          <p:cNvSpPr txBox="1"/>
          <p:nvPr/>
        </p:nvSpPr>
        <p:spPr>
          <a:xfrm>
            <a:off x="1325880" y="2388108"/>
            <a:ext cx="60873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일: 2에서 7을 뺄 수 없어요.</a:t>
            </a:r>
            <a:endParaRPr lang="ko-KR" sz="3000" dirty="0"/>
          </a:p>
        </p:txBody>
      </p:sp>
      <p:sp>
        <p:nvSpPr>
          <p:cNvPr id="9" name="S15-stepno119"/>
          <p:cNvSpPr txBox="1"/>
          <p:nvPr/>
        </p:nvSpPr>
        <p:spPr>
          <a:xfrm>
            <a:off x="548640" y="3147060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10" name="S15-text120"/>
          <p:cNvSpPr txBox="1"/>
          <p:nvPr/>
        </p:nvSpPr>
        <p:spPr>
          <a:xfrm>
            <a:off x="1325880" y="3101340"/>
            <a:ext cx="6087344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5를 4로 고치고,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 위에 10을 써요.</a:t>
            </a:r>
            <a:endParaRPr lang="ko-KR" sz="3000" dirty="0"/>
          </a:p>
        </p:txBody>
      </p:sp>
      <p:sp>
        <p:nvSpPr>
          <p:cNvPr id="11" name="S15-stepno121"/>
          <p:cNvSpPr txBox="1"/>
          <p:nvPr/>
        </p:nvSpPr>
        <p:spPr>
          <a:xfrm>
            <a:off x="548640" y="419557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12" name="S15-text122"/>
          <p:cNvSpPr txBox="1"/>
          <p:nvPr/>
        </p:nvSpPr>
        <p:spPr>
          <a:xfrm>
            <a:off x="1325880" y="4195572"/>
            <a:ext cx="60873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12 − 7 = 5, 4 − 2 = 2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초3 수학 세 자리 수의 뺄셈</dc:title>
  <dc:subject>KR22-G03-MAT-SUB3D-L01</dc:subject>
  <dc:creator>education-ppt</dc:creator>
  <cp:lastModifiedBy>education-ppt</cp:lastModifiedBy>
  <cp:revision>1</cp:revision>
  <dcterms:created xsi:type="dcterms:W3CDTF">2026-10-26T07:47:58Z</dcterms:created>
  <dcterms:modified xsi:type="dcterms:W3CDTF">2026-10-26T07:47:58Z</dcterms:modified>
</cp:coreProperties>
</file>