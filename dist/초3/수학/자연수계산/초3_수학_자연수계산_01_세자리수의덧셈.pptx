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73010cc-dd17-003b-d4c5-f320a533e564}">
          <p14:sldIdLst>
            <p14:sldId id="256"/>
            <p14:sldId id="257"/>
          </p14:sldIdLst>
        </p14:section>
        <p14:section name="개념" id="{5a2d54e0-f1da-2695-7fe3-9867b6d27771}">
          <p14:sldIdLst>
            <p14:sldId id="258"/>
            <p14:sldId id="259"/>
            <p14:sldId id="260"/>
            <p14:sldId id="261"/>
            <p14:sldId id="264"/>
          </p14:sldIdLst>
        </p14:section>
        <p14:section name="연습" id="{e6fe43db-9cdf-dbeb-7013-06eba43e911d}">
          <p14:sldIdLst>
            <p14:sldId id="262"/>
            <p14:sldId id="263"/>
            <p14:sldId id="265"/>
          </p14:sldIdLst>
        </p14:section>
        <p14:section name="개념" id="{fd7286e0-11ab-b0ec-2572-714fc3e1ab53}">
          <p14:sldIdLst/>
        </p14:section>
        <p14:section name="연습" id="{e04221bb-6a60-e8ca-cf0b-bb068087d024}">
          <p14:sldIdLst/>
        </p14:section>
        <p14:section name="확인" id="{b6cb1cb8-cf3e-3782-30d6-e2089dff090e}">
          <p14:sldIdLst>
            <p14:sldId id="266"/>
            <p14:sldId id="267"/>
            <p14:sldId id="268"/>
          </p14:sldIdLst>
        </p14:section>
        <p14:section name="정리" id="{68244505-660b-5b2b-b0c2-b77d0c604787}">
          <p14:sldIdLst>
            <p14:sldId id="269"/>
          </p14:sldIdLst>
        </p14:section>
        <p14:section name="보충" id="{d97aba25-d7fc-0e40-f585-c2700b6a8c9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세 자리 수끼리 더할 때 여러 자리에서 10이 넘으면 어떻게 하는지 궁금하게 합니다.
시간: 약 2분
이렇게 말해 보세요
- “2학년 때 36 + 47처럼 받아올림이 있는 두 자리 수 덧셈을 했지? 오늘은 세 자리 수끼리 더해 볼 거야.”
- “오른쪽 386 + 247에서 일의 자리 6 + 7은 얼마야? 십의 자리는 어떻게 될까?”
예상 답
- “13이요. 1을 올려요.” 또는 “잘 모르겠어요.”
막히면
- 답을 확인하지 않고 넘어갑니다. S06에서 같은 문제를 함께 풉니다.
주의
- 세로셈 표의 ‘백’, ‘십’, ‘일’은 백의 자리, 십의 자리, 일의 자리를 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확인(두 자리 수 덧셈, 10이 여러 개인 수, 몇백 더하기)]
목적: 받아올림이 있는 두 자리 수 덧셈, 십이 10개를 넘을 때의 자릿값, 몇백끼리의 덧셈이 되는지 확인합니다.
시간: 약 3분
이렇게 말해 보세요
- “①은 56 + 27이야. 어떻게 계산했는지도 말해 줘.”
- “②는 10이 13개이면 얼마일까? ③은 400 + 200이야.”
정답
- ① 83
- ② 130
- ③ 600
막히면
- ②는 10이 10개면 100이라는 것을 먼저 떠올리게 합니다. 100과 30을 합치면 130입니다.
- 두 문제 이상 틀리면 S15(보충)를 먼저 합니다. 보충으로도 어려우면 초2 3차시 ‘받아올림이 있는 두 자리 수 덧셈’(KR22-G02-MAT-ADD2D-L01)과 초2 1차시 ‘세 자리 수’(KR22-G02-MAT-NUM1000-L01)를 먼저 합니다.
주의
- ③은 4 + 2 = 6처럼 백이 몇 개인지 세면 됩니다. 오늘 어림할 때 계속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받아올림을 수 모형의 개수로]
목적: 세 자리 수 덧셈에서도 일 모형이 10개 넘게 모이면 십 모형 1개로 바꾼다는 것(받아올림)을 수 모형의 개수로 봅니다.
시간: 약 3분
이렇게 말해 보세요
- “258은 백 모형 2개, 십 모형 5개, 일 모형 8개야. 137과 모으면 일 모형은 몇 개가 돼?”
- “일 모형 15개 중 10개를 십 모형 1개로 바꾸면 십 모형은 몇 개가 될까? 모두 얼마야?”
예상 답
- “일 모형 15개요.” “십 모형 9개, 일 모형 5개예요. 395예요.”
막히면
- 종이 수 모형(백 판, 십 막대, 일 칸)으로 직접 놓아 봅니다. 일 모형 10개를 십 막대 하나와 바꿉니다.
주의
- 2학년에서 배운 받아올림과 같은 생각입니다. 자리가 하나 늘었을 뿐이라고 말해 줍니다. ‘모으면’과 ‘바꾸면’은 모양만 다르고 같은 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세로셈 시범(일의 자리에서 받아올림)]
목적: S03에서 수 모형으로 한 일을 세로셈으로 쓰는 방법을 시범으로 보여 줍니다.
시간: 약 3분
이렇게 말해 보세요
- “일의 자리부터 더해. 8 + 7 = 15야. 일의 자리에는 5를 쓰고, 1은 십의 자리 위에 작게 올려 써.”
- “십의 자리는 올린 1까지 1 + 5 + 3 = 9, 백의 자리는 2 + 1 = 3. 그래서 395야.”
예상 답
- “일의 자리 5, 십의 자리 9, 백의 자리 3. 395예요.”
막히면
- S03의 표와 나란히 놓고 ‘작은 1 = 바꾼 십 모형 1개’라고 짚어 줍니다.
- 칸 공책에 함께 따라 쓰게 합니다.
주의
- 표 맨 윗줄의 작은 1이 받아올린 1입니다. 공책에는 십의 자리 숫자 위에 작게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세로셈 시범(십의 자리에서 받아올림)]
목적: 십의 자리끼리의 합이 10을 넘으면 십 모형 10개를 백 모형 1개로 바꾸어 백의 자리로 올린다는 것을 압니다.
시간: 약 3분
이렇게 말해 보세요
- “일의 자리는 2 + 1 = 3이라 그대로 써. 십의 자리 5 + 7은 얼마야?”
- “십 모형 12개 중 10개는 백 모형 1개로 바꿀 수 있지? 그래서 십의 자리에 2를 쓰고, 1은 백의 자리 위에 올려. 백은 1 + 3 + 4 = 8, 823이야.”
예상 답
- “12요.” “823이에요.”
막히면
- 십 모형 12개를 놓고 10개를 백 모형 판 위에 올려 보며 ‘십 10개 = 백 1개’를 확인합니다.
주의
- 십의 자리에서 올린 1은 10이 아니라 100을 나타냅니다. “이 1은 백 모형 1개야.”라고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세로셈 시범(받아올림이 두 번)]
목적: 일의 자리와 십의 자리에서 모두 받아올림이 있는 덧셈을 세로셈으로 계산합니다.
시간: 약 3분
이렇게 말해 보세요
- “표지에서 본 386 + 247이야. 일의 자리 6 + 7 = 13, 3을 쓰고 1을 올려.”
- “십의 자리는 1 + 8 + 4 = 13. 또 10이 넘었네. 3을 쓰고 1을 백의 자리로 올려. 백은 1 + 3 + 2 = 6. 633이야.”
예상 답
- “633이에요.”
막히면
- 한 자리씩 손가락으로 가리고 ‘이 자리만’ 더하게 합니다. 올린 1에는 동그라미를 칩니다.
주의
- 두 번째로 올린 1을 빠뜨리기 쉽습니다(M1). 더하기 전에 “이 자리 위에 올린 1이 있어?”라고 묻습니다.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연습(받아올림 한 번, 두 번)]
목적: 도움을 받으며 받아올림이 있는 세 자리 수 덧셈을 세로셈으로 계산합니다.
시간: 약 4분
이렇게 말해 보세요
- “①은 일의 자리, ②는 십의 자리에서 받아올림이 있어. 어느 자리에서 올렸는지 말하면서 풀어 볼래?”
- “③은 오른쪽 세로셈 칸에 써 보자. 맨 위 □에는 무엇을 쓸까?”
정답
- ① 383(5 + 8 = 13, 1 + 4 + 3 = 8, 1 + 2 = 3)
- ② 837(4 + 3 = 7, 7 + 6 = 13, 1 + 2 + 5 = 8)
- ③ 825(7 + 8 = 15, 1 + 5 + 6 = 12, 1 + 4 + 3 = 8, 맨 위 □는 1과 1)
막히면
- S04~S06 가운데 같은 모양의 장을 다시 보며 따라 하게 합니다.
- 칸 공책에 자리를 맞추어 옮겨 쓰게 합니다.
주의
- 답만 맞히기보다 “1을 왜 올렸어? 그 1은 무엇이야?”라고 물어 설명하게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비교(십의 자리에서 올린 1 빠뜨리기)]
목적: 십의 자리에서 받아올린 1을 백의 자리에 더하지 않는 실수를 찾고 까닭을 설명합니다(M1).
시간: 약 3분
이렇게 말해 보세요
- “토끼와 곰의 답이 달라. 누가 맞았을까?”
- “십의 자리에서 14가 나왔을 때 1은 무엇이었지? 토끼는 그 1을 어떻게 했어?”
예상 답
- “곰이요. 토끼는 올린 1을 안 더했어요.”
정답
- 곰이 맞습니다. 475 + 268 = 743입니다.
- 십의 자리 1 + 7 + 6 = 14에서 10은 백 모형 1개입니다. 토끼는 이 1을 백의 자리에 더하지 않았습니다.
막히면
- 자릿값 표(백·십·일 모형의 개수)를 그려 모은 개수와 바꾼 개수를 함께 써 봅니다.
주의
- S09에서 배울 어림으로도 확인할 수 있습니다. 475는 약 500, 268은 약 300이라 합은 약 800이므로 643보다 743이 알맞습니다.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가까운 몇백으로 어림해 합 확인하기]
목적: 두 수를 가까운 몇백으로 어림해 합이 약 얼마인지 알고, 계산한 답이 알맞은지 판단합니다.
시간: 약 3분
이렇게 말해 보세요
- “386은 300과 400 중 어디에 더 가까워? 247은 200과 300 중 어디에 더 가까워?”
- “그러면 386 + 247은 약 얼마일까? 아까 계산한 633과 비교해 볼까?”
예상 답
- “400이요. 200이요.” “약 600이요. 633은 600과 가까우니까 알맞아요.”
막히면
- 수직선에서 386이 어느 끝에 더 가까운지 손가락으로 거리를 재어 봅니다. 386은 400까지 14, 300까지 86만큼 떨어져 있습니다.
주의
- 어림은 정확한 답이 아니라 ‘약 얼마’입니다. 어림과 아주 다른 답(예: 533, 733)이 나오면 다시 계산하게 합니다.
- 350처럼 딱 가운데인 수는 이번 차시에서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연습(어림으로 답 확인)]
목적: 도움을 받으며 두 수를 가까운 몇백으로 어림하고, 계산 결과가 알맞은지 판단합니다.
시간: 약 3분
이렇게 말해 보세요
- “①의 498은 몇백에 가까워? 315는? 그러면 합은 약 얼마야? 813은 알맞아 보여?”
- “②도 같은 방법으로 해 보자. 어림한 값과 593을 비교하면 어때?”
정답
- ① 약 500 + 약 300 = 약 800 → 813은 알맞습니다.
- ② 약 300 + 약 400 = 약 700 → 593은 너무 작습니다. 바른 답은 693입니다(십의 자리에서 올린 1을 빠뜨림).
- ③ 약 600 + 약 300 = 약 900 → 901은 알맞습니다.
막히면
- S09의 수직선을 다시 보며 ‘어느 몇백에 더 가까워?’를 한 수씩 묻습니다.
주의
- 어림은 큰 실수를 찾는 데 도움이 됩니다. 어림과 가까워도 틀릴 수 있으니, ②처럼 이상하면 세로셈으로 다시 계산하게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받아올림이 있는 세 자리 수 덧셈을 계산하고, 어림으로 합이 약 얼마인지 말하는지 확인합니다.
시간: 약 5분
이렇게 말해 보세요
- “이번에는 혼자 공책에 세로셈으로 풀어 볼래? 다 풀면 어느 자리에서 1을 올렸는지 말해 줘.”
- “④는 계산하지 말고 어림만 해. 어떻게 어림했는지도 말해 줘.”
정답
- ① 592
- ② 847
- ③ 827
- ④ 약 900(약 700 + 약 200)
막히면
- 바로 알려 주지 말고 “일의 자리부터 더하면 얼마야? 10이 넘었어?”라고만 묻습니다.
- 도움을 받아 해결했다면 기록표에 ‘도움’으로 표시합니다.
주의
- ④를 약 800(694를 600으로)이라고 하면 앞자리 숫자만 본 것입니다(M4). 694는 700에 더 가깝습니다. 실제 합은 883입니다.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어느 자리에서 달라졌는지 같이 찾아보자.”
정답
- ① 592 ② 847 ③ 827 ④ 약 900
막히면
- 올린 1을 빠뜨렸으면 S08로, 어림이 틀렸으면 S09로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확인(계산과 어림)]
목적: 처음 보는 문제에서 계산과 어림으로 알맞은 답을 고르고, 다른 답이 왜 틀렸는지 설명하는지 확인합니다.
시간: 약 2분
이렇게 말해 보세요
- “467 + 285의 답으로 알맞은 것을 골라 볼래? 어림하면 약 얼마야? 세로셈으로도 확인해 줘.”
정답
- 다(752). 어림하면 약 500 + 약 300 = 약 800입니다.
- 가(652)는 십의 자리에서 올린 1을 백의 자리에 더하지 않은 답, 나(742)는 일의 자리에서 올린 1을 십의 자리에 더하지 않은 답입니다.
막히면
- 먼저 어림으로 약 800을 구하게 한 뒤, 세 답 중 어느 것이 맞는지 세로셈으로 확인하게 합니다.
주의
- 나(742)도 800에 가까워서 어림만으로는 고를 수 없습니다. 어림은 큰 실수를 찾는 도구이고, 정확한 답은 계산으로 확인한다고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“오늘 배운 것을 말해 볼래? 십의 자리에서 올린 1은 무엇을 나타내? 답이 알맞은지 어떻게 확인해?”
예상 답
- “백 모형 1개요.” “가까운 몇백으로 어림해서 비교해요.”
정답
- ① 623 ② 583 ③ 약 800(약 600 + 약 200)
막히면
- S03과 S06을 나란히 보여 주며 수 모형과 세로셈을 연결해 말합니다.
주의
- 다음 차시(세 자리 수의 뺄셈)는 오늘과 반대로 백 1개를 십 10개로, 십 1개를 일 10개로 바꿉니다.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보충(받아올림이 있는 두 자리 수 덧셈)]
목적: S02에서 두 자리 수 덧셈이 흔들리면, 받아올림이 한 번 있는 두 자리 수 덧셈을 세로셈으로 다시 익힙니다.
시간: 약 5분
이렇게 말해 보세요
- “56 + 27을 해 보자. 일의 자리 6 + 7은 얼마야? 13은 십 1개와 일 3개지?”
- “일의 자리에 3을 쓰고 1은 십의 자리 위에 올려. 십의 자리는 1 + 5 + 2 = 8. 그래서 83이야.”
정답
- 56 + 27 = 83
막히면
- 종이 수 모형으로 56과 27을 놓고, 일 모형 10개를 십 모형 1개로 바꾸어 봅니다. 38 + 45, 29 + 36으로도 해 봅니다(83, 65).
주의
- 보충으로도 어려우면 초2 3차시 ‘받아올림이 있는 두 자리 수 덧셈’(KR22-G02-MAT-ADD2D-L01)과 초2 1차시 ‘세 자리 수’(KR22-G02-MAT-NUM1000-L01)를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세 자리 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세 자리 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세 자리 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자리 수의 덧셈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자리에서 10이 넘으면?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00076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받아올림이 있는 덧셈을 세로셈으로 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어림해서 답이 알맞은지 확인해요.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 + 27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13개이면 얼마일까요?</a:t>
            </a:r>
            <a:endParaRPr lang="ko-KR" sz="30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 + 200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모형 10개는 십 모형 1개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258 + 137을 수 모형의 개수로 나타냈어요.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258 + 137 = 395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모형 10개를 십 모형 1개로 바꿔요.</a:t>
            </a:r>
            <a:endParaRPr lang="ko-KR" sz="30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53996" y="2099945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모으면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바꾸면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자리에서 받아올림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258 + 137을 세로셈으로 해요.</a:t>
            </a:r>
            <a:endParaRPr lang="ko-KR" sz="30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받아올린 1은 십 모형 1개예요.</a:t>
            </a:r>
            <a:endParaRPr lang="ko-KR" sz="3000" dirty="0"/>
          </a:p>
        </p:txBody>
      </p:sp>
      <p:graphicFrame>
        <p:nvGraphicFramePr>
          <p:cNvPr id="5" name="S04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4-stepno18"/>
          <p:cNvSpPr txBox="1"/>
          <p:nvPr/>
        </p:nvSpPr>
        <p:spPr>
          <a:xfrm>
            <a:off x="548640" y="24338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19"/>
          <p:cNvSpPr txBox="1"/>
          <p:nvPr/>
        </p:nvSpPr>
        <p:spPr>
          <a:xfrm>
            <a:off x="1325880" y="23881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8 + 7 = 15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쓰고 1을 올려요.</a:t>
            </a:r>
            <a:endParaRPr lang="ko-KR" sz="3000" dirty="0"/>
          </a:p>
        </p:txBody>
      </p:sp>
      <p:sp>
        <p:nvSpPr>
          <p:cNvPr id="9" name="S04-stepno20"/>
          <p:cNvSpPr txBox="1"/>
          <p:nvPr/>
        </p:nvSpPr>
        <p:spPr>
          <a:xfrm>
            <a:off x="548640" y="3482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21"/>
          <p:cNvSpPr txBox="1"/>
          <p:nvPr/>
        </p:nvSpPr>
        <p:spPr>
          <a:xfrm>
            <a:off x="1325880" y="34823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1 + 5 + 3 = 9</a:t>
            </a:r>
            <a:endParaRPr lang="ko-KR" sz="3000" dirty="0"/>
          </a:p>
        </p:txBody>
      </p:sp>
      <p:sp>
        <p:nvSpPr>
          <p:cNvPr id="11" name="S04-stepno22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23"/>
          <p:cNvSpPr txBox="1"/>
          <p:nvPr/>
        </p:nvSpPr>
        <p:spPr>
          <a:xfrm>
            <a:off x="1325880" y="41955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2 + 1 = 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자리에서 받아올림</a:t>
            </a:r>
            <a:endParaRPr lang="ko-KR" sz="40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352 + 471을 세로셈으로 해요.</a:t>
            </a:r>
            <a:endParaRPr lang="ko-KR" sz="30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모형 10개는 백 모형 1개예요.</a:t>
            </a:r>
            <a:endParaRPr lang="ko-KR" sz="3000" dirty="0"/>
          </a:p>
        </p:txBody>
      </p:sp>
      <p:graphicFrame>
        <p:nvGraphicFramePr>
          <p:cNvPr id="6" name="S05-table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28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29"/>
          <p:cNvSpPr txBox="1"/>
          <p:nvPr/>
        </p:nvSpPr>
        <p:spPr>
          <a:xfrm>
            <a:off x="1325880" y="23881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2 + 1 = 3</a:t>
            </a:r>
            <a:endParaRPr lang="ko-KR" sz="3000" dirty="0"/>
          </a:p>
        </p:txBody>
      </p:sp>
      <p:sp>
        <p:nvSpPr>
          <p:cNvPr id="9" name="S05-stepno30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1"/>
          <p:cNvSpPr txBox="1"/>
          <p:nvPr/>
        </p:nvSpPr>
        <p:spPr>
          <a:xfrm>
            <a:off x="1325880" y="3101340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5 + 7 = 12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2를 쓰고 1을 올려요.</a:t>
            </a:r>
            <a:endParaRPr lang="ko-KR" sz="3000" dirty="0"/>
          </a:p>
        </p:txBody>
      </p:sp>
      <p:sp>
        <p:nvSpPr>
          <p:cNvPr id="11" name="S05-stepno32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3"/>
          <p:cNvSpPr txBox="1"/>
          <p:nvPr/>
        </p:nvSpPr>
        <p:spPr>
          <a:xfrm>
            <a:off x="1325880" y="41955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1 + 3 + 4 = 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받아올림이 두 번</a:t>
            </a:r>
            <a:endParaRPr lang="ko-KR" sz="4000" dirty="0"/>
          </a:p>
        </p:txBody>
      </p:sp>
      <p:sp>
        <p:nvSpPr>
          <p:cNvPr id="3" name="S06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386 + 247을 세로셈으로 해요.</a:t>
            </a:r>
            <a:endParaRPr lang="ko-KR" sz="3000" dirty="0"/>
          </a:p>
        </p:txBody>
      </p:sp>
      <p:sp>
        <p:nvSpPr>
          <p:cNvPr id="4" name="S06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1은 바로 윗자리에서 더해요.</a:t>
            </a:r>
            <a:endParaRPr lang="ko-KR" sz="3000" dirty="0"/>
          </a:p>
        </p:txBody>
      </p:sp>
      <p:graphicFrame>
        <p:nvGraphicFramePr>
          <p:cNvPr id="7" name="S06-table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stepno38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39"/>
          <p:cNvSpPr txBox="1"/>
          <p:nvPr/>
        </p:nvSpPr>
        <p:spPr>
          <a:xfrm>
            <a:off x="1325880" y="25786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6 + 7 = 13, 1을 올려요.</a:t>
            </a:r>
            <a:endParaRPr lang="ko-KR" sz="3000" dirty="0"/>
          </a:p>
        </p:txBody>
      </p:sp>
      <p:sp>
        <p:nvSpPr>
          <p:cNvPr id="9" name="S06-stepno40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41"/>
          <p:cNvSpPr txBox="1"/>
          <p:nvPr/>
        </p:nvSpPr>
        <p:spPr>
          <a:xfrm>
            <a:off x="1325880" y="32918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1 + 8 + 4 = 13, 1을 올려요.</a:t>
            </a:r>
            <a:endParaRPr lang="ko-KR" sz="3000" dirty="0"/>
          </a:p>
        </p:txBody>
      </p:sp>
      <p:sp>
        <p:nvSpPr>
          <p:cNvPr id="11" name="S06-stepno42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43"/>
          <p:cNvSpPr txBox="1"/>
          <p:nvPr/>
        </p:nvSpPr>
        <p:spPr>
          <a:xfrm>
            <a:off x="1325880" y="40050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1 + 3 + 2 = 6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000" dirty="0"/>
          </a:p>
        </p:txBody>
      </p:sp>
      <p:sp>
        <p:nvSpPr>
          <p:cNvPr id="3" name="S07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계산해요.</a:t>
            </a:r>
            <a:endParaRPr lang="ko-KR" sz="3000" dirty="0"/>
          </a:p>
        </p:txBody>
      </p:sp>
      <p:sp>
        <p:nvSpPr>
          <p:cNvPr id="4" name="S07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넘으면 1을 바로 윗자리로 올려요.</a:t>
            </a:r>
            <a:endParaRPr lang="ko-KR" sz="3000" dirty="0"/>
          </a:p>
        </p:txBody>
      </p:sp>
      <p:graphicFrame>
        <p:nvGraphicFramePr>
          <p:cNvPr id="8" name="S07-table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2044319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7-label48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세로셈으로</a:t>
            </a:r>
            <a:endParaRPr lang="ko-KR" sz="2400" dirty="0"/>
          </a:p>
        </p:txBody>
      </p:sp>
      <p:sp>
        <p:nvSpPr>
          <p:cNvPr id="8" name="S07-chip4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7-eqtext50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145 + 238 = □</a:t>
            </a:r>
            <a:endParaRPr lang="ko-KR" sz="3400" dirty="0"/>
          </a:p>
        </p:txBody>
      </p:sp>
      <p:sp>
        <p:nvSpPr>
          <p:cNvPr id="10" name="S07-chip5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7-eqtext52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274 + 563 = □</a:t>
            </a:r>
            <a:endParaRPr lang="ko-KR" sz="3400" dirty="0"/>
          </a:p>
        </p:txBody>
      </p:sp>
      <p:sp>
        <p:nvSpPr>
          <p:cNvPr id="12" name="S07-chip5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7-eqtext54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457 + 368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475 + 268을 세로셈으로 했어요.</a:t>
            </a:r>
            <a:endParaRPr lang="ko-KR" sz="3000" dirty="0"/>
          </a:p>
        </p:txBody>
      </p:sp>
      <p:sp>
        <p:nvSpPr>
          <p:cNvPr id="5" name="S08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8-chip5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643</a:t>
            </a:r>
            <a:endParaRPr lang="ko-KR" sz="2400" dirty="0"/>
          </a:p>
        </p:txBody>
      </p:sp>
      <p:sp>
        <p:nvSpPr>
          <p:cNvPr id="8" name="S08-text6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1 + 7 + 6 = 14, 4를 써요.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4 + 2 = 6을 썼어요.</a:t>
            </a:r>
            <a:endParaRPr lang="ko-KR" sz="3000" dirty="0"/>
          </a:p>
        </p:txBody>
      </p:sp>
      <p:sp>
        <p:nvSpPr>
          <p:cNvPr id="9" name="S08-chip6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743</a:t>
            </a:r>
            <a:endParaRPr lang="ko-KR" sz="2400" dirty="0"/>
          </a:p>
        </p:txBody>
      </p:sp>
      <p:sp>
        <p:nvSpPr>
          <p:cNvPr id="10" name="S08-text6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4를 쓰고 1을 올려요.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1 + 4 + 2 = 7을 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어림해서 확인해요</a:t>
            </a:r>
            <a:endParaRPr lang="ko-KR" sz="4000" dirty="0"/>
          </a:p>
        </p:txBody>
      </p:sp>
      <p:sp>
        <p:nvSpPr>
          <p:cNvPr id="3" name="S09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386 + 247은 약 얼마일까요?</a:t>
            </a:r>
            <a:endParaRPr lang="ko-KR" sz="3000" dirty="0"/>
          </a:p>
        </p:txBody>
      </p:sp>
      <p:sp>
        <p:nvSpPr>
          <p:cNvPr id="4" name="S09-card64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65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400 + 약 200 → 약 600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633은 600에 가까우니 알맞은 답이에요.</a:t>
            </a:r>
            <a:endParaRPr lang="ko-KR" sz="3000" dirty="0"/>
          </a:p>
        </p:txBody>
      </p:sp>
      <p:sp>
        <p:nvSpPr>
          <p:cNvPr id="6" name="S09-line66"/>
          <p:cNvSpPr/>
          <p:nvPr/>
        </p:nvSpPr>
        <p:spPr>
          <a:xfrm>
            <a:off x="685800" y="3407268"/>
            <a:ext cx="51114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9-line67"/>
          <p:cNvSpPr/>
          <p:nvPr/>
        </p:nvSpPr>
        <p:spPr>
          <a:xfrm>
            <a:off x="960120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9-label68"/>
          <p:cNvSpPr txBox="1"/>
          <p:nvPr/>
        </p:nvSpPr>
        <p:spPr>
          <a:xfrm>
            <a:off x="502920" y="3590148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</a:t>
            </a:r>
            <a:endParaRPr lang="ko-KR" sz="2000" dirty="0"/>
          </a:p>
        </p:txBody>
      </p:sp>
      <p:sp>
        <p:nvSpPr>
          <p:cNvPr id="9" name="S09-line69"/>
          <p:cNvSpPr/>
          <p:nvPr/>
        </p:nvSpPr>
        <p:spPr>
          <a:xfrm>
            <a:off x="141640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9-line70"/>
          <p:cNvSpPr/>
          <p:nvPr/>
        </p:nvSpPr>
        <p:spPr>
          <a:xfrm>
            <a:off x="1872691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9-line71"/>
          <p:cNvSpPr/>
          <p:nvPr/>
        </p:nvSpPr>
        <p:spPr>
          <a:xfrm>
            <a:off x="2328977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9-line72"/>
          <p:cNvSpPr/>
          <p:nvPr/>
        </p:nvSpPr>
        <p:spPr>
          <a:xfrm>
            <a:off x="278526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9-line73"/>
          <p:cNvSpPr/>
          <p:nvPr/>
        </p:nvSpPr>
        <p:spPr>
          <a:xfrm>
            <a:off x="3241548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9-line74"/>
          <p:cNvSpPr/>
          <p:nvPr/>
        </p:nvSpPr>
        <p:spPr>
          <a:xfrm>
            <a:off x="369783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9-line75"/>
          <p:cNvSpPr/>
          <p:nvPr/>
        </p:nvSpPr>
        <p:spPr>
          <a:xfrm>
            <a:off x="4154119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9-line76"/>
          <p:cNvSpPr/>
          <p:nvPr/>
        </p:nvSpPr>
        <p:spPr>
          <a:xfrm>
            <a:off x="4610405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9-line77"/>
          <p:cNvSpPr/>
          <p:nvPr/>
        </p:nvSpPr>
        <p:spPr>
          <a:xfrm>
            <a:off x="5066690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9-line78"/>
          <p:cNvSpPr/>
          <p:nvPr/>
        </p:nvSpPr>
        <p:spPr>
          <a:xfrm>
            <a:off x="552297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9-label79"/>
          <p:cNvSpPr txBox="1"/>
          <p:nvPr/>
        </p:nvSpPr>
        <p:spPr>
          <a:xfrm>
            <a:off x="5065776" y="3590148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</a:t>
            </a:r>
            <a:endParaRPr lang="ko-KR" sz="2000" dirty="0"/>
          </a:p>
        </p:txBody>
      </p:sp>
      <p:sp>
        <p:nvSpPr>
          <p:cNvPr id="20" name="S09-mark80"/>
          <p:cNvSpPr/>
          <p:nvPr/>
        </p:nvSpPr>
        <p:spPr>
          <a:xfrm>
            <a:off x="4792736" y="3315828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1" name="S09-label81"/>
          <p:cNvSpPr txBox="1"/>
          <p:nvPr/>
        </p:nvSpPr>
        <p:spPr>
          <a:xfrm>
            <a:off x="4335536" y="2848468"/>
            <a:ext cx="10972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386</a:t>
            </a:r>
            <a:endParaRPr lang="ko-KR" sz="2000" dirty="0"/>
          </a:p>
        </p:txBody>
      </p:sp>
      <p:sp>
        <p:nvSpPr>
          <p:cNvPr id="22" name="S09-figure82" descr="300부터 400까지 10씩 눈금 수직선에 386 표시, 400 쪽에 가까움"/>
          <p:cNvSpPr/>
          <p:nvPr/>
        </p:nvSpPr>
        <p:spPr>
          <a:xfrm>
            <a:off x="685800" y="3224388"/>
            <a:ext cx="51114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09-label83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386은 400에 가까워요</a:t>
            </a:r>
            <a:endParaRPr lang="ko-KR" sz="2400" dirty="0"/>
          </a:p>
        </p:txBody>
      </p:sp>
      <p:sp>
        <p:nvSpPr>
          <p:cNvPr id="24" name="S09-line84"/>
          <p:cNvSpPr/>
          <p:nvPr/>
        </p:nvSpPr>
        <p:spPr>
          <a:xfrm>
            <a:off x="6391656" y="3407268"/>
            <a:ext cx="51114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25" name="S09-line85"/>
          <p:cNvSpPr/>
          <p:nvPr/>
        </p:nvSpPr>
        <p:spPr>
          <a:xfrm>
            <a:off x="666597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9-label86"/>
          <p:cNvSpPr txBox="1"/>
          <p:nvPr/>
        </p:nvSpPr>
        <p:spPr>
          <a:xfrm>
            <a:off x="6208776" y="3590148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2000" dirty="0"/>
          </a:p>
        </p:txBody>
      </p:sp>
      <p:sp>
        <p:nvSpPr>
          <p:cNvPr id="27" name="S09-line87"/>
          <p:cNvSpPr/>
          <p:nvPr/>
        </p:nvSpPr>
        <p:spPr>
          <a:xfrm>
            <a:off x="712226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9-line88"/>
          <p:cNvSpPr/>
          <p:nvPr/>
        </p:nvSpPr>
        <p:spPr>
          <a:xfrm>
            <a:off x="7578547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9-line89"/>
          <p:cNvSpPr/>
          <p:nvPr/>
        </p:nvSpPr>
        <p:spPr>
          <a:xfrm>
            <a:off x="8034833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9-line90"/>
          <p:cNvSpPr/>
          <p:nvPr/>
        </p:nvSpPr>
        <p:spPr>
          <a:xfrm>
            <a:off x="8491118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9-line91"/>
          <p:cNvSpPr/>
          <p:nvPr/>
        </p:nvSpPr>
        <p:spPr>
          <a:xfrm>
            <a:off x="894740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9-line92"/>
          <p:cNvSpPr/>
          <p:nvPr/>
        </p:nvSpPr>
        <p:spPr>
          <a:xfrm>
            <a:off x="9403690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9-line93"/>
          <p:cNvSpPr/>
          <p:nvPr/>
        </p:nvSpPr>
        <p:spPr>
          <a:xfrm>
            <a:off x="9859975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9-line94"/>
          <p:cNvSpPr/>
          <p:nvPr/>
        </p:nvSpPr>
        <p:spPr>
          <a:xfrm>
            <a:off x="10316261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9-line95"/>
          <p:cNvSpPr/>
          <p:nvPr/>
        </p:nvSpPr>
        <p:spPr>
          <a:xfrm>
            <a:off x="1077254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9-line96"/>
          <p:cNvSpPr/>
          <p:nvPr/>
        </p:nvSpPr>
        <p:spPr>
          <a:xfrm>
            <a:off x="1122883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9-label97"/>
          <p:cNvSpPr txBox="1"/>
          <p:nvPr/>
        </p:nvSpPr>
        <p:spPr>
          <a:xfrm>
            <a:off x="10771632" y="3590148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</a:t>
            </a:r>
            <a:endParaRPr lang="ko-KR" sz="2000" dirty="0"/>
          </a:p>
        </p:txBody>
      </p:sp>
      <p:sp>
        <p:nvSpPr>
          <p:cNvPr id="38" name="S09-mark98"/>
          <p:cNvSpPr/>
          <p:nvPr/>
        </p:nvSpPr>
        <p:spPr>
          <a:xfrm>
            <a:off x="8719078" y="3315828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9" name="S09-label99"/>
          <p:cNvSpPr txBox="1"/>
          <p:nvPr/>
        </p:nvSpPr>
        <p:spPr>
          <a:xfrm>
            <a:off x="8261878" y="2848468"/>
            <a:ext cx="10972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</a:t>
            </a:r>
            <a:endParaRPr lang="ko-KR" sz="2000" dirty="0"/>
          </a:p>
        </p:txBody>
      </p:sp>
      <p:sp>
        <p:nvSpPr>
          <p:cNvPr id="40" name="S09-figure100" descr="200부터 300까지 10씩 눈금 수직선에 247 표시, 200 쪽에 가까움"/>
          <p:cNvSpPr/>
          <p:nvPr/>
        </p:nvSpPr>
        <p:spPr>
          <a:xfrm>
            <a:off x="6391656" y="3224388"/>
            <a:ext cx="51114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9-label101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247은 200에 가까워요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어림으로 확인하기</a:t>
            </a:r>
            <a:endParaRPr lang="ko-KR" sz="4000" dirty="0"/>
          </a:p>
        </p:txBody>
      </p:sp>
      <p:sp>
        <p:nvSpPr>
          <p:cNvPr id="3" name="S10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어림해 보고, 답이 알맞은지 말해요.</a:t>
            </a:r>
            <a:endParaRPr lang="ko-KR" sz="3000" dirty="0"/>
          </a:p>
        </p:txBody>
      </p:sp>
      <p:sp>
        <p:nvSpPr>
          <p:cNvPr id="4" name="S10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몇백으로 바꾸어 더해 보아요.</a:t>
            </a:r>
            <a:endParaRPr lang="ko-KR" sz="3000" dirty="0"/>
          </a:p>
        </p:txBody>
      </p:sp>
      <p:sp>
        <p:nvSpPr>
          <p:cNvPr id="6" name="S10-chip10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10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498 + 315 = 813</a:t>
            </a:r>
            <a:endParaRPr lang="ko-KR" sz="3000" dirty="0"/>
          </a:p>
        </p:txBody>
      </p:sp>
      <p:sp>
        <p:nvSpPr>
          <p:cNvPr id="8" name="S10-chip10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10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275 + 418 = 593</a:t>
            </a:r>
            <a:endParaRPr lang="ko-KR" sz="3000" dirty="0"/>
          </a:p>
        </p:txBody>
      </p:sp>
      <p:sp>
        <p:nvSpPr>
          <p:cNvPr id="10" name="S10-chip10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11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612 + 289 = 901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④는 어림해요.</a:t>
            </a:r>
            <a:endParaRPr lang="ko-KR" sz="3000" dirty="0"/>
          </a:p>
        </p:txBody>
      </p:sp>
      <p:sp>
        <p:nvSpPr>
          <p:cNvPr id="4" name="S11-chip11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eqtext11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427 + 165 = □</a:t>
            </a:r>
            <a:endParaRPr lang="ko-KR" sz="3400" dirty="0"/>
          </a:p>
        </p:txBody>
      </p:sp>
      <p:sp>
        <p:nvSpPr>
          <p:cNvPr id="6" name="S11-chip11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eqtext11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563 + 284 = □</a:t>
            </a:r>
            <a:endParaRPr lang="ko-KR" sz="3400" dirty="0"/>
          </a:p>
        </p:txBody>
      </p:sp>
      <p:sp>
        <p:nvSpPr>
          <p:cNvPr id="8" name="S11-chip11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eqtext11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579 + 248 = □</a:t>
            </a:r>
            <a:endParaRPr lang="ko-KR" sz="3400" dirty="0"/>
          </a:p>
        </p:txBody>
      </p:sp>
      <p:sp>
        <p:nvSpPr>
          <p:cNvPr id="10" name="S11-chip11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11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694 + 189는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얼마일까요?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1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자릿값 표로 다시 해 보게 하세요.</a:t>
            </a:r>
            <a:endParaRPr lang="ko-KR" sz="3000" dirty="0"/>
          </a:p>
        </p:txBody>
      </p:sp>
      <p:sp>
        <p:nvSpPr>
          <p:cNvPr id="5" name="S12-chip12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123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592</a:t>
            </a:r>
            <a:endParaRPr lang="ko-KR" sz="3000" dirty="0"/>
          </a:p>
        </p:txBody>
      </p:sp>
      <p:sp>
        <p:nvSpPr>
          <p:cNvPr id="7" name="S12-text124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+ 5 = 12</a:t>
            </a:r>
            <a:endParaRPr lang="ko-KR" sz="2400" dirty="0"/>
          </a:p>
        </p:txBody>
      </p:sp>
      <p:sp>
        <p:nvSpPr>
          <p:cNvPr id="8" name="S12-text125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847</a:t>
            </a:r>
            <a:endParaRPr lang="ko-KR" sz="3000" dirty="0"/>
          </a:p>
        </p:txBody>
      </p:sp>
      <p:sp>
        <p:nvSpPr>
          <p:cNvPr id="9" name="S12-text126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+ 8 = 14</a:t>
            </a:r>
            <a:endParaRPr lang="ko-KR" sz="2400" dirty="0"/>
          </a:p>
        </p:txBody>
      </p:sp>
      <p:sp>
        <p:nvSpPr>
          <p:cNvPr id="10" name="S12-text127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827</a:t>
            </a:r>
            <a:endParaRPr lang="ko-KR" sz="3000" dirty="0"/>
          </a:p>
        </p:txBody>
      </p:sp>
      <p:sp>
        <p:nvSpPr>
          <p:cNvPr id="11" name="S12-text128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올림</a:t>
            </a:r>
            <a:endParaRPr lang="ko-KR" sz="2400" dirty="0"/>
          </a:p>
        </p:txBody>
      </p:sp>
      <p:sp>
        <p:nvSpPr>
          <p:cNvPr id="12" name="S12-text129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약 900</a:t>
            </a:r>
            <a:endParaRPr lang="ko-KR" sz="3000" dirty="0"/>
          </a:p>
        </p:txBody>
      </p:sp>
      <p:sp>
        <p:nvSpPr>
          <p:cNvPr id="13" name="S12-text130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700 + 200</a:t>
            </a:r>
            <a:endParaRPr lang="ko-KR" sz="2400" dirty="0"/>
          </a:p>
        </p:txBody>
      </p:sp>
      <p:sp>
        <p:nvSpPr>
          <p:cNvPr id="14" name="S12-chip13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2-text13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747</a:t>
            </a:r>
            <a:endParaRPr lang="ko-KR" sz="3000" dirty="0"/>
          </a:p>
        </p:txBody>
      </p:sp>
      <p:sp>
        <p:nvSpPr>
          <p:cNvPr id="16" name="S12-text13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백에 1을 안 더함</a:t>
            </a:r>
            <a:endParaRPr lang="ko-KR" sz="2400" dirty="0"/>
          </a:p>
        </p:txBody>
      </p:sp>
      <p:sp>
        <p:nvSpPr>
          <p:cNvPr id="17" name="S12-text13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약 800</a:t>
            </a:r>
            <a:endParaRPr lang="ko-KR" sz="3000" dirty="0"/>
          </a:p>
        </p:txBody>
      </p:sp>
      <p:sp>
        <p:nvSpPr>
          <p:cNvPr id="18" name="S12-text13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694를 600으로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답은 어느 것?</a:t>
            </a:r>
            <a:endParaRPr lang="ko-KR" sz="4000" dirty="0"/>
          </a:p>
        </p:txBody>
      </p:sp>
      <p:sp>
        <p:nvSpPr>
          <p:cNvPr id="3" name="S13-text1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467 + 285를 계산했어요.</a:t>
            </a:r>
            <a:endParaRPr lang="ko-KR" sz="3000" dirty="0"/>
          </a:p>
        </p:txBody>
      </p:sp>
      <p:sp>
        <p:nvSpPr>
          <p:cNvPr id="4" name="S13-card1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답을 고르고, 까닭을 말해요.</a:t>
            </a:r>
            <a:endParaRPr lang="ko-KR" sz="3000" dirty="0"/>
          </a:p>
        </p:txBody>
      </p:sp>
      <p:sp>
        <p:nvSpPr>
          <p:cNvPr id="6" name="S13-chip13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bigtext140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652</a:t>
            </a:r>
            <a:endParaRPr lang="ko-KR" sz="4800" dirty="0"/>
          </a:p>
        </p:txBody>
      </p:sp>
      <p:sp>
        <p:nvSpPr>
          <p:cNvPr id="8" name="S13-chip14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bigtext142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742</a:t>
            </a:r>
            <a:endParaRPr lang="ko-KR" sz="4800" dirty="0"/>
          </a:p>
        </p:txBody>
      </p:sp>
      <p:sp>
        <p:nvSpPr>
          <p:cNvPr id="10" name="S13-chip14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3-bigtext144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752</a:t>
            </a:r>
            <a:endParaRPr lang="ko-KR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넘으면 1을 바로 윗자리로 올려요.</a:t>
            </a:r>
            <a:endParaRPr lang="ko-KR" sz="3000" dirty="0"/>
          </a:p>
        </p:txBody>
      </p:sp>
      <p:sp>
        <p:nvSpPr>
          <p:cNvPr id="5" name="S14-chip14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어림해서 답 확인하기</a:t>
            </a:r>
            <a:endParaRPr lang="ko-KR" sz="2400" dirty="0"/>
          </a:p>
        </p:txBody>
      </p:sp>
      <p:sp>
        <p:nvSpPr>
          <p:cNvPr id="6" name="S14-chip14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받아올린 1 빠뜨리기</a:t>
            </a:r>
            <a:endParaRPr lang="ko-KR" sz="2400" dirty="0"/>
          </a:p>
        </p:txBody>
      </p:sp>
      <p:sp>
        <p:nvSpPr>
          <p:cNvPr id="7" name="S14-text14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eqtext15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348 + 275 = □</a:t>
            </a:r>
            <a:endParaRPr lang="ko-KR" sz="2800" dirty="0"/>
          </a:p>
        </p:txBody>
      </p:sp>
      <p:sp>
        <p:nvSpPr>
          <p:cNvPr id="9" name="S14-eqtext15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156 + 427 = □</a:t>
            </a:r>
            <a:endParaRPr lang="ko-KR" sz="2800" dirty="0"/>
          </a:p>
        </p:txBody>
      </p:sp>
      <p:sp>
        <p:nvSpPr>
          <p:cNvPr id="10" name="S14-text15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596 + 207은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얼마?</a:t>
            </a:r>
            <a:endParaRPr lang="ko-KR" sz="2400" dirty="0"/>
          </a:p>
        </p:txBody>
      </p:sp>
      <p:sp>
        <p:nvSpPr>
          <p:cNvPr id="11" name="S14-text15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 자리 수의 뺄셈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두 자리 수 덧셈</a:t>
            </a:r>
            <a:endParaRPr lang="ko-KR" sz="4000" dirty="0"/>
          </a:p>
        </p:txBody>
      </p:sp>
      <p:sp>
        <p:nvSpPr>
          <p:cNvPr id="3" name="S15-text1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 + 27을 세로셈으로 다시 해요.</a:t>
            </a:r>
            <a:endParaRPr lang="ko-KR" sz="3000" dirty="0"/>
          </a:p>
        </p:txBody>
      </p:sp>
      <p:sp>
        <p:nvSpPr>
          <p:cNvPr id="4" name="S15-card1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10개는 십 1개로 올려요.</a:t>
            </a:r>
            <a:endParaRPr lang="ko-KR" sz="3000" dirty="0"/>
          </a:p>
        </p:txBody>
      </p:sp>
      <p:graphicFrame>
        <p:nvGraphicFramePr>
          <p:cNvPr id="16" name="S15-table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63728" y="2089785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5-stepno158"/>
          <p:cNvSpPr txBox="1"/>
          <p:nvPr/>
        </p:nvSpPr>
        <p:spPr>
          <a:xfrm>
            <a:off x="548640" y="24338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5-text159"/>
          <p:cNvSpPr txBox="1"/>
          <p:nvPr/>
        </p:nvSpPr>
        <p:spPr>
          <a:xfrm>
            <a:off x="1325880" y="2388108"/>
            <a:ext cx="6087344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6 + 7 = 13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쓰고 1을 올려요.</a:t>
            </a:r>
            <a:endParaRPr lang="ko-KR" sz="3000" dirty="0"/>
          </a:p>
        </p:txBody>
      </p:sp>
      <p:sp>
        <p:nvSpPr>
          <p:cNvPr id="9" name="S15-stepno160"/>
          <p:cNvSpPr txBox="1"/>
          <p:nvPr/>
        </p:nvSpPr>
        <p:spPr>
          <a:xfrm>
            <a:off x="548640" y="3482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5-text161"/>
          <p:cNvSpPr txBox="1"/>
          <p:nvPr/>
        </p:nvSpPr>
        <p:spPr>
          <a:xfrm>
            <a:off x="1325880" y="3482340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1 + 5 + 2 = 8</a:t>
            </a:r>
            <a:endParaRPr lang="ko-KR" sz="3000" dirty="0"/>
          </a:p>
        </p:txBody>
      </p:sp>
      <p:sp>
        <p:nvSpPr>
          <p:cNvPr id="11" name="S15-stepno162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5-text163"/>
          <p:cNvSpPr txBox="1"/>
          <p:nvPr/>
        </p:nvSpPr>
        <p:spPr>
          <a:xfrm>
            <a:off x="1325880" y="419557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 + 27 = 83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세 자리 수의 덧셈</dc:title>
  <dc:subject>KR22-G03-MAT-ADD3D-L01</dc:subject>
  <dc:creator>education-ppt</dc:creator>
  <cp:lastModifiedBy>education-ppt</cp:lastModifiedBy>
  <cp:revision>1</cp:revision>
  <dcterms:created xsi:type="dcterms:W3CDTF">2026-10-26T07:47:37Z</dcterms:created>
  <dcterms:modified xsi:type="dcterms:W3CDTF">2026-10-26T07:47:37Z</dcterms:modified>
</cp:coreProperties>
</file>