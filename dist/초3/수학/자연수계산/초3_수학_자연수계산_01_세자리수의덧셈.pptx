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</p:sldIdLst>
  <p:notesMasterIdLst>
    <p:notesMasterId r:id="rId17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521415D9-36F7-43E2-AB2F-B90AF26B5E84}">
      <p14:sectionLst xmlns:p14="http://schemas.microsoft.com/office/powerpoint/2010/main">
        <p14:section name="도입" id="{f1144932-cda9-4648-0f83-f88687718fce}">
          <p14:sldIdLst>
            <p14:sldId id="256"/>
            <p14:sldId id="257"/>
          </p14:sldIdLst>
        </p14:section>
        <p14:section name="개념" id="{85f7ca8c-c457-bd8f-c958-b8f4e6373f88}">
          <p14:sldIdLst>
            <p14:sldId id="258"/>
            <p14:sldId id="259"/>
            <p14:sldId id="260"/>
            <p14:sldId id="261"/>
            <p14:sldId id="264"/>
          </p14:sldIdLst>
        </p14:section>
        <p14:section name="연습" id="{25f4016a-da4a-a1a1-3134-cf6e9487ed88}">
          <p14:sldIdLst>
            <p14:sldId id="262"/>
            <p14:sldId id="263"/>
            <p14:sldId id="265"/>
          </p14:sldIdLst>
        </p14:section>
        <p14:section name="개념" id="{c01578a7-54a4-9dcc-fea9-b49fd17ce170}">
          <p14:sldIdLst/>
        </p14:section>
        <p14:section name="연습" id="{cb6314a8-60b9-19f9-7c89-86376e149f99}">
          <p14:sldIdLst/>
        </p14:section>
        <p14:section name="확인" id="{1592a219-c1a8-bc3a-8797-4f06f6f6f701}">
          <p14:sldIdLst>
            <p14:sldId id="266"/>
            <p14:sldId id="267"/>
            <p14:sldId id="268"/>
          </p14:sldIdLst>
        </p14:section>
        <p14:section name="정리" id="{70ad0d7f-7252-6b64-81b5-79ec069bf313}">
          <p14:sldIdLst>
            <p14:sldId id="269"/>
          </p14:sldIdLst>
        </p14:section>
        <p14:section name="보충" id="{134a12fb-4901-47f8-4620-f183e83a0d60}">
          <p14:sldIdLst>
            <p14:sldId id="270"/>
          </p14:sldIdLst>
        </p14:section>
      </p14:sectionLst>
    </p:ex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notesMaster" Target="notesMasters/notesMaster1.xml"/><Relationship Id="rId18" Type="http://schemas.openxmlformats.org/officeDocument/2006/relationships/presProps" Target="presProps.xml"/><Relationship Id="rId19" Type="http://schemas.openxmlformats.org/officeDocument/2006/relationships/viewProps" Target="viewProps.xml"/><Relationship Id="rId20" Type="http://schemas.openxmlformats.org/officeDocument/2006/relationships/theme" Target="theme/theme1.xml"/><Relationship Id="rId21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[S01 · 오늘의 질문과 목표]
목적: 오늘 할 일을 알려 주고, 세 자리 수끼리 더할 때 여러 자리에서 10이 넘으면 어떻게 하는지 궁금하게 합니다.
시간: 약 2분
이렇게 말해 보세요
- “2학년 때 36 + 47처럼 받아올림이 있는 두 자리 수 덧셈을 했지? 오늘은 세 자리 수끼리 더해 볼 거야.”
- “오른쪽 386 + 247에서 일의 자리 6 + 7은 얼마야? 십의 자리는 어떻게 될까?”
예상 답
- “13이요. 1을 올려요.” 또는 “잘 모르겠어요.”
막히면
- 답을 확인하지 않고 넘어갑니다. S06에서 같은 문제를 함께 풉니다.
주의
- 세로셈 표의 ‘백’, ‘십’, ‘일’은 백의 자리, 십의 자리, 일의 자리를 뜻합니다.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[S02 · 선수 학습 확인(두 자리 수 덧셈, 10이 여러 개인 수, 몇백 더하기)]
목적: 받아올림이 있는 두 자리 수 덧셈, 십이 10개를 넘을 때의 자릿값, 몇백끼리의 덧셈이 되는지 확인합니다.
시간: 약 3분
이렇게 말해 보세요
- “①은 56 + 27이야. 어떻게 계산했는지도 말해 줘.”
- “②는 10이 13개이면 얼마일까? ③은 400 + 200이야.”
정답
- ① 83
- ② 130
- ③ 600
막히면
- ②는 10이 10개면 100이라는 것을 먼저 떠올리게 합니다. 100과 30을 합치면 130입니다.
- 두 문제 이상 틀리면 S15(보충)를 먼저 합니다. 보충으로도 어려우면 초2 3차시 ‘받아올림이 있는 두 자리 수 덧셈’(KR22-G02-MAT-ADD2D-L01)과 초2 1차시 ‘세 자리 수’(KR22-G02-MAT-NUM1000-L01)를 먼저 합니다.
주의
- ③은 4 + 2 = 6처럼 백이 몇 개인지 세면 됩니다. 오늘 어림할 때 계속 씁니다.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[S03 · 받아올림을 수 모형의 개수로]
목적: 세 자리 수 덧셈에서도 일 모형이 10개 넘게 모이면 십 모형 1개로 바꾼다는 것(받아올림)을 수 모형의 개수로 봅니다.
시간: 약 3분
이렇게 말해 보세요
- “258은 백 모형 2개, 십 모형 5개, 일 모형 8개야. 137과 모으면 일 모형은 몇 개가 돼?”
- “일 모형 15개 중 10개를 십 모형 1개로 바꾸면 십 모형은 몇 개가 될까? 모두 얼마야?”
예상 답
- “일 모형 15개요.” “십 모형 9개, 일 모형 5개예요. 395예요.”
막히면
- 종이 수 모형(백 판, 십 막대, 일 칸)으로 직접 놓아 봅니다. 일 모형 10개를 십 막대 하나와 바꿉니다.
주의
- 2학년에서 배운 받아올림과 같은 생각입니다. 자리가 하나 늘었을 뿐이라고 말해 줍니다. ‘모으면’과 ‘바꾸면’은 모양만 다르고 같은 수입니다.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[S04 · 세로셈 시범(일의 자리에서 받아올림)]
목적: S03에서 수 모형으로 한 일을 세로셈으로 쓰는 방법을 시범으로 보여 줍니다.
시간: 약 3분
이렇게 말해 보세요
- “일의 자리부터 더해. 8 + 7 = 15야. 일의 자리에는 5를 쓰고, 1은 십의 자리 위에 작게 올려 써.”
- “십의 자리는 올린 1까지 1 + 5 + 3 = 9, 백의 자리는 2 + 1 = 3. 그래서 395야.”
예상 답
- “일의 자리 5, 십의 자리 9, 백의 자리 3. 395예요.”
막히면
- S03의 표와 나란히 놓고 ‘작은 1 = 바꾼 십 모형 1개’라고 짚어 줍니다.
- 칸 공책에 함께 따라 쓰게 합니다.
주의
- 표 맨 윗줄의 작은 1이 받아올린 1입니다. 공책에는 십의 자리 숫자 위에 작게 쓰게 합니다.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[S05 · 세로셈 시범(십의 자리에서 받아올림)]
목적: 십의 자리끼리의 합이 10을 넘으면 십 모형 10개를 백 모형 1개로 바꾸어 백의 자리로 올린다는 것을 압니다.
시간: 약 3분
이렇게 말해 보세요
- “일의 자리는 2 + 1 = 3이라 그대로 써. 십의 자리 5 + 7은 얼마야?”
- “십 모형 12개 중 10개는 백 모형 1개로 바꿀 수 있지? 그래서 십의 자리에 2를 쓰고, 1은 백의 자리 위에 올려. 백은 1 + 3 + 4 = 8, 823이야.”
예상 답
- “12요.” “823이에요.”
막히면
- 십 모형 12개를 놓고 10개를 백 모형 판 위에 올려 보며 ‘십 10개 = 백 1개’를 확인합니다.
주의
- 십의 자리에서 올린 1은 10이 아니라 100을 나타냅니다. “이 1은 백 모형 1개야.”라고 말해 줍니다.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[S06 · 세로셈 시범(받아올림이 두 번)]
목적: 일의 자리와 십의 자리에서 모두 받아올림이 있는 덧셈을 세로셈으로 계산합니다.
시간: 약 3분
이렇게 말해 보세요
- “표지에서 본 386 + 247이야. 일의 자리 6 + 7 = 13, 3을 쓰고 1을 올려.”
- “십의 자리는 1 + 8 + 4 = 13. 또 10이 넘었네. 3을 쓰고 1을 백의 자리로 올려. 백은 1 + 3 + 2 = 6. 633이야.”
예상 답
- “633이에요.”
막히면
- 한 자리씩 손가락으로 가리고 ‘이 자리만’ 더하게 합니다. 올린 1에는 동그라미를 칩니다.
주의
- 두 번째로 올린 1을 빠뜨리기 쉽습니다(M1). 더하기 전에 “이 자리 위에 올린 1이 있어?”라고 묻습니다.
- 지치면 여기서 쉬고, 다음에 S07부터 이어도 됩니다.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[S07 · 안내받는 연습(받아올림 한 번, 두 번)]
목적: 도움을 받으며 받아올림이 있는 세 자리 수 덧셈을 세로셈으로 계산합니다.
시간: 약 4분
이렇게 말해 보세요
- “①은 일의 자리, ②는 십의 자리에서 받아올림이 있어. 어느 자리에서 올렸는지 말하면서 풀어 볼래?”
- “③은 오른쪽 세로셈 칸에 써 보자. 맨 위 □에는 무엇을 쓸까?”
정답
- ① 383(5 + 8 = 13, 1 + 4 + 3 = 8, 1 + 2 = 3)
- ② 837(4 + 3 = 7, 7 + 6 = 13, 1 + 2 + 5 = 8)
- ③ 825(7 + 8 = 15, 1 + 5 + 6 = 12, 1 + 4 + 3 = 8, 맨 위 □는 1과 1)
막히면
- S04~S06 가운데 같은 모양의 장을 다시 보며 따라 하게 합니다.
- 칸 공책에 자리를 맞추어 옮겨 쓰게 합니다.
주의
- 답만 맞히기보다 “1을 왜 올렸어? 그 1은 무엇이야?”라고 물어 설명하게 합니다.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[S08 · 오개념 비교(십의 자리에서 올린 1 빠뜨리기)]
목적: 십의 자리에서 받아올린 1을 백의 자리에 더하지 않는 실수를 찾고 까닭을 설명합니다(M1).
시간: 약 3분
이렇게 말해 보세요
- “토끼와 곰의 답이 달라. 누가 맞았을까?”
- “십의 자리에서 14가 나왔을 때 1은 무엇이었지? 토끼는 그 1을 어떻게 했어?”
예상 답
- “곰이요. 토끼는 올린 1을 안 더했어요.”
정답
- 곰이 맞습니다. 475 + 268 = 743입니다.
- 십의 자리 1 + 7 + 6 = 14에서 10은 백 모형 1개입니다. 토끼는 이 1을 백의 자리에 더하지 않았습니다.
막히면
- 자릿값 표(백·십·일 모형의 개수)를 그려 모은 개수와 바꾼 개수를 함께 써 봅니다.
주의
- S09에서 배울 어림으로도 확인할 수 있습니다. 475는 약 500, 268은 약 300이라 합은 약 800이므로 643보다 743이 알맞습니다.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[S09 · 가까운 몇백으로 어림해 합 확인하기]
목적: 두 수를 가까운 몇백으로 어림해 합이 약 얼마인지 알고, 계산한 답이 알맞은지 판단합니다.
시간: 약 3분
이렇게 말해 보세요
- “386은 300과 400 중 어디에 더 가까워? 247은 200과 300 중 어디에 더 가까워?”
- “그러면 386 + 247은 약 얼마일까? 아까 계산한 633과 비교해 볼까?”
예상 답
- “400이요. 200이요.” “약 600이요. 633은 600과 가까우니까 알맞아요.”
막히면
- 수직선에서 386이 어느 끝에 더 가까운지 손가락으로 거리를 재어 봅니다. 386은 400까지 14, 300까지 86만큼 떨어져 있습니다.
주의
- 어림은 정확한 답이 아니라 ‘약 얼마’입니다. 어림과 아주 다른 답(예: 533, 733)이 나오면 다시 계산하게 합니다.
- 350처럼 딱 가운데인 수는 이번 차시에서 쓰지 않습니다.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[S10 · 안내받는 연습(어림으로 답 확인)]
목적: 도움을 받으며 두 수를 가까운 몇백으로 어림하고, 계산 결과가 알맞은지 판단합니다.
시간: 약 3분
이렇게 말해 보세요
- “①의 498은 몇백에 가까워? 315는? 그러면 합은 약 얼마야? 813은 알맞아 보여?”
- “②도 같은 방법으로 해 보자. 어림한 값과 593을 비교하면 어때?”
정답
- ① 약 500 + 약 300 = 약 800 → 813은 알맞습니다.
- ② 약 300 + 약 400 = 약 700 → 593은 너무 작습니다. 바른 답은 693입니다(십의 자리에서 올린 1을 빠뜨림).
- ③ 약 600 + 약 300 = 약 900 → 901은 알맞습니다.
막히면
- S09의 수직선을 다시 보며 ‘어느 몇백에 더 가까워?’를 한 수씩 묻습니다.
주의
- 어림은 큰 실수를 찾는 데 도움이 됩니다. 어림과 가까워도 틀릴 수 있으니, ②처럼 이상하면 세로셈으로 다시 계산하게 합니다.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[S11 · 혼자 해결]
목적: 도움 없이 받아올림이 있는 세 자리 수 덧셈을 계산하고, 어림으로 합이 약 얼마인지 말하는지 확인합니다.
시간: 약 5분
이렇게 말해 보세요
- “이번에는 혼자 공책에 세로셈으로 풀어 볼래? 다 풀면 어느 자리에서 1을 올렸는지 말해 줘.”
- “④는 계산하지 말고 어림만 해. 어떻게 어림했는지도 말해 줘.”
정답
- ① 592
- ② 847
- ③ 827
- ④ 약 900(약 700 + 약 200)
막히면
- 바로 알려 주지 말고 “일의 자리부터 더하면 얼마야? 10이 넘었어?”라고만 묻습니다.
- 도움을 받아 해결했다면 기록표에 ‘도움’으로 표시합니다.
주의
- ④를 약 800(694를 600으로)이라고 하면 앞자리 숫자만 본 것입니다(M4). 694는 700에 더 가깝습니다. 실제 합은 883입니다.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[S12 · 정답과 피드백]
목적: 아이의 답을 함께 확인하고 흔한 실수를 바로잡습니다. 수업용에만 있는 장입니다.
시간: 약 2분
이렇게 말해 보세요
- “네 답과 같은지 볼까? 다르면 어느 자리에서 달라졌는지 같이 찾아보자.”
정답
- ① 592 ② 847 ③ 827 ④ 약 900
막히면
- 올린 1을 빠뜨렸으면 S08로, 어림이 틀렸으면 S09로 돌아갑니다.
주의
- 이 장은 학생용 파일에는 없습니다. 아이와 함께 볼 때는 슬라이드 쇼로 보여 줍니다.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[S13 · 마무리 확인(계산과 어림)]
목적: 처음 보는 문제에서 계산과 어림으로 알맞은 답을 고르고, 다른 답이 왜 틀렸는지 설명하는지 확인합니다.
시간: 약 2분
이렇게 말해 보세요
- “467 + 285의 답으로 알맞은 것을 골라 볼래? 어림하면 약 얼마야? 세로셈으로도 확인해 줘.”
정답
- 다(752). 어림하면 약 500 + 약 300 = 약 800입니다.
- 가(652)는 십의 자리에서 올린 1을 백의 자리에 더하지 않은 답, 나(742)는 일의 자리에서 올린 1을 십의 자리에 더하지 않은 답입니다.
막히면
- 먼저 어림으로 약 800을 구하게 한 뒤, 세 답 중 어느 것이 맞는지 세로셈으로 확인하게 합니다.
주의
- 나(742)도 800에 가까워서 어림만으로는 고를 수 없습니다. 어림은 큰 실수를 찾는 도구이고, 정확한 답은 계산으로 확인한다고 말해 줍니다.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[S14 · 정리와 다음 수업 복습]
목적: 핵심을 정리하고 다음 수업 첫 5분에 풀 복습 문제를 알려 줍니다.
시간: 약 2분
이렇게 말해 보세요
- “오늘 배운 것을 말해 볼래? 십의 자리에서 올린 1은 무엇을 나타내? 답이 알맞은지 어떻게 확인해?”
예상 답
- “백 모형 1개요.” “가까운 몇백으로 어림해서 비교해요.”
정답
- ① 623 ② 583 ③ 약 800(약 600 + 약 200)
막히면
- S03과 S06을 나란히 보여 주며 수 모형과 세로셈을 연결해 말합니다.
주의
- 다음 차시(세 자리 수의 뺄셈)는 오늘과 반대로 백 1개를 십 10개로, 십 1개를 일 10개로 바꿉니다. 복습 세 문제는 활동지 마지막 쪽과 함께 풉니다.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[S15 · 선수 학습 보충(받아올림이 있는 두 자리 수 덧셈)]
목적: S02에서 두 자리 수 덧셈이 흔들리면, 받아올림이 한 번 있는 두 자리 수 덧셈을 세로셈으로 다시 익힙니다.
시간: 약 5분
이렇게 말해 보세요
- “56 + 27을 해 보자. 일의 자리 6 + 7은 얼마야? 13은 십 1개와 일 3개지?”
- “일의 자리에 3을 쓰고 1은 십의 자리 위에 올려. 십의 자리는 1 + 5 + 2 = 8. 그래서 83이야.”
정답
- 56 + 27 = 83
막히면
- 종이 수 모형으로 56과 27을 놓고, 일 모형 10개를 십 모형 1개로 바꾸어 봅니다. 38 + 45, 29 + 36으로도 해 봅니다(83, 65).
주의
- 보충으로도 어려우면 초2 3차시 ‘받아올림이 있는 두 자리 수 덧셈’(KR22-G02-MAT-ADD2D-L01)과 초2 1차시 ‘세 자리 수’(KR22-G02-MAT-NUM1000-L01)를 먼저 합니다.
- 보충이 오래 걸리면 오늘은 여기까지 하고 다음 날 S02부터 다시 시작합니다.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VER">
    <p:bg>
      <p:bgPr>
        <a:solidFill>
          <a:srgbClr val="26465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731520" y="640080"/>
            <a:ext cx="6675120" cy="118872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46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defRPr>
            </a:lvl1pPr>
          </a:lstStyle>
          <a:p>
            <a:pPr algn="l" indent="0" marL="0">
              <a:buNone/>
            </a:pPr>
            <a:endParaRPr lang="en-US" sz="4600" dirty="0"/>
          </a:p>
        </p:txBody>
      </p:sp>
      <p:sp>
        <p:nvSpPr>
          <p:cNvPr id="3" name="Text 0"/>
          <p:cNvSpPr/>
          <p:nvPr>
            <p:ph idx="101" type="body" hasCustomPrompt="1"/>
          </p:nvPr>
        </p:nvSpPr>
        <p:spPr>
          <a:xfrm>
            <a:off x="731520" y="1920240"/>
            <a:ext cx="6675120" cy="1645920"/>
          </a:xfrm>
          <a:prstGeom prst="rect">
            <a:avLst/>
          </a:prstGeom>
          <a:noFill/>
          <a:ln/>
        </p:spPr>
        <p:txBody>
          <a:bodyPr wrap="square" rtlCol="0"/>
          <a:lstStyle>
            <a:lvl1pPr indent="0" marL="0">
              <a:buNone/>
              <a:defRPr lang="en-US" sz="3000" dirty="0">
                <a:solidFill>
                  <a:srgbClr val="C9DCD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defRPr>
            </a:lvl1pPr>
          </a:lstStyle>
          <a:p>
            <a:pPr indent="0" marL="0">
              <a:buNone/>
            </a:pPr>
            <a:endParaRPr lang="en-US" sz="3000" dirty="0"/>
          </a:p>
        </p:txBody>
      </p:sp>
      <p:sp>
        <p:nvSpPr>
          <p:cNvPr id="4" name="Text 0"/>
          <p:cNvSpPr/>
          <p:nvPr/>
        </p:nvSpPr>
        <p:spPr>
          <a:xfrm>
            <a:off x="548640" y="6382512"/>
            <a:ext cx="8686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C9DCD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초3 수학 · 자연수계산 · 1차시</a:t>
            </a:r>
            <a:endParaRPr lang="en-US" sz="1200" dirty="0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NTENT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4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defRPr>
            </a:lvl1pPr>
          </a:lstStyle>
          <a:p>
            <a:pPr algn="l" indent="0" marL="0">
              <a:buNone/>
            </a:pPr>
            <a:endParaRPr lang="en-US" sz="4000" dirty="0"/>
          </a:p>
        </p:txBody>
      </p:sp>
      <p:sp>
        <p:nvSpPr>
          <p:cNvPr id="3" name="Text 0"/>
          <p:cNvSpPr/>
          <p:nvPr/>
        </p:nvSpPr>
        <p:spPr>
          <a:xfrm>
            <a:off x="548640" y="6382512"/>
            <a:ext cx="8686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4B556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초3 수학 · 세 자리 수의 덧셈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algn="r"/>
            <a:fld id="{F7021451-1387-4CA6-816F-3879F97B5CBC}" type="slidenum">
              <a:rPr b="0" lang="en-US"/>
              <a:t>1003</a:t>
            </a:fld>
            <a:endParaRPr lang="en-US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LOSING">
    <p:bg>
      <p:bgPr>
        <a:solidFill>
          <a:srgbClr val="26465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40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defRPr>
            </a:lvl1pPr>
          </a:lstStyle>
          <a:p>
            <a:pPr algn="l" indent="0" marL="0">
              <a:buNone/>
            </a:pPr>
            <a:endParaRPr lang="en-US" sz="4000" dirty="0"/>
          </a:p>
        </p:txBody>
      </p:sp>
      <p:sp>
        <p:nvSpPr>
          <p:cNvPr id="3" name="Text 0"/>
          <p:cNvSpPr/>
          <p:nvPr/>
        </p:nvSpPr>
        <p:spPr>
          <a:xfrm>
            <a:off x="548640" y="6382512"/>
            <a:ext cx="8686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C9DCD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초3 수학 · 세 자리 수의 덧셈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C9DCD8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algn="r"/>
            <a:fld id="{F7021451-1387-4CA6-816F-3879F97B5CBC}" type="slidenum">
              <a:rPr b="0" lang="en-US"/>
              <a:t>1004</a:t>
            </a:fld>
            <a:endParaRPr lang="en-US"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SUPPORT">
    <p:bg>
      <p:bgPr>
        <a:solidFill>
          <a:srgbClr val="F4F7F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4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defRPr>
            </a:lvl1pPr>
          </a:lstStyle>
          <a:p>
            <a:pPr algn="l" indent="0" marL="0">
              <a:buNone/>
            </a:pPr>
            <a:endParaRPr lang="en-US" sz="4000" dirty="0"/>
          </a:p>
        </p:txBody>
      </p:sp>
      <p:sp>
        <p:nvSpPr>
          <p:cNvPr id="3" name="Text 0"/>
          <p:cNvSpPr/>
          <p:nvPr/>
        </p:nvSpPr>
        <p:spPr>
          <a:xfrm>
            <a:off x="548640" y="6382512"/>
            <a:ext cx="8686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4B556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보충 자료 · 초3 수학 · 세 자리 수의 덧셈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algn="r"/>
            <a:fld id="{F7021451-1387-4CA6-816F-3879F97B5CBC}" type="slidenum">
              <a:rPr b="0" lang="en-US"/>
              <a:t>1005</a:t>
            </a:fld>
            <a:endParaRPr lang="en-US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algn="r"/>
            <a:fld id="{F7021451-1387-4CA6-816F-3879F97B5CBC}" type="slidenum">
              <a:rPr b="0" lang="en-US"/>
              <a:t>null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15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731520" y="640080"/>
            <a:ext cx="667512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6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세 자리 수의 덧셈</a:t>
            </a:r>
            <a:endParaRPr lang="ko-KR" sz="4600" dirty="0"/>
          </a:p>
        </p:txBody>
      </p:sp>
      <p:sp>
        <p:nvSpPr>
          <p:cNvPr id="3" name="Text 0"/>
          <p:cNvSpPr/>
          <p:nvPr>
            <p:ph idx="101" type="body" hasCustomPrompt="1"/>
          </p:nvPr>
        </p:nvSpPr>
        <p:spPr>
          <a:xfrm>
            <a:off x="731520" y="1920240"/>
            <a:ext cx="6675120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indent="0" marL="0">
              <a:buNone/>
            </a:pPr>
            <a:r>
              <a:rPr lang="ko-KR" altLang="en-US" sz="3000" dirty="0">
                <a:solidFill>
                  <a:srgbClr val="C9DCD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여러 자리에서 10이 넘으면?</a:t>
            </a:r>
            <a:endParaRPr lang="ko-KR" sz="3000" dirty="0"/>
          </a:p>
        </p:txBody>
      </p:sp>
      <p:graphicFrame>
        <p:nvGraphicFramePr>
          <p:cNvPr id="2" name="S01-table1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7726680" y="965200"/>
          <a:ext cx="3840480" cy="914400"/>
        </p:xfrm>
        <a:graphic>
          <a:graphicData uri="http://schemas.openxmlformats.org/drawingml/2006/table">
            <a:tbl>
              <a:tblPr/>
              <a:tblGrid>
                <a:gridCol w="960120"/>
                <a:gridCol w="960120"/>
                <a:gridCol w="960120"/>
                <a:gridCol w="960120"/>
              </a:tblGrid>
              <a:tr h="568960"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endParaRPr lang="en-US" sz="28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3F1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800" b="1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백</a:t>
                      </a:r>
                      <a:endParaRPr lang="en-US" sz="28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3F1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800" b="1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십</a:t>
                      </a:r>
                      <a:endParaRPr lang="en-US" sz="28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3F1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800" b="1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일</a:t>
                      </a:r>
                      <a:endParaRPr lang="en-US" sz="28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3F1"/>
                    </a:solidFill>
                  </a:tcPr>
                </a:tc>
              </a:tr>
              <a:tr h="568960"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endParaRPr lang="en-US" sz="28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8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3</a:t>
                      </a:r>
                      <a:endParaRPr lang="en-US" sz="28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8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8</a:t>
                      </a:r>
                      <a:endParaRPr lang="en-US" sz="28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8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6</a:t>
                      </a:r>
                      <a:endParaRPr lang="en-US" sz="28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68960"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8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+</a:t>
                      </a:r>
                      <a:endParaRPr lang="en-US" sz="28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8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2</a:t>
                      </a:r>
                      <a:endParaRPr lang="en-US" sz="28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8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4</a:t>
                      </a:r>
                      <a:endParaRPr lang="en-US" sz="28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8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7</a:t>
                      </a:r>
                      <a:endParaRPr lang="en-US" sz="28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68960"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endParaRPr lang="en-US" sz="28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8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□</a:t>
                      </a:r>
                      <a:endParaRPr lang="en-US" sz="28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8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□</a:t>
                      </a:r>
                      <a:endParaRPr lang="en-US" sz="28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8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□</a:t>
                      </a:r>
                      <a:endParaRPr lang="en-US" sz="28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5" name="S01-card2"/>
          <p:cNvSpPr/>
          <p:nvPr/>
        </p:nvSpPr>
        <p:spPr>
          <a:xfrm>
            <a:off x="731520" y="4436364"/>
            <a:ext cx="10725912" cy="1690116"/>
          </a:xfrm>
          <a:prstGeom prst="roundRect">
            <a:avLst>
              <a:gd name="adj" fmla="val 6492"/>
            </a:avLst>
          </a:prstGeom>
          <a:solidFill>
            <a:srgbClr val="32606F"/>
          </a:solidFill>
          <a:ln w="12700">
            <a:solidFill>
              <a:srgbClr val="32606F"/>
            </a:solidFill>
            <a:prstDash val="solid"/>
          </a:ln>
        </p:spPr>
      </p:sp>
      <p:sp>
        <p:nvSpPr>
          <p:cNvPr id="6" name="S01-cardtext3"/>
          <p:cNvSpPr txBox="1"/>
          <p:nvPr/>
        </p:nvSpPr>
        <p:spPr>
          <a:xfrm>
            <a:off x="1005840" y="4573524"/>
            <a:ext cx="10177272" cy="14157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0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오늘 할 수 있게 될 것</a:t>
            </a:r>
            <a:endParaRPr lang="ko-KR" sz="3000" dirty="0"/>
          </a:p>
          <a:p>
            <a:pPr eaLnBrk="0" indent="0" marL="0">
              <a:spcAft>
                <a:spcPts val="600"/>
              </a:spcAft>
              <a:buNone/>
            </a:pPr>
            <a:r>
              <a:rPr lang="ko-KR" altLang="en-US" sz="2400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① 받아올림이 있는 덧셈을 세로셈으로 해요.</a:t>
            </a:r>
            <a:endParaRPr lang="ko-KR" sz="3000" dirty="0"/>
          </a:p>
          <a:p>
            <a:pPr eaLnBrk="0" indent="0" marL="0">
              <a:spcAft>
                <a:spcPts val="600"/>
              </a:spcAft>
              <a:buNone/>
            </a:pPr>
            <a:r>
              <a:rPr lang="ko-KR" altLang="en-US" sz="2400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② 어림해서 답이 알맞은지 확인해요.</a:t>
            </a:r>
            <a:endParaRPr lang="ko-KR" sz="30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지난 학년 기억하기</a:t>
            </a:r>
            <a:endParaRPr lang="ko-KR" sz="4000" dirty="0"/>
          </a:p>
        </p:txBody>
      </p:sp>
      <p:sp>
        <p:nvSpPr>
          <p:cNvPr id="3" name="S02-chip4"/>
          <p:cNvSpPr txBox="1"/>
          <p:nvPr/>
        </p:nvSpPr>
        <p:spPr>
          <a:xfrm>
            <a:off x="548640" y="1773936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4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①</a:t>
            </a:r>
            <a:endParaRPr lang="ko-KR" sz="2400" dirty="0"/>
          </a:p>
        </p:txBody>
      </p:sp>
      <p:sp>
        <p:nvSpPr>
          <p:cNvPr id="4" name="S02-eqtext5"/>
          <p:cNvSpPr txBox="1"/>
          <p:nvPr/>
        </p:nvSpPr>
        <p:spPr>
          <a:xfrm>
            <a:off x="1344168" y="1325880"/>
            <a:ext cx="10296144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4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56 + 27 = □</a:t>
            </a:r>
            <a:endParaRPr lang="ko-KR" sz="3400" dirty="0"/>
          </a:p>
        </p:txBody>
      </p:sp>
      <p:sp>
        <p:nvSpPr>
          <p:cNvPr id="5" name="S02-chip6"/>
          <p:cNvSpPr txBox="1"/>
          <p:nvPr/>
        </p:nvSpPr>
        <p:spPr>
          <a:xfrm>
            <a:off x="548640" y="3465576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4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②</a:t>
            </a:r>
            <a:endParaRPr lang="ko-KR" sz="2400" dirty="0"/>
          </a:p>
        </p:txBody>
      </p:sp>
      <p:sp>
        <p:nvSpPr>
          <p:cNvPr id="6" name="S02-text7"/>
          <p:cNvSpPr txBox="1"/>
          <p:nvPr/>
        </p:nvSpPr>
        <p:spPr>
          <a:xfrm>
            <a:off x="1344168" y="3017520"/>
            <a:ext cx="10296144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10이 13개이면 얼마일까요?</a:t>
            </a:r>
            <a:endParaRPr lang="ko-KR" sz="3000" dirty="0"/>
          </a:p>
        </p:txBody>
      </p:sp>
      <p:sp>
        <p:nvSpPr>
          <p:cNvPr id="7" name="S02-chip8"/>
          <p:cNvSpPr txBox="1"/>
          <p:nvPr/>
        </p:nvSpPr>
        <p:spPr>
          <a:xfrm>
            <a:off x="548640" y="5157216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4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③</a:t>
            </a:r>
            <a:endParaRPr lang="ko-KR" sz="2400" dirty="0"/>
          </a:p>
        </p:txBody>
      </p:sp>
      <p:sp>
        <p:nvSpPr>
          <p:cNvPr id="8" name="S02-eqtext9"/>
          <p:cNvSpPr txBox="1"/>
          <p:nvPr/>
        </p:nvSpPr>
        <p:spPr>
          <a:xfrm>
            <a:off x="1344168" y="4709160"/>
            <a:ext cx="10296144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4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400 + 200 = □</a:t>
            </a:r>
            <a:endParaRPr lang="ko-KR" sz="3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2</a:t>
            </a:fld>
            <a:endParaRPr lang="en-US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일 모형 10개는 십 모형 1개</a:t>
            </a:r>
            <a:endParaRPr lang="ko-KR" sz="4000" dirty="0"/>
          </a:p>
        </p:txBody>
      </p:sp>
      <p:sp>
        <p:nvSpPr>
          <p:cNvPr id="3" name="S03-text10"/>
          <p:cNvSpPr txBox="1"/>
          <p:nvPr/>
        </p:nvSpPr>
        <p:spPr>
          <a:xfrm>
            <a:off x="548640" y="1325880"/>
            <a:ext cx="11091672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258 + 137을 수 모형의 개수로 나타냈어요.</a:t>
            </a:r>
            <a:endParaRPr lang="ko-KR" sz="3000" dirty="0"/>
          </a:p>
        </p:txBody>
      </p:sp>
      <p:sp>
        <p:nvSpPr>
          <p:cNvPr id="4" name="S03-card11"/>
          <p:cNvSpPr/>
          <p:nvPr/>
        </p:nvSpPr>
        <p:spPr>
          <a:xfrm>
            <a:off x="548640" y="4975860"/>
            <a:ext cx="11091672" cy="1242060"/>
          </a:xfrm>
          <a:prstGeom prst="roundRect">
            <a:avLst>
              <a:gd name="adj" fmla="val 8834"/>
            </a:avLst>
          </a:prstGeom>
          <a:solidFill>
            <a:srgbClr val="FDEBDD"/>
          </a:solidFill>
          <a:ln w="12700">
            <a:solidFill>
              <a:srgbClr val="FDEBDD"/>
            </a:solidFill>
            <a:prstDash val="solid"/>
          </a:ln>
        </p:spPr>
      </p:sp>
      <p:sp>
        <p:nvSpPr>
          <p:cNvPr id="5" name="S03-cardtext12"/>
          <p:cNvSpPr txBox="1"/>
          <p:nvPr/>
        </p:nvSpPr>
        <p:spPr>
          <a:xfrm>
            <a:off x="822960" y="5113020"/>
            <a:ext cx="10543032" cy="9677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258 + 137 = 395</a:t>
            </a:r>
            <a:endParaRPr lang="ko-KR" sz="3000" dirty="0"/>
          </a:p>
          <a:p>
            <a:pPr eaLnBrk="0" indent="0" marL="0">
              <a:spcAft>
                <a:spcPts val="600"/>
              </a:spcAft>
              <a:buNone/>
            </a:pPr>
            <a:r>
              <a:rPr lang="ko-KR" altLang="en-US" sz="24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일 모형 10개를 십 모형 1개로 바꿔요.</a:t>
            </a:r>
            <a:endParaRPr lang="ko-KR" sz="3000" dirty="0"/>
          </a:p>
        </p:txBody>
      </p:sp>
      <p:graphicFrame>
        <p:nvGraphicFramePr>
          <p:cNvPr id="4" name="S03-table13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2253996" y="2058670"/>
          <a:ext cx="7680960" cy="914400"/>
        </p:xfrm>
        <a:graphic>
          <a:graphicData uri="http://schemas.openxmlformats.org/drawingml/2006/table">
            <a:tbl>
              <a:tblPr/>
              <a:tblGrid>
                <a:gridCol w="1920240"/>
                <a:gridCol w="1920240"/>
                <a:gridCol w="1920240"/>
                <a:gridCol w="1920240"/>
              </a:tblGrid>
              <a:tr h="528320"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endParaRPr lang="en-US" sz="26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3F1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600" b="1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백 모형</a:t>
                      </a:r>
                      <a:endParaRPr lang="en-US" sz="26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3F1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600" b="1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십 모형</a:t>
                      </a:r>
                      <a:endParaRPr lang="en-US" sz="26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3F1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600" b="1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일 모형</a:t>
                      </a:r>
                      <a:endParaRPr lang="en-US" sz="26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3F1"/>
                    </a:solidFill>
                  </a:tcPr>
                </a:tc>
              </a:tr>
              <a:tr h="528320"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600" b="1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258</a:t>
                      </a:r>
                      <a:endParaRPr lang="en-US" sz="26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3F1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6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2개</a:t>
                      </a:r>
                      <a:endParaRPr lang="en-US" sz="26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6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5개</a:t>
                      </a:r>
                      <a:endParaRPr lang="en-US" sz="26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6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8개</a:t>
                      </a:r>
                      <a:endParaRPr lang="en-US" sz="26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28320"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600" b="1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137</a:t>
                      </a:r>
                      <a:endParaRPr lang="en-US" sz="26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3F1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6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1개</a:t>
                      </a:r>
                      <a:endParaRPr lang="en-US" sz="26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6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3개</a:t>
                      </a:r>
                      <a:endParaRPr lang="en-US" sz="26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6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7개</a:t>
                      </a:r>
                      <a:endParaRPr lang="en-US" sz="26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28320"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600" b="1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모으면</a:t>
                      </a:r>
                      <a:endParaRPr lang="en-US" sz="26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3F1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6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3개</a:t>
                      </a:r>
                      <a:endParaRPr lang="en-US" sz="26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6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8개</a:t>
                      </a:r>
                      <a:endParaRPr lang="en-US" sz="26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6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15개</a:t>
                      </a:r>
                      <a:endParaRPr lang="en-US" sz="26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28320"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600" b="1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바꾸면</a:t>
                      </a:r>
                      <a:endParaRPr lang="en-US" sz="26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3F1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6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3개</a:t>
                      </a:r>
                      <a:endParaRPr lang="en-US" sz="26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6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9개</a:t>
                      </a:r>
                      <a:endParaRPr lang="en-US" sz="26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6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5개</a:t>
                      </a:r>
                      <a:endParaRPr lang="en-US" sz="26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3</a:t>
            </a:fld>
            <a:endParaRPr lang="en-US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일의 자리에서 받아올림</a:t>
            </a:r>
            <a:endParaRPr lang="ko-KR" sz="4000" dirty="0"/>
          </a:p>
        </p:txBody>
      </p:sp>
      <p:sp>
        <p:nvSpPr>
          <p:cNvPr id="3" name="S04-text14"/>
          <p:cNvSpPr txBox="1"/>
          <p:nvPr/>
        </p:nvSpPr>
        <p:spPr>
          <a:xfrm>
            <a:off x="548640" y="1325880"/>
            <a:ext cx="11091672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258 + 137을 세로셈으로 해요.</a:t>
            </a:r>
            <a:endParaRPr lang="ko-KR" sz="3000" dirty="0"/>
          </a:p>
        </p:txBody>
      </p:sp>
      <p:sp>
        <p:nvSpPr>
          <p:cNvPr id="4" name="S04-card15"/>
          <p:cNvSpPr/>
          <p:nvPr/>
        </p:nvSpPr>
        <p:spPr>
          <a:xfrm>
            <a:off x="548640" y="5349240"/>
            <a:ext cx="11091672" cy="868680"/>
          </a:xfrm>
          <a:prstGeom prst="roundRect">
            <a:avLst>
              <a:gd name="adj" fmla="val 12632"/>
            </a:avLst>
          </a:prstGeom>
          <a:solidFill>
            <a:srgbClr val="FDEBDD"/>
          </a:solidFill>
          <a:ln w="12700">
            <a:solidFill>
              <a:srgbClr val="FDEBDD"/>
            </a:solidFill>
            <a:prstDash val="solid"/>
          </a:ln>
        </p:spPr>
      </p:sp>
      <p:sp>
        <p:nvSpPr>
          <p:cNvPr id="5" name="S04-cardtext16"/>
          <p:cNvSpPr txBox="1"/>
          <p:nvPr/>
        </p:nvSpPr>
        <p:spPr>
          <a:xfrm>
            <a:off x="822960" y="5486400"/>
            <a:ext cx="10543032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받아올린 1은 십 모형 1개예요.</a:t>
            </a:r>
            <a:endParaRPr lang="ko-KR" sz="3000" dirty="0"/>
          </a:p>
        </p:txBody>
      </p:sp>
      <p:graphicFrame>
        <p:nvGraphicFramePr>
          <p:cNvPr id="5" name="S04-table17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7483450" y="2042160"/>
          <a:ext cx="4023360" cy="914400"/>
        </p:xfrm>
        <a:graphic>
          <a:graphicData uri="http://schemas.openxmlformats.org/drawingml/2006/table">
            <a:tbl>
              <a:tblPr/>
              <a:tblGrid>
                <a:gridCol w="1005840"/>
                <a:gridCol w="1005840"/>
                <a:gridCol w="1005840"/>
                <a:gridCol w="1005840"/>
              </a:tblGrid>
              <a:tr h="609600"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endParaRPr lang="en-US" sz="30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3F1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3000" b="1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백</a:t>
                      </a:r>
                      <a:endParaRPr lang="en-US" sz="30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3F1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3000" b="1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십</a:t>
                      </a:r>
                      <a:endParaRPr lang="en-US" sz="30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3F1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3000" b="1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일</a:t>
                      </a:r>
                      <a:endParaRPr lang="en-US" sz="30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3F1"/>
                    </a:solidFill>
                  </a:tcPr>
                </a:tc>
              </a:tr>
              <a:tr h="609600"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endParaRPr lang="en-US" sz="30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endParaRPr lang="en-US" sz="30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30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1</a:t>
                      </a:r>
                      <a:endParaRPr lang="en-US" sz="30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endParaRPr lang="en-US" sz="30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609600"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endParaRPr lang="en-US" sz="30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30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2</a:t>
                      </a:r>
                      <a:endParaRPr lang="en-US" sz="30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30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5</a:t>
                      </a:r>
                      <a:endParaRPr lang="en-US" sz="30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30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8</a:t>
                      </a:r>
                      <a:endParaRPr lang="en-US" sz="30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609600"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30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+</a:t>
                      </a:r>
                      <a:endParaRPr lang="en-US" sz="30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30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1</a:t>
                      </a:r>
                      <a:endParaRPr lang="en-US" sz="30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30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3</a:t>
                      </a:r>
                      <a:endParaRPr lang="en-US" sz="30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30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7</a:t>
                      </a:r>
                      <a:endParaRPr lang="en-US" sz="30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609600"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endParaRPr lang="en-US" sz="30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30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3</a:t>
                      </a:r>
                      <a:endParaRPr lang="en-US" sz="30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30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9</a:t>
                      </a:r>
                      <a:endParaRPr lang="en-US" sz="30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30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5</a:t>
                      </a:r>
                      <a:endParaRPr lang="en-US" sz="30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7" name="S04-stepno18"/>
          <p:cNvSpPr txBox="1"/>
          <p:nvPr/>
        </p:nvSpPr>
        <p:spPr>
          <a:xfrm>
            <a:off x="548640" y="2433828"/>
            <a:ext cx="548640" cy="548640"/>
          </a:xfrm>
          <a:prstGeom prst="ellipse">
            <a:avLst/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4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</a:t>
            </a:r>
            <a:endParaRPr lang="ko-KR" sz="2400" dirty="0"/>
          </a:p>
        </p:txBody>
      </p:sp>
      <p:sp>
        <p:nvSpPr>
          <p:cNvPr id="8" name="S04-text19"/>
          <p:cNvSpPr txBox="1"/>
          <p:nvPr/>
        </p:nvSpPr>
        <p:spPr>
          <a:xfrm>
            <a:off x="1325880" y="2388108"/>
            <a:ext cx="5658307" cy="929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algn="l" indent="0" marL="0"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일: 8 + 7 = 15</a:t>
            </a:r>
            <a:endParaRPr lang="ko-KR" sz="3000" dirty="0"/>
          </a:p>
          <a:p>
            <a:pPr eaLnBrk="0" algn="l" indent="0" marL="0"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5를 쓰고 1을 올려요.</a:t>
            </a:r>
            <a:endParaRPr lang="ko-KR" sz="3000" dirty="0"/>
          </a:p>
        </p:txBody>
      </p:sp>
      <p:sp>
        <p:nvSpPr>
          <p:cNvPr id="9" name="S04-stepno20"/>
          <p:cNvSpPr txBox="1"/>
          <p:nvPr/>
        </p:nvSpPr>
        <p:spPr>
          <a:xfrm>
            <a:off x="548640" y="3482340"/>
            <a:ext cx="548640" cy="548640"/>
          </a:xfrm>
          <a:prstGeom prst="ellipse">
            <a:avLst/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4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</a:t>
            </a:r>
            <a:endParaRPr lang="ko-KR" sz="2400" dirty="0"/>
          </a:p>
        </p:txBody>
      </p:sp>
      <p:sp>
        <p:nvSpPr>
          <p:cNvPr id="10" name="S04-text21"/>
          <p:cNvSpPr txBox="1"/>
          <p:nvPr/>
        </p:nvSpPr>
        <p:spPr>
          <a:xfrm>
            <a:off x="1325880" y="3482340"/>
            <a:ext cx="5658307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algn="l" indent="0" marL="0"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십: 1 + 5 + 3 = 9</a:t>
            </a:r>
            <a:endParaRPr lang="ko-KR" sz="3000" dirty="0"/>
          </a:p>
        </p:txBody>
      </p:sp>
      <p:sp>
        <p:nvSpPr>
          <p:cNvPr id="11" name="S04-stepno22"/>
          <p:cNvSpPr txBox="1"/>
          <p:nvPr/>
        </p:nvSpPr>
        <p:spPr>
          <a:xfrm>
            <a:off x="548640" y="4195572"/>
            <a:ext cx="548640" cy="548640"/>
          </a:xfrm>
          <a:prstGeom prst="ellipse">
            <a:avLst/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4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</a:t>
            </a:r>
            <a:endParaRPr lang="ko-KR" sz="2400" dirty="0"/>
          </a:p>
        </p:txBody>
      </p:sp>
      <p:sp>
        <p:nvSpPr>
          <p:cNvPr id="12" name="S04-text23"/>
          <p:cNvSpPr txBox="1"/>
          <p:nvPr/>
        </p:nvSpPr>
        <p:spPr>
          <a:xfrm>
            <a:off x="1325880" y="4195572"/>
            <a:ext cx="5658307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algn="l" indent="0" marL="0"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백: 2 + 1 = 3</a:t>
            </a:r>
            <a:endParaRPr lang="ko-KR" sz="3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4</a:t>
            </a:fld>
            <a:endParaRPr lang="en-US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십의 자리에서 받아올림</a:t>
            </a:r>
            <a:endParaRPr lang="ko-KR" sz="4000" dirty="0"/>
          </a:p>
        </p:txBody>
      </p:sp>
      <p:sp>
        <p:nvSpPr>
          <p:cNvPr id="3" name="S05-text24"/>
          <p:cNvSpPr txBox="1"/>
          <p:nvPr/>
        </p:nvSpPr>
        <p:spPr>
          <a:xfrm>
            <a:off x="548640" y="1325880"/>
            <a:ext cx="11091672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352 + 471을 세로셈으로 해요.</a:t>
            </a:r>
            <a:endParaRPr lang="ko-KR" sz="3000" dirty="0"/>
          </a:p>
        </p:txBody>
      </p:sp>
      <p:sp>
        <p:nvSpPr>
          <p:cNvPr id="4" name="S05-card25"/>
          <p:cNvSpPr/>
          <p:nvPr/>
        </p:nvSpPr>
        <p:spPr>
          <a:xfrm>
            <a:off x="548640" y="5349240"/>
            <a:ext cx="11091672" cy="868680"/>
          </a:xfrm>
          <a:prstGeom prst="roundRect">
            <a:avLst>
              <a:gd name="adj" fmla="val 12632"/>
            </a:avLst>
          </a:prstGeom>
          <a:solidFill>
            <a:srgbClr val="FDEBDD"/>
          </a:solidFill>
          <a:ln w="12700">
            <a:solidFill>
              <a:srgbClr val="FDEBDD"/>
            </a:solidFill>
            <a:prstDash val="solid"/>
          </a:ln>
        </p:spPr>
      </p:sp>
      <p:sp>
        <p:nvSpPr>
          <p:cNvPr id="5" name="S05-cardtext26"/>
          <p:cNvSpPr txBox="1"/>
          <p:nvPr/>
        </p:nvSpPr>
        <p:spPr>
          <a:xfrm>
            <a:off x="822960" y="5486400"/>
            <a:ext cx="10543032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십 모형 10개는 백 모형 1개예요.</a:t>
            </a:r>
            <a:endParaRPr lang="ko-KR" sz="3000" dirty="0"/>
          </a:p>
        </p:txBody>
      </p:sp>
      <p:graphicFrame>
        <p:nvGraphicFramePr>
          <p:cNvPr id="6" name="S05-table27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7483450" y="2042160"/>
          <a:ext cx="4023360" cy="914400"/>
        </p:xfrm>
        <a:graphic>
          <a:graphicData uri="http://schemas.openxmlformats.org/drawingml/2006/table">
            <a:tbl>
              <a:tblPr/>
              <a:tblGrid>
                <a:gridCol w="1005840"/>
                <a:gridCol w="1005840"/>
                <a:gridCol w="1005840"/>
                <a:gridCol w="1005840"/>
              </a:tblGrid>
              <a:tr h="609600"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endParaRPr lang="en-US" sz="30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3F1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3000" b="1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백</a:t>
                      </a:r>
                      <a:endParaRPr lang="en-US" sz="30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3F1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3000" b="1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십</a:t>
                      </a:r>
                      <a:endParaRPr lang="en-US" sz="30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3F1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3000" b="1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일</a:t>
                      </a:r>
                      <a:endParaRPr lang="en-US" sz="30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3F1"/>
                    </a:solidFill>
                  </a:tcPr>
                </a:tc>
              </a:tr>
              <a:tr h="609600"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endParaRPr lang="en-US" sz="30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30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1</a:t>
                      </a:r>
                      <a:endParaRPr lang="en-US" sz="30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endParaRPr lang="en-US" sz="30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endParaRPr lang="en-US" sz="30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609600"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endParaRPr lang="en-US" sz="30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30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3</a:t>
                      </a:r>
                      <a:endParaRPr lang="en-US" sz="30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30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5</a:t>
                      </a:r>
                      <a:endParaRPr lang="en-US" sz="30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30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2</a:t>
                      </a:r>
                      <a:endParaRPr lang="en-US" sz="30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609600"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30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+</a:t>
                      </a:r>
                      <a:endParaRPr lang="en-US" sz="30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30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4</a:t>
                      </a:r>
                      <a:endParaRPr lang="en-US" sz="30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30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7</a:t>
                      </a:r>
                      <a:endParaRPr lang="en-US" sz="30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30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1</a:t>
                      </a:r>
                      <a:endParaRPr lang="en-US" sz="30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609600"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endParaRPr lang="en-US" sz="30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30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8</a:t>
                      </a:r>
                      <a:endParaRPr lang="en-US" sz="30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30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2</a:t>
                      </a:r>
                      <a:endParaRPr lang="en-US" sz="30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30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3</a:t>
                      </a:r>
                      <a:endParaRPr lang="en-US" sz="30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7" name="S05-stepno28"/>
          <p:cNvSpPr txBox="1"/>
          <p:nvPr/>
        </p:nvSpPr>
        <p:spPr>
          <a:xfrm>
            <a:off x="548640" y="2388108"/>
            <a:ext cx="548640" cy="548640"/>
          </a:xfrm>
          <a:prstGeom prst="ellipse">
            <a:avLst/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4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</a:t>
            </a:r>
            <a:endParaRPr lang="ko-KR" sz="2400" dirty="0"/>
          </a:p>
        </p:txBody>
      </p:sp>
      <p:sp>
        <p:nvSpPr>
          <p:cNvPr id="8" name="S05-text29"/>
          <p:cNvSpPr txBox="1"/>
          <p:nvPr/>
        </p:nvSpPr>
        <p:spPr>
          <a:xfrm>
            <a:off x="1325880" y="2388108"/>
            <a:ext cx="5658307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algn="l" indent="0" marL="0"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일: 2 + 1 = 3</a:t>
            </a:r>
            <a:endParaRPr lang="ko-KR" sz="3000" dirty="0"/>
          </a:p>
        </p:txBody>
      </p:sp>
      <p:sp>
        <p:nvSpPr>
          <p:cNvPr id="9" name="S05-stepno30"/>
          <p:cNvSpPr txBox="1"/>
          <p:nvPr/>
        </p:nvSpPr>
        <p:spPr>
          <a:xfrm>
            <a:off x="548640" y="3147060"/>
            <a:ext cx="548640" cy="548640"/>
          </a:xfrm>
          <a:prstGeom prst="ellipse">
            <a:avLst/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4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</a:t>
            </a:r>
            <a:endParaRPr lang="ko-KR" sz="2400" dirty="0"/>
          </a:p>
        </p:txBody>
      </p:sp>
      <p:sp>
        <p:nvSpPr>
          <p:cNvPr id="10" name="S05-text31"/>
          <p:cNvSpPr txBox="1"/>
          <p:nvPr/>
        </p:nvSpPr>
        <p:spPr>
          <a:xfrm>
            <a:off x="1325880" y="3101340"/>
            <a:ext cx="5658307" cy="929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algn="l" indent="0" marL="0"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십: 5 + 7 = 12</a:t>
            </a:r>
            <a:endParaRPr lang="ko-KR" sz="3000" dirty="0"/>
          </a:p>
          <a:p>
            <a:pPr eaLnBrk="0" algn="l" indent="0" marL="0"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2를 쓰고 1을 올려요.</a:t>
            </a:r>
            <a:endParaRPr lang="ko-KR" sz="3000" dirty="0"/>
          </a:p>
        </p:txBody>
      </p:sp>
      <p:sp>
        <p:nvSpPr>
          <p:cNvPr id="11" name="S05-stepno32"/>
          <p:cNvSpPr txBox="1"/>
          <p:nvPr/>
        </p:nvSpPr>
        <p:spPr>
          <a:xfrm>
            <a:off x="548640" y="4195572"/>
            <a:ext cx="548640" cy="548640"/>
          </a:xfrm>
          <a:prstGeom prst="ellipse">
            <a:avLst/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4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</a:t>
            </a:r>
            <a:endParaRPr lang="ko-KR" sz="2400" dirty="0"/>
          </a:p>
        </p:txBody>
      </p:sp>
      <p:sp>
        <p:nvSpPr>
          <p:cNvPr id="12" name="S05-text33"/>
          <p:cNvSpPr txBox="1"/>
          <p:nvPr/>
        </p:nvSpPr>
        <p:spPr>
          <a:xfrm>
            <a:off x="1325880" y="4195572"/>
            <a:ext cx="5658307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algn="l" indent="0" marL="0"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백: 1 + 3 + 4 = 8</a:t>
            </a:r>
            <a:endParaRPr lang="ko-KR" sz="3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5</a:t>
            </a:fld>
            <a:endParaRPr lang="en-US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받아올림이 두 번</a:t>
            </a:r>
            <a:endParaRPr lang="ko-KR" sz="4000" dirty="0"/>
          </a:p>
        </p:txBody>
      </p:sp>
      <p:sp>
        <p:nvSpPr>
          <p:cNvPr id="3" name="S06-text34"/>
          <p:cNvSpPr txBox="1"/>
          <p:nvPr/>
        </p:nvSpPr>
        <p:spPr>
          <a:xfrm>
            <a:off x="548640" y="1325880"/>
            <a:ext cx="11091672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386 + 247을 세로셈으로 해요.</a:t>
            </a:r>
            <a:endParaRPr lang="ko-KR" sz="3000" dirty="0"/>
          </a:p>
        </p:txBody>
      </p:sp>
      <p:sp>
        <p:nvSpPr>
          <p:cNvPr id="4" name="S06-card35"/>
          <p:cNvSpPr/>
          <p:nvPr/>
        </p:nvSpPr>
        <p:spPr>
          <a:xfrm>
            <a:off x="548640" y="5349240"/>
            <a:ext cx="11091672" cy="868680"/>
          </a:xfrm>
          <a:prstGeom prst="roundRect">
            <a:avLst>
              <a:gd name="adj" fmla="val 12632"/>
            </a:avLst>
          </a:prstGeom>
          <a:solidFill>
            <a:srgbClr val="FDEBDD"/>
          </a:solidFill>
          <a:ln w="12700">
            <a:solidFill>
              <a:srgbClr val="FDEBDD"/>
            </a:solidFill>
            <a:prstDash val="solid"/>
          </a:ln>
        </p:spPr>
      </p:sp>
      <p:sp>
        <p:nvSpPr>
          <p:cNvPr id="5" name="S06-cardtext36"/>
          <p:cNvSpPr txBox="1"/>
          <p:nvPr/>
        </p:nvSpPr>
        <p:spPr>
          <a:xfrm>
            <a:off x="822960" y="5486400"/>
            <a:ext cx="10543032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올린 1은 바로 윗자리에서 더해요.</a:t>
            </a:r>
            <a:endParaRPr lang="ko-KR" sz="3000" dirty="0"/>
          </a:p>
        </p:txBody>
      </p:sp>
      <p:graphicFrame>
        <p:nvGraphicFramePr>
          <p:cNvPr id="7" name="S06-table37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7483450" y="2042160"/>
          <a:ext cx="4023360" cy="914400"/>
        </p:xfrm>
        <a:graphic>
          <a:graphicData uri="http://schemas.openxmlformats.org/drawingml/2006/table">
            <a:tbl>
              <a:tblPr/>
              <a:tblGrid>
                <a:gridCol w="1005840"/>
                <a:gridCol w="1005840"/>
                <a:gridCol w="1005840"/>
                <a:gridCol w="1005840"/>
              </a:tblGrid>
              <a:tr h="609600"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endParaRPr lang="en-US" sz="30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3F1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3000" b="1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백</a:t>
                      </a:r>
                      <a:endParaRPr lang="en-US" sz="30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3F1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3000" b="1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십</a:t>
                      </a:r>
                      <a:endParaRPr lang="en-US" sz="30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3F1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3000" b="1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일</a:t>
                      </a:r>
                      <a:endParaRPr lang="en-US" sz="30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3F1"/>
                    </a:solidFill>
                  </a:tcPr>
                </a:tc>
              </a:tr>
              <a:tr h="609600"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endParaRPr lang="en-US" sz="30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30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1</a:t>
                      </a:r>
                      <a:endParaRPr lang="en-US" sz="30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30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1</a:t>
                      </a:r>
                      <a:endParaRPr lang="en-US" sz="30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endParaRPr lang="en-US" sz="30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609600"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endParaRPr lang="en-US" sz="30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30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3</a:t>
                      </a:r>
                      <a:endParaRPr lang="en-US" sz="30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30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8</a:t>
                      </a:r>
                      <a:endParaRPr lang="en-US" sz="30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30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6</a:t>
                      </a:r>
                      <a:endParaRPr lang="en-US" sz="30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609600"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30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+</a:t>
                      </a:r>
                      <a:endParaRPr lang="en-US" sz="30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30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2</a:t>
                      </a:r>
                      <a:endParaRPr lang="en-US" sz="30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30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4</a:t>
                      </a:r>
                      <a:endParaRPr lang="en-US" sz="30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30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7</a:t>
                      </a:r>
                      <a:endParaRPr lang="en-US" sz="30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609600"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endParaRPr lang="en-US" sz="30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30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6</a:t>
                      </a:r>
                      <a:endParaRPr lang="en-US" sz="30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30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3</a:t>
                      </a:r>
                      <a:endParaRPr lang="en-US" sz="30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30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3</a:t>
                      </a:r>
                      <a:endParaRPr lang="en-US" sz="30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7" name="S06-stepno38"/>
          <p:cNvSpPr txBox="1"/>
          <p:nvPr/>
        </p:nvSpPr>
        <p:spPr>
          <a:xfrm>
            <a:off x="548640" y="2578608"/>
            <a:ext cx="548640" cy="548640"/>
          </a:xfrm>
          <a:prstGeom prst="ellipse">
            <a:avLst/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4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</a:t>
            </a:r>
            <a:endParaRPr lang="ko-KR" sz="2400" dirty="0"/>
          </a:p>
        </p:txBody>
      </p:sp>
      <p:sp>
        <p:nvSpPr>
          <p:cNvPr id="8" name="S06-text39"/>
          <p:cNvSpPr txBox="1"/>
          <p:nvPr/>
        </p:nvSpPr>
        <p:spPr>
          <a:xfrm>
            <a:off x="1325880" y="2578608"/>
            <a:ext cx="5658307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algn="l" indent="0" marL="0"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일: 6 + 7 = 13, 1을 올려요.</a:t>
            </a:r>
            <a:endParaRPr lang="ko-KR" sz="3000" dirty="0"/>
          </a:p>
        </p:txBody>
      </p:sp>
      <p:sp>
        <p:nvSpPr>
          <p:cNvPr id="9" name="S06-stepno40"/>
          <p:cNvSpPr txBox="1"/>
          <p:nvPr/>
        </p:nvSpPr>
        <p:spPr>
          <a:xfrm>
            <a:off x="548640" y="3291840"/>
            <a:ext cx="548640" cy="548640"/>
          </a:xfrm>
          <a:prstGeom prst="ellipse">
            <a:avLst/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4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</a:t>
            </a:r>
            <a:endParaRPr lang="ko-KR" sz="2400" dirty="0"/>
          </a:p>
        </p:txBody>
      </p:sp>
      <p:sp>
        <p:nvSpPr>
          <p:cNvPr id="10" name="S06-text41"/>
          <p:cNvSpPr txBox="1"/>
          <p:nvPr/>
        </p:nvSpPr>
        <p:spPr>
          <a:xfrm>
            <a:off x="1325880" y="3291840"/>
            <a:ext cx="5658307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algn="l" indent="0" marL="0"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십: 1 + 8 + 4 = 13, 1을 올려요.</a:t>
            </a:r>
            <a:endParaRPr lang="ko-KR" sz="3000" dirty="0"/>
          </a:p>
        </p:txBody>
      </p:sp>
      <p:sp>
        <p:nvSpPr>
          <p:cNvPr id="11" name="S06-stepno42"/>
          <p:cNvSpPr txBox="1"/>
          <p:nvPr/>
        </p:nvSpPr>
        <p:spPr>
          <a:xfrm>
            <a:off x="548640" y="4005072"/>
            <a:ext cx="548640" cy="548640"/>
          </a:xfrm>
          <a:prstGeom prst="ellipse">
            <a:avLst/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4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</a:t>
            </a:r>
            <a:endParaRPr lang="ko-KR" sz="2400" dirty="0"/>
          </a:p>
        </p:txBody>
      </p:sp>
      <p:sp>
        <p:nvSpPr>
          <p:cNvPr id="12" name="S06-text43"/>
          <p:cNvSpPr txBox="1"/>
          <p:nvPr/>
        </p:nvSpPr>
        <p:spPr>
          <a:xfrm>
            <a:off x="1325880" y="4005072"/>
            <a:ext cx="5658307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algn="l" indent="0" marL="0"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백: 1 + 3 + 2 = 6</a:t>
            </a:r>
            <a:endParaRPr lang="ko-KR" sz="3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6</a:t>
            </a:fld>
            <a:endParaRPr lang="en-US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세로셈 해 보기</a:t>
            </a:r>
            <a:endParaRPr lang="ko-KR" sz="4000" dirty="0"/>
          </a:p>
        </p:txBody>
      </p:sp>
      <p:sp>
        <p:nvSpPr>
          <p:cNvPr id="3" name="S07-text44"/>
          <p:cNvSpPr txBox="1"/>
          <p:nvPr/>
        </p:nvSpPr>
        <p:spPr>
          <a:xfrm>
            <a:off x="548640" y="1325880"/>
            <a:ext cx="11091672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세로셈으로 계산해요.</a:t>
            </a:r>
            <a:endParaRPr lang="ko-KR" sz="3000" dirty="0"/>
          </a:p>
        </p:txBody>
      </p:sp>
      <p:sp>
        <p:nvSpPr>
          <p:cNvPr id="4" name="S07-card45"/>
          <p:cNvSpPr/>
          <p:nvPr/>
        </p:nvSpPr>
        <p:spPr>
          <a:xfrm>
            <a:off x="548640" y="5349240"/>
            <a:ext cx="11091672" cy="868680"/>
          </a:xfrm>
          <a:prstGeom prst="roundRect">
            <a:avLst>
              <a:gd name="adj" fmla="val 12632"/>
            </a:avLst>
          </a:prstGeom>
          <a:solidFill>
            <a:srgbClr val="E6ECF4"/>
          </a:solidFill>
          <a:ln w="12700">
            <a:solidFill>
              <a:srgbClr val="E6ECF4"/>
            </a:solidFill>
            <a:prstDash val="solid"/>
          </a:ln>
        </p:spPr>
      </p:sp>
      <p:sp>
        <p:nvSpPr>
          <p:cNvPr id="5" name="S07-cardtext46"/>
          <p:cNvSpPr txBox="1"/>
          <p:nvPr/>
        </p:nvSpPr>
        <p:spPr>
          <a:xfrm>
            <a:off x="822960" y="5486400"/>
            <a:ext cx="10543032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10이 넘으면 1을 바로 윗자리로 올려요.</a:t>
            </a:r>
            <a:endParaRPr lang="ko-KR" sz="3000" dirty="0"/>
          </a:p>
        </p:txBody>
      </p:sp>
      <p:graphicFrame>
        <p:nvGraphicFramePr>
          <p:cNvPr id="8" name="S07-table47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947154" y="2104644"/>
          <a:ext cx="4023360" cy="914400"/>
        </p:xfrm>
        <a:graphic>
          <a:graphicData uri="http://schemas.openxmlformats.org/drawingml/2006/table">
            <a:tbl>
              <a:tblPr/>
              <a:tblGrid>
                <a:gridCol w="1005840"/>
                <a:gridCol w="1005840"/>
                <a:gridCol w="1005840"/>
                <a:gridCol w="1005840"/>
              </a:tblGrid>
              <a:tr h="487680"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endParaRPr lang="en-US" sz="24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3F1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400" b="1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백</a:t>
                      </a:r>
                      <a:endParaRPr lang="en-US" sz="24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3F1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400" b="1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십</a:t>
                      </a:r>
                      <a:endParaRPr lang="en-US" sz="24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3F1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400" b="1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일</a:t>
                      </a:r>
                      <a:endParaRPr lang="en-US" sz="24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3F1"/>
                    </a:solidFill>
                  </a:tcPr>
                </a:tc>
              </a:tr>
              <a:tr h="487680"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endParaRPr lang="en-US" sz="24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4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□</a:t>
                      </a:r>
                      <a:endParaRPr lang="en-US" sz="24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4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□</a:t>
                      </a:r>
                      <a:endParaRPr lang="en-US" sz="24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endParaRPr lang="en-US" sz="24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87680"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endParaRPr lang="en-US" sz="24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4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4</a:t>
                      </a:r>
                      <a:endParaRPr lang="en-US" sz="24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4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5</a:t>
                      </a:r>
                      <a:endParaRPr lang="en-US" sz="24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4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7</a:t>
                      </a:r>
                      <a:endParaRPr lang="en-US" sz="24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87680"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4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+</a:t>
                      </a:r>
                      <a:endParaRPr lang="en-US" sz="24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4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3</a:t>
                      </a:r>
                      <a:endParaRPr lang="en-US" sz="24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4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6</a:t>
                      </a:r>
                      <a:endParaRPr lang="en-US" sz="24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4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8</a:t>
                      </a:r>
                      <a:endParaRPr lang="en-US" sz="24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87680"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endParaRPr lang="en-US" sz="24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4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□</a:t>
                      </a:r>
                      <a:endParaRPr lang="en-US" sz="24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4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□</a:t>
                      </a:r>
                      <a:endParaRPr lang="en-US" sz="24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4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□</a:t>
                      </a:r>
                      <a:endParaRPr lang="en-US" sz="24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7" name="S07-label48"/>
          <p:cNvSpPr txBox="1"/>
          <p:nvPr/>
        </p:nvSpPr>
        <p:spPr>
          <a:xfrm>
            <a:off x="6277356" y="4709160"/>
            <a:ext cx="5362956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4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③을 세로셈으로</a:t>
            </a:r>
            <a:endParaRPr lang="ko-KR" sz="2400" dirty="0"/>
          </a:p>
        </p:txBody>
      </p:sp>
      <p:sp>
        <p:nvSpPr>
          <p:cNvPr id="8" name="S07-chip49"/>
          <p:cNvSpPr txBox="1"/>
          <p:nvPr/>
        </p:nvSpPr>
        <p:spPr>
          <a:xfrm>
            <a:off x="548640" y="2185416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4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①</a:t>
            </a:r>
            <a:endParaRPr lang="ko-KR" sz="2400" dirty="0"/>
          </a:p>
        </p:txBody>
      </p:sp>
      <p:sp>
        <p:nvSpPr>
          <p:cNvPr id="9" name="S07-eqtext50"/>
          <p:cNvSpPr txBox="1"/>
          <p:nvPr/>
        </p:nvSpPr>
        <p:spPr>
          <a:xfrm>
            <a:off x="1344168" y="2011680"/>
            <a:ext cx="4567428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4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145 + 238 = □</a:t>
            </a:r>
            <a:endParaRPr lang="ko-KR" sz="3400" dirty="0"/>
          </a:p>
        </p:txBody>
      </p:sp>
      <p:sp>
        <p:nvSpPr>
          <p:cNvPr id="10" name="S07-chip51"/>
          <p:cNvSpPr txBox="1"/>
          <p:nvPr/>
        </p:nvSpPr>
        <p:spPr>
          <a:xfrm>
            <a:off x="548640" y="3282696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4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②</a:t>
            </a:r>
            <a:endParaRPr lang="ko-KR" sz="2400" dirty="0"/>
          </a:p>
        </p:txBody>
      </p:sp>
      <p:sp>
        <p:nvSpPr>
          <p:cNvPr id="11" name="S07-eqtext52"/>
          <p:cNvSpPr txBox="1"/>
          <p:nvPr/>
        </p:nvSpPr>
        <p:spPr>
          <a:xfrm>
            <a:off x="1344168" y="3108960"/>
            <a:ext cx="4567428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4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274 + 563 = □</a:t>
            </a:r>
            <a:endParaRPr lang="ko-KR" sz="3400" dirty="0"/>
          </a:p>
        </p:txBody>
      </p:sp>
      <p:sp>
        <p:nvSpPr>
          <p:cNvPr id="12" name="S07-chip53"/>
          <p:cNvSpPr txBox="1"/>
          <p:nvPr/>
        </p:nvSpPr>
        <p:spPr>
          <a:xfrm>
            <a:off x="548640" y="4379976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4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③</a:t>
            </a:r>
            <a:endParaRPr lang="ko-KR" sz="2400" dirty="0"/>
          </a:p>
        </p:txBody>
      </p:sp>
      <p:sp>
        <p:nvSpPr>
          <p:cNvPr id="13" name="S07-eqtext54"/>
          <p:cNvSpPr txBox="1"/>
          <p:nvPr/>
        </p:nvSpPr>
        <p:spPr>
          <a:xfrm>
            <a:off x="1344168" y="4206240"/>
            <a:ext cx="4567428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4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457 + 368 = □</a:t>
            </a:r>
            <a:endParaRPr lang="ko-KR" sz="3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7</a:t>
            </a:fld>
            <a:endParaRPr lang="en-US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누가 맞았을까요?</a:t>
            </a:r>
            <a:endParaRPr lang="ko-KR" sz="4000" dirty="0"/>
          </a:p>
        </p:txBody>
      </p:sp>
      <p:sp>
        <p:nvSpPr>
          <p:cNvPr id="3" name="S08-card55"/>
          <p:cNvSpPr/>
          <p:nvPr/>
        </p:nvSpPr>
        <p:spPr>
          <a:xfrm>
            <a:off x="548640" y="1325880"/>
            <a:ext cx="11091672" cy="868680"/>
          </a:xfrm>
          <a:prstGeom prst="roundRect">
            <a:avLst>
              <a:gd name="adj" fmla="val 12632"/>
            </a:avLst>
          </a:prstGeom>
          <a:solidFill>
            <a:srgbClr val="EAF3F1"/>
          </a:solidFill>
          <a:ln w="12700">
            <a:solidFill>
              <a:srgbClr val="EAF3F1"/>
            </a:solidFill>
            <a:prstDash val="solid"/>
          </a:ln>
        </p:spPr>
      </p:sp>
      <p:sp>
        <p:nvSpPr>
          <p:cNvPr id="4" name="S08-cardtext56"/>
          <p:cNvSpPr txBox="1"/>
          <p:nvPr/>
        </p:nvSpPr>
        <p:spPr>
          <a:xfrm>
            <a:off x="822960" y="1463040"/>
            <a:ext cx="10543032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475 + 268을 세로셈으로 했어요.</a:t>
            </a:r>
            <a:endParaRPr lang="ko-KR" sz="3000" dirty="0"/>
          </a:p>
        </p:txBody>
      </p:sp>
      <p:sp>
        <p:nvSpPr>
          <p:cNvPr id="5" name="S08-card57"/>
          <p:cNvSpPr/>
          <p:nvPr/>
        </p:nvSpPr>
        <p:spPr>
          <a:xfrm>
            <a:off x="548640" y="5349240"/>
            <a:ext cx="11091672" cy="868680"/>
          </a:xfrm>
          <a:prstGeom prst="roundRect">
            <a:avLst>
              <a:gd name="adj" fmla="val 12632"/>
            </a:avLst>
          </a:prstGeom>
          <a:solidFill>
            <a:srgbClr val="FDEBDD"/>
          </a:solidFill>
          <a:ln w="12700">
            <a:solidFill>
              <a:srgbClr val="FDEBDD"/>
            </a:solidFill>
            <a:prstDash val="solid"/>
          </a:ln>
        </p:spPr>
      </p:sp>
      <p:sp>
        <p:nvSpPr>
          <p:cNvPr id="6" name="S08-cardtext58"/>
          <p:cNvSpPr txBox="1"/>
          <p:nvPr/>
        </p:nvSpPr>
        <p:spPr>
          <a:xfrm>
            <a:off x="822960" y="5486400"/>
            <a:ext cx="10543032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누가 맞았을까요? 왜 그럴까요?</a:t>
            </a:r>
            <a:endParaRPr lang="ko-KR" sz="3000" dirty="0"/>
          </a:p>
        </p:txBody>
      </p:sp>
      <p:sp>
        <p:nvSpPr>
          <p:cNvPr id="7" name="S08-chip59"/>
          <p:cNvSpPr txBox="1"/>
          <p:nvPr/>
        </p:nvSpPr>
        <p:spPr>
          <a:xfrm>
            <a:off x="548640" y="2423160"/>
            <a:ext cx="5362956" cy="566928"/>
          </a:xfrm>
          <a:prstGeom prst="roundRect">
            <a:avLst>
              <a:gd name="adj" fmla="val 25806"/>
            </a:avLst>
          </a:prstGeom>
          <a:solidFill>
            <a:srgbClr val="E6ECF4"/>
          </a:solidFill>
          <a:ln>
            <a:solidFill>
              <a:srgbClr val="E6ECF4"/>
            </a:solidFill>
          </a:ln>
        </p:spPr>
        <p:txBody>
          <a:bodyPr wrap="square" lIns="177800" tIns="0" rIns="177800" bIns="0" rtlCol="0" anchor="ctr"/>
          <a:lstStyle/>
          <a:p>
            <a:pPr eaLnBrk="0" algn="l" indent="0" marL="0">
              <a:buNone/>
            </a:pPr>
            <a:r>
              <a:rPr lang="ko-KR" altLang="en-US" sz="24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토끼: 643</a:t>
            </a:r>
            <a:endParaRPr lang="ko-KR" sz="2400" dirty="0"/>
          </a:p>
        </p:txBody>
      </p:sp>
      <p:sp>
        <p:nvSpPr>
          <p:cNvPr id="8" name="S08-text60"/>
          <p:cNvSpPr txBox="1"/>
          <p:nvPr/>
        </p:nvSpPr>
        <p:spPr>
          <a:xfrm>
            <a:off x="548640" y="3154680"/>
            <a:ext cx="5362956" cy="1965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algn="l" indent="0" marL="0"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십: 1 + 7 + 6 = 14, 4를 써요.</a:t>
            </a:r>
            <a:endParaRPr lang="ko-KR" sz="3000" dirty="0"/>
          </a:p>
          <a:p>
            <a:pPr eaLnBrk="0" algn="l" indent="0" marL="0"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백: 4 + 2 = 6을 썼어요.</a:t>
            </a:r>
            <a:endParaRPr lang="ko-KR" sz="3000" dirty="0"/>
          </a:p>
        </p:txBody>
      </p:sp>
      <p:sp>
        <p:nvSpPr>
          <p:cNvPr id="9" name="S08-chip61"/>
          <p:cNvSpPr txBox="1"/>
          <p:nvPr/>
        </p:nvSpPr>
        <p:spPr>
          <a:xfrm>
            <a:off x="6277356" y="2423160"/>
            <a:ext cx="5362956" cy="566928"/>
          </a:xfrm>
          <a:prstGeom prst="roundRect">
            <a:avLst>
              <a:gd name="adj" fmla="val 25806"/>
            </a:avLst>
          </a:prstGeom>
          <a:solidFill>
            <a:srgbClr val="E6ECF4"/>
          </a:solidFill>
          <a:ln>
            <a:solidFill>
              <a:srgbClr val="E6ECF4"/>
            </a:solidFill>
          </a:ln>
        </p:spPr>
        <p:txBody>
          <a:bodyPr wrap="square" lIns="177800" tIns="0" rIns="177800" bIns="0" rtlCol="0" anchor="ctr"/>
          <a:lstStyle/>
          <a:p>
            <a:pPr eaLnBrk="0" algn="l" indent="0" marL="0">
              <a:buNone/>
            </a:pPr>
            <a:r>
              <a:rPr lang="ko-KR" altLang="en-US" sz="24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곰: 743</a:t>
            </a:r>
            <a:endParaRPr lang="ko-KR" sz="2400" dirty="0"/>
          </a:p>
        </p:txBody>
      </p:sp>
      <p:sp>
        <p:nvSpPr>
          <p:cNvPr id="10" name="S08-text62"/>
          <p:cNvSpPr txBox="1"/>
          <p:nvPr/>
        </p:nvSpPr>
        <p:spPr>
          <a:xfrm>
            <a:off x="6277356" y="3154680"/>
            <a:ext cx="5362956" cy="1965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algn="l" indent="0" marL="0"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십: 4를 쓰고 1을 올려요.</a:t>
            </a:r>
            <a:endParaRPr lang="ko-KR" sz="3000" dirty="0"/>
          </a:p>
          <a:p>
            <a:pPr eaLnBrk="0" algn="l" indent="0" marL="0"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백: 1 + 4 + 2 = 7을 썼어요.</a:t>
            </a:r>
            <a:endParaRPr lang="ko-KR" sz="3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8</a:t>
            </a:fld>
            <a:endParaRPr lang="en-US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어림해서 확인해요</a:t>
            </a:r>
            <a:endParaRPr lang="ko-KR" sz="4000" dirty="0"/>
          </a:p>
        </p:txBody>
      </p:sp>
      <p:sp>
        <p:nvSpPr>
          <p:cNvPr id="3" name="S09-text63"/>
          <p:cNvSpPr txBox="1"/>
          <p:nvPr/>
        </p:nvSpPr>
        <p:spPr>
          <a:xfrm>
            <a:off x="548640" y="1325880"/>
            <a:ext cx="11091672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386 + 247은 약 얼마일까요?</a:t>
            </a:r>
            <a:endParaRPr lang="ko-KR" sz="3000" dirty="0"/>
          </a:p>
        </p:txBody>
      </p:sp>
      <p:sp>
        <p:nvSpPr>
          <p:cNvPr id="4" name="S09-card64"/>
          <p:cNvSpPr/>
          <p:nvPr/>
        </p:nvSpPr>
        <p:spPr>
          <a:xfrm>
            <a:off x="548640" y="4975860"/>
            <a:ext cx="11091672" cy="1242060"/>
          </a:xfrm>
          <a:prstGeom prst="roundRect">
            <a:avLst>
              <a:gd name="adj" fmla="val 8834"/>
            </a:avLst>
          </a:prstGeom>
          <a:solidFill>
            <a:srgbClr val="FDEBDD"/>
          </a:solidFill>
          <a:ln w="12700">
            <a:solidFill>
              <a:srgbClr val="FDEBDD"/>
            </a:solidFill>
            <a:prstDash val="solid"/>
          </a:ln>
        </p:spPr>
      </p:sp>
      <p:sp>
        <p:nvSpPr>
          <p:cNvPr id="5" name="S09-cardtext65"/>
          <p:cNvSpPr txBox="1"/>
          <p:nvPr/>
        </p:nvSpPr>
        <p:spPr>
          <a:xfrm>
            <a:off x="822960" y="5113020"/>
            <a:ext cx="10543032" cy="9677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약 400 + 약 200 → 약 600</a:t>
            </a:r>
            <a:endParaRPr lang="ko-KR" sz="3000" dirty="0"/>
          </a:p>
          <a:p>
            <a:pPr eaLnBrk="0" indent="0" marL="0">
              <a:spcAft>
                <a:spcPts val="600"/>
              </a:spcAft>
              <a:buNone/>
            </a:pPr>
            <a:r>
              <a:rPr lang="ko-KR" altLang="en-US" sz="24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633은 600에 가까우니 알맞은 답이에요.</a:t>
            </a:r>
            <a:endParaRPr lang="ko-KR" sz="3000" dirty="0"/>
          </a:p>
        </p:txBody>
      </p:sp>
      <p:sp>
        <p:nvSpPr>
          <p:cNvPr id="6" name="S09-line66"/>
          <p:cNvSpPr/>
          <p:nvPr/>
        </p:nvSpPr>
        <p:spPr>
          <a:xfrm>
            <a:off x="685800" y="3407268"/>
            <a:ext cx="5111496" cy="0"/>
          </a:xfrm>
          <a:prstGeom prst="line">
            <a:avLst/>
          </a:prstGeom>
          <a:noFill/>
          <a:ln w="28575">
            <a:solidFill>
              <a:srgbClr val="1F2937"/>
            </a:solidFill>
            <a:prstDash val="solid"/>
            <a:headEnd type="triangle"/>
            <a:tailEnd type="triangle"/>
          </a:ln>
        </p:spPr>
      </p:sp>
      <p:sp>
        <p:nvSpPr>
          <p:cNvPr id="7" name="S09-line67"/>
          <p:cNvSpPr/>
          <p:nvPr/>
        </p:nvSpPr>
        <p:spPr>
          <a:xfrm>
            <a:off x="960120" y="3260964"/>
            <a:ext cx="0" cy="292608"/>
          </a:xfrm>
          <a:prstGeom prst="line">
            <a:avLst/>
          </a:prstGeom>
          <a:noFill/>
          <a:ln w="22225">
            <a:solidFill>
              <a:srgbClr val="1F2937"/>
            </a:solidFill>
            <a:prstDash val="solid"/>
          </a:ln>
        </p:spPr>
      </p:sp>
      <p:sp>
        <p:nvSpPr>
          <p:cNvPr id="8" name="S09-label68"/>
          <p:cNvSpPr txBox="1"/>
          <p:nvPr/>
        </p:nvSpPr>
        <p:spPr>
          <a:xfrm>
            <a:off x="502920" y="3590148"/>
            <a:ext cx="914400" cy="330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300</a:t>
            </a:r>
            <a:endParaRPr lang="ko-KR" sz="2000" dirty="0"/>
          </a:p>
        </p:txBody>
      </p:sp>
      <p:sp>
        <p:nvSpPr>
          <p:cNvPr id="9" name="S09-line69"/>
          <p:cNvSpPr/>
          <p:nvPr/>
        </p:nvSpPr>
        <p:spPr>
          <a:xfrm>
            <a:off x="1416406" y="3260964"/>
            <a:ext cx="0" cy="292608"/>
          </a:xfrm>
          <a:prstGeom prst="line">
            <a:avLst/>
          </a:prstGeom>
          <a:noFill/>
          <a:ln w="22225">
            <a:solidFill>
              <a:srgbClr val="1F2937"/>
            </a:solidFill>
            <a:prstDash val="solid"/>
          </a:ln>
        </p:spPr>
      </p:sp>
      <p:sp>
        <p:nvSpPr>
          <p:cNvPr id="10" name="S09-line70"/>
          <p:cNvSpPr/>
          <p:nvPr/>
        </p:nvSpPr>
        <p:spPr>
          <a:xfrm>
            <a:off x="1872691" y="3260964"/>
            <a:ext cx="0" cy="292608"/>
          </a:xfrm>
          <a:prstGeom prst="line">
            <a:avLst/>
          </a:prstGeom>
          <a:noFill/>
          <a:ln w="22225">
            <a:solidFill>
              <a:srgbClr val="1F2937"/>
            </a:solidFill>
            <a:prstDash val="solid"/>
          </a:ln>
        </p:spPr>
      </p:sp>
      <p:sp>
        <p:nvSpPr>
          <p:cNvPr id="11" name="S09-line71"/>
          <p:cNvSpPr/>
          <p:nvPr/>
        </p:nvSpPr>
        <p:spPr>
          <a:xfrm>
            <a:off x="2328977" y="3260964"/>
            <a:ext cx="0" cy="292608"/>
          </a:xfrm>
          <a:prstGeom prst="line">
            <a:avLst/>
          </a:prstGeom>
          <a:noFill/>
          <a:ln w="22225">
            <a:solidFill>
              <a:srgbClr val="1F2937"/>
            </a:solidFill>
            <a:prstDash val="solid"/>
          </a:ln>
        </p:spPr>
      </p:sp>
      <p:sp>
        <p:nvSpPr>
          <p:cNvPr id="12" name="S09-line72"/>
          <p:cNvSpPr/>
          <p:nvPr/>
        </p:nvSpPr>
        <p:spPr>
          <a:xfrm>
            <a:off x="2785262" y="3260964"/>
            <a:ext cx="0" cy="292608"/>
          </a:xfrm>
          <a:prstGeom prst="line">
            <a:avLst/>
          </a:prstGeom>
          <a:noFill/>
          <a:ln w="22225">
            <a:solidFill>
              <a:srgbClr val="1F2937"/>
            </a:solidFill>
            <a:prstDash val="solid"/>
          </a:ln>
        </p:spPr>
      </p:sp>
      <p:sp>
        <p:nvSpPr>
          <p:cNvPr id="13" name="S09-line73"/>
          <p:cNvSpPr/>
          <p:nvPr/>
        </p:nvSpPr>
        <p:spPr>
          <a:xfrm>
            <a:off x="3241548" y="3260964"/>
            <a:ext cx="0" cy="292608"/>
          </a:xfrm>
          <a:prstGeom prst="line">
            <a:avLst/>
          </a:prstGeom>
          <a:noFill/>
          <a:ln w="22225">
            <a:solidFill>
              <a:srgbClr val="1F2937"/>
            </a:solidFill>
            <a:prstDash val="solid"/>
          </a:ln>
        </p:spPr>
      </p:sp>
      <p:sp>
        <p:nvSpPr>
          <p:cNvPr id="14" name="S09-line74"/>
          <p:cNvSpPr/>
          <p:nvPr/>
        </p:nvSpPr>
        <p:spPr>
          <a:xfrm>
            <a:off x="3697834" y="3260964"/>
            <a:ext cx="0" cy="292608"/>
          </a:xfrm>
          <a:prstGeom prst="line">
            <a:avLst/>
          </a:prstGeom>
          <a:noFill/>
          <a:ln w="22225">
            <a:solidFill>
              <a:srgbClr val="1F2937"/>
            </a:solidFill>
            <a:prstDash val="solid"/>
          </a:ln>
        </p:spPr>
      </p:sp>
      <p:sp>
        <p:nvSpPr>
          <p:cNvPr id="15" name="S09-line75"/>
          <p:cNvSpPr/>
          <p:nvPr/>
        </p:nvSpPr>
        <p:spPr>
          <a:xfrm>
            <a:off x="4154119" y="3260964"/>
            <a:ext cx="0" cy="292608"/>
          </a:xfrm>
          <a:prstGeom prst="line">
            <a:avLst/>
          </a:prstGeom>
          <a:noFill/>
          <a:ln w="22225">
            <a:solidFill>
              <a:srgbClr val="1F2937"/>
            </a:solidFill>
            <a:prstDash val="solid"/>
          </a:ln>
        </p:spPr>
      </p:sp>
      <p:sp>
        <p:nvSpPr>
          <p:cNvPr id="16" name="S09-line76"/>
          <p:cNvSpPr/>
          <p:nvPr/>
        </p:nvSpPr>
        <p:spPr>
          <a:xfrm>
            <a:off x="4610405" y="3260964"/>
            <a:ext cx="0" cy="292608"/>
          </a:xfrm>
          <a:prstGeom prst="line">
            <a:avLst/>
          </a:prstGeom>
          <a:noFill/>
          <a:ln w="22225">
            <a:solidFill>
              <a:srgbClr val="1F2937"/>
            </a:solidFill>
            <a:prstDash val="solid"/>
          </a:ln>
        </p:spPr>
      </p:sp>
      <p:sp>
        <p:nvSpPr>
          <p:cNvPr id="17" name="S09-line77"/>
          <p:cNvSpPr/>
          <p:nvPr/>
        </p:nvSpPr>
        <p:spPr>
          <a:xfrm>
            <a:off x="5066690" y="3260964"/>
            <a:ext cx="0" cy="292608"/>
          </a:xfrm>
          <a:prstGeom prst="line">
            <a:avLst/>
          </a:prstGeom>
          <a:noFill/>
          <a:ln w="22225">
            <a:solidFill>
              <a:srgbClr val="1F2937"/>
            </a:solidFill>
            <a:prstDash val="solid"/>
          </a:ln>
        </p:spPr>
      </p:sp>
      <p:sp>
        <p:nvSpPr>
          <p:cNvPr id="18" name="S09-line78"/>
          <p:cNvSpPr/>
          <p:nvPr/>
        </p:nvSpPr>
        <p:spPr>
          <a:xfrm>
            <a:off x="5522976" y="3260964"/>
            <a:ext cx="0" cy="292608"/>
          </a:xfrm>
          <a:prstGeom prst="line">
            <a:avLst/>
          </a:prstGeom>
          <a:noFill/>
          <a:ln w="22225">
            <a:solidFill>
              <a:srgbClr val="1F2937"/>
            </a:solidFill>
            <a:prstDash val="solid"/>
          </a:ln>
        </p:spPr>
      </p:sp>
      <p:sp>
        <p:nvSpPr>
          <p:cNvPr id="19" name="S09-label79"/>
          <p:cNvSpPr txBox="1"/>
          <p:nvPr/>
        </p:nvSpPr>
        <p:spPr>
          <a:xfrm>
            <a:off x="5065776" y="3590148"/>
            <a:ext cx="914400" cy="330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400</a:t>
            </a:r>
            <a:endParaRPr lang="ko-KR" sz="2000" dirty="0"/>
          </a:p>
        </p:txBody>
      </p:sp>
      <p:sp>
        <p:nvSpPr>
          <p:cNvPr id="20" name="S09-mark80"/>
          <p:cNvSpPr/>
          <p:nvPr/>
        </p:nvSpPr>
        <p:spPr>
          <a:xfrm>
            <a:off x="4792736" y="3315828"/>
            <a:ext cx="182880" cy="182880"/>
          </a:xfrm>
          <a:prstGeom prst="ellipse">
            <a:avLst/>
          </a:prstGeom>
          <a:solidFill>
            <a:srgbClr val="E9762B"/>
          </a:solidFill>
          <a:ln w="12700">
            <a:solidFill>
              <a:srgbClr val="E9762B"/>
            </a:solidFill>
            <a:prstDash val="solid"/>
          </a:ln>
        </p:spPr>
      </p:sp>
      <p:sp>
        <p:nvSpPr>
          <p:cNvPr id="21" name="S09-label81"/>
          <p:cNvSpPr txBox="1"/>
          <p:nvPr/>
        </p:nvSpPr>
        <p:spPr>
          <a:xfrm>
            <a:off x="4335536" y="2848468"/>
            <a:ext cx="1097280" cy="330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000" b="1" dirty="0">
                <a:solidFill>
                  <a:srgbClr val="E9762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386</a:t>
            </a:r>
            <a:endParaRPr lang="ko-KR" sz="2000" dirty="0"/>
          </a:p>
        </p:txBody>
      </p:sp>
      <p:sp>
        <p:nvSpPr>
          <p:cNvPr id="22" name="S09-figure82" descr="300부터 400까지 10씩 눈금 수직선에 386 표시, 400 쪽에 가까움"/>
          <p:cNvSpPr/>
          <p:nvPr/>
        </p:nvSpPr>
        <p:spPr>
          <a:xfrm>
            <a:off x="685800" y="3224388"/>
            <a:ext cx="5111496" cy="365760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23" name="S09-label83"/>
          <p:cNvSpPr txBox="1"/>
          <p:nvPr/>
        </p:nvSpPr>
        <p:spPr>
          <a:xfrm>
            <a:off x="548640" y="4335780"/>
            <a:ext cx="5385816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4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386은 400에 가까워요</a:t>
            </a:r>
            <a:endParaRPr lang="ko-KR" sz="2400" dirty="0"/>
          </a:p>
        </p:txBody>
      </p:sp>
      <p:sp>
        <p:nvSpPr>
          <p:cNvPr id="24" name="S09-line84"/>
          <p:cNvSpPr/>
          <p:nvPr/>
        </p:nvSpPr>
        <p:spPr>
          <a:xfrm>
            <a:off x="6391656" y="3407268"/>
            <a:ext cx="5111496" cy="0"/>
          </a:xfrm>
          <a:prstGeom prst="line">
            <a:avLst/>
          </a:prstGeom>
          <a:noFill/>
          <a:ln w="28575">
            <a:solidFill>
              <a:srgbClr val="1F2937"/>
            </a:solidFill>
            <a:prstDash val="solid"/>
            <a:headEnd type="triangle"/>
            <a:tailEnd type="triangle"/>
          </a:ln>
        </p:spPr>
      </p:sp>
      <p:sp>
        <p:nvSpPr>
          <p:cNvPr id="25" name="S09-line85"/>
          <p:cNvSpPr/>
          <p:nvPr/>
        </p:nvSpPr>
        <p:spPr>
          <a:xfrm>
            <a:off x="6665976" y="3260964"/>
            <a:ext cx="0" cy="292608"/>
          </a:xfrm>
          <a:prstGeom prst="line">
            <a:avLst/>
          </a:prstGeom>
          <a:noFill/>
          <a:ln w="22225">
            <a:solidFill>
              <a:srgbClr val="1F2937"/>
            </a:solidFill>
            <a:prstDash val="solid"/>
          </a:ln>
        </p:spPr>
      </p:sp>
      <p:sp>
        <p:nvSpPr>
          <p:cNvPr id="26" name="S09-label86"/>
          <p:cNvSpPr txBox="1"/>
          <p:nvPr/>
        </p:nvSpPr>
        <p:spPr>
          <a:xfrm>
            <a:off x="6208776" y="3590148"/>
            <a:ext cx="914400" cy="330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200</a:t>
            </a:r>
            <a:endParaRPr lang="ko-KR" sz="2000" dirty="0"/>
          </a:p>
        </p:txBody>
      </p:sp>
      <p:sp>
        <p:nvSpPr>
          <p:cNvPr id="27" name="S09-line87"/>
          <p:cNvSpPr/>
          <p:nvPr/>
        </p:nvSpPr>
        <p:spPr>
          <a:xfrm>
            <a:off x="7122262" y="3260964"/>
            <a:ext cx="0" cy="292608"/>
          </a:xfrm>
          <a:prstGeom prst="line">
            <a:avLst/>
          </a:prstGeom>
          <a:noFill/>
          <a:ln w="22225">
            <a:solidFill>
              <a:srgbClr val="1F2937"/>
            </a:solidFill>
            <a:prstDash val="solid"/>
          </a:ln>
        </p:spPr>
      </p:sp>
      <p:sp>
        <p:nvSpPr>
          <p:cNvPr id="28" name="S09-line88"/>
          <p:cNvSpPr/>
          <p:nvPr/>
        </p:nvSpPr>
        <p:spPr>
          <a:xfrm>
            <a:off x="7578547" y="3260964"/>
            <a:ext cx="0" cy="292608"/>
          </a:xfrm>
          <a:prstGeom prst="line">
            <a:avLst/>
          </a:prstGeom>
          <a:noFill/>
          <a:ln w="22225">
            <a:solidFill>
              <a:srgbClr val="1F2937"/>
            </a:solidFill>
            <a:prstDash val="solid"/>
          </a:ln>
        </p:spPr>
      </p:sp>
      <p:sp>
        <p:nvSpPr>
          <p:cNvPr id="29" name="S09-line89"/>
          <p:cNvSpPr/>
          <p:nvPr/>
        </p:nvSpPr>
        <p:spPr>
          <a:xfrm>
            <a:off x="8034833" y="3260964"/>
            <a:ext cx="0" cy="292608"/>
          </a:xfrm>
          <a:prstGeom prst="line">
            <a:avLst/>
          </a:prstGeom>
          <a:noFill/>
          <a:ln w="22225">
            <a:solidFill>
              <a:srgbClr val="1F2937"/>
            </a:solidFill>
            <a:prstDash val="solid"/>
          </a:ln>
        </p:spPr>
      </p:sp>
      <p:sp>
        <p:nvSpPr>
          <p:cNvPr id="30" name="S09-line90"/>
          <p:cNvSpPr/>
          <p:nvPr/>
        </p:nvSpPr>
        <p:spPr>
          <a:xfrm>
            <a:off x="8491118" y="3260964"/>
            <a:ext cx="0" cy="292608"/>
          </a:xfrm>
          <a:prstGeom prst="line">
            <a:avLst/>
          </a:prstGeom>
          <a:noFill/>
          <a:ln w="22225">
            <a:solidFill>
              <a:srgbClr val="1F2937"/>
            </a:solidFill>
            <a:prstDash val="solid"/>
          </a:ln>
        </p:spPr>
      </p:sp>
      <p:sp>
        <p:nvSpPr>
          <p:cNvPr id="31" name="S09-line91"/>
          <p:cNvSpPr/>
          <p:nvPr/>
        </p:nvSpPr>
        <p:spPr>
          <a:xfrm>
            <a:off x="8947404" y="3260964"/>
            <a:ext cx="0" cy="292608"/>
          </a:xfrm>
          <a:prstGeom prst="line">
            <a:avLst/>
          </a:prstGeom>
          <a:noFill/>
          <a:ln w="22225">
            <a:solidFill>
              <a:srgbClr val="1F2937"/>
            </a:solidFill>
            <a:prstDash val="solid"/>
          </a:ln>
        </p:spPr>
      </p:sp>
      <p:sp>
        <p:nvSpPr>
          <p:cNvPr id="32" name="S09-line92"/>
          <p:cNvSpPr/>
          <p:nvPr/>
        </p:nvSpPr>
        <p:spPr>
          <a:xfrm>
            <a:off x="9403690" y="3260964"/>
            <a:ext cx="0" cy="292608"/>
          </a:xfrm>
          <a:prstGeom prst="line">
            <a:avLst/>
          </a:prstGeom>
          <a:noFill/>
          <a:ln w="22225">
            <a:solidFill>
              <a:srgbClr val="1F2937"/>
            </a:solidFill>
            <a:prstDash val="solid"/>
          </a:ln>
        </p:spPr>
      </p:sp>
      <p:sp>
        <p:nvSpPr>
          <p:cNvPr id="33" name="S09-line93"/>
          <p:cNvSpPr/>
          <p:nvPr/>
        </p:nvSpPr>
        <p:spPr>
          <a:xfrm>
            <a:off x="9859975" y="3260964"/>
            <a:ext cx="0" cy="292608"/>
          </a:xfrm>
          <a:prstGeom prst="line">
            <a:avLst/>
          </a:prstGeom>
          <a:noFill/>
          <a:ln w="22225">
            <a:solidFill>
              <a:srgbClr val="1F2937"/>
            </a:solidFill>
            <a:prstDash val="solid"/>
          </a:ln>
        </p:spPr>
      </p:sp>
      <p:sp>
        <p:nvSpPr>
          <p:cNvPr id="34" name="S09-line94"/>
          <p:cNvSpPr/>
          <p:nvPr/>
        </p:nvSpPr>
        <p:spPr>
          <a:xfrm>
            <a:off x="10316261" y="3260964"/>
            <a:ext cx="0" cy="292608"/>
          </a:xfrm>
          <a:prstGeom prst="line">
            <a:avLst/>
          </a:prstGeom>
          <a:noFill/>
          <a:ln w="22225">
            <a:solidFill>
              <a:srgbClr val="1F2937"/>
            </a:solidFill>
            <a:prstDash val="solid"/>
          </a:ln>
        </p:spPr>
      </p:sp>
      <p:sp>
        <p:nvSpPr>
          <p:cNvPr id="35" name="S09-line95"/>
          <p:cNvSpPr/>
          <p:nvPr/>
        </p:nvSpPr>
        <p:spPr>
          <a:xfrm>
            <a:off x="10772546" y="3260964"/>
            <a:ext cx="0" cy="292608"/>
          </a:xfrm>
          <a:prstGeom prst="line">
            <a:avLst/>
          </a:prstGeom>
          <a:noFill/>
          <a:ln w="22225">
            <a:solidFill>
              <a:srgbClr val="1F2937"/>
            </a:solidFill>
            <a:prstDash val="solid"/>
          </a:ln>
        </p:spPr>
      </p:sp>
      <p:sp>
        <p:nvSpPr>
          <p:cNvPr id="36" name="S09-line96"/>
          <p:cNvSpPr/>
          <p:nvPr/>
        </p:nvSpPr>
        <p:spPr>
          <a:xfrm>
            <a:off x="11228832" y="3260964"/>
            <a:ext cx="0" cy="292608"/>
          </a:xfrm>
          <a:prstGeom prst="line">
            <a:avLst/>
          </a:prstGeom>
          <a:noFill/>
          <a:ln w="22225">
            <a:solidFill>
              <a:srgbClr val="1F2937"/>
            </a:solidFill>
            <a:prstDash val="solid"/>
          </a:ln>
        </p:spPr>
      </p:sp>
      <p:sp>
        <p:nvSpPr>
          <p:cNvPr id="37" name="S09-label97"/>
          <p:cNvSpPr txBox="1"/>
          <p:nvPr/>
        </p:nvSpPr>
        <p:spPr>
          <a:xfrm>
            <a:off x="10771632" y="3590148"/>
            <a:ext cx="914400" cy="330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300</a:t>
            </a:r>
            <a:endParaRPr lang="ko-KR" sz="2000" dirty="0"/>
          </a:p>
        </p:txBody>
      </p:sp>
      <p:sp>
        <p:nvSpPr>
          <p:cNvPr id="38" name="S09-mark98"/>
          <p:cNvSpPr/>
          <p:nvPr/>
        </p:nvSpPr>
        <p:spPr>
          <a:xfrm>
            <a:off x="8719078" y="3315828"/>
            <a:ext cx="182880" cy="182880"/>
          </a:xfrm>
          <a:prstGeom prst="ellipse">
            <a:avLst/>
          </a:prstGeom>
          <a:solidFill>
            <a:srgbClr val="E9762B"/>
          </a:solidFill>
          <a:ln w="12700">
            <a:solidFill>
              <a:srgbClr val="E9762B"/>
            </a:solidFill>
            <a:prstDash val="solid"/>
          </a:ln>
        </p:spPr>
      </p:sp>
      <p:sp>
        <p:nvSpPr>
          <p:cNvPr id="39" name="S09-label99"/>
          <p:cNvSpPr txBox="1"/>
          <p:nvPr/>
        </p:nvSpPr>
        <p:spPr>
          <a:xfrm>
            <a:off x="8261878" y="2848468"/>
            <a:ext cx="1097280" cy="330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000" b="1" dirty="0">
                <a:solidFill>
                  <a:srgbClr val="E9762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247</a:t>
            </a:r>
            <a:endParaRPr lang="ko-KR" sz="2000" dirty="0"/>
          </a:p>
        </p:txBody>
      </p:sp>
      <p:sp>
        <p:nvSpPr>
          <p:cNvPr id="40" name="S09-figure100" descr="200부터 300까지 10씩 눈금 수직선에 247 표시, 200 쪽에 가까움"/>
          <p:cNvSpPr/>
          <p:nvPr/>
        </p:nvSpPr>
        <p:spPr>
          <a:xfrm>
            <a:off x="6391656" y="3224388"/>
            <a:ext cx="5111496" cy="365760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41" name="S09-label101"/>
          <p:cNvSpPr txBox="1"/>
          <p:nvPr/>
        </p:nvSpPr>
        <p:spPr>
          <a:xfrm>
            <a:off x="6254496" y="4335780"/>
            <a:ext cx="5385816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4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247은 200에 가까워요</a:t>
            </a:r>
            <a:endParaRPr lang="ko-KR" sz="2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9</a:t>
            </a:fld>
            <a:endParaRPr lang="en-US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어림으로 확인하기</a:t>
            </a:r>
            <a:endParaRPr lang="ko-KR" sz="4000" dirty="0"/>
          </a:p>
        </p:txBody>
      </p:sp>
      <p:sp>
        <p:nvSpPr>
          <p:cNvPr id="3" name="S10-text102"/>
          <p:cNvSpPr txBox="1"/>
          <p:nvPr/>
        </p:nvSpPr>
        <p:spPr>
          <a:xfrm>
            <a:off x="548640" y="1325880"/>
            <a:ext cx="11091672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어림해 보고, 답이 알맞은지 말해요.</a:t>
            </a:r>
            <a:endParaRPr lang="ko-KR" sz="3000" dirty="0"/>
          </a:p>
        </p:txBody>
      </p:sp>
      <p:sp>
        <p:nvSpPr>
          <p:cNvPr id="4" name="S10-card103"/>
          <p:cNvSpPr/>
          <p:nvPr/>
        </p:nvSpPr>
        <p:spPr>
          <a:xfrm>
            <a:off x="548640" y="5349240"/>
            <a:ext cx="11091672" cy="868680"/>
          </a:xfrm>
          <a:prstGeom prst="roundRect">
            <a:avLst>
              <a:gd name="adj" fmla="val 12632"/>
            </a:avLst>
          </a:prstGeom>
          <a:solidFill>
            <a:srgbClr val="E6ECF4"/>
          </a:solidFill>
          <a:ln w="12700">
            <a:solidFill>
              <a:srgbClr val="E6ECF4"/>
            </a:solidFill>
            <a:prstDash val="solid"/>
          </a:ln>
        </p:spPr>
      </p:sp>
      <p:sp>
        <p:nvSpPr>
          <p:cNvPr id="5" name="S10-cardtext104"/>
          <p:cNvSpPr txBox="1"/>
          <p:nvPr/>
        </p:nvSpPr>
        <p:spPr>
          <a:xfrm>
            <a:off x="822960" y="5486400"/>
            <a:ext cx="10543032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가까운 몇백으로 바꾸어 더해 보아요.</a:t>
            </a:r>
            <a:endParaRPr lang="ko-KR" sz="3000" dirty="0"/>
          </a:p>
        </p:txBody>
      </p:sp>
      <p:sp>
        <p:nvSpPr>
          <p:cNvPr id="6" name="S10-chip105"/>
          <p:cNvSpPr txBox="1"/>
          <p:nvPr/>
        </p:nvSpPr>
        <p:spPr>
          <a:xfrm>
            <a:off x="548640" y="2185416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4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①</a:t>
            </a:r>
            <a:endParaRPr lang="ko-KR" sz="2400" dirty="0"/>
          </a:p>
        </p:txBody>
      </p:sp>
      <p:sp>
        <p:nvSpPr>
          <p:cNvPr id="7" name="S10-text106"/>
          <p:cNvSpPr txBox="1"/>
          <p:nvPr/>
        </p:nvSpPr>
        <p:spPr>
          <a:xfrm>
            <a:off x="1344168" y="2011680"/>
            <a:ext cx="10296144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498 + 315 = 813</a:t>
            </a:r>
            <a:endParaRPr lang="ko-KR" sz="3000" dirty="0"/>
          </a:p>
        </p:txBody>
      </p:sp>
      <p:sp>
        <p:nvSpPr>
          <p:cNvPr id="8" name="S10-chip107"/>
          <p:cNvSpPr txBox="1"/>
          <p:nvPr/>
        </p:nvSpPr>
        <p:spPr>
          <a:xfrm>
            <a:off x="548640" y="3282696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4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②</a:t>
            </a:r>
            <a:endParaRPr lang="ko-KR" sz="2400" dirty="0"/>
          </a:p>
        </p:txBody>
      </p:sp>
      <p:sp>
        <p:nvSpPr>
          <p:cNvPr id="9" name="S10-text108"/>
          <p:cNvSpPr txBox="1"/>
          <p:nvPr/>
        </p:nvSpPr>
        <p:spPr>
          <a:xfrm>
            <a:off x="1344168" y="3108960"/>
            <a:ext cx="10296144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275 + 418 = 593</a:t>
            </a:r>
            <a:endParaRPr lang="ko-KR" sz="3000" dirty="0"/>
          </a:p>
        </p:txBody>
      </p:sp>
      <p:sp>
        <p:nvSpPr>
          <p:cNvPr id="10" name="S10-chip109"/>
          <p:cNvSpPr txBox="1"/>
          <p:nvPr/>
        </p:nvSpPr>
        <p:spPr>
          <a:xfrm>
            <a:off x="548640" y="4379976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4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③</a:t>
            </a:r>
            <a:endParaRPr lang="ko-KR" sz="2400" dirty="0"/>
          </a:p>
        </p:txBody>
      </p:sp>
      <p:sp>
        <p:nvSpPr>
          <p:cNvPr id="11" name="S10-text110"/>
          <p:cNvSpPr txBox="1"/>
          <p:nvPr/>
        </p:nvSpPr>
        <p:spPr>
          <a:xfrm>
            <a:off x="1344168" y="4206240"/>
            <a:ext cx="10296144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612 + 289 = 901</a:t>
            </a:r>
            <a:endParaRPr lang="ko-KR" sz="3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10</a:t>
            </a:fld>
            <a:endParaRPr lang="en-US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혼자 해 보기</a:t>
            </a:r>
            <a:endParaRPr lang="ko-KR" sz="4000" dirty="0"/>
          </a:p>
        </p:txBody>
      </p:sp>
      <p:sp>
        <p:nvSpPr>
          <p:cNvPr id="3" name="S11-text111"/>
          <p:cNvSpPr txBox="1"/>
          <p:nvPr/>
        </p:nvSpPr>
        <p:spPr>
          <a:xfrm>
            <a:off x="548640" y="1325880"/>
            <a:ext cx="11091672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세로셈으로 풀고, ④는 어림해요.</a:t>
            </a:r>
            <a:endParaRPr lang="ko-KR" sz="3000" dirty="0"/>
          </a:p>
        </p:txBody>
      </p:sp>
      <p:sp>
        <p:nvSpPr>
          <p:cNvPr id="4" name="S11-chip112"/>
          <p:cNvSpPr txBox="1"/>
          <p:nvPr/>
        </p:nvSpPr>
        <p:spPr>
          <a:xfrm>
            <a:off x="548640" y="2459736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4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①</a:t>
            </a:r>
            <a:endParaRPr lang="ko-KR" sz="2400" dirty="0"/>
          </a:p>
        </p:txBody>
      </p:sp>
      <p:sp>
        <p:nvSpPr>
          <p:cNvPr id="5" name="S11-eqtext113"/>
          <p:cNvSpPr txBox="1"/>
          <p:nvPr/>
        </p:nvSpPr>
        <p:spPr>
          <a:xfrm>
            <a:off x="1344168" y="2011680"/>
            <a:ext cx="4567428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4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427 + 165 = □</a:t>
            </a:r>
            <a:endParaRPr lang="ko-KR" sz="3400" dirty="0"/>
          </a:p>
        </p:txBody>
      </p:sp>
      <p:sp>
        <p:nvSpPr>
          <p:cNvPr id="6" name="S11-chip114"/>
          <p:cNvSpPr txBox="1"/>
          <p:nvPr/>
        </p:nvSpPr>
        <p:spPr>
          <a:xfrm>
            <a:off x="6277356" y="2459736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4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②</a:t>
            </a:r>
            <a:endParaRPr lang="ko-KR" sz="2400" dirty="0"/>
          </a:p>
        </p:txBody>
      </p:sp>
      <p:sp>
        <p:nvSpPr>
          <p:cNvPr id="7" name="S11-eqtext115"/>
          <p:cNvSpPr txBox="1"/>
          <p:nvPr/>
        </p:nvSpPr>
        <p:spPr>
          <a:xfrm>
            <a:off x="7072884" y="2011680"/>
            <a:ext cx="4567428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4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563 + 284 = □</a:t>
            </a:r>
            <a:endParaRPr lang="ko-KR" sz="3400" dirty="0"/>
          </a:p>
        </p:txBody>
      </p:sp>
      <p:sp>
        <p:nvSpPr>
          <p:cNvPr id="8" name="S11-chip116"/>
          <p:cNvSpPr txBox="1"/>
          <p:nvPr/>
        </p:nvSpPr>
        <p:spPr>
          <a:xfrm>
            <a:off x="548640" y="4654296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4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③</a:t>
            </a:r>
            <a:endParaRPr lang="ko-KR" sz="2400" dirty="0"/>
          </a:p>
        </p:txBody>
      </p:sp>
      <p:sp>
        <p:nvSpPr>
          <p:cNvPr id="9" name="S11-eqtext117"/>
          <p:cNvSpPr txBox="1"/>
          <p:nvPr/>
        </p:nvSpPr>
        <p:spPr>
          <a:xfrm>
            <a:off x="1344168" y="4206240"/>
            <a:ext cx="4567428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4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579 + 248 = □</a:t>
            </a:r>
            <a:endParaRPr lang="ko-KR" sz="3400" dirty="0"/>
          </a:p>
        </p:txBody>
      </p:sp>
      <p:sp>
        <p:nvSpPr>
          <p:cNvPr id="10" name="S11-chip118"/>
          <p:cNvSpPr txBox="1"/>
          <p:nvPr/>
        </p:nvSpPr>
        <p:spPr>
          <a:xfrm>
            <a:off x="6277356" y="4654296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4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④</a:t>
            </a:r>
            <a:endParaRPr lang="ko-KR" sz="2400" dirty="0"/>
          </a:p>
        </p:txBody>
      </p:sp>
      <p:sp>
        <p:nvSpPr>
          <p:cNvPr id="11" name="S11-text119"/>
          <p:cNvSpPr txBox="1"/>
          <p:nvPr/>
        </p:nvSpPr>
        <p:spPr>
          <a:xfrm>
            <a:off x="7072884" y="4206240"/>
            <a:ext cx="4567428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694 + 189는</a:t>
            </a:r>
            <a:endParaRPr lang="ko-KR" sz="3000" dirty="0"/>
          </a:p>
          <a:p>
            <a:pPr eaLnBrk="0" algn="l" indent="0" marL="0"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약 얼마일까요?</a:t>
            </a:r>
            <a:endParaRPr lang="ko-KR" sz="3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11</a:t>
            </a:fld>
            <a:endParaRPr lang="en-US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혼자 해 보기 정답</a:t>
            </a:r>
            <a:endParaRPr lang="ko-KR" sz="4000" dirty="0"/>
          </a:p>
        </p:txBody>
      </p:sp>
      <p:sp>
        <p:nvSpPr>
          <p:cNvPr id="3" name="S12-card120"/>
          <p:cNvSpPr/>
          <p:nvPr/>
        </p:nvSpPr>
        <p:spPr>
          <a:xfrm>
            <a:off x="548640" y="5349240"/>
            <a:ext cx="11091672" cy="868680"/>
          </a:xfrm>
          <a:prstGeom prst="roundRect">
            <a:avLst>
              <a:gd name="adj" fmla="val 12632"/>
            </a:avLst>
          </a:prstGeom>
          <a:solidFill>
            <a:srgbClr val="EAF3F1"/>
          </a:solidFill>
          <a:ln w="12700">
            <a:solidFill>
              <a:srgbClr val="EAF3F1"/>
            </a:solidFill>
            <a:prstDash val="solid"/>
          </a:ln>
        </p:spPr>
      </p:sp>
      <p:sp>
        <p:nvSpPr>
          <p:cNvPr id="4" name="S12-cardtext121"/>
          <p:cNvSpPr txBox="1"/>
          <p:nvPr/>
        </p:nvSpPr>
        <p:spPr>
          <a:xfrm>
            <a:off x="822960" y="5486400"/>
            <a:ext cx="10543032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틀린 문제는 자릿값 표로 다시 해 보게 하세요.</a:t>
            </a:r>
            <a:endParaRPr lang="ko-KR" sz="3000" dirty="0"/>
          </a:p>
        </p:txBody>
      </p:sp>
      <p:sp>
        <p:nvSpPr>
          <p:cNvPr id="5" name="S12-chip122"/>
          <p:cNvSpPr txBox="1"/>
          <p:nvPr/>
        </p:nvSpPr>
        <p:spPr>
          <a:xfrm>
            <a:off x="548640" y="1325880"/>
            <a:ext cx="5362956" cy="548640"/>
          </a:xfrm>
          <a:prstGeom prst="roundRect">
            <a:avLst>
              <a:gd name="adj" fmla="val 26667"/>
            </a:avLst>
          </a:prstGeom>
          <a:solidFill>
            <a:srgbClr val="E3F4F1"/>
          </a:solidFill>
          <a:ln>
            <a:solidFill>
              <a:srgbClr val="E3F4F1"/>
            </a:solidFill>
          </a:ln>
        </p:spPr>
        <p:txBody>
          <a:bodyPr wrap="square" lIns="177800" tIns="0" rIns="177800" bIns="0" rtlCol="0" anchor="ctr"/>
          <a:lstStyle/>
          <a:p>
            <a:pPr eaLnBrk="0" algn="l" indent="0" marL="0">
              <a:buNone/>
            </a:pPr>
            <a:r>
              <a:rPr lang="ko-KR" altLang="en-US" sz="24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○ 정답</a:t>
            </a:r>
            <a:endParaRPr lang="ko-KR" sz="2400" dirty="0"/>
          </a:p>
        </p:txBody>
      </p:sp>
      <p:sp>
        <p:nvSpPr>
          <p:cNvPr id="6" name="S12-text123"/>
          <p:cNvSpPr txBox="1"/>
          <p:nvPr/>
        </p:nvSpPr>
        <p:spPr>
          <a:xfrm>
            <a:off x="548640" y="2057400"/>
            <a:ext cx="2681478" cy="6629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① 592</a:t>
            </a:r>
            <a:endParaRPr lang="ko-KR" sz="3000" dirty="0"/>
          </a:p>
        </p:txBody>
      </p:sp>
      <p:sp>
        <p:nvSpPr>
          <p:cNvPr id="7" name="S12-text124"/>
          <p:cNvSpPr txBox="1"/>
          <p:nvPr/>
        </p:nvSpPr>
        <p:spPr>
          <a:xfrm>
            <a:off x="3367278" y="2057400"/>
            <a:ext cx="2544318" cy="6629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24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7 + 5 = 12</a:t>
            </a:r>
            <a:endParaRPr lang="ko-KR" sz="2400" dirty="0"/>
          </a:p>
        </p:txBody>
      </p:sp>
      <p:sp>
        <p:nvSpPr>
          <p:cNvPr id="8" name="S12-text125"/>
          <p:cNvSpPr txBox="1"/>
          <p:nvPr/>
        </p:nvSpPr>
        <p:spPr>
          <a:xfrm>
            <a:off x="548640" y="2857500"/>
            <a:ext cx="2681478" cy="6629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② 847</a:t>
            </a:r>
            <a:endParaRPr lang="ko-KR" sz="3000" dirty="0"/>
          </a:p>
        </p:txBody>
      </p:sp>
      <p:sp>
        <p:nvSpPr>
          <p:cNvPr id="9" name="S12-text126"/>
          <p:cNvSpPr txBox="1"/>
          <p:nvPr/>
        </p:nvSpPr>
        <p:spPr>
          <a:xfrm>
            <a:off x="3367278" y="2857500"/>
            <a:ext cx="2544318" cy="6629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24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6 + 8 = 14</a:t>
            </a:r>
            <a:endParaRPr lang="ko-KR" sz="2400" dirty="0"/>
          </a:p>
        </p:txBody>
      </p:sp>
      <p:sp>
        <p:nvSpPr>
          <p:cNvPr id="10" name="S12-text127"/>
          <p:cNvSpPr txBox="1"/>
          <p:nvPr/>
        </p:nvSpPr>
        <p:spPr>
          <a:xfrm>
            <a:off x="548640" y="3657600"/>
            <a:ext cx="2681478" cy="6629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③ 827</a:t>
            </a:r>
            <a:endParaRPr lang="ko-KR" sz="3000" dirty="0"/>
          </a:p>
        </p:txBody>
      </p:sp>
      <p:sp>
        <p:nvSpPr>
          <p:cNvPr id="11" name="S12-text128"/>
          <p:cNvSpPr txBox="1"/>
          <p:nvPr/>
        </p:nvSpPr>
        <p:spPr>
          <a:xfrm>
            <a:off x="3367278" y="3657600"/>
            <a:ext cx="2544318" cy="6629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24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두 번 올림</a:t>
            </a:r>
            <a:endParaRPr lang="ko-KR" sz="2400" dirty="0"/>
          </a:p>
        </p:txBody>
      </p:sp>
      <p:sp>
        <p:nvSpPr>
          <p:cNvPr id="12" name="S12-text129"/>
          <p:cNvSpPr txBox="1"/>
          <p:nvPr/>
        </p:nvSpPr>
        <p:spPr>
          <a:xfrm>
            <a:off x="548640" y="4457700"/>
            <a:ext cx="2681478" cy="6629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④ 약 900</a:t>
            </a:r>
            <a:endParaRPr lang="ko-KR" sz="3000" dirty="0"/>
          </a:p>
        </p:txBody>
      </p:sp>
      <p:sp>
        <p:nvSpPr>
          <p:cNvPr id="13" name="S12-text130"/>
          <p:cNvSpPr txBox="1"/>
          <p:nvPr/>
        </p:nvSpPr>
        <p:spPr>
          <a:xfrm>
            <a:off x="3367278" y="4457700"/>
            <a:ext cx="2544318" cy="6629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24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700 + 200</a:t>
            </a:r>
            <a:endParaRPr lang="ko-KR" sz="2400" dirty="0"/>
          </a:p>
        </p:txBody>
      </p:sp>
      <p:sp>
        <p:nvSpPr>
          <p:cNvPr id="14" name="S12-chip131"/>
          <p:cNvSpPr txBox="1"/>
          <p:nvPr/>
        </p:nvSpPr>
        <p:spPr>
          <a:xfrm>
            <a:off x="6277356" y="1325880"/>
            <a:ext cx="5362956" cy="548640"/>
          </a:xfrm>
          <a:prstGeom prst="roundRect">
            <a:avLst>
              <a:gd name="adj" fmla="val 26667"/>
            </a:avLst>
          </a:prstGeom>
          <a:solidFill>
            <a:srgbClr val="FBE6E7"/>
          </a:solidFill>
          <a:ln>
            <a:solidFill>
              <a:srgbClr val="FBE6E7"/>
            </a:solidFill>
          </a:ln>
        </p:spPr>
        <p:txBody>
          <a:bodyPr wrap="square" lIns="177800" tIns="0" rIns="177800" bIns="0" rtlCol="0" anchor="ctr"/>
          <a:lstStyle/>
          <a:p>
            <a:pPr eaLnBrk="0" algn="l" indent="0" marL="0">
              <a:buNone/>
            </a:pPr>
            <a:r>
              <a:rPr lang="ko-KR" altLang="en-US" sz="24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× 흔한 실수</a:t>
            </a:r>
            <a:endParaRPr lang="ko-KR" sz="2400" dirty="0"/>
          </a:p>
        </p:txBody>
      </p:sp>
      <p:sp>
        <p:nvSpPr>
          <p:cNvPr id="15" name="S12-text132"/>
          <p:cNvSpPr txBox="1"/>
          <p:nvPr/>
        </p:nvSpPr>
        <p:spPr>
          <a:xfrm>
            <a:off x="6277356" y="2057400"/>
            <a:ext cx="2681478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② 747</a:t>
            </a:r>
            <a:endParaRPr lang="ko-KR" sz="3000" dirty="0"/>
          </a:p>
        </p:txBody>
      </p:sp>
      <p:sp>
        <p:nvSpPr>
          <p:cNvPr id="16" name="S12-text133"/>
          <p:cNvSpPr txBox="1"/>
          <p:nvPr/>
        </p:nvSpPr>
        <p:spPr>
          <a:xfrm>
            <a:off x="9095994" y="2057400"/>
            <a:ext cx="2544318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24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백에 1을 안 더함</a:t>
            </a:r>
            <a:endParaRPr lang="ko-KR" sz="2400" dirty="0"/>
          </a:p>
        </p:txBody>
      </p:sp>
      <p:sp>
        <p:nvSpPr>
          <p:cNvPr id="17" name="S12-text134"/>
          <p:cNvSpPr txBox="1"/>
          <p:nvPr/>
        </p:nvSpPr>
        <p:spPr>
          <a:xfrm>
            <a:off x="6277356" y="3429000"/>
            <a:ext cx="2681478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④ 약 800</a:t>
            </a:r>
            <a:endParaRPr lang="ko-KR" sz="3000" dirty="0"/>
          </a:p>
        </p:txBody>
      </p:sp>
      <p:sp>
        <p:nvSpPr>
          <p:cNvPr id="18" name="S12-text135"/>
          <p:cNvSpPr txBox="1"/>
          <p:nvPr/>
        </p:nvSpPr>
        <p:spPr>
          <a:xfrm>
            <a:off x="9095994" y="3429000"/>
            <a:ext cx="2544318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24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694를 600으로</a:t>
            </a:r>
            <a:endParaRPr lang="ko-KR" sz="2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12</a:t>
            </a:fld>
            <a:endParaRPr lang="en-US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알맞은 답은 어느 것?</a:t>
            </a:r>
            <a:endParaRPr lang="ko-KR" sz="4000" dirty="0"/>
          </a:p>
        </p:txBody>
      </p:sp>
      <p:sp>
        <p:nvSpPr>
          <p:cNvPr id="3" name="S13-text136"/>
          <p:cNvSpPr txBox="1"/>
          <p:nvPr/>
        </p:nvSpPr>
        <p:spPr>
          <a:xfrm>
            <a:off x="548640" y="1325880"/>
            <a:ext cx="11091672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467 + 285를 계산했어요.</a:t>
            </a:r>
            <a:endParaRPr lang="ko-KR" sz="3000" dirty="0"/>
          </a:p>
        </p:txBody>
      </p:sp>
      <p:sp>
        <p:nvSpPr>
          <p:cNvPr id="4" name="S13-card137"/>
          <p:cNvSpPr/>
          <p:nvPr/>
        </p:nvSpPr>
        <p:spPr>
          <a:xfrm>
            <a:off x="548640" y="5349240"/>
            <a:ext cx="11091672" cy="868680"/>
          </a:xfrm>
          <a:prstGeom prst="roundRect">
            <a:avLst>
              <a:gd name="adj" fmla="val 12632"/>
            </a:avLst>
          </a:prstGeom>
          <a:solidFill>
            <a:srgbClr val="EAF3F1"/>
          </a:solidFill>
          <a:ln w="12700">
            <a:solidFill>
              <a:srgbClr val="EAF3F1"/>
            </a:solidFill>
            <a:prstDash val="solid"/>
          </a:ln>
        </p:spPr>
      </p:sp>
      <p:sp>
        <p:nvSpPr>
          <p:cNvPr id="5" name="S13-cardtext138"/>
          <p:cNvSpPr txBox="1"/>
          <p:nvPr/>
        </p:nvSpPr>
        <p:spPr>
          <a:xfrm>
            <a:off x="822960" y="5486400"/>
            <a:ext cx="10543032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알맞은 답을 고르고, 까닭을 말해요.</a:t>
            </a:r>
            <a:endParaRPr lang="ko-KR" sz="3000" dirty="0"/>
          </a:p>
        </p:txBody>
      </p:sp>
      <p:sp>
        <p:nvSpPr>
          <p:cNvPr id="6" name="S13-chip139"/>
          <p:cNvSpPr txBox="1"/>
          <p:nvPr/>
        </p:nvSpPr>
        <p:spPr>
          <a:xfrm>
            <a:off x="1991868" y="2011680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30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가</a:t>
            </a:r>
            <a:endParaRPr lang="ko-KR" sz="3000" dirty="0"/>
          </a:p>
        </p:txBody>
      </p:sp>
      <p:sp>
        <p:nvSpPr>
          <p:cNvPr id="7" name="S13-bigtext140"/>
          <p:cNvSpPr txBox="1"/>
          <p:nvPr/>
        </p:nvSpPr>
        <p:spPr>
          <a:xfrm>
            <a:off x="548640" y="2715768"/>
            <a:ext cx="3453384" cy="24048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48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652</a:t>
            </a:r>
            <a:endParaRPr lang="ko-KR" sz="4800" dirty="0"/>
          </a:p>
        </p:txBody>
      </p:sp>
      <p:sp>
        <p:nvSpPr>
          <p:cNvPr id="8" name="S13-chip141"/>
          <p:cNvSpPr txBox="1"/>
          <p:nvPr/>
        </p:nvSpPr>
        <p:spPr>
          <a:xfrm>
            <a:off x="5811012" y="2011680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30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나</a:t>
            </a:r>
            <a:endParaRPr lang="ko-KR" sz="3000" dirty="0"/>
          </a:p>
        </p:txBody>
      </p:sp>
      <p:sp>
        <p:nvSpPr>
          <p:cNvPr id="9" name="S13-bigtext142"/>
          <p:cNvSpPr txBox="1"/>
          <p:nvPr/>
        </p:nvSpPr>
        <p:spPr>
          <a:xfrm>
            <a:off x="4367784" y="2715768"/>
            <a:ext cx="3453384" cy="24048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48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742</a:t>
            </a:r>
            <a:endParaRPr lang="ko-KR" sz="4800" dirty="0"/>
          </a:p>
        </p:txBody>
      </p:sp>
      <p:sp>
        <p:nvSpPr>
          <p:cNvPr id="10" name="S13-chip143"/>
          <p:cNvSpPr txBox="1"/>
          <p:nvPr/>
        </p:nvSpPr>
        <p:spPr>
          <a:xfrm>
            <a:off x="9630156" y="2011680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30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다</a:t>
            </a:r>
            <a:endParaRPr lang="ko-KR" sz="3000" dirty="0"/>
          </a:p>
        </p:txBody>
      </p:sp>
      <p:sp>
        <p:nvSpPr>
          <p:cNvPr id="11" name="S13-bigtext144"/>
          <p:cNvSpPr txBox="1"/>
          <p:nvPr/>
        </p:nvSpPr>
        <p:spPr>
          <a:xfrm>
            <a:off x="8186928" y="2715768"/>
            <a:ext cx="3453384" cy="24048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48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752</a:t>
            </a:r>
            <a:endParaRPr lang="ko-KR" sz="48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13</a:t>
            </a:fld>
            <a:endParaRPr lang="en-US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0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오늘 배운 것</a:t>
            </a:r>
            <a:endParaRPr lang="ko-KR" sz="4000" dirty="0"/>
          </a:p>
        </p:txBody>
      </p:sp>
      <p:sp>
        <p:nvSpPr>
          <p:cNvPr id="3" name="S14-card145"/>
          <p:cNvSpPr/>
          <p:nvPr/>
        </p:nvSpPr>
        <p:spPr>
          <a:xfrm>
            <a:off x="548640" y="1325880"/>
            <a:ext cx="11091672" cy="868680"/>
          </a:xfrm>
          <a:prstGeom prst="roundRect">
            <a:avLst>
              <a:gd name="adj" fmla="val 12632"/>
            </a:avLst>
          </a:prstGeom>
          <a:solidFill>
            <a:srgbClr val="32606F"/>
          </a:solidFill>
          <a:ln w="12700">
            <a:solidFill>
              <a:srgbClr val="32606F"/>
            </a:solidFill>
            <a:prstDash val="solid"/>
          </a:ln>
        </p:spPr>
      </p:sp>
      <p:sp>
        <p:nvSpPr>
          <p:cNvPr id="4" name="S14-cardtext146"/>
          <p:cNvSpPr txBox="1"/>
          <p:nvPr/>
        </p:nvSpPr>
        <p:spPr>
          <a:xfrm>
            <a:off x="822960" y="1463040"/>
            <a:ext cx="10543032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000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10이 넘으면 1을 바로 윗자리로 올려요.</a:t>
            </a:r>
            <a:endParaRPr lang="ko-KR" sz="3000" dirty="0"/>
          </a:p>
        </p:txBody>
      </p:sp>
      <p:sp>
        <p:nvSpPr>
          <p:cNvPr id="5" name="S14-chip147"/>
          <p:cNvSpPr txBox="1"/>
          <p:nvPr/>
        </p:nvSpPr>
        <p:spPr>
          <a:xfrm>
            <a:off x="548640" y="2423160"/>
            <a:ext cx="5431536" cy="594360"/>
          </a:xfrm>
          <a:prstGeom prst="roundRect">
            <a:avLst>
              <a:gd name="adj" fmla="val 24615"/>
            </a:avLst>
          </a:prstGeom>
          <a:solidFill>
            <a:srgbClr val="2A9D8F"/>
          </a:solidFill>
          <a:ln>
            <a:solidFill>
              <a:srgbClr val="2A9D8F"/>
            </a:solidFill>
          </a:ln>
        </p:spPr>
        <p:txBody>
          <a:bodyPr wrap="square" lIns="177800" tIns="0" rIns="177800" bIns="0" rtlCol="0" anchor="ctr"/>
          <a:lstStyle/>
          <a:p>
            <a:pPr eaLnBrk="0" algn="l" indent="0" marL="0">
              <a:buNone/>
            </a:pPr>
            <a:r>
              <a:rPr lang="ko-KR" altLang="en-US" sz="24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○ 어림해서 답 확인하기</a:t>
            </a:r>
            <a:endParaRPr lang="ko-KR" sz="2400" dirty="0"/>
          </a:p>
        </p:txBody>
      </p:sp>
      <p:sp>
        <p:nvSpPr>
          <p:cNvPr id="6" name="S14-chip148"/>
          <p:cNvSpPr txBox="1"/>
          <p:nvPr/>
        </p:nvSpPr>
        <p:spPr>
          <a:xfrm>
            <a:off x="6208776" y="2423160"/>
            <a:ext cx="5431536" cy="594360"/>
          </a:xfrm>
          <a:prstGeom prst="roundRect">
            <a:avLst>
              <a:gd name="adj" fmla="val 24615"/>
            </a:avLst>
          </a:prstGeom>
          <a:solidFill>
            <a:srgbClr val="C8434E"/>
          </a:solidFill>
          <a:ln>
            <a:solidFill>
              <a:srgbClr val="C8434E"/>
            </a:solidFill>
          </a:ln>
        </p:spPr>
        <p:txBody>
          <a:bodyPr wrap="square" lIns="177800" tIns="0" rIns="177800" bIns="0" rtlCol="0" anchor="ctr"/>
          <a:lstStyle/>
          <a:p>
            <a:pPr eaLnBrk="0" algn="l" indent="0" marL="0">
              <a:buNone/>
            </a:pPr>
            <a:r>
              <a:rPr lang="ko-KR" altLang="en-US" sz="24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× 받아올린 1 빠뜨리기</a:t>
            </a:r>
            <a:endParaRPr lang="ko-KR" sz="2400" dirty="0"/>
          </a:p>
        </p:txBody>
      </p:sp>
      <p:sp>
        <p:nvSpPr>
          <p:cNvPr id="7" name="S14-text149"/>
          <p:cNvSpPr txBox="1"/>
          <p:nvPr/>
        </p:nvSpPr>
        <p:spPr>
          <a:xfrm>
            <a:off x="548640" y="3246120"/>
            <a:ext cx="1109167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algn="l" indent="0" marL="0">
              <a:buNone/>
            </a:pPr>
            <a:r>
              <a:rPr lang="ko-KR" altLang="en-US" sz="24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다음 수업을 시작할 때 다시 풀어요</a:t>
            </a:r>
            <a:endParaRPr lang="ko-KR" sz="2400" dirty="0"/>
          </a:p>
        </p:txBody>
      </p:sp>
      <p:sp>
        <p:nvSpPr>
          <p:cNvPr id="8" name="S14-eqtext150"/>
          <p:cNvSpPr txBox="1"/>
          <p:nvPr/>
        </p:nvSpPr>
        <p:spPr>
          <a:xfrm>
            <a:off x="548640" y="3749040"/>
            <a:ext cx="3544824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28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① 348 + 275 = □</a:t>
            </a:r>
            <a:endParaRPr lang="ko-KR" sz="2800" dirty="0"/>
          </a:p>
        </p:txBody>
      </p:sp>
      <p:sp>
        <p:nvSpPr>
          <p:cNvPr id="9" name="S14-eqtext151"/>
          <p:cNvSpPr txBox="1"/>
          <p:nvPr/>
        </p:nvSpPr>
        <p:spPr>
          <a:xfrm>
            <a:off x="4322064" y="3749040"/>
            <a:ext cx="3544824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28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② 156 + 427 = □</a:t>
            </a:r>
            <a:endParaRPr lang="ko-KR" sz="2800" dirty="0"/>
          </a:p>
        </p:txBody>
      </p:sp>
      <p:sp>
        <p:nvSpPr>
          <p:cNvPr id="10" name="S14-text152"/>
          <p:cNvSpPr txBox="1"/>
          <p:nvPr/>
        </p:nvSpPr>
        <p:spPr>
          <a:xfrm>
            <a:off x="8095488" y="3749040"/>
            <a:ext cx="3544824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2400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③ 596 + 207은</a:t>
            </a:r>
            <a:endParaRPr lang="ko-KR" sz="2400" dirty="0"/>
          </a:p>
          <a:p>
            <a:pPr eaLnBrk="0" algn="l" indent="0" marL="0">
              <a:buNone/>
            </a:pPr>
            <a:r>
              <a:rPr lang="ko-KR" altLang="en-US" sz="2400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약 얼마?</a:t>
            </a:r>
            <a:endParaRPr lang="ko-KR" sz="2400" dirty="0"/>
          </a:p>
        </p:txBody>
      </p:sp>
      <p:sp>
        <p:nvSpPr>
          <p:cNvPr id="11" name="S14-text153"/>
          <p:cNvSpPr txBox="1"/>
          <p:nvPr/>
        </p:nvSpPr>
        <p:spPr>
          <a:xfrm>
            <a:off x="548640" y="5715000"/>
            <a:ext cx="11091672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2400" dirty="0">
                <a:solidFill>
                  <a:srgbClr val="C9DCD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다음 시간: 세 자리 수의 뺄셈</a:t>
            </a:r>
            <a:endParaRPr lang="ko-KR" sz="2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C9DCD8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14</a:t>
            </a:fld>
            <a:endParaRPr lang="en-US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보충: 두 자리 수 덧셈</a:t>
            </a:r>
            <a:endParaRPr lang="ko-KR" sz="4000" dirty="0"/>
          </a:p>
        </p:txBody>
      </p:sp>
      <p:sp>
        <p:nvSpPr>
          <p:cNvPr id="3" name="S15-text154"/>
          <p:cNvSpPr txBox="1"/>
          <p:nvPr/>
        </p:nvSpPr>
        <p:spPr>
          <a:xfrm>
            <a:off x="548640" y="1325880"/>
            <a:ext cx="11091672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56 + 27을 세로셈으로 다시 해요.</a:t>
            </a:r>
            <a:endParaRPr lang="ko-KR" sz="3000" dirty="0"/>
          </a:p>
        </p:txBody>
      </p:sp>
      <p:sp>
        <p:nvSpPr>
          <p:cNvPr id="4" name="S15-card155"/>
          <p:cNvSpPr/>
          <p:nvPr/>
        </p:nvSpPr>
        <p:spPr>
          <a:xfrm>
            <a:off x="548640" y="5349240"/>
            <a:ext cx="11091672" cy="868680"/>
          </a:xfrm>
          <a:prstGeom prst="roundRect">
            <a:avLst>
              <a:gd name="adj" fmla="val 12632"/>
            </a:avLst>
          </a:prstGeom>
          <a:solidFill>
            <a:srgbClr val="FDEBDD"/>
          </a:solidFill>
          <a:ln w="12700">
            <a:solidFill>
              <a:srgbClr val="FDEBDD"/>
            </a:solidFill>
            <a:prstDash val="solid"/>
          </a:ln>
        </p:spPr>
      </p:sp>
      <p:sp>
        <p:nvSpPr>
          <p:cNvPr id="5" name="S15-cardtext156"/>
          <p:cNvSpPr txBox="1"/>
          <p:nvPr/>
        </p:nvSpPr>
        <p:spPr>
          <a:xfrm>
            <a:off x="822960" y="5486400"/>
            <a:ext cx="10543032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일 10개는 십 1개로 올려요.</a:t>
            </a:r>
            <a:endParaRPr lang="ko-KR" sz="3000" dirty="0"/>
          </a:p>
        </p:txBody>
      </p:sp>
      <p:graphicFrame>
        <p:nvGraphicFramePr>
          <p:cNvPr id="16" name="S15-table157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8063728" y="2042160"/>
          <a:ext cx="3291840" cy="914400"/>
        </p:xfrm>
        <a:graphic>
          <a:graphicData uri="http://schemas.openxmlformats.org/drawingml/2006/table">
            <a:tbl>
              <a:tblPr/>
              <a:tblGrid>
                <a:gridCol w="1097280"/>
                <a:gridCol w="1097280"/>
                <a:gridCol w="1097280"/>
              </a:tblGrid>
              <a:tr h="609600"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endParaRPr lang="en-US" sz="30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3F1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3000" b="1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십</a:t>
                      </a:r>
                      <a:endParaRPr lang="en-US" sz="30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3F1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3000" b="1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일</a:t>
                      </a:r>
                      <a:endParaRPr lang="en-US" sz="30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3F1"/>
                    </a:solidFill>
                  </a:tcPr>
                </a:tc>
              </a:tr>
              <a:tr h="609600"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endParaRPr lang="en-US" sz="30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30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1</a:t>
                      </a:r>
                      <a:endParaRPr lang="en-US" sz="30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endParaRPr lang="en-US" sz="30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609600"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endParaRPr lang="en-US" sz="30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30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5</a:t>
                      </a:r>
                      <a:endParaRPr lang="en-US" sz="30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30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6</a:t>
                      </a:r>
                      <a:endParaRPr lang="en-US" sz="30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609600"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30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+</a:t>
                      </a:r>
                      <a:endParaRPr lang="en-US" sz="30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30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2</a:t>
                      </a:r>
                      <a:endParaRPr lang="en-US" sz="30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30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7</a:t>
                      </a:r>
                      <a:endParaRPr lang="en-US" sz="30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609600"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endParaRPr lang="en-US" sz="30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30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8</a:t>
                      </a:r>
                      <a:endParaRPr lang="en-US" sz="30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30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3</a:t>
                      </a:r>
                      <a:endParaRPr lang="en-US" sz="30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7" name="S15-stepno158"/>
          <p:cNvSpPr txBox="1"/>
          <p:nvPr/>
        </p:nvSpPr>
        <p:spPr>
          <a:xfrm>
            <a:off x="548640" y="2433828"/>
            <a:ext cx="548640" cy="548640"/>
          </a:xfrm>
          <a:prstGeom prst="ellipse">
            <a:avLst/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4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</a:t>
            </a:r>
            <a:endParaRPr lang="ko-KR" sz="2400" dirty="0"/>
          </a:p>
        </p:txBody>
      </p:sp>
      <p:sp>
        <p:nvSpPr>
          <p:cNvPr id="8" name="S15-text159"/>
          <p:cNvSpPr txBox="1"/>
          <p:nvPr/>
        </p:nvSpPr>
        <p:spPr>
          <a:xfrm>
            <a:off x="1325880" y="2388108"/>
            <a:ext cx="6087344" cy="929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algn="l" indent="0" marL="0"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일: 6 + 7 = 13</a:t>
            </a:r>
            <a:endParaRPr lang="ko-KR" sz="3000" dirty="0"/>
          </a:p>
          <a:p>
            <a:pPr eaLnBrk="0" algn="l" indent="0" marL="0"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3을 쓰고 1을 올려요.</a:t>
            </a:r>
            <a:endParaRPr lang="ko-KR" sz="3000" dirty="0"/>
          </a:p>
        </p:txBody>
      </p:sp>
      <p:sp>
        <p:nvSpPr>
          <p:cNvPr id="9" name="S15-stepno160"/>
          <p:cNvSpPr txBox="1"/>
          <p:nvPr/>
        </p:nvSpPr>
        <p:spPr>
          <a:xfrm>
            <a:off x="548640" y="3482340"/>
            <a:ext cx="548640" cy="548640"/>
          </a:xfrm>
          <a:prstGeom prst="ellipse">
            <a:avLst/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4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</a:t>
            </a:r>
            <a:endParaRPr lang="ko-KR" sz="2400" dirty="0"/>
          </a:p>
        </p:txBody>
      </p:sp>
      <p:sp>
        <p:nvSpPr>
          <p:cNvPr id="10" name="S15-text161"/>
          <p:cNvSpPr txBox="1"/>
          <p:nvPr/>
        </p:nvSpPr>
        <p:spPr>
          <a:xfrm>
            <a:off x="1325880" y="3482340"/>
            <a:ext cx="6087344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algn="l" indent="0" marL="0"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십: 1 + 5 + 2 = 8</a:t>
            </a:r>
            <a:endParaRPr lang="ko-KR" sz="3000" dirty="0"/>
          </a:p>
        </p:txBody>
      </p:sp>
      <p:sp>
        <p:nvSpPr>
          <p:cNvPr id="11" name="S15-stepno162"/>
          <p:cNvSpPr txBox="1"/>
          <p:nvPr/>
        </p:nvSpPr>
        <p:spPr>
          <a:xfrm>
            <a:off x="548640" y="4195572"/>
            <a:ext cx="548640" cy="548640"/>
          </a:xfrm>
          <a:prstGeom prst="ellipse">
            <a:avLst/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4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</a:t>
            </a:r>
            <a:endParaRPr lang="ko-KR" sz="2400" dirty="0"/>
          </a:p>
        </p:txBody>
      </p:sp>
      <p:sp>
        <p:nvSpPr>
          <p:cNvPr id="12" name="S15-text163"/>
          <p:cNvSpPr txBox="1"/>
          <p:nvPr/>
        </p:nvSpPr>
        <p:spPr>
          <a:xfrm>
            <a:off x="1325880" y="4195572"/>
            <a:ext cx="6087344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algn="l" indent="0" marL="0"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56 + 27 = 83</a:t>
            </a:r>
            <a:endParaRPr lang="ko-KR" sz="3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15</a:t>
            </a:fld>
            <a:endParaRPr lang="en-US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Education Classroom">
  <a:themeElements>
    <a:clrScheme name="Education Classroom">
      <a:dk1>
        <a:srgbClr val="1F2937"/>
      </a:dk1>
      <a:lt1>
        <a:srgbClr val="FFFFFF"/>
      </a:lt1>
      <a:dk2>
        <a:srgbClr val="264653"/>
      </a:dk2>
      <a:lt2>
        <a:srgbClr val="EAF3F1"/>
      </a:lt2>
      <a:accent1>
        <a:srgbClr val="E9762B"/>
      </a:accent1>
      <a:accent2>
        <a:srgbClr val="2A9D8F"/>
      </a:accent2>
      <a:accent3>
        <a:srgbClr val="C8434E"/>
      </a:accent3>
      <a:accent4>
        <a:srgbClr val="3D5A80"/>
      </a:accent4>
      <a:accent5>
        <a:srgbClr val="F2C14E"/>
      </a:accent5>
      <a:accent6>
        <a:srgbClr val="4B5563"/>
      </a:accent6>
      <a:hlink>
        <a:srgbClr val="3D5A80"/>
      </a:hlink>
      <a:folHlink>
        <a:srgbClr val="7A4E8A"/>
      </a:folHlink>
    </a:clrScheme>
    <a:fontScheme name="Education Classroom">
      <a:majorFont>
        <a:latin typeface="맑은 고딕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맑은 고딕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15</Slides>
  <Notes>15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15</vt:i4>
      </vt:variant>
    </vt:vector>
  </HeadingPairs>
  <TitlesOfParts>
    <vt:vector size="18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초3 수학 세 자리 수의 덧셈</dc:title>
  <dc:subject>KR22-G03-MAT-ADD3D-L01</dc:subject>
  <dc:creator>education-ppt</dc:creator>
  <cp:lastModifiedBy>education-ppt</cp:lastModifiedBy>
  <cp:revision>1</cp:revision>
  <dcterms:created xsi:type="dcterms:W3CDTF">2026-10-26T07:17:51Z</dcterms:created>
  <dcterms:modified xsi:type="dcterms:W3CDTF">2026-10-26T07:17:51Z</dcterms:modified>
</cp:coreProperties>
</file>