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f2b5a594-dc65-e8f1-226f-25f9824d648e}">
          <p14:sldIdLst>
            <p14:sldId id="256"/>
            <p14:sldId id="257"/>
          </p14:sldIdLst>
        </p14:section>
        <p14:section name="개념" id="{a6bd7d94-f8b0-3410-4b3d-cf5f5a9a8db4}">
          <p14:sldIdLst>
            <p14:sldId id="258"/>
            <p14:sldId id="259"/>
            <p14:sldId id="260"/>
            <p14:sldId id="262"/>
          </p14:sldIdLst>
        </p14:section>
        <p14:section name="연습" id="{c810ee9d-8dff-de4a-a677-e1e11834ebf2}">
          <p14:sldIdLst>
            <p14:sldId id="261"/>
            <p14:sldId id="263"/>
            <p14:sldId id="264"/>
          </p14:sldIdLst>
        </p14:section>
        <p14:section name="개념" id="{eefcffd2-a20d-3d01-6a60-ee7070a8bcbb}">
          <p14:sldIdLst/>
        </p14:section>
        <p14:section name="연습" id="{7ab1e6e7-d692-784e-f1f5-2e324d30a8d6}">
          <p14:sldIdLst/>
        </p14:section>
        <p14:section name="확인" id="{fc516ec4-5233-b5e4-126b-829ff6bd28d1}">
          <p14:sldIdLst>
            <p14:sldId id="265"/>
            <p14:sldId id="266"/>
            <p14:sldId id="267"/>
          </p14:sldIdLst>
        </p14:section>
        <p14:section name="정리" id="{a5cf63d0-4db4-22ed-e850-38c65646eab1}">
          <p14:sldIdLst>
            <p14:sldId id="268"/>
          </p14:sldIdLst>
        </p14:section>
        <p14:section name="보충" id="{ae5b015a-7a94-4a1a-4f70-dc028dcb9f8d}">
          <p14:sldIdLst>
            <p14:sldId id="26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[S01 · 오늘의 질문과 목표]
목적: 오늘 할 일을 알려 주고, 나누다가 나눌 수 없는 자리가 나오면 어떻게 할지 궁금하게 합니다.
시간: 약 2분
이렇게 말해 보세요
- “지난 시간에 536 ÷ 4처럼 백의 자리부터 나누었지? 오늘은 824 ÷ 4야. 백의 자리 8은 4로 나눌 수 있어. 십의 자리 2는?”
- “2를 4로 나눌 수 없으면 몫에 무엇을 써야 할까?”
예상 답
- “못 나눠요.” “그냥 넘어가요.” 또는 “0을 써요.”
막히면
- 답을 확인하지 않고 넘어갑니다. S03에서 수 모형으로 함께 나눕니다.
주의
- “넘어가요”라고 해도 지금은 고치지 않습니다. 몫의 0을 빠뜨리는 것이 오늘 다룰 가장 흔한 실수입니다(M1).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[S02 · 선수 학습 확인(세 자리 수 나눗셈, 곱셈)]
목적: (세 자리 수)÷(한 자리 수)의 세로 나눗셈과, 가운데에 0이 있는 수의 곱셈이 되는지 확인합니다. 오늘 계산과 확인에 그대로 씁니다.
시간: 약 3분
이렇게 말해 보세요
- “①, ②를 세로로 풀어 볼래? 몫이 몇 자리 수인지도 말해 줘.”
- “③은 곱셈이야. 4 × 206은 4 × 200과 4 × 6을 더하면 돼.”
정답
- ① 134(세 자리 수: 5 ÷ 4 = 1 … 1, 13 ÷ 4 = 3 … 1, 16 ÷ 4 = 4)
- ② 43 … 5(두 자리 수: 26 ÷ 6 = 4 … 2, 23 ÷ 6 = 3 … 5)
- ③ 824
막히면
- ①이 어려우면 “백의 자리 5를 4로 나누면 몇이 남아? 남은 1과 3을 내리면 몇이야?”라고 묻습니다.
- 두 문제 이상 틀리면 S14(보충)를 먼저 합니다. 보충으로도 어려우면 초3 9차시 ‘(세 자리 수)÷(한 자리 수)’(KR22-G03-MAT-DIV3X1-L01)를 먼저 다시 하고, 나머지가 헷갈리면 초3 8차시 ‘나머지가 있는 나눗셈’(KR22-G03-MAT-DIV2X1-L01)부터 합니다.
주의
- ③의 답 824는 오늘 표지의 수와 같습니다. S04에서 확인할 때 다시 씁니다.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[S03 · 몫의 0을 수 모형으로]
목적: 824를 수 모형으로 4명에게 똑같이 나누며, 십 모형 2개는 4명에게 1개씩 줄 수 없어서 한 명의 십 모형이 0개가 된다는 것을 봅니다.
시간: 약 4분
이렇게 말해 보세요
- “824는 백 8개, 십 2개, 일 4개야. 백 모형을 4명에게 똑같이 주면 몇 개씩이야?”
- “십 모형 2개를 4명에게 1개씩 줄 수 있어? 줄 수 없으면 한 명이 받은 십 모형은 몇 개야?”
- “남은 십 2개를 일 20개로 바꾸면 일이 모두 몇 개야? 4명에게 몇 개씩 줄 수 있어?”
예상 답
- “2개씩이요.” “못 줘요. 0개예요.” “일 24개, 6개씩이요.” “한 명이 백 2개, 일 6개. 206이에요.”
막히면
- 종이 수 모형과 접시 4개로 실제로 나누어 봅니다. 십 모형 2개를 들고 “4명에게 똑같이 줄 수 있을까?”라고 물은 뒤 일 모형 20개로 바꿉니다.
주의
- 오른쪽 그림은 한 사람이 받은 몫입니다. 십 모형이 하나도 없어서 몫은 26이 아니라 206입니다. “십의 자리에 받은 것이 없다 = 0”이라고 말해 줍니다.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[S04 · 세로 나눗셈 시범(몫의 가운데 0)]
목적: S03에서 수 모형으로 한 일을 세로 나눗셈으로 쓰는 방법을 시범으로 보여 줍니다. 나눌 수 없는 자리에는 몫에 0을 쓰고 다음 숫자를 함께 내립니다.
시간: 약 4분
이렇게 말해 보세요
- “8 ÷ 4 = 2야. 몫 2를 백의 자리 위에 쓰고, 8 아래에 8을 써서 빼면 0이야.”
- “이제 십의 자리 2를 내려. 2는 4로 나눌 수 없지? 그래서 몫의 십의 자리에 0을 써. 그리고 일의 자리 4까지 함께 내려 24를 만들어.”
- “24 ÷ 4 = 6, 몫 6은 일의 자리 위에. 몫은 206. 4 × 206을 계산하면 824가 되는지 볼까?”
예상 답
- “206이에요. 4 × 206 = 824라서 맞아요.”
막히면
- S03의 단계와 나란히 짚어 줍니다. ‘몫의 0 = 한 명이 받은 십 모형 0개’, ‘24 = 남은 십 2개를 바꾼 일 20개 + 일 4개’입니다.
주의
- 2를 4로 나눌 수 없을 때 4 × 0 = 0을 쓰고 빼는 줄은 쓰지 않고, 바로 다음 숫자를 내려 24로 나눕니다. 표의 넷째 줄 24가 그 줄입니다.
- 24의 2를 빼고 4만 내려 4 ÷ 4 = 1로 계산하면 201이 됩니다(M3). 4 × 201 = 804라서 확인에서 걸러집니다.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[S05 · 세로 나눗셈 시범(몫의 끝 0)]
목적: 마지막 자리에서 나눌 수 없을 때도 몫에 0을 쓰고, 남은 수가 나머지가 된다는 것을 압니다.
시간: 약 3분
이렇게 말해 보세요
- “81 ÷ 4야. 십의 자리 8 ÷ 4 = 2. 몫 2를 십의 자리 위에 써.”
- “일의 자리 1을 내려. 1을 4로 나눌 수 있어? 없으니까 몫의 일의 자리에 0을 써. 남은 1은 나머지야. 81 ÷ 4 = 20 … 1.”
- “확인해 볼까? 4 × 20 + 1은 얼마야?”
예상 답
- “20 … 1이에요. 4 × 20 + 1 = 81이라서 맞아요.”
막히면
- 바둑돌 81개 대신 십 모형 8개와 일 모형 1개로 4명에게 나눕니다. 한 명이 십 모형 2개(20)를 받고 일 모형 1개가 남습니다.
주의
- 몫을 2 … 1로 쓰면 4 × 2 + 1 = 9라서 81이 되지 않습니다(M2). 몫은 십의 자리부터 시작했으니 일의 자리까지 숫자가 있어야 합니다.
- 지치면 여기서 쉬고, 다음에 S06부터 이어도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[S06 · 안내받는 연습(몫의 가운데·끝 0)]
목적: 도움을 받으며 몫의 가운데나 끝에 0이 오는 나눗셈을 세로로 계산하고 곱셈으로 확인합니다.
시간: 약 4분
이렇게 말해 보세요
- “①부터 해 볼까? 6 ÷ 3 = 2. 다음에 내린 1은 3으로 나눌 수 있어? 그러면 몫에 무엇을 써?”
- “③은 오른쪽 세로 칸에 써 보자. 몫의 □가 몇 개야? 몫이 몇 자리 수라는 뜻일까?”
정답
- ① 204(6 ÷ 3 = 2, 1은 3보다 작아 몫 0, 12 ÷ 3 = 4 / 확인 3 × 204 = 612)
- ② 120(4 ÷ 4 = 1, 8 ÷ 4 = 2, 0은 4보다 작아 몫 0 / 확인 4 × 120 = 480)
- ③ 203 … 3(8 ÷ 4 = 2, 1은 4보다 작아 몫 0, 15 ÷ 4 = 3 … 3 / 확인 4 × 203 + 3 = 815)
막히면
- S04를 다시 보며 ‘나눌 수 없으면 몫에 0, 하나 더 내리기’를 함께 말합니다.
- ②는 마지막에 내린 0을 4로 나누면 몫이 0입니다. 0 ÷ 4 = 0이라고 말해 줍니다.
주의
- ①을 24, ②를 12, ③을 23 … 3으로 쓰면 몫의 0을 빠뜨린 것입니다(M1, M2). 곱셈으로 확인하면 처음 수가 나오지 않습니다.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[S07 · 몫의 자리 수로 0을 빠뜨렸는지 알기]
목적: 계산 전에 몫의 자리 수를 판단해 두면, 몫의 0을 빠뜨렸을 때 자리 수가 모자라 바로 알 수 있다는 것을 압니다.
시간: 약 3분
이렇게 말해 보세요
- “824 ÷ 4는 백의 자리 8을 4로 나눌 수 있지? 그러면 몫은 몇 자리 수야? 26은 몇 자리 수야?”
- “81 ÷ 4는 십의 자리 8을 나눌 수 있으니 몫은 두 자리 수야. 2 … 1은 몇 자리 수야?”
예상 답
- “몫은 세 자리 수인데 26은 두 자리 수예요. 0을 빠뜨렸어요.”
- “2는 한 자리 수라서 틀렸어요.”
정답
- 824 ÷ 4 = 206, 612 ÷ 3 = 204, 81 ÷ 4 = 20 … 1
막히면
- S04의 세로 나눗셈에서 몫 줄의 칸을 세어 보게 합니다. 백·십·일 위에 숫자가 하나씩 있어야 합니다.
- “4 × 26은 100쯤이야. 824와 비슷해?”처럼 곱셈으로 크기를 비교해 줍니다.
주의
- 맨 앞자리 숫자가 나누는 수보다 크거나 같으면 몫의 자리 수는 나누어지는 수의 자리 수와 같습니다(지난 시간 내용). 오늘 다루는 나눗셈은 모두 이 경우입니다.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[S08 · 오개념 비교(몫의 0 빠뜨리기)]
목적: 나눌 수 없는 자리를 건너뛰어 몫의 0을 빠뜨리는 실수를 찾고, 곱셈으로 확인해 까닭을 설명합니다(M1).
시간: 약 3분
이렇게 말해 보세요
- “토끼와 곰의 몫이 달라. 3 × 36과 3 × 306을 계산해 볼까? 어느 것이 918이 돼?”
- “918 ÷ 3의 몫은 몇 자리 수여야 해?”
예상 답
- “곰이요. 3 × 306 = 918이에요.” “몫은 세 자리 수예요.”
정답
- 곰이 맞습니다. 918 ÷ 3 = 306이고 3 × 306 = 918입니다.
- 토끼는 1을 3으로 나눌 수 없어 그냥 건너뛰었습니다. 3 × 36 = 108이라 918이 아니고, 몫이 두 자리 수라 자리 수도 모자랍니다.
막히면
- 수 모형으로 918을 3명에게 나누어 한 명이 받은 십 모형이 0개라는 것을 보여 줍니다.
주의
- “건너뛴 자리에는 0을 쓴다”를 아이의 말로 다시 말하게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[S09 · 안내받는 연습(몫의 자리 수 말하기, 곱셈으로 확인, 틀린 몫 찾기)]
목적: 도움을 받으며 몫의 자리 수를 먼저 말하고 계산한 뒤, 곱셈으로 확인합니다. 0을 빠뜨린 몫을 찾아 고칩니다.
시간: 약 3분
이렇게 말해 보세요
- “①과 ②는 몫이 몇 자리 수인지 먼저 말하고 계산해 줘. 다 하면 곱셈으로 확인해.”
- “③은 누가 계산한 답이야. 몫이 몇 자리 수여야 해? 5 × 18은 540이 될까?”
정답
- ① 세 자리 수, 103(7 ÷ 7 = 1, 2는 7보다 작아 몫 0, 21 ÷ 7 = 3 / 확인 7 × 103 = 721)
- ② 두 자리 수, 30 … 2(9 ÷ 3 = 3, 2는 3보다 작아 몫 0 / 확인 3 × 30 + 2 = 92)
- ③ 틀렸습니다. 몫은 세 자리 수여야 하고 5 × 18 = 90입니다. 바른 몫은 108입니다(5 ÷ 5 = 1, 4는 5보다 작아 몫 0, 40 ÷ 5 = 8).
막히면
- 몫의 자리 수를 말하지 못하면 S07 표를 다시 봅니다.
- ②에서 2를 3으로 나눌 수 없으면 몫의 일의 자리에 0, 남은 2가 나머지입니다(S05와 같음).
주의
- ③의 18은 가운데 0을 빠뜨렸을 뿐 아니라 마지막 0 ÷ 5도 쓰지 않았습니다. 자리 수를 세면 바로 찾을 수 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[S10 · 혼자 해결]
목적: 도움 없이 몫에 0이 있는 나눗셈을 계산하고, 곱셈으로 0을 빠뜨린 몫을 찾는지 봅니다.
시간: 약 5분
이렇게 말해 보세요
- “이번에는 혼자 공책에 세로로 풀어 볼래? 풀기 전에 몫이 몇 자리 수인지 말해 줘.”
- “④는 곱셈으로 확인해서 맞는지 말하고, 틀렸으면 바르게 고쳐 줘.”
정답
- ① 106(6 ÷ 6 = 1, 3은 6보다 작아 몫 0, 36 ÷ 6 = 6)
- ② 20 … 3(8 ÷ 4 = 2, 3은 4보다 작아 몫 0)
- ③ 150(7 ÷ 5 = 1 … 2, 25 ÷ 5 = 5, 0은 5보다 작아 몫 0)
- ④ 틀렸습니다(9 × 13 = 117). 바른 몫 103
막히면
- 바로 알려 주지 말고 “내린 수를 나눌 수 있어? 없으면 몫에 무엇을 써?”라고만 묻습니다.
- 도움을 받아 해결했다면 기록표에 ‘도움’으로 표시합니다.
주의
- ①~③을 맞히고 ④에서 틀린 몫을 찾아 바르게 고치면 두 목표를 모두 이룬 것입니다.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[S11 · 정답과 피드백]
목적: 아이의 답을 함께 확인하고 흔한 실수를 바로잡습니다. 수업용에만 있는 장입니다.
시간: 약 2분
이렇게 말해 보세요
- “네 답과 같은지 볼까? 다르면 곱셈으로 확인해서 어디가 틀렸는지 같이 찾아보자.”
정답
- ① 106 ② 20 … 3 ③ 150 ④ 틀림, 바른 몫 103
막히면
- 몫의 가운데 0을 빠뜨렸으면 S03·S04로, 끝의 0을 빠뜨렸으면 S05로, 자리 수 판단이 어려우면 S07로 돌아갑니다.
주의
- 이 장은 학생용 파일에는 없습니다. 아이와 함께 볼 때는 슬라이드 쇼로 보여 줍니다.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[S12 · 마무리 확인(곱셈으로 바른 몫 찾기)]
목적: 처음 보는 문제에서 몫의 자리 수와 곱셈으로 바른 몫을 고르고, 틀린 몫의 까닭을 말하는지 확인합니다.
시간: 약 2분
이렇게 말해 보세요
- “세 사람이 618 ÷ 6을 계산했어. 바른 몫을 골라 볼래? 틀린 것은 왜 틀렸을까?”
정답
- 나(103). 6 × 103 = 618입니다.
- 가(13)는 몫의 0을 빠뜨려 두 자리 수가 되었습니다(6 × 13 = 78). 다(130)는 0을 엉뚱한 자리에 썼습니다(6 × 130 = 780).
막히면
- 세 몫에 각각 6을 곱해 보게 합니다. 618이 나오는 것이 바른 몫입니다.
주의
- 다(130)는 1을 6으로 나눌 수 없을 때 0을 쓰고 18을 내려야 하는데, 18 ÷ 6 = 3을 십의 자리에 쓴 것입니다. 몫을 쓰는 자리는 마지막으로 내린 숫자의 바로 위입니다.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[S13 · 정리와 다음 수업 복습]
목적: 핵심을 정리하고 다음 수업 첫 5분에 풀 복습 문제를 알려 줍니다.
시간: 약 2분
이렇게 말해 보세요
- “나누다가 나눌 수 없는 자리가 나오면 몫에 무엇을 썼지? 0을 빠뜨렸는지 어떻게 알 수 있어?”
예상 답
- “0을 쓰고 하나 더 내려요.” “몫의 자리 수를 세거나 곱셈으로 확인해요.”
정답
- ① 105 ② 20 … 2 ③ 208
막히면
- S04와 S05를 나란히 보여 주며 몫의 0이 들어간 자리를 짚습니다.
주의
- 이것으로 자연수의 곱셈·나눗셈 차시가 끝나고, 다음 차시부터 분수를 배웁니다. 복습 세 문제는 활동지 마지막 쪽과 함께 풉니다.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[S14 · 선수 학습 보충((세 자리 수)÷(한 자리 수))]
목적: S02에서 세 자리 수 나눗셈이 흔들리면, 오늘 내용 전에 백의 자리부터 나누고 남은 수를 내리는 방법을 다시 익힙니다.
시간: 약 5분
이렇게 말해 보세요
- “536은 백 5개, 십 3개, 일 6개야. 5 ÷ 4는 1 … 1. 몫 1을 백의 자리 위에 써.”
- “남은 1 옆에 3을 내리면 13. 13 ÷ 4 = 3 … 1. 다시 남은 1 옆에 6을 내리면 16. 16 ÷ 4 = 4. 몫은 134야.”
정답
- 536 ÷ 4 = 134(확인 4 × 134 = 536)
막히면
- 종이 수 모형과 접시 4개로 나누며, 남은 백 1개를 십 10개로, 남은 십 1개를 일 10개로 바꿉니다.
- 같은 방법으로 846 ÷ 2(423), 735 ÷ 3(245)도 해 봅니다.
주의
- 보충으로도 어려우면 초3 9차시 ‘(세 자리 수)÷(한 자리 수)’(KR22-G03-MAT-DIV3X1-L01)를 먼저 다시 합니다.
- 보충이 오래 걸리면 오늘은 여기까지 하고 다음 날 S02부터 다시 시작합니다.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0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buNone/>
            </a:pPr>
            <a:endParaRPr lang="en-US" sz="3000" dirty="0"/>
          </a:p>
        </p:txBody>
      </p:sp>
      <p:sp>
        <p:nvSpPr>
          <p:cNvPr id="4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초3 수학 · 자연수계산 · 11차시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초3 수학 · 몫에 0이 있는 나눗셈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초3 수학 · 몫에 0이 있는 나눗셈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PPORT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 자료 · 초3 수학 · 몫에 0이 있는 나눗셈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몫에 0이 있는 나눗셈</a:t>
            </a:r>
            <a:endParaRPr lang="ko-KR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30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나눌 수 없는 자리는 몫에 무엇을 쓸까?</a:t>
            </a:r>
            <a:endParaRPr lang="ko-KR" sz="3000" dirty="0"/>
          </a:p>
        </p:txBody>
      </p:sp>
      <p:graphicFrame>
        <p:nvGraphicFramePr>
          <p:cNvPr id="2" name="S01-table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001000" y="1217295"/>
          <a:ext cx="3291840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822960"/>
                <a:gridCol w="822960"/>
                <a:gridCol w="822960"/>
              </a:tblGrid>
              <a:tr h="59055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백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십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일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□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□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□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4)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01-card2"/>
          <p:cNvSpPr/>
          <p:nvPr/>
        </p:nvSpPr>
        <p:spPr>
          <a:xfrm>
            <a:off x="731520" y="4436364"/>
            <a:ext cx="10725912" cy="1690116"/>
          </a:xfrm>
          <a:prstGeom prst="roundRect">
            <a:avLst>
              <a:gd name="adj" fmla="val 6492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6" name="S01-cardtext3"/>
          <p:cNvSpPr txBox="1"/>
          <p:nvPr/>
        </p:nvSpPr>
        <p:spPr>
          <a:xfrm>
            <a:off x="1005840" y="4573524"/>
            <a:ext cx="10177272" cy="1415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할 수 있게 될 것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나눌 수 없는 자리는 몫에 0을 쓰고 나누어요.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몫의 자리 수와 곱셈으로 0을 빠뜨렸는지 확인해요.</a:t>
            </a:r>
            <a:endParaRPr lang="ko-KR" sz="3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지난 시간 기억하기</a:t>
            </a:r>
            <a:endParaRPr lang="ko-KR" sz="4000" dirty="0"/>
          </a:p>
        </p:txBody>
      </p:sp>
      <p:sp>
        <p:nvSpPr>
          <p:cNvPr id="3" name="S02-chip4"/>
          <p:cNvSpPr txBox="1"/>
          <p:nvPr/>
        </p:nvSpPr>
        <p:spPr>
          <a:xfrm>
            <a:off x="548640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4" name="S02-eqtext5"/>
          <p:cNvSpPr txBox="1"/>
          <p:nvPr/>
        </p:nvSpPr>
        <p:spPr>
          <a:xfrm>
            <a:off x="1344168" y="132588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536 ÷ 4 = □</a:t>
            </a:r>
            <a:endParaRPr lang="ko-KR" sz="3400" dirty="0"/>
          </a:p>
        </p:txBody>
      </p:sp>
      <p:sp>
        <p:nvSpPr>
          <p:cNvPr id="5" name="S02-chip6"/>
          <p:cNvSpPr txBox="1"/>
          <p:nvPr/>
        </p:nvSpPr>
        <p:spPr>
          <a:xfrm>
            <a:off x="548640" y="34655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6" name="S02-eqtext7"/>
          <p:cNvSpPr txBox="1"/>
          <p:nvPr/>
        </p:nvSpPr>
        <p:spPr>
          <a:xfrm>
            <a:off x="1344168" y="301752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263 ÷ 6 = □ … □</a:t>
            </a:r>
            <a:endParaRPr lang="ko-KR" sz="3400" dirty="0"/>
          </a:p>
        </p:txBody>
      </p:sp>
      <p:sp>
        <p:nvSpPr>
          <p:cNvPr id="7" name="S02-chip8"/>
          <p:cNvSpPr txBox="1"/>
          <p:nvPr/>
        </p:nvSpPr>
        <p:spPr>
          <a:xfrm>
            <a:off x="548640" y="51572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400" dirty="0"/>
          </a:p>
        </p:txBody>
      </p:sp>
      <p:sp>
        <p:nvSpPr>
          <p:cNvPr id="8" name="S02-eqtext9"/>
          <p:cNvSpPr txBox="1"/>
          <p:nvPr/>
        </p:nvSpPr>
        <p:spPr>
          <a:xfrm>
            <a:off x="1344168" y="470916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 × 206 = □</a:t>
            </a:r>
            <a:endParaRPr lang="ko-KR" sz="3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824를 4명이 나누어요</a:t>
            </a:r>
            <a:endParaRPr lang="ko-KR" sz="4000" dirty="0"/>
          </a:p>
        </p:txBody>
      </p:sp>
      <p:sp>
        <p:nvSpPr>
          <p:cNvPr id="3" name="S03-text10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백 → 십 → 일 차례로 똑같이 나누어요.</a:t>
            </a:r>
            <a:endParaRPr lang="ko-KR" sz="3000" dirty="0"/>
          </a:p>
        </p:txBody>
      </p:sp>
      <p:sp>
        <p:nvSpPr>
          <p:cNvPr id="4" name="S03-card11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3-cardtext12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824 ÷ 4 = 206</a:t>
            </a:r>
            <a:endParaRPr lang="ko-KR" sz="3000" dirty="0"/>
          </a:p>
        </p:txBody>
      </p:sp>
      <p:sp>
        <p:nvSpPr>
          <p:cNvPr id="6" name="S03-flat13"/>
          <p:cNvSpPr/>
          <p:nvPr/>
        </p:nvSpPr>
        <p:spPr>
          <a:xfrm>
            <a:off x="7436446" y="2458851"/>
            <a:ext cx="1729986" cy="1729986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7" name="S03-line14"/>
          <p:cNvSpPr/>
          <p:nvPr/>
        </p:nvSpPr>
        <p:spPr>
          <a:xfrm>
            <a:off x="7609445" y="2458851"/>
            <a:ext cx="0" cy="172998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" name="S03-line15"/>
          <p:cNvSpPr/>
          <p:nvPr/>
        </p:nvSpPr>
        <p:spPr>
          <a:xfrm>
            <a:off x="7436446" y="2631850"/>
            <a:ext cx="1729986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" name="S03-line16"/>
          <p:cNvSpPr/>
          <p:nvPr/>
        </p:nvSpPr>
        <p:spPr>
          <a:xfrm>
            <a:off x="7782444" y="2458851"/>
            <a:ext cx="0" cy="172998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" name="S03-line17"/>
          <p:cNvSpPr/>
          <p:nvPr/>
        </p:nvSpPr>
        <p:spPr>
          <a:xfrm>
            <a:off x="7436446" y="2804848"/>
            <a:ext cx="1729986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" name="S03-line18"/>
          <p:cNvSpPr/>
          <p:nvPr/>
        </p:nvSpPr>
        <p:spPr>
          <a:xfrm>
            <a:off x="7955442" y="2458851"/>
            <a:ext cx="0" cy="172998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" name="S03-line19"/>
          <p:cNvSpPr/>
          <p:nvPr/>
        </p:nvSpPr>
        <p:spPr>
          <a:xfrm>
            <a:off x="7436446" y="2977847"/>
            <a:ext cx="1729986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" name="S03-line20"/>
          <p:cNvSpPr/>
          <p:nvPr/>
        </p:nvSpPr>
        <p:spPr>
          <a:xfrm>
            <a:off x="8128441" y="2458851"/>
            <a:ext cx="0" cy="172998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4" name="S03-line21"/>
          <p:cNvSpPr/>
          <p:nvPr/>
        </p:nvSpPr>
        <p:spPr>
          <a:xfrm>
            <a:off x="7436446" y="3150845"/>
            <a:ext cx="1729986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5" name="S03-line22"/>
          <p:cNvSpPr/>
          <p:nvPr/>
        </p:nvSpPr>
        <p:spPr>
          <a:xfrm>
            <a:off x="8301439" y="2458851"/>
            <a:ext cx="0" cy="172998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6" name="S03-line23"/>
          <p:cNvSpPr/>
          <p:nvPr/>
        </p:nvSpPr>
        <p:spPr>
          <a:xfrm>
            <a:off x="7436446" y="3323844"/>
            <a:ext cx="1729986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7" name="S03-line24"/>
          <p:cNvSpPr/>
          <p:nvPr/>
        </p:nvSpPr>
        <p:spPr>
          <a:xfrm>
            <a:off x="8474438" y="2458851"/>
            <a:ext cx="0" cy="172998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8" name="S03-line25"/>
          <p:cNvSpPr/>
          <p:nvPr/>
        </p:nvSpPr>
        <p:spPr>
          <a:xfrm>
            <a:off x="7436446" y="3496843"/>
            <a:ext cx="1729986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9" name="S03-line26"/>
          <p:cNvSpPr/>
          <p:nvPr/>
        </p:nvSpPr>
        <p:spPr>
          <a:xfrm>
            <a:off x="8647437" y="2458851"/>
            <a:ext cx="0" cy="172998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0" name="S03-line27"/>
          <p:cNvSpPr/>
          <p:nvPr/>
        </p:nvSpPr>
        <p:spPr>
          <a:xfrm>
            <a:off x="7436446" y="3669841"/>
            <a:ext cx="1729986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1" name="S03-line28"/>
          <p:cNvSpPr/>
          <p:nvPr/>
        </p:nvSpPr>
        <p:spPr>
          <a:xfrm>
            <a:off x="8820435" y="2458851"/>
            <a:ext cx="0" cy="172998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2" name="S03-line29"/>
          <p:cNvSpPr/>
          <p:nvPr/>
        </p:nvSpPr>
        <p:spPr>
          <a:xfrm>
            <a:off x="7436446" y="3842840"/>
            <a:ext cx="1729986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3" name="S03-line30"/>
          <p:cNvSpPr/>
          <p:nvPr/>
        </p:nvSpPr>
        <p:spPr>
          <a:xfrm>
            <a:off x="8993434" y="2458851"/>
            <a:ext cx="0" cy="172998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4" name="S03-line31"/>
          <p:cNvSpPr/>
          <p:nvPr/>
        </p:nvSpPr>
        <p:spPr>
          <a:xfrm>
            <a:off x="7436446" y="4015838"/>
            <a:ext cx="1729986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5" name="S03-flat32"/>
          <p:cNvSpPr/>
          <p:nvPr/>
        </p:nvSpPr>
        <p:spPr>
          <a:xfrm>
            <a:off x="9270231" y="2458851"/>
            <a:ext cx="1729986" cy="1729986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6" name="S03-line33"/>
          <p:cNvSpPr/>
          <p:nvPr/>
        </p:nvSpPr>
        <p:spPr>
          <a:xfrm>
            <a:off x="9443230" y="2458851"/>
            <a:ext cx="0" cy="172998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7" name="S03-line34"/>
          <p:cNvSpPr/>
          <p:nvPr/>
        </p:nvSpPr>
        <p:spPr>
          <a:xfrm>
            <a:off x="9270231" y="2631850"/>
            <a:ext cx="1729986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8" name="S03-line35"/>
          <p:cNvSpPr/>
          <p:nvPr/>
        </p:nvSpPr>
        <p:spPr>
          <a:xfrm>
            <a:off x="9616229" y="2458851"/>
            <a:ext cx="0" cy="172998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9" name="S03-line36"/>
          <p:cNvSpPr/>
          <p:nvPr/>
        </p:nvSpPr>
        <p:spPr>
          <a:xfrm>
            <a:off x="9270231" y="2804848"/>
            <a:ext cx="1729986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0" name="S03-line37"/>
          <p:cNvSpPr/>
          <p:nvPr/>
        </p:nvSpPr>
        <p:spPr>
          <a:xfrm>
            <a:off x="9789227" y="2458851"/>
            <a:ext cx="0" cy="172998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1" name="S03-line38"/>
          <p:cNvSpPr/>
          <p:nvPr/>
        </p:nvSpPr>
        <p:spPr>
          <a:xfrm>
            <a:off x="9270231" y="2977847"/>
            <a:ext cx="1729986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2" name="S03-line39"/>
          <p:cNvSpPr/>
          <p:nvPr/>
        </p:nvSpPr>
        <p:spPr>
          <a:xfrm>
            <a:off x="9962226" y="2458851"/>
            <a:ext cx="0" cy="172998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3" name="S03-line40"/>
          <p:cNvSpPr/>
          <p:nvPr/>
        </p:nvSpPr>
        <p:spPr>
          <a:xfrm>
            <a:off x="9270231" y="3150845"/>
            <a:ext cx="1729986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4" name="S03-line41"/>
          <p:cNvSpPr/>
          <p:nvPr/>
        </p:nvSpPr>
        <p:spPr>
          <a:xfrm>
            <a:off x="10135224" y="2458851"/>
            <a:ext cx="0" cy="172998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5" name="S03-line42"/>
          <p:cNvSpPr/>
          <p:nvPr/>
        </p:nvSpPr>
        <p:spPr>
          <a:xfrm>
            <a:off x="9270231" y="3323844"/>
            <a:ext cx="1729986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6" name="S03-line43"/>
          <p:cNvSpPr/>
          <p:nvPr/>
        </p:nvSpPr>
        <p:spPr>
          <a:xfrm>
            <a:off x="10308223" y="2458851"/>
            <a:ext cx="0" cy="172998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7" name="S03-line44"/>
          <p:cNvSpPr/>
          <p:nvPr/>
        </p:nvSpPr>
        <p:spPr>
          <a:xfrm>
            <a:off x="9270231" y="3496843"/>
            <a:ext cx="1729986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8" name="S03-line45"/>
          <p:cNvSpPr/>
          <p:nvPr/>
        </p:nvSpPr>
        <p:spPr>
          <a:xfrm>
            <a:off x="10481222" y="2458851"/>
            <a:ext cx="0" cy="172998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9" name="S03-line46"/>
          <p:cNvSpPr/>
          <p:nvPr/>
        </p:nvSpPr>
        <p:spPr>
          <a:xfrm>
            <a:off x="9270231" y="3669841"/>
            <a:ext cx="1729986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0" name="S03-line47"/>
          <p:cNvSpPr/>
          <p:nvPr/>
        </p:nvSpPr>
        <p:spPr>
          <a:xfrm>
            <a:off x="10654220" y="2458851"/>
            <a:ext cx="0" cy="172998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1" name="S03-line48"/>
          <p:cNvSpPr/>
          <p:nvPr/>
        </p:nvSpPr>
        <p:spPr>
          <a:xfrm>
            <a:off x="9270231" y="3842840"/>
            <a:ext cx="1729986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2" name="S03-line49"/>
          <p:cNvSpPr/>
          <p:nvPr/>
        </p:nvSpPr>
        <p:spPr>
          <a:xfrm>
            <a:off x="10827219" y="2458851"/>
            <a:ext cx="0" cy="172998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3" name="S03-line50"/>
          <p:cNvSpPr/>
          <p:nvPr/>
        </p:nvSpPr>
        <p:spPr>
          <a:xfrm>
            <a:off x="9270231" y="4015838"/>
            <a:ext cx="1729986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4" name="S03-unit51"/>
          <p:cNvSpPr/>
          <p:nvPr/>
        </p:nvSpPr>
        <p:spPr>
          <a:xfrm>
            <a:off x="11104016" y="3972589"/>
            <a:ext cx="172999" cy="172999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5" name="S03-unit52"/>
          <p:cNvSpPr/>
          <p:nvPr/>
        </p:nvSpPr>
        <p:spPr>
          <a:xfrm>
            <a:off x="11104016" y="3756340"/>
            <a:ext cx="172999" cy="172999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6" name="S03-unit53"/>
          <p:cNvSpPr/>
          <p:nvPr/>
        </p:nvSpPr>
        <p:spPr>
          <a:xfrm>
            <a:off x="11104016" y="3540092"/>
            <a:ext cx="172999" cy="172999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7" name="S03-unit54"/>
          <p:cNvSpPr/>
          <p:nvPr/>
        </p:nvSpPr>
        <p:spPr>
          <a:xfrm>
            <a:off x="11104016" y="3323844"/>
            <a:ext cx="172999" cy="172999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8" name="S03-unit55"/>
          <p:cNvSpPr/>
          <p:nvPr/>
        </p:nvSpPr>
        <p:spPr>
          <a:xfrm>
            <a:off x="11104016" y="3107596"/>
            <a:ext cx="172999" cy="172999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9" name="S03-unit56"/>
          <p:cNvSpPr/>
          <p:nvPr/>
        </p:nvSpPr>
        <p:spPr>
          <a:xfrm>
            <a:off x="11328915" y="3972589"/>
            <a:ext cx="172999" cy="172999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50" name="S03-figure57" descr="한 명의 몫: 백 모형 2개, 십 모형 0개, 일 모형 6개(206)"/>
          <p:cNvSpPr/>
          <p:nvPr/>
        </p:nvSpPr>
        <p:spPr>
          <a:xfrm>
            <a:off x="7349947" y="2458851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1" name="S03-label58"/>
          <p:cNvSpPr txBox="1"/>
          <p:nvPr/>
        </p:nvSpPr>
        <p:spPr>
          <a:xfrm>
            <a:off x="7349947" y="4709160"/>
            <a:ext cx="429036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명의 몫 206</a:t>
            </a:r>
            <a:endParaRPr lang="ko-KR" sz="2400" dirty="0"/>
          </a:p>
        </p:txBody>
      </p:sp>
      <p:sp>
        <p:nvSpPr>
          <p:cNvPr id="52" name="S03-stepno59"/>
          <p:cNvSpPr txBox="1"/>
          <p:nvPr/>
        </p:nvSpPr>
        <p:spPr>
          <a:xfrm>
            <a:off x="548640" y="219760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53" name="S03-text60"/>
          <p:cNvSpPr txBox="1"/>
          <p:nvPr/>
        </p:nvSpPr>
        <p:spPr>
          <a:xfrm>
            <a:off x="1325880" y="2197608"/>
            <a:ext cx="565830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백 8개: 2개씩 주어요.</a:t>
            </a:r>
            <a:endParaRPr lang="ko-KR" sz="3000" dirty="0"/>
          </a:p>
        </p:txBody>
      </p:sp>
      <p:sp>
        <p:nvSpPr>
          <p:cNvPr id="54" name="S03-stepno61"/>
          <p:cNvSpPr txBox="1"/>
          <p:nvPr/>
        </p:nvSpPr>
        <p:spPr>
          <a:xfrm>
            <a:off x="548640" y="2956560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55" name="S03-text62"/>
          <p:cNvSpPr txBox="1"/>
          <p:nvPr/>
        </p:nvSpPr>
        <p:spPr>
          <a:xfrm>
            <a:off x="1325880" y="2910840"/>
            <a:ext cx="5658307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십 2개: 4명에게 줄 수 없어요.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명의 십은 0개</a:t>
            </a:r>
            <a:endParaRPr lang="ko-KR" sz="3000" dirty="0"/>
          </a:p>
        </p:txBody>
      </p:sp>
      <p:sp>
        <p:nvSpPr>
          <p:cNvPr id="56" name="S03-stepno63"/>
          <p:cNvSpPr txBox="1"/>
          <p:nvPr/>
        </p:nvSpPr>
        <p:spPr>
          <a:xfrm>
            <a:off x="548640" y="405079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57" name="S03-text64"/>
          <p:cNvSpPr txBox="1"/>
          <p:nvPr/>
        </p:nvSpPr>
        <p:spPr>
          <a:xfrm>
            <a:off x="1325880" y="4005072"/>
            <a:ext cx="5658307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십 2개 → 일 20개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 24개: 6개씩 주어요.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몫의 십의 자리에 0</a:t>
            </a:r>
            <a:endParaRPr lang="ko-KR" sz="4000" dirty="0"/>
          </a:p>
        </p:txBody>
      </p:sp>
      <p:sp>
        <p:nvSpPr>
          <p:cNvPr id="3" name="S04-card65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4-cardtext66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나눌 수 없으면 몫에 0을 쓰고 하나 더 내려요.</a:t>
            </a:r>
            <a:endParaRPr lang="ko-KR" sz="3000" dirty="0"/>
          </a:p>
        </p:txBody>
      </p:sp>
      <p:graphicFrame>
        <p:nvGraphicFramePr>
          <p:cNvPr id="5" name="S04-table6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574890" y="1431925"/>
          <a:ext cx="3840480" cy="914400"/>
        </p:xfrm>
        <a:graphic>
          <a:graphicData uri="http://schemas.openxmlformats.org/drawingml/2006/table">
            <a:tbl>
              <a:tblPr/>
              <a:tblGrid>
                <a:gridCol w="960120"/>
                <a:gridCol w="960120"/>
                <a:gridCol w="960120"/>
                <a:gridCol w="960120"/>
              </a:tblGrid>
              <a:tr h="51181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백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십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일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51181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181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4)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181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181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181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181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04-stepno68"/>
          <p:cNvSpPr txBox="1"/>
          <p:nvPr/>
        </p:nvSpPr>
        <p:spPr>
          <a:xfrm>
            <a:off x="548640" y="149809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7" name="S04-text69"/>
          <p:cNvSpPr txBox="1"/>
          <p:nvPr/>
        </p:nvSpPr>
        <p:spPr>
          <a:xfrm>
            <a:off x="1325880" y="1498092"/>
            <a:ext cx="565830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백: 8 ÷ 4 = 2</a:t>
            </a:r>
            <a:endParaRPr lang="ko-KR" sz="3000" dirty="0"/>
          </a:p>
        </p:txBody>
      </p:sp>
      <p:sp>
        <p:nvSpPr>
          <p:cNvPr id="8" name="S04-stepno70"/>
          <p:cNvSpPr txBox="1"/>
          <p:nvPr/>
        </p:nvSpPr>
        <p:spPr>
          <a:xfrm>
            <a:off x="548640" y="2257044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9" name="S04-text71"/>
          <p:cNvSpPr txBox="1"/>
          <p:nvPr/>
        </p:nvSpPr>
        <p:spPr>
          <a:xfrm>
            <a:off x="1325880" y="2211324"/>
            <a:ext cx="5658307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십: 2는 4보다 작아요.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몫의 십의 자리에 0</a:t>
            </a:r>
            <a:endParaRPr lang="ko-KR" sz="3000" dirty="0"/>
          </a:p>
        </p:txBody>
      </p:sp>
      <p:sp>
        <p:nvSpPr>
          <p:cNvPr id="10" name="S04-stepno72"/>
          <p:cNvSpPr txBox="1"/>
          <p:nvPr/>
        </p:nvSpPr>
        <p:spPr>
          <a:xfrm>
            <a:off x="548640" y="3351276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11" name="S04-text73"/>
          <p:cNvSpPr txBox="1"/>
          <p:nvPr/>
        </p:nvSpPr>
        <p:spPr>
          <a:xfrm>
            <a:off x="1325880" y="3305556"/>
            <a:ext cx="5658307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4까지 내려 24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24 ÷ 4 = 6</a:t>
            </a:r>
            <a:endParaRPr lang="ko-KR" sz="3000" dirty="0"/>
          </a:p>
        </p:txBody>
      </p:sp>
      <p:sp>
        <p:nvSpPr>
          <p:cNvPr id="12" name="S04-stepno74"/>
          <p:cNvSpPr txBox="1"/>
          <p:nvPr/>
        </p:nvSpPr>
        <p:spPr>
          <a:xfrm>
            <a:off x="548640" y="439978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400" dirty="0"/>
          </a:p>
        </p:txBody>
      </p:sp>
      <p:sp>
        <p:nvSpPr>
          <p:cNvPr id="13" name="S04-text75"/>
          <p:cNvSpPr txBox="1"/>
          <p:nvPr/>
        </p:nvSpPr>
        <p:spPr>
          <a:xfrm>
            <a:off x="1325880" y="4399788"/>
            <a:ext cx="565830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확인: 4 × 206 = 824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몫의 일의 자리에 0</a:t>
            </a:r>
            <a:endParaRPr lang="ko-KR" sz="4000" dirty="0"/>
          </a:p>
        </p:txBody>
      </p:sp>
      <p:sp>
        <p:nvSpPr>
          <p:cNvPr id="3" name="S05-text76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81 ÷ 4를 세로로 해요.</a:t>
            </a:r>
            <a:endParaRPr lang="ko-KR" sz="3000" dirty="0"/>
          </a:p>
        </p:txBody>
      </p:sp>
      <p:sp>
        <p:nvSpPr>
          <p:cNvPr id="4" name="S05-card77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5-cardtext78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81 ÷ 4 = 20 … 1</a:t>
            </a:r>
            <a:endParaRPr lang="ko-KR" sz="3000" dirty="0"/>
          </a:p>
        </p:txBody>
      </p:sp>
      <p:graphicFrame>
        <p:nvGraphicFramePr>
          <p:cNvPr id="6" name="S05-table7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155168" y="2188210"/>
          <a:ext cx="3108960" cy="914400"/>
        </p:xfrm>
        <a:graphic>
          <a:graphicData uri="http://schemas.openxmlformats.org/drawingml/2006/table">
            <a:tbl>
              <a:tblPr/>
              <a:tblGrid>
                <a:gridCol w="1036320"/>
                <a:gridCol w="1036320"/>
                <a:gridCol w="1036320"/>
              </a:tblGrid>
              <a:tr h="55118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십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일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55118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5118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4)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5118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5118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05-stepno80"/>
          <p:cNvSpPr txBox="1"/>
          <p:nvPr/>
        </p:nvSpPr>
        <p:spPr>
          <a:xfrm>
            <a:off x="548640" y="203149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8" name="S05-text81"/>
          <p:cNvSpPr txBox="1"/>
          <p:nvPr/>
        </p:nvSpPr>
        <p:spPr>
          <a:xfrm>
            <a:off x="1325880" y="2031492"/>
            <a:ext cx="60873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십: 8 ÷ 4 = 2</a:t>
            </a:r>
            <a:endParaRPr lang="ko-KR" sz="3000" dirty="0"/>
          </a:p>
        </p:txBody>
      </p:sp>
      <p:sp>
        <p:nvSpPr>
          <p:cNvPr id="9" name="S05-stepno82"/>
          <p:cNvSpPr txBox="1"/>
          <p:nvPr/>
        </p:nvSpPr>
        <p:spPr>
          <a:xfrm>
            <a:off x="548640" y="2790444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10" name="S05-text83"/>
          <p:cNvSpPr txBox="1"/>
          <p:nvPr/>
        </p:nvSpPr>
        <p:spPr>
          <a:xfrm>
            <a:off x="1325880" y="2744724"/>
            <a:ext cx="6087344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일: 1은 4보다 작아요.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몫의 일의 자리에 0</a:t>
            </a:r>
            <a:endParaRPr lang="ko-KR" sz="3000" dirty="0"/>
          </a:p>
        </p:txBody>
      </p:sp>
      <p:sp>
        <p:nvSpPr>
          <p:cNvPr id="11" name="S05-stepno84"/>
          <p:cNvSpPr txBox="1"/>
          <p:nvPr/>
        </p:nvSpPr>
        <p:spPr>
          <a:xfrm>
            <a:off x="548640" y="3838956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12" name="S05-text85"/>
          <p:cNvSpPr txBox="1"/>
          <p:nvPr/>
        </p:nvSpPr>
        <p:spPr>
          <a:xfrm>
            <a:off x="1325880" y="3838956"/>
            <a:ext cx="60873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남은 1이 나머지</a:t>
            </a:r>
            <a:endParaRPr lang="ko-KR" sz="3000" dirty="0"/>
          </a:p>
        </p:txBody>
      </p:sp>
      <p:sp>
        <p:nvSpPr>
          <p:cNvPr id="13" name="S05-stepno86"/>
          <p:cNvSpPr txBox="1"/>
          <p:nvPr/>
        </p:nvSpPr>
        <p:spPr>
          <a:xfrm>
            <a:off x="548640" y="455218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400" dirty="0"/>
          </a:p>
        </p:txBody>
      </p:sp>
      <p:sp>
        <p:nvSpPr>
          <p:cNvPr id="14" name="S05-text87"/>
          <p:cNvSpPr txBox="1"/>
          <p:nvPr/>
        </p:nvSpPr>
        <p:spPr>
          <a:xfrm>
            <a:off x="1325880" y="4552188"/>
            <a:ext cx="60873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확인: 4 × 20 + 1 = 81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세로로 나누어 보기</a:t>
            </a:r>
            <a:endParaRPr lang="ko-KR" sz="4000" dirty="0"/>
          </a:p>
        </p:txBody>
      </p:sp>
      <p:sp>
        <p:nvSpPr>
          <p:cNvPr id="3" name="S06-card88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4" name="S06-cardtext89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나눌 수 없으면 몫에 0을 쓰고 하나 더 내려요.</a:t>
            </a:r>
            <a:endParaRPr lang="ko-KR" sz="3000" dirty="0"/>
          </a:p>
        </p:txBody>
      </p:sp>
      <p:sp>
        <p:nvSpPr>
          <p:cNvPr id="5" name="S06-card90"/>
          <p:cNvSpPr/>
          <p:nvPr/>
        </p:nvSpPr>
        <p:spPr>
          <a:xfrm>
            <a:off x="6277356" y="1325880"/>
            <a:ext cx="5362956" cy="3794760"/>
          </a:xfrm>
          <a:prstGeom prst="roundRect">
            <a:avLst>
              <a:gd name="adj" fmla="val 289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6" name="S06-cardtext91"/>
          <p:cNvSpPr txBox="1"/>
          <p:nvPr/>
        </p:nvSpPr>
        <p:spPr>
          <a:xfrm>
            <a:off x="6551676" y="1463040"/>
            <a:ext cx="4814316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③을 세로로 해요</a:t>
            </a:r>
            <a:endParaRPr lang="ko-KR" sz="3000" dirty="0"/>
          </a:p>
        </p:txBody>
      </p:sp>
      <p:graphicFrame>
        <p:nvGraphicFramePr>
          <p:cNvPr id="7" name="S06-table9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130034" y="2096770"/>
          <a:ext cx="365760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914400"/>
                <a:gridCol w="914400"/>
                <a:gridCol w="914400"/>
              </a:tblGrid>
              <a:tr h="39370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백</a:t>
                      </a:r>
                      <a:endParaRPr lang="en-US" sz="2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십</a:t>
                      </a:r>
                      <a:endParaRPr lang="en-US" sz="2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일</a:t>
                      </a:r>
                      <a:endParaRPr lang="en-US" sz="2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39370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□</a:t>
                      </a:r>
                      <a:endParaRPr lang="en-US" sz="2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□</a:t>
                      </a:r>
                      <a:endParaRPr lang="en-US" sz="2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□</a:t>
                      </a:r>
                      <a:endParaRPr lang="en-US" sz="2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70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4)</a:t>
                      </a:r>
                      <a:endParaRPr lang="en-US" sz="2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</a:t>
                      </a:r>
                      <a:endParaRPr lang="en-US" sz="2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</a:t>
                      </a:r>
                      <a:endParaRPr lang="en-US" sz="2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</a:t>
                      </a:r>
                      <a:endParaRPr lang="en-US" sz="2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70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□</a:t>
                      </a:r>
                      <a:endParaRPr lang="en-US" sz="2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70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□</a:t>
                      </a:r>
                      <a:endParaRPr lang="en-US" sz="2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□</a:t>
                      </a:r>
                      <a:endParaRPr lang="en-US" sz="2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70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□</a:t>
                      </a:r>
                      <a:endParaRPr lang="en-US" sz="2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□</a:t>
                      </a:r>
                      <a:endParaRPr lang="en-US" sz="2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70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□</a:t>
                      </a:r>
                      <a:endParaRPr lang="en-US" sz="2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S06-chip93"/>
          <p:cNvSpPr txBox="1"/>
          <p:nvPr/>
        </p:nvSpPr>
        <p:spPr>
          <a:xfrm>
            <a:off x="548640" y="16139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9" name="S06-eqtext94"/>
          <p:cNvSpPr txBox="1"/>
          <p:nvPr/>
        </p:nvSpPr>
        <p:spPr>
          <a:xfrm>
            <a:off x="1344168" y="1325880"/>
            <a:ext cx="456742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612 ÷ 3 = □</a:t>
            </a:r>
            <a:endParaRPr lang="ko-KR" sz="3400" dirty="0"/>
          </a:p>
        </p:txBody>
      </p:sp>
      <p:sp>
        <p:nvSpPr>
          <p:cNvPr id="10" name="S06-chip95"/>
          <p:cNvSpPr txBox="1"/>
          <p:nvPr/>
        </p:nvSpPr>
        <p:spPr>
          <a:xfrm>
            <a:off x="548640" y="29397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11" name="S06-eqtext96"/>
          <p:cNvSpPr txBox="1"/>
          <p:nvPr/>
        </p:nvSpPr>
        <p:spPr>
          <a:xfrm>
            <a:off x="1344168" y="2651760"/>
            <a:ext cx="456742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480 ÷ 4 = □</a:t>
            </a:r>
            <a:endParaRPr lang="ko-KR" sz="3400" dirty="0"/>
          </a:p>
        </p:txBody>
      </p:sp>
      <p:sp>
        <p:nvSpPr>
          <p:cNvPr id="12" name="S06-chip97"/>
          <p:cNvSpPr txBox="1"/>
          <p:nvPr/>
        </p:nvSpPr>
        <p:spPr>
          <a:xfrm>
            <a:off x="548640" y="42656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400" dirty="0"/>
          </a:p>
        </p:txBody>
      </p:sp>
      <p:sp>
        <p:nvSpPr>
          <p:cNvPr id="13" name="S06-eqtext98"/>
          <p:cNvSpPr txBox="1"/>
          <p:nvPr/>
        </p:nvSpPr>
        <p:spPr>
          <a:xfrm>
            <a:off x="1344168" y="3977640"/>
            <a:ext cx="456742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815 ÷ 4 = □ … □</a:t>
            </a:r>
            <a:endParaRPr lang="ko-KR" sz="3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몫은 몇 자리 수일까요</a:t>
            </a:r>
            <a:endParaRPr lang="ko-KR" sz="4000" dirty="0"/>
          </a:p>
        </p:txBody>
      </p:sp>
      <p:sp>
        <p:nvSpPr>
          <p:cNvPr id="3" name="S07-text99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몫의 자리 수를 먼저 알면 0을 빠뜨리지 않아요.</a:t>
            </a:r>
            <a:endParaRPr lang="ko-KR" sz="3000" dirty="0"/>
          </a:p>
        </p:txBody>
      </p:sp>
      <p:sp>
        <p:nvSpPr>
          <p:cNvPr id="4" name="S07-card100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7-cardtext101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0도 몫의 한 자리예요. 빠뜨리면 자리 수가 모자라요.</a:t>
            </a:r>
            <a:endParaRPr lang="ko-KR" sz="3000" dirty="0"/>
          </a:p>
        </p:txBody>
      </p:sp>
      <p:graphicFrame>
        <p:nvGraphicFramePr>
          <p:cNvPr id="8" name="S07-table10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065276" y="2542540"/>
          <a:ext cx="10058400" cy="914400"/>
        </p:xfrm>
        <a:graphic>
          <a:graphicData uri="http://schemas.openxmlformats.org/drawingml/2006/table">
            <a:tbl>
              <a:tblPr/>
              <a:tblGrid>
                <a:gridCol w="2514600"/>
                <a:gridCol w="2514600"/>
                <a:gridCol w="2514600"/>
                <a:gridCol w="2514600"/>
              </a:tblGrid>
              <a:tr h="51181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나눗셈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몫의 자리 수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바른 몫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0을 빠뜨리면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51181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824 ÷ 4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세 자리 수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206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26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181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612 ÷ 3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세 자리 수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204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24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181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81 ÷ 4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두 자리 수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 … 1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 … 1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누가 맞았을까요?</a:t>
            </a:r>
            <a:endParaRPr lang="ko-KR" sz="4000" dirty="0"/>
          </a:p>
        </p:txBody>
      </p:sp>
      <p:sp>
        <p:nvSpPr>
          <p:cNvPr id="3" name="S08-card103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8-cardtext104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918 ÷ 3을 세로로 계산했어요.</a:t>
            </a:r>
            <a:endParaRPr lang="ko-KR" sz="3000" dirty="0"/>
          </a:p>
        </p:txBody>
      </p:sp>
      <p:sp>
        <p:nvSpPr>
          <p:cNvPr id="5" name="S08-card105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08-cardtext106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곱셈으로 확인하고, 누가 맞았는지 말해요.</a:t>
            </a:r>
            <a:endParaRPr lang="ko-KR" sz="3000" dirty="0"/>
          </a:p>
        </p:txBody>
      </p:sp>
      <p:sp>
        <p:nvSpPr>
          <p:cNvPr id="7" name="S08-chip107"/>
          <p:cNvSpPr txBox="1"/>
          <p:nvPr/>
        </p:nvSpPr>
        <p:spPr>
          <a:xfrm>
            <a:off x="548640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토끼: 36</a:t>
            </a:r>
            <a:endParaRPr lang="ko-KR" sz="2400" dirty="0"/>
          </a:p>
        </p:txBody>
      </p:sp>
      <p:sp>
        <p:nvSpPr>
          <p:cNvPr id="8" name="S08-text108"/>
          <p:cNvSpPr txBox="1"/>
          <p:nvPr/>
        </p:nvSpPr>
        <p:spPr>
          <a:xfrm>
            <a:off x="548640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1은 3으로 나눌 수 없어서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그냥 건너뛰었어요.</a:t>
            </a:r>
            <a:endParaRPr lang="ko-KR" sz="3000" dirty="0"/>
          </a:p>
        </p:txBody>
      </p:sp>
      <p:sp>
        <p:nvSpPr>
          <p:cNvPr id="9" name="S08-chip109"/>
          <p:cNvSpPr txBox="1"/>
          <p:nvPr/>
        </p:nvSpPr>
        <p:spPr>
          <a:xfrm>
            <a:off x="6277356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곰: 306</a:t>
            </a:r>
            <a:endParaRPr lang="ko-KR" sz="2400" dirty="0"/>
          </a:p>
        </p:txBody>
      </p:sp>
      <p:sp>
        <p:nvSpPr>
          <p:cNvPr id="10" name="S08-text110"/>
          <p:cNvSpPr txBox="1"/>
          <p:nvPr/>
        </p:nvSpPr>
        <p:spPr>
          <a:xfrm>
            <a:off x="6277356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1은 3보다 작아서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몫의 십의 자리에 0을 썼어요.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자리 수 말하고 확인하기</a:t>
            </a:r>
            <a:endParaRPr lang="ko-KR" sz="4000" dirty="0"/>
          </a:p>
        </p:txBody>
      </p:sp>
      <p:sp>
        <p:nvSpPr>
          <p:cNvPr id="3" name="S09-text111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몫이 몇 자리 수인지 말하고 계산해요.</a:t>
            </a:r>
            <a:endParaRPr lang="ko-KR" sz="3000" dirty="0"/>
          </a:p>
        </p:txBody>
      </p:sp>
      <p:sp>
        <p:nvSpPr>
          <p:cNvPr id="4" name="S09-card112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09-cardtext113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나누는 수 × 몫 + 나머지 = 나누어지는 수</a:t>
            </a:r>
            <a:endParaRPr lang="ko-KR" sz="3000" dirty="0"/>
          </a:p>
        </p:txBody>
      </p:sp>
      <p:sp>
        <p:nvSpPr>
          <p:cNvPr id="6" name="S09-chip114"/>
          <p:cNvSpPr txBox="1"/>
          <p:nvPr/>
        </p:nvSpPr>
        <p:spPr>
          <a:xfrm>
            <a:off x="548640" y="21854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7" name="S09-eqtext115"/>
          <p:cNvSpPr txBox="1"/>
          <p:nvPr/>
        </p:nvSpPr>
        <p:spPr>
          <a:xfrm>
            <a:off x="1344168" y="201168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721 ÷ 7 = □</a:t>
            </a:r>
            <a:endParaRPr lang="ko-KR" sz="3400" dirty="0"/>
          </a:p>
        </p:txBody>
      </p:sp>
      <p:sp>
        <p:nvSpPr>
          <p:cNvPr id="8" name="S09-chip116"/>
          <p:cNvSpPr txBox="1"/>
          <p:nvPr/>
        </p:nvSpPr>
        <p:spPr>
          <a:xfrm>
            <a:off x="548640" y="32826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9" name="S09-eqtext117"/>
          <p:cNvSpPr txBox="1"/>
          <p:nvPr/>
        </p:nvSpPr>
        <p:spPr>
          <a:xfrm>
            <a:off x="1344168" y="310896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92 ÷ 3 = □ … □</a:t>
            </a:r>
            <a:endParaRPr lang="ko-KR" sz="3400" dirty="0"/>
          </a:p>
        </p:txBody>
      </p:sp>
      <p:sp>
        <p:nvSpPr>
          <p:cNvPr id="10" name="S09-chip118"/>
          <p:cNvSpPr txBox="1"/>
          <p:nvPr/>
        </p:nvSpPr>
        <p:spPr>
          <a:xfrm>
            <a:off x="548640" y="43799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400" dirty="0"/>
          </a:p>
        </p:txBody>
      </p:sp>
      <p:sp>
        <p:nvSpPr>
          <p:cNvPr id="11" name="S09-text119"/>
          <p:cNvSpPr txBox="1"/>
          <p:nvPr/>
        </p:nvSpPr>
        <p:spPr>
          <a:xfrm>
            <a:off x="1344168" y="420624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540 ÷ 5 = 18이 맞나요?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</a:t>
            </a:r>
            <a:endParaRPr lang="ko-KR" sz="4000" dirty="0"/>
          </a:p>
        </p:txBody>
      </p:sp>
      <p:sp>
        <p:nvSpPr>
          <p:cNvPr id="3" name="S10-text120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세로로 풀고, ④는 곱셈으로 확인해요.</a:t>
            </a:r>
            <a:endParaRPr lang="ko-KR" sz="3000" dirty="0"/>
          </a:p>
        </p:txBody>
      </p:sp>
      <p:sp>
        <p:nvSpPr>
          <p:cNvPr id="4" name="S10-chip121"/>
          <p:cNvSpPr txBox="1"/>
          <p:nvPr/>
        </p:nvSpPr>
        <p:spPr>
          <a:xfrm>
            <a:off x="548640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5" name="S10-eqtext122"/>
          <p:cNvSpPr txBox="1"/>
          <p:nvPr/>
        </p:nvSpPr>
        <p:spPr>
          <a:xfrm>
            <a:off x="1344168" y="20116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636 ÷ 6 = □</a:t>
            </a:r>
            <a:endParaRPr lang="ko-KR" sz="3400" dirty="0"/>
          </a:p>
        </p:txBody>
      </p:sp>
      <p:sp>
        <p:nvSpPr>
          <p:cNvPr id="6" name="S10-chip123"/>
          <p:cNvSpPr txBox="1"/>
          <p:nvPr/>
        </p:nvSpPr>
        <p:spPr>
          <a:xfrm>
            <a:off x="6277356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7" name="S10-eqtext124"/>
          <p:cNvSpPr txBox="1"/>
          <p:nvPr/>
        </p:nvSpPr>
        <p:spPr>
          <a:xfrm>
            <a:off x="7072884" y="20116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83 ÷ 4 = □ … □</a:t>
            </a:r>
            <a:endParaRPr lang="ko-KR" sz="3400" dirty="0"/>
          </a:p>
        </p:txBody>
      </p:sp>
      <p:sp>
        <p:nvSpPr>
          <p:cNvPr id="8" name="S10-chip125"/>
          <p:cNvSpPr txBox="1"/>
          <p:nvPr/>
        </p:nvSpPr>
        <p:spPr>
          <a:xfrm>
            <a:off x="548640" y="4654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400" dirty="0"/>
          </a:p>
        </p:txBody>
      </p:sp>
      <p:sp>
        <p:nvSpPr>
          <p:cNvPr id="9" name="S10-eqtext126"/>
          <p:cNvSpPr txBox="1"/>
          <p:nvPr/>
        </p:nvSpPr>
        <p:spPr>
          <a:xfrm>
            <a:off x="1344168" y="420624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750 ÷ 5 = □</a:t>
            </a:r>
            <a:endParaRPr lang="ko-KR" sz="3400" dirty="0"/>
          </a:p>
        </p:txBody>
      </p:sp>
      <p:sp>
        <p:nvSpPr>
          <p:cNvPr id="10" name="S10-chip127"/>
          <p:cNvSpPr txBox="1"/>
          <p:nvPr/>
        </p:nvSpPr>
        <p:spPr>
          <a:xfrm>
            <a:off x="6277356" y="4654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ko-KR" sz="2400" dirty="0"/>
          </a:p>
        </p:txBody>
      </p:sp>
      <p:sp>
        <p:nvSpPr>
          <p:cNvPr id="11" name="S10-text128"/>
          <p:cNvSpPr txBox="1"/>
          <p:nvPr/>
        </p:nvSpPr>
        <p:spPr>
          <a:xfrm>
            <a:off x="7072884" y="420624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927 ÷ 9 = 13이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맞나요?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 정답</a:t>
            </a:r>
            <a:endParaRPr lang="ko-KR" sz="4000" dirty="0"/>
          </a:p>
        </p:txBody>
      </p:sp>
      <p:sp>
        <p:nvSpPr>
          <p:cNvPr id="3" name="S11-card129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11-cardtext130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몫의 자리 수를 세고, 곱셈으로 확인하게 하세요.</a:t>
            </a:r>
            <a:endParaRPr lang="ko-KR" sz="3000" dirty="0"/>
          </a:p>
        </p:txBody>
      </p:sp>
      <p:sp>
        <p:nvSpPr>
          <p:cNvPr id="5" name="S11-chip131"/>
          <p:cNvSpPr txBox="1"/>
          <p:nvPr/>
        </p:nvSpPr>
        <p:spPr>
          <a:xfrm>
            <a:off x="548640" y="1325880"/>
            <a:ext cx="5362956" cy="548640"/>
          </a:xfrm>
          <a:prstGeom prst="roundRect">
            <a:avLst>
              <a:gd name="adj" fmla="val 26667"/>
            </a:avLst>
          </a:prstGeom>
          <a:solidFill>
            <a:srgbClr val="E3F4F1"/>
          </a:solidFill>
          <a:ln>
            <a:solidFill>
              <a:srgbClr val="E3F4F1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정답</a:t>
            </a:r>
            <a:endParaRPr lang="ko-KR" sz="2400" dirty="0"/>
          </a:p>
        </p:txBody>
      </p:sp>
      <p:sp>
        <p:nvSpPr>
          <p:cNvPr id="6" name="S11-text132"/>
          <p:cNvSpPr txBox="1"/>
          <p:nvPr/>
        </p:nvSpPr>
        <p:spPr>
          <a:xfrm>
            <a:off x="548640" y="2057400"/>
            <a:ext cx="2681478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106</a:t>
            </a:r>
            <a:endParaRPr lang="ko-KR" sz="3000" dirty="0"/>
          </a:p>
        </p:txBody>
      </p:sp>
      <p:sp>
        <p:nvSpPr>
          <p:cNvPr id="7" name="S11-text133"/>
          <p:cNvSpPr txBox="1"/>
          <p:nvPr/>
        </p:nvSpPr>
        <p:spPr>
          <a:xfrm>
            <a:off x="3367278" y="2057400"/>
            <a:ext cx="2544318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 × 106 = 636</a:t>
            </a:r>
            <a:endParaRPr lang="ko-KR" sz="2400" dirty="0"/>
          </a:p>
        </p:txBody>
      </p:sp>
      <p:sp>
        <p:nvSpPr>
          <p:cNvPr id="8" name="S11-text134"/>
          <p:cNvSpPr txBox="1"/>
          <p:nvPr/>
        </p:nvSpPr>
        <p:spPr>
          <a:xfrm>
            <a:off x="548640" y="2857500"/>
            <a:ext cx="2681478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20 … 3</a:t>
            </a:r>
            <a:endParaRPr lang="ko-KR" sz="3000" dirty="0"/>
          </a:p>
        </p:txBody>
      </p:sp>
      <p:sp>
        <p:nvSpPr>
          <p:cNvPr id="9" name="S11-text135"/>
          <p:cNvSpPr txBox="1"/>
          <p:nvPr/>
        </p:nvSpPr>
        <p:spPr>
          <a:xfrm>
            <a:off x="3367278" y="2857500"/>
            <a:ext cx="2544318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 × 20 + 3 = 83</a:t>
            </a:r>
            <a:endParaRPr lang="ko-KR" sz="2400" dirty="0"/>
          </a:p>
        </p:txBody>
      </p:sp>
      <p:sp>
        <p:nvSpPr>
          <p:cNvPr id="10" name="S11-text136"/>
          <p:cNvSpPr txBox="1"/>
          <p:nvPr/>
        </p:nvSpPr>
        <p:spPr>
          <a:xfrm>
            <a:off x="548640" y="3657600"/>
            <a:ext cx="2681478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150</a:t>
            </a:r>
            <a:endParaRPr lang="ko-KR" sz="3000" dirty="0"/>
          </a:p>
        </p:txBody>
      </p:sp>
      <p:sp>
        <p:nvSpPr>
          <p:cNvPr id="11" name="S11-text137"/>
          <p:cNvSpPr txBox="1"/>
          <p:nvPr/>
        </p:nvSpPr>
        <p:spPr>
          <a:xfrm>
            <a:off x="3367278" y="3657600"/>
            <a:ext cx="2544318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 × 150 = 750</a:t>
            </a:r>
            <a:endParaRPr lang="ko-KR" sz="2400" dirty="0"/>
          </a:p>
        </p:txBody>
      </p:sp>
      <p:sp>
        <p:nvSpPr>
          <p:cNvPr id="12" name="S11-text138"/>
          <p:cNvSpPr txBox="1"/>
          <p:nvPr/>
        </p:nvSpPr>
        <p:spPr>
          <a:xfrm>
            <a:off x="548640" y="4457700"/>
            <a:ext cx="2681478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 틀림, 103</a:t>
            </a:r>
            <a:endParaRPr lang="ko-KR" sz="3000" dirty="0"/>
          </a:p>
        </p:txBody>
      </p:sp>
      <p:sp>
        <p:nvSpPr>
          <p:cNvPr id="13" name="S11-text139"/>
          <p:cNvSpPr txBox="1"/>
          <p:nvPr/>
        </p:nvSpPr>
        <p:spPr>
          <a:xfrm>
            <a:off x="3367278" y="4457700"/>
            <a:ext cx="2544318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 × 13 = 117</a:t>
            </a:r>
            <a:endParaRPr lang="ko-KR" sz="2400" dirty="0"/>
          </a:p>
        </p:txBody>
      </p:sp>
      <p:sp>
        <p:nvSpPr>
          <p:cNvPr id="14" name="S11-chip140"/>
          <p:cNvSpPr txBox="1"/>
          <p:nvPr/>
        </p:nvSpPr>
        <p:spPr>
          <a:xfrm>
            <a:off x="6277356" y="1325880"/>
            <a:ext cx="5362956" cy="548640"/>
          </a:xfrm>
          <a:prstGeom prst="roundRect">
            <a:avLst>
              <a:gd name="adj" fmla="val 26667"/>
            </a:avLst>
          </a:prstGeom>
          <a:solidFill>
            <a:srgbClr val="FBE6E7"/>
          </a:solidFill>
          <a:ln>
            <a:solidFill>
              <a:srgbClr val="FBE6E7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흔한 실수</a:t>
            </a:r>
            <a:endParaRPr lang="ko-KR" sz="2400" dirty="0"/>
          </a:p>
        </p:txBody>
      </p:sp>
      <p:sp>
        <p:nvSpPr>
          <p:cNvPr id="15" name="S11-text141"/>
          <p:cNvSpPr txBox="1"/>
          <p:nvPr/>
        </p:nvSpPr>
        <p:spPr>
          <a:xfrm>
            <a:off x="6277356" y="2057400"/>
            <a:ext cx="268147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16</a:t>
            </a:r>
            <a:endParaRPr lang="ko-KR" sz="3000" dirty="0"/>
          </a:p>
        </p:txBody>
      </p:sp>
      <p:sp>
        <p:nvSpPr>
          <p:cNvPr id="16" name="S11-text142"/>
          <p:cNvSpPr txBox="1"/>
          <p:nvPr/>
        </p:nvSpPr>
        <p:spPr>
          <a:xfrm>
            <a:off x="9095994" y="2057400"/>
            <a:ext cx="25443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가운데 0을 빠뜨림</a:t>
            </a:r>
            <a:endParaRPr lang="ko-KR" sz="2400" dirty="0"/>
          </a:p>
        </p:txBody>
      </p:sp>
      <p:sp>
        <p:nvSpPr>
          <p:cNvPr id="17" name="S11-text143"/>
          <p:cNvSpPr txBox="1"/>
          <p:nvPr/>
        </p:nvSpPr>
        <p:spPr>
          <a:xfrm>
            <a:off x="6277356" y="3429000"/>
            <a:ext cx="268147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2 … 3</a:t>
            </a:r>
            <a:endParaRPr lang="ko-KR" sz="3000" dirty="0"/>
          </a:p>
        </p:txBody>
      </p:sp>
      <p:sp>
        <p:nvSpPr>
          <p:cNvPr id="18" name="S11-text144"/>
          <p:cNvSpPr txBox="1"/>
          <p:nvPr/>
        </p:nvSpPr>
        <p:spPr>
          <a:xfrm>
            <a:off x="9095994" y="3429000"/>
            <a:ext cx="25443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끝의 0을 빠뜨림</a:t>
            </a:r>
            <a:endParaRPr lang="ko-KR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바르게 나눈 것은?</a:t>
            </a:r>
            <a:endParaRPr lang="ko-KR" sz="4000" dirty="0"/>
          </a:p>
        </p:txBody>
      </p:sp>
      <p:sp>
        <p:nvSpPr>
          <p:cNvPr id="3" name="S12-text145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618 ÷ 6을 계산했어요.</a:t>
            </a:r>
            <a:endParaRPr lang="ko-KR" sz="3000" dirty="0"/>
          </a:p>
        </p:txBody>
      </p:sp>
      <p:sp>
        <p:nvSpPr>
          <p:cNvPr id="4" name="S12-card146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" name="S12-cardtext147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곱셈으로 확인해 바른 몫을 고르고, 까닭을 말해요.</a:t>
            </a:r>
            <a:endParaRPr lang="ko-KR" sz="3000" dirty="0"/>
          </a:p>
        </p:txBody>
      </p:sp>
      <p:sp>
        <p:nvSpPr>
          <p:cNvPr id="6" name="S12-chip148"/>
          <p:cNvSpPr txBox="1"/>
          <p:nvPr/>
        </p:nvSpPr>
        <p:spPr>
          <a:xfrm>
            <a:off x="1991868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3000" dirty="0"/>
          </a:p>
        </p:txBody>
      </p:sp>
      <p:sp>
        <p:nvSpPr>
          <p:cNvPr id="7" name="S12-bigtext149"/>
          <p:cNvSpPr txBox="1"/>
          <p:nvPr/>
        </p:nvSpPr>
        <p:spPr>
          <a:xfrm>
            <a:off x="548640" y="2715768"/>
            <a:ext cx="3453384" cy="2404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4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13</a:t>
            </a:r>
            <a:endParaRPr lang="ko-KR" sz="4800" dirty="0"/>
          </a:p>
        </p:txBody>
      </p:sp>
      <p:sp>
        <p:nvSpPr>
          <p:cNvPr id="8" name="S12-chip150"/>
          <p:cNvSpPr txBox="1"/>
          <p:nvPr/>
        </p:nvSpPr>
        <p:spPr>
          <a:xfrm>
            <a:off x="5811012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3000" dirty="0"/>
          </a:p>
        </p:txBody>
      </p:sp>
      <p:sp>
        <p:nvSpPr>
          <p:cNvPr id="9" name="S12-bigtext151"/>
          <p:cNvSpPr txBox="1"/>
          <p:nvPr/>
        </p:nvSpPr>
        <p:spPr>
          <a:xfrm>
            <a:off x="4367784" y="2715768"/>
            <a:ext cx="3453384" cy="2404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4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103</a:t>
            </a:r>
            <a:endParaRPr lang="ko-KR" sz="4800" dirty="0"/>
          </a:p>
        </p:txBody>
      </p:sp>
      <p:sp>
        <p:nvSpPr>
          <p:cNvPr id="10" name="S12-chip152"/>
          <p:cNvSpPr txBox="1"/>
          <p:nvPr/>
        </p:nvSpPr>
        <p:spPr>
          <a:xfrm>
            <a:off x="9630156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</a:t>
            </a:r>
            <a:endParaRPr lang="ko-KR" sz="3000" dirty="0"/>
          </a:p>
        </p:txBody>
      </p:sp>
      <p:sp>
        <p:nvSpPr>
          <p:cNvPr id="11" name="S12-bigtext153"/>
          <p:cNvSpPr txBox="1"/>
          <p:nvPr/>
        </p:nvSpPr>
        <p:spPr>
          <a:xfrm>
            <a:off x="8186928" y="2715768"/>
            <a:ext cx="3453384" cy="2404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4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130</a:t>
            </a:r>
            <a:endParaRPr lang="ko-KR" sz="4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</a:t>
            </a:r>
            <a:endParaRPr lang="ko-KR" sz="4000" dirty="0"/>
          </a:p>
        </p:txBody>
      </p:sp>
      <p:sp>
        <p:nvSpPr>
          <p:cNvPr id="3" name="S13-card154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4" name="S13-cardtext155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나눌 수 없는 자리에는 몫에 0을 써요.</a:t>
            </a:r>
            <a:endParaRPr lang="ko-KR" sz="3000" dirty="0"/>
          </a:p>
        </p:txBody>
      </p:sp>
      <p:sp>
        <p:nvSpPr>
          <p:cNvPr id="5" name="S13-chip156"/>
          <p:cNvSpPr txBox="1"/>
          <p:nvPr/>
        </p:nvSpPr>
        <p:spPr>
          <a:xfrm>
            <a:off x="548640" y="2423160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몫의 자리 수 세고 곱셈으로 확인</a:t>
            </a:r>
            <a:endParaRPr lang="ko-KR" sz="2400" dirty="0"/>
          </a:p>
        </p:txBody>
      </p:sp>
      <p:sp>
        <p:nvSpPr>
          <p:cNvPr id="6" name="S13-chip157"/>
          <p:cNvSpPr txBox="1"/>
          <p:nvPr/>
        </p:nvSpPr>
        <p:spPr>
          <a:xfrm>
            <a:off x="6208776" y="2423160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C8434E"/>
          </a:solidFill>
          <a:ln>
            <a:solidFill>
              <a:srgbClr val="C8434E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몫의 0 빠뜨리기</a:t>
            </a:r>
            <a:endParaRPr lang="ko-KR" sz="2400" dirty="0"/>
          </a:p>
        </p:txBody>
      </p:sp>
      <p:sp>
        <p:nvSpPr>
          <p:cNvPr id="7" name="S13-text158"/>
          <p:cNvSpPr txBox="1"/>
          <p:nvPr/>
        </p:nvSpPr>
        <p:spPr>
          <a:xfrm>
            <a:off x="548640" y="324612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수업을 시작할 때 다시 풀어요</a:t>
            </a:r>
            <a:endParaRPr lang="ko-KR" sz="2400" dirty="0"/>
          </a:p>
        </p:txBody>
      </p:sp>
      <p:sp>
        <p:nvSpPr>
          <p:cNvPr id="8" name="S13-eqtext159"/>
          <p:cNvSpPr txBox="1"/>
          <p:nvPr/>
        </p:nvSpPr>
        <p:spPr>
          <a:xfrm>
            <a:off x="548640" y="3749040"/>
            <a:ext cx="35448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945 ÷ 9 = □</a:t>
            </a:r>
            <a:endParaRPr lang="ko-KR" sz="2800" dirty="0"/>
          </a:p>
        </p:txBody>
      </p:sp>
      <p:sp>
        <p:nvSpPr>
          <p:cNvPr id="9" name="S13-eqtext160"/>
          <p:cNvSpPr txBox="1"/>
          <p:nvPr/>
        </p:nvSpPr>
        <p:spPr>
          <a:xfrm>
            <a:off x="4322064" y="3749040"/>
            <a:ext cx="35448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62 ÷ 3 = □ … □</a:t>
            </a:r>
            <a:endParaRPr lang="ko-KR" sz="2800" dirty="0"/>
          </a:p>
        </p:txBody>
      </p:sp>
      <p:sp>
        <p:nvSpPr>
          <p:cNvPr id="10" name="S13-eqtext161"/>
          <p:cNvSpPr txBox="1"/>
          <p:nvPr/>
        </p:nvSpPr>
        <p:spPr>
          <a:xfrm>
            <a:off x="8095488" y="3749040"/>
            <a:ext cx="35448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832 ÷ 4 = □</a:t>
            </a:r>
            <a:endParaRPr lang="ko-KR" sz="2800" dirty="0"/>
          </a:p>
        </p:txBody>
      </p:sp>
      <p:sp>
        <p:nvSpPr>
          <p:cNvPr id="11" name="S13-text162"/>
          <p:cNvSpPr txBox="1"/>
          <p:nvPr/>
        </p:nvSpPr>
        <p:spPr>
          <a:xfrm>
            <a:off x="548640" y="5715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시간: 분수의 뜻</a:t>
            </a:r>
            <a:endParaRPr lang="ko-KR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보충: 536 ÷ 4</a:t>
            </a:r>
            <a:endParaRPr lang="ko-KR" sz="4000" dirty="0"/>
          </a:p>
        </p:txBody>
      </p:sp>
      <p:graphicFrame>
        <p:nvGraphicFramePr>
          <p:cNvPr id="15" name="S14-table16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574890" y="1645920"/>
          <a:ext cx="3840480" cy="914400"/>
        </p:xfrm>
        <a:graphic>
          <a:graphicData uri="http://schemas.openxmlformats.org/drawingml/2006/table">
            <a:tbl>
              <a:tblPr/>
              <a:tblGrid>
                <a:gridCol w="960120"/>
                <a:gridCol w="960120"/>
                <a:gridCol w="960120"/>
                <a:gridCol w="960120"/>
              </a:tblGrid>
              <a:tr h="47244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백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십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일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4)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S14-stepno164"/>
          <p:cNvSpPr txBox="1"/>
          <p:nvPr/>
        </p:nvSpPr>
        <p:spPr>
          <a:xfrm>
            <a:off x="548640" y="204673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5" name="S14-text165"/>
          <p:cNvSpPr txBox="1"/>
          <p:nvPr/>
        </p:nvSpPr>
        <p:spPr>
          <a:xfrm>
            <a:off x="1325880" y="2046732"/>
            <a:ext cx="565830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백: 5 ÷ 4 = 1 … 1</a:t>
            </a:r>
            <a:endParaRPr lang="ko-KR" sz="3000" dirty="0"/>
          </a:p>
        </p:txBody>
      </p:sp>
      <p:sp>
        <p:nvSpPr>
          <p:cNvPr id="6" name="S14-stepno166"/>
          <p:cNvSpPr txBox="1"/>
          <p:nvPr/>
        </p:nvSpPr>
        <p:spPr>
          <a:xfrm>
            <a:off x="548640" y="2805684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7" name="S14-text167"/>
          <p:cNvSpPr txBox="1"/>
          <p:nvPr/>
        </p:nvSpPr>
        <p:spPr>
          <a:xfrm>
            <a:off x="1325880" y="2759964"/>
            <a:ext cx="5658307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1과 3을 내려 13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13 ÷ 4 = 3 … 1</a:t>
            </a:r>
            <a:endParaRPr lang="ko-KR" sz="3000" dirty="0"/>
          </a:p>
        </p:txBody>
      </p:sp>
      <p:sp>
        <p:nvSpPr>
          <p:cNvPr id="8" name="S14-stepno168"/>
          <p:cNvSpPr txBox="1"/>
          <p:nvPr/>
        </p:nvSpPr>
        <p:spPr>
          <a:xfrm>
            <a:off x="548640" y="3899916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9" name="S14-text169"/>
          <p:cNvSpPr txBox="1"/>
          <p:nvPr/>
        </p:nvSpPr>
        <p:spPr>
          <a:xfrm>
            <a:off x="1325880" y="3854196"/>
            <a:ext cx="5658307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1과 6을 내려 16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16 ÷ 4 = 4</a:t>
            </a:r>
            <a:endParaRPr lang="ko-KR" sz="3000" dirty="0"/>
          </a:p>
        </p:txBody>
      </p:sp>
      <p:sp>
        <p:nvSpPr>
          <p:cNvPr id="10" name="S14-stepno170"/>
          <p:cNvSpPr txBox="1"/>
          <p:nvPr/>
        </p:nvSpPr>
        <p:spPr>
          <a:xfrm>
            <a:off x="548640" y="494842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400" dirty="0"/>
          </a:p>
        </p:txBody>
      </p:sp>
      <p:sp>
        <p:nvSpPr>
          <p:cNvPr id="11" name="S14-text171"/>
          <p:cNvSpPr txBox="1"/>
          <p:nvPr/>
        </p:nvSpPr>
        <p:spPr>
          <a:xfrm>
            <a:off x="1325880" y="4948428"/>
            <a:ext cx="565830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확인: 4 × 134 = 536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cation Classroom">
  <a:themeElements>
    <a:clrScheme name="Education Classroom">
      <a:dk1>
        <a:srgbClr val="1F2937"/>
      </a:dk1>
      <a:lt1>
        <a:srgbClr val="FFFFFF"/>
      </a:lt1>
      <a:dk2>
        <a:srgbClr val="264653"/>
      </a:dk2>
      <a:lt2>
        <a:srgbClr val="EAF3F1"/>
      </a:lt2>
      <a:accent1>
        <a:srgbClr val="E9762B"/>
      </a:accent1>
      <a:accent2>
        <a:srgbClr val="2A9D8F"/>
      </a:accent2>
      <a:accent3>
        <a:srgbClr val="C8434E"/>
      </a:accent3>
      <a:accent4>
        <a:srgbClr val="3D5A80"/>
      </a:accent4>
      <a:accent5>
        <a:srgbClr val="F2C14E"/>
      </a:accent5>
      <a:accent6>
        <a:srgbClr val="4B5563"/>
      </a:accent6>
      <a:hlink>
        <a:srgbClr val="3D5A80"/>
      </a:hlink>
      <a:folHlink>
        <a:srgbClr val="7A4E8A"/>
      </a:folHlink>
    </a:clrScheme>
    <a:fontScheme name="Education Classroom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초3 수학 몫에 0이 있는 나눗셈</dc:title>
  <dc:subject>KR22-G03-MAT-DIVZERO-L01</dc:subject>
  <dc:creator>education-ppt</dc:creator>
  <cp:lastModifiedBy>education-ppt</cp:lastModifiedBy>
  <cp:revision>1</cp:revision>
  <dcterms:created xsi:type="dcterms:W3CDTF">2026-10-26T07:59:50Z</dcterms:created>
  <dcterms:modified xsi:type="dcterms:W3CDTF">2026-10-26T07:59:50Z</dcterms:modified>
</cp:coreProperties>
</file>