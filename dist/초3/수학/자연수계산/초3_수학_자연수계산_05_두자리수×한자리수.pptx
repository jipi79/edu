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2b07bb3-1550-04e2-3d97-361d38cb96c1}">
          <p14:sldIdLst>
            <p14:sldId id="256"/>
            <p14:sldId id="257"/>
          </p14:sldIdLst>
        </p14:section>
        <p14:section name="개념" id="{bb9d2d6d-09d4-4fe4-a11d-cc18e3c17600}">
          <p14:sldIdLst>
            <p14:sldId id="258"/>
            <p14:sldId id="259"/>
            <p14:sldId id="260"/>
            <p14:sldId id="261"/>
            <p14:sldId id="263"/>
            <p14:sldId id="264"/>
          </p14:sldIdLst>
        </p14:section>
        <p14:section name="연습" id="{2edd850c-3621-aff8-1565-3c7620c5b440}">
          <p14:sldIdLst>
            <p14:sldId id="262"/>
            <p14:sldId id="265"/>
          </p14:sldIdLst>
        </p14:section>
        <p14:section name="개념" id="{0e8d45e3-544e-b913-bf2d-e2cac99f8e6a}">
          <p14:sldIdLst/>
        </p14:section>
        <p14:section name="연습" id="{3d15cd42-d7d9-18e0-7691-adaeef91a46c}">
          <p14:sldIdLst/>
        </p14:section>
        <p14:section name="확인" id="{50fec1df-64b1-6e05-e4bf-110c05c90bd3}">
          <p14:sldIdLst>
            <p14:sldId id="266"/>
            <p14:sldId id="267"/>
            <p14:sldId id="268"/>
          </p14:sldIdLst>
        </p14:section>
        <p14:section name="정리" id="{78e04611-ab3b-c939-810a-edb6d1db6170}">
          <p14:sldIdLst>
            <p14:sldId id="269"/>
          </p14:sldIdLst>
        </p14:section>
        <p14:section name="보충" id="{b5fad1c0-1267-6204-cf29-ff2d412adee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곱셈구구보다 큰 곱셈을 어떻게 할지 궁금하게 합니다.
시간: 약 2분
이렇게 말해 보세요
- “곱셈구구는 9 × 9까지였지? 오늘은 26 × 3처럼 두 자리 수에 한 자리 수를 곱해 볼 거야.”
- “26을 세 번 더하지 않고 구하는 방법이 있을까?”
예상 답
- “26 + 26 + 26이요.” “20과 6으로 나누어요.” 또는 “잘 모르겠어요.”
막히면
- 답을 확인하지 않고 넘어갑니다. S04~S06에서 같은 문제를 함께 풉니다.
주의
- 26 + 26 + 26으로 구해도 맞습니다. 오늘은 더 짧게 계산하는 방법을 배운다고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확인(곱셈구구, 몇십 더하기 몇십몇)]
목적: 오늘 계산의 바탕이 되는 곱셈구구와 (몇십)+(몇십몇)이 되는지 확인합니다.
시간: 약 3분
이렇게 말해 보세요
- “①, ②는 곱셈구구야. ③은 60 + 18이야. 어떻게 더했는지 말해 줘.”
정답
- ① 18
- ② 28
- ③ 78
막히면
- 곱셈구구가 바로 떠오르지 않으면 아는 곱에서 이어 가게 합니다(7 × 3 = 21에 7을 더해 28).
- 두 문제 이상 틀리면 S15(보충)를 먼저 합니다. 보충으로도 어려우면 초3 4차시 ‘곱셈구구로 몫 구하기’(KR22-G03-MAT-DIVFACT-L01)와 초2 11차시 ‘1과 0의 곱, 곱셈표’(KR22-G02-MAT-TIMES10-L01)에서 곱셈구구를 다시 익힙니다.
주의
- ③의 답 78은 오늘 S05에서 다시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(몇십)×(몇)을 수 모형으로]
목적: (몇십)×(몇)은 곱셈구구의 곱에 0을 하나 붙인 것과 같다는 것을 십 모형으로 압니다.
시간: 약 2분
이렇게 말해 보세요
- “20은 십 모형 2개야. 20 × 3은 십 모형 2개씩 3묶음이지? 십 모형은 모두 몇 개야?”
- “십 모형 6개는 60이야. 2 × 3 = 6이니까 20 × 3 = 60.”
예상 답
- “십 모형 6개요. 60이에요.”
막히면
- 종이 십 막대를 2개씩 3묶음 놓고 “10, 20, 30, 40, 50, 60”으로 셉니다.
주의
- ‘0을 붙인다’는 규칙만 외우지 않게, 십 모형이 몇 개인지 먼저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(두 자리 수)×(한 자리 수)를 수 모형으로]
목적: 26 × 3을 수 모형으로 놓아 십 모형과 일 모형을 따로 세고, 일 모형 10개를 십 모형 1개로 바꾸어 곱을 구합니다.
시간: 약 3분
이렇게 말해 보세요
- “26을 세 묶음 놓았어. 십 모형은 모두 몇 개야? 일 모형은 몇 개야?”
- “일 모형 18개 중 10개를 십 모형 1개로 바꾸면 십 모형 7개, 일 모형 8개. 78이야.”
예상 답
- “십 6개, 일 18개요.” “78이에요.”
막히면
- 종이 수 모형으로 26을 세 번 놓고, 십 모형끼리, 일 모형끼리 모아 셉니다.
주의
- 십 모형 6개는 20 × 3 = 60, 일 모형 18개는 6 × 3 = 18입니다. 다음 장에서 이것을 식으로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자리별로 나누어 곱하고 더하기(자릿값)]
목적: 26 × 3을 일의 자리 곱(6 × 3)과 십의 자리 곱(20 × 3)으로 나누어 계산하고 더합니다.
시간: 약 3분
이렇게 말해 보세요
- “먼저 일의 자리 6에 3을 곱해. 6 × 3 = 18. 그다음 십의 자리 2는 20이니까 20 × 3 = 60.”
- “둘을 더하면 18 + 60 = 78. S04의 수 모형과 같지?”
예상 답
- “78이에요.”
막히면
- S04의 수 모형에서 일 모형 18개와 십 모형 6개(60)를 손으로 짚으며 표의 18, 60과 연결합니다.
주의
- 십의 자리 2를 2로 곱해 6을 쓰면 안 됩니다. 2는 20을 나타내므로 60을 씁니다(M4).
- 표에서 18과 60 아래 줄이 두 곱을 더한 78입니다.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세로셈 시범(일의 자리에서 올림)]
목적: 자리별 곱을 한 줄로 짧게 쓰는 세로셈을 시범으로 보여 주고, 올림을 압니다.
시간: 약 3분
이렇게 말해 보세요
- “일의 자리부터 곱해. 6 × 3 = 18이야. 일의 자리에 8을 쓰고, 1은 십의 자리 위에 작게 올려.”
- “십의 자리는 2 × 3 = 6, 올린 1을 더해 7. 그래서 78이야. S05와 같지?”
예상 답
- “78이에요.”
막히면
- S05의 표와 나란히 놓고 ‘18의 1 = 올린 1’이라고 짚어 줍니다. 올린 1은 십 모형 1개(10)입니다.
주의
- 18을 일의 자리에 그대로 써서 618이 되면 한 칸에 숫자 하나만 쓴다는 것을 다시 보여 줍니다(M3).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연습(일의 자리에서 올림)]
목적: 도움을 받으며 일의 자리에서 올림이 있는 곱셈을 세로셈으로 계산합니다.
시간: 약 4분
이렇게 말해 보세요
- “①은 7 × 4 = 28이야. 일의 자리에 무엇을 쓰고, 무엇을 올릴까?”
- “③은 오른쪽 세로셈 칸에 써 보자. 맨 위 □에는 무엇을 쓸까?”
정답
- ① 68(7 × 4 = 28, 1 × 4 + 2 = 6)
- ② 70(5 × 2 = 10, 3 × 2 + 1 = 7)
- ③ 84(8 × 3 = 24, 2 × 3 + 2 = 8, 맨 위 □는 2)
막히면
- S05처럼 자리별로 나누어 곱하고 더해 보게 합니다(① 28 + 40 = 68).
- 올리는 수가 1이 아니라 2일 수도 있다고 알려 줍니다.
주의
- ②는 일의 자리 곱이 10이라 일의 자리에 0을 씁니다. 답 70의 0을 빠뜨리지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세로셈 시범(십의 자리 곱이 10 이상)]
목적: 십의 자리 곱이 10 이상이면 곱이 세 자리 수가 되고, 백의 자리에 숫자를 쓴다는 것을 압니다.
시간: 약 3분
이렇게 말해 보세요
- “52 × 4야. 일의 자리 2 × 4 = 8. 십의 자리 5 × 4 = 20이야.”
- “십 모형 20개는 백 모형 2개와 같아. 십의 자리에 0, 백의 자리에 2를 써. 208이야.”
예상 답
- “208이에요.”
막히면
- 자리별로 계산해 봅니다. 2 × 4 = 8, 50 × 4 = 200, 8 + 200 = 208.
주의
- 십의 자리의 0을 빠뜨려 28로 쓰지 않게 합니다. 50 × 4 = 200이라 곱은 200보다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세로셈 시범(일의 자리 올림과 곱이 세 자리 수)]
목적: 일의 자리에서 올림이 있고 십의 자리 곱도 10 이상인 곱셈을 세로셈으로 계산합니다.
시간: 약 3분
이렇게 말해 보세요
- “47 × 6이야. 일의 자리 7 × 6 = 42, 2를 쓰고 4를 올려.”
- “십의 자리 4 × 6 = 24, 올린 4를 더해 28. 8은 십의 자리, 2는 백의 자리에 써. 282야.”
예상 답
- “282예요.”
막히면
- 자리별로 계산해 확인합니다. 7 × 6 = 42, 40 × 6 = 240, 42 + 240 = 282.
주의
- 올린 수는 곱한 다음에 더합니다. (4 + 4) × 6처럼 먼저 더하면 틀립니다(M2, S10).
- 올린 4를 빠뜨리면 242가 됩니다(M1).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비교(올린 수를 먼저 더하고 곱하기), 자리별 곱으로 확인]
목적: 올린 수를 십의 자리 숫자에 먼저 더한 뒤 곱하는 실수를 찾고 까닭을 설명합니다(M2).
시간: 약 3분
이렇게 말해 보세요
- “토끼와 곰 모두 일의 자리 8 × 4 = 32에서 2를 쓰고 3을 올렸어. 그다음이 달라. 누가 맞았을까?”
- “자리별로 나누어 곱해 볼까? 8 × 4 = 32, 30 × 4 = 120, 32 + 120 = 152. 누구 답과 같아? 올린 3은 무엇이었지?”
예상 답
- “곰이요. 올린 수는 곱한 다음에 더해요.”
정답
- 곰이 맞습니다. 38 × 4 = 152입니다.
- 올린 3은 이미 8 × 4 = 32에서 나온 십 3개라서 한 번만 더합니다. 토끼는 올린 3에도 4를 곱해 십을 12개 더한 셈이라, 답이 90만큼 커졌습니다(242 − 152 = 90).
막히면
- 수 모형으로 38을 4묶음 놓고 일 모형 32개를 십 3개, 일 2개로 바꾸어 봅니다. 올린 3은 이 십 3개입니다.
주의
- 올린 수를 아예 더하지 않아 122로 쓰는 실수(M1)도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올림이 있는 (두 자리 수)×(한 자리 수)를 세로셈으로 계산하는지 확인합니다.
시간: 약 5분
이렇게 말해 보세요
- “이번에는 혼자 공책에 세로셈으로 풀어 볼래? 다 풀면 어디에 무엇을 올렸는지 말해 줘.”
정답
- ① 96
- ② 76
- ③ 315
- ④ 392
막히면
- 바로 알려 주지 말고 “일의 자리부터 곱하면 얼마야? 올릴 수가 있어?”라고만 묻습니다.
- 도움을 받아 해결했다면 기록표에 ‘도움’으로 표시합니다.
주의
- ③, ④는 곱이 세 자리 수입니다. ①, ②를 맞히고 ③, ④에서 실수했다면 S08, S09를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자리별로 나누어 곱해서 확인해 보자.”
정답
- ① 96 ② 76 ③ 315 ④ 392
막히면
- 올린 수를 빠뜨렸거나 먼저 더했으면 S10으로, 일의 자리 곱을 그대로 썼으면 S06으로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확인(자릿값으로 나누어 곱하기)]
목적: 처음 보는 곱셈을 자릿값에 맞게 나누어 곱하는 방법을 고르고 설명하는지 확인합니다.
시간: 약 2분
이렇게 말해 보세요
- “34 × 5를 바르게 계산하는 방법을 골라 볼래? 그리고 34 × 5를 구해 줘.”
정답
- 가(30 × 5와 4 × 5를 더함). 150 + 20 = 170이라 34 × 5 = 170입니다.
- 나는 4에 5를 곱하지 않았고(154), 다는 십의 자리 3을 30이 아니라 3으로 곱했습니다(35).
막히면
- 34를 수 모형(십 3개, 일 4개)으로 놓고 5묶음을 만들어 보게 합니다.
주의
- ‘34는 30과 4, 둘 다 5번씩’이라고 말하면 목표 A를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배운 것을 말해 볼래? 26 × 3을 자리별로 어떻게 계산했지? 올린 수는 언제 더해?”
예상 답
- “6 × 3 = 18, 20 × 3 = 60, 더해서 78이요.” “곱한 다음에 더해요.”
정답
- ① 90 ② 144 ③ 438
막히면
- S05와 S06을 나란히 보여 주며 자리별 계산과 세로셈을 연결해 말합니다.
주의
- 다음 차시((세 자리 수)×(한 자리 수))는 오늘 방법을 백의 자리까지 넓힙니다.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보충(아는 곱에서 이어 가기)]
목적: S02에서 곱셈구구가 흔들리면, 아는 곱에서 같은 수만큼 더 뛰어 곱을 구하는 방법을 익힙니다.
시간: 약 5분
이렇게 말해 보세요
- “6 × 5 = 30은 알지? 6 × 7은 6을 두 번 더 뛰면 돼. 30, 36, 42.”
- “그러면 7 × 4는? 7 × 2 = 14에서 두 번 더 뛰어 볼까?”
정답
- 6 × 7 = 42
- 7 × 4 = 28(14, 21, 28)
막히면
- 수직선을 종이에 그리고 6칸씩 손가락으로 뛰어 봅니다.
주의
- 보충으로도 어려우면 초3 4차시 ‘곱셈구구로 몫 구하기’(KR22-G03-MAT-DIVFACT-L01)와 초2 11차시 ‘1과 0의 곱, 곱셈표’(KR22-G02-MAT-TIMES10-L01)에서 곱셈구구를 다시 익힙니다.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(두 자리 수)×(한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(두 자리 수)×(한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(두 자리 수)×(한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(몇십몇)×(몇)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× 3은 어떻게 계산할까?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92202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자리별로 나누어 곱하고 더해요.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올림이 있는 곱셈을 세로셈으로 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4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+ 18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몇십 곱하기 몇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3은 십 모형 2개씩 3묶음이에요.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3 = 60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= 6이니까 십 모형이 6개예요.</a:t>
            </a:r>
            <a:endParaRPr lang="ko-KR" sz="3000" dirty="0"/>
          </a:p>
        </p:txBody>
      </p:sp>
      <p:sp>
        <p:nvSpPr>
          <p:cNvPr id="6" name="S03-rod13"/>
          <p:cNvSpPr/>
          <p:nvPr/>
        </p:nvSpPr>
        <p:spPr>
          <a:xfrm>
            <a:off x="1944272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line14"/>
          <p:cNvSpPr/>
          <p:nvPr/>
        </p:nvSpPr>
        <p:spPr>
          <a:xfrm>
            <a:off x="1944272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15"/>
          <p:cNvSpPr/>
          <p:nvPr/>
        </p:nvSpPr>
        <p:spPr>
          <a:xfrm>
            <a:off x="1944272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16"/>
          <p:cNvSpPr/>
          <p:nvPr/>
        </p:nvSpPr>
        <p:spPr>
          <a:xfrm>
            <a:off x="1944272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17"/>
          <p:cNvSpPr/>
          <p:nvPr/>
        </p:nvSpPr>
        <p:spPr>
          <a:xfrm>
            <a:off x="1944272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>
            <a:off x="1944272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>
            <a:off x="1944272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1944272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1944272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1944272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rod23"/>
          <p:cNvSpPr/>
          <p:nvPr/>
        </p:nvSpPr>
        <p:spPr>
          <a:xfrm>
            <a:off x="2290572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2290572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2290572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2290572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2290572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2290572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2290572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2290572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2290572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32"/>
          <p:cNvSpPr/>
          <p:nvPr/>
        </p:nvSpPr>
        <p:spPr>
          <a:xfrm>
            <a:off x="2290572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figure33" descr="십 모형 2개"/>
          <p:cNvSpPr/>
          <p:nvPr/>
        </p:nvSpPr>
        <p:spPr>
          <a:xfrm>
            <a:off x="548640" y="205496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03-label34"/>
          <p:cNvSpPr txBox="1"/>
          <p:nvPr/>
        </p:nvSpPr>
        <p:spPr>
          <a:xfrm>
            <a:off x="548640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8" name="S03-rod35"/>
          <p:cNvSpPr/>
          <p:nvPr/>
        </p:nvSpPr>
        <p:spPr>
          <a:xfrm>
            <a:off x="5748176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line36"/>
          <p:cNvSpPr/>
          <p:nvPr/>
        </p:nvSpPr>
        <p:spPr>
          <a:xfrm>
            <a:off x="5748176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5748176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38"/>
          <p:cNvSpPr/>
          <p:nvPr/>
        </p:nvSpPr>
        <p:spPr>
          <a:xfrm>
            <a:off x="5748176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39"/>
          <p:cNvSpPr/>
          <p:nvPr/>
        </p:nvSpPr>
        <p:spPr>
          <a:xfrm>
            <a:off x="5748176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40"/>
          <p:cNvSpPr/>
          <p:nvPr/>
        </p:nvSpPr>
        <p:spPr>
          <a:xfrm>
            <a:off x="5748176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5748176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42"/>
          <p:cNvSpPr/>
          <p:nvPr/>
        </p:nvSpPr>
        <p:spPr>
          <a:xfrm>
            <a:off x="5748176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43"/>
          <p:cNvSpPr/>
          <p:nvPr/>
        </p:nvSpPr>
        <p:spPr>
          <a:xfrm>
            <a:off x="5748176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44"/>
          <p:cNvSpPr/>
          <p:nvPr/>
        </p:nvSpPr>
        <p:spPr>
          <a:xfrm>
            <a:off x="5748176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rod45"/>
          <p:cNvSpPr/>
          <p:nvPr/>
        </p:nvSpPr>
        <p:spPr>
          <a:xfrm>
            <a:off x="6094476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line46"/>
          <p:cNvSpPr/>
          <p:nvPr/>
        </p:nvSpPr>
        <p:spPr>
          <a:xfrm>
            <a:off x="6094476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47"/>
          <p:cNvSpPr/>
          <p:nvPr/>
        </p:nvSpPr>
        <p:spPr>
          <a:xfrm>
            <a:off x="6094476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6094476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6094476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6094476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6094476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52"/>
          <p:cNvSpPr/>
          <p:nvPr/>
        </p:nvSpPr>
        <p:spPr>
          <a:xfrm>
            <a:off x="6094476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53"/>
          <p:cNvSpPr/>
          <p:nvPr/>
        </p:nvSpPr>
        <p:spPr>
          <a:xfrm>
            <a:off x="6094476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54"/>
          <p:cNvSpPr/>
          <p:nvPr/>
        </p:nvSpPr>
        <p:spPr>
          <a:xfrm>
            <a:off x="6094476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figure55" descr="십 모형 2개"/>
          <p:cNvSpPr/>
          <p:nvPr/>
        </p:nvSpPr>
        <p:spPr>
          <a:xfrm>
            <a:off x="4352544" y="205496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03-label56"/>
          <p:cNvSpPr txBox="1"/>
          <p:nvPr/>
        </p:nvSpPr>
        <p:spPr>
          <a:xfrm>
            <a:off x="4352544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50" name="S03-rod57"/>
          <p:cNvSpPr/>
          <p:nvPr/>
        </p:nvSpPr>
        <p:spPr>
          <a:xfrm>
            <a:off x="9552080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line58"/>
          <p:cNvSpPr/>
          <p:nvPr/>
        </p:nvSpPr>
        <p:spPr>
          <a:xfrm>
            <a:off x="9552080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59"/>
          <p:cNvSpPr/>
          <p:nvPr/>
        </p:nvSpPr>
        <p:spPr>
          <a:xfrm>
            <a:off x="9552080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9552080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61"/>
          <p:cNvSpPr/>
          <p:nvPr/>
        </p:nvSpPr>
        <p:spPr>
          <a:xfrm>
            <a:off x="9552080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62"/>
          <p:cNvSpPr/>
          <p:nvPr/>
        </p:nvSpPr>
        <p:spPr>
          <a:xfrm>
            <a:off x="9552080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63"/>
          <p:cNvSpPr/>
          <p:nvPr/>
        </p:nvSpPr>
        <p:spPr>
          <a:xfrm>
            <a:off x="9552080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64"/>
          <p:cNvSpPr/>
          <p:nvPr/>
        </p:nvSpPr>
        <p:spPr>
          <a:xfrm>
            <a:off x="9552080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65"/>
          <p:cNvSpPr/>
          <p:nvPr/>
        </p:nvSpPr>
        <p:spPr>
          <a:xfrm>
            <a:off x="9552080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66"/>
          <p:cNvSpPr/>
          <p:nvPr/>
        </p:nvSpPr>
        <p:spPr>
          <a:xfrm>
            <a:off x="9552080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rod67"/>
          <p:cNvSpPr/>
          <p:nvPr/>
        </p:nvSpPr>
        <p:spPr>
          <a:xfrm>
            <a:off x="9898380" y="2054967"/>
            <a:ext cx="216437" cy="2164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line68"/>
          <p:cNvSpPr/>
          <p:nvPr/>
        </p:nvSpPr>
        <p:spPr>
          <a:xfrm>
            <a:off x="9898380" y="2271405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line69"/>
          <p:cNvSpPr/>
          <p:nvPr/>
        </p:nvSpPr>
        <p:spPr>
          <a:xfrm>
            <a:off x="9898380" y="2487842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line70"/>
          <p:cNvSpPr/>
          <p:nvPr/>
        </p:nvSpPr>
        <p:spPr>
          <a:xfrm>
            <a:off x="9898380" y="270427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71"/>
          <p:cNvSpPr/>
          <p:nvPr/>
        </p:nvSpPr>
        <p:spPr>
          <a:xfrm>
            <a:off x="9898380" y="2920717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line72"/>
          <p:cNvSpPr/>
          <p:nvPr/>
        </p:nvSpPr>
        <p:spPr>
          <a:xfrm>
            <a:off x="9898380" y="3137154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line73"/>
          <p:cNvSpPr/>
          <p:nvPr/>
        </p:nvSpPr>
        <p:spPr>
          <a:xfrm>
            <a:off x="9898380" y="3353591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3-line74"/>
          <p:cNvSpPr/>
          <p:nvPr/>
        </p:nvSpPr>
        <p:spPr>
          <a:xfrm>
            <a:off x="9898380" y="3570029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3-line75"/>
          <p:cNvSpPr/>
          <p:nvPr/>
        </p:nvSpPr>
        <p:spPr>
          <a:xfrm>
            <a:off x="9898380" y="3786466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3-line76"/>
          <p:cNvSpPr/>
          <p:nvPr/>
        </p:nvSpPr>
        <p:spPr>
          <a:xfrm>
            <a:off x="9898380" y="4002903"/>
            <a:ext cx="216437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3-figure77" descr="십 모형 2개"/>
          <p:cNvSpPr/>
          <p:nvPr/>
        </p:nvSpPr>
        <p:spPr>
          <a:xfrm>
            <a:off x="8156448" y="205496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03-label78"/>
          <p:cNvSpPr txBox="1"/>
          <p:nvPr/>
        </p:nvSpPr>
        <p:spPr>
          <a:xfrm>
            <a:off x="8156448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26씩 3묶음</a:t>
            </a:r>
            <a:endParaRPr lang="ko-KR" sz="4000" dirty="0"/>
          </a:p>
        </p:txBody>
      </p:sp>
      <p:sp>
        <p:nvSpPr>
          <p:cNvPr id="3" name="S04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× 3은 26이 3묶음이에요.</a:t>
            </a:r>
            <a:endParaRPr lang="ko-KR" sz="3000" dirty="0"/>
          </a:p>
        </p:txBody>
      </p:sp>
      <p:sp>
        <p:nvSpPr>
          <p:cNvPr id="4" name="S04-card80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81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6개, 일 18개 → 78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모형 10개를 십 모형 1개로 바꾸어요.</a:t>
            </a:r>
            <a:endParaRPr lang="ko-KR" sz="3000" dirty="0"/>
          </a:p>
        </p:txBody>
      </p:sp>
      <p:sp>
        <p:nvSpPr>
          <p:cNvPr id="6" name="S04-rod82"/>
          <p:cNvSpPr/>
          <p:nvPr/>
        </p:nvSpPr>
        <p:spPr>
          <a:xfrm>
            <a:off x="1707185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line83"/>
          <p:cNvSpPr/>
          <p:nvPr/>
        </p:nvSpPr>
        <p:spPr>
          <a:xfrm>
            <a:off x="1707185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84"/>
          <p:cNvSpPr/>
          <p:nvPr/>
        </p:nvSpPr>
        <p:spPr>
          <a:xfrm>
            <a:off x="1707185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85"/>
          <p:cNvSpPr/>
          <p:nvPr/>
        </p:nvSpPr>
        <p:spPr>
          <a:xfrm>
            <a:off x="1707185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86"/>
          <p:cNvSpPr/>
          <p:nvPr/>
        </p:nvSpPr>
        <p:spPr>
          <a:xfrm>
            <a:off x="1707185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87"/>
          <p:cNvSpPr/>
          <p:nvPr/>
        </p:nvSpPr>
        <p:spPr>
          <a:xfrm>
            <a:off x="1707185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88"/>
          <p:cNvSpPr/>
          <p:nvPr/>
        </p:nvSpPr>
        <p:spPr>
          <a:xfrm>
            <a:off x="1707185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89"/>
          <p:cNvSpPr/>
          <p:nvPr/>
        </p:nvSpPr>
        <p:spPr>
          <a:xfrm>
            <a:off x="1707185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90"/>
          <p:cNvSpPr/>
          <p:nvPr/>
        </p:nvSpPr>
        <p:spPr>
          <a:xfrm>
            <a:off x="1707185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line91"/>
          <p:cNvSpPr/>
          <p:nvPr/>
        </p:nvSpPr>
        <p:spPr>
          <a:xfrm>
            <a:off x="1707185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rod92"/>
          <p:cNvSpPr/>
          <p:nvPr/>
        </p:nvSpPr>
        <p:spPr>
          <a:xfrm>
            <a:off x="2029054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line93"/>
          <p:cNvSpPr/>
          <p:nvPr/>
        </p:nvSpPr>
        <p:spPr>
          <a:xfrm>
            <a:off x="2029054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94"/>
          <p:cNvSpPr/>
          <p:nvPr/>
        </p:nvSpPr>
        <p:spPr>
          <a:xfrm>
            <a:off x="2029054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95"/>
          <p:cNvSpPr/>
          <p:nvPr/>
        </p:nvSpPr>
        <p:spPr>
          <a:xfrm>
            <a:off x="2029054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96"/>
          <p:cNvSpPr/>
          <p:nvPr/>
        </p:nvSpPr>
        <p:spPr>
          <a:xfrm>
            <a:off x="2029054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97"/>
          <p:cNvSpPr/>
          <p:nvPr/>
        </p:nvSpPr>
        <p:spPr>
          <a:xfrm>
            <a:off x="2029054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98"/>
          <p:cNvSpPr/>
          <p:nvPr/>
        </p:nvSpPr>
        <p:spPr>
          <a:xfrm>
            <a:off x="2029054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99"/>
          <p:cNvSpPr/>
          <p:nvPr/>
        </p:nvSpPr>
        <p:spPr>
          <a:xfrm>
            <a:off x="2029054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100"/>
          <p:cNvSpPr/>
          <p:nvPr/>
        </p:nvSpPr>
        <p:spPr>
          <a:xfrm>
            <a:off x="2029054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line101"/>
          <p:cNvSpPr/>
          <p:nvPr/>
        </p:nvSpPr>
        <p:spPr>
          <a:xfrm>
            <a:off x="2029054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unit102"/>
          <p:cNvSpPr/>
          <p:nvPr/>
        </p:nvSpPr>
        <p:spPr>
          <a:xfrm>
            <a:off x="2350922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unit103"/>
          <p:cNvSpPr/>
          <p:nvPr/>
        </p:nvSpPr>
        <p:spPr>
          <a:xfrm>
            <a:off x="2350922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4-unit104"/>
          <p:cNvSpPr/>
          <p:nvPr/>
        </p:nvSpPr>
        <p:spPr>
          <a:xfrm>
            <a:off x="2350922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unit105"/>
          <p:cNvSpPr/>
          <p:nvPr/>
        </p:nvSpPr>
        <p:spPr>
          <a:xfrm>
            <a:off x="2350922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4-unit106"/>
          <p:cNvSpPr/>
          <p:nvPr/>
        </p:nvSpPr>
        <p:spPr>
          <a:xfrm>
            <a:off x="2350922" y="288569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4-unit107"/>
          <p:cNvSpPr/>
          <p:nvPr/>
        </p:nvSpPr>
        <p:spPr>
          <a:xfrm>
            <a:off x="2612441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4-figure108" descr="십 모형 2개와 일 모형 6개"/>
          <p:cNvSpPr/>
          <p:nvPr/>
        </p:nvSpPr>
        <p:spPr>
          <a:xfrm>
            <a:off x="548640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4-label109"/>
          <p:cNvSpPr txBox="1"/>
          <p:nvPr/>
        </p:nvSpPr>
        <p:spPr>
          <a:xfrm>
            <a:off x="548640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2400" dirty="0"/>
          </a:p>
        </p:txBody>
      </p:sp>
      <p:sp>
        <p:nvSpPr>
          <p:cNvPr id="34" name="S04-rod110"/>
          <p:cNvSpPr/>
          <p:nvPr/>
        </p:nvSpPr>
        <p:spPr>
          <a:xfrm>
            <a:off x="5511089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4-line111"/>
          <p:cNvSpPr/>
          <p:nvPr/>
        </p:nvSpPr>
        <p:spPr>
          <a:xfrm>
            <a:off x="5511089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line112"/>
          <p:cNvSpPr/>
          <p:nvPr/>
        </p:nvSpPr>
        <p:spPr>
          <a:xfrm>
            <a:off x="5511089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line113"/>
          <p:cNvSpPr/>
          <p:nvPr/>
        </p:nvSpPr>
        <p:spPr>
          <a:xfrm>
            <a:off x="5511089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114"/>
          <p:cNvSpPr/>
          <p:nvPr/>
        </p:nvSpPr>
        <p:spPr>
          <a:xfrm>
            <a:off x="5511089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115"/>
          <p:cNvSpPr/>
          <p:nvPr/>
        </p:nvSpPr>
        <p:spPr>
          <a:xfrm>
            <a:off x="5511089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116"/>
          <p:cNvSpPr/>
          <p:nvPr/>
        </p:nvSpPr>
        <p:spPr>
          <a:xfrm>
            <a:off x="5511089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117"/>
          <p:cNvSpPr/>
          <p:nvPr/>
        </p:nvSpPr>
        <p:spPr>
          <a:xfrm>
            <a:off x="5511089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line118"/>
          <p:cNvSpPr/>
          <p:nvPr/>
        </p:nvSpPr>
        <p:spPr>
          <a:xfrm>
            <a:off x="5511089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119"/>
          <p:cNvSpPr/>
          <p:nvPr/>
        </p:nvSpPr>
        <p:spPr>
          <a:xfrm>
            <a:off x="5511089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rod120"/>
          <p:cNvSpPr/>
          <p:nvPr/>
        </p:nvSpPr>
        <p:spPr>
          <a:xfrm>
            <a:off x="5832958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4-line121"/>
          <p:cNvSpPr/>
          <p:nvPr/>
        </p:nvSpPr>
        <p:spPr>
          <a:xfrm>
            <a:off x="5832958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4-line122"/>
          <p:cNvSpPr/>
          <p:nvPr/>
        </p:nvSpPr>
        <p:spPr>
          <a:xfrm>
            <a:off x="5832958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4-line123"/>
          <p:cNvSpPr/>
          <p:nvPr/>
        </p:nvSpPr>
        <p:spPr>
          <a:xfrm>
            <a:off x="5832958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124"/>
          <p:cNvSpPr/>
          <p:nvPr/>
        </p:nvSpPr>
        <p:spPr>
          <a:xfrm>
            <a:off x="5832958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125"/>
          <p:cNvSpPr/>
          <p:nvPr/>
        </p:nvSpPr>
        <p:spPr>
          <a:xfrm>
            <a:off x="5832958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line126"/>
          <p:cNvSpPr/>
          <p:nvPr/>
        </p:nvSpPr>
        <p:spPr>
          <a:xfrm>
            <a:off x="5832958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line127"/>
          <p:cNvSpPr/>
          <p:nvPr/>
        </p:nvSpPr>
        <p:spPr>
          <a:xfrm>
            <a:off x="5832958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line128"/>
          <p:cNvSpPr/>
          <p:nvPr/>
        </p:nvSpPr>
        <p:spPr>
          <a:xfrm>
            <a:off x="5832958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129"/>
          <p:cNvSpPr/>
          <p:nvPr/>
        </p:nvSpPr>
        <p:spPr>
          <a:xfrm>
            <a:off x="5832958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unit130"/>
          <p:cNvSpPr/>
          <p:nvPr/>
        </p:nvSpPr>
        <p:spPr>
          <a:xfrm>
            <a:off x="6154826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4-unit131"/>
          <p:cNvSpPr/>
          <p:nvPr/>
        </p:nvSpPr>
        <p:spPr>
          <a:xfrm>
            <a:off x="6154826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4-unit132"/>
          <p:cNvSpPr/>
          <p:nvPr/>
        </p:nvSpPr>
        <p:spPr>
          <a:xfrm>
            <a:off x="6154826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4-unit133"/>
          <p:cNvSpPr/>
          <p:nvPr/>
        </p:nvSpPr>
        <p:spPr>
          <a:xfrm>
            <a:off x="6154826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4-unit134"/>
          <p:cNvSpPr/>
          <p:nvPr/>
        </p:nvSpPr>
        <p:spPr>
          <a:xfrm>
            <a:off x="6154826" y="288569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4-unit135"/>
          <p:cNvSpPr/>
          <p:nvPr/>
        </p:nvSpPr>
        <p:spPr>
          <a:xfrm>
            <a:off x="6416345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4-figure136" descr="십 모형 2개와 일 모형 6개"/>
          <p:cNvSpPr/>
          <p:nvPr/>
        </p:nvSpPr>
        <p:spPr>
          <a:xfrm>
            <a:off x="4352544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04-label137"/>
          <p:cNvSpPr txBox="1"/>
          <p:nvPr/>
        </p:nvSpPr>
        <p:spPr>
          <a:xfrm>
            <a:off x="4352544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2400" dirty="0"/>
          </a:p>
        </p:txBody>
      </p:sp>
      <p:sp>
        <p:nvSpPr>
          <p:cNvPr id="62" name="S04-rod138"/>
          <p:cNvSpPr/>
          <p:nvPr/>
        </p:nvSpPr>
        <p:spPr>
          <a:xfrm>
            <a:off x="9314993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4-line139"/>
          <p:cNvSpPr/>
          <p:nvPr/>
        </p:nvSpPr>
        <p:spPr>
          <a:xfrm>
            <a:off x="9314993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140"/>
          <p:cNvSpPr/>
          <p:nvPr/>
        </p:nvSpPr>
        <p:spPr>
          <a:xfrm>
            <a:off x="9314993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line141"/>
          <p:cNvSpPr/>
          <p:nvPr/>
        </p:nvSpPr>
        <p:spPr>
          <a:xfrm>
            <a:off x="9314993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line142"/>
          <p:cNvSpPr/>
          <p:nvPr/>
        </p:nvSpPr>
        <p:spPr>
          <a:xfrm>
            <a:off x="9314993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4-line143"/>
          <p:cNvSpPr/>
          <p:nvPr/>
        </p:nvSpPr>
        <p:spPr>
          <a:xfrm>
            <a:off x="9314993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4-line144"/>
          <p:cNvSpPr/>
          <p:nvPr/>
        </p:nvSpPr>
        <p:spPr>
          <a:xfrm>
            <a:off x="9314993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4-line145"/>
          <p:cNvSpPr/>
          <p:nvPr/>
        </p:nvSpPr>
        <p:spPr>
          <a:xfrm>
            <a:off x="9314993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line146"/>
          <p:cNvSpPr/>
          <p:nvPr/>
        </p:nvSpPr>
        <p:spPr>
          <a:xfrm>
            <a:off x="9314993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4-line147"/>
          <p:cNvSpPr/>
          <p:nvPr/>
        </p:nvSpPr>
        <p:spPr>
          <a:xfrm>
            <a:off x="9314993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4-rod148"/>
          <p:cNvSpPr/>
          <p:nvPr/>
        </p:nvSpPr>
        <p:spPr>
          <a:xfrm>
            <a:off x="9636862" y="213131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4-line149"/>
          <p:cNvSpPr/>
          <p:nvPr/>
        </p:nvSpPr>
        <p:spPr>
          <a:xfrm>
            <a:off x="9636862" y="233248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line150"/>
          <p:cNvSpPr/>
          <p:nvPr/>
        </p:nvSpPr>
        <p:spPr>
          <a:xfrm>
            <a:off x="9636862" y="253365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line151"/>
          <p:cNvSpPr/>
          <p:nvPr/>
        </p:nvSpPr>
        <p:spPr>
          <a:xfrm>
            <a:off x="9636862" y="273481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4-line152"/>
          <p:cNvSpPr/>
          <p:nvPr/>
        </p:nvSpPr>
        <p:spPr>
          <a:xfrm>
            <a:off x="9636862" y="293598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4-line153"/>
          <p:cNvSpPr/>
          <p:nvPr/>
        </p:nvSpPr>
        <p:spPr>
          <a:xfrm>
            <a:off x="9636862" y="313715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4-line154"/>
          <p:cNvSpPr/>
          <p:nvPr/>
        </p:nvSpPr>
        <p:spPr>
          <a:xfrm>
            <a:off x="9636862" y="333832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4-line155"/>
          <p:cNvSpPr/>
          <p:nvPr/>
        </p:nvSpPr>
        <p:spPr>
          <a:xfrm>
            <a:off x="9636862" y="353949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4-line156"/>
          <p:cNvSpPr/>
          <p:nvPr/>
        </p:nvSpPr>
        <p:spPr>
          <a:xfrm>
            <a:off x="9636862" y="374065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4-line157"/>
          <p:cNvSpPr/>
          <p:nvPr/>
        </p:nvSpPr>
        <p:spPr>
          <a:xfrm>
            <a:off x="9636862" y="394182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4-unit158"/>
          <p:cNvSpPr/>
          <p:nvPr/>
        </p:nvSpPr>
        <p:spPr>
          <a:xfrm>
            <a:off x="9958730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4-unit159"/>
          <p:cNvSpPr/>
          <p:nvPr/>
        </p:nvSpPr>
        <p:spPr>
          <a:xfrm>
            <a:off x="9958730" y="364007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4-unit160"/>
          <p:cNvSpPr/>
          <p:nvPr/>
        </p:nvSpPr>
        <p:spPr>
          <a:xfrm>
            <a:off x="9958730" y="338861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4-unit161"/>
          <p:cNvSpPr/>
          <p:nvPr/>
        </p:nvSpPr>
        <p:spPr>
          <a:xfrm>
            <a:off x="9958730" y="313715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4-unit162"/>
          <p:cNvSpPr/>
          <p:nvPr/>
        </p:nvSpPr>
        <p:spPr>
          <a:xfrm>
            <a:off x="9958730" y="288569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4-unit163"/>
          <p:cNvSpPr/>
          <p:nvPr/>
        </p:nvSpPr>
        <p:spPr>
          <a:xfrm>
            <a:off x="10220249" y="389153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4-figure164" descr="십 모형 2개와 일 모형 6개"/>
          <p:cNvSpPr/>
          <p:nvPr/>
        </p:nvSpPr>
        <p:spPr>
          <a:xfrm>
            <a:off x="8156448" y="213131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04-label165"/>
          <p:cNvSpPr txBox="1"/>
          <p:nvPr/>
        </p:nvSpPr>
        <p:spPr>
          <a:xfrm>
            <a:off x="8156448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자리별로 곱해요</a:t>
            </a:r>
            <a:endParaRPr lang="ko-KR" sz="4000" dirty="0"/>
          </a:p>
        </p:txBody>
      </p:sp>
      <p:sp>
        <p:nvSpPr>
          <p:cNvPr id="3" name="S05-text1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× 3을 자리별로 곱해요.</a:t>
            </a:r>
            <a:endParaRPr lang="ko-KR" sz="3000" dirty="0"/>
          </a:p>
        </p:txBody>
      </p:sp>
      <p:sp>
        <p:nvSpPr>
          <p:cNvPr id="4" name="S05-card1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2는 20을 나타내요.</a:t>
            </a:r>
            <a:endParaRPr lang="ko-KR" sz="3000" dirty="0"/>
          </a:p>
        </p:txBody>
      </p:sp>
      <p:graphicFrame>
        <p:nvGraphicFramePr>
          <p:cNvPr id="6" name="S05-table1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3629" y="2030730"/>
          <a:ext cx="3017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170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171"/>
          <p:cNvSpPr txBox="1"/>
          <p:nvPr/>
        </p:nvSpPr>
        <p:spPr>
          <a:xfrm>
            <a:off x="1325880" y="25786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6 × 3 = 18</a:t>
            </a:r>
            <a:endParaRPr lang="ko-KR" sz="3000" dirty="0"/>
          </a:p>
        </p:txBody>
      </p:sp>
      <p:sp>
        <p:nvSpPr>
          <p:cNvPr id="9" name="S05-stepno172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173"/>
          <p:cNvSpPr txBox="1"/>
          <p:nvPr/>
        </p:nvSpPr>
        <p:spPr>
          <a:xfrm>
            <a:off x="1325880" y="329184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20 × 3 = 60</a:t>
            </a:r>
            <a:endParaRPr lang="ko-KR" sz="3000" dirty="0"/>
          </a:p>
        </p:txBody>
      </p:sp>
      <p:sp>
        <p:nvSpPr>
          <p:cNvPr id="11" name="S05-stepno174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175"/>
          <p:cNvSpPr txBox="1"/>
          <p:nvPr/>
        </p:nvSpPr>
        <p:spPr>
          <a:xfrm>
            <a:off x="1325880" y="40050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더하기: 18 + 60 = 78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짧게 쓰는 세로셈</a:t>
            </a:r>
            <a:endParaRPr lang="ko-KR" sz="4000" dirty="0"/>
          </a:p>
        </p:txBody>
      </p:sp>
      <p:sp>
        <p:nvSpPr>
          <p:cNvPr id="3" name="S06-text1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× 3을 짧게 써요.</a:t>
            </a:r>
            <a:endParaRPr lang="ko-KR" sz="3000" dirty="0"/>
          </a:p>
        </p:txBody>
      </p:sp>
      <p:sp>
        <p:nvSpPr>
          <p:cNvPr id="4" name="S06-card1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1은 십 모형 1개예요.</a:t>
            </a:r>
            <a:endParaRPr lang="ko-KR" sz="3000" dirty="0"/>
          </a:p>
        </p:txBody>
      </p:sp>
      <p:graphicFrame>
        <p:nvGraphicFramePr>
          <p:cNvPr id="7" name="S06-table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3728" y="2089785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stepno180"/>
          <p:cNvSpPr txBox="1"/>
          <p:nvPr/>
        </p:nvSpPr>
        <p:spPr>
          <a:xfrm>
            <a:off x="548640" y="24338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181"/>
          <p:cNvSpPr txBox="1"/>
          <p:nvPr/>
        </p:nvSpPr>
        <p:spPr>
          <a:xfrm>
            <a:off x="1325880" y="2388108"/>
            <a:ext cx="6087344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6 × 3 = 18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8을 쓰고 1을 올려요.</a:t>
            </a:r>
            <a:endParaRPr lang="ko-KR" sz="3000" dirty="0"/>
          </a:p>
        </p:txBody>
      </p:sp>
      <p:sp>
        <p:nvSpPr>
          <p:cNvPr id="9" name="S06-stepno182"/>
          <p:cNvSpPr txBox="1"/>
          <p:nvPr/>
        </p:nvSpPr>
        <p:spPr>
          <a:xfrm>
            <a:off x="548640" y="3482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183"/>
          <p:cNvSpPr txBox="1"/>
          <p:nvPr/>
        </p:nvSpPr>
        <p:spPr>
          <a:xfrm>
            <a:off x="1325880" y="348234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 × 3 = 6</a:t>
            </a:r>
            <a:endParaRPr lang="ko-KR" sz="3000" dirty="0"/>
          </a:p>
        </p:txBody>
      </p:sp>
      <p:sp>
        <p:nvSpPr>
          <p:cNvPr id="11" name="S06-stepno184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185"/>
          <p:cNvSpPr txBox="1"/>
          <p:nvPr/>
        </p:nvSpPr>
        <p:spPr>
          <a:xfrm>
            <a:off x="1325880" y="419557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+ 1 = 7, 곱은 78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7-card1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곱의 십을 십의 자리 위에 올려요.</a:t>
            </a:r>
            <a:endParaRPr lang="ko-KR" sz="3000" dirty="0"/>
          </a:p>
        </p:txBody>
      </p:sp>
      <p:sp>
        <p:nvSpPr>
          <p:cNvPr id="5" name="S07-card188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189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세로셈으로 해요</a:t>
            </a:r>
            <a:endParaRPr lang="ko-KR" sz="3000" dirty="0"/>
          </a:p>
        </p:txBody>
      </p:sp>
      <p:graphicFrame>
        <p:nvGraphicFramePr>
          <p:cNvPr id="8" name="S07-table1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2914" y="209677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7-chip191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7-eqtext192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× 4 = □</a:t>
            </a:r>
            <a:endParaRPr lang="ko-KR" sz="3400" dirty="0"/>
          </a:p>
        </p:txBody>
      </p:sp>
      <p:sp>
        <p:nvSpPr>
          <p:cNvPr id="10" name="S07-chip193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7-eqtext194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× 2 = □</a:t>
            </a:r>
            <a:endParaRPr lang="ko-KR" sz="3400" dirty="0"/>
          </a:p>
        </p:txBody>
      </p:sp>
      <p:sp>
        <p:nvSpPr>
          <p:cNvPr id="12" name="S07-chip195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7-eqtext196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× 3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곱이 세 자리 수</a:t>
            </a:r>
            <a:endParaRPr lang="ko-KR" sz="4000" dirty="0"/>
          </a:p>
        </p:txBody>
      </p:sp>
      <p:sp>
        <p:nvSpPr>
          <p:cNvPr id="3" name="S08-text1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× 4를 세로셈으로 해요.</a:t>
            </a:r>
            <a:endParaRPr lang="ko-KR" sz="3000" dirty="0"/>
          </a:p>
        </p:txBody>
      </p:sp>
      <p:sp>
        <p:nvSpPr>
          <p:cNvPr id="4" name="S08-card1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곱이 10을 넘으면 백의 자리에 써요.</a:t>
            </a:r>
            <a:endParaRPr lang="ko-KR" sz="3000" dirty="0"/>
          </a:p>
        </p:txBody>
      </p:sp>
      <p:graphicFrame>
        <p:nvGraphicFramePr>
          <p:cNvPr id="9" name="S08-table2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38506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201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202"/>
          <p:cNvSpPr txBox="1"/>
          <p:nvPr/>
        </p:nvSpPr>
        <p:spPr>
          <a:xfrm>
            <a:off x="1325880" y="25786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2 × 4 = 8</a:t>
            </a:r>
            <a:endParaRPr lang="ko-KR" sz="3000" dirty="0"/>
          </a:p>
        </p:txBody>
      </p:sp>
      <p:sp>
        <p:nvSpPr>
          <p:cNvPr id="9" name="S08-stepno203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204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5 × 4 = 20</a:t>
            </a:r>
            <a:endParaRPr lang="ko-KR" sz="3000" dirty="0"/>
          </a:p>
        </p:txBody>
      </p:sp>
      <p:sp>
        <p:nvSpPr>
          <p:cNvPr id="11" name="S08-stepno205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206"/>
          <p:cNvSpPr txBox="1"/>
          <p:nvPr/>
        </p:nvSpPr>
        <p:spPr>
          <a:xfrm>
            <a:off x="1325880" y="40050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20개는 백 2개: 208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올림이 있고 곱이 커요</a:t>
            </a:r>
            <a:endParaRPr lang="ko-KR" sz="4000" dirty="0"/>
          </a:p>
        </p:txBody>
      </p:sp>
      <p:sp>
        <p:nvSpPr>
          <p:cNvPr id="3" name="S09-text2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× 6을 세로셈으로 해요.</a:t>
            </a:r>
            <a:endParaRPr lang="ko-KR" sz="3000" dirty="0"/>
          </a:p>
        </p:txBody>
      </p:sp>
      <p:sp>
        <p:nvSpPr>
          <p:cNvPr id="4" name="S09-card2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2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수는 곱한 다음에 더해요.</a:t>
            </a:r>
            <a:endParaRPr lang="ko-KR" sz="3000" dirty="0"/>
          </a:p>
        </p:txBody>
      </p:sp>
      <p:graphicFrame>
        <p:nvGraphicFramePr>
          <p:cNvPr id="10" name="S09-table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stepno211"/>
          <p:cNvSpPr txBox="1"/>
          <p:nvPr/>
        </p:nvSpPr>
        <p:spPr>
          <a:xfrm>
            <a:off x="548640" y="24338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212"/>
          <p:cNvSpPr txBox="1"/>
          <p:nvPr/>
        </p:nvSpPr>
        <p:spPr>
          <a:xfrm>
            <a:off x="1325880" y="23881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7 × 6 = 42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2를 쓰고 4를 올려요.</a:t>
            </a:r>
            <a:endParaRPr lang="ko-KR" sz="3000" dirty="0"/>
          </a:p>
        </p:txBody>
      </p:sp>
      <p:sp>
        <p:nvSpPr>
          <p:cNvPr id="9" name="S09-stepno213"/>
          <p:cNvSpPr txBox="1"/>
          <p:nvPr/>
        </p:nvSpPr>
        <p:spPr>
          <a:xfrm>
            <a:off x="548640" y="3482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214"/>
          <p:cNvSpPr txBox="1"/>
          <p:nvPr/>
        </p:nvSpPr>
        <p:spPr>
          <a:xfrm>
            <a:off x="1325880" y="34823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4 × 6 = 24</a:t>
            </a:r>
            <a:endParaRPr lang="ko-KR" sz="3000" dirty="0"/>
          </a:p>
        </p:txBody>
      </p:sp>
      <p:sp>
        <p:nvSpPr>
          <p:cNvPr id="11" name="S09-stepno215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216"/>
          <p:cNvSpPr txBox="1"/>
          <p:nvPr/>
        </p:nvSpPr>
        <p:spPr>
          <a:xfrm>
            <a:off x="1325880" y="41955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+ 4 = 28, 곱은 282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10-card21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1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× 4를 세로셈으로 했어요.</a:t>
            </a:r>
            <a:endParaRPr lang="ko-KR" sz="3000" dirty="0"/>
          </a:p>
        </p:txBody>
      </p:sp>
      <p:sp>
        <p:nvSpPr>
          <p:cNvPr id="5" name="S10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자리별로 곱해 확인하고, 누가 맞았는지 말해요.</a:t>
            </a:r>
            <a:endParaRPr lang="ko-KR" sz="3000" dirty="0"/>
          </a:p>
        </p:txBody>
      </p:sp>
      <p:sp>
        <p:nvSpPr>
          <p:cNvPr id="7" name="S10-chip22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242</a:t>
            </a:r>
            <a:endParaRPr lang="ko-KR" sz="2400" dirty="0"/>
          </a:p>
        </p:txBody>
      </p:sp>
      <p:sp>
        <p:nvSpPr>
          <p:cNvPr id="8" name="S10-text22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3을 먼저 더해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 + 3) × 4 = 24를 썼어요.</a:t>
            </a:r>
            <a:endParaRPr lang="ko-KR" sz="3000" dirty="0"/>
          </a:p>
        </p:txBody>
      </p:sp>
      <p:sp>
        <p:nvSpPr>
          <p:cNvPr id="9" name="S10-chip22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152</a:t>
            </a:r>
            <a:endParaRPr lang="ko-KR" sz="2400" dirty="0"/>
          </a:p>
        </p:txBody>
      </p:sp>
      <p:sp>
        <p:nvSpPr>
          <p:cNvPr id="10" name="S10-text22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12에 올린 3을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 15를 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올림을 말해요.</a:t>
            </a:r>
            <a:endParaRPr lang="ko-KR" sz="3000" dirty="0"/>
          </a:p>
        </p:txBody>
      </p:sp>
      <p:sp>
        <p:nvSpPr>
          <p:cNvPr id="4" name="S11-chip22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eqtext22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4 = □</a:t>
            </a:r>
            <a:endParaRPr lang="ko-KR" sz="3400" dirty="0"/>
          </a:p>
        </p:txBody>
      </p:sp>
      <p:sp>
        <p:nvSpPr>
          <p:cNvPr id="6" name="S11-chip22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eqtext22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× 2 = □</a:t>
            </a:r>
            <a:endParaRPr lang="ko-KR" sz="3400" dirty="0"/>
          </a:p>
        </p:txBody>
      </p:sp>
      <p:sp>
        <p:nvSpPr>
          <p:cNvPr id="8" name="S11-chip23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eqtext23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 × 5 = □</a:t>
            </a:r>
            <a:endParaRPr lang="ko-KR" sz="3400" dirty="0"/>
          </a:p>
        </p:txBody>
      </p:sp>
      <p:sp>
        <p:nvSpPr>
          <p:cNvPr id="10" name="S11-chip23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eqtext23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× 7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2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자리별로 나누어 곱해 확인하게 하세요.</a:t>
            </a:r>
            <a:endParaRPr lang="ko-KR" sz="3000" dirty="0"/>
          </a:p>
        </p:txBody>
      </p:sp>
      <p:sp>
        <p:nvSpPr>
          <p:cNvPr id="5" name="S12-chip23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237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96</a:t>
            </a:r>
            <a:endParaRPr lang="ko-KR" sz="3000" dirty="0"/>
          </a:p>
        </p:txBody>
      </p:sp>
      <p:sp>
        <p:nvSpPr>
          <p:cNvPr id="7" name="S12-text238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4 = 16</a:t>
            </a:r>
            <a:endParaRPr lang="ko-KR" sz="2400" dirty="0"/>
          </a:p>
        </p:txBody>
      </p:sp>
      <p:sp>
        <p:nvSpPr>
          <p:cNvPr id="8" name="S12-text239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76</a:t>
            </a:r>
            <a:endParaRPr lang="ko-KR" sz="3000" dirty="0"/>
          </a:p>
        </p:txBody>
      </p:sp>
      <p:sp>
        <p:nvSpPr>
          <p:cNvPr id="9" name="S12-text240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2 = 16</a:t>
            </a:r>
            <a:endParaRPr lang="ko-KR" sz="2400" dirty="0"/>
          </a:p>
        </p:txBody>
      </p:sp>
      <p:sp>
        <p:nvSpPr>
          <p:cNvPr id="10" name="S12-text241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315</a:t>
            </a:r>
            <a:endParaRPr lang="ko-KR" sz="3000" dirty="0"/>
          </a:p>
        </p:txBody>
      </p:sp>
      <p:sp>
        <p:nvSpPr>
          <p:cNvPr id="11" name="S12-text242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5 = 30</a:t>
            </a:r>
            <a:endParaRPr lang="ko-KR" sz="2400" dirty="0"/>
          </a:p>
        </p:txBody>
      </p:sp>
      <p:sp>
        <p:nvSpPr>
          <p:cNvPr id="12" name="S12-text243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392</a:t>
            </a:r>
            <a:endParaRPr lang="ko-KR" sz="3000" dirty="0"/>
          </a:p>
        </p:txBody>
      </p:sp>
      <p:sp>
        <p:nvSpPr>
          <p:cNvPr id="13" name="S12-text244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+ 4 = 39</a:t>
            </a:r>
            <a:endParaRPr lang="ko-KR" sz="2400" dirty="0"/>
          </a:p>
        </p:txBody>
      </p:sp>
      <p:sp>
        <p:nvSpPr>
          <p:cNvPr id="14" name="S12-chip24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2-text24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352</a:t>
            </a:r>
            <a:endParaRPr lang="ko-KR" sz="3000" dirty="0"/>
          </a:p>
        </p:txBody>
      </p:sp>
      <p:sp>
        <p:nvSpPr>
          <p:cNvPr id="16" name="S12-text24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4를 빠뜨림</a:t>
            </a:r>
            <a:endParaRPr lang="ko-KR" sz="2400" dirty="0"/>
          </a:p>
        </p:txBody>
      </p:sp>
      <p:sp>
        <p:nvSpPr>
          <p:cNvPr id="17" name="S12-text24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3015</a:t>
            </a:r>
            <a:endParaRPr lang="ko-KR" sz="3000" dirty="0"/>
          </a:p>
        </p:txBody>
      </p:sp>
      <p:sp>
        <p:nvSpPr>
          <p:cNvPr id="18" name="S12-text24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15를 그대로 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나눈 것은?</a:t>
            </a:r>
            <a:endParaRPr lang="ko-KR" sz="4000" dirty="0"/>
          </a:p>
        </p:txBody>
      </p:sp>
      <p:sp>
        <p:nvSpPr>
          <p:cNvPr id="3" name="S13-text2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× 5를 자리별로 나누어 계산하려고 해요.</a:t>
            </a:r>
            <a:endParaRPr lang="ko-KR" sz="3000" dirty="0"/>
          </a:p>
        </p:txBody>
      </p:sp>
      <p:sp>
        <p:nvSpPr>
          <p:cNvPr id="4" name="S13-card2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방법을 고르고, 34 × 5를 구해요.</a:t>
            </a:r>
            <a:endParaRPr lang="ko-KR" sz="3000" dirty="0"/>
          </a:p>
        </p:txBody>
      </p:sp>
      <p:sp>
        <p:nvSpPr>
          <p:cNvPr id="6" name="S13-chip25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bigtext254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5 + 4 × 5</a:t>
            </a:r>
            <a:endParaRPr lang="ko-KR" sz="3000" dirty="0"/>
          </a:p>
        </p:txBody>
      </p:sp>
      <p:sp>
        <p:nvSpPr>
          <p:cNvPr id="8" name="S13-chip25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bigtext256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5 + 4</a:t>
            </a:r>
            <a:endParaRPr lang="ko-KR" sz="3000" dirty="0"/>
          </a:p>
        </p:txBody>
      </p:sp>
      <p:sp>
        <p:nvSpPr>
          <p:cNvPr id="10" name="S13-chip25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3-bigtext258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5 + 4 × 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자리부터 곱하고, 올린 수는 곱한 다음 더해요.</a:t>
            </a:r>
            <a:endParaRPr lang="ko-KR" sz="3000" dirty="0"/>
          </a:p>
        </p:txBody>
      </p:sp>
      <p:sp>
        <p:nvSpPr>
          <p:cNvPr id="5" name="S14-chip26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자리별로 나누어 곱하기</a:t>
            </a:r>
            <a:endParaRPr lang="ko-KR" sz="2400" dirty="0"/>
          </a:p>
        </p:txBody>
      </p:sp>
      <p:sp>
        <p:nvSpPr>
          <p:cNvPr id="6" name="S14-chip26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올린 수에도 곱하기</a:t>
            </a:r>
            <a:endParaRPr lang="ko-KR" sz="2400" dirty="0"/>
          </a:p>
        </p:txBody>
      </p:sp>
      <p:sp>
        <p:nvSpPr>
          <p:cNvPr id="7" name="S14-text26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eqtext26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45 × 2 = □</a:t>
            </a:r>
            <a:endParaRPr lang="ko-KR" sz="2800" dirty="0"/>
          </a:p>
        </p:txBody>
      </p:sp>
      <p:sp>
        <p:nvSpPr>
          <p:cNvPr id="9" name="S14-eqtext26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36 × 4 = □</a:t>
            </a:r>
            <a:endParaRPr lang="ko-KR" sz="2800" dirty="0"/>
          </a:p>
        </p:txBody>
      </p:sp>
      <p:sp>
        <p:nvSpPr>
          <p:cNvPr id="10" name="S14-eqtext26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73 × 6 = □</a:t>
            </a:r>
            <a:endParaRPr lang="ko-KR" sz="2800" dirty="0"/>
          </a:p>
        </p:txBody>
      </p:sp>
      <p:sp>
        <p:nvSpPr>
          <p:cNvPr id="11" name="S14-text26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(세 자리 수)×(한 자리 수)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아는 곱에서</a:t>
            </a:r>
            <a:endParaRPr lang="ko-KR" sz="4000" dirty="0"/>
          </a:p>
        </p:txBody>
      </p:sp>
      <p:sp>
        <p:nvSpPr>
          <p:cNvPr id="3" name="S15-text2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5를 알면 6 × 7도 구해요.</a:t>
            </a:r>
            <a:endParaRPr lang="ko-KR" sz="3000" dirty="0"/>
          </a:p>
        </p:txBody>
      </p:sp>
      <p:sp>
        <p:nvSpPr>
          <p:cNvPr id="4" name="S15-card269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270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5 = 30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곱에서 출발해요.</a:t>
            </a:r>
            <a:endParaRPr lang="ko-KR" sz="3000" dirty="0"/>
          </a:p>
        </p:txBody>
      </p:sp>
      <p:sp>
        <p:nvSpPr>
          <p:cNvPr id="6" name="S15-card271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272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+ 6 + 6 = 42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더 뛰면 6 × 7</a:t>
            </a:r>
            <a:endParaRPr lang="ko-KR" sz="3000" dirty="0"/>
          </a:p>
        </p:txBody>
      </p:sp>
      <p:sp>
        <p:nvSpPr>
          <p:cNvPr id="8" name="S15-line273"/>
          <p:cNvSpPr/>
          <p:nvPr/>
        </p:nvSpPr>
        <p:spPr>
          <a:xfrm>
            <a:off x="685800" y="370774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15-line274"/>
          <p:cNvSpPr/>
          <p:nvPr/>
        </p:nvSpPr>
        <p:spPr>
          <a:xfrm>
            <a:off x="960120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label275"/>
          <p:cNvSpPr txBox="1"/>
          <p:nvPr/>
        </p:nvSpPr>
        <p:spPr>
          <a:xfrm>
            <a:off x="502920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15-line276"/>
          <p:cNvSpPr/>
          <p:nvPr/>
        </p:nvSpPr>
        <p:spPr>
          <a:xfrm>
            <a:off x="2101088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label277"/>
          <p:cNvSpPr txBox="1"/>
          <p:nvPr/>
        </p:nvSpPr>
        <p:spPr>
          <a:xfrm>
            <a:off x="1643888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3" name="S15-line278"/>
          <p:cNvSpPr/>
          <p:nvPr/>
        </p:nvSpPr>
        <p:spPr>
          <a:xfrm>
            <a:off x="3242056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label279"/>
          <p:cNvSpPr txBox="1"/>
          <p:nvPr/>
        </p:nvSpPr>
        <p:spPr>
          <a:xfrm>
            <a:off x="2784856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15" name="S15-line280"/>
          <p:cNvSpPr/>
          <p:nvPr/>
        </p:nvSpPr>
        <p:spPr>
          <a:xfrm>
            <a:off x="4383024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label281"/>
          <p:cNvSpPr txBox="1"/>
          <p:nvPr/>
        </p:nvSpPr>
        <p:spPr>
          <a:xfrm>
            <a:off x="3925824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400" dirty="0"/>
          </a:p>
        </p:txBody>
      </p:sp>
      <p:sp>
        <p:nvSpPr>
          <p:cNvPr id="17" name="S15-line282"/>
          <p:cNvSpPr/>
          <p:nvPr/>
        </p:nvSpPr>
        <p:spPr>
          <a:xfrm>
            <a:off x="5523992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label283"/>
          <p:cNvSpPr txBox="1"/>
          <p:nvPr/>
        </p:nvSpPr>
        <p:spPr>
          <a:xfrm>
            <a:off x="5066792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400" dirty="0"/>
          </a:p>
        </p:txBody>
      </p:sp>
      <p:sp>
        <p:nvSpPr>
          <p:cNvPr id="19" name="S15-line284"/>
          <p:cNvSpPr/>
          <p:nvPr/>
        </p:nvSpPr>
        <p:spPr>
          <a:xfrm>
            <a:off x="6664960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285"/>
          <p:cNvSpPr txBox="1"/>
          <p:nvPr/>
        </p:nvSpPr>
        <p:spPr>
          <a:xfrm>
            <a:off x="6207760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400" dirty="0"/>
          </a:p>
        </p:txBody>
      </p:sp>
      <p:sp>
        <p:nvSpPr>
          <p:cNvPr id="21" name="S15-line286"/>
          <p:cNvSpPr/>
          <p:nvPr/>
        </p:nvSpPr>
        <p:spPr>
          <a:xfrm>
            <a:off x="7805928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label287"/>
          <p:cNvSpPr txBox="1"/>
          <p:nvPr/>
        </p:nvSpPr>
        <p:spPr>
          <a:xfrm>
            <a:off x="7348728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2400" dirty="0"/>
          </a:p>
        </p:txBody>
      </p:sp>
      <p:sp>
        <p:nvSpPr>
          <p:cNvPr id="23" name="S15-line288"/>
          <p:cNvSpPr/>
          <p:nvPr/>
        </p:nvSpPr>
        <p:spPr>
          <a:xfrm>
            <a:off x="8946896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5-label289"/>
          <p:cNvSpPr txBox="1"/>
          <p:nvPr/>
        </p:nvSpPr>
        <p:spPr>
          <a:xfrm>
            <a:off x="8489696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2400" dirty="0"/>
          </a:p>
        </p:txBody>
      </p:sp>
      <p:sp>
        <p:nvSpPr>
          <p:cNvPr id="25" name="S15-line290"/>
          <p:cNvSpPr/>
          <p:nvPr/>
        </p:nvSpPr>
        <p:spPr>
          <a:xfrm>
            <a:off x="10087864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label291"/>
          <p:cNvSpPr txBox="1"/>
          <p:nvPr/>
        </p:nvSpPr>
        <p:spPr>
          <a:xfrm>
            <a:off x="9630664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2400" dirty="0"/>
          </a:p>
        </p:txBody>
      </p:sp>
      <p:sp>
        <p:nvSpPr>
          <p:cNvPr id="27" name="S15-line292"/>
          <p:cNvSpPr/>
          <p:nvPr/>
        </p:nvSpPr>
        <p:spPr>
          <a:xfrm>
            <a:off x="11228832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5-label293"/>
          <p:cNvSpPr txBox="1"/>
          <p:nvPr/>
        </p:nvSpPr>
        <p:spPr>
          <a:xfrm>
            <a:off x="10771632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ko-KR" sz="2400" dirty="0"/>
          </a:p>
        </p:txBody>
      </p:sp>
      <p:sp>
        <p:nvSpPr>
          <p:cNvPr id="29" name="S15-mark294"/>
          <p:cNvSpPr/>
          <p:nvPr/>
        </p:nvSpPr>
        <p:spPr>
          <a:xfrm>
            <a:off x="6573520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15-mark295"/>
          <p:cNvSpPr/>
          <p:nvPr/>
        </p:nvSpPr>
        <p:spPr>
          <a:xfrm>
            <a:off x="8855456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1" name="S15-line296"/>
          <p:cNvSpPr/>
          <p:nvPr/>
        </p:nvSpPr>
        <p:spPr>
          <a:xfrm flipV="1">
            <a:off x="6664960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15-line297"/>
          <p:cNvSpPr/>
          <p:nvPr/>
        </p:nvSpPr>
        <p:spPr>
          <a:xfrm>
            <a:off x="6664960" y="3323692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15-label298"/>
          <p:cNvSpPr txBox="1"/>
          <p:nvPr/>
        </p:nvSpPr>
        <p:spPr>
          <a:xfrm>
            <a:off x="6664960" y="2909164"/>
            <a:ext cx="114096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+6</a:t>
            </a:r>
            <a:endParaRPr lang="ko-KR" sz="2400" dirty="0"/>
          </a:p>
        </p:txBody>
      </p:sp>
      <p:sp>
        <p:nvSpPr>
          <p:cNvPr id="34" name="S15-line299"/>
          <p:cNvSpPr/>
          <p:nvPr/>
        </p:nvSpPr>
        <p:spPr>
          <a:xfrm flipV="1">
            <a:off x="7805928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15-line300"/>
          <p:cNvSpPr/>
          <p:nvPr/>
        </p:nvSpPr>
        <p:spPr>
          <a:xfrm>
            <a:off x="7805928" y="3323692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15-label301"/>
          <p:cNvSpPr txBox="1"/>
          <p:nvPr/>
        </p:nvSpPr>
        <p:spPr>
          <a:xfrm>
            <a:off x="7805928" y="2909164"/>
            <a:ext cx="114096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+6</a:t>
            </a:r>
            <a:endParaRPr lang="ko-KR" sz="2400" dirty="0"/>
          </a:p>
        </p:txBody>
      </p:sp>
      <p:sp>
        <p:nvSpPr>
          <p:cNvPr id="37" name="S15-figure302" descr="0부터 54까지 6씩 눈금 수직선에서 30에서 6씩 두 번 뛰어 42에 닿는 화살표"/>
          <p:cNvSpPr/>
          <p:nvPr/>
        </p:nvSpPr>
        <p:spPr>
          <a:xfrm>
            <a:off x="685800" y="352486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(두 자리 수)×(한 자리 수)</dc:title>
  <dc:subject>KR22-G03-MAT-MUL2X1-L01</dc:subject>
  <dc:creator>education-ppt</dc:creator>
  <cp:lastModifiedBy>education-ppt</cp:lastModifiedBy>
  <cp:revision>1</cp:revision>
  <dcterms:created xsi:type="dcterms:W3CDTF">2026-10-26T07:47:50Z</dcterms:created>
  <dcterms:modified xsi:type="dcterms:W3CDTF">2026-10-26T07:47:50Z</dcterms:modified>
</cp:coreProperties>
</file>