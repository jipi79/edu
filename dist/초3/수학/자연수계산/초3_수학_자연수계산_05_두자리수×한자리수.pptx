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29f4d1de-4452-e5d2-d0f0-fb44117188ca}">
          <p14:sldIdLst>
            <p14:sldId id="256"/>
            <p14:sldId id="257"/>
          </p14:sldIdLst>
        </p14:section>
        <p14:section name="개념" id="{3935704b-cdca-f28f-9295-a1cb7e104641}">
          <p14:sldIdLst>
            <p14:sldId id="258"/>
            <p14:sldId id="259"/>
            <p14:sldId id="260"/>
            <p14:sldId id="261"/>
            <p14:sldId id="263"/>
            <p14:sldId id="264"/>
          </p14:sldIdLst>
        </p14:section>
        <p14:section name="연습" id="{3c580f7e-9311-da2e-cedd-ad4151f0629a}">
          <p14:sldIdLst>
            <p14:sldId id="262"/>
            <p14:sldId id="265"/>
          </p14:sldIdLst>
        </p14:section>
        <p14:section name="개념" id="{e9b2f79d-8d1d-c49c-07c4-aa7a2f2c6f8e}">
          <p14:sldIdLst/>
        </p14:section>
        <p14:section name="연습" id="{9871223f-eb90-799c-c4a3-0a9927467ddd}">
          <p14:sldIdLst/>
        </p14:section>
        <p14:section name="확인" id="{dd73a003-ec78-bbff-5f24-9f0e48277976}">
          <p14:sldIdLst>
            <p14:sldId id="266"/>
            <p14:sldId id="267"/>
            <p14:sldId id="268"/>
          </p14:sldIdLst>
        </p14:section>
        <p14:section name="정리" id="{76420891-1f7b-92e9-f511-e60d412e90de}">
          <p14:sldIdLst>
            <p14:sldId id="269"/>
          </p14:sldIdLst>
        </p14:section>
        <p14:section name="보충" id="{073506a7-a000-3ae5-ea19-1c47008c2ac4}">
          <p14:sldIdLst>
            <p14:sldId id="27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[S01 · 오늘의 질문과 목표]
목적: 오늘 할 일을 알려 주고, 곱셈구구보다 큰 곱셈을 어떻게 할지 궁금하게 합니다.
시간: 약 2분
이렇게 말해 보세요
- “곱셈구구는 9 × 9까지였지? 오늘은 26 × 3처럼 두 자리 수에 한 자리 수를 곱해 볼 거야.”
- “26을 세 번 더하지 않고 구하는 방법이 있을까?”
예상 답
- “26 + 26 + 26이요.” “20과 6으로 나누어요.” 또는 “잘 모르겠어요.”
막히면
- 답을 확인하지 않고 넘어갑니다. S04~S06에서 같은 문제를 함께 풉니다.
주의
- 26 + 26 + 26으로 구해도 맞습니다. 오늘은 더 짧게 계산하는 방법을 배운다고 말해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[S02 · 선수 학습 확인(곱셈구구, 몇십 더하기 몇십몇)]
목적: 오늘 계산의 바탕이 되는 곱셈구구와 (몇십)+(몇십몇)이 되는지 확인합니다.
시간: 약 3분
이렇게 말해 보세요
- “①, ②는 곱셈구구야. ③은 60 + 18이야. 어떻게 더했는지 말해 줘.”
정답
- ① 18
- ② 28
- ③ 78
막히면
- 곱셈구구가 바로 떠오르지 않으면 아는 곱에서 이어 가게 합니다(7 × 3 = 21에 7을 더해 28).
- 두 문제 이상 틀리면 S15(보충)를 먼저 합니다. 보충으로도 어려우면 초3 4차시 ‘곱셈구구로 몫 구하기’(KR22-G03-MAT-DIVFACT-L01)와 초2 11차시 ‘1과 0의 곱, 곱셈표’(KR22-G02-MAT-TIMES10-L01)에서 곱셈구구를 다시 익힙니다.
주의
- ③의 답 78은 오늘 S05에서 다시 나옵니다.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[S03 · (몇십)×(몇)을 수 모형으로]
목적: (몇십)×(몇)은 곱셈구구의 곱에 0을 하나 붙인 것과 같다는 것을 십 모형으로 압니다.
시간: 약 2분
이렇게 말해 보세요
- “20은 십 모형 2개야. 20 × 3은 십 모형 2개씩 3묶음이지? 십 모형은 모두 몇 개야?”
- “십 모형 6개는 60이야. 2 × 3 = 6이니까 20 × 3 = 60.”
예상 답
- “십 모형 6개요. 60이에요.”
막히면
- 종이 십 막대를 2개씩 3묶음 놓고 “10, 20, 30, 40, 50, 60”으로 셉니다.
주의
- ‘0을 붙인다’는 규칙만 외우지 않게, 십 모형이 몇 개인지 먼저 말하게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[S04 · (두 자리 수)×(한 자리 수)를 수 모형으로]
목적: 26 × 3을 수 모형으로 놓아 십 모형과 일 모형을 따로 세고, 일 모형 10개를 십 모형 1개로 바꾸어 곱을 구합니다.
시간: 약 3분
이렇게 말해 보세요
- “26을 세 묶음 놓았어. 십 모형은 모두 몇 개야? 일 모형은 몇 개야?”
- “일 모형 18개 중 10개를 십 모형 1개로 바꾸면 십 모형 7개, 일 모형 8개. 78이야.”
예상 답
- “십 6개, 일 18개요.” “78이에요.”
막히면
- 종이 수 모형으로 26을 세 번 놓고, 십 모형끼리, 일 모형끼리 모아 셉니다.
주의
- 십 모형 6개는 20 × 3 = 60, 일 모형 18개는 6 × 3 = 18입니다. 다음 장에서 이것을 식으로 씁니다.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[S05 · 자리별로 나누어 곱하고 더하기(자릿값)]
목적: 26 × 3을 일의 자리 곱(6 × 3)과 십의 자리 곱(20 × 3)으로 나누어 계산하고 더합니다.
시간: 약 3분
이렇게 말해 보세요
- “먼저 일의 자리 6에 3을 곱해. 6 × 3 = 18. 그다음 십의 자리 2는 20이니까 20 × 3 = 60.”
- “둘을 더하면 18 + 60 = 78. S04의 수 모형과 같지?”
예상 답
- “78이에요.”
막히면
- S04의 수 모형에서 일 모형 18개와 십 모형 6개(60)를 손으로 짚으며 표의 18, 60과 연결합니다.
주의
- 십의 자리 2를 2로 곱해 6을 쓰면 안 됩니다. 2는 20을 나타내므로 60을 씁니다(M4).
- 표에서 18과 60 아래 줄이 두 곱을 더한 78입니다.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[S06 · 세로셈 시범(일의 자리에서 올림)]
목적: 자리별 곱을 한 줄로 짧게 쓰는 세로셈을 시범으로 보여 주고, 올림을 압니다.
시간: 약 3분
이렇게 말해 보세요
- “일의 자리부터 곱해. 6 × 3 = 18이야. 일의 자리에 8을 쓰고, 1은 십의 자리 위에 작게 올려.”
- “십의 자리는 2 × 3 = 6, 올린 1을 더해 7. 그래서 78이야. S05와 같지?”
예상 답
- “78이에요.”
막히면
- S05의 표와 나란히 놓고 ‘18의 1 = 올린 1’이라고 짚어 줍니다. 올린 1은 십 모형 1개(10)입니다.
주의
- 18을 일의 자리에 그대로 써서 618이 되면 한 칸에 숫자 하나만 쓴다는 것을 다시 보여 줍니다(M3).
- 지치면 여기서 쉬고, 다음에 S07부터 이어도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[S07 · 안내받는 연습(일의 자리에서 올림)]
목적: 도움을 받으며 일의 자리에서 올림이 있는 곱셈을 세로셈으로 계산합니다.
시간: 약 4분
이렇게 말해 보세요
- “①은 7 × 4 = 28이야. 일의 자리에 무엇을 쓰고, 무엇을 올릴까?”
- “③은 오른쪽 세로셈 칸에 써 보자. 맨 위 □에는 무엇을 쓸까?”
정답
- ① 68(7 × 4 = 28, 1 × 4 + 2 = 6)
- ② 70(5 × 2 = 10, 3 × 2 + 1 = 7)
- ③ 84(8 × 3 = 24, 2 × 3 + 2 = 8, 맨 위 □는 2)
막히면
- S05처럼 자리별로 나누어 곱하고 더해 보게 합니다(① 28 + 40 = 68).
- 올리는 수가 1이 아니라 2일 수도 있다고 알려 줍니다.
주의
- ②는 일의 자리 곱이 10이라 일의 자리에 0을 씁니다. 답 70의 0을 빠뜨리지 않게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[S08 · 세로셈 시범(십의 자리 곱이 10 이상)]
목적: 십의 자리 곱이 10 이상이면 곱이 세 자리 수가 되고, 백의 자리에 숫자를 쓴다는 것을 압니다.
시간: 약 3분
이렇게 말해 보세요
- “52 × 4야. 일의 자리 2 × 4 = 8. 십의 자리 5 × 4 = 20이야.”
- “십 모형 20개는 백 모형 2개와 같아. 십의 자리에 0, 백의 자리에 2를 써. 208이야.”
예상 답
- “208이에요.”
막히면
- 자리별로 계산해 봅니다. 2 × 4 = 8, 50 × 4 = 200, 8 + 200 = 208.
주의
- 십의 자리의 0을 빠뜨려 28로 쓰지 않게 합니다. 50 × 4 = 200이라 곱은 200보다 큽니다.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[S09 · 세로셈 시범(일의 자리 올림과 곱이 세 자리 수)]
목적: 일의 자리에서 올림이 있고 십의 자리 곱도 10 이상인 곱셈을 세로셈으로 계산합니다.
시간: 약 3분
이렇게 말해 보세요
- “47 × 6이야. 일의 자리 7 × 6 = 42, 2를 쓰고 4를 올려.”
- “십의 자리 4 × 6 = 24, 올린 4를 더해 28. 8은 십의 자리, 2는 백의 자리에 써. 282야.”
예상 답
- “282예요.”
막히면
- 자리별로 계산해 확인합니다. 7 × 6 = 42, 40 × 6 = 240, 42 + 240 = 282.
주의
- 올린 수는 곱한 다음에 더합니다. (4 + 4) × 6처럼 먼저 더하면 틀립니다(M2, S10).
- 올린 4를 빠뜨리면 242가 됩니다(M1).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[S10 · 오개념 비교(올린 수를 먼저 더하고 곱하기), 자리별 곱으로 확인]
목적: 올린 수를 십의 자리 숫자에 먼저 더한 뒤 곱하는 실수를 찾고 까닭을 설명합니다(M2).
시간: 약 3분
이렇게 말해 보세요
- “토끼와 곰 모두 일의 자리 8 × 4 = 32에서 2를 쓰고 3을 올렸어. 그다음이 달라. 누가 맞았을까?”
- “자리별로 나누어 곱해 볼까? 8 × 4 = 32, 30 × 4 = 120, 32 + 120 = 152. 누구 답과 같아? 올린 3은 무엇이었지?”
예상 답
- “곰이요. 올린 수는 곱한 다음에 더해요.”
정답
- 곰이 맞습니다. 38 × 4 = 152입니다.
- 올린 3은 이미 8 × 4 = 32에서 나온 십 3개라서 한 번만 더합니다. 토끼는 올린 3에도 4를 곱해 십을 12개 더한 셈이라, 답이 90만큼 커졌습니다(242 − 152 = 90).
막히면
- 수 모형으로 38을 4묶음 놓고 일 모형 32개를 십 3개, 일 2개로 바꾸어 봅니다. 올린 3은 이 십 3개입니다.
주의
- 올린 수를 아예 더하지 않아 122로 쓰는 실수(M1)도 함께 확인합니다.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[S11 · 혼자 해결]
목적: 도움 없이 올림이 있는 (두 자리 수)×(한 자리 수)를 세로셈으로 계산하는지 확인합니다.
시간: 약 5분
이렇게 말해 보세요
- “이번에는 혼자 공책에 세로셈으로 풀어 볼래? 다 풀면 어디에 무엇을 올렸는지 말해 줘.”
정답
- ① 96
- ② 76
- ③ 315
- ④ 392
막히면
- 바로 알려 주지 말고 “일의 자리부터 곱하면 얼마야? 올릴 수가 있어?”라고만 묻습니다.
- 도움을 받아 해결했다면 기록표에 ‘도움’으로 표시합니다.
주의
- ③, ④는 곱이 세 자리 수입니다. ①, ②를 맞히고 ③, ④에서 실수했다면 S08, S09를 다시 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[S12 · 정답과 피드백]
목적: 아이의 답을 함께 확인하고 흔한 실수를 바로잡습니다. 수업용에만 있는 장입니다.
시간: 약 2분
이렇게 말해 보세요
- “네 답과 같은지 볼까? 다르면 자리별로 나누어 곱해서 확인해 보자.”
정답
- ① 96 ② 76 ③ 315 ④ 392
막히면
- 올린 수를 빠뜨렸거나 먼저 더했으면 S10으로, 일의 자리 곱을 그대로 썼으면 S06으로 돌아갑니다.
주의
- 이 장은 학생용 파일에는 없습니다. 아이와 함께 볼 때는 슬라이드 쇼로 보여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[S13 · 마무리 확인(자릿값으로 나누어 곱하기)]
목적: 처음 보는 곱셈을 자릿값에 맞게 나누어 곱하는 방법을 고르고 설명하는지 확인합니다.
시간: 약 2분
이렇게 말해 보세요
- “34 × 5를 바르게 계산하는 방법을 골라 볼래? 그리고 34 × 5를 구해 줘.”
정답
- 가(30 × 5와 4 × 5를 더함). 150 + 20 = 170이라 34 × 5 = 170입니다.
- 나는 4에 5를 곱하지 않았고(154), 다는 십의 자리 3을 30이 아니라 3으로 곱했습니다(35).
막히면
- 34를 수 모형(십 3개, 일 4개)으로 놓고 5묶음을 만들어 보게 합니다.
주의
- ‘34는 30과 4, 둘 다 5번씩’이라고 말하면 목표 A를 이룬 것입니다.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[S14 · 정리와 다음 수업 복습]
목적: 핵심을 정리하고 다음 수업 첫 5분에 풀 복습 문제를 알려 줍니다.
시간: 약 2분
이렇게 말해 보세요
- “오늘 배운 것을 말해 볼래? 26 × 3을 자리별로 어떻게 계산했지? 올린 수는 언제 더해?”
예상 답
- “6 × 3 = 18, 20 × 3 = 60, 더해서 78이요.” “곱한 다음에 더해요.”
정답
- ① 90 ② 144 ③ 438
막히면
- S05와 S06을 나란히 보여 주며 자리별 계산과 세로셈을 연결해 말합니다.
주의
- 다음 차시((세 자리 수)×(한 자리 수))는 오늘 방법을 백의 자리까지 넓힙니다. 복습 세 문제는 활동지 마지막 쪽과 함께 풉니다.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[S15 · 선수 학습 보충(아는 곱에서 이어 가기)]
목적: S02에서 곱셈구구가 흔들리면, 아는 곱에서 같은 수만큼 더 뛰어 곱을 구하는 방법을 익힙니다.
시간: 약 5분
이렇게 말해 보세요
- “6 × 5 = 30은 알지? 6 × 7은 6을 두 번 더 뛰면 돼. 30, 36, 42.”
- “그러면 7 × 4는? 7 × 2 = 14에서 두 번 더 뛰어 볼까?”
정답
- 6 × 7 = 42
- 7 × 4 = 28(14, 21, 28)
막히면
- 수직선을 종이에 그리고 6칸씩 손가락으로 뛰어 봅니다.
주의
- 보충으로도 어려우면 초3 4차시 ‘곱셈구구로 몫 구하기’(KR22-G03-MAT-DIVFACT-L01)와 초2 11차시 ‘1과 0의 곱, 곱셈표’(KR22-G02-MAT-TIMES10-L01)에서 곱셈구구를 다시 익힙니다.
- 보충이 오래 걸리면 오늘은 여기까지 하고 다음 날 S02부터 다시 시작합니다.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0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초3 수학 · 자연수계산 · 5차시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초3 수학 · (두 자리 수)×(한 자리 수)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초3 수학 · (두 자리 수)×(한 자리 수)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초3 수학 · (두 자리 수)×(한 자리 수)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(몇십몇)×(몇)</a:t>
            </a:r>
            <a:endParaRPr lang="ko-KR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26 × 3은 어떻게 계산할까?</a:t>
            </a:r>
            <a:endParaRPr lang="ko-KR" sz="3000" dirty="0"/>
          </a:p>
        </p:txBody>
      </p:sp>
      <p:graphicFrame>
        <p:nvGraphicFramePr>
          <p:cNvPr id="2" name="S01-table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001000" y="883920"/>
          <a:ext cx="329184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1097280"/>
                <a:gridCol w="1097280"/>
              </a:tblGrid>
              <a:tr h="60960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십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일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60960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960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×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960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01-card2"/>
          <p:cNvSpPr/>
          <p:nvPr/>
        </p:nvSpPr>
        <p:spPr>
          <a:xfrm>
            <a:off x="731520" y="4436364"/>
            <a:ext cx="10725912" cy="1690116"/>
          </a:xfrm>
          <a:prstGeom prst="roundRect">
            <a:avLst>
              <a:gd name="adj" fmla="val 649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6" name="S01-cardtext3"/>
          <p:cNvSpPr txBox="1"/>
          <p:nvPr/>
        </p:nvSpPr>
        <p:spPr>
          <a:xfrm>
            <a:off x="1005840" y="4573524"/>
            <a:ext cx="10177272" cy="14157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자리별로 나누어 곱하고 더해요.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올림이 있는 곱셈을 세로셈으로 해요.</a:t>
            </a:r>
            <a:endParaRPr lang="ko-KR" sz="3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지난 학년 기억하기</a:t>
            </a:r>
            <a:endParaRPr lang="ko-KR" sz="4000" dirty="0"/>
          </a:p>
        </p:txBody>
      </p:sp>
      <p:sp>
        <p:nvSpPr>
          <p:cNvPr id="3" name="S02-chip4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4" name="S02-eqtext5"/>
          <p:cNvSpPr txBox="1"/>
          <p:nvPr/>
        </p:nvSpPr>
        <p:spPr>
          <a:xfrm>
            <a:off x="1344168" y="132588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 × 3 = □</a:t>
            </a:r>
            <a:endParaRPr lang="ko-KR" sz="3400" dirty="0"/>
          </a:p>
        </p:txBody>
      </p:sp>
      <p:sp>
        <p:nvSpPr>
          <p:cNvPr id="5" name="S02-chip6"/>
          <p:cNvSpPr txBox="1"/>
          <p:nvPr/>
        </p:nvSpPr>
        <p:spPr>
          <a:xfrm>
            <a:off x="548640" y="34655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6" name="S02-eqtext7"/>
          <p:cNvSpPr txBox="1"/>
          <p:nvPr/>
        </p:nvSpPr>
        <p:spPr>
          <a:xfrm>
            <a:off x="1344168" y="301752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 × 4 = □</a:t>
            </a:r>
            <a:endParaRPr lang="ko-KR" sz="3400" dirty="0"/>
          </a:p>
        </p:txBody>
      </p:sp>
      <p:sp>
        <p:nvSpPr>
          <p:cNvPr id="7" name="S02-chip8"/>
          <p:cNvSpPr txBox="1"/>
          <p:nvPr/>
        </p:nvSpPr>
        <p:spPr>
          <a:xfrm>
            <a:off x="548640" y="51572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8" name="S02-eqtext9"/>
          <p:cNvSpPr txBox="1"/>
          <p:nvPr/>
        </p:nvSpPr>
        <p:spPr>
          <a:xfrm>
            <a:off x="1344168" y="470916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60 + 18 = □</a:t>
            </a:r>
            <a:endParaRPr lang="ko-KR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몇십 곱하기 몇</a:t>
            </a:r>
            <a:endParaRPr lang="ko-KR" sz="4000" dirty="0"/>
          </a:p>
        </p:txBody>
      </p:sp>
      <p:sp>
        <p:nvSpPr>
          <p:cNvPr id="3" name="S03-text10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 × 3은 십 모형 2개씩 3묶음이에요.</a:t>
            </a:r>
            <a:endParaRPr lang="ko-KR" sz="3000" dirty="0"/>
          </a:p>
        </p:txBody>
      </p:sp>
      <p:sp>
        <p:nvSpPr>
          <p:cNvPr id="4" name="S03-card11"/>
          <p:cNvSpPr/>
          <p:nvPr/>
        </p:nvSpPr>
        <p:spPr>
          <a:xfrm>
            <a:off x="548640" y="4975860"/>
            <a:ext cx="11091672" cy="1242060"/>
          </a:xfrm>
          <a:prstGeom prst="roundRect">
            <a:avLst>
              <a:gd name="adj" fmla="val 8834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3-cardtext12"/>
          <p:cNvSpPr txBox="1"/>
          <p:nvPr/>
        </p:nvSpPr>
        <p:spPr>
          <a:xfrm>
            <a:off x="822960" y="5113020"/>
            <a:ext cx="10543032" cy="967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 × 3 = 60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× 3 = 6이니까 십 모형이 6개예요.</a:t>
            </a:r>
            <a:endParaRPr lang="ko-KR" sz="3000" dirty="0"/>
          </a:p>
        </p:txBody>
      </p:sp>
      <p:sp>
        <p:nvSpPr>
          <p:cNvPr id="6" name="S03-rod13"/>
          <p:cNvSpPr/>
          <p:nvPr/>
        </p:nvSpPr>
        <p:spPr>
          <a:xfrm>
            <a:off x="1944272" y="2054967"/>
            <a:ext cx="216437" cy="2164373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" name="S03-line14"/>
          <p:cNvSpPr/>
          <p:nvPr/>
        </p:nvSpPr>
        <p:spPr>
          <a:xfrm>
            <a:off x="1944272" y="2271405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" name="S03-line15"/>
          <p:cNvSpPr/>
          <p:nvPr/>
        </p:nvSpPr>
        <p:spPr>
          <a:xfrm>
            <a:off x="1944272" y="2487842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" name="S03-line16"/>
          <p:cNvSpPr/>
          <p:nvPr/>
        </p:nvSpPr>
        <p:spPr>
          <a:xfrm>
            <a:off x="1944272" y="2704279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" name="S03-line17"/>
          <p:cNvSpPr/>
          <p:nvPr/>
        </p:nvSpPr>
        <p:spPr>
          <a:xfrm>
            <a:off x="1944272" y="2920717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" name="S03-line18"/>
          <p:cNvSpPr/>
          <p:nvPr/>
        </p:nvSpPr>
        <p:spPr>
          <a:xfrm>
            <a:off x="1944272" y="3137154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" name="S03-line19"/>
          <p:cNvSpPr/>
          <p:nvPr/>
        </p:nvSpPr>
        <p:spPr>
          <a:xfrm>
            <a:off x="1944272" y="3353591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" name="S03-line20"/>
          <p:cNvSpPr/>
          <p:nvPr/>
        </p:nvSpPr>
        <p:spPr>
          <a:xfrm>
            <a:off x="1944272" y="3570029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" name="S03-line21"/>
          <p:cNvSpPr/>
          <p:nvPr/>
        </p:nvSpPr>
        <p:spPr>
          <a:xfrm>
            <a:off x="1944272" y="3786466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5" name="S03-line22"/>
          <p:cNvSpPr/>
          <p:nvPr/>
        </p:nvSpPr>
        <p:spPr>
          <a:xfrm>
            <a:off x="1944272" y="4002903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" name="S03-rod23"/>
          <p:cNvSpPr/>
          <p:nvPr/>
        </p:nvSpPr>
        <p:spPr>
          <a:xfrm>
            <a:off x="2290572" y="2054967"/>
            <a:ext cx="216437" cy="2164373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7" name="S03-line24"/>
          <p:cNvSpPr/>
          <p:nvPr/>
        </p:nvSpPr>
        <p:spPr>
          <a:xfrm>
            <a:off x="2290572" y="2271405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" name="S03-line25"/>
          <p:cNvSpPr/>
          <p:nvPr/>
        </p:nvSpPr>
        <p:spPr>
          <a:xfrm>
            <a:off x="2290572" y="2487842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" name="S03-line26"/>
          <p:cNvSpPr/>
          <p:nvPr/>
        </p:nvSpPr>
        <p:spPr>
          <a:xfrm>
            <a:off x="2290572" y="2704279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" name="S03-line27"/>
          <p:cNvSpPr/>
          <p:nvPr/>
        </p:nvSpPr>
        <p:spPr>
          <a:xfrm>
            <a:off x="2290572" y="2920717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" name="S03-line28"/>
          <p:cNvSpPr/>
          <p:nvPr/>
        </p:nvSpPr>
        <p:spPr>
          <a:xfrm>
            <a:off x="2290572" y="3137154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2" name="S03-line29"/>
          <p:cNvSpPr/>
          <p:nvPr/>
        </p:nvSpPr>
        <p:spPr>
          <a:xfrm>
            <a:off x="2290572" y="3353591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3" name="S03-line30"/>
          <p:cNvSpPr/>
          <p:nvPr/>
        </p:nvSpPr>
        <p:spPr>
          <a:xfrm>
            <a:off x="2290572" y="3570029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4" name="S03-line31"/>
          <p:cNvSpPr/>
          <p:nvPr/>
        </p:nvSpPr>
        <p:spPr>
          <a:xfrm>
            <a:off x="2290572" y="3786466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5" name="S03-line32"/>
          <p:cNvSpPr/>
          <p:nvPr/>
        </p:nvSpPr>
        <p:spPr>
          <a:xfrm>
            <a:off x="2290572" y="4002903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6" name="S03-figure33" descr="십 모형 2개"/>
          <p:cNvSpPr/>
          <p:nvPr/>
        </p:nvSpPr>
        <p:spPr>
          <a:xfrm>
            <a:off x="548640" y="2054967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7" name="S03-label34"/>
          <p:cNvSpPr txBox="1"/>
          <p:nvPr/>
        </p:nvSpPr>
        <p:spPr>
          <a:xfrm>
            <a:off x="548640" y="4335780"/>
            <a:ext cx="34838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</a:t>
            </a:r>
            <a:endParaRPr lang="ko-KR" sz="2400" dirty="0"/>
          </a:p>
        </p:txBody>
      </p:sp>
      <p:sp>
        <p:nvSpPr>
          <p:cNvPr id="28" name="S03-rod35"/>
          <p:cNvSpPr/>
          <p:nvPr/>
        </p:nvSpPr>
        <p:spPr>
          <a:xfrm>
            <a:off x="5748176" y="2054967"/>
            <a:ext cx="216437" cy="2164373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9" name="S03-line36"/>
          <p:cNvSpPr/>
          <p:nvPr/>
        </p:nvSpPr>
        <p:spPr>
          <a:xfrm>
            <a:off x="5748176" y="2271405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0" name="S03-line37"/>
          <p:cNvSpPr/>
          <p:nvPr/>
        </p:nvSpPr>
        <p:spPr>
          <a:xfrm>
            <a:off x="5748176" y="2487842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1" name="S03-line38"/>
          <p:cNvSpPr/>
          <p:nvPr/>
        </p:nvSpPr>
        <p:spPr>
          <a:xfrm>
            <a:off x="5748176" y="2704279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2" name="S03-line39"/>
          <p:cNvSpPr/>
          <p:nvPr/>
        </p:nvSpPr>
        <p:spPr>
          <a:xfrm>
            <a:off x="5748176" y="2920717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3" name="S03-line40"/>
          <p:cNvSpPr/>
          <p:nvPr/>
        </p:nvSpPr>
        <p:spPr>
          <a:xfrm>
            <a:off x="5748176" y="3137154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4" name="S03-line41"/>
          <p:cNvSpPr/>
          <p:nvPr/>
        </p:nvSpPr>
        <p:spPr>
          <a:xfrm>
            <a:off x="5748176" y="3353591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5" name="S03-line42"/>
          <p:cNvSpPr/>
          <p:nvPr/>
        </p:nvSpPr>
        <p:spPr>
          <a:xfrm>
            <a:off x="5748176" y="3570029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6" name="S03-line43"/>
          <p:cNvSpPr/>
          <p:nvPr/>
        </p:nvSpPr>
        <p:spPr>
          <a:xfrm>
            <a:off x="5748176" y="3786466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7" name="S03-line44"/>
          <p:cNvSpPr/>
          <p:nvPr/>
        </p:nvSpPr>
        <p:spPr>
          <a:xfrm>
            <a:off x="5748176" y="4002903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8" name="S03-rod45"/>
          <p:cNvSpPr/>
          <p:nvPr/>
        </p:nvSpPr>
        <p:spPr>
          <a:xfrm>
            <a:off x="6094476" y="2054967"/>
            <a:ext cx="216437" cy="2164373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9" name="S03-line46"/>
          <p:cNvSpPr/>
          <p:nvPr/>
        </p:nvSpPr>
        <p:spPr>
          <a:xfrm>
            <a:off x="6094476" y="2271405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0" name="S03-line47"/>
          <p:cNvSpPr/>
          <p:nvPr/>
        </p:nvSpPr>
        <p:spPr>
          <a:xfrm>
            <a:off x="6094476" y="2487842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1" name="S03-line48"/>
          <p:cNvSpPr/>
          <p:nvPr/>
        </p:nvSpPr>
        <p:spPr>
          <a:xfrm>
            <a:off x="6094476" y="2704279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2" name="S03-line49"/>
          <p:cNvSpPr/>
          <p:nvPr/>
        </p:nvSpPr>
        <p:spPr>
          <a:xfrm>
            <a:off x="6094476" y="2920717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3" name="S03-line50"/>
          <p:cNvSpPr/>
          <p:nvPr/>
        </p:nvSpPr>
        <p:spPr>
          <a:xfrm>
            <a:off x="6094476" y="3137154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4" name="S03-line51"/>
          <p:cNvSpPr/>
          <p:nvPr/>
        </p:nvSpPr>
        <p:spPr>
          <a:xfrm>
            <a:off x="6094476" y="3353591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5" name="S03-line52"/>
          <p:cNvSpPr/>
          <p:nvPr/>
        </p:nvSpPr>
        <p:spPr>
          <a:xfrm>
            <a:off x="6094476" y="3570029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6" name="S03-line53"/>
          <p:cNvSpPr/>
          <p:nvPr/>
        </p:nvSpPr>
        <p:spPr>
          <a:xfrm>
            <a:off x="6094476" y="3786466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7" name="S03-line54"/>
          <p:cNvSpPr/>
          <p:nvPr/>
        </p:nvSpPr>
        <p:spPr>
          <a:xfrm>
            <a:off x="6094476" y="4002903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8" name="S03-figure55" descr="십 모형 2개"/>
          <p:cNvSpPr/>
          <p:nvPr/>
        </p:nvSpPr>
        <p:spPr>
          <a:xfrm>
            <a:off x="4352544" y="2054967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9" name="S03-label56"/>
          <p:cNvSpPr txBox="1"/>
          <p:nvPr/>
        </p:nvSpPr>
        <p:spPr>
          <a:xfrm>
            <a:off x="4352544" y="4335780"/>
            <a:ext cx="34838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</a:t>
            </a:r>
            <a:endParaRPr lang="ko-KR" sz="2400" dirty="0"/>
          </a:p>
        </p:txBody>
      </p:sp>
      <p:sp>
        <p:nvSpPr>
          <p:cNvPr id="50" name="S03-rod57"/>
          <p:cNvSpPr/>
          <p:nvPr/>
        </p:nvSpPr>
        <p:spPr>
          <a:xfrm>
            <a:off x="9552080" y="2054967"/>
            <a:ext cx="216437" cy="2164373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1" name="S03-line58"/>
          <p:cNvSpPr/>
          <p:nvPr/>
        </p:nvSpPr>
        <p:spPr>
          <a:xfrm>
            <a:off x="9552080" y="2271405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2" name="S03-line59"/>
          <p:cNvSpPr/>
          <p:nvPr/>
        </p:nvSpPr>
        <p:spPr>
          <a:xfrm>
            <a:off x="9552080" y="2487842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3" name="S03-line60"/>
          <p:cNvSpPr/>
          <p:nvPr/>
        </p:nvSpPr>
        <p:spPr>
          <a:xfrm>
            <a:off x="9552080" y="2704279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4" name="S03-line61"/>
          <p:cNvSpPr/>
          <p:nvPr/>
        </p:nvSpPr>
        <p:spPr>
          <a:xfrm>
            <a:off x="9552080" y="2920717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5" name="S03-line62"/>
          <p:cNvSpPr/>
          <p:nvPr/>
        </p:nvSpPr>
        <p:spPr>
          <a:xfrm>
            <a:off x="9552080" y="3137154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6" name="S03-line63"/>
          <p:cNvSpPr/>
          <p:nvPr/>
        </p:nvSpPr>
        <p:spPr>
          <a:xfrm>
            <a:off x="9552080" y="3353591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7" name="S03-line64"/>
          <p:cNvSpPr/>
          <p:nvPr/>
        </p:nvSpPr>
        <p:spPr>
          <a:xfrm>
            <a:off x="9552080" y="3570029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8" name="S03-line65"/>
          <p:cNvSpPr/>
          <p:nvPr/>
        </p:nvSpPr>
        <p:spPr>
          <a:xfrm>
            <a:off x="9552080" y="3786466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9" name="S03-line66"/>
          <p:cNvSpPr/>
          <p:nvPr/>
        </p:nvSpPr>
        <p:spPr>
          <a:xfrm>
            <a:off x="9552080" y="4002903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0" name="S03-rod67"/>
          <p:cNvSpPr/>
          <p:nvPr/>
        </p:nvSpPr>
        <p:spPr>
          <a:xfrm>
            <a:off x="9898380" y="2054967"/>
            <a:ext cx="216437" cy="2164373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1" name="S03-line68"/>
          <p:cNvSpPr/>
          <p:nvPr/>
        </p:nvSpPr>
        <p:spPr>
          <a:xfrm>
            <a:off x="9898380" y="2271405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2" name="S03-line69"/>
          <p:cNvSpPr/>
          <p:nvPr/>
        </p:nvSpPr>
        <p:spPr>
          <a:xfrm>
            <a:off x="9898380" y="2487842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3" name="S03-line70"/>
          <p:cNvSpPr/>
          <p:nvPr/>
        </p:nvSpPr>
        <p:spPr>
          <a:xfrm>
            <a:off x="9898380" y="2704279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4" name="S03-line71"/>
          <p:cNvSpPr/>
          <p:nvPr/>
        </p:nvSpPr>
        <p:spPr>
          <a:xfrm>
            <a:off x="9898380" y="2920717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5" name="S03-line72"/>
          <p:cNvSpPr/>
          <p:nvPr/>
        </p:nvSpPr>
        <p:spPr>
          <a:xfrm>
            <a:off x="9898380" y="3137154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6" name="S03-line73"/>
          <p:cNvSpPr/>
          <p:nvPr/>
        </p:nvSpPr>
        <p:spPr>
          <a:xfrm>
            <a:off x="9898380" y="3353591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7" name="S03-line74"/>
          <p:cNvSpPr/>
          <p:nvPr/>
        </p:nvSpPr>
        <p:spPr>
          <a:xfrm>
            <a:off x="9898380" y="3570029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8" name="S03-line75"/>
          <p:cNvSpPr/>
          <p:nvPr/>
        </p:nvSpPr>
        <p:spPr>
          <a:xfrm>
            <a:off x="9898380" y="3786466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9" name="S03-line76"/>
          <p:cNvSpPr/>
          <p:nvPr/>
        </p:nvSpPr>
        <p:spPr>
          <a:xfrm>
            <a:off x="9898380" y="4002903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0" name="S03-figure77" descr="십 모형 2개"/>
          <p:cNvSpPr/>
          <p:nvPr/>
        </p:nvSpPr>
        <p:spPr>
          <a:xfrm>
            <a:off x="8156448" y="2054967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1" name="S03-label78"/>
          <p:cNvSpPr txBox="1"/>
          <p:nvPr/>
        </p:nvSpPr>
        <p:spPr>
          <a:xfrm>
            <a:off x="8156448" y="4335780"/>
            <a:ext cx="34838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26씩 3묶음</a:t>
            </a:r>
            <a:endParaRPr lang="ko-KR" sz="4000" dirty="0"/>
          </a:p>
        </p:txBody>
      </p:sp>
      <p:sp>
        <p:nvSpPr>
          <p:cNvPr id="3" name="S04-text79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26 × 3은 26이 3묶음이에요.</a:t>
            </a:r>
            <a:endParaRPr lang="ko-KR" sz="3000" dirty="0"/>
          </a:p>
        </p:txBody>
      </p:sp>
      <p:sp>
        <p:nvSpPr>
          <p:cNvPr id="4" name="S04-card80"/>
          <p:cNvSpPr/>
          <p:nvPr/>
        </p:nvSpPr>
        <p:spPr>
          <a:xfrm>
            <a:off x="548640" y="4975860"/>
            <a:ext cx="11091672" cy="1242060"/>
          </a:xfrm>
          <a:prstGeom prst="roundRect">
            <a:avLst>
              <a:gd name="adj" fmla="val 8834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4-cardtext81"/>
          <p:cNvSpPr txBox="1"/>
          <p:nvPr/>
        </p:nvSpPr>
        <p:spPr>
          <a:xfrm>
            <a:off x="822960" y="5113020"/>
            <a:ext cx="10543032" cy="967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십 6개, 일 18개 → 78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 모형 10개를 십 모형 1개로 바꾸어요.</a:t>
            </a:r>
            <a:endParaRPr lang="ko-KR" sz="3000" dirty="0"/>
          </a:p>
        </p:txBody>
      </p:sp>
      <p:sp>
        <p:nvSpPr>
          <p:cNvPr id="6" name="S04-rod82"/>
          <p:cNvSpPr/>
          <p:nvPr/>
        </p:nvSpPr>
        <p:spPr>
          <a:xfrm>
            <a:off x="1707185" y="2131314"/>
            <a:ext cx="201168" cy="201168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" name="S04-line83"/>
          <p:cNvSpPr/>
          <p:nvPr/>
        </p:nvSpPr>
        <p:spPr>
          <a:xfrm>
            <a:off x="1707185" y="2332482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" name="S04-line84"/>
          <p:cNvSpPr/>
          <p:nvPr/>
        </p:nvSpPr>
        <p:spPr>
          <a:xfrm>
            <a:off x="1707185" y="2533650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" name="S04-line85"/>
          <p:cNvSpPr/>
          <p:nvPr/>
        </p:nvSpPr>
        <p:spPr>
          <a:xfrm>
            <a:off x="1707185" y="2734818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" name="S04-line86"/>
          <p:cNvSpPr/>
          <p:nvPr/>
        </p:nvSpPr>
        <p:spPr>
          <a:xfrm>
            <a:off x="1707185" y="2935986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" name="S04-line87"/>
          <p:cNvSpPr/>
          <p:nvPr/>
        </p:nvSpPr>
        <p:spPr>
          <a:xfrm>
            <a:off x="1707185" y="3137154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" name="S04-line88"/>
          <p:cNvSpPr/>
          <p:nvPr/>
        </p:nvSpPr>
        <p:spPr>
          <a:xfrm>
            <a:off x="1707185" y="3338322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" name="S04-line89"/>
          <p:cNvSpPr/>
          <p:nvPr/>
        </p:nvSpPr>
        <p:spPr>
          <a:xfrm>
            <a:off x="1707185" y="3539490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" name="S04-line90"/>
          <p:cNvSpPr/>
          <p:nvPr/>
        </p:nvSpPr>
        <p:spPr>
          <a:xfrm>
            <a:off x="1707185" y="3740658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5" name="S04-line91"/>
          <p:cNvSpPr/>
          <p:nvPr/>
        </p:nvSpPr>
        <p:spPr>
          <a:xfrm>
            <a:off x="1707185" y="3941826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" name="S04-rod92"/>
          <p:cNvSpPr/>
          <p:nvPr/>
        </p:nvSpPr>
        <p:spPr>
          <a:xfrm>
            <a:off x="2029054" y="2131314"/>
            <a:ext cx="201168" cy="201168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7" name="S04-line93"/>
          <p:cNvSpPr/>
          <p:nvPr/>
        </p:nvSpPr>
        <p:spPr>
          <a:xfrm>
            <a:off x="2029054" y="2332482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" name="S04-line94"/>
          <p:cNvSpPr/>
          <p:nvPr/>
        </p:nvSpPr>
        <p:spPr>
          <a:xfrm>
            <a:off x="2029054" y="2533650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" name="S04-line95"/>
          <p:cNvSpPr/>
          <p:nvPr/>
        </p:nvSpPr>
        <p:spPr>
          <a:xfrm>
            <a:off x="2029054" y="2734818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" name="S04-line96"/>
          <p:cNvSpPr/>
          <p:nvPr/>
        </p:nvSpPr>
        <p:spPr>
          <a:xfrm>
            <a:off x="2029054" y="2935986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" name="S04-line97"/>
          <p:cNvSpPr/>
          <p:nvPr/>
        </p:nvSpPr>
        <p:spPr>
          <a:xfrm>
            <a:off x="2029054" y="3137154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2" name="S04-line98"/>
          <p:cNvSpPr/>
          <p:nvPr/>
        </p:nvSpPr>
        <p:spPr>
          <a:xfrm>
            <a:off x="2029054" y="3338322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3" name="S04-line99"/>
          <p:cNvSpPr/>
          <p:nvPr/>
        </p:nvSpPr>
        <p:spPr>
          <a:xfrm>
            <a:off x="2029054" y="3539490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4" name="S04-line100"/>
          <p:cNvSpPr/>
          <p:nvPr/>
        </p:nvSpPr>
        <p:spPr>
          <a:xfrm>
            <a:off x="2029054" y="3740658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5" name="S04-line101"/>
          <p:cNvSpPr/>
          <p:nvPr/>
        </p:nvSpPr>
        <p:spPr>
          <a:xfrm>
            <a:off x="2029054" y="3941826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6" name="S04-unit102"/>
          <p:cNvSpPr/>
          <p:nvPr/>
        </p:nvSpPr>
        <p:spPr>
          <a:xfrm>
            <a:off x="2350922" y="3891534"/>
            <a:ext cx="201168" cy="201168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7" name="S04-unit103"/>
          <p:cNvSpPr/>
          <p:nvPr/>
        </p:nvSpPr>
        <p:spPr>
          <a:xfrm>
            <a:off x="2350922" y="3640074"/>
            <a:ext cx="201168" cy="201168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8" name="S04-unit104"/>
          <p:cNvSpPr/>
          <p:nvPr/>
        </p:nvSpPr>
        <p:spPr>
          <a:xfrm>
            <a:off x="2350922" y="3388614"/>
            <a:ext cx="201168" cy="201168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9" name="S04-unit105"/>
          <p:cNvSpPr/>
          <p:nvPr/>
        </p:nvSpPr>
        <p:spPr>
          <a:xfrm>
            <a:off x="2350922" y="3137154"/>
            <a:ext cx="201168" cy="201168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0" name="S04-unit106"/>
          <p:cNvSpPr/>
          <p:nvPr/>
        </p:nvSpPr>
        <p:spPr>
          <a:xfrm>
            <a:off x="2350922" y="2885694"/>
            <a:ext cx="201168" cy="201168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1" name="S04-unit107"/>
          <p:cNvSpPr/>
          <p:nvPr/>
        </p:nvSpPr>
        <p:spPr>
          <a:xfrm>
            <a:off x="2612441" y="3891534"/>
            <a:ext cx="201168" cy="201168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2" name="S04-figure108" descr="십 모형 2개와 일 모형 6개"/>
          <p:cNvSpPr/>
          <p:nvPr/>
        </p:nvSpPr>
        <p:spPr>
          <a:xfrm>
            <a:off x="548640" y="2131314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S04-label109"/>
          <p:cNvSpPr txBox="1"/>
          <p:nvPr/>
        </p:nvSpPr>
        <p:spPr>
          <a:xfrm>
            <a:off x="548640" y="4335780"/>
            <a:ext cx="34838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26</a:t>
            </a:r>
            <a:endParaRPr lang="ko-KR" sz="2400" dirty="0"/>
          </a:p>
        </p:txBody>
      </p:sp>
      <p:sp>
        <p:nvSpPr>
          <p:cNvPr id="34" name="S04-rod110"/>
          <p:cNvSpPr/>
          <p:nvPr/>
        </p:nvSpPr>
        <p:spPr>
          <a:xfrm>
            <a:off x="5511089" y="2131314"/>
            <a:ext cx="201168" cy="201168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5" name="S04-line111"/>
          <p:cNvSpPr/>
          <p:nvPr/>
        </p:nvSpPr>
        <p:spPr>
          <a:xfrm>
            <a:off x="5511089" y="2332482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6" name="S04-line112"/>
          <p:cNvSpPr/>
          <p:nvPr/>
        </p:nvSpPr>
        <p:spPr>
          <a:xfrm>
            <a:off x="5511089" y="2533650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7" name="S04-line113"/>
          <p:cNvSpPr/>
          <p:nvPr/>
        </p:nvSpPr>
        <p:spPr>
          <a:xfrm>
            <a:off x="5511089" y="2734818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8" name="S04-line114"/>
          <p:cNvSpPr/>
          <p:nvPr/>
        </p:nvSpPr>
        <p:spPr>
          <a:xfrm>
            <a:off x="5511089" y="2935986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9" name="S04-line115"/>
          <p:cNvSpPr/>
          <p:nvPr/>
        </p:nvSpPr>
        <p:spPr>
          <a:xfrm>
            <a:off x="5511089" y="3137154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0" name="S04-line116"/>
          <p:cNvSpPr/>
          <p:nvPr/>
        </p:nvSpPr>
        <p:spPr>
          <a:xfrm>
            <a:off x="5511089" y="3338322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1" name="S04-line117"/>
          <p:cNvSpPr/>
          <p:nvPr/>
        </p:nvSpPr>
        <p:spPr>
          <a:xfrm>
            <a:off x="5511089" y="3539490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2" name="S04-line118"/>
          <p:cNvSpPr/>
          <p:nvPr/>
        </p:nvSpPr>
        <p:spPr>
          <a:xfrm>
            <a:off x="5511089" y="3740658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3" name="S04-line119"/>
          <p:cNvSpPr/>
          <p:nvPr/>
        </p:nvSpPr>
        <p:spPr>
          <a:xfrm>
            <a:off x="5511089" y="3941826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4" name="S04-rod120"/>
          <p:cNvSpPr/>
          <p:nvPr/>
        </p:nvSpPr>
        <p:spPr>
          <a:xfrm>
            <a:off x="5832958" y="2131314"/>
            <a:ext cx="201168" cy="201168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5" name="S04-line121"/>
          <p:cNvSpPr/>
          <p:nvPr/>
        </p:nvSpPr>
        <p:spPr>
          <a:xfrm>
            <a:off x="5832958" y="2332482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6" name="S04-line122"/>
          <p:cNvSpPr/>
          <p:nvPr/>
        </p:nvSpPr>
        <p:spPr>
          <a:xfrm>
            <a:off x="5832958" y="2533650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7" name="S04-line123"/>
          <p:cNvSpPr/>
          <p:nvPr/>
        </p:nvSpPr>
        <p:spPr>
          <a:xfrm>
            <a:off x="5832958" y="2734818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8" name="S04-line124"/>
          <p:cNvSpPr/>
          <p:nvPr/>
        </p:nvSpPr>
        <p:spPr>
          <a:xfrm>
            <a:off x="5832958" y="2935986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9" name="S04-line125"/>
          <p:cNvSpPr/>
          <p:nvPr/>
        </p:nvSpPr>
        <p:spPr>
          <a:xfrm>
            <a:off x="5832958" y="3137154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0" name="S04-line126"/>
          <p:cNvSpPr/>
          <p:nvPr/>
        </p:nvSpPr>
        <p:spPr>
          <a:xfrm>
            <a:off x="5832958" y="3338322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1" name="S04-line127"/>
          <p:cNvSpPr/>
          <p:nvPr/>
        </p:nvSpPr>
        <p:spPr>
          <a:xfrm>
            <a:off x="5832958" y="3539490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2" name="S04-line128"/>
          <p:cNvSpPr/>
          <p:nvPr/>
        </p:nvSpPr>
        <p:spPr>
          <a:xfrm>
            <a:off x="5832958" y="3740658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3" name="S04-line129"/>
          <p:cNvSpPr/>
          <p:nvPr/>
        </p:nvSpPr>
        <p:spPr>
          <a:xfrm>
            <a:off x="5832958" y="3941826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4" name="S04-unit130"/>
          <p:cNvSpPr/>
          <p:nvPr/>
        </p:nvSpPr>
        <p:spPr>
          <a:xfrm>
            <a:off x="6154826" y="3891534"/>
            <a:ext cx="201168" cy="201168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5" name="S04-unit131"/>
          <p:cNvSpPr/>
          <p:nvPr/>
        </p:nvSpPr>
        <p:spPr>
          <a:xfrm>
            <a:off x="6154826" y="3640074"/>
            <a:ext cx="201168" cy="201168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6" name="S04-unit132"/>
          <p:cNvSpPr/>
          <p:nvPr/>
        </p:nvSpPr>
        <p:spPr>
          <a:xfrm>
            <a:off x="6154826" y="3388614"/>
            <a:ext cx="201168" cy="201168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7" name="S04-unit133"/>
          <p:cNvSpPr/>
          <p:nvPr/>
        </p:nvSpPr>
        <p:spPr>
          <a:xfrm>
            <a:off x="6154826" y="3137154"/>
            <a:ext cx="201168" cy="201168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8" name="S04-unit134"/>
          <p:cNvSpPr/>
          <p:nvPr/>
        </p:nvSpPr>
        <p:spPr>
          <a:xfrm>
            <a:off x="6154826" y="2885694"/>
            <a:ext cx="201168" cy="201168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9" name="S04-unit135"/>
          <p:cNvSpPr/>
          <p:nvPr/>
        </p:nvSpPr>
        <p:spPr>
          <a:xfrm>
            <a:off x="6416345" y="3891534"/>
            <a:ext cx="201168" cy="201168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0" name="S04-figure136" descr="십 모형 2개와 일 모형 6개"/>
          <p:cNvSpPr/>
          <p:nvPr/>
        </p:nvSpPr>
        <p:spPr>
          <a:xfrm>
            <a:off x="4352544" y="2131314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1" name="S04-label137"/>
          <p:cNvSpPr txBox="1"/>
          <p:nvPr/>
        </p:nvSpPr>
        <p:spPr>
          <a:xfrm>
            <a:off x="4352544" y="4335780"/>
            <a:ext cx="34838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26</a:t>
            </a:r>
            <a:endParaRPr lang="ko-KR" sz="2400" dirty="0"/>
          </a:p>
        </p:txBody>
      </p:sp>
      <p:sp>
        <p:nvSpPr>
          <p:cNvPr id="62" name="S04-rod138"/>
          <p:cNvSpPr/>
          <p:nvPr/>
        </p:nvSpPr>
        <p:spPr>
          <a:xfrm>
            <a:off x="9314993" y="2131314"/>
            <a:ext cx="201168" cy="201168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3" name="S04-line139"/>
          <p:cNvSpPr/>
          <p:nvPr/>
        </p:nvSpPr>
        <p:spPr>
          <a:xfrm>
            <a:off x="9314993" y="2332482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4" name="S04-line140"/>
          <p:cNvSpPr/>
          <p:nvPr/>
        </p:nvSpPr>
        <p:spPr>
          <a:xfrm>
            <a:off x="9314993" y="2533650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5" name="S04-line141"/>
          <p:cNvSpPr/>
          <p:nvPr/>
        </p:nvSpPr>
        <p:spPr>
          <a:xfrm>
            <a:off x="9314993" y="2734818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6" name="S04-line142"/>
          <p:cNvSpPr/>
          <p:nvPr/>
        </p:nvSpPr>
        <p:spPr>
          <a:xfrm>
            <a:off x="9314993" y="2935986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7" name="S04-line143"/>
          <p:cNvSpPr/>
          <p:nvPr/>
        </p:nvSpPr>
        <p:spPr>
          <a:xfrm>
            <a:off x="9314993" y="3137154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8" name="S04-line144"/>
          <p:cNvSpPr/>
          <p:nvPr/>
        </p:nvSpPr>
        <p:spPr>
          <a:xfrm>
            <a:off x="9314993" y="3338322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9" name="S04-line145"/>
          <p:cNvSpPr/>
          <p:nvPr/>
        </p:nvSpPr>
        <p:spPr>
          <a:xfrm>
            <a:off x="9314993" y="3539490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0" name="S04-line146"/>
          <p:cNvSpPr/>
          <p:nvPr/>
        </p:nvSpPr>
        <p:spPr>
          <a:xfrm>
            <a:off x="9314993" y="3740658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1" name="S04-line147"/>
          <p:cNvSpPr/>
          <p:nvPr/>
        </p:nvSpPr>
        <p:spPr>
          <a:xfrm>
            <a:off x="9314993" y="3941826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2" name="S04-rod148"/>
          <p:cNvSpPr/>
          <p:nvPr/>
        </p:nvSpPr>
        <p:spPr>
          <a:xfrm>
            <a:off x="9636862" y="2131314"/>
            <a:ext cx="201168" cy="201168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3" name="S04-line149"/>
          <p:cNvSpPr/>
          <p:nvPr/>
        </p:nvSpPr>
        <p:spPr>
          <a:xfrm>
            <a:off x="9636862" y="2332482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4" name="S04-line150"/>
          <p:cNvSpPr/>
          <p:nvPr/>
        </p:nvSpPr>
        <p:spPr>
          <a:xfrm>
            <a:off x="9636862" y="2533650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5" name="S04-line151"/>
          <p:cNvSpPr/>
          <p:nvPr/>
        </p:nvSpPr>
        <p:spPr>
          <a:xfrm>
            <a:off x="9636862" y="2734818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6" name="S04-line152"/>
          <p:cNvSpPr/>
          <p:nvPr/>
        </p:nvSpPr>
        <p:spPr>
          <a:xfrm>
            <a:off x="9636862" y="2935986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7" name="S04-line153"/>
          <p:cNvSpPr/>
          <p:nvPr/>
        </p:nvSpPr>
        <p:spPr>
          <a:xfrm>
            <a:off x="9636862" y="3137154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8" name="S04-line154"/>
          <p:cNvSpPr/>
          <p:nvPr/>
        </p:nvSpPr>
        <p:spPr>
          <a:xfrm>
            <a:off x="9636862" y="3338322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9" name="S04-line155"/>
          <p:cNvSpPr/>
          <p:nvPr/>
        </p:nvSpPr>
        <p:spPr>
          <a:xfrm>
            <a:off x="9636862" y="3539490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0" name="S04-line156"/>
          <p:cNvSpPr/>
          <p:nvPr/>
        </p:nvSpPr>
        <p:spPr>
          <a:xfrm>
            <a:off x="9636862" y="3740658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1" name="S04-line157"/>
          <p:cNvSpPr/>
          <p:nvPr/>
        </p:nvSpPr>
        <p:spPr>
          <a:xfrm>
            <a:off x="9636862" y="3941826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2" name="S04-unit158"/>
          <p:cNvSpPr/>
          <p:nvPr/>
        </p:nvSpPr>
        <p:spPr>
          <a:xfrm>
            <a:off x="9958730" y="3891534"/>
            <a:ext cx="201168" cy="201168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3" name="S04-unit159"/>
          <p:cNvSpPr/>
          <p:nvPr/>
        </p:nvSpPr>
        <p:spPr>
          <a:xfrm>
            <a:off x="9958730" y="3640074"/>
            <a:ext cx="201168" cy="201168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4" name="S04-unit160"/>
          <p:cNvSpPr/>
          <p:nvPr/>
        </p:nvSpPr>
        <p:spPr>
          <a:xfrm>
            <a:off x="9958730" y="3388614"/>
            <a:ext cx="201168" cy="201168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5" name="S04-unit161"/>
          <p:cNvSpPr/>
          <p:nvPr/>
        </p:nvSpPr>
        <p:spPr>
          <a:xfrm>
            <a:off x="9958730" y="3137154"/>
            <a:ext cx="201168" cy="201168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6" name="S04-unit162"/>
          <p:cNvSpPr/>
          <p:nvPr/>
        </p:nvSpPr>
        <p:spPr>
          <a:xfrm>
            <a:off x="9958730" y="2885694"/>
            <a:ext cx="201168" cy="201168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7" name="S04-unit163"/>
          <p:cNvSpPr/>
          <p:nvPr/>
        </p:nvSpPr>
        <p:spPr>
          <a:xfrm>
            <a:off x="10220249" y="3891534"/>
            <a:ext cx="201168" cy="201168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8" name="S04-figure164" descr="십 모형 2개와 일 모형 6개"/>
          <p:cNvSpPr/>
          <p:nvPr/>
        </p:nvSpPr>
        <p:spPr>
          <a:xfrm>
            <a:off x="8156448" y="2131314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9" name="S04-label165"/>
          <p:cNvSpPr txBox="1"/>
          <p:nvPr/>
        </p:nvSpPr>
        <p:spPr>
          <a:xfrm>
            <a:off x="8156448" y="4335780"/>
            <a:ext cx="34838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26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자리별로 곱해요</a:t>
            </a:r>
            <a:endParaRPr lang="ko-KR" sz="4000" dirty="0"/>
          </a:p>
        </p:txBody>
      </p:sp>
      <p:sp>
        <p:nvSpPr>
          <p:cNvPr id="3" name="S05-text166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26 × 3을 자리별로 곱해요.</a:t>
            </a:r>
            <a:endParaRPr lang="ko-KR" sz="3000" dirty="0"/>
          </a:p>
        </p:txBody>
      </p:sp>
      <p:sp>
        <p:nvSpPr>
          <p:cNvPr id="4" name="S05-card16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5-cardtext16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십의 자리 2는 20을 나타내요.</a:t>
            </a:r>
            <a:endParaRPr lang="ko-KR" sz="3000" dirty="0"/>
          </a:p>
        </p:txBody>
      </p:sp>
      <p:graphicFrame>
        <p:nvGraphicFramePr>
          <p:cNvPr id="6" name="S05-table16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093629" y="2103120"/>
          <a:ext cx="301752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1005840"/>
                <a:gridCol w="1005840"/>
              </a:tblGrid>
              <a:tr h="4876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십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일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×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05-stepno170"/>
          <p:cNvSpPr txBox="1"/>
          <p:nvPr/>
        </p:nvSpPr>
        <p:spPr>
          <a:xfrm>
            <a:off x="548640" y="257860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8" name="S05-text171"/>
          <p:cNvSpPr txBox="1"/>
          <p:nvPr/>
        </p:nvSpPr>
        <p:spPr>
          <a:xfrm>
            <a:off x="1325880" y="2578608"/>
            <a:ext cx="587282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일: 6 × 3 = 18</a:t>
            </a:r>
            <a:endParaRPr lang="ko-KR" sz="3000" dirty="0"/>
          </a:p>
        </p:txBody>
      </p:sp>
      <p:sp>
        <p:nvSpPr>
          <p:cNvPr id="9" name="S05-stepno172"/>
          <p:cNvSpPr txBox="1"/>
          <p:nvPr/>
        </p:nvSpPr>
        <p:spPr>
          <a:xfrm>
            <a:off x="548640" y="329184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10" name="S05-text173"/>
          <p:cNvSpPr txBox="1"/>
          <p:nvPr/>
        </p:nvSpPr>
        <p:spPr>
          <a:xfrm>
            <a:off x="1325880" y="3291840"/>
            <a:ext cx="587282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십: 20 × 3 = 60</a:t>
            </a:r>
            <a:endParaRPr lang="ko-KR" sz="3000" dirty="0"/>
          </a:p>
        </p:txBody>
      </p:sp>
      <p:sp>
        <p:nvSpPr>
          <p:cNvPr id="11" name="S05-stepno174"/>
          <p:cNvSpPr txBox="1"/>
          <p:nvPr/>
        </p:nvSpPr>
        <p:spPr>
          <a:xfrm>
            <a:off x="548640" y="400507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2" name="S05-text175"/>
          <p:cNvSpPr txBox="1"/>
          <p:nvPr/>
        </p:nvSpPr>
        <p:spPr>
          <a:xfrm>
            <a:off x="1325880" y="4005072"/>
            <a:ext cx="587282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더하기: 18 + 60 = 78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짧게 쓰는 세로셈</a:t>
            </a:r>
            <a:endParaRPr lang="ko-KR" sz="4000" dirty="0"/>
          </a:p>
        </p:txBody>
      </p:sp>
      <p:sp>
        <p:nvSpPr>
          <p:cNvPr id="3" name="S06-text176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26 × 3을 짧게 써요.</a:t>
            </a:r>
            <a:endParaRPr lang="ko-KR" sz="3000" dirty="0"/>
          </a:p>
        </p:txBody>
      </p:sp>
      <p:sp>
        <p:nvSpPr>
          <p:cNvPr id="4" name="S06-card17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6-cardtext17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올린 1은 십 모형 1개예요.</a:t>
            </a:r>
            <a:endParaRPr lang="ko-KR" sz="3000" dirty="0"/>
          </a:p>
        </p:txBody>
      </p:sp>
      <p:graphicFrame>
        <p:nvGraphicFramePr>
          <p:cNvPr id="7" name="S06-table17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063728" y="2042160"/>
          <a:ext cx="329184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1097280"/>
                <a:gridCol w="1097280"/>
              </a:tblGrid>
              <a:tr h="60960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십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일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60960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960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960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×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960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06-stepno180"/>
          <p:cNvSpPr txBox="1"/>
          <p:nvPr/>
        </p:nvSpPr>
        <p:spPr>
          <a:xfrm>
            <a:off x="548640" y="243382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8" name="S06-text181"/>
          <p:cNvSpPr txBox="1"/>
          <p:nvPr/>
        </p:nvSpPr>
        <p:spPr>
          <a:xfrm>
            <a:off x="1325880" y="2388108"/>
            <a:ext cx="6087344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일: 6 × 3 = 18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8을 쓰고 1을 올려요.</a:t>
            </a:r>
            <a:endParaRPr lang="ko-KR" sz="3000" dirty="0"/>
          </a:p>
        </p:txBody>
      </p:sp>
      <p:sp>
        <p:nvSpPr>
          <p:cNvPr id="9" name="S06-stepno182"/>
          <p:cNvSpPr txBox="1"/>
          <p:nvPr/>
        </p:nvSpPr>
        <p:spPr>
          <a:xfrm>
            <a:off x="548640" y="348234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10" name="S06-text183"/>
          <p:cNvSpPr txBox="1"/>
          <p:nvPr/>
        </p:nvSpPr>
        <p:spPr>
          <a:xfrm>
            <a:off x="1325880" y="3482340"/>
            <a:ext cx="60873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십: 2 × 3 = 6</a:t>
            </a:r>
            <a:endParaRPr lang="ko-KR" sz="3000" dirty="0"/>
          </a:p>
        </p:txBody>
      </p:sp>
      <p:sp>
        <p:nvSpPr>
          <p:cNvPr id="11" name="S06-stepno184"/>
          <p:cNvSpPr txBox="1"/>
          <p:nvPr/>
        </p:nvSpPr>
        <p:spPr>
          <a:xfrm>
            <a:off x="548640" y="419557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2" name="S06-text185"/>
          <p:cNvSpPr txBox="1"/>
          <p:nvPr/>
        </p:nvSpPr>
        <p:spPr>
          <a:xfrm>
            <a:off x="1325880" y="4195572"/>
            <a:ext cx="60873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 + 1 = 7, 곱은 78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세로셈 해 보기</a:t>
            </a:r>
            <a:endParaRPr lang="ko-KR" sz="4000" dirty="0"/>
          </a:p>
        </p:txBody>
      </p:sp>
      <p:sp>
        <p:nvSpPr>
          <p:cNvPr id="3" name="S07-card186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4" name="S07-cardtext187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일의 자리 곱의 십을 십의 자리 위에 올려요.</a:t>
            </a:r>
            <a:endParaRPr lang="ko-KR" sz="3000" dirty="0"/>
          </a:p>
        </p:txBody>
      </p:sp>
      <p:sp>
        <p:nvSpPr>
          <p:cNvPr id="5" name="S07-card188"/>
          <p:cNvSpPr/>
          <p:nvPr/>
        </p:nvSpPr>
        <p:spPr>
          <a:xfrm>
            <a:off x="6277356" y="1325880"/>
            <a:ext cx="5362956" cy="3794760"/>
          </a:xfrm>
          <a:prstGeom prst="roundRect">
            <a:avLst>
              <a:gd name="adj" fmla="val 289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7-cardtext189"/>
          <p:cNvSpPr txBox="1"/>
          <p:nvPr/>
        </p:nvSpPr>
        <p:spPr>
          <a:xfrm>
            <a:off x="6551676" y="1463040"/>
            <a:ext cx="4814316" cy="3520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③을 세로셈으로 해요</a:t>
            </a:r>
            <a:endParaRPr lang="ko-KR" sz="3000" dirty="0"/>
          </a:p>
        </p:txBody>
      </p:sp>
      <p:graphicFrame>
        <p:nvGraphicFramePr>
          <p:cNvPr id="8" name="S07-table19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2914" y="2052320"/>
          <a:ext cx="329184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1097280"/>
                <a:gridCol w="1097280"/>
              </a:tblGrid>
              <a:tr h="56896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십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일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56896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896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896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×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896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07-chip191"/>
          <p:cNvSpPr txBox="1"/>
          <p:nvPr/>
        </p:nvSpPr>
        <p:spPr>
          <a:xfrm>
            <a:off x="548640" y="16139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9" name="S07-eqtext192"/>
          <p:cNvSpPr txBox="1"/>
          <p:nvPr/>
        </p:nvSpPr>
        <p:spPr>
          <a:xfrm>
            <a:off x="1344168" y="1325880"/>
            <a:ext cx="456742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17 × 4 = □</a:t>
            </a:r>
            <a:endParaRPr lang="ko-KR" sz="3400" dirty="0"/>
          </a:p>
        </p:txBody>
      </p:sp>
      <p:sp>
        <p:nvSpPr>
          <p:cNvPr id="10" name="S07-chip193"/>
          <p:cNvSpPr txBox="1"/>
          <p:nvPr/>
        </p:nvSpPr>
        <p:spPr>
          <a:xfrm>
            <a:off x="548640" y="29397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11" name="S07-eqtext194"/>
          <p:cNvSpPr txBox="1"/>
          <p:nvPr/>
        </p:nvSpPr>
        <p:spPr>
          <a:xfrm>
            <a:off x="1344168" y="2651760"/>
            <a:ext cx="456742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35 × 2 = □</a:t>
            </a:r>
            <a:endParaRPr lang="ko-KR" sz="3400" dirty="0"/>
          </a:p>
        </p:txBody>
      </p:sp>
      <p:sp>
        <p:nvSpPr>
          <p:cNvPr id="12" name="S07-chip195"/>
          <p:cNvSpPr txBox="1"/>
          <p:nvPr/>
        </p:nvSpPr>
        <p:spPr>
          <a:xfrm>
            <a:off x="548640" y="42656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13" name="S07-eqtext196"/>
          <p:cNvSpPr txBox="1"/>
          <p:nvPr/>
        </p:nvSpPr>
        <p:spPr>
          <a:xfrm>
            <a:off x="1344168" y="3977640"/>
            <a:ext cx="456742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28 × 3 = □</a:t>
            </a:r>
            <a:endParaRPr lang="ko-KR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곱이 세 자리 수</a:t>
            </a:r>
            <a:endParaRPr lang="ko-KR" sz="4000" dirty="0"/>
          </a:p>
        </p:txBody>
      </p:sp>
      <p:sp>
        <p:nvSpPr>
          <p:cNvPr id="3" name="S08-text197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52 × 4를 세로셈으로 해요.</a:t>
            </a:r>
            <a:endParaRPr lang="ko-KR" sz="3000" dirty="0"/>
          </a:p>
        </p:txBody>
      </p:sp>
      <p:sp>
        <p:nvSpPr>
          <p:cNvPr id="4" name="S08-card19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8-cardtext19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십의 자리 곱이 10을 넘으면 백의 자리에 써요.</a:t>
            </a:r>
            <a:endParaRPr lang="ko-KR" sz="3000" dirty="0"/>
          </a:p>
        </p:txBody>
      </p:sp>
      <p:graphicFrame>
        <p:nvGraphicFramePr>
          <p:cNvPr id="9" name="S08-table20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483450" y="2346960"/>
          <a:ext cx="402336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1005840"/>
                <a:gridCol w="1005840"/>
                <a:gridCol w="1005840"/>
              </a:tblGrid>
              <a:tr h="60960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백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십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일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60960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960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×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960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08-stepno201"/>
          <p:cNvSpPr txBox="1"/>
          <p:nvPr/>
        </p:nvSpPr>
        <p:spPr>
          <a:xfrm>
            <a:off x="548640" y="257860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8" name="S08-text202"/>
          <p:cNvSpPr txBox="1"/>
          <p:nvPr/>
        </p:nvSpPr>
        <p:spPr>
          <a:xfrm>
            <a:off x="1325880" y="2578608"/>
            <a:ext cx="5658307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일: 2 × 4 = 8</a:t>
            </a:r>
            <a:endParaRPr lang="ko-KR" sz="3000" dirty="0"/>
          </a:p>
        </p:txBody>
      </p:sp>
      <p:sp>
        <p:nvSpPr>
          <p:cNvPr id="9" name="S08-stepno203"/>
          <p:cNvSpPr txBox="1"/>
          <p:nvPr/>
        </p:nvSpPr>
        <p:spPr>
          <a:xfrm>
            <a:off x="548640" y="329184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10" name="S08-text204"/>
          <p:cNvSpPr txBox="1"/>
          <p:nvPr/>
        </p:nvSpPr>
        <p:spPr>
          <a:xfrm>
            <a:off x="1325880" y="3291840"/>
            <a:ext cx="5658307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십: 5 × 4 = 20</a:t>
            </a:r>
            <a:endParaRPr lang="ko-KR" sz="3000" dirty="0"/>
          </a:p>
        </p:txBody>
      </p:sp>
      <p:sp>
        <p:nvSpPr>
          <p:cNvPr id="11" name="S08-stepno205"/>
          <p:cNvSpPr txBox="1"/>
          <p:nvPr/>
        </p:nvSpPr>
        <p:spPr>
          <a:xfrm>
            <a:off x="548640" y="400507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2" name="S08-text206"/>
          <p:cNvSpPr txBox="1"/>
          <p:nvPr/>
        </p:nvSpPr>
        <p:spPr>
          <a:xfrm>
            <a:off x="1325880" y="4005072"/>
            <a:ext cx="5658307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십 20개는 백 2개: 208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올림이 있고 곱이 커요</a:t>
            </a:r>
            <a:endParaRPr lang="ko-KR" sz="4000" dirty="0"/>
          </a:p>
        </p:txBody>
      </p:sp>
      <p:sp>
        <p:nvSpPr>
          <p:cNvPr id="3" name="S09-text207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47 × 6을 세로셈으로 해요.</a:t>
            </a:r>
            <a:endParaRPr lang="ko-KR" sz="3000" dirty="0"/>
          </a:p>
        </p:txBody>
      </p:sp>
      <p:sp>
        <p:nvSpPr>
          <p:cNvPr id="4" name="S09-card20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9-cardtext20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올린 수는 곱한 다음에 더해요.</a:t>
            </a:r>
            <a:endParaRPr lang="ko-KR" sz="3000" dirty="0"/>
          </a:p>
        </p:txBody>
      </p:sp>
      <p:graphicFrame>
        <p:nvGraphicFramePr>
          <p:cNvPr id="10" name="S09-table21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483450" y="2042160"/>
          <a:ext cx="402336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1005840"/>
                <a:gridCol w="1005840"/>
                <a:gridCol w="1005840"/>
              </a:tblGrid>
              <a:tr h="60960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백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십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일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60960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960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960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×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960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09-stepno211"/>
          <p:cNvSpPr txBox="1"/>
          <p:nvPr/>
        </p:nvSpPr>
        <p:spPr>
          <a:xfrm>
            <a:off x="548640" y="243382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8" name="S09-text212"/>
          <p:cNvSpPr txBox="1"/>
          <p:nvPr/>
        </p:nvSpPr>
        <p:spPr>
          <a:xfrm>
            <a:off x="1325880" y="2388108"/>
            <a:ext cx="5658307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일: 7 × 6 = 42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2를 쓰고 4를 올려요.</a:t>
            </a:r>
            <a:endParaRPr lang="ko-KR" sz="3000" dirty="0"/>
          </a:p>
        </p:txBody>
      </p:sp>
      <p:sp>
        <p:nvSpPr>
          <p:cNvPr id="9" name="S09-stepno213"/>
          <p:cNvSpPr txBox="1"/>
          <p:nvPr/>
        </p:nvSpPr>
        <p:spPr>
          <a:xfrm>
            <a:off x="548640" y="348234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10" name="S09-text214"/>
          <p:cNvSpPr txBox="1"/>
          <p:nvPr/>
        </p:nvSpPr>
        <p:spPr>
          <a:xfrm>
            <a:off x="1325880" y="3482340"/>
            <a:ext cx="5658307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십: 4 × 6 = 24</a:t>
            </a:r>
            <a:endParaRPr lang="ko-KR" sz="3000" dirty="0"/>
          </a:p>
        </p:txBody>
      </p:sp>
      <p:sp>
        <p:nvSpPr>
          <p:cNvPr id="11" name="S09-stepno215"/>
          <p:cNvSpPr txBox="1"/>
          <p:nvPr/>
        </p:nvSpPr>
        <p:spPr>
          <a:xfrm>
            <a:off x="548640" y="419557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2" name="S09-text216"/>
          <p:cNvSpPr txBox="1"/>
          <p:nvPr/>
        </p:nvSpPr>
        <p:spPr>
          <a:xfrm>
            <a:off x="1325880" y="4195572"/>
            <a:ext cx="5658307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24 + 4 = 28, 곱은 282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맞았을까요?</a:t>
            </a:r>
            <a:endParaRPr lang="ko-KR" sz="4000" dirty="0"/>
          </a:p>
        </p:txBody>
      </p:sp>
      <p:sp>
        <p:nvSpPr>
          <p:cNvPr id="3" name="S10-card217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0-cardtext218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38 × 4를 세로셈으로 했어요.</a:t>
            </a:r>
            <a:endParaRPr lang="ko-KR" sz="3000" dirty="0"/>
          </a:p>
        </p:txBody>
      </p:sp>
      <p:sp>
        <p:nvSpPr>
          <p:cNvPr id="5" name="S10-card21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10-cardtext22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자리별로 곱해 확인하고, 누가 맞았는지 말해요.</a:t>
            </a:r>
            <a:endParaRPr lang="ko-KR" sz="3000" dirty="0"/>
          </a:p>
        </p:txBody>
      </p:sp>
      <p:sp>
        <p:nvSpPr>
          <p:cNvPr id="7" name="S10-chip221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토끼: 242</a:t>
            </a:r>
            <a:endParaRPr lang="ko-KR" sz="2400" dirty="0"/>
          </a:p>
        </p:txBody>
      </p:sp>
      <p:sp>
        <p:nvSpPr>
          <p:cNvPr id="8" name="S10-text222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올린 3을 먼저 더해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(3 + 3) × 4 = 24를 썼어요.</a:t>
            </a:r>
            <a:endParaRPr lang="ko-KR" sz="3000" dirty="0"/>
          </a:p>
        </p:txBody>
      </p:sp>
      <p:sp>
        <p:nvSpPr>
          <p:cNvPr id="9" name="S10-chip223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곰: 152</a:t>
            </a:r>
            <a:endParaRPr lang="ko-KR" sz="2400" dirty="0"/>
          </a:p>
        </p:txBody>
      </p:sp>
      <p:sp>
        <p:nvSpPr>
          <p:cNvPr id="10" name="S10-text224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× 4 = 12에 올린 3을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더해 15를 썼어요.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000" dirty="0"/>
          </a:p>
        </p:txBody>
      </p:sp>
      <p:sp>
        <p:nvSpPr>
          <p:cNvPr id="3" name="S11-text225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세로셈으로 풀고, 올림을 말해요.</a:t>
            </a:r>
            <a:endParaRPr lang="ko-KR" sz="3000" dirty="0"/>
          </a:p>
        </p:txBody>
      </p:sp>
      <p:sp>
        <p:nvSpPr>
          <p:cNvPr id="4" name="S11-chip226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5" name="S11-eqtext227"/>
          <p:cNvSpPr txBox="1"/>
          <p:nvPr/>
        </p:nvSpPr>
        <p:spPr>
          <a:xfrm>
            <a:off x="1344168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24 × 4 = □</a:t>
            </a:r>
            <a:endParaRPr lang="ko-KR" sz="3400" dirty="0"/>
          </a:p>
        </p:txBody>
      </p:sp>
      <p:sp>
        <p:nvSpPr>
          <p:cNvPr id="6" name="S11-chip228"/>
          <p:cNvSpPr txBox="1"/>
          <p:nvPr/>
        </p:nvSpPr>
        <p:spPr>
          <a:xfrm>
            <a:off x="6277356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7" name="S11-eqtext229"/>
          <p:cNvSpPr txBox="1"/>
          <p:nvPr/>
        </p:nvSpPr>
        <p:spPr>
          <a:xfrm>
            <a:off x="7072884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38 × 2 = □</a:t>
            </a:r>
            <a:endParaRPr lang="ko-KR" sz="3400" dirty="0"/>
          </a:p>
        </p:txBody>
      </p:sp>
      <p:sp>
        <p:nvSpPr>
          <p:cNvPr id="8" name="S11-chip230"/>
          <p:cNvSpPr txBox="1"/>
          <p:nvPr/>
        </p:nvSpPr>
        <p:spPr>
          <a:xfrm>
            <a:off x="548640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9" name="S11-eqtext231"/>
          <p:cNvSpPr txBox="1"/>
          <p:nvPr/>
        </p:nvSpPr>
        <p:spPr>
          <a:xfrm>
            <a:off x="1344168" y="42062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63 × 5 = □</a:t>
            </a:r>
            <a:endParaRPr lang="ko-KR" sz="3400" dirty="0"/>
          </a:p>
        </p:txBody>
      </p:sp>
      <p:sp>
        <p:nvSpPr>
          <p:cNvPr id="10" name="S11-chip232"/>
          <p:cNvSpPr txBox="1"/>
          <p:nvPr/>
        </p:nvSpPr>
        <p:spPr>
          <a:xfrm>
            <a:off x="6277356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400" dirty="0"/>
          </a:p>
        </p:txBody>
      </p:sp>
      <p:sp>
        <p:nvSpPr>
          <p:cNvPr id="11" name="S11-eqtext233"/>
          <p:cNvSpPr txBox="1"/>
          <p:nvPr/>
        </p:nvSpPr>
        <p:spPr>
          <a:xfrm>
            <a:off x="7072884" y="42062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56 × 7 = □</a:t>
            </a:r>
            <a:endParaRPr lang="ko-KR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 정답</a:t>
            </a:r>
            <a:endParaRPr lang="ko-KR" sz="4000" dirty="0"/>
          </a:p>
        </p:txBody>
      </p:sp>
      <p:sp>
        <p:nvSpPr>
          <p:cNvPr id="3" name="S12-card23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2-cardtext23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틀린 문제는 자리별로 나누어 곱해 확인하게 하세요.</a:t>
            </a:r>
            <a:endParaRPr lang="ko-KR" sz="3000" dirty="0"/>
          </a:p>
        </p:txBody>
      </p:sp>
      <p:sp>
        <p:nvSpPr>
          <p:cNvPr id="5" name="S12-chip236"/>
          <p:cNvSpPr txBox="1"/>
          <p:nvPr/>
        </p:nvSpPr>
        <p:spPr>
          <a:xfrm>
            <a:off x="548640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E3F4F1"/>
          </a:solidFill>
          <a:ln>
            <a:solidFill>
              <a:srgbClr val="E3F4F1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정답</a:t>
            </a:r>
            <a:endParaRPr lang="ko-KR" sz="2400" dirty="0"/>
          </a:p>
        </p:txBody>
      </p:sp>
      <p:sp>
        <p:nvSpPr>
          <p:cNvPr id="6" name="S12-text237"/>
          <p:cNvSpPr txBox="1"/>
          <p:nvPr/>
        </p:nvSpPr>
        <p:spPr>
          <a:xfrm>
            <a:off x="548640" y="2057400"/>
            <a:ext cx="2681478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96</a:t>
            </a:r>
            <a:endParaRPr lang="ko-KR" sz="3000" dirty="0"/>
          </a:p>
        </p:txBody>
      </p:sp>
      <p:sp>
        <p:nvSpPr>
          <p:cNvPr id="7" name="S12-text238"/>
          <p:cNvSpPr txBox="1"/>
          <p:nvPr/>
        </p:nvSpPr>
        <p:spPr>
          <a:xfrm>
            <a:off x="3367278" y="2057400"/>
            <a:ext cx="2544318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× 4 = 16</a:t>
            </a:r>
            <a:endParaRPr lang="ko-KR" sz="2400" dirty="0"/>
          </a:p>
        </p:txBody>
      </p:sp>
      <p:sp>
        <p:nvSpPr>
          <p:cNvPr id="8" name="S12-text239"/>
          <p:cNvSpPr txBox="1"/>
          <p:nvPr/>
        </p:nvSpPr>
        <p:spPr>
          <a:xfrm>
            <a:off x="548640" y="2857500"/>
            <a:ext cx="2681478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76</a:t>
            </a:r>
            <a:endParaRPr lang="ko-KR" sz="3000" dirty="0"/>
          </a:p>
        </p:txBody>
      </p:sp>
      <p:sp>
        <p:nvSpPr>
          <p:cNvPr id="9" name="S12-text240"/>
          <p:cNvSpPr txBox="1"/>
          <p:nvPr/>
        </p:nvSpPr>
        <p:spPr>
          <a:xfrm>
            <a:off x="3367278" y="2857500"/>
            <a:ext cx="2544318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 × 2 = 16</a:t>
            </a:r>
            <a:endParaRPr lang="ko-KR" sz="2400" dirty="0"/>
          </a:p>
        </p:txBody>
      </p:sp>
      <p:sp>
        <p:nvSpPr>
          <p:cNvPr id="10" name="S12-text241"/>
          <p:cNvSpPr txBox="1"/>
          <p:nvPr/>
        </p:nvSpPr>
        <p:spPr>
          <a:xfrm>
            <a:off x="548640" y="3657600"/>
            <a:ext cx="2681478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315</a:t>
            </a:r>
            <a:endParaRPr lang="ko-KR" sz="3000" dirty="0"/>
          </a:p>
        </p:txBody>
      </p:sp>
      <p:sp>
        <p:nvSpPr>
          <p:cNvPr id="11" name="S12-text242"/>
          <p:cNvSpPr txBox="1"/>
          <p:nvPr/>
        </p:nvSpPr>
        <p:spPr>
          <a:xfrm>
            <a:off x="3367278" y="3657600"/>
            <a:ext cx="2544318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 × 5 = 30</a:t>
            </a:r>
            <a:endParaRPr lang="ko-KR" sz="2400" dirty="0"/>
          </a:p>
        </p:txBody>
      </p:sp>
      <p:sp>
        <p:nvSpPr>
          <p:cNvPr id="12" name="S12-text243"/>
          <p:cNvSpPr txBox="1"/>
          <p:nvPr/>
        </p:nvSpPr>
        <p:spPr>
          <a:xfrm>
            <a:off x="548640" y="4457700"/>
            <a:ext cx="2681478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 392</a:t>
            </a:r>
            <a:endParaRPr lang="ko-KR" sz="3000" dirty="0"/>
          </a:p>
        </p:txBody>
      </p:sp>
      <p:sp>
        <p:nvSpPr>
          <p:cNvPr id="13" name="S12-text244"/>
          <p:cNvSpPr txBox="1"/>
          <p:nvPr/>
        </p:nvSpPr>
        <p:spPr>
          <a:xfrm>
            <a:off x="3367278" y="4457700"/>
            <a:ext cx="2544318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35 + 4 = 39</a:t>
            </a:r>
            <a:endParaRPr lang="ko-KR" sz="2400" dirty="0"/>
          </a:p>
        </p:txBody>
      </p:sp>
      <p:sp>
        <p:nvSpPr>
          <p:cNvPr id="14" name="S12-chip245"/>
          <p:cNvSpPr txBox="1"/>
          <p:nvPr/>
        </p:nvSpPr>
        <p:spPr>
          <a:xfrm>
            <a:off x="6277356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FBE6E7"/>
          </a:solidFill>
          <a:ln>
            <a:solidFill>
              <a:srgbClr val="FBE6E7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흔한 실수</a:t>
            </a:r>
            <a:endParaRPr lang="ko-KR" sz="2400" dirty="0"/>
          </a:p>
        </p:txBody>
      </p:sp>
      <p:sp>
        <p:nvSpPr>
          <p:cNvPr id="15" name="S12-text246"/>
          <p:cNvSpPr txBox="1"/>
          <p:nvPr/>
        </p:nvSpPr>
        <p:spPr>
          <a:xfrm>
            <a:off x="6277356" y="20574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 352</a:t>
            </a:r>
            <a:endParaRPr lang="ko-KR" sz="3000" dirty="0"/>
          </a:p>
        </p:txBody>
      </p:sp>
      <p:sp>
        <p:nvSpPr>
          <p:cNvPr id="16" name="S12-text247"/>
          <p:cNvSpPr txBox="1"/>
          <p:nvPr/>
        </p:nvSpPr>
        <p:spPr>
          <a:xfrm>
            <a:off x="9095994" y="20574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올린 4를 빠뜨림</a:t>
            </a:r>
            <a:endParaRPr lang="ko-KR" sz="2400" dirty="0"/>
          </a:p>
        </p:txBody>
      </p:sp>
      <p:sp>
        <p:nvSpPr>
          <p:cNvPr id="17" name="S12-text248"/>
          <p:cNvSpPr txBox="1"/>
          <p:nvPr/>
        </p:nvSpPr>
        <p:spPr>
          <a:xfrm>
            <a:off x="6277356" y="34290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3015</a:t>
            </a:r>
            <a:endParaRPr lang="ko-KR" sz="3000" dirty="0"/>
          </a:p>
        </p:txBody>
      </p:sp>
      <p:sp>
        <p:nvSpPr>
          <p:cNvPr id="18" name="S12-text249"/>
          <p:cNvSpPr txBox="1"/>
          <p:nvPr/>
        </p:nvSpPr>
        <p:spPr>
          <a:xfrm>
            <a:off x="9095994" y="34290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15를 그대로 씀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바르게 나눈 것은?</a:t>
            </a:r>
            <a:endParaRPr lang="ko-KR" sz="4000" dirty="0"/>
          </a:p>
        </p:txBody>
      </p:sp>
      <p:sp>
        <p:nvSpPr>
          <p:cNvPr id="3" name="S13-text250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34 × 5를 자리별로 나누어 계산하려고 해요.</a:t>
            </a:r>
            <a:endParaRPr lang="ko-KR" sz="3000" dirty="0"/>
          </a:p>
        </p:txBody>
      </p:sp>
      <p:sp>
        <p:nvSpPr>
          <p:cNvPr id="4" name="S13-card25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13-cardtext25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바른 방법을 고르고, 34 × 5를 구해요.</a:t>
            </a:r>
            <a:endParaRPr lang="ko-KR" sz="3000" dirty="0"/>
          </a:p>
        </p:txBody>
      </p:sp>
      <p:sp>
        <p:nvSpPr>
          <p:cNvPr id="6" name="S13-chip253"/>
          <p:cNvSpPr txBox="1"/>
          <p:nvPr/>
        </p:nvSpPr>
        <p:spPr>
          <a:xfrm>
            <a:off x="1991868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000" dirty="0"/>
          </a:p>
        </p:txBody>
      </p:sp>
      <p:sp>
        <p:nvSpPr>
          <p:cNvPr id="7" name="S13-bigtext254"/>
          <p:cNvSpPr txBox="1"/>
          <p:nvPr/>
        </p:nvSpPr>
        <p:spPr>
          <a:xfrm>
            <a:off x="548640" y="2715768"/>
            <a:ext cx="3453384" cy="2404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30 × 5 + 4 × 5</a:t>
            </a:r>
            <a:endParaRPr lang="ko-KR" sz="3000" dirty="0"/>
          </a:p>
        </p:txBody>
      </p:sp>
      <p:sp>
        <p:nvSpPr>
          <p:cNvPr id="8" name="S13-chip255"/>
          <p:cNvSpPr txBox="1"/>
          <p:nvPr/>
        </p:nvSpPr>
        <p:spPr>
          <a:xfrm>
            <a:off x="5811012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000" dirty="0"/>
          </a:p>
        </p:txBody>
      </p:sp>
      <p:sp>
        <p:nvSpPr>
          <p:cNvPr id="9" name="S13-bigtext256"/>
          <p:cNvSpPr txBox="1"/>
          <p:nvPr/>
        </p:nvSpPr>
        <p:spPr>
          <a:xfrm>
            <a:off x="4367784" y="2715768"/>
            <a:ext cx="3453384" cy="2404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30 × 5 + 4</a:t>
            </a:r>
            <a:endParaRPr lang="ko-KR" sz="3000" dirty="0"/>
          </a:p>
        </p:txBody>
      </p:sp>
      <p:sp>
        <p:nvSpPr>
          <p:cNvPr id="10" name="S13-chip257"/>
          <p:cNvSpPr txBox="1"/>
          <p:nvPr/>
        </p:nvSpPr>
        <p:spPr>
          <a:xfrm>
            <a:off x="9630156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000" dirty="0"/>
          </a:p>
        </p:txBody>
      </p:sp>
      <p:sp>
        <p:nvSpPr>
          <p:cNvPr id="11" name="S13-bigtext258"/>
          <p:cNvSpPr txBox="1"/>
          <p:nvPr/>
        </p:nvSpPr>
        <p:spPr>
          <a:xfrm>
            <a:off x="8186928" y="2715768"/>
            <a:ext cx="3453384" cy="2404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× 5 + 4 × 5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000" dirty="0"/>
          </a:p>
        </p:txBody>
      </p:sp>
      <p:sp>
        <p:nvSpPr>
          <p:cNvPr id="3" name="S14-card259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4-cardtext260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일의 자리부터 곱하고, 올린 수는 곱한 다음 더해요.</a:t>
            </a:r>
            <a:endParaRPr lang="ko-KR" sz="3000" dirty="0"/>
          </a:p>
        </p:txBody>
      </p:sp>
      <p:sp>
        <p:nvSpPr>
          <p:cNvPr id="5" name="S14-chip261"/>
          <p:cNvSpPr txBox="1"/>
          <p:nvPr/>
        </p:nvSpPr>
        <p:spPr>
          <a:xfrm>
            <a:off x="548640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자리별로 나누어 곱하기</a:t>
            </a:r>
            <a:endParaRPr lang="ko-KR" sz="2400" dirty="0"/>
          </a:p>
        </p:txBody>
      </p:sp>
      <p:sp>
        <p:nvSpPr>
          <p:cNvPr id="6" name="S14-chip262"/>
          <p:cNvSpPr txBox="1"/>
          <p:nvPr/>
        </p:nvSpPr>
        <p:spPr>
          <a:xfrm>
            <a:off x="6208776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올린 수에도 곱하기</a:t>
            </a:r>
            <a:endParaRPr lang="ko-KR" sz="2400" dirty="0"/>
          </a:p>
        </p:txBody>
      </p:sp>
      <p:sp>
        <p:nvSpPr>
          <p:cNvPr id="7" name="S14-text263"/>
          <p:cNvSpPr txBox="1"/>
          <p:nvPr/>
        </p:nvSpPr>
        <p:spPr>
          <a:xfrm>
            <a:off x="548640" y="324612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400" dirty="0"/>
          </a:p>
        </p:txBody>
      </p:sp>
      <p:sp>
        <p:nvSpPr>
          <p:cNvPr id="8" name="S14-eqtext264"/>
          <p:cNvSpPr txBox="1"/>
          <p:nvPr/>
        </p:nvSpPr>
        <p:spPr>
          <a:xfrm>
            <a:off x="548640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45 × 2 = □</a:t>
            </a:r>
            <a:endParaRPr lang="ko-KR" sz="2800" dirty="0"/>
          </a:p>
        </p:txBody>
      </p:sp>
      <p:sp>
        <p:nvSpPr>
          <p:cNvPr id="9" name="S14-eqtext265"/>
          <p:cNvSpPr txBox="1"/>
          <p:nvPr/>
        </p:nvSpPr>
        <p:spPr>
          <a:xfrm>
            <a:off x="4322064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36 × 4 = □</a:t>
            </a:r>
            <a:endParaRPr lang="ko-KR" sz="2800" dirty="0"/>
          </a:p>
        </p:txBody>
      </p:sp>
      <p:sp>
        <p:nvSpPr>
          <p:cNvPr id="10" name="S14-eqtext266"/>
          <p:cNvSpPr txBox="1"/>
          <p:nvPr/>
        </p:nvSpPr>
        <p:spPr>
          <a:xfrm>
            <a:off x="8095488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73 × 6 = □</a:t>
            </a:r>
            <a:endParaRPr lang="ko-KR" sz="2800" dirty="0"/>
          </a:p>
        </p:txBody>
      </p:sp>
      <p:sp>
        <p:nvSpPr>
          <p:cNvPr id="11" name="S14-text267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(세 자리 수)×(한 자리 수)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아는 곱에서</a:t>
            </a:r>
            <a:endParaRPr lang="ko-KR" sz="4000" dirty="0"/>
          </a:p>
        </p:txBody>
      </p:sp>
      <p:sp>
        <p:nvSpPr>
          <p:cNvPr id="3" name="S15-text268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 × 5를 알면 6 × 7도 구해요.</a:t>
            </a:r>
            <a:endParaRPr lang="ko-KR" sz="3000" dirty="0"/>
          </a:p>
        </p:txBody>
      </p:sp>
      <p:sp>
        <p:nvSpPr>
          <p:cNvPr id="4" name="S15-card269"/>
          <p:cNvSpPr/>
          <p:nvPr/>
        </p:nvSpPr>
        <p:spPr>
          <a:xfrm>
            <a:off x="548640" y="4975860"/>
            <a:ext cx="5431536" cy="1242060"/>
          </a:xfrm>
          <a:prstGeom prst="roundRect">
            <a:avLst>
              <a:gd name="adj" fmla="val 883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15-cardtext270"/>
          <p:cNvSpPr txBox="1"/>
          <p:nvPr/>
        </p:nvSpPr>
        <p:spPr>
          <a:xfrm>
            <a:off x="822960" y="5113020"/>
            <a:ext cx="4882896" cy="967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 × 5 = 30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아는 곱에서 출발해요.</a:t>
            </a:r>
            <a:endParaRPr lang="ko-KR" sz="3000" dirty="0"/>
          </a:p>
        </p:txBody>
      </p:sp>
      <p:sp>
        <p:nvSpPr>
          <p:cNvPr id="6" name="S15-card271"/>
          <p:cNvSpPr/>
          <p:nvPr/>
        </p:nvSpPr>
        <p:spPr>
          <a:xfrm>
            <a:off x="6208776" y="4975860"/>
            <a:ext cx="5431536" cy="1242060"/>
          </a:xfrm>
          <a:prstGeom prst="roundRect">
            <a:avLst>
              <a:gd name="adj" fmla="val 883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15-cardtext272"/>
          <p:cNvSpPr txBox="1"/>
          <p:nvPr/>
        </p:nvSpPr>
        <p:spPr>
          <a:xfrm>
            <a:off x="6483096" y="5113020"/>
            <a:ext cx="4882896" cy="967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30 + 6 + 6 = 42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번 더 뛰면 6 × 7</a:t>
            </a:r>
            <a:endParaRPr lang="ko-KR" sz="3000" dirty="0"/>
          </a:p>
        </p:txBody>
      </p:sp>
      <p:sp>
        <p:nvSpPr>
          <p:cNvPr id="8" name="S15-line273"/>
          <p:cNvSpPr/>
          <p:nvPr/>
        </p:nvSpPr>
        <p:spPr>
          <a:xfrm>
            <a:off x="685800" y="3707740"/>
            <a:ext cx="10817352" cy="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  <a:headEnd type="triangle"/>
            <a:tailEnd type="triangle"/>
          </a:ln>
        </p:spPr>
      </p:sp>
      <p:sp>
        <p:nvSpPr>
          <p:cNvPr id="9" name="S15-line274"/>
          <p:cNvSpPr/>
          <p:nvPr/>
        </p:nvSpPr>
        <p:spPr>
          <a:xfrm>
            <a:off x="960120" y="356143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0" name="S15-label275"/>
          <p:cNvSpPr txBox="1"/>
          <p:nvPr/>
        </p:nvSpPr>
        <p:spPr>
          <a:xfrm>
            <a:off x="502920" y="3890620"/>
            <a:ext cx="914400" cy="396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ko-KR" sz="2400" dirty="0"/>
          </a:p>
        </p:txBody>
      </p:sp>
      <p:sp>
        <p:nvSpPr>
          <p:cNvPr id="11" name="S15-line276"/>
          <p:cNvSpPr/>
          <p:nvPr/>
        </p:nvSpPr>
        <p:spPr>
          <a:xfrm>
            <a:off x="2101088" y="356143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2" name="S15-label277"/>
          <p:cNvSpPr txBox="1"/>
          <p:nvPr/>
        </p:nvSpPr>
        <p:spPr>
          <a:xfrm>
            <a:off x="1643888" y="3890620"/>
            <a:ext cx="914400" cy="396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400" dirty="0"/>
          </a:p>
        </p:txBody>
      </p:sp>
      <p:sp>
        <p:nvSpPr>
          <p:cNvPr id="13" name="S15-line278"/>
          <p:cNvSpPr/>
          <p:nvPr/>
        </p:nvSpPr>
        <p:spPr>
          <a:xfrm>
            <a:off x="3242056" y="356143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4" name="S15-label279"/>
          <p:cNvSpPr txBox="1"/>
          <p:nvPr/>
        </p:nvSpPr>
        <p:spPr>
          <a:xfrm>
            <a:off x="2784856" y="3890620"/>
            <a:ext cx="914400" cy="396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2400" dirty="0"/>
          </a:p>
        </p:txBody>
      </p:sp>
      <p:sp>
        <p:nvSpPr>
          <p:cNvPr id="15" name="S15-line280"/>
          <p:cNvSpPr/>
          <p:nvPr/>
        </p:nvSpPr>
        <p:spPr>
          <a:xfrm>
            <a:off x="4383024" y="356143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6" name="S15-label281"/>
          <p:cNvSpPr txBox="1"/>
          <p:nvPr/>
        </p:nvSpPr>
        <p:spPr>
          <a:xfrm>
            <a:off x="3925824" y="3890620"/>
            <a:ext cx="914400" cy="396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18</a:t>
            </a:r>
            <a:endParaRPr lang="ko-KR" sz="2400" dirty="0"/>
          </a:p>
        </p:txBody>
      </p:sp>
      <p:sp>
        <p:nvSpPr>
          <p:cNvPr id="17" name="S15-line282"/>
          <p:cNvSpPr/>
          <p:nvPr/>
        </p:nvSpPr>
        <p:spPr>
          <a:xfrm>
            <a:off x="5523992" y="356143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8" name="S15-label283"/>
          <p:cNvSpPr txBox="1"/>
          <p:nvPr/>
        </p:nvSpPr>
        <p:spPr>
          <a:xfrm>
            <a:off x="5066792" y="3890620"/>
            <a:ext cx="914400" cy="396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24</a:t>
            </a:r>
            <a:endParaRPr lang="ko-KR" sz="2400" dirty="0"/>
          </a:p>
        </p:txBody>
      </p:sp>
      <p:sp>
        <p:nvSpPr>
          <p:cNvPr id="19" name="S15-line284"/>
          <p:cNvSpPr/>
          <p:nvPr/>
        </p:nvSpPr>
        <p:spPr>
          <a:xfrm>
            <a:off x="6664960" y="356143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0" name="S15-label285"/>
          <p:cNvSpPr txBox="1"/>
          <p:nvPr/>
        </p:nvSpPr>
        <p:spPr>
          <a:xfrm>
            <a:off x="6207760" y="3890620"/>
            <a:ext cx="914400" cy="396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30</a:t>
            </a:r>
            <a:endParaRPr lang="ko-KR" sz="2400" dirty="0"/>
          </a:p>
        </p:txBody>
      </p:sp>
      <p:sp>
        <p:nvSpPr>
          <p:cNvPr id="21" name="S15-line286"/>
          <p:cNvSpPr/>
          <p:nvPr/>
        </p:nvSpPr>
        <p:spPr>
          <a:xfrm>
            <a:off x="7805928" y="356143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2" name="S15-label287"/>
          <p:cNvSpPr txBox="1"/>
          <p:nvPr/>
        </p:nvSpPr>
        <p:spPr>
          <a:xfrm>
            <a:off x="7348728" y="3890620"/>
            <a:ext cx="914400" cy="396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36</a:t>
            </a:r>
            <a:endParaRPr lang="ko-KR" sz="2400" dirty="0"/>
          </a:p>
        </p:txBody>
      </p:sp>
      <p:sp>
        <p:nvSpPr>
          <p:cNvPr id="23" name="S15-line288"/>
          <p:cNvSpPr/>
          <p:nvPr/>
        </p:nvSpPr>
        <p:spPr>
          <a:xfrm>
            <a:off x="8946896" y="356143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4" name="S15-label289"/>
          <p:cNvSpPr txBox="1"/>
          <p:nvPr/>
        </p:nvSpPr>
        <p:spPr>
          <a:xfrm>
            <a:off x="8489696" y="3890620"/>
            <a:ext cx="914400" cy="396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42</a:t>
            </a:r>
            <a:endParaRPr lang="ko-KR" sz="2400" dirty="0"/>
          </a:p>
        </p:txBody>
      </p:sp>
      <p:sp>
        <p:nvSpPr>
          <p:cNvPr id="25" name="S15-line290"/>
          <p:cNvSpPr/>
          <p:nvPr/>
        </p:nvSpPr>
        <p:spPr>
          <a:xfrm>
            <a:off x="10087864" y="356143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6" name="S15-label291"/>
          <p:cNvSpPr txBox="1"/>
          <p:nvPr/>
        </p:nvSpPr>
        <p:spPr>
          <a:xfrm>
            <a:off x="9630664" y="3890620"/>
            <a:ext cx="914400" cy="396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48</a:t>
            </a:r>
            <a:endParaRPr lang="ko-KR" sz="2400" dirty="0"/>
          </a:p>
        </p:txBody>
      </p:sp>
      <p:sp>
        <p:nvSpPr>
          <p:cNvPr id="27" name="S15-line292"/>
          <p:cNvSpPr/>
          <p:nvPr/>
        </p:nvSpPr>
        <p:spPr>
          <a:xfrm>
            <a:off x="11228832" y="356143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8" name="S15-label293"/>
          <p:cNvSpPr txBox="1"/>
          <p:nvPr/>
        </p:nvSpPr>
        <p:spPr>
          <a:xfrm>
            <a:off x="10771632" y="3890620"/>
            <a:ext cx="914400" cy="396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54</a:t>
            </a:r>
            <a:endParaRPr lang="ko-KR" sz="2400" dirty="0"/>
          </a:p>
        </p:txBody>
      </p:sp>
      <p:sp>
        <p:nvSpPr>
          <p:cNvPr id="29" name="S15-mark294"/>
          <p:cNvSpPr/>
          <p:nvPr/>
        </p:nvSpPr>
        <p:spPr>
          <a:xfrm>
            <a:off x="6573520" y="3616300"/>
            <a:ext cx="182880" cy="18288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E9762B"/>
            </a:solidFill>
            <a:prstDash val="solid"/>
          </a:ln>
        </p:spPr>
      </p:sp>
      <p:sp>
        <p:nvSpPr>
          <p:cNvPr id="30" name="S15-mark295"/>
          <p:cNvSpPr/>
          <p:nvPr/>
        </p:nvSpPr>
        <p:spPr>
          <a:xfrm>
            <a:off x="8855456" y="3616300"/>
            <a:ext cx="182880" cy="18288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E9762B"/>
            </a:solidFill>
            <a:prstDash val="solid"/>
          </a:ln>
        </p:spPr>
      </p:sp>
      <p:sp>
        <p:nvSpPr>
          <p:cNvPr id="31" name="S15-line296"/>
          <p:cNvSpPr/>
          <p:nvPr/>
        </p:nvSpPr>
        <p:spPr>
          <a:xfrm flipV="1">
            <a:off x="6664960" y="3323692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32" name="S15-line297"/>
          <p:cNvSpPr/>
          <p:nvPr/>
        </p:nvSpPr>
        <p:spPr>
          <a:xfrm>
            <a:off x="6664960" y="3323692"/>
            <a:ext cx="1140968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33" name="S15-label298"/>
          <p:cNvSpPr txBox="1"/>
          <p:nvPr/>
        </p:nvSpPr>
        <p:spPr>
          <a:xfrm>
            <a:off x="6664960" y="2909164"/>
            <a:ext cx="1140968" cy="396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+6</a:t>
            </a:r>
            <a:endParaRPr lang="ko-KR" sz="2400" dirty="0"/>
          </a:p>
        </p:txBody>
      </p:sp>
      <p:sp>
        <p:nvSpPr>
          <p:cNvPr id="34" name="S15-line299"/>
          <p:cNvSpPr/>
          <p:nvPr/>
        </p:nvSpPr>
        <p:spPr>
          <a:xfrm flipV="1">
            <a:off x="7805928" y="3323692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35" name="S15-line300"/>
          <p:cNvSpPr/>
          <p:nvPr/>
        </p:nvSpPr>
        <p:spPr>
          <a:xfrm>
            <a:off x="7805928" y="3323692"/>
            <a:ext cx="1140968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36" name="S15-label301"/>
          <p:cNvSpPr txBox="1"/>
          <p:nvPr/>
        </p:nvSpPr>
        <p:spPr>
          <a:xfrm>
            <a:off x="7805928" y="2909164"/>
            <a:ext cx="1140968" cy="396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+6</a:t>
            </a:r>
            <a:endParaRPr lang="ko-KR" sz="2400" dirty="0"/>
          </a:p>
        </p:txBody>
      </p:sp>
      <p:sp>
        <p:nvSpPr>
          <p:cNvPr id="37" name="S15-figure302" descr="0부터 54까지 6씩 눈금 수직선에서 30에서 6씩 두 번 뛰어 42에 닿는 화살표"/>
          <p:cNvSpPr/>
          <p:nvPr/>
        </p:nvSpPr>
        <p:spPr>
          <a:xfrm>
            <a:off x="685800" y="3524860"/>
            <a:ext cx="10817352" cy="36576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초3 수학 (두 자리 수)×(한 자리 수)</dc:title>
  <dc:subject>KR22-G03-MAT-MUL2X1-L01</dc:subject>
  <dc:creator>education-ppt</dc:creator>
  <cp:lastModifiedBy>education-ppt</cp:lastModifiedBy>
  <cp:revision>1</cp:revision>
  <dcterms:created xsi:type="dcterms:W3CDTF">2026-10-26T07:34:07Z</dcterms:created>
  <dcterms:modified xsi:type="dcterms:W3CDTF">2026-10-26T07:34:07Z</dcterms:modified>
</cp:coreProperties>
</file>