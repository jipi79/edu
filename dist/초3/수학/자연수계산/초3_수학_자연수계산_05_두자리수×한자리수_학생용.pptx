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42a73c4-b818-f3e0-a133-e2b207789549}">
          <p14:sldIdLst>
            <p14:sldId id="256"/>
            <p14:sldId id="257"/>
          </p14:sldIdLst>
        </p14:section>
        <p14:section name="개념" id="{c2237de1-b743-94e4-4161-637ba93b2764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b5f282b2-6bc5-0caf-21ca-17501b92fe85}">
          <p14:sldIdLst>
            <p14:sldId id="262"/>
            <p14:sldId id="265"/>
          </p14:sldIdLst>
        </p14:section>
        <p14:section name="개념" id="{2b80d33b-83e2-3d62-6470-2935b29603f6}">
          <p14:sldIdLst/>
        </p14:section>
        <p14:section name="연습" id="{40eec163-1d62-f4f6-2cc7-13221e197a36}">
          <p14:sldIdLst/>
        </p14:section>
        <p14:section name="확인" id="{649bea85-ebc5-6deb-50f1-0002fbfbdf55}">
          <p14:sldIdLst>
            <p14:sldId id="266"/>
            <p14:sldId id="267"/>
          </p14:sldIdLst>
        </p14:section>
        <p14:section name="정리" id="{0000201e-0b24-0d18-4234-8c2de8b276cf}">
          <p14:sldIdLst>
            <p14:sldId id="268"/>
          </p14:sldIdLst>
        </p14:section>
        <p14:section name="보충" id="{2deb0f8b-99e1-ac4f-dc1f-fe395c968e6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(몇십몇)×(몇)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8839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자리별로 나누어 곱하고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올림이 있는 곱셈을 세로셈으로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+ 18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 곱하기 몇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3은 십 모형 2개씩 3묶음이에요.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6이니까 십 모형이 6개예요.</a:t>
            </a:r>
            <a:endParaRPr lang="ko-KR" sz="3000" dirty="0"/>
          </a:p>
        </p:txBody>
      </p:sp>
      <p:sp>
        <p:nvSpPr>
          <p:cNvPr id="6" name="S03-rod13"/>
          <p:cNvSpPr/>
          <p:nvPr/>
        </p:nvSpPr>
        <p:spPr>
          <a:xfrm>
            <a:off x="1944272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1944272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1944272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1944272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1944272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1944272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1944272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1944272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1944272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1944272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290572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290572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290572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290572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290572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290572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290572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290572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290572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290572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figure33" descr="십 모형 2개"/>
          <p:cNvSpPr/>
          <p:nvPr/>
        </p:nvSpPr>
        <p:spPr>
          <a:xfrm>
            <a:off x="548640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3-label34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8" name="S03-rod35"/>
          <p:cNvSpPr/>
          <p:nvPr/>
        </p:nvSpPr>
        <p:spPr>
          <a:xfrm>
            <a:off x="574817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574817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574817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574817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574817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574817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574817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574817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574817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574817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rod45"/>
          <p:cNvSpPr/>
          <p:nvPr/>
        </p:nvSpPr>
        <p:spPr>
          <a:xfrm>
            <a:off x="609447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609447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609447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609447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609447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609447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609447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609447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609447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609447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figure55" descr="십 모형 2개"/>
          <p:cNvSpPr/>
          <p:nvPr/>
        </p:nvSpPr>
        <p:spPr>
          <a:xfrm>
            <a:off x="4352544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03-label56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0" name="S03-rod57"/>
          <p:cNvSpPr/>
          <p:nvPr/>
        </p:nvSpPr>
        <p:spPr>
          <a:xfrm>
            <a:off x="955208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955208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955208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955208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955208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955208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955208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955208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955208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955208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rod67"/>
          <p:cNvSpPr/>
          <p:nvPr/>
        </p:nvSpPr>
        <p:spPr>
          <a:xfrm>
            <a:off x="989838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line68"/>
          <p:cNvSpPr/>
          <p:nvPr/>
        </p:nvSpPr>
        <p:spPr>
          <a:xfrm>
            <a:off x="989838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989838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989838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989838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989838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73"/>
          <p:cNvSpPr/>
          <p:nvPr/>
        </p:nvSpPr>
        <p:spPr>
          <a:xfrm>
            <a:off x="989838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989838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989838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989838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figure77" descr="십 모형 2개"/>
          <p:cNvSpPr/>
          <p:nvPr/>
        </p:nvSpPr>
        <p:spPr>
          <a:xfrm>
            <a:off x="8156448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3-label78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26씩 3묶음</a:t>
            </a:r>
            <a:endParaRPr lang="ko-KR" sz="4000" dirty="0"/>
          </a:p>
        </p:txBody>
      </p:sp>
      <p:sp>
        <p:nvSpPr>
          <p:cNvPr id="3" name="S04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3은 26이 3묶음이에요.</a:t>
            </a:r>
            <a:endParaRPr lang="ko-KR" sz="3000" dirty="0"/>
          </a:p>
        </p:txBody>
      </p:sp>
      <p:sp>
        <p:nvSpPr>
          <p:cNvPr id="4" name="S04-card8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6개, 일 18개 → 78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바꾸어요.</a:t>
            </a:r>
            <a:endParaRPr lang="ko-KR" sz="3000" dirty="0"/>
          </a:p>
        </p:txBody>
      </p:sp>
      <p:sp>
        <p:nvSpPr>
          <p:cNvPr id="6" name="S04-rod82"/>
          <p:cNvSpPr/>
          <p:nvPr/>
        </p:nvSpPr>
        <p:spPr>
          <a:xfrm>
            <a:off x="1707185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3"/>
          <p:cNvSpPr/>
          <p:nvPr/>
        </p:nvSpPr>
        <p:spPr>
          <a:xfrm>
            <a:off x="1707185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4"/>
          <p:cNvSpPr/>
          <p:nvPr/>
        </p:nvSpPr>
        <p:spPr>
          <a:xfrm>
            <a:off x="1707185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5"/>
          <p:cNvSpPr/>
          <p:nvPr/>
        </p:nvSpPr>
        <p:spPr>
          <a:xfrm>
            <a:off x="1707185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6"/>
          <p:cNvSpPr/>
          <p:nvPr/>
        </p:nvSpPr>
        <p:spPr>
          <a:xfrm>
            <a:off x="1707185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7"/>
          <p:cNvSpPr/>
          <p:nvPr/>
        </p:nvSpPr>
        <p:spPr>
          <a:xfrm>
            <a:off x="1707185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88"/>
          <p:cNvSpPr/>
          <p:nvPr/>
        </p:nvSpPr>
        <p:spPr>
          <a:xfrm>
            <a:off x="1707185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89"/>
          <p:cNvSpPr/>
          <p:nvPr/>
        </p:nvSpPr>
        <p:spPr>
          <a:xfrm>
            <a:off x="1707185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0"/>
          <p:cNvSpPr/>
          <p:nvPr/>
        </p:nvSpPr>
        <p:spPr>
          <a:xfrm>
            <a:off x="1707185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1"/>
          <p:cNvSpPr/>
          <p:nvPr/>
        </p:nvSpPr>
        <p:spPr>
          <a:xfrm>
            <a:off x="1707185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2"/>
          <p:cNvSpPr/>
          <p:nvPr/>
        </p:nvSpPr>
        <p:spPr>
          <a:xfrm>
            <a:off x="2029054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3"/>
          <p:cNvSpPr/>
          <p:nvPr/>
        </p:nvSpPr>
        <p:spPr>
          <a:xfrm>
            <a:off x="2029054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4"/>
          <p:cNvSpPr/>
          <p:nvPr/>
        </p:nvSpPr>
        <p:spPr>
          <a:xfrm>
            <a:off x="2029054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5"/>
          <p:cNvSpPr/>
          <p:nvPr/>
        </p:nvSpPr>
        <p:spPr>
          <a:xfrm>
            <a:off x="2029054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6"/>
          <p:cNvSpPr/>
          <p:nvPr/>
        </p:nvSpPr>
        <p:spPr>
          <a:xfrm>
            <a:off x="2029054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7"/>
          <p:cNvSpPr/>
          <p:nvPr/>
        </p:nvSpPr>
        <p:spPr>
          <a:xfrm>
            <a:off x="2029054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98"/>
          <p:cNvSpPr/>
          <p:nvPr/>
        </p:nvSpPr>
        <p:spPr>
          <a:xfrm>
            <a:off x="2029054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99"/>
          <p:cNvSpPr/>
          <p:nvPr/>
        </p:nvSpPr>
        <p:spPr>
          <a:xfrm>
            <a:off x="2029054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0"/>
          <p:cNvSpPr/>
          <p:nvPr/>
        </p:nvSpPr>
        <p:spPr>
          <a:xfrm>
            <a:off x="2029054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1"/>
          <p:cNvSpPr/>
          <p:nvPr/>
        </p:nvSpPr>
        <p:spPr>
          <a:xfrm>
            <a:off x="2029054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unit102"/>
          <p:cNvSpPr/>
          <p:nvPr/>
        </p:nvSpPr>
        <p:spPr>
          <a:xfrm>
            <a:off x="2350922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unit103"/>
          <p:cNvSpPr/>
          <p:nvPr/>
        </p:nvSpPr>
        <p:spPr>
          <a:xfrm>
            <a:off x="2350922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unit104"/>
          <p:cNvSpPr/>
          <p:nvPr/>
        </p:nvSpPr>
        <p:spPr>
          <a:xfrm>
            <a:off x="2350922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unit105"/>
          <p:cNvSpPr/>
          <p:nvPr/>
        </p:nvSpPr>
        <p:spPr>
          <a:xfrm>
            <a:off x="2350922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4-unit106"/>
          <p:cNvSpPr/>
          <p:nvPr/>
        </p:nvSpPr>
        <p:spPr>
          <a:xfrm>
            <a:off x="2350922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unit107"/>
          <p:cNvSpPr/>
          <p:nvPr/>
        </p:nvSpPr>
        <p:spPr>
          <a:xfrm>
            <a:off x="2612441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figure108" descr="십 모형 2개와 일 모형 6개"/>
          <p:cNvSpPr/>
          <p:nvPr/>
        </p:nvSpPr>
        <p:spPr>
          <a:xfrm>
            <a:off x="54864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4-label109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34" name="S04-rod110"/>
          <p:cNvSpPr/>
          <p:nvPr/>
        </p:nvSpPr>
        <p:spPr>
          <a:xfrm>
            <a:off x="5511089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line111"/>
          <p:cNvSpPr/>
          <p:nvPr/>
        </p:nvSpPr>
        <p:spPr>
          <a:xfrm>
            <a:off x="5511089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12"/>
          <p:cNvSpPr/>
          <p:nvPr/>
        </p:nvSpPr>
        <p:spPr>
          <a:xfrm>
            <a:off x="5511089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13"/>
          <p:cNvSpPr/>
          <p:nvPr/>
        </p:nvSpPr>
        <p:spPr>
          <a:xfrm>
            <a:off x="5511089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4"/>
          <p:cNvSpPr/>
          <p:nvPr/>
        </p:nvSpPr>
        <p:spPr>
          <a:xfrm>
            <a:off x="5511089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5"/>
          <p:cNvSpPr/>
          <p:nvPr/>
        </p:nvSpPr>
        <p:spPr>
          <a:xfrm>
            <a:off x="5511089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6"/>
          <p:cNvSpPr/>
          <p:nvPr/>
        </p:nvSpPr>
        <p:spPr>
          <a:xfrm>
            <a:off x="5511089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7"/>
          <p:cNvSpPr/>
          <p:nvPr/>
        </p:nvSpPr>
        <p:spPr>
          <a:xfrm>
            <a:off x="5511089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18"/>
          <p:cNvSpPr/>
          <p:nvPr/>
        </p:nvSpPr>
        <p:spPr>
          <a:xfrm>
            <a:off x="5511089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19"/>
          <p:cNvSpPr/>
          <p:nvPr/>
        </p:nvSpPr>
        <p:spPr>
          <a:xfrm>
            <a:off x="5511089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rod120"/>
          <p:cNvSpPr/>
          <p:nvPr/>
        </p:nvSpPr>
        <p:spPr>
          <a:xfrm>
            <a:off x="5832958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line121"/>
          <p:cNvSpPr/>
          <p:nvPr/>
        </p:nvSpPr>
        <p:spPr>
          <a:xfrm>
            <a:off x="5832958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122"/>
          <p:cNvSpPr/>
          <p:nvPr/>
        </p:nvSpPr>
        <p:spPr>
          <a:xfrm>
            <a:off x="5832958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23"/>
          <p:cNvSpPr/>
          <p:nvPr/>
        </p:nvSpPr>
        <p:spPr>
          <a:xfrm>
            <a:off x="5832958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4"/>
          <p:cNvSpPr/>
          <p:nvPr/>
        </p:nvSpPr>
        <p:spPr>
          <a:xfrm>
            <a:off x="5832958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5"/>
          <p:cNvSpPr/>
          <p:nvPr/>
        </p:nvSpPr>
        <p:spPr>
          <a:xfrm>
            <a:off x="5832958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26"/>
          <p:cNvSpPr/>
          <p:nvPr/>
        </p:nvSpPr>
        <p:spPr>
          <a:xfrm>
            <a:off x="5832958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27"/>
          <p:cNvSpPr/>
          <p:nvPr/>
        </p:nvSpPr>
        <p:spPr>
          <a:xfrm>
            <a:off x="5832958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28"/>
          <p:cNvSpPr/>
          <p:nvPr/>
        </p:nvSpPr>
        <p:spPr>
          <a:xfrm>
            <a:off x="5832958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29"/>
          <p:cNvSpPr/>
          <p:nvPr/>
        </p:nvSpPr>
        <p:spPr>
          <a:xfrm>
            <a:off x="5832958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unit130"/>
          <p:cNvSpPr/>
          <p:nvPr/>
        </p:nvSpPr>
        <p:spPr>
          <a:xfrm>
            <a:off x="6154826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unit131"/>
          <p:cNvSpPr/>
          <p:nvPr/>
        </p:nvSpPr>
        <p:spPr>
          <a:xfrm>
            <a:off x="6154826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unit132"/>
          <p:cNvSpPr/>
          <p:nvPr/>
        </p:nvSpPr>
        <p:spPr>
          <a:xfrm>
            <a:off x="6154826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unit133"/>
          <p:cNvSpPr/>
          <p:nvPr/>
        </p:nvSpPr>
        <p:spPr>
          <a:xfrm>
            <a:off x="6154826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unit134"/>
          <p:cNvSpPr/>
          <p:nvPr/>
        </p:nvSpPr>
        <p:spPr>
          <a:xfrm>
            <a:off x="6154826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unit135"/>
          <p:cNvSpPr/>
          <p:nvPr/>
        </p:nvSpPr>
        <p:spPr>
          <a:xfrm>
            <a:off x="6416345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4-figure136" descr="십 모형 2개와 일 모형 6개"/>
          <p:cNvSpPr/>
          <p:nvPr/>
        </p:nvSpPr>
        <p:spPr>
          <a:xfrm>
            <a:off x="4352544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04-label137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62" name="S04-rod138"/>
          <p:cNvSpPr/>
          <p:nvPr/>
        </p:nvSpPr>
        <p:spPr>
          <a:xfrm>
            <a:off x="9314993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4-line139"/>
          <p:cNvSpPr/>
          <p:nvPr/>
        </p:nvSpPr>
        <p:spPr>
          <a:xfrm>
            <a:off x="9314993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0"/>
          <p:cNvSpPr/>
          <p:nvPr/>
        </p:nvSpPr>
        <p:spPr>
          <a:xfrm>
            <a:off x="9314993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1"/>
          <p:cNvSpPr/>
          <p:nvPr/>
        </p:nvSpPr>
        <p:spPr>
          <a:xfrm>
            <a:off x="9314993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ine142"/>
          <p:cNvSpPr/>
          <p:nvPr/>
        </p:nvSpPr>
        <p:spPr>
          <a:xfrm>
            <a:off x="9314993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3"/>
          <p:cNvSpPr/>
          <p:nvPr/>
        </p:nvSpPr>
        <p:spPr>
          <a:xfrm>
            <a:off x="9314993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4"/>
          <p:cNvSpPr/>
          <p:nvPr/>
        </p:nvSpPr>
        <p:spPr>
          <a:xfrm>
            <a:off x="9314993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5"/>
          <p:cNvSpPr/>
          <p:nvPr/>
        </p:nvSpPr>
        <p:spPr>
          <a:xfrm>
            <a:off x="9314993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46"/>
          <p:cNvSpPr/>
          <p:nvPr/>
        </p:nvSpPr>
        <p:spPr>
          <a:xfrm>
            <a:off x="9314993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47"/>
          <p:cNvSpPr/>
          <p:nvPr/>
        </p:nvSpPr>
        <p:spPr>
          <a:xfrm>
            <a:off x="9314993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rod148"/>
          <p:cNvSpPr/>
          <p:nvPr/>
        </p:nvSpPr>
        <p:spPr>
          <a:xfrm>
            <a:off x="9636862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4-line149"/>
          <p:cNvSpPr/>
          <p:nvPr/>
        </p:nvSpPr>
        <p:spPr>
          <a:xfrm>
            <a:off x="9636862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0"/>
          <p:cNvSpPr/>
          <p:nvPr/>
        </p:nvSpPr>
        <p:spPr>
          <a:xfrm>
            <a:off x="9636862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1"/>
          <p:cNvSpPr/>
          <p:nvPr/>
        </p:nvSpPr>
        <p:spPr>
          <a:xfrm>
            <a:off x="9636862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line152"/>
          <p:cNvSpPr/>
          <p:nvPr/>
        </p:nvSpPr>
        <p:spPr>
          <a:xfrm>
            <a:off x="9636862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line153"/>
          <p:cNvSpPr/>
          <p:nvPr/>
        </p:nvSpPr>
        <p:spPr>
          <a:xfrm>
            <a:off x="9636862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line154"/>
          <p:cNvSpPr/>
          <p:nvPr/>
        </p:nvSpPr>
        <p:spPr>
          <a:xfrm>
            <a:off x="9636862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line155"/>
          <p:cNvSpPr/>
          <p:nvPr/>
        </p:nvSpPr>
        <p:spPr>
          <a:xfrm>
            <a:off x="9636862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line156"/>
          <p:cNvSpPr/>
          <p:nvPr/>
        </p:nvSpPr>
        <p:spPr>
          <a:xfrm>
            <a:off x="9636862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line157"/>
          <p:cNvSpPr/>
          <p:nvPr/>
        </p:nvSpPr>
        <p:spPr>
          <a:xfrm>
            <a:off x="9636862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4-unit158"/>
          <p:cNvSpPr/>
          <p:nvPr/>
        </p:nvSpPr>
        <p:spPr>
          <a:xfrm>
            <a:off x="9958730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59"/>
          <p:cNvSpPr/>
          <p:nvPr/>
        </p:nvSpPr>
        <p:spPr>
          <a:xfrm>
            <a:off x="9958730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0"/>
          <p:cNvSpPr/>
          <p:nvPr/>
        </p:nvSpPr>
        <p:spPr>
          <a:xfrm>
            <a:off x="9958730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unit161"/>
          <p:cNvSpPr/>
          <p:nvPr/>
        </p:nvSpPr>
        <p:spPr>
          <a:xfrm>
            <a:off x="9958730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4-unit162"/>
          <p:cNvSpPr/>
          <p:nvPr/>
        </p:nvSpPr>
        <p:spPr>
          <a:xfrm>
            <a:off x="9958730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4-unit163"/>
          <p:cNvSpPr/>
          <p:nvPr/>
        </p:nvSpPr>
        <p:spPr>
          <a:xfrm>
            <a:off x="10220249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4-figure164" descr="십 모형 2개와 일 모형 6개"/>
          <p:cNvSpPr/>
          <p:nvPr/>
        </p:nvSpPr>
        <p:spPr>
          <a:xfrm>
            <a:off x="8156448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04-label165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곱해요</a:t>
            </a:r>
            <a:endParaRPr lang="ko-KR" sz="4000" dirty="0"/>
          </a:p>
        </p:txBody>
      </p:sp>
      <p:sp>
        <p:nvSpPr>
          <p:cNvPr id="3" name="S05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3을 자리별로 곱해요.</a:t>
            </a:r>
            <a:endParaRPr lang="ko-KR" sz="3000" dirty="0"/>
          </a:p>
        </p:txBody>
      </p:sp>
      <p:sp>
        <p:nvSpPr>
          <p:cNvPr id="4" name="S05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2는 20을 나타내요.</a:t>
            </a:r>
            <a:endParaRPr lang="ko-KR" sz="3000" dirty="0"/>
          </a:p>
        </p:txBody>
      </p:sp>
      <p:graphicFrame>
        <p:nvGraphicFramePr>
          <p:cNvPr id="6" name="S05-table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3629" y="2103120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170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71"/>
          <p:cNvSpPr txBox="1"/>
          <p:nvPr/>
        </p:nvSpPr>
        <p:spPr>
          <a:xfrm>
            <a:off x="1325880" y="25786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× 3 = 18</a:t>
            </a:r>
            <a:endParaRPr lang="ko-KR" sz="3000" dirty="0"/>
          </a:p>
        </p:txBody>
      </p:sp>
      <p:sp>
        <p:nvSpPr>
          <p:cNvPr id="9" name="S05-stepno172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73"/>
          <p:cNvSpPr txBox="1"/>
          <p:nvPr/>
        </p:nvSpPr>
        <p:spPr>
          <a:xfrm>
            <a:off x="1325880" y="329184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20 × 3 = 60</a:t>
            </a:r>
            <a:endParaRPr lang="ko-KR" sz="3000" dirty="0"/>
          </a:p>
        </p:txBody>
      </p:sp>
      <p:sp>
        <p:nvSpPr>
          <p:cNvPr id="11" name="S05-stepno174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75"/>
          <p:cNvSpPr txBox="1"/>
          <p:nvPr/>
        </p:nvSpPr>
        <p:spPr>
          <a:xfrm>
            <a:off x="1325880" y="40050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더하기: 18 + 60 = 78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쓰는 세로셈</a:t>
            </a:r>
            <a:endParaRPr lang="ko-KR" sz="4000" dirty="0"/>
          </a:p>
        </p:txBody>
      </p:sp>
      <p:sp>
        <p:nvSpPr>
          <p:cNvPr id="3" name="S06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3을 짧게 써요.</a:t>
            </a:r>
            <a:endParaRPr lang="ko-KR" sz="3000" dirty="0"/>
          </a:p>
        </p:txBody>
      </p:sp>
      <p:sp>
        <p:nvSpPr>
          <p:cNvPr id="4" name="S06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1은 십 모형 1개예요.</a:t>
            </a:r>
            <a:endParaRPr lang="ko-KR" sz="3000" dirty="0"/>
          </a:p>
        </p:txBody>
      </p:sp>
      <p:graphicFrame>
        <p:nvGraphicFramePr>
          <p:cNvPr id="7" name="S06-table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421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180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181"/>
          <p:cNvSpPr txBox="1"/>
          <p:nvPr/>
        </p:nvSpPr>
        <p:spPr>
          <a:xfrm>
            <a:off x="1325880" y="2388108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× 3 = 18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쓰고 1을 올려요.</a:t>
            </a:r>
            <a:endParaRPr lang="ko-KR" sz="3000" dirty="0"/>
          </a:p>
        </p:txBody>
      </p:sp>
      <p:sp>
        <p:nvSpPr>
          <p:cNvPr id="9" name="S06-stepno182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183"/>
          <p:cNvSpPr txBox="1"/>
          <p:nvPr/>
        </p:nvSpPr>
        <p:spPr>
          <a:xfrm>
            <a:off x="1325880" y="34823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 × 3 = 6</a:t>
            </a:r>
            <a:endParaRPr lang="ko-KR" sz="3000" dirty="0"/>
          </a:p>
        </p:txBody>
      </p:sp>
      <p:sp>
        <p:nvSpPr>
          <p:cNvPr id="11" name="S06-stepno184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185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+ 1 = 7, 곱은 78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1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곱의 십을 십의 자리 위에 올려요.</a:t>
            </a:r>
            <a:endParaRPr lang="ko-KR" sz="3000" dirty="0"/>
          </a:p>
        </p:txBody>
      </p:sp>
      <p:sp>
        <p:nvSpPr>
          <p:cNvPr id="5" name="S07-card188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89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8" name="S07-table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523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7-chip19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192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× 4 = □</a:t>
            </a:r>
            <a:endParaRPr lang="ko-KR" sz="3400" dirty="0"/>
          </a:p>
        </p:txBody>
      </p:sp>
      <p:sp>
        <p:nvSpPr>
          <p:cNvPr id="10" name="S07-chip19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194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× 2 = □</a:t>
            </a:r>
            <a:endParaRPr lang="ko-KR" sz="3400" dirty="0"/>
          </a:p>
        </p:txBody>
      </p:sp>
      <p:sp>
        <p:nvSpPr>
          <p:cNvPr id="12" name="S07-chip19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196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세 자리 수</a:t>
            </a:r>
            <a:endParaRPr lang="ko-KR" sz="4000" dirty="0"/>
          </a:p>
        </p:txBody>
      </p:sp>
      <p:sp>
        <p:nvSpPr>
          <p:cNvPr id="3" name="S08-text1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× 4를 세로셈으로 해요.</a:t>
            </a:r>
            <a:endParaRPr lang="ko-KR" sz="3000" dirty="0"/>
          </a:p>
        </p:txBody>
      </p:sp>
      <p:sp>
        <p:nvSpPr>
          <p:cNvPr id="4" name="S08-card1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곱이 10을 넘으면 백의 자리에 써요.</a:t>
            </a:r>
            <a:endParaRPr lang="ko-KR" sz="3000" dirty="0"/>
          </a:p>
        </p:txBody>
      </p:sp>
      <p:graphicFrame>
        <p:nvGraphicFramePr>
          <p:cNvPr id="9" name="S08-table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469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0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02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 × 4 = 8</a:t>
            </a:r>
            <a:endParaRPr lang="ko-KR" sz="3000" dirty="0"/>
          </a:p>
        </p:txBody>
      </p:sp>
      <p:sp>
        <p:nvSpPr>
          <p:cNvPr id="9" name="S08-stepno20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04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× 4 = 20</a:t>
            </a:r>
            <a:endParaRPr lang="ko-KR" sz="3000" dirty="0"/>
          </a:p>
        </p:txBody>
      </p:sp>
      <p:sp>
        <p:nvSpPr>
          <p:cNvPr id="11" name="S08-stepno20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06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20개는 백 2개: 208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올림이 있고 곱이 커요</a:t>
            </a:r>
            <a:endParaRPr lang="ko-KR" sz="4000" dirty="0"/>
          </a:p>
        </p:txBody>
      </p:sp>
      <p:sp>
        <p:nvSpPr>
          <p:cNvPr id="3" name="S09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6을 세로셈으로 해요.</a:t>
            </a:r>
            <a:endParaRPr lang="ko-KR" sz="3000" dirty="0"/>
          </a:p>
        </p:txBody>
      </p:sp>
      <p:sp>
        <p:nvSpPr>
          <p:cNvPr id="4" name="S09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곱한 다음에 더해요.</a:t>
            </a:r>
            <a:endParaRPr lang="ko-KR" sz="3000" dirty="0"/>
          </a:p>
        </p:txBody>
      </p:sp>
      <p:graphicFrame>
        <p:nvGraphicFramePr>
          <p:cNvPr id="10" name="S09-table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421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211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212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6 = 42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4를 올려요.</a:t>
            </a:r>
            <a:endParaRPr lang="ko-KR" sz="3000" dirty="0"/>
          </a:p>
        </p:txBody>
      </p:sp>
      <p:sp>
        <p:nvSpPr>
          <p:cNvPr id="9" name="S09-stepno213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214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× 6 = 24</a:t>
            </a:r>
            <a:endParaRPr lang="ko-KR" sz="3000" dirty="0"/>
          </a:p>
        </p:txBody>
      </p:sp>
      <p:sp>
        <p:nvSpPr>
          <p:cNvPr id="11" name="S09-stepno215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216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+ 4 = 28, 곱은 282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2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× 4를 세로셈으로 했어요.</a:t>
            </a:r>
            <a:endParaRPr lang="ko-KR" sz="3000" dirty="0"/>
          </a:p>
        </p:txBody>
      </p:sp>
      <p:sp>
        <p:nvSpPr>
          <p:cNvPr id="5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 확인하고, 누가 맞았는지 말해요.</a:t>
            </a:r>
            <a:endParaRPr lang="ko-KR" sz="3000" dirty="0"/>
          </a:p>
        </p:txBody>
      </p:sp>
      <p:sp>
        <p:nvSpPr>
          <p:cNvPr id="7" name="S10-chip2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242</a:t>
            </a:r>
            <a:endParaRPr lang="ko-KR" sz="2400" dirty="0"/>
          </a:p>
        </p:txBody>
      </p:sp>
      <p:sp>
        <p:nvSpPr>
          <p:cNvPr id="8" name="S10-text2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3을 먼저 더해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+ 3) × 4 = 24를 썼어요.</a:t>
            </a:r>
            <a:endParaRPr lang="ko-KR" sz="3000" dirty="0"/>
          </a:p>
        </p:txBody>
      </p:sp>
      <p:sp>
        <p:nvSpPr>
          <p:cNvPr id="9" name="S10-chip2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152</a:t>
            </a:r>
            <a:endParaRPr lang="ko-KR" sz="2400" dirty="0"/>
          </a:p>
        </p:txBody>
      </p:sp>
      <p:sp>
        <p:nvSpPr>
          <p:cNvPr id="10" name="S10-text2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12에 올린 3을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 15를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올림을 말해요.</a:t>
            </a:r>
            <a:endParaRPr lang="ko-KR" sz="3000" dirty="0"/>
          </a:p>
        </p:txBody>
      </p:sp>
      <p:sp>
        <p:nvSpPr>
          <p:cNvPr id="4" name="S11-chip2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2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4 = □</a:t>
            </a:r>
            <a:endParaRPr lang="ko-KR" sz="3400" dirty="0"/>
          </a:p>
        </p:txBody>
      </p:sp>
      <p:sp>
        <p:nvSpPr>
          <p:cNvPr id="6" name="S11-chip2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2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× 2 = □</a:t>
            </a:r>
            <a:endParaRPr lang="ko-KR" sz="3400" dirty="0"/>
          </a:p>
        </p:txBody>
      </p:sp>
      <p:sp>
        <p:nvSpPr>
          <p:cNvPr id="8" name="S11-chip23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23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 × 5 = □</a:t>
            </a:r>
            <a:endParaRPr lang="ko-KR" sz="3400" dirty="0"/>
          </a:p>
        </p:txBody>
      </p:sp>
      <p:sp>
        <p:nvSpPr>
          <p:cNvPr id="10" name="S11-chip23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eqtext23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× 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3-text2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5를 자리별로 나누어 계산하려고 해요.</a:t>
            </a:r>
            <a:endParaRPr lang="ko-KR" sz="3000" dirty="0"/>
          </a:p>
        </p:txBody>
      </p:sp>
      <p:sp>
        <p:nvSpPr>
          <p:cNvPr id="4" name="S13-card2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방법을 고르고, 34 × 5를 구해요.</a:t>
            </a:r>
            <a:endParaRPr lang="ko-KR" sz="3000" dirty="0"/>
          </a:p>
        </p:txBody>
      </p:sp>
      <p:sp>
        <p:nvSpPr>
          <p:cNvPr id="6" name="S13-chip23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238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+ 4 × 5</a:t>
            </a:r>
            <a:endParaRPr lang="ko-KR" sz="3000" dirty="0"/>
          </a:p>
        </p:txBody>
      </p:sp>
      <p:sp>
        <p:nvSpPr>
          <p:cNvPr id="8" name="S13-chip23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240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+ 4</a:t>
            </a:r>
            <a:endParaRPr lang="ko-KR" sz="3000" dirty="0"/>
          </a:p>
        </p:txBody>
      </p:sp>
      <p:sp>
        <p:nvSpPr>
          <p:cNvPr id="10" name="S13-chip24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242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+ 4 ×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곱하고, 올린 수는 곱한 다음 더해요.</a:t>
            </a:r>
            <a:endParaRPr lang="ko-KR" sz="3000" dirty="0"/>
          </a:p>
        </p:txBody>
      </p:sp>
      <p:sp>
        <p:nvSpPr>
          <p:cNvPr id="5" name="S14-chip24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자리별로 나누어 곱하기</a:t>
            </a:r>
            <a:endParaRPr lang="ko-KR" sz="2400" dirty="0"/>
          </a:p>
        </p:txBody>
      </p:sp>
      <p:sp>
        <p:nvSpPr>
          <p:cNvPr id="6" name="S14-chip24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수에도 곱하기</a:t>
            </a:r>
            <a:endParaRPr lang="ko-KR" sz="2400" dirty="0"/>
          </a:p>
        </p:txBody>
      </p:sp>
      <p:sp>
        <p:nvSpPr>
          <p:cNvPr id="7" name="S14-text24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24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45 × 2 = □</a:t>
            </a:r>
            <a:endParaRPr lang="ko-KR" sz="2800" dirty="0"/>
          </a:p>
        </p:txBody>
      </p:sp>
      <p:sp>
        <p:nvSpPr>
          <p:cNvPr id="9" name="S14-eqtext24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36 × 4 = □</a:t>
            </a:r>
            <a:endParaRPr lang="ko-KR" sz="2800" dirty="0"/>
          </a:p>
        </p:txBody>
      </p:sp>
      <p:sp>
        <p:nvSpPr>
          <p:cNvPr id="10" name="S14-eqtext25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73 × 6 = □</a:t>
            </a:r>
            <a:endParaRPr lang="ko-KR" sz="2800" dirty="0"/>
          </a:p>
        </p:txBody>
      </p:sp>
      <p:sp>
        <p:nvSpPr>
          <p:cNvPr id="11" name="S14-text25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수)×(한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아는 곱에서</a:t>
            </a:r>
            <a:endParaRPr lang="ko-KR" sz="4000" dirty="0"/>
          </a:p>
        </p:txBody>
      </p:sp>
      <p:sp>
        <p:nvSpPr>
          <p:cNvPr id="3" name="S15-text2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5를 알면 6 × 7도 구해요.</a:t>
            </a:r>
            <a:endParaRPr lang="ko-KR" sz="3000" dirty="0"/>
          </a:p>
        </p:txBody>
      </p:sp>
      <p:sp>
        <p:nvSpPr>
          <p:cNvPr id="4" name="S15-card253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54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 = 30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곱에서 출발해요.</a:t>
            </a:r>
            <a:endParaRPr lang="ko-KR" sz="3000" dirty="0"/>
          </a:p>
        </p:txBody>
      </p:sp>
      <p:sp>
        <p:nvSpPr>
          <p:cNvPr id="6" name="S15-card255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56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+ 6 + 6 = 42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더 뛰면 6 × 7</a:t>
            </a:r>
            <a:endParaRPr lang="ko-KR" sz="3000" dirty="0"/>
          </a:p>
        </p:txBody>
      </p:sp>
      <p:sp>
        <p:nvSpPr>
          <p:cNvPr id="8" name="S15-line257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258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259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5-line260"/>
          <p:cNvSpPr/>
          <p:nvPr/>
        </p:nvSpPr>
        <p:spPr>
          <a:xfrm>
            <a:off x="210108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261"/>
          <p:cNvSpPr txBox="1"/>
          <p:nvPr/>
        </p:nvSpPr>
        <p:spPr>
          <a:xfrm>
            <a:off x="164388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3" name="S15-line262"/>
          <p:cNvSpPr/>
          <p:nvPr/>
        </p:nvSpPr>
        <p:spPr>
          <a:xfrm>
            <a:off x="324205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263"/>
          <p:cNvSpPr txBox="1"/>
          <p:nvPr/>
        </p:nvSpPr>
        <p:spPr>
          <a:xfrm>
            <a:off x="278485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" name="S15-line264"/>
          <p:cNvSpPr/>
          <p:nvPr/>
        </p:nvSpPr>
        <p:spPr>
          <a:xfrm>
            <a:off x="438302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65"/>
          <p:cNvSpPr txBox="1"/>
          <p:nvPr/>
        </p:nvSpPr>
        <p:spPr>
          <a:xfrm>
            <a:off x="392582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17" name="S15-line266"/>
          <p:cNvSpPr/>
          <p:nvPr/>
        </p:nvSpPr>
        <p:spPr>
          <a:xfrm>
            <a:off x="552399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267"/>
          <p:cNvSpPr txBox="1"/>
          <p:nvPr/>
        </p:nvSpPr>
        <p:spPr>
          <a:xfrm>
            <a:off x="506679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19" name="S15-line268"/>
          <p:cNvSpPr/>
          <p:nvPr/>
        </p:nvSpPr>
        <p:spPr>
          <a:xfrm>
            <a:off x="666496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269"/>
          <p:cNvSpPr txBox="1"/>
          <p:nvPr/>
        </p:nvSpPr>
        <p:spPr>
          <a:xfrm>
            <a:off x="620776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1" name="S15-line270"/>
          <p:cNvSpPr/>
          <p:nvPr/>
        </p:nvSpPr>
        <p:spPr>
          <a:xfrm>
            <a:off x="780592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71"/>
          <p:cNvSpPr txBox="1"/>
          <p:nvPr/>
        </p:nvSpPr>
        <p:spPr>
          <a:xfrm>
            <a:off x="734872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400" dirty="0"/>
          </a:p>
        </p:txBody>
      </p:sp>
      <p:sp>
        <p:nvSpPr>
          <p:cNvPr id="23" name="S15-line272"/>
          <p:cNvSpPr/>
          <p:nvPr/>
        </p:nvSpPr>
        <p:spPr>
          <a:xfrm>
            <a:off x="894689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273"/>
          <p:cNvSpPr txBox="1"/>
          <p:nvPr/>
        </p:nvSpPr>
        <p:spPr>
          <a:xfrm>
            <a:off x="848969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400" dirty="0"/>
          </a:p>
        </p:txBody>
      </p:sp>
      <p:sp>
        <p:nvSpPr>
          <p:cNvPr id="25" name="S15-line274"/>
          <p:cNvSpPr/>
          <p:nvPr/>
        </p:nvSpPr>
        <p:spPr>
          <a:xfrm>
            <a:off x="1008786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275"/>
          <p:cNvSpPr txBox="1"/>
          <p:nvPr/>
        </p:nvSpPr>
        <p:spPr>
          <a:xfrm>
            <a:off x="963066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400" dirty="0"/>
          </a:p>
        </p:txBody>
      </p:sp>
      <p:sp>
        <p:nvSpPr>
          <p:cNvPr id="27" name="S15-line276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277"/>
          <p:cNvSpPr txBox="1"/>
          <p:nvPr/>
        </p:nvSpPr>
        <p:spPr>
          <a:xfrm>
            <a:off x="1077163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400" dirty="0"/>
          </a:p>
        </p:txBody>
      </p:sp>
      <p:sp>
        <p:nvSpPr>
          <p:cNvPr id="29" name="S15-mark278"/>
          <p:cNvSpPr/>
          <p:nvPr/>
        </p:nvSpPr>
        <p:spPr>
          <a:xfrm>
            <a:off x="657352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mark279"/>
          <p:cNvSpPr/>
          <p:nvPr/>
        </p:nvSpPr>
        <p:spPr>
          <a:xfrm>
            <a:off x="8855456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5-line280"/>
          <p:cNvSpPr/>
          <p:nvPr/>
        </p:nvSpPr>
        <p:spPr>
          <a:xfrm flipV="1">
            <a:off x="666496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5-line281"/>
          <p:cNvSpPr/>
          <p:nvPr/>
        </p:nvSpPr>
        <p:spPr>
          <a:xfrm>
            <a:off x="6664960" y="3323692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5-label282"/>
          <p:cNvSpPr txBox="1"/>
          <p:nvPr/>
        </p:nvSpPr>
        <p:spPr>
          <a:xfrm>
            <a:off x="6664960" y="2909164"/>
            <a:ext cx="114096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</a:t>
            </a:r>
            <a:endParaRPr lang="ko-KR" sz="2400" dirty="0"/>
          </a:p>
        </p:txBody>
      </p:sp>
      <p:sp>
        <p:nvSpPr>
          <p:cNvPr id="34" name="S15-line283"/>
          <p:cNvSpPr/>
          <p:nvPr/>
        </p:nvSpPr>
        <p:spPr>
          <a:xfrm flipV="1">
            <a:off x="7805928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15-line284"/>
          <p:cNvSpPr/>
          <p:nvPr/>
        </p:nvSpPr>
        <p:spPr>
          <a:xfrm>
            <a:off x="7805928" y="3323692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15-label285"/>
          <p:cNvSpPr txBox="1"/>
          <p:nvPr/>
        </p:nvSpPr>
        <p:spPr>
          <a:xfrm>
            <a:off x="7805928" y="2909164"/>
            <a:ext cx="114096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</a:t>
            </a:r>
            <a:endParaRPr lang="ko-KR" sz="2400" dirty="0"/>
          </a:p>
        </p:txBody>
      </p:sp>
      <p:sp>
        <p:nvSpPr>
          <p:cNvPr id="37" name="S15-figure286" descr="0부터 54까지 6씩 눈금 수직선에서 30에서 6씩 두 번 뛰어 42에 닿는 화살표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(두 자리 수)×(한 자리 수)</dc:title>
  <dc:subject>KR22-G03-MAT-MUL2X1-L01</dc:subject>
  <dc:creator>education-ppt</dc:creator>
  <cp:lastModifiedBy>education-ppt</cp:lastModifiedBy>
  <cp:revision>1</cp:revision>
  <dcterms:created xsi:type="dcterms:W3CDTF">2026-10-26T07:34:08Z</dcterms:created>
  <dcterms:modified xsi:type="dcterms:W3CDTF">2026-10-26T07:34:08Z</dcterms:modified>
</cp:coreProperties>
</file>