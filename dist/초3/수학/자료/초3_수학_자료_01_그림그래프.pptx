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5064a1dd-57a6-a1ba-0809-3ba802b02f0a}">
          <p14:sldIdLst>
            <p14:sldId id="256"/>
            <p14:sldId id="257"/>
          </p14:sldIdLst>
        </p14:section>
        <p14:section name="개념" id="{0946dd00-0a60-e17f-6f01-f1f8c82cbdae}">
          <p14:sldIdLst>
            <p14:sldId id="258"/>
            <p14:sldId id="259"/>
            <p14:sldId id="260"/>
            <p14:sldId id="261"/>
          </p14:sldIdLst>
        </p14:section>
        <p14:section name="연습" id="{7fb753c2-a8ed-7274-6011-18f6782907f3}">
          <p14:sldIdLst>
            <p14:sldId id="262"/>
            <p14:sldId id="263"/>
            <p14:sldId id="264"/>
          </p14:sldIdLst>
        </p14:section>
        <p14:section name="확인" id="{5e4da753-247a-b53f-7873-8c880ed83757}">
          <p14:sldIdLst>
            <p14:sldId id="265"/>
            <p14:sldId id="266"/>
            <p14:sldId id="267"/>
          </p14:sldIdLst>
        </p14:section>
        <p14:section name="정리" id="{3b8cf228-fedd-91d7-7073-fb116770ba5a}">
          <p14:sldIdLst>
            <p14:sldId id="268"/>
          </p14:sldIdLst>
        </p14:section>
        <p14:section name="보충" id="{d5c6ef56-a9b8-f33f-f3b2-8baed1676ef3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[S01 · 오늘의 질문과 목표]
목적: 오늘 할 일을 알려 주고, 큰 수도 그림으로 간단히 나타낼 수 있다는 것에 관심을 갖게 합니다.
시간: 약 2분
이렇게 말해 보세요
- “오른쪽 그래프에는 큰 동그라미와 작은 동그라미가 있어. 무엇이 다를까?”
- “어느 마을에 학생이 가장 많은 것 같아? 오늘은 이런 그래프를 읽고 그려 볼 거야.”
예상 답
- “큰 것도 있고 작은 것도 있어요.” “다 마을이요.” 어떤 답이든 괜찮습니다.
막히면
- 답을 확인하지 않고 넘어갑니다. S03부터 차례로 배웁니다.
주의
- 오른쪽 그림은 S03에서 다시 크게 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[S02 · 선수 학습 확인(몇십몇, 표의 합계)]
목적: 그림그래프를 읽고 그리는 데 필요한 몇십몇의 자릿값(10이 몇 개, 1이 몇 개)과 초2에서 배운 표의 합계를 확인합니다.
시간: 약 3분
이렇게 말해 보세요
- “① 10이 3개, 1이 4개이면 얼마야?”
- “② 27은 10이 몇 개, 1이 몇 개야?”
- “③ 표의 합계는 얼마일까?”
정답
- ① 34
- ② 10이 2개, 1이 7개
- ③ 12
막히면
- ①②가 어려우면 S14(보충)를 먼저 합니다.
- ③이 어려우면 초2 ‘표와 그래프’(KR22-G02-MAT-TABLEGRAPH-L01)를 다시 봅니다.
주의
- ①②의 생각이 오늘 큰 그림(10)과 작은 그림(1)으로 그대로 이어집니다.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[S03 · 그림그래프와 그림의 약속]
목적: 그림그래프는 큰 그림과 작은 그림으로 수를 나타낸 그래프이고, 큰 그림은 10, 작은 그림은 1을 나타낸다는 약속을 압니다.
시간: 약 3분
이렇게 말해 보세요
- “그래프 아래를 볼까? 큰 동그라미는 10명, 작은 동그라미는 1명이래.”
- “지난 학년의 ○ 그래프는 ○ 하나가 1명이었지? 41명을 ○ 그래프로 그리면 ○를 몇 개 그려야 할까?”
- “그림그래프로는 큰 동그라미 4개와 작은 동그라미 1개면 돼.”
예상 답
- “41개요. 너무 많아요.” “큰 것 4개, 작은 것 1개요.”
막히면
- 큰 바둑돌 1개를 작은 바둑돌 10개와 바꾸는 놀이를 합니다.
주의
- 화면의 큰 원(색칠)은 ●, 작은 원(흰색)은 ○로 말합니다. 그래프마다 약속이 다를 수 있으니 늘 약속부터 읽게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[S04 · 그림그래프 읽기 시범]
목적: 큰 그림은 10씩, 작은 그림은 1씩 세어 그림그래프를 수로 읽는 방법을 보여 줍니다.
시간: 약 3분
이렇게 말해 보세요
- “가 마을 줄을 볼까? 큰 동그라미가 몇 개야? 10, 20, 30.”
- “작은 동그라미는 몇 개야? 31, 32. 가 마을은 32명이야.”
- “나, 다, 라 마을도 읽어 볼래?”
예상 답
- “가 마을 32명이요.” “나 25명, 다 41명, 라 17명이에요.”
막히면
- 큰 그림을 먼저 손가락으로 짚으며 “10, 20, 30”, 이어서 작은 그림을 “31, 32”로 이어 셉니다.
주의
- 큰 ● 3개와 작은 ○ 2개를 5명이라고 하면 M1입니다. 약속을 다시 읽게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[S05 · 그림그래프 그리기 시범]
목적: 표의 수를 10이 몇 개, 1이 몇 개로 가른 뒤 큰 그림과 작은 그림으로 그리는 방법을 보여 줍니다.
시간: 약 4분
이렇게 말해 보세요
- “반별 학급 문고 책 수를 그림그래프로 그려 보자. 먼저 큰 그림과 작은 그림이 얼마를 나타낼지 정해.”
- “1반은 23권이야. 10이 몇 개, 1이 몇 개지? 그래서 큰 동그라미 2개, 작은 동그라미 3개를 그렸어.”
- “2반과 3반은 어떻게 그릴지는 S08에서 해 보자. 다른 반도 같은 방법으로 그리면 돼.”
예상 답
- “10이 2개, 1이 3개요.”
막히면
- 큰 바둑돌 2개와 작은 바둑돌 3개를 놓아 보게 합니다.
주의
- 그래프의 제목(무엇을 조사했는지)과 그림의 약속을 함께 쓰는 것도 그림그래프를 그리는 순서입니다.
- 지치면 여기서 쉬고, 다음에 S06부터 이어도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[S06 · 그림그래프로 비교하기]
목적: 큰 그림의 수를 먼저 비교해 가장 많은 것과 적은 것을 찾고, 두 마을의 차이를 구합니다. 표와 비교한 그림그래프의 좋은 점도 말합니다.
시간: 약 3분
이렇게 말해 보세요
- “가장 많은 마을은 어디야? 어떻게 바로 알았어?”
- “가장 적은 마을은? 다 마을은 가 마을보다 몇 명 더 많아?”
- “표로 나타낼 때보다 무엇이 좋을까?”
예상 답
- “다 마을이요. 큰 동그라미가 제일 많아요.” “라 마을이 가장 적어요.” “9명 더 많아요.” “한눈에 보여요.”
막히면
- 큰 동그라미 수를 마을마다 세어 손가락으로 표시한 뒤 비교합니다.
주의
- 표는 정확한 수와 합계를 알기 쉽고, 그림그래프는 많고 적음을 한눈에 알기 쉽습니다. 두 가지를 모두 말하면 좋습니다.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[S07 · 오개념 비교(그림의 개수로 비교하기)]
목적: 그림의 개수가 많은 줄이 더 많다고 생각하는 실수를 찾고 바로잡습니다(M2).
시간: 약 2분
이렇게 말해 보세요
- “토끼는 그림의 개수를 세었고, 곰은 큰 동그라미를 보았어. 누가 맞았을까?”
- “가 마을과 라 마을은 각각 몇 명이야?”
예상 답
- “곰이요. 큰 동그라미 하나가 10명이라서요.”
정답
- 곰이 맞습니다. 가 마을은 32명, 라 마을은 17명이므로 가 마을이 15명 더 많습니다.
- 라 마을은 그림이 8개지만 큰 ●가 1개뿐입니다. 큰 그림의 수를 먼저 비교해야 합니다.
막히면
- 두 마을을 수로 읽어(S04처럼) 비교한 뒤, 큰 그림 수만 보아도 같은 결과가 나온다는 것을 보여 줍니다.
주의
- 큰 그림의 수가 같을 때만 작은 그림으로 비교합니다. S09에서 해 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[S08 · 안내받는 연습(그림그래프 그리기)]
목적: 도움을 받으며 수를 10이 몇 개, 1이 몇 개로 갈라 그릴 그림의 수를 정하고, 그림을 수로 읽습니다.
시간: 약 5분
이렇게 말해 보세요
- “① 34는 10이 몇 개, 1이 몇 개야? 그럼 큰 동그라미와 작은 동그라미를 몇 개씩 그릴까?”
- “② 18은?”
- “③ 큰 동그라미 4개, 작은 동그라미 6개면 몇 권이야?”
- “이제 종이에 2반과 3반 줄을 그려 그래프를 완성해 볼까?”
정답
- ① 큰 ● 3개, 작은 ○ 4개
- ② 큰 ● 1개, 작은 ○ 8개
- ③ 46권
막히면
- ①을 큰 ● 4개, 작은 ○ 3개라고 하면 34를 30과 4로 가르게 합니다(M3).
- 종이에 큰 동그라미는 크게 색칠해서, 작은 동그라미는 작게 그리도록 시범을 보입니다.
주의
- 완성한 그래프에서 3반(큰 ● 1개)이 1반(큰 ● 2개)보다 적은지 확인하면 S07의 생각도 함께 다질 수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[S09 · 안내받는 연습(그림그래프 읽고 비교하기)]
목적: 도움을 받으며 그림그래프에서 가장 많은 것을 찾고, 큰 그림 수가 같을 때 작은 그림으로 비교하며, 차이를 구합니다.
시간: 약 4분
이렇게 말해 보세요
- “① 큰 동그라미가 가장 많은 가게는?”
- “② 가와 다는 큰 동그라미가 3개로 같아. 그럼 무엇으로 비교할까?”
- “③ 나 가게와 다 가게는 각각 몇 개야? 몇 개 차이야?”
정답
- ① 나 가게(43개)
- ② 가 가게(36개 &gt; 32개, 큰 ●는 같고 작은 ○가 6개와 2개)
- ③ 11개(43 − 32)
막히면
- 가게마다 수를 먼저 읽어 종이에 쓰고 비교합니다.
주의
- ②처럼 큰 그림 수가 같으면 작은 그림으로 비교한다는 것을 꼭 말하게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[S10 · 혼자 해결]
목적: 도움 없이 그림그래프를 수로 읽고(①), 가장 많은 것·적은 것을 찾으며(②), 차이를 구하는지(③) 확인합니다.
시간: 약 5분
이렇게 말해 보세요
- “이번에는 혼자 해 볼래? ①은 종이에 표를 그려 써도 돼. 다 하면 어떻게 읽었는지 말해 줘.”
정답
- ① 가 34마리, 나 52마리, 다 27마리, 라 40마리
- ② 가장 많은 농장: 나, 가장 적은 농장: 다
- ③ 25마리(52 − 27)
막히면
- 바로 알려 주지 말고 “약속부터 읽어 볼까?”라고만 말합니다.
- 도움을 받아 해결했다면 기록표에 ‘도움’으로 표시합니다.
주의
- 라 농장은 작은 ○ 없이 큰 ● 4개뿐입니다(40마리). 4마리라고 하면 M1입니다.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[S11 · 정답과 피드백]
목적: 아이의 답을 함께 확인하고 흔한 실수를 바로잡습니다. 수업용에만 있는 장입니다.
시간: 약 2분
이렇게 말해 보세요
- “네 답과 같은지 볼까? 다르면 어느 줄에서 달라졌는지 찾아보자.”
정답
- ① 가 34, 나 52, 다 27, 라 40 ② 가장 많은 농장 나, 가장 적은 농장 다 ③ 25마리
막히면
- ①이 틀리면 S04로 돌아갑니다(M1).
- ②를 그림 개수로 고르면 S07로 돌아갑니다(M2).
주의
- 이 장은 학생용 파일에는 없습니다. 아이와 함께 볼 때는 슬라이드 쇼로 보여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[S12 · 마무리 확인(42명을 그림으로)]
목적: 처음 보는 문제에서 수를 10이 몇 개, 1이 몇 개로 갈라 알맞은 그림을 고르는지 확인합니다.
시간: 약 2분
이렇게 말해 보세요
- “42명을 그림그래프로 나타낸 것은 어느 것일까? 다른 것은 몇 명을 나타낼까?”
정답
- 나(큰 ● 4개, 작은 ○ 2개). 42는 10이 4개, 1이 2개입니다.
- 가는 24명(자리를 바꿈), 다는 60명(4와 2를 모두 큰 그림으로 그림)입니다.
막히면
- 42를 40과 2로 가르게 한 뒤 다시 고르게 합니다.
주의
- 가를 고르면 M3입니다. 기록표에 적어 두고 다음 수업 복습 때 다시 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[S13 · 정리와 다음 수업 복습]
목적: 핵심을 정리하고 다음 수업 첫 5분에 풀 복습 문제를 알려 줍니다(복습 문제의 약속은 큰 ● 10명, 작은 ○ 1명).
시간: 약 1분
이렇게 말해 보세요
- “오늘 배운 것을 말해 볼래? 큰 동그라미와 작은 동그라미는 각각 몇 명이었지? 무엇부터 세어야 해?”
예상 답
- “큰 것은 10명, 작은 것은 1명이요.” “큰 것부터 세요.”
정답
- ① 35명 ② 큰 ● 2개, 작은 ○ 6개 ③ 많고 적음이 한눈에 보이고, 큰 수도 간단히 나타낼 수 있다(둘 중 하나면 맞음)
막히면
- S03과 S07을 다시 보여 줍니다.
주의
- 복습 세 문제는 다음 수업을 시작할 때 활동지 마지막 쪽과 함께 풉니다.
- 초3 수학의 마지막 차시입니다. 다음은 초4 첫 차시 ‘만과 다섯 자리 수’입니다.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[S14 · 선수 학습 보충(10씩 묶어 세기)]
목적: S02 ①②가 흔들리면 몇십몇을 10이 몇 개, 1이 몇 개로 나타내는 것부터 다시 합니다. 오늘의 큰 그림(10)과 작은 그림(1)이 십 모형·일 모형과 같은 생각입니다.
시간: 약 5분
이렇게 말해 보세요
- “긴 막대 하나는 10이야. 몇 개 있어? 작은 조각은 몇 개야? 모두 얼마일까?”
- “이번엔 27을 바둑돌로 나타내 볼까? 10개씩 묶음 몇 개와 낱개 몇 개?”
정답
- 34
- 27 = 10개씩 묶음 2개, 낱개 7개
막히면
- 바둑돌을 10개씩 접시에 담아 묶음을 직접 만들어 셉니다.
주의
- 보충으로도 어려우면 초1 ‘100까지의 수’(KR22-G01-MAT-NUM100-L01)를 먼저 합니다. 이 차시의 선수 차시는 초2 ‘표와 그래프’(KR22-G02-MAT-TABLEGRAPH-L01)입니다.
- 보충이 오래 걸리면 오늘은 여기까지 하고 다음 날 S02부터 다시 시작합니다.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초3 수학 · 자료 · 1차시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초3 수학 · 그림그래프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초3 수학 · 그림그래프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초3 수학 · 그림그래프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그림그래프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마을에 학생이 가장 많을까?</a:t>
            </a:r>
            <a:endParaRPr lang="ko-KR" sz="3000" dirty="0"/>
          </a:p>
        </p:txBody>
      </p:sp>
      <p:sp>
        <p:nvSpPr>
          <p:cNvPr id="4" name="S01-panel1"/>
          <p:cNvSpPr/>
          <p:nvPr/>
        </p:nvSpPr>
        <p:spPr>
          <a:xfrm>
            <a:off x="7543800" y="502920"/>
            <a:ext cx="4206240" cy="320040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01-figure2" descr="그림그래프(마을별 학생 수): 큰 원 = 10명, 작은 원 = 1명. 가 큰 원 3개·작은 원 2개(32명), 나 큰 원 2개·작은 원 5개(25명), 다 큰 원 4개·작은 원 1개(41명), 라 큰 원 1개·작은 원 7개(17명)"/>
          <p:cNvSpPr/>
          <p:nvPr/>
        </p:nvSpPr>
        <p:spPr>
          <a:xfrm>
            <a:off x="8232899" y="1113306"/>
            <a:ext cx="2828041" cy="395926"/>
          </a:xfrm>
          <a:custGeom>
            <a:avLst/>
            <a:gdLst/>
            <a:ahLst/>
            <a:cxnLst/>
            <a:rect l="l" t="t" r="r" b="b"/>
            <a:pathLst>
              <a:path w="2828041" h="395926">
                <a:moveTo>
                  <a:pt x="0" y="0"/>
                </a:moveTo>
                <a:lnTo>
                  <a:pt x="2828041" y="0"/>
                </a:lnTo>
                <a:lnTo>
                  <a:pt x="2828041" y="395926"/>
                </a:lnTo>
                <a:lnTo>
                  <a:pt x="0" y="395926"/>
                </a:lnTo>
                <a:close/>
              </a:path>
            </a:pathLst>
          </a:custGeom>
          <a:solidFill>
            <a:srgbClr val="EAF3F1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6" name="S01-mark3"/>
          <p:cNvSpPr/>
          <p:nvPr/>
        </p:nvSpPr>
        <p:spPr>
          <a:xfrm>
            <a:off x="8232899" y="1113306"/>
            <a:ext cx="2828041" cy="1979629"/>
          </a:xfrm>
          <a:custGeom>
            <a:avLst/>
            <a:gdLst/>
            <a:ahLst/>
            <a:cxnLst/>
            <a:rect l="l" t="t" r="r" b="b"/>
            <a:pathLst>
              <a:path w="2828041" h="1979629">
                <a:moveTo>
                  <a:pt x="0" y="0"/>
                </a:moveTo>
                <a:lnTo>
                  <a:pt x="2828041" y="0"/>
                </a:lnTo>
                <a:lnTo>
                  <a:pt x="2828041" y="1979629"/>
                </a:lnTo>
                <a:lnTo>
                  <a:pt x="0" y="1979629"/>
                </a:lnTo>
                <a:close/>
              </a:path>
            </a:pathLst>
          </a:cu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7" name="S01-mark4"/>
          <p:cNvSpPr/>
          <p:nvPr/>
        </p:nvSpPr>
        <p:spPr>
          <a:xfrm>
            <a:off x="9194433" y="1565792"/>
            <a:ext cx="282804" cy="282804"/>
          </a:xfrm>
          <a:prstGeom prst="ellipse">
            <a:avLst/>
          </a:prstGeom>
          <a:solidFill>
            <a:srgbClr val="E9762B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8" name="S01-mark5"/>
          <p:cNvSpPr/>
          <p:nvPr/>
        </p:nvSpPr>
        <p:spPr>
          <a:xfrm>
            <a:off x="9519658" y="1565792"/>
            <a:ext cx="282804" cy="282804"/>
          </a:xfrm>
          <a:prstGeom prst="ellipse">
            <a:avLst/>
          </a:prstGeom>
          <a:solidFill>
            <a:srgbClr val="E9762B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9" name="S01-mark6"/>
          <p:cNvSpPr/>
          <p:nvPr/>
        </p:nvSpPr>
        <p:spPr>
          <a:xfrm>
            <a:off x="9844883" y="1565792"/>
            <a:ext cx="282804" cy="282804"/>
          </a:xfrm>
          <a:prstGeom prst="ellipse">
            <a:avLst/>
          </a:prstGeom>
          <a:solidFill>
            <a:srgbClr val="E9762B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10" name="S01-mark7"/>
          <p:cNvSpPr/>
          <p:nvPr/>
        </p:nvSpPr>
        <p:spPr>
          <a:xfrm>
            <a:off x="10226668" y="1636493"/>
            <a:ext cx="141402" cy="141402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11" name="S01-mark8"/>
          <p:cNvSpPr/>
          <p:nvPr/>
        </p:nvSpPr>
        <p:spPr>
          <a:xfrm>
            <a:off x="10402007" y="1636493"/>
            <a:ext cx="141402" cy="141402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12" name="S01-mark9"/>
          <p:cNvSpPr/>
          <p:nvPr/>
        </p:nvSpPr>
        <p:spPr>
          <a:xfrm>
            <a:off x="9194433" y="1961718"/>
            <a:ext cx="282804" cy="282804"/>
          </a:xfrm>
          <a:prstGeom prst="ellipse">
            <a:avLst/>
          </a:prstGeom>
          <a:solidFill>
            <a:srgbClr val="E9762B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13" name="S01-mark10"/>
          <p:cNvSpPr/>
          <p:nvPr/>
        </p:nvSpPr>
        <p:spPr>
          <a:xfrm>
            <a:off x="9519658" y="1961718"/>
            <a:ext cx="282804" cy="282804"/>
          </a:xfrm>
          <a:prstGeom prst="ellipse">
            <a:avLst/>
          </a:prstGeom>
          <a:solidFill>
            <a:srgbClr val="E9762B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14" name="S01-mark11"/>
          <p:cNvSpPr/>
          <p:nvPr/>
        </p:nvSpPr>
        <p:spPr>
          <a:xfrm>
            <a:off x="9901444" y="2032419"/>
            <a:ext cx="141402" cy="141402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15" name="S01-mark12"/>
          <p:cNvSpPr/>
          <p:nvPr/>
        </p:nvSpPr>
        <p:spPr>
          <a:xfrm>
            <a:off x="10076782" y="2032419"/>
            <a:ext cx="141402" cy="141402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16" name="S01-mark13"/>
          <p:cNvSpPr/>
          <p:nvPr/>
        </p:nvSpPr>
        <p:spPr>
          <a:xfrm>
            <a:off x="10252121" y="2032419"/>
            <a:ext cx="141402" cy="141402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17" name="S01-mark14"/>
          <p:cNvSpPr/>
          <p:nvPr/>
        </p:nvSpPr>
        <p:spPr>
          <a:xfrm>
            <a:off x="10427459" y="2032419"/>
            <a:ext cx="141402" cy="141402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18" name="S01-mark15"/>
          <p:cNvSpPr/>
          <p:nvPr/>
        </p:nvSpPr>
        <p:spPr>
          <a:xfrm>
            <a:off x="10602798" y="2032419"/>
            <a:ext cx="141402" cy="141402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19" name="S01-mark16"/>
          <p:cNvSpPr/>
          <p:nvPr/>
        </p:nvSpPr>
        <p:spPr>
          <a:xfrm>
            <a:off x="9194433" y="2357644"/>
            <a:ext cx="282804" cy="282804"/>
          </a:xfrm>
          <a:prstGeom prst="ellipse">
            <a:avLst/>
          </a:prstGeom>
          <a:solidFill>
            <a:srgbClr val="E9762B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20" name="S01-mark17"/>
          <p:cNvSpPr/>
          <p:nvPr/>
        </p:nvSpPr>
        <p:spPr>
          <a:xfrm>
            <a:off x="9519658" y="2357644"/>
            <a:ext cx="282804" cy="282804"/>
          </a:xfrm>
          <a:prstGeom prst="ellipse">
            <a:avLst/>
          </a:prstGeom>
          <a:solidFill>
            <a:srgbClr val="E9762B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21" name="S01-mark18"/>
          <p:cNvSpPr/>
          <p:nvPr/>
        </p:nvSpPr>
        <p:spPr>
          <a:xfrm>
            <a:off x="9844883" y="2357644"/>
            <a:ext cx="282804" cy="282804"/>
          </a:xfrm>
          <a:prstGeom prst="ellipse">
            <a:avLst/>
          </a:prstGeom>
          <a:solidFill>
            <a:srgbClr val="E9762B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22" name="S01-mark19"/>
          <p:cNvSpPr/>
          <p:nvPr/>
        </p:nvSpPr>
        <p:spPr>
          <a:xfrm>
            <a:off x="10170108" y="2357644"/>
            <a:ext cx="282804" cy="282804"/>
          </a:xfrm>
          <a:prstGeom prst="ellipse">
            <a:avLst/>
          </a:prstGeom>
          <a:solidFill>
            <a:srgbClr val="E9762B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23" name="S01-mark20"/>
          <p:cNvSpPr/>
          <p:nvPr/>
        </p:nvSpPr>
        <p:spPr>
          <a:xfrm>
            <a:off x="10551893" y="2428345"/>
            <a:ext cx="141402" cy="141402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24" name="S01-mark21"/>
          <p:cNvSpPr/>
          <p:nvPr/>
        </p:nvSpPr>
        <p:spPr>
          <a:xfrm>
            <a:off x="9194433" y="2753569"/>
            <a:ext cx="282804" cy="282804"/>
          </a:xfrm>
          <a:prstGeom prst="ellipse">
            <a:avLst/>
          </a:prstGeom>
          <a:solidFill>
            <a:srgbClr val="E9762B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25" name="S01-mark22"/>
          <p:cNvSpPr/>
          <p:nvPr/>
        </p:nvSpPr>
        <p:spPr>
          <a:xfrm>
            <a:off x="9576219" y="2824271"/>
            <a:ext cx="141402" cy="141402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26" name="S01-mark23"/>
          <p:cNvSpPr/>
          <p:nvPr/>
        </p:nvSpPr>
        <p:spPr>
          <a:xfrm>
            <a:off x="9751558" y="2824271"/>
            <a:ext cx="141402" cy="141402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27" name="S01-mark24"/>
          <p:cNvSpPr/>
          <p:nvPr/>
        </p:nvSpPr>
        <p:spPr>
          <a:xfrm>
            <a:off x="9926896" y="2824271"/>
            <a:ext cx="141402" cy="141402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28" name="S01-mark25"/>
          <p:cNvSpPr/>
          <p:nvPr/>
        </p:nvSpPr>
        <p:spPr>
          <a:xfrm>
            <a:off x="10102235" y="2824271"/>
            <a:ext cx="141402" cy="141402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29" name="S01-mark26"/>
          <p:cNvSpPr/>
          <p:nvPr/>
        </p:nvSpPr>
        <p:spPr>
          <a:xfrm>
            <a:off x="10277573" y="2824271"/>
            <a:ext cx="141402" cy="141402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30" name="S01-mark27"/>
          <p:cNvSpPr/>
          <p:nvPr/>
        </p:nvSpPr>
        <p:spPr>
          <a:xfrm>
            <a:off x="10452912" y="2824271"/>
            <a:ext cx="141402" cy="141402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31" name="S01-mark28"/>
          <p:cNvSpPr/>
          <p:nvPr/>
        </p:nvSpPr>
        <p:spPr>
          <a:xfrm>
            <a:off x="10628250" y="2824271"/>
            <a:ext cx="141402" cy="141402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32" name="S01-mark29"/>
          <p:cNvSpPr/>
          <p:nvPr/>
        </p:nvSpPr>
        <p:spPr>
          <a:xfrm>
            <a:off x="9104219" y="3191916"/>
            <a:ext cx="282804" cy="282804"/>
          </a:xfrm>
          <a:prstGeom prst="ellipse">
            <a:avLst/>
          </a:prstGeom>
          <a:solidFill>
            <a:srgbClr val="E9762B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33" name="S01-mark30"/>
          <p:cNvSpPr/>
          <p:nvPr/>
        </p:nvSpPr>
        <p:spPr>
          <a:xfrm>
            <a:off x="10343749" y="3262617"/>
            <a:ext cx="141402" cy="141402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34" name="S01-mark31"/>
          <p:cNvSpPr/>
          <p:nvPr/>
        </p:nvSpPr>
        <p:spPr>
          <a:xfrm>
            <a:off x="8232899" y="1905157"/>
            <a:ext cx="2828041" cy="0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35" name="S01-mark32"/>
          <p:cNvSpPr/>
          <p:nvPr/>
        </p:nvSpPr>
        <p:spPr>
          <a:xfrm>
            <a:off x="8232899" y="2301083"/>
            <a:ext cx="2828041" cy="0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36" name="S01-mark33"/>
          <p:cNvSpPr/>
          <p:nvPr/>
        </p:nvSpPr>
        <p:spPr>
          <a:xfrm>
            <a:off x="8232899" y="2697009"/>
            <a:ext cx="2828041" cy="0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37" name="S01-mark34"/>
          <p:cNvSpPr/>
          <p:nvPr/>
        </p:nvSpPr>
        <p:spPr>
          <a:xfrm>
            <a:off x="9081312" y="1113306"/>
            <a:ext cx="0" cy="1979629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38" name="S01-label36"/>
          <p:cNvSpPr txBox="1"/>
          <p:nvPr/>
        </p:nvSpPr>
        <p:spPr>
          <a:xfrm>
            <a:off x="8303538" y="1120768"/>
            <a:ext cx="70713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마을</a:t>
            </a:r>
            <a:endParaRPr lang="ko-KR" sz="2400" dirty="0"/>
          </a:p>
        </p:txBody>
      </p:sp>
      <p:sp>
        <p:nvSpPr>
          <p:cNvPr id="39" name="S01-label38"/>
          <p:cNvSpPr txBox="1"/>
          <p:nvPr/>
        </p:nvSpPr>
        <p:spPr>
          <a:xfrm>
            <a:off x="9522486" y="1120768"/>
            <a:ext cx="109728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학생 수</a:t>
            </a:r>
            <a:endParaRPr lang="ko-KR" sz="2400" dirty="0"/>
          </a:p>
        </p:txBody>
      </p:sp>
      <p:sp>
        <p:nvSpPr>
          <p:cNvPr id="40" name="S01-label40"/>
          <p:cNvSpPr txBox="1"/>
          <p:nvPr/>
        </p:nvSpPr>
        <p:spPr>
          <a:xfrm>
            <a:off x="8452890" y="1516694"/>
            <a:ext cx="40843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400" dirty="0"/>
          </a:p>
        </p:txBody>
      </p:sp>
      <p:sp>
        <p:nvSpPr>
          <p:cNvPr id="41" name="S01-label42"/>
          <p:cNvSpPr txBox="1"/>
          <p:nvPr/>
        </p:nvSpPr>
        <p:spPr>
          <a:xfrm>
            <a:off x="8452890" y="1912620"/>
            <a:ext cx="40843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400" dirty="0"/>
          </a:p>
        </p:txBody>
      </p:sp>
      <p:sp>
        <p:nvSpPr>
          <p:cNvPr id="42" name="S01-label44"/>
          <p:cNvSpPr txBox="1"/>
          <p:nvPr/>
        </p:nvSpPr>
        <p:spPr>
          <a:xfrm>
            <a:off x="8452890" y="2308546"/>
            <a:ext cx="40843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2400" dirty="0"/>
          </a:p>
        </p:txBody>
      </p:sp>
      <p:sp>
        <p:nvSpPr>
          <p:cNvPr id="43" name="S01-label46"/>
          <p:cNvSpPr txBox="1"/>
          <p:nvPr/>
        </p:nvSpPr>
        <p:spPr>
          <a:xfrm>
            <a:off x="8452890" y="2704472"/>
            <a:ext cx="40843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</a:t>
            </a:r>
            <a:endParaRPr lang="ko-KR" sz="2400" dirty="0"/>
          </a:p>
        </p:txBody>
      </p:sp>
      <p:sp>
        <p:nvSpPr>
          <p:cNvPr id="44" name="S01-label48"/>
          <p:cNvSpPr txBox="1"/>
          <p:nvPr/>
        </p:nvSpPr>
        <p:spPr>
          <a:xfrm>
            <a:off x="8604504" y="710702"/>
            <a:ext cx="208483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마을별 학생 수</a:t>
            </a:r>
            <a:endParaRPr lang="ko-KR" sz="2400" dirty="0"/>
          </a:p>
        </p:txBody>
      </p:sp>
      <p:sp>
        <p:nvSpPr>
          <p:cNvPr id="45" name="S01-label50"/>
          <p:cNvSpPr txBox="1"/>
          <p:nvPr/>
        </p:nvSpPr>
        <p:spPr>
          <a:xfrm>
            <a:off x="9389160" y="3142818"/>
            <a:ext cx="81076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10명</a:t>
            </a:r>
            <a:endParaRPr lang="ko-KR" sz="2400" dirty="0"/>
          </a:p>
        </p:txBody>
      </p:sp>
      <p:sp>
        <p:nvSpPr>
          <p:cNvPr id="46" name="S01-label52"/>
          <p:cNvSpPr txBox="1"/>
          <p:nvPr/>
        </p:nvSpPr>
        <p:spPr>
          <a:xfrm>
            <a:off x="10496526" y="3142818"/>
            <a:ext cx="609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1명</a:t>
            </a:r>
            <a:endParaRPr lang="ko-KR" sz="2400" dirty="0"/>
          </a:p>
        </p:txBody>
      </p:sp>
      <p:sp>
        <p:nvSpPr>
          <p:cNvPr id="47" name="S01-card53"/>
          <p:cNvSpPr/>
          <p:nvPr/>
        </p:nvSpPr>
        <p:spPr>
          <a:xfrm>
            <a:off x="731520" y="4436364"/>
            <a:ext cx="10725912" cy="1690116"/>
          </a:xfrm>
          <a:prstGeom prst="roundRect">
            <a:avLst>
              <a:gd name="adj" fmla="val 649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8" name="S01-cardtext54"/>
          <p:cNvSpPr txBox="1"/>
          <p:nvPr/>
        </p:nvSpPr>
        <p:spPr>
          <a:xfrm>
            <a:off x="1005840" y="4573524"/>
            <a:ext cx="10177272" cy="1415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그림그래프를 읽고 그려요.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그림그래프로 비교한 것을 말해요.</a:t>
            </a:r>
            <a:endParaRPr lang="ko-KR" sz="3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학년 기억하기</a:t>
            </a:r>
            <a:endParaRPr lang="ko-KR" sz="4000" dirty="0"/>
          </a:p>
        </p:txBody>
      </p:sp>
      <p:sp>
        <p:nvSpPr>
          <p:cNvPr id="3" name="S02-chip55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4" name="S02-text56"/>
          <p:cNvSpPr txBox="1"/>
          <p:nvPr/>
        </p:nvSpPr>
        <p:spPr>
          <a:xfrm>
            <a:off x="1344168" y="13258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10이 3개, 1이 4개인 수는?</a:t>
            </a:r>
            <a:endParaRPr lang="ko-KR" sz="3000" dirty="0"/>
          </a:p>
        </p:txBody>
      </p:sp>
      <p:sp>
        <p:nvSpPr>
          <p:cNvPr id="5" name="S02-chip57"/>
          <p:cNvSpPr txBox="1"/>
          <p:nvPr/>
        </p:nvSpPr>
        <p:spPr>
          <a:xfrm>
            <a:off x="548640" y="34655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6" name="S02-eqtext58"/>
          <p:cNvSpPr txBox="1"/>
          <p:nvPr/>
        </p:nvSpPr>
        <p:spPr>
          <a:xfrm>
            <a:off x="1344168" y="301752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27은 10이 □개, 1이 □개</a:t>
            </a:r>
            <a:endParaRPr lang="ko-KR" sz="3400" dirty="0"/>
          </a:p>
        </p:txBody>
      </p:sp>
      <p:sp>
        <p:nvSpPr>
          <p:cNvPr id="7" name="S02-chip59"/>
          <p:cNvSpPr txBox="1"/>
          <p:nvPr/>
        </p:nvSpPr>
        <p:spPr>
          <a:xfrm>
            <a:off x="548640" y="51800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graphicFrame>
        <p:nvGraphicFramePr>
          <p:cNvPr id="3" name="S02-table6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377440" y="4991100"/>
          <a:ext cx="8229600" cy="914400"/>
        </p:xfrm>
        <a:graphic>
          <a:graphicData uri="http://schemas.openxmlformats.org/drawingml/2006/table">
            <a:tbl>
              <a:tblPr/>
              <a:tblGrid>
                <a:gridCol w="2633472"/>
                <a:gridCol w="1399032"/>
                <a:gridCol w="1399032"/>
                <a:gridCol w="1399032"/>
                <a:gridCol w="1399032"/>
              </a:tblGrid>
              <a:tr h="472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과일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사과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귤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배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합계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학생 수(명)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그림그래프 알아보기</a:t>
            </a:r>
            <a:endParaRPr lang="ko-KR" sz="4000" dirty="0"/>
          </a:p>
        </p:txBody>
      </p:sp>
      <p:sp>
        <p:nvSpPr>
          <p:cNvPr id="3" name="S03-card6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3-cardtext6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조사한 수를 그림으로 나타낸 그래프를 그림그래프라고 해요.</a:t>
            </a:r>
            <a:endParaRPr lang="ko-KR" sz="3000" dirty="0"/>
          </a:p>
        </p:txBody>
      </p:sp>
      <p:sp>
        <p:nvSpPr>
          <p:cNvPr id="5" name="S03-figure63" descr="그림그래프(마을별 학생 수): 큰 원 = 10명, 작은 원 = 1명. 가 큰 원 3개·작은 원 2개(32명), 나 큰 원 2개·작은 원 5개(25명), 다 큰 원 4개·작은 원 1개(41명), 라 큰 원 1개·작은 원 7개(17명)"/>
          <p:cNvSpPr/>
          <p:nvPr/>
        </p:nvSpPr>
        <p:spPr>
          <a:xfrm>
            <a:off x="1904620" y="1920004"/>
            <a:ext cx="3723588" cy="521302"/>
          </a:xfrm>
          <a:custGeom>
            <a:avLst/>
            <a:gdLst/>
            <a:ahLst/>
            <a:cxnLst/>
            <a:rect l="l" t="t" r="r" b="b"/>
            <a:pathLst>
              <a:path w="3723588" h="521302">
                <a:moveTo>
                  <a:pt x="0" y="0"/>
                </a:moveTo>
                <a:lnTo>
                  <a:pt x="3723588" y="0"/>
                </a:lnTo>
                <a:lnTo>
                  <a:pt x="3723588" y="521302"/>
                </a:lnTo>
                <a:lnTo>
                  <a:pt x="0" y="521302"/>
                </a:lnTo>
                <a:close/>
              </a:path>
            </a:pathLst>
          </a:custGeom>
          <a:solidFill>
            <a:srgbClr val="EAF3F1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6" name="S03-mark64"/>
          <p:cNvSpPr/>
          <p:nvPr/>
        </p:nvSpPr>
        <p:spPr>
          <a:xfrm>
            <a:off x="1904620" y="1920004"/>
            <a:ext cx="3723588" cy="2606511"/>
          </a:xfrm>
          <a:custGeom>
            <a:avLst/>
            <a:gdLst/>
            <a:ahLst/>
            <a:cxnLst/>
            <a:rect l="l" t="t" r="r" b="b"/>
            <a:pathLst>
              <a:path w="3723588" h="2606511">
                <a:moveTo>
                  <a:pt x="0" y="0"/>
                </a:moveTo>
                <a:lnTo>
                  <a:pt x="3723588" y="0"/>
                </a:lnTo>
                <a:lnTo>
                  <a:pt x="3723588" y="2606511"/>
                </a:lnTo>
                <a:lnTo>
                  <a:pt x="0" y="2606511"/>
                </a:lnTo>
                <a:close/>
              </a:path>
            </a:pathLst>
          </a:cu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7" name="S03-mark65"/>
          <p:cNvSpPr/>
          <p:nvPr/>
        </p:nvSpPr>
        <p:spPr>
          <a:xfrm>
            <a:off x="3170640" y="2515778"/>
            <a:ext cx="372359" cy="372359"/>
          </a:xfrm>
          <a:prstGeom prst="ellipse">
            <a:avLst/>
          </a:prstGeom>
          <a:solidFill>
            <a:srgbClr val="E9762B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8" name="S03-mark66"/>
          <p:cNvSpPr/>
          <p:nvPr/>
        </p:nvSpPr>
        <p:spPr>
          <a:xfrm>
            <a:off x="3598852" y="2515778"/>
            <a:ext cx="372359" cy="372359"/>
          </a:xfrm>
          <a:prstGeom prst="ellipse">
            <a:avLst/>
          </a:prstGeom>
          <a:solidFill>
            <a:srgbClr val="E9762B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9" name="S03-mark67"/>
          <p:cNvSpPr/>
          <p:nvPr/>
        </p:nvSpPr>
        <p:spPr>
          <a:xfrm>
            <a:off x="4027065" y="2515778"/>
            <a:ext cx="372359" cy="372359"/>
          </a:xfrm>
          <a:prstGeom prst="ellipse">
            <a:avLst/>
          </a:prstGeom>
          <a:solidFill>
            <a:srgbClr val="E9762B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10" name="S03-mark68"/>
          <p:cNvSpPr/>
          <p:nvPr/>
        </p:nvSpPr>
        <p:spPr>
          <a:xfrm>
            <a:off x="4529749" y="2608868"/>
            <a:ext cx="186179" cy="186179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11" name="S03-mark69"/>
          <p:cNvSpPr/>
          <p:nvPr/>
        </p:nvSpPr>
        <p:spPr>
          <a:xfrm>
            <a:off x="4760611" y="2608868"/>
            <a:ext cx="186179" cy="186179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12" name="S03-mark70"/>
          <p:cNvSpPr/>
          <p:nvPr/>
        </p:nvSpPr>
        <p:spPr>
          <a:xfrm>
            <a:off x="3170640" y="3037081"/>
            <a:ext cx="372359" cy="372359"/>
          </a:xfrm>
          <a:prstGeom prst="ellipse">
            <a:avLst/>
          </a:prstGeom>
          <a:solidFill>
            <a:srgbClr val="E9762B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13" name="S03-mark71"/>
          <p:cNvSpPr/>
          <p:nvPr/>
        </p:nvSpPr>
        <p:spPr>
          <a:xfrm>
            <a:off x="3598852" y="3037081"/>
            <a:ext cx="372359" cy="372359"/>
          </a:xfrm>
          <a:prstGeom prst="ellipse">
            <a:avLst/>
          </a:prstGeom>
          <a:solidFill>
            <a:srgbClr val="E9762B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14" name="S03-mark72"/>
          <p:cNvSpPr/>
          <p:nvPr/>
        </p:nvSpPr>
        <p:spPr>
          <a:xfrm>
            <a:off x="4101536" y="3130170"/>
            <a:ext cx="186179" cy="186179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15" name="S03-mark73"/>
          <p:cNvSpPr/>
          <p:nvPr/>
        </p:nvSpPr>
        <p:spPr>
          <a:xfrm>
            <a:off x="4332399" y="3130170"/>
            <a:ext cx="186179" cy="186179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16" name="S03-mark74"/>
          <p:cNvSpPr/>
          <p:nvPr/>
        </p:nvSpPr>
        <p:spPr>
          <a:xfrm>
            <a:off x="4563261" y="3130170"/>
            <a:ext cx="186179" cy="186179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17" name="S03-mark75"/>
          <p:cNvSpPr/>
          <p:nvPr/>
        </p:nvSpPr>
        <p:spPr>
          <a:xfrm>
            <a:off x="4794124" y="3130170"/>
            <a:ext cx="186179" cy="186179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18" name="S03-mark76"/>
          <p:cNvSpPr/>
          <p:nvPr/>
        </p:nvSpPr>
        <p:spPr>
          <a:xfrm>
            <a:off x="5024986" y="3130170"/>
            <a:ext cx="186179" cy="186179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19" name="S03-mark77"/>
          <p:cNvSpPr/>
          <p:nvPr/>
        </p:nvSpPr>
        <p:spPr>
          <a:xfrm>
            <a:off x="3170640" y="3558383"/>
            <a:ext cx="372359" cy="372359"/>
          </a:xfrm>
          <a:prstGeom prst="ellipse">
            <a:avLst/>
          </a:prstGeom>
          <a:solidFill>
            <a:srgbClr val="E9762B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20" name="S03-mark78"/>
          <p:cNvSpPr/>
          <p:nvPr/>
        </p:nvSpPr>
        <p:spPr>
          <a:xfrm>
            <a:off x="3598852" y="3558383"/>
            <a:ext cx="372359" cy="372359"/>
          </a:xfrm>
          <a:prstGeom prst="ellipse">
            <a:avLst/>
          </a:prstGeom>
          <a:solidFill>
            <a:srgbClr val="E9762B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21" name="S03-mark79"/>
          <p:cNvSpPr/>
          <p:nvPr/>
        </p:nvSpPr>
        <p:spPr>
          <a:xfrm>
            <a:off x="4027065" y="3558383"/>
            <a:ext cx="372359" cy="372359"/>
          </a:xfrm>
          <a:prstGeom prst="ellipse">
            <a:avLst/>
          </a:prstGeom>
          <a:solidFill>
            <a:srgbClr val="E9762B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22" name="S03-mark80"/>
          <p:cNvSpPr/>
          <p:nvPr/>
        </p:nvSpPr>
        <p:spPr>
          <a:xfrm>
            <a:off x="4455277" y="3558383"/>
            <a:ext cx="372359" cy="372359"/>
          </a:xfrm>
          <a:prstGeom prst="ellipse">
            <a:avLst/>
          </a:prstGeom>
          <a:solidFill>
            <a:srgbClr val="E9762B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23" name="S03-mark81"/>
          <p:cNvSpPr/>
          <p:nvPr/>
        </p:nvSpPr>
        <p:spPr>
          <a:xfrm>
            <a:off x="4957962" y="3651473"/>
            <a:ext cx="186179" cy="186179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24" name="S03-mark82"/>
          <p:cNvSpPr/>
          <p:nvPr/>
        </p:nvSpPr>
        <p:spPr>
          <a:xfrm>
            <a:off x="3170640" y="4079685"/>
            <a:ext cx="372359" cy="372359"/>
          </a:xfrm>
          <a:prstGeom prst="ellipse">
            <a:avLst/>
          </a:prstGeom>
          <a:solidFill>
            <a:srgbClr val="E9762B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25" name="S03-mark83"/>
          <p:cNvSpPr/>
          <p:nvPr/>
        </p:nvSpPr>
        <p:spPr>
          <a:xfrm>
            <a:off x="3673324" y="4172775"/>
            <a:ext cx="186179" cy="186179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26" name="S03-mark84"/>
          <p:cNvSpPr/>
          <p:nvPr/>
        </p:nvSpPr>
        <p:spPr>
          <a:xfrm>
            <a:off x="3904186" y="4172775"/>
            <a:ext cx="186179" cy="186179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27" name="S03-mark85"/>
          <p:cNvSpPr/>
          <p:nvPr/>
        </p:nvSpPr>
        <p:spPr>
          <a:xfrm>
            <a:off x="4135049" y="4172775"/>
            <a:ext cx="186179" cy="186179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28" name="S03-mark86"/>
          <p:cNvSpPr/>
          <p:nvPr/>
        </p:nvSpPr>
        <p:spPr>
          <a:xfrm>
            <a:off x="4365911" y="4172775"/>
            <a:ext cx="186179" cy="186179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29" name="S03-mark87"/>
          <p:cNvSpPr/>
          <p:nvPr/>
        </p:nvSpPr>
        <p:spPr>
          <a:xfrm>
            <a:off x="4596774" y="4172775"/>
            <a:ext cx="186179" cy="186179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30" name="S03-mark88"/>
          <p:cNvSpPr/>
          <p:nvPr/>
        </p:nvSpPr>
        <p:spPr>
          <a:xfrm>
            <a:off x="4827636" y="4172775"/>
            <a:ext cx="186179" cy="186179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31" name="S03-mark89"/>
          <p:cNvSpPr/>
          <p:nvPr/>
        </p:nvSpPr>
        <p:spPr>
          <a:xfrm>
            <a:off x="5058499" y="4172775"/>
            <a:ext cx="186179" cy="186179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32" name="S03-mark90"/>
          <p:cNvSpPr/>
          <p:nvPr/>
        </p:nvSpPr>
        <p:spPr>
          <a:xfrm>
            <a:off x="3307295" y="4656841"/>
            <a:ext cx="372359" cy="372359"/>
          </a:xfrm>
          <a:prstGeom prst="ellipse">
            <a:avLst/>
          </a:prstGeom>
          <a:solidFill>
            <a:srgbClr val="E9762B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33" name="S03-mark91"/>
          <p:cNvSpPr/>
          <p:nvPr/>
        </p:nvSpPr>
        <p:spPr>
          <a:xfrm>
            <a:off x="4790400" y="4749931"/>
            <a:ext cx="186179" cy="186179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34" name="S03-mark92"/>
          <p:cNvSpPr/>
          <p:nvPr/>
        </p:nvSpPr>
        <p:spPr>
          <a:xfrm>
            <a:off x="1904620" y="2962609"/>
            <a:ext cx="3723588" cy="0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35" name="S03-mark93"/>
          <p:cNvSpPr/>
          <p:nvPr/>
        </p:nvSpPr>
        <p:spPr>
          <a:xfrm>
            <a:off x="1904620" y="3483911"/>
            <a:ext cx="3723588" cy="0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36" name="S03-mark94"/>
          <p:cNvSpPr/>
          <p:nvPr/>
        </p:nvSpPr>
        <p:spPr>
          <a:xfrm>
            <a:off x="1904620" y="4005213"/>
            <a:ext cx="3723588" cy="0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37" name="S03-mark95"/>
          <p:cNvSpPr/>
          <p:nvPr/>
        </p:nvSpPr>
        <p:spPr>
          <a:xfrm>
            <a:off x="3021696" y="1920004"/>
            <a:ext cx="0" cy="2606511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38" name="S03-label97"/>
          <p:cNvSpPr txBox="1"/>
          <p:nvPr/>
        </p:nvSpPr>
        <p:spPr>
          <a:xfrm>
            <a:off x="2109590" y="1990155"/>
            <a:ext cx="70713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마을</a:t>
            </a:r>
            <a:endParaRPr lang="ko-KR" sz="2400" dirty="0"/>
          </a:p>
        </p:txBody>
      </p:sp>
      <p:sp>
        <p:nvSpPr>
          <p:cNvPr id="39" name="S03-label99"/>
          <p:cNvSpPr txBox="1"/>
          <p:nvPr/>
        </p:nvSpPr>
        <p:spPr>
          <a:xfrm>
            <a:off x="3776312" y="1990155"/>
            <a:ext cx="109728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학생 수</a:t>
            </a:r>
            <a:endParaRPr lang="ko-KR" sz="2400" dirty="0"/>
          </a:p>
        </p:txBody>
      </p:sp>
      <p:sp>
        <p:nvSpPr>
          <p:cNvPr id="40" name="S03-label101"/>
          <p:cNvSpPr txBox="1"/>
          <p:nvPr/>
        </p:nvSpPr>
        <p:spPr>
          <a:xfrm>
            <a:off x="2258942" y="2511458"/>
            <a:ext cx="40843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400" dirty="0"/>
          </a:p>
        </p:txBody>
      </p:sp>
      <p:sp>
        <p:nvSpPr>
          <p:cNvPr id="41" name="S03-label103"/>
          <p:cNvSpPr txBox="1"/>
          <p:nvPr/>
        </p:nvSpPr>
        <p:spPr>
          <a:xfrm>
            <a:off x="2258942" y="3032760"/>
            <a:ext cx="40843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400" dirty="0"/>
          </a:p>
        </p:txBody>
      </p:sp>
      <p:sp>
        <p:nvSpPr>
          <p:cNvPr id="42" name="S03-label105"/>
          <p:cNvSpPr txBox="1"/>
          <p:nvPr/>
        </p:nvSpPr>
        <p:spPr>
          <a:xfrm>
            <a:off x="2258942" y="3554062"/>
            <a:ext cx="40843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2400" dirty="0"/>
          </a:p>
        </p:txBody>
      </p:sp>
      <p:sp>
        <p:nvSpPr>
          <p:cNvPr id="43" name="S03-label107"/>
          <p:cNvSpPr txBox="1"/>
          <p:nvPr/>
        </p:nvSpPr>
        <p:spPr>
          <a:xfrm>
            <a:off x="2258942" y="4075365"/>
            <a:ext cx="40843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</a:t>
            </a:r>
            <a:endParaRPr lang="ko-KR" sz="2400" dirty="0"/>
          </a:p>
        </p:txBody>
      </p:sp>
      <p:sp>
        <p:nvSpPr>
          <p:cNvPr id="44" name="S03-label109"/>
          <p:cNvSpPr txBox="1"/>
          <p:nvPr/>
        </p:nvSpPr>
        <p:spPr>
          <a:xfrm>
            <a:off x="2723998" y="1450235"/>
            <a:ext cx="208483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마을별 학생 수</a:t>
            </a:r>
            <a:endParaRPr lang="ko-KR" sz="2400" dirty="0"/>
          </a:p>
        </p:txBody>
      </p:sp>
      <p:sp>
        <p:nvSpPr>
          <p:cNvPr id="45" name="S03-label111"/>
          <p:cNvSpPr txBox="1"/>
          <p:nvPr/>
        </p:nvSpPr>
        <p:spPr>
          <a:xfrm>
            <a:off x="3736367" y="4652521"/>
            <a:ext cx="81076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10명</a:t>
            </a:r>
            <a:endParaRPr lang="ko-KR" sz="2400" dirty="0"/>
          </a:p>
        </p:txBody>
      </p:sp>
      <p:sp>
        <p:nvSpPr>
          <p:cNvPr id="46" name="S03-label113"/>
          <p:cNvSpPr txBox="1"/>
          <p:nvPr/>
        </p:nvSpPr>
        <p:spPr>
          <a:xfrm>
            <a:off x="5034829" y="4652521"/>
            <a:ext cx="609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1명</a:t>
            </a:r>
            <a:endParaRPr lang="ko-KR" sz="2400" dirty="0"/>
          </a:p>
        </p:txBody>
      </p:sp>
      <p:sp>
        <p:nvSpPr>
          <p:cNvPr id="47" name="S03-card114"/>
          <p:cNvSpPr/>
          <p:nvPr/>
        </p:nvSpPr>
        <p:spPr>
          <a:xfrm>
            <a:off x="7349947" y="2240280"/>
            <a:ext cx="4290365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8" name="S03-cardtext115"/>
          <p:cNvSpPr txBox="1"/>
          <p:nvPr/>
        </p:nvSpPr>
        <p:spPr>
          <a:xfrm>
            <a:off x="7624267" y="2377440"/>
            <a:ext cx="374172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큰 ● 1개는 10명</a:t>
            </a:r>
            <a:endParaRPr lang="ko-KR" sz="3000" dirty="0"/>
          </a:p>
        </p:txBody>
      </p:sp>
      <p:sp>
        <p:nvSpPr>
          <p:cNvPr id="49" name="S03-card116"/>
          <p:cNvSpPr/>
          <p:nvPr/>
        </p:nvSpPr>
        <p:spPr>
          <a:xfrm>
            <a:off x="7349947" y="3337560"/>
            <a:ext cx="4290365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0" name="S03-cardtext117"/>
          <p:cNvSpPr txBox="1"/>
          <p:nvPr/>
        </p:nvSpPr>
        <p:spPr>
          <a:xfrm>
            <a:off x="7624267" y="3474720"/>
            <a:ext cx="374172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작은 ○ 1개는 1명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그림그래프 읽기</a:t>
            </a:r>
            <a:endParaRPr lang="ko-KR" sz="4000" dirty="0"/>
          </a:p>
        </p:txBody>
      </p:sp>
      <p:sp>
        <p:nvSpPr>
          <p:cNvPr id="3" name="S04-text118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 마을의 학생은 몇 명일까요?</a:t>
            </a:r>
            <a:endParaRPr lang="ko-KR" sz="3000" dirty="0"/>
          </a:p>
        </p:txBody>
      </p:sp>
      <p:sp>
        <p:nvSpPr>
          <p:cNvPr id="4" name="S04-figure119" descr="그림그래프(마을별 학생 수): 큰 원 = 10명, 작은 원 = 1명. 가 큰 원 3개·작은 원 2개(32명), 나 큰 원 2개·작은 원 5개(25명), 다 큰 원 4개·작은 원 1개(41명), 라 큰 원 1개·작은 원 7개(17명)"/>
          <p:cNvSpPr/>
          <p:nvPr/>
        </p:nvSpPr>
        <p:spPr>
          <a:xfrm>
            <a:off x="6563160" y="2663072"/>
            <a:ext cx="4147794" cy="580691"/>
          </a:xfrm>
          <a:custGeom>
            <a:avLst/>
            <a:gdLst/>
            <a:ahLst/>
            <a:cxnLst/>
            <a:rect l="l" t="t" r="r" b="b"/>
            <a:pathLst>
              <a:path w="4147794" h="580691">
                <a:moveTo>
                  <a:pt x="0" y="0"/>
                </a:moveTo>
                <a:lnTo>
                  <a:pt x="4147794" y="0"/>
                </a:lnTo>
                <a:lnTo>
                  <a:pt x="4147794" y="580691"/>
                </a:lnTo>
                <a:lnTo>
                  <a:pt x="0" y="580691"/>
                </a:lnTo>
                <a:close/>
              </a:path>
            </a:pathLst>
          </a:custGeom>
          <a:solidFill>
            <a:srgbClr val="EAF3F1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5" name="S04-mark120"/>
          <p:cNvSpPr/>
          <p:nvPr/>
        </p:nvSpPr>
        <p:spPr>
          <a:xfrm>
            <a:off x="6563160" y="2663072"/>
            <a:ext cx="4147794" cy="2903456"/>
          </a:xfrm>
          <a:custGeom>
            <a:avLst/>
            <a:gdLst/>
            <a:ahLst/>
            <a:cxnLst/>
            <a:rect l="l" t="t" r="r" b="b"/>
            <a:pathLst>
              <a:path w="4147794" h="2903456">
                <a:moveTo>
                  <a:pt x="0" y="0"/>
                </a:moveTo>
                <a:lnTo>
                  <a:pt x="4147794" y="0"/>
                </a:lnTo>
                <a:lnTo>
                  <a:pt x="4147794" y="2903456"/>
                </a:lnTo>
                <a:lnTo>
                  <a:pt x="0" y="2903456"/>
                </a:lnTo>
                <a:close/>
              </a:path>
            </a:pathLst>
          </a:cu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6" name="S04-mark121"/>
          <p:cNvSpPr/>
          <p:nvPr/>
        </p:nvSpPr>
        <p:spPr>
          <a:xfrm>
            <a:off x="7973410" y="3326719"/>
            <a:ext cx="414779" cy="414779"/>
          </a:xfrm>
          <a:prstGeom prst="ellipse">
            <a:avLst/>
          </a:prstGeom>
          <a:solidFill>
            <a:srgbClr val="E9762B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7" name="S04-mark122"/>
          <p:cNvSpPr/>
          <p:nvPr/>
        </p:nvSpPr>
        <p:spPr>
          <a:xfrm>
            <a:off x="8450406" y="3326719"/>
            <a:ext cx="414779" cy="414779"/>
          </a:xfrm>
          <a:prstGeom prst="ellipse">
            <a:avLst/>
          </a:prstGeom>
          <a:solidFill>
            <a:srgbClr val="E9762B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8" name="S04-mark123"/>
          <p:cNvSpPr/>
          <p:nvPr/>
        </p:nvSpPr>
        <p:spPr>
          <a:xfrm>
            <a:off x="8927402" y="3326719"/>
            <a:ext cx="414779" cy="414779"/>
          </a:xfrm>
          <a:prstGeom prst="ellipse">
            <a:avLst/>
          </a:prstGeom>
          <a:solidFill>
            <a:srgbClr val="E9762B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9" name="S04-mark124"/>
          <p:cNvSpPr/>
          <p:nvPr/>
        </p:nvSpPr>
        <p:spPr>
          <a:xfrm>
            <a:off x="9487354" y="3430414"/>
            <a:ext cx="207390" cy="20739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10" name="S04-mark125"/>
          <p:cNvSpPr/>
          <p:nvPr/>
        </p:nvSpPr>
        <p:spPr>
          <a:xfrm>
            <a:off x="9744518" y="3430414"/>
            <a:ext cx="207390" cy="20739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11" name="S04-mark126"/>
          <p:cNvSpPr/>
          <p:nvPr/>
        </p:nvSpPr>
        <p:spPr>
          <a:xfrm>
            <a:off x="7973410" y="3907410"/>
            <a:ext cx="414779" cy="414779"/>
          </a:xfrm>
          <a:prstGeom prst="ellipse">
            <a:avLst/>
          </a:prstGeom>
          <a:solidFill>
            <a:srgbClr val="E9762B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12" name="S04-mark127"/>
          <p:cNvSpPr/>
          <p:nvPr/>
        </p:nvSpPr>
        <p:spPr>
          <a:xfrm>
            <a:off x="8450406" y="3907410"/>
            <a:ext cx="414779" cy="414779"/>
          </a:xfrm>
          <a:prstGeom prst="ellipse">
            <a:avLst/>
          </a:prstGeom>
          <a:solidFill>
            <a:srgbClr val="E9762B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13" name="S04-mark128"/>
          <p:cNvSpPr/>
          <p:nvPr/>
        </p:nvSpPr>
        <p:spPr>
          <a:xfrm>
            <a:off x="9010358" y="4011105"/>
            <a:ext cx="207390" cy="20739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14" name="S04-mark129"/>
          <p:cNvSpPr/>
          <p:nvPr/>
        </p:nvSpPr>
        <p:spPr>
          <a:xfrm>
            <a:off x="9267521" y="4011105"/>
            <a:ext cx="207390" cy="20739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15" name="S04-mark130"/>
          <p:cNvSpPr/>
          <p:nvPr/>
        </p:nvSpPr>
        <p:spPr>
          <a:xfrm>
            <a:off x="9524685" y="4011105"/>
            <a:ext cx="207390" cy="20739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16" name="S04-mark131"/>
          <p:cNvSpPr/>
          <p:nvPr/>
        </p:nvSpPr>
        <p:spPr>
          <a:xfrm>
            <a:off x="9781848" y="4011105"/>
            <a:ext cx="207390" cy="20739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17" name="S04-mark132"/>
          <p:cNvSpPr/>
          <p:nvPr/>
        </p:nvSpPr>
        <p:spPr>
          <a:xfrm>
            <a:off x="10039011" y="4011105"/>
            <a:ext cx="207390" cy="20739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18" name="S04-mark133"/>
          <p:cNvSpPr/>
          <p:nvPr/>
        </p:nvSpPr>
        <p:spPr>
          <a:xfrm>
            <a:off x="7973410" y="4488101"/>
            <a:ext cx="414779" cy="414779"/>
          </a:xfrm>
          <a:prstGeom prst="ellipse">
            <a:avLst/>
          </a:prstGeom>
          <a:solidFill>
            <a:srgbClr val="E9762B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19" name="S04-mark134"/>
          <p:cNvSpPr/>
          <p:nvPr/>
        </p:nvSpPr>
        <p:spPr>
          <a:xfrm>
            <a:off x="8450406" y="4488101"/>
            <a:ext cx="414779" cy="414779"/>
          </a:xfrm>
          <a:prstGeom prst="ellipse">
            <a:avLst/>
          </a:prstGeom>
          <a:solidFill>
            <a:srgbClr val="E9762B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20" name="S04-mark135"/>
          <p:cNvSpPr/>
          <p:nvPr/>
        </p:nvSpPr>
        <p:spPr>
          <a:xfrm>
            <a:off x="8927402" y="4488101"/>
            <a:ext cx="414779" cy="414779"/>
          </a:xfrm>
          <a:prstGeom prst="ellipse">
            <a:avLst/>
          </a:prstGeom>
          <a:solidFill>
            <a:srgbClr val="E9762B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21" name="S04-mark136"/>
          <p:cNvSpPr/>
          <p:nvPr/>
        </p:nvSpPr>
        <p:spPr>
          <a:xfrm>
            <a:off x="9404398" y="4488101"/>
            <a:ext cx="414779" cy="414779"/>
          </a:xfrm>
          <a:prstGeom prst="ellipse">
            <a:avLst/>
          </a:prstGeom>
          <a:solidFill>
            <a:srgbClr val="E9762B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22" name="S04-mark137"/>
          <p:cNvSpPr/>
          <p:nvPr/>
        </p:nvSpPr>
        <p:spPr>
          <a:xfrm>
            <a:off x="9964351" y="4591796"/>
            <a:ext cx="207390" cy="20739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23" name="S04-mark138"/>
          <p:cNvSpPr/>
          <p:nvPr/>
        </p:nvSpPr>
        <p:spPr>
          <a:xfrm>
            <a:off x="7973410" y="5068793"/>
            <a:ext cx="414779" cy="414779"/>
          </a:xfrm>
          <a:prstGeom prst="ellipse">
            <a:avLst/>
          </a:prstGeom>
          <a:solidFill>
            <a:srgbClr val="E9762B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24" name="S04-mark139"/>
          <p:cNvSpPr/>
          <p:nvPr/>
        </p:nvSpPr>
        <p:spPr>
          <a:xfrm>
            <a:off x="8533362" y="5172487"/>
            <a:ext cx="207390" cy="20739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25" name="S04-mark140"/>
          <p:cNvSpPr/>
          <p:nvPr/>
        </p:nvSpPr>
        <p:spPr>
          <a:xfrm>
            <a:off x="8790525" y="5172487"/>
            <a:ext cx="207390" cy="20739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26" name="S04-mark141"/>
          <p:cNvSpPr/>
          <p:nvPr/>
        </p:nvSpPr>
        <p:spPr>
          <a:xfrm>
            <a:off x="9047688" y="5172487"/>
            <a:ext cx="207390" cy="20739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27" name="S04-mark142"/>
          <p:cNvSpPr/>
          <p:nvPr/>
        </p:nvSpPr>
        <p:spPr>
          <a:xfrm>
            <a:off x="9304851" y="5172487"/>
            <a:ext cx="207390" cy="20739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28" name="S04-mark143"/>
          <p:cNvSpPr/>
          <p:nvPr/>
        </p:nvSpPr>
        <p:spPr>
          <a:xfrm>
            <a:off x="9562015" y="5172487"/>
            <a:ext cx="207390" cy="20739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29" name="S04-mark144"/>
          <p:cNvSpPr/>
          <p:nvPr/>
        </p:nvSpPr>
        <p:spPr>
          <a:xfrm>
            <a:off x="9819178" y="5172487"/>
            <a:ext cx="207390" cy="20739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30" name="S04-mark145"/>
          <p:cNvSpPr/>
          <p:nvPr/>
        </p:nvSpPr>
        <p:spPr>
          <a:xfrm>
            <a:off x="10076341" y="5172487"/>
            <a:ext cx="207390" cy="20739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31" name="S04-mark146"/>
          <p:cNvSpPr/>
          <p:nvPr/>
        </p:nvSpPr>
        <p:spPr>
          <a:xfrm>
            <a:off x="8125634" y="5711701"/>
            <a:ext cx="414779" cy="414779"/>
          </a:xfrm>
          <a:prstGeom prst="ellipse">
            <a:avLst/>
          </a:prstGeom>
          <a:solidFill>
            <a:srgbClr val="E9762B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32" name="S04-mark147"/>
          <p:cNvSpPr/>
          <p:nvPr/>
        </p:nvSpPr>
        <p:spPr>
          <a:xfrm>
            <a:off x="9777700" y="5815395"/>
            <a:ext cx="207390" cy="20739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33" name="S04-mark148"/>
          <p:cNvSpPr/>
          <p:nvPr/>
        </p:nvSpPr>
        <p:spPr>
          <a:xfrm>
            <a:off x="6563160" y="3824454"/>
            <a:ext cx="4147794" cy="0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34" name="S04-mark149"/>
          <p:cNvSpPr/>
          <p:nvPr/>
        </p:nvSpPr>
        <p:spPr>
          <a:xfrm>
            <a:off x="6563160" y="4405146"/>
            <a:ext cx="4147794" cy="0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35" name="S04-mark150"/>
          <p:cNvSpPr/>
          <p:nvPr/>
        </p:nvSpPr>
        <p:spPr>
          <a:xfrm>
            <a:off x="6563160" y="4985837"/>
            <a:ext cx="4147794" cy="0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36" name="S04-mark151"/>
          <p:cNvSpPr/>
          <p:nvPr/>
        </p:nvSpPr>
        <p:spPr>
          <a:xfrm>
            <a:off x="7807498" y="2663072"/>
            <a:ext cx="0" cy="2903456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37" name="S04-label153"/>
          <p:cNvSpPr txBox="1"/>
          <p:nvPr/>
        </p:nvSpPr>
        <p:spPr>
          <a:xfrm>
            <a:off x="6831761" y="2762918"/>
            <a:ext cx="70713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마을</a:t>
            </a:r>
            <a:endParaRPr lang="ko-KR" sz="2400" dirty="0"/>
          </a:p>
        </p:txBody>
      </p:sp>
      <p:sp>
        <p:nvSpPr>
          <p:cNvPr id="38" name="S04-label155"/>
          <p:cNvSpPr txBox="1"/>
          <p:nvPr/>
        </p:nvSpPr>
        <p:spPr>
          <a:xfrm>
            <a:off x="8710586" y="2762918"/>
            <a:ext cx="109728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학생 수</a:t>
            </a:r>
            <a:endParaRPr lang="ko-KR" sz="2400" dirty="0"/>
          </a:p>
        </p:txBody>
      </p:sp>
      <p:sp>
        <p:nvSpPr>
          <p:cNvPr id="39" name="S04-label157"/>
          <p:cNvSpPr txBox="1"/>
          <p:nvPr/>
        </p:nvSpPr>
        <p:spPr>
          <a:xfrm>
            <a:off x="6981113" y="3343609"/>
            <a:ext cx="40843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400" dirty="0"/>
          </a:p>
        </p:txBody>
      </p:sp>
      <p:sp>
        <p:nvSpPr>
          <p:cNvPr id="40" name="S04-label159"/>
          <p:cNvSpPr txBox="1"/>
          <p:nvPr/>
        </p:nvSpPr>
        <p:spPr>
          <a:xfrm>
            <a:off x="6981113" y="3924300"/>
            <a:ext cx="40843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400" dirty="0"/>
          </a:p>
        </p:txBody>
      </p:sp>
      <p:sp>
        <p:nvSpPr>
          <p:cNvPr id="41" name="S04-label161"/>
          <p:cNvSpPr txBox="1"/>
          <p:nvPr/>
        </p:nvSpPr>
        <p:spPr>
          <a:xfrm>
            <a:off x="6981113" y="4504991"/>
            <a:ext cx="40843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2400" dirty="0"/>
          </a:p>
        </p:txBody>
      </p:sp>
      <p:sp>
        <p:nvSpPr>
          <p:cNvPr id="42" name="S04-label163"/>
          <p:cNvSpPr txBox="1"/>
          <p:nvPr/>
        </p:nvSpPr>
        <p:spPr>
          <a:xfrm>
            <a:off x="6981113" y="5085682"/>
            <a:ext cx="40843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</a:t>
            </a:r>
            <a:endParaRPr lang="ko-KR" sz="2400" dirty="0"/>
          </a:p>
        </p:txBody>
      </p:sp>
      <p:sp>
        <p:nvSpPr>
          <p:cNvPr id="43" name="S04-label165"/>
          <p:cNvSpPr txBox="1"/>
          <p:nvPr/>
        </p:nvSpPr>
        <p:spPr>
          <a:xfrm>
            <a:off x="7594641" y="2161488"/>
            <a:ext cx="208483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마을별 학생 수</a:t>
            </a:r>
            <a:endParaRPr lang="ko-KR" sz="2400" dirty="0"/>
          </a:p>
        </p:txBody>
      </p:sp>
      <p:sp>
        <p:nvSpPr>
          <p:cNvPr id="44" name="S04-label167"/>
          <p:cNvSpPr txBox="1"/>
          <p:nvPr/>
        </p:nvSpPr>
        <p:spPr>
          <a:xfrm>
            <a:off x="8649770" y="5728590"/>
            <a:ext cx="81076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10명</a:t>
            </a:r>
            <a:endParaRPr lang="ko-KR" sz="2400" dirty="0"/>
          </a:p>
        </p:txBody>
      </p:sp>
      <p:sp>
        <p:nvSpPr>
          <p:cNvPr id="45" name="S04-label169"/>
          <p:cNvSpPr txBox="1"/>
          <p:nvPr/>
        </p:nvSpPr>
        <p:spPr>
          <a:xfrm>
            <a:off x="10084700" y="5728590"/>
            <a:ext cx="609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1명</a:t>
            </a:r>
            <a:endParaRPr lang="ko-KR" sz="2400" dirty="0"/>
          </a:p>
        </p:txBody>
      </p:sp>
      <p:sp>
        <p:nvSpPr>
          <p:cNvPr id="46" name="S04-stepno170"/>
          <p:cNvSpPr txBox="1"/>
          <p:nvPr/>
        </p:nvSpPr>
        <p:spPr>
          <a:xfrm>
            <a:off x="548640" y="312724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47" name="S04-text171"/>
          <p:cNvSpPr txBox="1"/>
          <p:nvPr/>
        </p:nvSpPr>
        <p:spPr>
          <a:xfrm>
            <a:off x="1325880" y="3127248"/>
            <a:ext cx="39421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큰 ● 3개: 30명</a:t>
            </a:r>
            <a:endParaRPr lang="ko-KR" sz="3000" dirty="0"/>
          </a:p>
        </p:txBody>
      </p:sp>
      <p:sp>
        <p:nvSpPr>
          <p:cNvPr id="48" name="S04-stepno172"/>
          <p:cNvSpPr txBox="1"/>
          <p:nvPr/>
        </p:nvSpPr>
        <p:spPr>
          <a:xfrm>
            <a:off x="548640" y="384048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49" name="S04-text173"/>
          <p:cNvSpPr txBox="1"/>
          <p:nvPr/>
        </p:nvSpPr>
        <p:spPr>
          <a:xfrm>
            <a:off x="1325880" y="3840480"/>
            <a:ext cx="39421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작은 ○ 2개: 2명</a:t>
            </a:r>
            <a:endParaRPr lang="ko-KR" sz="3000" dirty="0"/>
          </a:p>
        </p:txBody>
      </p:sp>
      <p:sp>
        <p:nvSpPr>
          <p:cNvPr id="50" name="S04-stepno174"/>
          <p:cNvSpPr txBox="1"/>
          <p:nvPr/>
        </p:nvSpPr>
        <p:spPr>
          <a:xfrm>
            <a:off x="548640" y="455371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51" name="S04-text175"/>
          <p:cNvSpPr txBox="1"/>
          <p:nvPr/>
        </p:nvSpPr>
        <p:spPr>
          <a:xfrm>
            <a:off x="1325880" y="4553712"/>
            <a:ext cx="39421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 + 2 = 32명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그림그래프 그리기</a:t>
            </a:r>
            <a:endParaRPr lang="ko-KR" sz="4000" dirty="0"/>
          </a:p>
        </p:txBody>
      </p:sp>
      <p:sp>
        <p:nvSpPr>
          <p:cNvPr id="3" name="S05-text176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표: 1반 23권, 2반 34권, 3반 18권</a:t>
            </a:r>
            <a:endParaRPr lang="ko-KR" sz="3000" dirty="0"/>
          </a:p>
        </p:txBody>
      </p:sp>
      <p:sp>
        <p:nvSpPr>
          <p:cNvPr id="4" name="S05-figure177" descr="그림그래프(반별 학급 문고 책 수): 큰 원 = 10권, 작은 원 = 1권. 1반 큰 원 2개·작은 원 3개(23권), 2반 빈칸, 3반 빈칸"/>
          <p:cNvSpPr/>
          <p:nvPr/>
        </p:nvSpPr>
        <p:spPr>
          <a:xfrm>
            <a:off x="6535123" y="2757522"/>
            <a:ext cx="4847422" cy="678639"/>
          </a:xfrm>
          <a:custGeom>
            <a:avLst/>
            <a:gdLst/>
            <a:ahLst/>
            <a:cxnLst/>
            <a:rect l="l" t="t" r="r" b="b"/>
            <a:pathLst>
              <a:path w="4847422" h="678639">
                <a:moveTo>
                  <a:pt x="0" y="0"/>
                </a:moveTo>
                <a:lnTo>
                  <a:pt x="4847422" y="0"/>
                </a:lnTo>
                <a:lnTo>
                  <a:pt x="4847422" y="678639"/>
                </a:lnTo>
                <a:lnTo>
                  <a:pt x="0" y="678639"/>
                </a:lnTo>
                <a:close/>
              </a:path>
            </a:pathLst>
          </a:custGeom>
          <a:solidFill>
            <a:srgbClr val="EAF3F1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5" name="S05-mark178"/>
          <p:cNvSpPr/>
          <p:nvPr/>
        </p:nvSpPr>
        <p:spPr>
          <a:xfrm>
            <a:off x="6535123" y="2757522"/>
            <a:ext cx="4847422" cy="2714556"/>
          </a:xfrm>
          <a:custGeom>
            <a:avLst/>
            <a:gdLst/>
            <a:ahLst/>
            <a:cxnLst/>
            <a:rect l="l" t="t" r="r" b="b"/>
            <a:pathLst>
              <a:path w="4847422" h="2714556">
                <a:moveTo>
                  <a:pt x="0" y="0"/>
                </a:moveTo>
                <a:lnTo>
                  <a:pt x="4847422" y="0"/>
                </a:lnTo>
                <a:lnTo>
                  <a:pt x="4847422" y="2714556"/>
                </a:lnTo>
                <a:lnTo>
                  <a:pt x="0" y="2714556"/>
                </a:lnTo>
                <a:close/>
              </a:path>
            </a:pathLst>
          </a:cu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6" name="S05-mark179"/>
          <p:cNvSpPr/>
          <p:nvPr/>
        </p:nvSpPr>
        <p:spPr>
          <a:xfrm>
            <a:off x="8183247" y="3533109"/>
            <a:ext cx="484742" cy="484742"/>
          </a:xfrm>
          <a:prstGeom prst="ellipse">
            <a:avLst/>
          </a:prstGeom>
          <a:solidFill>
            <a:srgbClr val="E9762B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7" name="S05-mark180"/>
          <p:cNvSpPr/>
          <p:nvPr/>
        </p:nvSpPr>
        <p:spPr>
          <a:xfrm>
            <a:off x="8740700" y="3533109"/>
            <a:ext cx="484742" cy="484742"/>
          </a:xfrm>
          <a:prstGeom prst="ellipse">
            <a:avLst/>
          </a:prstGeom>
          <a:solidFill>
            <a:srgbClr val="E9762B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8" name="S05-mark181"/>
          <p:cNvSpPr/>
          <p:nvPr/>
        </p:nvSpPr>
        <p:spPr>
          <a:xfrm>
            <a:off x="9395102" y="3654295"/>
            <a:ext cx="242371" cy="242371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9" name="S05-mark182"/>
          <p:cNvSpPr/>
          <p:nvPr/>
        </p:nvSpPr>
        <p:spPr>
          <a:xfrm>
            <a:off x="9695642" y="3654295"/>
            <a:ext cx="242371" cy="242371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10" name="S05-mark183"/>
          <p:cNvSpPr/>
          <p:nvPr/>
        </p:nvSpPr>
        <p:spPr>
          <a:xfrm>
            <a:off x="9996182" y="3654295"/>
            <a:ext cx="242371" cy="242371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11" name="S05-mark184"/>
          <p:cNvSpPr/>
          <p:nvPr/>
        </p:nvSpPr>
        <p:spPr>
          <a:xfrm>
            <a:off x="8361147" y="5641738"/>
            <a:ext cx="484742" cy="484742"/>
          </a:xfrm>
          <a:prstGeom prst="ellipse">
            <a:avLst/>
          </a:prstGeom>
          <a:solidFill>
            <a:srgbClr val="E9762B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12" name="S05-mark185"/>
          <p:cNvSpPr/>
          <p:nvPr/>
        </p:nvSpPr>
        <p:spPr>
          <a:xfrm>
            <a:off x="10291875" y="5762923"/>
            <a:ext cx="242371" cy="242371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13" name="S05-mark186"/>
          <p:cNvSpPr/>
          <p:nvPr/>
        </p:nvSpPr>
        <p:spPr>
          <a:xfrm>
            <a:off x="6535123" y="4114800"/>
            <a:ext cx="4847422" cy="0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14" name="S05-mark187"/>
          <p:cNvSpPr/>
          <p:nvPr/>
        </p:nvSpPr>
        <p:spPr>
          <a:xfrm>
            <a:off x="6535123" y="4793439"/>
            <a:ext cx="4847422" cy="0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15" name="S05-mark188"/>
          <p:cNvSpPr/>
          <p:nvPr/>
        </p:nvSpPr>
        <p:spPr>
          <a:xfrm>
            <a:off x="7989350" y="2757522"/>
            <a:ext cx="0" cy="2714556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16" name="S05-label190"/>
          <p:cNvSpPr txBox="1"/>
          <p:nvPr/>
        </p:nvSpPr>
        <p:spPr>
          <a:xfrm>
            <a:off x="7058020" y="2906341"/>
            <a:ext cx="40843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</a:t>
            </a:r>
            <a:endParaRPr lang="ko-KR" sz="2400" dirty="0"/>
          </a:p>
        </p:txBody>
      </p:sp>
      <p:sp>
        <p:nvSpPr>
          <p:cNvPr id="17" name="S05-label192"/>
          <p:cNvSpPr txBox="1"/>
          <p:nvPr/>
        </p:nvSpPr>
        <p:spPr>
          <a:xfrm>
            <a:off x="9286659" y="2906341"/>
            <a:ext cx="79857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책 수</a:t>
            </a:r>
            <a:endParaRPr lang="ko-KR" sz="2400" dirty="0"/>
          </a:p>
        </p:txBody>
      </p:sp>
      <p:sp>
        <p:nvSpPr>
          <p:cNvPr id="18" name="S05-label194"/>
          <p:cNvSpPr txBox="1"/>
          <p:nvPr/>
        </p:nvSpPr>
        <p:spPr>
          <a:xfrm>
            <a:off x="6957436" y="3584980"/>
            <a:ext cx="609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1반</a:t>
            </a:r>
            <a:endParaRPr lang="ko-KR" sz="2400" dirty="0"/>
          </a:p>
        </p:txBody>
      </p:sp>
      <p:sp>
        <p:nvSpPr>
          <p:cNvPr id="19" name="S05-label196"/>
          <p:cNvSpPr txBox="1"/>
          <p:nvPr/>
        </p:nvSpPr>
        <p:spPr>
          <a:xfrm>
            <a:off x="6957436" y="4263620"/>
            <a:ext cx="609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2반</a:t>
            </a:r>
            <a:endParaRPr lang="ko-KR" sz="2400" dirty="0"/>
          </a:p>
        </p:txBody>
      </p:sp>
      <p:sp>
        <p:nvSpPr>
          <p:cNvPr id="20" name="S05-label198"/>
          <p:cNvSpPr txBox="1"/>
          <p:nvPr/>
        </p:nvSpPr>
        <p:spPr>
          <a:xfrm>
            <a:off x="6957436" y="4942259"/>
            <a:ext cx="609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3반</a:t>
            </a:r>
            <a:endParaRPr lang="ko-KR" sz="2400" dirty="0"/>
          </a:p>
        </p:txBody>
      </p:sp>
      <p:sp>
        <p:nvSpPr>
          <p:cNvPr id="21" name="S05-label200"/>
          <p:cNvSpPr txBox="1"/>
          <p:nvPr/>
        </p:nvSpPr>
        <p:spPr>
          <a:xfrm>
            <a:off x="7526274" y="2203465"/>
            <a:ext cx="286512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반별 학급 문고 책 수</a:t>
            </a:r>
            <a:endParaRPr lang="ko-KR" sz="2400" dirty="0"/>
          </a:p>
        </p:txBody>
      </p:sp>
      <p:sp>
        <p:nvSpPr>
          <p:cNvPr id="22" name="S05-label202"/>
          <p:cNvSpPr txBox="1"/>
          <p:nvPr/>
        </p:nvSpPr>
        <p:spPr>
          <a:xfrm>
            <a:off x="9042070" y="5693609"/>
            <a:ext cx="81076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10권</a:t>
            </a:r>
            <a:endParaRPr lang="ko-KR" sz="2400" dirty="0"/>
          </a:p>
        </p:txBody>
      </p:sp>
      <p:sp>
        <p:nvSpPr>
          <p:cNvPr id="23" name="S05-label204"/>
          <p:cNvSpPr txBox="1"/>
          <p:nvPr/>
        </p:nvSpPr>
        <p:spPr>
          <a:xfrm>
            <a:off x="10702070" y="5693609"/>
            <a:ext cx="609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1권</a:t>
            </a:r>
            <a:endParaRPr lang="ko-KR" sz="2400" dirty="0"/>
          </a:p>
        </p:txBody>
      </p:sp>
      <p:sp>
        <p:nvSpPr>
          <p:cNvPr id="24" name="S05-stepno205"/>
          <p:cNvSpPr txBox="1"/>
          <p:nvPr/>
        </p:nvSpPr>
        <p:spPr>
          <a:xfrm>
            <a:off x="548640" y="260146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25" name="S05-text206"/>
          <p:cNvSpPr txBox="1"/>
          <p:nvPr/>
        </p:nvSpPr>
        <p:spPr>
          <a:xfrm>
            <a:off x="1325880" y="2555748"/>
            <a:ext cx="4585716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큰 ●는 10권, 작은 ○는 1권으로 정해요.</a:t>
            </a:r>
            <a:endParaRPr lang="ko-KR" sz="3000" dirty="0"/>
          </a:p>
        </p:txBody>
      </p:sp>
      <p:sp>
        <p:nvSpPr>
          <p:cNvPr id="26" name="S05-stepno207"/>
          <p:cNvSpPr txBox="1"/>
          <p:nvPr/>
        </p:nvSpPr>
        <p:spPr>
          <a:xfrm>
            <a:off x="548640" y="369570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27" name="S05-text208"/>
          <p:cNvSpPr txBox="1"/>
          <p:nvPr/>
        </p:nvSpPr>
        <p:spPr>
          <a:xfrm>
            <a:off x="1325880" y="3649980"/>
            <a:ext cx="4585716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1반 23권은 10이 2개, 1이 3개</a:t>
            </a:r>
            <a:endParaRPr lang="ko-KR" sz="3000" dirty="0"/>
          </a:p>
        </p:txBody>
      </p:sp>
      <p:sp>
        <p:nvSpPr>
          <p:cNvPr id="28" name="S05-stepno209"/>
          <p:cNvSpPr txBox="1"/>
          <p:nvPr/>
        </p:nvSpPr>
        <p:spPr>
          <a:xfrm>
            <a:off x="548640" y="478993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29" name="S05-text210"/>
          <p:cNvSpPr txBox="1"/>
          <p:nvPr/>
        </p:nvSpPr>
        <p:spPr>
          <a:xfrm>
            <a:off x="1325880" y="4744212"/>
            <a:ext cx="4585716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큰 ● 2개, 작은 ○ 3개를 그려요.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그림그래프로 비교해요</a:t>
            </a:r>
            <a:endParaRPr lang="ko-KR" sz="4000" dirty="0"/>
          </a:p>
        </p:txBody>
      </p:sp>
      <p:sp>
        <p:nvSpPr>
          <p:cNvPr id="3" name="S06-card21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6-cardtext21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그림그래프는 많고 적음이 한눈에 보여요.</a:t>
            </a:r>
            <a:endParaRPr lang="ko-KR" sz="3000" dirty="0"/>
          </a:p>
        </p:txBody>
      </p:sp>
      <p:sp>
        <p:nvSpPr>
          <p:cNvPr id="5" name="S06-figure213" descr="그림그래프(마을별 학생 수): 큰 원 = 10명, 작은 원 = 1명. 가 큰 원 3개·작은 원 2개(32명), 나 큰 원 2개·작은 원 5개(25명), 다 큰 원 4개·작은 원 1개(41명), 라 큰 원 1개·작은 원 7개(17명)"/>
          <p:cNvSpPr/>
          <p:nvPr/>
        </p:nvSpPr>
        <p:spPr>
          <a:xfrm>
            <a:off x="1636472" y="1920004"/>
            <a:ext cx="3723588" cy="521302"/>
          </a:xfrm>
          <a:custGeom>
            <a:avLst/>
            <a:gdLst/>
            <a:ahLst/>
            <a:cxnLst/>
            <a:rect l="l" t="t" r="r" b="b"/>
            <a:pathLst>
              <a:path w="3723588" h="521302">
                <a:moveTo>
                  <a:pt x="0" y="0"/>
                </a:moveTo>
                <a:lnTo>
                  <a:pt x="3723588" y="0"/>
                </a:lnTo>
                <a:lnTo>
                  <a:pt x="3723588" y="521302"/>
                </a:lnTo>
                <a:lnTo>
                  <a:pt x="0" y="521302"/>
                </a:lnTo>
                <a:close/>
              </a:path>
            </a:pathLst>
          </a:custGeom>
          <a:solidFill>
            <a:srgbClr val="EAF3F1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6" name="S06-mark214"/>
          <p:cNvSpPr/>
          <p:nvPr/>
        </p:nvSpPr>
        <p:spPr>
          <a:xfrm>
            <a:off x="1636472" y="1920004"/>
            <a:ext cx="3723588" cy="2606511"/>
          </a:xfrm>
          <a:custGeom>
            <a:avLst/>
            <a:gdLst/>
            <a:ahLst/>
            <a:cxnLst/>
            <a:rect l="l" t="t" r="r" b="b"/>
            <a:pathLst>
              <a:path w="3723588" h="2606511">
                <a:moveTo>
                  <a:pt x="0" y="0"/>
                </a:moveTo>
                <a:lnTo>
                  <a:pt x="3723588" y="0"/>
                </a:lnTo>
                <a:lnTo>
                  <a:pt x="3723588" y="2606511"/>
                </a:lnTo>
                <a:lnTo>
                  <a:pt x="0" y="2606511"/>
                </a:lnTo>
                <a:close/>
              </a:path>
            </a:pathLst>
          </a:cu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7" name="S06-mark215"/>
          <p:cNvSpPr/>
          <p:nvPr/>
        </p:nvSpPr>
        <p:spPr>
          <a:xfrm>
            <a:off x="2902492" y="2515778"/>
            <a:ext cx="372359" cy="372359"/>
          </a:xfrm>
          <a:prstGeom prst="ellipse">
            <a:avLst/>
          </a:prstGeom>
          <a:solidFill>
            <a:srgbClr val="E9762B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8" name="S06-mark216"/>
          <p:cNvSpPr/>
          <p:nvPr/>
        </p:nvSpPr>
        <p:spPr>
          <a:xfrm>
            <a:off x="3330704" y="2515778"/>
            <a:ext cx="372359" cy="372359"/>
          </a:xfrm>
          <a:prstGeom prst="ellipse">
            <a:avLst/>
          </a:prstGeom>
          <a:solidFill>
            <a:srgbClr val="E9762B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9" name="S06-mark217"/>
          <p:cNvSpPr/>
          <p:nvPr/>
        </p:nvSpPr>
        <p:spPr>
          <a:xfrm>
            <a:off x="3758917" y="2515778"/>
            <a:ext cx="372359" cy="372359"/>
          </a:xfrm>
          <a:prstGeom prst="ellipse">
            <a:avLst/>
          </a:prstGeom>
          <a:solidFill>
            <a:srgbClr val="E9762B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10" name="S06-mark218"/>
          <p:cNvSpPr/>
          <p:nvPr/>
        </p:nvSpPr>
        <p:spPr>
          <a:xfrm>
            <a:off x="4261601" y="2608868"/>
            <a:ext cx="186179" cy="186179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11" name="S06-mark219"/>
          <p:cNvSpPr/>
          <p:nvPr/>
        </p:nvSpPr>
        <p:spPr>
          <a:xfrm>
            <a:off x="4492464" y="2608868"/>
            <a:ext cx="186179" cy="186179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12" name="S06-mark220"/>
          <p:cNvSpPr/>
          <p:nvPr/>
        </p:nvSpPr>
        <p:spPr>
          <a:xfrm>
            <a:off x="2902492" y="3037081"/>
            <a:ext cx="372359" cy="372359"/>
          </a:xfrm>
          <a:prstGeom prst="ellipse">
            <a:avLst/>
          </a:prstGeom>
          <a:solidFill>
            <a:srgbClr val="E9762B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13" name="S06-mark221"/>
          <p:cNvSpPr/>
          <p:nvPr/>
        </p:nvSpPr>
        <p:spPr>
          <a:xfrm>
            <a:off x="3330704" y="3037081"/>
            <a:ext cx="372359" cy="372359"/>
          </a:xfrm>
          <a:prstGeom prst="ellipse">
            <a:avLst/>
          </a:prstGeom>
          <a:solidFill>
            <a:srgbClr val="E9762B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14" name="S06-mark222"/>
          <p:cNvSpPr/>
          <p:nvPr/>
        </p:nvSpPr>
        <p:spPr>
          <a:xfrm>
            <a:off x="3833389" y="3130170"/>
            <a:ext cx="186179" cy="186179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15" name="S06-mark223"/>
          <p:cNvSpPr/>
          <p:nvPr/>
        </p:nvSpPr>
        <p:spPr>
          <a:xfrm>
            <a:off x="4064251" y="3130170"/>
            <a:ext cx="186179" cy="186179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16" name="S06-mark224"/>
          <p:cNvSpPr/>
          <p:nvPr/>
        </p:nvSpPr>
        <p:spPr>
          <a:xfrm>
            <a:off x="4295114" y="3130170"/>
            <a:ext cx="186179" cy="186179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17" name="S06-mark225"/>
          <p:cNvSpPr/>
          <p:nvPr/>
        </p:nvSpPr>
        <p:spPr>
          <a:xfrm>
            <a:off x="4525976" y="3130170"/>
            <a:ext cx="186179" cy="186179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18" name="S06-mark226"/>
          <p:cNvSpPr/>
          <p:nvPr/>
        </p:nvSpPr>
        <p:spPr>
          <a:xfrm>
            <a:off x="4756838" y="3130170"/>
            <a:ext cx="186179" cy="186179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19" name="S06-mark227"/>
          <p:cNvSpPr/>
          <p:nvPr/>
        </p:nvSpPr>
        <p:spPr>
          <a:xfrm>
            <a:off x="2902492" y="3558383"/>
            <a:ext cx="372359" cy="372359"/>
          </a:xfrm>
          <a:prstGeom prst="ellipse">
            <a:avLst/>
          </a:prstGeom>
          <a:solidFill>
            <a:srgbClr val="E9762B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20" name="S06-mark228"/>
          <p:cNvSpPr/>
          <p:nvPr/>
        </p:nvSpPr>
        <p:spPr>
          <a:xfrm>
            <a:off x="3330704" y="3558383"/>
            <a:ext cx="372359" cy="372359"/>
          </a:xfrm>
          <a:prstGeom prst="ellipse">
            <a:avLst/>
          </a:prstGeom>
          <a:solidFill>
            <a:srgbClr val="E9762B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21" name="S06-mark229"/>
          <p:cNvSpPr/>
          <p:nvPr/>
        </p:nvSpPr>
        <p:spPr>
          <a:xfrm>
            <a:off x="3758917" y="3558383"/>
            <a:ext cx="372359" cy="372359"/>
          </a:xfrm>
          <a:prstGeom prst="ellipse">
            <a:avLst/>
          </a:prstGeom>
          <a:solidFill>
            <a:srgbClr val="E9762B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22" name="S06-mark230"/>
          <p:cNvSpPr/>
          <p:nvPr/>
        </p:nvSpPr>
        <p:spPr>
          <a:xfrm>
            <a:off x="4187130" y="3558383"/>
            <a:ext cx="372359" cy="372359"/>
          </a:xfrm>
          <a:prstGeom prst="ellipse">
            <a:avLst/>
          </a:prstGeom>
          <a:solidFill>
            <a:srgbClr val="E9762B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23" name="S06-mark231"/>
          <p:cNvSpPr/>
          <p:nvPr/>
        </p:nvSpPr>
        <p:spPr>
          <a:xfrm>
            <a:off x="4689814" y="3651473"/>
            <a:ext cx="186179" cy="186179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24" name="S06-mark232"/>
          <p:cNvSpPr/>
          <p:nvPr/>
        </p:nvSpPr>
        <p:spPr>
          <a:xfrm>
            <a:off x="2902492" y="4079685"/>
            <a:ext cx="372359" cy="372359"/>
          </a:xfrm>
          <a:prstGeom prst="ellipse">
            <a:avLst/>
          </a:prstGeom>
          <a:solidFill>
            <a:srgbClr val="E9762B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25" name="S06-mark233"/>
          <p:cNvSpPr/>
          <p:nvPr/>
        </p:nvSpPr>
        <p:spPr>
          <a:xfrm>
            <a:off x="3405176" y="4172775"/>
            <a:ext cx="186179" cy="186179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26" name="S06-mark234"/>
          <p:cNvSpPr/>
          <p:nvPr/>
        </p:nvSpPr>
        <p:spPr>
          <a:xfrm>
            <a:off x="3636039" y="4172775"/>
            <a:ext cx="186179" cy="186179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27" name="S06-mark235"/>
          <p:cNvSpPr/>
          <p:nvPr/>
        </p:nvSpPr>
        <p:spPr>
          <a:xfrm>
            <a:off x="3866901" y="4172775"/>
            <a:ext cx="186179" cy="186179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28" name="S06-mark236"/>
          <p:cNvSpPr/>
          <p:nvPr/>
        </p:nvSpPr>
        <p:spPr>
          <a:xfrm>
            <a:off x="4097763" y="4172775"/>
            <a:ext cx="186179" cy="186179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29" name="S06-mark237"/>
          <p:cNvSpPr/>
          <p:nvPr/>
        </p:nvSpPr>
        <p:spPr>
          <a:xfrm>
            <a:off x="4328626" y="4172775"/>
            <a:ext cx="186179" cy="186179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30" name="S06-mark238"/>
          <p:cNvSpPr/>
          <p:nvPr/>
        </p:nvSpPr>
        <p:spPr>
          <a:xfrm>
            <a:off x="4559488" y="4172775"/>
            <a:ext cx="186179" cy="186179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31" name="S06-mark239"/>
          <p:cNvSpPr/>
          <p:nvPr/>
        </p:nvSpPr>
        <p:spPr>
          <a:xfrm>
            <a:off x="4790351" y="4172775"/>
            <a:ext cx="186179" cy="186179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32" name="S06-mark240"/>
          <p:cNvSpPr/>
          <p:nvPr/>
        </p:nvSpPr>
        <p:spPr>
          <a:xfrm>
            <a:off x="3039147" y="4656841"/>
            <a:ext cx="372359" cy="372359"/>
          </a:xfrm>
          <a:prstGeom prst="ellipse">
            <a:avLst/>
          </a:prstGeom>
          <a:solidFill>
            <a:srgbClr val="E9762B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33" name="S06-mark241"/>
          <p:cNvSpPr/>
          <p:nvPr/>
        </p:nvSpPr>
        <p:spPr>
          <a:xfrm>
            <a:off x="4522252" y="4749931"/>
            <a:ext cx="186179" cy="186179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34" name="S06-mark242"/>
          <p:cNvSpPr/>
          <p:nvPr/>
        </p:nvSpPr>
        <p:spPr>
          <a:xfrm>
            <a:off x="1636472" y="2962609"/>
            <a:ext cx="3723588" cy="0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35" name="S06-mark243"/>
          <p:cNvSpPr/>
          <p:nvPr/>
        </p:nvSpPr>
        <p:spPr>
          <a:xfrm>
            <a:off x="1636472" y="3483911"/>
            <a:ext cx="3723588" cy="0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36" name="S06-mark244"/>
          <p:cNvSpPr/>
          <p:nvPr/>
        </p:nvSpPr>
        <p:spPr>
          <a:xfrm>
            <a:off x="1636472" y="4005213"/>
            <a:ext cx="3723588" cy="0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37" name="S06-mark245"/>
          <p:cNvSpPr/>
          <p:nvPr/>
        </p:nvSpPr>
        <p:spPr>
          <a:xfrm>
            <a:off x="2753548" y="1920004"/>
            <a:ext cx="0" cy="2606511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38" name="S06-label247"/>
          <p:cNvSpPr txBox="1"/>
          <p:nvPr/>
        </p:nvSpPr>
        <p:spPr>
          <a:xfrm>
            <a:off x="1841442" y="1990155"/>
            <a:ext cx="70713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마을</a:t>
            </a:r>
            <a:endParaRPr lang="ko-KR" sz="2400" dirty="0"/>
          </a:p>
        </p:txBody>
      </p:sp>
      <p:sp>
        <p:nvSpPr>
          <p:cNvPr id="39" name="S06-label249"/>
          <p:cNvSpPr txBox="1"/>
          <p:nvPr/>
        </p:nvSpPr>
        <p:spPr>
          <a:xfrm>
            <a:off x="3508164" y="1990155"/>
            <a:ext cx="109728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학생 수</a:t>
            </a:r>
            <a:endParaRPr lang="ko-KR" sz="2400" dirty="0"/>
          </a:p>
        </p:txBody>
      </p:sp>
      <p:sp>
        <p:nvSpPr>
          <p:cNvPr id="40" name="S06-label251"/>
          <p:cNvSpPr txBox="1"/>
          <p:nvPr/>
        </p:nvSpPr>
        <p:spPr>
          <a:xfrm>
            <a:off x="1990794" y="2511458"/>
            <a:ext cx="40843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400" dirty="0"/>
          </a:p>
        </p:txBody>
      </p:sp>
      <p:sp>
        <p:nvSpPr>
          <p:cNvPr id="41" name="S06-label253"/>
          <p:cNvSpPr txBox="1"/>
          <p:nvPr/>
        </p:nvSpPr>
        <p:spPr>
          <a:xfrm>
            <a:off x="1990794" y="3032760"/>
            <a:ext cx="40843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400" dirty="0"/>
          </a:p>
        </p:txBody>
      </p:sp>
      <p:sp>
        <p:nvSpPr>
          <p:cNvPr id="42" name="S06-label255"/>
          <p:cNvSpPr txBox="1"/>
          <p:nvPr/>
        </p:nvSpPr>
        <p:spPr>
          <a:xfrm>
            <a:off x="1990794" y="3554062"/>
            <a:ext cx="40843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2400" dirty="0"/>
          </a:p>
        </p:txBody>
      </p:sp>
      <p:sp>
        <p:nvSpPr>
          <p:cNvPr id="43" name="S06-label257"/>
          <p:cNvSpPr txBox="1"/>
          <p:nvPr/>
        </p:nvSpPr>
        <p:spPr>
          <a:xfrm>
            <a:off x="1990794" y="4075365"/>
            <a:ext cx="40843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</a:t>
            </a:r>
            <a:endParaRPr lang="ko-KR" sz="2400" dirty="0"/>
          </a:p>
        </p:txBody>
      </p:sp>
      <p:sp>
        <p:nvSpPr>
          <p:cNvPr id="44" name="S06-label259"/>
          <p:cNvSpPr txBox="1"/>
          <p:nvPr/>
        </p:nvSpPr>
        <p:spPr>
          <a:xfrm>
            <a:off x="2455850" y="1450235"/>
            <a:ext cx="208483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마을별 학생 수</a:t>
            </a:r>
            <a:endParaRPr lang="ko-KR" sz="2400" dirty="0"/>
          </a:p>
        </p:txBody>
      </p:sp>
      <p:sp>
        <p:nvSpPr>
          <p:cNvPr id="45" name="S06-label261"/>
          <p:cNvSpPr txBox="1"/>
          <p:nvPr/>
        </p:nvSpPr>
        <p:spPr>
          <a:xfrm>
            <a:off x="3468219" y="4652521"/>
            <a:ext cx="81076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10명</a:t>
            </a:r>
            <a:endParaRPr lang="ko-KR" sz="2400" dirty="0"/>
          </a:p>
        </p:txBody>
      </p:sp>
      <p:sp>
        <p:nvSpPr>
          <p:cNvPr id="46" name="S06-label263"/>
          <p:cNvSpPr txBox="1"/>
          <p:nvPr/>
        </p:nvSpPr>
        <p:spPr>
          <a:xfrm>
            <a:off x="4766682" y="4652521"/>
            <a:ext cx="609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1명</a:t>
            </a:r>
            <a:endParaRPr lang="ko-KR" sz="2400" dirty="0"/>
          </a:p>
        </p:txBody>
      </p:sp>
      <p:sp>
        <p:nvSpPr>
          <p:cNvPr id="47" name="S06-card264"/>
          <p:cNvSpPr/>
          <p:nvPr/>
        </p:nvSpPr>
        <p:spPr>
          <a:xfrm>
            <a:off x="6813652" y="1617726"/>
            <a:ext cx="4826660" cy="1258824"/>
          </a:xfrm>
          <a:prstGeom prst="roundRect">
            <a:avLst>
              <a:gd name="adj" fmla="val 8717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8" name="S06-cardtext265"/>
          <p:cNvSpPr txBox="1"/>
          <p:nvPr/>
        </p:nvSpPr>
        <p:spPr>
          <a:xfrm>
            <a:off x="7087972" y="1754886"/>
            <a:ext cx="4278020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큰 ●가 가장 많은 다 마을이 가장 많아요.</a:t>
            </a:r>
            <a:endParaRPr lang="ko-KR" sz="3000" dirty="0"/>
          </a:p>
        </p:txBody>
      </p:sp>
      <p:sp>
        <p:nvSpPr>
          <p:cNvPr id="49" name="S06-card266"/>
          <p:cNvSpPr/>
          <p:nvPr/>
        </p:nvSpPr>
        <p:spPr>
          <a:xfrm>
            <a:off x="6813652" y="3105150"/>
            <a:ext cx="4826660" cy="1723644"/>
          </a:xfrm>
          <a:prstGeom prst="roundRect">
            <a:avLst>
              <a:gd name="adj" fmla="val 6366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0" name="S06-cardtext267"/>
          <p:cNvSpPr txBox="1"/>
          <p:nvPr/>
        </p:nvSpPr>
        <p:spPr>
          <a:xfrm>
            <a:off x="7087972" y="3242310"/>
            <a:ext cx="4278020" cy="1449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41 − 32 = 9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 마을이 가 마을보다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9명 더 많아요.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마을이 더 많을까요?</a:t>
            </a:r>
            <a:endParaRPr lang="ko-KR" sz="4000" dirty="0"/>
          </a:p>
        </p:txBody>
      </p:sp>
      <p:sp>
        <p:nvSpPr>
          <p:cNvPr id="3" name="S07-card26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7-cardtext26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맞았을까요? 왜 그럴까요?</a:t>
            </a:r>
            <a:endParaRPr lang="ko-KR" sz="3000" dirty="0"/>
          </a:p>
        </p:txBody>
      </p:sp>
      <p:sp>
        <p:nvSpPr>
          <p:cNvPr id="5" name="S07-figure270" descr="그림그래프(마을별 학생 수): 큰 원 = 10명, 작은 원 = 1명. 가 큰 원 3개·작은 원 2개(32명), 라 큰 원 1개·작은 원 7개(17명)"/>
          <p:cNvSpPr/>
          <p:nvPr/>
        </p:nvSpPr>
        <p:spPr>
          <a:xfrm>
            <a:off x="640080" y="2135444"/>
            <a:ext cx="5180076" cy="725211"/>
          </a:xfrm>
          <a:custGeom>
            <a:avLst/>
            <a:gdLst/>
            <a:ahLst/>
            <a:cxnLst/>
            <a:rect l="l" t="t" r="r" b="b"/>
            <a:pathLst>
              <a:path w="5180076" h="725211">
                <a:moveTo>
                  <a:pt x="0" y="0"/>
                </a:moveTo>
                <a:lnTo>
                  <a:pt x="5180076" y="0"/>
                </a:lnTo>
                <a:lnTo>
                  <a:pt x="5180076" y="725211"/>
                </a:lnTo>
                <a:lnTo>
                  <a:pt x="0" y="725211"/>
                </a:lnTo>
                <a:close/>
              </a:path>
            </a:pathLst>
          </a:custGeom>
          <a:solidFill>
            <a:srgbClr val="EAF3F1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6" name="S07-mark271"/>
          <p:cNvSpPr/>
          <p:nvPr/>
        </p:nvSpPr>
        <p:spPr>
          <a:xfrm>
            <a:off x="640080" y="2135444"/>
            <a:ext cx="5180076" cy="2175632"/>
          </a:xfrm>
          <a:custGeom>
            <a:avLst/>
            <a:gdLst/>
            <a:ahLst/>
            <a:cxnLst/>
            <a:rect l="l" t="t" r="r" b="b"/>
            <a:pathLst>
              <a:path w="5180076" h="2175632">
                <a:moveTo>
                  <a:pt x="0" y="0"/>
                </a:moveTo>
                <a:lnTo>
                  <a:pt x="5180076" y="0"/>
                </a:lnTo>
                <a:lnTo>
                  <a:pt x="5180076" y="2175632"/>
                </a:lnTo>
                <a:lnTo>
                  <a:pt x="0" y="2175632"/>
                </a:lnTo>
                <a:close/>
              </a:path>
            </a:pathLst>
          </a:cu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7" name="S07-mark272"/>
          <p:cNvSpPr/>
          <p:nvPr/>
        </p:nvSpPr>
        <p:spPr>
          <a:xfrm>
            <a:off x="2401306" y="2964256"/>
            <a:ext cx="518008" cy="518008"/>
          </a:xfrm>
          <a:prstGeom prst="ellipse">
            <a:avLst/>
          </a:prstGeom>
          <a:solidFill>
            <a:srgbClr val="E9762B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8" name="S07-mark273"/>
          <p:cNvSpPr/>
          <p:nvPr/>
        </p:nvSpPr>
        <p:spPr>
          <a:xfrm>
            <a:off x="2997015" y="2964256"/>
            <a:ext cx="518008" cy="518008"/>
          </a:xfrm>
          <a:prstGeom prst="ellipse">
            <a:avLst/>
          </a:prstGeom>
          <a:solidFill>
            <a:srgbClr val="E9762B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9" name="S07-mark274"/>
          <p:cNvSpPr/>
          <p:nvPr/>
        </p:nvSpPr>
        <p:spPr>
          <a:xfrm>
            <a:off x="3592723" y="2964256"/>
            <a:ext cx="518008" cy="518008"/>
          </a:xfrm>
          <a:prstGeom prst="ellipse">
            <a:avLst/>
          </a:prstGeom>
          <a:solidFill>
            <a:srgbClr val="E9762B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10" name="S07-mark275"/>
          <p:cNvSpPr/>
          <p:nvPr/>
        </p:nvSpPr>
        <p:spPr>
          <a:xfrm>
            <a:off x="4292034" y="3093758"/>
            <a:ext cx="259004" cy="25900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11" name="S07-mark276"/>
          <p:cNvSpPr/>
          <p:nvPr/>
        </p:nvSpPr>
        <p:spPr>
          <a:xfrm>
            <a:off x="4613198" y="3093758"/>
            <a:ext cx="259004" cy="25900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12" name="S07-mark277"/>
          <p:cNvSpPr/>
          <p:nvPr/>
        </p:nvSpPr>
        <p:spPr>
          <a:xfrm>
            <a:off x="2401306" y="3689467"/>
            <a:ext cx="518008" cy="518008"/>
          </a:xfrm>
          <a:prstGeom prst="ellipse">
            <a:avLst/>
          </a:prstGeom>
          <a:solidFill>
            <a:srgbClr val="E9762B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13" name="S07-mark278"/>
          <p:cNvSpPr/>
          <p:nvPr/>
        </p:nvSpPr>
        <p:spPr>
          <a:xfrm>
            <a:off x="3100616" y="3818969"/>
            <a:ext cx="259004" cy="25900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14" name="S07-mark279"/>
          <p:cNvSpPr/>
          <p:nvPr/>
        </p:nvSpPr>
        <p:spPr>
          <a:xfrm>
            <a:off x="3421781" y="3818969"/>
            <a:ext cx="259004" cy="25900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15" name="S07-mark280"/>
          <p:cNvSpPr/>
          <p:nvPr/>
        </p:nvSpPr>
        <p:spPr>
          <a:xfrm>
            <a:off x="3742946" y="3818969"/>
            <a:ext cx="259004" cy="25900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16" name="S07-mark281"/>
          <p:cNvSpPr/>
          <p:nvPr/>
        </p:nvSpPr>
        <p:spPr>
          <a:xfrm>
            <a:off x="4064110" y="3818969"/>
            <a:ext cx="259004" cy="25900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17" name="S07-mark282"/>
          <p:cNvSpPr/>
          <p:nvPr/>
        </p:nvSpPr>
        <p:spPr>
          <a:xfrm>
            <a:off x="4385275" y="3818969"/>
            <a:ext cx="259004" cy="25900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18" name="S07-mark283"/>
          <p:cNvSpPr/>
          <p:nvPr/>
        </p:nvSpPr>
        <p:spPr>
          <a:xfrm>
            <a:off x="4706440" y="3818969"/>
            <a:ext cx="259004" cy="25900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19" name="S07-mark284"/>
          <p:cNvSpPr/>
          <p:nvPr/>
        </p:nvSpPr>
        <p:spPr>
          <a:xfrm>
            <a:off x="5027604" y="3818969"/>
            <a:ext cx="259004" cy="25900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20" name="S07-mark285"/>
          <p:cNvSpPr/>
          <p:nvPr/>
        </p:nvSpPr>
        <p:spPr>
          <a:xfrm>
            <a:off x="2591415" y="4492379"/>
            <a:ext cx="518008" cy="518008"/>
          </a:xfrm>
          <a:prstGeom prst="ellipse">
            <a:avLst/>
          </a:prstGeom>
          <a:solidFill>
            <a:srgbClr val="E9762B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21" name="S07-mark286"/>
          <p:cNvSpPr/>
          <p:nvPr/>
        </p:nvSpPr>
        <p:spPr>
          <a:xfrm>
            <a:off x="4654639" y="4621881"/>
            <a:ext cx="259004" cy="25900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22" name="S07-mark287"/>
          <p:cNvSpPr/>
          <p:nvPr/>
        </p:nvSpPr>
        <p:spPr>
          <a:xfrm>
            <a:off x="640080" y="3585865"/>
            <a:ext cx="5180076" cy="0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23" name="S07-mark288"/>
          <p:cNvSpPr/>
          <p:nvPr/>
        </p:nvSpPr>
        <p:spPr>
          <a:xfrm>
            <a:off x="2194103" y="2135444"/>
            <a:ext cx="0" cy="2175632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24" name="S07-label290"/>
          <p:cNvSpPr txBox="1"/>
          <p:nvPr/>
        </p:nvSpPr>
        <p:spPr>
          <a:xfrm>
            <a:off x="1063523" y="2307549"/>
            <a:ext cx="70713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마을</a:t>
            </a:r>
            <a:endParaRPr lang="ko-KR" sz="2400" dirty="0"/>
          </a:p>
        </p:txBody>
      </p:sp>
      <p:sp>
        <p:nvSpPr>
          <p:cNvPr id="25" name="S07-label292"/>
          <p:cNvSpPr txBox="1"/>
          <p:nvPr/>
        </p:nvSpPr>
        <p:spPr>
          <a:xfrm>
            <a:off x="3458489" y="2307549"/>
            <a:ext cx="109728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학생 수</a:t>
            </a:r>
            <a:endParaRPr lang="ko-KR" sz="2400" dirty="0"/>
          </a:p>
        </p:txBody>
      </p:sp>
      <p:sp>
        <p:nvSpPr>
          <p:cNvPr id="26" name="S07-label294"/>
          <p:cNvSpPr txBox="1"/>
          <p:nvPr/>
        </p:nvSpPr>
        <p:spPr>
          <a:xfrm>
            <a:off x="1212875" y="3032760"/>
            <a:ext cx="40843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400" dirty="0"/>
          </a:p>
        </p:txBody>
      </p:sp>
      <p:sp>
        <p:nvSpPr>
          <p:cNvPr id="27" name="S07-label296"/>
          <p:cNvSpPr txBox="1"/>
          <p:nvPr/>
        </p:nvSpPr>
        <p:spPr>
          <a:xfrm>
            <a:off x="1212875" y="3757971"/>
            <a:ext cx="40843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</a:t>
            </a:r>
            <a:endParaRPr lang="ko-KR" sz="2400" dirty="0"/>
          </a:p>
        </p:txBody>
      </p:sp>
      <p:sp>
        <p:nvSpPr>
          <p:cNvPr id="28" name="S07-label298"/>
          <p:cNvSpPr txBox="1"/>
          <p:nvPr/>
        </p:nvSpPr>
        <p:spPr>
          <a:xfrm>
            <a:off x="2187702" y="1556438"/>
            <a:ext cx="208483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마을별 학생 수</a:t>
            </a:r>
            <a:endParaRPr lang="ko-KR" sz="2400" dirty="0"/>
          </a:p>
        </p:txBody>
      </p:sp>
      <p:sp>
        <p:nvSpPr>
          <p:cNvPr id="29" name="S07-label300"/>
          <p:cNvSpPr txBox="1"/>
          <p:nvPr/>
        </p:nvSpPr>
        <p:spPr>
          <a:xfrm>
            <a:off x="3346886" y="4560882"/>
            <a:ext cx="81076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10명</a:t>
            </a:r>
            <a:endParaRPr lang="ko-KR" sz="2400" dirty="0"/>
          </a:p>
        </p:txBody>
      </p:sp>
      <p:sp>
        <p:nvSpPr>
          <p:cNvPr id="30" name="S07-label302"/>
          <p:cNvSpPr txBox="1"/>
          <p:nvPr/>
        </p:nvSpPr>
        <p:spPr>
          <a:xfrm>
            <a:off x="5113900" y="4560882"/>
            <a:ext cx="609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1명</a:t>
            </a:r>
            <a:endParaRPr lang="ko-KR" sz="2400" dirty="0"/>
          </a:p>
        </p:txBody>
      </p:sp>
      <p:sp>
        <p:nvSpPr>
          <p:cNvPr id="31" name="S07-card303"/>
          <p:cNvSpPr/>
          <p:nvPr/>
        </p:nvSpPr>
        <p:spPr>
          <a:xfrm>
            <a:off x="6277356" y="1866900"/>
            <a:ext cx="5362956" cy="1242060"/>
          </a:xfrm>
          <a:prstGeom prst="roundRect">
            <a:avLst>
              <a:gd name="adj" fmla="val 88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32" name="S07-cardtext304"/>
          <p:cNvSpPr txBox="1"/>
          <p:nvPr/>
        </p:nvSpPr>
        <p:spPr>
          <a:xfrm>
            <a:off x="6551676" y="2004060"/>
            <a:ext cx="4814316" cy="967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토끼: 라 마을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그림이 8개라서 더 많아요.</a:t>
            </a:r>
            <a:endParaRPr lang="ko-KR" sz="3000" dirty="0"/>
          </a:p>
        </p:txBody>
      </p:sp>
      <p:sp>
        <p:nvSpPr>
          <p:cNvPr id="33" name="S07-card305"/>
          <p:cNvSpPr/>
          <p:nvPr/>
        </p:nvSpPr>
        <p:spPr>
          <a:xfrm>
            <a:off x="6277356" y="3337560"/>
            <a:ext cx="5362956" cy="1242060"/>
          </a:xfrm>
          <a:prstGeom prst="roundRect">
            <a:avLst>
              <a:gd name="adj" fmla="val 88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34" name="S07-cardtext306"/>
          <p:cNvSpPr txBox="1"/>
          <p:nvPr/>
        </p:nvSpPr>
        <p:spPr>
          <a:xfrm>
            <a:off x="6551676" y="3474720"/>
            <a:ext cx="4814316" cy="967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곰: 가 마을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큰 ●가 3개라서 더 많아요.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몇 개씩 그릴까요?</a:t>
            </a:r>
            <a:endParaRPr lang="ko-KR" sz="4000" dirty="0"/>
          </a:p>
        </p:txBody>
      </p:sp>
      <p:sp>
        <p:nvSpPr>
          <p:cNvPr id="3" name="S08-card30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4" name="S08-cardtext30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큰 ● = 10권, 작은 ○ = 1권</a:t>
            </a:r>
            <a:endParaRPr lang="ko-KR" sz="3000" dirty="0"/>
          </a:p>
        </p:txBody>
      </p:sp>
      <p:sp>
        <p:nvSpPr>
          <p:cNvPr id="5" name="S08-figure309" descr="그림그래프(반별 학급 문고 책 수): 큰 원 = 10권, 작은 원 = 1권. 1반 큰 원 2개·작은 원 3개(23권), 2반 빈칸, 3반 빈칸"/>
          <p:cNvSpPr/>
          <p:nvPr/>
        </p:nvSpPr>
        <p:spPr>
          <a:xfrm>
            <a:off x="6783003" y="2004794"/>
            <a:ext cx="4351663" cy="609233"/>
          </a:xfrm>
          <a:custGeom>
            <a:avLst/>
            <a:gdLst/>
            <a:ahLst/>
            <a:cxnLst/>
            <a:rect l="l" t="t" r="r" b="b"/>
            <a:pathLst>
              <a:path w="4351663" h="609233">
                <a:moveTo>
                  <a:pt x="0" y="0"/>
                </a:moveTo>
                <a:lnTo>
                  <a:pt x="4351663" y="0"/>
                </a:lnTo>
                <a:lnTo>
                  <a:pt x="4351663" y="609233"/>
                </a:lnTo>
                <a:lnTo>
                  <a:pt x="0" y="609233"/>
                </a:lnTo>
                <a:close/>
              </a:path>
            </a:pathLst>
          </a:custGeom>
          <a:solidFill>
            <a:srgbClr val="EAF3F1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6" name="S08-mark310"/>
          <p:cNvSpPr/>
          <p:nvPr/>
        </p:nvSpPr>
        <p:spPr>
          <a:xfrm>
            <a:off x="6783003" y="2004794"/>
            <a:ext cx="4351663" cy="2436931"/>
          </a:xfrm>
          <a:custGeom>
            <a:avLst/>
            <a:gdLst/>
            <a:ahLst/>
            <a:cxnLst/>
            <a:rect l="l" t="t" r="r" b="b"/>
            <a:pathLst>
              <a:path w="4351663" h="2436931">
                <a:moveTo>
                  <a:pt x="0" y="0"/>
                </a:moveTo>
                <a:lnTo>
                  <a:pt x="4351663" y="0"/>
                </a:lnTo>
                <a:lnTo>
                  <a:pt x="4351663" y="2436931"/>
                </a:lnTo>
                <a:lnTo>
                  <a:pt x="0" y="2436931"/>
                </a:lnTo>
                <a:close/>
              </a:path>
            </a:pathLst>
          </a:cu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7" name="S08-mark311"/>
          <p:cNvSpPr/>
          <p:nvPr/>
        </p:nvSpPr>
        <p:spPr>
          <a:xfrm>
            <a:off x="8262568" y="2701060"/>
            <a:ext cx="435166" cy="435166"/>
          </a:xfrm>
          <a:prstGeom prst="ellipse">
            <a:avLst/>
          </a:prstGeom>
          <a:solidFill>
            <a:srgbClr val="E9762B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8" name="S08-mark312"/>
          <p:cNvSpPr/>
          <p:nvPr/>
        </p:nvSpPr>
        <p:spPr>
          <a:xfrm>
            <a:off x="8763009" y="2701060"/>
            <a:ext cx="435166" cy="435166"/>
          </a:xfrm>
          <a:prstGeom prst="ellipse">
            <a:avLst/>
          </a:prstGeom>
          <a:solidFill>
            <a:srgbClr val="E9762B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9" name="S08-mark313"/>
          <p:cNvSpPr/>
          <p:nvPr/>
        </p:nvSpPr>
        <p:spPr>
          <a:xfrm>
            <a:off x="9350484" y="2809852"/>
            <a:ext cx="217583" cy="217583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10" name="S08-mark314"/>
          <p:cNvSpPr/>
          <p:nvPr/>
        </p:nvSpPr>
        <p:spPr>
          <a:xfrm>
            <a:off x="9620287" y="2809852"/>
            <a:ext cx="217583" cy="217583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11" name="S08-mark315"/>
          <p:cNvSpPr/>
          <p:nvPr/>
        </p:nvSpPr>
        <p:spPr>
          <a:xfrm>
            <a:off x="9890090" y="2809852"/>
            <a:ext cx="217583" cy="217583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12" name="S08-mark316"/>
          <p:cNvSpPr/>
          <p:nvPr/>
        </p:nvSpPr>
        <p:spPr>
          <a:xfrm>
            <a:off x="8422274" y="4594034"/>
            <a:ext cx="435166" cy="435166"/>
          </a:xfrm>
          <a:prstGeom prst="ellipse">
            <a:avLst/>
          </a:prstGeom>
          <a:solidFill>
            <a:srgbClr val="E9762B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13" name="S08-mark317"/>
          <p:cNvSpPr/>
          <p:nvPr/>
        </p:nvSpPr>
        <p:spPr>
          <a:xfrm>
            <a:off x="10155541" y="4702825"/>
            <a:ext cx="217583" cy="217583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14" name="S08-mark318"/>
          <p:cNvSpPr/>
          <p:nvPr/>
        </p:nvSpPr>
        <p:spPr>
          <a:xfrm>
            <a:off x="6783003" y="3223260"/>
            <a:ext cx="4351663" cy="0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15" name="S08-mark319"/>
          <p:cNvSpPr/>
          <p:nvPr/>
        </p:nvSpPr>
        <p:spPr>
          <a:xfrm>
            <a:off x="6783003" y="3832493"/>
            <a:ext cx="4351663" cy="0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16" name="S08-mark320"/>
          <p:cNvSpPr/>
          <p:nvPr/>
        </p:nvSpPr>
        <p:spPr>
          <a:xfrm>
            <a:off x="8088501" y="2004794"/>
            <a:ext cx="0" cy="2436931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17" name="S08-label322"/>
          <p:cNvSpPr txBox="1"/>
          <p:nvPr/>
        </p:nvSpPr>
        <p:spPr>
          <a:xfrm>
            <a:off x="7231536" y="2118911"/>
            <a:ext cx="40843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</a:t>
            </a:r>
            <a:endParaRPr lang="ko-KR" sz="2400" dirty="0"/>
          </a:p>
        </p:txBody>
      </p:sp>
      <p:sp>
        <p:nvSpPr>
          <p:cNvPr id="18" name="S08-label324"/>
          <p:cNvSpPr txBox="1"/>
          <p:nvPr/>
        </p:nvSpPr>
        <p:spPr>
          <a:xfrm>
            <a:off x="9212295" y="2118911"/>
            <a:ext cx="79857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책 수</a:t>
            </a:r>
            <a:endParaRPr lang="ko-KR" sz="2400" dirty="0"/>
          </a:p>
        </p:txBody>
      </p:sp>
      <p:sp>
        <p:nvSpPr>
          <p:cNvPr id="19" name="S08-label326"/>
          <p:cNvSpPr txBox="1"/>
          <p:nvPr/>
        </p:nvSpPr>
        <p:spPr>
          <a:xfrm>
            <a:off x="7130952" y="2728144"/>
            <a:ext cx="609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1반</a:t>
            </a:r>
            <a:endParaRPr lang="ko-KR" sz="2400" dirty="0"/>
          </a:p>
        </p:txBody>
      </p:sp>
      <p:sp>
        <p:nvSpPr>
          <p:cNvPr id="20" name="S08-label328"/>
          <p:cNvSpPr txBox="1"/>
          <p:nvPr/>
        </p:nvSpPr>
        <p:spPr>
          <a:xfrm>
            <a:off x="7130952" y="3337376"/>
            <a:ext cx="609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2반</a:t>
            </a:r>
            <a:endParaRPr lang="ko-KR" sz="2400" dirty="0"/>
          </a:p>
        </p:txBody>
      </p:sp>
      <p:sp>
        <p:nvSpPr>
          <p:cNvPr id="21" name="S08-label330"/>
          <p:cNvSpPr txBox="1"/>
          <p:nvPr/>
        </p:nvSpPr>
        <p:spPr>
          <a:xfrm>
            <a:off x="7130952" y="3946609"/>
            <a:ext cx="609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3반</a:t>
            </a:r>
            <a:endParaRPr lang="ko-KR" sz="2400" dirty="0"/>
          </a:p>
        </p:txBody>
      </p:sp>
      <p:sp>
        <p:nvSpPr>
          <p:cNvPr id="22" name="S08-label332"/>
          <p:cNvSpPr txBox="1"/>
          <p:nvPr/>
        </p:nvSpPr>
        <p:spPr>
          <a:xfrm>
            <a:off x="7526274" y="1487920"/>
            <a:ext cx="286512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반별 학급 문고 책 수</a:t>
            </a:r>
            <a:endParaRPr lang="ko-KR" sz="2400" dirty="0"/>
          </a:p>
        </p:txBody>
      </p:sp>
      <p:sp>
        <p:nvSpPr>
          <p:cNvPr id="23" name="S08-label334"/>
          <p:cNvSpPr txBox="1"/>
          <p:nvPr/>
        </p:nvSpPr>
        <p:spPr>
          <a:xfrm>
            <a:off x="8992098" y="4621117"/>
            <a:ext cx="81076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10권</a:t>
            </a:r>
            <a:endParaRPr lang="ko-KR" sz="2400" dirty="0"/>
          </a:p>
        </p:txBody>
      </p:sp>
      <p:sp>
        <p:nvSpPr>
          <p:cNvPr id="24" name="S08-label336"/>
          <p:cNvSpPr txBox="1"/>
          <p:nvPr/>
        </p:nvSpPr>
        <p:spPr>
          <a:xfrm>
            <a:off x="10492611" y="4621117"/>
            <a:ext cx="609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1권</a:t>
            </a:r>
            <a:endParaRPr lang="ko-KR" sz="2400" dirty="0"/>
          </a:p>
        </p:txBody>
      </p:sp>
      <p:sp>
        <p:nvSpPr>
          <p:cNvPr id="25" name="S08-chip337"/>
          <p:cNvSpPr txBox="1"/>
          <p:nvPr/>
        </p:nvSpPr>
        <p:spPr>
          <a:xfrm>
            <a:off x="548640" y="16139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26" name="S08-text338"/>
          <p:cNvSpPr txBox="1"/>
          <p:nvPr/>
        </p:nvSpPr>
        <p:spPr>
          <a:xfrm>
            <a:off x="1344168" y="1325880"/>
            <a:ext cx="45674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2반 34권: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큰 ● □개, 작은 ○ □개</a:t>
            </a:r>
            <a:endParaRPr lang="ko-KR" sz="3000" dirty="0"/>
          </a:p>
        </p:txBody>
      </p:sp>
      <p:sp>
        <p:nvSpPr>
          <p:cNvPr id="27" name="S08-chip339"/>
          <p:cNvSpPr txBox="1"/>
          <p:nvPr/>
        </p:nvSpPr>
        <p:spPr>
          <a:xfrm>
            <a:off x="548640" y="29397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28" name="S08-text340"/>
          <p:cNvSpPr txBox="1"/>
          <p:nvPr/>
        </p:nvSpPr>
        <p:spPr>
          <a:xfrm>
            <a:off x="1344168" y="2651760"/>
            <a:ext cx="45674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3반 18권: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큰 ● □개, 작은 ○ □개</a:t>
            </a:r>
            <a:endParaRPr lang="ko-KR" sz="3000" dirty="0"/>
          </a:p>
        </p:txBody>
      </p:sp>
      <p:sp>
        <p:nvSpPr>
          <p:cNvPr id="29" name="S08-chip341"/>
          <p:cNvSpPr txBox="1"/>
          <p:nvPr/>
        </p:nvSpPr>
        <p:spPr>
          <a:xfrm>
            <a:off x="548640" y="42656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30" name="S08-text342"/>
          <p:cNvSpPr txBox="1"/>
          <p:nvPr/>
        </p:nvSpPr>
        <p:spPr>
          <a:xfrm>
            <a:off x="1344168" y="3977640"/>
            <a:ext cx="45674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큰 ● 4개, 작은 ○ 6개는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몇 권?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그래프를 읽어요</a:t>
            </a:r>
            <a:endParaRPr lang="ko-KR" sz="4000" dirty="0"/>
          </a:p>
        </p:txBody>
      </p:sp>
      <p:sp>
        <p:nvSpPr>
          <p:cNvPr id="3" name="S09-figure343" descr="그림그래프(가게별 팔린 붕어빵 수): 큰 원 = 10개, 작은 원 = 1개. 가 큰 원 3개·작은 원 6개(36개), 나 큰 원 4개·작은 원 3개(43개), 다 큰 원 3개·작은 원 2개(32개)"/>
          <p:cNvSpPr/>
          <p:nvPr/>
        </p:nvSpPr>
        <p:spPr>
          <a:xfrm>
            <a:off x="640080" y="2345355"/>
            <a:ext cx="5716372" cy="713273"/>
          </a:xfrm>
          <a:custGeom>
            <a:avLst/>
            <a:gdLst/>
            <a:ahLst/>
            <a:cxnLst/>
            <a:rect l="l" t="t" r="r" b="b"/>
            <a:pathLst>
              <a:path w="5716372" h="713273">
                <a:moveTo>
                  <a:pt x="0" y="0"/>
                </a:moveTo>
                <a:lnTo>
                  <a:pt x="5716372" y="0"/>
                </a:lnTo>
                <a:lnTo>
                  <a:pt x="5716372" y="713273"/>
                </a:lnTo>
                <a:lnTo>
                  <a:pt x="0" y="713273"/>
                </a:lnTo>
                <a:close/>
              </a:path>
            </a:pathLst>
          </a:custGeom>
          <a:solidFill>
            <a:srgbClr val="EAF3F1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4" name="S09-mark344"/>
          <p:cNvSpPr/>
          <p:nvPr/>
        </p:nvSpPr>
        <p:spPr>
          <a:xfrm>
            <a:off x="640080" y="2345355"/>
            <a:ext cx="5716372" cy="2853091"/>
          </a:xfrm>
          <a:custGeom>
            <a:avLst/>
            <a:gdLst/>
            <a:ahLst/>
            <a:cxnLst/>
            <a:rect l="l" t="t" r="r" b="b"/>
            <a:pathLst>
              <a:path w="5716372" h="2853091">
                <a:moveTo>
                  <a:pt x="0" y="0"/>
                </a:moveTo>
                <a:lnTo>
                  <a:pt x="5716372" y="0"/>
                </a:lnTo>
                <a:lnTo>
                  <a:pt x="5716372" y="2853091"/>
                </a:lnTo>
                <a:lnTo>
                  <a:pt x="0" y="2853091"/>
                </a:lnTo>
                <a:close/>
              </a:path>
            </a:pathLst>
          </a:cu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5" name="S09-mark345"/>
          <p:cNvSpPr/>
          <p:nvPr/>
        </p:nvSpPr>
        <p:spPr>
          <a:xfrm>
            <a:off x="2372314" y="3160523"/>
            <a:ext cx="509481" cy="509481"/>
          </a:xfrm>
          <a:prstGeom prst="ellipse">
            <a:avLst/>
          </a:prstGeom>
          <a:solidFill>
            <a:srgbClr val="E9762B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6" name="S09-mark346"/>
          <p:cNvSpPr/>
          <p:nvPr/>
        </p:nvSpPr>
        <p:spPr>
          <a:xfrm>
            <a:off x="2958216" y="3160523"/>
            <a:ext cx="509481" cy="509481"/>
          </a:xfrm>
          <a:prstGeom prst="ellipse">
            <a:avLst/>
          </a:prstGeom>
          <a:solidFill>
            <a:srgbClr val="E9762B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7" name="S09-mark347"/>
          <p:cNvSpPr/>
          <p:nvPr/>
        </p:nvSpPr>
        <p:spPr>
          <a:xfrm>
            <a:off x="3544119" y="3160523"/>
            <a:ext cx="509481" cy="509481"/>
          </a:xfrm>
          <a:prstGeom prst="ellipse">
            <a:avLst/>
          </a:prstGeom>
          <a:solidFill>
            <a:srgbClr val="E9762B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8" name="S09-mark348"/>
          <p:cNvSpPr/>
          <p:nvPr/>
        </p:nvSpPr>
        <p:spPr>
          <a:xfrm>
            <a:off x="4231918" y="3287893"/>
            <a:ext cx="254740" cy="25474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9" name="S09-mark349"/>
          <p:cNvSpPr/>
          <p:nvPr/>
        </p:nvSpPr>
        <p:spPr>
          <a:xfrm>
            <a:off x="4547796" y="3287893"/>
            <a:ext cx="254740" cy="25474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10" name="S09-mark350"/>
          <p:cNvSpPr/>
          <p:nvPr/>
        </p:nvSpPr>
        <p:spPr>
          <a:xfrm>
            <a:off x="4863674" y="3287893"/>
            <a:ext cx="254740" cy="25474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11" name="S09-mark351"/>
          <p:cNvSpPr/>
          <p:nvPr/>
        </p:nvSpPr>
        <p:spPr>
          <a:xfrm>
            <a:off x="5179552" y="3287893"/>
            <a:ext cx="254740" cy="25474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12" name="S09-mark352"/>
          <p:cNvSpPr/>
          <p:nvPr/>
        </p:nvSpPr>
        <p:spPr>
          <a:xfrm>
            <a:off x="5495429" y="3287893"/>
            <a:ext cx="254740" cy="25474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13" name="S09-mark353"/>
          <p:cNvSpPr/>
          <p:nvPr/>
        </p:nvSpPr>
        <p:spPr>
          <a:xfrm>
            <a:off x="5811307" y="3287893"/>
            <a:ext cx="254740" cy="25474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14" name="S09-mark354"/>
          <p:cNvSpPr/>
          <p:nvPr/>
        </p:nvSpPr>
        <p:spPr>
          <a:xfrm>
            <a:off x="2372314" y="3873796"/>
            <a:ext cx="509481" cy="509481"/>
          </a:xfrm>
          <a:prstGeom prst="ellipse">
            <a:avLst/>
          </a:prstGeom>
          <a:solidFill>
            <a:srgbClr val="E9762B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15" name="S09-mark355"/>
          <p:cNvSpPr/>
          <p:nvPr/>
        </p:nvSpPr>
        <p:spPr>
          <a:xfrm>
            <a:off x="2958216" y="3873796"/>
            <a:ext cx="509481" cy="509481"/>
          </a:xfrm>
          <a:prstGeom prst="ellipse">
            <a:avLst/>
          </a:prstGeom>
          <a:solidFill>
            <a:srgbClr val="E9762B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16" name="S09-mark356"/>
          <p:cNvSpPr/>
          <p:nvPr/>
        </p:nvSpPr>
        <p:spPr>
          <a:xfrm>
            <a:off x="3544119" y="3873796"/>
            <a:ext cx="509481" cy="509481"/>
          </a:xfrm>
          <a:prstGeom prst="ellipse">
            <a:avLst/>
          </a:prstGeom>
          <a:solidFill>
            <a:srgbClr val="E9762B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17" name="S09-mark357"/>
          <p:cNvSpPr/>
          <p:nvPr/>
        </p:nvSpPr>
        <p:spPr>
          <a:xfrm>
            <a:off x="4130022" y="3873796"/>
            <a:ext cx="509481" cy="509481"/>
          </a:xfrm>
          <a:prstGeom prst="ellipse">
            <a:avLst/>
          </a:prstGeom>
          <a:solidFill>
            <a:srgbClr val="E9762B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18" name="S09-mark358"/>
          <p:cNvSpPr/>
          <p:nvPr/>
        </p:nvSpPr>
        <p:spPr>
          <a:xfrm>
            <a:off x="4817820" y="4001166"/>
            <a:ext cx="254740" cy="25474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19" name="S09-mark359"/>
          <p:cNvSpPr/>
          <p:nvPr/>
        </p:nvSpPr>
        <p:spPr>
          <a:xfrm>
            <a:off x="5133698" y="4001166"/>
            <a:ext cx="254740" cy="25474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20" name="S09-mark360"/>
          <p:cNvSpPr/>
          <p:nvPr/>
        </p:nvSpPr>
        <p:spPr>
          <a:xfrm>
            <a:off x="5449576" y="4001166"/>
            <a:ext cx="254740" cy="25474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21" name="S09-mark361"/>
          <p:cNvSpPr/>
          <p:nvPr/>
        </p:nvSpPr>
        <p:spPr>
          <a:xfrm>
            <a:off x="2372314" y="4587069"/>
            <a:ext cx="509481" cy="509481"/>
          </a:xfrm>
          <a:prstGeom prst="ellipse">
            <a:avLst/>
          </a:prstGeom>
          <a:solidFill>
            <a:srgbClr val="E9762B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22" name="S09-mark362"/>
          <p:cNvSpPr/>
          <p:nvPr/>
        </p:nvSpPr>
        <p:spPr>
          <a:xfrm>
            <a:off x="2958216" y="4587069"/>
            <a:ext cx="509481" cy="509481"/>
          </a:xfrm>
          <a:prstGeom prst="ellipse">
            <a:avLst/>
          </a:prstGeom>
          <a:solidFill>
            <a:srgbClr val="E9762B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23" name="S09-mark363"/>
          <p:cNvSpPr/>
          <p:nvPr/>
        </p:nvSpPr>
        <p:spPr>
          <a:xfrm>
            <a:off x="3544119" y="4587069"/>
            <a:ext cx="509481" cy="509481"/>
          </a:xfrm>
          <a:prstGeom prst="ellipse">
            <a:avLst/>
          </a:prstGeom>
          <a:solidFill>
            <a:srgbClr val="E9762B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24" name="S09-mark364"/>
          <p:cNvSpPr/>
          <p:nvPr/>
        </p:nvSpPr>
        <p:spPr>
          <a:xfrm>
            <a:off x="4231918" y="4714439"/>
            <a:ext cx="254740" cy="25474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25" name="S09-mark365"/>
          <p:cNvSpPr/>
          <p:nvPr/>
        </p:nvSpPr>
        <p:spPr>
          <a:xfrm>
            <a:off x="4547796" y="4714439"/>
            <a:ext cx="254740" cy="25474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26" name="S09-mark366"/>
          <p:cNvSpPr/>
          <p:nvPr/>
        </p:nvSpPr>
        <p:spPr>
          <a:xfrm>
            <a:off x="3180859" y="5376764"/>
            <a:ext cx="509481" cy="509481"/>
          </a:xfrm>
          <a:prstGeom prst="ellipse">
            <a:avLst/>
          </a:prstGeom>
          <a:solidFill>
            <a:srgbClr val="E9762B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27" name="S09-mark367"/>
          <p:cNvSpPr/>
          <p:nvPr/>
        </p:nvSpPr>
        <p:spPr>
          <a:xfrm>
            <a:off x="5210120" y="5504134"/>
            <a:ext cx="254740" cy="25474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28" name="S09-mark368"/>
          <p:cNvSpPr/>
          <p:nvPr/>
        </p:nvSpPr>
        <p:spPr>
          <a:xfrm>
            <a:off x="640080" y="3771900"/>
            <a:ext cx="5716372" cy="0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29" name="S09-mark369"/>
          <p:cNvSpPr/>
          <p:nvPr/>
        </p:nvSpPr>
        <p:spPr>
          <a:xfrm>
            <a:off x="640080" y="4485173"/>
            <a:ext cx="5716372" cy="0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30" name="S09-mark370"/>
          <p:cNvSpPr/>
          <p:nvPr/>
        </p:nvSpPr>
        <p:spPr>
          <a:xfrm>
            <a:off x="2168522" y="2345355"/>
            <a:ext cx="0" cy="2853091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31" name="S09-label372"/>
          <p:cNvSpPr txBox="1"/>
          <p:nvPr/>
        </p:nvSpPr>
        <p:spPr>
          <a:xfrm>
            <a:off x="1050733" y="2511491"/>
            <a:ext cx="70713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가게</a:t>
            </a:r>
            <a:endParaRPr lang="ko-KR" sz="2400" dirty="0"/>
          </a:p>
        </p:txBody>
      </p:sp>
      <p:sp>
        <p:nvSpPr>
          <p:cNvPr id="32" name="S09-label374"/>
          <p:cNvSpPr txBox="1"/>
          <p:nvPr/>
        </p:nvSpPr>
        <p:spPr>
          <a:xfrm>
            <a:off x="3564495" y="2511491"/>
            <a:ext cx="139598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붕어빵 수</a:t>
            </a:r>
            <a:endParaRPr lang="ko-KR" sz="2400" dirty="0"/>
          </a:p>
        </p:txBody>
      </p:sp>
      <p:sp>
        <p:nvSpPr>
          <p:cNvPr id="33" name="S09-label376"/>
          <p:cNvSpPr txBox="1"/>
          <p:nvPr/>
        </p:nvSpPr>
        <p:spPr>
          <a:xfrm>
            <a:off x="1200085" y="3224764"/>
            <a:ext cx="40843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400" dirty="0"/>
          </a:p>
        </p:txBody>
      </p:sp>
      <p:sp>
        <p:nvSpPr>
          <p:cNvPr id="34" name="S09-label378"/>
          <p:cNvSpPr txBox="1"/>
          <p:nvPr/>
        </p:nvSpPr>
        <p:spPr>
          <a:xfrm>
            <a:off x="1200085" y="3938036"/>
            <a:ext cx="40843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400" dirty="0"/>
          </a:p>
        </p:txBody>
      </p:sp>
      <p:sp>
        <p:nvSpPr>
          <p:cNvPr id="35" name="S09-label380"/>
          <p:cNvSpPr txBox="1"/>
          <p:nvPr/>
        </p:nvSpPr>
        <p:spPr>
          <a:xfrm>
            <a:off x="1200085" y="4651309"/>
            <a:ext cx="40843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2400" dirty="0"/>
          </a:p>
        </p:txBody>
      </p:sp>
      <p:sp>
        <p:nvSpPr>
          <p:cNvPr id="36" name="S09-label382"/>
          <p:cNvSpPr txBox="1"/>
          <p:nvPr/>
        </p:nvSpPr>
        <p:spPr>
          <a:xfrm>
            <a:off x="1962074" y="1772744"/>
            <a:ext cx="307238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가게별 팔린 붕어빵 수</a:t>
            </a:r>
            <a:endParaRPr lang="ko-KR" sz="2400" dirty="0"/>
          </a:p>
        </p:txBody>
      </p:sp>
      <p:sp>
        <p:nvSpPr>
          <p:cNvPr id="37" name="S09-label384"/>
          <p:cNvSpPr txBox="1"/>
          <p:nvPr/>
        </p:nvSpPr>
        <p:spPr>
          <a:xfrm>
            <a:off x="3917221" y="5441004"/>
            <a:ext cx="81076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10개</a:t>
            </a:r>
            <a:endParaRPr lang="ko-KR" sz="2400" dirty="0"/>
          </a:p>
        </p:txBody>
      </p:sp>
      <p:sp>
        <p:nvSpPr>
          <p:cNvPr id="38" name="S09-label386"/>
          <p:cNvSpPr txBox="1"/>
          <p:nvPr/>
        </p:nvSpPr>
        <p:spPr>
          <a:xfrm>
            <a:off x="5656804" y="5441004"/>
            <a:ext cx="609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1개</a:t>
            </a:r>
            <a:endParaRPr lang="ko-KR" sz="2400" dirty="0"/>
          </a:p>
        </p:txBody>
      </p:sp>
      <p:sp>
        <p:nvSpPr>
          <p:cNvPr id="39" name="S09-card387"/>
          <p:cNvSpPr/>
          <p:nvPr/>
        </p:nvSpPr>
        <p:spPr>
          <a:xfrm>
            <a:off x="6813652" y="2045208"/>
            <a:ext cx="4826660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0" name="S09-cardtext388"/>
          <p:cNvSpPr txBox="1"/>
          <p:nvPr/>
        </p:nvSpPr>
        <p:spPr>
          <a:xfrm>
            <a:off x="7087972" y="2182368"/>
            <a:ext cx="42780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가장 많이 판 가게는?</a:t>
            </a:r>
            <a:endParaRPr lang="ko-KR" sz="3000" dirty="0"/>
          </a:p>
        </p:txBody>
      </p:sp>
      <p:sp>
        <p:nvSpPr>
          <p:cNvPr id="41" name="S09-card389"/>
          <p:cNvSpPr/>
          <p:nvPr/>
        </p:nvSpPr>
        <p:spPr>
          <a:xfrm>
            <a:off x="6813652" y="3142488"/>
            <a:ext cx="4826660" cy="1258824"/>
          </a:xfrm>
          <a:prstGeom prst="roundRect">
            <a:avLst>
              <a:gd name="adj" fmla="val 8717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2" name="S09-cardtext390"/>
          <p:cNvSpPr txBox="1"/>
          <p:nvPr/>
        </p:nvSpPr>
        <p:spPr>
          <a:xfrm>
            <a:off x="7087972" y="3279648"/>
            <a:ext cx="4278020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가와 다 중 더 많이 판 가게는?</a:t>
            </a:r>
            <a:endParaRPr lang="ko-KR" sz="3000" dirty="0"/>
          </a:p>
        </p:txBody>
      </p:sp>
      <p:sp>
        <p:nvSpPr>
          <p:cNvPr id="43" name="S09-card391"/>
          <p:cNvSpPr/>
          <p:nvPr/>
        </p:nvSpPr>
        <p:spPr>
          <a:xfrm>
            <a:off x="6813652" y="4629912"/>
            <a:ext cx="4826660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4" name="S09-cardtext392"/>
          <p:cNvSpPr txBox="1"/>
          <p:nvPr/>
        </p:nvSpPr>
        <p:spPr>
          <a:xfrm>
            <a:off x="7087972" y="4767072"/>
            <a:ext cx="42780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나는 다보다 몇 개 더?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10-figure393" descr="그림그래프(농장별 기르는 닭 수): 큰 원 = 10마리, 작은 원 = 1마리. 가 큰 원 3개·작은 원 4개(34마리), 나 큰 원 5개·작은 원 2개(52마리), 다 큰 원 2개·작은 원 7개(27마리), 라 큰 원 4개·작은 원 0개(40마리)"/>
          <p:cNvSpPr/>
          <p:nvPr/>
        </p:nvSpPr>
        <p:spPr>
          <a:xfrm>
            <a:off x="818414" y="2072719"/>
            <a:ext cx="5359704" cy="679673"/>
          </a:xfrm>
          <a:custGeom>
            <a:avLst/>
            <a:gdLst/>
            <a:ahLst/>
            <a:cxnLst/>
            <a:rect l="l" t="t" r="r" b="b"/>
            <a:pathLst>
              <a:path w="5359704" h="679673">
                <a:moveTo>
                  <a:pt x="0" y="0"/>
                </a:moveTo>
                <a:lnTo>
                  <a:pt x="5359704" y="0"/>
                </a:lnTo>
                <a:lnTo>
                  <a:pt x="5359704" y="679673"/>
                </a:lnTo>
                <a:lnTo>
                  <a:pt x="0" y="679673"/>
                </a:lnTo>
                <a:close/>
              </a:path>
            </a:pathLst>
          </a:custGeom>
          <a:solidFill>
            <a:srgbClr val="EAF3F1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4" name="S10-mark394"/>
          <p:cNvSpPr/>
          <p:nvPr/>
        </p:nvSpPr>
        <p:spPr>
          <a:xfrm>
            <a:off x="818414" y="2072719"/>
            <a:ext cx="5359704" cy="3398363"/>
          </a:xfrm>
          <a:custGeom>
            <a:avLst/>
            <a:gdLst/>
            <a:ahLst/>
            <a:cxnLst/>
            <a:rect l="l" t="t" r="r" b="b"/>
            <a:pathLst>
              <a:path w="5359704" h="3398363">
                <a:moveTo>
                  <a:pt x="0" y="0"/>
                </a:moveTo>
                <a:lnTo>
                  <a:pt x="5359704" y="0"/>
                </a:lnTo>
                <a:lnTo>
                  <a:pt x="5359704" y="3398363"/>
                </a:lnTo>
                <a:lnTo>
                  <a:pt x="0" y="3398363"/>
                </a:lnTo>
                <a:close/>
              </a:path>
            </a:pathLst>
          </a:cu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5" name="S10-mark395"/>
          <p:cNvSpPr/>
          <p:nvPr/>
        </p:nvSpPr>
        <p:spPr>
          <a:xfrm>
            <a:off x="2469047" y="2849487"/>
            <a:ext cx="485480" cy="485480"/>
          </a:xfrm>
          <a:prstGeom prst="ellipse">
            <a:avLst/>
          </a:prstGeom>
          <a:solidFill>
            <a:srgbClr val="E9762B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6" name="S10-mark396"/>
          <p:cNvSpPr/>
          <p:nvPr/>
        </p:nvSpPr>
        <p:spPr>
          <a:xfrm>
            <a:off x="3027350" y="2849487"/>
            <a:ext cx="485480" cy="485480"/>
          </a:xfrm>
          <a:prstGeom prst="ellipse">
            <a:avLst/>
          </a:prstGeom>
          <a:solidFill>
            <a:srgbClr val="E9762B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7" name="S10-mark397"/>
          <p:cNvSpPr/>
          <p:nvPr/>
        </p:nvSpPr>
        <p:spPr>
          <a:xfrm>
            <a:off x="3585652" y="2849487"/>
            <a:ext cx="485480" cy="485480"/>
          </a:xfrm>
          <a:prstGeom prst="ellipse">
            <a:avLst/>
          </a:prstGeom>
          <a:solidFill>
            <a:srgbClr val="E9762B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8" name="S10-mark398"/>
          <p:cNvSpPr/>
          <p:nvPr/>
        </p:nvSpPr>
        <p:spPr>
          <a:xfrm>
            <a:off x="4241051" y="2970857"/>
            <a:ext cx="242740" cy="24274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9" name="S10-mark399"/>
          <p:cNvSpPr/>
          <p:nvPr/>
        </p:nvSpPr>
        <p:spPr>
          <a:xfrm>
            <a:off x="4542049" y="2970857"/>
            <a:ext cx="242740" cy="24274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10" name="S10-mark400"/>
          <p:cNvSpPr/>
          <p:nvPr/>
        </p:nvSpPr>
        <p:spPr>
          <a:xfrm>
            <a:off x="4843047" y="2970857"/>
            <a:ext cx="242740" cy="24274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11" name="S10-mark401"/>
          <p:cNvSpPr/>
          <p:nvPr/>
        </p:nvSpPr>
        <p:spPr>
          <a:xfrm>
            <a:off x="5144044" y="2970857"/>
            <a:ext cx="242740" cy="24274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12" name="S10-mark402"/>
          <p:cNvSpPr/>
          <p:nvPr/>
        </p:nvSpPr>
        <p:spPr>
          <a:xfrm>
            <a:off x="2469047" y="3529160"/>
            <a:ext cx="485480" cy="485480"/>
          </a:xfrm>
          <a:prstGeom prst="ellipse">
            <a:avLst/>
          </a:prstGeom>
          <a:solidFill>
            <a:srgbClr val="E9762B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13" name="S10-mark403"/>
          <p:cNvSpPr/>
          <p:nvPr/>
        </p:nvSpPr>
        <p:spPr>
          <a:xfrm>
            <a:off x="3027350" y="3529160"/>
            <a:ext cx="485480" cy="485480"/>
          </a:xfrm>
          <a:prstGeom prst="ellipse">
            <a:avLst/>
          </a:prstGeom>
          <a:solidFill>
            <a:srgbClr val="E9762B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14" name="S10-mark404"/>
          <p:cNvSpPr/>
          <p:nvPr/>
        </p:nvSpPr>
        <p:spPr>
          <a:xfrm>
            <a:off x="3585652" y="3529160"/>
            <a:ext cx="485480" cy="485480"/>
          </a:xfrm>
          <a:prstGeom prst="ellipse">
            <a:avLst/>
          </a:prstGeom>
          <a:solidFill>
            <a:srgbClr val="E9762B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15" name="S10-mark405"/>
          <p:cNvSpPr/>
          <p:nvPr/>
        </p:nvSpPr>
        <p:spPr>
          <a:xfrm>
            <a:off x="4143955" y="3529160"/>
            <a:ext cx="485480" cy="485480"/>
          </a:xfrm>
          <a:prstGeom prst="ellipse">
            <a:avLst/>
          </a:prstGeom>
          <a:solidFill>
            <a:srgbClr val="E9762B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16" name="S10-mark406"/>
          <p:cNvSpPr/>
          <p:nvPr/>
        </p:nvSpPr>
        <p:spPr>
          <a:xfrm>
            <a:off x="4702257" y="3529160"/>
            <a:ext cx="485480" cy="485480"/>
          </a:xfrm>
          <a:prstGeom prst="ellipse">
            <a:avLst/>
          </a:prstGeom>
          <a:solidFill>
            <a:srgbClr val="E9762B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17" name="S10-mark407"/>
          <p:cNvSpPr/>
          <p:nvPr/>
        </p:nvSpPr>
        <p:spPr>
          <a:xfrm>
            <a:off x="5357656" y="3650530"/>
            <a:ext cx="242740" cy="24274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18" name="S10-mark408"/>
          <p:cNvSpPr/>
          <p:nvPr/>
        </p:nvSpPr>
        <p:spPr>
          <a:xfrm>
            <a:off x="5658654" y="3650530"/>
            <a:ext cx="242740" cy="24274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19" name="S10-mark409"/>
          <p:cNvSpPr/>
          <p:nvPr/>
        </p:nvSpPr>
        <p:spPr>
          <a:xfrm>
            <a:off x="2469047" y="4208832"/>
            <a:ext cx="485480" cy="485480"/>
          </a:xfrm>
          <a:prstGeom prst="ellipse">
            <a:avLst/>
          </a:prstGeom>
          <a:solidFill>
            <a:srgbClr val="E9762B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20" name="S10-mark410"/>
          <p:cNvSpPr/>
          <p:nvPr/>
        </p:nvSpPr>
        <p:spPr>
          <a:xfrm>
            <a:off x="3027350" y="4208832"/>
            <a:ext cx="485480" cy="485480"/>
          </a:xfrm>
          <a:prstGeom prst="ellipse">
            <a:avLst/>
          </a:prstGeom>
          <a:solidFill>
            <a:srgbClr val="E9762B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21" name="S10-mark411"/>
          <p:cNvSpPr/>
          <p:nvPr/>
        </p:nvSpPr>
        <p:spPr>
          <a:xfrm>
            <a:off x="3682748" y="4330202"/>
            <a:ext cx="242740" cy="24274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22" name="S10-mark412"/>
          <p:cNvSpPr/>
          <p:nvPr/>
        </p:nvSpPr>
        <p:spPr>
          <a:xfrm>
            <a:off x="3983746" y="4330202"/>
            <a:ext cx="242740" cy="24274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23" name="S10-mark413"/>
          <p:cNvSpPr/>
          <p:nvPr/>
        </p:nvSpPr>
        <p:spPr>
          <a:xfrm>
            <a:off x="4284744" y="4330202"/>
            <a:ext cx="242740" cy="24274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24" name="S10-mark414"/>
          <p:cNvSpPr/>
          <p:nvPr/>
        </p:nvSpPr>
        <p:spPr>
          <a:xfrm>
            <a:off x="4585742" y="4330202"/>
            <a:ext cx="242740" cy="24274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25" name="S10-mark415"/>
          <p:cNvSpPr/>
          <p:nvPr/>
        </p:nvSpPr>
        <p:spPr>
          <a:xfrm>
            <a:off x="4886740" y="4330202"/>
            <a:ext cx="242740" cy="24274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26" name="S10-mark416"/>
          <p:cNvSpPr/>
          <p:nvPr/>
        </p:nvSpPr>
        <p:spPr>
          <a:xfrm>
            <a:off x="5187738" y="4330202"/>
            <a:ext cx="242740" cy="24274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27" name="S10-mark417"/>
          <p:cNvSpPr/>
          <p:nvPr/>
        </p:nvSpPr>
        <p:spPr>
          <a:xfrm>
            <a:off x="5488735" y="4330202"/>
            <a:ext cx="242740" cy="24274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28" name="S10-mark418"/>
          <p:cNvSpPr/>
          <p:nvPr/>
        </p:nvSpPr>
        <p:spPr>
          <a:xfrm>
            <a:off x="2469047" y="4888505"/>
            <a:ext cx="485480" cy="485480"/>
          </a:xfrm>
          <a:prstGeom prst="ellipse">
            <a:avLst/>
          </a:prstGeom>
          <a:solidFill>
            <a:srgbClr val="E9762B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29" name="S10-mark419"/>
          <p:cNvSpPr/>
          <p:nvPr/>
        </p:nvSpPr>
        <p:spPr>
          <a:xfrm>
            <a:off x="3027350" y="4888505"/>
            <a:ext cx="485480" cy="485480"/>
          </a:xfrm>
          <a:prstGeom prst="ellipse">
            <a:avLst/>
          </a:prstGeom>
          <a:solidFill>
            <a:srgbClr val="E9762B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30" name="S10-mark420"/>
          <p:cNvSpPr/>
          <p:nvPr/>
        </p:nvSpPr>
        <p:spPr>
          <a:xfrm>
            <a:off x="3585652" y="4888505"/>
            <a:ext cx="485480" cy="485480"/>
          </a:xfrm>
          <a:prstGeom prst="ellipse">
            <a:avLst/>
          </a:prstGeom>
          <a:solidFill>
            <a:srgbClr val="E9762B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31" name="S10-mark421"/>
          <p:cNvSpPr/>
          <p:nvPr/>
        </p:nvSpPr>
        <p:spPr>
          <a:xfrm>
            <a:off x="4143955" y="4888505"/>
            <a:ext cx="485480" cy="485480"/>
          </a:xfrm>
          <a:prstGeom prst="ellipse">
            <a:avLst/>
          </a:prstGeom>
          <a:solidFill>
            <a:srgbClr val="E9762B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32" name="S10-mark422"/>
          <p:cNvSpPr/>
          <p:nvPr/>
        </p:nvSpPr>
        <p:spPr>
          <a:xfrm>
            <a:off x="2358843" y="5641000"/>
            <a:ext cx="485480" cy="485480"/>
          </a:xfrm>
          <a:prstGeom prst="ellipse">
            <a:avLst/>
          </a:prstGeom>
          <a:solidFill>
            <a:srgbClr val="E9762B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33" name="S10-mark423"/>
          <p:cNvSpPr/>
          <p:nvPr/>
        </p:nvSpPr>
        <p:spPr>
          <a:xfrm>
            <a:off x="4689149" y="5762370"/>
            <a:ext cx="242740" cy="24274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34" name="S10-mark424"/>
          <p:cNvSpPr/>
          <p:nvPr/>
        </p:nvSpPr>
        <p:spPr>
          <a:xfrm>
            <a:off x="818414" y="3432064"/>
            <a:ext cx="5359704" cy="0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35" name="S10-mark425"/>
          <p:cNvSpPr/>
          <p:nvPr/>
        </p:nvSpPr>
        <p:spPr>
          <a:xfrm>
            <a:off x="818414" y="4111736"/>
            <a:ext cx="5359704" cy="0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36" name="S10-mark426"/>
          <p:cNvSpPr/>
          <p:nvPr/>
        </p:nvSpPr>
        <p:spPr>
          <a:xfrm>
            <a:off x="818414" y="4791409"/>
            <a:ext cx="5359704" cy="0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37" name="S10-mark427"/>
          <p:cNvSpPr/>
          <p:nvPr/>
        </p:nvSpPr>
        <p:spPr>
          <a:xfrm>
            <a:off x="2274855" y="2072719"/>
            <a:ext cx="0" cy="3398363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38" name="S10-label429"/>
          <p:cNvSpPr txBox="1"/>
          <p:nvPr/>
        </p:nvSpPr>
        <p:spPr>
          <a:xfrm>
            <a:off x="1193067" y="2222055"/>
            <a:ext cx="70713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농장</a:t>
            </a:r>
            <a:endParaRPr lang="ko-KR" sz="2400" dirty="0"/>
          </a:p>
        </p:txBody>
      </p:sp>
      <p:sp>
        <p:nvSpPr>
          <p:cNvPr id="39" name="S10-label431"/>
          <p:cNvSpPr txBox="1"/>
          <p:nvPr/>
        </p:nvSpPr>
        <p:spPr>
          <a:xfrm>
            <a:off x="3827198" y="2222055"/>
            <a:ext cx="79857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닭 수</a:t>
            </a:r>
            <a:endParaRPr lang="ko-KR" sz="2400" dirty="0"/>
          </a:p>
        </p:txBody>
      </p:sp>
      <p:sp>
        <p:nvSpPr>
          <p:cNvPr id="40" name="S10-label433"/>
          <p:cNvSpPr txBox="1"/>
          <p:nvPr/>
        </p:nvSpPr>
        <p:spPr>
          <a:xfrm>
            <a:off x="1342419" y="2901727"/>
            <a:ext cx="40843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400" dirty="0"/>
          </a:p>
        </p:txBody>
      </p:sp>
      <p:sp>
        <p:nvSpPr>
          <p:cNvPr id="41" name="S10-label435"/>
          <p:cNvSpPr txBox="1"/>
          <p:nvPr/>
        </p:nvSpPr>
        <p:spPr>
          <a:xfrm>
            <a:off x="1342419" y="3581400"/>
            <a:ext cx="40843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400" dirty="0"/>
          </a:p>
        </p:txBody>
      </p:sp>
      <p:sp>
        <p:nvSpPr>
          <p:cNvPr id="42" name="S10-label437"/>
          <p:cNvSpPr txBox="1"/>
          <p:nvPr/>
        </p:nvSpPr>
        <p:spPr>
          <a:xfrm>
            <a:off x="1342419" y="4261073"/>
            <a:ext cx="40843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2400" dirty="0"/>
          </a:p>
        </p:txBody>
      </p:sp>
      <p:sp>
        <p:nvSpPr>
          <p:cNvPr id="43" name="S10-label439"/>
          <p:cNvSpPr txBox="1"/>
          <p:nvPr/>
        </p:nvSpPr>
        <p:spPr>
          <a:xfrm>
            <a:off x="1342419" y="4940745"/>
            <a:ext cx="40843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</a:t>
            </a:r>
            <a:endParaRPr lang="ko-KR" sz="2400" dirty="0"/>
          </a:p>
        </p:txBody>
      </p:sp>
      <p:sp>
        <p:nvSpPr>
          <p:cNvPr id="44" name="S10-label441"/>
          <p:cNvSpPr txBox="1"/>
          <p:nvPr/>
        </p:nvSpPr>
        <p:spPr>
          <a:xfrm>
            <a:off x="2111426" y="1518108"/>
            <a:ext cx="277368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농장별 기르는 닭 수</a:t>
            </a:r>
            <a:endParaRPr lang="ko-KR" sz="2400" dirty="0"/>
          </a:p>
        </p:txBody>
      </p:sp>
      <p:sp>
        <p:nvSpPr>
          <p:cNvPr id="45" name="S10-label443"/>
          <p:cNvSpPr txBox="1"/>
          <p:nvPr/>
        </p:nvSpPr>
        <p:spPr>
          <a:xfrm>
            <a:off x="3090630" y="5693240"/>
            <a:ext cx="110947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10마리</a:t>
            </a:r>
            <a:endParaRPr lang="ko-KR" sz="2400" dirty="0"/>
          </a:p>
        </p:txBody>
      </p:sp>
      <p:sp>
        <p:nvSpPr>
          <p:cNvPr id="46" name="S10-label445"/>
          <p:cNvSpPr txBox="1"/>
          <p:nvPr/>
        </p:nvSpPr>
        <p:spPr>
          <a:xfrm>
            <a:off x="5149642" y="5693240"/>
            <a:ext cx="90830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1마리</a:t>
            </a:r>
            <a:endParaRPr lang="ko-KR" sz="2400" dirty="0"/>
          </a:p>
        </p:txBody>
      </p:sp>
      <p:sp>
        <p:nvSpPr>
          <p:cNvPr id="47" name="S10-card446"/>
          <p:cNvSpPr/>
          <p:nvPr/>
        </p:nvSpPr>
        <p:spPr>
          <a:xfrm>
            <a:off x="6813652" y="1850136"/>
            <a:ext cx="4826660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8" name="S10-cardtext447"/>
          <p:cNvSpPr txBox="1"/>
          <p:nvPr/>
        </p:nvSpPr>
        <p:spPr>
          <a:xfrm>
            <a:off x="7087972" y="1987296"/>
            <a:ext cx="42780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농장마다 몇 마리?</a:t>
            </a:r>
            <a:endParaRPr lang="ko-KR" sz="3000" dirty="0"/>
          </a:p>
        </p:txBody>
      </p:sp>
      <p:sp>
        <p:nvSpPr>
          <p:cNvPr id="49" name="S10-card448"/>
          <p:cNvSpPr/>
          <p:nvPr/>
        </p:nvSpPr>
        <p:spPr>
          <a:xfrm>
            <a:off x="6813652" y="2947416"/>
            <a:ext cx="4826660" cy="1258824"/>
          </a:xfrm>
          <a:prstGeom prst="roundRect">
            <a:avLst>
              <a:gd name="adj" fmla="val 8717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0" name="S10-cardtext449"/>
          <p:cNvSpPr txBox="1"/>
          <p:nvPr/>
        </p:nvSpPr>
        <p:spPr>
          <a:xfrm>
            <a:off x="7087972" y="3084576"/>
            <a:ext cx="4278020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가장 많은 농장과 가장 적은 농장은?</a:t>
            </a:r>
            <a:endParaRPr lang="ko-KR" sz="3000" dirty="0"/>
          </a:p>
        </p:txBody>
      </p:sp>
      <p:sp>
        <p:nvSpPr>
          <p:cNvPr id="51" name="S10-card450"/>
          <p:cNvSpPr/>
          <p:nvPr/>
        </p:nvSpPr>
        <p:spPr>
          <a:xfrm>
            <a:off x="6813652" y="4434840"/>
            <a:ext cx="4826660" cy="1258824"/>
          </a:xfrm>
          <a:prstGeom prst="roundRect">
            <a:avLst>
              <a:gd name="adj" fmla="val 8717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2" name="S10-cardtext451"/>
          <p:cNvSpPr txBox="1"/>
          <p:nvPr/>
        </p:nvSpPr>
        <p:spPr>
          <a:xfrm>
            <a:off x="7087972" y="4572000"/>
            <a:ext cx="4278020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나는 다보다 몇 마리 더?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 정답</a:t>
            </a:r>
            <a:endParaRPr lang="ko-KR" sz="4000" dirty="0"/>
          </a:p>
        </p:txBody>
      </p:sp>
      <p:sp>
        <p:nvSpPr>
          <p:cNvPr id="3" name="S11-card452"/>
          <p:cNvSpPr/>
          <p:nvPr/>
        </p:nvSpPr>
        <p:spPr>
          <a:xfrm>
            <a:off x="548640" y="4959096"/>
            <a:ext cx="11091672" cy="1258824"/>
          </a:xfrm>
          <a:prstGeom prst="roundRect">
            <a:avLst>
              <a:gd name="adj" fmla="val 8717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1-cardtext453"/>
          <p:cNvSpPr txBox="1"/>
          <p:nvPr/>
        </p:nvSpPr>
        <p:spPr>
          <a:xfrm>
            <a:off x="822960" y="5096256"/>
            <a:ext cx="10543032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틀린 줄은 약속(큰 ● 10마리, 작은 ○ 1마리)을 다시 읽고 10씩, 1씩 세게 하세요.</a:t>
            </a:r>
            <a:endParaRPr lang="ko-KR" sz="3000" dirty="0"/>
          </a:p>
        </p:txBody>
      </p:sp>
      <p:sp>
        <p:nvSpPr>
          <p:cNvPr id="5" name="S11-chip454"/>
          <p:cNvSpPr txBox="1"/>
          <p:nvPr/>
        </p:nvSpPr>
        <p:spPr>
          <a:xfrm>
            <a:off x="548640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E3F4F1"/>
          </a:solidFill>
          <a:ln>
            <a:solidFill>
              <a:srgbClr val="E3F4F1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정답</a:t>
            </a:r>
            <a:endParaRPr lang="ko-KR" sz="2400" dirty="0"/>
          </a:p>
        </p:txBody>
      </p:sp>
      <p:sp>
        <p:nvSpPr>
          <p:cNvPr id="6" name="S11-text455"/>
          <p:cNvSpPr txBox="1"/>
          <p:nvPr/>
        </p:nvSpPr>
        <p:spPr>
          <a:xfrm>
            <a:off x="548640" y="2057400"/>
            <a:ext cx="2681478" cy="799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34, 52, 27, 40</a:t>
            </a:r>
            <a:endParaRPr lang="ko-KR" sz="2400" dirty="0"/>
          </a:p>
        </p:txBody>
      </p:sp>
      <p:sp>
        <p:nvSpPr>
          <p:cNvPr id="7" name="S11-text456"/>
          <p:cNvSpPr txBox="1"/>
          <p:nvPr/>
        </p:nvSpPr>
        <p:spPr>
          <a:xfrm>
            <a:off x="3367278" y="2057400"/>
            <a:ext cx="2544318" cy="799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가·나·다·라</a:t>
            </a:r>
            <a:endParaRPr lang="ko-KR" sz="2400" dirty="0"/>
          </a:p>
        </p:txBody>
      </p:sp>
      <p:sp>
        <p:nvSpPr>
          <p:cNvPr id="8" name="S11-text457"/>
          <p:cNvSpPr txBox="1"/>
          <p:nvPr/>
        </p:nvSpPr>
        <p:spPr>
          <a:xfrm>
            <a:off x="548640" y="2994152"/>
            <a:ext cx="2681478" cy="799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나 / 다</a:t>
            </a:r>
            <a:endParaRPr lang="ko-KR" sz="3000" dirty="0"/>
          </a:p>
        </p:txBody>
      </p:sp>
      <p:sp>
        <p:nvSpPr>
          <p:cNvPr id="9" name="S11-text458"/>
          <p:cNvSpPr txBox="1"/>
          <p:nvPr/>
        </p:nvSpPr>
        <p:spPr>
          <a:xfrm>
            <a:off x="3367278" y="2994152"/>
            <a:ext cx="2544318" cy="799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많은 곳 / 적은 곳</a:t>
            </a:r>
            <a:endParaRPr lang="ko-KR" sz="2400" dirty="0"/>
          </a:p>
        </p:txBody>
      </p:sp>
      <p:sp>
        <p:nvSpPr>
          <p:cNvPr id="10" name="S11-text459"/>
          <p:cNvSpPr txBox="1"/>
          <p:nvPr/>
        </p:nvSpPr>
        <p:spPr>
          <a:xfrm>
            <a:off x="548640" y="3930904"/>
            <a:ext cx="2681478" cy="799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25마리</a:t>
            </a:r>
            <a:endParaRPr lang="ko-KR" sz="3000" dirty="0"/>
          </a:p>
        </p:txBody>
      </p:sp>
      <p:sp>
        <p:nvSpPr>
          <p:cNvPr id="11" name="S11-text460"/>
          <p:cNvSpPr txBox="1"/>
          <p:nvPr/>
        </p:nvSpPr>
        <p:spPr>
          <a:xfrm>
            <a:off x="3367278" y="3930904"/>
            <a:ext cx="2544318" cy="799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52 − 27</a:t>
            </a:r>
            <a:endParaRPr lang="ko-KR" sz="2400" dirty="0"/>
          </a:p>
        </p:txBody>
      </p:sp>
      <p:sp>
        <p:nvSpPr>
          <p:cNvPr id="12" name="S11-chip461"/>
          <p:cNvSpPr txBox="1"/>
          <p:nvPr/>
        </p:nvSpPr>
        <p:spPr>
          <a:xfrm>
            <a:off x="6277356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FBE6E7"/>
          </a:solidFill>
          <a:ln>
            <a:solidFill>
              <a:srgbClr val="FBE6E7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흔한 실수</a:t>
            </a:r>
            <a:endParaRPr lang="ko-KR" sz="2400" dirty="0"/>
          </a:p>
        </p:txBody>
      </p:sp>
      <p:sp>
        <p:nvSpPr>
          <p:cNvPr id="13" name="S11-text462"/>
          <p:cNvSpPr txBox="1"/>
          <p:nvPr/>
        </p:nvSpPr>
        <p:spPr>
          <a:xfrm>
            <a:off x="6277356" y="20574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 7마리</a:t>
            </a:r>
            <a:endParaRPr lang="ko-KR" sz="3000" dirty="0"/>
          </a:p>
        </p:txBody>
      </p:sp>
      <p:sp>
        <p:nvSpPr>
          <p:cNvPr id="14" name="S11-text463"/>
          <p:cNvSpPr txBox="1"/>
          <p:nvPr/>
        </p:nvSpPr>
        <p:spPr>
          <a:xfrm>
            <a:off x="9095994" y="20574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개수만 셈</a:t>
            </a:r>
            <a:endParaRPr lang="ko-KR" sz="2400" dirty="0"/>
          </a:p>
        </p:txBody>
      </p:sp>
      <p:sp>
        <p:nvSpPr>
          <p:cNvPr id="15" name="S11-text464"/>
          <p:cNvSpPr txBox="1"/>
          <p:nvPr/>
        </p:nvSpPr>
        <p:spPr>
          <a:xfrm>
            <a:off x="6277356" y="34290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 4마리</a:t>
            </a:r>
            <a:endParaRPr lang="ko-KR" sz="3000" dirty="0"/>
          </a:p>
        </p:txBody>
      </p:sp>
      <p:sp>
        <p:nvSpPr>
          <p:cNvPr id="16" name="S11-text465"/>
          <p:cNvSpPr txBox="1"/>
          <p:nvPr/>
        </p:nvSpPr>
        <p:spPr>
          <a:xfrm>
            <a:off x="9095994" y="34290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큰 ●를 1로 셈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42명을 나타낸 것은?</a:t>
            </a:r>
            <a:endParaRPr lang="ko-KR" sz="4000" dirty="0"/>
          </a:p>
        </p:txBody>
      </p:sp>
      <p:sp>
        <p:nvSpPr>
          <p:cNvPr id="3" name="S12-text466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큰 ● = 10명, 작은 ○ = 1명이에요.</a:t>
            </a:r>
            <a:endParaRPr lang="ko-KR" sz="3000" dirty="0"/>
          </a:p>
        </p:txBody>
      </p:sp>
      <p:sp>
        <p:nvSpPr>
          <p:cNvPr id="4" name="S12-card46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12-cardtext46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알맞은 것을 고르고, 까닭을 말해요.</a:t>
            </a:r>
            <a:endParaRPr lang="ko-KR" sz="3000" dirty="0"/>
          </a:p>
        </p:txBody>
      </p:sp>
      <p:sp>
        <p:nvSpPr>
          <p:cNvPr id="6" name="S12-chip469"/>
          <p:cNvSpPr txBox="1"/>
          <p:nvPr/>
        </p:nvSpPr>
        <p:spPr>
          <a:xfrm>
            <a:off x="1991868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000" dirty="0"/>
          </a:p>
        </p:txBody>
      </p:sp>
      <p:sp>
        <p:nvSpPr>
          <p:cNvPr id="7" name="S12-figure470" descr="큰 원 2개, 작은 원 4개"/>
          <p:cNvSpPr/>
          <p:nvPr/>
        </p:nvSpPr>
        <p:spPr>
          <a:xfrm>
            <a:off x="721843" y="3713798"/>
            <a:ext cx="408813" cy="408813"/>
          </a:xfrm>
          <a:prstGeom prst="ellipse">
            <a:avLst/>
          </a:prstGeom>
          <a:solidFill>
            <a:srgbClr val="E9762B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8" name="S12-mark471"/>
          <p:cNvSpPr/>
          <p:nvPr/>
        </p:nvSpPr>
        <p:spPr>
          <a:xfrm>
            <a:off x="1191978" y="3713798"/>
            <a:ext cx="408813" cy="408813"/>
          </a:xfrm>
          <a:prstGeom prst="ellipse">
            <a:avLst/>
          </a:prstGeom>
          <a:solidFill>
            <a:srgbClr val="E9762B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9" name="S12-mark472"/>
          <p:cNvSpPr/>
          <p:nvPr/>
        </p:nvSpPr>
        <p:spPr>
          <a:xfrm>
            <a:off x="1743875" y="3816001"/>
            <a:ext cx="204407" cy="204407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10" name="S12-mark473"/>
          <p:cNvSpPr/>
          <p:nvPr/>
        </p:nvSpPr>
        <p:spPr>
          <a:xfrm>
            <a:off x="1997339" y="3816001"/>
            <a:ext cx="204407" cy="204407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11" name="S12-mark474"/>
          <p:cNvSpPr/>
          <p:nvPr/>
        </p:nvSpPr>
        <p:spPr>
          <a:xfrm>
            <a:off x="2250803" y="3816001"/>
            <a:ext cx="204407" cy="204407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12" name="S12-mark475"/>
          <p:cNvSpPr/>
          <p:nvPr/>
        </p:nvSpPr>
        <p:spPr>
          <a:xfrm>
            <a:off x="2504267" y="3816001"/>
            <a:ext cx="204407" cy="204407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13" name="S12-chip476"/>
          <p:cNvSpPr txBox="1"/>
          <p:nvPr/>
        </p:nvSpPr>
        <p:spPr>
          <a:xfrm>
            <a:off x="5811012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000" dirty="0"/>
          </a:p>
        </p:txBody>
      </p:sp>
      <p:sp>
        <p:nvSpPr>
          <p:cNvPr id="14" name="S12-figure477" descr="큰 원 4개, 작은 원 2개"/>
          <p:cNvSpPr/>
          <p:nvPr/>
        </p:nvSpPr>
        <p:spPr>
          <a:xfrm>
            <a:off x="4540987" y="3713798"/>
            <a:ext cx="408813" cy="408813"/>
          </a:xfrm>
          <a:prstGeom prst="ellipse">
            <a:avLst/>
          </a:prstGeom>
          <a:solidFill>
            <a:srgbClr val="E9762B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15" name="S12-mark478"/>
          <p:cNvSpPr/>
          <p:nvPr/>
        </p:nvSpPr>
        <p:spPr>
          <a:xfrm>
            <a:off x="5011122" y="3713798"/>
            <a:ext cx="408813" cy="408813"/>
          </a:xfrm>
          <a:prstGeom prst="ellipse">
            <a:avLst/>
          </a:prstGeom>
          <a:solidFill>
            <a:srgbClr val="E9762B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16" name="S12-mark479"/>
          <p:cNvSpPr/>
          <p:nvPr/>
        </p:nvSpPr>
        <p:spPr>
          <a:xfrm>
            <a:off x="5481257" y="3713798"/>
            <a:ext cx="408813" cy="408813"/>
          </a:xfrm>
          <a:prstGeom prst="ellipse">
            <a:avLst/>
          </a:prstGeom>
          <a:solidFill>
            <a:srgbClr val="E9762B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17" name="S12-mark480"/>
          <p:cNvSpPr/>
          <p:nvPr/>
        </p:nvSpPr>
        <p:spPr>
          <a:xfrm>
            <a:off x="5951391" y="3713798"/>
            <a:ext cx="408813" cy="408813"/>
          </a:xfrm>
          <a:prstGeom prst="ellipse">
            <a:avLst/>
          </a:prstGeom>
          <a:solidFill>
            <a:srgbClr val="E9762B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18" name="S12-mark481"/>
          <p:cNvSpPr/>
          <p:nvPr/>
        </p:nvSpPr>
        <p:spPr>
          <a:xfrm>
            <a:off x="6503289" y="3816001"/>
            <a:ext cx="204407" cy="204407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19" name="S12-mark482"/>
          <p:cNvSpPr/>
          <p:nvPr/>
        </p:nvSpPr>
        <p:spPr>
          <a:xfrm>
            <a:off x="6756753" y="3816001"/>
            <a:ext cx="204407" cy="204407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20" name="S12-chip483"/>
          <p:cNvSpPr txBox="1"/>
          <p:nvPr/>
        </p:nvSpPr>
        <p:spPr>
          <a:xfrm>
            <a:off x="9630156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3000" dirty="0"/>
          </a:p>
        </p:txBody>
      </p:sp>
      <p:sp>
        <p:nvSpPr>
          <p:cNvPr id="21" name="S12-figure484" descr="큰 원 6개"/>
          <p:cNvSpPr/>
          <p:nvPr/>
        </p:nvSpPr>
        <p:spPr>
          <a:xfrm>
            <a:off x="8360131" y="3713798"/>
            <a:ext cx="408813" cy="408813"/>
          </a:xfrm>
          <a:prstGeom prst="ellipse">
            <a:avLst/>
          </a:prstGeom>
          <a:solidFill>
            <a:srgbClr val="E9762B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22" name="S12-mark485"/>
          <p:cNvSpPr/>
          <p:nvPr/>
        </p:nvSpPr>
        <p:spPr>
          <a:xfrm>
            <a:off x="8830266" y="3713798"/>
            <a:ext cx="408813" cy="408813"/>
          </a:xfrm>
          <a:prstGeom prst="ellipse">
            <a:avLst/>
          </a:prstGeom>
          <a:solidFill>
            <a:srgbClr val="E9762B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23" name="S12-mark486"/>
          <p:cNvSpPr/>
          <p:nvPr/>
        </p:nvSpPr>
        <p:spPr>
          <a:xfrm>
            <a:off x="9300401" y="3713798"/>
            <a:ext cx="408813" cy="408813"/>
          </a:xfrm>
          <a:prstGeom prst="ellipse">
            <a:avLst/>
          </a:prstGeom>
          <a:solidFill>
            <a:srgbClr val="E9762B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24" name="S12-mark487"/>
          <p:cNvSpPr/>
          <p:nvPr/>
        </p:nvSpPr>
        <p:spPr>
          <a:xfrm>
            <a:off x="9770535" y="3713798"/>
            <a:ext cx="408813" cy="408813"/>
          </a:xfrm>
          <a:prstGeom prst="ellipse">
            <a:avLst/>
          </a:prstGeom>
          <a:solidFill>
            <a:srgbClr val="E9762B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25" name="S12-mark488"/>
          <p:cNvSpPr/>
          <p:nvPr/>
        </p:nvSpPr>
        <p:spPr>
          <a:xfrm>
            <a:off x="10240670" y="3713798"/>
            <a:ext cx="408813" cy="408813"/>
          </a:xfrm>
          <a:prstGeom prst="ellipse">
            <a:avLst/>
          </a:prstGeom>
          <a:solidFill>
            <a:srgbClr val="E9762B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26" name="S12-mark489"/>
          <p:cNvSpPr/>
          <p:nvPr/>
        </p:nvSpPr>
        <p:spPr>
          <a:xfrm>
            <a:off x="10710805" y="3713798"/>
            <a:ext cx="408813" cy="408813"/>
          </a:xfrm>
          <a:prstGeom prst="ellipse">
            <a:avLst/>
          </a:prstGeom>
          <a:solidFill>
            <a:srgbClr val="E9762B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3-card490"/>
          <p:cNvSpPr/>
          <p:nvPr/>
        </p:nvSpPr>
        <p:spPr>
          <a:xfrm>
            <a:off x="548640" y="1325880"/>
            <a:ext cx="11091672" cy="1258824"/>
          </a:xfrm>
          <a:prstGeom prst="roundRect">
            <a:avLst>
              <a:gd name="adj" fmla="val 8717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3-cardtext491"/>
          <p:cNvSpPr txBox="1"/>
          <p:nvPr/>
        </p:nvSpPr>
        <p:spPr>
          <a:xfrm>
            <a:off x="822960" y="1463040"/>
            <a:ext cx="10543032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그림그래프는 큰 그림(10)과 작은 그림(1)으로 수를 나타내요.</a:t>
            </a:r>
            <a:endParaRPr lang="ko-KR" sz="3000" dirty="0"/>
          </a:p>
        </p:txBody>
      </p:sp>
      <p:sp>
        <p:nvSpPr>
          <p:cNvPr id="5" name="S13-chip492"/>
          <p:cNvSpPr txBox="1"/>
          <p:nvPr/>
        </p:nvSpPr>
        <p:spPr>
          <a:xfrm>
            <a:off x="548640" y="2813304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약속을 읽고 큰 그림부터 세기</a:t>
            </a:r>
            <a:endParaRPr lang="ko-KR" sz="2400" dirty="0"/>
          </a:p>
        </p:txBody>
      </p:sp>
      <p:sp>
        <p:nvSpPr>
          <p:cNvPr id="6" name="S13-chip493"/>
          <p:cNvSpPr txBox="1"/>
          <p:nvPr/>
        </p:nvSpPr>
        <p:spPr>
          <a:xfrm>
            <a:off x="6208776" y="2813304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그림 개수만 세기</a:t>
            </a:r>
            <a:endParaRPr lang="ko-KR" sz="2400" dirty="0"/>
          </a:p>
        </p:txBody>
      </p:sp>
      <p:sp>
        <p:nvSpPr>
          <p:cNvPr id="7" name="S13-text494"/>
          <p:cNvSpPr txBox="1"/>
          <p:nvPr/>
        </p:nvSpPr>
        <p:spPr>
          <a:xfrm>
            <a:off x="548640" y="3636264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400" dirty="0"/>
          </a:p>
        </p:txBody>
      </p:sp>
      <p:sp>
        <p:nvSpPr>
          <p:cNvPr id="8" name="S13-text495"/>
          <p:cNvSpPr txBox="1"/>
          <p:nvPr/>
        </p:nvSpPr>
        <p:spPr>
          <a:xfrm>
            <a:off x="548640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큰 ● 3개,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작은 ○ 5개는 몇 명?</a:t>
            </a:r>
            <a:endParaRPr lang="ko-KR" sz="2400" dirty="0"/>
          </a:p>
        </p:txBody>
      </p:sp>
      <p:sp>
        <p:nvSpPr>
          <p:cNvPr id="9" name="S13-text496"/>
          <p:cNvSpPr txBox="1"/>
          <p:nvPr/>
        </p:nvSpPr>
        <p:spPr>
          <a:xfrm>
            <a:off x="4322064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26명은 큰 ●, 작은 ○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몇 개씩?</a:t>
            </a:r>
            <a:endParaRPr lang="ko-KR" sz="2400" dirty="0"/>
          </a:p>
        </p:txBody>
      </p:sp>
      <p:sp>
        <p:nvSpPr>
          <p:cNvPr id="10" name="S13-text497"/>
          <p:cNvSpPr txBox="1"/>
          <p:nvPr/>
        </p:nvSpPr>
        <p:spPr>
          <a:xfrm>
            <a:off x="8095488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그림그래프의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좋은 점은?</a:t>
            </a:r>
            <a:endParaRPr lang="ko-KR" sz="2400" dirty="0"/>
          </a:p>
        </p:txBody>
      </p:sp>
      <p:sp>
        <p:nvSpPr>
          <p:cNvPr id="11" name="S13-text498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만과 다섯 자리 수(초4)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10이 몇 개, 1이 몇 개</a:t>
            </a:r>
            <a:endParaRPr lang="ko-KR" sz="4000" dirty="0"/>
          </a:p>
        </p:txBody>
      </p:sp>
      <p:sp>
        <p:nvSpPr>
          <p:cNvPr id="3" name="S14-card49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14-cardtext50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10이 3개, 1이 4개이면 34예요.</a:t>
            </a:r>
            <a:endParaRPr lang="ko-KR" sz="3000" dirty="0"/>
          </a:p>
        </p:txBody>
      </p:sp>
      <p:sp>
        <p:nvSpPr>
          <p:cNvPr id="5" name="S14-card501"/>
          <p:cNvSpPr/>
          <p:nvPr/>
        </p:nvSpPr>
        <p:spPr>
          <a:xfrm>
            <a:off x="548640" y="4251960"/>
            <a:ext cx="5431536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14-cardtext502"/>
          <p:cNvSpPr txBox="1"/>
          <p:nvPr/>
        </p:nvSpPr>
        <p:spPr>
          <a:xfrm>
            <a:off x="822960" y="4389120"/>
            <a:ext cx="48828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십 모형 3개: 30</a:t>
            </a:r>
            <a:endParaRPr lang="ko-KR" sz="3000" dirty="0"/>
          </a:p>
        </p:txBody>
      </p:sp>
      <p:sp>
        <p:nvSpPr>
          <p:cNvPr id="7" name="S14-card503"/>
          <p:cNvSpPr/>
          <p:nvPr/>
        </p:nvSpPr>
        <p:spPr>
          <a:xfrm>
            <a:off x="6208776" y="4251960"/>
            <a:ext cx="5431536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14-cardtext504"/>
          <p:cNvSpPr txBox="1"/>
          <p:nvPr/>
        </p:nvSpPr>
        <p:spPr>
          <a:xfrm>
            <a:off x="6483096" y="4389120"/>
            <a:ext cx="48828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 모형 4개: 4</a:t>
            </a:r>
            <a:endParaRPr lang="ko-KR" sz="3000" dirty="0"/>
          </a:p>
        </p:txBody>
      </p:sp>
      <p:sp>
        <p:nvSpPr>
          <p:cNvPr id="9" name="S14-rod505"/>
          <p:cNvSpPr/>
          <p:nvPr/>
        </p:nvSpPr>
        <p:spPr>
          <a:xfrm>
            <a:off x="5303388" y="1377755"/>
            <a:ext cx="259373" cy="2593731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" name="S14-line506"/>
          <p:cNvSpPr/>
          <p:nvPr/>
        </p:nvSpPr>
        <p:spPr>
          <a:xfrm>
            <a:off x="5303388" y="1637128"/>
            <a:ext cx="25937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" name="S14-line507"/>
          <p:cNvSpPr/>
          <p:nvPr/>
        </p:nvSpPr>
        <p:spPr>
          <a:xfrm>
            <a:off x="5303388" y="1896501"/>
            <a:ext cx="25937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" name="S14-line508"/>
          <p:cNvSpPr/>
          <p:nvPr/>
        </p:nvSpPr>
        <p:spPr>
          <a:xfrm>
            <a:off x="5303388" y="2155874"/>
            <a:ext cx="25937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" name="S14-line509"/>
          <p:cNvSpPr/>
          <p:nvPr/>
        </p:nvSpPr>
        <p:spPr>
          <a:xfrm>
            <a:off x="5303388" y="2415247"/>
            <a:ext cx="25937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" name="S14-line510"/>
          <p:cNvSpPr/>
          <p:nvPr/>
        </p:nvSpPr>
        <p:spPr>
          <a:xfrm>
            <a:off x="5303388" y="2674620"/>
            <a:ext cx="25937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5" name="S14-line511"/>
          <p:cNvSpPr/>
          <p:nvPr/>
        </p:nvSpPr>
        <p:spPr>
          <a:xfrm>
            <a:off x="5303388" y="2933993"/>
            <a:ext cx="25937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" name="S14-line512"/>
          <p:cNvSpPr/>
          <p:nvPr/>
        </p:nvSpPr>
        <p:spPr>
          <a:xfrm>
            <a:off x="5303388" y="3193366"/>
            <a:ext cx="25937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" name="S14-line513"/>
          <p:cNvSpPr/>
          <p:nvPr/>
        </p:nvSpPr>
        <p:spPr>
          <a:xfrm>
            <a:off x="5303388" y="3452739"/>
            <a:ext cx="25937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" name="S14-line514"/>
          <p:cNvSpPr/>
          <p:nvPr/>
        </p:nvSpPr>
        <p:spPr>
          <a:xfrm>
            <a:off x="5303388" y="3712112"/>
            <a:ext cx="25937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" name="S14-rod515"/>
          <p:cNvSpPr/>
          <p:nvPr/>
        </p:nvSpPr>
        <p:spPr>
          <a:xfrm>
            <a:off x="5718385" y="1377755"/>
            <a:ext cx="259373" cy="2593731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0" name="S14-line516"/>
          <p:cNvSpPr/>
          <p:nvPr/>
        </p:nvSpPr>
        <p:spPr>
          <a:xfrm>
            <a:off x="5718385" y="1637128"/>
            <a:ext cx="25937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" name="S14-line517"/>
          <p:cNvSpPr/>
          <p:nvPr/>
        </p:nvSpPr>
        <p:spPr>
          <a:xfrm>
            <a:off x="5718385" y="1896501"/>
            <a:ext cx="25937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2" name="S14-line518"/>
          <p:cNvSpPr/>
          <p:nvPr/>
        </p:nvSpPr>
        <p:spPr>
          <a:xfrm>
            <a:off x="5718385" y="2155874"/>
            <a:ext cx="25937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3" name="S14-line519"/>
          <p:cNvSpPr/>
          <p:nvPr/>
        </p:nvSpPr>
        <p:spPr>
          <a:xfrm>
            <a:off x="5718385" y="2415247"/>
            <a:ext cx="25937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4" name="S14-line520"/>
          <p:cNvSpPr/>
          <p:nvPr/>
        </p:nvSpPr>
        <p:spPr>
          <a:xfrm>
            <a:off x="5718385" y="2674620"/>
            <a:ext cx="25937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5" name="S14-line521"/>
          <p:cNvSpPr/>
          <p:nvPr/>
        </p:nvSpPr>
        <p:spPr>
          <a:xfrm>
            <a:off x="5718385" y="2933993"/>
            <a:ext cx="25937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6" name="S14-line522"/>
          <p:cNvSpPr/>
          <p:nvPr/>
        </p:nvSpPr>
        <p:spPr>
          <a:xfrm>
            <a:off x="5718385" y="3193366"/>
            <a:ext cx="25937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7" name="S14-line523"/>
          <p:cNvSpPr/>
          <p:nvPr/>
        </p:nvSpPr>
        <p:spPr>
          <a:xfrm>
            <a:off x="5718385" y="3452739"/>
            <a:ext cx="25937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8" name="S14-line524"/>
          <p:cNvSpPr/>
          <p:nvPr/>
        </p:nvSpPr>
        <p:spPr>
          <a:xfrm>
            <a:off x="5718385" y="3712112"/>
            <a:ext cx="25937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9" name="S14-rod525"/>
          <p:cNvSpPr/>
          <p:nvPr/>
        </p:nvSpPr>
        <p:spPr>
          <a:xfrm>
            <a:off x="6133382" y="1377755"/>
            <a:ext cx="259373" cy="2593731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0" name="S14-line526"/>
          <p:cNvSpPr/>
          <p:nvPr/>
        </p:nvSpPr>
        <p:spPr>
          <a:xfrm>
            <a:off x="6133382" y="1637128"/>
            <a:ext cx="25937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1" name="S14-line527"/>
          <p:cNvSpPr/>
          <p:nvPr/>
        </p:nvSpPr>
        <p:spPr>
          <a:xfrm>
            <a:off x="6133382" y="1896501"/>
            <a:ext cx="25937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2" name="S14-line528"/>
          <p:cNvSpPr/>
          <p:nvPr/>
        </p:nvSpPr>
        <p:spPr>
          <a:xfrm>
            <a:off x="6133382" y="2155874"/>
            <a:ext cx="25937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3" name="S14-line529"/>
          <p:cNvSpPr/>
          <p:nvPr/>
        </p:nvSpPr>
        <p:spPr>
          <a:xfrm>
            <a:off x="6133382" y="2415247"/>
            <a:ext cx="25937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4" name="S14-line530"/>
          <p:cNvSpPr/>
          <p:nvPr/>
        </p:nvSpPr>
        <p:spPr>
          <a:xfrm>
            <a:off x="6133382" y="2674620"/>
            <a:ext cx="25937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5" name="S14-line531"/>
          <p:cNvSpPr/>
          <p:nvPr/>
        </p:nvSpPr>
        <p:spPr>
          <a:xfrm>
            <a:off x="6133382" y="2933993"/>
            <a:ext cx="25937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6" name="S14-line532"/>
          <p:cNvSpPr/>
          <p:nvPr/>
        </p:nvSpPr>
        <p:spPr>
          <a:xfrm>
            <a:off x="6133382" y="3193366"/>
            <a:ext cx="25937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7" name="S14-line533"/>
          <p:cNvSpPr/>
          <p:nvPr/>
        </p:nvSpPr>
        <p:spPr>
          <a:xfrm>
            <a:off x="6133382" y="3452739"/>
            <a:ext cx="25937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8" name="S14-line534"/>
          <p:cNvSpPr/>
          <p:nvPr/>
        </p:nvSpPr>
        <p:spPr>
          <a:xfrm>
            <a:off x="6133382" y="3712112"/>
            <a:ext cx="259373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9" name="S14-unit535"/>
          <p:cNvSpPr/>
          <p:nvPr/>
        </p:nvSpPr>
        <p:spPr>
          <a:xfrm>
            <a:off x="6548379" y="3647269"/>
            <a:ext cx="259373" cy="259373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0" name="S14-unit536"/>
          <p:cNvSpPr/>
          <p:nvPr/>
        </p:nvSpPr>
        <p:spPr>
          <a:xfrm>
            <a:off x="6548379" y="3323053"/>
            <a:ext cx="259373" cy="259373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1" name="S14-unit537"/>
          <p:cNvSpPr/>
          <p:nvPr/>
        </p:nvSpPr>
        <p:spPr>
          <a:xfrm>
            <a:off x="6548379" y="2998836"/>
            <a:ext cx="259373" cy="259373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2" name="S14-unit538"/>
          <p:cNvSpPr/>
          <p:nvPr/>
        </p:nvSpPr>
        <p:spPr>
          <a:xfrm>
            <a:off x="6548379" y="2674620"/>
            <a:ext cx="259373" cy="259373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3" name="S14-figure539" descr="수 모형: 십 모형 3개, 일 모형 4개(34)"/>
          <p:cNvSpPr/>
          <p:nvPr/>
        </p:nvSpPr>
        <p:spPr>
          <a:xfrm>
            <a:off x="548640" y="1377755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초3 수학 그림그래프</dc:title>
  <dc:subject>KR22-G03-MAT-PICTO-L01</dc:subject>
  <dc:creator>education-ppt</dc:creator>
  <cp:lastModifiedBy>education-ppt</cp:lastModifiedBy>
  <cp:revision>1</cp:revision>
  <dcterms:created xsi:type="dcterms:W3CDTF">2026-10-26T07:55:16Z</dcterms:created>
  <dcterms:modified xsi:type="dcterms:W3CDTF">2026-10-26T07:55:16Z</dcterms:modified>
</cp:coreProperties>
</file>