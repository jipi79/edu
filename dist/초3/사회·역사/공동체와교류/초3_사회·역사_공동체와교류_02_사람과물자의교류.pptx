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cb75291-2231-e47d-02d5-901e602984eb}">
          <p14:sldIdLst>
            <p14:sldId id="256"/>
            <p14:sldId id="257"/>
          </p14:sldIdLst>
        </p14:section>
        <p14:section name="개념" id="{c3ea8f46-3259-f785-3488-41db9e5255bf}">
          <p14:sldIdLst>
            <p14:sldId id="258"/>
            <p14:sldId id="259"/>
            <p14:sldId id="261"/>
            <p14:sldId id="262"/>
          </p14:sldIdLst>
        </p14:section>
        <p14:section name="연습" id="{924574e4-25d3-29ce-1c58-737c4eaa5818}">
          <p14:sldIdLst>
            <p14:sldId id="260"/>
            <p14:sldId id="263"/>
            <p14:sldId id="264"/>
          </p14:sldIdLst>
        </p14:section>
        <p14:section name="개념" id="{cbcd5024-41e2-a231-d9df-b5cacec545f2}">
          <p14:sldIdLst/>
        </p14:section>
        <p14:section name="연습" id="{1e1ce8d6-61ef-10ef-0920-9141c833e8b4}">
          <p14:sldIdLst/>
        </p14:section>
        <p14:section name="확인" id="{457d5440-ee14-886c-ca6d-b10107ce95ea}">
          <p14:sldIdLst>
            <p14:sldId id="265"/>
            <p14:sldId id="266"/>
            <p14:sldId id="267"/>
          </p14:sldIdLst>
        </p14:section>
        <p14:section name="정리" id="{cce08bc4-f3a4-49e2-f195-5543f00e6d64}">
          <p14:sldIdLst>
            <p14:sldId id="268"/>
          </p14:sldIdLst>
        </p14:section>
        <p14:section name="보충" id="{9b50d4dc-6e91-66a3-e667-df846e9b2a0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고장 밖으로 오가는 사람과 물건에 관심을 갖게 합니다.
시간: 약 2분
이렇게 말해 보세요
- “우리 고장에서 다른 고장으로 가는 버스나 기차를 본 적 있어? 큰 트럭에는 무엇이 실려 있을까?”
- “오늘은 사람과 물건(물자)이 왜 고장 사이를 오가는지 알아볼 거야.”
예상 답
- “여행 가요.” “트럭에 과일이 있어요.” “택배요.”
막히면
- 최근에 받은 택배 상자나 다른 고장에 사는 친척을 떠올리게 합니다.
주의
- 화면의 별빛마을·푸른바다마을·들판마을·큰빛시·솔바람마을과 사람들은 수업을 위해 지어낸 것입니다. 실제 고장의 특산물이나 통계는 쓰지 않고, 우리 집 물건이 온 곳은 S12에서 직접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확인(서로 돕는 마음, 필요한 것 얻기)]
목적: 앞 차시 ‘다양한 가족’(KR22-G03-SOC-FAMILIES-L01)의 ‘서로 돌보는 마음’과, 필요한 것이 없을 때 얻는 방법을 말할 수 있는지 확인합니다. 오늘은 가족과 이웃처럼 고장끼리도 서로 필요한 것을 주고받는다는 것으로 이어집니다.
시간: 약 3분
이렇게 말해 보세요
- “①, 지난 시간에 모습은 달라도 모든 가족에게 같은 것이 있었지? 무엇이었어?”
- “②, 우리 집에 없는 물건이 필요하면 어떻게 해?”
- “③, 우리 고장에서 먹을거리를 사는 곳은 어디야?”
정답
- ① 서로 돌보고 아끼는 마음
- ② 가게에서 사요. 이웃에게 빌려요. (필요한 것을 다른 곳에서 얻는다는 생각이면 맞음)
- ③ 시장, 마트 등
막히면
- ②가 어려우면 “풀이 다 떨어졌는데 집에 없으면?”처럼 구체적인 물건으로 묻습니다.
- 필요한 것을 다른 곳에서 얻는다는 생각을 말하지 못하면 S14(보충)를 먼저 합니다.
주의
- ①을 잊었어도 오늘 수업에는 큰 지장이 없습니다. 짧게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사람이 다른 고장에 가는 까닭]
목적: 사람들이 다른 고장에 가는 여러 까닭을 알려 줍니다(목표 A, 오해 M2).
시간: 약 3분
이렇게 말해 보세요
- “사람들은 왜 다른 고장에 갈까? 놀러 가는 것 말고도 까닭이 많아.”
- “우리 가족이나 친척 가운데 다른 고장에 일하러 가거나 배우러 가는 사람이 있을까?”
예상 답
- “아빠가 회사에 가요.” “사촌 형이 대학교에 다녀요.” “할머니 댁에 가요.”
막히면
- 카드마다 “우리 고장에 이것이 없으면 어떻게 할까?”라고 묻습니다(예: 큰 병원이 없으면?).
주의
- 가족의 직장이나 사정을 자세히 말하게 하지 않습니다. 떠오르는 예가 없으면 카드의 예로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시범(누가, 어디로, 왜 가는지 정리하기)]
목적: 별빛마을 사람들이 다른 고장에 가는 모습을 ‘누가 → 어디로 → 왜’로 정리하는 방법을 보여 줍니다. 다른 고장 사람들도 우리 고장에 온다는 것을 짚습니다(목표 A).
시간: 약 3분
이렇게 말해 보세요
- “지호네 가족 이야기야. 지호 아빠는 큰빛시에 가. 왜? 회사에서 일하려고. 이렇게 누가, 어디로, 왜를 차례로 말하면 돼.”
- “마지막 줄을 봐. 큰빛시 사람들이 별빛마을에 와. 왜 올까?”
예상 답
- “꽃 축제를 구경하려고요.” “사람들은 서로 오가요.”
막히면
- 표의 한 줄을 손가락으로 왼쪽부터 짚으며 “누가, 어디로, 왜”를 함께 읽습니다.
주의
- 별빛마을은 앞에서 배운 그림 속 마을입니다. 큰 병원과 대학교가 없어서 큰빛시에 간다고 생각하면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다른 고장에 간 까닭 말하기]
목적: 이야기 속 사람이 다른 고장에 간 까닭을 찾아 말합니다(목표 A).
시간: 약 3분
이렇게 말해 보세요
- “①, 수아 언니는 왜 옆 고장에 갈까? 아래 말 가운데에서 골라 문장으로 말해 줘.”
- “어떻게 알았어? 어느 낱말을 보고 알았어?”
정답
- ① 배우러(고등학교에 다니려고) ② 치료받으러(큰 병원) ③ 구경하고 체험하러(갯벌) ④ 일하러(회사)
막히면
- 문장에서 장소 낱말(고등학교, 병원, 갯벌, 회사)에 동그라미를 치고 “거기는 무엇을 하는 곳이야?”라고 묻습니다.
주의
- ③을 ‘놀러’라고 해도 맞습니다. ‘구경·체험’도 다른 고장에 가는 까닭이라고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물자가 오가는 흐름]
목적: 고장마다 많이 나는 것이 달라서, 남는 것은 보내고 모자란 것은 얻는다는 것을 흐름도로 보여 줍니다. 물자는 먹을거리와 물건을 함께 이르는 말입니다(목표 B, 오해 M3).
시간: 약 3분
이렇게 말해 보세요
- “들판마을은 논이 넓어서 쌀이 많이 나. 다 먹고도 남지. 남는 쌀을 큰빛시로 보내.”
- “큰빛시에는 공장이 많아서 옷과 운동화를 많이 만들어. 그걸 들판마을로 보내.”
- “화살표를 따라가 볼까? 한쪽만 주는 걸까, 서로 주고받는 걸까?”
예상 답
- “서로 주고받아요.” “들판마을은 옷을 얻고 큰빛시는 쌀을 얻어요.”
막히면
- “우리 집에 사과가 많은데 우유가 없고, 옆집은 우유가 많은데 사과가 없으면 어떻게 할까?”처럼 집과 이웃으로 바꾸어 묻습니다.
주의
- 물자를 옮길 때는 트럭, 기차, 배 같은 교통수단을 씁니다. 사람과 물자가 오가는 것을 ‘교류’라고 합니다(S07에서 다시 정리).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고장마다 많이 나는 것과 얻는 것(교류)]
목적: 세 고장이 많이 나는 것과 다른 고장에서 얻는 것을 표로 정리하고, 사람과 물자가 오가는 것을 ‘교류’라고 알려 줍니다(목표 B).
시간: 약 3분
이렇게 말해 보세요
- “푸른바다마을은 바닷가 고장이라 생선과 김이 많이 나. 그런데 논이 적어서 쌀은 다른 고장에서 얻어.”
- “들판마을이 얻는 것은? 큰빛시가 얻는 것은?”
- “이렇게 사람과 물자가 고장 사이를 오가는 것을 ‘교류’라고 해.”
예상 답
- “들판마을은 생선과 옷을 얻어요.” “큰빛시는 쌀, 채소, 생선을 얻어요.”
막히면
- 한 줄씩 “이 고장에 많은 것은? 없는 것은?”으로 나누어 묻습니다.
주의
- 세 고장은 지어낸 고장입니다. 실제로 어느 지역에서 무엇이 나는지는 S12에서 우리 집 물건으로 직접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비교(가게의 물건은 모두 우리 고장 것일까?)]
목적: 시장이나 마트에 있는 물건이 모두 우리 고장에서 나거나 만든 것은 아니라는 것을 생각하게 합니다(목표 B, 오해 M1).
시간: 약 3분
이렇게 말해 보세요
- “별빛마을 그림 기억나? 별빛마을에 바다가 있었어?”
- “그럼 별빛마을 시장의 생선은 어디에서 왔을까? 어떻게 왔을까?”
정답
- 나. 별빛마을에는 바다가 없으므로 생선은 바닷가 고장(푸른바다마을)에서 트럭 등으로 옮겨 온 것입니다.
막히면
- “생선은 어디에서 잡을까? 바다, 강이지? 별빛마을에는?”이라고 차례로 묻습니다.
주의
- 실제 가게의 물건은 우리 고장, 다른 고장, 다른 나라에서 옵니다. 다른 나라와의 교류는 고학년에서 더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표를 보고 물자가 오가는 까닭 말하기]
목적: 표를 근거로 고장 사이에 무엇이 왜 오가는지 말합니다(목표 B).
시간: 약 3분
이렇게 말해 보세요
- “①, 표에서 쌀이 많이 나는 고장을 찾아볼까? 그럼 푸른바다마을은 쌀을 어디에서 얻을까?”
- “②, ③도 표를 보고 까닭과 함께 말해 줘.”
정답
- ① 들판마을에서 얻어요(들판마을에 쌀이 많이 나니까).
- ② 다른 고장(푸른바다마을, 큰빛시)에 보내 팔아요. 그리고 필요한 생선이나 옷을 얻어요.
- ③ 푸른바다마을과 들판마을로 가요. 두 고장에는 옷·운동화를 만드는 공장이 적어서 필요하니까요.
막히면
- 표의 ‘많이 나는 것’ 칸과 ‘얻는 것’ 칸을 손가락으로 이어 보게 합니다.
주의
- ‘남는 것을 보내고 모자란 것을 얻는다’는 말을 아이 말로 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고장)]
목적: 처음 보는 고장 이야기에서 사람이 다른 고장에 가는 까닭과, 물자를 보내고 얻는 까닭을 설명하는지 확인합니다(목표 A·B).
시간: 약 4분
이렇게 말해 보세요
- “솔바람마을 이야기를 소리 내어 읽어 볼래? 그리고 ①, ②에 답해 줘. 활동지 3에 같은 글이 있어.”
정답
- ① 큰 병원에서 치료받으려고, 대학교에서 배우려고(두 가지)
- ② 보내는 것: 사과(많이 나니까) / 얻는 것: 생선(바다가 멀어 나지 않으니까)
막히면
- 바로 알려 주지 말고 “솔바람마을에 없는 것은 무엇이야?”라고만 묻습니다.
- 도움을 받아 해결했다면 기록표에 ‘도움’으로 표시합니다.
주의
- ①의 두 가지와 ②의 보내는 것·얻는 것을 까닭과 함께 말하면 목표 A·B를 이룬 것으로 봅니다. 사과를 팔아 번 돈으로 필요한 것을 산다고 말하면 더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보자. 오른쪽처럼 말하면 무엇이 빠졌을까?”
예상 답
- “까닭을 안 말했어요.” “얻는 것만 말했어요.”
정답
- ① 치료받으러(큰 병원), 배우러(대학교) ② 보내는 것: 사과, 얻는 것: 생선
막히면
- 글에서 ‘많이 나요’와 ‘나지 않아요’에 밑줄을 그어 다시 찾습니다.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우리 집 물건이 온 곳 조사하기]
목적: 집에 있는 먹을거리의 상자나 포장지에서 온 곳(생산지·원산지)을 찾아, 우리 고장에서 나지 않는 물자가 다른 고장에서 온다는 것을 확인합니다. 실제 우리 고장의 교류를 부모와 함께 조사하는 활동입니다(목표 B). 활동지 4에 기록합니다.
시간: 약 6분
이렇게 말해 보세요
- “냉장고와 부엌에서 먹을거리 세 가지를 골라 볼까? 상자나 봉지에 ‘원산지’나 ‘생산지’라고 쓰인 곳을 찾아봐.”
- “이건 어디에서 왔어? 우리 고장에서도 이게 날까? 왜 그 고장에서 왔을까?”
예상 답
- 예: “이 사과는 ○○에서 왔어요. 우리 고장에는 사과밭이 없어서 다른 고장에서 왔을 것 같아요.” “이 김은 바닷가 고장에서 왔어요.”
정답
- 기준: ① 온 곳을 세 가지 찾음 ② 우리 고장에서 나지 않는(또는 다른 고장에서 온) 물자를 하나 이상 찾음 ③ ‘우리 고장에 없어서(적어서) 얻으려고’처럼 오가는 까닭을 말함. 세 가지를 모두 하면 목표 B를 이룬 것으로 봅니다. 집마다 답이 다릅니다.
막히면
- ‘국산’이라고만 쓰여 있으면 “우리나라 어딘가에서 왔다는 뜻이야.”라고 알려 주고 다른 물건을 찾습니다.
- 까닭을 짐작하기 어려우면 부모가 휴대 전화로 그 고장이 어떤 곳인지(바닷가, 산, 들) 함께 찾아봅니다.
주의
- 다른 나라에서 온 물건이 나오면 “나라 사이에도 물자가 오가.”라고 짧게 말해 줍니다. 오늘은 고장 사이의 교류에 집중합니다.
- 칼이나 무거운 상자는 부모가 꺼내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“사람과 물자는 왜 고장 사이를 오갈까? 한 문장으로 말해 볼래?”
예상 답
- “고장마다 있는 것과 없는 것이 달라서 필요한 것을 얻으려고 오가요.”
정답
- ① 일하러, 배우러, 치료받으러, 사러, 만나러·구경하러 가운데 두 가지 ② 생선, 김(바다에서 나는 것) ③ 교류
막히면
- S03과 S07을 다시 보여 줍니다.
주의
- 오늘로 3학년 사회의 지역·공동체 차시가 끝납니다. 다음 차시는 계획상 4학년 ‘지도 읽기’로, 오늘까지 배운 그림지도·방위를 더 넓혀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보충(필요한 것을 얻는 방법)]
목적: S02에서 필요한 것을 다른 곳에서 얻는다는 생각을 말하기 어려워하면, 집과 이웃의 경험으로 먼저 익힌 뒤 고장으로 넓힙니다.
시간: 약 4분
이렇게 말해 보세요
- “그림을 그리려는데 집에 크레파스가 없어. 어떻게 할까?”
- “우리 집에 없는 것을 얻으려고 가게에 가거나 이웃에게 빌리지? 고장도 마찬가지야. 없는 것을 얻으려고 사람과 물건이 오가.”
정답
- 예: “문구점에서 사요.” “옆집 친구에게 빌려요.” (다른 곳에서 얻는 방법을 말하면 맞음)
막히면
- 실제로 집에 없는 물건 하나를 정해 “이건 어디에 가면 있을까?”라고 함께 찾아봅니다.
주의
- 계획상 앞 차시는 ‘다양한 가족’(KR22-G03-SOC-FAMILIES-L01)입니다. 서로 돕는 마음이 흔들리면 그 차시의 S08~S09를, 고장의 장소가 흔들리면 ‘우리 고장의 장소’(KR22-G03-SOC-PLACES-L01)의 S03~S04를 먼저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공동체와교류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사람과 물자의 교류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물자의 교류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물건은 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고장으로 오갈까?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다른 고장에 가는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물자가 고장 사이를 오가는 까닭을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가족에게 같은 것은?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없는 물건이 필요하면?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먹을거리를 사는 곳은?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고장에 가는 까닭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얻으려고 다른 고장에 가요.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회사나 공장에서 일해요.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배우거나 체험해요.</a:t>
            </a:r>
            <a:endParaRPr lang="ko-KR" sz="30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얻으러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병원에 가거나 물건을 사요.</a:t>
            </a:r>
            <a:endParaRPr lang="ko-KR" sz="30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만나러, 구경하러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친척을 만나고 여행해요.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사람들의 나들이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고장 사람들도 우리 고장에 와요.</a:t>
            </a:r>
            <a:endParaRPr lang="ko-KR" sz="3000" dirty="0"/>
          </a:p>
        </p:txBody>
      </p:sp>
      <p:graphicFrame>
        <p:nvGraphicFramePr>
          <p:cNvPr id="5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4183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14016"/>
                <a:gridCol w="526694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회사에서 일하려고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사촌 언니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대학교에서 배우려고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지호 할머니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병원에서 치료받으려고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 사람들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 축제를 구경하려고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갔을까요?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골라 문장으로 말해요.</a:t>
            </a:r>
            <a:endParaRPr lang="ko-KR" sz="3000" dirty="0"/>
          </a:p>
        </p:txBody>
      </p:sp>
      <p:sp>
        <p:nvSpPr>
          <p:cNvPr id="4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일하러 · 배우러 · 치료받으러 · 사러 · 만나러 · 구경하러</a:t>
            </a:r>
            <a:endParaRPr lang="ko-KR" sz="3000" dirty="0"/>
          </a:p>
        </p:txBody>
      </p:sp>
      <p:sp>
        <p:nvSpPr>
          <p:cNvPr id="6" name="S05-chip2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 언니는 옆 고장 고등학교에 다녀요.</a:t>
            </a:r>
            <a:endParaRPr lang="ko-KR" sz="3000" dirty="0"/>
          </a:p>
        </p:txBody>
      </p:sp>
      <p:sp>
        <p:nvSpPr>
          <p:cNvPr id="8" name="S05-chip2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할아버지는 큰빛시의 큰 병원에 가셨어요.</a:t>
            </a:r>
            <a:endParaRPr lang="ko-KR" sz="3000" dirty="0"/>
          </a:p>
        </p:txBody>
      </p:sp>
      <p:sp>
        <p:nvSpPr>
          <p:cNvPr id="10" name="S05-chip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바닷가 갯벌에 다녀왔어요.</a:t>
            </a:r>
            <a:endParaRPr lang="ko-KR" sz="3000" dirty="0"/>
          </a:p>
        </p:txBody>
      </p:sp>
      <p:sp>
        <p:nvSpPr>
          <p:cNvPr id="12" name="S05-chip3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3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이모는 아침마다 큰빛시 회사에 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물자가 오가는 까닭</a:t>
            </a:r>
            <a:endParaRPr lang="ko-KR" sz="4000" dirty="0"/>
          </a:p>
        </p:txBody>
      </p:sp>
      <p:sp>
        <p:nvSpPr>
          <p:cNvPr id="3" name="S06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물자: 사람이 쓰는 먹을거리와 물건</a:t>
            </a:r>
            <a:endParaRPr lang="ko-KR" sz="3000" dirty="0"/>
          </a:p>
        </p:txBody>
      </p:sp>
      <p:sp>
        <p:nvSpPr>
          <p:cNvPr id="4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고장마다 많이 나는 것이 달라서 서로 주고받아요.</a:t>
            </a:r>
            <a:endParaRPr lang="ko-KR" sz="3000" dirty="0"/>
          </a:p>
        </p:txBody>
      </p:sp>
      <p:sp>
        <p:nvSpPr>
          <p:cNvPr id="6" name="S06-step36"/>
          <p:cNvSpPr txBox="1"/>
          <p:nvPr/>
        </p:nvSpPr>
        <p:spPr>
          <a:xfrm>
            <a:off x="548640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들판마을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쌀이 많아요</a:t>
            </a:r>
            <a:endParaRPr lang="ko-KR" sz="2400" dirty="0"/>
          </a:p>
        </p:txBody>
      </p:sp>
      <p:sp>
        <p:nvSpPr>
          <p:cNvPr id="7" name="S06-line37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8"/>
          <p:cNvSpPr txBox="1"/>
          <p:nvPr/>
        </p:nvSpPr>
        <p:spPr>
          <a:xfrm>
            <a:off x="3424428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쌀을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큰빛시로</a:t>
            </a:r>
            <a:endParaRPr lang="ko-KR" sz="2400" dirty="0"/>
          </a:p>
        </p:txBody>
      </p:sp>
      <p:sp>
        <p:nvSpPr>
          <p:cNvPr id="9" name="S06-line39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40"/>
          <p:cNvSpPr txBox="1"/>
          <p:nvPr/>
        </p:nvSpPr>
        <p:spPr>
          <a:xfrm>
            <a:off x="6300216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큰빛시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물건이 많아요</a:t>
            </a:r>
            <a:endParaRPr lang="ko-KR" sz="2400" dirty="0"/>
          </a:p>
        </p:txBody>
      </p:sp>
      <p:sp>
        <p:nvSpPr>
          <p:cNvPr id="11" name="S06-line41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2"/>
          <p:cNvSpPr txBox="1"/>
          <p:nvPr/>
        </p:nvSpPr>
        <p:spPr>
          <a:xfrm>
            <a:off x="9176004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옷·운동화를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들판마을로</a:t>
            </a:r>
            <a:endParaRPr lang="ko-KR" sz="2400" dirty="0"/>
          </a:p>
        </p:txBody>
      </p:sp>
      <p:sp>
        <p:nvSpPr>
          <p:cNvPr id="13" name="S06-line43"/>
          <p:cNvSpPr/>
          <p:nvPr/>
        </p:nvSpPr>
        <p:spPr>
          <a:xfrm>
            <a:off x="10408158" y="411480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06-line44"/>
          <p:cNvSpPr/>
          <p:nvPr/>
        </p:nvSpPr>
        <p:spPr>
          <a:xfrm flipH="1">
            <a:off x="1780794" y="443484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06-line45"/>
          <p:cNvSpPr/>
          <p:nvPr/>
        </p:nvSpPr>
        <p:spPr>
          <a:xfrm flipV="1">
            <a:off x="1780794" y="413308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주고받는 고장들</a:t>
            </a:r>
            <a:endParaRPr lang="ko-KR" sz="4000" dirty="0"/>
          </a:p>
        </p:txBody>
      </p:sp>
      <p:sp>
        <p:nvSpPr>
          <p:cNvPr id="3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물자가 고장 사이를 오가는 것을 교류라고 해요.</a:t>
            </a:r>
            <a:endParaRPr lang="ko-KR" sz="30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98116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11296"/>
                <a:gridCol w="416966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나는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고장에서 얻는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푸른바다마을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들판마을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김, 옷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옷, 운동화(공장)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생선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 어디에서 왔을까?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시장에서 생선을 샀어요.</a:t>
            </a:r>
            <a:endParaRPr lang="ko-KR" sz="3000" dirty="0"/>
          </a:p>
        </p:txBody>
      </p:sp>
      <p:sp>
        <p:nvSpPr>
          <p:cNvPr id="5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별빛마을에는 바다가 없어요. 누구 말이 맞을까요?</a:t>
            </a:r>
            <a:endParaRPr lang="ko-KR" sz="3000" dirty="0"/>
          </a:p>
        </p:txBody>
      </p:sp>
      <p:sp>
        <p:nvSpPr>
          <p:cNvPr id="7" name="S08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잡았어요.</a:t>
            </a:r>
            <a:endParaRPr lang="ko-KR" sz="3000" dirty="0"/>
          </a:p>
        </p:txBody>
      </p:sp>
      <p:sp>
        <p:nvSpPr>
          <p:cNvPr id="9" name="S08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생선은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고장에서 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주고받을까요?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4494276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4631436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푸른바다마을은 쌀을 어디에서 얻을까요?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들판마을의 남는 쌀은 어떻게 할까요?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큰빛시의 운동화는 어디로 갈까요? 왜?</a:t>
            </a:r>
            <a:endParaRPr lang="ko-KR" sz="3000" dirty="0"/>
          </a:p>
        </p:txBody>
      </p:sp>
      <p:graphicFrame>
        <p:nvGraphicFramePr>
          <p:cNvPr id="10" name="S09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3261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11296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나는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고장에서 얻는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푸른바다마을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들판마을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생선, 김,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큰빛시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옷, 운동화(공장)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쌀, 채소, 생선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솔바람마을</a:t>
            </a:r>
            <a:endParaRPr lang="ko-KR" sz="4000" dirty="0"/>
          </a:p>
        </p:txBody>
      </p:sp>
      <p:sp>
        <p:nvSpPr>
          <p:cNvPr id="3" name="S10-card6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솔바람마을 사람들이 큰빛시에 가는 까닭 두 가지는?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고장에 보내는 것과 얻는 것은? 왜 그럴까요?</a:t>
            </a:r>
            <a:endParaRPr lang="ko-KR" sz="3000" dirty="0"/>
          </a:p>
        </p:txBody>
      </p:sp>
      <p:sp>
        <p:nvSpPr>
          <p:cNvPr id="5" name="S10-passagebox62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3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솔바람마을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솔바람마을은 산이 많은 고장이에요. 솔바람마을에서는 사과가 많이 나요. 바다가 멀어서 생선은 나지 않아요. 큰 병원과 대학교는 큰빛시에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나는 것은 보내고, 없는 것은 얻어요.</a:t>
            </a:r>
            <a:endParaRPr lang="ko-KR" sz="3000" dirty="0"/>
          </a:p>
        </p:txBody>
      </p:sp>
      <p:sp>
        <p:nvSpPr>
          <p:cNvPr id="5" name="S11-chip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67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치료받으러, 배우러</a:t>
            </a:r>
            <a:endParaRPr lang="ko-KR" sz="3000" dirty="0"/>
          </a:p>
        </p:txBody>
      </p:sp>
      <p:sp>
        <p:nvSpPr>
          <p:cNvPr id="7" name="S11-text68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보내요: 사과(많이 나서)</a:t>
            </a:r>
            <a:endParaRPr lang="ko-KR" sz="3000" dirty="0"/>
          </a:p>
        </p:txBody>
      </p:sp>
      <p:sp>
        <p:nvSpPr>
          <p:cNvPr id="8" name="S11-text69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 얻어요: 생선(나지 않아서)</a:t>
            </a:r>
            <a:endParaRPr lang="ko-KR" sz="3000" dirty="0"/>
          </a:p>
        </p:txBody>
      </p:sp>
      <p:sp>
        <p:nvSpPr>
          <p:cNvPr id="9" name="S11-chip7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0" name="S11-text7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“놀러 가요.”</a:t>
            </a:r>
            <a:endParaRPr lang="ko-KR" sz="3000" dirty="0"/>
          </a:p>
        </p:txBody>
      </p:sp>
      <p:sp>
        <p:nvSpPr>
          <p:cNvPr id="11" name="S11-text7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나온 까닭이 아님</a:t>
            </a:r>
            <a:endParaRPr lang="ko-KR" sz="2400" dirty="0"/>
          </a:p>
        </p:txBody>
      </p:sp>
      <p:sp>
        <p:nvSpPr>
          <p:cNvPr id="12" name="S11-text7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 답만</a:t>
            </a:r>
            <a:endParaRPr lang="ko-KR" sz="3000" dirty="0"/>
          </a:p>
        </p:txBody>
      </p:sp>
      <p:sp>
        <p:nvSpPr>
          <p:cNvPr id="13" name="S11-text7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오가는지 말해요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물건은 어디에서?</a:t>
            </a:r>
            <a:endParaRPr lang="ko-KR" sz="4000" dirty="0"/>
          </a:p>
        </p:txBody>
      </p:sp>
      <p:sp>
        <p:nvSpPr>
          <p:cNvPr id="3" name="S12-card7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온 곳을 세 가지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고장에서 온 것을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오가는 까닭을 말했어요</a:t>
            </a:r>
            <a:endParaRPr lang="ko-KR" sz="3000" dirty="0"/>
          </a:p>
        </p:txBody>
      </p:sp>
      <p:sp>
        <p:nvSpPr>
          <p:cNvPr id="5" name="S12-stepno77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78"/>
          <p:cNvSpPr txBox="1"/>
          <p:nvPr/>
        </p:nvSpPr>
        <p:spPr>
          <a:xfrm>
            <a:off x="1325880" y="2046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 세 가지를 골라요.</a:t>
            </a:r>
            <a:endParaRPr lang="ko-KR" sz="3000" dirty="0"/>
          </a:p>
        </p:txBody>
      </p:sp>
      <p:sp>
        <p:nvSpPr>
          <p:cNvPr id="7" name="S12-stepno79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80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포장에서 ‘원산지’, ‘생산지’를 찾아요.</a:t>
            </a:r>
            <a:endParaRPr lang="ko-KR" sz="3000" dirty="0"/>
          </a:p>
        </p:txBody>
      </p:sp>
      <p:sp>
        <p:nvSpPr>
          <p:cNvPr id="9" name="S12-stepno81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82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곳을 기록표에 적어요.</a:t>
            </a:r>
            <a:endParaRPr lang="ko-KR" sz="3000" dirty="0"/>
          </a:p>
        </p:txBody>
      </p:sp>
      <p:sp>
        <p:nvSpPr>
          <p:cNvPr id="11" name="S12-stepno83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84"/>
          <p:cNvSpPr txBox="1"/>
          <p:nvPr/>
        </p:nvSpPr>
        <p:spPr>
          <a:xfrm>
            <a:off x="1325880" y="4567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고장에서 왔을지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고장마다 많이 나는 것과 모자란 것이 달라서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물자가 고장 사이를 오가요(교류).</a:t>
            </a:r>
            <a:endParaRPr lang="ko-KR" sz="3000" dirty="0"/>
          </a:p>
        </p:txBody>
      </p:sp>
      <p:sp>
        <p:nvSpPr>
          <p:cNvPr id="5" name="S13-chip8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오가는 까닭 말하기</a:t>
            </a:r>
            <a:endParaRPr lang="ko-KR" sz="2400" dirty="0"/>
          </a:p>
        </p:txBody>
      </p:sp>
      <p:sp>
        <p:nvSpPr>
          <p:cNvPr id="6" name="S13-chip8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모두 우리 고장 것이라 여기기</a:t>
            </a:r>
            <a:endParaRPr lang="ko-KR" sz="2400" dirty="0"/>
          </a:p>
        </p:txBody>
      </p:sp>
      <p:sp>
        <p:nvSpPr>
          <p:cNvPr id="7" name="S13-text8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사람이 다른 고장에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까닭 두 가지는?</a:t>
            </a:r>
            <a:endParaRPr lang="ko-KR" sz="2400" dirty="0"/>
          </a:p>
        </p:txBody>
      </p:sp>
      <p:sp>
        <p:nvSpPr>
          <p:cNvPr id="9" name="S13-text9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바닷가 고장에서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나는 것은?</a:t>
            </a:r>
            <a:endParaRPr lang="ko-KR" sz="2400" dirty="0"/>
          </a:p>
        </p:txBody>
      </p:sp>
      <p:sp>
        <p:nvSpPr>
          <p:cNvPr id="10" name="S13-text9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사람과 물자가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오가는 것은?</a:t>
            </a:r>
            <a:endParaRPr lang="ko-KR" sz="2400" dirty="0"/>
          </a:p>
        </p:txBody>
      </p:sp>
      <p:sp>
        <p:nvSpPr>
          <p:cNvPr id="11" name="S13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지도 읽기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필요한 것을 얻어요</a:t>
            </a:r>
            <a:endParaRPr lang="ko-KR" sz="40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필요한데 우리 집에 없으면 어떻게 할까요?</a:t>
            </a:r>
            <a:endParaRPr lang="ko-KR" sz="3000" dirty="0"/>
          </a:p>
        </p:txBody>
      </p:sp>
      <p:sp>
        <p:nvSpPr>
          <p:cNvPr id="4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고장도 필요한 것을 얻으려고 서로 오가요.</a:t>
            </a:r>
            <a:endParaRPr lang="ko-KR" sz="3000" dirty="0"/>
          </a:p>
        </p:txBody>
      </p:sp>
      <p:sp>
        <p:nvSpPr>
          <p:cNvPr id="6" name="S14-card97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8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사요</a:t>
            </a:r>
            <a:endParaRPr lang="ko-KR" sz="3000" dirty="0"/>
          </a:p>
        </p:txBody>
      </p:sp>
      <p:sp>
        <p:nvSpPr>
          <p:cNvPr id="8" name="S14-card99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00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이웃에게 빌려요</a:t>
            </a:r>
            <a:endParaRPr lang="ko-KR" sz="3000" dirty="0"/>
          </a:p>
        </p:txBody>
      </p:sp>
      <p:sp>
        <p:nvSpPr>
          <p:cNvPr id="10" name="S14-card101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02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것이 있는 곳에 가요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사람과 물자의 교류</dc:title>
  <dc:subject>KR22-G03-SOC-EXCHANGE-L01</dc:subject>
  <dc:creator>education-ppt</dc:creator>
  <cp:lastModifiedBy>education-ppt</cp:lastModifiedBy>
  <cp:revision>1</cp:revision>
  <dcterms:created xsi:type="dcterms:W3CDTF">2026-10-26T09:43:40Z</dcterms:created>
  <dcterms:modified xsi:type="dcterms:W3CDTF">2026-10-26T09:43:40Z</dcterms:modified>
</cp:coreProperties>
</file>