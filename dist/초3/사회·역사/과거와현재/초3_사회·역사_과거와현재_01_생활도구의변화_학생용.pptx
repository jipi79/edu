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fcc0582-4af3-d376-c014-cce32c1c8844}">
          <p14:sldIdLst>
            <p14:sldId id="256"/>
            <p14:sldId id="257"/>
          </p14:sldIdLst>
        </p14:section>
        <p14:section name="개념" id="{8114e7c7-cd56-cf77-7a4c-e320baada09a}">
          <p14:sldIdLst>
            <p14:sldId id="258"/>
            <p14:sldId id="259"/>
            <p14:sldId id="260"/>
            <p14:sldId id="262"/>
          </p14:sldIdLst>
        </p14:section>
        <p14:section name="연습" id="{9c9f58bf-31ba-1fee-c532-64c4cbdc3579}">
          <p14:sldIdLst>
            <p14:sldId id="261"/>
            <p14:sldId id="263"/>
            <p14:sldId id="264"/>
          </p14:sldIdLst>
        </p14:section>
        <p14:section name="개념" id="{1a0b93dc-3419-3011-ba96-ed790129a62c}">
          <p14:sldIdLst/>
        </p14:section>
        <p14:section name="연습" id="{dc4fa436-0bf2-8526-e869-0b802455978d}">
          <p14:sldIdLst/>
        </p14:section>
        <p14:section name="확인" id="{a681b449-49e3-6747-9d45-aab145d999b6}">
          <p14:sldIdLst>
            <p14:sldId id="265"/>
            <p14:sldId id="266"/>
          </p14:sldIdLst>
        </p14:section>
        <p14:section name="정리" id="{a1c5267e-1f6b-7ed4-6c81-cdbc494d221c}">
          <p14:sldIdLst>
            <p14:sldId id="267"/>
          </p14:sldIdLst>
        </p14:section>
        <p14:section name="보충" id="{ec00143c-0300-12f1-bd49-f41d74f6a0f9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사회·역사 · 과거와현재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사회·역사 · 생활 도구의 변화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사회·역사 · 생활 도구의 변화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사회·역사 · 생활 도구의 변화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도구의 변화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사람들은 어떤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도구로 생활했을까?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옛날과 오늘날 도구를 하는 일로 짝지어요.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도구가 바뀌어 생활이 어떻게 달라졌는지 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도구 떠올리기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도구는 일을 쉽게 하려고 쓰는 물건이에요.</a:t>
            </a:r>
            <a:endParaRPr lang="ko-KR" sz="30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밥을 지을 때 쓰는 도구는?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빨래를 할 때 쓰는 도구는?</a:t>
            </a:r>
            <a:endParaRPr lang="ko-KR" sz="30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할머니가 어릴 때도 휴대 전화가 있었을까요?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일이 같은 도구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달라도 하는 일이 같은 도구끼리 짝지어요.</a:t>
            </a:r>
            <a:endParaRPr lang="ko-KR" sz="3000" dirty="0"/>
          </a:p>
        </p:txBody>
      </p:sp>
      <p:graphicFrame>
        <p:nvGraphicFramePr>
          <p:cNvPr id="4" name="S03-table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120900"/>
          <a:ext cx="10058400" cy="914400"/>
        </p:xfrm>
        <a:graphic>
          <a:graphicData uri="http://schemas.openxmlformats.org/drawingml/2006/table">
            <a:tbl>
              <a:tblPr/>
              <a:tblGrid>
                <a:gridCol w="4425696"/>
                <a:gridCol w="2816352"/>
                <a:gridCol w="2816352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하는 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옛날 도구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오늘날 도구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곡식을 갈아요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맷돌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믹서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옷의 구김을 펴요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다듬이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다리미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어두운 곳을 밝혀요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맷돌과 믹서</a:t>
            </a:r>
            <a:endParaRPr lang="ko-KR" sz="4000" dirty="0"/>
          </a:p>
        </p:txBody>
      </p:sp>
      <p:sp>
        <p:nvSpPr>
          <p:cNvPr id="3" name="S04-card1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1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콩을 갈 때 쓰는 두 도구예요.</a:t>
            </a:r>
            <a:endParaRPr lang="ko-KR" sz="3000" dirty="0"/>
          </a:p>
        </p:txBody>
      </p:sp>
      <p:sp>
        <p:nvSpPr>
          <p:cNvPr id="5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점과 다른 점은 무엇일까요?</a:t>
            </a:r>
            <a:endParaRPr lang="ko-KR" sz="3000" dirty="0"/>
          </a:p>
        </p:txBody>
      </p:sp>
      <p:sp>
        <p:nvSpPr>
          <p:cNvPr id="7" name="S04-chip1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옛날: 맷돌</a:t>
            </a:r>
            <a:endParaRPr lang="ko-KR" sz="2400" dirty="0"/>
          </a:p>
        </p:txBody>
      </p:sp>
      <p:sp>
        <p:nvSpPr>
          <p:cNvPr id="8" name="S04-text1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 돌 두 개를 겹쳐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손잡이를 돌려 갈아요.</a:t>
            </a:r>
            <a:endParaRPr lang="ko-KR" sz="3000" dirty="0"/>
          </a:p>
        </p:txBody>
      </p:sp>
      <p:sp>
        <p:nvSpPr>
          <p:cNvPr id="9" name="S04-chip1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오늘날: 믹서</a:t>
            </a:r>
            <a:endParaRPr lang="ko-KR" sz="2400" dirty="0"/>
          </a:p>
        </p:txBody>
      </p:sp>
      <p:sp>
        <p:nvSpPr>
          <p:cNvPr id="10" name="S04-text2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전기로 칼날이 돌아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버튼만 누르면 갈려요.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다듬이와 등잔</a:t>
            </a:r>
            <a:endParaRPr lang="ko-KR" sz="4000" dirty="0"/>
          </a:p>
        </p:txBody>
      </p:sp>
      <p:sp>
        <p:nvSpPr>
          <p:cNvPr id="3" name="S05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오늘날에는 전기로 다리미를 데우고 전등을 켜요.</a:t>
            </a:r>
            <a:endParaRPr lang="ko-KR" sz="3000" dirty="0"/>
          </a:p>
        </p:txBody>
      </p:sp>
      <p:sp>
        <p:nvSpPr>
          <p:cNvPr id="5" name="S05-card23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4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다듬이 → 다리미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옷감을 돌에 올리고 방망이로 두드려 구김을 폈어요.</a:t>
            </a:r>
            <a:endParaRPr lang="ko-KR" sz="3000" dirty="0"/>
          </a:p>
        </p:txBody>
      </p:sp>
      <p:sp>
        <p:nvSpPr>
          <p:cNvPr id="7" name="S05-card25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26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등잔 → 전등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그릇에 기름을 담고 심지에 불을 붙여 밝혔어요.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짝을 찾아요</a:t>
            </a:r>
            <a:endParaRPr lang="ko-KR" sz="4000" dirty="0"/>
          </a:p>
        </p:txBody>
      </p:sp>
      <p:sp>
        <p:nvSpPr>
          <p:cNvPr id="3" name="S06-text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일이 같은 오늘날 도구를 골라요.</a:t>
            </a:r>
            <a:endParaRPr lang="ko-KR" sz="3000" dirty="0"/>
          </a:p>
        </p:txBody>
      </p:sp>
      <p:sp>
        <p:nvSpPr>
          <p:cNvPr id="4" name="S06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보기: 전등 · 다리미 · 믹서 · 세탁기</a:t>
            </a:r>
            <a:endParaRPr lang="ko-KR" sz="3000" dirty="0"/>
          </a:p>
        </p:txBody>
      </p:sp>
      <p:sp>
        <p:nvSpPr>
          <p:cNvPr id="6" name="S06-chip3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6-text3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맷돌</a:t>
            </a:r>
            <a:endParaRPr lang="ko-KR" sz="3000" dirty="0"/>
          </a:p>
        </p:txBody>
      </p:sp>
      <p:sp>
        <p:nvSpPr>
          <p:cNvPr id="8" name="S06-chip3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6-text3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등잔</a:t>
            </a:r>
            <a:endParaRPr lang="ko-KR" sz="3000" dirty="0"/>
          </a:p>
        </p:txBody>
      </p:sp>
      <p:sp>
        <p:nvSpPr>
          <p:cNvPr id="10" name="S06-chip34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6-text35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다듬이</a:t>
            </a:r>
            <a:endParaRPr lang="ko-KR" sz="3000" dirty="0"/>
          </a:p>
        </p:txBody>
      </p:sp>
      <p:sp>
        <p:nvSpPr>
          <p:cNvPr id="12" name="S06-chip36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6-text37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빨랫방망이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생활이 이렇게 달라졌어요</a:t>
            </a:r>
            <a:endParaRPr lang="ko-KR" sz="4000" dirty="0"/>
          </a:p>
        </p:txBody>
      </p:sp>
      <p:sp>
        <p:nvSpPr>
          <p:cNvPr id="3" name="S07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도구가 바뀌면 일하는 시간과 힘, 생활 모습이 달라져요.</a:t>
            </a:r>
            <a:endParaRPr lang="ko-KR" sz="3000" dirty="0"/>
          </a:p>
        </p:txBody>
      </p:sp>
      <p:graphicFrame>
        <p:nvGraphicFramePr>
          <p:cNvPr id="8" name="S07-table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198116"/>
          <a:ext cx="10515600" cy="914400"/>
        </p:xfrm>
        <a:graphic>
          <a:graphicData uri="http://schemas.openxmlformats.org/drawingml/2006/table">
            <a:tbl>
              <a:tblPr/>
              <a:tblGrid>
                <a:gridCol w="3995928"/>
                <a:gridCol w="6519672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바뀐 도구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달라진 생활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맷돌 → 믹서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빨리, 힘을 덜 들이고 갈아요.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등잔 → 전등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밤에도 환하고 안전하게 지내요.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빨랫방망이 → 세탁기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빨래하는 시간에 다른 일을 해요.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도구는 쓸모없을까요?</a:t>
            </a:r>
            <a:endParaRPr lang="ko-KR" sz="4000" dirty="0"/>
          </a:p>
        </p:txBody>
      </p:sp>
      <p:sp>
        <p:nvSpPr>
          <p:cNvPr id="3" name="S08-card4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도구를 보고 두 친구가 말했어요.</a:t>
            </a:r>
            <a:endParaRPr lang="ko-KR" sz="3000" dirty="0"/>
          </a:p>
        </p:txBody>
      </p:sp>
      <p:sp>
        <p:nvSpPr>
          <p:cNvPr id="5" name="S08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생각에 고개가 끄덕여지나요? 까닭도 말해요.</a:t>
            </a:r>
            <a:endParaRPr lang="ko-KR" sz="3000" dirty="0"/>
          </a:p>
        </p:txBody>
      </p:sp>
      <p:sp>
        <p:nvSpPr>
          <p:cNvPr id="7" name="S08-chip4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8-text4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도구는 불편하니까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쓸모없어요.</a:t>
            </a:r>
            <a:endParaRPr lang="ko-KR" sz="3000" dirty="0"/>
          </a:p>
        </p:txBody>
      </p:sp>
      <p:sp>
        <p:nvSpPr>
          <p:cNvPr id="9" name="S08-chip4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8-text4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도구에도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지혜가 담겨 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생활은 어떻게 달라졌을까?</a:t>
            </a:r>
            <a:endParaRPr lang="ko-KR" sz="4000" dirty="0"/>
          </a:p>
        </p:txBody>
      </p:sp>
      <p:sp>
        <p:nvSpPr>
          <p:cNvPr id="3" name="S09-text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‘~해서 ~하게 되었어요.’로 말해요.</a:t>
            </a:r>
            <a:endParaRPr lang="ko-KR" sz="3000" dirty="0"/>
          </a:p>
        </p:txBody>
      </p:sp>
      <p:sp>
        <p:nvSpPr>
          <p:cNvPr id="4" name="S09-chip50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9-text51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가마솥 밥 짓기 → 전기밥솥</a:t>
            </a:r>
            <a:endParaRPr lang="ko-KR" sz="3000" dirty="0"/>
          </a:p>
        </p:txBody>
      </p:sp>
      <p:sp>
        <p:nvSpPr>
          <p:cNvPr id="6" name="S09-chip5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9-text53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부채 → 선풍기</a:t>
            </a:r>
            <a:endParaRPr lang="ko-KR" sz="3000" dirty="0"/>
          </a:p>
        </p:txBody>
      </p:sp>
      <p:sp>
        <p:nvSpPr>
          <p:cNvPr id="8" name="S09-chip5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9-text55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편지 → 휴대 전화 문자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56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옛날에는 우물에서 두레박으로 물을 길어 집까지 날랐어요. 오늘날에는 수도꼭지를 틀어요.</a:t>
            </a:r>
            <a:endParaRPr lang="ko-KR" sz="3000" dirty="0"/>
          </a:p>
        </p:txBody>
      </p:sp>
      <p:sp>
        <p:nvSpPr>
          <p:cNvPr id="4" name="S10-chip57"/>
          <p:cNvSpPr txBox="1"/>
          <p:nvPr/>
        </p:nvSpPr>
        <p:spPr>
          <a:xfrm>
            <a:off x="548640" y="27238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text58"/>
          <p:cNvSpPr txBox="1"/>
          <p:nvPr/>
        </p:nvSpPr>
        <p:spPr>
          <a:xfrm>
            <a:off x="1344168" y="2438400"/>
            <a:ext cx="10296144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도구가 하는 일은?</a:t>
            </a:r>
            <a:endParaRPr lang="ko-KR" sz="3000" dirty="0"/>
          </a:p>
        </p:txBody>
      </p:sp>
      <p:sp>
        <p:nvSpPr>
          <p:cNvPr id="6" name="S10-chip59"/>
          <p:cNvSpPr txBox="1"/>
          <p:nvPr/>
        </p:nvSpPr>
        <p:spPr>
          <a:xfrm>
            <a:off x="548640" y="4044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text60"/>
          <p:cNvSpPr txBox="1"/>
          <p:nvPr/>
        </p:nvSpPr>
        <p:spPr>
          <a:xfrm>
            <a:off x="1344168" y="3759200"/>
            <a:ext cx="10296144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달라졌나요?</a:t>
            </a:r>
            <a:endParaRPr lang="ko-KR" sz="3000" dirty="0"/>
          </a:p>
        </p:txBody>
      </p:sp>
      <p:sp>
        <p:nvSpPr>
          <p:cNvPr id="8" name="S10-chip61"/>
          <p:cNvSpPr txBox="1"/>
          <p:nvPr/>
        </p:nvSpPr>
        <p:spPr>
          <a:xfrm>
            <a:off x="548640" y="53654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text62"/>
          <p:cNvSpPr txBox="1"/>
          <p:nvPr/>
        </p:nvSpPr>
        <p:spPr>
          <a:xfrm>
            <a:off x="1344168" y="5080000"/>
            <a:ext cx="10296144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생활은 어떻게 달라졌나요?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엄마(아빠)께 여쭈어 봐요</a:t>
            </a:r>
            <a:endParaRPr lang="ko-KR" sz="4000" dirty="0"/>
          </a:p>
        </p:txBody>
      </p:sp>
      <p:sp>
        <p:nvSpPr>
          <p:cNvPr id="3" name="S12-card63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64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물건과 하는 일을 알아냈어요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오늘날 도구와 짝지었어요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달라진 생활을 말했어요</a:t>
            </a:r>
            <a:endParaRPr lang="ko-KR" sz="3000" dirty="0"/>
          </a:p>
        </p:txBody>
      </p:sp>
      <p:sp>
        <p:nvSpPr>
          <p:cNvPr id="5" name="S12-stepno65"/>
          <p:cNvSpPr txBox="1"/>
          <p:nvPr/>
        </p:nvSpPr>
        <p:spPr>
          <a:xfrm>
            <a:off x="548640" y="17114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12-text66"/>
          <p:cNvSpPr txBox="1"/>
          <p:nvPr/>
        </p:nvSpPr>
        <p:spPr>
          <a:xfrm>
            <a:off x="1325880" y="166573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어렸을 때 쓰던 물건을 여쭈어요.</a:t>
            </a:r>
            <a:endParaRPr lang="ko-KR" sz="3000" dirty="0"/>
          </a:p>
        </p:txBody>
      </p:sp>
      <p:sp>
        <p:nvSpPr>
          <p:cNvPr id="7" name="S12-stepno67"/>
          <p:cNvSpPr txBox="1"/>
          <p:nvPr/>
        </p:nvSpPr>
        <p:spPr>
          <a:xfrm>
            <a:off x="548640" y="28056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12-text68"/>
          <p:cNvSpPr txBox="1"/>
          <p:nvPr/>
        </p:nvSpPr>
        <p:spPr>
          <a:xfrm>
            <a:off x="1325880" y="2759964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물건이 하는 일을 알아봐요.</a:t>
            </a:r>
            <a:endParaRPr lang="ko-KR" sz="3000" dirty="0"/>
          </a:p>
        </p:txBody>
      </p:sp>
      <p:sp>
        <p:nvSpPr>
          <p:cNvPr id="9" name="S12-stepno69"/>
          <p:cNvSpPr txBox="1"/>
          <p:nvPr/>
        </p:nvSpPr>
        <p:spPr>
          <a:xfrm>
            <a:off x="548640" y="38999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12-text70"/>
          <p:cNvSpPr txBox="1"/>
          <p:nvPr/>
        </p:nvSpPr>
        <p:spPr>
          <a:xfrm>
            <a:off x="1325880" y="3854196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오늘날에는 무엇을 쓰는지 찾아요.</a:t>
            </a:r>
            <a:endParaRPr lang="ko-KR" sz="3000" dirty="0"/>
          </a:p>
        </p:txBody>
      </p:sp>
      <p:sp>
        <p:nvSpPr>
          <p:cNvPr id="11" name="S12-stepno71"/>
          <p:cNvSpPr txBox="1"/>
          <p:nvPr/>
        </p:nvSpPr>
        <p:spPr>
          <a:xfrm>
            <a:off x="548640" y="4994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12-text72"/>
          <p:cNvSpPr txBox="1"/>
          <p:nvPr/>
        </p:nvSpPr>
        <p:spPr>
          <a:xfrm>
            <a:off x="1325880" y="494842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생활이 어떻게 달라졌는지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73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74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도구와 오늘날 도구는 하는 일이 같아요.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도구가 바뀌면서 생활 모습도 달라졌어요.</a:t>
            </a:r>
            <a:endParaRPr lang="ko-KR" sz="3000" dirty="0"/>
          </a:p>
        </p:txBody>
      </p:sp>
      <p:sp>
        <p:nvSpPr>
          <p:cNvPr id="5" name="S13-chip75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하는 일로 짝짓기</a:t>
            </a:r>
            <a:endParaRPr lang="ko-KR" sz="2400" dirty="0"/>
          </a:p>
        </p:txBody>
      </p:sp>
      <p:sp>
        <p:nvSpPr>
          <p:cNvPr id="6" name="S13-chip76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옛날 도구 깎아내리기</a:t>
            </a:r>
            <a:endParaRPr lang="ko-KR" sz="2400" dirty="0"/>
          </a:p>
        </p:txBody>
      </p:sp>
      <p:sp>
        <p:nvSpPr>
          <p:cNvPr id="7" name="S13-text77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78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맷돌과 짝이 되는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오늘날 도구는?</a:t>
            </a:r>
            <a:endParaRPr lang="ko-KR" sz="2400" dirty="0"/>
          </a:p>
        </p:txBody>
      </p:sp>
      <p:sp>
        <p:nvSpPr>
          <p:cNvPr id="9" name="S13-text79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등잔이 전등이 되어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달라진 생활은?</a:t>
            </a:r>
            <a:endParaRPr lang="ko-KR" sz="2400" dirty="0"/>
          </a:p>
        </p:txBody>
      </p:sp>
      <p:sp>
        <p:nvSpPr>
          <p:cNvPr id="10" name="S13-text80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다듬이는 무슨 일을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도구?</a:t>
            </a:r>
            <a:endParaRPr lang="ko-KR" sz="2400" dirty="0"/>
          </a:p>
        </p:txBody>
      </p:sp>
      <p:sp>
        <p:nvSpPr>
          <p:cNvPr id="11" name="S13-text8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다양한 가족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아기 때와 지금</a:t>
            </a:r>
            <a:endParaRPr lang="ko-KR" sz="4000" dirty="0"/>
          </a:p>
        </p:txBody>
      </p:sp>
      <p:sp>
        <p:nvSpPr>
          <p:cNvPr id="3" name="S14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일은 같아도 쓰는 물건이 바뀌었어요.</a:t>
            </a:r>
            <a:endParaRPr lang="ko-KR" sz="3000" dirty="0"/>
          </a:p>
        </p:txBody>
      </p:sp>
      <p:graphicFrame>
        <p:nvGraphicFramePr>
          <p:cNvPr id="14" name="S14-table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120900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365760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하는 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아기 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지금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마시기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젖병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컵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다니기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유모차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걷기, 자전거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놀기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딸랑이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블록, 공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사회·역사 생활 도구의 변화</dc:title>
  <dc:subject>KR22-G03-SOC-TOOLS-L01</dc:subject>
  <dc:creator>education-ppt</dc:creator>
  <cp:lastModifiedBy>education-ppt</cp:lastModifiedBy>
  <cp:revision>1</cp:revision>
  <dcterms:created xsi:type="dcterms:W3CDTF">2026-10-26T09:46:14Z</dcterms:created>
  <dcterms:modified xsi:type="dcterms:W3CDTF">2026-10-26T09:46:14Z</dcterms:modified>
</cp:coreProperties>
</file>