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87cfe062-feaf-571c-76bc-0f72b5f3eebd}">
          <p14:sldIdLst>
            <p14:sldId id="256"/>
            <p14:sldId id="257"/>
          </p14:sldIdLst>
        </p14:section>
        <p14:section name="개념" id="{992860fd-ed10-6a6b-9c65-17acb4792c3c}">
          <p14:sldIdLst>
            <p14:sldId id="258"/>
            <p14:sldId id="259"/>
            <p14:sldId id="260"/>
            <p14:sldId id="262"/>
          </p14:sldIdLst>
        </p14:section>
        <p14:section name="연습" id="{de70d7c0-8086-f606-ab90-b482682f28b5}">
          <p14:sldIdLst>
            <p14:sldId id="261"/>
            <p14:sldId id="263"/>
            <p14:sldId id="264"/>
          </p14:sldIdLst>
        </p14:section>
        <p14:section name="개념" id="{3c0b197d-0712-b6bd-fc57-d8bbe04a5dd6}">
          <p14:sldIdLst/>
        </p14:section>
        <p14:section name="연습" id="{fcc87bf0-aa7a-23e8-155c-e21191bdbe87}">
          <p14:sldIdLst/>
        </p14:section>
        <p14:section name="확인" id="{3e4627b0-9b8e-a0cb-7415-96a3e1975aa8}">
          <p14:sldIdLst>
            <p14:sldId id="265"/>
            <p14:sldId id="266"/>
            <p14:sldId id="267"/>
          </p14:sldIdLst>
        </p14:section>
        <p14:section name="정리" id="{5163f331-57d6-5de2-d1ff-54d4c0460647}">
          <p14:sldIdLst>
            <p14:sldId id="268"/>
          </p14:sldIdLst>
        </p14:section>
        <p14:section name="보충" id="{64f8ac55-fba3-37a8-d0a2-d5a3bd5201a0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[S01 · 오늘의 질문과 목표]
목적: 오늘 배울 것을 알리고, 생활 도구가 무엇인지 떠올리게 합니다.
시간: 약 2분
이렇게 말해 보세요
- “밥을 짓고, 빨래를 하고, 불을 켤 때 우리는 여러 도구를 써. 이렇게 생활에서 쓰는 도구를 ‘생활 도구’라고 해.”
- “전기가 없던 옛날에는 어떤 도구로 생활했을까? 오늘은 옛날 도구와 오늘날 도구를 견주어 보고, 생활이 어떻게 달라졌는지 알아볼 거야.”
예상 답
- “손으로 했을 것 같아요.” “불을 피웠어요.”
막히면
- 부엌에 있는 도구 하나(밥솥, 냄비 등)를 가리키며 “이게 없으면 어떻게 밥을 할까?”라고 묻습니다.
주의
- 오늘 옛날 도구는 그림 없이 말과 표로 설명합니다. 집에 옛날 도구가 있거나 박물관·민속 마을에 가 본 적이 있으면 그 경험을 떠올리게 해도 좋습니다(선택).
- 옛날 도구를 ‘불편하고 뒤떨어진 것’으로만 말하지 않도록 합니다. 옛날 사람들은 그때 구할 수 있는 재료로 지혜롭게 도구를 만들어 썼습니다.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[S02 · 선수 학습 확인(도구의 쓰임, 옛날과 오늘)]
목적: 생활 도구가 하는 일을 말할 수 있는지, ‘옛날’과 ‘오늘날’을 구별하는지 확인합니다. 2학년에서 옛날과 오늘의 생활을 견주어 본 경험을 떠올리는 단계입니다.
시간: 약 3분
이렇게 말해 보세요
- “①, 우리 집에서 밥을 지을 때 무엇을 써? ②, 빨래는?”
- “③, 할머니(할아버지)가 너만 할 때도 휴대 전화가 있었을까?”
정답
- ① 전기밥솥(밥솥, 냄비도 맞음) ② 세탁기
- ③ 없었어요. 할머니·할아버지가 어렸을 때는 휴대 전화가 없었습니다.
막히면
- 부엌이나 욕실에 가서 도구를 직접 보며 “이건 무슨 일을 할 때 써?”라고 묻습니다.
- 도구가 하는 일을 거의 말하지 못하거나 옛날과 오늘날을 구별하지 못하면 S14(보충)를 먼저 합니다. 이 차시는 계획상 앞 차시가 없습니다(2학년 ‘옛날과 오늘’과 가까운 내용입니다).
주의
- ③은 정확한 연도를 묻는 것이 아닙니다. ‘옛날에는 지금 쓰는 물건이 없었을 수도 있다’는 생각을 열어 주는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[S03 · 하는 일이 같은 옛날 도구와 오늘날 도구]
목적: 옛날 도구와 오늘날 도구를 ‘하는 일’로 짝짓는다는 것을 알려 줍니다(목표 A, 오해 M2).
시간: 약 3분
이렇게 말해 보세요
- “표를 같이 읽어 보자. 첫째 줄, 곡식을 가는 일을 옛날에는 맷돌로, 오늘날에는 믹서로 해.”
- “모양은 전혀 다르지만 하는 일이 같지? 그래서 짝이 되는 거야.”
- “다듬이는 처음 들어 봤지? 옷의 구김을 펴는 도구야. 오늘날에는 무엇으로 구김을 펴?”
예상 답
- “다리미요.”
막히면
- 집에 있는 믹서, 다리미, 전등을 직접 가리키며 “이건 무슨 일을 하지?”라고 하는 일부터 말하게 합니다.
주의
- 맷돌은 곡식이나 콩을 가루나 즙으로 가는 돌 도구, 다듬이는 옷감을 다듬잇돌에 올려 방망이로 두드려 구김을 펴는 도구, 등잔은 기름을 담아 심지에 불을 붙이는 불 밝히는 도구입니다.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[S04 · 맷돌과 믹서 견주기(같은 점·다른 점)]
목적: 맷돌과 믹서를 견주어 같은 점(하는 일)과 다른 점(쓰는 방법, 힘, 시간)을 찾는 방법을 보여 줍니다(목표 A).
시간: 약 3분
이렇게 말해 보세요
- “맷돌은 둥글고 납작한 돌 두 개를 겹쳐 놓은 도구야. 위 돌의 구멍에 콩을 넣고 손잡이를 빙빙 돌리면 두 돌 사이에서 콩이 갈려 나와.”
- “믹서는 전기로 칼날이 빠르게 돌아. 버튼만 누르면 되지.”
- “엄마(아빠)가 견주어 볼게. 같은 점은 둘 다 곡식을 간다는 거야. 다른 점은 맷돌은 사람이 힘을 들여 돌리고, 믹서는 전기로 돌아간다는 거야. 또 다른 점을 찾아볼래?”
예상 답
- “믹서가 더 빨라요.” “맷돌은 무거워요.” “맷돌은 전기가 없어도 돼요.”
막히면
- 두 손바닥을 겹쳐 비비며 맷돌이 가는 모습을 흉내 내 보여 줍니다.
주의
- ‘같은 점은 하는 일, 다른 점은 쓰는 방법’이라는 틀을 S05·S06·S10에서도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[S05 · 다듬이와 등잔이 하던 일]
목적: 다듬이와 등잔을 어떻게 썼는지 말로 설명하고, 오늘날 도구와 같은 점·다른 점을 찾게 합니다(목표 A).
시간: 약 3분
이렇게 말해 보세요
- “다듬이는 다듬잇돌이라는 반반한 돌에 옷감을 올려놓고, 나무 방망이로 톡톡 두드려 구김을 펴는 도구야. 두드리면 옷감이 반듯하고 부드러워져.”
- “등잔은 작은 그릇에 기름을 담고, 실로 만든 심지를 꽂아 불을 붙여 방을 밝혔어.”
- “다리미와 다듬이, 전등과 등잔은 무엇이 같고 무엇이 달라?”
예상 답
- “둘 다 구김을 펴요. 다리미는 전기로 뜨거워져요.” “등잔은 불을 붙이고 전등은 스위치를 눌러요.”
막히면
- 손으로 책상을 톡톡 두드리며 다듬이질을 흉내 내 보여 줍니다. 등잔은 생일 초에 불을 붙이는 모습을 떠올리게 합니다.
주의
- 옛날에도 숯불을 담아 쓰는 다리미와 인두가 있었습니다. 다듬이는 두드려서 펴는 도구라는 점이 다릅니다.
- 불을 직접 붙여 보지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[S06 · 옛날 도구와 오늘날 도구 짝짓기]
목적: 옛날 도구에 맞는 오늘날 도구를 하는 일로 짝짓고, 하는 일을 말합니다(목표 A).
시간: 약 3분
이렇게 말해 보세요
- “①부터, 맷돌과 하는 일이 같은 오늘날 도구는? 무슨 일을 하는 도구야?”
- “④ 빨랫방망이는 처음 보지? 옛날에는 냇가나 우물가에서 빨래를 방망이로 두드려 때를 뺐어. 오늘날에는 무엇으로 빨래를 해?”
정답
- ① 믹서(곡식을 갈아요) ② 전등(어두운 곳을 밝혀요) ③ 다리미(구김을 펴요) ④ 세탁기(빨래를 해요)
막히면
- 보기의 도구를 하나씩 읽고 “이건 무슨 일을 하지? 옛날 도구 가운데 같은 일을 하는 건?”이라고 거꾸로 묻습니다.
주의
- 짝만 맞히고 하는 일을 말하지 못하면 S03의 표를 다시 보며 하는 일을 말하게 합니다(오해 M2).
- 여기까지가 도구를 짝짓는 부분입니다. 아이가 지치면 여기서 나누어 다음 날 S07부터 해도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[S07 · 도구가 바뀌어 달라진 생활]
목적: 도구가 바뀌면서 일하는 시간과 힘, 밤 생활, 안전 같은 생활 모습이 달라졌다는 것을 표로 보여 줍니다(목표 B, 오해 M3).
시간: 약 3분
이렇게 말해 보세요
- “도구가 바뀌어서 사람들의 생활은 어떻게 달라졌을까? 첫째 줄을 읽어 볼까?”
- “등잔불은 어두웠고, 불이 넘어지면 불이 날 수도 있었어. 전등으로 바뀌면서 밤에도 환하고 더 안전하게 생활하게 되었지.”
- “세탁기가 빨래를 하는 동안 사람은 무엇을 할 수 있을까?”
예상 답
- “다른 일을 해요.” “쉬어요.” “책을 읽어요.”
막히면
- “빨래를 손으로 하면 몇 시간 걸릴까? 세탁기는 버튼만 누르면 되지?”처럼 시간과 힘을 견주게 합니다.
주의
- 도구의 모양(돌 → 쇠·플라스틱)보다 ‘사람들의 생활이 어떻게 달라졌는가’에 초점을 둡니다. ‘~해서 ~하게 되었어요’로 말하는 연습을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[S08 · 오해 비교(옛날 도구는 쓸모없을까?)]
목적: 옛날 도구를 무조건 쓸모없다고 보지 않고, 그 시대의 지혜와 오늘날의 편리함을 함께 생각하게 합니다(목표 B, 오해 M1). 누구 편을 드는지가 아니라 까닭을 말하는지를 봅니다.
시간: 약 3분
이렇게 말해 보세요
- “가와 나는 생각이 달라. 가의 말에도 맞는 부분이 있을까? 나는 왜 지혜가 담겨 있다고 했을까?”
- “맷돌은 전기가 없어도 쓸 수 있지? 옛날 사람들은 돌과 나무처럼 주변에서 구할 수 있는 것으로 도구를 만들었어.”
예상 답
- “오늘날 도구가 더 편한 건 맞아요.” “전기가 없을 때도 쓸 수 있어서 좋아요.” “돌로 그런 걸 만든 게 대단해요.”
정답
- 기준: ‘옛날 도구는 불편했지만, 전기 없이 주변 재료로 만들어 쓴 지혜가 있다’처럼 두 쪽을 함께 생각하고 까닭을 말하면 잘함. 한쪽만 말해도 까닭이 있으면 받아 주고 다른 쪽을 물어봅니다.
막히면
- “전기가 끊기면 믹서를 쓸 수 있을까? 맷돌은?”이라고 묻습니다.
주의
- 옛날 사람들을 ‘몰라서 불편하게 산 사람들’로 말하지 않게 합니다. 오늘날에도 맷돌이나 다듬잇돌을 쓰거나 아끼는 사람들이 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[S09 · 도구가 바뀌어 달라진 생활 말하기]
목적: 처음 보는 도구 쌍에서 생활이 어떻게 달라졌는지 ‘~해서 ~하게 되었어요’로 말합니다(목표 B).
시간: 약 3분
이렇게 말해 보세요
- “①, 옛날에는 아궁이에 불을 때서 가마솥에 밥을 지었어. 불이 꺼지지 않게 옆에서 지켜야 했지. 전기밥솥으로 바뀌어서 무엇이 달라졌을까?”
- “②, ③도 ‘~해서 ~하게 되었어요’로 말해 볼래?”
정답
- ① 불을 지키지 않아도 되어서 그 시간에 다른 일을 하게 되었어요(연기가 나지 않아요).
- ② 팔이 아프게 부채질하지 않아도 오래 시원하게 지내게 되었어요.
- ③ 며칠 걸리던 소식을 바로 전하게 되었어요.
- 기준: 시간·힘·편리함·안전 가운데 하나를 까닭과 함께 말하면 맞습니다.
막히면
- “옛날에는 무엇이 힘들었을까?”를 먼저 묻고, “그럼 새 도구로는?”이라고 이어서 묻습니다.
주의
- ③의 편지는 오늘날에도 마음을 전할 때 씁니다. ‘편지가 사라졌다’가 아니라 ‘빨리 전하는 방법이 생겼다’로 말하게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[S10 · 혼자 하기(처음 보는 도구: 두레박과 수도꼭지)]
목적: 처음 보는 도구 쌍에서 하는 일로 짝짓고, 다른 점과 달라진 생활을 말하는지 확인합니다(목표 A·B).
시간: 약 4분
이렇게 말해 보세요
- “우물은 땅을 깊이 파서 물이 고이게 한 곳이야. 두레박은 줄에 매단 바가지나 통이야. 이걸 우물에 내려 물을 길어 올렸어.”
- “이번에는 혼자 ①, ②, ③을 말해 볼래? 활동지 3에 써도 돼.”
정답
- ① 물을 얻어요(물을 길어요).
- ② 두레박은 사람이 우물에서 길어 날라야 하고, 수도꼭지는 집에서 틀기만 하면 물이 나와요.
- ③ 물을 길어 나르는 힘과 시간이 줄어서 집에서 쉽게 물을 쓰게 되었어요(씻기·빨래·요리가 편해졌어요).
막히면
- 바로 알려 주지 말고 “두 도구는 무엇을 얻으려고 써?”, “옛날에는 무엇이 힘들었을까?”라고만 묻습니다.
- 도움을 받아 해결했다면 기록표에 ‘도움’으로 표시합니다.
주의
- ①을 맞히고 ②③ 가운데 하나 이상을 까닭과 함께 말하면 목표 A·B를 이룬 것으로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[S11 · 정답과 피드백]
목적: S10의 답을 확인하고 흔한 실수와 비교합니다.
시간: 약 2분
이렇게 말해 보세요
- “네 답과 왼쪽을 비교해 보자. 오른쪽처럼 말하면 무엇이 아쉬울까?”
예상 답
- “모양만 말하면 생활이 어떻게 바뀌었는지 몰라요.”
정답
- ① 물을 얻는다 ② 길어 나르기 → 틀기만 하면 됨 ③ 힘과 시간이 줄어 집에서 쉽게 물을 쓰게 됨
막히면
- S07의 표를 다시 보며 ‘달라진 생활’ 칸처럼 말하게 합니다.
주의
- 이 장은 학생용 파일에서 빠집니다.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[S12 · 엄마(아빠)께 여쭈어 보기(가까운 옛날의 생활 도구)]
목적: 부모님이 어렸을 때 쓰던 물건을 여쭈어, 하는 일과 오늘날 도구, 달라진 생활을 아이가 정리해 말합니다. 자료(어른의 이야기)를 근거로 생활의 변화를 설명하는 활동입니다(목표 B). 할머니·할아버지께 여쭈는 것은 활동지 4로 이어서 합니다.
시간: 약 6분
이렇게 말해 보세요
- “엄마(아빠)가 어렸을 때 쓰던 물건을 하나 알려 줄게. 궁금한 것을 물어봐 줄래?” (예: 카세트테이프, 공중전화, 종이 지도, 필름 카메라 가운데 실제로 쓴 것)
- “그 물건은 무슨 일을 하는 거였을까? 오늘날에는 무엇으로 그 일을 해?”
- “그래서 생활이 어떻게 달라졌을까? ‘~해서 ~하게 되었어요’로 정리해 줘.”
예상 답
- 예: “엄마는 공중전화로 전화했어요. 지금은 휴대 전화로 어디서든 전화해요. 그래서 밖에서도 바로 연락하게 되었어요.”
정답
- 기준: ① 물건과 하는 일을 알아냄 ② 오늘날 도구와 짝지음 ③ 달라진 생활을 까닭과 함께 말함. 세 가지를 모두 하면 목표 B를 이룬 것으로 봅니다. 부모님의 경험에 따라 답이 다릅니다.
막히면
- 아이가 질문을 떠올리지 못하면 “무엇에 쓰는 거예요? 어떻게 썼어요? 지금은 무엇을 써요?” 세 질문을 알려 줍니다.
주의
- 부모님이 어렸을 때의 일도 ‘옛날’입니다. 옛날은 아주 먼 때만이 아니라는 것을 알려 줍니다. 정확한 연도는 말하지 않아도 됩니다.
- 할머니·할아버지께 여쭐 때는 전화나 영상 통화도 괜찮습니다. 가까이에 여쭐 어른이 없으면 이웃 어른이나 부모님의 기억으로 대신합니다.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[S13 · 다음 학습과 복습]
목적: 핵심을 정리하고 다음 수업 첫 5분에 풀 복습 질문을 알려 줍니다.
시간: 약 2분
이렇게 말해 보세요
- “옛날 도구와 오늘날 도구를 짝지을 때 무엇을 보면 되지?”
예상 답
- “하는 일이요.”
정답
- ① 믹서 ② 밤에도 환하고 안전하게 지내게 되었어요. ③ 옷의 구김을 펴는 일
막히면
- S03과 S07을 다시 보여 줍니다.
주의
- 활동지 4(할머니·할아버지께 여쭈어 보기)는 다음 수업 전까지 해 두면 좋습니다.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[S14 · 보충(내 생활 속의 옛날과 오늘)]
목적: S02에서 도구가 하는 일이나 옛날·오늘날을 구별하기 어려워하면, 아이 자신의 아기 때와 지금을 견주며 ‘하는 일은 같고 쓰는 물건이 바뀐다’는 것을 먼저 익힙니다.
시간: 약 4분
이렇게 말해 보세요
- “네가 아기였을 때는 무엇으로 우유를 먹었을까? 지금은 무엇으로 마셔?”
- “둘 다 마시는 일을 하지? 하는 일은 같은데 쓰는 물건이 바뀌었어.”
정답
- 예: 마시기 – 젖병 → 컵, 다니기 – 유모차 → 걷기·자전거, 놀기 – 딸랑이 → 블록·공 (하는 일이 같고 물건이 바뀌었다고 말하면 맞음)
막히면
- 아기 때 사진이 있으면 함께 보며 그때 쓰던 물건을 찾아봅니다(선택).
주의
- 이 차시는 계획상 앞 차시가 없습니다. 보충 뒤에도 어려우면 집 안의 도구 다섯 가지를 골라 ‘무슨 일을 하는 도구인지’ 말하는 놀이를 며칠 해 본 뒤 S02부터 다시 시작합니다.
- 보충이 오래 걸리면 오늘은 여기까지 하고 다음 날 S02부터 다시 시작합니다.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과거와현재 · 1차시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생활 도구의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초3 사회·역사 · 생활 도구의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초3 사회·역사 · 생활 도구의 변화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도구의 변화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사람들은 어떤</a:t>
            </a:r>
            <a:endParaRPr lang="ko-KR" sz="3000" dirty="0"/>
          </a:p>
          <a:p>
            <a:pPr eaLnBrk="0" indent="0" marL="0">
              <a:buNone/>
            </a:pPr>
            <a:r>
              <a:rPr lang="ko-KR" altLang="en-US" sz="30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도구로 생활했을까?</a:t>
            </a:r>
            <a:endParaRPr lang="ko-KR" sz="3000" dirty="0"/>
          </a:p>
        </p:txBody>
      </p:sp>
      <p:sp>
        <p:nvSpPr>
          <p:cNvPr id="4" name="S01-card1"/>
          <p:cNvSpPr/>
          <p:nvPr/>
        </p:nvSpPr>
        <p:spPr>
          <a:xfrm>
            <a:off x="731520" y="4436364"/>
            <a:ext cx="10725912" cy="1690116"/>
          </a:xfrm>
          <a:prstGeom prst="roundRect">
            <a:avLst>
              <a:gd name="adj" fmla="val 6492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5" name="S01-cardtext2"/>
          <p:cNvSpPr txBox="1"/>
          <p:nvPr/>
        </p:nvSpPr>
        <p:spPr>
          <a:xfrm>
            <a:off x="1005840" y="4573524"/>
            <a:ext cx="10177272" cy="14157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옛날과 오늘날 도구를 하는 일로 짝지어요.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도구가 바뀌어 생활이 어떻게 달라졌는지 말해요.</a:t>
            </a:r>
            <a:endParaRPr lang="ko-KR" sz="3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 도구 떠올리기</a:t>
            </a:r>
            <a:endParaRPr lang="ko-KR" sz="4000" dirty="0"/>
          </a:p>
        </p:txBody>
      </p:sp>
      <p:sp>
        <p:nvSpPr>
          <p:cNvPr id="3" name="S02-text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도구는 일을 쉽게 하려고 쓰는 물건이에요.</a:t>
            </a:r>
            <a:endParaRPr lang="ko-KR" sz="3000" dirty="0"/>
          </a:p>
        </p:txBody>
      </p:sp>
      <p:sp>
        <p:nvSpPr>
          <p:cNvPr id="4" name="S02-chip4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2-text5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밥을 지을 때 쓰는 도구는?</a:t>
            </a:r>
            <a:endParaRPr lang="ko-KR" sz="3000" dirty="0"/>
          </a:p>
        </p:txBody>
      </p:sp>
      <p:sp>
        <p:nvSpPr>
          <p:cNvPr id="6" name="S02-chip6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2-text7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빨래를 할 때 쓰는 도구는?</a:t>
            </a:r>
            <a:endParaRPr lang="ko-KR" sz="3000" dirty="0"/>
          </a:p>
        </p:txBody>
      </p:sp>
      <p:sp>
        <p:nvSpPr>
          <p:cNvPr id="8" name="S02-chip8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2-text9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할머니가 어릴 때도 휴대 전화가 있었을까요?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 같은 도구</a:t>
            </a:r>
            <a:endParaRPr lang="ko-KR" sz="4000" dirty="0"/>
          </a:p>
        </p:txBody>
      </p:sp>
      <p:sp>
        <p:nvSpPr>
          <p:cNvPr id="3" name="S03-card1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3-cardtext1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모양이 달라도 하는 일이 같은 도구끼리 짝지어요.</a:t>
            </a:r>
            <a:endParaRPr lang="ko-KR" sz="3000" dirty="0"/>
          </a:p>
        </p:txBody>
      </p:sp>
      <p:graphicFrame>
        <p:nvGraphicFramePr>
          <p:cNvPr id="4" name="S03-table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120900"/>
          <a:ext cx="10058400" cy="914400"/>
        </p:xfrm>
        <a:graphic>
          <a:graphicData uri="http://schemas.openxmlformats.org/drawingml/2006/table">
            <a:tbl>
              <a:tblPr/>
              <a:tblGrid>
                <a:gridCol w="4425696"/>
                <a:gridCol w="2816352"/>
                <a:gridCol w="2816352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옛날 도구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오늘날 도구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곡식을 갈아요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맷돌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믹서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옷의 구김을 펴요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다듬이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다리미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어두운 곳을 밝혀요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등잔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전등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맷돌과 믹서</a:t>
            </a:r>
            <a:endParaRPr lang="ko-KR" sz="4000" dirty="0"/>
          </a:p>
        </p:txBody>
      </p:sp>
      <p:sp>
        <p:nvSpPr>
          <p:cNvPr id="3" name="S04-card13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4-cardtext14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콩을 갈 때 쓰는 두 도구예요.</a:t>
            </a:r>
            <a:endParaRPr lang="ko-KR" sz="3000" dirty="0"/>
          </a:p>
        </p:txBody>
      </p:sp>
      <p:sp>
        <p:nvSpPr>
          <p:cNvPr id="5" name="S04-card1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4-cardtext1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점은 무엇일까요?</a:t>
            </a:r>
            <a:endParaRPr lang="ko-KR" sz="3000" dirty="0"/>
          </a:p>
        </p:txBody>
      </p:sp>
      <p:sp>
        <p:nvSpPr>
          <p:cNvPr id="7" name="S04-chip17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옛날: 맷돌</a:t>
            </a:r>
            <a:endParaRPr lang="ko-KR" sz="2400" dirty="0"/>
          </a:p>
        </p:txBody>
      </p:sp>
      <p:sp>
        <p:nvSpPr>
          <p:cNvPr id="8" name="S04-text18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둥근 돌 두 개를 겹쳐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손잡이를 돌려 갈아요.</a:t>
            </a:r>
            <a:endParaRPr lang="ko-KR" sz="3000" dirty="0"/>
          </a:p>
        </p:txBody>
      </p:sp>
      <p:sp>
        <p:nvSpPr>
          <p:cNvPr id="9" name="S04-chip19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오늘날: 믹서</a:t>
            </a:r>
            <a:endParaRPr lang="ko-KR" sz="2400" dirty="0"/>
          </a:p>
        </p:txBody>
      </p:sp>
      <p:sp>
        <p:nvSpPr>
          <p:cNvPr id="10" name="S04-text20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전기로 칼날이 돌아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버튼만 누르면 갈려요.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다듬이와 등잔</a:t>
            </a:r>
            <a:endParaRPr lang="ko-KR" sz="4000" dirty="0"/>
          </a:p>
        </p:txBody>
      </p:sp>
      <p:sp>
        <p:nvSpPr>
          <p:cNvPr id="3" name="S05-card2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5-cardtext2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오늘날에는 전기로 다리미를 데우고 전등을 켜요.</a:t>
            </a:r>
            <a:endParaRPr lang="ko-KR" sz="3000" dirty="0"/>
          </a:p>
        </p:txBody>
      </p:sp>
      <p:sp>
        <p:nvSpPr>
          <p:cNvPr id="5" name="S05-card23"/>
          <p:cNvSpPr/>
          <p:nvPr/>
        </p:nvSpPr>
        <p:spPr>
          <a:xfrm>
            <a:off x="548640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6" name="S05-cardtext24"/>
          <p:cNvSpPr txBox="1"/>
          <p:nvPr/>
        </p:nvSpPr>
        <p:spPr>
          <a:xfrm>
            <a:off x="822960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다듬이 → 다리미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옷감을 돌에 올리고 방망이로 두드려 구김을 폈어요.</a:t>
            </a:r>
            <a:endParaRPr lang="ko-KR" sz="3000" dirty="0"/>
          </a:p>
        </p:txBody>
      </p:sp>
      <p:sp>
        <p:nvSpPr>
          <p:cNvPr id="7" name="S05-card25"/>
          <p:cNvSpPr/>
          <p:nvPr/>
        </p:nvSpPr>
        <p:spPr>
          <a:xfrm>
            <a:off x="6208776" y="2125980"/>
            <a:ext cx="5431536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8" name="S05-cardtext26"/>
          <p:cNvSpPr txBox="1"/>
          <p:nvPr/>
        </p:nvSpPr>
        <p:spPr>
          <a:xfrm>
            <a:off x="6483096" y="2263140"/>
            <a:ext cx="488289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등잔 → 전등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그릇에 기름을 담고 심지에 불을 붙여 밝혔어요.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짝을 찾아요</a:t>
            </a:r>
            <a:endParaRPr lang="ko-KR" sz="4000" dirty="0"/>
          </a:p>
        </p:txBody>
      </p:sp>
      <p:sp>
        <p:nvSpPr>
          <p:cNvPr id="3" name="S06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일이 같은 오늘날 도구를 골라요.</a:t>
            </a:r>
            <a:endParaRPr lang="ko-KR" sz="3000" dirty="0"/>
          </a:p>
        </p:txBody>
      </p:sp>
      <p:sp>
        <p:nvSpPr>
          <p:cNvPr id="4" name="S06-card2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6-cardtext2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보기: 전등 · 다리미 · 믹서 · 세탁기</a:t>
            </a:r>
            <a:endParaRPr lang="ko-KR" sz="3000" dirty="0"/>
          </a:p>
        </p:txBody>
      </p:sp>
      <p:sp>
        <p:nvSpPr>
          <p:cNvPr id="6" name="S06-chip30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7" name="S06-text31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맷돌</a:t>
            </a:r>
            <a:endParaRPr lang="ko-KR" sz="3000" dirty="0"/>
          </a:p>
        </p:txBody>
      </p:sp>
      <p:sp>
        <p:nvSpPr>
          <p:cNvPr id="8" name="S06-chip32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9" name="S06-text33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등잔</a:t>
            </a:r>
            <a:endParaRPr lang="ko-KR" sz="3000" dirty="0"/>
          </a:p>
        </p:txBody>
      </p:sp>
      <p:sp>
        <p:nvSpPr>
          <p:cNvPr id="10" name="S06-chip34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11" name="S06-text35"/>
          <p:cNvSpPr txBox="1"/>
          <p:nvPr/>
        </p:nvSpPr>
        <p:spPr>
          <a:xfrm>
            <a:off x="1344168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다듬이</a:t>
            </a:r>
            <a:endParaRPr lang="ko-KR" sz="3000" dirty="0"/>
          </a:p>
        </p:txBody>
      </p:sp>
      <p:sp>
        <p:nvSpPr>
          <p:cNvPr id="12" name="S06-chip36"/>
          <p:cNvSpPr txBox="1"/>
          <p:nvPr/>
        </p:nvSpPr>
        <p:spPr>
          <a:xfrm>
            <a:off x="6277356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400" dirty="0"/>
          </a:p>
        </p:txBody>
      </p:sp>
      <p:sp>
        <p:nvSpPr>
          <p:cNvPr id="13" name="S06-text37"/>
          <p:cNvSpPr txBox="1"/>
          <p:nvPr/>
        </p:nvSpPr>
        <p:spPr>
          <a:xfrm>
            <a:off x="7072884" y="365760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빨랫방망이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생활이 이렇게 달라졌어요</a:t>
            </a:r>
            <a:endParaRPr lang="ko-KR" sz="4000" dirty="0"/>
          </a:p>
        </p:txBody>
      </p:sp>
      <p:sp>
        <p:nvSpPr>
          <p:cNvPr id="3" name="S07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바뀌면 일하는 시간과 힘, 생활 모습이 달라져요.</a:t>
            </a:r>
            <a:endParaRPr lang="ko-KR" sz="3000" dirty="0"/>
          </a:p>
        </p:txBody>
      </p:sp>
      <p:graphicFrame>
        <p:nvGraphicFramePr>
          <p:cNvPr id="8" name="S07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198116"/>
          <a:ext cx="10515600" cy="914400"/>
        </p:xfrm>
        <a:graphic>
          <a:graphicData uri="http://schemas.openxmlformats.org/drawingml/2006/table">
            <a:tbl>
              <a:tblPr/>
              <a:tblGrid>
                <a:gridCol w="3995928"/>
                <a:gridCol w="651967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바뀐 도구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달라진 생활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맷돌 → 믹서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빨리, 힘을 덜 들이고 갈아요.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등잔 → 전등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밤에도 환하고 안전하게 지내요.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빨랫방망이 → 세탁기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빨래하는 시간에 다른 일을 해요.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도구는 쓸모없을까요?</a:t>
            </a:r>
            <a:endParaRPr lang="ko-KR" sz="4000" dirty="0"/>
          </a:p>
        </p:txBody>
      </p:sp>
      <p:sp>
        <p:nvSpPr>
          <p:cNvPr id="3" name="S08-card41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42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도구를 보고 두 친구가 말했어요.</a:t>
            </a:r>
            <a:endParaRPr lang="ko-KR" sz="3000" dirty="0"/>
          </a:p>
        </p:txBody>
      </p:sp>
      <p:sp>
        <p:nvSpPr>
          <p:cNvPr id="5" name="S08-card4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4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생각에 고개가 끄덕여지나요? 까닭도 말해요.</a:t>
            </a:r>
            <a:endParaRPr lang="ko-KR" sz="3000" dirty="0"/>
          </a:p>
        </p:txBody>
      </p:sp>
      <p:sp>
        <p:nvSpPr>
          <p:cNvPr id="7" name="S08-chip45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400" dirty="0"/>
          </a:p>
        </p:txBody>
      </p:sp>
      <p:sp>
        <p:nvSpPr>
          <p:cNvPr id="8" name="S08-text46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도구는 불편하니까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쓸모없어요.</a:t>
            </a:r>
            <a:endParaRPr lang="ko-KR" sz="3000" dirty="0"/>
          </a:p>
        </p:txBody>
      </p:sp>
      <p:sp>
        <p:nvSpPr>
          <p:cNvPr id="9" name="S08-chip47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400" dirty="0"/>
          </a:p>
        </p:txBody>
      </p:sp>
      <p:sp>
        <p:nvSpPr>
          <p:cNvPr id="10" name="S08-text48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도구에도</a:t>
            </a:r>
            <a:endParaRPr lang="ko-KR" sz="3000" dirty="0"/>
          </a:p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지혜가 담겨 있어요.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생활은 어떻게 달라졌을까?</a:t>
            </a:r>
            <a:endParaRPr lang="ko-KR" sz="4000" dirty="0"/>
          </a:p>
        </p:txBody>
      </p:sp>
      <p:sp>
        <p:nvSpPr>
          <p:cNvPr id="3" name="S09-text49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‘~해서 ~하게 되었어요.’로 말해요.</a:t>
            </a:r>
            <a:endParaRPr lang="ko-KR" sz="3000" dirty="0"/>
          </a:p>
        </p:txBody>
      </p:sp>
      <p:sp>
        <p:nvSpPr>
          <p:cNvPr id="4" name="S09-chip50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09-text51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가마솥 밥 짓기 → 전기밥솥</a:t>
            </a:r>
            <a:endParaRPr lang="ko-KR" sz="3000" dirty="0"/>
          </a:p>
        </p:txBody>
      </p:sp>
      <p:sp>
        <p:nvSpPr>
          <p:cNvPr id="6" name="S09-chip52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09-text53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부채 → 선풍기</a:t>
            </a:r>
            <a:endParaRPr lang="ko-KR" sz="3000" dirty="0"/>
          </a:p>
        </p:txBody>
      </p:sp>
      <p:sp>
        <p:nvSpPr>
          <p:cNvPr id="8" name="S09-chip54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09-text55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편지 → 휴대 전화 문자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56"/>
          <p:cNvSpPr txBox="1"/>
          <p:nvPr/>
        </p:nvSpPr>
        <p:spPr>
          <a:xfrm>
            <a:off x="548640" y="1325880"/>
            <a:ext cx="1109167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옛날에는 우물에서 두레박으로 물을 길어 집까지 날랐어요. 오늘날에는 수도꼭지를 틀어요.</a:t>
            </a:r>
            <a:endParaRPr lang="ko-KR" sz="3000" dirty="0"/>
          </a:p>
        </p:txBody>
      </p:sp>
      <p:sp>
        <p:nvSpPr>
          <p:cNvPr id="4" name="S10-chip57"/>
          <p:cNvSpPr txBox="1"/>
          <p:nvPr/>
        </p:nvSpPr>
        <p:spPr>
          <a:xfrm>
            <a:off x="548640" y="27238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400" dirty="0"/>
          </a:p>
        </p:txBody>
      </p:sp>
      <p:sp>
        <p:nvSpPr>
          <p:cNvPr id="5" name="S10-text58"/>
          <p:cNvSpPr txBox="1"/>
          <p:nvPr/>
        </p:nvSpPr>
        <p:spPr>
          <a:xfrm>
            <a:off x="1344168" y="24384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도구가 하는 일은?</a:t>
            </a:r>
            <a:endParaRPr lang="ko-KR" sz="3000" dirty="0"/>
          </a:p>
        </p:txBody>
      </p:sp>
      <p:sp>
        <p:nvSpPr>
          <p:cNvPr id="6" name="S10-chip59"/>
          <p:cNvSpPr txBox="1"/>
          <p:nvPr/>
        </p:nvSpPr>
        <p:spPr>
          <a:xfrm>
            <a:off x="548640" y="4044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400" dirty="0"/>
          </a:p>
        </p:txBody>
      </p:sp>
      <p:sp>
        <p:nvSpPr>
          <p:cNvPr id="7" name="S10-text60"/>
          <p:cNvSpPr txBox="1"/>
          <p:nvPr/>
        </p:nvSpPr>
        <p:spPr>
          <a:xfrm>
            <a:off x="1344168" y="37592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무엇이 달라졌나요?</a:t>
            </a:r>
            <a:endParaRPr lang="ko-KR" sz="3000" dirty="0"/>
          </a:p>
        </p:txBody>
      </p:sp>
      <p:sp>
        <p:nvSpPr>
          <p:cNvPr id="8" name="S10-chip61"/>
          <p:cNvSpPr txBox="1"/>
          <p:nvPr/>
        </p:nvSpPr>
        <p:spPr>
          <a:xfrm>
            <a:off x="548640" y="53654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400" dirty="0"/>
          </a:p>
        </p:txBody>
      </p:sp>
      <p:sp>
        <p:nvSpPr>
          <p:cNvPr id="9" name="S10-text62"/>
          <p:cNvSpPr txBox="1"/>
          <p:nvPr/>
        </p:nvSpPr>
        <p:spPr>
          <a:xfrm>
            <a:off x="1344168" y="5080000"/>
            <a:ext cx="10296144" cy="1137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생활은 어떻게 달라졌나요?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정답 확인</a:t>
            </a:r>
            <a:endParaRPr lang="ko-KR" sz="4000" dirty="0"/>
          </a:p>
        </p:txBody>
      </p:sp>
      <p:sp>
        <p:nvSpPr>
          <p:cNvPr id="3" name="S11-card6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1-cardtext6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일은 같고, 쓰는 방법과 생활이 달라졌어요.</a:t>
            </a:r>
            <a:endParaRPr lang="ko-KR" sz="3000" dirty="0"/>
          </a:p>
        </p:txBody>
      </p:sp>
      <p:sp>
        <p:nvSpPr>
          <p:cNvPr id="5" name="S11-chip65"/>
          <p:cNvSpPr txBox="1"/>
          <p:nvPr/>
        </p:nvSpPr>
        <p:spPr>
          <a:xfrm>
            <a:off x="548640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E3F4F1"/>
          </a:solidFill>
          <a:ln>
            <a:solidFill>
              <a:srgbClr val="E3F4F1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정답</a:t>
            </a:r>
            <a:endParaRPr lang="ko-KR" sz="2400" dirty="0"/>
          </a:p>
        </p:txBody>
      </p:sp>
      <p:sp>
        <p:nvSpPr>
          <p:cNvPr id="6" name="S11-text66"/>
          <p:cNvSpPr txBox="1"/>
          <p:nvPr/>
        </p:nvSpPr>
        <p:spPr>
          <a:xfrm>
            <a:off x="548640" y="20574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하는 일: 물을 얻어요</a:t>
            </a:r>
            <a:endParaRPr lang="ko-KR" sz="3000" dirty="0"/>
          </a:p>
        </p:txBody>
      </p:sp>
      <p:sp>
        <p:nvSpPr>
          <p:cNvPr id="7" name="S11-text67"/>
          <p:cNvSpPr txBox="1"/>
          <p:nvPr/>
        </p:nvSpPr>
        <p:spPr>
          <a:xfrm>
            <a:off x="548640" y="31242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길어 나르기 → 틀기만</a:t>
            </a:r>
            <a:endParaRPr lang="ko-KR" sz="3000" dirty="0"/>
          </a:p>
        </p:txBody>
      </p:sp>
      <p:sp>
        <p:nvSpPr>
          <p:cNvPr id="8" name="S11-text68"/>
          <p:cNvSpPr txBox="1"/>
          <p:nvPr/>
        </p:nvSpPr>
        <p:spPr>
          <a:xfrm>
            <a:off x="548640" y="4191000"/>
            <a:ext cx="5362956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힘과 시간이 줄었어요</a:t>
            </a:r>
            <a:endParaRPr lang="ko-KR" sz="3000" dirty="0"/>
          </a:p>
        </p:txBody>
      </p:sp>
      <p:sp>
        <p:nvSpPr>
          <p:cNvPr id="9" name="S11-chip69"/>
          <p:cNvSpPr txBox="1"/>
          <p:nvPr/>
        </p:nvSpPr>
        <p:spPr>
          <a:xfrm>
            <a:off x="6277356" y="1325880"/>
            <a:ext cx="5362956" cy="548640"/>
          </a:xfrm>
          <a:prstGeom prst="roundRect">
            <a:avLst>
              <a:gd name="adj" fmla="val 26667"/>
            </a:avLst>
          </a:prstGeom>
          <a:solidFill>
            <a:srgbClr val="FBE6E7"/>
          </a:solidFill>
          <a:ln>
            <a:solidFill>
              <a:srgbClr val="FBE6E7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흔한 실수</a:t>
            </a:r>
            <a:endParaRPr lang="ko-KR" sz="2400" dirty="0"/>
          </a:p>
        </p:txBody>
      </p:sp>
      <p:sp>
        <p:nvSpPr>
          <p:cNvPr id="10" name="S11-text70"/>
          <p:cNvSpPr txBox="1"/>
          <p:nvPr/>
        </p:nvSpPr>
        <p:spPr>
          <a:xfrm>
            <a:off x="6277356" y="20574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모양만 말하기</a:t>
            </a:r>
            <a:endParaRPr lang="ko-KR" sz="3000" dirty="0"/>
          </a:p>
        </p:txBody>
      </p:sp>
      <p:sp>
        <p:nvSpPr>
          <p:cNvPr id="11" name="S11-text71"/>
          <p:cNvSpPr txBox="1"/>
          <p:nvPr/>
        </p:nvSpPr>
        <p:spPr>
          <a:xfrm>
            <a:off x="9095994" y="20574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생활의 변화를 말해요</a:t>
            </a:r>
            <a:endParaRPr lang="ko-KR" sz="2400" dirty="0"/>
          </a:p>
        </p:txBody>
      </p:sp>
      <p:sp>
        <p:nvSpPr>
          <p:cNvPr id="12" name="S11-text72"/>
          <p:cNvSpPr txBox="1"/>
          <p:nvPr/>
        </p:nvSpPr>
        <p:spPr>
          <a:xfrm>
            <a:off x="6277356" y="3429000"/>
            <a:ext cx="268147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“쓸모없어요.”</a:t>
            </a:r>
            <a:endParaRPr lang="ko-KR" sz="3000" dirty="0"/>
          </a:p>
        </p:txBody>
      </p:sp>
      <p:sp>
        <p:nvSpPr>
          <p:cNvPr id="13" name="S11-text73"/>
          <p:cNvSpPr txBox="1"/>
          <p:nvPr/>
        </p:nvSpPr>
        <p:spPr>
          <a:xfrm>
            <a:off x="9095994" y="3429000"/>
            <a:ext cx="254431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 없이 깎아내림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엄마(아빠)께 여쭈어 봐요</a:t>
            </a:r>
            <a:endParaRPr lang="ko-KR" sz="4000" dirty="0"/>
          </a:p>
        </p:txBody>
      </p:sp>
      <p:sp>
        <p:nvSpPr>
          <p:cNvPr id="3" name="S12-card74"/>
          <p:cNvSpPr/>
          <p:nvPr/>
        </p:nvSpPr>
        <p:spPr>
          <a:xfrm>
            <a:off x="6813652" y="1325880"/>
            <a:ext cx="4826660" cy="4892040"/>
          </a:xfrm>
          <a:prstGeom prst="roundRect">
            <a:avLst>
              <a:gd name="adj" fmla="val 2273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75"/>
          <p:cNvSpPr txBox="1"/>
          <p:nvPr/>
        </p:nvSpPr>
        <p:spPr>
          <a:xfrm>
            <a:off x="7087972" y="1463040"/>
            <a:ext cx="4278020" cy="4617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이렇게 하면 잘한 거예요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물건과 하는 일을 알아냈어요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오늘날 도구와 짝지었어요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4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달라진 생활을 말했어요</a:t>
            </a:r>
            <a:endParaRPr lang="ko-KR" sz="3000" dirty="0"/>
          </a:p>
        </p:txBody>
      </p:sp>
      <p:sp>
        <p:nvSpPr>
          <p:cNvPr id="5" name="S12-stepno76"/>
          <p:cNvSpPr txBox="1"/>
          <p:nvPr/>
        </p:nvSpPr>
        <p:spPr>
          <a:xfrm>
            <a:off x="548640" y="171145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400" dirty="0"/>
          </a:p>
        </p:txBody>
      </p:sp>
      <p:sp>
        <p:nvSpPr>
          <p:cNvPr id="6" name="S12-text77"/>
          <p:cNvSpPr txBox="1"/>
          <p:nvPr/>
        </p:nvSpPr>
        <p:spPr>
          <a:xfrm>
            <a:off x="1325880" y="1665732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어렸을 때 쓰던 물건을 여쭈어요.</a:t>
            </a:r>
            <a:endParaRPr lang="ko-KR" sz="3000" dirty="0"/>
          </a:p>
        </p:txBody>
      </p:sp>
      <p:sp>
        <p:nvSpPr>
          <p:cNvPr id="7" name="S12-stepno78"/>
          <p:cNvSpPr txBox="1"/>
          <p:nvPr/>
        </p:nvSpPr>
        <p:spPr>
          <a:xfrm>
            <a:off x="548640" y="280568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400" dirty="0"/>
          </a:p>
        </p:txBody>
      </p:sp>
      <p:sp>
        <p:nvSpPr>
          <p:cNvPr id="8" name="S12-text79"/>
          <p:cNvSpPr txBox="1"/>
          <p:nvPr/>
        </p:nvSpPr>
        <p:spPr>
          <a:xfrm>
            <a:off x="1325880" y="2759964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 물건이 하는 일을 알아봐요.</a:t>
            </a:r>
            <a:endParaRPr lang="ko-KR" sz="3000" dirty="0"/>
          </a:p>
        </p:txBody>
      </p:sp>
      <p:sp>
        <p:nvSpPr>
          <p:cNvPr id="9" name="S12-stepno80"/>
          <p:cNvSpPr txBox="1"/>
          <p:nvPr/>
        </p:nvSpPr>
        <p:spPr>
          <a:xfrm>
            <a:off x="548640" y="389991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400" dirty="0"/>
          </a:p>
        </p:txBody>
      </p:sp>
      <p:sp>
        <p:nvSpPr>
          <p:cNvPr id="10" name="S12-text81"/>
          <p:cNvSpPr txBox="1"/>
          <p:nvPr/>
        </p:nvSpPr>
        <p:spPr>
          <a:xfrm>
            <a:off x="1325880" y="3854196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오늘날에는 무엇을 쓰는지 찾아요.</a:t>
            </a:r>
            <a:endParaRPr lang="ko-KR" sz="3000" dirty="0"/>
          </a:p>
        </p:txBody>
      </p:sp>
      <p:sp>
        <p:nvSpPr>
          <p:cNvPr id="11" name="S12-stepno82"/>
          <p:cNvSpPr txBox="1"/>
          <p:nvPr/>
        </p:nvSpPr>
        <p:spPr>
          <a:xfrm>
            <a:off x="548640" y="49941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400" dirty="0"/>
          </a:p>
        </p:txBody>
      </p:sp>
      <p:sp>
        <p:nvSpPr>
          <p:cNvPr id="12" name="S12-text83"/>
          <p:cNvSpPr txBox="1"/>
          <p:nvPr/>
        </p:nvSpPr>
        <p:spPr>
          <a:xfrm>
            <a:off x="1325880" y="4948428"/>
            <a:ext cx="5122012" cy="929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생활이 어떻게 달라졌는지 말해요.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84"/>
          <p:cNvSpPr/>
          <p:nvPr/>
        </p:nvSpPr>
        <p:spPr>
          <a:xfrm>
            <a:off x="548640" y="1325880"/>
            <a:ext cx="11091672" cy="1258824"/>
          </a:xfrm>
          <a:prstGeom prst="roundRect">
            <a:avLst>
              <a:gd name="adj" fmla="val 8717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85"/>
          <p:cNvSpPr txBox="1"/>
          <p:nvPr/>
        </p:nvSpPr>
        <p:spPr>
          <a:xfrm>
            <a:off x="822960" y="1463040"/>
            <a:ext cx="10543032" cy="984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옛날 도구와 오늘날 도구는 하는 일이 같아요.</a:t>
            </a:r>
            <a:endParaRPr lang="ko-KR" sz="30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도구가 바뀌면서 생활 모습도 달라졌어요.</a:t>
            </a:r>
            <a:endParaRPr lang="ko-KR" sz="3000" dirty="0"/>
          </a:p>
        </p:txBody>
      </p:sp>
      <p:sp>
        <p:nvSpPr>
          <p:cNvPr id="5" name="S13-chip86"/>
          <p:cNvSpPr txBox="1"/>
          <p:nvPr/>
        </p:nvSpPr>
        <p:spPr>
          <a:xfrm>
            <a:off x="548640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하는 일로 짝짓기</a:t>
            </a:r>
            <a:endParaRPr lang="ko-KR" sz="2400" dirty="0"/>
          </a:p>
        </p:txBody>
      </p:sp>
      <p:sp>
        <p:nvSpPr>
          <p:cNvPr id="6" name="S13-chip87"/>
          <p:cNvSpPr txBox="1"/>
          <p:nvPr/>
        </p:nvSpPr>
        <p:spPr>
          <a:xfrm>
            <a:off x="6208776" y="2813304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옛날 도구 깎아내리기</a:t>
            </a:r>
            <a:endParaRPr lang="ko-KR" sz="2400" dirty="0"/>
          </a:p>
        </p:txBody>
      </p:sp>
      <p:sp>
        <p:nvSpPr>
          <p:cNvPr id="7" name="S13-text88"/>
          <p:cNvSpPr txBox="1"/>
          <p:nvPr/>
        </p:nvSpPr>
        <p:spPr>
          <a:xfrm>
            <a:off x="548640" y="3636264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400" dirty="0"/>
          </a:p>
        </p:txBody>
      </p:sp>
      <p:sp>
        <p:nvSpPr>
          <p:cNvPr id="8" name="S13-text89"/>
          <p:cNvSpPr txBox="1"/>
          <p:nvPr/>
        </p:nvSpPr>
        <p:spPr>
          <a:xfrm>
            <a:off x="548640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맷돌과 짝이 되는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오늘날 도구는?</a:t>
            </a:r>
            <a:endParaRPr lang="ko-KR" sz="2400" dirty="0"/>
          </a:p>
        </p:txBody>
      </p:sp>
      <p:sp>
        <p:nvSpPr>
          <p:cNvPr id="9" name="S13-text90"/>
          <p:cNvSpPr txBox="1"/>
          <p:nvPr/>
        </p:nvSpPr>
        <p:spPr>
          <a:xfrm>
            <a:off x="4322064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등잔이 전등이 되어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달라진 생활은?</a:t>
            </a:r>
            <a:endParaRPr lang="ko-KR" sz="2400" dirty="0"/>
          </a:p>
        </p:txBody>
      </p:sp>
      <p:sp>
        <p:nvSpPr>
          <p:cNvPr id="10" name="S13-text91"/>
          <p:cNvSpPr txBox="1"/>
          <p:nvPr/>
        </p:nvSpPr>
        <p:spPr>
          <a:xfrm>
            <a:off x="8095488" y="4139184"/>
            <a:ext cx="3544824" cy="1438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다듬이는 무슨 일을</a:t>
            </a:r>
            <a:endParaRPr lang="ko-KR" sz="2400" dirty="0"/>
          </a:p>
          <a:p>
            <a:pPr eaLnBrk="0" algn="l" indent="0" marL="0">
              <a:buNone/>
            </a:pPr>
            <a:r>
              <a:rPr lang="ko-KR" altLang="en-US" sz="24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도구?</a:t>
            </a:r>
            <a:endParaRPr lang="ko-KR" sz="2400" dirty="0"/>
          </a:p>
        </p:txBody>
      </p:sp>
      <p:sp>
        <p:nvSpPr>
          <p:cNvPr id="11" name="S13-text92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4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다양한 가족</a:t>
            </a:r>
            <a:endParaRPr lang="ko-KR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아기 때와 지금</a:t>
            </a:r>
            <a:endParaRPr lang="ko-KR" sz="4000" dirty="0"/>
          </a:p>
        </p:txBody>
      </p:sp>
      <p:sp>
        <p:nvSpPr>
          <p:cNvPr id="3" name="S14-card9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9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30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일은 같아도 쓰는 물건이 바뀌었어요.</a:t>
            </a:r>
            <a:endParaRPr lang="ko-KR" sz="3000" dirty="0"/>
          </a:p>
        </p:txBody>
      </p:sp>
      <p:graphicFrame>
        <p:nvGraphicFramePr>
          <p:cNvPr id="15" name="S14-table9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2476" y="2120900"/>
          <a:ext cx="91440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3657600"/>
              </a:tblGrid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하는 일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아기 때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지금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마시기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젖병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다니기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유모차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걷기, 자전거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1180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놀기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딸랑이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8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블록, 공</a:t>
                      </a:r>
                      <a:endParaRPr lang="en-US" sz="28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초3 사회·역사 생활 도구의 변화</dc:title>
  <dc:subject>KR22-G03-SOC-TOOLS-L01</dc:subject>
  <dc:creator>education-ppt</dc:creator>
  <cp:lastModifiedBy>education-ppt</cp:lastModifiedBy>
  <cp:revision>1</cp:revision>
  <dcterms:created xsi:type="dcterms:W3CDTF">2026-10-26T09:43:33Z</dcterms:created>
  <dcterms:modified xsi:type="dcterms:W3CDTF">2026-10-26T09:43:33Z</dcterms:modified>
</cp:coreProperties>
</file>