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e7b57acf-a16f-80e5-2083-ed65a7aba404}">
          <p14:sldIdLst>
            <p14:sldId id="256"/>
            <p14:sldId id="257"/>
          </p14:sldIdLst>
        </p14:section>
        <p14:section name="개념" id="{a3c8127c-f0a8-fa4f-2859-a8271923583f}">
          <p14:sldIdLst>
            <p14:sldId id="258"/>
            <p14:sldId id="260"/>
            <p14:sldId id="261"/>
            <p14:sldId id="266"/>
          </p14:sldIdLst>
        </p14:section>
        <p14:section name="연습" id="{775b6830-f878-e994-83de-069195e7ec72}">
          <p14:sldIdLst>
            <p14:sldId id="259"/>
            <p14:sldId id="262"/>
            <p14:sldId id="263"/>
            <p14:sldId id="267"/>
          </p14:sldIdLst>
        </p14:section>
        <p14:section name="개념" id="{d0c17864-55d7-7338-a3e8-f6fc634cee30}">
          <p14:sldIdLst/>
        </p14:section>
        <p14:section name="연습" id="{a8812a5c-9986-6371-b476-1144a3edd477}">
          <p14:sldIdLst/>
        </p14:section>
        <p14:section name="확인" id="{ab6d769f-d07c-de5d-23cf-9672fe4aba0d}">
          <p14:sldIdLst>
            <p14:sldId id="264"/>
            <p14:sldId id="265"/>
            <p14:sldId id="268"/>
          </p14:sldIdLst>
        </p14:section>
        <p14:section name="개념" id="{e7fbb5b2-2450-d90a-3c9e-afcea14afa26}">
          <p14:sldIdLst/>
        </p14:section>
        <p14:section name="연습" id="{b1311c3a-0a2f-d3d1-e1bd-f2a1ae895dfe}">
          <p14:sldIdLst/>
        </p14:section>
        <p14:section name="확인" id="{140f232b-0ea8-fa7d-dfed-60d55b2f9fd2}">
          <p14:sldIdLst/>
        </p14:section>
        <p14:section name="정리" id="{00c499de-6226-7557-03ff-e1c51f2b8d19}">
          <p14:sldIdLst>
            <p14:sldId id="269"/>
          </p14:sldIdLst>
        </p14:section>
        <p14:section name="보충" id="{5047d2cc-7547-d4cd-d904-d9bb73bc493d}">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사회·역사 · 지역과공간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초3 사회·역사 · 우리 고장의 장소</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사회·역사 · 우리 고장의 장소</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초3 사회·역사 · 우리 고장의 장소</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우리 고장의 장소</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우리 고장의 장소는</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어디에 있고 무슨 일을 할까?</a:t>
            </a:r>
            <a:endParaRPr lang="ko-KR" sz="3000" dirty="0"/>
          </a:p>
        </p:txBody>
      </p:sp>
      <p:sp>
        <p:nvSpPr>
          <p:cNvPr id="4" name="S01-card1"/>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5" name="S01-cardtext2"/>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장소가 하는 일을 알고 알맞은 곳을 골라요.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위치를 말하고 우리 고장 조사 계획을 세워요.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우리 동네 떠올리기</a:t>
            </a:r>
            <a:endParaRPr lang="ko-KR" sz="4000" dirty="0"/>
          </a:p>
        </p:txBody>
      </p:sp>
      <p:sp>
        <p:nvSpPr>
          <p:cNvPr id="3" name="S02-text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집 가까이에 있는 곳을 떠올려 봐요.</a:t>
            </a:r>
            <a:endParaRPr lang="ko-KR" sz="3000" dirty="0"/>
          </a:p>
        </p:txBody>
      </p:sp>
      <p:sp>
        <p:nvSpPr>
          <p:cNvPr id="4" name="S02-chip4"/>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02-text5"/>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가 본 곳 두 곳의 이름은?</a:t>
            </a:r>
            <a:endParaRPr lang="ko-KR" sz="3000" dirty="0"/>
          </a:p>
        </p:txBody>
      </p:sp>
      <p:sp>
        <p:nvSpPr>
          <p:cNvPr id="6" name="S02-chip6"/>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02-text7"/>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그곳에서 무엇을 했나요?</a:t>
            </a:r>
            <a:endParaRPr lang="ko-KR" sz="3000" dirty="0"/>
          </a:p>
        </p:txBody>
      </p:sp>
      <p:sp>
        <p:nvSpPr>
          <p:cNvPr id="8" name="S02-chip8"/>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9" name="S02-text9"/>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손으로 내 앞과 뒤를 가리켜요.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장소마다 하는 일이 달라요</a:t>
            </a:r>
            <a:endParaRPr lang="ko-KR" sz="4000" dirty="0"/>
          </a:p>
        </p:txBody>
      </p:sp>
      <p:sp>
        <p:nvSpPr>
          <p:cNvPr id="3" name="S03-text10"/>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고장에는 여러 장소가 있어요.</a:t>
            </a:r>
            <a:endParaRPr lang="ko-KR" sz="3000" dirty="0"/>
          </a:p>
        </p:txBody>
      </p:sp>
      <p:sp>
        <p:nvSpPr>
          <p:cNvPr id="4" name="S03-card11"/>
          <p:cNvSpPr/>
          <p:nvPr/>
        </p:nvSpPr>
        <p:spPr>
          <a:xfrm>
            <a:off x="548640" y="2011680"/>
            <a:ext cx="3544824" cy="1988820"/>
          </a:xfrm>
          <a:prstGeom prst="roundRect">
            <a:avLst>
              <a:gd name="adj" fmla="val 5517"/>
            </a:avLst>
          </a:prstGeom>
          <a:solidFill>
            <a:srgbClr val="EAF3F1"/>
          </a:solidFill>
          <a:ln w="12700">
            <a:solidFill>
              <a:srgbClr val="EAF3F1"/>
            </a:solidFill>
            <a:prstDash val="solid"/>
          </a:ln>
        </p:spPr>
      </p:sp>
      <p:sp>
        <p:nvSpPr>
          <p:cNvPr id="5" name="S03-cardtext12"/>
          <p:cNvSpPr txBox="1"/>
          <p:nvPr/>
        </p:nvSpPr>
        <p:spPr>
          <a:xfrm>
            <a:off x="822960" y="2148840"/>
            <a:ext cx="2996184" cy="171450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학교</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선생님과 함께 배우는 곳</a:t>
            </a:r>
            <a:endParaRPr lang="ko-KR" sz="3000" dirty="0"/>
          </a:p>
        </p:txBody>
      </p:sp>
      <p:sp>
        <p:nvSpPr>
          <p:cNvPr id="6" name="S03-card13"/>
          <p:cNvSpPr/>
          <p:nvPr/>
        </p:nvSpPr>
        <p:spPr>
          <a:xfrm>
            <a:off x="4322064" y="2011680"/>
            <a:ext cx="3544824" cy="1988820"/>
          </a:xfrm>
          <a:prstGeom prst="roundRect">
            <a:avLst>
              <a:gd name="adj" fmla="val 5517"/>
            </a:avLst>
          </a:prstGeom>
          <a:solidFill>
            <a:srgbClr val="EAF3F1"/>
          </a:solidFill>
          <a:ln w="12700">
            <a:solidFill>
              <a:srgbClr val="EAF3F1"/>
            </a:solidFill>
            <a:prstDash val="solid"/>
          </a:ln>
        </p:spPr>
      </p:sp>
      <p:sp>
        <p:nvSpPr>
          <p:cNvPr id="7" name="S03-cardtext14"/>
          <p:cNvSpPr txBox="1"/>
          <p:nvPr/>
        </p:nvSpPr>
        <p:spPr>
          <a:xfrm>
            <a:off x="4596384" y="2148840"/>
            <a:ext cx="2996184" cy="171450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시장</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먹을거리와 물건을 사고파는 곳</a:t>
            </a:r>
            <a:endParaRPr lang="ko-KR" sz="3000" dirty="0"/>
          </a:p>
        </p:txBody>
      </p:sp>
      <p:sp>
        <p:nvSpPr>
          <p:cNvPr id="8" name="S03-card15"/>
          <p:cNvSpPr/>
          <p:nvPr/>
        </p:nvSpPr>
        <p:spPr>
          <a:xfrm>
            <a:off x="8095488" y="2011680"/>
            <a:ext cx="3544824" cy="1988820"/>
          </a:xfrm>
          <a:prstGeom prst="roundRect">
            <a:avLst>
              <a:gd name="adj" fmla="val 5517"/>
            </a:avLst>
          </a:prstGeom>
          <a:solidFill>
            <a:srgbClr val="EAF3F1"/>
          </a:solidFill>
          <a:ln w="12700">
            <a:solidFill>
              <a:srgbClr val="EAF3F1"/>
            </a:solidFill>
            <a:prstDash val="solid"/>
          </a:ln>
        </p:spPr>
      </p:sp>
      <p:sp>
        <p:nvSpPr>
          <p:cNvPr id="9" name="S03-cardtext16"/>
          <p:cNvSpPr txBox="1"/>
          <p:nvPr/>
        </p:nvSpPr>
        <p:spPr>
          <a:xfrm>
            <a:off x="8369808" y="2148840"/>
            <a:ext cx="2996184" cy="171450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공원</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산책하고 운동하며 쉬는 곳</a:t>
            </a:r>
            <a:endParaRPr lang="ko-KR" sz="3000" dirty="0"/>
          </a:p>
        </p:txBody>
      </p:sp>
      <p:sp>
        <p:nvSpPr>
          <p:cNvPr id="10" name="S03-card17"/>
          <p:cNvSpPr/>
          <p:nvPr/>
        </p:nvSpPr>
        <p:spPr>
          <a:xfrm>
            <a:off x="548640" y="4229100"/>
            <a:ext cx="3544824" cy="1988820"/>
          </a:xfrm>
          <a:prstGeom prst="roundRect">
            <a:avLst>
              <a:gd name="adj" fmla="val 5517"/>
            </a:avLst>
          </a:prstGeom>
          <a:solidFill>
            <a:srgbClr val="EAF3F1"/>
          </a:solidFill>
          <a:ln w="12700">
            <a:solidFill>
              <a:srgbClr val="EAF3F1"/>
            </a:solidFill>
            <a:prstDash val="solid"/>
          </a:ln>
        </p:spPr>
      </p:sp>
      <p:sp>
        <p:nvSpPr>
          <p:cNvPr id="11" name="S03-cardtext18"/>
          <p:cNvSpPr txBox="1"/>
          <p:nvPr/>
        </p:nvSpPr>
        <p:spPr>
          <a:xfrm>
            <a:off x="822960" y="4366260"/>
            <a:ext cx="2996184" cy="171450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도서관</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책을 읽고 빌리는 곳</a:t>
            </a:r>
            <a:endParaRPr lang="ko-KR" sz="3000" dirty="0"/>
          </a:p>
        </p:txBody>
      </p:sp>
      <p:sp>
        <p:nvSpPr>
          <p:cNvPr id="12" name="S03-card19"/>
          <p:cNvSpPr/>
          <p:nvPr/>
        </p:nvSpPr>
        <p:spPr>
          <a:xfrm>
            <a:off x="4322064" y="4229100"/>
            <a:ext cx="3544824" cy="1988820"/>
          </a:xfrm>
          <a:prstGeom prst="roundRect">
            <a:avLst>
              <a:gd name="adj" fmla="val 5517"/>
            </a:avLst>
          </a:prstGeom>
          <a:solidFill>
            <a:srgbClr val="EAF3F1"/>
          </a:solidFill>
          <a:ln w="12700">
            <a:solidFill>
              <a:srgbClr val="EAF3F1"/>
            </a:solidFill>
            <a:prstDash val="solid"/>
          </a:ln>
        </p:spPr>
      </p:sp>
      <p:sp>
        <p:nvSpPr>
          <p:cNvPr id="13" name="S03-cardtext20"/>
          <p:cNvSpPr txBox="1"/>
          <p:nvPr/>
        </p:nvSpPr>
        <p:spPr>
          <a:xfrm>
            <a:off x="4596384" y="4366260"/>
            <a:ext cx="2996184" cy="171450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주민센터</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주민에게 필요한 일을 도와주는 곳</a:t>
            </a:r>
            <a:endParaRPr lang="ko-KR" sz="3000" dirty="0"/>
          </a:p>
        </p:txBody>
      </p:sp>
      <p:sp>
        <p:nvSpPr>
          <p:cNvPr id="14" name="S03-card21"/>
          <p:cNvSpPr/>
          <p:nvPr/>
        </p:nvSpPr>
        <p:spPr>
          <a:xfrm>
            <a:off x="8095488" y="4229100"/>
            <a:ext cx="3544824" cy="1988820"/>
          </a:xfrm>
          <a:prstGeom prst="roundRect">
            <a:avLst>
              <a:gd name="adj" fmla="val 5517"/>
            </a:avLst>
          </a:prstGeom>
          <a:solidFill>
            <a:srgbClr val="EAF3F1"/>
          </a:solidFill>
          <a:ln w="12700">
            <a:solidFill>
              <a:srgbClr val="EAF3F1"/>
            </a:solidFill>
            <a:prstDash val="solid"/>
          </a:ln>
        </p:spPr>
      </p:sp>
      <p:sp>
        <p:nvSpPr>
          <p:cNvPr id="15" name="S03-cardtext22"/>
          <p:cNvSpPr txBox="1"/>
          <p:nvPr/>
        </p:nvSpPr>
        <p:spPr>
          <a:xfrm>
            <a:off x="8369808" y="4366260"/>
            <a:ext cx="2996184" cy="171450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병원</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아플 때 진찰받고 치료받는 곳</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어디로 가면 될까요?</a:t>
            </a:r>
            <a:endParaRPr lang="ko-KR" sz="4000" dirty="0"/>
          </a:p>
        </p:txBody>
      </p:sp>
      <p:sp>
        <p:nvSpPr>
          <p:cNvPr id="3" name="S04-text23"/>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장소를 고르고 까닭도 말해요.</a:t>
            </a:r>
            <a:endParaRPr lang="ko-KR" sz="3000" dirty="0"/>
          </a:p>
        </p:txBody>
      </p:sp>
      <p:sp>
        <p:nvSpPr>
          <p:cNvPr id="4" name="S04-card24"/>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4-cardtext2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학교 · 시장 · 공원 · 도서관 · 주민센터 · 병원</a:t>
            </a:r>
            <a:endParaRPr lang="ko-KR" sz="3000" dirty="0"/>
          </a:p>
        </p:txBody>
      </p:sp>
      <p:sp>
        <p:nvSpPr>
          <p:cNvPr id="6" name="S04-chip26"/>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4-text27"/>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열이 나고 기침을 해요.</a:t>
            </a:r>
            <a:endParaRPr lang="ko-KR" sz="3000" dirty="0"/>
          </a:p>
        </p:txBody>
      </p:sp>
      <p:sp>
        <p:nvSpPr>
          <p:cNvPr id="8" name="S04-chip28"/>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4-text29"/>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공룡 책을 빌리고 싶어요.</a:t>
            </a:r>
            <a:endParaRPr lang="ko-KR" sz="3000" dirty="0"/>
          </a:p>
        </p:txBody>
      </p:sp>
      <p:sp>
        <p:nvSpPr>
          <p:cNvPr id="10" name="S04-chip30"/>
          <p:cNvSpPr txBox="1"/>
          <p:nvPr/>
        </p:nvSpPr>
        <p:spPr>
          <a:xfrm>
            <a:off x="548640"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4-text31"/>
          <p:cNvSpPr txBox="1"/>
          <p:nvPr/>
        </p:nvSpPr>
        <p:spPr>
          <a:xfrm>
            <a:off x="1344168" y="365760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저녁에 먹을 채소를 사요.</a:t>
            </a:r>
            <a:endParaRPr lang="ko-KR" sz="3000" dirty="0"/>
          </a:p>
        </p:txBody>
      </p:sp>
      <p:sp>
        <p:nvSpPr>
          <p:cNvPr id="12" name="S04-chip32"/>
          <p:cNvSpPr txBox="1"/>
          <p:nvPr/>
        </p:nvSpPr>
        <p:spPr>
          <a:xfrm>
            <a:off x="6277356"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④</a:t>
            </a:r>
            <a:endParaRPr lang="ko-KR" sz="2400" dirty="0"/>
          </a:p>
        </p:txBody>
      </p:sp>
      <p:sp>
        <p:nvSpPr>
          <p:cNvPr id="13" name="S04-text33"/>
          <p:cNvSpPr txBox="1"/>
          <p:nvPr/>
        </p:nvSpPr>
        <p:spPr>
          <a:xfrm>
            <a:off x="7072884" y="365760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가족과 자전거를 타요.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건물의 앞·뒤·옆</a:t>
            </a:r>
            <a:endParaRPr lang="ko-KR" sz="4000" dirty="0"/>
          </a:p>
        </p:txBody>
      </p:sp>
      <p:sp>
        <p:nvSpPr>
          <p:cNvPr id="3" name="S05-figure34" descr="학교 건물 하나. 아래쪽 가운데에 문이 있다. 문이 있는 아래쪽 화살표는 앞, 위쪽 화살표는 뒤, 왼쪽과 오른쪽 화살표는 옆"/>
          <p:cNvSpPr/>
          <p:nvPr/>
        </p:nvSpPr>
        <p:spPr>
          <a:xfrm>
            <a:off x="1728647" y="2871017"/>
            <a:ext cx="3002943" cy="1801766"/>
          </a:xfrm>
          <a:custGeom>
            <a:avLst/>
            <a:gdLst/>
            <a:ahLst/>
            <a:cxnLst/>
            <a:rect l="l" t="t" r="r" b="b"/>
            <a:pathLst>
              <a:path w="3002943" h="1801766">
                <a:moveTo>
                  <a:pt x="0" y="1801766"/>
                </a:moveTo>
                <a:lnTo>
                  <a:pt x="3002943" y="1801766"/>
                </a:lnTo>
                <a:lnTo>
                  <a:pt x="3002943" y="0"/>
                </a:lnTo>
                <a:lnTo>
                  <a:pt x="0" y="0"/>
                </a:lnTo>
                <a:close/>
              </a:path>
            </a:pathLst>
          </a:custGeom>
          <a:solidFill>
            <a:srgbClr val="EAF3F1"/>
          </a:solidFill>
          <a:ln w="19050">
            <a:solidFill>
              <a:srgbClr val="1F2937"/>
            </a:solidFill>
            <a:prstDash val="solid"/>
          </a:ln>
        </p:spPr>
      </p:sp>
      <p:sp>
        <p:nvSpPr>
          <p:cNvPr id="4" name="S05-mark35"/>
          <p:cNvSpPr/>
          <p:nvPr/>
        </p:nvSpPr>
        <p:spPr>
          <a:xfrm>
            <a:off x="2929824" y="4507621"/>
            <a:ext cx="600589" cy="165162"/>
          </a:xfrm>
          <a:custGeom>
            <a:avLst/>
            <a:gdLst/>
            <a:ahLst/>
            <a:cxnLst/>
            <a:rect l="l" t="t" r="r" b="b"/>
            <a:pathLst>
              <a:path w="600589" h="165162">
                <a:moveTo>
                  <a:pt x="0" y="165162"/>
                </a:moveTo>
                <a:lnTo>
                  <a:pt x="600589" y="165162"/>
                </a:lnTo>
                <a:lnTo>
                  <a:pt x="600589" y="0"/>
                </a:lnTo>
                <a:lnTo>
                  <a:pt x="0" y="0"/>
                </a:lnTo>
                <a:close/>
              </a:path>
            </a:pathLst>
          </a:custGeom>
          <a:solidFill>
            <a:srgbClr val="264653"/>
          </a:solidFill>
          <a:ln/>
        </p:spPr>
      </p:sp>
      <p:sp>
        <p:nvSpPr>
          <p:cNvPr id="5" name="S05-mark36"/>
          <p:cNvSpPr/>
          <p:nvPr/>
        </p:nvSpPr>
        <p:spPr>
          <a:xfrm>
            <a:off x="3230118" y="4785393"/>
            <a:ext cx="0" cy="525515"/>
          </a:xfrm>
          <a:prstGeom prst="line">
            <a:avLst/>
          </a:prstGeom>
          <a:noFill/>
          <a:ln w="38100">
            <a:solidFill>
              <a:srgbClr val="E9762B"/>
            </a:solidFill>
            <a:prstDash val="solid"/>
            <a:tailEnd type="triangle"/>
          </a:ln>
        </p:spPr>
      </p:sp>
      <p:sp>
        <p:nvSpPr>
          <p:cNvPr id="6" name="S05-mark37"/>
          <p:cNvSpPr/>
          <p:nvPr/>
        </p:nvSpPr>
        <p:spPr>
          <a:xfrm flipV="1">
            <a:off x="3230118" y="2232892"/>
            <a:ext cx="0" cy="525515"/>
          </a:xfrm>
          <a:prstGeom prst="line">
            <a:avLst/>
          </a:prstGeom>
          <a:noFill/>
          <a:ln w="38100">
            <a:solidFill>
              <a:srgbClr val="E9762B"/>
            </a:solidFill>
            <a:prstDash val="solid"/>
            <a:tailEnd type="triangle"/>
          </a:ln>
        </p:spPr>
      </p:sp>
      <p:sp>
        <p:nvSpPr>
          <p:cNvPr id="7" name="S05-mark38"/>
          <p:cNvSpPr/>
          <p:nvPr/>
        </p:nvSpPr>
        <p:spPr>
          <a:xfrm flipH="1">
            <a:off x="1090521" y="3771900"/>
            <a:ext cx="525515" cy="0"/>
          </a:xfrm>
          <a:prstGeom prst="line">
            <a:avLst/>
          </a:prstGeom>
          <a:noFill/>
          <a:ln w="38100">
            <a:solidFill>
              <a:srgbClr val="E9762B"/>
            </a:solidFill>
            <a:prstDash val="solid"/>
            <a:tailEnd type="triangle"/>
          </a:ln>
        </p:spPr>
      </p:sp>
      <p:sp>
        <p:nvSpPr>
          <p:cNvPr id="8" name="S05-mark39"/>
          <p:cNvSpPr/>
          <p:nvPr/>
        </p:nvSpPr>
        <p:spPr>
          <a:xfrm>
            <a:off x="4844200" y="3771900"/>
            <a:ext cx="525515" cy="0"/>
          </a:xfrm>
          <a:prstGeom prst="line">
            <a:avLst/>
          </a:prstGeom>
          <a:noFill/>
          <a:ln w="38100">
            <a:solidFill>
              <a:srgbClr val="E9762B"/>
            </a:solidFill>
            <a:prstDash val="solid"/>
            <a:tailEnd type="triangle"/>
          </a:ln>
        </p:spPr>
      </p:sp>
      <p:sp>
        <p:nvSpPr>
          <p:cNvPr id="9" name="S05-label41"/>
          <p:cNvSpPr txBox="1"/>
          <p:nvPr/>
        </p:nvSpPr>
        <p:spPr>
          <a:xfrm>
            <a:off x="2876550" y="3393716"/>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10" name="S05-label43"/>
          <p:cNvSpPr txBox="1"/>
          <p:nvPr/>
        </p:nvSpPr>
        <p:spPr>
          <a:xfrm>
            <a:off x="3025902" y="4031841"/>
            <a:ext cx="408432" cy="381000"/>
          </a:xfrm>
          <a:prstGeom prst="rect">
            <a:avLst/>
          </a:prstGeom>
          <a:noFill/>
          <a:ln/>
        </p:spPr>
        <p:txBody>
          <a:bodyPr wrap="square" lIns="0" tIns="0" rIns="0" bIns="0" rtlCol="0" anchor="ctr"/>
          <a:lstStyle/>
          <a:p>
            <a:pPr eaLnBrk="0" algn="ctr" indent="0" marL="0">
              <a:buNone/>
            </a:pPr>
            <a:r>
              <a:rPr lang="ko-KR" altLang="en-US" sz="2400" dirty="0">
                <a:solidFill>
                  <a:srgbClr val="1F2937"/>
                </a:solidFill>
                <a:latin typeface="맑은 고딕" pitchFamily="34" charset="0"/>
                <a:ea typeface="맑은 고딕" pitchFamily="34" charset="-122"/>
                <a:cs typeface="맑은 고딕" pitchFamily="34" charset="-120"/>
              </a:rPr>
              <a:t>문</a:t>
            </a:r>
            <a:endParaRPr lang="ko-KR" sz="2400" dirty="0"/>
          </a:p>
        </p:txBody>
      </p:sp>
      <p:sp>
        <p:nvSpPr>
          <p:cNvPr id="11" name="S05-label45"/>
          <p:cNvSpPr txBox="1"/>
          <p:nvPr/>
        </p:nvSpPr>
        <p:spPr>
          <a:xfrm>
            <a:off x="3025902" y="5495776"/>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앞</a:t>
            </a:r>
            <a:endParaRPr lang="ko-KR" sz="2400" dirty="0"/>
          </a:p>
        </p:txBody>
      </p:sp>
      <p:sp>
        <p:nvSpPr>
          <p:cNvPr id="12" name="S05-label47"/>
          <p:cNvSpPr txBox="1"/>
          <p:nvPr/>
        </p:nvSpPr>
        <p:spPr>
          <a:xfrm>
            <a:off x="3025902" y="1667024"/>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뒤</a:t>
            </a:r>
            <a:endParaRPr lang="ko-KR" sz="2400" dirty="0"/>
          </a:p>
        </p:txBody>
      </p:sp>
      <p:sp>
        <p:nvSpPr>
          <p:cNvPr id="13" name="S05-label49"/>
          <p:cNvSpPr txBox="1"/>
          <p:nvPr/>
        </p:nvSpPr>
        <p:spPr>
          <a:xfrm>
            <a:off x="435864" y="35814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옆</a:t>
            </a:r>
            <a:endParaRPr lang="ko-KR" sz="2400" dirty="0"/>
          </a:p>
        </p:txBody>
      </p:sp>
      <p:sp>
        <p:nvSpPr>
          <p:cNvPr id="14" name="S05-label51"/>
          <p:cNvSpPr txBox="1"/>
          <p:nvPr/>
        </p:nvSpPr>
        <p:spPr>
          <a:xfrm>
            <a:off x="5615940" y="3581400"/>
            <a:ext cx="408432"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옆</a:t>
            </a:r>
            <a:endParaRPr lang="ko-KR" sz="2400" dirty="0"/>
          </a:p>
        </p:txBody>
      </p:sp>
      <p:sp>
        <p:nvSpPr>
          <p:cNvPr id="15" name="S05-card52"/>
          <p:cNvSpPr/>
          <p:nvPr/>
        </p:nvSpPr>
        <p:spPr>
          <a:xfrm>
            <a:off x="6277356" y="2240280"/>
            <a:ext cx="5362956" cy="868680"/>
          </a:xfrm>
          <a:prstGeom prst="roundRect">
            <a:avLst>
              <a:gd name="adj" fmla="val 12632"/>
            </a:avLst>
          </a:prstGeom>
          <a:solidFill>
            <a:srgbClr val="EAF3F1"/>
          </a:solidFill>
          <a:ln w="12700">
            <a:solidFill>
              <a:srgbClr val="EAF3F1"/>
            </a:solidFill>
            <a:prstDash val="solid"/>
          </a:ln>
        </p:spPr>
      </p:sp>
      <p:sp>
        <p:nvSpPr>
          <p:cNvPr id="16" name="S05-cardtext53"/>
          <p:cNvSpPr txBox="1"/>
          <p:nvPr/>
        </p:nvSpPr>
        <p:spPr>
          <a:xfrm>
            <a:off x="6551676" y="2377440"/>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앞: 문이 있는 쪽</a:t>
            </a:r>
            <a:endParaRPr lang="ko-KR" sz="3000" dirty="0"/>
          </a:p>
        </p:txBody>
      </p:sp>
      <p:sp>
        <p:nvSpPr>
          <p:cNvPr id="17" name="S05-card54"/>
          <p:cNvSpPr/>
          <p:nvPr/>
        </p:nvSpPr>
        <p:spPr>
          <a:xfrm>
            <a:off x="6277356" y="3337560"/>
            <a:ext cx="5362956" cy="868680"/>
          </a:xfrm>
          <a:prstGeom prst="roundRect">
            <a:avLst>
              <a:gd name="adj" fmla="val 12632"/>
            </a:avLst>
          </a:prstGeom>
          <a:solidFill>
            <a:srgbClr val="EAF3F1"/>
          </a:solidFill>
          <a:ln w="12700">
            <a:solidFill>
              <a:srgbClr val="EAF3F1"/>
            </a:solidFill>
            <a:prstDash val="solid"/>
          </a:ln>
        </p:spPr>
      </p:sp>
      <p:sp>
        <p:nvSpPr>
          <p:cNvPr id="18" name="S05-cardtext55"/>
          <p:cNvSpPr txBox="1"/>
          <p:nvPr/>
        </p:nvSpPr>
        <p:spPr>
          <a:xfrm>
            <a:off x="6551676" y="3474720"/>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뒤: 앞의 반대쪽</a:t>
            </a:r>
            <a:endParaRPr lang="ko-KR" sz="3000" dirty="0"/>
          </a:p>
        </p:txBody>
      </p:sp>
      <p:sp>
        <p:nvSpPr>
          <p:cNvPr id="19" name="S05-card56"/>
          <p:cNvSpPr/>
          <p:nvPr/>
        </p:nvSpPr>
        <p:spPr>
          <a:xfrm>
            <a:off x="6277356" y="4434840"/>
            <a:ext cx="5362956" cy="868680"/>
          </a:xfrm>
          <a:prstGeom prst="roundRect">
            <a:avLst>
              <a:gd name="adj" fmla="val 12632"/>
            </a:avLst>
          </a:prstGeom>
          <a:solidFill>
            <a:srgbClr val="EAF3F1"/>
          </a:solidFill>
          <a:ln w="12700">
            <a:solidFill>
              <a:srgbClr val="EAF3F1"/>
            </a:solidFill>
            <a:prstDash val="solid"/>
          </a:ln>
        </p:spPr>
      </p:sp>
      <p:sp>
        <p:nvSpPr>
          <p:cNvPr id="20" name="S05-cardtext57"/>
          <p:cNvSpPr txBox="1"/>
          <p:nvPr/>
        </p:nvSpPr>
        <p:spPr>
          <a:xfrm>
            <a:off x="6551676" y="4572000"/>
            <a:ext cx="4814316"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옆: 왼쪽과 오른쪽</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별빛마을에서 위치 말하기</a:t>
            </a:r>
            <a:endParaRPr lang="ko-KR" sz="4000" dirty="0"/>
          </a:p>
        </p:txBody>
      </p:sp>
      <p:sp>
        <p:nvSpPr>
          <p:cNvPr id="3" name="S06-card58"/>
          <p:cNvSpPr/>
          <p:nvPr/>
        </p:nvSpPr>
        <p:spPr>
          <a:xfrm>
            <a:off x="548640" y="4959096"/>
            <a:ext cx="11091672" cy="1258824"/>
          </a:xfrm>
          <a:prstGeom prst="roundRect">
            <a:avLst>
              <a:gd name="adj" fmla="val 8717"/>
            </a:avLst>
          </a:prstGeom>
          <a:solidFill>
            <a:srgbClr val="FDEBDD"/>
          </a:solidFill>
          <a:ln w="12700">
            <a:solidFill>
              <a:srgbClr val="FDEBDD"/>
            </a:solidFill>
            <a:prstDash val="solid"/>
          </a:ln>
        </p:spPr>
      </p:sp>
      <p:sp>
        <p:nvSpPr>
          <p:cNvPr id="4" name="S06-cardtext59"/>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기준 장소 → 앞·뒤·옆 → 있어요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예: 도서관은 학교 옆에 있어요.</a:t>
            </a:r>
            <a:endParaRPr lang="ko-KR" sz="3000" dirty="0"/>
          </a:p>
        </p:txBody>
      </p:sp>
      <p:sp>
        <p:nvSpPr>
          <p:cNvPr id="5" name="S06-figure60" descr="별빛마을 그림: 가운데에 가로로 큰길이 있다. 큰길 위쪽에 왼쪽부터 도서관, 학교, 주민센터가 있고 문은 큰길 쪽이다. 학교 뒤(위쪽)에 공원이 있다. 큰길 아래쪽에 왼쪽부터 시장, 지호네, 병원이 있고 지호네는 학교 앞(길 건너)이다. 시장은 지호네 바로 옆이고 병원은 지호네에서 멀다."/>
          <p:cNvSpPr/>
          <p:nvPr/>
        </p:nvSpPr>
        <p:spPr>
          <a:xfrm>
            <a:off x="1244551" y="3149436"/>
            <a:ext cx="9699850" cy="554277"/>
          </a:xfrm>
          <a:custGeom>
            <a:avLst/>
            <a:gdLst/>
            <a:ahLst/>
            <a:cxnLst/>
            <a:rect l="l" t="t" r="r" b="b"/>
            <a:pathLst>
              <a:path w="9699850" h="554277">
                <a:moveTo>
                  <a:pt x="0" y="554277"/>
                </a:moveTo>
                <a:lnTo>
                  <a:pt x="9699850" y="554277"/>
                </a:lnTo>
                <a:lnTo>
                  <a:pt x="9699850" y="0"/>
                </a:lnTo>
                <a:lnTo>
                  <a:pt x="0" y="0"/>
                </a:lnTo>
                <a:close/>
              </a:path>
            </a:pathLst>
          </a:custGeom>
          <a:solidFill>
            <a:srgbClr val="E5E7EB"/>
          </a:solidFill>
          <a:ln/>
        </p:spPr>
      </p:sp>
      <p:sp>
        <p:nvSpPr>
          <p:cNvPr id="6" name="S06-mark61"/>
          <p:cNvSpPr/>
          <p:nvPr/>
        </p:nvSpPr>
        <p:spPr>
          <a:xfrm>
            <a:off x="1590974" y="2214093"/>
            <a:ext cx="1939970" cy="762131"/>
          </a:xfrm>
          <a:custGeom>
            <a:avLst/>
            <a:gdLst/>
            <a:ahLst/>
            <a:cxnLst/>
            <a:rect l="l" t="t" r="r" b="b"/>
            <a:pathLst>
              <a:path w="1939970" h="762131">
                <a:moveTo>
                  <a:pt x="0" y="762131"/>
                </a:moveTo>
                <a:lnTo>
                  <a:pt x="1939970" y="762131"/>
                </a:lnTo>
                <a:lnTo>
                  <a:pt x="1939970" y="0"/>
                </a:lnTo>
                <a:lnTo>
                  <a:pt x="0" y="0"/>
                </a:lnTo>
                <a:close/>
              </a:path>
            </a:pathLst>
          </a:custGeom>
          <a:solidFill>
            <a:srgbClr val="EAF3F1"/>
          </a:solidFill>
          <a:ln w="19050">
            <a:solidFill>
              <a:srgbClr val="1F2937"/>
            </a:solidFill>
            <a:prstDash val="solid"/>
          </a:ln>
        </p:spPr>
      </p:sp>
      <p:sp>
        <p:nvSpPr>
          <p:cNvPr id="7" name="S06-mark62"/>
          <p:cNvSpPr/>
          <p:nvPr/>
        </p:nvSpPr>
        <p:spPr>
          <a:xfrm>
            <a:off x="2283821" y="283765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8" name="S06-mark63"/>
          <p:cNvSpPr/>
          <p:nvPr/>
        </p:nvSpPr>
        <p:spPr>
          <a:xfrm>
            <a:off x="4431645" y="2214093"/>
            <a:ext cx="2632817" cy="762131"/>
          </a:xfrm>
          <a:custGeom>
            <a:avLst/>
            <a:gdLst/>
            <a:ahLst/>
            <a:cxnLst/>
            <a:rect l="l" t="t" r="r" b="b"/>
            <a:pathLst>
              <a:path w="2632817" h="762131">
                <a:moveTo>
                  <a:pt x="0" y="762131"/>
                </a:moveTo>
                <a:lnTo>
                  <a:pt x="2632817" y="762131"/>
                </a:lnTo>
                <a:lnTo>
                  <a:pt x="2632817" y="0"/>
                </a:lnTo>
                <a:lnTo>
                  <a:pt x="0" y="0"/>
                </a:lnTo>
                <a:close/>
              </a:path>
            </a:pathLst>
          </a:custGeom>
          <a:solidFill>
            <a:srgbClr val="EAF3F1"/>
          </a:solidFill>
          <a:ln w="19050">
            <a:solidFill>
              <a:srgbClr val="1F2937"/>
            </a:solidFill>
            <a:prstDash val="solid"/>
          </a:ln>
        </p:spPr>
      </p:sp>
      <p:sp>
        <p:nvSpPr>
          <p:cNvPr id="9" name="S06-mark64"/>
          <p:cNvSpPr/>
          <p:nvPr/>
        </p:nvSpPr>
        <p:spPr>
          <a:xfrm>
            <a:off x="5470914" y="283765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0" name="S06-mark65"/>
          <p:cNvSpPr/>
          <p:nvPr/>
        </p:nvSpPr>
        <p:spPr>
          <a:xfrm>
            <a:off x="7965161" y="2214093"/>
            <a:ext cx="2494247" cy="762131"/>
          </a:xfrm>
          <a:custGeom>
            <a:avLst/>
            <a:gdLst/>
            <a:ahLst/>
            <a:cxnLst/>
            <a:rect l="l" t="t" r="r" b="b"/>
            <a:pathLst>
              <a:path w="2494247" h="762131">
                <a:moveTo>
                  <a:pt x="0" y="762131"/>
                </a:moveTo>
                <a:lnTo>
                  <a:pt x="2494247" y="762131"/>
                </a:lnTo>
                <a:lnTo>
                  <a:pt x="2494247" y="0"/>
                </a:lnTo>
                <a:lnTo>
                  <a:pt x="0" y="0"/>
                </a:lnTo>
                <a:close/>
              </a:path>
            </a:pathLst>
          </a:custGeom>
          <a:solidFill>
            <a:srgbClr val="EAF3F1"/>
          </a:solidFill>
          <a:ln w="19050">
            <a:solidFill>
              <a:srgbClr val="1F2937"/>
            </a:solidFill>
            <a:prstDash val="solid"/>
          </a:ln>
        </p:spPr>
      </p:sp>
      <p:sp>
        <p:nvSpPr>
          <p:cNvPr id="11" name="S06-mark66"/>
          <p:cNvSpPr/>
          <p:nvPr/>
        </p:nvSpPr>
        <p:spPr>
          <a:xfrm>
            <a:off x="8935146" y="283765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2" name="S06-mark67"/>
          <p:cNvSpPr/>
          <p:nvPr/>
        </p:nvSpPr>
        <p:spPr>
          <a:xfrm>
            <a:off x="4431645" y="1417320"/>
            <a:ext cx="2632817" cy="623562"/>
          </a:xfrm>
          <a:custGeom>
            <a:avLst/>
            <a:gdLst/>
            <a:ahLst/>
            <a:cxnLst/>
            <a:rect l="l" t="t" r="r" b="b"/>
            <a:pathLst>
              <a:path w="2632817" h="623562">
                <a:moveTo>
                  <a:pt x="0" y="623562"/>
                </a:moveTo>
                <a:lnTo>
                  <a:pt x="2632817" y="623562"/>
                </a:lnTo>
                <a:lnTo>
                  <a:pt x="2632817" y="0"/>
                </a:lnTo>
                <a:lnTo>
                  <a:pt x="0" y="0"/>
                </a:lnTo>
                <a:close/>
              </a:path>
            </a:pathLst>
          </a:custGeom>
          <a:solidFill>
            <a:srgbClr val="D9EFD3"/>
          </a:solidFill>
          <a:ln w="19050">
            <a:solidFill>
              <a:srgbClr val="1F2937"/>
            </a:solidFill>
            <a:prstDash val="solid"/>
          </a:ln>
        </p:spPr>
      </p:sp>
      <p:sp>
        <p:nvSpPr>
          <p:cNvPr id="13" name="S06-mark68"/>
          <p:cNvSpPr/>
          <p:nvPr/>
        </p:nvSpPr>
        <p:spPr>
          <a:xfrm>
            <a:off x="2768813" y="3876925"/>
            <a:ext cx="1939970" cy="762131"/>
          </a:xfrm>
          <a:custGeom>
            <a:avLst/>
            <a:gdLst/>
            <a:ahLst/>
            <a:cxnLst/>
            <a:rect l="l" t="t" r="r" b="b"/>
            <a:pathLst>
              <a:path w="1939970" h="762131">
                <a:moveTo>
                  <a:pt x="0" y="762131"/>
                </a:moveTo>
                <a:lnTo>
                  <a:pt x="1939970" y="762131"/>
                </a:lnTo>
                <a:lnTo>
                  <a:pt x="1939970" y="0"/>
                </a:lnTo>
                <a:lnTo>
                  <a:pt x="0" y="0"/>
                </a:lnTo>
                <a:close/>
              </a:path>
            </a:pathLst>
          </a:custGeom>
          <a:solidFill>
            <a:srgbClr val="EAF3F1"/>
          </a:solidFill>
          <a:ln w="19050">
            <a:solidFill>
              <a:srgbClr val="1F2937"/>
            </a:solidFill>
            <a:prstDash val="solid"/>
          </a:ln>
        </p:spPr>
      </p:sp>
      <p:sp>
        <p:nvSpPr>
          <p:cNvPr id="14" name="S06-mark69"/>
          <p:cNvSpPr/>
          <p:nvPr/>
        </p:nvSpPr>
        <p:spPr>
          <a:xfrm>
            <a:off x="3461659" y="387692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5" name="S06-mark70"/>
          <p:cNvSpPr/>
          <p:nvPr/>
        </p:nvSpPr>
        <p:spPr>
          <a:xfrm>
            <a:off x="4985922" y="3876925"/>
            <a:ext cx="1524262" cy="762131"/>
          </a:xfrm>
          <a:custGeom>
            <a:avLst/>
            <a:gdLst/>
            <a:ahLst/>
            <a:cxnLst/>
            <a:rect l="l" t="t" r="r" b="b"/>
            <a:pathLst>
              <a:path w="1524262" h="762131">
                <a:moveTo>
                  <a:pt x="0" y="762131"/>
                </a:moveTo>
                <a:lnTo>
                  <a:pt x="1524262" y="762131"/>
                </a:lnTo>
                <a:lnTo>
                  <a:pt x="1524262" y="0"/>
                </a:lnTo>
                <a:lnTo>
                  <a:pt x="0" y="0"/>
                </a:lnTo>
                <a:close/>
              </a:path>
            </a:pathLst>
          </a:custGeom>
          <a:solidFill>
            <a:srgbClr val="EAF3F1"/>
          </a:solidFill>
          <a:ln w="19050">
            <a:solidFill>
              <a:srgbClr val="1F2937"/>
            </a:solidFill>
            <a:prstDash val="solid"/>
          </a:ln>
        </p:spPr>
      </p:sp>
      <p:sp>
        <p:nvSpPr>
          <p:cNvPr id="16" name="S06-mark71"/>
          <p:cNvSpPr/>
          <p:nvPr/>
        </p:nvSpPr>
        <p:spPr>
          <a:xfrm>
            <a:off x="5470914" y="387692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7" name="S06-mark72"/>
          <p:cNvSpPr/>
          <p:nvPr/>
        </p:nvSpPr>
        <p:spPr>
          <a:xfrm>
            <a:off x="8450154" y="3876925"/>
            <a:ext cx="1939970" cy="762131"/>
          </a:xfrm>
          <a:custGeom>
            <a:avLst/>
            <a:gdLst/>
            <a:ahLst/>
            <a:cxnLst/>
            <a:rect l="l" t="t" r="r" b="b"/>
            <a:pathLst>
              <a:path w="1939970" h="762131">
                <a:moveTo>
                  <a:pt x="0" y="762131"/>
                </a:moveTo>
                <a:lnTo>
                  <a:pt x="1939970" y="762131"/>
                </a:lnTo>
                <a:lnTo>
                  <a:pt x="1939970" y="0"/>
                </a:lnTo>
                <a:lnTo>
                  <a:pt x="0" y="0"/>
                </a:lnTo>
                <a:close/>
              </a:path>
            </a:pathLst>
          </a:custGeom>
          <a:solidFill>
            <a:srgbClr val="EAF3F1"/>
          </a:solidFill>
          <a:ln w="19050">
            <a:solidFill>
              <a:srgbClr val="1F2937"/>
            </a:solidFill>
            <a:prstDash val="solid"/>
          </a:ln>
        </p:spPr>
      </p:sp>
      <p:sp>
        <p:nvSpPr>
          <p:cNvPr id="18" name="S06-mark73"/>
          <p:cNvSpPr/>
          <p:nvPr/>
        </p:nvSpPr>
        <p:spPr>
          <a:xfrm>
            <a:off x="9143000" y="3876925"/>
            <a:ext cx="554277" cy="138569"/>
          </a:xfrm>
          <a:custGeom>
            <a:avLst/>
            <a:gdLst/>
            <a:ahLst/>
            <a:cxnLst/>
            <a:rect l="l" t="t" r="r" b="b"/>
            <a:pathLst>
              <a:path w="554277" h="138569">
                <a:moveTo>
                  <a:pt x="0" y="138569"/>
                </a:moveTo>
                <a:lnTo>
                  <a:pt x="554277" y="138569"/>
                </a:lnTo>
                <a:lnTo>
                  <a:pt x="554277" y="0"/>
                </a:lnTo>
                <a:lnTo>
                  <a:pt x="0" y="0"/>
                </a:lnTo>
                <a:close/>
              </a:path>
            </a:pathLst>
          </a:custGeom>
          <a:solidFill>
            <a:srgbClr val="264653"/>
          </a:solidFill>
          <a:ln/>
        </p:spPr>
      </p:sp>
      <p:sp>
        <p:nvSpPr>
          <p:cNvPr id="19" name="S06-label75"/>
          <p:cNvSpPr txBox="1"/>
          <p:nvPr/>
        </p:nvSpPr>
        <p:spPr>
          <a:xfrm>
            <a:off x="2058039" y="2404659"/>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20" name="S06-label77"/>
          <p:cNvSpPr txBox="1"/>
          <p:nvPr/>
        </p:nvSpPr>
        <p:spPr>
          <a:xfrm>
            <a:off x="5394485" y="240465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21" name="S06-label79"/>
          <p:cNvSpPr txBox="1"/>
          <p:nvPr/>
        </p:nvSpPr>
        <p:spPr>
          <a:xfrm>
            <a:off x="8560013" y="2404659"/>
            <a:ext cx="1304544"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22" name="S06-label81"/>
          <p:cNvSpPr txBox="1"/>
          <p:nvPr/>
        </p:nvSpPr>
        <p:spPr>
          <a:xfrm>
            <a:off x="5394485" y="1538601"/>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23" name="S06-label83"/>
          <p:cNvSpPr txBox="1"/>
          <p:nvPr/>
        </p:nvSpPr>
        <p:spPr>
          <a:xfrm>
            <a:off x="3385230" y="406749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24" name="S06-label85"/>
          <p:cNvSpPr txBox="1"/>
          <p:nvPr/>
        </p:nvSpPr>
        <p:spPr>
          <a:xfrm>
            <a:off x="5245133" y="4067490"/>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지호네</a:t>
            </a:r>
            <a:endParaRPr lang="ko-KR" sz="2400" dirty="0"/>
          </a:p>
        </p:txBody>
      </p:sp>
      <p:sp>
        <p:nvSpPr>
          <p:cNvPr id="25" name="S06-label87"/>
          <p:cNvSpPr txBox="1"/>
          <p:nvPr/>
        </p:nvSpPr>
        <p:spPr>
          <a:xfrm>
            <a:off x="9066571" y="4067490"/>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26" name="S06-label89"/>
          <p:cNvSpPr txBox="1"/>
          <p:nvPr/>
        </p:nvSpPr>
        <p:spPr>
          <a:xfrm>
            <a:off x="9967271" y="3236075"/>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4B5563"/>
                </a:solidFill>
                <a:latin typeface="맑은 고딕" pitchFamily="34" charset="0"/>
                <a:ea typeface="맑은 고딕" pitchFamily="34" charset="-122"/>
                <a:cs typeface="맑은 고딕" pitchFamily="34" charset="-120"/>
              </a:rPr>
              <a:t>큰길</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별빛마을 위치 말하기</a:t>
            </a:r>
            <a:endParaRPr lang="ko-KR" sz="4000" dirty="0"/>
          </a:p>
        </p:txBody>
      </p:sp>
      <p:sp>
        <p:nvSpPr>
          <p:cNvPr id="3" name="S07-card90"/>
          <p:cNvSpPr/>
          <p:nvPr/>
        </p:nvSpPr>
        <p:spPr>
          <a:xfrm>
            <a:off x="548640" y="4494276"/>
            <a:ext cx="11091672" cy="1723644"/>
          </a:xfrm>
          <a:prstGeom prst="roundRect">
            <a:avLst>
              <a:gd name="adj" fmla="val 6366"/>
            </a:avLst>
          </a:prstGeom>
          <a:solidFill>
            <a:srgbClr val="FDEBDD"/>
          </a:solidFill>
          <a:ln w="12700">
            <a:solidFill>
              <a:srgbClr val="FDEBDD"/>
            </a:solidFill>
            <a:prstDash val="solid"/>
          </a:ln>
        </p:spPr>
      </p:sp>
      <p:sp>
        <p:nvSpPr>
          <p:cNvPr id="4" name="S07-cardtext91"/>
          <p:cNvSpPr txBox="1"/>
          <p:nvPr/>
        </p:nvSpPr>
        <p:spPr>
          <a:xfrm>
            <a:off x="822960" y="4631436"/>
            <a:ext cx="10543032"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① 공원은 학교의 어디에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② 병원은 주민센터의 어디에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③ 시장과 병원 중 지호네에서 먼 곳은?</a:t>
            </a:r>
            <a:endParaRPr lang="ko-KR" sz="3000" dirty="0"/>
          </a:p>
        </p:txBody>
      </p:sp>
      <p:sp>
        <p:nvSpPr>
          <p:cNvPr id="5" name="S07-figure92" descr="별빛마을 그림: 가운데에 가로로 큰길이 있다. 큰길 위쪽에 왼쪽부터 도서관, 학교, 주민센터가 있고 문은 큰길 쪽이다. 학교 뒤(위쪽)에 공원이 있다. 큰길 아래쪽에 왼쪽부터 시장, 지호네, 병원이 있고 지호네는 학교 앞(길 건너)이다. 시장은 지호네 바로 옆이고 병원은 지호네에서 멀다."/>
          <p:cNvSpPr/>
          <p:nvPr/>
        </p:nvSpPr>
        <p:spPr>
          <a:xfrm>
            <a:off x="1944280" y="2899533"/>
            <a:ext cx="8300392" cy="474308"/>
          </a:xfrm>
          <a:custGeom>
            <a:avLst/>
            <a:gdLst/>
            <a:ahLst/>
            <a:cxnLst/>
            <a:rect l="l" t="t" r="r" b="b"/>
            <a:pathLst>
              <a:path w="8300392" h="474308">
                <a:moveTo>
                  <a:pt x="0" y="474308"/>
                </a:moveTo>
                <a:lnTo>
                  <a:pt x="8300392" y="474308"/>
                </a:lnTo>
                <a:lnTo>
                  <a:pt x="8300392" y="0"/>
                </a:lnTo>
                <a:lnTo>
                  <a:pt x="0" y="0"/>
                </a:lnTo>
                <a:close/>
              </a:path>
            </a:pathLst>
          </a:custGeom>
          <a:solidFill>
            <a:srgbClr val="E5E7EB"/>
          </a:solidFill>
          <a:ln/>
        </p:spPr>
      </p:sp>
      <p:sp>
        <p:nvSpPr>
          <p:cNvPr id="6" name="S07-mark93"/>
          <p:cNvSpPr/>
          <p:nvPr/>
        </p:nvSpPr>
        <p:spPr>
          <a:xfrm>
            <a:off x="2240722" y="2099138"/>
            <a:ext cx="1660078" cy="652174"/>
          </a:xfrm>
          <a:custGeom>
            <a:avLst/>
            <a:gdLst/>
            <a:ahLst/>
            <a:cxnLst/>
            <a:rect l="l" t="t" r="r" b="b"/>
            <a:pathLst>
              <a:path w="1660078" h="652174">
                <a:moveTo>
                  <a:pt x="0" y="652174"/>
                </a:moveTo>
                <a:lnTo>
                  <a:pt x="1660078" y="652174"/>
                </a:lnTo>
                <a:lnTo>
                  <a:pt x="1660078" y="0"/>
                </a:lnTo>
                <a:lnTo>
                  <a:pt x="0" y="0"/>
                </a:lnTo>
                <a:close/>
              </a:path>
            </a:pathLst>
          </a:custGeom>
          <a:solidFill>
            <a:srgbClr val="EAF3F1"/>
          </a:solidFill>
          <a:ln w="19050">
            <a:solidFill>
              <a:srgbClr val="1F2937"/>
            </a:solidFill>
            <a:prstDash val="solid"/>
          </a:ln>
        </p:spPr>
      </p:sp>
      <p:sp>
        <p:nvSpPr>
          <p:cNvPr id="7" name="S07-mark94"/>
          <p:cNvSpPr/>
          <p:nvPr/>
        </p:nvSpPr>
        <p:spPr>
          <a:xfrm>
            <a:off x="2833608" y="2632735"/>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8" name="S07-mark95"/>
          <p:cNvSpPr/>
          <p:nvPr/>
        </p:nvSpPr>
        <p:spPr>
          <a:xfrm>
            <a:off x="4671552" y="2099138"/>
            <a:ext cx="2252964" cy="652174"/>
          </a:xfrm>
          <a:custGeom>
            <a:avLst/>
            <a:gdLst/>
            <a:ahLst/>
            <a:cxnLst/>
            <a:rect l="l" t="t" r="r" b="b"/>
            <a:pathLst>
              <a:path w="2252964" h="652174">
                <a:moveTo>
                  <a:pt x="0" y="652174"/>
                </a:moveTo>
                <a:lnTo>
                  <a:pt x="2252964" y="652174"/>
                </a:lnTo>
                <a:lnTo>
                  <a:pt x="2252964" y="0"/>
                </a:lnTo>
                <a:lnTo>
                  <a:pt x="0" y="0"/>
                </a:lnTo>
                <a:close/>
              </a:path>
            </a:pathLst>
          </a:custGeom>
          <a:solidFill>
            <a:srgbClr val="EAF3F1"/>
          </a:solidFill>
          <a:ln w="19050">
            <a:solidFill>
              <a:srgbClr val="1F2937"/>
            </a:solidFill>
            <a:prstDash val="solid"/>
          </a:ln>
        </p:spPr>
      </p:sp>
      <p:sp>
        <p:nvSpPr>
          <p:cNvPr id="9" name="S07-mark96"/>
          <p:cNvSpPr/>
          <p:nvPr/>
        </p:nvSpPr>
        <p:spPr>
          <a:xfrm>
            <a:off x="5560879" y="2632735"/>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0" name="S07-mark97"/>
          <p:cNvSpPr/>
          <p:nvPr/>
        </p:nvSpPr>
        <p:spPr>
          <a:xfrm>
            <a:off x="7695266" y="2099138"/>
            <a:ext cx="2134387" cy="652174"/>
          </a:xfrm>
          <a:custGeom>
            <a:avLst/>
            <a:gdLst/>
            <a:ahLst/>
            <a:cxnLst/>
            <a:rect l="l" t="t" r="r" b="b"/>
            <a:pathLst>
              <a:path w="2134387" h="652174">
                <a:moveTo>
                  <a:pt x="0" y="652174"/>
                </a:moveTo>
                <a:lnTo>
                  <a:pt x="2134387" y="652174"/>
                </a:lnTo>
                <a:lnTo>
                  <a:pt x="2134387" y="0"/>
                </a:lnTo>
                <a:lnTo>
                  <a:pt x="0" y="0"/>
                </a:lnTo>
                <a:close/>
              </a:path>
            </a:pathLst>
          </a:custGeom>
          <a:solidFill>
            <a:srgbClr val="EAF3F1"/>
          </a:solidFill>
          <a:ln w="19050">
            <a:solidFill>
              <a:srgbClr val="1F2937"/>
            </a:solidFill>
            <a:prstDash val="solid"/>
          </a:ln>
        </p:spPr>
      </p:sp>
      <p:sp>
        <p:nvSpPr>
          <p:cNvPr id="11" name="S07-mark98"/>
          <p:cNvSpPr/>
          <p:nvPr/>
        </p:nvSpPr>
        <p:spPr>
          <a:xfrm>
            <a:off x="8525305" y="2632735"/>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2" name="S07-mark99"/>
          <p:cNvSpPr/>
          <p:nvPr/>
        </p:nvSpPr>
        <p:spPr>
          <a:xfrm>
            <a:off x="4671552" y="1417320"/>
            <a:ext cx="2252964" cy="533597"/>
          </a:xfrm>
          <a:custGeom>
            <a:avLst/>
            <a:gdLst/>
            <a:ahLst/>
            <a:cxnLst/>
            <a:rect l="l" t="t" r="r" b="b"/>
            <a:pathLst>
              <a:path w="2252964" h="533597">
                <a:moveTo>
                  <a:pt x="0" y="533597"/>
                </a:moveTo>
                <a:lnTo>
                  <a:pt x="2252964" y="533597"/>
                </a:lnTo>
                <a:lnTo>
                  <a:pt x="2252964" y="0"/>
                </a:lnTo>
                <a:lnTo>
                  <a:pt x="0" y="0"/>
                </a:lnTo>
                <a:close/>
              </a:path>
            </a:pathLst>
          </a:custGeom>
          <a:solidFill>
            <a:srgbClr val="D9EFD3"/>
          </a:solidFill>
          <a:ln w="19050">
            <a:solidFill>
              <a:srgbClr val="1F2937"/>
            </a:solidFill>
            <a:prstDash val="solid"/>
          </a:ln>
        </p:spPr>
      </p:sp>
      <p:sp>
        <p:nvSpPr>
          <p:cNvPr id="13" name="S07-mark100"/>
          <p:cNvSpPr/>
          <p:nvPr/>
        </p:nvSpPr>
        <p:spPr>
          <a:xfrm>
            <a:off x="3248627" y="3522062"/>
            <a:ext cx="1660078" cy="652174"/>
          </a:xfrm>
          <a:custGeom>
            <a:avLst/>
            <a:gdLst/>
            <a:ahLst/>
            <a:cxnLst/>
            <a:rect l="l" t="t" r="r" b="b"/>
            <a:pathLst>
              <a:path w="1660078" h="652174">
                <a:moveTo>
                  <a:pt x="0" y="652174"/>
                </a:moveTo>
                <a:lnTo>
                  <a:pt x="1660078" y="652174"/>
                </a:lnTo>
                <a:lnTo>
                  <a:pt x="1660078" y="0"/>
                </a:lnTo>
                <a:lnTo>
                  <a:pt x="0" y="0"/>
                </a:lnTo>
                <a:close/>
              </a:path>
            </a:pathLst>
          </a:custGeom>
          <a:solidFill>
            <a:srgbClr val="EAF3F1"/>
          </a:solidFill>
          <a:ln w="19050">
            <a:solidFill>
              <a:srgbClr val="1F2937"/>
            </a:solidFill>
            <a:prstDash val="solid"/>
          </a:ln>
        </p:spPr>
      </p:sp>
      <p:sp>
        <p:nvSpPr>
          <p:cNvPr id="14" name="S07-mark101"/>
          <p:cNvSpPr/>
          <p:nvPr/>
        </p:nvSpPr>
        <p:spPr>
          <a:xfrm>
            <a:off x="3841512" y="3522062"/>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5" name="S07-mark102"/>
          <p:cNvSpPr/>
          <p:nvPr/>
        </p:nvSpPr>
        <p:spPr>
          <a:xfrm>
            <a:off x="5145860" y="3522062"/>
            <a:ext cx="1304347" cy="652174"/>
          </a:xfrm>
          <a:custGeom>
            <a:avLst/>
            <a:gdLst/>
            <a:ahLst/>
            <a:cxnLst/>
            <a:rect l="l" t="t" r="r" b="b"/>
            <a:pathLst>
              <a:path w="1304347" h="652174">
                <a:moveTo>
                  <a:pt x="0" y="652174"/>
                </a:moveTo>
                <a:lnTo>
                  <a:pt x="1304347" y="652174"/>
                </a:lnTo>
                <a:lnTo>
                  <a:pt x="1304347" y="0"/>
                </a:lnTo>
                <a:lnTo>
                  <a:pt x="0" y="0"/>
                </a:lnTo>
                <a:close/>
              </a:path>
            </a:pathLst>
          </a:custGeom>
          <a:solidFill>
            <a:srgbClr val="EAF3F1"/>
          </a:solidFill>
          <a:ln w="19050">
            <a:solidFill>
              <a:srgbClr val="1F2937"/>
            </a:solidFill>
            <a:prstDash val="solid"/>
          </a:ln>
        </p:spPr>
      </p:sp>
      <p:sp>
        <p:nvSpPr>
          <p:cNvPr id="16" name="S07-mark103"/>
          <p:cNvSpPr/>
          <p:nvPr/>
        </p:nvSpPr>
        <p:spPr>
          <a:xfrm>
            <a:off x="5560879" y="3522062"/>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7" name="S07-mark104"/>
          <p:cNvSpPr/>
          <p:nvPr/>
        </p:nvSpPr>
        <p:spPr>
          <a:xfrm>
            <a:off x="8110286" y="3522062"/>
            <a:ext cx="1660078" cy="652174"/>
          </a:xfrm>
          <a:custGeom>
            <a:avLst/>
            <a:gdLst/>
            <a:ahLst/>
            <a:cxnLst/>
            <a:rect l="l" t="t" r="r" b="b"/>
            <a:pathLst>
              <a:path w="1660078" h="652174">
                <a:moveTo>
                  <a:pt x="0" y="652174"/>
                </a:moveTo>
                <a:lnTo>
                  <a:pt x="1660078" y="652174"/>
                </a:lnTo>
                <a:lnTo>
                  <a:pt x="1660078" y="0"/>
                </a:lnTo>
                <a:lnTo>
                  <a:pt x="0" y="0"/>
                </a:lnTo>
                <a:close/>
              </a:path>
            </a:pathLst>
          </a:custGeom>
          <a:solidFill>
            <a:srgbClr val="EAF3F1"/>
          </a:solidFill>
          <a:ln w="19050">
            <a:solidFill>
              <a:srgbClr val="1F2937"/>
            </a:solidFill>
            <a:prstDash val="solid"/>
          </a:ln>
        </p:spPr>
      </p:sp>
      <p:sp>
        <p:nvSpPr>
          <p:cNvPr id="18" name="S07-mark105"/>
          <p:cNvSpPr/>
          <p:nvPr/>
        </p:nvSpPr>
        <p:spPr>
          <a:xfrm>
            <a:off x="8703171" y="3522062"/>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9" name="S07-label107"/>
          <p:cNvSpPr txBox="1"/>
          <p:nvPr/>
        </p:nvSpPr>
        <p:spPr>
          <a:xfrm>
            <a:off x="2567842" y="2234725"/>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20" name="S07-label109"/>
          <p:cNvSpPr txBox="1"/>
          <p:nvPr/>
        </p:nvSpPr>
        <p:spPr>
          <a:xfrm>
            <a:off x="5444465" y="2234725"/>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21" name="S07-label111"/>
          <p:cNvSpPr txBox="1"/>
          <p:nvPr/>
        </p:nvSpPr>
        <p:spPr>
          <a:xfrm>
            <a:off x="8110187" y="2234725"/>
            <a:ext cx="1304544"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주민센터</a:t>
            </a:r>
            <a:endParaRPr lang="ko-KR" sz="2400" dirty="0"/>
          </a:p>
        </p:txBody>
      </p:sp>
      <p:sp>
        <p:nvSpPr>
          <p:cNvPr id="22" name="S07-label113"/>
          <p:cNvSpPr txBox="1"/>
          <p:nvPr/>
        </p:nvSpPr>
        <p:spPr>
          <a:xfrm>
            <a:off x="5444465" y="149361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23" name="S07-label115"/>
          <p:cNvSpPr txBox="1"/>
          <p:nvPr/>
        </p:nvSpPr>
        <p:spPr>
          <a:xfrm>
            <a:off x="3725098" y="365764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24" name="S07-label117"/>
          <p:cNvSpPr txBox="1"/>
          <p:nvPr/>
        </p:nvSpPr>
        <p:spPr>
          <a:xfrm>
            <a:off x="5295113" y="3657649"/>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지호네</a:t>
            </a:r>
            <a:endParaRPr lang="ko-KR" sz="2400" dirty="0"/>
          </a:p>
        </p:txBody>
      </p:sp>
      <p:sp>
        <p:nvSpPr>
          <p:cNvPr id="25" name="S07-label119"/>
          <p:cNvSpPr txBox="1"/>
          <p:nvPr/>
        </p:nvSpPr>
        <p:spPr>
          <a:xfrm>
            <a:off x="8586757" y="365764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26" name="S07-label121"/>
          <p:cNvSpPr txBox="1"/>
          <p:nvPr/>
        </p:nvSpPr>
        <p:spPr>
          <a:xfrm>
            <a:off x="9357507" y="2946187"/>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4B5563"/>
                </a:solidFill>
                <a:latin typeface="맑은 고딕" pitchFamily="34" charset="0"/>
                <a:ea typeface="맑은 고딕" pitchFamily="34" charset="-122"/>
                <a:cs typeface="맑은 고딕" pitchFamily="34" charset="-120"/>
              </a:rPr>
              <a:t>큰길</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누가 더 잘 알려 줬나요?</a:t>
            </a:r>
            <a:endParaRPr lang="ko-KR" sz="4000" dirty="0"/>
          </a:p>
        </p:txBody>
      </p:sp>
      <p:sp>
        <p:nvSpPr>
          <p:cNvPr id="3" name="S08-card122"/>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8-cardtext123"/>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“도서관은 어디에 있어?” 두 친구가 알려 줬어요.</a:t>
            </a:r>
            <a:endParaRPr lang="ko-KR" sz="3000" dirty="0"/>
          </a:p>
        </p:txBody>
      </p:sp>
      <p:sp>
        <p:nvSpPr>
          <p:cNvPr id="5" name="S08-card12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8-cardtext12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누구의 말을 듣고 찾기 쉬울까요? 왜 그럴까요?</a:t>
            </a:r>
            <a:endParaRPr lang="ko-KR" sz="3000" dirty="0"/>
          </a:p>
        </p:txBody>
      </p:sp>
      <p:sp>
        <p:nvSpPr>
          <p:cNvPr id="7" name="S08-chip126"/>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8" name="S08-text127"/>
          <p:cNvSpPr txBox="1"/>
          <p:nvPr/>
        </p:nvSpPr>
        <p:spPr>
          <a:xfrm>
            <a:off x="548640"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도서관은</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옆에 있어요.</a:t>
            </a:r>
            <a:endParaRPr lang="ko-KR" sz="3000" dirty="0"/>
          </a:p>
        </p:txBody>
      </p:sp>
      <p:sp>
        <p:nvSpPr>
          <p:cNvPr id="9" name="S08-chip128"/>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10" name="S08-text129"/>
          <p:cNvSpPr txBox="1"/>
          <p:nvPr/>
        </p:nvSpPr>
        <p:spPr>
          <a:xfrm>
            <a:off x="6277356" y="3154680"/>
            <a:ext cx="5362956" cy="196596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도서관은</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학교 옆에 있어요.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 ①</a:t>
            </a:r>
            <a:endParaRPr lang="ko-KR" sz="4000" dirty="0"/>
          </a:p>
        </p:txBody>
      </p:sp>
      <p:sp>
        <p:nvSpPr>
          <p:cNvPr id="3" name="S09-text130"/>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장소를 고르고 까닭도 말해요.</a:t>
            </a:r>
            <a:endParaRPr lang="ko-KR" sz="3000" dirty="0"/>
          </a:p>
        </p:txBody>
      </p:sp>
      <p:sp>
        <p:nvSpPr>
          <p:cNvPr id="4" name="S09-card131"/>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9-cardtext13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학교 · 시장 · 공원 · 도서관 · 주민센터 · 병원</a:t>
            </a:r>
            <a:endParaRPr lang="ko-KR" sz="3000" dirty="0"/>
          </a:p>
        </p:txBody>
      </p:sp>
      <p:sp>
        <p:nvSpPr>
          <p:cNvPr id="6" name="S09-chip133"/>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9-text134"/>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넘어져서 무릎이 아파요.</a:t>
            </a:r>
            <a:endParaRPr lang="ko-KR" sz="3000" dirty="0"/>
          </a:p>
        </p:txBody>
      </p:sp>
      <p:sp>
        <p:nvSpPr>
          <p:cNvPr id="8" name="S09-chip135"/>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9-text136"/>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옛날이야기 책을 빌려요.</a:t>
            </a:r>
            <a:endParaRPr lang="ko-KR" sz="3000" dirty="0"/>
          </a:p>
        </p:txBody>
      </p:sp>
      <p:sp>
        <p:nvSpPr>
          <p:cNvPr id="10" name="S09-chip137"/>
          <p:cNvSpPr txBox="1"/>
          <p:nvPr/>
        </p:nvSpPr>
        <p:spPr>
          <a:xfrm>
            <a:off x="548640"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9-text138"/>
          <p:cNvSpPr txBox="1"/>
          <p:nvPr/>
        </p:nvSpPr>
        <p:spPr>
          <a:xfrm>
            <a:off x="1344168" y="365760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할머니께 드릴 과일을 사요.</a:t>
            </a:r>
            <a:endParaRPr lang="ko-KR" sz="3000" dirty="0"/>
          </a:p>
        </p:txBody>
      </p:sp>
      <p:sp>
        <p:nvSpPr>
          <p:cNvPr id="12" name="S09-chip139"/>
          <p:cNvSpPr txBox="1"/>
          <p:nvPr/>
        </p:nvSpPr>
        <p:spPr>
          <a:xfrm>
            <a:off x="6277356"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④</a:t>
            </a:r>
            <a:endParaRPr lang="ko-KR" sz="2400" dirty="0"/>
          </a:p>
        </p:txBody>
      </p:sp>
      <p:sp>
        <p:nvSpPr>
          <p:cNvPr id="13" name="S09-text140"/>
          <p:cNvSpPr txBox="1"/>
          <p:nvPr/>
        </p:nvSpPr>
        <p:spPr>
          <a:xfrm>
            <a:off x="7072884" y="365760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엄마가 필요한 서류를 떼요.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햇살마을 위치 말하기</a:t>
            </a:r>
            <a:endParaRPr lang="ko-KR" sz="4000" dirty="0"/>
          </a:p>
        </p:txBody>
      </p:sp>
      <p:sp>
        <p:nvSpPr>
          <p:cNvPr id="3" name="S10-card141"/>
          <p:cNvSpPr/>
          <p:nvPr/>
        </p:nvSpPr>
        <p:spPr>
          <a:xfrm>
            <a:off x="548640" y="4494276"/>
            <a:ext cx="11091672" cy="1723644"/>
          </a:xfrm>
          <a:prstGeom prst="roundRect">
            <a:avLst>
              <a:gd name="adj" fmla="val 6366"/>
            </a:avLst>
          </a:prstGeom>
          <a:solidFill>
            <a:srgbClr val="FDEBDD"/>
          </a:solidFill>
          <a:ln w="12700">
            <a:solidFill>
              <a:srgbClr val="FDEBDD"/>
            </a:solidFill>
            <a:prstDash val="solid"/>
          </a:ln>
        </p:spPr>
      </p:sp>
      <p:sp>
        <p:nvSpPr>
          <p:cNvPr id="4" name="S10-cardtext142"/>
          <p:cNvSpPr txBox="1"/>
          <p:nvPr/>
        </p:nvSpPr>
        <p:spPr>
          <a:xfrm>
            <a:off x="822960" y="4631436"/>
            <a:ext cx="10543032" cy="144932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① 도서관은 학교의 어디에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② 공원은 학교의 어디에 있나요?</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③ 병원과 시장 중 서아네에서 가까운 곳은?</a:t>
            </a:r>
            <a:endParaRPr lang="ko-KR" sz="3000" dirty="0"/>
          </a:p>
        </p:txBody>
      </p:sp>
      <p:sp>
        <p:nvSpPr>
          <p:cNvPr id="5" name="S10-figure143" descr="햇살마을 그림: 가운데에 가로로 큰길이 있다. 큰길 위쪽에 학교와 그 오른쪽 옆에 도서관이 있고, 학교 뒤에 공원이 있다. 큰길 아래쪽에 서아네(학교 앞), 서아네 바로 옆에 병원, 오른쪽 끝 멀리 시장이 있다."/>
          <p:cNvSpPr/>
          <p:nvPr/>
        </p:nvSpPr>
        <p:spPr>
          <a:xfrm>
            <a:off x="1944280" y="2899533"/>
            <a:ext cx="8300392" cy="474308"/>
          </a:xfrm>
          <a:custGeom>
            <a:avLst/>
            <a:gdLst/>
            <a:ahLst/>
            <a:cxnLst/>
            <a:rect l="l" t="t" r="r" b="b"/>
            <a:pathLst>
              <a:path w="8300392" h="474308">
                <a:moveTo>
                  <a:pt x="0" y="474308"/>
                </a:moveTo>
                <a:lnTo>
                  <a:pt x="8300392" y="474308"/>
                </a:lnTo>
                <a:lnTo>
                  <a:pt x="8300392" y="0"/>
                </a:lnTo>
                <a:lnTo>
                  <a:pt x="0" y="0"/>
                </a:lnTo>
                <a:close/>
              </a:path>
            </a:pathLst>
          </a:custGeom>
          <a:solidFill>
            <a:srgbClr val="E5E7EB"/>
          </a:solidFill>
          <a:ln/>
        </p:spPr>
      </p:sp>
      <p:sp>
        <p:nvSpPr>
          <p:cNvPr id="6" name="S10-mark144"/>
          <p:cNvSpPr/>
          <p:nvPr/>
        </p:nvSpPr>
        <p:spPr>
          <a:xfrm>
            <a:off x="2240722" y="2099138"/>
            <a:ext cx="2252964" cy="652174"/>
          </a:xfrm>
          <a:custGeom>
            <a:avLst/>
            <a:gdLst/>
            <a:ahLst/>
            <a:cxnLst/>
            <a:rect l="l" t="t" r="r" b="b"/>
            <a:pathLst>
              <a:path w="2252964" h="652174">
                <a:moveTo>
                  <a:pt x="0" y="652174"/>
                </a:moveTo>
                <a:lnTo>
                  <a:pt x="2252964" y="652174"/>
                </a:lnTo>
                <a:lnTo>
                  <a:pt x="2252964" y="0"/>
                </a:lnTo>
                <a:lnTo>
                  <a:pt x="0" y="0"/>
                </a:lnTo>
                <a:close/>
              </a:path>
            </a:pathLst>
          </a:custGeom>
          <a:solidFill>
            <a:srgbClr val="EAF3F1"/>
          </a:solidFill>
          <a:ln w="19050">
            <a:solidFill>
              <a:srgbClr val="1F2937"/>
            </a:solidFill>
            <a:prstDash val="solid"/>
          </a:ln>
        </p:spPr>
      </p:sp>
      <p:sp>
        <p:nvSpPr>
          <p:cNvPr id="7" name="S10-mark145"/>
          <p:cNvSpPr/>
          <p:nvPr/>
        </p:nvSpPr>
        <p:spPr>
          <a:xfrm>
            <a:off x="3130050" y="2632735"/>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8" name="S10-mark146"/>
          <p:cNvSpPr/>
          <p:nvPr/>
        </p:nvSpPr>
        <p:spPr>
          <a:xfrm>
            <a:off x="4730840" y="2099138"/>
            <a:ext cx="1660078" cy="652174"/>
          </a:xfrm>
          <a:custGeom>
            <a:avLst/>
            <a:gdLst/>
            <a:ahLst/>
            <a:cxnLst/>
            <a:rect l="l" t="t" r="r" b="b"/>
            <a:pathLst>
              <a:path w="1660078" h="652174">
                <a:moveTo>
                  <a:pt x="0" y="652174"/>
                </a:moveTo>
                <a:lnTo>
                  <a:pt x="1660078" y="652174"/>
                </a:lnTo>
                <a:lnTo>
                  <a:pt x="1660078" y="0"/>
                </a:lnTo>
                <a:lnTo>
                  <a:pt x="0" y="0"/>
                </a:lnTo>
                <a:close/>
              </a:path>
            </a:pathLst>
          </a:custGeom>
          <a:solidFill>
            <a:srgbClr val="EAF3F1"/>
          </a:solidFill>
          <a:ln w="19050">
            <a:solidFill>
              <a:srgbClr val="1F2937"/>
            </a:solidFill>
            <a:prstDash val="solid"/>
          </a:ln>
        </p:spPr>
      </p:sp>
      <p:sp>
        <p:nvSpPr>
          <p:cNvPr id="9" name="S10-mark147"/>
          <p:cNvSpPr/>
          <p:nvPr/>
        </p:nvSpPr>
        <p:spPr>
          <a:xfrm>
            <a:off x="5323725" y="2632735"/>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0" name="S10-mark148"/>
          <p:cNvSpPr/>
          <p:nvPr/>
        </p:nvSpPr>
        <p:spPr>
          <a:xfrm>
            <a:off x="2240722" y="1417320"/>
            <a:ext cx="2252964" cy="533597"/>
          </a:xfrm>
          <a:custGeom>
            <a:avLst/>
            <a:gdLst/>
            <a:ahLst/>
            <a:cxnLst/>
            <a:rect l="l" t="t" r="r" b="b"/>
            <a:pathLst>
              <a:path w="2252964" h="533597">
                <a:moveTo>
                  <a:pt x="0" y="533597"/>
                </a:moveTo>
                <a:lnTo>
                  <a:pt x="2252964" y="533597"/>
                </a:lnTo>
                <a:lnTo>
                  <a:pt x="2252964" y="0"/>
                </a:lnTo>
                <a:lnTo>
                  <a:pt x="0" y="0"/>
                </a:lnTo>
                <a:close/>
              </a:path>
            </a:pathLst>
          </a:custGeom>
          <a:solidFill>
            <a:srgbClr val="D9EFD3"/>
          </a:solidFill>
          <a:ln w="19050">
            <a:solidFill>
              <a:srgbClr val="1F2937"/>
            </a:solidFill>
            <a:prstDash val="solid"/>
          </a:ln>
        </p:spPr>
      </p:sp>
      <p:sp>
        <p:nvSpPr>
          <p:cNvPr id="11" name="S10-mark149"/>
          <p:cNvSpPr/>
          <p:nvPr/>
        </p:nvSpPr>
        <p:spPr>
          <a:xfrm>
            <a:off x="2715031" y="3522062"/>
            <a:ext cx="1304347" cy="652174"/>
          </a:xfrm>
          <a:custGeom>
            <a:avLst/>
            <a:gdLst/>
            <a:ahLst/>
            <a:cxnLst/>
            <a:rect l="l" t="t" r="r" b="b"/>
            <a:pathLst>
              <a:path w="1304347" h="652174">
                <a:moveTo>
                  <a:pt x="0" y="652174"/>
                </a:moveTo>
                <a:lnTo>
                  <a:pt x="1304347" y="652174"/>
                </a:lnTo>
                <a:lnTo>
                  <a:pt x="1304347" y="0"/>
                </a:lnTo>
                <a:lnTo>
                  <a:pt x="0" y="0"/>
                </a:lnTo>
                <a:close/>
              </a:path>
            </a:pathLst>
          </a:custGeom>
          <a:solidFill>
            <a:srgbClr val="EAF3F1"/>
          </a:solidFill>
          <a:ln w="19050">
            <a:solidFill>
              <a:srgbClr val="1F2937"/>
            </a:solidFill>
            <a:prstDash val="solid"/>
          </a:ln>
        </p:spPr>
      </p:sp>
      <p:sp>
        <p:nvSpPr>
          <p:cNvPr id="12" name="S10-mark150"/>
          <p:cNvSpPr/>
          <p:nvPr/>
        </p:nvSpPr>
        <p:spPr>
          <a:xfrm>
            <a:off x="3130050" y="3522062"/>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3" name="S10-mark151"/>
          <p:cNvSpPr/>
          <p:nvPr/>
        </p:nvSpPr>
        <p:spPr>
          <a:xfrm>
            <a:off x="4256532" y="3522062"/>
            <a:ext cx="1660078" cy="652174"/>
          </a:xfrm>
          <a:custGeom>
            <a:avLst/>
            <a:gdLst/>
            <a:ahLst/>
            <a:cxnLst/>
            <a:rect l="l" t="t" r="r" b="b"/>
            <a:pathLst>
              <a:path w="1660078" h="652174">
                <a:moveTo>
                  <a:pt x="0" y="652174"/>
                </a:moveTo>
                <a:lnTo>
                  <a:pt x="1660078" y="652174"/>
                </a:lnTo>
                <a:lnTo>
                  <a:pt x="1660078" y="0"/>
                </a:lnTo>
                <a:lnTo>
                  <a:pt x="0" y="0"/>
                </a:lnTo>
                <a:close/>
              </a:path>
            </a:pathLst>
          </a:custGeom>
          <a:solidFill>
            <a:srgbClr val="EAF3F1"/>
          </a:solidFill>
          <a:ln w="19050">
            <a:solidFill>
              <a:srgbClr val="1F2937"/>
            </a:solidFill>
            <a:prstDash val="solid"/>
          </a:ln>
        </p:spPr>
      </p:sp>
      <p:sp>
        <p:nvSpPr>
          <p:cNvPr id="14" name="S10-mark152"/>
          <p:cNvSpPr/>
          <p:nvPr/>
        </p:nvSpPr>
        <p:spPr>
          <a:xfrm>
            <a:off x="4849417" y="3522062"/>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5" name="S10-mark153"/>
          <p:cNvSpPr/>
          <p:nvPr/>
        </p:nvSpPr>
        <p:spPr>
          <a:xfrm>
            <a:off x="8110286" y="3522062"/>
            <a:ext cx="1660078" cy="652174"/>
          </a:xfrm>
          <a:custGeom>
            <a:avLst/>
            <a:gdLst/>
            <a:ahLst/>
            <a:cxnLst/>
            <a:rect l="l" t="t" r="r" b="b"/>
            <a:pathLst>
              <a:path w="1660078" h="652174">
                <a:moveTo>
                  <a:pt x="0" y="652174"/>
                </a:moveTo>
                <a:lnTo>
                  <a:pt x="1660078" y="652174"/>
                </a:lnTo>
                <a:lnTo>
                  <a:pt x="1660078" y="0"/>
                </a:lnTo>
                <a:lnTo>
                  <a:pt x="0" y="0"/>
                </a:lnTo>
                <a:close/>
              </a:path>
            </a:pathLst>
          </a:custGeom>
          <a:solidFill>
            <a:srgbClr val="EAF3F1"/>
          </a:solidFill>
          <a:ln w="19050">
            <a:solidFill>
              <a:srgbClr val="1F2937"/>
            </a:solidFill>
            <a:prstDash val="solid"/>
          </a:ln>
        </p:spPr>
      </p:sp>
      <p:sp>
        <p:nvSpPr>
          <p:cNvPr id="16" name="S10-mark154"/>
          <p:cNvSpPr/>
          <p:nvPr/>
        </p:nvSpPr>
        <p:spPr>
          <a:xfrm>
            <a:off x="8703171" y="3522062"/>
            <a:ext cx="474308" cy="118577"/>
          </a:xfrm>
          <a:custGeom>
            <a:avLst/>
            <a:gdLst/>
            <a:ahLst/>
            <a:cxnLst/>
            <a:rect l="l" t="t" r="r" b="b"/>
            <a:pathLst>
              <a:path w="474308" h="118577">
                <a:moveTo>
                  <a:pt x="0" y="118577"/>
                </a:moveTo>
                <a:lnTo>
                  <a:pt x="474308" y="118577"/>
                </a:lnTo>
                <a:lnTo>
                  <a:pt x="474308" y="0"/>
                </a:lnTo>
                <a:lnTo>
                  <a:pt x="0" y="0"/>
                </a:lnTo>
                <a:close/>
              </a:path>
            </a:pathLst>
          </a:custGeom>
          <a:solidFill>
            <a:srgbClr val="264653"/>
          </a:solidFill>
          <a:ln/>
        </p:spPr>
      </p:sp>
      <p:sp>
        <p:nvSpPr>
          <p:cNvPr id="17" name="S10-label156"/>
          <p:cNvSpPr txBox="1"/>
          <p:nvPr/>
        </p:nvSpPr>
        <p:spPr>
          <a:xfrm>
            <a:off x="3013636" y="2234725"/>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학교</a:t>
            </a:r>
            <a:endParaRPr lang="ko-KR" sz="2400" dirty="0"/>
          </a:p>
        </p:txBody>
      </p:sp>
      <p:sp>
        <p:nvSpPr>
          <p:cNvPr id="18" name="S10-label158"/>
          <p:cNvSpPr txBox="1"/>
          <p:nvPr/>
        </p:nvSpPr>
        <p:spPr>
          <a:xfrm>
            <a:off x="5057959" y="2234725"/>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도서관</a:t>
            </a:r>
            <a:endParaRPr lang="ko-KR" sz="2400" dirty="0"/>
          </a:p>
        </p:txBody>
      </p:sp>
      <p:sp>
        <p:nvSpPr>
          <p:cNvPr id="19" name="S10-label160"/>
          <p:cNvSpPr txBox="1"/>
          <p:nvPr/>
        </p:nvSpPr>
        <p:spPr>
          <a:xfrm>
            <a:off x="3013636" y="1493618"/>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공원</a:t>
            </a:r>
            <a:endParaRPr lang="ko-KR" sz="2400" dirty="0"/>
          </a:p>
        </p:txBody>
      </p:sp>
      <p:sp>
        <p:nvSpPr>
          <p:cNvPr id="20" name="S10-label162"/>
          <p:cNvSpPr txBox="1"/>
          <p:nvPr/>
        </p:nvSpPr>
        <p:spPr>
          <a:xfrm>
            <a:off x="2864284" y="3657649"/>
            <a:ext cx="1005840"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서아네</a:t>
            </a:r>
            <a:endParaRPr lang="ko-KR" sz="2400" dirty="0"/>
          </a:p>
        </p:txBody>
      </p:sp>
      <p:sp>
        <p:nvSpPr>
          <p:cNvPr id="21" name="S10-label164"/>
          <p:cNvSpPr txBox="1"/>
          <p:nvPr/>
        </p:nvSpPr>
        <p:spPr>
          <a:xfrm>
            <a:off x="4733003" y="365764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병원</a:t>
            </a:r>
            <a:endParaRPr lang="ko-KR" sz="2400" dirty="0"/>
          </a:p>
        </p:txBody>
      </p:sp>
      <p:sp>
        <p:nvSpPr>
          <p:cNvPr id="22" name="S10-label166"/>
          <p:cNvSpPr txBox="1"/>
          <p:nvPr/>
        </p:nvSpPr>
        <p:spPr>
          <a:xfrm>
            <a:off x="8586757" y="3657649"/>
            <a:ext cx="707136" cy="38100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시장</a:t>
            </a:r>
            <a:endParaRPr lang="ko-KR" sz="2400" dirty="0"/>
          </a:p>
        </p:txBody>
      </p:sp>
      <p:sp>
        <p:nvSpPr>
          <p:cNvPr id="23" name="S10-label168"/>
          <p:cNvSpPr txBox="1"/>
          <p:nvPr/>
        </p:nvSpPr>
        <p:spPr>
          <a:xfrm>
            <a:off x="9357507" y="2946187"/>
            <a:ext cx="707136" cy="381000"/>
          </a:xfrm>
          <a:prstGeom prst="rect">
            <a:avLst/>
          </a:prstGeom>
          <a:noFill/>
          <a:ln/>
        </p:spPr>
        <p:txBody>
          <a:bodyPr wrap="square" lIns="0" tIns="0" rIns="0" bIns="0" rtlCol="0" anchor="ctr"/>
          <a:lstStyle/>
          <a:p>
            <a:pPr eaLnBrk="0" algn="ctr" indent="0" marL="0">
              <a:buNone/>
            </a:pPr>
            <a:r>
              <a:rPr lang="ko-KR" altLang="en-US" sz="2400" dirty="0">
                <a:solidFill>
                  <a:srgbClr val="4B5563"/>
                </a:solidFill>
                <a:latin typeface="맑은 고딕" pitchFamily="34" charset="0"/>
                <a:ea typeface="맑은 고딕" pitchFamily="34" charset="-122"/>
                <a:cs typeface="맑은 고딕" pitchFamily="34" charset="-120"/>
              </a:rPr>
              <a:t>큰길</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우리 고장을 조사하는 방법</a:t>
            </a:r>
            <a:endParaRPr lang="ko-KR" sz="4000" dirty="0"/>
          </a:p>
        </p:txBody>
      </p:sp>
      <p:sp>
        <p:nvSpPr>
          <p:cNvPr id="3" name="S12-card16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2-cardtext17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알아낸 것은 바로 기록표에 적어요.</a:t>
            </a:r>
            <a:endParaRPr lang="ko-KR" sz="3000" dirty="0"/>
          </a:p>
        </p:txBody>
      </p:sp>
      <p:sp>
        <p:nvSpPr>
          <p:cNvPr id="5" name="S12-card171"/>
          <p:cNvSpPr/>
          <p:nvPr/>
        </p:nvSpPr>
        <p:spPr>
          <a:xfrm>
            <a:off x="548640" y="2125980"/>
            <a:ext cx="3544824" cy="2194560"/>
          </a:xfrm>
          <a:prstGeom prst="roundRect">
            <a:avLst>
              <a:gd name="adj" fmla="val 5000"/>
            </a:avLst>
          </a:prstGeom>
          <a:solidFill>
            <a:srgbClr val="EAF3F1"/>
          </a:solidFill>
          <a:ln w="12700">
            <a:solidFill>
              <a:srgbClr val="EAF3F1"/>
            </a:solidFill>
            <a:prstDash val="solid"/>
          </a:ln>
        </p:spPr>
      </p:sp>
      <p:sp>
        <p:nvSpPr>
          <p:cNvPr id="6" name="S12-cardtext172"/>
          <p:cNvSpPr txBox="1"/>
          <p:nvPr/>
        </p:nvSpPr>
        <p:spPr>
          <a:xfrm>
            <a:off x="822960" y="2263140"/>
            <a:ext cx="2996184" cy="192024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① 직접 가 보기</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어른과 함께 걸으며 장소와 위치를 살펴요.</a:t>
            </a:r>
            <a:endParaRPr lang="ko-KR" sz="3000" dirty="0"/>
          </a:p>
        </p:txBody>
      </p:sp>
      <p:sp>
        <p:nvSpPr>
          <p:cNvPr id="7" name="S12-card173"/>
          <p:cNvSpPr/>
          <p:nvPr/>
        </p:nvSpPr>
        <p:spPr>
          <a:xfrm>
            <a:off x="4322064" y="2125980"/>
            <a:ext cx="3544824" cy="2194560"/>
          </a:xfrm>
          <a:prstGeom prst="roundRect">
            <a:avLst>
              <a:gd name="adj" fmla="val 5000"/>
            </a:avLst>
          </a:prstGeom>
          <a:solidFill>
            <a:srgbClr val="EAF3F1"/>
          </a:solidFill>
          <a:ln w="12700">
            <a:solidFill>
              <a:srgbClr val="EAF3F1"/>
            </a:solidFill>
            <a:prstDash val="solid"/>
          </a:ln>
        </p:spPr>
      </p:sp>
      <p:sp>
        <p:nvSpPr>
          <p:cNvPr id="8" name="S12-cardtext174"/>
          <p:cNvSpPr txBox="1"/>
          <p:nvPr/>
        </p:nvSpPr>
        <p:spPr>
          <a:xfrm>
            <a:off x="4596384" y="2263140"/>
            <a:ext cx="2996184" cy="192024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② 지도 앱 보기</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휴대 전화 지도 앱에서 장소를 찾아요.</a:t>
            </a:r>
            <a:endParaRPr lang="ko-KR" sz="3000" dirty="0"/>
          </a:p>
        </p:txBody>
      </p:sp>
      <p:sp>
        <p:nvSpPr>
          <p:cNvPr id="9" name="S12-card175"/>
          <p:cNvSpPr/>
          <p:nvPr/>
        </p:nvSpPr>
        <p:spPr>
          <a:xfrm>
            <a:off x="8095488" y="2125980"/>
            <a:ext cx="3544824" cy="2194560"/>
          </a:xfrm>
          <a:prstGeom prst="roundRect">
            <a:avLst>
              <a:gd name="adj" fmla="val 5000"/>
            </a:avLst>
          </a:prstGeom>
          <a:solidFill>
            <a:srgbClr val="EAF3F1"/>
          </a:solidFill>
          <a:ln w="12700">
            <a:solidFill>
              <a:srgbClr val="EAF3F1"/>
            </a:solidFill>
            <a:prstDash val="solid"/>
          </a:ln>
        </p:spPr>
      </p:sp>
      <p:sp>
        <p:nvSpPr>
          <p:cNvPr id="10" name="S12-cardtext176"/>
          <p:cNvSpPr txBox="1"/>
          <p:nvPr/>
        </p:nvSpPr>
        <p:spPr>
          <a:xfrm>
            <a:off x="8369808" y="2263140"/>
            <a:ext cx="2996184" cy="192024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③ 어른께 여쭈기</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이웃 어른께 장소가 하는 일을 여쭈어요.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어떤 방법이 좋을까요?</a:t>
            </a:r>
            <a:endParaRPr lang="ko-KR" sz="4000" dirty="0"/>
          </a:p>
        </p:txBody>
      </p:sp>
      <p:sp>
        <p:nvSpPr>
          <p:cNvPr id="3" name="S13-text17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알고 싶은 것에 맞는 방법을 골라요.</a:t>
            </a:r>
            <a:endParaRPr lang="ko-KR" sz="3000" dirty="0"/>
          </a:p>
        </p:txBody>
      </p:sp>
      <p:sp>
        <p:nvSpPr>
          <p:cNvPr id="4" name="S13-card178"/>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13-cardtext17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직접 가 보기 · 지도 앱 보기 · 어른께 여쭈기</a:t>
            </a:r>
            <a:endParaRPr lang="ko-KR" sz="3000" dirty="0"/>
          </a:p>
        </p:txBody>
      </p:sp>
      <p:sp>
        <p:nvSpPr>
          <p:cNvPr id="6" name="S13-chip180"/>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13-text181"/>
          <p:cNvSpPr txBox="1"/>
          <p:nvPr/>
        </p:nvSpPr>
        <p:spPr>
          <a:xfrm>
            <a:off x="1344168" y="201168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집에서 공원까지 몇 분 걸릴까?</a:t>
            </a:r>
            <a:endParaRPr lang="ko-KR" sz="3000" dirty="0"/>
          </a:p>
        </p:txBody>
      </p:sp>
      <p:sp>
        <p:nvSpPr>
          <p:cNvPr id="8" name="S13-chip182"/>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13-text183"/>
          <p:cNvSpPr txBox="1"/>
          <p:nvPr/>
        </p:nvSpPr>
        <p:spPr>
          <a:xfrm>
            <a:off x="1344168" y="310896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시장은 옛날에 어땠을까?</a:t>
            </a:r>
            <a:endParaRPr lang="ko-KR" sz="3000" dirty="0"/>
          </a:p>
        </p:txBody>
      </p:sp>
      <p:sp>
        <p:nvSpPr>
          <p:cNvPr id="10" name="S13-chip184"/>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13-text185"/>
          <p:cNvSpPr txBox="1"/>
          <p:nvPr/>
        </p:nvSpPr>
        <p:spPr>
          <a:xfrm>
            <a:off x="1344168" y="420624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집에서 가까운 병원은 어디일까?</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우리 고장 조사 계획</a:t>
            </a:r>
            <a:endParaRPr lang="ko-KR" sz="4000" dirty="0"/>
          </a:p>
        </p:txBody>
      </p:sp>
      <p:sp>
        <p:nvSpPr>
          <p:cNvPr id="3" name="S14-card186"/>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4-cardtext18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안전: 길을 다닐 때는 꼭 어른과 함께해요.</a:t>
            </a:r>
            <a:endParaRPr lang="ko-KR" sz="3000" dirty="0"/>
          </a:p>
        </p:txBody>
      </p:sp>
      <p:sp>
        <p:nvSpPr>
          <p:cNvPr id="5" name="S14-card188"/>
          <p:cNvSpPr/>
          <p:nvPr/>
        </p:nvSpPr>
        <p:spPr>
          <a:xfrm>
            <a:off x="6813652" y="1325880"/>
            <a:ext cx="4826660" cy="3794760"/>
          </a:xfrm>
          <a:prstGeom prst="roundRect">
            <a:avLst>
              <a:gd name="adj" fmla="val 2892"/>
            </a:avLst>
          </a:prstGeom>
          <a:solidFill>
            <a:srgbClr val="EAF3F1"/>
          </a:solidFill>
          <a:ln w="12700">
            <a:solidFill>
              <a:srgbClr val="EAF3F1"/>
            </a:solidFill>
            <a:prstDash val="solid"/>
          </a:ln>
        </p:spPr>
      </p:sp>
      <p:sp>
        <p:nvSpPr>
          <p:cNvPr id="6" name="S14-cardtext189"/>
          <p:cNvSpPr txBox="1"/>
          <p:nvPr/>
        </p:nvSpPr>
        <p:spPr>
          <a:xfrm>
            <a:off x="7087972" y="1463040"/>
            <a:ext cx="4278020" cy="3520440"/>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1F2937"/>
                </a:solidFill>
                <a:latin typeface="맑은 고딕" pitchFamily="34" charset="0"/>
                <a:ea typeface="맑은 고딕" pitchFamily="34" charset="-122"/>
                <a:cs typeface="맑은 고딕" pitchFamily="34" charset="-120"/>
              </a:rPr>
              <a:t>이렇게 하면 잘한 거예요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장소 세 곳을 정했어요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조사 방법을 골랐어요</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 기준을 넣어 위치를 말했어요</a:t>
            </a:r>
            <a:endParaRPr lang="ko-KR" sz="3000" dirty="0"/>
          </a:p>
        </p:txBody>
      </p:sp>
      <p:sp>
        <p:nvSpPr>
          <p:cNvPr id="7" name="S14-stepno190"/>
          <p:cNvSpPr txBox="1"/>
          <p:nvPr/>
        </p:nvSpPr>
        <p:spPr>
          <a:xfrm>
            <a:off x="548640" y="168859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8" name="S14-text191"/>
          <p:cNvSpPr txBox="1"/>
          <p:nvPr/>
        </p:nvSpPr>
        <p:spPr>
          <a:xfrm>
            <a:off x="1325880" y="1688592"/>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조사할 장소 세 곳을 정해요.</a:t>
            </a:r>
            <a:endParaRPr lang="ko-KR" sz="3000" dirty="0"/>
          </a:p>
        </p:txBody>
      </p:sp>
      <p:sp>
        <p:nvSpPr>
          <p:cNvPr id="9" name="S14-stepno192"/>
          <p:cNvSpPr txBox="1"/>
          <p:nvPr/>
        </p:nvSpPr>
        <p:spPr>
          <a:xfrm>
            <a:off x="548640" y="240182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10" name="S14-text193"/>
          <p:cNvSpPr txBox="1"/>
          <p:nvPr/>
        </p:nvSpPr>
        <p:spPr>
          <a:xfrm>
            <a:off x="1325880" y="2401824"/>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장소마다 조사 방법을 골라요.</a:t>
            </a:r>
            <a:endParaRPr lang="ko-KR" sz="3000" dirty="0"/>
          </a:p>
        </p:txBody>
      </p:sp>
      <p:sp>
        <p:nvSpPr>
          <p:cNvPr id="11" name="S14-stepno194"/>
          <p:cNvSpPr txBox="1"/>
          <p:nvPr/>
        </p:nvSpPr>
        <p:spPr>
          <a:xfrm>
            <a:off x="548640" y="316077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12" name="S14-text195"/>
          <p:cNvSpPr txBox="1"/>
          <p:nvPr/>
        </p:nvSpPr>
        <p:spPr>
          <a:xfrm>
            <a:off x="1325880" y="3115056"/>
            <a:ext cx="5122012"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우리 집에서 가까울지 멀지 짐작해요.</a:t>
            </a:r>
            <a:endParaRPr lang="ko-KR" sz="3000" dirty="0"/>
          </a:p>
        </p:txBody>
      </p:sp>
      <p:sp>
        <p:nvSpPr>
          <p:cNvPr id="13" name="S14-stepno196"/>
          <p:cNvSpPr txBox="1"/>
          <p:nvPr/>
        </p:nvSpPr>
        <p:spPr>
          <a:xfrm>
            <a:off x="548640" y="420928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14" name="S14-text197"/>
          <p:cNvSpPr txBox="1"/>
          <p:nvPr/>
        </p:nvSpPr>
        <p:spPr>
          <a:xfrm>
            <a:off x="1325880" y="4209288"/>
            <a:ext cx="5122012"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조사한 날, 기록표에 적어요.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5-card198"/>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5-cardtext199"/>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위치를 말할 때는 기준 장소를 먼저 말하고</a:t>
            </a:r>
            <a:endParaRPr lang="ko-KR" sz="3000" dirty="0"/>
          </a:p>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앞·뒤·옆, 가까이·멀리를 써요.</a:t>
            </a:r>
            <a:endParaRPr lang="ko-KR" sz="3000" dirty="0"/>
          </a:p>
        </p:txBody>
      </p:sp>
      <p:sp>
        <p:nvSpPr>
          <p:cNvPr id="5" name="S15-chip200"/>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기준 장소 먼저 말하기</a:t>
            </a:r>
            <a:endParaRPr lang="ko-KR" sz="2400" dirty="0"/>
          </a:p>
        </p:txBody>
      </p:sp>
      <p:sp>
        <p:nvSpPr>
          <p:cNvPr id="6" name="S15-chip201"/>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“옆에 있어요.”만 말하기</a:t>
            </a:r>
            <a:endParaRPr lang="ko-KR" sz="2400" dirty="0"/>
          </a:p>
        </p:txBody>
      </p:sp>
      <p:sp>
        <p:nvSpPr>
          <p:cNvPr id="7" name="S15-text202"/>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5-text203"/>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아플 때 가는</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장소는?</a:t>
            </a:r>
            <a:endParaRPr lang="ko-KR" sz="2400" dirty="0"/>
          </a:p>
        </p:txBody>
      </p:sp>
      <p:sp>
        <p:nvSpPr>
          <p:cNvPr id="9" name="S15-text204"/>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건물의 앞은</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어느 쪽?</a:t>
            </a:r>
            <a:endParaRPr lang="ko-KR" sz="2400" dirty="0"/>
          </a:p>
        </p:txBody>
      </p:sp>
      <p:sp>
        <p:nvSpPr>
          <p:cNvPr id="10" name="S15-text205"/>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위치를 말할 때</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먼저 말할 것은?</a:t>
            </a:r>
            <a:endParaRPr lang="ko-KR" sz="2400" dirty="0"/>
          </a:p>
        </p:txBody>
      </p:sp>
      <p:sp>
        <p:nvSpPr>
          <p:cNvPr id="11" name="S15-text206"/>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그림과 기호로 나타내기</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내 몸으로 앞·뒤·옆</a:t>
            </a:r>
            <a:endParaRPr lang="ko-KR" sz="4000" dirty="0"/>
          </a:p>
        </p:txBody>
      </p:sp>
      <p:sp>
        <p:nvSpPr>
          <p:cNvPr id="3" name="S16-text20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엄마(아빠)와 같은 쪽을 보고 서서 말해요.</a:t>
            </a:r>
            <a:endParaRPr lang="ko-KR" sz="3000" dirty="0"/>
          </a:p>
        </p:txBody>
      </p:sp>
      <p:sp>
        <p:nvSpPr>
          <p:cNvPr id="4" name="S16-card20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16-cardtext20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기준(나, 소파)을 먼저 정하고 말해요.</a:t>
            </a:r>
            <a:endParaRPr lang="ko-KR" sz="3000" dirty="0"/>
          </a:p>
        </p:txBody>
      </p:sp>
      <p:sp>
        <p:nvSpPr>
          <p:cNvPr id="6" name="S16-card210"/>
          <p:cNvSpPr/>
          <p:nvPr/>
        </p:nvSpPr>
        <p:spPr>
          <a:xfrm>
            <a:off x="548640" y="2034540"/>
            <a:ext cx="11091672" cy="868680"/>
          </a:xfrm>
          <a:prstGeom prst="roundRect">
            <a:avLst>
              <a:gd name="adj" fmla="val 12632"/>
            </a:avLst>
          </a:prstGeom>
          <a:solidFill>
            <a:srgbClr val="EAF3F1"/>
          </a:solidFill>
          <a:ln w="12700">
            <a:solidFill>
              <a:srgbClr val="EAF3F1"/>
            </a:solidFill>
            <a:prstDash val="solid"/>
          </a:ln>
        </p:spPr>
      </p:sp>
      <p:sp>
        <p:nvSpPr>
          <p:cNvPr id="7" name="S16-cardtext211"/>
          <p:cNvSpPr txBox="1"/>
          <p:nvPr/>
        </p:nvSpPr>
        <p:spPr>
          <a:xfrm>
            <a:off x="822960" y="21717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내 앞에 있는 물건은?</a:t>
            </a:r>
            <a:endParaRPr lang="ko-KR" sz="3000" dirty="0"/>
          </a:p>
        </p:txBody>
      </p:sp>
      <p:sp>
        <p:nvSpPr>
          <p:cNvPr id="8" name="S16-card212"/>
          <p:cNvSpPr/>
          <p:nvPr/>
        </p:nvSpPr>
        <p:spPr>
          <a:xfrm>
            <a:off x="548640" y="3131820"/>
            <a:ext cx="11091672" cy="868680"/>
          </a:xfrm>
          <a:prstGeom prst="roundRect">
            <a:avLst>
              <a:gd name="adj" fmla="val 12632"/>
            </a:avLst>
          </a:prstGeom>
          <a:solidFill>
            <a:srgbClr val="EAF3F1"/>
          </a:solidFill>
          <a:ln w="12700">
            <a:solidFill>
              <a:srgbClr val="EAF3F1"/>
            </a:solidFill>
            <a:prstDash val="solid"/>
          </a:ln>
        </p:spPr>
      </p:sp>
      <p:sp>
        <p:nvSpPr>
          <p:cNvPr id="9" name="S16-cardtext213"/>
          <p:cNvSpPr txBox="1"/>
          <p:nvPr/>
        </p:nvSpPr>
        <p:spPr>
          <a:xfrm>
            <a:off x="822960" y="326898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내 뒤에 있는 물건은?</a:t>
            </a:r>
            <a:endParaRPr lang="ko-KR" sz="3000" dirty="0"/>
          </a:p>
        </p:txBody>
      </p:sp>
      <p:sp>
        <p:nvSpPr>
          <p:cNvPr id="10" name="S16-card214"/>
          <p:cNvSpPr/>
          <p:nvPr/>
        </p:nvSpPr>
        <p:spPr>
          <a:xfrm>
            <a:off x="548640" y="4229100"/>
            <a:ext cx="11091672" cy="868680"/>
          </a:xfrm>
          <a:prstGeom prst="roundRect">
            <a:avLst>
              <a:gd name="adj" fmla="val 12632"/>
            </a:avLst>
          </a:prstGeom>
          <a:solidFill>
            <a:srgbClr val="EAF3F1"/>
          </a:solidFill>
          <a:ln w="12700">
            <a:solidFill>
              <a:srgbClr val="EAF3F1"/>
            </a:solidFill>
            <a:prstDash val="solid"/>
          </a:ln>
        </p:spPr>
      </p:sp>
      <p:sp>
        <p:nvSpPr>
          <p:cNvPr id="11" name="S16-cardtext215"/>
          <p:cNvSpPr txBox="1"/>
          <p:nvPr/>
        </p:nvSpPr>
        <p:spPr>
          <a:xfrm>
            <a:off x="822960" y="436626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소파(책상) 옆에 있는 것은?</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초3 사회·역사 우리 고장의 장소</dc:title>
  <dc:subject>KR22-G03-SOC-PLACES-L01</dc:subject>
  <dc:creator>education-ppt</dc:creator>
  <cp:lastModifiedBy>education-ppt</cp:lastModifiedBy>
  <cp:revision>1</cp:revision>
  <dcterms:created xsi:type="dcterms:W3CDTF">2026-10-26T09:28:13Z</dcterms:created>
  <dcterms:modified xsi:type="dcterms:W3CDTF">2026-10-26T09:28:13Z</dcterms:modified>
</cp:coreProperties>
</file>