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03f9be3-e701-57ba-3f1b-374ca4852570}">
          <p14:sldIdLst>
            <p14:sldId id="256"/>
            <p14:sldId id="257"/>
          </p14:sldIdLst>
        </p14:section>
        <p14:section name="개념" id="{657a4288-1fa8-ee92-da66-b76942a44bcb}">
          <p14:sldIdLst>
            <p14:sldId id="258"/>
            <p14:sldId id="260"/>
            <p14:sldId id="261"/>
            <p14:sldId id="266"/>
          </p14:sldIdLst>
        </p14:section>
        <p14:section name="연습" id="{20a69d3a-bba1-6c6c-c524-05c0c87fcae1}">
          <p14:sldIdLst>
            <p14:sldId id="259"/>
            <p14:sldId id="262"/>
            <p14:sldId id="263"/>
            <p14:sldId id="267"/>
          </p14:sldIdLst>
        </p14:section>
        <p14:section name="개념" id="{09e3bd43-674e-d608-b8a1-4c5181617ae0}">
          <p14:sldIdLst/>
        </p14:section>
        <p14:section name="연습" id="{43252bbe-7cf4-a21d-75a7-3def39c34d6c}">
          <p14:sldIdLst/>
        </p14:section>
        <p14:section name="확인" id="{4b1b439f-0fab-772c-9155-17138b7cb7db}">
          <p14:sldIdLst>
            <p14:sldId id="264"/>
            <p14:sldId id="265"/>
            <p14:sldId id="268"/>
          </p14:sldIdLst>
        </p14:section>
        <p14:section name="개념" id="{f9896a76-bd6b-ecf7-188a-1c694800e735}">
          <p14:sldIdLst/>
        </p14:section>
        <p14:section name="연습" id="{b7f7209f-4bfd-4c7a-684a-7024c3684dfb}">
          <p14:sldIdLst/>
        </p14:section>
        <p14:section name="확인" id="{1f803c42-46f3-acb4-8930-cda6643488f7}">
          <p14:sldIdLst/>
        </p14:section>
        <p14:section name="정리" id="{a2cccf04-43d1-93e7-b0c5-ae012d16e847}">
          <p14:sldIdLst>
            <p14:sldId id="269"/>
          </p14:sldIdLst>
        </p14:section>
        <p14:section name="보충" id="{02382b62-b40f-376c-5e84-f6b67c28158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우리 고장의 장소</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고장의 장소는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어디에 있고 무슨 일을 할까?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장소가 하는 일을 알고 알맞은 곳을 골라요.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위치를 말하고 우리 고장 조사 계획을 세워요.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동네 떠올리기</a:t>
            </a:r>
            <a:endParaRPr lang="ko-KR" sz="40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 가까이에 있는 곳을 떠올려 봐요.</a:t>
            </a:r>
            <a:endParaRPr lang="ko-KR" sz="30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본 곳 두 곳의 이름은?</a:t>
            </a:r>
            <a:endParaRPr lang="ko-KR" sz="30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그곳에서 무엇을 했나요?</a:t>
            </a:r>
            <a:endParaRPr lang="ko-KR" sz="30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손으로 내 앞과 뒤를 가리켜요.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장소마다 하는 일이 달라요</a:t>
            </a:r>
            <a:endParaRPr lang="ko-KR" sz="4000" dirty="0"/>
          </a:p>
        </p:txBody>
      </p:sp>
      <p:sp>
        <p:nvSpPr>
          <p:cNvPr id="3" name="S03-text1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고장에는 여러 장소가 있어요.</a:t>
            </a:r>
            <a:endParaRPr lang="ko-KR" sz="3000" dirty="0"/>
          </a:p>
        </p:txBody>
      </p:sp>
      <p:sp>
        <p:nvSpPr>
          <p:cNvPr id="4" name="S03-card11"/>
          <p:cNvSpPr/>
          <p:nvPr/>
        </p:nvSpPr>
        <p:spPr>
          <a:xfrm>
            <a:off x="548640" y="2011680"/>
            <a:ext cx="3544824" cy="1988820"/>
          </a:xfrm>
          <a:prstGeom prst="roundRect">
            <a:avLst>
              <a:gd name="adj" fmla="val 5517"/>
            </a:avLst>
          </a:prstGeom>
          <a:solidFill>
            <a:srgbClr val="EAF3F1"/>
          </a:solidFill>
          <a:ln w="12700">
            <a:solidFill>
              <a:srgbClr val="EAF3F1"/>
            </a:solidFill>
            <a:prstDash val="solid"/>
          </a:ln>
        </p:spPr>
      </p:sp>
      <p:sp>
        <p:nvSpPr>
          <p:cNvPr id="5" name="S03-cardtext12"/>
          <p:cNvSpPr txBox="1"/>
          <p:nvPr/>
        </p:nvSpPr>
        <p:spPr>
          <a:xfrm>
            <a:off x="822960"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학교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선생님과 함께 배우는 곳</a:t>
            </a:r>
            <a:endParaRPr lang="ko-KR" sz="3000" dirty="0"/>
          </a:p>
        </p:txBody>
      </p:sp>
      <p:sp>
        <p:nvSpPr>
          <p:cNvPr id="6" name="S03-card13"/>
          <p:cNvSpPr/>
          <p:nvPr/>
        </p:nvSpPr>
        <p:spPr>
          <a:xfrm>
            <a:off x="4322064" y="2011680"/>
            <a:ext cx="3544824" cy="1988820"/>
          </a:xfrm>
          <a:prstGeom prst="roundRect">
            <a:avLst>
              <a:gd name="adj" fmla="val 5517"/>
            </a:avLst>
          </a:prstGeom>
          <a:solidFill>
            <a:srgbClr val="EAF3F1"/>
          </a:solidFill>
          <a:ln w="12700">
            <a:solidFill>
              <a:srgbClr val="EAF3F1"/>
            </a:solidFill>
            <a:prstDash val="solid"/>
          </a:ln>
        </p:spPr>
      </p:sp>
      <p:sp>
        <p:nvSpPr>
          <p:cNvPr id="7" name="S03-cardtext14"/>
          <p:cNvSpPr txBox="1"/>
          <p:nvPr/>
        </p:nvSpPr>
        <p:spPr>
          <a:xfrm>
            <a:off x="4596384"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시장</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먹을거리와 물건을 사고파는 곳</a:t>
            </a:r>
            <a:endParaRPr lang="ko-KR" sz="3000" dirty="0"/>
          </a:p>
        </p:txBody>
      </p:sp>
      <p:sp>
        <p:nvSpPr>
          <p:cNvPr id="8" name="S03-card15"/>
          <p:cNvSpPr/>
          <p:nvPr/>
        </p:nvSpPr>
        <p:spPr>
          <a:xfrm>
            <a:off x="8095488" y="2011680"/>
            <a:ext cx="3544824" cy="1988820"/>
          </a:xfrm>
          <a:prstGeom prst="roundRect">
            <a:avLst>
              <a:gd name="adj" fmla="val 5517"/>
            </a:avLst>
          </a:prstGeom>
          <a:solidFill>
            <a:srgbClr val="EAF3F1"/>
          </a:solidFill>
          <a:ln w="12700">
            <a:solidFill>
              <a:srgbClr val="EAF3F1"/>
            </a:solidFill>
            <a:prstDash val="solid"/>
          </a:ln>
        </p:spPr>
      </p:sp>
      <p:sp>
        <p:nvSpPr>
          <p:cNvPr id="9" name="S03-cardtext16"/>
          <p:cNvSpPr txBox="1"/>
          <p:nvPr/>
        </p:nvSpPr>
        <p:spPr>
          <a:xfrm>
            <a:off x="8369808"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공원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산책하고 운동하며 쉬는 곳</a:t>
            </a:r>
            <a:endParaRPr lang="ko-KR" sz="3000" dirty="0"/>
          </a:p>
        </p:txBody>
      </p:sp>
      <p:sp>
        <p:nvSpPr>
          <p:cNvPr id="10" name="S03-card17"/>
          <p:cNvSpPr/>
          <p:nvPr/>
        </p:nvSpPr>
        <p:spPr>
          <a:xfrm>
            <a:off x="548640" y="4229100"/>
            <a:ext cx="3544824" cy="1988820"/>
          </a:xfrm>
          <a:prstGeom prst="roundRect">
            <a:avLst>
              <a:gd name="adj" fmla="val 5517"/>
            </a:avLst>
          </a:prstGeom>
          <a:solidFill>
            <a:srgbClr val="EAF3F1"/>
          </a:solidFill>
          <a:ln w="12700">
            <a:solidFill>
              <a:srgbClr val="EAF3F1"/>
            </a:solidFill>
            <a:prstDash val="solid"/>
          </a:ln>
        </p:spPr>
      </p:sp>
      <p:sp>
        <p:nvSpPr>
          <p:cNvPr id="11" name="S03-cardtext18"/>
          <p:cNvSpPr txBox="1"/>
          <p:nvPr/>
        </p:nvSpPr>
        <p:spPr>
          <a:xfrm>
            <a:off x="822960"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도서관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책을 읽고 빌리는 곳</a:t>
            </a:r>
            <a:endParaRPr lang="ko-KR" sz="3000" dirty="0"/>
          </a:p>
        </p:txBody>
      </p:sp>
      <p:sp>
        <p:nvSpPr>
          <p:cNvPr id="12" name="S03-card19"/>
          <p:cNvSpPr/>
          <p:nvPr/>
        </p:nvSpPr>
        <p:spPr>
          <a:xfrm>
            <a:off x="4322064" y="4229100"/>
            <a:ext cx="3544824" cy="1988820"/>
          </a:xfrm>
          <a:prstGeom prst="roundRect">
            <a:avLst>
              <a:gd name="adj" fmla="val 5517"/>
            </a:avLst>
          </a:prstGeom>
          <a:solidFill>
            <a:srgbClr val="EAF3F1"/>
          </a:solidFill>
          <a:ln w="12700">
            <a:solidFill>
              <a:srgbClr val="EAF3F1"/>
            </a:solidFill>
            <a:prstDash val="solid"/>
          </a:ln>
        </p:spPr>
      </p:sp>
      <p:sp>
        <p:nvSpPr>
          <p:cNvPr id="13" name="S03-cardtext20"/>
          <p:cNvSpPr txBox="1"/>
          <p:nvPr/>
        </p:nvSpPr>
        <p:spPr>
          <a:xfrm>
            <a:off x="4596384"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주민센터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주민에게 필요한 일을 도와주는 곳</a:t>
            </a:r>
            <a:endParaRPr lang="ko-KR" sz="3000" dirty="0"/>
          </a:p>
        </p:txBody>
      </p:sp>
      <p:sp>
        <p:nvSpPr>
          <p:cNvPr id="14" name="S03-card21"/>
          <p:cNvSpPr/>
          <p:nvPr/>
        </p:nvSpPr>
        <p:spPr>
          <a:xfrm>
            <a:off x="8095488" y="4229100"/>
            <a:ext cx="3544824" cy="1988820"/>
          </a:xfrm>
          <a:prstGeom prst="roundRect">
            <a:avLst>
              <a:gd name="adj" fmla="val 5517"/>
            </a:avLst>
          </a:prstGeom>
          <a:solidFill>
            <a:srgbClr val="EAF3F1"/>
          </a:solidFill>
          <a:ln w="12700">
            <a:solidFill>
              <a:srgbClr val="EAF3F1"/>
            </a:solidFill>
            <a:prstDash val="solid"/>
          </a:ln>
        </p:spPr>
      </p:sp>
      <p:sp>
        <p:nvSpPr>
          <p:cNvPr id="15" name="S03-cardtext22"/>
          <p:cNvSpPr txBox="1"/>
          <p:nvPr/>
        </p:nvSpPr>
        <p:spPr>
          <a:xfrm>
            <a:off x="8369808"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병원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아플 때 진찰받고 치료받는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어디로 가면 될까요?</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4-card2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4-chip2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4-text2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열이 나고 기침을 해요.</a:t>
            </a:r>
            <a:endParaRPr lang="ko-KR" sz="3000" dirty="0"/>
          </a:p>
        </p:txBody>
      </p:sp>
      <p:sp>
        <p:nvSpPr>
          <p:cNvPr id="8" name="S04-chip2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4-text2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공룡 책을 빌리고 싶어요.</a:t>
            </a:r>
            <a:endParaRPr lang="ko-KR" sz="3000" dirty="0"/>
          </a:p>
        </p:txBody>
      </p:sp>
      <p:sp>
        <p:nvSpPr>
          <p:cNvPr id="10" name="S04-chip3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4-text3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저녁에 먹을 채소를 사요.</a:t>
            </a:r>
            <a:endParaRPr lang="ko-KR" sz="3000" dirty="0"/>
          </a:p>
        </p:txBody>
      </p:sp>
      <p:sp>
        <p:nvSpPr>
          <p:cNvPr id="12" name="S04-chip3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4-text3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가족과 자전거를 타요.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건물의 앞·뒤·옆</a:t>
            </a:r>
            <a:endParaRPr lang="ko-KR" sz="4000" dirty="0"/>
          </a:p>
        </p:txBody>
      </p:sp>
      <p:sp>
        <p:nvSpPr>
          <p:cNvPr id="3" name="S05-figure34" descr="학교 건물 하나. 아래쪽 가운데에 문이 있다. 문이 있는 아래쪽 화살표는 앞, 위쪽 화살표는 뒤, 왼쪽과 오른쪽 화살표는 옆"/>
          <p:cNvSpPr/>
          <p:nvPr/>
        </p:nvSpPr>
        <p:spPr>
          <a:xfrm>
            <a:off x="1728647" y="2871017"/>
            <a:ext cx="3002943" cy="1801766"/>
          </a:xfrm>
          <a:custGeom>
            <a:avLst/>
            <a:gdLst/>
            <a:ahLst/>
            <a:cxnLst/>
            <a:rect l="l" t="t" r="r" b="b"/>
            <a:pathLst>
              <a:path w="3002943" h="1801766">
                <a:moveTo>
                  <a:pt x="0" y="1801766"/>
                </a:moveTo>
                <a:lnTo>
                  <a:pt x="3002943" y="1801766"/>
                </a:lnTo>
                <a:lnTo>
                  <a:pt x="3002943" y="0"/>
                </a:lnTo>
                <a:lnTo>
                  <a:pt x="0" y="0"/>
                </a:lnTo>
                <a:close/>
              </a:path>
            </a:pathLst>
          </a:custGeom>
          <a:solidFill>
            <a:srgbClr val="EAF3F1"/>
          </a:solidFill>
          <a:ln w="19050">
            <a:solidFill>
              <a:srgbClr val="1F2937"/>
            </a:solidFill>
            <a:prstDash val="solid"/>
          </a:ln>
        </p:spPr>
      </p:sp>
      <p:sp>
        <p:nvSpPr>
          <p:cNvPr id="4" name="S05-mark35"/>
          <p:cNvSpPr/>
          <p:nvPr/>
        </p:nvSpPr>
        <p:spPr>
          <a:xfrm>
            <a:off x="2929824" y="4507621"/>
            <a:ext cx="600589" cy="165162"/>
          </a:xfrm>
          <a:custGeom>
            <a:avLst/>
            <a:gdLst/>
            <a:ahLst/>
            <a:cxnLst/>
            <a:rect l="l" t="t" r="r" b="b"/>
            <a:pathLst>
              <a:path w="600589" h="165162">
                <a:moveTo>
                  <a:pt x="0" y="165162"/>
                </a:moveTo>
                <a:lnTo>
                  <a:pt x="600589" y="165162"/>
                </a:lnTo>
                <a:lnTo>
                  <a:pt x="600589" y="0"/>
                </a:lnTo>
                <a:lnTo>
                  <a:pt x="0" y="0"/>
                </a:lnTo>
                <a:close/>
              </a:path>
            </a:pathLst>
          </a:custGeom>
          <a:solidFill>
            <a:srgbClr val="264653"/>
          </a:solidFill>
          <a:ln/>
        </p:spPr>
      </p:sp>
      <p:sp>
        <p:nvSpPr>
          <p:cNvPr id="5" name="S05-mark36"/>
          <p:cNvSpPr/>
          <p:nvPr/>
        </p:nvSpPr>
        <p:spPr>
          <a:xfrm>
            <a:off x="3230118" y="4785393"/>
            <a:ext cx="0" cy="525515"/>
          </a:xfrm>
          <a:prstGeom prst="line">
            <a:avLst/>
          </a:prstGeom>
          <a:noFill/>
          <a:ln w="38100">
            <a:solidFill>
              <a:srgbClr val="E9762B"/>
            </a:solidFill>
            <a:prstDash val="solid"/>
            <a:tailEnd type="triangle"/>
          </a:ln>
        </p:spPr>
      </p:sp>
      <p:sp>
        <p:nvSpPr>
          <p:cNvPr id="6" name="S05-mark37"/>
          <p:cNvSpPr/>
          <p:nvPr/>
        </p:nvSpPr>
        <p:spPr>
          <a:xfrm flipV="1">
            <a:off x="3230118" y="2232892"/>
            <a:ext cx="0" cy="525515"/>
          </a:xfrm>
          <a:prstGeom prst="line">
            <a:avLst/>
          </a:prstGeom>
          <a:noFill/>
          <a:ln w="38100">
            <a:solidFill>
              <a:srgbClr val="E9762B"/>
            </a:solidFill>
            <a:prstDash val="solid"/>
            <a:tailEnd type="triangle"/>
          </a:ln>
        </p:spPr>
      </p:sp>
      <p:sp>
        <p:nvSpPr>
          <p:cNvPr id="7" name="S05-mark38"/>
          <p:cNvSpPr/>
          <p:nvPr/>
        </p:nvSpPr>
        <p:spPr>
          <a:xfrm flipH="1">
            <a:off x="1090521" y="3771900"/>
            <a:ext cx="525515" cy="0"/>
          </a:xfrm>
          <a:prstGeom prst="line">
            <a:avLst/>
          </a:prstGeom>
          <a:noFill/>
          <a:ln w="38100">
            <a:solidFill>
              <a:srgbClr val="E9762B"/>
            </a:solidFill>
            <a:prstDash val="solid"/>
            <a:tailEnd type="triangle"/>
          </a:ln>
        </p:spPr>
      </p:sp>
      <p:sp>
        <p:nvSpPr>
          <p:cNvPr id="8" name="S05-mark39"/>
          <p:cNvSpPr/>
          <p:nvPr/>
        </p:nvSpPr>
        <p:spPr>
          <a:xfrm>
            <a:off x="4844200" y="3771900"/>
            <a:ext cx="525515" cy="0"/>
          </a:xfrm>
          <a:prstGeom prst="line">
            <a:avLst/>
          </a:prstGeom>
          <a:noFill/>
          <a:ln w="38100">
            <a:solidFill>
              <a:srgbClr val="E9762B"/>
            </a:solidFill>
            <a:prstDash val="solid"/>
            <a:tailEnd type="triangle"/>
          </a:ln>
        </p:spPr>
      </p:sp>
      <p:sp>
        <p:nvSpPr>
          <p:cNvPr id="9" name="S05-label41"/>
          <p:cNvSpPr txBox="1"/>
          <p:nvPr/>
        </p:nvSpPr>
        <p:spPr>
          <a:xfrm>
            <a:off x="2876550" y="33937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0" name="S05-label43"/>
          <p:cNvSpPr txBox="1"/>
          <p:nvPr/>
        </p:nvSpPr>
        <p:spPr>
          <a:xfrm>
            <a:off x="3025902" y="4031841"/>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1" name="S05-label45"/>
          <p:cNvSpPr txBox="1"/>
          <p:nvPr/>
        </p:nvSpPr>
        <p:spPr>
          <a:xfrm>
            <a:off x="3025902" y="54957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2" name="S05-label47"/>
          <p:cNvSpPr txBox="1"/>
          <p:nvPr/>
        </p:nvSpPr>
        <p:spPr>
          <a:xfrm>
            <a:off x="3025902" y="166702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3" name="S05-label49"/>
          <p:cNvSpPr txBox="1"/>
          <p:nvPr/>
        </p:nvSpPr>
        <p:spPr>
          <a:xfrm>
            <a:off x="435864"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4" name="S05-label51"/>
          <p:cNvSpPr txBox="1"/>
          <p:nvPr/>
        </p:nvSpPr>
        <p:spPr>
          <a:xfrm>
            <a:off x="5615940"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5" name="S05-card52"/>
          <p:cNvSpPr/>
          <p:nvPr/>
        </p:nvSpPr>
        <p:spPr>
          <a:xfrm>
            <a:off x="6277356" y="2240280"/>
            <a:ext cx="5362956" cy="868680"/>
          </a:xfrm>
          <a:prstGeom prst="roundRect">
            <a:avLst>
              <a:gd name="adj" fmla="val 12632"/>
            </a:avLst>
          </a:prstGeom>
          <a:solidFill>
            <a:srgbClr val="EAF3F1"/>
          </a:solidFill>
          <a:ln w="12700">
            <a:solidFill>
              <a:srgbClr val="EAF3F1"/>
            </a:solidFill>
            <a:prstDash val="solid"/>
          </a:ln>
        </p:spPr>
      </p:sp>
      <p:sp>
        <p:nvSpPr>
          <p:cNvPr id="16" name="S05-cardtext53"/>
          <p:cNvSpPr txBox="1"/>
          <p:nvPr/>
        </p:nvSpPr>
        <p:spPr>
          <a:xfrm>
            <a:off x="6551676" y="237744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17" name="S05-card54"/>
          <p:cNvSpPr/>
          <p:nvPr/>
        </p:nvSpPr>
        <p:spPr>
          <a:xfrm>
            <a:off x="6277356" y="3337560"/>
            <a:ext cx="5362956" cy="868680"/>
          </a:xfrm>
          <a:prstGeom prst="roundRect">
            <a:avLst>
              <a:gd name="adj" fmla="val 12632"/>
            </a:avLst>
          </a:prstGeom>
          <a:solidFill>
            <a:srgbClr val="EAF3F1"/>
          </a:solidFill>
          <a:ln w="12700">
            <a:solidFill>
              <a:srgbClr val="EAF3F1"/>
            </a:solidFill>
            <a:prstDash val="solid"/>
          </a:ln>
        </p:spPr>
      </p:sp>
      <p:sp>
        <p:nvSpPr>
          <p:cNvPr id="18" name="S05-cardtext55"/>
          <p:cNvSpPr txBox="1"/>
          <p:nvPr/>
        </p:nvSpPr>
        <p:spPr>
          <a:xfrm>
            <a:off x="6551676" y="347472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 앞의 반대쪽</a:t>
            </a:r>
            <a:endParaRPr lang="ko-KR" sz="3000" dirty="0"/>
          </a:p>
        </p:txBody>
      </p:sp>
      <p:sp>
        <p:nvSpPr>
          <p:cNvPr id="19" name="S05-card56"/>
          <p:cNvSpPr/>
          <p:nvPr/>
        </p:nvSpPr>
        <p:spPr>
          <a:xfrm>
            <a:off x="6277356" y="4434840"/>
            <a:ext cx="5362956" cy="868680"/>
          </a:xfrm>
          <a:prstGeom prst="roundRect">
            <a:avLst>
              <a:gd name="adj" fmla="val 12632"/>
            </a:avLst>
          </a:prstGeom>
          <a:solidFill>
            <a:srgbClr val="EAF3F1"/>
          </a:solidFill>
          <a:ln w="12700">
            <a:solidFill>
              <a:srgbClr val="EAF3F1"/>
            </a:solidFill>
            <a:prstDash val="solid"/>
          </a:ln>
        </p:spPr>
      </p:sp>
      <p:sp>
        <p:nvSpPr>
          <p:cNvPr id="20" name="S05-cardtext57"/>
          <p:cNvSpPr txBox="1"/>
          <p:nvPr/>
        </p:nvSpPr>
        <p:spPr>
          <a:xfrm>
            <a:off x="6551676" y="45720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 왼쪽과 오른쪽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별빛마을에서 위치 말하기</a:t>
            </a:r>
            <a:endParaRPr lang="ko-KR" sz="4000" dirty="0"/>
          </a:p>
        </p:txBody>
      </p:sp>
      <p:sp>
        <p:nvSpPr>
          <p:cNvPr id="3" name="S06-card58"/>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6-cardtext59"/>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앞·뒤·옆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도서관은 학교 옆에 있어요.</a:t>
            </a:r>
            <a:endParaRPr lang="ko-KR" sz="3000" dirty="0"/>
          </a:p>
        </p:txBody>
      </p:sp>
      <p:sp>
        <p:nvSpPr>
          <p:cNvPr id="5" name="S06-figure60"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6-mark61"/>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6-mark62"/>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6-mark63"/>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6-mark64"/>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6-mark65"/>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6-mark66"/>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6-mark67"/>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6-mark68"/>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6-mark69"/>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6-mark70"/>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6-mark71"/>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6-mark72"/>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6-mark73"/>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6-label75"/>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6-label77"/>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6-label79"/>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6-label81"/>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6-label83"/>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6-label85"/>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6-label87"/>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6-label89"/>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위치 말하기</a:t>
            </a:r>
            <a:endParaRPr lang="ko-KR" sz="4000" dirty="0"/>
          </a:p>
        </p:txBody>
      </p:sp>
      <p:sp>
        <p:nvSpPr>
          <p:cNvPr id="3" name="S07-card90"/>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7-cardtext91"/>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병원은 주민센터의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시장과 병원 중 지호네에서 먼 곳은?</a:t>
            </a:r>
            <a:endParaRPr lang="ko-KR" sz="3000" dirty="0"/>
          </a:p>
        </p:txBody>
      </p:sp>
      <p:sp>
        <p:nvSpPr>
          <p:cNvPr id="5" name="S07-figure92"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07-mark93"/>
          <p:cNvSpPr/>
          <p:nvPr/>
        </p:nvSpPr>
        <p:spPr>
          <a:xfrm>
            <a:off x="2240722"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7" name="S07-mark94"/>
          <p:cNvSpPr/>
          <p:nvPr/>
        </p:nvSpPr>
        <p:spPr>
          <a:xfrm>
            <a:off x="2833608"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07-mark95"/>
          <p:cNvSpPr/>
          <p:nvPr/>
        </p:nvSpPr>
        <p:spPr>
          <a:xfrm>
            <a:off x="467155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9" name="S07-mark96"/>
          <p:cNvSpPr/>
          <p:nvPr/>
        </p:nvSpPr>
        <p:spPr>
          <a:xfrm>
            <a:off x="5560879"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07-mark97"/>
          <p:cNvSpPr/>
          <p:nvPr/>
        </p:nvSpPr>
        <p:spPr>
          <a:xfrm>
            <a:off x="7695266" y="2099138"/>
            <a:ext cx="2134387" cy="652174"/>
          </a:xfrm>
          <a:custGeom>
            <a:avLst/>
            <a:gdLst/>
            <a:ahLst/>
            <a:cxnLst/>
            <a:rect l="l" t="t" r="r" b="b"/>
            <a:pathLst>
              <a:path w="2134387" h="652174">
                <a:moveTo>
                  <a:pt x="0" y="652174"/>
                </a:moveTo>
                <a:lnTo>
                  <a:pt x="2134387" y="652174"/>
                </a:lnTo>
                <a:lnTo>
                  <a:pt x="2134387" y="0"/>
                </a:lnTo>
                <a:lnTo>
                  <a:pt x="0" y="0"/>
                </a:lnTo>
                <a:close/>
              </a:path>
            </a:pathLst>
          </a:custGeom>
          <a:solidFill>
            <a:srgbClr val="EAF3F1"/>
          </a:solidFill>
          <a:ln w="19050">
            <a:solidFill>
              <a:srgbClr val="1F2937"/>
            </a:solidFill>
            <a:prstDash val="solid"/>
          </a:ln>
        </p:spPr>
      </p:sp>
      <p:sp>
        <p:nvSpPr>
          <p:cNvPr id="11" name="S07-mark98"/>
          <p:cNvSpPr/>
          <p:nvPr/>
        </p:nvSpPr>
        <p:spPr>
          <a:xfrm>
            <a:off x="852530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2" name="S07-mark99"/>
          <p:cNvSpPr/>
          <p:nvPr/>
        </p:nvSpPr>
        <p:spPr>
          <a:xfrm>
            <a:off x="467155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3" name="S07-mark100"/>
          <p:cNvSpPr/>
          <p:nvPr/>
        </p:nvSpPr>
        <p:spPr>
          <a:xfrm>
            <a:off x="3248627"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07-mark101"/>
          <p:cNvSpPr/>
          <p:nvPr/>
        </p:nvSpPr>
        <p:spPr>
          <a:xfrm>
            <a:off x="3841512"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07-mark102"/>
          <p:cNvSpPr/>
          <p:nvPr/>
        </p:nvSpPr>
        <p:spPr>
          <a:xfrm>
            <a:off x="5145860"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6" name="S07-mark103"/>
          <p:cNvSpPr/>
          <p:nvPr/>
        </p:nvSpPr>
        <p:spPr>
          <a:xfrm>
            <a:off x="5560879"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07-mark104"/>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8" name="S07-mark105"/>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9" name="S07-label107"/>
          <p:cNvSpPr txBox="1"/>
          <p:nvPr/>
        </p:nvSpPr>
        <p:spPr>
          <a:xfrm>
            <a:off x="2567842"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7-label109"/>
          <p:cNvSpPr txBox="1"/>
          <p:nvPr/>
        </p:nvSpPr>
        <p:spPr>
          <a:xfrm>
            <a:off x="5444465"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7-label111"/>
          <p:cNvSpPr txBox="1"/>
          <p:nvPr/>
        </p:nvSpPr>
        <p:spPr>
          <a:xfrm>
            <a:off x="8110187" y="2234725"/>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7-label113"/>
          <p:cNvSpPr txBox="1"/>
          <p:nvPr/>
        </p:nvSpPr>
        <p:spPr>
          <a:xfrm>
            <a:off x="5444465"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7-label115"/>
          <p:cNvSpPr txBox="1"/>
          <p:nvPr/>
        </p:nvSpPr>
        <p:spPr>
          <a:xfrm>
            <a:off x="3725098"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7-label117"/>
          <p:cNvSpPr txBox="1"/>
          <p:nvPr/>
        </p:nvSpPr>
        <p:spPr>
          <a:xfrm>
            <a:off x="5295113"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7-label119"/>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7-label121"/>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누가 더 잘 알려 줬나요?</a:t>
            </a:r>
            <a:endParaRPr lang="ko-KR" sz="4000" dirty="0"/>
          </a:p>
        </p:txBody>
      </p:sp>
      <p:sp>
        <p:nvSpPr>
          <p:cNvPr id="3" name="S08-card12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12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“도서관은 어디에 있어?” 두 친구가 알려 줬어요.</a:t>
            </a:r>
            <a:endParaRPr lang="ko-KR" sz="3000" dirty="0"/>
          </a:p>
        </p:txBody>
      </p:sp>
      <p:sp>
        <p:nvSpPr>
          <p:cNvPr id="5" name="S08-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누구의 말을 듣고 찾기 쉬울까요? 왜 그럴까요?</a:t>
            </a:r>
            <a:endParaRPr lang="ko-KR" sz="3000" dirty="0"/>
          </a:p>
        </p:txBody>
      </p:sp>
      <p:sp>
        <p:nvSpPr>
          <p:cNvPr id="7" name="S08-chip12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127"/>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9" name="S08-chip12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129"/>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옆에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 ①</a:t>
            </a:r>
            <a:endParaRPr lang="ko-KR" sz="4000" dirty="0"/>
          </a:p>
        </p:txBody>
      </p:sp>
      <p:sp>
        <p:nvSpPr>
          <p:cNvPr id="3" name="S09-text1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9-card13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3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9-chip133"/>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134"/>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넘어져서 무릎이 아파요.</a:t>
            </a:r>
            <a:endParaRPr lang="ko-KR" sz="3000" dirty="0"/>
          </a:p>
        </p:txBody>
      </p:sp>
      <p:sp>
        <p:nvSpPr>
          <p:cNvPr id="8" name="S09-chip135"/>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136"/>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옛날이야기 책을 빌려요.</a:t>
            </a:r>
            <a:endParaRPr lang="ko-KR" sz="3000" dirty="0"/>
          </a:p>
        </p:txBody>
      </p:sp>
      <p:sp>
        <p:nvSpPr>
          <p:cNvPr id="10" name="S09-chip1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138"/>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할머니께 드릴 과일을 사요.</a:t>
            </a:r>
            <a:endParaRPr lang="ko-KR" sz="3000" dirty="0"/>
          </a:p>
        </p:txBody>
      </p:sp>
      <p:sp>
        <p:nvSpPr>
          <p:cNvPr id="12" name="S09-chip139"/>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9-text140"/>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엄마가 필요한 서류를 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위치 말하기</a:t>
            </a:r>
            <a:endParaRPr lang="ko-KR" sz="4000" dirty="0"/>
          </a:p>
        </p:txBody>
      </p:sp>
      <p:sp>
        <p:nvSpPr>
          <p:cNvPr id="3" name="S10-card141"/>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0-cardtext142"/>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도서관은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병원과 시장 중 서아네에서 가까운 곳은?</a:t>
            </a:r>
            <a:endParaRPr lang="ko-KR" sz="3000" dirty="0"/>
          </a:p>
        </p:txBody>
      </p:sp>
      <p:sp>
        <p:nvSpPr>
          <p:cNvPr id="5" name="S10-figure143" descr="햇살마을 그림: 가운데에 가로로 큰길이 있다. 큰길 위쪽에 학교와 그 오른쪽 옆에 도서관이 있고, 학교 뒤에 공원이 있다. 큰길 아래쪽에 서아네(학교 앞), 서아네 바로 옆에 병원, 오른쪽 끝 멀리 시장이 있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10-mark144"/>
          <p:cNvSpPr/>
          <p:nvPr/>
        </p:nvSpPr>
        <p:spPr>
          <a:xfrm>
            <a:off x="224072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7" name="S10-mark145"/>
          <p:cNvSpPr/>
          <p:nvPr/>
        </p:nvSpPr>
        <p:spPr>
          <a:xfrm>
            <a:off x="3130050"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10-mark146"/>
          <p:cNvSpPr/>
          <p:nvPr/>
        </p:nvSpPr>
        <p:spPr>
          <a:xfrm>
            <a:off x="4730840"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9" name="S10-mark147"/>
          <p:cNvSpPr/>
          <p:nvPr/>
        </p:nvSpPr>
        <p:spPr>
          <a:xfrm>
            <a:off x="532372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10-mark148"/>
          <p:cNvSpPr/>
          <p:nvPr/>
        </p:nvSpPr>
        <p:spPr>
          <a:xfrm>
            <a:off x="224072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1" name="S10-mark149"/>
          <p:cNvSpPr/>
          <p:nvPr/>
        </p:nvSpPr>
        <p:spPr>
          <a:xfrm>
            <a:off x="2715031"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2" name="S10-mark150"/>
          <p:cNvSpPr/>
          <p:nvPr/>
        </p:nvSpPr>
        <p:spPr>
          <a:xfrm>
            <a:off x="3130050"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3" name="S10-mark151"/>
          <p:cNvSpPr/>
          <p:nvPr/>
        </p:nvSpPr>
        <p:spPr>
          <a:xfrm>
            <a:off x="4256532"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10-mark152"/>
          <p:cNvSpPr/>
          <p:nvPr/>
        </p:nvSpPr>
        <p:spPr>
          <a:xfrm>
            <a:off x="4849417"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10-mark153"/>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6" name="S10-mark154"/>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10-label156"/>
          <p:cNvSpPr txBox="1"/>
          <p:nvPr/>
        </p:nvSpPr>
        <p:spPr>
          <a:xfrm>
            <a:off x="3013636"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8" name="S10-label158"/>
          <p:cNvSpPr txBox="1"/>
          <p:nvPr/>
        </p:nvSpPr>
        <p:spPr>
          <a:xfrm>
            <a:off x="5057959"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19" name="S10-label160"/>
          <p:cNvSpPr txBox="1"/>
          <p:nvPr/>
        </p:nvSpPr>
        <p:spPr>
          <a:xfrm>
            <a:off x="3013636"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0" name="S10-label162"/>
          <p:cNvSpPr txBox="1"/>
          <p:nvPr/>
        </p:nvSpPr>
        <p:spPr>
          <a:xfrm>
            <a:off x="2864284"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서아네</a:t>
            </a:r>
            <a:endParaRPr lang="ko-KR" sz="2400" dirty="0"/>
          </a:p>
        </p:txBody>
      </p:sp>
      <p:sp>
        <p:nvSpPr>
          <p:cNvPr id="21" name="S10-label164"/>
          <p:cNvSpPr txBox="1"/>
          <p:nvPr/>
        </p:nvSpPr>
        <p:spPr>
          <a:xfrm>
            <a:off x="4733003"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2" name="S10-label166"/>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3" name="S10-label168"/>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고장을 조사하는 방법</a:t>
            </a:r>
            <a:endParaRPr lang="ko-KR" sz="4000" dirty="0"/>
          </a:p>
        </p:txBody>
      </p:sp>
      <p:sp>
        <p:nvSpPr>
          <p:cNvPr id="3" name="S12-card16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2-cardtext17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알아낸 것은 바로 기록표에 적어요.</a:t>
            </a:r>
            <a:endParaRPr lang="ko-KR" sz="3000" dirty="0"/>
          </a:p>
        </p:txBody>
      </p:sp>
      <p:sp>
        <p:nvSpPr>
          <p:cNvPr id="5" name="S12-card171"/>
          <p:cNvSpPr/>
          <p:nvPr/>
        </p:nvSpPr>
        <p:spPr>
          <a:xfrm>
            <a:off x="548640" y="2125980"/>
            <a:ext cx="3544824" cy="2194560"/>
          </a:xfrm>
          <a:prstGeom prst="roundRect">
            <a:avLst>
              <a:gd name="adj" fmla="val 5000"/>
            </a:avLst>
          </a:prstGeom>
          <a:solidFill>
            <a:srgbClr val="EAF3F1"/>
          </a:solidFill>
          <a:ln w="12700">
            <a:solidFill>
              <a:srgbClr val="EAF3F1"/>
            </a:solidFill>
            <a:prstDash val="solid"/>
          </a:ln>
        </p:spPr>
      </p:sp>
      <p:sp>
        <p:nvSpPr>
          <p:cNvPr id="6" name="S12-cardtext172"/>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① 직접 가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어른과 함께 걸으며 장소와 위치를 살펴요.</a:t>
            </a:r>
            <a:endParaRPr lang="ko-KR" sz="3000" dirty="0"/>
          </a:p>
        </p:txBody>
      </p:sp>
      <p:sp>
        <p:nvSpPr>
          <p:cNvPr id="7" name="S12-card173"/>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12-cardtext174"/>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② 지도 앱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휴대 전화 지도 앱에서 장소를 찾아요.</a:t>
            </a:r>
            <a:endParaRPr lang="ko-KR" sz="3000" dirty="0"/>
          </a:p>
        </p:txBody>
      </p:sp>
      <p:sp>
        <p:nvSpPr>
          <p:cNvPr id="9" name="S12-card175"/>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12-cardtext176"/>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③ 어른께 여쭈기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이웃 어른께 장소가 하는 일을 여쭈어요.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방법이 좋을까요?</a:t>
            </a:r>
            <a:endParaRPr lang="ko-KR" sz="4000" dirty="0"/>
          </a:p>
        </p:txBody>
      </p:sp>
      <p:sp>
        <p:nvSpPr>
          <p:cNvPr id="3" name="S13-text17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알고 싶은 것에 맞는 방법을 골라요.</a:t>
            </a:r>
            <a:endParaRPr lang="ko-KR" sz="3000" dirty="0"/>
          </a:p>
        </p:txBody>
      </p:sp>
      <p:sp>
        <p:nvSpPr>
          <p:cNvPr id="4" name="S13-card178"/>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3-cardtext1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직접 가 보기 · 지도 앱 보기 · 어른께 여쭈기</a:t>
            </a:r>
            <a:endParaRPr lang="ko-KR" sz="3000" dirty="0"/>
          </a:p>
        </p:txBody>
      </p:sp>
      <p:sp>
        <p:nvSpPr>
          <p:cNvPr id="6" name="S13-chip180"/>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3-text181"/>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공원까지 몇 분 걸릴까?</a:t>
            </a:r>
            <a:endParaRPr lang="ko-KR" sz="3000" dirty="0"/>
          </a:p>
        </p:txBody>
      </p:sp>
      <p:sp>
        <p:nvSpPr>
          <p:cNvPr id="8" name="S13-chip182"/>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3-text183"/>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시장은 옛날에 어땠을까?</a:t>
            </a:r>
            <a:endParaRPr lang="ko-KR" sz="3000" dirty="0"/>
          </a:p>
        </p:txBody>
      </p:sp>
      <p:sp>
        <p:nvSpPr>
          <p:cNvPr id="10" name="S13-chip184"/>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3-text185"/>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가까운 병원은 어디일까?</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 조사 계획</a:t>
            </a:r>
            <a:endParaRPr lang="ko-KR" sz="4000" dirty="0"/>
          </a:p>
        </p:txBody>
      </p:sp>
      <p:sp>
        <p:nvSpPr>
          <p:cNvPr id="3" name="S14-card18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8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안전: 길을 다닐 때는 꼭 어른과 함께해요.</a:t>
            </a:r>
            <a:endParaRPr lang="ko-KR" sz="3000" dirty="0"/>
          </a:p>
        </p:txBody>
      </p:sp>
      <p:sp>
        <p:nvSpPr>
          <p:cNvPr id="5" name="S14-card188"/>
          <p:cNvSpPr/>
          <p:nvPr/>
        </p:nvSpPr>
        <p:spPr>
          <a:xfrm>
            <a:off x="6813652" y="1325880"/>
            <a:ext cx="4826660" cy="3794760"/>
          </a:xfrm>
          <a:prstGeom prst="roundRect">
            <a:avLst>
              <a:gd name="adj" fmla="val 2892"/>
            </a:avLst>
          </a:prstGeom>
          <a:solidFill>
            <a:srgbClr val="EAF3F1"/>
          </a:solidFill>
          <a:ln w="12700">
            <a:solidFill>
              <a:srgbClr val="EAF3F1"/>
            </a:solidFill>
            <a:prstDash val="solid"/>
          </a:ln>
        </p:spPr>
      </p:sp>
      <p:sp>
        <p:nvSpPr>
          <p:cNvPr id="6" name="S14-cardtext189"/>
          <p:cNvSpPr txBox="1"/>
          <p:nvPr/>
        </p:nvSpPr>
        <p:spPr>
          <a:xfrm>
            <a:off x="7087972" y="1463040"/>
            <a:ext cx="4278020" cy="35204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 세 곳을 정했어요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조사 방법을 골랐어요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기준을 넣어 위치를 말했어요</a:t>
            </a:r>
            <a:endParaRPr lang="ko-KR" sz="3000" dirty="0"/>
          </a:p>
        </p:txBody>
      </p:sp>
      <p:sp>
        <p:nvSpPr>
          <p:cNvPr id="7" name="S14-stepno190"/>
          <p:cNvSpPr txBox="1"/>
          <p:nvPr/>
        </p:nvSpPr>
        <p:spPr>
          <a:xfrm>
            <a:off x="548640" y="16885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8" name="S14-text191"/>
          <p:cNvSpPr txBox="1"/>
          <p:nvPr/>
        </p:nvSpPr>
        <p:spPr>
          <a:xfrm>
            <a:off x="1325880" y="168859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조사할 장소 세 곳을 정해요.</a:t>
            </a:r>
            <a:endParaRPr lang="ko-KR" sz="3000" dirty="0"/>
          </a:p>
        </p:txBody>
      </p:sp>
      <p:sp>
        <p:nvSpPr>
          <p:cNvPr id="9" name="S14-stepno192"/>
          <p:cNvSpPr txBox="1"/>
          <p:nvPr/>
        </p:nvSpPr>
        <p:spPr>
          <a:xfrm>
            <a:off x="548640" y="24018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0" name="S14-text193"/>
          <p:cNvSpPr txBox="1"/>
          <p:nvPr/>
        </p:nvSpPr>
        <p:spPr>
          <a:xfrm>
            <a:off x="1325880" y="240182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장소마다 조사 방법을 골라요.</a:t>
            </a:r>
            <a:endParaRPr lang="ko-KR" sz="3000" dirty="0"/>
          </a:p>
        </p:txBody>
      </p:sp>
      <p:sp>
        <p:nvSpPr>
          <p:cNvPr id="11" name="S14-stepno194"/>
          <p:cNvSpPr txBox="1"/>
          <p:nvPr/>
        </p:nvSpPr>
        <p:spPr>
          <a:xfrm>
            <a:off x="548640" y="316077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2" name="S14-text195"/>
          <p:cNvSpPr txBox="1"/>
          <p:nvPr/>
        </p:nvSpPr>
        <p:spPr>
          <a:xfrm>
            <a:off x="1325880" y="3115056"/>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우리 집에서 가까울지 멀지 짐작해요.</a:t>
            </a:r>
            <a:endParaRPr lang="ko-KR" sz="3000" dirty="0"/>
          </a:p>
        </p:txBody>
      </p:sp>
      <p:sp>
        <p:nvSpPr>
          <p:cNvPr id="13" name="S14-stepno196"/>
          <p:cNvSpPr txBox="1"/>
          <p:nvPr/>
        </p:nvSpPr>
        <p:spPr>
          <a:xfrm>
            <a:off x="548640" y="42092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4" name="S14-text197"/>
          <p:cNvSpPr txBox="1"/>
          <p:nvPr/>
        </p:nvSpPr>
        <p:spPr>
          <a:xfrm>
            <a:off x="1325880" y="420928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날, 기록표에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5-card19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5-cardtext19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위치를 말할 때는 기준 장소를 먼저 말하고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앞·뒤·옆, 가까이·멀리를 써요.</a:t>
            </a:r>
            <a:endParaRPr lang="ko-KR" sz="3000" dirty="0"/>
          </a:p>
        </p:txBody>
      </p:sp>
      <p:sp>
        <p:nvSpPr>
          <p:cNvPr id="5" name="S15-chip20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 먼저 말하기</a:t>
            </a:r>
            <a:endParaRPr lang="ko-KR" sz="2400" dirty="0"/>
          </a:p>
        </p:txBody>
      </p:sp>
      <p:sp>
        <p:nvSpPr>
          <p:cNvPr id="6" name="S15-chip20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“옆에 있어요.”만 말하기</a:t>
            </a:r>
            <a:endParaRPr lang="ko-KR" sz="2400" dirty="0"/>
          </a:p>
        </p:txBody>
      </p:sp>
      <p:sp>
        <p:nvSpPr>
          <p:cNvPr id="7" name="S15-text20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5-text20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아플 때 가는</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장소는?</a:t>
            </a:r>
            <a:endParaRPr lang="ko-KR" sz="2400" dirty="0"/>
          </a:p>
        </p:txBody>
      </p:sp>
      <p:sp>
        <p:nvSpPr>
          <p:cNvPr id="9" name="S15-text20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건물의 앞은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어느 쪽?</a:t>
            </a:r>
            <a:endParaRPr lang="ko-KR" sz="2400" dirty="0"/>
          </a:p>
        </p:txBody>
      </p:sp>
      <p:sp>
        <p:nvSpPr>
          <p:cNvPr id="10" name="S15-text20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위치를 말할 때</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먼저 말할 것은?</a:t>
            </a:r>
            <a:endParaRPr lang="ko-KR" sz="2400" dirty="0"/>
          </a:p>
        </p:txBody>
      </p:sp>
      <p:sp>
        <p:nvSpPr>
          <p:cNvPr id="11" name="S15-text20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그림과 기호로 나타내기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내 몸으로 앞·뒤·옆</a:t>
            </a:r>
            <a:endParaRPr lang="ko-KR" sz="4000" dirty="0"/>
          </a:p>
        </p:txBody>
      </p:sp>
      <p:sp>
        <p:nvSpPr>
          <p:cNvPr id="3" name="S16-text20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같은 쪽을 보고 서서 말해요.</a:t>
            </a:r>
            <a:endParaRPr lang="ko-KR" sz="3000" dirty="0"/>
          </a:p>
        </p:txBody>
      </p:sp>
      <p:sp>
        <p:nvSpPr>
          <p:cNvPr id="4" name="S16-card20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6-cardtext20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기준(나, 소파)을 먼저 정하고 말해요.</a:t>
            </a:r>
            <a:endParaRPr lang="ko-KR" sz="3000" dirty="0"/>
          </a:p>
        </p:txBody>
      </p:sp>
      <p:sp>
        <p:nvSpPr>
          <p:cNvPr id="6" name="S16-card210"/>
          <p:cNvSpPr/>
          <p:nvPr/>
        </p:nvSpPr>
        <p:spPr>
          <a:xfrm>
            <a:off x="548640" y="2034540"/>
            <a:ext cx="11091672" cy="868680"/>
          </a:xfrm>
          <a:prstGeom prst="roundRect">
            <a:avLst>
              <a:gd name="adj" fmla="val 12632"/>
            </a:avLst>
          </a:prstGeom>
          <a:solidFill>
            <a:srgbClr val="EAF3F1"/>
          </a:solidFill>
          <a:ln w="12700">
            <a:solidFill>
              <a:srgbClr val="EAF3F1"/>
            </a:solidFill>
            <a:prstDash val="solid"/>
          </a:ln>
        </p:spPr>
      </p:sp>
      <p:sp>
        <p:nvSpPr>
          <p:cNvPr id="7" name="S16-cardtext211"/>
          <p:cNvSpPr txBox="1"/>
          <p:nvPr/>
        </p:nvSpPr>
        <p:spPr>
          <a:xfrm>
            <a:off x="822960" y="21717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앞에 있는 물건은?</a:t>
            </a:r>
            <a:endParaRPr lang="ko-KR" sz="3000" dirty="0"/>
          </a:p>
        </p:txBody>
      </p:sp>
      <p:sp>
        <p:nvSpPr>
          <p:cNvPr id="8" name="S16-card212"/>
          <p:cNvSpPr/>
          <p:nvPr/>
        </p:nvSpPr>
        <p:spPr>
          <a:xfrm>
            <a:off x="548640" y="3131820"/>
            <a:ext cx="11091672" cy="868680"/>
          </a:xfrm>
          <a:prstGeom prst="roundRect">
            <a:avLst>
              <a:gd name="adj" fmla="val 12632"/>
            </a:avLst>
          </a:prstGeom>
          <a:solidFill>
            <a:srgbClr val="EAF3F1"/>
          </a:solidFill>
          <a:ln w="12700">
            <a:solidFill>
              <a:srgbClr val="EAF3F1"/>
            </a:solidFill>
            <a:prstDash val="solid"/>
          </a:ln>
        </p:spPr>
      </p:sp>
      <p:sp>
        <p:nvSpPr>
          <p:cNvPr id="9" name="S16-cardtext213"/>
          <p:cNvSpPr txBox="1"/>
          <p:nvPr/>
        </p:nvSpPr>
        <p:spPr>
          <a:xfrm>
            <a:off x="822960" y="326898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뒤에 있는 물건은?</a:t>
            </a:r>
            <a:endParaRPr lang="ko-KR" sz="3000" dirty="0"/>
          </a:p>
        </p:txBody>
      </p:sp>
      <p:sp>
        <p:nvSpPr>
          <p:cNvPr id="10" name="S16-card214"/>
          <p:cNvSpPr/>
          <p:nvPr/>
        </p:nvSpPr>
        <p:spPr>
          <a:xfrm>
            <a:off x="548640" y="4229100"/>
            <a:ext cx="11091672" cy="868680"/>
          </a:xfrm>
          <a:prstGeom prst="roundRect">
            <a:avLst>
              <a:gd name="adj" fmla="val 12632"/>
            </a:avLst>
          </a:prstGeom>
          <a:solidFill>
            <a:srgbClr val="EAF3F1"/>
          </a:solidFill>
          <a:ln w="12700">
            <a:solidFill>
              <a:srgbClr val="EAF3F1"/>
            </a:solidFill>
            <a:prstDash val="solid"/>
          </a:ln>
        </p:spPr>
      </p:sp>
      <p:sp>
        <p:nvSpPr>
          <p:cNvPr id="11" name="S16-cardtext215"/>
          <p:cNvSpPr txBox="1"/>
          <p:nvPr/>
        </p:nvSpPr>
        <p:spPr>
          <a:xfrm>
            <a:off x="822960" y="436626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소파(책상) 옆에 있는 것은?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우리 고장의 장소</dc:title>
  <dc:subject>KR22-G03-SOC-PLACES-L01</dc:subject>
  <dc:creator>education-ppt</dc:creator>
  <cp:lastModifiedBy>education-ppt</cp:lastModifiedBy>
  <cp:revision>1</cp:revision>
  <dcterms:created xsi:type="dcterms:W3CDTF">2026-10-26T09:43:25Z</dcterms:created>
  <dcterms:modified xsi:type="dcterms:W3CDTF">2026-10-26T09:43:25Z</dcterms:modified>
</cp:coreProperties>
</file>