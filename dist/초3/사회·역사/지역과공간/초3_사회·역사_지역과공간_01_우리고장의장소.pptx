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39e4a209-2c34-7426-629b-7dab3271f10f}">
          <p14:sldIdLst>
            <p14:sldId id="256"/>
            <p14:sldId id="257"/>
          </p14:sldIdLst>
        </p14:section>
        <p14:section name="개념" id="{e0ea822a-bc0d-fe0b-6d56-328ab269554e}">
          <p14:sldIdLst>
            <p14:sldId id="258"/>
            <p14:sldId id="260"/>
            <p14:sldId id="261"/>
            <p14:sldId id="267"/>
          </p14:sldIdLst>
        </p14:section>
        <p14:section name="연습" id="{f8cbeec3-a7f9-266f-060c-341c606cf6c1}">
          <p14:sldIdLst>
            <p14:sldId id="259"/>
            <p14:sldId id="262"/>
            <p14:sldId id="263"/>
            <p14:sldId id="268"/>
          </p14:sldIdLst>
        </p14:section>
        <p14:section name="개념" id="{7996d9e5-159b-0f1c-64da-80912a35164f}">
          <p14:sldIdLst/>
        </p14:section>
        <p14:section name="연습" id="{96e1b0e5-9333-2d71-9b06-7480faa322a2}">
          <p14:sldIdLst/>
        </p14:section>
        <p14:section name="확인" id="{6b0628f2-4166-a45a-f5b3-9df2380e5193}">
          <p14:sldIdLst>
            <p14:sldId id="264"/>
            <p14:sldId id="265"/>
            <p14:sldId id="266"/>
            <p14:sldId id="269"/>
          </p14:sldIdLst>
        </p14:section>
        <p14:section name="개념" id="{95d47661-8eb6-e969-0b10-f68312d8edc6}">
          <p14:sldIdLst/>
        </p14:section>
        <p14:section name="연습" id="{792ea473-c1be-ab87-d3e3-6e36669bbd87}">
          <p14:sldIdLst/>
        </p14:section>
        <p14:section name="확인" id="{c1906fb9-19cf-ef9f-b9a4-63c48de564d8}">
          <p14:sldIdLst/>
        </p14:section>
        <p14:section name="정리" id="{d0ad1edf-6deb-b3a2-a94a-796a4c789e87}">
          <p14:sldIdLst>
            <p14:sldId id="270"/>
          </p14:sldIdLst>
        </p14:section>
        <p14:section name="보충" id="{3d4b84b4-14dc-97cc-6d0a-b39902e1c752}">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‘고장’이라는 말을 알려 줍니다.
시간: 약 2분
이렇게 말해 보세요
- “우리가 사는 곳 둘레를 ‘고장’이라고 해. 우리 고장에는 학교, 시장, 병원 같은 여러 장소가 있어.”
- “오늘은 이 장소들이 무슨 일을 하는지, 어디에 있는지 말하는 방법을 배우고, 우리 고장을 조사할 계획도 세울 거야.”
예상 답
- “학교요.” “놀이터요.” “편의점이요.”
막히면
- 오늘 아침이나 어제 다녀온 곳을 함께 떠올리게 합니다.
주의
- 화면의 별빛마을·햇살마을과 지호·서아는 수업을 위해 지어낸 것입니다. 우리 고장의 실제 장소는 S14의 조사 활동과 활동지 4에서 함께 알아봅니다.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확인(마을의 장소와 앞·뒤)]
목적: 집 가까이에 있는 장소의 이름과 그곳에서 한 일을 말할 수 있는지, 내 몸을 기준으로 앞과 뒤를 구별하는지 확인합니다. 2학년에서 마을의 시설을 배운 경험을 떠올리는 단계입니다.
시간: 약 3분
이렇게 말해 보세요
- “집 가까이에서 가 본 곳 두 곳을 말해 볼래? 거기에서 무엇을 했어?”
- “이번에는 손으로 네 앞을 가리켜 봐. 뒤는?”
예상 답
- ① “놀이터, 마트요.” ② “그네를 탔어요. 과자를 샀어요.”
- ③ 얼굴이 향한 쪽을 앞으로, 등 쪽을 뒤로 가리킵니다.
막히면
- “어제 엄마(아빠)랑 어디 갔었지?”처럼 최근 경험을 짚어 줍니다.
- 장소 이름을 거의 말하지 못하거나 앞·뒤를 헷갈리면 S16(보충)을 먼저 합니다. 이 차시는 계획상 앞 차시가 없습니다. 보충으로도 어려우면 집 둘레를 함께 한 바퀴 걸으며 장소 이름을 말해 본 뒤 다시 시작합니다(2학년 ‘마을의 시설’과 가까운 내용입니다).
주의
- 장소 이름은 편의점, 마트, 태권도장처럼 무엇이든 괜찮습니다. 오늘 배울 여섯 장소가 아니어도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고장의 주요 장소와 하는 일]
목적: 고장의 주요 장소 여섯 곳과 그곳에서 하는 일을 알려 줍니다(목표 A).
시간: 약 3분
이렇게 말해 보세요
- “카드를 하나씩 같이 읽어 보자. 이 가운데 가 본 곳은 어디야? 거기서 무엇을 했어?”
- “주민센터는 처음 들어 봤을 수도 있어. 마을 사람들에게 필요한 서류를 떼어 주고, 어려운 일이 있을 때 도와주는 곳이야.”
- “만약 우리 고장에 병원이 없으면 어떨까?”
예상 답
- “아파도 치료를 못 받아요.” “멀리 가야 해요.”
막히면
- 카드마다 “여기에는 누가 일해?”(선생님, 상인, 의사·간호사, 사서 등)를 함께 물으면 하는 일을 떠올리기 쉽습니다.
주의
- 주민센터는 고장에 따라 ‘행정복지센터’라고 부르기도 합니다. 집 가까이의 이름으로 말해 주어도 됩니다.
- 약국·마트·경찰서처럼 아이가 다른 장소를 말하면 “그곳은 무슨 일을 할까?”라고 되물으며 받아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하고 싶은 일에 맞는 장소 고르기]
목적: 하고 싶은 일에 알맞은 장소를 고르고, 그곳에서 하는 일을 까닭으로 말하게 합니다(목표 A).
시간: 약 3분
이렇게 말해 보세요
- “①은 열이 나고 기침을 해. 어디로 가면 될까? 왜 그곳이야?”
- “까닭을 말할 때는 ‘그곳에서 ~을 하니까요.’라고 말하면 돼.”
정답
- ① 병원(아플 때 진찰받고 치료받으니까) ② 도서관(책을 빌릴 수 있으니까) ③ 시장(먹을거리를 사고파니까. 마트라고 해도 맞음) ④ 공원(운동하며 쉬는 곳이니까)
막히면
- S03의 카드를 다시 보여 주고 “이 가운데 ○○을 하는 곳은 어디야?”라고 묻습니다.
주의
- ③에서 ‘마트’, ④에서 ‘자전거 길’, ‘놀이터’라고 해도 하는 일이 맞으면 인정하고, 오늘 배운 여섯 곳 가운데에서는 어디인지 한 번 더 고르게 합니다(오해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앞·뒤·옆의 뜻(문이 있는 쪽이 앞)]
목적: 건물을 기준으로 앞·뒤·옆을 말하는 방법을 알려 줍니다. 건물의 앞은 문이 있는 쪽입니다(목표 B, 오해 M2).
시간: 약 3분
이렇게 말해 보세요
- “사람은 얼굴이 있는 쪽이 앞이지? 건물은 문이 있는 쪽이 앞이야. 그림에서 짙은 색 막대가 문이야.”
- “그럼 학교의 뒤는 어느 쪽일까? 옆은?”
- “우리 집 현관문을 떠올려 봐. 우리 집 앞에는 무엇이 있어?”
예상 답
- “문 반대쪽이 뒤예요.” “왼쪽, 오른쪽이 옆이에요.”
- “우리 집 앞에는 복도(엘리베이터, 마당, 길)가 있어요.”
막히면
- 아이를 현관문 앞에 세워 “여기가 우리 집 앞이야.”라고 말하고, 집 안쪽 창문 쪽으로 가서 “여기는 뒤쪽이야.”라고 몸으로 느끼게 합니다.
주의
- 그림의 아래쪽이 늘 앞인 것은 아닙니다. 문이 위쪽에 있으면 위쪽이 앞입니다. 지금은 ‘문이 있는 쪽이 앞’만 기억하게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시범(기준 장소를 먼저 말하기, 가까이·멀리)]
목적: 부모가 생각을 소리 내어 말하며 ‘기준 장소 → 앞·뒤·옆 → 있어요’ 순서로 위치를 말하는 모습을 보여 줍니다. 가까이·멀리도 기준에서부터 말합니다(목표 B).
시간: 약 3분
이렇게 말해 보세요
- “여기는 별빛마을이야. 가운데 회색 길이 큰길이고, 건물의 짙은 막대는 문이야.”
- “엄마(아빠)는 학교를 기준으로 말해 볼게. 도서관은 학교 옆에 있어요. 지호네는 학교 앞, 큰길 건너에 있어요.”
- “이번에는 지호네를 기준으로 할게. 지호네에서 시장은 가까이 있어요. 바로 옆이거든.”
- “너도 학교를 기준으로 하나 말해 볼래?”
예상 답
- “주민센터는 학교 옆에 있어요.”
막히면
- 아래 카드의 순서대로 손가락을 짚으며 “먼저 학교, 그다음 옆, 마지막에 있어요.”라고 함께 말합니다.
주의
- 길 건너 마주 보는 곳도 ‘앞’이라고 합니다. 아이가 ‘건너편’이라고 말해도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그림을 보고 위치 말하기]
목적: 별빛마을 그림에서 기준 장소를 넣어 위치를 말해 봅니다(목표 B).
시간: 약 3분
이렇게 말해 보세요
- “①부터 해 볼까? 학교의 문은 어느 쪽에 있었지? 그럼 공원은 학교의 어디야?”
- “②는 주민센터가 기준이야. 병원은 주민센터의 어디에 있어?”
- “③ 지호네에서 시장과 병원 중 어디가 더 멀어? 문장으로 말해 줘.”
정답
- ① 공원은 학교 뒤에 있어요(학교 문의 반대쪽).
- ② 병원은 주민센터 앞(큰길 건너)에 있어요.
- ③ 병원. “지호네에서 병원은 멀리 있어요.”
막히면
- ①에서 “학교 위에 있어요.”라고 하면 “정말 학교 지붕 위에 공원이 있을까? 문이 있는 쪽이 앞이었지?”라고 묻습니다(오해 M2).
- ③은 지호네에서 두 곳까지 손가락으로 길을 따라가 보게 합니다.
주의
- 답을 낱말 하나로 말하면 “누구를 기준으로?”라고 물어 문장 전체로 다시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오해 비교(기준 장소 빠뜨리기)]
목적: 기준 장소를 빼고 말하면 위치를 알 수 없다는 것을 비교로 알게 합니다(목표 B, 오해 M1).
시간: 약 2분
이렇게 말해 보세요
- “가와 나는 둘 다 도서관이 옆에 있대. 가의 말만 듣고 도서관을 찾을 수 있을까?”
- “가까이, 멀리도 마찬가지야. ‘시장은 가까워요.’라고 하면 어디에서 가깝다는 걸까?”
정답
- 나. ‘학교’라는 기준 장소가 있어서 어디 옆인지 알 수 있습니다.
- 가까이·멀리도 ‘지호네에서 시장은 가까이 있어요.’처럼 기준을 말해야 합니다.
막히면
- “엄마(아빠)가 ‘네 장난감은 옆에 있어.’라고 하면 찾을 수 있어? ‘침대 옆에 있어.’라고 하면?”처럼 집 안 물건으로 바꾸어 묻습니다.
주의
- 여기까지가 배우는 부분입니다. 아이가 지치면 여기서 나누어 다음 날 S09부터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혼자 하기(장소 고르기)]
목적: 도움 없이 처음 보는 상황에서 알맞은 장소를 고르고 까닭을 말하는지 확인합니다(목표 A).
시간: 약 2분
이렇게 말해 보세요
- “이번에는 혼자 해 볼래? 어디로 가면 될지 말하고, 왜 그곳인지도 말해 줘.”
정답
- ① 병원(다친 곳을 치료받으니까) ② 도서관(책을 빌리니까) ③ 시장(과일을 사고파니까. 마트도 맞음) ④ 주민센터(주민에게 필요한 서류를 떼어 주니까)
막히면
- 바로 알려 주지 말고 S03 카드를 다시 보여 줍니다. 도움을 받아 해결했다면 기록표에 ‘도움’으로 표시합니다.
주의
- 네 가지 가운데 세 가지 이상을 까닭과 함께 말하면 목표 A를 이룬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하기(처음 보는 마을에서 위치 말하기)]
목적: 처음 보는 마을 그림에서 기준 장소를 넣어 위치를 말하는지 확인합니다(목표 B).
시간: 약 3분
이렇게 말해 보세요
- “여기는 햇살마을이야. 짙은 막대가 문이라는 것을 기억하고, 혼자 문장으로 말해 볼래?”
정답
- ① 도서관은 학교 옆에 있어요.
- ② 공원은 학교 뒤에 있어요.
- ③ 병원. “서아네에서 병원은 가까이 있어요(바로 옆).” 시장은 멀리 있습니다.
막히면
- 바로 알려 주지 말고 “학교의 문은 어느 쪽에 있어?”라고만 묻습니다.
- 도움을 받아 해결했다면 기록표에 ‘도움’으로 표시합니다.
주의
- 세 문제 모두 기준 장소를 넣어 문장으로 말하면 목표 B를 이룬 것으로 봅니다. ‘오른쪽 옆’처럼 더 자세히 말해도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S09·S10의 답을 확인하고 흔한 실수와 비교합니다.
시간: 약 2분
이렇게 말해 보세요
- “네 답과 왼쪽을 비교해 보자. 오른쪽처럼 말하면 무엇이 아쉬울까?”
예상 답
- “기준이 없어서 어디인지 몰라요.” “지붕 위에 공원이 있는 게 아니에요.”
정답
- S09: ① 병원 ② 도서관 ③ 시장 ④ 주민센터
- S10: ① 학교 옆 ② 학교 뒤 ③ 병원(가까이)
막히면
- 틀린 문제는 S03(장소) 또는 S05(앞·뒤·옆)로 돌아가 한 번 더 확인합니다.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우리 고장 조사 방법]
목적: 우리 고장의 장소를 알아보는 세 가지 방법을 알려 줍니다. 우리 고장의 장소는 사는 곳마다 다르므로 부모와 함께 직접 조사합니다(목표 C).
시간: 약 2분
이렇게 말해 보세요
- “별빛마을은 지어낸 마을이었어. 이제 진짜 우리 고장을 알아볼 거야. 어떤 방법이 있을까?”
- “걸어서 둘러볼 수도 있고, 휴대 전화 지도 앱에서 찾아볼 수도 있고, 오래 사신 이웃 어른께 여쭈어 볼 수도 있어.”
예상 답
- “직접 가 봐요.” “인터넷으로 찾아봐요.” “할머니께 물어봐요.”
막히면
- 부모의 휴대 전화 지도 앱을 열어 우리 집을 함께 찾아 보여 주면 이해가 빠릅니다(선택).
주의
- 지도 앱은 집에 있는 것 무엇이든 괜찮습니다. 앱 사용은 부모가 함께하고, 아이 혼자 낯선 사람에게 묻지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알맞은 조사 방법 고르기]
목적: 알고 싶은 것에 따라 알맞은 조사 방법을 고르고 까닭을 말합니다(목표 C).
시간: 약 2분
이렇게 말해 보세요
- “①은 집에서 공원까지 걸리는 시간이 궁금해. 어떤 방법이 좋을까? 왜?”
- “②, ③도 골라 보고 까닭을 말해 줘.”
정답
- ① 걸어서 가 보며 시간을 재기(지도 앱의 걸리는 시간도 맞음)
- ② 오래 사신 이웃 어른께 여쭈기(옛날 모습은 지도 앱에 잘 나오지 않으니까)
- ③ 지도 앱에서 찾기(직접 가 보기도 맞음)
- 기준: 알고 싶은 것과 방법이 어울리고 까닭을 말하면 맞습니다. 답이 하나로 정해져 있지 않습니다.
막히면
- S12의 세 방법을 하나씩 대어 보며 “이 방법으로 알 수 있을까?”라고 묻습니다.
주의
- 두 가지 방법을 함께 쓰겠다고 하면 좋은 생각이라고 칭찬합니다.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우리 고장 조사 계획 세우기]
목적: 부모와 함께 실제로 조사할 장소 세 곳과 방법을 정하고, 위치를 미리 짐작해 봅니다. 조사(걷기·지도 앱·여쭈기)는 수업 뒤 편한 날에 하고 활동지 4에 기록합니다(목표 C).
시간: 약 5분
이렇게 말해 보세요
- “우리 고장에서 조사하고 싶은 장소 세 곳을 골라 볼까? 오늘 배운 여섯 곳이 아니어도 돼.”
- “그곳은 어떤 방법으로 알아볼까? 우리 집에서 가까울까, 멀까? 짐작한 것을 활동지 4에 연필로 적어 두자.”
- “조사하는 날에는 그곳이 무슨 일을 하는지, 우리 집이나 학교를 기준으로 어디에 있는지 적을 거야.”
예상 답
- 예: 도서관(지도 앱, 우리 집에서 멀 것 같아요), 놀이터(걸어서, 우리 집 앞), 시장(할머니께 여쭈기, 학교 옆)
정답
- 기준: ① 장소 세 곳을 정함 ② 장소마다 조사 방법을 고름 ③ 기준 장소를 넣어 위치를 짐작해 말함. 세 가지를 모두 하면 목표 C의 계획 단계를 이룬 것으로 봅니다. 실제 조사 결과는 활동지 4로 확인합니다.
막히면
- 장소가 떠오르지 않으면 S02에서 말한 곳부터 고르게 합니다.
- 위치를 짐작하지 못하면 “학교 가는 길에 그곳을 지나?”처럼 다니는 길로 묻습니다.
주의
- 걸어서 조사할 때는 반드시 어른이 함께하고, 길을 건널 때는 신호를 지킵니다.
- 우리 고장의 정답은 부모님도 모를 수 있습니다. 함께 찾아보는 과정 자체가 조사입니다. 다음 수업(그림과 기호로 나타내기)에서 조사한 장소를 그림지도로 나타냅니다.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다음 학습과 복습]
목적: 핵심을 정리하고 다음 수업 첫 5분에 풀 복습 질문을 알려 줍니다.
시간: 약 2분
이렇게 말해 보세요
- “장소의 위치를 말할 때 무엇을 먼저 말해야 하지?”
- “오늘 정한 조사는 언제 해 볼까?”
예상 답
- “기준이 되는 장소를 먼저 말해요.”
정답
- ① 병원 ② 문이 있는 쪽 ③ 기준이 되는 장소
막히면
- S06과 S08을 다시 보여 줍니다.
주의
- 조사 기록표(활동지 4)는 다음 차시 ‘그림과 기호로 나타내기’에서 그림지도를 그릴 때 씁니다. 다음 수업 전에 조사를 마쳐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[S16 · 보충(내 몸과 집 안 물건으로 앞·뒤·옆)]
목적: S02에서 앞·뒤를 헷갈리거나 장소의 위치를 말하기 어려워하면, 나를 기준으로 앞·뒤·옆을 먼저 익힙니다.
시간: 약 4분
이렇게 말해 보세요
- “엄마(아빠)랑 같은 쪽을 보고 서 보자. 네 앞에 있는 물건은 뭐야? 뒤에는? 옆에는?”
- “이번에는 ‘나’ 대신 소파를 기준으로 해 볼까? 소파 앞에는 무엇이 있어?”
정답
- 예: “내 앞에는 텔레비전이 있어요.” “소파 옆에는 탁자가 있어요.” (기준을 먼저 말하고 앞·뒤·옆을 알맞게 쓰면 맞음)
막히면
- 아이 등 뒤에 인형을 두고 “돌아보지 않고 보이는 곳이 앞, 돌아봐야 보이는 곳이 뒤야.”라고 알려 줍니다.
주의
- 이 차시는 계획상 앞 차시가 없습니다. 보충 뒤에도 앞·뒤·옆이 흔들리면 며칠 동안 생활 속에서 “신발장 옆에 있어.”처럼 기준을 넣어 말하는 놀이를 한 뒤 S02부터 다시 시작합니다.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우리 고장의 장소</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고장의 장소는</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어디에 있고 무슨 일을 할까?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장소가 하는 일을 알고 알맞은 곳을 골라요.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위치를 말하고 우리 고장 조사 계획을 세워요.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동네 떠올리기</a:t>
            </a:r>
            <a:endParaRPr lang="ko-KR" sz="4000" dirty="0"/>
          </a:p>
        </p:txBody>
      </p:sp>
      <p:sp>
        <p:nvSpPr>
          <p:cNvPr id="3" name="S02-text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 가까이에 있는 곳을 떠올려 봐요.</a:t>
            </a:r>
            <a:endParaRPr lang="ko-KR" sz="3000" dirty="0"/>
          </a:p>
        </p:txBody>
      </p:sp>
      <p:sp>
        <p:nvSpPr>
          <p:cNvPr id="4" name="S02-chip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5"/>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본 곳 두 곳의 이름은?</a:t>
            </a:r>
            <a:endParaRPr lang="ko-KR" sz="3000" dirty="0"/>
          </a:p>
        </p:txBody>
      </p:sp>
      <p:sp>
        <p:nvSpPr>
          <p:cNvPr id="6" name="S02-chip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7"/>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그곳에서 무엇을 했나요?</a:t>
            </a:r>
            <a:endParaRPr lang="ko-KR" sz="3000" dirty="0"/>
          </a:p>
        </p:txBody>
      </p:sp>
      <p:sp>
        <p:nvSpPr>
          <p:cNvPr id="8" name="S02-chip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02-text9"/>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손으로 내 앞과 뒤를 가리켜요.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장소마다 하는 일이 달라요</a:t>
            </a:r>
            <a:endParaRPr lang="ko-KR" sz="4000" dirty="0"/>
          </a:p>
        </p:txBody>
      </p:sp>
      <p:sp>
        <p:nvSpPr>
          <p:cNvPr id="3" name="S03-text1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고장에는 여러 장소가 있어요.</a:t>
            </a:r>
            <a:endParaRPr lang="ko-KR" sz="3000" dirty="0"/>
          </a:p>
        </p:txBody>
      </p:sp>
      <p:sp>
        <p:nvSpPr>
          <p:cNvPr id="4" name="S03-card11"/>
          <p:cNvSpPr/>
          <p:nvPr/>
        </p:nvSpPr>
        <p:spPr>
          <a:xfrm>
            <a:off x="548640" y="2011680"/>
            <a:ext cx="3544824" cy="1988820"/>
          </a:xfrm>
          <a:prstGeom prst="roundRect">
            <a:avLst>
              <a:gd name="adj" fmla="val 5517"/>
            </a:avLst>
          </a:prstGeom>
          <a:solidFill>
            <a:srgbClr val="EAF3F1"/>
          </a:solidFill>
          <a:ln w="12700">
            <a:solidFill>
              <a:srgbClr val="EAF3F1"/>
            </a:solidFill>
            <a:prstDash val="solid"/>
          </a:ln>
        </p:spPr>
      </p:sp>
      <p:sp>
        <p:nvSpPr>
          <p:cNvPr id="5" name="S03-cardtext12"/>
          <p:cNvSpPr txBox="1"/>
          <p:nvPr/>
        </p:nvSpPr>
        <p:spPr>
          <a:xfrm>
            <a:off x="822960"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학교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선생님과 함께 배우는 곳</a:t>
            </a:r>
            <a:endParaRPr lang="ko-KR" sz="3000" dirty="0"/>
          </a:p>
        </p:txBody>
      </p:sp>
      <p:sp>
        <p:nvSpPr>
          <p:cNvPr id="6" name="S03-card13"/>
          <p:cNvSpPr/>
          <p:nvPr/>
        </p:nvSpPr>
        <p:spPr>
          <a:xfrm>
            <a:off x="4322064" y="2011680"/>
            <a:ext cx="3544824" cy="1988820"/>
          </a:xfrm>
          <a:prstGeom prst="roundRect">
            <a:avLst>
              <a:gd name="adj" fmla="val 5517"/>
            </a:avLst>
          </a:prstGeom>
          <a:solidFill>
            <a:srgbClr val="EAF3F1"/>
          </a:solidFill>
          <a:ln w="12700">
            <a:solidFill>
              <a:srgbClr val="EAF3F1"/>
            </a:solidFill>
            <a:prstDash val="solid"/>
          </a:ln>
        </p:spPr>
      </p:sp>
      <p:sp>
        <p:nvSpPr>
          <p:cNvPr id="7" name="S03-cardtext14"/>
          <p:cNvSpPr txBox="1"/>
          <p:nvPr/>
        </p:nvSpPr>
        <p:spPr>
          <a:xfrm>
            <a:off x="4596384"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시장</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먹을거리와 물건을 사고파는 곳</a:t>
            </a:r>
            <a:endParaRPr lang="ko-KR" sz="3000" dirty="0"/>
          </a:p>
        </p:txBody>
      </p:sp>
      <p:sp>
        <p:nvSpPr>
          <p:cNvPr id="8" name="S03-card15"/>
          <p:cNvSpPr/>
          <p:nvPr/>
        </p:nvSpPr>
        <p:spPr>
          <a:xfrm>
            <a:off x="8095488" y="2011680"/>
            <a:ext cx="3544824" cy="1988820"/>
          </a:xfrm>
          <a:prstGeom prst="roundRect">
            <a:avLst>
              <a:gd name="adj" fmla="val 5517"/>
            </a:avLst>
          </a:prstGeom>
          <a:solidFill>
            <a:srgbClr val="EAF3F1"/>
          </a:solidFill>
          <a:ln w="12700">
            <a:solidFill>
              <a:srgbClr val="EAF3F1"/>
            </a:solidFill>
            <a:prstDash val="solid"/>
          </a:ln>
        </p:spPr>
      </p:sp>
      <p:sp>
        <p:nvSpPr>
          <p:cNvPr id="9" name="S03-cardtext16"/>
          <p:cNvSpPr txBox="1"/>
          <p:nvPr/>
        </p:nvSpPr>
        <p:spPr>
          <a:xfrm>
            <a:off x="8369808"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공원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산책하고 운동하며 쉬는 곳</a:t>
            </a:r>
            <a:endParaRPr lang="ko-KR" sz="3000" dirty="0"/>
          </a:p>
        </p:txBody>
      </p:sp>
      <p:sp>
        <p:nvSpPr>
          <p:cNvPr id="10" name="S03-card17"/>
          <p:cNvSpPr/>
          <p:nvPr/>
        </p:nvSpPr>
        <p:spPr>
          <a:xfrm>
            <a:off x="548640" y="4229100"/>
            <a:ext cx="3544824" cy="1988820"/>
          </a:xfrm>
          <a:prstGeom prst="roundRect">
            <a:avLst>
              <a:gd name="adj" fmla="val 5517"/>
            </a:avLst>
          </a:prstGeom>
          <a:solidFill>
            <a:srgbClr val="EAF3F1"/>
          </a:solidFill>
          <a:ln w="12700">
            <a:solidFill>
              <a:srgbClr val="EAF3F1"/>
            </a:solidFill>
            <a:prstDash val="solid"/>
          </a:ln>
        </p:spPr>
      </p:sp>
      <p:sp>
        <p:nvSpPr>
          <p:cNvPr id="11" name="S03-cardtext18"/>
          <p:cNvSpPr txBox="1"/>
          <p:nvPr/>
        </p:nvSpPr>
        <p:spPr>
          <a:xfrm>
            <a:off x="822960"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도서관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책을 읽고 빌리는 곳</a:t>
            </a:r>
            <a:endParaRPr lang="ko-KR" sz="3000" dirty="0"/>
          </a:p>
        </p:txBody>
      </p:sp>
      <p:sp>
        <p:nvSpPr>
          <p:cNvPr id="12" name="S03-card19"/>
          <p:cNvSpPr/>
          <p:nvPr/>
        </p:nvSpPr>
        <p:spPr>
          <a:xfrm>
            <a:off x="4322064" y="4229100"/>
            <a:ext cx="3544824" cy="1988820"/>
          </a:xfrm>
          <a:prstGeom prst="roundRect">
            <a:avLst>
              <a:gd name="adj" fmla="val 5517"/>
            </a:avLst>
          </a:prstGeom>
          <a:solidFill>
            <a:srgbClr val="EAF3F1"/>
          </a:solidFill>
          <a:ln w="12700">
            <a:solidFill>
              <a:srgbClr val="EAF3F1"/>
            </a:solidFill>
            <a:prstDash val="solid"/>
          </a:ln>
        </p:spPr>
      </p:sp>
      <p:sp>
        <p:nvSpPr>
          <p:cNvPr id="13" name="S03-cardtext20"/>
          <p:cNvSpPr txBox="1"/>
          <p:nvPr/>
        </p:nvSpPr>
        <p:spPr>
          <a:xfrm>
            <a:off x="4596384"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주민센터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주민에게 필요한 일을 도와주는 곳</a:t>
            </a:r>
            <a:endParaRPr lang="ko-KR" sz="3000" dirty="0"/>
          </a:p>
        </p:txBody>
      </p:sp>
      <p:sp>
        <p:nvSpPr>
          <p:cNvPr id="14" name="S03-card21"/>
          <p:cNvSpPr/>
          <p:nvPr/>
        </p:nvSpPr>
        <p:spPr>
          <a:xfrm>
            <a:off x="8095488" y="4229100"/>
            <a:ext cx="3544824" cy="1988820"/>
          </a:xfrm>
          <a:prstGeom prst="roundRect">
            <a:avLst>
              <a:gd name="adj" fmla="val 5517"/>
            </a:avLst>
          </a:prstGeom>
          <a:solidFill>
            <a:srgbClr val="EAF3F1"/>
          </a:solidFill>
          <a:ln w="12700">
            <a:solidFill>
              <a:srgbClr val="EAF3F1"/>
            </a:solidFill>
            <a:prstDash val="solid"/>
          </a:ln>
        </p:spPr>
      </p:sp>
      <p:sp>
        <p:nvSpPr>
          <p:cNvPr id="15" name="S03-cardtext22"/>
          <p:cNvSpPr txBox="1"/>
          <p:nvPr/>
        </p:nvSpPr>
        <p:spPr>
          <a:xfrm>
            <a:off x="8369808"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병원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아플 때 진찰받고 치료받는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어디로 가면 될까요?</a:t>
            </a:r>
            <a:endParaRPr lang="ko-KR" sz="4000" dirty="0"/>
          </a:p>
        </p:txBody>
      </p:sp>
      <p:sp>
        <p:nvSpPr>
          <p:cNvPr id="3" name="S04-text2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4-card2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4-cardtext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4-chip2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4-text27"/>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열이 나고 기침을 해요.</a:t>
            </a:r>
            <a:endParaRPr lang="ko-KR" sz="3000" dirty="0"/>
          </a:p>
        </p:txBody>
      </p:sp>
      <p:sp>
        <p:nvSpPr>
          <p:cNvPr id="8" name="S04-chip28"/>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4-text29"/>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공룡 책을 빌리고 싶어요.</a:t>
            </a:r>
            <a:endParaRPr lang="ko-KR" sz="3000" dirty="0"/>
          </a:p>
        </p:txBody>
      </p:sp>
      <p:sp>
        <p:nvSpPr>
          <p:cNvPr id="10" name="S04-chip30"/>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4-text31"/>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저녁에 먹을 채소를 사요.</a:t>
            </a:r>
            <a:endParaRPr lang="ko-KR" sz="3000" dirty="0"/>
          </a:p>
        </p:txBody>
      </p:sp>
      <p:sp>
        <p:nvSpPr>
          <p:cNvPr id="12" name="S04-chip32"/>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4-text33"/>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가족과 자전거를 타요.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건물의 앞·뒤·옆</a:t>
            </a:r>
            <a:endParaRPr lang="ko-KR" sz="4000" dirty="0"/>
          </a:p>
        </p:txBody>
      </p:sp>
      <p:sp>
        <p:nvSpPr>
          <p:cNvPr id="3" name="S05-figure34" descr="학교 건물 하나. 아래쪽 가운데에 문이 있다. 문이 있는 아래쪽 화살표는 앞, 위쪽 화살표는 뒤, 왼쪽과 오른쪽 화살표는 옆"/>
          <p:cNvSpPr/>
          <p:nvPr/>
        </p:nvSpPr>
        <p:spPr>
          <a:xfrm>
            <a:off x="1728647" y="2871017"/>
            <a:ext cx="3002943" cy="1801766"/>
          </a:xfrm>
          <a:custGeom>
            <a:avLst/>
            <a:gdLst/>
            <a:ahLst/>
            <a:cxnLst/>
            <a:rect l="l" t="t" r="r" b="b"/>
            <a:pathLst>
              <a:path w="3002943" h="1801766">
                <a:moveTo>
                  <a:pt x="0" y="1801766"/>
                </a:moveTo>
                <a:lnTo>
                  <a:pt x="3002943" y="1801766"/>
                </a:lnTo>
                <a:lnTo>
                  <a:pt x="3002943" y="0"/>
                </a:lnTo>
                <a:lnTo>
                  <a:pt x="0" y="0"/>
                </a:lnTo>
                <a:close/>
              </a:path>
            </a:pathLst>
          </a:custGeom>
          <a:solidFill>
            <a:srgbClr val="EAF3F1"/>
          </a:solidFill>
          <a:ln w="19050">
            <a:solidFill>
              <a:srgbClr val="1F2937"/>
            </a:solidFill>
            <a:prstDash val="solid"/>
          </a:ln>
        </p:spPr>
      </p:sp>
      <p:sp>
        <p:nvSpPr>
          <p:cNvPr id="4" name="S05-mark35"/>
          <p:cNvSpPr/>
          <p:nvPr/>
        </p:nvSpPr>
        <p:spPr>
          <a:xfrm>
            <a:off x="2929824" y="4507621"/>
            <a:ext cx="600589" cy="165162"/>
          </a:xfrm>
          <a:custGeom>
            <a:avLst/>
            <a:gdLst/>
            <a:ahLst/>
            <a:cxnLst/>
            <a:rect l="l" t="t" r="r" b="b"/>
            <a:pathLst>
              <a:path w="600589" h="165162">
                <a:moveTo>
                  <a:pt x="0" y="165162"/>
                </a:moveTo>
                <a:lnTo>
                  <a:pt x="600589" y="165162"/>
                </a:lnTo>
                <a:lnTo>
                  <a:pt x="600589" y="0"/>
                </a:lnTo>
                <a:lnTo>
                  <a:pt x="0" y="0"/>
                </a:lnTo>
                <a:close/>
              </a:path>
            </a:pathLst>
          </a:custGeom>
          <a:solidFill>
            <a:srgbClr val="264653"/>
          </a:solidFill>
          <a:ln/>
        </p:spPr>
      </p:sp>
      <p:sp>
        <p:nvSpPr>
          <p:cNvPr id="5" name="S05-mark36"/>
          <p:cNvSpPr/>
          <p:nvPr/>
        </p:nvSpPr>
        <p:spPr>
          <a:xfrm>
            <a:off x="3230118" y="4785393"/>
            <a:ext cx="0" cy="525515"/>
          </a:xfrm>
          <a:prstGeom prst="line">
            <a:avLst/>
          </a:prstGeom>
          <a:noFill/>
          <a:ln w="38100">
            <a:solidFill>
              <a:srgbClr val="E9762B"/>
            </a:solidFill>
            <a:prstDash val="solid"/>
            <a:tailEnd type="triangle"/>
          </a:ln>
        </p:spPr>
      </p:sp>
      <p:sp>
        <p:nvSpPr>
          <p:cNvPr id="6" name="S05-mark37"/>
          <p:cNvSpPr/>
          <p:nvPr/>
        </p:nvSpPr>
        <p:spPr>
          <a:xfrm flipV="1">
            <a:off x="3230118" y="2232892"/>
            <a:ext cx="0" cy="525515"/>
          </a:xfrm>
          <a:prstGeom prst="line">
            <a:avLst/>
          </a:prstGeom>
          <a:noFill/>
          <a:ln w="38100">
            <a:solidFill>
              <a:srgbClr val="E9762B"/>
            </a:solidFill>
            <a:prstDash val="solid"/>
            <a:tailEnd type="triangle"/>
          </a:ln>
        </p:spPr>
      </p:sp>
      <p:sp>
        <p:nvSpPr>
          <p:cNvPr id="7" name="S05-mark38"/>
          <p:cNvSpPr/>
          <p:nvPr/>
        </p:nvSpPr>
        <p:spPr>
          <a:xfrm flipH="1">
            <a:off x="1090521" y="3771900"/>
            <a:ext cx="525515" cy="0"/>
          </a:xfrm>
          <a:prstGeom prst="line">
            <a:avLst/>
          </a:prstGeom>
          <a:noFill/>
          <a:ln w="38100">
            <a:solidFill>
              <a:srgbClr val="E9762B"/>
            </a:solidFill>
            <a:prstDash val="solid"/>
            <a:tailEnd type="triangle"/>
          </a:ln>
        </p:spPr>
      </p:sp>
      <p:sp>
        <p:nvSpPr>
          <p:cNvPr id="8" name="S05-mark39"/>
          <p:cNvSpPr/>
          <p:nvPr/>
        </p:nvSpPr>
        <p:spPr>
          <a:xfrm>
            <a:off x="4844200" y="3771900"/>
            <a:ext cx="525515" cy="0"/>
          </a:xfrm>
          <a:prstGeom prst="line">
            <a:avLst/>
          </a:prstGeom>
          <a:noFill/>
          <a:ln w="38100">
            <a:solidFill>
              <a:srgbClr val="E9762B"/>
            </a:solidFill>
            <a:prstDash val="solid"/>
            <a:tailEnd type="triangle"/>
          </a:ln>
        </p:spPr>
      </p:sp>
      <p:sp>
        <p:nvSpPr>
          <p:cNvPr id="9" name="S05-label41"/>
          <p:cNvSpPr txBox="1"/>
          <p:nvPr/>
        </p:nvSpPr>
        <p:spPr>
          <a:xfrm>
            <a:off x="2876550" y="33937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0" name="S05-label43"/>
          <p:cNvSpPr txBox="1"/>
          <p:nvPr/>
        </p:nvSpPr>
        <p:spPr>
          <a:xfrm>
            <a:off x="3025902" y="4031841"/>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1" name="S05-label45"/>
          <p:cNvSpPr txBox="1"/>
          <p:nvPr/>
        </p:nvSpPr>
        <p:spPr>
          <a:xfrm>
            <a:off x="3025902" y="54957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2" name="S05-label47"/>
          <p:cNvSpPr txBox="1"/>
          <p:nvPr/>
        </p:nvSpPr>
        <p:spPr>
          <a:xfrm>
            <a:off x="3025902" y="1667024"/>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3" name="S05-label49"/>
          <p:cNvSpPr txBox="1"/>
          <p:nvPr/>
        </p:nvSpPr>
        <p:spPr>
          <a:xfrm>
            <a:off x="435864"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4" name="S05-label51"/>
          <p:cNvSpPr txBox="1"/>
          <p:nvPr/>
        </p:nvSpPr>
        <p:spPr>
          <a:xfrm>
            <a:off x="5615940"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5" name="S05-card52"/>
          <p:cNvSpPr/>
          <p:nvPr/>
        </p:nvSpPr>
        <p:spPr>
          <a:xfrm>
            <a:off x="6277356" y="2240280"/>
            <a:ext cx="5362956" cy="868680"/>
          </a:xfrm>
          <a:prstGeom prst="roundRect">
            <a:avLst>
              <a:gd name="adj" fmla="val 12632"/>
            </a:avLst>
          </a:prstGeom>
          <a:solidFill>
            <a:srgbClr val="EAF3F1"/>
          </a:solidFill>
          <a:ln w="12700">
            <a:solidFill>
              <a:srgbClr val="EAF3F1"/>
            </a:solidFill>
            <a:prstDash val="solid"/>
          </a:ln>
        </p:spPr>
      </p:sp>
      <p:sp>
        <p:nvSpPr>
          <p:cNvPr id="16" name="S05-cardtext53"/>
          <p:cNvSpPr txBox="1"/>
          <p:nvPr/>
        </p:nvSpPr>
        <p:spPr>
          <a:xfrm>
            <a:off x="6551676" y="237744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17" name="S05-card54"/>
          <p:cNvSpPr/>
          <p:nvPr/>
        </p:nvSpPr>
        <p:spPr>
          <a:xfrm>
            <a:off x="6277356" y="3337560"/>
            <a:ext cx="5362956" cy="868680"/>
          </a:xfrm>
          <a:prstGeom prst="roundRect">
            <a:avLst>
              <a:gd name="adj" fmla="val 12632"/>
            </a:avLst>
          </a:prstGeom>
          <a:solidFill>
            <a:srgbClr val="EAF3F1"/>
          </a:solidFill>
          <a:ln w="12700">
            <a:solidFill>
              <a:srgbClr val="EAF3F1"/>
            </a:solidFill>
            <a:prstDash val="solid"/>
          </a:ln>
        </p:spPr>
      </p:sp>
      <p:sp>
        <p:nvSpPr>
          <p:cNvPr id="18" name="S05-cardtext55"/>
          <p:cNvSpPr txBox="1"/>
          <p:nvPr/>
        </p:nvSpPr>
        <p:spPr>
          <a:xfrm>
            <a:off x="6551676" y="347472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 앞의 반대쪽</a:t>
            </a:r>
            <a:endParaRPr lang="ko-KR" sz="3000" dirty="0"/>
          </a:p>
        </p:txBody>
      </p:sp>
      <p:sp>
        <p:nvSpPr>
          <p:cNvPr id="19" name="S05-card56"/>
          <p:cNvSpPr/>
          <p:nvPr/>
        </p:nvSpPr>
        <p:spPr>
          <a:xfrm>
            <a:off x="6277356" y="4434840"/>
            <a:ext cx="5362956" cy="868680"/>
          </a:xfrm>
          <a:prstGeom prst="roundRect">
            <a:avLst>
              <a:gd name="adj" fmla="val 12632"/>
            </a:avLst>
          </a:prstGeom>
          <a:solidFill>
            <a:srgbClr val="EAF3F1"/>
          </a:solidFill>
          <a:ln w="12700">
            <a:solidFill>
              <a:srgbClr val="EAF3F1"/>
            </a:solidFill>
            <a:prstDash val="solid"/>
          </a:ln>
        </p:spPr>
      </p:sp>
      <p:sp>
        <p:nvSpPr>
          <p:cNvPr id="20" name="S05-cardtext57"/>
          <p:cNvSpPr txBox="1"/>
          <p:nvPr/>
        </p:nvSpPr>
        <p:spPr>
          <a:xfrm>
            <a:off x="6551676" y="45720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옆: 왼쪽과 오른쪽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별빛마을에서 위치 말하기</a:t>
            </a:r>
            <a:endParaRPr lang="ko-KR" sz="4000" dirty="0"/>
          </a:p>
        </p:txBody>
      </p:sp>
      <p:sp>
        <p:nvSpPr>
          <p:cNvPr id="3" name="S06-card58"/>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6-cardtext59"/>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앞·뒤·옆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도서관은 학교 옆에 있어요.</a:t>
            </a:r>
            <a:endParaRPr lang="ko-KR" sz="3000" dirty="0"/>
          </a:p>
        </p:txBody>
      </p:sp>
      <p:sp>
        <p:nvSpPr>
          <p:cNvPr id="5" name="S06-figure60"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6-mark61"/>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6-mark62"/>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6-mark63"/>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6-mark64"/>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6-mark65"/>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6-mark66"/>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6-mark67"/>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6-mark68"/>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6-mark69"/>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6-mark70"/>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6-mark71"/>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6-mark72"/>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6-mark73"/>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6-label75"/>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6-label77"/>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6-label79"/>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6-label81"/>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6-label83"/>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6-label85"/>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6-label87"/>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6-label89"/>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위치 말하기</a:t>
            </a:r>
            <a:endParaRPr lang="ko-KR" sz="4000" dirty="0"/>
          </a:p>
        </p:txBody>
      </p:sp>
      <p:sp>
        <p:nvSpPr>
          <p:cNvPr id="3" name="S07-card90"/>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7-cardtext91"/>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병원은 주민센터의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시장과 병원 중 지호네에서 먼 곳은?</a:t>
            </a:r>
            <a:endParaRPr lang="ko-KR" sz="3000" dirty="0"/>
          </a:p>
        </p:txBody>
      </p:sp>
      <p:sp>
        <p:nvSpPr>
          <p:cNvPr id="5" name="S07-figure92"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07-mark93"/>
          <p:cNvSpPr/>
          <p:nvPr/>
        </p:nvSpPr>
        <p:spPr>
          <a:xfrm>
            <a:off x="2240722"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7" name="S07-mark94"/>
          <p:cNvSpPr/>
          <p:nvPr/>
        </p:nvSpPr>
        <p:spPr>
          <a:xfrm>
            <a:off x="2833608"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07-mark95"/>
          <p:cNvSpPr/>
          <p:nvPr/>
        </p:nvSpPr>
        <p:spPr>
          <a:xfrm>
            <a:off x="467155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9" name="S07-mark96"/>
          <p:cNvSpPr/>
          <p:nvPr/>
        </p:nvSpPr>
        <p:spPr>
          <a:xfrm>
            <a:off x="5560879"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07-mark97"/>
          <p:cNvSpPr/>
          <p:nvPr/>
        </p:nvSpPr>
        <p:spPr>
          <a:xfrm>
            <a:off x="7695266" y="2099138"/>
            <a:ext cx="2134387" cy="652174"/>
          </a:xfrm>
          <a:custGeom>
            <a:avLst/>
            <a:gdLst/>
            <a:ahLst/>
            <a:cxnLst/>
            <a:rect l="l" t="t" r="r" b="b"/>
            <a:pathLst>
              <a:path w="2134387" h="652174">
                <a:moveTo>
                  <a:pt x="0" y="652174"/>
                </a:moveTo>
                <a:lnTo>
                  <a:pt x="2134387" y="652174"/>
                </a:lnTo>
                <a:lnTo>
                  <a:pt x="2134387" y="0"/>
                </a:lnTo>
                <a:lnTo>
                  <a:pt x="0" y="0"/>
                </a:lnTo>
                <a:close/>
              </a:path>
            </a:pathLst>
          </a:custGeom>
          <a:solidFill>
            <a:srgbClr val="EAF3F1"/>
          </a:solidFill>
          <a:ln w="19050">
            <a:solidFill>
              <a:srgbClr val="1F2937"/>
            </a:solidFill>
            <a:prstDash val="solid"/>
          </a:ln>
        </p:spPr>
      </p:sp>
      <p:sp>
        <p:nvSpPr>
          <p:cNvPr id="11" name="S07-mark98"/>
          <p:cNvSpPr/>
          <p:nvPr/>
        </p:nvSpPr>
        <p:spPr>
          <a:xfrm>
            <a:off x="852530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2" name="S07-mark99"/>
          <p:cNvSpPr/>
          <p:nvPr/>
        </p:nvSpPr>
        <p:spPr>
          <a:xfrm>
            <a:off x="467155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3" name="S07-mark100"/>
          <p:cNvSpPr/>
          <p:nvPr/>
        </p:nvSpPr>
        <p:spPr>
          <a:xfrm>
            <a:off x="3248627"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07-mark101"/>
          <p:cNvSpPr/>
          <p:nvPr/>
        </p:nvSpPr>
        <p:spPr>
          <a:xfrm>
            <a:off x="3841512"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07-mark102"/>
          <p:cNvSpPr/>
          <p:nvPr/>
        </p:nvSpPr>
        <p:spPr>
          <a:xfrm>
            <a:off x="5145860"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6" name="S07-mark103"/>
          <p:cNvSpPr/>
          <p:nvPr/>
        </p:nvSpPr>
        <p:spPr>
          <a:xfrm>
            <a:off x="5560879"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07-mark104"/>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8" name="S07-mark105"/>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9" name="S07-label107"/>
          <p:cNvSpPr txBox="1"/>
          <p:nvPr/>
        </p:nvSpPr>
        <p:spPr>
          <a:xfrm>
            <a:off x="2567842"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7-label109"/>
          <p:cNvSpPr txBox="1"/>
          <p:nvPr/>
        </p:nvSpPr>
        <p:spPr>
          <a:xfrm>
            <a:off x="5444465"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7-label111"/>
          <p:cNvSpPr txBox="1"/>
          <p:nvPr/>
        </p:nvSpPr>
        <p:spPr>
          <a:xfrm>
            <a:off x="8110187" y="2234725"/>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7-label113"/>
          <p:cNvSpPr txBox="1"/>
          <p:nvPr/>
        </p:nvSpPr>
        <p:spPr>
          <a:xfrm>
            <a:off x="5444465"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7-label115"/>
          <p:cNvSpPr txBox="1"/>
          <p:nvPr/>
        </p:nvSpPr>
        <p:spPr>
          <a:xfrm>
            <a:off x="3725098"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7-label117"/>
          <p:cNvSpPr txBox="1"/>
          <p:nvPr/>
        </p:nvSpPr>
        <p:spPr>
          <a:xfrm>
            <a:off x="5295113"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7-label119"/>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7-label121"/>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누가 더 잘 알려 줬나요?</a:t>
            </a:r>
            <a:endParaRPr lang="ko-KR" sz="4000" dirty="0"/>
          </a:p>
        </p:txBody>
      </p:sp>
      <p:sp>
        <p:nvSpPr>
          <p:cNvPr id="3" name="S08-card122"/>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123"/>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“도서관은 어디에 있어?” 두 친구가 알려 줬어요.</a:t>
            </a:r>
            <a:endParaRPr lang="ko-KR" sz="3000" dirty="0"/>
          </a:p>
        </p:txBody>
      </p:sp>
      <p:sp>
        <p:nvSpPr>
          <p:cNvPr id="5" name="S08-card1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1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누구의 말을 듣고 찾기 쉬울까요? 왜 그럴까요?</a:t>
            </a:r>
            <a:endParaRPr lang="ko-KR" sz="3000" dirty="0"/>
          </a:p>
        </p:txBody>
      </p:sp>
      <p:sp>
        <p:nvSpPr>
          <p:cNvPr id="7" name="S08-chip126"/>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text127"/>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옆에 있어요.</a:t>
            </a:r>
            <a:endParaRPr lang="ko-KR" sz="3000" dirty="0"/>
          </a:p>
        </p:txBody>
      </p:sp>
      <p:sp>
        <p:nvSpPr>
          <p:cNvPr id="9" name="S08-chip128"/>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text129"/>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 옆에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 ①</a:t>
            </a:r>
            <a:endParaRPr lang="ko-KR" sz="4000" dirty="0"/>
          </a:p>
        </p:txBody>
      </p:sp>
      <p:sp>
        <p:nvSpPr>
          <p:cNvPr id="3" name="S09-text13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9-card131"/>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13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9-chip133"/>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134"/>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넘어져서 무릎이 아파요.</a:t>
            </a:r>
            <a:endParaRPr lang="ko-KR" sz="3000" dirty="0"/>
          </a:p>
        </p:txBody>
      </p:sp>
      <p:sp>
        <p:nvSpPr>
          <p:cNvPr id="8" name="S09-chip135"/>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136"/>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옛날이야기 책을 빌려요.</a:t>
            </a:r>
            <a:endParaRPr lang="ko-KR" sz="3000" dirty="0"/>
          </a:p>
        </p:txBody>
      </p:sp>
      <p:sp>
        <p:nvSpPr>
          <p:cNvPr id="10" name="S09-chip137"/>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138"/>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할머니께 드릴 과일을 사요.</a:t>
            </a:r>
            <a:endParaRPr lang="ko-KR" sz="3000" dirty="0"/>
          </a:p>
        </p:txBody>
      </p:sp>
      <p:sp>
        <p:nvSpPr>
          <p:cNvPr id="12" name="S09-chip139"/>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9-text140"/>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엄마가 필요한 서류를 떼요.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위치 말하기</a:t>
            </a:r>
            <a:endParaRPr lang="ko-KR" sz="4000" dirty="0"/>
          </a:p>
        </p:txBody>
      </p:sp>
      <p:sp>
        <p:nvSpPr>
          <p:cNvPr id="3" name="S10-card141"/>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0-cardtext142"/>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도서관은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병원과 시장 중 서아네에서 가까운 곳은?</a:t>
            </a:r>
            <a:endParaRPr lang="ko-KR" sz="3000" dirty="0"/>
          </a:p>
        </p:txBody>
      </p:sp>
      <p:sp>
        <p:nvSpPr>
          <p:cNvPr id="5" name="S10-figure143" descr="햇살마을 그림: 가운데에 가로로 큰길이 있다. 큰길 위쪽에 학교와 그 오른쪽 옆에 도서관이 있고, 학교 뒤에 공원이 있다. 큰길 아래쪽에 서아네(학교 앞), 서아네 바로 옆에 병원, 오른쪽 끝 멀리 시장이 있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10-mark144"/>
          <p:cNvSpPr/>
          <p:nvPr/>
        </p:nvSpPr>
        <p:spPr>
          <a:xfrm>
            <a:off x="224072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7" name="S10-mark145"/>
          <p:cNvSpPr/>
          <p:nvPr/>
        </p:nvSpPr>
        <p:spPr>
          <a:xfrm>
            <a:off x="3130050"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10-mark146"/>
          <p:cNvSpPr/>
          <p:nvPr/>
        </p:nvSpPr>
        <p:spPr>
          <a:xfrm>
            <a:off x="4730840"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9" name="S10-mark147"/>
          <p:cNvSpPr/>
          <p:nvPr/>
        </p:nvSpPr>
        <p:spPr>
          <a:xfrm>
            <a:off x="532372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10-mark148"/>
          <p:cNvSpPr/>
          <p:nvPr/>
        </p:nvSpPr>
        <p:spPr>
          <a:xfrm>
            <a:off x="224072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1" name="S10-mark149"/>
          <p:cNvSpPr/>
          <p:nvPr/>
        </p:nvSpPr>
        <p:spPr>
          <a:xfrm>
            <a:off x="2715031"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2" name="S10-mark150"/>
          <p:cNvSpPr/>
          <p:nvPr/>
        </p:nvSpPr>
        <p:spPr>
          <a:xfrm>
            <a:off x="3130050"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3" name="S10-mark151"/>
          <p:cNvSpPr/>
          <p:nvPr/>
        </p:nvSpPr>
        <p:spPr>
          <a:xfrm>
            <a:off x="4256532"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10-mark152"/>
          <p:cNvSpPr/>
          <p:nvPr/>
        </p:nvSpPr>
        <p:spPr>
          <a:xfrm>
            <a:off x="4849417"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10-mark153"/>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6" name="S10-mark154"/>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10-label156"/>
          <p:cNvSpPr txBox="1"/>
          <p:nvPr/>
        </p:nvSpPr>
        <p:spPr>
          <a:xfrm>
            <a:off x="3013636"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8" name="S10-label158"/>
          <p:cNvSpPr txBox="1"/>
          <p:nvPr/>
        </p:nvSpPr>
        <p:spPr>
          <a:xfrm>
            <a:off x="5057959"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19" name="S10-label160"/>
          <p:cNvSpPr txBox="1"/>
          <p:nvPr/>
        </p:nvSpPr>
        <p:spPr>
          <a:xfrm>
            <a:off x="3013636"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0" name="S10-label162"/>
          <p:cNvSpPr txBox="1"/>
          <p:nvPr/>
        </p:nvSpPr>
        <p:spPr>
          <a:xfrm>
            <a:off x="2864284"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서아네</a:t>
            </a:r>
            <a:endParaRPr lang="ko-KR" sz="2400" dirty="0"/>
          </a:p>
        </p:txBody>
      </p:sp>
      <p:sp>
        <p:nvSpPr>
          <p:cNvPr id="21" name="S10-label164"/>
          <p:cNvSpPr txBox="1"/>
          <p:nvPr/>
        </p:nvSpPr>
        <p:spPr>
          <a:xfrm>
            <a:off x="4733003"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2" name="S10-label166"/>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3" name="S10-label168"/>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169"/>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17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장소를 먼저 말하고, 문이 있는 쪽이 앞이에요.</a:t>
            </a:r>
            <a:endParaRPr lang="ko-KR" sz="3000" dirty="0"/>
          </a:p>
        </p:txBody>
      </p:sp>
      <p:sp>
        <p:nvSpPr>
          <p:cNvPr id="5" name="S11-chip171"/>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172"/>
          <p:cNvSpPr txBox="1"/>
          <p:nvPr/>
        </p:nvSpPr>
        <p:spPr>
          <a:xfrm>
            <a:off x="548640" y="2057400"/>
            <a:ext cx="268147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병원 · 도서관</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시장 · 주민센터</a:t>
            </a:r>
            <a:endParaRPr lang="ko-KR" sz="2400" dirty="0"/>
          </a:p>
        </p:txBody>
      </p:sp>
      <p:sp>
        <p:nvSpPr>
          <p:cNvPr id="7" name="S11-text173"/>
          <p:cNvSpPr txBox="1"/>
          <p:nvPr/>
        </p:nvSpPr>
        <p:spPr>
          <a:xfrm>
            <a:off x="3367278" y="20574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S09</a:t>
            </a:r>
            <a:endParaRPr lang="ko-KR" sz="2400" dirty="0"/>
          </a:p>
        </p:txBody>
      </p:sp>
      <p:sp>
        <p:nvSpPr>
          <p:cNvPr id="8" name="S11-text174"/>
          <p:cNvSpPr txBox="1"/>
          <p:nvPr/>
        </p:nvSpPr>
        <p:spPr>
          <a:xfrm>
            <a:off x="548640" y="3429000"/>
            <a:ext cx="268147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학교 옆 · 학교 뒤</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병원(가까이)</a:t>
            </a:r>
            <a:endParaRPr lang="ko-KR" sz="2400" dirty="0"/>
          </a:p>
        </p:txBody>
      </p:sp>
      <p:sp>
        <p:nvSpPr>
          <p:cNvPr id="9" name="S11-text175"/>
          <p:cNvSpPr txBox="1"/>
          <p:nvPr/>
        </p:nvSpPr>
        <p:spPr>
          <a:xfrm>
            <a:off x="3367278"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S10</a:t>
            </a:r>
            <a:endParaRPr lang="ko-KR" sz="2400" dirty="0"/>
          </a:p>
        </p:txBody>
      </p:sp>
      <p:sp>
        <p:nvSpPr>
          <p:cNvPr id="10" name="S11-chip176"/>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1" name="S11-text177"/>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“옆에 있어요.”</a:t>
            </a:r>
            <a:endParaRPr lang="ko-KR" sz="3000" dirty="0"/>
          </a:p>
        </p:txBody>
      </p:sp>
      <p:sp>
        <p:nvSpPr>
          <p:cNvPr id="12" name="S11-text178"/>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기준 장소가 빠졌어요</a:t>
            </a:r>
            <a:endParaRPr lang="ko-KR" sz="2400" dirty="0"/>
          </a:p>
        </p:txBody>
      </p:sp>
      <p:sp>
        <p:nvSpPr>
          <p:cNvPr id="13" name="S11-text179"/>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 위에 있어요.”</a:t>
            </a:r>
            <a:endParaRPr lang="ko-KR" sz="3000" dirty="0"/>
          </a:p>
        </p:txBody>
      </p:sp>
      <p:sp>
        <p:nvSpPr>
          <p:cNvPr id="14" name="S11-text180"/>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문 반대쪽은 뒤</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고장을 조사하는 방법</a:t>
            </a:r>
            <a:endParaRPr lang="ko-KR" sz="4000" dirty="0"/>
          </a:p>
        </p:txBody>
      </p:sp>
      <p:sp>
        <p:nvSpPr>
          <p:cNvPr id="3" name="S12-card18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2-cardtext18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알아낸 것은 바로 기록표에 적어요.</a:t>
            </a:r>
            <a:endParaRPr lang="ko-KR" sz="3000" dirty="0"/>
          </a:p>
        </p:txBody>
      </p:sp>
      <p:sp>
        <p:nvSpPr>
          <p:cNvPr id="5" name="S12-card183"/>
          <p:cNvSpPr/>
          <p:nvPr/>
        </p:nvSpPr>
        <p:spPr>
          <a:xfrm>
            <a:off x="548640" y="2125980"/>
            <a:ext cx="3544824" cy="2194560"/>
          </a:xfrm>
          <a:prstGeom prst="roundRect">
            <a:avLst>
              <a:gd name="adj" fmla="val 5000"/>
            </a:avLst>
          </a:prstGeom>
          <a:solidFill>
            <a:srgbClr val="EAF3F1"/>
          </a:solidFill>
          <a:ln w="12700">
            <a:solidFill>
              <a:srgbClr val="EAF3F1"/>
            </a:solidFill>
            <a:prstDash val="solid"/>
          </a:ln>
        </p:spPr>
      </p:sp>
      <p:sp>
        <p:nvSpPr>
          <p:cNvPr id="6" name="S12-cardtext184"/>
          <p:cNvSpPr txBox="1"/>
          <p:nvPr/>
        </p:nvSpPr>
        <p:spPr>
          <a:xfrm>
            <a:off x="822960"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① 직접 가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어른과 함께 걸으며 장소와 위치를 살펴요.</a:t>
            </a:r>
            <a:endParaRPr lang="ko-KR" sz="3000" dirty="0"/>
          </a:p>
        </p:txBody>
      </p:sp>
      <p:sp>
        <p:nvSpPr>
          <p:cNvPr id="7" name="S12-card185"/>
          <p:cNvSpPr/>
          <p:nvPr/>
        </p:nvSpPr>
        <p:spPr>
          <a:xfrm>
            <a:off x="4322064" y="2125980"/>
            <a:ext cx="3544824" cy="2194560"/>
          </a:xfrm>
          <a:prstGeom prst="roundRect">
            <a:avLst>
              <a:gd name="adj" fmla="val 5000"/>
            </a:avLst>
          </a:prstGeom>
          <a:solidFill>
            <a:srgbClr val="EAF3F1"/>
          </a:solidFill>
          <a:ln w="12700">
            <a:solidFill>
              <a:srgbClr val="EAF3F1"/>
            </a:solidFill>
            <a:prstDash val="solid"/>
          </a:ln>
        </p:spPr>
      </p:sp>
      <p:sp>
        <p:nvSpPr>
          <p:cNvPr id="8" name="S12-cardtext186"/>
          <p:cNvSpPr txBox="1"/>
          <p:nvPr/>
        </p:nvSpPr>
        <p:spPr>
          <a:xfrm>
            <a:off x="4596384"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② 지도 앱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휴대 전화 지도 앱에서 장소를 찾아요.</a:t>
            </a:r>
            <a:endParaRPr lang="ko-KR" sz="3000" dirty="0"/>
          </a:p>
        </p:txBody>
      </p:sp>
      <p:sp>
        <p:nvSpPr>
          <p:cNvPr id="9" name="S12-card187"/>
          <p:cNvSpPr/>
          <p:nvPr/>
        </p:nvSpPr>
        <p:spPr>
          <a:xfrm>
            <a:off x="8095488" y="2125980"/>
            <a:ext cx="3544824" cy="2194560"/>
          </a:xfrm>
          <a:prstGeom prst="roundRect">
            <a:avLst>
              <a:gd name="adj" fmla="val 5000"/>
            </a:avLst>
          </a:prstGeom>
          <a:solidFill>
            <a:srgbClr val="EAF3F1"/>
          </a:solidFill>
          <a:ln w="12700">
            <a:solidFill>
              <a:srgbClr val="EAF3F1"/>
            </a:solidFill>
            <a:prstDash val="solid"/>
          </a:ln>
        </p:spPr>
      </p:sp>
      <p:sp>
        <p:nvSpPr>
          <p:cNvPr id="10" name="S12-cardtext188"/>
          <p:cNvSpPr txBox="1"/>
          <p:nvPr/>
        </p:nvSpPr>
        <p:spPr>
          <a:xfrm>
            <a:off x="8369808"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③ 어른께 여쭈기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이웃 어른께 장소가 하는 일을 여쭈어요.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방법이 좋을까요?</a:t>
            </a:r>
            <a:endParaRPr lang="ko-KR" sz="4000" dirty="0"/>
          </a:p>
        </p:txBody>
      </p:sp>
      <p:sp>
        <p:nvSpPr>
          <p:cNvPr id="3" name="S13-text18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알고 싶은 것에 맞는 방법을 골라요.</a:t>
            </a:r>
            <a:endParaRPr lang="ko-KR" sz="3000" dirty="0"/>
          </a:p>
        </p:txBody>
      </p:sp>
      <p:sp>
        <p:nvSpPr>
          <p:cNvPr id="4" name="S13-card190"/>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3-cardtext19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직접 가 보기 · 지도 앱 보기 · 어른께 여쭈기</a:t>
            </a:r>
            <a:endParaRPr lang="ko-KR" sz="3000" dirty="0"/>
          </a:p>
        </p:txBody>
      </p:sp>
      <p:sp>
        <p:nvSpPr>
          <p:cNvPr id="6" name="S13-chip192"/>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3-text193"/>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공원까지 몇 분 걸릴까?</a:t>
            </a:r>
            <a:endParaRPr lang="ko-KR" sz="3000" dirty="0"/>
          </a:p>
        </p:txBody>
      </p:sp>
      <p:sp>
        <p:nvSpPr>
          <p:cNvPr id="8" name="S13-chip194"/>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3-text195"/>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시장은 옛날에 어땠을까?</a:t>
            </a:r>
            <a:endParaRPr lang="ko-KR" sz="3000" dirty="0"/>
          </a:p>
        </p:txBody>
      </p:sp>
      <p:sp>
        <p:nvSpPr>
          <p:cNvPr id="10" name="S13-chip196"/>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3-text197"/>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가까운 병원은 어디일까?</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 조사 계획</a:t>
            </a:r>
            <a:endParaRPr lang="ko-KR" sz="4000" dirty="0"/>
          </a:p>
        </p:txBody>
      </p:sp>
      <p:sp>
        <p:nvSpPr>
          <p:cNvPr id="3" name="S14-card19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9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안전: 길을 다닐 때는 꼭 어른과 함께해요.</a:t>
            </a:r>
            <a:endParaRPr lang="ko-KR" sz="3000" dirty="0"/>
          </a:p>
        </p:txBody>
      </p:sp>
      <p:sp>
        <p:nvSpPr>
          <p:cNvPr id="5" name="S14-card200"/>
          <p:cNvSpPr/>
          <p:nvPr/>
        </p:nvSpPr>
        <p:spPr>
          <a:xfrm>
            <a:off x="6813652" y="1325880"/>
            <a:ext cx="4826660" cy="3794760"/>
          </a:xfrm>
          <a:prstGeom prst="roundRect">
            <a:avLst>
              <a:gd name="adj" fmla="val 2892"/>
            </a:avLst>
          </a:prstGeom>
          <a:solidFill>
            <a:srgbClr val="EAF3F1"/>
          </a:solidFill>
          <a:ln w="12700">
            <a:solidFill>
              <a:srgbClr val="EAF3F1"/>
            </a:solidFill>
            <a:prstDash val="solid"/>
          </a:ln>
        </p:spPr>
      </p:sp>
      <p:sp>
        <p:nvSpPr>
          <p:cNvPr id="6" name="S14-cardtext201"/>
          <p:cNvSpPr txBox="1"/>
          <p:nvPr/>
        </p:nvSpPr>
        <p:spPr>
          <a:xfrm>
            <a:off x="7087972" y="1463040"/>
            <a:ext cx="4278020" cy="35204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 세 곳을 정했어요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조사 방법을 골랐어요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기준을 넣어 위치를 말했어요</a:t>
            </a:r>
            <a:endParaRPr lang="ko-KR" sz="3000" dirty="0"/>
          </a:p>
        </p:txBody>
      </p:sp>
      <p:sp>
        <p:nvSpPr>
          <p:cNvPr id="7" name="S14-stepno202"/>
          <p:cNvSpPr txBox="1"/>
          <p:nvPr/>
        </p:nvSpPr>
        <p:spPr>
          <a:xfrm>
            <a:off x="548640" y="16885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8" name="S14-text203"/>
          <p:cNvSpPr txBox="1"/>
          <p:nvPr/>
        </p:nvSpPr>
        <p:spPr>
          <a:xfrm>
            <a:off x="1325880" y="168859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조사할 장소 세 곳을 정해요.</a:t>
            </a:r>
            <a:endParaRPr lang="ko-KR" sz="3000" dirty="0"/>
          </a:p>
        </p:txBody>
      </p:sp>
      <p:sp>
        <p:nvSpPr>
          <p:cNvPr id="9" name="S14-stepno204"/>
          <p:cNvSpPr txBox="1"/>
          <p:nvPr/>
        </p:nvSpPr>
        <p:spPr>
          <a:xfrm>
            <a:off x="548640" y="24018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0" name="S14-text205"/>
          <p:cNvSpPr txBox="1"/>
          <p:nvPr/>
        </p:nvSpPr>
        <p:spPr>
          <a:xfrm>
            <a:off x="1325880" y="2401824"/>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장소마다 조사 방법을 골라요.</a:t>
            </a:r>
            <a:endParaRPr lang="ko-KR" sz="3000" dirty="0"/>
          </a:p>
        </p:txBody>
      </p:sp>
      <p:sp>
        <p:nvSpPr>
          <p:cNvPr id="11" name="S14-stepno206"/>
          <p:cNvSpPr txBox="1"/>
          <p:nvPr/>
        </p:nvSpPr>
        <p:spPr>
          <a:xfrm>
            <a:off x="548640" y="316077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2" name="S14-text207"/>
          <p:cNvSpPr txBox="1"/>
          <p:nvPr/>
        </p:nvSpPr>
        <p:spPr>
          <a:xfrm>
            <a:off x="1325880" y="3115056"/>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우리 집에서 가까울지 멀지 짐작해요.</a:t>
            </a:r>
            <a:endParaRPr lang="ko-KR" sz="3000" dirty="0"/>
          </a:p>
        </p:txBody>
      </p:sp>
      <p:sp>
        <p:nvSpPr>
          <p:cNvPr id="13" name="S14-stepno208"/>
          <p:cNvSpPr txBox="1"/>
          <p:nvPr/>
        </p:nvSpPr>
        <p:spPr>
          <a:xfrm>
            <a:off x="548640" y="42092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4" name="S14-text209"/>
          <p:cNvSpPr txBox="1"/>
          <p:nvPr/>
        </p:nvSpPr>
        <p:spPr>
          <a:xfrm>
            <a:off x="1325880" y="420928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날, 기록표에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5-card210"/>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5-cardtext211"/>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위치를 말할 때는 기준 장소를 먼저 말하고</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앞·뒤·옆, 가까이·멀리를 써요.</a:t>
            </a:r>
            <a:endParaRPr lang="ko-KR" sz="3000" dirty="0"/>
          </a:p>
        </p:txBody>
      </p:sp>
      <p:sp>
        <p:nvSpPr>
          <p:cNvPr id="5" name="S15-chip212"/>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 먼저 말하기</a:t>
            </a:r>
            <a:endParaRPr lang="ko-KR" sz="2400" dirty="0"/>
          </a:p>
        </p:txBody>
      </p:sp>
      <p:sp>
        <p:nvSpPr>
          <p:cNvPr id="6" name="S15-chip213"/>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“옆에 있어요.”만 말하기</a:t>
            </a:r>
            <a:endParaRPr lang="ko-KR" sz="2400" dirty="0"/>
          </a:p>
        </p:txBody>
      </p:sp>
      <p:sp>
        <p:nvSpPr>
          <p:cNvPr id="7" name="S15-text214"/>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5-text215"/>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아플 때 가는</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장소는?</a:t>
            </a:r>
            <a:endParaRPr lang="ko-KR" sz="2400" dirty="0"/>
          </a:p>
        </p:txBody>
      </p:sp>
      <p:sp>
        <p:nvSpPr>
          <p:cNvPr id="9" name="S15-text216"/>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건물의 앞은</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어느 쪽?</a:t>
            </a:r>
            <a:endParaRPr lang="ko-KR" sz="2400" dirty="0"/>
          </a:p>
        </p:txBody>
      </p:sp>
      <p:sp>
        <p:nvSpPr>
          <p:cNvPr id="10" name="S15-text217"/>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위치를 말할 때</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먼저 말할 것은?</a:t>
            </a:r>
            <a:endParaRPr lang="ko-KR" sz="2400" dirty="0"/>
          </a:p>
        </p:txBody>
      </p:sp>
      <p:sp>
        <p:nvSpPr>
          <p:cNvPr id="11" name="S15-text218"/>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그림과 기호로 나타내기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내 몸으로 앞·뒤·옆</a:t>
            </a:r>
            <a:endParaRPr lang="ko-KR" sz="4000" dirty="0"/>
          </a:p>
        </p:txBody>
      </p:sp>
      <p:sp>
        <p:nvSpPr>
          <p:cNvPr id="3" name="S16-text21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같은 쪽을 보고 서서 말해요.</a:t>
            </a:r>
            <a:endParaRPr lang="ko-KR" sz="3000" dirty="0"/>
          </a:p>
        </p:txBody>
      </p:sp>
      <p:sp>
        <p:nvSpPr>
          <p:cNvPr id="4" name="S16-card22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16-cardtext22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기준(나, 소파)을 먼저 정하고 말해요.</a:t>
            </a:r>
            <a:endParaRPr lang="ko-KR" sz="3000" dirty="0"/>
          </a:p>
        </p:txBody>
      </p:sp>
      <p:sp>
        <p:nvSpPr>
          <p:cNvPr id="6" name="S16-card222"/>
          <p:cNvSpPr/>
          <p:nvPr/>
        </p:nvSpPr>
        <p:spPr>
          <a:xfrm>
            <a:off x="548640" y="2034540"/>
            <a:ext cx="11091672" cy="868680"/>
          </a:xfrm>
          <a:prstGeom prst="roundRect">
            <a:avLst>
              <a:gd name="adj" fmla="val 12632"/>
            </a:avLst>
          </a:prstGeom>
          <a:solidFill>
            <a:srgbClr val="EAF3F1"/>
          </a:solidFill>
          <a:ln w="12700">
            <a:solidFill>
              <a:srgbClr val="EAF3F1"/>
            </a:solidFill>
            <a:prstDash val="solid"/>
          </a:ln>
        </p:spPr>
      </p:sp>
      <p:sp>
        <p:nvSpPr>
          <p:cNvPr id="7" name="S16-cardtext223"/>
          <p:cNvSpPr txBox="1"/>
          <p:nvPr/>
        </p:nvSpPr>
        <p:spPr>
          <a:xfrm>
            <a:off x="822960" y="21717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앞에 있는 물건은?</a:t>
            </a:r>
            <a:endParaRPr lang="ko-KR" sz="3000" dirty="0"/>
          </a:p>
        </p:txBody>
      </p:sp>
      <p:sp>
        <p:nvSpPr>
          <p:cNvPr id="8" name="S16-card224"/>
          <p:cNvSpPr/>
          <p:nvPr/>
        </p:nvSpPr>
        <p:spPr>
          <a:xfrm>
            <a:off x="548640" y="3131820"/>
            <a:ext cx="11091672" cy="868680"/>
          </a:xfrm>
          <a:prstGeom prst="roundRect">
            <a:avLst>
              <a:gd name="adj" fmla="val 12632"/>
            </a:avLst>
          </a:prstGeom>
          <a:solidFill>
            <a:srgbClr val="EAF3F1"/>
          </a:solidFill>
          <a:ln w="12700">
            <a:solidFill>
              <a:srgbClr val="EAF3F1"/>
            </a:solidFill>
            <a:prstDash val="solid"/>
          </a:ln>
        </p:spPr>
      </p:sp>
      <p:sp>
        <p:nvSpPr>
          <p:cNvPr id="9" name="S16-cardtext225"/>
          <p:cNvSpPr txBox="1"/>
          <p:nvPr/>
        </p:nvSpPr>
        <p:spPr>
          <a:xfrm>
            <a:off x="822960" y="326898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뒤에 있는 물건은?</a:t>
            </a:r>
            <a:endParaRPr lang="ko-KR" sz="3000" dirty="0"/>
          </a:p>
        </p:txBody>
      </p:sp>
      <p:sp>
        <p:nvSpPr>
          <p:cNvPr id="10" name="S16-card226"/>
          <p:cNvSpPr/>
          <p:nvPr/>
        </p:nvSpPr>
        <p:spPr>
          <a:xfrm>
            <a:off x="548640" y="4229100"/>
            <a:ext cx="11091672" cy="868680"/>
          </a:xfrm>
          <a:prstGeom prst="roundRect">
            <a:avLst>
              <a:gd name="adj" fmla="val 12632"/>
            </a:avLst>
          </a:prstGeom>
          <a:solidFill>
            <a:srgbClr val="EAF3F1"/>
          </a:solidFill>
          <a:ln w="12700">
            <a:solidFill>
              <a:srgbClr val="EAF3F1"/>
            </a:solidFill>
            <a:prstDash val="solid"/>
          </a:ln>
        </p:spPr>
      </p:sp>
      <p:sp>
        <p:nvSpPr>
          <p:cNvPr id="11" name="S16-cardtext227"/>
          <p:cNvSpPr txBox="1"/>
          <p:nvPr/>
        </p:nvSpPr>
        <p:spPr>
          <a:xfrm>
            <a:off x="822960" y="436626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소파(책상) 옆에 있는 것은?</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우리 고장의 장소</dc:title>
  <dc:subject>KR22-G03-SOC-PLACES-L01</dc:subject>
  <dc:creator>education-ppt</dc:creator>
  <cp:lastModifiedBy>education-ppt</cp:lastModifiedBy>
  <cp:revision>1</cp:revision>
  <dcterms:created xsi:type="dcterms:W3CDTF">2026-10-26T09:43:25Z</dcterms:created>
  <dcterms:modified xsi:type="dcterms:W3CDTF">2026-10-26T09:43:25Z</dcterms:modified>
</cp:coreProperties>
</file>