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71947fc0-426e-8357-d7c5-2eb8042a2ade}">
          <p14:sldIdLst>
            <p14:sldId id="256"/>
            <p14:sldId id="257"/>
          </p14:sldIdLst>
        </p14:section>
        <p14:section name="개념" id="{af23b20a-0d04-28d9-71c0-0edb523089b1}">
          <p14:sldIdLst>
            <p14:sldId id="258"/>
            <p14:sldId id="260"/>
            <p14:sldId id="261"/>
            <p14:sldId id="267"/>
          </p14:sldIdLst>
        </p14:section>
        <p14:section name="연습" id="{c2c3161b-94eb-5e46-a2f4-69984770476d}">
          <p14:sldIdLst>
            <p14:sldId id="259"/>
            <p14:sldId id="262"/>
            <p14:sldId id="263"/>
            <p14:sldId id="268"/>
          </p14:sldIdLst>
        </p14:section>
        <p14:section name="개념" id="{cf6603a4-8100-1170-896d-ccdf37e31064}">
          <p14:sldIdLst/>
        </p14:section>
        <p14:section name="연습" id="{ccad27e3-7655-acbc-7919-0e198e24b6db}">
          <p14:sldIdLst/>
        </p14:section>
        <p14:section name="확인" id="{7d1f066e-86ed-ec2e-465d-ab2f46fdd9f4}">
          <p14:sldIdLst>
            <p14:sldId id="264"/>
            <p14:sldId id="265"/>
            <p14:sldId id="266"/>
            <p14:sldId id="269"/>
          </p14:sldIdLst>
        </p14:section>
        <p14:section name="개념" id="{f39baa3e-0cde-69af-83e6-aac94132fe86}">
          <p14:sldIdLst/>
        </p14:section>
        <p14:section name="연습" id="{32b47b8c-2a66-df05-f52f-8897c9b3ce0d}">
          <p14:sldIdLst/>
        </p14:section>
        <p14:section name="확인" id="{408275b9-a929-eddc-24dc-31dd33b56f84}">
          <p14:sldIdLst/>
        </p14:section>
        <p14:section name="정리" id="{6f48b009-9d7d-b0ab-f1c2-6da3326a840f}">
          <p14:sldIdLst>
            <p14:sldId id="270"/>
          </p14:sldIdLst>
        </p14:section>
        <p14:section name="보충" id="{3231c935-fb20-16ff-a84d-b7d82a90af29}">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오늘 배울 것을 알리고, ‘고장’이라는 말을 알려 줍니다.
시간: 약 2분
이렇게 말해 보세요
- “우리가 사는 곳 둘레를 ‘고장’이라고 해. 우리 고장에는 학교, 시장, 병원 같은 여러 장소가 있어.”
- “오늘은 이 장소들이 무슨 일을 하는지, 어디에 있는지 말하는 방법을 배우고, 우리 고장을 조사할 계획도 세울 거야.”
예상 답
- “학교요.” “놀이터요.” “편의점이요.”
막히면
- 오늘 아침이나 어제 다녀온 곳을 함께 떠올리게 합니다.
주의
- 화면의 별빛마을·햇살마을과 지호·서아는 수업을 위해 지어낸 것입니다. 우리 고장의 실제 장소는 S14의 조사 활동과 활동지 4에서 함께 알아봅니다.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확인(마을의 장소와 앞·뒤)]
목적: 집 가까이에 있는 장소의 이름과 그곳에서 한 일을 말할 수 있는지, 내 몸을 기준으로 앞과 뒤를 구별하는지 확인합니다. 2학년에서 마을의 시설을 배운 경험을 떠올리는 단계입니다.
시간: 약 3분
이렇게 말해 보세요
- “집 가까이에서 가 본 곳 두 곳을 말해 볼래? 거기에서 무엇을 했어?”
- “이번에는 손으로 네 앞을 가리켜 봐. 뒤는?”
예상 답
- ① “놀이터, 마트요.” ② “그네를 탔어요. 과자를 샀어요.”
- ③ 얼굴이 향한 쪽을 앞으로, 등 쪽을 뒤로 가리킵니다.
막히면
- “어제 엄마(아빠)랑 어디 갔었지?”처럼 최근 경험을 짚어 줍니다.
- 장소 이름을 거의 말하지 못하거나 앞·뒤를 헷갈리면 S16(보충)을 먼저 합니다. 보충으로도 어려우면 집 둘레를 함께 한 바퀴 걸으며 장소 이름을 말해 본 뒤 다시 시작합니다(앞 차시는 2학년 ‘마을의 시설’입니다).
주의
- 장소 이름은 편의점, 마트, 태권도장처럼 무엇이든 괜찮습니다. 오늘 배울 여섯 장소가 아니어도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고장의 주요 장소와 하는 일]
목적: 고장의 주요 장소 여섯 곳과 그곳에서 하는 일을 알려 줍니다(목표 A).
시간: 약 3분
이렇게 말해 보세요
- “카드를 하나씩 같이 읽어 보자. 이 가운데 가 본 곳은 어디야? 거기서 무엇을 했어?”
- “주민센터는 처음 들어 봤을 수도 있어. 마을 사람들에게 필요한 서류를 떼어 주고, 어려운 일이 있을 때 도와주는 곳이야.”
- “만약 우리 고장에 병원이 없으면 어떨까?”
예상 답
- “아파도 치료를 못 받아요.” “멀리 가야 해요.”
막히면
- 카드마다 “여기에는 누가 일해?”(선생님, 상인, 의사·간호사, 사서 등)를 함께 물으면 하는 일을 떠올리기 쉽습니다.
주의
- 주민센터는 고장에 따라 ‘행정복지센터’라고 부르기도 합니다. 집 가까이의 이름으로 말해 주어도 됩니다.
- 약국·마트·경찰서처럼 아이가 다른 장소를 말하면 “그곳은 무슨 일을 할까?”라고 되물으며 받아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하고 싶은 일에 맞는 장소 고르기]
목적: 하고 싶은 일에 알맞은 장소를 고르고, 그곳에서 하는 일을 까닭으로 말하게 합니다(목표 A).
시간: 약 3분
이렇게 말해 보세요
- “①은 열이 나고 기침을 해. 어디로 가면 될까? 왜 그곳이야?”
- “까닭을 말할 때는 ‘그곳에서 ~을 하니까요.’라고 말하면 돼.”
정답
- ① 병원(아플 때 진찰받고 치료받으니까) ② 도서관(책을 빌릴 수 있으니까) ③ 시장(먹을거리를 사고파니까. 마트라고 해도 맞음) ④ 공원(운동하며 쉬는 곳이니까)
막히면
- S03의 카드를 다시 보여 주고 “이 가운데 ○○을 하는 곳은 어디야?”라고 묻습니다.
주의
- ③에서 ‘마트’, ④에서 ‘자전거 길’, ‘놀이터’라고 해도 하는 일이 맞으면 인정하고, 오늘 배운 여섯 곳 가운데에서는 어디인지 한 번 더 고르게 합니다(오해 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앞·뒤·옆의 뜻(문이 있는 쪽이 앞)]
목적: 건물을 기준으로 앞·뒤·옆을 말하는 방법을 알려 줍니다. 건물의 앞은 문이 있는 쪽입니다(목표 B, 오해 M2).
시간: 약 3분
이렇게 말해 보세요
- “사람은 얼굴이 있는 쪽이 앞이지? 건물은 문이 있는 쪽이 앞이야. 그림에서 짙은 색 막대가 문이야.”
- “그럼 학교의 뒤는 어느 쪽일까? 옆은?”
- “우리 집 현관문을 떠올려 봐. 우리 집 앞에는 무엇이 있어?”
예상 답
- “문 반대쪽이 뒤예요.” “왼쪽, 오른쪽이 옆이에요.”
- “우리 집 앞에는 복도(엘리베이터, 마당, 길)가 있어요.”
막히면
- 아이를 현관문 앞에 세워 “여기가 우리 집 앞이야.”라고 말하고, 집 안쪽 창문 쪽으로 가서 “여기는 뒤쪽이야.”라고 몸으로 느끼게 합니다.
주의
- 그림의 아래쪽이 늘 앞인 것은 아닙니다. 문이 위쪽에 있으면 위쪽이 앞입니다. 지금은 ‘문이 있는 쪽이 앞’만 기억하게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시범(기준 장소를 먼저 말하기, 가까이·멀리)]
목적: 부모가 생각을 소리 내어 말하며 ‘기준 장소 → 앞·뒤·옆 → 있어요’ 순서로 위치를 말하는 모습을 보여 줍니다. 가까이·멀리도 기준에서부터 말합니다(목표 B).
시간: 약 3분
이렇게 말해 보세요
- “여기는 별빛마을이야. 가운데 회색 길이 큰길이고, 건물의 짙은 막대는 문이야.”
- “엄마(아빠)는 학교를 기준으로 말해 볼게. 도서관은 학교 옆에 있어요. 지호네는 학교 앞, 큰길 건너에 있어요.”
- “이번에는 지호네를 기준으로 할게. 지호네에서 시장은 가까이 있어요. 바로 옆이거든.”
- “너도 학교를 기준으로 하나 말해 볼래?”
예상 답
- “주민센터는 학교 옆에 있어요.”
막히면
- 아래 카드의 순서대로 손가락을 짚으며 “먼저 학교, 그다음 옆, 마지막에 있어요.”라고 함께 말합니다.
주의
- 길 건너 마주 보는 곳도 ‘앞’이라고 합니다. 아이가 ‘건너편’이라고 말해도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그림을 보고 위치 말하기]
목적: 별빛마을 그림에서 기준 장소를 넣어 위치를 말해 봅니다(목표 B).
시간: 약 3분
이렇게 말해 보세요
- “①부터 해 볼까? 학교의 문은 어느 쪽에 있었지? 그럼 공원은 학교의 어디야?”
- “②는 주민센터가 기준이야. 병원은 주민센터의 어디에 있어?”
- “③ 지호네에서 시장과 병원 중 어디가 더 멀어? 문장으로 말해 줘.”
정답
- ① 공원은 학교 뒤에 있어요(학교 문의 반대쪽).
- ② 병원은 주민센터 앞(큰길 건너)에 있어요.
- ③ 병원. “지호네에서 병원은 멀리 있어요.”
막히면
- ①에서 “학교 위에 있어요.”라고 하면 “정말 학교 지붕 위에 공원이 있을까? 문이 있는 쪽이 앞이었지?”라고 묻습니다(오해 M2).
- ③은 지호네에서 두 곳까지 손가락으로 길을 따라가 보게 합니다.
주의
- 답을 낱말 하나로 말하면 “누구를 기준으로?”라고 물어 문장 전체로 다시 말하게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오해 비교(기준 장소 빠뜨리기)]
목적: 기준 장소를 빼고 말하면 위치를 알 수 없다는 것을 비교로 알게 합니다(목표 B, 오해 M1).
시간: 약 2분
이렇게 말해 보세요
- “가와 나는 둘 다 도서관이 옆에 있대. 가의 말만 듣고 도서관을 찾을 수 있을까?”
- “가까이, 멀리도 마찬가지야. ‘시장은 가까워요.’라고 하면 어디에서 가깝다는 걸까?”
정답
- 나. ‘학교’라는 기준 장소가 있어서 어디 옆인지 알 수 있습니다.
- 가까이·멀리도 ‘지호네에서 시장은 가까이 있어요.’처럼 기준을 말해야 합니다.
막히면
- “엄마(아빠)가 ‘네 장난감은 옆에 있어.’라고 하면 찾을 수 있어? ‘침대 옆에 있어.’라고 하면?”처럼 집 안 물건으로 바꾸어 묻습니다.
주의
- 여기까지가 배우는 부분입니다. 아이가 지치면 여기서 나누어 다음 날 S09부터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혼자 하기(장소 고르기)]
목적: 도움 없이 처음 보는 상황에서 알맞은 장소를 고르고 까닭을 말하는지 확인합니다(목표 A).
시간: 약 2분
이렇게 말해 보세요
- “이번에는 혼자 해 볼래? 어디로 가면 될지 말하고, 왜 그곳인지도 말해 줘.”
정답
- ① 병원(다친 곳을 치료받으니까) ② 도서관(책을 빌리니까) ③ 시장(과일을 사고파니까. 마트도 맞음) ④ 주민센터(주민에게 필요한 서류를 떼어 주니까)
막히면
- 바로 알려 주지 말고 S03 카드를 다시 보여 줍니다. 도움을 받아 해결했다면 기록표에 ‘도움’으로 표시합니다.
주의
- 네 가지 가운데 세 가지 이상을 까닭과 함께 말하면 목표 A를 이룬 것으로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혼자 하기(처음 보는 마을에서 위치 말하기)]
목적: 처음 보는 마을 그림에서 기준 장소를 넣어 위치를 말하는지 확인합니다(목표 B).
시간: 약 3분
이렇게 말해 보세요
- “여기는 햇살마을이야. 짙은 막대가 문이라는 것을 기억하고, 혼자 문장으로 말해 볼래?”
정답
- ① 도서관은 학교 옆에 있어요.
- ② 공원은 학교 뒤에 있어요.
- ③ 병원. “서아네에서 병원은 가까이 있어요(바로 옆).” 시장은 멀리 있습니다.
막히면
- 바로 알려 주지 말고 “학교의 문은 어느 쪽에 있어?”라고만 묻습니다.
- 도움을 받아 해결했다면 기록표에 ‘도움’으로 표시합니다.
주의
- 세 문제 모두 기준 장소를 넣어 문장으로 말하면 목표 B를 이룬 것으로 봅니다. ‘오른쪽 옆’처럼 더 자세히 말해도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정답과 피드백]
목적: S09·S10의 답을 확인하고 흔한 실수와 비교합니다.
시간: 약 2분
이렇게 말해 보세요
- “네 답과 왼쪽을 비교해 보자. 오른쪽처럼 말하면 무엇이 아쉬울까?”
예상 답
- “기준이 없어서 어디인지 몰라요.” “지붕 위에 공원이 있는 게 아니에요.”
정답
- S09: ① 병원 ② 도서관 ③ 시장 ④ 주민센터
- S10: ① 학교 옆 ② 학교 뒤 ③ 병원(가까이)
막히면
- 틀린 문제는 S03(장소) 또는 S05(앞·뒤·옆)로 돌아가 한 번 더 확인합니다.
주의
- 이 장은 학생용 파일에서 빠집니다.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우리 고장 조사 방법]
목적: 우리 고장의 장소를 알아보는 세 가지 방법을 알려 줍니다. 우리 고장의 장소는 사는 곳마다 다르므로 부모와 함께 직접 조사합니다(목표 C).
시간: 약 2분
이렇게 말해 보세요
- “별빛마을은 지어낸 마을이었어. 이제 진짜 우리 고장을 알아볼 거야. 어떤 방법이 있을까?”
- “걸어서 둘러볼 수도 있고, 휴대 전화 지도 앱에서 찾아볼 수도 있고, 오래 사신 이웃 어른께 여쭈어 볼 수도 있어.”
예상 답
- “직접 가 봐요.” “인터넷으로 찾아봐요.” “할머니께 물어봐요.”
막히면
- 부모의 휴대 전화 지도 앱을 열어 우리 집을 함께 찾아 보여 주면 이해가 빠릅니다(선택).
주의
- 지도 앱은 집에 있는 것 무엇이든 괜찮습니다. 앱 사용은 부모가 함께하고, 아이 혼자 낯선 사람에게 묻지 않게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알맞은 조사 방법 고르기]
목적: 알고 싶은 것에 따라 알맞은 조사 방법을 고르고 까닭을 말합니다(목표 C).
시간: 약 2분
이렇게 말해 보세요
- “①은 집에서 공원까지 걸리는 시간이 궁금해. 어떤 방법이 좋을까? 왜?”
- “②, ③도 골라 보고 까닭을 말해 줘.”
정답
- ① 걸어서 가 보며 시간을 재기(지도 앱의 걸리는 시간도 맞음)
- ② 오래 사신 이웃 어른께 여쭈기(옛날 모습은 지도 앱에 잘 나오지 않으니까)
- ③ 지도 앱에서 찾기(직접 가 보기도 맞음)
- 기준: 알고 싶은 것과 방법이 어울리고 까닭을 말하면 맞습니다. 답이 하나로 정해져 있지 않습니다.
막히면
- S12의 세 방법을 하나씩 대어 보며 “이 방법으로 알 수 있을까?”라고 묻습니다.
주의
- 두 가지 방법을 함께 쓰겠다고 하면 좋은 생각이라고 칭찬합니다.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우리 고장 조사 계획 세우기]
목적: 부모와 함께 실제로 조사할 장소 세 곳과 방법을 정하고, 위치를 미리 짐작해 봅니다. 조사(걷기·지도 앱·여쭈기)는 수업 뒤 편한 날에 하고 활동지 4에 기록합니다(목표 C).
시간: 약 5분
이렇게 말해 보세요
- “우리 고장에서 조사하고 싶은 장소 세 곳을 골라 볼까? 오늘 배운 여섯 곳이 아니어도 돼.”
- “그곳은 어떤 방법으로 알아볼까? 우리 집에서 가까울까, 멀까? 짐작한 것을 활동지 4에 연필로 적어 두자.”
- “조사하는 날에는 그곳이 무슨 일을 하는지, 우리 집이나 학교를 기준으로 어디에 있는지 적을 거야.”
예상 답
- 예: 도서관(지도 앱, 우리 집에서 멀 것 같아요), 놀이터(걸어서, 우리 집 앞), 시장(할머니께 여쭈기, 학교 옆)
정답
- 기준: ① 장소 세 곳을 정함 ② 장소마다 조사 방법을 고름 ③ 기준 장소를 넣어 위치를 짐작해 말함. 세 가지를 모두 하면 목표 C의 계획 단계를 이룬 것으로 봅니다. 실제 조사 결과는 활동지 4로 확인합니다.
막히면
- 장소가 떠오르지 않으면 S02에서 말한 곳부터 고르게 합니다.
- 위치를 짐작하지 못하면 “학교 가는 길에 그곳을 지나?”처럼 다니는 길로 묻습니다.
주의
- 걸어서 조사할 때는 반드시 어른이 함께하고, 길을 건널 때는 신호를 지킵니다.
- 우리 고장의 정답은 부모님도 모를 수 있습니다. 함께 찾아보는 과정 자체가 조사입니다. 다음 수업(그림과 기호로 나타내기)에서 조사한 장소를 그림지도로 나타냅니다.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다음 학습과 복습]
목적: 핵심을 정리하고 다음 수업 첫 5분에 풀 복습 질문을 알려 줍니다.
시간: 약 2분
이렇게 말해 보세요
- “장소의 위치를 말할 때 무엇을 먼저 말해야 하지?”
- “오늘 정한 조사는 언제 해 볼까?”
예상 답
- “기준이 되는 장소를 먼저 말해요.”
정답
- ① 병원 ② 문이 있는 쪽 ③ 기준이 되는 장소
막히면
- S06과 S08을 다시 보여 줍니다.
주의
- 조사 기록표(활동지 4)는 다음 차시 ‘그림과 기호로 나타내기’에서 그림지도를 그릴 때 씁니다. 다음 수업 전에 조사를 마쳐 두면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[S16 · 보충(내 몸과 집 안 물건으로 앞·뒤·옆)]
목적: S02에서 앞·뒤를 헷갈리거나 장소의 위치를 말하기 어려워하면, 나를 기준으로 앞·뒤·옆을 먼저 익힙니다.
시간: 약 4분
이렇게 말해 보세요
- “엄마(아빠)랑 같은 쪽을 보고 서 보자. 네 앞에 있는 물건은 뭐야? 뒤에는? 옆에는?”
- “이번에는 ‘나’ 대신 소파를 기준으로 해 볼까? 소파 앞에는 무엇이 있어?”
정답
- 예: “내 앞에는 텔레비전이 있어요.” “소파 옆에는 탁자가 있어요.” (기준을 먼저 말하고 앞·뒤·옆을 알맞게 쓰면 맞음)
막히면
- 아이 등 뒤에 인형을 두고 “돌아보지 않고 보이는 곳이 앞, 돌아봐야 보이는 곳이 뒤야.”라고 알려 줍니다.
주의
- 보충 뒤에도 앞·뒤·옆이 흔들리면 며칠 동안 생활 속에서 “신발장 옆에 있어.”처럼 기준을 넣어 말하는 놀이를 한 뒤 S02부터 다시 시작합니다.
- 보충이 오래 걸리면 오늘은 여기까지 하고 다음 날 S02부터 다시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사회·역사 · 지역과공간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초3 사회·역사 · 우리 고장의 장소</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사회·역사 · 우리 고장의 장소</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초3 사회·역사 · 우리 고장의 장소</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우리 고장의 장소</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우리 고장의 장소는</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어디에 있고 무슨 일을 할까?</a:t>
            </a:r>
            <a:endParaRPr lang="ko-KR" sz="3000" dirty="0"/>
          </a:p>
        </p:txBody>
      </p:sp>
      <p:sp>
        <p:nvSpPr>
          <p:cNvPr id="4" name="S01-card1"/>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5" name="S01-cardtext2"/>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장소가 하는 일을 알고 알맞은 곳을 골라요.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위치를 말하고 우리 고장 조사 계획을 세워요.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우리 동네 떠올리기</a:t>
            </a:r>
            <a:endParaRPr lang="ko-KR" sz="4000" dirty="0"/>
          </a:p>
        </p:txBody>
      </p:sp>
      <p:sp>
        <p:nvSpPr>
          <p:cNvPr id="3" name="S02-text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집 가까이에 있는 곳을 떠올려 봐요.</a:t>
            </a:r>
            <a:endParaRPr lang="ko-KR" sz="3000" dirty="0"/>
          </a:p>
        </p:txBody>
      </p:sp>
      <p:sp>
        <p:nvSpPr>
          <p:cNvPr id="4" name="S02-chip4"/>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02-text5"/>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가 본 곳 두 곳의 이름은?</a:t>
            </a:r>
            <a:endParaRPr lang="ko-KR" sz="3000" dirty="0"/>
          </a:p>
        </p:txBody>
      </p:sp>
      <p:sp>
        <p:nvSpPr>
          <p:cNvPr id="6" name="S02-chip6"/>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02-text7"/>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그곳에서 무엇을 했나요?</a:t>
            </a:r>
            <a:endParaRPr lang="ko-KR" sz="3000" dirty="0"/>
          </a:p>
        </p:txBody>
      </p:sp>
      <p:sp>
        <p:nvSpPr>
          <p:cNvPr id="8" name="S02-chip8"/>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9" name="S02-text9"/>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손으로 내 앞과 뒤를 가리켜요.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장소마다 하는 일이 달라요</a:t>
            </a:r>
            <a:endParaRPr lang="ko-KR" sz="4000" dirty="0"/>
          </a:p>
        </p:txBody>
      </p:sp>
      <p:sp>
        <p:nvSpPr>
          <p:cNvPr id="3" name="S03-text10"/>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고장에는 여러 장소가 있어요.</a:t>
            </a:r>
            <a:endParaRPr lang="ko-KR" sz="3000" dirty="0"/>
          </a:p>
        </p:txBody>
      </p:sp>
      <p:sp>
        <p:nvSpPr>
          <p:cNvPr id="4" name="S03-card11"/>
          <p:cNvSpPr/>
          <p:nvPr/>
        </p:nvSpPr>
        <p:spPr>
          <a:xfrm>
            <a:off x="548640" y="2011680"/>
            <a:ext cx="3544824" cy="1988820"/>
          </a:xfrm>
          <a:prstGeom prst="roundRect">
            <a:avLst>
              <a:gd name="adj" fmla="val 5517"/>
            </a:avLst>
          </a:prstGeom>
          <a:solidFill>
            <a:srgbClr val="EAF3F1"/>
          </a:solidFill>
          <a:ln w="12700">
            <a:solidFill>
              <a:srgbClr val="EAF3F1"/>
            </a:solidFill>
            <a:prstDash val="solid"/>
          </a:ln>
        </p:spPr>
      </p:sp>
      <p:sp>
        <p:nvSpPr>
          <p:cNvPr id="5" name="S03-cardtext12"/>
          <p:cNvSpPr txBox="1"/>
          <p:nvPr/>
        </p:nvSpPr>
        <p:spPr>
          <a:xfrm>
            <a:off x="822960" y="2148840"/>
            <a:ext cx="2996184" cy="171450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학교</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선생님과 함께 배우는 곳</a:t>
            </a:r>
            <a:endParaRPr lang="ko-KR" sz="3000" dirty="0"/>
          </a:p>
        </p:txBody>
      </p:sp>
      <p:sp>
        <p:nvSpPr>
          <p:cNvPr id="6" name="S03-card13"/>
          <p:cNvSpPr/>
          <p:nvPr/>
        </p:nvSpPr>
        <p:spPr>
          <a:xfrm>
            <a:off x="4322064" y="2011680"/>
            <a:ext cx="3544824" cy="1988820"/>
          </a:xfrm>
          <a:prstGeom prst="roundRect">
            <a:avLst>
              <a:gd name="adj" fmla="val 5517"/>
            </a:avLst>
          </a:prstGeom>
          <a:solidFill>
            <a:srgbClr val="EAF3F1"/>
          </a:solidFill>
          <a:ln w="12700">
            <a:solidFill>
              <a:srgbClr val="EAF3F1"/>
            </a:solidFill>
            <a:prstDash val="solid"/>
          </a:ln>
        </p:spPr>
      </p:sp>
      <p:sp>
        <p:nvSpPr>
          <p:cNvPr id="7" name="S03-cardtext14"/>
          <p:cNvSpPr txBox="1"/>
          <p:nvPr/>
        </p:nvSpPr>
        <p:spPr>
          <a:xfrm>
            <a:off x="4596384" y="2148840"/>
            <a:ext cx="2996184" cy="171450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시장</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먹을거리와 물건을 사고파는 곳</a:t>
            </a:r>
            <a:endParaRPr lang="ko-KR" sz="3000" dirty="0"/>
          </a:p>
        </p:txBody>
      </p:sp>
      <p:sp>
        <p:nvSpPr>
          <p:cNvPr id="8" name="S03-card15"/>
          <p:cNvSpPr/>
          <p:nvPr/>
        </p:nvSpPr>
        <p:spPr>
          <a:xfrm>
            <a:off x="8095488" y="2011680"/>
            <a:ext cx="3544824" cy="1988820"/>
          </a:xfrm>
          <a:prstGeom prst="roundRect">
            <a:avLst>
              <a:gd name="adj" fmla="val 5517"/>
            </a:avLst>
          </a:prstGeom>
          <a:solidFill>
            <a:srgbClr val="EAF3F1"/>
          </a:solidFill>
          <a:ln w="12700">
            <a:solidFill>
              <a:srgbClr val="EAF3F1"/>
            </a:solidFill>
            <a:prstDash val="solid"/>
          </a:ln>
        </p:spPr>
      </p:sp>
      <p:sp>
        <p:nvSpPr>
          <p:cNvPr id="9" name="S03-cardtext16"/>
          <p:cNvSpPr txBox="1"/>
          <p:nvPr/>
        </p:nvSpPr>
        <p:spPr>
          <a:xfrm>
            <a:off x="8369808" y="2148840"/>
            <a:ext cx="2996184" cy="171450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공원</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산책하고 운동하며 쉬는 곳</a:t>
            </a:r>
            <a:endParaRPr lang="ko-KR" sz="3000" dirty="0"/>
          </a:p>
        </p:txBody>
      </p:sp>
      <p:sp>
        <p:nvSpPr>
          <p:cNvPr id="10" name="S03-card17"/>
          <p:cNvSpPr/>
          <p:nvPr/>
        </p:nvSpPr>
        <p:spPr>
          <a:xfrm>
            <a:off x="548640" y="4229100"/>
            <a:ext cx="3544824" cy="1988820"/>
          </a:xfrm>
          <a:prstGeom prst="roundRect">
            <a:avLst>
              <a:gd name="adj" fmla="val 5517"/>
            </a:avLst>
          </a:prstGeom>
          <a:solidFill>
            <a:srgbClr val="EAF3F1"/>
          </a:solidFill>
          <a:ln w="12700">
            <a:solidFill>
              <a:srgbClr val="EAF3F1"/>
            </a:solidFill>
            <a:prstDash val="solid"/>
          </a:ln>
        </p:spPr>
      </p:sp>
      <p:sp>
        <p:nvSpPr>
          <p:cNvPr id="11" name="S03-cardtext18"/>
          <p:cNvSpPr txBox="1"/>
          <p:nvPr/>
        </p:nvSpPr>
        <p:spPr>
          <a:xfrm>
            <a:off x="822960" y="4366260"/>
            <a:ext cx="2996184" cy="171450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도서관</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책을 읽고 빌리는 곳</a:t>
            </a:r>
            <a:endParaRPr lang="ko-KR" sz="3000" dirty="0"/>
          </a:p>
        </p:txBody>
      </p:sp>
      <p:sp>
        <p:nvSpPr>
          <p:cNvPr id="12" name="S03-card19"/>
          <p:cNvSpPr/>
          <p:nvPr/>
        </p:nvSpPr>
        <p:spPr>
          <a:xfrm>
            <a:off x="4322064" y="4229100"/>
            <a:ext cx="3544824" cy="1988820"/>
          </a:xfrm>
          <a:prstGeom prst="roundRect">
            <a:avLst>
              <a:gd name="adj" fmla="val 5517"/>
            </a:avLst>
          </a:prstGeom>
          <a:solidFill>
            <a:srgbClr val="EAF3F1"/>
          </a:solidFill>
          <a:ln w="12700">
            <a:solidFill>
              <a:srgbClr val="EAF3F1"/>
            </a:solidFill>
            <a:prstDash val="solid"/>
          </a:ln>
        </p:spPr>
      </p:sp>
      <p:sp>
        <p:nvSpPr>
          <p:cNvPr id="13" name="S03-cardtext20"/>
          <p:cNvSpPr txBox="1"/>
          <p:nvPr/>
        </p:nvSpPr>
        <p:spPr>
          <a:xfrm>
            <a:off x="4596384" y="4366260"/>
            <a:ext cx="2996184" cy="171450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주민센터</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주민에게 필요한 일을 도와주는 곳</a:t>
            </a:r>
            <a:endParaRPr lang="ko-KR" sz="3000" dirty="0"/>
          </a:p>
        </p:txBody>
      </p:sp>
      <p:sp>
        <p:nvSpPr>
          <p:cNvPr id="14" name="S03-card21"/>
          <p:cNvSpPr/>
          <p:nvPr/>
        </p:nvSpPr>
        <p:spPr>
          <a:xfrm>
            <a:off x="8095488" y="4229100"/>
            <a:ext cx="3544824" cy="1988820"/>
          </a:xfrm>
          <a:prstGeom prst="roundRect">
            <a:avLst>
              <a:gd name="adj" fmla="val 5517"/>
            </a:avLst>
          </a:prstGeom>
          <a:solidFill>
            <a:srgbClr val="EAF3F1"/>
          </a:solidFill>
          <a:ln w="12700">
            <a:solidFill>
              <a:srgbClr val="EAF3F1"/>
            </a:solidFill>
            <a:prstDash val="solid"/>
          </a:ln>
        </p:spPr>
      </p:sp>
      <p:sp>
        <p:nvSpPr>
          <p:cNvPr id="15" name="S03-cardtext22"/>
          <p:cNvSpPr txBox="1"/>
          <p:nvPr/>
        </p:nvSpPr>
        <p:spPr>
          <a:xfrm>
            <a:off x="8369808" y="4366260"/>
            <a:ext cx="2996184" cy="171450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병원</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아플 때 진찰받고 치료받는 곳</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어디로 가면 될까요?</a:t>
            </a:r>
            <a:endParaRPr lang="ko-KR" sz="4000" dirty="0"/>
          </a:p>
        </p:txBody>
      </p:sp>
      <p:sp>
        <p:nvSpPr>
          <p:cNvPr id="3" name="S04-text2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장소를 고르고 까닭도 말해요.</a:t>
            </a:r>
            <a:endParaRPr lang="ko-KR" sz="3000" dirty="0"/>
          </a:p>
        </p:txBody>
      </p:sp>
      <p:sp>
        <p:nvSpPr>
          <p:cNvPr id="4" name="S04-card24"/>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4-cardtext2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학교 · 시장 · 공원 · 도서관 · 주민센터 · 병원</a:t>
            </a:r>
            <a:endParaRPr lang="ko-KR" sz="3000" dirty="0"/>
          </a:p>
        </p:txBody>
      </p:sp>
      <p:sp>
        <p:nvSpPr>
          <p:cNvPr id="6" name="S04-chip26"/>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4-text27"/>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열이 나고 기침을 해요.</a:t>
            </a:r>
            <a:endParaRPr lang="ko-KR" sz="3000" dirty="0"/>
          </a:p>
        </p:txBody>
      </p:sp>
      <p:sp>
        <p:nvSpPr>
          <p:cNvPr id="8" name="S04-chip28"/>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4-text29"/>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공룡 책을 빌리고 싶어요.</a:t>
            </a:r>
            <a:endParaRPr lang="ko-KR" sz="3000" dirty="0"/>
          </a:p>
        </p:txBody>
      </p:sp>
      <p:sp>
        <p:nvSpPr>
          <p:cNvPr id="10" name="S04-chip30"/>
          <p:cNvSpPr txBox="1"/>
          <p:nvPr/>
        </p:nvSpPr>
        <p:spPr>
          <a:xfrm>
            <a:off x="548640"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4-text31"/>
          <p:cNvSpPr txBox="1"/>
          <p:nvPr/>
        </p:nvSpPr>
        <p:spPr>
          <a:xfrm>
            <a:off x="1344168" y="365760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저녁에 먹을 채소를 사요.</a:t>
            </a:r>
            <a:endParaRPr lang="ko-KR" sz="3000" dirty="0"/>
          </a:p>
        </p:txBody>
      </p:sp>
      <p:sp>
        <p:nvSpPr>
          <p:cNvPr id="12" name="S04-chip32"/>
          <p:cNvSpPr txBox="1"/>
          <p:nvPr/>
        </p:nvSpPr>
        <p:spPr>
          <a:xfrm>
            <a:off x="6277356"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④</a:t>
            </a:r>
            <a:endParaRPr lang="ko-KR" sz="2400" dirty="0"/>
          </a:p>
        </p:txBody>
      </p:sp>
      <p:sp>
        <p:nvSpPr>
          <p:cNvPr id="13" name="S04-text33"/>
          <p:cNvSpPr txBox="1"/>
          <p:nvPr/>
        </p:nvSpPr>
        <p:spPr>
          <a:xfrm>
            <a:off x="7072884" y="365760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가족과 자전거를 타요.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건물의 앞·뒤·옆</a:t>
            </a:r>
            <a:endParaRPr lang="ko-KR" sz="4000" dirty="0"/>
          </a:p>
        </p:txBody>
      </p:sp>
      <p:sp>
        <p:nvSpPr>
          <p:cNvPr id="3" name="S05-figure34" descr="학교 건물 하나. 아래쪽 가운데에 문이 있다. 문이 있는 아래쪽 화살표는 앞, 위쪽 화살표는 뒤, 왼쪽과 오른쪽 화살표는 옆"/>
          <p:cNvSpPr/>
          <p:nvPr/>
        </p:nvSpPr>
        <p:spPr>
          <a:xfrm>
            <a:off x="1728647" y="2871017"/>
            <a:ext cx="3002943" cy="1801766"/>
          </a:xfrm>
          <a:custGeom>
            <a:avLst/>
            <a:gdLst/>
            <a:ahLst/>
            <a:cxnLst/>
            <a:rect l="l" t="t" r="r" b="b"/>
            <a:pathLst>
              <a:path w="3002943" h="1801766">
                <a:moveTo>
                  <a:pt x="0" y="1801766"/>
                </a:moveTo>
                <a:lnTo>
                  <a:pt x="3002943" y="1801766"/>
                </a:lnTo>
                <a:lnTo>
                  <a:pt x="3002943" y="0"/>
                </a:lnTo>
                <a:lnTo>
                  <a:pt x="0" y="0"/>
                </a:lnTo>
                <a:close/>
              </a:path>
            </a:pathLst>
          </a:custGeom>
          <a:solidFill>
            <a:srgbClr val="EAF3F1"/>
          </a:solidFill>
          <a:ln w="19050">
            <a:solidFill>
              <a:srgbClr val="1F2937"/>
            </a:solidFill>
            <a:prstDash val="solid"/>
          </a:ln>
        </p:spPr>
      </p:sp>
      <p:sp>
        <p:nvSpPr>
          <p:cNvPr id="4" name="S05-mark35"/>
          <p:cNvSpPr/>
          <p:nvPr/>
        </p:nvSpPr>
        <p:spPr>
          <a:xfrm>
            <a:off x="2929824" y="4507621"/>
            <a:ext cx="600589" cy="165162"/>
          </a:xfrm>
          <a:custGeom>
            <a:avLst/>
            <a:gdLst/>
            <a:ahLst/>
            <a:cxnLst/>
            <a:rect l="l" t="t" r="r" b="b"/>
            <a:pathLst>
              <a:path w="600589" h="165162">
                <a:moveTo>
                  <a:pt x="0" y="165162"/>
                </a:moveTo>
                <a:lnTo>
                  <a:pt x="600589" y="165162"/>
                </a:lnTo>
                <a:lnTo>
                  <a:pt x="600589" y="0"/>
                </a:lnTo>
                <a:lnTo>
                  <a:pt x="0" y="0"/>
                </a:lnTo>
                <a:close/>
              </a:path>
            </a:pathLst>
          </a:custGeom>
          <a:solidFill>
            <a:srgbClr val="264653"/>
          </a:solidFill>
          <a:ln/>
        </p:spPr>
      </p:sp>
      <p:sp>
        <p:nvSpPr>
          <p:cNvPr id="5" name="S05-mark36"/>
          <p:cNvSpPr/>
          <p:nvPr/>
        </p:nvSpPr>
        <p:spPr>
          <a:xfrm>
            <a:off x="3230118" y="4785393"/>
            <a:ext cx="0" cy="525515"/>
          </a:xfrm>
          <a:prstGeom prst="line">
            <a:avLst/>
          </a:prstGeom>
          <a:noFill/>
          <a:ln w="38100">
            <a:solidFill>
              <a:srgbClr val="E9762B"/>
            </a:solidFill>
            <a:prstDash val="solid"/>
            <a:tailEnd type="triangle"/>
          </a:ln>
        </p:spPr>
      </p:sp>
      <p:sp>
        <p:nvSpPr>
          <p:cNvPr id="6" name="S05-mark37"/>
          <p:cNvSpPr/>
          <p:nvPr/>
        </p:nvSpPr>
        <p:spPr>
          <a:xfrm flipV="1">
            <a:off x="3230118" y="2232892"/>
            <a:ext cx="0" cy="525515"/>
          </a:xfrm>
          <a:prstGeom prst="line">
            <a:avLst/>
          </a:prstGeom>
          <a:noFill/>
          <a:ln w="38100">
            <a:solidFill>
              <a:srgbClr val="E9762B"/>
            </a:solidFill>
            <a:prstDash val="solid"/>
            <a:tailEnd type="triangle"/>
          </a:ln>
        </p:spPr>
      </p:sp>
      <p:sp>
        <p:nvSpPr>
          <p:cNvPr id="7" name="S05-mark38"/>
          <p:cNvSpPr/>
          <p:nvPr/>
        </p:nvSpPr>
        <p:spPr>
          <a:xfrm flipH="1">
            <a:off x="1090521" y="3771900"/>
            <a:ext cx="525515" cy="0"/>
          </a:xfrm>
          <a:prstGeom prst="line">
            <a:avLst/>
          </a:prstGeom>
          <a:noFill/>
          <a:ln w="38100">
            <a:solidFill>
              <a:srgbClr val="E9762B"/>
            </a:solidFill>
            <a:prstDash val="solid"/>
            <a:tailEnd type="triangle"/>
          </a:ln>
        </p:spPr>
      </p:sp>
      <p:sp>
        <p:nvSpPr>
          <p:cNvPr id="8" name="S05-mark39"/>
          <p:cNvSpPr/>
          <p:nvPr/>
        </p:nvSpPr>
        <p:spPr>
          <a:xfrm>
            <a:off x="4844200" y="3771900"/>
            <a:ext cx="525515" cy="0"/>
          </a:xfrm>
          <a:prstGeom prst="line">
            <a:avLst/>
          </a:prstGeom>
          <a:noFill/>
          <a:ln w="38100">
            <a:solidFill>
              <a:srgbClr val="E9762B"/>
            </a:solidFill>
            <a:prstDash val="solid"/>
            <a:tailEnd type="triangle"/>
          </a:ln>
        </p:spPr>
      </p:sp>
      <p:sp>
        <p:nvSpPr>
          <p:cNvPr id="9" name="S05-label41"/>
          <p:cNvSpPr txBox="1"/>
          <p:nvPr/>
        </p:nvSpPr>
        <p:spPr>
          <a:xfrm>
            <a:off x="2876550" y="3393716"/>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10" name="S05-label43"/>
          <p:cNvSpPr txBox="1"/>
          <p:nvPr/>
        </p:nvSpPr>
        <p:spPr>
          <a:xfrm>
            <a:off x="3025902" y="4031841"/>
            <a:ext cx="408432"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문</a:t>
            </a:r>
            <a:endParaRPr lang="ko-KR" sz="2400" dirty="0"/>
          </a:p>
        </p:txBody>
      </p:sp>
      <p:sp>
        <p:nvSpPr>
          <p:cNvPr id="11" name="S05-label45"/>
          <p:cNvSpPr txBox="1"/>
          <p:nvPr/>
        </p:nvSpPr>
        <p:spPr>
          <a:xfrm>
            <a:off x="3025902" y="5495776"/>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앞</a:t>
            </a:r>
            <a:endParaRPr lang="ko-KR" sz="2400" dirty="0"/>
          </a:p>
        </p:txBody>
      </p:sp>
      <p:sp>
        <p:nvSpPr>
          <p:cNvPr id="12" name="S05-label47"/>
          <p:cNvSpPr txBox="1"/>
          <p:nvPr/>
        </p:nvSpPr>
        <p:spPr>
          <a:xfrm>
            <a:off x="3025902" y="1667024"/>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뒤</a:t>
            </a:r>
            <a:endParaRPr lang="ko-KR" sz="2400" dirty="0"/>
          </a:p>
        </p:txBody>
      </p:sp>
      <p:sp>
        <p:nvSpPr>
          <p:cNvPr id="13" name="S05-label49"/>
          <p:cNvSpPr txBox="1"/>
          <p:nvPr/>
        </p:nvSpPr>
        <p:spPr>
          <a:xfrm>
            <a:off x="435864" y="35814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옆</a:t>
            </a:r>
            <a:endParaRPr lang="ko-KR" sz="2400" dirty="0"/>
          </a:p>
        </p:txBody>
      </p:sp>
      <p:sp>
        <p:nvSpPr>
          <p:cNvPr id="14" name="S05-label51"/>
          <p:cNvSpPr txBox="1"/>
          <p:nvPr/>
        </p:nvSpPr>
        <p:spPr>
          <a:xfrm>
            <a:off x="5615940" y="35814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옆</a:t>
            </a:r>
            <a:endParaRPr lang="ko-KR" sz="2400" dirty="0"/>
          </a:p>
        </p:txBody>
      </p:sp>
      <p:sp>
        <p:nvSpPr>
          <p:cNvPr id="15" name="S05-card52"/>
          <p:cNvSpPr/>
          <p:nvPr/>
        </p:nvSpPr>
        <p:spPr>
          <a:xfrm>
            <a:off x="6277356" y="2240280"/>
            <a:ext cx="5362956" cy="868680"/>
          </a:xfrm>
          <a:prstGeom prst="roundRect">
            <a:avLst>
              <a:gd name="adj" fmla="val 12632"/>
            </a:avLst>
          </a:prstGeom>
          <a:solidFill>
            <a:srgbClr val="EAF3F1"/>
          </a:solidFill>
          <a:ln w="12700">
            <a:solidFill>
              <a:srgbClr val="EAF3F1"/>
            </a:solidFill>
            <a:prstDash val="solid"/>
          </a:ln>
        </p:spPr>
      </p:sp>
      <p:sp>
        <p:nvSpPr>
          <p:cNvPr id="16" name="S05-cardtext53"/>
          <p:cNvSpPr txBox="1"/>
          <p:nvPr/>
        </p:nvSpPr>
        <p:spPr>
          <a:xfrm>
            <a:off x="6551676" y="2377440"/>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앞: 문이 있는 쪽</a:t>
            </a:r>
            <a:endParaRPr lang="ko-KR" sz="3000" dirty="0"/>
          </a:p>
        </p:txBody>
      </p:sp>
      <p:sp>
        <p:nvSpPr>
          <p:cNvPr id="17" name="S05-card54"/>
          <p:cNvSpPr/>
          <p:nvPr/>
        </p:nvSpPr>
        <p:spPr>
          <a:xfrm>
            <a:off x="6277356" y="3337560"/>
            <a:ext cx="5362956" cy="868680"/>
          </a:xfrm>
          <a:prstGeom prst="roundRect">
            <a:avLst>
              <a:gd name="adj" fmla="val 12632"/>
            </a:avLst>
          </a:prstGeom>
          <a:solidFill>
            <a:srgbClr val="EAF3F1"/>
          </a:solidFill>
          <a:ln w="12700">
            <a:solidFill>
              <a:srgbClr val="EAF3F1"/>
            </a:solidFill>
            <a:prstDash val="solid"/>
          </a:ln>
        </p:spPr>
      </p:sp>
      <p:sp>
        <p:nvSpPr>
          <p:cNvPr id="18" name="S05-cardtext55"/>
          <p:cNvSpPr txBox="1"/>
          <p:nvPr/>
        </p:nvSpPr>
        <p:spPr>
          <a:xfrm>
            <a:off x="6551676" y="3474720"/>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뒤: 앞의 반대쪽</a:t>
            </a:r>
            <a:endParaRPr lang="ko-KR" sz="3000" dirty="0"/>
          </a:p>
        </p:txBody>
      </p:sp>
      <p:sp>
        <p:nvSpPr>
          <p:cNvPr id="19" name="S05-card56"/>
          <p:cNvSpPr/>
          <p:nvPr/>
        </p:nvSpPr>
        <p:spPr>
          <a:xfrm>
            <a:off x="6277356" y="4434840"/>
            <a:ext cx="5362956" cy="868680"/>
          </a:xfrm>
          <a:prstGeom prst="roundRect">
            <a:avLst>
              <a:gd name="adj" fmla="val 12632"/>
            </a:avLst>
          </a:prstGeom>
          <a:solidFill>
            <a:srgbClr val="EAF3F1"/>
          </a:solidFill>
          <a:ln w="12700">
            <a:solidFill>
              <a:srgbClr val="EAF3F1"/>
            </a:solidFill>
            <a:prstDash val="solid"/>
          </a:ln>
        </p:spPr>
      </p:sp>
      <p:sp>
        <p:nvSpPr>
          <p:cNvPr id="20" name="S05-cardtext57"/>
          <p:cNvSpPr txBox="1"/>
          <p:nvPr/>
        </p:nvSpPr>
        <p:spPr>
          <a:xfrm>
            <a:off x="6551676" y="4572000"/>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옆: 왼쪽과 오른쪽</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별빛마을에서 위치 말하기</a:t>
            </a:r>
            <a:endParaRPr lang="ko-KR" sz="4000" dirty="0"/>
          </a:p>
        </p:txBody>
      </p:sp>
      <p:sp>
        <p:nvSpPr>
          <p:cNvPr id="3" name="S06-card58"/>
          <p:cNvSpPr/>
          <p:nvPr/>
        </p:nvSpPr>
        <p:spPr>
          <a:xfrm>
            <a:off x="548640" y="4959096"/>
            <a:ext cx="11091672" cy="1258824"/>
          </a:xfrm>
          <a:prstGeom prst="roundRect">
            <a:avLst>
              <a:gd name="adj" fmla="val 8717"/>
            </a:avLst>
          </a:prstGeom>
          <a:solidFill>
            <a:srgbClr val="FDEBDD"/>
          </a:solidFill>
          <a:ln w="12700">
            <a:solidFill>
              <a:srgbClr val="FDEBDD"/>
            </a:solidFill>
            <a:prstDash val="solid"/>
          </a:ln>
        </p:spPr>
      </p:sp>
      <p:sp>
        <p:nvSpPr>
          <p:cNvPr id="4" name="S06-cardtext59"/>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기준 장소 → 앞·뒤·옆 → 있어요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예: 도서관은 학교 옆에 있어요.</a:t>
            </a:r>
            <a:endParaRPr lang="ko-KR" sz="3000" dirty="0"/>
          </a:p>
        </p:txBody>
      </p:sp>
      <p:sp>
        <p:nvSpPr>
          <p:cNvPr id="5" name="S06-figure60" descr="별빛마을 그림: 가운데에 가로로 큰길이 있다. 큰길 위쪽에 왼쪽부터 도서관, 학교, 주민센터가 있고 문은 큰길 쪽이다. 학교 뒤(위쪽)에 공원이 있다. 큰길 아래쪽에 왼쪽부터 시장, 지호네, 병원이 있고 지호네는 학교 앞(길 건너)이다. 시장은 지호네 바로 옆이고 병원은 지호네에서 멀다."/>
          <p:cNvSpPr/>
          <p:nvPr/>
        </p:nvSpPr>
        <p:spPr>
          <a:xfrm>
            <a:off x="1244551" y="3149436"/>
            <a:ext cx="9699850" cy="554277"/>
          </a:xfrm>
          <a:custGeom>
            <a:avLst/>
            <a:gdLst/>
            <a:ahLst/>
            <a:cxnLst/>
            <a:rect l="l" t="t" r="r" b="b"/>
            <a:pathLst>
              <a:path w="9699850" h="554277">
                <a:moveTo>
                  <a:pt x="0" y="554277"/>
                </a:moveTo>
                <a:lnTo>
                  <a:pt x="9699850" y="554277"/>
                </a:lnTo>
                <a:lnTo>
                  <a:pt x="9699850" y="0"/>
                </a:lnTo>
                <a:lnTo>
                  <a:pt x="0" y="0"/>
                </a:lnTo>
                <a:close/>
              </a:path>
            </a:pathLst>
          </a:custGeom>
          <a:solidFill>
            <a:srgbClr val="E5E7EB"/>
          </a:solidFill>
          <a:ln/>
        </p:spPr>
      </p:sp>
      <p:sp>
        <p:nvSpPr>
          <p:cNvPr id="6" name="S06-mark61"/>
          <p:cNvSpPr/>
          <p:nvPr/>
        </p:nvSpPr>
        <p:spPr>
          <a:xfrm>
            <a:off x="1590974" y="2214093"/>
            <a:ext cx="1939970" cy="762131"/>
          </a:xfrm>
          <a:custGeom>
            <a:avLst/>
            <a:gdLst/>
            <a:ahLst/>
            <a:cxnLst/>
            <a:rect l="l" t="t" r="r" b="b"/>
            <a:pathLst>
              <a:path w="1939970" h="762131">
                <a:moveTo>
                  <a:pt x="0" y="762131"/>
                </a:moveTo>
                <a:lnTo>
                  <a:pt x="1939970" y="762131"/>
                </a:lnTo>
                <a:lnTo>
                  <a:pt x="1939970" y="0"/>
                </a:lnTo>
                <a:lnTo>
                  <a:pt x="0" y="0"/>
                </a:lnTo>
                <a:close/>
              </a:path>
            </a:pathLst>
          </a:custGeom>
          <a:solidFill>
            <a:srgbClr val="EAF3F1"/>
          </a:solidFill>
          <a:ln w="19050">
            <a:solidFill>
              <a:srgbClr val="1F2937"/>
            </a:solidFill>
            <a:prstDash val="solid"/>
          </a:ln>
        </p:spPr>
      </p:sp>
      <p:sp>
        <p:nvSpPr>
          <p:cNvPr id="7" name="S06-mark62"/>
          <p:cNvSpPr/>
          <p:nvPr/>
        </p:nvSpPr>
        <p:spPr>
          <a:xfrm>
            <a:off x="2283821" y="283765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8" name="S06-mark63"/>
          <p:cNvSpPr/>
          <p:nvPr/>
        </p:nvSpPr>
        <p:spPr>
          <a:xfrm>
            <a:off x="4431645" y="2214093"/>
            <a:ext cx="2632817" cy="762131"/>
          </a:xfrm>
          <a:custGeom>
            <a:avLst/>
            <a:gdLst/>
            <a:ahLst/>
            <a:cxnLst/>
            <a:rect l="l" t="t" r="r" b="b"/>
            <a:pathLst>
              <a:path w="2632817" h="762131">
                <a:moveTo>
                  <a:pt x="0" y="762131"/>
                </a:moveTo>
                <a:lnTo>
                  <a:pt x="2632817" y="762131"/>
                </a:lnTo>
                <a:lnTo>
                  <a:pt x="2632817" y="0"/>
                </a:lnTo>
                <a:lnTo>
                  <a:pt x="0" y="0"/>
                </a:lnTo>
                <a:close/>
              </a:path>
            </a:pathLst>
          </a:custGeom>
          <a:solidFill>
            <a:srgbClr val="EAF3F1"/>
          </a:solidFill>
          <a:ln w="19050">
            <a:solidFill>
              <a:srgbClr val="1F2937"/>
            </a:solidFill>
            <a:prstDash val="solid"/>
          </a:ln>
        </p:spPr>
      </p:sp>
      <p:sp>
        <p:nvSpPr>
          <p:cNvPr id="9" name="S06-mark64"/>
          <p:cNvSpPr/>
          <p:nvPr/>
        </p:nvSpPr>
        <p:spPr>
          <a:xfrm>
            <a:off x="5470914" y="283765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0" name="S06-mark65"/>
          <p:cNvSpPr/>
          <p:nvPr/>
        </p:nvSpPr>
        <p:spPr>
          <a:xfrm>
            <a:off x="7965161" y="2214093"/>
            <a:ext cx="2494247" cy="762131"/>
          </a:xfrm>
          <a:custGeom>
            <a:avLst/>
            <a:gdLst/>
            <a:ahLst/>
            <a:cxnLst/>
            <a:rect l="l" t="t" r="r" b="b"/>
            <a:pathLst>
              <a:path w="2494247" h="762131">
                <a:moveTo>
                  <a:pt x="0" y="762131"/>
                </a:moveTo>
                <a:lnTo>
                  <a:pt x="2494247" y="762131"/>
                </a:lnTo>
                <a:lnTo>
                  <a:pt x="2494247" y="0"/>
                </a:lnTo>
                <a:lnTo>
                  <a:pt x="0" y="0"/>
                </a:lnTo>
                <a:close/>
              </a:path>
            </a:pathLst>
          </a:custGeom>
          <a:solidFill>
            <a:srgbClr val="EAF3F1"/>
          </a:solidFill>
          <a:ln w="19050">
            <a:solidFill>
              <a:srgbClr val="1F2937"/>
            </a:solidFill>
            <a:prstDash val="solid"/>
          </a:ln>
        </p:spPr>
      </p:sp>
      <p:sp>
        <p:nvSpPr>
          <p:cNvPr id="11" name="S06-mark66"/>
          <p:cNvSpPr/>
          <p:nvPr/>
        </p:nvSpPr>
        <p:spPr>
          <a:xfrm>
            <a:off x="8935146" y="283765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2" name="S06-mark67"/>
          <p:cNvSpPr/>
          <p:nvPr/>
        </p:nvSpPr>
        <p:spPr>
          <a:xfrm>
            <a:off x="4431645" y="1417320"/>
            <a:ext cx="2632817" cy="623562"/>
          </a:xfrm>
          <a:custGeom>
            <a:avLst/>
            <a:gdLst/>
            <a:ahLst/>
            <a:cxnLst/>
            <a:rect l="l" t="t" r="r" b="b"/>
            <a:pathLst>
              <a:path w="2632817" h="623562">
                <a:moveTo>
                  <a:pt x="0" y="623562"/>
                </a:moveTo>
                <a:lnTo>
                  <a:pt x="2632817" y="623562"/>
                </a:lnTo>
                <a:lnTo>
                  <a:pt x="2632817" y="0"/>
                </a:lnTo>
                <a:lnTo>
                  <a:pt x="0" y="0"/>
                </a:lnTo>
                <a:close/>
              </a:path>
            </a:pathLst>
          </a:custGeom>
          <a:solidFill>
            <a:srgbClr val="D9EFD3"/>
          </a:solidFill>
          <a:ln w="19050">
            <a:solidFill>
              <a:srgbClr val="1F2937"/>
            </a:solidFill>
            <a:prstDash val="solid"/>
          </a:ln>
        </p:spPr>
      </p:sp>
      <p:sp>
        <p:nvSpPr>
          <p:cNvPr id="13" name="S06-mark68"/>
          <p:cNvSpPr/>
          <p:nvPr/>
        </p:nvSpPr>
        <p:spPr>
          <a:xfrm>
            <a:off x="2768813" y="3876925"/>
            <a:ext cx="1939970" cy="762131"/>
          </a:xfrm>
          <a:custGeom>
            <a:avLst/>
            <a:gdLst/>
            <a:ahLst/>
            <a:cxnLst/>
            <a:rect l="l" t="t" r="r" b="b"/>
            <a:pathLst>
              <a:path w="1939970" h="762131">
                <a:moveTo>
                  <a:pt x="0" y="762131"/>
                </a:moveTo>
                <a:lnTo>
                  <a:pt x="1939970" y="762131"/>
                </a:lnTo>
                <a:lnTo>
                  <a:pt x="1939970" y="0"/>
                </a:lnTo>
                <a:lnTo>
                  <a:pt x="0" y="0"/>
                </a:lnTo>
                <a:close/>
              </a:path>
            </a:pathLst>
          </a:custGeom>
          <a:solidFill>
            <a:srgbClr val="EAF3F1"/>
          </a:solidFill>
          <a:ln w="19050">
            <a:solidFill>
              <a:srgbClr val="1F2937"/>
            </a:solidFill>
            <a:prstDash val="solid"/>
          </a:ln>
        </p:spPr>
      </p:sp>
      <p:sp>
        <p:nvSpPr>
          <p:cNvPr id="14" name="S06-mark69"/>
          <p:cNvSpPr/>
          <p:nvPr/>
        </p:nvSpPr>
        <p:spPr>
          <a:xfrm>
            <a:off x="3461659" y="387692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5" name="S06-mark70"/>
          <p:cNvSpPr/>
          <p:nvPr/>
        </p:nvSpPr>
        <p:spPr>
          <a:xfrm>
            <a:off x="4985922" y="3876925"/>
            <a:ext cx="1524262" cy="762131"/>
          </a:xfrm>
          <a:custGeom>
            <a:avLst/>
            <a:gdLst/>
            <a:ahLst/>
            <a:cxnLst/>
            <a:rect l="l" t="t" r="r" b="b"/>
            <a:pathLst>
              <a:path w="1524262" h="762131">
                <a:moveTo>
                  <a:pt x="0" y="762131"/>
                </a:moveTo>
                <a:lnTo>
                  <a:pt x="1524262" y="762131"/>
                </a:lnTo>
                <a:lnTo>
                  <a:pt x="1524262" y="0"/>
                </a:lnTo>
                <a:lnTo>
                  <a:pt x="0" y="0"/>
                </a:lnTo>
                <a:close/>
              </a:path>
            </a:pathLst>
          </a:custGeom>
          <a:solidFill>
            <a:srgbClr val="EAF3F1"/>
          </a:solidFill>
          <a:ln w="19050">
            <a:solidFill>
              <a:srgbClr val="1F2937"/>
            </a:solidFill>
            <a:prstDash val="solid"/>
          </a:ln>
        </p:spPr>
      </p:sp>
      <p:sp>
        <p:nvSpPr>
          <p:cNvPr id="16" name="S06-mark71"/>
          <p:cNvSpPr/>
          <p:nvPr/>
        </p:nvSpPr>
        <p:spPr>
          <a:xfrm>
            <a:off x="5470914" y="387692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7" name="S06-mark72"/>
          <p:cNvSpPr/>
          <p:nvPr/>
        </p:nvSpPr>
        <p:spPr>
          <a:xfrm>
            <a:off x="8450154" y="3876925"/>
            <a:ext cx="1939970" cy="762131"/>
          </a:xfrm>
          <a:custGeom>
            <a:avLst/>
            <a:gdLst/>
            <a:ahLst/>
            <a:cxnLst/>
            <a:rect l="l" t="t" r="r" b="b"/>
            <a:pathLst>
              <a:path w="1939970" h="762131">
                <a:moveTo>
                  <a:pt x="0" y="762131"/>
                </a:moveTo>
                <a:lnTo>
                  <a:pt x="1939970" y="762131"/>
                </a:lnTo>
                <a:lnTo>
                  <a:pt x="1939970" y="0"/>
                </a:lnTo>
                <a:lnTo>
                  <a:pt x="0" y="0"/>
                </a:lnTo>
                <a:close/>
              </a:path>
            </a:pathLst>
          </a:custGeom>
          <a:solidFill>
            <a:srgbClr val="EAF3F1"/>
          </a:solidFill>
          <a:ln w="19050">
            <a:solidFill>
              <a:srgbClr val="1F2937"/>
            </a:solidFill>
            <a:prstDash val="solid"/>
          </a:ln>
        </p:spPr>
      </p:sp>
      <p:sp>
        <p:nvSpPr>
          <p:cNvPr id="18" name="S06-mark73"/>
          <p:cNvSpPr/>
          <p:nvPr/>
        </p:nvSpPr>
        <p:spPr>
          <a:xfrm>
            <a:off x="9143000" y="387692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9" name="S06-label75"/>
          <p:cNvSpPr txBox="1"/>
          <p:nvPr/>
        </p:nvSpPr>
        <p:spPr>
          <a:xfrm>
            <a:off x="2058039" y="2404659"/>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20" name="S06-label77"/>
          <p:cNvSpPr txBox="1"/>
          <p:nvPr/>
        </p:nvSpPr>
        <p:spPr>
          <a:xfrm>
            <a:off x="5394485" y="240465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21" name="S06-label79"/>
          <p:cNvSpPr txBox="1"/>
          <p:nvPr/>
        </p:nvSpPr>
        <p:spPr>
          <a:xfrm>
            <a:off x="8560013" y="2404659"/>
            <a:ext cx="1304544"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22" name="S06-label81"/>
          <p:cNvSpPr txBox="1"/>
          <p:nvPr/>
        </p:nvSpPr>
        <p:spPr>
          <a:xfrm>
            <a:off x="5394485" y="153860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23" name="S06-label83"/>
          <p:cNvSpPr txBox="1"/>
          <p:nvPr/>
        </p:nvSpPr>
        <p:spPr>
          <a:xfrm>
            <a:off x="3385230" y="406749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24" name="S06-label85"/>
          <p:cNvSpPr txBox="1"/>
          <p:nvPr/>
        </p:nvSpPr>
        <p:spPr>
          <a:xfrm>
            <a:off x="5245133" y="4067490"/>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지호네</a:t>
            </a:r>
            <a:endParaRPr lang="ko-KR" sz="2400" dirty="0"/>
          </a:p>
        </p:txBody>
      </p:sp>
      <p:sp>
        <p:nvSpPr>
          <p:cNvPr id="25" name="S06-label87"/>
          <p:cNvSpPr txBox="1"/>
          <p:nvPr/>
        </p:nvSpPr>
        <p:spPr>
          <a:xfrm>
            <a:off x="9066571" y="406749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26" name="S06-label89"/>
          <p:cNvSpPr txBox="1"/>
          <p:nvPr/>
        </p:nvSpPr>
        <p:spPr>
          <a:xfrm>
            <a:off x="9967271" y="3236075"/>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4B5563"/>
                </a:solidFill>
                <a:latin typeface="맑은 고딕" pitchFamily="34" charset="0"/>
                <a:ea typeface="맑은 고딕" pitchFamily="34" charset="-122"/>
                <a:cs typeface="맑은 고딕" pitchFamily="34" charset="-120"/>
              </a:rPr>
              <a:t>큰길</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별빛마을 위치 말하기</a:t>
            </a:r>
            <a:endParaRPr lang="ko-KR" sz="4000" dirty="0"/>
          </a:p>
        </p:txBody>
      </p:sp>
      <p:sp>
        <p:nvSpPr>
          <p:cNvPr id="3" name="S07-card90"/>
          <p:cNvSpPr/>
          <p:nvPr/>
        </p:nvSpPr>
        <p:spPr>
          <a:xfrm>
            <a:off x="548640" y="4494276"/>
            <a:ext cx="11091672" cy="1723644"/>
          </a:xfrm>
          <a:prstGeom prst="roundRect">
            <a:avLst>
              <a:gd name="adj" fmla="val 6366"/>
            </a:avLst>
          </a:prstGeom>
          <a:solidFill>
            <a:srgbClr val="FDEBDD"/>
          </a:solidFill>
          <a:ln w="12700">
            <a:solidFill>
              <a:srgbClr val="FDEBDD"/>
            </a:solidFill>
            <a:prstDash val="solid"/>
          </a:ln>
        </p:spPr>
      </p:sp>
      <p:sp>
        <p:nvSpPr>
          <p:cNvPr id="4" name="S07-cardtext91"/>
          <p:cNvSpPr txBox="1"/>
          <p:nvPr/>
        </p:nvSpPr>
        <p:spPr>
          <a:xfrm>
            <a:off x="822960" y="4631436"/>
            <a:ext cx="10543032"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① 공원은 학교의 어디에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② 병원은 주민센터의 어디에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③ 시장과 병원 중 지호네에서 먼 곳은?</a:t>
            </a:r>
            <a:endParaRPr lang="ko-KR" sz="3000" dirty="0"/>
          </a:p>
        </p:txBody>
      </p:sp>
      <p:sp>
        <p:nvSpPr>
          <p:cNvPr id="5" name="S07-figure92" descr="별빛마을 그림: 가운데에 가로로 큰길이 있다. 큰길 위쪽에 왼쪽부터 도서관, 학교, 주민센터가 있고 문은 큰길 쪽이다. 학교 뒤(위쪽)에 공원이 있다. 큰길 아래쪽에 왼쪽부터 시장, 지호네, 병원이 있고 지호네는 학교 앞(길 건너)이다. 시장은 지호네 바로 옆이고 병원은 지호네에서 멀다."/>
          <p:cNvSpPr/>
          <p:nvPr/>
        </p:nvSpPr>
        <p:spPr>
          <a:xfrm>
            <a:off x="1944280" y="2899533"/>
            <a:ext cx="8300392" cy="474308"/>
          </a:xfrm>
          <a:custGeom>
            <a:avLst/>
            <a:gdLst/>
            <a:ahLst/>
            <a:cxnLst/>
            <a:rect l="l" t="t" r="r" b="b"/>
            <a:pathLst>
              <a:path w="8300392" h="474308">
                <a:moveTo>
                  <a:pt x="0" y="474308"/>
                </a:moveTo>
                <a:lnTo>
                  <a:pt x="8300392" y="474308"/>
                </a:lnTo>
                <a:lnTo>
                  <a:pt x="8300392" y="0"/>
                </a:lnTo>
                <a:lnTo>
                  <a:pt x="0" y="0"/>
                </a:lnTo>
                <a:close/>
              </a:path>
            </a:pathLst>
          </a:custGeom>
          <a:solidFill>
            <a:srgbClr val="E5E7EB"/>
          </a:solidFill>
          <a:ln/>
        </p:spPr>
      </p:sp>
      <p:sp>
        <p:nvSpPr>
          <p:cNvPr id="6" name="S07-mark93"/>
          <p:cNvSpPr/>
          <p:nvPr/>
        </p:nvSpPr>
        <p:spPr>
          <a:xfrm>
            <a:off x="2240722" y="2099138"/>
            <a:ext cx="1660078" cy="652174"/>
          </a:xfrm>
          <a:custGeom>
            <a:avLst/>
            <a:gdLst/>
            <a:ahLst/>
            <a:cxnLst/>
            <a:rect l="l" t="t" r="r" b="b"/>
            <a:pathLst>
              <a:path w="1660078" h="652174">
                <a:moveTo>
                  <a:pt x="0" y="652174"/>
                </a:moveTo>
                <a:lnTo>
                  <a:pt x="1660078" y="652174"/>
                </a:lnTo>
                <a:lnTo>
                  <a:pt x="1660078" y="0"/>
                </a:lnTo>
                <a:lnTo>
                  <a:pt x="0" y="0"/>
                </a:lnTo>
                <a:close/>
              </a:path>
            </a:pathLst>
          </a:custGeom>
          <a:solidFill>
            <a:srgbClr val="EAF3F1"/>
          </a:solidFill>
          <a:ln w="19050">
            <a:solidFill>
              <a:srgbClr val="1F2937"/>
            </a:solidFill>
            <a:prstDash val="solid"/>
          </a:ln>
        </p:spPr>
      </p:sp>
      <p:sp>
        <p:nvSpPr>
          <p:cNvPr id="7" name="S07-mark94"/>
          <p:cNvSpPr/>
          <p:nvPr/>
        </p:nvSpPr>
        <p:spPr>
          <a:xfrm>
            <a:off x="2833608" y="2632735"/>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8" name="S07-mark95"/>
          <p:cNvSpPr/>
          <p:nvPr/>
        </p:nvSpPr>
        <p:spPr>
          <a:xfrm>
            <a:off x="4671552" y="2099138"/>
            <a:ext cx="2252964" cy="652174"/>
          </a:xfrm>
          <a:custGeom>
            <a:avLst/>
            <a:gdLst/>
            <a:ahLst/>
            <a:cxnLst/>
            <a:rect l="l" t="t" r="r" b="b"/>
            <a:pathLst>
              <a:path w="2252964" h="652174">
                <a:moveTo>
                  <a:pt x="0" y="652174"/>
                </a:moveTo>
                <a:lnTo>
                  <a:pt x="2252964" y="652174"/>
                </a:lnTo>
                <a:lnTo>
                  <a:pt x="2252964" y="0"/>
                </a:lnTo>
                <a:lnTo>
                  <a:pt x="0" y="0"/>
                </a:lnTo>
                <a:close/>
              </a:path>
            </a:pathLst>
          </a:custGeom>
          <a:solidFill>
            <a:srgbClr val="EAF3F1"/>
          </a:solidFill>
          <a:ln w="19050">
            <a:solidFill>
              <a:srgbClr val="1F2937"/>
            </a:solidFill>
            <a:prstDash val="solid"/>
          </a:ln>
        </p:spPr>
      </p:sp>
      <p:sp>
        <p:nvSpPr>
          <p:cNvPr id="9" name="S07-mark96"/>
          <p:cNvSpPr/>
          <p:nvPr/>
        </p:nvSpPr>
        <p:spPr>
          <a:xfrm>
            <a:off x="5560879" y="2632735"/>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0" name="S07-mark97"/>
          <p:cNvSpPr/>
          <p:nvPr/>
        </p:nvSpPr>
        <p:spPr>
          <a:xfrm>
            <a:off x="7695266" y="2099138"/>
            <a:ext cx="2134387" cy="652174"/>
          </a:xfrm>
          <a:custGeom>
            <a:avLst/>
            <a:gdLst/>
            <a:ahLst/>
            <a:cxnLst/>
            <a:rect l="l" t="t" r="r" b="b"/>
            <a:pathLst>
              <a:path w="2134387" h="652174">
                <a:moveTo>
                  <a:pt x="0" y="652174"/>
                </a:moveTo>
                <a:lnTo>
                  <a:pt x="2134387" y="652174"/>
                </a:lnTo>
                <a:lnTo>
                  <a:pt x="2134387" y="0"/>
                </a:lnTo>
                <a:lnTo>
                  <a:pt x="0" y="0"/>
                </a:lnTo>
                <a:close/>
              </a:path>
            </a:pathLst>
          </a:custGeom>
          <a:solidFill>
            <a:srgbClr val="EAF3F1"/>
          </a:solidFill>
          <a:ln w="19050">
            <a:solidFill>
              <a:srgbClr val="1F2937"/>
            </a:solidFill>
            <a:prstDash val="solid"/>
          </a:ln>
        </p:spPr>
      </p:sp>
      <p:sp>
        <p:nvSpPr>
          <p:cNvPr id="11" name="S07-mark98"/>
          <p:cNvSpPr/>
          <p:nvPr/>
        </p:nvSpPr>
        <p:spPr>
          <a:xfrm>
            <a:off x="8525305" y="2632735"/>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2" name="S07-mark99"/>
          <p:cNvSpPr/>
          <p:nvPr/>
        </p:nvSpPr>
        <p:spPr>
          <a:xfrm>
            <a:off x="4671552" y="1417320"/>
            <a:ext cx="2252964" cy="533597"/>
          </a:xfrm>
          <a:custGeom>
            <a:avLst/>
            <a:gdLst/>
            <a:ahLst/>
            <a:cxnLst/>
            <a:rect l="l" t="t" r="r" b="b"/>
            <a:pathLst>
              <a:path w="2252964" h="533597">
                <a:moveTo>
                  <a:pt x="0" y="533597"/>
                </a:moveTo>
                <a:lnTo>
                  <a:pt x="2252964" y="533597"/>
                </a:lnTo>
                <a:lnTo>
                  <a:pt x="2252964" y="0"/>
                </a:lnTo>
                <a:lnTo>
                  <a:pt x="0" y="0"/>
                </a:lnTo>
                <a:close/>
              </a:path>
            </a:pathLst>
          </a:custGeom>
          <a:solidFill>
            <a:srgbClr val="D9EFD3"/>
          </a:solidFill>
          <a:ln w="19050">
            <a:solidFill>
              <a:srgbClr val="1F2937"/>
            </a:solidFill>
            <a:prstDash val="solid"/>
          </a:ln>
        </p:spPr>
      </p:sp>
      <p:sp>
        <p:nvSpPr>
          <p:cNvPr id="13" name="S07-mark100"/>
          <p:cNvSpPr/>
          <p:nvPr/>
        </p:nvSpPr>
        <p:spPr>
          <a:xfrm>
            <a:off x="3248627" y="3522062"/>
            <a:ext cx="1660078" cy="652174"/>
          </a:xfrm>
          <a:custGeom>
            <a:avLst/>
            <a:gdLst/>
            <a:ahLst/>
            <a:cxnLst/>
            <a:rect l="l" t="t" r="r" b="b"/>
            <a:pathLst>
              <a:path w="1660078" h="652174">
                <a:moveTo>
                  <a:pt x="0" y="652174"/>
                </a:moveTo>
                <a:lnTo>
                  <a:pt x="1660078" y="652174"/>
                </a:lnTo>
                <a:lnTo>
                  <a:pt x="1660078" y="0"/>
                </a:lnTo>
                <a:lnTo>
                  <a:pt x="0" y="0"/>
                </a:lnTo>
                <a:close/>
              </a:path>
            </a:pathLst>
          </a:custGeom>
          <a:solidFill>
            <a:srgbClr val="EAF3F1"/>
          </a:solidFill>
          <a:ln w="19050">
            <a:solidFill>
              <a:srgbClr val="1F2937"/>
            </a:solidFill>
            <a:prstDash val="solid"/>
          </a:ln>
        </p:spPr>
      </p:sp>
      <p:sp>
        <p:nvSpPr>
          <p:cNvPr id="14" name="S07-mark101"/>
          <p:cNvSpPr/>
          <p:nvPr/>
        </p:nvSpPr>
        <p:spPr>
          <a:xfrm>
            <a:off x="3841512" y="3522062"/>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5" name="S07-mark102"/>
          <p:cNvSpPr/>
          <p:nvPr/>
        </p:nvSpPr>
        <p:spPr>
          <a:xfrm>
            <a:off x="5145860" y="3522062"/>
            <a:ext cx="1304347" cy="652174"/>
          </a:xfrm>
          <a:custGeom>
            <a:avLst/>
            <a:gdLst/>
            <a:ahLst/>
            <a:cxnLst/>
            <a:rect l="l" t="t" r="r" b="b"/>
            <a:pathLst>
              <a:path w="1304347" h="652174">
                <a:moveTo>
                  <a:pt x="0" y="652174"/>
                </a:moveTo>
                <a:lnTo>
                  <a:pt x="1304347" y="652174"/>
                </a:lnTo>
                <a:lnTo>
                  <a:pt x="1304347" y="0"/>
                </a:lnTo>
                <a:lnTo>
                  <a:pt x="0" y="0"/>
                </a:lnTo>
                <a:close/>
              </a:path>
            </a:pathLst>
          </a:custGeom>
          <a:solidFill>
            <a:srgbClr val="EAF3F1"/>
          </a:solidFill>
          <a:ln w="19050">
            <a:solidFill>
              <a:srgbClr val="1F2937"/>
            </a:solidFill>
            <a:prstDash val="solid"/>
          </a:ln>
        </p:spPr>
      </p:sp>
      <p:sp>
        <p:nvSpPr>
          <p:cNvPr id="16" name="S07-mark103"/>
          <p:cNvSpPr/>
          <p:nvPr/>
        </p:nvSpPr>
        <p:spPr>
          <a:xfrm>
            <a:off x="5560879" y="3522062"/>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7" name="S07-mark104"/>
          <p:cNvSpPr/>
          <p:nvPr/>
        </p:nvSpPr>
        <p:spPr>
          <a:xfrm>
            <a:off x="8110286" y="3522062"/>
            <a:ext cx="1660078" cy="652174"/>
          </a:xfrm>
          <a:custGeom>
            <a:avLst/>
            <a:gdLst/>
            <a:ahLst/>
            <a:cxnLst/>
            <a:rect l="l" t="t" r="r" b="b"/>
            <a:pathLst>
              <a:path w="1660078" h="652174">
                <a:moveTo>
                  <a:pt x="0" y="652174"/>
                </a:moveTo>
                <a:lnTo>
                  <a:pt x="1660078" y="652174"/>
                </a:lnTo>
                <a:lnTo>
                  <a:pt x="1660078" y="0"/>
                </a:lnTo>
                <a:lnTo>
                  <a:pt x="0" y="0"/>
                </a:lnTo>
                <a:close/>
              </a:path>
            </a:pathLst>
          </a:custGeom>
          <a:solidFill>
            <a:srgbClr val="EAF3F1"/>
          </a:solidFill>
          <a:ln w="19050">
            <a:solidFill>
              <a:srgbClr val="1F2937"/>
            </a:solidFill>
            <a:prstDash val="solid"/>
          </a:ln>
        </p:spPr>
      </p:sp>
      <p:sp>
        <p:nvSpPr>
          <p:cNvPr id="18" name="S07-mark105"/>
          <p:cNvSpPr/>
          <p:nvPr/>
        </p:nvSpPr>
        <p:spPr>
          <a:xfrm>
            <a:off x="8703171" y="3522062"/>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9" name="S07-label107"/>
          <p:cNvSpPr txBox="1"/>
          <p:nvPr/>
        </p:nvSpPr>
        <p:spPr>
          <a:xfrm>
            <a:off x="2567842" y="2234725"/>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20" name="S07-label109"/>
          <p:cNvSpPr txBox="1"/>
          <p:nvPr/>
        </p:nvSpPr>
        <p:spPr>
          <a:xfrm>
            <a:off x="5444465" y="2234725"/>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21" name="S07-label111"/>
          <p:cNvSpPr txBox="1"/>
          <p:nvPr/>
        </p:nvSpPr>
        <p:spPr>
          <a:xfrm>
            <a:off x="8110187" y="2234725"/>
            <a:ext cx="1304544"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22" name="S07-label113"/>
          <p:cNvSpPr txBox="1"/>
          <p:nvPr/>
        </p:nvSpPr>
        <p:spPr>
          <a:xfrm>
            <a:off x="5444465" y="149361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23" name="S07-label115"/>
          <p:cNvSpPr txBox="1"/>
          <p:nvPr/>
        </p:nvSpPr>
        <p:spPr>
          <a:xfrm>
            <a:off x="3725098" y="365764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24" name="S07-label117"/>
          <p:cNvSpPr txBox="1"/>
          <p:nvPr/>
        </p:nvSpPr>
        <p:spPr>
          <a:xfrm>
            <a:off x="5295113" y="3657649"/>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지호네</a:t>
            </a:r>
            <a:endParaRPr lang="ko-KR" sz="2400" dirty="0"/>
          </a:p>
        </p:txBody>
      </p:sp>
      <p:sp>
        <p:nvSpPr>
          <p:cNvPr id="25" name="S07-label119"/>
          <p:cNvSpPr txBox="1"/>
          <p:nvPr/>
        </p:nvSpPr>
        <p:spPr>
          <a:xfrm>
            <a:off x="8586757" y="365764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26" name="S07-label121"/>
          <p:cNvSpPr txBox="1"/>
          <p:nvPr/>
        </p:nvSpPr>
        <p:spPr>
          <a:xfrm>
            <a:off x="9357507" y="2946187"/>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4B5563"/>
                </a:solidFill>
                <a:latin typeface="맑은 고딕" pitchFamily="34" charset="0"/>
                <a:ea typeface="맑은 고딕" pitchFamily="34" charset="-122"/>
                <a:cs typeface="맑은 고딕" pitchFamily="34" charset="-120"/>
              </a:rPr>
              <a:t>큰길</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누가 더 잘 알려 줬나요?</a:t>
            </a:r>
            <a:endParaRPr lang="ko-KR" sz="4000" dirty="0"/>
          </a:p>
        </p:txBody>
      </p:sp>
      <p:sp>
        <p:nvSpPr>
          <p:cNvPr id="3" name="S08-card122"/>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8-cardtext123"/>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“도서관은 어디에 있어?” 두 친구가 알려 줬어요.</a:t>
            </a:r>
            <a:endParaRPr lang="ko-KR" sz="3000" dirty="0"/>
          </a:p>
        </p:txBody>
      </p:sp>
      <p:sp>
        <p:nvSpPr>
          <p:cNvPr id="5" name="S08-card12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8-cardtext12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누구의 말을 듣고 찾기 쉬울까요? 왜 그럴까요?</a:t>
            </a:r>
            <a:endParaRPr lang="ko-KR" sz="3000" dirty="0"/>
          </a:p>
        </p:txBody>
      </p:sp>
      <p:sp>
        <p:nvSpPr>
          <p:cNvPr id="7" name="S08-chip126"/>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8" name="S08-text127"/>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도서관은</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옆에 있어요.</a:t>
            </a:r>
            <a:endParaRPr lang="ko-KR" sz="3000" dirty="0"/>
          </a:p>
        </p:txBody>
      </p:sp>
      <p:sp>
        <p:nvSpPr>
          <p:cNvPr id="9" name="S08-chip128"/>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10" name="S08-text129"/>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도서관은</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학교 옆에 있어요.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 ①</a:t>
            </a:r>
            <a:endParaRPr lang="ko-KR" sz="4000" dirty="0"/>
          </a:p>
        </p:txBody>
      </p:sp>
      <p:sp>
        <p:nvSpPr>
          <p:cNvPr id="3" name="S09-text130"/>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장소를 고르고 까닭도 말해요.</a:t>
            </a:r>
            <a:endParaRPr lang="ko-KR" sz="3000" dirty="0"/>
          </a:p>
        </p:txBody>
      </p:sp>
      <p:sp>
        <p:nvSpPr>
          <p:cNvPr id="4" name="S09-card131"/>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9-cardtext13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학교 · 시장 · 공원 · 도서관 · 주민센터 · 병원</a:t>
            </a:r>
            <a:endParaRPr lang="ko-KR" sz="3000" dirty="0"/>
          </a:p>
        </p:txBody>
      </p:sp>
      <p:sp>
        <p:nvSpPr>
          <p:cNvPr id="6" name="S09-chip133"/>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9-text134"/>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넘어져서 무릎이 아파요.</a:t>
            </a:r>
            <a:endParaRPr lang="ko-KR" sz="3000" dirty="0"/>
          </a:p>
        </p:txBody>
      </p:sp>
      <p:sp>
        <p:nvSpPr>
          <p:cNvPr id="8" name="S09-chip135"/>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9-text136"/>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옛날이야기 책을 빌려요.</a:t>
            </a:r>
            <a:endParaRPr lang="ko-KR" sz="3000" dirty="0"/>
          </a:p>
        </p:txBody>
      </p:sp>
      <p:sp>
        <p:nvSpPr>
          <p:cNvPr id="10" name="S09-chip137"/>
          <p:cNvSpPr txBox="1"/>
          <p:nvPr/>
        </p:nvSpPr>
        <p:spPr>
          <a:xfrm>
            <a:off x="548640"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9-text138"/>
          <p:cNvSpPr txBox="1"/>
          <p:nvPr/>
        </p:nvSpPr>
        <p:spPr>
          <a:xfrm>
            <a:off x="1344168" y="365760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할머니께 드릴 과일을 사요.</a:t>
            </a:r>
            <a:endParaRPr lang="ko-KR" sz="3000" dirty="0"/>
          </a:p>
        </p:txBody>
      </p:sp>
      <p:sp>
        <p:nvSpPr>
          <p:cNvPr id="12" name="S09-chip139"/>
          <p:cNvSpPr txBox="1"/>
          <p:nvPr/>
        </p:nvSpPr>
        <p:spPr>
          <a:xfrm>
            <a:off x="6277356"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④</a:t>
            </a:r>
            <a:endParaRPr lang="ko-KR" sz="2400" dirty="0"/>
          </a:p>
        </p:txBody>
      </p:sp>
      <p:sp>
        <p:nvSpPr>
          <p:cNvPr id="13" name="S09-text140"/>
          <p:cNvSpPr txBox="1"/>
          <p:nvPr/>
        </p:nvSpPr>
        <p:spPr>
          <a:xfrm>
            <a:off x="7072884" y="365760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엄마가 필요한 서류를 떼요.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햇살마을 위치 말하기</a:t>
            </a:r>
            <a:endParaRPr lang="ko-KR" sz="4000" dirty="0"/>
          </a:p>
        </p:txBody>
      </p:sp>
      <p:sp>
        <p:nvSpPr>
          <p:cNvPr id="3" name="S10-card141"/>
          <p:cNvSpPr/>
          <p:nvPr/>
        </p:nvSpPr>
        <p:spPr>
          <a:xfrm>
            <a:off x="548640" y="4494276"/>
            <a:ext cx="11091672" cy="1723644"/>
          </a:xfrm>
          <a:prstGeom prst="roundRect">
            <a:avLst>
              <a:gd name="adj" fmla="val 6366"/>
            </a:avLst>
          </a:prstGeom>
          <a:solidFill>
            <a:srgbClr val="FDEBDD"/>
          </a:solidFill>
          <a:ln w="12700">
            <a:solidFill>
              <a:srgbClr val="FDEBDD"/>
            </a:solidFill>
            <a:prstDash val="solid"/>
          </a:ln>
        </p:spPr>
      </p:sp>
      <p:sp>
        <p:nvSpPr>
          <p:cNvPr id="4" name="S10-cardtext142"/>
          <p:cNvSpPr txBox="1"/>
          <p:nvPr/>
        </p:nvSpPr>
        <p:spPr>
          <a:xfrm>
            <a:off x="822960" y="4631436"/>
            <a:ext cx="10543032"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① 도서관은 학교의 어디에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② 공원은 학교의 어디에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③ 병원과 시장 중 서아네에서 가까운 곳은?</a:t>
            </a:r>
            <a:endParaRPr lang="ko-KR" sz="3000" dirty="0"/>
          </a:p>
        </p:txBody>
      </p:sp>
      <p:sp>
        <p:nvSpPr>
          <p:cNvPr id="5" name="S10-figure143" descr="햇살마을 그림: 가운데에 가로로 큰길이 있다. 큰길 위쪽에 학교와 그 오른쪽 옆에 도서관이 있고, 학교 뒤에 공원이 있다. 큰길 아래쪽에 서아네(학교 앞), 서아네 바로 옆에 병원, 오른쪽 끝 멀리 시장이 있다."/>
          <p:cNvSpPr/>
          <p:nvPr/>
        </p:nvSpPr>
        <p:spPr>
          <a:xfrm>
            <a:off x="1944280" y="2899533"/>
            <a:ext cx="8300392" cy="474308"/>
          </a:xfrm>
          <a:custGeom>
            <a:avLst/>
            <a:gdLst/>
            <a:ahLst/>
            <a:cxnLst/>
            <a:rect l="l" t="t" r="r" b="b"/>
            <a:pathLst>
              <a:path w="8300392" h="474308">
                <a:moveTo>
                  <a:pt x="0" y="474308"/>
                </a:moveTo>
                <a:lnTo>
                  <a:pt x="8300392" y="474308"/>
                </a:lnTo>
                <a:lnTo>
                  <a:pt x="8300392" y="0"/>
                </a:lnTo>
                <a:lnTo>
                  <a:pt x="0" y="0"/>
                </a:lnTo>
                <a:close/>
              </a:path>
            </a:pathLst>
          </a:custGeom>
          <a:solidFill>
            <a:srgbClr val="E5E7EB"/>
          </a:solidFill>
          <a:ln/>
        </p:spPr>
      </p:sp>
      <p:sp>
        <p:nvSpPr>
          <p:cNvPr id="6" name="S10-mark144"/>
          <p:cNvSpPr/>
          <p:nvPr/>
        </p:nvSpPr>
        <p:spPr>
          <a:xfrm>
            <a:off x="2240722" y="2099138"/>
            <a:ext cx="2252964" cy="652174"/>
          </a:xfrm>
          <a:custGeom>
            <a:avLst/>
            <a:gdLst/>
            <a:ahLst/>
            <a:cxnLst/>
            <a:rect l="l" t="t" r="r" b="b"/>
            <a:pathLst>
              <a:path w="2252964" h="652174">
                <a:moveTo>
                  <a:pt x="0" y="652174"/>
                </a:moveTo>
                <a:lnTo>
                  <a:pt x="2252964" y="652174"/>
                </a:lnTo>
                <a:lnTo>
                  <a:pt x="2252964" y="0"/>
                </a:lnTo>
                <a:lnTo>
                  <a:pt x="0" y="0"/>
                </a:lnTo>
                <a:close/>
              </a:path>
            </a:pathLst>
          </a:custGeom>
          <a:solidFill>
            <a:srgbClr val="EAF3F1"/>
          </a:solidFill>
          <a:ln w="19050">
            <a:solidFill>
              <a:srgbClr val="1F2937"/>
            </a:solidFill>
            <a:prstDash val="solid"/>
          </a:ln>
        </p:spPr>
      </p:sp>
      <p:sp>
        <p:nvSpPr>
          <p:cNvPr id="7" name="S10-mark145"/>
          <p:cNvSpPr/>
          <p:nvPr/>
        </p:nvSpPr>
        <p:spPr>
          <a:xfrm>
            <a:off x="3130050" y="2632735"/>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8" name="S10-mark146"/>
          <p:cNvSpPr/>
          <p:nvPr/>
        </p:nvSpPr>
        <p:spPr>
          <a:xfrm>
            <a:off x="4730840" y="2099138"/>
            <a:ext cx="1660078" cy="652174"/>
          </a:xfrm>
          <a:custGeom>
            <a:avLst/>
            <a:gdLst/>
            <a:ahLst/>
            <a:cxnLst/>
            <a:rect l="l" t="t" r="r" b="b"/>
            <a:pathLst>
              <a:path w="1660078" h="652174">
                <a:moveTo>
                  <a:pt x="0" y="652174"/>
                </a:moveTo>
                <a:lnTo>
                  <a:pt x="1660078" y="652174"/>
                </a:lnTo>
                <a:lnTo>
                  <a:pt x="1660078" y="0"/>
                </a:lnTo>
                <a:lnTo>
                  <a:pt x="0" y="0"/>
                </a:lnTo>
                <a:close/>
              </a:path>
            </a:pathLst>
          </a:custGeom>
          <a:solidFill>
            <a:srgbClr val="EAF3F1"/>
          </a:solidFill>
          <a:ln w="19050">
            <a:solidFill>
              <a:srgbClr val="1F2937"/>
            </a:solidFill>
            <a:prstDash val="solid"/>
          </a:ln>
        </p:spPr>
      </p:sp>
      <p:sp>
        <p:nvSpPr>
          <p:cNvPr id="9" name="S10-mark147"/>
          <p:cNvSpPr/>
          <p:nvPr/>
        </p:nvSpPr>
        <p:spPr>
          <a:xfrm>
            <a:off x="5323725" y="2632735"/>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0" name="S10-mark148"/>
          <p:cNvSpPr/>
          <p:nvPr/>
        </p:nvSpPr>
        <p:spPr>
          <a:xfrm>
            <a:off x="2240722" y="1417320"/>
            <a:ext cx="2252964" cy="533597"/>
          </a:xfrm>
          <a:custGeom>
            <a:avLst/>
            <a:gdLst/>
            <a:ahLst/>
            <a:cxnLst/>
            <a:rect l="l" t="t" r="r" b="b"/>
            <a:pathLst>
              <a:path w="2252964" h="533597">
                <a:moveTo>
                  <a:pt x="0" y="533597"/>
                </a:moveTo>
                <a:lnTo>
                  <a:pt x="2252964" y="533597"/>
                </a:lnTo>
                <a:lnTo>
                  <a:pt x="2252964" y="0"/>
                </a:lnTo>
                <a:lnTo>
                  <a:pt x="0" y="0"/>
                </a:lnTo>
                <a:close/>
              </a:path>
            </a:pathLst>
          </a:custGeom>
          <a:solidFill>
            <a:srgbClr val="D9EFD3"/>
          </a:solidFill>
          <a:ln w="19050">
            <a:solidFill>
              <a:srgbClr val="1F2937"/>
            </a:solidFill>
            <a:prstDash val="solid"/>
          </a:ln>
        </p:spPr>
      </p:sp>
      <p:sp>
        <p:nvSpPr>
          <p:cNvPr id="11" name="S10-mark149"/>
          <p:cNvSpPr/>
          <p:nvPr/>
        </p:nvSpPr>
        <p:spPr>
          <a:xfrm>
            <a:off x="2715031" y="3522062"/>
            <a:ext cx="1304347" cy="652174"/>
          </a:xfrm>
          <a:custGeom>
            <a:avLst/>
            <a:gdLst/>
            <a:ahLst/>
            <a:cxnLst/>
            <a:rect l="l" t="t" r="r" b="b"/>
            <a:pathLst>
              <a:path w="1304347" h="652174">
                <a:moveTo>
                  <a:pt x="0" y="652174"/>
                </a:moveTo>
                <a:lnTo>
                  <a:pt x="1304347" y="652174"/>
                </a:lnTo>
                <a:lnTo>
                  <a:pt x="1304347" y="0"/>
                </a:lnTo>
                <a:lnTo>
                  <a:pt x="0" y="0"/>
                </a:lnTo>
                <a:close/>
              </a:path>
            </a:pathLst>
          </a:custGeom>
          <a:solidFill>
            <a:srgbClr val="EAF3F1"/>
          </a:solidFill>
          <a:ln w="19050">
            <a:solidFill>
              <a:srgbClr val="1F2937"/>
            </a:solidFill>
            <a:prstDash val="solid"/>
          </a:ln>
        </p:spPr>
      </p:sp>
      <p:sp>
        <p:nvSpPr>
          <p:cNvPr id="12" name="S10-mark150"/>
          <p:cNvSpPr/>
          <p:nvPr/>
        </p:nvSpPr>
        <p:spPr>
          <a:xfrm>
            <a:off x="3130050" y="3522062"/>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3" name="S10-mark151"/>
          <p:cNvSpPr/>
          <p:nvPr/>
        </p:nvSpPr>
        <p:spPr>
          <a:xfrm>
            <a:off x="4256532" y="3522062"/>
            <a:ext cx="1660078" cy="652174"/>
          </a:xfrm>
          <a:custGeom>
            <a:avLst/>
            <a:gdLst/>
            <a:ahLst/>
            <a:cxnLst/>
            <a:rect l="l" t="t" r="r" b="b"/>
            <a:pathLst>
              <a:path w="1660078" h="652174">
                <a:moveTo>
                  <a:pt x="0" y="652174"/>
                </a:moveTo>
                <a:lnTo>
                  <a:pt x="1660078" y="652174"/>
                </a:lnTo>
                <a:lnTo>
                  <a:pt x="1660078" y="0"/>
                </a:lnTo>
                <a:lnTo>
                  <a:pt x="0" y="0"/>
                </a:lnTo>
                <a:close/>
              </a:path>
            </a:pathLst>
          </a:custGeom>
          <a:solidFill>
            <a:srgbClr val="EAF3F1"/>
          </a:solidFill>
          <a:ln w="19050">
            <a:solidFill>
              <a:srgbClr val="1F2937"/>
            </a:solidFill>
            <a:prstDash val="solid"/>
          </a:ln>
        </p:spPr>
      </p:sp>
      <p:sp>
        <p:nvSpPr>
          <p:cNvPr id="14" name="S10-mark152"/>
          <p:cNvSpPr/>
          <p:nvPr/>
        </p:nvSpPr>
        <p:spPr>
          <a:xfrm>
            <a:off x="4849417" y="3522062"/>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5" name="S10-mark153"/>
          <p:cNvSpPr/>
          <p:nvPr/>
        </p:nvSpPr>
        <p:spPr>
          <a:xfrm>
            <a:off x="8110286" y="3522062"/>
            <a:ext cx="1660078" cy="652174"/>
          </a:xfrm>
          <a:custGeom>
            <a:avLst/>
            <a:gdLst/>
            <a:ahLst/>
            <a:cxnLst/>
            <a:rect l="l" t="t" r="r" b="b"/>
            <a:pathLst>
              <a:path w="1660078" h="652174">
                <a:moveTo>
                  <a:pt x="0" y="652174"/>
                </a:moveTo>
                <a:lnTo>
                  <a:pt x="1660078" y="652174"/>
                </a:lnTo>
                <a:lnTo>
                  <a:pt x="1660078" y="0"/>
                </a:lnTo>
                <a:lnTo>
                  <a:pt x="0" y="0"/>
                </a:lnTo>
                <a:close/>
              </a:path>
            </a:pathLst>
          </a:custGeom>
          <a:solidFill>
            <a:srgbClr val="EAF3F1"/>
          </a:solidFill>
          <a:ln w="19050">
            <a:solidFill>
              <a:srgbClr val="1F2937"/>
            </a:solidFill>
            <a:prstDash val="solid"/>
          </a:ln>
        </p:spPr>
      </p:sp>
      <p:sp>
        <p:nvSpPr>
          <p:cNvPr id="16" name="S10-mark154"/>
          <p:cNvSpPr/>
          <p:nvPr/>
        </p:nvSpPr>
        <p:spPr>
          <a:xfrm>
            <a:off x="8703171" y="3522062"/>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7" name="S10-label156"/>
          <p:cNvSpPr txBox="1"/>
          <p:nvPr/>
        </p:nvSpPr>
        <p:spPr>
          <a:xfrm>
            <a:off x="3013636" y="2234725"/>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18" name="S10-label158"/>
          <p:cNvSpPr txBox="1"/>
          <p:nvPr/>
        </p:nvSpPr>
        <p:spPr>
          <a:xfrm>
            <a:off x="5057959" y="2234725"/>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19" name="S10-label160"/>
          <p:cNvSpPr txBox="1"/>
          <p:nvPr/>
        </p:nvSpPr>
        <p:spPr>
          <a:xfrm>
            <a:off x="3013636" y="149361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20" name="S10-label162"/>
          <p:cNvSpPr txBox="1"/>
          <p:nvPr/>
        </p:nvSpPr>
        <p:spPr>
          <a:xfrm>
            <a:off x="2864284" y="3657649"/>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서아네</a:t>
            </a:r>
            <a:endParaRPr lang="ko-KR" sz="2400" dirty="0"/>
          </a:p>
        </p:txBody>
      </p:sp>
      <p:sp>
        <p:nvSpPr>
          <p:cNvPr id="21" name="S10-label164"/>
          <p:cNvSpPr txBox="1"/>
          <p:nvPr/>
        </p:nvSpPr>
        <p:spPr>
          <a:xfrm>
            <a:off x="4733003" y="365764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22" name="S10-label166"/>
          <p:cNvSpPr txBox="1"/>
          <p:nvPr/>
        </p:nvSpPr>
        <p:spPr>
          <a:xfrm>
            <a:off x="8586757" y="365764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23" name="S10-label168"/>
          <p:cNvSpPr txBox="1"/>
          <p:nvPr/>
        </p:nvSpPr>
        <p:spPr>
          <a:xfrm>
            <a:off x="9357507" y="2946187"/>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4B5563"/>
                </a:solidFill>
                <a:latin typeface="맑은 고딕" pitchFamily="34" charset="0"/>
                <a:ea typeface="맑은 고딕" pitchFamily="34" charset="-122"/>
                <a:cs typeface="맑은 고딕" pitchFamily="34" charset="-120"/>
              </a:rPr>
              <a:t>큰길</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정답 확인</a:t>
            </a:r>
            <a:endParaRPr lang="ko-KR" sz="4000" dirty="0"/>
          </a:p>
        </p:txBody>
      </p:sp>
      <p:sp>
        <p:nvSpPr>
          <p:cNvPr id="3" name="S11-card169"/>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1-cardtext17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기준 장소를 먼저 말하고, 문이 있는 쪽이 앞이에요.</a:t>
            </a:r>
            <a:endParaRPr lang="ko-KR" sz="3000" dirty="0"/>
          </a:p>
        </p:txBody>
      </p:sp>
      <p:sp>
        <p:nvSpPr>
          <p:cNvPr id="5" name="S11-chip171"/>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정답</a:t>
            </a:r>
            <a:endParaRPr lang="ko-KR" sz="2400" dirty="0"/>
          </a:p>
        </p:txBody>
      </p:sp>
      <p:sp>
        <p:nvSpPr>
          <p:cNvPr id="6" name="S11-text172"/>
          <p:cNvSpPr txBox="1"/>
          <p:nvPr/>
        </p:nvSpPr>
        <p:spPr>
          <a:xfrm>
            <a:off x="548640" y="2057400"/>
            <a:ext cx="268147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병원 · 도서관</a:t>
            </a:r>
            <a:endParaRPr lang="ko-KR" sz="2400" dirty="0"/>
          </a:p>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시장 · 주민센터</a:t>
            </a:r>
            <a:endParaRPr lang="ko-KR" sz="2400" dirty="0"/>
          </a:p>
        </p:txBody>
      </p:sp>
      <p:sp>
        <p:nvSpPr>
          <p:cNvPr id="7" name="S11-text173"/>
          <p:cNvSpPr txBox="1"/>
          <p:nvPr/>
        </p:nvSpPr>
        <p:spPr>
          <a:xfrm>
            <a:off x="3367278" y="2057400"/>
            <a:ext cx="2544318" cy="1234440"/>
          </a:xfrm>
          <a:prstGeom prst="rect">
            <a:avLst/>
          </a:prstGeom>
          <a:noFill/>
          <a:ln/>
        </p:spPr>
        <p:txBody>
          <a:bodyPr wrap="square" lIns="0" tIns="0" rIns="0" bIns="0" rtlCol="0" anchor="ctr"/>
          <a:lstStyle/>
          <a:p>
            <a:pPr eaLnBrk="0" algn="l" indent="0" marL="0">
              <a:buNone/>
            </a:pPr>
            <a:r>
              <a:rPr lang="en-US" altLang="ko-KR" sz="2400" dirty="0">
                <a:solidFill>
                  <a:srgbClr val="1F2937"/>
                </a:solidFill>
                <a:latin typeface="맑은 고딕" pitchFamily="34" charset="0"/>
                <a:ea typeface="맑은 고딕" pitchFamily="34" charset="-122"/>
                <a:cs typeface="맑은 고딕" pitchFamily="34" charset="-120"/>
              </a:rPr>
              <a:t>S09</a:t>
            </a:r>
            <a:endParaRPr lang="ko-KR" sz="2400" dirty="0"/>
          </a:p>
        </p:txBody>
      </p:sp>
      <p:sp>
        <p:nvSpPr>
          <p:cNvPr id="8" name="S11-text174"/>
          <p:cNvSpPr txBox="1"/>
          <p:nvPr/>
        </p:nvSpPr>
        <p:spPr>
          <a:xfrm>
            <a:off x="548640" y="3429000"/>
            <a:ext cx="268147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학교 옆 · 학교 뒤</a:t>
            </a:r>
            <a:endParaRPr lang="ko-KR" sz="2400" dirty="0"/>
          </a:p>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병원(가까이)</a:t>
            </a:r>
            <a:endParaRPr lang="ko-KR" sz="2400" dirty="0"/>
          </a:p>
        </p:txBody>
      </p:sp>
      <p:sp>
        <p:nvSpPr>
          <p:cNvPr id="9" name="S11-text175"/>
          <p:cNvSpPr txBox="1"/>
          <p:nvPr/>
        </p:nvSpPr>
        <p:spPr>
          <a:xfrm>
            <a:off x="3367278" y="3429000"/>
            <a:ext cx="2544318" cy="1234440"/>
          </a:xfrm>
          <a:prstGeom prst="rect">
            <a:avLst/>
          </a:prstGeom>
          <a:noFill/>
          <a:ln/>
        </p:spPr>
        <p:txBody>
          <a:bodyPr wrap="square" lIns="0" tIns="0" rIns="0" bIns="0" rtlCol="0" anchor="ctr"/>
          <a:lstStyle/>
          <a:p>
            <a:pPr eaLnBrk="0" algn="l" indent="0" marL="0">
              <a:buNone/>
            </a:pPr>
            <a:r>
              <a:rPr lang="en-US" altLang="ko-KR" sz="2400" dirty="0">
                <a:solidFill>
                  <a:srgbClr val="1F2937"/>
                </a:solidFill>
                <a:latin typeface="맑은 고딕" pitchFamily="34" charset="0"/>
                <a:ea typeface="맑은 고딕" pitchFamily="34" charset="-122"/>
                <a:cs typeface="맑은 고딕" pitchFamily="34" charset="-120"/>
              </a:rPr>
              <a:t>S10</a:t>
            </a:r>
            <a:endParaRPr lang="ko-KR" sz="2400" dirty="0"/>
          </a:p>
        </p:txBody>
      </p:sp>
      <p:sp>
        <p:nvSpPr>
          <p:cNvPr id="10" name="S11-chip176"/>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흔한 실수</a:t>
            </a:r>
            <a:endParaRPr lang="ko-KR" sz="2400" dirty="0"/>
          </a:p>
        </p:txBody>
      </p:sp>
      <p:sp>
        <p:nvSpPr>
          <p:cNvPr id="11" name="S11-text177"/>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“옆에 있어요.”</a:t>
            </a:r>
            <a:endParaRPr lang="ko-KR" sz="3000" dirty="0"/>
          </a:p>
        </p:txBody>
      </p:sp>
      <p:sp>
        <p:nvSpPr>
          <p:cNvPr id="12" name="S11-text178"/>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기준 장소가 빠졌어요</a:t>
            </a:r>
            <a:endParaRPr lang="ko-KR" sz="2400" dirty="0"/>
          </a:p>
        </p:txBody>
      </p:sp>
      <p:sp>
        <p:nvSpPr>
          <p:cNvPr id="13" name="S11-text179"/>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“학교 위에 있어요.”</a:t>
            </a:r>
            <a:endParaRPr lang="ko-KR" sz="3000" dirty="0"/>
          </a:p>
        </p:txBody>
      </p:sp>
      <p:sp>
        <p:nvSpPr>
          <p:cNvPr id="14" name="S11-text180"/>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문 반대쪽은 뒤</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우리 고장을 조사하는 방법</a:t>
            </a:r>
            <a:endParaRPr lang="ko-KR" sz="4000" dirty="0"/>
          </a:p>
        </p:txBody>
      </p:sp>
      <p:sp>
        <p:nvSpPr>
          <p:cNvPr id="3" name="S12-card18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2-cardtext18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알아낸 것은 바로 기록표에 적어요.</a:t>
            </a:r>
            <a:endParaRPr lang="ko-KR" sz="3000" dirty="0"/>
          </a:p>
        </p:txBody>
      </p:sp>
      <p:sp>
        <p:nvSpPr>
          <p:cNvPr id="5" name="S12-card183"/>
          <p:cNvSpPr/>
          <p:nvPr/>
        </p:nvSpPr>
        <p:spPr>
          <a:xfrm>
            <a:off x="548640" y="2125980"/>
            <a:ext cx="3544824" cy="2194560"/>
          </a:xfrm>
          <a:prstGeom prst="roundRect">
            <a:avLst>
              <a:gd name="adj" fmla="val 5000"/>
            </a:avLst>
          </a:prstGeom>
          <a:solidFill>
            <a:srgbClr val="EAF3F1"/>
          </a:solidFill>
          <a:ln w="12700">
            <a:solidFill>
              <a:srgbClr val="EAF3F1"/>
            </a:solidFill>
            <a:prstDash val="solid"/>
          </a:ln>
        </p:spPr>
      </p:sp>
      <p:sp>
        <p:nvSpPr>
          <p:cNvPr id="6" name="S12-cardtext184"/>
          <p:cNvSpPr txBox="1"/>
          <p:nvPr/>
        </p:nvSpPr>
        <p:spPr>
          <a:xfrm>
            <a:off x="822960" y="2263140"/>
            <a:ext cx="2996184" cy="192024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① 직접 가 보기</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어른과 함께 걸으며 장소와 위치를 살펴요.</a:t>
            </a:r>
            <a:endParaRPr lang="ko-KR" sz="3000" dirty="0"/>
          </a:p>
        </p:txBody>
      </p:sp>
      <p:sp>
        <p:nvSpPr>
          <p:cNvPr id="7" name="S12-card185"/>
          <p:cNvSpPr/>
          <p:nvPr/>
        </p:nvSpPr>
        <p:spPr>
          <a:xfrm>
            <a:off x="4322064" y="2125980"/>
            <a:ext cx="3544824" cy="2194560"/>
          </a:xfrm>
          <a:prstGeom prst="roundRect">
            <a:avLst>
              <a:gd name="adj" fmla="val 5000"/>
            </a:avLst>
          </a:prstGeom>
          <a:solidFill>
            <a:srgbClr val="EAF3F1"/>
          </a:solidFill>
          <a:ln w="12700">
            <a:solidFill>
              <a:srgbClr val="EAF3F1"/>
            </a:solidFill>
            <a:prstDash val="solid"/>
          </a:ln>
        </p:spPr>
      </p:sp>
      <p:sp>
        <p:nvSpPr>
          <p:cNvPr id="8" name="S12-cardtext186"/>
          <p:cNvSpPr txBox="1"/>
          <p:nvPr/>
        </p:nvSpPr>
        <p:spPr>
          <a:xfrm>
            <a:off x="4596384" y="2263140"/>
            <a:ext cx="2996184" cy="192024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② 지도 앱 보기</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휴대 전화 지도 앱에서 장소를 찾아요.</a:t>
            </a:r>
            <a:endParaRPr lang="ko-KR" sz="3000" dirty="0"/>
          </a:p>
        </p:txBody>
      </p:sp>
      <p:sp>
        <p:nvSpPr>
          <p:cNvPr id="9" name="S12-card187"/>
          <p:cNvSpPr/>
          <p:nvPr/>
        </p:nvSpPr>
        <p:spPr>
          <a:xfrm>
            <a:off x="8095488" y="2125980"/>
            <a:ext cx="3544824" cy="2194560"/>
          </a:xfrm>
          <a:prstGeom prst="roundRect">
            <a:avLst>
              <a:gd name="adj" fmla="val 5000"/>
            </a:avLst>
          </a:prstGeom>
          <a:solidFill>
            <a:srgbClr val="EAF3F1"/>
          </a:solidFill>
          <a:ln w="12700">
            <a:solidFill>
              <a:srgbClr val="EAF3F1"/>
            </a:solidFill>
            <a:prstDash val="solid"/>
          </a:ln>
        </p:spPr>
      </p:sp>
      <p:sp>
        <p:nvSpPr>
          <p:cNvPr id="10" name="S12-cardtext188"/>
          <p:cNvSpPr txBox="1"/>
          <p:nvPr/>
        </p:nvSpPr>
        <p:spPr>
          <a:xfrm>
            <a:off x="8369808" y="2263140"/>
            <a:ext cx="2996184" cy="192024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③ 어른께 여쭈기</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이웃 어른께 장소가 하는 일을 여쭈어요.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어떤 방법이 좋을까요?</a:t>
            </a:r>
            <a:endParaRPr lang="ko-KR" sz="4000" dirty="0"/>
          </a:p>
        </p:txBody>
      </p:sp>
      <p:sp>
        <p:nvSpPr>
          <p:cNvPr id="3" name="S13-text189"/>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알고 싶은 것에 맞는 방법을 골라요.</a:t>
            </a:r>
            <a:endParaRPr lang="ko-KR" sz="3000" dirty="0"/>
          </a:p>
        </p:txBody>
      </p:sp>
      <p:sp>
        <p:nvSpPr>
          <p:cNvPr id="4" name="S13-card190"/>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13-cardtext19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직접 가 보기 · 지도 앱 보기 · 어른께 여쭈기</a:t>
            </a:r>
            <a:endParaRPr lang="ko-KR" sz="3000" dirty="0"/>
          </a:p>
        </p:txBody>
      </p:sp>
      <p:sp>
        <p:nvSpPr>
          <p:cNvPr id="6" name="S13-chip192"/>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13-text193"/>
          <p:cNvSpPr txBox="1"/>
          <p:nvPr/>
        </p:nvSpPr>
        <p:spPr>
          <a:xfrm>
            <a:off x="1344168" y="201168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집에서 공원까지 몇 분 걸릴까?</a:t>
            </a:r>
            <a:endParaRPr lang="ko-KR" sz="3000" dirty="0"/>
          </a:p>
        </p:txBody>
      </p:sp>
      <p:sp>
        <p:nvSpPr>
          <p:cNvPr id="8" name="S13-chip194"/>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13-text195"/>
          <p:cNvSpPr txBox="1"/>
          <p:nvPr/>
        </p:nvSpPr>
        <p:spPr>
          <a:xfrm>
            <a:off x="1344168" y="310896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시장은 옛날에 어땠을까?</a:t>
            </a:r>
            <a:endParaRPr lang="ko-KR" sz="3000" dirty="0"/>
          </a:p>
        </p:txBody>
      </p:sp>
      <p:sp>
        <p:nvSpPr>
          <p:cNvPr id="10" name="S13-chip196"/>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13-text197"/>
          <p:cNvSpPr txBox="1"/>
          <p:nvPr/>
        </p:nvSpPr>
        <p:spPr>
          <a:xfrm>
            <a:off x="1344168" y="420624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집에서 가까운 병원은 어디일까?</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우리 고장 조사 계획</a:t>
            </a:r>
            <a:endParaRPr lang="ko-KR" sz="4000" dirty="0"/>
          </a:p>
        </p:txBody>
      </p:sp>
      <p:sp>
        <p:nvSpPr>
          <p:cNvPr id="3" name="S14-card19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4-cardtext19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안전: 길을 다닐 때는 꼭 어른과 함께해요.</a:t>
            </a:r>
            <a:endParaRPr lang="ko-KR" sz="3000" dirty="0"/>
          </a:p>
        </p:txBody>
      </p:sp>
      <p:sp>
        <p:nvSpPr>
          <p:cNvPr id="5" name="S14-card200"/>
          <p:cNvSpPr/>
          <p:nvPr/>
        </p:nvSpPr>
        <p:spPr>
          <a:xfrm>
            <a:off x="6813652" y="1325880"/>
            <a:ext cx="4826660" cy="3794760"/>
          </a:xfrm>
          <a:prstGeom prst="roundRect">
            <a:avLst>
              <a:gd name="adj" fmla="val 2892"/>
            </a:avLst>
          </a:prstGeom>
          <a:solidFill>
            <a:srgbClr val="EAF3F1"/>
          </a:solidFill>
          <a:ln w="12700">
            <a:solidFill>
              <a:srgbClr val="EAF3F1"/>
            </a:solidFill>
            <a:prstDash val="solid"/>
          </a:ln>
        </p:spPr>
      </p:sp>
      <p:sp>
        <p:nvSpPr>
          <p:cNvPr id="6" name="S14-cardtext201"/>
          <p:cNvSpPr txBox="1"/>
          <p:nvPr/>
        </p:nvSpPr>
        <p:spPr>
          <a:xfrm>
            <a:off x="7087972" y="1463040"/>
            <a:ext cx="4278020" cy="352044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이렇게 하면 잘한 거예요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장소 세 곳을 정했어요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조사 방법을 골랐어요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기준을 넣어 위치를 말했어요</a:t>
            </a:r>
            <a:endParaRPr lang="ko-KR" sz="3000" dirty="0"/>
          </a:p>
        </p:txBody>
      </p:sp>
      <p:sp>
        <p:nvSpPr>
          <p:cNvPr id="7" name="S14-stepno202"/>
          <p:cNvSpPr txBox="1"/>
          <p:nvPr/>
        </p:nvSpPr>
        <p:spPr>
          <a:xfrm>
            <a:off x="548640" y="168859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8" name="S14-text203"/>
          <p:cNvSpPr txBox="1"/>
          <p:nvPr/>
        </p:nvSpPr>
        <p:spPr>
          <a:xfrm>
            <a:off x="1325880" y="1688592"/>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조사할 장소 세 곳을 정해요.</a:t>
            </a:r>
            <a:endParaRPr lang="ko-KR" sz="3000" dirty="0"/>
          </a:p>
        </p:txBody>
      </p:sp>
      <p:sp>
        <p:nvSpPr>
          <p:cNvPr id="9" name="S14-stepno204"/>
          <p:cNvSpPr txBox="1"/>
          <p:nvPr/>
        </p:nvSpPr>
        <p:spPr>
          <a:xfrm>
            <a:off x="548640" y="240182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10" name="S14-text205"/>
          <p:cNvSpPr txBox="1"/>
          <p:nvPr/>
        </p:nvSpPr>
        <p:spPr>
          <a:xfrm>
            <a:off x="1325880" y="2401824"/>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장소마다 조사 방법을 골라요.</a:t>
            </a:r>
            <a:endParaRPr lang="ko-KR" sz="3000" dirty="0"/>
          </a:p>
        </p:txBody>
      </p:sp>
      <p:sp>
        <p:nvSpPr>
          <p:cNvPr id="11" name="S14-stepno206"/>
          <p:cNvSpPr txBox="1"/>
          <p:nvPr/>
        </p:nvSpPr>
        <p:spPr>
          <a:xfrm>
            <a:off x="548640" y="316077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12" name="S14-text207"/>
          <p:cNvSpPr txBox="1"/>
          <p:nvPr/>
        </p:nvSpPr>
        <p:spPr>
          <a:xfrm>
            <a:off x="1325880" y="3115056"/>
            <a:ext cx="5122012"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우리 집에서 가까울지 멀지 짐작해요.</a:t>
            </a:r>
            <a:endParaRPr lang="ko-KR" sz="3000" dirty="0"/>
          </a:p>
        </p:txBody>
      </p:sp>
      <p:sp>
        <p:nvSpPr>
          <p:cNvPr id="13" name="S14-stepno208"/>
          <p:cNvSpPr txBox="1"/>
          <p:nvPr/>
        </p:nvSpPr>
        <p:spPr>
          <a:xfrm>
            <a:off x="548640" y="420928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14" name="S14-text209"/>
          <p:cNvSpPr txBox="1"/>
          <p:nvPr/>
        </p:nvSpPr>
        <p:spPr>
          <a:xfrm>
            <a:off x="1325880" y="4209288"/>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조사한 날, 기록표에 적어요.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5-card210"/>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5-cardtext211"/>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위치를 말할 때는 기준 장소를 먼저 말하고</a:t>
            </a:r>
            <a:endParaRPr lang="ko-KR" sz="3000" dirty="0"/>
          </a:p>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앞·뒤·옆, 가까이·멀리를 써요.</a:t>
            </a:r>
            <a:endParaRPr lang="ko-KR" sz="3000" dirty="0"/>
          </a:p>
        </p:txBody>
      </p:sp>
      <p:sp>
        <p:nvSpPr>
          <p:cNvPr id="5" name="S15-chip212"/>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기준 장소 먼저 말하기</a:t>
            </a:r>
            <a:endParaRPr lang="ko-KR" sz="2400" dirty="0"/>
          </a:p>
        </p:txBody>
      </p:sp>
      <p:sp>
        <p:nvSpPr>
          <p:cNvPr id="6" name="S15-chip213"/>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“옆에 있어요.”만 말하기</a:t>
            </a:r>
            <a:endParaRPr lang="ko-KR" sz="2400" dirty="0"/>
          </a:p>
        </p:txBody>
      </p:sp>
      <p:sp>
        <p:nvSpPr>
          <p:cNvPr id="7" name="S15-text214"/>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5-text215"/>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아플 때 가는</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장소는?</a:t>
            </a:r>
            <a:endParaRPr lang="ko-KR" sz="2400" dirty="0"/>
          </a:p>
        </p:txBody>
      </p:sp>
      <p:sp>
        <p:nvSpPr>
          <p:cNvPr id="9" name="S15-text216"/>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건물의 앞은</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어느 쪽?</a:t>
            </a:r>
            <a:endParaRPr lang="ko-KR" sz="2400" dirty="0"/>
          </a:p>
        </p:txBody>
      </p:sp>
      <p:sp>
        <p:nvSpPr>
          <p:cNvPr id="10" name="S15-text217"/>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위치를 말할 때</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먼저 말할 것은?</a:t>
            </a:r>
            <a:endParaRPr lang="ko-KR" sz="2400" dirty="0"/>
          </a:p>
        </p:txBody>
      </p:sp>
      <p:sp>
        <p:nvSpPr>
          <p:cNvPr id="11" name="S15-text218"/>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그림과 기호로 나타내기</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내 몸으로 앞·뒤·옆</a:t>
            </a:r>
            <a:endParaRPr lang="ko-KR" sz="4000" dirty="0"/>
          </a:p>
        </p:txBody>
      </p:sp>
      <p:sp>
        <p:nvSpPr>
          <p:cNvPr id="3" name="S16-text219"/>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엄마(아빠)와 같은 쪽을 보고 서서 말해요.</a:t>
            </a:r>
            <a:endParaRPr lang="ko-KR" sz="3000" dirty="0"/>
          </a:p>
        </p:txBody>
      </p:sp>
      <p:sp>
        <p:nvSpPr>
          <p:cNvPr id="4" name="S16-card22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16-cardtext22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기준(나, 소파)을 먼저 정하고 말해요.</a:t>
            </a:r>
            <a:endParaRPr lang="ko-KR" sz="3000" dirty="0"/>
          </a:p>
        </p:txBody>
      </p:sp>
      <p:sp>
        <p:nvSpPr>
          <p:cNvPr id="6" name="S16-card222"/>
          <p:cNvSpPr/>
          <p:nvPr/>
        </p:nvSpPr>
        <p:spPr>
          <a:xfrm>
            <a:off x="548640" y="2034540"/>
            <a:ext cx="11091672" cy="868680"/>
          </a:xfrm>
          <a:prstGeom prst="roundRect">
            <a:avLst>
              <a:gd name="adj" fmla="val 12632"/>
            </a:avLst>
          </a:prstGeom>
          <a:solidFill>
            <a:srgbClr val="EAF3F1"/>
          </a:solidFill>
          <a:ln w="12700">
            <a:solidFill>
              <a:srgbClr val="EAF3F1"/>
            </a:solidFill>
            <a:prstDash val="solid"/>
          </a:ln>
        </p:spPr>
      </p:sp>
      <p:sp>
        <p:nvSpPr>
          <p:cNvPr id="7" name="S16-cardtext223"/>
          <p:cNvSpPr txBox="1"/>
          <p:nvPr/>
        </p:nvSpPr>
        <p:spPr>
          <a:xfrm>
            <a:off x="822960" y="21717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내 앞에 있는 물건은?</a:t>
            </a:r>
            <a:endParaRPr lang="ko-KR" sz="3000" dirty="0"/>
          </a:p>
        </p:txBody>
      </p:sp>
      <p:sp>
        <p:nvSpPr>
          <p:cNvPr id="8" name="S16-card224"/>
          <p:cNvSpPr/>
          <p:nvPr/>
        </p:nvSpPr>
        <p:spPr>
          <a:xfrm>
            <a:off x="548640" y="3131820"/>
            <a:ext cx="11091672" cy="868680"/>
          </a:xfrm>
          <a:prstGeom prst="roundRect">
            <a:avLst>
              <a:gd name="adj" fmla="val 12632"/>
            </a:avLst>
          </a:prstGeom>
          <a:solidFill>
            <a:srgbClr val="EAF3F1"/>
          </a:solidFill>
          <a:ln w="12700">
            <a:solidFill>
              <a:srgbClr val="EAF3F1"/>
            </a:solidFill>
            <a:prstDash val="solid"/>
          </a:ln>
        </p:spPr>
      </p:sp>
      <p:sp>
        <p:nvSpPr>
          <p:cNvPr id="9" name="S16-cardtext225"/>
          <p:cNvSpPr txBox="1"/>
          <p:nvPr/>
        </p:nvSpPr>
        <p:spPr>
          <a:xfrm>
            <a:off x="822960" y="326898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내 뒤에 있는 물건은?</a:t>
            </a:r>
            <a:endParaRPr lang="ko-KR" sz="3000" dirty="0"/>
          </a:p>
        </p:txBody>
      </p:sp>
      <p:sp>
        <p:nvSpPr>
          <p:cNvPr id="10" name="S16-card226"/>
          <p:cNvSpPr/>
          <p:nvPr/>
        </p:nvSpPr>
        <p:spPr>
          <a:xfrm>
            <a:off x="548640" y="4229100"/>
            <a:ext cx="11091672" cy="868680"/>
          </a:xfrm>
          <a:prstGeom prst="roundRect">
            <a:avLst>
              <a:gd name="adj" fmla="val 12632"/>
            </a:avLst>
          </a:prstGeom>
          <a:solidFill>
            <a:srgbClr val="EAF3F1"/>
          </a:solidFill>
          <a:ln w="12700">
            <a:solidFill>
              <a:srgbClr val="EAF3F1"/>
            </a:solidFill>
            <a:prstDash val="solid"/>
          </a:ln>
        </p:spPr>
      </p:sp>
      <p:sp>
        <p:nvSpPr>
          <p:cNvPr id="11" name="S16-cardtext227"/>
          <p:cNvSpPr txBox="1"/>
          <p:nvPr/>
        </p:nvSpPr>
        <p:spPr>
          <a:xfrm>
            <a:off x="822960" y="436626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소파(책상) 옆에 있는 것은?</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초3 사회·역사 우리 고장의 장소</dc:title>
  <dc:subject>KR22-G03-SOC-PLACES-L01</dc:subject>
  <dc:creator>education-ppt</dc:creator>
  <cp:lastModifiedBy>education-ppt</cp:lastModifiedBy>
  <cp:revision>1</cp:revision>
  <dcterms:created xsi:type="dcterms:W3CDTF">2026-10-26T13:19:03Z</dcterms:created>
  <dcterms:modified xsi:type="dcterms:W3CDTF">2026-10-26T13:19:03Z</dcterms:modified>
</cp:coreProperties>
</file>