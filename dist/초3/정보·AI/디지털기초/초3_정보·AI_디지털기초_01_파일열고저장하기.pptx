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4435594e-60e8-a734-23ab-8c421d206f84}">
          <p14:sldIdLst>
            <p14:sldId id="256"/>
            <p14:sldId id="257"/>
          </p14:sldIdLst>
        </p14:section>
        <p14:section name="개념" id="{d6a2efce-c395-4e6d-fc54-80fc57cfe61f}">
          <p14:sldIdLst>
            <p14:sldId id="258"/>
            <p14:sldId id="259"/>
            <p14:sldId id="261"/>
            <p14:sldId id="262"/>
          </p14:sldIdLst>
        </p14:section>
        <p14:section name="연습" id="{7a095501-d7e8-2c0c-e090-8bc564f84604}">
          <p14:sldIdLst>
            <p14:sldId id="260"/>
            <p14:sldId id="263"/>
            <p14:sldId id="264"/>
          </p14:sldIdLst>
        </p14:section>
        <p14:section name="개념" id="{608d7526-8547-e29c-59ce-c3e7021d897b}">
          <p14:sldIdLst/>
        </p14:section>
        <p14:section name="연습" id="{175e1700-60dc-c74d-cb47-7528b4bdaf14}">
          <p14:sldIdLst/>
        </p14:section>
        <p14:section name="확인" id="{bfd842f9-45de-3d89-b0b6-bf5610fcd6d9}">
          <p14:sldIdLst>
            <p14:sldId id="265"/>
            <p14:sldId id="266"/>
            <p14:sldId id="267"/>
          </p14:sldIdLst>
        </p14:section>
        <p14:section name="정리" id="{279bc51e-fb54-16b8-8b26-cfbc235ed16d}">
          <p14:sldIdLst>
            <p14:sldId id="268"/>
          </p14:sldIdLst>
        </p14:section>
        <p14:section name="보충" id="{f859d37b-9e4f-c8ad-70f9-32909edd986e}">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[S01 · 오늘의 질문과 목표]
목적: 컴퓨터나 태블릿에서 만든 것을 저장하고 다시 여는 방법, 이름을 지어 정리하는 방법을 배운다고 알립니다.
시간: 약 2분
이렇게 말해 보세요
- “컴퓨터나 태블릿으로 그림을 그렸는데, 끄고 나서 다음 날 다시 보고 싶으면 어떻게 해야 할까?”
- “오늘은 만든 것을 저장하고, 다시 열고, 찾기 쉽게 정리하는 방법을 배워 볼 거야. 마지막에는 엄마(아빠)랑 진짜 기기로 해 보자.”
예상 답
- “저장해요.” / “그냥 두면 있어요.” / “몰라요.”
주의
- 이 차시는 컴퓨터와 태블릿 어느 것으로도 할 수 있습니다. 화면에 그린 창은 여러 기기의 저장·열기 화면을 단순하게 나타낸 것이라 실제 모양과 자리는 다릅니다.
- 수업 전에 S09에서 쓸 기기와 앱에서 저장하기·열기를 한 번 해 보고, 아이 이름으로 된 폴더를 하나 만들어 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[S02 · 선수 확인(순서대로 말하기, 순서를 바꾼 결과)]
목적: 2학년 ‘순서를 바꾸면’에서 배운 차례대로 말하기와, 순서를 바꾸면 결과가 달라지는 것을 기억하는지 확인합니다. 오늘 저장·열기 순서의 바탕입니다.
시간: 약 3분
이렇게 말해 보세요
- “이를 닦을 때 무엇을 처음에, 그다음에, 마지막에 하지?”
- “신발을 먼저 신고 양말을 신으면 어떻게 될까?”
예상 답
- ① “치약 짜고, 닦고, 헹궈요.”
- ② “양말을 못 신어요!”
정답
- ① 처음에 치약을 짜요, 그다음에 이를 닦아요, 마지막에 입을 헹궈요.
- ② 양말을 신을 수 없어요. 순서를 바꾸면 결과가 달라져요.
막히면
- 차례 말(처음·그다음·마지막)을 쓰지 못하거나 순서가 뒤죽박죽이면 S14(보충)를 먼저 하고 S03으로 이어 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[S03 · 파일·폴더·저장의 뜻]
목적: 파일, 폴더, 저장의 뜻을 생활 속 물건에 빗대어 알려 줍니다(M1).
시간: 약 3분
이렇게 말해 보세요
- “컴퓨터나 태블릿에서 만든 그림이나 글 하나하나를 ‘파일’이라고 해. 공책 한 권이라고 생각하면 돼.”
- “‘폴더’는 파일을 모아 두는 곳이야. 책꽂이의 한 칸이나 서랍 같은 거지. 그림에서 숙제 폴더 안에는 파일이 두 개 있어.”
- “‘저장’은 만든 것을 기기 안에 넣어 두는 거야. 저장하지 않고 끄면 만든 게 사라질 수 있어.”
예상 답
- “폴더는 서랍 같아요.” / “저장 안 하면 없어져요?”
막히면
- 실제 서랍이나 책꽂이에 공책을 넣어 보이며 “공책이 파일이면 서랍은?” 하고 묻습니다.
주의
- 어떤 앱은 저절로 저장되기도 합니다. 그래도 어디에, 어떤 이름으로 저장되었는지 확인하는 습관이 중요하다고 알려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[S04 · 저장하는 순서]
목적: 저장하는 네 단계를 그린 저장하기 창과 함께 보여 줍니다(M3).
시간: 약 3분
이렇게 말해 보세요
- “저장할 때는 이 순서를 따라. 먼저 저장 버튼이나 메뉴에서 ‘저장’을 찾아 눌러.”
- “그러면 오른쪽 같은 창이 나와. 어느 폴더에 넣을지 고르고, 파일 이름을 쓰고, 마지막에 ‘저장’을 눌러.”
- “이름을 안 쓰고 ‘저장’부터 누르면 어떻게 될까? 순서를 바꾸면 결과가 달라진다고 배웠지?”
예상 답
- “이름이 이상하게 저장돼요.” / “어디 있는지 몰라요.”
막히면
- 손가락으로 그림 속 창을 단계마다 짚어 가며 함께 말합니다.
주의
- 기기와 앱에 따라 메뉴 이름과 자리가 다릅니다. 예를 들어 컴퓨터의 많은 프로그램은 위쪽 메뉴 안에 ‘저장’이 있고, 태블릿 앱은 공유·내보내기 메뉴 안에 있거나 저절로 저장되기도 합니다. 이름을 쓰지 않으면 기기가 정한 이름(예: ‘제목 없음’)으로 저장되는 경우가 많습니다.
- 실제로 쓸 기기에서 저장하는 곳을 미리 찾아 두었다가 S09에서 보여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[S05 · 그린 화면에서 저장 창의 각 부분 짚기(도움 받아)]
목적: 그려 놓은 저장하기 창에서 단계마다 쓰거나 누를 곳을 짚어 봅니다.
시간: 약 3분
이렇게 말해 보세요
- “①은 파일 이름을 쓰는 곳이야. 가, 나, 다, 라 가운데 어디일까? 손가락으로 짚어 볼래?”
- “②, ③도 짚어 보자. 그럼 라는 무엇을 하는 곳일까?”
정답
- ① 나(파일 이름 칸) ② 가(그림·숙제·사진 폴더) ③ 다(‘저장’ 단추)
- 라(‘취소’)는 저장하지 않고 창을 닫는 단추입니다.
막히면
- S04 그림과 나란히 놓고 같은 자리를 찾게 합니다.
주의
- ‘취소’를 누르면 저장되지 않는다는 것을 꼭 짚어 줍니다. 실제 기기에서 아이가 ‘취소’를 눌러 저장이 안 되는 일이 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[S06 · 파일을 여는 순서]
목적: 저장한 파일을 다시 여는 네 단계를 그린 열기 창과 함께 보여 줍니다.
시간: 약 3분
이렇게 말해 보세요
- “저장한 파일을 다시 보려면 이렇게 해. 먼저 열기 메뉴나 파일을 모아 보여 주는 앱을 열어.”
- “그다음 저장한 폴더를 찾아 열고, 이름을 보고 파일을 골라. 마지막에 ‘열기’를 눌러.”
- “그림에서 ‘개미 관찰 기록’을 찾으려면 어느 폴더를 열어야 할까?”
예상 답
- “숙제 폴더요.”
막히면
- “서랍에서 공책을 꺼낼 때를 생각해 봐. 서랍을 먼저 열지? 그다음에 공책을 고르지?” 하고 빗대어 말합니다.
주의
- 많은 기기에서는 파일을 두 번 누르거나(컴퓨터), 한 번 톡 눌러(태블릿) 바로 열 수도 있습니다. 쓰는 기기에 맞게 덧붙여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[S07 · 찾기 쉬운 파일 이름]
목적: 이름만 보고 내용을 알 수 있는 이름과 알 수 없는 이름을 견주어, 찾기 쉬운 이름 짓기의 기준을 알려 줍니다(M2).
시간: 약 3분
이렇게 말해 보세요
- “할머니 생신 카드를 다시 열고 싶어. 가에서 찾으면 어때? 나에서 찾으면?”
- “좋은 이름에는 무엇이 들어 있을까?”
- “같은 것을 여러 번 만들면 날짜를 붙이면 좋아. ‘개미 관찰 기록 10월 26일’처럼.”
예상 답
- “가는 하나씩 다 열어 봐야 해요.” / “나는 바로 알아요.”
- “무엇인지 쓰면 돼요.”
막히면
- 가의 이름을 하나 골라 “이 파일 안에 뭐가 있을까?” 하고 물어 알 수 없다는 것을 느끼게 합니다.
주의
- 파일 이름에는 / \ : * ? 같은 기호를 쓰면 저장되지 않는 기기가 있습니다. 글자, 숫자, 빈칸, 밑줄(_) 정도만 쓰도록 알려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[S08 · 파일 이름 짓고 폴더 고르기(도움 받아)]
목적: 처음 보는 파일에 내용을 알 수 있는 이름을 짓고, 알맞은 폴더를 고르는 연습을 합니다(M2).
시간: 약 3분
이렇게 말해 보세요
- “①은 11월 3일에 그린 고양이 그림이야. 어떤 이름을 붙일까?”
- “②는 과학 시간에 쓴 강낭콩 관찰 기록이야.”
- “③ 두 파일을 그림 폴더와 숙제 폴더 가운데 어디에 넣을까? 왜?”
예상 답
- ① “고양이 그림이요.”
- ③ “고양이는 그림 폴더요. 그림이니까요.”
정답
- ① 예: ‘고양이 그림’, ‘고양이 그림 11월 3일’, ‘고양이 그림_1103’
- ② 예: ‘강낭콩 관찰 기록’
- ③ ①은 그림 폴더, ②는 숙제 폴더. 비슷한 것끼리 모아야 찾기 쉬워서입니다.
- 이름만 보고 무엇인지 알 수 있으면 맞습니다. 글자가 조금 달라도 괜찮습니다.
막히면
- “이 파일을 한 달 뒤에 찾는다면 어떤 이름이면 바로 알까?” 하고 묻습니다.
주의
- 여기서 나눠도 됩니다. S09는 기기를 준비해 두고 다음 날 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[S09 · 실제 기기에서 저장하고 다시 열기]
목적: 실제 기기에서 저장하고, 앱을 닫았다가 다시 열어 찾아보며 저장·열기 순서와 이름 짓기를 해 봅니다.
시간: 약 7분
이렇게 말해 보세요
- “그림 앱(또는 메모 앱)에서 좋아하는 것을 하나 짧게 그려(써) 볼까?”
- “이제 저장해 보자. 첫 번째는 뭐였지? 저장 버튼이나 메뉴를 찾아볼래?”
- “폴더는 네 이름 폴더로 고르고, 이름은 무엇인지 알 수 있게 지어 봐.”
- “앱을 닫았다가 다시 열어서, 네 파일을 찾아볼까?”
예상 답
- “메뉴에 ‘저장’이 있어요!” / “이름은 ‘우리 집 강아지 그림’으로 할래요.”
정답
- 관찰 기준 세 가지를 지키면 됩니다. 저장한 기기, 폴더 이름, 파일 이름은 활동지 5에 적습니다.
막히면
- 저장 메뉴를 찾지 못하면 부모가 자리를 짚어 주고, 누르기는 아이가 합니다.
- 이름 칸에 글자를 치기 어려우면 부모가 불러 주는 대로 천천히 치게 하거나, 짧은 이름(예: ‘강아지 그림’)으로 합니다.
주의
- 앱에 따라 저장 대신 ‘완료’, ‘내보내기’를 쓰거나 저절로 저장되기도 합니다. 그럴 때는 저장된 곳과 이름을 함께 확인하는 것으로 대신합니다.
- 기기의 다른 파일, 설정, 비밀번호 화면은 건드리지 않게 하고, 부모가 옆에서 지켜봅니다. 관찰한 것을 기록표(S09 줄)에 바로 표시해 둡니다.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 · 혼자 해 보기(여는 순서, 이름 짓기, 폴더 고르기)]
목적: 도움 없이 여는 순서를 말하는지(A), 내용을 알 수 있는 이름을 짓고 알맞은 폴더를 고르는지(B) 확인합니다.
시간: 약 4분
이렇게 말해 보세요
- “이번에는 엄마(아빠)가 도와주지 않을게. 그림 화면을 보며 하나씩 말해 줄래?”
- “②의 ‘제목 없음’ 파일은 사실 할머니 생신 카드야. 어떤 이름으로 바꾸면 좋을까?”
예상 답
- ① “숙제 폴더를 열고, 개미 관찰 기록을 골라서, 열기를 눌러요.”
- ② “할머니 생신 카드.” / “할머니 생신 카드 5월 8일.”
- ③ “그림 폴더요. 카드는 그림이니까요.”
정답
- ① 폴더(숙제) 찾기 → 파일 고르기 → ‘열기’ 순서로 말하면 목표 A 확인 완료.
- ② 이름만 보고 무엇인지 알 수 있으면 맞음. ③ 그림 폴더(또는 ‘가족’처럼 새 폴더를 만들자는 말도 까닭이 있으면 맞음). ②③을 까닭과 함께 말하면 목표 B 확인 완료.
막히면
- ①에서 순서가 섞이면 S06을 다시 보여 주지 않고 “서랍을 먼저 열까, 공책을 먼저 고를까?”만 묻습니다. 그래도 어려우면 기록표에 ‘도움’으로 표시합니다.
주의
- 관찰한 것을 기록표(S10 줄)에 바로 표시해 둡니다.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[S11 · 잘한 답과 다시 생각해 볼 답]
목적: S10에서 아이가 한 답을 잘한 답, 다시 생각해 볼 답과 견주며 돌아봅니다.
시간: 약 2분
이렇게 말해 보세요
- “네가 말한 여는 순서와 왼쪽을 견주어 볼까?”
- “‘카드1’이라는 이름은 한 달 뒤에도 무엇인지 알 수 있을까?”
예상 답
- “순서가 같아요.” / “카드1은 무슨 카드인지 몰라요.”
주의
- 이 장은 학생용 파일에서 빠집니다. 잘한 점을 먼저 말하고, 빠진 것은 하나만 알려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[S12 · 마무리 확인(저장 순서 고르기)]
목적: 처음 보는 보기에서 저장 순서가 맞는 것을 고르고, 순서가 틀리면 어떻게 되는지 말하는지 확인합니다(M3).
시간: 약 2분
이렇게 말해 보세요
- “가, 나, 다 가운데 순서가 맞는 것은? 가와 다처럼 하면 어떻게 될까?”
정답
- 나. 저장 메뉴 → 폴더 고르기 → 이름 쓰기 → 저장 단추.
- 가는 저장 창을 열기 전에 이름을 쓸 곳이 없고, 순서가 거꾸로입니다. 다는 저장 단추를 누르지 않아 그림이 저장되지 않을 수 있습니다. 나를 고르고 가나 다 가운데 하나의 문제를 말하면 확인 완료입니다.
막히면
- S04의 네 단계를 손가락으로 세며 다시 말해 보게 한 뒤 고르게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 · 정리와 다음 학습]
목적: 저장·열기·이름 짓기를 한 문장으로 정리하고, 다음 수업 첫 5분에 할 복습을 알려 줍니다.
시간: 약 2분
이렇게 말해 보세요
- “오늘 만든 파일은 어느 폴더에, 어떤 이름으로 저장했지?”
- “다음에 그 파일을 열려면 어떻게 하면 될까?”
예상 답
- “제 이름 폴더에 ‘강아지 그림’으로 저장했어요. 폴더를 열고 파일을 골라 열기를 눌러요.”
정답
- ① 저장 버튼이나 메뉴 → 폴더 고르기 → 이름 쓰기 → ‘저장’ ② 예: 개미 관찰 기록, 고양이 그림 11월 3일 ③ 폴더 찾기 → 파일 고르기 → ‘열기’
주의
- 다음 수업을 시작할 때 오늘 저장한 파일을 아이가 직접 찾아 열어 보게 하면 좋은 복습이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[S14 · 보충(처음·그다음·마지막으로 말하기)]
목적: S02에서 차례 말을 쓰지 못하거나 순서를 바꾼 결과를 말하지 못하면, 종이 그림을 정리하는 일로 차례대로 말하기를 다시 해 봅니다. 저장하기와 같은 순서입니다.
시간: 약 5분
이렇게 말해 보세요
- “종이에 그림을 그리고, 이름을 쓰고, 서랍에 넣어 볼까? 하면서 ‘처음, 그다음, 마지막’으로 말해 줘.”
- “이름을 안 쓰고 서랍에 넣으면 나중에 찾을 때 어떨까?”
정답
- 처음·그다음·마지막을 넣어 세 단계를 차례대로 말하고, 순서를 바꾸거나 빠뜨리면 찾기 어렵다는 것을 말하면 맞습니다.
막히면
- 쪽지 세 장에 ‘처음, 그다음, 마지막’을 써서 바닥에 놓고, 아이가 그 위를 차례로 밟으며 말하게 합니다.
- 이 차시의 선수 차시는 2학년 ‘순서를 바꾸면’입니다. 보충으로도 어렵다면 그 차시를 먼저 합니다.
주의
- 보충이 오래 걸리면 오늘은 여기까지 하고, 다음 날 S02부터 다시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46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6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30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30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초3 정보·AI · 디지털기초 · 1차시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초3 정보·AI · 파일 열고 저장하기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초3 정보·AI · 파일 열고 저장하기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초3 정보·AI · 파일 열고 저장하기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600" b="1" dirty="0">
                <a:solidFill>
                  <a:srgbClr val="FFFFFF"/>
                </a:solidFill>
                <a:latin typeface="맑은 고딕" pitchFamily="34" charset="0"/>
                <a:ea typeface="맑은 고딕" pitchFamily="34" charset="-122"/>
                <a:cs typeface="맑은 고딕" pitchFamily="34" charset="-120"/>
              </a:rPr>
              <a:t>파일 열고 저장하기</a:t>
            </a:r>
            <a:endParaRPr lang="ko-KR" sz="46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내가 만든 그림을</a:t>
            </a:r>
            <a:endParaRPr lang="ko-KR" sz="3000" dirty="0"/>
          </a:p>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다음에 다시 보려면?</a:t>
            </a:r>
            <a:endParaRPr lang="ko-KR" sz="3000" dirty="0"/>
          </a:p>
        </p:txBody>
      </p:sp>
      <p:sp>
        <p:nvSpPr>
          <p:cNvPr id="4" name="S01-card1"/>
          <p:cNvSpPr/>
          <p:nvPr/>
        </p:nvSpPr>
        <p:spPr>
          <a:xfrm>
            <a:off x="731520" y="4436364"/>
            <a:ext cx="10725912" cy="1690116"/>
          </a:xfrm>
          <a:prstGeom prst="roundRect">
            <a:avLst>
              <a:gd name="adj" fmla="val 6492"/>
            </a:avLst>
          </a:prstGeom>
          <a:solidFill>
            <a:srgbClr val="32606F"/>
          </a:solidFill>
          <a:ln w="12700">
            <a:solidFill>
              <a:srgbClr val="32606F"/>
            </a:solidFill>
            <a:prstDash val="solid"/>
          </a:ln>
        </p:spPr>
      </p:sp>
      <p:sp>
        <p:nvSpPr>
          <p:cNvPr id="5" name="S01-cardtext2"/>
          <p:cNvSpPr txBox="1"/>
          <p:nvPr/>
        </p:nvSpPr>
        <p:spPr>
          <a:xfrm>
            <a:off x="1005840" y="4573524"/>
            <a:ext cx="10177272" cy="1415796"/>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FFFFFF"/>
                </a:solidFill>
                <a:latin typeface="맑은 고딕" pitchFamily="34" charset="0"/>
                <a:ea typeface="맑은 고딕" pitchFamily="34" charset="-122"/>
                <a:cs typeface="맑은 고딕" pitchFamily="34" charset="-120"/>
              </a:rPr>
              <a:t>오늘 할 수 있게 될 것</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① 파일을 저장하고 다시 열어요.</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② 알맞은 이름을 지어 폴더에 정리해요.</a:t>
            </a:r>
            <a:endParaRPr lang="ko-KR"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순서, 기억나요?</a:t>
            </a:r>
            <a:endParaRPr lang="ko-KR" sz="4000" dirty="0"/>
          </a:p>
        </p:txBody>
      </p:sp>
      <p:sp>
        <p:nvSpPr>
          <p:cNvPr id="3" name="S02-text3"/>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2학년 때 배운 것을 떠올려요.</a:t>
            </a:r>
            <a:endParaRPr lang="ko-KR" sz="3000" dirty="0"/>
          </a:p>
        </p:txBody>
      </p:sp>
      <p:sp>
        <p:nvSpPr>
          <p:cNvPr id="4" name="S02-chip4"/>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5" name="S02-text5"/>
          <p:cNvSpPr txBox="1"/>
          <p:nvPr/>
        </p:nvSpPr>
        <p:spPr>
          <a:xfrm>
            <a:off x="1344168" y="2011680"/>
            <a:ext cx="10296144"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이 닦기를 ‘처음·그다음·마지막’으로 말해요.</a:t>
            </a:r>
            <a:endParaRPr lang="ko-KR" sz="3000" dirty="0"/>
          </a:p>
        </p:txBody>
      </p:sp>
      <p:sp>
        <p:nvSpPr>
          <p:cNvPr id="6" name="S02-chip6"/>
          <p:cNvSpPr txBox="1"/>
          <p:nvPr/>
        </p:nvSpPr>
        <p:spPr>
          <a:xfrm>
            <a:off x="548640" y="4654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7" name="S02-text7"/>
          <p:cNvSpPr txBox="1"/>
          <p:nvPr/>
        </p:nvSpPr>
        <p:spPr>
          <a:xfrm>
            <a:off x="1344168" y="4206240"/>
            <a:ext cx="10296144"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양말과 신발의 순서를 바꾸면 어떻게 될까요?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파일과 폴더</a:t>
            </a:r>
            <a:endParaRPr lang="ko-KR" sz="4000" dirty="0"/>
          </a:p>
        </p:txBody>
      </p:sp>
      <p:sp>
        <p:nvSpPr>
          <p:cNvPr id="3" name="S03-card8"/>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3-cardtext9"/>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저장해야 다음에 다시 열 수 있어요.</a:t>
            </a:r>
            <a:endParaRPr lang="ko-KR" sz="3000" dirty="0"/>
          </a:p>
        </p:txBody>
      </p:sp>
      <p:sp>
        <p:nvSpPr>
          <p:cNvPr id="5" name="S03-card10"/>
          <p:cNvSpPr/>
          <p:nvPr/>
        </p:nvSpPr>
        <p:spPr>
          <a:xfrm>
            <a:off x="548640" y="3506724"/>
            <a:ext cx="3544824" cy="1613916"/>
          </a:xfrm>
          <a:prstGeom prst="roundRect">
            <a:avLst>
              <a:gd name="adj" fmla="val 6799"/>
            </a:avLst>
          </a:prstGeom>
          <a:solidFill>
            <a:srgbClr val="EAF3F1"/>
          </a:solidFill>
          <a:ln w="12700">
            <a:solidFill>
              <a:srgbClr val="EAF3F1"/>
            </a:solidFill>
            <a:prstDash val="solid"/>
          </a:ln>
        </p:spPr>
      </p:sp>
      <p:sp>
        <p:nvSpPr>
          <p:cNvPr id="6" name="S03-cardtext11"/>
          <p:cNvSpPr txBox="1"/>
          <p:nvPr/>
        </p:nvSpPr>
        <p:spPr>
          <a:xfrm>
            <a:off x="822960" y="3643884"/>
            <a:ext cx="2996184" cy="1339596"/>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파일</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글이나 그림 하나를 담은 것</a:t>
            </a:r>
            <a:endParaRPr lang="ko-KR" sz="3000" dirty="0"/>
          </a:p>
        </p:txBody>
      </p:sp>
      <p:sp>
        <p:nvSpPr>
          <p:cNvPr id="7" name="S03-card12"/>
          <p:cNvSpPr/>
          <p:nvPr/>
        </p:nvSpPr>
        <p:spPr>
          <a:xfrm>
            <a:off x="4322064" y="3506724"/>
            <a:ext cx="3544824" cy="1613916"/>
          </a:xfrm>
          <a:prstGeom prst="roundRect">
            <a:avLst>
              <a:gd name="adj" fmla="val 6799"/>
            </a:avLst>
          </a:prstGeom>
          <a:solidFill>
            <a:srgbClr val="EAF3F1"/>
          </a:solidFill>
          <a:ln w="12700">
            <a:solidFill>
              <a:srgbClr val="EAF3F1"/>
            </a:solidFill>
            <a:prstDash val="solid"/>
          </a:ln>
        </p:spPr>
      </p:sp>
      <p:sp>
        <p:nvSpPr>
          <p:cNvPr id="8" name="S03-cardtext13"/>
          <p:cNvSpPr txBox="1"/>
          <p:nvPr/>
        </p:nvSpPr>
        <p:spPr>
          <a:xfrm>
            <a:off x="4596384" y="3643884"/>
            <a:ext cx="2996184" cy="1339596"/>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폴더</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파일을 모아 두는 곳</a:t>
            </a:r>
            <a:endParaRPr lang="ko-KR" sz="3000" dirty="0"/>
          </a:p>
        </p:txBody>
      </p:sp>
      <p:sp>
        <p:nvSpPr>
          <p:cNvPr id="9" name="S03-card14"/>
          <p:cNvSpPr/>
          <p:nvPr/>
        </p:nvSpPr>
        <p:spPr>
          <a:xfrm>
            <a:off x="8095488" y="3506724"/>
            <a:ext cx="3544824" cy="1613916"/>
          </a:xfrm>
          <a:prstGeom prst="roundRect">
            <a:avLst>
              <a:gd name="adj" fmla="val 6799"/>
            </a:avLst>
          </a:prstGeom>
          <a:solidFill>
            <a:srgbClr val="EAF3F1"/>
          </a:solidFill>
          <a:ln w="12700">
            <a:solidFill>
              <a:srgbClr val="EAF3F1"/>
            </a:solidFill>
            <a:prstDash val="solid"/>
          </a:ln>
        </p:spPr>
      </p:sp>
      <p:sp>
        <p:nvSpPr>
          <p:cNvPr id="10" name="S03-cardtext15"/>
          <p:cNvSpPr txBox="1"/>
          <p:nvPr/>
        </p:nvSpPr>
        <p:spPr>
          <a:xfrm>
            <a:off x="8369808" y="3643884"/>
            <a:ext cx="2996184" cy="1339596"/>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저장</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기기 안에 넣어 두기</a:t>
            </a:r>
            <a:endParaRPr lang="ko-KR" sz="3000" dirty="0"/>
          </a:p>
        </p:txBody>
      </p:sp>
      <p:sp>
        <p:nvSpPr>
          <p:cNvPr id="11" name="S03-figure16" descr="‘숙제’라고 쓴 노란 폴더에서 화살표가 나와, 그 폴더 안에 든 파일 두 개(받아쓰기 연습, 개미 관찰 기록)를 보여 준다."/>
          <p:cNvSpPr/>
          <p:nvPr/>
        </p:nvSpPr>
        <p:spPr>
          <a:xfrm>
            <a:off x="3167380" y="1534404"/>
            <a:ext cx="1747520" cy="1237244"/>
          </a:xfrm>
          <a:custGeom>
            <a:avLst/>
            <a:gdLst/>
            <a:ahLst/>
            <a:cxnLst/>
            <a:rect l="l" t="t" r="r" b="b"/>
            <a:pathLst>
              <a:path w="1747520" h="1237244">
                <a:moveTo>
                  <a:pt x="0" y="1237244"/>
                </a:moveTo>
                <a:lnTo>
                  <a:pt x="1747520" y="1237244"/>
                </a:lnTo>
                <a:lnTo>
                  <a:pt x="1747520" y="188732"/>
                </a:lnTo>
                <a:lnTo>
                  <a:pt x="786384" y="188732"/>
                </a:lnTo>
                <a:lnTo>
                  <a:pt x="611632" y="0"/>
                </a:lnTo>
                <a:lnTo>
                  <a:pt x="0" y="0"/>
                </a:lnTo>
                <a:close/>
              </a:path>
            </a:pathLst>
          </a:custGeom>
          <a:solidFill>
            <a:srgbClr val="F7D774"/>
          </a:solidFill>
          <a:ln w="28575">
            <a:solidFill>
              <a:srgbClr val="B8962E"/>
            </a:solidFill>
            <a:prstDash val="solid"/>
          </a:ln>
        </p:spPr>
      </p:sp>
      <p:sp>
        <p:nvSpPr>
          <p:cNvPr id="12" name="S03-mark17"/>
          <p:cNvSpPr/>
          <p:nvPr/>
        </p:nvSpPr>
        <p:spPr>
          <a:xfrm>
            <a:off x="5788660" y="1417320"/>
            <a:ext cx="3232912" cy="1485392"/>
          </a:xfrm>
          <a:custGeom>
            <a:avLst/>
            <a:gdLst/>
            <a:ahLst/>
            <a:cxnLst/>
            <a:rect l="l" t="t" r="r" b="b"/>
            <a:pathLst>
              <a:path w="3232912" h="1485392">
                <a:moveTo>
                  <a:pt x="0" y="1485392"/>
                </a:moveTo>
                <a:lnTo>
                  <a:pt x="3232912" y="1485392"/>
                </a:lnTo>
                <a:lnTo>
                  <a:pt x="3232912" y="0"/>
                </a:lnTo>
                <a:lnTo>
                  <a:pt x="0" y="0"/>
                </a:lnTo>
                <a:close/>
              </a:path>
            </a:pathLst>
          </a:custGeom>
          <a:solidFill>
            <a:srgbClr val="FFFFFF"/>
          </a:solidFill>
          <a:ln w="28575">
            <a:solidFill>
              <a:srgbClr val="94A3B8"/>
            </a:solidFill>
            <a:prstDash val="solid"/>
          </a:ln>
        </p:spPr>
      </p:sp>
      <p:sp>
        <p:nvSpPr>
          <p:cNvPr id="13" name="S03-mark18"/>
          <p:cNvSpPr/>
          <p:nvPr/>
        </p:nvSpPr>
        <p:spPr>
          <a:xfrm>
            <a:off x="5963412" y="1613916"/>
            <a:ext cx="349504" cy="480568"/>
          </a:xfrm>
          <a:custGeom>
            <a:avLst/>
            <a:gdLst/>
            <a:ahLst/>
            <a:cxnLst/>
            <a:rect l="l" t="t" r="r" b="b"/>
            <a:pathLst>
              <a:path w="349504" h="480568">
                <a:moveTo>
                  <a:pt x="0" y="480568"/>
                </a:moveTo>
                <a:lnTo>
                  <a:pt x="349504" y="480568"/>
                </a:lnTo>
                <a:lnTo>
                  <a:pt x="349504" y="122326"/>
                </a:lnTo>
                <a:lnTo>
                  <a:pt x="227178" y="0"/>
                </a:lnTo>
                <a:lnTo>
                  <a:pt x="0" y="0"/>
                </a:lnTo>
                <a:close/>
              </a:path>
            </a:pathLst>
          </a:custGeom>
          <a:solidFill>
            <a:srgbClr val="FFFFFF"/>
          </a:solidFill>
          <a:ln w="28575">
            <a:solidFill>
              <a:srgbClr val="3D5A80"/>
            </a:solidFill>
            <a:prstDash val="solid"/>
          </a:ln>
        </p:spPr>
      </p:sp>
      <p:sp>
        <p:nvSpPr>
          <p:cNvPr id="14" name="S03-mark19"/>
          <p:cNvSpPr/>
          <p:nvPr/>
        </p:nvSpPr>
        <p:spPr>
          <a:xfrm>
            <a:off x="5963412" y="2269236"/>
            <a:ext cx="349504" cy="480568"/>
          </a:xfrm>
          <a:custGeom>
            <a:avLst/>
            <a:gdLst/>
            <a:ahLst/>
            <a:cxnLst/>
            <a:rect l="l" t="t" r="r" b="b"/>
            <a:pathLst>
              <a:path w="349504" h="480568">
                <a:moveTo>
                  <a:pt x="0" y="480568"/>
                </a:moveTo>
                <a:lnTo>
                  <a:pt x="349504" y="480568"/>
                </a:lnTo>
                <a:lnTo>
                  <a:pt x="349504" y="122326"/>
                </a:lnTo>
                <a:lnTo>
                  <a:pt x="227178" y="0"/>
                </a:lnTo>
                <a:lnTo>
                  <a:pt x="0" y="0"/>
                </a:lnTo>
                <a:close/>
              </a:path>
            </a:pathLst>
          </a:custGeom>
          <a:solidFill>
            <a:srgbClr val="FFFFFF"/>
          </a:solidFill>
          <a:ln w="28575">
            <a:solidFill>
              <a:srgbClr val="3D5A80"/>
            </a:solidFill>
            <a:prstDash val="solid"/>
          </a:ln>
        </p:spPr>
      </p:sp>
      <p:sp>
        <p:nvSpPr>
          <p:cNvPr id="15" name="S03-mark20"/>
          <p:cNvSpPr/>
          <p:nvPr/>
        </p:nvSpPr>
        <p:spPr>
          <a:xfrm>
            <a:off x="5089652" y="2160016"/>
            <a:ext cx="524256" cy="0"/>
          </a:xfrm>
          <a:prstGeom prst="line">
            <a:avLst/>
          </a:prstGeom>
          <a:noFill/>
          <a:ln w="31750">
            <a:solidFill>
              <a:srgbClr val="1F2937"/>
            </a:solidFill>
            <a:prstDash val="solid"/>
            <a:tailEnd type="triangle"/>
          </a:ln>
        </p:spPr>
      </p:sp>
      <p:sp>
        <p:nvSpPr>
          <p:cNvPr id="16" name="S03-label22"/>
          <p:cNvSpPr txBox="1"/>
          <p:nvPr/>
        </p:nvSpPr>
        <p:spPr>
          <a:xfrm>
            <a:off x="3687572" y="2056892"/>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숙제</a:t>
            </a:r>
            <a:endParaRPr lang="ko-KR" sz="2400" dirty="0"/>
          </a:p>
        </p:txBody>
      </p:sp>
      <p:sp>
        <p:nvSpPr>
          <p:cNvPr id="17" name="S03-label24"/>
          <p:cNvSpPr txBox="1"/>
          <p:nvPr/>
        </p:nvSpPr>
        <p:spPr>
          <a:xfrm>
            <a:off x="6443980" y="1663700"/>
            <a:ext cx="1993392" cy="381000"/>
          </a:xfrm>
          <a:prstGeom prst="rect">
            <a:avLst/>
          </a:prstGeom>
          <a:noFill/>
          <a:ln/>
        </p:spPr>
        <p:txBody>
          <a:bodyPr wrap="square" lIns="0" tIns="0" rIns="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받아쓰기 연습</a:t>
            </a:r>
            <a:endParaRPr lang="ko-KR" sz="2400" dirty="0"/>
          </a:p>
        </p:txBody>
      </p:sp>
      <p:sp>
        <p:nvSpPr>
          <p:cNvPr id="18" name="S03-label26"/>
          <p:cNvSpPr txBox="1"/>
          <p:nvPr/>
        </p:nvSpPr>
        <p:spPr>
          <a:xfrm>
            <a:off x="6443980" y="2319020"/>
            <a:ext cx="2084832" cy="381000"/>
          </a:xfrm>
          <a:prstGeom prst="rect">
            <a:avLst/>
          </a:prstGeom>
          <a:noFill/>
          <a:ln/>
        </p:spPr>
        <p:txBody>
          <a:bodyPr wrap="square" lIns="0" tIns="0" rIns="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개미 관찰 기록</a:t>
            </a:r>
            <a:endParaRPr lang="ko-KR" sz="2400" dirty="0"/>
          </a:p>
        </p:txBody>
      </p:sp>
      <p:sp>
        <p:nvSpPr>
          <p:cNvPr id="19" name="S03-label28"/>
          <p:cNvSpPr txBox="1"/>
          <p:nvPr/>
        </p:nvSpPr>
        <p:spPr>
          <a:xfrm>
            <a:off x="3749802" y="3035871"/>
            <a:ext cx="582676" cy="301625"/>
          </a:xfrm>
          <a:prstGeom prst="rect">
            <a:avLst/>
          </a:prstGeom>
          <a:noFill/>
          <a:ln/>
        </p:spPr>
        <p:txBody>
          <a:bodyPr wrap="square" lIns="0" tIns="0" rIns="0" bIns="0" rtlCol="0" anchor="ctr"/>
          <a:lstStyle/>
          <a:p>
            <a:pPr eaLnBrk="0" algn="ctr" indent="0" marL="0">
              <a:buNone/>
            </a:pPr>
            <a:r>
              <a:rPr lang="ko-KR" altLang="en-US" sz="1900" b="1" dirty="0">
                <a:solidFill>
                  <a:srgbClr val="3D5A80"/>
                </a:solidFill>
                <a:latin typeface="맑은 고딕" pitchFamily="34" charset="0"/>
                <a:ea typeface="맑은 고딕" pitchFamily="34" charset="-122"/>
                <a:cs typeface="맑은 고딕" pitchFamily="34" charset="-120"/>
              </a:rPr>
              <a:t>폴더</a:t>
            </a:r>
            <a:endParaRPr lang="ko-KR" sz="1900" dirty="0"/>
          </a:p>
        </p:txBody>
      </p:sp>
      <p:sp>
        <p:nvSpPr>
          <p:cNvPr id="20" name="S03-label30"/>
          <p:cNvSpPr txBox="1"/>
          <p:nvPr/>
        </p:nvSpPr>
        <p:spPr>
          <a:xfrm>
            <a:off x="6568440" y="3035871"/>
            <a:ext cx="1673352" cy="301625"/>
          </a:xfrm>
          <a:prstGeom prst="rect">
            <a:avLst/>
          </a:prstGeom>
          <a:noFill/>
          <a:ln/>
        </p:spPr>
        <p:txBody>
          <a:bodyPr wrap="square" lIns="0" tIns="0" rIns="0" bIns="0" rtlCol="0" anchor="ctr"/>
          <a:lstStyle/>
          <a:p>
            <a:pPr eaLnBrk="0" algn="ctr" indent="0" marL="0">
              <a:buNone/>
            </a:pPr>
            <a:r>
              <a:rPr lang="ko-KR" altLang="en-US" sz="1900" b="1" dirty="0">
                <a:solidFill>
                  <a:srgbClr val="3D5A80"/>
                </a:solidFill>
                <a:latin typeface="맑은 고딕" pitchFamily="34" charset="0"/>
                <a:ea typeface="맑은 고딕" pitchFamily="34" charset="-122"/>
                <a:cs typeface="맑은 고딕" pitchFamily="34" charset="-120"/>
              </a:rPr>
              <a:t>폴더 안의 파일</a:t>
            </a:r>
            <a:endParaRPr lang="ko-KR" sz="19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저장하는 순서</a:t>
            </a:r>
            <a:endParaRPr lang="ko-KR" sz="4000" dirty="0"/>
          </a:p>
        </p:txBody>
      </p:sp>
      <p:sp>
        <p:nvSpPr>
          <p:cNvPr id="3" name="S04-card31"/>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4-cardtext32"/>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기기마다 버튼 모양과 자리는 달라요.</a:t>
            </a:r>
            <a:endParaRPr lang="ko-KR" sz="3000" dirty="0"/>
          </a:p>
        </p:txBody>
      </p:sp>
      <p:sp>
        <p:nvSpPr>
          <p:cNvPr id="5" name="S04-figure33" descr="그려 놓은 저장하기 창. 저장할 곳으로 ‘숙제’ 폴더가 골라져 있고, 파일 이름 칸에 ‘개미 관찰 기록’이 쓰여 있으며, 아래에 ‘저장’과 ‘취소’ 단추가 있다."/>
          <p:cNvSpPr/>
          <p:nvPr/>
        </p:nvSpPr>
        <p:spPr>
          <a:xfrm>
            <a:off x="7012351" y="1816938"/>
            <a:ext cx="4536521" cy="2812643"/>
          </a:xfrm>
          <a:custGeom>
            <a:avLst/>
            <a:gdLst/>
            <a:ahLst/>
            <a:cxnLst/>
            <a:rect l="l" t="t" r="r" b="b"/>
            <a:pathLst>
              <a:path w="4536521" h="2812643">
                <a:moveTo>
                  <a:pt x="0" y="2812643"/>
                </a:moveTo>
                <a:lnTo>
                  <a:pt x="4536521" y="2812643"/>
                </a:lnTo>
                <a:lnTo>
                  <a:pt x="4536521" y="0"/>
                </a:lnTo>
                <a:lnTo>
                  <a:pt x="0" y="0"/>
                </a:lnTo>
                <a:close/>
              </a:path>
            </a:pathLst>
          </a:custGeom>
          <a:solidFill>
            <a:srgbClr val="FFFFFF"/>
          </a:solidFill>
          <a:ln w="28575">
            <a:solidFill>
              <a:srgbClr val="1F2937"/>
            </a:solidFill>
            <a:prstDash val="solid"/>
          </a:ln>
        </p:spPr>
      </p:sp>
      <p:sp>
        <p:nvSpPr>
          <p:cNvPr id="6" name="S04-mark34"/>
          <p:cNvSpPr/>
          <p:nvPr/>
        </p:nvSpPr>
        <p:spPr>
          <a:xfrm>
            <a:off x="7012351" y="1816938"/>
            <a:ext cx="4536521" cy="362922"/>
          </a:xfrm>
          <a:custGeom>
            <a:avLst/>
            <a:gdLst/>
            <a:ahLst/>
            <a:cxnLst/>
            <a:rect l="l" t="t" r="r" b="b"/>
            <a:pathLst>
              <a:path w="4536521" h="362922">
                <a:moveTo>
                  <a:pt x="0" y="362922"/>
                </a:moveTo>
                <a:lnTo>
                  <a:pt x="4536521" y="362922"/>
                </a:lnTo>
                <a:lnTo>
                  <a:pt x="4536521" y="0"/>
                </a:lnTo>
                <a:lnTo>
                  <a:pt x="0" y="0"/>
                </a:lnTo>
                <a:close/>
              </a:path>
            </a:pathLst>
          </a:custGeom>
          <a:solidFill>
            <a:srgbClr val="3D5A80"/>
          </a:solidFill>
          <a:ln w="28575">
            <a:solidFill>
              <a:srgbClr val="1F2937"/>
            </a:solidFill>
            <a:prstDash val="solid"/>
          </a:ln>
        </p:spPr>
      </p:sp>
      <p:sp>
        <p:nvSpPr>
          <p:cNvPr id="7" name="S04-mark35"/>
          <p:cNvSpPr/>
          <p:nvPr/>
        </p:nvSpPr>
        <p:spPr>
          <a:xfrm>
            <a:off x="7193812" y="2640317"/>
            <a:ext cx="1270226" cy="401482"/>
          </a:xfrm>
          <a:custGeom>
            <a:avLst/>
            <a:gdLst/>
            <a:ahLst/>
            <a:cxnLst/>
            <a:rect l="l" t="t" r="r" b="b"/>
            <a:pathLst>
              <a:path w="1270226" h="401482">
                <a:moveTo>
                  <a:pt x="0" y="401482"/>
                </a:moveTo>
                <a:lnTo>
                  <a:pt x="1270226" y="401482"/>
                </a:lnTo>
                <a:lnTo>
                  <a:pt x="1270226" y="61243"/>
                </a:lnTo>
                <a:lnTo>
                  <a:pt x="571602" y="61243"/>
                </a:lnTo>
                <a:lnTo>
                  <a:pt x="444579" y="0"/>
                </a:lnTo>
                <a:lnTo>
                  <a:pt x="0" y="0"/>
                </a:lnTo>
                <a:close/>
              </a:path>
            </a:pathLst>
          </a:custGeom>
          <a:solidFill>
            <a:srgbClr val="F7D774"/>
          </a:solidFill>
          <a:ln w="28575">
            <a:solidFill>
              <a:srgbClr val="B8962E"/>
            </a:solidFill>
            <a:prstDash val="solid"/>
          </a:ln>
        </p:spPr>
      </p:sp>
      <p:sp>
        <p:nvSpPr>
          <p:cNvPr id="8" name="S04-mark36"/>
          <p:cNvSpPr/>
          <p:nvPr/>
        </p:nvSpPr>
        <p:spPr>
          <a:xfrm>
            <a:off x="8577451" y="2565464"/>
            <a:ext cx="1406322" cy="544383"/>
          </a:xfrm>
          <a:custGeom>
            <a:avLst/>
            <a:gdLst/>
            <a:ahLst/>
            <a:cxnLst/>
            <a:rect l="l" t="t" r="r" b="b"/>
            <a:pathLst>
              <a:path w="1406322" h="544383">
                <a:moveTo>
                  <a:pt x="0" y="544383"/>
                </a:moveTo>
                <a:lnTo>
                  <a:pt x="1406322" y="544383"/>
                </a:lnTo>
                <a:lnTo>
                  <a:pt x="1406322" y="0"/>
                </a:lnTo>
                <a:lnTo>
                  <a:pt x="0" y="0"/>
                </a:lnTo>
                <a:close/>
              </a:path>
            </a:pathLst>
          </a:custGeom>
          <a:solidFill>
            <a:srgbClr val="FDEBDD"/>
          </a:solidFill>
          <a:ln/>
        </p:spPr>
      </p:sp>
      <p:sp>
        <p:nvSpPr>
          <p:cNvPr id="9" name="S04-mark37"/>
          <p:cNvSpPr/>
          <p:nvPr/>
        </p:nvSpPr>
        <p:spPr>
          <a:xfrm>
            <a:off x="8645498" y="2640317"/>
            <a:ext cx="1270226" cy="401482"/>
          </a:xfrm>
          <a:custGeom>
            <a:avLst/>
            <a:gdLst/>
            <a:ahLst/>
            <a:cxnLst/>
            <a:rect l="l" t="t" r="r" b="b"/>
            <a:pathLst>
              <a:path w="1270226" h="401482">
                <a:moveTo>
                  <a:pt x="0" y="401482"/>
                </a:moveTo>
                <a:lnTo>
                  <a:pt x="1270226" y="401482"/>
                </a:lnTo>
                <a:lnTo>
                  <a:pt x="1270226" y="61243"/>
                </a:lnTo>
                <a:lnTo>
                  <a:pt x="571602" y="61243"/>
                </a:lnTo>
                <a:lnTo>
                  <a:pt x="444579" y="0"/>
                </a:lnTo>
                <a:lnTo>
                  <a:pt x="0" y="0"/>
                </a:lnTo>
                <a:close/>
              </a:path>
            </a:pathLst>
          </a:custGeom>
          <a:solidFill>
            <a:srgbClr val="F7D774"/>
          </a:solidFill>
          <a:ln w="28575">
            <a:solidFill>
              <a:srgbClr val="B8962E"/>
            </a:solidFill>
            <a:prstDash val="solid"/>
          </a:ln>
        </p:spPr>
      </p:sp>
      <p:sp>
        <p:nvSpPr>
          <p:cNvPr id="10" name="S04-mark38"/>
          <p:cNvSpPr/>
          <p:nvPr/>
        </p:nvSpPr>
        <p:spPr>
          <a:xfrm>
            <a:off x="10097185" y="2640317"/>
            <a:ext cx="1270226" cy="401482"/>
          </a:xfrm>
          <a:custGeom>
            <a:avLst/>
            <a:gdLst/>
            <a:ahLst/>
            <a:cxnLst/>
            <a:rect l="l" t="t" r="r" b="b"/>
            <a:pathLst>
              <a:path w="1270226" h="401482">
                <a:moveTo>
                  <a:pt x="0" y="401482"/>
                </a:moveTo>
                <a:lnTo>
                  <a:pt x="1270226" y="401482"/>
                </a:lnTo>
                <a:lnTo>
                  <a:pt x="1270226" y="61243"/>
                </a:lnTo>
                <a:lnTo>
                  <a:pt x="571602" y="61243"/>
                </a:lnTo>
                <a:lnTo>
                  <a:pt x="444579" y="0"/>
                </a:lnTo>
                <a:lnTo>
                  <a:pt x="0" y="0"/>
                </a:lnTo>
                <a:close/>
              </a:path>
            </a:pathLst>
          </a:custGeom>
          <a:solidFill>
            <a:srgbClr val="F7D774"/>
          </a:solidFill>
          <a:ln w="28575">
            <a:solidFill>
              <a:srgbClr val="B8962E"/>
            </a:solidFill>
            <a:prstDash val="solid"/>
          </a:ln>
        </p:spPr>
      </p:sp>
      <p:sp>
        <p:nvSpPr>
          <p:cNvPr id="11" name="S04-mark39"/>
          <p:cNvSpPr/>
          <p:nvPr/>
        </p:nvSpPr>
        <p:spPr>
          <a:xfrm>
            <a:off x="7193812" y="3495451"/>
            <a:ext cx="4173600" cy="362922"/>
          </a:xfrm>
          <a:custGeom>
            <a:avLst/>
            <a:gdLst/>
            <a:ahLst/>
            <a:cxnLst/>
            <a:rect l="l" t="t" r="r" b="b"/>
            <a:pathLst>
              <a:path w="4173600" h="362922">
                <a:moveTo>
                  <a:pt x="0" y="362922"/>
                </a:moveTo>
                <a:lnTo>
                  <a:pt x="4173600" y="362922"/>
                </a:lnTo>
                <a:lnTo>
                  <a:pt x="4173600" y="0"/>
                </a:lnTo>
                <a:lnTo>
                  <a:pt x="0" y="0"/>
                </a:lnTo>
                <a:close/>
              </a:path>
            </a:pathLst>
          </a:custGeom>
          <a:solidFill>
            <a:srgbClr val="FFFFFF"/>
          </a:solidFill>
          <a:ln w="28575">
            <a:solidFill>
              <a:srgbClr val="3D5A80"/>
            </a:solidFill>
            <a:prstDash val="solid"/>
          </a:ln>
        </p:spPr>
      </p:sp>
      <p:sp>
        <p:nvSpPr>
          <p:cNvPr id="12" name="S04-mark40"/>
          <p:cNvSpPr/>
          <p:nvPr/>
        </p:nvSpPr>
        <p:spPr>
          <a:xfrm>
            <a:off x="9008420" y="4107882"/>
            <a:ext cx="1088765" cy="385604"/>
          </a:xfrm>
          <a:custGeom>
            <a:avLst/>
            <a:gdLst/>
            <a:ahLst/>
            <a:cxnLst/>
            <a:rect l="l" t="t" r="r" b="b"/>
            <a:pathLst>
              <a:path w="1088765" h="385604">
                <a:moveTo>
                  <a:pt x="0" y="385604"/>
                </a:moveTo>
                <a:lnTo>
                  <a:pt x="1088765" y="385604"/>
                </a:lnTo>
                <a:lnTo>
                  <a:pt x="1088765" y="0"/>
                </a:lnTo>
                <a:lnTo>
                  <a:pt x="0" y="0"/>
                </a:lnTo>
                <a:close/>
              </a:path>
            </a:pathLst>
          </a:custGeom>
          <a:solidFill>
            <a:srgbClr val="2A9D8F"/>
          </a:solidFill>
          <a:ln/>
        </p:spPr>
      </p:sp>
      <p:sp>
        <p:nvSpPr>
          <p:cNvPr id="13" name="S04-mark41"/>
          <p:cNvSpPr/>
          <p:nvPr/>
        </p:nvSpPr>
        <p:spPr>
          <a:xfrm>
            <a:off x="10278646" y="4107882"/>
            <a:ext cx="1088765" cy="385604"/>
          </a:xfrm>
          <a:custGeom>
            <a:avLst/>
            <a:gdLst/>
            <a:ahLst/>
            <a:cxnLst/>
            <a:rect l="l" t="t" r="r" b="b"/>
            <a:pathLst>
              <a:path w="1088765" h="385604">
                <a:moveTo>
                  <a:pt x="0" y="385604"/>
                </a:moveTo>
                <a:lnTo>
                  <a:pt x="1088765" y="385604"/>
                </a:lnTo>
                <a:lnTo>
                  <a:pt x="1088765" y="0"/>
                </a:lnTo>
                <a:lnTo>
                  <a:pt x="0" y="0"/>
                </a:lnTo>
                <a:close/>
              </a:path>
            </a:pathLst>
          </a:custGeom>
          <a:solidFill>
            <a:srgbClr val="E5E7EB"/>
          </a:solidFill>
          <a:ln w="28575">
            <a:solidFill>
              <a:srgbClr val="94A3B8"/>
            </a:solidFill>
            <a:prstDash val="solid"/>
          </a:ln>
        </p:spPr>
      </p:sp>
      <p:sp>
        <p:nvSpPr>
          <p:cNvPr id="14" name="S04-label43"/>
          <p:cNvSpPr txBox="1"/>
          <p:nvPr/>
        </p:nvSpPr>
        <p:spPr>
          <a:xfrm>
            <a:off x="8628339" y="1807899"/>
            <a:ext cx="1304544" cy="381000"/>
          </a:xfrm>
          <a:prstGeom prst="rect">
            <a:avLst/>
          </a:prstGeom>
          <a:no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저장하기</a:t>
            </a:r>
            <a:endParaRPr lang="ko-KR" sz="2400" dirty="0"/>
          </a:p>
        </p:txBody>
      </p:sp>
      <p:sp>
        <p:nvSpPr>
          <p:cNvPr id="15" name="S04-label45"/>
          <p:cNvSpPr txBox="1"/>
          <p:nvPr/>
        </p:nvSpPr>
        <p:spPr>
          <a:xfrm>
            <a:off x="7193812" y="2255874"/>
            <a:ext cx="1128014" cy="301625"/>
          </a:xfrm>
          <a:prstGeom prst="rect">
            <a:avLst/>
          </a:prstGeom>
          <a:noFill/>
          <a:ln/>
        </p:spPr>
        <p:txBody>
          <a:bodyPr wrap="square" lIns="0" tIns="0" rIns="0" bIns="0" rtlCol="0" anchor="ctr"/>
          <a:lstStyle/>
          <a:p>
            <a:pPr eaLnBrk="0" algn="l" indent="0" marL="0">
              <a:buNone/>
            </a:pPr>
            <a:r>
              <a:rPr lang="ko-KR" altLang="en-US" sz="1900" b="1" dirty="0">
                <a:solidFill>
                  <a:srgbClr val="1F2937"/>
                </a:solidFill>
                <a:latin typeface="맑은 고딕" pitchFamily="34" charset="0"/>
                <a:ea typeface="맑은 고딕" pitchFamily="34" charset="-122"/>
                <a:cs typeface="맑은 고딕" pitchFamily="34" charset="-120"/>
              </a:rPr>
              <a:t>저장할 곳</a:t>
            </a:r>
            <a:endParaRPr lang="ko-KR" sz="1900" dirty="0"/>
          </a:p>
        </p:txBody>
      </p:sp>
      <p:sp>
        <p:nvSpPr>
          <p:cNvPr id="16" name="S04-label47"/>
          <p:cNvSpPr txBox="1"/>
          <p:nvPr/>
        </p:nvSpPr>
        <p:spPr>
          <a:xfrm>
            <a:off x="7537587" y="2718599"/>
            <a:ext cx="582676" cy="301625"/>
          </a:xfrm>
          <a:prstGeom prst="rect">
            <a:avLst/>
          </a:prstGeom>
          <a:noFill/>
          <a:ln/>
        </p:spPr>
        <p:txBody>
          <a:bodyPr wrap="square" lIns="0" tIns="0" rIns="0" bIns="0" rtlCol="0" anchor="ctr"/>
          <a:lstStyle/>
          <a:p>
            <a:pPr eaLnBrk="0" algn="ctr" indent="0" marL="0">
              <a:buNone/>
            </a:pPr>
            <a:r>
              <a:rPr lang="ko-KR" altLang="en-US" sz="1900" b="1" dirty="0">
                <a:solidFill>
                  <a:srgbClr val="1F2937"/>
                </a:solidFill>
                <a:latin typeface="맑은 고딕" pitchFamily="34" charset="0"/>
                <a:ea typeface="맑은 고딕" pitchFamily="34" charset="-122"/>
                <a:cs typeface="맑은 고딕" pitchFamily="34" charset="-120"/>
              </a:rPr>
              <a:t>그림</a:t>
            </a:r>
            <a:endParaRPr lang="ko-KR" sz="1900" dirty="0"/>
          </a:p>
        </p:txBody>
      </p:sp>
      <p:sp>
        <p:nvSpPr>
          <p:cNvPr id="17" name="S04-label49"/>
          <p:cNvSpPr txBox="1"/>
          <p:nvPr/>
        </p:nvSpPr>
        <p:spPr>
          <a:xfrm>
            <a:off x="8989273" y="2718599"/>
            <a:ext cx="582676" cy="301625"/>
          </a:xfrm>
          <a:prstGeom prst="rect">
            <a:avLst/>
          </a:prstGeom>
          <a:noFill/>
          <a:ln/>
        </p:spPr>
        <p:txBody>
          <a:bodyPr wrap="square" lIns="0" tIns="0" rIns="0" bIns="0" rtlCol="0" anchor="ctr"/>
          <a:lstStyle/>
          <a:p>
            <a:pPr eaLnBrk="0" algn="ctr" indent="0" marL="0">
              <a:buNone/>
            </a:pPr>
            <a:r>
              <a:rPr lang="ko-KR" altLang="en-US" sz="1900" b="1" dirty="0">
                <a:solidFill>
                  <a:srgbClr val="1F2937"/>
                </a:solidFill>
                <a:latin typeface="맑은 고딕" pitchFamily="34" charset="0"/>
                <a:ea typeface="맑은 고딕" pitchFamily="34" charset="-122"/>
                <a:cs typeface="맑은 고딕" pitchFamily="34" charset="-120"/>
              </a:rPr>
              <a:t>숙제</a:t>
            </a:r>
            <a:endParaRPr lang="ko-KR" sz="1900" dirty="0"/>
          </a:p>
        </p:txBody>
      </p:sp>
      <p:sp>
        <p:nvSpPr>
          <p:cNvPr id="18" name="S04-label51"/>
          <p:cNvSpPr txBox="1"/>
          <p:nvPr/>
        </p:nvSpPr>
        <p:spPr>
          <a:xfrm>
            <a:off x="10440960" y="2718599"/>
            <a:ext cx="582676" cy="301625"/>
          </a:xfrm>
          <a:prstGeom prst="rect">
            <a:avLst/>
          </a:prstGeom>
          <a:noFill/>
          <a:ln/>
        </p:spPr>
        <p:txBody>
          <a:bodyPr wrap="square" lIns="0" tIns="0" rIns="0" bIns="0" rtlCol="0" anchor="ctr"/>
          <a:lstStyle/>
          <a:p>
            <a:pPr eaLnBrk="0" algn="ctr" indent="0" marL="0">
              <a:buNone/>
            </a:pPr>
            <a:r>
              <a:rPr lang="ko-KR" altLang="en-US" sz="1900" b="1" dirty="0">
                <a:solidFill>
                  <a:srgbClr val="1F2937"/>
                </a:solidFill>
                <a:latin typeface="맑은 고딕" pitchFamily="34" charset="0"/>
                <a:ea typeface="맑은 고딕" pitchFamily="34" charset="-122"/>
                <a:cs typeface="맑은 고딕" pitchFamily="34" charset="-120"/>
              </a:rPr>
              <a:t>사진</a:t>
            </a:r>
            <a:endParaRPr lang="ko-KR" sz="1900" dirty="0"/>
          </a:p>
        </p:txBody>
      </p:sp>
      <p:sp>
        <p:nvSpPr>
          <p:cNvPr id="19" name="S04-label53"/>
          <p:cNvSpPr txBox="1"/>
          <p:nvPr/>
        </p:nvSpPr>
        <p:spPr>
          <a:xfrm>
            <a:off x="7193812" y="3163178"/>
            <a:ext cx="1128014" cy="301625"/>
          </a:xfrm>
          <a:prstGeom prst="rect">
            <a:avLst/>
          </a:prstGeom>
          <a:noFill/>
          <a:ln/>
        </p:spPr>
        <p:txBody>
          <a:bodyPr wrap="square" lIns="0" tIns="0" rIns="0" bIns="0" rtlCol="0" anchor="ctr"/>
          <a:lstStyle/>
          <a:p>
            <a:pPr eaLnBrk="0" algn="l" indent="0" marL="0">
              <a:buNone/>
            </a:pPr>
            <a:r>
              <a:rPr lang="ko-KR" altLang="en-US" sz="1900" b="1" dirty="0">
                <a:solidFill>
                  <a:srgbClr val="1F2937"/>
                </a:solidFill>
                <a:latin typeface="맑은 고딕" pitchFamily="34" charset="0"/>
                <a:ea typeface="맑은 고딕" pitchFamily="34" charset="-122"/>
                <a:cs typeface="맑은 고딕" pitchFamily="34" charset="-120"/>
              </a:rPr>
              <a:t>파일 이름</a:t>
            </a:r>
            <a:endParaRPr lang="ko-KR" sz="1900" dirty="0"/>
          </a:p>
        </p:txBody>
      </p:sp>
      <p:sp>
        <p:nvSpPr>
          <p:cNvPr id="20" name="S04-label55"/>
          <p:cNvSpPr txBox="1"/>
          <p:nvPr/>
        </p:nvSpPr>
        <p:spPr>
          <a:xfrm>
            <a:off x="7329907" y="3526100"/>
            <a:ext cx="1673352" cy="301625"/>
          </a:xfrm>
          <a:prstGeom prst="rect">
            <a:avLst/>
          </a:prstGeom>
          <a:noFill/>
          <a:ln/>
        </p:spPr>
        <p:txBody>
          <a:bodyPr wrap="square" lIns="0" tIns="0" rIns="0" bIns="0" rtlCol="0" anchor="ctr"/>
          <a:lstStyle/>
          <a:p>
            <a:pPr eaLnBrk="0" algn="l" indent="0" marL="0">
              <a:buNone/>
            </a:pPr>
            <a:r>
              <a:rPr lang="ko-KR" altLang="en-US" sz="1900" dirty="0">
                <a:solidFill>
                  <a:srgbClr val="1F2937"/>
                </a:solidFill>
                <a:latin typeface="맑은 고딕" pitchFamily="34" charset="0"/>
                <a:ea typeface="맑은 고딕" pitchFamily="34" charset="-122"/>
                <a:cs typeface="맑은 고딕" pitchFamily="34" charset="-120"/>
              </a:rPr>
              <a:t>개미 관찰 기록</a:t>
            </a:r>
            <a:endParaRPr lang="ko-KR" sz="1900" dirty="0"/>
          </a:p>
        </p:txBody>
      </p:sp>
      <p:sp>
        <p:nvSpPr>
          <p:cNvPr id="21" name="S04-label57"/>
          <p:cNvSpPr txBox="1"/>
          <p:nvPr/>
        </p:nvSpPr>
        <p:spPr>
          <a:xfrm>
            <a:off x="9261465" y="4147603"/>
            <a:ext cx="582676" cy="301625"/>
          </a:xfrm>
          <a:prstGeom prst="rect">
            <a:avLst/>
          </a:prstGeom>
          <a:noFill/>
          <a:ln/>
        </p:spPr>
        <p:txBody>
          <a:bodyPr wrap="square" lIns="0" tIns="0" rIns="0" bIns="0" rtlCol="0" anchor="ctr"/>
          <a:lstStyle/>
          <a:p>
            <a:pPr eaLnBrk="0" algn="ctr" indent="0" marL="0">
              <a:buNone/>
            </a:pPr>
            <a:r>
              <a:rPr lang="ko-KR" altLang="en-US" sz="1900" b="1" dirty="0">
                <a:solidFill>
                  <a:srgbClr val="FFFFFF"/>
                </a:solidFill>
                <a:latin typeface="맑은 고딕" pitchFamily="34" charset="0"/>
                <a:ea typeface="맑은 고딕" pitchFamily="34" charset="-122"/>
                <a:cs typeface="맑은 고딕" pitchFamily="34" charset="-120"/>
              </a:rPr>
              <a:t>저장</a:t>
            </a:r>
            <a:endParaRPr lang="ko-KR" sz="1900" dirty="0"/>
          </a:p>
        </p:txBody>
      </p:sp>
      <p:sp>
        <p:nvSpPr>
          <p:cNvPr id="22" name="S04-label59"/>
          <p:cNvSpPr txBox="1"/>
          <p:nvPr/>
        </p:nvSpPr>
        <p:spPr>
          <a:xfrm>
            <a:off x="10531691" y="4147603"/>
            <a:ext cx="582676" cy="301625"/>
          </a:xfrm>
          <a:prstGeom prst="rect">
            <a:avLst/>
          </a:prstGeom>
          <a:noFill/>
          <a:ln/>
        </p:spPr>
        <p:txBody>
          <a:bodyPr wrap="square" lIns="0" tIns="0" rIns="0" bIns="0" rtlCol="0" anchor="ctr"/>
          <a:lstStyle/>
          <a:p>
            <a:pPr eaLnBrk="0" algn="ctr" indent="0" marL="0">
              <a:buNone/>
            </a:pPr>
            <a:r>
              <a:rPr lang="ko-KR" altLang="en-US" sz="1900" b="1" dirty="0">
                <a:solidFill>
                  <a:srgbClr val="1F2937"/>
                </a:solidFill>
                <a:latin typeface="맑은 고딕" pitchFamily="34" charset="0"/>
                <a:ea typeface="맑은 고딕" pitchFamily="34" charset="-122"/>
                <a:cs typeface="맑은 고딕" pitchFamily="34" charset="-120"/>
              </a:rPr>
              <a:t>취소</a:t>
            </a:r>
            <a:endParaRPr lang="ko-KR" sz="1900" dirty="0"/>
          </a:p>
        </p:txBody>
      </p:sp>
      <p:sp>
        <p:nvSpPr>
          <p:cNvPr id="23" name="S04-stepno60"/>
          <p:cNvSpPr txBox="1"/>
          <p:nvPr/>
        </p:nvSpPr>
        <p:spPr>
          <a:xfrm>
            <a:off x="548640" y="1879092"/>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1</a:t>
            </a:r>
            <a:endParaRPr lang="ko-KR" sz="2400" dirty="0"/>
          </a:p>
        </p:txBody>
      </p:sp>
      <p:sp>
        <p:nvSpPr>
          <p:cNvPr id="24" name="S04-text61"/>
          <p:cNvSpPr txBox="1"/>
          <p:nvPr/>
        </p:nvSpPr>
        <p:spPr>
          <a:xfrm>
            <a:off x="1325880" y="1879092"/>
            <a:ext cx="5229271"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저장 버튼이나 메뉴를 눌러요.</a:t>
            </a:r>
            <a:endParaRPr lang="ko-KR" sz="3000" dirty="0"/>
          </a:p>
        </p:txBody>
      </p:sp>
      <p:sp>
        <p:nvSpPr>
          <p:cNvPr id="25" name="S04-stepno62"/>
          <p:cNvSpPr txBox="1"/>
          <p:nvPr/>
        </p:nvSpPr>
        <p:spPr>
          <a:xfrm>
            <a:off x="548640" y="2592324"/>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2</a:t>
            </a:r>
            <a:endParaRPr lang="ko-KR" sz="2400" dirty="0"/>
          </a:p>
        </p:txBody>
      </p:sp>
      <p:sp>
        <p:nvSpPr>
          <p:cNvPr id="26" name="S04-text63"/>
          <p:cNvSpPr txBox="1"/>
          <p:nvPr/>
        </p:nvSpPr>
        <p:spPr>
          <a:xfrm>
            <a:off x="1325880" y="2592324"/>
            <a:ext cx="5229271"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저장할 폴더를 골라요.</a:t>
            </a:r>
            <a:endParaRPr lang="ko-KR" sz="3000" dirty="0"/>
          </a:p>
        </p:txBody>
      </p:sp>
      <p:sp>
        <p:nvSpPr>
          <p:cNvPr id="27" name="S04-stepno64"/>
          <p:cNvSpPr txBox="1"/>
          <p:nvPr/>
        </p:nvSpPr>
        <p:spPr>
          <a:xfrm>
            <a:off x="548640" y="3305556"/>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3</a:t>
            </a:r>
            <a:endParaRPr lang="ko-KR" sz="2400" dirty="0"/>
          </a:p>
        </p:txBody>
      </p:sp>
      <p:sp>
        <p:nvSpPr>
          <p:cNvPr id="28" name="S04-text65"/>
          <p:cNvSpPr txBox="1"/>
          <p:nvPr/>
        </p:nvSpPr>
        <p:spPr>
          <a:xfrm>
            <a:off x="1325880" y="3305556"/>
            <a:ext cx="5229271"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파일 이름을 써요.</a:t>
            </a:r>
            <a:endParaRPr lang="ko-KR" sz="3000" dirty="0"/>
          </a:p>
        </p:txBody>
      </p:sp>
      <p:sp>
        <p:nvSpPr>
          <p:cNvPr id="29" name="S04-stepno66"/>
          <p:cNvSpPr txBox="1"/>
          <p:nvPr/>
        </p:nvSpPr>
        <p:spPr>
          <a:xfrm>
            <a:off x="548640" y="401878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4</a:t>
            </a:r>
            <a:endParaRPr lang="ko-KR" sz="2400" dirty="0"/>
          </a:p>
        </p:txBody>
      </p:sp>
      <p:sp>
        <p:nvSpPr>
          <p:cNvPr id="30" name="S04-text67"/>
          <p:cNvSpPr txBox="1"/>
          <p:nvPr/>
        </p:nvSpPr>
        <p:spPr>
          <a:xfrm>
            <a:off x="1325880" y="4018788"/>
            <a:ext cx="5229271"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‘저장’을 눌러요.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그림 화면에서 짚어 봐요</a:t>
            </a:r>
            <a:endParaRPr lang="ko-KR" sz="4000" dirty="0"/>
          </a:p>
        </p:txBody>
      </p:sp>
      <p:sp>
        <p:nvSpPr>
          <p:cNvPr id="3" name="S05-card68"/>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4" name="S05-cardtext69"/>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가·나·다·라로 답하고 손으로 짚어요.</a:t>
            </a:r>
            <a:endParaRPr lang="ko-KR" sz="3000" dirty="0"/>
          </a:p>
        </p:txBody>
      </p:sp>
      <p:sp>
        <p:nvSpPr>
          <p:cNvPr id="5" name="S05-figure70" descr="그려 놓은 저장하기 창. 가는 저장할 폴더(그림·숙제·사진)를 고르는 곳, 나는 파일 이름을 쓰는 빈칸, 다는 초록색 ‘저장’ 단추, 라는 회색 ‘취소’ 단추를 가리킨다."/>
          <p:cNvSpPr/>
          <p:nvPr/>
        </p:nvSpPr>
        <p:spPr>
          <a:xfrm>
            <a:off x="6923804" y="1948797"/>
            <a:ext cx="4111171" cy="2548926"/>
          </a:xfrm>
          <a:custGeom>
            <a:avLst/>
            <a:gdLst/>
            <a:ahLst/>
            <a:cxnLst/>
            <a:rect l="l" t="t" r="r" b="b"/>
            <a:pathLst>
              <a:path w="4111171" h="2548926">
                <a:moveTo>
                  <a:pt x="0" y="2548926"/>
                </a:moveTo>
                <a:lnTo>
                  <a:pt x="4111171" y="2548926"/>
                </a:lnTo>
                <a:lnTo>
                  <a:pt x="4111171" y="0"/>
                </a:lnTo>
                <a:lnTo>
                  <a:pt x="0" y="0"/>
                </a:lnTo>
                <a:close/>
              </a:path>
            </a:pathLst>
          </a:custGeom>
          <a:solidFill>
            <a:srgbClr val="FFFFFF"/>
          </a:solidFill>
          <a:ln w="28575">
            <a:solidFill>
              <a:srgbClr val="1F2937"/>
            </a:solidFill>
            <a:prstDash val="solid"/>
          </a:ln>
        </p:spPr>
      </p:sp>
      <p:sp>
        <p:nvSpPr>
          <p:cNvPr id="6" name="S05-mark71"/>
          <p:cNvSpPr/>
          <p:nvPr/>
        </p:nvSpPr>
        <p:spPr>
          <a:xfrm>
            <a:off x="6923804" y="1948797"/>
            <a:ext cx="4111171" cy="328894"/>
          </a:xfrm>
          <a:custGeom>
            <a:avLst/>
            <a:gdLst/>
            <a:ahLst/>
            <a:cxnLst/>
            <a:rect l="l" t="t" r="r" b="b"/>
            <a:pathLst>
              <a:path w="4111171" h="328894">
                <a:moveTo>
                  <a:pt x="0" y="328894"/>
                </a:moveTo>
                <a:lnTo>
                  <a:pt x="4111171" y="328894"/>
                </a:lnTo>
                <a:lnTo>
                  <a:pt x="4111171" y="0"/>
                </a:lnTo>
                <a:lnTo>
                  <a:pt x="0" y="0"/>
                </a:lnTo>
                <a:close/>
              </a:path>
            </a:pathLst>
          </a:custGeom>
          <a:solidFill>
            <a:srgbClr val="3D5A80"/>
          </a:solidFill>
          <a:ln w="28575">
            <a:solidFill>
              <a:srgbClr val="1F2937"/>
            </a:solidFill>
            <a:prstDash val="solid"/>
          </a:ln>
        </p:spPr>
      </p:sp>
      <p:sp>
        <p:nvSpPr>
          <p:cNvPr id="7" name="S05-mark72"/>
          <p:cNvSpPr/>
          <p:nvPr/>
        </p:nvSpPr>
        <p:spPr>
          <a:xfrm>
            <a:off x="7088251" y="2694974"/>
            <a:ext cx="1151128" cy="363839"/>
          </a:xfrm>
          <a:custGeom>
            <a:avLst/>
            <a:gdLst/>
            <a:ahLst/>
            <a:cxnLst/>
            <a:rect l="l" t="t" r="r" b="b"/>
            <a:pathLst>
              <a:path w="1151128" h="363839">
                <a:moveTo>
                  <a:pt x="0" y="363839"/>
                </a:moveTo>
                <a:lnTo>
                  <a:pt x="1151128" y="363839"/>
                </a:lnTo>
                <a:lnTo>
                  <a:pt x="1151128" y="55501"/>
                </a:lnTo>
                <a:lnTo>
                  <a:pt x="518008" y="55501"/>
                </a:lnTo>
                <a:lnTo>
                  <a:pt x="402895" y="0"/>
                </a:lnTo>
                <a:lnTo>
                  <a:pt x="0" y="0"/>
                </a:lnTo>
                <a:close/>
              </a:path>
            </a:pathLst>
          </a:custGeom>
          <a:solidFill>
            <a:srgbClr val="F7D774"/>
          </a:solidFill>
          <a:ln w="28575">
            <a:solidFill>
              <a:srgbClr val="B8962E"/>
            </a:solidFill>
            <a:prstDash val="solid"/>
          </a:ln>
        </p:spPr>
      </p:sp>
      <p:sp>
        <p:nvSpPr>
          <p:cNvPr id="8" name="S05-mark73"/>
          <p:cNvSpPr/>
          <p:nvPr/>
        </p:nvSpPr>
        <p:spPr>
          <a:xfrm>
            <a:off x="8342158" y="2627140"/>
            <a:ext cx="1274463" cy="493341"/>
          </a:xfrm>
          <a:custGeom>
            <a:avLst/>
            <a:gdLst/>
            <a:ahLst/>
            <a:cxnLst/>
            <a:rect l="l" t="t" r="r" b="b"/>
            <a:pathLst>
              <a:path w="1274463" h="493341">
                <a:moveTo>
                  <a:pt x="0" y="493341"/>
                </a:moveTo>
                <a:lnTo>
                  <a:pt x="1274463" y="493341"/>
                </a:lnTo>
                <a:lnTo>
                  <a:pt x="1274463" y="0"/>
                </a:lnTo>
                <a:lnTo>
                  <a:pt x="0" y="0"/>
                </a:lnTo>
                <a:close/>
              </a:path>
            </a:pathLst>
          </a:custGeom>
          <a:solidFill>
            <a:srgbClr val="FDEBDD"/>
          </a:solidFill>
          <a:ln/>
        </p:spPr>
      </p:sp>
      <p:sp>
        <p:nvSpPr>
          <p:cNvPr id="9" name="S05-mark74"/>
          <p:cNvSpPr/>
          <p:nvPr/>
        </p:nvSpPr>
        <p:spPr>
          <a:xfrm>
            <a:off x="8403826" y="2694974"/>
            <a:ext cx="1151128" cy="363839"/>
          </a:xfrm>
          <a:custGeom>
            <a:avLst/>
            <a:gdLst/>
            <a:ahLst/>
            <a:cxnLst/>
            <a:rect l="l" t="t" r="r" b="b"/>
            <a:pathLst>
              <a:path w="1151128" h="363839">
                <a:moveTo>
                  <a:pt x="0" y="363839"/>
                </a:moveTo>
                <a:lnTo>
                  <a:pt x="1151128" y="363839"/>
                </a:lnTo>
                <a:lnTo>
                  <a:pt x="1151128" y="55501"/>
                </a:lnTo>
                <a:lnTo>
                  <a:pt x="518008" y="55501"/>
                </a:lnTo>
                <a:lnTo>
                  <a:pt x="402895" y="0"/>
                </a:lnTo>
                <a:lnTo>
                  <a:pt x="0" y="0"/>
                </a:lnTo>
                <a:close/>
              </a:path>
            </a:pathLst>
          </a:custGeom>
          <a:solidFill>
            <a:srgbClr val="F7D774"/>
          </a:solidFill>
          <a:ln w="28575">
            <a:solidFill>
              <a:srgbClr val="B8962E"/>
            </a:solidFill>
            <a:prstDash val="solid"/>
          </a:ln>
        </p:spPr>
      </p:sp>
      <p:sp>
        <p:nvSpPr>
          <p:cNvPr id="10" name="S05-mark75"/>
          <p:cNvSpPr/>
          <p:nvPr/>
        </p:nvSpPr>
        <p:spPr>
          <a:xfrm>
            <a:off x="9719401" y="2694974"/>
            <a:ext cx="1151128" cy="363839"/>
          </a:xfrm>
          <a:custGeom>
            <a:avLst/>
            <a:gdLst/>
            <a:ahLst/>
            <a:cxnLst/>
            <a:rect l="l" t="t" r="r" b="b"/>
            <a:pathLst>
              <a:path w="1151128" h="363839">
                <a:moveTo>
                  <a:pt x="0" y="363839"/>
                </a:moveTo>
                <a:lnTo>
                  <a:pt x="1151128" y="363839"/>
                </a:lnTo>
                <a:lnTo>
                  <a:pt x="1151128" y="55501"/>
                </a:lnTo>
                <a:lnTo>
                  <a:pt x="518008" y="55501"/>
                </a:lnTo>
                <a:lnTo>
                  <a:pt x="402895" y="0"/>
                </a:lnTo>
                <a:lnTo>
                  <a:pt x="0" y="0"/>
                </a:lnTo>
                <a:close/>
              </a:path>
            </a:pathLst>
          </a:custGeom>
          <a:solidFill>
            <a:srgbClr val="F7D774"/>
          </a:solidFill>
          <a:ln w="28575">
            <a:solidFill>
              <a:srgbClr val="B8962E"/>
            </a:solidFill>
            <a:prstDash val="solid"/>
          </a:ln>
        </p:spPr>
      </p:sp>
      <p:sp>
        <p:nvSpPr>
          <p:cNvPr id="11" name="S05-mark76"/>
          <p:cNvSpPr/>
          <p:nvPr/>
        </p:nvSpPr>
        <p:spPr>
          <a:xfrm>
            <a:off x="7088251" y="3469930"/>
            <a:ext cx="3782278" cy="328894"/>
          </a:xfrm>
          <a:custGeom>
            <a:avLst/>
            <a:gdLst/>
            <a:ahLst/>
            <a:cxnLst/>
            <a:rect l="l" t="t" r="r" b="b"/>
            <a:pathLst>
              <a:path w="3782278" h="328894">
                <a:moveTo>
                  <a:pt x="0" y="328894"/>
                </a:moveTo>
                <a:lnTo>
                  <a:pt x="3782278" y="328894"/>
                </a:lnTo>
                <a:lnTo>
                  <a:pt x="3782278" y="0"/>
                </a:lnTo>
                <a:lnTo>
                  <a:pt x="0" y="0"/>
                </a:lnTo>
                <a:close/>
              </a:path>
            </a:pathLst>
          </a:custGeom>
          <a:solidFill>
            <a:srgbClr val="FFFFFF"/>
          </a:solidFill>
          <a:ln w="28575">
            <a:solidFill>
              <a:srgbClr val="3D5A80"/>
            </a:solidFill>
            <a:prstDash val="solid"/>
          </a:ln>
        </p:spPr>
      </p:sp>
      <p:sp>
        <p:nvSpPr>
          <p:cNvPr id="12" name="S05-mark77"/>
          <p:cNvSpPr/>
          <p:nvPr/>
        </p:nvSpPr>
        <p:spPr>
          <a:xfrm>
            <a:off x="8732720" y="4024938"/>
            <a:ext cx="986681" cy="349450"/>
          </a:xfrm>
          <a:custGeom>
            <a:avLst/>
            <a:gdLst/>
            <a:ahLst/>
            <a:cxnLst/>
            <a:rect l="l" t="t" r="r" b="b"/>
            <a:pathLst>
              <a:path w="986681" h="349450">
                <a:moveTo>
                  <a:pt x="0" y="349450"/>
                </a:moveTo>
                <a:lnTo>
                  <a:pt x="986681" y="349450"/>
                </a:lnTo>
                <a:lnTo>
                  <a:pt x="986681" y="0"/>
                </a:lnTo>
                <a:lnTo>
                  <a:pt x="0" y="0"/>
                </a:lnTo>
                <a:close/>
              </a:path>
            </a:pathLst>
          </a:custGeom>
          <a:solidFill>
            <a:srgbClr val="2A9D8F"/>
          </a:solidFill>
          <a:ln/>
        </p:spPr>
      </p:sp>
      <p:sp>
        <p:nvSpPr>
          <p:cNvPr id="13" name="S05-mark78"/>
          <p:cNvSpPr/>
          <p:nvPr/>
        </p:nvSpPr>
        <p:spPr>
          <a:xfrm>
            <a:off x="9883848" y="4024938"/>
            <a:ext cx="986681" cy="349450"/>
          </a:xfrm>
          <a:custGeom>
            <a:avLst/>
            <a:gdLst/>
            <a:ahLst/>
            <a:cxnLst/>
            <a:rect l="l" t="t" r="r" b="b"/>
            <a:pathLst>
              <a:path w="986681" h="349450">
                <a:moveTo>
                  <a:pt x="0" y="349450"/>
                </a:moveTo>
                <a:lnTo>
                  <a:pt x="986681" y="349450"/>
                </a:lnTo>
                <a:lnTo>
                  <a:pt x="986681" y="0"/>
                </a:lnTo>
                <a:lnTo>
                  <a:pt x="0" y="0"/>
                </a:lnTo>
                <a:close/>
              </a:path>
            </a:pathLst>
          </a:custGeom>
          <a:solidFill>
            <a:srgbClr val="E5E7EB"/>
          </a:solidFill>
          <a:ln w="28575">
            <a:solidFill>
              <a:srgbClr val="94A3B8"/>
            </a:solidFill>
            <a:prstDash val="solid"/>
          </a:ln>
        </p:spPr>
      </p:sp>
      <p:sp>
        <p:nvSpPr>
          <p:cNvPr id="14" name="S05-mark79"/>
          <p:cNvSpPr/>
          <p:nvPr/>
        </p:nvSpPr>
        <p:spPr>
          <a:xfrm>
            <a:off x="6368796" y="2668252"/>
            <a:ext cx="411117" cy="411117"/>
          </a:xfrm>
          <a:prstGeom prst="ellipse">
            <a:avLst/>
          </a:prstGeom>
          <a:solidFill>
            <a:srgbClr val="E9762B"/>
          </a:solidFill>
          <a:ln w="28575">
            <a:solidFill>
              <a:srgbClr val="E9762B"/>
            </a:solidFill>
            <a:prstDash val="solid"/>
          </a:ln>
        </p:spPr>
      </p:sp>
      <p:sp>
        <p:nvSpPr>
          <p:cNvPr id="15" name="S05-mark80"/>
          <p:cNvSpPr/>
          <p:nvPr/>
        </p:nvSpPr>
        <p:spPr>
          <a:xfrm>
            <a:off x="6368796" y="3428819"/>
            <a:ext cx="411117" cy="411117"/>
          </a:xfrm>
          <a:prstGeom prst="ellipse">
            <a:avLst/>
          </a:prstGeom>
          <a:solidFill>
            <a:srgbClr val="E9762B"/>
          </a:solidFill>
          <a:ln w="28575">
            <a:solidFill>
              <a:srgbClr val="E9762B"/>
            </a:solidFill>
            <a:prstDash val="solid"/>
          </a:ln>
        </p:spPr>
      </p:sp>
      <p:sp>
        <p:nvSpPr>
          <p:cNvPr id="16" name="S05-mark81"/>
          <p:cNvSpPr/>
          <p:nvPr/>
        </p:nvSpPr>
        <p:spPr>
          <a:xfrm>
            <a:off x="8259935" y="3992049"/>
            <a:ext cx="411117" cy="411117"/>
          </a:xfrm>
          <a:prstGeom prst="ellipse">
            <a:avLst/>
          </a:prstGeom>
          <a:solidFill>
            <a:srgbClr val="E9762B"/>
          </a:solidFill>
          <a:ln w="28575">
            <a:solidFill>
              <a:srgbClr val="E9762B"/>
            </a:solidFill>
            <a:prstDash val="solid"/>
          </a:ln>
        </p:spPr>
      </p:sp>
      <p:sp>
        <p:nvSpPr>
          <p:cNvPr id="17" name="S05-mark82"/>
          <p:cNvSpPr/>
          <p:nvPr/>
        </p:nvSpPr>
        <p:spPr>
          <a:xfrm>
            <a:off x="11137755" y="3992049"/>
            <a:ext cx="411117" cy="411117"/>
          </a:xfrm>
          <a:prstGeom prst="ellipse">
            <a:avLst/>
          </a:prstGeom>
          <a:solidFill>
            <a:srgbClr val="E9762B"/>
          </a:solidFill>
          <a:ln w="28575">
            <a:solidFill>
              <a:srgbClr val="E9762B"/>
            </a:solidFill>
            <a:prstDash val="solid"/>
          </a:ln>
        </p:spPr>
      </p:sp>
      <p:sp>
        <p:nvSpPr>
          <p:cNvPr id="18" name="S05-label84"/>
          <p:cNvSpPr txBox="1"/>
          <p:nvPr/>
        </p:nvSpPr>
        <p:spPr>
          <a:xfrm>
            <a:off x="8327118" y="1922744"/>
            <a:ext cx="1304544" cy="381000"/>
          </a:xfrm>
          <a:prstGeom prst="rect">
            <a:avLst/>
          </a:prstGeom>
          <a:no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저장하기</a:t>
            </a:r>
            <a:endParaRPr lang="ko-KR" sz="2400" dirty="0"/>
          </a:p>
        </p:txBody>
      </p:sp>
      <p:sp>
        <p:nvSpPr>
          <p:cNvPr id="19" name="S05-label86"/>
          <p:cNvSpPr txBox="1"/>
          <p:nvPr/>
        </p:nvSpPr>
        <p:spPr>
          <a:xfrm>
            <a:off x="7088251" y="2332437"/>
            <a:ext cx="1128014" cy="301625"/>
          </a:xfrm>
          <a:prstGeom prst="rect">
            <a:avLst/>
          </a:prstGeom>
          <a:noFill/>
          <a:ln/>
        </p:spPr>
        <p:txBody>
          <a:bodyPr wrap="square" lIns="0" tIns="0" rIns="0" bIns="0" rtlCol="0" anchor="ctr"/>
          <a:lstStyle/>
          <a:p>
            <a:pPr eaLnBrk="0" algn="l" indent="0" marL="0">
              <a:buNone/>
            </a:pPr>
            <a:r>
              <a:rPr lang="ko-KR" altLang="en-US" sz="1900" b="1" dirty="0">
                <a:solidFill>
                  <a:srgbClr val="1F2937"/>
                </a:solidFill>
                <a:latin typeface="맑은 고딕" pitchFamily="34" charset="0"/>
                <a:ea typeface="맑은 고딕" pitchFamily="34" charset="-122"/>
                <a:cs typeface="맑은 고딕" pitchFamily="34" charset="-120"/>
              </a:rPr>
              <a:t>저장할 곳</a:t>
            </a:r>
            <a:endParaRPr lang="ko-KR" sz="1900" dirty="0"/>
          </a:p>
        </p:txBody>
      </p:sp>
      <p:sp>
        <p:nvSpPr>
          <p:cNvPr id="20" name="S05-label88"/>
          <p:cNvSpPr txBox="1"/>
          <p:nvPr/>
        </p:nvSpPr>
        <p:spPr>
          <a:xfrm>
            <a:off x="7372477" y="2751776"/>
            <a:ext cx="582676" cy="301625"/>
          </a:xfrm>
          <a:prstGeom prst="rect">
            <a:avLst/>
          </a:prstGeom>
          <a:noFill/>
          <a:ln/>
        </p:spPr>
        <p:txBody>
          <a:bodyPr wrap="square" lIns="0" tIns="0" rIns="0" bIns="0" rtlCol="0" anchor="ctr"/>
          <a:lstStyle/>
          <a:p>
            <a:pPr eaLnBrk="0" algn="ctr" indent="0" marL="0">
              <a:buNone/>
            </a:pPr>
            <a:r>
              <a:rPr lang="ko-KR" altLang="en-US" sz="1900" b="1" dirty="0">
                <a:solidFill>
                  <a:srgbClr val="1F2937"/>
                </a:solidFill>
                <a:latin typeface="맑은 고딕" pitchFamily="34" charset="0"/>
                <a:ea typeface="맑은 고딕" pitchFamily="34" charset="-122"/>
                <a:cs typeface="맑은 고딕" pitchFamily="34" charset="-120"/>
              </a:rPr>
              <a:t>그림</a:t>
            </a:r>
            <a:endParaRPr lang="ko-KR" sz="1900" dirty="0"/>
          </a:p>
        </p:txBody>
      </p:sp>
      <p:sp>
        <p:nvSpPr>
          <p:cNvPr id="21" name="S05-label90"/>
          <p:cNvSpPr txBox="1"/>
          <p:nvPr/>
        </p:nvSpPr>
        <p:spPr>
          <a:xfrm>
            <a:off x="8688052" y="2751776"/>
            <a:ext cx="582676" cy="301625"/>
          </a:xfrm>
          <a:prstGeom prst="rect">
            <a:avLst/>
          </a:prstGeom>
          <a:noFill/>
          <a:ln/>
        </p:spPr>
        <p:txBody>
          <a:bodyPr wrap="square" lIns="0" tIns="0" rIns="0" bIns="0" rtlCol="0" anchor="ctr"/>
          <a:lstStyle/>
          <a:p>
            <a:pPr eaLnBrk="0" algn="ctr" indent="0" marL="0">
              <a:buNone/>
            </a:pPr>
            <a:r>
              <a:rPr lang="ko-KR" altLang="en-US" sz="1900" b="1" dirty="0">
                <a:solidFill>
                  <a:srgbClr val="1F2937"/>
                </a:solidFill>
                <a:latin typeface="맑은 고딕" pitchFamily="34" charset="0"/>
                <a:ea typeface="맑은 고딕" pitchFamily="34" charset="-122"/>
                <a:cs typeface="맑은 고딕" pitchFamily="34" charset="-120"/>
              </a:rPr>
              <a:t>숙제</a:t>
            </a:r>
            <a:endParaRPr lang="ko-KR" sz="1900" dirty="0"/>
          </a:p>
        </p:txBody>
      </p:sp>
      <p:sp>
        <p:nvSpPr>
          <p:cNvPr id="22" name="S05-label92"/>
          <p:cNvSpPr txBox="1"/>
          <p:nvPr/>
        </p:nvSpPr>
        <p:spPr>
          <a:xfrm>
            <a:off x="10003627" y="2751776"/>
            <a:ext cx="582676" cy="301625"/>
          </a:xfrm>
          <a:prstGeom prst="rect">
            <a:avLst/>
          </a:prstGeom>
          <a:noFill/>
          <a:ln/>
        </p:spPr>
        <p:txBody>
          <a:bodyPr wrap="square" lIns="0" tIns="0" rIns="0" bIns="0" rtlCol="0" anchor="ctr"/>
          <a:lstStyle/>
          <a:p>
            <a:pPr eaLnBrk="0" algn="ctr" indent="0" marL="0">
              <a:buNone/>
            </a:pPr>
            <a:r>
              <a:rPr lang="ko-KR" altLang="en-US" sz="1900" b="1" dirty="0">
                <a:solidFill>
                  <a:srgbClr val="1F2937"/>
                </a:solidFill>
                <a:latin typeface="맑은 고딕" pitchFamily="34" charset="0"/>
                <a:ea typeface="맑은 고딕" pitchFamily="34" charset="-122"/>
                <a:cs typeface="맑은 고딕" pitchFamily="34" charset="-120"/>
              </a:rPr>
              <a:t>사진</a:t>
            </a:r>
            <a:endParaRPr lang="ko-KR" sz="1900" dirty="0"/>
          </a:p>
        </p:txBody>
      </p:sp>
      <p:sp>
        <p:nvSpPr>
          <p:cNvPr id="23" name="S05-label94"/>
          <p:cNvSpPr txBox="1"/>
          <p:nvPr/>
        </p:nvSpPr>
        <p:spPr>
          <a:xfrm>
            <a:off x="7088251" y="3154671"/>
            <a:ext cx="1128014" cy="301625"/>
          </a:xfrm>
          <a:prstGeom prst="rect">
            <a:avLst/>
          </a:prstGeom>
          <a:noFill/>
          <a:ln/>
        </p:spPr>
        <p:txBody>
          <a:bodyPr wrap="square" lIns="0" tIns="0" rIns="0" bIns="0" rtlCol="0" anchor="ctr"/>
          <a:lstStyle/>
          <a:p>
            <a:pPr eaLnBrk="0" algn="l" indent="0" marL="0">
              <a:buNone/>
            </a:pPr>
            <a:r>
              <a:rPr lang="ko-KR" altLang="en-US" sz="1900" b="1" dirty="0">
                <a:solidFill>
                  <a:srgbClr val="1F2937"/>
                </a:solidFill>
                <a:latin typeface="맑은 고딕" pitchFamily="34" charset="0"/>
                <a:ea typeface="맑은 고딕" pitchFamily="34" charset="-122"/>
                <a:cs typeface="맑은 고딕" pitchFamily="34" charset="-120"/>
              </a:rPr>
              <a:t>파일 이름</a:t>
            </a:r>
            <a:endParaRPr lang="ko-KR" sz="1900" dirty="0"/>
          </a:p>
        </p:txBody>
      </p:sp>
      <p:sp>
        <p:nvSpPr>
          <p:cNvPr id="24" name="S05-label96"/>
          <p:cNvSpPr txBox="1"/>
          <p:nvPr/>
        </p:nvSpPr>
        <p:spPr>
          <a:xfrm>
            <a:off x="8934722" y="4046795"/>
            <a:ext cx="582676" cy="301625"/>
          </a:xfrm>
          <a:prstGeom prst="rect">
            <a:avLst/>
          </a:prstGeom>
          <a:noFill/>
          <a:ln/>
        </p:spPr>
        <p:txBody>
          <a:bodyPr wrap="square" lIns="0" tIns="0" rIns="0" bIns="0" rtlCol="0" anchor="ctr"/>
          <a:lstStyle/>
          <a:p>
            <a:pPr eaLnBrk="0" algn="ctr" indent="0" marL="0">
              <a:buNone/>
            </a:pPr>
            <a:r>
              <a:rPr lang="ko-KR" altLang="en-US" sz="1900" b="1" dirty="0">
                <a:solidFill>
                  <a:srgbClr val="FFFFFF"/>
                </a:solidFill>
                <a:latin typeface="맑은 고딕" pitchFamily="34" charset="0"/>
                <a:ea typeface="맑은 고딕" pitchFamily="34" charset="-122"/>
                <a:cs typeface="맑은 고딕" pitchFamily="34" charset="-120"/>
              </a:rPr>
              <a:t>저장</a:t>
            </a:r>
            <a:endParaRPr lang="ko-KR" sz="1900" dirty="0"/>
          </a:p>
        </p:txBody>
      </p:sp>
      <p:sp>
        <p:nvSpPr>
          <p:cNvPr id="25" name="S05-label98"/>
          <p:cNvSpPr txBox="1"/>
          <p:nvPr/>
        </p:nvSpPr>
        <p:spPr>
          <a:xfrm>
            <a:off x="10085850" y="4046795"/>
            <a:ext cx="582676" cy="301625"/>
          </a:xfrm>
          <a:prstGeom prst="rect">
            <a:avLst/>
          </a:prstGeom>
          <a:noFill/>
          <a:ln/>
        </p:spPr>
        <p:txBody>
          <a:bodyPr wrap="square" lIns="0" tIns="0" rIns="0" bIns="0" rtlCol="0" anchor="ctr"/>
          <a:lstStyle/>
          <a:p>
            <a:pPr eaLnBrk="0" algn="ctr" indent="0" marL="0">
              <a:buNone/>
            </a:pPr>
            <a:r>
              <a:rPr lang="ko-KR" altLang="en-US" sz="1900" b="1" dirty="0">
                <a:solidFill>
                  <a:srgbClr val="1F2937"/>
                </a:solidFill>
                <a:latin typeface="맑은 고딕" pitchFamily="34" charset="0"/>
                <a:ea typeface="맑은 고딕" pitchFamily="34" charset="-122"/>
                <a:cs typeface="맑은 고딕" pitchFamily="34" charset="-120"/>
              </a:rPr>
              <a:t>취소</a:t>
            </a:r>
            <a:endParaRPr lang="ko-KR" sz="1900" dirty="0"/>
          </a:p>
        </p:txBody>
      </p:sp>
      <p:sp>
        <p:nvSpPr>
          <p:cNvPr id="26" name="S05-label100"/>
          <p:cNvSpPr txBox="1"/>
          <p:nvPr/>
        </p:nvSpPr>
        <p:spPr>
          <a:xfrm>
            <a:off x="6370139" y="268331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가</a:t>
            </a:r>
            <a:endParaRPr lang="ko-KR" sz="2400" dirty="0"/>
          </a:p>
        </p:txBody>
      </p:sp>
      <p:sp>
        <p:nvSpPr>
          <p:cNvPr id="27" name="S05-label102"/>
          <p:cNvSpPr txBox="1"/>
          <p:nvPr/>
        </p:nvSpPr>
        <p:spPr>
          <a:xfrm>
            <a:off x="6370139" y="3443877"/>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나</a:t>
            </a:r>
            <a:endParaRPr lang="ko-KR" sz="2400" dirty="0"/>
          </a:p>
        </p:txBody>
      </p:sp>
      <p:sp>
        <p:nvSpPr>
          <p:cNvPr id="28" name="S05-label104"/>
          <p:cNvSpPr txBox="1"/>
          <p:nvPr/>
        </p:nvSpPr>
        <p:spPr>
          <a:xfrm>
            <a:off x="8261277" y="4007108"/>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다</a:t>
            </a:r>
            <a:endParaRPr lang="ko-KR" sz="2400" dirty="0"/>
          </a:p>
        </p:txBody>
      </p:sp>
      <p:sp>
        <p:nvSpPr>
          <p:cNvPr id="29" name="S05-label106"/>
          <p:cNvSpPr txBox="1"/>
          <p:nvPr/>
        </p:nvSpPr>
        <p:spPr>
          <a:xfrm>
            <a:off x="11139097" y="4007108"/>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라</a:t>
            </a:r>
            <a:endParaRPr lang="ko-KR" sz="2400" dirty="0"/>
          </a:p>
        </p:txBody>
      </p:sp>
      <p:sp>
        <p:nvSpPr>
          <p:cNvPr id="30" name="S05-chip107"/>
          <p:cNvSpPr txBox="1"/>
          <p:nvPr/>
        </p:nvSpPr>
        <p:spPr>
          <a:xfrm>
            <a:off x="548640" y="16139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31" name="S05-text108"/>
          <p:cNvSpPr txBox="1"/>
          <p:nvPr/>
        </p:nvSpPr>
        <p:spPr>
          <a:xfrm>
            <a:off x="1344168" y="1325880"/>
            <a:ext cx="4567428" cy="11430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파일 이름을 쓰는 곳은?</a:t>
            </a:r>
            <a:endParaRPr lang="ko-KR" sz="3000" dirty="0"/>
          </a:p>
        </p:txBody>
      </p:sp>
      <p:sp>
        <p:nvSpPr>
          <p:cNvPr id="32" name="S05-chip109"/>
          <p:cNvSpPr txBox="1"/>
          <p:nvPr/>
        </p:nvSpPr>
        <p:spPr>
          <a:xfrm>
            <a:off x="548640" y="29397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33" name="S05-text110"/>
          <p:cNvSpPr txBox="1"/>
          <p:nvPr/>
        </p:nvSpPr>
        <p:spPr>
          <a:xfrm>
            <a:off x="1344168" y="2651760"/>
            <a:ext cx="4567428" cy="11430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저장할 폴더를 고르는 곳은?</a:t>
            </a:r>
            <a:endParaRPr lang="ko-KR" sz="3000" dirty="0"/>
          </a:p>
        </p:txBody>
      </p:sp>
      <p:sp>
        <p:nvSpPr>
          <p:cNvPr id="34" name="S05-chip111"/>
          <p:cNvSpPr txBox="1"/>
          <p:nvPr/>
        </p:nvSpPr>
        <p:spPr>
          <a:xfrm>
            <a:off x="548640" y="42656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35" name="S05-text112"/>
          <p:cNvSpPr txBox="1"/>
          <p:nvPr/>
        </p:nvSpPr>
        <p:spPr>
          <a:xfrm>
            <a:off x="1344168" y="3977640"/>
            <a:ext cx="4567428" cy="11430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마지막에 누르는 곳은?</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파일을 여는 순서</a:t>
            </a:r>
            <a:endParaRPr lang="ko-KR" sz="4000" dirty="0"/>
          </a:p>
        </p:txBody>
      </p:sp>
      <p:sp>
        <p:nvSpPr>
          <p:cNvPr id="3" name="S06-card113"/>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6-cardtext11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이름을 잘 지어 두면 찾기 쉬워요.</a:t>
            </a:r>
            <a:endParaRPr lang="ko-KR" sz="3000" dirty="0"/>
          </a:p>
        </p:txBody>
      </p:sp>
      <p:sp>
        <p:nvSpPr>
          <p:cNvPr id="5" name="S06-figure115" descr="그려 놓은 열기 창. 왼쪽에 폴더 목록(그림·숙제·사진)이 있고 ‘숙제’가 골라져 있다. 오른쪽에 숙제 폴더 안의 파일(받아쓰기 연습, 개미 관찰 기록)이 보이며, 아래에 초록색 ‘열기’ 단추가 있다."/>
          <p:cNvSpPr/>
          <p:nvPr/>
        </p:nvSpPr>
        <p:spPr>
          <a:xfrm>
            <a:off x="7023186" y="1417320"/>
            <a:ext cx="4514850" cy="3611880"/>
          </a:xfrm>
          <a:custGeom>
            <a:avLst/>
            <a:gdLst/>
            <a:ahLst/>
            <a:cxnLst/>
            <a:rect l="l" t="t" r="r" b="b"/>
            <a:pathLst>
              <a:path w="4514850" h="3611880">
                <a:moveTo>
                  <a:pt x="0" y="3611880"/>
                </a:moveTo>
                <a:lnTo>
                  <a:pt x="4514850" y="3611880"/>
                </a:lnTo>
                <a:lnTo>
                  <a:pt x="4514850" y="0"/>
                </a:lnTo>
                <a:lnTo>
                  <a:pt x="0" y="0"/>
                </a:lnTo>
                <a:close/>
              </a:path>
            </a:pathLst>
          </a:custGeom>
          <a:solidFill>
            <a:srgbClr val="FFFFFF"/>
          </a:solidFill>
          <a:ln w="28575">
            <a:solidFill>
              <a:srgbClr val="1F2937"/>
            </a:solidFill>
            <a:prstDash val="solid"/>
          </a:ln>
        </p:spPr>
      </p:sp>
      <p:sp>
        <p:nvSpPr>
          <p:cNvPr id="6" name="S06-mark116"/>
          <p:cNvSpPr/>
          <p:nvPr/>
        </p:nvSpPr>
        <p:spPr>
          <a:xfrm>
            <a:off x="7023186" y="1417320"/>
            <a:ext cx="4514850" cy="451485"/>
          </a:xfrm>
          <a:custGeom>
            <a:avLst/>
            <a:gdLst/>
            <a:ahLst/>
            <a:cxnLst/>
            <a:rect l="l" t="t" r="r" b="b"/>
            <a:pathLst>
              <a:path w="4514850" h="451485">
                <a:moveTo>
                  <a:pt x="0" y="451485"/>
                </a:moveTo>
                <a:lnTo>
                  <a:pt x="4514850" y="451485"/>
                </a:lnTo>
                <a:lnTo>
                  <a:pt x="4514850" y="0"/>
                </a:lnTo>
                <a:lnTo>
                  <a:pt x="0" y="0"/>
                </a:lnTo>
                <a:close/>
              </a:path>
            </a:pathLst>
          </a:custGeom>
          <a:solidFill>
            <a:srgbClr val="3D5A80"/>
          </a:solidFill>
          <a:ln w="28575">
            <a:solidFill>
              <a:srgbClr val="1F2937"/>
            </a:solidFill>
            <a:prstDash val="solid"/>
          </a:ln>
        </p:spPr>
      </p:sp>
      <p:sp>
        <p:nvSpPr>
          <p:cNvPr id="7" name="S06-mark117"/>
          <p:cNvSpPr/>
          <p:nvPr/>
        </p:nvSpPr>
        <p:spPr>
          <a:xfrm>
            <a:off x="7136058" y="2749201"/>
            <a:ext cx="1399604" cy="519208"/>
          </a:xfrm>
          <a:custGeom>
            <a:avLst/>
            <a:gdLst/>
            <a:ahLst/>
            <a:cxnLst/>
            <a:rect l="l" t="t" r="r" b="b"/>
            <a:pathLst>
              <a:path w="1399604" h="519208">
                <a:moveTo>
                  <a:pt x="0" y="519208"/>
                </a:moveTo>
                <a:lnTo>
                  <a:pt x="1399604" y="519208"/>
                </a:lnTo>
                <a:lnTo>
                  <a:pt x="1399604" y="0"/>
                </a:lnTo>
                <a:lnTo>
                  <a:pt x="0" y="0"/>
                </a:lnTo>
                <a:close/>
              </a:path>
            </a:pathLst>
          </a:custGeom>
          <a:solidFill>
            <a:srgbClr val="FDEBDD"/>
          </a:solidFill>
          <a:ln/>
        </p:spPr>
      </p:sp>
      <p:sp>
        <p:nvSpPr>
          <p:cNvPr id="8" name="S06-mark118"/>
          <p:cNvSpPr/>
          <p:nvPr/>
        </p:nvSpPr>
        <p:spPr>
          <a:xfrm>
            <a:off x="8693681" y="2004250"/>
            <a:ext cx="2708910" cy="2212276"/>
          </a:xfrm>
          <a:custGeom>
            <a:avLst/>
            <a:gdLst/>
            <a:ahLst/>
            <a:cxnLst/>
            <a:rect l="l" t="t" r="r" b="b"/>
            <a:pathLst>
              <a:path w="2708910" h="2212276">
                <a:moveTo>
                  <a:pt x="0" y="2212276"/>
                </a:moveTo>
                <a:lnTo>
                  <a:pt x="2708910" y="2212276"/>
                </a:lnTo>
                <a:lnTo>
                  <a:pt x="2708910" y="0"/>
                </a:lnTo>
                <a:lnTo>
                  <a:pt x="0" y="0"/>
                </a:lnTo>
                <a:close/>
              </a:path>
            </a:pathLst>
          </a:custGeom>
          <a:solidFill>
            <a:srgbClr val="FFFFFF"/>
          </a:solidFill>
          <a:ln w="28575">
            <a:solidFill>
              <a:srgbClr val="94A3B8"/>
            </a:solidFill>
            <a:prstDash val="solid"/>
          </a:ln>
        </p:spPr>
      </p:sp>
      <p:sp>
        <p:nvSpPr>
          <p:cNvPr id="9" name="S06-mark119"/>
          <p:cNvSpPr/>
          <p:nvPr/>
        </p:nvSpPr>
        <p:spPr>
          <a:xfrm>
            <a:off x="7203780" y="2294104"/>
            <a:ext cx="406337" cy="319651"/>
          </a:xfrm>
          <a:custGeom>
            <a:avLst/>
            <a:gdLst/>
            <a:ahLst/>
            <a:cxnLst/>
            <a:rect l="l" t="t" r="r" b="b"/>
            <a:pathLst>
              <a:path w="406337" h="319651">
                <a:moveTo>
                  <a:pt x="0" y="319651"/>
                </a:moveTo>
                <a:lnTo>
                  <a:pt x="406337" y="319651"/>
                </a:lnTo>
                <a:lnTo>
                  <a:pt x="406337" y="48760"/>
                </a:lnTo>
                <a:lnTo>
                  <a:pt x="182851" y="48760"/>
                </a:lnTo>
                <a:lnTo>
                  <a:pt x="142218" y="0"/>
                </a:lnTo>
                <a:lnTo>
                  <a:pt x="0" y="0"/>
                </a:lnTo>
                <a:close/>
              </a:path>
            </a:pathLst>
          </a:custGeom>
          <a:solidFill>
            <a:srgbClr val="F7D774"/>
          </a:solidFill>
          <a:ln w="28575">
            <a:solidFill>
              <a:srgbClr val="B8962E"/>
            </a:solidFill>
            <a:prstDash val="solid"/>
          </a:ln>
        </p:spPr>
      </p:sp>
      <p:sp>
        <p:nvSpPr>
          <p:cNvPr id="10" name="S06-mark120"/>
          <p:cNvSpPr/>
          <p:nvPr/>
        </p:nvSpPr>
        <p:spPr>
          <a:xfrm>
            <a:off x="7203780" y="2858460"/>
            <a:ext cx="406337" cy="319651"/>
          </a:xfrm>
          <a:custGeom>
            <a:avLst/>
            <a:gdLst/>
            <a:ahLst/>
            <a:cxnLst/>
            <a:rect l="l" t="t" r="r" b="b"/>
            <a:pathLst>
              <a:path w="406337" h="319651">
                <a:moveTo>
                  <a:pt x="0" y="319651"/>
                </a:moveTo>
                <a:lnTo>
                  <a:pt x="406337" y="319651"/>
                </a:lnTo>
                <a:lnTo>
                  <a:pt x="406337" y="48760"/>
                </a:lnTo>
                <a:lnTo>
                  <a:pt x="182851" y="48760"/>
                </a:lnTo>
                <a:lnTo>
                  <a:pt x="142218" y="0"/>
                </a:lnTo>
                <a:lnTo>
                  <a:pt x="0" y="0"/>
                </a:lnTo>
                <a:close/>
              </a:path>
            </a:pathLst>
          </a:custGeom>
          <a:solidFill>
            <a:srgbClr val="F7D774"/>
          </a:solidFill>
          <a:ln w="28575">
            <a:solidFill>
              <a:srgbClr val="B8962E"/>
            </a:solidFill>
            <a:prstDash val="solid"/>
          </a:ln>
        </p:spPr>
      </p:sp>
      <p:sp>
        <p:nvSpPr>
          <p:cNvPr id="11" name="S06-mark121"/>
          <p:cNvSpPr/>
          <p:nvPr/>
        </p:nvSpPr>
        <p:spPr>
          <a:xfrm>
            <a:off x="7203780" y="3422816"/>
            <a:ext cx="406337" cy="319651"/>
          </a:xfrm>
          <a:custGeom>
            <a:avLst/>
            <a:gdLst/>
            <a:ahLst/>
            <a:cxnLst/>
            <a:rect l="l" t="t" r="r" b="b"/>
            <a:pathLst>
              <a:path w="406337" h="319651">
                <a:moveTo>
                  <a:pt x="0" y="319651"/>
                </a:moveTo>
                <a:lnTo>
                  <a:pt x="406337" y="319651"/>
                </a:lnTo>
                <a:lnTo>
                  <a:pt x="406337" y="48760"/>
                </a:lnTo>
                <a:lnTo>
                  <a:pt x="182851" y="48760"/>
                </a:lnTo>
                <a:lnTo>
                  <a:pt x="142218" y="0"/>
                </a:lnTo>
                <a:lnTo>
                  <a:pt x="0" y="0"/>
                </a:lnTo>
                <a:close/>
              </a:path>
            </a:pathLst>
          </a:custGeom>
          <a:solidFill>
            <a:srgbClr val="F7D774"/>
          </a:solidFill>
          <a:ln w="28575">
            <a:solidFill>
              <a:srgbClr val="B8962E"/>
            </a:solidFill>
            <a:prstDash val="solid"/>
          </a:ln>
        </p:spPr>
      </p:sp>
      <p:sp>
        <p:nvSpPr>
          <p:cNvPr id="12" name="S06-mark122"/>
          <p:cNvSpPr/>
          <p:nvPr/>
        </p:nvSpPr>
        <p:spPr>
          <a:xfrm>
            <a:off x="8851701" y="2243538"/>
            <a:ext cx="270891" cy="379247"/>
          </a:xfrm>
          <a:custGeom>
            <a:avLst/>
            <a:gdLst/>
            <a:ahLst/>
            <a:cxnLst/>
            <a:rect l="l" t="t" r="r" b="b"/>
            <a:pathLst>
              <a:path w="270891" h="379247">
                <a:moveTo>
                  <a:pt x="0" y="379247"/>
                </a:moveTo>
                <a:lnTo>
                  <a:pt x="270891" y="379247"/>
                </a:lnTo>
                <a:lnTo>
                  <a:pt x="270891" y="94812"/>
                </a:lnTo>
                <a:lnTo>
                  <a:pt x="176079" y="0"/>
                </a:lnTo>
                <a:lnTo>
                  <a:pt x="0" y="0"/>
                </a:lnTo>
                <a:close/>
              </a:path>
            </a:pathLst>
          </a:custGeom>
          <a:solidFill>
            <a:srgbClr val="FFFFFF"/>
          </a:solidFill>
          <a:ln w="28575">
            <a:solidFill>
              <a:srgbClr val="3D5A80"/>
            </a:solidFill>
            <a:prstDash val="solid"/>
          </a:ln>
        </p:spPr>
      </p:sp>
      <p:sp>
        <p:nvSpPr>
          <p:cNvPr id="13" name="S06-mark123"/>
          <p:cNvSpPr/>
          <p:nvPr/>
        </p:nvSpPr>
        <p:spPr>
          <a:xfrm>
            <a:off x="8761404" y="2749201"/>
            <a:ext cx="2573465" cy="496633"/>
          </a:xfrm>
          <a:custGeom>
            <a:avLst/>
            <a:gdLst/>
            <a:ahLst/>
            <a:cxnLst/>
            <a:rect l="l" t="t" r="r" b="b"/>
            <a:pathLst>
              <a:path w="2573465" h="496633">
                <a:moveTo>
                  <a:pt x="0" y="496633"/>
                </a:moveTo>
                <a:lnTo>
                  <a:pt x="2573465" y="496633"/>
                </a:lnTo>
                <a:lnTo>
                  <a:pt x="2573465" y="0"/>
                </a:lnTo>
                <a:lnTo>
                  <a:pt x="0" y="0"/>
                </a:lnTo>
                <a:close/>
              </a:path>
            </a:pathLst>
          </a:custGeom>
          <a:solidFill>
            <a:srgbClr val="FDEBDD"/>
          </a:solidFill>
          <a:ln/>
        </p:spPr>
      </p:sp>
      <p:sp>
        <p:nvSpPr>
          <p:cNvPr id="14" name="S06-mark124"/>
          <p:cNvSpPr/>
          <p:nvPr/>
        </p:nvSpPr>
        <p:spPr>
          <a:xfrm>
            <a:off x="8851701" y="2807894"/>
            <a:ext cx="270891" cy="379247"/>
          </a:xfrm>
          <a:custGeom>
            <a:avLst/>
            <a:gdLst/>
            <a:ahLst/>
            <a:cxnLst/>
            <a:rect l="l" t="t" r="r" b="b"/>
            <a:pathLst>
              <a:path w="270891" h="379247">
                <a:moveTo>
                  <a:pt x="0" y="379247"/>
                </a:moveTo>
                <a:lnTo>
                  <a:pt x="270891" y="379247"/>
                </a:lnTo>
                <a:lnTo>
                  <a:pt x="270891" y="94812"/>
                </a:lnTo>
                <a:lnTo>
                  <a:pt x="176079" y="0"/>
                </a:lnTo>
                <a:lnTo>
                  <a:pt x="0" y="0"/>
                </a:lnTo>
                <a:close/>
              </a:path>
            </a:pathLst>
          </a:custGeom>
          <a:solidFill>
            <a:srgbClr val="FFFFFF"/>
          </a:solidFill>
          <a:ln w="28575">
            <a:solidFill>
              <a:srgbClr val="3D5A80"/>
            </a:solidFill>
            <a:prstDash val="solid"/>
          </a:ln>
        </p:spPr>
      </p:sp>
      <p:sp>
        <p:nvSpPr>
          <p:cNvPr id="15" name="S06-mark125"/>
          <p:cNvSpPr/>
          <p:nvPr/>
        </p:nvSpPr>
        <p:spPr>
          <a:xfrm>
            <a:off x="10273878" y="4397121"/>
            <a:ext cx="1083564" cy="451485"/>
          </a:xfrm>
          <a:custGeom>
            <a:avLst/>
            <a:gdLst/>
            <a:ahLst/>
            <a:cxnLst/>
            <a:rect l="l" t="t" r="r" b="b"/>
            <a:pathLst>
              <a:path w="1083564" h="451485">
                <a:moveTo>
                  <a:pt x="0" y="451485"/>
                </a:moveTo>
                <a:lnTo>
                  <a:pt x="1083564" y="451485"/>
                </a:lnTo>
                <a:lnTo>
                  <a:pt x="1083564" y="0"/>
                </a:lnTo>
                <a:lnTo>
                  <a:pt x="0" y="0"/>
                </a:lnTo>
                <a:close/>
              </a:path>
            </a:pathLst>
          </a:custGeom>
          <a:solidFill>
            <a:srgbClr val="2A9D8F"/>
          </a:solidFill>
          <a:ln/>
        </p:spPr>
      </p:sp>
      <p:sp>
        <p:nvSpPr>
          <p:cNvPr id="16" name="S06-label127"/>
          <p:cNvSpPr txBox="1"/>
          <p:nvPr/>
        </p:nvSpPr>
        <p:spPr>
          <a:xfrm>
            <a:off x="8927043" y="1452563"/>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열기</a:t>
            </a:r>
            <a:endParaRPr lang="ko-KR" sz="2400" dirty="0"/>
          </a:p>
        </p:txBody>
      </p:sp>
      <p:sp>
        <p:nvSpPr>
          <p:cNvPr id="17" name="S06-label129"/>
          <p:cNvSpPr txBox="1"/>
          <p:nvPr/>
        </p:nvSpPr>
        <p:spPr>
          <a:xfrm>
            <a:off x="7722988" y="2304923"/>
            <a:ext cx="582676" cy="301625"/>
          </a:xfrm>
          <a:prstGeom prst="rect">
            <a:avLst/>
          </a:prstGeom>
          <a:noFill/>
          <a:ln/>
        </p:spPr>
        <p:txBody>
          <a:bodyPr wrap="square" lIns="0" tIns="0" rIns="0" bIns="0" rtlCol="0" anchor="ctr"/>
          <a:lstStyle/>
          <a:p>
            <a:pPr eaLnBrk="0" algn="l" indent="0" marL="0">
              <a:buNone/>
            </a:pPr>
            <a:r>
              <a:rPr lang="ko-KR" altLang="en-US" sz="1900" b="1" dirty="0">
                <a:solidFill>
                  <a:srgbClr val="1F2937"/>
                </a:solidFill>
                <a:latin typeface="맑은 고딕" pitchFamily="34" charset="0"/>
                <a:ea typeface="맑은 고딕" pitchFamily="34" charset="-122"/>
                <a:cs typeface="맑은 고딕" pitchFamily="34" charset="-120"/>
              </a:rPr>
              <a:t>그림</a:t>
            </a:r>
            <a:endParaRPr lang="ko-KR" sz="1900" dirty="0"/>
          </a:p>
        </p:txBody>
      </p:sp>
      <p:sp>
        <p:nvSpPr>
          <p:cNvPr id="18" name="S06-label131"/>
          <p:cNvSpPr txBox="1"/>
          <p:nvPr/>
        </p:nvSpPr>
        <p:spPr>
          <a:xfrm>
            <a:off x="7722988" y="2869279"/>
            <a:ext cx="582676" cy="301625"/>
          </a:xfrm>
          <a:prstGeom prst="rect">
            <a:avLst/>
          </a:prstGeom>
          <a:noFill/>
          <a:ln/>
        </p:spPr>
        <p:txBody>
          <a:bodyPr wrap="square" lIns="0" tIns="0" rIns="0" bIns="0" rtlCol="0" anchor="ctr"/>
          <a:lstStyle/>
          <a:p>
            <a:pPr eaLnBrk="0" algn="l" indent="0" marL="0">
              <a:buNone/>
            </a:pPr>
            <a:r>
              <a:rPr lang="ko-KR" altLang="en-US" sz="1900" b="1" dirty="0">
                <a:solidFill>
                  <a:srgbClr val="1F2937"/>
                </a:solidFill>
                <a:latin typeface="맑은 고딕" pitchFamily="34" charset="0"/>
                <a:ea typeface="맑은 고딕" pitchFamily="34" charset="-122"/>
                <a:cs typeface="맑은 고딕" pitchFamily="34" charset="-120"/>
              </a:rPr>
              <a:t>숙제</a:t>
            </a:r>
            <a:endParaRPr lang="ko-KR" sz="1900" dirty="0"/>
          </a:p>
        </p:txBody>
      </p:sp>
      <p:sp>
        <p:nvSpPr>
          <p:cNvPr id="19" name="S06-label133"/>
          <p:cNvSpPr txBox="1"/>
          <p:nvPr/>
        </p:nvSpPr>
        <p:spPr>
          <a:xfrm>
            <a:off x="7722988" y="3433635"/>
            <a:ext cx="582676" cy="301625"/>
          </a:xfrm>
          <a:prstGeom prst="rect">
            <a:avLst/>
          </a:prstGeom>
          <a:noFill/>
          <a:ln/>
        </p:spPr>
        <p:txBody>
          <a:bodyPr wrap="square" lIns="0" tIns="0" rIns="0" bIns="0" rtlCol="0" anchor="ctr"/>
          <a:lstStyle/>
          <a:p>
            <a:pPr eaLnBrk="0" algn="l" indent="0" marL="0">
              <a:buNone/>
            </a:pPr>
            <a:r>
              <a:rPr lang="ko-KR" altLang="en-US" sz="1900" b="1" dirty="0">
                <a:solidFill>
                  <a:srgbClr val="1F2937"/>
                </a:solidFill>
                <a:latin typeface="맑은 고딕" pitchFamily="34" charset="0"/>
                <a:ea typeface="맑은 고딕" pitchFamily="34" charset="-122"/>
                <a:cs typeface="맑은 고딕" pitchFamily="34" charset="-120"/>
              </a:rPr>
              <a:t>사진</a:t>
            </a:r>
            <a:endParaRPr lang="ko-KR" sz="1900" dirty="0"/>
          </a:p>
        </p:txBody>
      </p:sp>
      <p:sp>
        <p:nvSpPr>
          <p:cNvPr id="20" name="S06-label135"/>
          <p:cNvSpPr txBox="1"/>
          <p:nvPr/>
        </p:nvSpPr>
        <p:spPr>
          <a:xfrm>
            <a:off x="9235463" y="2282349"/>
            <a:ext cx="1600962" cy="301625"/>
          </a:xfrm>
          <a:prstGeom prst="rect">
            <a:avLst/>
          </a:prstGeom>
          <a:noFill/>
          <a:ln/>
        </p:spPr>
        <p:txBody>
          <a:bodyPr wrap="square" lIns="0" tIns="0" rIns="0" bIns="0" rtlCol="0" anchor="ctr"/>
          <a:lstStyle/>
          <a:p>
            <a:pPr eaLnBrk="0" algn="l" indent="0" marL="0">
              <a:buNone/>
            </a:pPr>
            <a:r>
              <a:rPr lang="ko-KR" altLang="en-US" sz="1900" b="1" dirty="0">
                <a:solidFill>
                  <a:srgbClr val="1F2937"/>
                </a:solidFill>
                <a:latin typeface="맑은 고딕" pitchFamily="34" charset="0"/>
                <a:ea typeface="맑은 고딕" pitchFamily="34" charset="-122"/>
                <a:cs typeface="맑은 고딕" pitchFamily="34" charset="-120"/>
              </a:rPr>
              <a:t>받아쓰기 연습</a:t>
            </a:r>
            <a:endParaRPr lang="ko-KR" sz="1900" dirty="0"/>
          </a:p>
        </p:txBody>
      </p:sp>
      <p:sp>
        <p:nvSpPr>
          <p:cNvPr id="21" name="S06-label137"/>
          <p:cNvSpPr txBox="1"/>
          <p:nvPr/>
        </p:nvSpPr>
        <p:spPr>
          <a:xfrm>
            <a:off x="9235463" y="2846705"/>
            <a:ext cx="1673352" cy="301625"/>
          </a:xfrm>
          <a:prstGeom prst="rect">
            <a:avLst/>
          </a:prstGeom>
          <a:noFill/>
          <a:ln/>
        </p:spPr>
        <p:txBody>
          <a:bodyPr wrap="square" lIns="0" tIns="0" rIns="0" bIns="0" rtlCol="0" anchor="ctr"/>
          <a:lstStyle/>
          <a:p>
            <a:pPr eaLnBrk="0" algn="l" indent="0" marL="0">
              <a:buNone/>
            </a:pPr>
            <a:r>
              <a:rPr lang="ko-KR" altLang="en-US" sz="1900" b="1" dirty="0">
                <a:solidFill>
                  <a:srgbClr val="1F2937"/>
                </a:solidFill>
                <a:latin typeface="맑은 고딕" pitchFamily="34" charset="0"/>
                <a:ea typeface="맑은 고딕" pitchFamily="34" charset="-122"/>
                <a:cs typeface="맑은 고딕" pitchFamily="34" charset="-120"/>
              </a:rPr>
              <a:t>개미 관찰 기록</a:t>
            </a:r>
            <a:endParaRPr lang="ko-KR" sz="1900" dirty="0"/>
          </a:p>
        </p:txBody>
      </p:sp>
      <p:sp>
        <p:nvSpPr>
          <p:cNvPr id="22" name="S06-label139"/>
          <p:cNvSpPr txBox="1"/>
          <p:nvPr/>
        </p:nvSpPr>
        <p:spPr>
          <a:xfrm>
            <a:off x="10524322" y="4472051"/>
            <a:ext cx="582676" cy="301625"/>
          </a:xfrm>
          <a:prstGeom prst="rect">
            <a:avLst/>
          </a:prstGeom>
          <a:noFill/>
          <a:ln/>
        </p:spPr>
        <p:txBody>
          <a:bodyPr wrap="square" lIns="0" tIns="0" rIns="0" bIns="0" rtlCol="0" anchor="ctr"/>
          <a:lstStyle/>
          <a:p>
            <a:pPr eaLnBrk="0" algn="ctr" indent="0" marL="0">
              <a:buNone/>
            </a:pPr>
            <a:r>
              <a:rPr lang="ko-KR" altLang="en-US" sz="1900" b="1" dirty="0">
                <a:solidFill>
                  <a:srgbClr val="FFFFFF"/>
                </a:solidFill>
                <a:latin typeface="맑은 고딕" pitchFamily="34" charset="0"/>
                <a:ea typeface="맑은 고딕" pitchFamily="34" charset="-122"/>
                <a:cs typeface="맑은 고딕" pitchFamily="34" charset="-120"/>
              </a:rPr>
              <a:t>열기</a:t>
            </a:r>
            <a:endParaRPr lang="ko-KR" sz="1900" dirty="0"/>
          </a:p>
        </p:txBody>
      </p:sp>
      <p:sp>
        <p:nvSpPr>
          <p:cNvPr id="23" name="S06-stepno140"/>
          <p:cNvSpPr txBox="1"/>
          <p:nvPr/>
        </p:nvSpPr>
        <p:spPr>
          <a:xfrm>
            <a:off x="548640" y="1879092"/>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1</a:t>
            </a:r>
            <a:endParaRPr lang="ko-KR" sz="2400" dirty="0"/>
          </a:p>
        </p:txBody>
      </p:sp>
      <p:sp>
        <p:nvSpPr>
          <p:cNvPr id="24" name="S06-text141"/>
          <p:cNvSpPr txBox="1"/>
          <p:nvPr/>
        </p:nvSpPr>
        <p:spPr>
          <a:xfrm>
            <a:off x="1325880" y="1879092"/>
            <a:ext cx="5229271"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열기 메뉴나 파일 앱을 열어요.</a:t>
            </a:r>
            <a:endParaRPr lang="ko-KR" sz="3000" dirty="0"/>
          </a:p>
        </p:txBody>
      </p:sp>
      <p:sp>
        <p:nvSpPr>
          <p:cNvPr id="25" name="S06-stepno142"/>
          <p:cNvSpPr txBox="1"/>
          <p:nvPr/>
        </p:nvSpPr>
        <p:spPr>
          <a:xfrm>
            <a:off x="548640" y="2592324"/>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2</a:t>
            </a:r>
            <a:endParaRPr lang="ko-KR" sz="2400" dirty="0"/>
          </a:p>
        </p:txBody>
      </p:sp>
      <p:sp>
        <p:nvSpPr>
          <p:cNvPr id="26" name="S06-text143"/>
          <p:cNvSpPr txBox="1"/>
          <p:nvPr/>
        </p:nvSpPr>
        <p:spPr>
          <a:xfrm>
            <a:off x="1325880" y="2592324"/>
            <a:ext cx="5229271"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폴더를 찾아 열어요.</a:t>
            </a:r>
            <a:endParaRPr lang="ko-KR" sz="3000" dirty="0"/>
          </a:p>
        </p:txBody>
      </p:sp>
      <p:sp>
        <p:nvSpPr>
          <p:cNvPr id="27" name="S06-stepno144"/>
          <p:cNvSpPr txBox="1"/>
          <p:nvPr/>
        </p:nvSpPr>
        <p:spPr>
          <a:xfrm>
            <a:off x="548640" y="3305556"/>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3</a:t>
            </a:r>
            <a:endParaRPr lang="ko-KR" sz="2400" dirty="0"/>
          </a:p>
        </p:txBody>
      </p:sp>
      <p:sp>
        <p:nvSpPr>
          <p:cNvPr id="28" name="S06-text145"/>
          <p:cNvSpPr txBox="1"/>
          <p:nvPr/>
        </p:nvSpPr>
        <p:spPr>
          <a:xfrm>
            <a:off x="1325880" y="3305556"/>
            <a:ext cx="5229271"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이름을 보고 파일을 골라요.</a:t>
            </a:r>
            <a:endParaRPr lang="ko-KR" sz="3000" dirty="0"/>
          </a:p>
        </p:txBody>
      </p:sp>
      <p:sp>
        <p:nvSpPr>
          <p:cNvPr id="29" name="S06-stepno146"/>
          <p:cNvSpPr txBox="1"/>
          <p:nvPr/>
        </p:nvSpPr>
        <p:spPr>
          <a:xfrm>
            <a:off x="548640" y="401878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4</a:t>
            </a:r>
            <a:endParaRPr lang="ko-KR" sz="2400" dirty="0"/>
          </a:p>
        </p:txBody>
      </p:sp>
      <p:sp>
        <p:nvSpPr>
          <p:cNvPr id="30" name="S06-text147"/>
          <p:cNvSpPr txBox="1"/>
          <p:nvPr/>
        </p:nvSpPr>
        <p:spPr>
          <a:xfrm>
            <a:off x="1325880" y="4018788"/>
            <a:ext cx="5229271"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‘열기’를 눌러요.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어느 이름이 찾기 쉬울까요?</a:t>
            </a:r>
            <a:endParaRPr lang="ko-KR" sz="4000" dirty="0"/>
          </a:p>
        </p:txBody>
      </p:sp>
      <p:sp>
        <p:nvSpPr>
          <p:cNvPr id="3" name="S07-card148"/>
          <p:cNvSpPr/>
          <p:nvPr/>
        </p:nvSpPr>
        <p:spPr>
          <a:xfrm>
            <a:off x="548640" y="1325880"/>
            <a:ext cx="11091672" cy="868680"/>
          </a:xfrm>
          <a:prstGeom prst="roundRect">
            <a:avLst>
              <a:gd name="adj" fmla="val 12632"/>
            </a:avLst>
          </a:prstGeom>
          <a:solidFill>
            <a:srgbClr val="EAF3F1"/>
          </a:solidFill>
          <a:ln w="12700">
            <a:solidFill>
              <a:srgbClr val="EAF3F1"/>
            </a:solidFill>
            <a:prstDash val="solid"/>
          </a:ln>
        </p:spPr>
      </p:sp>
      <p:sp>
        <p:nvSpPr>
          <p:cNvPr id="4" name="S07-cardtext149"/>
          <p:cNvSpPr txBox="1"/>
          <p:nvPr/>
        </p:nvSpPr>
        <p:spPr>
          <a:xfrm>
            <a:off x="822960" y="146304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같은 파일 세 개에 이름을 두 가지로 붙였어요.</a:t>
            </a:r>
            <a:endParaRPr lang="ko-KR" sz="3000" dirty="0"/>
          </a:p>
        </p:txBody>
      </p:sp>
      <p:sp>
        <p:nvSpPr>
          <p:cNvPr id="5" name="S07-card150"/>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07-cardtext151"/>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이름만 보고 무엇인지 알 수 있게 지어요.</a:t>
            </a:r>
            <a:endParaRPr lang="ko-KR" sz="3000" dirty="0"/>
          </a:p>
        </p:txBody>
      </p:sp>
      <p:sp>
        <p:nvSpPr>
          <p:cNvPr id="7" name="S07-chip152"/>
          <p:cNvSpPr txBox="1"/>
          <p:nvPr/>
        </p:nvSpPr>
        <p:spPr>
          <a:xfrm>
            <a:off x="548640" y="2423160"/>
            <a:ext cx="5362956" cy="566928"/>
          </a:xfrm>
          <a:prstGeom prst="roundRect">
            <a:avLst>
              <a:gd name="adj" fmla="val 25806"/>
            </a:avLst>
          </a:prstGeom>
          <a:solidFill>
            <a:srgbClr val="FBE6E7"/>
          </a:solidFill>
          <a:ln>
            <a:solidFill>
              <a:srgbClr val="FBE6E7"/>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 가</a:t>
            </a:r>
            <a:endParaRPr lang="ko-KR" sz="2400" dirty="0"/>
          </a:p>
        </p:txBody>
      </p:sp>
      <p:sp>
        <p:nvSpPr>
          <p:cNvPr id="8" name="S07-text153"/>
          <p:cNvSpPr txBox="1"/>
          <p:nvPr/>
        </p:nvSpPr>
        <p:spPr>
          <a:xfrm>
            <a:off x="548640" y="3154680"/>
            <a:ext cx="5362956" cy="196596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제목 없음 1</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제목 없음 2</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ㅋㅋㅋ</a:t>
            </a:r>
            <a:endParaRPr lang="ko-KR" sz="3000" dirty="0"/>
          </a:p>
        </p:txBody>
      </p:sp>
      <p:sp>
        <p:nvSpPr>
          <p:cNvPr id="9" name="S07-chip154"/>
          <p:cNvSpPr txBox="1"/>
          <p:nvPr/>
        </p:nvSpPr>
        <p:spPr>
          <a:xfrm>
            <a:off x="6277356" y="2423160"/>
            <a:ext cx="5362956" cy="566928"/>
          </a:xfrm>
          <a:prstGeom prst="roundRect">
            <a:avLst>
              <a:gd name="adj" fmla="val 25806"/>
            </a:avLst>
          </a:prstGeom>
          <a:solidFill>
            <a:srgbClr val="E3F4F1"/>
          </a:solidFill>
          <a:ln>
            <a:solidFill>
              <a:srgbClr val="E3F4F1"/>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 나</a:t>
            </a:r>
            <a:endParaRPr lang="ko-KR" sz="2400" dirty="0"/>
          </a:p>
        </p:txBody>
      </p:sp>
      <p:sp>
        <p:nvSpPr>
          <p:cNvPr id="10" name="S07-text155"/>
          <p:cNvSpPr txBox="1"/>
          <p:nvPr/>
        </p:nvSpPr>
        <p:spPr>
          <a:xfrm>
            <a:off x="6277356" y="3154680"/>
            <a:ext cx="5362956" cy="196596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개미 관찰 기록</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받아쓰기 연습</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할머니 생신 카드</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이름을 지어 봐요</a:t>
            </a:r>
            <a:endParaRPr lang="ko-KR" sz="4000" dirty="0"/>
          </a:p>
        </p:txBody>
      </p:sp>
      <p:sp>
        <p:nvSpPr>
          <p:cNvPr id="3" name="S08-text156"/>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알맞은 이름과 폴더를 말해요.</a:t>
            </a:r>
            <a:endParaRPr lang="ko-KR" sz="3000" dirty="0"/>
          </a:p>
        </p:txBody>
      </p:sp>
      <p:sp>
        <p:nvSpPr>
          <p:cNvPr id="4" name="S08-card157"/>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5" name="S08-cardtext158"/>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무엇인지 쓰고, 필요하면 날짜를 붙여요.</a:t>
            </a:r>
            <a:endParaRPr lang="ko-KR" sz="3000" dirty="0"/>
          </a:p>
        </p:txBody>
      </p:sp>
      <p:sp>
        <p:nvSpPr>
          <p:cNvPr id="6" name="S08-chip159"/>
          <p:cNvSpPr txBox="1"/>
          <p:nvPr/>
        </p:nvSpPr>
        <p:spPr>
          <a:xfrm>
            <a:off x="548640" y="21854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 name="S08-text160"/>
          <p:cNvSpPr txBox="1"/>
          <p:nvPr/>
        </p:nvSpPr>
        <p:spPr>
          <a:xfrm>
            <a:off x="1344168" y="2011680"/>
            <a:ext cx="10296144" cy="9144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11월 3일에 그린 고양이 그림</a:t>
            </a:r>
            <a:endParaRPr lang="ko-KR" sz="3000" dirty="0"/>
          </a:p>
        </p:txBody>
      </p:sp>
      <p:sp>
        <p:nvSpPr>
          <p:cNvPr id="8" name="S08-chip161"/>
          <p:cNvSpPr txBox="1"/>
          <p:nvPr/>
        </p:nvSpPr>
        <p:spPr>
          <a:xfrm>
            <a:off x="548640" y="32826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9" name="S08-text162"/>
          <p:cNvSpPr txBox="1"/>
          <p:nvPr/>
        </p:nvSpPr>
        <p:spPr>
          <a:xfrm>
            <a:off x="1344168" y="3108960"/>
            <a:ext cx="10296144" cy="9144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과학 시간 강낭콩 관찰 기록</a:t>
            </a:r>
            <a:endParaRPr lang="ko-KR" sz="3000" dirty="0"/>
          </a:p>
        </p:txBody>
      </p:sp>
      <p:sp>
        <p:nvSpPr>
          <p:cNvPr id="10" name="S08-chip163"/>
          <p:cNvSpPr txBox="1"/>
          <p:nvPr/>
        </p:nvSpPr>
        <p:spPr>
          <a:xfrm>
            <a:off x="548640" y="43799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11" name="S08-text164"/>
          <p:cNvSpPr txBox="1"/>
          <p:nvPr/>
        </p:nvSpPr>
        <p:spPr>
          <a:xfrm>
            <a:off x="1344168" y="4206240"/>
            <a:ext cx="10296144" cy="9144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①, ②는 그림·숙제 가운데 어느 폴더에?</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기기에서 직접 해 봐요</a:t>
            </a:r>
            <a:endParaRPr lang="ko-KR" sz="4000" dirty="0"/>
          </a:p>
        </p:txBody>
      </p:sp>
      <p:sp>
        <p:nvSpPr>
          <p:cNvPr id="3" name="S09-card165"/>
          <p:cNvSpPr/>
          <p:nvPr/>
        </p:nvSpPr>
        <p:spPr>
          <a:xfrm>
            <a:off x="548640" y="4959096"/>
            <a:ext cx="11091672" cy="1258824"/>
          </a:xfrm>
          <a:prstGeom prst="roundRect">
            <a:avLst>
              <a:gd name="adj" fmla="val 8717"/>
            </a:avLst>
          </a:prstGeom>
          <a:solidFill>
            <a:srgbClr val="FDEBDD"/>
          </a:solidFill>
          <a:ln w="12700">
            <a:solidFill>
              <a:srgbClr val="FDEBDD"/>
            </a:solidFill>
            <a:prstDash val="solid"/>
          </a:ln>
        </p:spPr>
      </p:sp>
      <p:sp>
        <p:nvSpPr>
          <p:cNvPr id="4" name="S09-cardtext166"/>
          <p:cNvSpPr txBox="1"/>
          <p:nvPr/>
        </p:nvSpPr>
        <p:spPr>
          <a:xfrm>
            <a:off x="822960" y="5096256"/>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안전: 기기는 어른과 함께 써요.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다른 사람의 파일은 지우거나 바꾸지 않아요.</a:t>
            </a:r>
            <a:endParaRPr lang="ko-KR" sz="3000" dirty="0"/>
          </a:p>
        </p:txBody>
      </p:sp>
      <p:sp>
        <p:nvSpPr>
          <p:cNvPr id="5" name="S09-card167"/>
          <p:cNvSpPr/>
          <p:nvPr/>
        </p:nvSpPr>
        <p:spPr>
          <a:xfrm>
            <a:off x="6813652" y="1325880"/>
            <a:ext cx="4826660" cy="3404616"/>
          </a:xfrm>
          <a:prstGeom prst="roundRect">
            <a:avLst>
              <a:gd name="adj" fmla="val 3223"/>
            </a:avLst>
          </a:prstGeom>
          <a:solidFill>
            <a:srgbClr val="EAF3F1"/>
          </a:solidFill>
          <a:ln w="12700">
            <a:solidFill>
              <a:srgbClr val="EAF3F1"/>
            </a:solidFill>
            <a:prstDash val="solid"/>
          </a:ln>
        </p:spPr>
      </p:sp>
      <p:sp>
        <p:nvSpPr>
          <p:cNvPr id="6" name="S09-cardtext168"/>
          <p:cNvSpPr txBox="1"/>
          <p:nvPr/>
        </p:nvSpPr>
        <p:spPr>
          <a:xfrm>
            <a:off x="7087972" y="1463040"/>
            <a:ext cx="4278020" cy="3130296"/>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이렇게 하면 잘한 거예요</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 순서대로 저장했어요</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 무엇인지 알 수 있는 이름</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 다시 열어 찾았어요</a:t>
            </a:r>
            <a:endParaRPr lang="ko-KR" sz="3000" dirty="0"/>
          </a:p>
        </p:txBody>
      </p:sp>
      <p:sp>
        <p:nvSpPr>
          <p:cNvPr id="7" name="S09-stepno169"/>
          <p:cNvSpPr txBox="1"/>
          <p:nvPr/>
        </p:nvSpPr>
        <p:spPr>
          <a:xfrm>
            <a:off x="548640" y="1493520"/>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1</a:t>
            </a:r>
            <a:endParaRPr lang="ko-KR" sz="2400" dirty="0"/>
          </a:p>
        </p:txBody>
      </p:sp>
      <p:sp>
        <p:nvSpPr>
          <p:cNvPr id="8" name="S09-text170"/>
          <p:cNvSpPr txBox="1"/>
          <p:nvPr/>
        </p:nvSpPr>
        <p:spPr>
          <a:xfrm>
            <a:off x="1325880" y="1493520"/>
            <a:ext cx="5122012"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짧은 그림이나 글을 만들어요.</a:t>
            </a:r>
            <a:endParaRPr lang="ko-KR" sz="3000" dirty="0"/>
          </a:p>
        </p:txBody>
      </p:sp>
      <p:sp>
        <p:nvSpPr>
          <p:cNvPr id="9" name="S09-stepno171"/>
          <p:cNvSpPr txBox="1"/>
          <p:nvPr/>
        </p:nvSpPr>
        <p:spPr>
          <a:xfrm>
            <a:off x="548640" y="2252472"/>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2</a:t>
            </a:r>
            <a:endParaRPr lang="ko-KR" sz="2400" dirty="0"/>
          </a:p>
        </p:txBody>
      </p:sp>
      <p:sp>
        <p:nvSpPr>
          <p:cNvPr id="10" name="S09-text172"/>
          <p:cNvSpPr txBox="1"/>
          <p:nvPr/>
        </p:nvSpPr>
        <p:spPr>
          <a:xfrm>
            <a:off x="1325880" y="2206752"/>
            <a:ext cx="5122012" cy="929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폴더를 고르고 이름을 지어 저장해요.</a:t>
            </a:r>
            <a:endParaRPr lang="ko-KR" sz="3000" dirty="0"/>
          </a:p>
        </p:txBody>
      </p:sp>
      <p:sp>
        <p:nvSpPr>
          <p:cNvPr id="11" name="S09-stepno173"/>
          <p:cNvSpPr txBox="1"/>
          <p:nvPr/>
        </p:nvSpPr>
        <p:spPr>
          <a:xfrm>
            <a:off x="548640" y="3300984"/>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3</a:t>
            </a:r>
            <a:endParaRPr lang="ko-KR" sz="2400" dirty="0"/>
          </a:p>
        </p:txBody>
      </p:sp>
      <p:sp>
        <p:nvSpPr>
          <p:cNvPr id="12" name="S09-text174"/>
          <p:cNvSpPr txBox="1"/>
          <p:nvPr/>
        </p:nvSpPr>
        <p:spPr>
          <a:xfrm>
            <a:off x="1325880" y="3300984"/>
            <a:ext cx="5122012"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앱을 닫아요.</a:t>
            </a:r>
            <a:endParaRPr lang="ko-KR" sz="3000" dirty="0"/>
          </a:p>
        </p:txBody>
      </p:sp>
      <p:sp>
        <p:nvSpPr>
          <p:cNvPr id="13" name="S09-stepno175"/>
          <p:cNvSpPr txBox="1"/>
          <p:nvPr/>
        </p:nvSpPr>
        <p:spPr>
          <a:xfrm>
            <a:off x="548640" y="4014216"/>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4</a:t>
            </a:r>
            <a:endParaRPr lang="ko-KR" sz="2400" dirty="0"/>
          </a:p>
        </p:txBody>
      </p:sp>
      <p:sp>
        <p:nvSpPr>
          <p:cNvPr id="14" name="S09-text176"/>
          <p:cNvSpPr txBox="1"/>
          <p:nvPr/>
        </p:nvSpPr>
        <p:spPr>
          <a:xfrm>
            <a:off x="1325880" y="4014216"/>
            <a:ext cx="5122012"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다시 열어 확인해요.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혼자 해 보기</a:t>
            </a:r>
            <a:endParaRPr lang="ko-KR" sz="4000" dirty="0"/>
          </a:p>
        </p:txBody>
      </p:sp>
      <p:sp>
        <p:nvSpPr>
          <p:cNvPr id="3" name="S10-text177"/>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그림 화면을 보고 말해요.</a:t>
            </a:r>
            <a:endParaRPr lang="ko-KR" sz="3000" dirty="0"/>
          </a:p>
        </p:txBody>
      </p:sp>
      <p:sp>
        <p:nvSpPr>
          <p:cNvPr id="4" name="S10-figure178" descr="그려 놓은 열기 창. 왼쪽에 폴더 목록(그림·숙제·사진)이 있고 ‘숙제’가 골라져 있다. 오른쪽에 숙제 폴더 안의 파일(개미 관찰 기록, 제목 없음)이 보이며, 아래에 초록색 ‘열기’ 단추가 있다."/>
          <p:cNvSpPr/>
          <p:nvPr/>
        </p:nvSpPr>
        <p:spPr>
          <a:xfrm>
            <a:off x="6444234" y="2103120"/>
            <a:ext cx="5029200" cy="4023360"/>
          </a:xfrm>
          <a:custGeom>
            <a:avLst/>
            <a:gdLst/>
            <a:ahLst/>
            <a:cxnLst/>
            <a:rect l="l" t="t" r="r" b="b"/>
            <a:pathLst>
              <a:path w="5029200" h="4023360">
                <a:moveTo>
                  <a:pt x="0" y="4023360"/>
                </a:moveTo>
                <a:lnTo>
                  <a:pt x="5029200" y="4023360"/>
                </a:lnTo>
                <a:lnTo>
                  <a:pt x="5029200" y="0"/>
                </a:lnTo>
                <a:lnTo>
                  <a:pt x="0" y="0"/>
                </a:lnTo>
                <a:close/>
              </a:path>
            </a:pathLst>
          </a:custGeom>
          <a:solidFill>
            <a:srgbClr val="FFFFFF"/>
          </a:solidFill>
          <a:ln w="28575">
            <a:solidFill>
              <a:srgbClr val="1F2937"/>
            </a:solidFill>
            <a:prstDash val="solid"/>
          </a:ln>
        </p:spPr>
      </p:sp>
      <p:sp>
        <p:nvSpPr>
          <p:cNvPr id="5" name="S10-mark179"/>
          <p:cNvSpPr/>
          <p:nvPr/>
        </p:nvSpPr>
        <p:spPr>
          <a:xfrm>
            <a:off x="6444234" y="2103120"/>
            <a:ext cx="5029200" cy="502920"/>
          </a:xfrm>
          <a:custGeom>
            <a:avLst/>
            <a:gdLst/>
            <a:ahLst/>
            <a:cxnLst/>
            <a:rect l="l" t="t" r="r" b="b"/>
            <a:pathLst>
              <a:path w="5029200" h="502920">
                <a:moveTo>
                  <a:pt x="0" y="502920"/>
                </a:moveTo>
                <a:lnTo>
                  <a:pt x="5029200" y="502920"/>
                </a:lnTo>
                <a:lnTo>
                  <a:pt x="5029200" y="0"/>
                </a:lnTo>
                <a:lnTo>
                  <a:pt x="0" y="0"/>
                </a:lnTo>
                <a:close/>
              </a:path>
            </a:pathLst>
          </a:custGeom>
          <a:solidFill>
            <a:srgbClr val="3D5A80"/>
          </a:solidFill>
          <a:ln w="28575">
            <a:solidFill>
              <a:srgbClr val="1F2937"/>
            </a:solidFill>
            <a:prstDash val="solid"/>
          </a:ln>
        </p:spPr>
      </p:sp>
      <p:sp>
        <p:nvSpPr>
          <p:cNvPr id="6" name="S10-mark180"/>
          <p:cNvSpPr/>
          <p:nvPr/>
        </p:nvSpPr>
        <p:spPr>
          <a:xfrm>
            <a:off x="6569964" y="3586734"/>
            <a:ext cx="1559052" cy="578358"/>
          </a:xfrm>
          <a:custGeom>
            <a:avLst/>
            <a:gdLst/>
            <a:ahLst/>
            <a:cxnLst/>
            <a:rect l="l" t="t" r="r" b="b"/>
            <a:pathLst>
              <a:path w="1559052" h="578358">
                <a:moveTo>
                  <a:pt x="0" y="578358"/>
                </a:moveTo>
                <a:lnTo>
                  <a:pt x="1559052" y="578358"/>
                </a:lnTo>
                <a:lnTo>
                  <a:pt x="1559052" y="0"/>
                </a:lnTo>
                <a:lnTo>
                  <a:pt x="0" y="0"/>
                </a:lnTo>
                <a:close/>
              </a:path>
            </a:pathLst>
          </a:custGeom>
          <a:solidFill>
            <a:srgbClr val="FDEBDD"/>
          </a:solidFill>
          <a:ln/>
        </p:spPr>
      </p:sp>
      <p:sp>
        <p:nvSpPr>
          <p:cNvPr id="7" name="S10-mark181"/>
          <p:cNvSpPr/>
          <p:nvPr/>
        </p:nvSpPr>
        <p:spPr>
          <a:xfrm>
            <a:off x="8305038" y="2756916"/>
            <a:ext cx="3017520" cy="2464308"/>
          </a:xfrm>
          <a:custGeom>
            <a:avLst/>
            <a:gdLst/>
            <a:ahLst/>
            <a:cxnLst/>
            <a:rect l="l" t="t" r="r" b="b"/>
            <a:pathLst>
              <a:path w="3017520" h="2464308">
                <a:moveTo>
                  <a:pt x="0" y="2464308"/>
                </a:moveTo>
                <a:lnTo>
                  <a:pt x="3017520" y="2464308"/>
                </a:lnTo>
                <a:lnTo>
                  <a:pt x="3017520" y="0"/>
                </a:lnTo>
                <a:lnTo>
                  <a:pt x="0" y="0"/>
                </a:lnTo>
                <a:close/>
              </a:path>
            </a:pathLst>
          </a:custGeom>
          <a:solidFill>
            <a:srgbClr val="FFFFFF"/>
          </a:solidFill>
          <a:ln w="28575">
            <a:solidFill>
              <a:srgbClr val="94A3B8"/>
            </a:solidFill>
            <a:prstDash val="solid"/>
          </a:ln>
        </p:spPr>
      </p:sp>
      <p:sp>
        <p:nvSpPr>
          <p:cNvPr id="8" name="S10-mark182"/>
          <p:cNvSpPr/>
          <p:nvPr/>
        </p:nvSpPr>
        <p:spPr>
          <a:xfrm>
            <a:off x="6645402" y="3079791"/>
            <a:ext cx="452628" cy="356067"/>
          </a:xfrm>
          <a:custGeom>
            <a:avLst/>
            <a:gdLst/>
            <a:ahLst/>
            <a:cxnLst/>
            <a:rect l="l" t="t" r="r" b="b"/>
            <a:pathLst>
              <a:path w="452628" h="356067">
                <a:moveTo>
                  <a:pt x="0" y="356067"/>
                </a:moveTo>
                <a:lnTo>
                  <a:pt x="452628" y="356067"/>
                </a:lnTo>
                <a:lnTo>
                  <a:pt x="452628" y="54315"/>
                </a:lnTo>
                <a:lnTo>
                  <a:pt x="203683" y="54315"/>
                </a:lnTo>
                <a:lnTo>
                  <a:pt x="158420" y="0"/>
                </a:lnTo>
                <a:lnTo>
                  <a:pt x="0" y="0"/>
                </a:lnTo>
                <a:close/>
              </a:path>
            </a:pathLst>
          </a:custGeom>
          <a:solidFill>
            <a:srgbClr val="F7D774"/>
          </a:solidFill>
          <a:ln w="28575">
            <a:solidFill>
              <a:srgbClr val="B8962E"/>
            </a:solidFill>
            <a:prstDash val="solid"/>
          </a:ln>
        </p:spPr>
      </p:sp>
      <p:sp>
        <p:nvSpPr>
          <p:cNvPr id="9" name="S10-mark183"/>
          <p:cNvSpPr/>
          <p:nvPr/>
        </p:nvSpPr>
        <p:spPr>
          <a:xfrm>
            <a:off x="6645402" y="3708441"/>
            <a:ext cx="452628" cy="356067"/>
          </a:xfrm>
          <a:custGeom>
            <a:avLst/>
            <a:gdLst/>
            <a:ahLst/>
            <a:cxnLst/>
            <a:rect l="l" t="t" r="r" b="b"/>
            <a:pathLst>
              <a:path w="452628" h="356067">
                <a:moveTo>
                  <a:pt x="0" y="356067"/>
                </a:moveTo>
                <a:lnTo>
                  <a:pt x="452628" y="356067"/>
                </a:lnTo>
                <a:lnTo>
                  <a:pt x="452628" y="54315"/>
                </a:lnTo>
                <a:lnTo>
                  <a:pt x="203683" y="54315"/>
                </a:lnTo>
                <a:lnTo>
                  <a:pt x="158420" y="0"/>
                </a:lnTo>
                <a:lnTo>
                  <a:pt x="0" y="0"/>
                </a:lnTo>
                <a:close/>
              </a:path>
            </a:pathLst>
          </a:custGeom>
          <a:solidFill>
            <a:srgbClr val="F7D774"/>
          </a:solidFill>
          <a:ln w="28575">
            <a:solidFill>
              <a:srgbClr val="B8962E"/>
            </a:solidFill>
            <a:prstDash val="solid"/>
          </a:ln>
        </p:spPr>
      </p:sp>
      <p:sp>
        <p:nvSpPr>
          <p:cNvPr id="10" name="S10-mark184"/>
          <p:cNvSpPr/>
          <p:nvPr/>
        </p:nvSpPr>
        <p:spPr>
          <a:xfrm>
            <a:off x="6645402" y="4337091"/>
            <a:ext cx="452628" cy="356067"/>
          </a:xfrm>
          <a:custGeom>
            <a:avLst/>
            <a:gdLst/>
            <a:ahLst/>
            <a:cxnLst/>
            <a:rect l="l" t="t" r="r" b="b"/>
            <a:pathLst>
              <a:path w="452628" h="356067">
                <a:moveTo>
                  <a:pt x="0" y="356067"/>
                </a:moveTo>
                <a:lnTo>
                  <a:pt x="452628" y="356067"/>
                </a:lnTo>
                <a:lnTo>
                  <a:pt x="452628" y="54315"/>
                </a:lnTo>
                <a:lnTo>
                  <a:pt x="203683" y="54315"/>
                </a:lnTo>
                <a:lnTo>
                  <a:pt x="158420" y="0"/>
                </a:lnTo>
                <a:lnTo>
                  <a:pt x="0" y="0"/>
                </a:lnTo>
                <a:close/>
              </a:path>
            </a:pathLst>
          </a:custGeom>
          <a:solidFill>
            <a:srgbClr val="F7D774"/>
          </a:solidFill>
          <a:ln w="28575">
            <a:solidFill>
              <a:srgbClr val="B8962E"/>
            </a:solidFill>
            <a:prstDash val="solid"/>
          </a:ln>
        </p:spPr>
      </p:sp>
      <p:sp>
        <p:nvSpPr>
          <p:cNvPr id="11" name="S10-mark185"/>
          <p:cNvSpPr/>
          <p:nvPr/>
        </p:nvSpPr>
        <p:spPr>
          <a:xfrm>
            <a:off x="8481060" y="3023464"/>
            <a:ext cx="301752" cy="422453"/>
          </a:xfrm>
          <a:custGeom>
            <a:avLst/>
            <a:gdLst/>
            <a:ahLst/>
            <a:cxnLst/>
            <a:rect l="l" t="t" r="r" b="b"/>
            <a:pathLst>
              <a:path w="301752" h="422453">
                <a:moveTo>
                  <a:pt x="0" y="422453"/>
                </a:moveTo>
                <a:lnTo>
                  <a:pt x="301752" y="422453"/>
                </a:lnTo>
                <a:lnTo>
                  <a:pt x="301752" y="105613"/>
                </a:lnTo>
                <a:lnTo>
                  <a:pt x="196139" y="0"/>
                </a:lnTo>
                <a:lnTo>
                  <a:pt x="0" y="0"/>
                </a:lnTo>
                <a:close/>
              </a:path>
            </a:pathLst>
          </a:custGeom>
          <a:solidFill>
            <a:srgbClr val="FFFFFF"/>
          </a:solidFill>
          <a:ln w="28575">
            <a:solidFill>
              <a:srgbClr val="3D5A80"/>
            </a:solidFill>
            <a:prstDash val="solid"/>
          </a:ln>
        </p:spPr>
      </p:sp>
      <p:sp>
        <p:nvSpPr>
          <p:cNvPr id="12" name="S10-mark186"/>
          <p:cNvSpPr/>
          <p:nvPr/>
        </p:nvSpPr>
        <p:spPr>
          <a:xfrm>
            <a:off x="8481060" y="3652114"/>
            <a:ext cx="301752" cy="422453"/>
          </a:xfrm>
          <a:custGeom>
            <a:avLst/>
            <a:gdLst/>
            <a:ahLst/>
            <a:cxnLst/>
            <a:rect l="l" t="t" r="r" b="b"/>
            <a:pathLst>
              <a:path w="301752" h="422453">
                <a:moveTo>
                  <a:pt x="0" y="422453"/>
                </a:moveTo>
                <a:lnTo>
                  <a:pt x="301752" y="422453"/>
                </a:lnTo>
                <a:lnTo>
                  <a:pt x="301752" y="105613"/>
                </a:lnTo>
                <a:lnTo>
                  <a:pt x="196139" y="0"/>
                </a:lnTo>
                <a:lnTo>
                  <a:pt x="0" y="0"/>
                </a:lnTo>
                <a:close/>
              </a:path>
            </a:pathLst>
          </a:custGeom>
          <a:solidFill>
            <a:srgbClr val="FFFFFF"/>
          </a:solidFill>
          <a:ln w="28575">
            <a:solidFill>
              <a:srgbClr val="3D5A80"/>
            </a:solidFill>
            <a:prstDash val="solid"/>
          </a:ln>
        </p:spPr>
      </p:sp>
      <p:sp>
        <p:nvSpPr>
          <p:cNvPr id="13" name="S10-mark187"/>
          <p:cNvSpPr/>
          <p:nvPr/>
        </p:nvSpPr>
        <p:spPr>
          <a:xfrm>
            <a:off x="10065258" y="5422392"/>
            <a:ext cx="1207008" cy="502920"/>
          </a:xfrm>
          <a:custGeom>
            <a:avLst/>
            <a:gdLst/>
            <a:ahLst/>
            <a:cxnLst/>
            <a:rect l="l" t="t" r="r" b="b"/>
            <a:pathLst>
              <a:path w="1207008" h="502920">
                <a:moveTo>
                  <a:pt x="0" y="502920"/>
                </a:moveTo>
                <a:lnTo>
                  <a:pt x="1207008" y="502920"/>
                </a:lnTo>
                <a:lnTo>
                  <a:pt x="1207008" y="0"/>
                </a:lnTo>
                <a:lnTo>
                  <a:pt x="0" y="0"/>
                </a:lnTo>
                <a:close/>
              </a:path>
            </a:pathLst>
          </a:custGeom>
          <a:solidFill>
            <a:srgbClr val="2A9D8F"/>
          </a:solidFill>
          <a:ln/>
        </p:spPr>
      </p:sp>
      <p:sp>
        <p:nvSpPr>
          <p:cNvPr id="14" name="S10-label189"/>
          <p:cNvSpPr txBox="1"/>
          <p:nvPr/>
        </p:nvSpPr>
        <p:spPr>
          <a:xfrm>
            <a:off x="8605266" y="2164080"/>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열기</a:t>
            </a:r>
            <a:endParaRPr lang="ko-KR" sz="2400" dirty="0"/>
          </a:p>
        </p:txBody>
      </p:sp>
      <p:sp>
        <p:nvSpPr>
          <p:cNvPr id="15" name="S10-label191"/>
          <p:cNvSpPr txBox="1"/>
          <p:nvPr/>
        </p:nvSpPr>
        <p:spPr>
          <a:xfrm>
            <a:off x="7223760" y="3109023"/>
            <a:ext cx="582676" cy="301625"/>
          </a:xfrm>
          <a:prstGeom prst="rect">
            <a:avLst/>
          </a:prstGeom>
          <a:noFill/>
          <a:ln/>
        </p:spPr>
        <p:txBody>
          <a:bodyPr wrap="square" lIns="0" tIns="0" rIns="0" bIns="0" rtlCol="0" anchor="ctr"/>
          <a:lstStyle/>
          <a:p>
            <a:pPr eaLnBrk="0" algn="l" indent="0" marL="0">
              <a:buNone/>
            </a:pPr>
            <a:r>
              <a:rPr lang="ko-KR" altLang="en-US" sz="1900" b="1" dirty="0">
                <a:solidFill>
                  <a:srgbClr val="1F2937"/>
                </a:solidFill>
                <a:latin typeface="맑은 고딕" pitchFamily="34" charset="0"/>
                <a:ea typeface="맑은 고딕" pitchFamily="34" charset="-122"/>
                <a:cs typeface="맑은 고딕" pitchFamily="34" charset="-120"/>
              </a:rPr>
              <a:t>그림</a:t>
            </a:r>
            <a:endParaRPr lang="ko-KR" sz="1900" dirty="0"/>
          </a:p>
        </p:txBody>
      </p:sp>
      <p:sp>
        <p:nvSpPr>
          <p:cNvPr id="16" name="S10-label193"/>
          <p:cNvSpPr txBox="1"/>
          <p:nvPr/>
        </p:nvSpPr>
        <p:spPr>
          <a:xfrm>
            <a:off x="7223760" y="3737673"/>
            <a:ext cx="582676" cy="301625"/>
          </a:xfrm>
          <a:prstGeom prst="rect">
            <a:avLst/>
          </a:prstGeom>
          <a:noFill/>
          <a:ln/>
        </p:spPr>
        <p:txBody>
          <a:bodyPr wrap="square" lIns="0" tIns="0" rIns="0" bIns="0" rtlCol="0" anchor="ctr"/>
          <a:lstStyle/>
          <a:p>
            <a:pPr eaLnBrk="0" algn="l" indent="0" marL="0">
              <a:buNone/>
            </a:pPr>
            <a:r>
              <a:rPr lang="ko-KR" altLang="en-US" sz="1900" b="1" dirty="0">
                <a:solidFill>
                  <a:srgbClr val="1F2937"/>
                </a:solidFill>
                <a:latin typeface="맑은 고딕" pitchFamily="34" charset="0"/>
                <a:ea typeface="맑은 고딕" pitchFamily="34" charset="-122"/>
                <a:cs typeface="맑은 고딕" pitchFamily="34" charset="-120"/>
              </a:rPr>
              <a:t>숙제</a:t>
            </a:r>
            <a:endParaRPr lang="ko-KR" sz="1900" dirty="0"/>
          </a:p>
        </p:txBody>
      </p:sp>
      <p:sp>
        <p:nvSpPr>
          <p:cNvPr id="17" name="S10-label195"/>
          <p:cNvSpPr txBox="1"/>
          <p:nvPr/>
        </p:nvSpPr>
        <p:spPr>
          <a:xfrm>
            <a:off x="7223760" y="4366324"/>
            <a:ext cx="582676" cy="301625"/>
          </a:xfrm>
          <a:prstGeom prst="rect">
            <a:avLst/>
          </a:prstGeom>
          <a:noFill/>
          <a:ln/>
        </p:spPr>
        <p:txBody>
          <a:bodyPr wrap="square" lIns="0" tIns="0" rIns="0" bIns="0" rtlCol="0" anchor="ctr"/>
          <a:lstStyle/>
          <a:p>
            <a:pPr eaLnBrk="0" algn="l" indent="0" marL="0">
              <a:buNone/>
            </a:pPr>
            <a:r>
              <a:rPr lang="ko-KR" altLang="en-US" sz="1900" b="1" dirty="0">
                <a:solidFill>
                  <a:srgbClr val="1F2937"/>
                </a:solidFill>
                <a:latin typeface="맑은 고딕" pitchFamily="34" charset="0"/>
                <a:ea typeface="맑은 고딕" pitchFamily="34" charset="-122"/>
                <a:cs typeface="맑은 고딕" pitchFamily="34" charset="-120"/>
              </a:rPr>
              <a:t>사진</a:t>
            </a:r>
            <a:endParaRPr lang="ko-KR" sz="1900" dirty="0"/>
          </a:p>
        </p:txBody>
      </p:sp>
      <p:sp>
        <p:nvSpPr>
          <p:cNvPr id="18" name="S10-label197"/>
          <p:cNvSpPr txBox="1"/>
          <p:nvPr/>
        </p:nvSpPr>
        <p:spPr>
          <a:xfrm>
            <a:off x="8908542" y="3083878"/>
            <a:ext cx="1673352" cy="301625"/>
          </a:xfrm>
          <a:prstGeom prst="rect">
            <a:avLst/>
          </a:prstGeom>
          <a:noFill/>
          <a:ln/>
        </p:spPr>
        <p:txBody>
          <a:bodyPr wrap="square" lIns="0" tIns="0" rIns="0" bIns="0" rtlCol="0" anchor="ctr"/>
          <a:lstStyle/>
          <a:p>
            <a:pPr eaLnBrk="0" algn="l" indent="0" marL="0">
              <a:buNone/>
            </a:pPr>
            <a:r>
              <a:rPr lang="ko-KR" altLang="en-US" sz="1900" b="1" dirty="0">
                <a:solidFill>
                  <a:srgbClr val="1F2937"/>
                </a:solidFill>
                <a:latin typeface="맑은 고딕" pitchFamily="34" charset="0"/>
                <a:ea typeface="맑은 고딕" pitchFamily="34" charset="-122"/>
                <a:cs typeface="맑은 고딕" pitchFamily="34" charset="-120"/>
              </a:rPr>
              <a:t>개미 관찰 기록</a:t>
            </a:r>
            <a:endParaRPr lang="ko-KR" sz="1900" dirty="0"/>
          </a:p>
        </p:txBody>
      </p:sp>
      <p:sp>
        <p:nvSpPr>
          <p:cNvPr id="19" name="S10-label199"/>
          <p:cNvSpPr txBox="1"/>
          <p:nvPr/>
        </p:nvSpPr>
        <p:spPr>
          <a:xfrm>
            <a:off x="8908542" y="3712528"/>
            <a:ext cx="1128014" cy="301625"/>
          </a:xfrm>
          <a:prstGeom prst="rect">
            <a:avLst/>
          </a:prstGeom>
          <a:noFill/>
          <a:ln/>
        </p:spPr>
        <p:txBody>
          <a:bodyPr wrap="square" lIns="0" tIns="0" rIns="0" bIns="0" rtlCol="0" anchor="ctr"/>
          <a:lstStyle/>
          <a:p>
            <a:pPr eaLnBrk="0" algn="l" indent="0" marL="0">
              <a:buNone/>
            </a:pPr>
            <a:r>
              <a:rPr lang="ko-KR" altLang="en-US" sz="1900" b="1" dirty="0">
                <a:solidFill>
                  <a:srgbClr val="1F2937"/>
                </a:solidFill>
                <a:latin typeface="맑은 고딕" pitchFamily="34" charset="0"/>
                <a:ea typeface="맑은 고딕" pitchFamily="34" charset="-122"/>
                <a:cs typeface="맑은 고딕" pitchFamily="34" charset="-120"/>
              </a:rPr>
              <a:t>제목 없음</a:t>
            </a:r>
            <a:endParaRPr lang="ko-KR" sz="1900" dirty="0"/>
          </a:p>
        </p:txBody>
      </p:sp>
      <p:sp>
        <p:nvSpPr>
          <p:cNvPr id="20" name="S10-label201"/>
          <p:cNvSpPr txBox="1"/>
          <p:nvPr/>
        </p:nvSpPr>
        <p:spPr>
          <a:xfrm>
            <a:off x="10377424" y="5523039"/>
            <a:ext cx="582676" cy="301625"/>
          </a:xfrm>
          <a:prstGeom prst="rect">
            <a:avLst/>
          </a:prstGeom>
          <a:noFill/>
          <a:ln/>
        </p:spPr>
        <p:txBody>
          <a:bodyPr wrap="square" lIns="0" tIns="0" rIns="0" bIns="0" rtlCol="0" anchor="ctr"/>
          <a:lstStyle/>
          <a:p>
            <a:pPr eaLnBrk="0" algn="ctr" indent="0" marL="0">
              <a:buNone/>
            </a:pPr>
            <a:r>
              <a:rPr lang="ko-KR" altLang="en-US" sz="1900" b="1" dirty="0">
                <a:solidFill>
                  <a:srgbClr val="FFFFFF"/>
                </a:solidFill>
                <a:latin typeface="맑은 고딕" pitchFamily="34" charset="0"/>
                <a:ea typeface="맑은 고딕" pitchFamily="34" charset="-122"/>
                <a:cs typeface="맑은 고딕" pitchFamily="34" charset="-120"/>
              </a:rPr>
              <a:t>열기</a:t>
            </a:r>
            <a:endParaRPr lang="ko-KR" sz="1900" dirty="0"/>
          </a:p>
        </p:txBody>
      </p:sp>
      <p:sp>
        <p:nvSpPr>
          <p:cNvPr id="21" name="S10-chip202"/>
          <p:cNvSpPr txBox="1"/>
          <p:nvPr/>
        </p:nvSpPr>
        <p:spPr>
          <a:xfrm>
            <a:off x="548640" y="2368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22" name="S10-text203"/>
          <p:cNvSpPr txBox="1"/>
          <p:nvPr/>
        </p:nvSpPr>
        <p:spPr>
          <a:xfrm>
            <a:off x="1344168" y="2011680"/>
            <a:ext cx="4567428" cy="128016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‘개미 관찰 기록’을 여는 순서를 말해요.</a:t>
            </a:r>
            <a:endParaRPr lang="ko-KR" sz="3000" dirty="0"/>
          </a:p>
        </p:txBody>
      </p:sp>
      <p:sp>
        <p:nvSpPr>
          <p:cNvPr id="23" name="S10-chip204"/>
          <p:cNvSpPr txBox="1"/>
          <p:nvPr/>
        </p:nvSpPr>
        <p:spPr>
          <a:xfrm>
            <a:off x="548640" y="38313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24" name="S10-text205"/>
          <p:cNvSpPr txBox="1"/>
          <p:nvPr/>
        </p:nvSpPr>
        <p:spPr>
          <a:xfrm>
            <a:off x="1344168" y="3474720"/>
            <a:ext cx="4567428" cy="128016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‘제목 없음’은 생신 카드예요.</a:t>
            </a:r>
            <a:endParaRPr lang="ko-KR" sz="2400" dirty="0"/>
          </a:p>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좋은 이름은?</a:t>
            </a:r>
            <a:endParaRPr lang="ko-KR" sz="2400" dirty="0"/>
          </a:p>
        </p:txBody>
      </p:sp>
      <p:sp>
        <p:nvSpPr>
          <p:cNvPr id="25" name="S10-chip206"/>
          <p:cNvSpPr txBox="1"/>
          <p:nvPr/>
        </p:nvSpPr>
        <p:spPr>
          <a:xfrm>
            <a:off x="548640" y="52943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26" name="S10-text207"/>
          <p:cNvSpPr txBox="1"/>
          <p:nvPr/>
        </p:nvSpPr>
        <p:spPr>
          <a:xfrm>
            <a:off x="1344168" y="4937760"/>
            <a:ext cx="4567428" cy="128016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생신 카드는 어느 폴더에 둘까요?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잘한 답과 다시 생각해 볼 답</a:t>
            </a:r>
            <a:endParaRPr lang="ko-KR" sz="4000" dirty="0"/>
          </a:p>
        </p:txBody>
      </p:sp>
      <p:sp>
        <p:nvSpPr>
          <p:cNvPr id="3" name="S11-card208"/>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1-cardtext209"/>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순서대로 하고, 무엇인지 알 수 있는 이름을 지어요.</a:t>
            </a:r>
            <a:endParaRPr lang="ko-KR" sz="3000" dirty="0"/>
          </a:p>
        </p:txBody>
      </p:sp>
      <p:sp>
        <p:nvSpPr>
          <p:cNvPr id="5" name="S11-chip210"/>
          <p:cNvSpPr txBox="1"/>
          <p:nvPr/>
        </p:nvSpPr>
        <p:spPr>
          <a:xfrm>
            <a:off x="548640" y="1325880"/>
            <a:ext cx="5362956" cy="548640"/>
          </a:xfrm>
          <a:prstGeom prst="roundRect">
            <a:avLst>
              <a:gd name="adj" fmla="val 26667"/>
            </a:avLst>
          </a:prstGeom>
          <a:solidFill>
            <a:srgbClr val="E3F4F1"/>
          </a:solidFill>
          <a:ln>
            <a:solidFill>
              <a:srgbClr val="E3F4F1"/>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잘한 답</a:t>
            </a:r>
            <a:endParaRPr lang="ko-KR" sz="2400" dirty="0"/>
          </a:p>
        </p:txBody>
      </p:sp>
      <p:sp>
        <p:nvSpPr>
          <p:cNvPr id="6" name="S11-text211"/>
          <p:cNvSpPr txBox="1"/>
          <p:nvPr/>
        </p:nvSpPr>
        <p:spPr>
          <a:xfrm>
            <a:off x="548640" y="2057400"/>
            <a:ext cx="2681478" cy="12344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폴더 → 파일 →</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‘열기’</a:t>
            </a:r>
            <a:endParaRPr lang="ko-KR" sz="3000" dirty="0"/>
          </a:p>
        </p:txBody>
      </p:sp>
      <p:sp>
        <p:nvSpPr>
          <p:cNvPr id="7" name="S11-text212"/>
          <p:cNvSpPr txBox="1"/>
          <p:nvPr/>
        </p:nvSpPr>
        <p:spPr>
          <a:xfrm>
            <a:off x="3367278" y="2057400"/>
            <a:ext cx="2544318" cy="12344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여는</a:t>
            </a:r>
            <a:endParaRPr lang="ko-KR" sz="2400" dirty="0"/>
          </a:p>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순서</a:t>
            </a:r>
            <a:endParaRPr lang="ko-KR" sz="2400" dirty="0"/>
          </a:p>
        </p:txBody>
      </p:sp>
      <p:sp>
        <p:nvSpPr>
          <p:cNvPr id="8" name="S11-text213"/>
          <p:cNvSpPr txBox="1"/>
          <p:nvPr/>
        </p:nvSpPr>
        <p:spPr>
          <a:xfrm>
            <a:off x="548640" y="3429000"/>
            <a:ext cx="2681478" cy="12344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“할머니 생신</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카드”</a:t>
            </a:r>
            <a:endParaRPr lang="ko-KR" sz="3000" dirty="0"/>
          </a:p>
        </p:txBody>
      </p:sp>
      <p:sp>
        <p:nvSpPr>
          <p:cNvPr id="9" name="S11-text214"/>
          <p:cNvSpPr txBox="1"/>
          <p:nvPr/>
        </p:nvSpPr>
        <p:spPr>
          <a:xfrm>
            <a:off x="3367278" y="3429000"/>
            <a:ext cx="2544318" cy="12344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무엇인지</a:t>
            </a:r>
            <a:endParaRPr lang="ko-KR" sz="2400" dirty="0"/>
          </a:p>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알 수 있음</a:t>
            </a:r>
            <a:endParaRPr lang="ko-KR" sz="2400" dirty="0"/>
          </a:p>
        </p:txBody>
      </p:sp>
      <p:sp>
        <p:nvSpPr>
          <p:cNvPr id="10" name="S11-chip215"/>
          <p:cNvSpPr txBox="1"/>
          <p:nvPr/>
        </p:nvSpPr>
        <p:spPr>
          <a:xfrm>
            <a:off x="6277356" y="1325880"/>
            <a:ext cx="5362956" cy="548640"/>
          </a:xfrm>
          <a:prstGeom prst="roundRect">
            <a:avLst>
              <a:gd name="adj" fmla="val 26667"/>
            </a:avLst>
          </a:prstGeom>
          <a:solidFill>
            <a:srgbClr val="FBE6E7"/>
          </a:solidFill>
          <a:ln>
            <a:solidFill>
              <a:srgbClr val="FBE6E7"/>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다시 생각해 볼 답</a:t>
            </a:r>
            <a:endParaRPr lang="ko-KR" sz="2400" dirty="0"/>
          </a:p>
        </p:txBody>
      </p:sp>
      <p:sp>
        <p:nvSpPr>
          <p:cNvPr id="11" name="S11-text216"/>
          <p:cNvSpPr txBox="1"/>
          <p:nvPr/>
        </p:nvSpPr>
        <p:spPr>
          <a:xfrm>
            <a:off x="6277356" y="2057400"/>
            <a:ext cx="2681478" cy="12344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“카드1”</a:t>
            </a:r>
            <a:endParaRPr lang="ko-KR" sz="3000" dirty="0"/>
          </a:p>
        </p:txBody>
      </p:sp>
      <p:sp>
        <p:nvSpPr>
          <p:cNvPr id="12" name="S11-text217"/>
          <p:cNvSpPr txBox="1"/>
          <p:nvPr/>
        </p:nvSpPr>
        <p:spPr>
          <a:xfrm>
            <a:off x="9095994" y="2057400"/>
            <a:ext cx="2544318" cy="12344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무엇인지</a:t>
            </a:r>
            <a:endParaRPr lang="ko-KR" sz="2400" dirty="0"/>
          </a:p>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모름</a:t>
            </a:r>
            <a:endParaRPr lang="ko-KR" sz="2400" dirty="0"/>
          </a:p>
        </p:txBody>
      </p:sp>
      <p:sp>
        <p:nvSpPr>
          <p:cNvPr id="13" name="S11-text218"/>
          <p:cNvSpPr txBox="1"/>
          <p:nvPr/>
        </p:nvSpPr>
        <p:spPr>
          <a:xfrm>
            <a:off x="6277356" y="3429000"/>
            <a:ext cx="2681478" cy="12344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이름 없이</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‘저장’부터</a:t>
            </a:r>
            <a:endParaRPr lang="ko-KR" sz="3000" dirty="0"/>
          </a:p>
        </p:txBody>
      </p:sp>
      <p:sp>
        <p:nvSpPr>
          <p:cNvPr id="14" name="S11-text219"/>
          <p:cNvSpPr txBox="1"/>
          <p:nvPr/>
        </p:nvSpPr>
        <p:spPr>
          <a:xfrm>
            <a:off x="9095994" y="3429000"/>
            <a:ext cx="2544318" cy="12344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순서를</a:t>
            </a:r>
            <a:endParaRPr lang="ko-KR" sz="2400" dirty="0"/>
          </a:p>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건너뜀</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저장 순서가 맞는 것은?</a:t>
            </a:r>
            <a:endParaRPr lang="ko-KR" sz="4000" dirty="0"/>
          </a:p>
        </p:txBody>
      </p:sp>
      <p:sp>
        <p:nvSpPr>
          <p:cNvPr id="3" name="S12-text220"/>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유나가 그린 그림을 저장하려고 해요.</a:t>
            </a:r>
            <a:endParaRPr lang="ko-KR" sz="3000" dirty="0"/>
          </a:p>
        </p:txBody>
      </p:sp>
      <p:sp>
        <p:nvSpPr>
          <p:cNvPr id="4" name="S12-card221"/>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5" name="S12-cardtext222"/>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맞는 것을 고르고, 다른 것은 왜 안 되는지 말해요.</a:t>
            </a:r>
            <a:endParaRPr lang="ko-KR" sz="3000" dirty="0"/>
          </a:p>
        </p:txBody>
      </p:sp>
      <p:sp>
        <p:nvSpPr>
          <p:cNvPr id="6" name="S12-chip223"/>
          <p:cNvSpPr txBox="1"/>
          <p:nvPr/>
        </p:nvSpPr>
        <p:spPr>
          <a:xfrm>
            <a:off x="1991868" y="201168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가</a:t>
            </a:r>
            <a:endParaRPr lang="ko-KR" sz="3000" dirty="0"/>
          </a:p>
        </p:txBody>
      </p:sp>
      <p:sp>
        <p:nvSpPr>
          <p:cNvPr id="7" name="S12-card224"/>
          <p:cNvSpPr/>
          <p:nvPr/>
        </p:nvSpPr>
        <p:spPr>
          <a:xfrm>
            <a:off x="548640" y="2715768"/>
            <a:ext cx="3453384" cy="2404872"/>
          </a:xfrm>
          <a:prstGeom prst="roundRect">
            <a:avLst>
              <a:gd name="adj" fmla="val 4563"/>
            </a:avLst>
          </a:prstGeom>
          <a:solidFill>
            <a:srgbClr val="EAF3F1"/>
          </a:solidFill>
          <a:ln w="12700">
            <a:solidFill>
              <a:srgbClr val="EAF3F1"/>
            </a:solidFill>
            <a:prstDash val="solid"/>
          </a:ln>
        </p:spPr>
      </p:sp>
      <p:sp>
        <p:nvSpPr>
          <p:cNvPr id="8" name="S12-cardtext225"/>
          <p:cNvSpPr txBox="1"/>
          <p:nvPr/>
        </p:nvSpPr>
        <p:spPr>
          <a:xfrm>
            <a:off x="822960" y="2852928"/>
            <a:ext cx="2904744" cy="2130552"/>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이름 쓰기</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 저장 단추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 저장 메뉴</a:t>
            </a:r>
            <a:endParaRPr lang="ko-KR" sz="3000" dirty="0"/>
          </a:p>
        </p:txBody>
      </p:sp>
      <p:sp>
        <p:nvSpPr>
          <p:cNvPr id="9" name="S12-chip226"/>
          <p:cNvSpPr txBox="1"/>
          <p:nvPr/>
        </p:nvSpPr>
        <p:spPr>
          <a:xfrm>
            <a:off x="5811012" y="201168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나</a:t>
            </a:r>
            <a:endParaRPr lang="ko-KR" sz="3000" dirty="0"/>
          </a:p>
        </p:txBody>
      </p:sp>
      <p:sp>
        <p:nvSpPr>
          <p:cNvPr id="10" name="S12-card227"/>
          <p:cNvSpPr/>
          <p:nvPr/>
        </p:nvSpPr>
        <p:spPr>
          <a:xfrm>
            <a:off x="4367784" y="2715768"/>
            <a:ext cx="3453384" cy="2404872"/>
          </a:xfrm>
          <a:prstGeom prst="roundRect">
            <a:avLst>
              <a:gd name="adj" fmla="val 4563"/>
            </a:avLst>
          </a:prstGeom>
          <a:solidFill>
            <a:srgbClr val="EAF3F1"/>
          </a:solidFill>
          <a:ln w="12700">
            <a:solidFill>
              <a:srgbClr val="EAF3F1"/>
            </a:solidFill>
            <a:prstDash val="solid"/>
          </a:ln>
        </p:spPr>
      </p:sp>
      <p:sp>
        <p:nvSpPr>
          <p:cNvPr id="11" name="S12-cardtext228"/>
          <p:cNvSpPr txBox="1"/>
          <p:nvPr/>
        </p:nvSpPr>
        <p:spPr>
          <a:xfrm>
            <a:off x="4642104" y="2852928"/>
            <a:ext cx="2904744" cy="2130552"/>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저장 메뉴</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 폴더 고르기</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 이름 쓰기</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 저장 단추</a:t>
            </a:r>
            <a:endParaRPr lang="ko-KR" sz="3000" dirty="0"/>
          </a:p>
        </p:txBody>
      </p:sp>
      <p:sp>
        <p:nvSpPr>
          <p:cNvPr id="12" name="S12-chip229"/>
          <p:cNvSpPr txBox="1"/>
          <p:nvPr/>
        </p:nvSpPr>
        <p:spPr>
          <a:xfrm>
            <a:off x="9630156" y="201168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다</a:t>
            </a:r>
            <a:endParaRPr lang="ko-KR" sz="3000" dirty="0"/>
          </a:p>
        </p:txBody>
      </p:sp>
      <p:sp>
        <p:nvSpPr>
          <p:cNvPr id="13" name="S12-card230"/>
          <p:cNvSpPr/>
          <p:nvPr/>
        </p:nvSpPr>
        <p:spPr>
          <a:xfrm>
            <a:off x="8186928" y="2715768"/>
            <a:ext cx="3453384" cy="2404872"/>
          </a:xfrm>
          <a:prstGeom prst="roundRect">
            <a:avLst>
              <a:gd name="adj" fmla="val 4563"/>
            </a:avLst>
          </a:prstGeom>
          <a:solidFill>
            <a:srgbClr val="EAF3F1"/>
          </a:solidFill>
          <a:ln w="12700">
            <a:solidFill>
              <a:srgbClr val="EAF3F1"/>
            </a:solidFill>
            <a:prstDash val="solid"/>
          </a:ln>
        </p:spPr>
      </p:sp>
      <p:sp>
        <p:nvSpPr>
          <p:cNvPr id="14" name="S12-cardtext231"/>
          <p:cNvSpPr txBox="1"/>
          <p:nvPr/>
        </p:nvSpPr>
        <p:spPr>
          <a:xfrm>
            <a:off x="8461248" y="2852928"/>
            <a:ext cx="2904744" cy="2130552"/>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폴더 고르기</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 앱 닫기</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FFFFFF"/>
                </a:solidFill>
                <a:latin typeface="맑은 고딕" pitchFamily="34" charset="0"/>
                <a:ea typeface="맑은 고딕" pitchFamily="34" charset="-122"/>
                <a:cs typeface="맑은 고딕" pitchFamily="34" charset="-120"/>
              </a:rPr>
              <a:t>오늘 배운 것</a:t>
            </a:r>
            <a:endParaRPr lang="ko-KR" sz="4000" dirty="0"/>
          </a:p>
        </p:txBody>
      </p:sp>
      <p:sp>
        <p:nvSpPr>
          <p:cNvPr id="3" name="S13-card232"/>
          <p:cNvSpPr/>
          <p:nvPr/>
        </p:nvSpPr>
        <p:spPr>
          <a:xfrm>
            <a:off x="548640" y="1325880"/>
            <a:ext cx="11091672" cy="1258824"/>
          </a:xfrm>
          <a:prstGeom prst="roundRect">
            <a:avLst>
              <a:gd name="adj" fmla="val 8717"/>
            </a:avLst>
          </a:prstGeom>
          <a:solidFill>
            <a:srgbClr val="32606F"/>
          </a:solidFill>
          <a:ln w="12700">
            <a:solidFill>
              <a:srgbClr val="32606F"/>
            </a:solidFill>
            <a:prstDash val="solid"/>
          </a:ln>
        </p:spPr>
      </p:sp>
      <p:sp>
        <p:nvSpPr>
          <p:cNvPr id="4" name="S13-cardtext233"/>
          <p:cNvSpPr txBox="1"/>
          <p:nvPr/>
        </p:nvSpPr>
        <p:spPr>
          <a:xfrm>
            <a:off x="822960" y="1463040"/>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순서대로 저장하고, 무엇인지 알 수 있는 이름으로 폴더에 정리해요.</a:t>
            </a:r>
            <a:endParaRPr lang="ko-KR" sz="3000" dirty="0"/>
          </a:p>
        </p:txBody>
      </p:sp>
      <p:sp>
        <p:nvSpPr>
          <p:cNvPr id="5" name="S13-chip234"/>
          <p:cNvSpPr txBox="1"/>
          <p:nvPr/>
        </p:nvSpPr>
        <p:spPr>
          <a:xfrm>
            <a:off x="548640" y="2813304"/>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이름 짓고 폴더에 저장하기</a:t>
            </a:r>
            <a:endParaRPr lang="ko-KR" sz="2400" dirty="0"/>
          </a:p>
        </p:txBody>
      </p:sp>
      <p:sp>
        <p:nvSpPr>
          <p:cNvPr id="6" name="S13-chip235"/>
          <p:cNvSpPr txBox="1"/>
          <p:nvPr/>
        </p:nvSpPr>
        <p:spPr>
          <a:xfrm>
            <a:off x="6208776" y="2813304"/>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‘제목 없음’으로 두기</a:t>
            </a:r>
            <a:endParaRPr lang="ko-KR" sz="2400" dirty="0"/>
          </a:p>
        </p:txBody>
      </p:sp>
      <p:sp>
        <p:nvSpPr>
          <p:cNvPr id="7" name="S13-text236"/>
          <p:cNvSpPr txBox="1"/>
          <p:nvPr/>
        </p:nvSpPr>
        <p:spPr>
          <a:xfrm>
            <a:off x="548640" y="3636264"/>
            <a:ext cx="11091672" cy="457200"/>
          </a:xfrm>
          <a:prstGeom prst="rect">
            <a:avLst/>
          </a:prstGeom>
          <a:noFill/>
          <a:ln/>
        </p:spPr>
        <p:txBody>
          <a:bodyPr wrap="square" lIns="0" tIns="0" rIns="0" bIns="0" rtlCol="0" anchor="t"/>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400" dirty="0"/>
          </a:p>
        </p:txBody>
      </p:sp>
      <p:sp>
        <p:nvSpPr>
          <p:cNvPr id="8" name="S13-text237"/>
          <p:cNvSpPr txBox="1"/>
          <p:nvPr/>
        </p:nvSpPr>
        <p:spPr>
          <a:xfrm>
            <a:off x="548640"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① 저장하는</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순서</a:t>
            </a:r>
            <a:endParaRPr lang="ko-KR" sz="2400" dirty="0"/>
          </a:p>
        </p:txBody>
      </p:sp>
      <p:sp>
        <p:nvSpPr>
          <p:cNvPr id="9" name="S13-text238"/>
          <p:cNvSpPr txBox="1"/>
          <p:nvPr/>
        </p:nvSpPr>
        <p:spPr>
          <a:xfrm>
            <a:off x="4322064"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② 좋은 파일</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이름의 예</a:t>
            </a:r>
            <a:endParaRPr lang="ko-KR" sz="2400" dirty="0"/>
          </a:p>
        </p:txBody>
      </p:sp>
      <p:sp>
        <p:nvSpPr>
          <p:cNvPr id="10" name="S13-text239"/>
          <p:cNvSpPr txBox="1"/>
          <p:nvPr/>
        </p:nvSpPr>
        <p:spPr>
          <a:xfrm>
            <a:off x="8095488"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③ 파일을 여는</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순서</a:t>
            </a:r>
            <a:endParaRPr lang="ko-KR" sz="2400" dirty="0"/>
          </a:p>
        </p:txBody>
      </p:sp>
      <p:sp>
        <p:nvSpPr>
          <p:cNvPr id="11" name="S13-text240"/>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400" dirty="0">
                <a:solidFill>
                  <a:srgbClr val="C9DCD8"/>
                </a:solidFill>
                <a:latin typeface="맑은 고딕" pitchFamily="34" charset="0"/>
                <a:ea typeface="맑은 고딕" pitchFamily="34" charset="-122"/>
                <a:cs typeface="맑은 고딕" pitchFamily="34" charset="-120"/>
              </a:rPr>
              <a:t>다음 시간: 순서 정확히 설명하기</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보충: 차례대로 말하기</a:t>
            </a:r>
            <a:endParaRPr lang="ko-KR" sz="4000" dirty="0"/>
          </a:p>
        </p:txBody>
      </p:sp>
      <p:sp>
        <p:nvSpPr>
          <p:cNvPr id="3" name="S14-text241"/>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그림을 정리하는 차례예요.</a:t>
            </a:r>
            <a:endParaRPr lang="ko-KR" sz="3000" dirty="0"/>
          </a:p>
        </p:txBody>
      </p:sp>
      <p:sp>
        <p:nvSpPr>
          <p:cNvPr id="4" name="S14-card242"/>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14-cardtext243"/>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‘처음·그다음·마지막’을 넣으면 순서가 잘 보여요.</a:t>
            </a:r>
            <a:endParaRPr lang="ko-KR" sz="3000" dirty="0"/>
          </a:p>
        </p:txBody>
      </p:sp>
      <p:sp>
        <p:nvSpPr>
          <p:cNvPr id="6" name="S14-step244"/>
          <p:cNvSpPr txBox="1"/>
          <p:nvPr/>
        </p:nvSpPr>
        <p:spPr>
          <a:xfrm>
            <a:off x="1293876" y="2880360"/>
            <a:ext cx="2926080" cy="1371600"/>
          </a:xfrm>
          <a:prstGeom prst="roundRect">
            <a:avLst>
              <a:gd name="adj" fmla="val 8000"/>
            </a:avLst>
          </a:prstGeom>
          <a:solidFill>
            <a:srgbClr val="EAF3F1"/>
          </a:solidFill>
          <a:ln w="19050">
            <a:solidFill>
              <a:srgbClr val="264653"/>
            </a:solidFill>
          </a:ln>
        </p:spPr>
        <p:txBody>
          <a:bodyPr wrap="square" lIns="76200" tIns="50800" rIns="76200" bIns="5080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처음</a:t>
            </a:r>
            <a:endParaRPr lang="ko-KR" sz="2400" dirty="0"/>
          </a:p>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그림을 그려요</a:t>
            </a:r>
            <a:endParaRPr lang="ko-KR" sz="2400" dirty="0"/>
          </a:p>
        </p:txBody>
      </p:sp>
      <p:sp>
        <p:nvSpPr>
          <p:cNvPr id="7" name="S14-line245"/>
          <p:cNvSpPr/>
          <p:nvPr/>
        </p:nvSpPr>
        <p:spPr>
          <a:xfrm>
            <a:off x="4274820" y="3566160"/>
            <a:ext cx="301752" cy="0"/>
          </a:xfrm>
          <a:prstGeom prst="line">
            <a:avLst/>
          </a:prstGeom>
          <a:noFill/>
          <a:ln w="31750">
            <a:solidFill>
              <a:srgbClr val="3D5A80"/>
            </a:solidFill>
            <a:prstDash val="solid"/>
            <a:tailEnd type="triangle"/>
          </a:ln>
        </p:spPr>
      </p:sp>
      <p:sp>
        <p:nvSpPr>
          <p:cNvPr id="8" name="S14-step246"/>
          <p:cNvSpPr txBox="1"/>
          <p:nvPr/>
        </p:nvSpPr>
        <p:spPr>
          <a:xfrm>
            <a:off x="4631436" y="2880360"/>
            <a:ext cx="2926080" cy="1371600"/>
          </a:xfrm>
          <a:prstGeom prst="roundRect">
            <a:avLst>
              <a:gd name="adj" fmla="val 8000"/>
            </a:avLst>
          </a:prstGeom>
          <a:solidFill>
            <a:srgbClr val="EAF3F1"/>
          </a:solidFill>
          <a:ln w="19050">
            <a:solidFill>
              <a:srgbClr val="264653"/>
            </a:solidFill>
          </a:ln>
        </p:spPr>
        <p:txBody>
          <a:bodyPr wrap="square" lIns="76200" tIns="50800" rIns="76200" bIns="5080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그다음</a:t>
            </a:r>
            <a:endParaRPr lang="ko-KR" sz="2400" dirty="0"/>
          </a:p>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이름을 써요</a:t>
            </a:r>
            <a:endParaRPr lang="ko-KR" sz="2400" dirty="0"/>
          </a:p>
        </p:txBody>
      </p:sp>
      <p:sp>
        <p:nvSpPr>
          <p:cNvPr id="9" name="S14-line247"/>
          <p:cNvSpPr/>
          <p:nvPr/>
        </p:nvSpPr>
        <p:spPr>
          <a:xfrm>
            <a:off x="7612380" y="3566160"/>
            <a:ext cx="301752" cy="0"/>
          </a:xfrm>
          <a:prstGeom prst="line">
            <a:avLst/>
          </a:prstGeom>
          <a:noFill/>
          <a:ln w="31750">
            <a:solidFill>
              <a:srgbClr val="3D5A80"/>
            </a:solidFill>
            <a:prstDash val="solid"/>
            <a:tailEnd type="triangle"/>
          </a:ln>
        </p:spPr>
      </p:sp>
      <p:sp>
        <p:nvSpPr>
          <p:cNvPr id="10" name="S14-step248"/>
          <p:cNvSpPr txBox="1"/>
          <p:nvPr/>
        </p:nvSpPr>
        <p:spPr>
          <a:xfrm>
            <a:off x="7968996" y="2880360"/>
            <a:ext cx="2926080" cy="1371600"/>
          </a:xfrm>
          <a:prstGeom prst="roundRect">
            <a:avLst>
              <a:gd name="adj" fmla="val 8000"/>
            </a:avLst>
          </a:prstGeom>
          <a:solidFill>
            <a:srgbClr val="EAF3F1"/>
          </a:solidFill>
          <a:ln w="19050">
            <a:solidFill>
              <a:srgbClr val="264653"/>
            </a:solidFill>
          </a:ln>
        </p:spPr>
        <p:txBody>
          <a:bodyPr wrap="square" lIns="76200" tIns="50800" rIns="76200" bIns="5080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마지막</a:t>
            </a:r>
            <a:endParaRPr lang="ko-KR" sz="2400" dirty="0"/>
          </a:p>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서랍에 넣어요</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초3 정보·AI 파일 열고 저장하기</dc:title>
  <dc:subject>KR22-G03-INF-FILES-L01</dc:subject>
  <dc:creator>education-ppt</dc:creator>
  <cp:lastModifiedBy>education-ppt</cp:lastModifiedBy>
  <cp:revision>1</cp:revision>
  <dcterms:created xsi:type="dcterms:W3CDTF">2026-10-26T13:43:15Z</dcterms:created>
  <dcterms:modified xsi:type="dcterms:W3CDTF">2026-10-26T13:43:15Z</dcterms:modified>
</cp:coreProperties>
</file>