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ab32859-fbc9-c57d-0b54-b349d933d742}">
          <p14:sldIdLst>
            <p14:sldId id="256"/>
            <p14:sldId id="257"/>
          </p14:sldIdLst>
        </p14:section>
        <p14:section name="개념" id="{af2a1a41-558c-079f-77a6-77a9a21a3453}">
          <p14:sldIdLst>
            <p14:sldId id="258"/>
            <p14:sldId id="259"/>
            <p14:sldId id="261"/>
            <p14:sldId id="263"/>
          </p14:sldIdLst>
        </p14:section>
        <p14:section name="연습" id="{8b2bd442-b934-e772-159e-e02903c39fdf}">
          <p14:sldIdLst>
            <p14:sldId id="260"/>
            <p14:sldId id="262"/>
            <p14:sldId id="264"/>
            <p14:sldId id="265"/>
          </p14:sldIdLst>
        </p14:section>
        <p14:section name="개념" id="{8b4d7037-300a-d3e2-8615-1558c6968b16}">
          <p14:sldIdLst/>
        </p14:section>
        <p14:section name="연습" id="{6696a6b3-e2a8-9bfd-2daf-dcec25e7aacb}">
          <p14:sldIdLst/>
        </p14:section>
        <p14:section name="개념" id="{bb7c51da-fde4-d210-1e0e-96d596aa4f44}">
          <p14:sldIdLst/>
        </p14:section>
        <p14:section name="연습" id="{a2a7f049-9fad-6864-cd51-847a6f850888}">
          <p14:sldIdLst/>
        </p14:section>
        <p14:section name="확인" id="{80a9abda-be94-0884-3c81-d3060da7361e}">
          <p14:sldIdLst>
            <p14:sldId id="266"/>
            <p14:sldId id="267"/>
            <p14:sldId id="268"/>
          </p14:sldIdLst>
        </p14:section>
        <p14:section name="정리" id="{2b9491b0-1624-aa40-f46a-a19e8a60e191}">
          <p14:sldIdLst>
            <p14:sldId id="269"/>
          </p14:sldIdLst>
        </p14:section>
        <p14:section name="보충" id="{b58a5d10-75a7-0646-87af-fb701058f9a6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읽을 숫자·색깔·동물 낱말을 보여 주고 관심을 갖게 합니다.
시간: 약 2분
이렇게 말해 보세요
- “오른쪽 낱말 중에 읽을 수 있거나 뜻을 아는 낱말이 있어?”
- “오늘은 숫자, 색깔, 동물을 나타내는 영어 낱말을 읽어 볼 거야. 그림 대신 점의 수, 색, 우리말 뜻을 보면서 읽을 거야.”
예상 답
- “cat은 고양이요.” “three는 3이요.” “몰라요.”
주의
- 수업 전에 교과서 디지털 자료나 사전 앱의 발음 듣기로 오늘 낱말 18개(one~ten, red, blue, yellow, green, cat, dog, bird, fish)를 미리 들어 두세요. 부모님 발음이 완벽하지 않아도 괜찮습니다.
- 소리 자료 없이 진행하면 바른 소리를 확인하기 어렵습니다. 이때는 헷갈리는 낱말을 기록해 두었다가 소리 자료로 나중에 확인합니다.
- 이 차시는 글자 소리를 하나씩 이어 읽는 것이 아니라, 소리를 듣고 낱말 전체를 보며 따라 읽는 차시입니다.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확인(소문자 이름과 첫 글자)]
목적: 낱말을 읽으려면 소문자를 알아야 합니다. 소문자 이름과 낱말의 첫 글자를 찾는지 확인합니다.
시간: 약 3분
이렇게 말해 보세요
- “①의 소문자 이름을 하나씩 말해 줄래?”
- “②, 엄마(아빠)가 낱말을 말할게. cat. 첫 글자는 무엇일까?”
정답
- ① b, d, g, f (소리 자료의 이름과 같게 말하면 맞음)
- ② c
막히면
- b와 d를 바꿔 말하면 “볼록한 곳이 어느 쪽이야?”라고 묻습니다.
- ①에서 2글자 이상 이름을 말하지 못하거나 ②를 고르지 못하면 S15(보충)를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숫자 낱말 one~five]
목적: 숫자 낱말 one부터 five까지를 듣고 따라 읽으며 점의 수와 잇습니다.
시간: 약 3분
이렇게 말해 보세요
- “점을 세어 볼까? 점이 1개면 one이야. 소리를 듣고 따라 읽어 보자. one.”
- “점 2개는 two, 3개는 three, 4개는 four, 5개는 five.” (낱말을 손가락으로 짚으며 따라 읽게 합니다.)
- “엄마(아빠)가 낱말을 짚으면 읽고, 점이 몇 개인지 말해 줘.” (차례를 섞어 짚습니다.)
예상 답
- “one, two, three, four, five.” “four는 점이 4개예요.”
막히면
- 바둑돌을 점의 수만큼 놓으며 낱말을 함께 읽습니다.
- 소리 자료를 다시 들으며 낱말을 짚게 합니다.
주의
- 말로 one, two, three를 셀 줄 알아도 글자를 읽는 것은 다릅니다. 꼭 글자를 손가락으로 짚으며 읽게 합니다(M3).
- two, three는 첫 글자가 같습니다. 끝까지 보며 읽게 합니다(M1).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숫자 낱말 six~ten]
목적: 숫자 낱말 six부터 ten까지를 듣고 따라 읽으며 점의 수와 잇습니다.
시간: 약 3분
이렇게 말해 보세요
- “점이 둘씩 짝을 지어 있어. 둘, 넷, 여섯. 6개면 six야. 따라 읽어 봐.”
- “seven, eight, nine, ten.” (낱말을 짚으며 따라 읽게 합니다.)
- “six와 seven은 첫 글자가 둘 다 s야. 글자 수를 세어 볼까?”
예상 답
- “six, seven, eight, nine, ten.” “six는 세 글자, seven은 다섯 글자예요.”
막히면
- 점을 하나씩 세기 어려워하면 짝마다 손가락으로 짚으며 “둘, 넷, 여섯…”처럼 둘씩 세게 합니다.
- eight, nine처럼 길거나 낯선 낱말은 소리 자료를 여러 번 들으며 따라 읽습니다.
주의
- eight의 gh처럼 소리 나지 않는 글자가 있어 숫자 낱말은 글자대로 소리 나지 않습니다. 오늘은 낱말 전체를 보고 읽으면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숫자 낱말과 점 배열 잇기]
목적: 차례가 섞인 숫자 낱말을 읽고 알맞은 수의 점 배열을 찾습니다.
시간: 약 3분
이렇게 말해 보세요
- “①의 낱말을 읽어 볼래? 그 수만큼 점이 있는 것은 가, 나, 다 중에서 어느 것일까?”
- “②, ③도 해 보자. 어떻게 알았어?”
정답
- ① four → 나(점 4개) ② eight → 다(점 8개) ③ six → 가(점 6개)
막히면
- 낱말을 읽지 못하면 S03, S04를 다시 보여 주고 같은 낱말을 찾게 합니다.
- one부터 차례로 세어야 읽을 수 있으면 오늘은 그래도 괜찮습니다. 다음에는 차례를 섞어 바로 읽는 연습을 합니다(M2).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색깔 낱말]
목적: 색깔 낱말 red, blue, yellow, green을 듣고 따라 읽으며 색과 잇습니다.
시간: 약 3분
이렇게 말해 보세요
- “빨간색은 영어로 red야. 소리를 듣고 따라 읽어 보자. red.”
- “blue, yellow, green.” (낱말을 짚으며 따라 읽게 합니다.)
- “우리 집에서 red인 물건을 찾아볼까? yellow인 물건은?”
예상 답
- “red, blue, yellow, green.” “사과가 red예요.” “바나나는 yellow예요.”
막히면
- 색 견본을 손으로 짚고 낱말을 읽은 뒤, 같은 색 물건을 들고 다시 읽게 합니다.
주의
- 화면이나 프린터에 따라 색이 조금 다르게 보일 수 있습니다.
- 색을 구별하기 어려워하는 아이라면 색 견본 대신 실제 물건(바나나는 yellow처럼)과 우리말 뜻으로 확인합니다.
- blue와 앞으로 배울 bird는 첫 글자가 같습니다. 끝까지 보며 읽게 합니다(M1).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색깔 낱말 읽고 색 짚기]
목적: 색깔 낱말을 읽고 알맞은 색 견본을 짚습니다.
시간: 약 3분
이렇게 말해 보세요
- “①의 낱말을 읽어 볼래? 그 색은 가, 나, 다, 라 중에서 어느 것일까?”
- “②, ③, ④도 읽고 색을 짚어 봐.”
정답
- ① red → 라 ② yellow → 가 ③ green → 다 ④ blue → 나
막히면
- S06을 다시 보여 주고 같은 낱말을 찾아 색을 확인하게 합니다.
주의
- 색만으로 구별하기 어려운 아이는 부모가 우리말 뜻을 함께 말해 주고 낱말 읽기만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동물 낱말]
목적: 동물 낱말 cat, dog, bird, fish를 듣고 따라 읽으며 뜻을 잇습니다.
시간: 약 3분
이렇게 말해 보세요
- “소리를 듣고 따라 읽어 보자. cat, dog, bird, fish.”
- “아래 작은 글자는 우리말 뜻이야. bird는 무슨 뜻이야?”
- “엄마(아빠)가 우리말로 말하면 영어 낱말을 짚어 줘. 물고기! 개!”
예상 답
- “cat, dog, bird, fish.” “bird는 새예요.”
막히면
- 첫 글자를 짚으며 “지난번에 cat의 첫 글자는 c였지?”라고 소문자와 첫소리 차시를 떠올리게 합니다.
주의
- 여기까지가 낱말을 배우는 부분입니다. 아이가 지치면 여기서 나누어 다음 날 S09부터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비교(첫 글자가 같은 낱말)]
목적: 첫 글자만 보고 짐작하면 틀릴 수 있다는 것을 알고, 끝까지 보며 읽습니다(M1).
시간: 약 3분
이렇게 말해 보세요
- “친구가 seven을 보고 six라고 읽었대. 맞게 읽었을까?”
- “six와 seven은 둘 다 s로 시작해. 그럼 무엇이 다르지? 글자 수를 세어 볼까?”
- “fish와 five, bird와 blue도 첫 글자가 같아. 무엇이 다른지 찾아볼래?”
정답
- 바르게 읽지 않았습니다. six는 세 글자(점 6개), seven은 다섯 글자(점 7개)입니다.
- fish와 five: 둘째 글자부터 다릅니다(fish의 끝은 sh, five의 끝은 ve). bird와 blue: 둘째 글자가 i와 l로 다릅니다.
막히면
- 두 낱말을 위아래로 써 놓고 글자를 하나씩 짚으며 같은 글자, 다른 글자를 찾게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뜻을 듣고 낱말 짚기]
목적: 첫 글자가 같은 낱말 사이에서 뜻을 듣고 알맞은 낱말을 찾아 읽습니다.
시간: 약 3분
이렇게 말해 보세요
- “엄마(아빠)가 우리말로 말하면 그 뜻의 영어 낱말을 짚고 읽어 줘. 물고기!”
- 부모가 말할 차례: 물고기 → 파란색 → 열 → 새 → 다섯 → 둘
- “어떻게 찾았어? 첫 글자 말고 무엇을 봤어?”
정답
- 물고기 fish(첫째 줄 둘째), 파란색 blue(첫째 줄 셋째), 열 ten(둘째 줄 셋째)
- 새 bird(둘째 줄 첫째), 다섯 five(첫째 줄 첫째), 둘 two(둘째 줄 둘째)
막히면
- 첫 글자가 같은 두 낱말 가운데 고르게 범위를 좁혀 준 뒤, 끝 글자를 짚게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낱말 읽고 뜻 말하기]
목적: 도움 없이 숫자·색깔·동물 낱말을 읽고 뜻을 아는지 확인합니다.
시간: 약 4분
이렇게 말해 보세요
- “이번에는 혼자 해 볼래? ①부터 낱말을 소리 내어 읽고, 무슨 뜻인지 말하거나 보여 줘.”
- “숫자는 손가락이나 바둑돌로 보여 줘도 돼. 색깔은 그 색 물건을 가리켜도 돼.”
정답
- ① eight → 8(여덟) ② green → 초록색 ③ bird → 새 ④ three → 3(셋)
- 기준: 소리 자료와 비슷하게 읽고 뜻을 바르게 보이면 맞습니다. 읽지 못했지만 뜻을 맞혔다면 ‘도움’으로 표시합니다.
막히면
- 바로 알려 주지 말고 “첫 글자는 뭐야? 끝 글자까지 봐 볼까?”라고만 묻습니다.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확인하고 흔한 실수와 비교합니다.
시간: 약 2분
이렇게 말해 보세요
- “네가 읽은 것과 왼쪽 정답을 비교해 보자.”
- “오른쪽처럼 읽으면 왜 틀렸을까?”
예상 답
- “bird는 b 다음에 i가 있어요.” “three가 two보다 길어요.”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확인]
목적: 처음 보는 형식에서 숫자 낱말을 읽고 알맞은 점 배열을 고르는지 확인합니다.
시간: 약 2분
이렇게 말해 보세요
- “아래 낱말을 읽어 볼래? nine은 가, 나, 다, 라 중에서 어느 것일까? 어떻게 알았어?”
- “이번에는 엄마(아빠)가 종이에 five라고 써서 보여 줄게. 어느 것일까?”
정답
- nine → 나(점 9개). 가는 5개, 다는 10개, 라는 6개입니다.
- five → 가(점 5개)
막히면
- 점을 둘씩 묶어 세게 합니다.
- nine을 읽지 못하면 S04를 다시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 첫 5분에 풀 복습을 알려 줍니다.
시간: 약 2분
이렇게 말해 보세요
- “오늘 읽은 낱말 중에 가장 쉬운 낱말은? 가장 헷갈린 낱말은?”
- “첫 글자가 같은 낱말은 어떻게 구별해?”
예상 답
- “끝 글자까지 봐요.” “글자 수를 세어요.”
정답
- ① seven, 점 7개 ② 파란색 ③ cat은 고양이, dog은 개
주의
- 집에 있는 물건의 색이나 개수를 영어 낱말로 말해 보는 놀이를 하면 좋은 복습이 됩니다(예: 사과를 가리키며 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보충(소문자 이름과 첫 글자)]
목적: S02에서 소문자 이름이나 첫 글자 찾기가 흔들리면, 낱말을 읽기 전에 소문자를 먼저 다집니다.
시간: 약 5분
이렇게 말해 보세요
- “소문자를 다시 들어 보자. 소리를 듣고 한 글자씩 따라 말해 봐.” (교과서 디지털 자료나 사전 앱의 소리를 함께 듣습니다.)
- “오늘 읽을 낱말 cat, dog, bird, fish의 첫 글자를 여기서 찾아볼래?”
정답
- cat → c, dog → d, bird → b, fish → f
- 이름은 소리 자료와 같게 말하면 맞습니다.
막히면
- 대문자 카드와 소문자 카드를 짝 지어 놓고 이름을 함께 말합니다.
주의
- 이 차시는 계획상 바로 앞 차시가 없지만, 낱말을 읽으려면 소문자를 알아야 합니다. 보충 뒤에도 소문자 이름을 절반 넘게 말하지 못하면 ‘소문자와 첫소리’(KR22-G03-ENG-LOWER-L01)를 먼저 하고 이 차시를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읽기와문화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그림 보고 낱말 읽기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그림 보고 낱말 읽기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영어 · 그림 보고 낱말 읽기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보고 낱말 읽기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red, cat, three는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뜻일까요?</a:t>
            </a:r>
            <a:endParaRPr lang="ko-KR" sz="30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792480"/>
          </a:xfrm>
          <a:prstGeom prst="roundRect">
            <a:avLst>
              <a:gd name="adj" fmla="val 1615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</a:t>
            </a:r>
            <a:endParaRPr lang="ko-KR" sz="34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1706880"/>
            <a:ext cx="3931920" cy="792480"/>
          </a:xfrm>
          <a:prstGeom prst="roundRect">
            <a:avLst>
              <a:gd name="adj" fmla="val 1615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</a:t>
            </a:r>
            <a:endParaRPr lang="ko-KR" sz="3400" dirty="0"/>
          </a:p>
        </p:txBody>
      </p:sp>
      <p:sp>
        <p:nvSpPr>
          <p:cNvPr id="6" name="S01-word3"/>
          <p:cNvSpPr txBox="1"/>
          <p:nvPr/>
        </p:nvSpPr>
        <p:spPr>
          <a:xfrm>
            <a:off x="7680960" y="2773680"/>
            <a:ext cx="3931920" cy="792480"/>
          </a:xfrm>
          <a:prstGeom prst="roundRect">
            <a:avLst>
              <a:gd name="adj" fmla="val 1615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</a:t>
            </a:r>
            <a:endParaRPr lang="ko-KR" sz="3400" dirty="0"/>
          </a:p>
        </p:txBody>
      </p:sp>
      <p:sp>
        <p:nvSpPr>
          <p:cNvPr id="7" name="S01-card4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" name="S01-cardtext5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숫자·색깔·동물 낱말을 듣고 따라 읽어요.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낱말을 점의 수, 색, 뜻과 이어요.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소문자 떠올리기</a:t>
            </a:r>
            <a:endParaRPr lang="ko-KR" sz="4000" dirty="0"/>
          </a:p>
        </p:txBody>
      </p:sp>
      <p:sp>
        <p:nvSpPr>
          <p:cNvPr id="3" name="S02-text6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이름을 말하고, ②는 엄마(아빠)가 말하는 낱말의 첫 글자를 골라요.</a:t>
            </a:r>
            <a:endParaRPr lang="ko-KR" sz="3000" dirty="0"/>
          </a:p>
        </p:txBody>
      </p:sp>
      <p:sp>
        <p:nvSpPr>
          <p:cNvPr id="4" name="S02-chip7"/>
          <p:cNvSpPr txBox="1"/>
          <p:nvPr/>
        </p:nvSpPr>
        <p:spPr>
          <a:xfrm>
            <a:off x="548640" y="30540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ile8"/>
          <p:cNvSpPr txBox="1"/>
          <p:nvPr/>
        </p:nvSpPr>
        <p:spPr>
          <a:xfrm>
            <a:off x="1344168" y="272719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300" dirty="0"/>
          </a:p>
        </p:txBody>
      </p:sp>
      <p:sp>
        <p:nvSpPr>
          <p:cNvPr id="6" name="S02-tile9"/>
          <p:cNvSpPr txBox="1"/>
          <p:nvPr/>
        </p:nvSpPr>
        <p:spPr>
          <a:xfrm>
            <a:off x="2766060" y="272719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300" dirty="0"/>
          </a:p>
        </p:txBody>
      </p:sp>
      <p:sp>
        <p:nvSpPr>
          <p:cNvPr id="7" name="S02-tile10"/>
          <p:cNvSpPr txBox="1"/>
          <p:nvPr/>
        </p:nvSpPr>
        <p:spPr>
          <a:xfrm>
            <a:off x="4187952" y="272719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300" dirty="0"/>
          </a:p>
        </p:txBody>
      </p:sp>
      <p:sp>
        <p:nvSpPr>
          <p:cNvPr id="8" name="S02-tile11"/>
          <p:cNvSpPr txBox="1"/>
          <p:nvPr/>
        </p:nvSpPr>
        <p:spPr>
          <a:xfrm>
            <a:off x="5609844" y="272719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5300" dirty="0"/>
          </a:p>
        </p:txBody>
      </p:sp>
      <p:sp>
        <p:nvSpPr>
          <p:cNvPr id="9" name="S02-chip12"/>
          <p:cNvSpPr txBox="1"/>
          <p:nvPr/>
        </p:nvSpPr>
        <p:spPr>
          <a:xfrm>
            <a:off x="548640" y="5035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02-tile13"/>
          <p:cNvSpPr txBox="1"/>
          <p:nvPr/>
        </p:nvSpPr>
        <p:spPr>
          <a:xfrm>
            <a:off x="1828800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5900" dirty="0"/>
          </a:p>
        </p:txBody>
      </p:sp>
      <p:sp>
        <p:nvSpPr>
          <p:cNvPr id="11" name="S02-tile14"/>
          <p:cNvSpPr txBox="1"/>
          <p:nvPr/>
        </p:nvSpPr>
        <p:spPr>
          <a:xfrm>
            <a:off x="3401568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5900" dirty="0"/>
          </a:p>
        </p:txBody>
      </p:sp>
      <p:sp>
        <p:nvSpPr>
          <p:cNvPr id="12" name="S02-tile15"/>
          <p:cNvSpPr txBox="1"/>
          <p:nvPr/>
        </p:nvSpPr>
        <p:spPr>
          <a:xfrm>
            <a:off x="4974336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one부터 five까지</a:t>
            </a:r>
            <a:endParaRPr lang="ko-KR" sz="4000" dirty="0"/>
          </a:p>
        </p:txBody>
      </p:sp>
      <p:sp>
        <p:nvSpPr>
          <p:cNvPr id="3" name="S03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점을 세며 낱말을 따라 읽어요.</a:t>
            </a:r>
            <a:endParaRPr lang="ko-KR" sz="3000" dirty="0"/>
          </a:p>
        </p:txBody>
      </p:sp>
      <p:sp>
        <p:nvSpPr>
          <p:cNvPr id="5" name="S03-dot18"/>
          <p:cNvSpPr/>
          <p:nvPr/>
        </p:nvSpPr>
        <p:spPr>
          <a:xfrm>
            <a:off x="974293" y="20825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3-figure19" descr="점 1개를 3줄 2개씩 놓은 배열"/>
          <p:cNvSpPr/>
          <p:nvPr/>
        </p:nvSpPr>
        <p:spPr>
          <a:xfrm>
            <a:off x="843991" y="1952244"/>
            <a:ext cx="13716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03-label20"/>
          <p:cNvSpPr txBox="1"/>
          <p:nvPr/>
        </p:nvSpPr>
        <p:spPr>
          <a:xfrm>
            <a:off x="548640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</a:t>
            </a:r>
            <a:endParaRPr lang="ko-KR" sz="2400" dirty="0"/>
          </a:p>
        </p:txBody>
      </p:sp>
      <p:sp>
        <p:nvSpPr>
          <p:cNvPr id="8" name="S03-dot21"/>
          <p:cNvSpPr/>
          <p:nvPr/>
        </p:nvSpPr>
        <p:spPr>
          <a:xfrm>
            <a:off x="3256636" y="20825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dot22"/>
          <p:cNvSpPr/>
          <p:nvPr/>
        </p:nvSpPr>
        <p:spPr>
          <a:xfrm>
            <a:off x="3942436" y="20825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figure23" descr="점 2개를 3줄 2개씩 놓은 배열"/>
          <p:cNvSpPr/>
          <p:nvPr/>
        </p:nvSpPr>
        <p:spPr>
          <a:xfrm>
            <a:off x="3126334" y="1952244"/>
            <a:ext cx="13716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3-label24"/>
          <p:cNvSpPr txBox="1"/>
          <p:nvPr/>
        </p:nvSpPr>
        <p:spPr>
          <a:xfrm>
            <a:off x="2830982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</a:t>
            </a:r>
            <a:endParaRPr lang="ko-KR" sz="2400" dirty="0"/>
          </a:p>
        </p:txBody>
      </p:sp>
      <p:sp>
        <p:nvSpPr>
          <p:cNvPr id="12" name="S03-dot25"/>
          <p:cNvSpPr/>
          <p:nvPr/>
        </p:nvSpPr>
        <p:spPr>
          <a:xfrm>
            <a:off x="5538978" y="20825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dot26"/>
          <p:cNvSpPr/>
          <p:nvPr/>
        </p:nvSpPr>
        <p:spPr>
          <a:xfrm>
            <a:off x="6224778" y="20825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dot27"/>
          <p:cNvSpPr/>
          <p:nvPr/>
        </p:nvSpPr>
        <p:spPr>
          <a:xfrm>
            <a:off x="5538978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figure28" descr="점 3개를 3줄 2개씩 놓은 배열"/>
          <p:cNvSpPr/>
          <p:nvPr/>
        </p:nvSpPr>
        <p:spPr>
          <a:xfrm>
            <a:off x="5408676" y="1952244"/>
            <a:ext cx="13716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03-label29"/>
          <p:cNvSpPr txBox="1"/>
          <p:nvPr/>
        </p:nvSpPr>
        <p:spPr>
          <a:xfrm>
            <a:off x="5113325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</a:t>
            </a:r>
            <a:endParaRPr lang="ko-KR" sz="2400" dirty="0"/>
          </a:p>
        </p:txBody>
      </p:sp>
      <p:sp>
        <p:nvSpPr>
          <p:cNvPr id="17" name="S03-dot30"/>
          <p:cNvSpPr/>
          <p:nvPr/>
        </p:nvSpPr>
        <p:spPr>
          <a:xfrm>
            <a:off x="7821320" y="20825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dot31"/>
          <p:cNvSpPr/>
          <p:nvPr/>
        </p:nvSpPr>
        <p:spPr>
          <a:xfrm>
            <a:off x="8507120" y="20825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3-dot32"/>
          <p:cNvSpPr/>
          <p:nvPr/>
        </p:nvSpPr>
        <p:spPr>
          <a:xfrm>
            <a:off x="7821320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3-dot33"/>
          <p:cNvSpPr/>
          <p:nvPr/>
        </p:nvSpPr>
        <p:spPr>
          <a:xfrm>
            <a:off x="8507120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3-figure34" descr="점 4개를 3줄 2개씩 놓은 배열"/>
          <p:cNvSpPr/>
          <p:nvPr/>
        </p:nvSpPr>
        <p:spPr>
          <a:xfrm>
            <a:off x="7691018" y="1952244"/>
            <a:ext cx="13716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3-label35"/>
          <p:cNvSpPr txBox="1"/>
          <p:nvPr/>
        </p:nvSpPr>
        <p:spPr>
          <a:xfrm>
            <a:off x="7395667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</a:t>
            </a:r>
            <a:endParaRPr lang="ko-KR" sz="2400" dirty="0"/>
          </a:p>
        </p:txBody>
      </p:sp>
      <p:sp>
        <p:nvSpPr>
          <p:cNvPr id="23" name="S03-dot36"/>
          <p:cNvSpPr/>
          <p:nvPr/>
        </p:nvSpPr>
        <p:spPr>
          <a:xfrm>
            <a:off x="10103663" y="20825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3-dot37"/>
          <p:cNvSpPr/>
          <p:nvPr/>
        </p:nvSpPr>
        <p:spPr>
          <a:xfrm>
            <a:off x="10789463" y="20825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3-dot38"/>
          <p:cNvSpPr/>
          <p:nvPr/>
        </p:nvSpPr>
        <p:spPr>
          <a:xfrm>
            <a:off x="10103663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3-dot39"/>
          <p:cNvSpPr/>
          <p:nvPr/>
        </p:nvSpPr>
        <p:spPr>
          <a:xfrm>
            <a:off x="10789463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3-dot40"/>
          <p:cNvSpPr/>
          <p:nvPr/>
        </p:nvSpPr>
        <p:spPr>
          <a:xfrm>
            <a:off x="10103663" y="34541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3-figure41" descr="점 5개를 3줄 2개씩 놓은 배열"/>
          <p:cNvSpPr/>
          <p:nvPr/>
        </p:nvSpPr>
        <p:spPr>
          <a:xfrm>
            <a:off x="9973361" y="1952244"/>
            <a:ext cx="13716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03-label42"/>
          <p:cNvSpPr txBox="1"/>
          <p:nvPr/>
        </p:nvSpPr>
        <p:spPr>
          <a:xfrm>
            <a:off x="9678010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five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six부터 ten까지</a:t>
            </a:r>
            <a:endParaRPr lang="ko-KR" sz="4000" dirty="0"/>
          </a:p>
        </p:txBody>
      </p:sp>
      <p:sp>
        <p:nvSpPr>
          <p:cNvPr id="3" name="S04-card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점을 둘씩 묶어 세면 빨라요.</a:t>
            </a:r>
            <a:endParaRPr lang="ko-KR" sz="3000" dirty="0"/>
          </a:p>
        </p:txBody>
      </p:sp>
      <p:sp>
        <p:nvSpPr>
          <p:cNvPr id="5" name="S04-dot45"/>
          <p:cNvSpPr/>
          <p:nvPr/>
        </p:nvSpPr>
        <p:spPr>
          <a:xfrm>
            <a:off x="1085393" y="171358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4-dot46"/>
          <p:cNvSpPr/>
          <p:nvPr/>
        </p:nvSpPr>
        <p:spPr>
          <a:xfrm>
            <a:off x="1634033" y="171358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4-dot47"/>
          <p:cNvSpPr/>
          <p:nvPr/>
        </p:nvSpPr>
        <p:spPr>
          <a:xfrm>
            <a:off x="1085393" y="226222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4-dot48"/>
          <p:cNvSpPr/>
          <p:nvPr/>
        </p:nvSpPr>
        <p:spPr>
          <a:xfrm>
            <a:off x="1634033" y="226222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4-dot49"/>
          <p:cNvSpPr/>
          <p:nvPr/>
        </p:nvSpPr>
        <p:spPr>
          <a:xfrm>
            <a:off x="1085393" y="281086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4-dot50"/>
          <p:cNvSpPr/>
          <p:nvPr/>
        </p:nvSpPr>
        <p:spPr>
          <a:xfrm>
            <a:off x="1634033" y="281086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4-figure51" descr="점 6개를 5줄 2개씩 놓은 배열"/>
          <p:cNvSpPr/>
          <p:nvPr/>
        </p:nvSpPr>
        <p:spPr>
          <a:xfrm>
            <a:off x="981151" y="1609344"/>
            <a:ext cx="109728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04-label52"/>
          <p:cNvSpPr txBox="1"/>
          <p:nvPr/>
        </p:nvSpPr>
        <p:spPr>
          <a:xfrm>
            <a:off x="548640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six</a:t>
            </a:r>
            <a:endParaRPr lang="ko-KR" sz="2400" dirty="0"/>
          </a:p>
        </p:txBody>
      </p:sp>
      <p:sp>
        <p:nvSpPr>
          <p:cNvPr id="13" name="S04-dot53"/>
          <p:cNvSpPr/>
          <p:nvPr/>
        </p:nvSpPr>
        <p:spPr>
          <a:xfrm>
            <a:off x="3367735" y="171358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4-dot54"/>
          <p:cNvSpPr/>
          <p:nvPr/>
        </p:nvSpPr>
        <p:spPr>
          <a:xfrm>
            <a:off x="3916375" y="171358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4-dot55"/>
          <p:cNvSpPr/>
          <p:nvPr/>
        </p:nvSpPr>
        <p:spPr>
          <a:xfrm>
            <a:off x="3367735" y="226222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4-dot56"/>
          <p:cNvSpPr/>
          <p:nvPr/>
        </p:nvSpPr>
        <p:spPr>
          <a:xfrm>
            <a:off x="3916375" y="226222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4-dot57"/>
          <p:cNvSpPr/>
          <p:nvPr/>
        </p:nvSpPr>
        <p:spPr>
          <a:xfrm>
            <a:off x="3367735" y="281086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4-dot58"/>
          <p:cNvSpPr/>
          <p:nvPr/>
        </p:nvSpPr>
        <p:spPr>
          <a:xfrm>
            <a:off x="3916375" y="281086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4-dot59"/>
          <p:cNvSpPr/>
          <p:nvPr/>
        </p:nvSpPr>
        <p:spPr>
          <a:xfrm>
            <a:off x="3367735" y="335950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4-figure60" descr="점 7개를 5줄 2개씩 놓은 배열"/>
          <p:cNvSpPr/>
          <p:nvPr/>
        </p:nvSpPr>
        <p:spPr>
          <a:xfrm>
            <a:off x="3263494" y="1609344"/>
            <a:ext cx="109728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04-label61"/>
          <p:cNvSpPr txBox="1"/>
          <p:nvPr/>
        </p:nvSpPr>
        <p:spPr>
          <a:xfrm>
            <a:off x="2830982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seven</a:t>
            </a:r>
            <a:endParaRPr lang="ko-KR" sz="2400" dirty="0"/>
          </a:p>
        </p:txBody>
      </p:sp>
      <p:sp>
        <p:nvSpPr>
          <p:cNvPr id="22" name="S04-dot62"/>
          <p:cNvSpPr/>
          <p:nvPr/>
        </p:nvSpPr>
        <p:spPr>
          <a:xfrm>
            <a:off x="5650078" y="171358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4-dot63"/>
          <p:cNvSpPr/>
          <p:nvPr/>
        </p:nvSpPr>
        <p:spPr>
          <a:xfrm>
            <a:off x="6198718" y="171358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4-dot64"/>
          <p:cNvSpPr/>
          <p:nvPr/>
        </p:nvSpPr>
        <p:spPr>
          <a:xfrm>
            <a:off x="5650078" y="226222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4-dot65"/>
          <p:cNvSpPr/>
          <p:nvPr/>
        </p:nvSpPr>
        <p:spPr>
          <a:xfrm>
            <a:off x="6198718" y="226222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4-dot66"/>
          <p:cNvSpPr/>
          <p:nvPr/>
        </p:nvSpPr>
        <p:spPr>
          <a:xfrm>
            <a:off x="5650078" y="281086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4-dot67"/>
          <p:cNvSpPr/>
          <p:nvPr/>
        </p:nvSpPr>
        <p:spPr>
          <a:xfrm>
            <a:off x="6198718" y="281086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4-dot68"/>
          <p:cNvSpPr/>
          <p:nvPr/>
        </p:nvSpPr>
        <p:spPr>
          <a:xfrm>
            <a:off x="5650078" y="335950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4-dot69"/>
          <p:cNvSpPr/>
          <p:nvPr/>
        </p:nvSpPr>
        <p:spPr>
          <a:xfrm>
            <a:off x="6198718" y="335950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4-figure70" descr="점 8개를 5줄 2개씩 놓은 배열"/>
          <p:cNvSpPr/>
          <p:nvPr/>
        </p:nvSpPr>
        <p:spPr>
          <a:xfrm>
            <a:off x="5545836" y="1609344"/>
            <a:ext cx="109728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04-label71"/>
          <p:cNvSpPr txBox="1"/>
          <p:nvPr/>
        </p:nvSpPr>
        <p:spPr>
          <a:xfrm>
            <a:off x="5113325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eight</a:t>
            </a:r>
            <a:endParaRPr lang="ko-KR" sz="2400" dirty="0"/>
          </a:p>
        </p:txBody>
      </p:sp>
      <p:sp>
        <p:nvSpPr>
          <p:cNvPr id="32" name="S04-dot72"/>
          <p:cNvSpPr/>
          <p:nvPr/>
        </p:nvSpPr>
        <p:spPr>
          <a:xfrm>
            <a:off x="7932420" y="171358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4-dot73"/>
          <p:cNvSpPr/>
          <p:nvPr/>
        </p:nvSpPr>
        <p:spPr>
          <a:xfrm>
            <a:off x="8481060" y="171358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4-dot74"/>
          <p:cNvSpPr/>
          <p:nvPr/>
        </p:nvSpPr>
        <p:spPr>
          <a:xfrm>
            <a:off x="7932420" y="226222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4-dot75"/>
          <p:cNvSpPr/>
          <p:nvPr/>
        </p:nvSpPr>
        <p:spPr>
          <a:xfrm>
            <a:off x="8481060" y="226222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4-dot76"/>
          <p:cNvSpPr/>
          <p:nvPr/>
        </p:nvSpPr>
        <p:spPr>
          <a:xfrm>
            <a:off x="7932420" y="281086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4-dot77"/>
          <p:cNvSpPr/>
          <p:nvPr/>
        </p:nvSpPr>
        <p:spPr>
          <a:xfrm>
            <a:off x="8481060" y="281086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4-dot78"/>
          <p:cNvSpPr/>
          <p:nvPr/>
        </p:nvSpPr>
        <p:spPr>
          <a:xfrm>
            <a:off x="7932420" y="335950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04-dot79"/>
          <p:cNvSpPr/>
          <p:nvPr/>
        </p:nvSpPr>
        <p:spPr>
          <a:xfrm>
            <a:off x="8481060" y="335950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04-dot80"/>
          <p:cNvSpPr/>
          <p:nvPr/>
        </p:nvSpPr>
        <p:spPr>
          <a:xfrm>
            <a:off x="7932420" y="390814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04-figure81" descr="점 9개를 5줄 2개씩 놓은 배열"/>
          <p:cNvSpPr/>
          <p:nvPr/>
        </p:nvSpPr>
        <p:spPr>
          <a:xfrm>
            <a:off x="7828178" y="1609344"/>
            <a:ext cx="109728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04-label82"/>
          <p:cNvSpPr txBox="1"/>
          <p:nvPr/>
        </p:nvSpPr>
        <p:spPr>
          <a:xfrm>
            <a:off x="7395667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nine</a:t>
            </a:r>
            <a:endParaRPr lang="ko-KR" sz="2400" dirty="0"/>
          </a:p>
        </p:txBody>
      </p:sp>
      <p:sp>
        <p:nvSpPr>
          <p:cNvPr id="43" name="S04-dot83"/>
          <p:cNvSpPr/>
          <p:nvPr/>
        </p:nvSpPr>
        <p:spPr>
          <a:xfrm>
            <a:off x="10214762" y="171358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4-dot84"/>
          <p:cNvSpPr/>
          <p:nvPr/>
        </p:nvSpPr>
        <p:spPr>
          <a:xfrm>
            <a:off x="10763402" y="171358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04-dot85"/>
          <p:cNvSpPr/>
          <p:nvPr/>
        </p:nvSpPr>
        <p:spPr>
          <a:xfrm>
            <a:off x="10214762" y="226222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04-dot86"/>
          <p:cNvSpPr/>
          <p:nvPr/>
        </p:nvSpPr>
        <p:spPr>
          <a:xfrm>
            <a:off x="10763402" y="226222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04-dot87"/>
          <p:cNvSpPr/>
          <p:nvPr/>
        </p:nvSpPr>
        <p:spPr>
          <a:xfrm>
            <a:off x="10214762" y="281086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04-dot88"/>
          <p:cNvSpPr/>
          <p:nvPr/>
        </p:nvSpPr>
        <p:spPr>
          <a:xfrm>
            <a:off x="10763402" y="281086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04-dot89"/>
          <p:cNvSpPr/>
          <p:nvPr/>
        </p:nvSpPr>
        <p:spPr>
          <a:xfrm>
            <a:off x="10214762" y="335950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4-dot90"/>
          <p:cNvSpPr/>
          <p:nvPr/>
        </p:nvSpPr>
        <p:spPr>
          <a:xfrm>
            <a:off x="10763402" y="335950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4-dot91"/>
          <p:cNvSpPr/>
          <p:nvPr/>
        </p:nvSpPr>
        <p:spPr>
          <a:xfrm>
            <a:off x="10214762" y="390814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4-dot92"/>
          <p:cNvSpPr/>
          <p:nvPr/>
        </p:nvSpPr>
        <p:spPr>
          <a:xfrm>
            <a:off x="10763402" y="390814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04-figure93" descr="점 10개를 5줄 2개씩 놓은 배열"/>
          <p:cNvSpPr/>
          <p:nvPr/>
        </p:nvSpPr>
        <p:spPr>
          <a:xfrm>
            <a:off x="10110521" y="1609344"/>
            <a:ext cx="109728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04-label94"/>
          <p:cNvSpPr txBox="1"/>
          <p:nvPr/>
        </p:nvSpPr>
        <p:spPr>
          <a:xfrm>
            <a:off x="9678010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점의 수를 찾아요</a:t>
            </a:r>
            <a:endParaRPr lang="ko-KR" sz="4000" dirty="0"/>
          </a:p>
        </p:txBody>
      </p:sp>
      <p:sp>
        <p:nvSpPr>
          <p:cNvPr id="3" name="S05-text9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읽고 알맞은 점을 찾아요.</a:t>
            </a:r>
            <a:endParaRPr lang="ko-KR" sz="3000" dirty="0"/>
          </a:p>
        </p:txBody>
      </p:sp>
      <p:sp>
        <p:nvSpPr>
          <p:cNvPr id="4" name="S05-card9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9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점을 둘씩 묶어 세면 빨라요.</a:t>
            </a:r>
            <a:endParaRPr lang="ko-KR" sz="3000" dirty="0"/>
          </a:p>
        </p:txBody>
      </p:sp>
      <p:sp>
        <p:nvSpPr>
          <p:cNvPr id="6" name="S05-dot98"/>
          <p:cNvSpPr/>
          <p:nvPr/>
        </p:nvSpPr>
        <p:spPr>
          <a:xfrm>
            <a:off x="6694170" y="22677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5-dot99"/>
          <p:cNvSpPr/>
          <p:nvPr/>
        </p:nvSpPr>
        <p:spPr>
          <a:xfrm>
            <a:off x="7151370" y="22677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5-dot100"/>
          <p:cNvSpPr/>
          <p:nvPr/>
        </p:nvSpPr>
        <p:spPr>
          <a:xfrm>
            <a:off x="6694170" y="27249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5-dot101"/>
          <p:cNvSpPr/>
          <p:nvPr/>
        </p:nvSpPr>
        <p:spPr>
          <a:xfrm>
            <a:off x="7151370" y="27249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5-dot102"/>
          <p:cNvSpPr/>
          <p:nvPr/>
        </p:nvSpPr>
        <p:spPr>
          <a:xfrm>
            <a:off x="6694170" y="31821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5-dot103"/>
          <p:cNvSpPr/>
          <p:nvPr/>
        </p:nvSpPr>
        <p:spPr>
          <a:xfrm>
            <a:off x="7151370" y="31821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5-figure104" descr="점 6개를 5줄 2개씩 놓은 배열"/>
          <p:cNvSpPr/>
          <p:nvPr/>
        </p:nvSpPr>
        <p:spPr>
          <a:xfrm>
            <a:off x="6607302" y="2180844"/>
            <a:ext cx="914400" cy="2286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05-label105"/>
          <p:cNvSpPr txBox="1"/>
          <p:nvPr/>
        </p:nvSpPr>
        <p:spPr>
          <a:xfrm>
            <a:off x="6277356" y="4709160"/>
            <a:ext cx="15742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14" name="S05-dot106"/>
          <p:cNvSpPr/>
          <p:nvPr/>
        </p:nvSpPr>
        <p:spPr>
          <a:xfrm>
            <a:off x="8588502" y="22677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5-dot107"/>
          <p:cNvSpPr/>
          <p:nvPr/>
        </p:nvSpPr>
        <p:spPr>
          <a:xfrm>
            <a:off x="9045702" y="22677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5-dot108"/>
          <p:cNvSpPr/>
          <p:nvPr/>
        </p:nvSpPr>
        <p:spPr>
          <a:xfrm>
            <a:off x="8588502" y="27249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5-dot109"/>
          <p:cNvSpPr/>
          <p:nvPr/>
        </p:nvSpPr>
        <p:spPr>
          <a:xfrm>
            <a:off x="9045702" y="27249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5-figure110" descr="점 4개를 5줄 2개씩 놓은 배열"/>
          <p:cNvSpPr/>
          <p:nvPr/>
        </p:nvSpPr>
        <p:spPr>
          <a:xfrm>
            <a:off x="8501634" y="2180844"/>
            <a:ext cx="914400" cy="2286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05-label111"/>
          <p:cNvSpPr txBox="1"/>
          <p:nvPr/>
        </p:nvSpPr>
        <p:spPr>
          <a:xfrm>
            <a:off x="8171688" y="4709160"/>
            <a:ext cx="15742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20" name="S05-dot112"/>
          <p:cNvSpPr/>
          <p:nvPr/>
        </p:nvSpPr>
        <p:spPr>
          <a:xfrm>
            <a:off x="10482834" y="22677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5-dot113"/>
          <p:cNvSpPr/>
          <p:nvPr/>
        </p:nvSpPr>
        <p:spPr>
          <a:xfrm>
            <a:off x="10940034" y="22677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5-dot114"/>
          <p:cNvSpPr/>
          <p:nvPr/>
        </p:nvSpPr>
        <p:spPr>
          <a:xfrm>
            <a:off x="10482834" y="27249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5-dot115"/>
          <p:cNvSpPr/>
          <p:nvPr/>
        </p:nvSpPr>
        <p:spPr>
          <a:xfrm>
            <a:off x="10940034" y="27249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5-dot116"/>
          <p:cNvSpPr/>
          <p:nvPr/>
        </p:nvSpPr>
        <p:spPr>
          <a:xfrm>
            <a:off x="10482834" y="31821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5-dot117"/>
          <p:cNvSpPr/>
          <p:nvPr/>
        </p:nvSpPr>
        <p:spPr>
          <a:xfrm>
            <a:off x="10940034" y="31821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5-dot118"/>
          <p:cNvSpPr/>
          <p:nvPr/>
        </p:nvSpPr>
        <p:spPr>
          <a:xfrm>
            <a:off x="10482834" y="36393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5-dot119"/>
          <p:cNvSpPr/>
          <p:nvPr/>
        </p:nvSpPr>
        <p:spPr>
          <a:xfrm>
            <a:off x="10940034" y="36393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5-figure120" descr="점 8개를 5줄 2개씩 놓은 배열"/>
          <p:cNvSpPr/>
          <p:nvPr/>
        </p:nvSpPr>
        <p:spPr>
          <a:xfrm>
            <a:off x="10395966" y="2180844"/>
            <a:ext cx="914400" cy="2286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05-label121"/>
          <p:cNvSpPr txBox="1"/>
          <p:nvPr/>
        </p:nvSpPr>
        <p:spPr>
          <a:xfrm>
            <a:off x="10066020" y="4709160"/>
            <a:ext cx="15742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30" name="S05-chip12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31" name="S05-text123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</a:t>
            </a:r>
            <a:endParaRPr lang="ko-KR" sz="3000" dirty="0"/>
          </a:p>
        </p:txBody>
      </p:sp>
      <p:sp>
        <p:nvSpPr>
          <p:cNvPr id="32" name="S05-chip12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33" name="S05-text125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eight</a:t>
            </a:r>
            <a:endParaRPr lang="ko-KR" sz="3000" dirty="0"/>
          </a:p>
        </p:txBody>
      </p:sp>
      <p:sp>
        <p:nvSpPr>
          <p:cNvPr id="34" name="S05-chip12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35" name="S05-text127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six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색깔 낱말</a:t>
            </a:r>
            <a:endParaRPr lang="ko-KR" sz="4000" dirty="0"/>
          </a:p>
        </p:txBody>
      </p:sp>
      <p:sp>
        <p:nvSpPr>
          <p:cNvPr id="3" name="S06-card1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1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색을 보며 낱말을 따라 읽어요.</a:t>
            </a:r>
            <a:endParaRPr lang="ko-KR" sz="3000" dirty="0"/>
          </a:p>
        </p:txBody>
      </p:sp>
      <p:sp>
        <p:nvSpPr>
          <p:cNvPr id="5" name="S06-figure130" descr="빨간색, 파란색, 노란색, 초록색 색 견본 네 개와 그 아래에 쓴 낱말 red, blue, yellow, green"/>
          <p:cNvSpPr/>
          <p:nvPr/>
        </p:nvSpPr>
        <p:spPr>
          <a:xfrm>
            <a:off x="1065276" y="1531620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1828800"/>
                </a:moveTo>
                <a:lnTo>
                  <a:pt x="1828800" y="1828800"/>
                </a:lnTo>
                <a:lnTo>
                  <a:pt x="1828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D62828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6-mark131"/>
          <p:cNvSpPr/>
          <p:nvPr/>
        </p:nvSpPr>
        <p:spPr>
          <a:xfrm>
            <a:off x="3808476" y="1531620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1828800"/>
                </a:moveTo>
                <a:lnTo>
                  <a:pt x="1828800" y="1828800"/>
                </a:lnTo>
                <a:lnTo>
                  <a:pt x="1828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1F5FC4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6-mark132"/>
          <p:cNvSpPr/>
          <p:nvPr/>
        </p:nvSpPr>
        <p:spPr>
          <a:xfrm>
            <a:off x="6551676" y="1531620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1828800"/>
                </a:moveTo>
                <a:lnTo>
                  <a:pt x="1828800" y="1828800"/>
                </a:lnTo>
                <a:lnTo>
                  <a:pt x="1828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D21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6-mark133"/>
          <p:cNvSpPr/>
          <p:nvPr/>
        </p:nvSpPr>
        <p:spPr>
          <a:xfrm>
            <a:off x="9294876" y="1531620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1828800"/>
                </a:moveTo>
                <a:lnTo>
                  <a:pt x="1828800" y="1828800"/>
                </a:lnTo>
                <a:lnTo>
                  <a:pt x="1828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E9E44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6-label135"/>
          <p:cNvSpPr txBox="1"/>
          <p:nvPr/>
        </p:nvSpPr>
        <p:spPr>
          <a:xfrm>
            <a:off x="1668780" y="3672840"/>
            <a:ext cx="6217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</a:t>
            </a:r>
            <a:endParaRPr lang="ko-KR" sz="2400" dirty="0"/>
          </a:p>
        </p:txBody>
      </p:sp>
      <p:sp>
        <p:nvSpPr>
          <p:cNvPr id="10" name="S06-label137"/>
          <p:cNvSpPr txBox="1"/>
          <p:nvPr/>
        </p:nvSpPr>
        <p:spPr>
          <a:xfrm>
            <a:off x="1476756" y="4312920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빨간색</a:t>
            </a:r>
            <a:endParaRPr lang="ko-KR" sz="2400" dirty="0"/>
          </a:p>
        </p:txBody>
      </p:sp>
      <p:sp>
        <p:nvSpPr>
          <p:cNvPr id="11" name="S06-label139"/>
          <p:cNvSpPr txBox="1"/>
          <p:nvPr/>
        </p:nvSpPr>
        <p:spPr>
          <a:xfrm>
            <a:off x="4326636" y="3672840"/>
            <a:ext cx="7924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blue</a:t>
            </a:r>
            <a:endParaRPr lang="ko-KR" sz="2400" dirty="0"/>
          </a:p>
        </p:txBody>
      </p:sp>
      <p:sp>
        <p:nvSpPr>
          <p:cNvPr id="12" name="S06-label141"/>
          <p:cNvSpPr txBox="1"/>
          <p:nvPr/>
        </p:nvSpPr>
        <p:spPr>
          <a:xfrm>
            <a:off x="4219956" y="4312920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파란색</a:t>
            </a:r>
            <a:endParaRPr lang="ko-KR" sz="2400" dirty="0"/>
          </a:p>
        </p:txBody>
      </p:sp>
      <p:sp>
        <p:nvSpPr>
          <p:cNvPr id="13" name="S06-label143"/>
          <p:cNvSpPr txBox="1"/>
          <p:nvPr/>
        </p:nvSpPr>
        <p:spPr>
          <a:xfrm>
            <a:off x="6859524" y="3672840"/>
            <a:ext cx="12131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yellow</a:t>
            </a:r>
            <a:endParaRPr lang="ko-KR" sz="2400" dirty="0"/>
          </a:p>
        </p:txBody>
      </p:sp>
      <p:sp>
        <p:nvSpPr>
          <p:cNvPr id="14" name="S06-label145"/>
          <p:cNvSpPr txBox="1"/>
          <p:nvPr/>
        </p:nvSpPr>
        <p:spPr>
          <a:xfrm>
            <a:off x="6963156" y="4312920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노란색</a:t>
            </a:r>
            <a:endParaRPr lang="ko-KR" sz="2400" dirty="0"/>
          </a:p>
        </p:txBody>
      </p:sp>
      <p:sp>
        <p:nvSpPr>
          <p:cNvPr id="15" name="S06-label147"/>
          <p:cNvSpPr txBox="1"/>
          <p:nvPr/>
        </p:nvSpPr>
        <p:spPr>
          <a:xfrm>
            <a:off x="9727692" y="3672840"/>
            <a:ext cx="9631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green</a:t>
            </a:r>
            <a:endParaRPr lang="ko-KR" sz="2400" dirty="0"/>
          </a:p>
        </p:txBody>
      </p:sp>
      <p:sp>
        <p:nvSpPr>
          <p:cNvPr id="16" name="S06-label149"/>
          <p:cNvSpPr txBox="1"/>
          <p:nvPr/>
        </p:nvSpPr>
        <p:spPr>
          <a:xfrm>
            <a:off x="9706356" y="4312920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초록색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색을 짚어요</a:t>
            </a:r>
            <a:endParaRPr lang="ko-KR" sz="4000" dirty="0"/>
          </a:p>
        </p:txBody>
      </p:sp>
      <p:sp>
        <p:nvSpPr>
          <p:cNvPr id="3" name="S07-text1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읽고 알맞은 색을 찾아요.</a:t>
            </a:r>
            <a:endParaRPr lang="ko-KR" sz="3000" dirty="0"/>
          </a:p>
        </p:txBody>
      </p:sp>
      <p:sp>
        <p:nvSpPr>
          <p:cNvPr id="4" name="S07-figure151" descr="색 견본 네 개: 가 노란색, 나 파란색, 다 초록색, 라 빨간색"/>
          <p:cNvSpPr/>
          <p:nvPr/>
        </p:nvSpPr>
        <p:spPr>
          <a:xfrm>
            <a:off x="7078759" y="2103120"/>
            <a:ext cx="1504060" cy="1504060"/>
          </a:xfrm>
          <a:custGeom>
            <a:avLst/>
            <a:gdLst/>
            <a:ahLst/>
            <a:cxnLst/>
            <a:rect l="l" t="t" r="r" b="b"/>
            <a:pathLst>
              <a:path w="1504060" h="1504060">
                <a:moveTo>
                  <a:pt x="0" y="1504060"/>
                </a:moveTo>
                <a:lnTo>
                  <a:pt x="1504060" y="1504060"/>
                </a:lnTo>
                <a:lnTo>
                  <a:pt x="1504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D21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7-mark152"/>
          <p:cNvSpPr/>
          <p:nvPr/>
        </p:nvSpPr>
        <p:spPr>
          <a:xfrm>
            <a:off x="9334849" y="2103120"/>
            <a:ext cx="1504060" cy="1504060"/>
          </a:xfrm>
          <a:custGeom>
            <a:avLst/>
            <a:gdLst/>
            <a:ahLst/>
            <a:cxnLst/>
            <a:rect l="l" t="t" r="r" b="b"/>
            <a:pathLst>
              <a:path w="1504060" h="1504060">
                <a:moveTo>
                  <a:pt x="0" y="1504060"/>
                </a:moveTo>
                <a:lnTo>
                  <a:pt x="1504060" y="1504060"/>
                </a:lnTo>
                <a:lnTo>
                  <a:pt x="1504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1F5FC4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7-mark153"/>
          <p:cNvSpPr/>
          <p:nvPr/>
        </p:nvSpPr>
        <p:spPr>
          <a:xfrm>
            <a:off x="7078759" y="4284007"/>
            <a:ext cx="1504060" cy="1504060"/>
          </a:xfrm>
          <a:custGeom>
            <a:avLst/>
            <a:gdLst/>
            <a:ahLst/>
            <a:cxnLst/>
            <a:rect l="l" t="t" r="r" b="b"/>
            <a:pathLst>
              <a:path w="1504060" h="1504060">
                <a:moveTo>
                  <a:pt x="0" y="1504060"/>
                </a:moveTo>
                <a:lnTo>
                  <a:pt x="1504060" y="1504060"/>
                </a:lnTo>
                <a:lnTo>
                  <a:pt x="1504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2E9E44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7-mark154"/>
          <p:cNvSpPr/>
          <p:nvPr/>
        </p:nvSpPr>
        <p:spPr>
          <a:xfrm>
            <a:off x="9334849" y="4284007"/>
            <a:ext cx="1504060" cy="1504060"/>
          </a:xfrm>
          <a:custGeom>
            <a:avLst/>
            <a:gdLst/>
            <a:ahLst/>
            <a:cxnLst/>
            <a:rect l="l" t="t" r="r" b="b"/>
            <a:pathLst>
              <a:path w="1504060" h="1504060">
                <a:moveTo>
                  <a:pt x="0" y="1504060"/>
                </a:moveTo>
                <a:lnTo>
                  <a:pt x="1504060" y="1504060"/>
                </a:lnTo>
                <a:lnTo>
                  <a:pt x="1504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D62828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7-label156"/>
          <p:cNvSpPr txBox="1"/>
          <p:nvPr/>
        </p:nvSpPr>
        <p:spPr>
          <a:xfrm>
            <a:off x="7626573" y="3755093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9" name="S07-label158"/>
          <p:cNvSpPr txBox="1"/>
          <p:nvPr/>
        </p:nvSpPr>
        <p:spPr>
          <a:xfrm>
            <a:off x="9882663" y="3755093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7-label160"/>
          <p:cNvSpPr txBox="1"/>
          <p:nvPr/>
        </p:nvSpPr>
        <p:spPr>
          <a:xfrm>
            <a:off x="7626573" y="593598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11" name="S07-label162"/>
          <p:cNvSpPr txBox="1"/>
          <p:nvPr/>
        </p:nvSpPr>
        <p:spPr>
          <a:xfrm>
            <a:off x="9882663" y="593598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400" dirty="0"/>
          </a:p>
        </p:txBody>
      </p:sp>
      <p:sp>
        <p:nvSpPr>
          <p:cNvPr id="12" name="S07-chip16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3" name="S07-text164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</a:t>
            </a:r>
            <a:endParaRPr lang="ko-KR" sz="3000" dirty="0"/>
          </a:p>
        </p:txBody>
      </p:sp>
      <p:sp>
        <p:nvSpPr>
          <p:cNvPr id="14" name="S07-chip16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5" name="S07-text166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yellow</a:t>
            </a:r>
            <a:endParaRPr lang="ko-KR" sz="3000" dirty="0"/>
          </a:p>
        </p:txBody>
      </p:sp>
      <p:sp>
        <p:nvSpPr>
          <p:cNvPr id="16" name="S07-chip16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7" name="S07-text168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green</a:t>
            </a:r>
            <a:endParaRPr lang="ko-KR" sz="3000" dirty="0"/>
          </a:p>
        </p:txBody>
      </p:sp>
      <p:sp>
        <p:nvSpPr>
          <p:cNvPr id="18" name="S07-chip169"/>
          <p:cNvSpPr txBox="1"/>
          <p:nvPr/>
        </p:nvSpPr>
        <p:spPr>
          <a:xfrm>
            <a:off x="548640" y="54772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9" name="S07-text170"/>
          <p:cNvSpPr txBox="1"/>
          <p:nvPr/>
        </p:nvSpPr>
        <p:spPr>
          <a:xfrm>
            <a:off x="1344168" y="530352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blue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 낱말</a:t>
            </a:r>
            <a:endParaRPr lang="ko-KR" sz="4000" dirty="0"/>
          </a:p>
        </p:txBody>
      </p:sp>
      <p:sp>
        <p:nvSpPr>
          <p:cNvPr id="3" name="S08-card1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1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글자부터 끝 글자까지 보며 읽어요.</a:t>
            </a:r>
            <a:endParaRPr lang="ko-KR" sz="3000" dirty="0"/>
          </a:p>
        </p:txBody>
      </p:sp>
      <p:sp>
        <p:nvSpPr>
          <p:cNvPr id="5" name="S08-word173"/>
          <p:cNvSpPr txBox="1"/>
          <p:nvPr/>
        </p:nvSpPr>
        <p:spPr>
          <a:xfrm>
            <a:off x="548640" y="23545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</a:t>
            </a:r>
            <a:endParaRPr lang="ko-KR" sz="3400" dirty="0"/>
          </a:p>
        </p:txBody>
      </p:sp>
      <p:sp>
        <p:nvSpPr>
          <p:cNvPr id="6" name="S08-word174"/>
          <p:cNvSpPr txBox="1"/>
          <p:nvPr/>
        </p:nvSpPr>
        <p:spPr>
          <a:xfrm>
            <a:off x="3390138" y="23545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dog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</a:t>
            </a:r>
            <a:endParaRPr lang="ko-KR" sz="3400" dirty="0"/>
          </a:p>
        </p:txBody>
      </p:sp>
      <p:sp>
        <p:nvSpPr>
          <p:cNvPr id="7" name="S08-word175"/>
          <p:cNvSpPr txBox="1"/>
          <p:nvPr/>
        </p:nvSpPr>
        <p:spPr>
          <a:xfrm>
            <a:off x="6231636" y="23545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bird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</a:t>
            </a:r>
            <a:endParaRPr lang="ko-KR" sz="3400" dirty="0"/>
          </a:p>
        </p:txBody>
      </p:sp>
      <p:sp>
        <p:nvSpPr>
          <p:cNvPr id="8" name="S08-word176"/>
          <p:cNvSpPr txBox="1"/>
          <p:nvPr/>
        </p:nvSpPr>
        <p:spPr>
          <a:xfrm>
            <a:off x="9073134" y="23545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fish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물고기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six일까요, seven일까요?</a:t>
            </a:r>
            <a:endParaRPr lang="ko-KR" sz="4000" dirty="0"/>
          </a:p>
        </p:txBody>
      </p:sp>
      <p:sp>
        <p:nvSpPr>
          <p:cNvPr id="3" name="S09-card17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7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seven을 보고 ‘six’라고 읽었어요.</a:t>
            </a:r>
            <a:endParaRPr lang="ko-KR" sz="3000" dirty="0"/>
          </a:p>
        </p:txBody>
      </p:sp>
      <p:sp>
        <p:nvSpPr>
          <p:cNvPr id="5" name="S09-card1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바르게 읽었나요? 두 낱말은 무엇이 다른가요?</a:t>
            </a:r>
            <a:endParaRPr lang="ko-KR" sz="3000" dirty="0"/>
          </a:p>
        </p:txBody>
      </p:sp>
      <p:sp>
        <p:nvSpPr>
          <p:cNvPr id="7" name="S09-chip18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six</a:t>
            </a:r>
            <a:endParaRPr lang="ko-KR" sz="2400" dirty="0"/>
          </a:p>
        </p:txBody>
      </p:sp>
      <p:sp>
        <p:nvSpPr>
          <p:cNvPr id="8" name="S09-dot182"/>
          <p:cNvSpPr/>
          <p:nvPr/>
        </p:nvSpPr>
        <p:spPr>
          <a:xfrm>
            <a:off x="2911632" y="3229386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9-dot183"/>
          <p:cNvSpPr/>
          <p:nvPr/>
        </p:nvSpPr>
        <p:spPr>
          <a:xfrm>
            <a:off x="3304824" y="3229386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9-dot184"/>
          <p:cNvSpPr/>
          <p:nvPr/>
        </p:nvSpPr>
        <p:spPr>
          <a:xfrm>
            <a:off x="2911632" y="3622578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9-dot185"/>
          <p:cNvSpPr/>
          <p:nvPr/>
        </p:nvSpPr>
        <p:spPr>
          <a:xfrm>
            <a:off x="3304824" y="3622578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9-dot186"/>
          <p:cNvSpPr/>
          <p:nvPr/>
        </p:nvSpPr>
        <p:spPr>
          <a:xfrm>
            <a:off x="2911632" y="4015770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9-dot187"/>
          <p:cNvSpPr/>
          <p:nvPr/>
        </p:nvSpPr>
        <p:spPr>
          <a:xfrm>
            <a:off x="3304824" y="4015770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9-figure188" descr="점 6개를 5줄 2개씩 놓은 배열"/>
          <p:cNvSpPr/>
          <p:nvPr/>
        </p:nvSpPr>
        <p:spPr>
          <a:xfrm>
            <a:off x="2836926" y="3154680"/>
            <a:ext cx="786384" cy="1965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09-chip18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seven</a:t>
            </a:r>
            <a:endParaRPr lang="ko-KR" sz="2400" dirty="0"/>
          </a:p>
        </p:txBody>
      </p:sp>
      <p:sp>
        <p:nvSpPr>
          <p:cNvPr id="16" name="S09-dot190"/>
          <p:cNvSpPr/>
          <p:nvPr/>
        </p:nvSpPr>
        <p:spPr>
          <a:xfrm>
            <a:off x="8640348" y="3229386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9-dot191"/>
          <p:cNvSpPr/>
          <p:nvPr/>
        </p:nvSpPr>
        <p:spPr>
          <a:xfrm>
            <a:off x="9033540" y="3229386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9-dot192"/>
          <p:cNvSpPr/>
          <p:nvPr/>
        </p:nvSpPr>
        <p:spPr>
          <a:xfrm>
            <a:off x="8640348" y="3622578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9-dot193"/>
          <p:cNvSpPr/>
          <p:nvPr/>
        </p:nvSpPr>
        <p:spPr>
          <a:xfrm>
            <a:off x="9033540" y="3622578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9-dot194"/>
          <p:cNvSpPr/>
          <p:nvPr/>
        </p:nvSpPr>
        <p:spPr>
          <a:xfrm>
            <a:off x="8640348" y="4015770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9-dot195"/>
          <p:cNvSpPr/>
          <p:nvPr/>
        </p:nvSpPr>
        <p:spPr>
          <a:xfrm>
            <a:off x="9033540" y="4015770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9-dot196"/>
          <p:cNvSpPr/>
          <p:nvPr/>
        </p:nvSpPr>
        <p:spPr>
          <a:xfrm>
            <a:off x="8640348" y="4408962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9-figure197" descr="점 7개를 5줄 2개씩 놓은 배열"/>
          <p:cNvSpPr/>
          <p:nvPr/>
        </p:nvSpPr>
        <p:spPr>
          <a:xfrm>
            <a:off x="8565642" y="3154680"/>
            <a:ext cx="786384" cy="1965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낱말을 짚어요</a:t>
            </a:r>
            <a:endParaRPr lang="ko-KR" sz="4000" dirty="0"/>
          </a:p>
        </p:txBody>
      </p:sp>
      <p:sp>
        <p:nvSpPr>
          <p:cNvPr id="3" name="S10-text19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뜻의 낱말을 짚고 읽어요.</a:t>
            </a:r>
            <a:endParaRPr lang="ko-KR" sz="3000" dirty="0"/>
          </a:p>
        </p:txBody>
      </p:sp>
      <p:sp>
        <p:nvSpPr>
          <p:cNvPr id="4" name="S10-word199"/>
          <p:cNvSpPr txBox="1"/>
          <p:nvPr/>
        </p:nvSpPr>
        <p:spPr>
          <a:xfrm>
            <a:off x="548640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five</a:t>
            </a:r>
            <a:endParaRPr lang="ko-KR" sz="3400" dirty="0"/>
          </a:p>
        </p:txBody>
      </p:sp>
      <p:sp>
        <p:nvSpPr>
          <p:cNvPr id="5" name="S10-word200"/>
          <p:cNvSpPr txBox="1"/>
          <p:nvPr/>
        </p:nvSpPr>
        <p:spPr>
          <a:xfrm>
            <a:off x="4337304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fish</a:t>
            </a:r>
            <a:endParaRPr lang="ko-KR" sz="3400" dirty="0"/>
          </a:p>
        </p:txBody>
      </p:sp>
      <p:sp>
        <p:nvSpPr>
          <p:cNvPr id="6" name="S10-word201"/>
          <p:cNvSpPr txBox="1"/>
          <p:nvPr/>
        </p:nvSpPr>
        <p:spPr>
          <a:xfrm>
            <a:off x="8125968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blue</a:t>
            </a:r>
            <a:endParaRPr lang="ko-KR" sz="3400" dirty="0"/>
          </a:p>
        </p:txBody>
      </p:sp>
      <p:sp>
        <p:nvSpPr>
          <p:cNvPr id="7" name="S10-word202"/>
          <p:cNvSpPr txBox="1"/>
          <p:nvPr/>
        </p:nvSpPr>
        <p:spPr>
          <a:xfrm>
            <a:off x="548640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bird</a:t>
            </a:r>
            <a:endParaRPr lang="ko-KR" sz="3400" dirty="0"/>
          </a:p>
        </p:txBody>
      </p:sp>
      <p:sp>
        <p:nvSpPr>
          <p:cNvPr id="8" name="S10-word203"/>
          <p:cNvSpPr txBox="1"/>
          <p:nvPr/>
        </p:nvSpPr>
        <p:spPr>
          <a:xfrm>
            <a:off x="4337304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</a:t>
            </a:r>
            <a:endParaRPr lang="ko-KR" sz="3400" dirty="0"/>
          </a:p>
        </p:txBody>
      </p:sp>
      <p:sp>
        <p:nvSpPr>
          <p:cNvPr id="9" name="S10-word204"/>
          <p:cNvSpPr txBox="1"/>
          <p:nvPr/>
        </p:nvSpPr>
        <p:spPr>
          <a:xfrm>
            <a:off x="8125968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소리 내어 읽고, 뜻을 말하거나 보여 주세요.</a:t>
            </a:r>
            <a:endParaRPr lang="ko-KR" sz="3000" dirty="0"/>
          </a:p>
        </p:txBody>
      </p:sp>
      <p:sp>
        <p:nvSpPr>
          <p:cNvPr id="4" name="S11-chip20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text20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eight</a:t>
            </a:r>
            <a:endParaRPr lang="ko-KR" sz="3000" dirty="0"/>
          </a:p>
        </p:txBody>
      </p:sp>
      <p:sp>
        <p:nvSpPr>
          <p:cNvPr id="6" name="S11-chip20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1-text20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green</a:t>
            </a:r>
            <a:endParaRPr lang="ko-KR" sz="3000" dirty="0"/>
          </a:p>
        </p:txBody>
      </p:sp>
      <p:sp>
        <p:nvSpPr>
          <p:cNvPr id="8" name="S11-chip21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1-text211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bird</a:t>
            </a:r>
            <a:endParaRPr lang="ko-KR" sz="3000" dirty="0"/>
          </a:p>
        </p:txBody>
      </p:sp>
      <p:sp>
        <p:nvSpPr>
          <p:cNvPr id="10" name="S11-chip212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1-text213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2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2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글자가 같으면 끝 글자까지 보고 읽어요.</a:t>
            </a:r>
            <a:endParaRPr lang="ko-KR" sz="3000" dirty="0"/>
          </a:p>
        </p:txBody>
      </p:sp>
      <p:sp>
        <p:nvSpPr>
          <p:cNvPr id="5" name="S12-chip21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217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eight</a:t>
            </a:r>
            <a:endParaRPr lang="ko-KR" sz="3000" dirty="0"/>
          </a:p>
        </p:txBody>
      </p:sp>
      <p:sp>
        <p:nvSpPr>
          <p:cNvPr id="7" name="S12-text218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8, 여덟</a:t>
            </a:r>
            <a:endParaRPr lang="ko-KR" sz="2400" dirty="0"/>
          </a:p>
        </p:txBody>
      </p:sp>
      <p:sp>
        <p:nvSpPr>
          <p:cNvPr id="8" name="S12-text219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green</a:t>
            </a:r>
            <a:endParaRPr lang="ko-KR" sz="3000" dirty="0"/>
          </a:p>
        </p:txBody>
      </p:sp>
      <p:sp>
        <p:nvSpPr>
          <p:cNvPr id="9" name="S12-text220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초록색</a:t>
            </a:r>
            <a:endParaRPr lang="ko-KR" sz="2400" dirty="0"/>
          </a:p>
        </p:txBody>
      </p:sp>
      <p:sp>
        <p:nvSpPr>
          <p:cNvPr id="10" name="S12-text221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bird</a:t>
            </a:r>
            <a:endParaRPr lang="ko-KR" sz="3000" dirty="0"/>
          </a:p>
        </p:txBody>
      </p:sp>
      <p:sp>
        <p:nvSpPr>
          <p:cNvPr id="11" name="S12-text222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</a:t>
            </a:r>
            <a:endParaRPr lang="ko-KR" sz="2400" dirty="0"/>
          </a:p>
        </p:txBody>
      </p:sp>
      <p:sp>
        <p:nvSpPr>
          <p:cNvPr id="12" name="S12-text223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three</a:t>
            </a:r>
            <a:endParaRPr lang="ko-KR" sz="3000" dirty="0"/>
          </a:p>
        </p:txBody>
      </p:sp>
      <p:sp>
        <p:nvSpPr>
          <p:cNvPr id="13" name="S12-text224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 셋</a:t>
            </a:r>
            <a:endParaRPr lang="ko-KR" sz="2400" dirty="0"/>
          </a:p>
        </p:txBody>
      </p:sp>
      <p:sp>
        <p:nvSpPr>
          <p:cNvPr id="14" name="S12-chip225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2-text226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bird를 blue로</a:t>
            </a:r>
            <a:endParaRPr lang="ko-KR" sz="3000" dirty="0"/>
          </a:p>
        </p:txBody>
      </p:sp>
      <p:sp>
        <p:nvSpPr>
          <p:cNvPr id="16" name="S12-text227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봐요</a:t>
            </a:r>
            <a:endParaRPr lang="ko-KR" sz="2400" dirty="0"/>
          </a:p>
        </p:txBody>
      </p:sp>
      <p:sp>
        <p:nvSpPr>
          <p:cNvPr id="17" name="S12-text228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two로</a:t>
            </a:r>
            <a:endParaRPr lang="ko-KR" sz="3000" dirty="0"/>
          </a:p>
        </p:txBody>
      </p:sp>
      <p:sp>
        <p:nvSpPr>
          <p:cNvPr id="18" name="S12-text229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수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nine은 어느 것일까요?</a:t>
            </a:r>
            <a:endParaRPr lang="ko-KR" sz="4000" dirty="0"/>
          </a:p>
        </p:txBody>
      </p:sp>
      <p:sp>
        <p:nvSpPr>
          <p:cNvPr id="3" name="S13-card2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2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nine을 읽고 알맞은 점을 골라요. 어떻게 알았나요?</a:t>
            </a:r>
            <a:endParaRPr lang="ko-KR" sz="3000" dirty="0"/>
          </a:p>
        </p:txBody>
      </p:sp>
      <p:sp>
        <p:nvSpPr>
          <p:cNvPr id="5" name="S13-chip232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3-dot233"/>
          <p:cNvSpPr/>
          <p:nvPr/>
        </p:nvSpPr>
        <p:spPr>
          <a:xfrm>
            <a:off x="3342726" y="1392768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3-dot234"/>
          <p:cNvSpPr/>
          <p:nvPr/>
        </p:nvSpPr>
        <p:spPr>
          <a:xfrm>
            <a:off x="3694770" y="1392768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3-dot235"/>
          <p:cNvSpPr/>
          <p:nvPr/>
        </p:nvSpPr>
        <p:spPr>
          <a:xfrm>
            <a:off x="3342726" y="1744812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3-dot236"/>
          <p:cNvSpPr/>
          <p:nvPr/>
        </p:nvSpPr>
        <p:spPr>
          <a:xfrm>
            <a:off x="3694770" y="1744812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3-dot237"/>
          <p:cNvSpPr/>
          <p:nvPr/>
        </p:nvSpPr>
        <p:spPr>
          <a:xfrm>
            <a:off x="3342726" y="2096856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3-figure238" descr="점 5개를 5줄 2개씩 놓은 배열"/>
          <p:cNvSpPr/>
          <p:nvPr/>
        </p:nvSpPr>
        <p:spPr>
          <a:xfrm>
            <a:off x="3275838" y="1325880"/>
            <a:ext cx="704088" cy="17602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13-chip239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3" name="S13-dot240"/>
          <p:cNvSpPr/>
          <p:nvPr/>
        </p:nvSpPr>
        <p:spPr>
          <a:xfrm>
            <a:off x="9071442" y="1392768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3-dot241"/>
          <p:cNvSpPr/>
          <p:nvPr/>
        </p:nvSpPr>
        <p:spPr>
          <a:xfrm>
            <a:off x="9423486" y="1392768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3-dot242"/>
          <p:cNvSpPr/>
          <p:nvPr/>
        </p:nvSpPr>
        <p:spPr>
          <a:xfrm>
            <a:off x="9071442" y="1744812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3-dot243"/>
          <p:cNvSpPr/>
          <p:nvPr/>
        </p:nvSpPr>
        <p:spPr>
          <a:xfrm>
            <a:off x="9423486" y="1744812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3-dot244"/>
          <p:cNvSpPr/>
          <p:nvPr/>
        </p:nvSpPr>
        <p:spPr>
          <a:xfrm>
            <a:off x="9071442" y="2096856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3-dot245"/>
          <p:cNvSpPr/>
          <p:nvPr/>
        </p:nvSpPr>
        <p:spPr>
          <a:xfrm>
            <a:off x="9423486" y="2096856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3-dot246"/>
          <p:cNvSpPr/>
          <p:nvPr/>
        </p:nvSpPr>
        <p:spPr>
          <a:xfrm>
            <a:off x="9071442" y="2448900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3-dot247"/>
          <p:cNvSpPr/>
          <p:nvPr/>
        </p:nvSpPr>
        <p:spPr>
          <a:xfrm>
            <a:off x="9423486" y="2448900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3-dot248"/>
          <p:cNvSpPr/>
          <p:nvPr/>
        </p:nvSpPr>
        <p:spPr>
          <a:xfrm>
            <a:off x="9071442" y="2800944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3-figure249" descr="점 9개를 5줄 2개씩 놓은 배열"/>
          <p:cNvSpPr/>
          <p:nvPr/>
        </p:nvSpPr>
        <p:spPr>
          <a:xfrm>
            <a:off x="9004554" y="1325880"/>
            <a:ext cx="704088" cy="17602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13-chip250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24" name="S13-dot251"/>
          <p:cNvSpPr/>
          <p:nvPr/>
        </p:nvSpPr>
        <p:spPr>
          <a:xfrm>
            <a:off x="3342726" y="3427308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13-dot252"/>
          <p:cNvSpPr/>
          <p:nvPr/>
        </p:nvSpPr>
        <p:spPr>
          <a:xfrm>
            <a:off x="3694770" y="3427308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13-dot253"/>
          <p:cNvSpPr/>
          <p:nvPr/>
        </p:nvSpPr>
        <p:spPr>
          <a:xfrm>
            <a:off x="3342726" y="3779352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13-dot254"/>
          <p:cNvSpPr/>
          <p:nvPr/>
        </p:nvSpPr>
        <p:spPr>
          <a:xfrm>
            <a:off x="3694770" y="3779352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3-dot255"/>
          <p:cNvSpPr/>
          <p:nvPr/>
        </p:nvSpPr>
        <p:spPr>
          <a:xfrm>
            <a:off x="3342726" y="4131396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13-dot256"/>
          <p:cNvSpPr/>
          <p:nvPr/>
        </p:nvSpPr>
        <p:spPr>
          <a:xfrm>
            <a:off x="3694770" y="4131396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3-dot257"/>
          <p:cNvSpPr/>
          <p:nvPr/>
        </p:nvSpPr>
        <p:spPr>
          <a:xfrm>
            <a:off x="3342726" y="4483440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13-dot258"/>
          <p:cNvSpPr/>
          <p:nvPr/>
        </p:nvSpPr>
        <p:spPr>
          <a:xfrm>
            <a:off x="3694770" y="4483440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13-dot259"/>
          <p:cNvSpPr/>
          <p:nvPr/>
        </p:nvSpPr>
        <p:spPr>
          <a:xfrm>
            <a:off x="3342726" y="4835484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13-dot260"/>
          <p:cNvSpPr/>
          <p:nvPr/>
        </p:nvSpPr>
        <p:spPr>
          <a:xfrm>
            <a:off x="3694770" y="4835484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13-figure261" descr="점 10개를 5줄 2개씩 놓은 배열"/>
          <p:cNvSpPr/>
          <p:nvPr/>
        </p:nvSpPr>
        <p:spPr>
          <a:xfrm>
            <a:off x="3275838" y="3360420"/>
            <a:ext cx="704088" cy="17602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13-chip262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36" name="S13-dot263"/>
          <p:cNvSpPr/>
          <p:nvPr/>
        </p:nvSpPr>
        <p:spPr>
          <a:xfrm>
            <a:off x="9071442" y="3427308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13-dot264"/>
          <p:cNvSpPr/>
          <p:nvPr/>
        </p:nvSpPr>
        <p:spPr>
          <a:xfrm>
            <a:off x="9423486" y="3427308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13-dot265"/>
          <p:cNvSpPr/>
          <p:nvPr/>
        </p:nvSpPr>
        <p:spPr>
          <a:xfrm>
            <a:off x="9071442" y="3779352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13-dot266"/>
          <p:cNvSpPr/>
          <p:nvPr/>
        </p:nvSpPr>
        <p:spPr>
          <a:xfrm>
            <a:off x="9423486" y="3779352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13-dot267"/>
          <p:cNvSpPr/>
          <p:nvPr/>
        </p:nvSpPr>
        <p:spPr>
          <a:xfrm>
            <a:off x="9071442" y="4131396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13-dot268"/>
          <p:cNvSpPr/>
          <p:nvPr/>
        </p:nvSpPr>
        <p:spPr>
          <a:xfrm>
            <a:off x="9423486" y="4131396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13-figure269" descr="점 6개를 5줄 2개씩 놓은 배열"/>
          <p:cNvSpPr/>
          <p:nvPr/>
        </p:nvSpPr>
        <p:spPr>
          <a:xfrm>
            <a:off x="9004554" y="3360420"/>
            <a:ext cx="704088" cy="17602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70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71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점을 세고, 색을 보고, 뜻을 떠올리며 읽어요.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글자가 같으면 끝 글자까지 봐요.</a:t>
            </a:r>
            <a:endParaRPr lang="ko-KR" sz="3000" dirty="0"/>
          </a:p>
        </p:txBody>
      </p:sp>
      <p:sp>
        <p:nvSpPr>
          <p:cNvPr id="5" name="S14-chip272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끝 글자까지 보기</a:t>
            </a:r>
            <a:endParaRPr lang="ko-KR" sz="2400" dirty="0"/>
          </a:p>
        </p:txBody>
      </p:sp>
      <p:sp>
        <p:nvSpPr>
          <p:cNvPr id="6" name="S14-chip273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첫 글자만 보고 읽기</a:t>
            </a:r>
            <a:endParaRPr lang="ko-KR" sz="2400" dirty="0"/>
          </a:p>
        </p:txBody>
      </p:sp>
      <p:sp>
        <p:nvSpPr>
          <p:cNvPr id="7" name="S14-text274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275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seven을 읽고 점 그리기</a:t>
            </a:r>
            <a:endParaRPr lang="ko-KR" sz="2400" dirty="0"/>
          </a:p>
        </p:txBody>
      </p:sp>
      <p:sp>
        <p:nvSpPr>
          <p:cNvPr id="9" name="S14-text276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blue는 무슨 색?</a:t>
            </a:r>
            <a:endParaRPr lang="ko-KR" sz="2400" dirty="0"/>
          </a:p>
        </p:txBody>
      </p:sp>
      <p:sp>
        <p:nvSpPr>
          <p:cNvPr id="10" name="S14-text277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cat과 dog의 뜻은?</a:t>
            </a:r>
            <a:endParaRPr lang="ko-KR" sz="2400" dirty="0"/>
          </a:p>
        </p:txBody>
      </p:sp>
      <p:sp>
        <p:nvSpPr>
          <p:cNvPr id="11" name="S14-text27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나라별 인사 문화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소문자 다시 보기</a:t>
            </a:r>
            <a:endParaRPr lang="ko-KR" sz="4000" dirty="0"/>
          </a:p>
        </p:txBody>
      </p:sp>
      <p:sp>
        <p:nvSpPr>
          <p:cNvPr id="3" name="S15-card279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280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듣고 이름을 따라 말해요.</a:t>
            </a:r>
            <a:endParaRPr lang="ko-KR" sz="3000" dirty="0"/>
          </a:p>
        </p:txBody>
      </p:sp>
      <p:sp>
        <p:nvSpPr>
          <p:cNvPr id="5" name="S15-card281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5-cardtext282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낱말의 첫 글자를 찾아요.</a:t>
            </a:r>
            <a:endParaRPr lang="ko-KR" sz="3000" dirty="0"/>
          </a:p>
        </p:txBody>
      </p:sp>
      <p:sp>
        <p:nvSpPr>
          <p:cNvPr id="7" name="S15-tile283"/>
          <p:cNvSpPr txBox="1"/>
          <p:nvPr/>
        </p:nvSpPr>
        <p:spPr>
          <a:xfrm>
            <a:off x="54864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2900" dirty="0"/>
          </a:p>
        </p:txBody>
      </p:sp>
      <p:sp>
        <p:nvSpPr>
          <p:cNvPr id="8" name="S15-tile284"/>
          <p:cNvSpPr txBox="1"/>
          <p:nvPr/>
        </p:nvSpPr>
        <p:spPr>
          <a:xfrm>
            <a:off x="141732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2900" dirty="0"/>
          </a:p>
        </p:txBody>
      </p:sp>
      <p:sp>
        <p:nvSpPr>
          <p:cNvPr id="9" name="S15-tile285"/>
          <p:cNvSpPr txBox="1"/>
          <p:nvPr/>
        </p:nvSpPr>
        <p:spPr>
          <a:xfrm>
            <a:off x="228600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2900" dirty="0"/>
          </a:p>
        </p:txBody>
      </p:sp>
      <p:sp>
        <p:nvSpPr>
          <p:cNvPr id="10" name="S15-tile286"/>
          <p:cNvSpPr txBox="1"/>
          <p:nvPr/>
        </p:nvSpPr>
        <p:spPr>
          <a:xfrm>
            <a:off x="315468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2900" dirty="0"/>
          </a:p>
        </p:txBody>
      </p:sp>
      <p:sp>
        <p:nvSpPr>
          <p:cNvPr id="11" name="S15-tile287"/>
          <p:cNvSpPr txBox="1"/>
          <p:nvPr/>
        </p:nvSpPr>
        <p:spPr>
          <a:xfrm>
            <a:off x="402336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2900" dirty="0"/>
          </a:p>
        </p:txBody>
      </p:sp>
      <p:sp>
        <p:nvSpPr>
          <p:cNvPr id="12" name="S15-tile288"/>
          <p:cNvSpPr txBox="1"/>
          <p:nvPr/>
        </p:nvSpPr>
        <p:spPr>
          <a:xfrm>
            <a:off x="489204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2900" dirty="0"/>
          </a:p>
        </p:txBody>
      </p:sp>
      <p:sp>
        <p:nvSpPr>
          <p:cNvPr id="13" name="S15-tile289"/>
          <p:cNvSpPr txBox="1"/>
          <p:nvPr/>
        </p:nvSpPr>
        <p:spPr>
          <a:xfrm>
            <a:off x="576072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2900" dirty="0"/>
          </a:p>
        </p:txBody>
      </p:sp>
      <p:sp>
        <p:nvSpPr>
          <p:cNvPr id="14" name="S15-tile290"/>
          <p:cNvSpPr txBox="1"/>
          <p:nvPr/>
        </p:nvSpPr>
        <p:spPr>
          <a:xfrm>
            <a:off x="662940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2900" dirty="0"/>
          </a:p>
        </p:txBody>
      </p:sp>
      <p:sp>
        <p:nvSpPr>
          <p:cNvPr id="15" name="S15-tile291"/>
          <p:cNvSpPr txBox="1"/>
          <p:nvPr/>
        </p:nvSpPr>
        <p:spPr>
          <a:xfrm>
            <a:off x="749808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2900" dirty="0"/>
          </a:p>
        </p:txBody>
      </p:sp>
      <p:sp>
        <p:nvSpPr>
          <p:cNvPr id="16" name="S15-tile292"/>
          <p:cNvSpPr txBox="1"/>
          <p:nvPr/>
        </p:nvSpPr>
        <p:spPr>
          <a:xfrm>
            <a:off x="836676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2900" dirty="0"/>
          </a:p>
        </p:txBody>
      </p:sp>
      <p:sp>
        <p:nvSpPr>
          <p:cNvPr id="17" name="S15-tile293"/>
          <p:cNvSpPr txBox="1"/>
          <p:nvPr/>
        </p:nvSpPr>
        <p:spPr>
          <a:xfrm>
            <a:off x="923544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2900" dirty="0"/>
          </a:p>
        </p:txBody>
      </p:sp>
      <p:sp>
        <p:nvSpPr>
          <p:cNvPr id="18" name="S15-tile294"/>
          <p:cNvSpPr txBox="1"/>
          <p:nvPr/>
        </p:nvSpPr>
        <p:spPr>
          <a:xfrm>
            <a:off x="1010412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2900" dirty="0"/>
          </a:p>
        </p:txBody>
      </p:sp>
      <p:sp>
        <p:nvSpPr>
          <p:cNvPr id="19" name="S15-tile295"/>
          <p:cNvSpPr txBox="1"/>
          <p:nvPr/>
        </p:nvSpPr>
        <p:spPr>
          <a:xfrm>
            <a:off x="1097280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2900" dirty="0"/>
          </a:p>
        </p:txBody>
      </p:sp>
      <p:sp>
        <p:nvSpPr>
          <p:cNvPr id="20" name="S15-tile296"/>
          <p:cNvSpPr txBox="1"/>
          <p:nvPr/>
        </p:nvSpPr>
        <p:spPr>
          <a:xfrm>
            <a:off x="54864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2900" dirty="0"/>
          </a:p>
        </p:txBody>
      </p:sp>
      <p:sp>
        <p:nvSpPr>
          <p:cNvPr id="21" name="S15-tile297"/>
          <p:cNvSpPr txBox="1"/>
          <p:nvPr/>
        </p:nvSpPr>
        <p:spPr>
          <a:xfrm>
            <a:off x="141732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2900" dirty="0"/>
          </a:p>
        </p:txBody>
      </p:sp>
      <p:sp>
        <p:nvSpPr>
          <p:cNvPr id="22" name="S15-tile298"/>
          <p:cNvSpPr txBox="1"/>
          <p:nvPr/>
        </p:nvSpPr>
        <p:spPr>
          <a:xfrm>
            <a:off x="228600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2900" dirty="0"/>
          </a:p>
        </p:txBody>
      </p:sp>
      <p:sp>
        <p:nvSpPr>
          <p:cNvPr id="23" name="S15-tile299"/>
          <p:cNvSpPr txBox="1"/>
          <p:nvPr/>
        </p:nvSpPr>
        <p:spPr>
          <a:xfrm>
            <a:off x="315468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2900" dirty="0"/>
          </a:p>
        </p:txBody>
      </p:sp>
      <p:sp>
        <p:nvSpPr>
          <p:cNvPr id="24" name="S15-tile300"/>
          <p:cNvSpPr txBox="1"/>
          <p:nvPr/>
        </p:nvSpPr>
        <p:spPr>
          <a:xfrm>
            <a:off x="402336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2900" dirty="0"/>
          </a:p>
        </p:txBody>
      </p:sp>
      <p:sp>
        <p:nvSpPr>
          <p:cNvPr id="25" name="S15-tile301"/>
          <p:cNvSpPr txBox="1"/>
          <p:nvPr/>
        </p:nvSpPr>
        <p:spPr>
          <a:xfrm>
            <a:off x="489204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2900" dirty="0"/>
          </a:p>
        </p:txBody>
      </p:sp>
      <p:sp>
        <p:nvSpPr>
          <p:cNvPr id="26" name="S15-tile302"/>
          <p:cNvSpPr txBox="1"/>
          <p:nvPr/>
        </p:nvSpPr>
        <p:spPr>
          <a:xfrm>
            <a:off x="576072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2900" dirty="0"/>
          </a:p>
        </p:txBody>
      </p:sp>
      <p:sp>
        <p:nvSpPr>
          <p:cNvPr id="27" name="S15-tile303"/>
          <p:cNvSpPr txBox="1"/>
          <p:nvPr/>
        </p:nvSpPr>
        <p:spPr>
          <a:xfrm>
            <a:off x="662940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2900" dirty="0"/>
          </a:p>
        </p:txBody>
      </p:sp>
      <p:sp>
        <p:nvSpPr>
          <p:cNvPr id="28" name="S15-tile304"/>
          <p:cNvSpPr txBox="1"/>
          <p:nvPr/>
        </p:nvSpPr>
        <p:spPr>
          <a:xfrm>
            <a:off x="749808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2900" dirty="0"/>
          </a:p>
        </p:txBody>
      </p:sp>
      <p:sp>
        <p:nvSpPr>
          <p:cNvPr id="29" name="S15-tile305"/>
          <p:cNvSpPr txBox="1"/>
          <p:nvPr/>
        </p:nvSpPr>
        <p:spPr>
          <a:xfrm>
            <a:off x="836676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2900" dirty="0"/>
          </a:p>
        </p:txBody>
      </p:sp>
      <p:sp>
        <p:nvSpPr>
          <p:cNvPr id="30" name="S15-tile306"/>
          <p:cNvSpPr txBox="1"/>
          <p:nvPr/>
        </p:nvSpPr>
        <p:spPr>
          <a:xfrm>
            <a:off x="923544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ko-KR" sz="2900" dirty="0"/>
          </a:p>
        </p:txBody>
      </p:sp>
      <p:sp>
        <p:nvSpPr>
          <p:cNvPr id="31" name="S15-tile307"/>
          <p:cNvSpPr txBox="1"/>
          <p:nvPr/>
        </p:nvSpPr>
        <p:spPr>
          <a:xfrm>
            <a:off x="1010412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2900" dirty="0"/>
          </a:p>
        </p:txBody>
      </p:sp>
      <p:sp>
        <p:nvSpPr>
          <p:cNvPr id="32" name="S15-tile308"/>
          <p:cNvSpPr txBox="1"/>
          <p:nvPr/>
        </p:nvSpPr>
        <p:spPr>
          <a:xfrm>
            <a:off x="1097280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</a:t>
            </a:r>
            <a:endParaRPr lang="ko-KR" sz="2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영어 그림 보고 낱말 읽기</dc:title>
  <dc:subject>KR22-G03-ENG-PICWORDS-L01</dc:subject>
  <dc:creator>education-ppt</dc:creator>
  <cp:lastModifiedBy>education-ppt</cp:lastModifiedBy>
  <cp:revision>1</cp:revision>
  <dcterms:created xsi:type="dcterms:W3CDTF">2026-10-26T08:22:45Z</dcterms:created>
  <dcterms:modified xsi:type="dcterms:W3CDTF">2026-10-26T08:22:45Z</dcterms:modified>
</cp:coreProperties>
</file>