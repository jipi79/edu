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e7f7610-d0f0-5c83-dc50-d638780a7459}">
          <p14:sldIdLst>
            <p14:sldId id="256"/>
            <p14:sldId id="257"/>
          </p14:sldIdLst>
        </p14:section>
        <p14:section name="개념" id="{c52c3cca-2077-53f9-6791-31a91acee66a}">
          <p14:sldIdLst>
            <p14:sldId id="258"/>
            <p14:sldId id="259"/>
            <p14:sldId id="262"/>
            <p14:sldId id="263"/>
          </p14:sldIdLst>
        </p14:section>
        <p14:section name="연습" id="{77ef530d-2f27-4ddb-77f9-c5b194627301}">
          <p14:sldIdLst>
            <p14:sldId id="260"/>
            <p14:sldId id="261"/>
            <p14:sldId id="264"/>
            <p14:sldId id="265"/>
          </p14:sldIdLst>
        </p14:section>
        <p14:section name="개념" id="{1816ec2e-3a39-dfcc-a786-c70c4e0a139c}">
          <p14:sldIdLst/>
        </p14:section>
        <p14:section name="연습" id="{a229fdd1-6a4e-98c5-8a74-721ba63cf9fc}">
          <p14:sldIdLst/>
        </p14:section>
        <p14:section name="확인" id="{d1654fc1-f91e-9780-612e-180f61b2e5cf}">
          <p14:sldIdLst>
            <p14:sldId id="266"/>
            <p14:sldId id="267"/>
            <p14:sldId id="268"/>
          </p14:sldIdLst>
        </p14:section>
        <p14:section name="정리" id="{e03deea9-601c-58b0-d7da-3a174c71ec39}">
          <p14:sldIdLst>
            <p14:sldId id="269"/>
          </p14:sldIdLst>
        </p14:section>
        <p14:section name="보충" id="{ce3fbe00-878c-c617-a885-f7e07ec264f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인사말에 관심을 갖게 하고, 아이가 이미 아는 영어 인사를 떠올리게 합니다.
시간: 약 2분
이렇게 말해 보세요
- “학교에서 영어 선생님이 들어오시면 영어로 뭐라고 인사하셔?”
- “오늘은 친구를 만날 때와 헤어질 때 영어로 인사하는 방법, 그리고 ‘어떻게 지내?’라고 묻고 대답하는 방법을 배울 거야.”
예상 답
- “Hello.라고 해요.” “몰라요.”
주의
- 수업 전에 교과서 디지털 자료나 사전 앱의 발음 듣기로 오늘 표현(Hello. Hi. Goodbye. Bye. How are you? I'm fine, thank you. I'm good. I'm great.)을 미리 들어 두세요. 수업 중에도 소리를 함께 듣고 따라 말하면 됩니다. 부모님 발음이 완벽하지 않아도 괜찮습니다.
- 소리 자료 없이 진행하면 바른 소리를 확인하기 어렵습니다. 이때는 헷갈리는 표현을 기록해 두었다가 소리 자료로 나중에 확인합니다.
- 아이가 영어 글자를 읽지 못해도 괜찮습니다. 화면의 영어는 부모가 읽어 주고, 아이는 듣고 따라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확인(상황에 맞는 우리말 인사)]
목적: 만날 때와 헤어질 때 하는 인사가 다르다는 것을 우리말로 먼저 확인합니다. 이 차시는 계획상 앞 차시가 없으므로 생활 속 우리말 인사를 확인합니다.
시간: 약 3분
이렇게 말해 보세요
- “①처럼 아침에 학교에서 선생님을 만나면 뭐라고 인사해?”
- “②처럼 친구와 헤어질 때는?”
- “선생님께 하는 인사와 친구에게 하는 인사는 어떻게 달라?”
정답
- ① “안녕하세요.” (고개 숙여 인사)
- ② “잘 가.” “안녕.” “내일 만나.”처럼 헤어질 때 하는 말이면 맞음
막히면
- 부모가 방에서 나가며 “다녀오겠습니다.”, 다시 들어오며 “다녀왔습니다.”를 보여 주고 만날 때와 헤어질 때를 구별하게 합니다.
- 상황에 맞는 인사를 말하지 못하면 S15(보충)를 먼저 합니다.
주의
- 우리말 ‘안녕’은 만날 때도 헤어질 때도 씁니다. 이 점을 S06에서 영어와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만날 때 하는 인사]
목적: 만날 때 하는 인사 Hello.와 Hi.를 듣고 따라 말합니다.
시간: 약 3분
이렇게 말해 보세요
- “만날 때 하는 영어 인사야. 소리를 같이 듣고 엄마(아빠)를 따라 세 번 말해 보자. Hello. Hello. Hello.”
- “이번엔 Hi. Hi. Hi.”
- “엄마(아빠)가 방에 들어오면서 손을 흔들 테니, 너도 손을 흔들며 인사해 줘.” (부모가 들어오며 Hello.라고 말합니다.)
예상 답
- “Hello.” “Hi.”
막히면
- 소리가 잘 안 들리면 교과서 디지털 자료나 사전 앱의 발음 듣기를 한 번 더 들려주고 따라 말하게 합니다.
- 목소리가 작으면 손을 크게 흔들며 함께 말합니다.
주의
- Hello.와 Hi.는 둘 다 만날 때 하는 인사입니다. Hi.는 조금 더 편한 말이라 친구나 가족에게 많이 씁니다.
- 화면의 작은 한국어는 뜻입니다. 소리는 꼭 소리 자료로 들으세요.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헤어질 때 하는 인사]
목적: 헤어질 때 하는 인사 Goodbye.와 Bye.를 듣고 따라 말합니다.
시간: 약 3분
이렇게 말해 보세요
- “이번엔 헤어질 때 하는 인사야. 따라 해 봐. Goodbye. Goodbye. Goodbye.”
- “짧게 Bye.라고도 해. Bye. Bye. Bye.”
- “엄마(아빠)가 방에서 나가면서 손을 흔들 테니, 너도 인사해 줘.” (부모가 나가며 Goodbye.라고 말합니다.)
예상 답
- “Goodbye.” “Bye.”
막히면
- S03과 번갈아 하며, 들어올 때는 ‘Hello.’, 나갈 때는 ‘Goodbye.’라고 하는 놀이를 여러 번 합니다.
주의
- Goodbye.와 Bye.는 둘 다 헤어질 때 하는 인사입니다. Bye.는 짧고 편한 말입니다.
- Goodbye는 한 낱말이라 붙여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상황에 맞는 인사 고르기]
목적: 상황이 만나는 때인지 헤어지는 때인지 판단하고 알맞은 영어 인사를 말합니다.
시간: 약 2분
이렇게 말해 보세요
- “①은 만나는 거야, 헤어지는 거야? 그러면 영어로 뭐라고 인사할까?”
- “②는? ③은?”
정답
- ① Hello. 또는 Hi.
- ② Goodbye. 또는 Bye.
- ③ Hello. 또는 Hi.
막히면
- “만나는 거야, 헤어지는 거야?”를 먼저 묻고, 아래 도움 상자에서 영어 인사를 고르게 합니다.
- S03, S04 화면으로 돌아가 소리를 다시 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오개념 비교(우리말 ‘안녕’과 영어 인사)]
목적: 우리말 ‘안녕’과 달리 영어는 만날 때와 헤어질 때 인사가 다르다는 것을 비교합니다(M1).
시간: 약 3분
이렇게 말해 보세요
- “우리말로는 만날 때도 ‘안녕’, 헤어질 때도 ‘안녕’이라고 하지?”
- “영어는 어때? 왼쪽은 만날 때, 오른쪽은 헤어질 때 하는 인사야. 친구와 헤어질 때 Hello.라고 해도 될까?”
- “그러면 뭐라고 해야 할까?”
정답
- 안 됩니다. Hello.는 만날 때 하는 인사입니다. 헤어질 때는 Goodbye. 또는 Bye.라고 합니다.
막히면
- 부모가 일부러 방에서 나가면서 Hello.라고 말해 보이고 “이상하지? 뭐라고 해야 할까?”라고 묻습니다.
주의
- 여기까지가 목표 ①(만날 때와 헤어질 때 인사)입니다. 아이가 지치면 여기서 나누어 다음 날 S07부터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안부 묻고 답하기(How are you? / I'm fine, thank you.)]
목적: 안부를 묻는 How are you?와 대답 I'm fine, thank you.를 듣고 따라 말합니다.
시간: 약 3분
이렇게 말해 보세요
- “인사를 한 다음에 ‘어떻게 지내?’ 하고 물을 때가 있지? 영어로는 How are you?라고 해. 따라 해 봐. How are you?”
- “대답은 I'm fine, thank you. ‘잘 지내, 고마워.’라는 뜻이야. 두 부분으로 나눠 따라 해 보자. I'm fine, … thank you. 이제 이어서. I'm fine, thank you.”
- “엄마(아빠)가 물어볼게. How are you?” (아이가 대답하게 합니다.)
예상 답
- “I'm fine, thank you.”
막히면
- I'm fine,까지만 먼저 말하게 하고 thank you.는 부모가 함께 말해 줍니다(M3).
- 소리 자료를 한 번 더 듣고 따라 말합니다.
주의
- I'm은 I am을 줄인 말입니다. 아이에게 따로 설명하지 않아도 됩니다.
- How are you?는 묻는 말이라 끝에 물음표(?)가 있고, 대답은 마침표(.)로 끝납니다.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다르게 대답하기(I'm good. / I'm great.)]
목적: How are you?에 I'm good.이나 I'm great.로도 대답할 수 있음을 알고, 묻는 역할도 해 봅니다.
시간: 약 3분
이렇게 말해 보세요
- “How are you?에 다르게 대답할 수도 있어. I'm good. ‘좋아.’ 따라 해 봐. I'm good.”
- “아주 기분이 좋을 때는 I'm great. 따라 해 봐. I'm great.”
- “엄마(아빠)가 물어볼게. How are you? 오늘 기분에 맞게 골라서 대답해 줘.”
- “이번에는 네가 엄마(아빠)에게 물어봐.” (아이가 How are you?라고 묻게 하고 부모가 대답합니다.)
예상 답
- “I'm good.” “I'm great.” “I'm fine, thank you.”
- 아이가 묻는 말: “How are you?”
막히면
- 엄지 하나를 들며 ‘I'm good.’, 두 엄지를 모두 들며 ‘I'm great.’라고 몸짓을 붙여 말합니다.
- 묻는 말을 따라 하기만 하면(M2) “엄마(아빠)는 묻는 사람, 너는 대답하는 사람”이라고 손짓으로 정해 줍니다.
주의
- 세 대답(I'm fine, thank you. I'm good. I'm great.) 가운데 무엇으로 대답해도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역할극(만나서 인사 → 안부 → 헤어질 때 인사)]
목적: 만날 때 인사 → 안부 묻고 답하기 → 헤어질 때 인사를 이어서 역할극으로 해 봅니다.
시간: 약 4분
이렇게 말해 보세요
- “엄마(아빠)가 먼저 두 사람 말을 다 해 볼게. 잘 들어 봐.” (괄호 속 장면 설명은 우리말로 알려 주고, 영어 줄만 말합니다.)
- “이번에는 엄마(아빠)가 Tom, 네가 Mina야. 네가 먼저 Hello, Tom.이라고 해 봐.” (아이가 차례에 맞게 말하도록 기다립니다.)
- “역할을 바꿔 보자. 이번엔 네가 Tom이야.”
- “이번에는 Mina 대신 네 이름을 넣어서 해 볼까?”
예상 답
- 아이가 Mina일 때: “Hello, Tom.” → “I'm great.” → “Bye, Tom.”
- 아이가 Tom일 때: “Hi, Mina. How are you?” → “Goodbye, Mina.”
막히면
- 아이가 말할 줄을 부모가 먼저 작게 말해 주고 따라 하게 합니다.
- 한 번에 다 하기 어려우면 만나는 장면(위의 세 줄)만 먼저 하고, 헤어지는 장면(아래 두 줄)은 따로 합니다.
주의
- I'm great. 대신 I'm fine, thank you.나 I'm good.으로 바꿔 말해도 맞습니다.
- Hello, Tom.처럼 이름을 부를 때는 이름 앞에 쉼표(,)를 찍고, 이름의 첫 글자는 대문자로 씁니다.
- 인형이 있으면 인형에게 역할을 맡겨 말하게 하면 덜 쑥스러워합니다.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빈칸 대화(묻고 답하기)]
목적: 대화의 빈칸에 알맞은 말을 넣어 묻고 답하는 문장을 완성합니다.
시간: 약 4분
이렇게 말해 보세요
- “엄마(아빠)가 읽어 줄게. 빈칸에서는 ‘음~’ 하고 멈출 거야. 보기의 are, thank, Goodbye 가운데 무엇이 들어갈까?”
- “①, A: Hello. How 음~ you? B: I'm good.”
- “②, A: How are you? B: I'm fine, 음~ you.”
- “③, A: Bye, Tom. B: 음~, Mina.”
- “이제 빈칸을 채워서 엄마(아빠)와 한 줄씩 나누어 말해 보자.”
정답
- ① are (How are you?)
- ② thank (I'm fine, thank you.)
- ③ Goodbye (Goodbye, Mina.)
막히면
- 보기의 세 낱말을 빈칸에 하나씩 넣어 읽어 주고, 어느 것이 자연스러운지 고르게 합니다.
- 보기 낱말을 읽지 못해도 괜찮습니다. 부모가 보기를 읽어 주고 아이는 듣고 고릅니다.
주의
- ③은 Bye.도 헤어질 때 인사로 맞지만, 보기에 있는 말은 Goodbye입니다.
- 같은 형식의 빈칸 대화를 활동지 3에서 한 번 더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인사하고 대답하기]
목적: 도움 없이 상황에 맞게 인사하고, 안부를 묻는 말에 대답하는지 확인합니다.
시간: 약 4분
이렇게 말해 보세요
- “이번에는 혼자 해 볼래? 엄마(아빠)가 친구 역할을 할게. ①, 아침에 만났어.” (아이가 먼저 말하도록 기다립니다.)
- “②, How are you?”
- “③, 이제 헤어질 시간이야.”
정답
- ① Hello. 또는 Hi.
- ② I'm fine, thank you. / I'm good. / I'm great. 가운데 하나
- ③ Goodbye. 또는 Bye.
- 기준: 세 상황 모두 알맞은 표현을 스스로 말하면 통과입니다. 소리가 조금 서툴러도 알맞은 표현을 골라 말했으면 맞은 것으로 봅니다.
막히면
- 바로 알려 주지 말고 “만나는 거야, 헤어지는 거야?” 또는 “물어봤으니 대답해야지?”라고만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대답 예와 피드백]
목적: 아이의 대답을 예와 비교하고 흔한 실수를 확인합니다.
시간: 약 2분
이렇게 말해 보세요
- “네가 한 말과 왼쪽 예를 비교해 보자. 같은 뜻으로 말했어?”
- “오른쪽처럼 말하면 왜 어색할까?”
예상 답
- “헤어질 때는 Goodbye.라고 해야 해요.” “물어보면 대답해야 해요.”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
목적: 처음 보는 형식에서 상황에 맞는 인사와 대답을 고르는지 확인합니다.
시간: 약 2분
이렇게 말해 보세요
- “엄마(아빠)가 가, 나, 다를 읽어 줄게. Hello. Goodbye. I'm great.”
- “친구와 헤어질 때 하는 말은 어느 것일까? 어떻게 알았어?”
- “이번에는 엄마(아빠)가 물어볼게. How are you? 가, 나, 다 가운데 어떤 말로 대답할까?”
정답
- 헤어질 때 하는 말 → 나(Goodbye.)
- How are you?에 대한 대답 → 다(I'm great.)
- 가(Hello.)는 만날 때 하는 인사입니다.
막히면
- S06의 왼쪽(만날 때)과 오른쪽(헤어질 때)을 다시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복습을 알려 줍니다.
시간: 약 2분
이렇게 말해 보세요
- “오늘 배운 인사를 말해 볼래? 만날 때는? 헤어질 때는?”
- “How are you?라고 물으면 어떻게 해야 해?”
예상 답
- “만날 때는 Hello. 헤어질 때는 Goodbye.” “대답해요.”
정답
- ① Hello. Hi. ② Goodbye. Bye. ③ I'm fine, thank you. / I'm good. / I'm great. 가운데 하나
주의
- 오늘부터 학교에서 돌아올 때는 ‘Hi.’, 집을 나설 때는 ‘Bye.’처럼 생활 속에서 영어로 인사해 보세요. 자주 쓰면 오래 기억합니다.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보충(만날 때와 헤어질 때의 우리말 인사)]
목적: S02에서 만날 때와 헤어질 때를 구별하지 못하면, 우리말 인사 놀이로 먼저 익힙니다.
시간: 약 4분
이렇게 말해 보세요
- “인형 둘이 길에서 만났어. 뭐라고 인사할까?”
- “이제 인형들이 집에 가려고 해. 뭐라고 인사할까?”
- “엄마(아빠)가 방에 들어오면 만날 때 인사, 나가면 헤어질 때 인사를 해 줘.”
정답
- 만날 때: “안녕?” “안녕하세요.” / 헤어질 때: “잘 가.” “안녕히 계세요.” “안녕히 가세요.” 등
막히면
- 손을 흔드는 몸짓을 함께 하며 들어올 때와 나갈 때를 크게 구별해 보여 줍니다.
주의
- 이 차시는 계획상 앞 차시가 없습니다. 보충 뒤에도 상황에 맞는 우리말 인사가 어려우면, 며칠 동안 생활 속 인사를 함께 연습한 뒤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듣기와말하기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영어 · 인사하기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인사하기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영어 · 인사하기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인사하기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친구를 만나면 영어로</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뭐라고 인사할까요?</a:t>
            </a:r>
            <a:endParaRPr lang="ko-KR" sz="30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Hello.</a:t>
            </a:r>
            <a:endParaRPr lang="ko-KR" sz="34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Goodbye.</a:t>
            </a:r>
            <a:endParaRPr lang="ko-KR" sz="3400" dirty="0"/>
          </a:p>
        </p:txBody>
      </p:sp>
      <p:sp>
        <p:nvSpPr>
          <p:cNvPr id="6" name="S01-card3"/>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7" name="S01-cardtext4"/>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만날 때와 헤어질 때 영어로 인사해요.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How are you?에 영어로 대답해요.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우리말로 인사해요</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이럴 때 우리말로 어떻게 인사해요?</a:t>
            </a:r>
            <a:endParaRPr lang="ko-KR" sz="30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아침에 학교에서 선생님을 만났어요.</a:t>
            </a:r>
            <a:endParaRPr lang="ko-KR" sz="30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놀이터에서 놀다가 친구와 헤어져요.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만날 때 인사</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누군가를 만날 때 해요.</a:t>
            </a:r>
            <a:endParaRPr lang="ko-KR" sz="3000" dirty="0"/>
          </a:p>
        </p:txBody>
      </p:sp>
      <p:sp>
        <p:nvSpPr>
          <p:cNvPr id="5" name="S03-word12"/>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Hello.</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안녕하세요. / 안녕.</a:t>
            </a:r>
            <a:endParaRPr lang="ko-KR" sz="3400" dirty="0"/>
          </a:p>
        </p:txBody>
      </p:sp>
      <p:sp>
        <p:nvSpPr>
          <p:cNvPr id="6" name="S03-word13"/>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Hi.</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안녕.</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헤어질 때 인사</a:t>
            </a:r>
            <a:endParaRPr lang="ko-KR" sz="4000" dirty="0"/>
          </a:p>
        </p:txBody>
      </p:sp>
      <p:sp>
        <p:nvSpPr>
          <p:cNvPr id="3" name="S04-card1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헤어질 때 해요.</a:t>
            </a:r>
            <a:endParaRPr lang="ko-KR" sz="3000" dirty="0"/>
          </a:p>
        </p:txBody>
      </p:sp>
      <p:sp>
        <p:nvSpPr>
          <p:cNvPr id="5" name="S04-word16"/>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Goodbye.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안녕히 가세요.</a:t>
            </a:r>
            <a:endParaRPr lang="ko-KR" sz="3400" dirty="0"/>
          </a:p>
        </p:txBody>
      </p:sp>
      <p:sp>
        <p:nvSpPr>
          <p:cNvPr id="6" name="S04-word17"/>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Bye.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잘 가.</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만날 때? 헤어질 때?</a:t>
            </a:r>
            <a:endParaRPr lang="ko-KR" sz="4000" dirty="0"/>
          </a:p>
        </p:txBody>
      </p:sp>
      <p:sp>
        <p:nvSpPr>
          <p:cNvPr id="3" name="S05-text1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어떤 인사를 할까요? 영어로 말해요.</a:t>
            </a:r>
            <a:endParaRPr lang="ko-KR" sz="3000" dirty="0"/>
          </a:p>
        </p:txBody>
      </p:sp>
      <p:sp>
        <p:nvSpPr>
          <p:cNvPr id="4" name="S05-card1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5-cardtext2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만날 때 Hello. Hi.　헤어질 때 Goodbye. Bye.</a:t>
            </a:r>
            <a:endParaRPr lang="ko-KR" sz="3000" dirty="0"/>
          </a:p>
        </p:txBody>
      </p:sp>
      <p:sp>
        <p:nvSpPr>
          <p:cNvPr id="6" name="S05-chip21"/>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5-text22"/>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 가서 친구를 만났어요.</a:t>
            </a:r>
            <a:endParaRPr lang="ko-KR" sz="3000" dirty="0"/>
          </a:p>
        </p:txBody>
      </p:sp>
      <p:sp>
        <p:nvSpPr>
          <p:cNvPr id="8" name="S05-chip23"/>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5-text24"/>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 집에서 놀다가 집에 가요.</a:t>
            </a:r>
            <a:endParaRPr lang="ko-KR" sz="3000" dirty="0"/>
          </a:p>
        </p:txBody>
      </p:sp>
      <p:sp>
        <p:nvSpPr>
          <p:cNvPr id="10" name="S05-chip25"/>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5-text26"/>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 댁에 도착했어요.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‘안녕’은 영어로 하나일까요?</a:t>
            </a:r>
            <a:endParaRPr lang="ko-KR" sz="4000" dirty="0"/>
          </a:p>
        </p:txBody>
      </p:sp>
      <p:sp>
        <p:nvSpPr>
          <p:cNvPr id="3" name="S06-card27"/>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6-cardtext28"/>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우리말 ‘안녕’은 만날 때도, 헤어질 때도 써요.</a:t>
            </a:r>
            <a:endParaRPr lang="ko-KR" sz="3000" dirty="0"/>
          </a:p>
        </p:txBody>
      </p:sp>
      <p:sp>
        <p:nvSpPr>
          <p:cNvPr id="5" name="S06-card2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6-cardtext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친구와 헤어질 때 Hello.라고 해도 될까요?</a:t>
            </a:r>
            <a:endParaRPr lang="ko-KR" sz="3000" dirty="0"/>
          </a:p>
        </p:txBody>
      </p:sp>
      <p:sp>
        <p:nvSpPr>
          <p:cNvPr id="7" name="S06-chip31"/>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만날 때</a:t>
            </a:r>
            <a:endParaRPr lang="ko-KR" sz="2400" dirty="0"/>
          </a:p>
        </p:txBody>
      </p:sp>
      <p:sp>
        <p:nvSpPr>
          <p:cNvPr id="8" name="S06-word32"/>
          <p:cNvSpPr txBox="1"/>
          <p:nvPr/>
        </p:nvSpPr>
        <p:spPr>
          <a:xfrm>
            <a:off x="548640" y="3154680"/>
            <a:ext cx="5362956" cy="845820"/>
          </a:xfrm>
          <a:prstGeom prst="roundRect">
            <a:avLst>
              <a:gd name="adj" fmla="val 1513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Hello.</a:t>
            </a:r>
            <a:endParaRPr lang="ko-KR" sz="3400" dirty="0"/>
          </a:p>
        </p:txBody>
      </p:sp>
      <p:sp>
        <p:nvSpPr>
          <p:cNvPr id="9" name="S06-word33"/>
          <p:cNvSpPr txBox="1"/>
          <p:nvPr/>
        </p:nvSpPr>
        <p:spPr>
          <a:xfrm>
            <a:off x="548640" y="4274820"/>
            <a:ext cx="5362956" cy="845820"/>
          </a:xfrm>
          <a:prstGeom prst="roundRect">
            <a:avLst>
              <a:gd name="adj" fmla="val 1513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Hi.</a:t>
            </a:r>
            <a:endParaRPr lang="ko-KR" sz="3400" dirty="0"/>
          </a:p>
        </p:txBody>
      </p:sp>
      <p:sp>
        <p:nvSpPr>
          <p:cNvPr id="10" name="S06-chip34"/>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헤어질 때</a:t>
            </a:r>
            <a:endParaRPr lang="ko-KR" sz="2400" dirty="0"/>
          </a:p>
        </p:txBody>
      </p:sp>
      <p:sp>
        <p:nvSpPr>
          <p:cNvPr id="11" name="S06-word35"/>
          <p:cNvSpPr txBox="1"/>
          <p:nvPr/>
        </p:nvSpPr>
        <p:spPr>
          <a:xfrm>
            <a:off x="6277356" y="3154680"/>
            <a:ext cx="5362956" cy="845820"/>
          </a:xfrm>
          <a:prstGeom prst="roundRect">
            <a:avLst>
              <a:gd name="adj" fmla="val 1513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Goodbye.</a:t>
            </a:r>
            <a:endParaRPr lang="ko-KR" sz="3400" dirty="0"/>
          </a:p>
        </p:txBody>
      </p:sp>
      <p:sp>
        <p:nvSpPr>
          <p:cNvPr id="12" name="S06-word36"/>
          <p:cNvSpPr txBox="1"/>
          <p:nvPr/>
        </p:nvSpPr>
        <p:spPr>
          <a:xfrm>
            <a:off x="6277356" y="4274820"/>
            <a:ext cx="5362956" cy="845820"/>
          </a:xfrm>
          <a:prstGeom prst="roundRect">
            <a:avLst>
              <a:gd name="adj" fmla="val 1513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Bye.</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어떻게 지내는지 묻기</a:t>
            </a:r>
            <a:endParaRPr lang="ko-KR" sz="4000" dirty="0"/>
          </a:p>
        </p:txBody>
      </p:sp>
      <p:sp>
        <p:nvSpPr>
          <p:cNvPr id="3" name="S07-card3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3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How are you?라고 물으면 대답해요.</a:t>
            </a:r>
            <a:endParaRPr lang="ko-KR" sz="3000" dirty="0"/>
          </a:p>
        </p:txBody>
      </p:sp>
      <p:sp>
        <p:nvSpPr>
          <p:cNvPr id="5" name="S07-word39"/>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How are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어떻게 지내?</a:t>
            </a:r>
            <a:endParaRPr lang="ko-KR" sz="3400" dirty="0"/>
          </a:p>
        </p:txBody>
      </p:sp>
      <p:sp>
        <p:nvSpPr>
          <p:cNvPr id="6" name="S07-word40"/>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fine, thank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잘 지내, 고마워.</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다르게 대답하기</a:t>
            </a:r>
            <a:endParaRPr lang="ko-KR" sz="4000" dirty="0"/>
          </a:p>
        </p:txBody>
      </p:sp>
      <p:sp>
        <p:nvSpPr>
          <p:cNvPr id="3" name="S08-card4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8-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기분에 맞게 골라 대답해요.</a:t>
            </a:r>
            <a:endParaRPr lang="ko-KR" sz="3000" dirty="0"/>
          </a:p>
        </p:txBody>
      </p:sp>
      <p:sp>
        <p:nvSpPr>
          <p:cNvPr id="5" name="S08-word43"/>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good.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좋아.</a:t>
            </a:r>
            <a:endParaRPr lang="ko-KR" sz="3400" dirty="0"/>
          </a:p>
        </p:txBody>
      </p:sp>
      <p:sp>
        <p:nvSpPr>
          <p:cNvPr id="6" name="S08-word44"/>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great.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아주 좋아.</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인사 놀이</a:t>
            </a:r>
            <a:endParaRPr lang="ko-KR" sz="4000" dirty="0"/>
          </a:p>
        </p:txBody>
      </p:sp>
      <p:sp>
        <p:nvSpPr>
          <p:cNvPr id="3" name="S09-text4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3000" dirty="0"/>
          </a:p>
        </p:txBody>
      </p:sp>
      <p:sp>
        <p:nvSpPr>
          <p:cNvPr id="4" name="S09-passagebox46"/>
          <p:cNvSpPr/>
          <p:nvPr/>
        </p:nvSpPr>
        <p:spPr>
          <a:xfrm>
            <a:off x="548640" y="2011680"/>
            <a:ext cx="11091672" cy="4206240"/>
          </a:xfrm>
          <a:prstGeom prst="roundRect">
            <a:avLst>
              <a:gd name="adj" fmla="val 2174"/>
            </a:avLst>
          </a:prstGeom>
          <a:solidFill>
            <a:srgbClr val="FFFFFF"/>
          </a:solidFill>
          <a:ln w="19050">
            <a:solidFill>
              <a:srgbClr val="264653"/>
            </a:solidFill>
            <a:prstDash val="solid"/>
          </a:ln>
        </p:spPr>
      </p:sp>
      <p:sp>
        <p:nvSpPr>
          <p:cNvPr id="5" name="S09-passage47"/>
          <p:cNvSpPr txBox="1"/>
          <p:nvPr/>
        </p:nvSpPr>
        <p:spPr>
          <a:xfrm>
            <a:off x="822960" y="2194560"/>
            <a:ext cx="10543032" cy="38404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(학교 앞에서 만나요)</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Hello, Tom.</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Hi, Mina. How are you?</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I'm great.</a:t>
            </a:r>
            <a:endParaRPr lang="ko-KR" sz="28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(집에 갈 때)</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Goodbye, Mina.</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Bye, Tom.</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10-text4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빈칸에 들어갈 말을 보기에서 골라 말해요.</a:t>
            </a:r>
            <a:endParaRPr lang="ko-KR" sz="3000" dirty="0"/>
          </a:p>
        </p:txBody>
      </p:sp>
      <p:sp>
        <p:nvSpPr>
          <p:cNvPr id="4" name="S10-card4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0-cardtext5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보기: are　·　thank　·　Goodbye</a:t>
            </a:r>
            <a:endParaRPr lang="ko-KR" sz="3000" dirty="0"/>
          </a:p>
        </p:txBody>
      </p:sp>
      <p:sp>
        <p:nvSpPr>
          <p:cNvPr id="6" name="S10-chip51"/>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0-text52"/>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Hello. How ______ you?</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I'm good.</a:t>
            </a:r>
            <a:endParaRPr lang="ko-KR" sz="3000" dirty="0"/>
          </a:p>
        </p:txBody>
      </p:sp>
      <p:sp>
        <p:nvSpPr>
          <p:cNvPr id="8" name="S10-chip53"/>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0-text54"/>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How are you?</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I'm fine, ______ you.</a:t>
            </a:r>
            <a:endParaRPr lang="ko-KR" sz="3000" dirty="0"/>
          </a:p>
        </p:txBody>
      </p:sp>
      <p:sp>
        <p:nvSpPr>
          <p:cNvPr id="10" name="S10-chip55"/>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10-text56"/>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Bye, Tom.</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______, Mina.</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5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영어로 말해 보세요.</a:t>
            </a:r>
            <a:endParaRPr lang="ko-KR" sz="3000" dirty="0"/>
          </a:p>
        </p:txBody>
      </p:sp>
      <p:sp>
        <p:nvSpPr>
          <p:cNvPr id="4" name="S11-chip58"/>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1-text59"/>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아침에 친구를 만났어요.</a:t>
            </a:r>
            <a:endParaRPr lang="ko-KR" sz="3000" dirty="0"/>
          </a:p>
        </p:txBody>
      </p:sp>
      <p:sp>
        <p:nvSpPr>
          <p:cNvPr id="6" name="S11-chip60"/>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11-text61"/>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How are you?라고 물어요.</a:t>
            </a:r>
            <a:endParaRPr lang="ko-KR" sz="3000" dirty="0"/>
          </a:p>
        </p:txBody>
      </p:sp>
      <p:sp>
        <p:nvSpPr>
          <p:cNvPr id="8" name="S11-chip62"/>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11-text63"/>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친구와 헤어져요.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2-card6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Hello.는 만날 때! 물으면 대답해요.</a:t>
            </a:r>
            <a:endParaRPr lang="ko-KR" sz="3000" dirty="0"/>
          </a:p>
        </p:txBody>
      </p:sp>
      <p:sp>
        <p:nvSpPr>
          <p:cNvPr id="5" name="S12-chip66"/>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2-text67"/>
          <p:cNvSpPr txBox="1"/>
          <p:nvPr/>
        </p:nvSpPr>
        <p:spPr>
          <a:xfrm>
            <a:off x="548640" y="20574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Hello. / Hi.</a:t>
            </a:r>
            <a:endParaRPr lang="ko-KR" sz="3000" dirty="0"/>
          </a:p>
        </p:txBody>
      </p:sp>
      <p:sp>
        <p:nvSpPr>
          <p:cNvPr id="7" name="S12-text68"/>
          <p:cNvSpPr txBox="1"/>
          <p:nvPr/>
        </p:nvSpPr>
        <p:spPr>
          <a:xfrm>
            <a:off x="548640" y="31242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I'm fine, thank you.</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(I'm good. / I'm great.)</a:t>
            </a:r>
            <a:endParaRPr lang="ko-KR" sz="3000" dirty="0"/>
          </a:p>
        </p:txBody>
      </p:sp>
      <p:sp>
        <p:nvSpPr>
          <p:cNvPr id="8" name="S12-text69"/>
          <p:cNvSpPr txBox="1"/>
          <p:nvPr/>
        </p:nvSpPr>
        <p:spPr>
          <a:xfrm>
            <a:off x="548640" y="41910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③ Goodbye. / Bye.</a:t>
            </a:r>
            <a:endParaRPr lang="ko-KR" sz="3000" dirty="0"/>
          </a:p>
        </p:txBody>
      </p:sp>
      <p:sp>
        <p:nvSpPr>
          <p:cNvPr id="9" name="S12-chip70"/>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2-text71"/>
          <p:cNvSpPr txBox="1"/>
          <p:nvPr/>
        </p:nvSpPr>
        <p:spPr>
          <a:xfrm>
            <a:off x="6277356" y="20574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헤어질 때 Hello.라고 하기</a:t>
            </a:r>
            <a:endParaRPr lang="ko-KR" sz="3000" dirty="0"/>
          </a:p>
        </p:txBody>
      </p:sp>
      <p:sp>
        <p:nvSpPr>
          <p:cNvPr id="11" name="S12-text72"/>
          <p:cNvSpPr txBox="1"/>
          <p:nvPr/>
        </p:nvSpPr>
        <p:spPr>
          <a:xfrm>
            <a:off x="6277356" y="34290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How are you?를 따라 하기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말을 골라요</a:t>
            </a:r>
            <a:endParaRPr lang="ko-KR" sz="4000" dirty="0"/>
          </a:p>
        </p:txBody>
      </p:sp>
      <p:sp>
        <p:nvSpPr>
          <p:cNvPr id="3" name="S13-card7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7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친구와 헤어질 때 하는 말은? 어떻게 알았나요?</a:t>
            </a:r>
            <a:endParaRPr lang="ko-KR" sz="3000" dirty="0"/>
          </a:p>
        </p:txBody>
      </p:sp>
      <p:sp>
        <p:nvSpPr>
          <p:cNvPr id="5" name="S13-chip75"/>
          <p:cNvSpPr txBox="1"/>
          <p:nvPr/>
        </p:nvSpPr>
        <p:spPr>
          <a:xfrm>
            <a:off x="1991868"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3-card76"/>
          <p:cNvSpPr/>
          <p:nvPr/>
        </p:nvSpPr>
        <p:spPr>
          <a:xfrm>
            <a:off x="548640" y="2029968"/>
            <a:ext cx="3453384" cy="3090672"/>
          </a:xfrm>
          <a:prstGeom prst="roundRect">
            <a:avLst>
              <a:gd name="adj" fmla="val 3550"/>
            </a:avLst>
          </a:prstGeom>
          <a:solidFill>
            <a:srgbClr val="EAF3F1"/>
          </a:solidFill>
          <a:ln w="12700">
            <a:solidFill>
              <a:srgbClr val="EAF3F1"/>
            </a:solidFill>
            <a:prstDash val="solid"/>
          </a:ln>
        </p:spPr>
      </p:sp>
      <p:sp>
        <p:nvSpPr>
          <p:cNvPr id="7" name="S13-cardtext77"/>
          <p:cNvSpPr txBox="1"/>
          <p:nvPr/>
        </p:nvSpPr>
        <p:spPr>
          <a:xfrm>
            <a:off x="822960" y="2167128"/>
            <a:ext cx="2904744" cy="2816352"/>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Hello.</a:t>
            </a:r>
            <a:endParaRPr lang="ko-KR" sz="3000" dirty="0"/>
          </a:p>
        </p:txBody>
      </p:sp>
      <p:sp>
        <p:nvSpPr>
          <p:cNvPr id="8" name="S13-chip78"/>
          <p:cNvSpPr txBox="1"/>
          <p:nvPr/>
        </p:nvSpPr>
        <p:spPr>
          <a:xfrm>
            <a:off x="5811012"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3-card79"/>
          <p:cNvSpPr/>
          <p:nvPr/>
        </p:nvSpPr>
        <p:spPr>
          <a:xfrm>
            <a:off x="4367784" y="2029968"/>
            <a:ext cx="3453384" cy="3090672"/>
          </a:xfrm>
          <a:prstGeom prst="roundRect">
            <a:avLst>
              <a:gd name="adj" fmla="val 3550"/>
            </a:avLst>
          </a:prstGeom>
          <a:solidFill>
            <a:srgbClr val="EAF3F1"/>
          </a:solidFill>
          <a:ln w="12700">
            <a:solidFill>
              <a:srgbClr val="EAF3F1"/>
            </a:solidFill>
            <a:prstDash val="solid"/>
          </a:ln>
        </p:spPr>
      </p:sp>
      <p:sp>
        <p:nvSpPr>
          <p:cNvPr id="10" name="S13-cardtext80"/>
          <p:cNvSpPr txBox="1"/>
          <p:nvPr/>
        </p:nvSpPr>
        <p:spPr>
          <a:xfrm>
            <a:off x="4642104" y="2167128"/>
            <a:ext cx="2904744" cy="2816352"/>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Goodbye.</a:t>
            </a:r>
            <a:endParaRPr lang="ko-KR" sz="3000" dirty="0"/>
          </a:p>
        </p:txBody>
      </p:sp>
      <p:sp>
        <p:nvSpPr>
          <p:cNvPr id="11" name="S13-chip81"/>
          <p:cNvSpPr txBox="1"/>
          <p:nvPr/>
        </p:nvSpPr>
        <p:spPr>
          <a:xfrm>
            <a:off x="9630156"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3-card82"/>
          <p:cNvSpPr/>
          <p:nvPr/>
        </p:nvSpPr>
        <p:spPr>
          <a:xfrm>
            <a:off x="8186928" y="2029968"/>
            <a:ext cx="3453384" cy="3090672"/>
          </a:xfrm>
          <a:prstGeom prst="roundRect">
            <a:avLst>
              <a:gd name="adj" fmla="val 3550"/>
            </a:avLst>
          </a:prstGeom>
          <a:solidFill>
            <a:srgbClr val="EAF3F1"/>
          </a:solidFill>
          <a:ln w="12700">
            <a:solidFill>
              <a:srgbClr val="EAF3F1"/>
            </a:solidFill>
            <a:prstDash val="solid"/>
          </a:ln>
        </p:spPr>
      </p:sp>
      <p:sp>
        <p:nvSpPr>
          <p:cNvPr id="13" name="S13-cardtext83"/>
          <p:cNvSpPr txBox="1"/>
          <p:nvPr/>
        </p:nvSpPr>
        <p:spPr>
          <a:xfrm>
            <a:off x="8461248" y="2167128"/>
            <a:ext cx="2904744" cy="2816352"/>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I'm great.</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84"/>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85"/>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만날 때와 헤어질 때 인사가 달라요.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How are you?라고 물으면 대답해요.</a:t>
            </a:r>
            <a:endParaRPr lang="ko-KR" sz="3000" dirty="0"/>
          </a:p>
        </p:txBody>
      </p:sp>
      <p:sp>
        <p:nvSpPr>
          <p:cNvPr id="5" name="S14-chip86"/>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만날 때 Hello.</a:t>
            </a:r>
            <a:endParaRPr lang="ko-KR" sz="2400" dirty="0"/>
          </a:p>
        </p:txBody>
      </p:sp>
      <p:sp>
        <p:nvSpPr>
          <p:cNvPr id="6" name="S14-chip87"/>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헤어질 때 Hello.</a:t>
            </a:r>
            <a:endParaRPr lang="ko-KR" sz="2400" dirty="0"/>
          </a:p>
        </p:txBody>
      </p:sp>
      <p:sp>
        <p:nvSpPr>
          <p:cNvPr id="7" name="S14-text88"/>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89"/>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만날 때 인사 2가지</a:t>
            </a:r>
            <a:endParaRPr lang="ko-KR" sz="2400" dirty="0"/>
          </a:p>
        </p:txBody>
      </p:sp>
      <p:sp>
        <p:nvSpPr>
          <p:cNvPr id="9" name="S14-text90"/>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헤어질 때 인사 2가지</a:t>
            </a:r>
            <a:endParaRPr lang="ko-KR" sz="2400" dirty="0"/>
          </a:p>
        </p:txBody>
      </p:sp>
      <p:sp>
        <p:nvSpPr>
          <p:cNvPr id="10" name="S14-text91"/>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How are you?에 대답하기</a:t>
            </a:r>
            <a:endParaRPr lang="ko-KR" sz="2400" dirty="0"/>
          </a:p>
        </p:txBody>
      </p:sp>
      <p:sp>
        <p:nvSpPr>
          <p:cNvPr id="11" name="S14-text92"/>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이름 묻고 답하기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만날 때와 헤어질 때</a:t>
            </a:r>
            <a:endParaRPr lang="ko-KR" sz="4000" dirty="0"/>
          </a:p>
        </p:txBody>
      </p:sp>
      <p:sp>
        <p:nvSpPr>
          <p:cNvPr id="3" name="S15-card9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9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인형으로 만나고 헤어지는 놀이를 해요.</a:t>
            </a:r>
            <a:endParaRPr lang="ko-KR" sz="3000" dirty="0"/>
          </a:p>
        </p:txBody>
      </p:sp>
      <p:sp>
        <p:nvSpPr>
          <p:cNvPr id="5" name="S15-card95"/>
          <p:cNvSpPr/>
          <p:nvPr/>
        </p:nvSpPr>
        <p:spPr>
          <a:xfrm>
            <a:off x="548640" y="2125980"/>
            <a:ext cx="5431536" cy="2194560"/>
          </a:xfrm>
          <a:prstGeom prst="roundRect">
            <a:avLst>
              <a:gd name="adj" fmla="val 5000"/>
            </a:avLst>
          </a:prstGeom>
          <a:solidFill>
            <a:srgbClr val="EAF3F1"/>
          </a:solidFill>
          <a:ln w="12700">
            <a:solidFill>
              <a:srgbClr val="EAF3F1"/>
            </a:solidFill>
            <a:prstDash val="solid"/>
          </a:ln>
        </p:spPr>
      </p:sp>
      <p:sp>
        <p:nvSpPr>
          <p:cNvPr id="6" name="S15-cardtext96"/>
          <p:cNvSpPr txBox="1"/>
          <p:nvPr/>
        </p:nvSpPr>
        <p:spPr>
          <a:xfrm>
            <a:off x="822960" y="2263140"/>
            <a:ext cx="4882896"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만날 때</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“안녕?” “안녕하세요.”</a:t>
            </a:r>
            <a:endParaRPr lang="ko-KR" sz="3000" dirty="0"/>
          </a:p>
        </p:txBody>
      </p:sp>
      <p:sp>
        <p:nvSpPr>
          <p:cNvPr id="7" name="S15-card97"/>
          <p:cNvSpPr/>
          <p:nvPr/>
        </p:nvSpPr>
        <p:spPr>
          <a:xfrm>
            <a:off x="6208776" y="2125980"/>
            <a:ext cx="5431536" cy="2194560"/>
          </a:xfrm>
          <a:prstGeom prst="roundRect">
            <a:avLst>
              <a:gd name="adj" fmla="val 5000"/>
            </a:avLst>
          </a:prstGeom>
          <a:solidFill>
            <a:srgbClr val="EAF3F1"/>
          </a:solidFill>
          <a:ln w="12700">
            <a:solidFill>
              <a:srgbClr val="EAF3F1"/>
            </a:solidFill>
            <a:prstDash val="solid"/>
          </a:ln>
        </p:spPr>
      </p:sp>
      <p:sp>
        <p:nvSpPr>
          <p:cNvPr id="8" name="S15-cardtext98"/>
          <p:cNvSpPr txBox="1"/>
          <p:nvPr/>
        </p:nvSpPr>
        <p:spPr>
          <a:xfrm>
            <a:off x="6483096" y="2263140"/>
            <a:ext cx="4882896"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헤어질 때</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“잘 가.” “안녕히 계세요.”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영어 인사하기</dc:title>
  <dc:subject>KR22-G03-ENG-HELLO-L01</dc:subject>
  <dc:creator>education-ppt</dc:creator>
  <cp:lastModifiedBy>education-ppt</cp:lastModifiedBy>
  <cp:revision>1</cp:revision>
  <dcterms:created xsi:type="dcterms:W3CDTF">2026-10-26T09:07:12Z</dcterms:created>
  <dcterms:modified xsi:type="dcterms:W3CDTF">2026-10-26T09:07:12Z</dcterms:modified>
</cp:coreProperties>
</file>