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20f1c9c-da0d-fc18-c310-ee6c7fab2933}">
          <p14:sldIdLst>
            <p14:sldId id="256"/>
            <p14:sldId id="257"/>
          </p14:sldIdLst>
        </p14:section>
        <p14:section name="개념" id="{0c5c6e6a-5fa7-15ed-71e2-bd504287539e}">
          <p14:sldIdLst>
            <p14:sldId id="258"/>
            <p14:sldId id="259"/>
            <p14:sldId id="260"/>
          </p14:sldIdLst>
        </p14:section>
        <p14:section name="연습" id="{a92315d4-40a5-ca12-2cca-fe90bd493184}">
          <p14:sldIdLst>
            <p14:sldId id="261"/>
            <p14:sldId id="262"/>
            <p14:sldId id="263"/>
            <p14:sldId id="264"/>
          </p14:sldIdLst>
        </p14:section>
        <p14:section name="확인" id="{26a0c83e-0fd2-df6a-adcf-c1c3042cd581}">
          <p14:sldIdLst>
            <p14:sldId id="265"/>
            <p14:sldId id="266"/>
            <p14:sldId id="267"/>
          </p14:sldIdLst>
        </p14:section>
        <p14:section name="정리" id="{99c851e8-8861-472a-6510-46e462ecd22c}">
          <p14:sldIdLst>
            <p14:sldId id="268"/>
          </p14:sldIdLst>
        </p14:section>
        <p14:section name="보충" id="{2946f6b9-d80a-8e95-036c-4c047c1da9a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지난 시간의 인사를 떠올리고, 오늘 배울 이름 묻고 답하기에 관심을 갖게 합니다.
시간: 약 2분
이렇게 말해 보세요
- “지난 시간에 배운 인사 기억나? 엄마(아빠)가 해 볼게. Hello. How are you?”
- “학교에서 처음 만난 친구가 있으면 무엇을 물어보고 싶어? 오늘은 영어로 이름을 묻고 대답하는 방법을 배울 거야.”
예상 답
- “I'm fine, thank you.” “이름을 물어봐요.”
주의
- 수업 전에 교과서 디지털 자료나 사전 앱의 발음 듣기로 오늘 표현(What's your name? I'm Mina. My name is Mina. Nice to meet you. Nice to meet you, too.)을 미리 들어 두세요. 부모님 발음이 완벽하지 않아도 괜찮습니다.
- 소리 자료 없이 진행하면 바른 소리를 확인하기 어렵습니다. 이때는 헷갈리는 표현을 기록해 두었다가 소리 자료로 나중에 확인합니다.
- 아이 이름의 영어 표기를 종이에 크게 써 두세요. 여권 등에 쓰는 표기가 있으면 그것을 씁니다.
- Mina와 Tom은 오늘 역할극에 나오는 친구 이름입니다. 아이가 영어 문장을 읽지 못해도 괜찮습니다. 부모가 읽어 주고 아이는 듣고 따라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확인(인사하고 안부에 대답하기)]
목적: 지난 차시(인사하기)의 표현을 기억하는지 확인합니다. 오늘 배울 이름 묻기는 인사 다음에 이어지므로 꼭 필요합니다.
시간: 약 3분
이렇게 말해 보세요
- “①, 엄마(아빠)가 친구야. 우리 지금 만났어. 영어로 인사해 줄래?”
- “②, How are you?”
정답
- ① Hello. 또는 Hi.
- ② I'm fine, thank you. / I'm good. / I'm great. 가운데 하나
막히면
- 부모가 Hello.라고 먼저 말해 주고 따라 하게 합니다.
- 둘 중 하나라도 스스로 말하지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이름 묻기(What's your name?)]
목적: 이름을 묻는 What's your name?을 듣고 따라 말합니다.
시간: 약 3분
이렇게 말해 보세요
- “처음 만난 친구에게 이름을 물을 때는 What's your name?이라고 해. 소리를 같이 듣고 따라 해 보자. What's your name?”
- “뒤에서부터 붙여 가며 해 볼까? name? … your name? … What's your name?”
- “엄마(아빠)에게 물어봐 줄래?” (아이가 물으면 부모가 자기 이름을 넣어 “I'm ○○.”이라고 대답합니다.)
예상 답
- “What's your name?”
막히면
- What's를 어려워하면 소리 자료를 여러 번 듣고, 뒤에서부터 한 낱말씩 붙여 말합니다.
- 손바닥을 아이 쪽으로 내밀며 묻는 몸짓을 함께 합니다.
주의
- What's는 What is를 줄인 말입니다. 아이에게 따로 설명하지 않아도 됩니다.
- 묻는 말이라 끝에 물음표(?)가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이름 말하기(I'm ~. / My name is ~.)]
목적: 이름을 말하는 두 가지 대답을 듣고 따라 말하며, 자기 이름을 넣어 봅니다.
시간: 약 4분
이렇게 말해 보세요
- “What's your name?이라고 물으면 이렇게 대답해. I'm Mina. ‘나는 Mina야.’ 따라 해 봐. I'm Mina.”
- “이렇게도 말할 수 있어. My name is Mina. ‘내 이름은 Mina야.’ 따라 해 봐. My name is Mina.”
- “이번에는 Mina 대신 네 이름을 넣어 볼까? 엄마(아빠)가 물어볼게. What's your name?”
예상 답
- “I'm (아이 이름).” 또는 “My name is (아이 이름).”
막히면
- 아이 이름의 영어 표기를 쓴 종이를 보여 주며 I'm 다음에 이름을 붙여 말하게 합니다.
- 두 문장을 한꺼번에 익히기 어려우면 오늘은 I'm ~.부터 확실히 익힙니다.
주의
- 두 대답은 뜻이 같습니다. 하나만 골라 말하면 됩니다. 두 문장을 섞어 말하면 하나를 고르게 해 줍니다(M2).
- 이름의 첫 글자는 언제나 대문자로 씁니다(Mina, 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만나서 반갑다고 말하기]
목적: 처음 만난 사람에게 하는 Nice to meet you.와 대답 Nice to meet you, too.를 듣고 따라 말합니다.
시간: 약 3분
이렇게 말해 보세요
- “이름을 알게 되면 ‘만나서 반가워.’라고 말해. Nice to meet you. 따라 해 봐. Nice to meet you.”
- “친구가 먼저 Nice to meet you.라고 하면 ‘나도 반가워.’라고 대답해. 끝에 too를 붙여서 Nice to meet you, too.”
- “엄마(아빠)가 먼저 말할게. Nice to meet you.” (아이가 Nice to meet you, too.로 대답하게 합니다.)
예상 답
- “Nice to meet you, too.”
막히면
- too만 따로 몇 번 말한 뒤 붙여 말합니다. Nice to meet you, … too.
주의
- Nice to meet you.는 처음 만났을 때 하는 말입니다. 매일 만나는 가족에게는 쓰지 않습니다(M3).
- too 앞에는 쉼표(,)가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역할극(처음 만난 친구와 이름 주고받기)]
목적: 인사 → 이름 묻고 답하기 → 반갑다고 말하기를 이어서 역할극으로 해 봅니다.
시간: 약 4분
이렇게 말해 보세요
- “엄마(아빠)가 먼저 두 사람 말을 다 해 볼게. 잘 들어 봐.”
- “이번에는 엄마(아빠)가 Tom, 네가 Mina야. 엄마(아빠)가 먼저 할게. Hello. What's your name?” (아이가 차례에 맞게 말하도록 기다립니다.)
- “역할을 바꿔 보자. 이번엔 네가 Tom이야.”
- “이번에는 Mina 대신 네 이름을 넣어서 해 볼까?”
예상 답
- 아이가 Mina일 때: “Hi. I'm Mina. What's your name?” → “Nice to meet you, Tom.”
- 아이가 Tom일 때: “Hello. What's your name?” → “My name is Tom.” → “Nice to meet you, too.”
막히면
- 아이가 말할 줄을 부모가 먼저 작게 말해 주고 따라 하게 합니다.
- Mina의 둘째 줄이 길면 “Hi. I'm Mina.”까지만 먼저 하고, What's your name?은 부모가 함께 말해 줍니다.
주의
- I'm Mina. 대신 My name is Mina.로 바꿔 말해도 맞습니다.
- 인형이 있으면 인형에게 역할을 맡겨 말하게 하면 덜 쑥스러워합니다.
- 여기까지가 배우는 부분입니다. 아이가 지치면 여기서 나누어 다음 날 S07부터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내 이름 넣어 말하기]
목적: 자기 이름을 넣어 두 가지로 말하고, 묻는 역할도 해 봅니다.
시간: 약 3분
이렇게 말해 보세요
- “①, 빈칸에 네 이름을 넣어서 말해 볼래?”
- “②도 네 이름을 넣어서.”
- “③, 이번에는 네가 엄마(아빠)에게 물어봐.” (부모는 자기 이름으로 “I'm ○○.” 또는 “My name is ○○.”라고 대답합니다.)
정답
- ① I'm (아이 이름). ② My name is (아이 이름).
- ③ 아이가 What's your name?이라고 묻습니다.
- 기준: 이름 앞에 I'm 또는 My name is를 붙여 말하면 맞습니다.
막히면
- 아이 이름의 영어 표기를 쓴 종이를 빈칸 자리에 대어 보며 말하게 합니다.
- ③을 따라 하기만 하고 대답을 기다리지 않으면, 부모가 대답한 뒤 “이번엔 엄마(아빠)가 물어볼게.”라고 역할을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오개념 비교(이름 질문에 I'm fine, thank you.)]
목적: 둘 다 I'm으로 시작하지만, 이름을 묻는 말에는 이름으로 대답해야 한다는 것을 비교합니다(M1).
시간: 약 3분
이렇게 말해 보세요
- “Tom이 What's your name?이라고 물었어. 무엇을 물어본 거야?”
- “가와 나 가운데 알맞은 대답은 무엇일까? 왜 그렇게 생각해?”
- “가는 언제 하는 대답이었지?”
정답
- 답은 나(I'm Mina.)입니다. 이름을 물었으니 이름으로 대답합니다.
- 가(I'm fine, thank you.)는 How are you?에 하는 대답입니다. 둘 다 I'm으로 시작하지만 뒤에 오는 말이 다릅니다.
막히면
- “What's your name?은 ‘이름이 뭐야?’, How are you?는 ‘어떻게 지내?’”라고 우리말 뜻을 먼저 말해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빈칸 대화(이름 묻고 답하기, 반갑다고 말하기)]
목적: 대화의 빈칸에 알맞은 말을 넣어 이름 묻고 답하기와 반갑다고 말하기를 완성합니다.
시간: 약 4분
이렇게 말해 보세요
- “엄마(아빠)가 읽어 줄게. 빈칸에서는 ‘음~’ 하고 멈출 거야. 보기의 name, My, meet 가운데 무엇이 들어갈까?”
- “①, A: What's your 음~? B: I'm Mina.”
- “②, A: What's your name? B: 음~ name is Tom.”
- “③, A: Nice to 음~ you. B: Nice to meet you, too.”
- “이제 빈칸을 채워서 엄마(아빠)와 한 줄씩 나누어 말해 보자.”
정답
- ① name (What's your name?)
- ② My (My name is Tom.)
- ③ meet (Nice to meet you.)
막히면
- 보기의 세 낱말을 빈칸에 하나씩 넣어 읽어 주고, 어느 것이 자연스러운지 고르게 합니다.
- 보기 낱말을 읽지 못해도 괜찮습니다. 부모가 보기를 읽어 주고 아이는 듣고 고릅니다.
주의
- ②의 My는 문장의 첫 낱말이라 대문자 M으로 씁니다.
- 같은 형식의 빈칸 대화를 활동지 1에서 한 번 더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이름 묻고 답하기]
목적: 도움 없이 이름을 묻고, 자기 이름으로 대답하고, 반갑다는 말에 대답하는지 확인합니다.
시간: 약 4분
이렇게 말해 보세요
- “이번에는 혼자 해 볼래? 엄마(아빠)가 처음 만난 친구야. ①, 네가 먼저 인사하고 이름을 물어봐.” (부모는 아이가 물으면 자기 이름으로 대답합니다.)
- “②, What's your name?”
- “③, Nice to meet you.”
정답
- ① Hello. (또는 Hi.) What's your name?
- ② I'm (아이 이름). 또는 My name is (아이 이름).
- ③ Nice to meet you, too.
- 기준: 세 가지 모두 스스로 알맞게 말하면 통과입니다. 소리가 조금 서툴러도 알맞은 표현을 골라 말했으면 맞은 것으로 봅니다. ③에서 Nice to meet you.로만 대답해도 뜻은 통하지만, too를 붙이도록 한 번 더 말해 보게 합니다.
막히면
- 바로 알려 주지 말고 “무엇을 물어봤어? 이름이야, 기분이야?”라고만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대답 예와 피드백]
목적: 아이의 대답을 예와 비교하고 흔한 실수를 확인합니다.
시간: 약 2분
이렇게 말해 보세요
- “네가 한 말과 왼쪽 예를 비교해 보자. ○○ 자리에 네 이름을 넣어 말했어?”
- “오른쪽처럼 말하면 왜 어색할까?”
예상 답
- “이름을 물어봤으니까 이름을 말해야 해요.” “I'm Mina. 아니면 My name is Mina. 하나만 말해요.”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
목적: 처음 보는 형식에서 묻는 말에 알맞은 대답을 고르는지 확인합니다.
시간: 약 2분
이렇게 말해 보세요
- “엄마(아빠)가 가, 나, 다, 라를 읽어 줄게. I'm good. I'm Tom. Nice to meet you, too. Goodbye.”
- “What's your name?에 알맞은 대답은 어느 것일까? 어떻게 알았어?”
- “이번에는 엄마(아빠)가 Nice to meet you.라고 말할게. 어떤 대답이 알맞을까?”
정답
- What's your name? → 나(I'm Tom.)
- Nice to meet you. → 다(Nice to meet you, too.)
- 가(I'm good.)는 How are you?에 하는 대답, 라(Goodbye.)는 헤어질 때 하는 인사입니다.
막히면
- S08을 다시 보여 주고 “무엇을 물어봤는지” 먼저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“오늘 배운 것을 말해 볼래? 처음 만난 친구에게 이름을 물을 때는?”
- “네 이름은 어떻게 말해?”
예상 답
- “What's your name?” “I'm (아이 이름).”
정답
- ① What's your name? ② I'm (아이 이름). / My name is (아이 이름). ③ Nice to meet you, too.
주의
- 새 친구를 만나는 상황을 인형 놀이로 자주 해 보세요. 이름을 바꿔 가며 묻고 답하면 오래 기억합니다.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보충(인사하기)]
목적: S02에서 인사나 안부 대답이 흔들리면, 오늘 내용을 배우기 전에 지난 차시 표현을 다시 익힙니다.
시간: 약 5분
이렇게 말해 보세요
- “지난 시간에 배운 말을 다시 들어 보자. 소리를 듣고 따라 말해 봐.” (교과서 디지털 자료나 사전 앱의 소리를 함께 듣습니다.)
- “엄마(아빠)가 방에 들어올게. 뭐라고 인사할까?” → “How are you?” → “이제 나갈게. 뭐라고 인사할까?”
정답
- 만날 때 Hello. 또는 Hi. / How are you?에 I'm fine, thank you. (I'm good. I'm great.도 맞음) / 헤어질 때 Goodbye. 또는 Bye.
막히면
- 부모가 먼저 말하고 아이가 따라 말하는 것부터 다시 합니다.
주의
- 보충 뒤에도 인사와 안부 대답을 스스로 말하지 못하면, 앞 차시 ‘인사하기’(KR22-G03-ENG-HELLO-L01)를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듣기와말하기 · 2차시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초3 영어 · 이름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초3 영어 · 이름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초3 영어 · 이름 묻고 답하기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이름 묻고 답하기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처음 만난 친구의 이름을</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어떻게 물을까요?</a:t>
            </a:r>
            <a:endParaRPr lang="ko-KR" sz="30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What's your name?</a:t>
            </a:r>
            <a:endParaRPr lang="ko-KR" sz="34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I'm Mina.</a:t>
            </a:r>
            <a:endParaRPr lang="ko-KR" sz="3400" dirty="0"/>
          </a:p>
        </p:txBody>
      </p:sp>
      <p:sp>
        <p:nvSpPr>
          <p:cNvPr id="6" name="S01-card3"/>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7" name="S01-cardtext4"/>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What's your name?으로 묻고 내 이름을 말해요.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Nice to meet you.로 반갑게 인사해요.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인사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영어로 말해 보세요.</a:t>
            </a:r>
            <a:endParaRPr lang="ko-KR" sz="3000" dirty="0"/>
          </a:p>
        </p:txBody>
      </p:sp>
      <p:sp>
        <p:nvSpPr>
          <p:cNvPr id="4" name="S02-chip6"/>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7"/>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친구를 만났어요. 인사해요.</a:t>
            </a:r>
            <a:endParaRPr lang="ko-KR" sz="3000" dirty="0"/>
          </a:p>
        </p:txBody>
      </p:sp>
      <p:sp>
        <p:nvSpPr>
          <p:cNvPr id="6" name="S02-chip8"/>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9"/>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How are you?라고 물어요.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이름 묻기</a:t>
            </a:r>
            <a:endParaRPr lang="ko-KR" sz="4000" dirty="0"/>
          </a:p>
        </p:txBody>
      </p:sp>
      <p:sp>
        <p:nvSpPr>
          <p:cNvPr id="3" name="S03-card1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처음 만난 친구에게 물어요.</a:t>
            </a:r>
            <a:endParaRPr lang="ko-KR" sz="3000" dirty="0"/>
          </a:p>
        </p:txBody>
      </p:sp>
      <p:sp>
        <p:nvSpPr>
          <p:cNvPr id="5" name="S03-word12"/>
          <p:cNvSpPr txBox="1"/>
          <p:nvPr/>
        </p:nvSpPr>
        <p:spPr>
          <a:xfrm>
            <a:off x="548640" y="2354580"/>
            <a:ext cx="11091672"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What's your name?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이름이 뭐야?</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이름 말하기</a:t>
            </a:r>
            <a:endParaRPr lang="ko-KR" sz="4000" dirty="0"/>
          </a:p>
        </p:txBody>
      </p:sp>
      <p:sp>
        <p:nvSpPr>
          <p:cNvPr id="3" name="S04-card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Mina 자리에 내 이름을 넣어요.</a:t>
            </a:r>
            <a:endParaRPr lang="ko-KR" sz="3000" dirty="0"/>
          </a:p>
        </p:txBody>
      </p:sp>
      <p:sp>
        <p:nvSpPr>
          <p:cNvPr id="5" name="S04-word15"/>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I'm Mina.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나는 Mina야.</a:t>
            </a:r>
            <a:endParaRPr lang="ko-KR" sz="3400" dirty="0"/>
          </a:p>
        </p:txBody>
      </p:sp>
      <p:sp>
        <p:nvSpPr>
          <p:cNvPr id="6" name="S04-word16"/>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My name is Mina.</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내 이름은 Mina야.</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만나서 반가워</a:t>
            </a:r>
            <a:endParaRPr lang="ko-KR" sz="4000" dirty="0"/>
          </a:p>
        </p:txBody>
      </p:sp>
      <p:sp>
        <p:nvSpPr>
          <p:cNvPr id="3" name="S05-card1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5-cardtext1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처음 만났을 때 해요.</a:t>
            </a:r>
            <a:endParaRPr lang="ko-KR" sz="3000" dirty="0"/>
          </a:p>
        </p:txBody>
      </p:sp>
      <p:sp>
        <p:nvSpPr>
          <p:cNvPr id="5" name="S05-word19"/>
          <p:cNvSpPr txBox="1"/>
          <p:nvPr/>
        </p:nvSpPr>
        <p:spPr>
          <a:xfrm>
            <a:off x="548640"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Nice to meet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만나서 반가워.</a:t>
            </a:r>
            <a:endParaRPr lang="ko-KR" sz="3400" dirty="0"/>
          </a:p>
        </p:txBody>
      </p:sp>
      <p:sp>
        <p:nvSpPr>
          <p:cNvPr id="6" name="S05-word20"/>
          <p:cNvSpPr txBox="1"/>
          <p:nvPr/>
        </p:nvSpPr>
        <p:spPr>
          <a:xfrm>
            <a:off x="6231636" y="235458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Nice to meet you, too.</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나도 만나서 반가워.</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처음 만난 친구</a:t>
            </a:r>
            <a:endParaRPr lang="ko-KR" sz="4000" dirty="0"/>
          </a:p>
        </p:txBody>
      </p:sp>
      <p:sp>
        <p:nvSpPr>
          <p:cNvPr id="3" name="S06-text21"/>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3000" dirty="0"/>
          </a:p>
        </p:txBody>
      </p:sp>
      <p:sp>
        <p:nvSpPr>
          <p:cNvPr id="4" name="S06-passagebox22"/>
          <p:cNvSpPr/>
          <p:nvPr/>
        </p:nvSpPr>
        <p:spPr>
          <a:xfrm>
            <a:off x="548640" y="2011680"/>
            <a:ext cx="11091672" cy="4206240"/>
          </a:xfrm>
          <a:prstGeom prst="roundRect">
            <a:avLst>
              <a:gd name="adj" fmla="val 2174"/>
            </a:avLst>
          </a:prstGeom>
          <a:solidFill>
            <a:srgbClr val="FFFFFF"/>
          </a:solidFill>
          <a:ln w="19050">
            <a:solidFill>
              <a:srgbClr val="264653"/>
            </a:solidFill>
            <a:prstDash val="solid"/>
          </a:ln>
        </p:spPr>
      </p:sp>
      <p:sp>
        <p:nvSpPr>
          <p:cNvPr id="5" name="S06-passage23"/>
          <p:cNvSpPr txBox="1"/>
          <p:nvPr/>
        </p:nvSpPr>
        <p:spPr>
          <a:xfrm>
            <a:off x="822960" y="2194560"/>
            <a:ext cx="10543032" cy="3840480"/>
          </a:xfrm>
          <a:prstGeom prst="rect">
            <a:avLst/>
          </a:prstGeom>
          <a:noFill/>
          <a:ln/>
        </p:spPr>
        <p:txBody>
          <a:bodyPr wrap="square" lIns="0" tIns="0" rIns="0" bIns="0" rtlCol="0" anchor="t"/>
          <a:lstStyle/>
          <a:p>
            <a:pPr eaLnBrk="0" algn="l" indent="0" marL="0">
              <a:lnSpc>
                <a:spcPct val="105000"/>
              </a:lnSpc>
              <a:spcAft>
                <a:spcPts val="800"/>
              </a:spcAft>
              <a:buNone/>
            </a:pPr>
            <a:r>
              <a:rPr lang="ko-KR" altLang="en-US" sz="3000" dirty="0">
                <a:solidFill>
                  <a:srgbClr val="1F2937"/>
                </a:solidFill>
                <a:latin typeface="맑은 고딕" pitchFamily="34" charset="0"/>
                <a:ea typeface="맑은 고딕" pitchFamily="34" charset="-122"/>
                <a:cs typeface="맑은 고딕" pitchFamily="34" charset="-120"/>
              </a:rPr>
              <a:t>Tom: Hello. What's your name?</a:t>
            </a:r>
            <a:endParaRPr lang="ko-KR" sz="3000" dirty="0"/>
          </a:p>
          <a:p>
            <a:pPr eaLnBrk="0" algn="l" indent="0" marL="0">
              <a:lnSpc>
                <a:spcPct val="105000"/>
              </a:lnSpc>
              <a:spcAft>
                <a:spcPts val="800"/>
              </a:spcAft>
              <a:buNone/>
            </a:pPr>
            <a:r>
              <a:rPr lang="ko-KR" altLang="en-US" sz="3000" dirty="0">
                <a:solidFill>
                  <a:srgbClr val="1F2937"/>
                </a:solidFill>
                <a:latin typeface="맑은 고딕" pitchFamily="34" charset="0"/>
                <a:ea typeface="맑은 고딕" pitchFamily="34" charset="-122"/>
                <a:cs typeface="맑은 고딕" pitchFamily="34" charset="-120"/>
              </a:rPr>
              <a:t>Mina: Hi. I'm Mina. What's your name?</a:t>
            </a:r>
            <a:endParaRPr lang="ko-KR" sz="3000" dirty="0"/>
          </a:p>
          <a:p>
            <a:pPr eaLnBrk="0" algn="l" indent="0" marL="0">
              <a:lnSpc>
                <a:spcPct val="105000"/>
              </a:lnSpc>
              <a:spcAft>
                <a:spcPts val="800"/>
              </a:spcAft>
              <a:buNone/>
            </a:pPr>
            <a:r>
              <a:rPr lang="ko-KR" altLang="en-US" sz="3000" dirty="0">
                <a:solidFill>
                  <a:srgbClr val="1F2937"/>
                </a:solidFill>
                <a:latin typeface="맑은 고딕" pitchFamily="34" charset="0"/>
                <a:ea typeface="맑은 고딕" pitchFamily="34" charset="-122"/>
                <a:cs typeface="맑은 고딕" pitchFamily="34" charset="-120"/>
              </a:rPr>
              <a:t>Tom: My name is Tom.</a:t>
            </a:r>
            <a:endParaRPr lang="ko-KR" sz="3000" dirty="0"/>
          </a:p>
          <a:p>
            <a:pPr eaLnBrk="0" algn="l" indent="0" marL="0">
              <a:lnSpc>
                <a:spcPct val="105000"/>
              </a:lnSpc>
              <a:spcAft>
                <a:spcPts val="800"/>
              </a:spcAft>
              <a:buNone/>
            </a:pPr>
            <a:r>
              <a:rPr lang="ko-KR" altLang="en-US" sz="3000" dirty="0">
                <a:solidFill>
                  <a:srgbClr val="1F2937"/>
                </a:solidFill>
                <a:latin typeface="맑은 고딕" pitchFamily="34" charset="0"/>
                <a:ea typeface="맑은 고딕" pitchFamily="34" charset="-122"/>
                <a:cs typeface="맑은 고딕" pitchFamily="34" charset="-120"/>
              </a:rPr>
              <a:t>Mina: Nice to meet you, Tom.</a:t>
            </a:r>
            <a:endParaRPr lang="ko-KR" sz="3000" dirty="0"/>
          </a:p>
          <a:p>
            <a:pPr eaLnBrk="0" algn="l" indent="0" marL="0">
              <a:lnSpc>
                <a:spcPct val="105000"/>
              </a:lnSpc>
              <a:spcAft>
                <a:spcPts val="800"/>
              </a:spcAft>
              <a:buNone/>
            </a:pPr>
            <a:r>
              <a:rPr lang="ko-KR" altLang="en-US" sz="3000" dirty="0">
                <a:solidFill>
                  <a:srgbClr val="1F2937"/>
                </a:solidFill>
                <a:latin typeface="맑은 고딕" pitchFamily="34" charset="0"/>
                <a:ea typeface="맑은 고딕" pitchFamily="34" charset="-122"/>
                <a:cs typeface="맑은 고딕" pitchFamily="34" charset="-120"/>
              </a:rPr>
              <a:t>Tom: Nice to meet you, too.</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내 이름을 넣어 말해요</a:t>
            </a:r>
            <a:endParaRPr lang="ko-KR" sz="4000" dirty="0"/>
          </a:p>
        </p:txBody>
      </p:sp>
      <p:sp>
        <p:nvSpPr>
          <p:cNvPr id="3" name="S07-text24"/>
          <p:cNvSpPr txBox="1"/>
          <p:nvPr/>
        </p:nvSpPr>
        <p:spPr>
          <a:xfrm>
            <a:off x="548640" y="1325880"/>
            <a:ext cx="11091672"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①②는 빈칸에 내 이름을 넣어 말하고, ③은 엄마(아빠)에게 물어봐요.</a:t>
            </a:r>
            <a:endParaRPr lang="ko-KR" sz="3000" dirty="0"/>
          </a:p>
        </p:txBody>
      </p:sp>
      <p:sp>
        <p:nvSpPr>
          <p:cNvPr id="4" name="S07-chip25"/>
          <p:cNvSpPr txBox="1"/>
          <p:nvPr/>
        </p:nvSpPr>
        <p:spPr>
          <a:xfrm>
            <a:off x="548640" y="27238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7-text26"/>
          <p:cNvSpPr txBox="1"/>
          <p:nvPr/>
        </p:nvSpPr>
        <p:spPr>
          <a:xfrm>
            <a:off x="1344168" y="2438400"/>
            <a:ext cx="10296144" cy="1137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I'm ______.</a:t>
            </a:r>
            <a:endParaRPr lang="ko-KR" sz="3000" dirty="0"/>
          </a:p>
        </p:txBody>
      </p:sp>
      <p:sp>
        <p:nvSpPr>
          <p:cNvPr id="6" name="S07-chip27"/>
          <p:cNvSpPr txBox="1"/>
          <p:nvPr/>
        </p:nvSpPr>
        <p:spPr>
          <a:xfrm>
            <a:off x="548640" y="4044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7-text28"/>
          <p:cNvSpPr txBox="1"/>
          <p:nvPr/>
        </p:nvSpPr>
        <p:spPr>
          <a:xfrm>
            <a:off x="1344168" y="3759200"/>
            <a:ext cx="10296144" cy="1137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My name is ______.</a:t>
            </a:r>
            <a:endParaRPr lang="ko-KR" sz="3000" dirty="0"/>
          </a:p>
        </p:txBody>
      </p:sp>
      <p:sp>
        <p:nvSpPr>
          <p:cNvPr id="8" name="S07-chip29"/>
          <p:cNvSpPr txBox="1"/>
          <p:nvPr/>
        </p:nvSpPr>
        <p:spPr>
          <a:xfrm>
            <a:off x="548640" y="53654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07-text30"/>
          <p:cNvSpPr txBox="1"/>
          <p:nvPr/>
        </p:nvSpPr>
        <p:spPr>
          <a:xfrm>
            <a:off x="1344168" y="5080000"/>
            <a:ext cx="10296144" cy="1137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What's your name?</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어떤 대답이 알맞을까요?</a:t>
            </a:r>
            <a:endParaRPr lang="ko-KR" sz="4000" dirty="0"/>
          </a:p>
        </p:txBody>
      </p:sp>
      <p:sp>
        <p:nvSpPr>
          <p:cNvPr id="3" name="S08-card3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8-cardtext3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Tom이 Mina에게 What's your name?이라고 물었어요.</a:t>
            </a:r>
            <a:endParaRPr lang="ko-KR" sz="3000" dirty="0"/>
          </a:p>
        </p:txBody>
      </p:sp>
      <p:sp>
        <p:nvSpPr>
          <p:cNvPr id="5" name="S08-card3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8-cardtext3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알맞은 대답은 어느 쪽일까요? 왜 그렇게 생각해요?</a:t>
            </a:r>
            <a:endParaRPr lang="ko-KR" sz="3000" dirty="0"/>
          </a:p>
        </p:txBody>
      </p:sp>
      <p:sp>
        <p:nvSpPr>
          <p:cNvPr id="7" name="S08-chip3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8-word36"/>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I'm fine, thank you.</a:t>
            </a:r>
            <a:endParaRPr lang="ko-KR" sz="3400" dirty="0"/>
          </a:p>
        </p:txBody>
      </p:sp>
      <p:sp>
        <p:nvSpPr>
          <p:cNvPr id="9" name="S08-chip3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8-word38"/>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I'm Mina.</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빈칸에 들어갈 말</a:t>
            </a:r>
            <a:endParaRPr lang="ko-KR" sz="4000" dirty="0"/>
          </a:p>
        </p:txBody>
      </p:sp>
      <p:sp>
        <p:nvSpPr>
          <p:cNvPr id="3" name="S09-text3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빈칸에 들어갈 말을 보기에서 골라 말해요.</a:t>
            </a:r>
            <a:endParaRPr lang="ko-KR" sz="3000" dirty="0"/>
          </a:p>
        </p:txBody>
      </p:sp>
      <p:sp>
        <p:nvSpPr>
          <p:cNvPr id="4" name="S09-card40"/>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9-cardtext4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보기: name　·　My　·　meet</a:t>
            </a:r>
            <a:endParaRPr lang="ko-KR" sz="3000" dirty="0"/>
          </a:p>
        </p:txBody>
      </p:sp>
      <p:sp>
        <p:nvSpPr>
          <p:cNvPr id="6" name="S09-chip42"/>
          <p:cNvSpPr txBox="1"/>
          <p:nvPr/>
        </p:nvSpPr>
        <p:spPr>
          <a:xfrm>
            <a:off x="548640" y="218541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ext43"/>
          <p:cNvSpPr txBox="1"/>
          <p:nvPr/>
        </p:nvSpPr>
        <p:spPr>
          <a:xfrm>
            <a:off x="1344168" y="201168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A: What's your ______?</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B: I'm Mina.</a:t>
            </a:r>
            <a:endParaRPr lang="ko-KR" sz="3000" dirty="0"/>
          </a:p>
        </p:txBody>
      </p:sp>
      <p:sp>
        <p:nvSpPr>
          <p:cNvPr id="8" name="S09-chip44"/>
          <p:cNvSpPr txBox="1"/>
          <p:nvPr/>
        </p:nvSpPr>
        <p:spPr>
          <a:xfrm>
            <a:off x="548640" y="32826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9-text45"/>
          <p:cNvSpPr txBox="1"/>
          <p:nvPr/>
        </p:nvSpPr>
        <p:spPr>
          <a:xfrm>
            <a:off x="1344168" y="310896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A: What's your name?</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B: ______ name is Tom.</a:t>
            </a:r>
            <a:endParaRPr lang="ko-KR" sz="3000" dirty="0"/>
          </a:p>
        </p:txBody>
      </p:sp>
      <p:sp>
        <p:nvSpPr>
          <p:cNvPr id="10" name="S09-chip46"/>
          <p:cNvSpPr txBox="1"/>
          <p:nvPr/>
        </p:nvSpPr>
        <p:spPr>
          <a:xfrm>
            <a:off x="548640" y="4379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9-text47"/>
          <p:cNvSpPr txBox="1"/>
          <p:nvPr/>
        </p:nvSpPr>
        <p:spPr>
          <a:xfrm>
            <a:off x="1344168" y="4206240"/>
            <a:ext cx="10296144" cy="91440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A: Nice to ______ you.</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B: Nice to meet you, too.</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48"/>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처음 만난 친구에게 하듯 영어로 말해 보세요.</a:t>
            </a:r>
            <a:endParaRPr lang="ko-KR" sz="3000" dirty="0"/>
          </a:p>
        </p:txBody>
      </p:sp>
      <p:sp>
        <p:nvSpPr>
          <p:cNvPr id="4" name="S10-chip49"/>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0-text50"/>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인사하고 이름을 물어요.</a:t>
            </a:r>
            <a:endParaRPr lang="ko-KR" sz="3000" dirty="0"/>
          </a:p>
        </p:txBody>
      </p:sp>
      <p:sp>
        <p:nvSpPr>
          <p:cNvPr id="6" name="S10-chip51"/>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10-text52"/>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What's your name?이라고 물어요.</a:t>
            </a:r>
            <a:endParaRPr lang="ko-KR" sz="3000" dirty="0"/>
          </a:p>
        </p:txBody>
      </p:sp>
      <p:sp>
        <p:nvSpPr>
          <p:cNvPr id="8" name="S10-chip53"/>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9" name="S10-text54"/>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친구가 Nice to meet you.라고 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1-card55"/>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56"/>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무엇을 묻는지 먼저 생각하고 대답해요. ○○에는 내 이름!</a:t>
            </a:r>
            <a:endParaRPr lang="ko-KR" sz="3000" dirty="0"/>
          </a:p>
        </p:txBody>
      </p:sp>
      <p:sp>
        <p:nvSpPr>
          <p:cNvPr id="5" name="S11-chip57"/>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1-text58"/>
          <p:cNvSpPr txBox="1"/>
          <p:nvPr/>
        </p:nvSpPr>
        <p:spPr>
          <a:xfrm>
            <a:off x="548640" y="2057400"/>
            <a:ext cx="5362956"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 Hello. What's your name?</a:t>
            </a:r>
            <a:endParaRPr lang="ko-KR" sz="3000" dirty="0"/>
          </a:p>
        </p:txBody>
      </p:sp>
      <p:sp>
        <p:nvSpPr>
          <p:cNvPr id="7" name="S11-text59"/>
          <p:cNvSpPr txBox="1"/>
          <p:nvPr/>
        </p:nvSpPr>
        <p:spPr>
          <a:xfrm>
            <a:off x="548640" y="3124200"/>
            <a:ext cx="5362956"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② I'm ○○.</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(My name is ○○.)</a:t>
            </a:r>
            <a:endParaRPr lang="ko-KR" sz="3000" dirty="0"/>
          </a:p>
        </p:txBody>
      </p:sp>
      <p:sp>
        <p:nvSpPr>
          <p:cNvPr id="8" name="S11-text60"/>
          <p:cNvSpPr txBox="1"/>
          <p:nvPr/>
        </p:nvSpPr>
        <p:spPr>
          <a:xfrm>
            <a:off x="548640" y="4191000"/>
            <a:ext cx="5362956"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③ Nice to meet you, too.</a:t>
            </a:r>
            <a:endParaRPr lang="ko-KR" sz="3000" dirty="0"/>
          </a:p>
        </p:txBody>
      </p:sp>
      <p:sp>
        <p:nvSpPr>
          <p:cNvPr id="9" name="S11-chip61"/>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1-text62"/>
          <p:cNvSpPr txBox="1"/>
          <p:nvPr/>
        </p:nvSpPr>
        <p:spPr>
          <a:xfrm>
            <a:off x="6277356" y="20574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이름 질문에</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I'm fine, thank you.로 대답</a:t>
            </a:r>
            <a:endParaRPr lang="ko-KR" sz="3000" dirty="0"/>
          </a:p>
        </p:txBody>
      </p:sp>
      <p:sp>
        <p:nvSpPr>
          <p:cNvPr id="11" name="S11-text63"/>
          <p:cNvSpPr txBox="1"/>
          <p:nvPr/>
        </p:nvSpPr>
        <p:spPr>
          <a:xfrm>
            <a:off x="6277356" y="3429000"/>
            <a:ext cx="5362956"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I'm과 My name is를 섞어 말하기</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대답을 골라요</a:t>
            </a:r>
            <a:endParaRPr lang="ko-KR" sz="4000" dirty="0"/>
          </a:p>
        </p:txBody>
      </p:sp>
      <p:sp>
        <p:nvSpPr>
          <p:cNvPr id="3" name="S12-card64"/>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65"/>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What's your name?에 알맞은 대답은? 어떻게 알았나요?</a:t>
            </a:r>
            <a:endParaRPr lang="ko-KR" sz="3000" dirty="0"/>
          </a:p>
        </p:txBody>
      </p:sp>
      <p:sp>
        <p:nvSpPr>
          <p:cNvPr id="5" name="S12-chip66"/>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2-card67"/>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2-cardtext68"/>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I'm good.</a:t>
            </a:r>
            <a:endParaRPr lang="ko-KR" sz="3000" dirty="0"/>
          </a:p>
        </p:txBody>
      </p:sp>
      <p:sp>
        <p:nvSpPr>
          <p:cNvPr id="8" name="S12-chip69"/>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2-card70"/>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2-cardtext71"/>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I'm Tom.</a:t>
            </a:r>
            <a:endParaRPr lang="ko-KR" sz="3000" dirty="0"/>
          </a:p>
        </p:txBody>
      </p:sp>
      <p:sp>
        <p:nvSpPr>
          <p:cNvPr id="11" name="S12-chip72"/>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2-card73"/>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2-cardtext74"/>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Nice to meet you, too.</a:t>
            </a:r>
            <a:endParaRPr lang="ko-KR" sz="3000" dirty="0"/>
          </a:p>
        </p:txBody>
      </p:sp>
      <p:sp>
        <p:nvSpPr>
          <p:cNvPr id="14" name="S12-chip75"/>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15" name="S12-card76"/>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2-cardtext77"/>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Goodbye.</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78"/>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3-cardtext79"/>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What's your name?이라고 물으면</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I'm ○○. 또는 My name is ○○.로 대답해요.</a:t>
            </a:r>
            <a:endParaRPr lang="ko-KR" sz="3000" dirty="0"/>
          </a:p>
        </p:txBody>
      </p:sp>
      <p:sp>
        <p:nvSpPr>
          <p:cNvPr id="5" name="S13-chip80"/>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I'm 다음에 내 이름</a:t>
            </a:r>
            <a:endParaRPr lang="ko-KR" sz="2400" dirty="0"/>
          </a:p>
        </p:txBody>
      </p:sp>
      <p:sp>
        <p:nvSpPr>
          <p:cNvPr id="6" name="S13-chip81"/>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이름 질문에 I'm fine.</a:t>
            </a:r>
            <a:endParaRPr lang="ko-KR" sz="2400" dirty="0"/>
          </a:p>
        </p:txBody>
      </p:sp>
      <p:sp>
        <p:nvSpPr>
          <p:cNvPr id="7" name="S13-text82"/>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3-text83"/>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이름을 묻는 말은?</a:t>
            </a:r>
            <a:endParaRPr lang="ko-KR" sz="2400" dirty="0"/>
          </a:p>
        </p:txBody>
      </p:sp>
      <p:sp>
        <p:nvSpPr>
          <p:cNvPr id="9" name="S13-text84"/>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내 이름 말하기 2가지</a:t>
            </a:r>
            <a:endParaRPr lang="ko-KR" sz="2400" dirty="0"/>
          </a:p>
        </p:txBody>
      </p:sp>
      <p:sp>
        <p:nvSpPr>
          <p:cNvPr id="10" name="S13-text85"/>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Nice to meet you.에 대답하기</a:t>
            </a:r>
            <a:endParaRPr lang="ko-KR" sz="2400" dirty="0"/>
          </a:p>
        </p:txBody>
      </p:sp>
      <p:sp>
        <p:nvSpPr>
          <p:cNvPr id="11" name="S13-text86"/>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감사·사과·부탁</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인사 다시 하기</a:t>
            </a:r>
            <a:endParaRPr lang="ko-KR" sz="4000" dirty="0"/>
          </a:p>
        </p:txBody>
      </p:sp>
      <p:sp>
        <p:nvSpPr>
          <p:cNvPr id="3" name="S14-card8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8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만날 때 인사 → 묻고 답하기 → 헤어질 때 인사</a:t>
            </a:r>
            <a:endParaRPr lang="ko-KR" sz="3000" dirty="0"/>
          </a:p>
        </p:txBody>
      </p:sp>
      <p:sp>
        <p:nvSpPr>
          <p:cNvPr id="5" name="S14-word89"/>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Hello.</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안녕하세요.</a:t>
            </a:r>
            <a:endParaRPr lang="ko-KR" sz="3400" dirty="0"/>
          </a:p>
        </p:txBody>
      </p:sp>
      <p:sp>
        <p:nvSpPr>
          <p:cNvPr id="6" name="S14-word90"/>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Goodbye.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안녕히 가세요.</a:t>
            </a:r>
            <a:endParaRPr lang="ko-KR" sz="3400" dirty="0"/>
          </a:p>
        </p:txBody>
      </p:sp>
      <p:sp>
        <p:nvSpPr>
          <p:cNvPr id="7" name="S14-word91"/>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How are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어떻게 지내?</a:t>
            </a:r>
            <a:endParaRPr lang="ko-KR" sz="3400" dirty="0"/>
          </a:p>
        </p:txBody>
      </p:sp>
      <p:sp>
        <p:nvSpPr>
          <p:cNvPr id="8" name="S14-word92"/>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ko-KR" altLang="en-US" sz="3400" b="1" dirty="0">
                <a:solidFill>
                  <a:srgbClr val="1F2937"/>
                </a:solidFill>
                <a:latin typeface="맑은 고딕" pitchFamily="34" charset="0"/>
                <a:ea typeface="맑은 고딕" pitchFamily="34" charset="-122"/>
                <a:cs typeface="맑은 고딕" pitchFamily="34" charset="-120"/>
              </a:rPr>
              <a:t>I'm fine, thank you.</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잘 지내, 고마워.</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초3 영어 이름 묻고 답하기</dc:title>
  <dc:subject>KR22-G03-ENG-NAME-L01</dc:subject>
  <dc:creator>education-ppt</dc:creator>
  <cp:lastModifiedBy>education-ppt</cp:lastModifiedBy>
  <cp:revision>1</cp:revision>
  <dcterms:created xsi:type="dcterms:W3CDTF">2026-10-26T07:43:06Z</dcterms:created>
  <dcterms:modified xsi:type="dcterms:W3CDTF">2026-10-26T07:43:06Z</dcterms:modified>
</cp:coreProperties>
</file>