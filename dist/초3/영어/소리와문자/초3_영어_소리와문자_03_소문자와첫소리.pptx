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39f04fc-17eb-d08d-b983-6bdd43827848}">
          <p14:sldIdLst>
            <p14:sldId id="256"/>
            <p14:sldId id="257"/>
          </p14:sldIdLst>
        </p14:section>
        <p14:section name="개념" id="{304d032e-fe09-1e4f-d007-0409a5e0da2c}">
          <p14:sldIdLst>
            <p14:sldId id="258"/>
            <p14:sldId id="259"/>
            <p14:sldId id="260"/>
            <p14:sldId id="261"/>
            <p14:sldId id="262"/>
            <p14:sldId id="264"/>
            <p14:sldId id="265"/>
            <p14:sldId id="267"/>
          </p14:sldIdLst>
        </p14:section>
        <p14:section name="연습" id="{1fd08828-d8cc-a12f-54ff-346f79ceb3c1}">
          <p14:sldIdLst>
            <p14:sldId id="263"/>
            <p14:sldId id="266"/>
            <p14:sldId id="268"/>
          </p14:sldIdLst>
        </p14:section>
        <p14:section name="개념" id="{08bd0418-4f6a-2bc1-031b-6645f151e83d}">
          <p14:sldIdLst/>
        </p14:section>
        <p14:section name="연습" id="{fea58ccd-7bda-fffe-bd35-3f63886815c2}">
          <p14:sldIdLst/>
        </p14:section>
        <p14:section name="개념" id="{84353474-5b9f-c1e8-566a-3ea32db27932}">
          <p14:sldIdLst/>
        </p14:section>
        <p14:section name="연습" id="{3194dd74-68fb-feb4-9494-cf65922c2afe}">
          <p14:sldIdLst/>
        </p14:section>
        <p14:section name="확인" id="{001d179d-31d1-fc78-c9d6-3f89b7786722}">
          <p14:sldIdLst>
            <p14:sldId id="269"/>
            <p14:sldId id="270"/>
            <p14:sldId id="271"/>
          </p14:sldIdLst>
        </p14:section>
        <p14:section name="정리" id="{5cfd4e3e-adc7-7bbc-09c0-1de9c399067f}">
          <p14:sldIdLst>
            <p14:sldId id="272"/>
          </p14:sldIdLst>
        </p14:section>
        <p14:section name="보충" id="{2e3cbe3b-fed4-a0d3-5766-a6629390359b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대문자에 짝이 되는 작은 글자가 있다는 것을 보여 주고 관심을 갖게 합니다.
시간: 약 2분
이렇게 말해 보세요
- “지난 시간에 A부터 Z까지 26글자를 다 배웠지? 오른쪽을 봐. 큰 글자 옆에 작은 글자가 있네.”
- “영어 글자에는 큰 글자인 ‘대문자’와 작은 글자인 ‘소문자’가 있어. 오늘은 소문자를 배우고, 낱말의 첫 글자도 찾아볼 거야.”
- “작은 글자 중에 이름을 아는 글자가 있어?”
예상 답
- “a요.” “c는 C랑 똑같아요.” “몰라요.”
주의
- 수업 전에 교과서 디지털 자료나 사전 앱의 발음 듣기로 글자 이름과 오늘 낱말(apple, bag, cat, dog, egg, fish)을 미리 들어 두세요. 부모님 발음이 완벽하지 않아도 괜찮습니다.
- 소리 자료 없이 진행하면 이름과 낱말 소리가 맞는지 확인하기 어렵습니다. 이때는 헷갈리는 것을 기록해 두었다가 소리 자료로 나중에 확인합니다.
- 화면 글꼴의 a와 g는 교과서의 손글씨 모양과 조금 다를 수 있습니다. 쓸 때는 아이 교과서의 모양을 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확인(대문자 이름과 차례)]
목적: 지난 두 차시(알파벳 A부터 M까지, N부터 Z까지)의 대문자 이름과 차례를 기억하는지 확인합니다. 소문자는 대문자와 짝을 지어 배우므로 꼭 필요합니다.
시간: 약 3분
이렇게 말해 보세요
- “지난 시간에 배운 대문자야. ①의 글자 이름을 하나씩 말해 줄래?”
- “②는 R, S, 그다음 물음표, 그리고 U. 물음표 자리에 들어갈 글자는?”
정답
- ① D, H, Q, Y (소리 자료의 이름과 같게 말하면 맞음)
- ② T
막히면
- 대문자 카드를 A부터 늘어놓고 부모가 짚으며 함께 말한 뒤 다시 묻습니다.
- ①에서 2글자 이상 이름을 말하지 못하거나 ②를 찾지 못하면 S18(보충)을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대문자와 소문자의 뜻]
목적: 대문자와 소문자가 짝을 이루며, 짝 글자는 이름이 같다는 것을 압니다(M2).
시간: 약 2분
이렇게 말해 보세요
- “왼쪽은 지난 시간에 배운 대문자, 오른쪽은 오늘 배울 소문자야.”
- “A와 a는 짝이야. 모양은 달라도 이름은 같아. 소리를 같이 듣고 따라 해 보자. a, b, c.”
- “책이나 과자 봉지의 영어 낱말을 보면 대부분 소문자로 쓰여 있어. 그래서 소문자를 알아야 낱말을 읽을 수 있어.”
예상 답
- “a, b, c.” “c는 C랑 모양이 같아요.”
막히면
- 대문자 카드 A 옆에 소문자 카드 a를 놓고 “둘 다 이름이 같아.”라고 말하며 함께 이름을 말합니다.
주의
- 소문자 카드는 짝 대문자 카드 옆에 놓아 두세요. S08과 S16에서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대문자와 모양이 같은 소문자]
목적: 대문자와 모양이 같고 크기만 작은 소문자 8개(c, o, s, u, v, w, x, z)의 이름을 익힙니다.
시간: 약 2분
이렇게 말해 보세요
- “위는 대문자, 아래는 짝 소문자야. 이 글자들은 쉬워. 대문자를 작게 쓰면 소문자가 돼.”
- “소리를 듣고 따라 말해 보자. c, o, s, u, v, w, x, z.”
- “엄마(아빠)가 짚는 소문자의 이름을 말해 줘.” (차례를 섞어 짚습니다.)
예상 답
- “c, o, s, u, v, w, x, z.”
막히면
- 이름이 떠오르지 않으면 옆의 대문자를 보고 말하게 합니다. 대문자 이름과 같다는 것을 다시 짚어 줍니다.
주의
- o를 한글 ㅇ처럼 읽지 않게 영어 이름으로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모양이 다른 소문자(a, b, d, e, f, g)]
목적: 대문자와 모양이 다른 소문자 a, b, d, e, f, g의 이름을 짝 대문자와 함께 익힙니다.
시간: 약 2분
이렇게 말해 보세요
- “이번 글자들은 대문자와 모양이 달라. 위의 대문자와 아래의 소문자 짝을 보면서 이름을 말해 보자. 소리를 듣고 따라 해. a, b, d, e, f, g.”
- “b는 대문자 B에서 위쪽 볼록한 곳을 뗀 것 같지? d는 D와 모양이 많이 달라.”
- “엄마(아빠)가 소문자만 짚을게. 이름을 말해 줘.”
예상 답
- “a, b, d, e, f, g.” “b는 B랑 조금 닮았어요.”
막히면
- 소문자 카드를 짝 대문자 카드 옆에 놓아 짝을 맞추며 이름을 말하게 합니다.
주의
- 화면의 a와 g는 교과서의 손글씨 모양과 다를 수 있습니다. 두 모양 모두 같은 글자라고 알려 주고, 쓸 때는 교과서 모양을 따릅니다.
- b와 d는 S09에서 다시 비교합니다(M1).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모양이 다른 소문자(h, i, j, k, l, m)]
목적: 소문자 h, i, j, k, l, m의 이름을 짝 대문자와 함께 익힙니다.
시간: 약 2분
이렇게 말해 보세요
- “소리를 듣고 따라 말해 보자. h, i, j, k, l, m.”
- “i와 j는 머리 위에 점이 하나씩 있어. l은 곧은 선 하나뿐이야.”
- “엄마(아빠)가 짚는 소문자의 이름을 말해 줘.”
예상 답
- “h, i, j, k, l, m.” “i랑 j에 점이 있어요.”
막히면
- l(소문자)과 I(대문자)는 글꼴에 따라 비슷해 보입니다. 헷갈리면 짝 카드를 나란히 놓고 이름을 다시 말해 줍니다.
주의
- m과 n, i와 j는 S10에서 다시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모양이 다른 소문자(n, p, q, r, t, y)]
목적: 소문자 n, p, q, r, t, y의 이름을 익히고, 아래로 내려오는 글자가 있다는 것을 압니다.
시간: 약 2분
이렇게 말해 보세요
- “마지막 묶음이야. 소리를 듣고 따라 말해 보자. n, p, q, r, t, y.”
- “p, q, y는 다른 글자보다 아래로 꼬리가 내려와. 앞에서 본 g와 j도 그래.”
- “이제 소문자 26글자를 다 봤어. 엄마(아빠)가 짚는 글자의 이름을 말해 줘.”
예상 답
- “n, p, q, r, t, y.” “g랑 j도 아래로 내려와요.”
막히면
- 소문자 카드 26장을 짝 대문자 카드 옆에 A부터 Z까지 차례대로 놓고, 부모가 짚으며 함께 이름을 말합니다.
주의
- 영어 공책에 쓸 때 g, j, p, q, y는 셋째 줄(기준선) 아래로 내려 씁니다. 활동지 2·3에서 따라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대문자의 짝 소문자 찾기]
목적: 대문자를 보고 짝이 되는 소문자를 찾아 이름을 말합니다.
시간: 약 3분
이렇게 말해 보세요
- “색칠한 글자는 대문자야. 오른쪽 세 글자 중에서 짝이 되는 소문자를 찾아 짚고 이름을 말해 줘.”
- “①부터 해 볼까? G의 짝은?”
- “어떻게 찾았어?”
정답
- ① g ② r ③ h ④ e
막히면
- S05~S07에서 그 글자가 나온 장을 다시 보여 줍니다.
- 짝 카드를 실제로 옆에 놓아 보게 합니다.
주의
- ③에서 n을 고르면 h는 왼쪽 선이 위로 길게 올라간다고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닮은 소문자 b·d·p·q]
목적: 좌우가 바뀐 닮은 글자 b, d, p, q를 볼록한 곳의 방향으로 구별합니다(M1).
시간: 약 2분
이렇게 말해 보세요
- “이 네 글자는 쌍둥이처럼 닮았어. 하나씩 이름을 따라 해 봐. b, d, p, q.”
- “대문자 B와 P를 떠올려 봐. 볼록한 곳이 어느 쪽에 있지? 맞아, 오른쪽. 소문자 b와 p도 볼록한 곳이 오른쪽이야.”
- “d와 q는 볼록한 곳이 왼쪽이야. b와 d는 위로 올라가고, p와 q는 아래로 내려가.”
- “두 주먹을 쥐고 엄지를 위로 세워 봐. 왼손은 b, 오른손은 d 모양이야.”
예상 답
- “b, d, p, q.” “b는 볼록한 곳이 오른쪽이에요.”
막히면
- 대문자 카드 B를 소문자 b 옆에 놓고 볼록한 쪽을 손가락으로 함께 짚습니다.
- 주먹 모양이 어려우면 종이에 B를 쓰고 위쪽 볼록한 곳을 지우면 b가 된다는 것을 보여 줍니다.
주의
- b와 d를 헷갈리는 것은 이 나이에 흔합니다. 틀릴 때마다 혼내지 말고 ‘볼록한 곳이 어느 쪽?’이라고만 물어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닮은 소문자 m·n, i·j]
목적: m과 n은 봉우리 수로, i와 j는 아래 모양으로 구별합니다.
시간: 약 2분
이렇게 말해 보세요
- “m과 n을 손가락으로 따라 그려 봐. 산봉우리처럼 볼록한 곳이 몇 개야?”
- “i와 j는 둘 다 위에 점이 있어. 아래는 어떻게 달라?”
- “엄마(아빠)가 말하는 글자를 짚어 봐. n! j! m! i!”
예상 답
- “m은 2개, n은 1개예요.” “j는 아래가 굽었어요.”
막히면
- m과 n을 공중에 크게 쓰며 “봉우리 하나, 둘”이라고 함께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비교(b와 d)]
목적: 볼록한 곳의 방향을 보고 b와 d를 구별하고, 그 이유를 말합니다(M1).
시간: 약 2분
이렇게 말해 보세요
- “친구가 d를 보고 b라고 했대. 맞게 말했을까?”
- “볼록한 곳이 어느 쪽에 있어? 그러면 이 글자의 이름은?”
- “p와 q도 비교해 볼까? 무엇이 다르지?”
정답
- 바르지 않습니다. 볼록한 곳이 왼쪽에 있는 글자는 d이고, 오른쪽에 있는 글자가 b입니다.
- p와 q: p는 볼록한 곳이 오른쪽, q는 왼쪽입니다.
막히면
- 두 주먹 b·d 손 모양을 다시 만들어 화면의 글자와 비교합니다.
주의
- 여기까지가 글자 모양을 배우는 부분입니다. 아이가 지치면 여기서 나누어 다음 날 S12부터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낱말의 첫소리와 첫 글자]
목적: 자주 쓰는 여섯 낱말을 듣고 따라 말하며, 맨 처음 소리(첫소리)와 첫 글자를 연결합니다.
시간: 약 3분
이렇게 말해 보세요
- “낱말을 하나씩 듣고 따라 말해 보자.” (교과서 디지털 자료나 사전 앱으로 apple, bag, cat, dog, egg, fish의 소리를 차례로 들려줍니다.)
- “낱말을 말할 때 입을 처음 열면서 나는 소리를 ‘첫소리’라고 해. apple의 첫 글자는 무엇일까? 맞아, a야.”
- “bag의 첫 글자는? cat은? dog은? egg는? fish는?”
- “첫 글자를 보니 무엇을 알 수 있어? a, b, c, d, e, f, 차례대로네!”
예상 답
- “a, b, c, d, e, f요.” “차례대로 있어요.”
막히면
- 낱말 카드의 첫 글자를 손가락으로 짚으며 낱말을 천천히 말합니다.
- 낱말 뜻이 궁금하면 아래 작은 글자(우리말 뜻)를 읽어 줍니다.
주의
- 오늘은 낱말의 첫 글자를 알아보는 데까지만 합니다. 글자마다 내는 소리를 모두 외우게 하지 않습니다.
- 부모님이 낱말을 말할 때도 소리 자료를 먼저 듣고 따라 말하면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낱말을 듣고 첫 글자 고르기]
목적: 들은 낱말의 첫소리에 알맞은 첫 글자를 고릅니다.
시간: 약 3분
이렇게 말해 보세요
- “엄마(아빠)가 낱말을 말하면 따라 말하고, 첫 글자를 골라 짚어 봐.”
- 부모가 말할 낱말: ① dog ② egg ③ fish (소리 자료로 들려주어도 됩니다.)
- “어떻게 알았어?”
정답
- ① d (dog) ② e (egg) ③ f (fish)
막히면
- S12의 낱말 카드를 다시 보여 주고 같은 낱말을 찾아 첫 글자를 짚게 합니다.
- ①에서 b를 고르면 볼록한 곳의 방향을 다시 봅니다.
주의
- 첫소리 대신 끝소리를 듣고 고르면(예: dog에서 g) “입을 처음 열 때 나는 소리”를 다시 말해 줍니다(M3).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혼자 이름 말하기, 닮은 글자 짚기, 첫 글자 고르기]
목적: 도움 없이 소문자 이름을 말하고, 닮은 글자와 첫 글자를 듣고 찾는지 확인합니다.
시간: 약 4분
이렇게 말해 보세요
- “이번에는 혼자 해 볼래? ①의 글자 이름을 하나씩 말해 줘.”
- “②에서 엄마(아빠)가 말하는 글자를 짚어 봐. n! 이번엔 j!”
- “③에서 엄마(아빠)가 말하는 낱말의 첫 글자를 짚어 봐. cat! 이번엔 egg!”
- “④에서 M의 짝 소문자는?”
정답
- ① r, h, y, g (소리 자료의 이름과 같게 말하면 맞음)
- ② n → 둘째, j → 넷째 ③ cat → c, egg → e ④ m
막히면
- 틀린 글자는 바로 고쳐 주지 말고 “봉우리가 몇 개야?”, “낱말 카드를 떠올려 볼까?”라고만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정답과 피드백]
목적: 아이의 답을 확인하고 흔한 실수와 비교합니다.
시간: 약 2분
이렇게 말해 보세요
- “네가 말한 것과 왼쪽 정답을 비교해 보자.”
- “오른쪽처럼 말하면 왜 틀렸을까?”
예상 답
- “n은 봉우리가 1개라서 m이 아니에요.” “egg는 e로 시작해요.”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마무리 확인]
목적: 좌우가 바뀐 닮은 글자 사이에서 이름이나 낱말의 첫소리를 듣고 알맞은 글자를 고르는지 확인합니다.
시간: 약 2분
이렇게 말해 보세요
- “p는 가, 나, 다, 라 중에서 어느 것일까? 어떻게 알았어?”
- “이번에는 낱말이야. bag의 첫 글자는 어느 것일까?”
정답
- p → 다. 아래로 내려가고 볼록한 곳이 오른쪽입니다(라의 q는 왼쪽).
- bag → 가(b). 위로 올라가고 볼록한 곳이 오른쪽입니다(나의 d는 왼쪽).
막히면
- S09를 다시 보여 주고, 대문자 B·P처럼 볼록한 곳이 오른쪽인 글자를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다음 학습과 복습]
목적: 핵심을 정리하고 다음 수업 첫 5분에 풀 복습을 알려 줍니다.
시간: 약 2분
이렇게 말해 보세요
- “오늘 배운 것을 말해 볼래? A와 a는 어떤 사이야?”
- “b와 d는 어떻게 구별해?”
예상 답
- “짝이에요. 이름이 같아요.” “볼록한 곳이 오른쪽이면 b예요.”
정답
- ① b는 볼록한 곳이 오른쪽, d는 왼쪽이에요. ② g ③ d
주의
- 대문자·소문자 카드 52장은 모아 두세요. 짝 맞추기 놀이로 자주 복습하면 좋습니다.
- 다음 차시는 계획 순서에 따라 듣기와 말하기의 ‘인사하기’입니다(이미 했다면 다음 차시로 넘어갑니다). 글자의 소리 공부는 4학년 ‘단모음 소리’로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선수 학습 보충(대문자 이름과 차례)]
목적: S02에서 대문자 이름이나 차례가 흔들리면, 소문자를 배우기 전에 대문자를 먼저 다집니다.
시간: 약 5분
이렇게 말해 보세요
- “지난 시간까지 배운 글자를 다시 들어 보자. 소리를 듣고 한 글자씩 따라 말해 봐.” (교과서 디지털 자료나 사전 앱의 소리를 함께 듣습니다.)
- “이번에는 카드를 섞을게. A부터 Z까지 차례대로 놓아 볼래?”
- “엄마(아빠)가 짚는 글자의 이름은?”
정답
- 카드 차례: A B C D E F G H I J K L M N O P Q R S T U V W X Y Z
- 이름은 소리 자료와 같게 말하면 맞습니다.
막히면
- A부터 M까지 먼저 놓고 이름을 말한 뒤, N부터 Z까지 이어 놓습니다.
주의
- 보충으로도 26글자 중 절반 넘게 이름을 말하지 못하면 앞 차시 ‘알파벳 N부터 Z까지’(KR22-G03-ENG-ABC2-L01)와 그 앞의 ‘알파벳 A부터 M까지’를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소문자와 첫소리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소문자와 첫소리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소문자와 첫소리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소문자와 첫소리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글자에도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글자가 있을까요?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Dd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대문자의 짝이 되는 소문자를 찾고 이름을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낱말을 듣고 첫 글자를 골라요.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 떠올리기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?에 들어갈 글자를 말해요.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300" dirty="0"/>
          </a:p>
        </p:txBody>
      </p:sp>
      <p:sp>
        <p:nvSpPr>
          <p:cNvPr id="6" name="S02-tile10"/>
          <p:cNvSpPr txBox="1"/>
          <p:nvPr/>
        </p:nvSpPr>
        <p:spPr>
          <a:xfrm>
            <a:off x="2766060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300" dirty="0"/>
          </a:p>
        </p:txBody>
      </p:sp>
      <p:sp>
        <p:nvSpPr>
          <p:cNvPr id="7" name="S02-tile11"/>
          <p:cNvSpPr txBox="1"/>
          <p:nvPr/>
        </p:nvSpPr>
        <p:spPr>
          <a:xfrm>
            <a:off x="4187952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300" dirty="0"/>
          </a:p>
        </p:txBody>
      </p:sp>
      <p:sp>
        <p:nvSpPr>
          <p:cNvPr id="8" name="S02-tile12"/>
          <p:cNvSpPr txBox="1"/>
          <p:nvPr/>
        </p:nvSpPr>
        <p:spPr>
          <a:xfrm>
            <a:off x="5609844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3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4"/>
          <p:cNvSpPr txBox="1"/>
          <p:nvPr/>
        </p:nvSpPr>
        <p:spPr>
          <a:xfrm>
            <a:off x="1344168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300" dirty="0"/>
          </a:p>
        </p:txBody>
      </p:sp>
      <p:sp>
        <p:nvSpPr>
          <p:cNvPr id="11" name="S02-tile15"/>
          <p:cNvSpPr txBox="1"/>
          <p:nvPr/>
        </p:nvSpPr>
        <p:spPr>
          <a:xfrm>
            <a:off x="2766060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300" dirty="0"/>
          </a:p>
        </p:txBody>
      </p:sp>
      <p:sp>
        <p:nvSpPr>
          <p:cNvPr id="12" name="S02-tile16"/>
          <p:cNvSpPr txBox="1"/>
          <p:nvPr/>
        </p:nvSpPr>
        <p:spPr>
          <a:xfrm>
            <a:off x="4187952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300" dirty="0"/>
          </a:p>
        </p:txBody>
      </p:sp>
      <p:sp>
        <p:nvSpPr>
          <p:cNvPr id="13" name="S02-tile17"/>
          <p:cNvSpPr txBox="1"/>
          <p:nvPr/>
        </p:nvSpPr>
        <p:spPr>
          <a:xfrm>
            <a:off x="5609844" y="460171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대문자와 소문자</a:t>
            </a:r>
            <a:endParaRPr lang="ko-KR" sz="4000" dirty="0"/>
          </a:p>
        </p:txBody>
      </p:sp>
      <p:sp>
        <p:nvSpPr>
          <p:cNvPr id="3" name="S03-card18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짝이 되는 두 글자는 이름이 같아요.</a:t>
            </a:r>
            <a:endParaRPr lang="ko-KR" sz="3000" dirty="0"/>
          </a:p>
        </p:txBody>
      </p:sp>
      <p:sp>
        <p:nvSpPr>
          <p:cNvPr id="5" name="S03-card20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1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낱말은 주로 소문자로 써요.</a:t>
            </a:r>
            <a:endParaRPr lang="ko-KR" sz="3000" dirty="0"/>
          </a:p>
        </p:txBody>
      </p:sp>
      <p:sp>
        <p:nvSpPr>
          <p:cNvPr id="7" name="S03-tile22"/>
          <p:cNvSpPr txBox="1"/>
          <p:nvPr/>
        </p:nvSpPr>
        <p:spPr>
          <a:xfrm>
            <a:off x="982980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8" name="S03-tile23"/>
          <p:cNvSpPr txBox="1"/>
          <p:nvPr/>
        </p:nvSpPr>
        <p:spPr>
          <a:xfrm>
            <a:off x="2555748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9" name="S03-tile24"/>
          <p:cNvSpPr txBox="1"/>
          <p:nvPr/>
        </p:nvSpPr>
        <p:spPr>
          <a:xfrm>
            <a:off x="4128516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10" name="S03-label25"/>
          <p:cNvSpPr txBox="1"/>
          <p:nvPr/>
        </p:nvSpPr>
        <p:spPr>
          <a:xfrm>
            <a:off x="548640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</a:t>
            </a:r>
            <a:endParaRPr lang="ko-KR" sz="2400" dirty="0"/>
          </a:p>
        </p:txBody>
      </p:sp>
      <p:sp>
        <p:nvSpPr>
          <p:cNvPr id="11" name="S03-tile26"/>
          <p:cNvSpPr txBox="1"/>
          <p:nvPr/>
        </p:nvSpPr>
        <p:spPr>
          <a:xfrm>
            <a:off x="6688836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2" name="S03-tile27"/>
          <p:cNvSpPr txBox="1"/>
          <p:nvPr/>
        </p:nvSpPr>
        <p:spPr>
          <a:xfrm>
            <a:off x="8261604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3" name="S03-tile28"/>
          <p:cNvSpPr txBox="1"/>
          <p:nvPr/>
        </p:nvSpPr>
        <p:spPr>
          <a:xfrm>
            <a:off x="9834372" y="210007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14" name="S03-label29"/>
          <p:cNvSpPr txBox="1"/>
          <p:nvPr/>
        </p:nvSpPr>
        <p:spPr>
          <a:xfrm>
            <a:off x="6254496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소문자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같은 소문자</a:t>
            </a:r>
            <a:endParaRPr lang="ko-KR" sz="4000" dirty="0"/>
          </a:p>
        </p:txBody>
      </p:sp>
      <p:sp>
        <p:nvSpPr>
          <p:cNvPr id="3" name="S04-text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4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크기만 작아지고 모양은 같아요.</a:t>
            </a:r>
            <a:endParaRPr lang="ko-KR" sz="3000" dirty="0"/>
          </a:p>
        </p:txBody>
      </p:sp>
      <p:sp>
        <p:nvSpPr>
          <p:cNvPr id="6" name="S04-tile33"/>
          <p:cNvSpPr txBox="1"/>
          <p:nvPr/>
        </p:nvSpPr>
        <p:spPr>
          <a:xfrm>
            <a:off x="54864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200" dirty="0"/>
          </a:p>
        </p:txBody>
      </p:sp>
      <p:sp>
        <p:nvSpPr>
          <p:cNvPr id="7" name="S04-tile34"/>
          <p:cNvSpPr txBox="1"/>
          <p:nvPr/>
        </p:nvSpPr>
        <p:spPr>
          <a:xfrm>
            <a:off x="196024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200" dirty="0"/>
          </a:p>
        </p:txBody>
      </p:sp>
      <p:sp>
        <p:nvSpPr>
          <p:cNvPr id="8" name="S04-tile35"/>
          <p:cNvSpPr txBox="1"/>
          <p:nvPr/>
        </p:nvSpPr>
        <p:spPr>
          <a:xfrm>
            <a:off x="337185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200" dirty="0"/>
          </a:p>
        </p:txBody>
      </p:sp>
      <p:sp>
        <p:nvSpPr>
          <p:cNvPr id="9" name="S04-tile36"/>
          <p:cNvSpPr txBox="1"/>
          <p:nvPr/>
        </p:nvSpPr>
        <p:spPr>
          <a:xfrm>
            <a:off x="478345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200" dirty="0"/>
          </a:p>
        </p:txBody>
      </p:sp>
      <p:sp>
        <p:nvSpPr>
          <p:cNvPr id="10" name="S04-tile37"/>
          <p:cNvSpPr txBox="1"/>
          <p:nvPr/>
        </p:nvSpPr>
        <p:spPr>
          <a:xfrm>
            <a:off x="619506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200" dirty="0"/>
          </a:p>
        </p:txBody>
      </p:sp>
      <p:sp>
        <p:nvSpPr>
          <p:cNvPr id="11" name="S04-tile38"/>
          <p:cNvSpPr txBox="1"/>
          <p:nvPr/>
        </p:nvSpPr>
        <p:spPr>
          <a:xfrm>
            <a:off x="760666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200" dirty="0"/>
          </a:p>
        </p:txBody>
      </p:sp>
      <p:sp>
        <p:nvSpPr>
          <p:cNvPr id="12" name="S04-tile39"/>
          <p:cNvSpPr txBox="1"/>
          <p:nvPr/>
        </p:nvSpPr>
        <p:spPr>
          <a:xfrm>
            <a:off x="9018270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200" dirty="0"/>
          </a:p>
        </p:txBody>
      </p:sp>
      <p:sp>
        <p:nvSpPr>
          <p:cNvPr id="13" name="S04-tile40"/>
          <p:cNvSpPr txBox="1"/>
          <p:nvPr/>
        </p:nvSpPr>
        <p:spPr>
          <a:xfrm>
            <a:off x="10429875" y="2255139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200" dirty="0"/>
          </a:p>
        </p:txBody>
      </p:sp>
      <p:sp>
        <p:nvSpPr>
          <p:cNvPr id="14" name="S04-tile41"/>
          <p:cNvSpPr txBox="1"/>
          <p:nvPr/>
        </p:nvSpPr>
        <p:spPr>
          <a:xfrm>
            <a:off x="54864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200" dirty="0"/>
          </a:p>
        </p:txBody>
      </p:sp>
      <p:sp>
        <p:nvSpPr>
          <p:cNvPr id="15" name="S04-tile42"/>
          <p:cNvSpPr txBox="1"/>
          <p:nvPr/>
        </p:nvSpPr>
        <p:spPr>
          <a:xfrm>
            <a:off x="196024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200" dirty="0"/>
          </a:p>
        </p:txBody>
      </p:sp>
      <p:sp>
        <p:nvSpPr>
          <p:cNvPr id="16" name="S04-tile43"/>
          <p:cNvSpPr txBox="1"/>
          <p:nvPr/>
        </p:nvSpPr>
        <p:spPr>
          <a:xfrm>
            <a:off x="337185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200" dirty="0"/>
          </a:p>
        </p:txBody>
      </p:sp>
      <p:sp>
        <p:nvSpPr>
          <p:cNvPr id="17" name="S04-tile44"/>
          <p:cNvSpPr txBox="1"/>
          <p:nvPr/>
        </p:nvSpPr>
        <p:spPr>
          <a:xfrm>
            <a:off x="478345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200" dirty="0"/>
          </a:p>
        </p:txBody>
      </p:sp>
      <p:sp>
        <p:nvSpPr>
          <p:cNvPr id="18" name="S04-tile45"/>
          <p:cNvSpPr txBox="1"/>
          <p:nvPr/>
        </p:nvSpPr>
        <p:spPr>
          <a:xfrm>
            <a:off x="619506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200" dirty="0"/>
          </a:p>
        </p:txBody>
      </p:sp>
      <p:sp>
        <p:nvSpPr>
          <p:cNvPr id="19" name="S04-tile46"/>
          <p:cNvSpPr txBox="1"/>
          <p:nvPr/>
        </p:nvSpPr>
        <p:spPr>
          <a:xfrm>
            <a:off x="760666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200" dirty="0"/>
          </a:p>
        </p:txBody>
      </p:sp>
      <p:sp>
        <p:nvSpPr>
          <p:cNvPr id="20" name="S04-tile47"/>
          <p:cNvSpPr txBox="1"/>
          <p:nvPr/>
        </p:nvSpPr>
        <p:spPr>
          <a:xfrm>
            <a:off x="9018270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200" dirty="0"/>
          </a:p>
        </p:txBody>
      </p:sp>
      <p:sp>
        <p:nvSpPr>
          <p:cNvPr id="21" name="S04-tile48"/>
          <p:cNvSpPr txBox="1"/>
          <p:nvPr/>
        </p:nvSpPr>
        <p:spPr>
          <a:xfrm>
            <a:off x="10429875" y="366674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소문자 ①</a:t>
            </a:r>
            <a:endParaRPr lang="ko-KR" sz="4000" dirty="0"/>
          </a:p>
        </p:txBody>
      </p:sp>
      <p:sp>
        <p:nvSpPr>
          <p:cNvPr id="3" name="S05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5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a와 g는 글꼴마다 모양이 조금 달라요.</a:t>
            </a:r>
            <a:endParaRPr lang="ko-KR" sz="3000" dirty="0"/>
          </a:p>
        </p:txBody>
      </p:sp>
      <p:sp>
        <p:nvSpPr>
          <p:cNvPr id="6" name="S05-tile52"/>
          <p:cNvSpPr txBox="1"/>
          <p:nvPr/>
        </p:nvSpPr>
        <p:spPr>
          <a:xfrm>
            <a:off x="147675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7" name="S05-tile53"/>
          <p:cNvSpPr txBox="1"/>
          <p:nvPr/>
        </p:nvSpPr>
        <p:spPr>
          <a:xfrm>
            <a:off x="304952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8" name="S05-tile54"/>
          <p:cNvSpPr txBox="1"/>
          <p:nvPr/>
        </p:nvSpPr>
        <p:spPr>
          <a:xfrm>
            <a:off x="462229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9" name="S05-tile55"/>
          <p:cNvSpPr txBox="1"/>
          <p:nvPr/>
        </p:nvSpPr>
        <p:spPr>
          <a:xfrm>
            <a:off x="619506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0" name="S05-tile56"/>
          <p:cNvSpPr txBox="1"/>
          <p:nvPr/>
        </p:nvSpPr>
        <p:spPr>
          <a:xfrm>
            <a:off x="776782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1" name="S05-tile57"/>
          <p:cNvSpPr txBox="1"/>
          <p:nvPr/>
        </p:nvSpPr>
        <p:spPr>
          <a:xfrm>
            <a:off x="934059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2" name="S05-tile58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13" name="S05-tile59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4" name="S05-tile60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5" name="S05-tile61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6" name="S05-tile62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7" name="S05-tile63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소문자 ②</a:t>
            </a:r>
            <a:endParaRPr lang="ko-KR" sz="4000" dirty="0"/>
          </a:p>
        </p:txBody>
      </p:sp>
      <p:sp>
        <p:nvSpPr>
          <p:cNvPr id="3" name="S06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6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i와 j는 위에 점이 있어요.</a:t>
            </a:r>
            <a:endParaRPr lang="ko-KR" sz="3000" dirty="0"/>
          </a:p>
        </p:txBody>
      </p:sp>
      <p:sp>
        <p:nvSpPr>
          <p:cNvPr id="6" name="S06-tile67"/>
          <p:cNvSpPr txBox="1"/>
          <p:nvPr/>
        </p:nvSpPr>
        <p:spPr>
          <a:xfrm>
            <a:off x="147675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7" name="S06-tile68"/>
          <p:cNvSpPr txBox="1"/>
          <p:nvPr/>
        </p:nvSpPr>
        <p:spPr>
          <a:xfrm>
            <a:off x="304952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8" name="S06-tile69"/>
          <p:cNvSpPr txBox="1"/>
          <p:nvPr/>
        </p:nvSpPr>
        <p:spPr>
          <a:xfrm>
            <a:off x="462229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9" name="S06-tile70"/>
          <p:cNvSpPr txBox="1"/>
          <p:nvPr/>
        </p:nvSpPr>
        <p:spPr>
          <a:xfrm>
            <a:off x="619506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0" name="S06-tile71"/>
          <p:cNvSpPr txBox="1"/>
          <p:nvPr/>
        </p:nvSpPr>
        <p:spPr>
          <a:xfrm>
            <a:off x="776782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1" name="S06-tile72"/>
          <p:cNvSpPr txBox="1"/>
          <p:nvPr/>
        </p:nvSpPr>
        <p:spPr>
          <a:xfrm>
            <a:off x="934059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12" name="S06-tile73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3" name="S06-tile74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4" name="S06-tile75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5" name="S06-tile76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6" name="S06-tile77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7" name="S06-tile78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다른 소문자 ③</a:t>
            </a:r>
            <a:endParaRPr lang="ko-KR" sz="4000" dirty="0"/>
          </a:p>
        </p:txBody>
      </p:sp>
      <p:sp>
        <p:nvSpPr>
          <p:cNvPr id="3" name="S07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위는 대문자, 아래는 소문자예요.</a:t>
            </a:r>
            <a:endParaRPr lang="ko-KR" sz="3000" dirty="0"/>
          </a:p>
        </p:txBody>
      </p:sp>
      <p:sp>
        <p:nvSpPr>
          <p:cNvPr id="4" name="S07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p, q, y는 아래로 꼬리가 내려와요.</a:t>
            </a:r>
            <a:endParaRPr lang="ko-KR" sz="3000" dirty="0"/>
          </a:p>
        </p:txBody>
      </p:sp>
      <p:sp>
        <p:nvSpPr>
          <p:cNvPr id="6" name="S07-tile82"/>
          <p:cNvSpPr txBox="1"/>
          <p:nvPr/>
        </p:nvSpPr>
        <p:spPr>
          <a:xfrm>
            <a:off x="147675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7" name="S07-tile83"/>
          <p:cNvSpPr txBox="1"/>
          <p:nvPr/>
        </p:nvSpPr>
        <p:spPr>
          <a:xfrm>
            <a:off x="304952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8" name="S07-tile84"/>
          <p:cNvSpPr txBox="1"/>
          <p:nvPr/>
        </p:nvSpPr>
        <p:spPr>
          <a:xfrm>
            <a:off x="462229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9" name="S07-tile85"/>
          <p:cNvSpPr txBox="1"/>
          <p:nvPr/>
        </p:nvSpPr>
        <p:spPr>
          <a:xfrm>
            <a:off x="619506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0" name="S07-tile86"/>
          <p:cNvSpPr txBox="1"/>
          <p:nvPr/>
        </p:nvSpPr>
        <p:spPr>
          <a:xfrm>
            <a:off x="776782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1" name="S07-tile87"/>
          <p:cNvSpPr txBox="1"/>
          <p:nvPr/>
        </p:nvSpPr>
        <p:spPr>
          <a:xfrm>
            <a:off x="934059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12" name="S07-tile88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13" name="S07-tile89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4" name="S07-tile90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15" name="S07-tile91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6" name="S07-tile92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7" name="S07-tile93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짝을 찾아요</a:t>
            </a:r>
            <a:endParaRPr lang="ko-KR" sz="4000" dirty="0"/>
          </a:p>
        </p:txBody>
      </p:sp>
      <p:sp>
        <p:nvSpPr>
          <p:cNvPr id="3" name="S08-text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대문자의 짝을 찾아 이름을 말해요.</a:t>
            </a:r>
            <a:endParaRPr lang="ko-KR" sz="3000" dirty="0"/>
          </a:p>
        </p:txBody>
      </p:sp>
      <p:sp>
        <p:nvSpPr>
          <p:cNvPr id="4" name="S08-chip95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8-tile96"/>
          <p:cNvSpPr txBox="1"/>
          <p:nvPr/>
        </p:nvSpPr>
        <p:spPr>
          <a:xfrm>
            <a:off x="1344168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300" dirty="0"/>
          </a:p>
        </p:txBody>
      </p:sp>
      <p:sp>
        <p:nvSpPr>
          <p:cNvPr id="6" name="S08-tile97"/>
          <p:cNvSpPr txBox="1"/>
          <p:nvPr/>
        </p:nvSpPr>
        <p:spPr>
          <a:xfrm>
            <a:off x="2536317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4300" dirty="0"/>
          </a:p>
        </p:txBody>
      </p:sp>
      <p:sp>
        <p:nvSpPr>
          <p:cNvPr id="7" name="S08-tile98"/>
          <p:cNvSpPr txBox="1"/>
          <p:nvPr/>
        </p:nvSpPr>
        <p:spPr>
          <a:xfrm>
            <a:off x="3728466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300" dirty="0"/>
          </a:p>
        </p:txBody>
      </p:sp>
      <p:sp>
        <p:nvSpPr>
          <p:cNvPr id="8" name="S08-tile99"/>
          <p:cNvSpPr txBox="1"/>
          <p:nvPr/>
        </p:nvSpPr>
        <p:spPr>
          <a:xfrm>
            <a:off x="4920615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300" dirty="0"/>
          </a:p>
        </p:txBody>
      </p:sp>
      <p:sp>
        <p:nvSpPr>
          <p:cNvPr id="9" name="S08-chip100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8-tile101"/>
          <p:cNvSpPr txBox="1"/>
          <p:nvPr/>
        </p:nvSpPr>
        <p:spPr>
          <a:xfrm>
            <a:off x="7072884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300" dirty="0"/>
          </a:p>
        </p:txBody>
      </p:sp>
      <p:sp>
        <p:nvSpPr>
          <p:cNvPr id="11" name="S08-tile102"/>
          <p:cNvSpPr txBox="1"/>
          <p:nvPr/>
        </p:nvSpPr>
        <p:spPr>
          <a:xfrm>
            <a:off x="8265033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12" name="S08-tile103"/>
          <p:cNvSpPr txBox="1"/>
          <p:nvPr/>
        </p:nvSpPr>
        <p:spPr>
          <a:xfrm>
            <a:off x="9457182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300" dirty="0"/>
          </a:p>
        </p:txBody>
      </p:sp>
      <p:sp>
        <p:nvSpPr>
          <p:cNvPr id="13" name="S08-tile104"/>
          <p:cNvSpPr txBox="1"/>
          <p:nvPr/>
        </p:nvSpPr>
        <p:spPr>
          <a:xfrm>
            <a:off x="10649331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4300" dirty="0"/>
          </a:p>
        </p:txBody>
      </p:sp>
      <p:sp>
        <p:nvSpPr>
          <p:cNvPr id="14" name="S08-chip105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08-tile106"/>
          <p:cNvSpPr txBox="1"/>
          <p:nvPr/>
        </p:nvSpPr>
        <p:spPr>
          <a:xfrm>
            <a:off x="1344168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4300" dirty="0"/>
          </a:p>
        </p:txBody>
      </p:sp>
      <p:sp>
        <p:nvSpPr>
          <p:cNvPr id="16" name="S08-tile107"/>
          <p:cNvSpPr txBox="1"/>
          <p:nvPr/>
        </p:nvSpPr>
        <p:spPr>
          <a:xfrm>
            <a:off x="2536317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17" name="S08-tile108"/>
          <p:cNvSpPr txBox="1"/>
          <p:nvPr/>
        </p:nvSpPr>
        <p:spPr>
          <a:xfrm>
            <a:off x="3728466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4300" dirty="0"/>
          </a:p>
        </p:txBody>
      </p:sp>
      <p:sp>
        <p:nvSpPr>
          <p:cNvPr id="18" name="S08-tile109"/>
          <p:cNvSpPr txBox="1"/>
          <p:nvPr/>
        </p:nvSpPr>
        <p:spPr>
          <a:xfrm>
            <a:off x="4920615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4300" dirty="0"/>
          </a:p>
        </p:txBody>
      </p:sp>
      <p:sp>
        <p:nvSpPr>
          <p:cNvPr id="19" name="S08-chip110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08-tile111"/>
          <p:cNvSpPr txBox="1"/>
          <p:nvPr/>
        </p:nvSpPr>
        <p:spPr>
          <a:xfrm>
            <a:off x="7072884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300" dirty="0"/>
          </a:p>
        </p:txBody>
      </p:sp>
      <p:sp>
        <p:nvSpPr>
          <p:cNvPr id="21" name="S08-tile112"/>
          <p:cNvSpPr txBox="1"/>
          <p:nvPr/>
        </p:nvSpPr>
        <p:spPr>
          <a:xfrm>
            <a:off x="8265033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300" dirty="0"/>
          </a:p>
        </p:txBody>
      </p:sp>
      <p:sp>
        <p:nvSpPr>
          <p:cNvPr id="22" name="S08-tile113"/>
          <p:cNvSpPr txBox="1"/>
          <p:nvPr/>
        </p:nvSpPr>
        <p:spPr>
          <a:xfrm>
            <a:off x="9457182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300" dirty="0"/>
          </a:p>
        </p:txBody>
      </p:sp>
      <p:sp>
        <p:nvSpPr>
          <p:cNvPr id="23" name="S08-tile114"/>
          <p:cNvSpPr txBox="1"/>
          <p:nvPr/>
        </p:nvSpPr>
        <p:spPr>
          <a:xfrm>
            <a:off x="10649331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4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b, d, p, q</a:t>
            </a:r>
            <a:endParaRPr lang="ko-KR" sz="4000" dirty="0"/>
          </a:p>
        </p:txBody>
      </p:sp>
      <p:sp>
        <p:nvSpPr>
          <p:cNvPr id="3" name="S09-card115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16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b와 p는 B, P처럼 볼록한 곳이 오른쪽에 있어요.</a:t>
            </a:r>
            <a:endParaRPr lang="ko-KR" sz="3000" dirty="0"/>
          </a:p>
        </p:txBody>
      </p:sp>
      <p:sp>
        <p:nvSpPr>
          <p:cNvPr id="5" name="S09-card117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18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d와 q는 볼록한 곳이 왼쪽에 있어요.</a:t>
            </a:r>
            <a:endParaRPr lang="ko-KR" sz="3000" dirty="0"/>
          </a:p>
        </p:txBody>
      </p:sp>
      <p:sp>
        <p:nvSpPr>
          <p:cNvPr id="7" name="S09-tile119"/>
          <p:cNvSpPr txBox="1"/>
          <p:nvPr/>
        </p:nvSpPr>
        <p:spPr>
          <a:xfrm>
            <a:off x="2683764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700" dirty="0"/>
          </a:p>
        </p:txBody>
      </p:sp>
      <p:sp>
        <p:nvSpPr>
          <p:cNvPr id="8" name="S09-tile120"/>
          <p:cNvSpPr txBox="1"/>
          <p:nvPr/>
        </p:nvSpPr>
        <p:spPr>
          <a:xfrm>
            <a:off x="4439412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700" dirty="0"/>
          </a:p>
        </p:txBody>
      </p:sp>
      <p:sp>
        <p:nvSpPr>
          <p:cNvPr id="9" name="S09-tile121"/>
          <p:cNvSpPr txBox="1"/>
          <p:nvPr/>
        </p:nvSpPr>
        <p:spPr>
          <a:xfrm>
            <a:off x="6195060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700" dirty="0"/>
          </a:p>
        </p:txBody>
      </p:sp>
      <p:sp>
        <p:nvSpPr>
          <p:cNvPr id="10" name="S09-tile122"/>
          <p:cNvSpPr txBox="1"/>
          <p:nvPr/>
        </p:nvSpPr>
        <p:spPr>
          <a:xfrm>
            <a:off x="7950708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6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m과 n, i와 j</a:t>
            </a:r>
            <a:endParaRPr lang="ko-KR" sz="4000" dirty="0"/>
          </a:p>
        </p:txBody>
      </p:sp>
      <p:sp>
        <p:nvSpPr>
          <p:cNvPr id="3" name="S10-card123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24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m은 봉우리가 2개,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n은 1개예요.</a:t>
            </a:r>
            <a:endParaRPr lang="ko-KR" sz="3000" dirty="0"/>
          </a:p>
        </p:txBody>
      </p:sp>
      <p:sp>
        <p:nvSpPr>
          <p:cNvPr id="5" name="S10-card125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26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곧게 내려오고,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j는 아래가 굽어요.</a:t>
            </a:r>
            <a:endParaRPr lang="ko-KR" sz="3000" dirty="0"/>
          </a:p>
        </p:txBody>
      </p:sp>
      <p:sp>
        <p:nvSpPr>
          <p:cNvPr id="7" name="S10-tile127"/>
          <p:cNvSpPr txBox="1"/>
          <p:nvPr/>
        </p:nvSpPr>
        <p:spPr>
          <a:xfrm>
            <a:off x="2683764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6700" dirty="0"/>
          </a:p>
        </p:txBody>
      </p:sp>
      <p:sp>
        <p:nvSpPr>
          <p:cNvPr id="8" name="S10-tile128"/>
          <p:cNvSpPr txBox="1"/>
          <p:nvPr/>
        </p:nvSpPr>
        <p:spPr>
          <a:xfrm>
            <a:off x="4439412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6700" dirty="0"/>
          </a:p>
        </p:txBody>
      </p:sp>
      <p:sp>
        <p:nvSpPr>
          <p:cNvPr id="9" name="S10-tile129"/>
          <p:cNvSpPr txBox="1"/>
          <p:nvPr/>
        </p:nvSpPr>
        <p:spPr>
          <a:xfrm>
            <a:off x="6195060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6700" dirty="0"/>
          </a:p>
        </p:txBody>
      </p:sp>
      <p:sp>
        <p:nvSpPr>
          <p:cNvPr id="10" name="S10-tile130"/>
          <p:cNvSpPr txBox="1"/>
          <p:nvPr/>
        </p:nvSpPr>
        <p:spPr>
          <a:xfrm>
            <a:off x="7950708" y="2250948"/>
            <a:ext cx="15544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6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b일까요, d일까요?</a:t>
            </a:r>
            <a:endParaRPr lang="ko-KR" sz="4000" dirty="0"/>
          </a:p>
        </p:txBody>
      </p:sp>
      <p:sp>
        <p:nvSpPr>
          <p:cNvPr id="3" name="S11-card13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3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d를 보고 ‘b’라고 했어요.</a:t>
            </a:r>
            <a:endParaRPr lang="ko-KR" sz="3000" dirty="0"/>
          </a:p>
        </p:txBody>
      </p:sp>
      <p:sp>
        <p:nvSpPr>
          <p:cNvPr id="5" name="S11-card1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000" dirty="0"/>
          </a:p>
        </p:txBody>
      </p:sp>
      <p:sp>
        <p:nvSpPr>
          <p:cNvPr id="7" name="S11-chip13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볼록한 곳이 오른쪽</a:t>
            </a:r>
            <a:endParaRPr lang="ko-KR" sz="2400" dirty="0"/>
          </a:p>
        </p:txBody>
      </p:sp>
      <p:sp>
        <p:nvSpPr>
          <p:cNvPr id="8" name="S11-tile136"/>
          <p:cNvSpPr txBox="1"/>
          <p:nvPr/>
        </p:nvSpPr>
        <p:spPr>
          <a:xfrm>
            <a:off x="2544318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9" name="S11-chip13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볼록한 곳이 왼쪽</a:t>
            </a:r>
            <a:endParaRPr lang="ko-KR" sz="2400" dirty="0"/>
          </a:p>
        </p:txBody>
      </p:sp>
      <p:sp>
        <p:nvSpPr>
          <p:cNvPr id="10" name="S11-tile138"/>
          <p:cNvSpPr txBox="1"/>
          <p:nvPr/>
        </p:nvSpPr>
        <p:spPr>
          <a:xfrm>
            <a:off x="8273034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첫소리</a:t>
            </a:r>
            <a:endParaRPr lang="ko-KR" sz="4000" dirty="0"/>
          </a:p>
        </p:txBody>
      </p:sp>
      <p:sp>
        <p:nvSpPr>
          <p:cNvPr id="3" name="S12-card1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1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낱말의 맨 처음 소리를 듣고 첫 글자를 찾아요.</a:t>
            </a:r>
            <a:endParaRPr lang="ko-KR" sz="3000" dirty="0"/>
          </a:p>
        </p:txBody>
      </p:sp>
      <p:sp>
        <p:nvSpPr>
          <p:cNvPr id="5" name="S12-word141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apple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3400" dirty="0"/>
          </a:p>
        </p:txBody>
      </p:sp>
      <p:sp>
        <p:nvSpPr>
          <p:cNvPr id="6" name="S12-word142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</a:t>
            </a:r>
            <a:endParaRPr lang="ko-KR" sz="3400" dirty="0"/>
          </a:p>
        </p:txBody>
      </p:sp>
      <p:sp>
        <p:nvSpPr>
          <p:cNvPr id="7" name="S12-word143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</a:t>
            </a:r>
            <a:endParaRPr lang="ko-KR" sz="3400" dirty="0"/>
          </a:p>
        </p:txBody>
      </p:sp>
      <p:sp>
        <p:nvSpPr>
          <p:cNvPr id="8" name="S12-word144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</a:t>
            </a:r>
            <a:endParaRPr lang="ko-KR" sz="3400" dirty="0"/>
          </a:p>
        </p:txBody>
      </p:sp>
      <p:sp>
        <p:nvSpPr>
          <p:cNvPr id="9" name="S12-word145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egg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달걀</a:t>
            </a:r>
            <a:endParaRPr lang="ko-KR" sz="3400" dirty="0"/>
          </a:p>
        </p:txBody>
      </p:sp>
      <p:sp>
        <p:nvSpPr>
          <p:cNvPr id="10" name="S12-word146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fish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글자를 골라요</a:t>
            </a:r>
            <a:endParaRPr lang="ko-KR" sz="4000" dirty="0"/>
          </a:p>
        </p:txBody>
      </p:sp>
      <p:sp>
        <p:nvSpPr>
          <p:cNvPr id="3" name="S13-text1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낱말의 첫 글자를 골라요.</a:t>
            </a:r>
            <a:endParaRPr lang="ko-KR" sz="3000" dirty="0"/>
          </a:p>
        </p:txBody>
      </p:sp>
      <p:sp>
        <p:nvSpPr>
          <p:cNvPr id="4" name="S13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천천히 따라 말하며 맨 처음 소리를 들어요.</a:t>
            </a:r>
            <a:endParaRPr lang="ko-KR" sz="3000" dirty="0"/>
          </a:p>
        </p:txBody>
      </p:sp>
      <p:sp>
        <p:nvSpPr>
          <p:cNvPr id="6" name="S13-chip1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ile151"/>
          <p:cNvSpPr txBox="1"/>
          <p:nvPr/>
        </p:nvSpPr>
        <p:spPr>
          <a:xfrm>
            <a:off x="251460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8" name="S13-tile152"/>
          <p:cNvSpPr txBox="1"/>
          <p:nvPr/>
        </p:nvSpPr>
        <p:spPr>
          <a:xfrm>
            <a:off x="3630168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9" name="S13-tile153"/>
          <p:cNvSpPr txBox="1"/>
          <p:nvPr/>
        </p:nvSpPr>
        <p:spPr>
          <a:xfrm>
            <a:off x="474573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4000" dirty="0"/>
          </a:p>
        </p:txBody>
      </p:sp>
      <p:sp>
        <p:nvSpPr>
          <p:cNvPr id="10" name="S13-chip1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3-tile155"/>
          <p:cNvSpPr txBox="1"/>
          <p:nvPr/>
        </p:nvSpPr>
        <p:spPr>
          <a:xfrm>
            <a:off x="251460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000" dirty="0"/>
          </a:p>
        </p:txBody>
      </p:sp>
      <p:sp>
        <p:nvSpPr>
          <p:cNvPr id="12" name="S13-tile156"/>
          <p:cNvSpPr txBox="1"/>
          <p:nvPr/>
        </p:nvSpPr>
        <p:spPr>
          <a:xfrm>
            <a:off x="3630168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000" dirty="0"/>
          </a:p>
        </p:txBody>
      </p:sp>
      <p:sp>
        <p:nvSpPr>
          <p:cNvPr id="13" name="S13-tile157"/>
          <p:cNvSpPr txBox="1"/>
          <p:nvPr/>
        </p:nvSpPr>
        <p:spPr>
          <a:xfrm>
            <a:off x="474573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4000" dirty="0"/>
          </a:p>
        </p:txBody>
      </p:sp>
      <p:sp>
        <p:nvSpPr>
          <p:cNvPr id="14" name="S13-chip15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13-tile159"/>
          <p:cNvSpPr txBox="1"/>
          <p:nvPr/>
        </p:nvSpPr>
        <p:spPr>
          <a:xfrm>
            <a:off x="251460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4000" dirty="0"/>
          </a:p>
        </p:txBody>
      </p:sp>
      <p:sp>
        <p:nvSpPr>
          <p:cNvPr id="16" name="S13-tile160"/>
          <p:cNvSpPr txBox="1"/>
          <p:nvPr/>
        </p:nvSpPr>
        <p:spPr>
          <a:xfrm>
            <a:off x="3630168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4000" dirty="0"/>
          </a:p>
        </p:txBody>
      </p:sp>
      <p:sp>
        <p:nvSpPr>
          <p:cNvPr id="17" name="S13-tile161"/>
          <p:cNvSpPr txBox="1"/>
          <p:nvPr/>
        </p:nvSpPr>
        <p:spPr>
          <a:xfrm>
            <a:off x="474573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4-text1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②③은 듣고 짚어요. ④는 M의 짝을 찾아요.</a:t>
            </a:r>
            <a:endParaRPr lang="ko-KR" sz="3000" dirty="0"/>
          </a:p>
        </p:txBody>
      </p:sp>
      <p:sp>
        <p:nvSpPr>
          <p:cNvPr id="4" name="S14-chip163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4-tile164"/>
          <p:cNvSpPr txBox="1"/>
          <p:nvPr/>
        </p:nvSpPr>
        <p:spPr>
          <a:xfrm>
            <a:off x="1344168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300" dirty="0"/>
          </a:p>
        </p:txBody>
      </p:sp>
      <p:sp>
        <p:nvSpPr>
          <p:cNvPr id="6" name="S14-tile165"/>
          <p:cNvSpPr txBox="1"/>
          <p:nvPr/>
        </p:nvSpPr>
        <p:spPr>
          <a:xfrm>
            <a:off x="2536317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4300" dirty="0"/>
          </a:p>
        </p:txBody>
      </p:sp>
      <p:sp>
        <p:nvSpPr>
          <p:cNvPr id="7" name="S14-tile166"/>
          <p:cNvSpPr txBox="1"/>
          <p:nvPr/>
        </p:nvSpPr>
        <p:spPr>
          <a:xfrm>
            <a:off x="3728466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4300" dirty="0"/>
          </a:p>
        </p:txBody>
      </p:sp>
      <p:sp>
        <p:nvSpPr>
          <p:cNvPr id="8" name="S14-tile167"/>
          <p:cNvSpPr txBox="1"/>
          <p:nvPr/>
        </p:nvSpPr>
        <p:spPr>
          <a:xfrm>
            <a:off x="4920615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300" dirty="0"/>
          </a:p>
        </p:txBody>
      </p:sp>
      <p:sp>
        <p:nvSpPr>
          <p:cNvPr id="9" name="S14-chip168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4-tile169"/>
          <p:cNvSpPr txBox="1"/>
          <p:nvPr/>
        </p:nvSpPr>
        <p:spPr>
          <a:xfrm>
            <a:off x="7072884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300" dirty="0"/>
          </a:p>
        </p:txBody>
      </p:sp>
      <p:sp>
        <p:nvSpPr>
          <p:cNvPr id="11" name="S14-tile170"/>
          <p:cNvSpPr txBox="1"/>
          <p:nvPr/>
        </p:nvSpPr>
        <p:spPr>
          <a:xfrm>
            <a:off x="8265033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12" name="S14-tile171"/>
          <p:cNvSpPr txBox="1"/>
          <p:nvPr/>
        </p:nvSpPr>
        <p:spPr>
          <a:xfrm>
            <a:off x="9457182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4300" dirty="0"/>
          </a:p>
        </p:txBody>
      </p:sp>
      <p:sp>
        <p:nvSpPr>
          <p:cNvPr id="13" name="S14-tile172"/>
          <p:cNvSpPr txBox="1"/>
          <p:nvPr/>
        </p:nvSpPr>
        <p:spPr>
          <a:xfrm>
            <a:off x="10649331" y="2522030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4300" dirty="0"/>
          </a:p>
        </p:txBody>
      </p:sp>
      <p:sp>
        <p:nvSpPr>
          <p:cNvPr id="14" name="S14-chip17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5" name="S14-tile174"/>
          <p:cNvSpPr txBox="1"/>
          <p:nvPr/>
        </p:nvSpPr>
        <p:spPr>
          <a:xfrm>
            <a:off x="1344168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300" dirty="0"/>
          </a:p>
        </p:txBody>
      </p:sp>
      <p:sp>
        <p:nvSpPr>
          <p:cNvPr id="16" name="S14-tile175"/>
          <p:cNvSpPr txBox="1"/>
          <p:nvPr/>
        </p:nvSpPr>
        <p:spPr>
          <a:xfrm>
            <a:off x="2536317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4300" dirty="0"/>
          </a:p>
        </p:txBody>
      </p:sp>
      <p:sp>
        <p:nvSpPr>
          <p:cNvPr id="17" name="S14-tile176"/>
          <p:cNvSpPr txBox="1"/>
          <p:nvPr/>
        </p:nvSpPr>
        <p:spPr>
          <a:xfrm>
            <a:off x="3728466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4300" dirty="0"/>
          </a:p>
        </p:txBody>
      </p:sp>
      <p:sp>
        <p:nvSpPr>
          <p:cNvPr id="18" name="S14-tile177"/>
          <p:cNvSpPr txBox="1"/>
          <p:nvPr/>
        </p:nvSpPr>
        <p:spPr>
          <a:xfrm>
            <a:off x="4920615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300" dirty="0"/>
          </a:p>
        </p:txBody>
      </p:sp>
      <p:sp>
        <p:nvSpPr>
          <p:cNvPr id="19" name="S14-chip178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14-tile179"/>
          <p:cNvSpPr txBox="1"/>
          <p:nvPr/>
        </p:nvSpPr>
        <p:spPr>
          <a:xfrm>
            <a:off x="7072884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300" dirty="0"/>
          </a:p>
        </p:txBody>
      </p:sp>
      <p:sp>
        <p:nvSpPr>
          <p:cNvPr id="21" name="S14-tile180"/>
          <p:cNvSpPr txBox="1"/>
          <p:nvPr/>
        </p:nvSpPr>
        <p:spPr>
          <a:xfrm>
            <a:off x="8265033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4300" dirty="0"/>
          </a:p>
        </p:txBody>
      </p:sp>
      <p:sp>
        <p:nvSpPr>
          <p:cNvPr id="22" name="S14-tile181"/>
          <p:cNvSpPr txBox="1"/>
          <p:nvPr/>
        </p:nvSpPr>
        <p:spPr>
          <a:xfrm>
            <a:off x="9457182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300" dirty="0"/>
          </a:p>
        </p:txBody>
      </p:sp>
      <p:sp>
        <p:nvSpPr>
          <p:cNvPr id="23" name="S14-tile182"/>
          <p:cNvSpPr txBox="1"/>
          <p:nvPr/>
        </p:nvSpPr>
        <p:spPr>
          <a:xfrm>
            <a:off x="10649331" y="4716589"/>
            <a:ext cx="990981" cy="990981"/>
          </a:xfrm>
          <a:prstGeom prst="roundRect">
            <a:avLst>
              <a:gd name="adj" fmla="val 1291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4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5-card1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글자는 방향, 봉우리, 아래 모양을 봐요.</a:t>
            </a:r>
            <a:endParaRPr lang="ko-KR" sz="3000" dirty="0"/>
          </a:p>
        </p:txBody>
      </p:sp>
      <p:sp>
        <p:nvSpPr>
          <p:cNvPr id="5" name="S15-chip18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5-text18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 h y g</a:t>
            </a:r>
            <a:endParaRPr lang="ko-KR" sz="3000" dirty="0"/>
          </a:p>
        </p:txBody>
      </p:sp>
      <p:sp>
        <p:nvSpPr>
          <p:cNvPr id="7" name="S15-text18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말하기</a:t>
            </a:r>
            <a:endParaRPr lang="ko-KR" sz="2400" dirty="0"/>
          </a:p>
        </p:txBody>
      </p:sp>
      <p:sp>
        <p:nvSpPr>
          <p:cNvPr id="8" name="S15-text18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n, j  ③ c, e</a:t>
            </a:r>
            <a:endParaRPr lang="ko-KR" sz="3000" dirty="0"/>
          </a:p>
        </p:txBody>
      </p:sp>
      <p:sp>
        <p:nvSpPr>
          <p:cNvPr id="9" name="S15-text18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짚기</a:t>
            </a:r>
            <a:endParaRPr lang="ko-KR" sz="2400" dirty="0"/>
          </a:p>
        </p:txBody>
      </p:sp>
      <p:sp>
        <p:nvSpPr>
          <p:cNvPr id="10" name="S15-text19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m</a:t>
            </a:r>
            <a:endParaRPr lang="ko-KR" sz="3000" dirty="0"/>
          </a:p>
        </p:txBody>
      </p:sp>
      <p:sp>
        <p:nvSpPr>
          <p:cNvPr id="11" name="S15-text19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M의 짝</a:t>
            </a:r>
            <a:endParaRPr lang="ko-KR" sz="2400" dirty="0"/>
          </a:p>
        </p:txBody>
      </p:sp>
      <p:sp>
        <p:nvSpPr>
          <p:cNvPr id="12" name="S15-chip19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5-text193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n을 m으로</a:t>
            </a:r>
            <a:endParaRPr lang="ko-KR" sz="3000" dirty="0"/>
          </a:p>
        </p:txBody>
      </p:sp>
      <p:sp>
        <p:nvSpPr>
          <p:cNvPr id="14" name="S15-text194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봉우리를 세요</a:t>
            </a:r>
            <a:endParaRPr lang="ko-KR" sz="2400" dirty="0"/>
          </a:p>
        </p:txBody>
      </p:sp>
      <p:sp>
        <p:nvSpPr>
          <p:cNvPr id="15" name="S15-text195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egg를 a로</a:t>
            </a:r>
            <a:endParaRPr lang="ko-KR" sz="3000" dirty="0"/>
          </a:p>
        </p:txBody>
      </p:sp>
      <p:sp>
        <p:nvSpPr>
          <p:cNvPr id="16" name="S15-text196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떠올리기</a:t>
            </a:r>
            <a:endParaRPr lang="ko-KR" sz="2400" dirty="0"/>
          </a:p>
        </p:txBody>
      </p:sp>
      <p:sp>
        <p:nvSpPr>
          <p:cNvPr id="17" name="S15-text197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n이나 w</a:t>
            </a:r>
            <a:endParaRPr lang="ko-KR" sz="3000" dirty="0"/>
          </a:p>
        </p:txBody>
      </p:sp>
      <p:sp>
        <p:nvSpPr>
          <p:cNvPr id="18" name="S15-text198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봉우리 2개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글자를 골라요</a:t>
            </a:r>
            <a:endParaRPr lang="ko-KR" sz="4000" dirty="0"/>
          </a:p>
        </p:txBody>
      </p:sp>
      <p:sp>
        <p:nvSpPr>
          <p:cNvPr id="3" name="S16-card1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2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글자는? 어떻게 알았나요?</a:t>
            </a:r>
            <a:endParaRPr lang="ko-KR" sz="3000" dirty="0"/>
          </a:p>
        </p:txBody>
      </p:sp>
      <p:sp>
        <p:nvSpPr>
          <p:cNvPr id="5" name="S16-chip20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6-tile202"/>
          <p:cNvSpPr txBox="1"/>
          <p:nvPr/>
        </p:nvSpPr>
        <p:spPr>
          <a:xfrm>
            <a:off x="2896362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300" dirty="0"/>
          </a:p>
        </p:txBody>
      </p:sp>
      <p:sp>
        <p:nvSpPr>
          <p:cNvPr id="7" name="S16-chip20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6-tile204"/>
          <p:cNvSpPr txBox="1"/>
          <p:nvPr/>
        </p:nvSpPr>
        <p:spPr>
          <a:xfrm>
            <a:off x="8625078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300" dirty="0"/>
          </a:p>
        </p:txBody>
      </p:sp>
      <p:sp>
        <p:nvSpPr>
          <p:cNvPr id="9" name="S16-chip20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6-tile206"/>
          <p:cNvSpPr txBox="1"/>
          <p:nvPr/>
        </p:nvSpPr>
        <p:spPr>
          <a:xfrm>
            <a:off x="2896362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300" dirty="0"/>
          </a:p>
        </p:txBody>
      </p:sp>
      <p:sp>
        <p:nvSpPr>
          <p:cNvPr id="11" name="S16-chip20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6-tile208"/>
          <p:cNvSpPr txBox="1"/>
          <p:nvPr/>
        </p:nvSpPr>
        <p:spPr>
          <a:xfrm>
            <a:off x="8625078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7-card20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7-cardtext21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대문자와 소문자는 짝이고, 이름이 같아요.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듣고 첫소리로 첫 글자를 찾아요.</a:t>
            </a:r>
            <a:endParaRPr lang="ko-KR" sz="3000" dirty="0"/>
          </a:p>
        </p:txBody>
      </p:sp>
      <p:sp>
        <p:nvSpPr>
          <p:cNvPr id="5" name="S17-chip21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볼록한 곳의 방향 보기</a:t>
            </a:r>
            <a:endParaRPr lang="ko-KR" sz="2400" dirty="0"/>
          </a:p>
        </p:txBody>
      </p:sp>
      <p:sp>
        <p:nvSpPr>
          <p:cNvPr id="6" name="S17-chip21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b와 d를 같게 보기</a:t>
            </a:r>
            <a:endParaRPr lang="ko-KR" sz="2400" dirty="0"/>
          </a:p>
        </p:txBody>
      </p:sp>
      <p:sp>
        <p:nvSpPr>
          <p:cNvPr id="7" name="S17-text21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7-text21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b와 d의 다른 점은?</a:t>
            </a:r>
            <a:endParaRPr lang="ko-KR" sz="2400" dirty="0"/>
          </a:p>
        </p:txBody>
      </p:sp>
      <p:sp>
        <p:nvSpPr>
          <p:cNvPr id="9" name="S17-text21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G의 짝 소문자는?</a:t>
            </a:r>
            <a:endParaRPr lang="ko-KR" sz="2400" dirty="0"/>
          </a:p>
        </p:txBody>
      </p:sp>
      <p:sp>
        <p:nvSpPr>
          <p:cNvPr id="10" name="S17-text21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dog의 첫 글자는?</a:t>
            </a:r>
            <a:endParaRPr lang="ko-KR" sz="2400" dirty="0"/>
          </a:p>
        </p:txBody>
      </p:sp>
      <p:sp>
        <p:nvSpPr>
          <p:cNvPr id="11" name="S17-text21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자음 글자의 소리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대문자 다시 보기</a:t>
            </a:r>
            <a:endParaRPr lang="ko-KR" sz="4000" dirty="0"/>
          </a:p>
        </p:txBody>
      </p:sp>
      <p:sp>
        <p:nvSpPr>
          <p:cNvPr id="3" name="S18-card218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8-cardtext219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따라 말해요.</a:t>
            </a:r>
            <a:endParaRPr lang="ko-KR" sz="3000" dirty="0"/>
          </a:p>
        </p:txBody>
      </p:sp>
      <p:sp>
        <p:nvSpPr>
          <p:cNvPr id="5" name="S18-card220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8-cardtext221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차례대로 놓아요.</a:t>
            </a:r>
            <a:endParaRPr lang="ko-KR" sz="3000" dirty="0"/>
          </a:p>
        </p:txBody>
      </p:sp>
      <p:sp>
        <p:nvSpPr>
          <p:cNvPr id="7" name="S18-tile222"/>
          <p:cNvSpPr txBox="1"/>
          <p:nvPr/>
        </p:nvSpPr>
        <p:spPr>
          <a:xfrm>
            <a:off x="5486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8" name="S18-tile223"/>
          <p:cNvSpPr txBox="1"/>
          <p:nvPr/>
        </p:nvSpPr>
        <p:spPr>
          <a:xfrm>
            <a:off x="14173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9" name="S18-tile224"/>
          <p:cNvSpPr txBox="1"/>
          <p:nvPr/>
        </p:nvSpPr>
        <p:spPr>
          <a:xfrm>
            <a:off x="22860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10" name="S18-tile225"/>
          <p:cNvSpPr txBox="1"/>
          <p:nvPr/>
        </p:nvSpPr>
        <p:spPr>
          <a:xfrm>
            <a:off x="31546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11" name="S18-tile226"/>
          <p:cNvSpPr txBox="1"/>
          <p:nvPr/>
        </p:nvSpPr>
        <p:spPr>
          <a:xfrm>
            <a:off x="40233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2" name="S18-tile227"/>
          <p:cNvSpPr txBox="1"/>
          <p:nvPr/>
        </p:nvSpPr>
        <p:spPr>
          <a:xfrm>
            <a:off x="48920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3" name="S18-tile228"/>
          <p:cNvSpPr txBox="1"/>
          <p:nvPr/>
        </p:nvSpPr>
        <p:spPr>
          <a:xfrm>
            <a:off x="57607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4" name="S18-tile229"/>
          <p:cNvSpPr txBox="1"/>
          <p:nvPr/>
        </p:nvSpPr>
        <p:spPr>
          <a:xfrm>
            <a:off x="66294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5" name="S18-tile230"/>
          <p:cNvSpPr txBox="1"/>
          <p:nvPr/>
        </p:nvSpPr>
        <p:spPr>
          <a:xfrm>
            <a:off x="749808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6" name="S18-tile231"/>
          <p:cNvSpPr txBox="1"/>
          <p:nvPr/>
        </p:nvSpPr>
        <p:spPr>
          <a:xfrm>
            <a:off x="836676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7" name="S18-tile232"/>
          <p:cNvSpPr txBox="1"/>
          <p:nvPr/>
        </p:nvSpPr>
        <p:spPr>
          <a:xfrm>
            <a:off x="923544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8" name="S18-tile233"/>
          <p:cNvSpPr txBox="1"/>
          <p:nvPr/>
        </p:nvSpPr>
        <p:spPr>
          <a:xfrm>
            <a:off x="1010412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9" name="S18-tile234"/>
          <p:cNvSpPr txBox="1"/>
          <p:nvPr/>
        </p:nvSpPr>
        <p:spPr>
          <a:xfrm>
            <a:off x="10972800" y="24551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20" name="S18-tile235"/>
          <p:cNvSpPr txBox="1"/>
          <p:nvPr/>
        </p:nvSpPr>
        <p:spPr>
          <a:xfrm>
            <a:off x="5486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21" name="S18-tile236"/>
          <p:cNvSpPr txBox="1"/>
          <p:nvPr/>
        </p:nvSpPr>
        <p:spPr>
          <a:xfrm>
            <a:off x="14173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2" name="S18-tile237"/>
          <p:cNvSpPr txBox="1"/>
          <p:nvPr/>
        </p:nvSpPr>
        <p:spPr>
          <a:xfrm>
            <a:off x="22860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3" name="S18-tile238"/>
          <p:cNvSpPr txBox="1"/>
          <p:nvPr/>
        </p:nvSpPr>
        <p:spPr>
          <a:xfrm>
            <a:off x="31546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4" name="S18-tile239"/>
          <p:cNvSpPr txBox="1"/>
          <p:nvPr/>
        </p:nvSpPr>
        <p:spPr>
          <a:xfrm>
            <a:off x="40233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5" name="S18-tile240"/>
          <p:cNvSpPr txBox="1"/>
          <p:nvPr/>
        </p:nvSpPr>
        <p:spPr>
          <a:xfrm>
            <a:off x="48920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6" name="S18-tile241"/>
          <p:cNvSpPr txBox="1"/>
          <p:nvPr/>
        </p:nvSpPr>
        <p:spPr>
          <a:xfrm>
            <a:off x="57607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7" name="S18-tile242"/>
          <p:cNvSpPr txBox="1"/>
          <p:nvPr/>
        </p:nvSpPr>
        <p:spPr>
          <a:xfrm>
            <a:off x="66294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8" name="S18-tile243"/>
          <p:cNvSpPr txBox="1"/>
          <p:nvPr/>
        </p:nvSpPr>
        <p:spPr>
          <a:xfrm>
            <a:off x="749808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9" name="S18-tile244"/>
          <p:cNvSpPr txBox="1"/>
          <p:nvPr/>
        </p:nvSpPr>
        <p:spPr>
          <a:xfrm>
            <a:off x="836676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30" name="S18-tile245"/>
          <p:cNvSpPr txBox="1"/>
          <p:nvPr/>
        </p:nvSpPr>
        <p:spPr>
          <a:xfrm>
            <a:off x="923544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31" name="S18-tile246"/>
          <p:cNvSpPr txBox="1"/>
          <p:nvPr/>
        </p:nvSpPr>
        <p:spPr>
          <a:xfrm>
            <a:off x="1010412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2" name="S18-tile247"/>
          <p:cNvSpPr txBox="1"/>
          <p:nvPr/>
        </p:nvSpPr>
        <p:spPr>
          <a:xfrm>
            <a:off x="10972800" y="33238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소문자와 첫소리</dc:title>
  <dc:subject>KR22-G03-ENG-LOWER-L01</dc:subject>
  <dc:creator>education-ppt</dc:creator>
  <cp:lastModifiedBy>education-ppt</cp:lastModifiedBy>
  <cp:revision>1</cp:revision>
  <dcterms:created xsi:type="dcterms:W3CDTF">2026-10-26T08:55:29Z</dcterms:created>
  <dcterms:modified xsi:type="dcterms:W3CDTF">2026-10-26T08:55:29Z</dcterms:modified>
</cp:coreProperties>
</file>