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d985b4f-6c4a-106e-44c5-ec58fcb96c0c}">
          <p14:sldIdLst>
            <p14:sldId id="256"/>
            <p14:sldId id="257"/>
          </p14:sldIdLst>
        </p14:section>
        <p14:section name="개념" id="{5c82aa4a-4122-5c15-f5e6-c9c86af206e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</p14:sldIdLst>
        </p14:section>
        <p14:section name="연습" id="{30208379-79ed-72f9-1554-ef8f8cd42049}">
          <p14:sldIdLst>
            <p14:sldId id="265"/>
            <p14:sldId id="266"/>
            <p14:sldId id="268"/>
          </p14:sldIdLst>
        </p14:section>
        <p14:section name="개념" id="{77db6bbb-8836-9f75-0f67-3de65dbf43f4}">
          <p14:sldIdLst/>
        </p14:section>
        <p14:section name="연습" id="{298f095e-6590-9483-e382-8c9ee4b0ad87}">
          <p14:sldIdLst/>
        </p14:section>
        <p14:section name="확인" id="{dc4ee945-f506-b807-fa5a-d941d11d5b99}">
          <p14:sldIdLst>
            <p14:sldId id="269"/>
            <p14:sldId id="270"/>
            <p14:sldId id="271"/>
          </p14:sldIdLst>
        </p14:section>
        <p14:section name="정리" id="{2492c073-2cc4-4d03-b986-5ba261d06699}">
          <p14:sldIdLst>
            <p14:sldId id="272"/>
          </p14:sldIdLst>
        </p14:section>
        <p14:section name="보충" id="{a99454fb-d5d8-659c-67f9-3e41621aad5a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글자에는 이름과 소리가 따로 있다는 것에 관심을 갖게 합니다.
시간: 약 2분
이렇게 말해 보세요
- “지난 시간에 소문자 이름을 배웠지? 오른쪽 글자의 이름을 말해 볼래?”
- “bag을 소리 자료로 들어 보자. 맨 처음 소리가 글자 이름 b와 같아, 달라?”
- “오늘은 글자마다 내는 소리를 배우고, 낱말을 듣고 첫 글자와 끝 글자를 찾아볼 거야.”
예상 답
- “b, f, r, z요.” “조금 달라요.” “잘 모르겠어요.”
주의
- 수업 전에 교과서 디지털 자료나 사전 앱의 발음 듣기로 오늘 낱말을 미리 들어 두세요. 열쇠 낱말: bag, cat, dog, fish, gum, hat, jam, king, lion, map, net, pen, red, sun, ten, van, web, yes, zoo. 연습 낱말: fan, pan, leg, ham, man, rabbit, vest, big, bed, apple, egg. 활동지 낱말: fox, lemon, robot, violin, zebra, juice, bus, pig.
- 교과서 디지털 자료에 파닉스(글자 소리) 자료가 있으면 자음 소리만 따로 들을 수 있습니다. 부모님 발음이 완벽하지 않아도 괜찮습니다.
- 소리 자료 없이 진행하면 바른 소리를 확인하기 어렵습니다. 이때는 헷갈리는 소리를 기록해 두었다가 소리 자료로 나중에 확인합니다.
- 글자 소리는 우리말 글자로 적을 수 없습니다. 노트에는 입 모양만 설명했으니, 꼭 소리 자료를 듣고 따라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확인(소문자 이름과 첫 글자)]
목적: 지난 차시(소문자와 첫소리)의 소문자 이름과 첫 글자 찾기를 확인합니다. 오늘은 소문자를 보고 소리를 내고, 낱말을 듣고 글자를 찾으므로 꼭 필요합니다.
시간: 약 3분
이렇게 말해 보세요
- “①의 글자 이름을 하나씩 말해 줄래?”
- “②, 엄마(아빠)가 낱말을 말할게. dog. 첫 글자는 무엇일까?”
정답
- ① g, j, r, y (소리 자료의 이름과 같게 말하면 맞음)
- ② d
막히면
- b와 d를 헷갈리면 “볼록한 곳이 어느 쪽이야?”라고 묻습니다.
- ①에서 2글자 이상 이름을 말하지 못하거나 ②를 고르지 못하면 S18(보충)을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글자의 이름과 소리]
목적: 글자 이름과 글자 소리가 다르다는 것을 알고, 열쇠 낱말의 첫소리로 글자 소리를 찾는 방법을 익힙니다(M1).
시간: 약 2분
이렇게 말해 보세요
- “이 글자의 이름은 b야. 그런데 낱말 속에서는 이름이 아니라 ‘소리’를 내.”
- “bag을 소리 자료로 듣고 따라 말해 봐. bag. 맨 처음 소리가 b의 소리야. 첫소리만 짧게 내 볼까?”
- “글자 이름 b와 bag의 첫소리를 번갈아 들어 보자. 같아, 달라?”
- “a, e, i, o, u를 뺀 나머지 글자를 ‘자음 글자’라고 해. 오늘은 자음 글자의 소리를 배워.”
예상 답
- “bag.” “글자 이름이랑 달라요.”
막히면
- 첫소리만 떼어 내기 어려우면 bag을 천천히 말하며 입술을 붙였다 떼는 순간만 느끼게 합니다.
주의
- a, e, i, o, u(모음 글자)의 소리는 4학년 ‘단모음 소리’에서 배웁니다. 오늘은 모음 소리를 가르치지 않습니다.
- q와 x는 오늘 다루지 않습니다. 오늘 배우는 자음 글자는 19개입니다.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입술로 내는 소리(b, p, m, w)]
목적: 입술을 써서 내는 b, p, m, w의 소리를 열쇠 낱말의 첫소리로 익힙니다.
시간: 약 2분
이렇게 말해 보세요
- “글자 아래 작은 낱말이 열쇠 낱말이야. bag을 소리 자료로 듣고 따라 말해 봐. 맨 처음 소리가 b의 소리야.”
- “거울을 보며 두 입술을 붙였다가 떼면서 첫소리만 짧게 내 봐.” (pen, map, web도 차례로 합니다.)
- “손바닥을 입 앞에 대고 b와 p를 번갈아 내 봐. 어느 쪽에서 바람이 더 세게 나와?”
- “뜻도 알려 줄게. bag은 가방, pen은 펜, map은 지도, web은 거미줄이야.”
예상 답
- “p에서 바람이 더 세게 나와요.”
막히면
- 첫소리만 떼어 내기 어려우면 열쇠 낱말 전체를 말하게 합니다. ‘b 하면 bag’처럼 짝지어 기억해도 됩니다.
- m은 입술을 다문 채 콧등에 손가락을 대면 떨림이 느껴집니다.
주의
- 소리 뒤에 다른 소리를 붙여 길게 끌지 않게, 입 모양을 만들고 짧게 끊어 냅니다(M2).
- b는 목을 울리며, p는 목을 울리지 않고 바람을 터뜨리듯 냅니다. 목에 손을 대 보면 b에서 떨림이 느껴집니다.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윗니와 아랫입술로 내는 소리(f, v)]
목적: 우리말에 없는 f, v의 소리를 입 모양으로 익힙니다(M3).
시간: 약 2분
이렇게 말해 보세요
- “fish를 소리 자료로 듣고 따라 말해 봐. 맨 처음 소리가 f의 소리야.”
- “거울을 봐. 윗니를 아랫입술에 살짝 얹고 바람을 길게 내보내 봐.”
- “van도 듣고 따라 말해 보자. 입 모양은 f와 같고, 목에 손을 대면 떨려.”
- “뜻은 fish 물고기, van 승합차야.”
예상 답
- “윗니가 입술에 닿아요.” “v는 목이 떨려요.”
막히면
- 두 입술을 붙이면 p나 b처럼 들립니다. 거울로 윗니가 아랫입술 위에 보이는지 확인하게 합니다.
- 윗니를 아랫입술에 얹은 채로 숨을 내쉬는 것부터 연습합니다.
주의
- f를 p처럼, v를 b처럼 내기 쉽습니다(M3). 오늘 바로 되지 않아도 입 모양을 알고 있으면 됩니다. S11에서 다시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혀끝으로 내는 소리(t, d, n, l)]
목적: 혀끝을 윗니 뒤 잇몸에 대고 내는 t, d, n, l의 소리를 익힙니다.
시간: 약 2분
이렇게 말해 보세요
- “ten을 소리 자료로 듣고 따라 말해 봐. 맨 처음 소리가 t의 소리야.”
- “혀끝을 윗니 뒤의 잇몸에 댔다가 가볍게 떼면서 내 봐. d도 같은 자리인데 목이 떨려.” (dog, net, lion도 차례로 합니다.)
- “l은 혀끝을 잇몸에 댄 채로 소리를 길게 낼 수 있어. 혀끝이 떨어지지 않게 해 봐.”
- “뜻은 ten 열(10), dog 개, net 그물, lion 사자야.”
예상 답
- “혀끝이 윗니 뒤에 닿아요.”
막히면
- 거울을 보며 입을 조금 벌리고 혀끝이 어디에 닿는지 보여 줍니다.
- n은 콧등에 손가락을 대고 떨림을 느끼게 합니다.
주의
- l은 S09의 r과 헷갈리기 쉽습니다. l은 혀끝이 닿고, r은 혀끝이 어디에도 닿지 않습니다(M3).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바람이 길게 나오는 소리(s, z, h)]
목적: 바람을 길게 내는 s, z, h의 소리를 익힙니다.
시간: 약 2분
이렇게 말해 보세요
- “sun을 소리 자료로 듣고 따라 말해 봐. 맨 처음 소리가 s의 소리야. 뱀이 내는 소리처럼 바람을 길게 내 봐.”
- “zoo도 듣고 따라 말해 보자. s와 입 모양은 같은데, 벌이 날 때처럼 떨리는 소리가 나. 목에 손을 대 봐.”
- “hat은 차가운 손에 입김을 불 때처럼 입을 벌리고 바람만 내쉬어.”
- “뜻은 sun 해, zoo 동물원, hat 모자야.”
예상 답
- “z는 목이 떨려요.” “h는 입김 같아요.”
막히면
- s를 길게 낸 채로 목에 손을 대고, 그대로 목을 울리면 z가 된다고 보여 줍니다.
주의
- z를 j처럼 내기 쉽습니다(M3). z는 이 사이로 바람이 새어 나오고, j는 혀가 입천장에 닿았다가 떨어집니다(S09).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혀 뒤쪽으로 내는 소리(c, k, g)]
목적: 혀 뒤쪽으로 내는 c, k, g의 소리를 익히고, c와 k가 같은 소리를 낸다는 것을 압니다.
시간: 약 2분
이렇게 말해 보세요
- “cat과 king을 소리 자료로 듣고 따라 말해 봐. 두 낱말의 첫소리가 같아, 달라?”
- “혀 뒤쪽을 입천장 안쪽에 붙였다가 떼면서 첫소리를 내 봐.”
- “gum도 듣고 따라 말해 보자. 같은 자리에서 목을 울리면 g의 소리야.”
- “뜻은 cat 고양이, king 왕, gum 껌이야.”
예상 답
- “cat이랑 king은 첫소리가 같아요.”
막히면
- 입을 벌리고 혀끝을 아랫니 뒤에 둔 채로 소리 내게 하면 혀 뒤쪽이 저절로 올라갑니다.
주의
- c와 g는 city, gem처럼 다른 소리를 내는 낱말도 있지만 오늘은 다루지 않습니다. 오늘은 cat, gum처럼 소리 나는 낱말만 씁니다.
- 같은 소리를 c로 쓸지 k로 쓸지는 낱말마다 정해져 있습니다. 소리만 듣고 c와 k를 고르는 문제는 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혀를 입천장 쪽으로 올려 내는 소리(j, r, y)]
목적: j, r, y의 소리를 익히고, 특히 l과 r의 혀 위치 차이를 압니다(M3).
시간: 약 2분
이렇게 말해 보세요
- “jam을 소리 자료로 듣고 따라 말해 봐. 입술을 조금 내밀고, 혀를 입천장 앞쪽에 붙였다가 떼면서 목을 울려.”
- “red도 듣고 따라 말해 보자. 혀끝을 뒤로 살짝 말아서 어디에도 닿지 않게 해. lion의 l은 혀끝이 닿았지? r은 안 닿아.”
- “yes는 혀 가운데를 입천장 쪽으로 높이 올리고 입꼬리를 옆으로 당기며 시작해.”
- “뜻은 jam 잼, red 빨간색, yes 네(응)야.”
예상 답
- “r은 혀가 안 닿아요.” “l은 혀끝이 닿아요.”
막히면
- l과 r을 번갈아 내며 혀끝이 닿는지 손거울로 봅니다. 잘 안 되면 lion과 red를 소리 자료로 여러 번 들으며 따라 말합니다.
주의
- y는 낱말 맨 앞에서 나는 소리만 배웁니다.
- 여기까지 자음 글자 19개를 모두 보았습니다. 한 번에 다 외우지 않아도 됩니다. 열쇠 낱말을 떠올리면 소리를 찾을 수 있다는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섞인 자음 글자를 보고 소리 내기]
목적: 차례가 섞인 자음 글자를 보고 열쇠 낱말과 소리를 떠올립니다.
시간: 약 3분
이렇게 말해 보세요
- “엄마(아빠)가 글자를 짚으면 열쇠 낱말을 말하고, 첫소리만 짧게 내 봐. v!”
- 부모가 짚을 차례: v → k → y → l → z → h → j → r → f → w, 그다음 차례를 섞어 한 번 더
- “이번엔 엄마(아빠)가 열쇠 낱말을 말할게. 그 글자를 짚어 줘. lion! red! zoo!”
정답
- v van, k king, y yes, l lion, z zoo, h hat, j jam, r red, f fish, w web (소리는 소리 자료와 비슷하게 내면 맞음)
- lion → l, red → r, zoo → z
막히면
- S04~S09 가운데 그 글자가 나온 장을 다시 보여 줍니다.
- 글자 이름으로 말하면 “이름 말고, 열쇠 낱말의 첫소리는?”이라고 묻습니다(M1).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비교(f와 p)]
목적: 첫소리 하나만 바뀌어도 뜻이 달라진다는 것을 알고, f와 p의 입 모양을 구별합니다(M3).
시간: 약 2분
이렇게 말해 보세요
- “fan과 pan을 소리 자료로 들어 보자. 무엇이 달라?”
- “친구가 선풍기를 말하려다 pan처럼 말했대. 그러면 무슨 뜻이 될까?”
- “거울을 보며 fan과 pan을 번갈아 말해 봐. 입 모양이 어떻게 달라?”
정답
- 첫 글자가 f와 p로 다릅니다. fan은 윗니를 아랫입술에 대고 바람을 내보내며 시작하고, pan은 두 입술을 붙였다가 떼며 시작합니다. pan처럼 말하면 ‘프라이팬’이라는 뜻이 됩니다.
막히면
- S05를 다시 보여 주고 윗니가 아랫입술에 닿는지 거울로 확인합니다.
주의
- v와 b(van과 bag의 첫소리), l과 r(lion과 red의 첫소리)도 같은 방법으로 입 모양을 비교할 수 있습니다.
- 여기까지가 소리를 익히는 부분입니다. 아이가 지치면 여기서 나누어 다음 날 S12부터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첫 글자와 끝 글자를 찾는 방법]
목적: 낱말을 듣고 첫소리와 끝소리의 입 모양으로 첫 글자와 끝 글자를 찾는 방법을 시범으로 보입니다(M4).
시간: 약 3분
이렇게 말해 보세요
- “sun을 들어 보자. 따라 말해 봐. sun.”
- “처음 소리를 낼 때 입 모양은? 이를 살짝 다물고 바람이 나왔지? 그러면 첫 글자는?”
- “이번에는 천천히 늘여 말하다가 마지막 소리에서 멈춰 볼게. 입 모양이 어때? 혀끝이 닿은 채 코로 소리가 나지? 그러면 끝 글자는?”
예상 답
- “첫 글자는 s예요.” “끝 글자는 n이에요.”
막히면
- 끝소리를 찾기 어려우면 부모가 낱말을 아주 천천히 말하고 마지막 소리를 길게 늘여 줍니다.
- S06의 n 장면을 다시 보여 주고 혀끝 위치를 확인합니다.
주의
- 가운데 글자(u)의 소리는 4학년에 배웁니다. 오늘은 묻지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듣고 첫 글자·끝 글자 고르기]
목적: 부모가 말하는 낱말의 첫 글자와 끝 글자를 입 모양을 떠올려 고릅니다.
시간: 약 3분
이렇게 말해 보세요
- “엄마(아빠)가 낱말을 말하면 따라 말하고, 알맞은 글자를 짚어 봐. ①②는 첫 글자야.”
- 부모가 말할 낱말: ① fan ② leg ③ ham ④ dog (소리 자료로 들려주어도 됩니다.)
- “③④는 끝 글자야. 천천히 말하다 마지막 소리에서 멈춰 봐.”
- “어떻게 알았어? 입 모양이 어땠어?”
정답
- ① f (fan, 윗니가 아랫입술에) ② l (leg, 혀끝이 닿음) ③ m (ham, 입술을 다묾) ④ g (dog, 혀 뒤쪽)
- 뜻: fan 선풍기, leg 다리, ham 햄, dog 개
막히면
- 부모가 입 모양을 크게 보여 주며 다시 말합니다.
- ④에서 d를 고르면 “d는 처음 소리야. 마지막 소리에서 멈춰 볼까?”라고 말해 줍니다(M4).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혼자 소리 내기와 첫 글자·끝 글자 고르기]
목적: 도움 없이 자음 글자의 소리를 내고, 들은 낱말의 첫 글자와 끝 글자를 고르는지 확인합니다.
시간: 약 4분
이렇게 말해 보세요
- “이번에는 혼자 해 볼래? ①의 글자마다 열쇠 낱말과 소리를 말해 줘.”
- 부모가 말할 낱말: ② rabbit ③ vest ④ man
- “②③은 엄마(아빠)가 말하는 낱말의 첫 글자, ④는 끝 글자를 짚어 봐.”
정답
- ① s sun, f fish, l lion, j jam (소리는 소리 자료와 비슷하게 내면 맞음)
- ② r (rabbit 토끼) ③ v (vest 조끼) ④ n (man 남자)
막히면
- 바로 알려 주지 말고 “입 모양이 어땠어?”라고만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정답과 피드백]
목적: 아이의 답을 확인하고 흔한 실수와 비교합니다.
시간: 약 2분
이렇게 말해 보세요
- “네가 고른 것과 왼쪽 정답을 비교해 보자.”
- “오른쪽처럼 고르면 왜 틀렸을까?”
예상 답
- “vest는 윗니가 입술에 닿아서 v예요.” “m은 처음 소리예요.”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마무리 확인]
목적: 처음 보는 형식에서 낱말을 듣고 첫 글자와 끝 글자를 함께 찾는지 확인합니다.
시간: 약 2분
이렇게 말해 보세요
- “가운데 빈칸은 비워 두었어. 첫 글자와 끝 글자만 보면 돼.”
- “엄마(아빠)가 낱말을 말할게. big. 가, 나, 다, 라 중에서 어느 것일까? 어떻게 알았어?”
- “이번에는 bed!”
정답
- big → 가(b ＿ g). 첫 글자 b, 끝 글자 g입니다(나는 첫 글자가 p, 라는 첫 글자가 d).
- bed → 다(b ＿ d). 첫 글자는 big과 같은 b이고 끝 글자가 d입니다.
막히면
- 첫 글자부터 하나씩 확인하게 합니다. “첫 글자가 b인 것은 무엇무엇이야?” 그다음 끝 글자로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다음 학습과 복습]
목적: 핵심을 정리하고 다음 수업 첫 5분에 풀 복습을 알려 줍니다.
시간: 약 2분
이렇게 말해 보세요
- “글자의 소리를 모를 때는 무엇을 떠올리면 될까?”
- “낱말을 듣고 끝 글자는 어떻게 찾았지?”
예상 답
- “열쇠 낱말이요.” “마지막 소리에서 멈추고 입 모양을 봐요.”
정답
- ① f fish, l lion, r red, z zoo의 첫소리 ② v ③ p
주의
- 열쇠 낱말 19개를 작은 카드에 써서 날마다 몇 개씩 소리 내 보면 좋습니다.
- 다음 차시는 계획 순서에 따라 듣기와 말하기의 ‘인사하기’입니다(이미 했다면 다음 차시로 넘어갑니다). 글자의 소리 공부는 4학년 ‘단모음 소리’로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선수 학습 보충(소문자와 첫소리)]
목적: S02에서 소문자 이름이나 첫 글자 찾기가 흔들리면, 글자 소리를 배우기 전에 먼저 다집니다.
시간: 약 5분
이렇게 말해 보세요
- “낱말을 하나씩 듣고 따라 말해 보자.” (교과서 디지털 자료나 사전 앱으로 apple, bag, cat, dog, egg, fish를 들려줍니다.)
- “엄마(아빠)가 낱말을 말하면 첫 글자를 짚어 봐. dog!”
- “첫 글자의 이름도 말해 줄래?”
정답
- apple a, bag b, cat c, dog d, egg e, fish f
막히면
- 낱말 카드의 첫 글자를 손가락으로 짚으며 낱말을 천천히 말합니다.
주의
- 보충 뒤에도 소문자 이름이나 첫 글자 찾기가 어려우면 앞 차시 ‘소문자와 첫소리’(KR22-G03-ENG-LOWER-L01)를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자음 글자의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자음 글자의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자음 글자의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 글자의 소리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b의 이름과 bag의 첫소리는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같을까요?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자음 글자를 보고 그 글자의 소리를 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낱말을 듣고 첫 글자와 끝 글자를 찾아요.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소문자와 첫 글자 떠올리기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엄마(아빠)가 말하는 낱말의 첫 글자를 골라요.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300" dirty="0"/>
          </a:p>
        </p:txBody>
      </p:sp>
      <p:sp>
        <p:nvSpPr>
          <p:cNvPr id="6" name="S02-tile10"/>
          <p:cNvSpPr txBox="1"/>
          <p:nvPr/>
        </p:nvSpPr>
        <p:spPr>
          <a:xfrm>
            <a:off x="2766060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300" dirty="0"/>
          </a:p>
        </p:txBody>
      </p:sp>
      <p:sp>
        <p:nvSpPr>
          <p:cNvPr id="7" name="S02-tile11"/>
          <p:cNvSpPr txBox="1"/>
          <p:nvPr/>
        </p:nvSpPr>
        <p:spPr>
          <a:xfrm>
            <a:off x="4187952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300" dirty="0"/>
          </a:p>
        </p:txBody>
      </p:sp>
      <p:sp>
        <p:nvSpPr>
          <p:cNvPr id="8" name="S02-tile12"/>
          <p:cNvSpPr txBox="1"/>
          <p:nvPr/>
        </p:nvSpPr>
        <p:spPr>
          <a:xfrm>
            <a:off x="5609844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3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4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1" name="S02-tile15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2" name="S02-tile16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글자의 이름과 소리</a:t>
            </a:r>
            <a:endParaRPr lang="ko-KR" sz="4000" dirty="0"/>
          </a:p>
        </p:txBody>
      </p:sp>
      <p:sp>
        <p:nvSpPr>
          <p:cNvPr id="3" name="S03-text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글자에는 이름과 소리가 있어요.</a:t>
            </a:r>
            <a:endParaRPr lang="ko-KR" sz="3000" dirty="0"/>
          </a:p>
        </p:txBody>
      </p:sp>
      <p:sp>
        <p:nvSpPr>
          <p:cNvPr id="4" name="S03-card18"/>
          <p:cNvSpPr/>
          <p:nvPr/>
        </p:nvSpPr>
        <p:spPr>
          <a:xfrm>
            <a:off x="548640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9"/>
          <p:cNvSpPr txBox="1"/>
          <p:nvPr/>
        </p:nvSpPr>
        <p:spPr>
          <a:xfrm>
            <a:off x="822960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이름: 글자를 부를 때 말해요.</a:t>
            </a:r>
            <a:endParaRPr lang="ko-KR" sz="3000" dirty="0"/>
          </a:p>
        </p:txBody>
      </p:sp>
      <p:sp>
        <p:nvSpPr>
          <p:cNvPr id="6" name="S03-card20"/>
          <p:cNvSpPr/>
          <p:nvPr/>
        </p:nvSpPr>
        <p:spPr>
          <a:xfrm>
            <a:off x="6208776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1"/>
          <p:cNvSpPr txBox="1"/>
          <p:nvPr/>
        </p:nvSpPr>
        <p:spPr>
          <a:xfrm>
            <a:off x="6483096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소리: 낱말 속에서 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bag의 첫소리가 b의 소리예요.</a:t>
            </a:r>
            <a:endParaRPr lang="ko-KR" sz="3000" dirty="0"/>
          </a:p>
        </p:txBody>
      </p:sp>
      <p:sp>
        <p:nvSpPr>
          <p:cNvPr id="8" name="S03-tile22"/>
          <p:cNvSpPr txBox="1"/>
          <p:nvPr/>
        </p:nvSpPr>
        <p:spPr>
          <a:xfrm>
            <a:off x="2464308" y="23614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700" dirty="0"/>
          </a:p>
        </p:txBody>
      </p:sp>
      <p:sp>
        <p:nvSpPr>
          <p:cNvPr id="9" name="S03-word23"/>
          <p:cNvSpPr txBox="1"/>
          <p:nvPr/>
        </p:nvSpPr>
        <p:spPr>
          <a:xfrm>
            <a:off x="6254496" y="2269998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b, p, m, w의 소리</a:t>
            </a:r>
            <a:endParaRPr lang="ko-KR" sz="40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입술을 써서 내는 소리예요.</a:t>
            </a:r>
            <a:endParaRPr lang="ko-KR" sz="3000" dirty="0"/>
          </a:p>
        </p:txBody>
      </p:sp>
      <p:sp>
        <p:nvSpPr>
          <p:cNvPr id="4" name="S04-card25"/>
          <p:cNvSpPr/>
          <p:nvPr/>
        </p:nvSpPr>
        <p:spPr>
          <a:xfrm>
            <a:off x="548640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b, p: 두 입술을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붙였다가 떼요.</a:t>
            </a:r>
            <a:endParaRPr lang="ko-KR" sz="3000" dirty="0"/>
          </a:p>
        </p:txBody>
      </p:sp>
      <p:sp>
        <p:nvSpPr>
          <p:cNvPr id="6" name="S04-card27"/>
          <p:cNvSpPr/>
          <p:nvPr/>
        </p:nvSpPr>
        <p:spPr>
          <a:xfrm>
            <a:off x="4322064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8"/>
          <p:cNvSpPr txBox="1"/>
          <p:nvPr/>
        </p:nvSpPr>
        <p:spPr>
          <a:xfrm>
            <a:off x="4596384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m: 입을 다문 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소리 내요.</a:t>
            </a:r>
            <a:endParaRPr lang="ko-KR" sz="3000" dirty="0"/>
          </a:p>
        </p:txBody>
      </p:sp>
      <p:sp>
        <p:nvSpPr>
          <p:cNvPr id="8" name="S04-card29"/>
          <p:cNvSpPr/>
          <p:nvPr/>
        </p:nvSpPr>
        <p:spPr>
          <a:xfrm>
            <a:off x="8095488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0"/>
          <p:cNvSpPr txBox="1"/>
          <p:nvPr/>
        </p:nvSpPr>
        <p:spPr>
          <a:xfrm>
            <a:off x="8369808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w: 입술을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동그랗게 내밀어요.</a:t>
            </a:r>
            <a:endParaRPr lang="ko-KR" sz="3000" dirty="0"/>
          </a:p>
        </p:txBody>
      </p:sp>
      <p:sp>
        <p:nvSpPr>
          <p:cNvPr id="10" name="S04-tile31"/>
          <p:cNvSpPr txBox="1"/>
          <p:nvPr/>
        </p:nvSpPr>
        <p:spPr>
          <a:xfrm>
            <a:off x="2866644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300" dirty="0"/>
          </a:p>
        </p:txBody>
      </p:sp>
      <p:sp>
        <p:nvSpPr>
          <p:cNvPr id="11" name="S04-label32"/>
          <p:cNvSpPr txBox="1"/>
          <p:nvPr/>
        </p:nvSpPr>
        <p:spPr>
          <a:xfrm>
            <a:off x="2766060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2000" dirty="0"/>
          </a:p>
        </p:txBody>
      </p:sp>
      <p:sp>
        <p:nvSpPr>
          <p:cNvPr id="12" name="S04-tile33"/>
          <p:cNvSpPr txBox="1"/>
          <p:nvPr/>
        </p:nvSpPr>
        <p:spPr>
          <a:xfrm>
            <a:off x="4530852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300" dirty="0"/>
          </a:p>
        </p:txBody>
      </p:sp>
      <p:sp>
        <p:nvSpPr>
          <p:cNvPr id="13" name="S04-label34"/>
          <p:cNvSpPr txBox="1"/>
          <p:nvPr/>
        </p:nvSpPr>
        <p:spPr>
          <a:xfrm>
            <a:off x="4430268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2000" dirty="0"/>
          </a:p>
        </p:txBody>
      </p:sp>
      <p:sp>
        <p:nvSpPr>
          <p:cNvPr id="14" name="S04-tile35"/>
          <p:cNvSpPr txBox="1"/>
          <p:nvPr/>
        </p:nvSpPr>
        <p:spPr>
          <a:xfrm>
            <a:off x="6195060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6300" dirty="0"/>
          </a:p>
        </p:txBody>
      </p:sp>
      <p:sp>
        <p:nvSpPr>
          <p:cNvPr id="15" name="S04-label36"/>
          <p:cNvSpPr txBox="1"/>
          <p:nvPr/>
        </p:nvSpPr>
        <p:spPr>
          <a:xfrm>
            <a:off x="6094476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ko-KR" sz="2000" dirty="0"/>
          </a:p>
        </p:txBody>
      </p:sp>
      <p:sp>
        <p:nvSpPr>
          <p:cNvPr id="16" name="S04-tile37"/>
          <p:cNvSpPr txBox="1"/>
          <p:nvPr/>
        </p:nvSpPr>
        <p:spPr>
          <a:xfrm>
            <a:off x="7859268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6300" dirty="0"/>
          </a:p>
        </p:txBody>
      </p:sp>
      <p:sp>
        <p:nvSpPr>
          <p:cNvPr id="17" name="S04-label38"/>
          <p:cNvSpPr txBox="1"/>
          <p:nvPr/>
        </p:nvSpPr>
        <p:spPr>
          <a:xfrm>
            <a:off x="7758684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f, v의 소리</a:t>
            </a:r>
            <a:endParaRPr lang="ko-KR" sz="4000" dirty="0"/>
          </a:p>
        </p:txBody>
      </p:sp>
      <p:sp>
        <p:nvSpPr>
          <p:cNvPr id="3" name="S05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윗니가 아랫입술에 닿아요.</a:t>
            </a:r>
            <a:endParaRPr lang="ko-KR" sz="3000" dirty="0"/>
          </a:p>
        </p:txBody>
      </p:sp>
      <p:sp>
        <p:nvSpPr>
          <p:cNvPr id="4" name="S05-card40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41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f: 윗니를 아랫입술에 대고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바람을 내보내요.</a:t>
            </a:r>
            <a:endParaRPr lang="ko-KR" sz="3000" dirty="0"/>
          </a:p>
        </p:txBody>
      </p:sp>
      <p:sp>
        <p:nvSpPr>
          <p:cNvPr id="6" name="S05-card42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43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v: 입 모양은 f와 같고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목을 울려요.</a:t>
            </a:r>
            <a:endParaRPr lang="ko-KR" sz="3000" dirty="0"/>
          </a:p>
        </p:txBody>
      </p:sp>
      <p:sp>
        <p:nvSpPr>
          <p:cNvPr id="8" name="S05-tile44"/>
          <p:cNvSpPr txBox="1"/>
          <p:nvPr/>
        </p:nvSpPr>
        <p:spPr>
          <a:xfrm>
            <a:off x="4347972" y="23195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7100" dirty="0"/>
          </a:p>
        </p:txBody>
      </p:sp>
      <p:sp>
        <p:nvSpPr>
          <p:cNvPr id="9" name="S05-label45"/>
          <p:cNvSpPr txBox="1"/>
          <p:nvPr/>
        </p:nvSpPr>
        <p:spPr>
          <a:xfrm>
            <a:off x="4247388" y="40020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2000" dirty="0"/>
          </a:p>
        </p:txBody>
      </p:sp>
      <p:sp>
        <p:nvSpPr>
          <p:cNvPr id="10" name="S05-tile46"/>
          <p:cNvSpPr txBox="1"/>
          <p:nvPr/>
        </p:nvSpPr>
        <p:spPr>
          <a:xfrm>
            <a:off x="6195060" y="23195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7100" dirty="0"/>
          </a:p>
        </p:txBody>
      </p:sp>
      <p:sp>
        <p:nvSpPr>
          <p:cNvPr id="11" name="S05-label47"/>
          <p:cNvSpPr txBox="1"/>
          <p:nvPr/>
        </p:nvSpPr>
        <p:spPr>
          <a:xfrm>
            <a:off x="6094476" y="40020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t, d, n, l의 소리</a:t>
            </a:r>
            <a:endParaRPr lang="ko-KR" sz="4000" dirty="0"/>
          </a:p>
        </p:txBody>
      </p:sp>
      <p:sp>
        <p:nvSpPr>
          <p:cNvPr id="3" name="S06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혀끝이 윗니 뒤에 닿아요.</a:t>
            </a:r>
            <a:endParaRPr lang="ko-KR" sz="3000" dirty="0"/>
          </a:p>
        </p:txBody>
      </p:sp>
      <p:sp>
        <p:nvSpPr>
          <p:cNvPr id="4" name="S06-card49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50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t, d: 혀끝을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댔다가 떼요.</a:t>
            </a:r>
            <a:endParaRPr lang="ko-KR" sz="3000" dirty="0"/>
          </a:p>
        </p:txBody>
      </p:sp>
      <p:sp>
        <p:nvSpPr>
          <p:cNvPr id="6" name="S06-card51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2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 혀끝을 댄 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소리 내요.</a:t>
            </a:r>
            <a:endParaRPr lang="ko-KR" sz="3000" dirty="0"/>
          </a:p>
        </p:txBody>
      </p:sp>
      <p:sp>
        <p:nvSpPr>
          <p:cNvPr id="8" name="S06-card53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4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l: 혀끝을 댄 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길게 소리 내요.</a:t>
            </a:r>
            <a:endParaRPr lang="ko-KR" sz="3000" dirty="0"/>
          </a:p>
        </p:txBody>
      </p:sp>
      <p:sp>
        <p:nvSpPr>
          <p:cNvPr id="10" name="S06-tile55"/>
          <p:cNvSpPr txBox="1"/>
          <p:nvPr/>
        </p:nvSpPr>
        <p:spPr>
          <a:xfrm>
            <a:off x="2866644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6300" dirty="0"/>
          </a:p>
        </p:txBody>
      </p:sp>
      <p:sp>
        <p:nvSpPr>
          <p:cNvPr id="11" name="S06-label56"/>
          <p:cNvSpPr txBox="1"/>
          <p:nvPr/>
        </p:nvSpPr>
        <p:spPr>
          <a:xfrm>
            <a:off x="2766060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2000" dirty="0"/>
          </a:p>
        </p:txBody>
      </p:sp>
      <p:sp>
        <p:nvSpPr>
          <p:cNvPr id="12" name="S06-tile57"/>
          <p:cNvSpPr txBox="1"/>
          <p:nvPr/>
        </p:nvSpPr>
        <p:spPr>
          <a:xfrm>
            <a:off x="4530852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300" dirty="0"/>
          </a:p>
        </p:txBody>
      </p:sp>
      <p:sp>
        <p:nvSpPr>
          <p:cNvPr id="13" name="S06-label58"/>
          <p:cNvSpPr txBox="1"/>
          <p:nvPr/>
        </p:nvSpPr>
        <p:spPr>
          <a:xfrm>
            <a:off x="4430268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2000" dirty="0"/>
          </a:p>
        </p:txBody>
      </p:sp>
      <p:sp>
        <p:nvSpPr>
          <p:cNvPr id="14" name="S06-tile59"/>
          <p:cNvSpPr txBox="1"/>
          <p:nvPr/>
        </p:nvSpPr>
        <p:spPr>
          <a:xfrm>
            <a:off x="6195060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6300" dirty="0"/>
          </a:p>
        </p:txBody>
      </p:sp>
      <p:sp>
        <p:nvSpPr>
          <p:cNvPr id="15" name="S06-label60"/>
          <p:cNvSpPr txBox="1"/>
          <p:nvPr/>
        </p:nvSpPr>
        <p:spPr>
          <a:xfrm>
            <a:off x="6094476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</a:t>
            </a:r>
            <a:endParaRPr lang="ko-KR" sz="2000" dirty="0"/>
          </a:p>
        </p:txBody>
      </p:sp>
      <p:sp>
        <p:nvSpPr>
          <p:cNvPr id="16" name="S06-tile61"/>
          <p:cNvSpPr txBox="1"/>
          <p:nvPr/>
        </p:nvSpPr>
        <p:spPr>
          <a:xfrm>
            <a:off x="7859268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6300" dirty="0"/>
          </a:p>
        </p:txBody>
      </p:sp>
      <p:sp>
        <p:nvSpPr>
          <p:cNvPr id="17" name="S06-label62"/>
          <p:cNvSpPr txBox="1"/>
          <p:nvPr/>
        </p:nvSpPr>
        <p:spPr>
          <a:xfrm>
            <a:off x="7758684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lion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s, z, h의 소리</a:t>
            </a:r>
            <a:endParaRPr lang="ko-KR" sz="4000" dirty="0"/>
          </a:p>
        </p:txBody>
      </p:sp>
      <p:sp>
        <p:nvSpPr>
          <p:cNvPr id="3" name="S07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길게 나오는 소리예요.</a:t>
            </a:r>
            <a:endParaRPr lang="ko-KR" sz="3000" dirty="0"/>
          </a:p>
        </p:txBody>
      </p:sp>
      <p:sp>
        <p:nvSpPr>
          <p:cNvPr id="4" name="S07-card64"/>
          <p:cNvSpPr/>
          <p:nvPr/>
        </p:nvSpPr>
        <p:spPr>
          <a:xfrm>
            <a:off x="548640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65"/>
          <p:cNvSpPr txBox="1"/>
          <p:nvPr/>
        </p:nvSpPr>
        <p:spPr>
          <a:xfrm>
            <a:off x="822960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s: 이를 다물고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바람을 길게 내요.</a:t>
            </a:r>
            <a:endParaRPr lang="ko-KR" sz="3000" dirty="0"/>
          </a:p>
        </p:txBody>
      </p:sp>
      <p:sp>
        <p:nvSpPr>
          <p:cNvPr id="6" name="S07-card66"/>
          <p:cNvSpPr/>
          <p:nvPr/>
        </p:nvSpPr>
        <p:spPr>
          <a:xfrm>
            <a:off x="4322064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67"/>
          <p:cNvSpPr txBox="1"/>
          <p:nvPr/>
        </p:nvSpPr>
        <p:spPr>
          <a:xfrm>
            <a:off x="4596384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z: 입 모양은 s와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같고 목을 울려요.</a:t>
            </a:r>
            <a:endParaRPr lang="ko-KR" sz="3000" dirty="0"/>
          </a:p>
        </p:txBody>
      </p:sp>
      <p:sp>
        <p:nvSpPr>
          <p:cNvPr id="8" name="S07-card68"/>
          <p:cNvSpPr/>
          <p:nvPr/>
        </p:nvSpPr>
        <p:spPr>
          <a:xfrm>
            <a:off x="8095488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69"/>
          <p:cNvSpPr txBox="1"/>
          <p:nvPr/>
        </p:nvSpPr>
        <p:spPr>
          <a:xfrm>
            <a:off x="8369808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h: 입을 벌리고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입김을 불어요.</a:t>
            </a:r>
            <a:endParaRPr lang="ko-KR" sz="3000" dirty="0"/>
          </a:p>
        </p:txBody>
      </p:sp>
      <p:sp>
        <p:nvSpPr>
          <p:cNvPr id="10" name="S07-tile70"/>
          <p:cNvSpPr txBox="1"/>
          <p:nvPr/>
        </p:nvSpPr>
        <p:spPr>
          <a:xfrm>
            <a:off x="3561588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6700" dirty="0"/>
          </a:p>
        </p:txBody>
      </p:sp>
      <p:sp>
        <p:nvSpPr>
          <p:cNvPr id="11" name="S07-label71"/>
          <p:cNvSpPr txBox="1"/>
          <p:nvPr/>
        </p:nvSpPr>
        <p:spPr>
          <a:xfrm>
            <a:off x="3461004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</a:t>
            </a:r>
            <a:endParaRPr lang="ko-KR" sz="2000" dirty="0"/>
          </a:p>
        </p:txBody>
      </p:sp>
      <p:sp>
        <p:nvSpPr>
          <p:cNvPr id="12" name="S07-tile72"/>
          <p:cNvSpPr txBox="1"/>
          <p:nvPr/>
        </p:nvSpPr>
        <p:spPr>
          <a:xfrm>
            <a:off x="5317236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6700" dirty="0"/>
          </a:p>
        </p:txBody>
      </p:sp>
      <p:sp>
        <p:nvSpPr>
          <p:cNvPr id="13" name="S07-label73"/>
          <p:cNvSpPr txBox="1"/>
          <p:nvPr/>
        </p:nvSpPr>
        <p:spPr>
          <a:xfrm>
            <a:off x="5216652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000" dirty="0"/>
          </a:p>
        </p:txBody>
      </p:sp>
      <p:sp>
        <p:nvSpPr>
          <p:cNvPr id="14" name="S07-tile74"/>
          <p:cNvSpPr txBox="1"/>
          <p:nvPr/>
        </p:nvSpPr>
        <p:spPr>
          <a:xfrm>
            <a:off x="7072884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6700" dirty="0"/>
          </a:p>
        </p:txBody>
      </p:sp>
      <p:sp>
        <p:nvSpPr>
          <p:cNvPr id="15" name="S07-label75"/>
          <p:cNvSpPr txBox="1"/>
          <p:nvPr/>
        </p:nvSpPr>
        <p:spPr>
          <a:xfrm>
            <a:off x="6972300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c, k, g의 소리</a:t>
            </a:r>
            <a:endParaRPr lang="ko-KR" sz="4000" dirty="0"/>
          </a:p>
        </p:txBody>
      </p:sp>
      <p:sp>
        <p:nvSpPr>
          <p:cNvPr id="3" name="S08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 뒤쪽을 써서 내는 소리예요.</a:t>
            </a:r>
            <a:endParaRPr lang="ko-KR" sz="3000" dirty="0"/>
          </a:p>
        </p:txBody>
      </p:sp>
      <p:sp>
        <p:nvSpPr>
          <p:cNvPr id="4" name="S08-card77"/>
          <p:cNvSpPr/>
          <p:nvPr/>
        </p:nvSpPr>
        <p:spPr>
          <a:xfrm>
            <a:off x="548640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78"/>
          <p:cNvSpPr txBox="1"/>
          <p:nvPr/>
        </p:nvSpPr>
        <p:spPr>
          <a:xfrm>
            <a:off x="822960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 뒤쪽을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입천장 안쪽에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댔다가 떼요.</a:t>
            </a:r>
            <a:endParaRPr lang="ko-KR" sz="3000" dirty="0"/>
          </a:p>
        </p:txBody>
      </p:sp>
      <p:sp>
        <p:nvSpPr>
          <p:cNvPr id="6" name="S08-card79"/>
          <p:cNvSpPr/>
          <p:nvPr/>
        </p:nvSpPr>
        <p:spPr>
          <a:xfrm>
            <a:off x="4322064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80"/>
          <p:cNvSpPr txBox="1"/>
          <p:nvPr/>
        </p:nvSpPr>
        <p:spPr>
          <a:xfrm>
            <a:off x="4596384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c와 k는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같아요.</a:t>
            </a:r>
            <a:endParaRPr lang="ko-KR" sz="3000" dirty="0"/>
          </a:p>
        </p:txBody>
      </p:sp>
      <p:sp>
        <p:nvSpPr>
          <p:cNvPr id="8" name="S08-card81"/>
          <p:cNvSpPr/>
          <p:nvPr/>
        </p:nvSpPr>
        <p:spPr>
          <a:xfrm>
            <a:off x="8095488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82"/>
          <p:cNvSpPr txBox="1"/>
          <p:nvPr/>
        </p:nvSpPr>
        <p:spPr>
          <a:xfrm>
            <a:off x="8369808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g는 목이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울려요.</a:t>
            </a:r>
            <a:endParaRPr lang="ko-KR" sz="3000" dirty="0"/>
          </a:p>
        </p:txBody>
      </p:sp>
      <p:sp>
        <p:nvSpPr>
          <p:cNvPr id="10" name="S08-tile83"/>
          <p:cNvSpPr txBox="1"/>
          <p:nvPr/>
        </p:nvSpPr>
        <p:spPr>
          <a:xfrm>
            <a:off x="3561588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6700" dirty="0"/>
          </a:p>
        </p:txBody>
      </p:sp>
      <p:sp>
        <p:nvSpPr>
          <p:cNvPr id="11" name="S08-label84"/>
          <p:cNvSpPr txBox="1"/>
          <p:nvPr/>
        </p:nvSpPr>
        <p:spPr>
          <a:xfrm>
            <a:off x="3461004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2000" dirty="0"/>
          </a:p>
        </p:txBody>
      </p:sp>
      <p:sp>
        <p:nvSpPr>
          <p:cNvPr id="12" name="S08-tile85"/>
          <p:cNvSpPr txBox="1"/>
          <p:nvPr/>
        </p:nvSpPr>
        <p:spPr>
          <a:xfrm>
            <a:off x="5317236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6700" dirty="0"/>
          </a:p>
        </p:txBody>
      </p:sp>
      <p:sp>
        <p:nvSpPr>
          <p:cNvPr id="13" name="S08-label86"/>
          <p:cNvSpPr txBox="1"/>
          <p:nvPr/>
        </p:nvSpPr>
        <p:spPr>
          <a:xfrm>
            <a:off x="5216652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king</a:t>
            </a:r>
            <a:endParaRPr lang="ko-KR" sz="2000" dirty="0"/>
          </a:p>
        </p:txBody>
      </p:sp>
      <p:sp>
        <p:nvSpPr>
          <p:cNvPr id="14" name="S08-tile87"/>
          <p:cNvSpPr txBox="1"/>
          <p:nvPr/>
        </p:nvSpPr>
        <p:spPr>
          <a:xfrm>
            <a:off x="7072884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6700" dirty="0"/>
          </a:p>
        </p:txBody>
      </p:sp>
      <p:sp>
        <p:nvSpPr>
          <p:cNvPr id="15" name="S08-label88"/>
          <p:cNvSpPr txBox="1"/>
          <p:nvPr/>
        </p:nvSpPr>
        <p:spPr>
          <a:xfrm>
            <a:off x="6972300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gum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j, r, y의 소리</a:t>
            </a:r>
            <a:endParaRPr lang="ko-KR" sz="4000" dirty="0"/>
          </a:p>
        </p:txBody>
      </p:sp>
      <p:sp>
        <p:nvSpPr>
          <p:cNvPr id="3" name="S09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혀를 입천장 쪽으로 올려요.</a:t>
            </a:r>
            <a:endParaRPr lang="ko-KR" sz="3000" dirty="0"/>
          </a:p>
        </p:txBody>
      </p:sp>
      <p:sp>
        <p:nvSpPr>
          <p:cNvPr id="4" name="S09-card90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91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j: 혀를 입천장에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댔다가 떼요.</a:t>
            </a:r>
            <a:endParaRPr lang="ko-KR" sz="3000" dirty="0"/>
          </a:p>
        </p:txBody>
      </p:sp>
      <p:sp>
        <p:nvSpPr>
          <p:cNvPr id="6" name="S09-card92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93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r: 혀끝을 말고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닿지 않게 해요.</a:t>
            </a:r>
            <a:endParaRPr lang="ko-KR" sz="3000" dirty="0"/>
          </a:p>
        </p:txBody>
      </p:sp>
      <p:sp>
        <p:nvSpPr>
          <p:cNvPr id="8" name="S09-card94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95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y: 혀 가운데를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올려요.</a:t>
            </a:r>
            <a:endParaRPr lang="ko-KR" sz="3000" dirty="0"/>
          </a:p>
        </p:txBody>
      </p:sp>
      <p:sp>
        <p:nvSpPr>
          <p:cNvPr id="10" name="S09-tile96"/>
          <p:cNvSpPr txBox="1"/>
          <p:nvPr/>
        </p:nvSpPr>
        <p:spPr>
          <a:xfrm>
            <a:off x="3561588" y="23652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6700" dirty="0"/>
          </a:p>
        </p:txBody>
      </p:sp>
      <p:sp>
        <p:nvSpPr>
          <p:cNvPr id="11" name="S09-label97"/>
          <p:cNvSpPr txBox="1"/>
          <p:nvPr/>
        </p:nvSpPr>
        <p:spPr>
          <a:xfrm>
            <a:off x="3461004" y="3956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jam</a:t>
            </a:r>
            <a:endParaRPr lang="ko-KR" sz="2000" dirty="0"/>
          </a:p>
        </p:txBody>
      </p:sp>
      <p:sp>
        <p:nvSpPr>
          <p:cNvPr id="12" name="S09-tile98"/>
          <p:cNvSpPr txBox="1"/>
          <p:nvPr/>
        </p:nvSpPr>
        <p:spPr>
          <a:xfrm>
            <a:off x="5317236" y="23652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6700" dirty="0"/>
          </a:p>
        </p:txBody>
      </p:sp>
      <p:sp>
        <p:nvSpPr>
          <p:cNvPr id="13" name="S09-label99"/>
          <p:cNvSpPr txBox="1"/>
          <p:nvPr/>
        </p:nvSpPr>
        <p:spPr>
          <a:xfrm>
            <a:off x="5216652" y="3956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2000" dirty="0"/>
          </a:p>
        </p:txBody>
      </p:sp>
      <p:sp>
        <p:nvSpPr>
          <p:cNvPr id="14" name="S09-tile100"/>
          <p:cNvSpPr txBox="1"/>
          <p:nvPr/>
        </p:nvSpPr>
        <p:spPr>
          <a:xfrm>
            <a:off x="7072884" y="23652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6700" dirty="0"/>
          </a:p>
        </p:txBody>
      </p:sp>
      <p:sp>
        <p:nvSpPr>
          <p:cNvPr id="15" name="S09-label101"/>
          <p:cNvSpPr txBox="1"/>
          <p:nvPr/>
        </p:nvSpPr>
        <p:spPr>
          <a:xfrm>
            <a:off x="6972300" y="3956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보고 소리 내요</a:t>
            </a:r>
            <a:endParaRPr lang="ko-KR" sz="4000" dirty="0"/>
          </a:p>
        </p:txBody>
      </p:sp>
      <p:sp>
        <p:nvSpPr>
          <p:cNvPr id="3" name="S10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짚는 글자의 열쇠 낱말과 소리를 말해요.</a:t>
            </a:r>
            <a:endParaRPr lang="ko-KR" sz="3000" dirty="0"/>
          </a:p>
        </p:txBody>
      </p:sp>
      <p:sp>
        <p:nvSpPr>
          <p:cNvPr id="4" name="S10-tile103"/>
          <p:cNvSpPr txBox="1"/>
          <p:nvPr/>
        </p:nvSpPr>
        <p:spPr>
          <a:xfrm>
            <a:off x="2720340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100" dirty="0"/>
          </a:p>
        </p:txBody>
      </p:sp>
      <p:sp>
        <p:nvSpPr>
          <p:cNvPr id="5" name="S10-tile104"/>
          <p:cNvSpPr txBox="1"/>
          <p:nvPr/>
        </p:nvSpPr>
        <p:spPr>
          <a:xfrm>
            <a:off x="4110228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100" dirty="0"/>
          </a:p>
        </p:txBody>
      </p:sp>
      <p:sp>
        <p:nvSpPr>
          <p:cNvPr id="6" name="S10-tile105"/>
          <p:cNvSpPr txBox="1"/>
          <p:nvPr/>
        </p:nvSpPr>
        <p:spPr>
          <a:xfrm>
            <a:off x="5500116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100" dirty="0"/>
          </a:p>
        </p:txBody>
      </p:sp>
      <p:sp>
        <p:nvSpPr>
          <p:cNvPr id="7" name="S10-tile106"/>
          <p:cNvSpPr txBox="1"/>
          <p:nvPr/>
        </p:nvSpPr>
        <p:spPr>
          <a:xfrm>
            <a:off x="6890004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100" dirty="0"/>
          </a:p>
        </p:txBody>
      </p:sp>
      <p:sp>
        <p:nvSpPr>
          <p:cNvPr id="8" name="S10-tile107"/>
          <p:cNvSpPr txBox="1"/>
          <p:nvPr/>
        </p:nvSpPr>
        <p:spPr>
          <a:xfrm>
            <a:off x="8279892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100" dirty="0"/>
          </a:p>
        </p:txBody>
      </p:sp>
      <p:sp>
        <p:nvSpPr>
          <p:cNvPr id="9" name="S10-tile108"/>
          <p:cNvSpPr txBox="1"/>
          <p:nvPr/>
        </p:nvSpPr>
        <p:spPr>
          <a:xfrm>
            <a:off x="2720340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100" dirty="0"/>
          </a:p>
        </p:txBody>
      </p:sp>
      <p:sp>
        <p:nvSpPr>
          <p:cNvPr id="10" name="S10-tile109"/>
          <p:cNvSpPr txBox="1"/>
          <p:nvPr/>
        </p:nvSpPr>
        <p:spPr>
          <a:xfrm>
            <a:off x="4110228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100" dirty="0"/>
          </a:p>
        </p:txBody>
      </p:sp>
      <p:sp>
        <p:nvSpPr>
          <p:cNvPr id="11" name="S10-tile110"/>
          <p:cNvSpPr txBox="1"/>
          <p:nvPr/>
        </p:nvSpPr>
        <p:spPr>
          <a:xfrm>
            <a:off x="5500116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100" dirty="0"/>
          </a:p>
        </p:txBody>
      </p:sp>
      <p:sp>
        <p:nvSpPr>
          <p:cNvPr id="12" name="S10-tile111"/>
          <p:cNvSpPr txBox="1"/>
          <p:nvPr/>
        </p:nvSpPr>
        <p:spPr>
          <a:xfrm>
            <a:off x="6890004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100" dirty="0"/>
          </a:p>
        </p:txBody>
      </p:sp>
      <p:sp>
        <p:nvSpPr>
          <p:cNvPr id="13" name="S10-tile112"/>
          <p:cNvSpPr txBox="1"/>
          <p:nvPr/>
        </p:nvSpPr>
        <p:spPr>
          <a:xfrm>
            <a:off x="8279892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fan일까요, pan일까요?</a:t>
            </a:r>
            <a:endParaRPr lang="ko-KR" sz="4000" dirty="0"/>
          </a:p>
        </p:txBody>
      </p:sp>
      <p:sp>
        <p:nvSpPr>
          <p:cNvPr id="3" name="S11-card11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1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fan을 말하려다 pan처럼 말했어요.</a:t>
            </a:r>
            <a:endParaRPr lang="ko-KR" sz="3000" dirty="0"/>
          </a:p>
        </p:txBody>
      </p:sp>
      <p:sp>
        <p:nvSpPr>
          <p:cNvPr id="5" name="S11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낱말은 무엇이 다른가요? 입 모양이 어떻게 다를까요?</a:t>
            </a:r>
            <a:endParaRPr lang="ko-KR" sz="3000" dirty="0"/>
          </a:p>
        </p:txBody>
      </p:sp>
      <p:sp>
        <p:nvSpPr>
          <p:cNvPr id="7" name="S11-chip11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 f</a:t>
            </a:r>
            <a:endParaRPr lang="ko-KR" sz="2400" dirty="0"/>
          </a:p>
        </p:txBody>
      </p:sp>
      <p:sp>
        <p:nvSpPr>
          <p:cNvPr id="8" name="S11-word118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</a:t>
            </a:r>
            <a:endParaRPr lang="ko-KR" sz="3400" dirty="0"/>
          </a:p>
        </p:txBody>
      </p:sp>
      <p:sp>
        <p:nvSpPr>
          <p:cNvPr id="9" name="S11-chip11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 p</a:t>
            </a:r>
            <a:endParaRPr lang="ko-KR" sz="2400" dirty="0"/>
          </a:p>
        </p:txBody>
      </p:sp>
      <p:sp>
        <p:nvSpPr>
          <p:cNvPr id="10" name="S11-word120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프라이팬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글자와 끝 글자 찾기</a:t>
            </a:r>
            <a:endParaRPr lang="ko-KR" sz="4000" dirty="0"/>
          </a:p>
        </p:txBody>
      </p:sp>
      <p:sp>
        <p:nvSpPr>
          <p:cNvPr id="3" name="S12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sun의 첫 글자와 끝 글자를 찾아봐요.</a:t>
            </a:r>
            <a:endParaRPr lang="ko-KR" sz="3000" dirty="0"/>
          </a:p>
        </p:txBody>
      </p:sp>
      <p:sp>
        <p:nvSpPr>
          <p:cNvPr id="4" name="S12-tile122"/>
          <p:cNvSpPr txBox="1"/>
          <p:nvPr/>
        </p:nvSpPr>
        <p:spPr>
          <a:xfrm>
            <a:off x="7022043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5" name="S12-label123"/>
          <p:cNvSpPr txBox="1"/>
          <p:nvPr/>
        </p:nvSpPr>
        <p:spPr>
          <a:xfrm>
            <a:off x="6921459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</a:t>
            </a:r>
            <a:endParaRPr lang="ko-KR" sz="2000" dirty="0"/>
          </a:p>
        </p:txBody>
      </p:sp>
      <p:sp>
        <p:nvSpPr>
          <p:cNvPr id="6" name="S12-tile124"/>
          <p:cNvSpPr txBox="1"/>
          <p:nvPr/>
        </p:nvSpPr>
        <p:spPr>
          <a:xfrm>
            <a:off x="8594811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7" name="S12-label125"/>
          <p:cNvSpPr txBox="1"/>
          <p:nvPr/>
        </p:nvSpPr>
        <p:spPr>
          <a:xfrm>
            <a:off x="8494227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000" dirty="0"/>
          </a:p>
        </p:txBody>
      </p:sp>
      <p:sp>
        <p:nvSpPr>
          <p:cNvPr id="8" name="S12-tile126"/>
          <p:cNvSpPr txBox="1"/>
          <p:nvPr/>
        </p:nvSpPr>
        <p:spPr>
          <a:xfrm>
            <a:off x="10167579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9" name="S12-label127"/>
          <p:cNvSpPr txBox="1"/>
          <p:nvPr/>
        </p:nvSpPr>
        <p:spPr>
          <a:xfrm>
            <a:off x="10066995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 글자</a:t>
            </a:r>
            <a:endParaRPr lang="ko-KR" sz="2000" dirty="0"/>
          </a:p>
        </p:txBody>
      </p:sp>
      <p:sp>
        <p:nvSpPr>
          <p:cNvPr id="10" name="S12-stepno128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12-text129"/>
          <p:cNvSpPr txBox="1"/>
          <p:nvPr/>
        </p:nvSpPr>
        <p:spPr>
          <a:xfrm>
            <a:off x="1325880" y="21991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듣고 따라 말해요.</a:t>
            </a:r>
            <a:endParaRPr lang="ko-KR" sz="3000" dirty="0"/>
          </a:p>
        </p:txBody>
      </p:sp>
      <p:sp>
        <p:nvSpPr>
          <p:cNvPr id="12" name="S12-stepno130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3" name="S12-text131"/>
          <p:cNvSpPr txBox="1"/>
          <p:nvPr/>
        </p:nvSpPr>
        <p:spPr>
          <a:xfrm>
            <a:off x="1325880" y="2912364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첫소리의 입 모양을 보고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글자를 찾아요.</a:t>
            </a:r>
            <a:endParaRPr lang="ko-KR" sz="3000" dirty="0"/>
          </a:p>
        </p:txBody>
      </p:sp>
      <p:sp>
        <p:nvSpPr>
          <p:cNvPr id="14" name="S12-stepno132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5" name="S12-text133"/>
          <p:cNvSpPr txBox="1"/>
          <p:nvPr/>
        </p:nvSpPr>
        <p:spPr>
          <a:xfrm>
            <a:off x="1325880" y="4006596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말하다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끝소리에서 멈춰요.</a:t>
            </a:r>
            <a:endParaRPr lang="ko-KR" sz="3000" dirty="0"/>
          </a:p>
        </p:txBody>
      </p:sp>
      <p:sp>
        <p:nvSpPr>
          <p:cNvPr id="16" name="S12-stepno134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7" name="S12-text135"/>
          <p:cNvSpPr txBox="1"/>
          <p:nvPr/>
        </p:nvSpPr>
        <p:spPr>
          <a:xfrm>
            <a:off x="1325880" y="510082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입 모양으로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 글자를 찾아요.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글자와 끝 글자 고르기</a:t>
            </a:r>
            <a:endParaRPr lang="ko-KR" sz="4000" dirty="0"/>
          </a:p>
        </p:txBody>
      </p:sp>
      <p:sp>
        <p:nvSpPr>
          <p:cNvPr id="3" name="S13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첫 글자, ③④는 끝 글자를 골라요.</a:t>
            </a:r>
            <a:endParaRPr lang="ko-KR" sz="3000" dirty="0"/>
          </a:p>
        </p:txBody>
      </p:sp>
      <p:sp>
        <p:nvSpPr>
          <p:cNvPr id="4" name="S13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입 모양을 보며 따라 말해요.</a:t>
            </a:r>
            <a:endParaRPr lang="ko-KR" sz="3000" dirty="0"/>
          </a:p>
        </p:txBody>
      </p:sp>
      <p:sp>
        <p:nvSpPr>
          <p:cNvPr id="6" name="S13-chip13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ile140"/>
          <p:cNvSpPr txBox="1"/>
          <p:nvPr/>
        </p:nvSpPr>
        <p:spPr>
          <a:xfrm>
            <a:off x="1369314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8" name="S13-tile141"/>
          <p:cNvSpPr txBox="1"/>
          <p:nvPr/>
        </p:nvSpPr>
        <p:spPr>
          <a:xfrm>
            <a:off x="2942082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9" name="S13-tile142"/>
          <p:cNvSpPr txBox="1"/>
          <p:nvPr/>
        </p:nvSpPr>
        <p:spPr>
          <a:xfrm>
            <a:off x="4514850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0" name="S13-chip14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3-tile144"/>
          <p:cNvSpPr txBox="1"/>
          <p:nvPr/>
        </p:nvSpPr>
        <p:spPr>
          <a:xfrm>
            <a:off x="7098030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2" name="S13-tile145"/>
          <p:cNvSpPr txBox="1"/>
          <p:nvPr/>
        </p:nvSpPr>
        <p:spPr>
          <a:xfrm>
            <a:off x="8670798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3" name="S13-tile146"/>
          <p:cNvSpPr txBox="1"/>
          <p:nvPr/>
        </p:nvSpPr>
        <p:spPr>
          <a:xfrm>
            <a:off x="10243566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14" name="S13-chip14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13-tile148"/>
          <p:cNvSpPr txBox="1"/>
          <p:nvPr/>
        </p:nvSpPr>
        <p:spPr>
          <a:xfrm>
            <a:off x="1369314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16" name="S13-tile149"/>
          <p:cNvSpPr txBox="1"/>
          <p:nvPr/>
        </p:nvSpPr>
        <p:spPr>
          <a:xfrm>
            <a:off x="2942082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17" name="S13-tile150"/>
          <p:cNvSpPr txBox="1"/>
          <p:nvPr/>
        </p:nvSpPr>
        <p:spPr>
          <a:xfrm>
            <a:off x="4514850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8" name="S13-chip15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9" name="S13-tile152"/>
          <p:cNvSpPr txBox="1"/>
          <p:nvPr/>
        </p:nvSpPr>
        <p:spPr>
          <a:xfrm>
            <a:off x="7098030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20" name="S13-tile153"/>
          <p:cNvSpPr txBox="1"/>
          <p:nvPr/>
        </p:nvSpPr>
        <p:spPr>
          <a:xfrm>
            <a:off x="8670798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21" name="S13-tile154"/>
          <p:cNvSpPr txBox="1"/>
          <p:nvPr/>
        </p:nvSpPr>
        <p:spPr>
          <a:xfrm>
            <a:off x="10243566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소리를 내고, ②③은 첫 글자, ④는 끝 글자를 골라요.</a:t>
            </a:r>
            <a:endParaRPr lang="ko-KR" sz="3000" dirty="0"/>
          </a:p>
        </p:txBody>
      </p:sp>
      <p:sp>
        <p:nvSpPr>
          <p:cNvPr id="4" name="S14-chip156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4-tile157"/>
          <p:cNvSpPr txBox="1"/>
          <p:nvPr/>
        </p:nvSpPr>
        <p:spPr>
          <a:xfrm>
            <a:off x="1497330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4000" dirty="0"/>
          </a:p>
        </p:txBody>
      </p:sp>
      <p:sp>
        <p:nvSpPr>
          <p:cNvPr id="6" name="S14-tile158"/>
          <p:cNvSpPr txBox="1"/>
          <p:nvPr/>
        </p:nvSpPr>
        <p:spPr>
          <a:xfrm>
            <a:off x="2612898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000" dirty="0"/>
          </a:p>
        </p:txBody>
      </p:sp>
      <p:sp>
        <p:nvSpPr>
          <p:cNvPr id="7" name="S14-tile159"/>
          <p:cNvSpPr txBox="1"/>
          <p:nvPr/>
        </p:nvSpPr>
        <p:spPr>
          <a:xfrm>
            <a:off x="3728466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8" name="S14-tile160"/>
          <p:cNvSpPr txBox="1"/>
          <p:nvPr/>
        </p:nvSpPr>
        <p:spPr>
          <a:xfrm>
            <a:off x="4844034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000" dirty="0"/>
          </a:p>
        </p:txBody>
      </p:sp>
      <p:sp>
        <p:nvSpPr>
          <p:cNvPr id="9" name="S14-chip161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4-tile162"/>
          <p:cNvSpPr txBox="1"/>
          <p:nvPr/>
        </p:nvSpPr>
        <p:spPr>
          <a:xfrm>
            <a:off x="7783830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11" name="S14-tile163"/>
          <p:cNvSpPr txBox="1"/>
          <p:nvPr/>
        </p:nvSpPr>
        <p:spPr>
          <a:xfrm>
            <a:off x="8899398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000" dirty="0"/>
          </a:p>
        </p:txBody>
      </p:sp>
      <p:sp>
        <p:nvSpPr>
          <p:cNvPr id="12" name="S14-tile164"/>
          <p:cNvSpPr txBox="1"/>
          <p:nvPr/>
        </p:nvSpPr>
        <p:spPr>
          <a:xfrm>
            <a:off x="10014966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4000" dirty="0"/>
          </a:p>
        </p:txBody>
      </p:sp>
      <p:sp>
        <p:nvSpPr>
          <p:cNvPr id="13" name="S14-chip165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4" name="S14-tile166"/>
          <p:cNvSpPr txBox="1"/>
          <p:nvPr/>
        </p:nvSpPr>
        <p:spPr>
          <a:xfrm>
            <a:off x="2055114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15" name="S14-tile167"/>
          <p:cNvSpPr txBox="1"/>
          <p:nvPr/>
        </p:nvSpPr>
        <p:spPr>
          <a:xfrm>
            <a:off x="3170682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4000" dirty="0"/>
          </a:p>
        </p:txBody>
      </p:sp>
      <p:sp>
        <p:nvSpPr>
          <p:cNvPr id="16" name="S14-tile168"/>
          <p:cNvSpPr txBox="1"/>
          <p:nvPr/>
        </p:nvSpPr>
        <p:spPr>
          <a:xfrm>
            <a:off x="4286250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17" name="S14-chip169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4-tile170"/>
          <p:cNvSpPr txBox="1"/>
          <p:nvPr/>
        </p:nvSpPr>
        <p:spPr>
          <a:xfrm>
            <a:off x="7783830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000" dirty="0"/>
          </a:p>
        </p:txBody>
      </p:sp>
      <p:sp>
        <p:nvSpPr>
          <p:cNvPr id="19" name="S14-tile171"/>
          <p:cNvSpPr txBox="1"/>
          <p:nvPr/>
        </p:nvSpPr>
        <p:spPr>
          <a:xfrm>
            <a:off x="8899398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000" dirty="0"/>
          </a:p>
        </p:txBody>
      </p:sp>
      <p:sp>
        <p:nvSpPr>
          <p:cNvPr id="20" name="S14-tile172"/>
          <p:cNvSpPr txBox="1"/>
          <p:nvPr/>
        </p:nvSpPr>
        <p:spPr>
          <a:xfrm>
            <a:off x="10014966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5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보면 열쇠 낱말을, 낱말을 들으면 입 모양을 떠올려요.</a:t>
            </a:r>
            <a:endParaRPr lang="ko-KR" sz="3000" dirty="0"/>
          </a:p>
        </p:txBody>
      </p:sp>
      <p:sp>
        <p:nvSpPr>
          <p:cNvPr id="5" name="S15-chip1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5-text17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s, f, l, j</a:t>
            </a:r>
            <a:endParaRPr lang="ko-KR" sz="3000" dirty="0"/>
          </a:p>
        </p:txBody>
      </p:sp>
      <p:sp>
        <p:nvSpPr>
          <p:cNvPr id="7" name="S15-text17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 fish lion jam</a:t>
            </a:r>
            <a:endParaRPr lang="ko-KR" sz="2400" dirty="0"/>
          </a:p>
        </p:txBody>
      </p:sp>
      <p:sp>
        <p:nvSpPr>
          <p:cNvPr id="8" name="S15-text17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  ③ v</a:t>
            </a:r>
            <a:endParaRPr lang="ko-KR" sz="3000" dirty="0"/>
          </a:p>
        </p:txBody>
      </p:sp>
      <p:sp>
        <p:nvSpPr>
          <p:cNvPr id="9" name="S15-text17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rabbit, vest</a:t>
            </a:r>
            <a:endParaRPr lang="ko-KR" sz="2400" dirty="0"/>
          </a:p>
        </p:txBody>
      </p:sp>
      <p:sp>
        <p:nvSpPr>
          <p:cNvPr id="10" name="S15-text18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n</a:t>
            </a:r>
            <a:endParaRPr lang="ko-KR" sz="3000" dirty="0"/>
          </a:p>
        </p:txBody>
      </p:sp>
      <p:sp>
        <p:nvSpPr>
          <p:cNvPr id="11" name="S15-text18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</a:t>
            </a:r>
            <a:endParaRPr lang="ko-KR" sz="2400" dirty="0"/>
          </a:p>
        </p:txBody>
      </p:sp>
      <p:sp>
        <p:nvSpPr>
          <p:cNvPr id="12" name="S15-chip1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5-text18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b</a:t>
            </a:r>
            <a:endParaRPr lang="ko-KR" sz="3000" dirty="0"/>
          </a:p>
        </p:txBody>
      </p:sp>
      <p:sp>
        <p:nvSpPr>
          <p:cNvPr id="14" name="S15-text18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vest는 윗니가 입술에</a:t>
            </a:r>
            <a:endParaRPr lang="ko-KR" sz="2400" dirty="0"/>
          </a:p>
        </p:txBody>
      </p:sp>
      <p:sp>
        <p:nvSpPr>
          <p:cNvPr id="15" name="S15-text18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m</a:t>
            </a:r>
            <a:endParaRPr lang="ko-KR" sz="3000" dirty="0"/>
          </a:p>
        </p:txBody>
      </p:sp>
      <p:sp>
        <p:nvSpPr>
          <p:cNvPr id="16" name="S15-text18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man의 첫소리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글자와 끝 글자는?</a:t>
            </a:r>
            <a:endParaRPr lang="ko-KR" sz="4000" dirty="0"/>
          </a:p>
        </p:txBody>
      </p:sp>
      <p:sp>
        <p:nvSpPr>
          <p:cNvPr id="3" name="S16-card18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18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낱말은 어느 것일까요? 어떻게 알았나요?</a:t>
            </a:r>
            <a:endParaRPr lang="ko-KR" sz="3000" dirty="0"/>
          </a:p>
        </p:txBody>
      </p:sp>
      <p:sp>
        <p:nvSpPr>
          <p:cNvPr id="5" name="S16-chip189"/>
          <p:cNvSpPr txBox="1"/>
          <p:nvPr/>
        </p:nvSpPr>
        <p:spPr>
          <a:xfrm>
            <a:off x="548640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6-tile190"/>
          <p:cNvSpPr txBox="1"/>
          <p:nvPr/>
        </p:nvSpPr>
        <p:spPr>
          <a:xfrm>
            <a:off x="2055114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7" name="S16-tile191"/>
          <p:cNvSpPr txBox="1"/>
          <p:nvPr/>
        </p:nvSpPr>
        <p:spPr>
          <a:xfrm>
            <a:off x="3170682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8" name="S16-tile192"/>
          <p:cNvSpPr txBox="1"/>
          <p:nvPr/>
        </p:nvSpPr>
        <p:spPr>
          <a:xfrm>
            <a:off x="4286250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9" name="S16-chip193"/>
          <p:cNvSpPr txBox="1"/>
          <p:nvPr/>
        </p:nvSpPr>
        <p:spPr>
          <a:xfrm>
            <a:off x="6277356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tile194"/>
          <p:cNvSpPr txBox="1"/>
          <p:nvPr/>
        </p:nvSpPr>
        <p:spPr>
          <a:xfrm>
            <a:off x="7783830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11" name="S16-tile195"/>
          <p:cNvSpPr txBox="1"/>
          <p:nvPr/>
        </p:nvSpPr>
        <p:spPr>
          <a:xfrm>
            <a:off x="8899398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2" name="S16-tile196"/>
          <p:cNvSpPr txBox="1"/>
          <p:nvPr/>
        </p:nvSpPr>
        <p:spPr>
          <a:xfrm>
            <a:off x="10014966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13" name="S16-chip197"/>
          <p:cNvSpPr txBox="1"/>
          <p:nvPr/>
        </p:nvSpPr>
        <p:spPr>
          <a:xfrm>
            <a:off x="548640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4" name="S16-tile198"/>
          <p:cNvSpPr txBox="1"/>
          <p:nvPr/>
        </p:nvSpPr>
        <p:spPr>
          <a:xfrm>
            <a:off x="2055114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15" name="S16-tile199"/>
          <p:cNvSpPr txBox="1"/>
          <p:nvPr/>
        </p:nvSpPr>
        <p:spPr>
          <a:xfrm>
            <a:off x="3170682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6" name="S16-tile200"/>
          <p:cNvSpPr txBox="1"/>
          <p:nvPr/>
        </p:nvSpPr>
        <p:spPr>
          <a:xfrm>
            <a:off x="4286250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17" name="S16-chip201"/>
          <p:cNvSpPr txBox="1"/>
          <p:nvPr/>
        </p:nvSpPr>
        <p:spPr>
          <a:xfrm>
            <a:off x="6277356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8" name="S16-tile202"/>
          <p:cNvSpPr txBox="1"/>
          <p:nvPr/>
        </p:nvSpPr>
        <p:spPr>
          <a:xfrm>
            <a:off x="7783830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19" name="S16-tile203"/>
          <p:cNvSpPr txBox="1"/>
          <p:nvPr/>
        </p:nvSpPr>
        <p:spPr>
          <a:xfrm>
            <a:off x="8899398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20" name="S16-tile204"/>
          <p:cNvSpPr txBox="1"/>
          <p:nvPr/>
        </p:nvSpPr>
        <p:spPr>
          <a:xfrm>
            <a:off x="10014966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20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20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 낱말의 첫소리가 그 글자의 소리예요.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모양을 떠올려 첫 글자와 끝 글자를 찾아요.</a:t>
            </a:r>
            <a:endParaRPr lang="ko-KR" sz="3000" dirty="0"/>
          </a:p>
        </p:txBody>
      </p:sp>
      <p:sp>
        <p:nvSpPr>
          <p:cNvPr id="5" name="S17-chip20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열쇠 낱말 떠올리기</a:t>
            </a:r>
            <a:endParaRPr lang="ko-KR" sz="2400" dirty="0"/>
          </a:p>
        </p:txBody>
      </p:sp>
      <p:sp>
        <p:nvSpPr>
          <p:cNvPr id="6" name="S17-chip20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글자 이름으로 소리 내기</a:t>
            </a:r>
            <a:endParaRPr lang="ko-KR" sz="2400" dirty="0"/>
          </a:p>
        </p:txBody>
      </p:sp>
      <p:sp>
        <p:nvSpPr>
          <p:cNvPr id="7" name="S17-text20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21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f, l, r, z의 소리는?</a:t>
            </a:r>
            <a:endParaRPr lang="ko-KR" sz="2400" dirty="0"/>
          </a:p>
        </p:txBody>
      </p:sp>
      <p:sp>
        <p:nvSpPr>
          <p:cNvPr id="9" name="S17-text21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van의 첫 글자는?</a:t>
            </a:r>
            <a:endParaRPr lang="ko-KR" sz="2400" dirty="0"/>
          </a:p>
        </p:txBody>
      </p:sp>
      <p:sp>
        <p:nvSpPr>
          <p:cNvPr id="10" name="S17-text21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cup의 끝 글자는?</a:t>
            </a:r>
            <a:endParaRPr lang="ko-KR" sz="2400" dirty="0"/>
          </a:p>
        </p:txBody>
      </p:sp>
      <p:sp>
        <p:nvSpPr>
          <p:cNvPr id="11" name="S17-text21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인사하기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소문자와 첫소리</a:t>
            </a:r>
            <a:endParaRPr lang="ko-KR" sz="4000" dirty="0"/>
          </a:p>
        </p:txBody>
      </p:sp>
      <p:sp>
        <p:nvSpPr>
          <p:cNvPr id="3" name="S18-card2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8-cardtext2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맨 처음 소리를 듣고 첫 글자를 찾아요.</a:t>
            </a:r>
            <a:endParaRPr lang="ko-KR" sz="3000" dirty="0"/>
          </a:p>
        </p:txBody>
      </p:sp>
      <p:sp>
        <p:nvSpPr>
          <p:cNvPr id="5" name="S18-word216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400" dirty="0"/>
          </a:p>
        </p:txBody>
      </p:sp>
      <p:sp>
        <p:nvSpPr>
          <p:cNvPr id="6" name="S18-word217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7" name="S18-word218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8" name="S18-word219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9" name="S18-word220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egg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달걀</a:t>
            </a:r>
            <a:endParaRPr lang="ko-KR" sz="3400" dirty="0"/>
          </a:p>
        </p:txBody>
      </p:sp>
      <p:sp>
        <p:nvSpPr>
          <p:cNvPr id="10" name="S18-word221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자음 글자의 소리</dc:title>
  <dc:subject>KR22-G03-ENG-CONSOUND-L01</dc:subject>
  <dc:creator>education-ppt</dc:creator>
  <cp:lastModifiedBy>education-ppt</cp:lastModifiedBy>
  <cp:revision>1</cp:revision>
  <dcterms:created xsi:type="dcterms:W3CDTF">2026-10-26T08:55:32Z</dcterms:created>
  <dcterms:modified xsi:type="dcterms:W3CDTF">2026-10-26T08:55:32Z</dcterms:modified>
</cp:coreProperties>
</file>