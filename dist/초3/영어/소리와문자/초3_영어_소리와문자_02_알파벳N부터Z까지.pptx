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53cf1cc-6134-5e99-538f-9da17787e2b9}">
          <p14:sldIdLst>
            <p14:sldId id="256"/>
            <p14:sldId id="257"/>
          </p14:sldIdLst>
        </p14:section>
        <p14:section name="개념" id="{509a7a6e-96a3-8241-26c3-4428cc5bf159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연습" id="{29af8d8e-acec-d030-26e0-0e219104d0c6}">
          <p14:sldIdLst>
            <p14:sldId id="265"/>
            <p14:sldId id="266"/>
            <p14:sldId id="267"/>
          </p14:sldIdLst>
        </p14:section>
        <p14:section name="확인" id="{d67ec329-b3e2-6da0-1df1-6e0f60243497}">
          <p14:sldIdLst>
            <p14:sldId id="268"/>
            <p14:sldId id="269"/>
            <p14:sldId id="270"/>
          </p14:sldIdLst>
        </p14:section>
        <p14:section name="정리" id="{d8a4e217-5f31-27a7-7752-6240007f7a28}">
          <p14:sldIdLst>
            <p14:sldId id="271"/>
          </p14:sldIdLst>
        </p14:section>
        <p14:section name="보충" id="{23b55c64-6454-9bb0-904f-bb09576607b2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지난 시간에 배운 A부터 M까지를 떠올리고, 오늘 배울 나머지 글자에 관심을 갖게 합니다.
시간: 약 2분
이렇게 말해 보세요
- “지난 시간에 A부터 M까지 13글자를 배웠지? 알파벳은 모두 26글자야. 오늘은 나머지 13글자, N부터 Z까지 배울 거야.”
- “오른쪽 글자 중에 이름을 아는 글자가 있어? 짚고 말해 볼래?”
예상 답
- “O요.” “몰라요.”
주의
- 수업 전에 교과서 디지털 자료나 사전 앱의 발음 듣기로 N부터 Z까지 글자 이름을 미리 들어 두세요. 수업 중에도 소리를 함께 듣고 따라 말하면 됩니다.
- 소리 자료 없이 진행하면 이름이 맞는지 확인하기 어렵습니다. 이때는 헷갈리는 글자를 기록해 두었다가 소리 자료로 나중에 확인합니다.
- 오늘 화면의 글자도 모두 대문자입니다. 소문자는 다음 차시에서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확인(A~M 이름과 차례)]
목적: 지난 차시(알파벳 A부터 M까지)의 글자 이름과 차례를 기억하는지 확인합니다. 오늘은 M 다음부터 이어 배우므로 꼭 필요합니다.
시간: 약 3분
이렇게 말해 보세요
- “지난 시간에 배운 글자야. ①의 글자 이름을 하나씩 말해 줄래?”
- “②는 K, L, 그다음 물음표 자리에 들어갈 글자는?”
정답
- ① B, E, G, J (소리 자료의 이름과 같게 말하면 맞음)
- ② M
막히면
- 글자 카드 A~M을 차례대로 늘어놓고 부모가 짚으며 함께 말한 뒤 다시 묻습니다.
- 4글자 중 2글자 이상 이름을 말하지 못하거나 M을 찾지 못하면 S17(보충)을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N과 O의 이름과 모양]
목적: N과 O의 이름을 익히고, O를 한글 ㅇ과 구별해 영어 이름으로 부릅니다(M2).
시간: 약 2분
이렇게 말해 보세요
- “M 다음 글자는 N이야. 소리를 같이 듣고 따라 세 번 말해 보자. N, N, N.”
- “이 글자는 O. O, O, O.”
- “N은 곧은 선만 있지? O는 동그라미야. 한글 ㅇ이랑 닮았지만 영어 글자니까 영어 이름 O로 불러.”
- “엄마(아빠)가 짚는 글자의 이름을 말해 줘.” (N과 O를 번갈아 여러 번 짚습니다.)
예상 답
- “N.” “O.” “O는 ㅇ이랑 닮았어요.”
막히면
- 이름이 잘 안 들리면 교과서 디지털 자료나 사전 앱의 발음 듣기를 한 번 더 들려주고 따라 말하게 합니다.
- M 카드 옆에 N 카드를 놓고 “M 다음은 N”이라고 함께 말합니다.
주의
- 새 글자 카드는 지난 시간 카드(A~M) 뒤에 차례대로 이어 놓아 둡니다. S09와 S12에서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P와 Q의 이름과 모양]
목적: P와 Q의 이름을 익히고, Q를 O와 구별합니다(M1).
시간: 약 2분
이렇게 말해 보세요
- “이 글자는 P야. 따라 해 봐. P, P, P.”
- “이 글자는 Q. Q, Q, Q.”
- “P는 곧게 내려온 선 위쪽에 볼록한 굽은 선이 하나 있어. Q는 무슨 글자랑 닮았어? 맞아, O. 그런데 Q에는 아래에 짧은 꼬리가 있어.”
예상 답
- “P.” “Q.” “Q는 O에 꼬리가 있어요.”
막히면
- O 카드와 Q 카드를 나란히 놓고 Q의 꼬리만 손가락으로 짚게 합니다.
주의
- P는 지난 시간의 B와도 닮았습니다. B는 볼록한 곳이 2개, P는 위쪽에 1개입니다.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R과 S의 이름과 모양]
목적: R과 S의 이름을 익히고, R을 P와 구별합니다(M1).
시간: 약 2분
이렇게 말해 보세요
- “이 글자는 R이야. 따라 해 봐. R, R, R.”
- “이 글자는 S. S, S, S.”
- “R은 P랑 닮았는데 비스듬한 다리가 하나 더 있어. S는 뱀처럼 구불구불한 굽은 선 하나야.”
예상 답
- “R.” “S.” “R은 P에 다리가 있어요.”
막히면
- P 카드와 R 카드를 나란히 놓고 R의 다리만 손가락으로 짚게 합니다.
- S를 공중에 크게 쓰며 “구불구불”이라고 함께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T와 U의 이름과 모양]
목적: T와 U의 이름을 익히고, U의 둥근 아래 모양을 살핍니다.
시간: 약 2분
이렇게 말해 보세요
- “이 글자는 T야. 따라 해 봐. T, T, T.”
- “이 글자는 U. U, U, U.”
- “T는 위에 가로선, 가운데에 세로선. 곧은 선 2개야. U는 내려가다가 아래에서 둥글게 돌아 올라와.”
예상 답
- “T.” “U.” “U는 아래가 둥글어요.”
막히면
- U를 공중에 크게 쓰며 “내려가서 둥글게, 올라와”라고 함께 말합니다.
주의
- U의 둥근 아래 모양은 다음 장의 V와 비교합니다. S11에서 다시 봅니다(M1).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V와 W의 이름과 모양]
목적: V와 W의 이름을 익히고, V를 U와 구별합니다(M1).
시간: 약 2분
이렇게 말해 보세요
- “이 글자는 V야. 따라 해 봐. V, V, V.”
- “이 글자는 W. 이름이 조금 길어. 소리를 잘 듣고 따라 해 봐. W, W, W.”
- “V는 곧은 선 2개가 아래에서 뾰족하게 만나. U는 아래가 둥글었지? W는 V가 두 개 붙은 모양이야.”
예상 답
- “V.” “W.” “V는 뾰족하고 U는 둥글어요.”
막히면
- W의 이름은 다른 글자보다 길어서 어려워하기 쉽습니다. 소리 자료를 여러 번 들으며 천천히 따라 말하게 합니다.
- 종이에 V를 두 번 이어 써서 W가 되는 것을 보여 줍니다.
주의
- W를 뒤집으면 지난 시간의 M과 닮았습니다. 아이가 헷갈리면 M과 W 카드를 나란히 놓고 뾰족한 곳이 위인지 아래인지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X와 Y의 이름과 모양]
목적: X와 Y의 이름을 익히고 곧은 선으로 된 모양을 살핍니다.
시간: 약 2분
이렇게 말해 보세요
- “이 글자는 X야. 따라 해 봐. X, X, X.”
- “이 글자는 Y. Y, Y, Y.”
- “X는 곧은 선 2개가 가운데에서 엇갈려. 가위표 같지? Y는 작은 V 아래에 곧은 선이 있어.”
예상 답
- “X.” “Y.” “X는 가위표 같아요.”
막히면
- 두 팔을 들어 V를 만들고 다리를 모아 Y 모양을 몸으로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Z와 A부터 Z까지의 차례]
목적: 마지막 글자 Z를 익히고, 지난 시간 글자와 이어 A부터 Z까지 차례대로 말합니다.
시간: 약 3분
이렇게 말해 보세요
- “색이 칠해진 마지막 글자는 Z야. 따라 해 봐. Z, Z, Z. Z는 곧은 선 3개야.”
- “윗줄은 지난 시간에 배운 글자, 아랫줄은 오늘 배운 글자야. 아랫줄 N부터 Z까지 차례대로 말해 보자. 엄마(아빠)가 한 글자씩 짚을게.”
- “이제 A부터 Z까지 모두 말해 볼까? 교과서 디지털 자료에 있는 알파벳 노래를 들으면서 같이 불러 보자.”
예상 답
- “N, O, P, Q, R, S, T, U, V, W, X, Y, Z.”
막히면
- N부터 T까지, U부터 Z까지 둘로 나누어 연습한 뒤 이어 말합니다.
- 글자 카드 N~Z를 섞어 놓고 아이가 M 카드 뒤에 차례대로 줄 세우게 합니다.
주의
- Z의 이름은 미국식(zee)과 영국식(zed)이 다르게 들립니다. 아이 교과서의 소리를 따르세요. 또 Z의 이름을 G의 이름과 비슷하게 말하기 쉬우니, 소리 자료로 두 이름을 번갈아 들어 봅니다.
- 노래 뒤에는 꼭 글자를 한 장씩 짚으며 천천히 말하게 하세요(M3).
- 여기까지가 배우는 부분입니다. 아이가 지치면 여기서 나누어 다음 날 S10부터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이름 듣고 글자 짚기]
목적: 차례가 섞여 있어도 이름을 듣고 알맞은 글자를 찾습니다.
시간: 약 3분
이렇게 말해 보세요
- “엄마(아빠)가 글자 이름을 말하면 그 글자를 손가락으로 짚어 봐. V!”
- 부모가 말할 차례: V → Q → Z → R → U → N
- “이번에는 바꿔서 해 보자. 네가 하나를 짚고 이름을 말해 줘.”
정답
- V 둘째 줄 셋째, Q 첫째 줄 넷째, Z 둘째 줄 첫째
- R 둘째 줄 둘째, U 첫째 줄 일곱째, N 첫째 줄 둘째
막히면
- “굽은 선이 있는 글자야, 곧은 선만 있는 글자야?”라고 물어 찾을 범위를 좁혀 줍니다.
- 그래도 어려우면 S03~S09 중 그 글자가 나온 장을 다시 보여 줍니다.
주의
- 아이가 짚고 말할 때 이름이 틀리면 바로 고치지 말고 소리 자료로 함께 다시 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오개념 비교(U와 V)]
목적: 아래 모양(둥근지, 뾰족한지)을 보고 U와 V를 구별합니다(M1).
시간: 약 2분
이렇게 말해 보세요
- “친구가 V를 보고 U라고 했대. 맞게 말했을까?”
- “아래를 보자. 둥글어, 뾰족해? 그러면 이 글자의 이름은?”
- “O와 Q, P와 R도 닮았지? 무엇이 다른지 말해 볼래?”
정답
- 바르지 않습니다. 아래가 뾰족한 글자는 V이고, 아래가 둥근 글자가 U입니다.
- O와 Q: Q에는 짧은 꼬리가 있습니다. P와 R: R에는 다리가 있습니다.
막히면
- U와 V를 공중에 번갈아 쓰며 “둥글게”, “뾰족하게”라고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빠진 글자 찾기]
목적: 차례 속에서 빠진 글자를 찾으며 앞뒤 글자를 익힙니다. ①은 지난 시간 글자와 이어지는 자리입니다.
시간: 약 3분
이렇게 말해 보세요
- “①은 L, M, 그다음에 물음표가 있네. 물음표 자리에 들어갈 글자는?”
- “②는 Q, R, 물음표, T. 무엇이 빠졌을까?”
- “③은 V 다음이 비었어. 무엇일까?”
정답
- ① N ② S ③ W
막히면
- 글자 카드를 A부터 늘어놓고 손가락으로 짚으며 차례대로 말하다가 빠진 자리에서 멈추게 합니다.
- 처음부터 말하지 않고 “P, Q, R, 그다음은?”처럼 조금 앞에서부터 이어 말하게 합니다.
주의
- 노래로만 차례를 아는 아이는 처음부터 다시 부르며 찾습니다. 오늘은 그래도 괜찮지만, M이나 R처럼 중간 글자부터 이어 말하는 연습을 함께 합니다(M3).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혼자 이름 말하기, 빠진 글자, 굽은 선 찾기]
목적: 도움 없이 이름을 말하고, 빠진 글자와 굽은 선이 있는 글자를 찾는지 확인합니다.
시간: 약 4분
이렇게 말해 보세요
- “이번에는 혼자 해 볼래? ①과 ②의 글자 이름을 하나씩 말해 줘.”
- “③에서 물음표 자리에 들어갈 글자는?”
- “④에서 굽은 선이 있는 글자는 어느 것이야?”
정답
- ① Q, W, N ② Y, R, V (소리 자료의 이름과 같게 말하면 맞음)
- ③ P ④ S (T와 X는 곧은 선만 있습니다)
막히면
- 틀린 글자는 바로 고쳐 주지 말고 “곧은 선이야, 굽은 선이야?” 또는 “N부터 말해 볼까?”라고만 묻습니다.
- 도움을 받아 해결했다면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정답과 피드백]
목적: 아이의 답을 확인하고 흔한 실수와 비교합니다.
시간: 약 2분
이렇게 말해 보세요
- “네가 말한 것과 왼쪽 정답을 비교해 보자.”
- “오른쪽처럼 말하면 왜 틀렸을까?”
예상 답
- “V는 아래가 뾰족해서 U가 아니에요.” “T는 곧은 선만 있어요.”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마무리 확인]
목적: 닮은 글자 사이에서(지난 시간 글자 포함) 이름을 듣고 알맞은 글자를 고르는지 확인합니다.
시간: 약 2분
이렇게 말해 보세요
- “R은 가, 나, 다, 라 중에서 어느 것일까? 어떻게 알았어?”
- “이번에는 P!”
정답
- R → 나. P에 다리가 붙은 모양입니다.
- P → 가. 위쪽에 볼록한 곳이 1개이고 다리가 없습니다(다의 B는 볼록한 곳이 2개, 라의 D는 세로선 전체를 감싸는 굽은 선).
막히면
- S04와 S05를 다시 보여 주고 다른 곳 하나를 짚게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다음 학습과 복습]
목적: 핵심을 정리하고 다음 수업 첫 5분에 풀 복습을 알려 줍니다.
시간: 약 2분
이렇게 말해 보세요
- “이제 알파벳을 다 배웠어! A부터 Z까지 말해 볼래?”
- “닮은 글자는 어떻게 구별할 수 있어?”
예상 답
- “다른 곳을 찾아봐요.” “U는 둥글고 V는 뾰족해요.”
정답
- ① A B C D E F G H I J K L M N O P Q R S T U V W X Y Z ② U는 아래가 둥글고, V는 아래가 뾰족해요. ③ X
주의
- 글자 카드 26장은 모아 두세요. 다음 차시(소문자와 첫소리)에서 대문자와 소문자를 짝 지을 때 씁니다.
- 집에 있는 상자나 옷, 거리의 간판에서 대문자를 찾아 이름을 말해 보게 하면 좋은 복습이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[S17 · 선수 학습 보충(A~M 이름과 차례)]
목적: S02에서 A부터 M까지의 이름이나 차례가 흔들리면, 오늘 글자를 배우기 전에 먼저 다집니다.
시간: 약 5분
이렇게 말해 보세요
- “지난 시간에 배운 글자를 다시 들어 보자. 소리를 듣고 한 글자씩 따라 말해 봐.” (교과서 디지털 자료나 사전 앱의 소리를 함께 듣습니다.)
- “이번에는 카드를 섞을게. A부터 M까지 차례대로 놓아 볼래?”
- “엄마(아빠)가 짚는 글자의 이름은?”
정답
- 카드 차례: A B C D E F G H I J K L M
- 이름은 소리 자료와 같게 말하면 맞습니다.
막히면
- A부터 G까지 먼저 놓고 이름을 말한 뒤, H부터 M까지 이어 놓습니다.
주의
- 보충으로도 13글자 중 절반 넘게 이름을 말하지 못하면 앞 차시 ‘알파벳 A부터 M까지’(KR22-G03-ENG-ABC1-L01)를 먼저 다시 하고 이 차시를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소리와문자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영어 · 알파벳 N부터 Z까지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 N부터 Z까지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 다음에는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글자가 올까요?</a:t>
            </a:r>
            <a:endParaRPr lang="ko-KR" sz="3000" dirty="0"/>
          </a:p>
        </p:txBody>
      </p:sp>
      <p:sp>
        <p:nvSpPr>
          <p:cNvPr id="4" name="S01-tile1"/>
          <p:cNvSpPr txBox="1"/>
          <p:nvPr/>
        </p:nvSpPr>
        <p:spPr>
          <a:xfrm>
            <a:off x="8183880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5" name="S01-tile2"/>
          <p:cNvSpPr txBox="1"/>
          <p:nvPr/>
        </p:nvSpPr>
        <p:spPr>
          <a:xfrm>
            <a:off x="9747504" y="640080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6" name="S01-tile3"/>
          <p:cNvSpPr txBox="1"/>
          <p:nvPr/>
        </p:nvSpPr>
        <p:spPr>
          <a:xfrm>
            <a:off x="8183880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7" name="S01-tile4"/>
          <p:cNvSpPr txBox="1"/>
          <p:nvPr/>
        </p:nvSpPr>
        <p:spPr>
          <a:xfrm>
            <a:off x="9747504" y="2203704"/>
            <a:ext cx="1362456" cy="1362456"/>
          </a:xfrm>
          <a:prstGeom prst="roundRect">
            <a:avLst>
              <a:gd name="adj" fmla="val 9396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8" name="S01-card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9" name="S01-cardtext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N부터 Z까지 글자 이름을 차례대로 말해요.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곧은 선과 굽은 선을 보고 닮은 글자를 구별해요.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글자 떠올리기</a:t>
            </a:r>
            <a:endParaRPr lang="ko-KR" sz="4000" dirty="0"/>
          </a:p>
        </p:txBody>
      </p:sp>
      <p:sp>
        <p:nvSpPr>
          <p:cNvPr id="3" name="S02-text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이름을 말하고, ②는 ?에 들어갈 글자를 말해요.</a:t>
            </a:r>
            <a:endParaRPr lang="ko-KR" sz="3000" dirty="0"/>
          </a:p>
        </p:txBody>
      </p:sp>
      <p:sp>
        <p:nvSpPr>
          <p:cNvPr id="4" name="S02-chip8"/>
          <p:cNvSpPr txBox="1"/>
          <p:nvPr/>
        </p:nvSpPr>
        <p:spPr>
          <a:xfrm>
            <a:off x="548640" y="27340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ile9"/>
          <p:cNvSpPr txBox="1"/>
          <p:nvPr/>
        </p:nvSpPr>
        <p:spPr>
          <a:xfrm>
            <a:off x="1344168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300" dirty="0"/>
          </a:p>
        </p:txBody>
      </p:sp>
      <p:sp>
        <p:nvSpPr>
          <p:cNvPr id="6" name="S02-tile10"/>
          <p:cNvSpPr txBox="1"/>
          <p:nvPr/>
        </p:nvSpPr>
        <p:spPr>
          <a:xfrm>
            <a:off x="2766060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300" dirty="0"/>
          </a:p>
        </p:txBody>
      </p:sp>
      <p:sp>
        <p:nvSpPr>
          <p:cNvPr id="7" name="S02-tile11"/>
          <p:cNvSpPr txBox="1"/>
          <p:nvPr/>
        </p:nvSpPr>
        <p:spPr>
          <a:xfrm>
            <a:off x="4187952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300" dirty="0"/>
          </a:p>
        </p:txBody>
      </p:sp>
      <p:sp>
        <p:nvSpPr>
          <p:cNvPr id="8" name="S02-tile12"/>
          <p:cNvSpPr txBox="1"/>
          <p:nvPr/>
        </p:nvSpPr>
        <p:spPr>
          <a:xfrm>
            <a:off x="5609844" y="2407158"/>
            <a:ext cx="1220724" cy="122072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300" dirty="0"/>
          </a:p>
        </p:txBody>
      </p:sp>
      <p:sp>
        <p:nvSpPr>
          <p:cNvPr id="9" name="S02-chip13"/>
          <p:cNvSpPr txBox="1"/>
          <p:nvPr/>
        </p:nvSpPr>
        <p:spPr>
          <a:xfrm>
            <a:off x="548640" y="49286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02-tile14"/>
          <p:cNvSpPr txBox="1"/>
          <p:nvPr/>
        </p:nvSpPr>
        <p:spPr>
          <a:xfrm>
            <a:off x="1828800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900" dirty="0"/>
          </a:p>
        </p:txBody>
      </p:sp>
      <p:sp>
        <p:nvSpPr>
          <p:cNvPr id="11" name="S02-tile15"/>
          <p:cNvSpPr txBox="1"/>
          <p:nvPr/>
        </p:nvSpPr>
        <p:spPr>
          <a:xfrm>
            <a:off x="3401568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900" dirty="0"/>
          </a:p>
        </p:txBody>
      </p:sp>
      <p:sp>
        <p:nvSpPr>
          <p:cNvPr id="12" name="S02-tile16"/>
          <p:cNvSpPr txBox="1"/>
          <p:nvPr/>
        </p:nvSpPr>
        <p:spPr>
          <a:xfrm>
            <a:off x="4974336" y="452628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N과 O</a:t>
            </a:r>
            <a:endParaRPr lang="ko-KR" sz="4000" dirty="0"/>
          </a:p>
        </p:txBody>
      </p:sp>
      <p:sp>
        <p:nvSpPr>
          <p:cNvPr id="3" name="S03-card1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O는 한글 ㅇ과 닮았지만 영어 이름으로 불러요.</a:t>
            </a:r>
            <a:endParaRPr lang="ko-KR" sz="3000" dirty="0"/>
          </a:p>
        </p:txBody>
      </p:sp>
      <p:sp>
        <p:nvSpPr>
          <p:cNvPr id="5" name="S03-card19"/>
          <p:cNvSpPr/>
          <p:nvPr/>
        </p:nvSpPr>
        <p:spPr>
          <a:xfrm>
            <a:off x="548640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20"/>
          <p:cNvSpPr txBox="1"/>
          <p:nvPr/>
        </p:nvSpPr>
        <p:spPr>
          <a:xfrm>
            <a:off x="822960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N은 곧은 선만 있어요.</a:t>
            </a:r>
            <a:endParaRPr lang="ko-KR" sz="3000" dirty="0"/>
          </a:p>
        </p:txBody>
      </p:sp>
      <p:sp>
        <p:nvSpPr>
          <p:cNvPr id="7" name="S03-card21"/>
          <p:cNvSpPr/>
          <p:nvPr/>
        </p:nvSpPr>
        <p:spPr>
          <a:xfrm>
            <a:off x="6208776" y="425196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22"/>
          <p:cNvSpPr txBox="1"/>
          <p:nvPr/>
        </p:nvSpPr>
        <p:spPr>
          <a:xfrm>
            <a:off x="6483096" y="438912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O는 동그란 굽은 선이에요.</a:t>
            </a:r>
            <a:endParaRPr lang="ko-KR" sz="3000" dirty="0"/>
          </a:p>
        </p:txBody>
      </p:sp>
      <p:sp>
        <p:nvSpPr>
          <p:cNvPr id="9" name="S03-tile23"/>
          <p:cNvSpPr txBox="1"/>
          <p:nvPr/>
        </p:nvSpPr>
        <p:spPr>
          <a:xfrm>
            <a:off x="4165092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7900" dirty="0"/>
          </a:p>
        </p:txBody>
      </p:sp>
      <p:sp>
        <p:nvSpPr>
          <p:cNvPr id="10" name="S03-tile24"/>
          <p:cNvSpPr txBox="1"/>
          <p:nvPr/>
        </p:nvSpPr>
        <p:spPr>
          <a:xfrm>
            <a:off x="6195060" y="1760220"/>
            <a:ext cx="182880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7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7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P와 Q</a:t>
            </a:r>
            <a:endParaRPr lang="ko-KR" sz="4000" dirty="0"/>
          </a:p>
        </p:txBody>
      </p:sp>
      <p:sp>
        <p:nvSpPr>
          <p:cNvPr id="3" name="S04-card25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P는 곧은 선과 굽은 선이 있어요.</a:t>
            </a:r>
            <a:endParaRPr lang="ko-KR" sz="3000" dirty="0"/>
          </a:p>
        </p:txBody>
      </p:sp>
      <p:sp>
        <p:nvSpPr>
          <p:cNvPr id="5" name="S04-card27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Q는 O에 꼬리가 있어요.</a:t>
            </a:r>
            <a:endParaRPr lang="ko-KR" sz="3000" dirty="0"/>
          </a:p>
        </p:txBody>
      </p:sp>
      <p:sp>
        <p:nvSpPr>
          <p:cNvPr id="7" name="S04-tile29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8700" dirty="0"/>
          </a:p>
        </p:txBody>
      </p:sp>
      <p:sp>
        <p:nvSpPr>
          <p:cNvPr id="8" name="S04-tile30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R과 S</a:t>
            </a:r>
            <a:endParaRPr lang="ko-KR" sz="4000" dirty="0"/>
          </a:p>
        </p:txBody>
      </p:sp>
      <p:sp>
        <p:nvSpPr>
          <p:cNvPr id="3" name="S05-card31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2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R은 P에 다리가 붙어요.</a:t>
            </a:r>
            <a:endParaRPr lang="ko-KR" sz="3000" dirty="0"/>
          </a:p>
        </p:txBody>
      </p:sp>
      <p:sp>
        <p:nvSpPr>
          <p:cNvPr id="5" name="S05-card33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34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S는 굽은 선 하나예요.</a:t>
            </a:r>
            <a:endParaRPr lang="ko-KR" sz="3000" dirty="0"/>
          </a:p>
        </p:txBody>
      </p:sp>
      <p:sp>
        <p:nvSpPr>
          <p:cNvPr id="7" name="S05-tile35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8700" dirty="0"/>
          </a:p>
        </p:txBody>
      </p:sp>
      <p:sp>
        <p:nvSpPr>
          <p:cNvPr id="8" name="S05-tile36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T와 U</a:t>
            </a:r>
            <a:endParaRPr lang="ko-KR" sz="4000" dirty="0"/>
          </a:p>
        </p:txBody>
      </p:sp>
      <p:sp>
        <p:nvSpPr>
          <p:cNvPr id="3" name="S06-card37"/>
          <p:cNvSpPr/>
          <p:nvPr/>
        </p:nvSpPr>
        <p:spPr>
          <a:xfrm>
            <a:off x="548640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38"/>
          <p:cNvSpPr txBox="1"/>
          <p:nvPr/>
        </p:nvSpPr>
        <p:spPr>
          <a:xfrm>
            <a:off x="822960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T는 곧은 선 2개예요.</a:t>
            </a:r>
            <a:endParaRPr lang="ko-KR" sz="3000" dirty="0"/>
          </a:p>
        </p:txBody>
      </p:sp>
      <p:sp>
        <p:nvSpPr>
          <p:cNvPr id="5" name="S06-card39"/>
          <p:cNvSpPr/>
          <p:nvPr/>
        </p:nvSpPr>
        <p:spPr>
          <a:xfrm>
            <a:off x="6208776" y="5349240"/>
            <a:ext cx="543153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6-cardtext40"/>
          <p:cNvSpPr txBox="1"/>
          <p:nvPr/>
        </p:nvSpPr>
        <p:spPr>
          <a:xfrm>
            <a:off x="6483096" y="5486400"/>
            <a:ext cx="48828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U는 아래가 둥글어요.</a:t>
            </a:r>
            <a:endParaRPr lang="ko-KR" sz="3000" dirty="0"/>
          </a:p>
        </p:txBody>
      </p:sp>
      <p:sp>
        <p:nvSpPr>
          <p:cNvPr id="7" name="S06-tile41"/>
          <p:cNvSpPr txBox="1"/>
          <p:nvPr/>
        </p:nvSpPr>
        <p:spPr>
          <a:xfrm>
            <a:off x="3982212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8700" dirty="0"/>
          </a:p>
        </p:txBody>
      </p:sp>
      <p:sp>
        <p:nvSpPr>
          <p:cNvPr id="8" name="S06-tile42"/>
          <p:cNvSpPr txBox="1"/>
          <p:nvPr/>
        </p:nvSpPr>
        <p:spPr>
          <a:xfrm>
            <a:off x="6195060" y="2217420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V와 W</a:t>
            </a:r>
            <a:endParaRPr lang="ko-KR" sz="4000" dirty="0"/>
          </a:p>
        </p:txBody>
      </p:sp>
      <p:sp>
        <p:nvSpPr>
          <p:cNvPr id="3" name="S07-card43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4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V는 아래가 뾰족해요.</a:t>
            </a:r>
            <a:endParaRPr lang="ko-KR" sz="3000" dirty="0"/>
          </a:p>
        </p:txBody>
      </p:sp>
      <p:sp>
        <p:nvSpPr>
          <p:cNvPr id="5" name="S07-card45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7-cardtext46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W는 V 2개가 붙은 모양이에요.</a:t>
            </a:r>
            <a:endParaRPr lang="ko-KR" sz="3000" dirty="0"/>
          </a:p>
        </p:txBody>
      </p:sp>
      <p:sp>
        <p:nvSpPr>
          <p:cNvPr id="7" name="S07-tile47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8700" dirty="0"/>
          </a:p>
        </p:txBody>
      </p:sp>
      <p:sp>
        <p:nvSpPr>
          <p:cNvPr id="8" name="S07-tile48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X와 Y</a:t>
            </a:r>
            <a:endParaRPr lang="ko-KR" sz="4000" dirty="0"/>
          </a:p>
        </p:txBody>
      </p:sp>
      <p:sp>
        <p:nvSpPr>
          <p:cNvPr id="3" name="S08-card49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50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X는 곧은 선 2개가 엇갈려요.</a:t>
            </a:r>
            <a:endParaRPr lang="ko-KR" sz="3000" dirty="0"/>
          </a:p>
        </p:txBody>
      </p:sp>
      <p:sp>
        <p:nvSpPr>
          <p:cNvPr id="5" name="S08-card51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52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Y는 V 아래에 곧은 선이 있어요.</a:t>
            </a:r>
            <a:endParaRPr lang="ko-KR" sz="3000" dirty="0"/>
          </a:p>
        </p:txBody>
      </p:sp>
      <p:sp>
        <p:nvSpPr>
          <p:cNvPr id="7" name="S08-tile53"/>
          <p:cNvSpPr txBox="1"/>
          <p:nvPr/>
        </p:nvSpPr>
        <p:spPr>
          <a:xfrm>
            <a:off x="3982212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8700" dirty="0"/>
          </a:p>
        </p:txBody>
      </p:sp>
      <p:sp>
        <p:nvSpPr>
          <p:cNvPr id="8" name="S08-tile54"/>
          <p:cNvSpPr txBox="1"/>
          <p:nvPr/>
        </p:nvSpPr>
        <p:spPr>
          <a:xfrm>
            <a:off x="6195060" y="2022348"/>
            <a:ext cx="2011680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87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8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Z까지 차례대로</a:t>
            </a:r>
            <a:endParaRPr lang="ko-KR" sz="4000" dirty="0"/>
          </a:p>
        </p:txBody>
      </p:sp>
      <p:sp>
        <p:nvSpPr>
          <p:cNvPr id="3" name="S09-text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Z를 배우고, A부터 Z까지 말해요.</a:t>
            </a:r>
            <a:endParaRPr lang="ko-KR" sz="3000" dirty="0"/>
          </a:p>
        </p:txBody>
      </p:sp>
      <p:sp>
        <p:nvSpPr>
          <p:cNvPr id="4" name="S09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알파벳은 A부터 Z까지 26글자예요.</a:t>
            </a:r>
            <a:endParaRPr lang="ko-KR" sz="3000" dirty="0"/>
          </a:p>
        </p:txBody>
      </p:sp>
      <p:sp>
        <p:nvSpPr>
          <p:cNvPr id="6" name="S09-tile58"/>
          <p:cNvSpPr txBox="1"/>
          <p:nvPr/>
        </p:nvSpPr>
        <p:spPr>
          <a:xfrm>
            <a:off x="5486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2900" dirty="0"/>
          </a:p>
        </p:txBody>
      </p:sp>
      <p:sp>
        <p:nvSpPr>
          <p:cNvPr id="7" name="S09-tile59"/>
          <p:cNvSpPr txBox="1"/>
          <p:nvPr/>
        </p:nvSpPr>
        <p:spPr>
          <a:xfrm>
            <a:off x="14173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2900" dirty="0"/>
          </a:p>
        </p:txBody>
      </p:sp>
      <p:sp>
        <p:nvSpPr>
          <p:cNvPr id="8" name="S09-tile60"/>
          <p:cNvSpPr txBox="1"/>
          <p:nvPr/>
        </p:nvSpPr>
        <p:spPr>
          <a:xfrm>
            <a:off x="22860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2900" dirty="0"/>
          </a:p>
        </p:txBody>
      </p:sp>
      <p:sp>
        <p:nvSpPr>
          <p:cNvPr id="9" name="S09-tile61"/>
          <p:cNvSpPr txBox="1"/>
          <p:nvPr/>
        </p:nvSpPr>
        <p:spPr>
          <a:xfrm>
            <a:off x="315468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2900" dirty="0"/>
          </a:p>
        </p:txBody>
      </p:sp>
      <p:sp>
        <p:nvSpPr>
          <p:cNvPr id="10" name="S09-tile62"/>
          <p:cNvSpPr txBox="1"/>
          <p:nvPr/>
        </p:nvSpPr>
        <p:spPr>
          <a:xfrm>
            <a:off x="402336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2900" dirty="0"/>
          </a:p>
        </p:txBody>
      </p:sp>
      <p:sp>
        <p:nvSpPr>
          <p:cNvPr id="11" name="S09-tile63"/>
          <p:cNvSpPr txBox="1"/>
          <p:nvPr/>
        </p:nvSpPr>
        <p:spPr>
          <a:xfrm>
            <a:off x="48920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2900" dirty="0"/>
          </a:p>
        </p:txBody>
      </p:sp>
      <p:sp>
        <p:nvSpPr>
          <p:cNvPr id="12" name="S09-tile64"/>
          <p:cNvSpPr txBox="1"/>
          <p:nvPr/>
        </p:nvSpPr>
        <p:spPr>
          <a:xfrm>
            <a:off x="57607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2900" dirty="0"/>
          </a:p>
        </p:txBody>
      </p:sp>
      <p:sp>
        <p:nvSpPr>
          <p:cNvPr id="13" name="S09-tile65"/>
          <p:cNvSpPr txBox="1"/>
          <p:nvPr/>
        </p:nvSpPr>
        <p:spPr>
          <a:xfrm>
            <a:off x="66294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2900" dirty="0"/>
          </a:p>
        </p:txBody>
      </p:sp>
      <p:sp>
        <p:nvSpPr>
          <p:cNvPr id="14" name="S09-tile66"/>
          <p:cNvSpPr txBox="1"/>
          <p:nvPr/>
        </p:nvSpPr>
        <p:spPr>
          <a:xfrm>
            <a:off x="749808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2900" dirty="0"/>
          </a:p>
        </p:txBody>
      </p:sp>
      <p:sp>
        <p:nvSpPr>
          <p:cNvPr id="15" name="S09-tile67"/>
          <p:cNvSpPr txBox="1"/>
          <p:nvPr/>
        </p:nvSpPr>
        <p:spPr>
          <a:xfrm>
            <a:off x="836676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2900" dirty="0"/>
          </a:p>
        </p:txBody>
      </p:sp>
      <p:sp>
        <p:nvSpPr>
          <p:cNvPr id="16" name="S09-tile68"/>
          <p:cNvSpPr txBox="1"/>
          <p:nvPr/>
        </p:nvSpPr>
        <p:spPr>
          <a:xfrm>
            <a:off x="923544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2900" dirty="0"/>
          </a:p>
        </p:txBody>
      </p:sp>
      <p:sp>
        <p:nvSpPr>
          <p:cNvPr id="17" name="S09-tile69"/>
          <p:cNvSpPr txBox="1"/>
          <p:nvPr/>
        </p:nvSpPr>
        <p:spPr>
          <a:xfrm>
            <a:off x="1010412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2900" dirty="0"/>
          </a:p>
        </p:txBody>
      </p:sp>
      <p:sp>
        <p:nvSpPr>
          <p:cNvPr id="18" name="S09-tile70"/>
          <p:cNvSpPr txBox="1"/>
          <p:nvPr/>
        </p:nvSpPr>
        <p:spPr>
          <a:xfrm>
            <a:off x="10972800" y="279806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2900" dirty="0"/>
          </a:p>
        </p:txBody>
      </p:sp>
      <p:sp>
        <p:nvSpPr>
          <p:cNvPr id="19" name="S09-tile71"/>
          <p:cNvSpPr txBox="1"/>
          <p:nvPr/>
        </p:nvSpPr>
        <p:spPr>
          <a:xfrm>
            <a:off x="5486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2900" dirty="0"/>
          </a:p>
        </p:txBody>
      </p:sp>
      <p:sp>
        <p:nvSpPr>
          <p:cNvPr id="20" name="S09-tile72"/>
          <p:cNvSpPr txBox="1"/>
          <p:nvPr/>
        </p:nvSpPr>
        <p:spPr>
          <a:xfrm>
            <a:off x="14173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2900" dirty="0"/>
          </a:p>
        </p:txBody>
      </p:sp>
      <p:sp>
        <p:nvSpPr>
          <p:cNvPr id="21" name="S09-tile73"/>
          <p:cNvSpPr txBox="1"/>
          <p:nvPr/>
        </p:nvSpPr>
        <p:spPr>
          <a:xfrm>
            <a:off x="22860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2900" dirty="0"/>
          </a:p>
        </p:txBody>
      </p:sp>
      <p:sp>
        <p:nvSpPr>
          <p:cNvPr id="22" name="S09-tile74"/>
          <p:cNvSpPr txBox="1"/>
          <p:nvPr/>
        </p:nvSpPr>
        <p:spPr>
          <a:xfrm>
            <a:off x="315468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2900" dirty="0"/>
          </a:p>
        </p:txBody>
      </p:sp>
      <p:sp>
        <p:nvSpPr>
          <p:cNvPr id="23" name="S09-tile75"/>
          <p:cNvSpPr txBox="1"/>
          <p:nvPr/>
        </p:nvSpPr>
        <p:spPr>
          <a:xfrm>
            <a:off x="402336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2900" dirty="0"/>
          </a:p>
        </p:txBody>
      </p:sp>
      <p:sp>
        <p:nvSpPr>
          <p:cNvPr id="24" name="S09-tile76"/>
          <p:cNvSpPr txBox="1"/>
          <p:nvPr/>
        </p:nvSpPr>
        <p:spPr>
          <a:xfrm>
            <a:off x="48920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2900" dirty="0"/>
          </a:p>
        </p:txBody>
      </p:sp>
      <p:sp>
        <p:nvSpPr>
          <p:cNvPr id="25" name="S09-tile77"/>
          <p:cNvSpPr txBox="1"/>
          <p:nvPr/>
        </p:nvSpPr>
        <p:spPr>
          <a:xfrm>
            <a:off x="57607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2900" dirty="0"/>
          </a:p>
        </p:txBody>
      </p:sp>
      <p:sp>
        <p:nvSpPr>
          <p:cNvPr id="26" name="S09-tile78"/>
          <p:cNvSpPr txBox="1"/>
          <p:nvPr/>
        </p:nvSpPr>
        <p:spPr>
          <a:xfrm>
            <a:off x="66294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2900" dirty="0"/>
          </a:p>
        </p:txBody>
      </p:sp>
      <p:sp>
        <p:nvSpPr>
          <p:cNvPr id="27" name="S09-tile79"/>
          <p:cNvSpPr txBox="1"/>
          <p:nvPr/>
        </p:nvSpPr>
        <p:spPr>
          <a:xfrm>
            <a:off x="749808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2900" dirty="0"/>
          </a:p>
        </p:txBody>
      </p:sp>
      <p:sp>
        <p:nvSpPr>
          <p:cNvPr id="28" name="S09-tile80"/>
          <p:cNvSpPr txBox="1"/>
          <p:nvPr/>
        </p:nvSpPr>
        <p:spPr>
          <a:xfrm>
            <a:off x="836676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2900" dirty="0"/>
          </a:p>
        </p:txBody>
      </p:sp>
      <p:sp>
        <p:nvSpPr>
          <p:cNvPr id="29" name="S09-tile81"/>
          <p:cNvSpPr txBox="1"/>
          <p:nvPr/>
        </p:nvSpPr>
        <p:spPr>
          <a:xfrm>
            <a:off x="923544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2900" dirty="0"/>
          </a:p>
        </p:txBody>
      </p:sp>
      <p:sp>
        <p:nvSpPr>
          <p:cNvPr id="30" name="S09-tile82"/>
          <p:cNvSpPr txBox="1"/>
          <p:nvPr/>
        </p:nvSpPr>
        <p:spPr>
          <a:xfrm>
            <a:off x="1010412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2900" dirty="0"/>
          </a:p>
        </p:txBody>
      </p:sp>
      <p:sp>
        <p:nvSpPr>
          <p:cNvPr id="31" name="S09-tile83"/>
          <p:cNvSpPr txBox="1"/>
          <p:nvPr/>
        </p:nvSpPr>
        <p:spPr>
          <a:xfrm>
            <a:off x="10972800" y="3666744"/>
            <a:ext cx="667512" cy="667512"/>
          </a:xfrm>
          <a:prstGeom prst="roundRect">
            <a:avLst>
              <a:gd name="adj" fmla="val 19178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2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듣고 짚어요</a:t>
            </a:r>
            <a:endParaRPr lang="ko-KR" sz="4000" dirty="0"/>
          </a:p>
        </p:txBody>
      </p:sp>
      <p:sp>
        <p:nvSpPr>
          <p:cNvPr id="3" name="S10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이름의 글자를 짚어요.</a:t>
            </a:r>
            <a:endParaRPr lang="ko-KR" sz="3000" dirty="0"/>
          </a:p>
        </p:txBody>
      </p:sp>
      <p:sp>
        <p:nvSpPr>
          <p:cNvPr id="4" name="S10-tile85"/>
          <p:cNvSpPr txBox="1"/>
          <p:nvPr/>
        </p:nvSpPr>
        <p:spPr>
          <a:xfrm>
            <a:off x="69037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5" name="S10-tile86"/>
          <p:cNvSpPr txBox="1"/>
          <p:nvPr/>
        </p:nvSpPr>
        <p:spPr>
          <a:xfrm>
            <a:off x="226314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6" name="S10-tile87"/>
          <p:cNvSpPr txBox="1"/>
          <p:nvPr/>
        </p:nvSpPr>
        <p:spPr>
          <a:xfrm>
            <a:off x="3835908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900" dirty="0"/>
          </a:p>
        </p:txBody>
      </p:sp>
      <p:sp>
        <p:nvSpPr>
          <p:cNvPr id="7" name="S10-tile88"/>
          <p:cNvSpPr txBox="1"/>
          <p:nvPr/>
        </p:nvSpPr>
        <p:spPr>
          <a:xfrm>
            <a:off x="5408676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8" name="S10-tile89"/>
          <p:cNvSpPr txBox="1"/>
          <p:nvPr/>
        </p:nvSpPr>
        <p:spPr>
          <a:xfrm>
            <a:off x="6981444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9" name="S10-tile90"/>
          <p:cNvSpPr txBox="1"/>
          <p:nvPr/>
        </p:nvSpPr>
        <p:spPr>
          <a:xfrm>
            <a:off x="8554212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5900" dirty="0"/>
          </a:p>
        </p:txBody>
      </p:sp>
      <p:sp>
        <p:nvSpPr>
          <p:cNvPr id="10" name="S10-tile91"/>
          <p:cNvSpPr txBox="1"/>
          <p:nvPr/>
        </p:nvSpPr>
        <p:spPr>
          <a:xfrm>
            <a:off x="10126980" y="2642616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11" name="S10-tile92"/>
          <p:cNvSpPr txBox="1"/>
          <p:nvPr/>
        </p:nvSpPr>
        <p:spPr>
          <a:xfrm>
            <a:off x="147675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Z</a:t>
            </a:r>
            <a:endParaRPr lang="ko-KR" sz="5900" dirty="0"/>
          </a:p>
        </p:txBody>
      </p:sp>
      <p:sp>
        <p:nvSpPr>
          <p:cNvPr id="12" name="S10-tile93"/>
          <p:cNvSpPr txBox="1"/>
          <p:nvPr/>
        </p:nvSpPr>
        <p:spPr>
          <a:xfrm>
            <a:off x="3049524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3" name="S10-tile94"/>
          <p:cNvSpPr txBox="1"/>
          <p:nvPr/>
        </p:nvSpPr>
        <p:spPr>
          <a:xfrm>
            <a:off x="4622292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14" name="S10-tile95"/>
          <p:cNvSpPr txBox="1"/>
          <p:nvPr/>
        </p:nvSpPr>
        <p:spPr>
          <a:xfrm>
            <a:off x="6195060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5" name="S10-tile96"/>
          <p:cNvSpPr txBox="1"/>
          <p:nvPr/>
        </p:nvSpPr>
        <p:spPr>
          <a:xfrm>
            <a:off x="7767828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900" dirty="0"/>
          </a:p>
        </p:txBody>
      </p:sp>
      <p:sp>
        <p:nvSpPr>
          <p:cNvPr id="16" name="S10-tile97"/>
          <p:cNvSpPr txBox="1"/>
          <p:nvPr/>
        </p:nvSpPr>
        <p:spPr>
          <a:xfrm>
            <a:off x="9340596" y="4215384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U일까요, V일까요?</a:t>
            </a:r>
            <a:endParaRPr lang="ko-KR" sz="4000" dirty="0"/>
          </a:p>
        </p:txBody>
      </p:sp>
      <p:sp>
        <p:nvSpPr>
          <p:cNvPr id="3" name="S11-card9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9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V를 보고 ‘U’라고 했어요.</a:t>
            </a:r>
            <a:endParaRPr lang="ko-KR" sz="3000" dirty="0"/>
          </a:p>
        </p:txBody>
      </p:sp>
      <p:sp>
        <p:nvSpPr>
          <p:cNvPr id="5" name="S11-card10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1-cardtext10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바르게 말했나요? 무엇을 보고 알았나요?</a:t>
            </a:r>
            <a:endParaRPr lang="ko-KR" sz="3000" dirty="0"/>
          </a:p>
        </p:txBody>
      </p:sp>
      <p:sp>
        <p:nvSpPr>
          <p:cNvPr id="7" name="S11-chip10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아래가 둥글어요</a:t>
            </a:r>
            <a:endParaRPr lang="ko-KR" sz="2400" dirty="0"/>
          </a:p>
        </p:txBody>
      </p:sp>
      <p:sp>
        <p:nvSpPr>
          <p:cNvPr id="8" name="S11-tile103"/>
          <p:cNvSpPr txBox="1"/>
          <p:nvPr/>
        </p:nvSpPr>
        <p:spPr>
          <a:xfrm>
            <a:off x="2544318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</a:t>
            </a:r>
            <a:endParaRPr lang="ko-KR" sz="5900" dirty="0"/>
          </a:p>
        </p:txBody>
      </p:sp>
      <p:sp>
        <p:nvSpPr>
          <p:cNvPr id="9" name="S11-chip10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아래가 뾰족해요</a:t>
            </a:r>
            <a:endParaRPr lang="ko-KR" sz="2400" dirty="0"/>
          </a:p>
        </p:txBody>
      </p:sp>
      <p:sp>
        <p:nvSpPr>
          <p:cNvPr id="10" name="S11-tile105"/>
          <p:cNvSpPr txBox="1"/>
          <p:nvPr/>
        </p:nvSpPr>
        <p:spPr>
          <a:xfrm>
            <a:off x="8273034" y="34518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빠진 글자를 찾아요</a:t>
            </a:r>
            <a:endParaRPr lang="ko-KR" sz="4000" dirty="0"/>
          </a:p>
        </p:txBody>
      </p:sp>
      <p:sp>
        <p:nvSpPr>
          <p:cNvPr id="3" name="S12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?에 들어갈 글자를 말해요.</a:t>
            </a:r>
            <a:endParaRPr lang="ko-KR" sz="3000" dirty="0"/>
          </a:p>
        </p:txBody>
      </p:sp>
      <p:sp>
        <p:nvSpPr>
          <p:cNvPr id="4" name="S12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2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모르면 앞 글자부터 차례대로 말해 봐요.</a:t>
            </a:r>
            <a:endParaRPr lang="ko-KR" sz="3000" dirty="0"/>
          </a:p>
        </p:txBody>
      </p:sp>
      <p:sp>
        <p:nvSpPr>
          <p:cNvPr id="6" name="S12-chip10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2-tile110"/>
          <p:cNvSpPr txBox="1"/>
          <p:nvPr/>
        </p:nvSpPr>
        <p:spPr>
          <a:xfrm>
            <a:off x="1956816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4000" dirty="0"/>
          </a:p>
        </p:txBody>
      </p:sp>
      <p:sp>
        <p:nvSpPr>
          <p:cNvPr id="8" name="S12-tile111"/>
          <p:cNvSpPr txBox="1"/>
          <p:nvPr/>
        </p:nvSpPr>
        <p:spPr>
          <a:xfrm>
            <a:off x="3072384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4000" dirty="0"/>
          </a:p>
        </p:txBody>
      </p:sp>
      <p:sp>
        <p:nvSpPr>
          <p:cNvPr id="9" name="S12-tile112"/>
          <p:cNvSpPr txBox="1"/>
          <p:nvPr/>
        </p:nvSpPr>
        <p:spPr>
          <a:xfrm>
            <a:off x="4187952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0" name="S12-tile113"/>
          <p:cNvSpPr txBox="1"/>
          <p:nvPr/>
        </p:nvSpPr>
        <p:spPr>
          <a:xfrm>
            <a:off x="5303520" y="201168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4000" dirty="0"/>
          </a:p>
        </p:txBody>
      </p:sp>
      <p:sp>
        <p:nvSpPr>
          <p:cNvPr id="11" name="S12-chip1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2" name="S12-tile115"/>
          <p:cNvSpPr txBox="1"/>
          <p:nvPr/>
        </p:nvSpPr>
        <p:spPr>
          <a:xfrm>
            <a:off x="1956816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4000" dirty="0"/>
          </a:p>
        </p:txBody>
      </p:sp>
      <p:sp>
        <p:nvSpPr>
          <p:cNvPr id="13" name="S12-tile116"/>
          <p:cNvSpPr txBox="1"/>
          <p:nvPr/>
        </p:nvSpPr>
        <p:spPr>
          <a:xfrm>
            <a:off x="3072384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4000" dirty="0"/>
          </a:p>
        </p:txBody>
      </p:sp>
      <p:sp>
        <p:nvSpPr>
          <p:cNvPr id="14" name="S12-tile117"/>
          <p:cNvSpPr txBox="1"/>
          <p:nvPr/>
        </p:nvSpPr>
        <p:spPr>
          <a:xfrm>
            <a:off x="4187952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5" name="S12-tile118"/>
          <p:cNvSpPr txBox="1"/>
          <p:nvPr/>
        </p:nvSpPr>
        <p:spPr>
          <a:xfrm>
            <a:off x="5303520" y="310896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4000" dirty="0"/>
          </a:p>
        </p:txBody>
      </p:sp>
      <p:sp>
        <p:nvSpPr>
          <p:cNvPr id="16" name="S12-chip1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7" name="S12-tile120"/>
          <p:cNvSpPr txBox="1"/>
          <p:nvPr/>
        </p:nvSpPr>
        <p:spPr>
          <a:xfrm>
            <a:off x="1956816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4000" dirty="0"/>
          </a:p>
        </p:txBody>
      </p:sp>
      <p:sp>
        <p:nvSpPr>
          <p:cNvPr id="18" name="S12-tile121"/>
          <p:cNvSpPr txBox="1"/>
          <p:nvPr/>
        </p:nvSpPr>
        <p:spPr>
          <a:xfrm>
            <a:off x="3072384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9" name="S12-tile122"/>
          <p:cNvSpPr txBox="1"/>
          <p:nvPr/>
        </p:nvSpPr>
        <p:spPr>
          <a:xfrm>
            <a:off x="4187952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4000" dirty="0"/>
          </a:p>
        </p:txBody>
      </p:sp>
      <p:sp>
        <p:nvSpPr>
          <p:cNvPr id="20" name="S12-tile123"/>
          <p:cNvSpPr txBox="1"/>
          <p:nvPr/>
        </p:nvSpPr>
        <p:spPr>
          <a:xfrm>
            <a:off x="5303520" y="4206240"/>
            <a:ext cx="9144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3-text124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이름을 말해요. ③은 빠진 글자, ④는 굽은 선이 있는 글자를 찾아요.</a:t>
            </a:r>
            <a:endParaRPr lang="ko-KR" sz="3000" dirty="0"/>
          </a:p>
        </p:txBody>
      </p:sp>
      <p:sp>
        <p:nvSpPr>
          <p:cNvPr id="4" name="S13-chip125"/>
          <p:cNvSpPr txBox="1"/>
          <p:nvPr/>
        </p:nvSpPr>
        <p:spPr>
          <a:xfrm>
            <a:off x="548640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3-tile126"/>
          <p:cNvSpPr txBox="1"/>
          <p:nvPr/>
        </p:nvSpPr>
        <p:spPr>
          <a:xfrm>
            <a:off x="1369314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6" name="S13-tile127"/>
          <p:cNvSpPr txBox="1"/>
          <p:nvPr/>
        </p:nvSpPr>
        <p:spPr>
          <a:xfrm>
            <a:off x="2942082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</a:t>
            </a:r>
            <a:endParaRPr lang="ko-KR" sz="5900" dirty="0"/>
          </a:p>
        </p:txBody>
      </p:sp>
      <p:sp>
        <p:nvSpPr>
          <p:cNvPr id="7" name="S13-tile128"/>
          <p:cNvSpPr txBox="1"/>
          <p:nvPr/>
        </p:nvSpPr>
        <p:spPr>
          <a:xfrm>
            <a:off x="451485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</a:t>
            </a:r>
            <a:endParaRPr lang="ko-KR" sz="5900" dirty="0"/>
          </a:p>
        </p:txBody>
      </p:sp>
      <p:sp>
        <p:nvSpPr>
          <p:cNvPr id="8" name="S13-chip129"/>
          <p:cNvSpPr txBox="1"/>
          <p:nvPr/>
        </p:nvSpPr>
        <p:spPr>
          <a:xfrm>
            <a:off x="6277356" y="30540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3-tile130"/>
          <p:cNvSpPr txBox="1"/>
          <p:nvPr/>
        </p:nvSpPr>
        <p:spPr>
          <a:xfrm>
            <a:off x="7098030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</a:t>
            </a:r>
            <a:endParaRPr lang="ko-KR" sz="5900" dirty="0"/>
          </a:p>
        </p:txBody>
      </p:sp>
      <p:sp>
        <p:nvSpPr>
          <p:cNvPr id="10" name="S13-tile131"/>
          <p:cNvSpPr txBox="1"/>
          <p:nvPr/>
        </p:nvSpPr>
        <p:spPr>
          <a:xfrm>
            <a:off x="8670798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5900" dirty="0"/>
          </a:p>
        </p:txBody>
      </p:sp>
      <p:sp>
        <p:nvSpPr>
          <p:cNvPr id="11" name="S13-tile132"/>
          <p:cNvSpPr txBox="1"/>
          <p:nvPr/>
        </p:nvSpPr>
        <p:spPr>
          <a:xfrm>
            <a:off x="10243566" y="26517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</a:t>
            </a:r>
            <a:endParaRPr lang="ko-KR" sz="5900" dirty="0"/>
          </a:p>
        </p:txBody>
      </p:sp>
      <p:sp>
        <p:nvSpPr>
          <p:cNvPr id="12" name="S13-chip133"/>
          <p:cNvSpPr txBox="1"/>
          <p:nvPr/>
        </p:nvSpPr>
        <p:spPr>
          <a:xfrm>
            <a:off x="548640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3" name="S13-tile134"/>
          <p:cNvSpPr txBox="1"/>
          <p:nvPr/>
        </p:nvSpPr>
        <p:spPr>
          <a:xfrm>
            <a:off x="1369314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</a:t>
            </a:r>
            <a:endParaRPr lang="ko-KR" sz="5900" dirty="0"/>
          </a:p>
        </p:txBody>
      </p:sp>
      <p:sp>
        <p:nvSpPr>
          <p:cNvPr id="14" name="S13-tile135"/>
          <p:cNvSpPr txBox="1"/>
          <p:nvPr/>
        </p:nvSpPr>
        <p:spPr>
          <a:xfrm>
            <a:off x="2942082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5900" dirty="0"/>
          </a:p>
        </p:txBody>
      </p:sp>
      <p:sp>
        <p:nvSpPr>
          <p:cNvPr id="15" name="S13-tile136"/>
          <p:cNvSpPr txBox="1"/>
          <p:nvPr/>
        </p:nvSpPr>
        <p:spPr>
          <a:xfrm>
            <a:off x="451485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</a:t>
            </a:r>
            <a:endParaRPr lang="ko-KR" sz="5900" dirty="0"/>
          </a:p>
        </p:txBody>
      </p:sp>
      <p:sp>
        <p:nvSpPr>
          <p:cNvPr id="16" name="S13-chip137"/>
          <p:cNvSpPr txBox="1"/>
          <p:nvPr/>
        </p:nvSpPr>
        <p:spPr>
          <a:xfrm>
            <a:off x="6277356" y="5035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7" name="S13-tile138"/>
          <p:cNvSpPr txBox="1"/>
          <p:nvPr/>
        </p:nvSpPr>
        <p:spPr>
          <a:xfrm>
            <a:off x="7098030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</a:t>
            </a:r>
            <a:endParaRPr lang="ko-KR" sz="5900" dirty="0"/>
          </a:p>
        </p:txBody>
      </p:sp>
      <p:sp>
        <p:nvSpPr>
          <p:cNvPr id="18" name="S13-tile139"/>
          <p:cNvSpPr txBox="1"/>
          <p:nvPr/>
        </p:nvSpPr>
        <p:spPr>
          <a:xfrm>
            <a:off x="8670798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</a:t>
            </a:r>
            <a:endParaRPr lang="ko-KR" sz="5900" dirty="0"/>
          </a:p>
        </p:txBody>
      </p:sp>
      <p:sp>
        <p:nvSpPr>
          <p:cNvPr id="19" name="S13-tile140"/>
          <p:cNvSpPr txBox="1"/>
          <p:nvPr/>
        </p:nvSpPr>
        <p:spPr>
          <a:xfrm>
            <a:off x="10243566" y="4632960"/>
            <a:ext cx="1371600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</a:t>
            </a:r>
            <a:endParaRPr lang="ko-KR" sz="5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4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4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글자는 다른 곳 하나를 찾아봐요.</a:t>
            </a:r>
            <a:endParaRPr lang="ko-KR" sz="3000" dirty="0"/>
          </a:p>
        </p:txBody>
      </p:sp>
      <p:sp>
        <p:nvSpPr>
          <p:cNvPr id="5" name="S14-chip143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4-text144"/>
          <p:cNvSpPr txBox="1"/>
          <p:nvPr/>
        </p:nvSpPr>
        <p:spPr>
          <a:xfrm>
            <a:off x="548640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Q W N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Y R V</a:t>
            </a:r>
            <a:endParaRPr lang="ko-KR" sz="3000" dirty="0"/>
          </a:p>
        </p:txBody>
      </p:sp>
      <p:sp>
        <p:nvSpPr>
          <p:cNvPr id="7" name="S14-text145"/>
          <p:cNvSpPr txBox="1"/>
          <p:nvPr/>
        </p:nvSpPr>
        <p:spPr>
          <a:xfrm>
            <a:off x="3367278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이름을 바로 말해요</a:t>
            </a:r>
            <a:endParaRPr lang="ko-KR" sz="2400" dirty="0"/>
          </a:p>
        </p:txBody>
      </p:sp>
      <p:sp>
        <p:nvSpPr>
          <p:cNvPr id="8" name="S14-text146"/>
          <p:cNvSpPr txBox="1"/>
          <p:nvPr/>
        </p:nvSpPr>
        <p:spPr>
          <a:xfrm>
            <a:off x="548640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P</a:t>
            </a:r>
            <a:endParaRPr lang="ko-KR" sz="3000" dirty="0"/>
          </a:p>
        </p:txBody>
      </p:sp>
      <p:sp>
        <p:nvSpPr>
          <p:cNvPr id="9" name="S14-text147"/>
          <p:cNvSpPr txBox="1"/>
          <p:nvPr/>
        </p:nvSpPr>
        <p:spPr>
          <a:xfrm>
            <a:off x="3367278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O와 Q 사이</a:t>
            </a:r>
            <a:endParaRPr lang="ko-KR" sz="2400" dirty="0"/>
          </a:p>
        </p:txBody>
      </p:sp>
      <p:sp>
        <p:nvSpPr>
          <p:cNvPr id="10" name="S14-text148"/>
          <p:cNvSpPr txBox="1"/>
          <p:nvPr/>
        </p:nvSpPr>
        <p:spPr>
          <a:xfrm>
            <a:off x="548640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S</a:t>
            </a:r>
            <a:endParaRPr lang="ko-KR" sz="3000" dirty="0"/>
          </a:p>
        </p:txBody>
      </p:sp>
      <p:sp>
        <p:nvSpPr>
          <p:cNvPr id="11" name="S14-text149"/>
          <p:cNvSpPr txBox="1"/>
          <p:nvPr/>
        </p:nvSpPr>
        <p:spPr>
          <a:xfrm>
            <a:off x="3367278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굽은 선 하나</a:t>
            </a:r>
            <a:endParaRPr lang="ko-KR" sz="2400" dirty="0"/>
          </a:p>
        </p:txBody>
      </p:sp>
      <p:sp>
        <p:nvSpPr>
          <p:cNvPr id="12" name="S14-chip150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3" name="S14-text151"/>
          <p:cNvSpPr txBox="1"/>
          <p:nvPr/>
        </p:nvSpPr>
        <p:spPr>
          <a:xfrm>
            <a:off x="6277356" y="20574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O를 ㅇ 소리로</a:t>
            </a:r>
            <a:endParaRPr lang="ko-KR" sz="3000" dirty="0"/>
          </a:p>
        </p:txBody>
      </p:sp>
      <p:sp>
        <p:nvSpPr>
          <p:cNvPr id="14" name="S14-text152"/>
          <p:cNvSpPr txBox="1"/>
          <p:nvPr/>
        </p:nvSpPr>
        <p:spPr>
          <a:xfrm>
            <a:off x="9095994" y="20574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영어 이름으로 말해요</a:t>
            </a:r>
            <a:endParaRPr lang="ko-KR" sz="2400" dirty="0"/>
          </a:p>
        </p:txBody>
      </p:sp>
      <p:sp>
        <p:nvSpPr>
          <p:cNvPr id="15" name="S14-text153"/>
          <p:cNvSpPr txBox="1"/>
          <p:nvPr/>
        </p:nvSpPr>
        <p:spPr>
          <a:xfrm>
            <a:off x="6277356" y="31242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V를 U로</a:t>
            </a:r>
            <a:endParaRPr lang="ko-KR" sz="3000" dirty="0"/>
          </a:p>
        </p:txBody>
      </p:sp>
      <p:sp>
        <p:nvSpPr>
          <p:cNvPr id="16" name="S14-text154"/>
          <p:cNvSpPr txBox="1"/>
          <p:nvPr/>
        </p:nvSpPr>
        <p:spPr>
          <a:xfrm>
            <a:off x="9095994" y="31242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아래 모양을 봐요</a:t>
            </a:r>
            <a:endParaRPr lang="ko-KR" sz="2400" dirty="0"/>
          </a:p>
        </p:txBody>
      </p:sp>
      <p:sp>
        <p:nvSpPr>
          <p:cNvPr id="17" name="S14-text155"/>
          <p:cNvSpPr txBox="1"/>
          <p:nvPr/>
        </p:nvSpPr>
        <p:spPr>
          <a:xfrm>
            <a:off x="6277356" y="4191000"/>
            <a:ext cx="268147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T나 X</a:t>
            </a:r>
            <a:endParaRPr lang="ko-KR" sz="3000" dirty="0"/>
          </a:p>
        </p:txBody>
      </p:sp>
      <p:sp>
        <p:nvSpPr>
          <p:cNvPr id="18" name="S14-text156"/>
          <p:cNvSpPr txBox="1"/>
          <p:nvPr/>
        </p:nvSpPr>
        <p:spPr>
          <a:xfrm>
            <a:off x="9095994" y="4191000"/>
            <a:ext cx="2544318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곧은 선만 있어요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글자를 골라요</a:t>
            </a:r>
            <a:endParaRPr lang="ko-KR" sz="4000" dirty="0"/>
          </a:p>
        </p:txBody>
      </p:sp>
      <p:sp>
        <p:nvSpPr>
          <p:cNvPr id="3" name="S15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말하는 글자는? 어떻게 알았나요?</a:t>
            </a:r>
            <a:endParaRPr lang="ko-KR" sz="3000" dirty="0"/>
          </a:p>
        </p:txBody>
      </p:sp>
      <p:sp>
        <p:nvSpPr>
          <p:cNvPr id="5" name="S15-chip159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6" name="S15-tile160"/>
          <p:cNvSpPr txBox="1"/>
          <p:nvPr/>
        </p:nvSpPr>
        <p:spPr>
          <a:xfrm>
            <a:off x="2896362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</a:t>
            </a:r>
            <a:endParaRPr lang="ko-KR" sz="6300" dirty="0"/>
          </a:p>
        </p:txBody>
      </p:sp>
      <p:sp>
        <p:nvSpPr>
          <p:cNvPr id="7" name="S15-chip16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8" name="S15-tile162"/>
          <p:cNvSpPr txBox="1"/>
          <p:nvPr/>
        </p:nvSpPr>
        <p:spPr>
          <a:xfrm>
            <a:off x="8625078" y="147447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</a:t>
            </a:r>
            <a:endParaRPr lang="ko-KR" sz="6300" dirty="0"/>
          </a:p>
        </p:txBody>
      </p:sp>
      <p:sp>
        <p:nvSpPr>
          <p:cNvPr id="9" name="S15-chip163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0" name="S15-tile164"/>
          <p:cNvSpPr txBox="1"/>
          <p:nvPr/>
        </p:nvSpPr>
        <p:spPr>
          <a:xfrm>
            <a:off x="2896362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6300" dirty="0"/>
          </a:p>
        </p:txBody>
      </p:sp>
      <p:sp>
        <p:nvSpPr>
          <p:cNvPr id="11" name="S15-chip165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3000" dirty="0"/>
          </a:p>
        </p:txBody>
      </p:sp>
      <p:sp>
        <p:nvSpPr>
          <p:cNvPr id="12" name="S15-tile166"/>
          <p:cNvSpPr txBox="1"/>
          <p:nvPr/>
        </p:nvSpPr>
        <p:spPr>
          <a:xfrm>
            <a:off x="8625078" y="3509010"/>
            <a:ext cx="1463040" cy="146304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63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6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6-card167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6-cardtext168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알파벳은 A부터 Z까지 26글자예요.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닮은 글자는 다른 곳 하나를 찾아 구별해요.</a:t>
            </a:r>
            <a:endParaRPr lang="ko-KR" sz="3000" dirty="0"/>
          </a:p>
        </p:txBody>
      </p:sp>
      <p:sp>
        <p:nvSpPr>
          <p:cNvPr id="5" name="S16-chip169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다른 곳 찾아 구별하기</a:t>
            </a:r>
            <a:endParaRPr lang="ko-KR" sz="2400" dirty="0"/>
          </a:p>
        </p:txBody>
      </p:sp>
      <p:sp>
        <p:nvSpPr>
          <p:cNvPr id="6" name="S16-chip170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U와 V를 같게 보기</a:t>
            </a:r>
            <a:endParaRPr lang="ko-KR" sz="2400" dirty="0"/>
          </a:p>
        </p:txBody>
      </p:sp>
      <p:sp>
        <p:nvSpPr>
          <p:cNvPr id="7" name="S16-text171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6-text172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A부터 Z까지 차례대로 말하기</a:t>
            </a:r>
            <a:endParaRPr lang="ko-KR" sz="2400" dirty="0"/>
          </a:p>
        </p:txBody>
      </p:sp>
      <p:sp>
        <p:nvSpPr>
          <p:cNvPr id="9" name="S16-text173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U와 V의 다른 점은?</a:t>
            </a:r>
            <a:endParaRPr lang="ko-KR" sz="2400" dirty="0"/>
          </a:p>
        </p:txBody>
      </p:sp>
      <p:sp>
        <p:nvSpPr>
          <p:cNvPr id="10" name="S16-text174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 다음 글자는?</a:t>
            </a:r>
            <a:endParaRPr lang="ko-KR" sz="2400" dirty="0"/>
          </a:p>
        </p:txBody>
      </p:sp>
      <p:sp>
        <p:nvSpPr>
          <p:cNvPr id="11" name="S16-text17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소문자와 첫소리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A부터 M까지 다시</a:t>
            </a:r>
            <a:endParaRPr lang="ko-KR" sz="4000" dirty="0"/>
          </a:p>
        </p:txBody>
      </p:sp>
      <p:sp>
        <p:nvSpPr>
          <p:cNvPr id="3" name="S17-card176"/>
          <p:cNvSpPr/>
          <p:nvPr/>
        </p:nvSpPr>
        <p:spPr>
          <a:xfrm>
            <a:off x="548640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7-cardtext177"/>
          <p:cNvSpPr txBox="1"/>
          <p:nvPr/>
        </p:nvSpPr>
        <p:spPr>
          <a:xfrm>
            <a:off x="822960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소리를 듣고 따라 말해요.</a:t>
            </a:r>
            <a:endParaRPr lang="ko-KR" sz="3000" dirty="0"/>
          </a:p>
        </p:txBody>
      </p:sp>
      <p:sp>
        <p:nvSpPr>
          <p:cNvPr id="5" name="S17-card178"/>
          <p:cNvSpPr/>
          <p:nvPr/>
        </p:nvSpPr>
        <p:spPr>
          <a:xfrm>
            <a:off x="6208776" y="4959096"/>
            <a:ext cx="5431536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17-cardtext179"/>
          <p:cNvSpPr txBox="1"/>
          <p:nvPr/>
        </p:nvSpPr>
        <p:spPr>
          <a:xfrm>
            <a:off x="6483096" y="5096256"/>
            <a:ext cx="4882896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글자 카드를 차례대로 놓아요.</a:t>
            </a:r>
            <a:endParaRPr lang="ko-KR" sz="3000" dirty="0"/>
          </a:p>
        </p:txBody>
      </p:sp>
      <p:sp>
        <p:nvSpPr>
          <p:cNvPr id="7" name="S17-tile180"/>
          <p:cNvSpPr txBox="1"/>
          <p:nvPr/>
        </p:nvSpPr>
        <p:spPr>
          <a:xfrm>
            <a:off x="1330452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</a:t>
            </a:r>
            <a:endParaRPr lang="ko-KR" sz="5100" dirty="0"/>
          </a:p>
        </p:txBody>
      </p:sp>
      <p:sp>
        <p:nvSpPr>
          <p:cNvPr id="8" name="S17-tile181"/>
          <p:cNvSpPr txBox="1"/>
          <p:nvPr/>
        </p:nvSpPr>
        <p:spPr>
          <a:xfrm>
            <a:off x="2720340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</a:t>
            </a:r>
            <a:endParaRPr lang="ko-KR" sz="5100" dirty="0"/>
          </a:p>
        </p:txBody>
      </p:sp>
      <p:sp>
        <p:nvSpPr>
          <p:cNvPr id="9" name="S17-tile182"/>
          <p:cNvSpPr txBox="1"/>
          <p:nvPr/>
        </p:nvSpPr>
        <p:spPr>
          <a:xfrm>
            <a:off x="4110228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</a:t>
            </a:r>
            <a:endParaRPr lang="ko-KR" sz="5100" dirty="0"/>
          </a:p>
        </p:txBody>
      </p:sp>
      <p:sp>
        <p:nvSpPr>
          <p:cNvPr id="10" name="S17-tile183"/>
          <p:cNvSpPr txBox="1"/>
          <p:nvPr/>
        </p:nvSpPr>
        <p:spPr>
          <a:xfrm>
            <a:off x="5500116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</a:t>
            </a:r>
            <a:endParaRPr lang="ko-KR" sz="5100" dirty="0"/>
          </a:p>
        </p:txBody>
      </p:sp>
      <p:sp>
        <p:nvSpPr>
          <p:cNvPr id="11" name="S17-tile184"/>
          <p:cNvSpPr txBox="1"/>
          <p:nvPr/>
        </p:nvSpPr>
        <p:spPr>
          <a:xfrm>
            <a:off x="6890004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</a:t>
            </a:r>
            <a:endParaRPr lang="ko-KR" sz="5100" dirty="0"/>
          </a:p>
        </p:txBody>
      </p:sp>
      <p:sp>
        <p:nvSpPr>
          <p:cNvPr id="12" name="S17-tile185"/>
          <p:cNvSpPr txBox="1"/>
          <p:nvPr/>
        </p:nvSpPr>
        <p:spPr>
          <a:xfrm>
            <a:off x="8279892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</a:t>
            </a:r>
            <a:endParaRPr lang="ko-KR" sz="5100" dirty="0"/>
          </a:p>
        </p:txBody>
      </p:sp>
      <p:sp>
        <p:nvSpPr>
          <p:cNvPr id="13" name="S17-tile186"/>
          <p:cNvSpPr txBox="1"/>
          <p:nvPr/>
        </p:nvSpPr>
        <p:spPr>
          <a:xfrm>
            <a:off x="9669780" y="1738884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</a:t>
            </a:r>
            <a:endParaRPr lang="ko-KR" sz="5100" dirty="0"/>
          </a:p>
        </p:txBody>
      </p:sp>
      <p:sp>
        <p:nvSpPr>
          <p:cNvPr id="14" name="S17-tile187"/>
          <p:cNvSpPr txBox="1"/>
          <p:nvPr/>
        </p:nvSpPr>
        <p:spPr>
          <a:xfrm>
            <a:off x="2025396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</a:t>
            </a:r>
            <a:endParaRPr lang="ko-KR" sz="5100" dirty="0"/>
          </a:p>
        </p:txBody>
      </p:sp>
      <p:sp>
        <p:nvSpPr>
          <p:cNvPr id="15" name="S17-tile188"/>
          <p:cNvSpPr txBox="1"/>
          <p:nvPr/>
        </p:nvSpPr>
        <p:spPr>
          <a:xfrm>
            <a:off x="3415284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</a:t>
            </a:r>
            <a:endParaRPr lang="ko-KR" sz="5100" dirty="0"/>
          </a:p>
        </p:txBody>
      </p:sp>
      <p:sp>
        <p:nvSpPr>
          <p:cNvPr id="16" name="S17-tile189"/>
          <p:cNvSpPr txBox="1"/>
          <p:nvPr/>
        </p:nvSpPr>
        <p:spPr>
          <a:xfrm>
            <a:off x="4805172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</a:t>
            </a:r>
            <a:endParaRPr lang="ko-KR" sz="5100" dirty="0"/>
          </a:p>
        </p:txBody>
      </p:sp>
      <p:sp>
        <p:nvSpPr>
          <p:cNvPr id="17" name="S17-tile190"/>
          <p:cNvSpPr txBox="1"/>
          <p:nvPr/>
        </p:nvSpPr>
        <p:spPr>
          <a:xfrm>
            <a:off x="6195060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</a:t>
            </a:r>
            <a:endParaRPr lang="ko-KR" sz="5100" dirty="0"/>
          </a:p>
        </p:txBody>
      </p:sp>
      <p:sp>
        <p:nvSpPr>
          <p:cNvPr id="18" name="S17-tile191"/>
          <p:cNvSpPr txBox="1"/>
          <p:nvPr/>
        </p:nvSpPr>
        <p:spPr>
          <a:xfrm>
            <a:off x="7584948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</a:t>
            </a:r>
            <a:endParaRPr lang="ko-KR" sz="5100" dirty="0"/>
          </a:p>
        </p:txBody>
      </p:sp>
      <p:sp>
        <p:nvSpPr>
          <p:cNvPr id="19" name="S17-tile192"/>
          <p:cNvSpPr txBox="1"/>
          <p:nvPr/>
        </p:nvSpPr>
        <p:spPr>
          <a:xfrm>
            <a:off x="8974836" y="3128772"/>
            <a:ext cx="1188720" cy="118872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51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</a:t>
            </a:r>
            <a:endParaRPr lang="ko-KR" sz="5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영어 알파벳 N부터 Z까지</dc:title>
  <dc:subject>KR22-G03-ENG-ABC2-L01</dc:subject>
  <dc:creator>education-ppt</dc:creator>
  <cp:lastModifiedBy>education-ppt</cp:lastModifiedBy>
  <cp:revision>1</cp:revision>
  <dcterms:created xsi:type="dcterms:W3CDTF">2026-10-26T07:33:41Z</dcterms:created>
  <dcterms:modified xsi:type="dcterms:W3CDTF">2026-10-26T07:33:41Z</dcterms:modified>
</cp:coreProperties>
</file>