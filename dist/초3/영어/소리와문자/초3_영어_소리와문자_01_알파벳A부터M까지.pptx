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f19709d-2491-8808-4589-f13399d43723}">
          <p14:sldIdLst>
            <p14:sldId id="256"/>
            <p14:sldId id="257"/>
          </p14:sldIdLst>
        </p14:section>
        <p14:section name="개념" id="{7c1a0a8e-8df0-e804-5dea-02e6450d114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연습" id="{c1741038-a033-5220-dc21-8a8538737853}">
          <p14:sldIdLst>
            <p14:sldId id="265"/>
            <p14:sldId id="266"/>
            <p14:sldId id="267"/>
          </p14:sldIdLst>
        </p14:section>
        <p14:section name="확인" id="{315dad89-0242-05a4-90c1-833ec6c9395f}">
          <p14:sldIdLst>
            <p14:sldId id="268"/>
            <p14:sldId id="269"/>
            <p14:sldId id="270"/>
          </p14:sldIdLst>
        </p14:section>
        <p14:section name="정리" id="{723d8247-b51b-ae2f-1b3d-e6dba2b95bc6}">
          <p14:sldIdLst>
            <p14:sldId id="271"/>
          </p14:sldIdLst>
        </p14:section>
        <p14:section name="보충" id="{3f215d7f-11fe-eec5-42fc-e4138a14e39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영어 글자를 보여 주고 관심을 갖게 합니다.
시간: 약 2분
이렇게 말해 보세요
- “오른쪽 글자 본 적 있어? 영어 글자야. 영어 글자를 ‘알파벳’이라고 해.”
- “알파벳은 모두 26글자야. 오늘은 그중에서 A부터 M까지 13글자의 이름과 모양을 배울 거야.”
- “이 중에 이름을 아는 글자가 있어? 손가락으로 짚고 말해 볼래?”
예상 답
- “A요.” “학교에서 봤어요.” “몰라요.”
주의
- 수업 전에 교과서 디지털 자료나 사전 앱의 발음 듣기로 A부터 M까지 글자 이름을 미리 들어 두세요. 수업 중에도 소리를 함께 듣고 따라 말하면 됩니다. 부모님 발음이 완벽하지 않아도 괜찮습니다.
- 소리 자료 없이 진행하면 이름이 맞는지 확인하기 어렵습니다. 이때는 헷갈리는 글자를 기록해 두었다가 소리 자료로 나중에 확인합니다.
- 오늘 화면의 글자는 모두 대문자입니다. 소문자는 ‘소문자와 첫소리’ 차시에서 배웁니다.
- 이름을 하나도 몰라도 괜찮습니다. 수업 끝에 다시 물어봅니다.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확인(차례, 곧은 선과 굽은 선)]
목적: 알파벳을 배우는 데 필요한 두 가지, 글자에는 정해진 차례가 있다는 것과 곧은 선·굽은 선을 구별하는 눈을 한글로 먼저 확인합니다.
시간: 약 3분
이렇게 말해 보세요
- “한글 자음에도 차례가 있지? ①에서 ㄱ, ㄴ, ㄷ, ㄹ 다음 물음표 자리에 들어갈 글자는 무엇일까?”
- “자를 대고 그은 것처럼 곧은 선을 ‘곧은 선’, 동그랗게 휘어진 선을 ‘굽은 선’이라고 해. ②에서 굽은 선이 있는 글자는 무엇일까?”
정답
- ① ㅁ
- ② ㅇ. ㅅ과 ㄹ은 곧은 선만 있습니다.
막히면
- ①은 부모가 ㄱ부터 함께 소리 내어 말해 줍니다.
- ②는 손가락으로 글자의 선을 따라 그리게 하고 “손가락이 곧게 갔어, 둥글게 돌았어?”라고 묻습니다.
- 둘 중 하나라도 어려우면 S17(보충)을 먼저 합니다.
주의
- ‘곧은 선’과 ‘굽은 선’은 3학년 수학에도 나오는 말입니다. 오늘 글자 모양을 말할 때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A와 B의 이름과 모양]
목적: A와 B의 이름을 듣고 따라 말하며, 곧은 선과 굽은 선으로 모양을 살핍니다.
시간: 약 2분
이렇게 말해 보세요
- “첫 글자는 A야. 소리를 같이 듣고 엄마(아빠)를 따라 세 번 말해 보자. A, A, A.”
- “다음 글자는 B. 따라 해 봐. B, B, B.”
- “A를 손가락으로 따라 그려 볼까? 곧은 선만 있지? B는 어때? 볼록하게 굽은 곳이 몇 개야?”
- “엄마(아빠)가 짚는 글자의 이름을 말해 줘.” (A와 B를 번갈아 여러 번 짚습니다.)
예상 답
- “A.” “B.” “B는 볼록한 곳이 2개예요.”
막히면
- 이름이 잘 안 들리면 교과서 디지털 자료나 사전 앱의 발음 듣기를 한 번 더 들려주고 따라 말하게 합니다.
- 글자 카드 A와 B를 아이 앞에 놓고, 부모가 이름을 말하면 그 카드를 들게 합니다.
주의
- 오늘은 글자의 이름만 익힙니다. 글자가 낱말 속에서 내는 소리는 ‘소문자와 첫소리’ 차시에서 배웁니다.
- 배운 글자 카드는 책상 위에 차례대로 놓아 둡니다. S09와 S12에서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C와 D의 이름과 모양]
목적: C와 D의 이름을 익히고, 굽은 선으로 된 모양을 살핍니다.
시간: 약 2분
이렇게 말해 보세요
- “이 글자는 C야. 따라 해 봐. C, C, C.”
- “이 글자는 D. D, D, D.”
- “C는 손가락이 둥글게만 돌지? D는 곧게 내려왔다가 둥글게 돌아와.”
- “B 카드와 D 카드를 나란히 놓아 볼까? 무엇이 달라?”
예상 답
- “C.” “D.” “B는 볼록한 곳이 2개, D는 1개예요.”
막히면
- C를 공중에 크게 쓰며 “둥글게”, D를 쓰며 “곧게 내려서 둥글게”라고 함께 말합니다.
주의
- B와 D는 닮아서 헷갈리기 쉽습니다. 볼록한 곳의 개수로 구별하게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E와 F의 이름과 모양]
목적: E와 F의 이름을 익히고, 가로선의 개수로 두 글자를 구별합니다.
시간: 약 2분
이렇게 말해 보세요
- “이 글자는 E야. 따라 해 봐. E, E, E.”
- “이 글자는 F. F, F, F.”
- “E와 F는 쌍둥이처럼 닮았어. 옆으로 누운 선을 세어 볼까? 무엇이 다르지?”
예상 답
- “E는 3개, F는 2개예요.” “F는 맨 아래 선이 없어요.”
막히면
- 글자 카드 E 위에 F를 겹쳐 보며 “F에는 맨 아래 선이 없네.”라고 짚어 줍니다.
주의
- E와 F는 S11에서 다시 비교합니다(M1).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G와 H의 이름과 모양]
목적: G와 H의 이름을 익히고, G를 C와 구별합니다.
시간: 약 2분
이렇게 말해 보세요
- “이 글자는 G야. 따라 해 봐. G, G, G.”
- “이 글자는 H. H, H, H.”
- “G는 어떤 글자와 닮았어? 맞아, C야. 그런데 G에는 짧은 곧은 선이 더 있어.”
- “H는 곧은 선이 몇 개야?”
예상 답
- “C랑 닮았어요.” “H는 곧은 선이 3개예요.”
막히면
- C 카드와 G 카드를 나란히 놓고 G의 짧은 곧은 선만 손가락으로 짚게 합니다.
주의
- G의 짧은 선 모양은 글꼴이나 교과서에 따라 조금씩 다릅니다. 짧은 곧은 선이 있다는 것만 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I와 J의 이름과 모양]
목적: I와 J의 이름을 익히고, I를 한글 ㅣ와 구별해 영어 이름으로 부릅니다(M2).
시간: 약 2분
이렇게 말해 보세요
- “이 글자는 I야. 따라 해 봐. I, I, I.”
- “이 글자는 J. J, J, J.”
- “I는 한글 ㅣ랑 똑같이 생겼지? 그래도 영어 글자니까 영어 이름 I로 불러.”
- “J는 곧게 내려오다가 아래에서 굽어. 우산 손잡이 같지?”
예상 답
- “I.” “J.” “J는 우산 손잡이 같아요.”
막히면
- I를 보고 한글 ㅣ의 소리로 읽으면, 소리 자료로 I의 이름을 다시 듣고 따라 말합니다(M2).
주의
- 교과서나 글꼴에 따라 I의 위아래에 짧은 가로선을 긋거나 J의 위에 짧은 가로선을 긋기도 합니다. 둘 다 맞는 모양이니 아이 교과서의 모양을 따르세요.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K와 L의 이름과 모양]
목적: K와 L의 이름을 익히고, L을 한글 ㄴ과 구별해 영어 이름으로 부릅니다(M2).
시간: 약 2분
이렇게 말해 보세요
- “이 글자는 K야. 따라 해 봐. K, K, K.”
- “이 글자는 L. L, L, L.”
- “L은 무엇이랑 닮았어? 한글 ㄴ이랑 닮았지? 그래도 영어 글자니까 이름은 L이야.”
예상 답
- “K.” “L.” “ㄴ이랑 닮았어요.”
막히면
- 종이에 ㄴ과 L을 나란히 써 주고 “모양은 같아도 한글일 때는 니은, 영어일 때는 L이야.”라고 말해 줍니다.
주의
- K의 비스듬한 두 선이 세로선에 붙는 모양은 글꼴마다 조금씩 다릅니다. 곧은 선만 있다는 것을 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M과 A부터 M까지의 차례]
목적: 마지막 글자 M을 익히고, A부터 M까지 차례대로 말합니다.
시간: 약 3분
이렇게 말해 보세요
- “색이 칠해진 마지막 글자는 M이야. 따라 해 봐. M, M, M. M은 곧은 선만 있어. 산이 두 개 붙은 것 같지?”
- “이제 A부터 M까지 차례대로 말해 보자. 엄마(아빠)가 한 글자씩 짚을게.” (처음에는 함께, 다음에는 아이 혼자 말하게 합니다.)
- “교과서 디지털 자료에 있는 알파벳 노래를 들으면서 M까지 같이 불러 볼까?”
예상 답
- “A, B, C, D, E, F, G, H, I, J, K, L, M.”
막히면
- A부터 G까지, H부터 M까지 둘로 나누어 연습한 뒤 이어 말합니다.
- 글자 카드를 섞어 놓고 아이가 A부터 차례대로 줄 세우게 합니다.
주의
- 노래로 부르면 몇 글자가 빠르게 붙어 지나가기 쉽습니다. 노래 뒤에는 꼭 글자를 한 장씩 짚으며 천천히 말하게 하세요(M3).
- 여기까지가 배우는 부분입니다. 아이가 지치면 여기서 나누어 다음 날 S10부터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이름 듣고 글자 짚기]
목적: 차례가 섞여 있어도 이름을 듣고 알맞은 글자를 찾습니다.
시간: 약 3분
이렇게 말해 보세요
- “엄마(아빠)가 글자 이름을 말하면 그 글자를 손가락으로 짚어 봐. G!”
- 부모가 말할 차례: G → E → J → C → M → I
- “이번에는 바꿔서 해 보자. 네가 하나를 짚고 이름을 말해 줘.”
정답
- G 둘째 줄 여섯째, E 둘째 줄 넷째, J 둘째 줄 첫째
- C 첫째 줄 둘째, M 첫째 줄 여섯째, I 둘째 줄 다섯째
막히면
- “굽은 선이 있는 글자야, 곧은 선만 있는 글자야?”라고 물어 찾을 범위를 좁혀 줍니다.
- 그래도 어려우면 S03~S09 중 그 글자가 나온 장을 다시 보여 줍니다.
주의
- 아이가 짚고 말할 때 이름이 틀리면 바로 고치지 말고 소리 자료로 함께 다시 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비교(E와 F)]
목적: 가로선의 개수를 보고 E와 F를 구별합니다(M1).
시간: 약 2분
이렇게 말해 보세요
- “친구가 F를 보고 E라고 했대. 맞게 말했을까?”
- “옆으로 누운 선을 세어 보자. F는 몇 개야? 그러면 이 글자의 이름은?”
- “C와 G도 닮았지? 무엇이 다른지 말해 볼래?”
정답
- 바르지 않습니다. F는 가로선이 2개(맨 아래 선이 없음)이고, 가로선이 3개인 글자가 E입니다.
- C와 G: G에는 짧은 곧은 선이 더 있습니다.
막히면
- E와 F 글자 카드를 겹쳐 놓고 맨 아래 선만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빠진 글자 찾기]
목적: 차례 속에서 빠진 글자를 찾으며 앞뒤 글자를 익힙니다.
시간: 약 3분
이렇게 말해 보세요
- “①은 A, B, 그다음에 물음표가 있네. 물음표 자리에 들어갈 글자는?”
- “②는 F, G, 물음표, I. 무엇이 빠졌을까?”
- “③은 맨 앞이 비었어. K 바로 앞에 오는 글자는?”
정답
- ① C ② H ③ J
막히면
- 글자 카드를 A부터 늘어놓고 손가락으로 짚으며 차례대로 말하다가 빠진 자리에서 멈추게 합니다.
- ③처럼 앞 글자를 찾기 어려우면 “H, I, 그다음은?”처럼 조금 앞에서부터 이어 말하게 합니다.
주의
- 노래로만 차례를 아는 아이는 처음부터 다시 부르며 찾습니다. 오늘은 그래도 괜찮지만, F나 J처럼 중간 글자부터 이어 말하는 연습을 함께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이름 말하기, 빠진 글자, 굽은 선 찾기]
목적: 도움 없이 이름을 말하고, 빠진 글자와 굽은 선이 있는 글자를 찾는지 확인합니다.
시간: 약 4분
이렇게 말해 보세요
- “이번에는 혼자 해 볼래? ①과 ②의 글자 이름을 하나씩 말해 줘.”
- “③에서 물음표 자리에 들어갈 글자는?”
- “④에서 굽은 선이 있는 글자는 어느 것이야?”
정답
- ① G, D, K ② I, F, J (소리 자료의 이름과 같게 말하면 맞음)
- ③ C ④ G (H와 A는 곧은 선만 있습니다)
막히면
- 틀린 글자는 바로 고쳐 주지 말고 “곧은 선이야, 굽은 선이야?” 또는 “A부터 말해 볼까?”라고만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확인하고 흔한 실수와 비교합니다.
시간: 약 2분
이렇게 말해 보세요
- “네가 말한 것과 왼쪽 정답을 비교해 보자.”
- “오른쪽처럼 말하면 왜 틀렸을까?”
예상 답
- “F는 가로선이 2개라서 E가 아니에요.” “H는 곧은 선만 있어요.”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확인]
목적: 닮은 글자 사이에서 이름을 듣고 알맞은 글자를 고르는지 확인합니다.
시간: 약 2분
이렇게 말해 보세요
- “E는 가, 나, 다, 라 중에서 어느 것일까? 어떻게 알았어?”
- “이번에는 G!”
정답
- E → 나. 가로선이 3개입니다(가의 F는 2개).
- G → 라. 다의 C에 짧은 곧은 선이 더 있습니다.
막히면
- S05와 S06을 다시 보여 주고 다른 선 하나를 짚게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다음 학습과 복습]
목적: 핵심을 정리하고 다음 수업 첫 5분에 풀 복습을 알려 줍니다.
시간: 약 2분
이렇게 말해 보세요
- “오늘 배운 글자를 A부터 M까지 말해 볼래?”
- “닮은 글자는 무엇을 보면 구별할 수 있어?”
예상 답
- “선이 곧은지 굽었는지 봐요.” “선을 세어 봐요.”
정답
- ① A B C D E F G H I J K L M ② E는 가로선이 3개, F는 2개예요. ③ L
주의
- 글자 카드는 모아 두세요. 다음 시간에 N부터 Z까지 카드를 더 만들어 함께 씁니다.
- 집에 있는 상자나 옷에서 A부터 M까지의 대문자를 찾아보게 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보충(곧은 선과 굽은 선, 차례)]
목적: S02에서 곧은 선과 굽은 선, 또는 차례를 헷갈리면 도형과 한글로 먼저 익힙니다.
시간: 약 5분
이렇게 말해 보세요
- “세모를 손가락으로 따라 그려 봐. 손가락이 곧게 가지? 이런 선이 곧은 선이야. 동그라미는 어때? 둥글게 돌지? 이런 선이 굽은 선이야.”
- “집에서 곧은 선과 굽은 선을 찾아볼까? 책 모서리는? 컵 입구는?”
- “이번에는 ㄱ부터 ㅎ까지 차례대로 말해 보자. 엄마(아빠)가 먼저 할게.”
정답
- 책 모서리는 곧은 선, 컵 입구는 굽은 선입니다.
- 자음 차례: ㄱ ㄴ ㄷ ㄹ ㅁ ㅂ ㅅ ㅇ ㅈ ㅊ ㅋ ㅌ ㅍ ㅎ
막히면
- 종이에 자를 대고 곧은 선을, 컵 바닥을 대고 굽은 선을 그려 보게 합니다.
- 자음 차례는 ㄱ부터 ㅅ까지, ㅇ부터 ㅎ까지 둘로 나누어 따라 말하게 합니다.
주의
- 이 차시는 영어의 첫 차시라 계획상 앞 차시가 없습니다. 한글 자음의 차례가 많이 흔들리면 1학년 ‘기본 자음’(KR22-G01-KOR-CONS-L01)을 먼저 복습한 뒤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알파벳 A부터 M까지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A부터 M까지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A, B, C 다음에는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글자가 올까요?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M까지 글자 이름을 차례대로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곧은 선과 굽은 선을 보고 닮은 글자를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차례와 선 모양 살피기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?에 들어갈 글자를 말하고, ②는 굽은 선이 있는 글자를 찾아요.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4100" dirty="0"/>
          </a:p>
        </p:txBody>
      </p:sp>
      <p:sp>
        <p:nvSpPr>
          <p:cNvPr id="6" name="S02-tile10"/>
          <p:cNvSpPr txBox="1"/>
          <p:nvPr/>
        </p:nvSpPr>
        <p:spPr>
          <a:xfrm>
            <a:off x="2481682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4100" dirty="0"/>
          </a:p>
        </p:txBody>
      </p:sp>
      <p:sp>
        <p:nvSpPr>
          <p:cNvPr id="7" name="S02-tile11"/>
          <p:cNvSpPr txBox="1"/>
          <p:nvPr/>
        </p:nvSpPr>
        <p:spPr>
          <a:xfrm>
            <a:off x="3619195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4100" dirty="0"/>
          </a:p>
        </p:txBody>
      </p:sp>
      <p:sp>
        <p:nvSpPr>
          <p:cNvPr id="8" name="S02-tile12"/>
          <p:cNvSpPr txBox="1"/>
          <p:nvPr/>
        </p:nvSpPr>
        <p:spPr>
          <a:xfrm>
            <a:off x="4756709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4100" dirty="0"/>
          </a:p>
        </p:txBody>
      </p:sp>
      <p:sp>
        <p:nvSpPr>
          <p:cNvPr id="9" name="S02-tile13"/>
          <p:cNvSpPr txBox="1"/>
          <p:nvPr/>
        </p:nvSpPr>
        <p:spPr>
          <a:xfrm>
            <a:off x="5894222" y="2869387"/>
            <a:ext cx="936346" cy="936346"/>
          </a:xfrm>
          <a:prstGeom prst="roundRect">
            <a:avLst>
              <a:gd name="adj" fmla="val 13672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100" dirty="0"/>
          </a:p>
        </p:txBody>
      </p:sp>
      <p:sp>
        <p:nvSpPr>
          <p:cNvPr id="10" name="S02-chip14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2-tile15"/>
          <p:cNvSpPr txBox="1"/>
          <p:nvPr/>
        </p:nvSpPr>
        <p:spPr>
          <a:xfrm>
            <a:off x="182880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ㅅ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340156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ㅇ</a:t>
            </a:r>
            <a:endParaRPr lang="ko-KR" sz="5900" dirty="0"/>
          </a:p>
        </p:txBody>
      </p:sp>
      <p:sp>
        <p:nvSpPr>
          <p:cNvPr id="13" name="S02-tile17"/>
          <p:cNvSpPr txBox="1"/>
          <p:nvPr/>
        </p:nvSpPr>
        <p:spPr>
          <a:xfrm>
            <a:off x="497433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A와 B</a:t>
            </a:r>
            <a:endParaRPr lang="ko-KR" sz="4000" dirty="0"/>
          </a:p>
        </p:txBody>
      </p:sp>
      <p:sp>
        <p:nvSpPr>
          <p:cNvPr id="3" name="S03-card1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A는 곧은 선만 있어요.</a:t>
            </a:r>
            <a:endParaRPr lang="ko-KR" sz="3000" dirty="0"/>
          </a:p>
        </p:txBody>
      </p:sp>
      <p:sp>
        <p:nvSpPr>
          <p:cNvPr id="5" name="S03-card2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B는 굽은 선이 2개 있어요.</a:t>
            </a:r>
            <a:endParaRPr lang="ko-KR" sz="3000" dirty="0"/>
          </a:p>
        </p:txBody>
      </p:sp>
      <p:sp>
        <p:nvSpPr>
          <p:cNvPr id="7" name="S03-tile22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8700" dirty="0"/>
          </a:p>
        </p:txBody>
      </p:sp>
      <p:sp>
        <p:nvSpPr>
          <p:cNvPr id="8" name="S03-tile23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C와 D</a:t>
            </a:r>
            <a:endParaRPr lang="ko-KR" sz="4000" dirty="0"/>
          </a:p>
        </p:txBody>
      </p:sp>
      <p:sp>
        <p:nvSpPr>
          <p:cNvPr id="3" name="S04-card24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5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C는 굽은 선 하나예요.</a:t>
            </a:r>
            <a:endParaRPr lang="ko-KR" sz="3000" dirty="0"/>
          </a:p>
        </p:txBody>
      </p:sp>
      <p:sp>
        <p:nvSpPr>
          <p:cNvPr id="5" name="S04-card26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7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D는 곧은 선과 굽은 선이 있어요.</a:t>
            </a:r>
            <a:endParaRPr lang="ko-KR" sz="3000" dirty="0"/>
          </a:p>
        </p:txBody>
      </p:sp>
      <p:sp>
        <p:nvSpPr>
          <p:cNvPr id="7" name="S04-tile28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8700" dirty="0"/>
          </a:p>
        </p:txBody>
      </p:sp>
      <p:sp>
        <p:nvSpPr>
          <p:cNvPr id="8" name="S04-tile29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E와 F</a:t>
            </a:r>
            <a:endParaRPr lang="ko-KR" sz="4000" dirty="0"/>
          </a:p>
        </p:txBody>
      </p:sp>
      <p:sp>
        <p:nvSpPr>
          <p:cNvPr id="3" name="S05-card30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1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E는 가로선이 3개예요.</a:t>
            </a:r>
            <a:endParaRPr lang="ko-KR" sz="3000" dirty="0"/>
          </a:p>
        </p:txBody>
      </p:sp>
      <p:sp>
        <p:nvSpPr>
          <p:cNvPr id="5" name="S05-card32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3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F는 가로선이 2개예요.</a:t>
            </a:r>
            <a:endParaRPr lang="ko-KR" sz="3000" dirty="0"/>
          </a:p>
        </p:txBody>
      </p:sp>
      <p:sp>
        <p:nvSpPr>
          <p:cNvPr id="7" name="S05-tile34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8700" dirty="0"/>
          </a:p>
        </p:txBody>
      </p:sp>
      <p:sp>
        <p:nvSpPr>
          <p:cNvPr id="8" name="S05-tile35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G와 H</a:t>
            </a:r>
            <a:endParaRPr lang="ko-KR" sz="4000" dirty="0"/>
          </a:p>
        </p:txBody>
      </p:sp>
      <p:sp>
        <p:nvSpPr>
          <p:cNvPr id="3" name="S06-card36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7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G는 C에 짧은 선이 붙어요.</a:t>
            </a:r>
            <a:endParaRPr lang="ko-KR" sz="3000" dirty="0"/>
          </a:p>
        </p:txBody>
      </p:sp>
      <p:sp>
        <p:nvSpPr>
          <p:cNvPr id="5" name="S06-card38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9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H는 곧은 선만 있어요.</a:t>
            </a:r>
            <a:endParaRPr lang="ko-KR" sz="3000" dirty="0"/>
          </a:p>
        </p:txBody>
      </p:sp>
      <p:sp>
        <p:nvSpPr>
          <p:cNvPr id="7" name="S06-tile40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8700" dirty="0"/>
          </a:p>
        </p:txBody>
      </p:sp>
      <p:sp>
        <p:nvSpPr>
          <p:cNvPr id="8" name="S06-tile41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I와 J</a:t>
            </a:r>
            <a:endParaRPr lang="ko-KR" sz="4000" dirty="0"/>
          </a:p>
        </p:txBody>
      </p:sp>
      <p:sp>
        <p:nvSpPr>
          <p:cNvPr id="3" name="S07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한글 ㅣ와 닮았지만 영어 이름으로 불러요.</a:t>
            </a:r>
            <a:endParaRPr lang="ko-KR" sz="3000" dirty="0"/>
          </a:p>
        </p:txBody>
      </p:sp>
      <p:sp>
        <p:nvSpPr>
          <p:cNvPr id="5" name="S07-card44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5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곧은 선 하나예요.</a:t>
            </a:r>
            <a:endParaRPr lang="ko-KR" sz="3000" dirty="0"/>
          </a:p>
        </p:txBody>
      </p:sp>
      <p:sp>
        <p:nvSpPr>
          <p:cNvPr id="7" name="S07-card46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7-cardtext47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J는 아래가 굽었어요.</a:t>
            </a:r>
            <a:endParaRPr lang="ko-KR" sz="3000" dirty="0"/>
          </a:p>
        </p:txBody>
      </p:sp>
      <p:sp>
        <p:nvSpPr>
          <p:cNvPr id="9" name="S07-tile48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7900" dirty="0"/>
          </a:p>
        </p:txBody>
      </p:sp>
      <p:sp>
        <p:nvSpPr>
          <p:cNvPr id="10" name="S07-tile49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K와 L</a:t>
            </a:r>
            <a:endParaRPr lang="ko-KR" sz="4000" dirty="0"/>
          </a:p>
        </p:txBody>
      </p:sp>
      <p:sp>
        <p:nvSpPr>
          <p:cNvPr id="3" name="S08-card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L은 한글 ㄴ과 닮았지만 영어 이름으로 불러요.</a:t>
            </a:r>
            <a:endParaRPr lang="ko-KR" sz="3000" dirty="0"/>
          </a:p>
        </p:txBody>
      </p:sp>
      <p:sp>
        <p:nvSpPr>
          <p:cNvPr id="5" name="S08-card5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K는 곧은 선만 있어요.</a:t>
            </a:r>
            <a:endParaRPr lang="ko-KR" sz="3000" dirty="0"/>
          </a:p>
        </p:txBody>
      </p:sp>
      <p:sp>
        <p:nvSpPr>
          <p:cNvPr id="7" name="S08-card5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L은 곧은 선 2개예요.</a:t>
            </a:r>
            <a:endParaRPr lang="ko-KR" sz="3000" dirty="0"/>
          </a:p>
        </p:txBody>
      </p:sp>
      <p:sp>
        <p:nvSpPr>
          <p:cNvPr id="9" name="S08-tile56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7900" dirty="0"/>
          </a:p>
        </p:txBody>
      </p:sp>
      <p:sp>
        <p:nvSpPr>
          <p:cNvPr id="10" name="S08-tile57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M까지 차례대로</a:t>
            </a:r>
            <a:endParaRPr lang="ko-KR" sz="4000" dirty="0"/>
          </a:p>
        </p:txBody>
      </p:sp>
      <p:sp>
        <p:nvSpPr>
          <p:cNvPr id="3" name="S09-text5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M을 배우고, A부터 차례대로 말해요.</a:t>
            </a:r>
            <a:endParaRPr lang="ko-KR" sz="3000" dirty="0"/>
          </a:p>
        </p:txBody>
      </p:sp>
      <p:sp>
        <p:nvSpPr>
          <p:cNvPr id="4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A부터 M까지 13글자예요.</a:t>
            </a:r>
            <a:endParaRPr lang="ko-KR" sz="3000" dirty="0"/>
          </a:p>
        </p:txBody>
      </p:sp>
      <p:sp>
        <p:nvSpPr>
          <p:cNvPr id="6" name="S09-tile61"/>
          <p:cNvSpPr txBox="1"/>
          <p:nvPr/>
        </p:nvSpPr>
        <p:spPr>
          <a:xfrm>
            <a:off x="69037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7" name="S09-tile62"/>
          <p:cNvSpPr txBox="1"/>
          <p:nvPr/>
        </p:nvSpPr>
        <p:spPr>
          <a:xfrm>
            <a:off x="226314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8" name="S09-tile63"/>
          <p:cNvSpPr txBox="1"/>
          <p:nvPr/>
        </p:nvSpPr>
        <p:spPr>
          <a:xfrm>
            <a:off x="3835908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9" name="S09-tile64"/>
          <p:cNvSpPr txBox="1"/>
          <p:nvPr/>
        </p:nvSpPr>
        <p:spPr>
          <a:xfrm>
            <a:off x="5408676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0" name="S09-tile65"/>
          <p:cNvSpPr txBox="1"/>
          <p:nvPr/>
        </p:nvSpPr>
        <p:spPr>
          <a:xfrm>
            <a:off x="6981444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1" name="S09-tile66"/>
          <p:cNvSpPr txBox="1"/>
          <p:nvPr/>
        </p:nvSpPr>
        <p:spPr>
          <a:xfrm>
            <a:off x="8554212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2" name="S09-tile67"/>
          <p:cNvSpPr txBox="1"/>
          <p:nvPr/>
        </p:nvSpPr>
        <p:spPr>
          <a:xfrm>
            <a:off x="10126980" y="209397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3" name="S09-tile68"/>
          <p:cNvSpPr txBox="1"/>
          <p:nvPr/>
        </p:nvSpPr>
        <p:spPr>
          <a:xfrm>
            <a:off x="147675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4" name="S09-tile69"/>
          <p:cNvSpPr txBox="1"/>
          <p:nvPr/>
        </p:nvSpPr>
        <p:spPr>
          <a:xfrm>
            <a:off x="3049524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5" name="S09-tile70"/>
          <p:cNvSpPr txBox="1"/>
          <p:nvPr/>
        </p:nvSpPr>
        <p:spPr>
          <a:xfrm>
            <a:off x="4622292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6" name="S09-tile71"/>
          <p:cNvSpPr txBox="1"/>
          <p:nvPr/>
        </p:nvSpPr>
        <p:spPr>
          <a:xfrm>
            <a:off x="6195060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7" name="S09-tile72"/>
          <p:cNvSpPr txBox="1"/>
          <p:nvPr/>
        </p:nvSpPr>
        <p:spPr>
          <a:xfrm>
            <a:off x="7767828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8" name="S09-tile73"/>
          <p:cNvSpPr txBox="1"/>
          <p:nvPr/>
        </p:nvSpPr>
        <p:spPr>
          <a:xfrm>
            <a:off x="9340596" y="366674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000" dirty="0"/>
          </a:p>
        </p:txBody>
      </p:sp>
      <p:sp>
        <p:nvSpPr>
          <p:cNvPr id="3" name="S10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글자를 짚어요.</a:t>
            </a:r>
            <a:endParaRPr lang="ko-KR" sz="3000" dirty="0"/>
          </a:p>
        </p:txBody>
      </p:sp>
      <p:sp>
        <p:nvSpPr>
          <p:cNvPr id="4" name="S10-tile75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5" name="S10-tile76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900" dirty="0"/>
          </a:p>
        </p:txBody>
      </p:sp>
      <p:sp>
        <p:nvSpPr>
          <p:cNvPr id="6" name="S10-tile77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7" name="S10-tile78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8" name="S10-tile79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9" name="S10-tile80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900" dirty="0"/>
          </a:p>
        </p:txBody>
      </p:sp>
      <p:sp>
        <p:nvSpPr>
          <p:cNvPr id="10" name="S10-tile81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1" name="S10-tile82"/>
          <p:cNvSpPr txBox="1"/>
          <p:nvPr/>
        </p:nvSpPr>
        <p:spPr>
          <a:xfrm>
            <a:off x="147675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2" name="S10-tile83"/>
          <p:cNvSpPr txBox="1"/>
          <p:nvPr/>
        </p:nvSpPr>
        <p:spPr>
          <a:xfrm>
            <a:off x="304952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3" name="S10-tile84"/>
          <p:cNvSpPr txBox="1"/>
          <p:nvPr/>
        </p:nvSpPr>
        <p:spPr>
          <a:xfrm>
            <a:off x="462229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4" name="S10-tile85"/>
          <p:cNvSpPr txBox="1"/>
          <p:nvPr/>
        </p:nvSpPr>
        <p:spPr>
          <a:xfrm>
            <a:off x="619506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15" name="S10-tile86"/>
          <p:cNvSpPr txBox="1"/>
          <p:nvPr/>
        </p:nvSpPr>
        <p:spPr>
          <a:xfrm>
            <a:off x="776782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6" name="S10-tile87"/>
          <p:cNvSpPr txBox="1"/>
          <p:nvPr/>
        </p:nvSpPr>
        <p:spPr>
          <a:xfrm>
            <a:off x="934059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E일까요, F일까요?</a:t>
            </a:r>
            <a:endParaRPr lang="ko-KR" sz="4000" dirty="0"/>
          </a:p>
        </p:txBody>
      </p:sp>
      <p:sp>
        <p:nvSpPr>
          <p:cNvPr id="3" name="S11-card8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F를 보고 ‘E’라고 했어요.</a:t>
            </a:r>
            <a:endParaRPr lang="ko-KR" sz="3000" dirty="0"/>
          </a:p>
        </p:txBody>
      </p:sp>
      <p:sp>
        <p:nvSpPr>
          <p:cNvPr id="5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9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가로선 3개</a:t>
            </a:r>
            <a:endParaRPr lang="ko-KR" sz="2400" dirty="0"/>
          </a:p>
        </p:txBody>
      </p:sp>
      <p:sp>
        <p:nvSpPr>
          <p:cNvPr id="8" name="S11-tile93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900" dirty="0"/>
          </a:p>
        </p:txBody>
      </p:sp>
      <p:sp>
        <p:nvSpPr>
          <p:cNvPr id="9" name="S11-chip9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가로선 2개</a:t>
            </a:r>
            <a:endParaRPr lang="ko-KR" sz="2400" dirty="0"/>
          </a:p>
        </p:txBody>
      </p:sp>
      <p:sp>
        <p:nvSpPr>
          <p:cNvPr id="10" name="S11-tile95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글자를 찾아요</a:t>
            </a:r>
            <a:endParaRPr lang="ko-KR" sz="4000" dirty="0"/>
          </a:p>
        </p:txBody>
      </p:sp>
      <p:sp>
        <p:nvSpPr>
          <p:cNvPr id="3" name="S12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글자를 말해요.</a:t>
            </a:r>
            <a:endParaRPr lang="ko-KR" sz="3000" dirty="0"/>
          </a:p>
        </p:txBody>
      </p:sp>
      <p:sp>
        <p:nvSpPr>
          <p:cNvPr id="4" name="S12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A부터 차례대로 말해 봐요.</a:t>
            </a:r>
            <a:endParaRPr lang="ko-KR" sz="3000" dirty="0"/>
          </a:p>
        </p:txBody>
      </p:sp>
      <p:sp>
        <p:nvSpPr>
          <p:cNvPr id="6" name="S12-chip9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ile100"/>
          <p:cNvSpPr txBox="1"/>
          <p:nvPr/>
        </p:nvSpPr>
        <p:spPr>
          <a:xfrm>
            <a:off x="195681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4000" dirty="0"/>
          </a:p>
        </p:txBody>
      </p:sp>
      <p:sp>
        <p:nvSpPr>
          <p:cNvPr id="8" name="S12-tile101"/>
          <p:cNvSpPr txBox="1"/>
          <p:nvPr/>
        </p:nvSpPr>
        <p:spPr>
          <a:xfrm>
            <a:off x="307238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4000" dirty="0"/>
          </a:p>
        </p:txBody>
      </p:sp>
      <p:sp>
        <p:nvSpPr>
          <p:cNvPr id="9" name="S12-tile102"/>
          <p:cNvSpPr txBox="1"/>
          <p:nvPr/>
        </p:nvSpPr>
        <p:spPr>
          <a:xfrm>
            <a:off x="418795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0" name="S12-tile103"/>
          <p:cNvSpPr txBox="1"/>
          <p:nvPr/>
        </p:nvSpPr>
        <p:spPr>
          <a:xfrm>
            <a:off x="530352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4000" dirty="0"/>
          </a:p>
        </p:txBody>
      </p:sp>
      <p:sp>
        <p:nvSpPr>
          <p:cNvPr id="11" name="S12-chip10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2-tile105"/>
          <p:cNvSpPr txBox="1"/>
          <p:nvPr/>
        </p:nvSpPr>
        <p:spPr>
          <a:xfrm>
            <a:off x="195681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4000" dirty="0"/>
          </a:p>
        </p:txBody>
      </p:sp>
      <p:sp>
        <p:nvSpPr>
          <p:cNvPr id="13" name="S12-tile106"/>
          <p:cNvSpPr txBox="1"/>
          <p:nvPr/>
        </p:nvSpPr>
        <p:spPr>
          <a:xfrm>
            <a:off x="3072384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4000" dirty="0"/>
          </a:p>
        </p:txBody>
      </p:sp>
      <p:sp>
        <p:nvSpPr>
          <p:cNvPr id="14" name="S12-tile107"/>
          <p:cNvSpPr txBox="1"/>
          <p:nvPr/>
        </p:nvSpPr>
        <p:spPr>
          <a:xfrm>
            <a:off x="4187952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5" name="S12-tile108"/>
          <p:cNvSpPr txBox="1"/>
          <p:nvPr/>
        </p:nvSpPr>
        <p:spPr>
          <a:xfrm>
            <a:off x="5303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4000" dirty="0"/>
          </a:p>
        </p:txBody>
      </p:sp>
      <p:sp>
        <p:nvSpPr>
          <p:cNvPr id="16" name="S12-chip10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2-tile110"/>
          <p:cNvSpPr txBox="1"/>
          <p:nvPr/>
        </p:nvSpPr>
        <p:spPr>
          <a:xfrm>
            <a:off x="195681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8" name="S12-tile111"/>
          <p:cNvSpPr txBox="1"/>
          <p:nvPr/>
        </p:nvSpPr>
        <p:spPr>
          <a:xfrm>
            <a:off x="307238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4000" dirty="0"/>
          </a:p>
        </p:txBody>
      </p:sp>
      <p:sp>
        <p:nvSpPr>
          <p:cNvPr id="19" name="S12-tile112"/>
          <p:cNvSpPr txBox="1"/>
          <p:nvPr/>
        </p:nvSpPr>
        <p:spPr>
          <a:xfrm>
            <a:off x="418795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20" name="S12-tile113"/>
          <p:cNvSpPr txBox="1"/>
          <p:nvPr/>
        </p:nvSpPr>
        <p:spPr>
          <a:xfrm>
            <a:off x="530352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1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말해요. ③은 빠진 글자, ④는 굽은 선이 있는 글자를 찾아요.</a:t>
            </a:r>
            <a:endParaRPr lang="ko-KR" sz="3000" dirty="0"/>
          </a:p>
        </p:txBody>
      </p:sp>
      <p:sp>
        <p:nvSpPr>
          <p:cNvPr id="4" name="S13-chip115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ile116"/>
          <p:cNvSpPr txBox="1"/>
          <p:nvPr/>
        </p:nvSpPr>
        <p:spPr>
          <a:xfrm>
            <a:off x="1369314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6" name="S13-tile117"/>
          <p:cNvSpPr txBox="1"/>
          <p:nvPr/>
        </p:nvSpPr>
        <p:spPr>
          <a:xfrm>
            <a:off x="2942082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7" name="S13-tile118"/>
          <p:cNvSpPr txBox="1"/>
          <p:nvPr/>
        </p:nvSpPr>
        <p:spPr>
          <a:xfrm>
            <a:off x="451485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8" name="S13-chip119"/>
          <p:cNvSpPr txBox="1"/>
          <p:nvPr/>
        </p:nvSpPr>
        <p:spPr>
          <a:xfrm>
            <a:off x="6277356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ile120"/>
          <p:cNvSpPr txBox="1"/>
          <p:nvPr/>
        </p:nvSpPr>
        <p:spPr>
          <a:xfrm>
            <a:off x="709803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900" dirty="0"/>
          </a:p>
        </p:txBody>
      </p:sp>
      <p:sp>
        <p:nvSpPr>
          <p:cNvPr id="10" name="S13-tile121"/>
          <p:cNvSpPr txBox="1"/>
          <p:nvPr/>
        </p:nvSpPr>
        <p:spPr>
          <a:xfrm>
            <a:off x="86707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900" dirty="0"/>
          </a:p>
        </p:txBody>
      </p:sp>
      <p:sp>
        <p:nvSpPr>
          <p:cNvPr id="11" name="S13-tile122"/>
          <p:cNvSpPr txBox="1"/>
          <p:nvPr/>
        </p:nvSpPr>
        <p:spPr>
          <a:xfrm>
            <a:off x="102435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900" dirty="0"/>
          </a:p>
        </p:txBody>
      </p:sp>
      <p:sp>
        <p:nvSpPr>
          <p:cNvPr id="12" name="S13-chip12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13-tile124"/>
          <p:cNvSpPr txBox="1"/>
          <p:nvPr/>
        </p:nvSpPr>
        <p:spPr>
          <a:xfrm>
            <a:off x="1369314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900" dirty="0"/>
          </a:p>
        </p:txBody>
      </p:sp>
      <p:sp>
        <p:nvSpPr>
          <p:cNvPr id="14" name="S13-tile125"/>
          <p:cNvSpPr txBox="1"/>
          <p:nvPr/>
        </p:nvSpPr>
        <p:spPr>
          <a:xfrm>
            <a:off x="2942082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5" name="S13-tile126"/>
          <p:cNvSpPr txBox="1"/>
          <p:nvPr/>
        </p:nvSpPr>
        <p:spPr>
          <a:xfrm>
            <a:off x="451485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900" dirty="0"/>
          </a:p>
        </p:txBody>
      </p:sp>
      <p:sp>
        <p:nvSpPr>
          <p:cNvPr id="16" name="S13-chip127"/>
          <p:cNvSpPr txBox="1"/>
          <p:nvPr/>
        </p:nvSpPr>
        <p:spPr>
          <a:xfrm>
            <a:off x="6277356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13-tile128"/>
          <p:cNvSpPr txBox="1"/>
          <p:nvPr/>
        </p:nvSpPr>
        <p:spPr>
          <a:xfrm>
            <a:off x="709803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900" dirty="0"/>
          </a:p>
        </p:txBody>
      </p:sp>
      <p:sp>
        <p:nvSpPr>
          <p:cNvPr id="18" name="S13-tile129"/>
          <p:cNvSpPr txBox="1"/>
          <p:nvPr/>
        </p:nvSpPr>
        <p:spPr>
          <a:xfrm>
            <a:off x="867079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900" dirty="0"/>
          </a:p>
        </p:txBody>
      </p:sp>
      <p:sp>
        <p:nvSpPr>
          <p:cNvPr id="19" name="S13-tile130"/>
          <p:cNvSpPr txBox="1"/>
          <p:nvPr/>
        </p:nvSpPr>
        <p:spPr>
          <a:xfrm>
            <a:off x="1024356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4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선이 곧은지 굽었는지, 몇 개인지 먼저 봐요.</a:t>
            </a:r>
            <a:endParaRPr lang="ko-KR" sz="3000" dirty="0"/>
          </a:p>
        </p:txBody>
      </p:sp>
      <p:sp>
        <p:nvSpPr>
          <p:cNvPr id="5" name="S14-chip13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3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 D K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F J</a:t>
            </a:r>
            <a:endParaRPr lang="ko-KR" sz="3000" dirty="0"/>
          </a:p>
        </p:txBody>
      </p:sp>
      <p:sp>
        <p:nvSpPr>
          <p:cNvPr id="7" name="S14-text13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바로 말해요</a:t>
            </a:r>
            <a:endParaRPr lang="ko-KR" sz="2400" dirty="0"/>
          </a:p>
        </p:txBody>
      </p:sp>
      <p:sp>
        <p:nvSpPr>
          <p:cNvPr id="8" name="S14-text13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C</a:t>
            </a:r>
            <a:endParaRPr lang="ko-KR" sz="3000" dirty="0"/>
          </a:p>
        </p:txBody>
      </p:sp>
      <p:sp>
        <p:nvSpPr>
          <p:cNvPr id="9" name="S14-text13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B와 D 사이</a:t>
            </a:r>
            <a:endParaRPr lang="ko-KR" sz="2400" dirty="0"/>
          </a:p>
        </p:txBody>
      </p:sp>
      <p:sp>
        <p:nvSpPr>
          <p:cNvPr id="10" name="S14-text13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G</a:t>
            </a:r>
            <a:endParaRPr lang="ko-KR" sz="3000" dirty="0"/>
          </a:p>
        </p:txBody>
      </p:sp>
      <p:sp>
        <p:nvSpPr>
          <p:cNvPr id="11" name="S14-text13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선이 있어요</a:t>
            </a:r>
            <a:endParaRPr lang="ko-KR" sz="2400" dirty="0"/>
          </a:p>
        </p:txBody>
      </p:sp>
      <p:sp>
        <p:nvSpPr>
          <p:cNvPr id="12" name="S14-chip14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41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I를 ㅣ 소리로</a:t>
            </a:r>
            <a:endParaRPr lang="ko-KR" sz="3000" dirty="0"/>
          </a:p>
        </p:txBody>
      </p:sp>
      <p:sp>
        <p:nvSpPr>
          <p:cNvPr id="14" name="S14-text142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이름으로 말해요</a:t>
            </a:r>
            <a:endParaRPr lang="ko-KR" sz="2400" dirty="0"/>
          </a:p>
        </p:txBody>
      </p:sp>
      <p:sp>
        <p:nvSpPr>
          <p:cNvPr id="15" name="S14-text143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F를 E로</a:t>
            </a:r>
            <a:endParaRPr lang="ko-KR" sz="3000" dirty="0"/>
          </a:p>
        </p:txBody>
      </p:sp>
      <p:sp>
        <p:nvSpPr>
          <p:cNvPr id="16" name="S14-text144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가로선을 세어요</a:t>
            </a:r>
            <a:endParaRPr lang="ko-KR" sz="2400" dirty="0"/>
          </a:p>
        </p:txBody>
      </p:sp>
      <p:sp>
        <p:nvSpPr>
          <p:cNvPr id="17" name="S14-text145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H나 A</a:t>
            </a:r>
            <a:endParaRPr lang="ko-KR" sz="3000" dirty="0"/>
          </a:p>
        </p:txBody>
      </p:sp>
      <p:sp>
        <p:nvSpPr>
          <p:cNvPr id="18" name="S14-text146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선만 있어요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5-card1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5-chip14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5-tile150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6300" dirty="0"/>
          </a:p>
        </p:txBody>
      </p:sp>
      <p:sp>
        <p:nvSpPr>
          <p:cNvPr id="7" name="S15-chip15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5-tile152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6300" dirty="0"/>
          </a:p>
        </p:txBody>
      </p:sp>
      <p:sp>
        <p:nvSpPr>
          <p:cNvPr id="9" name="S15-chip15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5-tile154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6300" dirty="0"/>
          </a:p>
        </p:txBody>
      </p:sp>
      <p:sp>
        <p:nvSpPr>
          <p:cNvPr id="11" name="S15-chip15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5-tile156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5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5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A부터 M까지 13글자를 배웠어요.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선과 굽은 선을 보면 닮은 글자도 구별해요.</a:t>
            </a:r>
            <a:endParaRPr lang="ko-KR" sz="3000" dirty="0"/>
          </a:p>
        </p:txBody>
      </p:sp>
      <p:sp>
        <p:nvSpPr>
          <p:cNvPr id="5" name="S16-chip15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선을 세어 보고 구별하기</a:t>
            </a:r>
            <a:endParaRPr lang="ko-KR" sz="2400" dirty="0"/>
          </a:p>
        </p:txBody>
      </p:sp>
      <p:sp>
        <p:nvSpPr>
          <p:cNvPr id="6" name="S16-chip16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한글처럼 읽기</a:t>
            </a:r>
            <a:endParaRPr lang="ko-KR" sz="2400" dirty="0"/>
          </a:p>
        </p:txBody>
      </p:sp>
      <p:sp>
        <p:nvSpPr>
          <p:cNvPr id="7" name="S16-text16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6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M까지 차례대로 말하기</a:t>
            </a:r>
            <a:endParaRPr lang="ko-KR" sz="2400" dirty="0"/>
          </a:p>
        </p:txBody>
      </p:sp>
      <p:sp>
        <p:nvSpPr>
          <p:cNvPr id="9" name="S16-text16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E와 F의 다른 점은?</a:t>
            </a:r>
            <a:endParaRPr lang="ko-KR" sz="2400" dirty="0"/>
          </a:p>
        </p:txBody>
      </p:sp>
      <p:sp>
        <p:nvSpPr>
          <p:cNvPr id="10" name="S16-text16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K 다음 글자는?</a:t>
            </a:r>
            <a:endParaRPr lang="ko-KR" sz="2400" dirty="0"/>
          </a:p>
        </p:txBody>
      </p:sp>
      <p:sp>
        <p:nvSpPr>
          <p:cNvPr id="11" name="S16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알파벳 N부터 Z까지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선 모양과 차례</a:t>
            </a:r>
            <a:endParaRPr lang="ko-KR" sz="4000" dirty="0"/>
          </a:p>
        </p:txBody>
      </p:sp>
      <p:sp>
        <p:nvSpPr>
          <p:cNvPr id="3" name="S17-figure166" descr="곧은 선"/>
          <p:cNvSpPr/>
          <p:nvPr/>
        </p:nvSpPr>
        <p:spPr>
          <a:xfrm>
            <a:off x="924047" y="2612385"/>
            <a:ext cx="1930664" cy="1755149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4" name="S17-label167"/>
          <p:cNvSpPr txBox="1"/>
          <p:nvPr/>
        </p:nvSpPr>
        <p:spPr>
          <a:xfrm>
            <a:off x="548640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</a:t>
            </a:r>
            <a:endParaRPr lang="ko-KR" sz="2400" dirty="0"/>
          </a:p>
        </p:txBody>
      </p:sp>
      <p:sp>
        <p:nvSpPr>
          <p:cNvPr id="5" name="S17-figure168" descr="굽은 선"/>
          <p:cNvSpPr/>
          <p:nvPr/>
        </p:nvSpPr>
        <p:spPr>
          <a:xfrm>
            <a:off x="3605525" y="2524628"/>
            <a:ext cx="1930664" cy="1930664"/>
          </a:xfrm>
          <a:prstGeom prst="ellips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17-label169"/>
          <p:cNvSpPr txBox="1"/>
          <p:nvPr/>
        </p:nvSpPr>
        <p:spPr>
          <a:xfrm>
            <a:off x="3230118" y="5791200"/>
            <a:ext cx="2681478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</a:t>
            </a:r>
            <a:endParaRPr lang="ko-KR" sz="2400" dirty="0"/>
          </a:p>
        </p:txBody>
      </p:sp>
      <p:sp>
        <p:nvSpPr>
          <p:cNvPr id="7" name="S17-card170"/>
          <p:cNvSpPr/>
          <p:nvPr/>
        </p:nvSpPr>
        <p:spPr>
          <a:xfrm>
            <a:off x="6277356" y="239877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7-cardtext171"/>
          <p:cNvSpPr txBox="1"/>
          <p:nvPr/>
        </p:nvSpPr>
        <p:spPr>
          <a:xfrm>
            <a:off x="6551676" y="253593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선을 따라 그려요.</a:t>
            </a:r>
            <a:endParaRPr lang="ko-KR" sz="3000" dirty="0"/>
          </a:p>
        </p:txBody>
      </p:sp>
      <p:sp>
        <p:nvSpPr>
          <p:cNvPr id="9" name="S17-card172"/>
          <p:cNvSpPr/>
          <p:nvPr/>
        </p:nvSpPr>
        <p:spPr>
          <a:xfrm>
            <a:off x="6277356" y="3886200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7-cardtext173"/>
          <p:cNvSpPr txBox="1"/>
          <p:nvPr/>
        </p:nvSpPr>
        <p:spPr>
          <a:xfrm>
            <a:off x="6551676" y="4023360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ㄱ부터 ㅎ까지 차례대로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알파벳 A부터 M까지</dc:title>
  <dc:subject>KR22-G03-ENG-ABC1-L01</dc:subject>
  <dc:creator>education-ppt</dc:creator>
  <cp:lastModifiedBy>education-ppt</cp:lastModifiedBy>
  <cp:revision>1</cp:revision>
  <dcterms:created xsi:type="dcterms:W3CDTF">2026-10-26T09:07:19Z</dcterms:created>
  <dcterms:modified xsi:type="dcterms:W3CDTF">2026-10-26T09:07:19Z</dcterms:modified>
</cp:coreProperties>
</file>