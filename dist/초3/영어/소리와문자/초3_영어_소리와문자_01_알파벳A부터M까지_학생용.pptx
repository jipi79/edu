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1212f83-5a4f-2914-d615-d858b28b8114}">
          <p14:sldIdLst>
            <p14:sldId id="256"/>
            <p14:sldId id="257"/>
          </p14:sldIdLst>
        </p14:section>
        <p14:section name="개념" id="{76d6de49-3420-26c7-60a7-a4459d58dda5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연습" id="{05f338f6-c790-c99b-ef69-474df9167901}">
          <p14:sldIdLst>
            <p14:sldId id="265"/>
            <p14:sldId id="266"/>
            <p14:sldId id="267"/>
          </p14:sldIdLst>
        </p14:section>
        <p14:section name="확인" id="{3eb6bd26-f93c-f9e5-1104-8bf142f1c080}">
          <p14:sldIdLst>
            <p14:sldId id="268"/>
            <p14:sldId id="269"/>
          </p14:sldIdLst>
        </p14:section>
        <p14:section name="정리" id="{4e6b7500-6539-4ae0-c27d-e7eb5d7808ec}">
          <p14:sldIdLst>
            <p14:sldId id="270"/>
          </p14:sldIdLst>
        </p14:section>
        <p14:section name="보충" id="{925a3fdc-bf51-5de5-cba0-8eeb11344ce1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소리와문자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알파벳 A부터 M까지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알파벳 A부터 M까지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알파벳 A부터 M까지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알파벳 A부터 M까지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A, B, C 다음에는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글자가 올까요?</a:t>
            </a:r>
            <a:endParaRPr lang="ko-KR" sz="30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A부터 M까지 글자 이름을 차례대로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곧은 선과 굽은 선을 보고 닮은 글자를 구별해요.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차례와 선 모양 살피기</a:t>
            </a:r>
            <a:endParaRPr lang="ko-KR" sz="40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?에 들어갈 글자를 말하고, ②는 굽은 선이 있는 글자를 찾아요.</a:t>
            </a:r>
            <a:endParaRPr lang="ko-KR" sz="30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9"/>
          <p:cNvSpPr txBox="1"/>
          <p:nvPr/>
        </p:nvSpPr>
        <p:spPr>
          <a:xfrm>
            <a:off x="1344168" y="2869387"/>
            <a:ext cx="936346" cy="936346"/>
          </a:xfrm>
          <a:prstGeom prst="roundRect">
            <a:avLst>
              <a:gd name="adj" fmla="val 136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4100" dirty="0"/>
          </a:p>
        </p:txBody>
      </p:sp>
      <p:sp>
        <p:nvSpPr>
          <p:cNvPr id="6" name="S02-tile10"/>
          <p:cNvSpPr txBox="1"/>
          <p:nvPr/>
        </p:nvSpPr>
        <p:spPr>
          <a:xfrm>
            <a:off x="2481682" y="2869387"/>
            <a:ext cx="936346" cy="936346"/>
          </a:xfrm>
          <a:prstGeom prst="roundRect">
            <a:avLst>
              <a:gd name="adj" fmla="val 136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4100" dirty="0"/>
          </a:p>
        </p:txBody>
      </p:sp>
      <p:sp>
        <p:nvSpPr>
          <p:cNvPr id="7" name="S02-tile11"/>
          <p:cNvSpPr txBox="1"/>
          <p:nvPr/>
        </p:nvSpPr>
        <p:spPr>
          <a:xfrm>
            <a:off x="3619195" y="2869387"/>
            <a:ext cx="936346" cy="936346"/>
          </a:xfrm>
          <a:prstGeom prst="roundRect">
            <a:avLst>
              <a:gd name="adj" fmla="val 136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4100" dirty="0"/>
          </a:p>
        </p:txBody>
      </p:sp>
      <p:sp>
        <p:nvSpPr>
          <p:cNvPr id="8" name="S02-tile12"/>
          <p:cNvSpPr txBox="1"/>
          <p:nvPr/>
        </p:nvSpPr>
        <p:spPr>
          <a:xfrm>
            <a:off x="4756709" y="2869387"/>
            <a:ext cx="936346" cy="936346"/>
          </a:xfrm>
          <a:prstGeom prst="roundRect">
            <a:avLst>
              <a:gd name="adj" fmla="val 136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4100" dirty="0"/>
          </a:p>
        </p:txBody>
      </p:sp>
      <p:sp>
        <p:nvSpPr>
          <p:cNvPr id="9" name="S02-tile13"/>
          <p:cNvSpPr txBox="1"/>
          <p:nvPr/>
        </p:nvSpPr>
        <p:spPr>
          <a:xfrm>
            <a:off x="5894222" y="2869387"/>
            <a:ext cx="936346" cy="936346"/>
          </a:xfrm>
          <a:prstGeom prst="roundRect">
            <a:avLst>
              <a:gd name="adj" fmla="val 13672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100" dirty="0"/>
          </a:p>
        </p:txBody>
      </p:sp>
      <p:sp>
        <p:nvSpPr>
          <p:cNvPr id="10" name="S02-chip14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2-tile15"/>
          <p:cNvSpPr txBox="1"/>
          <p:nvPr/>
        </p:nvSpPr>
        <p:spPr>
          <a:xfrm>
            <a:off x="182880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5900" dirty="0"/>
          </a:p>
        </p:txBody>
      </p:sp>
      <p:sp>
        <p:nvSpPr>
          <p:cNvPr id="12" name="S02-tile16"/>
          <p:cNvSpPr txBox="1"/>
          <p:nvPr/>
        </p:nvSpPr>
        <p:spPr>
          <a:xfrm>
            <a:off x="340156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5900" dirty="0"/>
          </a:p>
        </p:txBody>
      </p:sp>
      <p:sp>
        <p:nvSpPr>
          <p:cNvPr id="13" name="S02-tile17"/>
          <p:cNvSpPr txBox="1"/>
          <p:nvPr/>
        </p:nvSpPr>
        <p:spPr>
          <a:xfrm>
            <a:off x="497433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A와 B</a:t>
            </a:r>
            <a:endParaRPr lang="ko-KR" sz="4000" dirty="0"/>
          </a:p>
        </p:txBody>
      </p:sp>
      <p:sp>
        <p:nvSpPr>
          <p:cNvPr id="3" name="S03-card18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9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A는 곧은 선만 있어요.</a:t>
            </a:r>
            <a:endParaRPr lang="ko-KR" sz="3000" dirty="0"/>
          </a:p>
        </p:txBody>
      </p:sp>
      <p:sp>
        <p:nvSpPr>
          <p:cNvPr id="5" name="S03-card20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1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B는 굽은 선이 2개 있어요.</a:t>
            </a:r>
            <a:endParaRPr lang="ko-KR" sz="3000" dirty="0"/>
          </a:p>
        </p:txBody>
      </p:sp>
      <p:sp>
        <p:nvSpPr>
          <p:cNvPr id="7" name="S03-tile22"/>
          <p:cNvSpPr txBox="1"/>
          <p:nvPr/>
        </p:nvSpPr>
        <p:spPr>
          <a:xfrm>
            <a:off x="3982212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8700" dirty="0"/>
          </a:p>
        </p:txBody>
      </p:sp>
      <p:sp>
        <p:nvSpPr>
          <p:cNvPr id="8" name="S03-tile23"/>
          <p:cNvSpPr txBox="1"/>
          <p:nvPr/>
        </p:nvSpPr>
        <p:spPr>
          <a:xfrm>
            <a:off x="6195060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C와 D</a:t>
            </a:r>
            <a:endParaRPr lang="ko-KR" sz="4000" dirty="0"/>
          </a:p>
        </p:txBody>
      </p:sp>
      <p:sp>
        <p:nvSpPr>
          <p:cNvPr id="3" name="S04-card24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5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C는 굽은 선 하나예요.</a:t>
            </a:r>
            <a:endParaRPr lang="ko-KR" sz="3000" dirty="0"/>
          </a:p>
        </p:txBody>
      </p:sp>
      <p:sp>
        <p:nvSpPr>
          <p:cNvPr id="5" name="S04-card26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7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D는 곧은 선과 굽은 선이 있어요.</a:t>
            </a:r>
            <a:endParaRPr lang="ko-KR" sz="3000" dirty="0"/>
          </a:p>
        </p:txBody>
      </p:sp>
      <p:sp>
        <p:nvSpPr>
          <p:cNvPr id="7" name="S04-tile28"/>
          <p:cNvSpPr txBox="1"/>
          <p:nvPr/>
        </p:nvSpPr>
        <p:spPr>
          <a:xfrm>
            <a:off x="3982212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8700" dirty="0"/>
          </a:p>
        </p:txBody>
      </p:sp>
      <p:sp>
        <p:nvSpPr>
          <p:cNvPr id="8" name="S04-tile29"/>
          <p:cNvSpPr txBox="1"/>
          <p:nvPr/>
        </p:nvSpPr>
        <p:spPr>
          <a:xfrm>
            <a:off x="6195060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E와 F</a:t>
            </a:r>
            <a:endParaRPr lang="ko-KR" sz="4000" dirty="0"/>
          </a:p>
        </p:txBody>
      </p:sp>
      <p:sp>
        <p:nvSpPr>
          <p:cNvPr id="3" name="S05-card30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1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E는 가로선이 3개예요.</a:t>
            </a:r>
            <a:endParaRPr lang="ko-KR" sz="3000" dirty="0"/>
          </a:p>
        </p:txBody>
      </p:sp>
      <p:sp>
        <p:nvSpPr>
          <p:cNvPr id="5" name="S05-card32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33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F는 가로선이 2개예요.</a:t>
            </a:r>
            <a:endParaRPr lang="ko-KR" sz="3000" dirty="0"/>
          </a:p>
        </p:txBody>
      </p:sp>
      <p:sp>
        <p:nvSpPr>
          <p:cNvPr id="7" name="S05-tile34"/>
          <p:cNvSpPr txBox="1"/>
          <p:nvPr/>
        </p:nvSpPr>
        <p:spPr>
          <a:xfrm>
            <a:off x="3982212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8700" dirty="0"/>
          </a:p>
        </p:txBody>
      </p:sp>
      <p:sp>
        <p:nvSpPr>
          <p:cNvPr id="8" name="S05-tile35"/>
          <p:cNvSpPr txBox="1"/>
          <p:nvPr/>
        </p:nvSpPr>
        <p:spPr>
          <a:xfrm>
            <a:off x="6195060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G와 H</a:t>
            </a:r>
            <a:endParaRPr lang="ko-KR" sz="4000" dirty="0"/>
          </a:p>
        </p:txBody>
      </p:sp>
      <p:sp>
        <p:nvSpPr>
          <p:cNvPr id="3" name="S06-card36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7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G는 C에 짧은 선이 붙어요.</a:t>
            </a:r>
            <a:endParaRPr lang="ko-KR" sz="3000" dirty="0"/>
          </a:p>
        </p:txBody>
      </p:sp>
      <p:sp>
        <p:nvSpPr>
          <p:cNvPr id="5" name="S06-card38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9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H는 곧은 선만 있어요.</a:t>
            </a:r>
            <a:endParaRPr lang="ko-KR" sz="3000" dirty="0"/>
          </a:p>
        </p:txBody>
      </p:sp>
      <p:sp>
        <p:nvSpPr>
          <p:cNvPr id="7" name="S06-tile40"/>
          <p:cNvSpPr txBox="1"/>
          <p:nvPr/>
        </p:nvSpPr>
        <p:spPr>
          <a:xfrm>
            <a:off x="3982212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8700" dirty="0"/>
          </a:p>
        </p:txBody>
      </p:sp>
      <p:sp>
        <p:nvSpPr>
          <p:cNvPr id="8" name="S06-tile41"/>
          <p:cNvSpPr txBox="1"/>
          <p:nvPr/>
        </p:nvSpPr>
        <p:spPr>
          <a:xfrm>
            <a:off x="6195060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I와 J</a:t>
            </a:r>
            <a:endParaRPr lang="ko-KR" sz="4000" dirty="0"/>
          </a:p>
        </p:txBody>
      </p:sp>
      <p:sp>
        <p:nvSpPr>
          <p:cNvPr id="3" name="S07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한글 ㅣ와 닮았지만 영어 이름으로 불러요.</a:t>
            </a:r>
            <a:endParaRPr lang="ko-KR" sz="3000" dirty="0"/>
          </a:p>
        </p:txBody>
      </p:sp>
      <p:sp>
        <p:nvSpPr>
          <p:cNvPr id="5" name="S07-card44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45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곧은 선 하나예요.</a:t>
            </a:r>
            <a:endParaRPr lang="ko-KR" sz="3000" dirty="0"/>
          </a:p>
        </p:txBody>
      </p:sp>
      <p:sp>
        <p:nvSpPr>
          <p:cNvPr id="7" name="S07-card46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7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J는 아래가 굽었어요.</a:t>
            </a:r>
            <a:endParaRPr lang="ko-KR" sz="3000" dirty="0"/>
          </a:p>
        </p:txBody>
      </p:sp>
      <p:sp>
        <p:nvSpPr>
          <p:cNvPr id="9" name="S07-tile48"/>
          <p:cNvSpPr txBox="1"/>
          <p:nvPr/>
        </p:nvSpPr>
        <p:spPr>
          <a:xfrm>
            <a:off x="4165092" y="17602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7900" dirty="0"/>
          </a:p>
        </p:txBody>
      </p:sp>
      <p:sp>
        <p:nvSpPr>
          <p:cNvPr id="10" name="S07-tile49"/>
          <p:cNvSpPr txBox="1"/>
          <p:nvPr/>
        </p:nvSpPr>
        <p:spPr>
          <a:xfrm>
            <a:off x="6195060" y="17602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7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K와 L</a:t>
            </a:r>
            <a:endParaRPr lang="ko-KR" sz="4000" dirty="0"/>
          </a:p>
        </p:txBody>
      </p:sp>
      <p:sp>
        <p:nvSpPr>
          <p:cNvPr id="3" name="S08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L은 한글 ㄴ과 닮았지만 영어 이름으로 불러요.</a:t>
            </a:r>
            <a:endParaRPr lang="ko-KR" sz="3000" dirty="0"/>
          </a:p>
        </p:txBody>
      </p:sp>
      <p:sp>
        <p:nvSpPr>
          <p:cNvPr id="5" name="S08-card52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3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K는 곧은 선만 있어요.</a:t>
            </a:r>
            <a:endParaRPr lang="ko-KR" sz="3000" dirty="0"/>
          </a:p>
        </p:txBody>
      </p:sp>
      <p:sp>
        <p:nvSpPr>
          <p:cNvPr id="7" name="S08-card54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5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L은 곧은 선 2개예요.</a:t>
            </a:r>
            <a:endParaRPr lang="ko-KR" sz="3000" dirty="0"/>
          </a:p>
        </p:txBody>
      </p:sp>
      <p:sp>
        <p:nvSpPr>
          <p:cNvPr id="9" name="S08-tile56"/>
          <p:cNvSpPr txBox="1"/>
          <p:nvPr/>
        </p:nvSpPr>
        <p:spPr>
          <a:xfrm>
            <a:off x="4165092" y="17602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7900" dirty="0"/>
          </a:p>
        </p:txBody>
      </p:sp>
      <p:sp>
        <p:nvSpPr>
          <p:cNvPr id="10" name="S08-tile57"/>
          <p:cNvSpPr txBox="1"/>
          <p:nvPr/>
        </p:nvSpPr>
        <p:spPr>
          <a:xfrm>
            <a:off x="6195060" y="17602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7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M까지 차례대로</a:t>
            </a:r>
            <a:endParaRPr lang="ko-KR" sz="4000" dirty="0"/>
          </a:p>
        </p:txBody>
      </p:sp>
      <p:sp>
        <p:nvSpPr>
          <p:cNvPr id="3" name="S09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M을 배우고, A부터 차례대로 말해요.</a:t>
            </a:r>
            <a:endParaRPr lang="ko-KR" sz="3000" dirty="0"/>
          </a:p>
        </p:txBody>
      </p:sp>
      <p:sp>
        <p:nvSpPr>
          <p:cNvPr id="4" name="S09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A부터 M까지 13글자예요.</a:t>
            </a:r>
            <a:endParaRPr lang="ko-KR" sz="3000" dirty="0"/>
          </a:p>
        </p:txBody>
      </p:sp>
      <p:sp>
        <p:nvSpPr>
          <p:cNvPr id="6" name="S09-tile61"/>
          <p:cNvSpPr txBox="1"/>
          <p:nvPr/>
        </p:nvSpPr>
        <p:spPr>
          <a:xfrm>
            <a:off x="690372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7" name="S09-tile62"/>
          <p:cNvSpPr txBox="1"/>
          <p:nvPr/>
        </p:nvSpPr>
        <p:spPr>
          <a:xfrm>
            <a:off x="2263140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8" name="S09-tile63"/>
          <p:cNvSpPr txBox="1"/>
          <p:nvPr/>
        </p:nvSpPr>
        <p:spPr>
          <a:xfrm>
            <a:off x="3835908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9" name="S09-tile64"/>
          <p:cNvSpPr txBox="1"/>
          <p:nvPr/>
        </p:nvSpPr>
        <p:spPr>
          <a:xfrm>
            <a:off x="540867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10" name="S09-tile65"/>
          <p:cNvSpPr txBox="1"/>
          <p:nvPr/>
        </p:nvSpPr>
        <p:spPr>
          <a:xfrm>
            <a:off x="6981444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1" name="S09-tile66"/>
          <p:cNvSpPr txBox="1"/>
          <p:nvPr/>
        </p:nvSpPr>
        <p:spPr>
          <a:xfrm>
            <a:off x="8554212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12" name="S09-tile67"/>
          <p:cNvSpPr txBox="1"/>
          <p:nvPr/>
        </p:nvSpPr>
        <p:spPr>
          <a:xfrm>
            <a:off x="10126980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13" name="S09-tile68"/>
          <p:cNvSpPr txBox="1"/>
          <p:nvPr/>
        </p:nvSpPr>
        <p:spPr>
          <a:xfrm>
            <a:off x="147675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14" name="S09-tile69"/>
          <p:cNvSpPr txBox="1"/>
          <p:nvPr/>
        </p:nvSpPr>
        <p:spPr>
          <a:xfrm>
            <a:off x="3049524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5" name="S09-tile70"/>
          <p:cNvSpPr txBox="1"/>
          <p:nvPr/>
        </p:nvSpPr>
        <p:spPr>
          <a:xfrm>
            <a:off x="4622292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900" dirty="0"/>
          </a:p>
        </p:txBody>
      </p:sp>
      <p:sp>
        <p:nvSpPr>
          <p:cNvPr id="16" name="S09-tile71"/>
          <p:cNvSpPr txBox="1"/>
          <p:nvPr/>
        </p:nvSpPr>
        <p:spPr>
          <a:xfrm>
            <a:off x="6195060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900" dirty="0"/>
          </a:p>
        </p:txBody>
      </p:sp>
      <p:sp>
        <p:nvSpPr>
          <p:cNvPr id="17" name="S09-tile72"/>
          <p:cNvSpPr txBox="1"/>
          <p:nvPr/>
        </p:nvSpPr>
        <p:spPr>
          <a:xfrm>
            <a:off x="7767828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900" dirty="0"/>
          </a:p>
        </p:txBody>
      </p:sp>
      <p:sp>
        <p:nvSpPr>
          <p:cNvPr id="18" name="S09-tile73"/>
          <p:cNvSpPr txBox="1"/>
          <p:nvPr/>
        </p:nvSpPr>
        <p:spPr>
          <a:xfrm>
            <a:off x="934059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듣고 짚어요</a:t>
            </a:r>
            <a:endParaRPr lang="ko-KR" sz="4000" dirty="0"/>
          </a:p>
        </p:txBody>
      </p:sp>
      <p:sp>
        <p:nvSpPr>
          <p:cNvPr id="3" name="S10-text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이름의 글자를 짚어요.</a:t>
            </a:r>
            <a:endParaRPr lang="ko-KR" sz="3000" dirty="0"/>
          </a:p>
        </p:txBody>
      </p:sp>
      <p:sp>
        <p:nvSpPr>
          <p:cNvPr id="4" name="S10-tile75"/>
          <p:cNvSpPr txBox="1"/>
          <p:nvPr/>
        </p:nvSpPr>
        <p:spPr>
          <a:xfrm>
            <a:off x="690372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5" name="S10-tile76"/>
          <p:cNvSpPr txBox="1"/>
          <p:nvPr/>
        </p:nvSpPr>
        <p:spPr>
          <a:xfrm>
            <a:off x="2263140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6" name="S10-tile77"/>
          <p:cNvSpPr txBox="1"/>
          <p:nvPr/>
        </p:nvSpPr>
        <p:spPr>
          <a:xfrm>
            <a:off x="3835908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900" dirty="0"/>
          </a:p>
        </p:txBody>
      </p:sp>
      <p:sp>
        <p:nvSpPr>
          <p:cNvPr id="7" name="S10-tile78"/>
          <p:cNvSpPr txBox="1"/>
          <p:nvPr/>
        </p:nvSpPr>
        <p:spPr>
          <a:xfrm>
            <a:off x="5408676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8" name="S10-tile79"/>
          <p:cNvSpPr txBox="1"/>
          <p:nvPr/>
        </p:nvSpPr>
        <p:spPr>
          <a:xfrm>
            <a:off x="6981444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9" name="S10-tile80"/>
          <p:cNvSpPr txBox="1"/>
          <p:nvPr/>
        </p:nvSpPr>
        <p:spPr>
          <a:xfrm>
            <a:off x="8554212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900" dirty="0"/>
          </a:p>
        </p:txBody>
      </p:sp>
      <p:sp>
        <p:nvSpPr>
          <p:cNvPr id="10" name="S10-tile81"/>
          <p:cNvSpPr txBox="1"/>
          <p:nvPr/>
        </p:nvSpPr>
        <p:spPr>
          <a:xfrm>
            <a:off x="10126980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11" name="S10-tile82"/>
          <p:cNvSpPr txBox="1"/>
          <p:nvPr/>
        </p:nvSpPr>
        <p:spPr>
          <a:xfrm>
            <a:off x="1476756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900" dirty="0"/>
          </a:p>
        </p:txBody>
      </p:sp>
      <p:sp>
        <p:nvSpPr>
          <p:cNvPr id="12" name="S10-tile83"/>
          <p:cNvSpPr txBox="1"/>
          <p:nvPr/>
        </p:nvSpPr>
        <p:spPr>
          <a:xfrm>
            <a:off x="3049524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13" name="S10-tile84"/>
          <p:cNvSpPr txBox="1"/>
          <p:nvPr/>
        </p:nvSpPr>
        <p:spPr>
          <a:xfrm>
            <a:off x="4622292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900" dirty="0"/>
          </a:p>
        </p:txBody>
      </p:sp>
      <p:sp>
        <p:nvSpPr>
          <p:cNvPr id="14" name="S10-tile85"/>
          <p:cNvSpPr txBox="1"/>
          <p:nvPr/>
        </p:nvSpPr>
        <p:spPr>
          <a:xfrm>
            <a:off x="6195060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5" name="S10-tile86"/>
          <p:cNvSpPr txBox="1"/>
          <p:nvPr/>
        </p:nvSpPr>
        <p:spPr>
          <a:xfrm>
            <a:off x="7767828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6" name="S10-tile87"/>
          <p:cNvSpPr txBox="1"/>
          <p:nvPr/>
        </p:nvSpPr>
        <p:spPr>
          <a:xfrm>
            <a:off x="9340596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E일까요, F일까요?</a:t>
            </a:r>
            <a:endParaRPr lang="ko-KR" sz="4000" dirty="0"/>
          </a:p>
        </p:txBody>
      </p:sp>
      <p:sp>
        <p:nvSpPr>
          <p:cNvPr id="3" name="S11-card8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F를 보고 ‘E’라고 했어요.</a:t>
            </a:r>
            <a:endParaRPr lang="ko-KR" sz="3000" dirty="0"/>
          </a:p>
        </p:txBody>
      </p:sp>
      <p:sp>
        <p:nvSpPr>
          <p:cNvPr id="5" name="S11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말했나요? 무엇을 보고 알았나요?</a:t>
            </a:r>
            <a:endParaRPr lang="ko-KR" sz="3000" dirty="0"/>
          </a:p>
        </p:txBody>
      </p:sp>
      <p:sp>
        <p:nvSpPr>
          <p:cNvPr id="7" name="S11-chip9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가로선 3개</a:t>
            </a:r>
            <a:endParaRPr lang="ko-KR" sz="2400" dirty="0"/>
          </a:p>
        </p:txBody>
      </p:sp>
      <p:sp>
        <p:nvSpPr>
          <p:cNvPr id="8" name="S11-tile93"/>
          <p:cNvSpPr txBox="1"/>
          <p:nvPr/>
        </p:nvSpPr>
        <p:spPr>
          <a:xfrm>
            <a:off x="2544318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9" name="S11-chip9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가로선 2개</a:t>
            </a:r>
            <a:endParaRPr lang="ko-KR" sz="2400" dirty="0"/>
          </a:p>
        </p:txBody>
      </p:sp>
      <p:sp>
        <p:nvSpPr>
          <p:cNvPr id="10" name="S11-tile95"/>
          <p:cNvSpPr txBox="1"/>
          <p:nvPr/>
        </p:nvSpPr>
        <p:spPr>
          <a:xfrm>
            <a:off x="8273034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글자를 찾아요</a:t>
            </a:r>
            <a:endParaRPr lang="ko-KR" sz="4000" dirty="0"/>
          </a:p>
        </p:txBody>
      </p:sp>
      <p:sp>
        <p:nvSpPr>
          <p:cNvPr id="3" name="S12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?에 들어갈 글자를 말해요.</a:t>
            </a:r>
            <a:endParaRPr lang="ko-KR" sz="3000" dirty="0"/>
          </a:p>
        </p:txBody>
      </p:sp>
      <p:sp>
        <p:nvSpPr>
          <p:cNvPr id="4" name="S12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모르면 A부터 차례대로 말해 봐요.</a:t>
            </a:r>
            <a:endParaRPr lang="ko-KR" sz="3000" dirty="0"/>
          </a:p>
        </p:txBody>
      </p:sp>
      <p:sp>
        <p:nvSpPr>
          <p:cNvPr id="6" name="S12-chip9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tile100"/>
          <p:cNvSpPr txBox="1"/>
          <p:nvPr/>
        </p:nvSpPr>
        <p:spPr>
          <a:xfrm>
            <a:off x="1956816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4000" dirty="0"/>
          </a:p>
        </p:txBody>
      </p:sp>
      <p:sp>
        <p:nvSpPr>
          <p:cNvPr id="8" name="S12-tile101"/>
          <p:cNvSpPr txBox="1"/>
          <p:nvPr/>
        </p:nvSpPr>
        <p:spPr>
          <a:xfrm>
            <a:off x="3072384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000" dirty="0"/>
          </a:p>
        </p:txBody>
      </p:sp>
      <p:sp>
        <p:nvSpPr>
          <p:cNvPr id="9" name="S12-tile102"/>
          <p:cNvSpPr txBox="1"/>
          <p:nvPr/>
        </p:nvSpPr>
        <p:spPr>
          <a:xfrm>
            <a:off x="4187952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0" name="S12-tile103"/>
          <p:cNvSpPr txBox="1"/>
          <p:nvPr/>
        </p:nvSpPr>
        <p:spPr>
          <a:xfrm>
            <a:off x="5303520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4000" dirty="0"/>
          </a:p>
        </p:txBody>
      </p:sp>
      <p:sp>
        <p:nvSpPr>
          <p:cNvPr id="11" name="S12-chip10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" name="S12-tile105"/>
          <p:cNvSpPr txBox="1"/>
          <p:nvPr/>
        </p:nvSpPr>
        <p:spPr>
          <a:xfrm>
            <a:off x="1956816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4000" dirty="0"/>
          </a:p>
        </p:txBody>
      </p:sp>
      <p:sp>
        <p:nvSpPr>
          <p:cNvPr id="13" name="S12-tile106"/>
          <p:cNvSpPr txBox="1"/>
          <p:nvPr/>
        </p:nvSpPr>
        <p:spPr>
          <a:xfrm>
            <a:off x="3072384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000" dirty="0"/>
          </a:p>
        </p:txBody>
      </p:sp>
      <p:sp>
        <p:nvSpPr>
          <p:cNvPr id="14" name="S12-tile107"/>
          <p:cNvSpPr txBox="1"/>
          <p:nvPr/>
        </p:nvSpPr>
        <p:spPr>
          <a:xfrm>
            <a:off x="4187952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5" name="S12-tile108"/>
          <p:cNvSpPr txBox="1"/>
          <p:nvPr/>
        </p:nvSpPr>
        <p:spPr>
          <a:xfrm>
            <a:off x="5303520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4000" dirty="0"/>
          </a:p>
        </p:txBody>
      </p:sp>
      <p:sp>
        <p:nvSpPr>
          <p:cNvPr id="16" name="S12-chip10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7" name="S12-tile110"/>
          <p:cNvSpPr txBox="1"/>
          <p:nvPr/>
        </p:nvSpPr>
        <p:spPr>
          <a:xfrm>
            <a:off x="1956816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8" name="S12-tile111"/>
          <p:cNvSpPr txBox="1"/>
          <p:nvPr/>
        </p:nvSpPr>
        <p:spPr>
          <a:xfrm>
            <a:off x="3072384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4000" dirty="0"/>
          </a:p>
        </p:txBody>
      </p:sp>
      <p:sp>
        <p:nvSpPr>
          <p:cNvPr id="19" name="S12-tile112"/>
          <p:cNvSpPr txBox="1"/>
          <p:nvPr/>
        </p:nvSpPr>
        <p:spPr>
          <a:xfrm>
            <a:off x="4187952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4000" dirty="0"/>
          </a:p>
        </p:txBody>
      </p:sp>
      <p:sp>
        <p:nvSpPr>
          <p:cNvPr id="20" name="S12-tile113"/>
          <p:cNvSpPr txBox="1"/>
          <p:nvPr/>
        </p:nvSpPr>
        <p:spPr>
          <a:xfrm>
            <a:off x="5303520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text114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이름을 말해요. ③은 빠진 글자, ④는 굽은 선이 있는 글자를 찾아요.</a:t>
            </a:r>
            <a:endParaRPr lang="ko-KR" sz="3000" dirty="0"/>
          </a:p>
        </p:txBody>
      </p:sp>
      <p:sp>
        <p:nvSpPr>
          <p:cNvPr id="4" name="S13-chip115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3-tile116"/>
          <p:cNvSpPr txBox="1"/>
          <p:nvPr/>
        </p:nvSpPr>
        <p:spPr>
          <a:xfrm>
            <a:off x="1369314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6" name="S13-tile117"/>
          <p:cNvSpPr txBox="1"/>
          <p:nvPr/>
        </p:nvSpPr>
        <p:spPr>
          <a:xfrm>
            <a:off x="2942082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7" name="S13-tile118"/>
          <p:cNvSpPr txBox="1"/>
          <p:nvPr/>
        </p:nvSpPr>
        <p:spPr>
          <a:xfrm>
            <a:off x="4514850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900" dirty="0"/>
          </a:p>
        </p:txBody>
      </p:sp>
      <p:sp>
        <p:nvSpPr>
          <p:cNvPr id="8" name="S13-chip119"/>
          <p:cNvSpPr txBox="1"/>
          <p:nvPr/>
        </p:nvSpPr>
        <p:spPr>
          <a:xfrm>
            <a:off x="6277356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3-tile120"/>
          <p:cNvSpPr txBox="1"/>
          <p:nvPr/>
        </p:nvSpPr>
        <p:spPr>
          <a:xfrm>
            <a:off x="7098030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0" name="S13-tile121"/>
          <p:cNvSpPr txBox="1"/>
          <p:nvPr/>
        </p:nvSpPr>
        <p:spPr>
          <a:xfrm>
            <a:off x="8670798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11" name="S13-tile122"/>
          <p:cNvSpPr txBox="1"/>
          <p:nvPr/>
        </p:nvSpPr>
        <p:spPr>
          <a:xfrm>
            <a:off x="10243566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900" dirty="0"/>
          </a:p>
        </p:txBody>
      </p:sp>
      <p:sp>
        <p:nvSpPr>
          <p:cNvPr id="12" name="S13-chip123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13-tile124"/>
          <p:cNvSpPr txBox="1"/>
          <p:nvPr/>
        </p:nvSpPr>
        <p:spPr>
          <a:xfrm>
            <a:off x="1369314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14" name="S13-tile125"/>
          <p:cNvSpPr txBox="1"/>
          <p:nvPr/>
        </p:nvSpPr>
        <p:spPr>
          <a:xfrm>
            <a:off x="2942082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5" name="S13-tile126"/>
          <p:cNvSpPr txBox="1"/>
          <p:nvPr/>
        </p:nvSpPr>
        <p:spPr>
          <a:xfrm>
            <a:off x="451485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16" name="S13-chip127"/>
          <p:cNvSpPr txBox="1"/>
          <p:nvPr/>
        </p:nvSpPr>
        <p:spPr>
          <a:xfrm>
            <a:off x="6277356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7" name="S13-tile128"/>
          <p:cNvSpPr txBox="1"/>
          <p:nvPr/>
        </p:nvSpPr>
        <p:spPr>
          <a:xfrm>
            <a:off x="709803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18" name="S13-tile129"/>
          <p:cNvSpPr txBox="1"/>
          <p:nvPr/>
        </p:nvSpPr>
        <p:spPr>
          <a:xfrm>
            <a:off x="867079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19" name="S13-tile130"/>
          <p:cNvSpPr txBox="1"/>
          <p:nvPr/>
        </p:nvSpPr>
        <p:spPr>
          <a:xfrm>
            <a:off x="1024356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글자를 골라요</a:t>
            </a:r>
            <a:endParaRPr lang="ko-KR" sz="4000" dirty="0"/>
          </a:p>
        </p:txBody>
      </p:sp>
      <p:sp>
        <p:nvSpPr>
          <p:cNvPr id="3" name="S15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글자는? 어떻게 알았나요?</a:t>
            </a:r>
            <a:endParaRPr lang="ko-KR" sz="3000" dirty="0"/>
          </a:p>
        </p:txBody>
      </p:sp>
      <p:sp>
        <p:nvSpPr>
          <p:cNvPr id="5" name="S15-chip133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5-tile134"/>
          <p:cNvSpPr txBox="1"/>
          <p:nvPr/>
        </p:nvSpPr>
        <p:spPr>
          <a:xfrm>
            <a:off x="2896362" y="147447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6300" dirty="0"/>
          </a:p>
        </p:txBody>
      </p:sp>
      <p:sp>
        <p:nvSpPr>
          <p:cNvPr id="7" name="S15-chip135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" name="S15-tile136"/>
          <p:cNvSpPr txBox="1"/>
          <p:nvPr/>
        </p:nvSpPr>
        <p:spPr>
          <a:xfrm>
            <a:off x="8625078" y="147447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6300" dirty="0"/>
          </a:p>
        </p:txBody>
      </p:sp>
      <p:sp>
        <p:nvSpPr>
          <p:cNvPr id="9" name="S15-chip137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0" name="S15-tile138"/>
          <p:cNvSpPr txBox="1"/>
          <p:nvPr/>
        </p:nvSpPr>
        <p:spPr>
          <a:xfrm>
            <a:off x="2896362" y="350901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6300" dirty="0"/>
          </a:p>
        </p:txBody>
      </p:sp>
      <p:sp>
        <p:nvSpPr>
          <p:cNvPr id="11" name="S15-chip13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2" name="S15-tile140"/>
          <p:cNvSpPr txBox="1"/>
          <p:nvPr/>
        </p:nvSpPr>
        <p:spPr>
          <a:xfrm>
            <a:off x="8625078" y="350901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6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4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4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A부터 M까지 13글자를 배웠어요.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선과 굽은 선을 보면 닮은 글자도 구별해요.</a:t>
            </a:r>
            <a:endParaRPr lang="ko-KR" sz="3000" dirty="0"/>
          </a:p>
        </p:txBody>
      </p:sp>
      <p:sp>
        <p:nvSpPr>
          <p:cNvPr id="5" name="S16-chip14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선을 세어 보고 구별하기</a:t>
            </a:r>
            <a:endParaRPr lang="ko-KR" sz="2400" dirty="0"/>
          </a:p>
        </p:txBody>
      </p:sp>
      <p:sp>
        <p:nvSpPr>
          <p:cNvPr id="6" name="S16-chip14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한글처럼 읽기</a:t>
            </a:r>
            <a:endParaRPr lang="ko-KR" sz="2400" dirty="0"/>
          </a:p>
        </p:txBody>
      </p:sp>
      <p:sp>
        <p:nvSpPr>
          <p:cNvPr id="7" name="S16-text14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4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A부터 M까지 차례대로 말하기</a:t>
            </a:r>
            <a:endParaRPr lang="ko-KR" sz="2400" dirty="0"/>
          </a:p>
        </p:txBody>
      </p:sp>
      <p:sp>
        <p:nvSpPr>
          <p:cNvPr id="9" name="S16-text147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E와 F의 다른 점은?</a:t>
            </a:r>
            <a:endParaRPr lang="ko-KR" sz="2400" dirty="0"/>
          </a:p>
        </p:txBody>
      </p:sp>
      <p:sp>
        <p:nvSpPr>
          <p:cNvPr id="10" name="S16-text148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K 다음 글자는?</a:t>
            </a:r>
            <a:endParaRPr lang="ko-KR" sz="2400" dirty="0"/>
          </a:p>
        </p:txBody>
      </p:sp>
      <p:sp>
        <p:nvSpPr>
          <p:cNvPr id="11" name="S16-text14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알파벳 N부터 Z까지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선 모양과 차례</a:t>
            </a:r>
            <a:endParaRPr lang="ko-KR" sz="4000" dirty="0"/>
          </a:p>
        </p:txBody>
      </p:sp>
      <p:sp>
        <p:nvSpPr>
          <p:cNvPr id="3" name="S17-figure150" descr="곧은 선"/>
          <p:cNvSpPr/>
          <p:nvPr/>
        </p:nvSpPr>
        <p:spPr>
          <a:xfrm>
            <a:off x="924047" y="2612385"/>
            <a:ext cx="1930664" cy="1755149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S17-label151"/>
          <p:cNvSpPr txBox="1"/>
          <p:nvPr/>
        </p:nvSpPr>
        <p:spPr>
          <a:xfrm>
            <a:off x="548640" y="5791200"/>
            <a:ext cx="268147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</a:t>
            </a:r>
            <a:endParaRPr lang="ko-KR" sz="2400" dirty="0"/>
          </a:p>
        </p:txBody>
      </p:sp>
      <p:sp>
        <p:nvSpPr>
          <p:cNvPr id="5" name="S17-figure152" descr="굽은 선"/>
          <p:cNvSpPr/>
          <p:nvPr/>
        </p:nvSpPr>
        <p:spPr>
          <a:xfrm>
            <a:off x="3605525" y="2524628"/>
            <a:ext cx="1930664" cy="193066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17-label153"/>
          <p:cNvSpPr txBox="1"/>
          <p:nvPr/>
        </p:nvSpPr>
        <p:spPr>
          <a:xfrm>
            <a:off x="3230118" y="5791200"/>
            <a:ext cx="268147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굽은 선</a:t>
            </a:r>
            <a:endParaRPr lang="ko-KR" sz="2400" dirty="0"/>
          </a:p>
        </p:txBody>
      </p:sp>
      <p:sp>
        <p:nvSpPr>
          <p:cNvPr id="7" name="S17-card154"/>
          <p:cNvSpPr/>
          <p:nvPr/>
        </p:nvSpPr>
        <p:spPr>
          <a:xfrm>
            <a:off x="6277356" y="2398776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7-cardtext155"/>
          <p:cNvSpPr txBox="1"/>
          <p:nvPr/>
        </p:nvSpPr>
        <p:spPr>
          <a:xfrm>
            <a:off x="6551676" y="2535936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선을 따라 그려요.</a:t>
            </a:r>
            <a:endParaRPr lang="ko-KR" sz="3000" dirty="0"/>
          </a:p>
        </p:txBody>
      </p:sp>
      <p:sp>
        <p:nvSpPr>
          <p:cNvPr id="9" name="S17-card156"/>
          <p:cNvSpPr/>
          <p:nvPr/>
        </p:nvSpPr>
        <p:spPr>
          <a:xfrm>
            <a:off x="6277356" y="3886200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7-cardtext157"/>
          <p:cNvSpPr txBox="1"/>
          <p:nvPr/>
        </p:nvSpPr>
        <p:spPr>
          <a:xfrm>
            <a:off x="6551676" y="4023360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ㄱ부터 ㅎ까지 차례대로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알파벳 A부터 M까지</dc:title>
  <dc:subject>KR22-G03-ENG-ABC1-L01</dc:subject>
  <dc:creator>education-ppt</dc:creator>
  <cp:lastModifiedBy>education-ppt</cp:lastModifiedBy>
  <cp:revision>1</cp:revision>
  <dcterms:created xsi:type="dcterms:W3CDTF">2026-10-26T07:46:19Z</dcterms:created>
  <dcterms:modified xsi:type="dcterms:W3CDTF">2026-10-26T07:46:19Z</dcterms:modified>
</cp:coreProperties>
</file>