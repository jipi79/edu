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573591e9-ecf7-6201-a468-f5e9d4d02e3d}">
          <p14:sldIdLst>
            <p14:sldId id="256"/>
            <p14:sldId id="257"/>
          </p14:sldIdLst>
        </p14:section>
        <p14:section name="개념" id="{8c4f08f1-e303-afc3-9f26-6abeac11723d}">
          <p14:sldIdLst>
            <p14:sldId id="258"/>
            <p14:sldId id="259"/>
            <p14:sldId id="260"/>
          </p14:sldIdLst>
        </p14:section>
        <p14:section name="연습" id="{e1b3e39c-b2d0-d135-ac7a-0d6e15878349}">
          <p14:sldIdLst>
            <p14:sldId id="261"/>
            <p14:sldId id="262"/>
            <p14:sldId id="263"/>
          </p14:sldIdLst>
        </p14:section>
        <p14:section name="확인" id="{59f8d9da-4996-ac91-58ae-50e5fecacf84}">
          <p14:sldIdLst>
            <p14:sldId id="264"/>
            <p14:sldId id="265"/>
          </p14:sldIdLst>
        </p14:section>
        <p14:section name="정리" id="{4a3ae4e9-2003-4717-4f9f-7f15d24ef05d}">
          <p14:sldIdLst>
            <p14:sldId id="266"/>
          </p14:sldIdLst>
        </p14:section>
        <p14:section name="보충" id="{1007b37b-23bb-6c42-5361-beae70c44bc1}">
          <p14:sldIdLst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초1 과학 · 관찰과분류 · 2차시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초1 과학 · 한 가지 기준으로 나누기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초1 과학 · 한 가지 기준으로 나누기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초1 과학 · 한 가지 기준으로 나누기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가지 기준으로 나누기</a:t>
            </a:r>
            <a:endParaRPr lang="ko-KR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물건을 어떻게</a:t>
            </a:r>
            <a:endParaRPr lang="ko-KR" sz="3200" dirty="0"/>
          </a:p>
          <a:p>
            <a:pPr eaLnBrk="0" indent="0" marL="0">
              <a:buNone/>
            </a:pPr>
            <a:r>
              <a:rPr lang="ko-KR" alt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무리로 나눌까?</a:t>
            </a:r>
            <a:endParaRPr lang="ko-KR" sz="3200" dirty="0"/>
          </a:p>
        </p:txBody>
      </p:sp>
      <p:sp>
        <p:nvSpPr>
          <p:cNvPr id="4" name="S01-panel1"/>
          <p:cNvSpPr/>
          <p:nvPr/>
        </p:nvSpPr>
        <p:spPr>
          <a:xfrm>
            <a:off x="7543800" y="502920"/>
            <a:ext cx="4206240" cy="320040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01-figure2" descr="여러 가지 색과 구멍 수의 단추 4개"/>
          <p:cNvSpPr/>
          <p:nvPr/>
        </p:nvSpPr>
        <p:spPr>
          <a:xfrm>
            <a:off x="8282940" y="739140"/>
            <a:ext cx="1148615" cy="1148615"/>
          </a:xfrm>
          <a:prstGeom prst="ellipse">
            <a:avLst/>
          </a:prstGeom>
          <a:solidFill>
            <a:srgbClr val="C8434E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6" name="S01-mark3"/>
          <p:cNvSpPr/>
          <p:nvPr/>
        </p:nvSpPr>
        <p:spPr>
          <a:xfrm>
            <a:off x="8605988" y="1406772"/>
            <a:ext cx="157935" cy="157935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7" name="S01-mark4"/>
          <p:cNvSpPr/>
          <p:nvPr/>
        </p:nvSpPr>
        <p:spPr>
          <a:xfrm>
            <a:off x="8950572" y="1406772"/>
            <a:ext cx="157935" cy="157935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" name="S01-mark5"/>
          <p:cNvSpPr/>
          <p:nvPr/>
        </p:nvSpPr>
        <p:spPr>
          <a:xfrm>
            <a:off x="8605988" y="1062188"/>
            <a:ext cx="157935" cy="157935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9" name="S01-mark6"/>
          <p:cNvSpPr/>
          <p:nvPr/>
        </p:nvSpPr>
        <p:spPr>
          <a:xfrm>
            <a:off x="8950572" y="1062188"/>
            <a:ext cx="157935" cy="157935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" name="S01-mark7"/>
          <p:cNvSpPr/>
          <p:nvPr/>
        </p:nvSpPr>
        <p:spPr>
          <a:xfrm>
            <a:off x="9862285" y="739140"/>
            <a:ext cx="1148615" cy="1148615"/>
          </a:xfrm>
          <a:prstGeom prst="ellipse">
            <a:avLst/>
          </a:prstGeom>
          <a:solidFill>
            <a:srgbClr val="3D5A80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11" name="S01-mark8"/>
          <p:cNvSpPr/>
          <p:nvPr/>
        </p:nvSpPr>
        <p:spPr>
          <a:xfrm>
            <a:off x="10185333" y="1234480"/>
            <a:ext cx="157935" cy="157935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2" name="S01-mark9"/>
          <p:cNvSpPr/>
          <p:nvPr/>
        </p:nvSpPr>
        <p:spPr>
          <a:xfrm>
            <a:off x="10529918" y="1234480"/>
            <a:ext cx="157935" cy="157935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3" name="S01-mark10"/>
          <p:cNvSpPr/>
          <p:nvPr/>
        </p:nvSpPr>
        <p:spPr>
          <a:xfrm>
            <a:off x="8282940" y="2318485"/>
            <a:ext cx="1148615" cy="1148615"/>
          </a:xfrm>
          <a:prstGeom prst="ellipse">
            <a:avLst/>
          </a:prstGeom>
          <a:solidFill>
            <a:srgbClr val="F2C14E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14" name="S01-mark11"/>
          <p:cNvSpPr/>
          <p:nvPr/>
        </p:nvSpPr>
        <p:spPr>
          <a:xfrm>
            <a:off x="8605988" y="2813825"/>
            <a:ext cx="157935" cy="157935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5" name="S01-mark12"/>
          <p:cNvSpPr/>
          <p:nvPr/>
        </p:nvSpPr>
        <p:spPr>
          <a:xfrm>
            <a:off x="8950572" y="2813825"/>
            <a:ext cx="157935" cy="157935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6" name="S01-mark13"/>
          <p:cNvSpPr/>
          <p:nvPr/>
        </p:nvSpPr>
        <p:spPr>
          <a:xfrm>
            <a:off x="9862285" y="2318485"/>
            <a:ext cx="1148615" cy="1148615"/>
          </a:xfrm>
          <a:prstGeom prst="ellipse">
            <a:avLst/>
          </a:prstGeom>
          <a:solidFill>
            <a:srgbClr val="3D5A80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17" name="S01-mark14"/>
          <p:cNvSpPr/>
          <p:nvPr/>
        </p:nvSpPr>
        <p:spPr>
          <a:xfrm>
            <a:off x="10185333" y="2986118"/>
            <a:ext cx="157935" cy="157935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8" name="S01-mark15"/>
          <p:cNvSpPr/>
          <p:nvPr/>
        </p:nvSpPr>
        <p:spPr>
          <a:xfrm>
            <a:off x="10529918" y="2986118"/>
            <a:ext cx="157935" cy="157935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9" name="S01-mark16"/>
          <p:cNvSpPr/>
          <p:nvPr/>
        </p:nvSpPr>
        <p:spPr>
          <a:xfrm>
            <a:off x="10185333" y="2641533"/>
            <a:ext cx="157935" cy="157935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0" name="S01-mark17"/>
          <p:cNvSpPr/>
          <p:nvPr/>
        </p:nvSpPr>
        <p:spPr>
          <a:xfrm>
            <a:off x="10529918" y="2641533"/>
            <a:ext cx="157935" cy="157935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1" name="S01-card18"/>
          <p:cNvSpPr/>
          <p:nvPr/>
        </p:nvSpPr>
        <p:spPr>
          <a:xfrm>
            <a:off x="731520" y="4343400"/>
            <a:ext cx="10725912" cy="1783080"/>
          </a:xfrm>
          <a:prstGeom prst="roundRect">
            <a:avLst>
              <a:gd name="adj" fmla="val 6154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22" name="S01-cardtext19"/>
          <p:cNvSpPr txBox="1"/>
          <p:nvPr/>
        </p:nvSpPr>
        <p:spPr>
          <a:xfrm>
            <a:off x="1005840" y="4480560"/>
            <a:ext cx="101772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누구나 똑같이 나누는 기준을 정해요.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기준 하나로 두 무리로 나눠요.</a:t>
            </a:r>
            <a:endParaRPr lang="ko-KR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관찰 떠올리기</a:t>
            </a:r>
            <a:endParaRPr lang="ko-KR" sz="4400" dirty="0"/>
          </a:p>
        </p:txBody>
      </p:sp>
      <p:sp>
        <p:nvSpPr>
          <p:cNvPr id="3" name="S02-text2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시간에 배운 관찰을 떠올려요.</a:t>
            </a:r>
            <a:endParaRPr lang="ko-KR" sz="3200" dirty="0"/>
          </a:p>
        </p:txBody>
      </p:sp>
      <p:sp>
        <p:nvSpPr>
          <p:cNvPr id="4" name="S02-chip21"/>
          <p:cNvSpPr txBox="1"/>
          <p:nvPr/>
        </p:nvSpPr>
        <p:spPr>
          <a:xfrm>
            <a:off x="548640" y="2368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5" name="S02-text22"/>
          <p:cNvSpPr txBox="1"/>
          <p:nvPr/>
        </p:nvSpPr>
        <p:spPr>
          <a:xfrm>
            <a:off x="1344168" y="201168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색과 모양을 알아보는 몸은?</a:t>
            </a:r>
            <a:endParaRPr lang="ko-KR" sz="3200" dirty="0"/>
          </a:p>
        </p:txBody>
      </p:sp>
      <p:sp>
        <p:nvSpPr>
          <p:cNvPr id="6" name="S02-chip23"/>
          <p:cNvSpPr txBox="1"/>
          <p:nvPr/>
        </p:nvSpPr>
        <p:spPr>
          <a:xfrm>
            <a:off x="548640" y="38313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7" name="S02-text24"/>
          <p:cNvSpPr txBox="1"/>
          <p:nvPr/>
        </p:nvSpPr>
        <p:spPr>
          <a:xfrm>
            <a:off x="1344168" y="347472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매끈한지 알아보는 몸은?</a:t>
            </a:r>
            <a:endParaRPr lang="ko-KR" sz="3200" dirty="0"/>
          </a:p>
        </p:txBody>
      </p:sp>
      <p:sp>
        <p:nvSpPr>
          <p:cNvPr id="8" name="S02-chip25"/>
          <p:cNvSpPr txBox="1"/>
          <p:nvPr/>
        </p:nvSpPr>
        <p:spPr>
          <a:xfrm>
            <a:off x="548640" y="5294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9" name="S02-text26"/>
          <p:cNvSpPr txBox="1"/>
          <p:nvPr/>
        </p:nvSpPr>
        <p:spPr>
          <a:xfrm>
            <a:off x="1344168" y="493776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단추를 보고 특징 하나를 말해요.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단추를 나눠 봐요</a:t>
            </a:r>
            <a:endParaRPr lang="ko-KR" sz="4400" dirty="0"/>
          </a:p>
        </p:txBody>
      </p:sp>
      <p:sp>
        <p:nvSpPr>
          <p:cNvPr id="3" name="S03-card2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3-cardtext2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점이 있는 것끼리 모아 볼까요?</a:t>
            </a:r>
            <a:endParaRPr lang="ko-KR" sz="3200" dirty="0"/>
          </a:p>
        </p:txBody>
      </p:sp>
      <p:sp>
        <p:nvSpPr>
          <p:cNvPr id="5" name="S03-figure29" descr="단추 6개: 가 빨강 구멍 4개, 나 파랑 구멍 2개, 다 노랑 구멍 4개, 라 빨강 구멍 2개, 마 파랑 구멍 4개, 바 노랑 구멍 2개. 단추 아래에 이름표와 색 이름이 적혀 있다."/>
          <p:cNvSpPr/>
          <p:nvPr/>
        </p:nvSpPr>
        <p:spPr>
          <a:xfrm>
            <a:off x="647700" y="2322139"/>
            <a:ext cx="1281594" cy="1281594"/>
          </a:xfrm>
          <a:prstGeom prst="ellipse">
            <a:avLst/>
          </a:prstGeom>
          <a:solidFill>
            <a:srgbClr val="C8434E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6" name="S03-mark30"/>
          <p:cNvSpPr/>
          <p:nvPr/>
        </p:nvSpPr>
        <p:spPr>
          <a:xfrm>
            <a:off x="1008148" y="3067066"/>
            <a:ext cx="176219" cy="17621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7" name="S03-mark31"/>
          <p:cNvSpPr/>
          <p:nvPr/>
        </p:nvSpPr>
        <p:spPr>
          <a:xfrm>
            <a:off x="1392627" y="3067066"/>
            <a:ext cx="176219" cy="17621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" name="S03-mark32"/>
          <p:cNvSpPr/>
          <p:nvPr/>
        </p:nvSpPr>
        <p:spPr>
          <a:xfrm>
            <a:off x="1008148" y="2682587"/>
            <a:ext cx="176219" cy="17621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9" name="S03-mark33"/>
          <p:cNvSpPr/>
          <p:nvPr/>
        </p:nvSpPr>
        <p:spPr>
          <a:xfrm>
            <a:off x="1392627" y="2682587"/>
            <a:ext cx="176219" cy="17621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" name="S03-mark34"/>
          <p:cNvSpPr/>
          <p:nvPr/>
        </p:nvSpPr>
        <p:spPr>
          <a:xfrm>
            <a:off x="2570092" y="2322139"/>
            <a:ext cx="1281594" cy="1281594"/>
          </a:xfrm>
          <a:prstGeom prst="ellipse">
            <a:avLst/>
          </a:prstGeom>
          <a:solidFill>
            <a:srgbClr val="3D5A80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11" name="S03-mark35"/>
          <p:cNvSpPr/>
          <p:nvPr/>
        </p:nvSpPr>
        <p:spPr>
          <a:xfrm>
            <a:off x="2930540" y="2874827"/>
            <a:ext cx="176219" cy="17621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2" name="S03-mark36"/>
          <p:cNvSpPr/>
          <p:nvPr/>
        </p:nvSpPr>
        <p:spPr>
          <a:xfrm>
            <a:off x="3315018" y="2874827"/>
            <a:ext cx="176219" cy="17621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3" name="S03-mark37"/>
          <p:cNvSpPr/>
          <p:nvPr/>
        </p:nvSpPr>
        <p:spPr>
          <a:xfrm>
            <a:off x="4492483" y="2322139"/>
            <a:ext cx="1281594" cy="1281594"/>
          </a:xfrm>
          <a:prstGeom prst="ellipse">
            <a:avLst/>
          </a:prstGeom>
          <a:solidFill>
            <a:srgbClr val="F2C14E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14" name="S03-mark38"/>
          <p:cNvSpPr/>
          <p:nvPr/>
        </p:nvSpPr>
        <p:spPr>
          <a:xfrm>
            <a:off x="4852931" y="3067066"/>
            <a:ext cx="176219" cy="17621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5" name="S03-mark39"/>
          <p:cNvSpPr/>
          <p:nvPr/>
        </p:nvSpPr>
        <p:spPr>
          <a:xfrm>
            <a:off x="5237410" y="3067066"/>
            <a:ext cx="176219" cy="17621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6" name="S03-mark40"/>
          <p:cNvSpPr/>
          <p:nvPr/>
        </p:nvSpPr>
        <p:spPr>
          <a:xfrm>
            <a:off x="4852931" y="2682587"/>
            <a:ext cx="176219" cy="17621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7" name="S03-mark41"/>
          <p:cNvSpPr/>
          <p:nvPr/>
        </p:nvSpPr>
        <p:spPr>
          <a:xfrm>
            <a:off x="5237410" y="2682587"/>
            <a:ext cx="176219" cy="17621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8" name="S03-mark42"/>
          <p:cNvSpPr/>
          <p:nvPr/>
        </p:nvSpPr>
        <p:spPr>
          <a:xfrm>
            <a:off x="6414875" y="2322139"/>
            <a:ext cx="1281594" cy="1281594"/>
          </a:xfrm>
          <a:prstGeom prst="ellipse">
            <a:avLst/>
          </a:prstGeom>
          <a:solidFill>
            <a:srgbClr val="C8434E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19" name="S03-mark43"/>
          <p:cNvSpPr/>
          <p:nvPr/>
        </p:nvSpPr>
        <p:spPr>
          <a:xfrm>
            <a:off x="6775323" y="2874827"/>
            <a:ext cx="176219" cy="17621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0" name="S03-mark44"/>
          <p:cNvSpPr/>
          <p:nvPr/>
        </p:nvSpPr>
        <p:spPr>
          <a:xfrm>
            <a:off x="7159801" y="2874827"/>
            <a:ext cx="176219" cy="17621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1" name="S03-mark45"/>
          <p:cNvSpPr/>
          <p:nvPr/>
        </p:nvSpPr>
        <p:spPr>
          <a:xfrm>
            <a:off x="8337266" y="2322139"/>
            <a:ext cx="1281594" cy="1281594"/>
          </a:xfrm>
          <a:prstGeom prst="ellipse">
            <a:avLst/>
          </a:prstGeom>
          <a:solidFill>
            <a:srgbClr val="3D5A80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22" name="S03-mark46"/>
          <p:cNvSpPr/>
          <p:nvPr/>
        </p:nvSpPr>
        <p:spPr>
          <a:xfrm>
            <a:off x="8697715" y="3067066"/>
            <a:ext cx="176219" cy="17621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3" name="S03-mark47"/>
          <p:cNvSpPr/>
          <p:nvPr/>
        </p:nvSpPr>
        <p:spPr>
          <a:xfrm>
            <a:off x="9082193" y="3067066"/>
            <a:ext cx="176219" cy="17621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4" name="S03-mark48"/>
          <p:cNvSpPr/>
          <p:nvPr/>
        </p:nvSpPr>
        <p:spPr>
          <a:xfrm>
            <a:off x="8697715" y="2682587"/>
            <a:ext cx="176219" cy="17621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5" name="S03-mark49"/>
          <p:cNvSpPr/>
          <p:nvPr/>
        </p:nvSpPr>
        <p:spPr>
          <a:xfrm>
            <a:off x="9082193" y="2682587"/>
            <a:ext cx="176219" cy="17621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6" name="S03-mark50"/>
          <p:cNvSpPr/>
          <p:nvPr/>
        </p:nvSpPr>
        <p:spPr>
          <a:xfrm>
            <a:off x="10259658" y="2322139"/>
            <a:ext cx="1281594" cy="1281594"/>
          </a:xfrm>
          <a:prstGeom prst="ellipse">
            <a:avLst/>
          </a:prstGeom>
          <a:solidFill>
            <a:srgbClr val="F2C14E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27" name="S03-mark51"/>
          <p:cNvSpPr/>
          <p:nvPr/>
        </p:nvSpPr>
        <p:spPr>
          <a:xfrm>
            <a:off x="10620106" y="2874827"/>
            <a:ext cx="176219" cy="17621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8" name="S03-mark52"/>
          <p:cNvSpPr/>
          <p:nvPr/>
        </p:nvSpPr>
        <p:spPr>
          <a:xfrm>
            <a:off x="11004584" y="2874827"/>
            <a:ext cx="176219" cy="17621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9" name="S03-label54"/>
          <p:cNvSpPr txBox="1"/>
          <p:nvPr/>
        </p:nvSpPr>
        <p:spPr>
          <a:xfrm>
            <a:off x="910037" y="3711631"/>
            <a:ext cx="75692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600" dirty="0"/>
          </a:p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빨강</a:t>
            </a:r>
            <a:endParaRPr lang="ko-KR" sz="2600" dirty="0"/>
          </a:p>
        </p:txBody>
      </p:sp>
      <p:sp>
        <p:nvSpPr>
          <p:cNvPr id="30" name="S03-label56"/>
          <p:cNvSpPr txBox="1"/>
          <p:nvPr/>
        </p:nvSpPr>
        <p:spPr>
          <a:xfrm>
            <a:off x="2832429" y="3711631"/>
            <a:ext cx="75692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600" dirty="0"/>
          </a:p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파랑</a:t>
            </a:r>
            <a:endParaRPr lang="ko-KR" sz="2600" dirty="0"/>
          </a:p>
        </p:txBody>
      </p:sp>
      <p:sp>
        <p:nvSpPr>
          <p:cNvPr id="31" name="S03-label58"/>
          <p:cNvSpPr txBox="1"/>
          <p:nvPr/>
        </p:nvSpPr>
        <p:spPr>
          <a:xfrm>
            <a:off x="4754820" y="3711631"/>
            <a:ext cx="75692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2600" dirty="0"/>
          </a:p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노랑</a:t>
            </a:r>
            <a:endParaRPr lang="ko-KR" sz="2600" dirty="0"/>
          </a:p>
        </p:txBody>
      </p:sp>
      <p:sp>
        <p:nvSpPr>
          <p:cNvPr id="32" name="S03-label60"/>
          <p:cNvSpPr txBox="1"/>
          <p:nvPr/>
        </p:nvSpPr>
        <p:spPr>
          <a:xfrm>
            <a:off x="6677212" y="3711631"/>
            <a:ext cx="75692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</a:t>
            </a:r>
            <a:endParaRPr lang="ko-KR" sz="2600" dirty="0"/>
          </a:p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빨강</a:t>
            </a:r>
            <a:endParaRPr lang="ko-KR" sz="2600" dirty="0"/>
          </a:p>
        </p:txBody>
      </p:sp>
      <p:sp>
        <p:nvSpPr>
          <p:cNvPr id="33" name="S03-label62"/>
          <p:cNvSpPr txBox="1"/>
          <p:nvPr/>
        </p:nvSpPr>
        <p:spPr>
          <a:xfrm>
            <a:off x="8599603" y="3711631"/>
            <a:ext cx="75692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</a:t>
            </a:r>
            <a:endParaRPr lang="ko-KR" sz="2600" dirty="0"/>
          </a:p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파랑</a:t>
            </a:r>
            <a:endParaRPr lang="ko-KR" sz="2600" dirty="0"/>
          </a:p>
        </p:txBody>
      </p:sp>
      <p:sp>
        <p:nvSpPr>
          <p:cNvPr id="34" name="S03-label64"/>
          <p:cNvSpPr txBox="1"/>
          <p:nvPr/>
        </p:nvSpPr>
        <p:spPr>
          <a:xfrm>
            <a:off x="10521995" y="3711631"/>
            <a:ext cx="75692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</a:t>
            </a:r>
            <a:endParaRPr lang="ko-KR" sz="2600" dirty="0"/>
          </a:p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노랑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기준은 질문이에요</a:t>
            </a:r>
            <a:endParaRPr lang="ko-KR" sz="4400" dirty="0"/>
          </a:p>
        </p:txBody>
      </p:sp>
      <p:sp>
        <p:nvSpPr>
          <p:cNvPr id="3" name="S04-figure65" descr="기준 질문 상자 ‘구멍이 4개인가요?’에서 화살표 두 개가 아래로 나뉘어 왼쪽은 ‘예’ 상자, 오른쪽은 ‘아니요’ 상자로 간다."/>
          <p:cNvSpPr/>
          <p:nvPr/>
        </p:nvSpPr>
        <p:spPr>
          <a:xfrm>
            <a:off x="1234613" y="2598074"/>
            <a:ext cx="3991010" cy="821678"/>
          </a:xfrm>
          <a:custGeom>
            <a:avLst/>
            <a:gdLst/>
            <a:ahLst/>
            <a:cxnLst/>
            <a:rect l="l" t="t" r="r" b="b"/>
            <a:pathLst>
              <a:path w="3991010" h="821678">
                <a:moveTo>
                  <a:pt x="0" y="821678"/>
                </a:moveTo>
                <a:lnTo>
                  <a:pt x="3991010" y="821678"/>
                </a:lnTo>
                <a:lnTo>
                  <a:pt x="3991010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" name="S04-mark66"/>
          <p:cNvSpPr/>
          <p:nvPr/>
        </p:nvSpPr>
        <p:spPr>
          <a:xfrm>
            <a:off x="647700" y="4124048"/>
            <a:ext cx="2112887" cy="821678"/>
          </a:xfrm>
          <a:custGeom>
            <a:avLst/>
            <a:gdLst/>
            <a:ahLst/>
            <a:cxnLst/>
            <a:rect l="l" t="t" r="r" b="b"/>
            <a:pathLst>
              <a:path w="2112887" h="821678">
                <a:moveTo>
                  <a:pt x="0" y="821678"/>
                </a:moveTo>
                <a:lnTo>
                  <a:pt x="2112887" y="821678"/>
                </a:lnTo>
                <a:lnTo>
                  <a:pt x="2112887" y="0"/>
                </a:lnTo>
                <a:lnTo>
                  <a:pt x="0" y="0"/>
                </a:lnTo>
                <a:close/>
              </a:path>
            </a:pathLst>
          </a:custGeom>
          <a:solidFill>
            <a:srgbClr val="EAF3F1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" name="S04-mark67"/>
          <p:cNvSpPr/>
          <p:nvPr/>
        </p:nvSpPr>
        <p:spPr>
          <a:xfrm>
            <a:off x="3699649" y="4124048"/>
            <a:ext cx="2112887" cy="821678"/>
          </a:xfrm>
          <a:custGeom>
            <a:avLst/>
            <a:gdLst/>
            <a:ahLst/>
            <a:cxnLst/>
            <a:rect l="l" t="t" r="r" b="b"/>
            <a:pathLst>
              <a:path w="2112887" h="821678">
                <a:moveTo>
                  <a:pt x="0" y="821678"/>
                </a:moveTo>
                <a:lnTo>
                  <a:pt x="2112887" y="821678"/>
                </a:lnTo>
                <a:lnTo>
                  <a:pt x="2112887" y="0"/>
                </a:lnTo>
                <a:lnTo>
                  <a:pt x="0" y="0"/>
                </a:lnTo>
                <a:close/>
              </a:path>
            </a:pathLst>
          </a:custGeom>
          <a:solidFill>
            <a:srgbClr val="EAF3F1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" name="S04-mark68"/>
          <p:cNvSpPr/>
          <p:nvPr/>
        </p:nvSpPr>
        <p:spPr>
          <a:xfrm flipH="1">
            <a:off x="1821526" y="3419752"/>
            <a:ext cx="704296" cy="67495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7" name="S04-mark69"/>
          <p:cNvSpPr/>
          <p:nvPr/>
        </p:nvSpPr>
        <p:spPr>
          <a:xfrm>
            <a:off x="3934414" y="3419752"/>
            <a:ext cx="704296" cy="67495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8" name="S04-label71"/>
          <p:cNvSpPr txBox="1"/>
          <p:nvPr/>
        </p:nvSpPr>
        <p:spPr>
          <a:xfrm>
            <a:off x="1785112" y="2802538"/>
            <a:ext cx="2890012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구멍이 4개인가요?</a:t>
            </a:r>
            <a:endParaRPr lang="ko-KR" sz="2600" dirty="0"/>
          </a:p>
        </p:txBody>
      </p:sp>
      <p:sp>
        <p:nvSpPr>
          <p:cNvPr id="9" name="S04-label73"/>
          <p:cNvSpPr txBox="1"/>
          <p:nvPr/>
        </p:nvSpPr>
        <p:spPr>
          <a:xfrm>
            <a:off x="1487482" y="4328512"/>
            <a:ext cx="433324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</a:t>
            </a:r>
            <a:endParaRPr lang="ko-KR" sz="2600" dirty="0"/>
          </a:p>
        </p:txBody>
      </p:sp>
      <p:sp>
        <p:nvSpPr>
          <p:cNvPr id="10" name="S04-label75"/>
          <p:cNvSpPr txBox="1"/>
          <p:nvPr/>
        </p:nvSpPr>
        <p:spPr>
          <a:xfrm>
            <a:off x="4215834" y="4328512"/>
            <a:ext cx="1080516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아니요</a:t>
            </a:r>
            <a:endParaRPr lang="ko-KR" sz="2600" dirty="0"/>
          </a:p>
        </p:txBody>
      </p:sp>
      <p:sp>
        <p:nvSpPr>
          <p:cNvPr id="11" name="S04-card76"/>
          <p:cNvSpPr/>
          <p:nvPr/>
        </p:nvSpPr>
        <p:spPr>
          <a:xfrm>
            <a:off x="6277356" y="1562100"/>
            <a:ext cx="5362956" cy="1320800"/>
          </a:xfrm>
          <a:prstGeom prst="roundRect">
            <a:avLst>
              <a:gd name="adj" fmla="val 830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2" name="S04-cardtext77"/>
          <p:cNvSpPr txBox="1"/>
          <p:nvPr/>
        </p:nvSpPr>
        <p:spPr>
          <a:xfrm>
            <a:off x="6551676" y="1699260"/>
            <a:ext cx="4814316" cy="1046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나누는 까닭이 되는 질문을 ‘기준’이라고 해요.</a:t>
            </a:r>
            <a:endParaRPr lang="ko-KR" sz="3200" dirty="0"/>
          </a:p>
        </p:txBody>
      </p:sp>
      <p:sp>
        <p:nvSpPr>
          <p:cNvPr id="13" name="S04-card78"/>
          <p:cNvSpPr/>
          <p:nvPr/>
        </p:nvSpPr>
        <p:spPr>
          <a:xfrm>
            <a:off x="6277356" y="3111500"/>
            <a:ext cx="5362956" cy="1320800"/>
          </a:xfrm>
          <a:prstGeom prst="roundRect">
            <a:avLst>
              <a:gd name="adj" fmla="val 830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4" name="S04-cardtext79"/>
          <p:cNvSpPr txBox="1"/>
          <p:nvPr/>
        </p:nvSpPr>
        <p:spPr>
          <a:xfrm>
            <a:off x="6551676" y="3248660"/>
            <a:ext cx="4814316" cy="1046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답은 ‘예’ 아니면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‘아니요’예요.</a:t>
            </a:r>
            <a:endParaRPr lang="ko-KR" sz="3200" dirty="0"/>
          </a:p>
        </p:txBody>
      </p:sp>
      <p:sp>
        <p:nvSpPr>
          <p:cNvPr id="15" name="S04-card80"/>
          <p:cNvSpPr/>
          <p:nvPr/>
        </p:nvSpPr>
        <p:spPr>
          <a:xfrm>
            <a:off x="6277356" y="4660900"/>
            <a:ext cx="5362956" cy="1320800"/>
          </a:xfrm>
          <a:prstGeom prst="roundRect">
            <a:avLst>
              <a:gd name="adj" fmla="val 830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6" name="S04-cardtext81"/>
          <p:cNvSpPr txBox="1"/>
          <p:nvPr/>
        </p:nvSpPr>
        <p:spPr>
          <a:xfrm>
            <a:off x="6551676" y="4798060"/>
            <a:ext cx="4814316" cy="1046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답해도 똑같아야 해요.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구멍이 4개인가요?</a:t>
            </a:r>
            <a:endParaRPr lang="ko-KR" sz="4400" dirty="0"/>
          </a:p>
        </p:txBody>
      </p:sp>
      <p:sp>
        <p:nvSpPr>
          <p:cNvPr id="3" name="S05-card8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5-cardtext8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기준 하나로 ‘예’와 ‘아니요’ 두 무리로 나눴어요.</a:t>
            </a:r>
            <a:endParaRPr lang="ko-KR" sz="3200" dirty="0"/>
          </a:p>
        </p:txBody>
      </p:sp>
      <p:sp>
        <p:nvSpPr>
          <p:cNvPr id="5" name="S05-figure84" descr="기준 ‘구멍이 4개인가요?’로 나눈 단추: 왼쪽 ‘예’ 상자에 가(빨강), 다(노랑), 마(파랑) — 모두 구멍 4개. 오른쪽 ‘아니요’ 상자에 나(파랑), 라(빨강), 바(노랑) — 모두 구멍 2개."/>
          <p:cNvSpPr/>
          <p:nvPr/>
        </p:nvSpPr>
        <p:spPr>
          <a:xfrm>
            <a:off x="647700" y="2231409"/>
            <a:ext cx="4976067" cy="2420789"/>
          </a:xfrm>
          <a:custGeom>
            <a:avLst/>
            <a:gdLst/>
            <a:ahLst/>
            <a:cxnLst/>
            <a:rect l="l" t="t" r="r" b="b"/>
            <a:pathLst>
              <a:path w="4976067" h="2420789">
                <a:moveTo>
                  <a:pt x="0" y="2420789"/>
                </a:moveTo>
                <a:lnTo>
                  <a:pt x="4976067" y="2420789"/>
                </a:lnTo>
                <a:lnTo>
                  <a:pt x="4976067" y="0"/>
                </a:lnTo>
                <a:lnTo>
                  <a:pt x="0" y="0"/>
                </a:lnTo>
                <a:close/>
              </a:path>
            </a:pathLst>
          </a:custGeom>
          <a:solidFill>
            <a:srgbClr val="F4F7F6"/>
          </a:solidFill>
          <a:ln w="19050">
            <a:solidFill>
              <a:srgbClr val="1F2937"/>
            </a:solidFill>
            <a:prstDash val="dash"/>
          </a:ln>
        </p:spPr>
      </p:sp>
      <p:sp>
        <p:nvSpPr>
          <p:cNvPr id="6" name="S05-mark85"/>
          <p:cNvSpPr/>
          <p:nvPr/>
        </p:nvSpPr>
        <p:spPr>
          <a:xfrm>
            <a:off x="6565185" y="2231409"/>
            <a:ext cx="4976067" cy="2420789"/>
          </a:xfrm>
          <a:custGeom>
            <a:avLst/>
            <a:gdLst/>
            <a:ahLst/>
            <a:cxnLst/>
            <a:rect l="l" t="t" r="r" b="b"/>
            <a:pathLst>
              <a:path w="4976067" h="2420789">
                <a:moveTo>
                  <a:pt x="0" y="2420789"/>
                </a:moveTo>
                <a:lnTo>
                  <a:pt x="4976067" y="2420789"/>
                </a:lnTo>
                <a:lnTo>
                  <a:pt x="4976067" y="0"/>
                </a:lnTo>
                <a:lnTo>
                  <a:pt x="0" y="0"/>
                </a:lnTo>
                <a:close/>
              </a:path>
            </a:pathLst>
          </a:custGeom>
          <a:solidFill>
            <a:srgbClr val="F4F7F6"/>
          </a:solidFill>
          <a:ln w="19050">
            <a:solidFill>
              <a:srgbClr val="1F2937"/>
            </a:solidFill>
            <a:prstDash val="dash"/>
          </a:ln>
        </p:spPr>
      </p:sp>
      <p:sp>
        <p:nvSpPr>
          <p:cNvPr id="7" name="S05-mark86"/>
          <p:cNvSpPr/>
          <p:nvPr/>
        </p:nvSpPr>
        <p:spPr>
          <a:xfrm>
            <a:off x="983921" y="2567630"/>
            <a:ext cx="1075906" cy="1075906"/>
          </a:xfrm>
          <a:prstGeom prst="ellipse">
            <a:avLst/>
          </a:prstGeom>
          <a:solidFill>
            <a:srgbClr val="C8434E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8" name="S05-mark87"/>
          <p:cNvSpPr/>
          <p:nvPr/>
        </p:nvSpPr>
        <p:spPr>
          <a:xfrm>
            <a:off x="1286519" y="3193000"/>
            <a:ext cx="147937" cy="147937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9" name="S05-mark88"/>
          <p:cNvSpPr/>
          <p:nvPr/>
        </p:nvSpPr>
        <p:spPr>
          <a:xfrm>
            <a:off x="1609291" y="3193000"/>
            <a:ext cx="147937" cy="147937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" name="S05-mark89"/>
          <p:cNvSpPr/>
          <p:nvPr/>
        </p:nvSpPr>
        <p:spPr>
          <a:xfrm>
            <a:off x="1286519" y="2870228"/>
            <a:ext cx="147937" cy="147937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1" name="S05-mark90"/>
          <p:cNvSpPr/>
          <p:nvPr/>
        </p:nvSpPr>
        <p:spPr>
          <a:xfrm>
            <a:off x="1609291" y="2870228"/>
            <a:ext cx="147937" cy="147937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2" name="S05-mark91"/>
          <p:cNvSpPr/>
          <p:nvPr/>
        </p:nvSpPr>
        <p:spPr>
          <a:xfrm>
            <a:off x="2597780" y="2567630"/>
            <a:ext cx="1075906" cy="1075906"/>
          </a:xfrm>
          <a:prstGeom prst="ellipse">
            <a:avLst/>
          </a:prstGeom>
          <a:solidFill>
            <a:srgbClr val="F2C14E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13" name="S05-mark92"/>
          <p:cNvSpPr/>
          <p:nvPr/>
        </p:nvSpPr>
        <p:spPr>
          <a:xfrm>
            <a:off x="2900379" y="3193000"/>
            <a:ext cx="147937" cy="147937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4" name="S05-mark93"/>
          <p:cNvSpPr/>
          <p:nvPr/>
        </p:nvSpPr>
        <p:spPr>
          <a:xfrm>
            <a:off x="3223151" y="3193000"/>
            <a:ext cx="147937" cy="147937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5" name="S05-mark94"/>
          <p:cNvSpPr/>
          <p:nvPr/>
        </p:nvSpPr>
        <p:spPr>
          <a:xfrm>
            <a:off x="2900379" y="2870228"/>
            <a:ext cx="147937" cy="147937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6" name="S05-mark95"/>
          <p:cNvSpPr/>
          <p:nvPr/>
        </p:nvSpPr>
        <p:spPr>
          <a:xfrm>
            <a:off x="3223151" y="2870228"/>
            <a:ext cx="147937" cy="147937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7" name="S05-mark96"/>
          <p:cNvSpPr/>
          <p:nvPr/>
        </p:nvSpPr>
        <p:spPr>
          <a:xfrm>
            <a:off x="4211640" y="2567630"/>
            <a:ext cx="1075906" cy="1075906"/>
          </a:xfrm>
          <a:prstGeom prst="ellipse">
            <a:avLst/>
          </a:prstGeom>
          <a:solidFill>
            <a:srgbClr val="3D5A80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18" name="S05-mark97"/>
          <p:cNvSpPr/>
          <p:nvPr/>
        </p:nvSpPr>
        <p:spPr>
          <a:xfrm>
            <a:off x="4514239" y="3193000"/>
            <a:ext cx="147937" cy="147937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9" name="S05-mark98"/>
          <p:cNvSpPr/>
          <p:nvPr/>
        </p:nvSpPr>
        <p:spPr>
          <a:xfrm>
            <a:off x="4837010" y="3193000"/>
            <a:ext cx="147937" cy="147937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0" name="S05-mark99"/>
          <p:cNvSpPr/>
          <p:nvPr/>
        </p:nvSpPr>
        <p:spPr>
          <a:xfrm>
            <a:off x="4514239" y="2870228"/>
            <a:ext cx="147937" cy="147937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1" name="S05-mark100"/>
          <p:cNvSpPr/>
          <p:nvPr/>
        </p:nvSpPr>
        <p:spPr>
          <a:xfrm>
            <a:off x="4837010" y="2870228"/>
            <a:ext cx="147937" cy="147937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2" name="S05-mark101"/>
          <p:cNvSpPr/>
          <p:nvPr/>
        </p:nvSpPr>
        <p:spPr>
          <a:xfrm>
            <a:off x="6901406" y="2567630"/>
            <a:ext cx="1075906" cy="1075906"/>
          </a:xfrm>
          <a:prstGeom prst="ellipse">
            <a:avLst/>
          </a:prstGeom>
          <a:solidFill>
            <a:srgbClr val="3D5A80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23" name="S05-mark102"/>
          <p:cNvSpPr/>
          <p:nvPr/>
        </p:nvSpPr>
        <p:spPr>
          <a:xfrm>
            <a:off x="7204004" y="3031614"/>
            <a:ext cx="147937" cy="147937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4" name="S05-mark103"/>
          <p:cNvSpPr/>
          <p:nvPr/>
        </p:nvSpPr>
        <p:spPr>
          <a:xfrm>
            <a:off x="7526776" y="3031614"/>
            <a:ext cx="147937" cy="147937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5" name="S05-mark104"/>
          <p:cNvSpPr/>
          <p:nvPr/>
        </p:nvSpPr>
        <p:spPr>
          <a:xfrm>
            <a:off x="8515265" y="2567630"/>
            <a:ext cx="1075906" cy="1075906"/>
          </a:xfrm>
          <a:prstGeom prst="ellipse">
            <a:avLst/>
          </a:prstGeom>
          <a:solidFill>
            <a:srgbClr val="C8434E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26" name="S05-mark105"/>
          <p:cNvSpPr/>
          <p:nvPr/>
        </p:nvSpPr>
        <p:spPr>
          <a:xfrm>
            <a:off x="8817864" y="3031614"/>
            <a:ext cx="147937" cy="147937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7" name="S05-mark106"/>
          <p:cNvSpPr/>
          <p:nvPr/>
        </p:nvSpPr>
        <p:spPr>
          <a:xfrm>
            <a:off x="9140636" y="3031614"/>
            <a:ext cx="147937" cy="147937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8" name="S05-mark107"/>
          <p:cNvSpPr/>
          <p:nvPr/>
        </p:nvSpPr>
        <p:spPr>
          <a:xfrm>
            <a:off x="10129125" y="2567630"/>
            <a:ext cx="1075906" cy="1075906"/>
          </a:xfrm>
          <a:prstGeom prst="ellipse">
            <a:avLst/>
          </a:prstGeom>
          <a:solidFill>
            <a:srgbClr val="F2C14E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29" name="S05-mark108"/>
          <p:cNvSpPr/>
          <p:nvPr/>
        </p:nvSpPr>
        <p:spPr>
          <a:xfrm>
            <a:off x="10431724" y="3031614"/>
            <a:ext cx="147937" cy="147937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0" name="S05-mark109"/>
          <p:cNvSpPr/>
          <p:nvPr/>
        </p:nvSpPr>
        <p:spPr>
          <a:xfrm>
            <a:off x="10754495" y="3031614"/>
            <a:ext cx="147937" cy="147937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1" name="S05-label111"/>
          <p:cNvSpPr txBox="1"/>
          <p:nvPr/>
        </p:nvSpPr>
        <p:spPr>
          <a:xfrm>
            <a:off x="2919071" y="1587947"/>
            <a:ext cx="433324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</a:t>
            </a:r>
            <a:endParaRPr lang="ko-KR" sz="2600" dirty="0"/>
          </a:p>
        </p:txBody>
      </p:sp>
      <p:sp>
        <p:nvSpPr>
          <p:cNvPr id="32" name="S05-label113"/>
          <p:cNvSpPr txBox="1"/>
          <p:nvPr/>
        </p:nvSpPr>
        <p:spPr>
          <a:xfrm>
            <a:off x="1143414" y="3667873"/>
            <a:ext cx="75692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600" dirty="0"/>
          </a:p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빨강</a:t>
            </a:r>
            <a:endParaRPr lang="ko-KR" sz="2600" dirty="0"/>
          </a:p>
        </p:txBody>
      </p:sp>
      <p:sp>
        <p:nvSpPr>
          <p:cNvPr id="33" name="S05-label115"/>
          <p:cNvSpPr txBox="1"/>
          <p:nvPr/>
        </p:nvSpPr>
        <p:spPr>
          <a:xfrm>
            <a:off x="2757273" y="3667873"/>
            <a:ext cx="75692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2600" dirty="0"/>
          </a:p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노랑</a:t>
            </a:r>
            <a:endParaRPr lang="ko-KR" sz="2600" dirty="0"/>
          </a:p>
        </p:txBody>
      </p:sp>
      <p:sp>
        <p:nvSpPr>
          <p:cNvPr id="34" name="S05-label117"/>
          <p:cNvSpPr txBox="1"/>
          <p:nvPr/>
        </p:nvSpPr>
        <p:spPr>
          <a:xfrm>
            <a:off x="4371133" y="3667873"/>
            <a:ext cx="75692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</a:t>
            </a:r>
            <a:endParaRPr lang="ko-KR" sz="2600" dirty="0"/>
          </a:p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파랑</a:t>
            </a:r>
            <a:endParaRPr lang="ko-KR" sz="2600" dirty="0"/>
          </a:p>
        </p:txBody>
      </p:sp>
      <p:sp>
        <p:nvSpPr>
          <p:cNvPr id="35" name="S05-label119"/>
          <p:cNvSpPr txBox="1"/>
          <p:nvPr/>
        </p:nvSpPr>
        <p:spPr>
          <a:xfrm>
            <a:off x="8512961" y="1587947"/>
            <a:ext cx="1080516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아니요</a:t>
            </a:r>
            <a:endParaRPr lang="ko-KR" sz="2600" dirty="0"/>
          </a:p>
        </p:txBody>
      </p:sp>
      <p:sp>
        <p:nvSpPr>
          <p:cNvPr id="36" name="S05-label121"/>
          <p:cNvSpPr txBox="1"/>
          <p:nvPr/>
        </p:nvSpPr>
        <p:spPr>
          <a:xfrm>
            <a:off x="7060899" y="3667873"/>
            <a:ext cx="75692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600" dirty="0"/>
          </a:p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파랑</a:t>
            </a:r>
            <a:endParaRPr lang="ko-KR" sz="2600" dirty="0"/>
          </a:p>
        </p:txBody>
      </p:sp>
      <p:sp>
        <p:nvSpPr>
          <p:cNvPr id="37" name="S05-label123"/>
          <p:cNvSpPr txBox="1"/>
          <p:nvPr/>
        </p:nvSpPr>
        <p:spPr>
          <a:xfrm>
            <a:off x="8674759" y="3667873"/>
            <a:ext cx="75692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</a:t>
            </a:r>
            <a:endParaRPr lang="ko-KR" sz="2600" dirty="0"/>
          </a:p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빨강</a:t>
            </a:r>
            <a:endParaRPr lang="ko-KR" sz="2600" dirty="0"/>
          </a:p>
        </p:txBody>
      </p:sp>
      <p:sp>
        <p:nvSpPr>
          <p:cNvPr id="38" name="S05-label125"/>
          <p:cNvSpPr txBox="1"/>
          <p:nvPr/>
        </p:nvSpPr>
        <p:spPr>
          <a:xfrm>
            <a:off x="10288618" y="3667873"/>
            <a:ext cx="75692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</a:t>
            </a:r>
            <a:endParaRPr lang="ko-KR" sz="2600" dirty="0"/>
          </a:p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노랑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빨간색인가요?</a:t>
            </a:r>
            <a:endParaRPr lang="ko-KR" sz="4400" dirty="0"/>
          </a:p>
        </p:txBody>
      </p:sp>
      <p:sp>
        <p:nvSpPr>
          <p:cNvPr id="3" name="S06-card126"/>
          <p:cNvSpPr/>
          <p:nvPr/>
        </p:nvSpPr>
        <p:spPr>
          <a:xfrm>
            <a:off x="548640" y="4897120"/>
            <a:ext cx="11091672" cy="1320800"/>
          </a:xfrm>
          <a:prstGeom prst="roundRect">
            <a:avLst>
              <a:gd name="adj" fmla="val 8308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6-cardtext127"/>
          <p:cNvSpPr txBox="1"/>
          <p:nvPr/>
        </p:nvSpPr>
        <p:spPr>
          <a:xfrm>
            <a:off x="822960" y="5034280"/>
            <a:ext cx="10543032" cy="1046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‘예’ 무리와 ‘아니요’ 무리를 말해요.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남는 단추가 없나요?</a:t>
            </a:r>
            <a:endParaRPr lang="ko-KR" sz="3200" dirty="0"/>
          </a:p>
        </p:txBody>
      </p:sp>
      <p:sp>
        <p:nvSpPr>
          <p:cNvPr id="5" name="S06-figure128" descr="단추 6개: 가 빨강 구멍 4개, 나 파랑 구멍 2개, 다 노랑 구멍 4개, 라 빨강 구멍 2개, 마 파랑 구멍 4개, 바 노랑 구멍 2개. 단추 아래에 이름표와 색 이름이 적혀 있다."/>
          <p:cNvSpPr/>
          <p:nvPr/>
        </p:nvSpPr>
        <p:spPr>
          <a:xfrm>
            <a:off x="647700" y="2096079"/>
            <a:ext cx="1281594" cy="1281594"/>
          </a:xfrm>
          <a:prstGeom prst="ellipse">
            <a:avLst/>
          </a:prstGeom>
          <a:solidFill>
            <a:srgbClr val="C8434E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6" name="S06-mark129"/>
          <p:cNvSpPr/>
          <p:nvPr/>
        </p:nvSpPr>
        <p:spPr>
          <a:xfrm>
            <a:off x="1008148" y="2841006"/>
            <a:ext cx="176219" cy="17621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7" name="S06-mark130"/>
          <p:cNvSpPr/>
          <p:nvPr/>
        </p:nvSpPr>
        <p:spPr>
          <a:xfrm>
            <a:off x="1392627" y="2841006"/>
            <a:ext cx="176219" cy="17621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" name="S06-mark131"/>
          <p:cNvSpPr/>
          <p:nvPr/>
        </p:nvSpPr>
        <p:spPr>
          <a:xfrm>
            <a:off x="1008148" y="2456527"/>
            <a:ext cx="176219" cy="17621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9" name="S06-mark132"/>
          <p:cNvSpPr/>
          <p:nvPr/>
        </p:nvSpPr>
        <p:spPr>
          <a:xfrm>
            <a:off x="1392627" y="2456527"/>
            <a:ext cx="176219" cy="17621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" name="S06-mark133"/>
          <p:cNvSpPr/>
          <p:nvPr/>
        </p:nvSpPr>
        <p:spPr>
          <a:xfrm>
            <a:off x="2570092" y="2096079"/>
            <a:ext cx="1281594" cy="1281594"/>
          </a:xfrm>
          <a:prstGeom prst="ellipse">
            <a:avLst/>
          </a:prstGeom>
          <a:solidFill>
            <a:srgbClr val="3D5A80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11" name="S06-mark134"/>
          <p:cNvSpPr/>
          <p:nvPr/>
        </p:nvSpPr>
        <p:spPr>
          <a:xfrm>
            <a:off x="2930540" y="2648767"/>
            <a:ext cx="176219" cy="17621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2" name="S06-mark135"/>
          <p:cNvSpPr/>
          <p:nvPr/>
        </p:nvSpPr>
        <p:spPr>
          <a:xfrm>
            <a:off x="3315018" y="2648767"/>
            <a:ext cx="176219" cy="17621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3" name="S06-mark136"/>
          <p:cNvSpPr/>
          <p:nvPr/>
        </p:nvSpPr>
        <p:spPr>
          <a:xfrm>
            <a:off x="4492483" y="2096079"/>
            <a:ext cx="1281594" cy="1281594"/>
          </a:xfrm>
          <a:prstGeom prst="ellipse">
            <a:avLst/>
          </a:prstGeom>
          <a:solidFill>
            <a:srgbClr val="F2C14E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14" name="S06-mark137"/>
          <p:cNvSpPr/>
          <p:nvPr/>
        </p:nvSpPr>
        <p:spPr>
          <a:xfrm>
            <a:off x="4852931" y="2841006"/>
            <a:ext cx="176219" cy="17621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5" name="S06-mark138"/>
          <p:cNvSpPr/>
          <p:nvPr/>
        </p:nvSpPr>
        <p:spPr>
          <a:xfrm>
            <a:off x="5237410" y="2841006"/>
            <a:ext cx="176219" cy="17621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6" name="S06-mark139"/>
          <p:cNvSpPr/>
          <p:nvPr/>
        </p:nvSpPr>
        <p:spPr>
          <a:xfrm>
            <a:off x="4852931" y="2456527"/>
            <a:ext cx="176219" cy="17621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7" name="S06-mark140"/>
          <p:cNvSpPr/>
          <p:nvPr/>
        </p:nvSpPr>
        <p:spPr>
          <a:xfrm>
            <a:off x="5237410" y="2456527"/>
            <a:ext cx="176219" cy="17621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8" name="S06-mark141"/>
          <p:cNvSpPr/>
          <p:nvPr/>
        </p:nvSpPr>
        <p:spPr>
          <a:xfrm>
            <a:off x="6414875" y="2096079"/>
            <a:ext cx="1281594" cy="1281594"/>
          </a:xfrm>
          <a:prstGeom prst="ellipse">
            <a:avLst/>
          </a:prstGeom>
          <a:solidFill>
            <a:srgbClr val="C8434E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19" name="S06-mark142"/>
          <p:cNvSpPr/>
          <p:nvPr/>
        </p:nvSpPr>
        <p:spPr>
          <a:xfrm>
            <a:off x="6775323" y="2648767"/>
            <a:ext cx="176219" cy="17621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0" name="S06-mark143"/>
          <p:cNvSpPr/>
          <p:nvPr/>
        </p:nvSpPr>
        <p:spPr>
          <a:xfrm>
            <a:off x="7159801" y="2648767"/>
            <a:ext cx="176219" cy="17621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1" name="S06-mark144"/>
          <p:cNvSpPr/>
          <p:nvPr/>
        </p:nvSpPr>
        <p:spPr>
          <a:xfrm>
            <a:off x="8337266" y="2096079"/>
            <a:ext cx="1281594" cy="1281594"/>
          </a:xfrm>
          <a:prstGeom prst="ellipse">
            <a:avLst/>
          </a:prstGeom>
          <a:solidFill>
            <a:srgbClr val="3D5A80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22" name="S06-mark145"/>
          <p:cNvSpPr/>
          <p:nvPr/>
        </p:nvSpPr>
        <p:spPr>
          <a:xfrm>
            <a:off x="8697715" y="2841006"/>
            <a:ext cx="176219" cy="17621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3" name="S06-mark146"/>
          <p:cNvSpPr/>
          <p:nvPr/>
        </p:nvSpPr>
        <p:spPr>
          <a:xfrm>
            <a:off x="9082193" y="2841006"/>
            <a:ext cx="176219" cy="17621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4" name="S06-mark147"/>
          <p:cNvSpPr/>
          <p:nvPr/>
        </p:nvSpPr>
        <p:spPr>
          <a:xfrm>
            <a:off x="8697715" y="2456527"/>
            <a:ext cx="176219" cy="17621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5" name="S06-mark148"/>
          <p:cNvSpPr/>
          <p:nvPr/>
        </p:nvSpPr>
        <p:spPr>
          <a:xfrm>
            <a:off x="9082193" y="2456527"/>
            <a:ext cx="176219" cy="17621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6" name="S06-mark149"/>
          <p:cNvSpPr/>
          <p:nvPr/>
        </p:nvSpPr>
        <p:spPr>
          <a:xfrm>
            <a:off x="10259658" y="2096079"/>
            <a:ext cx="1281594" cy="1281594"/>
          </a:xfrm>
          <a:prstGeom prst="ellipse">
            <a:avLst/>
          </a:prstGeom>
          <a:solidFill>
            <a:srgbClr val="F2C14E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27" name="S06-mark150"/>
          <p:cNvSpPr/>
          <p:nvPr/>
        </p:nvSpPr>
        <p:spPr>
          <a:xfrm>
            <a:off x="10620106" y="2648767"/>
            <a:ext cx="176219" cy="17621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8" name="S06-mark151"/>
          <p:cNvSpPr/>
          <p:nvPr/>
        </p:nvSpPr>
        <p:spPr>
          <a:xfrm>
            <a:off x="11004584" y="2648767"/>
            <a:ext cx="176219" cy="17621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9" name="S06-label153"/>
          <p:cNvSpPr txBox="1"/>
          <p:nvPr/>
        </p:nvSpPr>
        <p:spPr>
          <a:xfrm>
            <a:off x="910037" y="3485571"/>
            <a:ext cx="75692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600" dirty="0"/>
          </a:p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빨강</a:t>
            </a:r>
            <a:endParaRPr lang="ko-KR" sz="2600" dirty="0"/>
          </a:p>
        </p:txBody>
      </p:sp>
      <p:sp>
        <p:nvSpPr>
          <p:cNvPr id="30" name="S06-label155"/>
          <p:cNvSpPr txBox="1"/>
          <p:nvPr/>
        </p:nvSpPr>
        <p:spPr>
          <a:xfrm>
            <a:off x="2832429" y="3485571"/>
            <a:ext cx="75692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600" dirty="0"/>
          </a:p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파랑</a:t>
            </a:r>
            <a:endParaRPr lang="ko-KR" sz="2600" dirty="0"/>
          </a:p>
        </p:txBody>
      </p:sp>
      <p:sp>
        <p:nvSpPr>
          <p:cNvPr id="31" name="S06-label157"/>
          <p:cNvSpPr txBox="1"/>
          <p:nvPr/>
        </p:nvSpPr>
        <p:spPr>
          <a:xfrm>
            <a:off x="4754820" y="3485571"/>
            <a:ext cx="75692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2600" dirty="0"/>
          </a:p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노랑</a:t>
            </a:r>
            <a:endParaRPr lang="ko-KR" sz="2600" dirty="0"/>
          </a:p>
        </p:txBody>
      </p:sp>
      <p:sp>
        <p:nvSpPr>
          <p:cNvPr id="32" name="S06-label159"/>
          <p:cNvSpPr txBox="1"/>
          <p:nvPr/>
        </p:nvSpPr>
        <p:spPr>
          <a:xfrm>
            <a:off x="6677212" y="3485571"/>
            <a:ext cx="75692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</a:t>
            </a:r>
            <a:endParaRPr lang="ko-KR" sz="2600" dirty="0"/>
          </a:p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빨강</a:t>
            </a:r>
            <a:endParaRPr lang="ko-KR" sz="2600" dirty="0"/>
          </a:p>
        </p:txBody>
      </p:sp>
      <p:sp>
        <p:nvSpPr>
          <p:cNvPr id="33" name="S06-label161"/>
          <p:cNvSpPr txBox="1"/>
          <p:nvPr/>
        </p:nvSpPr>
        <p:spPr>
          <a:xfrm>
            <a:off x="8599603" y="3485571"/>
            <a:ext cx="75692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</a:t>
            </a:r>
            <a:endParaRPr lang="ko-KR" sz="2600" dirty="0"/>
          </a:p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파랑</a:t>
            </a:r>
            <a:endParaRPr lang="ko-KR" sz="2600" dirty="0"/>
          </a:p>
        </p:txBody>
      </p:sp>
      <p:sp>
        <p:nvSpPr>
          <p:cNvPr id="34" name="S06-label163"/>
          <p:cNvSpPr txBox="1"/>
          <p:nvPr/>
        </p:nvSpPr>
        <p:spPr>
          <a:xfrm>
            <a:off x="10521995" y="3485571"/>
            <a:ext cx="75692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</a:t>
            </a:r>
            <a:endParaRPr lang="ko-KR" sz="2600" dirty="0"/>
          </a:p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노랑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기준이 좋을까요?</a:t>
            </a:r>
            <a:endParaRPr lang="ko-KR" sz="4400" dirty="0"/>
          </a:p>
        </p:txBody>
      </p:sp>
      <p:sp>
        <p:nvSpPr>
          <p:cNvPr id="3" name="S07-card164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7-cardtext165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과일을 두 무리로 나누려고 해요.</a:t>
            </a:r>
            <a:endParaRPr lang="ko-KR" sz="3200" dirty="0"/>
          </a:p>
        </p:txBody>
      </p:sp>
      <p:sp>
        <p:nvSpPr>
          <p:cNvPr id="5" name="S07-card16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7-cardtext16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나눠도 똑같이 나뉘는 기준은? 왜요?</a:t>
            </a:r>
            <a:endParaRPr lang="ko-KR" sz="3200" dirty="0"/>
          </a:p>
        </p:txBody>
      </p:sp>
      <p:sp>
        <p:nvSpPr>
          <p:cNvPr id="7" name="S07-chip168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600" dirty="0"/>
          </a:p>
        </p:txBody>
      </p:sp>
      <p:sp>
        <p:nvSpPr>
          <p:cNvPr id="8" name="S07-text169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“맛있는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과일인가요?”</a:t>
            </a:r>
            <a:endParaRPr lang="ko-KR" sz="3200" dirty="0"/>
          </a:p>
        </p:txBody>
      </p:sp>
      <p:sp>
        <p:nvSpPr>
          <p:cNvPr id="9" name="S07-chip170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600" dirty="0"/>
          </a:p>
        </p:txBody>
      </p:sp>
      <p:sp>
        <p:nvSpPr>
          <p:cNvPr id="10" name="S07-text171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“껍질이 노란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과일인가요?”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집 물건 나누기</a:t>
            </a:r>
            <a:endParaRPr lang="ko-KR" sz="4400" dirty="0"/>
          </a:p>
        </p:txBody>
      </p:sp>
      <p:sp>
        <p:nvSpPr>
          <p:cNvPr id="3" name="S08-card17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8-cardtext17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안전: 작은 단추는 입에 넣지 않아요.</a:t>
            </a:r>
            <a:endParaRPr lang="ko-KR" sz="3200" dirty="0"/>
          </a:p>
        </p:txBody>
      </p:sp>
      <p:sp>
        <p:nvSpPr>
          <p:cNvPr id="5" name="S08-card174"/>
          <p:cNvSpPr/>
          <p:nvPr/>
        </p:nvSpPr>
        <p:spPr>
          <a:xfrm>
            <a:off x="6813652" y="1325880"/>
            <a:ext cx="4826660" cy="3794760"/>
          </a:xfrm>
          <a:prstGeom prst="roundRect">
            <a:avLst>
              <a:gd name="adj" fmla="val 289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8-cardtext175"/>
          <p:cNvSpPr txBox="1"/>
          <p:nvPr/>
        </p:nvSpPr>
        <p:spPr>
          <a:xfrm>
            <a:off x="7087972" y="1463040"/>
            <a:ext cx="427802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나누고 나서 확인해요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“~인가요?”로 말했어요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남은 물건이 없어요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엄마(아빠)와 같아요</a:t>
            </a:r>
            <a:endParaRPr lang="ko-KR" sz="3200" dirty="0"/>
          </a:p>
        </p:txBody>
      </p:sp>
      <p:sp>
        <p:nvSpPr>
          <p:cNvPr id="7" name="S08-stepno176"/>
          <p:cNvSpPr txBox="1"/>
          <p:nvPr/>
        </p:nvSpPr>
        <p:spPr>
          <a:xfrm>
            <a:off x="548640" y="143611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8" name="S08-text177"/>
          <p:cNvSpPr txBox="1"/>
          <p:nvPr/>
        </p:nvSpPr>
        <p:spPr>
          <a:xfrm>
            <a:off x="1325880" y="1436116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단추나 블록 8개를 모아요.</a:t>
            </a:r>
            <a:endParaRPr lang="ko-KR" sz="3200" dirty="0"/>
          </a:p>
        </p:txBody>
      </p:sp>
      <p:sp>
        <p:nvSpPr>
          <p:cNvPr id="9" name="S08-stepno178"/>
          <p:cNvSpPr txBox="1"/>
          <p:nvPr/>
        </p:nvSpPr>
        <p:spPr>
          <a:xfrm>
            <a:off x="548640" y="214934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10" name="S08-text179"/>
          <p:cNvSpPr txBox="1"/>
          <p:nvPr/>
        </p:nvSpPr>
        <p:spPr>
          <a:xfrm>
            <a:off x="1325880" y="2149348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기준 질문을 하나 정해요.</a:t>
            </a:r>
            <a:endParaRPr lang="ko-KR" sz="3200" dirty="0"/>
          </a:p>
        </p:txBody>
      </p:sp>
      <p:sp>
        <p:nvSpPr>
          <p:cNvPr id="11" name="S08-stepno180"/>
          <p:cNvSpPr txBox="1"/>
          <p:nvPr/>
        </p:nvSpPr>
        <p:spPr>
          <a:xfrm>
            <a:off x="548640" y="290830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2" name="S08-text181"/>
          <p:cNvSpPr txBox="1"/>
          <p:nvPr/>
        </p:nvSpPr>
        <p:spPr>
          <a:xfrm>
            <a:off x="1325880" y="2862580"/>
            <a:ext cx="5122012" cy="991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‘예’, ‘아니요’ 접시에 나눠요.</a:t>
            </a:r>
            <a:endParaRPr lang="ko-KR" sz="3200" dirty="0"/>
          </a:p>
        </p:txBody>
      </p:sp>
      <p:sp>
        <p:nvSpPr>
          <p:cNvPr id="13" name="S08-stepno182"/>
          <p:cNvSpPr txBox="1"/>
          <p:nvPr/>
        </p:nvSpPr>
        <p:spPr>
          <a:xfrm>
            <a:off x="548640" y="406450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14" name="S08-text183"/>
          <p:cNvSpPr txBox="1"/>
          <p:nvPr/>
        </p:nvSpPr>
        <p:spPr>
          <a:xfrm>
            <a:off x="1325880" y="4018788"/>
            <a:ext cx="5122012" cy="991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엄마(아빠)도 같은 기준으로 나눠요.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좋은 기준 고르기</a:t>
            </a:r>
            <a:endParaRPr lang="ko-KR" sz="4400" dirty="0"/>
          </a:p>
        </p:txBody>
      </p:sp>
      <p:sp>
        <p:nvSpPr>
          <p:cNvPr id="3" name="S09-text18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나눠도 똑같이 나뉘는 기준은?</a:t>
            </a:r>
            <a:endParaRPr lang="ko-KR" sz="3200" dirty="0"/>
          </a:p>
        </p:txBody>
      </p:sp>
      <p:sp>
        <p:nvSpPr>
          <p:cNvPr id="4" name="S09-card18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09-cardtext18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고른 까닭을 말해요.</a:t>
            </a:r>
            <a:endParaRPr lang="ko-KR" sz="3200" dirty="0"/>
          </a:p>
        </p:txBody>
      </p:sp>
      <p:sp>
        <p:nvSpPr>
          <p:cNvPr id="6" name="S09-chip187"/>
          <p:cNvSpPr txBox="1"/>
          <p:nvPr/>
        </p:nvSpPr>
        <p:spPr>
          <a:xfrm>
            <a:off x="1991868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200" dirty="0"/>
          </a:p>
        </p:txBody>
      </p:sp>
      <p:sp>
        <p:nvSpPr>
          <p:cNvPr id="7" name="S09-card188"/>
          <p:cNvSpPr/>
          <p:nvPr/>
        </p:nvSpPr>
        <p:spPr>
          <a:xfrm>
            <a:off x="548640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09-cardtext189"/>
          <p:cNvSpPr txBox="1"/>
          <p:nvPr/>
        </p:nvSpPr>
        <p:spPr>
          <a:xfrm>
            <a:off x="822960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예쁜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단추인가요?</a:t>
            </a:r>
            <a:endParaRPr lang="ko-KR" sz="3200" dirty="0"/>
          </a:p>
        </p:txBody>
      </p:sp>
      <p:sp>
        <p:nvSpPr>
          <p:cNvPr id="9" name="S09-chip190"/>
          <p:cNvSpPr txBox="1"/>
          <p:nvPr/>
        </p:nvSpPr>
        <p:spPr>
          <a:xfrm>
            <a:off x="5811012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200" dirty="0"/>
          </a:p>
        </p:txBody>
      </p:sp>
      <p:sp>
        <p:nvSpPr>
          <p:cNvPr id="10" name="S09-card191"/>
          <p:cNvSpPr/>
          <p:nvPr/>
        </p:nvSpPr>
        <p:spPr>
          <a:xfrm>
            <a:off x="4367784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09-cardtext192"/>
          <p:cNvSpPr txBox="1"/>
          <p:nvPr/>
        </p:nvSpPr>
        <p:spPr>
          <a:xfrm>
            <a:off x="4642104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구멍이 2개인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단추인가요?</a:t>
            </a:r>
            <a:endParaRPr lang="ko-KR" sz="3200" dirty="0"/>
          </a:p>
        </p:txBody>
      </p:sp>
      <p:sp>
        <p:nvSpPr>
          <p:cNvPr id="12" name="S09-chip193"/>
          <p:cNvSpPr txBox="1"/>
          <p:nvPr/>
        </p:nvSpPr>
        <p:spPr>
          <a:xfrm>
            <a:off x="9630156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200" dirty="0"/>
          </a:p>
        </p:txBody>
      </p:sp>
      <p:sp>
        <p:nvSpPr>
          <p:cNvPr id="13" name="S09-card194"/>
          <p:cNvSpPr/>
          <p:nvPr/>
        </p:nvSpPr>
        <p:spPr>
          <a:xfrm>
            <a:off x="8186928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4" name="S09-cardtext195"/>
          <p:cNvSpPr txBox="1"/>
          <p:nvPr/>
        </p:nvSpPr>
        <p:spPr>
          <a:xfrm>
            <a:off x="8461248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내가 좋아하는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색인가요?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동물을 나눠요</a:t>
            </a:r>
            <a:endParaRPr lang="ko-KR" sz="4400" dirty="0"/>
          </a:p>
        </p:txBody>
      </p:sp>
      <p:sp>
        <p:nvSpPr>
          <p:cNvPr id="3" name="S10-card196"/>
          <p:cNvSpPr/>
          <p:nvPr/>
        </p:nvSpPr>
        <p:spPr>
          <a:xfrm>
            <a:off x="548640" y="4897120"/>
            <a:ext cx="11091672" cy="1320800"/>
          </a:xfrm>
          <a:prstGeom prst="roundRect">
            <a:avLst>
              <a:gd name="adj" fmla="val 8308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10-cardtext197"/>
          <p:cNvSpPr txBox="1"/>
          <p:nvPr/>
        </p:nvSpPr>
        <p:spPr>
          <a:xfrm>
            <a:off x="822960" y="5034280"/>
            <a:ext cx="10543032" cy="1046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기준: 다리가 4개인가요?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‘예’ 무리와 ‘아니요’ 무리를 말해요.</a:t>
            </a:r>
            <a:endParaRPr lang="ko-KR" sz="3200" dirty="0"/>
          </a:p>
        </p:txBody>
      </p:sp>
      <p:sp>
        <p:nvSpPr>
          <p:cNvPr id="5" name="S10-word198"/>
          <p:cNvSpPr txBox="1"/>
          <p:nvPr/>
        </p:nvSpPr>
        <p:spPr>
          <a:xfrm>
            <a:off x="548640" y="1325880"/>
            <a:ext cx="3514344" cy="1534160"/>
          </a:xfrm>
          <a:prstGeom prst="roundRect">
            <a:avLst>
              <a:gd name="adj" fmla="val 8344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강아지</a:t>
            </a:r>
            <a:endParaRPr lang="ko-KR" sz="3600" dirty="0"/>
          </a:p>
        </p:txBody>
      </p:sp>
      <p:sp>
        <p:nvSpPr>
          <p:cNvPr id="6" name="S10-word199"/>
          <p:cNvSpPr txBox="1"/>
          <p:nvPr/>
        </p:nvSpPr>
        <p:spPr>
          <a:xfrm>
            <a:off x="4337304" y="1325880"/>
            <a:ext cx="3514344" cy="1534160"/>
          </a:xfrm>
          <a:prstGeom prst="roundRect">
            <a:avLst>
              <a:gd name="adj" fmla="val 8344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닭</a:t>
            </a:r>
            <a:endParaRPr lang="ko-KR" sz="3600" dirty="0"/>
          </a:p>
        </p:txBody>
      </p:sp>
      <p:sp>
        <p:nvSpPr>
          <p:cNvPr id="7" name="S10-word200"/>
          <p:cNvSpPr txBox="1"/>
          <p:nvPr/>
        </p:nvSpPr>
        <p:spPr>
          <a:xfrm>
            <a:off x="8125968" y="1325880"/>
            <a:ext cx="3514344" cy="1534160"/>
          </a:xfrm>
          <a:prstGeom prst="roundRect">
            <a:avLst>
              <a:gd name="adj" fmla="val 8344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고양이</a:t>
            </a:r>
            <a:endParaRPr lang="ko-KR" sz="3600" dirty="0"/>
          </a:p>
        </p:txBody>
      </p:sp>
      <p:sp>
        <p:nvSpPr>
          <p:cNvPr id="8" name="S10-word201"/>
          <p:cNvSpPr txBox="1"/>
          <p:nvPr/>
        </p:nvSpPr>
        <p:spPr>
          <a:xfrm>
            <a:off x="548640" y="3134360"/>
            <a:ext cx="3514344" cy="1534160"/>
          </a:xfrm>
          <a:prstGeom prst="roundRect">
            <a:avLst>
              <a:gd name="adj" fmla="val 8344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참새</a:t>
            </a:r>
            <a:endParaRPr lang="ko-KR" sz="3600" dirty="0"/>
          </a:p>
        </p:txBody>
      </p:sp>
      <p:sp>
        <p:nvSpPr>
          <p:cNvPr id="9" name="S10-word202"/>
          <p:cNvSpPr txBox="1"/>
          <p:nvPr/>
        </p:nvSpPr>
        <p:spPr>
          <a:xfrm>
            <a:off x="4337304" y="3134360"/>
            <a:ext cx="3514344" cy="1534160"/>
          </a:xfrm>
          <a:prstGeom prst="roundRect">
            <a:avLst>
              <a:gd name="adj" fmla="val 8344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</a:t>
            </a:r>
            <a:endParaRPr lang="ko-KR" sz="3600" dirty="0"/>
          </a:p>
        </p:txBody>
      </p:sp>
      <p:sp>
        <p:nvSpPr>
          <p:cNvPr id="10" name="S10-word203"/>
          <p:cNvSpPr txBox="1"/>
          <p:nvPr/>
        </p:nvSpPr>
        <p:spPr>
          <a:xfrm>
            <a:off x="8125968" y="3134360"/>
            <a:ext cx="3514344" cy="1534160"/>
          </a:xfrm>
          <a:prstGeom prst="roundRect">
            <a:avLst>
              <a:gd name="adj" fmla="val 8344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오리</a:t>
            </a:r>
            <a:endParaRPr lang="ko-KR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400" dirty="0"/>
          </a:p>
        </p:txBody>
      </p:sp>
      <p:sp>
        <p:nvSpPr>
          <p:cNvPr id="3" name="S12-card204"/>
          <p:cNvSpPr/>
          <p:nvPr/>
        </p:nvSpPr>
        <p:spPr>
          <a:xfrm>
            <a:off x="548640" y="1325880"/>
            <a:ext cx="11091672" cy="1320800"/>
          </a:xfrm>
          <a:prstGeom prst="roundRect">
            <a:avLst>
              <a:gd name="adj" fmla="val 8308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2-cardtext205"/>
          <p:cNvSpPr txBox="1"/>
          <p:nvPr/>
        </p:nvSpPr>
        <p:spPr>
          <a:xfrm>
            <a:off x="822960" y="1463040"/>
            <a:ext cx="10543032" cy="1046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기준을 ‘~인가요?’ 질문 하나로 정하면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누구나 똑같이 두 무리로 나눌 수 있어요.</a:t>
            </a:r>
            <a:endParaRPr lang="ko-KR" sz="3200" dirty="0"/>
          </a:p>
        </p:txBody>
      </p:sp>
      <p:sp>
        <p:nvSpPr>
          <p:cNvPr id="5" name="S12-chip206"/>
          <p:cNvSpPr txBox="1"/>
          <p:nvPr/>
        </p:nvSpPr>
        <p:spPr>
          <a:xfrm>
            <a:off x="548640" y="287528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‘~인가요?’로 기준 정하기</a:t>
            </a:r>
            <a:endParaRPr lang="ko-KR" sz="2600" dirty="0"/>
          </a:p>
        </p:txBody>
      </p:sp>
      <p:sp>
        <p:nvSpPr>
          <p:cNvPr id="6" name="S12-chip207"/>
          <p:cNvSpPr txBox="1"/>
          <p:nvPr/>
        </p:nvSpPr>
        <p:spPr>
          <a:xfrm>
            <a:off x="6208776" y="287528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“예쁜가요?” 같은 기준</a:t>
            </a:r>
            <a:endParaRPr lang="ko-KR" sz="2600" dirty="0"/>
          </a:p>
        </p:txBody>
      </p:sp>
      <p:sp>
        <p:nvSpPr>
          <p:cNvPr id="7" name="S12-text208"/>
          <p:cNvSpPr txBox="1"/>
          <p:nvPr/>
        </p:nvSpPr>
        <p:spPr>
          <a:xfrm>
            <a:off x="548640" y="36982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600" dirty="0"/>
          </a:p>
        </p:txBody>
      </p:sp>
      <p:sp>
        <p:nvSpPr>
          <p:cNvPr id="8" name="S12-text209"/>
          <p:cNvSpPr txBox="1"/>
          <p:nvPr/>
        </p:nvSpPr>
        <p:spPr>
          <a:xfrm>
            <a:off x="548640" y="4201160"/>
            <a:ext cx="3544824" cy="137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나누는 까닭이 되는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질문의 이름은?</a:t>
            </a:r>
            <a:endParaRPr lang="ko-KR" sz="2600" dirty="0"/>
          </a:p>
        </p:txBody>
      </p:sp>
      <p:sp>
        <p:nvSpPr>
          <p:cNvPr id="9" name="S12-text210"/>
          <p:cNvSpPr txBox="1"/>
          <p:nvPr/>
        </p:nvSpPr>
        <p:spPr>
          <a:xfrm>
            <a:off x="4322064" y="4201160"/>
            <a:ext cx="3544824" cy="137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“맛있나요?”는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좋은 기준일까요?</a:t>
            </a:r>
            <a:endParaRPr lang="ko-KR" sz="2600" dirty="0"/>
          </a:p>
        </p:txBody>
      </p:sp>
      <p:sp>
        <p:nvSpPr>
          <p:cNvPr id="10" name="S12-text211"/>
          <p:cNvSpPr txBox="1"/>
          <p:nvPr/>
        </p:nvSpPr>
        <p:spPr>
          <a:xfrm>
            <a:off x="8095488" y="4201160"/>
            <a:ext cx="3544824" cy="137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다리가 4개인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동물 하나는?</a:t>
            </a:r>
            <a:endParaRPr lang="ko-KR" sz="2600" dirty="0"/>
          </a:p>
        </p:txBody>
      </p:sp>
      <p:sp>
        <p:nvSpPr>
          <p:cNvPr id="11" name="S12-text212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계절과 날씨 기록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같은 것끼리</a:t>
            </a:r>
            <a:endParaRPr lang="ko-KR" sz="4400" dirty="0"/>
          </a:p>
        </p:txBody>
      </p:sp>
      <p:sp>
        <p:nvSpPr>
          <p:cNvPr id="3" name="S13-text21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모양끼리 모아요.</a:t>
            </a:r>
            <a:endParaRPr lang="ko-KR" sz="3200" dirty="0"/>
          </a:p>
        </p:txBody>
      </p:sp>
      <p:sp>
        <p:nvSpPr>
          <p:cNvPr id="4" name="S13-card21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3-cardtext21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동그라미끼리, 네모끼리 모아 봐요.</a:t>
            </a:r>
            <a:endParaRPr lang="ko-KR" sz="3200" dirty="0"/>
          </a:p>
        </p:txBody>
      </p:sp>
      <p:sp>
        <p:nvSpPr>
          <p:cNvPr id="6" name="S13-figure216" descr="circle"/>
          <p:cNvSpPr/>
          <p:nvPr/>
        </p:nvSpPr>
        <p:spPr>
          <a:xfrm>
            <a:off x="859207" y="2698980"/>
            <a:ext cx="1597201" cy="1597201"/>
          </a:xfrm>
          <a:prstGeom prst="ellipse">
            <a:avLst/>
          </a:prstGeom>
          <a:solidFill>
            <a:srgbClr val="FDEBDD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7" name="S13-figure217" descr="square"/>
          <p:cNvSpPr/>
          <p:nvPr/>
        </p:nvSpPr>
        <p:spPr>
          <a:xfrm>
            <a:off x="3077541" y="2698980"/>
            <a:ext cx="1597201" cy="1597201"/>
          </a:xfrm>
          <a:prstGeom prst="rect">
            <a:avLst/>
          </a:prstGeom>
          <a:solidFill>
            <a:srgbClr val="FDEBDD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8" name="S13-figure218" descr="circle"/>
          <p:cNvSpPr/>
          <p:nvPr/>
        </p:nvSpPr>
        <p:spPr>
          <a:xfrm>
            <a:off x="5295876" y="2698980"/>
            <a:ext cx="1597201" cy="1597201"/>
          </a:xfrm>
          <a:prstGeom prst="ellipse">
            <a:avLst/>
          </a:prstGeom>
          <a:solidFill>
            <a:srgbClr val="FDEBDD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9" name="S13-figure219" descr="square"/>
          <p:cNvSpPr/>
          <p:nvPr/>
        </p:nvSpPr>
        <p:spPr>
          <a:xfrm>
            <a:off x="7514210" y="2698980"/>
            <a:ext cx="1597201" cy="1597201"/>
          </a:xfrm>
          <a:prstGeom prst="rect">
            <a:avLst/>
          </a:prstGeom>
          <a:solidFill>
            <a:srgbClr val="FDEBDD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10" name="S13-figure220" descr="circle"/>
          <p:cNvSpPr/>
          <p:nvPr/>
        </p:nvSpPr>
        <p:spPr>
          <a:xfrm>
            <a:off x="9732544" y="2698980"/>
            <a:ext cx="1597201" cy="1597201"/>
          </a:xfrm>
          <a:prstGeom prst="ellipse">
            <a:avLst/>
          </a:prstGeom>
          <a:solidFill>
            <a:srgbClr val="FDEBDD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초1 과학 한 가지 기준으로 나누기</dc:title>
  <dc:subject>KR22-G01-SCI-SORT-L01</dc:subject>
  <dc:creator>education-ppt</dc:creator>
  <cp:lastModifiedBy>education-ppt</cp:lastModifiedBy>
  <cp:revision>1</cp:revision>
  <dcterms:created xsi:type="dcterms:W3CDTF">2026-10-26T13:07:18Z</dcterms:created>
  <dcterms:modified xsi:type="dcterms:W3CDTF">2026-10-26T13:07:18Z</dcterms:modified>
</cp:coreProperties>
</file>