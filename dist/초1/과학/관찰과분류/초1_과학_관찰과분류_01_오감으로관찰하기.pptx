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4a102e3-2ea5-9fd2-d805-b3a8681a6291}">
          <p14:sldIdLst>
            <p14:sldId id="256"/>
            <p14:sldId id="257"/>
          </p14:sldIdLst>
        </p14:section>
        <p14:section name="개념" id="{6e2b8eb0-9dce-a29d-ac91-11c6bb8e34a7}">
          <p14:sldIdLst>
            <p14:sldId id="258"/>
            <p14:sldId id="259"/>
            <p14:sldId id="260"/>
            <p14:sldId id="262"/>
          </p14:sldIdLst>
        </p14:section>
        <p14:section name="연습" id="{36393fc8-4c87-d4c5-2ead-a9e7c313ac42}">
          <p14:sldIdLst>
            <p14:sldId id="261"/>
            <p14:sldId id="263"/>
            <p14:sldId id="264"/>
          </p14:sldIdLst>
        </p14:section>
        <p14:section name="개념" id="{672ddbe4-8855-951b-088d-87e745c6dd43}">
          <p14:sldIdLst/>
        </p14:section>
        <p14:section name="연습" id="{4e55ee30-986d-ac48-a098-4ea1bd97c839}">
          <p14:sldIdLst/>
        </p14:section>
        <p14:section name="확인" id="{8a682618-1caf-d1bb-62bb-52510f44fa34}">
          <p14:sldIdLst>
            <p14:sldId id="265"/>
            <p14:sldId id="266"/>
            <p14:sldId id="267"/>
          </p14:sldIdLst>
        </p14:section>
        <p14:section name="정리" id="{1a6219d1-4077-8271-4330-42ee27ff92a0}">
          <p14:sldIdLst>
            <p14:sldId id="268"/>
          </p14:sldIdLst>
        </p14:section>
        <p14:section name="보충" id="{59a020e9-9154-85c2-2349-760478cbc3d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오늘의 질문을 던지고, 몸의 여러 감각으로 관찰하는 수업이라는 것을 알립니다.
시간: 약 2분
이렇게 말해 보세요
- “눈을 감고도 이게 무엇인지 알 수 있을까? 어떻게 알 수 있을까?”
- “오늘은 눈, 귀, 손, 코, 혀로 물건을 자세히 살펴보는 방법을 배우고, 알게 된 것을 표에 적어 볼 거야.”
예상 답
- “만져 보면 알아요.” “냄새를 맡아요.” “못 알아요.”
막히면
- 아이 손에 숟가락을 쥐여 주고 눈을 감게 한 뒤 “이게 뭘까?”라고 물어봅니다.
주의
- 준비물(귤, 천 주머니와 물건 4가지, 비누)을 미리 아이 눈에 띄지 않게 놓아 둡니다. 주머니 속 물건은 S08 전까지 보여 주지 않습니다.
- 아이에게 과일 알레르기가 있으면 먹어도 되는 과일로 바꿉니다.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확인(몸의 이름과 특징을 말하는 낱말)]
목적: 몸의 부분 이름과, 특징을 나타내는 낱말(차갑다, 노랗다)을 알고 있는지 확인합니다. 이 차시는 계획상 앞 차시가 없으므로 생활 경험을 확인합니다.
시간: 약 2분
이렇게 말해 보세요
- “엄마(아빠)가 말하는 곳을 손가락으로 가리켜 봐. 눈! 코! 입! 귀! 손!”
- “얼음을 만지면 어때? 바나나는 무슨 색이야?”
정답
- ① 다섯 곳을 바르게 가리킴 ② 차가워요 ③ 노란색(덜 익으면 초록색도 맞음)
막히면
- 세 가지 가운데 두 가지 이상 어려우면 S14(보충)를 먼저 합니다.
주의
- ②③은 특징을 말하는 낱말을 확인하는 것입니다. 낱말이 떠오르지 않으면 “차가워? 뜨거워?”처럼 두 가지 가운데 고르게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다섯 감각과 몸의 부분, 관찰의 뜻]
목적: 다섯 감각과 쓰는 몸의 부분을 짝짓고, 감각으로 자세히 살펴보는 것이 ‘관찰’이라는 것을 알려 줍니다(목표 A).
시간: 약 3분
이렇게 말해 보세요
- “우리 몸에는 바깥을 알아차리는 다섯 가지 감각이 있어. 눈으로 보고, 귀로 듣고, 손으로 만지고, 코로 냄새 맡고, 혀로 맛봐.”
- “카드를 짚으며 같이 말해 볼까? 눈은 무엇을 알려 줄까?”
- “이렇게 감각으로 자세히 살펴보는 것을 ‘관찰’이라고 해. 오늘 우리는 관찰하는 사람이 될 거야.”
예상 답
- “눈은 색이랑 모양을 알려 줘요.” “귀는 소리를요.”
막히면
- 카드마다 몸짓을 붙입니다(눈 가리키기, 귀에 손 대기, 손 비비기, 코 킁킁, 혀 내밀기).
주의
- 손뿐 아니라 피부 어디로든 느낄 수 있지만, 1학년에서는 ‘손으로 만지기’로 정리합니다.
- ‘오감’은 다섯 감각을 줄인 말이라고 덧붙여도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안전하게 관찰하는 약속]
목적: 맛보기와 냄새 맡기를 안전하게 하는 약속을 까닭과 함께 정합니다(목표 A, 오해 M2).
시간: 약 2분
이렇게 말해 보세요
- “다섯 감각 가운데 조심해야 하는 감각이 있어. 무엇일까?”
- “처음 보는 열매나 약, 세제를 맛보면 어떻게 될까? 그래서 맛보기는 어른이 준 음식만 해.”
- “냄새는 코를 바짝 대지 말고, 이렇게 손으로 부채질해서 맡아 보자.” (손바닥으로 냄새를 코 쪽으로 보내는 모습을 보여 줍니다.)
예상 답
- “배가 아파요.” “독이 있을 수 있어요.”
막히면
- 부엌의 세제 통을 가리키며 “이것도 냄새가 나지만 먹으면 큰일 나. 그래서 모르는 것은 입에 넣지 않아.”라고 말해 줍니다(뚜껑은 열지 않습니다).
주의
- 약·세제·화장품·작은 물건(동전, 단추, 구슬)은 맛보거나 입에 넣지 않는다는 것을 꼭 짚어 줍니다. 실수로 먹었을 때는 아이 혼자 해결하지 말고 바로 어른에게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예상하기(귤 관찰)]
목적: 관찰하기 전에 귤이 어떨지 감각마다 예상합니다. 예상과 결과를 나누어 쓰는 것이 관찰의 첫걸음입니다(목표 B).
시간: 약 2분
이렇게 말해 보세요
- “귤을 손으로 만지면 어떤 느낌일 것 같아? 껍질을 깔 때 소리가 날까?”
- “예상은 틀려도 괜찮아. 관찰해서 확인하면 돼. 활동지 2의 ‘내 예상’ 칸에 짧게 써 볼까?”
예상 답
- “주황색일 것 같아요.” “부드러울 것 같아요.” “소리는 안 날 것 같아요.” “달 것 같아요.”
막히면
- 쓰기가 어려우면 아이가 말하고 부모가 받아 적습니다.
주의
- 이 장에서는 결과를 알려 주지 않습니다. 결과는 관찰한 뒤 S07에서 견주어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귤 관찰하기]
목적: 귤을 다섯 감각으로 차례로 관찰하고, 감각마다 알게 된 것을 ‘~해요’로 말한 뒤 활동지 2의 결과 칸에 적습니다(목표 B, 오해 M3).
시간: 약 6분
이렇게 말해 보세요
- “먼저 눈으로만 봐. 무슨 색이야? 모양은?”
- “이제 손으로 만져 봐. 껍질이 어떤 느낌이야? 매끈해, 오돌토돌해?”
- “코 가까이에서 손으로 부채질해 냄새를 맡아 볼까? 껍질을 깔 때 귀를 기울여 봐. 이제 엄마(아빠)가 준 한 조각을 맛봐.”
- “‘귤이에요.’ 말고, ‘~해요.’로 특징을 말해 줘.”
예상 답
- “주황색이에요. 동글납작해요.” “오돌토돌하고 말랑해요.” “상큼한 냄새가 나요.” “찌익 소리가 나요.” “달고 새콤해요.”
정답
- 기준: 다섯 감각마다 특징을 하나 이상 ‘~해요’로 말하고 결과 칸에 적으면 맞습니다. 귤마다 결과가 다를 수 있으므로 아이가 실제로 느낀 것을 그대로 인정합니다.
막히면
- 느낌을 말하기 어려우면 두 낱말 가운데 고르게 합니다(“딱딱해, 말랑해?”, “달아, 셔?”).
- 소리가 잘 안 들리면 귀 가까이에서 껍질을 천천히 까 보게 합니다.
주의
- 안전: 맛보기는 부모가 준 귤로만 합니다. 귤 껍질을 깐 손으로 눈을 비비지 않게 하고, 관찰이 끝나면 손을 씻습니다.
- 귤이 없으면 사과·바나나로 바꾸고, 표의 낱말(껍질 깔 때 소리)도 그 과일에 맞게 바꿔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관찰 결과 견주기와 설명]
목적: 아이의 기록(활동지 2)과 다른 친구의 관찰 예를 견주어 보며, 여러 감각을 쓰면 더 많은 특징을 알 수 있다는 것을 정리합니다(목표 B).
시간: 약 2분
이렇게 말해 보세요
- “네 기록과 같은 것이 있어? 다른 것은? 왜 다를까?”
- “눈으로만 봤으면 무엇만 알았을까? 다섯 감각을 다 쓰니까 무엇을 더 알게 됐어?”
예상 답
- “제 귤은 더 셨어요.” “눈으로만 보면 색이랑 모양만 알아요.”
막히면
- 표의 한 줄씩 아이 기록과 나란히 놓고 “너는 뭐라고 썼어?”라고 묻습니다.
주의
- 이 장은 관찰을 마친 뒤에 보여 줍니다. 귤마다 맛과 느낌이 다르므로 아이의 결과가 표와 달라도 실제로 느낀 것이 맞다고 말해 줍니다.
- 아이가 지치면 여기서 나누어 다음 날 S08부터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눈을 감고 다른 감각으로 알아맞히기]
목적: 눈을 쓰지 않고 손과 귀로 물건을 알아맞히며, 관찰은 눈으로만 하는 것이 아니라는 것을 몸으로 알게 합니다(목표 A, 오해 M1).
시간: 약 4분
이렇게 말해 보세요
- “주머니에 물건 네 가지가 들어 있어. 눈을 감고 하나를 꺼내 만져 볼래? 무엇 같아? 왜?”
- “이번에는 흔들어 소리를 들어 봐. 무슨 소리야?”
- “어떤 감각을 써서 알아냈어?”
예상 답
- “차갑고 매끈하고 둥근 데가 있어서 숟가락 같아요.” “부드럽고 얇아서 손수건 같아요.” “사각사각 소리가 나서 쌀이 든 통 같아요.” “말랑하고 네모나서 지우개 같아요.”
정답
- 기준: 손이나 귀로 알게 된 특징을 까닭으로 들어 ‘~해서 ~ 같아요.’로 말하면 맞습니다. 물건 이름을 틀려도 특징을 바르게 말했으면 잘한 것입니다.
막히면
- 바로 맞히기 어려우면 “차가워, 따뜻해? 딱딱해, 말랑해?”처럼 느낌부터 말하게 합니다.
주의
- 안전: 칼·가위·유리·작은 구슬처럼 다치거나 삼킬 수 있는 물건은 넣지 않습니다. 쌀을 넣은 통은 뚜껑을 꼭 닫습니다.
- 주머니 속 물건을 입에 대거나 맛보지 않게 합니다(S04의 약속).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오해 비교(눈으로만 관찰하기)]
목적: 한 가지 감각만 쓴 관찰과 여러 감각을 쓴 관찰을 비교해, 여러 감각을 쓰면 더 자세히 알 수 있다는 것을 알게 합니다(목표 A, 오해 M1).
시간: 약 2분
이렇게 말해 보세요
- “가는 어떤 감각을 썼을까? 나는?”
- “나처럼 말하면 사과를 보지 못한 사람도 어떤 사과인지 알 수 있을까?”
정답
- 나. 가는 눈(색)만 썼고, 나는 눈(빨갛다), 손(매끈하다), 코(달콤한 냄새)를 썼습니다.
막히면
- 나의 말을 한 부분씩 끊어 읽으며 “이건 어느 몸으로 알았을까?”라고 묻습니다.
주의
- 사과는 색이 여러 가지입니다. 이 사과는 빨간 사과라고 생각하고 이야기합니다.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하기(비누 관찰)]
목적: 처음 보는 물건(비누)을 도움 없이 여러 감각으로 관찰해 특징을 말하고, 맛보면 안 되는 물건을 판단하는지 확인합니다(목표 A·B).
시간: 약 4분
이렇게 말해 보세요
- “이번에는 혼자 관찰해 볼래? 비누를 보고, 만지고, 냄새를 맡아 보고 알게 된 것을 말해 줘. 활동지 3에 적어도 돼.”
- “④ 비누를 맛봐도 될까? 왜?”
정답
- ① 예: 하얀색이에요. 네모나요(실제 비누의 색과 모양) ② 예: 매끈해요. 단단해요(물에 젖으면 미끌미끌해요) ③ 예: 향긋한 냄새가 나요
- ④ 아니요. 비누는 먹는 것이 아니라서 입에 넣으면 몸에 해로워요.
- 기준: ①~③ 감각마다 특징을 하나 이상 ‘~해요’로 말하면 목표 B, ④를 까닭과 함께 말하면 목표 A의 안전 약속을 이룬 것으로 봅니다.
막히면
- 바로 알려 주지 말고 S07의 표를 보여 주며 “귤 때처럼 해 볼까?”라고만 묻습니다. 도움을 받아 해결했다면 기록표에 ‘도움’으로 표시합니다.
주의
- 안전: 비누를 만진 손으로 눈을 비비지 않게 하고, 관찰이 끝나면 손을 물로 헹굽니다. 비누를 혀에 대 보지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S10의 답을 함께 확인하고 흔한 실수와 견주어 봅니다.
시간: 약 2분
이렇게 말해 보세요
- “네 답과 왼쪽을 견주어 보자. 색과 모양은 우리 비누에 맞게 말했으면 맞아.”
- “오른쪽처럼 하면 어떤 문제가 있을까?”
예상 답
- “이름만 말하면 어떤 비누인지 몰라요.” “비누를 먹으면 배가 아파요.”
정답
- S10: ①~③ 실제 비누의 특징(색·모양, 느낌, 냄새) ④ 맛보지 않음(먹는 것이 아니라서)
막히면
- 이름만 말했다면 S06으로 돌아가 ‘~해요’로 말하기를 한 번 더 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확인(알맞은 감각 고르기)]
목적: 알고 싶은 것에 맞는 감각을 고르고, 맛보면 안 되는 상황을 판단하는지 확인합니다(목표 A, 오해 M2).
시간: 약 2분
이렇게 말해 보세요
- “①은 어떤 감각을 쓰면 알 수 있을까? 몸의 어디로?”
- “④는 어떻게 할까? 왜?”
정답
- ① 손(만지기) ② 코(냄새 맡기) ③ 귀(듣기)
- ④ 맛보지 않아요. 처음 보는 열매는 몸에 해로울 수 있으니 눈으로만 보고 어른께 보여 드려요.
막히면
- S03 카드를 다시 보여 주고 “이걸 알려 주는 몸은 어디였지?”라고 묻습니다.
주의
- ④에서 “혀로 맛봐요.”라고 하면 S04로 돌아가 약속을 다시 확인합니다. 네 가지 모두 맞히고 ④의 까닭을 말하면 목표 A를 이룬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 질문을 알려 줍니다.
시간: 약 2분
이렇게 말해 보세요
- “오늘 귤을 어떤 감각으로 관찰했지? 맛보기를 할 때 지킬 약속은?”
예상 답
- “눈, 손, 코, 귀, 혀로요.” “어른이 준 음식만 맛봐요.”
정답
- ① 코 ② 예: 오돌토돌해요(아이가 관찰한 느낌이면 맞음) ③ 아니요(어른께 보여 드려요)
막히면
- S03과 S04를 다시 보여 줍니다.
주의
- 다음 차시 ‘한 가지 기준으로 나누기’에서는 오늘처럼 관찰한 특징으로 물건을 두 무리로 나눕니다. 단추나 블록 8개쯤을 모아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보충(몸으로 느끼기)]
목적: S02에서 몸의 부분 이름이나 특징을 나타내는 낱말이 흔들리면, 몸으로 느끼며 낱말과 연결합니다.
시간: 약 4분
이렇게 말해 보세요
- “눈을 감고 귀를 기울여 봐. 무슨 소리가 들려?”
- “책상을 만져 봐. 매끈해, 거칠어? 물컵을 만져 봐. 차가워, 따뜻해?”
정답
- 예: “시계 소리가 들려요.” “책상은 매끈해요.” “물은 차가워요.” (몸의 부분과 느낌을 짝지어 말하면 맞음)
막히면
- 낱말이 떠오르지 않으면 부모가 두 가지(“매끈해, 거칠어?”)를 주고 고르게 합니다.
주의
- 이 차시는 계획상 앞 차시가 없습니다. 보충 뒤에도 몸의 이름이나 느낌 말이 어려우면, 며칠 동안 씻을 때나 밥 먹을 때 “물이 따뜻하네.”, “사과가 아삭해.”처럼 느낌을 말해 주는 놀이를 한 뒤 S02부터 다시 시작합니다.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관찰과분류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오감으로 관찰하기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과학 · 오감으로 관찰하기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과학 · 오감으로 관찰하기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오감으로 관찰하기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감고도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알 수 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다섯 감각으로 관찰하는 방법을 알아요.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관찰한 것을 표에 쓰고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 살펴보기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말하고 몸으로 해 봐요.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눈, 코, 입, 귀, 손을 가리켜요.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얼음은 차가워요, 뜨거워요?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바나나는 무슨 색이에요?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감각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감각으로 자세히 살펴보는 것을 ‘관찰’이라고 해요.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색, 모양, 크기</a:t>
            </a:r>
            <a:endParaRPr lang="ko-KR" sz="3200" dirty="0"/>
          </a:p>
        </p:txBody>
      </p:sp>
      <p:sp>
        <p:nvSpPr>
          <p:cNvPr id="7" name="S03-card14"/>
          <p:cNvSpPr/>
          <p:nvPr/>
        </p:nvSpPr>
        <p:spPr>
          <a:xfrm>
            <a:off x="4322064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</a:t>
            </a:r>
            <a:endParaRPr lang="ko-KR" sz="3200" dirty="0"/>
          </a:p>
        </p:txBody>
      </p:sp>
      <p:sp>
        <p:nvSpPr>
          <p:cNvPr id="9" name="S03-card16"/>
          <p:cNvSpPr/>
          <p:nvPr/>
        </p:nvSpPr>
        <p:spPr>
          <a:xfrm>
            <a:off x="8095488" y="132588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146304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느낌</a:t>
            </a:r>
            <a:endParaRPr lang="ko-KR" sz="3200" dirty="0"/>
          </a:p>
        </p:txBody>
      </p:sp>
      <p:sp>
        <p:nvSpPr>
          <p:cNvPr id="11" name="S03-card18"/>
          <p:cNvSpPr/>
          <p:nvPr/>
        </p:nvSpPr>
        <p:spPr>
          <a:xfrm>
            <a:off x="548640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9"/>
          <p:cNvSpPr txBox="1"/>
          <p:nvPr/>
        </p:nvSpPr>
        <p:spPr>
          <a:xfrm>
            <a:off x="822960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 맡기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</a:t>
            </a:r>
            <a:endParaRPr lang="ko-KR" sz="3200" dirty="0"/>
          </a:p>
        </p:txBody>
      </p:sp>
      <p:sp>
        <p:nvSpPr>
          <p:cNvPr id="13" name="S03-card20"/>
          <p:cNvSpPr/>
          <p:nvPr/>
        </p:nvSpPr>
        <p:spPr>
          <a:xfrm>
            <a:off x="4322064" y="3337560"/>
            <a:ext cx="3544824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21"/>
          <p:cNvSpPr txBox="1"/>
          <p:nvPr/>
        </p:nvSpPr>
        <p:spPr>
          <a:xfrm>
            <a:off x="4596384" y="3474720"/>
            <a:ext cx="2996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맛보기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안전하게 관찰해요</a:t>
            </a:r>
            <a:endParaRPr lang="ko-KR" sz="4400" dirty="0"/>
          </a:p>
        </p:txBody>
      </p:sp>
      <p:sp>
        <p:nvSpPr>
          <p:cNvPr id="3" name="S04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궁금하면 먼저 어른께 물어봐요.</a:t>
            </a:r>
            <a:endParaRPr lang="ko-KR" sz="3200" dirty="0"/>
          </a:p>
        </p:txBody>
      </p:sp>
      <p:sp>
        <p:nvSpPr>
          <p:cNvPr id="5" name="S04-card24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5"/>
          <p:cNvSpPr txBox="1"/>
          <p:nvPr/>
        </p:nvSpPr>
        <p:spPr>
          <a:xfrm>
            <a:off x="822960" y="18288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맛보기는 어른이 준 음식만 해요.</a:t>
            </a:r>
            <a:endParaRPr lang="ko-KR" sz="3200" dirty="0"/>
          </a:p>
        </p:txBody>
      </p:sp>
      <p:sp>
        <p:nvSpPr>
          <p:cNvPr id="7" name="S04-card26"/>
          <p:cNvSpPr/>
          <p:nvPr/>
        </p:nvSpPr>
        <p:spPr>
          <a:xfrm>
            <a:off x="548640" y="27889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7"/>
          <p:cNvSpPr txBox="1"/>
          <p:nvPr/>
        </p:nvSpPr>
        <p:spPr>
          <a:xfrm>
            <a:off x="822960" y="29260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것은 입에 넣지 않아요.</a:t>
            </a:r>
            <a:endParaRPr lang="ko-KR" sz="3200" dirty="0"/>
          </a:p>
        </p:txBody>
      </p:sp>
      <p:sp>
        <p:nvSpPr>
          <p:cNvPr id="9" name="S04-card28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29"/>
          <p:cNvSpPr txBox="1"/>
          <p:nvPr/>
        </p:nvSpPr>
        <p:spPr>
          <a:xfrm>
            <a:off x="822960" y="40233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냄새는 손으로 부채질해 맡아요.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귤을 관찰해요</a:t>
            </a:r>
            <a:endParaRPr lang="ko-KR" sz="4400" dirty="0"/>
          </a:p>
        </p:txBody>
      </p:sp>
      <p:sp>
        <p:nvSpPr>
          <p:cNvPr id="3" name="S05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관찰하기 전에 예상해요. 예상은 활동지 2에 써요.</a:t>
            </a:r>
            <a:endParaRPr lang="ko-KR" sz="3200" dirty="0"/>
          </a:p>
        </p:txBody>
      </p:sp>
      <p:graphicFrame>
        <p:nvGraphicFramePr>
          <p:cNvPr id="6" name="S05-table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1685544"/>
          <a:ext cx="100584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02920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눈으로 보면?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손으로 만지면?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코로 냄새 맡으면?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껍질 깔 때 소리는?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맛보면?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귤 관찰하기</a:t>
            </a:r>
            <a:endParaRPr lang="ko-KR" sz="4400" dirty="0"/>
          </a:p>
        </p:txBody>
      </p:sp>
      <p:sp>
        <p:nvSpPr>
          <p:cNvPr id="3" name="S06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맛보기는 엄마·아빠가 준 귤로만 해요.</a:t>
            </a:r>
            <a:endParaRPr lang="ko-KR" sz="3200" dirty="0"/>
          </a:p>
        </p:txBody>
      </p:sp>
      <p:sp>
        <p:nvSpPr>
          <p:cNvPr id="5" name="S06-card35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6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감각마다 하나씩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예상과 비교해요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결과를 표에 써요</a:t>
            </a:r>
            <a:endParaRPr lang="ko-KR" sz="3200" dirty="0"/>
          </a:p>
        </p:txBody>
      </p:sp>
      <p:sp>
        <p:nvSpPr>
          <p:cNvPr id="7" name="S06-stepno37"/>
          <p:cNvSpPr txBox="1"/>
          <p:nvPr/>
        </p:nvSpPr>
        <p:spPr>
          <a:xfrm>
            <a:off x="548640" y="165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38"/>
          <p:cNvSpPr txBox="1"/>
          <p:nvPr/>
        </p:nvSpPr>
        <p:spPr>
          <a:xfrm>
            <a:off x="1325880" y="16576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색과 모양을 봐요.</a:t>
            </a:r>
            <a:endParaRPr lang="ko-KR" sz="3200" dirty="0"/>
          </a:p>
        </p:txBody>
      </p:sp>
      <p:sp>
        <p:nvSpPr>
          <p:cNvPr id="9" name="S06-stepno39"/>
          <p:cNvSpPr txBox="1"/>
          <p:nvPr/>
        </p:nvSpPr>
        <p:spPr>
          <a:xfrm>
            <a:off x="548640" y="23708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40"/>
          <p:cNvSpPr txBox="1"/>
          <p:nvPr/>
        </p:nvSpPr>
        <p:spPr>
          <a:xfrm>
            <a:off x="1325880" y="237083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껍질을 만져요.</a:t>
            </a:r>
            <a:endParaRPr lang="ko-KR" sz="3200" dirty="0"/>
          </a:p>
        </p:txBody>
      </p:sp>
      <p:sp>
        <p:nvSpPr>
          <p:cNvPr id="11" name="S06-stepno41"/>
          <p:cNvSpPr txBox="1"/>
          <p:nvPr/>
        </p:nvSpPr>
        <p:spPr>
          <a:xfrm>
            <a:off x="548640" y="3084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42"/>
          <p:cNvSpPr txBox="1"/>
          <p:nvPr/>
        </p:nvSpPr>
        <p:spPr>
          <a:xfrm>
            <a:off x="1325880" y="3084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 냄새를 맡아요.</a:t>
            </a:r>
            <a:endParaRPr lang="ko-KR" sz="3200" dirty="0"/>
          </a:p>
        </p:txBody>
      </p:sp>
      <p:sp>
        <p:nvSpPr>
          <p:cNvPr id="13" name="S06-stepno43"/>
          <p:cNvSpPr txBox="1"/>
          <p:nvPr/>
        </p:nvSpPr>
        <p:spPr>
          <a:xfrm>
            <a:off x="548640" y="3843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6-text44"/>
          <p:cNvSpPr txBox="1"/>
          <p:nvPr/>
        </p:nvSpPr>
        <p:spPr>
          <a:xfrm>
            <a:off x="1325880" y="379730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껍질을 까며 소리를 듣고,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조각 맛봐요.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친구의 관찰 결과</a:t>
            </a:r>
            <a:endParaRPr lang="ko-KR" sz="4400" dirty="0"/>
          </a:p>
        </p:txBody>
      </p:sp>
      <p:sp>
        <p:nvSpPr>
          <p:cNvPr id="3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감각으로 관찰하면 더 많이 알 수 있어요.</a:t>
            </a:r>
            <a:endParaRPr lang="ko-KR" sz="3200" dirty="0"/>
          </a:p>
        </p:txBody>
      </p:sp>
      <p:graphicFrame>
        <p:nvGraphicFramePr>
          <p:cNvPr id="8" name="S07-table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1685544"/>
          <a:ext cx="1005840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78455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알게 된 것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주황색, 동글납작해요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오돌토돌, 말랑해요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상큼한 냄새가 나요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깔 때 ‘찌익’ 소리가 나요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달고 새콤해요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주머니 속 물건</a:t>
            </a:r>
            <a:endParaRPr lang="ko-KR" sz="4400" dirty="0"/>
          </a:p>
        </p:txBody>
      </p:sp>
      <p:sp>
        <p:nvSpPr>
          <p:cNvPr id="3" name="S08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뾰족하거나 깨지는 물건은 넣지 않아요.</a:t>
            </a:r>
            <a:endParaRPr lang="ko-KR" sz="3200" dirty="0"/>
          </a:p>
        </p:txBody>
      </p:sp>
      <p:sp>
        <p:nvSpPr>
          <p:cNvPr id="5" name="S08-card50"/>
          <p:cNvSpPr/>
          <p:nvPr/>
        </p:nvSpPr>
        <p:spPr>
          <a:xfrm>
            <a:off x="6813652" y="1325880"/>
            <a:ext cx="4826660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1"/>
          <p:cNvSpPr txBox="1"/>
          <p:nvPr/>
        </p:nvSpPr>
        <p:spPr>
          <a:xfrm>
            <a:off x="7087972" y="1463040"/>
            <a:ext cx="42780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어떤 감각을 썼는지 말해요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까닭을 붙여 말해요</a:t>
            </a:r>
            <a:endParaRPr lang="ko-KR" sz="3200" dirty="0"/>
          </a:p>
        </p:txBody>
      </p:sp>
      <p:sp>
        <p:nvSpPr>
          <p:cNvPr id="7" name="S08-stepno52"/>
          <p:cNvSpPr txBox="1"/>
          <p:nvPr/>
        </p:nvSpPr>
        <p:spPr>
          <a:xfrm>
            <a:off x="548640" y="165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53"/>
          <p:cNvSpPr txBox="1"/>
          <p:nvPr/>
        </p:nvSpPr>
        <p:spPr>
          <a:xfrm>
            <a:off x="1325880" y="165760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감아요.</a:t>
            </a:r>
            <a:endParaRPr lang="ko-KR" sz="3200" dirty="0"/>
          </a:p>
        </p:txBody>
      </p:sp>
      <p:sp>
        <p:nvSpPr>
          <p:cNvPr id="9" name="S08-stepno54"/>
          <p:cNvSpPr txBox="1"/>
          <p:nvPr/>
        </p:nvSpPr>
        <p:spPr>
          <a:xfrm>
            <a:off x="548640" y="23708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55"/>
          <p:cNvSpPr txBox="1"/>
          <p:nvPr/>
        </p:nvSpPr>
        <p:spPr>
          <a:xfrm>
            <a:off x="1325880" y="237083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주머니 속 물건을 만져요.</a:t>
            </a:r>
            <a:endParaRPr lang="ko-KR" sz="3200" dirty="0"/>
          </a:p>
        </p:txBody>
      </p:sp>
      <p:sp>
        <p:nvSpPr>
          <p:cNvPr id="11" name="S08-stepno56"/>
          <p:cNvSpPr txBox="1"/>
          <p:nvPr/>
        </p:nvSpPr>
        <p:spPr>
          <a:xfrm>
            <a:off x="548640" y="3084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57"/>
          <p:cNvSpPr txBox="1"/>
          <p:nvPr/>
        </p:nvSpPr>
        <p:spPr>
          <a:xfrm>
            <a:off x="1325880" y="308406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흔들어 소리를 들어요.</a:t>
            </a:r>
            <a:endParaRPr lang="ko-KR" sz="3200" dirty="0"/>
          </a:p>
        </p:txBody>
      </p:sp>
      <p:sp>
        <p:nvSpPr>
          <p:cNvPr id="13" name="S08-stepno58"/>
          <p:cNvSpPr txBox="1"/>
          <p:nvPr/>
        </p:nvSpPr>
        <p:spPr>
          <a:xfrm>
            <a:off x="548640" y="3843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8-text59"/>
          <p:cNvSpPr txBox="1"/>
          <p:nvPr/>
        </p:nvSpPr>
        <p:spPr>
          <a:xfrm>
            <a:off x="1325880" y="3797300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무엇인지 말하고 까닭도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더 자세히?</a:t>
            </a:r>
            <a:endParaRPr lang="ko-KR" sz="4400" dirty="0"/>
          </a:p>
        </p:txBody>
      </p:sp>
      <p:sp>
        <p:nvSpPr>
          <p:cNvPr id="3" name="S09-card6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6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같은 사과를 관찰했어요.</a:t>
            </a:r>
            <a:endParaRPr lang="ko-KR" sz="3200" dirty="0"/>
          </a:p>
        </p:txBody>
      </p:sp>
      <p:sp>
        <p:nvSpPr>
          <p:cNvPr id="5" name="S09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더 자세히 관찰했나요? 어떤 감각을 썼나요?</a:t>
            </a:r>
            <a:endParaRPr lang="ko-KR" sz="3200" dirty="0"/>
          </a:p>
        </p:txBody>
      </p:sp>
      <p:sp>
        <p:nvSpPr>
          <p:cNvPr id="7" name="S09-chip6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9-text6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“빨개요.”</a:t>
            </a:r>
            <a:endParaRPr lang="ko-KR" sz="3200" dirty="0"/>
          </a:p>
        </p:txBody>
      </p:sp>
      <p:sp>
        <p:nvSpPr>
          <p:cNvPr id="9" name="S09-chip6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9-text6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“빨갛고, 매끈하고,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달콤한 냄새가 나요.”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 관찰하기</a:t>
            </a:r>
            <a:endParaRPr lang="ko-KR" sz="4400" dirty="0"/>
          </a:p>
        </p:txBody>
      </p:sp>
      <p:sp>
        <p:nvSpPr>
          <p:cNvPr id="3" name="S10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비누를 혼자 관찰해요.</a:t>
            </a:r>
            <a:endParaRPr lang="ko-KR" sz="3200" dirty="0"/>
          </a:p>
        </p:txBody>
      </p:sp>
      <p:sp>
        <p:nvSpPr>
          <p:cNvPr id="4" name="S10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감각마다 알게 된 것을 “~해요.”로 말해요.</a:t>
            </a:r>
            <a:endParaRPr lang="ko-KR" sz="3200" dirty="0"/>
          </a:p>
        </p:txBody>
      </p:sp>
      <p:sp>
        <p:nvSpPr>
          <p:cNvPr id="6" name="S10-chip7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7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눈으로 보면?</a:t>
            </a:r>
            <a:endParaRPr lang="ko-KR" sz="3200" dirty="0"/>
          </a:p>
        </p:txBody>
      </p:sp>
      <p:sp>
        <p:nvSpPr>
          <p:cNvPr id="8" name="S10-chip7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7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만지면?</a:t>
            </a:r>
            <a:endParaRPr lang="ko-KR" sz="3200" dirty="0"/>
          </a:p>
        </p:txBody>
      </p:sp>
      <p:sp>
        <p:nvSpPr>
          <p:cNvPr id="10" name="S10-chip75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76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 냄새를 맡으면?</a:t>
            </a:r>
            <a:endParaRPr lang="ko-KR" sz="3200" dirty="0"/>
          </a:p>
        </p:txBody>
      </p:sp>
      <p:sp>
        <p:nvSpPr>
          <p:cNvPr id="12" name="S10-chip77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10-text78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맛봐도 될까요? 왜요?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400" dirty="0"/>
          </a:p>
        </p:txBody>
      </p:sp>
      <p:sp>
        <p:nvSpPr>
          <p:cNvPr id="3" name="S11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감각마다 알게 된 특징을 “~해요.”로 말해요.</a:t>
            </a:r>
            <a:endParaRPr lang="ko-KR" sz="3200" dirty="0"/>
          </a:p>
        </p:txBody>
      </p:sp>
      <p:sp>
        <p:nvSpPr>
          <p:cNvPr id="5" name="S11-chip8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82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하얀색, 네모</a:t>
            </a:r>
            <a:endParaRPr lang="ko-KR" sz="2600" dirty="0"/>
          </a:p>
        </p:txBody>
      </p:sp>
      <p:sp>
        <p:nvSpPr>
          <p:cNvPr id="7" name="S11-text83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비누마다 달라요</a:t>
            </a:r>
            <a:endParaRPr lang="ko-KR" sz="2600" dirty="0"/>
          </a:p>
        </p:txBody>
      </p:sp>
      <p:sp>
        <p:nvSpPr>
          <p:cNvPr id="8" name="S11-text84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매끈해요</a:t>
            </a:r>
            <a:endParaRPr lang="ko-KR" sz="3200" dirty="0"/>
          </a:p>
        </p:txBody>
      </p:sp>
      <p:sp>
        <p:nvSpPr>
          <p:cNvPr id="9" name="S11-text85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단단해요</a:t>
            </a:r>
            <a:endParaRPr lang="ko-KR" sz="2600" dirty="0"/>
          </a:p>
        </p:txBody>
      </p:sp>
      <p:sp>
        <p:nvSpPr>
          <p:cNvPr id="10" name="S11-text86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향긋해요</a:t>
            </a:r>
            <a:endParaRPr lang="ko-KR" sz="3200" dirty="0"/>
          </a:p>
        </p:txBody>
      </p:sp>
      <p:sp>
        <p:nvSpPr>
          <p:cNvPr id="11" name="S11-text87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냄새</a:t>
            </a:r>
            <a:endParaRPr lang="ko-KR" sz="2600" dirty="0"/>
          </a:p>
        </p:txBody>
      </p:sp>
      <p:sp>
        <p:nvSpPr>
          <p:cNvPr id="12" name="S11-text88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맛보지 않아요</a:t>
            </a:r>
            <a:endParaRPr lang="ko-KR" sz="2600" dirty="0"/>
          </a:p>
        </p:txBody>
      </p:sp>
      <p:sp>
        <p:nvSpPr>
          <p:cNvPr id="13" name="S11-text89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먹지 못해요</a:t>
            </a:r>
            <a:endParaRPr lang="ko-KR" sz="2600" dirty="0"/>
          </a:p>
        </p:txBody>
      </p:sp>
      <p:sp>
        <p:nvSpPr>
          <p:cNvPr id="14" name="S11-chip9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1-text91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“비누예요.”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이름만 말하기</a:t>
            </a:r>
            <a:endParaRPr lang="ko-KR" sz="3200" dirty="0"/>
          </a:p>
        </p:txBody>
      </p:sp>
      <p:sp>
        <p:nvSpPr>
          <p:cNvPr id="16" name="S11-text92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특징을 말해요</a:t>
            </a:r>
            <a:endParaRPr lang="ko-KR" sz="2600" dirty="0"/>
          </a:p>
        </p:txBody>
      </p:sp>
      <p:sp>
        <p:nvSpPr>
          <p:cNvPr id="17" name="S11-text93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혀에 대 보기</a:t>
            </a:r>
            <a:endParaRPr lang="ko-KR" sz="3200" dirty="0"/>
          </a:p>
        </p:txBody>
      </p:sp>
      <p:sp>
        <p:nvSpPr>
          <p:cNvPr id="18" name="S11-text94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먹는 것만 맛봐요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감각을 쓸까요?</a:t>
            </a:r>
            <a:endParaRPr lang="ko-KR" sz="4400" dirty="0"/>
          </a:p>
        </p:txBody>
      </p:sp>
      <p:sp>
        <p:nvSpPr>
          <p:cNvPr id="3" name="S12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2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· 귀 · 손 · 코 · 혀</a:t>
            </a:r>
            <a:endParaRPr lang="ko-KR" sz="3200" dirty="0"/>
          </a:p>
        </p:txBody>
      </p:sp>
      <p:sp>
        <p:nvSpPr>
          <p:cNvPr id="5" name="S12-chip9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2-text9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 인형이 부드러운지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싶어요.</a:t>
            </a:r>
            <a:endParaRPr lang="ko-KR" sz="3200" dirty="0"/>
          </a:p>
        </p:txBody>
      </p:sp>
      <p:sp>
        <p:nvSpPr>
          <p:cNvPr id="7" name="S12-chip9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2-text10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향기를 알고 싶어요.</a:t>
            </a:r>
            <a:endParaRPr lang="ko-KR" sz="3200" dirty="0"/>
          </a:p>
        </p:txBody>
      </p:sp>
      <p:sp>
        <p:nvSpPr>
          <p:cNvPr id="9" name="S12-chip101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2-text102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나는 소리를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알고 싶어요.</a:t>
            </a:r>
            <a:endParaRPr lang="ko-KR" sz="3200" dirty="0"/>
          </a:p>
        </p:txBody>
      </p:sp>
      <p:sp>
        <p:nvSpPr>
          <p:cNvPr id="11" name="S12-chip103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12-text104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길에서 주운 열매의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맛이 궁금해요.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05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6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눈·귀·손·코·혀로 관찰하면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특징을 자세히 알 수 있어요.</a:t>
            </a:r>
            <a:endParaRPr lang="ko-KR" sz="3200" dirty="0"/>
          </a:p>
        </p:txBody>
      </p:sp>
      <p:sp>
        <p:nvSpPr>
          <p:cNvPr id="5" name="S13-chip107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여러 감각으로 관찰하기</a:t>
            </a:r>
            <a:endParaRPr lang="ko-KR" sz="2600" dirty="0"/>
          </a:p>
        </p:txBody>
      </p:sp>
      <p:sp>
        <p:nvSpPr>
          <p:cNvPr id="6" name="S13-chip108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모르는 것 맛보기</a:t>
            </a:r>
            <a:endParaRPr lang="ko-KR" sz="2600" dirty="0"/>
          </a:p>
        </p:txBody>
      </p:sp>
      <p:sp>
        <p:nvSpPr>
          <p:cNvPr id="7" name="S13-text109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10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냄새를 맡는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몸의 부분은?</a:t>
            </a:r>
            <a:endParaRPr lang="ko-KR" sz="2600" dirty="0"/>
          </a:p>
        </p:txBody>
      </p:sp>
      <p:sp>
        <p:nvSpPr>
          <p:cNvPr id="9" name="S13-text111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귤 껍질을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만지면 어때요?</a:t>
            </a:r>
            <a:endParaRPr lang="ko-KR" sz="2600" dirty="0"/>
          </a:p>
        </p:txBody>
      </p:sp>
      <p:sp>
        <p:nvSpPr>
          <p:cNvPr id="10" name="S13-text112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모르는 열매를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맛봐도 될까요?</a:t>
            </a:r>
            <a:endParaRPr lang="ko-KR" sz="2600" dirty="0"/>
          </a:p>
        </p:txBody>
      </p:sp>
      <p:sp>
        <p:nvSpPr>
          <p:cNvPr id="11" name="S13-text11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한 가지 기준으로 나누기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몸으로 느껴요</a:t>
            </a:r>
            <a:endParaRPr lang="ko-KR" sz="4400" dirty="0"/>
          </a:p>
        </p:txBody>
      </p:sp>
      <p:sp>
        <p:nvSpPr>
          <p:cNvPr id="3" name="S14-text1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눈을 감고 해 봐요.</a:t>
            </a:r>
            <a:endParaRPr lang="ko-KR" sz="3200" dirty="0"/>
          </a:p>
        </p:txBody>
      </p:sp>
      <p:sp>
        <p:nvSpPr>
          <p:cNvPr id="4" name="S14-card1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귀로 듣고, 손으로 느껴요.</a:t>
            </a:r>
            <a:endParaRPr lang="ko-KR" sz="3200" dirty="0"/>
          </a:p>
        </p:txBody>
      </p:sp>
      <p:sp>
        <p:nvSpPr>
          <p:cNvPr id="6" name="S14-card117"/>
          <p:cNvSpPr/>
          <p:nvPr/>
        </p:nvSpPr>
        <p:spPr>
          <a:xfrm>
            <a:off x="548640" y="20345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118"/>
          <p:cNvSpPr txBox="1"/>
          <p:nvPr/>
        </p:nvSpPr>
        <p:spPr>
          <a:xfrm>
            <a:off x="822960" y="21717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소리가 들려요?</a:t>
            </a:r>
            <a:endParaRPr lang="ko-KR" sz="3200" dirty="0"/>
          </a:p>
        </p:txBody>
      </p:sp>
      <p:sp>
        <p:nvSpPr>
          <p:cNvPr id="8" name="S14-card119"/>
          <p:cNvSpPr/>
          <p:nvPr/>
        </p:nvSpPr>
        <p:spPr>
          <a:xfrm>
            <a:off x="548640" y="31318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4-cardtext120"/>
          <p:cNvSpPr txBox="1"/>
          <p:nvPr/>
        </p:nvSpPr>
        <p:spPr>
          <a:xfrm>
            <a:off x="822960" y="32689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손바닥으로 책상을 만지면?</a:t>
            </a:r>
            <a:endParaRPr lang="ko-KR" sz="3200" dirty="0"/>
          </a:p>
        </p:txBody>
      </p:sp>
      <p:sp>
        <p:nvSpPr>
          <p:cNvPr id="10" name="S14-card121"/>
          <p:cNvSpPr/>
          <p:nvPr/>
        </p:nvSpPr>
        <p:spPr>
          <a:xfrm>
            <a:off x="548640" y="42291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122"/>
          <p:cNvSpPr txBox="1"/>
          <p:nvPr/>
        </p:nvSpPr>
        <p:spPr>
          <a:xfrm>
            <a:off x="822960" y="43662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컵의 물은 차가워요?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과학 오감으로 관찰하기</dc:title>
  <dc:subject>KR22-G01-SCI-SENSES-L01</dc:subject>
  <dc:creator>education-ppt</dc:creator>
  <cp:lastModifiedBy>education-ppt</cp:lastModifiedBy>
  <cp:revision>1</cp:revision>
  <dcterms:created xsi:type="dcterms:W3CDTF">2026-10-26T13:07:16Z</dcterms:created>
  <dcterms:modified xsi:type="dcterms:W3CDTF">2026-10-26T13:07:16Z</dcterms:modified>
</cp:coreProperties>
</file>