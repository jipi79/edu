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112e19b-4401-11ae-fd72-863b66a97239}">
          <p14:sldIdLst>
            <p14:sldId id="256"/>
            <p14:sldId id="257"/>
          </p14:sldIdLst>
        </p14:section>
        <p14:section name="개념" id="{ff5a03f3-b7ed-e130-74c8-bc2cacbe7fa4}">
          <p14:sldIdLst>
            <p14:sldId id="258"/>
            <p14:sldId id="259"/>
            <p14:sldId id="260"/>
          </p14:sldIdLst>
        </p14:section>
        <p14:section name="연습" id="{080a675f-fc9a-fdcc-ff8d-910a4618579b}">
          <p14:sldIdLst>
            <p14:sldId id="261"/>
            <p14:sldId id="262"/>
            <p14:sldId id="263"/>
          </p14:sldIdLst>
        </p14:section>
        <p14:section name="확인" id="{c2c61b13-082b-975c-997f-3d234b517696}">
          <p14:sldIdLst>
            <p14:sldId id="264"/>
            <p14:sldId id="265"/>
            <p14:sldId id="266"/>
          </p14:sldIdLst>
        </p14:section>
        <p14:section name="정리" id="{b44d417a-fd4b-b204-5884-56e2b6ec8fb0}">
          <p14:sldIdLst>
            <p14:sldId id="267"/>
          </p14:sldIdLst>
        </p14:section>
        <p14:section name="보충" id="{d3bce0d2-c391-3382-f468-987400721f7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오늘의 질문을 던지고, 물건을 나누는 ‘기준’을 정하는 수업이라는 것을 알립니다.
시간: 약 2분
이렇게 말해 보세요
- “장난감 정리할 때 어떻게 나눠서 넣어? 단추를 두 무리로 나눈다면 어떻게 나눌 수 있을까?”
- “오늘은 누가 나눠도 똑같이 나뉘는 방법을 찾아볼 거야.”
예상 답
- “색깔대로요.” “큰 것과 작은 것이요.” “예쁜 것과 안 예쁜 것이요.”
막히면
- 단추나 블록을 손에 쥐여 주고 “이것과 같은 편은 누구야?”라고 묻습니다.
주의
- “예쁜 것”처럼 말해도 고치지 말고 들어 둡니다. S07에서 함께 생각해 봅니다(오해 M1).
- 준비물(단추나 블록 8개쯤, 접시 2개)을 미리 모아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확인(감각으로 특징 말하기)]
목적: 앞 차시 ‘오감으로 관찰하기’에서 배운 감각과, 물건의 특징을 ‘~해요’로 말하기를 확인합니다. 나누는 기준은 관찰한 특징에서 나옵니다.
시간: 약 3분
이렇게 말해 보세요
- “색과 모양은 몸의 어디로 알아봐? 매끈한지는?”
- “이 단추를 보고 특징 하나를 말해 볼래? ‘~해요.’로.”
정답
- ① 눈 ② 손
- ③ 예: 동그래요. 구멍이 4개 있어요. 빨개요. 매끈해요. (관찰한 특징을 ‘~해요’로 말하면 맞음)
막히면
- 두 가지 이상 어려우면 S13(보충)을 먼저 합니다.
주의
- ③에서 “예뻐요.”라고 하면 “예쁜 건 네 생각이야. 눈으로 보이는 것을 말해 볼까?”라고 이끌어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나누기(분류)의 뜻과 단추 살펴보기]
목적: 단추 여섯 개의 특징(색, 구멍 수)을 관찰하고, 같은 점이 있는 것끼리 모으는 것이 ‘나누기(분류)’라는 것을 알려 줍니다(목표 B).
시간: 약 3분
이렇게 말해 보세요
- “단추 여섯 개를 살펴보자. 무엇이 다르고 무엇이 같아?”
- “어떻게 두 무리로 나눌 수 있을까?”
- “이렇게 같은 점이 있는 것끼리 나누는 것을 ‘분류’라고도 해. 오늘은 ‘나누기’라고 부를게.”
예상 답
- “색이 달라요.” “구멍이 2개인 것도 있고 4개인 것도 있어요.”
막히면
- 단추 하나를 짚고 “이 단추는 구멍이 몇 개야?”, “무슨 색이야?”라고 하나씩 물어 특징을 찾게 합니다.
주의
- 단추 아래에 색 이름이 적혀 있습니다. 색을 구별하기 어려운 아이는 색 이름을 읽거나 구멍 수로 나누게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기준의 뜻(예·아니요로 답하는 질문)]
목적: 기준은 ‘~인가요?’로 묻는 질문이고, 답이 ‘예’와 ‘아니요’로 분명하며 누가 답해도 같아야 한다는 것을 알려 줍니다(목표 A, 오해 M2).
시간: 약 3분
이렇게 말해 보세요
- “나눌 때는 먼저 질문 하나를 정해. ‘구멍이 4개인가요?’ 이런 질문을 ‘기준’이라고 해.”
- “이 질문에는 ‘예’ 아니면 ‘아니요’로 답할 수 있지? 엄마가 답해도, 네가 답해도 똑같을까?”
- “색으로 나누고 싶으면 어떤 질문을 하면 될까?”
예상 답
- “똑같아요. 구멍은 세면 되니까요.”
- “빨간색인가요?”
막히면
- 단추 하나를 들고 부모와 아이가 동시에 “구멍이 4개인가요?”에 답해 보며 답이 같다는 것을 확인합니다.
주의
- 기준은 나누는 동안 바꾸지 않습니다. 하나를 정하면 끝까지 그 질문만 묻습니다(오해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기준 하나로 나누기 시범]
목적: 부모가 단추 하나마다 기준 질문을 소리 내어 묻고 답하며 두 무리로 나누는 모습을 보여 줍니다(목표 B).
시간: 약 4분
이렇게 말해 보세요
- “엄마(아빠)가 해 볼게. 가 단추, 구멍이 4개인가요? 예. 그럼 ‘예’ 쪽. 나 단추, 구멍이 4개인가요? 아니요. ‘아니요’ 쪽.”
- “‘예’ 무리는 무엇 무엇이야? ‘아니요’ 무리는? 남은 단추가 있어?”
- “두 무리를 모으면 처음 단추 6개와 같지?”
예상 답
- “예: 가, 다, 마. 아니요: 나, 라, 바.” “남은 단추가 없어요.”
막히면
- 실제 단추로 같은 방법을 따라 해 봅니다. 접시 두 개에 ‘예’, ‘아니요’를 써 두면 좋습니다.
주의
- ‘예’ 무리에는 빨강·노랑·파랑이 섞여 있습니다. 기준이 구멍 수이므로 색은 상관없다는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다른 기준으로 나누기(도움 받아)]
목적: 같은 단추를 다른 기준으로 나누어 봅니다. 기준이 바뀌면 무리도 바뀐다는 것을 알게 합니다(목표 B, 오해 M3).
시간: 약 3분
이렇게 말해 보세요
- “이번 기준은 ‘빨간색인가요?’야. 가부터 하나씩 묻고 답해 볼래?”
- “‘예’ 무리는? ‘아니요’ 무리는? 남은 단추는?”
- “아까 ‘구멍이 4개인가요?’로 나눈 것과 같아, 달라?”
정답
- 예: 가, 라(빨강) / 아니요: 나, 다, 마, 바(남는 단추 없음)
- 기준이 달라서 무리가 달라졌습니다.
막히면
- 단추 하나마다 “빨간색인가요?”를 함께 소리 내어 묻습니다.
주의
- ‘아니요’ 무리에 파랑과 노랑이 섞여 있어도 한 무리라는 것을 짚어 줍니다(오해 M3).
- 색을 구별하기 어려운 아이는 단추 아래의 색 이름을 읽고 나눕니다.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비교(사람마다 다른 기준)]
목적: 사람마다 답이 다른 기준과 누구나 같은 답을 하는 기준을 비교합니다(목표 A, 오해 M1).
시간: 약 3분
이렇게 말해 보세요
- “가로 나눠 보자. 바나나는 맛있는 과일이야? 엄마는 예, 너는? 딸기는?”
- “나로 나눠 보자. 바나나 껍질은 노란색이야? 딸기는? 블루베리는? 엄마랑 네 답이 같아?”
- “어느 기준이 누가 나눠도 똑같이 나뉠까? 왜?”
정답
- 나. 껍질 색은 눈으로 보면 누구나 같게 답합니다(바나나·참외는 예, 딸기·블루베리는 아니요). 가는 사람마다 좋아하는 맛이 달라서 나눈 결과가 달라집니다.
막히면
- 부모와 아이가 과일 이름 네 개(바나나, 참외, 딸기, 블루베리)를 ‘맛있는 과일인가요?’로 각자 나누어 서로 견주어 봅니다.
주의
- ‘맛있나요?’, ‘예쁜가요?’가 나쁜 질문이라는 뜻이 아니라, 나누기 기준으로는 사람마다 결과가 달라서 알맞지 않다는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우리 집 물건을 기준 하나로 나누기]
목적: 아이가 집에 있는 물건으로 기준을 스스로 정해 두 무리로 나누고, 부모가 같은 기준으로 다시 나누어 결과가 같은지 확인합니다. 결과는 활동지 4에 적습니다(목표 A·B).
시간: 약 7분
이렇게 말해 보세요
- “단추(블록) 8개를 두 무리로 나눌 기준을 정해 볼래? ‘~인가요?’로 말해 줘.”
- “하나씩 기준 질문을 소리 내어 묻고 접시에 놓아 보자.”
- “이제 엄마(아빠)가 같은 기준으로 다시 나눠 볼게. 결과가 같아?”
예상 답
- “구멍이 2개인가요?” “네모난가요?” “빨간색인가요?” “바퀴가 있나요?”
정답
- 기준: ① 기준을 ‘~인가요?’로 말함 ② 남는 물건 없이 두 무리로 나눔 ③ 부모가 같은 기준으로 나눈 결과와 같음. 결과가 다르면 기준이 분명하지 않은 것이므로 기준을 함께 고칩니다.
막히면
- 기준을 정하지 못하면 S04처럼 “색으로 할까, 모양으로 할까?”라고 고를 수 있게 해 줍니다.
- ‘큰가요?’를 고르면 부모가 나누어 결과가 달라지는 것을 보여 주고 “이 동전보다 큰가요?”처럼 비교할 물건을 정하게 합니다.
주의
- 안전: 단추처럼 작은 물건은 입에 넣지 않습니다. 동생이 있으면 활동 뒤 바로 치웁니다.
- 여기까지가 배우는 부분입니다. 아이가 지치면 여기서 나누어 다음 날 S09부터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하기(좋은 기준 고르기)]
목적: 도움 없이 누구나 같은 답을 하는 기준을 고르고, 다른 기준이 알맞지 않은 까닭을 말하는지 확인합니다(목표 A).
시간: 약 2분
이렇게 말해 보세요
- “혼자 골라 볼래? 왜 그것을 골랐어? 다른 것은 왜 안 될까?”
- “가를 좋은 기준으로 바꾸면 어떻게 말할 수 있을까?”
정답
- 나. 구멍 수는 세어 보면 누구나 같게 답합니다. 가와 다는 사람마다 생각이 달라 나눈 결과가 달라집니다.
- 가를 바꾸는 예: “꽃무늬가 있는 단추인가요?” “반짝이는 단추인가요?”(눈으로 보아 분명한 질문이면 맞음)
막히면
- 바로 알려 주지 말고 S07을 떠올리게 합니다. 도움을 받아 해결했다면 기록표에 ‘도움’으로 표시합니다.
주의
- 답과 까닭을 모두 말하면 목표 A를 이룬 것으로 봅니다.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하기(동물을 기준 하나로 나누기)]
목적: 처음 보는 대상(동물)을 도움 없이 기준 하나로 두 무리로 나누는지 확인합니다(목표 B).
시간: 약 3분
이렇게 말해 보세요
- “이번에는 동물이야. 기준은 ‘다리가 4개인가요?’ 하나씩 묻고 혼자 나눠 볼래?”
- “‘예’ 무리는? ‘아니요’ 무리는? 남은 동물이 있어?”
정답
- 예: 강아지, 고양이, 소 / 아니요: 닭, 참새, 오리 (남는 동물 없음)
막히면
- 동물의 다리 수가 떠오르지 않으면 “닭은 몇 발로 걸어?”라고 묻거나 몸으로 흉내 내어 봅니다. 도움을 받아 해결했다면 기록표에 ‘도움’으로 표시합니다.
주의
- 새의 날개는 다리가 아닙니다. 닭·참새·오리는 다리가 2개라는 것을 짚어 줍니다. 여섯 마리를 모두 바르게 나누면 목표 B를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S09·S10의 답을 함께 확인하고 흔한 실수와 견주어 봅니다.
시간: 약 2분
이렇게 말해 보세요
- “네 답과 왼쪽을 견주어 보자. 오른쪽처럼 하면 무엇이 문제일까?”
예상 답
- “예쁜 건 사람마다 달라요.” “빼먹은 동물이 있으면 안 돼요.”
정답
- S09: 나
- S10: 예 – 강아지, 고양이, 소 / 아니요 – 닭, 참새, 오리
막히면
- 틀린 문제는 S07(기준 비교) 또는 S05(나누기 시범)로 돌아가 한 번 더 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 첫 5분에 풀 복습 질문을 알려 줍니다.
시간: 약 2분
이렇게 말해 보세요
- “좋은 기준은 어떤 질문이었지? 오늘 네가 정한 기준을 다시 말해 볼래?”
예상 답
- “누가 답해도 똑같은 질문이요.” “구멍이 2개인가요?”
정답
- ① 기준 ② 아니요(사람마다 답이 달라서) ③ 예: 강아지, 고양이, 소, 토끼
막히면
- S04와 S07을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보충(같은 모양끼리 모으기)]
목적: S02에서 특징을 말하기 어려워하면, 눈에 잘 띄는 모양 하나로 같은 것끼리 모으는 연습을 합니다.
시간: 약 4분
이렇게 말해 보세요
- “동그라미는 몇 개야? 네모는? 손가락으로 같은 모양끼리 짚어 볼래?”
- “이번에는 집에 있는 블록으로 같은 모양끼리 모아 볼까?”
정답
- 동그라미 3개, 네모 2개. 같은 모양끼리 남김없이 모으면 맞습니다.
막히면
- 부모가 하나를 먼저 놓고 “이것과 같은 모양은?”이라고 하나씩 찾게 합니다.
주의
- 보충으로도 특징을 말하기 어려우면 앞 차시 ‘오감으로 관찰하기’(KR22-G01-SCI-SENSES-L01)의 S03·S06을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관찰과분류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한 가지 기준으로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한 가지 기준으로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과학 · 한 가지 기준으로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기준으로 나누기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어떻게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무리로 나눌까?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여러 가지 색과 구멍 수의 단추 4개"/>
          <p:cNvSpPr/>
          <p:nvPr/>
        </p:nvSpPr>
        <p:spPr>
          <a:xfrm>
            <a:off x="8282940" y="739140"/>
            <a:ext cx="1148615" cy="1148615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605988" y="1406772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950572" y="1406772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605988" y="1062188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950572" y="1062188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862285" y="739140"/>
            <a:ext cx="1148615" cy="1148615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185333" y="1234480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529918" y="1234480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282940" y="2318485"/>
            <a:ext cx="1148615" cy="1148615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605988" y="2813825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950572" y="2813825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862285" y="2318485"/>
            <a:ext cx="1148615" cy="1148615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10185333" y="2986118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10529918" y="2986118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10185333" y="2641533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10529918" y="2641533"/>
            <a:ext cx="157935" cy="157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1-card18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2" name="S01-cardtext19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누구나 똑같이 나누는 기준을 정해요.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 하나로 두 무리로 나눠요.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떠올리기</a:t>
            </a:r>
            <a:endParaRPr lang="ko-KR" sz="4400" dirty="0"/>
          </a:p>
        </p:txBody>
      </p:sp>
      <p:sp>
        <p:nvSpPr>
          <p:cNvPr id="3" name="S02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관찰을 떠올려요.</a:t>
            </a:r>
            <a:endParaRPr lang="ko-KR" sz="3200" dirty="0"/>
          </a:p>
        </p:txBody>
      </p:sp>
      <p:sp>
        <p:nvSpPr>
          <p:cNvPr id="4" name="S02-chip2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2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색과 모양을 알아보는 몸은?</a:t>
            </a:r>
            <a:endParaRPr lang="ko-KR" sz="3200" dirty="0"/>
          </a:p>
        </p:txBody>
      </p:sp>
      <p:sp>
        <p:nvSpPr>
          <p:cNvPr id="6" name="S02-chip2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2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매끈한지 알아보는 몸은?</a:t>
            </a:r>
            <a:endParaRPr lang="ko-KR" sz="3200" dirty="0"/>
          </a:p>
        </p:txBody>
      </p:sp>
      <p:sp>
        <p:nvSpPr>
          <p:cNvPr id="8" name="S02-chip2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2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단추를 보고 특징 하나를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단추를 나눠 봐요</a:t>
            </a:r>
            <a:endParaRPr lang="ko-KR" sz="4400" dirty="0"/>
          </a:p>
        </p:txBody>
      </p:sp>
      <p:sp>
        <p:nvSpPr>
          <p:cNvPr id="3" name="S03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점이 있는 것끼리 모아 볼까요?</a:t>
            </a:r>
            <a:endParaRPr lang="ko-KR" sz="3200" dirty="0"/>
          </a:p>
        </p:txBody>
      </p:sp>
      <p:sp>
        <p:nvSpPr>
          <p:cNvPr id="5" name="S03-figure29" descr="단추 6개: 가 빨강 구멍 4개, 나 파랑 구멍 2개, 다 노랑 구멍 4개, 라 빨강 구멍 2개, 마 파랑 구멍 4개, 바 노랑 구멍 2개. 단추 아래에 이름표와 색 이름이 적혀 있다."/>
          <p:cNvSpPr/>
          <p:nvPr/>
        </p:nvSpPr>
        <p:spPr>
          <a:xfrm>
            <a:off x="647700" y="2322139"/>
            <a:ext cx="1281594" cy="1281594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3-mark30"/>
          <p:cNvSpPr/>
          <p:nvPr/>
        </p:nvSpPr>
        <p:spPr>
          <a:xfrm>
            <a:off x="1008148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mark31"/>
          <p:cNvSpPr/>
          <p:nvPr/>
        </p:nvSpPr>
        <p:spPr>
          <a:xfrm>
            <a:off x="1392627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mark32"/>
          <p:cNvSpPr/>
          <p:nvPr/>
        </p:nvSpPr>
        <p:spPr>
          <a:xfrm>
            <a:off x="1008148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mark33"/>
          <p:cNvSpPr/>
          <p:nvPr/>
        </p:nvSpPr>
        <p:spPr>
          <a:xfrm>
            <a:off x="1392627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mark34"/>
          <p:cNvSpPr/>
          <p:nvPr/>
        </p:nvSpPr>
        <p:spPr>
          <a:xfrm>
            <a:off x="2570092" y="2322139"/>
            <a:ext cx="1281594" cy="1281594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3-mark35"/>
          <p:cNvSpPr/>
          <p:nvPr/>
        </p:nvSpPr>
        <p:spPr>
          <a:xfrm>
            <a:off x="2930540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mark36"/>
          <p:cNvSpPr/>
          <p:nvPr/>
        </p:nvSpPr>
        <p:spPr>
          <a:xfrm>
            <a:off x="3315018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mark37"/>
          <p:cNvSpPr/>
          <p:nvPr/>
        </p:nvSpPr>
        <p:spPr>
          <a:xfrm>
            <a:off x="4492483" y="2322139"/>
            <a:ext cx="1281594" cy="1281594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4" name="S03-mark38"/>
          <p:cNvSpPr/>
          <p:nvPr/>
        </p:nvSpPr>
        <p:spPr>
          <a:xfrm>
            <a:off x="4852931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mark39"/>
          <p:cNvSpPr/>
          <p:nvPr/>
        </p:nvSpPr>
        <p:spPr>
          <a:xfrm>
            <a:off x="5237410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mark40"/>
          <p:cNvSpPr/>
          <p:nvPr/>
        </p:nvSpPr>
        <p:spPr>
          <a:xfrm>
            <a:off x="4852931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mark41"/>
          <p:cNvSpPr/>
          <p:nvPr/>
        </p:nvSpPr>
        <p:spPr>
          <a:xfrm>
            <a:off x="5237410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mark42"/>
          <p:cNvSpPr/>
          <p:nvPr/>
        </p:nvSpPr>
        <p:spPr>
          <a:xfrm>
            <a:off x="6414875" y="2322139"/>
            <a:ext cx="1281594" cy="1281594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9" name="S03-mark43"/>
          <p:cNvSpPr/>
          <p:nvPr/>
        </p:nvSpPr>
        <p:spPr>
          <a:xfrm>
            <a:off x="6775323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44"/>
          <p:cNvSpPr/>
          <p:nvPr/>
        </p:nvSpPr>
        <p:spPr>
          <a:xfrm>
            <a:off x="7159801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45"/>
          <p:cNvSpPr/>
          <p:nvPr/>
        </p:nvSpPr>
        <p:spPr>
          <a:xfrm>
            <a:off x="8337266" y="2322139"/>
            <a:ext cx="1281594" cy="1281594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2" name="S03-mark46"/>
          <p:cNvSpPr/>
          <p:nvPr/>
        </p:nvSpPr>
        <p:spPr>
          <a:xfrm>
            <a:off x="8697715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mark47"/>
          <p:cNvSpPr/>
          <p:nvPr/>
        </p:nvSpPr>
        <p:spPr>
          <a:xfrm>
            <a:off x="9082193" y="306706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mark48"/>
          <p:cNvSpPr/>
          <p:nvPr/>
        </p:nvSpPr>
        <p:spPr>
          <a:xfrm>
            <a:off x="8697715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mark49"/>
          <p:cNvSpPr/>
          <p:nvPr/>
        </p:nvSpPr>
        <p:spPr>
          <a:xfrm>
            <a:off x="9082193" y="268258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mark50"/>
          <p:cNvSpPr/>
          <p:nvPr/>
        </p:nvSpPr>
        <p:spPr>
          <a:xfrm>
            <a:off x="10259658" y="2322139"/>
            <a:ext cx="1281594" cy="1281594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7" name="S03-mark51"/>
          <p:cNvSpPr/>
          <p:nvPr/>
        </p:nvSpPr>
        <p:spPr>
          <a:xfrm>
            <a:off x="10620106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mark52"/>
          <p:cNvSpPr/>
          <p:nvPr/>
        </p:nvSpPr>
        <p:spPr>
          <a:xfrm>
            <a:off x="11004584" y="28748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label54"/>
          <p:cNvSpPr txBox="1"/>
          <p:nvPr/>
        </p:nvSpPr>
        <p:spPr>
          <a:xfrm>
            <a:off x="910037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0" name="S03-label56"/>
          <p:cNvSpPr txBox="1"/>
          <p:nvPr/>
        </p:nvSpPr>
        <p:spPr>
          <a:xfrm>
            <a:off x="2832429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1" name="S03-label58"/>
          <p:cNvSpPr txBox="1"/>
          <p:nvPr/>
        </p:nvSpPr>
        <p:spPr>
          <a:xfrm>
            <a:off x="4754820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2" name="S03-label60"/>
          <p:cNvSpPr txBox="1"/>
          <p:nvPr/>
        </p:nvSpPr>
        <p:spPr>
          <a:xfrm>
            <a:off x="6677212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3" name="S03-label62"/>
          <p:cNvSpPr txBox="1"/>
          <p:nvPr/>
        </p:nvSpPr>
        <p:spPr>
          <a:xfrm>
            <a:off x="8599603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4" name="S03-label64"/>
          <p:cNvSpPr txBox="1"/>
          <p:nvPr/>
        </p:nvSpPr>
        <p:spPr>
          <a:xfrm>
            <a:off x="10521995" y="371163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기준은 질문이에요</a:t>
            </a:r>
            <a:endParaRPr lang="ko-KR" sz="4400" dirty="0"/>
          </a:p>
        </p:txBody>
      </p:sp>
      <p:sp>
        <p:nvSpPr>
          <p:cNvPr id="3" name="S04-figure65" descr="기준 질문 상자 ‘구멍이 4개인가요?’에서 화살표 두 개가 아래로 나뉘어 왼쪽은 ‘예’ 상자, 오른쪽은 ‘아니요’ 상자로 간다."/>
          <p:cNvSpPr/>
          <p:nvPr/>
        </p:nvSpPr>
        <p:spPr>
          <a:xfrm>
            <a:off x="1234613" y="2598074"/>
            <a:ext cx="3991010" cy="821678"/>
          </a:xfrm>
          <a:custGeom>
            <a:avLst/>
            <a:gdLst/>
            <a:ahLst/>
            <a:cxnLst/>
            <a:rect l="l" t="t" r="r" b="b"/>
            <a:pathLst>
              <a:path w="3991010" h="821678">
                <a:moveTo>
                  <a:pt x="0" y="821678"/>
                </a:moveTo>
                <a:lnTo>
                  <a:pt x="3991010" y="821678"/>
                </a:lnTo>
                <a:lnTo>
                  <a:pt x="39910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4-mark66"/>
          <p:cNvSpPr/>
          <p:nvPr/>
        </p:nvSpPr>
        <p:spPr>
          <a:xfrm>
            <a:off x="647700" y="4124048"/>
            <a:ext cx="2112887" cy="821678"/>
          </a:xfrm>
          <a:custGeom>
            <a:avLst/>
            <a:gdLst/>
            <a:ahLst/>
            <a:cxnLst/>
            <a:rect l="l" t="t" r="r" b="b"/>
            <a:pathLst>
              <a:path w="2112887" h="821678">
                <a:moveTo>
                  <a:pt x="0" y="821678"/>
                </a:moveTo>
                <a:lnTo>
                  <a:pt x="2112887" y="821678"/>
                </a:lnTo>
                <a:lnTo>
                  <a:pt x="211288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4-mark67"/>
          <p:cNvSpPr/>
          <p:nvPr/>
        </p:nvSpPr>
        <p:spPr>
          <a:xfrm>
            <a:off x="3699649" y="4124048"/>
            <a:ext cx="2112887" cy="821678"/>
          </a:xfrm>
          <a:custGeom>
            <a:avLst/>
            <a:gdLst/>
            <a:ahLst/>
            <a:cxnLst/>
            <a:rect l="l" t="t" r="r" b="b"/>
            <a:pathLst>
              <a:path w="2112887" h="821678">
                <a:moveTo>
                  <a:pt x="0" y="821678"/>
                </a:moveTo>
                <a:lnTo>
                  <a:pt x="2112887" y="821678"/>
                </a:lnTo>
                <a:lnTo>
                  <a:pt x="211288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68"/>
          <p:cNvSpPr/>
          <p:nvPr/>
        </p:nvSpPr>
        <p:spPr>
          <a:xfrm flipH="1">
            <a:off x="1821526" y="3419752"/>
            <a:ext cx="704296" cy="67495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04-mark69"/>
          <p:cNvSpPr/>
          <p:nvPr/>
        </p:nvSpPr>
        <p:spPr>
          <a:xfrm>
            <a:off x="3934414" y="3419752"/>
            <a:ext cx="704296" cy="67495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4-label71"/>
          <p:cNvSpPr txBox="1"/>
          <p:nvPr/>
        </p:nvSpPr>
        <p:spPr>
          <a:xfrm>
            <a:off x="1785112" y="2802538"/>
            <a:ext cx="28900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구멍이 4개인가요?</a:t>
            </a:r>
            <a:endParaRPr lang="ko-KR" sz="2600" dirty="0"/>
          </a:p>
        </p:txBody>
      </p:sp>
      <p:sp>
        <p:nvSpPr>
          <p:cNvPr id="9" name="S04-label73"/>
          <p:cNvSpPr txBox="1"/>
          <p:nvPr/>
        </p:nvSpPr>
        <p:spPr>
          <a:xfrm>
            <a:off x="1487482" y="4328512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2600" dirty="0"/>
          </a:p>
        </p:txBody>
      </p:sp>
      <p:sp>
        <p:nvSpPr>
          <p:cNvPr id="10" name="S04-label75"/>
          <p:cNvSpPr txBox="1"/>
          <p:nvPr/>
        </p:nvSpPr>
        <p:spPr>
          <a:xfrm>
            <a:off x="4215834" y="432851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아니요</a:t>
            </a:r>
            <a:endParaRPr lang="ko-KR" sz="2600" dirty="0"/>
          </a:p>
        </p:txBody>
      </p:sp>
      <p:sp>
        <p:nvSpPr>
          <p:cNvPr id="11" name="S04-card76"/>
          <p:cNvSpPr/>
          <p:nvPr/>
        </p:nvSpPr>
        <p:spPr>
          <a:xfrm>
            <a:off x="6277356" y="156210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77"/>
          <p:cNvSpPr txBox="1"/>
          <p:nvPr/>
        </p:nvSpPr>
        <p:spPr>
          <a:xfrm>
            <a:off x="6551676" y="169926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까닭이 되는 질문을 ‘기준’이라고 해요.</a:t>
            </a:r>
            <a:endParaRPr lang="ko-KR" sz="3200" dirty="0"/>
          </a:p>
        </p:txBody>
      </p:sp>
      <p:sp>
        <p:nvSpPr>
          <p:cNvPr id="13" name="S04-card78"/>
          <p:cNvSpPr/>
          <p:nvPr/>
        </p:nvSpPr>
        <p:spPr>
          <a:xfrm>
            <a:off x="6277356" y="311150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79"/>
          <p:cNvSpPr txBox="1"/>
          <p:nvPr/>
        </p:nvSpPr>
        <p:spPr>
          <a:xfrm>
            <a:off x="6551676" y="324866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‘예’ 아니면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‘아니요’예요.</a:t>
            </a:r>
            <a:endParaRPr lang="ko-KR" sz="3200" dirty="0"/>
          </a:p>
        </p:txBody>
      </p:sp>
      <p:sp>
        <p:nvSpPr>
          <p:cNvPr id="15" name="S04-card80"/>
          <p:cNvSpPr/>
          <p:nvPr/>
        </p:nvSpPr>
        <p:spPr>
          <a:xfrm>
            <a:off x="6277356" y="466090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4-cardtext81"/>
          <p:cNvSpPr txBox="1"/>
          <p:nvPr/>
        </p:nvSpPr>
        <p:spPr>
          <a:xfrm>
            <a:off x="6551676" y="479806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답해도 똑같아야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구멍이 4개인가요?</a:t>
            </a:r>
            <a:endParaRPr lang="ko-KR" sz="4400" dirty="0"/>
          </a:p>
        </p:txBody>
      </p:sp>
      <p:sp>
        <p:nvSpPr>
          <p:cNvPr id="3" name="S05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하나로 ‘예’와 ‘아니요’ 두 무리로 나눴어요.</a:t>
            </a:r>
            <a:endParaRPr lang="ko-KR" sz="3200" dirty="0"/>
          </a:p>
        </p:txBody>
      </p:sp>
      <p:sp>
        <p:nvSpPr>
          <p:cNvPr id="5" name="S05-figure84" descr="기준 ‘구멍이 4개인가요?’로 나눈 단추: 왼쪽 ‘예’ 상자에 가(빨강), 다(노랑), 마(파랑) — 모두 구멍 4개. 오른쪽 ‘아니요’ 상자에 나(파랑), 라(빨강), 바(노랑) — 모두 구멍 2개."/>
          <p:cNvSpPr/>
          <p:nvPr/>
        </p:nvSpPr>
        <p:spPr>
          <a:xfrm>
            <a:off x="647700" y="2231409"/>
            <a:ext cx="4976067" cy="2420789"/>
          </a:xfrm>
          <a:custGeom>
            <a:avLst/>
            <a:gdLst/>
            <a:ahLst/>
            <a:cxnLst/>
            <a:rect l="l" t="t" r="r" b="b"/>
            <a:pathLst>
              <a:path w="4976067" h="2420789">
                <a:moveTo>
                  <a:pt x="0" y="2420789"/>
                </a:moveTo>
                <a:lnTo>
                  <a:pt x="4976067" y="2420789"/>
                </a:lnTo>
                <a:lnTo>
                  <a:pt x="4976067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6"/>
          </a:solidFill>
          <a:ln w="19050">
            <a:solidFill>
              <a:srgbClr val="1F2937"/>
            </a:solidFill>
            <a:prstDash val="dash"/>
          </a:ln>
        </p:spPr>
      </p:sp>
      <p:sp>
        <p:nvSpPr>
          <p:cNvPr id="6" name="S05-mark85"/>
          <p:cNvSpPr/>
          <p:nvPr/>
        </p:nvSpPr>
        <p:spPr>
          <a:xfrm>
            <a:off x="6565185" y="2231409"/>
            <a:ext cx="4976067" cy="2420789"/>
          </a:xfrm>
          <a:custGeom>
            <a:avLst/>
            <a:gdLst/>
            <a:ahLst/>
            <a:cxnLst/>
            <a:rect l="l" t="t" r="r" b="b"/>
            <a:pathLst>
              <a:path w="4976067" h="2420789">
                <a:moveTo>
                  <a:pt x="0" y="2420789"/>
                </a:moveTo>
                <a:lnTo>
                  <a:pt x="4976067" y="2420789"/>
                </a:lnTo>
                <a:lnTo>
                  <a:pt x="4976067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6"/>
          </a:solidFill>
          <a:ln w="19050">
            <a:solidFill>
              <a:srgbClr val="1F2937"/>
            </a:solidFill>
            <a:prstDash val="dash"/>
          </a:ln>
        </p:spPr>
      </p:sp>
      <p:sp>
        <p:nvSpPr>
          <p:cNvPr id="7" name="S05-mark86"/>
          <p:cNvSpPr/>
          <p:nvPr/>
        </p:nvSpPr>
        <p:spPr>
          <a:xfrm>
            <a:off x="983921" y="2567630"/>
            <a:ext cx="1075906" cy="1075906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5-mark87"/>
          <p:cNvSpPr/>
          <p:nvPr/>
        </p:nvSpPr>
        <p:spPr>
          <a:xfrm>
            <a:off x="1286519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mark88"/>
          <p:cNvSpPr/>
          <p:nvPr/>
        </p:nvSpPr>
        <p:spPr>
          <a:xfrm>
            <a:off x="1609291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89"/>
          <p:cNvSpPr/>
          <p:nvPr/>
        </p:nvSpPr>
        <p:spPr>
          <a:xfrm>
            <a:off x="1286519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mark90"/>
          <p:cNvSpPr/>
          <p:nvPr/>
        </p:nvSpPr>
        <p:spPr>
          <a:xfrm>
            <a:off x="1609291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mark91"/>
          <p:cNvSpPr/>
          <p:nvPr/>
        </p:nvSpPr>
        <p:spPr>
          <a:xfrm>
            <a:off x="2597780" y="2567630"/>
            <a:ext cx="1075906" cy="1075906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3" name="S05-mark92"/>
          <p:cNvSpPr/>
          <p:nvPr/>
        </p:nvSpPr>
        <p:spPr>
          <a:xfrm>
            <a:off x="2900379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mark93"/>
          <p:cNvSpPr/>
          <p:nvPr/>
        </p:nvSpPr>
        <p:spPr>
          <a:xfrm>
            <a:off x="3223151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mark94"/>
          <p:cNvSpPr/>
          <p:nvPr/>
        </p:nvSpPr>
        <p:spPr>
          <a:xfrm>
            <a:off x="2900379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mark95"/>
          <p:cNvSpPr/>
          <p:nvPr/>
        </p:nvSpPr>
        <p:spPr>
          <a:xfrm>
            <a:off x="3223151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mark96"/>
          <p:cNvSpPr/>
          <p:nvPr/>
        </p:nvSpPr>
        <p:spPr>
          <a:xfrm>
            <a:off x="4211640" y="2567630"/>
            <a:ext cx="1075906" cy="1075906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8" name="S05-mark97"/>
          <p:cNvSpPr/>
          <p:nvPr/>
        </p:nvSpPr>
        <p:spPr>
          <a:xfrm>
            <a:off x="4514239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mark98"/>
          <p:cNvSpPr/>
          <p:nvPr/>
        </p:nvSpPr>
        <p:spPr>
          <a:xfrm>
            <a:off x="4837010" y="3193000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mark99"/>
          <p:cNvSpPr/>
          <p:nvPr/>
        </p:nvSpPr>
        <p:spPr>
          <a:xfrm>
            <a:off x="4514239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mark100"/>
          <p:cNvSpPr/>
          <p:nvPr/>
        </p:nvSpPr>
        <p:spPr>
          <a:xfrm>
            <a:off x="4837010" y="2870228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mark101"/>
          <p:cNvSpPr/>
          <p:nvPr/>
        </p:nvSpPr>
        <p:spPr>
          <a:xfrm>
            <a:off x="6901406" y="2567630"/>
            <a:ext cx="1075906" cy="1075906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3" name="S05-mark102"/>
          <p:cNvSpPr/>
          <p:nvPr/>
        </p:nvSpPr>
        <p:spPr>
          <a:xfrm>
            <a:off x="7204004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mark103"/>
          <p:cNvSpPr/>
          <p:nvPr/>
        </p:nvSpPr>
        <p:spPr>
          <a:xfrm>
            <a:off x="7526776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mark104"/>
          <p:cNvSpPr/>
          <p:nvPr/>
        </p:nvSpPr>
        <p:spPr>
          <a:xfrm>
            <a:off x="8515265" y="2567630"/>
            <a:ext cx="1075906" cy="1075906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6" name="S05-mark105"/>
          <p:cNvSpPr/>
          <p:nvPr/>
        </p:nvSpPr>
        <p:spPr>
          <a:xfrm>
            <a:off x="8817864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mark106"/>
          <p:cNvSpPr/>
          <p:nvPr/>
        </p:nvSpPr>
        <p:spPr>
          <a:xfrm>
            <a:off x="9140636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mark107"/>
          <p:cNvSpPr/>
          <p:nvPr/>
        </p:nvSpPr>
        <p:spPr>
          <a:xfrm>
            <a:off x="10129125" y="2567630"/>
            <a:ext cx="1075906" cy="1075906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9" name="S05-mark108"/>
          <p:cNvSpPr/>
          <p:nvPr/>
        </p:nvSpPr>
        <p:spPr>
          <a:xfrm>
            <a:off x="10431724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5-mark109"/>
          <p:cNvSpPr/>
          <p:nvPr/>
        </p:nvSpPr>
        <p:spPr>
          <a:xfrm>
            <a:off x="10754495" y="3031614"/>
            <a:ext cx="147937" cy="147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label111"/>
          <p:cNvSpPr txBox="1"/>
          <p:nvPr/>
        </p:nvSpPr>
        <p:spPr>
          <a:xfrm>
            <a:off x="2919071" y="1587947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2600" dirty="0"/>
          </a:p>
        </p:txBody>
      </p:sp>
      <p:sp>
        <p:nvSpPr>
          <p:cNvPr id="32" name="S05-label113"/>
          <p:cNvSpPr txBox="1"/>
          <p:nvPr/>
        </p:nvSpPr>
        <p:spPr>
          <a:xfrm>
            <a:off x="1143414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3" name="S05-label115"/>
          <p:cNvSpPr txBox="1"/>
          <p:nvPr/>
        </p:nvSpPr>
        <p:spPr>
          <a:xfrm>
            <a:off x="2757273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4" name="S05-label117"/>
          <p:cNvSpPr txBox="1"/>
          <p:nvPr/>
        </p:nvSpPr>
        <p:spPr>
          <a:xfrm>
            <a:off x="4371133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5" name="S05-label119"/>
          <p:cNvSpPr txBox="1"/>
          <p:nvPr/>
        </p:nvSpPr>
        <p:spPr>
          <a:xfrm>
            <a:off x="8512961" y="1587947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아니요</a:t>
            </a:r>
            <a:endParaRPr lang="ko-KR" sz="2600" dirty="0"/>
          </a:p>
        </p:txBody>
      </p:sp>
      <p:sp>
        <p:nvSpPr>
          <p:cNvPr id="36" name="S05-label121"/>
          <p:cNvSpPr txBox="1"/>
          <p:nvPr/>
        </p:nvSpPr>
        <p:spPr>
          <a:xfrm>
            <a:off x="7060899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7" name="S05-label123"/>
          <p:cNvSpPr txBox="1"/>
          <p:nvPr/>
        </p:nvSpPr>
        <p:spPr>
          <a:xfrm>
            <a:off x="8674759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8" name="S05-label125"/>
          <p:cNvSpPr txBox="1"/>
          <p:nvPr/>
        </p:nvSpPr>
        <p:spPr>
          <a:xfrm>
            <a:off x="10288618" y="3667873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빨간색인가요?</a:t>
            </a:r>
            <a:endParaRPr lang="ko-KR" sz="4400" dirty="0"/>
          </a:p>
        </p:txBody>
      </p:sp>
      <p:sp>
        <p:nvSpPr>
          <p:cNvPr id="3" name="S06-card126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27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‘예’ 무리와 ‘아니요’ 무리를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단추가 없나요?</a:t>
            </a:r>
            <a:endParaRPr lang="ko-KR" sz="3200" dirty="0"/>
          </a:p>
        </p:txBody>
      </p:sp>
      <p:sp>
        <p:nvSpPr>
          <p:cNvPr id="5" name="S06-figure128" descr="단추 6개: 가 빨강 구멍 4개, 나 파랑 구멍 2개, 다 노랑 구멍 4개, 라 빨강 구멍 2개, 마 파랑 구멍 4개, 바 노랑 구멍 2개. 단추 아래에 이름표와 색 이름이 적혀 있다."/>
          <p:cNvSpPr/>
          <p:nvPr/>
        </p:nvSpPr>
        <p:spPr>
          <a:xfrm>
            <a:off x="647700" y="2096079"/>
            <a:ext cx="1281594" cy="1281594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6-mark129"/>
          <p:cNvSpPr/>
          <p:nvPr/>
        </p:nvSpPr>
        <p:spPr>
          <a:xfrm>
            <a:off x="1008148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mark130"/>
          <p:cNvSpPr/>
          <p:nvPr/>
        </p:nvSpPr>
        <p:spPr>
          <a:xfrm>
            <a:off x="1392627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mark131"/>
          <p:cNvSpPr/>
          <p:nvPr/>
        </p:nvSpPr>
        <p:spPr>
          <a:xfrm>
            <a:off x="1008148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mark132"/>
          <p:cNvSpPr/>
          <p:nvPr/>
        </p:nvSpPr>
        <p:spPr>
          <a:xfrm>
            <a:off x="1392627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mark133"/>
          <p:cNvSpPr/>
          <p:nvPr/>
        </p:nvSpPr>
        <p:spPr>
          <a:xfrm>
            <a:off x="2570092" y="2096079"/>
            <a:ext cx="1281594" cy="1281594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6-mark134"/>
          <p:cNvSpPr/>
          <p:nvPr/>
        </p:nvSpPr>
        <p:spPr>
          <a:xfrm>
            <a:off x="2930540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mark135"/>
          <p:cNvSpPr/>
          <p:nvPr/>
        </p:nvSpPr>
        <p:spPr>
          <a:xfrm>
            <a:off x="3315018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mark136"/>
          <p:cNvSpPr/>
          <p:nvPr/>
        </p:nvSpPr>
        <p:spPr>
          <a:xfrm>
            <a:off x="4492483" y="2096079"/>
            <a:ext cx="1281594" cy="1281594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4" name="S06-mark137"/>
          <p:cNvSpPr/>
          <p:nvPr/>
        </p:nvSpPr>
        <p:spPr>
          <a:xfrm>
            <a:off x="4852931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138"/>
          <p:cNvSpPr/>
          <p:nvPr/>
        </p:nvSpPr>
        <p:spPr>
          <a:xfrm>
            <a:off x="5237410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mark139"/>
          <p:cNvSpPr/>
          <p:nvPr/>
        </p:nvSpPr>
        <p:spPr>
          <a:xfrm>
            <a:off x="4852931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mark140"/>
          <p:cNvSpPr/>
          <p:nvPr/>
        </p:nvSpPr>
        <p:spPr>
          <a:xfrm>
            <a:off x="5237410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mark141"/>
          <p:cNvSpPr/>
          <p:nvPr/>
        </p:nvSpPr>
        <p:spPr>
          <a:xfrm>
            <a:off x="6414875" y="2096079"/>
            <a:ext cx="1281594" cy="1281594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9" name="S06-mark142"/>
          <p:cNvSpPr/>
          <p:nvPr/>
        </p:nvSpPr>
        <p:spPr>
          <a:xfrm>
            <a:off x="6775323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mark143"/>
          <p:cNvSpPr/>
          <p:nvPr/>
        </p:nvSpPr>
        <p:spPr>
          <a:xfrm>
            <a:off x="7159801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mark144"/>
          <p:cNvSpPr/>
          <p:nvPr/>
        </p:nvSpPr>
        <p:spPr>
          <a:xfrm>
            <a:off x="8337266" y="2096079"/>
            <a:ext cx="1281594" cy="1281594"/>
          </a:xfrm>
          <a:prstGeom prst="ellipse">
            <a:avLst/>
          </a:prstGeom>
          <a:solidFill>
            <a:srgbClr val="3D5A80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2" name="S06-mark145"/>
          <p:cNvSpPr/>
          <p:nvPr/>
        </p:nvSpPr>
        <p:spPr>
          <a:xfrm>
            <a:off x="8697715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mark146"/>
          <p:cNvSpPr/>
          <p:nvPr/>
        </p:nvSpPr>
        <p:spPr>
          <a:xfrm>
            <a:off x="9082193" y="2841006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mark147"/>
          <p:cNvSpPr/>
          <p:nvPr/>
        </p:nvSpPr>
        <p:spPr>
          <a:xfrm>
            <a:off x="8697715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mark148"/>
          <p:cNvSpPr/>
          <p:nvPr/>
        </p:nvSpPr>
        <p:spPr>
          <a:xfrm>
            <a:off x="9082193" y="245652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mark149"/>
          <p:cNvSpPr/>
          <p:nvPr/>
        </p:nvSpPr>
        <p:spPr>
          <a:xfrm>
            <a:off x="10259658" y="2096079"/>
            <a:ext cx="1281594" cy="1281594"/>
          </a:xfrm>
          <a:prstGeom prst="ellipse">
            <a:avLst/>
          </a:prstGeom>
          <a:solidFill>
            <a:srgbClr val="F2C1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7" name="S06-mark150"/>
          <p:cNvSpPr/>
          <p:nvPr/>
        </p:nvSpPr>
        <p:spPr>
          <a:xfrm>
            <a:off x="10620106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mark151"/>
          <p:cNvSpPr/>
          <p:nvPr/>
        </p:nvSpPr>
        <p:spPr>
          <a:xfrm>
            <a:off x="11004584" y="2648767"/>
            <a:ext cx="176219" cy="176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label153"/>
          <p:cNvSpPr txBox="1"/>
          <p:nvPr/>
        </p:nvSpPr>
        <p:spPr>
          <a:xfrm>
            <a:off x="910037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0" name="S06-label155"/>
          <p:cNvSpPr txBox="1"/>
          <p:nvPr/>
        </p:nvSpPr>
        <p:spPr>
          <a:xfrm>
            <a:off x="2832429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1" name="S06-label157"/>
          <p:cNvSpPr txBox="1"/>
          <p:nvPr/>
        </p:nvSpPr>
        <p:spPr>
          <a:xfrm>
            <a:off x="4754820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32" name="S06-label159"/>
          <p:cNvSpPr txBox="1"/>
          <p:nvPr/>
        </p:nvSpPr>
        <p:spPr>
          <a:xfrm>
            <a:off x="6677212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ko-KR" sz="2600" dirty="0"/>
          </a:p>
        </p:txBody>
      </p:sp>
      <p:sp>
        <p:nvSpPr>
          <p:cNvPr id="33" name="S06-label161"/>
          <p:cNvSpPr txBox="1"/>
          <p:nvPr/>
        </p:nvSpPr>
        <p:spPr>
          <a:xfrm>
            <a:off x="8599603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ko-KR" sz="2600" dirty="0"/>
          </a:p>
        </p:txBody>
      </p:sp>
      <p:sp>
        <p:nvSpPr>
          <p:cNvPr id="34" name="S06-label163"/>
          <p:cNvSpPr txBox="1"/>
          <p:nvPr/>
        </p:nvSpPr>
        <p:spPr>
          <a:xfrm>
            <a:off x="10521995" y="3485571"/>
            <a:ext cx="7569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기준이 좋을까요?</a:t>
            </a:r>
            <a:endParaRPr lang="ko-KR" sz="4400" dirty="0"/>
          </a:p>
        </p:txBody>
      </p:sp>
      <p:sp>
        <p:nvSpPr>
          <p:cNvPr id="3" name="S07-card1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과일을 두 무리로 나누려고 해요.</a:t>
            </a:r>
            <a:endParaRPr lang="ko-KR" sz="3200" dirty="0"/>
          </a:p>
        </p:txBody>
      </p:sp>
      <p:sp>
        <p:nvSpPr>
          <p:cNvPr id="5" name="S07-card1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나눠도 똑같이 나뉘는 기준은? 왜요?</a:t>
            </a:r>
            <a:endParaRPr lang="ko-KR" sz="3200" dirty="0"/>
          </a:p>
        </p:txBody>
      </p:sp>
      <p:sp>
        <p:nvSpPr>
          <p:cNvPr id="7" name="S07-chip1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1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“맛있는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과일인가요?”</a:t>
            </a:r>
            <a:endParaRPr lang="ko-KR" sz="3200" dirty="0"/>
          </a:p>
        </p:txBody>
      </p:sp>
      <p:sp>
        <p:nvSpPr>
          <p:cNvPr id="9" name="S07-chip1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1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“껍질이 노란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과일인가요?”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 나누기</a:t>
            </a:r>
            <a:endParaRPr lang="ko-KR" sz="4400" dirty="0"/>
          </a:p>
        </p:txBody>
      </p:sp>
      <p:sp>
        <p:nvSpPr>
          <p:cNvPr id="3" name="S08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작은 단추는 입에 넣지 않아요.</a:t>
            </a:r>
            <a:endParaRPr lang="ko-KR" sz="3200" dirty="0"/>
          </a:p>
        </p:txBody>
      </p:sp>
      <p:sp>
        <p:nvSpPr>
          <p:cNvPr id="5" name="S08-card174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175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나누고 나서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“~인가요?”로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남은 물건이 없어요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엄마(아빠)와 같아요</a:t>
            </a:r>
            <a:endParaRPr lang="ko-KR" sz="3200" dirty="0"/>
          </a:p>
        </p:txBody>
      </p:sp>
      <p:sp>
        <p:nvSpPr>
          <p:cNvPr id="7" name="S08-stepno176"/>
          <p:cNvSpPr txBox="1"/>
          <p:nvPr/>
        </p:nvSpPr>
        <p:spPr>
          <a:xfrm>
            <a:off x="548640" y="1436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177"/>
          <p:cNvSpPr txBox="1"/>
          <p:nvPr/>
        </p:nvSpPr>
        <p:spPr>
          <a:xfrm>
            <a:off x="1325880" y="14361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단추나 블록 8개를 모아요.</a:t>
            </a:r>
            <a:endParaRPr lang="ko-KR" sz="3200" dirty="0"/>
          </a:p>
        </p:txBody>
      </p:sp>
      <p:sp>
        <p:nvSpPr>
          <p:cNvPr id="9" name="S08-stepno178"/>
          <p:cNvSpPr txBox="1"/>
          <p:nvPr/>
        </p:nvSpPr>
        <p:spPr>
          <a:xfrm>
            <a:off x="548640" y="2149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179"/>
          <p:cNvSpPr txBox="1"/>
          <p:nvPr/>
        </p:nvSpPr>
        <p:spPr>
          <a:xfrm>
            <a:off x="1325880" y="21493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질문을 하나 정해요.</a:t>
            </a:r>
            <a:endParaRPr lang="ko-KR" sz="3200" dirty="0"/>
          </a:p>
        </p:txBody>
      </p:sp>
      <p:sp>
        <p:nvSpPr>
          <p:cNvPr id="11" name="S08-stepno180"/>
          <p:cNvSpPr txBox="1"/>
          <p:nvPr/>
        </p:nvSpPr>
        <p:spPr>
          <a:xfrm>
            <a:off x="548640" y="2908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181"/>
          <p:cNvSpPr txBox="1"/>
          <p:nvPr/>
        </p:nvSpPr>
        <p:spPr>
          <a:xfrm>
            <a:off x="1325880" y="286258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‘예’, ‘아니요’ 접시에 나눠요.</a:t>
            </a:r>
            <a:endParaRPr lang="ko-KR" sz="3200" dirty="0"/>
          </a:p>
        </p:txBody>
      </p:sp>
      <p:sp>
        <p:nvSpPr>
          <p:cNvPr id="13" name="S08-stepno182"/>
          <p:cNvSpPr txBox="1"/>
          <p:nvPr/>
        </p:nvSpPr>
        <p:spPr>
          <a:xfrm>
            <a:off x="548640" y="4064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8-text183"/>
          <p:cNvSpPr txBox="1"/>
          <p:nvPr/>
        </p:nvSpPr>
        <p:spPr>
          <a:xfrm>
            <a:off x="1325880" y="401878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엄마(아빠)도 같은 기준으로 나눠요.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기준 고르기</a:t>
            </a:r>
            <a:endParaRPr lang="ko-KR" sz="4400" dirty="0"/>
          </a:p>
        </p:txBody>
      </p:sp>
      <p:sp>
        <p:nvSpPr>
          <p:cNvPr id="3" name="S09-text1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나눠도 똑같이 나뉘는 기준은?</a:t>
            </a:r>
            <a:endParaRPr lang="ko-KR" sz="3200" dirty="0"/>
          </a:p>
        </p:txBody>
      </p:sp>
      <p:sp>
        <p:nvSpPr>
          <p:cNvPr id="4" name="S09-card1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1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200" dirty="0"/>
          </a:p>
        </p:txBody>
      </p:sp>
      <p:sp>
        <p:nvSpPr>
          <p:cNvPr id="6" name="S09-chip18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18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18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단추인가요?</a:t>
            </a:r>
            <a:endParaRPr lang="ko-KR" sz="3200" dirty="0"/>
          </a:p>
        </p:txBody>
      </p:sp>
      <p:sp>
        <p:nvSpPr>
          <p:cNvPr id="9" name="S09-chip19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19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19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구멍이 2개인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단추인가요?</a:t>
            </a:r>
            <a:endParaRPr lang="ko-KR" sz="3200" dirty="0"/>
          </a:p>
        </p:txBody>
      </p:sp>
      <p:sp>
        <p:nvSpPr>
          <p:cNvPr id="12" name="S09-chip19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19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19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좋아하는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색인가요?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동물을 나눠요</a:t>
            </a:r>
            <a:endParaRPr lang="ko-KR" sz="4400" dirty="0"/>
          </a:p>
        </p:txBody>
      </p:sp>
      <p:sp>
        <p:nvSpPr>
          <p:cNvPr id="3" name="S10-card196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97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다리가 4개인가요?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‘예’ 무리와 ‘아니요’ 무리를 말해요.</a:t>
            </a:r>
            <a:endParaRPr lang="ko-KR" sz="3200" dirty="0"/>
          </a:p>
        </p:txBody>
      </p:sp>
      <p:sp>
        <p:nvSpPr>
          <p:cNvPr id="5" name="S10-word198"/>
          <p:cNvSpPr txBox="1"/>
          <p:nvPr/>
        </p:nvSpPr>
        <p:spPr>
          <a:xfrm>
            <a:off x="548640" y="132588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600" dirty="0"/>
          </a:p>
        </p:txBody>
      </p:sp>
      <p:sp>
        <p:nvSpPr>
          <p:cNvPr id="6" name="S10-word199"/>
          <p:cNvSpPr txBox="1"/>
          <p:nvPr/>
        </p:nvSpPr>
        <p:spPr>
          <a:xfrm>
            <a:off x="4337304" y="132588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</a:t>
            </a:r>
            <a:endParaRPr lang="ko-KR" sz="3600" dirty="0"/>
          </a:p>
        </p:txBody>
      </p:sp>
      <p:sp>
        <p:nvSpPr>
          <p:cNvPr id="7" name="S10-word200"/>
          <p:cNvSpPr txBox="1"/>
          <p:nvPr/>
        </p:nvSpPr>
        <p:spPr>
          <a:xfrm>
            <a:off x="8125968" y="132588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600" dirty="0"/>
          </a:p>
        </p:txBody>
      </p:sp>
      <p:sp>
        <p:nvSpPr>
          <p:cNvPr id="8" name="S10-word201"/>
          <p:cNvSpPr txBox="1"/>
          <p:nvPr/>
        </p:nvSpPr>
        <p:spPr>
          <a:xfrm>
            <a:off x="548640" y="313436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</a:t>
            </a:r>
            <a:endParaRPr lang="ko-KR" sz="3600" dirty="0"/>
          </a:p>
        </p:txBody>
      </p:sp>
      <p:sp>
        <p:nvSpPr>
          <p:cNvPr id="9" name="S10-word202"/>
          <p:cNvSpPr txBox="1"/>
          <p:nvPr/>
        </p:nvSpPr>
        <p:spPr>
          <a:xfrm>
            <a:off x="4337304" y="313436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</a:t>
            </a:r>
            <a:endParaRPr lang="ko-KR" sz="3600" dirty="0"/>
          </a:p>
        </p:txBody>
      </p:sp>
      <p:sp>
        <p:nvSpPr>
          <p:cNvPr id="10" name="S10-word203"/>
          <p:cNvSpPr txBox="1"/>
          <p:nvPr/>
        </p:nvSpPr>
        <p:spPr>
          <a:xfrm>
            <a:off x="8125968" y="3134360"/>
            <a:ext cx="3514344" cy="1534160"/>
          </a:xfrm>
          <a:prstGeom prst="roundRect">
            <a:avLst>
              <a:gd name="adj" fmla="val 834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2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기준은 ‘예’, ‘아니요’로 답이 분명한 질문이에요.</a:t>
            </a:r>
            <a:endParaRPr lang="ko-KR" sz="3200" dirty="0"/>
          </a:p>
        </p:txBody>
      </p:sp>
      <p:sp>
        <p:nvSpPr>
          <p:cNvPr id="5" name="S11-chip20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20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S09 나</a:t>
            </a:r>
            <a:endParaRPr lang="ko-KR" sz="3200" dirty="0"/>
          </a:p>
        </p:txBody>
      </p:sp>
      <p:sp>
        <p:nvSpPr>
          <p:cNvPr id="7" name="S11-text20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 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같아요</a:t>
            </a:r>
            <a:endParaRPr lang="ko-KR" sz="2600" dirty="0"/>
          </a:p>
        </p:txBody>
      </p:sp>
      <p:sp>
        <p:nvSpPr>
          <p:cNvPr id="8" name="S11-text20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강아지,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고양이, 소</a:t>
            </a:r>
            <a:endParaRPr lang="ko-KR" sz="2600" dirty="0"/>
          </a:p>
        </p:txBody>
      </p:sp>
      <p:sp>
        <p:nvSpPr>
          <p:cNvPr id="9" name="S11-text21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4개</a:t>
            </a:r>
            <a:endParaRPr lang="ko-KR" sz="2600" dirty="0"/>
          </a:p>
        </p:txBody>
      </p:sp>
      <p:sp>
        <p:nvSpPr>
          <p:cNvPr id="10" name="S11-text211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아니요: 닭,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참새, 오리</a:t>
            </a:r>
            <a:endParaRPr lang="ko-KR" sz="2600" dirty="0"/>
          </a:p>
        </p:txBody>
      </p:sp>
      <p:sp>
        <p:nvSpPr>
          <p:cNvPr id="11" name="S11-text212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2개</a:t>
            </a:r>
            <a:endParaRPr lang="ko-KR" sz="2600" dirty="0"/>
          </a:p>
        </p:txBody>
      </p:sp>
      <p:sp>
        <p:nvSpPr>
          <p:cNvPr id="12" name="S11-chip21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21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“예쁜가요?”</a:t>
            </a:r>
            <a:endParaRPr lang="ko-KR" sz="3200" dirty="0"/>
          </a:p>
        </p:txBody>
      </p:sp>
      <p:sp>
        <p:nvSpPr>
          <p:cNvPr id="14" name="S11-text21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달라요</a:t>
            </a:r>
            <a:endParaRPr lang="ko-KR" sz="2600" dirty="0"/>
          </a:p>
        </p:txBody>
      </p:sp>
      <p:sp>
        <p:nvSpPr>
          <p:cNvPr id="15" name="S11-text21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동물</a:t>
            </a:r>
            <a:endParaRPr lang="ko-KR" sz="3200" dirty="0"/>
          </a:p>
        </p:txBody>
      </p:sp>
      <p:sp>
        <p:nvSpPr>
          <p:cNvPr id="16" name="S11-text21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넣어요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21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1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‘~인가요?’ 질문 하나로 정하면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똑같이 두 무리로 나눌 수 있어요.</a:t>
            </a:r>
            <a:endParaRPr lang="ko-KR" sz="3200" dirty="0"/>
          </a:p>
        </p:txBody>
      </p:sp>
      <p:sp>
        <p:nvSpPr>
          <p:cNvPr id="5" name="S12-chip22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‘~인가요?’로 기준 정하기</a:t>
            </a:r>
            <a:endParaRPr lang="ko-KR" sz="2600" dirty="0"/>
          </a:p>
        </p:txBody>
      </p:sp>
      <p:sp>
        <p:nvSpPr>
          <p:cNvPr id="6" name="S12-chip22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“예쁜가요?” 같은 기준</a:t>
            </a:r>
            <a:endParaRPr lang="ko-KR" sz="2600" dirty="0"/>
          </a:p>
        </p:txBody>
      </p:sp>
      <p:sp>
        <p:nvSpPr>
          <p:cNvPr id="7" name="S12-text22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22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나누는 까닭이 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이름은?</a:t>
            </a:r>
            <a:endParaRPr lang="ko-KR" sz="2600" dirty="0"/>
          </a:p>
        </p:txBody>
      </p:sp>
      <p:sp>
        <p:nvSpPr>
          <p:cNvPr id="9" name="S12-text22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“맛있나요?”는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기준일까요?</a:t>
            </a:r>
            <a:endParaRPr lang="ko-KR" sz="2600" dirty="0"/>
          </a:p>
        </p:txBody>
      </p:sp>
      <p:sp>
        <p:nvSpPr>
          <p:cNvPr id="10" name="S12-text22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다리가 4개인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하나는?</a:t>
            </a:r>
            <a:endParaRPr lang="ko-KR" sz="2600" dirty="0"/>
          </a:p>
        </p:txBody>
      </p:sp>
      <p:sp>
        <p:nvSpPr>
          <p:cNvPr id="11" name="S12-text22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계절과 날씨 기록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것끼리</a:t>
            </a:r>
            <a:endParaRPr lang="ko-KR" sz="4400" dirty="0"/>
          </a:p>
        </p:txBody>
      </p:sp>
      <p:sp>
        <p:nvSpPr>
          <p:cNvPr id="3" name="S13-text2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모양끼리 모아요.</a:t>
            </a:r>
            <a:endParaRPr lang="ko-KR" sz="3200" dirty="0"/>
          </a:p>
        </p:txBody>
      </p:sp>
      <p:sp>
        <p:nvSpPr>
          <p:cNvPr id="4" name="S13-card2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2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동그라미끼리, 네모끼리 모아 봐요.</a:t>
            </a:r>
            <a:endParaRPr lang="ko-KR" sz="3200" dirty="0"/>
          </a:p>
        </p:txBody>
      </p:sp>
      <p:sp>
        <p:nvSpPr>
          <p:cNvPr id="6" name="S13-figure230" descr="circle"/>
          <p:cNvSpPr/>
          <p:nvPr/>
        </p:nvSpPr>
        <p:spPr>
          <a:xfrm>
            <a:off x="859207" y="2698980"/>
            <a:ext cx="1597201" cy="159720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3-figure231" descr="square"/>
          <p:cNvSpPr/>
          <p:nvPr/>
        </p:nvSpPr>
        <p:spPr>
          <a:xfrm>
            <a:off x="3077541" y="2698980"/>
            <a:ext cx="1597201" cy="159720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3-figure232" descr="circle"/>
          <p:cNvSpPr/>
          <p:nvPr/>
        </p:nvSpPr>
        <p:spPr>
          <a:xfrm>
            <a:off x="5295876" y="2698980"/>
            <a:ext cx="1597201" cy="159720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3-figure233" descr="square"/>
          <p:cNvSpPr/>
          <p:nvPr/>
        </p:nvSpPr>
        <p:spPr>
          <a:xfrm>
            <a:off x="7514210" y="2698980"/>
            <a:ext cx="1597201" cy="159720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3-figure234" descr="circle"/>
          <p:cNvSpPr/>
          <p:nvPr/>
        </p:nvSpPr>
        <p:spPr>
          <a:xfrm>
            <a:off x="9732544" y="2698980"/>
            <a:ext cx="1597201" cy="159720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과학 한 가지 기준으로 나누기</dc:title>
  <dc:subject>KR22-G01-SCI-SORT-L01</dc:subject>
  <dc:creator>education-ppt</dc:creator>
  <cp:lastModifiedBy>education-ppt</cp:lastModifiedBy>
  <cp:revision>1</cp:revision>
  <dcterms:created xsi:type="dcterms:W3CDTF">2026-10-26T13:07:18Z</dcterms:created>
  <dcterms:modified xsi:type="dcterms:W3CDTF">2026-10-26T13:07:18Z</dcterms:modified>
</cp:coreProperties>
</file>