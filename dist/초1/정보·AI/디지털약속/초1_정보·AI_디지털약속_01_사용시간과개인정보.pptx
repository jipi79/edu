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42d6bb94-22ac-e19e-f833-7af683a5b7a5}">
          <p14:sldIdLst>
            <p14:sldId id="256"/>
            <p14:sldId id="257"/>
          </p14:sldIdLst>
        </p14:section>
        <p14:section name="개념" id="{8c29933e-7d0b-59b7-b005-a3011c3765f3}">
          <p14:sldIdLst>
            <p14:sldId id="258"/>
            <p14:sldId id="259"/>
            <p14:sldId id="261"/>
            <p14:sldId id="262"/>
          </p14:sldIdLst>
        </p14:section>
        <p14:section name="연습" id="{8472a894-e946-aa45-c661-7bd9f5aeefed}">
          <p14:sldIdLst>
            <p14:sldId id="260"/>
            <p14:sldId id="263"/>
            <p14:sldId id="264"/>
          </p14:sldIdLst>
        </p14:section>
        <p14:section name="개념" id="{0ef59bb6-5644-b2fd-c536-1395e6aa5170}">
          <p14:sldIdLst/>
        </p14:section>
        <p14:section name="연습" id="{fc2db8aa-6d1d-2815-73bb-5d6a4e299ee5}">
          <p14:sldIdLst/>
        </p14:section>
        <p14:section name="확인" id="{76bc376e-4613-bcff-b325-0660dcfe2065}">
          <p14:sldIdLst>
            <p14:sldId id="265"/>
            <p14:sldId id="266"/>
            <p14:sldId id="267"/>
          </p14:sldIdLst>
        </p14:section>
        <p14:section name="정리" id="{3124fe68-37ae-73af-52b4-ca50375efd5e}">
          <p14:sldIdLst>
            <p14:sldId id="268"/>
          </p14:sldIdLst>
        </p14:section>
        <p14:section name="보충" id="{f10b72b5-614c-c1ab-f0d3-95f7bd438f01}">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할 일을 알리고, 기기를 쓸 때의 약속을 떠올리게 합니다.
시간: 약 2분
이렇게 말해 보세요
- “텔레비전이나 태블릿을 볼 때 우리 집에는 어떤 약속이 있지? 오늘은 기기를 쓸 때 지킬 약속 두 가지를 배울 거야. 하나는 시간 약속, 하나는 나를 지키는 약속이야.”
예상 답
- “밥 먹을 때는 안 봐요.” / “약속 없어요.”
주의
- 아이를 혼내거나 겁주는 시간이 아니라 함께 약속을 정하는 시간이라는 것을 먼저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확인(기기를 쓰는 차례)]
목적: 앞 정보 차시 ‘디지털 기기와 순서’에서 배운 기기 사용 차례(묻기 → 켜기 → 쓰기 → 끄기)를 기억하는지 확인합니다. 오늘 배우는 사용 시간 약속은 ‘끄기’와 이어집니다. 이 차시는 계획상 선수 차시가 따로 없으므로, 앞 차시를 하지 않았다면 두 물음의 답을 함께 정리하고 넘어갑니다.
시간: 약 3분
이렇게 말해 보세요
- “기기를 쓰기 전에 무엇을 해야 했지? 다 쓰면?”
정답
- ① 어른께 “써도 돼요?” 하고 물어요. ② 끄고 제자리에 둬요.
막히면
- 앞 차시를 했다면 그 활동지의 ‘다음 수업을 시작할 때’를 함께 봅니다.
- 기기를 쓰는 차례를 거의 말하지 못하면 S14(보충)를 먼저 합니다.
주의
- ‘다 쓰면 끈다’는 말이 나오면 “그럼 언제가 ‘다 쓴’ 때일까?”라고 물어 오늘의 시간 약속으로 이어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시간 약속이 필요한 까닭]
목적: 기기 사용 시간 약속이 왜 필요한지 눈·몸·할 일 세 가지로 알려 줍니다(목표 A).
시간: 약 3분
이렇게 말해 보세요
- “영상을 오래 보면 눈이 어때? 뛰어놀 시간이나 잘 시간은 어떻게 될까?”
- “그래서 얼마나 쓸지 미리 정해. 그리고 시간이 끝나면 누가 끄면 좋을까?”
예상 답
- “눈이 아파요.” “늦게 자요.” “제가 꺼요.”
막히면
- 아이가 오래 보고 난 뒤 눈을 비빈 적이나 늦게 잔 날을 떠올리게 합니다.
주의
- 기기를 나쁜 것으로 말하지 않습니다. 좋은 것도 시간을 정해 쓰면 더 좋다는 말투로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사용 시간 약속의 예]
목적: 사용 시간 약속에는 언제·얼마나·끝나면 어떻게가 들어간다는 것을 예로 보여 줍니다(목표 A, 오해 M1).
시간: 약 3분
이렇게 말해 보세요
- “하준이네는 언제, 얼마나, 끝나면 어떻게 할지를 정했어. 표에서 찾아볼까?”
- “‘타이머가 울릴 때까지’는 왜 좋을까?”
예상 답
- “숙제를 마친 뒤에요.” “시계를 안 봐도 알 수 있어요.”
막히면
- ‘언제·얼마나·끝나면’을 손가락 세 개로 짚으며 표에서 하나씩 찾게 합니다.
주의
- ‘얼마나’는 집마다 다릅니다. 1학년은 ‘몇 분’보다 타이머나 시계의 긴바늘 위치로 정하면 지키기 쉽습니다.
- 부모도 함께 지킬 약속(예: 밥 먹을 때 휴대 전화 보지 않기)을 하나 정하면 아이가 더 잘 지킵니다.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시간이 끝났을 때 고르고 까닭 말하기]
목적: 약속한 시간이 끝났을 때의 여러 행동을 비교하고 내 선택과 까닭을 말합니다(목표 A, 오해 M2).
시간: 약 4분
이렇게 말해 보세요
- “더 보고 싶은 마음, 엄마(아빠)도 알아. 가, 나, 다처럼 하면 각각 어떻게 될까?”
- “너라면 어떻게 할래? 왜?”
- “나처럼 하고 싶을 때가 많다면, 약속에 무엇을 더 넣으면 좋을까?”
예상 답
- “다요. 약속했으니까요.” / “나요. 끝까지 보고 싶어요.” / “끝나기 전에 미리 알려 주면 좋겠어요.”
정답
- 다는 약속을 지켜 스스로 끄는 행동입니다. 나는 솔직하게 말하는 방법이지만, 약속에 미리 정해 두지 않았다면 약속을 바꾸는 것입니다. 이럴 때를 위해 ‘타이머가 울리기 전에 미리 알려 주기’ 같은 방법을 S10에서 약속에 넣을 수 있습니다. 가는 약속을 지키지 않아 가족이 믿기 어렵고 눈과 몸도 쉬지 못합니다. 약속, 몸, 가족의 믿음과 관련된 까닭을 말하면 잘한 것입니다.
막히면
- “엄마가 ‘5분만 더’ 하고 계속 휴대 전화를 보면 너는 어떤 마음이 들까?”라고 입장을 바꾸어 묻습니다.
주의
- 더 보고 싶은 마음은 자연스럽습니다. 나를 고른 아이를 나무라지 않고, 약속을 미리 정하는 쪽으로 이어 갑니다.
- 아이가 지치면 여기서 쉬고, 다음 날 S06부터 이어도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개인정보 알기]
목적: 나를 알 수 있는 정보(개인정보)인 이름·주소·전화번호·사진을 알려 줍니다(목표 B, 오해 M3).
시간: 약 3분
이렇게 말해 보세요
- “이 네 가지를 모르는 사람이 알면, 그 사람이 너를 찾아오거나 너인 척할 수 있어. 그래서 이런 정보를 ‘개인정보’라고 하고 소중하게 지켜.”
- “사진에는 무엇이 보이면 나를 알 수 있을까?”
예상 답
- “얼굴이요.” “학교 이름이 보이는 옷이요.” “우리 집 앞이요.”
막히면
- “모르는 사람이 우리 집 주소를 알면 어떻게 될까?”처럼 하나씩 물어봅니다.
주의
- 겁을 주기보다 ‘소중한 것을 지키는 방법’으로 말합니다. 학교 이름, 다니는 학원, 사는 동네도 나를 찾을 수 있는 정보라고 덧붙입니다.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모르는 사람이 물을 때 하는 일]
목적: 온라인에서 모르는 사람이 개인정보를 물을 때 할 일 세 가지를 차례대로 알려 줍니다(목표 B, 오해 M4).
시간: 약 3분
이렇게 말해 보세요
- “온라인은 기기로 다른 사람과 이어지는 곳이야. 게임이나 영상에서 모르는 사람이 말을 걸 수도 있어.”
- “그 사람이 이름이나 사는 곳을 물으면 이렇게 해. 알려 주지 않고, 대답하지 말고 그만하고, 엄마·아빠나 선생님께 말해.”
- “엄마(아빠)가 약속할게. 네가 말해 주면 절대 혼내지 않을 거야. 말해 줘서 고맙다고 할 거야.”
예상 답
- “알려 주지 않아요. 엄마한테 말해요.”
막히면
- 세 단계를 손가락으로 세며 ‘안 알려 줘요, 그만해요, 말해요’처럼 짧게 따라 말하게 합니다.
주의
- 믿을 수 있는 어른은 엄마·아빠·선생님처럼 아이가 평소 아는 어른입니다. 온라인에서 만난 ‘친절한 사람’은 모르는 사람이라는 것을 짚어 줍니다(M3).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모르는 사람이 물을 때 고르고 까닭 말하기]
목적: 모르는 사람이 개인정보를 묻는 상황에서 여러 행동을 비교하고 내 선택과 까닭을 말합니다(목표 B, 오해 M3).
시간: 약 4분
이렇게 말해 보세요
- “가처럼 알려 주면 그 사람은 무엇을 알게 될까?”
- “다는 사는 곳을 알려 주지 않았어. 그런데 계속 이야기하면 어떤 일이 생길 수 있을까?”
- “너라면 어떻게 할래? 왜?”
예상 답
- “나요. 엄마가 도와줄 수 있으니까요.” / “다요. 비밀이라고 했으니까 괜찮아요.”
정답
- 나. 알려 주지 않고 그만한 뒤 어른에게 알리는 행동입니다. 다는 정보를 지켰지만, 모르는 사람과 이야기를 이어 가면 또 묻거나 사진을 달라는 등 다른 것을 부탁할 수 있어 위험합니다. 가는 나를 찾아올 수 있는 정보를 알려 준 것입니다. ‘나를 찾아올 수 있어서’, ‘어른이 도와줄 수 있어서’처럼 나를 지키는 것과 관련된 까닭을 말하면 잘한 것입니다.
막히면
- “길에서 모르는 어른이 ‘너 어디 살아?’ 하고 물으면 어떻게 하기로 했지? 온라인도 똑같아.”라고 이어 줍니다.
주의
- 다를 고르면 ‘정보를 지킨 것’은 칭찬하고, 대화를 그만하고 어른에게 말하는 것까지 해야 안전하다고 덧붙입니다.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개인정보 구별하기]
목적: 나를 찾을 수 있는 정보(개인정보)와 그렇지 않은 것을 구별합니다(목표 B).
시간: 약 3분
이렇게 말해 보세요
- “①부터 하나씩 볼까? 모르는 사람이 이것을 알면 너를 찾아올 수 있을까?”
정답
- 개인정보: ① 우리 집 주소 ③ 엄마 전화번호 ④ 내 얼굴 사진 / 개인정보가 아닌 것: ② 좋아하는 색
- 좋아하는 색만으로는 나를 찾을 수 없지만, 모르는 사람과는 이야기를 이어 가지 않는 것이 가장 좋습니다.
막히면
- “엄마 전화번호는 엄마 정보인데, 왜 나를 찾을 수 있을까?”라고 물어 가족의 정보도 나를 찾는 길이 된다는 것을 생각하게 합니다.
주의
- 아이가 ‘좋아하는 색도 안 알려 줄래요’라고 하면 조심하는 마음을 칭찬합니다.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우리 집 사용 약속 정하기]
목적: 아이와 부모가 함께 우리 집 기기 사용 약속을 정하고, 아이가 약속의 까닭을 말하는지 확인합니다(목표 A·B, 오해 M1). 활동지 3에 쓰고, 활동지 4의 실천 기록표에 며칠 동안 표시합니다.
시간: 약 5분
이렇게 말해 보세요
- “우리 집 약속을 같이 정해 볼까? 언제 쓰면 좋을까? 얼마나? 타이머가 울리면 어떻게 할래?”
- “모르는 사람이 정보를 물으면 어떻게 하기로 할까?”
- “왜 이렇게 약속했는지 말해 줄래?”
예상 답
- “숙제하고 나서, 타이머가 울릴 때까지, 울리면 내가 끌게요. 눈이 쉬어야 하니까요.” / “모르는 사람이 물으면 엄마한테 보여 줄게요.”
정답
- 기준: 언제·얼마나·끝나면 어떻게가 모두 들어가고 아이가 까닭을 말하면 약속 세우기 완료입니다. 시간의 길이는 정답이 없습니다(집마다 정함). 정보 약속에는 ‘알려 주지 않기’와 ‘어른에게 말하기’가 들어가면 좋습니다.
막히면
- “밥 먹기 전? 숙제한 뒤?”, “타이머 한 번? 긴바늘이 6에 갈 때까지?”처럼 고를 수 있게 물어 줍니다. 도움을 받아 정했다면 기록표에 ‘도움’으로 표시합니다.
주의
- 부모가 정한 약속을 일방적으로 알려 주지 말고, 아이의 의견을 하나 이상 넣습니다. 끝나기 전에 미리 알려 주기(‘곧 울릴 거야’)처럼 아이가 지키기 쉬운 방법을 함께 넣어도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해 보기(처음 보는 상황)]
목적: 처음 보는 상황에서 도움 없이 시간 약속과 개인정보 지키기에 맞는 행동과 까닭을 말하는지 확인합니다(목표 A·B).
시간: 약 3분
이렇게 말해 보세요
- “이번에는 엄마(아빠)가 도와주지 않을게. ①부터 너라면 어떻게 할지, 왜 그런지 말해 볼래?”
정답
- ① 스스로 끄고 제자리에 둬요. 약속이니까요(눈이 쉬어야 하니까요).
- ② 보내지 않고 대화를 그만한 뒤 어른에게 말해요. 사진으로 나를 알아보고 찾아올 수 있으니까요.
- ③ 알려 주지 않고 어른에게 말해요. 학교 이름을 알면 나를 찾아올 수 있으니까요.
- 판단 기준: ①은 스스로 끄기와 까닭, ②③은 ‘알려 주지 않기, 그만하기, 어른에게 말하기’ 가운데 두 가지 이상과 까닭을 말하면 목표 A·B 확인 완료입니다.
막히면
- 까닭을 말하지 못하면 “그 사람이 사진(학교 이름)을 알면 어떻게 될까?”라고 한 번만 도와주고 기록표에 ‘도움’으로 표시합니다.
주의
- ③에서 학교 이름을 알려 줘도 된다고 하면(M3) S06의 ‘사진’ 카드와 학교 이름을 다시 이야기합니다.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잘한 모습과 흔한 실수]
목적: 혼자 해 보기에서 아이가 한 말을 예와 비교하며 돌아봅니다.
시간: 약 2분
이렇게 말해 보세요
- “오늘 네가 말한 까닭 중에 가장 마음에 드는 건 뭐야?”
- “모르는 사람이 물으면 누구에게 말하기로 했지?”
예상 답
- “엄마, 아빠, 선생님이요.”
주의
- 이 장은 학생용 파일에서 빠집니다. 잘한 점을 먼저 두 가지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정리와 다음 복습]
목적: 핵심을 한 문장으로 정리하고 다음 수업 첫 5분에 할 복습을 알려 줍니다.
시간: 약 2분
이렇게 말해 보세요
- “오늘 배운 두 가지 약속을 말해 볼래?”
예상 답
- “시간이 끝나면 내가 꺼요. 모르는 사람한테 내 정보를 안 알려 줘요.”
정답
- ① 이름, 주소, 전화번호, 사진 ② 알려 주지 않고, 그만하고, 믿을 수 있는 어른에게 말해요 ③ 기록표에서 스스로 끈 날을 보며 그때 어땠는지 말하면 맞음
주의
- 약속표를 기기 가까이에 붙여 두고, 실천 기록표는 다음 수업 전까지 날마다 함께 표시합니다. 못 지킨 날은 나무라지 않고 ‘내일 다시 해 보자’라고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보충(타이머를 넣은 기기 사용 차례)]
목적: S02에서 기기를 쓰는 차례를 말하지 못하면, 타이머를 넣은 차례로 다시 익힙니다.
시간: 약 5분
이렇게 말해 보세요
- “기기를 쓸 때 차례를 다시 볼까? 맨 처음에는 ‘써도 돼요?’ 하고 물어.”
- “타이머를 1분으로 맞추고, 그림책을 보다가 울리면 덮어 보자. 기기 대신 연습하는 거야.”
정답
- 묻기 → 켜기 → 타이머 맞추기 → 쓰기 → 울리면 끄기를 차례대로 말하거나 해 보면 맞습니다.
막히면
- 타이머 소리를 아이가 직접 고르고 맞추게 하면 더 잘 지킵니다.
- 이 차시는 계획상 선수 차시가 없습니다. 기기를 쓰는 차례를 처음 배우는 것이라면 앞 정보 차시 ‘디지털 기기와 순서’를 먼저 하면 좋습니다.
주의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5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50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2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2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초1 정보·AI · 디지털약속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초1 정보·AI · 사용 시간과 개인정보</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초1 정보·AI · 사용 시간과 개인정보</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초1 정보·AI · 사용 시간과 개인정보</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5000" b="1" dirty="0">
                <a:solidFill>
                  <a:srgbClr val="FFFFFF"/>
                </a:solidFill>
                <a:latin typeface="맑은 고딕" pitchFamily="34" charset="0"/>
                <a:ea typeface="맑은 고딕" pitchFamily="34" charset="-122"/>
                <a:cs typeface="맑은 고딕" pitchFamily="34" charset="-120"/>
              </a:rPr>
              <a:t>사용 시간과 개인정보</a:t>
            </a:r>
            <a:endParaRPr lang="ko-KR" sz="50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기기를 쓸 때</a:t>
            </a:r>
            <a:endParaRPr lang="ko-KR" sz="3200" dirty="0"/>
          </a:p>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어떤 약속이 필요할까?</a:t>
            </a:r>
            <a:endParaRPr lang="ko-KR" sz="3200" dirty="0"/>
          </a:p>
        </p:txBody>
      </p:sp>
      <p:sp>
        <p:nvSpPr>
          <p:cNvPr id="4" name="S01-card1"/>
          <p:cNvSpPr/>
          <p:nvPr/>
        </p:nvSpPr>
        <p:spPr>
          <a:xfrm>
            <a:off x="731520" y="4343400"/>
            <a:ext cx="10725912" cy="1783080"/>
          </a:xfrm>
          <a:prstGeom prst="roundRect">
            <a:avLst>
              <a:gd name="adj" fmla="val 6154"/>
            </a:avLst>
          </a:prstGeom>
          <a:solidFill>
            <a:srgbClr val="32606F"/>
          </a:solidFill>
          <a:ln w="12700">
            <a:solidFill>
              <a:srgbClr val="32606F"/>
            </a:solidFill>
            <a:prstDash val="solid"/>
          </a:ln>
        </p:spPr>
      </p:sp>
      <p:sp>
        <p:nvSpPr>
          <p:cNvPr id="5" name="S01-cardtext2"/>
          <p:cNvSpPr txBox="1"/>
          <p:nvPr/>
        </p:nvSpPr>
        <p:spPr>
          <a:xfrm>
            <a:off x="1005840" y="4480560"/>
            <a:ext cx="10177272"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FFFFFF"/>
                </a:solidFill>
                <a:latin typeface="맑은 고딕" pitchFamily="34" charset="0"/>
                <a:ea typeface="맑은 고딕" pitchFamily="34" charset="-122"/>
                <a:cs typeface="맑은 고딕" pitchFamily="34" charset="-120"/>
              </a:rPr>
              <a:t>오늘 할 수 있게 될 것</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① 사용 시간 약속을 지켜요.</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② 나의 정보를 지켜요.</a:t>
            </a:r>
            <a:endParaRPr lang="ko-K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기기 쓰는 차례 기억나요?</a:t>
            </a:r>
            <a:endParaRPr lang="ko-KR" sz="44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앞 시간에 배운 것을 말해요.</a:t>
            </a:r>
            <a:endParaRPr lang="ko-KR" sz="3200" dirty="0"/>
          </a:p>
        </p:txBody>
      </p:sp>
      <p:sp>
        <p:nvSpPr>
          <p:cNvPr id="4" name="S02-chip4"/>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02-text5"/>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기기를 쓰기 전에 무엇을 해요?</a:t>
            </a:r>
            <a:endParaRPr lang="ko-KR" sz="3200" dirty="0"/>
          </a:p>
        </p:txBody>
      </p:sp>
      <p:sp>
        <p:nvSpPr>
          <p:cNvPr id="6" name="S02-chip6"/>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02-text7"/>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기기를 다 쓰면 어떻게 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시간 약속이 필요해요</a:t>
            </a:r>
            <a:endParaRPr lang="ko-KR" sz="4400" dirty="0"/>
          </a:p>
        </p:txBody>
      </p:sp>
      <p:sp>
        <p:nvSpPr>
          <p:cNvPr id="3" name="S03-text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왜 시간을 정해서 쓸까요?</a:t>
            </a:r>
            <a:endParaRPr lang="ko-KR" sz="3200" dirty="0"/>
          </a:p>
        </p:txBody>
      </p:sp>
      <p:sp>
        <p:nvSpPr>
          <p:cNvPr id="4" name="S03-card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1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시간을 정해 쓰고, 끝나면 스스로 꺼요.</a:t>
            </a:r>
            <a:endParaRPr lang="ko-KR" sz="3200" dirty="0"/>
          </a:p>
        </p:txBody>
      </p:sp>
      <p:sp>
        <p:nvSpPr>
          <p:cNvPr id="6" name="S03-card11"/>
          <p:cNvSpPr/>
          <p:nvPr/>
        </p:nvSpPr>
        <p:spPr>
          <a:xfrm>
            <a:off x="548640" y="2468880"/>
            <a:ext cx="3544824" cy="2194560"/>
          </a:xfrm>
          <a:prstGeom prst="roundRect">
            <a:avLst>
              <a:gd name="adj" fmla="val 5000"/>
            </a:avLst>
          </a:prstGeom>
          <a:solidFill>
            <a:srgbClr val="EAF3F1"/>
          </a:solidFill>
          <a:ln w="12700">
            <a:solidFill>
              <a:srgbClr val="EAF3F1"/>
            </a:solidFill>
            <a:prstDash val="solid"/>
          </a:ln>
        </p:spPr>
      </p:sp>
      <p:sp>
        <p:nvSpPr>
          <p:cNvPr id="7" name="S03-cardtext12"/>
          <p:cNvSpPr txBox="1"/>
          <p:nvPr/>
        </p:nvSpPr>
        <p:spPr>
          <a:xfrm>
            <a:off x="822960"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눈</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눈도 쉬어야</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해요.</a:t>
            </a:r>
            <a:endParaRPr lang="ko-KR" sz="3200" dirty="0"/>
          </a:p>
        </p:txBody>
      </p:sp>
      <p:sp>
        <p:nvSpPr>
          <p:cNvPr id="8" name="S03-card13"/>
          <p:cNvSpPr/>
          <p:nvPr/>
        </p:nvSpPr>
        <p:spPr>
          <a:xfrm>
            <a:off x="4322064" y="2468880"/>
            <a:ext cx="3544824" cy="2194560"/>
          </a:xfrm>
          <a:prstGeom prst="roundRect">
            <a:avLst>
              <a:gd name="adj" fmla="val 5000"/>
            </a:avLst>
          </a:prstGeom>
          <a:solidFill>
            <a:srgbClr val="FDEBDD"/>
          </a:solidFill>
          <a:ln w="12700">
            <a:solidFill>
              <a:srgbClr val="FDEBDD"/>
            </a:solidFill>
            <a:prstDash val="solid"/>
          </a:ln>
        </p:spPr>
      </p:sp>
      <p:sp>
        <p:nvSpPr>
          <p:cNvPr id="9" name="S03-cardtext14"/>
          <p:cNvSpPr txBox="1"/>
          <p:nvPr/>
        </p:nvSpPr>
        <p:spPr>
          <a:xfrm>
            <a:off x="4596384"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몸</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뛰어놀고</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잠도 자요.</a:t>
            </a:r>
            <a:endParaRPr lang="ko-KR" sz="3200" dirty="0"/>
          </a:p>
        </p:txBody>
      </p:sp>
      <p:sp>
        <p:nvSpPr>
          <p:cNvPr id="10" name="S03-card15"/>
          <p:cNvSpPr/>
          <p:nvPr/>
        </p:nvSpPr>
        <p:spPr>
          <a:xfrm>
            <a:off x="8095488" y="2468880"/>
            <a:ext cx="3544824" cy="2194560"/>
          </a:xfrm>
          <a:prstGeom prst="roundRect">
            <a:avLst>
              <a:gd name="adj" fmla="val 5000"/>
            </a:avLst>
          </a:prstGeom>
          <a:solidFill>
            <a:srgbClr val="EAF3F1"/>
          </a:solidFill>
          <a:ln w="12700">
            <a:solidFill>
              <a:srgbClr val="EAF3F1"/>
            </a:solidFill>
            <a:prstDash val="solid"/>
          </a:ln>
        </p:spPr>
      </p:sp>
      <p:sp>
        <p:nvSpPr>
          <p:cNvPr id="11" name="S03-cardtext16"/>
          <p:cNvSpPr txBox="1"/>
          <p:nvPr/>
        </p:nvSpPr>
        <p:spPr>
          <a:xfrm>
            <a:off x="8369808" y="2606040"/>
            <a:ext cx="2996184" cy="192024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할 일</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숙제, 책 읽기도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해야 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하준이네 약속</a:t>
            </a:r>
            <a:endParaRPr lang="ko-KR" sz="4400" dirty="0"/>
          </a:p>
        </p:txBody>
      </p:sp>
      <p:sp>
        <p:nvSpPr>
          <p:cNvPr id="3" name="S04-text1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하준이는 가족과 함께 약속을 정했어요.</a:t>
            </a:r>
            <a:endParaRPr lang="ko-KR" sz="3200" dirty="0"/>
          </a:p>
        </p:txBody>
      </p:sp>
      <p:sp>
        <p:nvSpPr>
          <p:cNvPr id="4" name="S04-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약속은 가족이 함께 정하고, 모두 지켜요.</a:t>
            </a:r>
            <a:endParaRPr lang="ko-KR" sz="3200" dirty="0"/>
          </a:p>
        </p:txBody>
      </p:sp>
      <p:graphicFrame>
        <p:nvGraphicFramePr>
          <p:cNvPr id="5" name="S04-table20"/>
          <p:cNvGraphicFramePr>
            <a:graphicFrameLocks noGrp="1"/>
          </p:cNvGraphicFramePr>
          <p:nvPr>
            <p:extLst>
              <p:ext uri="{D42A27DB-BD31-4B8C-83A1-F6EECF244321}">
                <p14:modId xmlns:p14="http://schemas.microsoft.com/office/powerpoint/2010/main" val="1579011935"/>
              </p:ext>
            </p:extLst>
          </p:nvPr>
        </p:nvGraphicFramePr>
        <p:xfrm>
          <a:off x="1065276" y="2680335"/>
          <a:ext cx="10058400" cy="914400"/>
        </p:xfrm>
        <a:graphic>
          <a:graphicData uri="http://schemas.openxmlformats.org/drawingml/2006/table">
            <a:tbl>
              <a:tblPr/>
              <a:tblGrid>
                <a:gridCol w="2414016"/>
                <a:gridCol w="7644384"/>
              </a:tblGrid>
              <a:tr h="590550">
                <a:tc>
                  <a:txBody>
                    <a:bodyPr/>
                    <a:lstStyle/>
                    <a:p>
                      <a:pPr eaLnBrk="0" algn="l" indent="0" marL="0">
                        <a:buNone/>
                      </a:pPr>
                      <a:r>
                        <a:rPr lang="en-US" sz="3000" b="1" dirty="0">
                          <a:solidFill>
                            <a:srgbClr val="1F2937"/>
                          </a:solidFill>
                          <a:latin typeface="맑은 고딕" pitchFamily="34" charset="0"/>
                          <a:ea typeface="맑은 고딕" pitchFamily="34" charset="-122"/>
                          <a:cs typeface="맑은 고딕" pitchFamily="34" charset="-120"/>
                        </a:rPr>
                        <a:t>언제</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l" indent="0" marL="0">
                        <a:buNone/>
                      </a:pPr>
                      <a:r>
                        <a:rPr lang="en-US" sz="3000" dirty="0">
                          <a:solidFill>
                            <a:srgbClr val="1F2937"/>
                          </a:solidFill>
                          <a:latin typeface="맑은 고딕" pitchFamily="34" charset="0"/>
                          <a:ea typeface="맑은 고딕" pitchFamily="34" charset="-122"/>
                          <a:cs typeface="맑은 고딕" pitchFamily="34" charset="-120"/>
                        </a:rPr>
                        <a:t>숙제를 마친 뒤에</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90550">
                <a:tc>
                  <a:txBody>
                    <a:bodyPr/>
                    <a:lstStyle/>
                    <a:p>
                      <a:pPr eaLnBrk="0" algn="l" indent="0" marL="0">
                        <a:buNone/>
                      </a:pPr>
                      <a:r>
                        <a:rPr lang="en-US" sz="3000" b="1" dirty="0">
                          <a:solidFill>
                            <a:srgbClr val="1F2937"/>
                          </a:solidFill>
                          <a:latin typeface="맑은 고딕" pitchFamily="34" charset="0"/>
                          <a:ea typeface="맑은 고딕" pitchFamily="34" charset="-122"/>
                          <a:cs typeface="맑은 고딕" pitchFamily="34" charset="-120"/>
                        </a:rPr>
                        <a:t>얼마나</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l" indent="0" marL="0">
                        <a:buNone/>
                      </a:pPr>
                      <a:r>
                        <a:rPr lang="en-US" sz="3000" dirty="0">
                          <a:solidFill>
                            <a:srgbClr val="1F2937"/>
                          </a:solidFill>
                          <a:latin typeface="맑은 고딕" pitchFamily="34" charset="0"/>
                          <a:ea typeface="맑은 고딕" pitchFamily="34" charset="-122"/>
                          <a:cs typeface="맑은 고딕" pitchFamily="34" charset="-120"/>
                        </a:rPr>
                        <a:t>타이머가 울릴 때까지</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590550">
                <a:tc>
                  <a:txBody>
                    <a:bodyPr/>
                    <a:lstStyle/>
                    <a:p>
                      <a:pPr eaLnBrk="0" algn="l" indent="0" marL="0">
                        <a:buNone/>
                      </a:pPr>
                      <a:r>
                        <a:rPr lang="en-US" sz="3000" b="1" dirty="0">
                          <a:solidFill>
                            <a:srgbClr val="1F2937"/>
                          </a:solidFill>
                          <a:latin typeface="맑은 고딕" pitchFamily="34" charset="0"/>
                          <a:ea typeface="맑은 고딕" pitchFamily="34" charset="-122"/>
                          <a:cs typeface="맑은 고딕" pitchFamily="34" charset="-120"/>
                        </a:rPr>
                        <a:t>끝나면</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l" indent="0" marL="0">
                        <a:buNone/>
                      </a:pPr>
                      <a:r>
                        <a:rPr lang="en-US" sz="3000" dirty="0">
                          <a:solidFill>
                            <a:srgbClr val="1F2937"/>
                          </a:solidFill>
                          <a:latin typeface="맑은 고딕" pitchFamily="34" charset="0"/>
                          <a:ea typeface="맑은 고딕" pitchFamily="34" charset="-122"/>
                          <a:cs typeface="맑은 고딕" pitchFamily="34" charset="-120"/>
                        </a:rPr>
                        <a:t>스스로 끄고 제자리에</a:t>
                      </a:r>
                      <a:endParaRPr lang="en-US" sz="30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타이머가 울렸어요</a:t>
            </a:r>
            <a:endParaRPr lang="ko-KR" sz="4400" dirty="0"/>
          </a:p>
        </p:txBody>
      </p:sp>
      <p:sp>
        <p:nvSpPr>
          <p:cNvPr id="3" name="S05-text21"/>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그런데 보던 영상이 아직 안 끝났어요.</a:t>
            </a:r>
            <a:endParaRPr lang="ko-KR" sz="3200" dirty="0"/>
          </a:p>
        </p:txBody>
      </p:sp>
      <p:sp>
        <p:nvSpPr>
          <p:cNvPr id="4" name="S05-card22"/>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05-cardtext2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나라면 어떻게 할까요? 왜요?</a:t>
            </a:r>
            <a:endParaRPr lang="ko-KR" sz="3200" dirty="0"/>
          </a:p>
        </p:txBody>
      </p:sp>
      <p:sp>
        <p:nvSpPr>
          <p:cNvPr id="6" name="S05-chip24"/>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가</a:t>
            </a:r>
            <a:endParaRPr lang="ko-KR" sz="3200" dirty="0"/>
          </a:p>
        </p:txBody>
      </p:sp>
      <p:sp>
        <p:nvSpPr>
          <p:cNvPr id="7" name="S05-card25"/>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05-cardtext26"/>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못 들은 척</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계속 봐요.</a:t>
            </a:r>
            <a:endParaRPr lang="ko-KR" sz="3200" dirty="0"/>
          </a:p>
        </p:txBody>
      </p:sp>
      <p:sp>
        <p:nvSpPr>
          <p:cNvPr id="9" name="S05-chip27"/>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나</a:t>
            </a:r>
            <a:endParaRPr lang="ko-KR" sz="3200" dirty="0"/>
          </a:p>
        </p:txBody>
      </p:sp>
      <p:sp>
        <p:nvSpPr>
          <p:cNvPr id="10" name="S05-card28"/>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05-cardtext29"/>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“이것만 보고</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끌게요.”</a:t>
            </a:r>
            <a:endParaRPr lang="ko-KR" sz="3200" dirty="0"/>
          </a:p>
        </p:txBody>
      </p:sp>
      <p:sp>
        <p:nvSpPr>
          <p:cNvPr id="12" name="S05-chip30"/>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다</a:t>
            </a:r>
            <a:endParaRPr lang="ko-KR" sz="3200" dirty="0"/>
          </a:p>
        </p:txBody>
      </p:sp>
      <p:sp>
        <p:nvSpPr>
          <p:cNvPr id="13" name="S05-card31"/>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05-cardtext32"/>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바로 끄고</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“다 했어요.”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나를 알려 주는 정보</a:t>
            </a:r>
            <a:endParaRPr lang="ko-KR" sz="4400" dirty="0"/>
          </a:p>
        </p:txBody>
      </p:sp>
      <p:sp>
        <p:nvSpPr>
          <p:cNvPr id="3" name="S06-text3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이런 것을 개인정보라고 해요.</a:t>
            </a:r>
            <a:endParaRPr lang="ko-KR" sz="3200" dirty="0"/>
          </a:p>
        </p:txBody>
      </p:sp>
      <p:sp>
        <p:nvSpPr>
          <p:cNvPr id="4" name="S06-card3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6-cardtext3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모르는 사람에게 알려 주지 않아요.</a:t>
            </a:r>
            <a:endParaRPr lang="ko-KR" sz="3200" dirty="0"/>
          </a:p>
        </p:txBody>
      </p:sp>
      <p:sp>
        <p:nvSpPr>
          <p:cNvPr id="6" name="S06-card36"/>
          <p:cNvSpPr/>
          <p:nvPr/>
        </p:nvSpPr>
        <p:spPr>
          <a:xfrm>
            <a:off x="548640" y="2011680"/>
            <a:ext cx="5431536" cy="1440180"/>
          </a:xfrm>
          <a:prstGeom prst="roundRect">
            <a:avLst>
              <a:gd name="adj" fmla="val 7619"/>
            </a:avLst>
          </a:prstGeom>
          <a:solidFill>
            <a:srgbClr val="EAF3F1"/>
          </a:solidFill>
          <a:ln w="12700">
            <a:solidFill>
              <a:srgbClr val="EAF3F1"/>
            </a:solidFill>
            <a:prstDash val="solid"/>
          </a:ln>
        </p:spPr>
      </p:sp>
      <p:sp>
        <p:nvSpPr>
          <p:cNvPr id="7" name="S06-cardtext37"/>
          <p:cNvSpPr txBox="1"/>
          <p:nvPr/>
        </p:nvSpPr>
        <p:spPr>
          <a:xfrm>
            <a:off x="822960"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이름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내 이름, 가족 이름</a:t>
            </a:r>
            <a:endParaRPr lang="ko-KR" sz="3200" dirty="0"/>
          </a:p>
        </p:txBody>
      </p:sp>
      <p:sp>
        <p:nvSpPr>
          <p:cNvPr id="8" name="S06-card38"/>
          <p:cNvSpPr/>
          <p:nvPr/>
        </p:nvSpPr>
        <p:spPr>
          <a:xfrm>
            <a:off x="6208776" y="2011680"/>
            <a:ext cx="5431536" cy="1440180"/>
          </a:xfrm>
          <a:prstGeom prst="roundRect">
            <a:avLst>
              <a:gd name="adj" fmla="val 7619"/>
            </a:avLst>
          </a:prstGeom>
          <a:solidFill>
            <a:srgbClr val="FDEBDD"/>
          </a:solidFill>
          <a:ln w="12700">
            <a:solidFill>
              <a:srgbClr val="FDEBDD"/>
            </a:solidFill>
            <a:prstDash val="solid"/>
          </a:ln>
        </p:spPr>
      </p:sp>
      <p:sp>
        <p:nvSpPr>
          <p:cNvPr id="9" name="S06-cardtext39"/>
          <p:cNvSpPr txBox="1"/>
          <p:nvPr/>
        </p:nvSpPr>
        <p:spPr>
          <a:xfrm>
            <a:off x="6483096" y="2148840"/>
            <a:ext cx="4882896" cy="11658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주소</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우리 집이 있는 곳</a:t>
            </a:r>
            <a:endParaRPr lang="ko-KR" sz="3200" dirty="0"/>
          </a:p>
        </p:txBody>
      </p:sp>
      <p:sp>
        <p:nvSpPr>
          <p:cNvPr id="10" name="S06-card40"/>
          <p:cNvSpPr/>
          <p:nvPr/>
        </p:nvSpPr>
        <p:spPr>
          <a:xfrm>
            <a:off x="548640" y="3680460"/>
            <a:ext cx="5431536" cy="1440180"/>
          </a:xfrm>
          <a:prstGeom prst="roundRect">
            <a:avLst>
              <a:gd name="adj" fmla="val 7619"/>
            </a:avLst>
          </a:prstGeom>
          <a:solidFill>
            <a:srgbClr val="FDEBDD"/>
          </a:solidFill>
          <a:ln w="12700">
            <a:solidFill>
              <a:srgbClr val="FDEBDD"/>
            </a:solidFill>
            <a:prstDash val="solid"/>
          </a:ln>
        </p:spPr>
      </p:sp>
      <p:sp>
        <p:nvSpPr>
          <p:cNvPr id="11" name="S06-cardtext41"/>
          <p:cNvSpPr txBox="1"/>
          <p:nvPr/>
        </p:nvSpPr>
        <p:spPr>
          <a:xfrm>
            <a:off x="822960"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전화번호</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내 번호, 엄마·아빠 번호</a:t>
            </a:r>
            <a:endParaRPr lang="ko-KR" sz="3200" dirty="0"/>
          </a:p>
        </p:txBody>
      </p:sp>
      <p:sp>
        <p:nvSpPr>
          <p:cNvPr id="12" name="S06-card42"/>
          <p:cNvSpPr/>
          <p:nvPr/>
        </p:nvSpPr>
        <p:spPr>
          <a:xfrm>
            <a:off x="6208776" y="3680460"/>
            <a:ext cx="5431536" cy="1440180"/>
          </a:xfrm>
          <a:prstGeom prst="roundRect">
            <a:avLst>
              <a:gd name="adj" fmla="val 7619"/>
            </a:avLst>
          </a:prstGeom>
          <a:solidFill>
            <a:srgbClr val="EAF3F1"/>
          </a:solidFill>
          <a:ln w="12700">
            <a:solidFill>
              <a:srgbClr val="EAF3F1"/>
            </a:solidFill>
            <a:prstDash val="solid"/>
          </a:ln>
        </p:spPr>
      </p:sp>
      <p:sp>
        <p:nvSpPr>
          <p:cNvPr id="13" name="S06-cardtext43"/>
          <p:cNvSpPr txBox="1"/>
          <p:nvPr/>
        </p:nvSpPr>
        <p:spPr>
          <a:xfrm>
            <a:off x="6483096" y="3817620"/>
            <a:ext cx="4882896" cy="11658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사진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내 얼굴, 우리 집, 학교</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모르는 사람이 물으면</a:t>
            </a:r>
            <a:endParaRPr lang="ko-KR" sz="4400" dirty="0"/>
          </a:p>
        </p:txBody>
      </p:sp>
      <p:sp>
        <p:nvSpPr>
          <p:cNvPr id="3" name="S07-text4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온라인에서 모르는 사람이 내 정보를 물어요.</a:t>
            </a:r>
            <a:endParaRPr lang="ko-KR" sz="3200" dirty="0"/>
          </a:p>
        </p:txBody>
      </p:sp>
      <p:sp>
        <p:nvSpPr>
          <p:cNvPr id="4" name="S07-card45"/>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7-cardtext4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어른에게 말해도 혼나지 않아요. 나를 지키는 일이에요.</a:t>
            </a:r>
            <a:endParaRPr lang="ko-KR" sz="3200" dirty="0"/>
          </a:p>
        </p:txBody>
      </p:sp>
      <p:sp>
        <p:nvSpPr>
          <p:cNvPr id="6" name="S07-stepno47"/>
          <p:cNvSpPr txBox="1"/>
          <p:nvPr/>
        </p:nvSpPr>
        <p:spPr>
          <a:xfrm>
            <a:off x="548640" y="257860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7" name="S07-text48"/>
          <p:cNvSpPr txBox="1"/>
          <p:nvPr/>
        </p:nvSpPr>
        <p:spPr>
          <a:xfrm>
            <a:off x="1325880" y="2578608"/>
            <a:ext cx="1031443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알려 주지 않아요.</a:t>
            </a:r>
            <a:endParaRPr lang="ko-KR" sz="3200" dirty="0"/>
          </a:p>
        </p:txBody>
      </p:sp>
      <p:sp>
        <p:nvSpPr>
          <p:cNvPr id="8" name="S07-stepno49"/>
          <p:cNvSpPr txBox="1"/>
          <p:nvPr/>
        </p:nvSpPr>
        <p:spPr>
          <a:xfrm>
            <a:off x="548640" y="3291840"/>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9" name="S07-text50"/>
          <p:cNvSpPr txBox="1"/>
          <p:nvPr/>
        </p:nvSpPr>
        <p:spPr>
          <a:xfrm>
            <a:off x="1325880" y="3291840"/>
            <a:ext cx="1031443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대답하지 말고 그만해요.</a:t>
            </a:r>
            <a:endParaRPr lang="ko-KR" sz="3200" dirty="0"/>
          </a:p>
        </p:txBody>
      </p:sp>
      <p:sp>
        <p:nvSpPr>
          <p:cNvPr id="10" name="S07-stepno51"/>
          <p:cNvSpPr txBox="1"/>
          <p:nvPr/>
        </p:nvSpPr>
        <p:spPr>
          <a:xfrm>
            <a:off x="548640" y="400507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1" name="S07-text52"/>
          <p:cNvSpPr txBox="1"/>
          <p:nvPr/>
        </p:nvSpPr>
        <p:spPr>
          <a:xfrm>
            <a:off x="1325880" y="4005072"/>
            <a:ext cx="1031443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믿을 수 있는 어른에게 말해요.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게임하다가 생긴 일</a:t>
            </a:r>
            <a:endParaRPr lang="ko-KR" sz="4400" dirty="0"/>
          </a:p>
        </p:txBody>
      </p:sp>
      <p:sp>
        <p:nvSpPr>
          <p:cNvPr id="3" name="S08-text5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모르는 사람이 “너 어디 살아? 몇 살이야?” 하고 물어요.</a:t>
            </a:r>
            <a:endParaRPr lang="ko-KR" sz="3200" dirty="0"/>
          </a:p>
        </p:txBody>
      </p:sp>
      <p:sp>
        <p:nvSpPr>
          <p:cNvPr id="4" name="S08-card5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5" name="S08-cardtext5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나라면 어떻게 할까요? 왜요?</a:t>
            </a:r>
            <a:endParaRPr lang="ko-KR" sz="3200" dirty="0"/>
          </a:p>
        </p:txBody>
      </p:sp>
      <p:sp>
        <p:nvSpPr>
          <p:cNvPr id="6" name="S08-chip56"/>
          <p:cNvSpPr txBox="1"/>
          <p:nvPr/>
        </p:nvSpPr>
        <p:spPr>
          <a:xfrm>
            <a:off x="1991868"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가</a:t>
            </a:r>
            <a:endParaRPr lang="ko-KR" sz="3200" dirty="0"/>
          </a:p>
        </p:txBody>
      </p:sp>
      <p:sp>
        <p:nvSpPr>
          <p:cNvPr id="7" name="S08-card57"/>
          <p:cNvSpPr/>
          <p:nvPr/>
        </p:nvSpPr>
        <p:spPr>
          <a:xfrm>
            <a:off x="548640" y="2715768"/>
            <a:ext cx="3453384" cy="2404872"/>
          </a:xfrm>
          <a:prstGeom prst="roundRect">
            <a:avLst>
              <a:gd name="adj" fmla="val 4563"/>
            </a:avLst>
          </a:prstGeom>
          <a:solidFill>
            <a:srgbClr val="EAF3F1"/>
          </a:solidFill>
          <a:ln w="12700">
            <a:solidFill>
              <a:srgbClr val="EAF3F1"/>
            </a:solidFill>
            <a:prstDash val="solid"/>
          </a:ln>
        </p:spPr>
      </p:sp>
      <p:sp>
        <p:nvSpPr>
          <p:cNvPr id="8" name="S08-cardtext58"/>
          <p:cNvSpPr txBox="1"/>
          <p:nvPr/>
        </p:nvSpPr>
        <p:spPr>
          <a:xfrm>
            <a:off x="822960"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사는 곳과</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나이를</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알려 줘요.</a:t>
            </a:r>
            <a:endParaRPr lang="ko-KR" sz="3200" dirty="0"/>
          </a:p>
        </p:txBody>
      </p:sp>
      <p:sp>
        <p:nvSpPr>
          <p:cNvPr id="9" name="S08-chip59"/>
          <p:cNvSpPr txBox="1"/>
          <p:nvPr/>
        </p:nvSpPr>
        <p:spPr>
          <a:xfrm>
            <a:off x="5811012"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나</a:t>
            </a:r>
            <a:endParaRPr lang="ko-KR" sz="3200" dirty="0"/>
          </a:p>
        </p:txBody>
      </p:sp>
      <p:sp>
        <p:nvSpPr>
          <p:cNvPr id="10" name="S08-card60"/>
          <p:cNvSpPr/>
          <p:nvPr/>
        </p:nvSpPr>
        <p:spPr>
          <a:xfrm>
            <a:off x="4367784" y="2715768"/>
            <a:ext cx="3453384" cy="2404872"/>
          </a:xfrm>
          <a:prstGeom prst="roundRect">
            <a:avLst>
              <a:gd name="adj" fmla="val 4563"/>
            </a:avLst>
          </a:prstGeom>
          <a:solidFill>
            <a:srgbClr val="EAF3F1"/>
          </a:solidFill>
          <a:ln w="12700">
            <a:solidFill>
              <a:srgbClr val="EAF3F1"/>
            </a:solidFill>
            <a:prstDash val="solid"/>
          </a:ln>
        </p:spPr>
      </p:sp>
      <p:sp>
        <p:nvSpPr>
          <p:cNvPr id="11" name="S08-cardtext61"/>
          <p:cNvSpPr txBox="1"/>
          <p:nvPr/>
        </p:nvSpPr>
        <p:spPr>
          <a:xfrm>
            <a:off x="4642104"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대답하지 않고</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엄마에게</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보여 줘요.</a:t>
            </a:r>
            <a:endParaRPr lang="ko-KR" sz="3200" dirty="0"/>
          </a:p>
        </p:txBody>
      </p:sp>
      <p:sp>
        <p:nvSpPr>
          <p:cNvPr id="12" name="S08-chip62"/>
          <p:cNvSpPr txBox="1"/>
          <p:nvPr/>
        </p:nvSpPr>
        <p:spPr>
          <a:xfrm>
            <a:off x="9630156" y="2011680"/>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200" b="1" dirty="0">
                <a:solidFill>
                  <a:srgbClr val="FFFFFF"/>
                </a:solidFill>
                <a:latin typeface="맑은 고딕" pitchFamily="34" charset="0"/>
                <a:ea typeface="맑은 고딕" pitchFamily="34" charset="-122"/>
                <a:cs typeface="맑은 고딕" pitchFamily="34" charset="-120"/>
              </a:rPr>
              <a:t>다</a:t>
            </a:r>
            <a:endParaRPr lang="ko-KR" sz="3200" dirty="0"/>
          </a:p>
        </p:txBody>
      </p:sp>
      <p:sp>
        <p:nvSpPr>
          <p:cNvPr id="13" name="S08-card63"/>
          <p:cNvSpPr/>
          <p:nvPr/>
        </p:nvSpPr>
        <p:spPr>
          <a:xfrm>
            <a:off x="8186928" y="2715768"/>
            <a:ext cx="3453384" cy="2404872"/>
          </a:xfrm>
          <a:prstGeom prst="roundRect">
            <a:avLst>
              <a:gd name="adj" fmla="val 4563"/>
            </a:avLst>
          </a:prstGeom>
          <a:solidFill>
            <a:srgbClr val="EAF3F1"/>
          </a:solidFill>
          <a:ln w="12700">
            <a:solidFill>
              <a:srgbClr val="EAF3F1"/>
            </a:solidFill>
            <a:prstDash val="solid"/>
          </a:ln>
        </p:spPr>
      </p:sp>
      <p:sp>
        <p:nvSpPr>
          <p:cNvPr id="14" name="S08-cardtext64"/>
          <p:cNvSpPr txBox="1"/>
          <p:nvPr/>
        </p:nvSpPr>
        <p:spPr>
          <a:xfrm>
            <a:off x="8461248" y="2852928"/>
            <a:ext cx="2904744" cy="2130552"/>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“비밀이야.”</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하고 계속</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이야기해요.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개인정보일까요?</a:t>
            </a:r>
            <a:endParaRPr lang="ko-KR" sz="4400" dirty="0"/>
          </a:p>
        </p:txBody>
      </p:sp>
      <p:sp>
        <p:nvSpPr>
          <p:cNvPr id="3" name="S09-text6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나를 찾을 수 있는 정보일까요?</a:t>
            </a:r>
            <a:endParaRPr lang="ko-KR" sz="3200" dirty="0"/>
          </a:p>
        </p:txBody>
      </p:sp>
      <p:sp>
        <p:nvSpPr>
          <p:cNvPr id="4" name="S09-card66"/>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6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모르는 사람이 알면 나를 찾아올 수 있을까요?</a:t>
            </a:r>
            <a:endParaRPr lang="ko-KR" sz="3200" dirty="0"/>
          </a:p>
        </p:txBody>
      </p:sp>
      <p:sp>
        <p:nvSpPr>
          <p:cNvPr id="6" name="S09-chip68"/>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7" name="S09-text69"/>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우리 집 주소</a:t>
            </a:r>
            <a:endParaRPr lang="ko-KR" sz="3200" dirty="0"/>
          </a:p>
        </p:txBody>
      </p:sp>
      <p:sp>
        <p:nvSpPr>
          <p:cNvPr id="8" name="S09-chip70"/>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9" name="S09-text71"/>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좋아하는 색</a:t>
            </a:r>
            <a:endParaRPr lang="ko-KR" sz="3200" dirty="0"/>
          </a:p>
        </p:txBody>
      </p:sp>
      <p:sp>
        <p:nvSpPr>
          <p:cNvPr id="10" name="S09-chip72"/>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11" name="S09-text73"/>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엄마 전화번호</a:t>
            </a:r>
            <a:endParaRPr lang="ko-KR" sz="3200" dirty="0"/>
          </a:p>
        </p:txBody>
      </p:sp>
      <p:sp>
        <p:nvSpPr>
          <p:cNvPr id="12" name="S09-chip74"/>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④</a:t>
            </a:r>
            <a:endParaRPr lang="ko-KR" sz="2600" dirty="0"/>
          </a:p>
        </p:txBody>
      </p:sp>
      <p:sp>
        <p:nvSpPr>
          <p:cNvPr id="13" name="S09-text75"/>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내 얼굴 사진</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우리 집 약속 정하기</a:t>
            </a:r>
            <a:endParaRPr lang="ko-KR" sz="4400" dirty="0"/>
          </a:p>
        </p:txBody>
      </p:sp>
      <p:sp>
        <p:nvSpPr>
          <p:cNvPr id="3" name="S10-text7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가족과 함께 정하고 활동지에 써요.</a:t>
            </a:r>
            <a:endParaRPr lang="ko-KR" sz="3200" dirty="0"/>
          </a:p>
        </p:txBody>
      </p:sp>
      <p:sp>
        <p:nvSpPr>
          <p:cNvPr id="4" name="S10-card77"/>
          <p:cNvSpPr/>
          <p:nvPr/>
        </p:nvSpPr>
        <p:spPr>
          <a:xfrm>
            <a:off x="6813652" y="2011680"/>
            <a:ext cx="4826660" cy="4206240"/>
          </a:xfrm>
          <a:prstGeom prst="roundRect">
            <a:avLst>
              <a:gd name="adj" fmla="val 2609"/>
            </a:avLst>
          </a:prstGeom>
          <a:solidFill>
            <a:srgbClr val="EAF3F1"/>
          </a:solidFill>
          <a:ln w="12700">
            <a:solidFill>
              <a:srgbClr val="EAF3F1"/>
            </a:solidFill>
            <a:prstDash val="solid"/>
          </a:ln>
        </p:spPr>
      </p:sp>
      <p:sp>
        <p:nvSpPr>
          <p:cNvPr id="5" name="S10-cardtext78"/>
          <p:cNvSpPr txBox="1"/>
          <p:nvPr/>
        </p:nvSpPr>
        <p:spPr>
          <a:xfrm>
            <a:off x="7087972" y="2148840"/>
            <a:ext cx="4278020" cy="393192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이렇게 하면 잘한 거예요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언제를 정했어요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얼마나를 정했어요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끝나면 할 일을 정했어요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까닭을 말했어요</a:t>
            </a:r>
            <a:endParaRPr lang="ko-KR" sz="3200" dirty="0"/>
          </a:p>
        </p:txBody>
      </p:sp>
      <p:sp>
        <p:nvSpPr>
          <p:cNvPr id="6" name="S10-stepno79"/>
          <p:cNvSpPr txBox="1"/>
          <p:nvPr/>
        </p:nvSpPr>
        <p:spPr>
          <a:xfrm>
            <a:off x="548640" y="27706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7" name="S10-text80"/>
          <p:cNvSpPr txBox="1"/>
          <p:nvPr/>
        </p:nvSpPr>
        <p:spPr>
          <a:xfrm>
            <a:off x="1325880" y="2770632"/>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언제, 얼마나 쓸지 정해요.</a:t>
            </a:r>
            <a:endParaRPr lang="ko-KR" sz="3200" dirty="0"/>
          </a:p>
        </p:txBody>
      </p:sp>
      <p:sp>
        <p:nvSpPr>
          <p:cNvPr id="8" name="S10-stepno81"/>
          <p:cNvSpPr txBox="1"/>
          <p:nvPr/>
        </p:nvSpPr>
        <p:spPr>
          <a:xfrm>
            <a:off x="548640" y="348386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9" name="S10-text82"/>
          <p:cNvSpPr txBox="1"/>
          <p:nvPr/>
        </p:nvSpPr>
        <p:spPr>
          <a:xfrm>
            <a:off x="1325880" y="3483864"/>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끝나면 어떻게 할지 정해요.</a:t>
            </a:r>
            <a:endParaRPr lang="ko-KR" sz="3200" dirty="0"/>
          </a:p>
        </p:txBody>
      </p:sp>
      <p:sp>
        <p:nvSpPr>
          <p:cNvPr id="10" name="S10-stepno83"/>
          <p:cNvSpPr txBox="1"/>
          <p:nvPr/>
        </p:nvSpPr>
        <p:spPr>
          <a:xfrm>
            <a:off x="548640" y="41970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1" name="S10-text84"/>
          <p:cNvSpPr txBox="1"/>
          <p:nvPr/>
        </p:nvSpPr>
        <p:spPr>
          <a:xfrm>
            <a:off x="1325880" y="4197096"/>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정보를 지키는 약속도 써요.</a:t>
            </a:r>
            <a:endParaRPr lang="ko-KR" sz="3200" dirty="0"/>
          </a:p>
        </p:txBody>
      </p:sp>
      <p:sp>
        <p:nvSpPr>
          <p:cNvPr id="12" name="S10-stepno85"/>
          <p:cNvSpPr txBox="1"/>
          <p:nvPr/>
        </p:nvSpPr>
        <p:spPr>
          <a:xfrm>
            <a:off x="548640" y="49103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3" name="S10-text86"/>
          <p:cNvSpPr txBox="1"/>
          <p:nvPr/>
        </p:nvSpPr>
        <p:spPr>
          <a:xfrm>
            <a:off x="1325880" y="4910328"/>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약속표를 붙여 두어요.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혼자 해 보기</a:t>
            </a:r>
            <a:endParaRPr lang="ko-KR" sz="4400" dirty="0"/>
          </a:p>
        </p:txBody>
      </p:sp>
      <p:sp>
        <p:nvSpPr>
          <p:cNvPr id="3" name="S11-text8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나라면 어떻게 할까요? 왜요?</a:t>
            </a:r>
            <a:endParaRPr lang="ko-KR" sz="3200" dirty="0"/>
          </a:p>
        </p:txBody>
      </p:sp>
      <p:sp>
        <p:nvSpPr>
          <p:cNvPr id="4" name="S11-chip88"/>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11-text89"/>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약속한 시간이 끝났어요.</a:t>
            </a:r>
            <a:endParaRPr lang="ko-KR" sz="3200" dirty="0"/>
          </a:p>
        </p:txBody>
      </p:sp>
      <p:sp>
        <p:nvSpPr>
          <p:cNvPr id="6" name="S11-chip90"/>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11-text91"/>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모르는 사람이 내 사진을 보내 달래요.</a:t>
            </a:r>
            <a:endParaRPr lang="ko-KR" sz="3200" dirty="0"/>
          </a:p>
        </p:txBody>
      </p:sp>
      <p:sp>
        <p:nvSpPr>
          <p:cNvPr id="8" name="S11-chip92"/>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9" name="S11-text93"/>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모르는 사람이 우리 학교 이름을 물어요.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잘한 모습과 흔한 실수</a:t>
            </a:r>
            <a:endParaRPr lang="ko-KR" sz="4400" dirty="0"/>
          </a:p>
        </p:txBody>
      </p:sp>
      <p:sp>
        <p:nvSpPr>
          <p:cNvPr id="3" name="S12-card9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9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까닭을 말하면 칭찬하고, 어른에게 말한 것도 칭찬해요.</a:t>
            </a:r>
            <a:endParaRPr lang="ko-KR" sz="3200" dirty="0"/>
          </a:p>
        </p:txBody>
      </p:sp>
      <p:sp>
        <p:nvSpPr>
          <p:cNvPr id="5" name="S12-chip96"/>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 정답</a:t>
            </a:r>
            <a:endParaRPr lang="ko-KR" sz="2600" dirty="0"/>
          </a:p>
        </p:txBody>
      </p:sp>
      <p:sp>
        <p:nvSpPr>
          <p:cNvPr id="6" name="S12-text97"/>
          <p:cNvSpPr txBox="1"/>
          <p:nvPr/>
        </p:nvSpPr>
        <p:spPr>
          <a:xfrm>
            <a:off x="548640" y="20574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스스로 끄기</a:t>
            </a:r>
            <a:endParaRPr lang="ko-KR" sz="3200" dirty="0"/>
          </a:p>
        </p:txBody>
      </p:sp>
      <p:sp>
        <p:nvSpPr>
          <p:cNvPr id="7" name="S12-text98"/>
          <p:cNvSpPr txBox="1"/>
          <p:nvPr/>
        </p:nvSpPr>
        <p:spPr>
          <a:xfrm>
            <a:off x="3367278" y="20574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“약속이니까요.”</a:t>
            </a:r>
            <a:endParaRPr lang="ko-KR" sz="2600" dirty="0"/>
          </a:p>
        </p:txBody>
      </p:sp>
      <p:sp>
        <p:nvSpPr>
          <p:cNvPr id="8" name="S12-text99"/>
          <p:cNvSpPr txBox="1"/>
          <p:nvPr/>
        </p:nvSpPr>
        <p:spPr>
          <a:xfrm>
            <a:off x="548640" y="34290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알려 주지 않고</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어른에게</a:t>
            </a:r>
            <a:endParaRPr lang="ko-KR" sz="3200" dirty="0"/>
          </a:p>
        </p:txBody>
      </p:sp>
      <p:sp>
        <p:nvSpPr>
          <p:cNvPr id="9" name="S12-text100"/>
          <p:cNvSpPr txBox="1"/>
          <p:nvPr/>
        </p:nvSpPr>
        <p:spPr>
          <a:xfrm>
            <a:off x="3367278" y="34290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“나를 찾아올 수</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있으니까요.”</a:t>
            </a:r>
            <a:endParaRPr lang="ko-KR" sz="2600" dirty="0"/>
          </a:p>
        </p:txBody>
      </p:sp>
      <p:sp>
        <p:nvSpPr>
          <p:cNvPr id="10" name="S12-chip101"/>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 흔한 실수</a:t>
            </a:r>
            <a:endParaRPr lang="ko-KR" sz="2600" dirty="0"/>
          </a:p>
        </p:txBody>
      </p:sp>
      <p:sp>
        <p:nvSpPr>
          <p:cNvPr id="11" name="S12-text102"/>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“이것만</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더…”</a:t>
            </a:r>
            <a:endParaRPr lang="ko-KR" sz="3200" dirty="0"/>
          </a:p>
        </p:txBody>
      </p:sp>
      <p:sp>
        <p:nvSpPr>
          <p:cNvPr id="12" name="S12-text103"/>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약속에 미리</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알림 넣기</a:t>
            </a:r>
            <a:endParaRPr lang="ko-KR" sz="2600" dirty="0"/>
          </a:p>
        </p:txBody>
      </p:sp>
      <p:sp>
        <p:nvSpPr>
          <p:cNvPr id="13" name="S12-text104"/>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학교 이름은</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괜찮아요</a:t>
            </a:r>
            <a:endParaRPr lang="ko-KR" sz="3200" dirty="0"/>
          </a:p>
        </p:txBody>
      </p:sp>
      <p:sp>
        <p:nvSpPr>
          <p:cNvPr id="14" name="S12-text105"/>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학교 이름도</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나를 찾는 정보</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FFFFFF"/>
                </a:solidFill>
                <a:latin typeface="맑은 고딕" pitchFamily="34" charset="0"/>
                <a:ea typeface="맑은 고딕" pitchFamily="34" charset="-122"/>
                <a:cs typeface="맑은 고딕" pitchFamily="34" charset="-120"/>
              </a:rPr>
              <a:t>오늘 배운 것</a:t>
            </a:r>
            <a:endParaRPr lang="ko-KR" sz="4400" dirty="0"/>
          </a:p>
        </p:txBody>
      </p:sp>
      <p:sp>
        <p:nvSpPr>
          <p:cNvPr id="3" name="S13-card106"/>
          <p:cNvSpPr/>
          <p:nvPr/>
        </p:nvSpPr>
        <p:spPr>
          <a:xfrm>
            <a:off x="548640" y="1325880"/>
            <a:ext cx="11091672" cy="1320800"/>
          </a:xfrm>
          <a:prstGeom prst="roundRect">
            <a:avLst>
              <a:gd name="adj" fmla="val 8308"/>
            </a:avLst>
          </a:prstGeom>
          <a:solidFill>
            <a:srgbClr val="32606F"/>
          </a:solidFill>
          <a:ln w="12700">
            <a:solidFill>
              <a:srgbClr val="32606F"/>
            </a:solidFill>
            <a:prstDash val="solid"/>
          </a:ln>
        </p:spPr>
      </p:sp>
      <p:sp>
        <p:nvSpPr>
          <p:cNvPr id="4" name="S13-cardtext107"/>
          <p:cNvSpPr txBox="1"/>
          <p:nvPr/>
        </p:nvSpPr>
        <p:spPr>
          <a:xfrm>
            <a:off x="822960" y="146304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FFFFFF"/>
                </a:solidFill>
                <a:latin typeface="맑은 고딕" pitchFamily="34" charset="0"/>
                <a:ea typeface="맑은 고딕" pitchFamily="34" charset="-122"/>
                <a:cs typeface="맑은 고딕" pitchFamily="34" charset="-120"/>
              </a:rPr>
              <a:t>약속한 시간이 끝나면 스스로 끄고, 나의 정보는 모르는 사람에게 알려 주지 않아요.</a:t>
            </a:r>
            <a:endParaRPr lang="ko-KR" sz="3200" dirty="0"/>
          </a:p>
        </p:txBody>
      </p:sp>
      <p:sp>
        <p:nvSpPr>
          <p:cNvPr id="5" name="S13-chip108"/>
          <p:cNvSpPr txBox="1"/>
          <p:nvPr/>
        </p:nvSpPr>
        <p:spPr>
          <a:xfrm>
            <a:off x="548640" y="2875280"/>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끝나면 스스로 끄기</a:t>
            </a:r>
            <a:endParaRPr lang="ko-KR" sz="2600" dirty="0"/>
          </a:p>
        </p:txBody>
      </p:sp>
      <p:sp>
        <p:nvSpPr>
          <p:cNvPr id="6" name="S13-chip109"/>
          <p:cNvSpPr txBox="1"/>
          <p:nvPr/>
        </p:nvSpPr>
        <p:spPr>
          <a:xfrm>
            <a:off x="6208776" y="2875280"/>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모르는 사람에게 알려 주기</a:t>
            </a:r>
            <a:endParaRPr lang="ko-KR" sz="2600" dirty="0"/>
          </a:p>
        </p:txBody>
      </p:sp>
      <p:sp>
        <p:nvSpPr>
          <p:cNvPr id="7" name="S13-text110"/>
          <p:cNvSpPr txBox="1"/>
          <p:nvPr/>
        </p:nvSpPr>
        <p:spPr>
          <a:xfrm>
            <a:off x="548640" y="3698240"/>
            <a:ext cx="11091672" cy="457200"/>
          </a:xfrm>
          <a:prstGeom prst="rect">
            <a:avLst/>
          </a:prstGeom>
          <a:noFill/>
          <a:ln/>
        </p:spPr>
        <p:txBody>
          <a:bodyPr wrap="square" lIns="0" tIns="0" rIns="0" bIns="0" rtlCol="0" anchor="t"/>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600" dirty="0"/>
          </a:p>
        </p:txBody>
      </p:sp>
      <p:sp>
        <p:nvSpPr>
          <p:cNvPr id="8" name="S13-text111"/>
          <p:cNvSpPr txBox="1"/>
          <p:nvPr/>
        </p:nvSpPr>
        <p:spPr>
          <a:xfrm>
            <a:off x="548640"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① 개인정보</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네 가지는?</a:t>
            </a:r>
            <a:endParaRPr lang="ko-KR" sz="2600" dirty="0"/>
          </a:p>
        </p:txBody>
      </p:sp>
      <p:sp>
        <p:nvSpPr>
          <p:cNvPr id="9" name="S13-text112"/>
          <p:cNvSpPr txBox="1"/>
          <p:nvPr/>
        </p:nvSpPr>
        <p:spPr>
          <a:xfrm>
            <a:off x="4322064"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② 모르는 사람이</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물으면?</a:t>
            </a:r>
            <a:endParaRPr lang="ko-KR" sz="2600" dirty="0"/>
          </a:p>
        </p:txBody>
      </p:sp>
      <p:sp>
        <p:nvSpPr>
          <p:cNvPr id="10" name="S13-text113"/>
          <p:cNvSpPr txBox="1"/>
          <p:nvPr/>
        </p:nvSpPr>
        <p:spPr>
          <a:xfrm>
            <a:off x="8095488"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③ 실천 기록표에서</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잘한 날 이야기</a:t>
            </a:r>
            <a:endParaRPr lang="ko-KR" sz="2600" dirty="0"/>
          </a:p>
        </p:txBody>
      </p:sp>
      <p:sp>
        <p:nvSpPr>
          <p:cNvPr id="11" name="S13-text114"/>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600" dirty="0">
                <a:solidFill>
                  <a:srgbClr val="C9DCD8"/>
                </a:solidFill>
                <a:latin typeface="맑은 고딕" pitchFamily="34" charset="0"/>
                <a:ea typeface="맑은 고딕" pitchFamily="34" charset="-122"/>
                <a:cs typeface="맑은 고딕" pitchFamily="34" charset="-120"/>
              </a:rPr>
              <a:t>다음 시간: 순서를 바꾸면(2학년)</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보충: 묻고, 쓰고, 꺼요</a:t>
            </a:r>
            <a:endParaRPr lang="ko-KR" sz="4400" dirty="0"/>
          </a:p>
        </p:txBody>
      </p:sp>
      <p:sp>
        <p:nvSpPr>
          <p:cNvPr id="3" name="S14-text11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타이머로 시간을 지켜요.</a:t>
            </a:r>
            <a:endParaRPr lang="ko-KR" sz="3200" dirty="0"/>
          </a:p>
        </p:txBody>
      </p:sp>
      <p:sp>
        <p:nvSpPr>
          <p:cNvPr id="4" name="S14-card11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4-cardtext11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타이머가 울리면 스스로 꺼요.</a:t>
            </a:r>
            <a:endParaRPr lang="ko-KR" sz="3200" dirty="0"/>
          </a:p>
        </p:txBody>
      </p:sp>
      <p:sp>
        <p:nvSpPr>
          <p:cNvPr id="6" name="S14-step118"/>
          <p:cNvSpPr txBox="1"/>
          <p:nvPr/>
        </p:nvSpPr>
        <p:spPr>
          <a:xfrm>
            <a:off x="548640" y="2834640"/>
            <a:ext cx="1889150" cy="1463040"/>
          </a:xfrm>
          <a:prstGeom prst="roundRect">
            <a:avLst>
              <a:gd name="adj" fmla="val 75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“써도</a:t>
            </a:r>
            <a:endParaRPr lang="ko-KR" sz="2800" dirty="0"/>
          </a:p>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돼요?”</a:t>
            </a:r>
            <a:endParaRPr lang="ko-KR" sz="2800" dirty="0"/>
          </a:p>
        </p:txBody>
      </p:sp>
      <p:sp>
        <p:nvSpPr>
          <p:cNvPr id="7" name="S14-line119"/>
          <p:cNvSpPr/>
          <p:nvPr/>
        </p:nvSpPr>
        <p:spPr>
          <a:xfrm>
            <a:off x="2492654" y="3566160"/>
            <a:ext cx="301752" cy="0"/>
          </a:xfrm>
          <a:prstGeom prst="line">
            <a:avLst/>
          </a:prstGeom>
          <a:noFill/>
          <a:ln w="31750">
            <a:solidFill>
              <a:srgbClr val="3D5A80"/>
            </a:solidFill>
            <a:prstDash val="solid"/>
            <a:tailEnd type="triangle"/>
          </a:ln>
        </p:spPr>
      </p:sp>
      <p:sp>
        <p:nvSpPr>
          <p:cNvPr id="8" name="S14-step120"/>
          <p:cNvSpPr txBox="1"/>
          <p:nvPr/>
        </p:nvSpPr>
        <p:spPr>
          <a:xfrm>
            <a:off x="2849270" y="2834640"/>
            <a:ext cx="1889150" cy="1463040"/>
          </a:xfrm>
          <a:prstGeom prst="roundRect">
            <a:avLst>
              <a:gd name="adj" fmla="val 75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켜기</a:t>
            </a:r>
            <a:endParaRPr lang="ko-KR" sz="2800" dirty="0"/>
          </a:p>
        </p:txBody>
      </p:sp>
      <p:sp>
        <p:nvSpPr>
          <p:cNvPr id="9" name="S14-line121"/>
          <p:cNvSpPr/>
          <p:nvPr/>
        </p:nvSpPr>
        <p:spPr>
          <a:xfrm>
            <a:off x="4793285" y="3566160"/>
            <a:ext cx="301752" cy="0"/>
          </a:xfrm>
          <a:prstGeom prst="line">
            <a:avLst/>
          </a:prstGeom>
          <a:noFill/>
          <a:ln w="31750">
            <a:solidFill>
              <a:srgbClr val="3D5A80"/>
            </a:solidFill>
            <a:prstDash val="solid"/>
            <a:tailEnd type="triangle"/>
          </a:ln>
        </p:spPr>
      </p:sp>
      <p:sp>
        <p:nvSpPr>
          <p:cNvPr id="10" name="S14-step122"/>
          <p:cNvSpPr txBox="1"/>
          <p:nvPr/>
        </p:nvSpPr>
        <p:spPr>
          <a:xfrm>
            <a:off x="5149901" y="2834640"/>
            <a:ext cx="1889150" cy="1463040"/>
          </a:xfrm>
          <a:prstGeom prst="roundRect">
            <a:avLst>
              <a:gd name="adj" fmla="val 75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타이머</a:t>
            </a:r>
            <a:endParaRPr lang="ko-KR" sz="2800" dirty="0"/>
          </a:p>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맞추기</a:t>
            </a:r>
            <a:endParaRPr lang="ko-KR" sz="2800" dirty="0"/>
          </a:p>
        </p:txBody>
      </p:sp>
      <p:sp>
        <p:nvSpPr>
          <p:cNvPr id="11" name="S14-line123"/>
          <p:cNvSpPr/>
          <p:nvPr/>
        </p:nvSpPr>
        <p:spPr>
          <a:xfrm>
            <a:off x="7093915" y="3566160"/>
            <a:ext cx="301752" cy="0"/>
          </a:xfrm>
          <a:prstGeom prst="line">
            <a:avLst/>
          </a:prstGeom>
          <a:noFill/>
          <a:ln w="31750">
            <a:solidFill>
              <a:srgbClr val="3D5A80"/>
            </a:solidFill>
            <a:prstDash val="solid"/>
            <a:tailEnd type="triangle"/>
          </a:ln>
        </p:spPr>
      </p:sp>
      <p:sp>
        <p:nvSpPr>
          <p:cNvPr id="12" name="S14-step124"/>
          <p:cNvSpPr txBox="1"/>
          <p:nvPr/>
        </p:nvSpPr>
        <p:spPr>
          <a:xfrm>
            <a:off x="7450531" y="2834640"/>
            <a:ext cx="1889150" cy="1463040"/>
          </a:xfrm>
          <a:prstGeom prst="roundRect">
            <a:avLst>
              <a:gd name="adj" fmla="val 75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쓰기</a:t>
            </a:r>
            <a:endParaRPr lang="ko-KR" sz="2800" dirty="0"/>
          </a:p>
        </p:txBody>
      </p:sp>
      <p:sp>
        <p:nvSpPr>
          <p:cNvPr id="13" name="S14-line125"/>
          <p:cNvSpPr/>
          <p:nvPr/>
        </p:nvSpPr>
        <p:spPr>
          <a:xfrm>
            <a:off x="9394546" y="3566160"/>
            <a:ext cx="301752" cy="0"/>
          </a:xfrm>
          <a:prstGeom prst="line">
            <a:avLst/>
          </a:prstGeom>
          <a:noFill/>
          <a:ln w="31750">
            <a:solidFill>
              <a:srgbClr val="3D5A80"/>
            </a:solidFill>
            <a:prstDash val="solid"/>
            <a:tailEnd type="triangle"/>
          </a:ln>
        </p:spPr>
      </p:sp>
      <p:sp>
        <p:nvSpPr>
          <p:cNvPr id="14" name="S14-step126"/>
          <p:cNvSpPr txBox="1"/>
          <p:nvPr/>
        </p:nvSpPr>
        <p:spPr>
          <a:xfrm>
            <a:off x="9751162" y="2834640"/>
            <a:ext cx="1889150" cy="1463040"/>
          </a:xfrm>
          <a:prstGeom prst="roundRect">
            <a:avLst>
              <a:gd name="adj" fmla="val 7500"/>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울리면</a:t>
            </a:r>
            <a:endParaRPr lang="ko-KR" sz="2800" dirty="0"/>
          </a:p>
          <a:p>
            <a:pPr eaLnBrk="0" algn="ctr" indent="0" marL="0">
              <a:buNone/>
            </a:pPr>
            <a:r>
              <a:rPr lang="ko-KR" altLang="en-US" sz="2800" b="1" dirty="0">
                <a:solidFill>
                  <a:srgbClr val="1F2937"/>
                </a:solidFill>
                <a:latin typeface="맑은 고딕" pitchFamily="34" charset="0"/>
                <a:ea typeface="맑은 고딕" pitchFamily="34" charset="-122"/>
                <a:cs typeface="맑은 고딕" pitchFamily="34" charset="-120"/>
              </a:rPr>
              <a:t>끄기</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초1 정보·AI 사용 시간과 개인정보</dc:title>
  <dc:subject>KR22-G01-INF-PRIVACY-L01</dc:subject>
  <dc:creator>education-ppt</dc:creator>
  <cp:lastModifiedBy>education-ppt</cp:lastModifiedBy>
  <cp:revision>1</cp:revision>
  <dcterms:created xsi:type="dcterms:W3CDTF">2026-10-26T10:01:46Z</dcterms:created>
  <dcterms:modified xsi:type="dcterms:W3CDTF">2026-10-26T10:01:46Z</dcterms:modified>
</cp:coreProperties>
</file>