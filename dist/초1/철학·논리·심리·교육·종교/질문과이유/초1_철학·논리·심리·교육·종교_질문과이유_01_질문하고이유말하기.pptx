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85d4b71-be0c-7c83-acda-39630dd7e07e}">
          <p14:sldIdLst>
            <p14:sldId id="256"/>
            <p14:sldId id="257"/>
          </p14:sldIdLst>
        </p14:section>
        <p14:section name="개념" id="{be125fe5-2bae-9b55-3009-1add84b1d679}">
          <p14:sldIdLst>
            <p14:sldId id="258"/>
            <p14:sldId id="259"/>
            <p14:sldId id="261"/>
          </p14:sldIdLst>
        </p14:section>
        <p14:section name="연습" id="{bb441d23-58f6-1d60-a0a1-df33af603205}">
          <p14:sldIdLst>
            <p14:sldId id="260"/>
            <p14:sldId id="262"/>
            <p14:sldId id="263"/>
          </p14:sldIdLst>
        </p14:section>
        <p14:section name="개념" id="{445f3c18-efcf-3906-8671-f887142727cf}">
          <p14:sldIdLst/>
        </p14:section>
        <p14:section name="연습" id="{d7828bb7-8ed4-bcd9-da73-28e1a4a5e0ce}">
          <p14:sldIdLst/>
        </p14:section>
        <p14:section name="확인" id="{55631790-c9ca-02cb-1afc-55c605f75fa5}">
          <p14:sldIdLst>
            <p14:sldId id="264"/>
            <p14:sldId id="265"/>
            <p14:sldId id="266"/>
          </p14:sldIdLst>
        </p14:section>
        <p14:section name="정리" id="{488a4f08-cda2-dc55-9492-8cb45c9edd1e}">
          <p14:sldIdLst>
            <p14:sldId id="267"/>
          </p14:sldIdLst>
        </p14:section>
        <p14:section name="보충" id="{773b9aa7-d366-35d3-8e16-c7b026250f80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오늘은 궁금한 것을 묻고, 고른 까닭을 말하는 ‘생각 연습’을 한다고 알립니다.
시간: 약 2분
이렇게 말해 보세요
- “너는 요즘 무엇이 궁금했어? ‘왜 그럴까?’ 하고 생각한 적 있어?”
- “오늘은 궁금한 것을 묻는 방법과, 무엇을 고를 때 까닭을 말하는 방법을 연습할 거야. 정답을 맞히는 공부가 아니라 생각을 말하는 공부야.”
예상 답
- “하늘은 왜 파래요?” / “몰라요.” / “없어요.”
주의
- 아이가 떠올리지 못해도 괜찮습니다. 엄마(아빠)가 먼저 “엄마는 고양이가 왜 상자를 좋아하는지 궁금해.”처럼 예를 들어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확인(좋아하는 것을 문장으로 말하기)]
목적: 좋아하는 것을 하나 골라 ‘나는 ~이 좋아요.’처럼 문장으로 말할 수 있는지 확인합니다. 이 차시는 계획상 앞 차시가 없으므로, 유치원에서 해 온 ‘좋아하는 것 말하기’를 확인합니다.
시간: 약 3분
이렇게 말해 보세요
- “좋아하는 과일이 뭐야? ‘나는 ○○이 좋아요.’ 하고 문장으로 말해 줄래?”
- “좋아하는 놀이도 말해 볼까?”
예상 답
- “나는 딸기가 좋아요.” / “나는 숨바꼭질이 좋아요.”
정답
- 고른 것을 넣어 한 문장으로 말하면 맞습니다(무엇을 골라도 됩니다).
막히면
- “사과랑 귤 중에 뭐가 더 좋아?”처럼 둘 중에서 고르게 해 줍니다.
- 낱말로만 답하면(“딸기.”) 엄마(아빠)가 “나는 딸기가 좋아요.” 하고 문장으로 말해 주고 따라 하게 합니다. 그래도 어려우면 S13(보충)을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궁금할 때 쓰는 말(왜·어떻게)]
목적: ‘왜’는 까닭을, ‘어떻게’는 방법을 물을 때 쓰는 말임을 알려 줍니다. 물음은 말끝을 올리고 물음표로 끝난다는 것도 함께 짚습니다(M1).
시간: 약 3분
이렇게 말해 보세요
- “‘왜?’는 까닭이 궁금할 때 써. ‘비는 왜 올까?’처럼.”
- “‘어떻게?’는 방법이 궁금할 때 써. ‘새는 어떻게 날까?’처럼. 말끝이 ‘~까?’ 하고 올라가지?”
- “너도 ‘왜’를 넣어서 하나 물어볼래? 엄마(아빠)한테 아무거나 물어봐.”
예상 답
- “엄마는 왜 커피를 마셔요?” / “개는 왜 꼬리를 흔들어요?”
막히면
- 엄마(아빠)가 “○○은 왜 그럴까?”의 앞부분만 말해 주고 아이가 뒤를 채우게 합니다.
주의
- 아이의 질문에 바로 길게 답하지 말고 “좋은 질문이다!” 하고 먼저 칭찬합니다. 답은 나중에 함께 찾아봐도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질문 만드는 차례(시범)]
목적: 물건을 보고 질문을 만드는 차례를 엄마(아빠)가 소리 내어 생각하며 시범을 보입니다.
시간: 약 3분
이렇게 말해 보세요
- (바나나나 집에 있는 물건 하나를 함께 보며) “잘 보자. 색이 노랗네. 껍질이 매끈해. 휘어 있어.”
- “엄마(아빠)는 색이 궁금해. ‘왜’를 넣어 볼게. ‘바나나는 왜 노랄까?’”
- “너는 무엇이 궁금해? ‘어떻게’를 넣어 볼래?”
예상 답
- “바나나는 어떻게 열려요?” / “바나나는 왜 휘었어요?”
막히면
- “색, 모양, 냄새 중에 무엇이 궁금해?” 하고 궁금한 점을 고르게 도와줍니다.
주의
- 바나나가 없으면 컵, 신발처럼 집에 있는 아무 물건이나 써도 됩니다. 화면의 예도 그 물건으로 바꿔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질문 만들기(도움 받아)]
목적: 도움을 받으며 물건 세 가지로 질문을 만들어 봅니다.
시간: 약 5분
이렇게 말해 보세요
- “①은 우산이야. 우산을 떠올려 봐. 무엇이 궁금해?”
- “‘왜’를 넣어도 되고 ‘어떻게’를 넣어도 돼.”
예상 답
- ① “우산은 왜 물이 안 샐까?” / “우산은 어떻게 접혀요?”
- ② “냉장고 안은 왜 차가울까?”
- ③ “달은 왜 모양이 바뀔까?” / “달에는 어떻게 가요?”
정답
- 정답은 하나가 아닙니다. ‘왜’나 ‘어떻게’가 들어가고 물음(~까?, ~요?)으로 끝나면 맞습니다. 질문의 답을 몰라도 됩니다.
막히면
- “우산이 있어요.”처럼 말하면(M1) “그건 알려 주는 말이야. 엄마한테 물어보는 말로 바꿔 볼까?” 하고 말끝을 “~까?”로 바꾸게 합니다.
- 우산을 실제로 펴고 접어 보며 궁금한 점을 찾게 합니다.
주의
- 아이가 만든 질문은 활동지 뒷면이나 종이에 적어 두고, 시간이 날 때 함께 답을 찾아봅니다. 질문을 존중받는 경험이 다음 질문을 만듭니다.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고른 것에 까닭 붙이기]
목적: 무엇을 고를 때 ‘나는 ~할래. 왜냐하면 ~’ 꼴로 까닭을 붙이는 방법을 알려 줍니다.
시간: 약 3분
이렇게 말해 보세요
- “무엇을 고를 때는 까닭도 함께 말하면 좋아. 그러면 듣는 사람이 네 마음을 알 수 있거든.”
- “엄마(아빠)가 먼저 해 볼게. ‘나는 공원에 갈래. 왜냐하면 그네를 타고 싶으니까.’”
- “너는 오늘 간식으로 무엇을 먹고 싶어? ‘왜냐하면’을 넣어 말해 볼래?”
예상 답
- “나는 요구르트 먹을래. 왜냐하면 시원하니까.”
막히면
- ‘왜냐하면’ 뒤를 엄마(아빠)가 “왜냐하면 …” 하고 열어 주고 아이가 채우게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비교(‘그냥’과 까닭)]
목적: ‘그냥’은 까닭을 알려 주지 않는다는 것을 비교로 알게 합니다(M2).
시간: 약 3분
이렇게 말해 보세요
- “하준이 대답을 두 가지로 해 봤어. 어느 쪽을 들으면 하준이 마음을 알 수 있어?”
- “가처럼 ‘그냥’이라고 했다면, 어떻게 바꾸면 좋을까?”
정답
- 나. 무엇이 좋아서 골랐는지(공룡이 나와서) 알려 줍니다.
- 가는 “그림이 예뻐서.”, “공룡을 좋아해서.”처럼 책의 좋은 점을 말하면 까닭이 됩니다.
막히면
- 엄마(아빠)가 아이에게 “왜 그 옷을 입었어?” 하고 묻고 “그냥.”이라고 대답하는 흉내를 낸 뒤, 엄마(아빠) 마음을 알 수 있었는지 물어봅니다.
주의
- 아이가 평소 “그냥”이라고 말해도 나무라지 않습니다. “무엇이 좋았어?” 하고 한 번 더 물어 까닭을 꺼내 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여러 선택과 서로 다른 까닭]
목적: 같은 상황에서도 고르는 것과 까닭이 사람마다 다를 수 있음을 알고, 자기 선택에 까닭을 붙여 말합니다(M3).
시간: 약 5분
이렇게 말해 보세요
- “비가 와서 밖에 못 나가는 토요일이야. 너라면 가, 나, 다 중에 무엇을 할래? 왜냐하면?”
- (아이와 다른 것을 일부러 골라) “엄마(아빠)는 다를 골랐어. 왜냐하면 빗소리를 들으며 책을 읽으면 기분이 좋으니까.”
- “우리는 다른 것을 골랐네. 그래도 둘 다 까닭이 있지? 둘 다 좋은 대답이야.”
예상 답
- “나는 블록 놀이 할래. 왜냐하면 높은 성을 만들고 싶으니까.”
- “나는 그림 그릴래. 왜냐하면 새 색연필이 있으니까.”
정답
- 무엇을 골라도 맞습니다. 고른 것과 이어지는 까닭을 ‘왜냐하면’ 뒤에 말하면 목표 B를 연습한 것입니다.
막히면
- 까닭이 나오지 않으면 “그걸 하면 뭐가 좋아?”, “그걸로 무엇을 만들고 싶어?” 하고 물어 줍니다.
주의
- 엄마(아빠)와 같은 것을 고르려고 눈치를 보면, “엄마랑 달라도 돼. 네 생각이 궁금해.”라고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 보기(질문과 까닭)]
목적: 도움 없이 질문을 만들고(A), 고른 것에 까닭을 붙여 말하는지(B) 확인합니다.
시간: 약 6분
이렇게 말해 보세요
- “이번에는 엄마(아빠)가 도와주지 않을게. ①은 신발을 보고 궁금한 것을 물어봐.”
- “②는 김밥이랑 국수 중에 골라. 까닭도 말해 줘.”
예상 답
- ① “신발 끈은 왜 있을까?” / “신발은 어떻게 만들까?”
- ② “나는 김밥 먹을래. 왜냐하면 햄이 들어 있어서 맛있으니까.”
정답
- ① ‘왜’나 ‘어떻게’가 들어간 물음이면 목표 A 확인 완료입니다.
- ② 무엇을 골라도 맞습니다. 고른 것과 이어지는 까닭을 하나 이상 말하면 목표 B 확인 완료입니다(‘그냥’, ‘몰라’는 아직).
막히면
- 신발을 손에 들고 보게 합니다. 그래도 어려우면 “색, 모양, 끈 중에 무엇이 궁금해?” 하고 묻고 기록표에 ‘도움’으로 표시합니다.
주의
- 관찰한 것을 기록표(S09 줄)에 바로 표시해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잘한 말과 흔한 실수]
목적: S09에서 아이가 한 말을 예와 비교하며 돌아봅니다.
시간: 약 2분
이렇게 말해 보세요
- “네가 한 질문은 어느 쪽이랑 닮았어?”
- “김밥을 골랐든 국수를 골랐든 다 좋아. 까닭을 말했는지가 중요해.”
예상 답
- “나는 왼쪽처럼 했어요.” / “나는 ‘그냥’이라고 했어요. 다시 해 볼래요.”
주의
- 이 장은 학생용 파일에서 빠집니다. 잘한 점을 먼저 말해 주고, 고칠 점은 하나만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확인(새 상황에서 까닭 말하기)]
목적: 처음 보는 상황에서 하나를 고르고 까닭을 붙여 말하는지 확인합니다.
시간: 약 3분
이렇게 말해 보세요
- “공원에 하나만 가져갈 수 있대. 무엇을 가져갈래? 왜냐하면?”
- “엄마(아빠)가 다른 것을 고르면 어떤 까닭일까? 하나 떠올려 볼래?” (여유가 있을 때)
정답
- 무엇을 골라도 맞습니다. 예: “나는 공을 가져갈래. 왜냐하면 아빠랑 공차기를 하고 싶으니까.” 고른 것과 이어지는 까닭이면 목표 B 확인 완료입니다.
막히면
- S06 화면으로 돌아가 ‘나는 ~할래. 왜냐하면 ~’ 꼴을 다시 보여 줍니다.
주의
- 다른 사람의 까닭을 떠올리는 둘째 물음은 2학년 ‘서로 다른 이유’에서 본격적으로 다룹니다. 오늘은 맛보기로만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학습]
목적: 오늘 배운 두 가지를 한 문장으로 정리하고 다음 수업 첫 5분에 할 복습을 알려 줍니다.
시간: 약 2분
이렇게 말해 보세요
- “오늘 무엇을 배웠지? 궁금할 때는 어떻게 물었어? 무엇을 고를 때는?”
예상 답
- “‘왜’를 넣어서 물어요. 고를 때는 ‘왜냐하면’ 하고 까닭을 말해요.”
정답
- ① ‘왜’가 들어간 물음이면 맞음 ② 계절 하나와 이어지는 까닭(예: 여름, 왜냐하면 수영할 수 있으니까) ③ 왜냐하면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보충(둘 중 하나 골라 말하기)]
목적: S02에서 좋아하는 것을 문장으로 말하기 어려우면, 눈앞의 실물 두 가지 중에서 고르고 문장으로 말하는 것부터 연습합니다.
시간: 약 5분
이렇게 말해 보세요
- (컵과 숟가락, 또는 과일 두 개를 양손에 들고) “어느 쪽이 좋아? 손으로 가리켜 봐.”
- “이제 말로 해 볼까? ‘나는 컵이 좋아요.’”
- “컵의 무엇이 좋아? 색? 모양?” (까닭의 첫걸음)
정답
- 고른 것을 넣어 ‘나는 ~이 좋아요.’ 하고 말하면 맞습니다. 색이나 모양을 하나 더 말하면 아주 잘한 것입니다.
막히면
- 엄마(아빠)가 문장을 먼저 말하고 따라 하게 합니다.
- 이 차시는 계획상 앞 차시가 없습니다. 문장으로 말하기가 계속 어려우면 국어 ‘문장으로 말하고 쓰기’를 먼저 함께 하면 좋습니다.
주의
- 보충이 오래 걸리면 오늘은 여기까지 하고,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철학·논리·심리·교육·종교 · 질문과이유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철학·논리·심리·교육·종교 · 질문하고 이유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철학·논리·심리·교육·종교 · 질문하고 이유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철학·논리·심리·교육·종교 · 질문하고 이유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질문하고 이유 말하기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 하고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궁금했던 적 있나요?</a:t>
            </a:r>
            <a:endParaRPr lang="ko-KR" sz="3200" dirty="0"/>
          </a:p>
        </p:txBody>
      </p:sp>
      <p:sp>
        <p:nvSpPr>
          <p:cNvPr id="4" name="S01-big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왜?</a:t>
            </a:r>
            <a:endParaRPr lang="ko-KR" sz="5400" dirty="0"/>
          </a:p>
        </p:txBody>
      </p:sp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궁금한 것을 ‘왜?’로 물어요.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고른 까닭을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좋아요?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문장으로 말해요.</a:t>
            </a:r>
            <a:endParaRPr lang="ko-KR" sz="3200" dirty="0"/>
          </a:p>
        </p:txBody>
      </p:sp>
      <p:sp>
        <p:nvSpPr>
          <p:cNvPr id="4" name="S02-card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○○이 좋아요.” 하고 말해요.</a:t>
            </a:r>
            <a:endParaRPr lang="ko-KR" sz="32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과일은?</a:t>
            </a:r>
            <a:endParaRPr lang="ko-KR" sz="32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놀이는?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궁금하면 물어봐요</a:t>
            </a:r>
            <a:endParaRPr lang="ko-KR" sz="44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궁금할 때 쓰는 말이 있어요.</a:t>
            </a:r>
            <a:endParaRPr lang="ko-KR" sz="3200" dirty="0"/>
          </a:p>
        </p:txBody>
      </p:sp>
      <p:sp>
        <p:nvSpPr>
          <p:cNvPr id="4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물어보면 새로 알게 돼요.</a:t>
            </a:r>
            <a:endParaRPr lang="ko-KR" sz="3200" dirty="0"/>
          </a:p>
        </p:txBody>
      </p:sp>
      <p:sp>
        <p:nvSpPr>
          <p:cNvPr id="6" name="S03-card14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5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 궁금할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“비는 왜 올까?”</a:t>
            </a:r>
            <a:endParaRPr lang="ko-KR" sz="3200" dirty="0"/>
          </a:p>
        </p:txBody>
      </p:sp>
      <p:sp>
        <p:nvSpPr>
          <p:cNvPr id="8" name="S03-card16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7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방법이 궁금할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“새는 어떻게 날까?”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만들어요</a:t>
            </a:r>
            <a:endParaRPr lang="ko-KR" sz="4400" dirty="0"/>
          </a:p>
        </p:txBody>
      </p:sp>
      <p:sp>
        <p:nvSpPr>
          <p:cNvPr id="3" name="S04-text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바나나로 함께 해 봐요.</a:t>
            </a:r>
            <a:endParaRPr lang="ko-KR" sz="3200" dirty="0"/>
          </a:p>
        </p:txBody>
      </p:sp>
      <p:sp>
        <p:nvSpPr>
          <p:cNvPr id="4" name="S04-card1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물을 수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“바나나는 왜 노랄까?”</a:t>
            </a:r>
            <a:endParaRPr lang="ko-KR" sz="3200" dirty="0"/>
          </a:p>
        </p:txBody>
      </p:sp>
      <p:sp>
        <p:nvSpPr>
          <p:cNvPr id="6" name="S04-stepno21"/>
          <p:cNvSpPr txBox="1"/>
          <p:nvPr/>
        </p:nvSpPr>
        <p:spPr>
          <a:xfrm>
            <a:off x="548640" y="236093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4-text22"/>
          <p:cNvSpPr txBox="1"/>
          <p:nvPr/>
        </p:nvSpPr>
        <p:spPr>
          <a:xfrm>
            <a:off x="1325880" y="236093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잘 보고 만져요.</a:t>
            </a:r>
            <a:endParaRPr lang="ko-KR" sz="3200" dirty="0"/>
          </a:p>
        </p:txBody>
      </p:sp>
      <p:sp>
        <p:nvSpPr>
          <p:cNvPr id="8" name="S04-stepno23"/>
          <p:cNvSpPr txBox="1"/>
          <p:nvPr/>
        </p:nvSpPr>
        <p:spPr>
          <a:xfrm>
            <a:off x="548640" y="307416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4-text24"/>
          <p:cNvSpPr txBox="1"/>
          <p:nvPr/>
        </p:nvSpPr>
        <p:spPr>
          <a:xfrm>
            <a:off x="1325880" y="307416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점을 찾아요.</a:t>
            </a:r>
            <a:endParaRPr lang="ko-KR" sz="3200" dirty="0"/>
          </a:p>
        </p:txBody>
      </p:sp>
      <p:sp>
        <p:nvSpPr>
          <p:cNvPr id="10" name="S04-stepno25"/>
          <p:cNvSpPr txBox="1"/>
          <p:nvPr/>
        </p:nvSpPr>
        <p:spPr>
          <a:xfrm>
            <a:off x="548640" y="378739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4-text26"/>
          <p:cNvSpPr txBox="1"/>
          <p:nvPr/>
        </p:nvSpPr>
        <p:spPr>
          <a:xfrm>
            <a:off x="1325880" y="378739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‘왜’나 ‘어떻게’를 넣어 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만들어 봐요</a:t>
            </a:r>
            <a:endParaRPr lang="ko-KR" sz="4400" dirty="0"/>
          </a:p>
        </p:txBody>
      </p:sp>
      <p:sp>
        <p:nvSpPr>
          <p:cNvPr id="3" name="S05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궁금한 것을 물어요.</a:t>
            </a:r>
            <a:endParaRPr lang="ko-KR" sz="3200" dirty="0"/>
          </a:p>
        </p:txBody>
      </p:sp>
      <p:sp>
        <p:nvSpPr>
          <p:cNvPr id="4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‘왜’나 ‘어떻게’를 넣어 물어요.</a:t>
            </a:r>
            <a:endParaRPr lang="ko-KR" sz="3200" dirty="0"/>
          </a:p>
        </p:txBody>
      </p:sp>
      <p:sp>
        <p:nvSpPr>
          <p:cNvPr id="6" name="S05-chip3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우산</a:t>
            </a:r>
            <a:endParaRPr lang="ko-KR" sz="3200" dirty="0"/>
          </a:p>
        </p:txBody>
      </p:sp>
      <p:sp>
        <p:nvSpPr>
          <p:cNvPr id="8" name="S05-chip3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</a:t>
            </a:r>
            <a:endParaRPr lang="ko-KR" sz="3200" dirty="0"/>
          </a:p>
        </p:txBody>
      </p:sp>
      <p:sp>
        <p:nvSpPr>
          <p:cNvPr id="10" name="S05-chip3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 까닭 말하기</a:t>
            </a:r>
            <a:endParaRPr lang="ko-KR" sz="4400" dirty="0"/>
          </a:p>
        </p:txBody>
      </p:sp>
      <p:sp>
        <p:nvSpPr>
          <p:cNvPr id="3" name="S06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 뒤에 까닭을 붙여요.</a:t>
            </a:r>
            <a:endParaRPr lang="ko-KR" sz="3200" dirty="0"/>
          </a:p>
        </p:txBody>
      </p:sp>
      <p:sp>
        <p:nvSpPr>
          <p:cNvPr id="4" name="S06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 ‘왜냐하면’ 뒤에 말해요.</a:t>
            </a:r>
            <a:endParaRPr lang="ko-KR" sz="3200" dirty="0"/>
          </a:p>
        </p:txBody>
      </p:sp>
      <p:sp>
        <p:nvSpPr>
          <p:cNvPr id="6" name="S06-card39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0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공원에 갈래.”</a:t>
            </a:r>
            <a:endParaRPr lang="ko-KR" sz="3200" dirty="0"/>
          </a:p>
        </p:txBody>
      </p:sp>
      <p:sp>
        <p:nvSpPr>
          <p:cNvPr id="8" name="S06-card41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6-cardtext42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“왜냐하면 그네를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타고 싶으니까.”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까닭일까요?</a:t>
            </a:r>
            <a:endParaRPr lang="ko-KR" sz="4400" dirty="0"/>
          </a:p>
        </p:txBody>
      </p:sp>
      <p:sp>
        <p:nvSpPr>
          <p:cNvPr id="3" name="S07-card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하준이에게 물었어요. “왜 그 책을 골랐어?”</a:t>
            </a:r>
            <a:endParaRPr lang="ko-KR" sz="3200" dirty="0"/>
          </a:p>
        </p:txBody>
      </p:sp>
      <p:sp>
        <p:nvSpPr>
          <p:cNvPr id="5" name="S07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까닭을 알려 주나요?</a:t>
            </a:r>
            <a:endParaRPr lang="ko-KR" sz="3200" dirty="0"/>
          </a:p>
        </p:txBody>
      </p:sp>
      <p:sp>
        <p:nvSpPr>
          <p:cNvPr id="7" name="S07-chip4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4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“그냥.”</a:t>
            </a:r>
            <a:endParaRPr lang="ko-KR" sz="3200" dirty="0"/>
          </a:p>
        </p:txBody>
      </p:sp>
      <p:sp>
        <p:nvSpPr>
          <p:cNvPr id="9" name="S07-chip4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5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“공룡이 나와서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재미있어.”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무엇을 할까?</a:t>
            </a:r>
            <a:endParaRPr lang="ko-KR" sz="4400" dirty="0"/>
          </a:p>
        </p:txBody>
      </p:sp>
      <p:sp>
        <p:nvSpPr>
          <p:cNvPr id="3" name="S08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토요일이에요.</a:t>
            </a:r>
            <a:endParaRPr lang="ko-KR" sz="3200" dirty="0"/>
          </a:p>
        </p:txBody>
      </p:sp>
      <p:sp>
        <p:nvSpPr>
          <p:cNvPr id="4" name="S08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“왜냐하면 ~” 하고 말해요.</a:t>
            </a:r>
            <a:endParaRPr lang="ko-KR" sz="3200" dirty="0"/>
          </a:p>
        </p:txBody>
      </p:sp>
      <p:sp>
        <p:nvSpPr>
          <p:cNvPr id="6" name="S08-chip5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5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놀이</a:t>
            </a:r>
            <a:endParaRPr lang="ko-KR" sz="3200" dirty="0"/>
          </a:p>
        </p:txBody>
      </p:sp>
      <p:sp>
        <p:nvSpPr>
          <p:cNvPr id="9" name="S08-chip5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5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5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그리기</a:t>
            </a:r>
            <a:endParaRPr lang="ko-KR" sz="3200" dirty="0"/>
          </a:p>
        </p:txBody>
      </p:sp>
      <p:sp>
        <p:nvSpPr>
          <p:cNvPr id="12" name="S08-chip6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6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6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읽기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봐요</a:t>
            </a:r>
            <a:endParaRPr lang="ko-KR" sz="4400" dirty="0"/>
          </a:p>
        </p:txBody>
      </p:sp>
      <p:sp>
        <p:nvSpPr>
          <p:cNvPr id="3" name="S09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묻고, 고르고, 까닭을 말해요.</a:t>
            </a:r>
            <a:endParaRPr lang="ko-KR" sz="3200" dirty="0"/>
          </a:p>
        </p:txBody>
      </p:sp>
      <p:sp>
        <p:nvSpPr>
          <p:cNvPr id="4" name="S09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text6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신발을 보고 궁금한 것을 물어요.</a:t>
            </a:r>
            <a:endParaRPr lang="ko-KR" sz="3200" dirty="0"/>
          </a:p>
        </p:txBody>
      </p:sp>
      <p:sp>
        <p:nvSpPr>
          <p:cNvPr id="6" name="S09-chip6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text6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저녁에 김밥과 국수 중 무엇을 먹을래요? 까닭도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말과 흔한 실수</a:t>
            </a:r>
            <a:endParaRPr lang="ko-KR" sz="4400" dirty="0"/>
          </a:p>
        </p:txBody>
      </p:sp>
      <p:sp>
        <p:nvSpPr>
          <p:cNvPr id="3" name="S10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것은 달라도 까닭이 있으면 잘한 거예요.</a:t>
            </a:r>
            <a:endParaRPr lang="ko-KR" sz="3200" dirty="0"/>
          </a:p>
        </p:txBody>
      </p:sp>
      <p:sp>
        <p:nvSpPr>
          <p:cNvPr id="5" name="S10-chip7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71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“신발 끈은 왜 있을까?”</a:t>
            </a:r>
            <a:endParaRPr lang="ko-KR" sz="3200" dirty="0"/>
          </a:p>
        </p:txBody>
      </p:sp>
      <p:sp>
        <p:nvSpPr>
          <p:cNvPr id="7" name="S10-text72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‘왜’를 넣은 물음</a:t>
            </a:r>
            <a:endParaRPr lang="ko-KR" sz="2600" dirty="0"/>
          </a:p>
        </p:txBody>
      </p:sp>
      <p:sp>
        <p:nvSpPr>
          <p:cNvPr id="8" name="S10-text73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“김밥! 햄이 맛있으니까.”</a:t>
            </a:r>
            <a:endParaRPr lang="ko-KR" sz="3200" dirty="0"/>
          </a:p>
        </p:txBody>
      </p:sp>
      <p:sp>
        <p:nvSpPr>
          <p:cNvPr id="9" name="S10-text74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것과 까닭</a:t>
            </a:r>
            <a:endParaRPr lang="ko-KR" sz="2600" dirty="0"/>
          </a:p>
        </p:txBody>
      </p:sp>
      <p:sp>
        <p:nvSpPr>
          <p:cNvPr id="10" name="S10-chip7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0-text7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“신발이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있어요.”</a:t>
            </a:r>
            <a:endParaRPr lang="ko-KR" sz="3200" dirty="0"/>
          </a:p>
        </p:txBody>
      </p:sp>
      <p:sp>
        <p:nvSpPr>
          <p:cNvPr id="12" name="S10-text7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물음이 아님</a:t>
            </a:r>
            <a:endParaRPr lang="ko-KR" sz="2600" dirty="0"/>
          </a:p>
        </p:txBody>
      </p:sp>
      <p:sp>
        <p:nvSpPr>
          <p:cNvPr id="13" name="S10-text7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“김밥. 그냥.”</a:t>
            </a:r>
            <a:endParaRPr lang="ko-KR" sz="3200" dirty="0"/>
          </a:p>
        </p:txBody>
      </p:sp>
      <p:sp>
        <p:nvSpPr>
          <p:cNvPr id="14" name="S10-text7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 없음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무엇을 가져갈까?</a:t>
            </a:r>
            <a:endParaRPr lang="ko-KR" sz="4400" dirty="0"/>
          </a:p>
        </p:txBody>
      </p:sp>
      <p:sp>
        <p:nvSpPr>
          <p:cNvPr id="3" name="S11-text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하나만 가져갈 수 있어요.</a:t>
            </a:r>
            <a:endParaRPr lang="ko-KR" sz="3200" dirty="0"/>
          </a:p>
        </p:txBody>
      </p:sp>
      <p:sp>
        <p:nvSpPr>
          <p:cNvPr id="4" name="S11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골라 까닭을 말해요.</a:t>
            </a:r>
            <a:endParaRPr lang="ko-KR" sz="3200" dirty="0"/>
          </a:p>
        </p:txBody>
      </p:sp>
      <p:sp>
        <p:nvSpPr>
          <p:cNvPr id="6" name="S11-chip8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84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85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endParaRPr lang="ko-KR" sz="3200" dirty="0"/>
          </a:p>
        </p:txBody>
      </p:sp>
      <p:sp>
        <p:nvSpPr>
          <p:cNvPr id="9" name="S11-chip8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87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88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</a:t>
            </a:r>
            <a:endParaRPr lang="ko-KR" sz="3200" dirty="0"/>
          </a:p>
        </p:txBody>
      </p:sp>
      <p:sp>
        <p:nvSpPr>
          <p:cNvPr id="12" name="S11-chip8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90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91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비눗방울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92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93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궁금하면 ‘왜?’, ‘어떻게?’ 하고 묻고,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고를 때는 까닭을 말해요.</a:t>
            </a:r>
            <a:endParaRPr lang="ko-KR" sz="3200" dirty="0"/>
          </a:p>
        </p:txBody>
      </p:sp>
      <p:sp>
        <p:nvSpPr>
          <p:cNvPr id="5" name="S12-chip94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‘왜냐하면’ 붙이기</a:t>
            </a:r>
            <a:endParaRPr lang="ko-KR" sz="2600" dirty="0"/>
          </a:p>
        </p:txBody>
      </p:sp>
      <p:sp>
        <p:nvSpPr>
          <p:cNvPr id="6" name="S12-chip95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‘그냥’으로 끝내기</a:t>
            </a:r>
            <a:endParaRPr lang="ko-KR" sz="2600" dirty="0"/>
          </a:p>
        </p:txBody>
      </p:sp>
      <p:sp>
        <p:nvSpPr>
          <p:cNvPr id="7" name="S12-text96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97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‘왜’를 넣어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</a:t>
            </a:r>
            <a:endParaRPr lang="ko-KR" sz="2600" dirty="0"/>
          </a:p>
        </p:txBody>
      </p:sp>
      <p:sp>
        <p:nvSpPr>
          <p:cNvPr id="9" name="S12-text98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좋아하는 계절과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까닭</a:t>
            </a:r>
            <a:endParaRPr lang="ko-KR" sz="2600" dirty="0"/>
          </a:p>
        </p:txBody>
      </p:sp>
      <p:sp>
        <p:nvSpPr>
          <p:cNvPr id="10" name="S12-text99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까닭 앞에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붙이는 말</a:t>
            </a:r>
            <a:endParaRPr lang="ko-KR" sz="2600" dirty="0"/>
          </a:p>
        </p:txBody>
      </p:sp>
      <p:sp>
        <p:nvSpPr>
          <p:cNvPr id="11" name="S12-text10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할 일 나누기와 느낌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둘 중에 골라요</a:t>
            </a:r>
            <a:endParaRPr lang="ko-KR" sz="4400" dirty="0"/>
          </a:p>
        </p:txBody>
      </p:sp>
      <p:sp>
        <p:nvSpPr>
          <p:cNvPr id="3" name="S13-text1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손에 든 두 가지 중에 골라요.</a:t>
            </a:r>
            <a:endParaRPr lang="ko-KR" sz="3200" dirty="0"/>
          </a:p>
        </p:txBody>
      </p:sp>
      <p:sp>
        <p:nvSpPr>
          <p:cNvPr id="4" name="S13-card1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것을 문장으로 말해요.</a:t>
            </a:r>
            <a:endParaRPr lang="ko-KR" sz="3200" dirty="0"/>
          </a:p>
        </p:txBody>
      </p:sp>
      <p:sp>
        <p:nvSpPr>
          <p:cNvPr id="6" name="S13-step104"/>
          <p:cNvSpPr txBox="1"/>
          <p:nvPr/>
        </p:nvSpPr>
        <p:spPr>
          <a:xfrm>
            <a:off x="129387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중에 골라요</a:t>
            </a:r>
            <a:endParaRPr lang="ko-KR" sz="3000" dirty="0"/>
          </a:p>
        </p:txBody>
      </p:sp>
      <p:sp>
        <p:nvSpPr>
          <p:cNvPr id="7" name="S13-line105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3-step106"/>
          <p:cNvSpPr txBox="1"/>
          <p:nvPr/>
        </p:nvSpPr>
        <p:spPr>
          <a:xfrm>
            <a:off x="463143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○○이 좋아요.”</a:t>
            </a:r>
            <a:endParaRPr lang="ko-KR" sz="3000" dirty="0"/>
          </a:p>
        </p:txBody>
      </p:sp>
      <p:sp>
        <p:nvSpPr>
          <p:cNvPr id="9" name="S13-line107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3-step108"/>
          <p:cNvSpPr txBox="1"/>
          <p:nvPr/>
        </p:nvSpPr>
        <p:spPr>
          <a:xfrm>
            <a:off x="796899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 더 말해요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철학·논리·심리·교육·종교 질문하고 이유 말하기</dc:title>
  <dc:subject>KR22-G01-HUM-WHY-L01</dc:subject>
  <dc:creator>education-ppt</dc:creator>
  <cp:lastModifiedBy>education-ppt</cp:lastModifiedBy>
  <cp:revision>1</cp:revision>
  <dcterms:created xsi:type="dcterms:W3CDTF">2026-10-26T09:58:10Z</dcterms:created>
  <dcterms:modified xsi:type="dcterms:W3CDTF">2026-10-26T09:58:10Z</dcterms:modified>
</cp:coreProperties>
</file>