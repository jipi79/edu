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9a997f-2505-d775-8816-d8035fd43d32}">
          <p14:sldIdLst>
            <p14:sldId id="256"/>
            <p14:sldId id="257"/>
          </p14:sldIdLst>
        </p14:section>
        <p14:section name="개념" id="{8d813c02-9c46-defd-de73-7c89e9d26720}">
          <p14:sldIdLst>
            <p14:sldId id="258"/>
          </p14:sldIdLst>
        </p14:section>
        <p14:section name="연습" id="{3451deaf-4867-96eb-ab54-b9251fd30c57}">
          <p14:sldIdLst>
            <p14:sldId id="259"/>
            <p14:sldId id="260"/>
          </p14:sldIdLst>
        </p14:section>
        <p14:section name="확인" id="{7321ca79-0d54-3ba9-9b58-481c87f5126a}">
          <p14:sldIdLst>
            <p14:sldId id="261"/>
          </p14:sldIdLst>
        </p14:section>
        <p14:section name="정리" id="{c8916e1d-6f79-4a37-d847-ab0618bd93b5}">
          <p14:sldIdLst>
            <p14:sldId id="262"/>
          </p14:sldIdLst>
        </p14:section>
        <p14:section name="보충" id="{d1d03944-5b88-6ad2-0ea1-7ea30f44868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일(좋아하는 활동 찾기, 우리를 돕는 사람 찾기)을 알립니다.
시간: 약 2분
이렇게 말해 보세요
- “너는 무엇을 할 때 제일 즐거워? 오늘은 네가 좋아하는 것을 찾아보고, 우리 생활을 도와주는 사람들도 찾아볼 거야.”
예상 답
- “놀이터에서 노는 거요.” / “몰라요.”
주의
- 감사 카드를 만들 종이와 크레파스를 준비합니다.
- 이 차시에서는 ‘아저씨’, ‘아줌마’ 대신 소방관, 택배 기사님처럼 일의 이름으로 부릅니다. 어떤 일이든 남녀 누구나 할 수 있다는 것을 말과 예로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확인(겪은 일과 기분 말하기)]
목적: 겪은 일을 문장으로 말하고 그때의 기분을 낱말로 말할 수 있는지 확인합니다. 좋아하는 활동과 까닭을 말하려면 이 힘이 필요합니다. 이 차시는 계획상 앞 차시가 없으므로 유치원에서 해 온 ‘내 이야기 말하기’를 확인합니다.
시간: 약 3분
이렇게 말해 보세요
- “어제(지난 주말에) 무엇을 하며 놀았어? ‘나는 ~를 했어요.’로 말해 볼래?”
- “그때 기분은 어땠어?”
예상 답
- ① “나는 블록으로 집을 만들었어요.” ② “재미있었어요.” / “신났어요.”
정답
- 한 일을 문장으로 말하고 기분 낱말(재미있었어요, 기뻤어요, 심심했어요 등)을 하나 말하면 맞습니다.
막히면
- 한 일을 떠올리지 못하면 “어제 밥 먹고 나서 뭐 했지?”처럼 시간을 짚어 줍니다.
- 두 가지 모두 어려우면 S08(보충)을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좋아하는 활동과 돕는 일의 뜻]
목적: 좋아하는 활동은 ‘하면 즐겁고 또 하고 싶은 일’이고, 우리를 돕는 일은 ‘다른 사람의 생활을 편하고 안전하게 하는 일’이라는 것을 알려 주고, 까닭을 붙여 말하는 틀을 시범으로 보여 줍니다.
시간: 약 4분
이렇게 말해 보세요
- “엄마(아빠)는 요리하는 걸 좋아해. 맛있는 음식을 만들면 가족이 웃어서 좋아. 이렇게 ‘나는 ~를 좋아해요. ~해서요.’ 하고 까닭을 붙여 말해.”
- “그리고 우리 생활을 도와주는 사람들이 있어. 오늘 아침에 쓰레기를 치워 준 사람, 아플 때 치료해 준 사람처럼.”
예상 답
- “나는 블록을 좋아해요. 멋진 걸 만들 수 있어서요.”
막히면
- ‘좋아하는 것’을 장난감 이름으로만 말하면(M2) “그걸로 무엇을 하는 게 좋아?”라고 물어 활동으로 바꾸어 말하게 합니다.
주의
- 까닭은 짧아도 됩니다(“재미있어서요.”). 처음에는 부모가 예를 많이 들어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좋아하는 활동 찾기]
목적: 해 본 활동을 넓게 떠올린 뒤 좋아하는 활동 세 가지를 고르고 까닭을 붙여 말하는 연습을 합니다(목표 A).
시간: 약 8분
이렇게 말해 보세요
- “몸으로 하는 것, 손으로 만드는 것, 누구와 함께하는 것, 알아보는 것 … 해 본 걸 다 말해 보자. 엄마(아빠)가 받아 적을게.”
- “이 중에서 가장 좋아하는 것 세 가지에 동그라미 해 볼까?”
- “왜 그게 좋아?”
예상 답
- 몸으로: 달리기, 춤추기, 공놀이, 자전거 / 손으로: 그리기, 블록, 종이접기, 요리 돕기 / 함께: 보드게임, 역할 놀이 / 알아보기: 그림책, 곤충·식물 보기
- “나는 종이접기를 좋아해요. 비행기를 접어서 날릴 수 있어서요.”
정답
- 관찰 기준 세 가지를 지키면 연습 완료입니다. 활동지 1에 받아 적어 둡니다.
막히면
- 떠올리기 어려우면 부모가 “공놀이 해 봤지? 그림 그리기는?”처럼 하나씩 물어 줍니다.
- 까닭을 말하지 못하면 “할 때 어떤 기분이야? 재밌어? 신나?”라고 기분 낱말로 도와줍니다.
주의
- “여자아이(남자아이)는 이런 걸 좋아해야지.”처럼 성별로 좋아하는 것을 정하지 않습니다. 아이가 고른 것을 그대로 존중합니다.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우리를 돕는 사람들과 내 생활]
목적: 생활을 돕는 사람들이 하는 일을 알고, 그 일이 내 생활을 어떻게 도왔는지 떠올려 말하는 연습을 합니다(목표 B, M1·M3).
시간: 약 8분
이렇게 말해 보세요
- “카드를 하나씩 읽어 볼까? 택배 기사님은 언제 우리를 도와주셨지?”
- “아침에 길이 깨끗했던 건 누구 덕분일까?”
- “아팠을 때 누가 도와줬어?”
- “소방관은 남자만 할까? 간호사는 여자만 할까?”
예상 답
- “택배 기사님이 책을 가져다주셨어요.” / “환경미화원이 쓰레기를 치워 줘요.” / “감기 걸렸을 때 의사 선생님이 약을 주셨어요.”
- “아니요, 누구나 할 수 있어요.”
정답
- 여섯 사람 중 네 사람 이상에 대해 하는 일을 맞게 말하고, 그중 한두 사람에게 도움을 받은 때를 말하면 연습 완료입니다.
- 모든 일은 남녀 누구나 할 수 있습니다(M1).
막히면
- 도움을 받은 때를 떠올리지 못하면 집에 온 택배 상자, 다녀온 병원처럼 눈에 보이는 물건과 장소를 짚어 줍니다.
주의
- 주변에 여성 소방관·경찰관, 남성 간호사·선생님 같은 예가 있으면 들려줍니다. 그림책이나 뉴스에서 함께 찾아봐도 좋습니다.
- ‘돈을 받으니까 당연하다’가 아니라, 그 일 덕분에 우리 생활이 편하고 안전하다는 데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소개하고 고마움 전하기]
목적: 도움 없이 좋아하는 활동과 까닭을 소개하고(목표 A), 돕는 사람 한 명의 일과 고마운 점을 말하는지(목표 B) 관찰합니다.
시간: 약 12분
이렇게 말해 보세요
- “이번엔 엄마(아빠)가 도와주지 않을게. 네가 좋아하는 활동 세 가지를 소개해 줘. 왜 좋아?”
- “우리를 돕는 사람 중에 고마운 사람 한 명을 골라 볼까? 그 사람은 무슨 일을 해? 무엇이 고마워?”
- “그 마음을 감사 카드에 그려 보자. 하고 싶은 말은 엄마가 받아 써 줄게.”
예상 답
- “나는 그림 그리기, 공놀이, 블록을 좋아해요. 그림 그리기는 내 마음대로 만들 수 있어서 좋아요.”
- “택배 기사님은 물건을 집까지 날라 주세요. 무거운 물을 가져다주셔서 고마워요.”
정답
- 관찰 기준 세 가지를 모두 지키면 목표 A·B 확인 완료입니다. 두 가지 이하이면 다음 수업 처음에 부족한 부분(S04 또는 S05)을 짧게 다시 합니다.
막히면
- 한 사람을 고르지 못하면 오늘 만난 사람(경비원, 선생님, 택배 기사님)을 떠올리게 합니다.
주의
- 완성한 감사 카드는 직접 건네거나, 가족과 함께 사진을 찍어 보내는 방법으로 전할 수 있습니다. 모르는 사람에게 아이 혼자 다가가지 않게 합니다.
- 관찰 결과를 기록표(S06 줄)에 바로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찾은 것을 정리하고 다음 수업 첫 5분 복습을 알려 줍니다.
시간: 약 3분
이렇게 말해 보세요
- “오늘 네가 찾은 좋아하는 활동은 뭐였지? 고마운 사람은 누구였어?”
예상 답
- “그림 그리기요. 택배 기사님이 고마워요.”
정답
- ① 좋아하는 활동과 까닭(‘~해서요’)을 말하면 맞음 ② 환경미화원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보충(둘 중에 고르기)]
목적: S02에서 겪은 일이나 기분을 말하기 어려우면, 둘 중에 고르고 까닭을 말하는 쉬운 방법으로 ‘좋아하는 것’을 찾게 합니다.
시간: 약 4분
이렇게 말해 보세요
- “블록 쌓기랑 그림 그리기 중에 지금 하나만 한다면 뭘 하고 싶어?”
- “왜 그게 더 좋아?”
- (다른 짝으로 바꿔 가며) “공놀이랑 책 읽기는? 노래하기랑 종이접기는?”
정답
- 하나를 고르고 까닭을 한 가지 말하면 맞습니다(“재미있어서요.”도 맞음).
막히면
- 까닭을 말하지 못하면 “재밌어서? 쉬워서? 멋져서?” 세 가지 중에서 고르게 합니다.
- 이 차시는 계획상 앞 차시가 없습니다. 고르기도 어려워하면 며칠 동안 놀이를 할 때마다 “이거 좋아? 왜?”를 짧게 물어 본 뒤 S04부터 다시 합니다.
주의
- 짝은 아이가 실제로 해 본 활동으로 바꿔도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흥미와일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좋아하는 활동과 우리를 돕는 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좋아하는 활동과 우리를 돕는 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진로·직업 · 좋아하는 활동과 우리를 돕는 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활동과 돕는 일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무엇을 좋아할까?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우리를 도울까?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좋아하는 활동과 까닭을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우리를 돕는 사람의 일을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무엇을 했나요?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~를 했어요.’로 말해요.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놀이를 말해요.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기분은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것, 돕는 일</a:t>
            </a:r>
            <a:endParaRPr lang="ko-KR" sz="44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~를 좋아해요. ~해서요.’</a:t>
            </a:r>
            <a:endParaRPr lang="ko-KR" sz="32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즐겁고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하고 싶은 일</a:t>
            </a:r>
            <a:endParaRPr lang="ko-KR" sz="32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돕는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생활을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편하고 안전하게 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 찾기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본 활동을 떠올려요.</a:t>
            </a:r>
            <a:endParaRPr lang="ko-KR" sz="3200" dirty="0"/>
          </a:p>
        </p:txBody>
      </p:sp>
      <p:sp>
        <p:nvSpPr>
          <p:cNvPr id="4" name="S04-card1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좋아하는 것 세 가지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하나씩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‘~해서 좋아요’로 말해요</a:t>
            </a:r>
            <a:endParaRPr lang="ko-KR" sz="3200" dirty="0"/>
          </a:p>
        </p:txBody>
      </p:sp>
      <p:sp>
        <p:nvSpPr>
          <p:cNvPr id="6" name="S04-stepno18"/>
          <p:cNvSpPr txBox="1"/>
          <p:nvPr/>
        </p:nvSpPr>
        <p:spPr>
          <a:xfrm>
            <a:off x="548640" y="2905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19"/>
          <p:cNvSpPr txBox="1"/>
          <p:nvPr/>
        </p:nvSpPr>
        <p:spPr>
          <a:xfrm>
            <a:off x="1325880" y="2905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본 활동을 많이 말해요.</a:t>
            </a:r>
            <a:endParaRPr lang="ko-KR" sz="3200" dirty="0"/>
          </a:p>
        </p:txBody>
      </p:sp>
      <p:sp>
        <p:nvSpPr>
          <p:cNvPr id="8" name="S04-stepno20"/>
          <p:cNvSpPr txBox="1"/>
          <p:nvPr/>
        </p:nvSpPr>
        <p:spPr>
          <a:xfrm>
            <a:off x="548640" y="3664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21"/>
          <p:cNvSpPr txBox="1"/>
          <p:nvPr/>
        </p:nvSpPr>
        <p:spPr>
          <a:xfrm>
            <a:off x="1325880" y="361899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좋아하는 세 가지를 골라요.</a:t>
            </a:r>
            <a:endParaRPr lang="ko-KR" sz="3200" dirty="0"/>
          </a:p>
        </p:txBody>
      </p:sp>
      <p:sp>
        <p:nvSpPr>
          <p:cNvPr id="10" name="S04-stepno22"/>
          <p:cNvSpPr txBox="1"/>
          <p:nvPr/>
        </p:nvSpPr>
        <p:spPr>
          <a:xfrm>
            <a:off x="548640" y="47752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23"/>
          <p:cNvSpPr txBox="1"/>
          <p:nvPr/>
        </p:nvSpPr>
        <p:spPr>
          <a:xfrm>
            <a:off x="1325880" y="47752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좋은지 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돕는 사람들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도움을 받았는지 말해요.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소방관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끄고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구해요</a:t>
            </a:r>
            <a:endParaRPr lang="ko-KR" sz="3200" dirty="0"/>
          </a:p>
        </p:txBody>
      </p:sp>
      <p:sp>
        <p:nvSpPr>
          <p:cNvPr id="6" name="S05-card27"/>
          <p:cNvSpPr/>
          <p:nvPr/>
        </p:nvSpPr>
        <p:spPr>
          <a:xfrm>
            <a:off x="4322064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8"/>
          <p:cNvSpPr txBox="1"/>
          <p:nvPr/>
        </p:nvSpPr>
        <p:spPr>
          <a:xfrm>
            <a:off x="4596384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의사·간호사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사람을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치료하고 돌봐요</a:t>
            </a:r>
            <a:endParaRPr lang="ko-KR" sz="3200" dirty="0"/>
          </a:p>
        </p:txBody>
      </p:sp>
      <p:sp>
        <p:nvSpPr>
          <p:cNvPr id="8" name="S05-card29"/>
          <p:cNvSpPr/>
          <p:nvPr/>
        </p:nvSpPr>
        <p:spPr>
          <a:xfrm>
            <a:off x="8095488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0"/>
          <p:cNvSpPr txBox="1"/>
          <p:nvPr/>
        </p:nvSpPr>
        <p:spPr>
          <a:xfrm>
            <a:off x="8369808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환경미화원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길과 동네를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깨끗하게 해요</a:t>
            </a:r>
            <a:endParaRPr lang="ko-KR" sz="3200" dirty="0"/>
          </a:p>
        </p:txBody>
      </p:sp>
      <p:sp>
        <p:nvSpPr>
          <p:cNvPr id="10" name="S05-card31"/>
          <p:cNvSpPr/>
          <p:nvPr/>
        </p:nvSpPr>
        <p:spPr>
          <a:xfrm>
            <a:off x="548640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32"/>
          <p:cNvSpPr txBox="1"/>
          <p:nvPr/>
        </p:nvSpPr>
        <p:spPr>
          <a:xfrm>
            <a:off x="822960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기사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집까지 날라요</a:t>
            </a:r>
            <a:endParaRPr lang="ko-KR" sz="3200" dirty="0"/>
          </a:p>
        </p:txBody>
      </p:sp>
      <p:sp>
        <p:nvSpPr>
          <p:cNvPr id="12" name="S05-card33"/>
          <p:cNvSpPr/>
          <p:nvPr/>
        </p:nvSpPr>
        <p:spPr>
          <a:xfrm>
            <a:off x="4322064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34"/>
          <p:cNvSpPr txBox="1"/>
          <p:nvPr/>
        </p:nvSpPr>
        <p:spPr>
          <a:xfrm>
            <a:off x="4596384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배우는 것을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도와요</a:t>
            </a:r>
            <a:endParaRPr lang="ko-KR" sz="3200" dirty="0"/>
          </a:p>
        </p:txBody>
      </p:sp>
      <p:sp>
        <p:nvSpPr>
          <p:cNvPr id="14" name="S05-card35"/>
          <p:cNvSpPr/>
          <p:nvPr/>
        </p:nvSpPr>
        <p:spPr>
          <a:xfrm>
            <a:off x="8095488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5-cardtext36"/>
          <p:cNvSpPr txBox="1"/>
          <p:nvPr/>
        </p:nvSpPr>
        <p:spPr>
          <a:xfrm>
            <a:off x="8369808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안전을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소개하고 고마움 전하기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이야기와 고마운 마음을 전해요.</a:t>
            </a:r>
            <a:endParaRPr lang="ko-KR" sz="3200" dirty="0"/>
          </a:p>
        </p:txBody>
      </p:sp>
      <p:sp>
        <p:nvSpPr>
          <p:cNvPr id="4" name="S06-card38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좋아하는 것과 까닭을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하는 일을 맞게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고마운 점을 말해요</a:t>
            </a:r>
            <a:endParaRPr lang="ko-KR" sz="3200" dirty="0"/>
          </a:p>
        </p:txBody>
      </p:sp>
      <p:sp>
        <p:nvSpPr>
          <p:cNvPr id="6" name="S06-stepno40"/>
          <p:cNvSpPr txBox="1"/>
          <p:nvPr/>
        </p:nvSpPr>
        <p:spPr>
          <a:xfrm>
            <a:off x="548640" y="23733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1"/>
          <p:cNvSpPr txBox="1"/>
          <p:nvPr/>
        </p:nvSpPr>
        <p:spPr>
          <a:xfrm>
            <a:off x="1325880" y="232765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활동과 까닭을 소개해요.</a:t>
            </a:r>
            <a:endParaRPr lang="ko-KR" sz="3200" dirty="0"/>
          </a:p>
        </p:txBody>
      </p:sp>
      <p:sp>
        <p:nvSpPr>
          <p:cNvPr id="8" name="S06-stepno42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3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돕는 사람 한 명을 골라요.</a:t>
            </a:r>
            <a:endParaRPr lang="ko-KR" sz="3200" dirty="0"/>
          </a:p>
        </p:txBody>
      </p:sp>
      <p:sp>
        <p:nvSpPr>
          <p:cNvPr id="10" name="S06-stepno44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5"/>
          <p:cNvSpPr txBox="1"/>
          <p:nvPr/>
        </p:nvSpPr>
        <p:spPr>
          <a:xfrm>
            <a:off x="1325880" y="419709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일과 고마운 점을 말해요.</a:t>
            </a:r>
            <a:endParaRPr lang="ko-KR" sz="3200" dirty="0"/>
          </a:p>
        </p:txBody>
      </p:sp>
      <p:sp>
        <p:nvSpPr>
          <p:cNvPr id="12" name="S06-stepno46"/>
          <p:cNvSpPr txBox="1"/>
          <p:nvPr/>
        </p:nvSpPr>
        <p:spPr>
          <a:xfrm>
            <a:off x="548640" y="535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47"/>
          <p:cNvSpPr txBox="1"/>
          <p:nvPr/>
        </p:nvSpPr>
        <p:spPr>
          <a:xfrm>
            <a:off x="1325880" y="53533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카드를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좋아하는 것이 있고, 많은 사람이 우리를 도와요.</a:t>
            </a:r>
            <a:endParaRPr lang="ko-KR" sz="3200" dirty="0"/>
          </a:p>
        </p:txBody>
      </p:sp>
      <p:sp>
        <p:nvSpPr>
          <p:cNvPr id="5" name="S07-chip5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붙여 말하기</a:t>
            </a:r>
            <a:endParaRPr lang="ko-KR" sz="2600" dirty="0"/>
          </a:p>
        </p:txBody>
      </p:sp>
      <p:sp>
        <p:nvSpPr>
          <p:cNvPr id="6" name="S07-chip5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‘남자 일, 여자 일’ 나누기</a:t>
            </a:r>
            <a:endParaRPr lang="ko-KR" sz="2600" dirty="0"/>
          </a:p>
        </p:txBody>
      </p:sp>
      <p:sp>
        <p:nvSpPr>
          <p:cNvPr id="7" name="S07-text5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3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좋아하는 활동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하나와 까닭</a:t>
            </a:r>
            <a:endParaRPr lang="ko-KR" sz="2600" dirty="0"/>
          </a:p>
        </p:txBody>
      </p:sp>
      <p:sp>
        <p:nvSpPr>
          <p:cNvPr id="9" name="S07-text54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길을 깨끗하게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사람은?</a:t>
            </a:r>
            <a:endParaRPr lang="ko-KR" sz="2600" dirty="0"/>
          </a:p>
        </p:txBody>
      </p:sp>
      <p:sp>
        <p:nvSpPr>
          <p:cNvPr id="10" name="S07-text5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하루 목표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둘 중에 골라요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하고 싶은 것을 골라요.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그쪽이 좋아요?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0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1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쌓기</a:t>
            </a:r>
            <a:endParaRPr lang="ko-KR" sz="3200" dirty="0"/>
          </a:p>
        </p:txBody>
      </p:sp>
      <p:sp>
        <p:nvSpPr>
          <p:cNvPr id="9" name="S08-chip62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3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4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진로·직업 좋아하는 활동과 우리를 돕는 일</dc:title>
  <dc:subject>KR22-G01-CAR-HELPERS-L01</dc:subject>
  <dc:creator>education-ppt</dc:creator>
  <cp:lastModifiedBy>education-ppt</cp:lastModifiedBy>
  <cp:revision>1</cp:revision>
  <dcterms:created xsi:type="dcterms:W3CDTF">2026-10-26T09:58:43Z</dcterms:created>
  <dcterms:modified xsi:type="dcterms:W3CDTF">2026-10-26T09:58:43Z</dcterms:modified>
</cp:coreProperties>
</file>