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3280502f-9e2b-602e-693e-3acac88f9469}">
          <p14:sldIdLst>
            <p14:sldId id="256"/>
            <p14:sldId id="257"/>
          </p14:sldIdLst>
        </p14:section>
        <p14:section name="개념" id="{4cdd45e7-a8d0-b71e-079b-faf917787260}">
          <p14:sldIdLst>
            <p14:sldId id="258"/>
          </p14:sldIdLst>
        </p14:section>
        <p14:section name="연습" id="{1d459cb3-270c-a723-a43e-a2ed5b96f7a7}">
          <p14:sldIdLst>
            <p14:sldId id="259"/>
            <p14:sldId id="260"/>
          </p14:sldIdLst>
        </p14:section>
        <p14:section name="확인" id="{d40131f7-f505-6768-7357-172c0284f48c}">
          <p14:sldIdLst>
            <p14:sldId id="261"/>
          </p14:sldIdLst>
        </p14:section>
        <p14:section name="정리" id="{1dbecdd3-2011-c4fb-1a2d-3ea65eae98aa}">
          <p14:sldIdLst>
            <p14:sldId id="262"/>
          </p14:sldIdLst>
        </p14:section>
        <p14:section name="보충" id="{b29605ae-125d-163d-6a9f-24fb239f7554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진로·직업 · 흥미와일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진로·직업 · 좋아하는 활동과 우리를 돕는 일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진로·직업 · 좋아하는 활동과 우리를 돕는 일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진로·직업 · 좋아하는 활동과 우리를 돕는 일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좋아하는 활동과 돕는 일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무엇을 좋아할까?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우리를 도울까?</a:t>
            </a:r>
            <a:endParaRPr lang="ko-KR" sz="3200" dirty="0"/>
          </a:p>
        </p:txBody>
      </p:sp>
      <p:sp>
        <p:nvSpPr>
          <p:cNvPr id="4" name="S01-card1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좋아하는 활동과 까닭을 말해요.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우리를 돕는 사람의 일을 찾아요.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어제 무엇을 했나요?</a:t>
            </a:r>
            <a:endParaRPr lang="ko-KR" sz="4400" dirty="0"/>
          </a:p>
        </p:txBody>
      </p:sp>
      <p:sp>
        <p:nvSpPr>
          <p:cNvPr id="3" name="S02-card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2-cardtext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‘나는 ~를 했어요.’로 말해요.</a:t>
            </a:r>
            <a:endParaRPr lang="ko-KR" sz="3200" dirty="0"/>
          </a:p>
        </p:txBody>
      </p:sp>
      <p:sp>
        <p:nvSpPr>
          <p:cNvPr id="5" name="S02-chip5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6" name="S02-text6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어제 한 놀이를 말해요.</a:t>
            </a:r>
            <a:endParaRPr lang="ko-KR" sz="3200" dirty="0"/>
          </a:p>
        </p:txBody>
      </p:sp>
      <p:sp>
        <p:nvSpPr>
          <p:cNvPr id="7" name="S02-chip7"/>
          <p:cNvSpPr txBox="1"/>
          <p:nvPr/>
        </p:nvSpPr>
        <p:spPr>
          <a:xfrm>
            <a:off x="548640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8" name="S02-text8"/>
          <p:cNvSpPr txBox="1"/>
          <p:nvPr/>
        </p:nvSpPr>
        <p:spPr>
          <a:xfrm>
            <a:off x="1344168" y="331470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그때 기분은 어땠나요?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좋아하는 것, 돕는 일</a:t>
            </a:r>
            <a:endParaRPr lang="ko-KR" sz="4400" dirty="0"/>
          </a:p>
        </p:txBody>
      </p:sp>
      <p:sp>
        <p:nvSpPr>
          <p:cNvPr id="3" name="S03-card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‘나는 ~를 좋아해요. ~해서요.’</a:t>
            </a:r>
            <a:endParaRPr lang="ko-KR" sz="3200" dirty="0"/>
          </a:p>
        </p:txBody>
      </p:sp>
      <p:sp>
        <p:nvSpPr>
          <p:cNvPr id="5" name="S03-card11"/>
          <p:cNvSpPr/>
          <p:nvPr/>
        </p:nvSpPr>
        <p:spPr>
          <a:xfrm>
            <a:off x="548640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3-cardtext12"/>
          <p:cNvSpPr txBox="1"/>
          <p:nvPr/>
        </p:nvSpPr>
        <p:spPr>
          <a:xfrm>
            <a:off x="822960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좋아하는 활동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하면 즐겁고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또 하고 싶은 일</a:t>
            </a:r>
            <a:endParaRPr lang="ko-KR" sz="3200" dirty="0"/>
          </a:p>
        </p:txBody>
      </p:sp>
      <p:sp>
        <p:nvSpPr>
          <p:cNvPr id="7" name="S03-card13"/>
          <p:cNvSpPr/>
          <p:nvPr/>
        </p:nvSpPr>
        <p:spPr>
          <a:xfrm>
            <a:off x="6208776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3-cardtext14"/>
          <p:cNvSpPr txBox="1"/>
          <p:nvPr/>
        </p:nvSpPr>
        <p:spPr>
          <a:xfrm>
            <a:off x="6483096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우리를 돕는 일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사람의 생활을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편하고 안전하게 해요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좋아하는 활동 찾기</a:t>
            </a:r>
            <a:endParaRPr lang="ko-KR" sz="4400" dirty="0"/>
          </a:p>
        </p:txBody>
      </p:sp>
      <p:sp>
        <p:nvSpPr>
          <p:cNvPr id="3" name="S04-text1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 본 활동을 떠올려요.</a:t>
            </a:r>
            <a:endParaRPr lang="ko-KR" sz="3200" dirty="0"/>
          </a:p>
        </p:txBody>
      </p:sp>
      <p:sp>
        <p:nvSpPr>
          <p:cNvPr id="4" name="S04-card16"/>
          <p:cNvSpPr/>
          <p:nvPr/>
        </p:nvSpPr>
        <p:spPr>
          <a:xfrm>
            <a:off x="6813652" y="2011680"/>
            <a:ext cx="4826660" cy="4206240"/>
          </a:xfrm>
          <a:prstGeom prst="roundRect">
            <a:avLst>
              <a:gd name="adj" fmla="val 260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4-cardtext17"/>
          <p:cNvSpPr txBox="1"/>
          <p:nvPr/>
        </p:nvSpPr>
        <p:spPr>
          <a:xfrm>
            <a:off x="7087972" y="2148840"/>
            <a:ext cx="42780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좋아하는 것 세 가지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까닭을 하나씩 말해요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‘~해서 좋아요’로 말해요</a:t>
            </a:r>
            <a:endParaRPr lang="ko-KR" sz="3200" dirty="0"/>
          </a:p>
        </p:txBody>
      </p:sp>
      <p:sp>
        <p:nvSpPr>
          <p:cNvPr id="6" name="S04-stepno18"/>
          <p:cNvSpPr txBox="1"/>
          <p:nvPr/>
        </p:nvSpPr>
        <p:spPr>
          <a:xfrm>
            <a:off x="548640" y="29057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7" name="S04-text19"/>
          <p:cNvSpPr txBox="1"/>
          <p:nvPr/>
        </p:nvSpPr>
        <p:spPr>
          <a:xfrm>
            <a:off x="1325880" y="2905760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 본 활동을 많이 말해요.</a:t>
            </a:r>
            <a:endParaRPr lang="ko-KR" sz="3200" dirty="0"/>
          </a:p>
        </p:txBody>
      </p:sp>
      <p:sp>
        <p:nvSpPr>
          <p:cNvPr id="8" name="S04-stepno20"/>
          <p:cNvSpPr txBox="1"/>
          <p:nvPr/>
        </p:nvSpPr>
        <p:spPr>
          <a:xfrm>
            <a:off x="548640" y="366471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9" name="S04-text21"/>
          <p:cNvSpPr txBox="1"/>
          <p:nvPr/>
        </p:nvSpPr>
        <p:spPr>
          <a:xfrm>
            <a:off x="1325880" y="3618992"/>
            <a:ext cx="5122012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좋아하는 세 가지를 골라요.</a:t>
            </a:r>
            <a:endParaRPr lang="ko-KR" sz="3200" dirty="0"/>
          </a:p>
        </p:txBody>
      </p:sp>
      <p:sp>
        <p:nvSpPr>
          <p:cNvPr id="10" name="S04-stepno22"/>
          <p:cNvSpPr txBox="1"/>
          <p:nvPr/>
        </p:nvSpPr>
        <p:spPr>
          <a:xfrm>
            <a:off x="548640" y="477520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1" name="S04-text23"/>
          <p:cNvSpPr txBox="1"/>
          <p:nvPr/>
        </p:nvSpPr>
        <p:spPr>
          <a:xfrm>
            <a:off x="1325880" y="4775200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좋은지 까닭을 말해요.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우리를 돕는 사람들</a:t>
            </a:r>
            <a:endParaRPr lang="ko-KR" sz="4400" dirty="0"/>
          </a:p>
        </p:txBody>
      </p:sp>
      <p:sp>
        <p:nvSpPr>
          <p:cNvPr id="3" name="S05-text2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 도움을 받았는지 말해요.</a:t>
            </a:r>
            <a:endParaRPr lang="ko-KR" sz="3200" dirty="0"/>
          </a:p>
        </p:txBody>
      </p:sp>
      <p:sp>
        <p:nvSpPr>
          <p:cNvPr id="4" name="S05-card25"/>
          <p:cNvSpPr/>
          <p:nvPr/>
        </p:nvSpPr>
        <p:spPr>
          <a:xfrm>
            <a:off x="548640" y="2011680"/>
            <a:ext cx="3544824" cy="1988820"/>
          </a:xfrm>
          <a:prstGeom prst="roundRect">
            <a:avLst>
              <a:gd name="adj" fmla="val 55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5-cardtext26"/>
          <p:cNvSpPr txBox="1"/>
          <p:nvPr/>
        </p:nvSpPr>
        <p:spPr>
          <a:xfrm>
            <a:off x="822960" y="2148840"/>
            <a:ext cx="2996184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소방관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불을 끄고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사람을 구해요</a:t>
            </a:r>
            <a:endParaRPr lang="ko-KR" sz="3200" dirty="0"/>
          </a:p>
        </p:txBody>
      </p:sp>
      <p:sp>
        <p:nvSpPr>
          <p:cNvPr id="6" name="S05-card27"/>
          <p:cNvSpPr/>
          <p:nvPr/>
        </p:nvSpPr>
        <p:spPr>
          <a:xfrm>
            <a:off x="4322064" y="2011680"/>
            <a:ext cx="3544824" cy="1988820"/>
          </a:xfrm>
          <a:prstGeom prst="roundRect">
            <a:avLst>
              <a:gd name="adj" fmla="val 55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5-cardtext28"/>
          <p:cNvSpPr txBox="1"/>
          <p:nvPr/>
        </p:nvSpPr>
        <p:spPr>
          <a:xfrm>
            <a:off x="4596384" y="2148840"/>
            <a:ext cx="2996184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의사·간호사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아픈 사람을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치료하고 돌봐요</a:t>
            </a:r>
            <a:endParaRPr lang="ko-KR" sz="3200" dirty="0"/>
          </a:p>
        </p:txBody>
      </p:sp>
      <p:sp>
        <p:nvSpPr>
          <p:cNvPr id="8" name="S05-card29"/>
          <p:cNvSpPr/>
          <p:nvPr/>
        </p:nvSpPr>
        <p:spPr>
          <a:xfrm>
            <a:off x="8095488" y="2011680"/>
            <a:ext cx="3544824" cy="1988820"/>
          </a:xfrm>
          <a:prstGeom prst="roundRect">
            <a:avLst>
              <a:gd name="adj" fmla="val 55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5-cardtext30"/>
          <p:cNvSpPr txBox="1"/>
          <p:nvPr/>
        </p:nvSpPr>
        <p:spPr>
          <a:xfrm>
            <a:off x="8369808" y="2148840"/>
            <a:ext cx="2996184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환경미화원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길과 동네를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깨끗하게 해요</a:t>
            </a:r>
            <a:endParaRPr lang="ko-KR" sz="3200" dirty="0"/>
          </a:p>
        </p:txBody>
      </p:sp>
      <p:sp>
        <p:nvSpPr>
          <p:cNvPr id="10" name="S05-card31"/>
          <p:cNvSpPr/>
          <p:nvPr/>
        </p:nvSpPr>
        <p:spPr>
          <a:xfrm>
            <a:off x="548640" y="4229100"/>
            <a:ext cx="3544824" cy="1988820"/>
          </a:xfrm>
          <a:prstGeom prst="roundRect">
            <a:avLst>
              <a:gd name="adj" fmla="val 55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5-cardtext32"/>
          <p:cNvSpPr txBox="1"/>
          <p:nvPr/>
        </p:nvSpPr>
        <p:spPr>
          <a:xfrm>
            <a:off x="822960" y="4366260"/>
            <a:ext cx="2996184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택배 기사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물건을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집까지 날라요</a:t>
            </a:r>
            <a:endParaRPr lang="ko-KR" sz="3200" dirty="0"/>
          </a:p>
        </p:txBody>
      </p:sp>
      <p:sp>
        <p:nvSpPr>
          <p:cNvPr id="12" name="S05-card33"/>
          <p:cNvSpPr/>
          <p:nvPr/>
        </p:nvSpPr>
        <p:spPr>
          <a:xfrm>
            <a:off x="4322064" y="4229100"/>
            <a:ext cx="3544824" cy="1988820"/>
          </a:xfrm>
          <a:prstGeom prst="roundRect">
            <a:avLst>
              <a:gd name="adj" fmla="val 55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05-cardtext34"/>
          <p:cNvSpPr txBox="1"/>
          <p:nvPr/>
        </p:nvSpPr>
        <p:spPr>
          <a:xfrm>
            <a:off x="4596384" y="4366260"/>
            <a:ext cx="2996184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선생님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배우는 것을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도와요</a:t>
            </a:r>
            <a:endParaRPr lang="ko-KR" sz="3200" dirty="0"/>
          </a:p>
        </p:txBody>
      </p:sp>
      <p:sp>
        <p:nvSpPr>
          <p:cNvPr id="14" name="S05-card35"/>
          <p:cNvSpPr/>
          <p:nvPr/>
        </p:nvSpPr>
        <p:spPr>
          <a:xfrm>
            <a:off x="8095488" y="4229100"/>
            <a:ext cx="3544824" cy="1988820"/>
          </a:xfrm>
          <a:prstGeom prst="roundRect">
            <a:avLst>
              <a:gd name="adj" fmla="val 55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5" name="S05-cardtext36"/>
          <p:cNvSpPr txBox="1"/>
          <p:nvPr/>
        </p:nvSpPr>
        <p:spPr>
          <a:xfrm>
            <a:off x="8369808" y="4366260"/>
            <a:ext cx="2996184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경찰관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우리의 안전을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지켜요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소개하고 고마움 전하기</a:t>
            </a:r>
            <a:endParaRPr lang="ko-KR" sz="4400" dirty="0"/>
          </a:p>
        </p:txBody>
      </p:sp>
      <p:sp>
        <p:nvSpPr>
          <p:cNvPr id="3" name="S06-text3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이야기와 고마운 마음을 전해요.</a:t>
            </a:r>
            <a:endParaRPr lang="ko-KR" sz="3200" dirty="0"/>
          </a:p>
        </p:txBody>
      </p:sp>
      <p:sp>
        <p:nvSpPr>
          <p:cNvPr id="4" name="S06-card38"/>
          <p:cNvSpPr/>
          <p:nvPr/>
        </p:nvSpPr>
        <p:spPr>
          <a:xfrm>
            <a:off x="6813652" y="2011680"/>
            <a:ext cx="4826660" cy="4206240"/>
          </a:xfrm>
          <a:prstGeom prst="roundRect">
            <a:avLst>
              <a:gd name="adj" fmla="val 260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6-cardtext39"/>
          <p:cNvSpPr txBox="1"/>
          <p:nvPr/>
        </p:nvSpPr>
        <p:spPr>
          <a:xfrm>
            <a:off x="7087972" y="2148840"/>
            <a:ext cx="42780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좋아하는 것과 까닭을 말해요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하는 일을 맞게 말해요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고마운 점을 말해요</a:t>
            </a:r>
            <a:endParaRPr lang="ko-KR" sz="3200" dirty="0"/>
          </a:p>
        </p:txBody>
      </p:sp>
      <p:sp>
        <p:nvSpPr>
          <p:cNvPr id="6" name="S06-stepno40"/>
          <p:cNvSpPr txBox="1"/>
          <p:nvPr/>
        </p:nvSpPr>
        <p:spPr>
          <a:xfrm>
            <a:off x="548640" y="237337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7" name="S06-text41"/>
          <p:cNvSpPr txBox="1"/>
          <p:nvPr/>
        </p:nvSpPr>
        <p:spPr>
          <a:xfrm>
            <a:off x="1325880" y="2327656"/>
            <a:ext cx="5122012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좋아하는 활동과 까닭을 소개해요.</a:t>
            </a:r>
            <a:endParaRPr lang="ko-KR" sz="3200" dirty="0"/>
          </a:p>
        </p:txBody>
      </p:sp>
      <p:sp>
        <p:nvSpPr>
          <p:cNvPr id="8" name="S06-stepno42"/>
          <p:cNvSpPr txBox="1"/>
          <p:nvPr/>
        </p:nvSpPr>
        <p:spPr>
          <a:xfrm>
            <a:off x="548640" y="34838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9" name="S06-text43"/>
          <p:cNvSpPr txBox="1"/>
          <p:nvPr/>
        </p:nvSpPr>
        <p:spPr>
          <a:xfrm>
            <a:off x="1325880" y="348386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돕는 사람 한 명을 골라요.</a:t>
            </a:r>
            <a:endParaRPr lang="ko-KR" sz="3200" dirty="0"/>
          </a:p>
        </p:txBody>
      </p:sp>
      <p:sp>
        <p:nvSpPr>
          <p:cNvPr id="10" name="S06-stepno44"/>
          <p:cNvSpPr txBox="1"/>
          <p:nvPr/>
        </p:nvSpPr>
        <p:spPr>
          <a:xfrm>
            <a:off x="548640" y="42428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1" name="S06-text45"/>
          <p:cNvSpPr txBox="1"/>
          <p:nvPr/>
        </p:nvSpPr>
        <p:spPr>
          <a:xfrm>
            <a:off x="1325880" y="4197096"/>
            <a:ext cx="5122012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하는 일과 고마운 점을 말해요.</a:t>
            </a:r>
            <a:endParaRPr lang="ko-KR" sz="3200" dirty="0"/>
          </a:p>
        </p:txBody>
      </p:sp>
      <p:sp>
        <p:nvSpPr>
          <p:cNvPr id="12" name="S06-stepno46"/>
          <p:cNvSpPr txBox="1"/>
          <p:nvPr/>
        </p:nvSpPr>
        <p:spPr>
          <a:xfrm>
            <a:off x="548640" y="535330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3" name="S06-text47"/>
          <p:cNvSpPr txBox="1"/>
          <p:nvPr/>
        </p:nvSpPr>
        <p:spPr>
          <a:xfrm>
            <a:off x="1325880" y="535330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감사 카드를 그려요.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07-card48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07-cardtext49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좋아하는 것이 있고, 많은 사람이 우리를 도와요.</a:t>
            </a:r>
            <a:endParaRPr lang="ko-KR" sz="3200" dirty="0"/>
          </a:p>
        </p:txBody>
      </p:sp>
      <p:sp>
        <p:nvSpPr>
          <p:cNvPr id="5" name="S07-chip50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까닭을 붙여 말하기</a:t>
            </a:r>
            <a:endParaRPr lang="ko-KR" sz="2600" dirty="0"/>
          </a:p>
        </p:txBody>
      </p:sp>
      <p:sp>
        <p:nvSpPr>
          <p:cNvPr id="6" name="S07-chip51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‘남자 일, 여자 일’ 나누기</a:t>
            </a:r>
            <a:endParaRPr lang="ko-KR" sz="2600" dirty="0"/>
          </a:p>
        </p:txBody>
      </p:sp>
      <p:sp>
        <p:nvSpPr>
          <p:cNvPr id="7" name="S07-text52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07-text53"/>
          <p:cNvSpPr txBox="1"/>
          <p:nvPr/>
        </p:nvSpPr>
        <p:spPr>
          <a:xfrm>
            <a:off x="548640" y="3749040"/>
            <a:ext cx="543153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좋아하는 활동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하나와 까닭</a:t>
            </a:r>
            <a:endParaRPr lang="ko-KR" sz="2600" dirty="0"/>
          </a:p>
        </p:txBody>
      </p:sp>
      <p:sp>
        <p:nvSpPr>
          <p:cNvPr id="9" name="S07-text54"/>
          <p:cNvSpPr txBox="1"/>
          <p:nvPr/>
        </p:nvSpPr>
        <p:spPr>
          <a:xfrm>
            <a:off x="6208776" y="3749040"/>
            <a:ext cx="543153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길을 깨끗하게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하는 사람은?</a:t>
            </a:r>
            <a:endParaRPr lang="ko-KR" sz="2600" dirty="0"/>
          </a:p>
        </p:txBody>
      </p:sp>
      <p:sp>
        <p:nvSpPr>
          <p:cNvPr id="10" name="S07-text55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하루 목표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둘 중에 골라요</a:t>
            </a:r>
            <a:endParaRPr lang="ko-KR" sz="4400" dirty="0"/>
          </a:p>
        </p:txBody>
      </p:sp>
      <p:sp>
        <p:nvSpPr>
          <p:cNvPr id="3" name="S08-text5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하고 싶은 것을 골라요.</a:t>
            </a:r>
            <a:endParaRPr lang="ko-KR" sz="3200" dirty="0"/>
          </a:p>
        </p:txBody>
      </p:sp>
      <p:sp>
        <p:nvSpPr>
          <p:cNvPr id="4" name="S08-card5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8-cardtext5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그쪽이 좋아요?</a:t>
            </a:r>
            <a:endParaRPr lang="ko-KR" sz="3200" dirty="0"/>
          </a:p>
        </p:txBody>
      </p:sp>
      <p:sp>
        <p:nvSpPr>
          <p:cNvPr id="6" name="S08-chip59"/>
          <p:cNvSpPr txBox="1"/>
          <p:nvPr/>
        </p:nvSpPr>
        <p:spPr>
          <a:xfrm>
            <a:off x="2946654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08-card60"/>
          <p:cNvSpPr/>
          <p:nvPr/>
        </p:nvSpPr>
        <p:spPr>
          <a:xfrm>
            <a:off x="548640" y="2715768"/>
            <a:ext cx="5362956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8-cardtext61"/>
          <p:cNvSpPr txBox="1"/>
          <p:nvPr/>
        </p:nvSpPr>
        <p:spPr>
          <a:xfrm>
            <a:off x="822960" y="2852928"/>
            <a:ext cx="4814316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블록 쌓기</a:t>
            </a:r>
            <a:endParaRPr lang="ko-KR" sz="3200" dirty="0"/>
          </a:p>
        </p:txBody>
      </p:sp>
      <p:sp>
        <p:nvSpPr>
          <p:cNvPr id="9" name="S08-chip62"/>
          <p:cNvSpPr txBox="1"/>
          <p:nvPr/>
        </p:nvSpPr>
        <p:spPr>
          <a:xfrm>
            <a:off x="8675370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08-card63"/>
          <p:cNvSpPr/>
          <p:nvPr/>
        </p:nvSpPr>
        <p:spPr>
          <a:xfrm>
            <a:off x="6277356" y="2715768"/>
            <a:ext cx="5362956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8-cardtext64"/>
          <p:cNvSpPr txBox="1"/>
          <p:nvPr/>
        </p:nvSpPr>
        <p:spPr>
          <a:xfrm>
            <a:off x="6551676" y="2852928"/>
            <a:ext cx="4814316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그리기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진로·직업 좋아하는 활동과 우리를 돕는 일</dc:title>
  <dc:subject>KR22-G01-CAR-HELPERS-L01</dc:subject>
  <dc:creator>education-ppt</dc:creator>
  <cp:lastModifiedBy>education-ppt</cp:lastModifiedBy>
  <cp:revision>1</cp:revision>
  <dcterms:created xsi:type="dcterms:W3CDTF">2026-10-26T09:58:43Z</dcterms:created>
  <dcterms:modified xsi:type="dcterms:W3CDTF">2026-10-26T09:58:43Z</dcterms:modified>
</cp:coreProperties>
</file>