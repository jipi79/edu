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5e84dec2-1241-a9ea-7a63-7d70214d829f}">
          <p14:sldIdLst>
            <p14:sldId id="256"/>
            <p14:sldId id="257"/>
          </p14:sldIdLst>
        </p14:section>
        <p14:section name="개념" id="{06ed754e-e3ea-be1f-9bc6-103e46d75531}">
          <p14:sldIdLst>
            <p14:sldId id="258"/>
            <p14:sldId id="259"/>
          </p14:sldIdLst>
        </p14:section>
        <p14:section name="연습" id="{37a754d0-753c-49e2-53d6-c2fc5ddf31bf}">
          <p14:sldIdLst>
            <p14:sldId id="260"/>
            <p14:sldId id="261"/>
            <p14:sldId id="262"/>
            <p14:sldId id="263"/>
            <p14:sldId id="264"/>
          </p14:sldIdLst>
        </p14:section>
        <p14:section name="확인" id="{076482ae-415a-ec82-f90a-7d20e01d4245}">
          <p14:sldIdLst>
            <p14:sldId id="265"/>
            <p14:sldId id="266"/>
            <p14:sldId id="267"/>
          </p14:sldIdLst>
        </p14:section>
        <p14:section name="정리" id="{6c2ad972-06fb-e334-9134-15c085cafecc}">
          <p14:sldIdLst>
            <p14:sldId id="268"/>
          </p14:sldIdLst>
        </p14:section>
        <p14:section name="보충" id="{ce40d96f-2af9-f262-c685-256449d8fcc5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알리고 동시에 대한 기대를 갖게 합니다.
시간: 약 2분
이렇게 말해 보세요
- “비 오는 날에는 어떤 소리가 들려? 엄마(아빠)는 ‘톡톡’ 소리가 생각나.”
- “오늘은 이런 재미있는 말이 들어 있는 짧은 시, 동시를 읽어 볼 거야.”
예상 답
- “주룩주룩이요.” / “똑똑 소리요.”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확인(끝까지 듣고 따라 말하기)]
목적: 앞 차시(바르게 듣고 차례 지켜 말하기)에서 배운 대로 말하는 사람을 보며 끝까지 듣고, 들은 말을 그대로 말할 수 있는지 확인합니다. 오늘 동시를 부모가 먼저 읽어 줄 때 필요합니다.
시간: 약 3분
이렇게 말해 보세요
- “엄마(아빠)를 보면서 끝까지 듣고 똑같이 따라 말해 봐. ‘강아지가 꼬리를 살랑살랑 흔들어요.’”
- “이번에는 이거야. ‘토끼가 깡충깡충 뛰어가요.’”
정답
- 두 문장을 낱말을 빠뜨리지 않고 그대로 따라 말하면 맞습니다. 말이 끝나기 전에 따라 하기 시작하지 않는지, 부모를 보며 듣는지도 봅니다.
막히면
- 문장을 반으로 나누어 들려주고 따라 하게 한 뒤, 다시 한 번에 들려줍니다.
- 두 문장 모두 어려우면 S14(보충)를 먼저 합니다.
주의
- 따라 말할 문장은 화면에 쓰지 않습니다. 귀로 듣고 말하는 것이 목적입니다.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흉내 내는 말(소리·모양)]
목적: 소리를 흉내 내는 말과 모양을 흉내 내는 말을 알려 줍니다.
시간: 약 3분
이렇게 말해 보세요
- “‘멍멍’은 무엇의 소리야? 윗줄은 소리를 흉내 낸 말이야.”
- “‘깡충깡충’은 소리가 아니라 뛰는 모양을 흉내 낸 말이야. ‘엉금엉금’은 누가 기어가는 모양일까?”
- “몸으로 ‘깡충깡충’을 해 볼까?”
예상 답
- “멍멍은 강아지 소리예요.” / “엉금엉금은 거북이요.” / “반짝반짝은 별이요.”
막히면
- 부모가 몸짓이나 소리로 흉내를 내고 아이가 어떤 말인지 맞히게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동시 시범 읽기]
목적: 부모가 흉내 내는 말을 살려 시범으로 읽어 주고, 시의 장면을 떠올리게 합니다(M3).
시간: 약 3분
이렇게 말해 보세요
- “엄마(아빠)가 먼저 읽어 볼게. 눈을 감고 들어도 돼.” (‘톡톡톡’은 짧고 가볍게, ‘첨벙첨벙’은 크고 힘차게, ‘느릿느릿’은 아주 천천히 읽습니다.)
- “어떤 소리가 들리는 것 같았어? 어떤 모습이 떠올랐어?”
예상 답
- “우산에 비가 떨어지는 소리요.” / “장화로 물웅덩이를 밟는 거요.” / “달팽이가 천천히 가요.”
막히면
- 한 줄씩 다시 읽어 주며 “여기서는 무슨 소리가 나?”라고 묻습니다.
주의
- 이 동시는 수업을 위해 새로 지은 글입니다. ‘느릿느릿’은 [느린느릳], ‘나왔어요’는 [나와써요]로 소리 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주고받으며 읽기]
목적: 부모와 한 줄씩 주고받으며 소리 내어 읽고, 흉내 내는 말의 재미를 살려 읽는 연습을 합니다.
시간: 약 4분
이렇게 말해 보세요
- “엄마(아빠)가 첫째 줄을 읽으면 네가 둘째 줄을 읽어. 번갈아 끝까지 읽어 보자.”
- “이번에는 바꿔서 읽자. ‘첨벙첨벙’은 어떻게 읽으면 물이 튀는 것 같을까?”
예상 답
- “크게 읽어요.” / “느릿느릿은 천천히 읽어요.”
막히면
- 어려운 줄은 부모가 먼저 읽고 아이가 따라 읽게 합니다. 손가락으로 글자를 짚으며 읽게 합니다.
주의
- 두 번째 읽을 때 더 자연스러워졌으면 구체적으로 칭찬합니다. 예: “‘느릿느릿’을 정말 달팽이처럼 읽었네.”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흉내 내는 말 찾기]
목적: 시 속의 흉내 내는 말을 찾고, 소리를 흉내 냈는지 모양을 흉내 냈는지 구별합니다.
시간: 약 3분
이렇게 말해 보세요
- “①은 무슨 소리를 흉내 낸 말일까? 시에서 찾아볼래?”
- “③은 소리야, 모양이야?”
정답
- ① 톡톡톡 ② 첨벙첨벙 ③ 느릿느릿(모양)
막히면
- S05 화면으로 돌아가 시를 다시 보며 찾게 합니다.
- ‘빗방울’, ‘장화’처럼 이름을 답하면 “그건 무엇의 이름이야. 그것이 내는 소리는?”이라고 다시 묻습니다(M2).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느낌을 까닭과 함께 말하는 방법]
목적: 느낌을 말할 때 재미있는 말과 까닭을 함께 말하는 틀을 보여 줍니다(M1).
시간: 약 3분
이렇게 말해 보세요
- “엄마(아빠)는 ‘첨벙첨벙’이 재미있었어. 물이 튀는 소리가 들리는 것 같아서야.”
- “너는 어떤 말이 재미있었어? 왜?”
예상 답
- “‘톡톡톡’이 재미있어요. 비가 노크하는 것 같아서요.”
막히면
- “‘○○’이 재미있어요. 왜냐하면 ~ 같아서요.”의 앞부분을 부모가 말해 주고 뒷부분을 아이가 채우게 합니다.
주의
- 아이가 엄마(아빠)와 같은 말을 골라도 괜찮습니다. 까닭은 자기 말로 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오개념 비교(느낌을 한마디로만 말하기)]
목적: 느낌을 한마디로만 말하는 것(M1)과 까닭을 넣어 말하는 것을 비교합니다.
시간: 약 3분
이렇게 말해 보세요
- “가처럼 ‘좋아요.’라고만 하면 무엇이 좋은지 알 수 있어?”
- “가를 나처럼 바꿔 말해 볼래?”
정답
- 나. 어떤 말이 재미있는지와 그 까닭(떠오르는 장면)을 함께 말했습니다.
- 가를 고치는 예: “‘톡톡톡’이 좋아요. 비가 우산을 두드리는 소리가 들리는 것 같아서요.”
막히면
- “무엇이 좋았어? 왜?” 두 가지를 차례로 묻습니다.
주의
- 아이가 지치면 여기서 쉬고, 다음 날 S09부터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흉내 내는 말 바꾸어 읽기(말놀이)]
목적: 흉내 내는 말을 바꾸어 넣어 읽으며 말의 재미를 느끼고, 바꾼 말에 따라 읽는 소리도 바꾸어 봅니다.
시간: 약 3분
이렇게 말해 보세요
- “‘톡톡톡’ 대신 다른 빗소리를 넣으면 어떨까? 넣어서 읽어 볼래?”
- “‘느릿느릿’ 대신 천천히 가는 모양을 나타내는 다른 말은 없을까?”
- “바꾸니까 느낌이 어떻게 달라졌어?”
예상 답
- ① 후드득, 똑똑, 주룩주룩 등(비 소리를 흉내 낸 말이면 맞음)
- ② 꾸물꾸물, 엉금엉금, 살금살금 등(느리게 움직이는 모양을 흉내 낸 말이면 맞음)
막히면
- 부모가 ‘후드득’을 넣어 먼저 읽어 보이고, 소리가 어떻게 달라졌는지 묻습니다.
주의
- 어른이 쓰지 않는 말을 만들어 넣어도 소리나 모양이 느껴지면 칭찬해 줍니다. 오늘은 말놀이가 목적입니다.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처음 보는 동시로 혼자 해 보기]
목적: 처음 보는 동시를 혼자 읽고, 흉내 내는 말을 찾아 까닭과 함께 느낌을 말하는지 확인합니다.
시간: 약 6분
이렇게 말해 보세요
- “이번에는 혼자 해 볼래? 먼저 소리 내어 읽어 줘.”
- “흉내 내는 말을 모두 찾아볼래? 그중에서 어떤 말이 재미있었어? 왜?”
정답
- 흉내 내는 말: 쌩쌩, 팔랑팔랑, 살랑살랑(두 개 이상 찾으면 목표 B의 ‘찾기’ 달성)
- 느낌 예: “‘팔랑팔랑’이 재미있어요. 나뭇잎이 춤추는 게 보여요.”(재미있는 말과 까닭이 함께 있으면 맞음)
- 읽기: 끝까지 읽고, 흉내 내는 말 가운데 하나 이상을 소리나 모양이 느껴지게 읽으면 목표 A 달성
막히면
- 읽기를 어려워하면 부모가 한 번 읽어 준 뒤 아이가 읽게 하고, 기록표에 ‘도움’으로 표시합니다.
- 흉내 내는 말을 못 찾으면 “바람은 어떤 소리를 내며 와?”라고 한 번만 물어 줍니다.
주의
- 이 동시도 수업을 위해 새로 지은 글입니다. ‘춤을’은 [추믈]로 소리 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 예와 피드백]
목적: 아이가 찾은 말과 느낌을 예와 비교하고 흔한 실수를 확인합니다.
시간: 약 2분
이렇게 말해 보세요
- “네가 찾은 흉내 내는 말과 왼쪽을 비교해 볼래?”
- “오른쪽 ‘바람, 나뭇잎’은 왜 흉내 내는 말이 아닐까?”
예상 답
- “이름이라서요. 소리나 모양을 흉내 낸 게 아니에요.”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마무리 확인]
목적: 처음 보는 문장에서 흉내 내는 말을 고르고, 떠오르는 모습을 말하는지 확인합니다.
시간: 약 2분
이렇게 말해 보세요
- “이 문장에서 흉내 내는 말은 무엇일까? 어떤 모습이 떠올라?”
정답
- 나. ‘폴짝폴짝’은 개구리가 뛰는 모양을 흉내 낸 말입니다.
- 가는 누가(이름), 다는 하는 일입니다.
막히면
- 부모가 손으로 폴짝폴짝 뛰는 흉내를 내며 “이 모양을 나타낸 말은?”이라고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다음 학습과 복습]
목적: 핵심을 정리하고 다음 수업 첫 5분에 할 복습을 알려 줍니다.
시간: 약 2분
이렇게 말해 보세요
- “오늘 읽은 동시 가운데 가장 재미있었던 말은 뭐야? 왜?”
예상 답
- “‘첨벙첨벙’이요. 물놀이하는 것 같아서요.”
정답
- ① 예: 멍멍, 똑똑, 첨벙첨벙 ② 예: 깡충깡충, 느릿느릿, 팔랑팔랑 ③ 재미있는 말과 까닭이 함께 있으면 맞음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선수 학습 보충(듣고 따라 말하기)]
목적: S02에서 끝까지 듣고 따라 말하기가 어려우면, 짧은 동물 소리 흉내로 듣고 따라 말하기를 먼저 연습합니다.
시간: 약 4분
이렇게 말해 보세요
- “엄마(아빠)가 동물 소리를 낼게. 끝까지 듣고 똑같이 따라 해 봐. ‘멍멍 멍멍.’”
- “이번에는 길게 해 볼게. ‘오리가 꽥꽥, 소가 음매.’”
정답
- 들은 소리와 말을 빠뜨리지 않고 그대로 따라 하면 맞습니다.
막히면
- 계획상 앞 차시는 ‘바르게 듣고 차례 지켜 말하기’(KR22-G01-KOR-LISTEN-L01)입니다. 끝까지 듣기가 계속 어려우면 그 차시의 대화 놀이(S08)를 먼저 다시 합니다.
주의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국어 · 대화와문학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국어 · 동시 읽고 느낌 말하기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국어 · 동시 읽고 느낌 말하기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국어 · 동시 읽고 느낌 말하기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동시 읽고 느낌 말하기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동시에는 어떤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재미있는 말이 있을까?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동시를 소리 내어 재미있게 읽어요.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흉내 내는 말을 찾고 느낌을 말해요.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듣고 따라 말해요</a:t>
            </a:r>
            <a:endParaRPr lang="ko-KR" sz="44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듣고 똑같이 따라 말해요.</a:t>
            </a:r>
            <a:endParaRPr lang="ko-KR" sz="3200" dirty="0"/>
          </a:p>
        </p:txBody>
      </p:sp>
      <p:sp>
        <p:nvSpPr>
          <p:cNvPr id="4" name="S02-step4"/>
          <p:cNvSpPr txBox="1"/>
          <p:nvPr/>
        </p:nvSpPr>
        <p:spPr>
          <a:xfrm>
            <a:off x="2962656" y="3291840"/>
            <a:ext cx="2926080" cy="1645920"/>
          </a:xfrm>
          <a:prstGeom prst="roundRect">
            <a:avLst>
              <a:gd name="adj" fmla="val 6667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보면서 들어요</a:t>
            </a:r>
            <a:endParaRPr lang="ko-KR" sz="3200" dirty="0"/>
          </a:p>
        </p:txBody>
      </p:sp>
      <p:sp>
        <p:nvSpPr>
          <p:cNvPr id="5" name="S02-line5"/>
          <p:cNvSpPr/>
          <p:nvPr/>
        </p:nvSpPr>
        <p:spPr>
          <a:xfrm>
            <a:off x="5943600" y="411480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6" name="S02-step6"/>
          <p:cNvSpPr txBox="1"/>
          <p:nvPr/>
        </p:nvSpPr>
        <p:spPr>
          <a:xfrm>
            <a:off x="6300216" y="3291840"/>
            <a:ext cx="2926080" cy="1645920"/>
          </a:xfrm>
          <a:prstGeom prst="roundRect">
            <a:avLst>
              <a:gd name="adj" fmla="val 6667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따라 말해요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흉내 내는 말</a:t>
            </a:r>
            <a:endParaRPr lang="ko-KR" sz="4400" dirty="0"/>
          </a:p>
        </p:txBody>
      </p:sp>
      <p:sp>
        <p:nvSpPr>
          <p:cNvPr id="3" name="S03-text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소리나 모양을 흉내 낸 말이에요.</a:t>
            </a:r>
            <a:endParaRPr lang="ko-KR" sz="3200" dirty="0"/>
          </a:p>
        </p:txBody>
      </p:sp>
      <p:sp>
        <p:nvSpPr>
          <p:cNvPr id="4" name="S03-card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흉내 내는 말을 쓰면 장면이 눈앞에 떠올라요.</a:t>
            </a:r>
            <a:endParaRPr lang="ko-KR" sz="3200" dirty="0"/>
          </a:p>
        </p:txBody>
      </p:sp>
      <p:sp>
        <p:nvSpPr>
          <p:cNvPr id="6" name="S03-word10"/>
          <p:cNvSpPr txBox="1"/>
          <p:nvPr/>
        </p:nvSpPr>
        <p:spPr>
          <a:xfrm>
            <a:off x="548640" y="201168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멍멍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</a:t>
            </a:r>
            <a:endParaRPr lang="ko-KR" sz="3600" dirty="0"/>
          </a:p>
        </p:txBody>
      </p:sp>
      <p:sp>
        <p:nvSpPr>
          <p:cNvPr id="7" name="S03-word11"/>
          <p:cNvSpPr txBox="1"/>
          <p:nvPr/>
        </p:nvSpPr>
        <p:spPr>
          <a:xfrm>
            <a:off x="4337304" y="201168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꽥꽥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</a:t>
            </a:r>
            <a:endParaRPr lang="ko-KR" sz="3600" dirty="0"/>
          </a:p>
        </p:txBody>
      </p:sp>
      <p:sp>
        <p:nvSpPr>
          <p:cNvPr id="8" name="S03-word12"/>
          <p:cNvSpPr txBox="1"/>
          <p:nvPr/>
        </p:nvSpPr>
        <p:spPr>
          <a:xfrm>
            <a:off x="8125968" y="201168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똑똑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</a:t>
            </a:r>
            <a:endParaRPr lang="ko-KR" sz="3600" dirty="0"/>
          </a:p>
        </p:txBody>
      </p:sp>
      <p:sp>
        <p:nvSpPr>
          <p:cNvPr id="9" name="S03-word13"/>
          <p:cNvSpPr txBox="1"/>
          <p:nvPr/>
        </p:nvSpPr>
        <p:spPr>
          <a:xfrm>
            <a:off x="548640" y="370332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FDEBDD"/>
          </a:solidFill>
          <a:ln w="31750">
            <a:solidFill>
              <a:srgbClr val="E9762B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깡충깡충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</a:t>
            </a:r>
            <a:endParaRPr lang="ko-KR" sz="3600" dirty="0"/>
          </a:p>
        </p:txBody>
      </p:sp>
      <p:sp>
        <p:nvSpPr>
          <p:cNvPr id="10" name="S03-word14"/>
          <p:cNvSpPr txBox="1"/>
          <p:nvPr/>
        </p:nvSpPr>
        <p:spPr>
          <a:xfrm>
            <a:off x="4337304" y="370332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FDEBDD"/>
          </a:solidFill>
          <a:ln w="31750">
            <a:solidFill>
              <a:srgbClr val="E9762B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엉금엉금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</a:t>
            </a:r>
            <a:endParaRPr lang="ko-KR" sz="3600" dirty="0"/>
          </a:p>
        </p:txBody>
      </p:sp>
      <p:sp>
        <p:nvSpPr>
          <p:cNvPr id="11" name="S03-word15"/>
          <p:cNvSpPr txBox="1"/>
          <p:nvPr/>
        </p:nvSpPr>
        <p:spPr>
          <a:xfrm>
            <a:off x="8125968" y="370332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FDEBDD"/>
          </a:solidFill>
          <a:ln w="31750">
            <a:solidFill>
              <a:srgbClr val="E9762B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반짝반짝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동시 ‘비 오는 날’ 듣기</a:t>
            </a:r>
            <a:endParaRPr lang="ko-KR" sz="4400" dirty="0"/>
          </a:p>
        </p:txBody>
      </p:sp>
      <p:sp>
        <p:nvSpPr>
          <p:cNvPr id="3" name="S04-card1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소리와 모양이 떠오르나요?</a:t>
            </a:r>
            <a:endParaRPr lang="ko-KR" sz="3200" dirty="0"/>
          </a:p>
        </p:txBody>
      </p:sp>
      <p:sp>
        <p:nvSpPr>
          <p:cNvPr id="5" name="S04-passagebox18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4-passage19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톡톡톡 빗방울이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우산을 두드려요.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첨벙첨벙 내 장화가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웅덩이를 건너요.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달팽이도 느릿느릿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 구경을 나왔어요.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줄씩 주고받아 읽기</a:t>
            </a:r>
            <a:endParaRPr lang="ko-KR" sz="4400" dirty="0"/>
          </a:p>
        </p:txBody>
      </p:sp>
      <p:sp>
        <p:nvSpPr>
          <p:cNvPr id="3" name="S05-card2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2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줄씩 주고받으며, 흉내 내는 말은 재미있게 읽어요.</a:t>
            </a:r>
            <a:endParaRPr lang="ko-KR" sz="3200" dirty="0"/>
          </a:p>
        </p:txBody>
      </p:sp>
      <p:sp>
        <p:nvSpPr>
          <p:cNvPr id="5" name="S05-passagebox22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5-passage23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톡톡톡 빗방울이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우산을 두드려요.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첨벙첨벙 내 장화가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웅덩이를 건너요.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달팽이도 느릿느릿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 구경을 나왔어요.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흉내 내는 말 찾기</a:t>
            </a:r>
            <a:endParaRPr lang="ko-KR" sz="4400" dirty="0"/>
          </a:p>
        </p:txBody>
      </p:sp>
      <p:sp>
        <p:nvSpPr>
          <p:cNvPr id="3" name="S06-text2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시에서 흉내 내는 말을 찾아요.</a:t>
            </a:r>
            <a:endParaRPr lang="ko-KR" sz="3200" dirty="0"/>
          </a:p>
        </p:txBody>
      </p:sp>
      <p:sp>
        <p:nvSpPr>
          <p:cNvPr id="4" name="S06-card2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6-cardtext2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시를 다시 보며 찾아도 돼요.</a:t>
            </a:r>
            <a:endParaRPr lang="ko-KR" sz="3200" dirty="0"/>
          </a:p>
        </p:txBody>
      </p:sp>
      <p:sp>
        <p:nvSpPr>
          <p:cNvPr id="6" name="S06-chip27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6-text28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빗방울이 우산을 두드리는 소리는?</a:t>
            </a:r>
            <a:endParaRPr lang="ko-KR" sz="3200" dirty="0"/>
          </a:p>
        </p:txBody>
      </p:sp>
      <p:sp>
        <p:nvSpPr>
          <p:cNvPr id="8" name="S06-chip29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6-text30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장화가 웅덩이를 건너는 소리는?</a:t>
            </a:r>
            <a:endParaRPr lang="ko-KR" sz="3200" dirty="0"/>
          </a:p>
        </p:txBody>
      </p:sp>
      <p:sp>
        <p:nvSpPr>
          <p:cNvPr id="10" name="S06-chip31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6-text32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달팽이가 움직이는 모양은?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느낌을 말해요</a:t>
            </a:r>
            <a:endParaRPr lang="ko-KR" sz="4400" dirty="0"/>
          </a:p>
        </p:txBody>
      </p:sp>
      <p:sp>
        <p:nvSpPr>
          <p:cNvPr id="3" name="S07-card3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3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말이 좋은지 + 왜 좋은지 말해요.</a:t>
            </a:r>
            <a:endParaRPr lang="ko-KR" sz="3200" dirty="0"/>
          </a:p>
        </p:txBody>
      </p:sp>
      <p:sp>
        <p:nvSpPr>
          <p:cNvPr id="5" name="S07-word35"/>
          <p:cNvSpPr txBox="1"/>
          <p:nvPr/>
        </p:nvSpPr>
        <p:spPr>
          <a:xfrm>
            <a:off x="548640" y="1348740"/>
            <a:ext cx="11091672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‘첨벙첨벙’이 재미있어요.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재미있는 말</a:t>
            </a:r>
            <a:endParaRPr lang="ko-KR" sz="3600" dirty="0"/>
          </a:p>
        </p:txBody>
      </p:sp>
      <p:sp>
        <p:nvSpPr>
          <p:cNvPr id="6" name="S07-word36"/>
          <p:cNvSpPr txBox="1"/>
          <p:nvPr/>
        </p:nvSpPr>
        <p:spPr>
          <a:xfrm>
            <a:off x="548640" y="3360420"/>
            <a:ext cx="11091672" cy="1737360"/>
          </a:xfrm>
          <a:prstGeom prst="roundRect">
            <a:avLst>
              <a:gd name="adj" fmla="val 7368"/>
            </a:avLst>
          </a:prstGeom>
          <a:solidFill>
            <a:srgbClr val="FDEBDD"/>
          </a:solidFill>
          <a:ln w="31750">
            <a:solidFill>
              <a:srgbClr val="E9762B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물이 튀는 소리가 들리는 것 같아서요.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더 잘 말했나요?</a:t>
            </a:r>
            <a:endParaRPr lang="ko-KR" sz="4400" dirty="0"/>
          </a:p>
        </p:txBody>
      </p:sp>
      <p:sp>
        <p:nvSpPr>
          <p:cNvPr id="3" name="S08-card37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38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“이 시를 읽고 어떤 느낌이 들었니?”</a:t>
            </a:r>
            <a:endParaRPr lang="ko-KR" sz="3200" dirty="0"/>
          </a:p>
        </p:txBody>
      </p:sp>
      <p:sp>
        <p:nvSpPr>
          <p:cNvPr id="5" name="S08-card3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4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느낌을 더 잘 말했나요? 왜 그럴까요?</a:t>
            </a:r>
            <a:endParaRPr lang="ko-KR" sz="3200" dirty="0"/>
          </a:p>
        </p:txBody>
      </p:sp>
      <p:sp>
        <p:nvSpPr>
          <p:cNvPr id="7" name="S08-chip41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8-text42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“좋아요.”</a:t>
            </a:r>
            <a:endParaRPr lang="ko-KR" sz="3200" dirty="0"/>
          </a:p>
        </p:txBody>
      </p:sp>
      <p:sp>
        <p:nvSpPr>
          <p:cNvPr id="9" name="S08-chip43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8-text44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“‘느릿느릿’이 재미있어요. 달팽이가 천천히 가는 게 보여요.”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말로 바꿔 읽어요</a:t>
            </a:r>
            <a:endParaRPr lang="ko-KR" sz="4400" dirty="0"/>
          </a:p>
        </p:txBody>
      </p:sp>
      <p:sp>
        <p:nvSpPr>
          <p:cNvPr id="3" name="S09-text4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　　　)에 다른 흉내 내는 말을 넣어 읽어요.</a:t>
            </a:r>
            <a:endParaRPr lang="ko-KR" sz="3200" dirty="0"/>
          </a:p>
        </p:txBody>
      </p:sp>
      <p:sp>
        <p:nvSpPr>
          <p:cNvPr id="4" name="S09-card4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4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빗소리, 천천히 가는 모양을 떠올려요.</a:t>
            </a:r>
            <a:endParaRPr lang="ko-KR" sz="3200" dirty="0"/>
          </a:p>
        </p:txBody>
      </p:sp>
      <p:sp>
        <p:nvSpPr>
          <p:cNvPr id="6" name="S09-chip48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9-text49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　　　) 빗방울이 우산을 두드려요.</a:t>
            </a:r>
            <a:endParaRPr lang="ko-KR" sz="3200" dirty="0"/>
          </a:p>
        </p:txBody>
      </p:sp>
      <p:sp>
        <p:nvSpPr>
          <p:cNvPr id="8" name="S09-chip50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9-text51"/>
          <p:cNvSpPr txBox="1"/>
          <p:nvPr/>
        </p:nvSpPr>
        <p:spPr>
          <a:xfrm>
            <a:off x="1344168" y="365760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달팽이도 (　　　) 비 구경을 나왔어요.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0-card5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0-cardtext5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 내어 읽고, 흉내 내는 말을 찾아 느낌을 말해요.</a:t>
            </a:r>
            <a:endParaRPr lang="ko-KR" sz="3200" dirty="0"/>
          </a:p>
        </p:txBody>
      </p:sp>
      <p:sp>
        <p:nvSpPr>
          <p:cNvPr id="5" name="S10-passagebox54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10-passage55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바람이 불면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쌩쌩 바람이 달려와요.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나뭇잎이 팔랑팔랑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춤을 추어요.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머리카락도 살랑살랑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같이 춤을 추어요.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예와 흔한 실수</a:t>
            </a:r>
            <a:endParaRPr lang="ko-KR" sz="4400" dirty="0"/>
          </a:p>
        </p:txBody>
      </p:sp>
      <p:sp>
        <p:nvSpPr>
          <p:cNvPr id="3" name="S11-card5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5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흉내 내는 말을 찾고 + 까닭을 넣어 말하면 잘한 거예요.</a:t>
            </a:r>
            <a:endParaRPr lang="ko-KR" sz="3200" dirty="0"/>
          </a:p>
        </p:txBody>
      </p:sp>
      <p:sp>
        <p:nvSpPr>
          <p:cNvPr id="5" name="S11-chip58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1-text59"/>
          <p:cNvSpPr txBox="1"/>
          <p:nvPr/>
        </p:nvSpPr>
        <p:spPr>
          <a:xfrm>
            <a:off x="548640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쌩쌩, 팔랑팔랑, 살랑살랑</a:t>
            </a:r>
            <a:endParaRPr lang="ko-KR" sz="2600" dirty="0"/>
          </a:p>
        </p:txBody>
      </p:sp>
      <p:sp>
        <p:nvSpPr>
          <p:cNvPr id="7" name="S11-text60"/>
          <p:cNvSpPr txBox="1"/>
          <p:nvPr/>
        </p:nvSpPr>
        <p:spPr>
          <a:xfrm>
            <a:off x="3367278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흉내 내는 말</a:t>
            </a:r>
            <a:endParaRPr lang="ko-KR" sz="2600" dirty="0"/>
          </a:p>
        </p:txBody>
      </p:sp>
      <p:sp>
        <p:nvSpPr>
          <p:cNvPr id="8" name="S11-text61"/>
          <p:cNvSpPr txBox="1"/>
          <p:nvPr/>
        </p:nvSpPr>
        <p:spPr>
          <a:xfrm>
            <a:off x="548640" y="3429000"/>
            <a:ext cx="53629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“‘팔랑팔랑’이 재미있어요. 나뭇잎이 춤추는 게 보여요.”</a:t>
            </a:r>
            <a:endParaRPr lang="ko-KR" sz="3200" dirty="0"/>
          </a:p>
        </p:txBody>
      </p:sp>
      <p:sp>
        <p:nvSpPr>
          <p:cNvPr id="9" name="S11-chip62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0" name="S11-text63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바람, 나뭇잎</a:t>
            </a:r>
            <a:endParaRPr lang="ko-KR" sz="3200" dirty="0"/>
          </a:p>
        </p:txBody>
      </p:sp>
      <p:sp>
        <p:nvSpPr>
          <p:cNvPr id="11" name="S11-text64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이름이에요</a:t>
            </a:r>
            <a:endParaRPr lang="ko-KR" sz="2600" dirty="0"/>
          </a:p>
        </p:txBody>
      </p:sp>
      <p:sp>
        <p:nvSpPr>
          <p:cNvPr id="12" name="S11-text65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“좋아요.”</a:t>
            </a:r>
            <a:endParaRPr lang="ko-KR" sz="3200" dirty="0"/>
          </a:p>
        </p:txBody>
      </p:sp>
      <p:sp>
        <p:nvSpPr>
          <p:cNvPr id="13" name="S11-text66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까닭이 없어요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흉내 내는 말은?</a:t>
            </a:r>
            <a:endParaRPr lang="ko-KR" sz="4400" dirty="0"/>
          </a:p>
        </p:txBody>
      </p:sp>
      <p:sp>
        <p:nvSpPr>
          <p:cNvPr id="3" name="S12-text6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개구리가 폴짝폴짝 뛰어요.</a:t>
            </a:r>
            <a:endParaRPr lang="ko-KR" sz="3200" dirty="0"/>
          </a:p>
        </p:txBody>
      </p:sp>
      <p:sp>
        <p:nvSpPr>
          <p:cNvPr id="4" name="S12-card6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6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흉내 내는 말을 고르고, 떠오르는 모습을 말해 보세요.</a:t>
            </a:r>
            <a:endParaRPr lang="ko-KR" sz="3200" dirty="0"/>
          </a:p>
        </p:txBody>
      </p:sp>
      <p:sp>
        <p:nvSpPr>
          <p:cNvPr id="6" name="S12-chip70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2-card71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2-cardtext72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개구리가</a:t>
            </a:r>
            <a:endParaRPr lang="ko-KR" sz="3200" dirty="0"/>
          </a:p>
        </p:txBody>
      </p:sp>
      <p:sp>
        <p:nvSpPr>
          <p:cNvPr id="9" name="S12-chip73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12-card74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2-cardtext75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폴짝폴짝</a:t>
            </a:r>
            <a:endParaRPr lang="ko-KR" sz="3200" dirty="0"/>
          </a:p>
        </p:txBody>
      </p:sp>
      <p:sp>
        <p:nvSpPr>
          <p:cNvPr id="12" name="S12-chip76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12-card77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2-cardtext78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뛰어요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3-card7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8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동시는 소리 내어 읽고, 흉내 내는 말의 재미를 느껴요.</a:t>
            </a:r>
            <a:endParaRPr lang="ko-KR" sz="3200" dirty="0"/>
          </a:p>
        </p:txBody>
      </p:sp>
      <p:sp>
        <p:nvSpPr>
          <p:cNvPr id="5" name="S13-chip81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까닭을 넣어 느낌 말하기</a:t>
            </a:r>
            <a:endParaRPr lang="ko-KR" sz="2600" dirty="0"/>
          </a:p>
        </p:txBody>
      </p:sp>
      <p:sp>
        <p:nvSpPr>
          <p:cNvPr id="6" name="S13-chip82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“좋아요.”만 말하기</a:t>
            </a:r>
            <a:endParaRPr lang="ko-KR" sz="2600" dirty="0"/>
          </a:p>
        </p:txBody>
      </p:sp>
      <p:sp>
        <p:nvSpPr>
          <p:cNvPr id="7" name="S13-text83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3-text84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소리를 흉내 내는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 하나</a:t>
            </a:r>
            <a:endParaRPr lang="ko-KR" sz="2600" dirty="0"/>
          </a:p>
        </p:txBody>
      </p:sp>
      <p:sp>
        <p:nvSpPr>
          <p:cNvPr id="9" name="S13-text85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모양을 흉내 내는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 하나</a:t>
            </a:r>
            <a:endParaRPr lang="ko-KR" sz="2600" dirty="0"/>
          </a:p>
        </p:txBody>
      </p:sp>
      <p:sp>
        <p:nvSpPr>
          <p:cNvPr id="10" name="S13-text86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‘비 오는 날’에서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말과 까닭</a:t>
            </a:r>
            <a:endParaRPr lang="ko-KR" sz="2600" dirty="0"/>
          </a:p>
        </p:txBody>
      </p:sp>
      <p:sp>
        <p:nvSpPr>
          <p:cNvPr id="11" name="S13-text87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그림책 읽고 이야기하기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소리 흉내 놀이</a:t>
            </a:r>
            <a:endParaRPr lang="ko-KR" sz="4400" dirty="0"/>
          </a:p>
        </p:txBody>
      </p:sp>
      <p:sp>
        <p:nvSpPr>
          <p:cNvPr id="3" name="S14-text8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듣고 따라 말해요.</a:t>
            </a:r>
            <a:endParaRPr lang="ko-KR" sz="3200" dirty="0"/>
          </a:p>
        </p:txBody>
      </p:sp>
      <p:sp>
        <p:nvSpPr>
          <p:cNvPr id="4" name="S14-card8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9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끝까지 듣고 나서 따라 말해요.</a:t>
            </a:r>
            <a:endParaRPr lang="ko-KR" sz="3200" dirty="0"/>
          </a:p>
        </p:txBody>
      </p:sp>
      <p:sp>
        <p:nvSpPr>
          <p:cNvPr id="6" name="S14-word91"/>
          <p:cNvSpPr txBox="1"/>
          <p:nvPr/>
        </p:nvSpPr>
        <p:spPr>
          <a:xfrm>
            <a:off x="548640" y="26974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멍멍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강아지</a:t>
            </a:r>
            <a:endParaRPr lang="ko-KR" sz="3600" dirty="0"/>
          </a:p>
        </p:txBody>
      </p:sp>
      <p:sp>
        <p:nvSpPr>
          <p:cNvPr id="7" name="S14-word92"/>
          <p:cNvSpPr txBox="1"/>
          <p:nvPr/>
        </p:nvSpPr>
        <p:spPr>
          <a:xfrm>
            <a:off x="3390138" y="26974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야옹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고양이</a:t>
            </a:r>
            <a:endParaRPr lang="ko-KR" sz="3600" dirty="0"/>
          </a:p>
        </p:txBody>
      </p:sp>
      <p:sp>
        <p:nvSpPr>
          <p:cNvPr id="8" name="S14-word93"/>
          <p:cNvSpPr txBox="1"/>
          <p:nvPr/>
        </p:nvSpPr>
        <p:spPr>
          <a:xfrm>
            <a:off x="6231636" y="26974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꽥꽥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오리</a:t>
            </a:r>
            <a:endParaRPr lang="ko-KR" sz="3600" dirty="0"/>
          </a:p>
        </p:txBody>
      </p:sp>
      <p:sp>
        <p:nvSpPr>
          <p:cNvPr id="9" name="S14-word94"/>
          <p:cNvSpPr txBox="1"/>
          <p:nvPr/>
        </p:nvSpPr>
        <p:spPr>
          <a:xfrm>
            <a:off x="9073134" y="26974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음매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국어 동시 읽고 느낌 말하기</dc:title>
  <dc:subject>KR22-G01-KOR-POEM-L01</dc:subject>
  <dc:creator>education-ppt</dc:creator>
  <cp:lastModifiedBy>education-ppt</cp:lastModifiedBy>
  <cp:revision>1</cp:revision>
  <dcterms:created xsi:type="dcterms:W3CDTF">2026-10-26T07:44:29Z</dcterms:created>
  <dcterms:modified xsi:type="dcterms:W3CDTF">2026-10-26T07:44:29Z</dcterms:modified>
</cp:coreProperties>
</file>