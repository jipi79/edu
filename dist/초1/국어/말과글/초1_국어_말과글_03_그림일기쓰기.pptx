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f87ab5c-10bb-ae16-f430-84f0e4050720}">
          <p14:sldIdLst>
            <p14:sldId id="256"/>
            <p14:sldId id="257"/>
          </p14:sldIdLst>
        </p14:section>
        <p14:section name="개념" id="{f47e5539-f120-3c1c-c43a-31016d3abaa5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3c63f452-43ad-d5b1-1e7e-86a90d8db0b3}">
          <p14:sldIdLst>
            <p14:sldId id="263"/>
            <p14:sldId id="264"/>
          </p14:sldIdLst>
        </p14:section>
        <p14:section name="확인" id="{02f3d5d1-6359-a38e-d2a8-21c4ed051665}">
          <p14:sldIdLst>
            <p14:sldId id="265"/>
            <p14:sldId id="266"/>
            <p14:sldId id="267"/>
          </p14:sldIdLst>
        </p14:section>
        <p14:section name="정리" id="{153ffb9a-ac06-a6e3-d44d-498c70d09841}">
          <p14:sldIdLst>
            <p14:sldId id="268"/>
          </p14:sldIdLst>
        </p14:section>
        <p14:section name="보충" id="{07f46507-f8b8-b505-c170-c38a3739eebe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알리고, 겪은 일을 떠올려 보게 합니다.
시간: 약 2분
이렇게 말해 보세요
- “오늘(어제) 가장 기억나는 일이 뭐야?”
- “그 일을 그림과 글로 남기는 것을 그림일기라고 해. 오늘은 그림일기를 써 볼 거야.”
예상 답
- “놀이터에서 놀았어요.” / “기억 안 나요.”
주의
- 떠오르지 않아도 괜찮습니다. S05에서 함께 떠올립니다.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확인(문장 부호)]
목적: 앞 차시(문장 부호)에서 배운 마침표·느낌표·물음표를 알맞게 쓰는지 확인합니다. 그림일기의 문장 끝에 부호를 찍을 때 필요합니다.
시간: 약 3분
이렇게 말해 보세요
- “지난 시간에 배운 문장 부호 기억나? ①부터 알맞은 부호를 말해 볼래?”
- “왜 그 부호를 골랐어?”
정답
- ① .(마침표) ② !(느낌표) ③ ?(물음표)
막히면
- “알려 주는 말이야, 느낌이 큰 말이야, 묻는 말이야?”라고 물어 줍니다.
- 세 문제 가운데 두 개 이상 틀리면 S14(보충)를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그림일기의 짜임]
목적: 그림일기가 날짜·날씨, 그림, 글 세 부분으로 이루어진다는 것을 알려 줍니다.
시간: 약 3분
이렇게 말해 보세요
- “그림일기에는 세 가지가 들어가. 언제 있었던 일인지 날짜와 날씨를 쓰고, 기억나는 장면을 그리고, 한 일과 마음을 글로 써.”
- “오늘 날씨는 어때? 날씨 칸에는 뭐라고 쓰면 될까?”
예상 답
- “맑음이요.” / “비가 와요.”
막히면
- 달력을 보여 주며 오늘 날짜와 요일을 함께 찾습니다.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그림일기 예 읽기(시범)]
목적: 짧은 그림일기를 함께 읽고, 한 가지 일과 마음이 들어 있다는 것을 부모가 소리 내어 짚어 줍니다.
시간: 약 3분
이렇게 말해 보세요
- “엄마(아빠)가 읽어 볼게.” (천천히 읽습니다.) “오른쪽 네모는 그림 칸이야. 그네 타는 장면을 그리면 되겠지?”
- “누구와 무엇을 했어? 마음은 어땠다고 썼어?”
정답
- 아빠와 놀이터에서 그네를 탔습니다. 마음: 정말 신났다.
막히면
- 문장을 하나씩 짚으며 “이 문장은 한 일이야, 마음이야?”라고 묻습니다.
주의
- 일기는 나에게 쓰는 글이라 ‘탔다’, ‘신났다’처럼 ‘-다’로 끝맺는 경우가 많습니다. ‘탔어요’처럼 써도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쓸 일 고르기]
목적: 하루 일 가운데 한 가지를 골라 누구와·어디서·무엇을·마음을 떠올리는 방법을 보여 줍니다.
시간: 약 2분
이렇게 말해 보세요
- “엄마(아빠)가 먼저 해 볼게. 오늘 아침에 밥 먹고, 일하고, 저녁에 너랑 산책했어. 가장 기억나는 건 산책이야. 너랑 공원에서 걸었지. 바람이 시원해서 기분이 좋았어.”
- “너는 오늘 한 일 중에 무엇이 가장 기억나?”
예상 답
- “동생이랑 블록 놀이 한 거요.”
막히면
- “아침에 뭐 먹었어? 학교에서 뭐가 재미있었어? 집에 와서 뭐 했어?”처럼 시간 순서로 물어 떠올리게 합니다.
- 오늘 특별한 일이 없으면 어제나 주말에 있었던 일을 골라도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마음을 나타내는 말]
목적: 마음을 나타내는 여러 낱말을 익혀 “재미있었다.”만 쓰는 습관(M2)을 줄입니다.
시간: 약 3분
이렇게 말해 보세요
- “하나씩 읽어 볼까? ‘뿌듯했다’는 언제 쓰는 말일까?”
- “아까 고른 일을 할 때 너는 어떤 마음이었어? 여기서 골라도 되고, 다른 말을 해도 돼.”
예상 답
- “뿌듯했다는 내가 잘해서 기분 좋을 때요.”
- “블록 탑을 다 쌓아서 뿌듯했어요.”
막히면
- 부모가 표정을 지어 보이고 어떤 마음인지 맞히게 합니다.
- ‘뿌듯했다’는 [뿌드태따], ‘놀랐다’는 [놀랃따]로 소리 납니다. 부모가 먼저 읽어 주고 따라 읽게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그림일기 쓰는 차례]
목적: 그림일기를 쓰는 차례를 정리해 혼자 쓸 때 따라 하게 합니다.
시간: 약 2분
이렇게 말해 보세요
- “그림일기는 이 차례대로 쓰면 돼. 그림은 잘 그리지 않아도 괜찮아. 무엇을 하는 장면인지 알 수 있으면 돼.”
- “문장 끝에는 무엇을 찍어야 했지?”
예상 답
- “마침표요. 신나면 느낌표도 돼요.”
막히면
- S04의 그림일기를 다시 보며 1~4가 어디에 있는지 짚게 합니다.
주의
- 아이가 지치면 여기서 쉬고, 다음 날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비교(하루 일 모두 쓰기)]
목적: 하루 일을 모두 늘어놓는 글(M1)과 한 가지 일을 고른 글을 비교합니다.
시간: 약 3분
이렇게 말해 보세요
- “가를 그림 한 장으로 그린다면 무엇을 그려야 할까?”
- “나는 무엇을 그리면 될까? 나에는 마음도 들어 있어?”
정답
- 나. 한 가지 일(블록 탑 쌓기)을 골라서 그림으로 그리기 쉽고, 마음(뿌듯했다)도 들어 있습니다.
- 가는 여러 일을 늘어놓아 무엇을 그릴지 정하기 어렵고, 마음이 없습니다.
막히면
- 가의 일을 손가락으로 하나씩 세게 합니다. “일이 몇 개야? 그림 한 장에 다 그릴 수 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쓰기 전에 말로 해 보기]
목적: 쓰기 전에 고른 일을 말로 정리하고, 한 일과 마음이 들어간 한두 문장으로 만들어 봅니다. 활동지 3의 표에 낱말로 적어도 됩니다.
시간: 약 3분
이렇게 말해 보세요
- “S05에서 고른 일로 대답해 볼래? 누구와 무엇을 했어?”
- “이제 대답을 이어서 한두 문장으로 말해 봐.”
예상 답
- ① “동생이랑 블록 놀이를 했어요.” ② “거실에서요.” ③ “뿌듯했어요.”
- 이어 말하기: “동생과 거실에서 블록으로 탑을 쌓았다. 정말 뿌듯했다.”
막히면
- 부모가 아이의 대답을 이어 한 번 말해 주고, 아이가 따라 말하게 합니다.
주의
- 정답이 하나가 아닙니다. 한 가지 일과 마음이 들어가면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그림일기 쓰기]
목적: 도움 없이 그림일기를 쓰는지 관찰 기준으로 확인합니다.
시간: 약 10분
이렇게 말해 보세요
- “이번에는 혼자 써 볼래? 그림은 5분쯤 그리고, 글을 써 보자.”
- “다 쓰면 소리 내어 읽어 줘. 오른쪽 기준표에서 지킨 것을 같이 확인해 보자.”
정답
- 정답은 하나가 아닙니다. 관찰 기준 4가지 가운데 3가지 이상을 지키면 목표 B 달성으로 봅니다.
- 한 가지 일을 골라 한 일과 마음을 함께 썼으면 목표 A 달성입니다. 예: “엄마와 김밥을 만들었다. 내가 만든 김밥이 제일 맛있었다!”
막히면
- 글자 쓰기가 많이 어려우면 아이가 말한 문장을 부모가 연한 연필로 써 주고 아이가 따라 쓰게 합니다. 이때는 기록표에 ‘도움’으로 표시합니다.
- 그림만 오래 그리면 5분쯤에서 “이제 글을 써 볼까?”라고 알려 줍니다.
주의
- 맞춤법은 하나하나 고치지 않습니다. 아이가 읽어 준 뜻이 통하면 칭찬하고, 고칠 점은 한 가지만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예와 피드백]
목적: 아이의 그림일기를 예와 비교하며 잘한 점과 고칠 점을 찾습니다.
시간: 약 2분
이렇게 말해 보세요
- “네 그림일기는 왼쪽처럼 한 일과 마음이 다 들어 있어?”
- “오른쪽 글은 어떻게 고치면 좋을까?”
예상 답
- “‘재미있었다.’ 앞에 무엇을 했는지 써요.”
주의
- 이 장은 학생용 파일에서 빠집니다. 잘한 점을 먼저 두 가지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확인]
목적: 처음 보는 글에서 한 가지 일과 마음이 들어간 그림일기의 글을 고르는지 확인합니다.
시간: 약 2분
이렇게 말해 보세요
- “가, 나, 다 중에서 그림일기의 글로 가장 알맞은 것은 무엇일까? 왜 그렇게 생각해?”
정답
- 나. 한 가지 일(고추 따기)과 마음(신기했다)이 들어 있습니다.
- 가는 낱말 하나뿐이고, 다는 여러 일을 늘어놓았으며 마음이 없습니다.
막히면
- S03의 세 카드를 다시 보여 주고 “한 일과 마음이 다 있는 것은?”이라고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 첫 5분에 할 복습을 알려 줍니다.
시간: 약 2분
이렇게 말해 보세요
- “오늘 쓴 그림일기를 한 번 더 읽어 줄래? 그림일기에는 무엇을 써야 했지?”
예상 답
- “날짜랑 날씨, 그림, 한 일이랑 마음이요.”
정답
- ① 날짜·날씨, 그림, 글(한 일과 마음) ② 예: 신났다, 뿌듯했다(마음을 나타내는 말이면 맞음) ③ 누구와 무엇을 했는지 들어간 문장이면 맞음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보충(문장 끝 부호)]
목적: S02에서 문장 부호를 잘 고르지 못하면, 그림일기에 자주 쓰는 세 가지 문장으로 다시 익힙니다.
시간: 약 4분
이렇게 말해 보세요
- “세 문장을 엄마(아빠)가 읽어 볼게. 첫째는 알려 주는 말, 둘째는 묻는 말, 셋째는 신나는 마음이 큰 말이야.”
- “이번에는 네가 읽어 볼래? 둘째 문장은 끝을 올려서!”
정답
- 알려 줄 때 마침표(.), 물을 때 물음표(?), 느낌이 클 때 느낌표(!)
막히면
- 계획상 앞 차시는 ‘문장 부호’(KR22-G01-KOR-PUNCT-L01)입니다. 세 부호를 계속 헷갈리면 그 차시의 S03~S05를 먼저 다시 합니다.
주의
- 그림일기에는 마침표가 가장 많이 쓰입니다. 오늘은 문장 끝에 부호를 빠뜨리지 않는 것을 먼저 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말과글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그림일기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그림일기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국어 · 그림일기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그림일기 쓰기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있었던 일을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그림과 글로 남겨 볼까?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겪은 일 하나를 골라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그림과 한두 문장으로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부호는?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　　) 안에 알맞은 부호를 넣어요.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공원에 갔어요(　　)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와, 정말 재미있다(　　)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너도 같이 갈래(　　)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그림일기에 쓰는 것</a:t>
            </a:r>
            <a:endParaRPr lang="ko-KR" sz="44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그림일기는 겪은 일을 그림과 글로 남겨요.</a:t>
            </a:r>
            <a:endParaRPr lang="ko-KR" sz="3200" dirty="0"/>
          </a:p>
        </p:txBody>
      </p:sp>
      <p:sp>
        <p:nvSpPr>
          <p:cNvPr id="5" name="S03-card12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날짜와 날씨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언제였나요? 날씨는요?</a:t>
            </a:r>
            <a:endParaRPr lang="ko-KR" sz="3200" dirty="0"/>
          </a:p>
        </p:txBody>
      </p:sp>
      <p:sp>
        <p:nvSpPr>
          <p:cNvPr id="7" name="S03-card14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기억나는 장면</a:t>
            </a:r>
            <a:endParaRPr lang="ko-KR" sz="3200" dirty="0"/>
          </a:p>
        </p:txBody>
      </p:sp>
      <p:sp>
        <p:nvSpPr>
          <p:cNvPr id="9" name="S03-card16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7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일과 마음을 한두 문장으로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그림일기 읽어 보기</a:t>
            </a:r>
            <a:endParaRPr lang="ko-KR" sz="44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누구와 무엇을 했나요? 마음은 어땠나요?</a:t>
            </a:r>
            <a:endParaRPr lang="ko-KR" sz="3200" dirty="0"/>
          </a:p>
        </p:txBody>
      </p:sp>
      <p:sp>
        <p:nvSpPr>
          <p:cNvPr id="5" name="S04-figure20" descr="그림을 그리는 빈 칸"/>
          <p:cNvSpPr/>
          <p:nvPr/>
        </p:nvSpPr>
        <p:spPr>
          <a:xfrm>
            <a:off x="8139349" y="2009140"/>
            <a:ext cx="29260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4-label21"/>
          <p:cNvSpPr txBox="1"/>
          <p:nvPr/>
        </p:nvSpPr>
        <p:spPr>
          <a:xfrm>
            <a:off x="7564465" y="4658360"/>
            <a:ext cx="4075847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칸: 그네 타는 장면</a:t>
            </a:r>
            <a:endParaRPr lang="ko-KR" sz="2600" dirty="0"/>
          </a:p>
        </p:txBody>
      </p:sp>
      <p:sp>
        <p:nvSpPr>
          <p:cNvPr id="7" name="S04-passagebox22"/>
          <p:cNvSpPr/>
          <p:nvPr/>
        </p:nvSpPr>
        <p:spPr>
          <a:xfrm>
            <a:off x="548640" y="1325880"/>
            <a:ext cx="6650065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8" name="S04-passage23"/>
          <p:cNvSpPr txBox="1"/>
          <p:nvPr/>
        </p:nvSpPr>
        <p:spPr>
          <a:xfrm>
            <a:off x="822960" y="1508760"/>
            <a:ext cx="6101425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6월 7일 일요일, 날씨: 맑음</a:t>
            </a:r>
            <a:endParaRPr lang="ko-KR" sz="3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아빠와 놀이터에서 그네를 탔다. 하늘을 나는 것 같아서 정말 신났다!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일을 골라요</a:t>
            </a:r>
            <a:endParaRPr lang="ko-KR" sz="4400" dirty="0"/>
          </a:p>
        </p:txBody>
      </p:sp>
      <p:sp>
        <p:nvSpPr>
          <p:cNvPr id="3" name="S05-stepno24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5-text25"/>
          <p:cNvSpPr txBox="1"/>
          <p:nvPr/>
        </p:nvSpPr>
        <p:spPr>
          <a:xfrm>
            <a:off x="1325880" y="242773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한 일을 떠올려요.</a:t>
            </a:r>
            <a:endParaRPr lang="ko-KR" sz="3200" dirty="0"/>
          </a:p>
        </p:txBody>
      </p:sp>
      <p:sp>
        <p:nvSpPr>
          <p:cNvPr id="5" name="S05-stepno26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5-text27"/>
          <p:cNvSpPr txBox="1"/>
          <p:nvPr/>
        </p:nvSpPr>
        <p:spPr>
          <a:xfrm>
            <a:off x="1325880" y="314096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기억나는 일 하나를 골라요.</a:t>
            </a:r>
            <a:endParaRPr lang="ko-KR" sz="3200" dirty="0"/>
          </a:p>
        </p:txBody>
      </p:sp>
      <p:sp>
        <p:nvSpPr>
          <p:cNvPr id="7" name="S05-stepno28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5-text29"/>
          <p:cNvSpPr txBox="1"/>
          <p:nvPr/>
        </p:nvSpPr>
        <p:spPr>
          <a:xfrm>
            <a:off x="1325880" y="385419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누구와, 어디서 했나요?</a:t>
            </a:r>
            <a:endParaRPr lang="ko-KR" sz="3200" dirty="0"/>
          </a:p>
        </p:txBody>
      </p:sp>
      <p:sp>
        <p:nvSpPr>
          <p:cNvPr id="9" name="S05-stepno30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5-text31"/>
          <p:cNvSpPr txBox="1"/>
          <p:nvPr/>
        </p:nvSpPr>
        <p:spPr>
          <a:xfrm>
            <a:off x="1325880" y="456742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마음은 어땠나요?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나타내는 말</a:t>
            </a:r>
            <a:endParaRPr lang="ko-KR" sz="4400" dirty="0"/>
          </a:p>
        </p:txBody>
      </p:sp>
      <p:sp>
        <p:nvSpPr>
          <p:cNvPr id="3" name="S06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마음은 어땠나요?</a:t>
            </a:r>
            <a:endParaRPr lang="ko-KR" sz="3200" dirty="0"/>
          </a:p>
        </p:txBody>
      </p:sp>
      <p:sp>
        <p:nvSpPr>
          <p:cNvPr id="4" name="S06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‘재미있었다’ 말고 다른 말도 골라 봐요.</a:t>
            </a:r>
            <a:endParaRPr lang="ko-KR" sz="3200" dirty="0"/>
          </a:p>
        </p:txBody>
      </p:sp>
      <p:sp>
        <p:nvSpPr>
          <p:cNvPr id="6" name="S06-word35"/>
          <p:cNvSpPr txBox="1"/>
          <p:nvPr/>
        </p:nvSpPr>
        <p:spPr>
          <a:xfrm>
            <a:off x="548640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신났다</a:t>
            </a:r>
            <a:endParaRPr lang="ko-KR" sz="3600" dirty="0"/>
          </a:p>
        </p:txBody>
      </p:sp>
      <p:sp>
        <p:nvSpPr>
          <p:cNvPr id="7" name="S06-word36"/>
          <p:cNvSpPr txBox="1"/>
          <p:nvPr/>
        </p:nvSpPr>
        <p:spPr>
          <a:xfrm>
            <a:off x="4337304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기뻤다</a:t>
            </a:r>
            <a:endParaRPr lang="ko-KR" sz="3600" dirty="0"/>
          </a:p>
        </p:txBody>
      </p:sp>
      <p:sp>
        <p:nvSpPr>
          <p:cNvPr id="8" name="S06-word37"/>
          <p:cNvSpPr txBox="1"/>
          <p:nvPr/>
        </p:nvSpPr>
        <p:spPr>
          <a:xfrm>
            <a:off x="8125968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뿌듯했다</a:t>
            </a:r>
            <a:endParaRPr lang="ko-KR" sz="3600" dirty="0"/>
          </a:p>
        </p:txBody>
      </p:sp>
      <p:sp>
        <p:nvSpPr>
          <p:cNvPr id="9" name="S06-word38"/>
          <p:cNvSpPr txBox="1"/>
          <p:nvPr/>
        </p:nvSpPr>
        <p:spPr>
          <a:xfrm>
            <a:off x="548640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놀랐다</a:t>
            </a:r>
            <a:endParaRPr lang="ko-KR" sz="3600" dirty="0"/>
          </a:p>
        </p:txBody>
      </p:sp>
      <p:sp>
        <p:nvSpPr>
          <p:cNvPr id="10" name="S06-word39"/>
          <p:cNvSpPr txBox="1"/>
          <p:nvPr/>
        </p:nvSpPr>
        <p:spPr>
          <a:xfrm>
            <a:off x="4337304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아쉬웠다</a:t>
            </a:r>
            <a:endParaRPr lang="ko-KR" sz="3600" dirty="0"/>
          </a:p>
        </p:txBody>
      </p:sp>
      <p:sp>
        <p:nvSpPr>
          <p:cNvPr id="11" name="S06-word40"/>
          <p:cNvSpPr txBox="1"/>
          <p:nvPr/>
        </p:nvSpPr>
        <p:spPr>
          <a:xfrm>
            <a:off x="8125968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무서웠다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써요</a:t>
            </a:r>
            <a:endParaRPr lang="ko-KR" sz="4400" dirty="0"/>
          </a:p>
        </p:txBody>
      </p:sp>
      <p:sp>
        <p:nvSpPr>
          <p:cNvPr id="3" name="S07-stepno41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7-text42"/>
          <p:cNvSpPr txBox="1"/>
          <p:nvPr/>
        </p:nvSpPr>
        <p:spPr>
          <a:xfrm>
            <a:off x="1325880" y="242773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날짜와 날씨를 써요.</a:t>
            </a:r>
            <a:endParaRPr lang="ko-KR" sz="3200" dirty="0"/>
          </a:p>
        </p:txBody>
      </p:sp>
      <p:sp>
        <p:nvSpPr>
          <p:cNvPr id="5" name="S07-stepno43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7-text44"/>
          <p:cNvSpPr txBox="1"/>
          <p:nvPr/>
        </p:nvSpPr>
        <p:spPr>
          <a:xfrm>
            <a:off x="1325880" y="314096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기억나는 장면을 크게 그려요.</a:t>
            </a:r>
            <a:endParaRPr lang="ko-KR" sz="3200" dirty="0"/>
          </a:p>
        </p:txBody>
      </p:sp>
      <p:sp>
        <p:nvSpPr>
          <p:cNvPr id="7" name="S07-stepno45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7-text46"/>
          <p:cNvSpPr txBox="1"/>
          <p:nvPr/>
        </p:nvSpPr>
        <p:spPr>
          <a:xfrm>
            <a:off x="1325880" y="385419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일을 한 문장으로 써요.</a:t>
            </a:r>
            <a:endParaRPr lang="ko-KR" sz="3200" dirty="0"/>
          </a:p>
        </p:txBody>
      </p:sp>
      <p:sp>
        <p:nvSpPr>
          <p:cNvPr id="9" name="S07-stepno47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7-text48"/>
          <p:cNvSpPr txBox="1"/>
          <p:nvPr/>
        </p:nvSpPr>
        <p:spPr>
          <a:xfrm>
            <a:off x="1325880" y="456742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한 문장으로 쓰고 부호를 찍어요.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쓸까요?</a:t>
            </a:r>
            <a:endParaRPr lang="ko-KR" sz="4400" dirty="0"/>
          </a:p>
        </p:txBody>
      </p:sp>
      <p:sp>
        <p:nvSpPr>
          <p:cNvPr id="3" name="S08-card4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5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그림일기의 글을 썼어요.</a:t>
            </a:r>
            <a:endParaRPr lang="ko-KR" sz="3200" dirty="0"/>
          </a:p>
        </p:txBody>
      </p:sp>
      <p:sp>
        <p:nvSpPr>
          <p:cNvPr id="5" name="S08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그림으로 그리기 좋을까요? 왜 그럴까요?</a:t>
            </a:r>
            <a:endParaRPr lang="ko-KR" sz="3200" dirty="0"/>
          </a:p>
        </p:txBody>
      </p:sp>
      <p:sp>
        <p:nvSpPr>
          <p:cNvPr id="7" name="S08-chip5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8-text5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일어나서 밥을 먹고, 학교에 갔다가 집에 와서 잤다.</a:t>
            </a:r>
            <a:endParaRPr lang="ko-KR" sz="3200" dirty="0"/>
          </a:p>
        </p:txBody>
      </p:sp>
      <p:sp>
        <p:nvSpPr>
          <p:cNvPr id="9" name="S08-chip5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8-text5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동생과 블록으로 높은 탑을 쌓았다. 정말 뿌듯했다.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먼저 해 봐요</a:t>
            </a:r>
            <a:endParaRPr lang="ko-KR" sz="4400" dirty="0"/>
          </a:p>
        </p:txBody>
      </p:sp>
      <p:sp>
        <p:nvSpPr>
          <p:cNvPr id="3" name="S09-text5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쓰고 싶은 일을 떠올려 대답해요.</a:t>
            </a:r>
            <a:endParaRPr lang="ko-KR" sz="3200" dirty="0"/>
          </a:p>
        </p:txBody>
      </p:sp>
      <p:sp>
        <p:nvSpPr>
          <p:cNvPr id="4" name="S09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대답을 이어 한두 문장으로 말해요.</a:t>
            </a:r>
            <a:endParaRPr lang="ko-KR" sz="3200" dirty="0"/>
          </a:p>
        </p:txBody>
      </p:sp>
      <p:sp>
        <p:nvSpPr>
          <p:cNvPr id="6" name="S09-chip6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text6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누구와 무엇을 했나요?</a:t>
            </a:r>
            <a:endParaRPr lang="ko-KR" sz="3200" dirty="0"/>
          </a:p>
        </p:txBody>
      </p:sp>
      <p:sp>
        <p:nvSpPr>
          <p:cNvPr id="8" name="S09-chip6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text6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했나요?</a:t>
            </a:r>
            <a:endParaRPr lang="ko-KR" sz="3200" dirty="0"/>
          </a:p>
        </p:txBody>
      </p:sp>
      <p:sp>
        <p:nvSpPr>
          <p:cNvPr id="10" name="S09-chip6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text6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마음은 어땠나요?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그림일기</a:t>
            </a:r>
            <a:endParaRPr lang="ko-KR" sz="4400" dirty="0"/>
          </a:p>
        </p:txBody>
      </p:sp>
      <p:sp>
        <p:nvSpPr>
          <p:cNvPr id="3" name="S10-text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4·5에 그림일기를 써요.</a:t>
            </a:r>
            <a:endParaRPr lang="ko-KR" sz="3200" dirty="0"/>
          </a:p>
        </p:txBody>
      </p:sp>
      <p:sp>
        <p:nvSpPr>
          <p:cNvPr id="4" name="S10-card67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68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날짜와 날씨를 썼어요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한 가지 일을 그렸어요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한 일과 마음을 썼어요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문장 끝에 부호를 찍었어요</a:t>
            </a:r>
            <a:endParaRPr lang="ko-KR" sz="3200" dirty="0"/>
          </a:p>
        </p:txBody>
      </p:sp>
      <p:sp>
        <p:nvSpPr>
          <p:cNvPr id="6" name="S10-stepno69"/>
          <p:cNvSpPr txBox="1"/>
          <p:nvPr/>
        </p:nvSpPr>
        <p:spPr>
          <a:xfrm>
            <a:off x="548640" y="2770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0-text70"/>
          <p:cNvSpPr txBox="1"/>
          <p:nvPr/>
        </p:nvSpPr>
        <p:spPr>
          <a:xfrm>
            <a:off x="1325880" y="27706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날짜와 날씨를 써요.</a:t>
            </a:r>
            <a:endParaRPr lang="ko-KR" sz="3200" dirty="0"/>
          </a:p>
        </p:txBody>
      </p:sp>
      <p:sp>
        <p:nvSpPr>
          <p:cNvPr id="8" name="S10-stepno71"/>
          <p:cNvSpPr txBox="1"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0-text72"/>
          <p:cNvSpPr txBox="1"/>
          <p:nvPr/>
        </p:nvSpPr>
        <p:spPr>
          <a:xfrm>
            <a:off x="1325880" y="3483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장면을 그려요.</a:t>
            </a:r>
            <a:endParaRPr lang="ko-KR" sz="3200" dirty="0"/>
          </a:p>
        </p:txBody>
      </p:sp>
      <p:sp>
        <p:nvSpPr>
          <p:cNvPr id="10" name="S10-stepno73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0-text74"/>
          <p:cNvSpPr txBox="1"/>
          <p:nvPr/>
        </p:nvSpPr>
        <p:spPr>
          <a:xfrm>
            <a:off x="1325880" y="4197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한두 문장으로 써요.</a:t>
            </a:r>
            <a:endParaRPr lang="ko-KR" sz="3200" dirty="0"/>
          </a:p>
        </p:txBody>
      </p:sp>
      <p:sp>
        <p:nvSpPr>
          <p:cNvPr id="12" name="S10-stepno75"/>
          <p:cNvSpPr txBox="1"/>
          <p:nvPr/>
        </p:nvSpPr>
        <p:spPr>
          <a:xfrm>
            <a:off x="548640" y="4910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10-text76"/>
          <p:cNvSpPr txBox="1"/>
          <p:nvPr/>
        </p:nvSpPr>
        <p:spPr>
          <a:xfrm>
            <a:off x="1325880" y="49103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내어 읽어요.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그림일기 예와 흔한 실수</a:t>
            </a:r>
            <a:endParaRPr lang="ko-KR" sz="4400" dirty="0"/>
          </a:p>
        </p:txBody>
      </p:sp>
      <p:sp>
        <p:nvSpPr>
          <p:cNvPr id="3" name="S11-card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기준 4가지 가운데 3가지 이상이면 잘한 거예요.</a:t>
            </a:r>
            <a:endParaRPr lang="ko-KR" sz="3200" dirty="0"/>
          </a:p>
        </p:txBody>
      </p:sp>
      <p:sp>
        <p:nvSpPr>
          <p:cNvPr id="5" name="S11-chip79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80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엄마와 김밥을 만들었다.</a:t>
            </a:r>
            <a:endParaRPr lang="ko-KR" sz="3200" dirty="0"/>
          </a:p>
        </p:txBody>
      </p:sp>
      <p:sp>
        <p:nvSpPr>
          <p:cNvPr id="7" name="S11-text81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 일</a:t>
            </a:r>
            <a:endParaRPr lang="ko-KR" sz="2600" dirty="0"/>
          </a:p>
        </p:txBody>
      </p:sp>
      <p:sp>
        <p:nvSpPr>
          <p:cNvPr id="8" name="S11-text82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만든 김밥이 제일 맛있었다!</a:t>
            </a:r>
            <a:endParaRPr lang="ko-KR" sz="2600" dirty="0"/>
          </a:p>
        </p:txBody>
      </p:sp>
      <p:sp>
        <p:nvSpPr>
          <p:cNvPr id="9" name="S11-text83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마음과 부호</a:t>
            </a:r>
            <a:endParaRPr lang="ko-KR" sz="2600" dirty="0"/>
          </a:p>
        </p:txBody>
      </p:sp>
      <p:sp>
        <p:nvSpPr>
          <p:cNvPr id="10" name="S11-chip84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1" name="S11-text85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재미있었다.</a:t>
            </a:r>
            <a:endParaRPr lang="ko-KR" sz="3200" dirty="0"/>
          </a:p>
        </p:txBody>
      </p:sp>
      <p:sp>
        <p:nvSpPr>
          <p:cNvPr id="12" name="S11-text86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했는지 없음</a:t>
            </a:r>
            <a:endParaRPr lang="ko-KR" sz="2600" dirty="0"/>
          </a:p>
        </p:txBody>
      </p:sp>
      <p:sp>
        <p:nvSpPr>
          <p:cNvPr id="13" name="S11-text87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 먹고 학교 가고 잤다.</a:t>
            </a:r>
            <a:endParaRPr lang="ko-KR" sz="3200" dirty="0"/>
          </a:p>
        </p:txBody>
      </p:sp>
      <p:sp>
        <p:nvSpPr>
          <p:cNvPr id="14" name="S11-text88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일을 다 씀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글은?</a:t>
            </a:r>
            <a:endParaRPr lang="ko-KR" sz="4400" dirty="0"/>
          </a:p>
        </p:txBody>
      </p:sp>
      <p:sp>
        <p:nvSpPr>
          <p:cNvPr id="3" name="S12-text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그림일기의 글로 가장 알맞은 것은?</a:t>
            </a:r>
            <a:endParaRPr lang="ko-KR" sz="3200" dirty="0"/>
          </a:p>
        </p:txBody>
      </p:sp>
      <p:sp>
        <p:nvSpPr>
          <p:cNvPr id="4" name="S12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 보세요.</a:t>
            </a:r>
            <a:endParaRPr lang="ko-KR" sz="3200" dirty="0"/>
          </a:p>
        </p:txBody>
      </p:sp>
      <p:sp>
        <p:nvSpPr>
          <p:cNvPr id="6" name="S12-chip92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ard93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94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고추</a:t>
            </a:r>
            <a:endParaRPr lang="ko-KR" sz="3200" dirty="0"/>
          </a:p>
        </p:txBody>
      </p:sp>
      <p:sp>
        <p:nvSpPr>
          <p:cNvPr id="9" name="S12-chip95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2-card96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97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할머니와 텃밭에서 고추를 땄다. 고추가 많아서 신기했다.</a:t>
            </a:r>
            <a:endParaRPr lang="ko-KR" sz="2600" dirty="0"/>
          </a:p>
        </p:txBody>
      </p:sp>
      <p:sp>
        <p:nvSpPr>
          <p:cNvPr id="12" name="S12-chip98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2-card99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100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아침을 먹고 학교에 갔다. 집에 와서 숙제를 하고 잤다.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0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0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그림일기에는 날짜·날씨, 그림, 한 일과 마음을 써요.</a:t>
            </a:r>
            <a:endParaRPr lang="ko-KR" sz="3200" dirty="0"/>
          </a:p>
        </p:txBody>
      </p:sp>
      <p:sp>
        <p:nvSpPr>
          <p:cNvPr id="5" name="S13-chip103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한 가지 일을 골라 쓰기</a:t>
            </a:r>
            <a:endParaRPr lang="ko-KR" sz="2600" dirty="0"/>
          </a:p>
        </p:txBody>
      </p:sp>
      <p:sp>
        <p:nvSpPr>
          <p:cNvPr id="6" name="S13-chip104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하루 일을 모두 쓰기</a:t>
            </a:r>
            <a:endParaRPr lang="ko-KR" sz="2600" dirty="0"/>
          </a:p>
        </p:txBody>
      </p:sp>
      <p:sp>
        <p:nvSpPr>
          <p:cNvPr id="7" name="S13-text105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06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그림일기의 세 부분</a:t>
            </a:r>
            <a:endParaRPr lang="ko-KR" sz="2600" dirty="0"/>
          </a:p>
        </p:txBody>
      </p:sp>
      <p:sp>
        <p:nvSpPr>
          <p:cNvPr id="9" name="S13-text107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마음을 나타내는 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개</a:t>
            </a:r>
            <a:endParaRPr lang="ko-KR" sz="2600" dirty="0"/>
          </a:p>
        </p:txBody>
      </p:sp>
      <p:sp>
        <p:nvSpPr>
          <p:cNvPr id="10" name="S13-text108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어제 한 일을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문장으로</a:t>
            </a:r>
            <a:endParaRPr lang="ko-KR" sz="2600" dirty="0"/>
          </a:p>
        </p:txBody>
      </p:sp>
      <p:sp>
        <p:nvSpPr>
          <p:cNvPr id="11" name="S13-text10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바르게 듣고 차례 지켜 말하기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문장 끝 부호</a:t>
            </a:r>
            <a:endParaRPr lang="ko-KR" sz="4400" dirty="0"/>
          </a:p>
        </p:txBody>
      </p:sp>
      <p:sp>
        <p:nvSpPr>
          <p:cNvPr id="3" name="S14-card1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문장이 끝나면 꼭 부호를 찍어요.</a:t>
            </a:r>
            <a:endParaRPr lang="ko-KR" sz="3200" dirty="0"/>
          </a:p>
        </p:txBody>
      </p:sp>
      <p:sp>
        <p:nvSpPr>
          <p:cNvPr id="5" name="S14-word112"/>
          <p:cNvSpPr txBox="1"/>
          <p:nvPr/>
        </p:nvSpPr>
        <p:spPr>
          <a:xfrm>
            <a:off x="548640" y="23545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놀이터에 갔다.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알려 줄 때</a:t>
            </a:r>
            <a:endParaRPr lang="ko-KR" sz="3600" dirty="0"/>
          </a:p>
        </p:txBody>
      </p:sp>
      <p:sp>
        <p:nvSpPr>
          <p:cNvPr id="6" name="S14-word113"/>
          <p:cNvSpPr txBox="1"/>
          <p:nvPr/>
        </p:nvSpPr>
        <p:spPr>
          <a:xfrm>
            <a:off x="4337304" y="23545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누구랑 갔니?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때</a:t>
            </a:r>
            <a:endParaRPr lang="ko-KR" sz="3600" dirty="0"/>
          </a:p>
        </p:txBody>
      </p:sp>
      <p:sp>
        <p:nvSpPr>
          <p:cNvPr id="7" name="S14-word114"/>
          <p:cNvSpPr txBox="1"/>
          <p:nvPr/>
        </p:nvSpPr>
        <p:spPr>
          <a:xfrm>
            <a:off x="8125968" y="23545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정말 신났다!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느낌이 클 때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국어 그림일기 쓰기</dc:title>
  <dc:subject>KR22-G01-KOR-DIARY-L01</dc:subject>
  <dc:creator>education-ppt</dc:creator>
  <cp:lastModifiedBy>education-ppt</cp:lastModifiedBy>
  <cp:revision>1</cp:revision>
  <dcterms:created xsi:type="dcterms:W3CDTF">2026-10-26T06:57:49Z</dcterms:created>
  <dcterms:modified xsi:type="dcterms:W3CDTF">2026-10-26T06:57:49Z</dcterms:modified>
</cp:coreProperties>
</file>