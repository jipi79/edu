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665b598-be2d-9e71-d0d5-e08b4dab780b}">
          <p14:sldIdLst>
            <p14:sldId id="256"/>
            <p14:sldId id="257"/>
          </p14:sldIdLst>
        </p14:section>
        <p14:section name="개념" id="{ff2cff49-a9bb-e9c4-6f28-653f5adb6805}">
          <p14:sldIdLst>
            <p14:sldId id="258"/>
            <p14:sldId id="259"/>
            <p14:sldId id="262"/>
            <p14:sldId id="263"/>
          </p14:sldIdLst>
        </p14:section>
        <p14:section name="연습" id="{994b3d64-cf24-90f1-c479-537932018e9f}">
          <p14:sldIdLst>
            <p14:sldId id="260"/>
            <p14:sldId id="261"/>
            <p14:sldId id="264"/>
          </p14:sldIdLst>
        </p14:section>
        <p14:section name="개념" id="{7e75459f-5039-de8a-6293-d41650bdb74f}">
          <p14:sldIdLst/>
        </p14:section>
        <p14:section name="연습" id="{83972238-2cbc-a19f-a4f5-f7c5a5fc1480}">
          <p14:sldIdLst/>
        </p14:section>
        <p14:section name="확인" id="{90321737-c2d9-ca72-17da-4b3ecd111db6}">
          <p14:sldIdLst>
            <p14:sldId id="265"/>
            <p14:sldId id="266"/>
          </p14:sldIdLst>
        </p14:section>
        <p14:section name="정리" id="{c39b78bd-0b2a-bdf4-ee82-46d781f98768}">
          <p14:sldIdLst>
            <p14:sldId id="267"/>
          </p14:sldIdLst>
        </p14:section>
        <p14:section name="보충" id="{41b5e8ba-c3cf-b14a-4639-2e04d33982f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쌍자음과 여러 가지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쌍자음과 여러 가지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두 개 나란히 있으면 어떤 소리일까요?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ㄲ ㄸ ㅃ ㅆ ㅉ가 든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ㅐ ㅔ ㅘ ㅝ ㅢ가 든 글자를 읽어요.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읽기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500" dirty="0"/>
          </a:p>
        </p:txBody>
      </p:sp>
      <p:sp>
        <p:nvSpPr>
          <p:cNvPr id="6" name="S02-tile10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5500" dirty="0"/>
          </a:p>
        </p:txBody>
      </p:sp>
      <p:sp>
        <p:nvSpPr>
          <p:cNvPr id="7" name="S02-tile11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5500" dirty="0"/>
          </a:p>
        </p:txBody>
      </p:sp>
      <p:sp>
        <p:nvSpPr>
          <p:cNvPr id="8" name="S02-chip1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3"/>
          <p:cNvSpPr txBox="1"/>
          <p:nvPr/>
        </p:nvSpPr>
        <p:spPr>
          <a:xfrm>
            <a:off x="134416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</a:t>
            </a:r>
            <a:endParaRPr lang="ko-KR" sz="3600" dirty="0"/>
          </a:p>
        </p:txBody>
      </p:sp>
      <p:sp>
        <p:nvSpPr>
          <p:cNvPr id="10" name="S02-word14"/>
          <p:cNvSpPr txBox="1"/>
          <p:nvPr/>
        </p:nvSpPr>
        <p:spPr>
          <a:xfrm>
            <a:off x="3584448" y="4206240"/>
            <a:ext cx="1965960" cy="1463040"/>
          </a:xfrm>
          <a:prstGeom prst="roundRect">
            <a:avLst>
              <a:gd name="adj" fmla="val 875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자음자가 둘이면 목에 힘을 준 소리가 나요.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ㄲ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ㄸ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쌍디귿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ㅃ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쌍비읍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ㅆ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쌍시옷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ㅉ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쌍지읒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까, 카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까: 목에 힘을 꽉</a:t>
            </a:r>
            <a:endParaRPr lang="ko-KR" sz="3200" dirty="0"/>
          </a:p>
        </p:txBody>
      </p:sp>
      <p:sp>
        <p:nvSpPr>
          <p:cNvPr id="5" name="S04-card2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카: 바람을 세게</a:t>
            </a:r>
            <a:endParaRPr lang="ko-KR" sz="3200" dirty="0"/>
          </a:p>
        </p:txBody>
      </p:sp>
      <p:sp>
        <p:nvSpPr>
          <p:cNvPr id="7" name="S04-tile31"/>
          <p:cNvSpPr txBox="1"/>
          <p:nvPr/>
        </p:nvSpPr>
        <p:spPr>
          <a:xfrm>
            <a:off x="2875788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8" name="S04-label32"/>
          <p:cNvSpPr txBox="1"/>
          <p:nvPr/>
        </p:nvSpPr>
        <p:spPr>
          <a:xfrm>
            <a:off x="2775204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088636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</a:t>
            </a:r>
            <a:endParaRPr lang="ko-KR" sz="8700" dirty="0"/>
          </a:p>
        </p:txBody>
      </p:sp>
      <p:sp>
        <p:nvSpPr>
          <p:cNvPr id="10" name="S04-label34"/>
          <p:cNvSpPr txBox="1"/>
          <p:nvPr/>
        </p:nvSpPr>
        <p:spPr>
          <a:xfrm>
            <a:off x="4988052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[까]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301484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</a:t>
            </a:r>
            <a:endParaRPr lang="ko-KR" sz="8700" dirty="0"/>
          </a:p>
        </p:txBody>
      </p:sp>
      <p:sp>
        <p:nvSpPr>
          <p:cNvPr id="12" name="S04-label36"/>
          <p:cNvSpPr txBox="1"/>
          <p:nvPr/>
        </p:nvSpPr>
        <p:spPr>
          <a:xfrm>
            <a:off x="7200900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[카]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 글자 표</a:t>
            </a:r>
            <a:endParaRPr lang="ko-KR" sz="44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쌍자음자와 모음자가 만나는 글자를 읽어요.</a:t>
            </a:r>
            <a:endParaRPr lang="ko-KR" sz="3200" dirty="0"/>
          </a:p>
        </p:txBody>
      </p:sp>
      <p:graphicFrame>
        <p:nvGraphicFramePr>
          <p:cNvPr id="6" name="S05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1640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ㅏ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ㅗ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ㄲ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꼬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따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ㅃ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ㅆ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쑤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씨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ㅉ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토기일까요, 토끼일까요?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‘토끼’를 [토기]라고 읽었어요.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다른가요? ‘토끼’는 어떻게 읽을까요?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하나</a:t>
            </a:r>
            <a:endParaRPr lang="ko-KR" sz="2600" dirty="0"/>
          </a:p>
        </p:txBody>
      </p:sp>
      <p:sp>
        <p:nvSpPr>
          <p:cNvPr id="8" name="S06-tile4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</a:t>
            </a:r>
            <a:endParaRPr lang="ko-KR" sz="5900" dirty="0"/>
          </a:p>
        </p:txBody>
      </p:sp>
      <p:sp>
        <p:nvSpPr>
          <p:cNvPr id="9" name="S06-label4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[기]</a:t>
            </a:r>
            <a:endParaRPr lang="ko-KR" sz="2200" dirty="0"/>
          </a:p>
        </p:txBody>
      </p:sp>
      <p:sp>
        <p:nvSpPr>
          <p:cNvPr id="10" name="S06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ㄱ이 둘(쌍기역)</a:t>
            </a:r>
            <a:endParaRPr lang="ko-KR" sz="2600" dirty="0"/>
          </a:p>
        </p:txBody>
      </p:sp>
      <p:sp>
        <p:nvSpPr>
          <p:cNvPr id="11" name="S06-tile4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끼</a:t>
            </a:r>
            <a:endParaRPr lang="ko-KR" sz="5900" dirty="0"/>
          </a:p>
        </p:txBody>
      </p:sp>
      <p:sp>
        <p:nvSpPr>
          <p:cNvPr id="12" name="S06-label4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[끼]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ㅐ와 ㅔ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비슷해서 낱말로 기억해요.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ㅏ에 ㅣ를 붙이면 ㅐ</a:t>
            </a:r>
            <a:endParaRPr lang="ko-KR" sz="3200" dirty="0"/>
          </a:p>
        </p:txBody>
      </p:sp>
      <p:sp>
        <p:nvSpPr>
          <p:cNvPr id="7" name="S07-card5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ㅓ에 ㅣ를 붙이면 ㅔ</a:t>
            </a:r>
            <a:endParaRPr lang="ko-KR" sz="3200" dirty="0"/>
          </a:p>
        </p:txBody>
      </p:sp>
      <p:sp>
        <p:nvSpPr>
          <p:cNvPr id="9" name="S07-tile55"/>
          <p:cNvSpPr txBox="1"/>
          <p:nvPr/>
        </p:nvSpPr>
        <p:spPr>
          <a:xfrm>
            <a:off x="4165092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ㅐ</a:t>
            </a:r>
            <a:endParaRPr lang="ko-KR" sz="7900" dirty="0"/>
          </a:p>
        </p:txBody>
      </p:sp>
      <p:sp>
        <p:nvSpPr>
          <p:cNvPr id="10" name="S07-label56"/>
          <p:cNvSpPr txBox="1"/>
          <p:nvPr/>
        </p:nvSpPr>
        <p:spPr>
          <a:xfrm>
            <a:off x="4064508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</a:t>
            </a:r>
            <a:endParaRPr lang="ko-KR" sz="2200" dirty="0"/>
          </a:p>
        </p:txBody>
      </p:sp>
      <p:sp>
        <p:nvSpPr>
          <p:cNvPr id="11" name="S07-tile57"/>
          <p:cNvSpPr txBox="1"/>
          <p:nvPr/>
        </p:nvSpPr>
        <p:spPr>
          <a:xfrm>
            <a:off x="6195060" y="153162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ㅔ</a:t>
            </a:r>
            <a:endParaRPr lang="ko-KR" sz="7900" dirty="0"/>
          </a:p>
        </p:txBody>
      </p:sp>
      <p:sp>
        <p:nvSpPr>
          <p:cNvPr id="12" name="S07-label58"/>
          <p:cNvSpPr txBox="1"/>
          <p:nvPr/>
        </p:nvSpPr>
        <p:spPr>
          <a:xfrm>
            <a:off x="6094476" y="339699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모음자를 합쳐요</a:t>
            </a:r>
            <a:endParaRPr lang="ko-KR" sz="44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ㅗ+ㅏ → ㅘ</a:t>
            </a:r>
            <a:endParaRPr lang="ko-KR" sz="3200" dirty="0"/>
          </a:p>
        </p:txBody>
      </p:sp>
      <p:sp>
        <p:nvSpPr>
          <p:cNvPr id="5" name="S08-card61"/>
          <p:cNvSpPr/>
          <p:nvPr/>
        </p:nvSpPr>
        <p:spPr>
          <a:xfrm>
            <a:off x="4322064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2"/>
          <p:cNvSpPr txBox="1"/>
          <p:nvPr/>
        </p:nvSpPr>
        <p:spPr>
          <a:xfrm>
            <a:off x="4596384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ㅜ+ㅓ → ㅝ</a:t>
            </a:r>
            <a:endParaRPr lang="ko-KR" sz="3200" dirty="0"/>
          </a:p>
        </p:txBody>
      </p:sp>
      <p:sp>
        <p:nvSpPr>
          <p:cNvPr id="7" name="S08-card63"/>
          <p:cNvSpPr/>
          <p:nvPr/>
        </p:nvSpPr>
        <p:spPr>
          <a:xfrm>
            <a:off x="8095488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4"/>
          <p:cNvSpPr txBox="1"/>
          <p:nvPr/>
        </p:nvSpPr>
        <p:spPr>
          <a:xfrm>
            <a:off x="8369808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ㅡ+ㅣ → ㅢ</a:t>
            </a:r>
            <a:endParaRPr lang="ko-KR" sz="3200" dirty="0"/>
          </a:p>
        </p:txBody>
      </p:sp>
      <p:sp>
        <p:nvSpPr>
          <p:cNvPr id="9" name="S08-tile65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900" dirty="0"/>
          </a:p>
        </p:txBody>
      </p:sp>
      <p:sp>
        <p:nvSpPr>
          <p:cNvPr id="10" name="S08-label66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</a:t>
            </a:r>
            <a:endParaRPr lang="ko-KR" sz="2200" dirty="0"/>
          </a:p>
        </p:txBody>
      </p:sp>
      <p:sp>
        <p:nvSpPr>
          <p:cNvPr id="11" name="S08-tile67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900" dirty="0"/>
          </a:p>
        </p:txBody>
      </p:sp>
      <p:sp>
        <p:nvSpPr>
          <p:cNvPr id="12" name="S08-label68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</a:t>
            </a:r>
            <a:endParaRPr lang="ko-KR" sz="2200" dirty="0"/>
          </a:p>
        </p:txBody>
      </p:sp>
      <p:sp>
        <p:nvSpPr>
          <p:cNvPr id="13" name="S08-tile69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900" dirty="0"/>
          </a:p>
        </p:txBody>
      </p:sp>
      <p:sp>
        <p:nvSpPr>
          <p:cNvPr id="14" name="S08-label70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읽어요</a:t>
            </a:r>
            <a:endParaRPr lang="ko-KR" sz="4400" dirty="0"/>
          </a:p>
        </p:txBody>
      </p:sp>
      <p:sp>
        <p:nvSpPr>
          <p:cNvPr id="3" name="S09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읽고, 무엇인지 말해요.</a:t>
            </a:r>
            <a:endParaRPr lang="ko-KR" sz="3200" dirty="0"/>
          </a:p>
        </p:txBody>
      </p:sp>
      <p:sp>
        <p:nvSpPr>
          <p:cNvPr id="4" name="S09-word72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600" dirty="0"/>
          </a:p>
        </p:txBody>
      </p:sp>
      <p:sp>
        <p:nvSpPr>
          <p:cNvPr id="5" name="S09-word73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</a:t>
            </a:r>
            <a:endParaRPr lang="ko-KR" sz="3600" dirty="0"/>
          </a:p>
        </p:txBody>
      </p:sp>
      <p:sp>
        <p:nvSpPr>
          <p:cNvPr id="6" name="S09-word74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</a:t>
            </a:r>
            <a:endParaRPr lang="ko-KR" sz="3600" dirty="0"/>
          </a:p>
        </p:txBody>
      </p:sp>
      <p:sp>
        <p:nvSpPr>
          <p:cNvPr id="7" name="S09-word75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600" dirty="0"/>
          </a:p>
        </p:txBody>
      </p:sp>
      <p:sp>
        <p:nvSpPr>
          <p:cNvPr id="8" name="S09-word76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원숭이</a:t>
            </a:r>
            <a:endParaRPr lang="ko-KR" sz="3600" dirty="0"/>
          </a:p>
        </p:txBody>
      </p:sp>
      <p:sp>
        <p:nvSpPr>
          <p:cNvPr id="9" name="S09-word77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읽고, 무엇인지 말해요.</a:t>
            </a:r>
            <a:endParaRPr lang="ko-KR" sz="3200" dirty="0"/>
          </a:p>
        </p:txBody>
      </p:sp>
      <p:sp>
        <p:nvSpPr>
          <p:cNvPr id="4" name="S10-chip7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0"/>
          <p:cNvSpPr txBox="1"/>
          <p:nvPr/>
        </p:nvSpPr>
        <p:spPr>
          <a:xfrm>
            <a:off x="134416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</a:t>
            </a:r>
            <a:endParaRPr lang="ko-KR" sz="3600" dirty="0"/>
          </a:p>
        </p:txBody>
      </p:sp>
      <p:sp>
        <p:nvSpPr>
          <p:cNvPr id="6" name="S10-word81"/>
          <p:cNvSpPr txBox="1"/>
          <p:nvPr/>
        </p:nvSpPr>
        <p:spPr>
          <a:xfrm>
            <a:off x="3584448" y="20116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오빠</a:t>
            </a:r>
            <a:endParaRPr lang="ko-KR" sz="3600" dirty="0"/>
          </a:p>
        </p:txBody>
      </p:sp>
      <p:sp>
        <p:nvSpPr>
          <p:cNvPr id="7" name="S10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3"/>
          <p:cNvSpPr txBox="1"/>
          <p:nvPr/>
        </p:nvSpPr>
        <p:spPr>
          <a:xfrm>
            <a:off x="134416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과자</a:t>
            </a:r>
            <a:endParaRPr lang="ko-KR" sz="3600" dirty="0"/>
          </a:p>
        </p:txBody>
      </p:sp>
      <p:sp>
        <p:nvSpPr>
          <p:cNvPr id="9" name="S10-word84"/>
          <p:cNvSpPr txBox="1"/>
          <p:nvPr/>
        </p:nvSpPr>
        <p:spPr>
          <a:xfrm>
            <a:off x="3584448" y="347472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</a:t>
            </a:r>
            <a:endParaRPr lang="ko-KR" sz="3600" dirty="0"/>
          </a:p>
        </p:txBody>
      </p:sp>
      <p:sp>
        <p:nvSpPr>
          <p:cNvPr id="10" name="S10-chip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word86"/>
          <p:cNvSpPr txBox="1"/>
          <p:nvPr/>
        </p:nvSpPr>
        <p:spPr>
          <a:xfrm>
            <a:off x="1344168" y="493776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의사</a:t>
            </a:r>
            <a:endParaRPr lang="ko-KR" sz="3600" dirty="0"/>
          </a:p>
        </p:txBody>
      </p:sp>
      <p:sp>
        <p:nvSpPr>
          <p:cNvPr id="12" name="S10-word87"/>
          <p:cNvSpPr txBox="1"/>
          <p:nvPr/>
        </p:nvSpPr>
        <p:spPr>
          <a:xfrm>
            <a:off x="3584448" y="493776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모음자는? 어떻게 알았나요?</a:t>
            </a:r>
            <a:endParaRPr lang="ko-KR" sz="3200" dirty="0"/>
          </a:p>
        </p:txBody>
      </p:sp>
      <p:sp>
        <p:nvSpPr>
          <p:cNvPr id="5" name="S12-chip9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91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ㅝ</a:t>
            </a:r>
            <a:endParaRPr lang="ko-KR" sz="7100" dirty="0"/>
          </a:p>
        </p:txBody>
      </p:sp>
      <p:sp>
        <p:nvSpPr>
          <p:cNvPr id="7" name="S12-chip9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93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ㅘ</a:t>
            </a:r>
            <a:endParaRPr lang="ko-KR" sz="7100" dirty="0"/>
          </a:p>
        </p:txBody>
      </p:sp>
      <p:sp>
        <p:nvSpPr>
          <p:cNvPr id="9" name="S12-chip9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95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ㅢ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자음자가 둘이면 힘주어 읽고, 모음자가 합쳐지면 빨리 이어 읽어요.</a:t>
            </a:r>
            <a:endParaRPr lang="ko-KR" sz="3200" dirty="0"/>
          </a:p>
        </p:txBody>
      </p:sp>
      <p:sp>
        <p:nvSpPr>
          <p:cNvPr id="5" name="S13-chip9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토끼는 힘주어 [토끼]</a:t>
            </a:r>
            <a:endParaRPr lang="ko-KR" sz="2600" dirty="0"/>
          </a:p>
        </p:txBody>
      </p:sp>
      <p:sp>
        <p:nvSpPr>
          <p:cNvPr id="6" name="S13-chip9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[토기]처럼 읽기</a:t>
            </a:r>
            <a:endParaRPr lang="ko-KR" sz="2600" dirty="0"/>
          </a:p>
        </p:txBody>
      </p:sp>
      <p:sp>
        <p:nvSpPr>
          <p:cNvPr id="7" name="S13-text10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꼬리 아빠 사과 의자</a:t>
            </a:r>
            <a:endParaRPr lang="ko-KR" sz="2600" dirty="0"/>
          </a:p>
        </p:txBody>
      </p:sp>
      <p:sp>
        <p:nvSpPr>
          <p:cNvPr id="9" name="S13-text10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개와 게는 무엇?</a:t>
            </a:r>
            <a:endParaRPr lang="ko-KR" sz="2600" dirty="0"/>
          </a:p>
        </p:txBody>
      </p:sp>
      <p:sp>
        <p:nvSpPr>
          <p:cNvPr id="10" name="S13-text10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ㄲ의 이름은?</a:t>
            </a:r>
            <a:endParaRPr lang="ko-KR" sz="2600" dirty="0"/>
          </a:p>
        </p:txBody>
      </p:sp>
      <p:sp>
        <p:nvSpPr>
          <p:cNvPr id="11" name="S13-text10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낱말 읽고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있는 글자</a:t>
            </a:r>
            <a:endParaRPr lang="ko-KR" sz="4400" dirty="0"/>
          </a:p>
        </p:txBody>
      </p:sp>
      <p:sp>
        <p:nvSpPr>
          <p:cNvPr id="3" name="S14-card10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끝소리</a:t>
            </a:r>
            <a:endParaRPr lang="ko-KR" sz="3200" dirty="0"/>
          </a:p>
        </p:txBody>
      </p:sp>
      <p:sp>
        <p:nvSpPr>
          <p:cNvPr id="5" name="S14-card10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멈춰요</a:t>
            </a:r>
            <a:endParaRPr lang="ko-KR" sz="3200" dirty="0"/>
          </a:p>
        </p:txBody>
      </p:sp>
      <p:sp>
        <p:nvSpPr>
          <p:cNvPr id="7" name="S14-tile109"/>
          <p:cNvSpPr txBox="1"/>
          <p:nvPr/>
        </p:nvSpPr>
        <p:spPr>
          <a:xfrm>
            <a:off x="250088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8" name="S14-label110"/>
          <p:cNvSpPr txBox="1"/>
          <p:nvPr/>
        </p:nvSpPr>
        <p:spPr>
          <a:xfrm>
            <a:off x="240030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9" name="S14-tile111"/>
          <p:cNvSpPr txBox="1"/>
          <p:nvPr/>
        </p:nvSpPr>
        <p:spPr>
          <a:xfrm>
            <a:off x="434797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10" name="S14-label112"/>
          <p:cNvSpPr txBox="1"/>
          <p:nvPr/>
        </p:nvSpPr>
        <p:spPr>
          <a:xfrm>
            <a:off x="424738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[산]</a:t>
            </a:r>
            <a:endParaRPr lang="ko-KR" sz="2200" dirty="0"/>
          </a:p>
        </p:txBody>
      </p:sp>
      <p:sp>
        <p:nvSpPr>
          <p:cNvPr id="11" name="S14-tile113"/>
          <p:cNvSpPr txBox="1"/>
          <p:nvPr/>
        </p:nvSpPr>
        <p:spPr>
          <a:xfrm>
            <a:off x="619506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7100" dirty="0"/>
          </a:p>
        </p:txBody>
      </p:sp>
      <p:sp>
        <p:nvSpPr>
          <p:cNvPr id="12" name="S14-label114"/>
          <p:cNvSpPr txBox="1"/>
          <p:nvPr/>
        </p:nvSpPr>
        <p:spPr>
          <a:xfrm>
            <a:off x="609447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[밥]</a:t>
            </a:r>
            <a:endParaRPr lang="ko-KR" sz="2200" dirty="0"/>
          </a:p>
        </p:txBody>
      </p:sp>
      <p:sp>
        <p:nvSpPr>
          <p:cNvPr id="13" name="S14-tile115"/>
          <p:cNvSpPr txBox="1"/>
          <p:nvPr/>
        </p:nvSpPr>
        <p:spPr>
          <a:xfrm>
            <a:off x="804214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14" name="S14-label116"/>
          <p:cNvSpPr txBox="1"/>
          <p:nvPr/>
        </p:nvSpPr>
        <p:spPr>
          <a:xfrm>
            <a:off x="794156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[공]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쌍자음과 여러 가지 모음</dc:title>
  <dc:subject>KR22-G01-KOR-DOUBLE-L01</dc:subject>
  <dc:creator>education-ppt</dc:creator>
  <cp:lastModifiedBy>education-ppt</cp:lastModifiedBy>
  <cp:revision>1</cp:revision>
  <dcterms:created xsi:type="dcterms:W3CDTF">2026-10-26T07:10:07Z</dcterms:created>
  <dcterms:modified xsi:type="dcterms:W3CDTF">2026-10-26T07:10:07Z</dcterms:modified>
</cp:coreProperties>
</file>