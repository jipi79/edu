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fbc4982-c03c-23f0-d67b-b8eebdcc1fee}">
          <p14:sldIdLst>
            <p14:sldId id="256"/>
            <p14:sldId id="257"/>
          </p14:sldIdLst>
        </p14:section>
        <p14:section name="개념" id="{7bfd9449-5240-d949-e64b-ac6cb159a4bf}">
          <p14:sldIdLst>
            <p14:sldId id="258"/>
            <p14:sldId id="259"/>
            <p14:sldId id="262"/>
            <p14:sldId id="263"/>
          </p14:sldIdLst>
        </p14:section>
        <p14:section name="연습" id="{58c8d5c2-f613-9f1f-8107-011f2f2347cd}">
          <p14:sldIdLst>
            <p14:sldId id="260"/>
            <p14:sldId id="261"/>
            <p14:sldId id="264"/>
          </p14:sldIdLst>
        </p14:section>
        <p14:section name="개념" id="{7490b911-4188-0014-c3ef-819eb0557735}">
          <p14:sldIdLst/>
        </p14:section>
        <p14:section name="연습" id="{682738a0-a95f-4eeb-bbe7-356644af7adf}">
          <p14:sldIdLst/>
        </p14:section>
        <p14:section name="확인" id="{0224e71b-e518-0903-2b5d-239626b1e0b3}">
          <p14:sldIdLst>
            <p14:sldId id="265"/>
            <p14:sldId id="266"/>
            <p14:sldId id="267"/>
          </p14:sldIdLst>
        </p14:section>
        <p14:section name="정리" id="{172323f7-aa78-a95f-847f-ada247fe1414}">
          <p14:sldIdLst>
            <p14:sldId id="268"/>
          </p14:sldIdLst>
        </p14:section>
        <p14:section name="보충" id="{1db717bd-b834-4449-313e-8ffa448346c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같은 자음자가 둘 붙은 글자와 모음자가 합쳐진 글자가 있다는 것에 관심을 갖게 합니다.
시간: 약 2분
이렇게 말해 보세요
- “오른쪽 글자들을 봐. 위의 글자는 ㄱ이 둘, ㅅ이 둘 붙어 있네. 아래 글자는 모음자 둘이 합쳐졌어.”
- “오늘은 이 글자들이 어떤 소리를 내는지 알아볼 거야.”
예상 답
- “ㄱ이 두 개예요.” “몰라요.”
주의
- 오늘은 두 가지(쌍자음자, 여러 가지 모음자)를 배웁니다. 아이가 지치면 S06 뒤에서 나누어 이틀에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확인(받침 있는 글자)]
목적: 앞 차시(받침 있는 글자)의 받침까지 읽기를 할 수 있는지 확인합니다.
시간: 약 3분
이렇게 말해 보세요
- “①의 글자를 하나씩 읽어 볼래? 받침까지 읽어 줘.”
- “②의 낱말도 읽고 무엇인지 말해 줘.”
정답
- ① [곰] [산] [밥]
- ② [바람] [기린]
막히면
- 받침을 빼고 읽으면 받침을 손가락으로 짚어 줍니다.
- 다섯 개 중 둘 이상 읽지 못하면 S14(보충)를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쌍자음자의 이름]
목적: 쌍자음자 5개의 모양과 이름을 압니다.
시간: 약 3분
이렇게 말해 보세요
- “ㄱ이 둘 나란히 있으면 ‘쌍기역’이야. ‘쌍’은 둘, 짝이라는 뜻이야.”
- “ㄸ은 쌍디귿[쌍디귿], ㅃ은 쌍비읍[쌍비읍], ㅆ은 쌍시옷[쌍시옫], ㅉ은 쌍지읒[쌍지읃].”
- “소리는 이름의 첫소리처럼 내는데, 목에 힘을 꽉 줘서 [끄], [뜨], [쁘], [쓰], [쯔].”
예상 답
- ㄲ 쌍기역, ㄸ 쌍디귿, ㅃ 쌍비읍, ㅆ 쌍시옷, ㅉ 쌍지읒
막히면
- “기역이 둘이면? 쌍기역!”처럼 앞 차시의 자음자 이름에 ‘쌍’을 붙이게 합니다.
주의
- 쌍자음자는 ㄱ ㄷ ㅂ ㅅ ㅈ 다섯 개에만 있습니다. ㄴ이나 ㅁ이 둘인 글자는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가·까·카 소리 비교]
목적: 예사소리·된소리·거센소리를 입과 휴지로 느끼며 구별합니다(M1).
시간: 약 4분
이렇게 말해 보세요
- “[가]는 편하게. [까]는 목에 힘을 꽉 주고 단단하고 짧게. [카]는 바람을 세게 내보내.”
- “휴지를 입 앞에 대고 해 보자. [카]는 휴지가 크게 흔들리고, [까]는 거의 안 흔들리지?”
- “다·따·타, 바·빠·파, 자·짜·차도 해 볼까? 사와 싸도!”
예상 답
- “[카]에서 휴지가 제일 많이 흔들려요.” “[까]는 목이 꽉 막혀요.”
막히면
- [까]는 숨을 참았다가 터뜨리듯 짧게 냅니다. 부모가 목에 손을 대고 힘이 들어가는 것을 느끼게 합니다.
- [빠]는 입술을 꽉 붙였다가, [따]는 혀끝을 윗잇몸에 꽉 붙였다가 떼며 냅니다.
주의
- [싸]는 이를 살짝 다물고 바람을 [사]보다 세고 짧게 냅니다. [짜]는 혀를 윗잇몸 뒤에 꽉 댔다가 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쌍자음자 글자 표 읽기]
목적: 쌍자음자가 든 글자를 힘준 소리로 이어 읽습니다.
시간: 약 3분
이렇게 말해 보세요
- “ㄲ 줄을 읽어 볼까? 목에 힘을 꽉! [까, 꼬, 꾸, 끼].”
- “엄마(아빠)가 짚는 글자를 읽어 봐.” (차례를 섞어 6~8개를 짚습니다.)
정답
- ㄲ: [까] [꼬] [꾸] [끼] / ㄸ: [따] [또] [뚜] [띠] / ㅃ: [빠] [뽀] [뿌] [삐]
- ㅆ: [싸] [쏘] [쑤] [씨] / ㅉ: [짜] [쪼] [쭈] [찌]
막히면
- 같은 칸의 받침 없는 글자(가, 다, 바…)를 먼저 읽고 힘을 주어 다시 읽게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비교(토기와 토끼)]
목적: 쌍자음자를 힘주지 않고 읽으면 다른 말이 된다는 것을 확인합니다(M1).
시간: 약 3분
이렇게 말해 보세요
- “친구가 ‘토끼’를 [토기]라고 읽었대. 맞을까?”
- “‘끼’에는 ㄱ이 몇 개야? 그럼 어떻게 읽어야 할까?”
정답
- 바르지 않습니다. ‘끼’는 쌍기역이라 목에 힘을 주어 [토끼]로 읽습니다.
- [토기]는 흙으로 구워 만든 옛날 그릇을 뜻하는 다른 말입니다.
막히면
- [기]와 [끼]를 휴지 앞에서 번갈아 말하고 목에 손을 대어 힘을 느끼게 합니다.
- 딸기 → [달기], 아빠 → [아바]처럼 힘을 빼면 이상하게 들리는 예를 들려줍니다.
주의
- 여기까지가 쌍자음자입니다. 아이가 지치면 여기서 나누어 다음 날 S07부터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모음자 ㅐ와 ㅔ]
목적: ㅐ와 ㅔ의 모양과 소리를 알고, 소리가 비슷해 낱말로 구별해야 함을 압니다(M3).
시간: 약 3분
이렇게 말해 보세요
- “ㅏ 옆에 ㅣ를 하나 더 붙이면 ㅐ. [애] 소리야. 입을 [에]보다 조금 더 크게 벌려.”
- “ㅓ 옆에 ㅣ를 붙이면 ㅔ. [에] 소리야. 입을 조금 덜 벌려.”
- “두 소리는 아주 비슷해서 어른들도 헷갈려. 그래서 낱말로 기억해. 멍멍 짖는 개는 ㅐ, 바다에 사는 게는 ㅔ.”
예상 답
- ㅐ [애], ㅔ [에]
막히면
- 젓가락과 면봉으로 ㅏ를 만든 뒤 젓가락을 하나 더 세워 ㅐ로 바꿉니다.
주의
- 표준 발음에서는 [애]가 [에]보다 입을 더 벌리는 소리지만, 요즘은 둘을 거의 같게 말하는 사람이 많습니다. 소리 차이를 억지로 시험하지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모음자 ㅘ ㅝ ㅢ]
목적: 두 모음자가 합쳐진 모음자는 두 소리를 빨리 이어 한 소리로 읽는다는 것을 압니다(M2).
시간: 약 4분
이렇게 말해 보세요
- “ㅗ와 ㅏ가 합쳐지면 ㅘ. [오]에서 [아]로 빨리 미끄러지듯 이어 봐. [와]!”
- “ㅜ와 ㅓ가 합쳐지면 ㅝ. [우]에서 [어]로 빨리. [워]!”
- “ㅡ와 ㅣ가 합쳐지면 ㅢ. [으]에서 [이]로 빨리. [의]!”
예상 답
- ㅘ [와], ㅝ [워], ㅢ [의]
막히면
- [오…아]를 천천히 말하다가 점점 빨리 말해 [와]가 되게 합니다.
- [와]·[워]는 입술을 동그랗게 모았다가 벌리고, [의]는 입술을 옆으로 편 채 [으]에서 [이]로 갑니다. 거울로 봅니다.
주의
- ㅢ는 낱말 맨 앞(의자, 의사)에서는 [의]로 읽습니다. 낱말 가운데·끝에서 소리가 달라지는 경우는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모음자 낱말 읽기]
목적: 새 모음자가 든 낱말을 읽고 뜻과 연결합니다.
시간: 약 3분
이렇게 말해 보세요
- “하나씩 읽고 무엇인지 말해 봐.”
- “개와 게는 소리가 비슷하지? 어느 것이 멍멍 개고, 어느 것이 집게발 게일까?”
정답
- [개] 멍멍 짖는 동물, [게] 바다에 사는 집게발 동물, [노래], [사과], [원숭이], [의자]
막히면
- 한 글자씩 손가락으로 가리고 읽은 뒤 이어 읽습니다. 원숭이는 [원]-[숭]-[이].
- 개·게를 헷갈리면 S07의 ㅐ(ㅏ+ㅣ), ㅔ(ㅓ+ㅣ) 모양을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읽기]
목적: 도움 없이 쌍자음자와 새 모음자가 든 낱말을 읽는지 확인합니다.
시간: 약 4분
이렇게 말해 보세요
- “이번에는 혼자 해 볼래? 하나씩 읽고 무엇인지 말해 줘.”
정답
- ① [딸기] [오빠] (힘준 소리 [딸], [빠])
- ② [과자] [그네] ([과]는 [고아]가 아니라 빨리 이어 한 소리)
- ③ [의사] [쌀]
막히면
- 틀린 글자는 바로 고쳐 주지 말고 “이 글자에는 ㄷ이 몇 개야?”, “모음자 두 개를 빨리 이어 봐”라고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“네가 읽은 것과 왼쪽을 비교해 보자.”
- “오른쪽처럼 읽으면 무엇이 달라질까?”
예상 답
- “[달기]는 이상해요. 딸기예요.”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합쳐진 모음자의 모양과 소리를 연결하는지 확인합니다.
시간: 약 2분
이렇게 말해 보세요
- “[와] 소리가 나는 모음자는 가, 나, 다 중에서 무엇일까? 어떻게 알았어?”
- “이번에는 [의]!”
정답
- [와] → 나(ㅘ: ㅗ와 ㅏ)
- [의] → 다(ㅢ: ㅡ와 ㅣ). 가(ㅝ)는 [워]입니다.
막히면
- 모음자를 두 부분으로 나누어 읽게 합니다. “이 안에 ㅗ와 ㅏ가 보여? [오]+[아]를 빨리 하면?”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복습을 알려 줍니다.
시간: 약 2분
이렇게 말해 보세요
- “오늘 배운 것을 말해 볼래? 같은 자음자가 둘이면 어떻게 읽어? ㅘ는 어떻게 읽어?”
예상 답
- “목에 힘을 줘요.” “[오]랑 [아]를 빨리 이어요.”
정답
- ① [꼬리] [아빠] [사과] [의자] ② 개는 멍멍 짖는 동물, 게는 바다에 사는 집게발 동물 ③ 쌍기역
주의
- 활동지 1~4는 수업을 마친 뒤 이어서 하거나 다음 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보충(받침 있는 글자)]
목적: S02에서 받침 있는 글자를 읽지 못하면 앞 차시 ‘받침 있는 글자’의 핵심을 다시 익힙니다.
시간: 약 5분
이렇게 말해 보세요
- “[고]라고 하다가 입술을 다물면? [곰]. [고]라고 하다가 입을 벌린 채 코로 [응] 하면? [공].”
- “[사]에 혀끝을 윗잇몸에 대면? [산]. [바]에 입술을 꼭 다물면? [밥].”
정답
- [곰] [산] [밥] [공]
막히면
- 받침을 손가락으로 가렸다가 열며 [고] → [곰]으로 읽게 합니다.
주의
- 보충으로도 받침 있는 글자를 절반 넘게 읽지 못하면 앞 차시 ‘받침 있는 글자’를 다시 한 뒤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한글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쌍자음과 여러 가지 모음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쌍자음과 여러 가지 모음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쌍자음과 여러 가지 모음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쌍자음과 여러 가지 모음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ㄱ이 두 개 나란히 있으면 어떤 소리일까요?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ㄲ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ㅆ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ㅐ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ㅘ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ㄲ ㄸ ㅃ ㅆ ㅉ가 든 글자를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ㅐ ㅔ ㅘ ㅝ ㅢ가 든 글자를 읽어요.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있는 글자 읽기</a:t>
            </a:r>
            <a:endParaRPr lang="ko-KR" sz="44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읽어요.</a:t>
            </a:r>
            <a:endParaRPr lang="ko-KR" sz="32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ile9"/>
          <p:cNvSpPr txBox="1"/>
          <p:nvPr/>
        </p:nvSpPr>
        <p:spPr>
          <a:xfrm>
            <a:off x="1828800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5900" dirty="0"/>
          </a:p>
        </p:txBody>
      </p:sp>
      <p:sp>
        <p:nvSpPr>
          <p:cNvPr id="6" name="S02-tile10"/>
          <p:cNvSpPr txBox="1"/>
          <p:nvPr/>
        </p:nvSpPr>
        <p:spPr>
          <a:xfrm>
            <a:off x="3401568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5900" dirty="0"/>
          </a:p>
        </p:txBody>
      </p:sp>
      <p:sp>
        <p:nvSpPr>
          <p:cNvPr id="7" name="S02-tile11"/>
          <p:cNvSpPr txBox="1"/>
          <p:nvPr/>
        </p:nvSpPr>
        <p:spPr>
          <a:xfrm>
            <a:off x="4974336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</a:t>
            </a:r>
            <a:endParaRPr lang="ko-KR" sz="5900" dirty="0"/>
          </a:p>
        </p:txBody>
      </p:sp>
      <p:sp>
        <p:nvSpPr>
          <p:cNvPr id="8" name="S02-chip12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word13"/>
          <p:cNvSpPr txBox="1"/>
          <p:nvPr/>
        </p:nvSpPr>
        <p:spPr>
          <a:xfrm>
            <a:off x="1344168" y="434340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</a:t>
            </a:r>
            <a:endParaRPr lang="ko-KR" sz="3600" dirty="0"/>
          </a:p>
        </p:txBody>
      </p:sp>
      <p:sp>
        <p:nvSpPr>
          <p:cNvPr id="10" name="S02-word14"/>
          <p:cNvSpPr txBox="1"/>
          <p:nvPr/>
        </p:nvSpPr>
        <p:spPr>
          <a:xfrm>
            <a:off x="4224528" y="434340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기린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자음자가 둘</a:t>
            </a:r>
            <a:endParaRPr lang="ko-KR" sz="4400" dirty="0"/>
          </a:p>
        </p:txBody>
      </p:sp>
      <p:sp>
        <p:nvSpPr>
          <p:cNvPr id="3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자음자가 둘이면 목에 힘을 준 소리가 나요.</a:t>
            </a:r>
            <a:endParaRPr lang="ko-KR" sz="3200" dirty="0"/>
          </a:p>
        </p:txBody>
      </p:sp>
      <p:sp>
        <p:nvSpPr>
          <p:cNvPr id="5" name="S03-tile17"/>
          <p:cNvSpPr txBox="1"/>
          <p:nvPr/>
        </p:nvSpPr>
        <p:spPr>
          <a:xfrm>
            <a:off x="1120140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ㄲ</a:t>
            </a:r>
            <a:endParaRPr lang="ko-KR" sz="7900" dirty="0"/>
          </a:p>
        </p:txBody>
      </p:sp>
      <p:sp>
        <p:nvSpPr>
          <p:cNvPr id="6" name="S03-label18"/>
          <p:cNvSpPr txBox="1"/>
          <p:nvPr/>
        </p:nvSpPr>
        <p:spPr>
          <a:xfrm>
            <a:off x="1019556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쌍기역</a:t>
            </a:r>
            <a:endParaRPr lang="ko-KR" sz="2200" dirty="0"/>
          </a:p>
        </p:txBody>
      </p:sp>
      <p:sp>
        <p:nvSpPr>
          <p:cNvPr id="7" name="S03-tile19"/>
          <p:cNvSpPr txBox="1"/>
          <p:nvPr/>
        </p:nvSpPr>
        <p:spPr>
          <a:xfrm>
            <a:off x="315010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ㄸ</a:t>
            </a:r>
            <a:endParaRPr lang="ko-KR" sz="7900" dirty="0"/>
          </a:p>
        </p:txBody>
      </p:sp>
      <p:sp>
        <p:nvSpPr>
          <p:cNvPr id="8" name="S03-label20"/>
          <p:cNvSpPr txBox="1"/>
          <p:nvPr/>
        </p:nvSpPr>
        <p:spPr>
          <a:xfrm>
            <a:off x="304952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쌍디귿</a:t>
            </a:r>
            <a:endParaRPr lang="ko-KR" sz="2200" dirty="0"/>
          </a:p>
        </p:txBody>
      </p:sp>
      <p:sp>
        <p:nvSpPr>
          <p:cNvPr id="9" name="S03-tile21"/>
          <p:cNvSpPr txBox="1"/>
          <p:nvPr/>
        </p:nvSpPr>
        <p:spPr>
          <a:xfrm>
            <a:off x="5180076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ㅃ</a:t>
            </a:r>
            <a:endParaRPr lang="ko-KR" sz="7900" dirty="0"/>
          </a:p>
        </p:txBody>
      </p:sp>
      <p:sp>
        <p:nvSpPr>
          <p:cNvPr id="10" name="S03-label22"/>
          <p:cNvSpPr txBox="1"/>
          <p:nvPr/>
        </p:nvSpPr>
        <p:spPr>
          <a:xfrm>
            <a:off x="5079492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쌍비읍</a:t>
            </a:r>
            <a:endParaRPr lang="ko-KR" sz="2200" dirty="0"/>
          </a:p>
        </p:txBody>
      </p:sp>
      <p:sp>
        <p:nvSpPr>
          <p:cNvPr id="11" name="S03-tile23"/>
          <p:cNvSpPr txBox="1"/>
          <p:nvPr/>
        </p:nvSpPr>
        <p:spPr>
          <a:xfrm>
            <a:off x="721004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ㅆ</a:t>
            </a:r>
            <a:endParaRPr lang="ko-KR" sz="7900" dirty="0"/>
          </a:p>
        </p:txBody>
      </p:sp>
      <p:sp>
        <p:nvSpPr>
          <p:cNvPr id="12" name="S03-label24"/>
          <p:cNvSpPr txBox="1"/>
          <p:nvPr/>
        </p:nvSpPr>
        <p:spPr>
          <a:xfrm>
            <a:off x="710946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쌍시옷</a:t>
            </a:r>
            <a:endParaRPr lang="ko-KR" sz="2200" dirty="0"/>
          </a:p>
        </p:txBody>
      </p:sp>
      <p:sp>
        <p:nvSpPr>
          <p:cNvPr id="13" name="S03-tile25"/>
          <p:cNvSpPr txBox="1"/>
          <p:nvPr/>
        </p:nvSpPr>
        <p:spPr>
          <a:xfrm>
            <a:off x="9240012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ㅉ</a:t>
            </a:r>
            <a:endParaRPr lang="ko-KR" sz="7900" dirty="0"/>
          </a:p>
        </p:txBody>
      </p:sp>
      <p:sp>
        <p:nvSpPr>
          <p:cNvPr id="14" name="S03-label26"/>
          <p:cNvSpPr txBox="1"/>
          <p:nvPr/>
        </p:nvSpPr>
        <p:spPr>
          <a:xfrm>
            <a:off x="9139428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쌍지읒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까, 카</a:t>
            </a:r>
            <a:endParaRPr lang="ko-KR" sz="4400" dirty="0"/>
          </a:p>
        </p:txBody>
      </p:sp>
      <p:sp>
        <p:nvSpPr>
          <p:cNvPr id="3" name="S04-card27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8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까: 목에 힘을 꽉</a:t>
            </a:r>
            <a:endParaRPr lang="ko-KR" sz="3200" dirty="0"/>
          </a:p>
        </p:txBody>
      </p:sp>
      <p:sp>
        <p:nvSpPr>
          <p:cNvPr id="5" name="S04-card29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30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카: 바람을 세게</a:t>
            </a:r>
            <a:endParaRPr lang="ko-KR" sz="3200" dirty="0"/>
          </a:p>
        </p:txBody>
      </p:sp>
      <p:sp>
        <p:nvSpPr>
          <p:cNvPr id="7" name="S04-tile31"/>
          <p:cNvSpPr txBox="1"/>
          <p:nvPr/>
        </p:nvSpPr>
        <p:spPr>
          <a:xfrm>
            <a:off x="2875788" y="19888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8700" dirty="0"/>
          </a:p>
        </p:txBody>
      </p:sp>
      <p:sp>
        <p:nvSpPr>
          <p:cNvPr id="8" name="S04-label32"/>
          <p:cNvSpPr txBox="1"/>
          <p:nvPr/>
        </p:nvSpPr>
        <p:spPr>
          <a:xfrm>
            <a:off x="2775204" y="40370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[가]</a:t>
            </a:r>
            <a:endParaRPr lang="ko-KR" sz="2200" dirty="0"/>
          </a:p>
        </p:txBody>
      </p:sp>
      <p:sp>
        <p:nvSpPr>
          <p:cNvPr id="9" name="S04-tile33"/>
          <p:cNvSpPr txBox="1"/>
          <p:nvPr/>
        </p:nvSpPr>
        <p:spPr>
          <a:xfrm>
            <a:off x="5088636" y="19888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</a:t>
            </a:r>
            <a:endParaRPr lang="ko-KR" sz="8700" dirty="0"/>
          </a:p>
        </p:txBody>
      </p:sp>
      <p:sp>
        <p:nvSpPr>
          <p:cNvPr id="10" name="S04-label34"/>
          <p:cNvSpPr txBox="1"/>
          <p:nvPr/>
        </p:nvSpPr>
        <p:spPr>
          <a:xfrm>
            <a:off x="4988052" y="40370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[까]</a:t>
            </a:r>
            <a:endParaRPr lang="ko-KR" sz="2200" dirty="0"/>
          </a:p>
        </p:txBody>
      </p:sp>
      <p:sp>
        <p:nvSpPr>
          <p:cNvPr id="11" name="S04-tile35"/>
          <p:cNvSpPr txBox="1"/>
          <p:nvPr/>
        </p:nvSpPr>
        <p:spPr>
          <a:xfrm>
            <a:off x="7301484" y="19888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</a:t>
            </a:r>
            <a:endParaRPr lang="ko-KR" sz="8700" dirty="0"/>
          </a:p>
        </p:txBody>
      </p:sp>
      <p:sp>
        <p:nvSpPr>
          <p:cNvPr id="12" name="S04-label36"/>
          <p:cNvSpPr txBox="1"/>
          <p:nvPr/>
        </p:nvSpPr>
        <p:spPr>
          <a:xfrm>
            <a:off x="7200900" y="40370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[카]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쌍자음자 글자 표</a:t>
            </a:r>
            <a:endParaRPr lang="ko-KR" sz="4400" dirty="0"/>
          </a:p>
        </p:txBody>
      </p:sp>
      <p:sp>
        <p:nvSpPr>
          <p:cNvPr id="3" name="S05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쌍자음자와 모음자가 만나는 글자를 읽어요.</a:t>
            </a:r>
            <a:endParaRPr lang="ko-KR" sz="3200" dirty="0"/>
          </a:p>
        </p:txBody>
      </p:sp>
      <p:graphicFrame>
        <p:nvGraphicFramePr>
          <p:cNvPr id="6" name="S05-table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1640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ㅏ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ㅗ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ㅜ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ㅣ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ㄲ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꼬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ㄸ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따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띠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ㅃ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뽀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ㅆ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씨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ㅉ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토기일까요, 토끼일까요?</a:t>
            </a:r>
            <a:endParaRPr lang="ko-KR" sz="4400" dirty="0"/>
          </a:p>
        </p:txBody>
      </p:sp>
      <p:sp>
        <p:nvSpPr>
          <p:cNvPr id="3" name="S06-card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‘토끼’를 [토기]라고 읽었어요.</a:t>
            </a:r>
            <a:endParaRPr lang="ko-KR" sz="3200" dirty="0"/>
          </a:p>
        </p:txBody>
      </p:sp>
      <p:sp>
        <p:nvSpPr>
          <p:cNvPr id="5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다른가요? ‘토끼’는 어떻게 읽을까요?</a:t>
            </a:r>
            <a:endParaRPr lang="ko-KR" sz="3200" dirty="0"/>
          </a:p>
        </p:txBody>
      </p:sp>
      <p:sp>
        <p:nvSpPr>
          <p:cNvPr id="7" name="S06-chip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ㄱ이 하나</a:t>
            </a:r>
            <a:endParaRPr lang="ko-KR" sz="2600" dirty="0"/>
          </a:p>
        </p:txBody>
      </p:sp>
      <p:sp>
        <p:nvSpPr>
          <p:cNvPr id="8" name="S06-tile44"/>
          <p:cNvSpPr txBox="1"/>
          <p:nvPr/>
        </p:nvSpPr>
        <p:spPr>
          <a:xfrm>
            <a:off x="2544318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</a:t>
            </a:r>
            <a:endParaRPr lang="ko-KR" sz="5900" dirty="0"/>
          </a:p>
        </p:txBody>
      </p:sp>
      <p:sp>
        <p:nvSpPr>
          <p:cNvPr id="9" name="S06-label45"/>
          <p:cNvSpPr txBox="1"/>
          <p:nvPr/>
        </p:nvSpPr>
        <p:spPr>
          <a:xfrm>
            <a:off x="2443734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[기]</a:t>
            </a:r>
            <a:endParaRPr lang="ko-KR" sz="2200" dirty="0"/>
          </a:p>
        </p:txBody>
      </p:sp>
      <p:sp>
        <p:nvSpPr>
          <p:cNvPr id="10" name="S06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ㄱ이 둘(쌍기역)</a:t>
            </a:r>
            <a:endParaRPr lang="ko-KR" sz="2600" dirty="0"/>
          </a:p>
        </p:txBody>
      </p:sp>
      <p:sp>
        <p:nvSpPr>
          <p:cNvPr id="11" name="S06-tile47"/>
          <p:cNvSpPr txBox="1"/>
          <p:nvPr/>
        </p:nvSpPr>
        <p:spPr>
          <a:xfrm>
            <a:off x="8273034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끼</a:t>
            </a:r>
            <a:endParaRPr lang="ko-KR" sz="5900" dirty="0"/>
          </a:p>
        </p:txBody>
      </p:sp>
      <p:sp>
        <p:nvSpPr>
          <p:cNvPr id="12" name="S06-label48"/>
          <p:cNvSpPr txBox="1"/>
          <p:nvPr/>
        </p:nvSpPr>
        <p:spPr>
          <a:xfrm>
            <a:off x="8172450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[끼]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ㅐ와 ㅔ</a:t>
            </a:r>
            <a:endParaRPr lang="ko-KR" sz="4400" dirty="0"/>
          </a:p>
        </p:txBody>
      </p:sp>
      <p:sp>
        <p:nvSpPr>
          <p:cNvPr id="3" name="S07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비슷해서 낱말로 기억해요.</a:t>
            </a:r>
            <a:endParaRPr lang="ko-KR" sz="3200" dirty="0"/>
          </a:p>
        </p:txBody>
      </p:sp>
      <p:sp>
        <p:nvSpPr>
          <p:cNvPr id="5" name="S07-card51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2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ㅏ에 ㅣ를 붙이면 ㅐ</a:t>
            </a:r>
            <a:endParaRPr lang="ko-KR" sz="3200" dirty="0"/>
          </a:p>
        </p:txBody>
      </p:sp>
      <p:sp>
        <p:nvSpPr>
          <p:cNvPr id="7" name="S07-card53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54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ㅓ에 ㅣ를 붙이면 ㅔ</a:t>
            </a:r>
            <a:endParaRPr lang="ko-KR" sz="3200" dirty="0"/>
          </a:p>
        </p:txBody>
      </p:sp>
      <p:sp>
        <p:nvSpPr>
          <p:cNvPr id="9" name="S07-tile55"/>
          <p:cNvSpPr txBox="1"/>
          <p:nvPr/>
        </p:nvSpPr>
        <p:spPr>
          <a:xfrm>
            <a:off x="4165092" y="15316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ㅐ</a:t>
            </a:r>
            <a:endParaRPr lang="ko-KR" sz="7900" dirty="0"/>
          </a:p>
        </p:txBody>
      </p:sp>
      <p:sp>
        <p:nvSpPr>
          <p:cNvPr id="10" name="S07-label56"/>
          <p:cNvSpPr txBox="1"/>
          <p:nvPr/>
        </p:nvSpPr>
        <p:spPr>
          <a:xfrm>
            <a:off x="4064508" y="339699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</a:t>
            </a:r>
            <a:endParaRPr lang="ko-KR" sz="2200" dirty="0"/>
          </a:p>
        </p:txBody>
      </p:sp>
      <p:sp>
        <p:nvSpPr>
          <p:cNvPr id="11" name="S07-tile57"/>
          <p:cNvSpPr txBox="1"/>
          <p:nvPr/>
        </p:nvSpPr>
        <p:spPr>
          <a:xfrm>
            <a:off x="6195060" y="15316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ㅔ</a:t>
            </a:r>
            <a:endParaRPr lang="ko-KR" sz="7900" dirty="0"/>
          </a:p>
        </p:txBody>
      </p:sp>
      <p:sp>
        <p:nvSpPr>
          <p:cNvPr id="12" name="S07-label58"/>
          <p:cNvSpPr txBox="1"/>
          <p:nvPr/>
        </p:nvSpPr>
        <p:spPr>
          <a:xfrm>
            <a:off x="6094476" y="339699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모음자를 합쳐요</a:t>
            </a:r>
            <a:endParaRPr lang="ko-KR" sz="4400" dirty="0"/>
          </a:p>
        </p:txBody>
      </p:sp>
      <p:sp>
        <p:nvSpPr>
          <p:cNvPr id="3" name="S08-card59"/>
          <p:cNvSpPr/>
          <p:nvPr/>
        </p:nvSpPr>
        <p:spPr>
          <a:xfrm>
            <a:off x="548640" y="534924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60"/>
          <p:cNvSpPr txBox="1"/>
          <p:nvPr/>
        </p:nvSpPr>
        <p:spPr>
          <a:xfrm>
            <a:off x="822960" y="548640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ㅗ+ㅏ → ㅘ</a:t>
            </a:r>
            <a:endParaRPr lang="ko-KR" sz="3200" dirty="0"/>
          </a:p>
        </p:txBody>
      </p:sp>
      <p:sp>
        <p:nvSpPr>
          <p:cNvPr id="5" name="S08-card61"/>
          <p:cNvSpPr/>
          <p:nvPr/>
        </p:nvSpPr>
        <p:spPr>
          <a:xfrm>
            <a:off x="4322064" y="534924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62"/>
          <p:cNvSpPr txBox="1"/>
          <p:nvPr/>
        </p:nvSpPr>
        <p:spPr>
          <a:xfrm>
            <a:off x="4596384" y="548640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ㅜ+ㅓ → ㅝ</a:t>
            </a:r>
            <a:endParaRPr lang="ko-KR" sz="3200" dirty="0"/>
          </a:p>
        </p:txBody>
      </p:sp>
      <p:sp>
        <p:nvSpPr>
          <p:cNvPr id="7" name="S08-card63"/>
          <p:cNvSpPr/>
          <p:nvPr/>
        </p:nvSpPr>
        <p:spPr>
          <a:xfrm>
            <a:off x="8095488" y="534924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4"/>
          <p:cNvSpPr txBox="1"/>
          <p:nvPr/>
        </p:nvSpPr>
        <p:spPr>
          <a:xfrm>
            <a:off x="8369808" y="548640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ㅡ+ㅣ → ㅢ</a:t>
            </a:r>
            <a:endParaRPr lang="ko-KR" sz="3200" dirty="0"/>
          </a:p>
        </p:txBody>
      </p:sp>
      <p:sp>
        <p:nvSpPr>
          <p:cNvPr id="9" name="S08-tile65"/>
          <p:cNvSpPr txBox="1"/>
          <p:nvPr/>
        </p:nvSpPr>
        <p:spPr>
          <a:xfrm>
            <a:off x="315010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ㅘ</a:t>
            </a:r>
            <a:endParaRPr lang="ko-KR" sz="7900" dirty="0"/>
          </a:p>
        </p:txBody>
      </p:sp>
      <p:sp>
        <p:nvSpPr>
          <p:cNvPr id="10" name="S08-label66"/>
          <p:cNvSpPr txBox="1"/>
          <p:nvPr/>
        </p:nvSpPr>
        <p:spPr>
          <a:xfrm>
            <a:off x="304952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</a:t>
            </a:r>
            <a:endParaRPr lang="ko-KR" sz="2200" dirty="0"/>
          </a:p>
        </p:txBody>
      </p:sp>
      <p:sp>
        <p:nvSpPr>
          <p:cNvPr id="11" name="S08-tile67"/>
          <p:cNvSpPr txBox="1"/>
          <p:nvPr/>
        </p:nvSpPr>
        <p:spPr>
          <a:xfrm>
            <a:off x="5180076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ㅝ</a:t>
            </a:r>
            <a:endParaRPr lang="ko-KR" sz="7900" dirty="0"/>
          </a:p>
        </p:txBody>
      </p:sp>
      <p:sp>
        <p:nvSpPr>
          <p:cNvPr id="12" name="S08-label68"/>
          <p:cNvSpPr txBox="1"/>
          <p:nvPr/>
        </p:nvSpPr>
        <p:spPr>
          <a:xfrm>
            <a:off x="5079492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</a:t>
            </a:r>
            <a:endParaRPr lang="ko-KR" sz="2200" dirty="0"/>
          </a:p>
        </p:txBody>
      </p:sp>
      <p:sp>
        <p:nvSpPr>
          <p:cNvPr id="13" name="S08-tile69"/>
          <p:cNvSpPr txBox="1"/>
          <p:nvPr/>
        </p:nvSpPr>
        <p:spPr>
          <a:xfrm>
            <a:off x="721004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ㅢ</a:t>
            </a:r>
            <a:endParaRPr lang="ko-KR" sz="7900" dirty="0"/>
          </a:p>
        </p:txBody>
      </p:sp>
      <p:sp>
        <p:nvSpPr>
          <p:cNvPr id="14" name="S08-label70"/>
          <p:cNvSpPr txBox="1"/>
          <p:nvPr/>
        </p:nvSpPr>
        <p:spPr>
          <a:xfrm>
            <a:off x="710946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읽어요</a:t>
            </a:r>
            <a:endParaRPr lang="ko-KR" sz="4400" dirty="0"/>
          </a:p>
        </p:txBody>
      </p:sp>
      <p:sp>
        <p:nvSpPr>
          <p:cNvPr id="3" name="S09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읽고, 무엇인지 말해요.</a:t>
            </a:r>
            <a:endParaRPr lang="ko-KR" sz="3200" dirty="0"/>
          </a:p>
        </p:txBody>
      </p:sp>
      <p:sp>
        <p:nvSpPr>
          <p:cNvPr id="4" name="S09-word72"/>
          <p:cNvSpPr txBox="1"/>
          <p:nvPr/>
        </p:nvSpPr>
        <p:spPr>
          <a:xfrm>
            <a:off x="548640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ko-KR" sz="3600" dirty="0"/>
          </a:p>
        </p:txBody>
      </p:sp>
      <p:sp>
        <p:nvSpPr>
          <p:cNvPr id="5" name="S09-word73"/>
          <p:cNvSpPr txBox="1"/>
          <p:nvPr/>
        </p:nvSpPr>
        <p:spPr>
          <a:xfrm>
            <a:off x="4337304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</a:t>
            </a:r>
            <a:endParaRPr lang="ko-KR" sz="3600" dirty="0"/>
          </a:p>
        </p:txBody>
      </p:sp>
      <p:sp>
        <p:nvSpPr>
          <p:cNvPr id="6" name="S09-word74"/>
          <p:cNvSpPr txBox="1"/>
          <p:nvPr/>
        </p:nvSpPr>
        <p:spPr>
          <a:xfrm>
            <a:off x="8125968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</a:t>
            </a:r>
            <a:endParaRPr lang="ko-KR" sz="3600" dirty="0"/>
          </a:p>
        </p:txBody>
      </p:sp>
      <p:sp>
        <p:nvSpPr>
          <p:cNvPr id="7" name="S09-word75"/>
          <p:cNvSpPr txBox="1"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8" name="S09-word76"/>
          <p:cNvSpPr txBox="1"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원숭이</a:t>
            </a:r>
            <a:endParaRPr lang="ko-KR" sz="3600" dirty="0"/>
          </a:p>
        </p:txBody>
      </p:sp>
      <p:sp>
        <p:nvSpPr>
          <p:cNvPr id="9" name="S09-word77"/>
          <p:cNvSpPr txBox="1"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읽고, 무엇인지 말해요.</a:t>
            </a:r>
            <a:endParaRPr lang="ko-KR" sz="3200" dirty="0"/>
          </a:p>
        </p:txBody>
      </p:sp>
      <p:sp>
        <p:nvSpPr>
          <p:cNvPr id="4" name="S10-chip7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word80"/>
          <p:cNvSpPr txBox="1"/>
          <p:nvPr/>
        </p:nvSpPr>
        <p:spPr>
          <a:xfrm>
            <a:off x="1344168" y="201168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</a:t>
            </a:r>
            <a:endParaRPr lang="ko-KR" sz="3600" dirty="0"/>
          </a:p>
        </p:txBody>
      </p:sp>
      <p:sp>
        <p:nvSpPr>
          <p:cNvPr id="6" name="S10-word81"/>
          <p:cNvSpPr txBox="1"/>
          <p:nvPr/>
        </p:nvSpPr>
        <p:spPr>
          <a:xfrm>
            <a:off x="4224528" y="201168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</a:t>
            </a:r>
            <a:endParaRPr lang="ko-KR" sz="3600" dirty="0"/>
          </a:p>
        </p:txBody>
      </p:sp>
      <p:sp>
        <p:nvSpPr>
          <p:cNvPr id="7" name="S10-chip8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word83"/>
          <p:cNvSpPr txBox="1"/>
          <p:nvPr/>
        </p:nvSpPr>
        <p:spPr>
          <a:xfrm>
            <a:off x="1344168" y="347472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</a:t>
            </a:r>
            <a:endParaRPr lang="ko-KR" sz="3600" dirty="0"/>
          </a:p>
        </p:txBody>
      </p:sp>
      <p:sp>
        <p:nvSpPr>
          <p:cNvPr id="9" name="S10-word84"/>
          <p:cNvSpPr txBox="1"/>
          <p:nvPr/>
        </p:nvSpPr>
        <p:spPr>
          <a:xfrm>
            <a:off x="4224528" y="347472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</a:t>
            </a:r>
            <a:endParaRPr lang="ko-KR" sz="3600" dirty="0"/>
          </a:p>
        </p:txBody>
      </p:sp>
      <p:sp>
        <p:nvSpPr>
          <p:cNvPr id="10" name="S10-chip8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word86"/>
          <p:cNvSpPr txBox="1"/>
          <p:nvPr/>
        </p:nvSpPr>
        <p:spPr>
          <a:xfrm>
            <a:off x="1344168" y="493776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</a:t>
            </a:r>
            <a:endParaRPr lang="ko-KR" sz="3600" dirty="0"/>
          </a:p>
        </p:txBody>
      </p:sp>
      <p:sp>
        <p:nvSpPr>
          <p:cNvPr id="12" name="S10-word87"/>
          <p:cNvSpPr txBox="1"/>
          <p:nvPr/>
        </p:nvSpPr>
        <p:spPr>
          <a:xfrm>
            <a:off x="4224528" y="493776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1-card88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9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자음자가 둘이면 힘주어, 모음자가 둘이면 빨리 이어 읽어요.</a:t>
            </a:r>
            <a:endParaRPr lang="ko-KR" sz="3200" dirty="0"/>
          </a:p>
        </p:txBody>
      </p:sp>
      <p:sp>
        <p:nvSpPr>
          <p:cNvPr id="5" name="S11-chip9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91"/>
          <p:cNvSpPr txBox="1"/>
          <p:nvPr/>
        </p:nvSpPr>
        <p:spPr>
          <a:xfrm>
            <a:off x="548640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 · 오빠</a:t>
            </a:r>
            <a:endParaRPr lang="ko-KR" sz="3200" dirty="0"/>
          </a:p>
        </p:txBody>
      </p:sp>
      <p:sp>
        <p:nvSpPr>
          <p:cNvPr id="7" name="S11-text92"/>
          <p:cNvSpPr txBox="1"/>
          <p:nvPr/>
        </p:nvSpPr>
        <p:spPr>
          <a:xfrm>
            <a:off x="3367278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목에 힘준 소리</a:t>
            </a:r>
            <a:endParaRPr lang="ko-KR" sz="2600" dirty="0"/>
          </a:p>
        </p:txBody>
      </p:sp>
      <p:sp>
        <p:nvSpPr>
          <p:cNvPr id="8" name="S11-text93"/>
          <p:cNvSpPr txBox="1"/>
          <p:nvPr/>
        </p:nvSpPr>
        <p:spPr>
          <a:xfrm>
            <a:off x="548640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 · 그네</a:t>
            </a:r>
            <a:endParaRPr lang="ko-KR" sz="3200" dirty="0"/>
          </a:p>
        </p:txBody>
      </p:sp>
      <p:sp>
        <p:nvSpPr>
          <p:cNvPr id="9" name="S11-text94"/>
          <p:cNvSpPr txBox="1"/>
          <p:nvPr/>
        </p:nvSpPr>
        <p:spPr>
          <a:xfrm>
            <a:off x="3367278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ㅘ는 [와]처럼</a:t>
            </a:r>
            <a:endParaRPr lang="ko-KR" sz="2600" dirty="0"/>
          </a:p>
        </p:txBody>
      </p:sp>
      <p:sp>
        <p:nvSpPr>
          <p:cNvPr id="10" name="S11-text95"/>
          <p:cNvSpPr txBox="1"/>
          <p:nvPr/>
        </p:nvSpPr>
        <p:spPr>
          <a:xfrm>
            <a:off x="548640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 · 쌀</a:t>
            </a:r>
            <a:endParaRPr lang="ko-KR" sz="3200" dirty="0"/>
          </a:p>
        </p:txBody>
      </p:sp>
      <p:sp>
        <p:nvSpPr>
          <p:cNvPr id="11" name="S11-text96"/>
          <p:cNvSpPr txBox="1"/>
          <p:nvPr/>
        </p:nvSpPr>
        <p:spPr>
          <a:xfrm>
            <a:off x="3367278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ㅢ는 [의]</a:t>
            </a:r>
            <a:endParaRPr lang="ko-KR" sz="2600" dirty="0"/>
          </a:p>
        </p:txBody>
      </p:sp>
      <p:sp>
        <p:nvSpPr>
          <p:cNvPr id="12" name="S11-chip9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98"/>
          <p:cNvSpPr txBox="1"/>
          <p:nvPr/>
        </p:nvSpPr>
        <p:spPr>
          <a:xfrm>
            <a:off x="6277356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[달기]</a:t>
            </a:r>
            <a:endParaRPr lang="ko-KR" sz="3200" dirty="0"/>
          </a:p>
        </p:txBody>
      </p:sp>
      <p:sp>
        <p:nvSpPr>
          <p:cNvPr id="14" name="S11-text99"/>
          <p:cNvSpPr txBox="1"/>
          <p:nvPr/>
        </p:nvSpPr>
        <p:spPr>
          <a:xfrm>
            <a:off x="9095994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힘주지 않고 읽음</a:t>
            </a:r>
            <a:endParaRPr lang="ko-KR" sz="2600" dirty="0"/>
          </a:p>
        </p:txBody>
      </p:sp>
      <p:sp>
        <p:nvSpPr>
          <p:cNvPr id="15" name="S11-text100"/>
          <p:cNvSpPr txBox="1"/>
          <p:nvPr/>
        </p:nvSpPr>
        <p:spPr>
          <a:xfrm>
            <a:off x="6277356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[고자]</a:t>
            </a:r>
            <a:endParaRPr lang="ko-KR" sz="3200" dirty="0"/>
          </a:p>
        </p:txBody>
      </p:sp>
      <p:sp>
        <p:nvSpPr>
          <p:cNvPr id="16" name="S11-text101"/>
          <p:cNvSpPr txBox="1"/>
          <p:nvPr/>
        </p:nvSpPr>
        <p:spPr>
          <a:xfrm>
            <a:off x="9095994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ㅘ를 ㅗ로만 읽음</a:t>
            </a:r>
            <a:endParaRPr lang="ko-KR" sz="2600" dirty="0"/>
          </a:p>
        </p:txBody>
      </p:sp>
      <p:sp>
        <p:nvSpPr>
          <p:cNvPr id="17" name="S11-text102"/>
          <p:cNvSpPr txBox="1"/>
          <p:nvPr/>
        </p:nvSpPr>
        <p:spPr>
          <a:xfrm>
            <a:off x="6277356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[으사]</a:t>
            </a:r>
            <a:endParaRPr lang="ko-KR" sz="3200" dirty="0"/>
          </a:p>
        </p:txBody>
      </p:sp>
      <p:sp>
        <p:nvSpPr>
          <p:cNvPr id="18" name="S11-text103"/>
          <p:cNvSpPr txBox="1"/>
          <p:nvPr/>
        </p:nvSpPr>
        <p:spPr>
          <a:xfrm>
            <a:off x="9095994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[이]를 빠뜨림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골라요</a:t>
            </a:r>
            <a:endParaRPr lang="ko-KR" sz="4400" dirty="0"/>
          </a:p>
        </p:txBody>
      </p:sp>
      <p:sp>
        <p:nvSpPr>
          <p:cNvPr id="3" name="S12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소리의 모음자는? 어떻게 알았나요?</a:t>
            </a:r>
            <a:endParaRPr lang="ko-KR" sz="3200" dirty="0"/>
          </a:p>
        </p:txBody>
      </p:sp>
      <p:sp>
        <p:nvSpPr>
          <p:cNvPr id="5" name="S12-chip106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tile107"/>
          <p:cNvSpPr txBox="1"/>
          <p:nvPr/>
        </p:nvSpPr>
        <p:spPr>
          <a:xfrm>
            <a:off x="1452372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ㅝ</a:t>
            </a:r>
            <a:endParaRPr lang="ko-KR" sz="7100" dirty="0"/>
          </a:p>
        </p:txBody>
      </p:sp>
      <p:sp>
        <p:nvSpPr>
          <p:cNvPr id="7" name="S12-chip108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2-tile109"/>
          <p:cNvSpPr txBox="1"/>
          <p:nvPr/>
        </p:nvSpPr>
        <p:spPr>
          <a:xfrm>
            <a:off x="5271516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ㅘ</a:t>
            </a:r>
            <a:endParaRPr lang="ko-KR" sz="7100" dirty="0"/>
          </a:p>
        </p:txBody>
      </p:sp>
      <p:sp>
        <p:nvSpPr>
          <p:cNvPr id="9" name="S12-chip110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2-tile111"/>
          <p:cNvSpPr txBox="1"/>
          <p:nvPr/>
        </p:nvSpPr>
        <p:spPr>
          <a:xfrm>
            <a:off x="9090660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ㅢ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12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13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자음자가 둘이면 힘주어 읽고, 모음자가 합쳐지면 빨리 이어 읽어요.</a:t>
            </a:r>
            <a:endParaRPr lang="ko-KR" sz="3200" dirty="0"/>
          </a:p>
        </p:txBody>
      </p:sp>
      <p:sp>
        <p:nvSpPr>
          <p:cNvPr id="5" name="S13-chip114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토끼는 힘주어 [토끼]</a:t>
            </a:r>
            <a:endParaRPr lang="ko-KR" sz="2600" dirty="0"/>
          </a:p>
        </p:txBody>
      </p:sp>
      <p:sp>
        <p:nvSpPr>
          <p:cNvPr id="6" name="S13-chip115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[토기]처럼 읽기</a:t>
            </a:r>
            <a:endParaRPr lang="ko-KR" sz="2600" dirty="0"/>
          </a:p>
        </p:txBody>
      </p:sp>
      <p:sp>
        <p:nvSpPr>
          <p:cNvPr id="7" name="S13-text116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17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꼬리 아빠 사과 의자</a:t>
            </a:r>
            <a:endParaRPr lang="ko-KR" sz="2600" dirty="0"/>
          </a:p>
        </p:txBody>
      </p:sp>
      <p:sp>
        <p:nvSpPr>
          <p:cNvPr id="9" name="S13-text118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개와 게는 무엇?</a:t>
            </a:r>
            <a:endParaRPr lang="ko-KR" sz="2600" dirty="0"/>
          </a:p>
        </p:txBody>
      </p:sp>
      <p:sp>
        <p:nvSpPr>
          <p:cNvPr id="10" name="S13-text119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ㄲ의 이름은?</a:t>
            </a:r>
            <a:endParaRPr lang="ko-KR" sz="2600" dirty="0"/>
          </a:p>
        </p:txBody>
      </p:sp>
      <p:sp>
        <p:nvSpPr>
          <p:cNvPr id="11" name="S13-text12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낱말 읽고 쓰기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받침 있는 글자</a:t>
            </a:r>
            <a:endParaRPr lang="ko-KR" sz="4400" dirty="0"/>
          </a:p>
        </p:txBody>
      </p:sp>
      <p:sp>
        <p:nvSpPr>
          <p:cNvPr id="3" name="S14-card121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22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받침은 끝소리</a:t>
            </a:r>
            <a:endParaRPr lang="ko-KR" sz="3200" dirty="0"/>
          </a:p>
        </p:txBody>
      </p:sp>
      <p:sp>
        <p:nvSpPr>
          <p:cNvPr id="5" name="S14-card123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24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받침에서 입을 멈춰요</a:t>
            </a:r>
            <a:endParaRPr lang="ko-KR" sz="3200" dirty="0"/>
          </a:p>
        </p:txBody>
      </p:sp>
      <p:sp>
        <p:nvSpPr>
          <p:cNvPr id="7" name="S14-tile125"/>
          <p:cNvSpPr txBox="1"/>
          <p:nvPr/>
        </p:nvSpPr>
        <p:spPr>
          <a:xfrm>
            <a:off x="2500884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7100" dirty="0"/>
          </a:p>
        </p:txBody>
      </p:sp>
      <p:sp>
        <p:nvSpPr>
          <p:cNvPr id="8" name="S14-label126"/>
          <p:cNvSpPr txBox="1"/>
          <p:nvPr/>
        </p:nvSpPr>
        <p:spPr>
          <a:xfrm>
            <a:off x="2400300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[곰]</a:t>
            </a:r>
            <a:endParaRPr lang="ko-KR" sz="2200" dirty="0"/>
          </a:p>
        </p:txBody>
      </p:sp>
      <p:sp>
        <p:nvSpPr>
          <p:cNvPr id="9" name="S14-tile127"/>
          <p:cNvSpPr txBox="1"/>
          <p:nvPr/>
        </p:nvSpPr>
        <p:spPr>
          <a:xfrm>
            <a:off x="4347972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7100" dirty="0"/>
          </a:p>
        </p:txBody>
      </p:sp>
      <p:sp>
        <p:nvSpPr>
          <p:cNvPr id="10" name="S14-label128"/>
          <p:cNvSpPr txBox="1"/>
          <p:nvPr/>
        </p:nvSpPr>
        <p:spPr>
          <a:xfrm>
            <a:off x="4247388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[산]</a:t>
            </a:r>
            <a:endParaRPr lang="ko-KR" sz="2200" dirty="0"/>
          </a:p>
        </p:txBody>
      </p:sp>
      <p:sp>
        <p:nvSpPr>
          <p:cNvPr id="11" name="S14-tile129"/>
          <p:cNvSpPr txBox="1"/>
          <p:nvPr/>
        </p:nvSpPr>
        <p:spPr>
          <a:xfrm>
            <a:off x="6195060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</a:t>
            </a:r>
            <a:endParaRPr lang="ko-KR" sz="7100" dirty="0"/>
          </a:p>
        </p:txBody>
      </p:sp>
      <p:sp>
        <p:nvSpPr>
          <p:cNvPr id="12" name="S14-label130"/>
          <p:cNvSpPr txBox="1"/>
          <p:nvPr/>
        </p:nvSpPr>
        <p:spPr>
          <a:xfrm>
            <a:off x="6094476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[밥]</a:t>
            </a:r>
            <a:endParaRPr lang="ko-KR" sz="2200" dirty="0"/>
          </a:p>
        </p:txBody>
      </p:sp>
      <p:sp>
        <p:nvSpPr>
          <p:cNvPr id="13" name="S14-tile131"/>
          <p:cNvSpPr txBox="1"/>
          <p:nvPr/>
        </p:nvSpPr>
        <p:spPr>
          <a:xfrm>
            <a:off x="8042148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7100" dirty="0"/>
          </a:p>
        </p:txBody>
      </p:sp>
      <p:sp>
        <p:nvSpPr>
          <p:cNvPr id="14" name="S14-label132"/>
          <p:cNvSpPr txBox="1"/>
          <p:nvPr/>
        </p:nvSpPr>
        <p:spPr>
          <a:xfrm>
            <a:off x="7941564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[공]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쌍자음과 여러 가지 모음</dc:title>
  <dc:subject>KR22-G01-KOR-DOUBLE-L01</dc:subject>
  <dc:creator>education-ppt</dc:creator>
  <cp:lastModifiedBy>education-ppt</cp:lastModifiedBy>
  <cp:revision>1</cp:revision>
  <dcterms:created xsi:type="dcterms:W3CDTF">2026-10-26T07:13:44Z</dcterms:created>
  <dcterms:modified xsi:type="dcterms:W3CDTF">2026-10-26T07:13:44Z</dcterms:modified>
</cp:coreProperties>
</file>