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29c3ee0c-42b7-dfec-c777-a7e11af98b32}">
          <p14:sldIdLst>
            <p14:sldId id="256"/>
            <p14:sldId id="257"/>
          </p14:sldIdLst>
        </p14:section>
        <p14:section name="개념" id="{04a326e0-ba5d-02e5-4643-3ca56010c6f3}">
          <p14:sldIdLst>
            <p14:sldId id="258"/>
            <p14:sldId id="261"/>
          </p14:sldIdLst>
        </p14:section>
        <p14:section name="연습" id="{2fc17c3a-29a9-b1ef-8437-8fd9ba9b997a}">
          <p14:sldIdLst>
            <p14:sldId id="259"/>
            <p14:sldId id="260"/>
            <p14:sldId id="262"/>
          </p14:sldIdLst>
        </p14:section>
        <p14:section name="개념" id="{dd2fb13d-eca8-5bbf-306c-46a9cb23dc1a}">
          <p14:sldIdLst/>
        </p14:section>
        <p14:section name="연습" id="{3ff20e8e-ea22-048f-955e-9d67785b1491}">
          <p14:sldIdLst/>
        </p14:section>
        <p14:section name="확인" id="{c888644c-9442-be05-2c19-7ccb38122c53}">
          <p14:sldIdLst>
            <p14:sldId id="263"/>
            <p14:sldId id="264"/>
          </p14:sldIdLst>
        </p14:section>
        <p14:section name="정리" id="{b8bcbe62-73d1-3348-f0ae-65d91608351a}">
          <p14:sldIdLst>
            <p14:sldId id="265"/>
          </p14:sldIdLst>
        </p14:section>
        <p14:section name="보충" id="{f77b122e-204b-3f83-cd5d-ad5be21437a6}">
          <p14:sldIdLst>
            <p14:sldId id="266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5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32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초1 국어 · 한글 · 6차시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초1 국어 · 낱말 읽고 쓰기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초1 국어 · 낱말 읽고 쓰기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초1 국어 · 낱말 읽고 쓰기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5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낱말 읽고 쓰기</a:t>
            </a:r>
            <a:endParaRPr lang="ko-KR" sz="5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 낱말은 무엇을 가리킬까요?</a:t>
            </a:r>
            <a:endParaRPr lang="ko-KR" sz="3200" dirty="0"/>
          </a:p>
        </p:txBody>
      </p:sp>
      <p:sp>
        <p:nvSpPr>
          <p:cNvPr id="4" name="S01-word1"/>
          <p:cNvSpPr txBox="1"/>
          <p:nvPr/>
        </p:nvSpPr>
        <p:spPr>
          <a:xfrm>
            <a:off x="7680960" y="640080"/>
            <a:ext cx="3931920" cy="1325880"/>
          </a:xfrm>
          <a:prstGeom prst="roundRect">
            <a:avLst>
              <a:gd name="adj" fmla="val 9655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컵</a:t>
            </a:r>
            <a:endParaRPr lang="ko-KR" sz="3600" dirty="0"/>
          </a:p>
        </p:txBody>
      </p:sp>
      <p:sp>
        <p:nvSpPr>
          <p:cNvPr id="5" name="S01-word2"/>
          <p:cNvSpPr txBox="1"/>
          <p:nvPr/>
        </p:nvSpPr>
        <p:spPr>
          <a:xfrm>
            <a:off x="7680960" y="2240280"/>
            <a:ext cx="3931920" cy="1325880"/>
          </a:xfrm>
          <a:prstGeom prst="roundRect">
            <a:avLst>
              <a:gd name="adj" fmla="val 9655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양말</a:t>
            </a:r>
            <a:endParaRPr lang="ko-KR" sz="3600" dirty="0"/>
          </a:p>
        </p:txBody>
      </p:sp>
      <p:sp>
        <p:nvSpPr>
          <p:cNvPr id="6" name="S01-card3"/>
          <p:cNvSpPr/>
          <p:nvPr/>
        </p:nvSpPr>
        <p:spPr>
          <a:xfrm>
            <a:off x="731520" y="4343400"/>
            <a:ext cx="10725912" cy="1783080"/>
          </a:xfrm>
          <a:prstGeom prst="roundRect">
            <a:avLst>
              <a:gd name="adj" fmla="val 6154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7" name="S01-cardtext4"/>
          <p:cNvSpPr txBox="1"/>
          <p:nvPr/>
        </p:nvSpPr>
        <p:spPr>
          <a:xfrm>
            <a:off x="1005840" y="4480560"/>
            <a:ext cx="10177272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낱말을 읽고 그 물건을 찾아요.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불러 주는 낱말을 받아써요.</a:t>
            </a:r>
            <a:endParaRPr lang="ko-KR" sz="3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글자를 읽어요</a:t>
            </a:r>
            <a:endParaRPr lang="ko-KR" sz="4400" dirty="0"/>
          </a:p>
        </p:txBody>
      </p:sp>
      <p:sp>
        <p:nvSpPr>
          <p:cNvPr id="3" name="S02-text5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소리 내어 읽어요.</a:t>
            </a:r>
            <a:endParaRPr lang="ko-KR" sz="3200" dirty="0"/>
          </a:p>
        </p:txBody>
      </p:sp>
      <p:sp>
        <p:nvSpPr>
          <p:cNvPr id="4" name="S02-chip6"/>
          <p:cNvSpPr txBox="1"/>
          <p:nvPr/>
        </p:nvSpPr>
        <p:spPr>
          <a:xfrm>
            <a:off x="548640" y="27340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5" name="S02-tile7"/>
          <p:cNvSpPr txBox="1"/>
          <p:nvPr/>
        </p:nvSpPr>
        <p:spPr>
          <a:xfrm>
            <a:off x="1828800" y="2331720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꼬</a:t>
            </a:r>
            <a:endParaRPr lang="ko-KR" sz="5900" dirty="0"/>
          </a:p>
        </p:txBody>
      </p:sp>
      <p:sp>
        <p:nvSpPr>
          <p:cNvPr id="6" name="S02-tile8"/>
          <p:cNvSpPr txBox="1"/>
          <p:nvPr/>
        </p:nvSpPr>
        <p:spPr>
          <a:xfrm>
            <a:off x="3401568" y="2331720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배</a:t>
            </a:r>
            <a:endParaRPr lang="ko-KR" sz="5900" dirty="0"/>
          </a:p>
        </p:txBody>
      </p:sp>
      <p:sp>
        <p:nvSpPr>
          <p:cNvPr id="7" name="S02-tile9"/>
          <p:cNvSpPr txBox="1"/>
          <p:nvPr/>
        </p:nvSpPr>
        <p:spPr>
          <a:xfrm>
            <a:off x="4974336" y="2331720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과</a:t>
            </a:r>
            <a:endParaRPr lang="ko-KR" sz="5900" dirty="0"/>
          </a:p>
        </p:txBody>
      </p:sp>
      <p:sp>
        <p:nvSpPr>
          <p:cNvPr id="8" name="S02-chip10"/>
          <p:cNvSpPr txBox="1"/>
          <p:nvPr/>
        </p:nvSpPr>
        <p:spPr>
          <a:xfrm>
            <a:off x="548640" y="49286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9" name="S02-word11"/>
          <p:cNvSpPr txBox="1"/>
          <p:nvPr/>
        </p:nvSpPr>
        <p:spPr>
          <a:xfrm>
            <a:off x="1344168" y="4343400"/>
            <a:ext cx="2606040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곰</a:t>
            </a:r>
            <a:endParaRPr lang="ko-KR" sz="3600" dirty="0"/>
          </a:p>
        </p:txBody>
      </p:sp>
      <p:sp>
        <p:nvSpPr>
          <p:cNvPr id="10" name="S02-word12"/>
          <p:cNvSpPr txBox="1"/>
          <p:nvPr/>
        </p:nvSpPr>
        <p:spPr>
          <a:xfrm>
            <a:off x="4224528" y="4343400"/>
            <a:ext cx="2606040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우산</a:t>
            </a:r>
            <a:endParaRPr lang="ko-KR" sz="3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읽고 찾는 방법</a:t>
            </a:r>
            <a:endParaRPr lang="ko-KR" sz="4400" dirty="0"/>
          </a:p>
        </p:txBody>
      </p:sp>
      <p:sp>
        <p:nvSpPr>
          <p:cNvPr id="3" name="S03-word13"/>
          <p:cNvSpPr txBox="1"/>
          <p:nvPr/>
        </p:nvSpPr>
        <p:spPr>
          <a:xfrm>
            <a:off x="6920911" y="2903220"/>
            <a:ext cx="4719401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양말</a:t>
            </a:r>
            <a:endParaRPr lang="ko-KR" sz="3600" dirty="0"/>
          </a:p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[양] + [말]</a:t>
            </a:r>
            <a:endParaRPr lang="ko-KR" sz="3600" dirty="0"/>
          </a:p>
        </p:txBody>
      </p:sp>
      <p:sp>
        <p:nvSpPr>
          <p:cNvPr id="4" name="S03-stepno14"/>
          <p:cNvSpPr txBox="1"/>
          <p:nvPr/>
        </p:nvSpPr>
        <p:spPr>
          <a:xfrm>
            <a:off x="548640" y="278434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5" name="S03-text15"/>
          <p:cNvSpPr txBox="1"/>
          <p:nvPr/>
        </p:nvSpPr>
        <p:spPr>
          <a:xfrm>
            <a:off x="1325880" y="2784348"/>
            <a:ext cx="5229271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글자씩 소리 내어 읽어요.</a:t>
            </a:r>
            <a:endParaRPr lang="ko-KR" sz="3200" dirty="0"/>
          </a:p>
        </p:txBody>
      </p:sp>
      <p:sp>
        <p:nvSpPr>
          <p:cNvPr id="6" name="S03-stepno16"/>
          <p:cNvSpPr txBox="1"/>
          <p:nvPr/>
        </p:nvSpPr>
        <p:spPr>
          <a:xfrm>
            <a:off x="548640" y="3497580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7" name="S03-text17"/>
          <p:cNvSpPr txBox="1"/>
          <p:nvPr/>
        </p:nvSpPr>
        <p:spPr>
          <a:xfrm>
            <a:off x="1325880" y="3497580"/>
            <a:ext cx="5229271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이어서 다시 읽어요.</a:t>
            </a:r>
            <a:endParaRPr lang="ko-KR" sz="3200" dirty="0"/>
          </a:p>
        </p:txBody>
      </p:sp>
      <p:sp>
        <p:nvSpPr>
          <p:cNvPr id="8" name="S03-stepno18"/>
          <p:cNvSpPr txBox="1"/>
          <p:nvPr/>
        </p:nvSpPr>
        <p:spPr>
          <a:xfrm>
            <a:off x="548640" y="421081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9" name="S03-text19"/>
          <p:cNvSpPr txBox="1"/>
          <p:nvPr/>
        </p:nvSpPr>
        <p:spPr>
          <a:xfrm>
            <a:off x="1325880" y="4210812"/>
            <a:ext cx="5229271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무엇인지 떠올려 찾아요.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물건을 찾아요</a:t>
            </a:r>
            <a:endParaRPr lang="ko-KR" sz="4400" dirty="0"/>
          </a:p>
        </p:txBody>
      </p:sp>
      <p:sp>
        <p:nvSpPr>
          <p:cNvPr id="3" name="S04-text20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읽고, 그 물건에 카드를 놓아요.</a:t>
            </a:r>
            <a:endParaRPr lang="ko-KR" sz="3200" dirty="0"/>
          </a:p>
        </p:txBody>
      </p:sp>
      <p:sp>
        <p:nvSpPr>
          <p:cNvPr id="4" name="S04-word21"/>
          <p:cNvSpPr txBox="1"/>
          <p:nvPr/>
        </p:nvSpPr>
        <p:spPr>
          <a:xfrm>
            <a:off x="548640" y="2240280"/>
            <a:ext cx="3514344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컵</a:t>
            </a:r>
            <a:endParaRPr lang="ko-KR" sz="3600" dirty="0"/>
          </a:p>
        </p:txBody>
      </p:sp>
      <p:sp>
        <p:nvSpPr>
          <p:cNvPr id="5" name="S04-word22"/>
          <p:cNvSpPr txBox="1"/>
          <p:nvPr/>
        </p:nvSpPr>
        <p:spPr>
          <a:xfrm>
            <a:off x="4337304" y="2240280"/>
            <a:ext cx="3514344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</a:t>
            </a:r>
            <a:endParaRPr lang="ko-KR" sz="3600" dirty="0"/>
          </a:p>
        </p:txBody>
      </p:sp>
      <p:sp>
        <p:nvSpPr>
          <p:cNvPr id="6" name="S04-word23"/>
          <p:cNvSpPr txBox="1"/>
          <p:nvPr/>
        </p:nvSpPr>
        <p:spPr>
          <a:xfrm>
            <a:off x="8125968" y="2240280"/>
            <a:ext cx="3514344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모자</a:t>
            </a:r>
            <a:endParaRPr lang="ko-KR" sz="3600" dirty="0"/>
          </a:p>
        </p:txBody>
      </p:sp>
      <p:sp>
        <p:nvSpPr>
          <p:cNvPr id="7" name="S04-word24"/>
          <p:cNvSpPr txBox="1"/>
          <p:nvPr/>
        </p:nvSpPr>
        <p:spPr>
          <a:xfrm>
            <a:off x="548640" y="4251960"/>
            <a:ext cx="3514344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수건</a:t>
            </a:r>
            <a:endParaRPr lang="ko-KR" sz="3600" dirty="0"/>
          </a:p>
        </p:txBody>
      </p:sp>
      <p:sp>
        <p:nvSpPr>
          <p:cNvPr id="8" name="S04-word25"/>
          <p:cNvSpPr txBox="1"/>
          <p:nvPr/>
        </p:nvSpPr>
        <p:spPr>
          <a:xfrm>
            <a:off x="4337304" y="4251960"/>
            <a:ext cx="3514344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가방</a:t>
            </a:r>
            <a:endParaRPr lang="ko-KR" sz="3600" dirty="0"/>
          </a:p>
        </p:txBody>
      </p:sp>
      <p:sp>
        <p:nvSpPr>
          <p:cNvPr id="9" name="S04-word26"/>
          <p:cNvSpPr txBox="1"/>
          <p:nvPr/>
        </p:nvSpPr>
        <p:spPr>
          <a:xfrm>
            <a:off x="8125968" y="4251960"/>
            <a:ext cx="3514344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의자</a:t>
            </a:r>
            <a:endParaRPr lang="ko-KR" sz="3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끝까지 읽어요</a:t>
            </a:r>
            <a:endParaRPr lang="ko-KR" sz="4400" dirty="0"/>
          </a:p>
        </p:txBody>
      </p:sp>
      <p:sp>
        <p:nvSpPr>
          <p:cNvPr id="3" name="S05-card27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5-cardtext28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친구가 ‘가방’을 보고 [가지]라고 읽었어요.</a:t>
            </a:r>
            <a:endParaRPr lang="ko-KR" sz="3200" dirty="0"/>
          </a:p>
        </p:txBody>
      </p:sp>
      <p:sp>
        <p:nvSpPr>
          <p:cNvPr id="5" name="S05-card29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05-cardtext30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 낱말은 무엇이 다른가요? 친구는 왜 틀렸을까요?</a:t>
            </a:r>
            <a:endParaRPr lang="ko-KR" sz="3200" dirty="0"/>
          </a:p>
        </p:txBody>
      </p:sp>
      <p:sp>
        <p:nvSpPr>
          <p:cNvPr id="7" name="S05-chip31"/>
          <p:cNvSpPr txBox="1"/>
          <p:nvPr/>
        </p:nvSpPr>
        <p:spPr>
          <a:xfrm>
            <a:off x="548640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첫째 낱말</a:t>
            </a:r>
            <a:endParaRPr lang="ko-KR" sz="2600" dirty="0"/>
          </a:p>
        </p:txBody>
      </p:sp>
      <p:sp>
        <p:nvSpPr>
          <p:cNvPr id="8" name="S05-word32"/>
          <p:cNvSpPr txBox="1"/>
          <p:nvPr/>
        </p:nvSpPr>
        <p:spPr>
          <a:xfrm>
            <a:off x="548640" y="3268980"/>
            <a:ext cx="5362956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가방</a:t>
            </a:r>
            <a:endParaRPr lang="ko-KR" sz="3600" dirty="0"/>
          </a:p>
        </p:txBody>
      </p:sp>
      <p:sp>
        <p:nvSpPr>
          <p:cNvPr id="9" name="S05-chip33"/>
          <p:cNvSpPr txBox="1"/>
          <p:nvPr/>
        </p:nvSpPr>
        <p:spPr>
          <a:xfrm>
            <a:off x="6277356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둘째 낱말</a:t>
            </a:r>
            <a:endParaRPr lang="ko-KR" sz="2600" dirty="0"/>
          </a:p>
        </p:txBody>
      </p:sp>
      <p:sp>
        <p:nvSpPr>
          <p:cNvPr id="10" name="S05-word34"/>
          <p:cNvSpPr txBox="1"/>
          <p:nvPr/>
        </p:nvSpPr>
        <p:spPr>
          <a:xfrm>
            <a:off x="6277356" y="3268980"/>
            <a:ext cx="5362956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가지</a:t>
            </a:r>
            <a:endParaRPr lang="ko-KR" sz="3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받아쓰기 방법</a:t>
            </a:r>
            <a:endParaRPr lang="ko-KR" sz="4400" dirty="0"/>
          </a:p>
        </p:txBody>
      </p:sp>
      <p:sp>
        <p:nvSpPr>
          <p:cNvPr id="3" name="S06-tile35"/>
          <p:cNvSpPr txBox="1"/>
          <p:nvPr/>
        </p:nvSpPr>
        <p:spPr>
          <a:xfrm>
            <a:off x="7716987" y="2811780"/>
            <a:ext cx="1463040" cy="1463040"/>
          </a:xfrm>
          <a:prstGeom prst="roundRect">
            <a:avLst>
              <a:gd name="adj" fmla="val 875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6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</a:t>
            </a:r>
            <a:endParaRPr lang="ko-KR" sz="6300" dirty="0"/>
          </a:p>
        </p:txBody>
      </p:sp>
      <p:sp>
        <p:nvSpPr>
          <p:cNvPr id="4" name="S06-label36"/>
          <p:cNvSpPr txBox="1"/>
          <p:nvPr/>
        </p:nvSpPr>
        <p:spPr>
          <a:xfrm>
            <a:off x="7616403" y="4311396"/>
            <a:ext cx="16642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짝!</a:t>
            </a:r>
            <a:endParaRPr lang="ko-KR" sz="2200" dirty="0"/>
          </a:p>
        </p:txBody>
      </p:sp>
      <p:sp>
        <p:nvSpPr>
          <p:cNvPr id="5" name="S06-tile37"/>
          <p:cNvSpPr txBox="1"/>
          <p:nvPr/>
        </p:nvSpPr>
        <p:spPr>
          <a:xfrm>
            <a:off x="9381195" y="2811780"/>
            <a:ext cx="1463040" cy="1463040"/>
          </a:xfrm>
          <a:prstGeom prst="roundRect">
            <a:avLst>
              <a:gd name="adj" fmla="val 875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6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건</a:t>
            </a:r>
            <a:endParaRPr lang="ko-KR" sz="6300" dirty="0"/>
          </a:p>
        </p:txBody>
      </p:sp>
      <p:sp>
        <p:nvSpPr>
          <p:cNvPr id="6" name="S06-label38"/>
          <p:cNvSpPr txBox="1"/>
          <p:nvPr/>
        </p:nvSpPr>
        <p:spPr>
          <a:xfrm>
            <a:off x="9280611" y="4311396"/>
            <a:ext cx="16642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짝!</a:t>
            </a:r>
            <a:endParaRPr lang="ko-KR" sz="2200" dirty="0"/>
          </a:p>
        </p:txBody>
      </p:sp>
      <p:sp>
        <p:nvSpPr>
          <p:cNvPr id="7" name="S06-stepno39"/>
          <p:cNvSpPr txBox="1"/>
          <p:nvPr/>
        </p:nvSpPr>
        <p:spPr>
          <a:xfrm>
            <a:off x="548640" y="242773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8" name="S06-text40"/>
          <p:cNvSpPr txBox="1"/>
          <p:nvPr/>
        </p:nvSpPr>
        <p:spPr>
          <a:xfrm>
            <a:off x="1325880" y="2427732"/>
            <a:ext cx="5229271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듣고 따라 말해요.</a:t>
            </a:r>
            <a:endParaRPr lang="ko-KR" sz="3200" dirty="0"/>
          </a:p>
        </p:txBody>
      </p:sp>
      <p:sp>
        <p:nvSpPr>
          <p:cNvPr id="9" name="S06-stepno41"/>
          <p:cNvSpPr txBox="1"/>
          <p:nvPr/>
        </p:nvSpPr>
        <p:spPr>
          <a:xfrm>
            <a:off x="548640" y="3140964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10" name="S06-text42"/>
          <p:cNvSpPr txBox="1"/>
          <p:nvPr/>
        </p:nvSpPr>
        <p:spPr>
          <a:xfrm>
            <a:off x="1325880" y="3140964"/>
            <a:ext cx="5229271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손뼉 치며 글자 수를 세요.</a:t>
            </a:r>
            <a:endParaRPr lang="ko-KR" sz="3200" dirty="0"/>
          </a:p>
        </p:txBody>
      </p:sp>
      <p:sp>
        <p:nvSpPr>
          <p:cNvPr id="11" name="S06-stepno43"/>
          <p:cNvSpPr txBox="1"/>
          <p:nvPr/>
        </p:nvSpPr>
        <p:spPr>
          <a:xfrm>
            <a:off x="548640" y="3854196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12" name="S06-text44"/>
          <p:cNvSpPr txBox="1"/>
          <p:nvPr/>
        </p:nvSpPr>
        <p:spPr>
          <a:xfrm>
            <a:off x="1325880" y="3854196"/>
            <a:ext cx="5229271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글자씩 소리 내며 써요.</a:t>
            </a:r>
            <a:endParaRPr lang="ko-KR" sz="3200" dirty="0"/>
          </a:p>
        </p:txBody>
      </p:sp>
      <p:sp>
        <p:nvSpPr>
          <p:cNvPr id="13" name="S06-stepno45"/>
          <p:cNvSpPr txBox="1"/>
          <p:nvPr/>
        </p:nvSpPr>
        <p:spPr>
          <a:xfrm>
            <a:off x="548640" y="456742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400" dirty="0"/>
          </a:p>
        </p:txBody>
      </p:sp>
      <p:sp>
        <p:nvSpPr>
          <p:cNvPr id="14" name="S06-text46"/>
          <p:cNvSpPr txBox="1"/>
          <p:nvPr/>
        </p:nvSpPr>
        <p:spPr>
          <a:xfrm>
            <a:off x="1325880" y="4567428"/>
            <a:ext cx="5229271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 쓰고 다시 읽어요.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글자 수를 세고 써요</a:t>
            </a:r>
            <a:endParaRPr lang="ko-KR" sz="4400" dirty="0"/>
          </a:p>
        </p:txBody>
      </p:sp>
      <p:sp>
        <p:nvSpPr>
          <p:cNvPr id="3" name="S07-text47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손뼉 치며 세고, 종이에 한 글자씩 써요.</a:t>
            </a:r>
            <a:endParaRPr lang="ko-KR" sz="3200" dirty="0"/>
          </a:p>
        </p:txBody>
      </p:sp>
      <p:sp>
        <p:nvSpPr>
          <p:cNvPr id="4" name="S07-card48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07-cardtext49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끝소리를 잘 들어요. 받침이 있나요?</a:t>
            </a:r>
            <a:endParaRPr lang="ko-KR" sz="3200" dirty="0"/>
          </a:p>
        </p:txBody>
      </p:sp>
      <p:sp>
        <p:nvSpPr>
          <p:cNvPr id="6" name="S07-chip50"/>
          <p:cNvSpPr txBox="1"/>
          <p:nvPr/>
        </p:nvSpPr>
        <p:spPr>
          <a:xfrm>
            <a:off x="548640" y="21854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7" name="S07-tile51"/>
          <p:cNvSpPr txBox="1"/>
          <p:nvPr/>
        </p:nvSpPr>
        <p:spPr>
          <a:xfrm>
            <a:off x="3072384" y="2011680"/>
            <a:ext cx="914400" cy="9144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endParaRPr lang="ko-KR" sz="4000" dirty="0"/>
          </a:p>
        </p:txBody>
      </p:sp>
      <p:sp>
        <p:nvSpPr>
          <p:cNvPr id="8" name="S07-tile52"/>
          <p:cNvSpPr txBox="1"/>
          <p:nvPr/>
        </p:nvSpPr>
        <p:spPr>
          <a:xfrm>
            <a:off x="4187952" y="2011680"/>
            <a:ext cx="914400" cy="9144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endParaRPr lang="ko-KR" sz="4000" dirty="0"/>
          </a:p>
        </p:txBody>
      </p:sp>
      <p:sp>
        <p:nvSpPr>
          <p:cNvPr id="9" name="S07-chip53"/>
          <p:cNvSpPr txBox="1"/>
          <p:nvPr/>
        </p:nvSpPr>
        <p:spPr>
          <a:xfrm>
            <a:off x="548640" y="32826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10" name="S07-tile54"/>
          <p:cNvSpPr txBox="1"/>
          <p:nvPr/>
        </p:nvSpPr>
        <p:spPr>
          <a:xfrm>
            <a:off x="2514600" y="3108960"/>
            <a:ext cx="914400" cy="9144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endParaRPr lang="ko-KR" sz="4000" dirty="0"/>
          </a:p>
        </p:txBody>
      </p:sp>
      <p:sp>
        <p:nvSpPr>
          <p:cNvPr id="11" name="S07-tile55"/>
          <p:cNvSpPr txBox="1"/>
          <p:nvPr/>
        </p:nvSpPr>
        <p:spPr>
          <a:xfrm>
            <a:off x="3630168" y="3108960"/>
            <a:ext cx="914400" cy="9144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endParaRPr lang="ko-KR" sz="4000" dirty="0"/>
          </a:p>
        </p:txBody>
      </p:sp>
      <p:sp>
        <p:nvSpPr>
          <p:cNvPr id="12" name="S07-tile56"/>
          <p:cNvSpPr txBox="1"/>
          <p:nvPr/>
        </p:nvSpPr>
        <p:spPr>
          <a:xfrm>
            <a:off x="4745736" y="3108960"/>
            <a:ext cx="914400" cy="9144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endParaRPr lang="ko-KR" sz="4000" dirty="0"/>
          </a:p>
        </p:txBody>
      </p:sp>
      <p:sp>
        <p:nvSpPr>
          <p:cNvPr id="13" name="S07-chip57"/>
          <p:cNvSpPr txBox="1"/>
          <p:nvPr/>
        </p:nvSpPr>
        <p:spPr>
          <a:xfrm>
            <a:off x="548640" y="43799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14" name="S07-tile58"/>
          <p:cNvSpPr txBox="1"/>
          <p:nvPr/>
        </p:nvSpPr>
        <p:spPr>
          <a:xfrm>
            <a:off x="3072384" y="4206240"/>
            <a:ext cx="914400" cy="9144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endParaRPr lang="ko-KR" sz="4000" dirty="0"/>
          </a:p>
        </p:txBody>
      </p:sp>
      <p:sp>
        <p:nvSpPr>
          <p:cNvPr id="15" name="S07-tile59"/>
          <p:cNvSpPr txBox="1"/>
          <p:nvPr/>
        </p:nvSpPr>
        <p:spPr>
          <a:xfrm>
            <a:off x="4187952" y="4206240"/>
            <a:ext cx="914400" cy="9144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endParaRPr lang="ko-KR" sz="4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</a:t>
            </a:r>
            <a:endParaRPr lang="ko-KR" sz="4400" dirty="0"/>
          </a:p>
        </p:txBody>
      </p:sp>
      <p:sp>
        <p:nvSpPr>
          <p:cNvPr id="3" name="S08-text60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①②는 읽고 무엇인지 말해요. ③은 써요.</a:t>
            </a:r>
            <a:endParaRPr lang="ko-KR" sz="3200" dirty="0"/>
          </a:p>
        </p:txBody>
      </p:sp>
      <p:sp>
        <p:nvSpPr>
          <p:cNvPr id="4" name="S08-chip61"/>
          <p:cNvSpPr txBox="1"/>
          <p:nvPr/>
        </p:nvSpPr>
        <p:spPr>
          <a:xfrm>
            <a:off x="548640" y="2368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5" name="S08-word62"/>
          <p:cNvSpPr txBox="1"/>
          <p:nvPr/>
        </p:nvSpPr>
        <p:spPr>
          <a:xfrm>
            <a:off x="1344168" y="2011680"/>
            <a:ext cx="2606040" cy="1280160"/>
          </a:xfrm>
          <a:prstGeom prst="roundRect">
            <a:avLst>
              <a:gd name="adj" fmla="val 10000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우산</a:t>
            </a:r>
            <a:endParaRPr lang="ko-KR" sz="3600" dirty="0"/>
          </a:p>
        </p:txBody>
      </p:sp>
      <p:sp>
        <p:nvSpPr>
          <p:cNvPr id="6" name="S08-word63"/>
          <p:cNvSpPr txBox="1"/>
          <p:nvPr/>
        </p:nvSpPr>
        <p:spPr>
          <a:xfrm>
            <a:off x="4224528" y="2011680"/>
            <a:ext cx="2606040" cy="1280160"/>
          </a:xfrm>
          <a:prstGeom prst="roundRect">
            <a:avLst>
              <a:gd name="adj" fmla="val 10000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치마</a:t>
            </a:r>
            <a:endParaRPr lang="ko-KR" sz="3600" dirty="0"/>
          </a:p>
        </p:txBody>
      </p:sp>
      <p:sp>
        <p:nvSpPr>
          <p:cNvPr id="7" name="S08-chip64"/>
          <p:cNvSpPr txBox="1"/>
          <p:nvPr/>
        </p:nvSpPr>
        <p:spPr>
          <a:xfrm>
            <a:off x="548640" y="38313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8" name="S08-word65"/>
          <p:cNvSpPr txBox="1"/>
          <p:nvPr/>
        </p:nvSpPr>
        <p:spPr>
          <a:xfrm>
            <a:off x="1344168" y="3474720"/>
            <a:ext cx="2606040" cy="1280160"/>
          </a:xfrm>
          <a:prstGeom prst="roundRect">
            <a:avLst>
              <a:gd name="adj" fmla="val 10000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베개</a:t>
            </a:r>
            <a:endParaRPr lang="ko-KR" sz="3600" dirty="0"/>
          </a:p>
        </p:txBody>
      </p:sp>
      <p:sp>
        <p:nvSpPr>
          <p:cNvPr id="9" name="S08-word66"/>
          <p:cNvSpPr txBox="1"/>
          <p:nvPr/>
        </p:nvSpPr>
        <p:spPr>
          <a:xfrm>
            <a:off x="4224528" y="3474720"/>
            <a:ext cx="2606040" cy="1280160"/>
          </a:xfrm>
          <a:prstGeom prst="roundRect">
            <a:avLst>
              <a:gd name="adj" fmla="val 10000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휴지</a:t>
            </a:r>
            <a:endParaRPr lang="ko-KR" sz="3600" dirty="0"/>
          </a:p>
        </p:txBody>
      </p:sp>
      <p:sp>
        <p:nvSpPr>
          <p:cNvPr id="10" name="S08-chip67"/>
          <p:cNvSpPr txBox="1"/>
          <p:nvPr/>
        </p:nvSpPr>
        <p:spPr>
          <a:xfrm>
            <a:off x="548640" y="52943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11" name="S08-text68"/>
          <p:cNvSpPr txBox="1"/>
          <p:nvPr/>
        </p:nvSpPr>
        <p:spPr>
          <a:xfrm>
            <a:off x="1344168" y="493776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불러 주는 낱말을 써요.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어느 낱말일까요?</a:t>
            </a:r>
            <a:endParaRPr lang="ko-KR" sz="4400" dirty="0"/>
          </a:p>
        </p:txBody>
      </p:sp>
      <p:sp>
        <p:nvSpPr>
          <p:cNvPr id="3" name="S10-card69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0-cardtext70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엄마(아빠)가 말하는 낱말을 찾아 읽어요.</a:t>
            </a:r>
            <a:endParaRPr lang="ko-KR" sz="3200" dirty="0"/>
          </a:p>
        </p:txBody>
      </p:sp>
      <p:sp>
        <p:nvSpPr>
          <p:cNvPr id="5" name="S10-chip71"/>
          <p:cNvSpPr txBox="1"/>
          <p:nvPr/>
        </p:nvSpPr>
        <p:spPr>
          <a:xfrm>
            <a:off x="1991868" y="13258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3200" dirty="0"/>
          </a:p>
        </p:txBody>
      </p:sp>
      <p:sp>
        <p:nvSpPr>
          <p:cNvPr id="6" name="S10-word72"/>
          <p:cNvSpPr txBox="1"/>
          <p:nvPr/>
        </p:nvSpPr>
        <p:spPr>
          <a:xfrm>
            <a:off x="548640" y="2706624"/>
            <a:ext cx="3453384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바지</a:t>
            </a:r>
            <a:endParaRPr lang="ko-KR" sz="3600" dirty="0"/>
          </a:p>
        </p:txBody>
      </p:sp>
      <p:sp>
        <p:nvSpPr>
          <p:cNvPr id="7" name="S10-chip73"/>
          <p:cNvSpPr txBox="1"/>
          <p:nvPr/>
        </p:nvSpPr>
        <p:spPr>
          <a:xfrm>
            <a:off x="5811012" y="13258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3200" dirty="0"/>
          </a:p>
        </p:txBody>
      </p:sp>
      <p:sp>
        <p:nvSpPr>
          <p:cNvPr id="8" name="S10-word74"/>
          <p:cNvSpPr txBox="1"/>
          <p:nvPr/>
        </p:nvSpPr>
        <p:spPr>
          <a:xfrm>
            <a:off x="4367784" y="2706624"/>
            <a:ext cx="3453384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바다</a:t>
            </a:r>
            <a:endParaRPr lang="ko-KR" sz="3600" dirty="0"/>
          </a:p>
        </p:txBody>
      </p:sp>
      <p:sp>
        <p:nvSpPr>
          <p:cNvPr id="9" name="S10-chip75"/>
          <p:cNvSpPr txBox="1"/>
          <p:nvPr/>
        </p:nvSpPr>
        <p:spPr>
          <a:xfrm>
            <a:off x="9630156" y="13258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</a:t>
            </a:r>
            <a:endParaRPr lang="ko-KR" sz="3200" dirty="0"/>
          </a:p>
        </p:txBody>
      </p:sp>
      <p:sp>
        <p:nvSpPr>
          <p:cNvPr id="10" name="S10-word76"/>
          <p:cNvSpPr txBox="1"/>
          <p:nvPr/>
        </p:nvSpPr>
        <p:spPr>
          <a:xfrm>
            <a:off x="8186928" y="2706624"/>
            <a:ext cx="3453384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비누</a:t>
            </a:r>
            <a:endParaRPr lang="ko-KR" sz="3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400" dirty="0"/>
          </a:p>
        </p:txBody>
      </p:sp>
      <p:sp>
        <p:nvSpPr>
          <p:cNvPr id="3" name="S11-card77"/>
          <p:cNvSpPr/>
          <p:nvPr/>
        </p:nvSpPr>
        <p:spPr>
          <a:xfrm>
            <a:off x="548640" y="1325880"/>
            <a:ext cx="11091672" cy="1320800"/>
          </a:xfrm>
          <a:prstGeom prst="roundRect">
            <a:avLst>
              <a:gd name="adj" fmla="val 8308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11-cardtext78"/>
          <p:cNvSpPr txBox="1"/>
          <p:nvPr/>
        </p:nvSpPr>
        <p:spPr>
          <a:xfrm>
            <a:off x="822960" y="1463040"/>
            <a:ext cx="10543032" cy="1046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끝까지 읽으면 낱말의 뜻을 알고, 글자마다 소리를 들으면 받아쓸 수 있어요.</a:t>
            </a:r>
            <a:endParaRPr lang="ko-KR" sz="3200" dirty="0"/>
          </a:p>
        </p:txBody>
      </p:sp>
      <p:sp>
        <p:nvSpPr>
          <p:cNvPr id="5" name="S11-chip79"/>
          <p:cNvSpPr txBox="1"/>
          <p:nvPr/>
        </p:nvSpPr>
        <p:spPr>
          <a:xfrm>
            <a:off x="548640" y="287528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끝 글자까지 읽기</a:t>
            </a:r>
            <a:endParaRPr lang="ko-KR" sz="2600" dirty="0"/>
          </a:p>
        </p:txBody>
      </p:sp>
      <p:sp>
        <p:nvSpPr>
          <p:cNvPr id="6" name="S11-chip80"/>
          <p:cNvSpPr txBox="1"/>
          <p:nvPr/>
        </p:nvSpPr>
        <p:spPr>
          <a:xfrm>
            <a:off x="6208776" y="287528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첫 글자로 짐작하기</a:t>
            </a:r>
            <a:endParaRPr lang="ko-KR" sz="2600" dirty="0"/>
          </a:p>
        </p:txBody>
      </p:sp>
      <p:sp>
        <p:nvSpPr>
          <p:cNvPr id="7" name="S11-text81"/>
          <p:cNvSpPr txBox="1"/>
          <p:nvPr/>
        </p:nvSpPr>
        <p:spPr>
          <a:xfrm>
            <a:off x="548640" y="369824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600" dirty="0"/>
          </a:p>
        </p:txBody>
      </p:sp>
      <p:sp>
        <p:nvSpPr>
          <p:cNvPr id="8" name="S11-text82"/>
          <p:cNvSpPr txBox="1"/>
          <p:nvPr/>
        </p:nvSpPr>
        <p:spPr>
          <a:xfrm>
            <a:off x="548640" y="4201160"/>
            <a:ext cx="3544824" cy="1376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의자 수건 토끼</a:t>
            </a:r>
            <a:endParaRPr lang="ko-KR" sz="2600" dirty="0"/>
          </a:p>
        </p:txBody>
      </p:sp>
      <p:sp>
        <p:nvSpPr>
          <p:cNvPr id="9" name="S11-text83"/>
          <p:cNvSpPr txBox="1"/>
          <p:nvPr/>
        </p:nvSpPr>
        <p:spPr>
          <a:xfrm>
            <a:off x="4322064" y="4201160"/>
            <a:ext cx="3544824" cy="1376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[가방] 받아쓰기</a:t>
            </a:r>
            <a:endParaRPr lang="ko-KR" sz="2600" dirty="0"/>
          </a:p>
        </p:txBody>
      </p:sp>
      <p:sp>
        <p:nvSpPr>
          <p:cNvPr id="10" name="S11-text84"/>
          <p:cNvSpPr txBox="1"/>
          <p:nvPr/>
        </p:nvSpPr>
        <p:spPr>
          <a:xfrm>
            <a:off x="8095488" y="4201160"/>
            <a:ext cx="3544824" cy="1376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[바나나]는 몇 글자?</a:t>
            </a:r>
            <a:endParaRPr lang="ko-KR" sz="2600" dirty="0"/>
          </a:p>
        </p:txBody>
      </p:sp>
      <p:sp>
        <p:nvSpPr>
          <p:cNvPr id="11" name="S11-text85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문장으로 말하고 쓰기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쌍자음과 모음 다시</a:t>
            </a:r>
            <a:endParaRPr lang="ko-KR" sz="4400" dirty="0"/>
          </a:p>
        </p:txBody>
      </p:sp>
      <p:sp>
        <p:nvSpPr>
          <p:cNvPr id="3" name="S12-card86"/>
          <p:cNvSpPr/>
          <p:nvPr/>
        </p:nvSpPr>
        <p:spPr>
          <a:xfrm>
            <a:off x="548640" y="5349240"/>
            <a:ext cx="5431536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2-cardtext87"/>
          <p:cNvSpPr txBox="1"/>
          <p:nvPr/>
        </p:nvSpPr>
        <p:spPr>
          <a:xfrm>
            <a:off x="822960" y="5486400"/>
            <a:ext cx="488289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자음자 둘은 힘주어</a:t>
            </a:r>
            <a:endParaRPr lang="ko-KR" sz="3200" dirty="0"/>
          </a:p>
        </p:txBody>
      </p:sp>
      <p:sp>
        <p:nvSpPr>
          <p:cNvPr id="5" name="S12-card88"/>
          <p:cNvSpPr/>
          <p:nvPr/>
        </p:nvSpPr>
        <p:spPr>
          <a:xfrm>
            <a:off x="6208776" y="5349240"/>
            <a:ext cx="5431536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6" name="S12-cardtext89"/>
          <p:cNvSpPr txBox="1"/>
          <p:nvPr/>
        </p:nvSpPr>
        <p:spPr>
          <a:xfrm>
            <a:off x="6483096" y="5486400"/>
            <a:ext cx="488289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모음자 둘은 빨리 이어</a:t>
            </a:r>
            <a:endParaRPr lang="ko-KR" sz="3200" dirty="0"/>
          </a:p>
        </p:txBody>
      </p:sp>
      <p:sp>
        <p:nvSpPr>
          <p:cNvPr id="7" name="S12-tile90"/>
          <p:cNvSpPr txBox="1"/>
          <p:nvPr/>
        </p:nvSpPr>
        <p:spPr>
          <a:xfrm>
            <a:off x="1202436" y="2263140"/>
            <a:ext cx="1463040" cy="1463040"/>
          </a:xfrm>
          <a:prstGeom prst="roundRect">
            <a:avLst>
              <a:gd name="adj" fmla="val 875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6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까</a:t>
            </a:r>
            <a:endParaRPr lang="ko-KR" sz="6300" dirty="0"/>
          </a:p>
        </p:txBody>
      </p:sp>
      <p:sp>
        <p:nvSpPr>
          <p:cNvPr id="8" name="S12-label91"/>
          <p:cNvSpPr txBox="1"/>
          <p:nvPr/>
        </p:nvSpPr>
        <p:spPr>
          <a:xfrm>
            <a:off x="1101852" y="3762756"/>
            <a:ext cx="16642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[까]</a:t>
            </a:r>
            <a:endParaRPr lang="ko-KR" sz="2200" dirty="0"/>
          </a:p>
        </p:txBody>
      </p:sp>
      <p:sp>
        <p:nvSpPr>
          <p:cNvPr id="9" name="S12-tile92"/>
          <p:cNvSpPr txBox="1"/>
          <p:nvPr/>
        </p:nvSpPr>
        <p:spPr>
          <a:xfrm>
            <a:off x="2866644" y="2263140"/>
            <a:ext cx="1463040" cy="1463040"/>
          </a:xfrm>
          <a:prstGeom prst="roundRect">
            <a:avLst>
              <a:gd name="adj" fmla="val 875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6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따</a:t>
            </a:r>
            <a:endParaRPr lang="ko-KR" sz="6300" dirty="0"/>
          </a:p>
        </p:txBody>
      </p:sp>
      <p:sp>
        <p:nvSpPr>
          <p:cNvPr id="10" name="S12-label93"/>
          <p:cNvSpPr txBox="1"/>
          <p:nvPr/>
        </p:nvSpPr>
        <p:spPr>
          <a:xfrm>
            <a:off x="2766060" y="3762756"/>
            <a:ext cx="16642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[따]</a:t>
            </a:r>
            <a:endParaRPr lang="ko-KR" sz="2200" dirty="0"/>
          </a:p>
        </p:txBody>
      </p:sp>
      <p:sp>
        <p:nvSpPr>
          <p:cNvPr id="11" name="S12-tile94"/>
          <p:cNvSpPr txBox="1"/>
          <p:nvPr/>
        </p:nvSpPr>
        <p:spPr>
          <a:xfrm>
            <a:off x="4530852" y="2263140"/>
            <a:ext cx="1463040" cy="1463040"/>
          </a:xfrm>
          <a:prstGeom prst="roundRect">
            <a:avLst>
              <a:gd name="adj" fmla="val 875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6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빠</a:t>
            </a:r>
            <a:endParaRPr lang="ko-KR" sz="6300" dirty="0"/>
          </a:p>
        </p:txBody>
      </p:sp>
      <p:sp>
        <p:nvSpPr>
          <p:cNvPr id="12" name="S12-label95"/>
          <p:cNvSpPr txBox="1"/>
          <p:nvPr/>
        </p:nvSpPr>
        <p:spPr>
          <a:xfrm>
            <a:off x="4430268" y="3762756"/>
            <a:ext cx="16642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[빠]</a:t>
            </a:r>
            <a:endParaRPr lang="ko-KR" sz="2200" dirty="0"/>
          </a:p>
        </p:txBody>
      </p:sp>
      <p:sp>
        <p:nvSpPr>
          <p:cNvPr id="13" name="S12-tile96"/>
          <p:cNvSpPr txBox="1"/>
          <p:nvPr/>
        </p:nvSpPr>
        <p:spPr>
          <a:xfrm>
            <a:off x="6195060" y="2263140"/>
            <a:ext cx="1463040" cy="1463040"/>
          </a:xfrm>
          <a:prstGeom prst="roundRect">
            <a:avLst>
              <a:gd name="adj" fmla="val 875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6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</a:t>
            </a:r>
            <a:endParaRPr lang="ko-KR" sz="6300" dirty="0"/>
          </a:p>
        </p:txBody>
      </p:sp>
      <p:sp>
        <p:nvSpPr>
          <p:cNvPr id="14" name="S12-label97"/>
          <p:cNvSpPr txBox="1"/>
          <p:nvPr/>
        </p:nvSpPr>
        <p:spPr>
          <a:xfrm>
            <a:off x="6094476" y="3762756"/>
            <a:ext cx="16642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[개]</a:t>
            </a:r>
            <a:endParaRPr lang="ko-KR" sz="2200" dirty="0"/>
          </a:p>
        </p:txBody>
      </p:sp>
      <p:sp>
        <p:nvSpPr>
          <p:cNvPr id="15" name="S12-tile98"/>
          <p:cNvSpPr txBox="1"/>
          <p:nvPr/>
        </p:nvSpPr>
        <p:spPr>
          <a:xfrm>
            <a:off x="7859268" y="2263140"/>
            <a:ext cx="1463040" cy="1463040"/>
          </a:xfrm>
          <a:prstGeom prst="roundRect">
            <a:avLst>
              <a:gd name="adj" fmla="val 875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6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과</a:t>
            </a:r>
            <a:endParaRPr lang="ko-KR" sz="6300" dirty="0"/>
          </a:p>
        </p:txBody>
      </p:sp>
      <p:sp>
        <p:nvSpPr>
          <p:cNvPr id="16" name="S12-label99"/>
          <p:cNvSpPr txBox="1"/>
          <p:nvPr/>
        </p:nvSpPr>
        <p:spPr>
          <a:xfrm>
            <a:off x="7758684" y="3762756"/>
            <a:ext cx="16642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[과]</a:t>
            </a:r>
            <a:endParaRPr lang="ko-KR" sz="2200" dirty="0"/>
          </a:p>
        </p:txBody>
      </p:sp>
      <p:sp>
        <p:nvSpPr>
          <p:cNvPr id="17" name="S12-tile100"/>
          <p:cNvSpPr txBox="1"/>
          <p:nvPr/>
        </p:nvSpPr>
        <p:spPr>
          <a:xfrm>
            <a:off x="9523476" y="2263140"/>
            <a:ext cx="1463040" cy="1463040"/>
          </a:xfrm>
          <a:prstGeom prst="roundRect">
            <a:avLst>
              <a:gd name="adj" fmla="val 875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6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의</a:t>
            </a:r>
            <a:endParaRPr lang="ko-KR" sz="6300" dirty="0"/>
          </a:p>
        </p:txBody>
      </p:sp>
      <p:sp>
        <p:nvSpPr>
          <p:cNvPr id="18" name="S12-label101"/>
          <p:cNvSpPr txBox="1"/>
          <p:nvPr/>
        </p:nvSpPr>
        <p:spPr>
          <a:xfrm>
            <a:off x="9422892" y="3762756"/>
            <a:ext cx="16642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[의]</a:t>
            </a:r>
            <a:endParaRPr lang="ko-KR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초1 국어 낱말 읽고 쓰기</dc:title>
  <dc:subject>KR22-G01-KOR-WORDS-L01</dc:subject>
  <dc:creator>education-ppt</dc:creator>
  <cp:lastModifiedBy>education-ppt</cp:lastModifiedBy>
  <cp:revision>1</cp:revision>
  <dcterms:created xsi:type="dcterms:W3CDTF">2026-10-26T07:13:51Z</dcterms:created>
  <dcterms:modified xsi:type="dcterms:W3CDTF">2026-10-26T07:13:51Z</dcterms:modified>
</cp:coreProperties>
</file>