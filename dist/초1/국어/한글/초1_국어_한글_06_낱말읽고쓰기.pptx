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4295ea0-debb-bc4f-bd21-f7e0bdd5237d}">
          <p14:sldIdLst>
            <p14:sldId id="256"/>
            <p14:sldId id="257"/>
          </p14:sldIdLst>
        </p14:section>
        <p14:section name="개념" id="{37063e63-6eab-6a4d-f885-86e2861389eb}">
          <p14:sldIdLst>
            <p14:sldId id="258"/>
            <p14:sldId id="261"/>
          </p14:sldIdLst>
        </p14:section>
        <p14:section name="연습" id="{370a2736-e8f0-3669-dc3b-93573eb987e9}">
          <p14:sldIdLst>
            <p14:sldId id="259"/>
            <p14:sldId id="260"/>
            <p14:sldId id="262"/>
          </p14:sldIdLst>
        </p14:section>
        <p14:section name="개념" id="{17267e99-50be-4396-29e9-406026674164}">
          <p14:sldIdLst/>
        </p14:section>
        <p14:section name="연습" id="{da309ccd-8ab9-7ba6-91c3-16b78a59019b}">
          <p14:sldIdLst/>
        </p14:section>
        <p14:section name="확인" id="{f99e0c5f-5d5e-6367-a9a4-75eb63f3436d}">
          <p14:sldIdLst>
            <p14:sldId id="263"/>
            <p14:sldId id="264"/>
            <p14:sldId id="265"/>
          </p14:sldIdLst>
        </p14:section>
        <p14:section name="정리" id="{0500bf9c-8280-372c-ecfb-5883f5e69e85}">
          <p14:sldIdLst>
            <p14:sldId id="266"/>
          </p14:sldIdLst>
        </p14:section>
        <p14:section name="보충" id="{43115f6b-5655-74ac-412d-2382d4f6680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지금까지 배운 글자로 낱말을 읽고 쓸 수 있다는 것을 알려 줍니다.
시간: 약 2분
이렇게 말해 보세요
- “오른쪽 낱말을 읽어 볼래? 무엇을 가리키는 말일까?”
- “오늘은 낱말을 읽고 그 물건을 찾는 놀이와 받아쓰기를 할 거야.”
예상 답
- “[컵], [양말]이요.”
주의
- 수업 전에 S04에 쓸 물건(컵, 공, 모자, 수건, 가방, 의자)과 종이 낱말 카드를 준비해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확인(쌍자음·모음·받침)]
목적: 앞 차시(쌍자음과 여러 가지 모음)와 받침 글자를 읽을 수 있는지 확인합니다.
시간: 약 3분
이렇게 말해 보세요
- “①의 글자를 하나씩 읽어 볼래?”
- “②의 낱말도 읽어 줘.”
정답
- ① [꼬] [배] [과]
- ② [곰] [우산]
막히면
- [꼬]를 [고]로 읽으면 “ㄱ이 몇 개야?”, [과]를 [고]로 읽으면 “모음자 두 개를 빨리 이어 봐”라고 묻습니다.
- 다섯 개 중 둘 이상 읽지 못하면 S12(보충)를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낱말 읽고 물건 찾기 시범]
목적: 부모가 생각을 소리 내어 말하며 낱말을 읽고 물건과 연결하는 과정을 보여 줍니다.
시간: 약 3분
이렇게 말해 보세요
- “엄마(아빠)가 먼저 해 볼게. 첫 글자는 ㅇ, ㅑ, 받침 ㅇ이니까 [양]. 다음 글자는 ㅁ, ㅏ, 받침 ㄹ이니까 [말].”
- “이어서 읽으면 [양말]! 발에 신는 양말이구나. 양말이 어디 있지? 서랍에서 찾아볼까?”
- “이번엔 네가 해 볼 차례야.”
예상 답
- 아이가 [양말]을 따라 읽고 양말을 가리킵니다.
막히면
- 글자를 손가락으로 하나씩 가리며 함께 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낱말 읽고 물건과 짝 짓기]
목적: 낱말을 읽고 실제 물건과 짝 지어 글자와 뜻을 연결합니다.
시간: 약 6분
이렇게 말해 보세요
- “식탁에 물건을 놓아 두었어. 낱말 카드를 하나 골라 읽고, 그 물건 위에 카드를 놓아 봐.”
- “어떻게 읽었어? 한 글자씩 짚으면서 말해 줄래?”
정답
- [컵] → 컵, [공] → 공, [모자] → 모자, [수건] → 수건, [가방] → 가방, [의자] → 의자
막히면
- 물건을 먼저 보지 말고 카드를 끝까지 읽은 뒤 찾게 합니다(M1).
- 없는 물건은 쓴 대로 소리 나는 다른 낱말(바지, 양말, 우산 등)과 그 물건으로 바꿉니다.
주의
- 아이가 물건을 보고 카드를 짐작해 놓으면 “카드를 소리 내어 읽어 줄래?”라고 꼭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오개념 비교(첫 글자로 짐작하기)]
목적: 첫 글자만 보고 짐작하면 다른 낱말이 된다는 것을 확인합니다(M1).
시간: 약 3분
이렇게 말해 보세요
- “두 낱말을 읽어 볼래? 첫 글자는 같은데 무엇이 달라?”
- “친구는 왜 [가지]라고 읽었을까?”
정답
- 첫째는 [가방], 둘째는 [가지]입니다. 첫 글자 ‘가’는 같고 둘째 글자(방, 지)가 다릅니다.
- 친구는 첫 글자만 보고 짐작해서 틀렸습니다. 끝 글자까지 읽어야 합니다.
막히면
- 둘째 글자만 손가락으로 짚고 읽게 합니다. “이 글자는? [방]. 이 글자는? [지].”
주의
- 여기까지가 읽기입니다. 아이가 지치면 여기서 나누어 다음 날 S06(받아쓰기)부터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받아쓰기 방법]
목적: 들은 낱말을 글자 단위로 나누고, 글자마다 첫소리·모음·받침을 생각하며 쓰는 방법을 보여 줍니다.
시간: 약 4분
이렇게 말해 보세요
- “[수건]. 따라 말해 봐. 손뼉 치며 말하면 [수] 짝, [건] 짝. 두 번 쳤으니까 글자가 두 개야.”
- “첫 글자 [수]: 처음 소리 [스]는 ㅅ, [우]는 ㅜ, 끝소리가 없으니 받침 없음. 그래서 ‘수’.”
- “다음 글자 [건]: 처음 [그]는 ㄱ, [어]는 ㅓ, 끝소리 [은]은 받침 ㄴ. 그래서 ‘건’. 다 쓰고 다시 읽어 보자. [수건]!”
예상 답
- 아이가 손뼉을 두 번 치고 ‘수건’을 씁니다.
막히면
- 글자 하나를 쓸 때마다 그 글자 소리를 크게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글자 수 세고 받아쓰기]
목적: 도움을 받으며 글자 수를 세고 받침까지 받아씁니다(M2, M3).
시간: 약 5분
이렇게 말해 보세요
- “①은 [우유]. 손뼉 치며 말해 볼래? 몇 글자야? 화면의 칸 수와 같아?”
- “②는 [바나나], ③은 [연필]. 한 글자씩 소리 내며 써 봐.”
정답
- ① 우유(2글자)
- ② 바나나(3글자)
- ③ 연필(2글자, 받침 ㄴ과 ㄹ)
막히면
- ③에서 받침을 빠뜨리면 “[연]에서 끝에 혀가 어디에 닿아?”, “[필]은 끝소리가 뭐야?”라고 묻습니다.
- 글자 수를 틀리면 부모가 손뼉을 함께 치며 천천히 다시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혼자 읽고 받아쓰기]
목적: 도움 없이 낱말을 읽고 뜻을 말하며, 불러 주는 낱말을 받아쓰는지 확인합니다.
시간: 약 5분
이렇게 말해 보세요
- “이번에는 혼자 해 볼래? ①과 ②를 읽고 무엇인지 말하거나 그 물건을 찾아 줘.”
- “③은 엄마(아빠)가 말하는 낱말을 종이에 써 봐. [사과]… 이번엔 [장갑].”
정답
- ① [우산] [치마]
- ② [베개] [휴지]
- ③ 사과, 장갑(받침 ㅇ, ㅂ까지)
막히면
- 낱말을 한 번 더 천천히 불러 줍니다. 글자 수를 손뼉으로 세게 해도 됩니다.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정답과 피드백]
목적: 아이의 답을 확인하고 흔한 실수와 비교합니다.
시간: 약 2분
이렇게 말해 보세요
- “네가 읽은 것과 쓴 것을 왼쪽과 비교해 보자.”
- “오른쪽처럼 쓰면 무엇이 빠졌을까?”
예상 답
- “장가는 받침 ㅂ이 없어요.”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마무리 확인]
목적: 첫 글자가 비슷한 낱말 가운데에서 끝까지 읽어 알맞은 낱말을 찾는지 확인합니다.
시간: 약 2분
이렇게 말해 보세요
- “[비누]는 가, 나, 다 중에서 어느 것일까? 찾아서 읽어 줘.”
- “이번에는 [바다]!”
정답
- [비누] → 다, [바다] → 나. 가는 [바지]입니다.
막히면
- 둘째 글자를 손가락으로 짚어 읽게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다음 학습과 복습]
목적: 한글 단원을 마무리하고 다음 수업 첫 5분에 풀 복습을 알려 줍니다.
시간: 약 2분
이렇게 말해 보세요
- “오늘 배운 것을 말해 볼래? 낱말을 읽을 때 무엇을 조심해야 할까? 받아쓸 때는?”
- “이제 모음자, 자음자, 받침까지 다 배웠어. 다음 시간에는 낱말을 이어서 문장을 만들 거야.”
예상 답
- “끝까지 읽어요.” “손뼉 치며 글자 수를 세요.”
정답
- ① [의자] [수건] [토끼] ② 가방 ③ 세 글자
주의
- 활동지 1~4는 수업을 마친 뒤 이어서 하거나 다음 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선수 학습 보충(쌍자음·여러 가지 모음)]
목적: S02에서 쌍자음자나 새 모음자를 읽지 못하면 앞 차시 ‘쌍자음과 여러 가지 모음’의 핵심을 다시 익힙니다.
시간: 약 5분
이렇게 말해 보세요
- “ㄱ이 둘이면 목에 힘을 꽉 줘서 [까]. ㄷ이 둘이면 [따], ㅂ이 둘이면 [빠].”
- “ㅘ는 [오]에서 [아]로 빨리. 그래서 [과]. ㅢ는 [으]에서 [이]로 빨리. [의].”
정답
- [까] [따] [빠] [개] [과] [의]
막히면
- 휴지를 입 앞에 대고 [가]와 [까]를 비교합니다.
주의
- 보충으로도 절반 넘게 읽지 못하면 앞 차시 ‘쌍자음과 여러 가지 모음’을 다시 한 뒤 이 차시를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한글 · 6차시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낱말 읽고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낱말 읽고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낱말 읽고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 읽고 쓰기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낱말은 무엇을 가리킬까요?</a:t>
            </a:r>
            <a:endParaRPr lang="ko-KR" sz="32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</a:t>
            </a:r>
            <a:endParaRPr lang="ko-KR" sz="36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</a:t>
            </a:r>
            <a:endParaRPr lang="ko-KR" sz="3600" dirty="0"/>
          </a:p>
        </p:txBody>
      </p:sp>
      <p:sp>
        <p:nvSpPr>
          <p:cNvPr id="6" name="S01-card3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낱말을 읽고 그 물건을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불러 주는 낱말을 받아써요.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글자를 읽어요</a:t>
            </a:r>
            <a:endParaRPr lang="ko-KR" sz="44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내어 읽어요.</a:t>
            </a:r>
            <a:endParaRPr lang="ko-KR" sz="32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ile7"/>
          <p:cNvSpPr txBox="1"/>
          <p:nvPr/>
        </p:nvSpPr>
        <p:spPr>
          <a:xfrm>
            <a:off x="1344168" y="21092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</a:t>
            </a:r>
            <a:endParaRPr lang="ko-KR" sz="5500" dirty="0"/>
          </a:p>
        </p:txBody>
      </p:sp>
      <p:sp>
        <p:nvSpPr>
          <p:cNvPr id="6" name="S02-tile8"/>
          <p:cNvSpPr txBox="1"/>
          <p:nvPr/>
        </p:nvSpPr>
        <p:spPr>
          <a:xfrm>
            <a:off x="2813304" y="21092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</a:t>
            </a:r>
            <a:endParaRPr lang="ko-KR" sz="5500" dirty="0"/>
          </a:p>
        </p:txBody>
      </p:sp>
      <p:sp>
        <p:nvSpPr>
          <p:cNvPr id="7" name="S02-tile9"/>
          <p:cNvSpPr txBox="1"/>
          <p:nvPr/>
        </p:nvSpPr>
        <p:spPr>
          <a:xfrm>
            <a:off x="4282440" y="21092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</a:t>
            </a:r>
            <a:endParaRPr lang="ko-KR" sz="5500" dirty="0"/>
          </a:p>
        </p:txBody>
      </p:sp>
      <p:sp>
        <p:nvSpPr>
          <p:cNvPr id="8" name="S02-chip1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word11"/>
          <p:cNvSpPr txBox="1"/>
          <p:nvPr/>
        </p:nvSpPr>
        <p:spPr>
          <a:xfrm>
            <a:off x="1344168" y="4206240"/>
            <a:ext cx="1965960" cy="1463040"/>
          </a:xfrm>
          <a:prstGeom prst="roundRect">
            <a:avLst>
              <a:gd name="adj" fmla="val 875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3600" dirty="0"/>
          </a:p>
        </p:txBody>
      </p:sp>
      <p:sp>
        <p:nvSpPr>
          <p:cNvPr id="10" name="S02-word12"/>
          <p:cNvSpPr txBox="1"/>
          <p:nvPr/>
        </p:nvSpPr>
        <p:spPr>
          <a:xfrm>
            <a:off x="3584448" y="4206240"/>
            <a:ext cx="1965960" cy="1463040"/>
          </a:xfrm>
          <a:prstGeom prst="roundRect">
            <a:avLst>
              <a:gd name="adj" fmla="val 875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 찾는 방법</a:t>
            </a:r>
            <a:endParaRPr lang="ko-KR" sz="4400" dirty="0"/>
          </a:p>
        </p:txBody>
      </p:sp>
      <p:sp>
        <p:nvSpPr>
          <p:cNvPr id="3" name="S03-word13"/>
          <p:cNvSpPr txBox="1"/>
          <p:nvPr/>
        </p:nvSpPr>
        <p:spPr>
          <a:xfrm>
            <a:off x="6920911" y="2903220"/>
            <a:ext cx="4719401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[양] + [말]</a:t>
            </a:r>
            <a:endParaRPr lang="ko-KR" sz="3600" dirty="0"/>
          </a:p>
        </p:txBody>
      </p:sp>
      <p:sp>
        <p:nvSpPr>
          <p:cNvPr id="4" name="S03-stepno14"/>
          <p:cNvSpPr txBox="1"/>
          <p:nvPr/>
        </p:nvSpPr>
        <p:spPr>
          <a:xfrm>
            <a:off x="548640" y="27843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5" name="S03-text15"/>
          <p:cNvSpPr txBox="1"/>
          <p:nvPr/>
        </p:nvSpPr>
        <p:spPr>
          <a:xfrm>
            <a:off x="1325880" y="278434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글자씩 소리 내어 읽어요.</a:t>
            </a:r>
            <a:endParaRPr lang="ko-KR" sz="3200" dirty="0"/>
          </a:p>
        </p:txBody>
      </p:sp>
      <p:sp>
        <p:nvSpPr>
          <p:cNvPr id="6" name="S03-stepno16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7" name="S03-text17"/>
          <p:cNvSpPr txBox="1"/>
          <p:nvPr/>
        </p:nvSpPr>
        <p:spPr>
          <a:xfrm>
            <a:off x="1325880" y="349758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이어서 다시 읽어요.</a:t>
            </a:r>
            <a:endParaRPr lang="ko-KR" sz="3200" dirty="0"/>
          </a:p>
        </p:txBody>
      </p:sp>
      <p:sp>
        <p:nvSpPr>
          <p:cNvPr id="8" name="S03-stepno18"/>
          <p:cNvSpPr txBox="1"/>
          <p:nvPr/>
        </p:nvSpPr>
        <p:spPr>
          <a:xfrm>
            <a:off x="548640" y="4210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9" name="S03-text19"/>
          <p:cNvSpPr txBox="1"/>
          <p:nvPr/>
        </p:nvSpPr>
        <p:spPr>
          <a:xfrm>
            <a:off x="1325880" y="421081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무엇인지 떠올려 찾아요.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찾아요</a:t>
            </a:r>
            <a:endParaRPr lang="ko-KR" sz="4400" dirty="0"/>
          </a:p>
        </p:txBody>
      </p:sp>
      <p:sp>
        <p:nvSpPr>
          <p:cNvPr id="3" name="S04-text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읽고, 그 물건에 카드를 놓아요.</a:t>
            </a:r>
            <a:endParaRPr lang="ko-KR" sz="3200" dirty="0"/>
          </a:p>
        </p:txBody>
      </p:sp>
      <p:sp>
        <p:nvSpPr>
          <p:cNvPr id="4" name="S04-word21"/>
          <p:cNvSpPr txBox="1"/>
          <p:nvPr/>
        </p:nvSpPr>
        <p:spPr>
          <a:xfrm>
            <a:off x="548640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</a:t>
            </a:r>
            <a:endParaRPr lang="ko-KR" sz="3600" dirty="0"/>
          </a:p>
        </p:txBody>
      </p:sp>
      <p:sp>
        <p:nvSpPr>
          <p:cNvPr id="5" name="S04-word22"/>
          <p:cNvSpPr txBox="1"/>
          <p:nvPr/>
        </p:nvSpPr>
        <p:spPr>
          <a:xfrm>
            <a:off x="4337304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</a:t>
            </a:r>
            <a:endParaRPr lang="ko-KR" sz="3600" dirty="0"/>
          </a:p>
        </p:txBody>
      </p:sp>
      <p:sp>
        <p:nvSpPr>
          <p:cNvPr id="6" name="S04-word23"/>
          <p:cNvSpPr txBox="1"/>
          <p:nvPr/>
        </p:nvSpPr>
        <p:spPr>
          <a:xfrm>
            <a:off x="8125968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모자</a:t>
            </a:r>
            <a:endParaRPr lang="ko-KR" sz="3600" dirty="0"/>
          </a:p>
        </p:txBody>
      </p:sp>
      <p:sp>
        <p:nvSpPr>
          <p:cNvPr id="7" name="S04-word24"/>
          <p:cNvSpPr txBox="1"/>
          <p:nvPr/>
        </p:nvSpPr>
        <p:spPr>
          <a:xfrm>
            <a:off x="548640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</a:t>
            </a:r>
            <a:endParaRPr lang="ko-KR" sz="3600" dirty="0"/>
          </a:p>
        </p:txBody>
      </p:sp>
      <p:sp>
        <p:nvSpPr>
          <p:cNvPr id="8" name="S04-word25"/>
          <p:cNvSpPr txBox="1"/>
          <p:nvPr/>
        </p:nvSpPr>
        <p:spPr>
          <a:xfrm>
            <a:off x="4337304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</a:t>
            </a:r>
            <a:endParaRPr lang="ko-KR" sz="3600" dirty="0"/>
          </a:p>
        </p:txBody>
      </p:sp>
      <p:sp>
        <p:nvSpPr>
          <p:cNvPr id="9" name="S04-word26"/>
          <p:cNvSpPr txBox="1"/>
          <p:nvPr/>
        </p:nvSpPr>
        <p:spPr>
          <a:xfrm>
            <a:off x="8125968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읽어요</a:t>
            </a:r>
            <a:endParaRPr lang="ko-KR" sz="4400" dirty="0"/>
          </a:p>
        </p:txBody>
      </p:sp>
      <p:sp>
        <p:nvSpPr>
          <p:cNvPr id="3" name="S05-card2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2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‘가방’을 보고 [가지]라고 읽었어요.</a:t>
            </a:r>
            <a:endParaRPr lang="ko-KR" sz="3200" dirty="0"/>
          </a:p>
        </p:txBody>
      </p:sp>
      <p:sp>
        <p:nvSpPr>
          <p:cNvPr id="5" name="S05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낱말은 무엇이 다른가요? 친구는 왜 틀렸을까요?</a:t>
            </a:r>
            <a:endParaRPr lang="ko-KR" sz="3200" dirty="0"/>
          </a:p>
        </p:txBody>
      </p:sp>
      <p:sp>
        <p:nvSpPr>
          <p:cNvPr id="7" name="S05-chip3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 낱말</a:t>
            </a:r>
            <a:endParaRPr lang="ko-KR" sz="2600" dirty="0"/>
          </a:p>
        </p:txBody>
      </p:sp>
      <p:sp>
        <p:nvSpPr>
          <p:cNvPr id="8" name="S05-word32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</a:t>
            </a:r>
            <a:endParaRPr lang="ko-KR" sz="3600" dirty="0"/>
          </a:p>
        </p:txBody>
      </p:sp>
      <p:sp>
        <p:nvSpPr>
          <p:cNvPr id="9" name="S05-chip3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낱말</a:t>
            </a:r>
            <a:endParaRPr lang="ko-KR" sz="2600" dirty="0"/>
          </a:p>
        </p:txBody>
      </p:sp>
      <p:sp>
        <p:nvSpPr>
          <p:cNvPr id="10" name="S05-word34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받아쓰기 방법</a:t>
            </a:r>
            <a:endParaRPr lang="ko-KR" sz="4400" dirty="0"/>
          </a:p>
        </p:txBody>
      </p:sp>
      <p:sp>
        <p:nvSpPr>
          <p:cNvPr id="3" name="S06-tile35"/>
          <p:cNvSpPr txBox="1"/>
          <p:nvPr/>
        </p:nvSpPr>
        <p:spPr>
          <a:xfrm>
            <a:off x="7716987" y="281178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ko-KR" sz="6300" dirty="0"/>
          </a:p>
        </p:txBody>
      </p:sp>
      <p:sp>
        <p:nvSpPr>
          <p:cNvPr id="4" name="S06-label36"/>
          <p:cNvSpPr txBox="1"/>
          <p:nvPr/>
        </p:nvSpPr>
        <p:spPr>
          <a:xfrm>
            <a:off x="7616403" y="431139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짝!</a:t>
            </a:r>
            <a:endParaRPr lang="ko-KR" sz="2200" dirty="0"/>
          </a:p>
        </p:txBody>
      </p:sp>
      <p:sp>
        <p:nvSpPr>
          <p:cNvPr id="5" name="S06-tile37"/>
          <p:cNvSpPr txBox="1"/>
          <p:nvPr/>
        </p:nvSpPr>
        <p:spPr>
          <a:xfrm>
            <a:off x="9381195" y="281178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</a:t>
            </a:r>
            <a:endParaRPr lang="ko-KR" sz="6300" dirty="0"/>
          </a:p>
        </p:txBody>
      </p:sp>
      <p:sp>
        <p:nvSpPr>
          <p:cNvPr id="6" name="S06-label38"/>
          <p:cNvSpPr txBox="1"/>
          <p:nvPr/>
        </p:nvSpPr>
        <p:spPr>
          <a:xfrm>
            <a:off x="9280611" y="431139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짝!</a:t>
            </a:r>
            <a:endParaRPr lang="ko-KR" sz="2200" dirty="0"/>
          </a:p>
        </p:txBody>
      </p:sp>
      <p:sp>
        <p:nvSpPr>
          <p:cNvPr id="7" name="S06-stepno39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6-text40"/>
          <p:cNvSpPr txBox="1"/>
          <p:nvPr/>
        </p:nvSpPr>
        <p:spPr>
          <a:xfrm>
            <a:off x="1325880" y="242773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따라 말해요.</a:t>
            </a:r>
            <a:endParaRPr lang="ko-KR" sz="3200" dirty="0"/>
          </a:p>
        </p:txBody>
      </p:sp>
      <p:sp>
        <p:nvSpPr>
          <p:cNvPr id="9" name="S06-stepno41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6-text42"/>
          <p:cNvSpPr txBox="1"/>
          <p:nvPr/>
        </p:nvSpPr>
        <p:spPr>
          <a:xfrm>
            <a:off x="1325880" y="3140964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 치며 글자 수를 세요.</a:t>
            </a:r>
            <a:endParaRPr lang="ko-KR" sz="3200" dirty="0"/>
          </a:p>
        </p:txBody>
      </p:sp>
      <p:sp>
        <p:nvSpPr>
          <p:cNvPr id="11" name="S06-stepno43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6-text44"/>
          <p:cNvSpPr txBox="1"/>
          <p:nvPr/>
        </p:nvSpPr>
        <p:spPr>
          <a:xfrm>
            <a:off x="1325880" y="3854196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글자씩 소리 내며 써요.</a:t>
            </a:r>
            <a:endParaRPr lang="ko-KR" sz="3200" dirty="0"/>
          </a:p>
        </p:txBody>
      </p:sp>
      <p:sp>
        <p:nvSpPr>
          <p:cNvPr id="13" name="S06-stepno45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6-text46"/>
          <p:cNvSpPr txBox="1"/>
          <p:nvPr/>
        </p:nvSpPr>
        <p:spPr>
          <a:xfrm>
            <a:off x="1325880" y="456742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쓰고 다시 읽어요.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수를 세고 써요</a:t>
            </a:r>
            <a:endParaRPr lang="ko-KR" sz="4400" dirty="0"/>
          </a:p>
        </p:txBody>
      </p:sp>
      <p:sp>
        <p:nvSpPr>
          <p:cNvPr id="3" name="S07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 치며 세고, 종이에 한 글자씩 써요.</a:t>
            </a:r>
            <a:endParaRPr lang="ko-KR" sz="3200" dirty="0"/>
          </a:p>
        </p:txBody>
      </p:sp>
      <p:sp>
        <p:nvSpPr>
          <p:cNvPr id="4" name="S07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끝소리를 잘 들어요. 받침이 있나요?</a:t>
            </a:r>
            <a:endParaRPr lang="ko-KR" sz="3200" dirty="0"/>
          </a:p>
        </p:txBody>
      </p:sp>
      <p:sp>
        <p:nvSpPr>
          <p:cNvPr id="6" name="S07-chip5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tile51"/>
          <p:cNvSpPr txBox="1"/>
          <p:nvPr/>
        </p:nvSpPr>
        <p:spPr>
          <a:xfrm>
            <a:off x="2432304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8" name="S07-tile52"/>
          <p:cNvSpPr txBox="1"/>
          <p:nvPr/>
        </p:nvSpPr>
        <p:spPr>
          <a:xfrm>
            <a:off x="3547872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9" name="S07-chip5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0" name="S07-tile54"/>
          <p:cNvSpPr txBox="1"/>
          <p:nvPr/>
        </p:nvSpPr>
        <p:spPr>
          <a:xfrm>
            <a:off x="1874520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11" name="S07-tile55"/>
          <p:cNvSpPr txBox="1"/>
          <p:nvPr/>
        </p:nvSpPr>
        <p:spPr>
          <a:xfrm>
            <a:off x="2990088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12" name="S07-tile56"/>
          <p:cNvSpPr txBox="1"/>
          <p:nvPr/>
        </p:nvSpPr>
        <p:spPr>
          <a:xfrm>
            <a:off x="4105656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13" name="S07-chip5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4" name="S07-tile58"/>
          <p:cNvSpPr txBox="1"/>
          <p:nvPr/>
        </p:nvSpPr>
        <p:spPr>
          <a:xfrm>
            <a:off x="2432304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15" name="S07-tile59"/>
          <p:cNvSpPr txBox="1"/>
          <p:nvPr/>
        </p:nvSpPr>
        <p:spPr>
          <a:xfrm>
            <a:off x="3547872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8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읽고 무엇인지 말해요. ③은 써요.</a:t>
            </a:r>
            <a:endParaRPr lang="ko-KR" sz="3200" dirty="0"/>
          </a:p>
        </p:txBody>
      </p:sp>
      <p:sp>
        <p:nvSpPr>
          <p:cNvPr id="4" name="S08-chip6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8-word62"/>
          <p:cNvSpPr txBox="1"/>
          <p:nvPr/>
        </p:nvSpPr>
        <p:spPr>
          <a:xfrm>
            <a:off x="1344168" y="2011680"/>
            <a:ext cx="196596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</a:t>
            </a:r>
            <a:endParaRPr lang="ko-KR" sz="3600" dirty="0"/>
          </a:p>
        </p:txBody>
      </p:sp>
      <p:sp>
        <p:nvSpPr>
          <p:cNvPr id="6" name="S08-word63"/>
          <p:cNvSpPr txBox="1"/>
          <p:nvPr/>
        </p:nvSpPr>
        <p:spPr>
          <a:xfrm>
            <a:off x="3584448" y="2011680"/>
            <a:ext cx="196596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치마</a:t>
            </a:r>
            <a:endParaRPr lang="ko-KR" sz="3600" dirty="0"/>
          </a:p>
        </p:txBody>
      </p:sp>
      <p:sp>
        <p:nvSpPr>
          <p:cNvPr id="7" name="S08-chip6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8-word65"/>
          <p:cNvSpPr txBox="1"/>
          <p:nvPr/>
        </p:nvSpPr>
        <p:spPr>
          <a:xfrm>
            <a:off x="1344168" y="3474720"/>
            <a:ext cx="196596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베개</a:t>
            </a:r>
            <a:endParaRPr lang="ko-KR" sz="3600" dirty="0"/>
          </a:p>
        </p:txBody>
      </p:sp>
      <p:sp>
        <p:nvSpPr>
          <p:cNvPr id="9" name="S08-word66"/>
          <p:cNvSpPr txBox="1"/>
          <p:nvPr/>
        </p:nvSpPr>
        <p:spPr>
          <a:xfrm>
            <a:off x="3584448" y="3474720"/>
            <a:ext cx="196596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</a:t>
            </a:r>
            <a:endParaRPr lang="ko-KR" sz="3600" dirty="0"/>
          </a:p>
        </p:txBody>
      </p:sp>
      <p:sp>
        <p:nvSpPr>
          <p:cNvPr id="10" name="S08-chip6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8-text68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불러 주는 낱말을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400" dirty="0"/>
          </a:p>
        </p:txBody>
      </p:sp>
      <p:sp>
        <p:nvSpPr>
          <p:cNvPr id="3" name="S09-card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읽고, 글자마다 소리를 들으며 써요.</a:t>
            </a:r>
            <a:endParaRPr lang="ko-KR" sz="3200" dirty="0"/>
          </a:p>
        </p:txBody>
      </p:sp>
      <p:sp>
        <p:nvSpPr>
          <p:cNvPr id="5" name="S09-chip7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09-text72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 치마 베개 휴지</a:t>
            </a:r>
            <a:endParaRPr lang="ko-KR" sz="3200" dirty="0"/>
          </a:p>
        </p:txBody>
      </p:sp>
      <p:sp>
        <p:nvSpPr>
          <p:cNvPr id="7" name="S09-text73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 글자까지 읽어요</a:t>
            </a:r>
            <a:endParaRPr lang="ko-KR" sz="2600" dirty="0"/>
          </a:p>
        </p:txBody>
      </p:sp>
      <p:sp>
        <p:nvSpPr>
          <p:cNvPr id="8" name="S09-text74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 · 장갑</a:t>
            </a:r>
            <a:endParaRPr lang="ko-KR" sz="3200" dirty="0"/>
          </a:p>
        </p:txBody>
      </p:sp>
      <p:sp>
        <p:nvSpPr>
          <p:cNvPr id="9" name="S09-text75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받침까지 써요</a:t>
            </a:r>
            <a:endParaRPr lang="ko-KR" sz="2600" dirty="0"/>
          </a:p>
        </p:txBody>
      </p:sp>
      <p:sp>
        <p:nvSpPr>
          <p:cNvPr id="10" name="S09-chip7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1" name="S09-text77"/>
          <p:cNvSpPr txBox="1"/>
          <p:nvPr/>
        </p:nvSpPr>
        <p:spPr>
          <a:xfrm>
            <a:off x="6277356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[휴가]</a:t>
            </a:r>
            <a:endParaRPr lang="ko-KR" sz="3200" dirty="0"/>
          </a:p>
        </p:txBody>
      </p:sp>
      <p:sp>
        <p:nvSpPr>
          <p:cNvPr id="12" name="S09-text78"/>
          <p:cNvSpPr txBox="1"/>
          <p:nvPr/>
        </p:nvSpPr>
        <p:spPr>
          <a:xfrm>
            <a:off x="9095994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글자로 짐작함</a:t>
            </a:r>
            <a:endParaRPr lang="ko-KR" sz="2600" dirty="0"/>
          </a:p>
        </p:txBody>
      </p:sp>
      <p:sp>
        <p:nvSpPr>
          <p:cNvPr id="13" name="S09-text79"/>
          <p:cNvSpPr txBox="1"/>
          <p:nvPr/>
        </p:nvSpPr>
        <p:spPr>
          <a:xfrm>
            <a:off x="6277356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</a:t>
            </a:r>
            <a:endParaRPr lang="ko-KR" sz="3200" dirty="0"/>
          </a:p>
        </p:txBody>
      </p:sp>
      <p:sp>
        <p:nvSpPr>
          <p:cNvPr id="14" name="S09-text80"/>
          <p:cNvSpPr txBox="1"/>
          <p:nvPr/>
        </p:nvSpPr>
        <p:spPr>
          <a:xfrm>
            <a:off x="9095994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ㅘ를 ㅗ로 씀</a:t>
            </a:r>
            <a:endParaRPr lang="ko-KR" sz="2600" dirty="0"/>
          </a:p>
        </p:txBody>
      </p:sp>
      <p:sp>
        <p:nvSpPr>
          <p:cNvPr id="15" name="S09-text81"/>
          <p:cNvSpPr txBox="1"/>
          <p:nvPr/>
        </p:nvSpPr>
        <p:spPr>
          <a:xfrm>
            <a:off x="6277356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장가</a:t>
            </a:r>
            <a:endParaRPr lang="ko-KR" sz="3200" dirty="0"/>
          </a:p>
        </p:txBody>
      </p:sp>
      <p:sp>
        <p:nvSpPr>
          <p:cNvPr id="16" name="S09-text82"/>
          <p:cNvSpPr txBox="1"/>
          <p:nvPr/>
        </p:nvSpPr>
        <p:spPr>
          <a:xfrm>
            <a:off x="9095994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ㅂ을 빠뜨림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낱말일까요?</a:t>
            </a:r>
            <a:endParaRPr lang="ko-KR" sz="4400" dirty="0"/>
          </a:p>
        </p:txBody>
      </p:sp>
      <p:sp>
        <p:nvSpPr>
          <p:cNvPr id="3" name="S10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낱말을 찾아 읽어요.</a:t>
            </a:r>
            <a:endParaRPr lang="ko-KR" sz="3200" dirty="0"/>
          </a:p>
        </p:txBody>
      </p:sp>
      <p:sp>
        <p:nvSpPr>
          <p:cNvPr id="5" name="S10-chip85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0-word86"/>
          <p:cNvSpPr txBox="1"/>
          <p:nvPr/>
        </p:nvSpPr>
        <p:spPr>
          <a:xfrm>
            <a:off x="548640" y="2706624"/>
            <a:ext cx="345338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바지</a:t>
            </a:r>
            <a:endParaRPr lang="ko-KR" sz="3600" dirty="0"/>
          </a:p>
        </p:txBody>
      </p:sp>
      <p:sp>
        <p:nvSpPr>
          <p:cNvPr id="7" name="S10-chip87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" name="S10-word88"/>
          <p:cNvSpPr txBox="1"/>
          <p:nvPr/>
        </p:nvSpPr>
        <p:spPr>
          <a:xfrm>
            <a:off x="4367784" y="2706624"/>
            <a:ext cx="345338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3600" dirty="0"/>
          </a:p>
        </p:txBody>
      </p:sp>
      <p:sp>
        <p:nvSpPr>
          <p:cNvPr id="9" name="S10-chip89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0" name="S10-word90"/>
          <p:cNvSpPr txBox="1"/>
          <p:nvPr/>
        </p:nvSpPr>
        <p:spPr>
          <a:xfrm>
            <a:off x="8186928" y="2706624"/>
            <a:ext cx="345338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1-card91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1-cardtext92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읽으면 낱말의 뜻을 알고, 글자마다 소리를 들으면 받아쓸 수 있어요.</a:t>
            </a:r>
            <a:endParaRPr lang="ko-KR" sz="3200" dirty="0"/>
          </a:p>
        </p:txBody>
      </p:sp>
      <p:sp>
        <p:nvSpPr>
          <p:cNvPr id="5" name="S11-chip93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끝 글자까지 읽기</a:t>
            </a:r>
            <a:endParaRPr lang="ko-KR" sz="2600" dirty="0"/>
          </a:p>
        </p:txBody>
      </p:sp>
      <p:sp>
        <p:nvSpPr>
          <p:cNvPr id="6" name="S11-chip94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첫 글자로 짐작하기</a:t>
            </a:r>
            <a:endParaRPr lang="ko-KR" sz="2600" dirty="0"/>
          </a:p>
        </p:txBody>
      </p:sp>
      <p:sp>
        <p:nvSpPr>
          <p:cNvPr id="7" name="S11-text95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1-text96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의자 수건 토끼</a:t>
            </a:r>
            <a:endParaRPr lang="ko-KR" sz="2600" dirty="0"/>
          </a:p>
        </p:txBody>
      </p:sp>
      <p:sp>
        <p:nvSpPr>
          <p:cNvPr id="9" name="S11-text97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[가방] 받아쓰기</a:t>
            </a:r>
            <a:endParaRPr lang="ko-KR" sz="2600" dirty="0"/>
          </a:p>
        </p:txBody>
      </p:sp>
      <p:sp>
        <p:nvSpPr>
          <p:cNvPr id="10" name="S11-text98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[바나나]는 몇 글자?</a:t>
            </a:r>
            <a:endParaRPr lang="ko-KR" sz="2600" dirty="0"/>
          </a:p>
        </p:txBody>
      </p:sp>
      <p:sp>
        <p:nvSpPr>
          <p:cNvPr id="11" name="S11-text9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문장으로 말하고 쓰기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쌍자음과 모음 다시</a:t>
            </a:r>
            <a:endParaRPr lang="ko-KR" sz="4400" dirty="0"/>
          </a:p>
        </p:txBody>
      </p:sp>
      <p:sp>
        <p:nvSpPr>
          <p:cNvPr id="3" name="S12-card100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01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자음자 둘은 힘주어</a:t>
            </a:r>
            <a:endParaRPr lang="ko-KR" sz="3200" dirty="0"/>
          </a:p>
        </p:txBody>
      </p:sp>
      <p:sp>
        <p:nvSpPr>
          <p:cNvPr id="5" name="S12-card102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2-cardtext103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모음자 둘은 빨리 이어</a:t>
            </a:r>
            <a:endParaRPr lang="ko-KR" sz="3200" dirty="0"/>
          </a:p>
        </p:txBody>
      </p:sp>
      <p:sp>
        <p:nvSpPr>
          <p:cNvPr id="7" name="S12-tile104"/>
          <p:cNvSpPr txBox="1"/>
          <p:nvPr/>
        </p:nvSpPr>
        <p:spPr>
          <a:xfrm>
            <a:off x="1202436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</a:t>
            </a:r>
            <a:endParaRPr lang="ko-KR" sz="6300" dirty="0"/>
          </a:p>
        </p:txBody>
      </p:sp>
      <p:sp>
        <p:nvSpPr>
          <p:cNvPr id="8" name="S12-label105"/>
          <p:cNvSpPr txBox="1"/>
          <p:nvPr/>
        </p:nvSpPr>
        <p:spPr>
          <a:xfrm>
            <a:off x="1101852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[까]</a:t>
            </a:r>
            <a:endParaRPr lang="ko-KR" sz="2200" dirty="0"/>
          </a:p>
        </p:txBody>
      </p:sp>
      <p:sp>
        <p:nvSpPr>
          <p:cNvPr id="9" name="S12-tile106"/>
          <p:cNvSpPr txBox="1"/>
          <p:nvPr/>
        </p:nvSpPr>
        <p:spPr>
          <a:xfrm>
            <a:off x="2866644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</a:t>
            </a:r>
            <a:endParaRPr lang="ko-KR" sz="6300" dirty="0"/>
          </a:p>
        </p:txBody>
      </p:sp>
      <p:sp>
        <p:nvSpPr>
          <p:cNvPr id="10" name="S12-label107"/>
          <p:cNvSpPr txBox="1"/>
          <p:nvPr/>
        </p:nvSpPr>
        <p:spPr>
          <a:xfrm>
            <a:off x="2766060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[따]</a:t>
            </a:r>
            <a:endParaRPr lang="ko-KR" sz="2200" dirty="0"/>
          </a:p>
        </p:txBody>
      </p:sp>
      <p:sp>
        <p:nvSpPr>
          <p:cNvPr id="11" name="S12-tile108"/>
          <p:cNvSpPr txBox="1"/>
          <p:nvPr/>
        </p:nvSpPr>
        <p:spPr>
          <a:xfrm>
            <a:off x="4530852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</a:t>
            </a:r>
            <a:endParaRPr lang="ko-KR" sz="6300" dirty="0"/>
          </a:p>
        </p:txBody>
      </p:sp>
      <p:sp>
        <p:nvSpPr>
          <p:cNvPr id="12" name="S12-label109"/>
          <p:cNvSpPr txBox="1"/>
          <p:nvPr/>
        </p:nvSpPr>
        <p:spPr>
          <a:xfrm>
            <a:off x="4430268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[빠]</a:t>
            </a:r>
            <a:endParaRPr lang="ko-KR" sz="2200" dirty="0"/>
          </a:p>
        </p:txBody>
      </p:sp>
      <p:sp>
        <p:nvSpPr>
          <p:cNvPr id="13" name="S12-tile110"/>
          <p:cNvSpPr txBox="1"/>
          <p:nvPr/>
        </p:nvSpPr>
        <p:spPr>
          <a:xfrm>
            <a:off x="6195060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</a:t>
            </a:r>
            <a:endParaRPr lang="ko-KR" sz="6300" dirty="0"/>
          </a:p>
        </p:txBody>
      </p:sp>
      <p:sp>
        <p:nvSpPr>
          <p:cNvPr id="14" name="S12-label111"/>
          <p:cNvSpPr txBox="1"/>
          <p:nvPr/>
        </p:nvSpPr>
        <p:spPr>
          <a:xfrm>
            <a:off x="6094476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[개]</a:t>
            </a:r>
            <a:endParaRPr lang="ko-KR" sz="2200" dirty="0"/>
          </a:p>
        </p:txBody>
      </p:sp>
      <p:sp>
        <p:nvSpPr>
          <p:cNvPr id="15" name="S12-tile112"/>
          <p:cNvSpPr txBox="1"/>
          <p:nvPr/>
        </p:nvSpPr>
        <p:spPr>
          <a:xfrm>
            <a:off x="7859268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</a:t>
            </a:r>
            <a:endParaRPr lang="ko-KR" sz="6300" dirty="0"/>
          </a:p>
        </p:txBody>
      </p:sp>
      <p:sp>
        <p:nvSpPr>
          <p:cNvPr id="16" name="S12-label113"/>
          <p:cNvSpPr txBox="1"/>
          <p:nvPr/>
        </p:nvSpPr>
        <p:spPr>
          <a:xfrm>
            <a:off x="7758684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[과]</a:t>
            </a:r>
            <a:endParaRPr lang="ko-KR" sz="2200" dirty="0"/>
          </a:p>
        </p:txBody>
      </p:sp>
      <p:sp>
        <p:nvSpPr>
          <p:cNvPr id="17" name="S12-tile114"/>
          <p:cNvSpPr txBox="1"/>
          <p:nvPr/>
        </p:nvSpPr>
        <p:spPr>
          <a:xfrm>
            <a:off x="9523476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</a:t>
            </a:r>
            <a:endParaRPr lang="ko-KR" sz="6300" dirty="0"/>
          </a:p>
        </p:txBody>
      </p:sp>
      <p:sp>
        <p:nvSpPr>
          <p:cNvPr id="18" name="S12-label115"/>
          <p:cNvSpPr txBox="1"/>
          <p:nvPr/>
        </p:nvSpPr>
        <p:spPr>
          <a:xfrm>
            <a:off x="9422892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[의]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낱말 읽고 쓰기</dc:title>
  <dc:subject>KR22-G01-KOR-WORDS-L01</dc:subject>
  <dc:creator>education-ppt</dc:creator>
  <cp:lastModifiedBy>education-ppt</cp:lastModifiedBy>
  <cp:revision>1</cp:revision>
  <dcterms:created xsi:type="dcterms:W3CDTF">2026-10-26T07:10:11Z</dcterms:created>
  <dcterms:modified xsi:type="dcterms:W3CDTF">2026-10-26T07:10:11Z</dcterms:modified>
</cp:coreProperties>
</file>