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a4fd3fb-f714-6ea6-a29a-669aba204fc0}">
          <p14:sldIdLst>
            <p14:sldId id="256"/>
            <p14:sldId id="257"/>
          </p14:sldIdLst>
        </p14:section>
        <p14:section name="개념" id="{3941725d-253b-3d86-9715-1bf085b9087c}">
          <p14:sldIdLst>
            <p14:sldId id="258"/>
            <p14:sldId id="259"/>
            <p14:sldId id="260"/>
          </p14:sldIdLst>
        </p14:section>
        <p14:section name="연습" id="{2bcbe6a8-365e-ce4e-6d95-a4c6548b0dc8}">
          <p14:sldIdLst>
            <p14:sldId id="261"/>
            <p14:sldId id="262"/>
            <p14:sldId id="263"/>
            <p14:sldId id="264"/>
          </p14:sldIdLst>
        </p14:section>
        <p14:section name="확인" id="{f1c33001-759e-ff90-0130-0a1133f49063}">
          <p14:sldIdLst>
            <p14:sldId id="265"/>
            <p14:sldId id="266"/>
            <p14:sldId id="267"/>
          </p14:sldIdLst>
        </p14:section>
        <p14:section name="정리" id="{36d55575-75a5-8780-5101-b23bd60999e8}">
          <p14:sldIdLst>
            <p14:sldId id="268"/>
          </p14:sldIdLst>
        </p14:section>
        <p14:section name="보충" id="{f42e6760-1624-88b1-926c-fdb127804c1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자음자와 모음자가 만나 글자가 된다는 것에 관심을 갖게 합니다.
시간: 약 2분
이렇게 말해 보세요
- “지금까지 모음자와 자음자를 배웠지? 오늘은 둘이 만나서 글자가 되는 걸 볼 거야.”
- “ㄱ과 ㅏ가 만나면 어떤 소리가 날 것 같아?”
예상 답
- “[가]요.” “몰라요.”
주의
- 아이가 [기역아]처럼 말해도 고치지 말고 들어 둡니다. S03에서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확인(자음자·모음자)]
목적: 앞 차시의 자음자 이름·소리와 모음자 소리를 기억하는지 확인합니다. 글자를 합쳐 읽으려면 두 가지 소리를 모두 알아야 합니다.
시간: 약 3분
이렇게 말해 보세요
- “①의 글자들은 이름이 뭐야? 소리는 어떻게 나?”
- “②의 모음자는 어떤 소리야?”
정답
- ① ㄴ 니은 [느], ㅁ 미음 [므], ㅅ 시옷 [스]
- ② ㅏ [아], ㅗ [오], ㅣ [이]
막히면
- 자음자 소리를 내지 못하면 S14(보충)를 먼저 합니다.
- 모음자 소리를 셋 중 둘 이상 틀리면 앞 차시 ‘기본 모음’의 S04를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소리 이어 읽기 시범]
목적: 자음자 소리와 모음자 소리를 이어 한 글자로 읽는 방법을 시범으로 보여 줍니다(M1).
시간: 약 4분
이렇게 말해 보세요
- “엄마(아빠)가 먼저 해 볼게. ㄱ은 [그], ㅏ는 [아]. 천천히 이으면 [그…아], 조금 빨리 [그아], 아주 빨리 [가]!”
- “[으]는 사라지고 [가]만 남았지? 이번엔 네가 ㄴ과 ㅏ를 이어 볼래? [느]… [아]… ”
- “ㅁ과 ㅏ는? ㅅ과 ㅏ는?”
예상 답
- ㄴ+ㅏ [나], ㅁ+ㅏ [마], ㅅ+ㅏ [사]
막히면
- 자음자 카드와 모음자 카드를 멀리 두었다가 천천히 붙이며 소리도 점점 빨리 이어 말합니다.
- [가]는 혀 뒤쪽을 입천장에 붙였다 떼면서 입을 크게 벌리는 소리입니다. 거울을 보며 함께 합니다.
주의
- [기역아]처럼 이름을 넣어 읽으면 “글자를 읽을 때는 이름 말고 소리를 써”라고 알려 줍니다(M2).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자음자를 놓는 자리]
목적: 모음자의 모양(서 있는지, 누워 있는지)에 따라 자음자를 놓는 자리가 달라진다는 것을 압니다.
시간: 약 4분
이렇게 말해 보세요
- “ㅏ, ㅓ, ㅣ는 서 있는 모음자야. 이때는 자음자를 왼쪽에, 모음자를 오른쪽에 써. 그래서 ㄱ과 ㅏ는 ‘가’.”
- “ㅗ, ㅜ, ㅡ는 누운 모음자야. 이때는 자음자를 위에, 모음자를 아래에 써. 그래서 ㄱ과 ㅗ는 ‘고’.”
- “오른쪽 글자들을 읽어 볼까? [고], [누], [드].”
예상 답
- [가] [너] [미] / [고] [누] [드]
막히면
- 자음자 카드를 모음자 카드 옆에 놓아 보고, 누운 모음자일 때는 위에 놓아 보게 합니다.
- ㅑ ㅕ도 서 있는 모음자, ㅛ ㅠ도 누운 모음자라는 것은 막대를 보며 함께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글자 표 읽기 시범]
목적: 가로줄의 자음자와 세로줄의 모음자가 만나 글자가 되는 것을 표로 보여 주고 읽는 시범을 합니다.
시간: 약 4분
이렇게 말해 보세요
- “맨 왼쪽은 자음자, 맨 위는 모음자야. ㄱ 줄을 따라가며 읽어 볼게. [가, 거, 고, 구, 기].”
- “이번엔 ㅏ 칸을 위에서 아래로 읽어 보자. [가, 나, 다, 라, 마].”
- “ㄴ 줄은 네가 읽어 볼래?”
예상 답
- ㄴ 줄: [나, 너, 노, 누, 니]
막히면
- 부모가 한 손으로 자음자를, 다른 손으로 모음자를 짚고 두 손가락이 만나는 칸을 짚어 줍니다.
- [러]와 [로]처럼 헷갈리면 모음자 칸의 소리를 먼저 말하게 한 뒤 앞에 자음자 소리를 붙입니다.
주의
- ㄹ 줄은 혀끝으로 윗잇몸을 살짝 튕기며 [라]라고 소리 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두 글자 낱말 읽기]
목적: 두 글자를 이어 읽어 뜻이 있는 낱말을 처음으로 읽어 봅니다.
시간: 약 3분
이렇게 말해 보세요
- “한 글자씩 읽고, 이어서 다시 읽어 봐. 무엇인지 알겠어?”
- “[나]… [무]… [나무]! 나무가 뭐지? 손으로 보여 줄래?”
정답
- [나무] [거미] [고기] [다리] [머리] [구두]
막히면
- S05의 표에서 그 글자를 찾아 짚게 한 뒤 읽습니다.
- 다리·머리는 몸을 짚게 하고, 구두는 신발장에서 찾아보게 하면 뜻과 연결됩니다.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빈칸 글자 만들기]
목적: 줄의 자음자와 칸의 모음자를 합쳐 빈칸의 글자를 스스로 만들어 읽습니다.
시간: 약 4분
이렇게 말해 보세요
- “ㅂ 줄, ㅓ 칸이 만나면? [브]와 [어]를 빨리 이어 봐.”
- “ㅇ 줄은 특별해. ㅇ은 앞에서 소리가 없으니까 모음자 소리 그대로야.”
정답
- ㅂ 줄: 버, 부 / ㅅ 줄: 사, 시 / ㅇ 줄: 어, 우
- ㅈ 줄: 조, 지 / ㅎ 줄: 하, 후
막히면
- 빈칸 바로 옆 글자를 먼저 읽게 합니다. “바 옆은? 모음자만 바뀌었어.”
- 도움을 받아 해결했다면 S10에서 비슷한 글자를 한 번 더 확인합니다.
주의
- 여기까지가 읽기입니다. 아이가 지치면 여기서 나누어 다음 날 S08(쓰기)부터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글자 만들어 쓰기]
목적: 모음자의 모양을 보고 자음자를 놓을 자리를 정해 글자를 씁니다.
시간: 약 4분
이렇게 말해 보세요
- “①은 ㅍ과 ㅏ야. ㅏ는 서 있어, 누워 있어? 그럼 ㅍ을 어디에 쓸까?”
- “다 쓰면 소리 내어 읽어 봐.”
정답
- ① 파 [파] (자음자 왼쪽)
- ② 토 [토] (자음자 위)
- ③ 치 [치] (자음자 왼쪽)
- ④ 쿠 [쿠] (자음자 위)
막히면
- 자음자 카드와 모음자 카드로 먼저 자리를 놓아 보고 씁니다.
- ㅊ ㅋ ㅌ ㅍ의 소리가 헷갈리면 이름의 첫소리(치읓 → [츠])를 떠올리게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비교(누운 모음자의 자리)]
목적: 누운 모음자를 자음자 옆에 나란히 쓰는 실수(M3)를 바로잡습니다.
시간: 약 3분
이렇게 말해 보세요
- “ㄱ과 ㅗ를 합친 글자야. 가와 나 중에서 바르게 쓴 것은?”
- “ㅗ는 서 있어, 누워 있어?”
정답
- 나. ㅗ는 누운 모음자라서 ㄱ을 위에, ㅗ를 아래에 씁니다. 가는 두 글자를 나란히 놓기만 한 것입니다.
막히면
- S04를 다시 보여 주고 ‘누운 모음자’ 쪽 글자들을 손가락으로 따라 그리게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읽고 쓰기]
목적: 도움 없이 받침 없는 낱말을 읽고, 불러 주는 글자를 바른 자리로 쓰는지 확인합니다.
시간: 약 4분
이렇게 말해 보세요
- “이번에는 혼자 해 볼래? ①과 ②의 낱말을 읽고 무엇인지 말해 줘.”
- “③은 엄마(아빠)가 말하는 글자를 종이에 써 봐. [도]… 이번엔 [시].”
정답
- ① [하마] [모자]
- ② [기차] [오이] (오이의 ㅇ은 소리가 없습니다)
- ③ 도(ㄷ을 위에, ㅗ를 아래에), 시(ㅅ을 왼쪽에, ㅣ를 오른쪽에)
막히면
- 한 글자씩 손가락으로 가리고 읽게 한 뒤 이어 읽게 합니다.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2분
이렇게 말해 보세요
- “네가 읽은 것과 쓴 것을 왼쪽과 비교해 보자.”
- “오른쪽처럼 하면 무엇이 이상할까?”
예상 답
- “[흐아마]는 소리를 끊었어요.” “ㅗ는 아래에 써야 해요.”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확인]
목적: 처음 보는 낱말을 읽고 소리와 연결하는지 확인합니다.
시간: 약 2분
이렇게 말해 보세요
- “‘포도’는 가, 나, 다 중에서 어느 것일까? 찾아서 읽어 줘.”
- “이번에는 ‘나비’!”
정답
- 포도 → 다, 나비 → 가. 나는 [사자]입니다.
막히면
- 첫 글자만 먼저 읽게 합니다. “[포]로 시작하는 낱말은?”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복습을 알려 줍니다.
시간: 약 2분
이렇게 말해 보세요
- “오늘 배운 것을 말해 볼래? ㄱ과 ㅏ가 만나면?”
- “ㅗ 같은 누운 모음자는 자음자의 어디에 써?”
예상 답
- “[가]예요.” “아래에 써요.”
정답
- ① [나무] [거미] [하마] [오이] ② 고(ㄱ 위, ㅗ 아래) ③ 보
주의
- 활동지 1~4는 수업을 마친 뒤 이어서 하거나 다음 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보충(자음자 소리)]
목적: S02에서 자음자 소리를 내지 못하면 앞 차시 ‘기본 자음’의 핵심(이름의 첫소리 = 소리)을 다시 익힙니다.
시간: 약 5분
이렇게 말해 보세요
- “기역을 천천히 말해 봐. 맨 앞 소리는? [그]. 니은은? [느].”
- “엄마(아빠)가 짚는 자음자의 소리를 짧게 말해 줘.”
정답
- ㄱ [그] ㄴ [느] ㄷ [드] ㅁ [므] ㅅ [스] ㅎ [흐]
막히면
- 이름을 먼저 말하게 하고 첫소리만 떼어 내게 합니다(디귿 → [드]).
주의
- 보충으로도 자음자 이름을 절반 넘게 모르면 앞 차시 ‘기본 자음’을 다시 한 뒤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한글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받침 없는 글자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받침 없는 글자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받침 없는 글자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없는 글자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ㄱ과 ㅏ가 만나면 어떤 소리가 날까요?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7936992" y="160020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4400" dirty="0"/>
          </a:p>
        </p:txBody>
      </p:sp>
      <p:sp>
        <p:nvSpPr>
          <p:cNvPr id="5" name="S01-tile2"/>
          <p:cNvSpPr txBox="1"/>
          <p:nvPr/>
        </p:nvSpPr>
        <p:spPr>
          <a:xfrm>
            <a:off x="9144000" y="160020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4400" dirty="0"/>
          </a:p>
        </p:txBody>
      </p:sp>
      <p:sp>
        <p:nvSpPr>
          <p:cNvPr id="6" name="S01-tile3"/>
          <p:cNvSpPr txBox="1"/>
          <p:nvPr/>
        </p:nvSpPr>
        <p:spPr>
          <a:xfrm>
            <a:off x="10351008" y="160020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4400" dirty="0"/>
          </a:p>
        </p:txBody>
      </p:sp>
      <p:sp>
        <p:nvSpPr>
          <p:cNvPr id="7" name="S01-card4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자음자와 모음자를 합쳐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받침 없는 글자를 바르게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이름과 소리 말하기</a:t>
            </a:r>
            <a:endParaRPr lang="ko-KR" sz="4400" dirty="0"/>
          </a:p>
        </p:txBody>
      </p:sp>
      <p:sp>
        <p:nvSpPr>
          <p:cNvPr id="3" name="S02-text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이름과 소리, ②는 소리를 말해요.</a:t>
            </a:r>
            <a:endParaRPr lang="ko-KR" sz="3200" dirty="0"/>
          </a:p>
        </p:txBody>
      </p:sp>
      <p:sp>
        <p:nvSpPr>
          <p:cNvPr id="4" name="S02-chip7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ile8"/>
          <p:cNvSpPr txBox="1"/>
          <p:nvPr/>
        </p:nvSpPr>
        <p:spPr>
          <a:xfrm>
            <a:off x="1828800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5900" dirty="0"/>
          </a:p>
        </p:txBody>
      </p:sp>
      <p:sp>
        <p:nvSpPr>
          <p:cNvPr id="6" name="S02-tile9"/>
          <p:cNvSpPr txBox="1"/>
          <p:nvPr/>
        </p:nvSpPr>
        <p:spPr>
          <a:xfrm>
            <a:off x="3401568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5900" dirty="0"/>
          </a:p>
        </p:txBody>
      </p:sp>
      <p:sp>
        <p:nvSpPr>
          <p:cNvPr id="7" name="S02-tile10"/>
          <p:cNvSpPr txBox="1"/>
          <p:nvPr/>
        </p:nvSpPr>
        <p:spPr>
          <a:xfrm>
            <a:off x="4974336" y="23317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5900" dirty="0"/>
          </a:p>
        </p:txBody>
      </p:sp>
      <p:sp>
        <p:nvSpPr>
          <p:cNvPr id="8" name="S02-chip11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ile12"/>
          <p:cNvSpPr txBox="1"/>
          <p:nvPr/>
        </p:nvSpPr>
        <p:spPr>
          <a:xfrm>
            <a:off x="1828800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5900" dirty="0"/>
          </a:p>
        </p:txBody>
      </p:sp>
      <p:sp>
        <p:nvSpPr>
          <p:cNvPr id="10" name="S02-tile13"/>
          <p:cNvSpPr txBox="1"/>
          <p:nvPr/>
        </p:nvSpPr>
        <p:spPr>
          <a:xfrm>
            <a:off x="3401568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5900" dirty="0"/>
          </a:p>
        </p:txBody>
      </p:sp>
      <p:sp>
        <p:nvSpPr>
          <p:cNvPr id="11" name="S02-tile14"/>
          <p:cNvSpPr txBox="1"/>
          <p:nvPr/>
        </p:nvSpPr>
        <p:spPr>
          <a:xfrm>
            <a:off x="4974336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ㅣ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이어요</a:t>
            </a:r>
            <a:endParaRPr lang="ko-KR" sz="4400" dirty="0"/>
          </a:p>
        </p:txBody>
      </p:sp>
      <p:sp>
        <p:nvSpPr>
          <p:cNvPr id="3" name="S03-tile15"/>
          <p:cNvSpPr txBox="1"/>
          <p:nvPr/>
        </p:nvSpPr>
        <p:spPr>
          <a:xfrm>
            <a:off x="7022043" y="28575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5900" dirty="0"/>
          </a:p>
        </p:txBody>
      </p:sp>
      <p:sp>
        <p:nvSpPr>
          <p:cNvPr id="4" name="S03-label16"/>
          <p:cNvSpPr txBox="1"/>
          <p:nvPr/>
        </p:nvSpPr>
        <p:spPr>
          <a:xfrm>
            <a:off x="6921459" y="426567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[그]</a:t>
            </a:r>
            <a:endParaRPr lang="ko-KR" sz="2200" dirty="0"/>
          </a:p>
        </p:txBody>
      </p:sp>
      <p:sp>
        <p:nvSpPr>
          <p:cNvPr id="5" name="S03-tile17"/>
          <p:cNvSpPr txBox="1"/>
          <p:nvPr/>
        </p:nvSpPr>
        <p:spPr>
          <a:xfrm>
            <a:off x="8594811" y="28575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5900" dirty="0"/>
          </a:p>
        </p:txBody>
      </p:sp>
      <p:sp>
        <p:nvSpPr>
          <p:cNvPr id="6" name="S03-label18"/>
          <p:cNvSpPr txBox="1"/>
          <p:nvPr/>
        </p:nvSpPr>
        <p:spPr>
          <a:xfrm>
            <a:off x="8494227" y="426567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[아]</a:t>
            </a:r>
            <a:endParaRPr lang="ko-KR" sz="2200" dirty="0"/>
          </a:p>
        </p:txBody>
      </p:sp>
      <p:sp>
        <p:nvSpPr>
          <p:cNvPr id="7" name="S03-tile19"/>
          <p:cNvSpPr txBox="1"/>
          <p:nvPr/>
        </p:nvSpPr>
        <p:spPr>
          <a:xfrm>
            <a:off x="10167579" y="28575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5900" dirty="0"/>
          </a:p>
        </p:txBody>
      </p:sp>
      <p:sp>
        <p:nvSpPr>
          <p:cNvPr id="8" name="S03-label20"/>
          <p:cNvSpPr txBox="1"/>
          <p:nvPr/>
        </p:nvSpPr>
        <p:spPr>
          <a:xfrm>
            <a:off x="10066995" y="426567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[가]</a:t>
            </a:r>
            <a:endParaRPr lang="ko-KR" sz="2200" dirty="0"/>
          </a:p>
        </p:txBody>
      </p:sp>
      <p:sp>
        <p:nvSpPr>
          <p:cNvPr id="9" name="S03-stepno21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0" name="S03-text22"/>
          <p:cNvSpPr txBox="1"/>
          <p:nvPr/>
        </p:nvSpPr>
        <p:spPr>
          <a:xfrm>
            <a:off x="1325880" y="278434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 소리 [그]를 짧게 내요.</a:t>
            </a:r>
            <a:endParaRPr lang="ko-KR" sz="3200" dirty="0"/>
          </a:p>
        </p:txBody>
      </p:sp>
      <p:sp>
        <p:nvSpPr>
          <p:cNvPr id="11" name="S03-stepno23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2" name="S03-text24"/>
          <p:cNvSpPr txBox="1"/>
          <p:nvPr/>
        </p:nvSpPr>
        <p:spPr>
          <a:xfrm>
            <a:off x="1325880" y="349758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ㅏ 소리 [아]를 붙여요.</a:t>
            </a:r>
            <a:endParaRPr lang="ko-KR" sz="3200" dirty="0"/>
          </a:p>
        </p:txBody>
      </p:sp>
      <p:sp>
        <p:nvSpPr>
          <p:cNvPr id="13" name="S03-stepno25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4" name="S03-text26"/>
          <p:cNvSpPr txBox="1"/>
          <p:nvPr/>
        </p:nvSpPr>
        <p:spPr>
          <a:xfrm>
            <a:off x="1325880" y="421081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붙이면 [가]!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자음자는 어디에 쓸까요?</a:t>
            </a:r>
            <a:endParaRPr lang="ko-KR" sz="4400" dirty="0"/>
          </a:p>
        </p:txBody>
      </p:sp>
      <p:sp>
        <p:nvSpPr>
          <p:cNvPr id="3" name="S04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 있으면 옆에, 누워 있으면 아래에 모음자를 써요.</a:t>
            </a:r>
            <a:endParaRPr lang="ko-KR" sz="3200" dirty="0"/>
          </a:p>
        </p:txBody>
      </p:sp>
      <p:sp>
        <p:nvSpPr>
          <p:cNvPr id="5" name="S04-chip29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 있는 모음자</a:t>
            </a:r>
            <a:endParaRPr lang="ko-KR" sz="2600" dirty="0"/>
          </a:p>
        </p:txBody>
      </p:sp>
      <p:sp>
        <p:nvSpPr>
          <p:cNvPr id="6" name="S04-tile30"/>
          <p:cNvSpPr txBox="1"/>
          <p:nvPr/>
        </p:nvSpPr>
        <p:spPr>
          <a:xfrm>
            <a:off x="971550" y="242747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5900" dirty="0"/>
          </a:p>
        </p:txBody>
      </p:sp>
      <p:sp>
        <p:nvSpPr>
          <p:cNvPr id="7" name="S04-label31"/>
          <p:cNvSpPr txBox="1"/>
          <p:nvPr/>
        </p:nvSpPr>
        <p:spPr>
          <a:xfrm>
            <a:off x="870966" y="383565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ㄱ+ㅏ</a:t>
            </a:r>
            <a:endParaRPr lang="ko-KR" sz="2200" dirty="0"/>
          </a:p>
        </p:txBody>
      </p:sp>
      <p:sp>
        <p:nvSpPr>
          <p:cNvPr id="8" name="S04-tile32"/>
          <p:cNvSpPr txBox="1"/>
          <p:nvPr/>
        </p:nvSpPr>
        <p:spPr>
          <a:xfrm>
            <a:off x="2544318" y="242747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</a:t>
            </a:r>
            <a:endParaRPr lang="ko-KR" sz="5900" dirty="0"/>
          </a:p>
        </p:txBody>
      </p:sp>
      <p:sp>
        <p:nvSpPr>
          <p:cNvPr id="9" name="S04-label33"/>
          <p:cNvSpPr txBox="1"/>
          <p:nvPr/>
        </p:nvSpPr>
        <p:spPr>
          <a:xfrm>
            <a:off x="2443734" y="383565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ㄴ+ㅓ</a:t>
            </a:r>
            <a:endParaRPr lang="ko-KR" sz="2200" dirty="0"/>
          </a:p>
        </p:txBody>
      </p:sp>
      <p:sp>
        <p:nvSpPr>
          <p:cNvPr id="10" name="S04-tile34"/>
          <p:cNvSpPr txBox="1"/>
          <p:nvPr/>
        </p:nvSpPr>
        <p:spPr>
          <a:xfrm>
            <a:off x="4117086" y="242747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</a:t>
            </a:r>
            <a:endParaRPr lang="ko-KR" sz="5900" dirty="0"/>
          </a:p>
        </p:txBody>
      </p:sp>
      <p:sp>
        <p:nvSpPr>
          <p:cNvPr id="11" name="S04-label35"/>
          <p:cNvSpPr txBox="1"/>
          <p:nvPr/>
        </p:nvSpPr>
        <p:spPr>
          <a:xfrm>
            <a:off x="4016502" y="383565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ㅁ+ㅣ</a:t>
            </a:r>
            <a:endParaRPr lang="ko-KR" sz="2200" dirty="0"/>
          </a:p>
        </p:txBody>
      </p:sp>
      <p:sp>
        <p:nvSpPr>
          <p:cNvPr id="12" name="S04-text36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자음자를 왼쪽에 써요.</a:t>
            </a:r>
            <a:endParaRPr lang="ko-KR" sz="2600" dirty="0"/>
          </a:p>
        </p:txBody>
      </p:sp>
      <p:sp>
        <p:nvSpPr>
          <p:cNvPr id="13" name="S04-chip37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누운 모음자</a:t>
            </a:r>
            <a:endParaRPr lang="ko-KR" sz="2600" dirty="0"/>
          </a:p>
        </p:txBody>
      </p:sp>
      <p:sp>
        <p:nvSpPr>
          <p:cNvPr id="14" name="S04-tile38"/>
          <p:cNvSpPr txBox="1"/>
          <p:nvPr/>
        </p:nvSpPr>
        <p:spPr>
          <a:xfrm>
            <a:off x="6700266" y="242747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</a:t>
            </a:r>
            <a:endParaRPr lang="ko-KR" sz="5900" dirty="0"/>
          </a:p>
        </p:txBody>
      </p:sp>
      <p:sp>
        <p:nvSpPr>
          <p:cNvPr id="15" name="S04-label39"/>
          <p:cNvSpPr txBox="1"/>
          <p:nvPr/>
        </p:nvSpPr>
        <p:spPr>
          <a:xfrm>
            <a:off x="6599682" y="383565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ㄱ+ㅗ</a:t>
            </a:r>
            <a:endParaRPr lang="ko-KR" sz="2200" dirty="0"/>
          </a:p>
        </p:txBody>
      </p:sp>
      <p:sp>
        <p:nvSpPr>
          <p:cNvPr id="16" name="S04-tile40"/>
          <p:cNvSpPr txBox="1"/>
          <p:nvPr/>
        </p:nvSpPr>
        <p:spPr>
          <a:xfrm>
            <a:off x="8273034" y="242747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</a:t>
            </a:r>
            <a:endParaRPr lang="ko-KR" sz="5900" dirty="0"/>
          </a:p>
        </p:txBody>
      </p:sp>
      <p:sp>
        <p:nvSpPr>
          <p:cNvPr id="17" name="S04-label41"/>
          <p:cNvSpPr txBox="1"/>
          <p:nvPr/>
        </p:nvSpPr>
        <p:spPr>
          <a:xfrm>
            <a:off x="8172450" y="383565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ㄴ+ㅜ</a:t>
            </a:r>
            <a:endParaRPr lang="ko-KR" sz="2200" dirty="0"/>
          </a:p>
        </p:txBody>
      </p:sp>
      <p:sp>
        <p:nvSpPr>
          <p:cNvPr id="18" name="S04-tile42"/>
          <p:cNvSpPr txBox="1"/>
          <p:nvPr/>
        </p:nvSpPr>
        <p:spPr>
          <a:xfrm>
            <a:off x="9845802" y="242747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</a:t>
            </a:r>
            <a:endParaRPr lang="ko-KR" sz="5900" dirty="0"/>
          </a:p>
        </p:txBody>
      </p:sp>
      <p:sp>
        <p:nvSpPr>
          <p:cNvPr id="19" name="S04-label43"/>
          <p:cNvSpPr txBox="1"/>
          <p:nvPr/>
        </p:nvSpPr>
        <p:spPr>
          <a:xfrm>
            <a:off x="9745218" y="383565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ㄷ+ㅡ</a:t>
            </a:r>
            <a:endParaRPr lang="ko-KR" sz="2200" dirty="0"/>
          </a:p>
        </p:txBody>
      </p:sp>
      <p:sp>
        <p:nvSpPr>
          <p:cNvPr id="20" name="S04-text44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자음자를 위에 써요.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표 읽기</a:t>
            </a:r>
            <a:endParaRPr lang="ko-KR" sz="4400" dirty="0"/>
          </a:p>
        </p:txBody>
      </p:sp>
      <p:sp>
        <p:nvSpPr>
          <p:cNvPr id="3" name="S05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자음자와 모음자가 만나는 글자를 읽어요.</a:t>
            </a:r>
            <a:endParaRPr lang="ko-KR" sz="3200" dirty="0"/>
          </a:p>
        </p:txBody>
      </p:sp>
      <p:graphicFrame>
        <p:nvGraphicFramePr>
          <p:cNvPr id="6" name="S05-table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6716" y="2164080"/>
          <a:ext cx="9875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ㅏ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ㅓ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ㅗ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ㅜ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ㅣ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ㄱ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너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니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ㄷ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ㄹ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러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루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ㅁ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머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읽어요</a:t>
            </a:r>
            <a:endParaRPr lang="ko-KR" sz="4400" dirty="0"/>
          </a:p>
        </p:txBody>
      </p:sp>
      <p:sp>
        <p:nvSpPr>
          <p:cNvPr id="3" name="S06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있던 글자로 된 낱말이에요.</a:t>
            </a:r>
            <a:endParaRPr lang="ko-KR" sz="3200" dirty="0"/>
          </a:p>
        </p:txBody>
      </p:sp>
      <p:sp>
        <p:nvSpPr>
          <p:cNvPr id="4" name="S06-word48"/>
          <p:cNvSpPr txBox="1"/>
          <p:nvPr/>
        </p:nvSpPr>
        <p:spPr>
          <a:xfrm>
            <a:off x="548640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</a:t>
            </a:r>
            <a:endParaRPr lang="ko-KR" sz="3600" dirty="0"/>
          </a:p>
        </p:txBody>
      </p:sp>
      <p:sp>
        <p:nvSpPr>
          <p:cNvPr id="5" name="S06-word49"/>
          <p:cNvSpPr txBox="1"/>
          <p:nvPr/>
        </p:nvSpPr>
        <p:spPr>
          <a:xfrm>
            <a:off x="4337304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거미</a:t>
            </a:r>
            <a:endParaRPr lang="ko-KR" sz="3600" dirty="0"/>
          </a:p>
        </p:txBody>
      </p:sp>
      <p:sp>
        <p:nvSpPr>
          <p:cNvPr id="6" name="S06-word50"/>
          <p:cNvSpPr txBox="1"/>
          <p:nvPr/>
        </p:nvSpPr>
        <p:spPr>
          <a:xfrm>
            <a:off x="8125968" y="22402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고기</a:t>
            </a:r>
            <a:endParaRPr lang="ko-KR" sz="3600" dirty="0"/>
          </a:p>
        </p:txBody>
      </p:sp>
      <p:sp>
        <p:nvSpPr>
          <p:cNvPr id="7" name="S06-word51"/>
          <p:cNvSpPr txBox="1"/>
          <p:nvPr/>
        </p:nvSpPr>
        <p:spPr>
          <a:xfrm>
            <a:off x="548640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</a:t>
            </a:r>
            <a:endParaRPr lang="ko-KR" sz="3600" dirty="0"/>
          </a:p>
        </p:txBody>
      </p:sp>
      <p:sp>
        <p:nvSpPr>
          <p:cNvPr id="8" name="S06-word52"/>
          <p:cNvSpPr txBox="1"/>
          <p:nvPr/>
        </p:nvSpPr>
        <p:spPr>
          <a:xfrm>
            <a:off x="4337304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</a:t>
            </a:r>
            <a:endParaRPr lang="ko-KR" sz="3600" dirty="0"/>
          </a:p>
        </p:txBody>
      </p:sp>
      <p:sp>
        <p:nvSpPr>
          <p:cNvPr id="9" name="S06-word53"/>
          <p:cNvSpPr txBox="1"/>
          <p:nvPr/>
        </p:nvSpPr>
        <p:spPr>
          <a:xfrm>
            <a:off x="8125968" y="425196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구두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글자 만들기</a:t>
            </a:r>
            <a:endParaRPr lang="ko-KR" sz="4400" dirty="0"/>
          </a:p>
        </p:txBody>
      </p:sp>
      <p:sp>
        <p:nvSpPr>
          <p:cNvPr id="3" name="S07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들어갈 글자를 말해요.</a:t>
            </a:r>
            <a:endParaRPr lang="ko-KR" sz="3200" dirty="0"/>
          </a:p>
        </p:txBody>
      </p:sp>
      <p:graphicFrame>
        <p:nvGraphicFramePr>
          <p:cNvPr id="8" name="S07-table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6716" y="2164080"/>
          <a:ext cx="9875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ㅏ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ㅓ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ㅗ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ㅜ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ㅣ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ㅂ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ㅅ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ㅇ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ㅈ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45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ㅎ</a:t>
                      </a:r>
                      <a:endParaRPr lang="en-US" sz="4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허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히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글자를 만들어 써요</a:t>
            </a:r>
            <a:endParaRPr lang="ko-KR" sz="4400" dirty="0"/>
          </a:p>
        </p:txBody>
      </p:sp>
      <p:sp>
        <p:nvSpPr>
          <p:cNvPr id="3" name="S08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합친 글자를 종이에 써요.</a:t>
            </a:r>
            <a:endParaRPr lang="ko-KR" sz="3200" dirty="0"/>
          </a:p>
        </p:txBody>
      </p:sp>
      <p:sp>
        <p:nvSpPr>
          <p:cNvPr id="4" name="S08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모음자가 서 있으면 옆에, 누워 있으면 아래에!</a:t>
            </a:r>
            <a:endParaRPr lang="ko-KR" sz="3200" dirty="0"/>
          </a:p>
        </p:txBody>
      </p:sp>
      <p:sp>
        <p:nvSpPr>
          <p:cNvPr id="6" name="S08-chip5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eqtext6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 + ㅏ → □</a:t>
            </a:r>
            <a:endParaRPr lang="ko-KR" sz="3600" dirty="0"/>
          </a:p>
        </p:txBody>
      </p:sp>
      <p:sp>
        <p:nvSpPr>
          <p:cNvPr id="8" name="S08-chip6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eqtext6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ㅌ + ㅗ → □</a:t>
            </a:r>
            <a:endParaRPr lang="ko-KR" sz="3600" dirty="0"/>
          </a:p>
        </p:txBody>
      </p:sp>
      <p:sp>
        <p:nvSpPr>
          <p:cNvPr id="10" name="S08-chip6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eqtext64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ㅊ + ㅣ → □</a:t>
            </a:r>
            <a:endParaRPr lang="ko-KR" sz="3600" dirty="0"/>
          </a:p>
        </p:txBody>
      </p:sp>
      <p:sp>
        <p:nvSpPr>
          <p:cNvPr id="12" name="S08-chip65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8-eqtext66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 + ㅜ →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바를까요?</a:t>
            </a:r>
            <a:endParaRPr lang="ko-KR" sz="4400" dirty="0"/>
          </a:p>
        </p:txBody>
      </p:sp>
      <p:sp>
        <p:nvSpPr>
          <p:cNvPr id="3" name="S09-card6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ㄱ과 ㅗ를 합쳐 글자를 썼어요.</a:t>
            </a:r>
            <a:endParaRPr lang="ko-KR" sz="3200" dirty="0"/>
          </a:p>
        </p:txBody>
      </p:sp>
      <p:sp>
        <p:nvSpPr>
          <p:cNvPr id="5" name="S09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것은 어느 쪽일까요? 왜 그럴까요?</a:t>
            </a:r>
            <a:endParaRPr lang="ko-KR" sz="3200" dirty="0"/>
          </a:p>
        </p:txBody>
      </p:sp>
      <p:sp>
        <p:nvSpPr>
          <p:cNvPr id="7" name="S09-chip7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9-bigtext7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ㄱㅗ</a:t>
            </a:r>
            <a:endParaRPr lang="ko-KR" sz="8000" dirty="0"/>
          </a:p>
        </p:txBody>
      </p:sp>
      <p:sp>
        <p:nvSpPr>
          <p:cNvPr id="9" name="S09-chip7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9-bigtext7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</a:t>
            </a:r>
            <a:endParaRPr lang="ko-KR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읽고, ③은 써요.</a:t>
            </a:r>
            <a:endParaRPr lang="ko-KR" sz="3200" dirty="0"/>
          </a:p>
        </p:txBody>
      </p:sp>
      <p:sp>
        <p:nvSpPr>
          <p:cNvPr id="4" name="S10-chip7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word77"/>
          <p:cNvSpPr txBox="1"/>
          <p:nvPr/>
        </p:nvSpPr>
        <p:spPr>
          <a:xfrm>
            <a:off x="1344168" y="201168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하마</a:t>
            </a:r>
            <a:endParaRPr lang="ko-KR" sz="3600" dirty="0"/>
          </a:p>
        </p:txBody>
      </p:sp>
      <p:sp>
        <p:nvSpPr>
          <p:cNvPr id="6" name="S10-word78"/>
          <p:cNvSpPr txBox="1"/>
          <p:nvPr/>
        </p:nvSpPr>
        <p:spPr>
          <a:xfrm>
            <a:off x="4224528" y="201168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</a:t>
            </a:r>
            <a:endParaRPr lang="ko-KR" sz="3600" dirty="0"/>
          </a:p>
        </p:txBody>
      </p:sp>
      <p:sp>
        <p:nvSpPr>
          <p:cNvPr id="7" name="S10-chip7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word80"/>
          <p:cNvSpPr txBox="1"/>
          <p:nvPr/>
        </p:nvSpPr>
        <p:spPr>
          <a:xfrm>
            <a:off x="1344168" y="347472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기차</a:t>
            </a:r>
            <a:endParaRPr lang="ko-KR" sz="3600" dirty="0"/>
          </a:p>
        </p:txBody>
      </p:sp>
      <p:sp>
        <p:nvSpPr>
          <p:cNvPr id="9" name="S10-word81"/>
          <p:cNvSpPr txBox="1"/>
          <p:nvPr/>
        </p:nvSpPr>
        <p:spPr>
          <a:xfrm>
            <a:off x="4224528" y="3474720"/>
            <a:ext cx="2606040" cy="128016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오이</a:t>
            </a:r>
            <a:endParaRPr lang="ko-KR" sz="3600" dirty="0"/>
          </a:p>
        </p:txBody>
      </p:sp>
      <p:sp>
        <p:nvSpPr>
          <p:cNvPr id="10" name="S10-chip8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8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 주는 글자를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1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 소리는 짧게, 모음자 소리에 바로 붙여요.</a:t>
            </a:r>
            <a:endParaRPr lang="ko-KR" sz="3200" dirty="0"/>
          </a:p>
        </p:txBody>
      </p:sp>
      <p:sp>
        <p:nvSpPr>
          <p:cNvPr id="5" name="S11-chip8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87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하마 모자 기차 오이</a:t>
            </a:r>
            <a:endParaRPr lang="ko-KR" sz="3200" dirty="0"/>
          </a:p>
        </p:txBody>
      </p:sp>
      <p:sp>
        <p:nvSpPr>
          <p:cNvPr id="7" name="S11-text88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바로 이어요</a:t>
            </a:r>
            <a:endParaRPr lang="ko-KR" sz="2600" dirty="0"/>
          </a:p>
        </p:txBody>
      </p:sp>
      <p:sp>
        <p:nvSpPr>
          <p:cNvPr id="8" name="S11-text89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 · 시</a:t>
            </a:r>
            <a:endParaRPr lang="ko-KR" sz="3200" dirty="0"/>
          </a:p>
        </p:txBody>
      </p:sp>
      <p:sp>
        <p:nvSpPr>
          <p:cNvPr id="9" name="S11-text90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ㅗ는 아래, ㅣ는 옆에</a:t>
            </a:r>
            <a:endParaRPr lang="ko-KR" sz="2600" dirty="0"/>
          </a:p>
        </p:txBody>
      </p:sp>
      <p:sp>
        <p:nvSpPr>
          <p:cNvPr id="10" name="S11-chip9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1-text9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[흐아마]</a:t>
            </a:r>
            <a:endParaRPr lang="ko-KR" sz="3200" dirty="0"/>
          </a:p>
        </p:txBody>
      </p:sp>
      <p:sp>
        <p:nvSpPr>
          <p:cNvPr id="12" name="S11-text9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끊어 읽음</a:t>
            </a:r>
            <a:endParaRPr lang="ko-KR" sz="2600" dirty="0"/>
          </a:p>
        </p:txBody>
      </p:sp>
      <p:sp>
        <p:nvSpPr>
          <p:cNvPr id="13" name="S11-text9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ㄷㅗ</a:t>
            </a:r>
            <a:endParaRPr lang="ko-KR" sz="3200" dirty="0"/>
          </a:p>
        </p:txBody>
      </p:sp>
      <p:sp>
        <p:nvSpPr>
          <p:cNvPr id="14" name="S11-text9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누운 모음자를 옆에 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낱말일까요?</a:t>
            </a:r>
            <a:endParaRPr lang="ko-KR" sz="4400" dirty="0"/>
          </a:p>
        </p:txBody>
      </p:sp>
      <p:sp>
        <p:nvSpPr>
          <p:cNvPr id="3" name="S12-card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낱말을 찾아 읽어요.</a:t>
            </a:r>
            <a:endParaRPr lang="ko-KR" sz="3200" dirty="0"/>
          </a:p>
        </p:txBody>
      </p:sp>
      <p:sp>
        <p:nvSpPr>
          <p:cNvPr id="5" name="S12-chip98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2-word99"/>
          <p:cNvSpPr txBox="1"/>
          <p:nvPr/>
        </p:nvSpPr>
        <p:spPr>
          <a:xfrm>
            <a:off x="548640" y="2706624"/>
            <a:ext cx="345338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나비</a:t>
            </a:r>
            <a:endParaRPr lang="ko-KR" sz="3600" dirty="0"/>
          </a:p>
        </p:txBody>
      </p:sp>
      <p:sp>
        <p:nvSpPr>
          <p:cNvPr id="7" name="S12-chip100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12-word101"/>
          <p:cNvSpPr txBox="1"/>
          <p:nvPr/>
        </p:nvSpPr>
        <p:spPr>
          <a:xfrm>
            <a:off x="4367784" y="2706624"/>
            <a:ext cx="345338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사자</a:t>
            </a:r>
            <a:endParaRPr lang="ko-KR" sz="3600" dirty="0"/>
          </a:p>
        </p:txBody>
      </p:sp>
      <p:sp>
        <p:nvSpPr>
          <p:cNvPr id="9" name="S12-chip102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12-word103"/>
          <p:cNvSpPr txBox="1"/>
          <p:nvPr/>
        </p:nvSpPr>
        <p:spPr>
          <a:xfrm>
            <a:off x="8186928" y="2706624"/>
            <a:ext cx="345338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0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 소리와 모음자 소리를 바로 이어 읽으면 글자가 돼요.</a:t>
            </a:r>
            <a:endParaRPr lang="ko-KR" sz="3200" dirty="0"/>
          </a:p>
        </p:txBody>
      </p:sp>
      <p:sp>
        <p:nvSpPr>
          <p:cNvPr id="5" name="S13-chip106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소리를 바로 이어 읽기</a:t>
            </a:r>
            <a:endParaRPr lang="ko-KR" sz="2600" dirty="0"/>
          </a:p>
        </p:txBody>
      </p:sp>
      <p:sp>
        <p:nvSpPr>
          <p:cNvPr id="6" name="S13-chip107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ㄱㅗ처럼 나란히 쓰기</a:t>
            </a:r>
            <a:endParaRPr lang="ko-KR" sz="2600" dirty="0"/>
          </a:p>
        </p:txBody>
      </p:sp>
      <p:sp>
        <p:nvSpPr>
          <p:cNvPr id="7" name="S13-text108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09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나무 거미 하마 오이</a:t>
            </a:r>
            <a:endParaRPr lang="ko-KR" sz="2600" dirty="0"/>
          </a:p>
        </p:txBody>
      </p:sp>
      <p:sp>
        <p:nvSpPr>
          <p:cNvPr id="9" name="S13-text110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[고] 글자 쓰기</a:t>
            </a:r>
            <a:endParaRPr lang="ko-KR" sz="2600" dirty="0"/>
          </a:p>
        </p:txBody>
      </p:sp>
      <p:sp>
        <p:nvSpPr>
          <p:cNvPr id="10" name="S13-text111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ㅂ + ㅗ → ?</a:t>
            </a:r>
            <a:endParaRPr lang="ko-KR" sz="2600" dirty="0"/>
          </a:p>
        </p:txBody>
      </p:sp>
      <p:sp>
        <p:nvSpPr>
          <p:cNvPr id="11" name="S13-text11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받침 있는 글자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자음자 소리 내기</a:t>
            </a:r>
            <a:endParaRPr lang="ko-KR" sz="4400" dirty="0"/>
          </a:p>
        </p:txBody>
      </p:sp>
      <p:sp>
        <p:nvSpPr>
          <p:cNvPr id="3" name="S14-card113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14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이름의 첫소리가 소리</a:t>
            </a:r>
            <a:endParaRPr lang="ko-KR" sz="3200" dirty="0"/>
          </a:p>
        </p:txBody>
      </p:sp>
      <p:sp>
        <p:nvSpPr>
          <p:cNvPr id="5" name="S14-card115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16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[으]는 아주 짧게</a:t>
            </a:r>
            <a:endParaRPr lang="ko-KR" sz="3200" dirty="0"/>
          </a:p>
        </p:txBody>
      </p:sp>
      <p:sp>
        <p:nvSpPr>
          <p:cNvPr id="7" name="S14-tile117"/>
          <p:cNvSpPr txBox="1"/>
          <p:nvPr/>
        </p:nvSpPr>
        <p:spPr>
          <a:xfrm>
            <a:off x="1202436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6300" dirty="0"/>
          </a:p>
        </p:txBody>
      </p:sp>
      <p:sp>
        <p:nvSpPr>
          <p:cNvPr id="8" name="S14-label118"/>
          <p:cNvSpPr txBox="1"/>
          <p:nvPr/>
        </p:nvSpPr>
        <p:spPr>
          <a:xfrm>
            <a:off x="1101852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[그]</a:t>
            </a:r>
            <a:endParaRPr lang="ko-KR" sz="2200" dirty="0"/>
          </a:p>
        </p:txBody>
      </p:sp>
      <p:sp>
        <p:nvSpPr>
          <p:cNvPr id="9" name="S14-tile119"/>
          <p:cNvSpPr txBox="1"/>
          <p:nvPr/>
        </p:nvSpPr>
        <p:spPr>
          <a:xfrm>
            <a:off x="2866644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6300" dirty="0"/>
          </a:p>
        </p:txBody>
      </p:sp>
      <p:sp>
        <p:nvSpPr>
          <p:cNvPr id="10" name="S14-label120"/>
          <p:cNvSpPr txBox="1"/>
          <p:nvPr/>
        </p:nvSpPr>
        <p:spPr>
          <a:xfrm>
            <a:off x="2766060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[느]</a:t>
            </a:r>
            <a:endParaRPr lang="ko-KR" sz="2200" dirty="0"/>
          </a:p>
        </p:txBody>
      </p:sp>
      <p:sp>
        <p:nvSpPr>
          <p:cNvPr id="11" name="S14-tile121"/>
          <p:cNvSpPr txBox="1"/>
          <p:nvPr/>
        </p:nvSpPr>
        <p:spPr>
          <a:xfrm>
            <a:off x="4530852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6300" dirty="0"/>
          </a:p>
        </p:txBody>
      </p:sp>
      <p:sp>
        <p:nvSpPr>
          <p:cNvPr id="12" name="S14-label122"/>
          <p:cNvSpPr txBox="1"/>
          <p:nvPr/>
        </p:nvSpPr>
        <p:spPr>
          <a:xfrm>
            <a:off x="4430268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[드]</a:t>
            </a:r>
            <a:endParaRPr lang="ko-KR" sz="2200" dirty="0"/>
          </a:p>
        </p:txBody>
      </p:sp>
      <p:sp>
        <p:nvSpPr>
          <p:cNvPr id="13" name="S14-tile123"/>
          <p:cNvSpPr txBox="1"/>
          <p:nvPr/>
        </p:nvSpPr>
        <p:spPr>
          <a:xfrm>
            <a:off x="6195060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6300" dirty="0"/>
          </a:p>
        </p:txBody>
      </p:sp>
      <p:sp>
        <p:nvSpPr>
          <p:cNvPr id="14" name="S14-label124"/>
          <p:cNvSpPr txBox="1"/>
          <p:nvPr/>
        </p:nvSpPr>
        <p:spPr>
          <a:xfrm>
            <a:off x="6094476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[므]</a:t>
            </a:r>
            <a:endParaRPr lang="ko-KR" sz="2200" dirty="0"/>
          </a:p>
        </p:txBody>
      </p:sp>
      <p:sp>
        <p:nvSpPr>
          <p:cNvPr id="15" name="S14-tile125"/>
          <p:cNvSpPr txBox="1"/>
          <p:nvPr/>
        </p:nvSpPr>
        <p:spPr>
          <a:xfrm>
            <a:off x="7859268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6300" dirty="0"/>
          </a:p>
        </p:txBody>
      </p:sp>
      <p:sp>
        <p:nvSpPr>
          <p:cNvPr id="16" name="S14-label126"/>
          <p:cNvSpPr txBox="1"/>
          <p:nvPr/>
        </p:nvSpPr>
        <p:spPr>
          <a:xfrm>
            <a:off x="7758684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[스]</a:t>
            </a:r>
            <a:endParaRPr lang="ko-KR" sz="2200" dirty="0"/>
          </a:p>
        </p:txBody>
      </p:sp>
      <p:sp>
        <p:nvSpPr>
          <p:cNvPr id="17" name="S14-tile127"/>
          <p:cNvSpPr txBox="1"/>
          <p:nvPr/>
        </p:nvSpPr>
        <p:spPr>
          <a:xfrm>
            <a:off x="9523476" y="226314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6300" dirty="0"/>
          </a:p>
        </p:txBody>
      </p:sp>
      <p:sp>
        <p:nvSpPr>
          <p:cNvPr id="18" name="S14-label128"/>
          <p:cNvSpPr txBox="1"/>
          <p:nvPr/>
        </p:nvSpPr>
        <p:spPr>
          <a:xfrm>
            <a:off x="9422892" y="37627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[흐]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받침 없는 글자</dc:title>
  <dc:subject>KR22-G01-KOR-SYLLABLE-L01</dc:subject>
  <dc:creator>education-ppt</dc:creator>
  <cp:lastModifiedBy>education-ppt</cp:lastModifiedBy>
  <cp:revision>1</cp:revision>
  <dcterms:created xsi:type="dcterms:W3CDTF">2026-10-26T07:13:46Z</dcterms:created>
  <dcterms:modified xsi:type="dcterms:W3CDTF">2026-10-26T07:13:46Z</dcterms:modified>
</cp:coreProperties>
</file>