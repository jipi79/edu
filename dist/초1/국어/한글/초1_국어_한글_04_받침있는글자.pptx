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e9aaee-a1b7-3a24-968c-e9c540411800}">
          <p14:sldIdLst>
            <p14:sldId id="256"/>
            <p14:sldId id="257"/>
          </p14:sldIdLst>
        </p14:section>
        <p14:section name="개념" id="{5c56ddf7-a651-046b-ff24-366e7e9f6b43}">
          <p14:sldIdLst>
            <p14:sldId id="258"/>
            <p14:sldId id="259"/>
          </p14:sldIdLst>
        </p14:section>
        <p14:section name="연습" id="{9703312d-3e61-903b-9f71-b5482fe6ee17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caba0505-48a6-1dfa-1c70-dbf17a588a9b}">
          <p14:sldIdLst>
            <p14:sldId id="265"/>
            <p14:sldId id="266"/>
            <p14:sldId id="267"/>
          </p14:sldIdLst>
        </p14:section>
        <p14:section name="정리" id="{c0bd470f-b7ba-c6e7-dffc-a449edc31c5f}">
          <p14:sldIdLst>
            <p14:sldId id="268"/>
          </p14:sldIdLst>
        </p14:section>
        <p14:section name="보충" id="{86d8f3ed-2b09-eeff-47f6-5a4e6ed08ad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글자 아래에 자음자가 하나 더 붙은 글자가 있다는 것에 관심을 갖게 합니다.
시간: 약 2분
이렇게 말해 보세요
- “왼쪽 글자는 [가]. 오른쪽 글자는 아래에 무엇이 더 있어? ㅁ이 붙었네. 어떻게 읽을까?”
예상 답
- “[감]이요.” “[가미]?” “몰라요.”
주의
- 아이가 틀리게 읽어도 고치지 말고 들어 둡니다. S03에서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확인(받침 없는 글자)]
목적: 앞 차시(받침 없는 글자)의 자음자+모음자 이어 읽기를 할 수 있는지 확인합니다. 받침 글자는 이 위에 끝소리를 더하는 것입니다.
시간: 약 3분
이렇게 말해 보세요
- “①의 글자를 하나씩 읽어 볼래?”
- “②의 낱말도 읽고 무엇인지 말해 줘.”
정답
- ① [고] [너] [수]
- ② [바지] [거미]
막히면
- [그]…[오]처럼 끊어 읽으면 “빨리 붙여 봐”라고 합니다.
- 다섯 개 중 둘 이상 읽지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받침의 뜻과 자리]
목적: 받침이 글자 맨 아래에 오고, 글자의 끝소리가 된다는 것을 압니다.
시간: 약 3분
이렇게 말해 보세요
- “가 아래에 ㅁ을 쓰면 ‘감’이 돼. 아래에 받친 자음자라서 ‘받침’이라고 해.”
- “[가]라고 하다가 입술을 꼭 다물면? [감]! 먹는 감이야.”
- “천천히 해 보자. [그]-[아]-[음], 빨리 붙이면 [감].”
예상 답
- “[감]이요.”
막히면
- 손거울을 보며 [가]에서 입술을 다무는 것을 보여 줍니다.
- 종이에 ‘가’를 크게 쓰고 그 아래에 ㅁ을 써 넣으며 소리가 바뀌는 것을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받침 7개의 끝소리]
목적: 받침 ㄱ ㄴ ㄷ ㄹ ㅁ ㅂ ㅇ이 각각 어떤 끝소리를 내는지 입 모양과 함께 익힙니다.
시간: 약 5분
이렇게 말해 보세요
- “모두 [가]로 시작하는데 받침이 달라. 엄마(아빠)가 하나씩 읽어 볼게. 따라 해 봐.”
- “[각] [간] [갇] [갈] [감] [갑] [강].”
- “이번엔 엄마(아빠)가 짚는 글자를 네가 읽어 볼래?”
예상 답
- [각] [간] [갇] [갈] [감] [갑] [강]
막히면
- 받침만 따로 [윽] [은] [읃] [을] [음] [읍] [응]으로 말해 본 뒤 [가]에 붙입니다.
- [간]과 [강]이 헷갈리면 입을 벌린 채 끝나는지(강), 혀끝이 윗잇몸에 붙는지(간) 거울로 봅니다.
주의
- 입 모양: [각] 혀 뒤쪽으로 목 안을 막아 뚝 끊음. [간] 혀끝을 윗잇몸에 대고 코로 소리 냄. [갇] 혀끝을 윗잇몸에 붙이며 뚝 끊음. [갈] 혀끝을 윗잇몸에 살짝 대고 끝냄.
- [감] 입술을 다물며 코로 소리 냄. [갑] 입술을 꼭 다물며 뚝 끊음. [강] 입은 벌린 채 혀 뒤쪽을 올려 코로 소리 냄.
- 받침 뒤에 [으]를 붙여 [가므]처럼 읽지 않게 합니다(M3). 받침 ㄷ이 쓰인 쉬운 낱말은 드물어 오늘은 글자로만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받침 글자 표 읽기]
목적: 받침만 바뀌는 글자들을 이어 읽으며 끝소리를 구별합니다.
시간: 약 4분
이렇게 말해 보세요
- “맨 왼쪽은 받침 없는 글자, 맨 위는 받침이야. 소 줄을 읽어 볼까?”
- “엄마(아빠)가 짚는 글자를 읽어 봐.” (차례를 섞어 6~8개를 짚습니다.)
- “이 표에서 뜻을 아는 낱말을 찾아볼래? 손은 어디 있지?”
정답
- 소 줄: [속] [손] [솓] [솔] [솜] [솝] [송]
- 무 줄: [묵] [문] [묻] [물] [뭄] [뭅] [뭉]
- 뜻이 있는 낱말 예: 감, 강, 손, 솜, 문, 물
막히면
- 줄 맨 앞의 받침 없는 글자를 먼저 읽고, 받침 소리를 붙입니다. “[소]… 받침 ㄴ은 [은], 그래서 [손].”
주의
- 뜻이 없는 글자(솓, 뭅 등)도 소리 내어 읽는 연습입니다. 뜻을 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받침 있는 낱말 읽기]
목적: 받침이 있는 낱말을 끝소리까지 읽고 뜻과 연결합니다.
시간: 약 3분
이렇게 말해 보세요
- “한 글자씩 읽고, 이어서 다시 읽어 봐. 무엇인지 알겠어?”
- “[수]… [박]… [수박]! 여름에 먹는 과일이지.”
정답
- [곰] [눈] [밥] [수박] [하늘] [가방]
막히면
- 받침이 있는 글자는 받침을 손가락으로 가렸다가 [수바]… 받침을 열며 [수박]으로 읽게 합니다.
- ‘눈’은 몸의 눈과 하늘에서 내리는 눈 모두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비교(받침 빼고 읽기)]
목적: 받침을 빼고 읽으면 다른 말이 된다는 것을 확인합니다(M1).
시간: 약 3분
이렇게 말해 보세요
- “친구가 ‘곰’을 [고]라고 읽었대. 맞을까?”
- “두 글자는 무엇이 달라? 받침 ㅁ까지 읽으면?”
정답
- 바르지 않습니다. 곰은 아래에 받침 ㅁ이 있어서 입술을 다물며 [곰]으로 읽습니다. [고]로 읽으면 동물 곰이 아닌 다른 소리가 됩니다.
막히면
- 받침을 손가락으로 짚고 “여기서 입을 다물어”라고 말해 줍니다.
- 가방 → [가바], 수박 → [수바]처럼 받침을 빼면 뜻이 사라지는 것을 들려줍니다.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받침 있는 글자 쓰는 차례]
목적: 들은 소리를 첫소리, 가운데 소리, 끝소리로 나누어 차례대로 쓰는 방법을 보여 줍니다(M2).
시간: 약 3분
이렇게 말해 보세요
- “[곰]을 천천히 말해 볼게. 처음 소리 [그], 가운데 [오], 끝소리 [음]. 그래서 ㄱ, ㅗ, 그리고 맨 아래에 ㅁ.”
- “[산]은? 처음 [스], 가운데 [아], 끝 [은]. ㅅ을 왼쪽, ㅏ를 오른쪽, ㄴ은 두 글자 아래에 받쳐 써.”
- “공중에 같이 써 보자.”
예상 답
- 아이가 [곰], [산]을 소리 내며 공중에 차례대로 씁니다.
막히면
- 부모가 [고—ㅁ]처럼 끝소리를 늘여 말해 줍니다.
- 받침 자리를 손가락으로 먼저 짚게 한 뒤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받침 넣어 쓰기]
목적: 도움을 받으며 받침을 바른 자리에 넣어 글자를 씁니다.
시간: 약 4분
이렇게 말해 보세요
- “①은 ‘고’ 아래에 ㅇ을 받치면? 써 보고 읽어 봐.”
- “다 쓴 글자로 뜻이 있는 낱말이 되는지도 말해 보자.”
정답
- ① 공 [공] (차는 공)
- ② 산 [산] (높은 산)
- ③ 밥 [밥] (먹는 밥)
- ④ 달 [달] (밤하늘의 달)
막히면
- 받침 없는 글자를 먼저 쓰고, 그 아래에 받침을 쓰게 합니다.
- 글자가 옆으로 길어지면(고ㅇ) S08을 다시 보여 줍니다.
주의
- 여기까지 하고 지치면 나누어 다음 날 S10부터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읽고 쓰기]
목적: 도움 없이 받침 있는 낱말을 읽고, 불러 주는 낱말을 받침까지 쓰는지 확인합니다.
시간: 약 4분
이렇게 말해 보세요
- “이번에는 혼자 해 볼래? ①과 ②의 낱말을 읽고 무엇인지 말해 줘.”
- “③은 엄마(아빠)가 말하는 낱말을 종이에 써 봐. [발]… 이번엔 [사탕].”
정답
- ① [손] [물]
- ② [우산] [구름]
- ③ 발, 사탕 (받침 ㄹ, ㅇ을 글자 맨 아래에)
막히면
- 받아쓰기 때 부모가 낱말을 한 번 더 천천히 말해 줍니다. 끝소리를 늘여 말해도 됩니다([바—ㄹ]).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읽은 것과 쓴 것을 왼쪽과 비교해 보자.”
- “오른쪽처럼 하면 무엇이 이상할까?”
예상 답
- “[우사]는 받침을 안 읽었어요.” “ㅇ은 아래에 써야 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받침만 다른 글자에서 들은 소리에 맞는 글자를 찾는지 확인합니다.
시간: 약 2분
이렇게 말해 보세요
- “[공]은 가, 나, 다 중에서 어느 것일까? 어떻게 알았어?”
- “이번에는 [곰]!”
정답
- [공] → 나(받침 ㅇ, 입을 벌린 채 끝남)
- [곰] → 가(받침 ㅁ, 입술을 다물며 끝남). 다는 받침 없는 [고]입니다.
막히면
- S04로 돌아가 [강]과 [감]의 입 모양을 다시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“오늘 배운 것을 말해 볼래? 받침은 어디에 써? 어떻게 읽어?”
예상 답
- “글자 아래에 써요. 끝에 그 소리를 내요.”
정답
- ① [눈] [곰] [지갑] [사슴] ② 강(ㄱ, ㅏ, 아래에 ㅇ) ③ 글자 맨 아래
주의
- 활동지 1~4는 수업을 마친 뒤 이어서 하거나 다음 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보충(받침 없는 글자)]
목적: S02에서 받침 없는 글자를 읽지 못하면 앞 차시 ‘받침 없는 글자’의 이어 읽기를 다시 합니다.
시간: 약 5분
이렇게 말해 보세요
- “ㄱ 소리 [그]를 짧게 내고 바로 [아]를 붙이면? [가]!”
- “너는? [느]와 [어]. 도는? [드]와 [오].”
정답
- [가] [너] [도] [무] [비]
막히면
- 자음자와 모음자를 종이에 따로 쓰고 천천히 붙이며 소리를 점점 빨리 잇습니다.
주의
- 보충으로도 다섯 개 중 셋 이상 읽지 못하면 앞 차시 ‘받침 없는 글자’를 다시 한 뒤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있는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있는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받침 있는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글자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아래에 ㅁ을 쓰면 어떻게 읽을까요?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74736" y="1417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1417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5900" dirty="0"/>
          </a:p>
        </p:txBody>
      </p:sp>
      <p:sp>
        <p:nvSpPr>
          <p:cNvPr id="6" name="S01-card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받침이 있는 글자를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받침을 글자 아래에 알맞게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없는 글자 읽기</a:t>
            </a:r>
            <a:endParaRPr lang="ko-KR" sz="44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7"/>
          <p:cNvSpPr txBox="1"/>
          <p:nvPr/>
        </p:nvSpPr>
        <p:spPr>
          <a:xfrm>
            <a:off x="1344168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500" dirty="0"/>
          </a:p>
        </p:txBody>
      </p:sp>
      <p:sp>
        <p:nvSpPr>
          <p:cNvPr id="6" name="S02-tile8"/>
          <p:cNvSpPr txBox="1"/>
          <p:nvPr/>
        </p:nvSpPr>
        <p:spPr>
          <a:xfrm>
            <a:off x="2813304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</a:t>
            </a:r>
            <a:endParaRPr lang="ko-KR" sz="5500" dirty="0"/>
          </a:p>
        </p:txBody>
      </p:sp>
      <p:sp>
        <p:nvSpPr>
          <p:cNvPr id="7" name="S02-tile9"/>
          <p:cNvSpPr txBox="1"/>
          <p:nvPr/>
        </p:nvSpPr>
        <p:spPr>
          <a:xfrm>
            <a:off x="4282440" y="21092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55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word11"/>
          <p:cNvSpPr txBox="1"/>
          <p:nvPr/>
        </p:nvSpPr>
        <p:spPr>
          <a:xfrm>
            <a:off x="1344168" y="420624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바지</a:t>
            </a:r>
            <a:endParaRPr lang="ko-KR" sz="3600" dirty="0"/>
          </a:p>
        </p:txBody>
      </p:sp>
      <p:sp>
        <p:nvSpPr>
          <p:cNvPr id="10" name="S02-word12"/>
          <p:cNvSpPr txBox="1"/>
          <p:nvPr/>
        </p:nvSpPr>
        <p:spPr>
          <a:xfrm>
            <a:off x="3584448" y="4206240"/>
            <a:ext cx="1965960" cy="1463040"/>
          </a:xfrm>
          <a:prstGeom prst="roundRect">
            <a:avLst>
              <a:gd name="adj" fmla="val 875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아래의 받침</a:t>
            </a:r>
            <a:endParaRPr lang="ko-KR" sz="44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아래에 오는 자음자를 받침이라고 해요.</a:t>
            </a:r>
            <a:endParaRPr lang="ko-KR" sz="32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아래에 ㅁ → 감</a:t>
            </a:r>
            <a:endParaRPr lang="ko-KR" sz="3200" dirty="0"/>
          </a:p>
        </p:txBody>
      </p:sp>
      <p:sp>
        <p:nvSpPr>
          <p:cNvPr id="6" name="S03-card16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다물며 끝내요</a:t>
            </a:r>
            <a:endParaRPr lang="ko-KR" sz="3200" dirty="0"/>
          </a:p>
        </p:txBody>
      </p:sp>
      <p:sp>
        <p:nvSpPr>
          <p:cNvPr id="8" name="S03-tile18"/>
          <p:cNvSpPr txBox="1"/>
          <p:nvPr/>
        </p:nvSpPr>
        <p:spPr>
          <a:xfrm>
            <a:off x="3982212" y="23317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8700" dirty="0"/>
          </a:p>
        </p:txBody>
      </p:sp>
      <p:sp>
        <p:nvSpPr>
          <p:cNvPr id="9" name="S03-label19"/>
          <p:cNvSpPr txBox="1"/>
          <p:nvPr/>
        </p:nvSpPr>
        <p:spPr>
          <a:xfrm>
            <a:off x="3881628" y="43799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10" name="S03-tile20"/>
          <p:cNvSpPr txBox="1"/>
          <p:nvPr/>
        </p:nvSpPr>
        <p:spPr>
          <a:xfrm>
            <a:off x="6195060" y="23317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8700" dirty="0"/>
          </a:p>
        </p:txBody>
      </p:sp>
      <p:sp>
        <p:nvSpPr>
          <p:cNvPr id="11" name="S03-label21"/>
          <p:cNvSpPr txBox="1"/>
          <p:nvPr/>
        </p:nvSpPr>
        <p:spPr>
          <a:xfrm>
            <a:off x="6094476" y="43799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[감]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받침에 따라 끝소리가 달라요</a:t>
            </a:r>
            <a:endParaRPr lang="ko-KR" sz="44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받침에서 입을 멈추고 소리를 끝내요.</a:t>
            </a:r>
            <a:endParaRPr lang="ko-KR" sz="3200" dirty="0"/>
          </a:p>
        </p:txBody>
      </p:sp>
      <p:sp>
        <p:nvSpPr>
          <p:cNvPr id="5" name="S04-tile24"/>
          <p:cNvSpPr txBox="1"/>
          <p:nvPr/>
        </p:nvSpPr>
        <p:spPr>
          <a:xfrm>
            <a:off x="690372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</a:t>
            </a:r>
            <a:endParaRPr lang="ko-KR" sz="5900" dirty="0"/>
          </a:p>
        </p:txBody>
      </p:sp>
      <p:sp>
        <p:nvSpPr>
          <p:cNvPr id="6" name="S04-label25"/>
          <p:cNvSpPr txBox="1"/>
          <p:nvPr/>
        </p:nvSpPr>
        <p:spPr>
          <a:xfrm>
            <a:off x="589788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2200" dirty="0"/>
          </a:p>
        </p:txBody>
      </p:sp>
      <p:sp>
        <p:nvSpPr>
          <p:cNvPr id="7" name="S04-tile26"/>
          <p:cNvSpPr txBox="1"/>
          <p:nvPr/>
        </p:nvSpPr>
        <p:spPr>
          <a:xfrm>
            <a:off x="2263140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</a:t>
            </a:r>
            <a:endParaRPr lang="ko-KR" sz="5900" dirty="0"/>
          </a:p>
        </p:txBody>
      </p:sp>
      <p:sp>
        <p:nvSpPr>
          <p:cNvPr id="8" name="S04-label27"/>
          <p:cNvSpPr txBox="1"/>
          <p:nvPr/>
        </p:nvSpPr>
        <p:spPr>
          <a:xfrm>
            <a:off x="2162556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2200" dirty="0"/>
          </a:p>
        </p:txBody>
      </p:sp>
      <p:sp>
        <p:nvSpPr>
          <p:cNvPr id="9" name="S04-tile28"/>
          <p:cNvSpPr txBox="1"/>
          <p:nvPr/>
        </p:nvSpPr>
        <p:spPr>
          <a:xfrm>
            <a:off x="3835908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갇</a:t>
            </a:r>
            <a:endParaRPr lang="ko-KR" sz="5900" dirty="0"/>
          </a:p>
        </p:txBody>
      </p:sp>
      <p:sp>
        <p:nvSpPr>
          <p:cNvPr id="10" name="S04-label29"/>
          <p:cNvSpPr txBox="1"/>
          <p:nvPr/>
        </p:nvSpPr>
        <p:spPr>
          <a:xfrm>
            <a:off x="3735324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2200" dirty="0"/>
          </a:p>
        </p:txBody>
      </p:sp>
      <p:sp>
        <p:nvSpPr>
          <p:cNvPr id="11" name="S04-tile30"/>
          <p:cNvSpPr txBox="1"/>
          <p:nvPr/>
        </p:nvSpPr>
        <p:spPr>
          <a:xfrm>
            <a:off x="5408676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</a:t>
            </a:r>
            <a:endParaRPr lang="ko-KR" sz="5900" dirty="0"/>
          </a:p>
        </p:txBody>
      </p:sp>
      <p:sp>
        <p:nvSpPr>
          <p:cNvPr id="12" name="S04-label31"/>
          <p:cNvSpPr txBox="1"/>
          <p:nvPr/>
        </p:nvSpPr>
        <p:spPr>
          <a:xfrm>
            <a:off x="5308092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2200" dirty="0"/>
          </a:p>
        </p:txBody>
      </p:sp>
      <p:sp>
        <p:nvSpPr>
          <p:cNvPr id="13" name="S04-tile32"/>
          <p:cNvSpPr txBox="1"/>
          <p:nvPr/>
        </p:nvSpPr>
        <p:spPr>
          <a:xfrm>
            <a:off x="6981444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5900" dirty="0"/>
          </a:p>
        </p:txBody>
      </p:sp>
      <p:sp>
        <p:nvSpPr>
          <p:cNvPr id="14" name="S04-label33"/>
          <p:cNvSpPr txBox="1"/>
          <p:nvPr/>
        </p:nvSpPr>
        <p:spPr>
          <a:xfrm>
            <a:off x="6880860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2200" dirty="0"/>
          </a:p>
        </p:txBody>
      </p:sp>
      <p:sp>
        <p:nvSpPr>
          <p:cNvPr id="15" name="S04-tile34"/>
          <p:cNvSpPr txBox="1"/>
          <p:nvPr/>
        </p:nvSpPr>
        <p:spPr>
          <a:xfrm>
            <a:off x="8554212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</a:t>
            </a:r>
            <a:endParaRPr lang="ko-KR" sz="5900" dirty="0"/>
          </a:p>
        </p:txBody>
      </p:sp>
      <p:sp>
        <p:nvSpPr>
          <p:cNvPr id="16" name="S04-label35"/>
          <p:cNvSpPr txBox="1"/>
          <p:nvPr/>
        </p:nvSpPr>
        <p:spPr>
          <a:xfrm>
            <a:off x="8453628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2200" dirty="0"/>
          </a:p>
        </p:txBody>
      </p:sp>
      <p:sp>
        <p:nvSpPr>
          <p:cNvPr id="17" name="S04-tile36"/>
          <p:cNvSpPr txBox="1"/>
          <p:nvPr/>
        </p:nvSpPr>
        <p:spPr>
          <a:xfrm>
            <a:off x="10126980" y="2308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5900" dirty="0"/>
          </a:p>
        </p:txBody>
      </p:sp>
      <p:sp>
        <p:nvSpPr>
          <p:cNvPr id="18" name="S04-label37"/>
          <p:cNvSpPr txBox="1"/>
          <p:nvPr/>
        </p:nvSpPr>
        <p:spPr>
          <a:xfrm>
            <a:off x="10026396" y="37170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글자 표</a:t>
            </a:r>
            <a:endParaRPr lang="ko-KR" sz="4400" dirty="0"/>
          </a:p>
        </p:txBody>
      </p:sp>
      <p:sp>
        <p:nvSpPr>
          <p:cNvPr id="3" name="S05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글자와 받침이 만나는 글자를 읽어요.</a:t>
            </a:r>
            <a:endParaRPr lang="ko-KR" sz="3200" dirty="0"/>
          </a:p>
        </p:txBody>
      </p:sp>
      <p:sp>
        <p:nvSpPr>
          <p:cNvPr id="4" name="S05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있는 낱말도 찾아봐요.</a:t>
            </a:r>
            <a:endParaRPr lang="ko-KR" sz="3200" dirty="0"/>
          </a:p>
        </p:txBody>
      </p:sp>
      <p:graphicFrame>
        <p:nvGraphicFramePr>
          <p:cNvPr id="6" name="S05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6568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ㄱ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ㄷ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ㄹ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ㅁ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ㅂ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ㅇ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갇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갑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솓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솝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묵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묻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뭅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뭉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낱말</a:t>
            </a:r>
            <a:endParaRPr lang="ko-KR" sz="4400" dirty="0"/>
          </a:p>
        </p:txBody>
      </p:sp>
      <p:sp>
        <p:nvSpPr>
          <p:cNvPr id="3" name="S06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받침까지 잘 보고 읽어요.</a:t>
            </a:r>
            <a:endParaRPr lang="ko-KR" sz="3200" dirty="0"/>
          </a:p>
        </p:txBody>
      </p:sp>
      <p:sp>
        <p:nvSpPr>
          <p:cNvPr id="4" name="S06-word43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600" dirty="0"/>
          </a:p>
        </p:txBody>
      </p:sp>
      <p:sp>
        <p:nvSpPr>
          <p:cNvPr id="5" name="S06-word44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600" dirty="0"/>
          </a:p>
        </p:txBody>
      </p:sp>
      <p:sp>
        <p:nvSpPr>
          <p:cNvPr id="6" name="S06-word45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</a:t>
            </a:r>
            <a:endParaRPr lang="ko-KR" sz="3600" dirty="0"/>
          </a:p>
        </p:txBody>
      </p:sp>
      <p:sp>
        <p:nvSpPr>
          <p:cNvPr id="7" name="S06-word46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</a:t>
            </a:r>
            <a:endParaRPr lang="ko-KR" sz="3600" dirty="0"/>
          </a:p>
        </p:txBody>
      </p:sp>
      <p:sp>
        <p:nvSpPr>
          <p:cNvPr id="8" name="S06-word47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3600" dirty="0"/>
          </a:p>
        </p:txBody>
      </p:sp>
      <p:sp>
        <p:nvSpPr>
          <p:cNvPr id="9" name="S06-word48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곰일까요, 고일까요?</a:t>
            </a:r>
            <a:endParaRPr lang="ko-KR" sz="4400" dirty="0"/>
          </a:p>
        </p:txBody>
      </p:sp>
      <p:sp>
        <p:nvSpPr>
          <p:cNvPr id="3" name="S07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‘곰’을 보고 [고]라고 읽었어요.</a:t>
            </a:r>
            <a:endParaRPr lang="ko-KR" sz="3200" dirty="0"/>
          </a:p>
        </p:txBody>
      </p:sp>
      <p:sp>
        <p:nvSpPr>
          <p:cNvPr id="5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무엇을 보고 알았나요?</a:t>
            </a:r>
            <a:endParaRPr lang="ko-KR" sz="3200" dirty="0"/>
          </a:p>
        </p:txBody>
      </p:sp>
      <p:sp>
        <p:nvSpPr>
          <p:cNvPr id="7" name="S07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없어요</a:t>
            </a:r>
            <a:endParaRPr lang="ko-KR" sz="2600" dirty="0"/>
          </a:p>
        </p:txBody>
      </p:sp>
      <p:sp>
        <p:nvSpPr>
          <p:cNvPr id="8" name="S07-tile54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900" dirty="0"/>
          </a:p>
        </p:txBody>
      </p:sp>
      <p:sp>
        <p:nvSpPr>
          <p:cNvPr id="9" name="S07-label55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[고]</a:t>
            </a:r>
            <a:endParaRPr lang="ko-KR" sz="2200" dirty="0"/>
          </a:p>
        </p:txBody>
      </p:sp>
      <p:sp>
        <p:nvSpPr>
          <p:cNvPr id="10" name="S07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ㅁ이 있어요</a:t>
            </a:r>
            <a:endParaRPr lang="ko-KR" sz="2600" dirty="0"/>
          </a:p>
        </p:txBody>
      </p:sp>
      <p:sp>
        <p:nvSpPr>
          <p:cNvPr id="11" name="S07-tile57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5900" dirty="0"/>
          </a:p>
        </p:txBody>
      </p:sp>
      <p:sp>
        <p:nvSpPr>
          <p:cNvPr id="12" name="S07-label58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[곰]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있는 글자 쓰기</a:t>
            </a:r>
            <a:endParaRPr lang="ko-KR" sz="4400" dirty="0"/>
          </a:p>
        </p:txBody>
      </p:sp>
      <p:sp>
        <p:nvSpPr>
          <p:cNvPr id="3" name="S08-tile59"/>
          <p:cNvSpPr txBox="1"/>
          <p:nvPr/>
        </p:nvSpPr>
        <p:spPr>
          <a:xfrm>
            <a:off x="7534107" y="272034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7100" dirty="0"/>
          </a:p>
        </p:txBody>
      </p:sp>
      <p:sp>
        <p:nvSpPr>
          <p:cNvPr id="4" name="S08-label60"/>
          <p:cNvSpPr txBox="1"/>
          <p:nvPr/>
        </p:nvSpPr>
        <p:spPr>
          <a:xfrm>
            <a:off x="7433523" y="440283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ㄱ+ㅗ+ㅁ</a:t>
            </a:r>
            <a:endParaRPr lang="ko-KR" sz="2200" dirty="0"/>
          </a:p>
        </p:txBody>
      </p:sp>
      <p:sp>
        <p:nvSpPr>
          <p:cNvPr id="5" name="S08-tile61"/>
          <p:cNvSpPr txBox="1"/>
          <p:nvPr/>
        </p:nvSpPr>
        <p:spPr>
          <a:xfrm>
            <a:off x="9381195" y="272034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7100" dirty="0"/>
          </a:p>
        </p:txBody>
      </p:sp>
      <p:sp>
        <p:nvSpPr>
          <p:cNvPr id="6" name="S08-label62"/>
          <p:cNvSpPr txBox="1"/>
          <p:nvPr/>
        </p:nvSpPr>
        <p:spPr>
          <a:xfrm>
            <a:off x="9280611" y="440283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ㅅ+ㅏ+ㄴ</a:t>
            </a:r>
            <a:endParaRPr lang="ko-KR" sz="2200" dirty="0"/>
          </a:p>
        </p:txBody>
      </p:sp>
      <p:sp>
        <p:nvSpPr>
          <p:cNvPr id="7" name="S08-stepno63"/>
          <p:cNvSpPr txBox="1"/>
          <p:nvPr/>
        </p:nvSpPr>
        <p:spPr>
          <a:xfrm>
            <a:off x="548640" y="25628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64"/>
          <p:cNvSpPr txBox="1"/>
          <p:nvPr/>
        </p:nvSpPr>
        <p:spPr>
          <a:xfrm>
            <a:off x="1325880" y="25628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첫소리 자음자를 써요.</a:t>
            </a:r>
            <a:endParaRPr lang="ko-KR" sz="3200" dirty="0"/>
          </a:p>
        </p:txBody>
      </p:sp>
      <p:sp>
        <p:nvSpPr>
          <p:cNvPr id="9" name="S08-stepno65"/>
          <p:cNvSpPr txBox="1"/>
          <p:nvPr/>
        </p:nvSpPr>
        <p:spPr>
          <a:xfrm>
            <a:off x="548640" y="3276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66"/>
          <p:cNvSpPr txBox="1"/>
          <p:nvPr/>
        </p:nvSpPr>
        <p:spPr>
          <a:xfrm>
            <a:off x="1325880" y="32760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모음자를 써요.</a:t>
            </a:r>
            <a:endParaRPr lang="ko-KR" sz="3200" dirty="0"/>
          </a:p>
        </p:txBody>
      </p:sp>
      <p:sp>
        <p:nvSpPr>
          <p:cNvPr id="11" name="S08-stepno67"/>
          <p:cNvSpPr txBox="1"/>
          <p:nvPr/>
        </p:nvSpPr>
        <p:spPr>
          <a:xfrm>
            <a:off x="548640" y="4035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68"/>
          <p:cNvSpPr txBox="1"/>
          <p:nvPr/>
        </p:nvSpPr>
        <p:spPr>
          <a:xfrm>
            <a:off x="1325880" y="398932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끝소리 받침을 맨 아래에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받침을 넣어 써요</a:t>
            </a:r>
            <a:endParaRPr lang="ko-KR" sz="4400" dirty="0"/>
          </a:p>
        </p:txBody>
      </p:sp>
      <p:sp>
        <p:nvSpPr>
          <p:cNvPr id="3" name="S09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합친 글자를 종이에 쓰고 읽어요.</a:t>
            </a:r>
            <a:endParaRPr lang="ko-KR" sz="3200" dirty="0"/>
          </a:p>
        </p:txBody>
      </p:sp>
      <p:sp>
        <p:nvSpPr>
          <p:cNvPr id="4" name="S09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글자 맨 아래에 써요.</a:t>
            </a:r>
            <a:endParaRPr lang="ko-KR" sz="3200" dirty="0"/>
          </a:p>
        </p:txBody>
      </p:sp>
      <p:sp>
        <p:nvSpPr>
          <p:cNvPr id="6" name="S09-chip7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eqtext7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 + ㅇ → □</a:t>
            </a:r>
            <a:endParaRPr lang="ko-KR" sz="3600" dirty="0"/>
          </a:p>
        </p:txBody>
      </p:sp>
      <p:sp>
        <p:nvSpPr>
          <p:cNvPr id="8" name="S09-chip7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7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 + ㄴ → □</a:t>
            </a:r>
            <a:endParaRPr lang="ko-KR" sz="3600" dirty="0"/>
          </a:p>
        </p:txBody>
      </p:sp>
      <p:sp>
        <p:nvSpPr>
          <p:cNvPr id="10" name="S09-chip7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7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 + ㅂ → □</a:t>
            </a:r>
            <a:endParaRPr lang="ko-KR" sz="3600" dirty="0"/>
          </a:p>
        </p:txBody>
      </p:sp>
      <p:sp>
        <p:nvSpPr>
          <p:cNvPr id="12" name="S09-chip7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eqtext7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+ ㄹ →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써요.</a:t>
            </a:r>
            <a:endParaRPr lang="ko-KR" sz="3200" dirty="0"/>
          </a:p>
        </p:txBody>
      </p:sp>
      <p:sp>
        <p:nvSpPr>
          <p:cNvPr id="4" name="S10-chip8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word82"/>
          <p:cNvSpPr txBox="1"/>
          <p:nvPr/>
        </p:nvSpPr>
        <p:spPr>
          <a:xfrm>
            <a:off x="1344168" y="20116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600" dirty="0"/>
          </a:p>
        </p:txBody>
      </p:sp>
      <p:sp>
        <p:nvSpPr>
          <p:cNvPr id="6" name="S10-word83"/>
          <p:cNvSpPr txBox="1"/>
          <p:nvPr/>
        </p:nvSpPr>
        <p:spPr>
          <a:xfrm>
            <a:off x="3584448" y="201168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600" dirty="0"/>
          </a:p>
        </p:txBody>
      </p:sp>
      <p:sp>
        <p:nvSpPr>
          <p:cNvPr id="7" name="S10-chip8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word85"/>
          <p:cNvSpPr txBox="1"/>
          <p:nvPr/>
        </p:nvSpPr>
        <p:spPr>
          <a:xfrm>
            <a:off x="1344168" y="347472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600" dirty="0"/>
          </a:p>
        </p:txBody>
      </p:sp>
      <p:sp>
        <p:nvSpPr>
          <p:cNvPr id="9" name="S10-word86"/>
          <p:cNvSpPr txBox="1"/>
          <p:nvPr/>
        </p:nvSpPr>
        <p:spPr>
          <a:xfrm>
            <a:off x="3584448" y="3474720"/>
            <a:ext cx="196596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</a:t>
            </a:r>
            <a:endParaRPr lang="ko-KR" sz="3600" dirty="0"/>
          </a:p>
        </p:txBody>
      </p:sp>
      <p:sp>
        <p:nvSpPr>
          <p:cNvPr id="10" name="S10-chip8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낱말을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받침까지 읽고, 받침은 글자 맨 아래에 써요.</a:t>
            </a:r>
            <a:endParaRPr lang="ko-KR" sz="3200" dirty="0"/>
          </a:p>
        </p:txBody>
      </p:sp>
      <p:sp>
        <p:nvSpPr>
          <p:cNvPr id="5" name="S11-chip9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92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물 우산 구름</a:t>
            </a:r>
            <a:endParaRPr lang="ko-KR" sz="3200" dirty="0"/>
          </a:p>
        </p:txBody>
      </p:sp>
      <p:sp>
        <p:nvSpPr>
          <p:cNvPr id="7" name="S11-text93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소리로 끝내요</a:t>
            </a:r>
            <a:endParaRPr lang="ko-KR" sz="2600" dirty="0"/>
          </a:p>
        </p:txBody>
      </p:sp>
      <p:sp>
        <p:nvSpPr>
          <p:cNvPr id="8" name="S11-text94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· 사탕</a:t>
            </a:r>
            <a:endParaRPr lang="ko-KR" sz="3200" dirty="0"/>
          </a:p>
        </p:txBody>
      </p:sp>
      <p:sp>
        <p:nvSpPr>
          <p:cNvPr id="9" name="S11-text95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맨 아래에</a:t>
            </a:r>
            <a:endParaRPr lang="ko-KR" sz="2600" dirty="0"/>
          </a:p>
        </p:txBody>
      </p:sp>
      <p:sp>
        <p:nvSpPr>
          <p:cNvPr id="10" name="S11-chip9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9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[우사]</a:t>
            </a:r>
            <a:endParaRPr lang="ko-KR" sz="3200" dirty="0"/>
          </a:p>
        </p:txBody>
      </p:sp>
      <p:sp>
        <p:nvSpPr>
          <p:cNvPr id="12" name="S11-text9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우산의 받침을 빼먹음</a:t>
            </a:r>
            <a:endParaRPr lang="ko-KR" sz="2600" dirty="0"/>
          </a:p>
        </p:txBody>
      </p:sp>
      <p:sp>
        <p:nvSpPr>
          <p:cNvPr id="13" name="S11-text9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사타ㅇ</a:t>
            </a:r>
            <a:endParaRPr lang="ko-KR" sz="3200" dirty="0"/>
          </a:p>
        </p:txBody>
      </p:sp>
      <p:sp>
        <p:nvSpPr>
          <p:cNvPr id="14" name="S11-text10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받침을 옆에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글자일까요?</a:t>
            </a:r>
            <a:endParaRPr lang="ko-KR" sz="4400" dirty="0"/>
          </a:p>
        </p:txBody>
      </p:sp>
      <p:sp>
        <p:nvSpPr>
          <p:cNvPr id="3" name="S12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글자를 찾아 읽어요.</a:t>
            </a:r>
            <a:endParaRPr lang="ko-KR" sz="3200" dirty="0"/>
          </a:p>
        </p:txBody>
      </p:sp>
      <p:sp>
        <p:nvSpPr>
          <p:cNvPr id="5" name="S12-chip103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104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7100" dirty="0"/>
          </a:p>
        </p:txBody>
      </p:sp>
      <p:sp>
        <p:nvSpPr>
          <p:cNvPr id="7" name="S12-chip10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106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7100" dirty="0"/>
          </a:p>
        </p:txBody>
      </p:sp>
      <p:sp>
        <p:nvSpPr>
          <p:cNvPr id="9" name="S12-chip107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108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받침은 글자 맨 아래에 쓰고, 끝소리로 읽어요.</a:t>
            </a:r>
            <a:endParaRPr lang="ko-KR" sz="3200" dirty="0"/>
          </a:p>
        </p:txBody>
      </p:sp>
      <p:sp>
        <p:nvSpPr>
          <p:cNvPr id="5" name="S13-chip11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받침까지 읽기</a:t>
            </a:r>
            <a:endParaRPr lang="ko-KR" sz="2600" dirty="0"/>
          </a:p>
        </p:txBody>
      </p:sp>
      <p:sp>
        <p:nvSpPr>
          <p:cNvPr id="6" name="S13-chip11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받침 빼고 읽기</a:t>
            </a:r>
            <a:endParaRPr lang="ko-KR" sz="2600" dirty="0"/>
          </a:p>
        </p:txBody>
      </p:sp>
      <p:sp>
        <p:nvSpPr>
          <p:cNvPr id="7" name="S13-text11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눈 곰 지갑 사슴</a:t>
            </a:r>
            <a:endParaRPr lang="ko-KR" sz="2600" dirty="0"/>
          </a:p>
        </p:txBody>
      </p:sp>
      <p:sp>
        <p:nvSpPr>
          <p:cNvPr id="9" name="S13-text11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[강] 글자 쓰기</a:t>
            </a:r>
            <a:endParaRPr lang="ko-KR" sz="2600" dirty="0"/>
          </a:p>
        </p:txBody>
      </p:sp>
      <p:sp>
        <p:nvSpPr>
          <p:cNvPr id="10" name="S13-text11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받침은 어디에?</a:t>
            </a:r>
            <a:endParaRPr lang="ko-KR" sz="2600" dirty="0"/>
          </a:p>
        </p:txBody>
      </p:sp>
      <p:sp>
        <p:nvSpPr>
          <p:cNvPr id="11" name="S13-text1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쌍자음과 여러 가지 모음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받침 없는 글자</a:t>
            </a:r>
            <a:endParaRPr lang="ko-KR" sz="4400" dirty="0"/>
          </a:p>
        </p:txBody>
      </p:sp>
      <p:sp>
        <p:nvSpPr>
          <p:cNvPr id="3" name="S14-card118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19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[그]+[아] → [가]</a:t>
            </a:r>
            <a:endParaRPr lang="ko-KR" sz="3200" dirty="0"/>
          </a:p>
        </p:txBody>
      </p:sp>
      <p:sp>
        <p:nvSpPr>
          <p:cNvPr id="5" name="S14-card120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21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누운 모음자는 아래에</a:t>
            </a:r>
            <a:endParaRPr lang="ko-KR" sz="3200" dirty="0"/>
          </a:p>
        </p:txBody>
      </p:sp>
      <p:sp>
        <p:nvSpPr>
          <p:cNvPr id="7" name="S14-tile122"/>
          <p:cNvSpPr txBox="1"/>
          <p:nvPr/>
        </p:nvSpPr>
        <p:spPr>
          <a:xfrm>
            <a:off x="1577340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7100" dirty="0"/>
          </a:p>
        </p:txBody>
      </p:sp>
      <p:sp>
        <p:nvSpPr>
          <p:cNvPr id="8" name="S14-label123"/>
          <p:cNvSpPr txBox="1"/>
          <p:nvPr/>
        </p:nvSpPr>
        <p:spPr>
          <a:xfrm>
            <a:off x="1476756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9" name="S14-tile124"/>
          <p:cNvSpPr txBox="1"/>
          <p:nvPr/>
        </p:nvSpPr>
        <p:spPr>
          <a:xfrm>
            <a:off x="3424428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</a:t>
            </a:r>
            <a:endParaRPr lang="ko-KR" sz="7100" dirty="0"/>
          </a:p>
        </p:txBody>
      </p:sp>
      <p:sp>
        <p:nvSpPr>
          <p:cNvPr id="10" name="S14-label125"/>
          <p:cNvSpPr txBox="1"/>
          <p:nvPr/>
        </p:nvSpPr>
        <p:spPr>
          <a:xfrm>
            <a:off x="3323844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[너]</a:t>
            </a:r>
            <a:endParaRPr lang="ko-KR" sz="2200" dirty="0"/>
          </a:p>
        </p:txBody>
      </p:sp>
      <p:sp>
        <p:nvSpPr>
          <p:cNvPr id="11" name="S14-tile126"/>
          <p:cNvSpPr txBox="1"/>
          <p:nvPr/>
        </p:nvSpPr>
        <p:spPr>
          <a:xfrm>
            <a:off x="5271516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ko-KR" sz="7100" dirty="0"/>
          </a:p>
        </p:txBody>
      </p:sp>
      <p:sp>
        <p:nvSpPr>
          <p:cNvPr id="12" name="S14-label127"/>
          <p:cNvSpPr txBox="1"/>
          <p:nvPr/>
        </p:nvSpPr>
        <p:spPr>
          <a:xfrm>
            <a:off x="5170932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[도]</a:t>
            </a:r>
            <a:endParaRPr lang="ko-KR" sz="2200" dirty="0"/>
          </a:p>
        </p:txBody>
      </p:sp>
      <p:sp>
        <p:nvSpPr>
          <p:cNvPr id="13" name="S14-tile128"/>
          <p:cNvSpPr txBox="1"/>
          <p:nvPr/>
        </p:nvSpPr>
        <p:spPr>
          <a:xfrm>
            <a:off x="7118604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</a:t>
            </a:r>
            <a:endParaRPr lang="ko-KR" sz="7100" dirty="0"/>
          </a:p>
        </p:txBody>
      </p:sp>
      <p:sp>
        <p:nvSpPr>
          <p:cNvPr id="14" name="S14-label129"/>
          <p:cNvSpPr txBox="1"/>
          <p:nvPr/>
        </p:nvSpPr>
        <p:spPr>
          <a:xfrm>
            <a:off x="7018020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[무]</a:t>
            </a:r>
            <a:endParaRPr lang="ko-KR" sz="2200" dirty="0"/>
          </a:p>
        </p:txBody>
      </p:sp>
      <p:sp>
        <p:nvSpPr>
          <p:cNvPr id="15" name="S14-tile130"/>
          <p:cNvSpPr txBox="1"/>
          <p:nvPr/>
        </p:nvSpPr>
        <p:spPr>
          <a:xfrm>
            <a:off x="8965692" y="21717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endParaRPr lang="ko-KR" sz="7100" dirty="0"/>
          </a:p>
        </p:txBody>
      </p:sp>
      <p:sp>
        <p:nvSpPr>
          <p:cNvPr id="16" name="S14-label131"/>
          <p:cNvSpPr txBox="1"/>
          <p:nvPr/>
        </p:nvSpPr>
        <p:spPr>
          <a:xfrm>
            <a:off x="8865108" y="385419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[비]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받침 있는 글자</dc:title>
  <dc:subject>KR22-G01-KOR-BATCHIM-L01</dc:subject>
  <dc:creator>education-ppt</dc:creator>
  <cp:lastModifiedBy>education-ppt</cp:lastModifiedBy>
  <cp:revision>1</cp:revision>
  <dcterms:created xsi:type="dcterms:W3CDTF">2026-10-26T07:10:03Z</dcterms:created>
  <dcterms:modified xsi:type="dcterms:W3CDTF">2026-10-26T07:10:03Z</dcterms:modified>
</cp:coreProperties>
</file>