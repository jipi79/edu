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8c2262e-e5f2-69ed-c1fc-8c10506c1747}">
          <p14:sldIdLst>
            <p14:sldId id="256"/>
            <p14:sldId id="257"/>
          </p14:sldIdLst>
        </p14:section>
        <p14:section name="개념" id="{9f8316af-918c-fb33-8784-859c44c1b805}">
          <p14:sldIdLst>
            <p14:sldId id="258"/>
            <p14:sldId id="259"/>
            <p14:sldId id="260"/>
          </p14:sldIdLst>
        </p14:section>
        <p14:section name="연습" id="{178e060c-c382-1f70-d4fa-ceebc71c417d}">
          <p14:sldIdLst>
            <p14:sldId id="261"/>
            <p14:sldId id="262"/>
            <p14:sldId id="263"/>
            <p14:sldId id="264"/>
          </p14:sldIdLst>
        </p14:section>
        <p14:section name="확인" id="{a06cc230-01bf-d4d7-8250-99dae29f9ad1}">
          <p14:sldIdLst>
            <p14:sldId id="265"/>
            <p14:sldId id="266"/>
            <p14:sldId id="267"/>
          </p14:sldIdLst>
        </p14:section>
        <p14:section name="정리" id="{e6397faa-a787-f16d-88d6-3326459fb16d}">
          <p14:sldIdLst>
            <p14:sldId id="268"/>
          </p14:sldIdLst>
        </p14:section>
        <p14:section name="보충" id="{ddf76977-6cfa-a632-9186-f0ce4a5eaec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모음자를 보여 주고 소리에 관심을 갖게 합니다.
시간: 약 2분
이렇게 말해 보세요
- “오른쪽에 막대로 만든 글자가 있지? 이런 글자를 ‘모음자’라고 해. 오늘은 모음자가 어떤 소리를 내는지 배울 거야.”
- “막대가 서 있기도 하고 누워 있기도 하네. 어떤 모양이 보여?”
예상 답
- “막대가 있어요.” “몰라요.”
주의
- 아이는 아직 글을 읽지 못합니다. 화면의 글은 모두 부모가 읽어 줍니다.
- 소리를 맞히지 못해도 괜찮습니다. 수업 끝에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확인(모양과 방향 구별)]
목적: 모양의 방향을 눈으로 구별하는지, ‘오른쪽·왼쪽·위·아래’라는 말을 아는지 확인합니다. 모음자를 배우는 데 꼭 필요합니다.
시간: 약 3분
이렇게 말해 보세요
- “오른쪽 상자 안의 모양과 똑같은 것은 ①, ②, ③ 중에서 어느 것일까? 손가락으로 짚어 봐.”
- “짧은 막대는 긴 막대의 어느 쪽에 붙어 있어? 오른쪽이야, 왼쪽이야?”
정답
- ③. 짧은 막대가 긴 막대의 오른쪽에 붙어 있습니다.
- ①은 짧은 막대가 왼쪽, ②는 위에 붙어 있어 다른 모양입니다.
막히면
- 아이에게 오른손을 들게 하고 “이쪽이 오른쪽이야”라고 알려 준 뒤 다시 찾게 합니다.
- ①을 고르거나 오른쪽·왼쪽·위·아래를 헷갈리면 S14(보충)를 먼저 합니다.
주의
- 아직 소리는 묻지 않습니다. 모양만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ㅡ와 ㅣ의 모양과 소리]
목적: 긴 막대 하나로 된 모음자 ㅡ와 ㅣ의 소리를 입 모양과 함께 익힙니다.
시간: 약 3분
이렇게 말해 보세요
- “이 막대는 누워 있지? ㅡ는 [으] 소리야. 입술을 옆으로 살짝 벌리고 위아래 이를 거의 붙인 채 [으—] 해 봐.”
- “이 막대는 서 있어. ㅣ는 [이] 소리야. 웃을 때처럼 입꼬리를 양옆으로 당기고 [이—].”
- “엄마(아빠)가 가리키는 막대의 소리를 말해 볼래?”
예상 답
- ㅡ [으], ㅣ [이]
막히면
- 손거울을 보며 함께 입 모양을 만듭니다. [으]는 입술이 평평하고, [이]는 입꼬리가 올라갑니다.
- 젓가락을 눕히면 [으], 세우면 [이]라고 말하며 놀이처럼 번갈아 바꿉니다.
주의
- 화면의 작은 글자 ‘으’, ‘이’는 모음자의 이름이자 소리입니다. 앞의 동그라미(ㅇ)는 다음 시간에 배우므로 지금은 설명하지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짧은 막대가 하나인 모음자]
목적: 짧은 막대가 붙은 자리에 따라 소리가 달라지는 것을 압니다.
시간: 약 5분
이렇게 말해 보세요
- “ㅣ의 오른쪽에 짧은 막대를 붙이면 ㅏ. [아] 소리야. 입을 크게 벌리고 [아—].”
- “왼쪽에 붙이면 ㅓ. [어] 소리야. 입을 [아]보다 조금 덜 벌리고 [어—].”
- “ㅡ의 위에 붙이면 ㅗ. [오] 소리야. 입술을 동그랗게 모으고 [오—].”
- “아래에 붙이면 ㅜ. [우] 소리야. 입술을 [오]보다 더 작게 모아 앞으로 쭉 내밀고 [우—].”
- “엄마(아빠)가 짚는 글자를 읽어 볼래? 짧은 막대가 어디 있는지 먼저 봐.”
예상 답
- ㅏ [아], ㅓ [어], ㅗ [오], ㅜ [우]
막히면
- 젓가락(긴 막대)과 면봉(짧은 막대)으로 아이가 직접 ㅏ ㅓ ㅗ ㅜ를 만들게 하고, 만들 때마다 소리를 함께 냅니다.
- [어]와 [오]가 비슷하게 들리면 손거울로 입술을 봅니다. [오]만 입술이 동그랗습니다.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짧은 막대가 둘인 모음자]
목적: 짧은 막대가 둘이면 [이]가 앞에 살짝 붙은 소리가 된다는 것을 압니다.
시간: 약 4분
이렇게 말해 보세요
- “짧은 막대가 하나 더 생겼어. 막대가 둘이면 소리 앞에 [이]가 살짝 붙어. [이]와 [아]를 빨리 이어 말하면? [야]!”
- “ㅑ [야], ㅕ [여], ㅛ [요], ㅠ [유]. 입꼬리를 [이]처럼 옆으로 당겼다가 재빨리 [아], [어], [오], [우] 입 모양으로 바꿔.”
- “이제 10개를 차례대로 말해 보자. [아, 야, 어, 여, 오, 요, 우, 유, 으, 이].”
예상 답
- ㅑ [야], ㅕ [여], ㅛ [요], ㅠ [유]
막히면
- [이—아]를 천천히 말했다가 점점 빨리 말해 [야]가 되게 합니다. [이—어] → [여], [이—오] → [요], [이—우] → [유]도 같습니다.
- 면봉 하나로 ㅏ를 만든 뒤 면봉을 하나 더 붙여 ㅑ로 바꾸고, 소리도 [아]에서 [야]로 바꿉니다(M2).
주의
- 아이가 지치면 여기서 잠깐 쉬어도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비교(ㅏ와 ㅓ)]
목적: 짧은 막대의 자리를 보고 ㅏ와 ㅓ를 구별합니다(M1).
시간: 약 3분
이렇게 말해 보세요
- “친구가 ㅓ를 보고 [아]라고 읽었대. 맞게 읽었을까?”
- “ㅓ는 짧은 막대가 어느 쪽에 있어? 그러면 어떤 소리야?”
정답
- 바르지 않습니다. ㅓ는 짧은 막대가 왼쪽에 있어서 [어]로 읽습니다. [아]는 짧은 막대가 오른쪽에 있는 ㅏ입니다.
막히면
- 아이의 오른손을 화면의 ㅏ 쪽에 대 보게 하고 “짧은 막대가 오른손 쪽이면 [아]”라고 말해 줍니다.
- ㅗ와 ㅜ도 같은 방법으로 비교합니다. 짧은 막대가 위면 [오], 아래면 [우]입니다.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소리 듣고 모음자 짚기]
목적: 차례가 섞여 있어도 소리를 듣고 알맞은 모음자를 찾습니다.
시간: 약 4분
이렇게 말해 보세요
- “엄마(아빠)가 소리를 말하면 그 모음자를 손가락으로 짚어 봐. [오]!”
- 부모가 말할 차례: [오] → [어] → [유] → [아] → [으] → [여]
- “이번에는 바꿔서 해 보자. 네가 하나를 짚고 소리를 말해 줘.”
정답
- [오] ㅗ(둘째 줄 첫째), [어] ㅓ(첫째 줄 첫째), [유] ㅠ(첫째 줄 넷째)
- [아] ㅏ(첫째 줄 셋째), [으] ㅡ(둘째 줄 셋째), [여] ㅕ(둘째 줄 둘째)
막히면
- “짧은 막대가 몇 개야? 어디에 있어?”라고 차례로 물어 범위를 좁혀 줍니다.
- [유]와 [우]처럼 비슷한 소리는 부모가 입 모양을 크게 보여 주며 다시 말합니다.
주의
- 여기까지가 읽기입니다. 아이가 지치면 여기서 나누어 다음 날 S08(쓰기)부터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모음자 쓰는 차례]
목적: 획을 긋는 방향과 쓰는 차례를 시범으로 보여 줍니다.
시간: 약 4분
이렇게 말해 보세요
- “엄마(아빠)가 공중에 크게 써 볼게. ㅏ는 긴 막대를 위에서 아래로 먼저 긋고, 짧은 막대를 왼쪽에서 오른쪽으로 그어.”
- “ㅓ는 왼쪽에 있는 짧은 막대를 먼저 긋고, 긴 막대를 위에서 아래로.”
- “ㅗ는 위에 있는 짧은 막대를 먼저 위에서 아래로, 그다음 ㅡ를 왼쪽에서 오른쪽으로. ㅜ는 ㅡ를 먼저, 짧은 막대를 나중에.”
- “같이 공중에 써 보자. 쓰면서 소리도 내 보자.”
예상 답
- 아이가 부모를 따라 공중에 쓰며 [아], [어], [오], [우]라고 말합니다.
막히면
- 부모가 아이 손등에 손을 얹고 함께 크게 씁니다.
- 획마다 “위에서 아래로”, “왼쪽에서 오른쪽으로”를 소리 내어 말합니다(M3).
주의
- 짧은 막대가 둘인 글자도 같습니다. ㅑ: ㅣ → 위 막대 → 아래 막대, ㅕ: 위 막대 → 아래 막대 → ㅣ, ㅛ: 왼쪽 막대 → 오른쪽 막대 → ㅡ, ㅠ: ㅡ → 왼쪽 막대 → 오른쪽 막대.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따라 쓰기]
목적: 도움을 받으며 짧은 막대가 둘인 모음자를 쓰는 차례대로 씁니다.
시간: 약 4분
이렇게 말해 보세요
- “①부터 공중에 써 볼까? 어떤 막대를 먼저 그을까?”
- “이제 활동지 1번과 2번을 따라 써 보자. 쓰면서 소리도 내.”
정답
- ① ㅑ: ㅣ → 위 막대 → 아래 막대 [야]
- ② ㅕ: 위 막대 → 아래 막대 → ㅣ [여]
- ③ ㅛ: 왼쪽 막대 → 오른쪽 막대 → ㅡ [요]
- ④ ㅠ: ㅡ → 왼쪽 막대 → 오른쪽 막대 [유]
막히면
- S08의 ㅏ, ㅓ, ㅗ, ㅜ를 먼저 한 번 더 쓰고, 짧은 막대를 하나씩 더하게 합니다.
- 활동지 글자를 손가락으로 먼저 덧그린 뒤 연필로 씁니다.
- 활동지 글자가 작게 느껴지면 부모가 빈 종이에 크게 써 주고 따라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읽고 쓰기]
목적: 도움 없이 모음자를 읽고, 불러 주는 모음자를 쓰는지 확인합니다.
시간: 약 4분
이렇게 말해 보세요
- “이번에는 혼자 해 볼래? ①과 ②를 하나씩 읽어 줘.”
- “③은 엄마(아빠)가 말하는 소리의 모음자를 종이에 써 봐. [어]… 이번엔 [유].”
정답
- ① ㅕ [여], ㅜ [우], ㅑ [야]
- ② ㅗ [오], ㅓ [어], ㅡ [으]
- ③ [어] → ㅓ(짧은 막대 먼저), [유] → ㅠ(ㅡ 먼저)
막히면
- 틀린 글자는 바로 고쳐 주지 말고 “짧은 막대가 어디에 몇 개 있어?”라고만 묻습니다.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흔한 실수와 비교합니다.
시간: 약 2분
이렇게 말해 보세요
- “네가 읽은 것과 왼쪽 정답을 비교해 보자.”
- “오른쪽처럼 읽으면 왜 틀렸을까?”
예상 답
- “ㅕ는 막대가 둘이라서 [여]예요.” “ㅓ는 막대가 왼쪽이라 [어]예요.”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확인]
목적: 처음 듣는 조합에서 소리와 모음자를 연결하는지 확인합니다.
시간: 약 2분
이렇게 말해 보세요
- “[우] 소리가 나는 글자는 가, 나, 다 중에서 무엇일까? 어떻게 알았어?”
- “이번에는 [유]!”
정답
- [우] → 나(ㅜ). 짧은 막대가 아래에 하나 있습니다.
- [유] → 다(ㅠ). 짧은 막대가 아래에 둘 있습니다. 가(ㅗ)는 [오]입니다.
막히면
- S04와 S05를 다시 보여 주고 짧은 막대의 자리와 개수를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복습을 알려 줍니다.
시간: 약 2분
이렇게 말해 보세요
- “오늘 배운 것을 말해 볼래? 모음자는 무엇을 보면 읽을 수 있어?”
- “처음에 본 ㅏ는 무슨 소리였지?”
예상 답
- “짧은 막대가 어디 있는지 봐요.” “ㅏ는 [아]예요.”
정답
- ① [어] [요] [유] [이] [야] ② ㅗ(짧은 막대 먼저, ㅡ 나중) ③ [이]가 붙은 소리가 나요(ㅏ [아] → ㅑ [야]).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보충(방향 말)]
목적: S02에서 방향을 헷갈리면 오른쪽·왼쪽·위·아래를 몸과 물건으로 먼저 익힙니다.
시간: 약 5분
이렇게 말해 보세요
- “오른손 들어! 왼손 들어! 손을 머리 위로! 발을 아래로 쿵!”
- “젓가락을 세우고 면봉을 오른쪽에 붙여 봐. 이번엔 왼쪽에 붙여 봐. 화면에서 똑같은 모양을 찾아볼까?”
정답
- 면봉을 오른쪽에 붙이면 ㅏ, 왼쪽에 붙이면 ㅓ, 젓가락을 눕히고 위에 붙이면 ㅗ, 아래에 붙이면 ㅜ와 같은 모양입니다.
막히면
- 아이의 오른손에 스티커나 고무줄을 끼워 오른쪽을 표시해 줍니다.
주의
- 이 차시는 한글의 첫 차시라 계획상 앞 차시가 없습니다. 보충으로도 방향을 자주 헷갈리면 며칠 동안 방향 놀이를 더 한 뒤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한글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기본 모음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국어 · 기본 모음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국어 · 기본 모음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모음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ㅏ는 어떤 소리가 날까요?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8183880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5900" dirty="0"/>
          </a:p>
        </p:txBody>
      </p:sp>
      <p:sp>
        <p:nvSpPr>
          <p:cNvPr id="6" name="S01-tile3"/>
          <p:cNvSpPr txBox="1"/>
          <p:nvPr/>
        </p:nvSpPr>
        <p:spPr>
          <a:xfrm>
            <a:off x="8183880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5900" dirty="0"/>
          </a:p>
        </p:txBody>
      </p:sp>
      <p:sp>
        <p:nvSpPr>
          <p:cNvPr id="7" name="S01-tile4"/>
          <p:cNvSpPr txBox="1"/>
          <p:nvPr/>
        </p:nvSpPr>
        <p:spPr>
          <a:xfrm>
            <a:off x="9747504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5900" dirty="0"/>
          </a:p>
        </p:txBody>
      </p:sp>
      <p:sp>
        <p:nvSpPr>
          <p:cNvPr id="8" name="S01-card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모음자를 보고 소리 내어 읽어요.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모음자를 차례대로 바르게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똑같은 모양 찾기</a:t>
            </a:r>
            <a:endParaRPr lang="ko-KR" sz="44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오른쪽과 똑같은 모양을 찾아요.</a:t>
            </a:r>
            <a:endParaRPr lang="ko-KR" sz="3200" dirty="0"/>
          </a:p>
        </p:txBody>
      </p:sp>
      <p:sp>
        <p:nvSpPr>
          <p:cNvPr id="4" name="S02-card8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9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모양</a:t>
            </a:r>
            <a:endParaRPr lang="ko-KR" sz="3200" dirty="0"/>
          </a:p>
        </p:txBody>
      </p:sp>
      <p:sp>
        <p:nvSpPr>
          <p:cNvPr id="6" name="S02-tile10"/>
          <p:cNvSpPr txBox="1"/>
          <p:nvPr/>
        </p:nvSpPr>
        <p:spPr>
          <a:xfrm>
            <a:off x="8273034" y="36804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5900" dirty="0"/>
          </a:p>
        </p:txBody>
      </p:sp>
      <p:sp>
        <p:nvSpPr>
          <p:cNvPr id="7" name="S02-chip1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" name="S02-tile12"/>
          <p:cNvSpPr txBox="1"/>
          <p:nvPr/>
        </p:nvSpPr>
        <p:spPr>
          <a:xfrm>
            <a:off x="2987802" y="2011680"/>
            <a:ext cx="1280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5500" dirty="0"/>
          </a:p>
        </p:txBody>
      </p:sp>
      <p:sp>
        <p:nvSpPr>
          <p:cNvPr id="9" name="S02-chip1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0" name="S02-tile14"/>
          <p:cNvSpPr txBox="1"/>
          <p:nvPr/>
        </p:nvSpPr>
        <p:spPr>
          <a:xfrm>
            <a:off x="2987802" y="3474720"/>
            <a:ext cx="1280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5500" dirty="0"/>
          </a:p>
        </p:txBody>
      </p:sp>
      <p:sp>
        <p:nvSpPr>
          <p:cNvPr id="11" name="S02-chip1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2" name="S02-tile16"/>
          <p:cNvSpPr txBox="1"/>
          <p:nvPr/>
        </p:nvSpPr>
        <p:spPr>
          <a:xfrm>
            <a:off x="2987802" y="4937760"/>
            <a:ext cx="1280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5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막대 ㅡ와 ㅣ</a:t>
            </a:r>
            <a:endParaRPr lang="ko-KR" sz="4400" dirty="0"/>
          </a:p>
        </p:txBody>
      </p:sp>
      <p:sp>
        <p:nvSpPr>
          <p:cNvPr id="3" name="S03-card17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8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누워 있어요</a:t>
            </a:r>
            <a:endParaRPr lang="ko-KR" sz="3200" dirty="0"/>
          </a:p>
        </p:txBody>
      </p:sp>
      <p:sp>
        <p:nvSpPr>
          <p:cNvPr id="5" name="S03-card19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0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 있어요</a:t>
            </a:r>
            <a:endParaRPr lang="ko-KR" sz="3200" dirty="0"/>
          </a:p>
        </p:txBody>
      </p:sp>
      <p:sp>
        <p:nvSpPr>
          <p:cNvPr id="7" name="S03-tile21"/>
          <p:cNvSpPr txBox="1"/>
          <p:nvPr/>
        </p:nvSpPr>
        <p:spPr>
          <a:xfrm>
            <a:off x="3982212" y="19888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ㅡ</a:t>
            </a:r>
            <a:endParaRPr lang="ko-KR" sz="8700" dirty="0"/>
          </a:p>
        </p:txBody>
      </p:sp>
      <p:sp>
        <p:nvSpPr>
          <p:cNvPr id="8" name="S03-label22"/>
          <p:cNvSpPr txBox="1"/>
          <p:nvPr/>
        </p:nvSpPr>
        <p:spPr>
          <a:xfrm>
            <a:off x="3881628" y="403707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</a:t>
            </a:r>
            <a:endParaRPr lang="ko-KR" sz="2200" dirty="0"/>
          </a:p>
        </p:txBody>
      </p:sp>
      <p:sp>
        <p:nvSpPr>
          <p:cNvPr id="9" name="S03-tile23"/>
          <p:cNvSpPr txBox="1"/>
          <p:nvPr/>
        </p:nvSpPr>
        <p:spPr>
          <a:xfrm>
            <a:off x="6195060" y="19888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ㅣ</a:t>
            </a:r>
            <a:endParaRPr lang="ko-KR" sz="8700" dirty="0"/>
          </a:p>
        </p:txBody>
      </p:sp>
      <p:sp>
        <p:nvSpPr>
          <p:cNvPr id="10" name="S03-label24"/>
          <p:cNvSpPr txBox="1"/>
          <p:nvPr/>
        </p:nvSpPr>
        <p:spPr>
          <a:xfrm>
            <a:off x="6094476" y="4037076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막대가 하나</a:t>
            </a:r>
            <a:endParaRPr lang="ko-KR" sz="4400" dirty="0"/>
          </a:p>
        </p:txBody>
      </p:sp>
      <p:sp>
        <p:nvSpPr>
          <p:cNvPr id="3" name="S04-card25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6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ㅏ · 왼쪽 ㅓ</a:t>
            </a:r>
            <a:endParaRPr lang="ko-KR" sz="3200" dirty="0"/>
          </a:p>
        </p:txBody>
      </p:sp>
      <p:sp>
        <p:nvSpPr>
          <p:cNvPr id="5" name="S04-card27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8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ㅗ · 아래 ㅜ</a:t>
            </a:r>
            <a:endParaRPr lang="ko-KR" sz="3200" dirty="0"/>
          </a:p>
        </p:txBody>
      </p:sp>
      <p:sp>
        <p:nvSpPr>
          <p:cNvPr id="7" name="S04-tile29"/>
          <p:cNvSpPr txBox="1"/>
          <p:nvPr/>
        </p:nvSpPr>
        <p:spPr>
          <a:xfrm>
            <a:off x="2135124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7900" dirty="0"/>
          </a:p>
        </p:txBody>
      </p:sp>
      <p:sp>
        <p:nvSpPr>
          <p:cNvPr id="8" name="S04-label30"/>
          <p:cNvSpPr txBox="1"/>
          <p:nvPr/>
        </p:nvSpPr>
        <p:spPr>
          <a:xfrm>
            <a:off x="2034540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</a:t>
            </a:r>
            <a:endParaRPr lang="ko-KR" sz="2200" dirty="0"/>
          </a:p>
        </p:txBody>
      </p:sp>
      <p:sp>
        <p:nvSpPr>
          <p:cNvPr id="9" name="S04-tile31"/>
          <p:cNvSpPr txBox="1"/>
          <p:nvPr/>
        </p:nvSpPr>
        <p:spPr>
          <a:xfrm>
            <a:off x="4165092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7900" dirty="0"/>
          </a:p>
        </p:txBody>
      </p:sp>
      <p:sp>
        <p:nvSpPr>
          <p:cNvPr id="10" name="S04-label32"/>
          <p:cNvSpPr txBox="1"/>
          <p:nvPr/>
        </p:nvSpPr>
        <p:spPr>
          <a:xfrm>
            <a:off x="4064508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</a:t>
            </a:r>
            <a:endParaRPr lang="ko-KR" sz="2200" dirty="0"/>
          </a:p>
        </p:txBody>
      </p:sp>
      <p:sp>
        <p:nvSpPr>
          <p:cNvPr id="11" name="S04-tile33"/>
          <p:cNvSpPr txBox="1"/>
          <p:nvPr/>
        </p:nvSpPr>
        <p:spPr>
          <a:xfrm>
            <a:off x="6195060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7900" dirty="0"/>
          </a:p>
        </p:txBody>
      </p:sp>
      <p:sp>
        <p:nvSpPr>
          <p:cNvPr id="12" name="S04-label34"/>
          <p:cNvSpPr txBox="1"/>
          <p:nvPr/>
        </p:nvSpPr>
        <p:spPr>
          <a:xfrm>
            <a:off x="6094476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</a:t>
            </a:r>
            <a:endParaRPr lang="ko-KR" sz="2200" dirty="0"/>
          </a:p>
        </p:txBody>
      </p:sp>
      <p:sp>
        <p:nvSpPr>
          <p:cNvPr id="13" name="S04-tile35"/>
          <p:cNvSpPr txBox="1"/>
          <p:nvPr/>
        </p:nvSpPr>
        <p:spPr>
          <a:xfrm>
            <a:off x="8225028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7900" dirty="0"/>
          </a:p>
        </p:txBody>
      </p:sp>
      <p:sp>
        <p:nvSpPr>
          <p:cNvPr id="14" name="S04-label36"/>
          <p:cNvSpPr txBox="1"/>
          <p:nvPr/>
        </p:nvSpPr>
        <p:spPr>
          <a:xfrm>
            <a:off x="8124444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막대가 둘</a:t>
            </a:r>
            <a:endParaRPr lang="ko-KR" sz="4400" dirty="0"/>
          </a:p>
        </p:txBody>
      </p:sp>
      <p:sp>
        <p:nvSpPr>
          <p:cNvPr id="3" name="S05-card37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8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 아 → ㅑ 야</a:t>
            </a:r>
            <a:endParaRPr lang="ko-KR" sz="3200" dirty="0"/>
          </a:p>
        </p:txBody>
      </p:sp>
      <p:sp>
        <p:nvSpPr>
          <p:cNvPr id="5" name="S05-card39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40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 오 → ㅛ 요</a:t>
            </a:r>
            <a:endParaRPr lang="ko-KR" sz="3200" dirty="0"/>
          </a:p>
        </p:txBody>
      </p:sp>
      <p:sp>
        <p:nvSpPr>
          <p:cNvPr id="7" name="S05-tile41"/>
          <p:cNvSpPr txBox="1"/>
          <p:nvPr/>
        </p:nvSpPr>
        <p:spPr>
          <a:xfrm>
            <a:off x="2135124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ㅑ</a:t>
            </a:r>
            <a:endParaRPr lang="ko-KR" sz="7900" dirty="0"/>
          </a:p>
        </p:txBody>
      </p:sp>
      <p:sp>
        <p:nvSpPr>
          <p:cNvPr id="8" name="S05-label42"/>
          <p:cNvSpPr txBox="1"/>
          <p:nvPr/>
        </p:nvSpPr>
        <p:spPr>
          <a:xfrm>
            <a:off x="2034540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</a:t>
            </a:r>
            <a:endParaRPr lang="ko-KR" sz="2200" dirty="0"/>
          </a:p>
        </p:txBody>
      </p:sp>
      <p:sp>
        <p:nvSpPr>
          <p:cNvPr id="9" name="S05-tile43"/>
          <p:cNvSpPr txBox="1"/>
          <p:nvPr/>
        </p:nvSpPr>
        <p:spPr>
          <a:xfrm>
            <a:off x="4165092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ㅕ</a:t>
            </a:r>
            <a:endParaRPr lang="ko-KR" sz="7900" dirty="0"/>
          </a:p>
        </p:txBody>
      </p:sp>
      <p:sp>
        <p:nvSpPr>
          <p:cNvPr id="10" name="S05-label44"/>
          <p:cNvSpPr txBox="1"/>
          <p:nvPr/>
        </p:nvSpPr>
        <p:spPr>
          <a:xfrm>
            <a:off x="4064508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</a:t>
            </a:r>
            <a:endParaRPr lang="ko-KR" sz="2200" dirty="0"/>
          </a:p>
        </p:txBody>
      </p:sp>
      <p:sp>
        <p:nvSpPr>
          <p:cNvPr id="11" name="S05-tile45"/>
          <p:cNvSpPr txBox="1"/>
          <p:nvPr/>
        </p:nvSpPr>
        <p:spPr>
          <a:xfrm>
            <a:off x="6195060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ㅛ</a:t>
            </a:r>
            <a:endParaRPr lang="ko-KR" sz="7900" dirty="0"/>
          </a:p>
        </p:txBody>
      </p:sp>
      <p:sp>
        <p:nvSpPr>
          <p:cNvPr id="12" name="S05-label46"/>
          <p:cNvSpPr txBox="1"/>
          <p:nvPr/>
        </p:nvSpPr>
        <p:spPr>
          <a:xfrm>
            <a:off x="6094476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</a:t>
            </a:r>
            <a:endParaRPr lang="ko-KR" sz="2200" dirty="0"/>
          </a:p>
        </p:txBody>
      </p:sp>
      <p:sp>
        <p:nvSpPr>
          <p:cNvPr id="13" name="S05-tile47"/>
          <p:cNvSpPr txBox="1"/>
          <p:nvPr/>
        </p:nvSpPr>
        <p:spPr>
          <a:xfrm>
            <a:off x="8225028" y="208026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ㅠ</a:t>
            </a:r>
            <a:endParaRPr lang="ko-KR" sz="7900" dirty="0"/>
          </a:p>
        </p:txBody>
      </p:sp>
      <p:sp>
        <p:nvSpPr>
          <p:cNvPr id="14" name="S05-label48"/>
          <p:cNvSpPr txBox="1"/>
          <p:nvPr/>
        </p:nvSpPr>
        <p:spPr>
          <a:xfrm>
            <a:off x="8124444" y="39456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ㅏ일까요, ㅓ일까요?</a:t>
            </a:r>
            <a:endParaRPr lang="ko-KR" sz="4400" dirty="0"/>
          </a:p>
        </p:txBody>
      </p:sp>
      <p:sp>
        <p:nvSpPr>
          <p:cNvPr id="3" name="S06-card4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5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ㅓ를 보고 [아]라고 읽었어요.</a:t>
            </a:r>
            <a:endParaRPr lang="ko-KR" sz="3200" dirty="0"/>
          </a:p>
        </p:txBody>
      </p:sp>
      <p:sp>
        <p:nvSpPr>
          <p:cNvPr id="5" name="S06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읽었나요? 무엇을 보고 알았나요?</a:t>
            </a:r>
            <a:endParaRPr lang="ko-KR" sz="3200" dirty="0"/>
          </a:p>
        </p:txBody>
      </p:sp>
      <p:sp>
        <p:nvSpPr>
          <p:cNvPr id="7" name="S06-chip5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막대가 오른쪽</a:t>
            </a:r>
            <a:endParaRPr lang="ko-KR" sz="2600" dirty="0"/>
          </a:p>
        </p:txBody>
      </p:sp>
      <p:sp>
        <p:nvSpPr>
          <p:cNvPr id="8" name="S06-tile54"/>
          <p:cNvSpPr txBox="1"/>
          <p:nvPr/>
        </p:nvSpPr>
        <p:spPr>
          <a:xfrm>
            <a:off x="2544318" y="32232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5900" dirty="0"/>
          </a:p>
        </p:txBody>
      </p:sp>
      <p:sp>
        <p:nvSpPr>
          <p:cNvPr id="9" name="S06-label55"/>
          <p:cNvSpPr txBox="1"/>
          <p:nvPr/>
        </p:nvSpPr>
        <p:spPr>
          <a:xfrm>
            <a:off x="2443734" y="46314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</a:t>
            </a:r>
            <a:endParaRPr lang="ko-KR" sz="2200" dirty="0"/>
          </a:p>
        </p:txBody>
      </p:sp>
      <p:sp>
        <p:nvSpPr>
          <p:cNvPr id="10" name="S06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막대가 왼쪽</a:t>
            </a:r>
            <a:endParaRPr lang="ko-KR" sz="2600" dirty="0"/>
          </a:p>
        </p:txBody>
      </p:sp>
      <p:sp>
        <p:nvSpPr>
          <p:cNvPr id="11" name="S06-tile57"/>
          <p:cNvSpPr txBox="1"/>
          <p:nvPr/>
        </p:nvSpPr>
        <p:spPr>
          <a:xfrm>
            <a:off x="8273034" y="32232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5900" dirty="0"/>
          </a:p>
        </p:txBody>
      </p:sp>
      <p:sp>
        <p:nvSpPr>
          <p:cNvPr id="12" name="S06-label58"/>
          <p:cNvSpPr txBox="1"/>
          <p:nvPr/>
        </p:nvSpPr>
        <p:spPr>
          <a:xfrm>
            <a:off x="8172450" y="463143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짚어요</a:t>
            </a:r>
            <a:endParaRPr lang="ko-KR" sz="4400" dirty="0"/>
          </a:p>
        </p:txBody>
      </p:sp>
      <p:sp>
        <p:nvSpPr>
          <p:cNvPr id="3" name="S07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소리의 모음자를 짚어요.</a:t>
            </a:r>
            <a:endParaRPr lang="ko-KR" sz="3200" dirty="0"/>
          </a:p>
        </p:txBody>
      </p:sp>
      <p:sp>
        <p:nvSpPr>
          <p:cNvPr id="4" name="S07-tile60"/>
          <p:cNvSpPr txBox="1"/>
          <p:nvPr/>
        </p:nvSpPr>
        <p:spPr>
          <a:xfrm>
            <a:off x="1577340" y="2368296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7100" dirty="0"/>
          </a:p>
        </p:txBody>
      </p:sp>
      <p:sp>
        <p:nvSpPr>
          <p:cNvPr id="5" name="S07-tile61"/>
          <p:cNvSpPr txBox="1"/>
          <p:nvPr/>
        </p:nvSpPr>
        <p:spPr>
          <a:xfrm>
            <a:off x="3424428" y="2368296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ㅛ</a:t>
            </a:r>
            <a:endParaRPr lang="ko-KR" sz="7100" dirty="0"/>
          </a:p>
        </p:txBody>
      </p:sp>
      <p:sp>
        <p:nvSpPr>
          <p:cNvPr id="6" name="S07-tile62"/>
          <p:cNvSpPr txBox="1"/>
          <p:nvPr/>
        </p:nvSpPr>
        <p:spPr>
          <a:xfrm>
            <a:off x="5271516" y="2368296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7100" dirty="0"/>
          </a:p>
        </p:txBody>
      </p:sp>
      <p:sp>
        <p:nvSpPr>
          <p:cNvPr id="7" name="S07-tile63"/>
          <p:cNvSpPr txBox="1"/>
          <p:nvPr/>
        </p:nvSpPr>
        <p:spPr>
          <a:xfrm>
            <a:off x="7118604" y="2368296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ㅠ</a:t>
            </a:r>
            <a:endParaRPr lang="ko-KR" sz="7100" dirty="0"/>
          </a:p>
        </p:txBody>
      </p:sp>
      <p:sp>
        <p:nvSpPr>
          <p:cNvPr id="8" name="S07-tile64"/>
          <p:cNvSpPr txBox="1"/>
          <p:nvPr/>
        </p:nvSpPr>
        <p:spPr>
          <a:xfrm>
            <a:off x="8965692" y="2368296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ㅣ</a:t>
            </a:r>
            <a:endParaRPr lang="ko-KR" sz="7100" dirty="0"/>
          </a:p>
        </p:txBody>
      </p:sp>
      <p:sp>
        <p:nvSpPr>
          <p:cNvPr id="9" name="S07-tile65"/>
          <p:cNvSpPr txBox="1"/>
          <p:nvPr/>
        </p:nvSpPr>
        <p:spPr>
          <a:xfrm>
            <a:off x="1577340" y="421538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7100" dirty="0"/>
          </a:p>
        </p:txBody>
      </p:sp>
      <p:sp>
        <p:nvSpPr>
          <p:cNvPr id="10" name="S07-tile66"/>
          <p:cNvSpPr txBox="1"/>
          <p:nvPr/>
        </p:nvSpPr>
        <p:spPr>
          <a:xfrm>
            <a:off x="3424428" y="421538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ㅕ</a:t>
            </a:r>
            <a:endParaRPr lang="ko-KR" sz="7100" dirty="0"/>
          </a:p>
        </p:txBody>
      </p:sp>
      <p:sp>
        <p:nvSpPr>
          <p:cNvPr id="11" name="S07-tile67"/>
          <p:cNvSpPr txBox="1"/>
          <p:nvPr/>
        </p:nvSpPr>
        <p:spPr>
          <a:xfrm>
            <a:off x="5271516" y="421538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ㅡ</a:t>
            </a:r>
            <a:endParaRPr lang="ko-KR" sz="7100" dirty="0"/>
          </a:p>
        </p:txBody>
      </p:sp>
      <p:sp>
        <p:nvSpPr>
          <p:cNvPr id="12" name="S07-tile68"/>
          <p:cNvSpPr txBox="1"/>
          <p:nvPr/>
        </p:nvSpPr>
        <p:spPr>
          <a:xfrm>
            <a:off x="7118604" y="421538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7100" dirty="0"/>
          </a:p>
        </p:txBody>
      </p:sp>
      <p:sp>
        <p:nvSpPr>
          <p:cNvPr id="13" name="S07-tile69"/>
          <p:cNvSpPr txBox="1"/>
          <p:nvPr/>
        </p:nvSpPr>
        <p:spPr>
          <a:xfrm>
            <a:off x="8965692" y="421538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ㅑ</a:t>
            </a:r>
            <a:endParaRPr lang="ko-KR" sz="7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모음자 쓰는 차례</a:t>
            </a:r>
            <a:endParaRPr lang="ko-KR" sz="4400" dirty="0"/>
          </a:p>
        </p:txBody>
      </p:sp>
      <p:sp>
        <p:nvSpPr>
          <p:cNvPr id="3" name="S08-tile70"/>
          <p:cNvSpPr txBox="1"/>
          <p:nvPr/>
        </p:nvSpPr>
        <p:spPr>
          <a:xfrm>
            <a:off x="7808427" y="22997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5900" dirty="0"/>
          </a:p>
        </p:txBody>
      </p:sp>
      <p:sp>
        <p:nvSpPr>
          <p:cNvPr id="4" name="S08-tile71"/>
          <p:cNvSpPr txBox="1"/>
          <p:nvPr/>
        </p:nvSpPr>
        <p:spPr>
          <a:xfrm>
            <a:off x="9381195" y="22997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5900" dirty="0"/>
          </a:p>
        </p:txBody>
      </p:sp>
      <p:sp>
        <p:nvSpPr>
          <p:cNvPr id="5" name="S08-tile72"/>
          <p:cNvSpPr txBox="1"/>
          <p:nvPr/>
        </p:nvSpPr>
        <p:spPr>
          <a:xfrm>
            <a:off x="7808427" y="38724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5900" dirty="0"/>
          </a:p>
        </p:txBody>
      </p:sp>
      <p:sp>
        <p:nvSpPr>
          <p:cNvPr id="6" name="S08-tile73"/>
          <p:cNvSpPr txBox="1"/>
          <p:nvPr/>
        </p:nvSpPr>
        <p:spPr>
          <a:xfrm>
            <a:off x="9381195" y="38724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5900" dirty="0"/>
          </a:p>
        </p:txBody>
      </p:sp>
      <p:sp>
        <p:nvSpPr>
          <p:cNvPr id="7" name="S08-stepno74"/>
          <p:cNvSpPr txBox="1"/>
          <p:nvPr/>
        </p:nvSpPr>
        <p:spPr>
          <a:xfrm>
            <a:off x="548640" y="25628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75"/>
          <p:cNvSpPr txBox="1"/>
          <p:nvPr/>
        </p:nvSpPr>
        <p:spPr>
          <a:xfrm>
            <a:off x="1325880" y="256286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아래로 내려 그어요.</a:t>
            </a:r>
            <a:endParaRPr lang="ko-KR" sz="3200" dirty="0"/>
          </a:p>
        </p:txBody>
      </p:sp>
      <p:sp>
        <p:nvSpPr>
          <p:cNvPr id="9" name="S08-stepno76"/>
          <p:cNvSpPr txBox="1"/>
          <p:nvPr/>
        </p:nvSpPr>
        <p:spPr>
          <a:xfrm>
            <a:off x="548640" y="3321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77"/>
          <p:cNvSpPr txBox="1"/>
          <p:nvPr/>
        </p:nvSpPr>
        <p:spPr>
          <a:xfrm>
            <a:off x="1325880" y="3276092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왼쪽에서 오른쪽으로 그어요.</a:t>
            </a:r>
            <a:endParaRPr lang="ko-KR" sz="3200" dirty="0"/>
          </a:p>
        </p:txBody>
      </p:sp>
      <p:sp>
        <p:nvSpPr>
          <p:cNvPr id="11" name="S08-stepno78"/>
          <p:cNvSpPr txBox="1"/>
          <p:nvPr/>
        </p:nvSpPr>
        <p:spPr>
          <a:xfrm>
            <a:off x="548640" y="44323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79"/>
          <p:cNvSpPr txBox="1"/>
          <p:nvPr/>
        </p:nvSpPr>
        <p:spPr>
          <a:xfrm>
            <a:off x="1325880" y="443230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위·왼쪽 막대부터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막대가 둘인 글자 쓰기</a:t>
            </a:r>
            <a:endParaRPr lang="ko-KR" sz="4400" dirty="0"/>
          </a:p>
        </p:txBody>
      </p:sp>
      <p:sp>
        <p:nvSpPr>
          <p:cNvPr id="3" name="S09-text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공중에 크게 쓰고, 활동지에 써요.</a:t>
            </a:r>
            <a:endParaRPr lang="ko-KR" sz="3200" dirty="0"/>
          </a:p>
        </p:txBody>
      </p:sp>
      <p:sp>
        <p:nvSpPr>
          <p:cNvPr id="4" name="S09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아래로, 왼쪽에서 오른쪽으로!</a:t>
            </a:r>
            <a:endParaRPr lang="ko-KR" sz="3200" dirty="0"/>
          </a:p>
        </p:txBody>
      </p:sp>
      <p:sp>
        <p:nvSpPr>
          <p:cNvPr id="6" name="S09-chip8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ile84"/>
          <p:cNvSpPr txBox="1"/>
          <p:nvPr/>
        </p:nvSpPr>
        <p:spPr>
          <a:xfrm>
            <a:off x="2942082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ㅑ</a:t>
            </a:r>
            <a:endParaRPr lang="ko-KR" sz="5900" dirty="0"/>
          </a:p>
        </p:txBody>
      </p:sp>
      <p:sp>
        <p:nvSpPr>
          <p:cNvPr id="8" name="S09-chip8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ile86"/>
          <p:cNvSpPr txBox="1"/>
          <p:nvPr/>
        </p:nvSpPr>
        <p:spPr>
          <a:xfrm>
            <a:off x="8670798" y="2057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ㅕ</a:t>
            </a:r>
            <a:endParaRPr lang="ko-KR" sz="5900" dirty="0"/>
          </a:p>
        </p:txBody>
      </p:sp>
      <p:sp>
        <p:nvSpPr>
          <p:cNvPr id="10" name="S09-chip8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ile88"/>
          <p:cNvSpPr txBox="1"/>
          <p:nvPr/>
        </p:nvSpPr>
        <p:spPr>
          <a:xfrm>
            <a:off x="2942082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ㅛ</a:t>
            </a:r>
            <a:endParaRPr lang="ko-KR" sz="5900" dirty="0"/>
          </a:p>
        </p:txBody>
      </p:sp>
      <p:sp>
        <p:nvSpPr>
          <p:cNvPr id="12" name="S09-chip8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9-tile90"/>
          <p:cNvSpPr txBox="1"/>
          <p:nvPr/>
        </p:nvSpPr>
        <p:spPr>
          <a:xfrm>
            <a:off x="8670798" y="370332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ㅠ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읽고, ③은 써요.</a:t>
            </a:r>
            <a:endParaRPr lang="ko-KR" sz="3200" dirty="0"/>
          </a:p>
        </p:txBody>
      </p:sp>
      <p:sp>
        <p:nvSpPr>
          <p:cNvPr id="4" name="S10-chip9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ile93"/>
          <p:cNvSpPr txBox="1"/>
          <p:nvPr/>
        </p:nvSpPr>
        <p:spPr>
          <a:xfrm>
            <a:off x="1965960" y="2011680"/>
            <a:ext cx="1280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ㅕ</a:t>
            </a:r>
            <a:endParaRPr lang="ko-KR" sz="5500" dirty="0"/>
          </a:p>
        </p:txBody>
      </p:sp>
      <p:sp>
        <p:nvSpPr>
          <p:cNvPr id="6" name="S10-tile94"/>
          <p:cNvSpPr txBox="1"/>
          <p:nvPr/>
        </p:nvSpPr>
        <p:spPr>
          <a:xfrm>
            <a:off x="3447288" y="2011680"/>
            <a:ext cx="1280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5500" dirty="0"/>
          </a:p>
        </p:txBody>
      </p:sp>
      <p:sp>
        <p:nvSpPr>
          <p:cNvPr id="7" name="S10-tile95"/>
          <p:cNvSpPr txBox="1"/>
          <p:nvPr/>
        </p:nvSpPr>
        <p:spPr>
          <a:xfrm>
            <a:off x="4928616" y="2011680"/>
            <a:ext cx="1280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ㅑ</a:t>
            </a:r>
            <a:endParaRPr lang="ko-KR" sz="5500" dirty="0"/>
          </a:p>
        </p:txBody>
      </p:sp>
      <p:sp>
        <p:nvSpPr>
          <p:cNvPr id="8" name="S10-chip9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ile97"/>
          <p:cNvSpPr txBox="1"/>
          <p:nvPr/>
        </p:nvSpPr>
        <p:spPr>
          <a:xfrm>
            <a:off x="1965960" y="3474720"/>
            <a:ext cx="1280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5500" dirty="0"/>
          </a:p>
        </p:txBody>
      </p:sp>
      <p:sp>
        <p:nvSpPr>
          <p:cNvPr id="10" name="S10-tile98"/>
          <p:cNvSpPr txBox="1"/>
          <p:nvPr/>
        </p:nvSpPr>
        <p:spPr>
          <a:xfrm>
            <a:off x="3447288" y="3474720"/>
            <a:ext cx="1280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5500" dirty="0"/>
          </a:p>
        </p:txBody>
      </p:sp>
      <p:sp>
        <p:nvSpPr>
          <p:cNvPr id="11" name="S10-tile99"/>
          <p:cNvSpPr txBox="1"/>
          <p:nvPr/>
        </p:nvSpPr>
        <p:spPr>
          <a:xfrm>
            <a:off x="4928616" y="3474720"/>
            <a:ext cx="12801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ㅡ</a:t>
            </a:r>
            <a:endParaRPr lang="ko-KR" sz="5500" dirty="0"/>
          </a:p>
        </p:txBody>
      </p:sp>
      <p:sp>
        <p:nvSpPr>
          <p:cNvPr id="12" name="S10-chip10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3" name="S10-text10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불러 주는 모음자를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1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막대가 어디에, 몇 개 있는지 먼저 봐요.</a:t>
            </a:r>
            <a:endParaRPr lang="ko-KR" sz="3200" dirty="0"/>
          </a:p>
        </p:txBody>
      </p:sp>
      <p:sp>
        <p:nvSpPr>
          <p:cNvPr id="5" name="S11-chip10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105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ㅕ[여] ㅜ[우] ㅑ[야]</a:t>
            </a:r>
            <a:endParaRPr lang="ko-KR" sz="2600" dirty="0"/>
          </a:p>
        </p:txBody>
      </p:sp>
      <p:sp>
        <p:nvSpPr>
          <p:cNvPr id="7" name="S11-text106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막대가 둘이면 [이]가 붙어요</a:t>
            </a:r>
            <a:endParaRPr lang="ko-KR" sz="2600" dirty="0"/>
          </a:p>
        </p:txBody>
      </p:sp>
      <p:sp>
        <p:nvSpPr>
          <p:cNvPr id="8" name="S11-text107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ㅗ[오] ㅓ[어] ㅡ[으]</a:t>
            </a:r>
            <a:endParaRPr lang="ko-KR" sz="2600" dirty="0"/>
          </a:p>
        </p:txBody>
      </p:sp>
      <p:sp>
        <p:nvSpPr>
          <p:cNvPr id="9" name="S11-text108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막대의 자리를 봐요</a:t>
            </a:r>
            <a:endParaRPr lang="ko-KR" sz="2600" dirty="0"/>
          </a:p>
        </p:txBody>
      </p:sp>
      <p:sp>
        <p:nvSpPr>
          <p:cNvPr id="10" name="S11-text109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ㅓ, ㅠ</a:t>
            </a:r>
            <a:endParaRPr lang="ko-KR" sz="3200" dirty="0"/>
          </a:p>
        </p:txBody>
      </p:sp>
      <p:sp>
        <p:nvSpPr>
          <p:cNvPr id="11" name="S11-text110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차례도 봐요</a:t>
            </a:r>
            <a:endParaRPr lang="ko-KR" sz="2600" dirty="0"/>
          </a:p>
        </p:txBody>
      </p:sp>
      <p:sp>
        <p:nvSpPr>
          <p:cNvPr id="12" name="S11-chip11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1-text112"/>
          <p:cNvSpPr txBox="1"/>
          <p:nvPr/>
        </p:nvSpPr>
        <p:spPr>
          <a:xfrm>
            <a:off x="6277356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ㅕ → [어]</a:t>
            </a:r>
            <a:endParaRPr lang="ko-KR" sz="3200" dirty="0"/>
          </a:p>
        </p:txBody>
      </p:sp>
      <p:sp>
        <p:nvSpPr>
          <p:cNvPr id="14" name="S11-text113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개수를 안 셈</a:t>
            </a:r>
            <a:endParaRPr lang="ko-KR" sz="2600" dirty="0"/>
          </a:p>
        </p:txBody>
      </p:sp>
      <p:sp>
        <p:nvSpPr>
          <p:cNvPr id="15" name="S11-text114"/>
          <p:cNvSpPr txBox="1"/>
          <p:nvPr/>
        </p:nvSpPr>
        <p:spPr>
          <a:xfrm>
            <a:off x="6277356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 → [아]</a:t>
            </a:r>
            <a:endParaRPr lang="ko-KR" sz="3200" dirty="0"/>
          </a:p>
        </p:txBody>
      </p:sp>
      <p:sp>
        <p:nvSpPr>
          <p:cNvPr id="16" name="S11-text115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방향을 바꿈</a:t>
            </a:r>
            <a:endParaRPr lang="ko-KR" sz="2600" dirty="0"/>
          </a:p>
        </p:txBody>
      </p:sp>
      <p:sp>
        <p:nvSpPr>
          <p:cNvPr id="17" name="S11-text116"/>
          <p:cNvSpPr txBox="1"/>
          <p:nvPr/>
        </p:nvSpPr>
        <p:spPr>
          <a:xfrm>
            <a:off x="6277356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ㅠ → ㅛ</a:t>
            </a:r>
            <a:endParaRPr lang="ko-KR" sz="3200" dirty="0"/>
          </a:p>
        </p:txBody>
      </p:sp>
      <p:sp>
        <p:nvSpPr>
          <p:cNvPr id="18" name="S11-text117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위아래를 바꿔 씀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골라요</a:t>
            </a:r>
            <a:endParaRPr lang="ko-KR" sz="4400" dirty="0"/>
          </a:p>
        </p:txBody>
      </p:sp>
      <p:sp>
        <p:nvSpPr>
          <p:cNvPr id="3" name="S12-card1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소리의 글자는? 어떻게 알았나요?</a:t>
            </a:r>
            <a:endParaRPr lang="ko-KR" sz="3200" dirty="0"/>
          </a:p>
        </p:txBody>
      </p:sp>
      <p:sp>
        <p:nvSpPr>
          <p:cNvPr id="5" name="S12-chip120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2-tile121"/>
          <p:cNvSpPr txBox="1"/>
          <p:nvPr/>
        </p:nvSpPr>
        <p:spPr>
          <a:xfrm>
            <a:off x="1452372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7100" dirty="0"/>
          </a:p>
        </p:txBody>
      </p:sp>
      <p:sp>
        <p:nvSpPr>
          <p:cNvPr id="7" name="S12-chip122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8" name="S12-tile123"/>
          <p:cNvSpPr txBox="1"/>
          <p:nvPr/>
        </p:nvSpPr>
        <p:spPr>
          <a:xfrm>
            <a:off x="5271516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7100" dirty="0"/>
          </a:p>
        </p:txBody>
      </p:sp>
      <p:sp>
        <p:nvSpPr>
          <p:cNvPr id="9" name="S12-chip124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0" name="S12-tile125"/>
          <p:cNvSpPr txBox="1"/>
          <p:nvPr/>
        </p:nvSpPr>
        <p:spPr>
          <a:xfrm>
            <a:off x="9090660" y="2752344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ㅠ</a:t>
            </a:r>
            <a:endParaRPr lang="ko-KR" sz="7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26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27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막대의 자리와 개수를 보면 모음자의 소리를 알 수 있어요.</a:t>
            </a:r>
            <a:endParaRPr lang="ko-KR" sz="3200" dirty="0"/>
          </a:p>
        </p:txBody>
      </p:sp>
      <p:sp>
        <p:nvSpPr>
          <p:cNvPr id="5" name="S13-chip128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막대 자리 보고 읽기</a:t>
            </a:r>
            <a:endParaRPr lang="ko-KR" sz="2600" dirty="0"/>
          </a:p>
        </p:txBody>
      </p:sp>
      <p:sp>
        <p:nvSpPr>
          <p:cNvPr id="6" name="S13-chip129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방향 바꿔 읽기</a:t>
            </a:r>
            <a:endParaRPr lang="ko-KR" sz="2600" dirty="0"/>
          </a:p>
        </p:txBody>
      </p:sp>
      <p:sp>
        <p:nvSpPr>
          <p:cNvPr id="7" name="S13-text130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31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ㅓ ㅛ ㅠ ㅣ ㅑ 읽기</a:t>
            </a:r>
            <a:endParaRPr lang="ko-KR" sz="2600" dirty="0"/>
          </a:p>
        </p:txBody>
      </p:sp>
      <p:sp>
        <p:nvSpPr>
          <p:cNvPr id="9" name="S13-text132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[오] 소리 글자 쓰기</a:t>
            </a:r>
            <a:endParaRPr lang="ko-KR" sz="2600" dirty="0"/>
          </a:p>
        </p:txBody>
      </p:sp>
      <p:sp>
        <p:nvSpPr>
          <p:cNvPr id="10" name="S13-text133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막대가 둘이면?</a:t>
            </a:r>
            <a:endParaRPr lang="ko-KR" sz="2600" dirty="0"/>
          </a:p>
        </p:txBody>
      </p:sp>
      <p:sp>
        <p:nvSpPr>
          <p:cNvPr id="11" name="S13-text13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기본 자음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막대 자리 찾기</a:t>
            </a:r>
            <a:endParaRPr lang="ko-KR" sz="4400" dirty="0"/>
          </a:p>
        </p:txBody>
      </p:sp>
      <p:sp>
        <p:nvSpPr>
          <p:cNvPr id="3" name="S14-card135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36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오른손 들기 놀이</a:t>
            </a:r>
            <a:endParaRPr lang="ko-KR" sz="3200" dirty="0"/>
          </a:p>
        </p:txBody>
      </p:sp>
      <p:sp>
        <p:nvSpPr>
          <p:cNvPr id="5" name="S14-card137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38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막대로 모양 만들기</a:t>
            </a:r>
            <a:endParaRPr lang="ko-KR" sz="3200" dirty="0"/>
          </a:p>
        </p:txBody>
      </p:sp>
      <p:sp>
        <p:nvSpPr>
          <p:cNvPr id="7" name="S14-tile139"/>
          <p:cNvSpPr txBox="1"/>
          <p:nvPr/>
        </p:nvSpPr>
        <p:spPr>
          <a:xfrm>
            <a:off x="2500884" y="24003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7100" dirty="0"/>
          </a:p>
        </p:txBody>
      </p:sp>
      <p:sp>
        <p:nvSpPr>
          <p:cNvPr id="8" name="S14-tile140"/>
          <p:cNvSpPr txBox="1"/>
          <p:nvPr/>
        </p:nvSpPr>
        <p:spPr>
          <a:xfrm>
            <a:off x="4347972" y="24003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7100" dirty="0"/>
          </a:p>
        </p:txBody>
      </p:sp>
      <p:sp>
        <p:nvSpPr>
          <p:cNvPr id="9" name="S14-tile141"/>
          <p:cNvSpPr txBox="1"/>
          <p:nvPr/>
        </p:nvSpPr>
        <p:spPr>
          <a:xfrm>
            <a:off x="6195060" y="24003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7100" dirty="0"/>
          </a:p>
        </p:txBody>
      </p:sp>
      <p:sp>
        <p:nvSpPr>
          <p:cNvPr id="10" name="S14-tile142"/>
          <p:cNvSpPr txBox="1"/>
          <p:nvPr/>
        </p:nvSpPr>
        <p:spPr>
          <a:xfrm>
            <a:off x="8042148" y="2400300"/>
            <a:ext cx="16459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7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국어 기본 모음</dc:title>
  <dc:subject>KR22-G01-KOR-VOWEL-L01</dc:subject>
  <dc:creator>education-ppt</dc:creator>
  <cp:lastModifiedBy>education-ppt</cp:lastModifiedBy>
  <cp:revision>1</cp:revision>
  <dcterms:created xsi:type="dcterms:W3CDTF">2026-10-26T07:44:49Z</dcterms:created>
  <dcterms:modified xsi:type="dcterms:W3CDTF">2026-10-26T07:44:49Z</dcterms:modified>
</cp:coreProperties>
</file>