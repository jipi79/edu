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66994cc-c4b1-d4a2-1c00-42417e4e6593}">
          <p14:sldIdLst>
            <p14:sldId id="256"/>
            <p14:sldId id="257"/>
          </p14:sldIdLst>
        </p14:section>
        <p14:section name="개념" id="{02e8786e-2451-7307-7211-93789ec18648}">
          <p14:sldIdLst>
            <p14:sldId id="258"/>
          </p14:sldIdLst>
        </p14:section>
        <p14:section name="연습" id="{13d97ac3-0d44-6e19-a93f-0548539b32b1}">
          <p14:sldIdLst>
            <p14:sldId id="259"/>
            <p14:sldId id="260"/>
          </p14:sldIdLst>
        </p14:section>
        <p14:section name="확인" id="{78bdd42c-6a40-f6e0-98c7-8436e9517dfe}">
          <p14:sldIdLst>
            <p14:sldId id="261"/>
          </p14:sldIdLst>
        </p14:section>
        <p14:section name="정리" id="{2b5427ca-ceac-411a-4564-15b5a8e593ba}">
          <p14:sldIdLst>
            <p14:sldId id="262"/>
          </p14:sldIdLst>
        </p14:section>
        <p14:section name="보충" id="{2d87b129-edaa-86ff-1a69-a8e2ba1c112c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집에서 날마다 쓰는 물·종이·전기를 아끼는 방법을 찾고, 일주일 동안 실천한다고 알립니다.
시간: 약 2분
이렇게 말해 보세요
- “우리 집에서 날마다 쓰는 것 중에 물, 종이, 전기가 있어. 오늘은 이것들을 아끼는 방법을 하나씩 찾아서 직접 해 볼 거야.”
예상 답
- “불을 꺼요!” / “물을 잠가요.”
주의
- 이 차시는 실천이 중심입니다. 수업 뒤 일주일 동안 밤마다 1분씩 기록표를 함께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확인(물·종이·전기를 쓰는 곳)]
목적: 집에서 물·종이·전기를 어디에 쓰는지 알고 있는지 확인합니다. 이 차시는 계획상 앞 차시가 없습니다.
시간: 약 3분
이렇게 말해 보세요
- “우리 집에서 물은 어디에 써? 종이는? 전기는?”
예상 답
- ① 씻기, 마시기, 설거지, 변기
- ② 공책, 그림, 휴지, 책
- ③ 불, 텔레비전, 냉장고, 세탁기
정답
- 물·종이·전기마다 쓰는 곳을 하나 이상 말하면 맞습니다.
막히면
- 부엌, 화장실, 거실을 실제로 둘러보며 찾게 합니다.
- 전기를 쓰는 물건을 잘 모르면 S08(보충)을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아끼는 까닭과 방법]
목적: 물·종이·전기가 어떻게 우리 집까지 오는지 쉬운 말로 알려 주고(까닭), 아끼는 방법을 하나씩 보여 줍니다(M1).
시간: 약 5분
이렇게 말해 보세요
- “물은 그냥 나오는 것 같지? 사실은 깨끗하게 만들어서 긴 관을 따라 우리 집까지 보내 줘. 이를 닦을 때 컵에 받아 쓰면 물을 아낄 수 있어.”
- “종이는 나무로 만들어. 뒷면도 쓰면 종이를 덜 쓰게 되지.”
- “전기는 발전소에서 만들어서 전깃줄로 보내 줘. 방에서 나올 때 불을 끄면 전기를 아낄 수 있어.”
예상 답
- “종이가 나무로 만들어져요?” / “나도 불 끌 수 있어요.”
막히면
- 실제로 수도꼭지, 공책, 전등 스위치를 하나씩 가리키며 이야기합니다.
주의
- 겁을 주는 말(“물이 다 없어진대.”)은 쓰지 않습니다. 아껴 쓰는 것은 우리가 할 수 있는 좋은 일이라고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새 장면에서 아끼는 방법 찾기]
목적: 처음 보는 생활 장면에서 물·종이·전기를 아끼는 행동을 찾아 말합니다. 아끼기는 안 쓰는 것이 아니라 새는 것을 막는 것임을 함께 짚습니다(M2).
시간: 약 5분
이렇게 말해 보세요
- “①은 손을 씻을 때야. 비누칠하는 동안 물은 어떻게 하면 좋을까?”
- “②는 그림을 그리다 망친 종이야. 버릴까?”
- “③은 텔레비전을 안 보고 놀러 갈 때야.”
- “그럼 손을 아예 안 씻으면 물을 아낄까?” (M2)
정답
- ① 비누칠하는 동안 수도꼭지를 잠가요.
- ② 뒷면에 다시 그리거나 메모지로 써요.
- ③ 텔레비전을 꺼요.
- 손은 꼭 씻어야 합니다. 필요한 만큼은 쓰고, 안 쓸 때 잠그거나 끄는 것이 아끼기입니다.
막히면
- S03의 세 카드를 다시 보여 주고 “비슷한 방법이 있을까?” 하고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집에서 직접 해 보기]
목적: 아끼는 행동 세 가지를 집 안을 돌며 실제로 해 봅니다. ‘이면지’는 한쪽 면만 쓴 종이라는 뜻이라고 알려 줍니다.
시간: 약 12분
이렇게 말해 보세요
- “화장실에 가서 손을 씻어 보자. 비누칠하는 동안 물을 잠글 수 있어?”
- “한쪽만 쓴 종이를 ‘이면지’라고 해. 이 상자에 모아서 그림 그릴 때 쓰자. 상자에 이름도 붙여 볼까?”
- “지금 아무도 없는 방이 있어? 불이 켜져 있으면 꺼 보자.”
예상 답
- 아이가 물을 잠그고 비누칠한 뒤 다시 틀어 헹굽니다.
- “이 종이는 뒷면이 깨끗해요!” 하며 상자에 모읍니다.
정답
- 관찰 기준 세 가지를 직접 해 보이면 목표 B 연습 완료입니다.
막히면
- 수도꼭지가 뻑뻑하면 엄마(아빠)가 함께 잡아 줍니다.
- 스위치가 높으면 엄마(아빠)가 안아 주거나 대신 끄고, 아이는 불 꺼진 방을 확인하게 합니다.
주의
- 젖은 손으로 스위치나 플러그를 만지지 않게 합니다. 플러그 뽑기와 멀티탭 끄기는 어른이 합니다.
- 냉장고, 공유기처럼 늘 켜 두어야 하는 기기는 끄지 않는다고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나의 아끼기 약속 정하기]
목적: 아이가 스스로 물·종이·전기 아끼기 약속을 하나씩 정하고 까닭을 말하는지(A), 일주일 동안 기록표에 표시할 준비가 되었는지(B) 확인합니다.
시간: 약 10분
이렇게 말해 보세요
- “오늘 해 본 것 말고 다른 방법도 괜찮아. 물, 종이, 전기마다 이번 주에 지킬 약속을 하나씩 골라 볼래?”
- “왜 그걸 아끼고 싶어?”
- “기록표를 어디에 붙여 둘까? 밤마다 했으면 ○, 못 했으면 △를 그리자. △는 ‘다시 해 볼래요’라는 뜻이야.”
예상 답
- 물: “이 닦을 때 컵 쓰기.” / 종이: “이면지에 그림 그리기.” / 전기: “내 방 불 끄고 나오기.”
- 까닭: “종이는 나무로 만드니까요.” / “전기는 발전소에서 만드니까요.”
정답
- 관찰 기준 세 가지를 지키면 목표 A 확인 완료입니다(까닭은 한 가지면 됩니다).
- 목표 B는 일주일 동안 스스로 기록표에 표시했는지로 확인합니다. ○ 개수는 평가하지 않습니다.
막히면
- 고르기 어려우면 S03·S05에서 한 행동을 그대로 약속으로 삼아도 됩니다.
- 까닭을 말하지 못하면 “종이는 무엇으로 만든다고 했지?” 하고 S03을 떠올리게 합니다.
주의
- 엄마(아빠)도 약속을 하나 정해 함께 기록하면 아이가 더 즐겁게 합니다.
- ○ 개수로 상이나 벌을 주지 않습니다. 못 한 날은 “무엇이 어려웠어?” 하고 묻습니다(M3).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정리와 다음 학습]
목적: 아끼기의 뜻을 한 문장으로 정리하고, 일주일 뒤(또는 다음 수업 첫 5분)에 기록표를 보며 돌아볼 것을 알려 줍니다.
시간: 약 3분
이렇게 말해 보세요
- “아끼기는 아예 안 쓰는 걸까? 오늘 정한 약속 세 가지를 말해 볼래?”
예상 답
- “필요한 만큼 쓰고, 안 쓸 때는 잠가요.”
정답
- ① 이 닦을 때 컵 쓰기, 비누칠할 때 잠그기 등 ② 나무 ③ 기록표를 보고 말하면 맞음(개수는 평가하지 않음)
주의
- 이 차시는 계획상 1학년의 마지막 차시입니다. 같은 갈래(환경)의 다음 차시는 2학년 ‘학교와 마을의 환경’입니다.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보충(물·종이·전기를 쓰는 곳)]
목적: S02에서 물·종이·전기를 쓰는 곳을 잘 말하지 못하면, 표를 보며 집 안에서 실제로 찾아봅니다.
시간: 약 5분
이렇게 말해 보세요
- “표에 있는 것을 집에서 찾아볼까? 냉장고는 어디 있지? 냉장고는 무엇으로 움직여?”
- “표에 없는 것도 하나씩 더 찾아보자.”
정답
- 물: 변기, 화분 물 주기 등 / 종이: 상자, 달력 등 / 전기: 세탁기, 선풍기, 충전기 등 (하나씩 더 찾으면 맞음)
막히면
- 전기를 쓰는 물건은 ‘전깃줄(코드)이 있거나 충전하는 것’이라고 알려 줍니다. 콘센트는 만지지 않고 눈으로만 봅니다.
- 이 차시는 계획상 앞 차시가 없습니다. 집안 물건 이야기가 낯설면 기술 ‘내 물건 정리와 집안일’을 함께 하면 좋습니다.
주의
- 보충이 오래 걸리면 오늘은 여기까지 하고,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환경·생태 · 생활습관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환경·생태 · 물·종이·전기 아끼기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환경·생태 · 물·종이·전기 아끼기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환경·생태 · 물·종이·전기 아끼기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물·종이·전기 아끼기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물, 종이, 전기를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아낄 수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아끼는 방법을 하나씩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일주일 동안 해 보고 표시해요.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쓰나요?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 안을 둘러보며 말해요.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말해 보세요.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물은 어디에 써요?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종이는 어디에 써요?</a:t>
            </a:r>
            <a:endParaRPr lang="ko-KR" sz="3200" dirty="0"/>
          </a:p>
        </p:txBody>
      </p:sp>
      <p:sp>
        <p:nvSpPr>
          <p:cNvPr id="10" name="S02-chip1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2-text1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전기는 어디에 써요?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아껴요</a:t>
            </a:r>
            <a:endParaRPr lang="ko-KR" sz="4400" dirty="0"/>
          </a:p>
        </p:txBody>
      </p:sp>
      <p:sp>
        <p:nvSpPr>
          <p:cNvPr id="3" name="S03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물·종이·전기는 만드는 데 힘이 많이 들어요.</a:t>
            </a:r>
            <a:endParaRPr lang="ko-KR" sz="3200" dirty="0"/>
          </a:p>
        </p:txBody>
      </p:sp>
      <p:sp>
        <p:nvSpPr>
          <p:cNvPr id="5" name="S03-card14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5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닦을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컵에 받아요</a:t>
            </a:r>
            <a:endParaRPr lang="ko-KR" sz="3200" dirty="0"/>
          </a:p>
        </p:txBody>
      </p:sp>
      <p:sp>
        <p:nvSpPr>
          <p:cNvPr id="7" name="S03-card16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7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뒷면도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써요</a:t>
            </a:r>
            <a:endParaRPr lang="ko-KR" sz="3200" dirty="0"/>
          </a:p>
        </p:txBody>
      </p:sp>
      <p:sp>
        <p:nvSpPr>
          <p:cNvPr id="9" name="S03-card18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3-cardtext19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나올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꺼요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아낄까요?</a:t>
            </a:r>
            <a:endParaRPr lang="ko-KR" sz="4400" dirty="0"/>
          </a:p>
        </p:txBody>
      </p:sp>
      <p:sp>
        <p:nvSpPr>
          <p:cNvPr id="3" name="S04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때는 어떻게 할까요?</a:t>
            </a:r>
            <a:endParaRPr lang="ko-KR" sz="3200" dirty="0"/>
          </a:p>
        </p:txBody>
      </p:sp>
      <p:sp>
        <p:nvSpPr>
          <p:cNvPr id="4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덜 쓰는 방법을 찾아요.</a:t>
            </a:r>
            <a:endParaRPr lang="ko-KR" sz="3200" dirty="0"/>
          </a:p>
        </p:txBody>
      </p:sp>
      <p:sp>
        <p:nvSpPr>
          <p:cNvPr id="6" name="S04-chip2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4-text2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손에 비누칠할 때 물은?</a:t>
            </a:r>
            <a:endParaRPr lang="ko-KR" sz="3200" dirty="0"/>
          </a:p>
        </p:txBody>
      </p:sp>
      <p:sp>
        <p:nvSpPr>
          <p:cNvPr id="8" name="S04-chip2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4-text2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망친 종이는?</a:t>
            </a:r>
            <a:endParaRPr lang="ko-KR" sz="3200" dirty="0"/>
          </a:p>
        </p:txBody>
      </p:sp>
      <p:sp>
        <p:nvSpPr>
          <p:cNvPr id="10" name="S04-chip2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4-text2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텔레비전을 안 볼 때는?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해 봐요</a:t>
            </a:r>
            <a:endParaRPr lang="ko-KR" sz="4400" dirty="0"/>
          </a:p>
        </p:txBody>
      </p:sp>
      <p:sp>
        <p:nvSpPr>
          <p:cNvPr id="3" name="S05-card29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30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젖은 손으로 스위치를 만지지 않아요.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플러그는 어른이 뽑아요.</a:t>
            </a:r>
            <a:endParaRPr lang="ko-KR" sz="3200" dirty="0"/>
          </a:p>
        </p:txBody>
      </p:sp>
      <p:sp>
        <p:nvSpPr>
          <p:cNvPr id="5" name="S05-card31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32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비누칠할 때 물을 잠갔어요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뒷면 쓸 종이를 모았어요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나오면서 불을 껐어요</a:t>
            </a:r>
            <a:endParaRPr lang="ko-KR" sz="3200" dirty="0"/>
          </a:p>
        </p:txBody>
      </p:sp>
      <p:sp>
        <p:nvSpPr>
          <p:cNvPr id="7" name="S05-stepno33"/>
          <p:cNvSpPr txBox="1"/>
          <p:nvPr/>
        </p:nvSpPr>
        <p:spPr>
          <a:xfrm>
            <a:off x="548640" y="20096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34"/>
          <p:cNvSpPr txBox="1"/>
          <p:nvPr/>
        </p:nvSpPr>
        <p:spPr>
          <a:xfrm>
            <a:off x="1325880" y="20096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비누칠할 때 물을 잠가요.</a:t>
            </a:r>
            <a:endParaRPr lang="ko-KR" sz="3200" dirty="0"/>
          </a:p>
        </p:txBody>
      </p:sp>
      <p:sp>
        <p:nvSpPr>
          <p:cNvPr id="9" name="S05-stepno35"/>
          <p:cNvSpPr txBox="1"/>
          <p:nvPr/>
        </p:nvSpPr>
        <p:spPr>
          <a:xfrm>
            <a:off x="548640" y="27228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36"/>
          <p:cNvSpPr txBox="1"/>
          <p:nvPr/>
        </p:nvSpPr>
        <p:spPr>
          <a:xfrm>
            <a:off x="1325880" y="27228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이면지 상자를 만들어요.</a:t>
            </a:r>
            <a:endParaRPr lang="ko-KR" sz="3200" dirty="0"/>
          </a:p>
        </p:txBody>
      </p:sp>
      <p:sp>
        <p:nvSpPr>
          <p:cNvPr id="11" name="S05-stepno37"/>
          <p:cNvSpPr txBox="1"/>
          <p:nvPr/>
        </p:nvSpPr>
        <p:spPr>
          <a:xfrm>
            <a:off x="548640" y="34361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38"/>
          <p:cNvSpPr txBox="1"/>
          <p:nvPr/>
        </p:nvSpPr>
        <p:spPr>
          <a:xfrm>
            <a:off x="1325880" y="34361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빈방 불을 꺼요.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아끼기 약속</a:t>
            </a:r>
            <a:endParaRPr lang="ko-KR" sz="4400" dirty="0"/>
          </a:p>
        </p:txBody>
      </p:sp>
      <p:sp>
        <p:nvSpPr>
          <p:cNvPr id="3" name="S06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골라 기록표에 써요.</a:t>
            </a:r>
            <a:endParaRPr lang="ko-KR" sz="3200" dirty="0"/>
          </a:p>
        </p:txBody>
      </p:sp>
      <p:sp>
        <p:nvSpPr>
          <p:cNvPr id="4" name="S06-card40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41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 가지를 모두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왜 아끼는지 말했어요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혼자 할 수 있는 약속이에요</a:t>
            </a:r>
            <a:endParaRPr lang="ko-KR" sz="3200" dirty="0"/>
          </a:p>
        </p:txBody>
      </p:sp>
      <p:sp>
        <p:nvSpPr>
          <p:cNvPr id="6" name="S06-stepno42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43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아끼기 하나를 골라요.</a:t>
            </a:r>
            <a:endParaRPr lang="ko-KR" sz="3200" dirty="0"/>
          </a:p>
        </p:txBody>
      </p:sp>
      <p:sp>
        <p:nvSpPr>
          <p:cNvPr id="8" name="S06-stepno44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45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아끼기 하나를 골라요.</a:t>
            </a:r>
            <a:endParaRPr lang="ko-KR" sz="3200" dirty="0"/>
          </a:p>
        </p:txBody>
      </p:sp>
      <p:sp>
        <p:nvSpPr>
          <p:cNvPr id="10" name="S06-stepno46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47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 아끼기 하나를 골라요.</a:t>
            </a:r>
            <a:endParaRPr lang="ko-KR" sz="3200" dirty="0"/>
          </a:p>
        </p:txBody>
      </p:sp>
      <p:sp>
        <p:nvSpPr>
          <p:cNvPr id="12" name="S06-stepno48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6-text49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밤마다 ○나 △를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5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5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만큼 쓰고, 안 쓸 때는 잠그고 꺼요.</a:t>
            </a:r>
            <a:endParaRPr lang="ko-KR" sz="3200" dirty="0"/>
          </a:p>
        </p:txBody>
      </p:sp>
      <p:sp>
        <p:nvSpPr>
          <p:cNvPr id="5" name="S07-chip5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뒷면도 쓰기</a:t>
            </a:r>
            <a:endParaRPr lang="ko-KR" sz="2600" dirty="0"/>
          </a:p>
        </p:txBody>
      </p:sp>
      <p:sp>
        <p:nvSpPr>
          <p:cNvPr id="6" name="S07-chip5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물 틀어 놓고 이 닦기</a:t>
            </a:r>
            <a:endParaRPr lang="ko-KR" sz="2600" dirty="0"/>
          </a:p>
        </p:txBody>
      </p:sp>
      <p:sp>
        <p:nvSpPr>
          <p:cNvPr id="7" name="S07-text5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5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물을 아끼는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하나</a:t>
            </a:r>
            <a:endParaRPr lang="ko-KR" sz="2600" dirty="0"/>
          </a:p>
        </p:txBody>
      </p:sp>
      <p:sp>
        <p:nvSpPr>
          <p:cNvPr id="9" name="S07-text5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종이는 무엇으로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만들까요?</a:t>
            </a:r>
            <a:endParaRPr lang="ko-KR" sz="2600" dirty="0"/>
          </a:p>
        </p:txBody>
      </p:sp>
      <p:sp>
        <p:nvSpPr>
          <p:cNvPr id="10" name="S07-text5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가장 잘 지킨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 말하기</a:t>
            </a:r>
            <a:endParaRPr lang="ko-KR" sz="2600" dirty="0"/>
          </a:p>
        </p:txBody>
      </p:sp>
      <p:sp>
        <p:nvSpPr>
          <p:cNvPr id="11" name="S07-text5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학교와 마을의 환경(2학년)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어디에 쓰나요?</a:t>
            </a:r>
            <a:endParaRPr lang="ko-KR" sz="4400" dirty="0"/>
          </a:p>
        </p:txBody>
      </p:sp>
      <p:sp>
        <p:nvSpPr>
          <p:cNvPr id="3" name="S08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날마다 써요.</a:t>
            </a:r>
            <a:endParaRPr lang="ko-KR" sz="3200" dirty="0"/>
          </a:p>
        </p:txBody>
      </p:sp>
      <p:sp>
        <p:nvSpPr>
          <p:cNvPr id="4" name="S08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 안에서 하나씩 더 찾아봐요.</a:t>
            </a:r>
            <a:endParaRPr lang="ko-KR" sz="3200" dirty="0"/>
          </a:p>
        </p:txBody>
      </p:sp>
      <p:graphicFrame>
        <p:nvGraphicFramePr>
          <p:cNvPr id="9" name="S08-table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3850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종이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씻기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공책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마시기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휴지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냉장고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설거지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그림책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텔레비전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환경·생태 물·종이·전기 아끼기</dc:title>
  <dc:subject>KR22-G01-ENV-SAVE-L01</dc:subject>
  <dc:creator>education-ppt</dc:creator>
  <cp:lastModifiedBy>education-ppt</cp:lastModifiedBy>
  <cp:revision>1</cp:revision>
  <dcterms:created xsi:type="dcterms:W3CDTF">2026-10-26T09:52:40Z</dcterms:created>
  <dcterms:modified xsi:type="dcterms:W3CDTF">2026-10-26T09:52:40Z</dcterms:modified>
</cp:coreProperties>
</file>