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7866429-3e4e-a5a7-ab6f-a51d5452c390}">
          <p14:sldIdLst>
            <p14:sldId id="256"/>
            <p14:sldId id="257"/>
          </p14:sldIdLst>
        </p14:section>
        <p14:section name="개념" id="{56063596-e19c-71a6-d198-db5d7273b793}">
          <p14:sldIdLst>
            <p14:sldId id="258"/>
            <p14:sldId id="259"/>
            <p14:sldId id="261"/>
          </p14:sldIdLst>
        </p14:section>
        <p14:section name="연습" id="{ec2e1c27-6f55-708c-609c-0bd3b2c5cc35}">
          <p14:sldIdLst>
            <p14:sldId id="260"/>
            <p14:sldId id="262"/>
            <p14:sldId id="263"/>
            <p14:sldId id="264"/>
          </p14:sldIdLst>
        </p14:section>
        <p14:section name="개념" id="{6cd27e7e-4ed1-51e1-3d63-67f3c5b23957}">
          <p14:sldIdLst/>
        </p14:section>
        <p14:section name="연습" id="{404b6585-2824-765e-b8a4-f284c485c5f4}">
          <p14:sldIdLst/>
        </p14:section>
        <p14:section name="확인" id="{0cfb4e16-979a-6400-23eb-6169da766066}">
          <p14:sldIdLst>
            <p14:sldId id="265"/>
            <p14:sldId id="266"/>
            <p14:sldId id="267"/>
            <p14:sldId id="268"/>
          </p14:sldIdLst>
        </p14:section>
        <p14:section name="정리" id="{9ba69662-0489-8136-cf53-bfd3f25ec870}">
          <p14:sldIdLst>
            <p14:sldId id="269"/>
          </p14:sldIdLst>
        </p14:section>
        <p14:section name="보충" id="{7eb1d46f-05e8-4c01-e841-3b86fe5290e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내가 맡은 일과 돌보는 생물을 떠올리게 합니다.
시간: 약 2분
이렇게 말해 보세요
- “집에서 네가 하기로 한 일이 있어? 오늘은 맡은 일을 끝까지 하는 것, 그리고 친구와 꽃·동물 같은 생물을 배려하는 것을 생각해 볼 거야.”
예상 답
- “신발 정리요.” / “없어요.”
주의
- 앞 도덕 차시 ‘나는 소중해요’를 했다면, 수업 전에 그 활동지의 ‘다음 수업을 시작할 때’와 실천 기록표를 먼저 함께 봅니다(약 5분). 잘 지킨 날을 먼저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확인(살아 있는 것 찾기)]
목적: 살아 있는 것(생물)과 살아 있지 않은 것을 구별하는지 확인합니다. 생물을 배려하려면 생물도 자라고, 먹고, 아플 수 있다는 것을 알아야 하기 때문입니다. 이 차시는 계획상 앞 차시가 없으므로 유치원과 생활에서 익힌 것을 확인합니다.
시간: 약 2분
이렇게 말해 보세요
- “이 가운데 살아 있는 것은 무엇일까? 모두 골라 볼래?”
- “어떻게 알았어?”
정답
- 가(화분의 꽃), 다(개미). ‘자라요’, ‘물을 먹어요’, ‘움직여요’처럼 까닭을 말하면 맞습니다.
막히면
- 꽃이 움직이지 않아 살아 있지 않다고 하면 “꽃에 물을 안 주면 어떻게 될까?”라고 물어 자라고 시드는 것을 떠올리게 합니다.
- 구별을 많이 어려워하거나 생물에게 무엇이 필요한지 모르면 S15(보충)를 먼저 합니다.
주의
- 인형을 ‘살아 있다’고 해도 나무라지 않습니다. “인형은 밥을 먹을까? 자랄까?”라고 물어 스스로 고치게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맡은 일의 뜻과 예]
목적: 맡은 일이 ‘내가 하기로 한 일’이라는 것과 집·학교·생물 돌보기의 예를 알려 줍니다(목표 A).
시간: 약 3분
이렇게 말해 보세요
- “집에서 네가 맡아서 하는 일이 있어? 학교에서는?”
- “네가 수저를 놓기로 했는데 안 놓으면 저녁 먹을 때 어떻게 될까?”
예상 답
- “신발 정리해요.” “숟가락이 없어서 못 먹어요.”
막히면
- 아직 맡은 일이 없으면 “엄마(아빠)가 날마다 하는 일 중에 네가 할 수 있는 게 뭘까?”라고 물어 함께 찾습니다.
주의
- 학교에서 맡는 일(1인 1역)은 학교마다 다릅니다. 아이의 학교생활을 물어 바꾸어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시범(맡은 일과 놀고 싶은 마음)]
목적: 맡은 일과 하고 싶은 일이 부딪치는 상황에서, 부모가 소리 내어 생각하며 여러 행동과 그 까닭을 비교해 보여 줍니다(목표 A, 오해 M1).
시간: 약 4분
이렇게 말해 보세요
- “엄마(아빠)가 먼저 생각해 볼게. 가처럼 나중에 하면… 놀다 보면 잊어버릴 수도 있겠다. 그러면 꽃은 목이 마르겠지.”
- “다처럼 엄마에게 부탁하면 꽃은 물을 먹겠지만, 엄마는 할 일이 하나 더 생기네. 다인이가 맡은 일인데.”
- “엄마라면 나를 고를래. 물 주는 건 금방 끝나니까, 주고 나서 놀면 꽃도 좋고 나도 마음 편히 놀 수 있으니까. 너라면 어떻게 할래? 왜?”
예상 답
- “나요. 꽃이 목마르니까요.” / “가요. 친구가 기다리니까요.”
정답
- 나는 맡은 일을 먼저 끝내 꽃도 돌보고 마음 편히 놀 수 있습니다. 가를 고르면 ‘놀다가 잊어버리면 꽃은 어떻게 될까?’를 함께 생각합니다. 다는 아프거나 집에 없을 때처럼 꼭 필요할 때는 부탁하는 방법이 될 수 있지만, 하기 싫어서라면 맡은 일을 엄마에게 넘기는 것입니다. 꽃이나 가족, 친구의 입장을 생각한 까닭을 말하면 잘한 것입니다.
막히면
- “네가 목이 마른데 엄마가 ‘나중에 줄게’ 하고 잊어버리면 어때?”라고 꽃의 입장이 되어 보게 합니다.
주의
- 친구가 기다리는 마음도 중요한 까닭입니다. 아이가 가를 고르면 “친구에게 ‘조금만 기다려 줘’라고 말하면 둘 다 지킬 수 있겠다”처럼 함께 방법을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맡은 일이 힘들 때(그만두기 vs 도움 청하기)]
목적: 맡은 일이 힘들 때 그만두는 것과 도움을 청하며 끝까지 하는 것을 비교합니다(목표 A, 오해 M2).
시간: 약 3분
이렇게 말해 보세요
- “가처럼 그만두면 수건은 어떻게 될까? 가족은 어떨까?”
- “나처럼 도와 달라고 해도 맡은 일을 한 걸까?”
예상 답
- “나요. 도와 달라고 하면 같이 끝낼 수 있어요.” / “가요. 너무 힘들어요.”
정답
- 정해진 답보다 까닭을 봅니다. 나는 힘들 때 도움을 청하면서도 맡은 일을 끝까지 하는 방법입니다. 가를 고르면 힘든 마음을 먼저 인정하고, 그만두지 않고 할 수 있는 방법(반만 먼저 하기, 도움 청하기)을 함께 찾습니다. 가족이나 일이 끝나지 않는 것과 관련된 까닭을 말하면 잘한 것입니다.
막히면
- “수건 열 장 중에 다섯 장만 먼저 해 볼까?”처럼 일을 나누면 끝까지 할 수 있다는 것을 보여 줍니다.
주의
- ‘끝까지’는 혼자 다 하는 것이 아니라, 맡은 일이 끝나도록 책임지는 것이라고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배려의 뜻(친구·동물·식물)]
목적: 배려는 상대(친구·생물)의 마음과 필요를 생각해 행동하는 것임을 알려 줍니다(목표 B, 오해 M3).
시간: 약 3분
이렇게 말해 보세요
- “배려는 ‘상대에게 지금 무엇이 필요할까?’ 하고 생각해서 해 주는 거야.”
- “친구가 넘어졌을 때 필요한 건 뭘까? 강아지가 자고 있을 때는?”
예상 답
- “괜찮냐고 물어봐요.” “조용히 해요.”
막히면
- “네가 아플 때 엄마가 어떻게 해 주면 좋았어?”라고 아이의 경험에서 시작합니다.
주의
- 식물에 물을 주는 양과 때는 식물마다 다릅니다. 집에 화분이 있으면 ‘흙을 만져 보고 말랐을 때’처럼 그 식물에 맞는 방법을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작은 생물 배려하기]
목적: 작은 생물도 살아 있다는 것을 생각해 배려하는 행동을 고르고 까닭을 말하는 연습을 합니다(목표 B, 오해 M4).
시간: 약 3분
이렇게 말해 보세요
- “개미들은 어디로 가는 걸까? 길이 막히면 개미들은 어떻게 될까?”
- “너라면 어떻게 할래? 왜?”
예상 답
- “나요. 개미가 다치지 않게요.” / “다요. 개미가 어디 가는지 궁금해요. 조용히 보면 개미가 안 놀라요.”
정답
- 나와 다는 개미가 집으로 가는 길을 지켜 주는 행동입니다. 가는 개미가 길을 잃거나 다칠 수 있습니다. 개미의 입장(집에 가야 해요, 다칠 수 있어요)을 생각한 까닭을 말하면 잘한 것입니다.
막히면
- “네가 집에 가는데 커다란 손이 길을 막으면 어떨까?”라고 개미의 입장이 되어 보게 합니다.
주의
- 벌처럼 쏘는 곤충은 가까이 가지 않고 멀리서 보는 것이 나를 지키는 방법이라는 것도 함께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속상한 친구 배려하기]
목적: 친구가 속상한 상황에서 친구의 마음을 생각해 배려하는 행동을 고르고 까닭을 말합니다(목표 B, 오해 M3).
시간: 약 3분
이렇게 말해 보세요
- “나처럼 내 그림을 보여 주면 지호 마음은 어떨까?”
- “가와 다는 어떻게 다를까? 너라면 어떻게 할래? 왜?”
예상 답
- “가요. 친구가 왜 우는지 알 수 있으니까요.” / “다요. 울 때는 혼자 있고 싶을 수도 있어요.”
정답
- 가는 친구의 마음을 묻는 배려이고, 다는 친구가 마음을 가라앉힐 때까지 곁에서 기다려 주는 배려입니다. 가와 다를 함께 해도 좋습니다. 나는 나를 자랑하는 것이라 친구가 더 속상할 수 있습니다. 친구의 마음과 관련된 까닭을 말하면 잘한 것입니다.
막히면
- “네가 속상해서 울 때 누가 어떻게 해 주면 좋았어?”라고 묻습니다.
주의
- ‘내가 하고 싶은 것’과 ‘친구에게 필요한 것’이 다를 수 있다는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비교(내가 좋은 방식 vs 생물에게 필요한 것)]
목적: 내가 좋아서 하는 행동과 생물에게 필요한 행동을 비교합니다(목표 B, 오해 M3).
시간: 약 3분
이렇게 말해 보세요
- “가는 금붕어가 좋아서 그랬대. 그런데 금붕어 입장에서는 어떨까?”
- “어항을 두드리면 물속으로 쿵쿵 울려서 금붕어가 놀랄 수 있어. 먹이를 너무 많이 주면 어떻게 될까?”
예상 답
- “나요. 금붕어가 놀라지 않아요.” “먹이를 많이 주면 배 아파요.”
정답
- 나. 두드리면 금붕어가 놀라고, 먹이를 너무 많이 주면 남은 먹이 때문에 물이 더러워져 금붕어가 아플 수 있습니다. 금붕어의 입장(놀라요, 아파요)을 생각한 까닭을 말하면 잘한 것입니다.
막히면
- “네가 자고 있는데 누가 방문을 쾅쾅 두드리면 어때?”라고 묻습니다.
주의
- 가도 금붕어를 좋아하는 마음에서 한 행동이라는 것을 인정해 줍니다. 좋아하는 마음을 ‘상대에게 필요한 것’으로 바꾸는 것이 배려입니다.
- 아이가 지치면 여기서 쉬고, 다음 날 S10부터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실천 계획의 예]
목적: 실천 계획에는 맡은 일과 배려할 일을 하나씩, 언제·어떻게 할지까지 정한다는 것을 예로 보여 줍니다(목표 A·B).
시간: 약 3분
이렇게 말해 보세요
- “다인이는 맡은 일 하나, 배려 하나를 정했어. 언제 할지도 들어 있지?”
- “‘화분 흙이 마르면’은 왜 넣었을까?”
예상 답
- “저녁 먹기 전에요.” “물을 너무 많이 주면 안 되니까요.”
막히면
- ‘무엇을·언제·어떻게’를 손가락으로 짚으며 표에서 찾게 합니다.
주의
- 앞 차시 ‘나는 소중해요’에서 실천 약속을 세워 봤다면 그때와 같은 방법이라고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나의 실천 계획 세우기]
목적: 아이가 스스로 맡을 일과 배려할 상대를 하나씩 정하고, 언제·어떻게 할지와 까닭을 말하는지 확인합니다(목표 A·B). 활동지 3에 쓰고, 활동지 4의 실천 기록표에 며칠 동안 표시합니다.
시간: 약 5분
이렇게 말해 보세요
- “집에서 네가 맡아 볼 일은 뭐가 좋을까? 언제 할 거야?”
- “배려하고 싶은 친구나 생물이 있어? 어떻게 해 줄 거야?”
- “왜 그렇게 정했어?”
예상 답
- “아침에 내 이불 개기요. 엄마가 덜 힘드니까요.” / “동생이 말할 때 끝까지 듣기요.” / “화분 흙을 만져 보고 마르면 물 주기요.”
정답
- 기준: 맡을 일과 배려할 상대가 하나씩 있고, 언제·어떻게 할지와 고른 까닭을 말하면 실천 계획을 세운 것입니다. 무엇을 골랐는지는 답이 정해져 있지 않습니다.
막히면
- “수저 놓기, 신발 정리, 이불 개기 중에 무엇이 좋을까?”처럼 고를 수 있게 물어 줍니다. 도움을 받아 정했다면 기록표에 ‘도움’으로 표시합니다.
주의
- 맡을 일은 아이가 혼자 안전하게 할 수 있는 일로 정합니다(뜨거운 것, 칼, 무거운 것은 피함). 집에 기르는 생물이 없으면 가족이나 친구, 동네의 나무·풀을 배려할 상대로 정해도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보기(처음 보는 상황)]
목적: 처음 보는 상황에서 도움 없이 맡은 일과 배려에 관한 내 선택과 까닭을 말하는지 확인합니다(목표 A·B).
시간: 약 3분
이렇게 말해 보세요
- “이번에는 엄마(아빠)가 도와주지 않을게. ①부터 너라면 어떻게 할지, 왜 그런지 말해 볼래?”
정답
- ① 예: 우유를 먼저 나르고 놀아요. 친구들이 우유를 기다리니까요. (친구에게 기다려 달라고 말하기도 맞음)
- ② 예: “같이 놀래?” 하고 물어요. 새로 와서 외로울 테니까요. (옆에 앉아 이름 묻기도 맞음)
- ③ 예: 밟지 않게 피해 가요. 달팽이가 다칠 수 있으니까요.
- 판단 기준: 어떤 행동을 골랐는지보다 맡은 일을 기다리는 사람, 친구의 마음, 생물의 필요와 관련된 까닭을 말하는지를 봅니다. 세 문항 모두 까닭을 말하면 목표 A·B 확인 완료입니다.
막히면
- 까닭을 말하지 못하면 “그렇게 하면 친구(달팽이)는 어떨까?”라고 한 번만 도와주고 기록표에 ‘도움’으로 표시합니다.
주의
- ③에서 달팽이를 풀숲으로 옮겨 주고 싶어 하면 어른과 함께 하고, 만진 뒤에는 꼭 손을 씻게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잘한 모습과 흔한 실수]
목적: 혼자 해 보기에서 아이가 한 말을 예와 비교하며 돌아봅니다.
시간: 약 2분
이렇게 말해 보세요
- “오늘 네가 말한 까닭 중에 가장 마음에 드는 건 뭐야?”
- “배려할 때는 누구의 마음을 먼저 생각하면 좋을까?”
예상 답
- “달팽이가 다칠까 봐 피한다고 한 거요.” / “상대 마음이요.”
주의
- 이 장은 학생용 파일에서 빠집니다. 잘한 점을 먼저 두 가지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복습]
목적: 핵심을 한 문장으로 정리하고 다음 수업 첫 5분에 할 복습을 알려 줍니다.
시간: 약 2분
이렇게 말해 보세요
- “오늘 배운 것을 한 문장으로 말해 볼래?”
예상 답
- “맡은 일은 끝까지 해요. 친구랑 생물한테 필요한 걸 생각해요.”
정답
- ① 아이가 정한 맡은 일과 할 때 ② 상대(친구·생물)의 마음과 필요 ③ 기록표를 보며 한 일과 그때 상대의 모습이나 내 기분을 말하면 맞음
주의
- 실천 기록표는 다음 수업 전까지 날마다 함께 표시합니다. 못 한 날은 ‘내일 다시 해 보자’라고 말해 주고 나무라지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보충(생물에게 필요한 것)]
목적: S02에서 살아 있는 것을 구별하기 어렵거나 생물에게 무엇이 필요한지 모르면, 생물에게 필요한 것을 먼저 익힙니다.
시간: 약 5분
이렇게 말해 보세요
- “너는 살려면 무엇이 필요해? 물, 밥, 잠… 생물도 그래.”
- “우리 집이나 동네에서 볼 수 있는 생물을 하나 골라, 그 생물에게 필요한 것을 말해 볼까?”
정답
- 예: 화분 꽃 – 물, 햇빛 / 강아지 – 먹이, 물, 쉴 곳 / 개미 – 먹이, 집(흙). 생물과 필요한 것을 한 가지 이상 짝지어 말하면 맞습니다.
막히면
- 집의 화분이나 창밖 나무를 직접 보며 “이 나무는 무엇이 있어야 자랄까?”라고 묻습니다.
- 이 차시는 계획상 앞 차시가 없습니다. 살아 있는 것과 아닌 것의 구별을 계속 어려워하면 과학 ‘한 가지 기준으로 나누기’에서 생물과 물건을 나누어 보는 활동을 함께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책임과돌봄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맡은 일과 배려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도덕·윤리 · 맡은 일과 배려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도덕·윤리 · 맡은 일과 배려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일과 배려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맡은 일,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할 수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맡은 일을 끝까지 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친구와 생물을 배려해요.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것을 찾아요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 있는 것을 모두 골라요.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알았어요?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card7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8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화분의 꽃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2-card10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1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돌멩이</a:t>
            </a:r>
            <a:endParaRPr lang="ko-KR" sz="3200" dirty="0"/>
          </a:p>
        </p:txBody>
      </p:sp>
      <p:sp>
        <p:nvSpPr>
          <p:cNvPr id="12" name="S02-chip1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2-card13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2-cardtext14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</a:t>
            </a:r>
            <a:endParaRPr lang="ko-KR" sz="3200" dirty="0"/>
          </a:p>
        </p:txBody>
      </p:sp>
      <p:sp>
        <p:nvSpPr>
          <p:cNvPr id="15" name="S02-chip15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2-card16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2-cardtext17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인형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일이 뭐예요?</a:t>
            </a:r>
            <a:endParaRPr lang="ko-KR" sz="4400" dirty="0"/>
          </a:p>
        </p:txBody>
      </p:sp>
      <p:sp>
        <p:nvSpPr>
          <p:cNvPr id="3" name="S03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하기로 한 일이에요.</a:t>
            </a:r>
            <a:endParaRPr lang="ko-KR" sz="3200" dirty="0"/>
          </a:p>
        </p:txBody>
      </p:sp>
      <p:sp>
        <p:nvSpPr>
          <p:cNvPr id="4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일을 끝까지 하면 모두가 나를 믿어요.</a:t>
            </a:r>
            <a:endParaRPr lang="ko-KR" sz="3200" dirty="0"/>
          </a:p>
        </p:txBody>
      </p:sp>
      <p:sp>
        <p:nvSpPr>
          <p:cNvPr id="6" name="S03-card2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</a:t>
            </a:r>
            <a:endParaRPr lang="ko-KR" sz="3200" dirty="0"/>
          </a:p>
        </p:txBody>
      </p:sp>
      <p:sp>
        <p:nvSpPr>
          <p:cNvPr id="8" name="S03-card2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2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나르기,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칠판 지우기</a:t>
            </a:r>
            <a:endParaRPr lang="ko-KR" sz="3200" dirty="0"/>
          </a:p>
        </p:txBody>
      </p:sp>
      <p:sp>
        <p:nvSpPr>
          <p:cNvPr id="10" name="S03-card2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2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 돌보기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놀자고 해요</a:t>
            </a:r>
            <a:endParaRPr lang="ko-KR" sz="4400" dirty="0"/>
          </a:p>
        </p:txBody>
      </p:sp>
      <p:sp>
        <p:nvSpPr>
          <p:cNvPr id="3" name="S04-text27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다인이는 화분에 물 주기를 맡았어요.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친구가 놀자고 불러요.</a:t>
            </a:r>
            <a:endParaRPr lang="ko-KR" sz="3200" dirty="0"/>
          </a:p>
        </p:txBody>
      </p:sp>
      <p:sp>
        <p:nvSpPr>
          <p:cNvPr id="4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4-chip30"/>
          <p:cNvSpPr txBox="1"/>
          <p:nvPr/>
        </p:nvSpPr>
        <p:spPr>
          <a:xfrm>
            <a:off x="1991868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4-card31"/>
          <p:cNvSpPr/>
          <p:nvPr/>
        </p:nvSpPr>
        <p:spPr>
          <a:xfrm>
            <a:off x="548640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2"/>
          <p:cNvSpPr txBox="1"/>
          <p:nvPr/>
        </p:nvSpPr>
        <p:spPr>
          <a:xfrm>
            <a:off x="822960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주기는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하고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놀러 가요.</a:t>
            </a:r>
            <a:endParaRPr lang="ko-KR" sz="3200" dirty="0"/>
          </a:p>
        </p:txBody>
      </p:sp>
      <p:sp>
        <p:nvSpPr>
          <p:cNvPr id="9" name="S04-chip33"/>
          <p:cNvSpPr txBox="1"/>
          <p:nvPr/>
        </p:nvSpPr>
        <p:spPr>
          <a:xfrm>
            <a:off x="5811012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4-card34"/>
          <p:cNvSpPr/>
          <p:nvPr/>
        </p:nvSpPr>
        <p:spPr>
          <a:xfrm>
            <a:off x="4367784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35"/>
          <p:cNvSpPr txBox="1"/>
          <p:nvPr/>
        </p:nvSpPr>
        <p:spPr>
          <a:xfrm>
            <a:off x="4642104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다 주고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나서 놀아요.</a:t>
            </a:r>
            <a:endParaRPr lang="ko-KR" sz="3200" dirty="0"/>
          </a:p>
        </p:txBody>
      </p:sp>
      <p:sp>
        <p:nvSpPr>
          <p:cNvPr id="12" name="S04-chip36"/>
          <p:cNvSpPr txBox="1"/>
          <p:nvPr/>
        </p:nvSpPr>
        <p:spPr>
          <a:xfrm>
            <a:off x="9630156" y="2500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4-card37"/>
          <p:cNvSpPr/>
          <p:nvPr/>
        </p:nvSpPr>
        <p:spPr>
          <a:xfrm>
            <a:off x="8186928" y="3204464"/>
            <a:ext cx="3453384" cy="1916176"/>
          </a:xfrm>
          <a:prstGeom prst="roundRect">
            <a:avLst>
              <a:gd name="adj" fmla="val 572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38"/>
          <p:cNvSpPr txBox="1"/>
          <p:nvPr/>
        </p:nvSpPr>
        <p:spPr>
          <a:xfrm>
            <a:off x="8461248" y="3341624"/>
            <a:ext cx="2904744" cy="164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해 달라고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수건이 너무 많아요</a:t>
            </a:r>
            <a:endParaRPr lang="ko-KR" sz="4400" dirty="0"/>
          </a:p>
        </p:txBody>
      </p:sp>
      <p:sp>
        <p:nvSpPr>
          <p:cNvPr id="3" name="S05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지호는 수건 개기를 맡았는데, 오늘은 수건이 아주 많아요.</a:t>
            </a:r>
            <a:endParaRPr lang="ko-KR" sz="3200" dirty="0"/>
          </a:p>
        </p:txBody>
      </p:sp>
      <p:sp>
        <p:nvSpPr>
          <p:cNvPr id="5" name="S05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 찬성해요? 왜요?</a:t>
            </a:r>
            <a:endParaRPr lang="ko-KR" sz="3200" dirty="0"/>
          </a:p>
        </p:txBody>
      </p:sp>
      <p:sp>
        <p:nvSpPr>
          <p:cNvPr id="7" name="S05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“너무 많아.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할래.”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그만둬요.</a:t>
            </a:r>
            <a:endParaRPr lang="ko-KR" sz="3200" dirty="0"/>
          </a:p>
        </p:txBody>
      </p:sp>
      <p:sp>
        <p:nvSpPr>
          <p:cNvPr id="9" name="S05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“도와줄 수 있어요?”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물어보며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배려가 뭐예요?</a:t>
            </a:r>
            <a:endParaRPr lang="ko-KR" sz="4400" dirty="0"/>
          </a:p>
        </p:txBody>
      </p:sp>
      <p:sp>
        <p:nvSpPr>
          <p:cNvPr id="3" name="S06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상대의 마음과 필요를 생각해요.</a:t>
            </a:r>
            <a:endParaRPr lang="ko-KR" sz="3200" dirty="0"/>
          </a:p>
        </p:txBody>
      </p:sp>
      <p:sp>
        <p:nvSpPr>
          <p:cNvPr id="4" name="S06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좋은 것 말고, 상대에게 필요한 것을 해요.</a:t>
            </a:r>
            <a:endParaRPr lang="ko-KR" sz="3200" dirty="0"/>
          </a:p>
        </p:txBody>
      </p:sp>
      <p:sp>
        <p:nvSpPr>
          <p:cNvPr id="6" name="S06-card5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5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“괜찮아?”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물어요.</a:t>
            </a:r>
            <a:endParaRPr lang="ko-KR" sz="3200" dirty="0"/>
          </a:p>
        </p:txBody>
      </p:sp>
      <p:sp>
        <p:nvSpPr>
          <p:cNvPr id="8" name="S06-card5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5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살살, 조용히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다가가요.</a:t>
            </a:r>
            <a:endParaRPr lang="ko-KR" sz="3200" dirty="0"/>
          </a:p>
        </p:txBody>
      </p:sp>
      <p:sp>
        <p:nvSpPr>
          <p:cNvPr id="10" name="S06-card5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5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만큼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개미가 줄지어 가요</a:t>
            </a:r>
            <a:endParaRPr lang="ko-KR" sz="4400" dirty="0"/>
          </a:p>
        </p:txBody>
      </p:sp>
      <p:sp>
        <p:nvSpPr>
          <p:cNvPr id="3" name="S07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개미들이 줄지어 집으로 가요.</a:t>
            </a:r>
            <a:endParaRPr lang="ko-KR" sz="3200" dirty="0"/>
          </a:p>
        </p:txBody>
      </p:sp>
      <p:sp>
        <p:nvSpPr>
          <p:cNvPr id="4" name="S07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7-chip5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7-card6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6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막아요.</a:t>
            </a:r>
            <a:endParaRPr lang="ko-KR" sz="3200" dirty="0"/>
          </a:p>
        </p:txBody>
      </p:sp>
      <p:sp>
        <p:nvSpPr>
          <p:cNvPr id="9" name="S07-chip6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7-card6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7-cardtext6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밟지 않게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돌아서 가요.</a:t>
            </a:r>
            <a:endParaRPr lang="ko-KR" sz="3200" dirty="0"/>
          </a:p>
        </p:txBody>
      </p:sp>
      <p:sp>
        <p:nvSpPr>
          <p:cNvPr id="12" name="S07-chip6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7-card6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7-cardtext6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쪼그려 앉아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구경해요.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울어요</a:t>
            </a:r>
            <a:endParaRPr lang="ko-KR" sz="4400" dirty="0"/>
          </a:p>
        </p:txBody>
      </p:sp>
      <p:sp>
        <p:nvSpPr>
          <p:cNvPr id="3" name="S08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지호가 그림을 망쳤다며 울어요.</a:t>
            </a:r>
            <a:endParaRPr lang="ko-KR" sz="3200" dirty="0"/>
          </a:p>
        </p:txBody>
      </p:sp>
      <p:sp>
        <p:nvSpPr>
          <p:cNvPr id="4" name="S08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6" name="S08-chip7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7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7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“괜찮아?”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물어요.</a:t>
            </a:r>
            <a:endParaRPr lang="ko-KR" sz="3200" dirty="0"/>
          </a:p>
        </p:txBody>
      </p:sp>
      <p:sp>
        <p:nvSpPr>
          <p:cNvPr id="9" name="S08-chip7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7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7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그림을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주며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자랑해요.</a:t>
            </a:r>
            <a:endParaRPr lang="ko-KR" sz="3200" dirty="0"/>
          </a:p>
        </p:txBody>
      </p:sp>
      <p:sp>
        <p:nvSpPr>
          <p:cNvPr id="12" name="S08-chip7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7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7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 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금붕어를 배려하려면</a:t>
            </a:r>
            <a:endParaRPr lang="ko-KR" sz="4400" dirty="0"/>
          </a:p>
        </p:txBody>
      </p:sp>
      <p:sp>
        <p:nvSpPr>
          <p:cNvPr id="3" name="S09-card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하람이네 집에 금붕어가 있어요.</a:t>
            </a:r>
            <a:endParaRPr lang="ko-KR" sz="3200" dirty="0"/>
          </a:p>
        </p:txBody>
      </p:sp>
      <p:sp>
        <p:nvSpPr>
          <p:cNvPr id="5" name="S09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금붕어를 배려했을까요? 왜요?</a:t>
            </a:r>
            <a:endParaRPr lang="ko-KR" sz="3200" dirty="0"/>
          </a:p>
        </p:txBody>
      </p:sp>
      <p:sp>
        <p:nvSpPr>
          <p:cNvPr id="7" name="S09-chip8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8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귀여워서 어항을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톡톡 두드리고,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먹이를 많이 줘요.</a:t>
            </a:r>
            <a:endParaRPr lang="ko-KR" sz="3200" dirty="0"/>
          </a:p>
        </p:txBody>
      </p:sp>
      <p:sp>
        <p:nvSpPr>
          <p:cNvPr id="9" name="S09-chip8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8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 바라보고,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먹이는 정한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만큼만 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다인이의 실천 계획</a:t>
            </a:r>
            <a:endParaRPr lang="ko-KR" sz="4400" dirty="0"/>
          </a:p>
        </p:txBody>
      </p:sp>
      <p:sp>
        <p:nvSpPr>
          <p:cNvPr id="3" name="S10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 하나, 배려 하나를 정했어요.</a:t>
            </a:r>
            <a:endParaRPr lang="ko-KR" sz="3200" dirty="0"/>
          </a:p>
        </p:txBody>
      </p:sp>
      <p:sp>
        <p:nvSpPr>
          <p:cNvPr id="4" name="S10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언제, 어떻게 할지 정하면 지키기 쉬워요.</a:t>
            </a:r>
            <a:endParaRPr lang="ko-KR" sz="3200" dirty="0"/>
          </a:p>
        </p:txBody>
      </p:sp>
      <p:graphicFrame>
        <p:nvGraphicFramePr>
          <p:cNvPr id="11" name="S10-table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80335"/>
          <a:ext cx="100584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7644384"/>
              </a:tblGrid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맡은 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먹기 전에 수저 놓기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배려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화분 흙이 마르면 물 주기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날에 ○, 못 한 날은 다음 날 다시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실천 계획 세우기</a:t>
            </a:r>
            <a:endParaRPr lang="ko-KR" sz="4400" dirty="0"/>
          </a:p>
        </p:txBody>
      </p:sp>
      <p:sp>
        <p:nvSpPr>
          <p:cNvPr id="3" name="S11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나의 계획을 써요.</a:t>
            </a:r>
            <a:endParaRPr lang="ko-KR" sz="3200" dirty="0"/>
          </a:p>
        </p:txBody>
      </p:sp>
      <p:sp>
        <p:nvSpPr>
          <p:cNvPr id="4" name="S11-card93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94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맡을 일을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배려할 상대를 골랐어요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 할지 정했어요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말했어요</a:t>
            </a:r>
            <a:endParaRPr lang="ko-KR" sz="3200" dirty="0"/>
          </a:p>
        </p:txBody>
      </p:sp>
      <p:sp>
        <p:nvSpPr>
          <p:cNvPr id="6" name="S11-stepno95"/>
          <p:cNvSpPr txBox="1"/>
          <p:nvPr/>
        </p:nvSpPr>
        <p:spPr>
          <a:xfrm>
            <a:off x="548640" y="23022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1-text96"/>
          <p:cNvSpPr txBox="1"/>
          <p:nvPr/>
        </p:nvSpPr>
        <p:spPr>
          <a:xfrm>
            <a:off x="1325880" y="2256536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맡을 일을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골라요.</a:t>
            </a:r>
            <a:endParaRPr lang="ko-KR" sz="2600" dirty="0"/>
          </a:p>
        </p:txBody>
      </p:sp>
      <p:sp>
        <p:nvSpPr>
          <p:cNvPr id="8" name="S11-stepno97"/>
          <p:cNvSpPr txBox="1"/>
          <p:nvPr/>
        </p:nvSpPr>
        <p:spPr>
          <a:xfrm>
            <a:off x="548640" y="3272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1-text98"/>
          <p:cNvSpPr txBox="1"/>
          <p:nvPr/>
        </p:nvSpPr>
        <p:spPr>
          <a:xfrm>
            <a:off x="1325880" y="3226816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배려할 친구나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생물을 골라요.</a:t>
            </a:r>
            <a:endParaRPr lang="ko-KR" sz="2600" dirty="0"/>
          </a:p>
        </p:txBody>
      </p:sp>
      <p:sp>
        <p:nvSpPr>
          <p:cNvPr id="10" name="S11-stepno99"/>
          <p:cNvSpPr txBox="1"/>
          <p:nvPr/>
        </p:nvSpPr>
        <p:spPr>
          <a:xfrm>
            <a:off x="548640" y="4242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1-text100"/>
          <p:cNvSpPr txBox="1"/>
          <p:nvPr/>
        </p:nvSpPr>
        <p:spPr>
          <a:xfrm>
            <a:off x="1325880" y="4197096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어떻게 할지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정해요.</a:t>
            </a:r>
            <a:endParaRPr lang="ko-KR" sz="2600" dirty="0"/>
          </a:p>
        </p:txBody>
      </p:sp>
      <p:sp>
        <p:nvSpPr>
          <p:cNvPr id="12" name="S11-stepno101"/>
          <p:cNvSpPr txBox="1"/>
          <p:nvPr/>
        </p:nvSpPr>
        <p:spPr>
          <a:xfrm>
            <a:off x="548640" y="5213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1-text102"/>
          <p:cNvSpPr txBox="1"/>
          <p:nvPr/>
        </p:nvSpPr>
        <p:spPr>
          <a:xfrm>
            <a:off x="1325880" y="5167376"/>
            <a:ext cx="5122012" cy="8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쓰고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○ 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어떻게 할까요? 왜요?</a:t>
            </a:r>
            <a:endParaRPr lang="ko-KR" sz="3200" dirty="0"/>
          </a:p>
        </p:txBody>
      </p:sp>
      <p:sp>
        <p:nvSpPr>
          <p:cNvPr id="4" name="S12-chip10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10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당번인데 친구가 놀자고 해요.</a:t>
            </a:r>
            <a:endParaRPr lang="ko-KR" sz="3200" dirty="0"/>
          </a:p>
        </p:txBody>
      </p:sp>
      <p:sp>
        <p:nvSpPr>
          <p:cNvPr id="6" name="S12-chip10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10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온 친구가 혼자 앉아 있어요.</a:t>
            </a:r>
            <a:endParaRPr lang="ko-KR" sz="3200" dirty="0"/>
          </a:p>
        </p:txBody>
      </p:sp>
      <p:sp>
        <p:nvSpPr>
          <p:cNvPr id="8" name="S12-chip10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10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온 뒤 길에 달팽이가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모습과 흔한 실수</a:t>
            </a:r>
            <a:endParaRPr lang="ko-KR" sz="4400" dirty="0"/>
          </a:p>
        </p:txBody>
      </p:sp>
      <p:sp>
        <p:nvSpPr>
          <p:cNvPr id="3" name="S13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행동보다 까닭을 보고 칭찬해요.</a:t>
            </a:r>
            <a:endParaRPr lang="ko-KR" sz="3200" dirty="0"/>
          </a:p>
        </p:txBody>
      </p:sp>
      <p:sp>
        <p:nvSpPr>
          <p:cNvPr id="5" name="S13-chip11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113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끝내요</a:t>
            </a:r>
            <a:endParaRPr lang="ko-KR" sz="3200" dirty="0"/>
          </a:p>
        </p:txBody>
      </p:sp>
      <p:sp>
        <p:nvSpPr>
          <p:cNvPr id="7" name="S13-text114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기다리는 사람을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생각해요</a:t>
            </a:r>
            <a:endParaRPr lang="ko-KR" sz="2600" dirty="0"/>
          </a:p>
        </p:txBody>
      </p:sp>
      <p:sp>
        <p:nvSpPr>
          <p:cNvPr id="8" name="S13-text115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상대에게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</a:t>
            </a:r>
            <a:endParaRPr lang="ko-KR" sz="3200" dirty="0"/>
          </a:p>
        </p:txBody>
      </p:sp>
      <p:sp>
        <p:nvSpPr>
          <p:cNvPr id="9" name="S13-text116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“외로울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테니까요.”</a:t>
            </a:r>
            <a:endParaRPr lang="ko-KR" sz="2600" dirty="0"/>
          </a:p>
        </p:txBody>
      </p:sp>
      <p:sp>
        <p:nvSpPr>
          <p:cNvPr id="10" name="S13-chip11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3-text11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“나중에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할래요.”</a:t>
            </a:r>
            <a:endParaRPr lang="ko-KR" sz="3200" dirty="0"/>
          </a:p>
        </p:txBody>
      </p:sp>
      <p:sp>
        <p:nvSpPr>
          <p:cNvPr id="12" name="S13-text11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잊어버리기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쉬워요</a:t>
            </a:r>
            <a:endParaRPr lang="ko-KR" sz="2600" dirty="0"/>
          </a:p>
        </p:txBody>
      </p:sp>
      <p:sp>
        <p:nvSpPr>
          <p:cNvPr id="13" name="S13-text12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방식만</a:t>
            </a:r>
            <a:endParaRPr lang="ko-KR" sz="3200" dirty="0"/>
          </a:p>
        </p:txBody>
      </p:sp>
      <p:sp>
        <p:nvSpPr>
          <p:cNvPr id="14" name="S13-text12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상대의 입장을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 주기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2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2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맡은 일은 끝까지 하고, 상대에게 필요한 것을 생각해 배려해요.</a:t>
            </a:r>
            <a:endParaRPr lang="ko-KR" sz="3200" dirty="0"/>
          </a:p>
        </p:txBody>
      </p:sp>
      <p:sp>
        <p:nvSpPr>
          <p:cNvPr id="5" name="S14-chip12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맡은 일 끝까지 하기</a:t>
            </a:r>
            <a:endParaRPr lang="ko-KR" sz="2600" dirty="0"/>
          </a:p>
        </p:txBody>
      </p:sp>
      <p:sp>
        <p:nvSpPr>
          <p:cNvPr id="6" name="S14-chip12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내가 좋은 대로만 하기</a:t>
            </a:r>
            <a:endParaRPr lang="ko-KR" sz="2600" dirty="0"/>
          </a:p>
        </p:txBody>
      </p:sp>
      <p:sp>
        <p:nvSpPr>
          <p:cNvPr id="7" name="S14-text12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2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내가 맡은 일과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하는지?</a:t>
            </a:r>
            <a:endParaRPr lang="ko-KR" sz="2600" dirty="0"/>
          </a:p>
        </p:txBody>
      </p:sp>
      <p:sp>
        <p:nvSpPr>
          <p:cNvPr id="9" name="S14-text12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배려할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생각할 것은?</a:t>
            </a:r>
            <a:endParaRPr lang="ko-KR" sz="2600" dirty="0"/>
          </a:p>
        </p:txBody>
      </p:sp>
      <p:sp>
        <p:nvSpPr>
          <p:cNvPr id="10" name="S14-text12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기록표에서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날 이야기</a:t>
            </a:r>
            <a:endParaRPr lang="ko-KR" sz="2600" dirty="0"/>
          </a:p>
        </p:txBody>
      </p:sp>
      <p:sp>
        <p:nvSpPr>
          <p:cNvPr id="11" name="S14-text13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정직과 약속(2학년)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생물에게 필요한 것</a:t>
            </a:r>
            <a:endParaRPr lang="ko-KR" sz="4400" dirty="0"/>
          </a:p>
        </p:txBody>
      </p:sp>
      <p:sp>
        <p:nvSpPr>
          <p:cNvPr id="3" name="S15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생물은 이것이 있어야 살아요.</a:t>
            </a:r>
            <a:endParaRPr lang="ko-KR" sz="3200" dirty="0"/>
          </a:p>
        </p:txBody>
      </p:sp>
      <p:sp>
        <p:nvSpPr>
          <p:cNvPr id="4" name="S15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생물도 나처럼 필요한 것이 있어요.</a:t>
            </a:r>
            <a:endParaRPr lang="ko-KR" sz="3200" dirty="0"/>
          </a:p>
        </p:txBody>
      </p:sp>
      <p:sp>
        <p:nvSpPr>
          <p:cNvPr id="6" name="S15-card134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35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식물도 동물도 물을 마셔요.</a:t>
            </a:r>
            <a:endParaRPr lang="ko-KR" sz="3200" dirty="0"/>
          </a:p>
        </p:txBody>
      </p:sp>
      <p:sp>
        <p:nvSpPr>
          <p:cNvPr id="8" name="S15-card136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137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동물은 먹이를 먹어요.</a:t>
            </a:r>
            <a:endParaRPr lang="ko-KR" sz="3200" dirty="0"/>
          </a:p>
        </p:txBody>
      </p:sp>
      <p:sp>
        <p:nvSpPr>
          <p:cNvPr id="10" name="S15-card138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39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식물은 햇빛을 받아 자라요.</a:t>
            </a:r>
            <a:endParaRPr lang="ko-KR" sz="3200" dirty="0"/>
          </a:p>
        </p:txBody>
      </p:sp>
      <p:sp>
        <p:nvSpPr>
          <p:cNvPr id="12" name="S15-card140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5-cardtext141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편히 지낼 곳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놀라지 않고 쉴 곳이 필요해요.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도덕·윤리 맡은 일과 배려</dc:title>
  <dc:subject>KR22-G01-ETH-CARE-L01</dc:subject>
  <dc:creator>education-ppt</dc:creator>
  <cp:lastModifiedBy>education-ppt</cp:lastModifiedBy>
  <cp:revision>1</cp:revision>
  <dcterms:created xsi:type="dcterms:W3CDTF">2026-10-26T10:01:37Z</dcterms:created>
  <dcterms:modified xsi:type="dcterms:W3CDTF">2026-10-26T10:01:37Z</dcterms:modified>
</cp:coreProperties>
</file>