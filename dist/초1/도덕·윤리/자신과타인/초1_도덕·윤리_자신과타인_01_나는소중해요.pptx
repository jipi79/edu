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bb25ba05-1cbd-80a7-a3dd-201d764a3a79}">
          <p14:sldIdLst>
            <p14:sldId id="256"/>
            <p14:sldId id="257"/>
          </p14:sldIdLst>
        </p14:section>
        <p14:section name="개념" id="{67c49607-568c-64a4-53ad-abfee2c18b4e}">
          <p14:sldIdLst>
            <p14:sldId id="258"/>
            <p14:sldId id="259"/>
            <p14:sldId id="260"/>
            <p14:sldId id="261"/>
          </p14:sldIdLst>
        </p14:section>
        <p14:section name="연습" id="{8b821a21-16d6-09df-65f2-d9c23f45c3c1}">
          <p14:sldIdLst>
            <p14:sldId id="262"/>
            <p14:sldId id="263"/>
            <p14:sldId id="264"/>
          </p14:sldIdLst>
        </p14:section>
        <p14:section name="확인" id="{f82b8680-b7f0-6cb7-77f1-e11ba2086adb}">
          <p14:sldIdLst>
            <p14:sldId id="265"/>
            <p14:sldId id="266"/>
            <p14:sldId id="267"/>
          </p14:sldIdLst>
        </p14:section>
        <p14:section name="정리" id="{ad9947a6-1520-c6d9-4b42-4cee160ef242}">
          <p14:sldIdLst>
            <p14:sldId id="268"/>
          </p14:sldIdLst>
        </p14:section>
        <p14:section name="보충" id="{d0947689-f353-239c-2450-81c7c0b68712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알리고, 나에 대해 생각해 보게 합니다.
시간: 약 2분
이렇게 말해 보세요
- “세상에 너랑 똑같은 사람이 있을까? 오늘은 내가 왜 소중한지 알아보고, 소중한 가족과 친구에게 어떻게 하면 좋을지 생각해 볼 거야.”
예상 답
- “없어요.” / “쌍둥이요?” / “몰라요.”
주의
- 아이가 무엇이라고 답해도 받아 줍니다. 오늘은 정답을 맞히는 시간이 아니라 생각과 까닭을 말하는 시간이라는 것을 처음부터 느끼게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확인(기분 말하기)]
목적: 다른 사람의 말과 행동에 따라 내 기분이 달라진다는 것을 말할 수 있는지 확인합니다. 오늘은 상황마다 ‘상대의 마음’을 까닭으로 쓰기 때문입니다. 이 차시는 계획상 앞 차시가 없으므로, 유치원과 집에서 해 온 ‘기분 말하기’를 확인합니다.
시간: 약 3분
이렇게 말해 보세요
- “①처럼 친구가 웃으며 ‘안녕!’ 하면 기분이 어때?”
- “②, ③은 어때? 왜 그런 기분이 들까?”
예상 답
- ① 기뻐요, 좋아요 ② 속상해요, 슬퍼요 ③ 화나요, 속상해요 (기분을 나타내는 말을 하나 말하면 맞음)
막히면
- “좋아, 싫어?” 가운데 먼저 고르게 한 뒤, ‘기뻐요, 속상해요’ 같은 말로 바꾸어 말해 줍니다.
- 기분을 나타내는 말을 거의 떠올리지 못하면 S14(보충)를 먼저 합니다.
주의
- ‘화나요’도 자연스러운 마음입니다. 어떤 기분이든 말해 준 것을 칭찬합니다.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나의 좋은 점 찾기]
목적: 나의 좋은 점을 잘하는 것·좋아하는 것·잘한 일로 나누어 찾고, 나는 하나뿐이라서 소중하다는 것을 알려 줍니다(목표 A, 오해 M1).
시간: 약 4분
이렇게 말해 보세요
- “엄마(아빠)가 먼저 해 볼게. 엄마는 노래를 잘하고, 산책을 좋아하고, 오늘 아침에 할머니께 전화를 드렸어.”
- “이제 네 차례야. 너는 무엇을 잘해? 무엇을 좋아해? 요즘 잘한 일은 뭐야?”
- “이렇게 좋은 점이 많은 너는 세상에 딱 한 명뿐이야. 그래서 소중해.”
예상 답
- “달리기를 잘해요.” “공룡을 좋아해요.” “신발을 정리했어요.”
막히면
- “엄마가 보기에 너는 잘 웃어. 그것도 좋은 점이야.”처럼 부모가 작은 좋은 점을 먼저 말해 주고, 아이가 하나를 더 찾게 합니다(M1).
주의
- 성적이나 다른 아이와 비교하는 말은 하지 않습니다. 작은 일도 좋은 점으로 받아 줍니다.
- 아이가 말한 좋은 점은 활동지 1에 적어 둡니다(쓰기가 어려우면 부모가 받아 적거나 그림으로 그려도 됩니다).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두 생각 비교(나만 vs 나도 친구도)]
목적: 나만 소중하다는 생각과 나도 친구도 소중하다는 생각을 비교하고, 까닭을 말하게 합니다(목표 A, 오해 M2).
시간: 약 3분
이렇게 말해 보세요
- “가와 나를 엄마(아빠)랑 나누어 읽어 볼까? 너는 어느 생각에 찬성해? 왜?”
- “소율이 말대로 모두가 ‘늘 내가 먼저야’ 하면 어떻게 될까?”
예상 답
- “나요. 친구도 소중하니까요.” “모두 먼저 하려고 하면 싸워요.”
- “가요. 나는 소중하니까요.”라고 답할 수도 있습니다.
정답
- 정해진 답보다 까닭을 봅니다. ‘친구도 나처럼 소중하니까’, ‘친구도 먼저 하고 싶은 마음이 있으니까’처럼 친구의 마음을 생각한 까닭을 말하면 잘한 것입니다.
막히면
- 가를 고르면 “소율이 말에도 맞는 부분이 있어. 소율이는 소중해. 그럼 지호는?”이라고 물어, 나와 친구가 모두 소중하다는 데까지 생각을 넓힙니다.
주의
- 가를 고른 아이를 나무라지 않습니다. ‘나는 소중해’는 맞는 생각이라는 것을 먼저 인정합니다.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소중하게 대하는 세 가지 방법]
목적: 나와 친구가 모두 소중하다면 서로를 어떻게 대할지 인사·듣기·차례 지키기 세 가지로 알려 줍니다(목표 B).
시간: 약 3분
이렇게 말해 보세요
- “친구가 소중하면 어떻게 대해 주면 좋을까? 세 가지가 있어.”
- “엄마(아빠)랑 동작을 하며 말해 볼까? 인사는 고개 숙이기, 듣기는 귀에 손 대기, 차례는 줄 서는 흉내.”
예상 답
- “인사해요, 잘 들어요, 줄 서요.”
막히면
- 어제나 오늘 아이가 인사하거나 기다린 일을 떠올리게 하고 “그게 바로 친구를 소중하게 대한 거야.”라고 이어 줍니다.
주의
- ‘듣기’는 국어 ‘바르게 듣고 차례 지켜 말하기’ 차시와 이어집니다. 그 차시를 했다면 ‘눈·귀·마음으로 듣기’를 떠올리게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시범(인사 상황: 여러 행동과 까닭)]
목적: 한 상황에서 여러 행동을 놓고, 부모가 소리 내어 생각하며 ‘상황 → 여러 생각 → 까닭 → 내 선택’의 차례를 보여 줍니다(목표 B, 오해 M3).
시간: 약 4분
이렇게 말해 보세요
- “엄마(아빠)가 먼저 생각해 볼게. 가처럼 지나가면, 선생님은 하준이가 못 봤다고 생각하실 수도 있겠네. 하준이 마음은 편하겠지만 선생님은 조금 서운하실 것 같아.”
- “나는 작은 목소리지만 인사를 했네. 다는 말은 안 했지만 웃으며 손을 흔들었어. 둘 다 반가운 마음이 전해지겠다.”
- “엄마라면 나를 고를래. 작은 목소리라면 할 수 있을 것 같고, 선생님도 기뻐하실 테니까. 너라면 어떻게 할래? 왜?”
예상 답
- “다요. 말하는 건 부끄럽지만 손은 흔들 수 있어요.” / “나요. 선생님이 좋아하시니까요.”
정답
- 나와 다는 모두 반가운 마음을 전하는 인사입니다. 가를 고르면 선생님의 마음을 함께 생각해 보게 합니다. 고른 행동보다 ‘선생님이 기뻐하실 테니까’처럼 상대의 마음을 생각한 까닭을 말하는지를 봅니다.
막히면
- “선생님이 너를 보고 웃으며 인사해 주시면 기분이 어때? 선생님도 그러실까?”라고 상대의 입장이 되어 보게 합니다.
주의
- 부끄러워하는 마음을 고치려 하지 않습니다. 인사하는 방법은 여러 가지이고, 내가 할 수 있는 방법을 고르면 된다는 것을 알려 줍니다(M3).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듣기 상황에서 고르고 까닭 말하기]
목적: 듣기가 필요한 상황에서 여러 행동을 비교하고, 내 선택과 까닭을 말하는 연습을 합니다(목표 B).
시간: 약 3분
이렇게 말해 보세요
- “가, 나, 다처럼 하면 동생 마음은 각각 어떨까?”
- “너라면 어떻게 할래? 왜 그렇게 하고 싶어?”
예상 답
- “다요. 동생이 기뻐하니까요.” / “나요. 만화가 궁금하지만, 다 보고 꼭 들어 주면 되니까요.”
정답
- 다는 동생의 말을 바로 끝까지 들어 줍니다. 나는 솔직하게 말하고 나중에 꼭 들어 주면 동생도 기다릴 수 있습니다. 가는 동생이 ‘내 말을 안 듣는구나’ 하고 속상할 수 있습니다. 동생의 마음이나 약속과 관련된 까닭을 말하면 잘한 것입니다.
막히면
- “네가 이야기하는데 엄마가 화면만 보며 ‘응, 응’ 하면 기분이 어때?”라고 물어 동생의 입장이 되어 보게 합니다.
주의
- 나를 고르면 “이것만 보고 나서 정말 들어 주는 것”이 중요하다고 짚어 줍니다. 동생이 없으면 ‘친구’나 ‘할머니’로 바꾸어 읽어도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차례 상황에서 고르고 까닭 말하기]
목적: 차례를 지켜야 하는 상황에서 여러 행동을 비교하고, 줄을 선 친구의 마음을 생각해 내 선택과 까닭을 말합니다(목표 B, 오해 M2).
시간: 약 3분
이렇게 말해 보세요
- “가처럼 하면 줄 서 있던 친구들은 어떤 마음일까?”
- “다처럼 물어보는 건 어때? 친구가 ‘안 돼.’ 하면 어떻게 할래?”
- “너라면 어떻게 할래? 왜?”
예상 답
- “나요. 친구들도 오래 기다렸으니까요.” / “다요. 물어보면 친구가 정할 수 있으니까요. 안 된다고 하면 뒤에 설래요.”
정답
- 나는 먼저 온 친구들의 기다림을 존중하는 행동입니다. 다는 끼어들지 않고 친구의 마음을 묻는 방법이지만, 친구가 싫다고 하면 뒤에 서야 합니다. 가는 기다린 친구들이 속상하고 다툼이 생길 수 있습니다. 친구의 마음이나 모두에게 공평한 것과 관련된 까닭을 말하면 잘한 것입니다.
막히면
- 인형 두세 개로 줄을 세워 보고, 아이가 맨 앞 인형이 되어 누가 끼어들 때의 기분을 말하게 합니다.
주의
- 아이가 지치면 여기서 쉬고, 다음 날 S09부터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실천 약속 세우는 방법]
목적: 실천 약속은 무엇을·언제·누구에게 할지 정해야 지킬 수 있다는 것을 보여 줍니다(목표 B, 오해 M4).
시간: 약 3분
이렇게 말해 보세요
- “오늘 배운 세 가지 중에서 하나를 골라 며칠 동안 해 볼 거야. 그런데 ‘착한 어린이 되기’라고 약속하면 언제 무엇을 해야 할지 알 수 있을까?”
- “엄마(아빠)는 ‘아침에 일어나면 가족에게 먼저 인사하기’로 정해 볼게. 무엇을, 언제, 누구에게가 다 들어 있지?”
예상 답
- “모르겠어요.” / “인사하기, 아침에, 가족에게요.”
막히면
- ‘무엇을, 언제, 누구에게’를 손가락 세 개로 하나씩 짚으며 엄마(아빠)의 약속에서 찾게 합니다.
주의
- 부모도 약속을 하나 정해 함께 실천하면 아이가 더 즐겁게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나의 실천 약속 세우기]
목적: 아이가 스스로 실천 약속을 정해 무엇을·언제·누구에게를 모두 넣는지 확인합니다(목표 B). 활동지 4에 쓰고, 활동지 5의 실천 기록표에 며칠 동안 표시합니다.
시간: 약 5분
이렇게 말해 보세요
- “이제 네 약속을 정해 볼까? 인사, 듣기, 차례 중에서 무엇을 해 보고 싶어?”
- “언제 할 거야? 누구에게 할 거야?”
- “왜 그 약속을 골랐어?”
예상 답
- “학교 갈 때 경비 아저씨께 먼저 인사하기요. 아저씨가 웃어 주시니까요.” / “저녁 먹을 때 동생 말을 끝까지 듣기요.”
정답
- 기준: 무엇을·언제·누구에게가 모두 들어가고 고른 까닭을 말하면 실천 약속을 세운 것입니다. 어떤 약속을 골랐는지는 답이 정해져 있지 않습니다.
막히면
- “아침, 점심, 저녁 중에 언제가 좋을까?”, “엄마, 아빠, 동생, 선생님 중에 누구에게?”처럼 고를 수 있게 물어 줍니다. 도움을 받아 정했다면 기록표에 ‘도움’으로 표시합니다.
주의
- 쓰기가 어려우면 아이가 말하고 부모가 받아 적은 뒤, 아이가 옆에 그림을 그리게 합니다. 약속은 냉장고처럼 잘 보이는 곳에 붙여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해 보기(처음 보는 상황)]
목적: 처음 보는 상황에서 도움 없이 내 선택과 까닭을 말하는지, 나와 친구의 소중함을 까닭과 함께 말하는지 확인합니다(목표 A·B).
시간: 약 4분
이렇게 말해 보세요
- “이번에는 엄마(아빠)가 도와주지 않을게. ①부터 말해 볼래?”
- “②에서 너라면 어떻게 할 거야? 왜 그렇게 할 거야?”
정답
- ① 좋은 점 두 가지(예: 블록 쌓기를 잘해요, 동생과 잘 놀아 줘요)와 친구도 소중한 까닭(예: 친구도 세상에 하나뿐이니까요, 친구도 나처럼 기쁘고 슬프니까요)
- ② 예: 웃으며 ‘안녕하세요.’ 하고 인사해요. 할머니가 반가워하실 테니까요. (고개 숙여 인사하기, 손 흔들기도 맞음)
- ③ 예: 친구 얼굴을 보며 끝까지 들어요. 친구 마음이 조금 편해질 테니까요.
- 판단 기준: ②③은 어떤 행동을 골랐는지보다 상대의 마음이나 모두에게 좋은 점과 관련된 까닭을 말하는지를 봅니다. 세 문항 모두 까닭을 말하면 목표 A·B 확인 완료입니다.
막히면
- 까닭을 말하지 못하면 “그렇게 하면 할머니(친구)는 기분이 어떨까?”라고 한 번만 도와주고, 기록표에 ‘도움’으로 표시합니다.
주의
- 엘리베이터가 없는 집이면 ‘집 앞에서 이웃 할머니를 만났어요’로 바꾸어 읽습니다.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잘한 모습과 흔한 실수]
목적: 혼자 해 보기에서 아이가 한 말을 예와 비교하며 돌아봅니다.
시간: 약 2분
이렇게 말해 보세요
- “오늘 네가 말한 까닭 중에 가장 마음에 드는 건 뭐야?”
- “다음에 까닭을 말할 때 무엇을 생각하면 좋을까?”
예상 답
- “할머니 마음을 생각했어요.” / “상대 마음이요.”
주의
- 이 장은 학생용 파일에서 빠집니다. 잘한 점을 먼저 두 가지 말해 줍니다. ‘그냥요’라고 답해도 나무라지 않고, 상대의 마음을 물어 다시 생각하게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정리와 다음 복습]
목적: 핵심을 한 문장으로 정리하고 다음 수업 첫 5분에 할 복습을 알려 줍니다.
시간: 약 2분
이렇게 말해 보세요
- “오늘 배운 것을 한 문장으로 말해 볼래?”
예상 답
- “나도 친구도 소중해요. 인사하고 잘 듣고 차례를 지켜요.”
정답
- ① 아이가 말한 좋은 점 두 가지 ② 인사하기, 끝까지 듣기, 차례 지키기 ③ 실천 기록표에서 ○ 한 날을 보며 누구에게 어떻게 했고 상대가 어떤 표정이었는지 말하면 맞음
주의
- 실천 기록표는 다음 수업 전까지 날마다 함께 표시합니다. 못 한 날은 ‘내일 다시 해 보자’라고 말해 주고 나무라지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보충(기분을 나타내는 말)]
목적: S02에서 기분을 나타내는 말을 떠올리기 어려우면, 상황과 기분 낱말을 짝지어 익힙니다.
시간: 약 5분
이렇게 말해 보세요
- “엄마(아빠)가 얼굴 표정을 지어 볼게. 어떤 기분일까?” (웃는 얼굴, 시무룩한 얼굴, 찡그린 얼굴을 차례로 보여 줍니다.)
- “친구가 반갑게 인사해 주면 어떤 기분이 들까? 여기서 골라 볼래?”
정답
- 상황과 기분 낱말을 짝지어 말하면 맞습니다. 같은 상황에서 다른 기분을 말해도 까닭이 있으면 받아 줍니다.
막히면
- 거울을 보며 아이가 직접 표정을 지어 보고 기분 이름을 붙여 봅니다.
- 이 차시는 계획상 앞 차시가 없습니다. 기분을 말로 나타내기를 계속 어려워하면 그림책을 함께 읽으며 인물의 기분을 말하는 놀이를 자주 하고, 국어 ‘바르게 듣고 차례 지켜 말하기’를 먼저 해도 좋습니다.
주의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도덕·윤리 · 자신과타인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도덕·윤리 · 나는 소중해요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도덕·윤리 · 나는 소중해요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도덕·윤리 · 나는 소중해요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소중해요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왜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소중할까?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나의 좋은 점을 말해요.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인사·듣기·차례를 지켜요.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이럴 때 기분이 어때요?</a:t>
            </a:r>
            <a:endParaRPr lang="ko-KR" sz="44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나라면 기분이 어떨지 말해요.</a:t>
            </a:r>
            <a:endParaRPr lang="ko-KR" sz="32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“안녕!” 하고 웃어요.</a:t>
            </a:r>
            <a:endParaRPr lang="ko-KR" sz="32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말을 아무도 안 들어요.</a:t>
            </a:r>
            <a:endParaRPr lang="ko-KR" sz="3200" dirty="0"/>
          </a:p>
        </p:txBody>
      </p:sp>
      <p:sp>
        <p:nvSpPr>
          <p:cNvPr id="8" name="S02-chip8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02-text9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줄을 섰는데 누가 끼어들어요.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나의 좋은 점 찾기</a:t>
            </a:r>
            <a:endParaRPr lang="ko-KR" sz="4400" dirty="0"/>
          </a:p>
        </p:txBody>
      </p:sp>
      <p:sp>
        <p:nvSpPr>
          <p:cNvPr id="3" name="S03-text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 칸에서 찾아봐요.</a:t>
            </a:r>
            <a:endParaRPr lang="ko-KR" sz="3200" dirty="0"/>
          </a:p>
        </p:txBody>
      </p:sp>
      <p:sp>
        <p:nvSpPr>
          <p:cNvPr id="4" name="S03-card1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세상에 하나뿐이라서 소중해요.</a:t>
            </a:r>
            <a:endParaRPr lang="ko-KR" sz="3200" dirty="0"/>
          </a:p>
        </p:txBody>
      </p:sp>
      <p:sp>
        <p:nvSpPr>
          <p:cNvPr id="6" name="S03-card13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4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잘하는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줄넘기를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잘해요.</a:t>
            </a:r>
            <a:endParaRPr lang="ko-KR" sz="3200" dirty="0"/>
          </a:p>
        </p:txBody>
      </p:sp>
      <p:sp>
        <p:nvSpPr>
          <p:cNvPr id="8" name="S03-card15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9" name="S03-cardtext16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좋아하는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그림 그리기를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좋아해요.</a:t>
            </a:r>
            <a:endParaRPr lang="ko-KR" sz="3200" dirty="0"/>
          </a:p>
        </p:txBody>
      </p:sp>
      <p:sp>
        <p:nvSpPr>
          <p:cNvPr id="10" name="S03-card17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3-cardtext18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잘한 일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동생을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도와줬어요.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생각에 찬성해요?</a:t>
            </a:r>
            <a:endParaRPr lang="ko-KR" sz="4400" dirty="0"/>
          </a:p>
        </p:txBody>
      </p:sp>
      <p:sp>
        <p:nvSpPr>
          <p:cNvPr id="3" name="S04-card1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4-cardtext2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소율이와 지호가 이야기해요.</a:t>
            </a:r>
            <a:endParaRPr lang="ko-KR" sz="3200" dirty="0"/>
          </a:p>
        </p:txBody>
      </p:sp>
      <p:sp>
        <p:nvSpPr>
          <p:cNvPr id="5" name="S04-card2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4-cardtext2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생각에 찬성해요? 왜요?</a:t>
            </a:r>
            <a:endParaRPr lang="ko-KR" sz="3200" dirty="0"/>
          </a:p>
        </p:txBody>
      </p:sp>
      <p:sp>
        <p:nvSpPr>
          <p:cNvPr id="7" name="S04-chip23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4-text24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소율: “나는 소중해.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그러니까 늘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먼저야.”</a:t>
            </a:r>
            <a:endParaRPr lang="ko-KR" sz="3200" dirty="0"/>
          </a:p>
        </p:txBody>
      </p:sp>
      <p:sp>
        <p:nvSpPr>
          <p:cNvPr id="9" name="S04-chip25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0" name="S04-text26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지호: “나도 소중하고,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친구도 소중해.”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소중하게 대하는 방법</a:t>
            </a:r>
            <a:endParaRPr lang="ko-KR" sz="4400" dirty="0"/>
          </a:p>
        </p:txBody>
      </p:sp>
      <p:sp>
        <p:nvSpPr>
          <p:cNvPr id="3" name="S05-text2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소중한 사람에게 이렇게 해요.</a:t>
            </a:r>
            <a:endParaRPr lang="ko-KR" sz="3200" dirty="0"/>
          </a:p>
        </p:txBody>
      </p:sp>
      <p:sp>
        <p:nvSpPr>
          <p:cNvPr id="4" name="S05-card2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2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마음도, 친구 마음도 생각해요.</a:t>
            </a:r>
            <a:endParaRPr lang="ko-KR" sz="3200" dirty="0"/>
          </a:p>
        </p:txBody>
      </p:sp>
      <p:sp>
        <p:nvSpPr>
          <p:cNvPr id="6" name="S05-card30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5-cardtext31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눈을 보고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반갑게 인사해요.</a:t>
            </a:r>
            <a:endParaRPr lang="ko-KR" sz="3200" dirty="0"/>
          </a:p>
        </p:txBody>
      </p:sp>
      <p:sp>
        <p:nvSpPr>
          <p:cNvPr id="8" name="S05-card32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9" name="S05-cardtext33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듣기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말이 끝날 때까지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들어요.</a:t>
            </a:r>
            <a:endParaRPr lang="ko-KR" sz="3200" dirty="0"/>
          </a:p>
        </p:txBody>
      </p:sp>
      <p:sp>
        <p:nvSpPr>
          <p:cNvPr id="10" name="S05-card34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5-cardtext35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줄을 서서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기다려요.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부끄러울 때 인사는?</a:t>
            </a:r>
            <a:endParaRPr lang="ko-KR" sz="4400" dirty="0"/>
          </a:p>
        </p:txBody>
      </p:sp>
      <p:sp>
        <p:nvSpPr>
          <p:cNvPr id="3" name="S06-text36"/>
          <p:cNvSpPr txBox="1"/>
          <p:nvPr/>
        </p:nvSpPr>
        <p:spPr>
          <a:xfrm>
            <a:off x="548640" y="1325880"/>
            <a:ext cx="1109167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하준이는 아침에 선생님을 만났어요.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조금 부끄러워요.</a:t>
            </a:r>
            <a:endParaRPr lang="ko-KR" sz="3200" dirty="0"/>
          </a:p>
        </p:txBody>
      </p:sp>
      <p:sp>
        <p:nvSpPr>
          <p:cNvPr id="4" name="S06-card3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6-cardtext3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나라면 어떻게 할까요? 왜요?</a:t>
            </a:r>
            <a:endParaRPr lang="ko-KR" sz="3200" dirty="0"/>
          </a:p>
        </p:txBody>
      </p:sp>
      <p:sp>
        <p:nvSpPr>
          <p:cNvPr id="6" name="S06-chip39"/>
          <p:cNvSpPr txBox="1"/>
          <p:nvPr/>
        </p:nvSpPr>
        <p:spPr>
          <a:xfrm>
            <a:off x="1991868" y="2500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06-card40"/>
          <p:cNvSpPr/>
          <p:nvPr/>
        </p:nvSpPr>
        <p:spPr>
          <a:xfrm>
            <a:off x="548640" y="3204464"/>
            <a:ext cx="3453384" cy="1916176"/>
          </a:xfrm>
          <a:prstGeom prst="roundRect">
            <a:avLst>
              <a:gd name="adj" fmla="val 572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6-cardtext41"/>
          <p:cNvSpPr txBox="1"/>
          <p:nvPr/>
        </p:nvSpPr>
        <p:spPr>
          <a:xfrm>
            <a:off x="822960" y="3341624"/>
            <a:ext cx="2904744" cy="164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고개를 숙이고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지나가요.</a:t>
            </a:r>
            <a:endParaRPr lang="ko-KR" sz="3200" dirty="0"/>
          </a:p>
        </p:txBody>
      </p:sp>
      <p:sp>
        <p:nvSpPr>
          <p:cNvPr id="9" name="S06-chip42"/>
          <p:cNvSpPr txBox="1"/>
          <p:nvPr/>
        </p:nvSpPr>
        <p:spPr>
          <a:xfrm>
            <a:off x="5811012" y="2500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06-card43"/>
          <p:cNvSpPr/>
          <p:nvPr/>
        </p:nvSpPr>
        <p:spPr>
          <a:xfrm>
            <a:off x="4367784" y="3204464"/>
            <a:ext cx="3453384" cy="1916176"/>
          </a:xfrm>
          <a:prstGeom prst="roundRect">
            <a:avLst>
              <a:gd name="adj" fmla="val 572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6-cardtext44"/>
          <p:cNvSpPr txBox="1"/>
          <p:nvPr/>
        </p:nvSpPr>
        <p:spPr>
          <a:xfrm>
            <a:off x="4642104" y="3341624"/>
            <a:ext cx="2904744" cy="164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목소리로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“안녕하세요.”</a:t>
            </a:r>
            <a:endParaRPr lang="ko-KR" sz="3200" dirty="0"/>
          </a:p>
        </p:txBody>
      </p:sp>
      <p:sp>
        <p:nvSpPr>
          <p:cNvPr id="12" name="S06-chip45"/>
          <p:cNvSpPr txBox="1"/>
          <p:nvPr/>
        </p:nvSpPr>
        <p:spPr>
          <a:xfrm>
            <a:off x="9630156" y="2500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06-card46"/>
          <p:cNvSpPr/>
          <p:nvPr/>
        </p:nvSpPr>
        <p:spPr>
          <a:xfrm>
            <a:off x="8186928" y="3204464"/>
            <a:ext cx="3453384" cy="1916176"/>
          </a:xfrm>
          <a:prstGeom prst="roundRect">
            <a:avLst>
              <a:gd name="adj" fmla="val 572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6-cardtext47"/>
          <p:cNvSpPr txBox="1"/>
          <p:nvPr/>
        </p:nvSpPr>
        <p:spPr>
          <a:xfrm>
            <a:off x="8461248" y="3341624"/>
            <a:ext cx="2904744" cy="164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웃으며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손을 흔들어요.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동생이 말을 걸어요</a:t>
            </a:r>
            <a:endParaRPr lang="ko-KR" sz="4400" dirty="0"/>
          </a:p>
        </p:txBody>
      </p:sp>
      <p:sp>
        <p:nvSpPr>
          <p:cNvPr id="3" name="S07-text4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만화를 보는데 동생이 그림 이야기를 해요.</a:t>
            </a:r>
            <a:endParaRPr lang="ko-KR" sz="3200" dirty="0"/>
          </a:p>
        </p:txBody>
      </p:sp>
      <p:sp>
        <p:nvSpPr>
          <p:cNvPr id="4" name="S07-card4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7-cardtext5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나라면 어떻게 할까요? 왜요?</a:t>
            </a:r>
            <a:endParaRPr lang="ko-KR" sz="3200" dirty="0"/>
          </a:p>
        </p:txBody>
      </p:sp>
      <p:sp>
        <p:nvSpPr>
          <p:cNvPr id="6" name="S07-chip51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07-card52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7-cardtext53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만화를 보면서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대답만 해요.</a:t>
            </a:r>
            <a:endParaRPr lang="ko-KR" sz="3200" dirty="0"/>
          </a:p>
        </p:txBody>
      </p:sp>
      <p:sp>
        <p:nvSpPr>
          <p:cNvPr id="9" name="S07-chip54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07-card55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7-cardtext56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“이것만 보고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들을게.”</a:t>
            </a:r>
            <a:endParaRPr lang="ko-KR" sz="3200" dirty="0"/>
          </a:p>
        </p:txBody>
      </p:sp>
      <p:sp>
        <p:nvSpPr>
          <p:cNvPr id="12" name="S07-chip57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07-card58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7-cardtext59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만화를 멈추고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눈을 보며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미끄럼틀을 타고 싶어요</a:t>
            </a:r>
            <a:endParaRPr lang="ko-KR" sz="4400" dirty="0"/>
          </a:p>
        </p:txBody>
      </p:sp>
      <p:sp>
        <p:nvSpPr>
          <p:cNvPr id="3" name="S08-text6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줄이 길어요. 나는 빨리 타고 싶어요.</a:t>
            </a:r>
            <a:endParaRPr lang="ko-KR" sz="3200" dirty="0"/>
          </a:p>
        </p:txBody>
      </p:sp>
      <p:sp>
        <p:nvSpPr>
          <p:cNvPr id="4" name="S08-card6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8-cardtext6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나라면 어떻게 할까요? 왜요?</a:t>
            </a:r>
            <a:endParaRPr lang="ko-KR" sz="3200" dirty="0"/>
          </a:p>
        </p:txBody>
      </p:sp>
      <p:sp>
        <p:nvSpPr>
          <p:cNvPr id="6" name="S08-chip63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08-card64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8-cardtext65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앞에 있는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 사이로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들어가요.</a:t>
            </a:r>
            <a:endParaRPr lang="ko-KR" sz="3200" dirty="0"/>
          </a:p>
        </p:txBody>
      </p:sp>
      <p:sp>
        <p:nvSpPr>
          <p:cNvPr id="9" name="S08-chip66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08-card67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8-cardtext68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 맨 뒤에 서서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기다려요.</a:t>
            </a:r>
            <a:endParaRPr lang="ko-KR" sz="3200" dirty="0"/>
          </a:p>
        </p:txBody>
      </p:sp>
      <p:sp>
        <p:nvSpPr>
          <p:cNvPr id="12" name="S08-chip69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08-card70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8-cardtext71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 친구에게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타도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되는지 물어요.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실천 약속 세우기</a:t>
            </a:r>
            <a:endParaRPr lang="ko-KR" sz="4400" dirty="0"/>
          </a:p>
        </p:txBody>
      </p:sp>
      <p:sp>
        <p:nvSpPr>
          <p:cNvPr id="3" name="S09-text7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약속 하나를 정해요.</a:t>
            </a:r>
            <a:endParaRPr lang="ko-KR" sz="3200" dirty="0"/>
          </a:p>
        </p:txBody>
      </p:sp>
      <p:sp>
        <p:nvSpPr>
          <p:cNvPr id="4" name="S09-card7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9-cardtext7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언제, 누구에게 할지 정하면 지키기 쉬워요.</a:t>
            </a:r>
            <a:endParaRPr lang="ko-KR" sz="3200" dirty="0"/>
          </a:p>
        </p:txBody>
      </p:sp>
      <p:sp>
        <p:nvSpPr>
          <p:cNvPr id="6" name="S09-stepno75"/>
          <p:cNvSpPr txBox="1"/>
          <p:nvPr/>
        </p:nvSpPr>
        <p:spPr>
          <a:xfrm>
            <a:off x="548640" y="25786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09-text76"/>
          <p:cNvSpPr txBox="1"/>
          <p:nvPr/>
        </p:nvSpPr>
        <p:spPr>
          <a:xfrm>
            <a:off x="1325880" y="257860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인사·듣기·차례 중에서 하나를 골라요.</a:t>
            </a:r>
            <a:endParaRPr lang="ko-KR" sz="3200" dirty="0"/>
          </a:p>
        </p:txBody>
      </p:sp>
      <p:sp>
        <p:nvSpPr>
          <p:cNvPr id="8" name="S09-stepno77"/>
          <p:cNvSpPr txBox="1"/>
          <p:nvPr/>
        </p:nvSpPr>
        <p:spPr>
          <a:xfrm>
            <a:off x="548640" y="32918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09-text78"/>
          <p:cNvSpPr txBox="1"/>
          <p:nvPr/>
        </p:nvSpPr>
        <p:spPr>
          <a:xfrm>
            <a:off x="1325880" y="3291840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언제, 누구에게 할지 정해요.</a:t>
            </a:r>
            <a:endParaRPr lang="ko-KR" sz="3200" dirty="0"/>
          </a:p>
        </p:txBody>
      </p:sp>
      <p:sp>
        <p:nvSpPr>
          <p:cNvPr id="10" name="S09-stepno79"/>
          <p:cNvSpPr txBox="1"/>
          <p:nvPr/>
        </p:nvSpPr>
        <p:spPr>
          <a:xfrm>
            <a:off x="548640" y="40050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09-text80"/>
          <p:cNvSpPr txBox="1"/>
          <p:nvPr/>
        </p:nvSpPr>
        <p:spPr>
          <a:xfrm>
            <a:off x="1325880" y="400507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하고 나면 기록표에 ○ 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나의 실천 약속</a:t>
            </a:r>
            <a:endParaRPr lang="ko-KR" sz="4400" dirty="0"/>
          </a:p>
        </p:txBody>
      </p:sp>
      <p:sp>
        <p:nvSpPr>
          <p:cNvPr id="3" name="S10-text8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활동지에 나의 약속을 써요.</a:t>
            </a:r>
            <a:endParaRPr lang="ko-KR" sz="3200" dirty="0"/>
          </a:p>
        </p:txBody>
      </p:sp>
      <p:sp>
        <p:nvSpPr>
          <p:cNvPr id="4" name="S10-card82"/>
          <p:cNvSpPr/>
          <p:nvPr/>
        </p:nvSpPr>
        <p:spPr>
          <a:xfrm>
            <a:off x="6813652" y="2011680"/>
            <a:ext cx="4826660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0-cardtext83"/>
          <p:cNvSpPr txBox="1"/>
          <p:nvPr/>
        </p:nvSpPr>
        <p:spPr>
          <a:xfrm>
            <a:off x="7087972" y="2148840"/>
            <a:ext cx="42780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하나를 골랐어요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언제를 정했어요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누구에게를 정했어요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왜 하는지 말했어요</a:t>
            </a:r>
            <a:endParaRPr lang="ko-KR" sz="3200" dirty="0"/>
          </a:p>
        </p:txBody>
      </p:sp>
      <p:sp>
        <p:nvSpPr>
          <p:cNvPr id="6" name="S10-stepno84"/>
          <p:cNvSpPr txBox="1"/>
          <p:nvPr/>
        </p:nvSpPr>
        <p:spPr>
          <a:xfrm>
            <a:off x="548640" y="210616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10-text85"/>
          <p:cNvSpPr txBox="1"/>
          <p:nvPr/>
        </p:nvSpPr>
        <p:spPr>
          <a:xfrm>
            <a:off x="1325880" y="210616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하나를 골라요.</a:t>
            </a:r>
            <a:endParaRPr lang="ko-KR" sz="3200" dirty="0"/>
          </a:p>
        </p:txBody>
      </p:sp>
      <p:sp>
        <p:nvSpPr>
          <p:cNvPr id="8" name="S10-stepno86"/>
          <p:cNvSpPr txBox="1"/>
          <p:nvPr/>
        </p:nvSpPr>
        <p:spPr>
          <a:xfrm>
            <a:off x="548640" y="28651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10-text87"/>
          <p:cNvSpPr txBox="1"/>
          <p:nvPr/>
        </p:nvSpPr>
        <p:spPr>
          <a:xfrm>
            <a:off x="1325880" y="2819400"/>
            <a:ext cx="512201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언제, 누구에게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할지 정해요.</a:t>
            </a:r>
            <a:endParaRPr lang="ko-KR" sz="3200" dirty="0"/>
          </a:p>
        </p:txBody>
      </p:sp>
      <p:sp>
        <p:nvSpPr>
          <p:cNvPr id="10" name="S10-stepno88"/>
          <p:cNvSpPr txBox="1"/>
          <p:nvPr/>
        </p:nvSpPr>
        <p:spPr>
          <a:xfrm>
            <a:off x="548640" y="40213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10-text89"/>
          <p:cNvSpPr txBox="1"/>
          <p:nvPr/>
        </p:nvSpPr>
        <p:spPr>
          <a:xfrm>
            <a:off x="1325880" y="3975608"/>
            <a:ext cx="512201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활동지에 쓰거나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그려요.</a:t>
            </a:r>
            <a:endParaRPr lang="ko-KR" sz="3200" dirty="0"/>
          </a:p>
        </p:txBody>
      </p:sp>
      <p:sp>
        <p:nvSpPr>
          <p:cNvPr id="12" name="S10-stepno90"/>
          <p:cNvSpPr txBox="1"/>
          <p:nvPr/>
        </p:nvSpPr>
        <p:spPr>
          <a:xfrm>
            <a:off x="548640" y="517753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3" name="S10-text91"/>
          <p:cNvSpPr txBox="1"/>
          <p:nvPr/>
        </p:nvSpPr>
        <p:spPr>
          <a:xfrm>
            <a:off x="1325880" y="5131816"/>
            <a:ext cx="512201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오늘부터 해 보고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1-chip92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11-text93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나의 좋은 점 두 가지와,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친구도 소중한 까닭은?</a:t>
            </a:r>
            <a:endParaRPr lang="ko-KR" sz="3200" dirty="0"/>
          </a:p>
        </p:txBody>
      </p:sp>
      <p:sp>
        <p:nvSpPr>
          <p:cNvPr id="5" name="S11-chip94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6" name="S11-text95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이웃 할머니를 만났어요. 나라면? 왜요?</a:t>
            </a:r>
            <a:endParaRPr lang="ko-KR" sz="3200" dirty="0"/>
          </a:p>
        </p:txBody>
      </p:sp>
      <p:sp>
        <p:nvSpPr>
          <p:cNvPr id="7" name="S11-chip96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8" name="S11-text97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속상한 일을 말해요. 나라면? 왜요?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잘한 모습과 흔한 실수</a:t>
            </a:r>
            <a:endParaRPr lang="ko-KR" sz="4400" dirty="0"/>
          </a:p>
        </p:txBody>
      </p:sp>
      <p:sp>
        <p:nvSpPr>
          <p:cNvPr id="3" name="S12-card9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9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행동보다 까닭을 보고 칭찬해요.</a:t>
            </a:r>
            <a:endParaRPr lang="ko-KR" sz="3200" dirty="0"/>
          </a:p>
        </p:txBody>
      </p:sp>
      <p:sp>
        <p:nvSpPr>
          <p:cNvPr id="5" name="S12-chip100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600" dirty="0"/>
          </a:p>
        </p:txBody>
      </p:sp>
      <p:sp>
        <p:nvSpPr>
          <p:cNvPr id="6" name="S12-text101"/>
          <p:cNvSpPr txBox="1"/>
          <p:nvPr/>
        </p:nvSpPr>
        <p:spPr>
          <a:xfrm>
            <a:off x="548640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점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가지</a:t>
            </a:r>
            <a:endParaRPr lang="ko-KR" sz="3200" dirty="0"/>
          </a:p>
        </p:txBody>
      </p:sp>
      <p:sp>
        <p:nvSpPr>
          <p:cNvPr id="7" name="S12-text102"/>
          <p:cNvSpPr txBox="1"/>
          <p:nvPr/>
        </p:nvSpPr>
        <p:spPr>
          <a:xfrm>
            <a:off x="3367278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일도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점</a:t>
            </a:r>
            <a:endParaRPr lang="ko-KR" sz="2600" dirty="0"/>
          </a:p>
        </p:txBody>
      </p:sp>
      <p:sp>
        <p:nvSpPr>
          <p:cNvPr id="8" name="S12-text103"/>
          <p:cNvSpPr txBox="1"/>
          <p:nvPr/>
        </p:nvSpPr>
        <p:spPr>
          <a:xfrm>
            <a:off x="548640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까닭에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상대의 마음</a:t>
            </a:r>
            <a:endParaRPr lang="ko-KR" sz="3200" dirty="0"/>
          </a:p>
        </p:txBody>
      </p:sp>
      <p:sp>
        <p:nvSpPr>
          <p:cNvPr id="9" name="S12-text104"/>
          <p:cNvSpPr txBox="1"/>
          <p:nvPr/>
        </p:nvSpPr>
        <p:spPr>
          <a:xfrm>
            <a:off x="3367278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“반가워하실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테니까요.”</a:t>
            </a:r>
            <a:endParaRPr lang="ko-KR" sz="2600" dirty="0"/>
          </a:p>
        </p:txBody>
      </p:sp>
      <p:sp>
        <p:nvSpPr>
          <p:cNvPr id="10" name="S12-chip105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600" dirty="0"/>
          </a:p>
        </p:txBody>
      </p:sp>
      <p:sp>
        <p:nvSpPr>
          <p:cNvPr id="11" name="S12-text106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“좋은 점이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없어요.”</a:t>
            </a:r>
            <a:endParaRPr lang="ko-KR" sz="3200" dirty="0"/>
          </a:p>
        </p:txBody>
      </p:sp>
      <p:sp>
        <p:nvSpPr>
          <p:cNvPr id="12" name="S12-text107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부모가 먼저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찾아 주기</a:t>
            </a:r>
            <a:endParaRPr lang="ko-KR" sz="2600" dirty="0"/>
          </a:p>
        </p:txBody>
      </p:sp>
      <p:sp>
        <p:nvSpPr>
          <p:cNvPr id="13" name="S12-text108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“그냥요.”</a:t>
            </a:r>
            <a:endParaRPr lang="ko-KR" sz="3200" dirty="0"/>
          </a:p>
        </p:txBody>
      </p:sp>
      <p:sp>
        <p:nvSpPr>
          <p:cNvPr id="14" name="S12-text109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상대의 마음을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물어 주기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3-card110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111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나도 친구도 소중해요. 그래서 인사하고, 끝까지 듣고, 차례를 지켜요.</a:t>
            </a:r>
            <a:endParaRPr lang="ko-KR" sz="3200" dirty="0"/>
          </a:p>
        </p:txBody>
      </p:sp>
      <p:sp>
        <p:nvSpPr>
          <p:cNvPr id="5" name="S13-chip112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까닭을 말하며 고르기</a:t>
            </a:r>
            <a:endParaRPr lang="ko-KR" sz="2600" dirty="0"/>
          </a:p>
        </p:txBody>
      </p:sp>
      <p:sp>
        <p:nvSpPr>
          <p:cNvPr id="6" name="S13-chip113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나만 먼저 하기</a:t>
            </a:r>
            <a:endParaRPr lang="ko-KR" sz="2600" dirty="0"/>
          </a:p>
        </p:txBody>
      </p:sp>
      <p:sp>
        <p:nvSpPr>
          <p:cNvPr id="7" name="S13-text114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3-text115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나의 좋은 점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가지는?</a:t>
            </a:r>
            <a:endParaRPr lang="ko-KR" sz="2600" dirty="0"/>
          </a:p>
        </p:txBody>
      </p:sp>
      <p:sp>
        <p:nvSpPr>
          <p:cNvPr id="9" name="S13-text116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소중하게 대하는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 방법은?</a:t>
            </a:r>
            <a:endParaRPr lang="ko-KR" sz="2600" dirty="0"/>
          </a:p>
        </p:txBody>
      </p:sp>
      <p:sp>
        <p:nvSpPr>
          <p:cNvPr id="10" name="S13-text117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실천 기록표에서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잘한 날 이야기</a:t>
            </a:r>
            <a:endParaRPr lang="ko-KR" sz="2600" dirty="0"/>
          </a:p>
        </p:txBody>
      </p:sp>
      <p:sp>
        <p:nvSpPr>
          <p:cNvPr id="11" name="S13-text118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맡은 일과 배려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기분을 말해요</a:t>
            </a:r>
            <a:endParaRPr lang="ko-KR" sz="4400" dirty="0"/>
          </a:p>
        </p:txBody>
      </p:sp>
      <p:sp>
        <p:nvSpPr>
          <p:cNvPr id="3" name="S14-text11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이럴 때 이런 기분이 들어요.</a:t>
            </a:r>
            <a:endParaRPr lang="ko-KR" sz="3200" dirty="0"/>
          </a:p>
        </p:txBody>
      </p:sp>
      <p:sp>
        <p:nvSpPr>
          <p:cNvPr id="4" name="S14-card12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12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기분을 말하면 서로의 마음을 알 수 있어요.</a:t>
            </a:r>
            <a:endParaRPr lang="ko-KR" sz="3200" dirty="0"/>
          </a:p>
        </p:txBody>
      </p:sp>
      <p:sp>
        <p:nvSpPr>
          <p:cNvPr id="6" name="S14-word122"/>
          <p:cNvSpPr txBox="1"/>
          <p:nvPr/>
        </p:nvSpPr>
        <p:spPr>
          <a:xfrm>
            <a:off x="548640" y="2011680"/>
            <a:ext cx="5408676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기뻐요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반갑게 인사해요</a:t>
            </a:r>
            <a:endParaRPr lang="ko-KR" sz="3600" dirty="0"/>
          </a:p>
        </p:txBody>
      </p:sp>
      <p:sp>
        <p:nvSpPr>
          <p:cNvPr id="7" name="S14-word123"/>
          <p:cNvSpPr txBox="1"/>
          <p:nvPr/>
        </p:nvSpPr>
        <p:spPr>
          <a:xfrm>
            <a:off x="6231636" y="2011680"/>
            <a:ext cx="5408676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속상해요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말을 안 들어 줘요</a:t>
            </a:r>
            <a:endParaRPr lang="ko-KR" sz="3600" dirty="0"/>
          </a:p>
        </p:txBody>
      </p:sp>
      <p:sp>
        <p:nvSpPr>
          <p:cNvPr id="8" name="S14-word124"/>
          <p:cNvSpPr txBox="1"/>
          <p:nvPr/>
        </p:nvSpPr>
        <p:spPr>
          <a:xfrm>
            <a:off x="548640" y="3703320"/>
            <a:ext cx="5408676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화나요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줄에 끼어들어요</a:t>
            </a:r>
            <a:endParaRPr lang="ko-KR" sz="3600" dirty="0"/>
          </a:p>
        </p:txBody>
      </p:sp>
      <p:sp>
        <p:nvSpPr>
          <p:cNvPr id="9" name="S14-word125"/>
          <p:cNvSpPr txBox="1"/>
          <p:nvPr/>
        </p:nvSpPr>
        <p:spPr>
          <a:xfrm>
            <a:off x="6231636" y="3703320"/>
            <a:ext cx="5408676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고마워요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기다려 줬어요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도덕·윤리 나는 소중해요</dc:title>
  <dc:subject>KR22-G01-ETH-PRECIOUS-L01</dc:subject>
  <dc:creator>education-ppt</dc:creator>
  <cp:lastModifiedBy>education-ppt</cp:lastModifiedBy>
  <cp:revision>1</cp:revision>
  <dcterms:created xsi:type="dcterms:W3CDTF">2026-10-26T10:01:34Z</dcterms:created>
  <dcterms:modified xsi:type="dcterms:W3CDTF">2026-10-26T10:01:34Z</dcterms:modified>
</cp:coreProperties>
</file>