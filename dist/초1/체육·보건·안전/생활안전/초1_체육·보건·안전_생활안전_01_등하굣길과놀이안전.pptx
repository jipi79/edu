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2373d88b-e9c9-87f4-65c2-1e0736f09732}">
          <p14:sldIdLst>
            <p14:sldId id="256"/>
            <p14:sldId id="257"/>
          </p14:sldIdLst>
        </p14:section>
        <p14:section name="개념" id="{ee6113b8-8199-e4b4-2079-2d47dee28d82}">
          <p14:sldIdLst>
            <p14:sldId id="258"/>
            <p14:sldId id="261"/>
            <p14:sldId id="262"/>
            <p14:sldId id="264"/>
          </p14:sldIdLst>
        </p14:section>
        <p14:section name="연습" id="{3692b8a0-00c1-f79f-ca30-809e3ded81b9}">
          <p14:sldIdLst>
            <p14:sldId id="259"/>
            <p14:sldId id="260"/>
            <p14:sldId id="263"/>
            <p14:sldId id="265"/>
          </p14:sldIdLst>
        </p14:section>
        <p14:section name="개념" id="{08779103-4929-7586-a0fb-b72dfbd17616}">
          <p14:sldIdLst/>
        </p14:section>
        <p14:section name="연습" id="{e70fd1bb-39fc-31f8-50a7-2f41810a9b58}">
          <p14:sldIdLst/>
        </p14:section>
        <p14:section name="개념" id="{3d15b51d-6208-859c-b90d-39499ce7844e}">
          <p14:sldIdLst/>
        </p14:section>
        <p14:section name="연습" id="{5c38e2cc-669e-9f82-8d15-2a8599a408f6}">
          <p14:sldIdLst/>
        </p14:section>
        <p14:section name="확인" id="{c3d61444-737b-4627-57e0-be059ad2a852}">
          <p14:sldIdLst>
            <p14:sldId id="266"/>
            <p14:sldId id="267"/>
          </p14:sldIdLst>
        </p14:section>
        <p14:section name="정리" id="{292e94f5-0467-6b8d-ac03-d33003a593e0}">
          <p14:sldIdLst>
            <p14:sldId id="268"/>
          </p14:sldIdLst>
        </p14:section>
        <p14:section name="보충" id="{5ceef1f3-0b35-a7bc-5158-8723c083f802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것(길 건너기, 놀이터와 길에서 위험 찾기, 도움 청하기)을 알립니다.
시간: 약 2분
이렇게 말해 보세요
- “학교 갈 때 지나는 길을 떠올려 볼까? 어디에서 조심해야 할까?”
- “오늘은 길을 안전하게 건너는 법, 놀이터에서 조심할 것, 위험할 때 도움을 청하는 법을 배울 거야.”
예상 답
- “찻길이요.” / “횡단보도요.” / “몰라요.”
주의
- S04에서 쓸 흰 종이 띠 대여섯 장(A4를 길게 자른 것)과 빨간 종이·초록 종이를 준비합니다. 장난감 자동차가 있으면 좋습니다.
- 겁을 주기보다 ‘이렇게 하면 안전하다’는 행동을 알려 주는 말투로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확인(신호등 뜻)]
목적: 횡단보도 신호등의 빨간불·초록불 뜻을 알고 있는지 확인합니다. 이 차시는 계획상 앞 차시가 없으므로 유치원에서 배운 교통안전을 확인합니다.
시간: 약 2분
이렇게 말해 보세요
- “횡단보도 신호등에서 건너도 되는 불은 가야, 나야?”
- “그럼 빨간불은 무슨 뜻일까?”
정답
- 나(초록불). 빨간불은 멈춰서 기다리라는 뜻입니다.
막히면
- 두 불의 뜻을 헷갈리면 S14(보충)를 먼저 합니다.
주의
- 보행자 신호등은 빨간불에 서 있는 사람, 초록불에 걷는 사람 모양이 있습니다. 밖에 나갈 때 실제 신호등에서 함께 확인해 보세요.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횡단보도 건너는 순서]
목적: 횡단보도를 건너는 네 단계(멈추기, 신호 보기, 좌우 살피기, 손 들고 건너기)를 알려 줍니다(M1).
시간: 약 3분
이렇게 말해 보세요
- “횡단보도 앞에서는 먼저 멈춰. 찻길에서 한 걸음 떨어져 서.”
- “초록불이 켜져도 바로 뛰어가지 않아. 왼쪽, 오른쪽을 보고 차가 멈췄는지 확인해.”
- “건널 때는 손을 들고, 운전하는 사람과 눈을 맞추면 더 좋아. 건너는 동안에도 차를 살펴.”
- “초록불이 깜박이면 곧 빨간불이 된다는 뜻이야. 그때는 건너기 시작하지 말고 기다려.”
예상 답
- “초록불이면 그냥 건너요.” — 차가 멈췄는지 먼저 본다고 다시 알려 줍니다.
막히면
- 네 단계를 한꺼번에 기억하기 어려우면 ‘멈추고, 보고, 살피고, 건너요’처럼 말로 리듬을 붙여 외웁니다.
주의
- 도로교통공단은 어린이 보행 안전 습관으로 ‘서다, 보다, 걷다’를 안내합니다. 이 장의 네 단계는 그것을 초1에 맞게 나눈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거실 횡단보도 놀이]
목적: 거실 바닥에 종이 띠로 횡단보도를 만들고, 부모가 신호등과 자동차 역할을 하며 건너는 순서를 연습합니다(목표 A).
시간: 약 7분
이렇게 말해 보세요
- “흰 종이 띠를 나란히 놓으면 횡단보도야. 엄마(아빠)가 신호등이 될게. 빨간 종이를 들면 빨간불, 초록 종이를 들면 초록불이야.”
- (초록 종이를 들고 장난감 차를 굴리며) “초록불이네. 그런데 차가 오고 있어! 어떻게 할까?”
- (초록 종이를 흔들며) “지금은 깜박이는 초록불이야. 어떻게 할까?”
- “역할을 바꿔서 네가 신호등을 해 볼래?”
예상 답
- 처음에는 초록불만 보고 바로 건너거나, 깜박일 때 뛰어 건너려고 합니다(M1).
정답
- 세 번 이상 해 보아 관찰 기준 세 가지를 모두 지키면 연습 완료입니다. 초록불이어도 차가 오면 멈춰 기다려야 맞습니다.
막히면
- 차를 살피지 않으면 부모가 장난감 차를 횡단보도 앞에 멈추게 하고 “차가 멈췄어? 이제 건너도 될까?”라고 묻습니다.
주의
- 거실 놀이는 연습일 뿐입니다. 다음 외출 때 실제 횡단보도에서 아이가 단계를 말하며 건너게 하고, 부모가 손을 잡고 함께 건넙니다.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깜박이는 초록불(오개념 비교)]
목적: 깜박이는 초록불에 뛰어 건너는 행동(M1)을 비교로 바로잡습니다.
시간: 약 2분
이렇게 말해 보세요
- “가처럼 뛰어서 건너면 어떤 일이 생길 수 있을까?”
- “나처럼 기다리면 얼마나 기다려야 할까? 조금만 기다리면 다시 초록불이 켜져.”
정답
- 나. 깜박이는 초록불은 곧 빨간불이 된다는 뜻이라, 건너는 중에 빨간불이 되어 차가 출발할 수 있습니다. 뛰다가 넘어질 수도 있습니다.
막히면
- “건너는 중간에 빨간불이 되면 차는 어떻게 할까?”라고 물어 줍니다.
주의
- 아이가 지치면 여기서 쉬고, 다음 날 S06부터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놀이터와 길의 안전 약속]
목적: 놀이터 기구와 길에서 다치기 쉬운 상황과 지킬 약속을 알려 줍니다.
시간: 약 3분
이렇게 말해 보세요
- “미끄럼틀은 어떻게 타야 안전할까? 거꾸로 올라가면 어떻게 될까?”
- “그네 바로 앞이나 뒤로 지나가면? 그네에 부딪힐 수 있어. 멀리 돌아서 가.”
- “주차장이나 찻길에서는 왜 놀면 안 될까? 운전하는 사람은 키 작은 어린이가 잘 안 보여.”
예상 답
- “거꾸로 올라가면 내려오는 친구랑 부딪혀요.” / “차가 못 봐요.”
막히면
- 가까운 놀이터에 갔던 일을 떠올리며 “거기서 무서웠던 적 있어?”라고 물어 줍니다.
주의
- 다음에 놀이터에 갈 때 이 약속 네 가지를 실제로 확인해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모르는 사람이 부를 때]
목적: 모르는 사람이 따라오라고 할 때 따라가지 않고, 떨어져서, 어른에게 알리는 방법을 알려 줍니다(M2).
시간: 약 3분
이렇게 말해 보세요
- “모르는 사람이 ‘강아지 보여 줄게’, ‘길을 알려 줄래?’ 하고 따라오라고 하면 어떻게 할까?”
- “어른은 길을 모르면 어린이 말고 다른 어른에게 물어봐. 그러니 따라가지 않아도 돼.”
- “‘엄마가 너 데려오래’라고 해도, 엄마(아빠)가 미리 말해 준 사람이 아니면 따라가지 않고 먼저 확인해.”
예상 답
- “싫어요 해요.” / “나쁜 사람은 무섭게 생겼어요.” — 생김새로는 알 수 없다고 알려 줍니다(M2).
막히면
- 부모가 모르는 사람 역할을 하며 “사탕 줄게, 같이 갈래?”라고 말하고, 아이가 ‘싫어요!’ 하고 엄마 쪽으로 걸어오게 연습합니다.
주의
- 모든 낯선 사람이 나쁜 것은 아닙니다. 핵심은 ‘누구라도 보호자에게 확인하지 않고 따라가지 않는다’입니다.
- 누가 데리러 갈 수 있는지 가족끼리 미리 정해 아이에게 알려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위험한 상황 찾기]
목적: 등하굣길과 놀이터의 위험한 상황에서 왜 위험한지와 안전한 행동을 말하는 연습을 합니다(목표 B).
시간: 약 4분
이렇게 말해 보세요
- “①에서 공을 주우러 바로 뛰어가면 어떻게 될까? 그럼 어떻게 해야 할까?”
- “②, ③도 왜 위험한지 말하고, 어떻게 할지 말해 볼래?”
예상 답
- ① 차에 부딪힐 수 있어요 → 멈추고, 어른에게 주워 달라고 해요.
- ② 그네에 부딪혀요 → 그네에서 멀리 돌아서 가요.
- ③ 데려가서 해칠 수 있어요 → ‘싫어요!’ 하고 따라가지 않고 엄마(아빠)에게 알려요.
- 위험한 점과 안전한 행동을 모두 말하면 맞습니다.
막히면
- 위험한 점만 말하면 “그럼 어떻게 하면 안전할까?”라고 이어서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도움을 청할 사람과 번호]
목적: 위험하거나 길을 잃었을 때 믿을 수 있는 어른에게 먼저 도움을 청하고, 급할 때는 112와 119를 구별해 쓰는 것을 알려 줍니다(M3).
시간: 약 3분
이렇게 말해 보세요
- “도움이 필요하면 먼저 가까운 믿을 수 있는 어른에게 말해. 엄마, 아빠, 선생님, 경찰관.”
- “주위에 어른이 없고 급하면 전화를 해. 위험한 사람이 있거나 길을 잃으면 112 경찰, 불이 나거나 크게 다치면 119야.”
- “길을 잃으면 여기저기 돌아다니지 말고 그 자리에 서 있어. 엄마가 찾으러 올 거야. 오래 걸리면 가게에서 일하는 사람에게 도와 달라고 해.”
예상 답
- “불나면 119요.” / “경찰은 112요.”
막히면
- 번호를 헷갈리면 ‘불은 119, 경찰은 112’ 두 가지만 먼저 익힙니다.
주의
- 장난 전화는 하지 않는다고 함께 약속합니다.
- ‘아동안전지킴이집’ 표지가 붙은 가게(편의점, 약국 등)는 어린이가 위험할 때 도움을 청할 수 있는 곳입니다. 동네에서 함께 찾아보세요(활동지 2).
- 아이가 보호자 이름과 전화번호를 말할 수 있도록 집에서 연습합니다.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도와주세요 말하기]
목적: 상황마다 누구에게 어떻게 도움을 청할지 직접 말해 보는 연습을 합니다(목표 C).
시간: 약 4분
이렇게 말해 보세요
- “①이면 어떻게 할까? 엄마(아빠)가 가게 직원이라고 생각하고 말해 봐.”
- “②에서 친구가 많이 아파하면 누구에게 알릴까?”
- “③처럼 연기가 나면 어떻게 할까?”
예상 답
- ① 그 자리에 서서 기다려요. 오래 걸리면 가게 직원, 경찰관, 아이와 함께 온 어른에게 “도와주세요. 엄마를 잃어버렸어요. 저는 ○○○이에요.” 하고 보호자 전화번호를 말해요.
- ② 가까운 어른에게 바로 알려요. 크게 다쳤으면 어른이 119에 신고해요.
- ③ “불이야!” 하고 크게 외치고, 몸을 낮춰 밖으로 나가요. 엘리베이터 말고 계단으로 나가고, 밖에서 어른에게 알리거나 119에 전화해요.
정답
- 누구에게(믿을 수 있는 어른·가게 직원·경찰관) 무엇을(도와주세요 + 내 이름) 말하면 맞습니다. 다친 친구를 아이가 직접 치료하지 않고 어른에게 알리면 맞습니다.
막히면
- 말이 막히면 힌트 문장을 부모가 먼저 말하고 따라 하게 합니다.
주의
- 아이에게 처치를 맡기지 않습니다. ‘어른에게 알린다’가 아이의 할 일입니다.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해 보기]
목적: 도움 없이 길 건너기(목표 A), 위험 상황 대처(목표 B), 도움 청하기(목표 C)를 확인합니다.
시간: 약 4분
이렇게 말해 보세요
- “이번에는 엄마(아빠)가 도와주지 않을게. ①부터 해 볼래?”
- “④를 말한 다음, 길을 잃었을 때는 몇 번인지도 말해 줄래?”
정답
- ① 멈추기 → 초록불 보기 → 좌우 살피기 → 손 들고 건너기 순서대로(거실 횡단보도에서) → 목표 A 확인
- ② 그네 앞뒤로 지나가지 않아요, 멈춘 뒤에 타고 내려요 등 한 가지 이상 / ③ 따라가지 않고 ‘싫어요!’ 하고 떨어져서 어른에게 알려요 → 목표 B 확인
- ④ 119 (길을 잃었을 때·위험한 사람은 112) → 목표 C 확인
막히면
- 틀린 것만 해당 장(S03, S06·S07, S09)으로 돌아가 다시 보고 해 봅니다. 기록표에 ‘도움’으로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잘한 모습과 흔한 실수]
목적: S11에서 아이가 한 모습을 잘한 예, 흔한 실수와 비교하며 돌아봅니다.
시간: 약 2분
이렇게 말해 보세요
- “오늘 너는 어느 쪽처럼 했어? 오른쪽처럼 하면 왜 위험할까?”
예상 답
- “뛰다가 빨간불이 될 수 있어요.” / “나쁜 사람일 수 있어요.” / “더 멀리 가서 못 찾아요.”
주의
- 이 장은 학생용 파일에서 빠집니다. 잘한 점을 먼저 말해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정리와 다음 학습]
목적: 오늘 배운 안전 약속을 정리하고 다음 수업 첫 5분 복습을 알려 줍니다.
시간: 약 2분
이렇게 말해 보세요
- “오늘 배운 안전 약속 중에 꼭 지키고 싶은 것 하나를 말해 볼래?”
예상 답
- “깜박이면 기다릴래요.” / “모르는 사람 따라가지 않아요.”
정답
- ① 멈추기 → 신호 보기 → 좌우 살피기 → 손 들고 건너기 ② 미끄럼틀은 앉아서, 그네 앞뒤로 지나가지 않기, 정글짐은 두 손으로, 찻길·주차장에서 놀지 않기 중 두 가지 ③ 112: 위험한 사람·길을 잃었을 때, 119: 불·크게 다쳤을 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보충(신호등 약속)]
목적: S02에서 신호등의 뜻을 헷갈리면 세 가지 신호와 할 일을 먼저 익힙니다.
시간: 약 4분
이렇게 말해 보세요
- “빨간불에는? 멈춰. 초록불에는? 살피고 건너. 깜박이는 초록불에는? 기다려.”
- “엄마(아빠)가 색 종이를 들면 할 일을 몸으로 보여 줘.” (빨간 종이: 멈춰 서기, 초록 종이: 좌우 보기, 초록 종이 흔들기: 기다리기)
정답
- 색 종이에 맞는 동작을 세 번 모두 하면 맞습니다.
막히면
- 이 차시는 계획상 앞 차시가 없습니다. 신호 뜻이 계속 헷갈리면 외출할 때마다 실제 신호등 앞에서 “지금은 무슨 불이야? 무엇을 해야 해?”를 묻고, 며칠 뒤 S03부터 다시 합니다.
주의
- 신호등을 색으로만 구별하기 어려운 아이도 있습니다. 보행자 신호등의 서 있는 사람(빨간불)과 걷는 사람(초록불) 모양도 함께 알려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체육·보건·안전 · 생활안전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체육·보건·안전 · 등하굣길과 놀이 안전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체육·보건·안전 · 등하굣길과 놀이 안전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체육·보건·안전 · 등하굣길과 놀이 안전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등하굣길과 놀이 안전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 가는 길,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조심할까?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횡단보도를 안전하게 건너요.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위험할 때 어른에게 도움을 청해요.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건너도 되는 불은?</a:t>
            </a:r>
            <a:endParaRPr lang="ko-KR" sz="44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횡단보도 신호등이에요.</a:t>
            </a:r>
            <a:endParaRPr lang="ko-KR" sz="3200" dirty="0"/>
          </a:p>
        </p:txBody>
      </p:sp>
      <p:sp>
        <p:nvSpPr>
          <p:cNvPr id="4" name="S02-card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2-cardtext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불은 무슨 뜻일까요?</a:t>
            </a:r>
            <a:endParaRPr lang="ko-KR" sz="3200" dirty="0"/>
          </a:p>
        </p:txBody>
      </p:sp>
      <p:sp>
        <p:nvSpPr>
          <p:cNvPr id="6" name="S02-chip6"/>
          <p:cNvSpPr txBox="1"/>
          <p:nvPr/>
        </p:nvSpPr>
        <p:spPr>
          <a:xfrm>
            <a:off x="2946654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7" name="S02-figure7" descr="빨간 신호등 불"/>
          <p:cNvSpPr/>
          <p:nvPr/>
        </p:nvSpPr>
        <p:spPr>
          <a:xfrm>
            <a:off x="2462923" y="2891548"/>
            <a:ext cx="1534391" cy="1534391"/>
          </a:xfrm>
          <a:prstGeom prst="ellipse">
            <a:avLst/>
          </a:prstGeom>
          <a:solidFill>
            <a:srgbClr val="C8434E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8" name="S02-label8"/>
          <p:cNvSpPr txBox="1"/>
          <p:nvPr/>
        </p:nvSpPr>
        <p:spPr>
          <a:xfrm>
            <a:off x="548640" y="4674870"/>
            <a:ext cx="536295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빨간불</a:t>
            </a:r>
            <a:endParaRPr lang="ko-KR" sz="2600" dirty="0"/>
          </a:p>
        </p:txBody>
      </p:sp>
      <p:sp>
        <p:nvSpPr>
          <p:cNvPr id="9" name="S02-chip9"/>
          <p:cNvSpPr txBox="1"/>
          <p:nvPr/>
        </p:nvSpPr>
        <p:spPr>
          <a:xfrm>
            <a:off x="8675370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0" name="S02-figure10" descr="초록 신호등 불"/>
          <p:cNvSpPr/>
          <p:nvPr/>
        </p:nvSpPr>
        <p:spPr>
          <a:xfrm>
            <a:off x="8191639" y="2891548"/>
            <a:ext cx="1534391" cy="1534391"/>
          </a:xfrm>
          <a:prstGeom prst="ellipse">
            <a:avLst/>
          </a:prstGeom>
          <a:solidFill>
            <a:srgbClr val="2A9D8F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11" name="S02-label11"/>
          <p:cNvSpPr txBox="1"/>
          <p:nvPr/>
        </p:nvSpPr>
        <p:spPr>
          <a:xfrm>
            <a:off x="6277356" y="4674870"/>
            <a:ext cx="536295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초록불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횡단보도 건너기</a:t>
            </a:r>
            <a:endParaRPr lang="ko-KR" sz="4400" dirty="0"/>
          </a:p>
        </p:txBody>
      </p:sp>
      <p:sp>
        <p:nvSpPr>
          <p:cNvPr id="3" name="S03-card1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초록불이 깜박이면 다음 신호를 기다려요.</a:t>
            </a:r>
            <a:endParaRPr lang="ko-KR" sz="3200" dirty="0"/>
          </a:p>
        </p:txBody>
      </p:sp>
      <p:sp>
        <p:nvSpPr>
          <p:cNvPr id="5" name="S03-stepno14"/>
          <p:cNvSpPr txBox="1"/>
          <p:nvPr/>
        </p:nvSpPr>
        <p:spPr>
          <a:xfrm>
            <a:off x="548640" y="18790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3-text15"/>
          <p:cNvSpPr txBox="1"/>
          <p:nvPr/>
        </p:nvSpPr>
        <p:spPr>
          <a:xfrm>
            <a:off x="1325880" y="187909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멈춰요. 한 걸음 뒤에 서요.</a:t>
            </a:r>
            <a:endParaRPr lang="ko-KR" sz="3200" dirty="0"/>
          </a:p>
        </p:txBody>
      </p:sp>
      <p:sp>
        <p:nvSpPr>
          <p:cNvPr id="7" name="S03-stepno16"/>
          <p:cNvSpPr txBox="1"/>
          <p:nvPr/>
        </p:nvSpPr>
        <p:spPr>
          <a:xfrm>
            <a:off x="548640" y="25923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3-text17"/>
          <p:cNvSpPr txBox="1"/>
          <p:nvPr/>
        </p:nvSpPr>
        <p:spPr>
          <a:xfrm>
            <a:off x="1325880" y="259232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초록불인지 봐요.</a:t>
            </a:r>
            <a:endParaRPr lang="ko-KR" sz="3200" dirty="0"/>
          </a:p>
        </p:txBody>
      </p:sp>
      <p:sp>
        <p:nvSpPr>
          <p:cNvPr id="9" name="S03-stepno18"/>
          <p:cNvSpPr txBox="1"/>
          <p:nvPr/>
        </p:nvSpPr>
        <p:spPr>
          <a:xfrm>
            <a:off x="548640" y="3305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3-text19"/>
          <p:cNvSpPr txBox="1"/>
          <p:nvPr/>
        </p:nvSpPr>
        <p:spPr>
          <a:xfrm>
            <a:off x="1325880" y="330555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왼쪽, 오른쪽 차를 살펴요.</a:t>
            </a:r>
            <a:endParaRPr lang="ko-KR" sz="3200" dirty="0"/>
          </a:p>
        </p:txBody>
      </p:sp>
      <p:sp>
        <p:nvSpPr>
          <p:cNvPr id="11" name="S03-stepno20"/>
          <p:cNvSpPr txBox="1"/>
          <p:nvPr/>
        </p:nvSpPr>
        <p:spPr>
          <a:xfrm>
            <a:off x="548640" y="4018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2" name="S03-text21"/>
          <p:cNvSpPr txBox="1"/>
          <p:nvPr/>
        </p:nvSpPr>
        <p:spPr>
          <a:xfrm>
            <a:off x="1325880" y="401878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차가 멈추면 손 들고 건너요.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거실 횡단보도 놀이</a:t>
            </a:r>
            <a:endParaRPr lang="ko-KR" sz="4400" dirty="0"/>
          </a:p>
        </p:txBody>
      </p:sp>
      <p:sp>
        <p:nvSpPr>
          <p:cNvPr id="3" name="S04-text2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 띠로 횡단보도를 만들어요.</a:t>
            </a:r>
            <a:endParaRPr lang="ko-KR" sz="3200" dirty="0"/>
          </a:p>
        </p:txBody>
      </p:sp>
      <p:sp>
        <p:nvSpPr>
          <p:cNvPr id="4" name="S04-card2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2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진짜 길에서는 어른과 함께 연습해요.</a:t>
            </a:r>
            <a:endParaRPr lang="ko-KR" sz="3200" dirty="0"/>
          </a:p>
        </p:txBody>
      </p:sp>
      <p:sp>
        <p:nvSpPr>
          <p:cNvPr id="6" name="S04-card25"/>
          <p:cNvSpPr/>
          <p:nvPr/>
        </p:nvSpPr>
        <p:spPr>
          <a:xfrm>
            <a:off x="6813652" y="2011680"/>
            <a:ext cx="4826660" cy="3108960"/>
          </a:xfrm>
          <a:prstGeom prst="roundRect">
            <a:avLst>
              <a:gd name="adj" fmla="val 35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4-cardtext26"/>
          <p:cNvSpPr txBox="1"/>
          <p:nvPr/>
        </p:nvSpPr>
        <p:spPr>
          <a:xfrm>
            <a:off x="7087972" y="2148840"/>
            <a:ext cx="42780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한 걸음 뒤에 멈췄어요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신호와 좌우를 봤어요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깜박일 때 기다렸어요</a:t>
            </a:r>
            <a:endParaRPr lang="ko-KR" sz="3200" dirty="0"/>
          </a:p>
        </p:txBody>
      </p:sp>
      <p:sp>
        <p:nvSpPr>
          <p:cNvPr id="8" name="S04-stepno27"/>
          <p:cNvSpPr txBox="1"/>
          <p:nvPr/>
        </p:nvSpPr>
        <p:spPr>
          <a:xfrm>
            <a:off x="548640" y="22219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9" name="S04-text28"/>
          <p:cNvSpPr txBox="1"/>
          <p:nvPr/>
        </p:nvSpPr>
        <p:spPr>
          <a:xfrm>
            <a:off x="1325880" y="222199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엄마(아빠)는 신호등이 돼요.</a:t>
            </a:r>
            <a:endParaRPr lang="ko-KR" sz="2600" dirty="0"/>
          </a:p>
        </p:txBody>
      </p:sp>
      <p:sp>
        <p:nvSpPr>
          <p:cNvPr id="10" name="S04-stepno29"/>
          <p:cNvSpPr txBox="1"/>
          <p:nvPr/>
        </p:nvSpPr>
        <p:spPr>
          <a:xfrm>
            <a:off x="548640" y="29352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1" name="S04-text30"/>
          <p:cNvSpPr txBox="1"/>
          <p:nvPr/>
        </p:nvSpPr>
        <p:spPr>
          <a:xfrm>
            <a:off x="1325880" y="293522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멈추고, 신호를 봐요.</a:t>
            </a:r>
            <a:endParaRPr lang="ko-KR" sz="2600" dirty="0"/>
          </a:p>
        </p:txBody>
      </p:sp>
      <p:sp>
        <p:nvSpPr>
          <p:cNvPr id="12" name="S04-stepno31"/>
          <p:cNvSpPr txBox="1"/>
          <p:nvPr/>
        </p:nvSpPr>
        <p:spPr>
          <a:xfrm>
            <a:off x="548640" y="36484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3" name="S04-text32"/>
          <p:cNvSpPr txBox="1"/>
          <p:nvPr/>
        </p:nvSpPr>
        <p:spPr>
          <a:xfrm>
            <a:off x="1325880" y="364845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좌우를 살피고 손 들고 건너요.</a:t>
            </a:r>
            <a:endParaRPr lang="ko-KR" sz="2600" dirty="0"/>
          </a:p>
        </p:txBody>
      </p:sp>
      <p:sp>
        <p:nvSpPr>
          <p:cNvPr id="14" name="S04-stepno33"/>
          <p:cNvSpPr txBox="1"/>
          <p:nvPr/>
        </p:nvSpPr>
        <p:spPr>
          <a:xfrm>
            <a:off x="548640" y="43616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5" name="S04-text34"/>
          <p:cNvSpPr txBox="1"/>
          <p:nvPr/>
        </p:nvSpPr>
        <p:spPr>
          <a:xfrm>
            <a:off x="1325880" y="436168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깜박이면 기다려요.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초록불이 깜박여요</a:t>
            </a:r>
            <a:endParaRPr lang="ko-KR" sz="4400" dirty="0"/>
          </a:p>
        </p:txBody>
      </p:sp>
      <p:sp>
        <p:nvSpPr>
          <p:cNvPr id="3" name="S05-card3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5-cardtext3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횡단보도에 막 도착했어요.</a:t>
            </a:r>
            <a:endParaRPr lang="ko-KR" sz="3200" dirty="0"/>
          </a:p>
        </p:txBody>
      </p:sp>
      <p:sp>
        <p:nvSpPr>
          <p:cNvPr id="5" name="S05-card3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5-cardtext3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안전할까요? 왜 그럴까요?</a:t>
            </a:r>
            <a:endParaRPr lang="ko-KR" sz="3200" dirty="0"/>
          </a:p>
        </p:txBody>
      </p:sp>
      <p:sp>
        <p:nvSpPr>
          <p:cNvPr id="7" name="S05-chip39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5-text40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서둘러 뛰어서 건너요.</a:t>
            </a:r>
            <a:endParaRPr lang="ko-KR" sz="3200" dirty="0"/>
          </a:p>
        </p:txBody>
      </p:sp>
      <p:sp>
        <p:nvSpPr>
          <p:cNvPr id="9" name="S05-chip41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5-text42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초록불을 기다려요.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놀이터 안전 약속</a:t>
            </a:r>
            <a:endParaRPr lang="ko-KR" sz="4400" dirty="0"/>
          </a:p>
        </p:txBody>
      </p:sp>
      <p:sp>
        <p:nvSpPr>
          <p:cNvPr id="3" name="S06-text4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다치지 않게 이렇게 놀아요.</a:t>
            </a:r>
            <a:endParaRPr lang="ko-KR" sz="3200" dirty="0"/>
          </a:p>
        </p:txBody>
      </p:sp>
      <p:sp>
        <p:nvSpPr>
          <p:cNvPr id="4" name="S06-card44"/>
          <p:cNvSpPr/>
          <p:nvPr/>
        </p:nvSpPr>
        <p:spPr>
          <a:xfrm>
            <a:off x="548640" y="2011680"/>
            <a:ext cx="5431536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6-cardtext45"/>
          <p:cNvSpPr txBox="1"/>
          <p:nvPr/>
        </p:nvSpPr>
        <p:spPr>
          <a:xfrm>
            <a:off x="822960" y="2148840"/>
            <a:ext cx="48828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미끄럼틀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앉아서 내려와요</a:t>
            </a:r>
            <a:endParaRPr lang="ko-KR" sz="3200" dirty="0"/>
          </a:p>
        </p:txBody>
      </p:sp>
      <p:sp>
        <p:nvSpPr>
          <p:cNvPr id="6" name="S06-card46"/>
          <p:cNvSpPr/>
          <p:nvPr/>
        </p:nvSpPr>
        <p:spPr>
          <a:xfrm>
            <a:off x="6208776" y="2011680"/>
            <a:ext cx="5431536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6-cardtext47"/>
          <p:cNvSpPr txBox="1"/>
          <p:nvPr/>
        </p:nvSpPr>
        <p:spPr>
          <a:xfrm>
            <a:off x="6483096" y="2148840"/>
            <a:ext cx="48828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그네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앞뒤로 지나가지 않아요</a:t>
            </a:r>
            <a:endParaRPr lang="ko-KR" sz="3200" dirty="0"/>
          </a:p>
        </p:txBody>
      </p:sp>
      <p:sp>
        <p:nvSpPr>
          <p:cNvPr id="8" name="S06-card48"/>
          <p:cNvSpPr/>
          <p:nvPr/>
        </p:nvSpPr>
        <p:spPr>
          <a:xfrm>
            <a:off x="548640" y="4229100"/>
            <a:ext cx="5431536" cy="1988820"/>
          </a:xfrm>
          <a:prstGeom prst="roundRect">
            <a:avLst>
              <a:gd name="adj" fmla="val 55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6-cardtext49"/>
          <p:cNvSpPr txBox="1"/>
          <p:nvPr/>
        </p:nvSpPr>
        <p:spPr>
          <a:xfrm>
            <a:off x="822960" y="4366260"/>
            <a:ext cx="48828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정글짐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손으로 꼭 잡아요</a:t>
            </a:r>
            <a:endParaRPr lang="ko-KR" sz="3200" dirty="0"/>
          </a:p>
        </p:txBody>
      </p:sp>
      <p:sp>
        <p:nvSpPr>
          <p:cNvPr id="10" name="S06-card50"/>
          <p:cNvSpPr/>
          <p:nvPr/>
        </p:nvSpPr>
        <p:spPr>
          <a:xfrm>
            <a:off x="6208776" y="4229100"/>
            <a:ext cx="5431536" cy="1988820"/>
          </a:xfrm>
          <a:prstGeom prst="roundRect">
            <a:avLst>
              <a:gd name="adj" fmla="val 5517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1" name="S06-cardtext51"/>
          <p:cNvSpPr txBox="1"/>
          <p:nvPr/>
        </p:nvSpPr>
        <p:spPr>
          <a:xfrm>
            <a:off x="6483096" y="4366260"/>
            <a:ext cx="488289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찻길·주차장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여기서는 놀지 않아요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모르는 사람이 부르면</a:t>
            </a:r>
            <a:endParaRPr lang="ko-KR" sz="4400" dirty="0"/>
          </a:p>
        </p:txBody>
      </p:sp>
      <p:sp>
        <p:nvSpPr>
          <p:cNvPr id="3" name="S07-card5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5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‘엄마가 데려오래.’ 해도 먼저 확인해요.</a:t>
            </a:r>
            <a:endParaRPr lang="ko-KR" sz="3200" dirty="0"/>
          </a:p>
        </p:txBody>
      </p:sp>
      <p:sp>
        <p:nvSpPr>
          <p:cNvPr id="5" name="S07-stepno54"/>
          <p:cNvSpPr txBox="1"/>
          <p:nvPr/>
        </p:nvSpPr>
        <p:spPr>
          <a:xfrm>
            <a:off x="548640" y="22357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7-text55"/>
          <p:cNvSpPr txBox="1"/>
          <p:nvPr/>
        </p:nvSpPr>
        <p:spPr>
          <a:xfrm>
            <a:off x="1325880" y="223570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선물이나 부탁에도 따라가지 않아요.</a:t>
            </a:r>
            <a:endParaRPr lang="ko-KR" sz="3200" dirty="0"/>
          </a:p>
        </p:txBody>
      </p:sp>
      <p:sp>
        <p:nvSpPr>
          <p:cNvPr id="7" name="S07-stepno56"/>
          <p:cNvSpPr txBox="1"/>
          <p:nvPr/>
        </p:nvSpPr>
        <p:spPr>
          <a:xfrm>
            <a:off x="548640" y="29489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7-text57"/>
          <p:cNvSpPr txBox="1"/>
          <p:nvPr/>
        </p:nvSpPr>
        <p:spPr>
          <a:xfrm>
            <a:off x="1325880" y="2948940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‘싫어요!’ 하고 사람 많은 곳으로 가요.</a:t>
            </a:r>
            <a:endParaRPr lang="ko-KR" sz="3200" dirty="0"/>
          </a:p>
        </p:txBody>
      </p:sp>
      <p:sp>
        <p:nvSpPr>
          <p:cNvPr id="9" name="S07-stepno58"/>
          <p:cNvSpPr txBox="1"/>
          <p:nvPr/>
        </p:nvSpPr>
        <p:spPr>
          <a:xfrm>
            <a:off x="548640" y="36621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7-text59"/>
          <p:cNvSpPr txBox="1"/>
          <p:nvPr/>
        </p:nvSpPr>
        <p:spPr>
          <a:xfrm>
            <a:off x="1325880" y="366217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믿을 수 있는 어른에게 알려요.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위험할까요?</a:t>
            </a:r>
            <a:endParaRPr lang="ko-KR" sz="4400" dirty="0"/>
          </a:p>
        </p:txBody>
      </p:sp>
      <p:sp>
        <p:nvSpPr>
          <p:cNvPr id="3" name="S08-text6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위험한지, 어떻게 할지 말해요.</a:t>
            </a:r>
            <a:endParaRPr lang="ko-KR" sz="3200" dirty="0"/>
          </a:p>
        </p:txBody>
      </p:sp>
      <p:sp>
        <p:nvSpPr>
          <p:cNvPr id="4" name="S08-card6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8-cardtext6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위험한 점 → 안전한 행동</a:t>
            </a:r>
            <a:endParaRPr lang="ko-KR" sz="3200" dirty="0"/>
          </a:p>
        </p:txBody>
      </p:sp>
      <p:sp>
        <p:nvSpPr>
          <p:cNvPr id="6" name="S08-chip63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8-text64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공이 찻길로 굴러갔어요.</a:t>
            </a:r>
            <a:endParaRPr lang="ko-KR" sz="3200" dirty="0"/>
          </a:p>
        </p:txBody>
      </p:sp>
      <p:sp>
        <p:nvSpPr>
          <p:cNvPr id="8" name="S08-chip65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8-text66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그네 바로 앞으로 지나가요.</a:t>
            </a:r>
            <a:endParaRPr lang="ko-KR" sz="3200" dirty="0"/>
          </a:p>
        </p:txBody>
      </p:sp>
      <p:sp>
        <p:nvSpPr>
          <p:cNvPr id="10" name="S08-chip67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8-text68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모르는 어른이 같이 가재요.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도움을 청해요</a:t>
            </a:r>
            <a:endParaRPr lang="ko-KR" sz="4400" dirty="0"/>
          </a:p>
        </p:txBody>
      </p:sp>
      <p:sp>
        <p:nvSpPr>
          <p:cNvPr id="3" name="S09-card6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7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길을 잃으면 그 자리에 서서 기다려요.</a:t>
            </a:r>
            <a:endParaRPr lang="ko-KR" sz="3200" dirty="0"/>
          </a:p>
        </p:txBody>
      </p:sp>
      <p:sp>
        <p:nvSpPr>
          <p:cNvPr id="5" name="S09-card71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72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어른에게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엄마·아빠, 선생님,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경찰관</a:t>
            </a:r>
            <a:endParaRPr lang="ko-KR" sz="3200" dirty="0"/>
          </a:p>
        </p:txBody>
      </p:sp>
      <p:sp>
        <p:nvSpPr>
          <p:cNvPr id="7" name="S09-card73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9-cardtext74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112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위험한 사람,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길을 잃었을 때</a:t>
            </a:r>
            <a:endParaRPr lang="ko-KR" sz="3200" dirty="0"/>
          </a:p>
        </p:txBody>
      </p:sp>
      <p:sp>
        <p:nvSpPr>
          <p:cNvPr id="9" name="S09-card75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9-cardtext76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119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불이 났을 때,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크게 다쳤을 때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도와주세요, 말해 봐요</a:t>
            </a:r>
            <a:endParaRPr lang="ko-KR" sz="4400" dirty="0"/>
          </a:p>
        </p:txBody>
      </p:sp>
      <p:sp>
        <p:nvSpPr>
          <p:cNvPr id="3" name="S10-text7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누구에게 뭐라고 말할까요?</a:t>
            </a:r>
            <a:endParaRPr lang="ko-KR" sz="3200" dirty="0"/>
          </a:p>
        </p:txBody>
      </p:sp>
      <p:sp>
        <p:nvSpPr>
          <p:cNvPr id="4" name="S10-card7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0-cardtext7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“도와주세요. 저는 ○○○이에요.”</a:t>
            </a:r>
            <a:endParaRPr lang="ko-KR" sz="3200" dirty="0"/>
          </a:p>
        </p:txBody>
      </p:sp>
      <p:sp>
        <p:nvSpPr>
          <p:cNvPr id="6" name="S10-chip80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10-text81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놀이터에서 엄마가 안 보여요.</a:t>
            </a:r>
            <a:endParaRPr lang="ko-KR" sz="3200" dirty="0"/>
          </a:p>
        </p:txBody>
      </p:sp>
      <p:sp>
        <p:nvSpPr>
          <p:cNvPr id="8" name="S10-chip82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10-text83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미끄럼틀에서 떨어졌어요.</a:t>
            </a:r>
            <a:endParaRPr lang="ko-KR" sz="3200" dirty="0"/>
          </a:p>
        </p:txBody>
      </p:sp>
      <p:sp>
        <p:nvSpPr>
          <p:cNvPr id="10" name="S10-chip84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10-text85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집에 연기가 가득해요.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1-chip86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11-text87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횡단보도 건너기를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보여 줘요.</a:t>
            </a:r>
            <a:endParaRPr lang="ko-KR" sz="3200" dirty="0"/>
          </a:p>
        </p:txBody>
      </p:sp>
      <p:sp>
        <p:nvSpPr>
          <p:cNvPr id="5" name="S11-chip88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6" name="S11-text89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그네 탈 때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약속은?</a:t>
            </a:r>
            <a:endParaRPr lang="ko-KR" sz="3200" dirty="0"/>
          </a:p>
        </p:txBody>
      </p:sp>
      <p:sp>
        <p:nvSpPr>
          <p:cNvPr id="7" name="S11-chip90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8" name="S11-text91"/>
          <p:cNvSpPr txBox="1"/>
          <p:nvPr/>
        </p:nvSpPr>
        <p:spPr>
          <a:xfrm>
            <a:off x="1344168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모르는 사람이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따라오래요.</a:t>
            </a:r>
            <a:endParaRPr lang="ko-KR" sz="3200" dirty="0"/>
          </a:p>
        </p:txBody>
      </p:sp>
      <p:sp>
        <p:nvSpPr>
          <p:cNvPr id="9" name="S11-chip92"/>
          <p:cNvSpPr txBox="1"/>
          <p:nvPr/>
        </p:nvSpPr>
        <p:spPr>
          <a:xfrm>
            <a:off x="6277356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0" name="S11-text93"/>
          <p:cNvSpPr txBox="1"/>
          <p:nvPr/>
        </p:nvSpPr>
        <p:spPr>
          <a:xfrm>
            <a:off x="7072884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불이 나면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번에 전화해요?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잘한 모습과 흔한 실수</a:t>
            </a:r>
            <a:endParaRPr lang="ko-KR" sz="4400" dirty="0"/>
          </a:p>
        </p:txBody>
      </p:sp>
      <p:sp>
        <p:nvSpPr>
          <p:cNvPr id="3" name="S12-card9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9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가지를 모두 하면 오늘 목표를 이룬 거예요.</a:t>
            </a:r>
            <a:endParaRPr lang="ko-KR" sz="3200" dirty="0"/>
          </a:p>
        </p:txBody>
      </p:sp>
      <p:sp>
        <p:nvSpPr>
          <p:cNvPr id="5" name="S12-chip96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600" dirty="0"/>
          </a:p>
        </p:txBody>
      </p:sp>
      <p:sp>
        <p:nvSpPr>
          <p:cNvPr id="6" name="S12-text97"/>
          <p:cNvSpPr txBox="1"/>
          <p:nvPr/>
        </p:nvSpPr>
        <p:spPr>
          <a:xfrm>
            <a:off x="548640" y="20574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멈추고, 보고, 손 들고</a:t>
            </a:r>
            <a:endParaRPr lang="ko-KR" sz="3200" dirty="0"/>
          </a:p>
        </p:txBody>
      </p:sp>
      <p:sp>
        <p:nvSpPr>
          <p:cNvPr id="7" name="S12-text98"/>
          <p:cNvSpPr txBox="1"/>
          <p:nvPr/>
        </p:nvSpPr>
        <p:spPr>
          <a:xfrm>
            <a:off x="548640" y="31242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“싫어요!” 하고 떨어져요</a:t>
            </a:r>
            <a:endParaRPr lang="ko-KR" sz="3200" dirty="0"/>
          </a:p>
        </p:txBody>
      </p:sp>
      <p:sp>
        <p:nvSpPr>
          <p:cNvPr id="8" name="S12-text99"/>
          <p:cNvSpPr txBox="1"/>
          <p:nvPr/>
        </p:nvSpPr>
        <p:spPr>
          <a:xfrm>
            <a:off x="548640" y="41910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“도와주세요.” 말해요</a:t>
            </a:r>
            <a:endParaRPr lang="ko-KR" sz="3200" dirty="0"/>
          </a:p>
        </p:txBody>
      </p:sp>
      <p:sp>
        <p:nvSpPr>
          <p:cNvPr id="9" name="S12-chip100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600" dirty="0"/>
          </a:p>
        </p:txBody>
      </p:sp>
      <p:sp>
        <p:nvSpPr>
          <p:cNvPr id="10" name="S12-text101"/>
          <p:cNvSpPr txBox="1"/>
          <p:nvPr/>
        </p:nvSpPr>
        <p:spPr>
          <a:xfrm>
            <a:off x="6277356" y="20574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깜박일 때 뛰어 건너요</a:t>
            </a:r>
            <a:endParaRPr lang="ko-KR" sz="3200" dirty="0"/>
          </a:p>
        </p:txBody>
      </p:sp>
      <p:sp>
        <p:nvSpPr>
          <p:cNvPr id="11" name="S12-text102"/>
          <p:cNvSpPr txBox="1"/>
          <p:nvPr/>
        </p:nvSpPr>
        <p:spPr>
          <a:xfrm>
            <a:off x="6277356" y="31242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선물 준대서 따라가요</a:t>
            </a:r>
            <a:endParaRPr lang="ko-KR" sz="3200" dirty="0"/>
          </a:p>
        </p:txBody>
      </p:sp>
      <p:sp>
        <p:nvSpPr>
          <p:cNvPr id="12" name="S12-text103"/>
          <p:cNvSpPr txBox="1"/>
          <p:nvPr/>
        </p:nvSpPr>
        <p:spPr>
          <a:xfrm>
            <a:off x="6277356" y="41910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집을 찾아 헤매요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3-card104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105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멈추고, 보고, 살피고 건너요.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위험할 땐 어른에게 도움을 청해요.</a:t>
            </a:r>
            <a:endParaRPr lang="ko-KR" sz="3200" dirty="0"/>
          </a:p>
        </p:txBody>
      </p:sp>
      <p:sp>
        <p:nvSpPr>
          <p:cNvPr id="5" name="S13-chip106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깜박이면 기다리기</a:t>
            </a:r>
            <a:endParaRPr lang="ko-KR" sz="2600" dirty="0"/>
          </a:p>
        </p:txBody>
      </p:sp>
      <p:sp>
        <p:nvSpPr>
          <p:cNvPr id="6" name="S13-chip107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모르는 사람 따라가기</a:t>
            </a:r>
            <a:endParaRPr lang="ko-KR" sz="2600" dirty="0"/>
          </a:p>
        </p:txBody>
      </p:sp>
      <p:sp>
        <p:nvSpPr>
          <p:cNvPr id="7" name="S13-text108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3-text109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횡단보도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건너는 순서</a:t>
            </a:r>
            <a:endParaRPr lang="ko-KR" sz="2600" dirty="0"/>
          </a:p>
        </p:txBody>
      </p:sp>
      <p:sp>
        <p:nvSpPr>
          <p:cNvPr id="9" name="S13-text110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놀이터 약속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가지</a:t>
            </a:r>
            <a:endParaRPr lang="ko-KR" sz="2600" dirty="0"/>
          </a:p>
        </p:txBody>
      </p:sp>
      <p:sp>
        <p:nvSpPr>
          <p:cNvPr id="10" name="S13-text111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112와 119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걸까요?</a:t>
            </a:r>
            <a:endParaRPr lang="ko-KR" sz="2600" dirty="0"/>
          </a:p>
        </p:txBody>
      </p:sp>
      <p:sp>
        <p:nvSpPr>
          <p:cNvPr id="11" name="S13-text112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질문하고 이유 말하기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신호등 약속</a:t>
            </a:r>
            <a:endParaRPr lang="ko-KR" sz="4400" dirty="0"/>
          </a:p>
        </p:txBody>
      </p:sp>
      <p:sp>
        <p:nvSpPr>
          <p:cNvPr id="3" name="S14-text11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신호마다 할 일이 달라요.</a:t>
            </a:r>
            <a:endParaRPr lang="ko-KR" sz="3200" dirty="0"/>
          </a:p>
        </p:txBody>
      </p:sp>
      <p:sp>
        <p:nvSpPr>
          <p:cNvPr id="4" name="S14-card11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11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헷갈리면 어른 손을 잡고 건너요.</a:t>
            </a:r>
            <a:endParaRPr lang="ko-KR" sz="3200" dirty="0"/>
          </a:p>
        </p:txBody>
      </p:sp>
      <p:graphicFrame>
        <p:nvGraphicFramePr>
          <p:cNvPr id="15" name="S14-table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975610"/>
          <a:ext cx="10058400" cy="914400"/>
        </p:xfrm>
        <a:graphic>
          <a:graphicData uri="http://schemas.openxmlformats.org/drawingml/2006/table">
            <a:tbl>
              <a:tblPr/>
              <a:tblGrid>
                <a:gridCol w="3352800"/>
                <a:gridCol w="3352800"/>
                <a:gridCol w="3352800"/>
              </a:tblGrid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빨간불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초록불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깜박이는 초록불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멈춰요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살피고 건너요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기다려요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체육·보건·안전 등하굣길과 놀이 안전</dc:title>
  <dc:subject>KR22-G01-PHE-SAFEWAY-L01</dc:subject>
  <dc:creator>education-ppt</dc:creator>
  <cp:lastModifiedBy>education-ppt</cp:lastModifiedBy>
  <cp:revision>1</cp:revision>
  <dcterms:created xsi:type="dcterms:W3CDTF">2026-10-26T09:58:41Z</dcterms:created>
  <dcterms:modified xsi:type="dcterms:W3CDTF">2026-10-26T09:58:41Z</dcterms:modified>
</cp:coreProperties>
</file>