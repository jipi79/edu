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d0acc49-8240-68df-af68-87cee7d21016}">
          <p14:sldIdLst>
            <p14:sldId id="256"/>
            <p14:sldId id="257"/>
          </p14:sldIdLst>
        </p14:section>
        <p14:section name="개념" id="{7ef639f8-cbcb-ee15-9d1c-d10e52d3ee0a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267b8955-dcf7-035d-4467-3c32099f3d40}">
          <p14:sldIdLst>
            <p14:sldId id="263"/>
            <p14:sldId id="264"/>
            <p14:sldId id="265"/>
          </p14:sldIdLst>
        </p14:section>
        <p14:section name="확인" id="{6c9a46cd-9a87-9172-60d1-9a1d05b47ca3}">
          <p14:sldIdLst>
            <p14:sldId id="266"/>
            <p14:sldId id="267"/>
            <p14:sldId id="268"/>
          </p14:sldIdLst>
        </p14:section>
        <p14:section name="정리" id="{3db2275b-835b-18a2-6ac6-bd39fa3e66a6}">
          <p14:sldIdLst>
            <p14:sldId id="269"/>
          </p14:sldIdLst>
        </p14:section>
        <p14:section name="보충" id="{e8b99c54-2064-404e-e5b7-436b8fe6002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물건의 생김새에 관심을 갖게 합니다.
시간: 약 2분
이렇게 말해 보세요
- “우리 집에는 상자처럼 생긴 물건, 음료 캔처럼 생긴 물건, 공처럼 생긴 물건이 있어. 오늘은 물건을 생김새에 따라 나눠 볼 거야.”
- “오른쪽 그림 세 개는 어떻게 다르게 생겼어?”
예상 답
- “하나는 네모나고, 하나는 동그래요.” / “잘 모르겠어요.”
주의
- 수업 전에 준비물의 물건(상자 모양·둥근기둥 모양·공 모양 물건)을 바구니 하나에 섞어 담아 둡니다.
- 아이가 ‘네모’, ‘동그라미’라고 말해도 고치지 않고 들어 줍니다. 오늘 이름을 새로 배웁니다(M4).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확인(같은 것과 다른 것 구별)]
목적: 색이 달라도 생김새가 같은 것과 생김새가 다른 것을 구별할 수 있는지 확인합니다.
시간: 약 3분
이렇게 말해 보세요
- “세 개 중에서 생김새가 다른 하나는 어느 것일까?”
- “가와 다는 색이 다르지? 그래도 생김새는 어때?”
예상 답
- “나요. 동그래요.” / “가요. 색이 달라요.”(색으로 고른 경우)
정답
- 나. 가와 다는 색만 다르고 생김새가 같습니다(상자처럼 생김). 나는 공처럼 둥급니다.
막히면
- 색으로 골랐다면 주사위와 휴지 상자, 작은 공을 실제로 놓고 “색 말고 생긴 모양을 보자.”라고 다시 묻습니다(M1).
- 그래도 어려우면 S15(보충)를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상자 모양의 뜻과 특징]
목적: 상자 모양이라는 이름을 알고, 평평한 곳과 뾰족한 곳이 있다는 특징을 만져서 느낍니다.
시간: 약 3분
이렇게 말해 보세요
- “바구니에서 주사위와 휴지 상자를 꺼내 볼까? 이렇게 생긴 것을 ‘상자 모양’이라고 해.”
- “손바닥으로 만져 봐. 어떤 느낌이야? 모서리 끝을 손가락으로 살짝 눌러 봐.”
예상 답
- “평평해요.” “끝이 뾰족해요.”
막히면
- 부모가 먼저 손바닥을 상자 옆면에 대고 “쭉 평평하지?”라고 말하며 보여 줍니다.
주의
- 주사위는 작고 휴지 상자는 크지만 둘 다 상자 모양입니다. 크기가 달라도 같은 모양이라는 것을 꼭 말해 줍니다(M1).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둥근기둥 모양의 뜻과 특징]
목적: 둥근기둥 모양이라는 이름을 알고, 평평한 곳과 둥근 곳이 함께 있다는 특징을 압니다.
시간: 약 3분
이렇게 말해 보세요
- “이번엔 음료 캔과 딱풀이야. 이렇게 생긴 것을 ‘둥근기둥 모양’이라고 해. 기둥처럼 서 있는데 둥글지?”
- “캔의 위를 만져 봐. 옆도 만져 봐. 어떻게 달라?”
예상 답
- “위는 평평하고 옆은 둥글어요.”
막히면
- 캔을 세워 위쪽에 바둑돌이나 작은 물건을 올려 보게 합니다. 올라가면 평평한 곳입니다.
주의
- 뾰족한 곳은 없습니다. 아이가 캔의 테두리를 ‘뾰족하다’고 하면 상자의 모서리 끝과 손가락으로 비교해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공 모양의 뜻과 특징]
목적: 공 모양이라는 이름을 알고, 모든 곳이 둥글고 평평한 곳이 없다는 특징을 압니다.
시간: 약 3분
이렇게 말해 보세요
- “공과 귤처럼 생긴 것을 ‘공 모양’이라고 해.”
- “공을 손으로 돌려 가며 만져 봐. 평평한 곳이 있어?”
예상 답
- “없어요. 다 둥글어요.”
막히면
- 공을 책상 위에 가만히 놓아 보게 합니다. 평평한 곳이 없어서 가만히 있지 않고 움직입니다.
주의
- 귤은 아주 동그랗지는 않지만 공 모양으로 봅니다. 아이가 물으면 “공에 가장 가까운 모양이야.”라고 답합니다.
-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굴려 보고 쌓아 보기]
목적: 직접 굴리고 쌓아 보며 모양마다 움직임이 다르다는 것을 발견합니다.
시간: 약 5분
이렇게 말해 보세요
- “두꺼운 책 한쪽을 다른 책 위에 올려서 미끄럼틀을 만들자. 어떤 물건이 잘 굴러갈까? 먼저 맞혀 보고 굴려 보자.”
- “캔은 세워서 한 번, 눕혀서 한 번 굴려 볼까? 어떻게 다르지?”
- “이번엔 같은 물건끼리 위로 쌓아 보자. 어떤 것이 잘 쌓여?”
예상 답
- “공이 제일 잘 굴러가요.” “캔은 눕히면 굴러가요.” “상자는 안 굴러가요.” “공은 쌓으면 떨어져요.”
막히면
- 결과를 말로 못 하면 부모가 “공은 어땠어? 데굴데굴 굴러갔지?”처럼 물건 하나씩 물어 줍니다.
주의
- 깨지는 물건은 쓰지 않습니다. 굴러간 물건이 책상에서 떨어지지 않게 바닥에서 해도 좋습니다.
- 둥근기둥 모양은 세우면 굴러가지 않고, 눕히면 굴러갑니다. 아이가 직접 확인하게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굴리기·쌓기 결과 정리]
목적: S06에서 해 본 결과를 표로 정리하고, 평평한 곳·둥근 곳과 연결합니다.
시간: 약 2분
이렇게 말해 보세요
- “우리가 해 본 것과 표가 같은지 볼까? 상자 모양은 어땠어?”
- “왜 상자 모양은 잘 쌓일까? 왜 공 모양은 잘 굴러갈까?”
예상 답
- “상자는 평평해서 잘 쌓여요.” “공은 둥글어서 굴러가요.”
막히면
- 표를 한 줄씩 손가락으로 짚으며 부모가 읽어 주고, 아이가 실제 물건으로 다시 보여 주게 합니다.
주의
- 표의 글은 부모가 읽어 줍니다. 아이가 글을 읽지 못해도 괜찮습니다.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연습(물건을 모양으로 나누기)]
목적: 도움을 받으며 실제 물건을 세 가지 모양으로 나눕니다.
시간: 약 4분
이렇게 말해 보세요
- “바구니에서 물건을 하나씩 꺼내서 어떤 모양인지 말해 볼래? 상자 모양은 이쪽, 둥근기둥 모양은 가운데, 공 모양은 저쪽에 놓자.”
- “어떻게 알았어? 만져 보니 어땠어?”
정답
- ① 상자 모양 ② 둥근기둥 모양 ③ 공 모양 ④ 상자 모양 ⑤ 둥근기둥 모양 ⑥ 공 모양
- 상자 모양 2개, 둥근기둥 모양 2개, 공 모양 2개로 나뉩니다.
막히면
- S07의 표를 다시 보여 주며 “굴려 볼까? 쌓아 볼까?”라고 물어 직접 확인하게 합니다.
- 준비물이 없으면 화면의 물건 이름을 부모가 읽어 주고, 집 안의 같은 물건을 떠올리게 합니다.
주의
- 음료 캔을 공 모양이라고 하면 S10에서 다시 다룹니다(M2).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연습(그림에서 모양별로 세기)]
목적: 그림 속 모양을 알아보고, 같은 모양끼리 세어 봅니다.
시간: 약 3분
이렇게 말해 보세요
- “상자 모양을 손가락으로 짚으며 세어 볼래? 길쭉한 것도 상자 모양일까?”
- “공 모양은 몇 개야? 둥근기둥 모양은? 어느 모양이 가장 많아?”
정답
- 상자 모양 3개(첫째, 넷째, 일곱째), 둥근기둥 모양 2개(셋째, 여섯째), 공 모양 2개(둘째, 다섯째). 모두 7개입니다.
- 상자 모양이 가장 많습니다. 둥근기둥 모양과 공 모양은 2개로 같습니다.
막히면
- 센 그림 위에 작은 바둑돌을 하나씩 올리며 셉니다(화면 대신 활동지 크기로 그려 줘도 됩니다).
- 길쭉한 상자를 빠뜨리면 “평평한 곳만 있고 뾰족한 곳이 있지? 그럼 무슨 모양이야?”라고 묻습니다(M1).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비교(둥근 곳이 있으면 공 모양?)]
목적: 둥근 곳이 있다고 모두 공 모양은 아니라는 것을 확인합니다(M2).
시간: 약 3분
이렇게 말해 보세요
- “토끼와 곰이 음료 캔을 보고 다르게 말했어. 누가 맞았을까?”
- “공은 세워 둘 수 있어? 캔은 세워 둘 수 있어? 왜 그럴까?”
예상 답
- “곰이요. 캔은 위가 평평해서 세울 수 있어요.”
정답
- 곰이 맞습니다. 캔은 옆은 둥글지만 위와 아래가 평평해서 둥근기둥 모양입니다. 공 모양은 평평한 곳이 없습니다.
막히면
- 캔과 공을 나란히 세워 보게 합니다. 캔은 서 있고 공은 굴러갑니다.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물건의 모양을 말하고, 특징을 듣고 모양을 찾을 수 있는지 확인합니다.
시간: 약 4분
이렇게 말해 보세요
- “이번에는 혼자 해 볼래? 엄마(아빠)가 문제를 읽어 줄게. 답하고 나서 왜 그런지도 말해 줘.”
정답
- ① 공 모양(모든 곳이 둥글어서)
- ② 상자 모양
- ③ 둥근기둥 모양
막히면
- 바로 알려 주지 말고 “바구니에서 그런 물건을 찾아볼까?”라고만 말합니다.
- 도움을 받아 해결했다면 기록표에 ‘도움’으로 표시합니다.
주의
- 문제는 부모가 읽어 줍니다. 까닭을 ‘둥글어서’, ‘평평해서’처럼 짧게 말해도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물건으로 다시 해 보자.”
정답
- ① 공 모양 ② 상자 모양 ③ 둥근기둥 모양
막히면
- ③을 공 모양이라고 했다면 S10으로 돌아가 캔과 공을 세워 봅니다(M2).
- ①을 ‘동그라미’라고 했다면 “물건 전체는 ‘공 모양’이라고 불러.”라고 이름을 다시 알려 줍니다(M4).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확인(특징으로 물건 찾기)]
목적: 처음 듣는 설명에서 모양의 특징을 떠올려 알맞은 물건을 고르는지 확인합니다.
시간: 약 2분
이렇게 말해 보세요
- “잘 굴러가지만 위에 쌓을 수 없는 물건은 어느 것일까? 왜 그렇게 생각해?”
정답
- 나(구슬). 구슬은 공 모양이라 모든 곳이 둥글어서 잘 굴러가고 쌓을 수 없습니다. 가(주사위)는 상자 모양, 다(딱풀)는 둥근기둥 모양으로 쌓을 수 있습니다.
막히면
- S07의 표를 다시 보여 주고 ‘안 쌓여요’ 칸을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세 가지 모양의 이름을 말해 볼래? 어떻게 나누면 될까?”
예상 답
- “상자 모양, 둥근기둥 모양, 공 모양이요. 평평한지 둥근지 봐요.”
정답
- ① 둥근기둥 모양 ② 상자 모양(둥근기둥 모양도 세우면 쌓임) ③ 공 모양
막히면
- 바구니의 물건을 하나씩 들어 이름을 함께 말합니다.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보충(생김새로 같은 것 찾기)]
목적: S02에서 색으로 골랐거나 다른 하나를 찾지 못하면, 생김새에 주목하는 연습부터 합니다.
시간: 약 5분
이렇게 말해 보세요
- “왼쪽 두 개는 색이 다르지? 그래도 생김새는 똑같아. 오른쪽 두 개는 생김새가 어때?”
- “주사위와 휴지 상자를 만져 봐. 크기는 다르지만 생김새가 비슷하지?”
정답
- 왼쪽은 색만 다른 같은 모양(상자 모양)이고, 오른쪽은 상자 모양과 공 모양으로 생김새가 다릅니다.
막히면
- 실제 물건 두 개씩(주사위와 휴지 상자, 주사위와 공)을 손에 쥐어 주고 “똑같이 생겼어, 다르게 생겼어?”라고 묻습니다.
주의
- 이 차시는 계획상 선수 차시가 없는 단원 첫 차시입니다. 보충으로도 생김새를 구별하기 어려우면 집 안 물건을 같은 것끼리 모으는 놀이(숟가락끼리, 컵끼리)를 며칠 더 한 뒤 다시 시작합니다.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모양과비교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상자·둥근기둥·공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상자·둥근기둥·공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상자·둥근기둥·공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상자·둥근기둥·공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물건은 어떤 모양일까?</a:t>
            </a:r>
            <a:endParaRPr lang="ko-KR" sz="3200" dirty="0"/>
          </a:p>
        </p:txBody>
      </p:sp>
      <p:sp>
        <p:nvSpPr>
          <p:cNvPr id="4" name="S01-figure1" descr="상자 모양"/>
          <p:cNvSpPr/>
          <p:nvPr/>
        </p:nvSpPr>
        <p:spPr>
          <a:xfrm>
            <a:off x="7864450" y="1562710"/>
            <a:ext cx="943661" cy="943661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1-figure2" descr="둥근기둥 모양"/>
          <p:cNvSpPr/>
          <p:nvPr/>
        </p:nvSpPr>
        <p:spPr>
          <a:xfrm>
            <a:off x="9293047" y="1562710"/>
            <a:ext cx="707746" cy="943661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figure3" descr="공 모양"/>
          <p:cNvSpPr/>
          <p:nvPr/>
        </p:nvSpPr>
        <p:spPr>
          <a:xfrm>
            <a:off x="10485730" y="1562710"/>
            <a:ext cx="943661" cy="94366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물건을 세 가지 모양으로 나눠요.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모양마다 다른 점을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생김새가 다른 하나는?</a:t>
            </a:r>
            <a:endParaRPr lang="ko-KR" sz="4400" dirty="0"/>
          </a:p>
        </p:txBody>
      </p:sp>
      <p:sp>
        <p:nvSpPr>
          <p:cNvPr id="3" name="S02-card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02-chip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02-figure9" descr="진한 색 상자 모양"/>
          <p:cNvSpPr/>
          <p:nvPr/>
        </p:nvSpPr>
        <p:spPr>
          <a:xfrm>
            <a:off x="1269492" y="2500884"/>
            <a:ext cx="2011680" cy="2011680"/>
          </a:xfrm>
          <a:prstGeom prst="cube">
            <a:avLst/>
          </a:prstGeom>
          <a:solidFill>
            <a:srgbClr val="E9762B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2-chip10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02-figure11" descr="공 모양"/>
          <p:cNvSpPr/>
          <p:nvPr/>
        </p:nvSpPr>
        <p:spPr>
          <a:xfrm>
            <a:off x="5088636" y="2500884"/>
            <a:ext cx="2011680" cy="20116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2-chip12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02-figure13" descr="연한 색 상자 모양"/>
          <p:cNvSpPr/>
          <p:nvPr/>
        </p:nvSpPr>
        <p:spPr>
          <a:xfrm>
            <a:off x="8907780" y="2500884"/>
            <a:ext cx="2011680" cy="2011680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모양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주사위, 휴지 상자처럼 생겼어요.</a:t>
            </a:r>
            <a:endParaRPr lang="ko-KR" sz="3200" dirty="0"/>
          </a:p>
        </p:txBody>
      </p:sp>
      <p:sp>
        <p:nvSpPr>
          <p:cNvPr id="4" name="S03-figure15" descr="주사위처럼 생긴 상자 모양"/>
          <p:cNvSpPr/>
          <p:nvPr/>
        </p:nvSpPr>
        <p:spPr>
          <a:xfrm>
            <a:off x="924047" y="2849748"/>
            <a:ext cx="1930664" cy="1930664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3-label16"/>
          <p:cNvSpPr txBox="1"/>
          <p:nvPr/>
        </p:nvSpPr>
        <p:spPr>
          <a:xfrm>
            <a:off x="548640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</a:t>
            </a:r>
            <a:endParaRPr lang="ko-KR" sz="2600" dirty="0"/>
          </a:p>
        </p:txBody>
      </p:sp>
      <p:sp>
        <p:nvSpPr>
          <p:cNvPr id="6" name="S03-figure17" descr="휴지 상자처럼 생긴 길쭉한 상자 모양"/>
          <p:cNvSpPr/>
          <p:nvPr/>
        </p:nvSpPr>
        <p:spPr>
          <a:xfrm>
            <a:off x="3605525" y="3171525"/>
            <a:ext cx="1930664" cy="1287109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3-label18"/>
          <p:cNvSpPr txBox="1"/>
          <p:nvPr/>
        </p:nvSpPr>
        <p:spPr>
          <a:xfrm>
            <a:off x="3230118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 상자</a:t>
            </a:r>
            <a:endParaRPr lang="ko-KR" sz="2600" dirty="0"/>
          </a:p>
        </p:txBody>
      </p:sp>
      <p:sp>
        <p:nvSpPr>
          <p:cNvPr id="8" name="S03-card19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20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곳만 있어요</a:t>
            </a:r>
            <a:endParaRPr lang="ko-KR" sz="3200" dirty="0"/>
          </a:p>
        </p:txBody>
      </p:sp>
      <p:sp>
        <p:nvSpPr>
          <p:cNvPr id="10" name="S03-card21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22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있어요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둥근기둥 모양</a:t>
            </a:r>
            <a:endParaRPr lang="ko-KR" sz="4400" dirty="0"/>
          </a:p>
        </p:txBody>
      </p:sp>
      <p:sp>
        <p:nvSpPr>
          <p:cNvPr id="3" name="S04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음료 캔, 딱풀처럼 생겼어요.</a:t>
            </a:r>
            <a:endParaRPr lang="ko-KR" sz="3200" dirty="0"/>
          </a:p>
        </p:txBody>
      </p:sp>
      <p:sp>
        <p:nvSpPr>
          <p:cNvPr id="4" name="S04-figure24" descr="음료 캔처럼 생긴 둥근기둥 모양"/>
          <p:cNvSpPr/>
          <p:nvPr/>
        </p:nvSpPr>
        <p:spPr>
          <a:xfrm>
            <a:off x="1165380" y="2849748"/>
            <a:ext cx="1447998" cy="1930664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4-label25"/>
          <p:cNvSpPr txBox="1"/>
          <p:nvPr/>
        </p:nvSpPr>
        <p:spPr>
          <a:xfrm>
            <a:off x="548640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음료 캔</a:t>
            </a:r>
            <a:endParaRPr lang="ko-KR" sz="2600" dirty="0"/>
          </a:p>
        </p:txBody>
      </p:sp>
      <p:sp>
        <p:nvSpPr>
          <p:cNvPr id="6" name="S04-figure26" descr="딱풀처럼 생긴 둥근기둥 모양"/>
          <p:cNvSpPr/>
          <p:nvPr/>
        </p:nvSpPr>
        <p:spPr>
          <a:xfrm>
            <a:off x="3846858" y="2849748"/>
            <a:ext cx="1447998" cy="1930664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4-label27"/>
          <p:cNvSpPr txBox="1"/>
          <p:nvPr/>
        </p:nvSpPr>
        <p:spPr>
          <a:xfrm>
            <a:off x="3230118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딱풀</a:t>
            </a:r>
            <a:endParaRPr lang="ko-KR" sz="2600" dirty="0"/>
          </a:p>
        </p:txBody>
      </p:sp>
      <p:sp>
        <p:nvSpPr>
          <p:cNvPr id="8" name="S04-card28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29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위와 아래는 평평해요</a:t>
            </a:r>
            <a:endParaRPr lang="ko-KR" sz="3200" dirty="0"/>
          </a:p>
        </p:txBody>
      </p:sp>
      <p:sp>
        <p:nvSpPr>
          <p:cNvPr id="10" name="S04-card30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31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옆은 둥글어요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 모양</a:t>
            </a:r>
            <a:endParaRPr lang="ko-KR" sz="4400" dirty="0"/>
          </a:p>
        </p:txBody>
      </p:sp>
      <p:sp>
        <p:nvSpPr>
          <p:cNvPr id="3" name="S05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공, 귤처럼 생겼어요.</a:t>
            </a:r>
            <a:endParaRPr lang="ko-KR" sz="3200" dirty="0"/>
          </a:p>
        </p:txBody>
      </p:sp>
      <p:sp>
        <p:nvSpPr>
          <p:cNvPr id="4" name="S05-figure33" descr="공처럼 생긴 공 모양"/>
          <p:cNvSpPr/>
          <p:nvPr/>
        </p:nvSpPr>
        <p:spPr>
          <a:xfrm>
            <a:off x="924047" y="2849748"/>
            <a:ext cx="1930664" cy="193066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5-label34"/>
          <p:cNvSpPr txBox="1"/>
          <p:nvPr/>
        </p:nvSpPr>
        <p:spPr>
          <a:xfrm>
            <a:off x="548640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2600" dirty="0"/>
          </a:p>
        </p:txBody>
      </p:sp>
      <p:sp>
        <p:nvSpPr>
          <p:cNvPr id="6" name="S05-figure35" descr="귤처럼 생긴 공 모양"/>
          <p:cNvSpPr/>
          <p:nvPr/>
        </p:nvSpPr>
        <p:spPr>
          <a:xfrm>
            <a:off x="3605525" y="2849748"/>
            <a:ext cx="1930664" cy="193066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5-label36"/>
          <p:cNvSpPr txBox="1"/>
          <p:nvPr/>
        </p:nvSpPr>
        <p:spPr>
          <a:xfrm>
            <a:off x="3230118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600" dirty="0"/>
          </a:p>
        </p:txBody>
      </p:sp>
      <p:sp>
        <p:nvSpPr>
          <p:cNvPr id="8" name="S05-card37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8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곳이 둥글어요</a:t>
            </a:r>
            <a:endParaRPr lang="ko-KR" sz="3200" dirty="0"/>
          </a:p>
        </p:txBody>
      </p:sp>
      <p:sp>
        <p:nvSpPr>
          <p:cNvPr id="10" name="S05-card39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40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곳이 없어요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굴려 보고 쌓아 봐요</a:t>
            </a:r>
            <a:endParaRPr lang="ko-KR" sz="4400" dirty="0"/>
          </a:p>
        </p:txBody>
      </p:sp>
      <p:sp>
        <p:nvSpPr>
          <p:cNvPr id="3" name="S06-figure41" descr="상자 모양"/>
          <p:cNvSpPr/>
          <p:nvPr/>
        </p:nvSpPr>
        <p:spPr>
          <a:xfrm>
            <a:off x="7141149" y="2905852"/>
            <a:ext cx="1132656" cy="1132656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S06-label42"/>
          <p:cNvSpPr txBox="1"/>
          <p:nvPr/>
        </p:nvSpPr>
        <p:spPr>
          <a:xfrm>
            <a:off x="6920911" y="575564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</a:t>
            </a:r>
            <a:endParaRPr lang="ko-KR" sz="2600" dirty="0"/>
          </a:p>
        </p:txBody>
      </p:sp>
      <p:sp>
        <p:nvSpPr>
          <p:cNvPr id="5" name="S06-figure43" descr="둥근기둥 모양"/>
          <p:cNvSpPr/>
          <p:nvPr/>
        </p:nvSpPr>
        <p:spPr>
          <a:xfrm>
            <a:off x="8855865" y="2905852"/>
            <a:ext cx="849492" cy="1132656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6-label44"/>
          <p:cNvSpPr txBox="1"/>
          <p:nvPr/>
        </p:nvSpPr>
        <p:spPr>
          <a:xfrm>
            <a:off x="8494044" y="575564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둥근기둥</a:t>
            </a:r>
            <a:endParaRPr lang="ko-KR" sz="2600" dirty="0"/>
          </a:p>
        </p:txBody>
      </p:sp>
      <p:sp>
        <p:nvSpPr>
          <p:cNvPr id="7" name="S06-figure45" descr="공 모양"/>
          <p:cNvSpPr/>
          <p:nvPr/>
        </p:nvSpPr>
        <p:spPr>
          <a:xfrm>
            <a:off x="10287417" y="2905852"/>
            <a:ext cx="1132656" cy="113265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6-label46"/>
          <p:cNvSpPr txBox="1"/>
          <p:nvPr/>
        </p:nvSpPr>
        <p:spPr>
          <a:xfrm>
            <a:off x="10067178" y="575564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2600" dirty="0"/>
          </a:p>
        </p:txBody>
      </p:sp>
      <p:sp>
        <p:nvSpPr>
          <p:cNvPr id="9" name="S06-stepno47"/>
          <p:cNvSpPr txBox="1"/>
          <p:nvPr/>
        </p:nvSpPr>
        <p:spPr>
          <a:xfrm>
            <a:off x="548640" y="2608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0" name="S06-text48"/>
          <p:cNvSpPr txBox="1"/>
          <p:nvPr/>
        </p:nvSpPr>
        <p:spPr>
          <a:xfrm>
            <a:off x="1325880" y="2562860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기울여 비탈을 만들어요.</a:t>
            </a:r>
            <a:endParaRPr lang="ko-KR" sz="3200" dirty="0"/>
          </a:p>
        </p:txBody>
      </p:sp>
      <p:sp>
        <p:nvSpPr>
          <p:cNvPr id="11" name="S06-stepno49"/>
          <p:cNvSpPr txBox="1"/>
          <p:nvPr/>
        </p:nvSpPr>
        <p:spPr>
          <a:xfrm>
            <a:off x="548640" y="3719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" name="S06-text50"/>
          <p:cNvSpPr txBox="1"/>
          <p:nvPr/>
        </p:nvSpPr>
        <p:spPr>
          <a:xfrm>
            <a:off x="1325880" y="371906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하나씩 굴려 봐요.</a:t>
            </a:r>
            <a:endParaRPr lang="ko-KR" sz="3200" dirty="0"/>
          </a:p>
        </p:txBody>
      </p:sp>
      <p:sp>
        <p:nvSpPr>
          <p:cNvPr id="13" name="S06-stepno51"/>
          <p:cNvSpPr txBox="1"/>
          <p:nvPr/>
        </p:nvSpPr>
        <p:spPr>
          <a:xfrm>
            <a:off x="548640" y="4432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" name="S06-text52"/>
          <p:cNvSpPr txBox="1"/>
          <p:nvPr/>
        </p:nvSpPr>
        <p:spPr>
          <a:xfrm>
            <a:off x="1325880" y="443230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물건끼리 쌓아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보니 어땠나요?</a:t>
            </a:r>
            <a:endParaRPr lang="ko-KR" sz="4400" dirty="0"/>
          </a:p>
        </p:txBody>
      </p:sp>
      <p:sp>
        <p:nvSpPr>
          <p:cNvPr id="3" name="S07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곳이 있으면 쌓이고, 둥근 곳이 있으면 굴러가요.</a:t>
            </a:r>
            <a:endParaRPr lang="ko-KR" sz="3200" dirty="0"/>
          </a:p>
        </p:txBody>
      </p:sp>
      <p:graphicFrame>
        <p:nvGraphicFramePr>
          <p:cNvPr id="8" name="S07-table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99640"/>
          <a:ext cx="10515600" cy="914400"/>
        </p:xfrm>
        <a:graphic>
          <a:graphicData uri="http://schemas.openxmlformats.org/drawingml/2006/table">
            <a:tbl>
              <a:tblPr/>
              <a:tblGrid>
                <a:gridCol w="3364992"/>
                <a:gridCol w="3364992"/>
                <a:gridCol w="3785616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쌓기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굴리기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상자 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쌓여요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굴러가요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둥근기둥 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세우면 쌓여요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눕히면 굴러가요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 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쌓여요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굴러가요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모양일까요?</a:t>
            </a:r>
            <a:endParaRPr lang="ko-KR" sz="4400" dirty="0"/>
          </a:p>
        </p:txBody>
      </p:sp>
      <p:sp>
        <p:nvSpPr>
          <p:cNvPr id="3" name="S08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보고 모양을 말해요.</a:t>
            </a:r>
            <a:endParaRPr lang="ko-KR" sz="3200" dirty="0"/>
          </a:p>
        </p:txBody>
      </p:sp>
      <p:sp>
        <p:nvSpPr>
          <p:cNvPr id="4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곳이 있는지, 둥근 곳이 있는지 만져 봐요.</a:t>
            </a:r>
            <a:endParaRPr lang="ko-KR" sz="3200" dirty="0"/>
          </a:p>
        </p:txBody>
      </p:sp>
      <p:sp>
        <p:nvSpPr>
          <p:cNvPr id="6" name="S08-chip5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6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 상자</a:t>
            </a:r>
            <a:endParaRPr lang="ko-KR" sz="3200" dirty="0"/>
          </a:p>
        </p:txBody>
      </p:sp>
      <p:sp>
        <p:nvSpPr>
          <p:cNvPr id="8" name="S08-chip61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62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음료 캔</a:t>
            </a:r>
            <a:endParaRPr lang="ko-KR" sz="3200" dirty="0"/>
          </a:p>
        </p:txBody>
      </p:sp>
      <p:sp>
        <p:nvSpPr>
          <p:cNvPr id="10" name="S08-chip6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6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200" dirty="0"/>
          </a:p>
        </p:txBody>
      </p:sp>
      <p:sp>
        <p:nvSpPr>
          <p:cNvPr id="12" name="S08-chip65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8-text66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</a:t>
            </a:r>
            <a:endParaRPr lang="ko-KR" sz="3200" dirty="0"/>
          </a:p>
        </p:txBody>
      </p:sp>
      <p:sp>
        <p:nvSpPr>
          <p:cNvPr id="14" name="S08-chip6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15" name="S08-text6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딱풀</a:t>
            </a:r>
            <a:endParaRPr lang="ko-KR" sz="3200" dirty="0"/>
          </a:p>
        </p:txBody>
      </p:sp>
      <p:sp>
        <p:nvSpPr>
          <p:cNvPr id="16" name="S08-chip69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600" dirty="0"/>
          </a:p>
        </p:txBody>
      </p:sp>
      <p:sp>
        <p:nvSpPr>
          <p:cNvPr id="17" name="S08-text70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공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모양별로 세어 봐요</a:t>
            </a:r>
            <a:endParaRPr lang="ko-KR" sz="4400" dirty="0"/>
          </a:p>
        </p:txBody>
      </p:sp>
      <p:sp>
        <p:nvSpPr>
          <p:cNvPr id="3" name="S09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모양끼리 세어 봐요.</a:t>
            </a:r>
            <a:endParaRPr lang="ko-KR" sz="3200" dirty="0"/>
          </a:p>
        </p:txBody>
      </p:sp>
      <p:sp>
        <p:nvSpPr>
          <p:cNvPr id="4" name="S09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모양은 몇 개? 공 모양은 몇 개?</a:t>
            </a:r>
            <a:endParaRPr lang="ko-KR" sz="3200" dirty="0"/>
          </a:p>
        </p:txBody>
      </p:sp>
      <p:sp>
        <p:nvSpPr>
          <p:cNvPr id="6" name="S09-figure74" descr="상자 모양"/>
          <p:cNvSpPr/>
          <p:nvPr/>
        </p:nvSpPr>
        <p:spPr>
          <a:xfrm>
            <a:off x="770473" y="2927151"/>
            <a:ext cx="1140858" cy="1140858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9-figure75" descr="공 모양"/>
          <p:cNvSpPr/>
          <p:nvPr/>
        </p:nvSpPr>
        <p:spPr>
          <a:xfrm>
            <a:off x="2354998" y="2927151"/>
            <a:ext cx="1140858" cy="1140858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9-figure76" descr="둥근기둥 모양"/>
          <p:cNvSpPr/>
          <p:nvPr/>
        </p:nvSpPr>
        <p:spPr>
          <a:xfrm>
            <a:off x="4082130" y="2927151"/>
            <a:ext cx="855643" cy="1140858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9-figure77" descr="길쭉한 상자 모양"/>
          <p:cNvSpPr/>
          <p:nvPr/>
        </p:nvSpPr>
        <p:spPr>
          <a:xfrm>
            <a:off x="5524047" y="3117294"/>
            <a:ext cx="1140858" cy="760572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09-figure78" descr="공 모양"/>
          <p:cNvSpPr/>
          <p:nvPr/>
        </p:nvSpPr>
        <p:spPr>
          <a:xfrm>
            <a:off x="7108572" y="2927151"/>
            <a:ext cx="1140858" cy="1140858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9-figure79" descr="둥근기둥 모양"/>
          <p:cNvSpPr/>
          <p:nvPr/>
        </p:nvSpPr>
        <p:spPr>
          <a:xfrm>
            <a:off x="8835704" y="2927151"/>
            <a:ext cx="855643" cy="1140858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2" name="S09-figure80" descr="상자 모양"/>
          <p:cNvSpPr/>
          <p:nvPr/>
        </p:nvSpPr>
        <p:spPr>
          <a:xfrm>
            <a:off x="10277621" y="2927151"/>
            <a:ext cx="1140858" cy="1140858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400" dirty="0"/>
          </a:p>
        </p:txBody>
      </p:sp>
      <p:sp>
        <p:nvSpPr>
          <p:cNvPr id="3" name="S10-card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음료 캔은 어떤 모양일까요?</a:t>
            </a:r>
            <a:endParaRPr lang="ko-KR" sz="3200" dirty="0"/>
          </a:p>
        </p:txBody>
      </p:sp>
      <p:sp>
        <p:nvSpPr>
          <p:cNvPr id="5" name="S10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캔을 만져 보고, 누가 맞았는지 말해 보세요.</a:t>
            </a:r>
            <a:endParaRPr lang="ko-KR" sz="3200" dirty="0"/>
          </a:p>
        </p:txBody>
      </p:sp>
      <p:sp>
        <p:nvSpPr>
          <p:cNvPr id="7" name="S10-chip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공 모양</a:t>
            </a:r>
            <a:endParaRPr lang="ko-KR" sz="2600" dirty="0"/>
          </a:p>
        </p:txBody>
      </p:sp>
      <p:sp>
        <p:nvSpPr>
          <p:cNvPr id="8" name="S10-text8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“둥근 곳이 있으니까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 모양이에요.”</a:t>
            </a:r>
            <a:endParaRPr lang="ko-KR" sz="3200" dirty="0"/>
          </a:p>
        </p:txBody>
      </p:sp>
      <p:sp>
        <p:nvSpPr>
          <p:cNvPr id="9" name="S10-chip8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둥근기둥 모양</a:t>
            </a:r>
            <a:endParaRPr lang="ko-KR" sz="2600" dirty="0"/>
          </a:p>
        </p:txBody>
      </p:sp>
      <p:sp>
        <p:nvSpPr>
          <p:cNvPr id="10" name="S10-text8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“위와 아래가 평평하니까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둥근기둥 모양이에요.”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8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9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오렌지는 어떤 모양일까요?</a:t>
            </a:r>
            <a:endParaRPr lang="ko-KR" sz="3200" dirty="0"/>
          </a:p>
        </p:txBody>
      </p:sp>
      <p:sp>
        <p:nvSpPr>
          <p:cNvPr id="5" name="S11-chip9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9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곳만 있는 모양은?</a:t>
            </a:r>
            <a:endParaRPr lang="ko-KR" sz="3200" dirty="0"/>
          </a:p>
        </p:txBody>
      </p:sp>
      <p:sp>
        <p:nvSpPr>
          <p:cNvPr id="7" name="S11-chip9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9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세우면 쌓이고, 눕히면 굴러가는 모양은?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95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6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바구니의 물건을 굴려 보고 쌓아 보며 다시 확인하세요.</a:t>
            </a:r>
            <a:endParaRPr lang="ko-KR" sz="3200" dirty="0"/>
          </a:p>
        </p:txBody>
      </p:sp>
      <p:sp>
        <p:nvSpPr>
          <p:cNvPr id="5" name="S12-chip9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98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 모양</a:t>
            </a:r>
            <a:endParaRPr lang="ko-KR" sz="3200" dirty="0"/>
          </a:p>
        </p:txBody>
      </p:sp>
      <p:sp>
        <p:nvSpPr>
          <p:cNvPr id="7" name="S12-text99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둥글어요</a:t>
            </a:r>
            <a:endParaRPr lang="ko-KR" sz="2600" dirty="0"/>
          </a:p>
        </p:txBody>
      </p:sp>
      <p:sp>
        <p:nvSpPr>
          <p:cNvPr id="8" name="S12-text100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상자 모양</a:t>
            </a:r>
            <a:endParaRPr lang="ko-KR" sz="3200" dirty="0"/>
          </a:p>
        </p:txBody>
      </p:sp>
      <p:sp>
        <p:nvSpPr>
          <p:cNvPr id="9" name="S12-text101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곳만</a:t>
            </a:r>
            <a:endParaRPr lang="ko-KR" sz="2600" dirty="0"/>
          </a:p>
        </p:txBody>
      </p:sp>
      <p:sp>
        <p:nvSpPr>
          <p:cNvPr id="10" name="S12-text102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둥근기둥 모양</a:t>
            </a:r>
            <a:endParaRPr lang="ko-KR" sz="2600" dirty="0"/>
          </a:p>
        </p:txBody>
      </p:sp>
      <p:sp>
        <p:nvSpPr>
          <p:cNvPr id="11" name="S12-text103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위아래 평평</a:t>
            </a:r>
            <a:endParaRPr lang="ko-KR" sz="2600" dirty="0"/>
          </a:p>
        </p:txBody>
      </p:sp>
      <p:sp>
        <p:nvSpPr>
          <p:cNvPr id="12" name="S12-chip10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10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공 모양</a:t>
            </a:r>
            <a:endParaRPr lang="ko-KR" sz="3200" dirty="0"/>
          </a:p>
        </p:txBody>
      </p:sp>
      <p:sp>
        <p:nvSpPr>
          <p:cNvPr id="14" name="S12-text10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곳만 봄</a:t>
            </a:r>
            <a:endParaRPr lang="ko-KR" sz="2600" dirty="0"/>
          </a:p>
        </p:txBody>
      </p:sp>
      <p:sp>
        <p:nvSpPr>
          <p:cNvPr id="15" name="S12-text10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동그라미</a:t>
            </a:r>
            <a:endParaRPr lang="ko-KR" sz="3200" dirty="0"/>
          </a:p>
        </p:txBody>
      </p:sp>
      <p:sp>
        <p:nvSpPr>
          <p:cNvPr id="16" name="S12-text10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달라요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물건일까요?</a:t>
            </a:r>
            <a:endParaRPr lang="ko-KR" sz="4400" dirty="0"/>
          </a:p>
        </p:txBody>
      </p:sp>
      <p:sp>
        <p:nvSpPr>
          <p:cNvPr id="3" name="S13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굴러가지만 쌓을 수 없어요.</a:t>
            </a:r>
            <a:endParaRPr lang="ko-KR" sz="3200" dirty="0"/>
          </a:p>
        </p:txBody>
      </p:sp>
      <p:sp>
        <p:nvSpPr>
          <p:cNvPr id="4" name="S13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3-chip11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113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14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</a:t>
            </a:r>
            <a:endParaRPr lang="ko-KR" sz="3200" dirty="0"/>
          </a:p>
        </p:txBody>
      </p:sp>
      <p:sp>
        <p:nvSpPr>
          <p:cNvPr id="9" name="S13-chip11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116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117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</a:t>
            </a:r>
            <a:endParaRPr lang="ko-KR" sz="3200" dirty="0"/>
          </a:p>
        </p:txBody>
      </p:sp>
      <p:sp>
        <p:nvSpPr>
          <p:cNvPr id="12" name="S13-chip11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119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20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딱풀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2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2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곳, 둥근 곳을 보고 모양을 나눠요.</a:t>
            </a:r>
            <a:endParaRPr lang="ko-KR" sz="3200" dirty="0"/>
          </a:p>
        </p:txBody>
      </p:sp>
      <p:sp>
        <p:nvSpPr>
          <p:cNvPr id="5" name="S14-chip123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만지고 굴려 보기</a:t>
            </a:r>
            <a:endParaRPr lang="ko-KR" sz="2600" dirty="0"/>
          </a:p>
        </p:txBody>
      </p:sp>
      <p:sp>
        <p:nvSpPr>
          <p:cNvPr id="6" name="S14-chip124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색이나 크기로 나누기</a:t>
            </a:r>
            <a:endParaRPr lang="ko-KR" sz="2600" dirty="0"/>
          </a:p>
        </p:txBody>
      </p:sp>
      <p:sp>
        <p:nvSpPr>
          <p:cNvPr id="7" name="S14-text125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26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딱풀은 어떤 모양?</a:t>
            </a:r>
            <a:endParaRPr lang="ko-KR" sz="2600" dirty="0"/>
          </a:p>
        </p:txBody>
      </p:sp>
      <p:sp>
        <p:nvSpPr>
          <p:cNvPr id="9" name="S14-text127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잘 쌓이는 모양은?</a:t>
            </a:r>
            <a:endParaRPr lang="ko-KR" sz="2600" dirty="0"/>
          </a:p>
        </p:txBody>
      </p:sp>
      <p:sp>
        <p:nvSpPr>
          <p:cNvPr id="10" name="S14-text128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평평한 곳이 없는 모양은?</a:t>
            </a:r>
            <a:endParaRPr lang="ko-KR" sz="2600" dirty="0"/>
          </a:p>
        </p:txBody>
      </p:sp>
      <p:sp>
        <p:nvSpPr>
          <p:cNvPr id="11" name="S14-text12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네모·세모·동그라미 모양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생김새를 봐요</a:t>
            </a:r>
            <a:endParaRPr lang="ko-KR" sz="4400" dirty="0"/>
          </a:p>
        </p:txBody>
      </p:sp>
      <p:sp>
        <p:nvSpPr>
          <p:cNvPr id="3" name="S15-text1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색이 달라도 생김새가 같을 수 있어요.</a:t>
            </a:r>
            <a:endParaRPr lang="ko-KR" sz="3200" dirty="0"/>
          </a:p>
        </p:txBody>
      </p:sp>
      <p:sp>
        <p:nvSpPr>
          <p:cNvPr id="4" name="S15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색과 크기 말고, 생김새를 봐요.</a:t>
            </a:r>
            <a:endParaRPr lang="ko-KR" sz="3200" dirty="0"/>
          </a:p>
        </p:txBody>
      </p:sp>
      <p:sp>
        <p:nvSpPr>
          <p:cNvPr id="6" name="S15-figure133" descr="진한 색 상자 모양"/>
          <p:cNvSpPr/>
          <p:nvPr/>
        </p:nvSpPr>
        <p:spPr>
          <a:xfrm>
            <a:off x="925647" y="2268672"/>
            <a:ext cx="1938894" cy="1938894"/>
          </a:xfrm>
          <a:prstGeom prst="cube">
            <a:avLst/>
          </a:prstGeom>
          <a:solidFill>
            <a:srgbClr val="E9762B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5-figure134" descr="연한 색 상자 모양"/>
          <p:cNvSpPr/>
          <p:nvPr/>
        </p:nvSpPr>
        <p:spPr>
          <a:xfrm>
            <a:off x="3618555" y="2268672"/>
            <a:ext cx="1938894" cy="1938894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5-label135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색만 달라요 → 같은 모양</a:t>
            </a:r>
            <a:endParaRPr lang="ko-KR" sz="2600" dirty="0"/>
          </a:p>
        </p:txBody>
      </p:sp>
      <p:sp>
        <p:nvSpPr>
          <p:cNvPr id="9" name="S15-figure136" descr="상자 모양"/>
          <p:cNvSpPr/>
          <p:nvPr/>
        </p:nvSpPr>
        <p:spPr>
          <a:xfrm>
            <a:off x="6631503" y="2268672"/>
            <a:ext cx="1938894" cy="1938894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15-figure137" descr="공 모양"/>
          <p:cNvSpPr/>
          <p:nvPr/>
        </p:nvSpPr>
        <p:spPr>
          <a:xfrm>
            <a:off x="9324411" y="2268672"/>
            <a:ext cx="1938894" cy="193889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15-label138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생김새가 달라요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상자·둥근기둥·공 모양</dc:title>
  <dc:subject>KR22-G01-MAT-SHAPE3D-L01</dc:subject>
  <dc:creator>education-ppt</dc:creator>
  <cp:lastModifiedBy>education-ppt</cp:lastModifiedBy>
  <cp:revision>1</cp:revision>
  <dcterms:created xsi:type="dcterms:W3CDTF">2026-10-26T07:45:05Z</dcterms:created>
  <dcterms:modified xsi:type="dcterms:W3CDTF">2026-10-26T07:45:05Z</dcterms:modified>
</cp:coreProperties>
</file>