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a557bdb-da6c-1eed-e463-339c48a9ecb7}">
          <p14:sldIdLst>
            <p14:sldId id="256"/>
            <p14:sldId id="257"/>
          </p14:sldIdLst>
        </p14:section>
        <p14:section name="개념" id="{43421596-5498-ad2b-8c20-1fbd3d877ac7}">
          <p14:sldIdLst>
            <p14:sldId id="258"/>
            <p14:sldId id="261"/>
            <p14:sldId id="263"/>
            <p14:sldId id="264"/>
          </p14:sldIdLst>
        </p14:section>
        <p14:section name="연습" id="{010f8c55-68ba-d66f-e2e8-caec6bb0b4f3}">
          <p14:sldIdLst>
            <p14:sldId id="259"/>
            <p14:sldId id="260"/>
            <p14:sldId id="262"/>
            <p14:sldId id="265"/>
          </p14:sldIdLst>
        </p14:section>
        <p14:section name="개념" id="{b9c1e635-c5fb-d81c-828f-59ef3627f2b6}">
          <p14:sldIdLst/>
        </p14:section>
        <p14:section name="연습" id="{b44e96f2-daf1-3ed3-e7b4-4e05ff6282da}">
          <p14:sldIdLst/>
        </p14:section>
        <p14:section name="개념" id="{495a6610-2d25-442b-fab1-bb5576460b50}">
          <p14:sldIdLst/>
        </p14:section>
        <p14:section name="연습" id="{939c4663-7143-45c6-01f6-f59d0c70de06}">
          <p14:sldIdLst/>
        </p14:section>
        <p14:section name="확인" id="{9f4a1839-3755-9bae-280c-0324cb98d7ff}">
          <p14:sldIdLst>
            <p14:sldId id="266"/>
            <p14:sldId id="267"/>
            <p14:sldId id="268"/>
          </p14:sldIdLst>
        </p14:section>
        <p14:section name="정리" id="{31573de1-020d-aaa4-4c62-28915be0f817}">
          <p14:sldIdLst>
            <p14:sldId id="269"/>
          </p14:sldIdLst>
        </p14:section>
        <p14:section name="보충" id="{03e14c2b-8519-f1da-708a-a382c99f630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지난 시간의 길이 비교를 무게·넓이·양으로 넓힐 준비를 합니다.
시간: 약 2분
이렇게 말해 보세요
- “지난 시간에는 길이와 높이를 비교했지? 오늘은 무게, 넓이, 그릇에 담을 수 있는 양을 비교해 볼 거야.”
- “책과 공책 중에 어느 것이 더 무거울까? 어떻게 알 수 있을까?”
예상 답
- “책이요. 들어 보면 알아요.”
주의
- 물을 쓰는 활동(S09)이 있으니 쟁반이나 수건을 미리 준비합니다.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확인(길이·높이 비교)]
목적: 지난 차시의 비교 방법(끝 맞추기)과 비교하는 말을 기억하는지 확인합니다.
시간: 약 3분
이렇게 말해 보세요
- “①은 연필 두 자루의 길이를 비교할 때 무엇부터 해야 할까?”
- “②의 ○○에 들어갈 말은? ③은 탑이 어떻다고 말했지?”
정답
- ① 한쪽 끝을 맞춰요.
- ② 커요
- ③ 높다, 낮다(더 높아요, 더 낮아요)
막히면
- 연필 두 자루를 주고 직접 비교해 보게 합니다.
- ①을 모르면 S15(보충)를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들어 보고 달아 보아 무게 비교]
목적: 손으로 들어 보거나 옷걸이 저울에 달아 무게를 비교하고, ‘더 무겁다, 더 가볍다’로 말하는 방법을 시범으로 보여 줍니다.
시간: 약 4분
이렇게 말해 보세요
- “책과 공책을 양손에 하나씩 들어 봐. 어느 손이 더 아래로 내려가?”
- “옷걸이 양쪽 끝에 봉지를 걸고, 한쪽에 책, 다른 쪽에 공책을 넣어 보자. 어느 쪽이 내려갔어?”
- “내려간 쪽이 더 무거운 거야. 책은 공책보다 더 무거워. 그럼 공책은 책보다 어때?”
예상 답
- “책 쪽이 내려갔어요. 책이 더 무거워요.” “공책은 더 가벼워요.”
막히면
- 옷걸이는 부모가 문고리나 손가락에 걸어 들고 있습니다. 기울기가 잘 안 보이면 무게 차이가 큰 물건(책과 지우개)으로 바꿉니다.
- 위로 올라간 쪽을 무겁다고 하면 손에 무거운 것을 들 때 손이 내려간다는 것과 연결합니다(M2).
주의
- 옷걸이 저울은 시소와 같습니다. 무거운 쪽이 내려갑니다.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안내받는 연습(무게 비교)]
목적: 도움을 받으며 두 물건의 무게를 비교하고 문장으로 말합니다.
시간: 약 3분
이렇게 말해 보세요
- “①을 양손에 들어 봐. 어느 것이 더 무거워? 문장으로 말해 볼래?”
- “이번에는 ‘더 가벼워요’로도 말해 보자.”
정답
- ① 책이 지우개보다 더 무거워요.
- ② 물이 든 컵이 빈 컵보다 더 무거워요.
- ③ 사과가 딸기보다 더 무거워요.
막히면
- 집에 없는 물건은 비슷한 물건으로 바꿉니다. 직접 들어 보고 답하는 것이 중요합니다.
- 문장이 어려우면 부모가 앞부분을 말해 주고 아이가 끝을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오개념 비교(크면 무거울까?)]
목적: 크기가 크다고 항상 더 무거운 것은 아니라는 것을 직접 들어 보고 확인합니다(M1).
시간: 약 3분
이렇게 말해 보세요
- “빈 휴지 상자와 물이 든 작은 병 중에 어느 것이 더 무거울까? 먼저 맞혀 보고 들어 보자.”
- “토끼 말처럼 큰 것이 항상 더 무거워?”
예상 답
- “병이 더 무거워요. 작아도 무거울 수 있어요.”
정답
- 물이 든 작은 병이 빈 휴지 상자보다 더 무겁습니다. 토끼의 말은 틀렸습니다. 크기가 작아도 더 무거울 수 있습니다.
막히면
- 옷걸이 저울에 둘을 달아 내려가는 쪽을 보게 합니다.
주의
- 병은 뚜껑을 꼭 닫습니다. 생수병(500mL 정도)이면 충분합니다.
-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겹쳐서 넓이 비교]
목적: 두 물건을 한쪽 모서리에 맞춰 겹치고 남는 쪽이 더 넓다는 것을 시범으로 보여 줍니다.
시간: 약 3분
이렇게 말해 보세요
- “공책 위에 색종이를 올려 보자. 왼쪽 위 모서리를 꼭 맞춰야 해.”
- “색종이 밖으로 공책이 남았지? 남는 쪽이 더 넓은 거야. 색종이는 공책보다 어때?”
예상 답
- “공책이 남았어요. 공책이 더 넓어요.” “색종이는 더 좁아요.”
막히면
- 남는 부분을 손가락으로 문질러 보게 하고 “여기가 남았네.”라고 짚어 줍니다.
주의
- 넓이는 ‘넓다/좁다’로 말합니다. 아이가 ‘더 커요’라고 하면 “넓이는 ‘넓다’라고 해.”라고 바꾸어 말해 줍니다(M3).
- 집의 공책과 색종이 크기에 따라 결과가 다를 수 있습니다. 실제로 겹쳐 본 결과로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연습(겹친 그림에서 넓이 비교)]
목적: 도움을 받으며 겹친 그림에서 남는 쪽을 찾아 넓이를 비교합니다.
시간: 약 3분
이렇게 말해 보세요
- “①에서 가와 나 중 어느 종이가 남았어? 그럼 어느 것이 더 넓어?”
- “②는 ‘더 좁아요’로도 말해 볼래?”
- “엄마 손과 네 손을 겹쳐 볼까? 누구 손바닥이 더 넓어?”
정답
- ① 가가 나보다 더 넓어요(나가 가보다 더 좁아요).
- ② 다가 라보다 더 넓어요. 라가 다보다 더 좁아요.
막히면
- 색종이 두 장 중 한 장을 접어 작게 만든 뒤 겹쳐서 화면과 같이 놓아 봅니다.
주의
- ‘가가’, ‘나가’가 어색하면 “가 종이가 나 종이보다…”로 말해도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같은 컵에 담긴 양 비교]
목적: 같은 그릇에 담긴 양은 높이를 보고 비교할 수 있다는 것을 압니다.
시간: 약 3분
이렇게 말해 보세요
- “두 컵은 크기와 모양이 똑같아. 어느 컵에 주스가 더 많아?”
- “어떻게 알았어? 나 컵은 가 컵보다 어때?”
예상 답
- “가 컵이요. 더 높이 찼어요.” “나 컵은 더 적어요.”
막히면
- 똑같은 컵 두 개에 물을 다르게 따라 보여 줍니다.
주의
- 컵의 크기나 모양이 다르면 높이만 보고 비교할 수 없습니다. 이때는 다음 장처럼 옮겨 부어 봅니다(M4).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옮겨 부어 담을 수 있는 양 비교]
목적: 모양이 다른 두 그릇은 물을 가득 채워 옮겨 부어 담을 수 있는 양을 비교한다는 것을 압니다.
시간: 약 4분
이렇게 말해 보세요
- “가늘고 긴 컵과 넓고 낮은 그릇 중에 어느 쪽에 물이 더 많이 담길까? 먼저 맞혀 보자.”
- “한 그릇에 물을 가득 채워서 다른 그릇에 부어 보자. 넘쳤어? 다 안 찼어?”
예상 답
- “넘쳤어요. 처음 그릇이 더 많이 담아요.” / “다 안 찼어요. 나 그릇이 더 많이 담아요.”
막히면
- 넘치면 처음 그릇(가)에 더 많이 담기고, 다 차지 않으면 옮겨 부은 그릇(나)에 더 많이 담긴다는 것을 실제로 두 번 해 보며 확인합니다.
주의
- 쟁반 위에서 합니다. 물을 쏟아도 괜찮다고 미리 말해 줍니다.
- 키가 큰 그릇이 항상 더 많이 담기는 것은 아닙니다. 맞혀 본 것과 결과가 다르면 칭찬해 주고 까닭을 함께 이야기합니다(M4).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연습(옮겨 부은 결과로 판단)]
목적: 도움을 받으며 옮겨 부은 결과를 보고 담을 수 있는 양을 판단합니다.
시간: 약 3분
이렇게 말해 보세요
- “①에서 가 컵의 물이 나 컵에 다 들어가지 못하고 넘쳤어. 어느 컵에 더 많이 담길까?”
- “②는 라 컵이 다 차지 않았어. 어느 컵에 더 많이 담길까?”
정답
- ① 가 컵에 더 많이 담을 수 있어요(나 컵이 더 적게 담겨요).
- ② 라 컵에 더 많이 담을 수 있어요(다 컵이 더 적게 담겨요).
막히면
- S09에서 쓴 그릇으로 같은 상황을 다시 만들어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무게·넓이·담을 수 있는 양을 비교하고, 어떻게 확인할 수 있는지 말하는지 봅니다.
시간: 약 4분
이렇게 말해 보세요
- “이번에는 혼자 해 볼래? 답을 말하고, 어떻게 확인할 수 있는지도 말해 줘.”
정답
- ① 지우개(들어 보거나 저울에 달아 확인)
- ② 방석(겹쳐 보면 식탁이 남음)
- ③ 냄비(컵에 물을 가득 채워 냄비에 부으면 다 차지 않음)
막히면
- 바로 알려 주지 말고 “직접 해 보려면 어떻게 하면 될까?”라고 묻습니다.
- 도움을 받아 해결했다면 기록표에 ‘도움’으로 표시합니다.
주의
- 집의 물건이 다르면(작은 냄비 등) 실제로 해 본 결과를 정답으로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어떻게 확인할 수 있는지도 말해 줘.”
정답
- ① 지우개 ② 방석 ③ 냄비
막히면
- ①에서 책가방을 골랐다면 ‘더 가벼운 것’을 묻는다는 것을 다시 읽어 줍니다.
- ②를 ‘작아요’라고 했다면 넓이는 ‘좁다’로 말한다고 알려 줍니다(M3).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확인(같은 컵의 양)]
목적: 처음 보는 그림에서 같은 그릇에 담긴 양을 비교하는지 확인합니다.
시간: 약 2분
이렇게 말해 보세요
- “물이 가장 적게 담긴 컵은 어느 것일까? 가장 많이 담긴 컵은?”
정답
- 다(아래 2칸). 가장 많이 담긴 컵은 나(5칸)입니다. 컵이 똑같아서 높이로 비교할 수 있습니다.
막히면
- 세 컵의 물 높이에 손가락을 대어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“무게는 어떻게 비교했어? 넓이는? 그릇에 담을 수 있는 양은?”
예상 답
- “들어 봤어요.” “겹쳐 봤어요.” “물을 옮겨 부었어요.”
정답
- ① 지우개 ② 이불 ③ 처음에 물을 가득 채운 그릇
막히면
- 오늘 쓴 물건을 하나씩 다시 보여 주며 어떻게 비교했는지 묻습니다.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보충(끝 맞추어 비교)]
목적: S02에서 비교 방법이나 비교하는 말이 흔들리면, 길이 비교로 ‘맞추고 비교하기’를 다시 연습합니다. 오늘의 겹치기도 같은 생각입니다.
시간: 약 5분
이렇게 말해 보세요
- “종이 띠 두 개의 왼쪽 끝을 맞춰 보자. 어느 띠가 더 길어?”
- “나 띠는 가 띠보다 어때? 문장으로 말해 볼래?”
정답
- 가 띠가 나 띠보다 더 길어요. 나 띠는 가 띠보다 더 짧아요.
막히면
- 연필 두 자루를 책상 모서리에 끝을 대고 놓아 비교합니다.
주의
- 보충으로도 어려우면 3차시 ‘길이와 높이 비교’(KR22-G01-MAT-LENGTH-L01)를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모양과비교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무게·넓이·담을 수 있는 양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무게·넓이·담을 수 있는 양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무게·넓이·담을 수 있는 양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무게·넓이·양 비교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것이 더 무거울까? 더 넓을까?</a:t>
            </a:r>
            <a:endParaRPr lang="ko-KR" sz="3200" dirty="0"/>
          </a:p>
        </p:txBody>
      </p:sp>
      <p:sp>
        <p:nvSpPr>
          <p:cNvPr id="4" name="S01-cell1"/>
          <p:cNvSpPr/>
          <p:nvPr/>
        </p:nvSpPr>
        <p:spPr>
          <a:xfrm>
            <a:off x="9159240" y="640080"/>
            <a:ext cx="975360" cy="975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cell2"/>
          <p:cNvSpPr/>
          <p:nvPr/>
        </p:nvSpPr>
        <p:spPr>
          <a:xfrm>
            <a:off x="9159240" y="1615440"/>
            <a:ext cx="975360" cy="9753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9159240" y="2590800"/>
            <a:ext cx="975360" cy="9753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figure4" descr="아래 두 칸만큼 물이 담긴 컵"/>
          <p:cNvSpPr/>
          <p:nvPr/>
        </p:nvSpPr>
        <p:spPr>
          <a:xfrm>
            <a:off x="9159240" y="640080"/>
            <a:ext cx="97536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1-card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무게와 넓이를 비교해요.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담을 수 있는 양을 비교해요.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길이를 비교할 때 먼저 할 일은?</a:t>
            </a:r>
            <a:endParaRPr lang="ko-KR" sz="3200" dirty="0"/>
          </a:p>
        </p:txBody>
      </p:sp>
      <p:sp>
        <p:nvSpPr>
          <p:cNvPr id="5" name="S02-chip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1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엄마는 나보다 키가 더 ○○.</a:t>
            </a:r>
            <a:endParaRPr lang="ko-KR" sz="3200" dirty="0"/>
          </a:p>
        </p:txBody>
      </p:sp>
      <p:sp>
        <p:nvSpPr>
          <p:cNvPr id="7" name="S02-chip1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1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탑의 높이는 어떤 말로 비교해요?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 보고 달아 봐요</a:t>
            </a:r>
            <a:endParaRPr lang="ko-KR" sz="4400" dirty="0"/>
          </a:p>
        </p:txBody>
      </p:sp>
      <p:sp>
        <p:nvSpPr>
          <p:cNvPr id="3" name="S03-card1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책은 공책보다 더 무거워요.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공책은 책보다 더 가벼워요.</a:t>
            </a:r>
            <a:endParaRPr lang="ko-KR" sz="3200" dirty="0"/>
          </a:p>
        </p:txBody>
      </p:sp>
      <p:sp>
        <p:nvSpPr>
          <p:cNvPr id="5" name="S03-stepno15"/>
          <p:cNvSpPr txBox="1"/>
          <p:nvPr/>
        </p:nvSpPr>
        <p:spPr>
          <a:xfrm>
            <a:off x="548640" y="201803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3-text16"/>
          <p:cNvSpPr txBox="1"/>
          <p:nvPr/>
        </p:nvSpPr>
        <p:spPr>
          <a:xfrm>
            <a:off x="1325880" y="201803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양손에 하나씩 들어 봐요.</a:t>
            </a:r>
            <a:endParaRPr lang="ko-KR" sz="3200" dirty="0"/>
          </a:p>
        </p:txBody>
      </p:sp>
      <p:sp>
        <p:nvSpPr>
          <p:cNvPr id="7" name="S03-stepno17"/>
          <p:cNvSpPr txBox="1"/>
          <p:nvPr/>
        </p:nvSpPr>
        <p:spPr>
          <a:xfrm>
            <a:off x="548640" y="273126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3-text18"/>
          <p:cNvSpPr txBox="1"/>
          <p:nvPr/>
        </p:nvSpPr>
        <p:spPr>
          <a:xfrm>
            <a:off x="1325880" y="273126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옷걸이 저울에 달아 봐요.</a:t>
            </a:r>
            <a:endParaRPr lang="ko-KR" sz="3200" dirty="0"/>
          </a:p>
        </p:txBody>
      </p:sp>
      <p:sp>
        <p:nvSpPr>
          <p:cNvPr id="9" name="S03-stepno19"/>
          <p:cNvSpPr txBox="1"/>
          <p:nvPr/>
        </p:nvSpPr>
        <p:spPr>
          <a:xfrm>
            <a:off x="548640" y="344449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3-text20"/>
          <p:cNvSpPr txBox="1"/>
          <p:nvPr/>
        </p:nvSpPr>
        <p:spPr>
          <a:xfrm>
            <a:off x="1325880" y="344449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아래로 내려간 쪽이 더 무거워요.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것이 더 무거울까요?</a:t>
            </a:r>
            <a:endParaRPr lang="ko-KR" sz="4400" dirty="0"/>
          </a:p>
        </p:txBody>
      </p:sp>
      <p:sp>
        <p:nvSpPr>
          <p:cNvPr id="3" name="S04-text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 보고 문장으로 말해요.</a:t>
            </a:r>
            <a:endParaRPr lang="ko-KR" sz="3200" dirty="0"/>
          </a:p>
        </p:txBody>
      </p:sp>
      <p:sp>
        <p:nvSpPr>
          <p:cNvPr id="4" name="S04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‘○○가 ○○보다 더 무거워요’로 말해요.</a:t>
            </a:r>
            <a:endParaRPr lang="ko-KR" sz="3200" dirty="0"/>
          </a:p>
        </p:txBody>
      </p:sp>
      <p:sp>
        <p:nvSpPr>
          <p:cNvPr id="6" name="S04-chip2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4-text2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책과 지우개</a:t>
            </a:r>
            <a:endParaRPr lang="ko-KR" sz="3200" dirty="0"/>
          </a:p>
        </p:txBody>
      </p:sp>
      <p:sp>
        <p:nvSpPr>
          <p:cNvPr id="8" name="S04-chip2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4-text2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든 컵과 빈 컵</a:t>
            </a:r>
            <a:endParaRPr lang="ko-KR" sz="3200" dirty="0"/>
          </a:p>
        </p:txBody>
      </p:sp>
      <p:sp>
        <p:nvSpPr>
          <p:cNvPr id="10" name="S04-chip2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4-text2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사과와 딸기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크면 더 무거울까요?</a:t>
            </a:r>
            <a:endParaRPr lang="ko-KR" sz="4400" dirty="0"/>
          </a:p>
        </p:txBody>
      </p:sp>
      <p:sp>
        <p:nvSpPr>
          <p:cNvPr id="3" name="S05-card3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“큰 것이 항상 더 무거워요.”</a:t>
            </a:r>
            <a:endParaRPr lang="ko-KR" sz="3200" dirty="0"/>
          </a:p>
        </p:txBody>
      </p:sp>
      <p:sp>
        <p:nvSpPr>
          <p:cNvPr id="5" name="S05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둘을 들어 보고 토끼의 말이 맞는지 말해요.</a:t>
            </a:r>
            <a:endParaRPr lang="ko-KR" sz="3200" dirty="0"/>
          </a:p>
        </p:txBody>
      </p:sp>
      <p:sp>
        <p:nvSpPr>
          <p:cNvPr id="7" name="S05-chip3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휴지 상자</a:t>
            </a:r>
            <a:endParaRPr lang="ko-KR" sz="2600" dirty="0"/>
          </a:p>
        </p:txBody>
      </p:sp>
      <p:sp>
        <p:nvSpPr>
          <p:cNvPr id="8" name="S05-text3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커요.</a:t>
            </a:r>
            <a:endParaRPr lang="ko-KR" sz="3200" dirty="0"/>
          </a:p>
        </p:txBody>
      </p:sp>
      <p:sp>
        <p:nvSpPr>
          <p:cNvPr id="9" name="S05-chip3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든 작은 병</a:t>
            </a:r>
            <a:endParaRPr lang="ko-KR" sz="2600" dirty="0"/>
          </a:p>
        </p:txBody>
      </p:sp>
      <p:sp>
        <p:nvSpPr>
          <p:cNvPr id="10" name="S05-text3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작아요.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겹쳐 봐요</a:t>
            </a:r>
            <a:endParaRPr lang="ko-KR" sz="4400" dirty="0"/>
          </a:p>
        </p:txBody>
      </p:sp>
      <p:sp>
        <p:nvSpPr>
          <p:cNvPr id="3" name="S06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 모서리를 맞춰 겹쳐요.</a:t>
            </a:r>
            <a:endParaRPr lang="ko-KR" sz="3200" dirty="0"/>
          </a:p>
        </p:txBody>
      </p:sp>
      <p:sp>
        <p:nvSpPr>
          <p:cNvPr id="4" name="S06-card3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공책이 색종이보다 더 넓어요.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겹쳤을 때 남는 쪽이 더 넓어요.</a:t>
            </a:r>
            <a:endParaRPr lang="ko-KR" sz="3200" dirty="0"/>
          </a:p>
        </p:txBody>
      </p:sp>
      <p:sp>
        <p:nvSpPr>
          <p:cNvPr id="6" name="S06-cell41"/>
          <p:cNvSpPr/>
          <p:nvPr/>
        </p:nvSpPr>
        <p:spPr>
          <a:xfrm>
            <a:off x="3474720" y="2103120"/>
            <a:ext cx="49377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figure42" descr="공책: 흰색 큰 직사각형"/>
          <p:cNvSpPr/>
          <p:nvPr/>
        </p:nvSpPr>
        <p:spPr>
          <a:xfrm>
            <a:off x="3474720" y="2103120"/>
            <a:ext cx="4937760" cy="25603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6-cell43"/>
          <p:cNvSpPr/>
          <p:nvPr/>
        </p:nvSpPr>
        <p:spPr>
          <a:xfrm>
            <a:off x="3474720" y="2103120"/>
            <a:ext cx="2377440" cy="23774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6-figure44" descr="색종이: 공책 왼쪽 위 모서리에 맞춰 겹친 주황 정사각형"/>
          <p:cNvSpPr/>
          <p:nvPr/>
        </p:nvSpPr>
        <p:spPr>
          <a:xfrm>
            <a:off x="3474720" y="2103120"/>
            <a:ext cx="237744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6-text45"/>
          <p:cNvSpPr txBox="1"/>
          <p:nvPr/>
        </p:nvSpPr>
        <p:spPr>
          <a:xfrm>
            <a:off x="3474720" y="3017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색종이</a:t>
            </a:r>
            <a:endParaRPr lang="ko-KR" sz="3200" dirty="0"/>
          </a:p>
        </p:txBody>
      </p:sp>
      <p:sp>
        <p:nvSpPr>
          <p:cNvPr id="11" name="S06-text46"/>
          <p:cNvSpPr txBox="1"/>
          <p:nvPr/>
        </p:nvSpPr>
        <p:spPr>
          <a:xfrm>
            <a:off x="5852160" y="3017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넓은 것은?</a:t>
            </a:r>
            <a:endParaRPr lang="ko-KR" sz="4400" dirty="0"/>
          </a:p>
        </p:txBody>
      </p:sp>
      <p:sp>
        <p:nvSpPr>
          <p:cNvPr id="3" name="S07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겹친 두 종이예요.</a:t>
            </a:r>
            <a:endParaRPr lang="ko-KR" sz="3200" dirty="0"/>
          </a:p>
        </p:txBody>
      </p:sp>
      <p:sp>
        <p:nvSpPr>
          <p:cNvPr id="4" name="S07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‘○가 ○보다 더 넓어요’로 말해요.</a:t>
            </a:r>
            <a:endParaRPr lang="ko-KR" sz="3200" dirty="0"/>
          </a:p>
        </p:txBody>
      </p:sp>
      <p:sp>
        <p:nvSpPr>
          <p:cNvPr id="6" name="S07-text50"/>
          <p:cNvSpPr txBox="1"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3200" dirty="0"/>
          </a:p>
        </p:txBody>
      </p:sp>
      <p:sp>
        <p:nvSpPr>
          <p:cNvPr id="7" name="S07-cell51"/>
          <p:cNvSpPr/>
          <p:nvPr/>
        </p:nvSpPr>
        <p:spPr>
          <a:xfrm>
            <a:off x="1005840" y="2286000"/>
            <a:ext cx="40233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figure52" descr="가: 흰색 큰 종이"/>
          <p:cNvSpPr/>
          <p:nvPr/>
        </p:nvSpPr>
        <p:spPr>
          <a:xfrm>
            <a:off x="1005840" y="2286000"/>
            <a:ext cx="402336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7-cell53"/>
          <p:cNvSpPr/>
          <p:nvPr/>
        </p:nvSpPr>
        <p:spPr>
          <a:xfrm>
            <a:off x="1005840" y="2286000"/>
            <a:ext cx="2377440" cy="1645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figure54" descr="나: 가 위에 겹친 주황 작은 종이"/>
          <p:cNvSpPr/>
          <p:nvPr/>
        </p:nvSpPr>
        <p:spPr>
          <a:xfrm>
            <a:off x="1005840" y="2286000"/>
            <a:ext cx="237744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7-text55"/>
          <p:cNvSpPr txBox="1"/>
          <p:nvPr/>
        </p:nvSpPr>
        <p:spPr>
          <a:xfrm>
            <a:off x="100584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2" name="S07-text56"/>
          <p:cNvSpPr txBox="1"/>
          <p:nvPr/>
        </p:nvSpPr>
        <p:spPr>
          <a:xfrm>
            <a:off x="338328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13" name="S07-text57"/>
          <p:cNvSpPr txBox="1"/>
          <p:nvPr/>
        </p:nvSpPr>
        <p:spPr>
          <a:xfrm>
            <a:off x="62179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3200" dirty="0"/>
          </a:p>
        </p:txBody>
      </p:sp>
      <p:sp>
        <p:nvSpPr>
          <p:cNvPr id="14" name="S07-cell58"/>
          <p:cNvSpPr/>
          <p:nvPr/>
        </p:nvSpPr>
        <p:spPr>
          <a:xfrm>
            <a:off x="6766560" y="2286000"/>
            <a:ext cx="4023360" cy="23774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7-figure59" descr="다: 주황 큰 종이"/>
          <p:cNvSpPr/>
          <p:nvPr/>
        </p:nvSpPr>
        <p:spPr>
          <a:xfrm>
            <a:off x="6766560" y="2286000"/>
            <a:ext cx="402336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7-cell60"/>
          <p:cNvSpPr/>
          <p:nvPr/>
        </p:nvSpPr>
        <p:spPr>
          <a:xfrm>
            <a:off x="6766560" y="228600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figure61" descr="라: 다 위에 겹친 흰색 작은 종이"/>
          <p:cNvSpPr/>
          <p:nvPr/>
        </p:nvSpPr>
        <p:spPr>
          <a:xfrm>
            <a:off x="6766560" y="2286000"/>
            <a:ext cx="20116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7-text62"/>
          <p:cNvSpPr txBox="1"/>
          <p:nvPr/>
        </p:nvSpPr>
        <p:spPr>
          <a:xfrm>
            <a:off x="676656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9" name="S07-text63"/>
          <p:cNvSpPr txBox="1"/>
          <p:nvPr/>
        </p:nvSpPr>
        <p:spPr>
          <a:xfrm>
            <a:off x="877824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컵에 더 많을까요?</a:t>
            </a:r>
            <a:endParaRPr lang="ko-KR" sz="4400" dirty="0"/>
          </a:p>
        </p:txBody>
      </p:sp>
      <p:sp>
        <p:nvSpPr>
          <p:cNvPr id="3" name="S08-card6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6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컵의 주스가 더 많아요.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똑같은 컵이면 높이 찬 쪽이 더 많아요.</a:t>
            </a:r>
            <a:endParaRPr lang="ko-KR" sz="3200" dirty="0"/>
          </a:p>
        </p:txBody>
      </p:sp>
      <p:sp>
        <p:nvSpPr>
          <p:cNvPr id="5" name="S08-text66"/>
          <p:cNvSpPr txBox="1"/>
          <p:nvPr/>
        </p:nvSpPr>
        <p:spPr>
          <a:xfrm>
            <a:off x="356616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컵</a:t>
            </a:r>
            <a:endParaRPr lang="ko-KR" sz="3200" dirty="0"/>
          </a:p>
        </p:txBody>
      </p:sp>
      <p:sp>
        <p:nvSpPr>
          <p:cNvPr id="6" name="S08-cell67"/>
          <p:cNvSpPr/>
          <p:nvPr/>
        </p:nvSpPr>
        <p:spPr>
          <a:xfrm>
            <a:off x="3657600" y="20116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8-cell68"/>
          <p:cNvSpPr/>
          <p:nvPr/>
        </p:nvSpPr>
        <p:spPr>
          <a:xfrm>
            <a:off x="3657600" y="24688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cell69"/>
          <p:cNvSpPr/>
          <p:nvPr/>
        </p:nvSpPr>
        <p:spPr>
          <a:xfrm>
            <a:off x="3657600" y="29260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cell70"/>
          <p:cNvSpPr/>
          <p:nvPr/>
        </p:nvSpPr>
        <p:spPr>
          <a:xfrm>
            <a:off x="3657600" y="33832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cell71"/>
          <p:cNvSpPr/>
          <p:nvPr/>
        </p:nvSpPr>
        <p:spPr>
          <a:xfrm>
            <a:off x="3657600" y="38404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cell72"/>
          <p:cNvSpPr/>
          <p:nvPr/>
        </p:nvSpPr>
        <p:spPr>
          <a:xfrm>
            <a:off x="3657600" y="42976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figure73" descr="똑같은 가 컵, 6칸 중 아래 4칸만큼 주스가 담김"/>
          <p:cNvSpPr/>
          <p:nvPr/>
        </p:nvSpPr>
        <p:spPr>
          <a:xfrm>
            <a:off x="3657600" y="2011680"/>
            <a:ext cx="12801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8-text74"/>
          <p:cNvSpPr txBox="1"/>
          <p:nvPr/>
        </p:nvSpPr>
        <p:spPr>
          <a:xfrm>
            <a:off x="713232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컵</a:t>
            </a:r>
            <a:endParaRPr lang="ko-KR" sz="3200" dirty="0"/>
          </a:p>
        </p:txBody>
      </p:sp>
      <p:sp>
        <p:nvSpPr>
          <p:cNvPr id="14" name="S08-cell75"/>
          <p:cNvSpPr/>
          <p:nvPr/>
        </p:nvSpPr>
        <p:spPr>
          <a:xfrm>
            <a:off x="7223760" y="20116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8-cell76"/>
          <p:cNvSpPr/>
          <p:nvPr/>
        </p:nvSpPr>
        <p:spPr>
          <a:xfrm>
            <a:off x="7223760" y="24688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8-cell77"/>
          <p:cNvSpPr/>
          <p:nvPr/>
        </p:nvSpPr>
        <p:spPr>
          <a:xfrm>
            <a:off x="7223760" y="29260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8-cell78"/>
          <p:cNvSpPr/>
          <p:nvPr/>
        </p:nvSpPr>
        <p:spPr>
          <a:xfrm>
            <a:off x="7223760" y="33832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8-cell79"/>
          <p:cNvSpPr/>
          <p:nvPr/>
        </p:nvSpPr>
        <p:spPr>
          <a:xfrm>
            <a:off x="7223760" y="38404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8-cell80"/>
          <p:cNvSpPr/>
          <p:nvPr/>
        </p:nvSpPr>
        <p:spPr>
          <a:xfrm>
            <a:off x="7223760" y="42976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8-figure81" descr="똑같은 나 컵, 6칸 중 아래 2칸만큼 주스가 담김"/>
          <p:cNvSpPr/>
          <p:nvPr/>
        </p:nvSpPr>
        <p:spPr>
          <a:xfrm>
            <a:off x="7223760" y="2011680"/>
            <a:ext cx="12801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 부어 봐요</a:t>
            </a:r>
            <a:endParaRPr lang="ko-KR" sz="4400" dirty="0"/>
          </a:p>
        </p:txBody>
      </p:sp>
      <p:sp>
        <p:nvSpPr>
          <p:cNvPr id="3" name="S09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담을 수 있는 양은 ‘더 많다, 더 적다’로 말해요.</a:t>
            </a:r>
            <a:endParaRPr lang="ko-KR" sz="3200" dirty="0"/>
          </a:p>
        </p:txBody>
      </p:sp>
      <p:sp>
        <p:nvSpPr>
          <p:cNvPr id="5" name="S09-stepno84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85"/>
          <p:cNvSpPr txBox="1"/>
          <p:nvPr/>
        </p:nvSpPr>
        <p:spPr>
          <a:xfrm>
            <a:off x="1325880" y="22357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그릇에 물을 가득 채워요.</a:t>
            </a:r>
            <a:endParaRPr lang="ko-KR" sz="3200" dirty="0"/>
          </a:p>
        </p:txBody>
      </p:sp>
      <p:sp>
        <p:nvSpPr>
          <p:cNvPr id="7" name="S09-stepno86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87"/>
          <p:cNvSpPr txBox="1"/>
          <p:nvPr/>
        </p:nvSpPr>
        <p:spPr>
          <a:xfrm>
            <a:off x="1325880" y="29489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그릇에 옮겨 부어요.</a:t>
            </a:r>
            <a:endParaRPr lang="ko-KR" sz="3200" dirty="0"/>
          </a:p>
        </p:txBody>
      </p:sp>
      <p:sp>
        <p:nvSpPr>
          <p:cNvPr id="9" name="S09-stepno88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89"/>
          <p:cNvSpPr txBox="1"/>
          <p:nvPr/>
        </p:nvSpPr>
        <p:spPr>
          <a:xfrm>
            <a:off x="1325880" y="36621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넘치면 가 그릇에 더 많이 담겨요.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컵에 더 많이 담길까요?</a:t>
            </a:r>
            <a:endParaRPr lang="ko-KR" sz="4400" dirty="0"/>
          </a:p>
        </p:txBody>
      </p:sp>
      <p:sp>
        <p:nvSpPr>
          <p:cNvPr id="3" name="S10-text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가득 채워 옮겨 부었어요.</a:t>
            </a:r>
            <a:endParaRPr lang="ko-KR" sz="3200" dirty="0"/>
          </a:p>
        </p:txBody>
      </p:sp>
      <p:sp>
        <p:nvSpPr>
          <p:cNvPr id="4" name="S10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많이 담을 수 있는 컵은 어느 것일까요?</a:t>
            </a:r>
            <a:endParaRPr lang="ko-KR" sz="3200" dirty="0"/>
          </a:p>
        </p:txBody>
      </p:sp>
      <p:sp>
        <p:nvSpPr>
          <p:cNvPr id="6" name="S10-chip9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text94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컵의 물을 나 컵에 부었더니 넘쳤어요.</a:t>
            </a:r>
            <a:endParaRPr lang="ko-KR" sz="3200" dirty="0"/>
          </a:p>
        </p:txBody>
      </p:sp>
      <p:sp>
        <p:nvSpPr>
          <p:cNvPr id="8" name="S10-chip95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ext96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컵의 물을 라 컵에 부었더니 다 차지 않았어요.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chip9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1-text9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책가방과 지우개, 더 가벼운 것은?</a:t>
            </a:r>
            <a:endParaRPr lang="ko-KR" sz="3200" dirty="0"/>
          </a:p>
        </p:txBody>
      </p:sp>
      <p:sp>
        <p:nvSpPr>
          <p:cNvPr id="5" name="S11-chip9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1-text10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식탁과 방석, 더 좁은 것은?</a:t>
            </a:r>
            <a:endParaRPr lang="ko-KR" sz="3200" dirty="0"/>
          </a:p>
        </p:txBody>
      </p:sp>
      <p:sp>
        <p:nvSpPr>
          <p:cNvPr id="7" name="S11-chip10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11-text10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냄비와 컵, 물이 더 많이 담기는 것은?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2-card103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04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맞아도 확인하는 방법(들기, 겹치기, 붓기)을 말하게 하세요.</a:t>
            </a:r>
            <a:endParaRPr lang="ko-KR" sz="3200" dirty="0"/>
          </a:p>
        </p:txBody>
      </p:sp>
      <p:sp>
        <p:nvSpPr>
          <p:cNvPr id="5" name="S12-chip10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106"/>
          <p:cNvSpPr txBox="1"/>
          <p:nvPr/>
        </p:nvSpPr>
        <p:spPr>
          <a:xfrm>
            <a:off x="548640" y="2057400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지우개</a:t>
            </a:r>
            <a:endParaRPr lang="ko-KR" sz="3200" dirty="0"/>
          </a:p>
        </p:txBody>
      </p:sp>
      <p:sp>
        <p:nvSpPr>
          <p:cNvPr id="7" name="S12-text107"/>
          <p:cNvSpPr txBox="1"/>
          <p:nvPr/>
        </p:nvSpPr>
        <p:spPr>
          <a:xfrm>
            <a:off x="3367278" y="2057400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 보기</a:t>
            </a:r>
            <a:endParaRPr lang="ko-KR" sz="2600" dirty="0"/>
          </a:p>
        </p:txBody>
      </p:sp>
      <p:sp>
        <p:nvSpPr>
          <p:cNvPr id="8" name="S12-text108"/>
          <p:cNvSpPr txBox="1"/>
          <p:nvPr/>
        </p:nvSpPr>
        <p:spPr>
          <a:xfrm>
            <a:off x="548640" y="2973493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방석</a:t>
            </a:r>
            <a:endParaRPr lang="ko-KR" sz="3200" dirty="0"/>
          </a:p>
        </p:txBody>
      </p:sp>
      <p:sp>
        <p:nvSpPr>
          <p:cNvPr id="9" name="S12-text109"/>
          <p:cNvSpPr txBox="1"/>
          <p:nvPr/>
        </p:nvSpPr>
        <p:spPr>
          <a:xfrm>
            <a:off x="3367278" y="2973493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겹쳐 보기</a:t>
            </a:r>
            <a:endParaRPr lang="ko-KR" sz="2600" dirty="0"/>
          </a:p>
        </p:txBody>
      </p:sp>
      <p:sp>
        <p:nvSpPr>
          <p:cNvPr id="10" name="S12-text110"/>
          <p:cNvSpPr txBox="1"/>
          <p:nvPr/>
        </p:nvSpPr>
        <p:spPr>
          <a:xfrm>
            <a:off x="548640" y="3889587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냄비</a:t>
            </a:r>
            <a:endParaRPr lang="ko-KR" sz="3200" dirty="0"/>
          </a:p>
        </p:txBody>
      </p:sp>
      <p:sp>
        <p:nvSpPr>
          <p:cNvPr id="11" name="S12-text111"/>
          <p:cNvSpPr txBox="1"/>
          <p:nvPr/>
        </p:nvSpPr>
        <p:spPr>
          <a:xfrm>
            <a:off x="3367278" y="3889587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 붓기</a:t>
            </a:r>
            <a:endParaRPr lang="ko-KR" sz="2600" dirty="0"/>
          </a:p>
        </p:txBody>
      </p:sp>
      <p:sp>
        <p:nvSpPr>
          <p:cNvPr id="12" name="S12-chip11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2-text11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책가방</a:t>
            </a:r>
            <a:endParaRPr lang="ko-KR" sz="3200" dirty="0"/>
          </a:p>
        </p:txBody>
      </p:sp>
      <p:sp>
        <p:nvSpPr>
          <p:cNvPr id="14" name="S12-text11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무거운 쪽</a:t>
            </a:r>
            <a:endParaRPr lang="ko-KR" sz="2600" dirty="0"/>
          </a:p>
        </p:txBody>
      </p:sp>
      <p:sp>
        <p:nvSpPr>
          <p:cNvPr id="15" name="S12-text11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방석이 작아요</a:t>
            </a:r>
            <a:endParaRPr lang="ko-KR" sz="3200" dirty="0"/>
          </a:p>
        </p:txBody>
      </p:sp>
      <p:sp>
        <p:nvSpPr>
          <p:cNvPr id="16" name="S12-text11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‘좁다’로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적게 담긴 컵은?</a:t>
            </a:r>
            <a:endParaRPr lang="ko-KR" sz="4400" dirty="0"/>
          </a:p>
        </p:txBody>
      </p:sp>
      <p:sp>
        <p:nvSpPr>
          <p:cNvPr id="3" name="S13-card117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118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똑같은 컵 세 개예요. 물이 가장 적은 컵은?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말해요.</a:t>
            </a:r>
            <a:endParaRPr lang="ko-KR" sz="3200" dirty="0"/>
          </a:p>
        </p:txBody>
      </p:sp>
      <p:sp>
        <p:nvSpPr>
          <p:cNvPr id="5" name="S13-text119"/>
          <p:cNvSpPr txBox="1"/>
          <p:nvPr/>
        </p:nvSpPr>
        <p:spPr>
          <a:xfrm>
            <a:off x="265176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3-cell120"/>
          <p:cNvSpPr/>
          <p:nvPr/>
        </p:nvSpPr>
        <p:spPr>
          <a:xfrm>
            <a:off x="2743200" y="20116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3-cell121"/>
          <p:cNvSpPr/>
          <p:nvPr/>
        </p:nvSpPr>
        <p:spPr>
          <a:xfrm>
            <a:off x="2743200" y="24688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3-cell122"/>
          <p:cNvSpPr/>
          <p:nvPr/>
        </p:nvSpPr>
        <p:spPr>
          <a:xfrm>
            <a:off x="2743200" y="29260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3-cell123"/>
          <p:cNvSpPr/>
          <p:nvPr/>
        </p:nvSpPr>
        <p:spPr>
          <a:xfrm>
            <a:off x="2743200" y="33832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3-cell124"/>
          <p:cNvSpPr/>
          <p:nvPr/>
        </p:nvSpPr>
        <p:spPr>
          <a:xfrm>
            <a:off x="2743200" y="38404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3-cell125"/>
          <p:cNvSpPr/>
          <p:nvPr/>
        </p:nvSpPr>
        <p:spPr>
          <a:xfrm>
            <a:off x="2743200" y="42976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figure126" descr="똑같은 가 컵, 6칸 중 아래 4칸만큼 물이 담김"/>
          <p:cNvSpPr/>
          <p:nvPr/>
        </p:nvSpPr>
        <p:spPr>
          <a:xfrm>
            <a:off x="2743200" y="2011680"/>
            <a:ext cx="12801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3-text127"/>
          <p:cNvSpPr txBox="1"/>
          <p:nvPr/>
        </p:nvSpPr>
        <p:spPr>
          <a:xfrm>
            <a:off x="539496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4" name="S13-cell128"/>
          <p:cNvSpPr/>
          <p:nvPr/>
        </p:nvSpPr>
        <p:spPr>
          <a:xfrm>
            <a:off x="5486400" y="20116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3-cell129"/>
          <p:cNvSpPr/>
          <p:nvPr/>
        </p:nvSpPr>
        <p:spPr>
          <a:xfrm>
            <a:off x="5486400" y="24688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3-cell130"/>
          <p:cNvSpPr/>
          <p:nvPr/>
        </p:nvSpPr>
        <p:spPr>
          <a:xfrm>
            <a:off x="5486400" y="29260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cell131"/>
          <p:cNvSpPr/>
          <p:nvPr/>
        </p:nvSpPr>
        <p:spPr>
          <a:xfrm>
            <a:off x="5486400" y="33832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3-cell132"/>
          <p:cNvSpPr/>
          <p:nvPr/>
        </p:nvSpPr>
        <p:spPr>
          <a:xfrm>
            <a:off x="5486400" y="38404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3-cell133"/>
          <p:cNvSpPr/>
          <p:nvPr/>
        </p:nvSpPr>
        <p:spPr>
          <a:xfrm>
            <a:off x="5486400" y="42976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3-figure134" descr="똑같은 나 컵, 6칸 중 아래 5칸만큼 물이 담김"/>
          <p:cNvSpPr/>
          <p:nvPr/>
        </p:nvSpPr>
        <p:spPr>
          <a:xfrm>
            <a:off x="5486400" y="2011680"/>
            <a:ext cx="12801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13-text135"/>
          <p:cNvSpPr txBox="1"/>
          <p:nvPr/>
        </p:nvSpPr>
        <p:spPr>
          <a:xfrm>
            <a:off x="813816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22" name="S13-cell136"/>
          <p:cNvSpPr/>
          <p:nvPr/>
        </p:nvSpPr>
        <p:spPr>
          <a:xfrm>
            <a:off x="8229600" y="20116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3-cell137"/>
          <p:cNvSpPr/>
          <p:nvPr/>
        </p:nvSpPr>
        <p:spPr>
          <a:xfrm>
            <a:off x="8229600" y="24688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3-cell138"/>
          <p:cNvSpPr/>
          <p:nvPr/>
        </p:nvSpPr>
        <p:spPr>
          <a:xfrm>
            <a:off x="8229600" y="29260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3-cell139"/>
          <p:cNvSpPr/>
          <p:nvPr/>
        </p:nvSpPr>
        <p:spPr>
          <a:xfrm>
            <a:off x="8229600" y="33832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3-cell140"/>
          <p:cNvSpPr/>
          <p:nvPr/>
        </p:nvSpPr>
        <p:spPr>
          <a:xfrm>
            <a:off x="8229600" y="38404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3-cell141"/>
          <p:cNvSpPr/>
          <p:nvPr/>
        </p:nvSpPr>
        <p:spPr>
          <a:xfrm>
            <a:off x="8229600" y="42976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3-figure142" descr="똑같은 다 컵, 6칸 중 아래 2칸만큼 물이 담김"/>
          <p:cNvSpPr/>
          <p:nvPr/>
        </p:nvSpPr>
        <p:spPr>
          <a:xfrm>
            <a:off x="8229600" y="2011680"/>
            <a:ext cx="12801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4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4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 보고, 겹쳐 보고, 옮겨 부어 비교해요.</a:t>
            </a:r>
            <a:endParaRPr lang="ko-KR" sz="3200" dirty="0"/>
          </a:p>
        </p:txBody>
      </p:sp>
      <p:sp>
        <p:nvSpPr>
          <p:cNvPr id="5" name="S14-chip145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직접 해 보고 비교하기</a:t>
            </a:r>
            <a:endParaRPr lang="ko-KR" sz="2600" dirty="0"/>
          </a:p>
        </p:txBody>
      </p:sp>
      <p:sp>
        <p:nvSpPr>
          <p:cNvPr id="6" name="S14-chip146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크기만 보고 정하기</a:t>
            </a:r>
            <a:endParaRPr lang="ko-KR" sz="2600" dirty="0"/>
          </a:p>
        </p:txBody>
      </p:sp>
      <p:sp>
        <p:nvSpPr>
          <p:cNvPr id="7" name="S14-text147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148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베개와 지우개, 더 가벼운 것은?</a:t>
            </a:r>
            <a:endParaRPr lang="ko-KR" sz="2600" dirty="0"/>
          </a:p>
        </p:txBody>
      </p:sp>
      <p:sp>
        <p:nvSpPr>
          <p:cNvPr id="9" name="S14-text149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손수건과 이불, 더 넓은 것은?</a:t>
            </a:r>
            <a:endParaRPr lang="ko-KR" sz="2600" dirty="0"/>
          </a:p>
        </p:txBody>
      </p:sp>
      <p:sp>
        <p:nvSpPr>
          <p:cNvPr id="10" name="S14-text150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넘쳤다면 어느 그릇이 더 많이 담아요?</a:t>
            </a:r>
            <a:endParaRPr lang="ko-KR" sz="2600" dirty="0"/>
          </a:p>
        </p:txBody>
      </p:sp>
      <p:sp>
        <p:nvSpPr>
          <p:cNvPr id="11" name="S14-text15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몇 시와 몇 시 30분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끝을 맞춰 비교해요</a:t>
            </a:r>
            <a:endParaRPr lang="ko-KR" sz="4400" dirty="0"/>
          </a:p>
        </p:txBody>
      </p:sp>
      <p:sp>
        <p:nvSpPr>
          <p:cNvPr id="3" name="S15-text1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끝을 맞추고 오른쪽 끝을 봐요.</a:t>
            </a:r>
            <a:endParaRPr lang="ko-KR" sz="3200" dirty="0"/>
          </a:p>
        </p:txBody>
      </p:sp>
      <p:sp>
        <p:nvSpPr>
          <p:cNvPr id="4" name="S15-card15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5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띠가 나 띠보다 더 길어요.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띠는 가 띠보다 더 짧아요.</a:t>
            </a:r>
            <a:endParaRPr lang="ko-KR" sz="3200" dirty="0"/>
          </a:p>
        </p:txBody>
      </p:sp>
      <p:sp>
        <p:nvSpPr>
          <p:cNvPr id="6" name="S15-text155"/>
          <p:cNvSpPr txBox="1"/>
          <p:nvPr/>
        </p:nvSpPr>
        <p:spPr>
          <a:xfrm>
            <a:off x="54864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띠</a:t>
            </a:r>
            <a:endParaRPr lang="ko-KR" sz="3200" dirty="0"/>
          </a:p>
        </p:txBody>
      </p:sp>
      <p:sp>
        <p:nvSpPr>
          <p:cNvPr id="7" name="S15-cell156"/>
          <p:cNvSpPr/>
          <p:nvPr/>
        </p:nvSpPr>
        <p:spPr>
          <a:xfrm>
            <a:off x="2560320" y="2194560"/>
            <a:ext cx="59436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5-figure157" descr="가 띠, 왼쪽 끝을 맞춤"/>
          <p:cNvSpPr/>
          <p:nvPr/>
        </p:nvSpPr>
        <p:spPr>
          <a:xfrm>
            <a:off x="2560320" y="2194560"/>
            <a:ext cx="59436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15-text158"/>
          <p:cNvSpPr txBox="1"/>
          <p:nvPr/>
        </p:nvSpPr>
        <p:spPr>
          <a:xfrm>
            <a:off x="548640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띠</a:t>
            </a:r>
            <a:endParaRPr lang="ko-KR" sz="3200" dirty="0"/>
          </a:p>
        </p:txBody>
      </p:sp>
      <p:sp>
        <p:nvSpPr>
          <p:cNvPr id="10" name="S15-cell159"/>
          <p:cNvSpPr/>
          <p:nvPr/>
        </p:nvSpPr>
        <p:spPr>
          <a:xfrm>
            <a:off x="2560320" y="3108960"/>
            <a:ext cx="41148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5-figure160" descr="나 띠, 왼쪽 끝을 맞춤"/>
          <p:cNvSpPr/>
          <p:nvPr/>
        </p:nvSpPr>
        <p:spPr>
          <a:xfrm>
            <a:off x="2560320" y="3108960"/>
            <a:ext cx="41148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15-guide161"/>
          <p:cNvSpPr/>
          <p:nvPr/>
        </p:nvSpPr>
        <p:spPr>
          <a:xfrm>
            <a:off x="2560320" y="2011680"/>
            <a:ext cx="0" cy="182880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무게·넓이·담을 수 있는 양 비교</dc:title>
  <dc:subject>KR22-G01-MAT-COMPARE-L01</dc:subject>
  <dc:creator>education-ppt</dc:creator>
  <cp:lastModifiedBy>education-ppt</cp:lastModifiedBy>
  <cp:revision>1</cp:revision>
  <dcterms:created xsi:type="dcterms:W3CDTF">2026-10-26T06:58:19Z</dcterms:created>
  <dcterms:modified xsi:type="dcterms:W3CDTF">2026-10-26T06:58:19Z</dcterms:modified>
</cp:coreProperties>
</file>