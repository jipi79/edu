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24d43f8-3a8b-21ba-5e49-cba371202baa}">
          <p14:sldIdLst>
            <p14:sldId id="256"/>
            <p14:sldId id="257"/>
          </p14:sldIdLst>
        </p14:section>
        <p14:section name="개념" id="{4738fd05-3c99-b4e0-357d-dd8ee1c22c3b}">
          <p14:sldIdLst>
            <p14:sldId id="258"/>
            <p14:sldId id="261"/>
            <p14:sldId id="263"/>
            <p14:sldId id="264"/>
          </p14:sldIdLst>
        </p14:section>
        <p14:section name="연습" id="{684779aa-b2c1-df13-cf15-6639ab5cd781}">
          <p14:sldIdLst>
            <p14:sldId id="259"/>
            <p14:sldId id="260"/>
            <p14:sldId id="262"/>
            <p14:sldId id="265"/>
          </p14:sldIdLst>
        </p14:section>
        <p14:section name="개념" id="{95336997-a816-ee36-bef7-95c64e913125}">
          <p14:sldIdLst/>
        </p14:section>
        <p14:section name="연습" id="{9db90822-01ea-168e-5273-1212c52939a9}">
          <p14:sldIdLst/>
        </p14:section>
        <p14:section name="개념" id="{2d9cdf53-e602-e5c3-0b86-04e1f80bb274}">
          <p14:sldIdLst/>
        </p14:section>
        <p14:section name="연습" id="{18d2da92-69de-c1e5-62c8-f9b27fa7a42c}">
          <p14:sldIdLst/>
        </p14:section>
        <p14:section name="확인" id="{81428e08-c7da-1840-e17c-f75ae1ad212e}">
          <p14:sldIdLst>
            <p14:sldId id="266"/>
            <p14:sldId id="267"/>
          </p14:sldIdLst>
        </p14:section>
        <p14:section name="정리" id="{c30bbd20-618c-8b4f-ac48-16b132e3d71b}">
          <p14:sldIdLst>
            <p14:sldId id="268"/>
          </p14:sldIdLst>
        </p14:section>
        <p14:section name="보충" id="{25be3bcf-2acf-8f3a-c34b-c891fe8d8fb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무게·넓이·담을 수 있는 양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무게·넓이·양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무거울까? 더 넓을까?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9159240" y="640080"/>
            <a:ext cx="975360" cy="975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9159240" y="1615440"/>
            <a:ext cx="975360" cy="975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9159240" y="2590800"/>
            <a:ext cx="975360" cy="975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아래 두 칸만큼 물이 담긴 컵"/>
          <p:cNvSpPr/>
          <p:nvPr/>
        </p:nvSpPr>
        <p:spPr>
          <a:xfrm>
            <a:off x="9159240" y="640080"/>
            <a:ext cx="97536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무게와 넓이를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담을 수 있는 양을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비교할 때 먼저 할 일은?</a:t>
            </a:r>
            <a:endParaRPr lang="ko-KR" sz="32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나보다 키가 더 ○○.</a:t>
            </a:r>
            <a:endParaRPr lang="ko-KR" sz="32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탑의 높이는 어떤 말로 비교해요?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 달아 봐요</a:t>
            </a:r>
            <a:endParaRPr lang="ko-KR" sz="4400" dirty="0"/>
          </a:p>
        </p:txBody>
      </p:sp>
      <p:sp>
        <p:nvSpPr>
          <p:cNvPr id="3" name="S03-card1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 공책보다 더 무거워요.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공책은 책보다 더 가벼워요.</a:t>
            </a:r>
            <a:endParaRPr lang="ko-KR" sz="3200" dirty="0"/>
          </a:p>
        </p:txBody>
      </p:sp>
      <p:sp>
        <p:nvSpPr>
          <p:cNvPr id="5" name="S03-stepno15"/>
          <p:cNvSpPr txBox="1"/>
          <p:nvPr/>
        </p:nvSpPr>
        <p:spPr>
          <a:xfrm>
            <a:off x="548640" y="20180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6"/>
          <p:cNvSpPr txBox="1"/>
          <p:nvPr/>
        </p:nvSpPr>
        <p:spPr>
          <a:xfrm>
            <a:off x="1325880" y="201803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양손에 하나씩 들어 봐요.</a:t>
            </a:r>
            <a:endParaRPr lang="ko-KR" sz="3200" dirty="0"/>
          </a:p>
        </p:txBody>
      </p:sp>
      <p:sp>
        <p:nvSpPr>
          <p:cNvPr id="7" name="S03-stepno17"/>
          <p:cNvSpPr txBox="1"/>
          <p:nvPr/>
        </p:nvSpPr>
        <p:spPr>
          <a:xfrm>
            <a:off x="548640" y="27312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8"/>
          <p:cNvSpPr txBox="1"/>
          <p:nvPr/>
        </p:nvSpPr>
        <p:spPr>
          <a:xfrm>
            <a:off x="1325880" y="273126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 저울에 달아 봐요.</a:t>
            </a:r>
            <a:endParaRPr lang="ko-KR" sz="3200" dirty="0"/>
          </a:p>
        </p:txBody>
      </p:sp>
      <p:sp>
        <p:nvSpPr>
          <p:cNvPr id="9" name="S03-stepno19"/>
          <p:cNvSpPr txBox="1"/>
          <p:nvPr/>
        </p:nvSpPr>
        <p:spPr>
          <a:xfrm>
            <a:off x="548640" y="34444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20"/>
          <p:cNvSpPr txBox="1"/>
          <p:nvPr/>
        </p:nvSpPr>
        <p:spPr>
          <a:xfrm>
            <a:off x="1325880" y="344449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내려간 쪽이 더 무거워요.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무거울까요?</a:t>
            </a:r>
            <a:endParaRPr lang="ko-KR" sz="44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 문장으로 말해요.</a:t>
            </a:r>
            <a:endParaRPr lang="ko-KR" sz="32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‘○○가 ○○보다 더 무거워요’로 말해요.</a:t>
            </a:r>
            <a:endParaRPr lang="ko-KR" sz="3200" dirty="0"/>
          </a:p>
        </p:txBody>
      </p:sp>
      <p:sp>
        <p:nvSpPr>
          <p:cNvPr id="6" name="S04-chip2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책과 지우개</a:t>
            </a:r>
            <a:endParaRPr lang="ko-KR" sz="3200" dirty="0"/>
          </a:p>
        </p:txBody>
      </p:sp>
      <p:sp>
        <p:nvSpPr>
          <p:cNvPr id="8" name="S04-chip2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컵과 빈 컵</a:t>
            </a:r>
            <a:endParaRPr lang="ko-KR" sz="3200" dirty="0"/>
          </a:p>
        </p:txBody>
      </p:sp>
      <p:sp>
        <p:nvSpPr>
          <p:cNvPr id="10" name="S04-chip2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사과와 딸기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크면 더 무거울까요?</a:t>
            </a:r>
            <a:endParaRPr lang="ko-KR" sz="4400" dirty="0"/>
          </a:p>
        </p:txBody>
      </p:sp>
      <p:sp>
        <p:nvSpPr>
          <p:cNvPr id="3" name="S05-card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“큰 것이 항상 더 무거워요.”</a:t>
            </a:r>
            <a:endParaRPr lang="ko-KR" sz="3200" dirty="0"/>
          </a:p>
        </p:txBody>
      </p:sp>
      <p:sp>
        <p:nvSpPr>
          <p:cNvPr id="5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들어 보고 토끼의 말이 맞는지 말해요.</a:t>
            </a:r>
            <a:endParaRPr lang="ko-KR" sz="3200" dirty="0"/>
          </a:p>
        </p:txBody>
      </p:sp>
      <p:sp>
        <p:nvSpPr>
          <p:cNvPr id="7" name="S05-chip3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휴지 상자</a:t>
            </a:r>
            <a:endParaRPr lang="ko-KR" sz="2600" dirty="0"/>
          </a:p>
        </p:txBody>
      </p:sp>
      <p:sp>
        <p:nvSpPr>
          <p:cNvPr id="8" name="S05-text3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커요.</a:t>
            </a:r>
            <a:endParaRPr lang="ko-KR" sz="3200" dirty="0"/>
          </a:p>
        </p:txBody>
      </p:sp>
      <p:sp>
        <p:nvSpPr>
          <p:cNvPr id="9" name="S05-chip3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작은 병</a:t>
            </a:r>
            <a:endParaRPr lang="ko-KR" sz="2600" dirty="0"/>
          </a:p>
        </p:txBody>
      </p:sp>
      <p:sp>
        <p:nvSpPr>
          <p:cNvPr id="10" name="S05-text3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작아요.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겹쳐 봐요</a:t>
            </a:r>
            <a:endParaRPr lang="ko-KR" sz="4400" dirty="0"/>
          </a:p>
        </p:txBody>
      </p:sp>
      <p:sp>
        <p:nvSpPr>
          <p:cNvPr id="3" name="S06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모서리를 맞춰 겹쳐요.</a:t>
            </a:r>
            <a:endParaRPr lang="ko-KR" sz="3200" dirty="0"/>
          </a:p>
        </p:txBody>
      </p:sp>
      <p:sp>
        <p:nvSpPr>
          <p:cNvPr id="4" name="S06-card3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공책이 색종이보다 더 넓어요.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겹쳤을 때 남는 쪽이 더 넓어요.</a:t>
            </a:r>
            <a:endParaRPr lang="ko-KR" sz="3200" dirty="0"/>
          </a:p>
        </p:txBody>
      </p:sp>
      <p:sp>
        <p:nvSpPr>
          <p:cNvPr id="6" name="S06-cell41"/>
          <p:cNvSpPr/>
          <p:nvPr/>
        </p:nvSpPr>
        <p:spPr>
          <a:xfrm>
            <a:off x="3474720" y="2103120"/>
            <a:ext cx="4937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figure42" descr="공책: 흰색 큰 직사각형"/>
          <p:cNvSpPr/>
          <p:nvPr/>
        </p:nvSpPr>
        <p:spPr>
          <a:xfrm>
            <a:off x="3474720" y="2103120"/>
            <a:ext cx="493776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cell43"/>
          <p:cNvSpPr/>
          <p:nvPr/>
        </p:nvSpPr>
        <p:spPr>
          <a:xfrm>
            <a:off x="3474720" y="2103120"/>
            <a:ext cx="2377440" cy="23774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figure44" descr="색종이: 공책 왼쪽 위 모서리에 맞춰 겹친 주황 정사각형"/>
          <p:cNvSpPr/>
          <p:nvPr/>
        </p:nvSpPr>
        <p:spPr>
          <a:xfrm>
            <a:off x="3474720" y="21031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text45"/>
          <p:cNvSpPr txBox="1"/>
          <p:nvPr/>
        </p:nvSpPr>
        <p:spPr>
          <a:xfrm>
            <a:off x="347472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</a:t>
            </a:r>
            <a:endParaRPr lang="ko-KR" sz="3200" dirty="0"/>
          </a:p>
        </p:txBody>
      </p:sp>
      <p:sp>
        <p:nvSpPr>
          <p:cNvPr id="11" name="S06-text46"/>
          <p:cNvSpPr txBox="1"/>
          <p:nvPr/>
        </p:nvSpPr>
        <p:spPr>
          <a:xfrm>
            <a:off x="585216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넓은 것은?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겹친 두 종이예요.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‘○가 ○보다 더 넓어요’로 말해요.</a:t>
            </a:r>
            <a:endParaRPr lang="ko-KR" sz="3200" dirty="0"/>
          </a:p>
        </p:txBody>
      </p:sp>
      <p:sp>
        <p:nvSpPr>
          <p:cNvPr id="6" name="S07-text50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3200" dirty="0"/>
          </a:p>
        </p:txBody>
      </p:sp>
      <p:sp>
        <p:nvSpPr>
          <p:cNvPr id="7" name="S07-cell51"/>
          <p:cNvSpPr/>
          <p:nvPr/>
        </p:nvSpPr>
        <p:spPr>
          <a:xfrm>
            <a:off x="1005840" y="2286000"/>
            <a:ext cx="40233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figure52" descr="가: 흰색 큰 종이"/>
          <p:cNvSpPr/>
          <p:nvPr/>
        </p:nvSpPr>
        <p:spPr>
          <a:xfrm>
            <a:off x="1005840" y="2286000"/>
            <a:ext cx="402336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cell53"/>
          <p:cNvSpPr/>
          <p:nvPr/>
        </p:nvSpPr>
        <p:spPr>
          <a:xfrm>
            <a:off x="1005840" y="2286000"/>
            <a:ext cx="2377440" cy="1645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figure54" descr="나: 가 위에 겹친 주황 작은 종이"/>
          <p:cNvSpPr/>
          <p:nvPr/>
        </p:nvSpPr>
        <p:spPr>
          <a:xfrm>
            <a:off x="1005840" y="2286000"/>
            <a:ext cx="23774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text55"/>
          <p:cNvSpPr txBox="1"/>
          <p:nvPr/>
        </p:nvSpPr>
        <p:spPr>
          <a:xfrm>
            <a:off x="10058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2" name="S07-text56"/>
          <p:cNvSpPr txBox="1"/>
          <p:nvPr/>
        </p:nvSpPr>
        <p:spPr>
          <a:xfrm>
            <a:off x="33832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13" name="S07-text57"/>
          <p:cNvSpPr txBox="1"/>
          <p:nvPr/>
        </p:nvSpPr>
        <p:spPr>
          <a:xfrm>
            <a:off x="6217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3200" dirty="0"/>
          </a:p>
        </p:txBody>
      </p:sp>
      <p:sp>
        <p:nvSpPr>
          <p:cNvPr id="14" name="S07-cell58"/>
          <p:cNvSpPr/>
          <p:nvPr/>
        </p:nvSpPr>
        <p:spPr>
          <a:xfrm>
            <a:off x="6766560" y="2286000"/>
            <a:ext cx="4023360" cy="23774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figure59" descr="다: 주황 큰 종이"/>
          <p:cNvSpPr/>
          <p:nvPr/>
        </p:nvSpPr>
        <p:spPr>
          <a:xfrm>
            <a:off x="6766560" y="2286000"/>
            <a:ext cx="402336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7-cell60"/>
          <p:cNvSpPr/>
          <p:nvPr/>
        </p:nvSpPr>
        <p:spPr>
          <a:xfrm>
            <a:off x="6766560" y="228600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figure61" descr="라: 다 위에 겹친 흰색 작은 종이"/>
          <p:cNvSpPr/>
          <p:nvPr/>
        </p:nvSpPr>
        <p:spPr>
          <a:xfrm>
            <a:off x="6766560" y="2286000"/>
            <a:ext cx="20116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text62"/>
          <p:cNvSpPr txBox="1"/>
          <p:nvPr/>
        </p:nvSpPr>
        <p:spPr>
          <a:xfrm>
            <a:off x="67665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9" name="S07-text63"/>
          <p:cNvSpPr txBox="1"/>
          <p:nvPr/>
        </p:nvSpPr>
        <p:spPr>
          <a:xfrm>
            <a:off x="87782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컵에 더 많을까요?</a:t>
            </a:r>
            <a:endParaRPr lang="ko-KR" sz="4400" dirty="0"/>
          </a:p>
        </p:txBody>
      </p:sp>
      <p:sp>
        <p:nvSpPr>
          <p:cNvPr id="3" name="S08-card6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컵의 주스가 더 많아요.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컵이면 높이 찬 쪽이 더 많아요.</a:t>
            </a:r>
            <a:endParaRPr lang="ko-KR" sz="3200" dirty="0"/>
          </a:p>
        </p:txBody>
      </p:sp>
      <p:sp>
        <p:nvSpPr>
          <p:cNvPr id="5" name="S08-text66"/>
          <p:cNvSpPr txBox="1"/>
          <p:nvPr/>
        </p:nvSpPr>
        <p:spPr>
          <a:xfrm>
            <a:off x="35661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</a:t>
            </a:r>
            <a:endParaRPr lang="ko-KR" sz="3200" dirty="0"/>
          </a:p>
        </p:txBody>
      </p:sp>
      <p:sp>
        <p:nvSpPr>
          <p:cNvPr id="6" name="S08-cell67"/>
          <p:cNvSpPr/>
          <p:nvPr/>
        </p:nvSpPr>
        <p:spPr>
          <a:xfrm>
            <a:off x="36576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68"/>
          <p:cNvSpPr/>
          <p:nvPr/>
        </p:nvSpPr>
        <p:spPr>
          <a:xfrm>
            <a:off x="36576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69"/>
          <p:cNvSpPr/>
          <p:nvPr/>
        </p:nvSpPr>
        <p:spPr>
          <a:xfrm>
            <a:off x="36576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70"/>
          <p:cNvSpPr/>
          <p:nvPr/>
        </p:nvSpPr>
        <p:spPr>
          <a:xfrm>
            <a:off x="36576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71"/>
          <p:cNvSpPr/>
          <p:nvPr/>
        </p:nvSpPr>
        <p:spPr>
          <a:xfrm>
            <a:off x="36576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72"/>
          <p:cNvSpPr/>
          <p:nvPr/>
        </p:nvSpPr>
        <p:spPr>
          <a:xfrm>
            <a:off x="36576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figure73" descr="똑같은 가 컵, 6칸 중 아래 4칸만큼 주스가 담김"/>
          <p:cNvSpPr/>
          <p:nvPr/>
        </p:nvSpPr>
        <p:spPr>
          <a:xfrm>
            <a:off x="36576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8-text74"/>
          <p:cNvSpPr txBox="1"/>
          <p:nvPr/>
        </p:nvSpPr>
        <p:spPr>
          <a:xfrm>
            <a:off x="713232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컵</a:t>
            </a:r>
            <a:endParaRPr lang="ko-KR" sz="3200" dirty="0"/>
          </a:p>
        </p:txBody>
      </p:sp>
      <p:sp>
        <p:nvSpPr>
          <p:cNvPr id="14" name="S08-cell75"/>
          <p:cNvSpPr/>
          <p:nvPr/>
        </p:nvSpPr>
        <p:spPr>
          <a:xfrm>
            <a:off x="722376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76"/>
          <p:cNvSpPr/>
          <p:nvPr/>
        </p:nvSpPr>
        <p:spPr>
          <a:xfrm>
            <a:off x="722376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77"/>
          <p:cNvSpPr/>
          <p:nvPr/>
        </p:nvSpPr>
        <p:spPr>
          <a:xfrm>
            <a:off x="7223760" y="2926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78"/>
          <p:cNvSpPr/>
          <p:nvPr/>
        </p:nvSpPr>
        <p:spPr>
          <a:xfrm>
            <a:off x="7223760" y="33832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79"/>
          <p:cNvSpPr/>
          <p:nvPr/>
        </p:nvSpPr>
        <p:spPr>
          <a:xfrm>
            <a:off x="722376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80"/>
          <p:cNvSpPr/>
          <p:nvPr/>
        </p:nvSpPr>
        <p:spPr>
          <a:xfrm>
            <a:off x="722376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figure81" descr="똑같은 나 컵, 6칸 중 아래 2칸만큼 주스가 담김"/>
          <p:cNvSpPr/>
          <p:nvPr/>
        </p:nvSpPr>
        <p:spPr>
          <a:xfrm>
            <a:off x="722376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부어 봐요</a:t>
            </a:r>
            <a:endParaRPr lang="ko-KR" sz="4400" dirty="0"/>
          </a:p>
        </p:txBody>
      </p:sp>
      <p:sp>
        <p:nvSpPr>
          <p:cNvPr id="3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담을 수 있는 양은 ‘더 많다, 더 적다’로 말해요.</a:t>
            </a:r>
            <a:endParaRPr lang="ko-KR" sz="3200" dirty="0"/>
          </a:p>
        </p:txBody>
      </p:sp>
      <p:sp>
        <p:nvSpPr>
          <p:cNvPr id="5" name="S09-stepno84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85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그릇에 물을 가득 채워요.</a:t>
            </a:r>
            <a:endParaRPr lang="ko-KR" sz="3200" dirty="0"/>
          </a:p>
        </p:txBody>
      </p:sp>
      <p:sp>
        <p:nvSpPr>
          <p:cNvPr id="7" name="S09-stepno86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87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그릇에 옮겨 부어요.</a:t>
            </a:r>
            <a:endParaRPr lang="ko-KR" sz="3200" dirty="0"/>
          </a:p>
        </p:txBody>
      </p:sp>
      <p:sp>
        <p:nvSpPr>
          <p:cNvPr id="9" name="S09-stepno88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89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넘치면 가 그릇에 더 많이 담겨요.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담기는 컵은?</a:t>
            </a:r>
            <a:endParaRPr lang="ko-KR" sz="44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가득 채워 옮겨 부었어요.</a:t>
            </a:r>
            <a:endParaRPr lang="ko-KR" sz="32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많이 담을 수 있는 컵은 어느 것일까요?</a:t>
            </a:r>
            <a:endParaRPr lang="ko-KR" sz="3200" dirty="0"/>
          </a:p>
        </p:txBody>
      </p:sp>
      <p:sp>
        <p:nvSpPr>
          <p:cNvPr id="6" name="S10-chip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94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컵의 물을 나 컵에 부었더니 넘쳤어요.</a:t>
            </a:r>
            <a:endParaRPr lang="ko-KR" sz="3200" dirty="0"/>
          </a:p>
        </p:txBody>
      </p:sp>
      <p:sp>
        <p:nvSpPr>
          <p:cNvPr id="8" name="S10-chip9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96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컵의 물을 라 컵에 부었더니 다 차지 않았어요.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책가방과 지우개, 더 가벼운 것은?</a:t>
            </a:r>
            <a:endParaRPr lang="ko-KR" sz="3200" dirty="0"/>
          </a:p>
        </p:txBody>
      </p:sp>
      <p:sp>
        <p:nvSpPr>
          <p:cNvPr id="5" name="S11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10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식탁과 방석, 더 좁은 것은?</a:t>
            </a:r>
            <a:endParaRPr lang="ko-KR" sz="3200" dirty="0"/>
          </a:p>
        </p:txBody>
      </p:sp>
      <p:sp>
        <p:nvSpPr>
          <p:cNvPr id="7" name="S11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10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냄비와 컵, 물이 더 많이 담기는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적게 담긴 컵은?</a:t>
            </a:r>
            <a:endParaRPr lang="ko-KR" sz="4400" dirty="0"/>
          </a:p>
        </p:txBody>
      </p:sp>
      <p:sp>
        <p:nvSpPr>
          <p:cNvPr id="3" name="S13-card10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0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컵 세 개예요. 물이 가장 적은 컵은?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5" name="S13-text105"/>
          <p:cNvSpPr txBox="1"/>
          <p:nvPr/>
        </p:nvSpPr>
        <p:spPr>
          <a:xfrm>
            <a:off x="26517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cell106"/>
          <p:cNvSpPr/>
          <p:nvPr/>
        </p:nvSpPr>
        <p:spPr>
          <a:xfrm>
            <a:off x="27432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107"/>
          <p:cNvSpPr/>
          <p:nvPr/>
        </p:nvSpPr>
        <p:spPr>
          <a:xfrm>
            <a:off x="27432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108"/>
          <p:cNvSpPr/>
          <p:nvPr/>
        </p:nvSpPr>
        <p:spPr>
          <a:xfrm>
            <a:off x="27432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109"/>
          <p:cNvSpPr/>
          <p:nvPr/>
        </p:nvSpPr>
        <p:spPr>
          <a:xfrm>
            <a:off x="27432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110"/>
          <p:cNvSpPr/>
          <p:nvPr/>
        </p:nvSpPr>
        <p:spPr>
          <a:xfrm>
            <a:off x="27432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111"/>
          <p:cNvSpPr/>
          <p:nvPr/>
        </p:nvSpPr>
        <p:spPr>
          <a:xfrm>
            <a:off x="27432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figure112" descr="똑같은 가 컵, 6칸 중 아래 4칸만큼 물이 담김"/>
          <p:cNvSpPr/>
          <p:nvPr/>
        </p:nvSpPr>
        <p:spPr>
          <a:xfrm>
            <a:off x="27432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3-text113"/>
          <p:cNvSpPr txBox="1"/>
          <p:nvPr/>
        </p:nvSpPr>
        <p:spPr>
          <a:xfrm>
            <a:off x="53949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4" name="S13-cell114"/>
          <p:cNvSpPr/>
          <p:nvPr/>
        </p:nvSpPr>
        <p:spPr>
          <a:xfrm>
            <a:off x="54864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115"/>
          <p:cNvSpPr/>
          <p:nvPr/>
        </p:nvSpPr>
        <p:spPr>
          <a:xfrm>
            <a:off x="5486400" y="24688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116"/>
          <p:cNvSpPr/>
          <p:nvPr/>
        </p:nvSpPr>
        <p:spPr>
          <a:xfrm>
            <a:off x="5486400" y="29260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117"/>
          <p:cNvSpPr/>
          <p:nvPr/>
        </p:nvSpPr>
        <p:spPr>
          <a:xfrm>
            <a:off x="5486400" y="33832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118"/>
          <p:cNvSpPr/>
          <p:nvPr/>
        </p:nvSpPr>
        <p:spPr>
          <a:xfrm>
            <a:off x="54864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cell119"/>
          <p:cNvSpPr/>
          <p:nvPr/>
        </p:nvSpPr>
        <p:spPr>
          <a:xfrm>
            <a:off x="54864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figure120" descr="똑같은 나 컵, 6칸 중 아래 5칸만큼 물이 담김"/>
          <p:cNvSpPr/>
          <p:nvPr/>
        </p:nvSpPr>
        <p:spPr>
          <a:xfrm>
            <a:off x="54864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3-text121"/>
          <p:cNvSpPr txBox="1"/>
          <p:nvPr/>
        </p:nvSpPr>
        <p:spPr>
          <a:xfrm>
            <a:off x="81381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2" name="S13-cell122"/>
          <p:cNvSpPr/>
          <p:nvPr/>
        </p:nvSpPr>
        <p:spPr>
          <a:xfrm>
            <a:off x="8229600" y="20116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123"/>
          <p:cNvSpPr/>
          <p:nvPr/>
        </p:nvSpPr>
        <p:spPr>
          <a:xfrm>
            <a:off x="8229600" y="24688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124"/>
          <p:cNvSpPr/>
          <p:nvPr/>
        </p:nvSpPr>
        <p:spPr>
          <a:xfrm>
            <a:off x="8229600" y="29260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125"/>
          <p:cNvSpPr/>
          <p:nvPr/>
        </p:nvSpPr>
        <p:spPr>
          <a:xfrm>
            <a:off x="8229600" y="338328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126"/>
          <p:cNvSpPr/>
          <p:nvPr/>
        </p:nvSpPr>
        <p:spPr>
          <a:xfrm>
            <a:off x="8229600" y="38404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127"/>
          <p:cNvSpPr/>
          <p:nvPr/>
        </p:nvSpPr>
        <p:spPr>
          <a:xfrm>
            <a:off x="8229600" y="4297680"/>
            <a:ext cx="12801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figure128" descr="똑같은 다 컵, 6칸 중 아래 2칸만큼 물이 담김"/>
          <p:cNvSpPr/>
          <p:nvPr/>
        </p:nvSpPr>
        <p:spPr>
          <a:xfrm>
            <a:off x="8229600" y="2011680"/>
            <a:ext cx="12801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보고, 겹쳐 보고, 옮겨 부어 비교해요.</a:t>
            </a:r>
            <a:endParaRPr lang="ko-KR" sz="3200" dirty="0"/>
          </a:p>
        </p:txBody>
      </p:sp>
      <p:sp>
        <p:nvSpPr>
          <p:cNvPr id="5" name="S14-chip13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해 보고 비교하기</a:t>
            </a:r>
            <a:endParaRPr lang="ko-KR" sz="2600" dirty="0"/>
          </a:p>
        </p:txBody>
      </p:sp>
      <p:sp>
        <p:nvSpPr>
          <p:cNvPr id="6" name="S14-chip13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크기만 보고 정하기</a:t>
            </a:r>
            <a:endParaRPr lang="ko-KR" sz="2600" dirty="0"/>
          </a:p>
        </p:txBody>
      </p:sp>
      <p:sp>
        <p:nvSpPr>
          <p:cNvPr id="7" name="S14-text13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3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베개와 지우개, 더 가벼운 것은?</a:t>
            </a:r>
            <a:endParaRPr lang="ko-KR" sz="2600" dirty="0"/>
          </a:p>
        </p:txBody>
      </p:sp>
      <p:sp>
        <p:nvSpPr>
          <p:cNvPr id="9" name="S14-text13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손수건과 이불, 더 넓은 것은?</a:t>
            </a:r>
            <a:endParaRPr lang="ko-KR" sz="2600" dirty="0"/>
          </a:p>
        </p:txBody>
      </p:sp>
      <p:sp>
        <p:nvSpPr>
          <p:cNvPr id="10" name="S14-text13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넘쳤다면 어느 그릇이 더 많이 담아요?</a:t>
            </a:r>
            <a:endParaRPr lang="ko-KR" sz="2600" dirty="0"/>
          </a:p>
        </p:txBody>
      </p:sp>
      <p:sp>
        <p:nvSpPr>
          <p:cNvPr id="11" name="S14-text1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몇 시와 몇 시 30분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끝을 맞춰 비교해요</a:t>
            </a:r>
            <a:endParaRPr lang="ko-KR" sz="4400" dirty="0"/>
          </a:p>
        </p:txBody>
      </p:sp>
      <p:sp>
        <p:nvSpPr>
          <p:cNvPr id="3" name="S15-text1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15-card13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4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띠가 나 띠보다 더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띠는 가 띠보다 더 짧아요.</a:t>
            </a:r>
            <a:endParaRPr lang="ko-KR" sz="3200" dirty="0"/>
          </a:p>
        </p:txBody>
      </p:sp>
      <p:sp>
        <p:nvSpPr>
          <p:cNvPr id="6" name="S15-text141"/>
          <p:cNvSpPr txBox="1"/>
          <p:nvPr/>
        </p:nvSpPr>
        <p:spPr>
          <a:xfrm>
            <a:off x="5486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15-cell142"/>
          <p:cNvSpPr/>
          <p:nvPr/>
        </p:nvSpPr>
        <p:spPr>
          <a:xfrm>
            <a:off x="2560320" y="2194560"/>
            <a:ext cx="59436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figure143" descr="가 띠, 왼쪽 끝을 맞춤"/>
          <p:cNvSpPr/>
          <p:nvPr/>
        </p:nvSpPr>
        <p:spPr>
          <a:xfrm>
            <a:off x="2560320" y="2194560"/>
            <a:ext cx="59436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text144"/>
          <p:cNvSpPr txBox="1"/>
          <p:nvPr/>
        </p:nvSpPr>
        <p:spPr>
          <a:xfrm>
            <a:off x="54864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15-cell145"/>
          <p:cNvSpPr/>
          <p:nvPr/>
        </p:nvSpPr>
        <p:spPr>
          <a:xfrm>
            <a:off x="2560320" y="3108960"/>
            <a:ext cx="41148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figure146" descr="나 띠, 왼쪽 끝을 맞춤"/>
          <p:cNvSpPr/>
          <p:nvPr/>
        </p:nvSpPr>
        <p:spPr>
          <a:xfrm>
            <a:off x="2560320" y="3108960"/>
            <a:ext cx="41148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guide147"/>
          <p:cNvSpPr/>
          <p:nvPr/>
        </p:nvSpPr>
        <p:spPr>
          <a:xfrm>
            <a:off x="2560320" y="2011680"/>
            <a:ext cx="0" cy="182880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무게·넓이·담을 수 있는 양 비교</dc:title>
  <dc:subject>KR22-G01-MAT-COMPARE-L01</dc:subject>
  <dc:creator>education-ppt</dc:creator>
  <cp:lastModifiedBy>education-ppt</cp:lastModifiedBy>
  <cp:revision>1</cp:revision>
  <dcterms:created xsi:type="dcterms:W3CDTF">2026-10-26T07:44:58Z</dcterms:created>
  <dcterms:modified xsi:type="dcterms:W3CDTF">2026-10-26T07:44:58Z</dcterms:modified>
</cp:coreProperties>
</file>