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222652f-0529-a43c-b9ed-f33b5cd17096}">
          <p14:sldIdLst>
            <p14:sldId id="256"/>
            <p14:sldId id="257"/>
          </p14:sldIdLst>
        </p14:section>
        <p14:section name="개념" id="{0838e300-63e5-6a06-00c9-d2bb5abdccba}">
          <p14:sldIdLst>
            <p14:sldId id="258"/>
            <p14:sldId id="261"/>
            <p14:sldId id="263"/>
            <p14:sldId id="264"/>
          </p14:sldIdLst>
        </p14:section>
        <p14:section name="연습" id="{2a2c9f04-f824-7c3d-afb4-cd9ed00305b1}">
          <p14:sldIdLst>
            <p14:sldId id="259"/>
            <p14:sldId id="260"/>
            <p14:sldId id="262"/>
            <p14:sldId id="265"/>
          </p14:sldIdLst>
        </p14:section>
        <p14:section name="개념" id="{a3ba7d9f-42c3-e8f5-b496-32cccdf3d872}">
          <p14:sldIdLst/>
        </p14:section>
        <p14:section name="연습" id="{0107e56c-df41-2c46-6c20-84bc0e640f61}">
          <p14:sldIdLst/>
        </p14:section>
        <p14:section name="개념" id="{1e0daa31-6abd-36d6-22ef-f7263aecbd6f}">
          <p14:sldIdLst/>
        </p14:section>
        <p14:section name="연습" id="{8ca14e68-ad67-67f6-664b-47db894095e8}">
          <p14:sldIdLst/>
        </p14:section>
        <p14:section name="확인" id="{f82f97b3-122f-e641-4b44-5be63687a6d1}">
          <p14:sldIdLst>
            <p14:sldId id="266"/>
            <p14:sldId id="267"/>
          </p14:sldIdLst>
        </p14:section>
        <p14:section name="정리" id="{09d1ef5c-e05d-e8e3-5133-5d5eb3e50aa0}">
          <p14:sldIdLst>
            <p14:sldId id="268"/>
          </p14:sldIdLst>
        </p14:section>
        <p14:section name="보충" id="{85571162-d3b2-e588-c082-482f17c8ab5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무게·넓이·양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무거울까? 더 넓을까?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9159240" y="640080"/>
            <a:ext cx="975360" cy="97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9159240" y="161544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9159240" y="259080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아래 두 칸만큼 물이 담긴 컵"/>
          <p:cNvSpPr/>
          <p:nvPr/>
        </p:nvSpPr>
        <p:spPr>
          <a:xfrm>
            <a:off x="9159240" y="640080"/>
            <a:ext cx="97536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무게와 넓이를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담을 수 있는 양을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비교할 때 먼저 할 일은?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나보다 키가 더 ○○.</a:t>
            </a:r>
            <a:endParaRPr lang="ko-KR" sz="32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탑의 높이는 어떤 말로 비교해요?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달아 봐요</a:t>
            </a:r>
            <a:endParaRPr lang="ko-KR" sz="4400" dirty="0"/>
          </a:p>
        </p:txBody>
      </p:sp>
      <p:sp>
        <p:nvSpPr>
          <p:cNvPr id="3" name="S03-card1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 공책보다 더 무거워요.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공책은 책보다 더 가벼워요.</a:t>
            </a:r>
            <a:endParaRPr lang="ko-KR" sz="3200" dirty="0"/>
          </a:p>
        </p:txBody>
      </p:sp>
      <p:sp>
        <p:nvSpPr>
          <p:cNvPr id="5" name="S03-stepno15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6"/>
          <p:cNvSpPr txBox="1"/>
          <p:nvPr/>
        </p:nvSpPr>
        <p:spPr>
          <a:xfrm>
            <a:off x="1325880" y="20180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하나씩 들어 봐요.</a:t>
            </a:r>
            <a:endParaRPr lang="ko-KR" sz="3200" dirty="0"/>
          </a:p>
        </p:txBody>
      </p:sp>
      <p:sp>
        <p:nvSpPr>
          <p:cNvPr id="7" name="S03-stepno17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7312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 저울에 달아 봐요.</a:t>
            </a:r>
            <a:endParaRPr lang="ko-KR" sz="32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34444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내려간 쪽이 더 무거워요.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무거울까요?</a:t>
            </a:r>
            <a:endParaRPr lang="ko-KR" sz="44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문장으로 말해요.</a:t>
            </a:r>
            <a:endParaRPr lang="ko-KR" sz="32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‘○○가 ○○보다 더 무거워요’로 말해요.</a:t>
            </a:r>
            <a:endParaRPr lang="ko-KR" sz="3200" dirty="0"/>
          </a:p>
        </p:txBody>
      </p:sp>
      <p:sp>
        <p:nvSpPr>
          <p:cNvPr id="6" name="S04-chip2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책과 지우개</a:t>
            </a:r>
            <a:endParaRPr lang="ko-KR" sz="3200" dirty="0"/>
          </a:p>
        </p:txBody>
      </p:sp>
      <p:sp>
        <p:nvSpPr>
          <p:cNvPr id="8" name="S04-chip2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컵과 빈 컵</a:t>
            </a:r>
            <a:endParaRPr lang="ko-KR" sz="3200" dirty="0"/>
          </a:p>
        </p:txBody>
      </p:sp>
      <p:sp>
        <p:nvSpPr>
          <p:cNvPr id="10" name="S04-chip2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딸기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크면 더 무거울까요?</a:t>
            </a:r>
            <a:endParaRPr lang="ko-KR" sz="4400" dirty="0"/>
          </a:p>
        </p:txBody>
      </p:sp>
      <p:sp>
        <p:nvSpPr>
          <p:cNvPr id="3" name="S05-card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“큰 것이 항상 더 무거워요.”</a:t>
            </a:r>
            <a:endParaRPr lang="ko-KR" sz="3200" dirty="0"/>
          </a:p>
        </p:txBody>
      </p:sp>
      <p:sp>
        <p:nvSpPr>
          <p:cNvPr id="5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들어 보고 토끼의 말이 맞는지 말해요.</a:t>
            </a:r>
            <a:endParaRPr lang="ko-KR" sz="3200" dirty="0"/>
          </a:p>
        </p:txBody>
      </p:sp>
      <p:sp>
        <p:nvSpPr>
          <p:cNvPr id="7" name="S05-chip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휴지 상자</a:t>
            </a:r>
            <a:endParaRPr lang="ko-KR" sz="2600" dirty="0"/>
          </a:p>
        </p:txBody>
      </p:sp>
      <p:sp>
        <p:nvSpPr>
          <p:cNvPr id="8" name="S05-text3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커요.</a:t>
            </a:r>
            <a:endParaRPr lang="ko-KR" sz="3200" dirty="0"/>
          </a:p>
        </p:txBody>
      </p:sp>
      <p:sp>
        <p:nvSpPr>
          <p:cNvPr id="9" name="S05-chip3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작은 병</a:t>
            </a:r>
            <a:endParaRPr lang="ko-KR" sz="2600" dirty="0"/>
          </a:p>
        </p:txBody>
      </p:sp>
      <p:sp>
        <p:nvSpPr>
          <p:cNvPr id="10" name="S05-text3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봐요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모서리를 맞춰 겹쳐요.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색종이보다 더 넓어요.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겹쳤을 때 남는 쪽이 더 넓어요.</a:t>
            </a:r>
            <a:endParaRPr lang="ko-KR" sz="3200" dirty="0"/>
          </a:p>
        </p:txBody>
      </p:sp>
      <p:sp>
        <p:nvSpPr>
          <p:cNvPr id="6" name="S06-cell41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figure42" descr="공책: 흰색 큰 직사각형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cell43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figure44" descr="색종이: 공책 왼쪽 위 모서리에 맞춰 겹친 주황 정사각형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text45"/>
          <p:cNvSpPr txBox="1"/>
          <p:nvPr/>
        </p:nvSpPr>
        <p:spPr>
          <a:xfrm>
            <a:off x="347472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</a:t>
            </a:r>
            <a:endParaRPr lang="ko-KR" sz="3200" dirty="0"/>
          </a:p>
        </p:txBody>
      </p:sp>
      <p:sp>
        <p:nvSpPr>
          <p:cNvPr id="11" name="S06-text46"/>
          <p:cNvSpPr txBox="1"/>
          <p:nvPr/>
        </p:nvSpPr>
        <p:spPr>
          <a:xfrm>
            <a:off x="585216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두 종이예요.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‘○가 ○보다 더 넓어요’로 말해요.</a:t>
            </a:r>
            <a:endParaRPr lang="ko-KR" sz="3200" dirty="0"/>
          </a:p>
        </p:txBody>
      </p:sp>
      <p:sp>
        <p:nvSpPr>
          <p:cNvPr id="6" name="S07-text50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cell51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52" descr="가: 흰색 큰 종이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ell53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figure54" descr="나: 가 위에 겹친 주황 작은 종이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text55"/>
          <p:cNvSpPr txBox="1"/>
          <p:nvPr/>
        </p:nvSpPr>
        <p:spPr>
          <a:xfrm>
            <a:off x="100584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7-text56"/>
          <p:cNvSpPr txBox="1"/>
          <p:nvPr/>
        </p:nvSpPr>
        <p:spPr>
          <a:xfrm>
            <a:off x="33832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13" name="S07-text57"/>
          <p:cNvSpPr txBox="1"/>
          <p:nvPr/>
        </p:nvSpPr>
        <p:spPr>
          <a:xfrm>
            <a:off x="6217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4" name="S07-cell58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figure59" descr="다: 주황 큰 종이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cell60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61" descr="라: 다 위에 겹친 흰색 작은 종이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62"/>
          <p:cNvSpPr txBox="1"/>
          <p:nvPr/>
        </p:nvSpPr>
        <p:spPr>
          <a:xfrm>
            <a:off x="676656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text63"/>
          <p:cNvSpPr txBox="1"/>
          <p:nvPr/>
        </p:nvSpPr>
        <p:spPr>
          <a:xfrm>
            <a:off x="87782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많을까요?</a:t>
            </a:r>
            <a:endParaRPr lang="ko-KR" sz="4400" dirty="0"/>
          </a:p>
        </p:txBody>
      </p:sp>
      <p:sp>
        <p:nvSpPr>
          <p:cNvPr id="3" name="S08-card6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주스가 더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컵이면 높이 찬 쪽이 더 많아요.</a:t>
            </a:r>
            <a:endParaRPr lang="ko-KR" sz="3200" dirty="0"/>
          </a:p>
        </p:txBody>
      </p:sp>
      <p:sp>
        <p:nvSpPr>
          <p:cNvPr id="5" name="S08-text66"/>
          <p:cNvSpPr txBox="1"/>
          <p:nvPr/>
        </p:nvSpPr>
        <p:spPr>
          <a:xfrm>
            <a:off x="3566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</a:t>
            </a:r>
            <a:endParaRPr lang="ko-KR" sz="3200" dirty="0"/>
          </a:p>
        </p:txBody>
      </p:sp>
      <p:sp>
        <p:nvSpPr>
          <p:cNvPr id="6" name="S08-cell67"/>
          <p:cNvSpPr/>
          <p:nvPr/>
        </p:nvSpPr>
        <p:spPr>
          <a:xfrm>
            <a:off x="3657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68"/>
          <p:cNvSpPr/>
          <p:nvPr/>
        </p:nvSpPr>
        <p:spPr>
          <a:xfrm>
            <a:off x="3657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69"/>
          <p:cNvSpPr/>
          <p:nvPr/>
        </p:nvSpPr>
        <p:spPr>
          <a:xfrm>
            <a:off x="36576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70"/>
          <p:cNvSpPr/>
          <p:nvPr/>
        </p:nvSpPr>
        <p:spPr>
          <a:xfrm>
            <a:off x="36576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1"/>
          <p:cNvSpPr/>
          <p:nvPr/>
        </p:nvSpPr>
        <p:spPr>
          <a:xfrm>
            <a:off x="3657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2"/>
          <p:cNvSpPr/>
          <p:nvPr/>
        </p:nvSpPr>
        <p:spPr>
          <a:xfrm>
            <a:off x="3657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figure73" descr="똑같은 가 컵, 6칸 중 아래 4칸만큼 주스가 담김"/>
          <p:cNvSpPr/>
          <p:nvPr/>
        </p:nvSpPr>
        <p:spPr>
          <a:xfrm>
            <a:off x="3657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text74"/>
          <p:cNvSpPr txBox="1"/>
          <p:nvPr/>
        </p:nvSpPr>
        <p:spPr>
          <a:xfrm>
            <a:off x="71323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컵</a:t>
            </a:r>
            <a:endParaRPr lang="ko-KR" sz="3200" dirty="0"/>
          </a:p>
        </p:txBody>
      </p:sp>
      <p:sp>
        <p:nvSpPr>
          <p:cNvPr id="14" name="S08-cell75"/>
          <p:cNvSpPr/>
          <p:nvPr/>
        </p:nvSpPr>
        <p:spPr>
          <a:xfrm>
            <a:off x="722376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76"/>
          <p:cNvSpPr/>
          <p:nvPr/>
        </p:nvSpPr>
        <p:spPr>
          <a:xfrm>
            <a:off x="722376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77"/>
          <p:cNvSpPr/>
          <p:nvPr/>
        </p:nvSpPr>
        <p:spPr>
          <a:xfrm>
            <a:off x="722376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78"/>
          <p:cNvSpPr/>
          <p:nvPr/>
        </p:nvSpPr>
        <p:spPr>
          <a:xfrm>
            <a:off x="722376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79"/>
          <p:cNvSpPr/>
          <p:nvPr/>
        </p:nvSpPr>
        <p:spPr>
          <a:xfrm>
            <a:off x="722376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80"/>
          <p:cNvSpPr/>
          <p:nvPr/>
        </p:nvSpPr>
        <p:spPr>
          <a:xfrm>
            <a:off x="722376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figure81" descr="똑같은 나 컵, 6칸 중 아래 2칸만큼 주스가 담김"/>
          <p:cNvSpPr/>
          <p:nvPr/>
        </p:nvSpPr>
        <p:spPr>
          <a:xfrm>
            <a:off x="722376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부어 봐요</a:t>
            </a:r>
            <a:endParaRPr lang="ko-KR" sz="44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담을 수 있는 양은 ‘더 많다, 더 적다’로 말해요.</a:t>
            </a:r>
            <a:endParaRPr lang="ko-KR" sz="3200" dirty="0"/>
          </a:p>
        </p:txBody>
      </p:sp>
      <p:sp>
        <p:nvSpPr>
          <p:cNvPr id="5" name="S09-stepno8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8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물을 가득 채워요.</a:t>
            </a:r>
            <a:endParaRPr lang="ko-KR" sz="3200" dirty="0"/>
          </a:p>
        </p:txBody>
      </p:sp>
      <p:sp>
        <p:nvSpPr>
          <p:cNvPr id="7" name="S09-stepno8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8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그릇에 옮겨 부어요.</a:t>
            </a:r>
            <a:endParaRPr lang="ko-KR" sz="3200" dirty="0"/>
          </a:p>
        </p:txBody>
      </p:sp>
      <p:sp>
        <p:nvSpPr>
          <p:cNvPr id="9" name="S09-stepno8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넘치면 가 그릇에 더 많이 담겨요.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많이 담길까요?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가득 채워 옮겨 부었어요.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담을 수 있는 컵은 어느 것일까요?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9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물을 나 컵에 부었더니 넘쳤어요.</a:t>
            </a:r>
            <a:endParaRPr lang="ko-KR" sz="3200" dirty="0"/>
          </a:p>
        </p:txBody>
      </p:sp>
      <p:sp>
        <p:nvSpPr>
          <p:cNvPr id="8" name="S10-chip9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9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컵의 물을 라 컵에 부었더니 다 차지 않았어요.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책가방과 지우개, 더 가벼운 것은?</a:t>
            </a:r>
            <a:endParaRPr lang="ko-KR" sz="3200" dirty="0"/>
          </a:p>
        </p:txBody>
      </p:sp>
      <p:sp>
        <p:nvSpPr>
          <p:cNvPr id="5" name="S11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식탁과 방석, 더 좁은 것은?</a:t>
            </a:r>
            <a:endParaRPr lang="ko-KR" sz="3200" dirty="0"/>
          </a:p>
        </p:txBody>
      </p:sp>
      <p:sp>
        <p:nvSpPr>
          <p:cNvPr id="7" name="S11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냄비와 컵, 물이 더 많이 담기는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담긴 컵은?</a:t>
            </a:r>
            <a:endParaRPr lang="ko-KR" sz="4400" dirty="0"/>
          </a:p>
        </p:txBody>
      </p:sp>
      <p:sp>
        <p:nvSpPr>
          <p:cNvPr id="3" name="S13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 세 개예요. 물이 가장 적은 컵은?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13-text105"/>
          <p:cNvSpPr txBox="1"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ell106"/>
          <p:cNvSpPr/>
          <p:nvPr/>
        </p:nvSpPr>
        <p:spPr>
          <a:xfrm>
            <a:off x="27432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07"/>
          <p:cNvSpPr/>
          <p:nvPr/>
        </p:nvSpPr>
        <p:spPr>
          <a:xfrm>
            <a:off x="27432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08"/>
          <p:cNvSpPr/>
          <p:nvPr/>
        </p:nvSpPr>
        <p:spPr>
          <a:xfrm>
            <a:off x="27432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09"/>
          <p:cNvSpPr/>
          <p:nvPr/>
        </p:nvSpPr>
        <p:spPr>
          <a:xfrm>
            <a:off x="27432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10"/>
          <p:cNvSpPr/>
          <p:nvPr/>
        </p:nvSpPr>
        <p:spPr>
          <a:xfrm>
            <a:off x="27432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11"/>
          <p:cNvSpPr/>
          <p:nvPr/>
        </p:nvSpPr>
        <p:spPr>
          <a:xfrm>
            <a:off x="27432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12" descr="똑같은 가 컵, 6칸 중 아래 4칸만큼 물이 담김"/>
          <p:cNvSpPr/>
          <p:nvPr/>
        </p:nvSpPr>
        <p:spPr>
          <a:xfrm>
            <a:off x="27432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text113"/>
          <p:cNvSpPr txBox="1"/>
          <p:nvPr/>
        </p:nvSpPr>
        <p:spPr>
          <a:xfrm>
            <a:off x="53949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4" name="S13-cell114"/>
          <p:cNvSpPr/>
          <p:nvPr/>
        </p:nvSpPr>
        <p:spPr>
          <a:xfrm>
            <a:off x="54864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115"/>
          <p:cNvSpPr/>
          <p:nvPr/>
        </p:nvSpPr>
        <p:spPr>
          <a:xfrm>
            <a:off x="5486400" y="24688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116"/>
          <p:cNvSpPr/>
          <p:nvPr/>
        </p:nvSpPr>
        <p:spPr>
          <a:xfrm>
            <a:off x="54864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117"/>
          <p:cNvSpPr/>
          <p:nvPr/>
        </p:nvSpPr>
        <p:spPr>
          <a:xfrm>
            <a:off x="54864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118"/>
          <p:cNvSpPr/>
          <p:nvPr/>
        </p:nvSpPr>
        <p:spPr>
          <a:xfrm>
            <a:off x="54864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119"/>
          <p:cNvSpPr/>
          <p:nvPr/>
        </p:nvSpPr>
        <p:spPr>
          <a:xfrm>
            <a:off x="54864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120" descr="똑같은 나 컵, 6칸 중 아래 5칸만큼 물이 담김"/>
          <p:cNvSpPr/>
          <p:nvPr/>
        </p:nvSpPr>
        <p:spPr>
          <a:xfrm>
            <a:off x="54864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text121"/>
          <p:cNvSpPr txBox="1"/>
          <p:nvPr/>
        </p:nvSpPr>
        <p:spPr>
          <a:xfrm>
            <a:off x="8138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2" name="S13-cell122"/>
          <p:cNvSpPr/>
          <p:nvPr/>
        </p:nvSpPr>
        <p:spPr>
          <a:xfrm>
            <a:off x="8229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123"/>
          <p:cNvSpPr/>
          <p:nvPr/>
        </p:nvSpPr>
        <p:spPr>
          <a:xfrm>
            <a:off x="8229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124"/>
          <p:cNvSpPr/>
          <p:nvPr/>
        </p:nvSpPr>
        <p:spPr>
          <a:xfrm>
            <a:off x="822960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125"/>
          <p:cNvSpPr/>
          <p:nvPr/>
        </p:nvSpPr>
        <p:spPr>
          <a:xfrm>
            <a:off x="822960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126"/>
          <p:cNvSpPr/>
          <p:nvPr/>
        </p:nvSpPr>
        <p:spPr>
          <a:xfrm>
            <a:off x="8229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127"/>
          <p:cNvSpPr/>
          <p:nvPr/>
        </p:nvSpPr>
        <p:spPr>
          <a:xfrm>
            <a:off x="8229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figure128" descr="똑같은 다 컵, 6칸 중 아래 2칸만큼 물이 담김"/>
          <p:cNvSpPr/>
          <p:nvPr/>
        </p:nvSpPr>
        <p:spPr>
          <a:xfrm>
            <a:off x="8229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보고, 겹쳐 보고, 옮겨 부어 비교해요.</a:t>
            </a:r>
            <a:endParaRPr lang="ko-KR" sz="3200" dirty="0"/>
          </a:p>
        </p:txBody>
      </p:sp>
      <p:sp>
        <p:nvSpPr>
          <p:cNvPr id="5" name="S14-chip1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해 보고 비교하기</a:t>
            </a:r>
            <a:endParaRPr lang="ko-KR" sz="2600" dirty="0"/>
          </a:p>
        </p:txBody>
      </p:sp>
      <p:sp>
        <p:nvSpPr>
          <p:cNvPr id="6" name="S14-chip1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크기만 보고 정하기</a:t>
            </a:r>
            <a:endParaRPr lang="ko-KR" sz="2600" dirty="0"/>
          </a:p>
        </p:txBody>
      </p:sp>
      <p:sp>
        <p:nvSpPr>
          <p:cNvPr id="7" name="S14-text1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베개와 지우개, 더 가벼운 것은?</a:t>
            </a:r>
            <a:endParaRPr lang="ko-KR" sz="2600" dirty="0"/>
          </a:p>
        </p:txBody>
      </p:sp>
      <p:sp>
        <p:nvSpPr>
          <p:cNvPr id="9" name="S14-text1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손수건과 이불, 더 넓은 것은?</a:t>
            </a:r>
            <a:endParaRPr lang="ko-KR" sz="2600" dirty="0"/>
          </a:p>
        </p:txBody>
      </p:sp>
      <p:sp>
        <p:nvSpPr>
          <p:cNvPr id="10" name="S14-text1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넘쳤다면 어느 그릇이 더 많이 담아요?</a:t>
            </a:r>
            <a:endParaRPr lang="ko-KR" sz="2600" dirty="0"/>
          </a:p>
        </p:txBody>
      </p:sp>
      <p:sp>
        <p:nvSpPr>
          <p:cNvPr id="11" name="S14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 시와 몇 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 비교해요</a:t>
            </a:r>
            <a:endParaRPr lang="ko-KR" sz="4400" dirty="0"/>
          </a:p>
        </p:txBody>
      </p:sp>
      <p:sp>
        <p:nvSpPr>
          <p:cNvPr id="3" name="S15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5-card1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띠가 나 띠보다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띠는 가 띠보다 더 짧아요.</a:t>
            </a:r>
            <a:endParaRPr lang="ko-KR" sz="3200" dirty="0"/>
          </a:p>
        </p:txBody>
      </p:sp>
      <p:sp>
        <p:nvSpPr>
          <p:cNvPr id="6" name="S15-text141"/>
          <p:cNvSpPr txBox="1"/>
          <p:nvPr/>
        </p:nvSpPr>
        <p:spPr>
          <a:xfrm>
            <a:off x="5486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15-cell142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figure143" descr="가 띠, 왼쪽 끝을 맞춤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text144"/>
          <p:cNvSpPr txBox="1"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15-cell145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figure146" descr="나 띠, 왼쪽 끝을 맞춤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guide147"/>
          <p:cNvSpPr/>
          <p:nvPr/>
        </p:nvSpPr>
        <p:spPr>
          <a:xfrm>
            <a:off x="2560320" y="2011680"/>
            <a:ext cx="0" cy="182880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무게·넓이·담을 수 있는 양 비교</dc:title>
  <dc:subject>KR22-G01-MAT-COMPARE-L01</dc:subject>
  <dc:creator>education-ppt</dc:creator>
  <cp:lastModifiedBy>education-ppt</cp:lastModifiedBy>
  <cp:revision>1</cp:revision>
  <dcterms:created xsi:type="dcterms:W3CDTF">2026-10-26T06:58:19Z</dcterms:created>
  <dcterms:modified xsi:type="dcterms:W3CDTF">2026-10-26T06:58:19Z</dcterms:modified>
</cp:coreProperties>
</file>