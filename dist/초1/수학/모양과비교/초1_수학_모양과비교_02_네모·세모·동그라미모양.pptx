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f86b4b7-9512-bb8b-4e9e-5e35167798f1}">
          <p14:sldIdLst>
            <p14:sldId id="256"/>
            <p14:sldId id="257"/>
          </p14:sldIdLst>
        </p14:section>
        <p14:section name="개념" id="{29a3a75b-a864-0aea-7f51-8fe839159340}">
          <p14:sldIdLst>
            <p14:sldId id="258"/>
            <p14:sldId id="259"/>
            <p14:sldId id="260"/>
            <p14:sldId id="261"/>
          </p14:sldIdLst>
        </p14:section>
        <p14:section name="연습" id="{5950e62f-1a40-5647-8f8b-ac5f56718abb}">
          <p14:sldIdLst>
            <p14:sldId id="262"/>
            <p14:sldId id="263"/>
            <p14:sldId id="264"/>
            <p14:sldId id="265"/>
          </p14:sldIdLst>
        </p14:section>
        <p14:section name="확인" id="{1c9bcc0b-f99c-3195-f9e8-2a51222169cb}">
          <p14:sldIdLst>
            <p14:sldId id="266"/>
            <p14:sldId id="267"/>
            <p14:sldId id="268"/>
          </p14:sldIdLst>
        </p14:section>
        <p14:section name="정리" id="{20105b61-40d6-98be-5a3d-b629699f6e98}">
          <p14:sldIdLst>
            <p14:sldId id="269"/>
          </p14:sldIdLst>
        </p14:section>
        <p14:section name="보충" id="{972cf7ef-ff5a-3b62-9ad9-b8475be08f6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물건 모양과 오늘의 평평한 모양을 연결할 준비를 합니다.
시간: 약 2분
이렇게 말해 보세요
- “지난 시간에 상자 모양, 둥근기둥 모양, 공 모양을 배웠지? 오늘은 물건을 종이에 대고 그리면 어떤 모양이 나오는지 알아볼 거야.”
- “오른쪽 세 모양 중에 본 적 있는 모양이 있어?”
예상 답
- “네모, 세모, 동그라미요.”
주의
- 색종이 조각(네모·세모·동그라미)은 수업 전에 부모가 미리 오려 둡니다. 가위는 아이에게 주지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확인(상자·둥근기둥·공 모양)]
목적: 지난 차시의 세 가지 모양과 특징을 기억하는지 확인합니다.
시간: 약 3분
이렇게 말해 보세요
- “평평한 곳과 둥근 곳이 모두 있는 것은 어느 것일까? 이름이 뭐였지?”
- “가와 다의 이름도 말해 볼래?”
정답
- 나(둥근기둥 모양). 가는 상자 모양(평평한 곳만), 다는 공 모양(둥근 곳만)입니다.
막히면
- 음료 캔, 상자, 공을 실제로 만져 보게 하고 다시 묻습니다.
- 이름을 둘 이상 기억하지 못하면 S15(보충)를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물건을 대고 그려 평평한 모양 얻기]
목적: 입체 물건의 평평한 곳을 대고 그리면(본뜨기) 네모·동그라미 같은 평평한 모양이 나온다는 것을 경험합니다.
시간: 약 3분
이렇게 말해 보세요
- “상자를 종이 위에 세우고, 엄마(아빠)가 상자를 꼭 잡고 있을게. 바닥을 따라 연필로 선을 그려 봐.”
- “상자를 치우면 어떤 모양이 남았어? 이번엔 캔으로 해 보자.”
예상 답
- “네모가 나왔어요.” “캔은 동그라미예요.”
막히면
- 물건이 움직이면 부모가 위에서 꾹 눌러 주고, 아이는 선만 그리게 합니다.
주의
- “상자 전체는 상자 모양, 상자 바닥을 그린 것은 네모 모양이야.”라고 구별해 말해 줍니다(M2).
- 상자를 길게 눕혀 그리면 길쭉한 네모가 나옵니다. 이것도 네모입니다(M1).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네모 모양의 특징]
목적: 네모 모양은 곧은 선으로 되어 있고 뾰족한 곳이 4군데라는 것을 압니다.
시간: 약 3분
이렇게 말해 보세요
- “네모 모양의 선을 손가락으로 따라가 봐. 선이 어때?”
- “뾰족한 곳을 하나씩 짚으면서 세어 볼래? 길쭉한 네모도 세어 봐.”
예상 답
- “선이 곧아요.” “뾰족한 곳이 4개예요.”
막히면
- 색종이 네모 조각의 뾰족한 곳을 손가락으로 살짝 눌러 보며 셉니다. 센 곳에 연필로 점을 찍으면 두 번 세지 않습니다(M3).
주의
- 교과서는 ‘뾰족한 부분’이라고도 씁니다. ‘뾰족한 곳’과 같은 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세모 모양의 특징]
목적: 세모 모양은 곧은 선으로 되어 있고 뾰족한 곳이 3군데라는 것을 압니다.
시간: 약 3분
이렇게 말해 보세요
- “세모의 뾰족한 곳을 짚으면서 세어 볼래? 네모보다 많아, 적어?”
- “오른쪽 세모는 모양이 조금 다르지? 그래도 세모일까? 뾰족한 곳을 세어 보자.”
예상 답
- “3군데요. 네모보다 하나 적어요.” “오른쪽도 3군데라서 세모예요.”
막히면
- 색종이 세모 조각을 거꾸로 돌려 놓고 다시 세게 합니다. 돌려도 3군데입니다(M1).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동그라미 모양의 특징]
목적: 동그라미 모양은 둥근 선으로 되어 있고 뾰족한 곳이 없다는 것을 압니다.
시간: 약 3분
이렇게 말해 보세요
- “동그라미의 선을 손가락으로 한 바퀴 따라가 봐. 멈추는 곳이 있어?”
- “뾰족한 곳은 몇 군데야?”
예상 답
- “계속 둥글게 가요.” “뾰족한 곳이 없어요.”
막히면
- S03에서 캔을 대고 그린 동그라미를 다시 따라 그리게 합니다.
주의
-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연습(물건에서 모양 찾기)]
목적: 도움을 받으며 생활 속 물건에서 네모·세모·동그라미 모양을 찾습니다.
시간: 약 3분
이렇게 말해 보세요
- “동전을 위에서 보면 어떤 모양이야? 뾰족한 곳이 있어?”
- “집 안에서 이 물건들을 찾을 수 있으면 직접 보면서 말해 보자.”
정답
- ① 동그라미 ② 네모 ③ 세모 ④ 동그라미 ⑤ 네모 ⑥ 세모
- 네모 2개, 세모 2개, 동그라미 2개입니다.
막히면
- 실제 물건을 종이에 대고 그리거나, 부모가 손가락으로 허공에 테두리를 그려 줍니다.
- 옷걸이는 걸이 고리를 빼고 아래쪽 큰 부분의 모양을 보게 합니다.
주의
- 창문이나 공책은 길쭉한 네모입니다. 아이가 ‘네모가 아니다’라고 하면 S08에서 다룹니다(M1).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비교(길쭉한 네모)]
목적: 길쭉하거나 돌려 놓아도 뾰족한 곳의 수가 같으면 같은 모양이라는 것을 확인합니다(M1).
시간: 약 3분
이렇게 말해 보세요
- “가와 나의 뾰족한 곳을 각각 세어 볼까?”
- “둘 다 곧은 선이고 뾰족한 곳이 4군데면 무슨 모양이야? 토끼 말이 맞아?”
예상 답
- “둘 다 4군데예요. 나도 네모예요.”
정답
- 토끼의 말은 틀렸습니다. 나도 곧은 선으로 되어 있고 뾰족한 곳이 4군데라서 네모 모양입니다.
막히면
- 색종이 네모 조각 하나를 길게 접어 길쭉한 네모를 만들고 뾰족한 곳을 다시 셉니다.
- 세모 조각도 거꾸로 돌려 놓고 “이것도 세모일까?” 하고 같은 방법으로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모양으로 꾸미기 시범]
목적: 세 가지 모양 조각을 놓아 그림을 꾸미는 방법을 부모가 먼저 보여 줍니다.
시간: 약 3분
이렇게 말해 보세요
- “엄마(아빠)가 먼저 꾸며 볼게. 네모 조각은 집, 세모 조각은 지붕, 동그라미 조각은 해!”
- “어떤 모양을 몇 개 썼는지 세어 볼까? 네모 1개, 세모 1개, 동그라미 1개야.”
예상 답
- “집이에요!” “나도 해 볼래요.”
막히면
- 조각을 종이 위에 놓기만 하고 붙이지 않아도 됩니다. 마음에 들면 풀로 붙입니다.
주의
- 꾸민 다음 ‘어떤 모양을 몇 개 썼는지’ 세는 것까지가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꾸미고 모양별로 세기]
목적: 아이가 직접 세 가지 모양으로 그림을 꾸미고, 사용한 모양을 셉니다.
시간: 약 5분
이렇게 말해 보세요
- “이번엔 네가 꾸밀 차례야. 로봇, 물고기, 자동차… 무엇이든 좋아.”
- “다 꾸몄으면 무엇인지 말해 줘. 네모는 몇 개 썼어? 세모는? 동그라미는?”
예상 답
- “로봇이에요. 네모 3개, 세모 2개, 동그라미 2개 썼어요.”(아이 작품마다 다름)
막히면
- 무엇을 꾸밀지 정하지 못하면 “물고기를 꾸며 볼까? 몸은 무슨 모양으로 할까?”라고 하나만 제안합니다.
- 세다가 헷갈리면 같은 모양끼리 옆으로 옮겨 모은 뒤 셉니다.
주의
- 정답이 하나인 활동이 아닙니다. 세 가지 모양을 모두 썼는지, 센 수가 실제 조각 수와 같은지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특징을 듣고 모양을 찾고, 생활 속에서 네모 모양을 찾을 수 있는지 확인합니다.
시간: 약 4분
이렇게 말해 보세요
- “이번에는 혼자 해 볼래? 엄마(아빠)가 읽어 줄게. ③은 집 안을 둘러보고 찾아서 손으로 가리켜 줘.”
정답
- ① 세모
- ② 동그라미
- ③ 예: 책, 공책, 창문, 문, 텔레비전 화면, 액자 등 곧은 선으로 되어 있고 뾰족한 곳이 4군데인 것이면 맞습니다.
막히면
- 바로 알려 주지 말고 “색종이 조각 중에서 찾아볼까?”라고만 말합니다.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조각으로 다시 세어 보자.”
정답
- ① 세모 ② 동그라미 ③ 곧은 선, 뾰족한 곳 4군데인 물건(책, 창문, 문 등)
막히면
- ①을 네모라고 했다면 점을 찍으며 다시 세게 합니다(M3).
- ③에서 상자 물건을 가리키면 “상자의 한쪽 평평한 곳을 가리켜 볼래? 그곳이 네모 모양이야.”라고 고쳐 줍니다(M2).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확인(꾸민 조각 세기)]
목적: 처음 보는 조각 묶음을 모양별로 나누어 셀 수 있는지 확인합니다.
시간: 약 2분
이렇게 말해 보세요
- “물고기를 꾸밀 때 이 조각들을 썼어. 세모는 몇 개야? 네모는? 동그라미는?”
- “가장 많이 쓴 모양은 무엇이야?”
정답
- 세모 3개, 네모 1개, 동그라미 1개(모두 5개). 가장 많이 쓴 모양은 세모입니다.
막히면
- 색종이 조각으로 화면과 똑같이 놓고, 같은 모양끼리 모은 뒤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세 가지 모양을 말해 볼래? 어떻게 구별하면 될까?”
예상 답
- “네모, 세모, 동그라미요. 뾰족한 곳을 세어 봐요.”
정답
- ① 네모 ② 동그라미 ③ 3군데
막히면
- 색종이 조각을 하나씩 들고 이름과 뾰족한 곳의 수를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보충(상자·둥근기둥·공 모양)]
목적: S02에서 세 가지 물건 모양의 이름이나 특징을 기억하지 못하면, 실제 물건으로 다시 확인합니다.
시간: 약 5분
이렇게 말해 보세요
- “상자, 캔, 공을 하나씩 만져 보자. 평평한 곳이 있는 건 어느 거야?”
- “평평한 곳이 있는 상자와 캔은 종이에 대고 그릴 수 있어. 공은 그릴 수 있을까?”
정답
- 상자 모양은 평평한 곳만, 둥근기둥 모양은 평평한 곳과 둥근 곳, 공 모양은 둥근 곳만 있습니다. 공은 평평한 곳이 없어서 대고 그릴 모양이 없습니다.
막히면
- 물건을 굴려 보고 쌓아 보며 지난 시간에 한 활동을 다시 합니다.
주의
- 보충으로도 어려우면 1차시 ‘상자·둥근기둥·공 모양’(KR22-G01-MAT-SHAPE3D-L01)을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네모·세모·동그라미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네모·세모·동그라미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네모·세모·동그라미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네모·세모·동그라미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종이에 대고 그리면 어떤 모양이 나올까?</a:t>
            </a:r>
            <a:endParaRPr lang="ko-KR" sz="3200" dirty="0"/>
          </a:p>
        </p:txBody>
      </p:sp>
      <p:sp>
        <p:nvSpPr>
          <p:cNvPr id="4" name="S01-figure1" descr="네모 모양"/>
          <p:cNvSpPr/>
          <p:nvPr/>
        </p:nvSpPr>
        <p:spPr>
          <a:xfrm>
            <a:off x="7864450" y="1562710"/>
            <a:ext cx="943661" cy="94366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세모 모양"/>
          <p:cNvSpPr/>
          <p:nvPr/>
        </p:nvSpPr>
        <p:spPr>
          <a:xfrm>
            <a:off x="9175090" y="1605603"/>
            <a:ext cx="943661" cy="857873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동그라미 모양"/>
          <p:cNvSpPr/>
          <p:nvPr/>
        </p:nvSpPr>
        <p:spPr>
          <a:xfrm>
            <a:off x="10485730" y="1562710"/>
            <a:ext cx="943661" cy="94366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네모·세모·동그라미 모양을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 가지 모양으로 그림을 꾸며요.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모양일까요?</a:t>
            </a:r>
            <a:endParaRPr lang="ko-KR" sz="44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곳과 둥근 곳이 모두 있어요.</a:t>
            </a:r>
            <a:endParaRPr lang="ko-KR" sz="3200" dirty="0"/>
          </a:p>
        </p:txBody>
      </p:sp>
      <p:sp>
        <p:nvSpPr>
          <p:cNvPr id="4" name="S02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것인지 고르고, 모양의 이름도 말해요.</a:t>
            </a:r>
            <a:endParaRPr lang="ko-KR" sz="3200" dirty="0"/>
          </a:p>
        </p:txBody>
      </p:sp>
      <p:sp>
        <p:nvSpPr>
          <p:cNvPr id="6" name="S02-chip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figure10" descr="상자 모양"/>
          <p:cNvSpPr/>
          <p:nvPr/>
        </p:nvSpPr>
        <p:spPr>
          <a:xfrm>
            <a:off x="1269492" y="2843784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1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02-figure12" descr="둥근기둥 모양"/>
          <p:cNvSpPr/>
          <p:nvPr/>
        </p:nvSpPr>
        <p:spPr>
          <a:xfrm>
            <a:off x="5340096" y="2843784"/>
            <a:ext cx="1508760" cy="2011680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2-chip1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1" name="S02-figure14" descr="공 모양"/>
          <p:cNvSpPr/>
          <p:nvPr/>
        </p:nvSpPr>
        <p:spPr>
          <a:xfrm>
            <a:off x="8907780" y="2843784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대고 그려 봐요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곳을 대고 그리면 모양이 생겨요.</a:t>
            </a:r>
            <a:endParaRPr lang="ko-KR" sz="3200" dirty="0"/>
          </a:p>
        </p:txBody>
      </p:sp>
      <p:sp>
        <p:nvSpPr>
          <p:cNvPr id="5" name="S03-figure17" descr="상자 바닥을 대고 그린 네모 모양"/>
          <p:cNvSpPr/>
          <p:nvPr/>
        </p:nvSpPr>
        <p:spPr>
          <a:xfrm>
            <a:off x="7251269" y="2074048"/>
            <a:ext cx="1698984" cy="169898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3-label18"/>
          <p:cNvSpPr txBox="1"/>
          <p:nvPr/>
        </p:nvSpPr>
        <p:spPr>
          <a:xfrm>
            <a:off x="6920911" y="4658360"/>
            <a:ext cx="2359701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→ 네모</a:t>
            </a:r>
            <a:endParaRPr lang="ko-KR" sz="2600" dirty="0"/>
          </a:p>
        </p:txBody>
      </p:sp>
      <p:sp>
        <p:nvSpPr>
          <p:cNvPr id="7" name="S03-figure19" descr="캔 바닥을 대고 그린 동그라미 모양"/>
          <p:cNvSpPr/>
          <p:nvPr/>
        </p:nvSpPr>
        <p:spPr>
          <a:xfrm>
            <a:off x="9610969" y="2074048"/>
            <a:ext cx="1698984" cy="169898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3-label20"/>
          <p:cNvSpPr txBox="1"/>
          <p:nvPr/>
        </p:nvSpPr>
        <p:spPr>
          <a:xfrm>
            <a:off x="9280611" y="4658360"/>
            <a:ext cx="2359701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→ 동그라미</a:t>
            </a:r>
            <a:endParaRPr lang="ko-KR" sz="2600" dirty="0"/>
          </a:p>
        </p:txBody>
      </p:sp>
      <p:sp>
        <p:nvSpPr>
          <p:cNvPr id="9" name="S03-stepno21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3-text22"/>
          <p:cNvSpPr txBox="1"/>
          <p:nvPr/>
        </p:nvSpPr>
        <p:spPr>
          <a:xfrm>
            <a:off x="1325880" y="223570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종이 위에 세워요.</a:t>
            </a:r>
            <a:endParaRPr lang="ko-KR" sz="3200" dirty="0"/>
          </a:p>
        </p:txBody>
      </p:sp>
      <p:sp>
        <p:nvSpPr>
          <p:cNvPr id="11" name="S03-stepno23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3-text24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바닥을 따라 선을 그려요.</a:t>
            </a:r>
            <a:endParaRPr lang="ko-KR" sz="3200" dirty="0"/>
          </a:p>
        </p:txBody>
      </p:sp>
      <p:sp>
        <p:nvSpPr>
          <p:cNvPr id="13" name="S03-stepno25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3-text26"/>
          <p:cNvSpPr txBox="1"/>
          <p:nvPr/>
        </p:nvSpPr>
        <p:spPr>
          <a:xfrm>
            <a:off x="1325880" y="3662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캔으로도 그려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모양</a:t>
            </a:r>
            <a:endParaRPr lang="ko-KR" sz="4400" dirty="0"/>
          </a:p>
        </p:txBody>
      </p:sp>
      <p:sp>
        <p:nvSpPr>
          <p:cNvPr id="3" name="S04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공책, 창문에서 찾을 수 있어요.</a:t>
            </a:r>
            <a:endParaRPr lang="ko-KR" sz="3200" dirty="0"/>
          </a:p>
        </p:txBody>
      </p:sp>
      <p:sp>
        <p:nvSpPr>
          <p:cNvPr id="4" name="S04-figure28" descr="반듯한 네모 모양"/>
          <p:cNvSpPr/>
          <p:nvPr/>
        </p:nvSpPr>
        <p:spPr>
          <a:xfrm>
            <a:off x="924047" y="3080888"/>
            <a:ext cx="1930664" cy="193066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4-figure29" descr="길쭉한 네모 모양"/>
          <p:cNvSpPr/>
          <p:nvPr/>
        </p:nvSpPr>
        <p:spPr>
          <a:xfrm>
            <a:off x="3605525" y="3442887"/>
            <a:ext cx="1930664" cy="1206665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4-card30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1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선으로 되어 있어요</a:t>
            </a:r>
            <a:endParaRPr lang="ko-KR" sz="3200" dirty="0"/>
          </a:p>
        </p:txBody>
      </p:sp>
      <p:sp>
        <p:nvSpPr>
          <p:cNvPr id="8" name="S04-card32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3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4군데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 모양</a:t>
            </a:r>
            <a:endParaRPr lang="ko-KR" sz="44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옷걸이, 삼각김밥에서 찾을 수 있어요.</a:t>
            </a:r>
            <a:endParaRPr lang="ko-KR" sz="3200" dirty="0"/>
          </a:p>
        </p:txBody>
      </p:sp>
      <p:sp>
        <p:nvSpPr>
          <p:cNvPr id="4" name="S05-figure35" descr="세모 모양"/>
          <p:cNvSpPr/>
          <p:nvPr/>
        </p:nvSpPr>
        <p:spPr>
          <a:xfrm>
            <a:off x="924047" y="3168645"/>
            <a:ext cx="1930664" cy="175514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5-figure36" descr="한쪽이 반듯하게 선 세모 모양"/>
          <p:cNvSpPr/>
          <p:nvPr/>
        </p:nvSpPr>
        <p:spPr>
          <a:xfrm>
            <a:off x="3605525" y="3168645"/>
            <a:ext cx="1930664" cy="1755149"/>
          </a:xfrm>
          <a:prstGeom prst="rt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5-card37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8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선으로 되어 있어요</a:t>
            </a:r>
            <a:endParaRPr lang="ko-KR" sz="3200" dirty="0"/>
          </a:p>
        </p:txBody>
      </p:sp>
      <p:sp>
        <p:nvSpPr>
          <p:cNvPr id="8" name="S05-card39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40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3군데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모양</a:t>
            </a:r>
            <a:endParaRPr lang="ko-KR" sz="44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동전, 접시에서 찾을 수 있어요.</a:t>
            </a:r>
            <a:endParaRPr lang="ko-KR" sz="3200" dirty="0"/>
          </a:p>
        </p:txBody>
      </p:sp>
      <p:sp>
        <p:nvSpPr>
          <p:cNvPr id="4" name="S06-figure42" descr="동전처럼 작은 동그라미 모양"/>
          <p:cNvSpPr/>
          <p:nvPr/>
        </p:nvSpPr>
        <p:spPr>
          <a:xfrm>
            <a:off x="924047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6-label43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</a:t>
            </a:r>
            <a:endParaRPr lang="ko-KR" sz="2600" dirty="0"/>
          </a:p>
        </p:txBody>
      </p:sp>
      <p:sp>
        <p:nvSpPr>
          <p:cNvPr id="6" name="S06-figure44" descr="접시처럼 큰 동그라미 모양"/>
          <p:cNvSpPr/>
          <p:nvPr/>
        </p:nvSpPr>
        <p:spPr>
          <a:xfrm>
            <a:off x="3605525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6-label45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</a:t>
            </a:r>
            <a:endParaRPr lang="ko-KR" sz="2600" dirty="0"/>
          </a:p>
        </p:txBody>
      </p:sp>
      <p:sp>
        <p:nvSpPr>
          <p:cNvPr id="8" name="S06-card46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47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선으로 되어 있어요</a:t>
            </a:r>
            <a:endParaRPr lang="ko-KR" sz="3200" dirty="0"/>
          </a:p>
        </p:txBody>
      </p:sp>
      <p:sp>
        <p:nvSpPr>
          <p:cNvPr id="10" name="S06-card48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9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없어요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모양일까요?</a:t>
            </a:r>
            <a:endParaRPr lang="ko-KR" sz="4400" dirty="0"/>
          </a:p>
        </p:txBody>
      </p:sp>
      <p:sp>
        <p:nvSpPr>
          <p:cNvPr id="3" name="S07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평평한 곳은 무슨 모양일까요?</a:t>
            </a:r>
            <a:endParaRPr lang="ko-KR" sz="3200" dirty="0"/>
          </a:p>
        </p:txBody>
      </p:sp>
      <p:sp>
        <p:nvSpPr>
          <p:cNvPr id="4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있는지, 몇 군데인지 세어 봐요.</a:t>
            </a:r>
            <a:endParaRPr lang="ko-KR" sz="3200" dirty="0"/>
          </a:p>
        </p:txBody>
      </p:sp>
      <p:sp>
        <p:nvSpPr>
          <p:cNvPr id="6" name="S07-chip5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</a:t>
            </a:r>
            <a:endParaRPr lang="ko-KR" sz="3200" dirty="0"/>
          </a:p>
        </p:txBody>
      </p:sp>
      <p:sp>
        <p:nvSpPr>
          <p:cNvPr id="8" name="S07-chip55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6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ko-KR" sz="3200" dirty="0"/>
          </a:p>
        </p:txBody>
      </p:sp>
      <p:sp>
        <p:nvSpPr>
          <p:cNvPr id="10" name="S07-chip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삼각김밥</a:t>
            </a:r>
            <a:endParaRPr lang="ko-KR" sz="3200" dirty="0"/>
          </a:p>
        </p:txBody>
      </p:sp>
      <p:sp>
        <p:nvSpPr>
          <p:cNvPr id="12" name="S07-chip59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7-text60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</a:t>
            </a:r>
            <a:endParaRPr lang="ko-KR" sz="3200" dirty="0"/>
          </a:p>
        </p:txBody>
      </p:sp>
      <p:sp>
        <p:nvSpPr>
          <p:cNvPr id="14" name="S07-chip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15" name="S07-text6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</a:t>
            </a:r>
            <a:endParaRPr lang="ko-KR" sz="3200" dirty="0"/>
          </a:p>
        </p:txBody>
      </p:sp>
      <p:sp>
        <p:nvSpPr>
          <p:cNvPr id="16" name="S07-chip63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17" name="S07-text64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옷걸이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네모일까요?</a:t>
            </a:r>
            <a:endParaRPr lang="ko-KR" sz="4400" dirty="0"/>
          </a:p>
        </p:txBody>
      </p:sp>
      <p:sp>
        <p:nvSpPr>
          <p:cNvPr id="3" name="S08-card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“나는 길쭉해서 네모가 아니에요.”</a:t>
            </a:r>
            <a:endParaRPr lang="ko-KR" sz="3200" dirty="0"/>
          </a:p>
        </p:txBody>
      </p:sp>
      <p:sp>
        <p:nvSpPr>
          <p:cNvPr id="5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곳을 세어 보고 토끼의 말이 맞는지 말해요.</a:t>
            </a:r>
            <a:endParaRPr lang="ko-KR" sz="3200" dirty="0"/>
          </a:p>
        </p:txBody>
      </p:sp>
      <p:sp>
        <p:nvSpPr>
          <p:cNvPr id="7" name="S08-chip6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figure70" descr="반듯한 네모 모양"/>
          <p:cNvSpPr/>
          <p:nvPr/>
        </p:nvSpPr>
        <p:spPr>
          <a:xfrm>
            <a:off x="2315718" y="3154680"/>
            <a:ext cx="1828800" cy="182880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8-chip7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figure72" descr="길쭉한 네모 모양"/>
          <p:cNvSpPr/>
          <p:nvPr/>
        </p:nvSpPr>
        <p:spPr>
          <a:xfrm>
            <a:off x="8044434" y="3497580"/>
            <a:ext cx="1828800" cy="114300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모양으로 꾸며요</a:t>
            </a:r>
            <a:endParaRPr lang="ko-KR" sz="4400" dirty="0"/>
          </a:p>
        </p:txBody>
      </p:sp>
      <p:sp>
        <p:nvSpPr>
          <p:cNvPr id="3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꾸미면 모양마다 몇 개인지 세어요.</a:t>
            </a:r>
            <a:endParaRPr lang="ko-KR" sz="3200" dirty="0"/>
          </a:p>
        </p:txBody>
      </p:sp>
      <p:sp>
        <p:nvSpPr>
          <p:cNvPr id="5" name="S09-figure75" descr="집으로 쓸 네모 조각"/>
          <p:cNvSpPr/>
          <p:nvPr/>
        </p:nvSpPr>
        <p:spPr>
          <a:xfrm>
            <a:off x="7141149" y="2357212"/>
            <a:ext cx="1132656" cy="1132656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9-label76"/>
          <p:cNvSpPr txBox="1"/>
          <p:nvPr/>
        </p:nvSpPr>
        <p:spPr>
          <a:xfrm>
            <a:off x="6920911" y="465836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2600" dirty="0"/>
          </a:p>
        </p:txBody>
      </p:sp>
      <p:sp>
        <p:nvSpPr>
          <p:cNvPr id="7" name="S09-figure77" descr="지붕으로 쓸 세모 조각"/>
          <p:cNvSpPr/>
          <p:nvPr/>
        </p:nvSpPr>
        <p:spPr>
          <a:xfrm>
            <a:off x="8714283" y="2408696"/>
            <a:ext cx="1132656" cy="1029688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9-label78"/>
          <p:cNvSpPr txBox="1"/>
          <p:nvPr/>
        </p:nvSpPr>
        <p:spPr>
          <a:xfrm>
            <a:off x="8494044" y="465836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지붕</a:t>
            </a:r>
            <a:endParaRPr lang="ko-KR" sz="2600" dirty="0"/>
          </a:p>
        </p:txBody>
      </p:sp>
      <p:sp>
        <p:nvSpPr>
          <p:cNvPr id="9" name="S09-figure79" descr="해로 쓸 동그라미 조각"/>
          <p:cNvSpPr/>
          <p:nvPr/>
        </p:nvSpPr>
        <p:spPr>
          <a:xfrm>
            <a:off x="10287417" y="2357212"/>
            <a:ext cx="1132656" cy="113265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9-label80"/>
          <p:cNvSpPr txBox="1"/>
          <p:nvPr/>
        </p:nvSpPr>
        <p:spPr>
          <a:xfrm>
            <a:off x="10067178" y="465836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</a:t>
            </a:r>
            <a:endParaRPr lang="ko-KR" sz="2600" dirty="0"/>
          </a:p>
        </p:txBody>
      </p:sp>
      <p:sp>
        <p:nvSpPr>
          <p:cNvPr id="11" name="S09-stepno81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9-text82"/>
          <p:cNvSpPr txBox="1"/>
          <p:nvPr/>
        </p:nvSpPr>
        <p:spPr>
          <a:xfrm>
            <a:off x="1325880" y="223570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네모로 집을 놓아요.</a:t>
            </a:r>
            <a:endParaRPr lang="ko-KR" sz="3200" dirty="0"/>
          </a:p>
        </p:txBody>
      </p:sp>
      <p:sp>
        <p:nvSpPr>
          <p:cNvPr id="13" name="S09-stepno83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9-text84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세모로 지붕을 얹어요.</a:t>
            </a:r>
            <a:endParaRPr lang="ko-KR" sz="3200" dirty="0"/>
          </a:p>
        </p:txBody>
      </p:sp>
      <p:sp>
        <p:nvSpPr>
          <p:cNvPr id="15" name="S09-stepno85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6" name="S09-text86"/>
          <p:cNvSpPr txBox="1"/>
          <p:nvPr/>
        </p:nvSpPr>
        <p:spPr>
          <a:xfrm>
            <a:off x="1325880" y="3662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동그라미로 해를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꾸며 봐요</a:t>
            </a:r>
            <a:endParaRPr lang="ko-KR" sz="4400" dirty="0"/>
          </a:p>
        </p:txBody>
      </p:sp>
      <p:sp>
        <p:nvSpPr>
          <p:cNvPr id="3" name="S10-card8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8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 모양을 모두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모양마다 개수를 셌어요</a:t>
            </a:r>
            <a:endParaRPr lang="ko-KR" sz="3200" dirty="0"/>
          </a:p>
        </p:txBody>
      </p:sp>
      <p:sp>
        <p:nvSpPr>
          <p:cNvPr id="5" name="S10-stepno89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0-text90"/>
          <p:cNvSpPr txBox="1"/>
          <p:nvPr/>
        </p:nvSpPr>
        <p:spPr>
          <a:xfrm>
            <a:off x="1325880" y="27843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골라 그림을 꾸며요.</a:t>
            </a:r>
            <a:endParaRPr lang="ko-KR" sz="3200" dirty="0"/>
          </a:p>
        </p:txBody>
      </p:sp>
      <p:sp>
        <p:nvSpPr>
          <p:cNvPr id="7" name="S10-stepno91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0-text92"/>
          <p:cNvSpPr txBox="1"/>
          <p:nvPr/>
        </p:nvSpPr>
        <p:spPr>
          <a:xfrm>
            <a:off x="1325880" y="3497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꾸몄는지 말해요.</a:t>
            </a:r>
            <a:endParaRPr lang="ko-KR" sz="3200" dirty="0"/>
          </a:p>
        </p:txBody>
      </p:sp>
      <p:sp>
        <p:nvSpPr>
          <p:cNvPr id="9" name="S10-stepno93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0-text94"/>
          <p:cNvSpPr txBox="1"/>
          <p:nvPr/>
        </p:nvSpPr>
        <p:spPr>
          <a:xfrm>
            <a:off x="1325880" y="4210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모양마다 몇 개인지 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3군데인 모양은?</a:t>
            </a:r>
            <a:endParaRPr lang="ko-KR" sz="3200" dirty="0"/>
          </a:p>
        </p:txBody>
      </p:sp>
      <p:sp>
        <p:nvSpPr>
          <p:cNvPr id="5" name="S11-chip9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선으로 된 모양은?</a:t>
            </a:r>
            <a:endParaRPr lang="ko-KR" sz="3200" dirty="0"/>
          </a:p>
        </p:txBody>
      </p:sp>
      <p:sp>
        <p:nvSpPr>
          <p:cNvPr id="7" name="S11-chip9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10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네모 모양을 2개 찾아요.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101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2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색종이 조각의 뾰족한 곳을 다시 세어 보게 하세요.</a:t>
            </a:r>
            <a:endParaRPr lang="ko-KR" sz="3200" dirty="0"/>
          </a:p>
        </p:txBody>
      </p:sp>
      <p:sp>
        <p:nvSpPr>
          <p:cNvPr id="5" name="S12-chip10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104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세모</a:t>
            </a:r>
            <a:endParaRPr lang="ko-KR" sz="3200" dirty="0"/>
          </a:p>
        </p:txBody>
      </p:sp>
      <p:sp>
        <p:nvSpPr>
          <p:cNvPr id="7" name="S12-text105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3군데</a:t>
            </a:r>
            <a:endParaRPr lang="ko-KR" sz="2600" dirty="0"/>
          </a:p>
        </p:txBody>
      </p:sp>
      <p:sp>
        <p:nvSpPr>
          <p:cNvPr id="8" name="S12-text106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동그라미</a:t>
            </a:r>
            <a:endParaRPr lang="ko-KR" sz="3200" dirty="0"/>
          </a:p>
        </p:txBody>
      </p:sp>
      <p:sp>
        <p:nvSpPr>
          <p:cNvPr id="9" name="S12-text107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선</a:t>
            </a:r>
            <a:endParaRPr lang="ko-KR" sz="2600" dirty="0"/>
          </a:p>
        </p:txBody>
      </p:sp>
      <p:sp>
        <p:nvSpPr>
          <p:cNvPr id="10" name="S12-text108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책, 창문</a:t>
            </a:r>
            <a:endParaRPr lang="ko-KR" sz="3200" dirty="0"/>
          </a:p>
        </p:txBody>
      </p:sp>
      <p:sp>
        <p:nvSpPr>
          <p:cNvPr id="11" name="S12-text109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4군데</a:t>
            </a:r>
            <a:endParaRPr lang="ko-KR" sz="2600" dirty="0"/>
          </a:p>
        </p:txBody>
      </p:sp>
      <p:sp>
        <p:nvSpPr>
          <p:cNvPr id="12" name="S12-chip11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11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네모</a:t>
            </a:r>
            <a:endParaRPr lang="ko-KR" sz="3200" dirty="0"/>
          </a:p>
        </p:txBody>
      </p:sp>
      <p:sp>
        <p:nvSpPr>
          <p:cNvPr id="14" name="S12-text11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셈</a:t>
            </a:r>
            <a:endParaRPr lang="ko-KR" sz="2600" dirty="0"/>
          </a:p>
        </p:txBody>
      </p:sp>
      <p:sp>
        <p:nvSpPr>
          <p:cNvPr id="15" name="S12-text11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상자</a:t>
            </a:r>
            <a:endParaRPr lang="ko-KR" sz="3200" dirty="0"/>
          </a:p>
        </p:txBody>
      </p:sp>
      <p:sp>
        <p:nvSpPr>
          <p:cNvPr id="16" name="S12-text11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썼을까요?</a:t>
            </a:r>
            <a:endParaRPr lang="ko-KR" sz="4400" dirty="0"/>
          </a:p>
        </p:txBody>
      </p:sp>
      <p:sp>
        <p:nvSpPr>
          <p:cNvPr id="3" name="S13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물고기를 꾸민 조각이에요.</a:t>
            </a:r>
            <a:endParaRPr lang="ko-KR" sz="3200" dirty="0"/>
          </a:p>
        </p:txBody>
      </p:sp>
      <p:sp>
        <p:nvSpPr>
          <p:cNvPr id="4" name="S13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세모, 네모, 동그라미는 각각 몇 개일까요?</a:t>
            </a:r>
            <a:endParaRPr lang="ko-KR" sz="3200" dirty="0"/>
          </a:p>
        </p:txBody>
      </p:sp>
      <p:sp>
        <p:nvSpPr>
          <p:cNvPr id="6" name="S13-figure118" descr="세모 조각"/>
          <p:cNvSpPr/>
          <p:nvPr/>
        </p:nvSpPr>
        <p:spPr>
          <a:xfrm>
            <a:off x="859207" y="2771580"/>
            <a:ext cx="1597201" cy="1452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3-figure119" descr="동그라미 조각"/>
          <p:cNvSpPr/>
          <p:nvPr/>
        </p:nvSpPr>
        <p:spPr>
          <a:xfrm>
            <a:off x="3077541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3-figure120" descr="세모 조각"/>
          <p:cNvSpPr/>
          <p:nvPr/>
        </p:nvSpPr>
        <p:spPr>
          <a:xfrm>
            <a:off x="5295876" y="2771580"/>
            <a:ext cx="1597201" cy="1452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3-figure121" descr="네모 조각"/>
          <p:cNvSpPr/>
          <p:nvPr/>
        </p:nvSpPr>
        <p:spPr>
          <a:xfrm>
            <a:off x="7514210" y="2698980"/>
            <a:ext cx="1597201" cy="15972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3-figure122" descr="세모 조각"/>
          <p:cNvSpPr/>
          <p:nvPr/>
        </p:nvSpPr>
        <p:spPr>
          <a:xfrm>
            <a:off x="9732544" y="2771580"/>
            <a:ext cx="1597201" cy="1452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2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곳의 수와 선을 보면 모양을 알 수 있어요.</a:t>
            </a:r>
            <a:endParaRPr lang="ko-KR" sz="3200" dirty="0"/>
          </a:p>
        </p:txBody>
      </p:sp>
      <p:sp>
        <p:nvSpPr>
          <p:cNvPr id="5" name="S14-chip12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뾰족한 곳 짚으며 세기</a:t>
            </a:r>
            <a:endParaRPr lang="ko-KR" sz="2600" dirty="0"/>
          </a:p>
        </p:txBody>
      </p:sp>
      <p:sp>
        <p:nvSpPr>
          <p:cNvPr id="6" name="S14-chip12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길쭉하면 네모가 아니라고 하기</a:t>
            </a:r>
            <a:endParaRPr lang="ko-KR" sz="2600" dirty="0"/>
          </a:p>
        </p:txBody>
      </p:sp>
      <p:sp>
        <p:nvSpPr>
          <p:cNvPr id="7" name="S14-text12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2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뾰족한 곳이 4군데인 모양은?</a:t>
            </a:r>
            <a:endParaRPr lang="ko-KR" sz="2600" dirty="0"/>
          </a:p>
        </p:txBody>
      </p:sp>
      <p:sp>
        <p:nvSpPr>
          <p:cNvPr id="9" name="S14-text12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접시는 무슨 모양?</a:t>
            </a:r>
            <a:endParaRPr lang="ko-KR" sz="2600" dirty="0"/>
          </a:p>
        </p:txBody>
      </p:sp>
      <p:sp>
        <p:nvSpPr>
          <p:cNvPr id="10" name="S14-text13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세모의 뾰족한 곳은 몇 군데?</a:t>
            </a:r>
            <a:endParaRPr lang="ko-KR" sz="2600" dirty="0"/>
          </a:p>
        </p:txBody>
      </p:sp>
      <p:sp>
        <p:nvSpPr>
          <p:cNvPr id="11" name="S14-text13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길이와 높이 비교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가지 물건 모양</a:t>
            </a:r>
            <a:endParaRPr lang="ko-KR" sz="4400" dirty="0"/>
          </a:p>
        </p:txBody>
      </p:sp>
      <p:sp>
        <p:nvSpPr>
          <p:cNvPr id="3" name="S15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있는 물건은 종이에 대고 그릴 수 있어요.</a:t>
            </a:r>
            <a:endParaRPr lang="ko-KR" sz="3200" dirty="0"/>
          </a:p>
        </p:txBody>
      </p:sp>
      <p:sp>
        <p:nvSpPr>
          <p:cNvPr id="5" name="S15-figure134" descr="상자 모양"/>
          <p:cNvSpPr/>
          <p:nvPr/>
        </p:nvSpPr>
        <p:spPr>
          <a:xfrm>
            <a:off x="1391412" y="1917700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5-label135"/>
          <p:cNvSpPr txBox="1"/>
          <p:nvPr/>
        </p:nvSpPr>
        <p:spPr>
          <a:xfrm>
            <a:off x="548640" y="4658360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모양</a:t>
            </a:r>
            <a:endParaRPr lang="ko-KR" sz="2600" dirty="0"/>
          </a:p>
        </p:txBody>
      </p:sp>
      <p:sp>
        <p:nvSpPr>
          <p:cNvPr id="7" name="S15-figure136" descr="둥근기둥 모양"/>
          <p:cNvSpPr/>
          <p:nvPr/>
        </p:nvSpPr>
        <p:spPr>
          <a:xfrm>
            <a:off x="5340096" y="1917700"/>
            <a:ext cx="1508760" cy="2011680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5-label137"/>
          <p:cNvSpPr txBox="1"/>
          <p:nvPr/>
        </p:nvSpPr>
        <p:spPr>
          <a:xfrm>
            <a:off x="4245864" y="4658360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 모양</a:t>
            </a:r>
            <a:endParaRPr lang="ko-KR" sz="2600" dirty="0"/>
          </a:p>
        </p:txBody>
      </p:sp>
      <p:sp>
        <p:nvSpPr>
          <p:cNvPr id="9" name="S15-figure138" descr="공 모양"/>
          <p:cNvSpPr/>
          <p:nvPr/>
        </p:nvSpPr>
        <p:spPr>
          <a:xfrm>
            <a:off x="8785860" y="1917700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5-label139"/>
          <p:cNvSpPr txBox="1"/>
          <p:nvPr/>
        </p:nvSpPr>
        <p:spPr>
          <a:xfrm>
            <a:off x="7943088" y="4658360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네모·세모·동그라미 모양</dc:title>
  <dc:subject>KR22-G01-MAT-SHAPE2D-L01</dc:subject>
  <dc:creator>education-ppt</dc:creator>
  <cp:lastModifiedBy>education-ppt</cp:lastModifiedBy>
  <cp:revision>1</cp:revision>
  <dcterms:created xsi:type="dcterms:W3CDTF">2026-10-26T07:45:03Z</dcterms:created>
  <dcterms:modified xsi:type="dcterms:W3CDTF">2026-10-26T07:45:03Z</dcterms:modified>
</cp:coreProperties>
</file>