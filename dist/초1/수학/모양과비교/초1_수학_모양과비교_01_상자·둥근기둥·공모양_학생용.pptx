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f5f9bfb-ad96-2886-cdff-ffec71b3504a}">
          <p14:sldIdLst>
            <p14:sldId id="256"/>
            <p14:sldId id="257"/>
          </p14:sldIdLst>
        </p14:section>
        <p14:section name="개념" id="{b459650f-c634-00c7-9c57-9cd6cc7e709f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3368fcb0-ee12-35f4-87a6-acf7c7a074df}">
          <p14:sldIdLst>
            <p14:sldId id="263"/>
            <p14:sldId id="264"/>
            <p14:sldId id="265"/>
          </p14:sldIdLst>
        </p14:section>
        <p14:section name="확인" id="{d41e638e-e5ba-322e-a0e9-9a667e32c1e3}">
          <p14:sldIdLst>
            <p14:sldId id="266"/>
            <p14:sldId id="267"/>
          </p14:sldIdLst>
        </p14:section>
        <p14:section name="정리" id="{e214cb78-cad3-edbb-617d-cf4c9d472e70}">
          <p14:sldIdLst>
            <p14:sldId id="268"/>
          </p14:sldIdLst>
        </p14:section>
        <p14:section name="보충" id="{8be51aef-1eef-610c-14a0-7d2e07eb20a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상자·둥근기둥·공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물건은 어떤 모양일까?</a:t>
            </a:r>
            <a:endParaRPr lang="ko-KR" sz="3200" dirty="0"/>
          </a:p>
        </p:txBody>
      </p:sp>
      <p:sp>
        <p:nvSpPr>
          <p:cNvPr id="4" name="S01-figure1" descr="상자 모양"/>
          <p:cNvSpPr/>
          <p:nvPr/>
        </p:nvSpPr>
        <p:spPr>
          <a:xfrm>
            <a:off x="7864450" y="1562710"/>
            <a:ext cx="943661" cy="943661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둥근기둥 모양"/>
          <p:cNvSpPr/>
          <p:nvPr/>
        </p:nvSpPr>
        <p:spPr>
          <a:xfrm>
            <a:off x="9293047" y="1562710"/>
            <a:ext cx="707746" cy="943661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공 모양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물건을 세 가지 모양으로 나눠요.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모양마다 다른 점을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생김새가 다른 하나는?</a:t>
            </a:r>
            <a:endParaRPr lang="ko-KR" sz="4400" dirty="0"/>
          </a:p>
        </p:txBody>
      </p:sp>
      <p:sp>
        <p:nvSpPr>
          <p:cNvPr id="3" name="S02-card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02-chip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figure9" descr="진한 색 상자 모양"/>
          <p:cNvSpPr/>
          <p:nvPr/>
        </p:nvSpPr>
        <p:spPr>
          <a:xfrm>
            <a:off x="1269492" y="2500884"/>
            <a:ext cx="2011680" cy="2011680"/>
          </a:xfrm>
          <a:prstGeom prst="cub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2-chip1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2-figure11" descr="공 모양"/>
          <p:cNvSpPr/>
          <p:nvPr/>
        </p:nvSpPr>
        <p:spPr>
          <a:xfrm>
            <a:off x="5088636" y="25008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2-chip1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2-figure13" descr="연한 색 상자 모양"/>
          <p:cNvSpPr/>
          <p:nvPr/>
        </p:nvSpPr>
        <p:spPr>
          <a:xfrm>
            <a:off x="8907780" y="2500884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주사위, 휴지 상자처럼 생겼어요.</a:t>
            </a:r>
            <a:endParaRPr lang="ko-KR" sz="3200" dirty="0"/>
          </a:p>
        </p:txBody>
      </p:sp>
      <p:sp>
        <p:nvSpPr>
          <p:cNvPr id="4" name="S03-figure15" descr="주사위처럼 생긴 상자 모양"/>
          <p:cNvSpPr/>
          <p:nvPr/>
        </p:nvSpPr>
        <p:spPr>
          <a:xfrm>
            <a:off x="924047" y="2849748"/>
            <a:ext cx="1930664" cy="193066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3-label16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2600" dirty="0"/>
          </a:p>
        </p:txBody>
      </p:sp>
      <p:sp>
        <p:nvSpPr>
          <p:cNvPr id="6" name="S03-figure17" descr="휴지 상자처럼 생긴 길쭉한 상자 모양"/>
          <p:cNvSpPr/>
          <p:nvPr/>
        </p:nvSpPr>
        <p:spPr>
          <a:xfrm>
            <a:off x="3605525" y="3171525"/>
            <a:ext cx="1930664" cy="1287109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3-label18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상자</a:t>
            </a:r>
            <a:endParaRPr lang="ko-KR" sz="2600" dirty="0"/>
          </a:p>
        </p:txBody>
      </p:sp>
      <p:sp>
        <p:nvSpPr>
          <p:cNvPr id="8" name="S03-card19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0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곳만 있어요</a:t>
            </a:r>
            <a:endParaRPr lang="ko-KR" sz="3200" dirty="0"/>
          </a:p>
        </p:txBody>
      </p:sp>
      <p:sp>
        <p:nvSpPr>
          <p:cNvPr id="10" name="S03-card21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2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캔, 딱풀처럼 생겼어요.</a:t>
            </a:r>
            <a:endParaRPr lang="ko-KR" sz="3200" dirty="0"/>
          </a:p>
        </p:txBody>
      </p:sp>
      <p:sp>
        <p:nvSpPr>
          <p:cNvPr id="4" name="S04-figure24" descr="음료 캔처럼 생긴 둥근기둥 모양"/>
          <p:cNvSpPr/>
          <p:nvPr/>
        </p:nvSpPr>
        <p:spPr>
          <a:xfrm>
            <a:off x="1165380" y="2849748"/>
            <a:ext cx="1447998" cy="1930664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label25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</a:t>
            </a:r>
            <a:endParaRPr lang="ko-KR" sz="2600" dirty="0"/>
          </a:p>
        </p:txBody>
      </p:sp>
      <p:sp>
        <p:nvSpPr>
          <p:cNvPr id="6" name="S04-figure26" descr="딱풀처럼 생긴 둥근기둥 모양"/>
          <p:cNvSpPr/>
          <p:nvPr/>
        </p:nvSpPr>
        <p:spPr>
          <a:xfrm>
            <a:off x="3846858" y="2849748"/>
            <a:ext cx="1447998" cy="1930664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4-label27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2600" dirty="0"/>
          </a:p>
        </p:txBody>
      </p:sp>
      <p:sp>
        <p:nvSpPr>
          <p:cNvPr id="8" name="S04-card28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9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아래는 평평해요</a:t>
            </a:r>
            <a:endParaRPr lang="ko-KR" sz="3200" dirty="0"/>
          </a:p>
        </p:txBody>
      </p:sp>
      <p:sp>
        <p:nvSpPr>
          <p:cNvPr id="10" name="S04-card30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1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옆은 둥글어요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공, 귤처럼 생겼어요.</a:t>
            </a:r>
            <a:endParaRPr lang="ko-KR" sz="3200" dirty="0"/>
          </a:p>
        </p:txBody>
      </p:sp>
      <p:sp>
        <p:nvSpPr>
          <p:cNvPr id="4" name="S05-figure33" descr="공처럼 생긴 공 모양"/>
          <p:cNvSpPr/>
          <p:nvPr/>
        </p:nvSpPr>
        <p:spPr>
          <a:xfrm>
            <a:off x="924047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5-label34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2600" dirty="0"/>
          </a:p>
        </p:txBody>
      </p:sp>
      <p:sp>
        <p:nvSpPr>
          <p:cNvPr id="6" name="S05-figure35" descr="귤처럼 생긴 공 모양"/>
          <p:cNvSpPr/>
          <p:nvPr/>
        </p:nvSpPr>
        <p:spPr>
          <a:xfrm>
            <a:off x="3605525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5-label36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8" name="S05-card37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곳이 둥글어요</a:t>
            </a:r>
            <a:endParaRPr lang="ko-KR" sz="3200" dirty="0"/>
          </a:p>
        </p:txBody>
      </p:sp>
      <p:sp>
        <p:nvSpPr>
          <p:cNvPr id="10" name="S05-card39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0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없어요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굴려 보고 쌓아 봐요</a:t>
            </a:r>
            <a:endParaRPr lang="ko-KR" sz="4400" dirty="0"/>
          </a:p>
        </p:txBody>
      </p:sp>
      <p:sp>
        <p:nvSpPr>
          <p:cNvPr id="3" name="S06-figure41" descr="상자 모양"/>
          <p:cNvSpPr/>
          <p:nvPr/>
        </p:nvSpPr>
        <p:spPr>
          <a:xfrm>
            <a:off x="7141149" y="2905852"/>
            <a:ext cx="1132656" cy="1132656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06-label42"/>
          <p:cNvSpPr txBox="1"/>
          <p:nvPr/>
        </p:nvSpPr>
        <p:spPr>
          <a:xfrm>
            <a:off x="6920911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</a:t>
            </a:r>
            <a:endParaRPr lang="ko-KR" sz="2600" dirty="0"/>
          </a:p>
        </p:txBody>
      </p:sp>
      <p:sp>
        <p:nvSpPr>
          <p:cNvPr id="5" name="S06-figure43" descr="둥근기둥 모양"/>
          <p:cNvSpPr/>
          <p:nvPr/>
        </p:nvSpPr>
        <p:spPr>
          <a:xfrm>
            <a:off x="8855865" y="2905852"/>
            <a:ext cx="849492" cy="1132656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6-label44"/>
          <p:cNvSpPr txBox="1"/>
          <p:nvPr/>
        </p:nvSpPr>
        <p:spPr>
          <a:xfrm>
            <a:off x="8494044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</a:t>
            </a:r>
            <a:endParaRPr lang="ko-KR" sz="2600" dirty="0"/>
          </a:p>
        </p:txBody>
      </p:sp>
      <p:sp>
        <p:nvSpPr>
          <p:cNvPr id="7" name="S06-figure45" descr="공 모양"/>
          <p:cNvSpPr/>
          <p:nvPr/>
        </p:nvSpPr>
        <p:spPr>
          <a:xfrm>
            <a:off x="10287417" y="2905852"/>
            <a:ext cx="1132656" cy="113265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6-label46"/>
          <p:cNvSpPr txBox="1"/>
          <p:nvPr/>
        </p:nvSpPr>
        <p:spPr>
          <a:xfrm>
            <a:off x="10067178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2600" dirty="0"/>
          </a:p>
        </p:txBody>
      </p:sp>
      <p:sp>
        <p:nvSpPr>
          <p:cNvPr id="9" name="S06-stepno47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6-text48"/>
          <p:cNvSpPr txBox="1"/>
          <p:nvPr/>
        </p:nvSpPr>
        <p:spPr>
          <a:xfrm>
            <a:off x="1325880" y="2562860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기울여 비탈을 만들어요.</a:t>
            </a:r>
            <a:endParaRPr lang="ko-KR" sz="3200" dirty="0"/>
          </a:p>
        </p:txBody>
      </p:sp>
      <p:sp>
        <p:nvSpPr>
          <p:cNvPr id="11" name="S06-stepno49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6-text50"/>
          <p:cNvSpPr txBox="1"/>
          <p:nvPr/>
        </p:nvSpPr>
        <p:spPr>
          <a:xfrm>
            <a:off x="1325880" y="371906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하나씩 굴려 봐요.</a:t>
            </a:r>
            <a:endParaRPr lang="ko-KR" sz="3200" dirty="0"/>
          </a:p>
        </p:txBody>
      </p:sp>
      <p:sp>
        <p:nvSpPr>
          <p:cNvPr id="13" name="S06-stepno51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6-text52"/>
          <p:cNvSpPr txBox="1"/>
          <p:nvPr/>
        </p:nvSpPr>
        <p:spPr>
          <a:xfrm>
            <a:off x="1325880" y="443230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물건끼리 쌓아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보니 어땠나요?</a:t>
            </a:r>
            <a:endParaRPr lang="ko-KR" sz="4400" dirty="0"/>
          </a:p>
        </p:txBody>
      </p:sp>
      <p:sp>
        <p:nvSpPr>
          <p:cNvPr id="3" name="S07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있으면 쌓이고, 둥근 곳이 있으면 굴러가요.</a:t>
            </a:r>
            <a:endParaRPr lang="ko-KR" sz="3200" dirty="0"/>
          </a:p>
        </p:txBody>
      </p:sp>
      <p:graphicFrame>
        <p:nvGraphicFramePr>
          <p:cNvPr id="8" name="S07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66620"/>
          <a:ext cx="10515600" cy="914400"/>
        </p:xfrm>
        <a:graphic>
          <a:graphicData uri="http://schemas.openxmlformats.org/drawingml/2006/table">
            <a:tbl>
              <a:tblPr/>
              <a:tblGrid>
                <a:gridCol w="3364992"/>
                <a:gridCol w="3364992"/>
                <a:gridCol w="3785616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상자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둥근기둥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세우면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눕히면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보고 모양을 말해요.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있는지, 둥근 곳이 있는지 만져 봐요.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6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상자</a:t>
            </a:r>
            <a:endParaRPr lang="ko-KR" sz="3200" dirty="0"/>
          </a:p>
        </p:txBody>
      </p:sp>
      <p:sp>
        <p:nvSpPr>
          <p:cNvPr id="8" name="S08-chip6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</a:t>
            </a:r>
            <a:endParaRPr lang="ko-KR" sz="3200" dirty="0"/>
          </a:p>
        </p:txBody>
      </p:sp>
      <p:sp>
        <p:nvSpPr>
          <p:cNvPr id="10" name="S08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200" dirty="0"/>
          </a:p>
        </p:txBody>
      </p:sp>
      <p:sp>
        <p:nvSpPr>
          <p:cNvPr id="12" name="S08-chip65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66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3200" dirty="0"/>
          </a:p>
        </p:txBody>
      </p:sp>
      <p:sp>
        <p:nvSpPr>
          <p:cNvPr id="14" name="S08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8-text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3200" dirty="0"/>
          </a:p>
        </p:txBody>
      </p:sp>
      <p:sp>
        <p:nvSpPr>
          <p:cNvPr id="16" name="S08-chip6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8-text7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공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봐요</a:t>
            </a:r>
            <a:endParaRPr lang="ko-KR" sz="4400" dirty="0"/>
          </a:p>
        </p:txBody>
      </p:sp>
      <p:sp>
        <p:nvSpPr>
          <p:cNvPr id="3" name="S09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세어 봐요.</a:t>
            </a:r>
            <a:endParaRPr lang="ko-KR" sz="3200" dirty="0"/>
          </a:p>
        </p:txBody>
      </p:sp>
      <p:sp>
        <p:nvSpPr>
          <p:cNvPr id="4" name="S09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모양은 몇 개? 공 모양은 몇 개?</a:t>
            </a:r>
            <a:endParaRPr lang="ko-KR" sz="3200" dirty="0"/>
          </a:p>
        </p:txBody>
      </p:sp>
      <p:sp>
        <p:nvSpPr>
          <p:cNvPr id="6" name="S09-figure74" descr="상자 모양"/>
          <p:cNvSpPr/>
          <p:nvPr/>
        </p:nvSpPr>
        <p:spPr>
          <a:xfrm>
            <a:off x="770473" y="2927151"/>
            <a:ext cx="1140858" cy="1140858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9-figure75" descr="공 모양"/>
          <p:cNvSpPr/>
          <p:nvPr/>
        </p:nvSpPr>
        <p:spPr>
          <a:xfrm>
            <a:off x="2354998" y="2927151"/>
            <a:ext cx="1140858" cy="1140858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figure76" descr="둥근기둥 모양"/>
          <p:cNvSpPr/>
          <p:nvPr/>
        </p:nvSpPr>
        <p:spPr>
          <a:xfrm>
            <a:off x="4082130" y="2927151"/>
            <a:ext cx="855643" cy="1140858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9-figure77" descr="길쭉한 상자 모양"/>
          <p:cNvSpPr/>
          <p:nvPr/>
        </p:nvSpPr>
        <p:spPr>
          <a:xfrm>
            <a:off x="5524047" y="3117294"/>
            <a:ext cx="1140858" cy="760572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9-figure78" descr="공 모양"/>
          <p:cNvSpPr/>
          <p:nvPr/>
        </p:nvSpPr>
        <p:spPr>
          <a:xfrm>
            <a:off x="7108572" y="2927151"/>
            <a:ext cx="1140858" cy="1140858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9-figure79" descr="둥근기둥 모양"/>
          <p:cNvSpPr/>
          <p:nvPr/>
        </p:nvSpPr>
        <p:spPr>
          <a:xfrm>
            <a:off x="8835704" y="2927151"/>
            <a:ext cx="855643" cy="1140858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09-figure80" descr="상자 모양"/>
          <p:cNvSpPr/>
          <p:nvPr/>
        </p:nvSpPr>
        <p:spPr>
          <a:xfrm>
            <a:off x="10277621" y="2927151"/>
            <a:ext cx="1140858" cy="1140858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10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캔은 어떤 모양일까요?</a:t>
            </a:r>
            <a:endParaRPr lang="ko-KR" sz="3200" dirty="0"/>
          </a:p>
        </p:txBody>
      </p:sp>
      <p:sp>
        <p:nvSpPr>
          <p:cNvPr id="5" name="S10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캔을 만져 보고, 누가 맞았는지 말해 보세요.</a:t>
            </a:r>
            <a:endParaRPr lang="ko-KR" sz="3200" dirty="0"/>
          </a:p>
        </p:txBody>
      </p:sp>
      <p:sp>
        <p:nvSpPr>
          <p:cNvPr id="7" name="S10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공 모양</a:t>
            </a:r>
            <a:endParaRPr lang="ko-KR" sz="2600" dirty="0"/>
          </a:p>
        </p:txBody>
      </p:sp>
      <p:sp>
        <p:nvSpPr>
          <p:cNvPr id="8" name="S10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“둥근 곳이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모양이에요.”</a:t>
            </a:r>
            <a:endParaRPr lang="ko-KR" sz="3200" dirty="0"/>
          </a:p>
        </p:txBody>
      </p:sp>
      <p:sp>
        <p:nvSpPr>
          <p:cNvPr id="9" name="S10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둥근기둥 모양</a:t>
            </a:r>
            <a:endParaRPr lang="ko-KR" sz="2600" dirty="0"/>
          </a:p>
        </p:txBody>
      </p:sp>
      <p:sp>
        <p:nvSpPr>
          <p:cNvPr id="10" name="S10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“위와 아래가 평평하니까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모양이에요.”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오렌지는 어떤 모양일까요?</a:t>
            </a:r>
            <a:endParaRPr lang="ko-KR" sz="3200" dirty="0"/>
          </a:p>
        </p:txBody>
      </p:sp>
      <p:sp>
        <p:nvSpPr>
          <p:cNvPr id="5" name="S11-chip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곳만 있는 모양은?</a:t>
            </a:r>
            <a:endParaRPr lang="ko-KR" sz="3200" dirty="0"/>
          </a:p>
        </p:txBody>
      </p:sp>
      <p:sp>
        <p:nvSpPr>
          <p:cNvPr id="7" name="S11-chip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세우면 쌓이고, 눕히면 굴러가는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물건일까요?</a:t>
            </a:r>
            <a:endParaRPr lang="ko-KR" sz="4400" dirty="0"/>
          </a:p>
        </p:txBody>
      </p:sp>
      <p:sp>
        <p:nvSpPr>
          <p:cNvPr id="3" name="S13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굴러가지만 쌓을 수 없어요.</a:t>
            </a:r>
            <a:endParaRPr lang="ko-KR" sz="3200" dirty="0"/>
          </a:p>
        </p:txBody>
      </p:sp>
      <p:sp>
        <p:nvSpPr>
          <p:cNvPr id="4" name="S13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9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9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0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3200" dirty="0"/>
          </a:p>
        </p:txBody>
      </p:sp>
      <p:sp>
        <p:nvSpPr>
          <p:cNvPr id="9" name="S13-chip10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0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0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</a:t>
            </a:r>
            <a:endParaRPr lang="ko-KR" sz="3200" dirty="0"/>
          </a:p>
        </p:txBody>
      </p:sp>
      <p:sp>
        <p:nvSpPr>
          <p:cNvPr id="12" name="S13-chip10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0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0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0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곳, 둥근 곳을 보고 모양을 나눠요.</a:t>
            </a:r>
            <a:endParaRPr lang="ko-KR" sz="3200" dirty="0"/>
          </a:p>
        </p:txBody>
      </p:sp>
      <p:sp>
        <p:nvSpPr>
          <p:cNvPr id="5" name="S14-chip10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만지고 굴려 보기</a:t>
            </a:r>
            <a:endParaRPr lang="ko-KR" sz="2600" dirty="0"/>
          </a:p>
        </p:txBody>
      </p:sp>
      <p:sp>
        <p:nvSpPr>
          <p:cNvPr id="6" name="S14-chip11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색이나 크기로 나누기</a:t>
            </a:r>
            <a:endParaRPr lang="ko-KR" sz="2600" dirty="0"/>
          </a:p>
        </p:txBody>
      </p:sp>
      <p:sp>
        <p:nvSpPr>
          <p:cNvPr id="7" name="S14-text11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1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딱풀은 어떤 모양?</a:t>
            </a:r>
            <a:endParaRPr lang="ko-KR" sz="2600" dirty="0"/>
          </a:p>
        </p:txBody>
      </p:sp>
      <p:sp>
        <p:nvSpPr>
          <p:cNvPr id="9" name="S14-text11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잘 쌓이는 모양은?</a:t>
            </a:r>
            <a:endParaRPr lang="ko-KR" sz="2600" dirty="0"/>
          </a:p>
        </p:txBody>
      </p:sp>
      <p:sp>
        <p:nvSpPr>
          <p:cNvPr id="10" name="S14-text11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평평한 곳이 없는 모양은?</a:t>
            </a:r>
            <a:endParaRPr lang="ko-KR" sz="2600" dirty="0"/>
          </a:p>
        </p:txBody>
      </p:sp>
      <p:sp>
        <p:nvSpPr>
          <p:cNvPr id="11" name="S14-text1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네모·세모·동그라미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생김새를 봐요</a:t>
            </a:r>
            <a:endParaRPr lang="ko-KR" sz="4400" dirty="0"/>
          </a:p>
        </p:txBody>
      </p:sp>
      <p:sp>
        <p:nvSpPr>
          <p:cNvPr id="3" name="S15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달라도 생김새가 같을 수 있어요.</a:t>
            </a:r>
            <a:endParaRPr lang="ko-KR" sz="3200" dirty="0"/>
          </a:p>
        </p:txBody>
      </p:sp>
      <p:sp>
        <p:nvSpPr>
          <p:cNvPr id="4" name="S15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크기 말고, 생김새를 봐요.</a:t>
            </a:r>
            <a:endParaRPr lang="ko-KR" sz="3200" dirty="0"/>
          </a:p>
        </p:txBody>
      </p:sp>
      <p:sp>
        <p:nvSpPr>
          <p:cNvPr id="6" name="S15-figure119" descr="진한 색 상자 모양"/>
          <p:cNvSpPr/>
          <p:nvPr/>
        </p:nvSpPr>
        <p:spPr>
          <a:xfrm>
            <a:off x="925647" y="2268672"/>
            <a:ext cx="1938894" cy="1938894"/>
          </a:xfrm>
          <a:prstGeom prst="cub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figure120" descr="연한 색 상자 모양"/>
          <p:cNvSpPr/>
          <p:nvPr/>
        </p:nvSpPr>
        <p:spPr>
          <a:xfrm>
            <a:off x="3618555" y="2268672"/>
            <a:ext cx="1938894" cy="193889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5-label121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 달라요 → 같은 모양</a:t>
            </a:r>
            <a:endParaRPr lang="ko-KR" sz="2600" dirty="0"/>
          </a:p>
        </p:txBody>
      </p:sp>
      <p:sp>
        <p:nvSpPr>
          <p:cNvPr id="9" name="S15-figure122" descr="상자 모양"/>
          <p:cNvSpPr/>
          <p:nvPr/>
        </p:nvSpPr>
        <p:spPr>
          <a:xfrm>
            <a:off x="6631503" y="2268672"/>
            <a:ext cx="1938894" cy="193889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5-figure123" descr="공 모양"/>
          <p:cNvSpPr/>
          <p:nvPr/>
        </p:nvSpPr>
        <p:spPr>
          <a:xfrm>
            <a:off x="9324411" y="2268672"/>
            <a:ext cx="1938894" cy="193889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5-label12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생김새가 달라요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상자·둥근기둥·공 모양</dc:title>
  <dc:subject>KR22-G01-MAT-SHAPE3D-L01</dc:subject>
  <dc:creator>education-ppt</dc:creator>
  <cp:lastModifiedBy>education-ppt</cp:lastModifiedBy>
  <cp:revision>1</cp:revision>
  <dcterms:created xsi:type="dcterms:W3CDTF">2026-10-26T07:12:59Z</dcterms:created>
  <dcterms:modified xsi:type="dcterms:W3CDTF">2026-10-26T07:12:59Z</dcterms:modified>
</cp:coreProperties>
</file>