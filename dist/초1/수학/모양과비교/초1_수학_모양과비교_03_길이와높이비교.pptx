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eccec17-e94b-b1a5-be12-dac6d221e558}">
          <p14:sldIdLst>
            <p14:sldId id="256"/>
            <p14:sldId id="257"/>
          </p14:sldIdLst>
        </p14:section>
        <p14:section name="개념" id="{0466fb95-6983-e00b-6d94-6f6efd293bdd}">
          <p14:sldIdLst>
            <p14:sldId id="258"/>
            <p14:sldId id="259"/>
            <p14:sldId id="260"/>
            <p14:sldId id="261"/>
          </p14:sldIdLst>
        </p14:section>
        <p14:section name="연습" id="{84064312-a524-9403-7122-edc744b23361}">
          <p14:sldIdLst>
            <p14:sldId id="262"/>
            <p14:sldId id="263"/>
            <p14:sldId id="264"/>
          </p14:sldIdLst>
        </p14:section>
        <p14:section name="확인" id="{f1227ae4-a036-18c4-52ca-7c71242c09cd}">
          <p14:sldIdLst>
            <p14:sldId id="265"/>
            <p14:sldId id="266"/>
            <p14:sldId id="267"/>
          </p14:sldIdLst>
        </p14:section>
        <p14:section name="정리" id="{5abfc297-9070-49bb-0a3e-7a929f41bfaa}">
          <p14:sldIdLst>
            <p14:sldId id="268"/>
          </p14:sldIdLst>
        </p14:section>
        <p14:section name="보충" id="{16ed984f-9ec3-e878-642f-576b04eaff1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길이를 비교하고 싶은 마음이 들게 합니다.
시간: 약 2분
이렇게 말해 보세요
- “엄마(아빠) 연필하고 네 연필 중에 어느 것이 더 길까? 어떻게 알 수 있을까?”
- “오늘은 길이와 높이를 비교하는 방법을 배울 거야.”
예상 답
- “제 것이 더 길어요.” “대 보면 알아요.”
주의
- 준비물의 종이 띠 3개는 길이가 서로 다르게 미리 오려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확인(비교하는 말)]
목적: 두 수나 두 묶음을 비교하고 ‘~보다 커요(작아요, 많아요)’로 말할 수 있는지 확인합니다. 오늘 길이를 비교할 때 같은 말틀을 씁니다.
시간: 약 3분
이렇게 말해 보세요
- “①은 6과 4 중에 어느 수가 더 커?”
- “②는 문장으로 말해 볼래? ‘4는 6보다…’”
- “③은 바둑돌을 놓아 보고 말해도 돼.”
정답
- ① 6
- ② 4는 6보다 작아요.
- ③ 5개 쪽이 더 많아요.
막히면
- 바둑돌로 두 줄을 놓고 하나씩 짝 지어 남는 쪽을 찾게 합니다.
- 두 문제 이상 틀리면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한쪽 끝을 맞추어 두 물건 비교]
목적: 두 물건의 한쪽 끝을 맞추고 다른 쪽 끝을 보아 길이를 비교하는 방법을 시범으로 보여 줍니다.
시간: 약 4분
이렇게 말해 보세요
- “연필과 크레파스를 책상 위에 나란히 놓아 보자. 왼쪽 끝을 똑같이 맞추는 게 중요해. 그다음 오른쪽 끝을 봐.”
- “어느 것이 더 길어? 그럼 크레파스는 연필보다 어때?”
예상 답
- “연필이 더 길어요.” “크레파스는 연필보다 더 짧아요.”
막히면
- 책상 모서리에 두 물건의 끝을 대게 하면 끝을 맞추기 쉽습니다.
- ‘더 짧아요’ 문장이 어려우면 부모가 앞부분 “크레파스는 연필보다…”를 말해 주고 아이가 끝을 말하게 합니다(M2).
주의
- 화면의 점선은 왼쪽 끝을 맞춘 자리입니다. 실제 물건으로 꼭 한 번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 물건 중 가장 긴 것, 가장 짧은 것]
목적: 셋 이상을 비교할 때 ‘가장 길다, 가장 짧다’로 말하는 것을 압니다.
시간: 약 3분
이렇게 말해 보세요
- “종이 띠 세 개를 왼쪽 끝을 맞춰 놓아 볼까? 셋 중에서 제일 긴 것은?”
- “셋 중에서 제일 긴 것은 ‘가장 길다’라고 해. 가장 짧은 것은?”
예상 답
- “나 띠가 가장 길어요. 다 띠가 가장 짧아요.”
막히면
- 두 개씩 먼저 비교합니다. 가와 나 중 더 긴 것, 그것과 다 중 더 긴 것을 차례로 찾습니다.
주의
- 가 띠는 나 띠보다는 짧고 다 띠보다는 깁니다. 하나의 띠도 무엇과 비교하느냐에 따라 ‘더 길다’, ‘더 짧다’가 모두 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아래를 맞추어 높이 비교]
목적: 같은 바닥에 세운 물건은 위쪽 끝을 보고 ‘더 높다, 더 낮다’로 비교한다는 것을 압니다.
시간: 약 3분
이렇게 말해 보세요
- “두 탑이 같은 바닥에 서 있어. 위쪽 끝을 보면 어느 탑이 더 높아?”
- “나 탑은 가 탑보다 어때?”
예상 답
- “가 탑이 더 높아요.” “나 탑은 가 탑보다 더 낮아요.”
막히면
- 블록으로 5개, 3개짜리 탑을 실제로 쌓아 나란히 세워 봅니다.
주의
- 길이는 ‘길다/짧다’, 높이는 ‘높다/낮다’로 말합니다. 높이를 비교할 때는 아래(바닥)가 맞춰져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키 비교와 크다·작다]
목적: 사람이나 동물의 키는 ‘크다, 작다’로 비교한다는 것을 압니다.
시간: 약 3분
이렇게 말해 보세요
- “막대는 엄마와 너의 키를 나타낸 거야. 누가 키가 더 커?”
- “우리 등을 맞대고 서 볼까? 발은 같은 바닥에 있지? 머리 위를 보자.”
- “너는 엄마보다 키가 어때?”
예상 답
- “엄마가 더 커요.” “저는 엄마보다 키가 더 작아요.”
막히면
- 거울 앞에 나란히 서서 머리 위에 손을 대 보게 합니다.
주의
- ‘키가 길어요’, ‘키가 높아요’라고 하면 “키는 ‘크다’라고 해.”라고 고쳐 줍니다(M3).
- 아빠, 형제 등 실제로 비교하는 사람에 맞게 바꾸어 말해도 됩니다.
-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연습(두 띠 길이 비교)]
목적: 도움을 받으며 두 띠의 길이를 비교하고 문장으로 말합니다.
시간: 약 4분
이렇게 말해 보세요
- “①에서 가 띠와 나 띠 중 어느 것이 더 길어? ‘○ 띠가 ○ 띠보다 더 길어요’로 말해 볼래?”
- “②도 해 보자. 이번에는 ‘더 짧아요’로 말해 볼까?”
- “이제 진짜 연필 두 자루로 해 보자.”
정답
- ① 나 띠가 가 띠보다 더 길어요. (가 띠가 나 띠보다 더 짧아요.)
- ② 다 띠가 라 띠보다 더 길어요. 라 띠가 다 띠보다 더 짧아요.
막히면
- 오른쪽 끝에 손가락을 대고 “어느 손가락이 더 멀리 있어?”라고 묻습니다.
- 문장이 어려우면 부모가 “라 띠가 다 띠보다…”까지 말해 주고 아이가 끝을 말하게 합니다(M2).
주의
- 연필 비교는 집에 있는 연필에 따라 답이 다릅니다. 끝을 맞추었는지만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비교(끝을 맞추지 않음)]
목적: 끝을 맞추지 않고 비교하면 틀릴 수 있다는 것을 확인합니다(M1).
시간: 약 3분
이렇게 말해 보세요
- “토끼는 가 띠가 더 길대. 오른쪽 끝만 봤어. 왼쪽 끝은 맞춰져 있어?”
- “종이 띠로 똑같이 놓아 보고, 왼쪽 끝을 맞춰서 다시 비교해 보자.”
예상 답
- “아니에요. 가 띠가 오른쪽에서 시작했어요. 끝을 맞추면 나 띠가 더 길어요.”
정답
- 토끼의 말은 틀렸습니다. 왼쪽 끝이 맞춰져 있지 않습니다. 끝을 맞추면 나 띠가 가 띠보다 더 깁니다.
막히면
- 종이 띠 두 개(예: 15cm와 20cm)를 화면처럼 짧은 띠를 오른쪽으로 밀어 놓고 비교한 뒤, 왼쪽 끝을 맞춰 다시 비교합니다.
주의
- 화면에서 가 띠는 나 띠보다 짧지만, 오른쪽으로 밀려 있어 길어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연습(세 탑의 높이)]
목적: 도움을 받으며 세 물건의 높이를 비교하고 ‘가장 높다, 가장 낮다’로 말합니다.
시간: 약 5분
이렇게 말해 보세요
- “세 탑의 바닥이 맞춰져 있지? 가장 높은 탑은 어느 거야? 가장 낮은 탑은?”
- “이제 블록으로 탑 세 개를 쌓아 볼까? 엄마(아빠)가 하나, 네가 둘 쌓자. 어느 탑이 가장 높아?”
정답
- 가장 높은 탑은 나 탑(블록 6개), 가장 낮은 탑은 다 탑(블록 3개)입니다. 가 탑(블록 4개)은 나 탑보다 낮고 다 탑보다 높습니다.
막히면
- 위쪽 끝에 손바닥을 대어 보게 합니다. 손이 가장 위에 있는 탑이 가장 높습니다.
주의
- 실제로 쌓을 때는 블록 크기가 서로 다를 수 있습니다. 블록 수가 아니라 위쪽 끝을 보고 비교하게 합니다(M3).
- 쌓은 탑이 무너지지 않게 낮게 쌓습니다.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길이와 높이를 비교하고 알맞은 말로 말할 수 있는지 확인합니다.
시간: 약 4분
이렇게 말해 보세요
- “이번에는 혼자 해 볼래? ①은 띠, ②는 탑이야. 문장으로 말해 줘.”
정답
- ① 가 띠가 나 띠보다 더 짧아요.
- ② 라 탑이 다 탑보다 더 낮아요.
막히면
- 바로 알려 주지 말고 “끝이 맞춰져 있니? 어디를 보면 될까?”라고만 묻습니다.
- 도움을 받아 해결했다면 기록표에 ‘도움’으로 표시합니다.
주의
- 답만 말하면 “문장으로 말해 볼래?”라고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종이 띠와 블록으로 다시 해 보자.”
정답
- ① 가 띠(가 띠가 나 띠보다 더 짧아요) ② 라 탑(라 탑이 다 탑보다 더 낮아요)
막히면
- ①에서 나 띠를 골랐다면 ‘더 긴 것’과 ‘더 짧은 것’을 바꾼 것입니다. “짧은 것을 찾는 거야.”라고 다시 읽어 줍니다(M2).
- ②를 ‘작아요’라고 했다면 “탑은 ‘높다, 낮다’로 말해.”라고 알려 줍니다(M3).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확인(알맞은 비교하는 말)]
목적: 키를 비교할 때 알맞은 말(크다)을 고르는지 확인합니다.
시간: 약 2분
이렇게 말해 보세요
- “□에 들어갈 알맞은 말은 무엇일까? 문장을 처음부터 읽어 볼래?”
정답
- 가(커요). 사람이나 동물의 키는 ‘크다, 작다’로 말합니다. 길이는 ‘길다’, 높이는 ‘높다’로 말합니다.
막히면
- S06의 ‘엄마가 나보다 키가 더 커요’를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“길이를 비교할 때 가장 먼저 무엇을 해야 할까? 키는 어떤 말로 비교해?”
예상 답
- “끝을 맞춰요.” “키는 크다, 작다로 말해요.”
정답
- ① 지우개 ② 커요 ③ 의자(집의 물건에 따라 다르면 실제로 대어 보고 판단합니다)
막히면
- 종이 띠 두 개로 끝 맞추기를 한 번 더 해 봅니다.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보충(짝 지어 비교하고 말하기)]
목적: S02에서 비교하는 말이 흔들리면, 바둑돌을 짝 지어 비교하고 ‘~보다’ 문장으로 말하는 연습부터 합니다.
시간: 약 5분
이렇게 말해 보세요
- “바둑돌 5개와 3개를 위아래로 하나씩 짝 지어 놓아 보자. 어느 쪽이 남아?”
- “남는 쪽이 더 많아. ‘5는 3보다 커요’라고 말해 볼래? 3은 5보다?”
정답
- 5개 쪽이 2개 남아서 더 많습니다. 5는 3보다 크고, 3은 5보다 작습니다.
막히면
- 수를 4와 2처럼 더 작게 바꾸어 같은 방법으로 해 봅니다.
주의
- 보충으로도 ‘~보다 커요(작아요)’ 문장이 어려우면 ‘수의 순서와 크기 비교’(KR22-G01-MAT-NUM9ORD-L01)를 먼저 다시 합니다.
- 계획상 바로 앞 차시는 ‘네모·세모·동그라미 모양’(KR22-G01-MAT-SHAPE2D-L01)입니다. 이 차시는 그 내용 없이도 할 수 있습니다.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모양과비교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길이와 높이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길이와 높이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길이와 높이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길이와 높이 비교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연필이 더 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끝을 맞추어 길이를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높이와 키를 비교해요.</a:t>
            </a:r>
            <a:endParaRPr lang="ko-KR" sz="3200" dirty="0"/>
          </a:p>
        </p:txBody>
      </p:sp>
      <p:sp>
        <p:nvSpPr>
          <p:cNvPr id="6" name="S01-cell3"/>
          <p:cNvSpPr/>
          <p:nvPr/>
        </p:nvSpPr>
        <p:spPr>
          <a:xfrm>
            <a:off x="7955280" y="1371600"/>
            <a:ext cx="347472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figure4" descr="길이가 긴 띠"/>
          <p:cNvSpPr/>
          <p:nvPr/>
        </p:nvSpPr>
        <p:spPr>
          <a:xfrm>
            <a:off x="7955280" y="1371600"/>
            <a:ext cx="347472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955280" y="2194560"/>
            <a:ext cx="210312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figure6" descr="길이가 짧은 띠"/>
          <p:cNvSpPr/>
          <p:nvPr/>
        </p:nvSpPr>
        <p:spPr>
          <a:xfrm>
            <a:off x="7955280" y="2194560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1-guide7"/>
          <p:cNvSpPr/>
          <p:nvPr/>
        </p:nvSpPr>
        <p:spPr>
          <a:xfrm>
            <a:off x="7955280" y="1188720"/>
            <a:ext cx="0" cy="164592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비교하는 말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 중 더 큰 수는?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6보다 커요? 작아요?</a:t>
            </a:r>
            <a:endParaRPr lang="ko-KR" sz="32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5개와 3개, 더 많은 쪽은?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끝을 맞춰요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맞추고 오른쪽 끝을 봐요.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연필이 크레파스보다 더 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크레파스는 연필보다 더 짧아요.</a:t>
            </a:r>
            <a:endParaRPr lang="ko-KR" sz="3200" dirty="0"/>
          </a:p>
        </p:txBody>
      </p:sp>
      <p:sp>
        <p:nvSpPr>
          <p:cNvPr id="6" name="S03-text17"/>
          <p:cNvSpPr txBox="1"/>
          <p:nvPr/>
        </p:nvSpPr>
        <p:spPr>
          <a:xfrm>
            <a:off x="5486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</a:t>
            </a:r>
            <a:endParaRPr lang="ko-KR" sz="3200" dirty="0"/>
          </a:p>
        </p:txBody>
      </p:sp>
      <p:sp>
        <p:nvSpPr>
          <p:cNvPr id="7" name="S03-cell18"/>
          <p:cNvSpPr/>
          <p:nvPr/>
        </p:nvSpPr>
        <p:spPr>
          <a:xfrm>
            <a:off x="2743200" y="2286000"/>
            <a:ext cx="685800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figure19" descr="연필을 나타낸 긴 띠, 왼쪽 끝을 맞춤"/>
          <p:cNvSpPr/>
          <p:nvPr/>
        </p:nvSpPr>
        <p:spPr>
          <a:xfrm>
            <a:off x="2743200" y="2286000"/>
            <a:ext cx="68580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3-text20"/>
          <p:cNvSpPr txBox="1"/>
          <p:nvPr/>
        </p:nvSpPr>
        <p:spPr>
          <a:xfrm>
            <a:off x="5486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3200" dirty="0"/>
          </a:p>
        </p:txBody>
      </p:sp>
      <p:sp>
        <p:nvSpPr>
          <p:cNvPr id="10" name="S03-cell21"/>
          <p:cNvSpPr/>
          <p:nvPr/>
        </p:nvSpPr>
        <p:spPr>
          <a:xfrm>
            <a:off x="2743200" y="3383280"/>
            <a:ext cx="365760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figure22" descr="크레파스를 나타낸 짧은 띠, 왼쪽 끝을 맞춤"/>
          <p:cNvSpPr/>
          <p:nvPr/>
        </p:nvSpPr>
        <p:spPr>
          <a:xfrm>
            <a:off x="2743200" y="3383280"/>
            <a:ext cx="365760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guide23"/>
          <p:cNvSpPr/>
          <p:nvPr/>
        </p:nvSpPr>
        <p:spPr>
          <a:xfrm>
            <a:off x="2743200" y="2103120"/>
            <a:ext cx="0" cy="214884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긴 것 찾기</a:t>
            </a:r>
            <a:endParaRPr lang="ko-KR" sz="44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띠의 왼쪽 끝을 맞췄어요.</a:t>
            </a:r>
            <a:endParaRPr lang="ko-KR" sz="3200" dirty="0"/>
          </a:p>
        </p:txBody>
      </p:sp>
      <p:sp>
        <p:nvSpPr>
          <p:cNvPr id="4" name="S04-card2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띠가 가장 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띠가 가장 짧아요.</a:t>
            </a:r>
            <a:endParaRPr lang="ko-KR" sz="3200" dirty="0"/>
          </a:p>
        </p:txBody>
      </p:sp>
      <p:sp>
        <p:nvSpPr>
          <p:cNvPr id="6" name="S04-text27"/>
          <p:cNvSpPr txBox="1"/>
          <p:nvPr/>
        </p:nvSpPr>
        <p:spPr>
          <a:xfrm>
            <a:off x="54864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7" name="S04-cell28"/>
          <p:cNvSpPr/>
          <p:nvPr/>
        </p:nvSpPr>
        <p:spPr>
          <a:xfrm>
            <a:off x="2743200" y="2103120"/>
            <a:ext cx="5486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figure29" descr="가 띠, 왼쪽 끝을 맞춤"/>
          <p:cNvSpPr/>
          <p:nvPr/>
        </p:nvSpPr>
        <p:spPr>
          <a:xfrm>
            <a:off x="2743200" y="2103120"/>
            <a:ext cx="5486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text30"/>
          <p:cNvSpPr txBox="1"/>
          <p:nvPr/>
        </p:nvSpPr>
        <p:spPr>
          <a:xfrm>
            <a:off x="548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10" name="S04-cell31"/>
          <p:cNvSpPr/>
          <p:nvPr/>
        </p:nvSpPr>
        <p:spPr>
          <a:xfrm>
            <a:off x="2743200" y="2971800"/>
            <a:ext cx="7772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figure32" descr="나 띠, 왼쪽 끝을 맞춤"/>
          <p:cNvSpPr/>
          <p:nvPr/>
        </p:nvSpPr>
        <p:spPr>
          <a:xfrm>
            <a:off x="2743200" y="2971800"/>
            <a:ext cx="7772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4-text33"/>
          <p:cNvSpPr txBox="1"/>
          <p:nvPr/>
        </p:nvSpPr>
        <p:spPr>
          <a:xfrm>
            <a:off x="5486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띠</a:t>
            </a:r>
            <a:endParaRPr lang="ko-KR" sz="3200" dirty="0"/>
          </a:p>
        </p:txBody>
      </p:sp>
      <p:sp>
        <p:nvSpPr>
          <p:cNvPr id="13" name="S04-cell34"/>
          <p:cNvSpPr/>
          <p:nvPr/>
        </p:nvSpPr>
        <p:spPr>
          <a:xfrm>
            <a:off x="2743200" y="3840480"/>
            <a:ext cx="3200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figure35" descr="다 띠, 왼쪽 끝을 맞춤"/>
          <p:cNvSpPr/>
          <p:nvPr/>
        </p:nvSpPr>
        <p:spPr>
          <a:xfrm>
            <a:off x="2743200" y="3840480"/>
            <a:ext cx="3200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4-guide36"/>
          <p:cNvSpPr/>
          <p:nvPr/>
        </p:nvSpPr>
        <p:spPr>
          <a:xfrm>
            <a:off x="2743200" y="1965960"/>
            <a:ext cx="0" cy="192024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높이를 비교해요</a:t>
            </a:r>
            <a:endParaRPr lang="ko-KR" sz="4400" dirty="0"/>
          </a:p>
        </p:txBody>
      </p:sp>
      <p:sp>
        <p:nvSpPr>
          <p:cNvPr id="3" name="S05-card3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탑이 나 탑보다 더 높아요.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아래를 맞추고 위쪽 끝을 봐요.</a:t>
            </a:r>
            <a:endParaRPr lang="ko-KR" sz="3200" dirty="0"/>
          </a:p>
        </p:txBody>
      </p:sp>
      <p:sp>
        <p:nvSpPr>
          <p:cNvPr id="5" name="S05-cell39"/>
          <p:cNvSpPr/>
          <p:nvPr/>
        </p:nvSpPr>
        <p:spPr>
          <a:xfrm>
            <a:off x="3657600" y="196596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cell40"/>
          <p:cNvSpPr/>
          <p:nvPr/>
        </p:nvSpPr>
        <p:spPr>
          <a:xfrm>
            <a:off x="3657600" y="251460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41"/>
          <p:cNvSpPr/>
          <p:nvPr/>
        </p:nvSpPr>
        <p:spPr>
          <a:xfrm>
            <a:off x="3657600" y="306324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42"/>
          <p:cNvSpPr/>
          <p:nvPr/>
        </p:nvSpPr>
        <p:spPr>
          <a:xfrm>
            <a:off x="3657600" y="361188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43"/>
          <p:cNvSpPr/>
          <p:nvPr/>
        </p:nvSpPr>
        <p:spPr>
          <a:xfrm>
            <a:off x="3657600" y="416052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figure44" descr="블록 5개를 쌓은 가 탑"/>
          <p:cNvSpPr/>
          <p:nvPr/>
        </p:nvSpPr>
        <p:spPr>
          <a:xfrm>
            <a:off x="3657600" y="1965960"/>
            <a:ext cx="914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5-cell45"/>
          <p:cNvSpPr/>
          <p:nvPr/>
        </p:nvSpPr>
        <p:spPr>
          <a:xfrm>
            <a:off x="6949440" y="306324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46"/>
          <p:cNvSpPr/>
          <p:nvPr/>
        </p:nvSpPr>
        <p:spPr>
          <a:xfrm>
            <a:off x="6949440" y="361188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47"/>
          <p:cNvSpPr/>
          <p:nvPr/>
        </p:nvSpPr>
        <p:spPr>
          <a:xfrm>
            <a:off x="6949440" y="4160520"/>
            <a:ext cx="914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figure48" descr="블록 3개를 쌓은 나 탑"/>
          <p:cNvSpPr/>
          <p:nvPr/>
        </p:nvSpPr>
        <p:spPr>
          <a:xfrm>
            <a:off x="6949440" y="3063240"/>
            <a:ext cx="9144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5-text49"/>
          <p:cNvSpPr txBox="1"/>
          <p:nvPr/>
        </p:nvSpPr>
        <p:spPr>
          <a:xfrm>
            <a:off x="338328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탑</a:t>
            </a:r>
            <a:endParaRPr lang="ko-KR" sz="3200" dirty="0"/>
          </a:p>
        </p:txBody>
      </p:sp>
      <p:sp>
        <p:nvSpPr>
          <p:cNvPr id="16" name="S05-text50"/>
          <p:cNvSpPr txBox="1"/>
          <p:nvPr/>
        </p:nvSpPr>
        <p:spPr>
          <a:xfrm>
            <a:off x="66751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탑</a:t>
            </a:r>
            <a:endParaRPr lang="ko-KR" sz="3200" dirty="0"/>
          </a:p>
        </p:txBody>
      </p:sp>
      <p:sp>
        <p:nvSpPr>
          <p:cNvPr id="17" name="S05-cell51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figure52" descr="바닥선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비교해요</a:t>
            </a:r>
            <a:endParaRPr lang="ko-KR" sz="4400" dirty="0"/>
          </a:p>
        </p:txBody>
      </p:sp>
      <p:sp>
        <p:nvSpPr>
          <p:cNvPr id="3" name="S06-card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나보다 키가 더 커요.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‘크다, 작다’로 말해요.</a:t>
            </a:r>
            <a:endParaRPr lang="ko-KR" sz="3200" dirty="0"/>
          </a:p>
        </p:txBody>
      </p:sp>
      <p:sp>
        <p:nvSpPr>
          <p:cNvPr id="5" name="S06-cell55"/>
          <p:cNvSpPr/>
          <p:nvPr/>
        </p:nvSpPr>
        <p:spPr>
          <a:xfrm>
            <a:off x="3840480" y="1965960"/>
            <a:ext cx="822960" cy="2743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figure56" descr="엄마의 키를 나타낸 긴 막대"/>
          <p:cNvSpPr/>
          <p:nvPr/>
        </p:nvSpPr>
        <p:spPr>
          <a:xfrm>
            <a:off x="3840480" y="1965960"/>
            <a:ext cx="8229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cell57"/>
          <p:cNvSpPr/>
          <p:nvPr/>
        </p:nvSpPr>
        <p:spPr>
          <a:xfrm>
            <a:off x="7132320" y="2971800"/>
            <a:ext cx="822960" cy="17373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figure58" descr="나의 키를 나타낸 짧은 막대"/>
          <p:cNvSpPr/>
          <p:nvPr/>
        </p:nvSpPr>
        <p:spPr>
          <a:xfrm>
            <a:off x="7132320" y="2971800"/>
            <a:ext cx="8229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text59"/>
          <p:cNvSpPr txBox="1"/>
          <p:nvPr/>
        </p:nvSpPr>
        <p:spPr>
          <a:xfrm>
            <a:off x="352044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</a:t>
            </a:r>
            <a:endParaRPr lang="ko-KR" sz="3200" dirty="0"/>
          </a:p>
        </p:txBody>
      </p:sp>
      <p:sp>
        <p:nvSpPr>
          <p:cNvPr id="10" name="S06-text60"/>
          <p:cNvSpPr txBox="1"/>
          <p:nvPr/>
        </p:nvSpPr>
        <p:spPr>
          <a:xfrm>
            <a:off x="6812280" y="2423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1" name="S06-cell61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figure62" descr="바닥선"/>
          <p:cNvSpPr/>
          <p:nvPr/>
        </p:nvSpPr>
        <p:spPr>
          <a:xfrm>
            <a:off x="2286000" y="4709160"/>
            <a:ext cx="713232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띠가 더 길까요?</a:t>
            </a:r>
            <a:endParaRPr lang="ko-KR" sz="4400" dirty="0"/>
          </a:p>
        </p:txBody>
      </p:sp>
      <p:sp>
        <p:nvSpPr>
          <p:cNvPr id="3" name="S07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맞췄어요.</a:t>
            </a:r>
            <a:endParaRPr lang="ko-KR" sz="3200" dirty="0"/>
          </a:p>
        </p:txBody>
      </p:sp>
      <p:sp>
        <p:nvSpPr>
          <p:cNvPr id="4" name="S07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긴 띠와 더 짧은 띠를 문장으로 말해요.</a:t>
            </a:r>
            <a:endParaRPr lang="ko-KR" sz="3200" dirty="0"/>
          </a:p>
        </p:txBody>
      </p:sp>
      <p:sp>
        <p:nvSpPr>
          <p:cNvPr id="6" name="S07-text66"/>
          <p:cNvSpPr txBox="1"/>
          <p:nvPr/>
        </p:nvSpPr>
        <p:spPr>
          <a:xfrm>
            <a:off x="54864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3200" dirty="0"/>
          </a:p>
        </p:txBody>
      </p:sp>
      <p:sp>
        <p:nvSpPr>
          <p:cNvPr id="7" name="S07-text67"/>
          <p:cNvSpPr txBox="1"/>
          <p:nvPr/>
        </p:nvSpPr>
        <p:spPr>
          <a:xfrm>
            <a:off x="54864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8" name="S07-cell68"/>
          <p:cNvSpPr/>
          <p:nvPr/>
        </p:nvSpPr>
        <p:spPr>
          <a:xfrm>
            <a:off x="1280160" y="2468880"/>
            <a:ext cx="292608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figure69" descr="가 띠"/>
          <p:cNvSpPr/>
          <p:nvPr/>
        </p:nvSpPr>
        <p:spPr>
          <a:xfrm>
            <a:off x="1280160" y="2468880"/>
            <a:ext cx="292608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7-text70"/>
          <p:cNvSpPr txBox="1"/>
          <p:nvPr/>
        </p:nvSpPr>
        <p:spPr>
          <a:xfrm>
            <a:off x="54864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1" name="S07-cell71"/>
          <p:cNvSpPr/>
          <p:nvPr/>
        </p:nvSpPr>
        <p:spPr>
          <a:xfrm>
            <a:off x="1280160" y="3291840"/>
            <a:ext cx="40233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72" descr="나 띠"/>
          <p:cNvSpPr/>
          <p:nvPr/>
        </p:nvSpPr>
        <p:spPr>
          <a:xfrm>
            <a:off x="1280160" y="3291840"/>
            <a:ext cx="40233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guide73"/>
          <p:cNvSpPr/>
          <p:nvPr/>
        </p:nvSpPr>
        <p:spPr>
          <a:xfrm>
            <a:off x="1280160" y="2331720"/>
            <a:ext cx="0" cy="164592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4" name="S07-text74"/>
          <p:cNvSpPr txBox="1"/>
          <p:nvPr/>
        </p:nvSpPr>
        <p:spPr>
          <a:xfrm>
            <a:off x="621792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3200" dirty="0"/>
          </a:p>
        </p:txBody>
      </p:sp>
      <p:sp>
        <p:nvSpPr>
          <p:cNvPr id="15" name="S07-text75"/>
          <p:cNvSpPr txBox="1"/>
          <p:nvPr/>
        </p:nvSpPr>
        <p:spPr>
          <a:xfrm>
            <a:off x="621792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6" name="S07-cell76"/>
          <p:cNvSpPr/>
          <p:nvPr/>
        </p:nvSpPr>
        <p:spPr>
          <a:xfrm>
            <a:off x="6949440" y="2468880"/>
            <a:ext cx="420624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figure77" descr="다 띠"/>
          <p:cNvSpPr/>
          <p:nvPr/>
        </p:nvSpPr>
        <p:spPr>
          <a:xfrm>
            <a:off x="6949440" y="2468880"/>
            <a:ext cx="42062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7-text78"/>
          <p:cNvSpPr txBox="1"/>
          <p:nvPr/>
        </p:nvSpPr>
        <p:spPr>
          <a:xfrm>
            <a:off x="621792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9" name="S07-cell79"/>
          <p:cNvSpPr/>
          <p:nvPr/>
        </p:nvSpPr>
        <p:spPr>
          <a:xfrm>
            <a:off x="6949440" y="3291840"/>
            <a:ext cx="31089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figure80" descr="라 띠"/>
          <p:cNvSpPr/>
          <p:nvPr/>
        </p:nvSpPr>
        <p:spPr>
          <a:xfrm>
            <a:off x="6949440" y="3291840"/>
            <a:ext cx="3108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7-guide81"/>
          <p:cNvSpPr/>
          <p:nvPr/>
        </p:nvSpPr>
        <p:spPr>
          <a:xfrm>
            <a:off x="6949440" y="2331720"/>
            <a:ext cx="0" cy="164592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토끼의 말이 맞을까요?</a:t>
            </a:r>
            <a:endParaRPr lang="ko-KR" sz="44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“가 띠가 더 길어요.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더 나왔어요.”</a:t>
            </a:r>
            <a:endParaRPr lang="ko-KR" sz="3200" dirty="0"/>
          </a:p>
        </p:txBody>
      </p:sp>
      <p:sp>
        <p:nvSpPr>
          <p:cNvPr id="4" name="S08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끝을 맞추면 어떻게 될까요?</a:t>
            </a:r>
            <a:endParaRPr lang="ko-KR" sz="3200" dirty="0"/>
          </a:p>
        </p:txBody>
      </p:sp>
      <p:sp>
        <p:nvSpPr>
          <p:cNvPr id="6" name="S08-text85"/>
          <p:cNvSpPr txBox="1"/>
          <p:nvPr/>
        </p:nvSpPr>
        <p:spPr>
          <a:xfrm>
            <a:off x="54864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7" name="S08-cell86"/>
          <p:cNvSpPr/>
          <p:nvPr/>
        </p:nvSpPr>
        <p:spPr>
          <a:xfrm>
            <a:off x="4206240" y="2743200"/>
            <a:ext cx="54864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figure87" descr="왼쪽 끝이 오른쪽으로 밀려 있는 가 띠"/>
          <p:cNvSpPr/>
          <p:nvPr/>
        </p:nvSpPr>
        <p:spPr>
          <a:xfrm>
            <a:off x="4206240" y="2743200"/>
            <a:ext cx="54864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8-text88"/>
          <p:cNvSpPr txBox="1"/>
          <p:nvPr/>
        </p:nvSpPr>
        <p:spPr>
          <a:xfrm>
            <a:off x="54864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10" name="S08-cell89"/>
          <p:cNvSpPr/>
          <p:nvPr/>
        </p:nvSpPr>
        <p:spPr>
          <a:xfrm>
            <a:off x="2011680" y="3657600"/>
            <a:ext cx="640080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figure90" descr="왼쪽 끝이 더 왼쪽에 있는 나 띠"/>
          <p:cNvSpPr/>
          <p:nvPr/>
        </p:nvSpPr>
        <p:spPr>
          <a:xfrm>
            <a:off x="2011680" y="3657600"/>
            <a:ext cx="640080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탑은?</a:t>
            </a:r>
            <a:endParaRPr lang="ko-KR" sz="4400" dirty="0"/>
          </a:p>
        </p:txBody>
      </p:sp>
      <p:sp>
        <p:nvSpPr>
          <p:cNvPr id="3" name="S09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탑과 가장 낮은 탑을 말해요.</a:t>
            </a:r>
            <a:endParaRPr lang="ko-KR" sz="3200" dirty="0"/>
          </a:p>
        </p:txBody>
      </p:sp>
      <p:sp>
        <p:nvSpPr>
          <p:cNvPr id="5" name="S09-cell93"/>
          <p:cNvSpPr/>
          <p:nvPr/>
        </p:nvSpPr>
        <p:spPr>
          <a:xfrm>
            <a:off x="2743200" y="28803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cell94"/>
          <p:cNvSpPr/>
          <p:nvPr/>
        </p:nvSpPr>
        <p:spPr>
          <a:xfrm>
            <a:off x="2743200" y="33375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95"/>
          <p:cNvSpPr/>
          <p:nvPr/>
        </p:nvSpPr>
        <p:spPr>
          <a:xfrm>
            <a:off x="2743200" y="37947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96"/>
          <p:cNvSpPr/>
          <p:nvPr/>
        </p:nvSpPr>
        <p:spPr>
          <a:xfrm>
            <a:off x="2743200" y="4251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figure97" descr="블록 4개를 쌓은 가 탑"/>
          <p:cNvSpPr/>
          <p:nvPr/>
        </p:nvSpPr>
        <p:spPr>
          <a:xfrm>
            <a:off x="2743200" y="2880360"/>
            <a:ext cx="82296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9-text98"/>
          <p:cNvSpPr txBox="1"/>
          <p:nvPr/>
        </p:nvSpPr>
        <p:spPr>
          <a:xfrm>
            <a:off x="242316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탑</a:t>
            </a:r>
            <a:endParaRPr lang="ko-KR" sz="3200" dirty="0"/>
          </a:p>
        </p:txBody>
      </p:sp>
      <p:sp>
        <p:nvSpPr>
          <p:cNvPr id="11" name="S09-cell99"/>
          <p:cNvSpPr/>
          <p:nvPr/>
        </p:nvSpPr>
        <p:spPr>
          <a:xfrm>
            <a:off x="5486400" y="1965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cell100"/>
          <p:cNvSpPr/>
          <p:nvPr/>
        </p:nvSpPr>
        <p:spPr>
          <a:xfrm>
            <a:off x="5486400" y="24231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cell101"/>
          <p:cNvSpPr/>
          <p:nvPr/>
        </p:nvSpPr>
        <p:spPr>
          <a:xfrm>
            <a:off x="5486400" y="28803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102"/>
          <p:cNvSpPr/>
          <p:nvPr/>
        </p:nvSpPr>
        <p:spPr>
          <a:xfrm>
            <a:off x="5486400" y="33375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03"/>
          <p:cNvSpPr/>
          <p:nvPr/>
        </p:nvSpPr>
        <p:spPr>
          <a:xfrm>
            <a:off x="5486400" y="37947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104"/>
          <p:cNvSpPr/>
          <p:nvPr/>
        </p:nvSpPr>
        <p:spPr>
          <a:xfrm>
            <a:off x="5486400" y="4251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figure105" descr="블록 6개를 쌓은 나 탑"/>
          <p:cNvSpPr/>
          <p:nvPr/>
        </p:nvSpPr>
        <p:spPr>
          <a:xfrm>
            <a:off x="5486400" y="1965960"/>
            <a:ext cx="8229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9-text106"/>
          <p:cNvSpPr txBox="1"/>
          <p:nvPr/>
        </p:nvSpPr>
        <p:spPr>
          <a:xfrm>
            <a:off x="5166360" y="1417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탑</a:t>
            </a:r>
            <a:endParaRPr lang="ko-KR" sz="3200" dirty="0"/>
          </a:p>
        </p:txBody>
      </p:sp>
      <p:sp>
        <p:nvSpPr>
          <p:cNvPr id="19" name="S09-cell107"/>
          <p:cNvSpPr/>
          <p:nvPr/>
        </p:nvSpPr>
        <p:spPr>
          <a:xfrm>
            <a:off x="8229600" y="33375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9-cell108"/>
          <p:cNvSpPr/>
          <p:nvPr/>
        </p:nvSpPr>
        <p:spPr>
          <a:xfrm>
            <a:off x="8229600" y="37947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9-cell109"/>
          <p:cNvSpPr/>
          <p:nvPr/>
        </p:nvSpPr>
        <p:spPr>
          <a:xfrm>
            <a:off x="8229600" y="425196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9-figure110" descr="블록 3개를 쌓은 다 탑"/>
          <p:cNvSpPr/>
          <p:nvPr/>
        </p:nvSpPr>
        <p:spPr>
          <a:xfrm>
            <a:off x="8229600" y="3337560"/>
            <a:ext cx="82296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9-text111"/>
          <p:cNvSpPr txBox="1"/>
          <p:nvPr/>
        </p:nvSpPr>
        <p:spPr>
          <a:xfrm>
            <a:off x="790956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탑</a:t>
            </a:r>
            <a:endParaRPr lang="ko-KR" sz="3200" dirty="0"/>
          </a:p>
        </p:txBody>
      </p:sp>
      <p:sp>
        <p:nvSpPr>
          <p:cNvPr id="24" name="S09-cell112"/>
          <p:cNvSpPr/>
          <p:nvPr/>
        </p:nvSpPr>
        <p:spPr>
          <a:xfrm>
            <a:off x="2011680" y="4709160"/>
            <a:ext cx="786384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9-figure113" descr="바닥선"/>
          <p:cNvSpPr/>
          <p:nvPr/>
        </p:nvSpPr>
        <p:spPr>
          <a:xfrm>
            <a:off x="2011680" y="4709160"/>
            <a:ext cx="786384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1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1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더 짧은 띠는?   ② 더 낮은 탑은?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‘○는 ○보다 더 짧아요(낮아요)’로 말해요.</a:t>
            </a:r>
            <a:endParaRPr lang="ko-KR" sz="3200" dirty="0"/>
          </a:p>
        </p:txBody>
      </p:sp>
      <p:sp>
        <p:nvSpPr>
          <p:cNvPr id="5" name="S10-text116"/>
          <p:cNvSpPr txBox="1"/>
          <p:nvPr/>
        </p:nvSpPr>
        <p:spPr>
          <a:xfrm>
            <a:off x="548640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띠</a:t>
            </a:r>
            <a:endParaRPr lang="ko-KR" sz="3200" dirty="0"/>
          </a:p>
        </p:txBody>
      </p:sp>
      <p:sp>
        <p:nvSpPr>
          <p:cNvPr id="6" name="S10-cell117"/>
          <p:cNvSpPr/>
          <p:nvPr/>
        </p:nvSpPr>
        <p:spPr>
          <a:xfrm>
            <a:off x="1828800" y="2194560"/>
            <a:ext cx="31089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figure118" descr="가 띠, 왼쪽 끝을 맞춤"/>
          <p:cNvSpPr/>
          <p:nvPr/>
        </p:nvSpPr>
        <p:spPr>
          <a:xfrm>
            <a:off x="1828800" y="2194560"/>
            <a:ext cx="31089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0-text119"/>
          <p:cNvSpPr txBox="1"/>
          <p:nvPr/>
        </p:nvSpPr>
        <p:spPr>
          <a:xfrm>
            <a:off x="54864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띠</a:t>
            </a:r>
            <a:endParaRPr lang="ko-KR" sz="3200" dirty="0"/>
          </a:p>
        </p:txBody>
      </p:sp>
      <p:sp>
        <p:nvSpPr>
          <p:cNvPr id="9" name="S10-cell120"/>
          <p:cNvSpPr/>
          <p:nvPr/>
        </p:nvSpPr>
        <p:spPr>
          <a:xfrm>
            <a:off x="1828800" y="3108960"/>
            <a:ext cx="4023360" cy="5486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figure121" descr="나 띠, 왼쪽 끝을 맞춤"/>
          <p:cNvSpPr/>
          <p:nvPr/>
        </p:nvSpPr>
        <p:spPr>
          <a:xfrm>
            <a:off x="1828800" y="3108960"/>
            <a:ext cx="40233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0-guide122"/>
          <p:cNvSpPr/>
          <p:nvPr/>
        </p:nvSpPr>
        <p:spPr>
          <a:xfrm>
            <a:off x="1828800" y="2057400"/>
            <a:ext cx="0" cy="173736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2" name="S10-cell123"/>
          <p:cNvSpPr/>
          <p:nvPr/>
        </p:nvSpPr>
        <p:spPr>
          <a:xfrm>
            <a:off x="7863840" y="23774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0-cell124"/>
          <p:cNvSpPr/>
          <p:nvPr/>
        </p:nvSpPr>
        <p:spPr>
          <a:xfrm>
            <a:off x="7863840" y="28346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0-cell125"/>
          <p:cNvSpPr/>
          <p:nvPr/>
        </p:nvSpPr>
        <p:spPr>
          <a:xfrm>
            <a:off x="7863840" y="32918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0-cell126"/>
          <p:cNvSpPr/>
          <p:nvPr/>
        </p:nvSpPr>
        <p:spPr>
          <a:xfrm>
            <a:off x="7863840" y="37490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0-cell127"/>
          <p:cNvSpPr/>
          <p:nvPr/>
        </p:nvSpPr>
        <p:spPr>
          <a:xfrm>
            <a:off x="7863840" y="42062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figure128" descr="블록 5개를 쌓은 다 탑"/>
          <p:cNvSpPr/>
          <p:nvPr/>
        </p:nvSpPr>
        <p:spPr>
          <a:xfrm>
            <a:off x="7863840" y="2377440"/>
            <a:ext cx="82296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0-cell129"/>
          <p:cNvSpPr/>
          <p:nvPr/>
        </p:nvSpPr>
        <p:spPr>
          <a:xfrm>
            <a:off x="9692640" y="32918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130"/>
          <p:cNvSpPr/>
          <p:nvPr/>
        </p:nvSpPr>
        <p:spPr>
          <a:xfrm>
            <a:off x="9692640" y="37490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131"/>
          <p:cNvSpPr/>
          <p:nvPr/>
        </p:nvSpPr>
        <p:spPr>
          <a:xfrm>
            <a:off x="9692640" y="4206240"/>
            <a:ext cx="822960" cy="457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figure132" descr="블록 3개를 쌓은 라 탑"/>
          <p:cNvSpPr/>
          <p:nvPr/>
        </p:nvSpPr>
        <p:spPr>
          <a:xfrm>
            <a:off x="9692640" y="3291840"/>
            <a:ext cx="82296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0-text133"/>
          <p:cNvSpPr txBox="1"/>
          <p:nvPr/>
        </p:nvSpPr>
        <p:spPr>
          <a:xfrm>
            <a:off x="7543800" y="1828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탑</a:t>
            </a:r>
            <a:endParaRPr lang="ko-KR" sz="3200" dirty="0"/>
          </a:p>
        </p:txBody>
      </p:sp>
      <p:sp>
        <p:nvSpPr>
          <p:cNvPr id="23" name="S10-text134"/>
          <p:cNvSpPr txBox="1"/>
          <p:nvPr/>
        </p:nvSpPr>
        <p:spPr>
          <a:xfrm>
            <a:off x="937260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탑</a:t>
            </a:r>
            <a:endParaRPr lang="ko-KR" sz="3200" dirty="0"/>
          </a:p>
        </p:txBody>
      </p:sp>
      <p:sp>
        <p:nvSpPr>
          <p:cNvPr id="24" name="S10-cell135"/>
          <p:cNvSpPr/>
          <p:nvPr/>
        </p:nvSpPr>
        <p:spPr>
          <a:xfrm>
            <a:off x="6949440" y="4663440"/>
            <a:ext cx="4480560" cy="54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0-figure136" descr="바닥선"/>
          <p:cNvSpPr/>
          <p:nvPr/>
        </p:nvSpPr>
        <p:spPr>
          <a:xfrm>
            <a:off x="6949440" y="4663440"/>
            <a:ext cx="4480560" cy="5486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3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‘더 짧은’을 묻는데 긴 것을 고르면 문제를 다시 읽어 주세요.</a:t>
            </a:r>
            <a:endParaRPr lang="ko-KR" sz="3200" dirty="0"/>
          </a:p>
        </p:txBody>
      </p:sp>
      <p:sp>
        <p:nvSpPr>
          <p:cNvPr id="5" name="S11-chip13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40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 띠</a:t>
            </a:r>
            <a:endParaRPr lang="ko-KR" sz="3200" dirty="0"/>
          </a:p>
        </p:txBody>
      </p:sp>
      <p:sp>
        <p:nvSpPr>
          <p:cNvPr id="7" name="S11-text141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짧아요</a:t>
            </a:r>
            <a:endParaRPr lang="ko-KR" sz="2600" dirty="0"/>
          </a:p>
        </p:txBody>
      </p:sp>
      <p:sp>
        <p:nvSpPr>
          <p:cNvPr id="8" name="S11-text142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라 탑</a:t>
            </a:r>
            <a:endParaRPr lang="ko-KR" sz="3200" dirty="0"/>
          </a:p>
        </p:txBody>
      </p:sp>
      <p:sp>
        <p:nvSpPr>
          <p:cNvPr id="9" name="S11-text143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낮아요</a:t>
            </a:r>
            <a:endParaRPr lang="ko-KR" sz="2600" dirty="0"/>
          </a:p>
        </p:txBody>
      </p:sp>
      <p:sp>
        <p:nvSpPr>
          <p:cNvPr id="10" name="S11-chip14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14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 띠</a:t>
            </a:r>
            <a:endParaRPr lang="ko-KR" sz="3200" dirty="0"/>
          </a:p>
        </p:txBody>
      </p:sp>
      <p:sp>
        <p:nvSpPr>
          <p:cNvPr id="12" name="S11-text14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쪽을 고름</a:t>
            </a:r>
            <a:endParaRPr lang="ko-KR" sz="2600" dirty="0"/>
          </a:p>
        </p:txBody>
      </p:sp>
      <p:sp>
        <p:nvSpPr>
          <p:cNvPr id="13" name="S11-text14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라 탑이 작아요</a:t>
            </a:r>
            <a:endParaRPr lang="ko-KR" sz="3200" dirty="0"/>
          </a:p>
        </p:txBody>
      </p:sp>
      <p:sp>
        <p:nvSpPr>
          <p:cNvPr id="14" name="S11-text14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탑은 ‘낮다’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말은?</a:t>
            </a:r>
            <a:endParaRPr lang="ko-KR" sz="4400" dirty="0"/>
          </a:p>
        </p:txBody>
      </p:sp>
      <p:sp>
        <p:nvSpPr>
          <p:cNvPr id="3" name="S12-text1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기린은 토끼보다 키가 더 □.</a:t>
            </a:r>
            <a:endParaRPr lang="ko-KR" sz="3200" dirty="0"/>
          </a:p>
        </p:txBody>
      </p:sp>
      <p:sp>
        <p:nvSpPr>
          <p:cNvPr id="4" name="S12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15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5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5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커요</a:t>
            </a:r>
            <a:endParaRPr lang="ko-KR" sz="3200" dirty="0"/>
          </a:p>
        </p:txBody>
      </p:sp>
      <p:sp>
        <p:nvSpPr>
          <p:cNvPr id="9" name="S12-chip15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5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5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길어요</a:t>
            </a:r>
            <a:endParaRPr lang="ko-KR" sz="3200" dirty="0"/>
          </a:p>
        </p:txBody>
      </p:sp>
      <p:sp>
        <p:nvSpPr>
          <p:cNvPr id="12" name="S12-chip15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5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6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6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끝을 맞추고, 다른 쪽 끝을 비교해요.</a:t>
            </a:r>
            <a:endParaRPr lang="ko-KR" sz="3200" dirty="0"/>
          </a:p>
        </p:txBody>
      </p:sp>
      <p:sp>
        <p:nvSpPr>
          <p:cNvPr id="5" name="S13-chip16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끝을 맞추고 비교하기</a:t>
            </a:r>
            <a:endParaRPr lang="ko-KR" sz="2600" dirty="0"/>
          </a:p>
        </p:txBody>
      </p:sp>
      <p:sp>
        <p:nvSpPr>
          <p:cNvPr id="6" name="S13-chip16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끝을 안 맞추고 보기</a:t>
            </a:r>
            <a:endParaRPr lang="ko-KR" sz="2600" dirty="0"/>
          </a:p>
        </p:txBody>
      </p:sp>
      <p:sp>
        <p:nvSpPr>
          <p:cNvPr id="7" name="S13-text16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6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연필과 지우개, 더 짧은 것은?</a:t>
            </a:r>
            <a:endParaRPr lang="ko-KR" sz="2600" dirty="0"/>
          </a:p>
        </p:txBody>
      </p:sp>
      <p:sp>
        <p:nvSpPr>
          <p:cNvPr id="9" name="S13-text16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아빠는 나보다 키가 더 ○○.</a:t>
            </a:r>
            <a:endParaRPr lang="ko-KR" sz="2600" dirty="0"/>
          </a:p>
        </p:txBody>
      </p:sp>
      <p:sp>
        <p:nvSpPr>
          <p:cNvPr id="10" name="S13-text16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책상과 의자, 더 낮은 것은?</a:t>
            </a:r>
            <a:endParaRPr lang="ko-KR" sz="2600" dirty="0"/>
          </a:p>
        </p:txBody>
      </p:sp>
      <p:sp>
        <p:nvSpPr>
          <p:cNvPr id="11" name="S13-text1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무게·넓이·담을 수 있는 양 비교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더 많은 쪽은?</a:t>
            </a:r>
            <a:endParaRPr lang="ko-KR" sz="4400" dirty="0"/>
          </a:p>
        </p:txBody>
      </p:sp>
      <p:sp>
        <p:nvSpPr>
          <p:cNvPr id="3" name="S14-card1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5는 3보다 커요. 3은 5보다 작아요.</a:t>
            </a:r>
            <a:endParaRPr lang="ko-KR" sz="3200" dirty="0"/>
          </a:p>
        </p:txBody>
      </p:sp>
      <p:sp>
        <p:nvSpPr>
          <p:cNvPr id="5" name="S14-dot172"/>
          <p:cNvSpPr/>
          <p:nvPr/>
        </p:nvSpPr>
        <p:spPr>
          <a:xfrm>
            <a:off x="16573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4-dot173"/>
          <p:cNvSpPr/>
          <p:nvPr/>
        </p:nvSpPr>
        <p:spPr>
          <a:xfrm>
            <a:off x="23431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74"/>
          <p:cNvSpPr/>
          <p:nvPr/>
        </p:nvSpPr>
        <p:spPr>
          <a:xfrm>
            <a:off x="30289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175"/>
          <p:cNvSpPr/>
          <p:nvPr/>
        </p:nvSpPr>
        <p:spPr>
          <a:xfrm>
            <a:off x="37147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dot176"/>
          <p:cNvSpPr/>
          <p:nvPr/>
        </p:nvSpPr>
        <p:spPr>
          <a:xfrm>
            <a:off x="44005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figure177" descr="주황 점 5개"/>
          <p:cNvSpPr/>
          <p:nvPr/>
        </p:nvSpPr>
        <p:spPr>
          <a:xfrm>
            <a:off x="1527048" y="2620899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4-label178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</a:t>
            </a:r>
            <a:endParaRPr lang="ko-KR" sz="2600" dirty="0"/>
          </a:p>
        </p:txBody>
      </p:sp>
      <p:sp>
        <p:nvSpPr>
          <p:cNvPr id="12" name="S14-dot179"/>
          <p:cNvSpPr/>
          <p:nvPr/>
        </p:nvSpPr>
        <p:spPr>
          <a:xfrm>
            <a:off x="80490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80"/>
          <p:cNvSpPr/>
          <p:nvPr/>
        </p:nvSpPr>
        <p:spPr>
          <a:xfrm>
            <a:off x="87348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181"/>
          <p:cNvSpPr/>
          <p:nvPr/>
        </p:nvSpPr>
        <p:spPr>
          <a:xfrm>
            <a:off x="94206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figure182" descr="파란 점 3개"/>
          <p:cNvSpPr/>
          <p:nvPr/>
        </p:nvSpPr>
        <p:spPr>
          <a:xfrm>
            <a:off x="7918704" y="2620899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4-label183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길이와 높이 비교</dc:title>
  <dc:subject>KR22-G01-MAT-LENGTH-L01</dc:subject>
  <dc:creator>education-ppt</dc:creator>
  <cp:lastModifiedBy>education-ppt</cp:lastModifiedBy>
  <cp:revision>1</cp:revision>
  <dcterms:created xsi:type="dcterms:W3CDTF">2026-10-26T07:10:44Z</dcterms:created>
  <dcterms:modified xsi:type="dcterms:W3CDTF">2026-10-26T07:10:44Z</dcterms:modified>
</cp:coreProperties>
</file>