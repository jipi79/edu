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4694c31-7e6c-2340-1b38-5fa8b7872736}">
          <p14:sldIdLst>
            <p14:sldId id="256"/>
            <p14:sldId id="257"/>
          </p14:sldIdLst>
        </p14:section>
        <p14:section name="개념" id="{8ea17958-1688-cc3d-a091-c139b2073d69}">
          <p14:sldIdLst>
            <p14:sldId id="258"/>
            <p14:sldId id="259"/>
            <p14:sldId id="260"/>
            <p14:sldId id="261"/>
          </p14:sldIdLst>
        </p14:section>
        <p14:section name="연습" id="{2fa1dc56-aaab-4473-4493-075a189cd9dd}">
          <p14:sldIdLst>
            <p14:sldId id="262"/>
            <p14:sldId id="263"/>
            <p14:sldId id="264"/>
          </p14:sldIdLst>
        </p14:section>
        <p14:section name="확인" id="{7f660f87-80c9-3a5f-8d92-3d444533876c}">
          <p14:sldIdLst>
            <p14:sldId id="265"/>
            <p14:sldId id="266"/>
          </p14:sldIdLst>
        </p14:section>
        <p14:section name="정리" id="{8acbafc6-02e9-5836-0738-b4e8b8c76ef7}">
          <p14:sldIdLst>
            <p14:sldId id="267"/>
          </p14:sldIdLst>
        </p14:section>
        <p14:section name="보충" id="{063627fe-b748-1008-2e87-f7ef7fba871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길이와 높이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연필이 더 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끝을 맞추어 길이를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높이와 키를 비교해요.</a:t>
            </a:r>
            <a:endParaRPr lang="ko-KR" sz="3200" dirty="0"/>
          </a:p>
        </p:txBody>
      </p:sp>
      <p:sp>
        <p:nvSpPr>
          <p:cNvPr id="6" name="S01-cell3"/>
          <p:cNvSpPr/>
          <p:nvPr/>
        </p:nvSpPr>
        <p:spPr>
          <a:xfrm>
            <a:off x="7955280" y="1371600"/>
            <a:ext cx="347472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길이가 긴 띠"/>
          <p:cNvSpPr/>
          <p:nvPr/>
        </p:nvSpPr>
        <p:spPr>
          <a:xfrm>
            <a:off x="7955280" y="1371600"/>
            <a:ext cx="347472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955280" y="2194560"/>
            <a:ext cx="210312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figure6" descr="길이가 짧은 띠"/>
          <p:cNvSpPr/>
          <p:nvPr/>
        </p:nvSpPr>
        <p:spPr>
          <a:xfrm>
            <a:off x="7955280" y="2194560"/>
            <a:ext cx="210312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1-guide7"/>
          <p:cNvSpPr/>
          <p:nvPr/>
        </p:nvSpPr>
        <p:spPr>
          <a:xfrm>
            <a:off x="7955280" y="1188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말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 중 더 큰 수는?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6보다 커요? 작아요?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5개와 3개, 더 많은 쪽은?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맞춰요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연필이 크레파스보다 더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연필보다 더 짧아요.</a:t>
            </a:r>
            <a:endParaRPr lang="ko-KR" sz="3200" dirty="0"/>
          </a:p>
        </p:txBody>
      </p:sp>
      <p:sp>
        <p:nvSpPr>
          <p:cNvPr id="6" name="S03-text17"/>
          <p:cNvSpPr txBox="1"/>
          <p:nvPr/>
        </p:nvSpPr>
        <p:spPr>
          <a:xfrm>
            <a:off x="5486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</a:t>
            </a:r>
            <a:endParaRPr lang="ko-KR" sz="3200" dirty="0"/>
          </a:p>
        </p:txBody>
      </p:sp>
      <p:sp>
        <p:nvSpPr>
          <p:cNvPr id="7" name="S03-cell18"/>
          <p:cNvSpPr/>
          <p:nvPr/>
        </p:nvSpPr>
        <p:spPr>
          <a:xfrm>
            <a:off x="2743200" y="2286000"/>
            <a:ext cx="685800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figure19" descr="연필을 나타낸 긴 띠, 왼쪽 끝을 맞춤"/>
          <p:cNvSpPr/>
          <p:nvPr/>
        </p:nvSpPr>
        <p:spPr>
          <a:xfrm>
            <a:off x="2743200" y="2286000"/>
            <a:ext cx="68580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3-text20"/>
          <p:cNvSpPr txBox="1"/>
          <p:nvPr/>
        </p:nvSpPr>
        <p:spPr>
          <a:xfrm>
            <a:off x="548640" y="3383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3200" dirty="0"/>
          </a:p>
        </p:txBody>
      </p:sp>
      <p:sp>
        <p:nvSpPr>
          <p:cNvPr id="10" name="S03-cell21"/>
          <p:cNvSpPr/>
          <p:nvPr/>
        </p:nvSpPr>
        <p:spPr>
          <a:xfrm>
            <a:off x="2743200" y="3383280"/>
            <a:ext cx="365760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figure22" descr="크레파스를 나타낸 짧은 띠, 왼쪽 끝을 맞춤"/>
          <p:cNvSpPr/>
          <p:nvPr/>
        </p:nvSpPr>
        <p:spPr>
          <a:xfrm>
            <a:off x="2743200" y="3383280"/>
            <a:ext cx="36576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guide23"/>
          <p:cNvSpPr/>
          <p:nvPr/>
        </p:nvSpPr>
        <p:spPr>
          <a:xfrm>
            <a:off x="2743200" y="2103120"/>
            <a:ext cx="0" cy="214884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긴 것 찾기</a:t>
            </a:r>
            <a:endParaRPr lang="ko-KR" sz="44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띠의 왼쪽 끝을 맞췄어요.</a:t>
            </a:r>
            <a:endParaRPr lang="ko-KR" sz="3200" dirty="0"/>
          </a:p>
        </p:txBody>
      </p:sp>
      <p:sp>
        <p:nvSpPr>
          <p:cNvPr id="4" name="S04-card2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띠가 가장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띠가 가장 짧아요.</a:t>
            </a:r>
            <a:endParaRPr lang="ko-KR" sz="3200" dirty="0"/>
          </a:p>
        </p:txBody>
      </p:sp>
      <p:sp>
        <p:nvSpPr>
          <p:cNvPr id="6" name="S04-text27"/>
          <p:cNvSpPr txBox="1"/>
          <p:nvPr/>
        </p:nvSpPr>
        <p:spPr>
          <a:xfrm>
            <a:off x="54864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04-cell28"/>
          <p:cNvSpPr/>
          <p:nvPr/>
        </p:nvSpPr>
        <p:spPr>
          <a:xfrm>
            <a:off x="2743200" y="2103120"/>
            <a:ext cx="5486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figure29" descr="가 띠, 왼쪽 끝을 맞춤"/>
          <p:cNvSpPr/>
          <p:nvPr/>
        </p:nvSpPr>
        <p:spPr>
          <a:xfrm>
            <a:off x="2743200" y="2103120"/>
            <a:ext cx="5486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4-text30"/>
          <p:cNvSpPr txBox="1"/>
          <p:nvPr/>
        </p:nvSpPr>
        <p:spPr>
          <a:xfrm>
            <a:off x="548640" y="2971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04-cell31"/>
          <p:cNvSpPr/>
          <p:nvPr/>
        </p:nvSpPr>
        <p:spPr>
          <a:xfrm>
            <a:off x="2743200" y="2971800"/>
            <a:ext cx="7772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figure32" descr="나 띠, 왼쪽 끝을 맞춤"/>
          <p:cNvSpPr/>
          <p:nvPr/>
        </p:nvSpPr>
        <p:spPr>
          <a:xfrm>
            <a:off x="2743200" y="2971800"/>
            <a:ext cx="7772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4-text33"/>
          <p:cNvSpPr txBox="1"/>
          <p:nvPr/>
        </p:nvSpPr>
        <p:spPr>
          <a:xfrm>
            <a:off x="54864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띠</a:t>
            </a:r>
            <a:endParaRPr lang="ko-KR" sz="3200" dirty="0"/>
          </a:p>
        </p:txBody>
      </p:sp>
      <p:sp>
        <p:nvSpPr>
          <p:cNvPr id="13" name="S04-cell34"/>
          <p:cNvSpPr/>
          <p:nvPr/>
        </p:nvSpPr>
        <p:spPr>
          <a:xfrm>
            <a:off x="2743200" y="3840480"/>
            <a:ext cx="3200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figure35" descr="다 띠, 왼쪽 끝을 맞춤"/>
          <p:cNvSpPr/>
          <p:nvPr/>
        </p:nvSpPr>
        <p:spPr>
          <a:xfrm>
            <a:off x="2743200" y="3840480"/>
            <a:ext cx="3200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4-guide36"/>
          <p:cNvSpPr/>
          <p:nvPr/>
        </p:nvSpPr>
        <p:spPr>
          <a:xfrm>
            <a:off x="2743200" y="1965960"/>
            <a:ext cx="0" cy="192024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높이를 비교해요</a:t>
            </a:r>
            <a:endParaRPr lang="ko-KR" sz="4400" dirty="0"/>
          </a:p>
        </p:txBody>
      </p:sp>
      <p:sp>
        <p:nvSpPr>
          <p:cNvPr id="3" name="S05-card3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탑이 나 탑보다 더 높아요.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아래를 맞추고 위쪽 끝을 봐요.</a:t>
            </a:r>
            <a:endParaRPr lang="ko-KR" sz="3200" dirty="0"/>
          </a:p>
        </p:txBody>
      </p:sp>
      <p:sp>
        <p:nvSpPr>
          <p:cNvPr id="5" name="S05-cell39"/>
          <p:cNvSpPr/>
          <p:nvPr/>
        </p:nvSpPr>
        <p:spPr>
          <a:xfrm>
            <a:off x="3657600" y="196596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cell40"/>
          <p:cNvSpPr/>
          <p:nvPr/>
        </p:nvSpPr>
        <p:spPr>
          <a:xfrm>
            <a:off x="3657600" y="251460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41"/>
          <p:cNvSpPr/>
          <p:nvPr/>
        </p:nvSpPr>
        <p:spPr>
          <a:xfrm>
            <a:off x="3657600" y="306324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42"/>
          <p:cNvSpPr/>
          <p:nvPr/>
        </p:nvSpPr>
        <p:spPr>
          <a:xfrm>
            <a:off x="3657600" y="361188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3"/>
          <p:cNvSpPr/>
          <p:nvPr/>
        </p:nvSpPr>
        <p:spPr>
          <a:xfrm>
            <a:off x="3657600" y="416052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figure44" descr="블록 5개를 쌓은 가 탑"/>
          <p:cNvSpPr/>
          <p:nvPr/>
        </p:nvSpPr>
        <p:spPr>
          <a:xfrm>
            <a:off x="3657600" y="1965960"/>
            <a:ext cx="9144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cell45"/>
          <p:cNvSpPr/>
          <p:nvPr/>
        </p:nvSpPr>
        <p:spPr>
          <a:xfrm>
            <a:off x="6949440" y="306324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46"/>
          <p:cNvSpPr/>
          <p:nvPr/>
        </p:nvSpPr>
        <p:spPr>
          <a:xfrm>
            <a:off x="6949440" y="361188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47"/>
          <p:cNvSpPr/>
          <p:nvPr/>
        </p:nvSpPr>
        <p:spPr>
          <a:xfrm>
            <a:off x="6949440" y="416052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figure48" descr="블록 3개를 쌓은 나 탑"/>
          <p:cNvSpPr/>
          <p:nvPr/>
        </p:nvSpPr>
        <p:spPr>
          <a:xfrm>
            <a:off x="6949440" y="3063240"/>
            <a:ext cx="9144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text49"/>
          <p:cNvSpPr txBox="1"/>
          <p:nvPr/>
        </p:nvSpPr>
        <p:spPr>
          <a:xfrm>
            <a:off x="338328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</a:t>
            </a:r>
            <a:endParaRPr lang="ko-KR" sz="3200" dirty="0"/>
          </a:p>
        </p:txBody>
      </p:sp>
      <p:sp>
        <p:nvSpPr>
          <p:cNvPr id="16" name="S05-text50"/>
          <p:cNvSpPr txBox="1"/>
          <p:nvPr/>
        </p:nvSpPr>
        <p:spPr>
          <a:xfrm>
            <a:off x="667512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탑</a:t>
            </a:r>
            <a:endParaRPr lang="ko-KR" sz="3200" dirty="0"/>
          </a:p>
        </p:txBody>
      </p:sp>
      <p:sp>
        <p:nvSpPr>
          <p:cNvPr id="17" name="S05-cell51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figure52" descr="바닥선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키를 비교해요</a:t>
            </a:r>
            <a:endParaRPr lang="ko-KR" sz="4400" dirty="0"/>
          </a:p>
        </p:txBody>
      </p:sp>
      <p:sp>
        <p:nvSpPr>
          <p:cNvPr id="3" name="S06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나보다 키가 더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키는 ‘크다, 작다’로 말해요.</a:t>
            </a:r>
            <a:endParaRPr lang="ko-KR" sz="3200" dirty="0"/>
          </a:p>
        </p:txBody>
      </p:sp>
      <p:sp>
        <p:nvSpPr>
          <p:cNvPr id="5" name="S06-cell55"/>
          <p:cNvSpPr/>
          <p:nvPr/>
        </p:nvSpPr>
        <p:spPr>
          <a:xfrm>
            <a:off x="3840480" y="1965960"/>
            <a:ext cx="822960" cy="2743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figure56" descr="엄마의 키를 나타낸 긴 막대"/>
          <p:cNvSpPr/>
          <p:nvPr/>
        </p:nvSpPr>
        <p:spPr>
          <a:xfrm>
            <a:off x="3840480" y="1965960"/>
            <a:ext cx="8229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cell57"/>
          <p:cNvSpPr/>
          <p:nvPr/>
        </p:nvSpPr>
        <p:spPr>
          <a:xfrm>
            <a:off x="7132320" y="2971800"/>
            <a:ext cx="822960" cy="1737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58" descr="나의 키를 나타낸 짧은 막대"/>
          <p:cNvSpPr/>
          <p:nvPr/>
        </p:nvSpPr>
        <p:spPr>
          <a:xfrm>
            <a:off x="7132320" y="2971800"/>
            <a:ext cx="822960" cy="17373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text59"/>
          <p:cNvSpPr txBox="1"/>
          <p:nvPr/>
        </p:nvSpPr>
        <p:spPr>
          <a:xfrm>
            <a:off x="352044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</a:t>
            </a:r>
            <a:endParaRPr lang="ko-KR" sz="3200" dirty="0"/>
          </a:p>
        </p:txBody>
      </p:sp>
      <p:sp>
        <p:nvSpPr>
          <p:cNvPr id="10" name="S06-text60"/>
          <p:cNvSpPr txBox="1"/>
          <p:nvPr/>
        </p:nvSpPr>
        <p:spPr>
          <a:xfrm>
            <a:off x="6812280" y="2423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1" name="S06-cell61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figure62" descr="바닥선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띠가 더 길까요?</a:t>
            </a:r>
            <a:endParaRPr lang="ko-KR" sz="44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맞췄어요.</a:t>
            </a:r>
            <a:endParaRPr lang="ko-KR" sz="3200" dirty="0"/>
          </a:p>
        </p:txBody>
      </p:sp>
      <p:sp>
        <p:nvSpPr>
          <p:cNvPr id="4" name="S07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긴 띠와 더 짧은 띠를 문장으로 말해요.</a:t>
            </a:r>
            <a:endParaRPr lang="ko-KR" sz="3200" dirty="0"/>
          </a:p>
        </p:txBody>
      </p:sp>
      <p:sp>
        <p:nvSpPr>
          <p:cNvPr id="6" name="S07-text66"/>
          <p:cNvSpPr txBox="1"/>
          <p:nvPr/>
        </p:nvSpPr>
        <p:spPr>
          <a:xfrm>
            <a:off x="54864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3200" dirty="0"/>
          </a:p>
        </p:txBody>
      </p:sp>
      <p:sp>
        <p:nvSpPr>
          <p:cNvPr id="7" name="S07-text67"/>
          <p:cNvSpPr txBox="1"/>
          <p:nvPr/>
        </p:nvSpPr>
        <p:spPr>
          <a:xfrm>
            <a:off x="548640" y="2468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8" name="S07-cell68"/>
          <p:cNvSpPr/>
          <p:nvPr/>
        </p:nvSpPr>
        <p:spPr>
          <a:xfrm>
            <a:off x="1280160" y="2468880"/>
            <a:ext cx="292608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figure69" descr="가 띠"/>
          <p:cNvSpPr/>
          <p:nvPr/>
        </p:nvSpPr>
        <p:spPr>
          <a:xfrm>
            <a:off x="1280160" y="2468880"/>
            <a:ext cx="29260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text70"/>
          <p:cNvSpPr txBox="1"/>
          <p:nvPr/>
        </p:nvSpPr>
        <p:spPr>
          <a:xfrm>
            <a:off x="54864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1" name="S07-cell71"/>
          <p:cNvSpPr/>
          <p:nvPr/>
        </p:nvSpPr>
        <p:spPr>
          <a:xfrm>
            <a:off x="1280160" y="3291840"/>
            <a:ext cx="40233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figure72" descr="나 띠"/>
          <p:cNvSpPr/>
          <p:nvPr/>
        </p:nvSpPr>
        <p:spPr>
          <a:xfrm>
            <a:off x="1280160" y="3291840"/>
            <a:ext cx="40233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guide73"/>
          <p:cNvSpPr/>
          <p:nvPr/>
        </p:nvSpPr>
        <p:spPr>
          <a:xfrm>
            <a:off x="1280160" y="2331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4" name="S07-text74"/>
          <p:cNvSpPr txBox="1"/>
          <p:nvPr/>
        </p:nvSpPr>
        <p:spPr>
          <a:xfrm>
            <a:off x="621792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3200" dirty="0"/>
          </a:p>
        </p:txBody>
      </p:sp>
      <p:sp>
        <p:nvSpPr>
          <p:cNvPr id="15" name="S07-text75"/>
          <p:cNvSpPr txBox="1"/>
          <p:nvPr/>
        </p:nvSpPr>
        <p:spPr>
          <a:xfrm>
            <a:off x="6217920" y="2468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" name="S07-cell76"/>
          <p:cNvSpPr/>
          <p:nvPr/>
        </p:nvSpPr>
        <p:spPr>
          <a:xfrm>
            <a:off x="6949440" y="2468880"/>
            <a:ext cx="42062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figure77" descr="다 띠"/>
          <p:cNvSpPr/>
          <p:nvPr/>
        </p:nvSpPr>
        <p:spPr>
          <a:xfrm>
            <a:off x="6949440" y="2468880"/>
            <a:ext cx="420624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text78"/>
          <p:cNvSpPr txBox="1"/>
          <p:nvPr/>
        </p:nvSpPr>
        <p:spPr>
          <a:xfrm>
            <a:off x="621792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9" name="S07-cell79"/>
          <p:cNvSpPr/>
          <p:nvPr/>
        </p:nvSpPr>
        <p:spPr>
          <a:xfrm>
            <a:off x="6949440" y="3291840"/>
            <a:ext cx="31089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figure80" descr="라 띠"/>
          <p:cNvSpPr/>
          <p:nvPr/>
        </p:nvSpPr>
        <p:spPr>
          <a:xfrm>
            <a:off x="6949440" y="3291840"/>
            <a:ext cx="3108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7-guide81"/>
          <p:cNvSpPr/>
          <p:nvPr/>
        </p:nvSpPr>
        <p:spPr>
          <a:xfrm>
            <a:off x="6949440" y="2331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토끼의 말이 맞을까요?</a:t>
            </a:r>
            <a:endParaRPr lang="ko-KR" sz="44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“가 띠가 더 길어요.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더 나왔어요.”</a:t>
            </a:r>
            <a:endParaRPr lang="ko-KR" sz="3200" dirty="0"/>
          </a:p>
        </p:txBody>
      </p:sp>
      <p:sp>
        <p:nvSpPr>
          <p:cNvPr id="4" name="S08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맞추면 어떻게 될까요?</a:t>
            </a:r>
            <a:endParaRPr lang="ko-KR" sz="3200" dirty="0"/>
          </a:p>
        </p:txBody>
      </p:sp>
      <p:sp>
        <p:nvSpPr>
          <p:cNvPr id="6" name="S08-text85"/>
          <p:cNvSpPr txBox="1"/>
          <p:nvPr/>
        </p:nvSpPr>
        <p:spPr>
          <a:xfrm>
            <a:off x="548640" y="27432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08-cell86"/>
          <p:cNvSpPr/>
          <p:nvPr/>
        </p:nvSpPr>
        <p:spPr>
          <a:xfrm>
            <a:off x="4206240" y="2743200"/>
            <a:ext cx="5486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figure87" descr="왼쪽 끝이 오른쪽으로 밀려 있는 가 띠"/>
          <p:cNvSpPr/>
          <p:nvPr/>
        </p:nvSpPr>
        <p:spPr>
          <a:xfrm>
            <a:off x="4206240" y="2743200"/>
            <a:ext cx="5486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8-text88"/>
          <p:cNvSpPr txBox="1"/>
          <p:nvPr/>
        </p:nvSpPr>
        <p:spPr>
          <a:xfrm>
            <a:off x="548640" y="3657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08-cell89"/>
          <p:cNvSpPr/>
          <p:nvPr/>
        </p:nvSpPr>
        <p:spPr>
          <a:xfrm>
            <a:off x="2011680" y="3657600"/>
            <a:ext cx="64008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figure90" descr="왼쪽 끝이 더 왼쪽에 있는 나 띠"/>
          <p:cNvSpPr/>
          <p:nvPr/>
        </p:nvSpPr>
        <p:spPr>
          <a:xfrm>
            <a:off x="2011680" y="3657600"/>
            <a:ext cx="6400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탑은?</a:t>
            </a:r>
            <a:endParaRPr lang="ko-KR" sz="4400" dirty="0"/>
          </a:p>
        </p:txBody>
      </p:sp>
      <p:sp>
        <p:nvSpPr>
          <p:cNvPr id="3" name="S09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탑과 가장 낮은 탑을 말해요.</a:t>
            </a:r>
            <a:endParaRPr lang="ko-KR" sz="3200" dirty="0"/>
          </a:p>
        </p:txBody>
      </p:sp>
      <p:sp>
        <p:nvSpPr>
          <p:cNvPr id="5" name="S09-cell93"/>
          <p:cNvSpPr/>
          <p:nvPr/>
        </p:nvSpPr>
        <p:spPr>
          <a:xfrm>
            <a:off x="2743200" y="28803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cell94"/>
          <p:cNvSpPr/>
          <p:nvPr/>
        </p:nvSpPr>
        <p:spPr>
          <a:xfrm>
            <a:off x="27432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95"/>
          <p:cNvSpPr/>
          <p:nvPr/>
        </p:nvSpPr>
        <p:spPr>
          <a:xfrm>
            <a:off x="27432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96"/>
          <p:cNvSpPr/>
          <p:nvPr/>
        </p:nvSpPr>
        <p:spPr>
          <a:xfrm>
            <a:off x="27432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figure97" descr="블록 4개를 쌓은 가 탑"/>
          <p:cNvSpPr/>
          <p:nvPr/>
        </p:nvSpPr>
        <p:spPr>
          <a:xfrm>
            <a:off x="2743200" y="2880360"/>
            <a:ext cx="82296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9-text98"/>
          <p:cNvSpPr txBox="1"/>
          <p:nvPr/>
        </p:nvSpPr>
        <p:spPr>
          <a:xfrm>
            <a:off x="2423160" y="2331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</a:t>
            </a:r>
            <a:endParaRPr lang="ko-KR" sz="3200" dirty="0"/>
          </a:p>
        </p:txBody>
      </p:sp>
      <p:sp>
        <p:nvSpPr>
          <p:cNvPr id="11" name="S09-cell99"/>
          <p:cNvSpPr/>
          <p:nvPr/>
        </p:nvSpPr>
        <p:spPr>
          <a:xfrm>
            <a:off x="5486400" y="1965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00"/>
          <p:cNvSpPr/>
          <p:nvPr/>
        </p:nvSpPr>
        <p:spPr>
          <a:xfrm>
            <a:off x="5486400" y="24231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01"/>
          <p:cNvSpPr/>
          <p:nvPr/>
        </p:nvSpPr>
        <p:spPr>
          <a:xfrm>
            <a:off x="5486400" y="28803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02"/>
          <p:cNvSpPr/>
          <p:nvPr/>
        </p:nvSpPr>
        <p:spPr>
          <a:xfrm>
            <a:off x="54864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03"/>
          <p:cNvSpPr/>
          <p:nvPr/>
        </p:nvSpPr>
        <p:spPr>
          <a:xfrm>
            <a:off x="54864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04"/>
          <p:cNvSpPr/>
          <p:nvPr/>
        </p:nvSpPr>
        <p:spPr>
          <a:xfrm>
            <a:off x="54864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figure105" descr="블록 6개를 쌓은 나 탑"/>
          <p:cNvSpPr/>
          <p:nvPr/>
        </p:nvSpPr>
        <p:spPr>
          <a:xfrm>
            <a:off x="5486400" y="1965960"/>
            <a:ext cx="8229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9-text106"/>
          <p:cNvSpPr txBox="1"/>
          <p:nvPr/>
        </p:nvSpPr>
        <p:spPr>
          <a:xfrm>
            <a:off x="51663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탑</a:t>
            </a:r>
            <a:endParaRPr lang="ko-KR" sz="3200" dirty="0"/>
          </a:p>
        </p:txBody>
      </p:sp>
      <p:sp>
        <p:nvSpPr>
          <p:cNvPr id="19" name="S09-cell107"/>
          <p:cNvSpPr/>
          <p:nvPr/>
        </p:nvSpPr>
        <p:spPr>
          <a:xfrm>
            <a:off x="82296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108"/>
          <p:cNvSpPr/>
          <p:nvPr/>
        </p:nvSpPr>
        <p:spPr>
          <a:xfrm>
            <a:off x="82296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109"/>
          <p:cNvSpPr/>
          <p:nvPr/>
        </p:nvSpPr>
        <p:spPr>
          <a:xfrm>
            <a:off x="82296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figure110" descr="블록 3개를 쌓은 다 탑"/>
          <p:cNvSpPr/>
          <p:nvPr/>
        </p:nvSpPr>
        <p:spPr>
          <a:xfrm>
            <a:off x="8229600" y="3337560"/>
            <a:ext cx="82296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9-text111"/>
          <p:cNvSpPr txBox="1"/>
          <p:nvPr/>
        </p:nvSpPr>
        <p:spPr>
          <a:xfrm>
            <a:off x="7909560" y="27889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탑</a:t>
            </a:r>
            <a:endParaRPr lang="ko-KR" sz="3200" dirty="0"/>
          </a:p>
        </p:txBody>
      </p:sp>
      <p:sp>
        <p:nvSpPr>
          <p:cNvPr id="24" name="S09-cell112"/>
          <p:cNvSpPr/>
          <p:nvPr/>
        </p:nvSpPr>
        <p:spPr>
          <a:xfrm>
            <a:off x="2011680" y="4709160"/>
            <a:ext cx="786384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figure113" descr="바닥선"/>
          <p:cNvSpPr/>
          <p:nvPr/>
        </p:nvSpPr>
        <p:spPr>
          <a:xfrm>
            <a:off x="2011680" y="4709160"/>
            <a:ext cx="786384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1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1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 짧은 띠는?   ② 더 낮은 탑은?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‘○는 ○보다 더 짧아요(낮아요)’로 말해요.</a:t>
            </a:r>
            <a:endParaRPr lang="ko-KR" sz="3200" dirty="0"/>
          </a:p>
        </p:txBody>
      </p:sp>
      <p:sp>
        <p:nvSpPr>
          <p:cNvPr id="5" name="S10-text116"/>
          <p:cNvSpPr txBox="1"/>
          <p:nvPr/>
        </p:nvSpPr>
        <p:spPr>
          <a:xfrm>
            <a:off x="548640" y="21945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6" name="S10-cell117"/>
          <p:cNvSpPr/>
          <p:nvPr/>
        </p:nvSpPr>
        <p:spPr>
          <a:xfrm>
            <a:off x="1828800" y="2194560"/>
            <a:ext cx="31089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figure118" descr="가 띠, 왼쪽 끝을 맞춤"/>
          <p:cNvSpPr/>
          <p:nvPr/>
        </p:nvSpPr>
        <p:spPr>
          <a:xfrm>
            <a:off x="1828800" y="2194560"/>
            <a:ext cx="3108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0-text119"/>
          <p:cNvSpPr txBox="1"/>
          <p:nvPr/>
        </p:nvSpPr>
        <p:spPr>
          <a:xfrm>
            <a:off x="548640" y="3108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9" name="S10-cell120"/>
          <p:cNvSpPr/>
          <p:nvPr/>
        </p:nvSpPr>
        <p:spPr>
          <a:xfrm>
            <a:off x="1828800" y="3108960"/>
            <a:ext cx="40233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figure121" descr="나 띠, 왼쪽 끝을 맞춤"/>
          <p:cNvSpPr/>
          <p:nvPr/>
        </p:nvSpPr>
        <p:spPr>
          <a:xfrm>
            <a:off x="1828800" y="3108960"/>
            <a:ext cx="40233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0-guide122"/>
          <p:cNvSpPr/>
          <p:nvPr/>
        </p:nvSpPr>
        <p:spPr>
          <a:xfrm>
            <a:off x="1828800" y="2057400"/>
            <a:ext cx="0" cy="173736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2" name="S10-cell123"/>
          <p:cNvSpPr/>
          <p:nvPr/>
        </p:nvSpPr>
        <p:spPr>
          <a:xfrm>
            <a:off x="7863840" y="23774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124"/>
          <p:cNvSpPr/>
          <p:nvPr/>
        </p:nvSpPr>
        <p:spPr>
          <a:xfrm>
            <a:off x="7863840" y="28346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cell125"/>
          <p:cNvSpPr/>
          <p:nvPr/>
        </p:nvSpPr>
        <p:spPr>
          <a:xfrm>
            <a:off x="7863840" y="32918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126"/>
          <p:cNvSpPr/>
          <p:nvPr/>
        </p:nvSpPr>
        <p:spPr>
          <a:xfrm>
            <a:off x="7863840" y="37490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127"/>
          <p:cNvSpPr/>
          <p:nvPr/>
        </p:nvSpPr>
        <p:spPr>
          <a:xfrm>
            <a:off x="7863840" y="42062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figure128" descr="블록 5개를 쌓은 다 탑"/>
          <p:cNvSpPr/>
          <p:nvPr/>
        </p:nvSpPr>
        <p:spPr>
          <a:xfrm>
            <a:off x="7863840" y="2377440"/>
            <a:ext cx="82296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0-cell129"/>
          <p:cNvSpPr/>
          <p:nvPr/>
        </p:nvSpPr>
        <p:spPr>
          <a:xfrm>
            <a:off x="9692640" y="32918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30"/>
          <p:cNvSpPr/>
          <p:nvPr/>
        </p:nvSpPr>
        <p:spPr>
          <a:xfrm>
            <a:off x="9692640" y="37490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31"/>
          <p:cNvSpPr/>
          <p:nvPr/>
        </p:nvSpPr>
        <p:spPr>
          <a:xfrm>
            <a:off x="9692640" y="42062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figure132" descr="블록 3개를 쌓은 라 탑"/>
          <p:cNvSpPr/>
          <p:nvPr/>
        </p:nvSpPr>
        <p:spPr>
          <a:xfrm>
            <a:off x="9692640" y="3291840"/>
            <a:ext cx="82296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0-text133"/>
          <p:cNvSpPr txBox="1"/>
          <p:nvPr/>
        </p:nvSpPr>
        <p:spPr>
          <a:xfrm>
            <a:off x="7543800" y="1828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탑</a:t>
            </a:r>
            <a:endParaRPr lang="ko-KR" sz="3200" dirty="0"/>
          </a:p>
        </p:txBody>
      </p:sp>
      <p:sp>
        <p:nvSpPr>
          <p:cNvPr id="23" name="S10-text134"/>
          <p:cNvSpPr txBox="1"/>
          <p:nvPr/>
        </p:nvSpPr>
        <p:spPr>
          <a:xfrm>
            <a:off x="9372600" y="2743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 탑</a:t>
            </a:r>
            <a:endParaRPr lang="ko-KR" sz="3200" dirty="0"/>
          </a:p>
        </p:txBody>
      </p:sp>
      <p:sp>
        <p:nvSpPr>
          <p:cNvPr id="24" name="S10-cell135"/>
          <p:cNvSpPr/>
          <p:nvPr/>
        </p:nvSpPr>
        <p:spPr>
          <a:xfrm>
            <a:off x="6949440" y="4663440"/>
            <a:ext cx="448056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0-figure136" descr="바닥선"/>
          <p:cNvSpPr/>
          <p:nvPr/>
        </p:nvSpPr>
        <p:spPr>
          <a:xfrm>
            <a:off x="6949440" y="4663440"/>
            <a:ext cx="448056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말은?</a:t>
            </a:r>
            <a:endParaRPr lang="ko-KR" sz="4400" dirty="0"/>
          </a:p>
        </p:txBody>
      </p:sp>
      <p:sp>
        <p:nvSpPr>
          <p:cNvPr id="3" name="S12-text1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기린은 토끼보다 키가 더 □.</a:t>
            </a:r>
            <a:endParaRPr lang="ko-KR" sz="3200" dirty="0"/>
          </a:p>
        </p:txBody>
      </p:sp>
      <p:sp>
        <p:nvSpPr>
          <p:cNvPr id="4" name="S12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4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4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4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커요</a:t>
            </a:r>
            <a:endParaRPr lang="ko-KR" sz="3200" dirty="0"/>
          </a:p>
        </p:txBody>
      </p:sp>
      <p:sp>
        <p:nvSpPr>
          <p:cNvPr id="9" name="S12-chip14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4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4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길어요</a:t>
            </a:r>
            <a:endParaRPr lang="ko-KR" sz="3200" dirty="0"/>
          </a:p>
        </p:txBody>
      </p:sp>
      <p:sp>
        <p:nvSpPr>
          <p:cNvPr id="12" name="S12-chip14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4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4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높아요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맞추고, 다른 쪽 끝을 비교해요.</a:t>
            </a:r>
            <a:endParaRPr lang="ko-KR" sz="3200" dirty="0"/>
          </a:p>
        </p:txBody>
      </p:sp>
      <p:sp>
        <p:nvSpPr>
          <p:cNvPr id="5" name="S13-chip15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끝을 맞추고 비교하기</a:t>
            </a:r>
            <a:endParaRPr lang="ko-KR" sz="2600" dirty="0"/>
          </a:p>
        </p:txBody>
      </p:sp>
      <p:sp>
        <p:nvSpPr>
          <p:cNvPr id="6" name="S13-chip15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끝을 안 맞추고 보기</a:t>
            </a:r>
            <a:endParaRPr lang="ko-KR" sz="2600" dirty="0"/>
          </a:p>
        </p:txBody>
      </p:sp>
      <p:sp>
        <p:nvSpPr>
          <p:cNvPr id="7" name="S13-text15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5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연필과 지우개, 더 짧은 것은?</a:t>
            </a:r>
            <a:endParaRPr lang="ko-KR" sz="2600" dirty="0"/>
          </a:p>
        </p:txBody>
      </p:sp>
      <p:sp>
        <p:nvSpPr>
          <p:cNvPr id="9" name="S13-text15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아빠는 나보다 키가 더 ○○.</a:t>
            </a:r>
            <a:endParaRPr lang="ko-KR" sz="2600" dirty="0"/>
          </a:p>
        </p:txBody>
      </p:sp>
      <p:sp>
        <p:nvSpPr>
          <p:cNvPr id="10" name="S13-text15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책상과 의자, 더 낮은 것은?</a:t>
            </a:r>
            <a:endParaRPr lang="ko-KR" sz="2600" dirty="0"/>
          </a:p>
        </p:txBody>
      </p:sp>
      <p:sp>
        <p:nvSpPr>
          <p:cNvPr id="11" name="S13-text1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무게·넓이·담을 수 있는 양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더 많은 쪽은?</a:t>
            </a:r>
            <a:endParaRPr lang="ko-KR" sz="4400" dirty="0"/>
          </a:p>
        </p:txBody>
      </p:sp>
      <p:sp>
        <p:nvSpPr>
          <p:cNvPr id="3" name="S14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5는 3보다 커요. 3은 5보다 작아요.</a:t>
            </a:r>
            <a:endParaRPr lang="ko-KR" sz="3200" dirty="0"/>
          </a:p>
        </p:txBody>
      </p:sp>
      <p:sp>
        <p:nvSpPr>
          <p:cNvPr id="5" name="S14-dot160"/>
          <p:cNvSpPr/>
          <p:nvPr/>
        </p:nvSpPr>
        <p:spPr>
          <a:xfrm>
            <a:off x="16573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4-dot161"/>
          <p:cNvSpPr/>
          <p:nvPr/>
        </p:nvSpPr>
        <p:spPr>
          <a:xfrm>
            <a:off x="23431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62"/>
          <p:cNvSpPr/>
          <p:nvPr/>
        </p:nvSpPr>
        <p:spPr>
          <a:xfrm>
            <a:off x="30289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163"/>
          <p:cNvSpPr/>
          <p:nvPr/>
        </p:nvSpPr>
        <p:spPr>
          <a:xfrm>
            <a:off x="37147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164"/>
          <p:cNvSpPr/>
          <p:nvPr/>
        </p:nvSpPr>
        <p:spPr>
          <a:xfrm>
            <a:off x="44005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figure165" descr="주황 점 5개"/>
          <p:cNvSpPr/>
          <p:nvPr/>
        </p:nvSpPr>
        <p:spPr>
          <a:xfrm>
            <a:off x="1527048" y="2620899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14-label16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</a:t>
            </a:r>
            <a:endParaRPr lang="ko-KR" sz="2600" dirty="0"/>
          </a:p>
        </p:txBody>
      </p:sp>
      <p:sp>
        <p:nvSpPr>
          <p:cNvPr id="12" name="S14-dot167"/>
          <p:cNvSpPr/>
          <p:nvPr/>
        </p:nvSpPr>
        <p:spPr>
          <a:xfrm>
            <a:off x="80490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68"/>
          <p:cNvSpPr/>
          <p:nvPr/>
        </p:nvSpPr>
        <p:spPr>
          <a:xfrm>
            <a:off x="87348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169"/>
          <p:cNvSpPr/>
          <p:nvPr/>
        </p:nvSpPr>
        <p:spPr>
          <a:xfrm>
            <a:off x="94206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figure170" descr="파란 점 3개"/>
          <p:cNvSpPr/>
          <p:nvPr/>
        </p:nvSpPr>
        <p:spPr>
          <a:xfrm>
            <a:off x="7918704" y="26208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14-label17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길이와 높이 비교</dc:title>
  <dc:subject>KR22-G01-MAT-LENGTH-L01</dc:subject>
  <dc:creator>education-ppt</dc:creator>
  <cp:lastModifiedBy>education-ppt</cp:lastModifiedBy>
  <cp:revision>1</cp:revision>
  <dcterms:created xsi:type="dcterms:W3CDTF">2026-10-26T07:10:44Z</dcterms:created>
  <dcterms:modified xsi:type="dcterms:W3CDTF">2026-10-26T07:10:44Z</dcterms:modified>
</cp:coreProperties>
</file>