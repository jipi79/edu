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396d0a-9b7f-6ab9-d2b7-07805ee42436}">
          <p14:sldIdLst>
            <p14:sldId id="256"/>
            <p14:sldId id="257"/>
          </p14:sldIdLst>
        </p14:section>
        <p14:section name="개념" id="{3c263131-7432-ebae-beec-d8f8321f8b20}">
          <p14:sldIdLst>
            <p14:sldId id="258"/>
            <p14:sldId id="259"/>
            <p14:sldId id="260"/>
            <p14:sldId id="261"/>
          </p14:sldIdLst>
        </p14:section>
        <p14:section name="연습" id="{c5d84d0a-a5db-4896-4948-8df03ad79768}">
          <p14:sldIdLst>
            <p14:sldId id="262"/>
            <p14:sldId id="263"/>
            <p14:sldId id="264"/>
          </p14:sldIdLst>
        </p14:section>
        <p14:section name="확인" id="{c76cdecd-1b8b-2152-d854-2ea5fad96d28}">
          <p14:sldIdLst>
            <p14:sldId id="265"/>
            <p14:sldId id="266"/>
          </p14:sldIdLst>
        </p14:section>
        <p14:section name="정리" id="{64d19ab9-faeb-14e0-9e93-cf0578ba88fe}">
          <p14:sldIdLst>
            <p14:sldId id="267"/>
          </p14:sldIdLst>
        </p14:section>
        <p14:section name="보충" id="{f81ef6a6-9a3e-55df-47d3-a9e28933183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길이와 높이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길이와 높이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길이와 높이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길이와 높이 비교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연필이 더 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끝을 맞추어 길이를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높이와 키를 비교해요.</a:t>
            </a:r>
            <a:endParaRPr lang="ko-KR" sz="3200" dirty="0"/>
          </a:p>
        </p:txBody>
      </p:sp>
      <p:sp>
        <p:nvSpPr>
          <p:cNvPr id="6" name="S01-cell3"/>
          <p:cNvSpPr/>
          <p:nvPr/>
        </p:nvSpPr>
        <p:spPr>
          <a:xfrm>
            <a:off x="7955280" y="1371600"/>
            <a:ext cx="347472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figure4" descr="길이가 긴 띠"/>
          <p:cNvSpPr/>
          <p:nvPr/>
        </p:nvSpPr>
        <p:spPr>
          <a:xfrm>
            <a:off x="7955280" y="1371600"/>
            <a:ext cx="347472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955280" y="2194560"/>
            <a:ext cx="210312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figure6" descr="길이가 짧은 띠"/>
          <p:cNvSpPr/>
          <p:nvPr/>
        </p:nvSpPr>
        <p:spPr>
          <a:xfrm>
            <a:off x="7955280" y="2194560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guide7"/>
          <p:cNvSpPr/>
          <p:nvPr/>
        </p:nvSpPr>
        <p:spPr>
          <a:xfrm>
            <a:off x="7955280" y="1188720"/>
            <a:ext cx="0" cy="164592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말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 중 더 큰 수는?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6보다 커요? 작아요?</a:t>
            </a:r>
            <a:endParaRPr lang="ko-KR" sz="32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5개와 3개, 더 많은 쪽은?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끝을 맞춰요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맞추고 오른쪽 끝을 봐요.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연필이 크레파스보다 더 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크레파스는 연필보다 더 짧아요.</a:t>
            </a:r>
            <a:endParaRPr lang="ko-KR" sz="3200" dirty="0"/>
          </a:p>
        </p:txBody>
      </p:sp>
      <p:sp>
        <p:nvSpPr>
          <p:cNvPr id="6" name="S03-text17"/>
          <p:cNvSpPr txBox="1"/>
          <p:nvPr/>
        </p:nvSpPr>
        <p:spPr>
          <a:xfrm>
            <a:off x="5486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</a:t>
            </a:r>
            <a:endParaRPr lang="ko-KR" sz="3200" dirty="0"/>
          </a:p>
        </p:txBody>
      </p:sp>
      <p:sp>
        <p:nvSpPr>
          <p:cNvPr id="7" name="S03-cell18"/>
          <p:cNvSpPr/>
          <p:nvPr/>
        </p:nvSpPr>
        <p:spPr>
          <a:xfrm>
            <a:off x="2743200" y="2286000"/>
            <a:ext cx="685800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figure19" descr="연필을 나타낸 긴 띠, 왼쪽 끝을 맞춤"/>
          <p:cNvSpPr/>
          <p:nvPr/>
        </p:nvSpPr>
        <p:spPr>
          <a:xfrm>
            <a:off x="2743200" y="2286000"/>
            <a:ext cx="68580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text20"/>
          <p:cNvSpPr txBox="1"/>
          <p:nvPr/>
        </p:nvSpPr>
        <p:spPr>
          <a:xfrm>
            <a:off x="5486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3200" dirty="0"/>
          </a:p>
        </p:txBody>
      </p:sp>
      <p:sp>
        <p:nvSpPr>
          <p:cNvPr id="10" name="S03-cell21"/>
          <p:cNvSpPr/>
          <p:nvPr/>
        </p:nvSpPr>
        <p:spPr>
          <a:xfrm>
            <a:off x="2743200" y="3383280"/>
            <a:ext cx="365760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figure22" descr="크레파스를 나타낸 짧은 띠, 왼쪽 끝을 맞춤"/>
          <p:cNvSpPr/>
          <p:nvPr/>
        </p:nvSpPr>
        <p:spPr>
          <a:xfrm>
            <a:off x="2743200" y="3383280"/>
            <a:ext cx="36576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guide23"/>
          <p:cNvSpPr/>
          <p:nvPr/>
        </p:nvSpPr>
        <p:spPr>
          <a:xfrm>
            <a:off x="2743200" y="2103120"/>
            <a:ext cx="0" cy="214884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긴 것 찾기</a:t>
            </a:r>
            <a:endParaRPr lang="ko-KR" sz="44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띠의 왼쪽 끝을 맞췄어요.</a:t>
            </a:r>
            <a:endParaRPr lang="ko-KR" sz="3200" dirty="0"/>
          </a:p>
        </p:txBody>
      </p:sp>
      <p:sp>
        <p:nvSpPr>
          <p:cNvPr id="4" name="S04-card2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띠가 가장 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띠가 가장 짧아요.</a:t>
            </a:r>
            <a:endParaRPr lang="ko-KR" sz="3200" dirty="0"/>
          </a:p>
        </p:txBody>
      </p:sp>
      <p:sp>
        <p:nvSpPr>
          <p:cNvPr id="6" name="S04-text27"/>
          <p:cNvSpPr txBox="1"/>
          <p:nvPr/>
        </p:nvSpPr>
        <p:spPr>
          <a:xfrm>
            <a:off x="5486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7" name="S04-cell28"/>
          <p:cNvSpPr/>
          <p:nvPr/>
        </p:nvSpPr>
        <p:spPr>
          <a:xfrm>
            <a:off x="2743200" y="2103120"/>
            <a:ext cx="5486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figure29" descr="가 띠, 왼쪽 끝을 맞춤"/>
          <p:cNvSpPr/>
          <p:nvPr/>
        </p:nvSpPr>
        <p:spPr>
          <a:xfrm>
            <a:off x="2743200" y="2103120"/>
            <a:ext cx="5486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text30"/>
          <p:cNvSpPr txBox="1"/>
          <p:nvPr/>
        </p:nvSpPr>
        <p:spPr>
          <a:xfrm>
            <a:off x="548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10" name="S04-cell31"/>
          <p:cNvSpPr/>
          <p:nvPr/>
        </p:nvSpPr>
        <p:spPr>
          <a:xfrm>
            <a:off x="2743200" y="2971800"/>
            <a:ext cx="7772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figure32" descr="나 띠, 왼쪽 끝을 맞춤"/>
          <p:cNvSpPr/>
          <p:nvPr/>
        </p:nvSpPr>
        <p:spPr>
          <a:xfrm>
            <a:off x="2743200" y="2971800"/>
            <a:ext cx="7772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text33"/>
          <p:cNvSpPr txBox="1"/>
          <p:nvPr/>
        </p:nvSpPr>
        <p:spPr>
          <a:xfrm>
            <a:off x="5486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띠</a:t>
            </a:r>
            <a:endParaRPr lang="ko-KR" sz="3200" dirty="0"/>
          </a:p>
        </p:txBody>
      </p:sp>
      <p:sp>
        <p:nvSpPr>
          <p:cNvPr id="13" name="S04-cell34"/>
          <p:cNvSpPr/>
          <p:nvPr/>
        </p:nvSpPr>
        <p:spPr>
          <a:xfrm>
            <a:off x="2743200" y="3840480"/>
            <a:ext cx="3200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figure35" descr="다 띠, 왼쪽 끝을 맞춤"/>
          <p:cNvSpPr/>
          <p:nvPr/>
        </p:nvSpPr>
        <p:spPr>
          <a:xfrm>
            <a:off x="2743200" y="3840480"/>
            <a:ext cx="3200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guide36"/>
          <p:cNvSpPr/>
          <p:nvPr/>
        </p:nvSpPr>
        <p:spPr>
          <a:xfrm>
            <a:off x="2743200" y="1965960"/>
            <a:ext cx="0" cy="192024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높이를 비교해요</a:t>
            </a:r>
            <a:endParaRPr lang="ko-KR" sz="4400" dirty="0"/>
          </a:p>
        </p:txBody>
      </p:sp>
      <p:sp>
        <p:nvSpPr>
          <p:cNvPr id="3" name="S05-card3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탑이 나 탑보다 더 높아요.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아래를 맞추고 위쪽 끝을 봐요.</a:t>
            </a:r>
            <a:endParaRPr lang="ko-KR" sz="3200" dirty="0"/>
          </a:p>
        </p:txBody>
      </p:sp>
      <p:sp>
        <p:nvSpPr>
          <p:cNvPr id="5" name="S05-cell39"/>
          <p:cNvSpPr/>
          <p:nvPr/>
        </p:nvSpPr>
        <p:spPr>
          <a:xfrm>
            <a:off x="3657600" y="196596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cell40"/>
          <p:cNvSpPr/>
          <p:nvPr/>
        </p:nvSpPr>
        <p:spPr>
          <a:xfrm>
            <a:off x="3657600" y="251460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41"/>
          <p:cNvSpPr/>
          <p:nvPr/>
        </p:nvSpPr>
        <p:spPr>
          <a:xfrm>
            <a:off x="3657600" y="306324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42"/>
          <p:cNvSpPr/>
          <p:nvPr/>
        </p:nvSpPr>
        <p:spPr>
          <a:xfrm>
            <a:off x="3657600" y="361188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43"/>
          <p:cNvSpPr/>
          <p:nvPr/>
        </p:nvSpPr>
        <p:spPr>
          <a:xfrm>
            <a:off x="3657600" y="416052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figure44" descr="블록 5개를 쌓은 가 탑"/>
          <p:cNvSpPr/>
          <p:nvPr/>
        </p:nvSpPr>
        <p:spPr>
          <a:xfrm>
            <a:off x="3657600" y="1965960"/>
            <a:ext cx="914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cell45"/>
          <p:cNvSpPr/>
          <p:nvPr/>
        </p:nvSpPr>
        <p:spPr>
          <a:xfrm>
            <a:off x="6949440" y="306324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46"/>
          <p:cNvSpPr/>
          <p:nvPr/>
        </p:nvSpPr>
        <p:spPr>
          <a:xfrm>
            <a:off x="6949440" y="361188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47"/>
          <p:cNvSpPr/>
          <p:nvPr/>
        </p:nvSpPr>
        <p:spPr>
          <a:xfrm>
            <a:off x="6949440" y="416052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figure48" descr="블록 3개를 쌓은 나 탑"/>
          <p:cNvSpPr/>
          <p:nvPr/>
        </p:nvSpPr>
        <p:spPr>
          <a:xfrm>
            <a:off x="6949440" y="3063240"/>
            <a:ext cx="9144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text49"/>
          <p:cNvSpPr txBox="1"/>
          <p:nvPr/>
        </p:nvSpPr>
        <p:spPr>
          <a:xfrm>
            <a:off x="338328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탑</a:t>
            </a:r>
            <a:endParaRPr lang="ko-KR" sz="3200" dirty="0"/>
          </a:p>
        </p:txBody>
      </p:sp>
      <p:sp>
        <p:nvSpPr>
          <p:cNvPr id="16" name="S05-text50"/>
          <p:cNvSpPr txBox="1"/>
          <p:nvPr/>
        </p:nvSpPr>
        <p:spPr>
          <a:xfrm>
            <a:off x="66751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탑</a:t>
            </a:r>
            <a:endParaRPr lang="ko-KR" sz="3200" dirty="0"/>
          </a:p>
        </p:txBody>
      </p:sp>
      <p:sp>
        <p:nvSpPr>
          <p:cNvPr id="17" name="S05-cell51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figure52" descr="바닥선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비교해요</a:t>
            </a:r>
            <a:endParaRPr lang="ko-KR" sz="4400" dirty="0"/>
          </a:p>
        </p:txBody>
      </p:sp>
      <p:sp>
        <p:nvSpPr>
          <p:cNvPr id="3" name="S06-card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나보다 키가 더 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‘크다, 작다’로 말해요.</a:t>
            </a:r>
            <a:endParaRPr lang="ko-KR" sz="3200" dirty="0"/>
          </a:p>
        </p:txBody>
      </p:sp>
      <p:sp>
        <p:nvSpPr>
          <p:cNvPr id="5" name="S06-cell55"/>
          <p:cNvSpPr/>
          <p:nvPr/>
        </p:nvSpPr>
        <p:spPr>
          <a:xfrm>
            <a:off x="3840480" y="1965960"/>
            <a:ext cx="822960" cy="2743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figure56" descr="엄마의 키를 나타낸 긴 막대"/>
          <p:cNvSpPr/>
          <p:nvPr/>
        </p:nvSpPr>
        <p:spPr>
          <a:xfrm>
            <a:off x="3840480" y="1965960"/>
            <a:ext cx="8229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cell57"/>
          <p:cNvSpPr/>
          <p:nvPr/>
        </p:nvSpPr>
        <p:spPr>
          <a:xfrm>
            <a:off x="7132320" y="2971800"/>
            <a:ext cx="822960" cy="17373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figure58" descr="나의 키를 나타낸 짧은 막대"/>
          <p:cNvSpPr/>
          <p:nvPr/>
        </p:nvSpPr>
        <p:spPr>
          <a:xfrm>
            <a:off x="7132320" y="2971800"/>
            <a:ext cx="8229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text59"/>
          <p:cNvSpPr txBox="1"/>
          <p:nvPr/>
        </p:nvSpPr>
        <p:spPr>
          <a:xfrm>
            <a:off x="352044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</a:t>
            </a:r>
            <a:endParaRPr lang="ko-KR" sz="3200" dirty="0"/>
          </a:p>
        </p:txBody>
      </p:sp>
      <p:sp>
        <p:nvSpPr>
          <p:cNvPr id="10" name="S06-text60"/>
          <p:cNvSpPr txBox="1"/>
          <p:nvPr/>
        </p:nvSpPr>
        <p:spPr>
          <a:xfrm>
            <a:off x="6812280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1" name="S06-cell61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figure62" descr="바닥선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띠가 더 길까요?</a:t>
            </a:r>
            <a:endParaRPr lang="ko-KR" sz="4400" dirty="0"/>
          </a:p>
        </p:txBody>
      </p:sp>
      <p:sp>
        <p:nvSpPr>
          <p:cNvPr id="3" name="S07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맞췄어요.</a:t>
            </a:r>
            <a:endParaRPr lang="ko-KR" sz="3200" dirty="0"/>
          </a:p>
        </p:txBody>
      </p:sp>
      <p:sp>
        <p:nvSpPr>
          <p:cNvPr id="4" name="S07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긴 띠와 더 짧은 띠를 문장으로 말해요.</a:t>
            </a:r>
            <a:endParaRPr lang="ko-KR" sz="3200" dirty="0"/>
          </a:p>
        </p:txBody>
      </p:sp>
      <p:sp>
        <p:nvSpPr>
          <p:cNvPr id="6" name="S07-text66"/>
          <p:cNvSpPr txBox="1"/>
          <p:nvPr/>
        </p:nvSpPr>
        <p:spPr>
          <a:xfrm>
            <a:off x="54864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3200" dirty="0"/>
          </a:p>
        </p:txBody>
      </p:sp>
      <p:sp>
        <p:nvSpPr>
          <p:cNvPr id="7" name="S07-text67"/>
          <p:cNvSpPr txBox="1"/>
          <p:nvPr/>
        </p:nvSpPr>
        <p:spPr>
          <a:xfrm>
            <a:off x="54864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8" name="S07-cell68"/>
          <p:cNvSpPr/>
          <p:nvPr/>
        </p:nvSpPr>
        <p:spPr>
          <a:xfrm>
            <a:off x="1280160" y="2468880"/>
            <a:ext cx="292608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figure69" descr="가 띠"/>
          <p:cNvSpPr/>
          <p:nvPr/>
        </p:nvSpPr>
        <p:spPr>
          <a:xfrm>
            <a:off x="1280160" y="2468880"/>
            <a:ext cx="292608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text70"/>
          <p:cNvSpPr txBox="1"/>
          <p:nvPr/>
        </p:nvSpPr>
        <p:spPr>
          <a:xfrm>
            <a:off x="54864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1" name="S07-cell71"/>
          <p:cNvSpPr/>
          <p:nvPr/>
        </p:nvSpPr>
        <p:spPr>
          <a:xfrm>
            <a:off x="1280160" y="3291840"/>
            <a:ext cx="40233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72" descr="나 띠"/>
          <p:cNvSpPr/>
          <p:nvPr/>
        </p:nvSpPr>
        <p:spPr>
          <a:xfrm>
            <a:off x="1280160" y="3291840"/>
            <a:ext cx="40233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guide73"/>
          <p:cNvSpPr/>
          <p:nvPr/>
        </p:nvSpPr>
        <p:spPr>
          <a:xfrm>
            <a:off x="1280160" y="2331720"/>
            <a:ext cx="0" cy="164592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4" name="S07-text74"/>
          <p:cNvSpPr txBox="1"/>
          <p:nvPr/>
        </p:nvSpPr>
        <p:spPr>
          <a:xfrm>
            <a:off x="621792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3200" dirty="0"/>
          </a:p>
        </p:txBody>
      </p:sp>
      <p:sp>
        <p:nvSpPr>
          <p:cNvPr id="15" name="S07-text75"/>
          <p:cNvSpPr txBox="1"/>
          <p:nvPr/>
        </p:nvSpPr>
        <p:spPr>
          <a:xfrm>
            <a:off x="621792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6" name="S07-cell76"/>
          <p:cNvSpPr/>
          <p:nvPr/>
        </p:nvSpPr>
        <p:spPr>
          <a:xfrm>
            <a:off x="6949440" y="2468880"/>
            <a:ext cx="420624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figure77" descr="다 띠"/>
          <p:cNvSpPr/>
          <p:nvPr/>
        </p:nvSpPr>
        <p:spPr>
          <a:xfrm>
            <a:off x="6949440" y="2468880"/>
            <a:ext cx="42062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text78"/>
          <p:cNvSpPr txBox="1"/>
          <p:nvPr/>
        </p:nvSpPr>
        <p:spPr>
          <a:xfrm>
            <a:off x="621792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9" name="S07-cell79"/>
          <p:cNvSpPr/>
          <p:nvPr/>
        </p:nvSpPr>
        <p:spPr>
          <a:xfrm>
            <a:off x="6949440" y="3291840"/>
            <a:ext cx="31089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figure80" descr="라 띠"/>
          <p:cNvSpPr/>
          <p:nvPr/>
        </p:nvSpPr>
        <p:spPr>
          <a:xfrm>
            <a:off x="6949440" y="3291840"/>
            <a:ext cx="3108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7-guide81"/>
          <p:cNvSpPr/>
          <p:nvPr/>
        </p:nvSpPr>
        <p:spPr>
          <a:xfrm>
            <a:off x="6949440" y="2331720"/>
            <a:ext cx="0" cy="164592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토끼의 말이 맞을까요?</a:t>
            </a:r>
            <a:endParaRPr lang="ko-KR" sz="44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“가 띠가 더 길어요.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더 나왔어요.”</a:t>
            </a:r>
            <a:endParaRPr lang="ko-KR" sz="3200" dirty="0"/>
          </a:p>
        </p:txBody>
      </p:sp>
      <p:sp>
        <p:nvSpPr>
          <p:cNvPr id="4" name="S08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맞추면 어떻게 될까요?</a:t>
            </a:r>
            <a:endParaRPr lang="ko-KR" sz="3200" dirty="0"/>
          </a:p>
        </p:txBody>
      </p:sp>
      <p:sp>
        <p:nvSpPr>
          <p:cNvPr id="6" name="S08-text85"/>
          <p:cNvSpPr txBox="1"/>
          <p:nvPr/>
        </p:nvSpPr>
        <p:spPr>
          <a:xfrm>
            <a:off x="54864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7" name="S08-cell86"/>
          <p:cNvSpPr/>
          <p:nvPr/>
        </p:nvSpPr>
        <p:spPr>
          <a:xfrm>
            <a:off x="4206240" y="2743200"/>
            <a:ext cx="5486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figure87" descr="왼쪽 끝이 오른쪽으로 밀려 있는 가 띠"/>
          <p:cNvSpPr/>
          <p:nvPr/>
        </p:nvSpPr>
        <p:spPr>
          <a:xfrm>
            <a:off x="4206240" y="2743200"/>
            <a:ext cx="5486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8-text88"/>
          <p:cNvSpPr txBox="1"/>
          <p:nvPr/>
        </p:nvSpPr>
        <p:spPr>
          <a:xfrm>
            <a:off x="5486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10" name="S08-cell89"/>
          <p:cNvSpPr/>
          <p:nvPr/>
        </p:nvSpPr>
        <p:spPr>
          <a:xfrm>
            <a:off x="2011680" y="3657600"/>
            <a:ext cx="64008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figure90" descr="왼쪽 끝이 더 왼쪽에 있는 나 띠"/>
          <p:cNvSpPr/>
          <p:nvPr/>
        </p:nvSpPr>
        <p:spPr>
          <a:xfrm>
            <a:off x="2011680" y="3657600"/>
            <a:ext cx="64008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탑은?</a:t>
            </a:r>
            <a:endParaRPr lang="ko-KR" sz="4400" dirty="0"/>
          </a:p>
        </p:txBody>
      </p:sp>
      <p:sp>
        <p:nvSpPr>
          <p:cNvPr id="3" name="S09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탑과 가장 낮은 탑을 말해요.</a:t>
            </a:r>
            <a:endParaRPr lang="ko-KR" sz="3200" dirty="0"/>
          </a:p>
        </p:txBody>
      </p:sp>
      <p:sp>
        <p:nvSpPr>
          <p:cNvPr id="5" name="S09-cell93"/>
          <p:cNvSpPr/>
          <p:nvPr/>
        </p:nvSpPr>
        <p:spPr>
          <a:xfrm>
            <a:off x="2743200" y="28803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cell94"/>
          <p:cNvSpPr/>
          <p:nvPr/>
        </p:nvSpPr>
        <p:spPr>
          <a:xfrm>
            <a:off x="2743200" y="33375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95"/>
          <p:cNvSpPr/>
          <p:nvPr/>
        </p:nvSpPr>
        <p:spPr>
          <a:xfrm>
            <a:off x="2743200" y="37947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96"/>
          <p:cNvSpPr/>
          <p:nvPr/>
        </p:nvSpPr>
        <p:spPr>
          <a:xfrm>
            <a:off x="2743200" y="4251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figure97" descr="블록 4개를 쌓은 가 탑"/>
          <p:cNvSpPr/>
          <p:nvPr/>
        </p:nvSpPr>
        <p:spPr>
          <a:xfrm>
            <a:off x="2743200" y="2880360"/>
            <a:ext cx="82296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9-text98"/>
          <p:cNvSpPr txBox="1"/>
          <p:nvPr/>
        </p:nvSpPr>
        <p:spPr>
          <a:xfrm>
            <a:off x="242316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탑</a:t>
            </a:r>
            <a:endParaRPr lang="ko-KR" sz="3200" dirty="0"/>
          </a:p>
        </p:txBody>
      </p:sp>
      <p:sp>
        <p:nvSpPr>
          <p:cNvPr id="11" name="S09-cell99"/>
          <p:cNvSpPr/>
          <p:nvPr/>
        </p:nvSpPr>
        <p:spPr>
          <a:xfrm>
            <a:off x="5486400" y="1965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cell100"/>
          <p:cNvSpPr/>
          <p:nvPr/>
        </p:nvSpPr>
        <p:spPr>
          <a:xfrm>
            <a:off x="5486400" y="24231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cell101"/>
          <p:cNvSpPr/>
          <p:nvPr/>
        </p:nvSpPr>
        <p:spPr>
          <a:xfrm>
            <a:off x="5486400" y="28803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102"/>
          <p:cNvSpPr/>
          <p:nvPr/>
        </p:nvSpPr>
        <p:spPr>
          <a:xfrm>
            <a:off x="5486400" y="33375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03"/>
          <p:cNvSpPr/>
          <p:nvPr/>
        </p:nvSpPr>
        <p:spPr>
          <a:xfrm>
            <a:off x="5486400" y="37947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104"/>
          <p:cNvSpPr/>
          <p:nvPr/>
        </p:nvSpPr>
        <p:spPr>
          <a:xfrm>
            <a:off x="5486400" y="4251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figure105" descr="블록 6개를 쌓은 나 탑"/>
          <p:cNvSpPr/>
          <p:nvPr/>
        </p:nvSpPr>
        <p:spPr>
          <a:xfrm>
            <a:off x="5486400" y="1965960"/>
            <a:ext cx="8229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9-text106"/>
          <p:cNvSpPr txBox="1"/>
          <p:nvPr/>
        </p:nvSpPr>
        <p:spPr>
          <a:xfrm>
            <a:off x="51663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탑</a:t>
            </a:r>
            <a:endParaRPr lang="ko-KR" sz="3200" dirty="0"/>
          </a:p>
        </p:txBody>
      </p:sp>
      <p:sp>
        <p:nvSpPr>
          <p:cNvPr id="19" name="S09-cell107"/>
          <p:cNvSpPr/>
          <p:nvPr/>
        </p:nvSpPr>
        <p:spPr>
          <a:xfrm>
            <a:off x="8229600" y="33375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cell108"/>
          <p:cNvSpPr/>
          <p:nvPr/>
        </p:nvSpPr>
        <p:spPr>
          <a:xfrm>
            <a:off x="8229600" y="37947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9-cell109"/>
          <p:cNvSpPr/>
          <p:nvPr/>
        </p:nvSpPr>
        <p:spPr>
          <a:xfrm>
            <a:off x="8229600" y="4251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figure110" descr="블록 3개를 쌓은 다 탑"/>
          <p:cNvSpPr/>
          <p:nvPr/>
        </p:nvSpPr>
        <p:spPr>
          <a:xfrm>
            <a:off x="8229600" y="3337560"/>
            <a:ext cx="82296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9-text111"/>
          <p:cNvSpPr txBox="1"/>
          <p:nvPr/>
        </p:nvSpPr>
        <p:spPr>
          <a:xfrm>
            <a:off x="790956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탑</a:t>
            </a:r>
            <a:endParaRPr lang="ko-KR" sz="3200" dirty="0"/>
          </a:p>
        </p:txBody>
      </p:sp>
      <p:sp>
        <p:nvSpPr>
          <p:cNvPr id="24" name="S09-cell112"/>
          <p:cNvSpPr/>
          <p:nvPr/>
        </p:nvSpPr>
        <p:spPr>
          <a:xfrm>
            <a:off x="2011680" y="4709160"/>
            <a:ext cx="786384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figure113" descr="바닥선"/>
          <p:cNvSpPr/>
          <p:nvPr/>
        </p:nvSpPr>
        <p:spPr>
          <a:xfrm>
            <a:off x="2011680" y="4709160"/>
            <a:ext cx="786384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1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1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더 짧은 띠는?   ② 더 낮은 탑은?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‘○는 ○보다 더 짧아요(낮아요)’로 말해요.</a:t>
            </a:r>
            <a:endParaRPr lang="ko-KR" sz="3200" dirty="0"/>
          </a:p>
        </p:txBody>
      </p:sp>
      <p:sp>
        <p:nvSpPr>
          <p:cNvPr id="5" name="S10-text116"/>
          <p:cNvSpPr txBox="1"/>
          <p:nvPr/>
        </p:nvSpPr>
        <p:spPr>
          <a:xfrm>
            <a:off x="548640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6" name="S10-cell117"/>
          <p:cNvSpPr/>
          <p:nvPr/>
        </p:nvSpPr>
        <p:spPr>
          <a:xfrm>
            <a:off x="1828800" y="2194560"/>
            <a:ext cx="31089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figure118" descr="가 띠, 왼쪽 끝을 맞춤"/>
          <p:cNvSpPr/>
          <p:nvPr/>
        </p:nvSpPr>
        <p:spPr>
          <a:xfrm>
            <a:off x="1828800" y="2194560"/>
            <a:ext cx="3108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0-text119"/>
          <p:cNvSpPr txBox="1"/>
          <p:nvPr/>
        </p:nvSpPr>
        <p:spPr>
          <a:xfrm>
            <a:off x="54864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9" name="S10-cell120"/>
          <p:cNvSpPr/>
          <p:nvPr/>
        </p:nvSpPr>
        <p:spPr>
          <a:xfrm>
            <a:off x="1828800" y="3108960"/>
            <a:ext cx="40233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figure121" descr="나 띠, 왼쪽 끝을 맞춤"/>
          <p:cNvSpPr/>
          <p:nvPr/>
        </p:nvSpPr>
        <p:spPr>
          <a:xfrm>
            <a:off x="1828800" y="3108960"/>
            <a:ext cx="40233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0-guide122"/>
          <p:cNvSpPr/>
          <p:nvPr/>
        </p:nvSpPr>
        <p:spPr>
          <a:xfrm>
            <a:off x="1828800" y="2057400"/>
            <a:ext cx="0" cy="173736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2" name="S10-cell123"/>
          <p:cNvSpPr/>
          <p:nvPr/>
        </p:nvSpPr>
        <p:spPr>
          <a:xfrm>
            <a:off x="7863840" y="23774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cell124"/>
          <p:cNvSpPr/>
          <p:nvPr/>
        </p:nvSpPr>
        <p:spPr>
          <a:xfrm>
            <a:off x="7863840" y="28346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0-cell125"/>
          <p:cNvSpPr/>
          <p:nvPr/>
        </p:nvSpPr>
        <p:spPr>
          <a:xfrm>
            <a:off x="7863840" y="32918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0-cell126"/>
          <p:cNvSpPr/>
          <p:nvPr/>
        </p:nvSpPr>
        <p:spPr>
          <a:xfrm>
            <a:off x="7863840" y="37490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0-cell127"/>
          <p:cNvSpPr/>
          <p:nvPr/>
        </p:nvSpPr>
        <p:spPr>
          <a:xfrm>
            <a:off x="7863840" y="42062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figure128" descr="블록 5개를 쌓은 다 탑"/>
          <p:cNvSpPr/>
          <p:nvPr/>
        </p:nvSpPr>
        <p:spPr>
          <a:xfrm>
            <a:off x="7863840" y="2377440"/>
            <a:ext cx="82296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0-cell129"/>
          <p:cNvSpPr/>
          <p:nvPr/>
        </p:nvSpPr>
        <p:spPr>
          <a:xfrm>
            <a:off x="9692640" y="32918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130"/>
          <p:cNvSpPr/>
          <p:nvPr/>
        </p:nvSpPr>
        <p:spPr>
          <a:xfrm>
            <a:off x="9692640" y="37490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131"/>
          <p:cNvSpPr/>
          <p:nvPr/>
        </p:nvSpPr>
        <p:spPr>
          <a:xfrm>
            <a:off x="9692640" y="42062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figure132" descr="블록 3개를 쌓은 라 탑"/>
          <p:cNvSpPr/>
          <p:nvPr/>
        </p:nvSpPr>
        <p:spPr>
          <a:xfrm>
            <a:off x="9692640" y="3291840"/>
            <a:ext cx="82296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0-text133"/>
          <p:cNvSpPr txBox="1"/>
          <p:nvPr/>
        </p:nvSpPr>
        <p:spPr>
          <a:xfrm>
            <a:off x="7543800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탑</a:t>
            </a:r>
            <a:endParaRPr lang="ko-KR" sz="3200" dirty="0"/>
          </a:p>
        </p:txBody>
      </p:sp>
      <p:sp>
        <p:nvSpPr>
          <p:cNvPr id="23" name="S10-text134"/>
          <p:cNvSpPr txBox="1"/>
          <p:nvPr/>
        </p:nvSpPr>
        <p:spPr>
          <a:xfrm>
            <a:off x="937260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탑</a:t>
            </a:r>
            <a:endParaRPr lang="ko-KR" sz="3200" dirty="0"/>
          </a:p>
        </p:txBody>
      </p:sp>
      <p:sp>
        <p:nvSpPr>
          <p:cNvPr id="24" name="S10-cell135"/>
          <p:cNvSpPr/>
          <p:nvPr/>
        </p:nvSpPr>
        <p:spPr>
          <a:xfrm>
            <a:off x="6949440" y="4663440"/>
            <a:ext cx="448056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0-figure136" descr="바닥선"/>
          <p:cNvSpPr/>
          <p:nvPr/>
        </p:nvSpPr>
        <p:spPr>
          <a:xfrm>
            <a:off x="6949440" y="4663440"/>
            <a:ext cx="448056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말은?</a:t>
            </a:r>
            <a:endParaRPr lang="ko-KR" sz="4400" dirty="0"/>
          </a:p>
        </p:txBody>
      </p:sp>
      <p:sp>
        <p:nvSpPr>
          <p:cNvPr id="3" name="S12-text1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기린은 토끼보다 키가 더 □.</a:t>
            </a:r>
            <a:endParaRPr lang="ko-KR" sz="3200" dirty="0"/>
          </a:p>
        </p:txBody>
      </p:sp>
      <p:sp>
        <p:nvSpPr>
          <p:cNvPr id="4" name="S12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14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4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4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</a:t>
            </a:r>
            <a:endParaRPr lang="ko-KR" sz="3200" dirty="0"/>
          </a:p>
        </p:txBody>
      </p:sp>
      <p:sp>
        <p:nvSpPr>
          <p:cNvPr id="9" name="S12-chip14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4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4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길어요</a:t>
            </a:r>
            <a:endParaRPr lang="ko-KR" sz="3200" dirty="0"/>
          </a:p>
        </p:txBody>
      </p:sp>
      <p:sp>
        <p:nvSpPr>
          <p:cNvPr id="12" name="S12-chip14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4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4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끝을 맞추고, 다른 쪽 끝을 비교해요.</a:t>
            </a:r>
            <a:endParaRPr lang="ko-KR" sz="3200" dirty="0"/>
          </a:p>
        </p:txBody>
      </p:sp>
      <p:sp>
        <p:nvSpPr>
          <p:cNvPr id="5" name="S13-chip15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끝을 맞추고 비교하기</a:t>
            </a:r>
            <a:endParaRPr lang="ko-KR" sz="2600" dirty="0"/>
          </a:p>
        </p:txBody>
      </p:sp>
      <p:sp>
        <p:nvSpPr>
          <p:cNvPr id="6" name="S13-chip15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끝을 안 맞추고 보기</a:t>
            </a:r>
            <a:endParaRPr lang="ko-KR" sz="2600" dirty="0"/>
          </a:p>
        </p:txBody>
      </p:sp>
      <p:sp>
        <p:nvSpPr>
          <p:cNvPr id="7" name="S13-text15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5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연필과 지우개, 더 짧은 것은?</a:t>
            </a:r>
            <a:endParaRPr lang="ko-KR" sz="2600" dirty="0"/>
          </a:p>
        </p:txBody>
      </p:sp>
      <p:sp>
        <p:nvSpPr>
          <p:cNvPr id="9" name="S13-text15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아빠는 나보다 키가 더 ○○.</a:t>
            </a:r>
            <a:endParaRPr lang="ko-KR" sz="2600" dirty="0"/>
          </a:p>
        </p:txBody>
      </p:sp>
      <p:sp>
        <p:nvSpPr>
          <p:cNvPr id="10" name="S13-text15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책상과 의자, 더 낮은 것은?</a:t>
            </a:r>
            <a:endParaRPr lang="ko-KR" sz="2600" dirty="0"/>
          </a:p>
        </p:txBody>
      </p:sp>
      <p:sp>
        <p:nvSpPr>
          <p:cNvPr id="11" name="S13-text1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무게·넓이·담을 수 있는 양 비교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더 많은 쪽은?</a:t>
            </a:r>
            <a:endParaRPr lang="ko-KR" sz="4400" dirty="0"/>
          </a:p>
        </p:txBody>
      </p:sp>
      <p:sp>
        <p:nvSpPr>
          <p:cNvPr id="3" name="S14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5는 3보다 커요. 3은 5보다 작아요.</a:t>
            </a:r>
            <a:endParaRPr lang="ko-KR" sz="3200" dirty="0"/>
          </a:p>
        </p:txBody>
      </p:sp>
      <p:sp>
        <p:nvSpPr>
          <p:cNvPr id="5" name="S14-dot160"/>
          <p:cNvSpPr/>
          <p:nvPr/>
        </p:nvSpPr>
        <p:spPr>
          <a:xfrm>
            <a:off x="16573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4-dot161"/>
          <p:cNvSpPr/>
          <p:nvPr/>
        </p:nvSpPr>
        <p:spPr>
          <a:xfrm>
            <a:off x="23431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62"/>
          <p:cNvSpPr/>
          <p:nvPr/>
        </p:nvSpPr>
        <p:spPr>
          <a:xfrm>
            <a:off x="30289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163"/>
          <p:cNvSpPr/>
          <p:nvPr/>
        </p:nvSpPr>
        <p:spPr>
          <a:xfrm>
            <a:off x="37147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dot164"/>
          <p:cNvSpPr/>
          <p:nvPr/>
        </p:nvSpPr>
        <p:spPr>
          <a:xfrm>
            <a:off x="44005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figure165" descr="주황 점 5개"/>
          <p:cNvSpPr/>
          <p:nvPr/>
        </p:nvSpPr>
        <p:spPr>
          <a:xfrm>
            <a:off x="1527048" y="2620899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4-label166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</a:t>
            </a:r>
            <a:endParaRPr lang="ko-KR" sz="2600" dirty="0"/>
          </a:p>
        </p:txBody>
      </p:sp>
      <p:sp>
        <p:nvSpPr>
          <p:cNvPr id="12" name="S14-dot167"/>
          <p:cNvSpPr/>
          <p:nvPr/>
        </p:nvSpPr>
        <p:spPr>
          <a:xfrm>
            <a:off x="80490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68"/>
          <p:cNvSpPr/>
          <p:nvPr/>
        </p:nvSpPr>
        <p:spPr>
          <a:xfrm>
            <a:off x="87348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169"/>
          <p:cNvSpPr/>
          <p:nvPr/>
        </p:nvSpPr>
        <p:spPr>
          <a:xfrm>
            <a:off x="94206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figure170" descr="파란 점 3개"/>
          <p:cNvSpPr/>
          <p:nvPr/>
        </p:nvSpPr>
        <p:spPr>
          <a:xfrm>
            <a:off x="7918704" y="26208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4-label171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길이와 높이 비교</dc:title>
  <dc:subject>KR22-G01-MAT-LENGTH-L01</dc:subject>
  <dc:creator>education-ppt</dc:creator>
  <cp:lastModifiedBy>education-ppt</cp:lastModifiedBy>
  <cp:revision>1</cp:revision>
  <dcterms:created xsi:type="dcterms:W3CDTF">2026-10-26T07:45:01Z</dcterms:created>
  <dcterms:modified xsi:type="dcterms:W3CDTF">2026-10-26T07:45:01Z</dcterms:modified>
</cp:coreProperties>
</file>