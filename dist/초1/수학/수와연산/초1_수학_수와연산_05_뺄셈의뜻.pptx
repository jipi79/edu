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6c7d211-693d-fd9d-9125-5a17d6b66f5f}">
          <p14:sldIdLst>
            <p14:sldId id="256"/>
            <p14:sldId id="257"/>
          </p14:sldIdLst>
        </p14:section>
        <p14:section name="개념" id="{e0ec27e0-5812-12ae-a45e-467ef46c3b42}">
          <p14:sldIdLst>
            <p14:sldId id="258"/>
            <p14:sldId id="259"/>
            <p14:sldId id="260"/>
            <p14:sldId id="261"/>
          </p14:sldIdLst>
        </p14:section>
        <p14:section name="연습" id="{3a8a280a-7a0b-f81e-7b41-f9a6c3c88769}">
          <p14:sldIdLst>
            <p14:sldId id="262"/>
            <p14:sldId id="263"/>
            <p14:sldId id="264"/>
          </p14:sldIdLst>
        </p14:section>
        <p14:section name="확인" id="{b7ea136f-6fcd-ac54-a6ae-c244756bee2b}">
          <p14:sldIdLst>
            <p14:sldId id="265"/>
            <p14:sldId id="266"/>
            <p14:sldId id="267"/>
          </p14:sldIdLst>
        </p14:section>
        <p14:section name="정리" id="{5a7ff76c-63a3-9c48-5df3-09c37914c4ba}">
          <p14:sldIdLst>
            <p14:sldId id="268"/>
          </p14:sldIdLst>
        </p14:section>
        <p14:section name="보충" id="{d23d909a-a9b2-a7e9-eaa6-216ee4cec8a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덜어 내면 줄어든다는 것을 떠올리게 합니다.
시간: 약 2분
이렇게 말해 보세요
- “지난 시간에는 모두 몇 개인지 구하는 덧셈을 했지? 오늘은 먹거나 덜어 내고 남은 것을 구하는 뺄셈을 배울 거야.”
- “오른쪽 그림에서 왼쪽은 5개, 오른쪽은 몇 개가 남았을까?”
예상 답
- “3개요.” “2개가 없어졌어요.”
막히면
- 답을 확인하지 말고 넘어갑니다. S03에서 같은 그림으로 다시 합니다.
주의
- ‘−’, ‘=’ 기호 카드를 미리 만들어 두면 S05에서 식을 꾸밀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확인(덧셈, 가르기)]
목적: 덧셈과 가르기가 되는지 확인합니다. 가르기는 오늘 뺄셈을 계산할 때 씁니다.
시간: 약 3분
이렇게 말해 보세요
- “①, ②는 덧셈이야. 어떻게 계산했는지 말해 줘.”
- “③은 8을 5와 몇으로 가른 걸까?”
정답
- ① 7
- ② 8
- ③ 3
막히면
- 바둑돌을 놓고 모으거나 가르게 합니다.
- 두 문제 이상 틀리면 S14(보충)를 먼저 합니다. 덧셈이 어려우면 4차시 ‘덧셈의 뜻’(KR22-G01-MAT-ADD-L01)을, 가르기가 어려우면 3차시 ‘가르기와 모으기’를 다시 합니다.
주의
- ③의 가르기가 되면 오늘 뺄셈이 훨씬 쉬워집니다.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덜어 내는 상황을 뺄셈식으로]
목적: 처음 수에서 덜어 내고 남은 것을 구하는 상황을 뺄셈식 5 − 2 = 3으로 나타냅니다.
시간: 약 3분
이렇게 말해 보세요
- “쿠키가 처음에 몇 개 있었어? 2개를 먹었으면 몇 개가 남았어?”
- “이걸 ‘5 빼기 2는 3과 같아요’라고 하고, 5 − 2 = 3이라고 써.”
예상 답
- “5개요. 3개 남았어요.”
막히면
- 바둑돌 5개를 놓고 아이가 직접 2개를 접시 밖으로 꺼낸 뒤 남은 것을 셉니다.
- ‘2개’라고 답하면 “그건 먹은 것이야. 접시에 남은 것은?”이라고 묻습니다(M3).
주의
- 오른쪽 틀의 빈칸 두 개가 먹은 쿠키입니다. 손가락으로 짚어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비교하는 상황을 뺄셈식으로]
목적: 두 양을 비교해 몇 개 더 많은지 구하는 것도 뺄셈이며, 그 결과를 ‘차’라고 한다는 것을 압니다.
시간: 약 3분
이렇게 말해 보세요
- “사탕과 초콜릿을 하나씩 짝 지었어. 짝이 없는 사탕은 몇 개야?”
- “사탕이 초콜릿보다 2개 더 많아. 이것도 뺄셈이야. 6 − 4 = 2. ‘6과 4의 차는 2예요’라고 말해.”
예상 답
- “2개요.” “6과 4의 차는 2예요.”
막히면
- 바둑돌 6개와 단추 4개를 위아래로 하나씩 짝 지어 놓고 남는 것을 셉니다.
주의
- ‘더 많아요’라는 말 때문에 덧셈을 하는 실수가 많습니다(M1). S09에서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뺄셈식 쓰고 읽기]
목적: −의 이름과 뜻을 알고, 뺄셈식을 두 가지 방법으로 읽습니다.
시간: 약 3분
이렇게 말해 보세요
- “− 기호는 ‘빼기’라고 읽어. 5 − 2 = 3을 두 가지로 읽어 볼까?”
- “뺄셈식은 처음에 있던 수, 또는 더 많은 쪽의 수를 맨 앞에 써.”
예상 답
- “5 빼기 2는 3과 같아요.” “5와 2의 차는 3이에요.”
막히면
- 바둑돌 5개, ‘−’ 카드, 돌 2개, ‘=’ 카드, 돌 3개를 차례로 놓아 식을 꾸미고 짚으며 읽게 합니다.
주의
- ‘2 − 5’처럼 순서를 바꾸면 안 된다는 것을 알려 줍니다(M2). 1학년에서는 작은 수에서 큰 수를 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가르기로 뺄셈하기 시범]
목적: 지난 시간에 배운 가르기를 이용해 뺄셈을 계산하는 방법을 시범으로 보여 줍니다.
시간: 약 3분
이렇게 말해 보세요
- “7 − 3을 해 보자. 돌 7개에서 3개를 덜어 내면 남는 것은? 이건 7을 3과 몇으로 가르는 것과 같아.”
- “7은 3과 4로 가를 수 있지? 그래서 7 − 3 = 4야.”
예상 답
- “4개요.”
막히면
- 돌 7개를 놓고 3개를 덜어 낸 뒤 남은 것을 세어 같은 답이 나오는지 확인합니다.
주의
- 돌로 덜어 내기, 가르기 중 아이가 편한 방법을 쓰게 합니다. 거꾸로 세기(7, 6, 5, 4)는 실수가 많으니 오늘은 권하지 않습니다.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연습(이야기를 뺄셈식으로)]
목적: 도움을 받으며 덜어 내는 이야기와 비교하는 이야기를 뺄셈식으로 나타냅니다.
시간: 약 4분
이렇게 말해 보세요
- “엄마(아빠)가 읽어 줄게. ①에서 처음에 풍선이 몇 개 있었어? 몇 개가 터졌어? 뺄셈식으로 말해 볼래?”
- “③은 연필이 지우개보다 몇 개 더 많은지 구하는 거야.”
정답
- ① 7 − 3 = 4(남은 풍선 4개)
- ② 8 − 5 = 3(남은 개구리 3마리)
- ③ 6 − 2 = 4(연필이 4개 더 많아요)
막히면
- 이야기를 한 문장씩 끊어 읽고, 나오는 수만큼 돌을 놓게 합니다.
- ③은 연필 6개, 지우개 2개를 두 줄로 짝 지어 놓고 남는 것을 셉니다.
주의
- 아이가 글을 읽기 어려우면 부모가 읽어 주어도 됩니다. 이 차시의 목표는 식으로 나타내기입니다.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연습(계산)]
목적: 도움을 받으며 9까지의 수에서 뺄셈을 계산합니다.
시간: 약 5분
이렇게 말해 보세요
- “①은 5 빼기 1이야. 1만큼 더 작은 수와 같지?”
- “④는 4개에서 4개를 모두 덜어 내면 몇 개가 남아?”
정답
- ① 4
- ② 5
- ③ 3
- ④ 0
막히면
- ③은 9를 6과 몇으로 가르는지 생각하게 하거나, 돌 9개에서 6개를 덜어 내고 남은 것을 셉니다.
- ④를 4라고 하면 접시의 돌을 모두 꺼내 보여 주고 “남은 게 있어?”라고 묻습니다.
주의
- 같은 수끼리 빼면 0이고, 어떤 수에서 0을 빼면 그 수 그대로입니다(M4).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비교(비교 상황의 덧셈)]
목적: ‘더 많을까요’라는 말 때문에 덧셈을 하는 실수를 바로잡습니다(M1).
시간: 약 3분
이렇게 말해 보세요
- “토끼는 ‘더’라는 말을 보고 더했대. 곰은 뺐어. 누가 맞았을까?”
- “빨간 꽃과 노란 꽃을 하나씩 짝 지어 보면 짝이 없는 빨간 꽃은 몇 송이야?”
예상 답
- “곰이요. 짝 지으면 빨간 꽃이 4송이 남아요.”
정답
- 곰이 맞습니다. 7 − 3 = 4, 빨간 꽃이 4송이 더 많습니다.
- 토끼의 7 + 3 = 10은 꽃이 모두 몇 송이인지 구한 식입니다.
막히면
- 바둑돌 7개와 단추 3개를 두 줄로 짝 지어 놓고 남는 것을 셉니다.
주의
- ‘모두 몇 개’는 덧셈, ‘몇 개 더 많은지’와 ‘남은 것’은 뺄셈이라고 정리해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이야기를 뺄셈식으로 나타내고 계산할 수 있는지 확인합니다.
시간: 약 5분
이렇게 말해 보세요
- “이번에는 혼자 해 볼래? ①과 ③은 뺄셈식을 종이에 쓰고 답을 말해 줘. 바둑돌을 써도 돼.”
정답
- ① 9 − 4 = 5, 5마리 남았어요.
- ② 5
- ③ 8 − 5 = 3, 공이 3개 더 많아요.
막히면
- 바로 알려 주지 말고 “처음에 몇 마리 있었어?”, “어느 것이 더 많아?”라고만 묻습니다.
- 도움을 받아 해결했다면 기록표에 ‘도움’으로 표시합니다.
주의
- ③에서 5 − 8로 쓰면 큰 수인 공의 수를 앞에 써야 한다고 알려 줍니다(M2).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돌로 다시 해 보자.”
정답
- ① 9 − 4 = 5 ② 5 ③ 8 − 5 = 3
막히면
- ①에서 4라고 했다면 S03으로, ③에서 덧셈을 했다면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확인(이야기에 맞는 식)]
목적: 처음 보는 이야기에서 남은 것을 구하는 알맞은 뺄셈식을 고르는지 확인합니다.
시간: 약 2분
이렇게 말해 보세요
- “이야기에 맞는 뺄셈식은 어느 것일까? 처음에 몇 개였고, 몇 개를 먹었어?”
정답
- 가(8 − 3 = 5). 처음 8개에서 먹은 3개를 빼면 5개가 남습니다.
- 나는 5개를 먹었을 때의 식, 다는 덧셈식이라 이야기와 맞지 않습니다.
막히면
- 딸기 대신 돌 8개를 놓고 3개를 덜어 낸 뒤, 그 과정에 맞는 식을 고르게 합니다.
주의
- 나를 고르면 ‘먹은 수’와 ‘남은 수’를 헷갈린 것입니다(M3). 기록표에 적어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언제 뺄셈을 해? 5 − 2 = 3은 어떻게 읽어?”
예상 답
- “먹고 남은 것을 구할 때요. 몇 개 더 많은지 알 때요.” “5 빼기 2는 3과 같아요.”
정답
- ① 4 ② 4 ③ 0
막히면
- S03과 S04의 그림을 다시 보여 주며 ‘남은 것은 뺄셈, 차이도 뺄셈’을 함께 말합니다.
주의
- 다음 차시부터는 10보다 큰 수를 배웁니다. 덧셈·뺄셈 복습은 매일 2~3문제씩 짧게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보충(가르기와 덧셈)]
목적: S02에서 가르기나 덧셈이 흔들리면, 뺄셈을 배우기 전에 실제 돌로 가르고 다시 모아 봅니다.
시간: 약 5분
이렇게 말해 보세요
- “돌 6개 중 2개를 이쪽 접시에 놓아 볼래? 저쪽에는 몇 개가 있어?”
- “다시 모으면 몇 개야? 2 + 4는 얼마야?”
정답
- 6은 2와 4로 가를 수 있고, 2 + 4 = 6입니다.
막히면
- 돌을 하나씩 옮기며 소리 내어 셉니다. 6 대신 5로 먼저 해 봅니다.
주의
- 보충으로도 어려우면 3차시 ‘가르기와 모으기’(KR22-G01-MAT-COMPOSE-L01)와 4차시 ‘덧셈의 뜻’(KR22-G01-MAT-ADD-L01)을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뺄셈의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뺄셈의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뺄셈의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뺄셈의 뜻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개가 남을까?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68096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74236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04214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10355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840333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46473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876452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82592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912571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18711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68096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04214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40333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cell14"/>
          <p:cNvSpPr/>
          <p:nvPr/>
        </p:nvSpPr>
        <p:spPr>
          <a:xfrm>
            <a:off x="876452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12571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figure16" descr="1개의 십 칸 틀 중 1번째: 모두 5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80694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986834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16812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22953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1052931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059071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089050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125169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80694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016812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052931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89050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125169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figure30" descr="1개의 십 칸 틀 중 1번째: 모두 3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1-card3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5" name="S01-cardtext3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이야기를 뺄셈식으로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뺄셈을 계산해요.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□</a:t>
            </a:r>
            <a:endParaRPr lang="ko-KR" sz="3600" dirty="0"/>
          </a:p>
        </p:txBody>
      </p:sp>
      <p:sp>
        <p:nvSpPr>
          <p:cNvPr id="5" name="S02-chip3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+ 2 = □</a:t>
            </a:r>
            <a:endParaRPr lang="ko-KR" sz="3600" dirty="0"/>
          </a:p>
        </p:txBody>
      </p:sp>
      <p:sp>
        <p:nvSpPr>
          <p:cNvPr id="7" name="S02-chip37"/>
          <p:cNvSpPr txBox="1"/>
          <p:nvPr/>
        </p:nvSpPr>
        <p:spPr>
          <a:xfrm>
            <a:off x="548640" y="51800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38"/>
          <p:cNvSpPr txBox="1"/>
          <p:nvPr/>
        </p:nvSpPr>
        <p:spPr>
          <a:xfrm>
            <a:off x="1344168" y="47091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     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먹고 남은 것</a:t>
            </a:r>
            <a:endParaRPr lang="ko-KR" sz="4400" dirty="0"/>
          </a:p>
        </p:txBody>
      </p:sp>
      <p:sp>
        <p:nvSpPr>
          <p:cNvPr id="3" name="S03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쿠키 5개 중 2개를 먹었어요.</a:t>
            </a:r>
            <a:endParaRPr lang="ko-KR" sz="3200" dirty="0"/>
          </a:p>
        </p:txBody>
      </p:sp>
      <p:sp>
        <p:nvSpPr>
          <p:cNvPr id="4" name="S03-card40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1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빼기 2는 3과 같아요.</a:t>
            </a:r>
            <a:endParaRPr lang="ko-KR" sz="3200" dirty="0"/>
          </a:p>
        </p:txBody>
      </p:sp>
      <p:sp>
        <p:nvSpPr>
          <p:cNvPr id="6" name="S03-cell42"/>
          <p:cNvSpPr/>
          <p:nvPr/>
        </p:nvSpPr>
        <p:spPr>
          <a:xfrm>
            <a:off x="129844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dot43"/>
          <p:cNvSpPr/>
          <p:nvPr/>
        </p:nvSpPr>
        <p:spPr>
          <a:xfrm>
            <a:off x="143057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cell44"/>
          <p:cNvSpPr/>
          <p:nvPr/>
        </p:nvSpPr>
        <p:spPr>
          <a:xfrm>
            <a:off x="207568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dot45"/>
          <p:cNvSpPr/>
          <p:nvPr/>
        </p:nvSpPr>
        <p:spPr>
          <a:xfrm>
            <a:off x="220781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cell46"/>
          <p:cNvSpPr/>
          <p:nvPr/>
        </p:nvSpPr>
        <p:spPr>
          <a:xfrm>
            <a:off x="285292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dot47"/>
          <p:cNvSpPr/>
          <p:nvPr/>
        </p:nvSpPr>
        <p:spPr>
          <a:xfrm>
            <a:off x="298505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cell48"/>
          <p:cNvSpPr/>
          <p:nvPr/>
        </p:nvSpPr>
        <p:spPr>
          <a:xfrm>
            <a:off x="363016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dot49"/>
          <p:cNvSpPr/>
          <p:nvPr/>
        </p:nvSpPr>
        <p:spPr>
          <a:xfrm>
            <a:off x="376229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cell50"/>
          <p:cNvSpPr/>
          <p:nvPr/>
        </p:nvSpPr>
        <p:spPr>
          <a:xfrm>
            <a:off x="440740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dot51"/>
          <p:cNvSpPr/>
          <p:nvPr/>
        </p:nvSpPr>
        <p:spPr>
          <a:xfrm>
            <a:off x="453953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cell52"/>
          <p:cNvSpPr/>
          <p:nvPr/>
        </p:nvSpPr>
        <p:spPr>
          <a:xfrm>
            <a:off x="129844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53"/>
          <p:cNvSpPr/>
          <p:nvPr/>
        </p:nvSpPr>
        <p:spPr>
          <a:xfrm>
            <a:off x="207568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54"/>
          <p:cNvSpPr/>
          <p:nvPr/>
        </p:nvSpPr>
        <p:spPr>
          <a:xfrm>
            <a:off x="285292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55"/>
          <p:cNvSpPr/>
          <p:nvPr/>
        </p:nvSpPr>
        <p:spPr>
          <a:xfrm>
            <a:off x="363016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56"/>
          <p:cNvSpPr/>
          <p:nvPr/>
        </p:nvSpPr>
        <p:spPr>
          <a:xfrm>
            <a:off x="440740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57" descr="1개의 십 칸 틀 중 1번째: 모두 5개"/>
          <p:cNvSpPr/>
          <p:nvPr/>
        </p:nvSpPr>
        <p:spPr>
          <a:xfrm>
            <a:off x="1298448" y="23117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label58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5개</a:t>
            </a:r>
            <a:endParaRPr lang="ko-KR" sz="2600" dirty="0"/>
          </a:p>
        </p:txBody>
      </p:sp>
      <p:sp>
        <p:nvSpPr>
          <p:cNvPr id="23" name="S03-cell59"/>
          <p:cNvSpPr/>
          <p:nvPr/>
        </p:nvSpPr>
        <p:spPr>
          <a:xfrm>
            <a:off x="700430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dot60"/>
          <p:cNvSpPr/>
          <p:nvPr/>
        </p:nvSpPr>
        <p:spPr>
          <a:xfrm>
            <a:off x="7136435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cell61"/>
          <p:cNvSpPr/>
          <p:nvPr/>
        </p:nvSpPr>
        <p:spPr>
          <a:xfrm>
            <a:off x="778154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dot62"/>
          <p:cNvSpPr/>
          <p:nvPr/>
        </p:nvSpPr>
        <p:spPr>
          <a:xfrm>
            <a:off x="7913675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cell63"/>
          <p:cNvSpPr/>
          <p:nvPr/>
        </p:nvSpPr>
        <p:spPr>
          <a:xfrm>
            <a:off x="855878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dot64"/>
          <p:cNvSpPr/>
          <p:nvPr/>
        </p:nvSpPr>
        <p:spPr>
          <a:xfrm>
            <a:off x="8690915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cell65"/>
          <p:cNvSpPr/>
          <p:nvPr/>
        </p:nvSpPr>
        <p:spPr>
          <a:xfrm>
            <a:off x="933602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66"/>
          <p:cNvSpPr/>
          <p:nvPr/>
        </p:nvSpPr>
        <p:spPr>
          <a:xfrm>
            <a:off x="1011326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67"/>
          <p:cNvSpPr/>
          <p:nvPr/>
        </p:nvSpPr>
        <p:spPr>
          <a:xfrm>
            <a:off x="700430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68"/>
          <p:cNvSpPr/>
          <p:nvPr/>
        </p:nvSpPr>
        <p:spPr>
          <a:xfrm>
            <a:off x="778154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69"/>
          <p:cNvSpPr/>
          <p:nvPr/>
        </p:nvSpPr>
        <p:spPr>
          <a:xfrm>
            <a:off x="855878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70"/>
          <p:cNvSpPr/>
          <p:nvPr/>
        </p:nvSpPr>
        <p:spPr>
          <a:xfrm>
            <a:off x="933602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71"/>
          <p:cNvSpPr/>
          <p:nvPr/>
        </p:nvSpPr>
        <p:spPr>
          <a:xfrm>
            <a:off x="1011326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figure72" descr="1개의 십 칸 틀 중 1번째: 모두 3개"/>
          <p:cNvSpPr/>
          <p:nvPr/>
        </p:nvSpPr>
        <p:spPr>
          <a:xfrm>
            <a:off x="7004304" y="23117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3-label7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비교해도 뺄셈</a:t>
            </a:r>
            <a:endParaRPr lang="ko-KR" sz="4400" dirty="0"/>
          </a:p>
        </p:txBody>
      </p:sp>
      <p:sp>
        <p:nvSpPr>
          <p:cNvPr id="3" name="S04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6개와 초콜릿 4개를 짝 지어요.</a:t>
            </a:r>
            <a:endParaRPr lang="ko-KR" sz="3200" dirty="0"/>
          </a:p>
        </p:txBody>
      </p:sp>
      <p:sp>
        <p:nvSpPr>
          <p:cNvPr id="4" name="S04-card7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7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6 − 4 = 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4의 차는 2예요.</a:t>
            </a:r>
            <a:endParaRPr lang="ko-KR" sz="3200" dirty="0"/>
          </a:p>
        </p:txBody>
      </p:sp>
      <p:sp>
        <p:nvSpPr>
          <p:cNvPr id="6" name="S04-card77"/>
          <p:cNvSpPr/>
          <p:nvPr/>
        </p:nvSpPr>
        <p:spPr>
          <a:xfrm>
            <a:off x="548640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78"/>
          <p:cNvSpPr txBox="1"/>
          <p:nvPr/>
        </p:nvSpPr>
        <p:spPr>
          <a:xfrm>
            <a:off x="822960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 사탕, 아랫줄 초콜릿</a:t>
            </a:r>
            <a:endParaRPr lang="ko-KR" sz="3200" dirty="0"/>
          </a:p>
        </p:txBody>
      </p:sp>
      <p:sp>
        <p:nvSpPr>
          <p:cNvPr id="8" name="S04-card79"/>
          <p:cNvSpPr/>
          <p:nvPr/>
        </p:nvSpPr>
        <p:spPr>
          <a:xfrm>
            <a:off x="6208776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80"/>
          <p:cNvSpPr txBox="1"/>
          <p:nvPr/>
        </p:nvSpPr>
        <p:spPr>
          <a:xfrm>
            <a:off x="6483096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2개 남아요</a:t>
            </a:r>
            <a:endParaRPr lang="ko-KR" sz="3200" dirty="0"/>
          </a:p>
        </p:txBody>
      </p:sp>
      <p:sp>
        <p:nvSpPr>
          <p:cNvPr id="10" name="S04-cell81"/>
          <p:cNvSpPr/>
          <p:nvPr/>
        </p:nvSpPr>
        <p:spPr>
          <a:xfrm>
            <a:off x="3729990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82"/>
          <p:cNvSpPr/>
          <p:nvPr/>
        </p:nvSpPr>
        <p:spPr>
          <a:xfrm>
            <a:off x="4518152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83"/>
          <p:cNvSpPr/>
          <p:nvPr/>
        </p:nvSpPr>
        <p:spPr>
          <a:xfrm>
            <a:off x="5306314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84"/>
          <p:cNvSpPr/>
          <p:nvPr/>
        </p:nvSpPr>
        <p:spPr>
          <a:xfrm>
            <a:off x="6094476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85"/>
          <p:cNvSpPr/>
          <p:nvPr/>
        </p:nvSpPr>
        <p:spPr>
          <a:xfrm>
            <a:off x="6882638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86"/>
          <p:cNvSpPr/>
          <p:nvPr/>
        </p:nvSpPr>
        <p:spPr>
          <a:xfrm>
            <a:off x="7670800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87"/>
          <p:cNvSpPr/>
          <p:nvPr/>
        </p:nvSpPr>
        <p:spPr>
          <a:xfrm>
            <a:off x="3729990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88"/>
          <p:cNvSpPr/>
          <p:nvPr/>
        </p:nvSpPr>
        <p:spPr>
          <a:xfrm>
            <a:off x="4518152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89"/>
          <p:cNvSpPr/>
          <p:nvPr/>
        </p:nvSpPr>
        <p:spPr>
          <a:xfrm>
            <a:off x="5306314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90"/>
          <p:cNvSpPr/>
          <p:nvPr/>
        </p:nvSpPr>
        <p:spPr>
          <a:xfrm>
            <a:off x="6094476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91"/>
          <p:cNvSpPr/>
          <p:nvPr/>
        </p:nvSpPr>
        <p:spPr>
          <a:xfrm>
            <a:off x="6882638" y="2799842"/>
            <a:ext cx="788162" cy="7881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92"/>
          <p:cNvSpPr/>
          <p:nvPr/>
        </p:nvSpPr>
        <p:spPr>
          <a:xfrm>
            <a:off x="7670800" y="2799842"/>
            <a:ext cx="788162" cy="7881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figure93" descr="윗줄 사탕 6칸, 아랫줄 초콜릿 4칸을 색칠한 격자. 아랫줄 오른쪽 2칸이 비어 있다"/>
          <p:cNvSpPr/>
          <p:nvPr/>
        </p:nvSpPr>
        <p:spPr>
          <a:xfrm>
            <a:off x="3729990" y="2011680"/>
            <a:ext cx="4728972" cy="157632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 읽기</a:t>
            </a:r>
            <a:endParaRPr lang="ko-KR" sz="4400" dirty="0"/>
          </a:p>
        </p:txBody>
      </p:sp>
      <p:sp>
        <p:nvSpPr>
          <p:cNvPr id="3" name="S05-eqtext9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600" dirty="0"/>
          </a:p>
        </p:txBody>
      </p:sp>
      <p:sp>
        <p:nvSpPr>
          <p:cNvPr id="4" name="S05-stepno95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5-text96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−는 ‘빼기’라고 읽어요.</a:t>
            </a:r>
            <a:endParaRPr lang="ko-KR" sz="3200" dirty="0"/>
          </a:p>
        </p:txBody>
      </p:sp>
      <p:sp>
        <p:nvSpPr>
          <p:cNvPr id="6" name="S05-stepno97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5-text98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빼기 2는 3과 같아요.</a:t>
            </a:r>
            <a:endParaRPr lang="ko-KR" sz="3200" dirty="0"/>
          </a:p>
        </p:txBody>
      </p:sp>
      <p:sp>
        <p:nvSpPr>
          <p:cNvPr id="8" name="S05-stepno99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5-text100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 2의 차는 3이에요.</a:t>
            </a:r>
            <a:endParaRPr lang="ko-KR" sz="3200" dirty="0"/>
          </a:p>
        </p:txBody>
      </p:sp>
      <p:sp>
        <p:nvSpPr>
          <p:cNvPr id="10" name="S05-stepno101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5-text102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수를 맨 앞에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가르기로 빼요</a:t>
            </a:r>
            <a:endParaRPr lang="ko-KR" sz="4400" dirty="0"/>
          </a:p>
        </p:txBody>
      </p:sp>
      <p:sp>
        <p:nvSpPr>
          <p:cNvPr id="3" name="S06-eqtext10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7 − 3 = □</a:t>
            </a:r>
            <a:endParaRPr lang="ko-KR" sz="3600" dirty="0"/>
          </a:p>
        </p:txBody>
      </p:sp>
      <p:sp>
        <p:nvSpPr>
          <p:cNvPr id="4" name="S06-eqtext104"/>
          <p:cNvSpPr txBox="1"/>
          <p:nvPr/>
        </p:nvSpPr>
        <p:spPr>
          <a:xfrm>
            <a:off x="6920911" y="2606040"/>
            <a:ext cx="471940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3        4</a:t>
            </a:r>
            <a:endParaRPr lang="ko-KR" sz="3600" dirty="0"/>
          </a:p>
        </p:txBody>
      </p:sp>
      <p:sp>
        <p:nvSpPr>
          <p:cNvPr id="5" name="S06-stepno105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106"/>
          <p:cNvSpPr txBox="1"/>
          <p:nvPr/>
        </p:nvSpPr>
        <p:spPr>
          <a:xfrm>
            <a:off x="1325880" y="3424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7을 3과 몇으로 갈라요.</a:t>
            </a:r>
            <a:endParaRPr lang="ko-KR" sz="3200" dirty="0"/>
          </a:p>
        </p:txBody>
      </p:sp>
      <p:sp>
        <p:nvSpPr>
          <p:cNvPr id="7" name="S06-stepno107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108"/>
          <p:cNvSpPr txBox="1"/>
          <p:nvPr/>
        </p:nvSpPr>
        <p:spPr>
          <a:xfrm>
            <a:off x="1325880" y="41376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7은 3과 4로 갈라져요.</a:t>
            </a:r>
            <a:endParaRPr lang="ko-KR" sz="3200" dirty="0"/>
          </a:p>
        </p:txBody>
      </p:sp>
      <p:sp>
        <p:nvSpPr>
          <p:cNvPr id="9" name="S06-stepno109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110"/>
          <p:cNvSpPr txBox="1"/>
          <p:nvPr/>
        </p:nvSpPr>
        <p:spPr>
          <a:xfrm>
            <a:off x="1325880" y="48508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7 − 3 = 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뺄셈식으로 나타내요</a:t>
            </a:r>
            <a:endParaRPr lang="ko-KR" sz="4400" dirty="0"/>
          </a:p>
        </p:txBody>
      </p:sp>
      <p:sp>
        <p:nvSpPr>
          <p:cNvPr id="3" name="S07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듣고 뺄셈식을 말해요.</a:t>
            </a:r>
            <a:endParaRPr lang="ko-KR" sz="3200" dirty="0"/>
          </a:p>
        </p:txBody>
      </p:sp>
      <p:sp>
        <p:nvSpPr>
          <p:cNvPr id="4" name="S07-card1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수(더 많은 수)를 맨 앞에 써요.</a:t>
            </a:r>
            <a:endParaRPr lang="ko-KR" sz="3200" dirty="0"/>
          </a:p>
        </p:txBody>
      </p:sp>
      <p:sp>
        <p:nvSpPr>
          <p:cNvPr id="6" name="S07-chip11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11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풍선 7개 중 3개가 터졌어요.</a:t>
            </a:r>
            <a:endParaRPr lang="ko-KR" sz="3200" dirty="0"/>
          </a:p>
        </p:txBody>
      </p:sp>
      <p:sp>
        <p:nvSpPr>
          <p:cNvPr id="8" name="S07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11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 8마리 중 5마리가 갔어요.</a:t>
            </a:r>
            <a:endParaRPr lang="ko-KR" sz="3200" dirty="0"/>
          </a:p>
        </p:txBody>
      </p:sp>
      <p:sp>
        <p:nvSpPr>
          <p:cNvPr id="10" name="S07-chip11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11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 6자루, 지우개 2개. 연필이 몇 개 더 많아요?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뺄셈을 해 봐요</a:t>
            </a:r>
            <a:endParaRPr lang="ko-KR" sz="4400" dirty="0"/>
          </a:p>
        </p:txBody>
      </p:sp>
      <p:sp>
        <p:nvSpPr>
          <p:cNvPr id="3" name="S08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돌로 덜어 내거나 가르기로 해요.</a:t>
            </a:r>
            <a:endParaRPr lang="ko-KR" sz="3200" dirty="0"/>
          </a:p>
        </p:txBody>
      </p:sp>
      <p:sp>
        <p:nvSpPr>
          <p:cNvPr id="5" name="S08-chip1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5 − 1 = □</a:t>
            </a:r>
            <a:endParaRPr lang="ko-KR" sz="3600" dirty="0"/>
          </a:p>
        </p:txBody>
      </p:sp>
      <p:sp>
        <p:nvSpPr>
          <p:cNvPr id="7" name="S08-chip12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2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□</a:t>
            </a:r>
            <a:endParaRPr lang="ko-KR" sz="3600" dirty="0"/>
          </a:p>
        </p:txBody>
      </p:sp>
      <p:sp>
        <p:nvSpPr>
          <p:cNvPr id="9" name="S08-chip12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2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9 − 6 = □</a:t>
            </a:r>
            <a:endParaRPr lang="ko-KR" sz="3600" dirty="0"/>
          </a:p>
        </p:txBody>
      </p:sp>
      <p:sp>
        <p:nvSpPr>
          <p:cNvPr id="11" name="S08-chip12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2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3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꽃 7송이, 노란 꽃 3송이.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꽃이 몇 송이 더 많을까요?</a:t>
            </a:r>
            <a:endParaRPr lang="ko-KR" sz="3200" dirty="0"/>
          </a:p>
        </p:txBody>
      </p:sp>
      <p:sp>
        <p:nvSpPr>
          <p:cNvPr id="5" name="S09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134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9-eqtext135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+ 3 = 10</a:t>
            </a:r>
            <a:endParaRPr lang="ko-KR" sz="3600" dirty="0"/>
          </a:p>
        </p:txBody>
      </p:sp>
      <p:sp>
        <p:nvSpPr>
          <p:cNvPr id="9" name="S09-chip136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09-eqtext137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7 − 3 = 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계산해요.</a:t>
            </a:r>
            <a:endParaRPr lang="ko-KR" sz="3200" dirty="0"/>
          </a:p>
        </p:txBody>
      </p:sp>
      <p:sp>
        <p:nvSpPr>
          <p:cNvPr id="4" name="S10-chip13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14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9마리 중 4마리가 날아갔어요.</a:t>
            </a:r>
            <a:endParaRPr lang="ko-KR" sz="3200" dirty="0"/>
          </a:p>
        </p:txBody>
      </p:sp>
      <p:sp>
        <p:nvSpPr>
          <p:cNvPr id="6" name="S10-chip14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4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7 − 2 = □</a:t>
            </a:r>
            <a:endParaRPr lang="ko-KR" sz="3600" dirty="0"/>
          </a:p>
        </p:txBody>
      </p:sp>
      <p:sp>
        <p:nvSpPr>
          <p:cNvPr id="8" name="S10-chip14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14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5개, 공 8개. 공이 몇 개 더 많아요?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145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46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바둑돌로 다시 덜어 내거나 짝 지어 보게 하세요.</a:t>
            </a:r>
            <a:endParaRPr lang="ko-KR" sz="3200" dirty="0"/>
          </a:p>
        </p:txBody>
      </p:sp>
      <p:sp>
        <p:nvSpPr>
          <p:cNvPr id="5" name="S11-chip14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48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9 − 4 = 5</a:t>
            </a:r>
            <a:endParaRPr lang="ko-KR" sz="3200" dirty="0"/>
          </a:p>
        </p:txBody>
      </p:sp>
      <p:sp>
        <p:nvSpPr>
          <p:cNvPr id="7" name="S11-text149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5마리 남음</a:t>
            </a:r>
            <a:endParaRPr lang="ko-KR" sz="2600" dirty="0"/>
          </a:p>
        </p:txBody>
      </p:sp>
      <p:sp>
        <p:nvSpPr>
          <p:cNvPr id="8" name="S11-text150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</a:t>
            </a:r>
            <a:endParaRPr lang="ko-KR" sz="3200" dirty="0"/>
          </a:p>
        </p:txBody>
      </p:sp>
      <p:sp>
        <p:nvSpPr>
          <p:cNvPr id="9" name="S11-text151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가르기: 2와 5</a:t>
            </a:r>
            <a:endParaRPr lang="ko-KR" sz="2600" dirty="0"/>
          </a:p>
        </p:txBody>
      </p:sp>
      <p:sp>
        <p:nvSpPr>
          <p:cNvPr id="10" name="S11-text152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8 − 5 = 3</a:t>
            </a:r>
            <a:endParaRPr lang="ko-KR" sz="3200" dirty="0"/>
          </a:p>
        </p:txBody>
      </p:sp>
      <p:sp>
        <p:nvSpPr>
          <p:cNvPr id="11" name="S11-text153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3개 더 많음</a:t>
            </a:r>
            <a:endParaRPr lang="ko-KR" sz="2600" dirty="0"/>
          </a:p>
        </p:txBody>
      </p:sp>
      <p:sp>
        <p:nvSpPr>
          <p:cNvPr id="12" name="S11-chip15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155"/>
          <p:cNvSpPr txBox="1"/>
          <p:nvPr/>
        </p:nvSpPr>
        <p:spPr>
          <a:xfrm>
            <a:off x="6277356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</a:t>
            </a:r>
            <a:endParaRPr lang="ko-KR" sz="3200" dirty="0"/>
          </a:p>
        </p:txBody>
      </p:sp>
      <p:sp>
        <p:nvSpPr>
          <p:cNvPr id="14" name="S11-text156"/>
          <p:cNvSpPr txBox="1"/>
          <p:nvPr/>
        </p:nvSpPr>
        <p:spPr>
          <a:xfrm>
            <a:off x="9095994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날아간 수를 답함</a:t>
            </a:r>
            <a:endParaRPr lang="ko-KR" sz="2600" dirty="0"/>
          </a:p>
        </p:txBody>
      </p:sp>
      <p:sp>
        <p:nvSpPr>
          <p:cNvPr id="15" name="S11-text157"/>
          <p:cNvSpPr txBox="1"/>
          <p:nvPr/>
        </p:nvSpPr>
        <p:spPr>
          <a:xfrm>
            <a:off x="6277356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+ 8</a:t>
            </a:r>
            <a:endParaRPr lang="ko-KR" sz="3200" dirty="0"/>
          </a:p>
        </p:txBody>
      </p:sp>
      <p:sp>
        <p:nvSpPr>
          <p:cNvPr id="16" name="S11-text158"/>
          <p:cNvSpPr txBox="1"/>
          <p:nvPr/>
        </p:nvSpPr>
        <p:spPr>
          <a:xfrm>
            <a:off x="9095994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‘더’를 보고 더함</a:t>
            </a:r>
            <a:endParaRPr lang="ko-KR" sz="2600" dirty="0"/>
          </a:p>
        </p:txBody>
      </p:sp>
      <p:sp>
        <p:nvSpPr>
          <p:cNvPr id="17" name="S11-text159"/>
          <p:cNvSpPr txBox="1"/>
          <p:nvPr/>
        </p:nvSpPr>
        <p:spPr>
          <a:xfrm>
            <a:off x="6277356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5 − 8</a:t>
            </a:r>
            <a:endParaRPr lang="ko-KR" sz="3200" dirty="0"/>
          </a:p>
        </p:txBody>
      </p:sp>
      <p:sp>
        <p:nvSpPr>
          <p:cNvPr id="18" name="S11-text160"/>
          <p:cNvSpPr txBox="1"/>
          <p:nvPr/>
        </p:nvSpPr>
        <p:spPr>
          <a:xfrm>
            <a:off x="9095994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수를 뒤에 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뺄셈식은?</a:t>
            </a:r>
            <a:endParaRPr lang="ko-KR" sz="4400" dirty="0"/>
          </a:p>
        </p:txBody>
      </p:sp>
      <p:sp>
        <p:nvSpPr>
          <p:cNvPr id="3" name="S12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 8개 중 3개를 먹었어요.</a:t>
            </a:r>
            <a:endParaRPr lang="ko-KR" sz="3200" dirty="0"/>
          </a:p>
        </p:txBody>
      </p:sp>
      <p:sp>
        <p:nvSpPr>
          <p:cNvPr id="4" name="S12-card1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딸기는 몇 개일까요? 어떻게 알았나요?</a:t>
            </a:r>
            <a:endParaRPr lang="ko-KR" sz="3200" dirty="0"/>
          </a:p>
        </p:txBody>
      </p:sp>
      <p:sp>
        <p:nvSpPr>
          <p:cNvPr id="6" name="S12-chip16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6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6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5</a:t>
            </a:r>
            <a:endParaRPr lang="ko-KR" sz="3200" dirty="0"/>
          </a:p>
        </p:txBody>
      </p:sp>
      <p:sp>
        <p:nvSpPr>
          <p:cNvPr id="9" name="S12-chip16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6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6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8 − 5 = 3</a:t>
            </a:r>
            <a:endParaRPr lang="ko-KR" sz="3200" dirty="0"/>
          </a:p>
        </p:txBody>
      </p:sp>
      <p:sp>
        <p:nvSpPr>
          <p:cNvPr id="12" name="S12-chip17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17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7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+ 5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7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7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것이나 차이를 구할 때 뺄셈을 해요.</a:t>
            </a:r>
            <a:endParaRPr lang="ko-KR" sz="3200" dirty="0"/>
          </a:p>
        </p:txBody>
      </p:sp>
      <p:sp>
        <p:nvSpPr>
          <p:cNvPr id="5" name="S13-chip17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처음 수를 맨 앞에 쓰기</a:t>
            </a:r>
            <a:endParaRPr lang="ko-KR" sz="2600" dirty="0"/>
          </a:p>
        </p:txBody>
      </p:sp>
      <p:sp>
        <p:nvSpPr>
          <p:cNvPr id="6" name="S13-chip17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‘더 많다’를 보고 더하기</a:t>
            </a:r>
            <a:endParaRPr lang="ko-KR" sz="2600" dirty="0"/>
          </a:p>
        </p:txBody>
      </p:sp>
      <p:sp>
        <p:nvSpPr>
          <p:cNvPr id="7" name="S13-text17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17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6 − 2 = □</a:t>
            </a:r>
            <a:endParaRPr lang="ko-KR" sz="3000" dirty="0"/>
          </a:p>
        </p:txBody>
      </p:sp>
      <p:sp>
        <p:nvSpPr>
          <p:cNvPr id="9" name="S13-eqtext17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9 − 5 = □</a:t>
            </a:r>
            <a:endParaRPr lang="ko-KR" sz="3000" dirty="0"/>
          </a:p>
        </p:txBody>
      </p:sp>
      <p:sp>
        <p:nvSpPr>
          <p:cNvPr id="10" name="S13-eqtext18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3 − 3 = □</a:t>
            </a:r>
            <a:endParaRPr lang="ko-KR" sz="3000" dirty="0"/>
          </a:p>
        </p:txBody>
      </p:sp>
      <p:sp>
        <p:nvSpPr>
          <p:cNvPr id="11" name="S13-text1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50까지의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돌로 가르기</a:t>
            </a:r>
            <a:endParaRPr lang="ko-KR" sz="4400" dirty="0"/>
          </a:p>
        </p:txBody>
      </p:sp>
      <p:sp>
        <p:nvSpPr>
          <p:cNvPr id="3" name="S14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6개를 2개와 몇 개로 가를까요?</a:t>
            </a:r>
            <a:endParaRPr lang="ko-KR" sz="3200" dirty="0"/>
          </a:p>
        </p:txBody>
      </p:sp>
      <p:sp>
        <p:nvSpPr>
          <p:cNvPr id="4" name="S14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6은 2와 4로 갈라요. 2와 4를 모으면 6!</a:t>
            </a:r>
            <a:endParaRPr lang="ko-KR" sz="3200" dirty="0"/>
          </a:p>
        </p:txBody>
      </p:sp>
      <p:sp>
        <p:nvSpPr>
          <p:cNvPr id="6" name="S14-dot185"/>
          <p:cNvSpPr/>
          <p:nvPr/>
        </p:nvSpPr>
        <p:spPr>
          <a:xfrm>
            <a:off x="26860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186"/>
          <p:cNvSpPr/>
          <p:nvPr/>
        </p:nvSpPr>
        <p:spPr>
          <a:xfrm>
            <a:off x="33718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figure187" descr="주황 점 2개"/>
          <p:cNvSpPr/>
          <p:nvPr/>
        </p:nvSpPr>
        <p:spPr>
          <a:xfrm>
            <a:off x="2555748" y="2963799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14-label188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14-dot189"/>
          <p:cNvSpPr/>
          <p:nvPr/>
        </p:nvSpPr>
        <p:spPr>
          <a:xfrm>
            <a:off x="77061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4-dot190"/>
          <p:cNvSpPr/>
          <p:nvPr/>
        </p:nvSpPr>
        <p:spPr>
          <a:xfrm>
            <a:off x="83919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dot191"/>
          <p:cNvSpPr/>
          <p:nvPr/>
        </p:nvSpPr>
        <p:spPr>
          <a:xfrm>
            <a:off x="90777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192"/>
          <p:cNvSpPr/>
          <p:nvPr/>
        </p:nvSpPr>
        <p:spPr>
          <a:xfrm>
            <a:off x="97635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figure193" descr="파란 점 4개"/>
          <p:cNvSpPr/>
          <p:nvPr/>
        </p:nvSpPr>
        <p:spPr>
          <a:xfrm>
            <a:off x="7575804" y="2963799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4-label19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뺄셈의 뜻</dc:title>
  <dc:subject>KR22-G01-MAT-SUB-L01</dc:subject>
  <dc:creator>education-ppt</dc:creator>
  <cp:lastModifiedBy>education-ppt</cp:lastModifiedBy>
  <cp:revision>1</cp:revision>
  <dcterms:created xsi:type="dcterms:W3CDTF">2026-10-26T07:13:28Z</dcterms:created>
  <dcterms:modified xsi:type="dcterms:W3CDTF">2026-10-26T07:13:28Z</dcterms:modified>
</cp:coreProperties>
</file>