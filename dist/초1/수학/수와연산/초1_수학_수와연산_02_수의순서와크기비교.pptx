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cef6669-9a41-c37e-bd16-410a25bfb36e}">
          <p14:sldIdLst>
            <p14:sldId id="256"/>
            <p14:sldId id="257"/>
          </p14:sldIdLst>
        </p14:section>
        <p14:section name="개념" id="{7f50d5fe-ef8b-0522-d7fa-675d346ab75e}">
          <p14:sldIdLst>
            <p14:sldId id="258"/>
            <p14:sldId id="259"/>
            <p14:sldId id="260"/>
            <p14:sldId id="261"/>
          </p14:sldIdLst>
        </p14:section>
        <p14:section name="연습" id="{f8cc9475-f1ff-0f63-7dec-cba95de340f7}">
          <p14:sldIdLst>
            <p14:sldId id="262"/>
            <p14:sldId id="263"/>
            <p14:sldId id="264"/>
          </p14:sldIdLst>
        </p14:section>
        <p14:section name="확인" id="{429df250-6e18-a788-4888-3d8a40e23e1a}">
          <p14:sldIdLst>
            <p14:sldId id="265"/>
            <p14:sldId id="266"/>
            <p14:sldId id="267"/>
          </p14:sldIdLst>
        </p14:section>
        <p14:section name="정리" id="{1298aa14-0344-3fde-917f-b5f21145ec6c}">
          <p14:sldIdLst>
            <p14:sldId id="268"/>
          </p14:sldIdLst>
        </p14:section>
        <p14:section name="보충" id="{e32ab7ab-a8bd-ee5d-92ed-51c06cf90d8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수를 순서대로 늘어놓는 데 흥미를 갖게 합니다.
시간: 약 2분
이렇게 말해 보세요
- “지난번에는 0부터 9까지 세고 읽었지? 오늘은 수의 순서를 알아보고, 어느 수가 더 큰지 비교해 볼 거야.”
- “오른쪽 두 그림에서 돌이 더 많은 쪽은 어디일까? 오늘 끝날 때 수로 말해 보자.”
예상 답
- “오른쪽이요.” / “몰라요.” (틀려도 괜찮습니다. 왼쪽 3개, 오른쪽 5개입니다.)
막히면
- 세어 보자고 하지 말고 그대로 넘어갑니다. S06에서 짝 지어 비교하는 방법을 배웁니다.
주의
- 숫자 카드와 바둑돌을 미리 꺼내 두면 수업 중간에 찾느라 흐름이 끊기지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확인(9까지 세기·읽기)]
목적: 지난 차시(9까지의 수)의 세기와 읽기가 되는지 확인합니다. 오늘 공부의 바탕입니다.
시간: 약 3분
이렇게 말해 보세요
- “①은 몇 개야? 짚으면서 세어 봐. 그 수를 두 가지로 읽어 볼래?”
- “②도 세어 보자. ③은 8을 두 가지로 읽어 봐.”
정답
- ① 7개(일곱, 칠)
- ② 4개(넷, 사)
- ③ 여덟, 팔
막히면
- ①은 윗줄 다섯에서 이어 세게 합니다(“다섯, 여섯, 일곱”).
- 세 문제 중 두 개 이상 틀리면 S14(보충)를 먼저 합니다. 보충으로도 어려우면 1차시 ‘9까지의 수’(KR22-G01-MAT-NUM9-L01)를 다시 합니다.
주의
- 답을 바로 고쳐 주지 말고 “다시 짚으면서 세어 볼까?”라고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수의 순서(앞으로·거꾸로 세기)]
목적: 0부터 9까지 수가 정해진 순서로 놓여 있고, 뒤로 갈수록 커진다는 것을 압니다.
시간: 약 3분
이렇게 말해 보세요
- “0부터 9까지 손가락으로 짚으면서 앞으로 세어 보자.”
- “이번에는 9부터 거꾸로 세어 볼까? 로켓 발사처럼 ‘9, 8, 7…’ 하고 세는 거야.”
예상 답
- “0, 1, 2, 3, 4, 5, 6, 7, 8, 9.”
- “9, 8, 7, 6, 5, 4, 3, 2, 1, 0.”
막히면
- 숫자 카드를 0부터 9까지 책상 위에 늘어놓고, 오른쪽 끝에서부터 한 장씩 짚으며 거꾸로 셉니다(M1).
주의
- 거꾸로 세기는 처음에 어렵습니다. 한 번에 9부터 0까지가 어려우면 5부터 0까지 먼저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1만큼 더 큰 수]
목적: 돌을 1개 더 놓으면 ‘1만큼 더 큰 수’가 되고, 그 수는 순서에서 바로 뒤의 수임을 압니다.
시간: 약 3분
이렇게 말해 보세요
- “십 칸 틀에 돌을 4개 놓아 볼래? 이제 1개를 더 놓으면 몇 개야?”
- “4보다 1만큼 더 큰 수는 5야. 수를 순서대로 셀 때 4 바로 뒤에 오는 수지?”
예상 답
- “5개요.” “4 다음이 5예요.”
막히면
- 실제 바둑돌로 4개를 놓고, 아이가 직접 1개를 더 놓은 뒤 처음부터 세게 합니다.
주의
- ‘1만큼 더 큰 수’는 교과서에서 쓰는 말입니다. 아이가 ‘하나 더 많은 수’라고 말해도 맞다고 인정한 뒤 교과서 말로 한 번 더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1만큼 더 작은 수]
목적: 돌을 1개 빼면 ‘1만큼 더 작은 수’가 되고, 그 수는 순서에서 바로 앞의 수임을 압니다.
시간: 약 3분
이렇게 말해 보세요
- “다시 돌 4개야. 이번에는 1개를 빼 볼래? 몇 개 남았어?”
- “4보다 1만큼 더 작은 수는 3이야. 순서에서 4 바로 앞에 있는 수지?”
- “그럼 7보다 1만큼 더 작은 수는?”
예상 답
- “3개요.” “7 앞에 있는 6이에요.”
막히면
- 숫자 카드 4를 짚고 “4 바로 앞에 있는 카드는?”이라고 묻습니다.
- 1만큼 더 큰 수와 헷갈리면 “더 큰 수는 돌이 늘어나고, 더 작은 수는 돌이 줄어들어.”라고 다시 해 봅니다(M2).
주의
- 1보다 1만큼 더 작은 수는 0입니다. 아이가 물으면 “돌이 하나도 없으니까 0”이라고 바둑돌로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짝 지어 두 수 비교]
목적: 하나씩 짝 지어 남는 쪽이 더 큰 수임을 알고, 두 수의 크기를 ‘~보다 커요/작아요’로 말합니다.
시간: 약 3분
이렇게 말해 보세요
- “색칠한 칸 하나가 돌 하나야. 윗줄과 아랫줄을 하나씩 짝 지어 볼까? 어느 줄이 남아?”
- “윗줄이 남았으니까 6이 더 커. ‘6은 4보다 커요’라고 말해 볼래? 거꾸로 4를 먼저 말하면?”
예상 답
- “윗줄이 2개 남아요.” “6은 4보다 커요. 4는 6보다 작아요.”
막히면
- 바둑돌 6개와 단추 4개를 위아래로 하나씩 짝 지어 놓고 남는 것을 찾게 합니다.
- 문장이 어려우면 부모가 먼저 말하고 따라 하게 합니다(M3).
주의
- 돌 사이를 넓게 벌리면 많아 보입니다. 개수는 짝 짓거나 세어서 비교한다는 것을 강조합니다(M4).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연습(순서, 1 큰 수·작은 수)]
목적: 도움을 받으며 수의 순서와 1만큼 더 큰 수·작은 수를 찾습니다.
시간: 약 5분
이렇게 말해 보세요
- “①은 앞으로 세는 거야. 3, 4 다음에는?”
- “②는 거꾸로 세는 거야. 9, 8 다음에는?”
- “③, ④는 바둑돌로 해 볼까? 5개 놓고 1개 더 놓으면? 8개 놓고 1개 빼면?”
정답
- ① 5
- ② 7
- ③ 6
- ④ 7
막히면
- ①②는 숫자 카드를 순서대로 놓고 □ 자리를 짚게 합니다.
- ②에서 9 다음에 10이라고 하면 “거꾸로 세는 거야. 9, 8 다음에는 더 작아져.”라고 알려 줍니다(M1).
주의
- 답을 맞히면 “어떻게 알았어?”라고 물어 순서나 돌의 개수로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비교(1만큼 더 큰 수의 방향)]
목적: 1만큼 더 큰 수와 1만큼 더 작은 수를 헷갈리는 실수를 그림으로 바로잡습니다(M2).
시간: 약 3분
이렇게 말해 보세요
- “토끼와 곰이 서로 다르게 말했어. 누구 말이 맞을까?”
- “토끼는 무엇을 헷갈렸을까?”
예상 답
- “곰이요. 더 큰 수니까 돌이 1개 더 많아야 해요.”
정답
- 곰이 맞습니다. 5보다 1만큼 더 큰 수는 6입니다.
- 토끼는 1만큼 더 작은 수(4)를 말했습니다.
막히면
- 바둑돌 5개를 놓고 “더 큰 수가 되려면 돌을 놓아야 할까, 빼야 할까?”라고 묻습니다.
주의
- 답만 말하면 “왜 곰이 맞아?”라고 다시 묻습니다. 까닭을 말할 수 있어야 이해한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연습(두 수의 크기 비교)]
목적: 수의 순서를 이용해 두 수 중 더 큰 수를 찾고 문장으로 말합니다.
시간: 약 4분
이렇게 말해 보세요
- “①에서 3과 5 중 어느 수가 더 커? 오른쪽 줄에서 둘을 찾아봐. 어느 수가 더 뒤에 있어?”
- “‘5는 3보다 커요.’ 하고 말해 볼래? 3을 먼저 말하면 어떻게 말할까?”
정답
- ① 5(5는 3보다 커요. 3은 5보다 작아요.)
- ② 8(8은 6보다 커요. 6은 8보다 작아요.)
- ③ 2(2는 0보다 커요. 0은 2보다 작아요.)
막히면
- 두 수만큼 바둑돌을 위아래 두 줄로 놓고 하나씩 짝 지어 남는 쪽을 찾게 합니다.
- ③에서 0은 아무것도 없는 것이므로 어떤 수보다도 작다는 것을 돌로 보여 줍니다.
주의
- ‘4는 6보다 커요’처럼 문장이 뒤바뀌면 먼저 말한 수를 짚고 “이 수가 더 많아?”라고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수의 순서, 1만큼 더 작은 수, 두 수의 비교를 할 수 있는지 확인합니다.
시간: 약 5분
이렇게 말해 보세요
- “이번에는 혼자 해 볼래? 다 하면 어떻게 알았는지 말해 줘.”
정답
- ① 8
- ② 2
- ③ 7(7은 4보다 커요.)
막히면
- 바로 알려 주지 말고 “숫자 카드나 바둑돌을 써도 돼.”라고만 말합니다.
- 도움을 받아 해결했다면 기록표에 ‘도움’으로 표시합니다.
주의
- ③은 답과 함께 ‘7은 4보다 커요’ 문장으로 말하면 완전히 맞힌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다른 것이 있으면 바둑돌로 다시 해 보자.”
정답
- ① 8 ② 2 ③ 7(7은 4보다 커요)
막히면
- ②를 4라고 했다면 S05로 돌아가 돌을 1개 빼는 활동을 다시 합니다.
- ③에서 문장이 바뀌었다면 S06의 짝 짓기 그림으로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확인(처음 보는 그림)]
목적: 처음 보는 그림에서 1만큼 더 작은 수를 찾을 수 있는지 확인합니다.
시간: 약 2분
이렇게 말해 보세요
- “7보다 1만큼 더 작은 수는 어느 그림일까? 어떻게 알았어?”
정답
- 나(6). 가는 8(1만큼 더 큰 수), 다는 7입니다.
막히면
- 각 그림을 하나씩 세어 수를 먼저 말하게 한 뒤 다시 묻습니다.
주의
- 가(8)를 고르면 M2(더 큰 수와 작은 수 헷갈림)입니다.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두 수 중 어느 수가 더 큰지 어떻게 알 수 있어?”
예상 답
- “순서에서 뒤에 있는 수가 더 커요.” “짝 지어서 남는 쪽이 커요.”
정답
- ① 6 ② 8 ③ 6(6은 2보다 커요)
막히면
- S03의 수직선을 다시 보여 주고 “뒤로 갈수록 어떻게 돼?”라고 묻습니다.
주의
- 복습 세 문제는 오늘 풀지 않아도 됩니다.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보충(9까지 세기)]
목적: S02에서 세기나 읽기가 흔들리면, 수만큼 돌을 놓으며 세기와 ‘다음 수는 1개 더’를 함께 익힙니다.
시간: 약 5분
이렇게 말해 보세요
- “숫자 카드 1 아래에 돌 1개, 2 아래에 돌 2개를 놓아 보자. 3 아래에는 몇 개 놓을까?”
- “2에서 3이 되려면 돌을 몇 개 더 놓았어?”
정답
- 카드마다 그 수만큼 돌을 놓습니다. 다음 수로 갈 때마다 돌이 1개씩 늘어납니다.
막히면
- 부모가 1~3을 먼저 놓아 보여 주고, 4와 5를 아이가 놓게 합니다. 익숙해지면 9까지 이어 갑니다.
주의
- 보충으로도 세기가 어려우면 1차시 ‘9까지의 수’(KR22-G01-MAT-NUM9-L01)를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순서와 크기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1개의 십 칸 틀 중 1번째: 모두 3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3864356"/>
            <a:ext cx="10725912" cy="2262124"/>
          </a:xfrm>
          <a:prstGeom prst="roundRect">
            <a:avLst>
              <a:gd name="adj" fmla="val 485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001516"/>
            <a:ext cx="10177272" cy="198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0부터 9까지 순서대로 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1만큼 더 큰 수, 작은 수를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수 중 더 큰 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2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보고, 수를 두 가지로 읽어요.</a:t>
            </a:r>
            <a:endParaRPr lang="ko-KR" sz="3200" dirty="0"/>
          </a:p>
        </p:txBody>
      </p:sp>
      <p:sp>
        <p:nvSpPr>
          <p:cNvPr id="4" name="S02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35"/>
          <p:cNvSpPr/>
          <p:nvPr/>
        </p:nvSpPr>
        <p:spPr>
          <a:xfrm>
            <a:off x="184708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dot36"/>
          <p:cNvSpPr/>
          <p:nvPr/>
        </p:nvSpPr>
        <p:spPr>
          <a:xfrm>
            <a:off x="195590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cell37"/>
          <p:cNvSpPr/>
          <p:nvPr/>
        </p:nvSpPr>
        <p:spPr>
          <a:xfrm>
            <a:off x="248716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dot38"/>
          <p:cNvSpPr/>
          <p:nvPr/>
        </p:nvSpPr>
        <p:spPr>
          <a:xfrm>
            <a:off x="259598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cell39"/>
          <p:cNvSpPr/>
          <p:nvPr/>
        </p:nvSpPr>
        <p:spPr>
          <a:xfrm>
            <a:off x="312724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dot40"/>
          <p:cNvSpPr/>
          <p:nvPr/>
        </p:nvSpPr>
        <p:spPr>
          <a:xfrm>
            <a:off x="323606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cell41"/>
          <p:cNvSpPr/>
          <p:nvPr/>
        </p:nvSpPr>
        <p:spPr>
          <a:xfrm>
            <a:off x="376732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dot42"/>
          <p:cNvSpPr/>
          <p:nvPr/>
        </p:nvSpPr>
        <p:spPr>
          <a:xfrm>
            <a:off x="387614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cell43"/>
          <p:cNvSpPr/>
          <p:nvPr/>
        </p:nvSpPr>
        <p:spPr>
          <a:xfrm>
            <a:off x="440740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dot44"/>
          <p:cNvSpPr/>
          <p:nvPr/>
        </p:nvSpPr>
        <p:spPr>
          <a:xfrm>
            <a:off x="451622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cell45"/>
          <p:cNvSpPr/>
          <p:nvPr/>
        </p:nvSpPr>
        <p:spPr>
          <a:xfrm>
            <a:off x="184708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dot46"/>
          <p:cNvSpPr/>
          <p:nvPr/>
        </p:nvSpPr>
        <p:spPr>
          <a:xfrm>
            <a:off x="195590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cell47"/>
          <p:cNvSpPr/>
          <p:nvPr/>
        </p:nvSpPr>
        <p:spPr>
          <a:xfrm>
            <a:off x="248716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dot48"/>
          <p:cNvSpPr/>
          <p:nvPr/>
        </p:nvSpPr>
        <p:spPr>
          <a:xfrm>
            <a:off x="259598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2-cell49"/>
          <p:cNvSpPr/>
          <p:nvPr/>
        </p:nvSpPr>
        <p:spPr>
          <a:xfrm>
            <a:off x="312724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cell50"/>
          <p:cNvSpPr/>
          <p:nvPr/>
        </p:nvSpPr>
        <p:spPr>
          <a:xfrm>
            <a:off x="376732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51"/>
          <p:cNvSpPr/>
          <p:nvPr/>
        </p:nvSpPr>
        <p:spPr>
          <a:xfrm>
            <a:off x="440740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52" descr="1개의 십 칸 틀 중 1번째: 모두 7개"/>
          <p:cNvSpPr/>
          <p:nvPr/>
        </p:nvSpPr>
        <p:spPr>
          <a:xfrm>
            <a:off x="1847088" y="2011680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dot54"/>
          <p:cNvSpPr/>
          <p:nvPr/>
        </p:nvSpPr>
        <p:spPr>
          <a:xfrm>
            <a:off x="22059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2-dot55"/>
          <p:cNvSpPr/>
          <p:nvPr/>
        </p:nvSpPr>
        <p:spPr>
          <a:xfrm>
            <a:off x="28917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dot56"/>
          <p:cNvSpPr/>
          <p:nvPr/>
        </p:nvSpPr>
        <p:spPr>
          <a:xfrm>
            <a:off x="35775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dot57"/>
          <p:cNvSpPr/>
          <p:nvPr/>
        </p:nvSpPr>
        <p:spPr>
          <a:xfrm>
            <a:off x="426339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2-figure58" descr="점 4개를 1줄 4개씩 놓은 배열"/>
          <p:cNvSpPr/>
          <p:nvPr/>
        </p:nvSpPr>
        <p:spPr>
          <a:xfrm>
            <a:off x="2075688" y="3771900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2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0" name="S02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세어요</a:t>
            </a:r>
            <a:endParaRPr lang="ko-KR" sz="4400" dirty="0"/>
          </a:p>
        </p:txBody>
      </p:sp>
      <p:sp>
        <p:nvSpPr>
          <p:cNvPr id="3" name="S03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수가 1만큼씩 커져요.</a:t>
            </a:r>
            <a:endParaRPr lang="ko-KR" sz="3200" dirty="0"/>
          </a:p>
        </p:txBody>
      </p:sp>
      <p:sp>
        <p:nvSpPr>
          <p:cNvPr id="5" name="S03-card63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64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앞으로: 0, 1, 2, … 9</a:t>
            </a:r>
            <a:endParaRPr lang="ko-KR" sz="3200" dirty="0"/>
          </a:p>
        </p:txBody>
      </p:sp>
      <p:sp>
        <p:nvSpPr>
          <p:cNvPr id="7" name="S03-card65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6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거꾸로: 9, 8, 7, … 0</a:t>
            </a:r>
            <a:endParaRPr lang="ko-KR" sz="3200" dirty="0"/>
          </a:p>
        </p:txBody>
      </p:sp>
      <p:sp>
        <p:nvSpPr>
          <p:cNvPr id="9" name="S03-line67"/>
          <p:cNvSpPr/>
          <p:nvPr/>
        </p:nvSpPr>
        <p:spPr>
          <a:xfrm>
            <a:off x="685800" y="245999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03-line68"/>
          <p:cNvSpPr/>
          <p:nvPr/>
        </p:nvSpPr>
        <p:spPr>
          <a:xfrm>
            <a:off x="96012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label69"/>
          <p:cNvSpPr txBox="1"/>
          <p:nvPr/>
        </p:nvSpPr>
        <p:spPr>
          <a:xfrm>
            <a:off x="50292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2" name="S03-line70"/>
          <p:cNvSpPr/>
          <p:nvPr/>
        </p:nvSpPr>
        <p:spPr>
          <a:xfrm>
            <a:off x="210108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label71"/>
          <p:cNvSpPr txBox="1"/>
          <p:nvPr/>
        </p:nvSpPr>
        <p:spPr>
          <a:xfrm>
            <a:off x="164388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3-line72"/>
          <p:cNvSpPr/>
          <p:nvPr/>
        </p:nvSpPr>
        <p:spPr>
          <a:xfrm>
            <a:off x="324205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abel73"/>
          <p:cNvSpPr txBox="1"/>
          <p:nvPr/>
        </p:nvSpPr>
        <p:spPr>
          <a:xfrm>
            <a:off x="278485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3-line74"/>
          <p:cNvSpPr/>
          <p:nvPr/>
        </p:nvSpPr>
        <p:spPr>
          <a:xfrm>
            <a:off x="438302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label75"/>
          <p:cNvSpPr txBox="1"/>
          <p:nvPr/>
        </p:nvSpPr>
        <p:spPr>
          <a:xfrm>
            <a:off x="392582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3-line76"/>
          <p:cNvSpPr/>
          <p:nvPr/>
        </p:nvSpPr>
        <p:spPr>
          <a:xfrm>
            <a:off x="552399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abel77"/>
          <p:cNvSpPr txBox="1"/>
          <p:nvPr/>
        </p:nvSpPr>
        <p:spPr>
          <a:xfrm>
            <a:off x="506679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03-line78"/>
          <p:cNvSpPr/>
          <p:nvPr/>
        </p:nvSpPr>
        <p:spPr>
          <a:xfrm>
            <a:off x="666496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label79"/>
          <p:cNvSpPr txBox="1"/>
          <p:nvPr/>
        </p:nvSpPr>
        <p:spPr>
          <a:xfrm>
            <a:off x="620776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" name="S03-line80"/>
          <p:cNvSpPr/>
          <p:nvPr/>
        </p:nvSpPr>
        <p:spPr>
          <a:xfrm>
            <a:off x="780592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abel81"/>
          <p:cNvSpPr txBox="1"/>
          <p:nvPr/>
        </p:nvSpPr>
        <p:spPr>
          <a:xfrm>
            <a:off x="734872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4" name="S03-line82"/>
          <p:cNvSpPr/>
          <p:nvPr/>
        </p:nvSpPr>
        <p:spPr>
          <a:xfrm>
            <a:off x="894689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label83"/>
          <p:cNvSpPr txBox="1"/>
          <p:nvPr/>
        </p:nvSpPr>
        <p:spPr>
          <a:xfrm>
            <a:off x="848969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6" name="S03-line84"/>
          <p:cNvSpPr/>
          <p:nvPr/>
        </p:nvSpPr>
        <p:spPr>
          <a:xfrm>
            <a:off x="1008786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abel85"/>
          <p:cNvSpPr txBox="1"/>
          <p:nvPr/>
        </p:nvSpPr>
        <p:spPr>
          <a:xfrm>
            <a:off x="963066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8" name="S03-line86"/>
          <p:cNvSpPr/>
          <p:nvPr/>
        </p:nvSpPr>
        <p:spPr>
          <a:xfrm>
            <a:off x="1122883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3-label87"/>
          <p:cNvSpPr txBox="1"/>
          <p:nvPr/>
        </p:nvSpPr>
        <p:spPr>
          <a:xfrm>
            <a:off x="1077163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0" name="S03-figure88" descr="0부터 9까지 1씩 눈금이 있는 수직선"/>
          <p:cNvSpPr/>
          <p:nvPr/>
        </p:nvSpPr>
        <p:spPr>
          <a:xfrm>
            <a:off x="685800" y="227711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큰 수</a:t>
            </a:r>
            <a:endParaRPr lang="ko-KR" sz="4400" dirty="0"/>
          </a:p>
        </p:txBody>
      </p:sp>
      <p:sp>
        <p:nvSpPr>
          <p:cNvPr id="3" name="S0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3200" dirty="0"/>
          </a:p>
        </p:txBody>
      </p:sp>
      <p:sp>
        <p:nvSpPr>
          <p:cNvPr id="4" name="S0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큰 수는 5예요.</a:t>
            </a:r>
            <a:endParaRPr lang="ko-KR" sz="3200" dirty="0"/>
          </a:p>
        </p:txBody>
      </p:sp>
      <p:sp>
        <p:nvSpPr>
          <p:cNvPr id="6" name="S04-cell92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dot93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cell94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dot95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cell96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97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98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99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0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101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102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103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104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105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106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10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4-cell108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09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0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1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2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3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4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5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cell116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dot117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4-cell118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119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cell120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cell121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cell122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figure123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4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작은 수</a:t>
            </a:r>
            <a:endParaRPr lang="ko-KR" sz="44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3200" dirty="0"/>
          </a:p>
        </p:txBody>
      </p:sp>
      <p:sp>
        <p:nvSpPr>
          <p:cNvPr id="4" name="S05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작은 수는 3이에요.</a:t>
            </a:r>
            <a:endParaRPr lang="ko-KR" sz="3200" dirty="0"/>
          </a:p>
        </p:txBody>
      </p:sp>
      <p:sp>
        <p:nvSpPr>
          <p:cNvPr id="6" name="S05-cell128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dot129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cell130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dot131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cell132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dot133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cell134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dot135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cell136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137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138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3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40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41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42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43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5-cell144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dot145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cell146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dot147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cell148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dot149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cell150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51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52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53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54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55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56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figure157" descr="1개의 십 칸 틀 중 1번째: 모두 3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label15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비교하기</a:t>
            </a:r>
            <a:endParaRPr lang="ko-KR" sz="44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지어 봐요.</a:t>
            </a:r>
            <a:endParaRPr lang="ko-KR" sz="32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4보다 커요. 4는 6보다 작아요.</a:t>
            </a:r>
            <a:endParaRPr lang="ko-KR" sz="3200" dirty="0"/>
          </a:p>
        </p:txBody>
      </p:sp>
      <p:sp>
        <p:nvSpPr>
          <p:cNvPr id="6" name="S06-card16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6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6, 아랫줄 4</a:t>
            </a:r>
            <a:endParaRPr lang="ko-KR" sz="3200" dirty="0"/>
          </a:p>
        </p:txBody>
      </p:sp>
      <p:sp>
        <p:nvSpPr>
          <p:cNvPr id="8" name="S06-card16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윗줄이 2개 남아요</a:t>
            </a:r>
            <a:endParaRPr lang="ko-KR" sz="3200" dirty="0"/>
          </a:p>
        </p:txBody>
      </p:sp>
      <p:sp>
        <p:nvSpPr>
          <p:cNvPr id="10" name="S06-cell166"/>
          <p:cNvSpPr/>
          <p:nvPr/>
        </p:nvSpPr>
        <p:spPr>
          <a:xfrm>
            <a:off x="30769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67"/>
          <p:cNvSpPr/>
          <p:nvPr/>
        </p:nvSpPr>
        <p:spPr>
          <a:xfrm>
            <a:off x="408279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8"/>
          <p:cNvSpPr/>
          <p:nvPr/>
        </p:nvSpPr>
        <p:spPr>
          <a:xfrm>
            <a:off x="508863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9"/>
          <p:cNvSpPr/>
          <p:nvPr/>
        </p:nvSpPr>
        <p:spPr>
          <a:xfrm>
            <a:off x="609447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70"/>
          <p:cNvSpPr/>
          <p:nvPr/>
        </p:nvSpPr>
        <p:spPr>
          <a:xfrm>
            <a:off x="710031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71"/>
          <p:cNvSpPr/>
          <p:nvPr/>
        </p:nvSpPr>
        <p:spPr>
          <a:xfrm>
            <a:off x="81061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72"/>
          <p:cNvSpPr/>
          <p:nvPr/>
        </p:nvSpPr>
        <p:spPr>
          <a:xfrm>
            <a:off x="307695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3"/>
          <p:cNvSpPr/>
          <p:nvPr/>
        </p:nvSpPr>
        <p:spPr>
          <a:xfrm>
            <a:off x="408279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74"/>
          <p:cNvSpPr/>
          <p:nvPr/>
        </p:nvSpPr>
        <p:spPr>
          <a:xfrm>
            <a:off x="508863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75"/>
          <p:cNvSpPr/>
          <p:nvPr/>
        </p:nvSpPr>
        <p:spPr>
          <a:xfrm>
            <a:off x="609447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76"/>
          <p:cNvSpPr/>
          <p:nvPr/>
        </p:nvSpPr>
        <p:spPr>
          <a:xfrm>
            <a:off x="710031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7"/>
          <p:cNvSpPr/>
          <p:nvPr/>
        </p:nvSpPr>
        <p:spPr>
          <a:xfrm>
            <a:off x="810615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figure178" descr="윗줄 6칸, 아랫줄 4칸을 색칠한 2줄 6칸 격자. 아랫줄 오른쪽 2칸이 비어 있다"/>
          <p:cNvSpPr/>
          <p:nvPr/>
        </p:nvSpPr>
        <p:spPr>
          <a:xfrm>
            <a:off x="3076956" y="2011680"/>
            <a:ext cx="60350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수</a:t>
            </a:r>
            <a:endParaRPr lang="ko-KR" sz="4400" dirty="0"/>
          </a:p>
        </p:txBody>
      </p:sp>
      <p:sp>
        <p:nvSpPr>
          <p:cNvPr id="3" name="S07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200" dirty="0"/>
          </a:p>
        </p:txBody>
      </p:sp>
      <p:sp>
        <p:nvSpPr>
          <p:cNvPr id="4" name="S07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카드를 늘어놓고 짚으며 세어요.</a:t>
            </a:r>
            <a:endParaRPr lang="ko-KR" sz="3200" dirty="0"/>
          </a:p>
        </p:txBody>
      </p:sp>
      <p:sp>
        <p:nvSpPr>
          <p:cNvPr id="6" name="S07-chip1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eqtext1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4, □, 6</a:t>
            </a:r>
            <a:endParaRPr lang="ko-KR" sz="3600" dirty="0"/>
          </a:p>
        </p:txBody>
      </p:sp>
      <p:sp>
        <p:nvSpPr>
          <p:cNvPr id="8" name="S07-chip1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eqtext1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8, □, 6</a:t>
            </a:r>
            <a:endParaRPr lang="ko-KR" sz="3600" dirty="0"/>
          </a:p>
        </p:txBody>
      </p:sp>
      <p:sp>
        <p:nvSpPr>
          <p:cNvPr id="10" name="S07-chip1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5보다 1만큼 더 큰 수</a:t>
            </a:r>
            <a:endParaRPr lang="ko-KR" sz="3200" dirty="0"/>
          </a:p>
        </p:txBody>
      </p:sp>
      <p:sp>
        <p:nvSpPr>
          <p:cNvPr id="12" name="S07-chip1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1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8보다 1만큼 더 작은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“5보다 1만큼 더 큰 수는?”</a:t>
            </a:r>
            <a:endParaRPr lang="ko-KR" sz="3200" dirty="0"/>
          </a:p>
        </p:txBody>
      </p:sp>
      <p:sp>
        <p:nvSpPr>
          <p:cNvPr id="5" name="S08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4예요</a:t>
            </a:r>
            <a:endParaRPr lang="ko-KR" sz="2600" dirty="0"/>
          </a:p>
        </p:txBody>
      </p:sp>
      <p:sp>
        <p:nvSpPr>
          <p:cNvPr id="8" name="S08-cell195"/>
          <p:cNvSpPr/>
          <p:nvPr/>
        </p:nvSpPr>
        <p:spPr>
          <a:xfrm>
            <a:off x="139052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dot196"/>
          <p:cNvSpPr/>
          <p:nvPr/>
        </p:nvSpPr>
        <p:spPr>
          <a:xfrm>
            <a:off x="151561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cell197"/>
          <p:cNvSpPr/>
          <p:nvPr/>
        </p:nvSpPr>
        <p:spPr>
          <a:xfrm>
            <a:off x="212636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dot198"/>
          <p:cNvSpPr/>
          <p:nvPr/>
        </p:nvSpPr>
        <p:spPr>
          <a:xfrm>
            <a:off x="225145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cell199"/>
          <p:cNvSpPr/>
          <p:nvPr/>
        </p:nvSpPr>
        <p:spPr>
          <a:xfrm>
            <a:off x="286219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dot200"/>
          <p:cNvSpPr/>
          <p:nvPr/>
        </p:nvSpPr>
        <p:spPr>
          <a:xfrm>
            <a:off x="298729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cell201"/>
          <p:cNvSpPr/>
          <p:nvPr/>
        </p:nvSpPr>
        <p:spPr>
          <a:xfrm>
            <a:off x="359803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dot202"/>
          <p:cNvSpPr/>
          <p:nvPr/>
        </p:nvSpPr>
        <p:spPr>
          <a:xfrm>
            <a:off x="372312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cell203"/>
          <p:cNvSpPr/>
          <p:nvPr/>
        </p:nvSpPr>
        <p:spPr>
          <a:xfrm>
            <a:off x="433387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04"/>
          <p:cNvSpPr/>
          <p:nvPr/>
        </p:nvSpPr>
        <p:spPr>
          <a:xfrm>
            <a:off x="139052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05"/>
          <p:cNvSpPr/>
          <p:nvPr/>
        </p:nvSpPr>
        <p:spPr>
          <a:xfrm>
            <a:off x="212636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06"/>
          <p:cNvSpPr/>
          <p:nvPr/>
        </p:nvSpPr>
        <p:spPr>
          <a:xfrm>
            <a:off x="286219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07"/>
          <p:cNvSpPr/>
          <p:nvPr/>
        </p:nvSpPr>
        <p:spPr>
          <a:xfrm>
            <a:off x="359803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08"/>
          <p:cNvSpPr/>
          <p:nvPr/>
        </p:nvSpPr>
        <p:spPr>
          <a:xfrm>
            <a:off x="433387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209" descr="1개의 십 칸 틀 중 1번째: 모두 4개"/>
          <p:cNvSpPr/>
          <p:nvPr/>
        </p:nvSpPr>
        <p:spPr>
          <a:xfrm>
            <a:off x="1390523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text210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2600" dirty="0"/>
          </a:p>
        </p:txBody>
      </p:sp>
      <p:sp>
        <p:nvSpPr>
          <p:cNvPr id="24" name="S08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6이에요</a:t>
            </a:r>
            <a:endParaRPr lang="ko-KR" sz="2600" dirty="0"/>
          </a:p>
        </p:txBody>
      </p:sp>
      <p:sp>
        <p:nvSpPr>
          <p:cNvPr id="25" name="S08-cell212"/>
          <p:cNvSpPr/>
          <p:nvPr/>
        </p:nvSpPr>
        <p:spPr>
          <a:xfrm>
            <a:off x="711923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213"/>
          <p:cNvSpPr/>
          <p:nvPr/>
        </p:nvSpPr>
        <p:spPr>
          <a:xfrm>
            <a:off x="724433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cell214"/>
          <p:cNvSpPr/>
          <p:nvPr/>
        </p:nvSpPr>
        <p:spPr>
          <a:xfrm>
            <a:off x="785507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dot215"/>
          <p:cNvSpPr/>
          <p:nvPr/>
        </p:nvSpPr>
        <p:spPr>
          <a:xfrm>
            <a:off x="798016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cell216"/>
          <p:cNvSpPr/>
          <p:nvPr/>
        </p:nvSpPr>
        <p:spPr>
          <a:xfrm>
            <a:off x="859091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dot217"/>
          <p:cNvSpPr/>
          <p:nvPr/>
        </p:nvSpPr>
        <p:spPr>
          <a:xfrm>
            <a:off x="8716007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cell218"/>
          <p:cNvSpPr/>
          <p:nvPr/>
        </p:nvSpPr>
        <p:spPr>
          <a:xfrm>
            <a:off x="932675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dot219"/>
          <p:cNvSpPr/>
          <p:nvPr/>
        </p:nvSpPr>
        <p:spPr>
          <a:xfrm>
            <a:off x="945184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8-cell220"/>
          <p:cNvSpPr/>
          <p:nvPr/>
        </p:nvSpPr>
        <p:spPr>
          <a:xfrm>
            <a:off x="1006259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dot221"/>
          <p:cNvSpPr/>
          <p:nvPr/>
        </p:nvSpPr>
        <p:spPr>
          <a:xfrm>
            <a:off x="1018768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cell222"/>
          <p:cNvSpPr/>
          <p:nvPr/>
        </p:nvSpPr>
        <p:spPr>
          <a:xfrm>
            <a:off x="711923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dot223"/>
          <p:cNvSpPr/>
          <p:nvPr/>
        </p:nvSpPr>
        <p:spPr>
          <a:xfrm>
            <a:off x="7244331" y="4015610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cell224"/>
          <p:cNvSpPr/>
          <p:nvPr/>
        </p:nvSpPr>
        <p:spPr>
          <a:xfrm>
            <a:off x="785507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25"/>
          <p:cNvSpPr/>
          <p:nvPr/>
        </p:nvSpPr>
        <p:spPr>
          <a:xfrm>
            <a:off x="859091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26"/>
          <p:cNvSpPr/>
          <p:nvPr/>
        </p:nvSpPr>
        <p:spPr>
          <a:xfrm>
            <a:off x="932675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27"/>
          <p:cNvSpPr/>
          <p:nvPr/>
        </p:nvSpPr>
        <p:spPr>
          <a:xfrm>
            <a:off x="1006259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28" descr="1개의 십 칸 틀 중 1번째: 모두 6개"/>
          <p:cNvSpPr/>
          <p:nvPr/>
        </p:nvSpPr>
        <p:spPr>
          <a:xfrm>
            <a:off x="7119239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text22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말해요.</a:t>
            </a:r>
            <a:endParaRPr lang="ko-KR" sz="3200" dirty="0"/>
          </a:p>
        </p:txBody>
      </p:sp>
      <p:sp>
        <p:nvSpPr>
          <p:cNvPr id="4" name="S09-card2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“2는 1보다 커요.”처럼 말해요.</a:t>
            </a:r>
            <a:endParaRPr lang="ko-KR" sz="3200" dirty="0"/>
          </a:p>
        </p:txBody>
      </p:sp>
      <p:sp>
        <p:nvSpPr>
          <p:cNvPr id="6" name="S09-card233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34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있는 수가 더 커요</a:t>
            </a:r>
            <a:endParaRPr lang="ko-KR" sz="3200" dirty="0"/>
          </a:p>
        </p:txBody>
      </p:sp>
      <p:sp>
        <p:nvSpPr>
          <p:cNvPr id="8" name="S09-line235"/>
          <p:cNvSpPr/>
          <p:nvPr/>
        </p:nvSpPr>
        <p:spPr>
          <a:xfrm>
            <a:off x="6688836" y="3660775"/>
            <a:ext cx="45399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236"/>
          <p:cNvSpPr/>
          <p:nvPr/>
        </p:nvSpPr>
        <p:spPr>
          <a:xfrm>
            <a:off x="696315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237"/>
          <p:cNvSpPr txBox="1"/>
          <p:nvPr/>
        </p:nvSpPr>
        <p:spPr>
          <a:xfrm>
            <a:off x="650595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900" dirty="0"/>
          </a:p>
        </p:txBody>
      </p:sp>
      <p:sp>
        <p:nvSpPr>
          <p:cNvPr id="11" name="S09-line238"/>
          <p:cNvSpPr/>
          <p:nvPr/>
        </p:nvSpPr>
        <p:spPr>
          <a:xfrm>
            <a:off x="740664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39"/>
          <p:cNvSpPr txBox="1"/>
          <p:nvPr/>
        </p:nvSpPr>
        <p:spPr>
          <a:xfrm>
            <a:off x="694944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3" name="S09-line240"/>
          <p:cNvSpPr/>
          <p:nvPr/>
        </p:nvSpPr>
        <p:spPr>
          <a:xfrm>
            <a:off x="785012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241"/>
          <p:cNvSpPr txBox="1"/>
          <p:nvPr/>
        </p:nvSpPr>
        <p:spPr>
          <a:xfrm>
            <a:off x="739292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5" name="S09-line242"/>
          <p:cNvSpPr/>
          <p:nvPr/>
        </p:nvSpPr>
        <p:spPr>
          <a:xfrm>
            <a:off x="829360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243"/>
          <p:cNvSpPr txBox="1"/>
          <p:nvPr/>
        </p:nvSpPr>
        <p:spPr>
          <a:xfrm>
            <a:off x="783640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7" name="S09-line244"/>
          <p:cNvSpPr/>
          <p:nvPr/>
        </p:nvSpPr>
        <p:spPr>
          <a:xfrm>
            <a:off x="873709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245"/>
          <p:cNvSpPr txBox="1"/>
          <p:nvPr/>
        </p:nvSpPr>
        <p:spPr>
          <a:xfrm>
            <a:off x="827989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9" name="S09-line246"/>
          <p:cNvSpPr/>
          <p:nvPr/>
        </p:nvSpPr>
        <p:spPr>
          <a:xfrm>
            <a:off x="918057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247"/>
          <p:cNvSpPr txBox="1"/>
          <p:nvPr/>
        </p:nvSpPr>
        <p:spPr>
          <a:xfrm>
            <a:off x="872337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21" name="S09-line248"/>
          <p:cNvSpPr/>
          <p:nvPr/>
        </p:nvSpPr>
        <p:spPr>
          <a:xfrm>
            <a:off x="962406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249"/>
          <p:cNvSpPr txBox="1"/>
          <p:nvPr/>
        </p:nvSpPr>
        <p:spPr>
          <a:xfrm>
            <a:off x="916686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23" name="S09-line250"/>
          <p:cNvSpPr/>
          <p:nvPr/>
        </p:nvSpPr>
        <p:spPr>
          <a:xfrm>
            <a:off x="1006754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251"/>
          <p:cNvSpPr txBox="1"/>
          <p:nvPr/>
        </p:nvSpPr>
        <p:spPr>
          <a:xfrm>
            <a:off x="961034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25" name="S09-line252"/>
          <p:cNvSpPr/>
          <p:nvPr/>
        </p:nvSpPr>
        <p:spPr>
          <a:xfrm>
            <a:off x="1051102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253"/>
          <p:cNvSpPr txBox="1"/>
          <p:nvPr/>
        </p:nvSpPr>
        <p:spPr>
          <a:xfrm>
            <a:off x="1005382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27" name="S09-line254"/>
          <p:cNvSpPr/>
          <p:nvPr/>
        </p:nvSpPr>
        <p:spPr>
          <a:xfrm>
            <a:off x="1095451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255"/>
          <p:cNvSpPr txBox="1"/>
          <p:nvPr/>
        </p:nvSpPr>
        <p:spPr>
          <a:xfrm>
            <a:off x="1049731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29" name="S09-figure256" descr="0부터 9까지 1씩 눈금이 있는 수직선"/>
          <p:cNvSpPr/>
          <p:nvPr/>
        </p:nvSpPr>
        <p:spPr>
          <a:xfrm>
            <a:off x="6688836" y="3477895"/>
            <a:ext cx="45399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9-text25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32" name="S09-chip2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3" name="S09-text26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6</a:t>
            </a:r>
            <a:endParaRPr lang="ko-KR" sz="3200" dirty="0"/>
          </a:p>
        </p:txBody>
      </p:sp>
      <p:sp>
        <p:nvSpPr>
          <p:cNvPr id="34" name="S09-chip2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5" name="S09-text2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0-chip2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6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□, 9</a:t>
            </a:r>
            <a:endParaRPr lang="ko-KR" sz="3600" dirty="0"/>
          </a:p>
        </p:txBody>
      </p:sp>
      <p:sp>
        <p:nvSpPr>
          <p:cNvPr id="6" name="S10-chip2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6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3보다 1만큼 더 작은 수</a:t>
            </a:r>
            <a:endParaRPr lang="ko-KR" sz="3200" dirty="0"/>
          </a:p>
        </p:txBody>
      </p:sp>
      <p:sp>
        <p:nvSpPr>
          <p:cNvPr id="8" name="S10-chip2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6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7 중 더 큰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놓아 보게 하세요.</a:t>
            </a:r>
            <a:endParaRPr lang="ko-KR" sz="3200" dirty="0"/>
          </a:p>
        </p:txBody>
      </p:sp>
      <p:sp>
        <p:nvSpPr>
          <p:cNvPr id="5" name="S11-chip2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7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3200" dirty="0"/>
          </a:p>
        </p:txBody>
      </p:sp>
      <p:sp>
        <p:nvSpPr>
          <p:cNvPr id="7" name="S11-text27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8, 9 순서</a:t>
            </a:r>
            <a:endParaRPr lang="ko-KR" sz="2600" dirty="0"/>
          </a:p>
        </p:txBody>
      </p:sp>
      <p:sp>
        <p:nvSpPr>
          <p:cNvPr id="8" name="S11-text27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</a:t>
            </a:r>
            <a:endParaRPr lang="ko-KR" sz="3200" dirty="0"/>
          </a:p>
        </p:txBody>
      </p:sp>
      <p:sp>
        <p:nvSpPr>
          <p:cNvPr id="9" name="S11-text27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바로 앞의 수</a:t>
            </a:r>
            <a:endParaRPr lang="ko-KR" sz="2600" dirty="0"/>
          </a:p>
        </p:txBody>
      </p:sp>
      <p:sp>
        <p:nvSpPr>
          <p:cNvPr id="10" name="S11-text27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</a:t>
            </a:r>
            <a:endParaRPr lang="ko-KR" sz="3200" dirty="0"/>
          </a:p>
        </p:txBody>
      </p:sp>
      <p:sp>
        <p:nvSpPr>
          <p:cNvPr id="11" name="S11-text27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4보다 커요</a:t>
            </a:r>
            <a:endParaRPr lang="ko-KR" sz="2600" dirty="0"/>
          </a:p>
        </p:txBody>
      </p:sp>
      <p:sp>
        <p:nvSpPr>
          <p:cNvPr id="12" name="S11-chip2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80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</a:t>
            </a:r>
            <a:endParaRPr lang="ko-KR" sz="3200" dirty="0"/>
          </a:p>
        </p:txBody>
      </p:sp>
      <p:sp>
        <p:nvSpPr>
          <p:cNvPr id="14" name="S11-text281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수와 헷갈림</a:t>
            </a:r>
            <a:endParaRPr lang="ko-KR" sz="2600" dirty="0"/>
          </a:p>
        </p:txBody>
      </p:sp>
      <p:sp>
        <p:nvSpPr>
          <p:cNvPr id="15" name="S11-text282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</a:t>
            </a:r>
            <a:endParaRPr lang="ko-KR" sz="3200" dirty="0"/>
          </a:p>
        </p:txBody>
      </p:sp>
      <p:sp>
        <p:nvSpPr>
          <p:cNvPr id="16" name="S11-text283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수를 고름</a:t>
            </a:r>
            <a:endParaRPr lang="ko-KR" sz="2600" dirty="0"/>
          </a:p>
        </p:txBody>
      </p:sp>
      <p:sp>
        <p:nvSpPr>
          <p:cNvPr id="17" name="S11-text284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7보다 커요</a:t>
            </a:r>
            <a:endParaRPr lang="ko-KR" sz="2600" dirty="0"/>
          </a:p>
        </p:txBody>
      </p:sp>
      <p:sp>
        <p:nvSpPr>
          <p:cNvPr id="18" name="S11-text285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앞뒤가 바뀜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7보다 1만큼 더 작은 수는?</a:t>
            </a:r>
            <a:endParaRPr lang="ko-KR" sz="4400" dirty="0"/>
          </a:p>
        </p:txBody>
      </p:sp>
      <p:sp>
        <p:nvSpPr>
          <p:cNvPr id="3" name="S12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2-chip28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cell289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dot290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2-cell291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dot292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2-cell293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dot294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2-cell295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dot296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2-cell297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dot298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2-cell299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dot300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2-cell301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dot302"/>
          <p:cNvSpPr/>
          <p:nvPr/>
        </p:nvSpPr>
        <p:spPr>
          <a:xfrm>
            <a:off x="1356732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2-cell303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dot304"/>
          <p:cNvSpPr/>
          <p:nvPr/>
        </p:nvSpPr>
        <p:spPr>
          <a:xfrm>
            <a:off x="204740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2-cell30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cell30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figure307" descr="1개의 십 칸 틀 중 1번째: 모두 8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2-chip3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6" name="S12-cell30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dot31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2-cell31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dot31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2-cell31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dot31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2-cell31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2-dot31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2-cell31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2-dot31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2-cell31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2-dot32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2-cell32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2-cell322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2-cell323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2-cell324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figure325" descr="1개의 십 칸 틀 중 1번째: 모두 6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2-chip32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4" name="S12-cell327"/>
          <p:cNvSpPr/>
          <p:nvPr/>
        </p:nvSpPr>
        <p:spPr>
          <a:xfrm>
            <a:off x="818692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dot328"/>
          <p:cNvSpPr/>
          <p:nvPr/>
        </p:nvSpPr>
        <p:spPr>
          <a:xfrm>
            <a:off x="830434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2-cell329"/>
          <p:cNvSpPr/>
          <p:nvPr/>
        </p:nvSpPr>
        <p:spPr>
          <a:xfrm>
            <a:off x="887760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2-dot330"/>
          <p:cNvSpPr/>
          <p:nvPr/>
        </p:nvSpPr>
        <p:spPr>
          <a:xfrm>
            <a:off x="899502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2-cell331"/>
          <p:cNvSpPr/>
          <p:nvPr/>
        </p:nvSpPr>
        <p:spPr>
          <a:xfrm>
            <a:off x="9568282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2-dot332"/>
          <p:cNvSpPr/>
          <p:nvPr/>
        </p:nvSpPr>
        <p:spPr>
          <a:xfrm>
            <a:off x="9685697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2-cell333"/>
          <p:cNvSpPr/>
          <p:nvPr/>
        </p:nvSpPr>
        <p:spPr>
          <a:xfrm>
            <a:off x="1025895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2-dot334"/>
          <p:cNvSpPr/>
          <p:nvPr/>
        </p:nvSpPr>
        <p:spPr>
          <a:xfrm>
            <a:off x="1037637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2-cell335"/>
          <p:cNvSpPr/>
          <p:nvPr/>
        </p:nvSpPr>
        <p:spPr>
          <a:xfrm>
            <a:off x="1094963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2-dot336"/>
          <p:cNvSpPr/>
          <p:nvPr/>
        </p:nvSpPr>
        <p:spPr>
          <a:xfrm>
            <a:off x="1106705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2-cell337"/>
          <p:cNvSpPr/>
          <p:nvPr/>
        </p:nvSpPr>
        <p:spPr>
          <a:xfrm>
            <a:off x="818692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2-dot338"/>
          <p:cNvSpPr/>
          <p:nvPr/>
        </p:nvSpPr>
        <p:spPr>
          <a:xfrm>
            <a:off x="830434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2-cell339"/>
          <p:cNvSpPr/>
          <p:nvPr/>
        </p:nvSpPr>
        <p:spPr>
          <a:xfrm>
            <a:off x="887760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2-dot340"/>
          <p:cNvSpPr/>
          <p:nvPr/>
        </p:nvSpPr>
        <p:spPr>
          <a:xfrm>
            <a:off x="8995020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2-cell341"/>
          <p:cNvSpPr/>
          <p:nvPr/>
        </p:nvSpPr>
        <p:spPr>
          <a:xfrm>
            <a:off x="9568282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cell342"/>
          <p:cNvSpPr/>
          <p:nvPr/>
        </p:nvSpPr>
        <p:spPr>
          <a:xfrm>
            <a:off x="1025895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cell343"/>
          <p:cNvSpPr/>
          <p:nvPr/>
        </p:nvSpPr>
        <p:spPr>
          <a:xfrm>
            <a:off x="1094963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figure344" descr="1개의 십 칸 틀 중 1번째: 모두 7개"/>
          <p:cNvSpPr/>
          <p:nvPr/>
        </p:nvSpPr>
        <p:spPr>
          <a:xfrm>
            <a:off x="8186928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3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순서대로 1만큼씩 커지고, 뒤에 있는 수가 더 커요.</a:t>
            </a:r>
            <a:endParaRPr lang="ko-KR" sz="3200" dirty="0"/>
          </a:p>
        </p:txBody>
      </p:sp>
      <p:sp>
        <p:nvSpPr>
          <p:cNvPr id="5" name="S13-chip3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앞으로·거꾸로 세어 보기</a:t>
            </a:r>
            <a:endParaRPr lang="ko-KR" sz="2600" dirty="0"/>
          </a:p>
        </p:txBody>
      </p:sp>
      <p:sp>
        <p:nvSpPr>
          <p:cNvPr id="6" name="S13-chip3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수와 작은 수 바꿔 말하기</a:t>
            </a:r>
            <a:endParaRPr lang="ko-KR" sz="2600" dirty="0"/>
          </a:p>
        </p:txBody>
      </p:sp>
      <p:sp>
        <p:nvSpPr>
          <p:cNvPr id="7" name="S13-text3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3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바로 뒤의 수는?</a:t>
            </a:r>
            <a:endParaRPr lang="ko-KR" sz="2600" dirty="0"/>
          </a:p>
        </p:txBody>
      </p:sp>
      <p:sp>
        <p:nvSpPr>
          <p:cNvPr id="9" name="S13-text3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9보다 1만큼 더 작은 수는?</a:t>
            </a:r>
            <a:endParaRPr lang="ko-KR" sz="2600" dirty="0"/>
          </a:p>
        </p:txBody>
      </p:sp>
      <p:sp>
        <p:nvSpPr>
          <p:cNvPr id="10" name="S13-text3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6 중 더 큰 수는?</a:t>
            </a:r>
            <a:endParaRPr lang="ko-KR" sz="2600" dirty="0"/>
          </a:p>
        </p:txBody>
      </p:sp>
      <p:sp>
        <p:nvSpPr>
          <p:cNvPr id="11" name="S13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가르기와 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1개씩 더 놓기</a:t>
            </a:r>
            <a:endParaRPr lang="ko-KR" sz="4400" dirty="0"/>
          </a:p>
        </p:txBody>
      </p:sp>
      <p:sp>
        <p:nvSpPr>
          <p:cNvPr id="3" name="S14-card3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3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 돌이 1개 더 많아요.</a:t>
            </a:r>
            <a:endParaRPr lang="ko-KR" sz="3200" dirty="0"/>
          </a:p>
        </p:txBody>
      </p:sp>
      <p:sp>
        <p:nvSpPr>
          <p:cNvPr id="5" name="S14-cell356"/>
          <p:cNvSpPr/>
          <p:nvPr/>
        </p:nvSpPr>
        <p:spPr>
          <a:xfrm>
            <a:off x="54864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dot357"/>
          <p:cNvSpPr/>
          <p:nvPr/>
        </p:nvSpPr>
        <p:spPr>
          <a:xfrm>
            <a:off x="61535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cell358"/>
          <p:cNvSpPr/>
          <p:nvPr/>
        </p:nvSpPr>
        <p:spPr>
          <a:xfrm>
            <a:off x="94110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59"/>
          <p:cNvSpPr/>
          <p:nvPr/>
        </p:nvSpPr>
        <p:spPr>
          <a:xfrm>
            <a:off x="133356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60"/>
          <p:cNvSpPr/>
          <p:nvPr/>
        </p:nvSpPr>
        <p:spPr>
          <a:xfrm>
            <a:off x="172602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61"/>
          <p:cNvSpPr/>
          <p:nvPr/>
        </p:nvSpPr>
        <p:spPr>
          <a:xfrm>
            <a:off x="21184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62"/>
          <p:cNvSpPr/>
          <p:nvPr/>
        </p:nvSpPr>
        <p:spPr>
          <a:xfrm>
            <a:off x="54864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63"/>
          <p:cNvSpPr/>
          <p:nvPr/>
        </p:nvSpPr>
        <p:spPr>
          <a:xfrm>
            <a:off x="94110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64"/>
          <p:cNvSpPr/>
          <p:nvPr/>
        </p:nvSpPr>
        <p:spPr>
          <a:xfrm>
            <a:off x="133356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65"/>
          <p:cNvSpPr/>
          <p:nvPr/>
        </p:nvSpPr>
        <p:spPr>
          <a:xfrm>
            <a:off x="172602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66"/>
          <p:cNvSpPr/>
          <p:nvPr/>
        </p:nvSpPr>
        <p:spPr>
          <a:xfrm>
            <a:off x="21184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figure367" descr="1개의 십 칸 틀 중 1번째: 모두 1개"/>
          <p:cNvSpPr/>
          <p:nvPr/>
        </p:nvSpPr>
        <p:spPr>
          <a:xfrm>
            <a:off x="54864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4-label368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cell369"/>
          <p:cNvSpPr/>
          <p:nvPr/>
        </p:nvSpPr>
        <p:spPr>
          <a:xfrm>
            <a:off x="28309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370"/>
          <p:cNvSpPr/>
          <p:nvPr/>
        </p:nvSpPr>
        <p:spPr>
          <a:xfrm>
            <a:off x="289770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371"/>
          <p:cNvSpPr/>
          <p:nvPr/>
        </p:nvSpPr>
        <p:spPr>
          <a:xfrm>
            <a:off x="322344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372"/>
          <p:cNvSpPr/>
          <p:nvPr/>
        </p:nvSpPr>
        <p:spPr>
          <a:xfrm>
            <a:off x="329016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373"/>
          <p:cNvSpPr/>
          <p:nvPr/>
        </p:nvSpPr>
        <p:spPr>
          <a:xfrm>
            <a:off x="361590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374"/>
          <p:cNvSpPr/>
          <p:nvPr/>
        </p:nvSpPr>
        <p:spPr>
          <a:xfrm>
            <a:off x="400836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375"/>
          <p:cNvSpPr/>
          <p:nvPr/>
        </p:nvSpPr>
        <p:spPr>
          <a:xfrm>
            <a:off x="440082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376"/>
          <p:cNvSpPr/>
          <p:nvPr/>
        </p:nvSpPr>
        <p:spPr>
          <a:xfrm>
            <a:off x="28309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377"/>
          <p:cNvSpPr/>
          <p:nvPr/>
        </p:nvSpPr>
        <p:spPr>
          <a:xfrm>
            <a:off x="322344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378"/>
          <p:cNvSpPr/>
          <p:nvPr/>
        </p:nvSpPr>
        <p:spPr>
          <a:xfrm>
            <a:off x="361590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cell379"/>
          <p:cNvSpPr/>
          <p:nvPr/>
        </p:nvSpPr>
        <p:spPr>
          <a:xfrm>
            <a:off x="400836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4-cell380"/>
          <p:cNvSpPr/>
          <p:nvPr/>
        </p:nvSpPr>
        <p:spPr>
          <a:xfrm>
            <a:off x="440082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4-figure381" descr="1개의 십 칸 틀 중 1번째: 모두 2개"/>
          <p:cNvSpPr/>
          <p:nvPr/>
        </p:nvSpPr>
        <p:spPr>
          <a:xfrm>
            <a:off x="2830982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4-label382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cell383"/>
          <p:cNvSpPr/>
          <p:nvPr/>
        </p:nvSpPr>
        <p:spPr>
          <a:xfrm>
            <a:off x="511332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4-dot384"/>
          <p:cNvSpPr/>
          <p:nvPr/>
        </p:nvSpPr>
        <p:spPr>
          <a:xfrm>
            <a:off x="5180043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cell385"/>
          <p:cNvSpPr/>
          <p:nvPr/>
        </p:nvSpPr>
        <p:spPr>
          <a:xfrm>
            <a:off x="550578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4-dot386"/>
          <p:cNvSpPr/>
          <p:nvPr/>
        </p:nvSpPr>
        <p:spPr>
          <a:xfrm>
            <a:off x="557250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cell387"/>
          <p:cNvSpPr/>
          <p:nvPr/>
        </p:nvSpPr>
        <p:spPr>
          <a:xfrm>
            <a:off x="589824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dot388"/>
          <p:cNvSpPr/>
          <p:nvPr/>
        </p:nvSpPr>
        <p:spPr>
          <a:xfrm>
            <a:off x="596496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cell389"/>
          <p:cNvSpPr/>
          <p:nvPr/>
        </p:nvSpPr>
        <p:spPr>
          <a:xfrm>
            <a:off x="629070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cell390"/>
          <p:cNvSpPr/>
          <p:nvPr/>
        </p:nvSpPr>
        <p:spPr>
          <a:xfrm>
            <a:off x="66831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4-cell391"/>
          <p:cNvSpPr/>
          <p:nvPr/>
        </p:nvSpPr>
        <p:spPr>
          <a:xfrm>
            <a:off x="511332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4-cell392"/>
          <p:cNvSpPr/>
          <p:nvPr/>
        </p:nvSpPr>
        <p:spPr>
          <a:xfrm>
            <a:off x="550578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cell393"/>
          <p:cNvSpPr/>
          <p:nvPr/>
        </p:nvSpPr>
        <p:spPr>
          <a:xfrm>
            <a:off x="589824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4-cell394"/>
          <p:cNvSpPr/>
          <p:nvPr/>
        </p:nvSpPr>
        <p:spPr>
          <a:xfrm>
            <a:off x="629070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4-cell395"/>
          <p:cNvSpPr/>
          <p:nvPr/>
        </p:nvSpPr>
        <p:spPr>
          <a:xfrm>
            <a:off x="66831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4-figure396" descr="1개의 십 칸 틀 중 1번째: 모두 3개"/>
          <p:cNvSpPr/>
          <p:nvPr/>
        </p:nvSpPr>
        <p:spPr>
          <a:xfrm>
            <a:off x="5113325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14-label397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7" name="S14-cell398"/>
          <p:cNvSpPr/>
          <p:nvPr/>
        </p:nvSpPr>
        <p:spPr>
          <a:xfrm>
            <a:off x="73956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4-dot399"/>
          <p:cNvSpPr/>
          <p:nvPr/>
        </p:nvSpPr>
        <p:spPr>
          <a:xfrm>
            <a:off x="7462385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cell400"/>
          <p:cNvSpPr/>
          <p:nvPr/>
        </p:nvSpPr>
        <p:spPr>
          <a:xfrm>
            <a:off x="778812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4-dot401"/>
          <p:cNvSpPr/>
          <p:nvPr/>
        </p:nvSpPr>
        <p:spPr>
          <a:xfrm>
            <a:off x="785484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cell402"/>
          <p:cNvSpPr/>
          <p:nvPr/>
        </p:nvSpPr>
        <p:spPr>
          <a:xfrm>
            <a:off x="818058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dot403"/>
          <p:cNvSpPr/>
          <p:nvPr/>
        </p:nvSpPr>
        <p:spPr>
          <a:xfrm>
            <a:off x="824730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4-cell404"/>
          <p:cNvSpPr/>
          <p:nvPr/>
        </p:nvSpPr>
        <p:spPr>
          <a:xfrm>
            <a:off x="857304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4-dot405"/>
          <p:cNvSpPr/>
          <p:nvPr/>
        </p:nvSpPr>
        <p:spPr>
          <a:xfrm>
            <a:off x="8639767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4-cell406"/>
          <p:cNvSpPr/>
          <p:nvPr/>
        </p:nvSpPr>
        <p:spPr>
          <a:xfrm>
            <a:off x="896550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4-cell407"/>
          <p:cNvSpPr/>
          <p:nvPr/>
        </p:nvSpPr>
        <p:spPr>
          <a:xfrm>
            <a:off x="73956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cell408"/>
          <p:cNvSpPr/>
          <p:nvPr/>
        </p:nvSpPr>
        <p:spPr>
          <a:xfrm>
            <a:off x="778812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4-cell409"/>
          <p:cNvSpPr/>
          <p:nvPr/>
        </p:nvSpPr>
        <p:spPr>
          <a:xfrm>
            <a:off x="818058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4-cell410"/>
          <p:cNvSpPr/>
          <p:nvPr/>
        </p:nvSpPr>
        <p:spPr>
          <a:xfrm>
            <a:off x="857304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4-cell411"/>
          <p:cNvSpPr/>
          <p:nvPr/>
        </p:nvSpPr>
        <p:spPr>
          <a:xfrm>
            <a:off x="896550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4-figure412" descr="1개의 십 칸 틀 중 1번째: 모두 4개"/>
          <p:cNvSpPr/>
          <p:nvPr/>
        </p:nvSpPr>
        <p:spPr>
          <a:xfrm>
            <a:off x="7395667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2" name="S14-label413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3" name="S14-cell414"/>
          <p:cNvSpPr/>
          <p:nvPr/>
        </p:nvSpPr>
        <p:spPr>
          <a:xfrm>
            <a:off x="967801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4-dot415"/>
          <p:cNvSpPr/>
          <p:nvPr/>
        </p:nvSpPr>
        <p:spPr>
          <a:xfrm>
            <a:off x="974472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14-cell416"/>
          <p:cNvSpPr/>
          <p:nvPr/>
        </p:nvSpPr>
        <p:spPr>
          <a:xfrm>
            <a:off x="1007047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4-dot417"/>
          <p:cNvSpPr/>
          <p:nvPr/>
        </p:nvSpPr>
        <p:spPr>
          <a:xfrm>
            <a:off x="1013718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14-cell418"/>
          <p:cNvSpPr/>
          <p:nvPr/>
        </p:nvSpPr>
        <p:spPr>
          <a:xfrm>
            <a:off x="1046293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dot419"/>
          <p:cNvSpPr/>
          <p:nvPr/>
        </p:nvSpPr>
        <p:spPr>
          <a:xfrm>
            <a:off x="1052964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14-cell420"/>
          <p:cNvSpPr/>
          <p:nvPr/>
        </p:nvSpPr>
        <p:spPr>
          <a:xfrm>
            <a:off x="1085539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dot421"/>
          <p:cNvSpPr/>
          <p:nvPr/>
        </p:nvSpPr>
        <p:spPr>
          <a:xfrm>
            <a:off x="1092210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14-cell422"/>
          <p:cNvSpPr/>
          <p:nvPr/>
        </p:nvSpPr>
        <p:spPr>
          <a:xfrm>
            <a:off x="1124785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dot423"/>
          <p:cNvSpPr/>
          <p:nvPr/>
        </p:nvSpPr>
        <p:spPr>
          <a:xfrm>
            <a:off x="11314570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14-cell424"/>
          <p:cNvSpPr/>
          <p:nvPr/>
        </p:nvSpPr>
        <p:spPr>
          <a:xfrm>
            <a:off x="967801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cell425"/>
          <p:cNvSpPr/>
          <p:nvPr/>
        </p:nvSpPr>
        <p:spPr>
          <a:xfrm>
            <a:off x="1007047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cell426"/>
          <p:cNvSpPr/>
          <p:nvPr/>
        </p:nvSpPr>
        <p:spPr>
          <a:xfrm>
            <a:off x="1046293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cell427"/>
          <p:cNvSpPr/>
          <p:nvPr/>
        </p:nvSpPr>
        <p:spPr>
          <a:xfrm>
            <a:off x="1085539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cell428"/>
          <p:cNvSpPr/>
          <p:nvPr/>
        </p:nvSpPr>
        <p:spPr>
          <a:xfrm>
            <a:off x="1124785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429" descr="1개의 십 칸 틀 중 1번째: 모두 5개"/>
          <p:cNvSpPr/>
          <p:nvPr/>
        </p:nvSpPr>
        <p:spPr>
          <a:xfrm>
            <a:off x="967801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14-label430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수의 순서와 크기 비교</dc:title>
  <dc:subject>KR22-G01-MAT-NUM9ORD-L01</dc:subject>
  <dc:creator>education-ppt</dc:creator>
  <cp:lastModifiedBy>education-ppt</cp:lastModifiedBy>
  <cp:revision>1</cp:revision>
  <dcterms:created xsi:type="dcterms:W3CDTF">2026-10-26T06:38:13Z</dcterms:created>
  <dcterms:modified xsi:type="dcterms:W3CDTF">2026-10-26T06:38:13Z</dcterms:modified>
</cp:coreProperties>
</file>