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7f997e0-f7de-f7f6-11a6-724fbad709fc}">
          <p14:sldIdLst>
            <p14:sldId id="256"/>
            <p14:sldId id="257"/>
          </p14:sldIdLst>
        </p14:section>
        <p14:section name="개념" id="{0214ddc2-ee8c-8379-4433-68f07ccbe9da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3e29f798-c9c9-ace5-3ee2-13ed87f1d959}">
          <p14:sldIdLst>
            <p14:sldId id="263"/>
            <p14:sldId id="264"/>
            <p14:sldId id="265"/>
          </p14:sldIdLst>
        </p14:section>
        <p14:section name="확인" id="{87330a72-b890-4138-493e-2044a5e334aa}">
          <p14:sldIdLst>
            <p14:sldId id="266"/>
            <p14:sldId id="267"/>
            <p14:sldId id="268"/>
          </p14:sldIdLst>
        </p14:section>
        <p14:section name="정리" id="{ce28d12d-e1e4-f083-916e-e86fa941897f}">
          <p14:sldIdLst>
            <p14:sldId id="269"/>
          </p14:sldIdLst>
        </p14:section>
        <p14:section name="보충" id="{d9cad139-d85e-14c4-6d2e-25c264b3092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많은 물건을 10개씩 묶으면 세기 쉽다는 생각을 끌어냅니다.
시간: 약 2분
이렇게 말해 보세요
- “콩이 아주 많이 있으면 하나씩 세다가 헷갈리지? 오늘은 많은 것을 쉽게 세는 방법을 배울 거야.”
- “오른쪽 그림은 긴 막대 하나에 몇 개가 붙어 있을까?”
예상 답
- “모르겠어요.” / “10개요.”
막히면
- 막대 하나의 칸을 같이 세어 10개임을 확인합니다.
주의
- 콩이나 면봉 50개쯤과 고무줄(또는 작은 봉지)을 미리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 알기)]
목적: 오늘 공부의 바탕인 10(9보다 1만큼 더 큰 수, 십·열)을 아는지 확인합니다.
시간: 약 3분
이렇게 말해 보세요
- “①은 몇 개야? ②는 9보다 1만큼 더 큰 수, ③은 10을 두 가지로 읽어 볼래?”
정답
- ① 10개
- ② 10
- ③ 십, 열
막히면
- ①은 윗줄 5개, 아랫줄 5개를 따로 세고 “다섯과 다섯이면?”이라고 묻습니다.
- 두 문제 이상 틀리면 S15(보충)를 먼저 합니다. 10은 3차시 ‘가르기와 모으기’(KR22-G01-MAT-COMPOSE-L01)에서 배웠습니다.
주의
- 계획상 바로 앞 차시는 5차시 ‘뺄셈의 뜻’(KR22-G01-MAT-SUB-L01)입니다. 오늘 수업에 직접 필요한 것은 10을 아는 것이므로 덧셈·뺄셈이 아직 서툴러도 이 차시를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십몇 알아보기]
목적: 10개씩 묶음 1개와 낱개 몇 개를 ‘십몇’으로 나타내고 읽습니다.
시간: 약 3분
이렇게 말해 보세요
- “왼쪽 틀은 꽉 찼지? 10개야. 이걸 ‘10개씩 묶음 1개’라고 해. 오른쪽에 하나씩 남은 건 ‘낱개’라고 해.”
- “10개씩 묶음 1개와 낱개 3개는 13이야. ‘십삼’ 또는 ‘열셋’이라고 읽어.”
예상 답
- “십삼, 열셋.”
막히면
- 콩 10개를 봉지에 넣고 옆에 콩 3개를 놓습니다. 봉지 속 10에서 “열하나, 열둘, 열셋” 이어 셉니다.
주의
- ‘낱개’는 ‘묶지 않은 하나하나’라는 뜻입니다.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11~19 두 가지로 읽기]
목적: 11부터 19까지를 두 가지로 읽는 규칙을 압니다.
시간: 약 2분
이렇게 말해 보세요
- “‘십’으로 읽을 때는 뒤에 일, 이, 삼을 붙이고, ‘열’로 읽을 때는 하나, 둘, 셋을 붙여. 같이 읽어 볼까?”
- “16은 어떻게 읽을까? 표를 가리고 말해 봐.”
예상 답
- “십육, 열여섯.”
막히면
- 부모가 한 줄씩 먼저 읽고 아이가 따라 읽게 합니다. 표를 다 외울 필요는 없습니다.
주의
- ‘십넷’, ‘열사’처럼 섞어 읽으면 짝을 다시 알려 줍니다(M3). 생활에서는 나이를 ‘열한 살’, 날짜를 ‘십일 일’처럼 다르게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몇십 알아보기]
목적: 10개씩 묶음 2, 3, 4, 5개가 20, 30, 40, 50임을 알고 두 가지로 읽습니다.
시간: 약 3분
이렇게 말해 보세요
- “막대 하나가 10개야. 막대가 2개면 10, 20. 이십 또는 스물이라고 해.”
- “막대가 4개면? 10, 20, 30, 40. 뭐라고 읽을까?”
예상 답
- “사십, 마흔.”
막히면
- 콩 10개짜리 봉지를 하나씩 늘어놓으며 “십, 이십, 삼십…”으로 10씩 세어 봅니다.
주의
- ‘스물, 서른, 마흔, 쉰’은 아이에게 낯선 말입니다. 오늘은 들어 보고 따라 말하는 정도면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10개씩 묶어 세기]
목적: 많은 물건을 10개씩 묶고 남은 낱개를 세어 수로 나타냅니다.
시간: 약 2분
이렇게 말해 보세요
- “콩 23개를 하나씩 세면 힘들지? 10개씩 묶어 보자. 묶음이 몇 개, 낱개가 몇 개야?”
- “10개씩 묶음 2개와 낱개 3개는 23이야.”
예상 답
- “묶음 2개, 낱개 3개요.” “이십삼, 스물셋.”
막히면
- 실제 콩 23개를 아이가 직접 10개씩 세어 봉지에 넣게 합니다. 10개를 셀 때마다 봉지를 닫습니다(M4).
주의
- 낱개가 10개가 되면 다시 한 묶음으로 묶어야 한다는 것을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몇십몇 쓰고 읽기]
목적: 10개씩 묶음의 수를 앞에, 낱개의 수를 뒤에 써서 몇십몇을 나타내고 읽습니다.
시간: 약 3분
이렇게 말해 보세요
- “막대가 몇 개야? 낱개는? 묶음의 수 3을 먼저 쓰고, 낱개의 수 4를 뒤에 써. 34야.”
- “34는 삼십사 또는 서른넷이라고 읽어.”
예상 답
- “막대 3개, 낱개 4개요.” “삼십사, 서른넷.”
막히면
- 숫자 카드 3과 4를 표의 칸에 올려놓고, 두 카드를 붙여 34를 만듭니다.
주의
- 43으로 바꾸어 쓰면 “묶음이 4개야?”라고 그림을 다시 보게 합니다(M2).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연습(그림 보고 수 쓰기·읽기)]
목적: 도움을 받으며 그림을 10개씩 묶음과 낱개로 세어 수로 나타내고 읽습니다.
시간: 약 4분
이렇게 말해 보세요
- “가는 꽉 찬 틀 하나와 낱개 몇 개야? 그럼 얼마야?”
- “나와 다는 막대가 몇 개, 낱개가 몇 개야? 수로 쓰고 두 가지로 읽어 볼까?”
정답
- 가 15(십오, 열다섯)
- 나 26(이십육, 스물여섯)
- 다 41(사십일, 마흔하나)
막히면
- 막대는 “십, 이십…”으로 먼저 세고, 낱개를 이어 셉니다(나: 십, 이십, 이십일, 이십이 … 이십육).
- 종이에 ‘묶음 □개, 낱개 □개’를 쓰고 채운 뒤 수를 쓰게 합니다.
주의
- 이 장은 고르는 문제가 아니라, 가·나·다 세 그림의 수를 모두 말하는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연습(묶음·낱개, 읽기·쓰기)]
목적: 도움을 받으며 묶음·낱개와 수를 오가고, 수를 두 가지로 읽고 씁니다.
시간: 약 4분
이렇게 말해 보세요
- “①은 10개씩 묶음 4개와 낱개 7개야. 얼마일까? 종이에 써 볼래?”
- “④는 50이 10개씩 묶음 몇 개인지 묻는 거야.”
정답
- ① 47
- ② 삼십팔, 서른여덟
- ③ 15
- ④ 5개
막히면
- ①은 콩 봉지 4개와 낱개 7개를 놓고 “사십, 사십일 … 사십칠”로 셉니다.
- ③을 105로 쓰면 S10에서 함께 고칩니다.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비교(304로 쓰기)]
목적: 몇십몇을 들리는 대로 30과 4를 붙여 쓰는 실수를 바로잡습니다(M1).
시간: 약 3분
이렇게 말해 보세요
- “토끼는 서른(30) 쓰고 넷(4)을 붙여서 304라고 썼대. 곰은 34라고 썼어. 누가 맞았을까?”
- “서른넷은 10개씩 묶음이 몇 개, 낱개가 몇 개야?”
예상 답
- “곰이요. 묶음 3개, 낱개 4개니까 3이랑 4를 써요.”
정답
- 곰이 맞습니다. 서른넷은 10개씩 묶음 3개와 낱개 4개이므로 34입니다.
- 304는 아주 큰 수(삼백사)입니다. 1학년에서는 아직 배우지 않습니다.
막히면
- S07의 표에 숫자 카드 3과 4를 올려 34를 만들고, 0이 들어갈 칸이 없다는 것을 보여 줍니다.
주의
- 30은 묶음 3개, 낱개 0개라서 0을 씁니다. 34는 낱개가 4개이므로 0 대신 4를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묶음·낱개를 수로 나타내고, 수를 두 가지로 읽고 쓸 수 있는지 확인합니다.
시간: 약 5분
이렇게 말해 보세요
- “이번에는 혼자 해 볼래? 콩이나 종이를 써도 돼. 다 하면 어떻게 알았는지 말해 줘.”
정답
- ① 18
- ② 사십오, 마흔다섯
- ③ 32
막히면
- 바로 알려 주지 말고 “묶음이 몇 개야?”라고만 묻습니다.
- 도움을 받아 해결했다면 기록표에 ‘도움’으로 표시합니다.
주의
- ②에서 ‘사십다섯’처럼 섞어 읽으면 반만 맞은 것으로 보고 짝을 다시 알려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18 ② 사십오, 마흔다섯 ③ 32
막히면
- ①이 81이면 S07로, ③이 302면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확인(묶음과 낱개)]
목적: 처음 보는 그림에서 34를 10개씩 묶음 3개와 낱개 4개로 찾는지 확인합니다.
시간: 약 2분
이렇게 말해 보세요
- “34를 나타내는 그림은 어느 것일까? 어떻게 알았어?”
정답
- 나(막대 3개, 낱개 4개). 가는 43, 다는 35입니다.
막히면
- 각 그림의 막대와 낱개를 세어 수를 먼저 말하게 합니다.
주의
- 가를 고르면 묶음과 낱개를 바꾼 것입니다(M2).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콩이 많을 때 어떻게 세면 쉬워?”
예상 답
- “10개씩 묶어서 세요. 묶음이 몇 개, 낱개가 몇 개인지 봐요.”
정답
- ① 29 ② 사십일, 마흔하나 ③ 40
막히면
- S07의 그림과 표를 다시 보여 주고 ‘묶음 먼저, 낱개 나중’을 함께 말합니다.
주의
- 생활 속에서 계단 수, 달력 날짜, 나이 등을 두 가지로 읽어 보면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보충(10 알기)]
목적: S02에서 10을 잘 모르면, 십 칸 틀을 채우며 10과 ‘한 묶음’을 먼저 익힙니다.
시간: 약 5분
이렇게 말해 보세요
- “십 칸 틀에 콩을 하나씩 놓으며 세어 보자. 칸이 꽉 차면 몇 개야?”
- “꽉 찬 10개를 봉지에 넣으면 한 묶음이야. 봉지를 하나 더 만들어 볼까?”
정답
- 칸이 꽉 차면 10개입니다. 10은 십 또는 열이라고 읽습니다.
막히면
- 손가락 열 개를 하나씩 펴며 세어 10을 확인합니다.
주의
- 보충으로도 어려우면 3차시 ‘가르기와 모으기’(KR22-G01-MAT-COMPOSE-L01)의 10 알아보기와 1차시 ‘9까지의 수’를 먼저 다시 합니다. 계획상 바로 앞 차시인 5차시 ‘뺄셈의 뜻’(KR22-G01-MAT-SUB-L01)은 이 차시의 세기에 직접 쓰이지는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459280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534718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1개의 십 칸 틀 중 1번째: 모두 10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1개의 십 칸 틀 중 1번째: 모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1개의 십 칸 틀 중 1번째: 모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8783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43735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7566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1개의 십 칸 틀 중 1번째: 모두 10개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1개의 십 칸 틀 중 1번째: 모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보게 하세요.</a:t>
            </a:r>
            <a:endParaRPr lang="ko-KR" sz="3200" dirty="0"/>
          </a:p>
        </p:txBody>
      </p:sp>
      <p:sp>
        <p:nvSpPr>
          <p:cNvPr id="5" name="S12-chip45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45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</a:t>
            </a:r>
            <a:endParaRPr lang="ko-KR" sz="3200" dirty="0"/>
          </a:p>
        </p:txBody>
      </p:sp>
      <p:sp>
        <p:nvSpPr>
          <p:cNvPr id="7" name="S12-text45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1, 낱개 8</a:t>
            </a:r>
            <a:endParaRPr lang="ko-KR" sz="2600" dirty="0"/>
          </a:p>
        </p:txBody>
      </p:sp>
      <p:sp>
        <p:nvSpPr>
          <p:cNvPr id="8" name="S12-text45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사십오</a:t>
            </a:r>
            <a:endParaRPr lang="ko-KR" sz="3200" dirty="0"/>
          </a:p>
        </p:txBody>
      </p:sp>
      <p:sp>
        <p:nvSpPr>
          <p:cNvPr id="9" name="S12-text46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마흔다섯</a:t>
            </a:r>
            <a:endParaRPr lang="ko-KR" sz="2600" dirty="0"/>
          </a:p>
        </p:txBody>
      </p:sp>
      <p:sp>
        <p:nvSpPr>
          <p:cNvPr id="10" name="S12-text46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</a:t>
            </a:r>
            <a:endParaRPr lang="ko-KR" sz="3200" dirty="0"/>
          </a:p>
        </p:txBody>
      </p:sp>
      <p:sp>
        <p:nvSpPr>
          <p:cNvPr id="11" name="S12-text46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3, 낱개 2</a:t>
            </a:r>
            <a:endParaRPr lang="ko-KR" sz="2600" dirty="0"/>
          </a:p>
        </p:txBody>
      </p:sp>
      <p:sp>
        <p:nvSpPr>
          <p:cNvPr id="12" name="S12-chip46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464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81</a:t>
            </a:r>
            <a:endParaRPr lang="ko-KR" sz="3200" dirty="0"/>
          </a:p>
        </p:txBody>
      </p:sp>
      <p:sp>
        <p:nvSpPr>
          <p:cNvPr id="14" name="S12-text465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묶음·낱개 바꿈</a:t>
            </a:r>
            <a:endParaRPr lang="ko-KR" sz="2600" dirty="0"/>
          </a:p>
        </p:txBody>
      </p:sp>
      <p:sp>
        <p:nvSpPr>
          <p:cNvPr id="15" name="S12-text466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사십다섯</a:t>
            </a:r>
            <a:endParaRPr lang="ko-KR" sz="3200" dirty="0"/>
          </a:p>
        </p:txBody>
      </p:sp>
      <p:sp>
        <p:nvSpPr>
          <p:cNvPr id="16" name="S12-text467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읽기를 섞음</a:t>
            </a:r>
            <a:endParaRPr lang="ko-KR" sz="2600" dirty="0"/>
          </a:p>
        </p:txBody>
      </p:sp>
      <p:sp>
        <p:nvSpPr>
          <p:cNvPr id="17" name="S12-text468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302</a:t>
            </a:r>
            <a:endParaRPr lang="ko-KR" sz="3200" dirty="0"/>
          </a:p>
        </p:txBody>
      </p:sp>
      <p:sp>
        <p:nvSpPr>
          <p:cNvPr id="18" name="S12-text469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30과 2를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73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74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75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76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77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78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79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80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81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82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83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84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85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86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87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88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89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90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91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92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93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94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95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96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97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98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99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500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501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502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503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504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505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506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507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508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509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510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511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512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513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514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515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16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1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18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19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20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21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22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23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24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25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26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27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28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29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30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31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32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33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34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35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36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37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38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39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40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41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42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43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44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45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46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47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48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49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50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51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52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5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54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55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56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57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58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59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60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61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62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63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64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65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66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67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68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69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70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71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72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73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74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75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76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77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78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79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80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81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82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83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84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85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86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87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88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89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60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60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60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60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606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607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608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609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610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611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612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613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614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615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16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17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18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19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20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21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22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23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2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25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26" descr="1개의 십 칸 틀 중 1번째: 모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2026-10-26T07:45:27Z</dcterms:created>
  <dcterms:modified xsi:type="dcterms:W3CDTF">2026-10-26T07:45:27Z</dcterms:modified>
</cp:coreProperties>
</file>