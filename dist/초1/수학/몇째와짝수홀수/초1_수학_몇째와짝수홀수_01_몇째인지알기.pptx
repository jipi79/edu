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51ab7ca-7187-519a-0297-75e90e7672a8}">
          <p14:sldIdLst>
            <p14:sldId id="256"/>
            <p14:sldId id="257"/>
          </p14:sldIdLst>
        </p14:section>
        <p14:section name="개념" id="{52e064e0-4668-bded-8e81-be9c96db0832}">
          <p14:sldIdLst>
            <p14:sldId id="258"/>
            <p14:sldId id="259"/>
            <p14:sldId id="260"/>
            <p14:sldId id="261"/>
          </p14:sldIdLst>
        </p14:section>
        <p14:section name="연습" id="{f50d9173-7bb8-2d59-1a88-54cdba385d29}">
          <p14:sldIdLst>
            <p14:sldId id="262"/>
            <p14:sldId id="263"/>
            <p14:sldId id="264"/>
          </p14:sldIdLst>
        </p14:section>
        <p14:section name="확인" id="{de9a36f3-5085-149c-596f-9e3ba691b920}">
          <p14:sldIdLst>
            <p14:sldId id="265"/>
            <p14:sldId id="266"/>
            <p14:sldId id="267"/>
          </p14:sldIdLst>
        </p14:section>
        <p14:section name="정리" id="{70dabd5b-aad4-3c13-f0d7-a005d47b2769}">
          <p14:sldIdLst>
            <p14:sldId id="268"/>
          </p14:sldIdLst>
        </p14:section>
        <p14:section name="보충" id="{f7a78e77-b150-e922-3f22-437efb34664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‘셋’과 ‘셋째’가 다르다는 것을 궁금하게 합니다.
시간: 약 2분
이렇게 말해 보세요
- “동그라미가 몇 개야? 진하게 칠한 동그라미는 왼쪽에서 몇 번째에 있어?”
- “오늘은 첫째, 둘째, 셋째처럼 순서를 말하는 방법을 배울 거야. ‘셋’과 ‘셋째’는 어떻게 다를까?”
예상 답
- “5개요.” “세 번째요.”
막히면
- 답을 확인하지 말고 넘어갑니다. S03부터 차례로 배웁니다.
주의
- 인형이나 장난감 5~7개를 준비해 두면 S03부터 실제로 줄을 세울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확인(9까지의 수의 순서)]
목적: 몇째를 세는 바탕이 되는 ‘1부터 9까지 수의 순서’가 되는지 확인합니다.
시간: 약 3분
이렇게 말해 보세요
- “①은 1부터 9까지 세어 볼래? 손가락을 하나씩 펴면서.”
- “②의 빈칸에는 어떤 수가 들어갈까? ③은 8 바로 앞의 수야.”
정답
- ① 1, 2, 3, 4, 5, 6, 7, 8, 9
- ② 6
- ③ 7
막히면
- 바둑돌을 한 줄로 놓고 하나씩 짚으며 셉니다.
- 두 문제 이상 틀리면 S14(보충)를 먼저 합니다. 보충으로도 어려우면 2차시 ‘수의 순서와 크기 비교’(KR22-G01-MAT-NUM9ORD-L01)를 다시 합니다.
주의
- ①에서 수를 건너뛰거나 같은 수를 두 번 말하면 오늘 몇째를 셀 때도 같은 실수가 나옵니다. 하나씩 짚으며 세는 습관을 먼저 잡아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줄 선 순서를 첫째, 둘째…로 말하기]
목적: 줄 선 순서를 첫째, 둘째, 셋째, 넷째, 다섯째로 말할 수 있음을 압니다.
시간: 약 3분
이렇게 말해 보세요
- “동물들이 왼쪽부터 줄을 섰어. 맨 왼쪽 토끼는 ‘첫째’야. 곰은 ‘둘째’. 같이 짚으면서 말해 볼까?”
- “여우는 왼쪽에서 몇째야? 오리는?”
예상 답
- “첫째, 둘째, 셋째, 넷째, 다섯째.” “여우는 셋째, 오리는 다섯째요.”
막히면
- 인형을 실제로 한 줄로 세우고, 맨 앞 인형부터 손으로 짚으며 함께 말합니다.
주의
- ‘하나째’가 아니라 ‘첫째’, ‘두째’가 아니라 ‘둘째’라고 말합니다(M3).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첫째부터 아홉째까지 순서의 말]
목적: 첫째부터 아홉째까지 순서를 나타내는 말을 차례로 압니다.
시간: 약 3분
이렇게 말해 보세요
- “1은 첫째, 2는 둘째. 같이 끝까지 읽어 볼까?”
- “이번에는 엄마(아빠)가 수를 말하면 순서의 말로 바꿔 말해 줘. 4는? 7은?”
예상 답
- “첫째, 둘째, 셋째, 넷째, 다섯째, 여섯째, 일곱째, 여덟째, 아홉째.” “넷째, 일곱째.”
막히면
- 첫째부터 다섯째까지만 먼저 익히고, 여섯째부터는 부모가 먼저 말하고 따라 하게 합니다.
주의
- ‘첫째’와 ‘둘째’만 모양이 다르고, 나머지는 ‘셋 → 셋째’처럼 수의 말에 ‘째’를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기준에 따라 몇째가 달라짐]
목적: 어디에서부터 세는지에 따라 같은 동물의 순서가 달라진다는 것을 압니다.
시간: 약 3분
이렇게 말해 보세요
- “곰은 왼쪽에서 몇째야? 이번에는 오른쪽 끝 오리부터 세어 보자. 오리가 첫째야. 곰은 오른쪽에서 몇째야?”
- “같은 곰인데 왜 둘째도 되고 넷째도 될까?”
예상 답
- “왼쪽에서 둘째, 오른쪽에서 넷째요.” “어디에서부터 세는지가 달라서요.”
막히면
- 오른쪽 끝 오리에 손가락을 놓고 ‘첫째’라고 말한 뒤, 왼쪽으로 한 칸씩 옮기며 셉니다(M2).
주의
- 아이가 왼쪽과 오른쪽을 헷갈리면 숟가락을 드는 손(또는 아이가 정한 표시)으로 오른쪽을 정해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셋(개수)과 셋째(순서) 구별]
목적: 개수를 나타내는 ‘셋’과 순서를 나타내는 ‘셋째’를 구별합니다.
시간: 약 4분
이렇게 말해 보세요
- “왼쪽 그림은 ‘셋’을 색칠했어. 몇 칸을 칠했어? 오른쪽은 ‘셋째’를 색칠했어. 몇 칸을 칠했어?”
- “셋은 세 개 모두, 셋째는 셋째 자리에 있는 하나만이야.”
예상 답
- “셋은 3칸, 셋째는 1칸이에요.”
막히면
- 바둑돌 6개를 한 줄로 놓고 “돌 셋을 가져와.” “왼쪽에서 셋째 돌을 가져와.”를 번갈아 말해 직접 해 보게 합니다.
주의
- 아이가 셋째도 3칸을 칠할 것 같으면 S09에서 다시 다룹니다(M1).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연습(몇째 찾기·말하기)]
목적: 도움을 받으며 몇째에 있는 것을 찾고, 어떤 것이 몇째인지 말합니다.
시간: 약 4분
이렇게 말해 보세요
- “①은 왼쪽에서 셋째야. 손가락으로 짚으며 ‘첫째, 둘째, 셋째’ 세어 볼까?”
- “③은 오른쪽에서 세어야 해. 어디에 손가락을 놓고 시작할까?”
정답
- ① 귤
- ② 넷째
- ③ 포도
막히면
- 과일 이름을 종이에 써서 한 줄로 놓고 직접 짚게 합니다.
- ③에서 배를 고르면 왼쪽에서 센 것입니다. 오른쪽 끝 딸기에 손가락을 놓게 합니다(M2).
주의
- 답을 말한 뒤 “어디에서부터 셌어?”라고 물어 기준을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연습(바둑돌로 몇 개와 몇째)]
목적: 실제 바둑돌로 ‘다섯째’와 ‘다섯 개’를 구별하고, 오른쪽에서 세어 봅니다.
시간: 약 4분
이렇게 말해 보세요
- “바둑돌 7개를 한 줄로 놓아 볼까? ①은 왼쪽에서 다섯째 돌 하나를 접시로 옮겨.”
- “다시 돌을 제자리에 놓고, ②는 왼쪽에서 돌 다섯 개를 옮겨. ①과 무엇이 달라?”
정답
- ① 왼쪽에서 다섯 번째에 있는 돌 1개를 옮깁니다.
- ② 왼쪽부터 돌 5개(첫째~다섯째)를 옮깁니다.
- ③ 오른쪽 끝에서 두 번째 돌 1개(왼쪽에서 여섯째)를 옮깁니다.
막히면
- 돌 위에 손가락을 하나씩 놓으며 ‘첫째, 둘째…’ 또는 ‘하나, 둘…’을 소리 내어 셉니다.
주의
- ①에서 돌 5개를 옮기면 M1 실수입니다. “다섯째는 몇 개야?”라고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비교(셋째를 3개 색칠)]
목적: ‘셋째’를 3개로 색칠하는 실수를 찾고 바로잡습니다(M1).
시간: 약 3분
이렇게 말해 보세요
- “토끼와 곰이 ‘왼쪽에서 셋째’를 색칠했어. 누가 맞았을까?”
- “토끼가 칠한 것은 셋째일까, 셋일까?”
예상 답
- “곰이요. 셋째는 하나만 칠해요.”
정답
- 곰이 맞습니다. 셋째는 셋째 자리에 있는 칸 하나입니다.
- 토끼는 ‘셋’, 곧 3칸을 칠했습니다.
막히면
- S06으로 돌아가 두 그림을 다시 비교합니다.
주의
- 토끼처럼 칠하는 아이가 많습니다. “토끼는 ‘셋’을 칠했네. ‘셋째’는 어떻게 칠할까?”처럼 고쳐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몇째에 있는 것을 찾고, 순서를 말하고, ‘두 마리’와 ‘둘째’를 구별하는지 확인합니다.
시간: 약 5분
이렇게 말해 보세요
- “이번에는 혼자 해 볼래? 어디에서부터 세었는지도 말해 줘.”
정답
- ① 기린
- ② 셋째(오른쪽 끝 판다가 첫째, 사슴이 둘째, 오리가 셋째)
- ③ 토끼와 곰 두 마리를 짚습니다.
막히면
- 바로 알려 주지 말고 “어디에 손가락을 놓고 시작할까?”라고만 묻습니다.
- 도움을 받아 해결했다면 기록표에 ‘도움’으로 표시합니다.
주의
- ③에서 곰 한 마리만 짚으면 ‘둘째’와 ‘두 마리’를 헷갈린 것입니다(M1).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손가락으로 짚으며 다시 세어 보자.”
정답
- ① 기린 ② 셋째 ③ 토끼와 곰
막히면
- ②가 다섯째이면 S05로 돌아갑니다(M2).
- ③이 곰만이면 S06으로 돌아갑니다(M1).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확인(넷째에만 색칠한 것 고르기)]
목적: 처음 보는 그림에서 ‘넷째’를 바르게 나타낸 것을 고르고 까닭을 말하는지 확인합니다.
시간: 약 2분
이렇게 말해 보세요
- “‘왼쪽에서 넷째 칸’을 바르게 색칠한 것은 어느 것일까? 왜 그렇게 생각해?”
정답
- 나. 넷째는 왼쪽에서 네 번째 칸 하나입니다.
- 가는 ‘넷’(4칸)을 칠했고, 다는 셋째 칸을 칠했습니다.
막히면
- 각 그림의 칸을 왼쪽부터 ‘첫째, 둘째…’로 짚으며 셉니다.
주의
- 가를 고르면 M1이 남아 있는 것입니다. 기록표에 적고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‘셋’과 ‘셋째’는 어떻게 달라?”
예상 답
- “셋은 세 개고, 셋째는 세 번째에 있는 하나예요.”
정답
- ① 여덟째
- ② 다섯째
- ③ 넷은 4개 모두, 넷째는 네 번째 자리에 있는 하나입니다(뜻이 맞으면 정답).
막히면
- S06의 그림을 다시 보여 줍니다.
주의
- 생활에서 “앞에서 셋째 계단”, “왼쪽에서 둘째 서랍”처럼 자주 말해 주면 오래 기억합니다.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보충(1부터 9까지 순서대로 세기)]
목적: S02에서 9까지 수의 순서가 흔들리면, 몇째를 배우기 전에 수를 차례로 세는 연습을 합니다.
시간: 약 5분
이렇게 말해 보세요
- “카드를 하나씩 짚으며 ‘일, 이, 삼…’ 세어 보자. 이번에는 ‘하나, 둘, 셋…’으로 세어 볼까?”
- “5 바로 다음 수는? 8 바로 앞의 수는?”
정답
- 5 바로 다음 수는 6, 8 바로 앞의 수는 7
막히면
- 수 카드를 종이에 써서 한 장씩 놓으며 셉니다. 바둑돌 1개, 2개…를 카드 아래에 놓아도 좋습니다.
주의
- 보충으로도 어려우면 2차시 ‘수의 순서와 크기 비교’(KR22-G01-MAT-NUM9ORD-L01)를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몇째와짝수홀수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몇째인지 알기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셋과 셋째는 무엇이 다를까?</a:t>
            </a:r>
            <a:endParaRPr lang="ko-KR" sz="3200" dirty="0"/>
          </a:p>
        </p:txBody>
      </p:sp>
      <p:sp>
        <p:nvSpPr>
          <p:cNvPr id="4" name="S01-figure1" descr="circle"/>
          <p:cNvSpPr/>
          <p:nvPr/>
        </p:nvSpPr>
        <p:spPr>
          <a:xfrm>
            <a:off x="7791054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circle"/>
          <p:cNvSpPr/>
          <p:nvPr/>
        </p:nvSpPr>
        <p:spPr>
          <a:xfrm>
            <a:off x="8577438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circle"/>
          <p:cNvSpPr/>
          <p:nvPr/>
        </p:nvSpPr>
        <p:spPr>
          <a:xfrm>
            <a:off x="9363822" y="1751442"/>
            <a:ext cx="566196" cy="566196"/>
          </a:xfrm>
          <a:prstGeom prst="ellips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figure4" descr="circle"/>
          <p:cNvSpPr/>
          <p:nvPr/>
        </p:nvSpPr>
        <p:spPr>
          <a:xfrm>
            <a:off x="10150206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1-figure5" descr="circle"/>
          <p:cNvSpPr/>
          <p:nvPr/>
        </p:nvSpPr>
        <p:spPr>
          <a:xfrm>
            <a:off x="10936590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첫째, 둘째…로 순서를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셋과 셋째를 구별해요.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9까지 세어 봐요.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5, □, 7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바로 앞의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섰어요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동물들이 왼쪽부터 줄을 섰어요.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첫째, 둘째, 셋째… 로 세요.</a:t>
            </a:r>
            <a:endParaRPr lang="ko-KR" sz="3200" dirty="0"/>
          </a:p>
        </p:txBody>
      </p:sp>
      <p:sp>
        <p:nvSpPr>
          <p:cNvPr id="6" name="S03-word17"/>
          <p:cNvSpPr txBox="1"/>
          <p:nvPr/>
        </p:nvSpPr>
        <p:spPr>
          <a:xfrm>
            <a:off x="548640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3600" dirty="0"/>
          </a:p>
        </p:txBody>
      </p:sp>
      <p:sp>
        <p:nvSpPr>
          <p:cNvPr id="7" name="S03-word18"/>
          <p:cNvSpPr txBox="1"/>
          <p:nvPr/>
        </p:nvSpPr>
        <p:spPr>
          <a:xfrm>
            <a:off x="2821838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3600" dirty="0"/>
          </a:p>
        </p:txBody>
      </p:sp>
      <p:sp>
        <p:nvSpPr>
          <p:cNvPr id="8" name="S03-word19"/>
          <p:cNvSpPr txBox="1"/>
          <p:nvPr/>
        </p:nvSpPr>
        <p:spPr>
          <a:xfrm>
            <a:off x="5095037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3600" dirty="0"/>
          </a:p>
        </p:txBody>
      </p:sp>
      <p:sp>
        <p:nvSpPr>
          <p:cNvPr id="9" name="S03-word20"/>
          <p:cNvSpPr txBox="1"/>
          <p:nvPr/>
        </p:nvSpPr>
        <p:spPr>
          <a:xfrm>
            <a:off x="7368235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</a:t>
            </a:r>
            <a:endParaRPr lang="ko-KR" sz="3600" dirty="0"/>
          </a:p>
        </p:txBody>
      </p:sp>
      <p:sp>
        <p:nvSpPr>
          <p:cNvPr id="10" name="S03-word21"/>
          <p:cNvSpPr txBox="1"/>
          <p:nvPr/>
        </p:nvSpPr>
        <p:spPr>
          <a:xfrm>
            <a:off x="9641434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다섯째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아홉째까지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수와 순서를 나타내는 말을 맞추어요.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‘하나째’가 아니라 첫째, ‘두째’가 아니라 둘째예요.</a:t>
            </a:r>
            <a:endParaRPr lang="ko-KR" sz="3200" dirty="0"/>
          </a:p>
        </p:txBody>
      </p:sp>
      <p:sp>
        <p:nvSpPr>
          <p:cNvPr id="6" name="S04-tile25"/>
          <p:cNvSpPr txBox="1"/>
          <p:nvPr/>
        </p:nvSpPr>
        <p:spPr>
          <a:xfrm>
            <a:off x="54864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600" dirty="0"/>
          </a:p>
        </p:txBody>
      </p:sp>
      <p:sp>
        <p:nvSpPr>
          <p:cNvPr id="7" name="S04-label26"/>
          <p:cNvSpPr txBox="1"/>
          <p:nvPr/>
        </p:nvSpPr>
        <p:spPr>
          <a:xfrm>
            <a:off x="44805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2200" dirty="0"/>
          </a:p>
        </p:txBody>
      </p:sp>
      <p:sp>
        <p:nvSpPr>
          <p:cNvPr id="8" name="S04-tile27"/>
          <p:cNvSpPr txBox="1"/>
          <p:nvPr/>
        </p:nvSpPr>
        <p:spPr>
          <a:xfrm>
            <a:off x="180340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600" dirty="0"/>
          </a:p>
        </p:txBody>
      </p:sp>
      <p:sp>
        <p:nvSpPr>
          <p:cNvPr id="9" name="S04-label28"/>
          <p:cNvSpPr txBox="1"/>
          <p:nvPr/>
        </p:nvSpPr>
        <p:spPr>
          <a:xfrm>
            <a:off x="170281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2200" dirty="0"/>
          </a:p>
        </p:txBody>
      </p:sp>
      <p:sp>
        <p:nvSpPr>
          <p:cNvPr id="10" name="S04-tile29"/>
          <p:cNvSpPr txBox="1"/>
          <p:nvPr/>
        </p:nvSpPr>
        <p:spPr>
          <a:xfrm>
            <a:off x="305816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600" dirty="0"/>
          </a:p>
        </p:txBody>
      </p:sp>
      <p:sp>
        <p:nvSpPr>
          <p:cNvPr id="11" name="S04-label30"/>
          <p:cNvSpPr txBox="1"/>
          <p:nvPr/>
        </p:nvSpPr>
        <p:spPr>
          <a:xfrm>
            <a:off x="295757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2200" dirty="0"/>
          </a:p>
        </p:txBody>
      </p:sp>
      <p:sp>
        <p:nvSpPr>
          <p:cNvPr id="12" name="S04-tile31"/>
          <p:cNvSpPr txBox="1"/>
          <p:nvPr/>
        </p:nvSpPr>
        <p:spPr>
          <a:xfrm>
            <a:off x="431292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600" dirty="0"/>
          </a:p>
        </p:txBody>
      </p:sp>
      <p:sp>
        <p:nvSpPr>
          <p:cNvPr id="13" name="S04-label32"/>
          <p:cNvSpPr txBox="1"/>
          <p:nvPr/>
        </p:nvSpPr>
        <p:spPr>
          <a:xfrm>
            <a:off x="421233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</a:t>
            </a:r>
            <a:endParaRPr lang="ko-KR" sz="2200" dirty="0"/>
          </a:p>
        </p:txBody>
      </p:sp>
      <p:sp>
        <p:nvSpPr>
          <p:cNvPr id="14" name="S04-tile33"/>
          <p:cNvSpPr txBox="1"/>
          <p:nvPr/>
        </p:nvSpPr>
        <p:spPr>
          <a:xfrm>
            <a:off x="556768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600" dirty="0"/>
          </a:p>
        </p:txBody>
      </p:sp>
      <p:sp>
        <p:nvSpPr>
          <p:cNvPr id="15" name="S04-label34"/>
          <p:cNvSpPr txBox="1"/>
          <p:nvPr/>
        </p:nvSpPr>
        <p:spPr>
          <a:xfrm>
            <a:off x="546709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다섯째</a:t>
            </a:r>
            <a:endParaRPr lang="ko-KR" sz="2200" dirty="0"/>
          </a:p>
        </p:txBody>
      </p:sp>
      <p:sp>
        <p:nvSpPr>
          <p:cNvPr id="16" name="S04-tile35"/>
          <p:cNvSpPr txBox="1"/>
          <p:nvPr/>
        </p:nvSpPr>
        <p:spPr>
          <a:xfrm>
            <a:off x="682244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600" dirty="0"/>
          </a:p>
        </p:txBody>
      </p:sp>
      <p:sp>
        <p:nvSpPr>
          <p:cNvPr id="17" name="S04-label36"/>
          <p:cNvSpPr txBox="1"/>
          <p:nvPr/>
        </p:nvSpPr>
        <p:spPr>
          <a:xfrm>
            <a:off x="672185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여섯째</a:t>
            </a:r>
            <a:endParaRPr lang="ko-KR" sz="2200" dirty="0"/>
          </a:p>
        </p:txBody>
      </p:sp>
      <p:sp>
        <p:nvSpPr>
          <p:cNvPr id="18" name="S04-tile37"/>
          <p:cNvSpPr txBox="1"/>
          <p:nvPr/>
        </p:nvSpPr>
        <p:spPr>
          <a:xfrm>
            <a:off x="807720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600" dirty="0"/>
          </a:p>
        </p:txBody>
      </p:sp>
      <p:sp>
        <p:nvSpPr>
          <p:cNvPr id="19" name="S04-label38"/>
          <p:cNvSpPr txBox="1"/>
          <p:nvPr/>
        </p:nvSpPr>
        <p:spPr>
          <a:xfrm>
            <a:off x="797661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일곱째</a:t>
            </a:r>
            <a:endParaRPr lang="ko-KR" sz="2200" dirty="0"/>
          </a:p>
        </p:txBody>
      </p:sp>
      <p:sp>
        <p:nvSpPr>
          <p:cNvPr id="20" name="S04-tile39"/>
          <p:cNvSpPr txBox="1"/>
          <p:nvPr/>
        </p:nvSpPr>
        <p:spPr>
          <a:xfrm>
            <a:off x="933196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600" dirty="0"/>
          </a:p>
        </p:txBody>
      </p:sp>
      <p:sp>
        <p:nvSpPr>
          <p:cNvPr id="21" name="S04-label40"/>
          <p:cNvSpPr txBox="1"/>
          <p:nvPr/>
        </p:nvSpPr>
        <p:spPr>
          <a:xfrm>
            <a:off x="923137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여덟째</a:t>
            </a:r>
            <a:endParaRPr lang="ko-KR" sz="2200" dirty="0"/>
          </a:p>
        </p:txBody>
      </p:sp>
      <p:sp>
        <p:nvSpPr>
          <p:cNvPr id="22" name="S04-tile41"/>
          <p:cNvSpPr txBox="1"/>
          <p:nvPr/>
        </p:nvSpPr>
        <p:spPr>
          <a:xfrm>
            <a:off x="1058672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600" dirty="0"/>
          </a:p>
        </p:txBody>
      </p:sp>
      <p:sp>
        <p:nvSpPr>
          <p:cNvPr id="23" name="S04-label42"/>
          <p:cNvSpPr txBox="1"/>
          <p:nvPr/>
        </p:nvSpPr>
        <p:spPr>
          <a:xfrm>
            <a:off x="1048613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아홉째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세면?</a:t>
            </a:r>
            <a:endParaRPr lang="ko-KR" sz="4400" dirty="0"/>
          </a:p>
        </p:txBody>
      </p:sp>
      <p:sp>
        <p:nvSpPr>
          <p:cNvPr id="3" name="S05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어디에서부터 세는지 먼저 봐요.</a:t>
            </a:r>
            <a:endParaRPr lang="ko-KR" sz="3200" dirty="0"/>
          </a:p>
        </p:txBody>
      </p:sp>
      <p:sp>
        <p:nvSpPr>
          <p:cNvPr id="5" name="S05-card4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곰은 왼쪽에서 둘째</a:t>
            </a:r>
            <a:endParaRPr lang="ko-KR" sz="3200" dirty="0"/>
          </a:p>
        </p:txBody>
      </p:sp>
      <p:sp>
        <p:nvSpPr>
          <p:cNvPr id="7" name="S05-card4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곰은 오른쪽에서 넷째</a:t>
            </a:r>
            <a:endParaRPr lang="ko-KR" sz="3200" dirty="0"/>
          </a:p>
        </p:txBody>
      </p:sp>
      <p:sp>
        <p:nvSpPr>
          <p:cNvPr id="9" name="S05-word49"/>
          <p:cNvSpPr txBox="1"/>
          <p:nvPr/>
        </p:nvSpPr>
        <p:spPr>
          <a:xfrm>
            <a:off x="548640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</p:txBody>
      </p:sp>
      <p:sp>
        <p:nvSpPr>
          <p:cNvPr id="10" name="S05-word50"/>
          <p:cNvSpPr txBox="1"/>
          <p:nvPr/>
        </p:nvSpPr>
        <p:spPr>
          <a:xfrm>
            <a:off x="2821838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1" name="S05-word51"/>
          <p:cNvSpPr txBox="1"/>
          <p:nvPr/>
        </p:nvSpPr>
        <p:spPr>
          <a:xfrm>
            <a:off x="5095037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</p:txBody>
      </p:sp>
      <p:sp>
        <p:nvSpPr>
          <p:cNvPr id="12" name="S05-word52"/>
          <p:cNvSpPr txBox="1"/>
          <p:nvPr/>
        </p:nvSpPr>
        <p:spPr>
          <a:xfrm>
            <a:off x="7368235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</p:txBody>
      </p:sp>
      <p:sp>
        <p:nvSpPr>
          <p:cNvPr id="13" name="S05-word53"/>
          <p:cNvSpPr txBox="1"/>
          <p:nvPr/>
        </p:nvSpPr>
        <p:spPr>
          <a:xfrm>
            <a:off x="9641434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셋과 셋째</a:t>
            </a:r>
            <a:endParaRPr lang="ko-KR" sz="4400" dirty="0"/>
          </a:p>
        </p:txBody>
      </p:sp>
      <p:sp>
        <p:nvSpPr>
          <p:cNvPr id="3" name="S06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색칠했어요.</a:t>
            </a:r>
            <a:endParaRPr lang="ko-KR" sz="3200" dirty="0"/>
          </a:p>
        </p:txBody>
      </p:sp>
      <p:sp>
        <p:nvSpPr>
          <p:cNvPr id="4" name="S06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몇 개인지, 셋째는 몇 번째인지 말해요.</a:t>
            </a:r>
            <a:endParaRPr lang="ko-KR" sz="3200" dirty="0"/>
          </a:p>
        </p:txBody>
      </p:sp>
      <p:sp>
        <p:nvSpPr>
          <p:cNvPr id="6" name="S06-cell57"/>
          <p:cNvSpPr/>
          <p:nvPr/>
        </p:nvSpPr>
        <p:spPr>
          <a:xfrm>
            <a:off x="548640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58"/>
          <p:cNvSpPr/>
          <p:nvPr/>
        </p:nvSpPr>
        <p:spPr>
          <a:xfrm>
            <a:off x="1446276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cell59"/>
          <p:cNvSpPr/>
          <p:nvPr/>
        </p:nvSpPr>
        <p:spPr>
          <a:xfrm>
            <a:off x="2343912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60"/>
          <p:cNvSpPr/>
          <p:nvPr/>
        </p:nvSpPr>
        <p:spPr>
          <a:xfrm>
            <a:off x="3241548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61"/>
          <p:cNvSpPr/>
          <p:nvPr/>
        </p:nvSpPr>
        <p:spPr>
          <a:xfrm>
            <a:off x="4139184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62"/>
          <p:cNvSpPr/>
          <p:nvPr/>
        </p:nvSpPr>
        <p:spPr>
          <a:xfrm>
            <a:off x="5036820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figure63" descr="6칸 중 왼쪽부터 3칸 색칠"/>
          <p:cNvSpPr/>
          <p:nvPr/>
        </p:nvSpPr>
        <p:spPr>
          <a:xfrm>
            <a:off x="548640" y="2857881"/>
            <a:ext cx="5385816" cy="897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6-label6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셋: 3개 모두</a:t>
            </a:r>
            <a:endParaRPr lang="ko-KR" sz="2600" dirty="0"/>
          </a:p>
        </p:txBody>
      </p:sp>
      <p:sp>
        <p:nvSpPr>
          <p:cNvPr id="14" name="S06-cell65"/>
          <p:cNvSpPr/>
          <p:nvPr/>
        </p:nvSpPr>
        <p:spPr>
          <a:xfrm>
            <a:off x="6254496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66"/>
          <p:cNvSpPr/>
          <p:nvPr/>
        </p:nvSpPr>
        <p:spPr>
          <a:xfrm>
            <a:off x="7152132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67"/>
          <p:cNvSpPr/>
          <p:nvPr/>
        </p:nvSpPr>
        <p:spPr>
          <a:xfrm>
            <a:off x="8049768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68"/>
          <p:cNvSpPr/>
          <p:nvPr/>
        </p:nvSpPr>
        <p:spPr>
          <a:xfrm>
            <a:off x="8947404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69"/>
          <p:cNvSpPr/>
          <p:nvPr/>
        </p:nvSpPr>
        <p:spPr>
          <a:xfrm>
            <a:off x="9845040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70"/>
          <p:cNvSpPr/>
          <p:nvPr/>
        </p:nvSpPr>
        <p:spPr>
          <a:xfrm>
            <a:off x="10742676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figure71" descr="6칸 중 왼쪽에서 셋째 칸 하나만 색칠"/>
          <p:cNvSpPr/>
          <p:nvPr/>
        </p:nvSpPr>
        <p:spPr>
          <a:xfrm>
            <a:off x="6254496" y="2857881"/>
            <a:ext cx="5385816" cy="897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label72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셋째: 1개만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몇째일까요?</a:t>
            </a:r>
            <a:endParaRPr lang="ko-KR" sz="4400" dirty="0"/>
          </a:p>
        </p:txBody>
      </p:sp>
      <p:sp>
        <p:nvSpPr>
          <p:cNvPr id="3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왼쪽인지 오른쪽인지 먼저 봐요.</a:t>
            </a:r>
            <a:endParaRPr lang="ko-KR" sz="3200" dirty="0"/>
          </a:p>
        </p:txBody>
      </p:sp>
      <p:sp>
        <p:nvSpPr>
          <p:cNvPr id="5" name="S07-card75"/>
          <p:cNvSpPr/>
          <p:nvPr/>
        </p:nvSpPr>
        <p:spPr>
          <a:xfrm>
            <a:off x="548640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76"/>
          <p:cNvSpPr txBox="1"/>
          <p:nvPr/>
        </p:nvSpPr>
        <p:spPr>
          <a:xfrm>
            <a:off x="822960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왼쪽에서 셋째는?</a:t>
            </a:r>
            <a:endParaRPr lang="ko-KR" sz="3200" dirty="0"/>
          </a:p>
        </p:txBody>
      </p:sp>
      <p:sp>
        <p:nvSpPr>
          <p:cNvPr id="7" name="S07-card77"/>
          <p:cNvSpPr/>
          <p:nvPr/>
        </p:nvSpPr>
        <p:spPr>
          <a:xfrm>
            <a:off x="4322064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78"/>
          <p:cNvSpPr txBox="1"/>
          <p:nvPr/>
        </p:nvSpPr>
        <p:spPr>
          <a:xfrm>
            <a:off x="4596384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감은 왼쪽에서 몇째?</a:t>
            </a:r>
            <a:endParaRPr lang="ko-KR" sz="3200" dirty="0"/>
          </a:p>
        </p:txBody>
      </p:sp>
      <p:sp>
        <p:nvSpPr>
          <p:cNvPr id="9" name="S07-card79"/>
          <p:cNvSpPr/>
          <p:nvPr/>
        </p:nvSpPr>
        <p:spPr>
          <a:xfrm>
            <a:off x="8095488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80"/>
          <p:cNvSpPr txBox="1"/>
          <p:nvPr/>
        </p:nvSpPr>
        <p:spPr>
          <a:xfrm>
            <a:off x="8369808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오른쪽에서 둘째는?</a:t>
            </a:r>
            <a:endParaRPr lang="ko-KR" sz="3200" dirty="0"/>
          </a:p>
        </p:txBody>
      </p:sp>
      <p:sp>
        <p:nvSpPr>
          <p:cNvPr id="11" name="S07-word81"/>
          <p:cNvSpPr txBox="1"/>
          <p:nvPr/>
        </p:nvSpPr>
        <p:spPr>
          <a:xfrm>
            <a:off x="548640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2" name="S07-word82"/>
          <p:cNvSpPr txBox="1"/>
          <p:nvPr/>
        </p:nvSpPr>
        <p:spPr>
          <a:xfrm>
            <a:off x="2442972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3600" dirty="0"/>
          </a:p>
        </p:txBody>
      </p:sp>
      <p:sp>
        <p:nvSpPr>
          <p:cNvPr id="13" name="S07-word83"/>
          <p:cNvSpPr txBox="1"/>
          <p:nvPr/>
        </p:nvSpPr>
        <p:spPr>
          <a:xfrm>
            <a:off x="4337304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4" name="S07-word84"/>
          <p:cNvSpPr txBox="1"/>
          <p:nvPr/>
        </p:nvSpPr>
        <p:spPr>
          <a:xfrm>
            <a:off x="6231636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3600" dirty="0"/>
          </a:p>
        </p:txBody>
      </p:sp>
      <p:sp>
        <p:nvSpPr>
          <p:cNvPr id="15" name="S07-word85"/>
          <p:cNvSpPr txBox="1"/>
          <p:nvPr/>
        </p:nvSpPr>
        <p:spPr>
          <a:xfrm>
            <a:off x="8125968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6" name="S07-word86"/>
          <p:cNvSpPr txBox="1"/>
          <p:nvPr/>
        </p:nvSpPr>
        <p:spPr>
          <a:xfrm>
            <a:off x="10020300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옮겨요</a:t>
            </a:r>
            <a:endParaRPr lang="ko-KR" sz="4400" dirty="0"/>
          </a:p>
        </p:txBody>
      </p:sp>
      <p:sp>
        <p:nvSpPr>
          <p:cNvPr id="3" name="S08-card87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8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7개를 한 줄로</a:t>
            </a:r>
            <a:endParaRPr lang="ko-KR" sz="3200" dirty="0"/>
          </a:p>
        </p:txBody>
      </p:sp>
      <p:sp>
        <p:nvSpPr>
          <p:cNvPr id="5" name="S08-dot89"/>
          <p:cNvSpPr/>
          <p:nvPr/>
        </p:nvSpPr>
        <p:spPr>
          <a:xfrm>
            <a:off x="66888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8-dot90"/>
          <p:cNvSpPr/>
          <p:nvPr/>
        </p:nvSpPr>
        <p:spPr>
          <a:xfrm>
            <a:off x="73746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91"/>
          <p:cNvSpPr/>
          <p:nvPr/>
        </p:nvSpPr>
        <p:spPr>
          <a:xfrm>
            <a:off x="80604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92"/>
          <p:cNvSpPr/>
          <p:nvPr/>
        </p:nvSpPr>
        <p:spPr>
          <a:xfrm>
            <a:off x="87462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93"/>
          <p:cNvSpPr/>
          <p:nvPr/>
        </p:nvSpPr>
        <p:spPr>
          <a:xfrm>
            <a:off x="94320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94"/>
          <p:cNvSpPr/>
          <p:nvPr/>
        </p:nvSpPr>
        <p:spPr>
          <a:xfrm>
            <a:off x="101178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95"/>
          <p:cNvSpPr/>
          <p:nvPr/>
        </p:nvSpPr>
        <p:spPr>
          <a:xfrm>
            <a:off x="108036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figure96" descr="바둑돌 7개를 한 줄로 놓은 그림"/>
          <p:cNvSpPr/>
          <p:nvPr/>
        </p:nvSpPr>
        <p:spPr>
          <a:xfrm>
            <a:off x="6558534" y="3680460"/>
            <a:ext cx="4800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8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8-text9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다섯째 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15" name="S08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08-text100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돌 다섯 개를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17" name="S08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08-text102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둘째 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셋째 칸에 색칠하세요.</a:t>
            </a:r>
            <a:endParaRPr lang="ko-KR" sz="3200" dirty="0"/>
          </a:p>
        </p:txBody>
      </p:sp>
      <p:sp>
        <p:nvSpPr>
          <p:cNvPr id="5" name="S09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0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cell108"/>
          <p:cNvSpPr/>
          <p:nvPr/>
        </p:nvSpPr>
        <p:spPr>
          <a:xfrm>
            <a:off x="548640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09"/>
          <p:cNvSpPr/>
          <p:nvPr/>
        </p:nvSpPr>
        <p:spPr>
          <a:xfrm>
            <a:off x="1442466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10"/>
          <p:cNvSpPr/>
          <p:nvPr/>
        </p:nvSpPr>
        <p:spPr>
          <a:xfrm>
            <a:off x="2336292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11"/>
          <p:cNvSpPr/>
          <p:nvPr/>
        </p:nvSpPr>
        <p:spPr>
          <a:xfrm>
            <a:off x="3230118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12"/>
          <p:cNvSpPr/>
          <p:nvPr/>
        </p:nvSpPr>
        <p:spPr>
          <a:xfrm>
            <a:off x="4123944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13"/>
          <p:cNvSpPr/>
          <p:nvPr/>
        </p:nvSpPr>
        <p:spPr>
          <a:xfrm>
            <a:off x="5017770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figure114" descr="6칸 중 왼쪽부터 3칸 색칠"/>
          <p:cNvSpPr/>
          <p:nvPr/>
        </p:nvSpPr>
        <p:spPr>
          <a:xfrm>
            <a:off x="548640" y="3690747"/>
            <a:ext cx="5362956" cy="8938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9-chip11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6" name="S09-cell116"/>
          <p:cNvSpPr/>
          <p:nvPr/>
        </p:nvSpPr>
        <p:spPr>
          <a:xfrm>
            <a:off x="6277356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17"/>
          <p:cNvSpPr/>
          <p:nvPr/>
        </p:nvSpPr>
        <p:spPr>
          <a:xfrm>
            <a:off x="7171182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118"/>
          <p:cNvSpPr/>
          <p:nvPr/>
        </p:nvSpPr>
        <p:spPr>
          <a:xfrm>
            <a:off x="8065008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119"/>
          <p:cNvSpPr/>
          <p:nvPr/>
        </p:nvSpPr>
        <p:spPr>
          <a:xfrm>
            <a:off x="8958834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120"/>
          <p:cNvSpPr/>
          <p:nvPr/>
        </p:nvSpPr>
        <p:spPr>
          <a:xfrm>
            <a:off x="9852660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121"/>
          <p:cNvSpPr/>
          <p:nvPr/>
        </p:nvSpPr>
        <p:spPr>
          <a:xfrm>
            <a:off x="10746486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figure122" descr="6칸 중 왼쪽에서 셋째 칸 하나만 색칠"/>
          <p:cNvSpPr/>
          <p:nvPr/>
        </p:nvSpPr>
        <p:spPr>
          <a:xfrm>
            <a:off x="6277356" y="3690747"/>
            <a:ext cx="5362956" cy="8938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23"/>
          <p:cNvSpPr/>
          <p:nvPr/>
        </p:nvSpPr>
        <p:spPr>
          <a:xfrm>
            <a:off x="548640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4"/>
          <p:cNvSpPr txBox="1"/>
          <p:nvPr/>
        </p:nvSpPr>
        <p:spPr>
          <a:xfrm>
            <a:off x="822960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왼쪽에서 넷째는?</a:t>
            </a:r>
            <a:endParaRPr lang="ko-KR" sz="3200" dirty="0"/>
          </a:p>
        </p:txBody>
      </p:sp>
      <p:sp>
        <p:nvSpPr>
          <p:cNvPr id="5" name="S10-card125"/>
          <p:cNvSpPr/>
          <p:nvPr/>
        </p:nvSpPr>
        <p:spPr>
          <a:xfrm>
            <a:off x="4322064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26"/>
          <p:cNvSpPr txBox="1"/>
          <p:nvPr/>
        </p:nvSpPr>
        <p:spPr>
          <a:xfrm>
            <a:off x="4596384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오리는 오른쪽에서 몇째?</a:t>
            </a:r>
            <a:endParaRPr lang="ko-KR" sz="3200" dirty="0"/>
          </a:p>
        </p:txBody>
      </p:sp>
      <p:sp>
        <p:nvSpPr>
          <p:cNvPr id="7" name="S10-card127"/>
          <p:cNvSpPr/>
          <p:nvPr/>
        </p:nvSpPr>
        <p:spPr>
          <a:xfrm>
            <a:off x="8095488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128"/>
          <p:cNvSpPr txBox="1"/>
          <p:nvPr/>
        </p:nvSpPr>
        <p:spPr>
          <a:xfrm>
            <a:off x="8369808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왼쪽에서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마리를 짚어요.</a:t>
            </a:r>
            <a:endParaRPr lang="ko-KR" sz="3200" dirty="0"/>
          </a:p>
        </p:txBody>
      </p:sp>
      <p:sp>
        <p:nvSpPr>
          <p:cNvPr id="9" name="S10-word129"/>
          <p:cNvSpPr txBox="1"/>
          <p:nvPr/>
        </p:nvSpPr>
        <p:spPr>
          <a:xfrm>
            <a:off x="548640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</p:txBody>
      </p:sp>
      <p:sp>
        <p:nvSpPr>
          <p:cNvPr id="10" name="S10-word130"/>
          <p:cNvSpPr txBox="1"/>
          <p:nvPr/>
        </p:nvSpPr>
        <p:spPr>
          <a:xfrm>
            <a:off x="2172353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1" name="S10-word131"/>
          <p:cNvSpPr txBox="1"/>
          <p:nvPr/>
        </p:nvSpPr>
        <p:spPr>
          <a:xfrm>
            <a:off x="3796066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</p:txBody>
      </p:sp>
      <p:sp>
        <p:nvSpPr>
          <p:cNvPr id="12" name="S10-word132"/>
          <p:cNvSpPr txBox="1"/>
          <p:nvPr/>
        </p:nvSpPr>
        <p:spPr>
          <a:xfrm>
            <a:off x="5419779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3600" dirty="0"/>
          </a:p>
        </p:txBody>
      </p:sp>
      <p:sp>
        <p:nvSpPr>
          <p:cNvPr id="13" name="S10-word133"/>
          <p:cNvSpPr txBox="1"/>
          <p:nvPr/>
        </p:nvSpPr>
        <p:spPr>
          <a:xfrm>
            <a:off x="7043493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14" name="S10-word134"/>
          <p:cNvSpPr txBox="1"/>
          <p:nvPr/>
        </p:nvSpPr>
        <p:spPr>
          <a:xfrm>
            <a:off x="8667206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</p:txBody>
      </p:sp>
      <p:sp>
        <p:nvSpPr>
          <p:cNvPr id="15" name="S10-word135"/>
          <p:cNvSpPr txBox="1"/>
          <p:nvPr/>
        </p:nvSpPr>
        <p:spPr>
          <a:xfrm>
            <a:off x="10290919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인형을 줄 세워 다시 해 보게 하세요.</a:t>
            </a:r>
            <a:endParaRPr lang="ko-KR" sz="3200" dirty="0"/>
          </a:p>
        </p:txBody>
      </p:sp>
      <p:sp>
        <p:nvSpPr>
          <p:cNvPr id="5" name="S11-chip13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39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기린</a:t>
            </a:r>
            <a:endParaRPr lang="ko-KR" sz="3200" dirty="0"/>
          </a:p>
        </p:txBody>
      </p:sp>
      <p:sp>
        <p:nvSpPr>
          <p:cNvPr id="7" name="S11-text140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넷째</a:t>
            </a:r>
            <a:endParaRPr lang="ko-KR" sz="2600" dirty="0"/>
          </a:p>
        </p:txBody>
      </p:sp>
      <p:sp>
        <p:nvSpPr>
          <p:cNvPr id="8" name="S11-text141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셋째</a:t>
            </a:r>
            <a:endParaRPr lang="ko-KR" sz="3200" dirty="0"/>
          </a:p>
        </p:txBody>
      </p:sp>
      <p:sp>
        <p:nvSpPr>
          <p:cNvPr id="9" name="S11-text142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판다부터 셈</a:t>
            </a:r>
            <a:endParaRPr lang="ko-KR" sz="2600" dirty="0"/>
          </a:p>
        </p:txBody>
      </p:sp>
      <p:sp>
        <p:nvSpPr>
          <p:cNvPr id="10" name="S11-text14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토끼, 곰</a:t>
            </a:r>
            <a:endParaRPr lang="ko-KR" sz="3200" dirty="0"/>
          </a:p>
        </p:txBody>
      </p:sp>
      <p:sp>
        <p:nvSpPr>
          <p:cNvPr id="11" name="S11-text14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마리</a:t>
            </a:r>
            <a:endParaRPr lang="ko-KR" sz="2600" dirty="0"/>
          </a:p>
        </p:txBody>
      </p:sp>
      <p:sp>
        <p:nvSpPr>
          <p:cNvPr id="12" name="S11-chip14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4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다섯째</a:t>
            </a:r>
            <a:endParaRPr lang="ko-KR" sz="3200" dirty="0"/>
          </a:p>
        </p:txBody>
      </p:sp>
      <p:sp>
        <p:nvSpPr>
          <p:cNvPr id="14" name="S11-text14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셈</a:t>
            </a:r>
            <a:endParaRPr lang="ko-KR" sz="2600" dirty="0"/>
          </a:p>
        </p:txBody>
      </p:sp>
      <p:sp>
        <p:nvSpPr>
          <p:cNvPr id="15" name="S11-text14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곰만</a:t>
            </a:r>
            <a:endParaRPr lang="ko-KR" sz="3200" dirty="0"/>
          </a:p>
        </p:txBody>
      </p:sp>
      <p:sp>
        <p:nvSpPr>
          <p:cNvPr id="16" name="S11-text14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둘째만 짚음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색칠한 것은?</a:t>
            </a:r>
            <a:endParaRPr lang="ko-KR" sz="4400" dirty="0"/>
          </a:p>
        </p:txBody>
      </p:sp>
      <p:sp>
        <p:nvSpPr>
          <p:cNvPr id="3" name="S12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넷째 칸에 색칠했어요.</a:t>
            </a:r>
            <a:endParaRPr lang="ko-KR" sz="3200" dirty="0"/>
          </a:p>
        </p:txBody>
      </p:sp>
      <p:sp>
        <p:nvSpPr>
          <p:cNvPr id="4" name="S12-card1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5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ell154"/>
          <p:cNvSpPr/>
          <p:nvPr/>
        </p:nvSpPr>
        <p:spPr>
          <a:xfrm>
            <a:off x="548640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cell155"/>
          <p:cNvSpPr/>
          <p:nvPr/>
        </p:nvSpPr>
        <p:spPr>
          <a:xfrm>
            <a:off x="1124204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cell156"/>
          <p:cNvSpPr/>
          <p:nvPr/>
        </p:nvSpPr>
        <p:spPr>
          <a:xfrm>
            <a:off x="1699768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cell157"/>
          <p:cNvSpPr/>
          <p:nvPr/>
        </p:nvSpPr>
        <p:spPr>
          <a:xfrm>
            <a:off x="2275332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cell158"/>
          <p:cNvSpPr/>
          <p:nvPr/>
        </p:nvSpPr>
        <p:spPr>
          <a:xfrm>
            <a:off x="2850896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cell159"/>
          <p:cNvSpPr/>
          <p:nvPr/>
        </p:nvSpPr>
        <p:spPr>
          <a:xfrm>
            <a:off x="342646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figure160" descr="6칸 중 왼쪽부터 4칸 색칠"/>
          <p:cNvSpPr/>
          <p:nvPr/>
        </p:nvSpPr>
        <p:spPr>
          <a:xfrm>
            <a:off x="548640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chip1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5" name="S12-cell162"/>
          <p:cNvSpPr/>
          <p:nvPr/>
        </p:nvSpPr>
        <p:spPr>
          <a:xfrm>
            <a:off x="436778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2-cell163"/>
          <p:cNvSpPr/>
          <p:nvPr/>
        </p:nvSpPr>
        <p:spPr>
          <a:xfrm>
            <a:off x="494334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cell164"/>
          <p:cNvSpPr/>
          <p:nvPr/>
        </p:nvSpPr>
        <p:spPr>
          <a:xfrm>
            <a:off x="5518912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cell165"/>
          <p:cNvSpPr/>
          <p:nvPr/>
        </p:nvSpPr>
        <p:spPr>
          <a:xfrm>
            <a:off x="6094476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cell166"/>
          <p:cNvSpPr/>
          <p:nvPr/>
        </p:nvSpPr>
        <p:spPr>
          <a:xfrm>
            <a:off x="667004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2-cell167"/>
          <p:cNvSpPr/>
          <p:nvPr/>
        </p:nvSpPr>
        <p:spPr>
          <a:xfrm>
            <a:off x="724560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figure168" descr="6칸 중 왼쪽에서 넷째 칸 하나만 색칠"/>
          <p:cNvSpPr/>
          <p:nvPr/>
        </p:nvSpPr>
        <p:spPr>
          <a:xfrm>
            <a:off x="4367784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2-chip16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3" name="S12-cell170"/>
          <p:cNvSpPr/>
          <p:nvPr/>
        </p:nvSpPr>
        <p:spPr>
          <a:xfrm>
            <a:off x="818692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cell171"/>
          <p:cNvSpPr/>
          <p:nvPr/>
        </p:nvSpPr>
        <p:spPr>
          <a:xfrm>
            <a:off x="8762492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2-cell172"/>
          <p:cNvSpPr/>
          <p:nvPr/>
        </p:nvSpPr>
        <p:spPr>
          <a:xfrm>
            <a:off x="9338056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2-cell173"/>
          <p:cNvSpPr/>
          <p:nvPr/>
        </p:nvSpPr>
        <p:spPr>
          <a:xfrm>
            <a:off x="991362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cell174"/>
          <p:cNvSpPr/>
          <p:nvPr/>
        </p:nvSpPr>
        <p:spPr>
          <a:xfrm>
            <a:off x="1048918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cell175"/>
          <p:cNvSpPr/>
          <p:nvPr/>
        </p:nvSpPr>
        <p:spPr>
          <a:xfrm>
            <a:off x="1106474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figure176" descr="6칸 중 왼쪽에서 셋째 칸 하나만 색칠"/>
          <p:cNvSpPr/>
          <p:nvPr/>
        </p:nvSpPr>
        <p:spPr>
          <a:xfrm>
            <a:off x="8186928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3개 모두, 셋째는 셋째 자리 하나예요.</a:t>
            </a:r>
            <a:endParaRPr lang="ko-KR" sz="3200" dirty="0"/>
          </a:p>
        </p:txBody>
      </p:sp>
      <p:sp>
        <p:nvSpPr>
          <p:cNvPr id="5" name="S13-chip17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어디에서부터 세는지 보기</a:t>
            </a:r>
            <a:endParaRPr lang="ko-KR" sz="2600" dirty="0"/>
          </a:p>
        </p:txBody>
      </p:sp>
      <p:sp>
        <p:nvSpPr>
          <p:cNvPr id="6" name="S13-chip18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셋째를 3개 칠하기</a:t>
            </a:r>
            <a:endParaRPr lang="ko-KR" sz="2600" dirty="0"/>
          </a:p>
        </p:txBody>
      </p:sp>
      <p:sp>
        <p:nvSpPr>
          <p:cNvPr id="7" name="S13-text18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8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일곱째 다음은?</a:t>
            </a:r>
            <a:endParaRPr lang="ko-KR" sz="2600" dirty="0"/>
          </a:p>
        </p:txBody>
      </p:sp>
      <p:sp>
        <p:nvSpPr>
          <p:cNvPr id="9" name="S13-text18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5명 중 오른쪽에서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첫째는 왼쪽에서 몇째?</a:t>
            </a:r>
            <a:endParaRPr lang="ko-KR" sz="2600" dirty="0"/>
          </a:p>
        </p:txBody>
      </p:sp>
      <p:sp>
        <p:nvSpPr>
          <p:cNvPr id="10" name="S13-text18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넷과 넷째는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다를까?</a:t>
            </a:r>
            <a:endParaRPr lang="ko-KR" sz="2600" dirty="0"/>
          </a:p>
        </p:txBody>
      </p:sp>
      <p:sp>
        <p:nvSpPr>
          <p:cNvPr id="11" name="S13-text1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짝수와 홀수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순서대로 세기</a:t>
            </a:r>
            <a:endParaRPr lang="ko-KR" sz="4400" dirty="0"/>
          </a:p>
        </p:txBody>
      </p:sp>
      <p:sp>
        <p:nvSpPr>
          <p:cNvPr id="3" name="S14-text1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9까지 하나씩 짚으며 세어요.</a:t>
            </a:r>
            <a:endParaRPr lang="ko-KR" sz="3200" dirty="0"/>
          </a:p>
        </p:txBody>
      </p:sp>
      <p:sp>
        <p:nvSpPr>
          <p:cNvPr id="4" name="S14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짚으면서 세면 건너뛰지 않아요.</a:t>
            </a:r>
            <a:endParaRPr lang="ko-KR" sz="3200" dirty="0"/>
          </a:p>
        </p:txBody>
      </p:sp>
      <p:sp>
        <p:nvSpPr>
          <p:cNvPr id="6" name="S14-tile189"/>
          <p:cNvSpPr txBox="1"/>
          <p:nvPr/>
        </p:nvSpPr>
        <p:spPr>
          <a:xfrm>
            <a:off x="54864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600" dirty="0"/>
          </a:p>
        </p:txBody>
      </p:sp>
      <p:sp>
        <p:nvSpPr>
          <p:cNvPr id="7" name="S14-tile190"/>
          <p:cNvSpPr txBox="1"/>
          <p:nvPr/>
        </p:nvSpPr>
        <p:spPr>
          <a:xfrm>
            <a:off x="180340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600" dirty="0"/>
          </a:p>
        </p:txBody>
      </p:sp>
      <p:sp>
        <p:nvSpPr>
          <p:cNvPr id="8" name="S14-tile191"/>
          <p:cNvSpPr txBox="1"/>
          <p:nvPr/>
        </p:nvSpPr>
        <p:spPr>
          <a:xfrm>
            <a:off x="305816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600" dirty="0"/>
          </a:p>
        </p:txBody>
      </p:sp>
      <p:sp>
        <p:nvSpPr>
          <p:cNvPr id="9" name="S14-tile192"/>
          <p:cNvSpPr txBox="1"/>
          <p:nvPr/>
        </p:nvSpPr>
        <p:spPr>
          <a:xfrm>
            <a:off x="431292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600" dirty="0"/>
          </a:p>
        </p:txBody>
      </p:sp>
      <p:sp>
        <p:nvSpPr>
          <p:cNvPr id="10" name="S14-tile193"/>
          <p:cNvSpPr txBox="1"/>
          <p:nvPr/>
        </p:nvSpPr>
        <p:spPr>
          <a:xfrm>
            <a:off x="556768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600" dirty="0"/>
          </a:p>
        </p:txBody>
      </p:sp>
      <p:sp>
        <p:nvSpPr>
          <p:cNvPr id="11" name="S14-tile194"/>
          <p:cNvSpPr txBox="1"/>
          <p:nvPr/>
        </p:nvSpPr>
        <p:spPr>
          <a:xfrm>
            <a:off x="682244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600" dirty="0"/>
          </a:p>
        </p:txBody>
      </p:sp>
      <p:sp>
        <p:nvSpPr>
          <p:cNvPr id="12" name="S14-tile195"/>
          <p:cNvSpPr txBox="1"/>
          <p:nvPr/>
        </p:nvSpPr>
        <p:spPr>
          <a:xfrm>
            <a:off x="807720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600" dirty="0"/>
          </a:p>
        </p:txBody>
      </p:sp>
      <p:sp>
        <p:nvSpPr>
          <p:cNvPr id="13" name="S14-tile196"/>
          <p:cNvSpPr txBox="1"/>
          <p:nvPr/>
        </p:nvSpPr>
        <p:spPr>
          <a:xfrm>
            <a:off x="933196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600" dirty="0"/>
          </a:p>
        </p:txBody>
      </p:sp>
      <p:sp>
        <p:nvSpPr>
          <p:cNvPr id="14" name="S14-tile197"/>
          <p:cNvSpPr txBox="1"/>
          <p:nvPr/>
        </p:nvSpPr>
        <p:spPr>
          <a:xfrm>
            <a:off x="1058672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몇째인지 알기</dc:title>
  <dc:subject>KR22-G01-MAT-ORDINAL-L01</dc:subject>
  <dc:creator>education-ppt</dc:creator>
  <cp:lastModifiedBy>education-ppt</cp:lastModifiedBy>
  <cp:revision>1</cp:revision>
  <dcterms:created xsi:type="dcterms:W3CDTF">2026-10-26T07:08:08Z</dcterms:created>
  <dcterms:modified xsi:type="dcterms:W3CDTF">2026-10-26T07:08:08Z</dcterms:modified>
</cp:coreProperties>
</file>