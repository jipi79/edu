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1b48d14-d996-a10a-e759-a5f693bdcd68}">
          <p14:sldIdLst>
            <p14:sldId id="256"/>
            <p14:sldId id="257"/>
          </p14:sldIdLst>
        </p14:section>
        <p14:section name="개념" id="{b0dbafd6-aa95-f0b9-5b23-b94567136a85}">
          <p14:sldIdLst>
            <p14:sldId id="258"/>
            <p14:sldId id="259"/>
            <p14:sldId id="262"/>
            <p14:sldId id="263"/>
          </p14:sldIdLst>
        </p14:section>
        <p14:section name="연습" id="{a4d4d28a-c23e-68f6-d0dc-c9b469467743}">
          <p14:sldIdLst>
            <p14:sldId id="260"/>
            <p14:sldId id="261"/>
            <p14:sldId id="264"/>
          </p14:sldIdLst>
        </p14:section>
        <p14:section name="개념" id="{d6340542-02f5-be15-0cb4-b63b0c799022}">
          <p14:sldIdLst/>
        </p14:section>
        <p14:section name="연습" id="{81f473db-75be-1f14-4812-7e89296ef44b}">
          <p14:sldIdLst/>
        </p14:section>
        <p14:section name="확인" id="{686233b3-4055-32de-ccc4-d6b2ac8ff917}">
          <p14:sldIdLst>
            <p14:sldId id="265"/>
            <p14:sldId id="266"/>
            <p14:sldId id="267"/>
          </p14:sldIdLst>
        </p14:section>
        <p14:section name="정리" id="{ee3136b9-0c4d-0c25-7f68-8ae975e6c109}">
          <p14:sldIdLst>
            <p14:sldId id="268"/>
          </p14:sldIdLst>
        </p14:section>
        <p14:section name="보충" id="{6ddf00b3-f0b4-8d03-155a-0657b5acdb9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모양 규칙이 수의 규칙으로 이어진다는 것을 느끼게 합니다.
시간: 약 2분
이렇게 말해 보세요
- “지난 시간에는 모양이 되풀이되는 규칙을 찾았지? 오늘은 수가 커지거나 작아지는 규칙을 찾아볼 거야.”
- “2, 4, 6, 8… 물음표에는 어떤 수가 올까?”
예상 답
- “9요.” / “10이요.”
주의
- 표지의 물음표에는 10이 옵니다. 9라고 해도 고치지 말고 S03에서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확인(100까지의 수, 반복 규칙)]
목적: 100까지 수의 순서와 묶음·낱개, 지난 차시의 반복 규칙을 기억하는지 확인합니다.
시간: 약 3분
이렇게 말해 보세요
- “①은 29 바로 다음에 오는 수야.”
- “②는 10개씩 묶음 5개와 낱개 3개를 수로 말해 볼래?”
- “③은 지난 시간처럼 되풀이되는 규칙이야.”
정답
- ① 30
- ② 53
- ③ ●
막히면
- ①을 ‘20’이나 ‘210’이라고 하면 바둑돌 묶음으로 29에 1개를 더해 보게 합니다.
- ①이나 ②를 틀리면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몇씩 커지는지 찾기]
목적: 이웃한 두 수를 비교해 몇씩 커지는지 찾는 방법을 수직선으로 보여 줍니다.
시간: 약 3분
이렇게 말해 보세요
- “2에서 4로 갈 때 수직선에서 몇 칸 뛰었어? 4에서 6은?”
- “매번 2칸씩 뛰었지? 그래서 ‘2씩 커져요’라고 해. 10 다음에는?”
예상 답
- “2칸이요.” “2씩 커져요.” “12요.”
막히면
- 바둑돌을 2개씩 더 놓으며 2, 4, 6, 8, 10을 세어 봅니다.
주의
- 뛴 칸을 셀 때 출발한 수는 세지 않습니다. 2에서 3, 4로 두 번 뛰었으니 2씩입니다(M4).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빈칸의 수 구하기 시범]
목적: 규칙을 먼저 찾고, 그 규칙으로 빈칸의 수를 구하는 순서를 시범으로 보여 줍니다.
시간: 약 4분
이렇게 말해 보세요
- “10, 20, 30… 이웃한 두 수는 얼마씩 차이가 나? 10개씩 묶음이 하나씩 늘었지?”
- “그러니까 빈칸은 30보다 10 큰 수야. 40! 그다음 50과도 맞는지 볼까?”
예상 답
- “10씩 커져요. 빈칸은 40이에요.”
막히면
- 바둑돌 10개 묶음을 하나씩 더 놓으며 열, 스물, 서른, 마흔, 쉰으로 셉니다.
주의
- 빈칸 다음 수(50)와도 규칙이 맞는지 확인하는 습관을 들입니다.
- 지치면 여기서 쉬고, 다음 날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연습(커지고 작아지는 수 배열)]
목적: 도움을 받으며 수 배열의 규칙을 찾아 빈칸의 수를 구합니다.
시간: 약 4분
이렇게 말해 보세요
- “①은 커져, 작아져? 몇씩 커져? 그럼 빈칸은?”
- “③은 수가 어떻게 돼? 거꾸로 세어 볼까?”
정답
- ① 9(2씩 커짐)
- ② 60(10씩 커짐)
- ③ 42(1씩 작아짐)
막히면
- ①은 수직선이나 손가락으로 2칸씩 뛰어 셉니다.
- ③에서 44나 46을 쓰면 “45, 44, 43… 커져, 작아져?”라고 먼저 묻습니다(M3).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비교(늘 1씩 커진다고 생각함)]
목적: 수 배열에서는 바로 다음 수가 아니라 규칙에 따라 빈칸을 채워야 한다는 것을 확인합니다(M1).
시간: 약 3분
이렇게 말해 보세요
- “토끼는 30 다음 수라서 31이래. 10, 20, 30은 1씩 커졌어?”
- “곰처럼 규칙을 먼저 찾으면 무엇이 와?”
예상 답
- “곰이요. 10씩 커지니까 40이에요.”
정답
- 곰이 맞습니다. 10, 20, 30은 10씩 커지므로 빈칸은 30보다 10 큰 40입니다. 31은 30보다 1 큰 수입니다.
막히면
- 토끼처럼 31을 넣고 “10, 20, 30, 31”을 읽어 보게 합니다. 마지막만 1씩 커져서 규칙이 깨진다는 것을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 배열표의 → 방향 규칙]
목적: 수 배열표에서 오른쪽으로 갈수록 1씩 커진다는 규칙을 찾습니다.
시간: 약 3분
이렇게 말해 보세요
- “주황 테두리 줄을 왼쪽부터 읽어 볼까? 오른쪽으로 한 칸 갈 때마다 수가 어떻게 돼?”
- “30 다음은 어디에 있어? 아랫줄 맨 앞에서 31로 이어져.”
예상 답
- “1씩 커져요.” “31은 아랫줄 처음에 있어요.”
막히면
- 종이 수 배열표에서 바둑돌을 한 칸씩 옮기며 수를 읽습니다.
주의
- 준비한 1~100 수 배열표가 있으면 함께 보면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수 배열표의 ↓ 방향 규칙]
목적: 수 배열표에서 아래로 한 칸 갈 때마다 10씩 커진다는 규칙을 찾습니다.
시간: 약 3분
이렇게 말해 보세요
- “24 바로 아래는 몇이야? 그 아래는?”
- “24, 34, 44… 낱개 4는 어때? 10개씩 묶음은?”
예상 답
- “34, 44예요.” “낱개는 4로 똑같고 묶음이 하나씩 많아져요. 10씩 커져요.”
막히면
- 24를 바둑돌 묶음 2개와 낱개 4개로 놓고, 묶음 하나를 더 놓으면 34가 되는 것을 보여 줍니다(M2).
주의
- 아래 칸을 1 큰 수(25)로 생각하는 실수가 많습니다(M2). 세로줄은 끝자리가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연습(수 배열표 빈칸)]
목적: 도움을 받으며 수 배열표의 규칙으로 빈칸의 수를 구합니다.
시간: 약 4분
이렇게 말해 보세요
- “첫째 줄의 물음표는 55 바로 다음이야. 몇일까?”
- “둘째 줄 물음표는 위의 53에서 아래로 한 칸 내려왔어. 몇 큰 수야?”
정답
- 첫째 줄 56, 둘째 줄 63과 70, 셋째 줄 78
막히면
- 옆의 수에서 1씩, 위의 수에서 10씩 세어 보게 합니다.
- 70은 69 다음 수이면서 60 바로 아래 수입니다. 두 가지로 확인하게 합니다.
주의
- 답이 맞으면 “어느 쪽 수를 보고 알았어?”라고 까닭을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수 배열의 규칙을 찾아 빈칸을 채우고, 수 배열표의 ↓ 규칙을 쓸 수 있는지 확인합니다.
시간: 약 4분
이렇게 말해 보세요
- “이번에는 혼자 해 볼래? 답을 말하기 전에 ‘몇씩 커져요(작아져요)’를 먼저 말해 줘.”
정답
- ① 10(2씩 커짐)
- ② 30(10씩 작아짐)
- ③ 57(아래로 10씩 커짐)
막히면
- 바로 알려 주지 말고 “이웃한 두 수를 비교해 볼까?”라고만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규칙부터 다시 말해 보자.”
정답
- ① 10 ② 30 ③ 57
막히면
- ①을 9라고 했다면 늘 1씩 커진다고 본 것입니다. S06으로 돌아갑니다(M1).
- ③을 48이라고 했다면 아래 칸을 1 큰 수로 본 것입니다. S08로 돌아갑니다(M2).
- ②를 50이나 31처럼 쓰면 작아지는 배열인지 먼저 확인합니다(M3).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확인(수 배열표의 → 방향)]
목적: 처음 보는 문제에서 수 배열표의 방향과 규칙을 거꾸로 생각할 수 있는지 확인합니다.
시간: 약 2분
이렇게 말해 보세요
- “62 바로 왼쪽에는 어떤 수가 있을까? 오른쪽으로 가면 1씩 커지니까, 왼쪽으로 가면?”
정답
- 가(61). 오른쪽으로 1씩 커지므로 왼쪽은 1 작은 수입니다. 63은 오른쪽, 52는 바로 위의 수입니다.
막히면
- 종이 수 배열표에서 62를 찾아 바둑돌을 올리고 왼쪽 칸을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“수 배열의 빈칸을 채울 때 무엇부터 해야 할까? 수 배열표에서 아래로 가면?”
예상 답
- “몇씩 커지는지 먼저 찾아요.” “아래로 가면 10씩 커져요.”
정답
- ① 11 ② 50 ③ 48(수 배열표에서)
막히면
- S08의 수 배열표를 다시 보며 세로줄을 함께 읽습니다.
주의
- 복습 세 문제는 다음 수업을 시작할 때 활동지 마지막 쪽과 함께 풉니다.
- 1학년 수학 계획의 마지막 차시입니다. 다음 수학 차시는 계획 순서상 2학년 ‘세 자리 수’이며, 1학년의 다른 단원 차시를 먼저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보충(1 큰 수, 10 큰 수)]
목적: S02에서 100까지 수의 순서나 묶음·낱개가 흔들리면, 1 큰 수와 10 큰 수를 수 모형(또는 바둑돌 묶음)으로 다시 확인합니다.
시간: 약 5분
이렇게 말해 보세요
- “34는 10개씩 묶음 몇 개와 낱개 몇 개야? 낱개를 하나 더 놓으면?”
- “이번에는 10개씩 묶음을 하나 더 놓으면 몇이 될까?”
정답
- 34에 낱개 1개를 더하면 35(1 큰 수), 묶음 1개를 더하면 44(10 큰 수)입니다.
막히면
- 바둑돌 10개를 컵에 담아 ‘묶음’ 대신 쓰고, 낱개는 컵 밖에 놓습니다.
주의
- 보충으로도 어려우면 ‘100까지의 수’(KR22-G01-MAT-NUM100-L01)를 먼저 다시 합니다. S02 ③의 모양 규칙이 흔들리면 ‘규칙 찾기’(KR22-G01-MAT-PATTERN-L01)를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 몇씩 커질까?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몇씩 커지는지 찾아 빈칸을 채워요.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 배열표의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다음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5개와 낱개 3개는?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■ ● ■ 다음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커질까요?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10을 수직선에서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다음에는 12가 와요.</a:t>
            </a:r>
            <a:endParaRPr lang="ko-KR" sz="3200" dirty="0"/>
          </a:p>
        </p:txBody>
      </p:sp>
      <p:sp>
        <p:nvSpPr>
          <p:cNvPr id="6" name="S03-line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20"/>
          <p:cNvSpPr/>
          <p:nvPr/>
        </p:nvSpPr>
        <p:spPr>
          <a:xfrm>
            <a:off x="181584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21"/>
          <p:cNvSpPr txBox="1"/>
          <p:nvPr/>
        </p:nvSpPr>
        <p:spPr>
          <a:xfrm>
            <a:off x="135864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3-line22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23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3-line24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25"/>
          <p:cNvSpPr txBox="1"/>
          <p:nvPr/>
        </p:nvSpPr>
        <p:spPr>
          <a:xfrm>
            <a:off x="307009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line2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2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3-line28"/>
          <p:cNvSpPr/>
          <p:nvPr/>
        </p:nvSpPr>
        <p:spPr>
          <a:xfrm>
            <a:off x="523875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29"/>
          <p:cNvSpPr txBox="1"/>
          <p:nvPr/>
        </p:nvSpPr>
        <p:spPr>
          <a:xfrm>
            <a:off x="478155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3-line30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1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3-line32"/>
          <p:cNvSpPr/>
          <p:nvPr/>
        </p:nvSpPr>
        <p:spPr>
          <a:xfrm>
            <a:off x="695020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3"/>
          <p:cNvSpPr txBox="1"/>
          <p:nvPr/>
        </p:nvSpPr>
        <p:spPr>
          <a:xfrm>
            <a:off x="649300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3-line3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5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3-line36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7"/>
          <p:cNvSpPr txBox="1"/>
          <p:nvPr/>
        </p:nvSpPr>
        <p:spPr>
          <a:xfrm>
            <a:off x="820445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3-line38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39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3-line40"/>
          <p:cNvSpPr/>
          <p:nvPr/>
        </p:nvSpPr>
        <p:spPr>
          <a:xfrm>
            <a:off x="1037310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1"/>
          <p:cNvSpPr txBox="1"/>
          <p:nvPr/>
        </p:nvSpPr>
        <p:spPr>
          <a:xfrm>
            <a:off x="991590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3-line42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3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3-mark44"/>
          <p:cNvSpPr/>
          <p:nvPr/>
        </p:nvSpPr>
        <p:spPr>
          <a:xfrm>
            <a:off x="258013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3-mark45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3-mark46"/>
          <p:cNvSpPr/>
          <p:nvPr/>
        </p:nvSpPr>
        <p:spPr>
          <a:xfrm>
            <a:off x="600303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03-mark4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03-mark48"/>
          <p:cNvSpPr/>
          <p:nvPr/>
        </p:nvSpPr>
        <p:spPr>
          <a:xfrm>
            <a:off x="942594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49"/>
          <p:cNvSpPr/>
          <p:nvPr/>
        </p:nvSpPr>
        <p:spPr>
          <a:xfrm flipV="1">
            <a:off x="267157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0"/>
          <p:cNvSpPr/>
          <p:nvPr/>
        </p:nvSpPr>
        <p:spPr>
          <a:xfrm>
            <a:off x="2671572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1"/>
          <p:cNvSpPr txBox="1"/>
          <p:nvPr/>
        </p:nvSpPr>
        <p:spPr>
          <a:xfrm>
            <a:off x="2671572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1" name="S03-line52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3"/>
          <p:cNvSpPr/>
          <p:nvPr/>
        </p:nvSpPr>
        <p:spPr>
          <a:xfrm>
            <a:off x="4383024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4"/>
          <p:cNvSpPr txBox="1"/>
          <p:nvPr/>
        </p:nvSpPr>
        <p:spPr>
          <a:xfrm>
            <a:off x="4383024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4" name="S03-line55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6"/>
          <p:cNvSpPr/>
          <p:nvPr/>
        </p:nvSpPr>
        <p:spPr>
          <a:xfrm>
            <a:off x="6094476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7"/>
          <p:cNvSpPr txBox="1"/>
          <p:nvPr/>
        </p:nvSpPr>
        <p:spPr>
          <a:xfrm>
            <a:off x="6094476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7" name="S03-line58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59"/>
          <p:cNvSpPr/>
          <p:nvPr/>
        </p:nvSpPr>
        <p:spPr>
          <a:xfrm>
            <a:off x="7805928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0"/>
          <p:cNvSpPr txBox="1"/>
          <p:nvPr/>
        </p:nvSpPr>
        <p:spPr>
          <a:xfrm>
            <a:off x="7805928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50" name="S03-figure61" descr="0부터 12까지 수직선. 2, 4, 6, 8, 10에 점이 있고 2칸씩 뛰는 화살표 4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빈칸의 수 구하기</a:t>
            </a:r>
            <a:endParaRPr lang="ko-KR" sz="4400" dirty="0"/>
          </a:p>
        </p:txBody>
      </p:sp>
      <p:sp>
        <p:nvSpPr>
          <p:cNvPr id="3" name="S04-card62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이웃한 두 수를 비교해요</a:t>
            </a:r>
            <a:endParaRPr lang="ko-KR" sz="3200" dirty="0"/>
          </a:p>
        </p:txBody>
      </p:sp>
      <p:sp>
        <p:nvSpPr>
          <p:cNvPr id="5" name="S04-card64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65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10씩 커지는 규칙이에요</a:t>
            </a:r>
            <a:endParaRPr lang="ko-KR" sz="3200" dirty="0"/>
          </a:p>
        </p:txBody>
      </p:sp>
      <p:sp>
        <p:nvSpPr>
          <p:cNvPr id="7" name="S04-card66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67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30보다 10 큰 수는 40</a:t>
            </a:r>
            <a:endParaRPr lang="ko-KR" sz="3200" dirty="0"/>
          </a:p>
        </p:txBody>
      </p:sp>
      <p:sp>
        <p:nvSpPr>
          <p:cNvPr id="9" name="S04-tile68"/>
          <p:cNvSpPr txBox="1"/>
          <p:nvPr/>
        </p:nvSpPr>
        <p:spPr>
          <a:xfrm>
            <a:off x="2263140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5900" dirty="0"/>
          </a:p>
        </p:txBody>
      </p:sp>
      <p:sp>
        <p:nvSpPr>
          <p:cNvPr id="10" name="S04-tile69"/>
          <p:cNvSpPr txBox="1"/>
          <p:nvPr/>
        </p:nvSpPr>
        <p:spPr>
          <a:xfrm>
            <a:off x="3835908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11" name="S04-tile70"/>
          <p:cNvSpPr txBox="1"/>
          <p:nvPr/>
        </p:nvSpPr>
        <p:spPr>
          <a:xfrm>
            <a:off x="5408676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5900" dirty="0"/>
          </a:p>
        </p:txBody>
      </p:sp>
      <p:sp>
        <p:nvSpPr>
          <p:cNvPr id="12" name="S04-tile71"/>
          <p:cNvSpPr txBox="1"/>
          <p:nvPr/>
        </p:nvSpPr>
        <p:spPr>
          <a:xfrm>
            <a:off x="6981444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3" name="S04-tile72"/>
          <p:cNvSpPr txBox="1"/>
          <p:nvPr/>
        </p:nvSpPr>
        <p:spPr>
          <a:xfrm>
            <a:off x="8554212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수는?</a:t>
            </a:r>
            <a:endParaRPr lang="ko-KR" sz="4400" dirty="0"/>
          </a:p>
        </p:txBody>
      </p:sp>
      <p:sp>
        <p:nvSpPr>
          <p:cNvPr id="3" name="S05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커지는지, 작아지는지, 몇씩인지 먼저 말해요.</a:t>
            </a:r>
            <a:endParaRPr lang="ko-KR" sz="3200" dirty="0"/>
          </a:p>
        </p:txBody>
      </p:sp>
      <p:sp>
        <p:nvSpPr>
          <p:cNvPr id="5" name="S05-tile75"/>
          <p:cNvSpPr txBox="1"/>
          <p:nvPr/>
        </p:nvSpPr>
        <p:spPr>
          <a:xfrm>
            <a:off x="219913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5-tile76"/>
          <p:cNvSpPr txBox="1"/>
          <p:nvPr/>
        </p:nvSpPr>
        <p:spPr>
          <a:xfrm>
            <a:off x="353110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7" name="S05-tile77"/>
          <p:cNvSpPr txBox="1"/>
          <p:nvPr/>
        </p:nvSpPr>
        <p:spPr>
          <a:xfrm>
            <a:off x="486308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8" name="S05-tile78"/>
          <p:cNvSpPr txBox="1"/>
          <p:nvPr/>
        </p:nvSpPr>
        <p:spPr>
          <a:xfrm>
            <a:off x="619506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9" name="S05-tile79"/>
          <p:cNvSpPr txBox="1"/>
          <p:nvPr/>
        </p:nvSpPr>
        <p:spPr>
          <a:xfrm>
            <a:off x="752703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10" name="S05-tile80"/>
          <p:cNvSpPr txBox="1"/>
          <p:nvPr/>
        </p:nvSpPr>
        <p:spPr>
          <a:xfrm>
            <a:off x="885901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1" name="S05-tile81"/>
          <p:cNvSpPr txBox="1"/>
          <p:nvPr/>
        </p:nvSpPr>
        <p:spPr>
          <a:xfrm>
            <a:off x="219913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2" name="S05-tile82"/>
          <p:cNvSpPr txBox="1"/>
          <p:nvPr/>
        </p:nvSpPr>
        <p:spPr>
          <a:xfrm>
            <a:off x="353110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4900" dirty="0"/>
          </a:p>
        </p:txBody>
      </p:sp>
      <p:sp>
        <p:nvSpPr>
          <p:cNvPr id="13" name="S05-tile83"/>
          <p:cNvSpPr txBox="1"/>
          <p:nvPr/>
        </p:nvSpPr>
        <p:spPr>
          <a:xfrm>
            <a:off x="486308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4900" dirty="0"/>
          </a:p>
        </p:txBody>
      </p:sp>
      <p:sp>
        <p:nvSpPr>
          <p:cNvPr id="14" name="S05-tile84"/>
          <p:cNvSpPr txBox="1"/>
          <p:nvPr/>
        </p:nvSpPr>
        <p:spPr>
          <a:xfrm>
            <a:off x="619506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4900" dirty="0"/>
          </a:p>
        </p:txBody>
      </p:sp>
      <p:sp>
        <p:nvSpPr>
          <p:cNvPr id="15" name="S05-tile85"/>
          <p:cNvSpPr txBox="1"/>
          <p:nvPr/>
        </p:nvSpPr>
        <p:spPr>
          <a:xfrm>
            <a:off x="752703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6" name="S05-tile86"/>
          <p:cNvSpPr txBox="1"/>
          <p:nvPr/>
        </p:nvSpPr>
        <p:spPr>
          <a:xfrm>
            <a:off x="885901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4900" dirty="0"/>
          </a:p>
        </p:txBody>
      </p:sp>
      <p:sp>
        <p:nvSpPr>
          <p:cNvPr id="17" name="S05-tile87"/>
          <p:cNvSpPr txBox="1"/>
          <p:nvPr/>
        </p:nvSpPr>
        <p:spPr>
          <a:xfrm>
            <a:off x="219913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18" name="S05-tile88"/>
          <p:cNvSpPr txBox="1"/>
          <p:nvPr/>
        </p:nvSpPr>
        <p:spPr>
          <a:xfrm>
            <a:off x="353110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4900" dirty="0"/>
          </a:p>
        </p:txBody>
      </p:sp>
      <p:sp>
        <p:nvSpPr>
          <p:cNvPr id="19" name="S05-tile89"/>
          <p:cNvSpPr txBox="1"/>
          <p:nvPr/>
        </p:nvSpPr>
        <p:spPr>
          <a:xfrm>
            <a:off x="486308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4900" dirty="0"/>
          </a:p>
        </p:txBody>
      </p:sp>
      <p:sp>
        <p:nvSpPr>
          <p:cNvPr id="20" name="S05-tile90"/>
          <p:cNvSpPr txBox="1"/>
          <p:nvPr/>
        </p:nvSpPr>
        <p:spPr>
          <a:xfrm>
            <a:off x="619506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4900" dirty="0"/>
          </a:p>
        </p:txBody>
      </p:sp>
      <p:sp>
        <p:nvSpPr>
          <p:cNvPr id="21" name="S05-tile91"/>
          <p:cNvSpPr txBox="1"/>
          <p:nvPr/>
        </p:nvSpPr>
        <p:spPr>
          <a:xfrm>
            <a:off x="752703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2" name="S05-tile92"/>
          <p:cNvSpPr txBox="1"/>
          <p:nvPr/>
        </p:nvSpPr>
        <p:spPr>
          <a:xfrm>
            <a:off x="885901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6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30, □에 들어갈 수는?</a:t>
            </a:r>
            <a:endParaRPr lang="ko-KR" sz="3200" dirty="0"/>
          </a:p>
        </p:txBody>
      </p:sp>
      <p:sp>
        <p:nvSpPr>
          <p:cNvPr id="5" name="S06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7" name="S06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31</a:t>
            </a:r>
            <a:endParaRPr lang="ko-KR" sz="2600" dirty="0"/>
          </a:p>
        </p:txBody>
      </p:sp>
      <p:sp>
        <p:nvSpPr>
          <p:cNvPr id="8" name="S06-text9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“30 다음 수는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31이에요.”</a:t>
            </a:r>
            <a:endParaRPr lang="ko-KR" sz="3200" dirty="0"/>
          </a:p>
        </p:txBody>
      </p:sp>
      <p:sp>
        <p:nvSpPr>
          <p:cNvPr id="9" name="S06-chip9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40</a:t>
            </a:r>
            <a:endParaRPr lang="ko-KR" sz="2600" dirty="0"/>
          </a:p>
        </p:txBody>
      </p:sp>
      <p:sp>
        <p:nvSpPr>
          <p:cNvPr id="10" name="S06-text10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“10씩 커지니까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</a:t>
            </a:r>
            <a:endParaRPr lang="ko-KR" sz="4400" dirty="0"/>
          </a:p>
        </p:txBody>
      </p:sp>
      <p:sp>
        <p:nvSpPr>
          <p:cNvPr id="3" name="S07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한 부분이에요.</a:t>
            </a:r>
            <a:endParaRPr lang="ko-KR" sz="3200" dirty="0"/>
          </a:p>
        </p:txBody>
      </p:sp>
      <p:sp>
        <p:nvSpPr>
          <p:cNvPr id="4" name="S07-card10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오른쪽으로 1씩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21, 22, 23, …, 30</a:t>
            </a:r>
            <a:endParaRPr lang="ko-KR" sz="3200" dirty="0"/>
          </a:p>
        </p:txBody>
      </p:sp>
      <p:sp>
        <p:nvSpPr>
          <p:cNvPr id="6" name="S07-tile104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7-tile105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7-tile106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7-tile107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7-tile108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7-tile109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7-tile110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7-tile111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7-tile112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7-tile113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7-tile114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7-tile115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7-tile116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7-tile117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7-tile118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7-tile119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7-tile120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7-tile121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7-tile122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7-tile123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7-tile124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7-tile125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7-tile126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7-tile127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7-tile128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7-tile129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7-tile130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7-tile131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7-tile132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7-tile133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가면</a:t>
            </a:r>
            <a:endParaRPr lang="ko-KR" sz="4400" dirty="0"/>
          </a:p>
        </p:txBody>
      </p:sp>
      <p:sp>
        <p:nvSpPr>
          <p:cNvPr id="3" name="S08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세로줄의 수를 봐요.</a:t>
            </a:r>
            <a:endParaRPr lang="ko-KR" sz="3200" dirty="0"/>
          </a:p>
        </p:txBody>
      </p:sp>
      <p:sp>
        <p:nvSpPr>
          <p:cNvPr id="4" name="S08-card1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아래로 10씩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 34, 44: 낱개는 그대로, 묶음이 하나씩 늘어요.</a:t>
            </a:r>
            <a:endParaRPr lang="ko-KR" sz="3200" dirty="0"/>
          </a:p>
        </p:txBody>
      </p:sp>
      <p:sp>
        <p:nvSpPr>
          <p:cNvPr id="6" name="S08-tile137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8-tile138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8-tile139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8-tile140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8-tile141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8-tile142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8-tile143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8-tile144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8-tile145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8-tile146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8-tile147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8-tile148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8-tile149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8-tile150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8-tile151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8-tile152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8-tile153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8-tile154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8-tile155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8-tile156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8-tile157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8-tile158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8-tile159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8-tile160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8-tile161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8-tile162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8-tile163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8-tile164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8-tile165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8-tile166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빈칸</a:t>
            </a:r>
            <a:endParaRPr lang="ko-KR" sz="4400" dirty="0"/>
          </a:p>
        </p:txBody>
      </p:sp>
      <p:sp>
        <p:nvSpPr>
          <p:cNvPr id="3" name="S09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→는 1씩, ↓는 10씩 커져요. ?에 알맞은 수는?</a:t>
            </a:r>
            <a:endParaRPr lang="ko-KR" sz="3200" dirty="0"/>
          </a:p>
        </p:txBody>
      </p:sp>
      <p:sp>
        <p:nvSpPr>
          <p:cNvPr id="5" name="S09-tile169"/>
          <p:cNvSpPr txBox="1"/>
          <p:nvPr/>
        </p:nvSpPr>
        <p:spPr>
          <a:xfrm>
            <a:off x="54864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ko-KR" sz="4000" dirty="0"/>
          </a:p>
        </p:txBody>
      </p:sp>
      <p:sp>
        <p:nvSpPr>
          <p:cNvPr id="6" name="S09-tile170"/>
          <p:cNvSpPr txBox="1"/>
          <p:nvPr/>
        </p:nvSpPr>
        <p:spPr>
          <a:xfrm>
            <a:off x="167792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4000" dirty="0"/>
          </a:p>
        </p:txBody>
      </p:sp>
      <p:sp>
        <p:nvSpPr>
          <p:cNvPr id="7" name="S09-tile171"/>
          <p:cNvSpPr txBox="1"/>
          <p:nvPr/>
        </p:nvSpPr>
        <p:spPr>
          <a:xfrm>
            <a:off x="280720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ko-KR" sz="4000" dirty="0"/>
          </a:p>
        </p:txBody>
      </p:sp>
      <p:sp>
        <p:nvSpPr>
          <p:cNvPr id="8" name="S09-tile172"/>
          <p:cNvSpPr txBox="1"/>
          <p:nvPr/>
        </p:nvSpPr>
        <p:spPr>
          <a:xfrm>
            <a:off x="393649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4000" dirty="0"/>
          </a:p>
        </p:txBody>
      </p:sp>
      <p:sp>
        <p:nvSpPr>
          <p:cNvPr id="9" name="S09-tile173"/>
          <p:cNvSpPr txBox="1"/>
          <p:nvPr/>
        </p:nvSpPr>
        <p:spPr>
          <a:xfrm>
            <a:off x="506577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ko-KR" sz="4000" dirty="0"/>
          </a:p>
        </p:txBody>
      </p:sp>
      <p:sp>
        <p:nvSpPr>
          <p:cNvPr id="10" name="S09-tile174"/>
          <p:cNvSpPr txBox="1"/>
          <p:nvPr/>
        </p:nvSpPr>
        <p:spPr>
          <a:xfrm>
            <a:off x="619506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1" name="S09-tile175"/>
          <p:cNvSpPr txBox="1"/>
          <p:nvPr/>
        </p:nvSpPr>
        <p:spPr>
          <a:xfrm>
            <a:off x="732434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ko-KR" sz="4000" dirty="0"/>
          </a:p>
        </p:txBody>
      </p:sp>
      <p:sp>
        <p:nvSpPr>
          <p:cNvPr id="12" name="S09-tile176"/>
          <p:cNvSpPr txBox="1"/>
          <p:nvPr/>
        </p:nvSpPr>
        <p:spPr>
          <a:xfrm>
            <a:off x="845362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4000" dirty="0"/>
          </a:p>
        </p:txBody>
      </p:sp>
      <p:sp>
        <p:nvSpPr>
          <p:cNvPr id="13" name="S09-tile177"/>
          <p:cNvSpPr txBox="1"/>
          <p:nvPr/>
        </p:nvSpPr>
        <p:spPr>
          <a:xfrm>
            <a:off x="958291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ko-KR" sz="4000" dirty="0"/>
          </a:p>
        </p:txBody>
      </p:sp>
      <p:sp>
        <p:nvSpPr>
          <p:cNvPr id="14" name="S09-tile178"/>
          <p:cNvSpPr txBox="1"/>
          <p:nvPr/>
        </p:nvSpPr>
        <p:spPr>
          <a:xfrm>
            <a:off x="1071219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4000" dirty="0"/>
          </a:p>
        </p:txBody>
      </p:sp>
      <p:sp>
        <p:nvSpPr>
          <p:cNvPr id="15" name="S09-tile179"/>
          <p:cNvSpPr txBox="1"/>
          <p:nvPr/>
        </p:nvSpPr>
        <p:spPr>
          <a:xfrm>
            <a:off x="54864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4000" dirty="0"/>
          </a:p>
        </p:txBody>
      </p:sp>
      <p:sp>
        <p:nvSpPr>
          <p:cNvPr id="16" name="S09-tile180"/>
          <p:cNvSpPr txBox="1"/>
          <p:nvPr/>
        </p:nvSpPr>
        <p:spPr>
          <a:xfrm>
            <a:off x="167792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ko-KR" sz="4000" dirty="0"/>
          </a:p>
        </p:txBody>
      </p:sp>
      <p:sp>
        <p:nvSpPr>
          <p:cNvPr id="17" name="S09-tile181"/>
          <p:cNvSpPr txBox="1"/>
          <p:nvPr/>
        </p:nvSpPr>
        <p:spPr>
          <a:xfrm>
            <a:off x="280720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09-tile182"/>
          <p:cNvSpPr txBox="1"/>
          <p:nvPr/>
        </p:nvSpPr>
        <p:spPr>
          <a:xfrm>
            <a:off x="393649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4000" dirty="0"/>
          </a:p>
        </p:txBody>
      </p:sp>
      <p:sp>
        <p:nvSpPr>
          <p:cNvPr id="19" name="S09-tile183"/>
          <p:cNvSpPr txBox="1"/>
          <p:nvPr/>
        </p:nvSpPr>
        <p:spPr>
          <a:xfrm>
            <a:off x="506577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ko-KR" sz="4000" dirty="0"/>
          </a:p>
        </p:txBody>
      </p:sp>
      <p:sp>
        <p:nvSpPr>
          <p:cNvPr id="20" name="S09-tile184"/>
          <p:cNvSpPr txBox="1"/>
          <p:nvPr/>
        </p:nvSpPr>
        <p:spPr>
          <a:xfrm>
            <a:off x="619506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ko-KR" sz="4000" dirty="0"/>
          </a:p>
        </p:txBody>
      </p:sp>
      <p:sp>
        <p:nvSpPr>
          <p:cNvPr id="21" name="S09-tile185"/>
          <p:cNvSpPr txBox="1"/>
          <p:nvPr/>
        </p:nvSpPr>
        <p:spPr>
          <a:xfrm>
            <a:off x="732434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ko-KR" sz="4000" dirty="0"/>
          </a:p>
        </p:txBody>
      </p:sp>
      <p:sp>
        <p:nvSpPr>
          <p:cNvPr id="22" name="S09-tile186"/>
          <p:cNvSpPr txBox="1"/>
          <p:nvPr/>
        </p:nvSpPr>
        <p:spPr>
          <a:xfrm>
            <a:off x="845362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ko-KR" sz="4000" dirty="0"/>
          </a:p>
        </p:txBody>
      </p:sp>
      <p:sp>
        <p:nvSpPr>
          <p:cNvPr id="23" name="S09-tile187"/>
          <p:cNvSpPr txBox="1"/>
          <p:nvPr/>
        </p:nvSpPr>
        <p:spPr>
          <a:xfrm>
            <a:off x="958291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ko-KR" sz="4000" dirty="0"/>
          </a:p>
        </p:txBody>
      </p:sp>
      <p:sp>
        <p:nvSpPr>
          <p:cNvPr id="24" name="S09-tile188"/>
          <p:cNvSpPr txBox="1"/>
          <p:nvPr/>
        </p:nvSpPr>
        <p:spPr>
          <a:xfrm>
            <a:off x="1071219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25" name="S09-tile189"/>
          <p:cNvSpPr txBox="1"/>
          <p:nvPr/>
        </p:nvSpPr>
        <p:spPr>
          <a:xfrm>
            <a:off x="54864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ko-KR" sz="4000" dirty="0"/>
          </a:p>
        </p:txBody>
      </p:sp>
      <p:sp>
        <p:nvSpPr>
          <p:cNvPr id="26" name="S09-tile190"/>
          <p:cNvSpPr txBox="1"/>
          <p:nvPr/>
        </p:nvSpPr>
        <p:spPr>
          <a:xfrm>
            <a:off x="167792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4000" dirty="0"/>
          </a:p>
        </p:txBody>
      </p:sp>
      <p:sp>
        <p:nvSpPr>
          <p:cNvPr id="27" name="S09-tile191"/>
          <p:cNvSpPr txBox="1"/>
          <p:nvPr/>
        </p:nvSpPr>
        <p:spPr>
          <a:xfrm>
            <a:off x="280720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4000" dirty="0"/>
          </a:p>
        </p:txBody>
      </p:sp>
      <p:sp>
        <p:nvSpPr>
          <p:cNvPr id="28" name="S09-tile192"/>
          <p:cNvSpPr txBox="1"/>
          <p:nvPr/>
        </p:nvSpPr>
        <p:spPr>
          <a:xfrm>
            <a:off x="393649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ko-KR" sz="4000" dirty="0"/>
          </a:p>
        </p:txBody>
      </p:sp>
      <p:sp>
        <p:nvSpPr>
          <p:cNvPr id="29" name="S09-tile193"/>
          <p:cNvSpPr txBox="1"/>
          <p:nvPr/>
        </p:nvSpPr>
        <p:spPr>
          <a:xfrm>
            <a:off x="506577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4000" dirty="0"/>
          </a:p>
        </p:txBody>
      </p:sp>
      <p:sp>
        <p:nvSpPr>
          <p:cNvPr id="30" name="S09-tile194"/>
          <p:cNvSpPr txBox="1"/>
          <p:nvPr/>
        </p:nvSpPr>
        <p:spPr>
          <a:xfrm>
            <a:off x="619506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4000" dirty="0"/>
          </a:p>
        </p:txBody>
      </p:sp>
      <p:sp>
        <p:nvSpPr>
          <p:cNvPr id="31" name="S09-tile195"/>
          <p:cNvSpPr txBox="1"/>
          <p:nvPr/>
        </p:nvSpPr>
        <p:spPr>
          <a:xfrm>
            <a:off x="732434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ko-KR" sz="4000" dirty="0"/>
          </a:p>
        </p:txBody>
      </p:sp>
      <p:sp>
        <p:nvSpPr>
          <p:cNvPr id="32" name="S09-tile196"/>
          <p:cNvSpPr txBox="1"/>
          <p:nvPr/>
        </p:nvSpPr>
        <p:spPr>
          <a:xfrm>
            <a:off x="845362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33" name="S09-tile197"/>
          <p:cNvSpPr txBox="1"/>
          <p:nvPr/>
        </p:nvSpPr>
        <p:spPr>
          <a:xfrm>
            <a:off x="958291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ko-KR" sz="4000" dirty="0"/>
          </a:p>
        </p:txBody>
      </p:sp>
      <p:sp>
        <p:nvSpPr>
          <p:cNvPr id="34" name="S09-tile198"/>
          <p:cNvSpPr txBox="1"/>
          <p:nvPr/>
        </p:nvSpPr>
        <p:spPr>
          <a:xfrm>
            <a:off x="1071219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9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20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알맞은 수는?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 배열표에서 47 바로 아래 수는?</a:t>
            </a:r>
            <a:endParaRPr lang="ko-KR" sz="3200" dirty="0"/>
          </a:p>
        </p:txBody>
      </p:sp>
      <p:sp>
        <p:nvSpPr>
          <p:cNvPr id="5" name="S10-tile201"/>
          <p:cNvSpPr txBox="1"/>
          <p:nvPr/>
        </p:nvSpPr>
        <p:spPr>
          <a:xfrm>
            <a:off x="147675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0-tile202"/>
          <p:cNvSpPr txBox="1"/>
          <p:nvPr/>
        </p:nvSpPr>
        <p:spPr>
          <a:xfrm>
            <a:off x="304952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5900" dirty="0"/>
          </a:p>
        </p:txBody>
      </p:sp>
      <p:sp>
        <p:nvSpPr>
          <p:cNvPr id="7" name="S10-tile203"/>
          <p:cNvSpPr txBox="1"/>
          <p:nvPr/>
        </p:nvSpPr>
        <p:spPr>
          <a:xfrm>
            <a:off x="462229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5900" dirty="0"/>
          </a:p>
        </p:txBody>
      </p:sp>
      <p:sp>
        <p:nvSpPr>
          <p:cNvPr id="8" name="S10-tile204"/>
          <p:cNvSpPr txBox="1"/>
          <p:nvPr/>
        </p:nvSpPr>
        <p:spPr>
          <a:xfrm>
            <a:off x="619506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5900" dirty="0"/>
          </a:p>
        </p:txBody>
      </p:sp>
      <p:sp>
        <p:nvSpPr>
          <p:cNvPr id="9" name="S10-tile205"/>
          <p:cNvSpPr txBox="1"/>
          <p:nvPr/>
        </p:nvSpPr>
        <p:spPr>
          <a:xfrm>
            <a:off x="776782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0" name="S10-tile206"/>
          <p:cNvSpPr txBox="1"/>
          <p:nvPr/>
        </p:nvSpPr>
        <p:spPr>
          <a:xfrm>
            <a:off x="934059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5900" dirty="0"/>
          </a:p>
        </p:txBody>
      </p:sp>
      <p:sp>
        <p:nvSpPr>
          <p:cNvPr id="11" name="S10-tile207"/>
          <p:cNvSpPr txBox="1"/>
          <p:nvPr/>
        </p:nvSpPr>
        <p:spPr>
          <a:xfrm>
            <a:off x="147675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2" name="S10-tile208"/>
          <p:cNvSpPr txBox="1"/>
          <p:nvPr/>
        </p:nvSpPr>
        <p:spPr>
          <a:xfrm>
            <a:off x="304952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5900" dirty="0"/>
          </a:p>
        </p:txBody>
      </p:sp>
      <p:sp>
        <p:nvSpPr>
          <p:cNvPr id="13" name="S10-tile209"/>
          <p:cNvSpPr txBox="1"/>
          <p:nvPr/>
        </p:nvSpPr>
        <p:spPr>
          <a:xfrm>
            <a:off x="462229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14" name="S10-tile210"/>
          <p:cNvSpPr txBox="1"/>
          <p:nvPr/>
        </p:nvSpPr>
        <p:spPr>
          <a:xfrm>
            <a:off x="619506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5900" dirty="0"/>
          </a:p>
        </p:txBody>
      </p:sp>
      <p:sp>
        <p:nvSpPr>
          <p:cNvPr id="15" name="S10-tile211"/>
          <p:cNvSpPr txBox="1"/>
          <p:nvPr/>
        </p:nvSpPr>
        <p:spPr>
          <a:xfrm>
            <a:off x="776782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6" name="S10-tile212"/>
          <p:cNvSpPr txBox="1"/>
          <p:nvPr/>
        </p:nvSpPr>
        <p:spPr>
          <a:xfrm>
            <a:off x="934059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1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1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규칙(몇씩)을 먼저 말하게 한 뒤 다시 채우게 하세요.</a:t>
            </a:r>
            <a:endParaRPr lang="ko-KR" sz="3200" dirty="0"/>
          </a:p>
        </p:txBody>
      </p:sp>
      <p:sp>
        <p:nvSpPr>
          <p:cNvPr id="5" name="S11-chip21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1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</a:t>
            </a:r>
            <a:endParaRPr lang="ko-KR" sz="3200" dirty="0"/>
          </a:p>
        </p:txBody>
      </p:sp>
      <p:sp>
        <p:nvSpPr>
          <p:cNvPr id="7" name="S11-text21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커짐</a:t>
            </a:r>
            <a:endParaRPr lang="ko-KR" sz="2600" dirty="0"/>
          </a:p>
        </p:txBody>
      </p:sp>
      <p:sp>
        <p:nvSpPr>
          <p:cNvPr id="8" name="S11-text21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</a:t>
            </a:r>
            <a:endParaRPr lang="ko-KR" sz="3200" dirty="0"/>
          </a:p>
        </p:txBody>
      </p:sp>
      <p:sp>
        <p:nvSpPr>
          <p:cNvPr id="9" name="S11-text21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10씩 작아짐</a:t>
            </a:r>
            <a:endParaRPr lang="ko-KR" sz="2600" dirty="0"/>
          </a:p>
        </p:txBody>
      </p:sp>
      <p:sp>
        <p:nvSpPr>
          <p:cNvPr id="10" name="S11-text22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57</a:t>
            </a:r>
            <a:endParaRPr lang="ko-KR" sz="3200" dirty="0"/>
          </a:p>
        </p:txBody>
      </p:sp>
      <p:sp>
        <p:nvSpPr>
          <p:cNvPr id="11" name="S11-text22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10씩 커짐</a:t>
            </a:r>
            <a:endParaRPr lang="ko-KR" sz="2600" dirty="0"/>
          </a:p>
        </p:txBody>
      </p:sp>
      <p:sp>
        <p:nvSpPr>
          <p:cNvPr id="12" name="S11-chip2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</a:t>
            </a:r>
            <a:endParaRPr lang="ko-KR" sz="3200" dirty="0"/>
          </a:p>
        </p:txBody>
      </p:sp>
      <p:sp>
        <p:nvSpPr>
          <p:cNvPr id="14" name="S11-text2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1씩으로 봄</a:t>
            </a:r>
            <a:endParaRPr lang="ko-KR" sz="2600" dirty="0"/>
          </a:p>
        </p:txBody>
      </p:sp>
      <p:sp>
        <p:nvSpPr>
          <p:cNvPr id="15" name="S11-text2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48</a:t>
            </a:r>
            <a:endParaRPr lang="ko-KR" sz="3200" dirty="0"/>
          </a:p>
        </p:txBody>
      </p:sp>
      <p:sp>
        <p:nvSpPr>
          <p:cNvPr id="16" name="S11-text2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↓를 1씩으로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바로 왼쪽의 수는?</a:t>
            </a:r>
            <a:endParaRPr lang="ko-KR" sz="4400" dirty="0"/>
          </a:p>
        </p:txBody>
      </p:sp>
      <p:sp>
        <p:nvSpPr>
          <p:cNvPr id="3" name="S12-text2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배열표를 떠올려 봐요.</a:t>
            </a:r>
            <a:endParaRPr lang="ko-KR" sz="3200" dirty="0"/>
          </a:p>
        </p:txBody>
      </p:sp>
      <p:sp>
        <p:nvSpPr>
          <p:cNvPr id="4" name="S12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3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3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3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3200" dirty="0"/>
          </a:p>
        </p:txBody>
      </p:sp>
      <p:sp>
        <p:nvSpPr>
          <p:cNvPr id="9" name="S12-chip23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3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3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3200" dirty="0"/>
          </a:p>
        </p:txBody>
      </p:sp>
      <p:sp>
        <p:nvSpPr>
          <p:cNvPr id="12" name="S12-chip23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3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3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수를 비교해 몇씩 커지는지 먼저 찾아요.</a:t>
            </a:r>
            <a:endParaRPr lang="ko-KR" sz="3200" dirty="0"/>
          </a:p>
        </p:txBody>
      </p:sp>
      <p:sp>
        <p:nvSpPr>
          <p:cNvPr id="5" name="S13-chip24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규칙 먼저 말하기</a:t>
            </a:r>
            <a:endParaRPr lang="ko-KR" sz="2600" dirty="0"/>
          </a:p>
        </p:txBody>
      </p:sp>
      <p:sp>
        <p:nvSpPr>
          <p:cNvPr id="6" name="S13-chip24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무조건 1 큰 수 쓰기</a:t>
            </a:r>
            <a:endParaRPr lang="ko-KR" sz="2600" dirty="0"/>
          </a:p>
        </p:txBody>
      </p:sp>
      <p:sp>
        <p:nvSpPr>
          <p:cNvPr id="7" name="S13-text24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24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5, 7, 9, □</a:t>
            </a:r>
            <a:endParaRPr lang="ko-KR" sz="2600" dirty="0"/>
          </a:p>
        </p:txBody>
      </p:sp>
      <p:sp>
        <p:nvSpPr>
          <p:cNvPr id="9" name="S13-text24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30, 40, □</a:t>
            </a:r>
            <a:endParaRPr lang="ko-KR" sz="2600" dirty="0"/>
          </a:p>
        </p:txBody>
      </p:sp>
      <p:sp>
        <p:nvSpPr>
          <p:cNvPr id="10" name="S13-text24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38 바로 아래 수는?</a:t>
            </a:r>
            <a:endParaRPr lang="ko-KR" sz="2600" dirty="0"/>
          </a:p>
        </p:txBody>
      </p:sp>
      <p:sp>
        <p:nvSpPr>
          <p:cNvPr id="11" name="S13-text24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4-card24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24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낱개가 하나 늘면 1 큰 수, 묶음이 하나 늘면 10 큰 수예요.</a:t>
            </a:r>
            <a:endParaRPr lang="ko-KR" sz="3200" dirty="0"/>
          </a:p>
        </p:txBody>
      </p:sp>
      <p:sp>
        <p:nvSpPr>
          <p:cNvPr id="5" name="S14-rod250"/>
          <p:cNvSpPr/>
          <p:nvPr/>
        </p:nvSpPr>
        <p:spPr>
          <a:xfrm>
            <a:off x="1462462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line251"/>
          <p:cNvSpPr/>
          <p:nvPr/>
        </p:nvSpPr>
        <p:spPr>
          <a:xfrm>
            <a:off x="1462462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4-line252"/>
          <p:cNvSpPr/>
          <p:nvPr/>
        </p:nvSpPr>
        <p:spPr>
          <a:xfrm>
            <a:off x="1462462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53"/>
          <p:cNvSpPr/>
          <p:nvPr/>
        </p:nvSpPr>
        <p:spPr>
          <a:xfrm>
            <a:off x="1462462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54"/>
          <p:cNvSpPr/>
          <p:nvPr/>
        </p:nvSpPr>
        <p:spPr>
          <a:xfrm>
            <a:off x="1462462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55"/>
          <p:cNvSpPr/>
          <p:nvPr/>
        </p:nvSpPr>
        <p:spPr>
          <a:xfrm>
            <a:off x="1462462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56"/>
          <p:cNvSpPr/>
          <p:nvPr/>
        </p:nvSpPr>
        <p:spPr>
          <a:xfrm>
            <a:off x="1462462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57"/>
          <p:cNvSpPr/>
          <p:nvPr/>
        </p:nvSpPr>
        <p:spPr>
          <a:xfrm>
            <a:off x="1462462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58"/>
          <p:cNvSpPr/>
          <p:nvPr/>
        </p:nvSpPr>
        <p:spPr>
          <a:xfrm>
            <a:off x="1462462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59"/>
          <p:cNvSpPr/>
          <p:nvPr/>
        </p:nvSpPr>
        <p:spPr>
          <a:xfrm>
            <a:off x="1462462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rod260"/>
          <p:cNvSpPr/>
          <p:nvPr/>
        </p:nvSpPr>
        <p:spPr>
          <a:xfrm>
            <a:off x="1896881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line261"/>
          <p:cNvSpPr/>
          <p:nvPr/>
        </p:nvSpPr>
        <p:spPr>
          <a:xfrm>
            <a:off x="1896881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262"/>
          <p:cNvSpPr/>
          <p:nvPr/>
        </p:nvSpPr>
        <p:spPr>
          <a:xfrm>
            <a:off x="1896881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263"/>
          <p:cNvSpPr/>
          <p:nvPr/>
        </p:nvSpPr>
        <p:spPr>
          <a:xfrm>
            <a:off x="1896881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264"/>
          <p:cNvSpPr/>
          <p:nvPr/>
        </p:nvSpPr>
        <p:spPr>
          <a:xfrm>
            <a:off x="1896881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265"/>
          <p:cNvSpPr/>
          <p:nvPr/>
        </p:nvSpPr>
        <p:spPr>
          <a:xfrm>
            <a:off x="1896881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266"/>
          <p:cNvSpPr/>
          <p:nvPr/>
        </p:nvSpPr>
        <p:spPr>
          <a:xfrm>
            <a:off x="1896881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267"/>
          <p:cNvSpPr/>
          <p:nvPr/>
        </p:nvSpPr>
        <p:spPr>
          <a:xfrm>
            <a:off x="1896881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268"/>
          <p:cNvSpPr/>
          <p:nvPr/>
        </p:nvSpPr>
        <p:spPr>
          <a:xfrm>
            <a:off x="1896881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269"/>
          <p:cNvSpPr/>
          <p:nvPr/>
        </p:nvSpPr>
        <p:spPr>
          <a:xfrm>
            <a:off x="1896881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rod270"/>
          <p:cNvSpPr/>
          <p:nvPr/>
        </p:nvSpPr>
        <p:spPr>
          <a:xfrm>
            <a:off x="2331299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line271"/>
          <p:cNvSpPr/>
          <p:nvPr/>
        </p:nvSpPr>
        <p:spPr>
          <a:xfrm>
            <a:off x="2331299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272"/>
          <p:cNvSpPr/>
          <p:nvPr/>
        </p:nvSpPr>
        <p:spPr>
          <a:xfrm>
            <a:off x="2331299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273"/>
          <p:cNvSpPr/>
          <p:nvPr/>
        </p:nvSpPr>
        <p:spPr>
          <a:xfrm>
            <a:off x="2331299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274"/>
          <p:cNvSpPr/>
          <p:nvPr/>
        </p:nvSpPr>
        <p:spPr>
          <a:xfrm>
            <a:off x="2331299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275"/>
          <p:cNvSpPr/>
          <p:nvPr/>
        </p:nvSpPr>
        <p:spPr>
          <a:xfrm>
            <a:off x="2331299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276"/>
          <p:cNvSpPr/>
          <p:nvPr/>
        </p:nvSpPr>
        <p:spPr>
          <a:xfrm>
            <a:off x="2331299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277"/>
          <p:cNvSpPr/>
          <p:nvPr/>
        </p:nvSpPr>
        <p:spPr>
          <a:xfrm>
            <a:off x="2331299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278"/>
          <p:cNvSpPr/>
          <p:nvPr/>
        </p:nvSpPr>
        <p:spPr>
          <a:xfrm>
            <a:off x="2331299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279"/>
          <p:cNvSpPr/>
          <p:nvPr/>
        </p:nvSpPr>
        <p:spPr>
          <a:xfrm>
            <a:off x="2331299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unit280"/>
          <p:cNvSpPr/>
          <p:nvPr/>
        </p:nvSpPr>
        <p:spPr>
          <a:xfrm>
            <a:off x="2765717" y="375590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4-unit281"/>
          <p:cNvSpPr/>
          <p:nvPr/>
        </p:nvSpPr>
        <p:spPr>
          <a:xfrm>
            <a:off x="2765717" y="341651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unit282"/>
          <p:cNvSpPr/>
          <p:nvPr/>
        </p:nvSpPr>
        <p:spPr>
          <a:xfrm>
            <a:off x="2765717" y="3077128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4-unit283"/>
          <p:cNvSpPr/>
          <p:nvPr/>
        </p:nvSpPr>
        <p:spPr>
          <a:xfrm>
            <a:off x="2765717" y="2737739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figure284" descr="수 모형: 10개씩 묶음 3개, 낱개 4개(34)"/>
          <p:cNvSpPr/>
          <p:nvPr/>
        </p:nvSpPr>
        <p:spPr>
          <a:xfrm>
            <a:off x="548640" y="13801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14-label285"/>
          <p:cNvSpPr txBox="1"/>
          <p:nvPr/>
        </p:nvSpPr>
        <p:spPr>
          <a:xfrm>
            <a:off x="548640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600" dirty="0"/>
          </a:p>
        </p:txBody>
      </p:sp>
      <p:sp>
        <p:nvSpPr>
          <p:cNvPr id="41" name="S14-rod286"/>
          <p:cNvSpPr/>
          <p:nvPr/>
        </p:nvSpPr>
        <p:spPr>
          <a:xfrm>
            <a:off x="5266366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line287"/>
          <p:cNvSpPr/>
          <p:nvPr/>
        </p:nvSpPr>
        <p:spPr>
          <a:xfrm>
            <a:off x="5266366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288"/>
          <p:cNvSpPr/>
          <p:nvPr/>
        </p:nvSpPr>
        <p:spPr>
          <a:xfrm>
            <a:off x="5266366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289"/>
          <p:cNvSpPr/>
          <p:nvPr/>
        </p:nvSpPr>
        <p:spPr>
          <a:xfrm>
            <a:off x="5266366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290"/>
          <p:cNvSpPr/>
          <p:nvPr/>
        </p:nvSpPr>
        <p:spPr>
          <a:xfrm>
            <a:off x="5266366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291"/>
          <p:cNvSpPr/>
          <p:nvPr/>
        </p:nvSpPr>
        <p:spPr>
          <a:xfrm>
            <a:off x="5266366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292"/>
          <p:cNvSpPr/>
          <p:nvPr/>
        </p:nvSpPr>
        <p:spPr>
          <a:xfrm>
            <a:off x="5266366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293"/>
          <p:cNvSpPr/>
          <p:nvPr/>
        </p:nvSpPr>
        <p:spPr>
          <a:xfrm>
            <a:off x="5266366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294"/>
          <p:cNvSpPr/>
          <p:nvPr/>
        </p:nvSpPr>
        <p:spPr>
          <a:xfrm>
            <a:off x="5266366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295"/>
          <p:cNvSpPr/>
          <p:nvPr/>
        </p:nvSpPr>
        <p:spPr>
          <a:xfrm>
            <a:off x="5266366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rod296"/>
          <p:cNvSpPr/>
          <p:nvPr/>
        </p:nvSpPr>
        <p:spPr>
          <a:xfrm>
            <a:off x="5700785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line297"/>
          <p:cNvSpPr/>
          <p:nvPr/>
        </p:nvSpPr>
        <p:spPr>
          <a:xfrm>
            <a:off x="5700785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298"/>
          <p:cNvSpPr/>
          <p:nvPr/>
        </p:nvSpPr>
        <p:spPr>
          <a:xfrm>
            <a:off x="5700785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299"/>
          <p:cNvSpPr/>
          <p:nvPr/>
        </p:nvSpPr>
        <p:spPr>
          <a:xfrm>
            <a:off x="5700785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300"/>
          <p:cNvSpPr/>
          <p:nvPr/>
        </p:nvSpPr>
        <p:spPr>
          <a:xfrm>
            <a:off x="5700785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301"/>
          <p:cNvSpPr/>
          <p:nvPr/>
        </p:nvSpPr>
        <p:spPr>
          <a:xfrm>
            <a:off x="5700785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302"/>
          <p:cNvSpPr/>
          <p:nvPr/>
        </p:nvSpPr>
        <p:spPr>
          <a:xfrm>
            <a:off x="5700785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303"/>
          <p:cNvSpPr/>
          <p:nvPr/>
        </p:nvSpPr>
        <p:spPr>
          <a:xfrm>
            <a:off x="5700785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304"/>
          <p:cNvSpPr/>
          <p:nvPr/>
        </p:nvSpPr>
        <p:spPr>
          <a:xfrm>
            <a:off x="5700785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305"/>
          <p:cNvSpPr/>
          <p:nvPr/>
        </p:nvSpPr>
        <p:spPr>
          <a:xfrm>
            <a:off x="5700785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rod306"/>
          <p:cNvSpPr/>
          <p:nvPr/>
        </p:nvSpPr>
        <p:spPr>
          <a:xfrm>
            <a:off x="6135203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4-line307"/>
          <p:cNvSpPr/>
          <p:nvPr/>
        </p:nvSpPr>
        <p:spPr>
          <a:xfrm>
            <a:off x="6135203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308"/>
          <p:cNvSpPr/>
          <p:nvPr/>
        </p:nvSpPr>
        <p:spPr>
          <a:xfrm>
            <a:off x="6135203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309"/>
          <p:cNvSpPr/>
          <p:nvPr/>
        </p:nvSpPr>
        <p:spPr>
          <a:xfrm>
            <a:off x="6135203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310"/>
          <p:cNvSpPr/>
          <p:nvPr/>
        </p:nvSpPr>
        <p:spPr>
          <a:xfrm>
            <a:off x="6135203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311"/>
          <p:cNvSpPr/>
          <p:nvPr/>
        </p:nvSpPr>
        <p:spPr>
          <a:xfrm>
            <a:off x="6135203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312"/>
          <p:cNvSpPr/>
          <p:nvPr/>
        </p:nvSpPr>
        <p:spPr>
          <a:xfrm>
            <a:off x="6135203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ine313"/>
          <p:cNvSpPr/>
          <p:nvPr/>
        </p:nvSpPr>
        <p:spPr>
          <a:xfrm>
            <a:off x="6135203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4-line314"/>
          <p:cNvSpPr/>
          <p:nvPr/>
        </p:nvSpPr>
        <p:spPr>
          <a:xfrm>
            <a:off x="6135203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4-line315"/>
          <p:cNvSpPr/>
          <p:nvPr/>
        </p:nvSpPr>
        <p:spPr>
          <a:xfrm>
            <a:off x="6135203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4-unit316"/>
          <p:cNvSpPr/>
          <p:nvPr/>
        </p:nvSpPr>
        <p:spPr>
          <a:xfrm>
            <a:off x="6569621" y="375590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17"/>
          <p:cNvSpPr/>
          <p:nvPr/>
        </p:nvSpPr>
        <p:spPr>
          <a:xfrm>
            <a:off x="6569621" y="341651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18"/>
          <p:cNvSpPr/>
          <p:nvPr/>
        </p:nvSpPr>
        <p:spPr>
          <a:xfrm>
            <a:off x="6569621" y="3077128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19"/>
          <p:cNvSpPr/>
          <p:nvPr/>
        </p:nvSpPr>
        <p:spPr>
          <a:xfrm>
            <a:off x="6569621" y="2737739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20"/>
          <p:cNvSpPr/>
          <p:nvPr/>
        </p:nvSpPr>
        <p:spPr>
          <a:xfrm>
            <a:off x="6569621" y="2398350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figure321" descr="수 모형: 10개씩 묶음 3개, 낱개 5개(35)"/>
          <p:cNvSpPr/>
          <p:nvPr/>
        </p:nvSpPr>
        <p:spPr>
          <a:xfrm>
            <a:off x="4352544" y="13801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14-label322"/>
          <p:cNvSpPr txBox="1"/>
          <p:nvPr/>
        </p:nvSpPr>
        <p:spPr>
          <a:xfrm>
            <a:off x="4352544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35(1 큰 수)</a:t>
            </a:r>
            <a:endParaRPr lang="ko-KR" sz="2600" dirty="0"/>
          </a:p>
        </p:txBody>
      </p:sp>
      <p:sp>
        <p:nvSpPr>
          <p:cNvPr id="78" name="S14-rod323"/>
          <p:cNvSpPr/>
          <p:nvPr/>
        </p:nvSpPr>
        <p:spPr>
          <a:xfrm>
            <a:off x="8853061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14-line324"/>
          <p:cNvSpPr/>
          <p:nvPr/>
        </p:nvSpPr>
        <p:spPr>
          <a:xfrm>
            <a:off x="8853061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4-line325"/>
          <p:cNvSpPr/>
          <p:nvPr/>
        </p:nvSpPr>
        <p:spPr>
          <a:xfrm>
            <a:off x="8853061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4-line326"/>
          <p:cNvSpPr/>
          <p:nvPr/>
        </p:nvSpPr>
        <p:spPr>
          <a:xfrm>
            <a:off x="8853061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27"/>
          <p:cNvSpPr/>
          <p:nvPr/>
        </p:nvSpPr>
        <p:spPr>
          <a:xfrm>
            <a:off x="8853061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28"/>
          <p:cNvSpPr/>
          <p:nvPr/>
        </p:nvSpPr>
        <p:spPr>
          <a:xfrm>
            <a:off x="8853061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29"/>
          <p:cNvSpPr/>
          <p:nvPr/>
        </p:nvSpPr>
        <p:spPr>
          <a:xfrm>
            <a:off x="8853061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30"/>
          <p:cNvSpPr/>
          <p:nvPr/>
        </p:nvSpPr>
        <p:spPr>
          <a:xfrm>
            <a:off x="8853061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31"/>
          <p:cNvSpPr/>
          <p:nvPr/>
        </p:nvSpPr>
        <p:spPr>
          <a:xfrm>
            <a:off x="8853061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32"/>
          <p:cNvSpPr/>
          <p:nvPr/>
        </p:nvSpPr>
        <p:spPr>
          <a:xfrm>
            <a:off x="8853061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rod333"/>
          <p:cNvSpPr/>
          <p:nvPr/>
        </p:nvSpPr>
        <p:spPr>
          <a:xfrm>
            <a:off x="9287479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14-line334"/>
          <p:cNvSpPr/>
          <p:nvPr/>
        </p:nvSpPr>
        <p:spPr>
          <a:xfrm>
            <a:off x="9287479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335"/>
          <p:cNvSpPr/>
          <p:nvPr/>
        </p:nvSpPr>
        <p:spPr>
          <a:xfrm>
            <a:off x="9287479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336"/>
          <p:cNvSpPr/>
          <p:nvPr/>
        </p:nvSpPr>
        <p:spPr>
          <a:xfrm>
            <a:off x="9287479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37"/>
          <p:cNvSpPr/>
          <p:nvPr/>
        </p:nvSpPr>
        <p:spPr>
          <a:xfrm>
            <a:off x="9287479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38"/>
          <p:cNvSpPr/>
          <p:nvPr/>
        </p:nvSpPr>
        <p:spPr>
          <a:xfrm>
            <a:off x="9287479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39"/>
          <p:cNvSpPr/>
          <p:nvPr/>
        </p:nvSpPr>
        <p:spPr>
          <a:xfrm>
            <a:off x="9287479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40"/>
          <p:cNvSpPr/>
          <p:nvPr/>
        </p:nvSpPr>
        <p:spPr>
          <a:xfrm>
            <a:off x="9287479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41"/>
          <p:cNvSpPr/>
          <p:nvPr/>
        </p:nvSpPr>
        <p:spPr>
          <a:xfrm>
            <a:off x="9287479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42"/>
          <p:cNvSpPr/>
          <p:nvPr/>
        </p:nvSpPr>
        <p:spPr>
          <a:xfrm>
            <a:off x="9287479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rod343"/>
          <p:cNvSpPr/>
          <p:nvPr/>
        </p:nvSpPr>
        <p:spPr>
          <a:xfrm>
            <a:off x="9721898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14-line344"/>
          <p:cNvSpPr/>
          <p:nvPr/>
        </p:nvSpPr>
        <p:spPr>
          <a:xfrm>
            <a:off x="9721898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345"/>
          <p:cNvSpPr/>
          <p:nvPr/>
        </p:nvSpPr>
        <p:spPr>
          <a:xfrm>
            <a:off x="9721898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346"/>
          <p:cNvSpPr/>
          <p:nvPr/>
        </p:nvSpPr>
        <p:spPr>
          <a:xfrm>
            <a:off x="9721898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47"/>
          <p:cNvSpPr/>
          <p:nvPr/>
        </p:nvSpPr>
        <p:spPr>
          <a:xfrm>
            <a:off x="9721898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48"/>
          <p:cNvSpPr/>
          <p:nvPr/>
        </p:nvSpPr>
        <p:spPr>
          <a:xfrm>
            <a:off x="9721898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49"/>
          <p:cNvSpPr/>
          <p:nvPr/>
        </p:nvSpPr>
        <p:spPr>
          <a:xfrm>
            <a:off x="9721898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50"/>
          <p:cNvSpPr/>
          <p:nvPr/>
        </p:nvSpPr>
        <p:spPr>
          <a:xfrm>
            <a:off x="9721898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51"/>
          <p:cNvSpPr/>
          <p:nvPr/>
        </p:nvSpPr>
        <p:spPr>
          <a:xfrm>
            <a:off x="9721898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52"/>
          <p:cNvSpPr/>
          <p:nvPr/>
        </p:nvSpPr>
        <p:spPr>
          <a:xfrm>
            <a:off x="9721898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rod353"/>
          <p:cNvSpPr/>
          <p:nvPr/>
        </p:nvSpPr>
        <p:spPr>
          <a:xfrm>
            <a:off x="10156316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14-line354"/>
          <p:cNvSpPr/>
          <p:nvPr/>
        </p:nvSpPr>
        <p:spPr>
          <a:xfrm>
            <a:off x="10156316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355"/>
          <p:cNvSpPr/>
          <p:nvPr/>
        </p:nvSpPr>
        <p:spPr>
          <a:xfrm>
            <a:off x="10156316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356"/>
          <p:cNvSpPr/>
          <p:nvPr/>
        </p:nvSpPr>
        <p:spPr>
          <a:xfrm>
            <a:off x="10156316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57"/>
          <p:cNvSpPr/>
          <p:nvPr/>
        </p:nvSpPr>
        <p:spPr>
          <a:xfrm>
            <a:off x="10156316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58"/>
          <p:cNvSpPr/>
          <p:nvPr/>
        </p:nvSpPr>
        <p:spPr>
          <a:xfrm>
            <a:off x="10156316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59"/>
          <p:cNvSpPr/>
          <p:nvPr/>
        </p:nvSpPr>
        <p:spPr>
          <a:xfrm>
            <a:off x="10156316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60"/>
          <p:cNvSpPr/>
          <p:nvPr/>
        </p:nvSpPr>
        <p:spPr>
          <a:xfrm>
            <a:off x="10156316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61"/>
          <p:cNvSpPr/>
          <p:nvPr/>
        </p:nvSpPr>
        <p:spPr>
          <a:xfrm>
            <a:off x="10156316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362"/>
          <p:cNvSpPr/>
          <p:nvPr/>
        </p:nvSpPr>
        <p:spPr>
          <a:xfrm>
            <a:off x="10156316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unit363"/>
          <p:cNvSpPr/>
          <p:nvPr/>
        </p:nvSpPr>
        <p:spPr>
          <a:xfrm>
            <a:off x="10590734" y="375590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4-unit364"/>
          <p:cNvSpPr/>
          <p:nvPr/>
        </p:nvSpPr>
        <p:spPr>
          <a:xfrm>
            <a:off x="10590734" y="341651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4-unit365"/>
          <p:cNvSpPr/>
          <p:nvPr/>
        </p:nvSpPr>
        <p:spPr>
          <a:xfrm>
            <a:off x="10590734" y="3077128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unit366"/>
          <p:cNvSpPr/>
          <p:nvPr/>
        </p:nvSpPr>
        <p:spPr>
          <a:xfrm>
            <a:off x="10590734" y="2737739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4-figure367" descr="수 모형: 10개씩 묶음 4개, 낱개 4개(44)"/>
          <p:cNvSpPr/>
          <p:nvPr/>
        </p:nvSpPr>
        <p:spPr>
          <a:xfrm>
            <a:off x="8156448" y="13801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3" name="S14-label368"/>
          <p:cNvSpPr txBox="1"/>
          <p:nvPr/>
        </p:nvSpPr>
        <p:spPr>
          <a:xfrm>
            <a:off x="8156448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44(10 큰 수)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 배열의 규칙</dc:title>
  <dc:subject>KR22-G01-MAT-NUMPAT-L01</dc:subject>
  <dc:creator>education-ppt</dc:creator>
  <cp:lastModifiedBy>education-ppt</cp:lastModifiedBy>
  <cp:revision>1</cp:revision>
  <dcterms:created xsi:type="dcterms:W3CDTF">2026-10-26T07:45:40Z</dcterms:created>
  <dcterms:modified xsi:type="dcterms:W3CDTF">2026-10-26T07:45:40Z</dcterms:modified>
</cp:coreProperties>
</file>