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44fe881-c009-ae43-bc00-8471a228e938}">
          <p14:sldIdLst>
            <p14:sldId id="256"/>
            <p14:sldId id="257"/>
          </p14:sldIdLst>
        </p14:section>
        <p14:section name="개념" id="{78d8909e-f2a0-f393-513c-3bedf727403c}">
          <p14:sldIdLst>
            <p14:sldId id="258"/>
            <p14:sldId id="259"/>
            <p14:sldId id="260"/>
            <p14:sldId id="263"/>
          </p14:sldIdLst>
        </p14:section>
        <p14:section name="연습" id="{fcf308d3-2ba8-b323-c2c1-5b23c05e4190}">
          <p14:sldIdLst>
            <p14:sldId id="261"/>
            <p14:sldId id="262"/>
            <p14:sldId id="264"/>
            <p14:sldId id="265"/>
          </p14:sldIdLst>
        </p14:section>
        <p14:section name="개념" id="{85eed73d-e227-183a-585a-b09c828f6d18}">
          <p14:sldIdLst/>
        </p14:section>
        <p14:section name="연습" id="{71221a16-2c93-b328-dbc9-37c59a100a4c}">
          <p14:sldIdLst/>
        </p14:section>
        <p14:section name="확인" id="{1bbabcba-276a-41c4-bfae-b5776f3477cf}">
          <p14:sldIdLst>
            <p14:sldId id="266"/>
            <p14:sldId id="267"/>
            <p14:sldId id="268"/>
          </p14:sldIdLst>
        </p14:section>
        <p14:section name="정리" id="{c17dfd12-429c-7fcb-bb1f-bf6ded1fe474}">
          <p14:sldIdLst>
            <p14:sldId id="269"/>
          </p14:sldIdLst>
        </p14:section>
        <p14:section name="보충" id="{b682d5ab-2dad-f0e5-c62c-719ce5a45fe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 규칙 찾기에 흥미를 갖게 합니다.
시간: 약 2분
이렇게 말해 보세요
- “오른쪽 그림을 봐. 동그라미, 세모, 동그라미, 세모… 물음표에는 무엇이 올까?”
- “오늘은 이렇게 되풀이되는 규칙을 찾아볼 거야.”
예상 답
- “동그라미요.”
주의
- 표지의 물음표에는 ●가 옵니다. 답을 확인하지 않고 넘어가도 됩니다. S03에서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확인(모양 이름·세기·시계 복습)]
목적: 오늘 쓰는 모양의 이름을 알고 같은 모양끼리 셀 수 있는지 확인하고, 지난 차시(시계)를 복습합니다.
시간: 약 3분
이렇게 말해 보세요
- “①의 세 모양 이름을 말해 볼래?”
- “②에서 세모만 짚으면서 세어 봐. 동그라미는 몇 개야?”
- “③은 지난 시간에 배운 시계야. 몇 시일까?”
정답
- ① 네모, 세모, 동그라미
- ② ▲ 3개(● 2개)
- ③ 4시
막히면
- ②에서 같은 모양을 찾지 못하면 S15(보충)를 먼저 합니다.
- ③이 어려우면 오늘 수업은 그대로 하고, 다음에 ‘몇 시와 몇 시 30분’을 짧게 복습합니다.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되풀이되는 부분 찾기]
목적: 같은 부분이 되풀이되는 것을 ‘규칙’이라고 하고, 되풀이되는 부분을 찾는 방법을 압니다.
시간: 약 3분
이렇게 말해 보세요
- “동그라미, 세모, 동그라미, 세모… 소리 내어 읽어 볼까? 무엇이 되풀이돼?”
- “주황 테두리 두 개가 한 묶음이야. 이 묶음이 몇 번 나와?”
예상 답
- “동그라미, 세모가 되풀이돼요.” “세 번 나와요.”
막히면
- 바둑돌로 검은 돌, 흰 돌을 번갈아 놓으며 “검, 흰, 검, 흰” 리듬을 붙여 읽습니다.
주의
- ‘되풀이’는 ‘또 나온다, 반복된다’는 뜻이라고 쉽게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셋이 되풀이되는 규칙과 다음 것]
목적: 셋이 한 묶음인 규칙도 있다는 것을 알고, 묶음을 이용해 다음에 올 것을 찾는 방법을 시범으로 보여 줍니다.
시간: 약 3분
이렇게 말해 보세요
- “네모, 네모, 동그라미, 네모, 네모, 동그라미… 무엇이 되풀이돼?”
- “묶음이 다시 시작됐어. 네모, 그다음은? 그래서 물음표에는 네모가 와.”
예상 답
- “네모, 네모, 동그라미가 되풀이돼요.” “네모요.”
막히면
- 바둑돌로 검·검·흰을 세 번 이어 놓고, 묶음마다 손가락으로 동그라미를 그립니다(M2).
주의
- 둘이 번갈아 나오는 것만 규칙이 아닙니다. 셋, 넷이 한 묶음일 수도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색의 규칙]
목적: 색(색칠한 칸과 빈 칸)이 되풀이되는 규칙도 찾을 수 있다는 것을 압니다.
시간: 약 3분
이렇게 말해 보세요
- “색칠한 칸, 색칠한 칸, 빈 칸… 무엇이 되풀이돼?”
- “이 띠를 이어서 만든다면 다음 칸은 색칠할까, 비워 둘까?”
예상 답
- “색칠, 색칠, 빈 칸이 되풀이돼요.” “다음은 색칠해요.”
막히면
- 바둑돌로 검은 돌 2개, 흰 돌 1개를 이어 놓아 봅니다.
주의
- 9칸 중 색칠한 칸은 6개입니다. 다음(열째) 칸은 다시 색칠합니다.
-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연습(다음 모양 찾기)]
목적: 도움을 받으며 되풀이되는 부분을 찾아 다음에 올 모양을 말합니다.
시간: 약 3분
이렇게 말해 보세요
- “①을 소리 내어 읽어 볼까? 무엇이 되풀이돼? 그럼 물음표에는?”
- “③은 몇 개가 한 묶음일까?”
정답
- ① ■(▲ ■가 되풀이)
- ② ▲(● ● ▲가 되풀이)
- ③ ▲(■ ● ▲가 되풀이)
막히면
- 색종이 조각으로 화면과 똑같이 놓고, 다음 조각을 직접 놓아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비교(바로 앞만 보기)]
목적: 바로 앞의 모양만 보지 않고 되풀이되는 부분 전체를 보고 다음을 정해야 한다는 것을 확인합니다(M1).
시간: 약 3분
이렇게 말해 보세요
- “토끼는 ● 다음에 ▲가 온대. 그런데 ● 다음에 ●가 온 적도 있지?”
- “● ● ▲를 한 묶음으로 묶어 보자. 마지막 묶음은 어디까지 나왔어?”
예상 답
- “곰이요. ● ● ▲에서 ● 하나만 나왔으니까 또 ●예요.”
정답
- 곰이 맞습니다. ● ● ▲가 되풀이되고 마지막 묶음은 ● 하나만 나왔으므로 다음은 ●입니다.
막히면
- 바둑돌로 검·검·흰, 검·검·흰, 검을 놓고 다음 돌을 아이가 놓게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규칙을 수·동작으로 바꾸어 나타내기]
목적: 같은 규칙을 모양 대신 수나 동작으로 바꾸어 나타낼 수 있음을 압니다.
시간: 약 3분
이렇게 말해 보세요
- “동그라미는 1, 세모는 2라고 약속하자. 그러면 이 줄은 어떻게 읽을까?”
- “이번에는 동그라미는 손뼉 ‘짝’, 세모는 발 ‘쿵’! 같이 해 볼까? 짝, 쿵, 짝, 쿵…”
예상 답
- “1, 2, 1, 2, 1, 2예요.” “짝 쿵 짝 쿵 짝 쿵.”
막히면
- 약속을 종이에 ‘● = 1, ▲ = 2’로 써서 옆에 두고 보며 바꾸게 합니다(M3).
주의
- 1, 2, 3, 4…처럼 차례로 세는 것이 아니라, 같은 모양에는 늘 같은 수를 붙입니다(M3).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연습(수가 되풀이되는 규칙)]
목적: 도움을 받으며 수가 되풀이되는 규칙을 찾아 다음 수를 말합니다.
시간: 약 3분
이렇게 말해 보세요
- “①은 2, 4, 2, 4… 무엇이 되풀이돼? 물음표에는?”
- “③은 몇 개가 한 묶음일까? 손가락으로 묶어 봐.”
정답
- ① 4(2, 4가 되풀이)
- ② 3(1, 1, 3이 되풀이)
- ③ 7(5, 6, 7이 되풀이)
막히면
- 수를 소리 내어 리듬 있게 읽게 합니다(“이, 사 / 이, 사 / 이…”).
주의
- ③을 8이라고 하면 수가 커지는 규칙으로 본 것입니다. 5, 6, 7 다음에 다시 5가 나온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내 규칙 만들기]
목적: 자기만의 되풀이 규칙을 만들고, 말과 동작으로 바꾸어 나타냅니다.
시간: 약 4분
이렇게 말해 보세요
- “이번에는 네가 규칙을 만들어 봐. 검은 돌과 흰 돌로 묶음을 정하고 세 번 이어 놓아.”
- “무엇이 되풀이돼? 검은 돌은 손뼉, 흰 돌은 발로 나타내 볼까?”
- “엄마(아빠)가 다음 돌을 맞혀 볼게.”
예상 답
- “검, 흰, 흰이 되풀이돼요. 짝, 쿵, 쿵!”(아이마다 다름)
막히면
- 묶음을 먼저 하나만 만들게 하고(예: 검·흰·흰), 그것을 똑같이 두 번 더 놓게 합니다.
주의
- 정답이 하나인 활동이 아닙니다. 같은 묶음이 그대로 되풀이되는지, 규칙을 말로 설명하는지 봅니다.
- 부모가 일부러 틀리게 맞혀 보고 아이가 고쳐 주게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모양과 수의 규칙을 찾고, 규칙을 동작으로 바꾸어 나타낼 수 있는지 확인합니다.
시간: 약 4분
이렇게 말해 보세요
- “이번에는 혼자 해 볼래? ①과 ②는 물음표에 올 것을 말하고, ③은 몸으로 보여 줘.”
정답
- ① ■(▲ ▲ ■가 되풀이)
- ② 3(7, 3이 되풀이)
- ③ 예: 짝 쿵 짝 쿵(●는 손뼉, ■는 발). ●와 ■에 서로 다른 동작을 정하고 같은 모양에 같은 동작을 하면 맞습니다.
막히면
- 바로 알려 주지 말고 “되풀이되는 부분을 묶어 볼까?”라고만 말합니다.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바둑돌로 다시 놓아 보자.”
정답
- ① ■ ② 3 ③ ●와 ■에 서로 다른 동작을 정해 같은 모양에 같은 동작(예: 짝 쿵 짝 쿵)
막히면
- ①을 ▲라고 했다면 바로 앞만 본 것입니다. S07로 돌아가 묶음으로 읽게 합니다(M1).
- ③에서 동작이 섞이면 “●는 언제나 짝”처럼 약속을 다시 정합니다(M3).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확인(색의 규칙 잇기)]
목적: 처음 보는 색의 규칙에서 되풀이되는 부분을 찾아 이어지는 두 칸을 말하는지 확인합니다.
시간: 약 2분
이렇게 말해 보세요
- “무엇이 되풀이돼? 다음 두 칸은 어떻게 될까?”
정답
- 둘 다 비워 둡니다. 색칠 1칸, 빈 칸 2칸이 되풀이되고, 마지막 묶음은 색칠한 칸만 나왔기 때문입니다.
막히면
- 바둑돌로 검·흰·흰을 이어 놓고 마지막 검은 돌 다음 두 개를 아이가 놓게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“규칙을 찾을 때 무엇부터 찾으면 될까?”
예상 답
- “되풀이되는 부분을 찾아요.”
정답
- ① ■ ② 1 ③ ●
막히면
- S03의 그림을 다시 보며 묶음을 짚어 봅니다.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보충(같은 모양 찾기)]
목적: S02에서 같은 모양을 찾거나 세지 못하면, 같은 모양끼리 짚어 세는 연습부터 합니다.
시간: 약 5분
이렇게 말해 보세요
- “세모만 손가락으로 짚어 볼까? 하나, 둘, 셋.”
- “동그라미는 몇 개야? 네모는?”
정답
- 세모 3개, 동그라미 1개, 네모 1개
막히면
- 색종이 조각을 같은 모양끼리 모아 놓은 뒤 셉니다.
주의
- 모양 이름이 흔들리면 ‘네모·세모·동그라미 모양’(KR22-G01-MAT-SHAPE2D-L01)을 먼저 다시 합니다.
- 계획상 바로 앞 차시는 ‘몇 시와 몇 시 30분’(KR22-G01-MAT-CLOCK-L01)입니다. 시계 읽기는 오늘 수업에 꼭 필요하지 않으므로, 흔들리면 다른 날 따로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무엇이 올까?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되풀이되는 규칙을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규칙을 이어 만들고 바꾸어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기억하고 있나요?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▲ ●의 이름을 말해요.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● ▲ ▲ ●에서 ▲는 몇 개?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 12, 짧은바늘 4는 몇 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모양이 되풀이될까요?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▲가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규칙이 보여요.</a:t>
            </a:r>
            <a:endParaRPr lang="ko-KR" sz="3200" dirty="0"/>
          </a:p>
        </p:txBody>
      </p:sp>
      <p:sp>
        <p:nvSpPr>
          <p:cNvPr id="6" name="S03-tile17"/>
          <p:cNvSpPr txBox="1"/>
          <p:nvPr/>
        </p:nvSpPr>
        <p:spPr>
          <a:xfrm>
            <a:off x="1476756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03-tile18"/>
          <p:cNvSpPr txBox="1"/>
          <p:nvPr/>
        </p:nvSpPr>
        <p:spPr>
          <a:xfrm>
            <a:off x="3049524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03-tile19"/>
          <p:cNvSpPr txBox="1"/>
          <p:nvPr/>
        </p:nvSpPr>
        <p:spPr>
          <a:xfrm>
            <a:off x="4622292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9" name="S03-tile20"/>
          <p:cNvSpPr txBox="1"/>
          <p:nvPr/>
        </p:nvSpPr>
        <p:spPr>
          <a:xfrm>
            <a:off x="6195060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0" name="S03-tile21"/>
          <p:cNvSpPr txBox="1"/>
          <p:nvPr/>
        </p:nvSpPr>
        <p:spPr>
          <a:xfrm>
            <a:off x="7767828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1" name="S03-tile22"/>
          <p:cNvSpPr txBox="1"/>
          <p:nvPr/>
        </p:nvSpPr>
        <p:spPr>
          <a:xfrm>
            <a:off x="9340596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모양은?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묶어 봐요.</a:t>
            </a:r>
            <a:endParaRPr lang="ko-KR" sz="3200" dirty="0"/>
          </a:p>
        </p:txBody>
      </p:sp>
      <p:sp>
        <p:nvSpPr>
          <p:cNvPr id="4" name="S04-card2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■ ●가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?에는 ■가 와요.</a:t>
            </a:r>
            <a:endParaRPr lang="ko-KR" sz="3200" dirty="0"/>
          </a:p>
        </p:txBody>
      </p:sp>
      <p:sp>
        <p:nvSpPr>
          <p:cNvPr id="6" name="S04-tile26"/>
          <p:cNvSpPr txBox="1"/>
          <p:nvPr/>
        </p:nvSpPr>
        <p:spPr>
          <a:xfrm>
            <a:off x="54864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7" name="S04-tile27"/>
          <p:cNvSpPr txBox="1"/>
          <p:nvPr/>
        </p:nvSpPr>
        <p:spPr>
          <a:xfrm>
            <a:off x="196024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8" name="S04-tile28"/>
          <p:cNvSpPr txBox="1"/>
          <p:nvPr/>
        </p:nvSpPr>
        <p:spPr>
          <a:xfrm>
            <a:off x="337185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9" name="S04-tile29"/>
          <p:cNvSpPr txBox="1"/>
          <p:nvPr/>
        </p:nvSpPr>
        <p:spPr>
          <a:xfrm>
            <a:off x="478345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0" name="S04-tile30"/>
          <p:cNvSpPr txBox="1"/>
          <p:nvPr/>
        </p:nvSpPr>
        <p:spPr>
          <a:xfrm>
            <a:off x="619506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1" name="S04-tile31"/>
          <p:cNvSpPr txBox="1"/>
          <p:nvPr/>
        </p:nvSpPr>
        <p:spPr>
          <a:xfrm>
            <a:off x="760666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2" name="S04-tile32"/>
          <p:cNvSpPr txBox="1"/>
          <p:nvPr/>
        </p:nvSpPr>
        <p:spPr>
          <a:xfrm>
            <a:off x="901827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3" name="S04-tile33"/>
          <p:cNvSpPr txBox="1"/>
          <p:nvPr/>
        </p:nvSpPr>
        <p:spPr>
          <a:xfrm>
            <a:off x="1042987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된 규칙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칸과 빈 칸을 봐요.</a:t>
            </a:r>
            <a:endParaRPr lang="ko-KR" sz="3200" dirty="0"/>
          </a:p>
        </p:txBody>
      </p:sp>
      <p:sp>
        <p:nvSpPr>
          <p:cNvPr id="4" name="S05-card3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 2칸, 빈 칸 1칸이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모양뿐 아니라 색으로도 규칙을 만들어요.</a:t>
            </a:r>
            <a:endParaRPr lang="ko-KR" sz="3200" dirty="0"/>
          </a:p>
        </p:txBody>
      </p:sp>
      <p:sp>
        <p:nvSpPr>
          <p:cNvPr id="6" name="S05-cell37"/>
          <p:cNvSpPr/>
          <p:nvPr/>
        </p:nvSpPr>
        <p:spPr>
          <a:xfrm>
            <a:off x="156819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38"/>
          <p:cNvSpPr/>
          <p:nvPr/>
        </p:nvSpPr>
        <p:spPr>
          <a:xfrm>
            <a:off x="25740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39"/>
          <p:cNvSpPr/>
          <p:nvPr/>
        </p:nvSpPr>
        <p:spPr>
          <a:xfrm>
            <a:off x="357987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0"/>
          <p:cNvSpPr/>
          <p:nvPr/>
        </p:nvSpPr>
        <p:spPr>
          <a:xfrm>
            <a:off x="458571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41"/>
          <p:cNvSpPr/>
          <p:nvPr/>
        </p:nvSpPr>
        <p:spPr>
          <a:xfrm>
            <a:off x="559155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42"/>
          <p:cNvSpPr/>
          <p:nvPr/>
        </p:nvSpPr>
        <p:spPr>
          <a:xfrm>
            <a:off x="659739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43"/>
          <p:cNvSpPr/>
          <p:nvPr/>
        </p:nvSpPr>
        <p:spPr>
          <a:xfrm>
            <a:off x="76032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44"/>
          <p:cNvSpPr/>
          <p:nvPr/>
        </p:nvSpPr>
        <p:spPr>
          <a:xfrm>
            <a:off x="860907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45"/>
          <p:cNvSpPr/>
          <p:nvPr/>
        </p:nvSpPr>
        <p:spPr>
          <a:xfrm>
            <a:off x="961491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figure46" descr="9칸 띠: 색칠, 색칠, 빈 칸이 세 번 되풀이됨"/>
          <p:cNvSpPr/>
          <p:nvPr/>
        </p:nvSpPr>
        <p:spPr>
          <a:xfrm>
            <a:off x="1568196" y="2845562"/>
            <a:ext cx="905256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올 모양은?</a:t>
            </a:r>
            <a:endParaRPr lang="ko-KR" sz="4400" dirty="0"/>
          </a:p>
        </p:txBody>
      </p:sp>
      <p:sp>
        <p:nvSpPr>
          <p:cNvPr id="3" name="S06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손가락으로 묶어 봐요.</a:t>
            </a:r>
            <a:endParaRPr lang="ko-KR" sz="3200" dirty="0"/>
          </a:p>
        </p:txBody>
      </p:sp>
      <p:sp>
        <p:nvSpPr>
          <p:cNvPr id="5" name="S06-tile49"/>
          <p:cNvSpPr txBox="1"/>
          <p:nvPr/>
        </p:nvSpPr>
        <p:spPr>
          <a:xfrm>
            <a:off x="153314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6-tile50"/>
          <p:cNvSpPr txBox="1"/>
          <p:nvPr/>
        </p:nvSpPr>
        <p:spPr>
          <a:xfrm>
            <a:off x="286512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7" name="S06-tile51"/>
          <p:cNvSpPr txBox="1"/>
          <p:nvPr/>
        </p:nvSpPr>
        <p:spPr>
          <a:xfrm>
            <a:off x="419709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8" name="S06-tile52"/>
          <p:cNvSpPr txBox="1"/>
          <p:nvPr/>
        </p:nvSpPr>
        <p:spPr>
          <a:xfrm>
            <a:off x="552907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9" name="S06-tile53"/>
          <p:cNvSpPr txBox="1"/>
          <p:nvPr/>
        </p:nvSpPr>
        <p:spPr>
          <a:xfrm>
            <a:off x="686104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10" name="S06-tile54"/>
          <p:cNvSpPr txBox="1"/>
          <p:nvPr/>
        </p:nvSpPr>
        <p:spPr>
          <a:xfrm>
            <a:off x="819302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11" name="S06-tile55"/>
          <p:cNvSpPr txBox="1"/>
          <p:nvPr/>
        </p:nvSpPr>
        <p:spPr>
          <a:xfrm>
            <a:off x="952500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2" name="S06-tile56"/>
          <p:cNvSpPr txBox="1"/>
          <p:nvPr/>
        </p:nvSpPr>
        <p:spPr>
          <a:xfrm>
            <a:off x="153314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3" name="S06-tile57"/>
          <p:cNvSpPr txBox="1"/>
          <p:nvPr/>
        </p:nvSpPr>
        <p:spPr>
          <a:xfrm>
            <a:off x="286512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4" name="S06-tile58"/>
          <p:cNvSpPr txBox="1"/>
          <p:nvPr/>
        </p:nvSpPr>
        <p:spPr>
          <a:xfrm>
            <a:off x="419709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5" name="S06-tile59"/>
          <p:cNvSpPr txBox="1"/>
          <p:nvPr/>
        </p:nvSpPr>
        <p:spPr>
          <a:xfrm>
            <a:off x="552907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16" name="S06-tile60"/>
          <p:cNvSpPr txBox="1"/>
          <p:nvPr/>
        </p:nvSpPr>
        <p:spPr>
          <a:xfrm>
            <a:off x="686104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7" name="S06-tile61"/>
          <p:cNvSpPr txBox="1"/>
          <p:nvPr/>
        </p:nvSpPr>
        <p:spPr>
          <a:xfrm>
            <a:off x="819302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8" name="S06-tile62"/>
          <p:cNvSpPr txBox="1"/>
          <p:nvPr/>
        </p:nvSpPr>
        <p:spPr>
          <a:xfrm>
            <a:off x="952500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9" name="S06-tile63"/>
          <p:cNvSpPr txBox="1"/>
          <p:nvPr/>
        </p:nvSpPr>
        <p:spPr>
          <a:xfrm>
            <a:off x="153314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20" name="S06-tile64"/>
          <p:cNvSpPr txBox="1"/>
          <p:nvPr/>
        </p:nvSpPr>
        <p:spPr>
          <a:xfrm>
            <a:off x="286512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21" name="S06-tile65"/>
          <p:cNvSpPr txBox="1"/>
          <p:nvPr/>
        </p:nvSpPr>
        <p:spPr>
          <a:xfrm>
            <a:off x="419709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22" name="S06-tile66"/>
          <p:cNvSpPr txBox="1"/>
          <p:nvPr/>
        </p:nvSpPr>
        <p:spPr>
          <a:xfrm>
            <a:off x="552907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23" name="S06-tile67"/>
          <p:cNvSpPr txBox="1"/>
          <p:nvPr/>
        </p:nvSpPr>
        <p:spPr>
          <a:xfrm>
            <a:off x="686104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24" name="S06-tile68"/>
          <p:cNvSpPr txBox="1"/>
          <p:nvPr/>
        </p:nvSpPr>
        <p:spPr>
          <a:xfrm>
            <a:off x="819302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25" name="S06-tile69"/>
          <p:cNvSpPr txBox="1"/>
          <p:nvPr/>
        </p:nvSpPr>
        <p:spPr>
          <a:xfrm>
            <a:off x="952500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07-card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● ▲ ● ● ▲ ● 다음에 올 모양은?</a:t>
            </a:r>
            <a:endParaRPr lang="ko-KR" sz="3200" dirty="0"/>
          </a:p>
        </p:txBody>
      </p:sp>
      <p:sp>
        <p:nvSpPr>
          <p:cNvPr id="5" name="S07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묶어 보고 말해요.</a:t>
            </a:r>
            <a:endParaRPr lang="ko-KR" sz="3200" dirty="0"/>
          </a:p>
        </p:txBody>
      </p:sp>
      <p:sp>
        <p:nvSpPr>
          <p:cNvPr id="7" name="S07-chip7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▲</a:t>
            </a:r>
            <a:endParaRPr lang="ko-KR" sz="2600" dirty="0"/>
          </a:p>
        </p:txBody>
      </p:sp>
      <p:sp>
        <p:nvSpPr>
          <p:cNvPr id="8" name="S07-text7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“● 다음에는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▲가 와요.”</a:t>
            </a:r>
            <a:endParaRPr lang="ko-KR" sz="3200" dirty="0"/>
          </a:p>
        </p:txBody>
      </p:sp>
      <p:sp>
        <p:nvSpPr>
          <p:cNvPr id="9" name="S07-chip7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●</a:t>
            </a:r>
            <a:endParaRPr lang="ko-KR" sz="2600" dirty="0"/>
          </a:p>
        </p:txBody>
      </p:sp>
      <p:sp>
        <p:nvSpPr>
          <p:cNvPr id="10" name="S07-text7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“● ● ▲가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되풀이돼요.”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나타내요</a:t>
            </a:r>
            <a:endParaRPr lang="ko-KR" sz="4400" dirty="0"/>
          </a:p>
        </p:txBody>
      </p:sp>
      <p:sp>
        <p:nvSpPr>
          <p:cNvPr id="3" name="S08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●는 1, ▲는 2로 약속해요.</a:t>
            </a:r>
            <a:endParaRPr lang="ko-KR" sz="3200" dirty="0"/>
          </a:p>
        </p:txBody>
      </p:sp>
      <p:sp>
        <p:nvSpPr>
          <p:cNvPr id="4" name="S08-card7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2 1 2 1 2로 나타낼 수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‘짝’, 발 ‘쿵’으로도 나타내요.</a:t>
            </a:r>
            <a:endParaRPr lang="ko-KR" sz="3200" dirty="0"/>
          </a:p>
        </p:txBody>
      </p:sp>
      <p:sp>
        <p:nvSpPr>
          <p:cNvPr id="6" name="S08-tile81"/>
          <p:cNvSpPr txBox="1"/>
          <p:nvPr/>
        </p:nvSpPr>
        <p:spPr>
          <a:xfrm>
            <a:off x="1476756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08-label82"/>
          <p:cNvSpPr txBox="1"/>
          <p:nvPr/>
        </p:nvSpPr>
        <p:spPr>
          <a:xfrm>
            <a:off x="1376172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ile83"/>
          <p:cNvSpPr txBox="1"/>
          <p:nvPr/>
        </p:nvSpPr>
        <p:spPr>
          <a:xfrm>
            <a:off x="3049524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9" name="S08-label84"/>
          <p:cNvSpPr txBox="1"/>
          <p:nvPr/>
        </p:nvSpPr>
        <p:spPr>
          <a:xfrm>
            <a:off x="2948940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ile85"/>
          <p:cNvSpPr txBox="1"/>
          <p:nvPr/>
        </p:nvSpPr>
        <p:spPr>
          <a:xfrm>
            <a:off x="4622292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1" name="S08-label86"/>
          <p:cNvSpPr txBox="1"/>
          <p:nvPr/>
        </p:nvSpPr>
        <p:spPr>
          <a:xfrm>
            <a:off x="4521708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8-tile87"/>
          <p:cNvSpPr txBox="1"/>
          <p:nvPr/>
        </p:nvSpPr>
        <p:spPr>
          <a:xfrm>
            <a:off x="6195060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3" name="S08-label88"/>
          <p:cNvSpPr txBox="1"/>
          <p:nvPr/>
        </p:nvSpPr>
        <p:spPr>
          <a:xfrm>
            <a:off x="6094476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8-tile89"/>
          <p:cNvSpPr txBox="1"/>
          <p:nvPr/>
        </p:nvSpPr>
        <p:spPr>
          <a:xfrm>
            <a:off x="7767828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5" name="S08-label90"/>
          <p:cNvSpPr txBox="1"/>
          <p:nvPr/>
        </p:nvSpPr>
        <p:spPr>
          <a:xfrm>
            <a:off x="7667244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tile91"/>
          <p:cNvSpPr txBox="1"/>
          <p:nvPr/>
        </p:nvSpPr>
        <p:spPr>
          <a:xfrm>
            <a:off x="9340596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7" name="S08-label92"/>
          <p:cNvSpPr txBox="1"/>
          <p:nvPr/>
        </p:nvSpPr>
        <p:spPr>
          <a:xfrm>
            <a:off x="9240012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올 수는?</a:t>
            </a:r>
            <a:endParaRPr lang="ko-KR" sz="4400" dirty="0"/>
          </a:p>
        </p:txBody>
      </p:sp>
      <p:sp>
        <p:nvSpPr>
          <p:cNvPr id="3" name="S09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모양처럼 수도 되풀이되는 부분을 찾아요.</a:t>
            </a:r>
            <a:endParaRPr lang="ko-KR" sz="3200" dirty="0"/>
          </a:p>
        </p:txBody>
      </p:sp>
      <p:sp>
        <p:nvSpPr>
          <p:cNvPr id="5" name="S09-tile95"/>
          <p:cNvSpPr txBox="1"/>
          <p:nvPr/>
        </p:nvSpPr>
        <p:spPr>
          <a:xfrm>
            <a:off x="153314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9-tile96"/>
          <p:cNvSpPr txBox="1"/>
          <p:nvPr/>
        </p:nvSpPr>
        <p:spPr>
          <a:xfrm>
            <a:off x="286512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7" name="S09-tile97"/>
          <p:cNvSpPr txBox="1"/>
          <p:nvPr/>
        </p:nvSpPr>
        <p:spPr>
          <a:xfrm>
            <a:off x="419709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900" dirty="0"/>
          </a:p>
        </p:txBody>
      </p:sp>
      <p:sp>
        <p:nvSpPr>
          <p:cNvPr id="8" name="S09-tile98"/>
          <p:cNvSpPr txBox="1"/>
          <p:nvPr/>
        </p:nvSpPr>
        <p:spPr>
          <a:xfrm>
            <a:off x="552907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9" name="S09-tile99"/>
          <p:cNvSpPr txBox="1"/>
          <p:nvPr/>
        </p:nvSpPr>
        <p:spPr>
          <a:xfrm>
            <a:off x="686104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900" dirty="0"/>
          </a:p>
        </p:txBody>
      </p:sp>
      <p:sp>
        <p:nvSpPr>
          <p:cNvPr id="10" name="S09-tile100"/>
          <p:cNvSpPr txBox="1"/>
          <p:nvPr/>
        </p:nvSpPr>
        <p:spPr>
          <a:xfrm>
            <a:off x="819302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11" name="S09-tile101"/>
          <p:cNvSpPr txBox="1"/>
          <p:nvPr/>
        </p:nvSpPr>
        <p:spPr>
          <a:xfrm>
            <a:off x="952500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2" name="S09-tile102"/>
          <p:cNvSpPr txBox="1"/>
          <p:nvPr/>
        </p:nvSpPr>
        <p:spPr>
          <a:xfrm>
            <a:off x="153314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3" name="S09-tile103"/>
          <p:cNvSpPr txBox="1"/>
          <p:nvPr/>
        </p:nvSpPr>
        <p:spPr>
          <a:xfrm>
            <a:off x="286512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4" name="S09-tile104"/>
          <p:cNvSpPr txBox="1"/>
          <p:nvPr/>
        </p:nvSpPr>
        <p:spPr>
          <a:xfrm>
            <a:off x="419709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5" name="S09-tile105"/>
          <p:cNvSpPr txBox="1"/>
          <p:nvPr/>
        </p:nvSpPr>
        <p:spPr>
          <a:xfrm>
            <a:off x="552907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900" dirty="0"/>
          </a:p>
        </p:txBody>
      </p:sp>
      <p:sp>
        <p:nvSpPr>
          <p:cNvPr id="16" name="S09-tile106"/>
          <p:cNvSpPr txBox="1"/>
          <p:nvPr/>
        </p:nvSpPr>
        <p:spPr>
          <a:xfrm>
            <a:off x="686104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7" name="S09-tile107"/>
          <p:cNvSpPr txBox="1"/>
          <p:nvPr/>
        </p:nvSpPr>
        <p:spPr>
          <a:xfrm>
            <a:off x="819302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8" name="S09-tile108"/>
          <p:cNvSpPr txBox="1"/>
          <p:nvPr/>
        </p:nvSpPr>
        <p:spPr>
          <a:xfrm>
            <a:off x="952500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9" name="S09-tile109"/>
          <p:cNvSpPr txBox="1"/>
          <p:nvPr/>
        </p:nvSpPr>
        <p:spPr>
          <a:xfrm>
            <a:off x="153314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20" name="S09-tile110"/>
          <p:cNvSpPr txBox="1"/>
          <p:nvPr/>
        </p:nvSpPr>
        <p:spPr>
          <a:xfrm>
            <a:off x="286512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21" name="S09-tile111"/>
          <p:cNvSpPr txBox="1"/>
          <p:nvPr/>
        </p:nvSpPr>
        <p:spPr>
          <a:xfrm>
            <a:off x="419709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900" dirty="0"/>
          </a:p>
        </p:txBody>
      </p:sp>
      <p:sp>
        <p:nvSpPr>
          <p:cNvPr id="22" name="S09-tile112"/>
          <p:cNvSpPr txBox="1"/>
          <p:nvPr/>
        </p:nvSpPr>
        <p:spPr>
          <a:xfrm>
            <a:off x="552907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900" dirty="0"/>
          </a:p>
        </p:txBody>
      </p:sp>
      <p:sp>
        <p:nvSpPr>
          <p:cNvPr id="23" name="S09-tile113"/>
          <p:cNvSpPr txBox="1"/>
          <p:nvPr/>
        </p:nvSpPr>
        <p:spPr>
          <a:xfrm>
            <a:off x="686104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24" name="S09-tile114"/>
          <p:cNvSpPr txBox="1"/>
          <p:nvPr/>
        </p:nvSpPr>
        <p:spPr>
          <a:xfrm>
            <a:off x="819302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900" dirty="0"/>
          </a:p>
        </p:txBody>
      </p:sp>
      <p:sp>
        <p:nvSpPr>
          <p:cNvPr id="25" name="S09-tile115"/>
          <p:cNvSpPr txBox="1"/>
          <p:nvPr/>
        </p:nvSpPr>
        <p:spPr>
          <a:xfrm>
            <a:off x="952500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규칙 만들기</a:t>
            </a:r>
            <a:endParaRPr lang="ko-KR" sz="4400" dirty="0"/>
          </a:p>
        </p:txBody>
      </p:sp>
      <p:sp>
        <p:nvSpPr>
          <p:cNvPr id="3" name="S10-card11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1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부분이 3번 되풀이돼요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규칙을 말로 설명했어요</a:t>
            </a:r>
            <a:endParaRPr lang="ko-KR" sz="3200" dirty="0"/>
          </a:p>
        </p:txBody>
      </p:sp>
      <p:sp>
        <p:nvSpPr>
          <p:cNvPr id="5" name="S10-stepno118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119"/>
          <p:cNvSpPr txBox="1"/>
          <p:nvPr/>
        </p:nvSpPr>
        <p:spPr>
          <a:xfrm>
            <a:off x="1325880" y="2784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규칙을 만들어요.</a:t>
            </a:r>
            <a:endParaRPr lang="ko-KR" sz="3200" dirty="0"/>
          </a:p>
        </p:txBody>
      </p:sp>
      <p:sp>
        <p:nvSpPr>
          <p:cNvPr id="7" name="S10-stepno120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121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말해요.</a:t>
            </a:r>
            <a:endParaRPr lang="ko-KR" sz="3200" dirty="0"/>
          </a:p>
        </p:txBody>
      </p:sp>
      <p:sp>
        <p:nvSpPr>
          <p:cNvPr id="9" name="S10-stepno122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123"/>
          <p:cNvSpPr txBox="1"/>
          <p:nvPr/>
        </p:nvSpPr>
        <p:spPr>
          <a:xfrm>
            <a:off x="1325880" y="4210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손뼉과 발로 나타내요.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ard12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2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?에 올 것을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● ■ ● ■를 손뼉과 발로 나타내요.</a:t>
            </a:r>
            <a:endParaRPr lang="ko-KR" sz="3200" dirty="0"/>
          </a:p>
        </p:txBody>
      </p:sp>
      <p:sp>
        <p:nvSpPr>
          <p:cNvPr id="5" name="S11-tile126"/>
          <p:cNvSpPr txBox="1"/>
          <p:nvPr/>
        </p:nvSpPr>
        <p:spPr>
          <a:xfrm>
            <a:off x="69037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5900" dirty="0"/>
          </a:p>
        </p:txBody>
      </p:sp>
      <p:sp>
        <p:nvSpPr>
          <p:cNvPr id="6" name="S11-tile127"/>
          <p:cNvSpPr txBox="1"/>
          <p:nvPr/>
        </p:nvSpPr>
        <p:spPr>
          <a:xfrm>
            <a:off x="226314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7" name="S11-tile128"/>
          <p:cNvSpPr txBox="1"/>
          <p:nvPr/>
        </p:nvSpPr>
        <p:spPr>
          <a:xfrm>
            <a:off x="3835908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11-tile129"/>
          <p:cNvSpPr txBox="1"/>
          <p:nvPr/>
        </p:nvSpPr>
        <p:spPr>
          <a:xfrm>
            <a:off x="540867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9" name="S11-tile130"/>
          <p:cNvSpPr txBox="1"/>
          <p:nvPr/>
        </p:nvSpPr>
        <p:spPr>
          <a:xfrm>
            <a:off x="6981444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0" name="S11-tile131"/>
          <p:cNvSpPr txBox="1"/>
          <p:nvPr/>
        </p:nvSpPr>
        <p:spPr>
          <a:xfrm>
            <a:off x="855421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1" name="S11-tile132"/>
          <p:cNvSpPr txBox="1"/>
          <p:nvPr/>
        </p:nvSpPr>
        <p:spPr>
          <a:xfrm>
            <a:off x="1012698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2" name="S11-tile133"/>
          <p:cNvSpPr txBox="1"/>
          <p:nvPr/>
        </p:nvSpPr>
        <p:spPr>
          <a:xfrm>
            <a:off x="69037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5900" dirty="0"/>
          </a:p>
        </p:txBody>
      </p:sp>
      <p:sp>
        <p:nvSpPr>
          <p:cNvPr id="13" name="S11-tile134"/>
          <p:cNvSpPr txBox="1"/>
          <p:nvPr/>
        </p:nvSpPr>
        <p:spPr>
          <a:xfrm>
            <a:off x="226314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4" name="S11-tile135"/>
          <p:cNvSpPr txBox="1"/>
          <p:nvPr/>
        </p:nvSpPr>
        <p:spPr>
          <a:xfrm>
            <a:off x="3835908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5900" dirty="0"/>
          </a:p>
        </p:txBody>
      </p:sp>
      <p:sp>
        <p:nvSpPr>
          <p:cNvPr id="15" name="S11-tile136"/>
          <p:cNvSpPr txBox="1"/>
          <p:nvPr/>
        </p:nvSpPr>
        <p:spPr>
          <a:xfrm>
            <a:off x="540867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6" name="S11-tile137"/>
          <p:cNvSpPr txBox="1"/>
          <p:nvPr/>
        </p:nvSpPr>
        <p:spPr>
          <a:xfrm>
            <a:off x="6981444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5900" dirty="0"/>
          </a:p>
        </p:txBody>
      </p:sp>
      <p:sp>
        <p:nvSpPr>
          <p:cNvPr id="17" name="S11-tile138"/>
          <p:cNvSpPr txBox="1"/>
          <p:nvPr/>
        </p:nvSpPr>
        <p:spPr>
          <a:xfrm>
            <a:off x="855421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8" name="S11-tile139"/>
          <p:cNvSpPr txBox="1"/>
          <p:nvPr/>
        </p:nvSpPr>
        <p:spPr>
          <a:xfrm>
            <a:off x="1012698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40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41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되풀이되는 부분을 연필로 묶어 다시 읽게 하세요.</a:t>
            </a:r>
            <a:endParaRPr lang="ko-KR" sz="3200" dirty="0"/>
          </a:p>
        </p:txBody>
      </p:sp>
      <p:sp>
        <p:nvSpPr>
          <p:cNvPr id="5" name="S12-chip14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43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■</a:t>
            </a:r>
            <a:endParaRPr lang="ko-KR" sz="3200" dirty="0"/>
          </a:p>
        </p:txBody>
      </p:sp>
      <p:sp>
        <p:nvSpPr>
          <p:cNvPr id="7" name="S12-text144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▲▲■ 반복</a:t>
            </a:r>
            <a:endParaRPr lang="ko-KR" sz="2600" dirty="0"/>
          </a:p>
        </p:txBody>
      </p:sp>
      <p:sp>
        <p:nvSpPr>
          <p:cNvPr id="8" name="S12-text145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</a:t>
            </a:r>
            <a:endParaRPr lang="ko-KR" sz="3200" dirty="0"/>
          </a:p>
        </p:txBody>
      </p:sp>
      <p:sp>
        <p:nvSpPr>
          <p:cNvPr id="9" name="S12-text146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 3 반복</a:t>
            </a:r>
            <a:endParaRPr lang="ko-KR" sz="2600" dirty="0"/>
          </a:p>
        </p:txBody>
      </p:sp>
      <p:sp>
        <p:nvSpPr>
          <p:cNvPr id="10" name="S12-text147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짝 쿵 짝 쿵</a:t>
            </a:r>
            <a:endParaRPr lang="ko-KR" sz="3200" dirty="0"/>
          </a:p>
        </p:txBody>
      </p:sp>
      <p:sp>
        <p:nvSpPr>
          <p:cNvPr id="11" name="S12-text148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약속대로</a:t>
            </a:r>
            <a:endParaRPr lang="ko-KR" sz="2600" dirty="0"/>
          </a:p>
        </p:txBody>
      </p:sp>
      <p:sp>
        <p:nvSpPr>
          <p:cNvPr id="12" name="S12-chip14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5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▲</a:t>
            </a:r>
            <a:endParaRPr lang="ko-KR" sz="3200" dirty="0"/>
          </a:p>
        </p:txBody>
      </p:sp>
      <p:sp>
        <p:nvSpPr>
          <p:cNvPr id="14" name="S12-text15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앞만 봄</a:t>
            </a:r>
            <a:endParaRPr lang="ko-KR" sz="2600" dirty="0"/>
          </a:p>
        </p:txBody>
      </p:sp>
      <p:sp>
        <p:nvSpPr>
          <p:cNvPr id="15" name="S12-text15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짝 쿵 쿵 짝</a:t>
            </a:r>
            <a:endParaRPr lang="ko-KR" sz="3200" dirty="0"/>
          </a:p>
        </p:txBody>
      </p:sp>
      <p:sp>
        <p:nvSpPr>
          <p:cNvPr id="16" name="S12-text15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바뀜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두 칸은?</a:t>
            </a:r>
            <a:endParaRPr lang="ko-KR" sz="4400" dirty="0"/>
          </a:p>
        </p:txBody>
      </p:sp>
      <p:sp>
        <p:nvSpPr>
          <p:cNvPr id="3" name="S13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칸과 빈 칸의 규칙을 찾아요.</a:t>
            </a:r>
            <a:endParaRPr lang="ko-KR" sz="3200" dirty="0"/>
          </a:p>
        </p:txBody>
      </p:sp>
      <p:sp>
        <p:nvSpPr>
          <p:cNvPr id="4" name="S13-card15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5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두 칸은 색칠할까요, 비워 둘까요?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6" name="S13-cell157"/>
          <p:cNvSpPr/>
          <p:nvPr/>
        </p:nvSpPr>
        <p:spPr>
          <a:xfrm>
            <a:off x="25740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158"/>
          <p:cNvSpPr/>
          <p:nvPr/>
        </p:nvSpPr>
        <p:spPr>
          <a:xfrm>
            <a:off x="357987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159"/>
          <p:cNvSpPr/>
          <p:nvPr/>
        </p:nvSpPr>
        <p:spPr>
          <a:xfrm>
            <a:off x="458571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160"/>
          <p:cNvSpPr/>
          <p:nvPr/>
        </p:nvSpPr>
        <p:spPr>
          <a:xfrm>
            <a:off x="559155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161"/>
          <p:cNvSpPr/>
          <p:nvPr/>
        </p:nvSpPr>
        <p:spPr>
          <a:xfrm>
            <a:off x="659739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162"/>
          <p:cNvSpPr/>
          <p:nvPr/>
        </p:nvSpPr>
        <p:spPr>
          <a:xfrm>
            <a:off x="760323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163"/>
          <p:cNvSpPr/>
          <p:nvPr/>
        </p:nvSpPr>
        <p:spPr>
          <a:xfrm>
            <a:off x="860907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figure164" descr="7칸 띠: 색칠, 빈 칸, 빈 칸이 되풀이되고 마지막은 색칠한 칸"/>
          <p:cNvSpPr/>
          <p:nvPr/>
        </p:nvSpPr>
        <p:spPr>
          <a:xfrm>
            <a:off x="2574036" y="2845562"/>
            <a:ext cx="704088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다음을 알 수 있어요.</a:t>
            </a:r>
            <a:endParaRPr lang="ko-KR" sz="3200" dirty="0"/>
          </a:p>
        </p:txBody>
      </p:sp>
      <p:sp>
        <p:nvSpPr>
          <p:cNvPr id="5" name="S14-chip16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묶어서 찾기</a:t>
            </a:r>
            <a:endParaRPr lang="ko-KR" sz="2600" dirty="0"/>
          </a:p>
        </p:txBody>
      </p:sp>
      <p:sp>
        <p:nvSpPr>
          <p:cNvPr id="6" name="S14-chip16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바로 앞만 보기</a:t>
            </a:r>
            <a:endParaRPr lang="ko-KR" sz="2600" dirty="0"/>
          </a:p>
        </p:txBody>
      </p:sp>
      <p:sp>
        <p:nvSpPr>
          <p:cNvPr id="7" name="S14-text16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7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● ■ ● ■ ●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9" name="S14-text17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3 1 3 3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수는?</a:t>
            </a:r>
            <a:endParaRPr lang="ko-KR" sz="2600" dirty="0"/>
          </a:p>
        </p:txBody>
      </p:sp>
      <p:sp>
        <p:nvSpPr>
          <p:cNvPr id="10" name="S14-text17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▲ ● ● ▲ ● ● ▲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11" name="S14-text17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 배열의 규칙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모양 찾기</a:t>
            </a:r>
            <a:endParaRPr lang="ko-KR" sz="4400" dirty="0"/>
          </a:p>
        </p:txBody>
      </p:sp>
      <p:sp>
        <p:nvSpPr>
          <p:cNvPr id="3" name="S15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세모만 짚으며 세어 봐요.</a:t>
            </a:r>
            <a:endParaRPr lang="ko-KR" sz="3200" dirty="0"/>
          </a:p>
        </p:txBody>
      </p:sp>
      <p:sp>
        <p:nvSpPr>
          <p:cNvPr id="4" name="S15-card1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세모는 3개예요. 같은 모양끼리 짚어요.</a:t>
            </a:r>
            <a:endParaRPr lang="ko-KR" sz="3200" dirty="0"/>
          </a:p>
        </p:txBody>
      </p:sp>
      <p:sp>
        <p:nvSpPr>
          <p:cNvPr id="6" name="S15-tile177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7" name="S15-tile178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8" name="S15-tile179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9" name="S15-tile180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10" name="S15-tile181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규칙 찾기</dc:title>
  <dc:subject>KR22-G01-MAT-PATTERN-L01</dc:subject>
  <dc:creator>education-ppt</dc:creator>
  <cp:lastModifiedBy>education-ppt</cp:lastModifiedBy>
  <cp:revision>1</cp:revision>
  <dcterms:created xsi:type="dcterms:W3CDTF">2026-10-26T07:13:37Z</dcterms:created>
  <dcterms:modified xsi:type="dcterms:W3CDTF">2026-10-26T07:13:37Z</dcterms:modified>
</cp:coreProperties>
</file>