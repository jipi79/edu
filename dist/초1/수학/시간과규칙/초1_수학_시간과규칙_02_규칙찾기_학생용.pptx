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396bdad-75c5-a1e2-b555-12fe4428b8e1}">
          <p14:sldIdLst>
            <p14:sldId id="256"/>
            <p14:sldId id="257"/>
          </p14:sldIdLst>
        </p14:section>
        <p14:section name="개념" id="{1e6b7e12-c40b-e88d-5546-e4404a73494b}">
          <p14:sldIdLst>
            <p14:sldId id="258"/>
            <p14:sldId id="259"/>
            <p14:sldId id="260"/>
            <p14:sldId id="263"/>
          </p14:sldIdLst>
        </p14:section>
        <p14:section name="연습" id="{b0622710-9f41-e694-d221-7de050e79346}">
          <p14:sldIdLst>
            <p14:sldId id="261"/>
            <p14:sldId id="262"/>
            <p14:sldId id="264"/>
            <p14:sldId id="265"/>
          </p14:sldIdLst>
        </p14:section>
        <p14:section name="개념" id="{6f8dd114-ad76-3349-363e-9b96e05a726c}">
          <p14:sldIdLst/>
        </p14:section>
        <p14:section name="연습" id="{a62848d6-76f7-61e3-e410-956a5364557d}">
          <p14:sldIdLst/>
        </p14:section>
        <p14:section name="확인" id="{2ca235ef-2607-842a-9a7a-dd6be451974d}">
          <p14:sldIdLst>
            <p14:sldId id="266"/>
            <p14:sldId id="267"/>
          </p14:sldIdLst>
        </p14:section>
        <p14:section name="정리" id="{e5fa715b-ccdf-830b-1c19-1312c22e2ae6}">
          <p14:sldIdLst>
            <p14:sldId id="268"/>
          </p14:sldIdLst>
        </p14:section>
        <p14:section name="보충" id="{579caf2b-87f4-edcf-13bd-a4252ba4b85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시간과규칙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규칙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찾기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다음에는 무엇이 올까?</a:t>
            </a:r>
            <a:endParaRPr lang="ko-KR" sz="3200" dirty="0"/>
          </a:p>
        </p:txBody>
      </p:sp>
      <p:sp>
        <p:nvSpPr>
          <p:cNvPr id="4" name="S01-tile1"/>
          <p:cNvSpPr txBox="1"/>
          <p:nvPr/>
        </p:nvSpPr>
        <p:spPr>
          <a:xfrm>
            <a:off x="768096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5" name="S01-tile2"/>
          <p:cNvSpPr txBox="1"/>
          <p:nvPr/>
        </p:nvSpPr>
        <p:spPr>
          <a:xfrm>
            <a:off x="8507578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6" name="S01-tile3"/>
          <p:cNvSpPr txBox="1"/>
          <p:nvPr/>
        </p:nvSpPr>
        <p:spPr>
          <a:xfrm>
            <a:off x="9334195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2700" dirty="0"/>
          </a:p>
        </p:txBody>
      </p:sp>
      <p:sp>
        <p:nvSpPr>
          <p:cNvPr id="7" name="S01-tile4"/>
          <p:cNvSpPr txBox="1"/>
          <p:nvPr/>
        </p:nvSpPr>
        <p:spPr>
          <a:xfrm>
            <a:off x="10160813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2700" dirty="0"/>
          </a:p>
        </p:txBody>
      </p:sp>
      <p:sp>
        <p:nvSpPr>
          <p:cNvPr id="8" name="S01-tile5"/>
          <p:cNvSpPr txBox="1"/>
          <p:nvPr/>
        </p:nvSpPr>
        <p:spPr>
          <a:xfrm>
            <a:off x="10987430" y="1790395"/>
            <a:ext cx="625450" cy="625450"/>
          </a:xfrm>
          <a:prstGeom prst="roundRect">
            <a:avLst>
              <a:gd name="adj" fmla="val 2046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27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되풀이되는 규칙을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규칙을 이어 만들고 바꾸어 나타내요.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기억하고 있나요?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▲ ●의 이름을 말해요.</a:t>
            </a:r>
            <a:endParaRPr lang="ko-KR" sz="32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● ▲ ▲ ●에서 ▲는 몇 개?</a:t>
            </a:r>
            <a:endParaRPr lang="ko-KR" sz="32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긴바늘 12, 짧은바늘 4는 몇 시?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모양이 되풀이될까요?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▲가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규칙이 보여요.</a:t>
            </a:r>
            <a:endParaRPr lang="ko-KR" sz="3200" dirty="0"/>
          </a:p>
        </p:txBody>
      </p:sp>
      <p:sp>
        <p:nvSpPr>
          <p:cNvPr id="6" name="S03-tile17"/>
          <p:cNvSpPr txBox="1"/>
          <p:nvPr/>
        </p:nvSpPr>
        <p:spPr>
          <a:xfrm>
            <a:off x="1476756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03-tile18"/>
          <p:cNvSpPr txBox="1"/>
          <p:nvPr/>
        </p:nvSpPr>
        <p:spPr>
          <a:xfrm>
            <a:off x="3049524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03-tile19"/>
          <p:cNvSpPr txBox="1"/>
          <p:nvPr/>
        </p:nvSpPr>
        <p:spPr>
          <a:xfrm>
            <a:off x="4622292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9" name="S03-tile20"/>
          <p:cNvSpPr txBox="1"/>
          <p:nvPr/>
        </p:nvSpPr>
        <p:spPr>
          <a:xfrm>
            <a:off x="6195060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0" name="S03-tile21"/>
          <p:cNvSpPr txBox="1"/>
          <p:nvPr/>
        </p:nvSpPr>
        <p:spPr>
          <a:xfrm>
            <a:off x="7767828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1" name="S03-tile22"/>
          <p:cNvSpPr txBox="1"/>
          <p:nvPr/>
        </p:nvSpPr>
        <p:spPr>
          <a:xfrm>
            <a:off x="9340596" y="26626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모양은?</a:t>
            </a:r>
            <a:endParaRPr lang="ko-KR" sz="4400" dirty="0"/>
          </a:p>
        </p:txBody>
      </p:sp>
      <p:sp>
        <p:nvSpPr>
          <p:cNvPr id="3" name="S04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묶어 봐요.</a:t>
            </a:r>
            <a:endParaRPr lang="ko-KR" sz="3200" dirty="0"/>
          </a:p>
        </p:txBody>
      </p:sp>
      <p:sp>
        <p:nvSpPr>
          <p:cNvPr id="4" name="S04-card2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■ ●가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?에는 ■가 와요.</a:t>
            </a:r>
            <a:endParaRPr lang="ko-KR" sz="3200" dirty="0"/>
          </a:p>
        </p:txBody>
      </p:sp>
      <p:sp>
        <p:nvSpPr>
          <p:cNvPr id="6" name="S04-tile26"/>
          <p:cNvSpPr txBox="1"/>
          <p:nvPr/>
        </p:nvSpPr>
        <p:spPr>
          <a:xfrm>
            <a:off x="54864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7" name="S04-tile27"/>
          <p:cNvSpPr txBox="1"/>
          <p:nvPr/>
        </p:nvSpPr>
        <p:spPr>
          <a:xfrm>
            <a:off x="196024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8" name="S04-tile28"/>
          <p:cNvSpPr txBox="1"/>
          <p:nvPr/>
        </p:nvSpPr>
        <p:spPr>
          <a:xfrm>
            <a:off x="337185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9" name="S04-tile29"/>
          <p:cNvSpPr txBox="1"/>
          <p:nvPr/>
        </p:nvSpPr>
        <p:spPr>
          <a:xfrm>
            <a:off x="478345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0" name="S04-tile30"/>
          <p:cNvSpPr txBox="1"/>
          <p:nvPr/>
        </p:nvSpPr>
        <p:spPr>
          <a:xfrm>
            <a:off x="619506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1" name="S04-tile31"/>
          <p:cNvSpPr txBox="1"/>
          <p:nvPr/>
        </p:nvSpPr>
        <p:spPr>
          <a:xfrm>
            <a:off x="760666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200" dirty="0"/>
          </a:p>
        </p:txBody>
      </p:sp>
      <p:sp>
        <p:nvSpPr>
          <p:cNvPr id="12" name="S04-tile32"/>
          <p:cNvSpPr txBox="1"/>
          <p:nvPr/>
        </p:nvSpPr>
        <p:spPr>
          <a:xfrm>
            <a:off x="9018270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200" dirty="0"/>
          </a:p>
        </p:txBody>
      </p:sp>
      <p:sp>
        <p:nvSpPr>
          <p:cNvPr id="13" name="S04-tile33"/>
          <p:cNvSpPr txBox="1"/>
          <p:nvPr/>
        </p:nvSpPr>
        <p:spPr>
          <a:xfrm>
            <a:off x="10429875" y="2743264"/>
            <a:ext cx="1210437" cy="1210437"/>
          </a:xfrm>
          <a:prstGeom prst="roundRect">
            <a:avLst>
              <a:gd name="adj" fmla="val 10576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색으로 된 규칙</a:t>
            </a:r>
            <a:endParaRPr lang="ko-KR" sz="4400" dirty="0"/>
          </a:p>
        </p:txBody>
      </p:sp>
      <p:sp>
        <p:nvSpPr>
          <p:cNvPr id="3" name="S05-text3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칸과 빈 칸을 봐요.</a:t>
            </a:r>
            <a:endParaRPr lang="ko-KR" sz="3200" dirty="0"/>
          </a:p>
        </p:txBody>
      </p:sp>
      <p:sp>
        <p:nvSpPr>
          <p:cNvPr id="4" name="S05-card35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6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 2칸, 빈 칸 1칸이 되풀이돼요.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모양뿐 아니라 색으로도 규칙을 만들어요.</a:t>
            </a:r>
            <a:endParaRPr lang="ko-KR" sz="3200" dirty="0"/>
          </a:p>
        </p:txBody>
      </p:sp>
      <p:sp>
        <p:nvSpPr>
          <p:cNvPr id="6" name="S05-cell37"/>
          <p:cNvSpPr/>
          <p:nvPr/>
        </p:nvSpPr>
        <p:spPr>
          <a:xfrm>
            <a:off x="156819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5-cell38"/>
          <p:cNvSpPr/>
          <p:nvPr/>
        </p:nvSpPr>
        <p:spPr>
          <a:xfrm>
            <a:off x="25740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cell39"/>
          <p:cNvSpPr/>
          <p:nvPr/>
        </p:nvSpPr>
        <p:spPr>
          <a:xfrm>
            <a:off x="357987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5-cell40"/>
          <p:cNvSpPr/>
          <p:nvPr/>
        </p:nvSpPr>
        <p:spPr>
          <a:xfrm>
            <a:off x="458571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cell41"/>
          <p:cNvSpPr/>
          <p:nvPr/>
        </p:nvSpPr>
        <p:spPr>
          <a:xfrm>
            <a:off x="559155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42"/>
          <p:cNvSpPr/>
          <p:nvPr/>
        </p:nvSpPr>
        <p:spPr>
          <a:xfrm>
            <a:off x="659739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43"/>
          <p:cNvSpPr/>
          <p:nvPr/>
        </p:nvSpPr>
        <p:spPr>
          <a:xfrm>
            <a:off x="76032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44"/>
          <p:cNvSpPr/>
          <p:nvPr/>
        </p:nvSpPr>
        <p:spPr>
          <a:xfrm>
            <a:off x="860907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45"/>
          <p:cNvSpPr/>
          <p:nvPr/>
        </p:nvSpPr>
        <p:spPr>
          <a:xfrm>
            <a:off x="961491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figure46" descr="9칸 띠: 색칠, 색칠, 빈 칸이 세 번 되풀이됨"/>
          <p:cNvSpPr/>
          <p:nvPr/>
        </p:nvSpPr>
        <p:spPr>
          <a:xfrm>
            <a:off x="1568196" y="2845562"/>
            <a:ext cx="905256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올 모양은?</a:t>
            </a:r>
            <a:endParaRPr lang="ko-KR" sz="4400" dirty="0"/>
          </a:p>
        </p:txBody>
      </p:sp>
      <p:sp>
        <p:nvSpPr>
          <p:cNvPr id="3" name="S06-card4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4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손가락으로 묶어 봐요.</a:t>
            </a:r>
            <a:endParaRPr lang="ko-KR" sz="3200" dirty="0"/>
          </a:p>
        </p:txBody>
      </p:sp>
      <p:sp>
        <p:nvSpPr>
          <p:cNvPr id="5" name="S06-tile49"/>
          <p:cNvSpPr txBox="1"/>
          <p:nvPr/>
        </p:nvSpPr>
        <p:spPr>
          <a:xfrm>
            <a:off x="153314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6-tile50"/>
          <p:cNvSpPr txBox="1"/>
          <p:nvPr/>
        </p:nvSpPr>
        <p:spPr>
          <a:xfrm>
            <a:off x="286512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7" name="S06-tile51"/>
          <p:cNvSpPr txBox="1"/>
          <p:nvPr/>
        </p:nvSpPr>
        <p:spPr>
          <a:xfrm>
            <a:off x="419709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8" name="S06-tile52"/>
          <p:cNvSpPr txBox="1"/>
          <p:nvPr/>
        </p:nvSpPr>
        <p:spPr>
          <a:xfrm>
            <a:off x="552907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9" name="S06-tile53"/>
          <p:cNvSpPr txBox="1"/>
          <p:nvPr/>
        </p:nvSpPr>
        <p:spPr>
          <a:xfrm>
            <a:off x="686104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10" name="S06-tile54"/>
          <p:cNvSpPr txBox="1"/>
          <p:nvPr/>
        </p:nvSpPr>
        <p:spPr>
          <a:xfrm>
            <a:off x="819302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11" name="S06-tile55"/>
          <p:cNvSpPr txBox="1"/>
          <p:nvPr/>
        </p:nvSpPr>
        <p:spPr>
          <a:xfrm>
            <a:off x="952500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2" name="S06-tile56"/>
          <p:cNvSpPr txBox="1"/>
          <p:nvPr/>
        </p:nvSpPr>
        <p:spPr>
          <a:xfrm>
            <a:off x="153314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3" name="S06-tile57"/>
          <p:cNvSpPr txBox="1"/>
          <p:nvPr/>
        </p:nvSpPr>
        <p:spPr>
          <a:xfrm>
            <a:off x="286512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4" name="S06-tile58"/>
          <p:cNvSpPr txBox="1"/>
          <p:nvPr/>
        </p:nvSpPr>
        <p:spPr>
          <a:xfrm>
            <a:off x="419709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5" name="S06-tile59"/>
          <p:cNvSpPr txBox="1"/>
          <p:nvPr/>
        </p:nvSpPr>
        <p:spPr>
          <a:xfrm>
            <a:off x="552907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16" name="S06-tile60"/>
          <p:cNvSpPr txBox="1"/>
          <p:nvPr/>
        </p:nvSpPr>
        <p:spPr>
          <a:xfrm>
            <a:off x="686104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7" name="S06-tile61"/>
          <p:cNvSpPr txBox="1"/>
          <p:nvPr/>
        </p:nvSpPr>
        <p:spPr>
          <a:xfrm>
            <a:off x="819302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18" name="S06-tile62"/>
          <p:cNvSpPr txBox="1"/>
          <p:nvPr/>
        </p:nvSpPr>
        <p:spPr>
          <a:xfrm>
            <a:off x="952500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9" name="S06-tile63"/>
          <p:cNvSpPr txBox="1"/>
          <p:nvPr/>
        </p:nvSpPr>
        <p:spPr>
          <a:xfrm>
            <a:off x="153314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20" name="S06-tile64"/>
          <p:cNvSpPr txBox="1"/>
          <p:nvPr/>
        </p:nvSpPr>
        <p:spPr>
          <a:xfrm>
            <a:off x="286512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21" name="S06-tile65"/>
          <p:cNvSpPr txBox="1"/>
          <p:nvPr/>
        </p:nvSpPr>
        <p:spPr>
          <a:xfrm>
            <a:off x="419709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22" name="S06-tile66"/>
          <p:cNvSpPr txBox="1"/>
          <p:nvPr/>
        </p:nvSpPr>
        <p:spPr>
          <a:xfrm>
            <a:off x="552907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4900" dirty="0"/>
          </a:p>
        </p:txBody>
      </p:sp>
      <p:sp>
        <p:nvSpPr>
          <p:cNvPr id="23" name="S06-tile67"/>
          <p:cNvSpPr txBox="1"/>
          <p:nvPr/>
        </p:nvSpPr>
        <p:spPr>
          <a:xfrm>
            <a:off x="686104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4900" dirty="0"/>
          </a:p>
        </p:txBody>
      </p:sp>
      <p:sp>
        <p:nvSpPr>
          <p:cNvPr id="24" name="S06-tile68"/>
          <p:cNvSpPr txBox="1"/>
          <p:nvPr/>
        </p:nvSpPr>
        <p:spPr>
          <a:xfrm>
            <a:off x="819302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4900" dirty="0"/>
          </a:p>
        </p:txBody>
      </p:sp>
      <p:sp>
        <p:nvSpPr>
          <p:cNvPr id="25" name="S06-tile69"/>
          <p:cNvSpPr txBox="1"/>
          <p:nvPr/>
        </p:nvSpPr>
        <p:spPr>
          <a:xfrm>
            <a:off x="952500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400" dirty="0"/>
          </a:p>
        </p:txBody>
      </p:sp>
      <p:sp>
        <p:nvSpPr>
          <p:cNvPr id="3" name="S07-card7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● ▲ ● ● ▲ ● 다음에 올 모양은?</a:t>
            </a:r>
            <a:endParaRPr lang="ko-KR" sz="3200" dirty="0"/>
          </a:p>
        </p:txBody>
      </p:sp>
      <p:sp>
        <p:nvSpPr>
          <p:cNvPr id="5" name="S07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묶어 보고 말해요.</a:t>
            </a:r>
            <a:endParaRPr lang="ko-KR" sz="3200" dirty="0"/>
          </a:p>
        </p:txBody>
      </p:sp>
      <p:sp>
        <p:nvSpPr>
          <p:cNvPr id="7" name="S07-chip7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▲</a:t>
            </a:r>
            <a:endParaRPr lang="ko-KR" sz="2600" dirty="0"/>
          </a:p>
        </p:txBody>
      </p:sp>
      <p:sp>
        <p:nvSpPr>
          <p:cNvPr id="8" name="S07-text7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“● 다음에는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▲가 와요.”</a:t>
            </a:r>
            <a:endParaRPr lang="ko-KR" sz="3200" dirty="0"/>
          </a:p>
        </p:txBody>
      </p:sp>
      <p:sp>
        <p:nvSpPr>
          <p:cNvPr id="9" name="S07-chip7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●</a:t>
            </a:r>
            <a:endParaRPr lang="ko-KR" sz="2600" dirty="0"/>
          </a:p>
        </p:txBody>
      </p:sp>
      <p:sp>
        <p:nvSpPr>
          <p:cNvPr id="10" name="S07-text7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“● ● ▲가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되풀이돼요.”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나타내요</a:t>
            </a:r>
            <a:endParaRPr lang="ko-KR" sz="4400" dirty="0"/>
          </a:p>
        </p:txBody>
      </p:sp>
      <p:sp>
        <p:nvSpPr>
          <p:cNvPr id="3" name="S08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●는 1, ▲는 2로 약속해요.</a:t>
            </a:r>
            <a:endParaRPr lang="ko-KR" sz="3200" dirty="0"/>
          </a:p>
        </p:txBody>
      </p:sp>
      <p:sp>
        <p:nvSpPr>
          <p:cNvPr id="4" name="S08-card79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0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2 1 2 1 2로 나타낼 수 있어요.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‘짝’, 발 ‘쿵’으로도 나타내요.</a:t>
            </a:r>
            <a:endParaRPr lang="ko-KR" sz="3200" dirty="0"/>
          </a:p>
        </p:txBody>
      </p:sp>
      <p:sp>
        <p:nvSpPr>
          <p:cNvPr id="6" name="S08-tile81"/>
          <p:cNvSpPr txBox="1"/>
          <p:nvPr/>
        </p:nvSpPr>
        <p:spPr>
          <a:xfrm>
            <a:off x="1476756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7" name="S08-label82"/>
          <p:cNvSpPr txBox="1"/>
          <p:nvPr/>
        </p:nvSpPr>
        <p:spPr>
          <a:xfrm>
            <a:off x="1376172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8-tile83"/>
          <p:cNvSpPr txBox="1"/>
          <p:nvPr/>
        </p:nvSpPr>
        <p:spPr>
          <a:xfrm>
            <a:off x="3049524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9" name="S08-label84"/>
          <p:cNvSpPr txBox="1"/>
          <p:nvPr/>
        </p:nvSpPr>
        <p:spPr>
          <a:xfrm>
            <a:off x="2948940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8-tile85"/>
          <p:cNvSpPr txBox="1"/>
          <p:nvPr/>
        </p:nvSpPr>
        <p:spPr>
          <a:xfrm>
            <a:off x="4622292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1" name="S08-label86"/>
          <p:cNvSpPr txBox="1"/>
          <p:nvPr/>
        </p:nvSpPr>
        <p:spPr>
          <a:xfrm>
            <a:off x="4521708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2" name="S08-tile87"/>
          <p:cNvSpPr txBox="1"/>
          <p:nvPr/>
        </p:nvSpPr>
        <p:spPr>
          <a:xfrm>
            <a:off x="6195060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3" name="S08-label88"/>
          <p:cNvSpPr txBox="1"/>
          <p:nvPr/>
        </p:nvSpPr>
        <p:spPr>
          <a:xfrm>
            <a:off x="6094476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4" name="S08-tile89"/>
          <p:cNvSpPr txBox="1"/>
          <p:nvPr/>
        </p:nvSpPr>
        <p:spPr>
          <a:xfrm>
            <a:off x="7767828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15" name="S08-label90"/>
          <p:cNvSpPr txBox="1"/>
          <p:nvPr/>
        </p:nvSpPr>
        <p:spPr>
          <a:xfrm>
            <a:off x="7667244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8-tile91"/>
          <p:cNvSpPr txBox="1"/>
          <p:nvPr/>
        </p:nvSpPr>
        <p:spPr>
          <a:xfrm>
            <a:off x="9340596" y="2434082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7" name="S08-label92"/>
          <p:cNvSpPr txBox="1"/>
          <p:nvPr/>
        </p:nvSpPr>
        <p:spPr>
          <a:xfrm>
            <a:off x="9240012" y="384225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올 수는?</a:t>
            </a:r>
            <a:endParaRPr lang="ko-KR" sz="4400" dirty="0"/>
          </a:p>
        </p:txBody>
      </p:sp>
      <p:sp>
        <p:nvSpPr>
          <p:cNvPr id="3" name="S09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모양처럼 수도 되풀이되는 부분을 찾아요.</a:t>
            </a:r>
            <a:endParaRPr lang="ko-KR" sz="3200" dirty="0"/>
          </a:p>
        </p:txBody>
      </p:sp>
      <p:sp>
        <p:nvSpPr>
          <p:cNvPr id="5" name="S09-tile95"/>
          <p:cNvSpPr txBox="1"/>
          <p:nvPr/>
        </p:nvSpPr>
        <p:spPr>
          <a:xfrm>
            <a:off x="153314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4900" dirty="0"/>
          </a:p>
        </p:txBody>
      </p:sp>
      <p:sp>
        <p:nvSpPr>
          <p:cNvPr id="6" name="S09-tile96"/>
          <p:cNvSpPr txBox="1"/>
          <p:nvPr/>
        </p:nvSpPr>
        <p:spPr>
          <a:xfrm>
            <a:off x="286512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7" name="S09-tile97"/>
          <p:cNvSpPr txBox="1"/>
          <p:nvPr/>
        </p:nvSpPr>
        <p:spPr>
          <a:xfrm>
            <a:off x="4197096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900" dirty="0"/>
          </a:p>
        </p:txBody>
      </p:sp>
      <p:sp>
        <p:nvSpPr>
          <p:cNvPr id="8" name="S09-tile98"/>
          <p:cNvSpPr txBox="1"/>
          <p:nvPr/>
        </p:nvSpPr>
        <p:spPr>
          <a:xfrm>
            <a:off x="5529072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9" name="S09-tile99"/>
          <p:cNvSpPr txBox="1"/>
          <p:nvPr/>
        </p:nvSpPr>
        <p:spPr>
          <a:xfrm>
            <a:off x="6861048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900" dirty="0"/>
          </a:p>
        </p:txBody>
      </p:sp>
      <p:sp>
        <p:nvSpPr>
          <p:cNvPr id="10" name="S09-tile100"/>
          <p:cNvSpPr txBox="1"/>
          <p:nvPr/>
        </p:nvSpPr>
        <p:spPr>
          <a:xfrm>
            <a:off x="8193024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900" dirty="0"/>
          </a:p>
        </p:txBody>
      </p:sp>
      <p:sp>
        <p:nvSpPr>
          <p:cNvPr id="11" name="S09-tile101"/>
          <p:cNvSpPr txBox="1"/>
          <p:nvPr/>
        </p:nvSpPr>
        <p:spPr>
          <a:xfrm>
            <a:off x="9525000" y="1325880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2" name="S09-tile102"/>
          <p:cNvSpPr txBox="1"/>
          <p:nvPr/>
        </p:nvSpPr>
        <p:spPr>
          <a:xfrm>
            <a:off x="153314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4900" dirty="0"/>
          </a:p>
        </p:txBody>
      </p:sp>
      <p:sp>
        <p:nvSpPr>
          <p:cNvPr id="13" name="S09-tile103"/>
          <p:cNvSpPr txBox="1"/>
          <p:nvPr/>
        </p:nvSpPr>
        <p:spPr>
          <a:xfrm>
            <a:off x="286512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4" name="S09-tile104"/>
          <p:cNvSpPr txBox="1"/>
          <p:nvPr/>
        </p:nvSpPr>
        <p:spPr>
          <a:xfrm>
            <a:off x="4197096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5" name="S09-tile105"/>
          <p:cNvSpPr txBox="1"/>
          <p:nvPr/>
        </p:nvSpPr>
        <p:spPr>
          <a:xfrm>
            <a:off x="5529072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900" dirty="0"/>
          </a:p>
        </p:txBody>
      </p:sp>
      <p:sp>
        <p:nvSpPr>
          <p:cNvPr id="16" name="S09-tile106"/>
          <p:cNvSpPr txBox="1"/>
          <p:nvPr/>
        </p:nvSpPr>
        <p:spPr>
          <a:xfrm>
            <a:off x="6861048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7" name="S09-tile107"/>
          <p:cNvSpPr txBox="1"/>
          <p:nvPr/>
        </p:nvSpPr>
        <p:spPr>
          <a:xfrm>
            <a:off x="8193024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900" dirty="0"/>
          </a:p>
        </p:txBody>
      </p:sp>
      <p:sp>
        <p:nvSpPr>
          <p:cNvPr id="18" name="S09-tile108"/>
          <p:cNvSpPr txBox="1"/>
          <p:nvPr/>
        </p:nvSpPr>
        <p:spPr>
          <a:xfrm>
            <a:off x="9525000" y="2657856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19" name="S09-tile109"/>
          <p:cNvSpPr txBox="1"/>
          <p:nvPr/>
        </p:nvSpPr>
        <p:spPr>
          <a:xfrm>
            <a:off x="153314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4900" dirty="0"/>
          </a:p>
        </p:txBody>
      </p:sp>
      <p:sp>
        <p:nvSpPr>
          <p:cNvPr id="20" name="S09-tile110"/>
          <p:cNvSpPr txBox="1"/>
          <p:nvPr/>
        </p:nvSpPr>
        <p:spPr>
          <a:xfrm>
            <a:off x="286512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21" name="S09-tile111"/>
          <p:cNvSpPr txBox="1"/>
          <p:nvPr/>
        </p:nvSpPr>
        <p:spPr>
          <a:xfrm>
            <a:off x="4197096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900" dirty="0"/>
          </a:p>
        </p:txBody>
      </p:sp>
      <p:sp>
        <p:nvSpPr>
          <p:cNvPr id="22" name="S09-tile112"/>
          <p:cNvSpPr txBox="1"/>
          <p:nvPr/>
        </p:nvSpPr>
        <p:spPr>
          <a:xfrm>
            <a:off x="5529072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900" dirty="0"/>
          </a:p>
        </p:txBody>
      </p:sp>
      <p:sp>
        <p:nvSpPr>
          <p:cNvPr id="23" name="S09-tile113"/>
          <p:cNvSpPr txBox="1"/>
          <p:nvPr/>
        </p:nvSpPr>
        <p:spPr>
          <a:xfrm>
            <a:off x="6861048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900" dirty="0"/>
          </a:p>
        </p:txBody>
      </p:sp>
      <p:sp>
        <p:nvSpPr>
          <p:cNvPr id="24" name="S09-tile114"/>
          <p:cNvSpPr txBox="1"/>
          <p:nvPr/>
        </p:nvSpPr>
        <p:spPr>
          <a:xfrm>
            <a:off x="8193024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4900" dirty="0"/>
          </a:p>
        </p:txBody>
      </p:sp>
      <p:sp>
        <p:nvSpPr>
          <p:cNvPr id="25" name="S09-tile115"/>
          <p:cNvSpPr txBox="1"/>
          <p:nvPr/>
        </p:nvSpPr>
        <p:spPr>
          <a:xfrm>
            <a:off x="9525000" y="3989832"/>
            <a:ext cx="1130808" cy="1130808"/>
          </a:xfrm>
          <a:prstGeom prst="roundRect">
            <a:avLst>
              <a:gd name="adj" fmla="val 1132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규칙 만들기</a:t>
            </a:r>
            <a:endParaRPr lang="ko-KR" sz="4400" dirty="0"/>
          </a:p>
        </p:txBody>
      </p:sp>
      <p:sp>
        <p:nvSpPr>
          <p:cNvPr id="3" name="S10-card116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17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부분이 3번 되풀이돼요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규칙을 말로 설명했어요</a:t>
            </a:r>
            <a:endParaRPr lang="ko-KR" sz="3200" dirty="0"/>
          </a:p>
        </p:txBody>
      </p:sp>
      <p:sp>
        <p:nvSpPr>
          <p:cNvPr id="5" name="S10-stepno118"/>
          <p:cNvSpPr txBox="1"/>
          <p:nvPr/>
        </p:nvSpPr>
        <p:spPr>
          <a:xfrm>
            <a:off x="548640" y="27843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0-text119"/>
          <p:cNvSpPr txBox="1"/>
          <p:nvPr/>
        </p:nvSpPr>
        <p:spPr>
          <a:xfrm>
            <a:off x="1325880" y="27843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규칙을 만들어요.</a:t>
            </a:r>
            <a:endParaRPr lang="ko-KR" sz="3200" dirty="0"/>
          </a:p>
        </p:txBody>
      </p:sp>
      <p:sp>
        <p:nvSpPr>
          <p:cNvPr id="7" name="S10-stepno120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0-text121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말해요.</a:t>
            </a:r>
            <a:endParaRPr lang="ko-KR" sz="3200" dirty="0"/>
          </a:p>
        </p:txBody>
      </p:sp>
      <p:sp>
        <p:nvSpPr>
          <p:cNvPr id="9" name="S10-stepno122"/>
          <p:cNvSpPr txBox="1"/>
          <p:nvPr/>
        </p:nvSpPr>
        <p:spPr>
          <a:xfrm>
            <a:off x="548640" y="4210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0-text123"/>
          <p:cNvSpPr txBox="1"/>
          <p:nvPr/>
        </p:nvSpPr>
        <p:spPr>
          <a:xfrm>
            <a:off x="1325880" y="4210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손뼉과 발로 나타내요.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ard12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12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 ?에 올 것을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● ■ ● ■를 손뼉과 발로 나타내요.</a:t>
            </a:r>
            <a:endParaRPr lang="ko-KR" sz="3200" dirty="0"/>
          </a:p>
        </p:txBody>
      </p:sp>
      <p:sp>
        <p:nvSpPr>
          <p:cNvPr id="5" name="S11-tile126"/>
          <p:cNvSpPr txBox="1"/>
          <p:nvPr/>
        </p:nvSpPr>
        <p:spPr>
          <a:xfrm>
            <a:off x="69037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5900" dirty="0"/>
          </a:p>
        </p:txBody>
      </p:sp>
      <p:sp>
        <p:nvSpPr>
          <p:cNvPr id="6" name="S11-tile127"/>
          <p:cNvSpPr txBox="1"/>
          <p:nvPr/>
        </p:nvSpPr>
        <p:spPr>
          <a:xfrm>
            <a:off x="226314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7" name="S11-tile128"/>
          <p:cNvSpPr txBox="1"/>
          <p:nvPr/>
        </p:nvSpPr>
        <p:spPr>
          <a:xfrm>
            <a:off x="3835908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8" name="S11-tile129"/>
          <p:cNvSpPr txBox="1"/>
          <p:nvPr/>
        </p:nvSpPr>
        <p:spPr>
          <a:xfrm>
            <a:off x="5408676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9" name="S11-tile130"/>
          <p:cNvSpPr txBox="1"/>
          <p:nvPr/>
        </p:nvSpPr>
        <p:spPr>
          <a:xfrm>
            <a:off x="6981444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0" name="S11-tile131"/>
          <p:cNvSpPr txBox="1"/>
          <p:nvPr/>
        </p:nvSpPr>
        <p:spPr>
          <a:xfrm>
            <a:off x="8554212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11" name="S11-tile132"/>
          <p:cNvSpPr txBox="1"/>
          <p:nvPr/>
        </p:nvSpPr>
        <p:spPr>
          <a:xfrm>
            <a:off x="10126980" y="1533398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2" name="S11-tile133"/>
          <p:cNvSpPr txBox="1"/>
          <p:nvPr/>
        </p:nvSpPr>
        <p:spPr>
          <a:xfrm>
            <a:off x="69037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5900" dirty="0"/>
          </a:p>
        </p:txBody>
      </p:sp>
      <p:sp>
        <p:nvSpPr>
          <p:cNvPr id="13" name="S11-tile134"/>
          <p:cNvSpPr txBox="1"/>
          <p:nvPr/>
        </p:nvSpPr>
        <p:spPr>
          <a:xfrm>
            <a:off x="226314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4" name="S11-tile135"/>
          <p:cNvSpPr txBox="1"/>
          <p:nvPr/>
        </p:nvSpPr>
        <p:spPr>
          <a:xfrm>
            <a:off x="3835908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5900" dirty="0"/>
          </a:p>
        </p:txBody>
      </p:sp>
      <p:sp>
        <p:nvSpPr>
          <p:cNvPr id="15" name="S11-tile136"/>
          <p:cNvSpPr txBox="1"/>
          <p:nvPr/>
        </p:nvSpPr>
        <p:spPr>
          <a:xfrm>
            <a:off x="5408676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6" name="S11-tile137"/>
          <p:cNvSpPr txBox="1"/>
          <p:nvPr/>
        </p:nvSpPr>
        <p:spPr>
          <a:xfrm>
            <a:off x="6981444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5900" dirty="0"/>
          </a:p>
        </p:txBody>
      </p:sp>
      <p:sp>
        <p:nvSpPr>
          <p:cNvPr id="17" name="S11-tile138"/>
          <p:cNvSpPr txBox="1"/>
          <p:nvPr/>
        </p:nvSpPr>
        <p:spPr>
          <a:xfrm>
            <a:off x="8554212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5900" dirty="0"/>
          </a:p>
        </p:txBody>
      </p:sp>
      <p:sp>
        <p:nvSpPr>
          <p:cNvPr id="18" name="S11-tile139"/>
          <p:cNvSpPr txBox="1"/>
          <p:nvPr/>
        </p:nvSpPr>
        <p:spPr>
          <a:xfrm>
            <a:off x="10126980" y="310616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두 칸은?</a:t>
            </a:r>
            <a:endParaRPr lang="ko-KR" sz="4400" dirty="0"/>
          </a:p>
        </p:txBody>
      </p:sp>
      <p:sp>
        <p:nvSpPr>
          <p:cNvPr id="3" name="S13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색칠한 칸과 빈 칸의 규칙을 찾아요.</a:t>
            </a:r>
            <a:endParaRPr lang="ko-KR" sz="3200" dirty="0"/>
          </a:p>
        </p:txBody>
      </p:sp>
      <p:sp>
        <p:nvSpPr>
          <p:cNvPr id="4" name="S13-card14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14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두 칸은 색칠할까요, 비워 둘까요?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말해요.</a:t>
            </a:r>
            <a:endParaRPr lang="ko-KR" sz="3200" dirty="0"/>
          </a:p>
        </p:txBody>
      </p:sp>
      <p:sp>
        <p:nvSpPr>
          <p:cNvPr id="6" name="S13-cell143"/>
          <p:cNvSpPr/>
          <p:nvPr/>
        </p:nvSpPr>
        <p:spPr>
          <a:xfrm>
            <a:off x="257403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3-cell144"/>
          <p:cNvSpPr/>
          <p:nvPr/>
        </p:nvSpPr>
        <p:spPr>
          <a:xfrm>
            <a:off x="357987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145"/>
          <p:cNvSpPr/>
          <p:nvPr/>
        </p:nvSpPr>
        <p:spPr>
          <a:xfrm>
            <a:off x="458571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146"/>
          <p:cNvSpPr/>
          <p:nvPr/>
        </p:nvSpPr>
        <p:spPr>
          <a:xfrm>
            <a:off x="559155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147"/>
          <p:cNvSpPr/>
          <p:nvPr/>
        </p:nvSpPr>
        <p:spPr>
          <a:xfrm>
            <a:off x="659739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148"/>
          <p:cNvSpPr/>
          <p:nvPr/>
        </p:nvSpPr>
        <p:spPr>
          <a:xfrm>
            <a:off x="7603236" y="2845562"/>
            <a:ext cx="10058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149"/>
          <p:cNvSpPr/>
          <p:nvPr/>
        </p:nvSpPr>
        <p:spPr>
          <a:xfrm>
            <a:off x="8609076" y="2845562"/>
            <a:ext cx="1005840" cy="100584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figure150" descr="7칸 띠: 색칠, 빈 칸, 빈 칸이 되풀이되고 마지막은 색칠한 칸"/>
          <p:cNvSpPr/>
          <p:nvPr/>
        </p:nvSpPr>
        <p:spPr>
          <a:xfrm>
            <a:off x="2574036" y="2845562"/>
            <a:ext cx="7040880" cy="100584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되풀이되는 부분을 찾으면 다음을 알 수 있어요.</a:t>
            </a:r>
            <a:endParaRPr lang="ko-KR" sz="3200" dirty="0"/>
          </a:p>
        </p:txBody>
      </p:sp>
      <p:sp>
        <p:nvSpPr>
          <p:cNvPr id="5" name="S14-chip15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묶어서 찾기</a:t>
            </a:r>
            <a:endParaRPr lang="ko-KR" sz="2600" dirty="0"/>
          </a:p>
        </p:txBody>
      </p:sp>
      <p:sp>
        <p:nvSpPr>
          <p:cNvPr id="6" name="S14-chip15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바로 앞만 보기</a:t>
            </a:r>
            <a:endParaRPr lang="ko-KR" sz="2600" dirty="0"/>
          </a:p>
        </p:txBody>
      </p:sp>
      <p:sp>
        <p:nvSpPr>
          <p:cNvPr id="7" name="S14-text15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5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● ■ ● ■ ●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9" name="S14-text15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3 1 3 3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수는?</a:t>
            </a:r>
            <a:endParaRPr lang="ko-KR" sz="2600" dirty="0"/>
          </a:p>
        </p:txBody>
      </p:sp>
      <p:sp>
        <p:nvSpPr>
          <p:cNvPr id="10" name="S14-text15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▲ ● ● ▲ ● ● ▲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다음은?</a:t>
            </a:r>
            <a:endParaRPr lang="ko-KR" sz="2600" dirty="0"/>
          </a:p>
        </p:txBody>
      </p:sp>
      <p:sp>
        <p:nvSpPr>
          <p:cNvPr id="11" name="S14-text15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 배열의 규칙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모양 찾기</a:t>
            </a:r>
            <a:endParaRPr lang="ko-KR" sz="4400" dirty="0"/>
          </a:p>
        </p:txBody>
      </p:sp>
      <p:sp>
        <p:nvSpPr>
          <p:cNvPr id="3" name="S15-text1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세모만 짚으며 세어 봐요.</a:t>
            </a:r>
            <a:endParaRPr lang="ko-KR" sz="3200" dirty="0"/>
          </a:p>
        </p:txBody>
      </p:sp>
      <p:sp>
        <p:nvSpPr>
          <p:cNvPr id="4" name="S15-card1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세모는 3개예요. 같은 모양끼리 짚어요.</a:t>
            </a:r>
            <a:endParaRPr lang="ko-KR" sz="3200" dirty="0"/>
          </a:p>
        </p:txBody>
      </p:sp>
      <p:sp>
        <p:nvSpPr>
          <p:cNvPr id="6" name="S15-tile163"/>
          <p:cNvSpPr txBox="1"/>
          <p:nvPr/>
        </p:nvSpPr>
        <p:spPr>
          <a:xfrm>
            <a:off x="2263140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7" name="S15-tile164"/>
          <p:cNvSpPr txBox="1"/>
          <p:nvPr/>
        </p:nvSpPr>
        <p:spPr>
          <a:xfrm>
            <a:off x="3835908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endParaRPr lang="ko-KR" sz="5900" dirty="0"/>
          </a:p>
        </p:txBody>
      </p:sp>
      <p:sp>
        <p:nvSpPr>
          <p:cNvPr id="8" name="S15-tile165"/>
          <p:cNvSpPr txBox="1"/>
          <p:nvPr/>
        </p:nvSpPr>
        <p:spPr>
          <a:xfrm>
            <a:off x="5408676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9" name="S15-tile166"/>
          <p:cNvSpPr txBox="1"/>
          <p:nvPr/>
        </p:nvSpPr>
        <p:spPr>
          <a:xfrm>
            <a:off x="6981444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</a:t>
            </a:r>
            <a:endParaRPr lang="ko-KR" sz="5900" dirty="0"/>
          </a:p>
        </p:txBody>
      </p:sp>
      <p:sp>
        <p:nvSpPr>
          <p:cNvPr id="10" name="S15-tile167"/>
          <p:cNvSpPr txBox="1"/>
          <p:nvPr/>
        </p:nvSpPr>
        <p:spPr>
          <a:xfrm>
            <a:off x="8554212" y="28803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규칙 찾기</dc:title>
  <dc:subject>KR22-G01-MAT-PATTERN-L01</dc:subject>
  <dc:creator>education-ppt</dc:creator>
  <cp:lastModifiedBy>education-ppt</cp:lastModifiedBy>
  <cp:revision>1</cp:revision>
  <dcterms:created xsi:type="dcterms:W3CDTF">2026-10-26T07:13:37Z</dcterms:created>
  <dcterms:modified xsi:type="dcterms:W3CDTF">2026-10-26T07:13:37Z</dcterms:modified>
</cp:coreProperties>
</file>