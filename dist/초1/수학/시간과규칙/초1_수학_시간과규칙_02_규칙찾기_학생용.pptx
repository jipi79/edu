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c4e43c9-307b-2940-abb1-780a35d2d7e3}">
          <p14:sldIdLst>
            <p14:sldId id="256"/>
            <p14:sldId id="257"/>
          </p14:sldIdLst>
        </p14:section>
        <p14:section name="개념" id="{4140df89-de01-448c-4c2c-695f025c2094}">
          <p14:sldIdLst>
            <p14:sldId id="258"/>
            <p14:sldId id="259"/>
            <p14:sldId id="260"/>
            <p14:sldId id="263"/>
          </p14:sldIdLst>
        </p14:section>
        <p14:section name="연습" id="{8694d392-328e-055a-670d-cdc694fbbc43}">
          <p14:sldIdLst>
            <p14:sldId id="261"/>
            <p14:sldId id="262"/>
            <p14:sldId id="264"/>
            <p14:sldId id="265"/>
          </p14:sldIdLst>
        </p14:section>
        <p14:section name="개념" id="{53b49558-6b12-5d49-53ef-b1cb47e49c35}">
          <p14:sldIdLst/>
        </p14:section>
        <p14:section name="연습" id="{366b66b1-e93f-2a57-49d3-2968732d9309}">
          <p14:sldIdLst/>
        </p14:section>
        <p14:section name="확인" id="{b4a3ad88-d6f1-8ac2-3569-944e61d8506f}">
          <p14:sldIdLst>
            <p14:sldId id="266"/>
            <p14:sldId id="267"/>
          </p14:sldIdLst>
        </p14:section>
        <p14:section name="정리" id="{e6d01cc0-a14d-cf6a-e84a-bdc2450dee4b}">
          <p14:sldIdLst>
            <p14:sldId id="268"/>
          </p14:sldIdLst>
        </p14:section>
        <p14:section name="보충" id="{a1c1fbab-09c9-412c-a111-45d0ae691f5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시간과규칙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규칙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규칙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규칙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찾기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다음에는 무엇이 올까?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700" dirty="0"/>
          </a:p>
        </p:txBody>
      </p:sp>
      <p:sp>
        <p:nvSpPr>
          <p:cNvPr id="5" name="S01-tile2"/>
          <p:cNvSpPr txBox="1"/>
          <p:nvPr/>
        </p:nvSpPr>
        <p:spPr>
          <a:xfrm>
            <a:off x="8507578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700" dirty="0"/>
          </a:p>
        </p:txBody>
      </p:sp>
      <p:sp>
        <p:nvSpPr>
          <p:cNvPr id="6" name="S01-tile3"/>
          <p:cNvSpPr txBox="1"/>
          <p:nvPr/>
        </p:nvSpPr>
        <p:spPr>
          <a:xfrm>
            <a:off x="9334195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700" dirty="0"/>
          </a:p>
        </p:txBody>
      </p:sp>
      <p:sp>
        <p:nvSpPr>
          <p:cNvPr id="7" name="S01-tile4"/>
          <p:cNvSpPr txBox="1"/>
          <p:nvPr/>
        </p:nvSpPr>
        <p:spPr>
          <a:xfrm>
            <a:off x="10160813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700" dirty="0"/>
          </a:p>
        </p:txBody>
      </p:sp>
      <p:sp>
        <p:nvSpPr>
          <p:cNvPr id="8" name="S01-tile5"/>
          <p:cNvSpPr txBox="1"/>
          <p:nvPr/>
        </p:nvSpPr>
        <p:spPr>
          <a:xfrm>
            <a:off x="1098743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700" dirty="0"/>
          </a:p>
        </p:txBody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되풀이되는 규칙을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규칙을 이어 만들고 바꾸어 나타내요.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기억하고 있나요?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▲ ●의 이름을 말해요.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● ▲ ▲ ●에서 ▲는 몇 개?</a:t>
            </a:r>
            <a:endParaRPr lang="ko-KR" sz="32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 12, 짧은바늘 4는 몇 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모양이 되풀이될까요?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▲가 되풀이돼요.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찾으면 규칙이 보여요.</a:t>
            </a:r>
            <a:endParaRPr lang="ko-KR" sz="3200" dirty="0"/>
          </a:p>
        </p:txBody>
      </p:sp>
      <p:sp>
        <p:nvSpPr>
          <p:cNvPr id="6" name="S03-tile17"/>
          <p:cNvSpPr txBox="1"/>
          <p:nvPr/>
        </p:nvSpPr>
        <p:spPr>
          <a:xfrm>
            <a:off x="1476756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7" name="S03-tile18"/>
          <p:cNvSpPr txBox="1"/>
          <p:nvPr/>
        </p:nvSpPr>
        <p:spPr>
          <a:xfrm>
            <a:off x="3049524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8" name="S03-tile19"/>
          <p:cNvSpPr txBox="1"/>
          <p:nvPr/>
        </p:nvSpPr>
        <p:spPr>
          <a:xfrm>
            <a:off x="4622292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9" name="S03-tile20"/>
          <p:cNvSpPr txBox="1"/>
          <p:nvPr/>
        </p:nvSpPr>
        <p:spPr>
          <a:xfrm>
            <a:off x="6195060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10" name="S03-tile21"/>
          <p:cNvSpPr txBox="1"/>
          <p:nvPr/>
        </p:nvSpPr>
        <p:spPr>
          <a:xfrm>
            <a:off x="7767828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11" name="S03-tile22"/>
          <p:cNvSpPr txBox="1"/>
          <p:nvPr/>
        </p:nvSpPr>
        <p:spPr>
          <a:xfrm>
            <a:off x="9340596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 올 모양은?</a:t>
            </a:r>
            <a:endParaRPr lang="ko-KR" sz="4400" dirty="0"/>
          </a:p>
        </p:txBody>
      </p:sp>
      <p:sp>
        <p:nvSpPr>
          <p:cNvPr id="3" name="S04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묶어 봐요.</a:t>
            </a:r>
            <a:endParaRPr lang="ko-KR" sz="3200" dirty="0"/>
          </a:p>
        </p:txBody>
      </p:sp>
      <p:sp>
        <p:nvSpPr>
          <p:cNvPr id="4" name="S04-card2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■ ●가 되풀이돼요.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?에는 ■가 와요.</a:t>
            </a:r>
            <a:endParaRPr lang="ko-KR" sz="3200" dirty="0"/>
          </a:p>
        </p:txBody>
      </p:sp>
      <p:sp>
        <p:nvSpPr>
          <p:cNvPr id="6" name="S04-tile26"/>
          <p:cNvSpPr txBox="1"/>
          <p:nvPr/>
        </p:nvSpPr>
        <p:spPr>
          <a:xfrm>
            <a:off x="548640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7" name="S04-tile27"/>
          <p:cNvSpPr txBox="1"/>
          <p:nvPr/>
        </p:nvSpPr>
        <p:spPr>
          <a:xfrm>
            <a:off x="1960245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8" name="S04-tile28"/>
          <p:cNvSpPr txBox="1"/>
          <p:nvPr/>
        </p:nvSpPr>
        <p:spPr>
          <a:xfrm>
            <a:off x="3371850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9" name="S04-tile29"/>
          <p:cNvSpPr txBox="1"/>
          <p:nvPr/>
        </p:nvSpPr>
        <p:spPr>
          <a:xfrm>
            <a:off x="4783455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10" name="S04-tile30"/>
          <p:cNvSpPr txBox="1"/>
          <p:nvPr/>
        </p:nvSpPr>
        <p:spPr>
          <a:xfrm>
            <a:off x="6195060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11" name="S04-tile31"/>
          <p:cNvSpPr txBox="1"/>
          <p:nvPr/>
        </p:nvSpPr>
        <p:spPr>
          <a:xfrm>
            <a:off x="7606665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12" name="S04-tile32"/>
          <p:cNvSpPr txBox="1"/>
          <p:nvPr/>
        </p:nvSpPr>
        <p:spPr>
          <a:xfrm>
            <a:off x="9018270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13" name="S04-tile33"/>
          <p:cNvSpPr txBox="1"/>
          <p:nvPr/>
        </p:nvSpPr>
        <p:spPr>
          <a:xfrm>
            <a:off x="10429875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색으로 된 규칙</a:t>
            </a:r>
            <a:endParaRPr lang="ko-KR" sz="4400" dirty="0"/>
          </a:p>
        </p:txBody>
      </p:sp>
      <p:sp>
        <p:nvSpPr>
          <p:cNvPr id="3" name="S05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칸과 빈 칸을 봐요.</a:t>
            </a:r>
            <a:endParaRPr lang="ko-KR" sz="3200" dirty="0"/>
          </a:p>
        </p:txBody>
      </p:sp>
      <p:sp>
        <p:nvSpPr>
          <p:cNvPr id="4" name="S05-card3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 2칸, 빈 칸 1칸이 되풀이돼요.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모양뿐 아니라 색으로도 규칙을 만들어요.</a:t>
            </a:r>
            <a:endParaRPr lang="ko-KR" sz="3200" dirty="0"/>
          </a:p>
        </p:txBody>
      </p:sp>
      <p:sp>
        <p:nvSpPr>
          <p:cNvPr id="6" name="S05-cell37"/>
          <p:cNvSpPr/>
          <p:nvPr/>
        </p:nvSpPr>
        <p:spPr>
          <a:xfrm>
            <a:off x="156819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38"/>
          <p:cNvSpPr/>
          <p:nvPr/>
        </p:nvSpPr>
        <p:spPr>
          <a:xfrm>
            <a:off x="257403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39"/>
          <p:cNvSpPr/>
          <p:nvPr/>
        </p:nvSpPr>
        <p:spPr>
          <a:xfrm>
            <a:off x="357987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40"/>
          <p:cNvSpPr/>
          <p:nvPr/>
        </p:nvSpPr>
        <p:spPr>
          <a:xfrm>
            <a:off x="458571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cell41"/>
          <p:cNvSpPr/>
          <p:nvPr/>
        </p:nvSpPr>
        <p:spPr>
          <a:xfrm>
            <a:off x="559155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42"/>
          <p:cNvSpPr/>
          <p:nvPr/>
        </p:nvSpPr>
        <p:spPr>
          <a:xfrm>
            <a:off x="659739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43"/>
          <p:cNvSpPr/>
          <p:nvPr/>
        </p:nvSpPr>
        <p:spPr>
          <a:xfrm>
            <a:off x="760323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44"/>
          <p:cNvSpPr/>
          <p:nvPr/>
        </p:nvSpPr>
        <p:spPr>
          <a:xfrm>
            <a:off x="860907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45"/>
          <p:cNvSpPr/>
          <p:nvPr/>
        </p:nvSpPr>
        <p:spPr>
          <a:xfrm>
            <a:off x="961491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figure46" descr="9칸 띠: 색칠, 색칠, 빈 칸이 세 번 되풀이됨"/>
          <p:cNvSpPr/>
          <p:nvPr/>
        </p:nvSpPr>
        <p:spPr>
          <a:xfrm>
            <a:off x="1568196" y="2845562"/>
            <a:ext cx="905256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?에 올 모양은?</a:t>
            </a:r>
            <a:endParaRPr lang="ko-KR" sz="4400" dirty="0"/>
          </a:p>
        </p:txBody>
      </p:sp>
      <p:sp>
        <p:nvSpPr>
          <p:cNvPr id="3" name="S06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손가락으로 묶어 봐요.</a:t>
            </a:r>
            <a:endParaRPr lang="ko-KR" sz="3200" dirty="0"/>
          </a:p>
        </p:txBody>
      </p:sp>
      <p:sp>
        <p:nvSpPr>
          <p:cNvPr id="5" name="S06-tile49"/>
          <p:cNvSpPr txBox="1"/>
          <p:nvPr/>
        </p:nvSpPr>
        <p:spPr>
          <a:xfrm>
            <a:off x="153314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4900" dirty="0"/>
          </a:p>
        </p:txBody>
      </p:sp>
      <p:sp>
        <p:nvSpPr>
          <p:cNvPr id="6" name="S06-tile50"/>
          <p:cNvSpPr txBox="1"/>
          <p:nvPr/>
        </p:nvSpPr>
        <p:spPr>
          <a:xfrm>
            <a:off x="286512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900" dirty="0"/>
          </a:p>
        </p:txBody>
      </p:sp>
      <p:sp>
        <p:nvSpPr>
          <p:cNvPr id="7" name="S06-tile51"/>
          <p:cNvSpPr txBox="1"/>
          <p:nvPr/>
        </p:nvSpPr>
        <p:spPr>
          <a:xfrm>
            <a:off x="4197096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900" dirty="0"/>
          </a:p>
        </p:txBody>
      </p:sp>
      <p:sp>
        <p:nvSpPr>
          <p:cNvPr id="8" name="S06-tile52"/>
          <p:cNvSpPr txBox="1"/>
          <p:nvPr/>
        </p:nvSpPr>
        <p:spPr>
          <a:xfrm>
            <a:off x="5529072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900" dirty="0"/>
          </a:p>
        </p:txBody>
      </p:sp>
      <p:sp>
        <p:nvSpPr>
          <p:cNvPr id="9" name="S06-tile53"/>
          <p:cNvSpPr txBox="1"/>
          <p:nvPr/>
        </p:nvSpPr>
        <p:spPr>
          <a:xfrm>
            <a:off x="6861048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900" dirty="0"/>
          </a:p>
        </p:txBody>
      </p:sp>
      <p:sp>
        <p:nvSpPr>
          <p:cNvPr id="10" name="S06-tile54"/>
          <p:cNvSpPr txBox="1"/>
          <p:nvPr/>
        </p:nvSpPr>
        <p:spPr>
          <a:xfrm>
            <a:off x="819302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900" dirty="0"/>
          </a:p>
        </p:txBody>
      </p:sp>
      <p:sp>
        <p:nvSpPr>
          <p:cNvPr id="11" name="S06-tile55"/>
          <p:cNvSpPr txBox="1"/>
          <p:nvPr/>
        </p:nvSpPr>
        <p:spPr>
          <a:xfrm>
            <a:off x="952500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2" name="S06-tile56"/>
          <p:cNvSpPr txBox="1"/>
          <p:nvPr/>
        </p:nvSpPr>
        <p:spPr>
          <a:xfrm>
            <a:off x="153314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4900" dirty="0"/>
          </a:p>
        </p:txBody>
      </p:sp>
      <p:sp>
        <p:nvSpPr>
          <p:cNvPr id="13" name="S06-tile57"/>
          <p:cNvSpPr txBox="1"/>
          <p:nvPr/>
        </p:nvSpPr>
        <p:spPr>
          <a:xfrm>
            <a:off x="286512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14" name="S06-tile58"/>
          <p:cNvSpPr txBox="1"/>
          <p:nvPr/>
        </p:nvSpPr>
        <p:spPr>
          <a:xfrm>
            <a:off x="4197096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15" name="S06-tile59"/>
          <p:cNvSpPr txBox="1"/>
          <p:nvPr/>
        </p:nvSpPr>
        <p:spPr>
          <a:xfrm>
            <a:off x="5529072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900" dirty="0"/>
          </a:p>
        </p:txBody>
      </p:sp>
      <p:sp>
        <p:nvSpPr>
          <p:cNvPr id="16" name="S06-tile60"/>
          <p:cNvSpPr txBox="1"/>
          <p:nvPr/>
        </p:nvSpPr>
        <p:spPr>
          <a:xfrm>
            <a:off x="6861048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17" name="S06-tile61"/>
          <p:cNvSpPr txBox="1"/>
          <p:nvPr/>
        </p:nvSpPr>
        <p:spPr>
          <a:xfrm>
            <a:off x="819302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18" name="S06-tile62"/>
          <p:cNvSpPr txBox="1"/>
          <p:nvPr/>
        </p:nvSpPr>
        <p:spPr>
          <a:xfrm>
            <a:off x="952500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9" name="S06-tile63"/>
          <p:cNvSpPr txBox="1"/>
          <p:nvPr/>
        </p:nvSpPr>
        <p:spPr>
          <a:xfrm>
            <a:off x="153314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4900" dirty="0"/>
          </a:p>
        </p:txBody>
      </p:sp>
      <p:sp>
        <p:nvSpPr>
          <p:cNvPr id="20" name="S06-tile64"/>
          <p:cNvSpPr txBox="1"/>
          <p:nvPr/>
        </p:nvSpPr>
        <p:spPr>
          <a:xfrm>
            <a:off x="286512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900" dirty="0"/>
          </a:p>
        </p:txBody>
      </p:sp>
      <p:sp>
        <p:nvSpPr>
          <p:cNvPr id="21" name="S06-tile65"/>
          <p:cNvSpPr txBox="1"/>
          <p:nvPr/>
        </p:nvSpPr>
        <p:spPr>
          <a:xfrm>
            <a:off x="4197096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22" name="S06-tile66"/>
          <p:cNvSpPr txBox="1"/>
          <p:nvPr/>
        </p:nvSpPr>
        <p:spPr>
          <a:xfrm>
            <a:off x="5529072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900" dirty="0"/>
          </a:p>
        </p:txBody>
      </p:sp>
      <p:sp>
        <p:nvSpPr>
          <p:cNvPr id="23" name="S06-tile67"/>
          <p:cNvSpPr txBox="1"/>
          <p:nvPr/>
        </p:nvSpPr>
        <p:spPr>
          <a:xfrm>
            <a:off x="6861048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900" dirty="0"/>
          </a:p>
        </p:txBody>
      </p:sp>
      <p:sp>
        <p:nvSpPr>
          <p:cNvPr id="24" name="S06-tile68"/>
          <p:cNvSpPr txBox="1"/>
          <p:nvPr/>
        </p:nvSpPr>
        <p:spPr>
          <a:xfrm>
            <a:off x="819302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25" name="S06-tile69"/>
          <p:cNvSpPr txBox="1"/>
          <p:nvPr/>
        </p:nvSpPr>
        <p:spPr>
          <a:xfrm>
            <a:off x="952500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400" dirty="0"/>
          </a:p>
        </p:txBody>
      </p:sp>
      <p:sp>
        <p:nvSpPr>
          <p:cNvPr id="3" name="S07-card7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7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● ▲ ● ● ▲ ● 다음에 올 모양은?</a:t>
            </a:r>
            <a:endParaRPr lang="ko-KR" sz="3200" dirty="0"/>
          </a:p>
        </p:txBody>
      </p:sp>
      <p:sp>
        <p:nvSpPr>
          <p:cNvPr id="5" name="S07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묶어 보고 말해요.</a:t>
            </a:r>
            <a:endParaRPr lang="ko-KR" sz="3200" dirty="0"/>
          </a:p>
        </p:txBody>
      </p:sp>
      <p:sp>
        <p:nvSpPr>
          <p:cNvPr id="7" name="S07-chip7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▲</a:t>
            </a:r>
            <a:endParaRPr lang="ko-KR" sz="2600" dirty="0"/>
          </a:p>
        </p:txBody>
      </p:sp>
      <p:sp>
        <p:nvSpPr>
          <p:cNvPr id="8" name="S07-text7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“● 다음에는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▲가 와요.”</a:t>
            </a:r>
            <a:endParaRPr lang="ko-KR" sz="3200" dirty="0"/>
          </a:p>
        </p:txBody>
      </p:sp>
      <p:sp>
        <p:nvSpPr>
          <p:cNvPr id="9" name="S07-chip7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●</a:t>
            </a:r>
            <a:endParaRPr lang="ko-KR" sz="2600" dirty="0"/>
          </a:p>
        </p:txBody>
      </p:sp>
      <p:sp>
        <p:nvSpPr>
          <p:cNvPr id="10" name="S07-text7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“● ● ▲가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되풀이돼요.”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나타내요</a:t>
            </a:r>
            <a:endParaRPr lang="ko-KR" sz="4400" dirty="0"/>
          </a:p>
        </p:txBody>
      </p:sp>
      <p:sp>
        <p:nvSpPr>
          <p:cNvPr id="3" name="S08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●는 1, ▲는 2로 약속해요.</a:t>
            </a:r>
            <a:endParaRPr lang="ko-KR" sz="3200" dirty="0"/>
          </a:p>
        </p:txBody>
      </p:sp>
      <p:sp>
        <p:nvSpPr>
          <p:cNvPr id="4" name="S08-card7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2 1 2 1 2로 나타낼 수 있어요.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‘짝’, 발 ‘쿵’으로도 나타내요.</a:t>
            </a:r>
            <a:endParaRPr lang="ko-KR" sz="3200" dirty="0"/>
          </a:p>
        </p:txBody>
      </p:sp>
      <p:sp>
        <p:nvSpPr>
          <p:cNvPr id="6" name="S08-tile81"/>
          <p:cNvSpPr txBox="1"/>
          <p:nvPr/>
        </p:nvSpPr>
        <p:spPr>
          <a:xfrm>
            <a:off x="1476756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7" name="S08-label82"/>
          <p:cNvSpPr txBox="1"/>
          <p:nvPr/>
        </p:nvSpPr>
        <p:spPr>
          <a:xfrm>
            <a:off x="1376172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8-tile83"/>
          <p:cNvSpPr txBox="1"/>
          <p:nvPr/>
        </p:nvSpPr>
        <p:spPr>
          <a:xfrm>
            <a:off x="3049524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9" name="S08-label84"/>
          <p:cNvSpPr txBox="1"/>
          <p:nvPr/>
        </p:nvSpPr>
        <p:spPr>
          <a:xfrm>
            <a:off x="2948940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8-tile85"/>
          <p:cNvSpPr txBox="1"/>
          <p:nvPr/>
        </p:nvSpPr>
        <p:spPr>
          <a:xfrm>
            <a:off x="4622292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11" name="S08-label86"/>
          <p:cNvSpPr txBox="1"/>
          <p:nvPr/>
        </p:nvSpPr>
        <p:spPr>
          <a:xfrm>
            <a:off x="4521708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08-tile87"/>
          <p:cNvSpPr txBox="1"/>
          <p:nvPr/>
        </p:nvSpPr>
        <p:spPr>
          <a:xfrm>
            <a:off x="6195060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13" name="S08-label88"/>
          <p:cNvSpPr txBox="1"/>
          <p:nvPr/>
        </p:nvSpPr>
        <p:spPr>
          <a:xfrm>
            <a:off x="6094476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8-tile89"/>
          <p:cNvSpPr txBox="1"/>
          <p:nvPr/>
        </p:nvSpPr>
        <p:spPr>
          <a:xfrm>
            <a:off x="7767828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15" name="S08-label90"/>
          <p:cNvSpPr txBox="1"/>
          <p:nvPr/>
        </p:nvSpPr>
        <p:spPr>
          <a:xfrm>
            <a:off x="7667244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6" name="S08-tile91"/>
          <p:cNvSpPr txBox="1"/>
          <p:nvPr/>
        </p:nvSpPr>
        <p:spPr>
          <a:xfrm>
            <a:off x="9340596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17" name="S08-label92"/>
          <p:cNvSpPr txBox="1"/>
          <p:nvPr/>
        </p:nvSpPr>
        <p:spPr>
          <a:xfrm>
            <a:off x="9240012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?에 올 수는?</a:t>
            </a:r>
            <a:endParaRPr lang="ko-KR" sz="4400" dirty="0"/>
          </a:p>
        </p:txBody>
      </p:sp>
      <p:sp>
        <p:nvSpPr>
          <p:cNvPr id="3" name="S09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모양처럼 수도 되풀이되는 부분을 찾아요.</a:t>
            </a:r>
            <a:endParaRPr lang="ko-KR" sz="3200" dirty="0"/>
          </a:p>
        </p:txBody>
      </p:sp>
      <p:sp>
        <p:nvSpPr>
          <p:cNvPr id="5" name="S09-tile95"/>
          <p:cNvSpPr txBox="1"/>
          <p:nvPr/>
        </p:nvSpPr>
        <p:spPr>
          <a:xfrm>
            <a:off x="153314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4900" dirty="0"/>
          </a:p>
        </p:txBody>
      </p:sp>
      <p:sp>
        <p:nvSpPr>
          <p:cNvPr id="6" name="S09-tile96"/>
          <p:cNvSpPr txBox="1"/>
          <p:nvPr/>
        </p:nvSpPr>
        <p:spPr>
          <a:xfrm>
            <a:off x="286512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900" dirty="0"/>
          </a:p>
        </p:txBody>
      </p:sp>
      <p:sp>
        <p:nvSpPr>
          <p:cNvPr id="7" name="S09-tile97"/>
          <p:cNvSpPr txBox="1"/>
          <p:nvPr/>
        </p:nvSpPr>
        <p:spPr>
          <a:xfrm>
            <a:off x="4197096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900" dirty="0"/>
          </a:p>
        </p:txBody>
      </p:sp>
      <p:sp>
        <p:nvSpPr>
          <p:cNvPr id="8" name="S09-tile98"/>
          <p:cNvSpPr txBox="1"/>
          <p:nvPr/>
        </p:nvSpPr>
        <p:spPr>
          <a:xfrm>
            <a:off x="5529072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900" dirty="0"/>
          </a:p>
        </p:txBody>
      </p:sp>
      <p:sp>
        <p:nvSpPr>
          <p:cNvPr id="9" name="S09-tile99"/>
          <p:cNvSpPr txBox="1"/>
          <p:nvPr/>
        </p:nvSpPr>
        <p:spPr>
          <a:xfrm>
            <a:off x="6861048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900" dirty="0"/>
          </a:p>
        </p:txBody>
      </p:sp>
      <p:sp>
        <p:nvSpPr>
          <p:cNvPr id="10" name="S09-tile100"/>
          <p:cNvSpPr txBox="1"/>
          <p:nvPr/>
        </p:nvSpPr>
        <p:spPr>
          <a:xfrm>
            <a:off x="819302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900" dirty="0"/>
          </a:p>
        </p:txBody>
      </p:sp>
      <p:sp>
        <p:nvSpPr>
          <p:cNvPr id="11" name="S09-tile101"/>
          <p:cNvSpPr txBox="1"/>
          <p:nvPr/>
        </p:nvSpPr>
        <p:spPr>
          <a:xfrm>
            <a:off x="952500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2" name="S09-tile102"/>
          <p:cNvSpPr txBox="1"/>
          <p:nvPr/>
        </p:nvSpPr>
        <p:spPr>
          <a:xfrm>
            <a:off x="153314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4900" dirty="0"/>
          </a:p>
        </p:txBody>
      </p:sp>
      <p:sp>
        <p:nvSpPr>
          <p:cNvPr id="13" name="S09-tile103"/>
          <p:cNvSpPr txBox="1"/>
          <p:nvPr/>
        </p:nvSpPr>
        <p:spPr>
          <a:xfrm>
            <a:off x="286512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14" name="S09-tile104"/>
          <p:cNvSpPr txBox="1"/>
          <p:nvPr/>
        </p:nvSpPr>
        <p:spPr>
          <a:xfrm>
            <a:off x="4197096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15" name="S09-tile105"/>
          <p:cNvSpPr txBox="1"/>
          <p:nvPr/>
        </p:nvSpPr>
        <p:spPr>
          <a:xfrm>
            <a:off x="5529072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900" dirty="0"/>
          </a:p>
        </p:txBody>
      </p:sp>
      <p:sp>
        <p:nvSpPr>
          <p:cNvPr id="16" name="S09-tile106"/>
          <p:cNvSpPr txBox="1"/>
          <p:nvPr/>
        </p:nvSpPr>
        <p:spPr>
          <a:xfrm>
            <a:off x="6861048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17" name="S09-tile107"/>
          <p:cNvSpPr txBox="1"/>
          <p:nvPr/>
        </p:nvSpPr>
        <p:spPr>
          <a:xfrm>
            <a:off x="819302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18" name="S09-tile108"/>
          <p:cNvSpPr txBox="1"/>
          <p:nvPr/>
        </p:nvSpPr>
        <p:spPr>
          <a:xfrm>
            <a:off x="952500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9" name="S09-tile109"/>
          <p:cNvSpPr txBox="1"/>
          <p:nvPr/>
        </p:nvSpPr>
        <p:spPr>
          <a:xfrm>
            <a:off x="153314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4900" dirty="0"/>
          </a:p>
        </p:txBody>
      </p:sp>
      <p:sp>
        <p:nvSpPr>
          <p:cNvPr id="20" name="S09-tile110"/>
          <p:cNvSpPr txBox="1"/>
          <p:nvPr/>
        </p:nvSpPr>
        <p:spPr>
          <a:xfrm>
            <a:off x="286512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900" dirty="0"/>
          </a:p>
        </p:txBody>
      </p:sp>
      <p:sp>
        <p:nvSpPr>
          <p:cNvPr id="21" name="S09-tile111"/>
          <p:cNvSpPr txBox="1"/>
          <p:nvPr/>
        </p:nvSpPr>
        <p:spPr>
          <a:xfrm>
            <a:off x="4197096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900" dirty="0"/>
          </a:p>
        </p:txBody>
      </p:sp>
      <p:sp>
        <p:nvSpPr>
          <p:cNvPr id="22" name="S09-tile112"/>
          <p:cNvSpPr txBox="1"/>
          <p:nvPr/>
        </p:nvSpPr>
        <p:spPr>
          <a:xfrm>
            <a:off x="5529072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900" dirty="0"/>
          </a:p>
        </p:txBody>
      </p:sp>
      <p:sp>
        <p:nvSpPr>
          <p:cNvPr id="23" name="S09-tile113"/>
          <p:cNvSpPr txBox="1"/>
          <p:nvPr/>
        </p:nvSpPr>
        <p:spPr>
          <a:xfrm>
            <a:off x="6861048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900" dirty="0"/>
          </a:p>
        </p:txBody>
      </p:sp>
      <p:sp>
        <p:nvSpPr>
          <p:cNvPr id="24" name="S09-tile114"/>
          <p:cNvSpPr txBox="1"/>
          <p:nvPr/>
        </p:nvSpPr>
        <p:spPr>
          <a:xfrm>
            <a:off x="819302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900" dirty="0"/>
          </a:p>
        </p:txBody>
      </p:sp>
      <p:sp>
        <p:nvSpPr>
          <p:cNvPr id="25" name="S09-tile115"/>
          <p:cNvSpPr txBox="1"/>
          <p:nvPr/>
        </p:nvSpPr>
        <p:spPr>
          <a:xfrm>
            <a:off x="952500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규칙 만들기</a:t>
            </a:r>
            <a:endParaRPr lang="ko-KR" sz="4400" dirty="0"/>
          </a:p>
        </p:txBody>
      </p:sp>
      <p:sp>
        <p:nvSpPr>
          <p:cNvPr id="3" name="S10-card116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17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같은 부분이 3번 되풀이돼요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규칙을 말로 설명했어요</a:t>
            </a:r>
            <a:endParaRPr lang="ko-KR" sz="3200" dirty="0"/>
          </a:p>
        </p:txBody>
      </p:sp>
      <p:sp>
        <p:nvSpPr>
          <p:cNvPr id="5" name="S10-stepno118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0-text119"/>
          <p:cNvSpPr txBox="1"/>
          <p:nvPr/>
        </p:nvSpPr>
        <p:spPr>
          <a:xfrm>
            <a:off x="1325880" y="27843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규칙을 만들어요.</a:t>
            </a:r>
            <a:endParaRPr lang="ko-KR" sz="3200" dirty="0"/>
          </a:p>
        </p:txBody>
      </p:sp>
      <p:sp>
        <p:nvSpPr>
          <p:cNvPr id="7" name="S10-stepno120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0-text121"/>
          <p:cNvSpPr txBox="1"/>
          <p:nvPr/>
        </p:nvSpPr>
        <p:spPr>
          <a:xfrm>
            <a:off x="1325880" y="34975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말해요.</a:t>
            </a:r>
            <a:endParaRPr lang="ko-KR" sz="3200" dirty="0"/>
          </a:p>
        </p:txBody>
      </p:sp>
      <p:sp>
        <p:nvSpPr>
          <p:cNvPr id="9" name="S10-stepno122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0-text123"/>
          <p:cNvSpPr txBox="1"/>
          <p:nvPr/>
        </p:nvSpPr>
        <p:spPr>
          <a:xfrm>
            <a:off x="1325880" y="42108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손뼉과 발로 나타내요.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ard12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12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 ?에 올 것을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● ■ ● ■를 손뼉과 발로 나타내요.</a:t>
            </a:r>
            <a:endParaRPr lang="ko-KR" sz="3200" dirty="0"/>
          </a:p>
        </p:txBody>
      </p:sp>
      <p:sp>
        <p:nvSpPr>
          <p:cNvPr id="5" name="S11-tile126"/>
          <p:cNvSpPr txBox="1"/>
          <p:nvPr/>
        </p:nvSpPr>
        <p:spPr>
          <a:xfrm>
            <a:off x="690372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5900" dirty="0"/>
          </a:p>
        </p:txBody>
      </p:sp>
      <p:sp>
        <p:nvSpPr>
          <p:cNvPr id="6" name="S11-tile127"/>
          <p:cNvSpPr txBox="1"/>
          <p:nvPr/>
        </p:nvSpPr>
        <p:spPr>
          <a:xfrm>
            <a:off x="2263140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7" name="S11-tile128"/>
          <p:cNvSpPr txBox="1"/>
          <p:nvPr/>
        </p:nvSpPr>
        <p:spPr>
          <a:xfrm>
            <a:off x="3835908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8" name="S11-tile129"/>
          <p:cNvSpPr txBox="1"/>
          <p:nvPr/>
        </p:nvSpPr>
        <p:spPr>
          <a:xfrm>
            <a:off x="5408676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900" dirty="0"/>
          </a:p>
        </p:txBody>
      </p:sp>
      <p:sp>
        <p:nvSpPr>
          <p:cNvPr id="9" name="S11-tile130"/>
          <p:cNvSpPr txBox="1"/>
          <p:nvPr/>
        </p:nvSpPr>
        <p:spPr>
          <a:xfrm>
            <a:off x="6981444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10" name="S11-tile131"/>
          <p:cNvSpPr txBox="1"/>
          <p:nvPr/>
        </p:nvSpPr>
        <p:spPr>
          <a:xfrm>
            <a:off x="8554212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11" name="S11-tile132"/>
          <p:cNvSpPr txBox="1"/>
          <p:nvPr/>
        </p:nvSpPr>
        <p:spPr>
          <a:xfrm>
            <a:off x="10126980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2" name="S11-tile133"/>
          <p:cNvSpPr txBox="1"/>
          <p:nvPr/>
        </p:nvSpPr>
        <p:spPr>
          <a:xfrm>
            <a:off x="690372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5900" dirty="0"/>
          </a:p>
        </p:txBody>
      </p:sp>
      <p:sp>
        <p:nvSpPr>
          <p:cNvPr id="13" name="S11-tile134"/>
          <p:cNvSpPr txBox="1"/>
          <p:nvPr/>
        </p:nvSpPr>
        <p:spPr>
          <a:xfrm>
            <a:off x="2263140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5900" dirty="0"/>
          </a:p>
        </p:txBody>
      </p:sp>
      <p:sp>
        <p:nvSpPr>
          <p:cNvPr id="14" name="S11-tile135"/>
          <p:cNvSpPr txBox="1"/>
          <p:nvPr/>
        </p:nvSpPr>
        <p:spPr>
          <a:xfrm>
            <a:off x="3835908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5900" dirty="0"/>
          </a:p>
        </p:txBody>
      </p:sp>
      <p:sp>
        <p:nvSpPr>
          <p:cNvPr id="15" name="S11-tile136"/>
          <p:cNvSpPr txBox="1"/>
          <p:nvPr/>
        </p:nvSpPr>
        <p:spPr>
          <a:xfrm>
            <a:off x="5408676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5900" dirty="0"/>
          </a:p>
        </p:txBody>
      </p:sp>
      <p:sp>
        <p:nvSpPr>
          <p:cNvPr id="16" name="S11-tile137"/>
          <p:cNvSpPr txBox="1"/>
          <p:nvPr/>
        </p:nvSpPr>
        <p:spPr>
          <a:xfrm>
            <a:off x="6981444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5900" dirty="0"/>
          </a:p>
        </p:txBody>
      </p:sp>
      <p:sp>
        <p:nvSpPr>
          <p:cNvPr id="17" name="S11-tile138"/>
          <p:cNvSpPr txBox="1"/>
          <p:nvPr/>
        </p:nvSpPr>
        <p:spPr>
          <a:xfrm>
            <a:off x="8554212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5900" dirty="0"/>
          </a:p>
        </p:txBody>
      </p:sp>
      <p:sp>
        <p:nvSpPr>
          <p:cNvPr id="18" name="S11-tile139"/>
          <p:cNvSpPr txBox="1"/>
          <p:nvPr/>
        </p:nvSpPr>
        <p:spPr>
          <a:xfrm>
            <a:off x="10126980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두 칸은?</a:t>
            </a:r>
            <a:endParaRPr lang="ko-KR" sz="4400" dirty="0"/>
          </a:p>
        </p:txBody>
      </p:sp>
      <p:sp>
        <p:nvSpPr>
          <p:cNvPr id="3" name="S13-text1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칸과 빈 칸의 규칙을 찾아요.</a:t>
            </a:r>
            <a:endParaRPr lang="ko-KR" sz="3200" dirty="0"/>
          </a:p>
        </p:txBody>
      </p:sp>
      <p:sp>
        <p:nvSpPr>
          <p:cNvPr id="4" name="S13-card141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42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두 칸은 색칠할까요, 비워 둘까요?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6" name="S13-cell143"/>
          <p:cNvSpPr/>
          <p:nvPr/>
        </p:nvSpPr>
        <p:spPr>
          <a:xfrm>
            <a:off x="257403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cell144"/>
          <p:cNvSpPr/>
          <p:nvPr/>
        </p:nvSpPr>
        <p:spPr>
          <a:xfrm>
            <a:off x="357987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145"/>
          <p:cNvSpPr/>
          <p:nvPr/>
        </p:nvSpPr>
        <p:spPr>
          <a:xfrm>
            <a:off x="458571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146"/>
          <p:cNvSpPr/>
          <p:nvPr/>
        </p:nvSpPr>
        <p:spPr>
          <a:xfrm>
            <a:off x="559155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cell147"/>
          <p:cNvSpPr/>
          <p:nvPr/>
        </p:nvSpPr>
        <p:spPr>
          <a:xfrm>
            <a:off x="659739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cell148"/>
          <p:cNvSpPr/>
          <p:nvPr/>
        </p:nvSpPr>
        <p:spPr>
          <a:xfrm>
            <a:off x="760323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cell149"/>
          <p:cNvSpPr/>
          <p:nvPr/>
        </p:nvSpPr>
        <p:spPr>
          <a:xfrm>
            <a:off x="860907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figure150" descr="7칸 띠: 색칠, 빈 칸, 빈 칸이 되풀이되고 마지막은 색칠한 칸"/>
          <p:cNvSpPr/>
          <p:nvPr/>
        </p:nvSpPr>
        <p:spPr>
          <a:xfrm>
            <a:off x="2574036" y="2845562"/>
            <a:ext cx="704088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5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5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찾으면 다음을 알 수 있어요.</a:t>
            </a:r>
            <a:endParaRPr lang="ko-KR" sz="3200" dirty="0"/>
          </a:p>
        </p:txBody>
      </p:sp>
      <p:sp>
        <p:nvSpPr>
          <p:cNvPr id="5" name="S14-chip153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묶어서 찾기</a:t>
            </a:r>
            <a:endParaRPr lang="ko-KR" sz="2600" dirty="0"/>
          </a:p>
        </p:txBody>
      </p:sp>
      <p:sp>
        <p:nvSpPr>
          <p:cNvPr id="6" name="S14-chip154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바로 앞만 보기</a:t>
            </a:r>
            <a:endParaRPr lang="ko-KR" sz="2600" dirty="0"/>
          </a:p>
        </p:txBody>
      </p:sp>
      <p:sp>
        <p:nvSpPr>
          <p:cNvPr id="7" name="S14-text155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56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● ■ ● ■ ●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다음은?</a:t>
            </a:r>
            <a:endParaRPr lang="ko-KR" sz="2600" dirty="0"/>
          </a:p>
        </p:txBody>
      </p:sp>
      <p:sp>
        <p:nvSpPr>
          <p:cNvPr id="9" name="S14-text157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 3 1 3 3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수는?</a:t>
            </a:r>
            <a:endParaRPr lang="ko-KR" sz="2600" dirty="0"/>
          </a:p>
        </p:txBody>
      </p:sp>
      <p:sp>
        <p:nvSpPr>
          <p:cNvPr id="10" name="S14-text158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▲ ● ● ▲ ● ● ▲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다음은?</a:t>
            </a:r>
            <a:endParaRPr lang="ko-KR" sz="2600" dirty="0"/>
          </a:p>
        </p:txBody>
      </p:sp>
      <p:sp>
        <p:nvSpPr>
          <p:cNvPr id="11" name="S14-text15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수 배열의 규칙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같은 모양 찾기</a:t>
            </a:r>
            <a:endParaRPr lang="ko-KR" sz="4400" dirty="0"/>
          </a:p>
        </p:txBody>
      </p:sp>
      <p:sp>
        <p:nvSpPr>
          <p:cNvPr id="3" name="S15-text1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세모만 짚으며 세어 봐요.</a:t>
            </a:r>
            <a:endParaRPr lang="ko-KR" sz="3200" dirty="0"/>
          </a:p>
        </p:txBody>
      </p:sp>
      <p:sp>
        <p:nvSpPr>
          <p:cNvPr id="4" name="S15-card1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세모는 3개예요. 같은 모양끼리 짚어요.</a:t>
            </a:r>
            <a:endParaRPr lang="ko-KR" sz="3200" dirty="0"/>
          </a:p>
        </p:txBody>
      </p:sp>
      <p:sp>
        <p:nvSpPr>
          <p:cNvPr id="6" name="S15-tile163"/>
          <p:cNvSpPr txBox="1"/>
          <p:nvPr/>
        </p:nvSpPr>
        <p:spPr>
          <a:xfrm>
            <a:off x="2263140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7" name="S15-tile164"/>
          <p:cNvSpPr txBox="1"/>
          <p:nvPr/>
        </p:nvSpPr>
        <p:spPr>
          <a:xfrm>
            <a:off x="3835908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8" name="S15-tile165"/>
          <p:cNvSpPr txBox="1"/>
          <p:nvPr/>
        </p:nvSpPr>
        <p:spPr>
          <a:xfrm>
            <a:off x="5408676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9" name="S15-tile166"/>
          <p:cNvSpPr txBox="1"/>
          <p:nvPr/>
        </p:nvSpPr>
        <p:spPr>
          <a:xfrm>
            <a:off x="6981444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900" dirty="0"/>
          </a:p>
        </p:txBody>
      </p:sp>
      <p:sp>
        <p:nvSpPr>
          <p:cNvPr id="10" name="S15-tile167"/>
          <p:cNvSpPr txBox="1"/>
          <p:nvPr/>
        </p:nvSpPr>
        <p:spPr>
          <a:xfrm>
            <a:off x="8554212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규칙 찾기</dc:title>
  <dc:subject>KR22-G01-MAT-PATTERN-L01</dc:subject>
  <dc:creator>education-ppt</dc:creator>
  <cp:lastModifiedBy>education-ppt</cp:lastModifiedBy>
  <cp:revision>1</cp:revision>
  <dcterms:created xsi:type="dcterms:W3CDTF">2026-10-26T07:06:35Z</dcterms:created>
  <dcterms:modified xsi:type="dcterms:W3CDTF">2026-10-26T07:06:35Z</dcterms:modified>
</cp:coreProperties>
</file>