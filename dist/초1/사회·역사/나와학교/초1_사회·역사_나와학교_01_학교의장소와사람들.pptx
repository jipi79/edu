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bd1b57d-1a19-6d41-d744-4674fdef0f7f}">
          <p14:sldIdLst>
            <p14:sldId id="256"/>
            <p14:sldId id="257"/>
          </p14:sldIdLst>
        </p14:section>
        <p14:section name="개념" id="{d09f0022-306d-cb78-a0dd-013714c75859}">
          <p14:sldIdLst>
            <p14:sldId id="258"/>
            <p14:sldId id="259"/>
            <p14:sldId id="261"/>
          </p14:sldIdLst>
        </p14:section>
        <p14:section name="연습" id="{cc8f60cc-330f-b4c1-f4be-2d696104cbf4}">
          <p14:sldIdLst>
            <p14:sldId id="260"/>
            <p14:sldId id="262"/>
            <p14:sldId id="263"/>
            <p14:sldId id="264"/>
          </p14:sldIdLst>
        </p14:section>
        <p14:section name="개념" id="{65fccdec-e9fd-b555-8312-8e727ad9ede9}">
          <p14:sldIdLst/>
        </p14:section>
        <p14:section name="연습" id="{60c148fd-bcf8-9f6e-17c4-443add80b49b}">
          <p14:sldIdLst/>
        </p14:section>
        <p14:section name="확인" id="{cf042f93-91be-c32f-87f4-05b515e89cbc}">
          <p14:sldIdLst>
            <p14:sldId id="265"/>
            <p14:sldId id="266"/>
            <p14:sldId id="267"/>
            <p14:sldId id="268"/>
          </p14:sldIdLst>
        </p14:section>
        <p14:section name="정리" id="{da9c360c-ed1e-857e-00d0-d0889b0b0b52}">
          <p14:sldIdLst>
            <p14:sldId id="269"/>
          </p14:sldIdLst>
        </p14:section>
        <p14:section name="보충" id="{a997f66b-b7fe-7698-dfdc-f0b72f5b107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아이가 학교에서 가 본 곳을 떠올리게 합니다.
시간: 약 2분
이렇게 말해 보세요
- “학교에는 교실 말고 또 어떤 곳이 있어? 가 본 곳이 있니?”
- “오늘은 학교의 여러 장소에서 무엇을 하는지, 누가 우리를 도와주시는지 알아볼 거야. 그리고 우리 학교를 함께 둘러볼 계획도 세울 거야.”
예상 답
- “교실이요.” “운동장이요.” “화장실이요.” “몰라요.”
막히면
- “어제 점심은 어디서 먹었어? 체육은 어디서 했어?”처럼 학교에서 한 일로 물어봅니다.
주의
- 화면의 별빛초등학교·햇살초등학교는 수업을 위해 지어낸 학교입니다. 우리 학교의 실제 모습은 S13과 활동지 4에서 함께 알아봅니다.
- 아이가 학교에 대해 걱정을 말하면 고치려 하지 말고 들어 줍니다. 오늘 배울 ‘도와주시는 분’이 그 걱정을 덜어 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확인(장소마다 하는 일이 다름)]
목적: 장소마다 하는 일이 다르다는 것을 가장 익숙한 집 안 장소로 확인합니다. 이 차시는 계획상 앞 차시가 없으므로, 생활 경험(장소 이름과 그곳에서 하는 일)을 확인합니다.
시간: 약 3분
이렇게 말해 보세요
- “집에서 신발을 벗는 곳은 어디야? 손을 씻는 곳은? 음식을 만드는 곳은?”
- “그럼 현관에서는 무엇을 해? 장소마다 하는 일이 다르구나.”
정답
- ① 현관 ② 욕실(화장실, 세면대) ③ 부엌(주방)
막히면
- 직접 그곳으로 함께 걸어가 “여기서는 무엇을 해?”라고 묻습니다.
- 세 가지 가운데 두 가지 이상을 말하지 못하면 S15(보충)를 먼저 합니다.
주의
- 집마다 부르는 이름이 달라도(주방, 싱크대 앞 등) 하는 일이 맞으면 맞습니다. 집의 크기나 방의 수는 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학교 그림으로 장소 둘러보기(시범)]
목적: 지어낸 학교 그림으로 학교의 다섯 장소를 둘러보고, 그림에서 장소를 찾는 방법과 ‘○○ 옆에 있어요.’라고 말하는 방법을 보여 줍니다(목표 A·C).
시간: 약 3분
이렇게 말해 보세요
- “여기는 별빛초등학교야. 지어낸 학교지만 우리 학교랑 비슷한 곳이 많아. 위쪽 건물의 방 이름을 손가락으로 짚으며 읽어 볼까?”
- “가운데 회색 길은 복도야. 방마다 아래쪽에 있는 짙은 막대는 문이야. 아래 넓은 초록 칸은 무엇일까?”
- “엄마(아빠)가 먼저 말해 볼게. 교실 옆에는 보건실이 있어요. 너도 하나 말해 볼래?”
예상 답
- “교실, 보건실, 도서관, 급식실이요.” “운동장이요.”
- “보건실 옆에 도서관이 있어요.”
막히면
- 글자를 읽기 어려우면 부모가 읽어 주고 아이는 손가락으로 짚게 합니다.
- ‘옆’이 어려우면 아이 옆에 앉아 “엄마는 네 옆에 있어.”라고 몸으로 보여 줍니다.
주의
- 그림의 배치는 지어낸 것입니다. 실제 학교는 급식실이 다른 건물에 있거나 층이 나뉘어 있기도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학교의 다섯 장소와 하는 일]
목적: 학교의 다섯 장소에서 하는 일을 알려 줍니다(목표 A).
시간: 약 3분
이렇게 말해 보세요
- “카드를 하나씩 같이 읽어 보자. 이 가운데 가 본 곳은 어디야? 거기서 무엇을 했어?”
- “도서관에서 책을 ‘빌린다’는 건 무슨 뜻일까? 빌린 책은 내 것이 될까?”
- “만약 학교에 보건실이 없으면 어떨까?”
예상 답
- “빌린 책은 다 읽고 돌려줘요.”
- “아플 때 쉴 곳이 없어요.”
막히면
- 카드마다 “여기에서는 무엇을 해?”라고 물으며 몸짓(책 펴기, 공 차기, 숟가락질)을 함께 합니다.
주의
- ‘빌린 책은 내 것’이라고 하면 “빌린 책은 다 읽으면 도서관에 돌려줘야 다른 친구도 읽을 수 있어.”라고 알려 줍니다(오해 M3).
- 교실에서 점심을 먹는 학교도 있습니다. 우리 학교는 어디서 먹는지 아이에게 물어 그대로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상황에 알맞은 장소 고르기]
목적: 상황에 알맞은 장소를 고르고, 그곳에서 하는 일을 까닭으로 말하게 합니다(목표 A).
시간: 약 3분
이렇게 말해 보세요
- “①은 넘어져서 무릎이 아파. 어디로 가면 될까? 왜 그곳이야?”
- “까닭은 ‘그곳은 ~하는 곳이니까요.’라고 말하면 돼.”
정답
- ① 보건실(아플 때 치료받는 곳이니까) ② 도서관(책을 빌리는 곳이니까) ③ 급식실(점심을 먹는 곳이니까. 교실에서 먹는 학교면 교실도 맞음) ④ 운동장(뛰어노는 곳이니까)
막히면
- S04 카드를 다시 보여 주고 “이 가운데 ○○을 하는 곳은 어디야?”라고 묻습니다.
주의
- ①에서 “선생님께 말해요.”라고 하면 아주 좋은 생각이라고 칭찬하고, 그다음에 가는 곳을 묻습니다(S07·S08과 이어짐).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학교에서 도와주시는 분들]
목적: 학교에서 일하며 우리를 도와주시는 분과 그분들이 하는 일을 알려 줍니다(목표 B, 오해 M2).
시간: 약 3분
이렇게 말해 보세요
- “학교에는 담임 선생님 말고도 우리를 도와주시는 분이 많아. 카드를 같이 읽어 볼까?”
- “이 가운데 학교에서 본 분이 있어? 어디에서 보았어?”
- “이분들은 어느 장소에서 일하실까? 보건 선생님은?”
예상 답
- “교문 앞에서 지킴이 할아버지를 봤어요.”
- “보건 선생님은 보건실, 사서 선생님은 도서관, 조리사님은 급식실이요.”
막히면
- S04 장소 카드와 나란히 놓고 “보건실에는 누가 계실까?”처럼 장소에서 사람을 떠올리게 합니다.
주의
- 학교마다 다릅니다. 사서 선생님 대신 도서관 담당 선생님이나 도우미가 계시기도 하고, 식단은 영양 선생님이 짜고 조리사님·조리 실무사님이 음식을 만드십니다.
- 배움터 지킴이는 학교 안전을 지키는 분으로, 학교에 따라 ‘학교 보안관’이라고도 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상황에 맞게 도움을 청할 분 고르기]
목적: 상황에 따라 도움을 청할 분을 고르고, 그분이 하시는 일을 까닭으로 말하게 합니다. 부모를 선생님이라 생각하고 실제로 말해 보는 연습도 합니다(목표 B).
시간: 약 3분
이렇게 말해 보세요
- “①은 배가 아파. 누구에게 말하면 좋을까? 왜?”
- “엄마(아빠)가 담임 선생님이라고 생각하고 말해 볼래? ‘선생님, 배가 아파요.’”
- “④처럼 급식실에서 숟가락을 떨어뜨리면 누구에게 말할까?”
정답
- ① 담임 선생님이나 보건 선생님(먼저 담임 선생님께 말하고 보건실에 가도 맞음)
- ② 사서 선생님(책 찾기를 도와주시니까)
- ③ 담임 선생님(우리 반 공부를 가르쳐 주시니까)
- ④ 조리사님이나 급식실에 계신 선생님(새 숟가락을 주실 수 있으니까)
- 기준: 그 일을 도와주실 수 있는 어른을 고르고 까닭을 말하면 맞습니다. 담임 선생님은 어느 상황에서나 맞습니다.
막히면
- S06 카드를 다시 보여 주고 “이 가운데 누가 그 일을 하셨지?”라고 묻습니다.
주의
- 실제로 말하는 연습이 중요합니다. 작은 목소리여도 끝까지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비교(아파도 참기)]
목적: 아파도 참는 것과 어른에게 말하는 것을 비교해, 말해야 도움을 받을 수 있다는 것을 알게 합니다(목표 B, 오해 M1).
시간: 약 2분
이렇게 말해 보세요
- “가처럼 참으면 선생님은 네가 아픈 걸 아실 수 있을까?”
- “수업 중이어도 아프면 손을 들고 말해도 돼. 그건 수업을 방해하는 게 아니야.”
정답
- 나. 선생님이 알아야 보건실에 데려가 주시거나 도와주실 수 있습니다.
- 가처럼 참으면 아무도 몰라서 더 아파질 수 있습니다.
막히면
- “네가 아픈데 엄마(아빠)가 모르면 어떻게 될까?”처럼 집 상황으로 바꾸어 묻습니다.
주의
- 여기까지가 배우는 부분입니다. 아이가 지치면 여기서 나누어 다음 날 S09부터 해도 됩니다.
- 아이가 학교에서 아팠던 경험을 말하면 “그때 말해 줘서(말하지 못해서) 어땠어?”라고 공감하며 들어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학교 그림에서 장소 찾기와 ‘옆’ 말하기]
목적: 별빛초등학교 그림에서 장소를 찾고 ‘○○ 옆에 있어요.’로 말해 봅니다(목표 C).
시간: 약 3분
이렇게 말해 보세요
- “①부터 해 볼까? 교실을 손가락으로 짚어 봐. 바로 옆에 붙어 있는 방은 무엇이야? 문장으로 말해 줘.”
- “③에서 ‘양옆’은 왼쪽 옆과 오른쪽 옆, 두 곳이야.”
정답
- ① 보건실 “교실 옆에 보건실이 있어요.”
- ② 도서관 “급식실 옆에 도서관이 있어요.”
- ③ 보건실과 급식실
막히면
- 손가락으로 기준 장소를 먼저 짚고, 바로 붙어 있는 방으로 손가락을 한 칸 옮기게 합니다.
주의
- ③에서 한 곳만 말하면 “다른 쪽 옆에는?”이라고 묻습니다. 낱말로만 답하면 문장으로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하기(장소와 도와주실 분)]
목적: 도움 없이 처음 보는 상황에서 알맞은 장소와 도와주실 분을 고르고 까닭을 말하는지 확인합니다(목표 A·B).
시간: 약 3분
이렇게 말해 보세요
- “이번에는 혼자 해 볼래? ①②는 어디로 갈지, ③④는 누구에게 말할지 말하고, 왜 그런지도 말해 줘.”
정답
- ① 도서관(책을 빌리는 곳이니까) ② 운동장(뛰어놀고 체육을 하는 곳이니까. 강당이라고 해도 맞음)
- ③ 담임 선생님이나 보건 선생님(아픈 곳을 살펴 주시니까) ④ 사서 선생님(책 찾기를 도와주시니까. 담임 선생님도 맞음)
막히면
- 바로 알려 주지 말고 “그곳(그분)은 무슨 일을 했지?”라고만 묻습니다. 도움을 받아 해결했다면 기록표에 ‘도움’으로 표시합니다.
주의
- ①② 모두 장소와 까닭을 말하면 목표 A, ③④ 모두 도와주실 분과 까닭을 말하면 목표 B를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 흔한 실수와 비교합니다.
시간: 약 2분
이렇게 말해 보세요
- “네 답과 왼쪽을 비교해 보자. 오른쪽처럼 말하면 무엇이 아쉬울까?”
예상 답
- “참으면 선생님이 몰라요.” “빌린 책은 돌려줘야 해요.”
정답
- S10: ① 도서관 ② 운동장 ③ 보건 선생님(담임 선생님) ④ 사서 선생님(담임 선생님)
막히면
- 틀린 문제는 S04(장소) 또는 S06(도와주시는 분)으로 돌아가 한 번 더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하기(처음 보는 학교 그림)]
목적: 처음 보는 학교 그림에서 장소를 찾고 ‘옆’을 말하는지 확인합니다(목표 C).
시간: 약 2분
이렇게 말해 보세요
- “여기는 햇살초등학교야. 별빛초등학교와 배치가 달라. 혼자 찾아서 문장으로 말해 볼래?”
정답
- ① 교실 “보건실 옆에 교실이 있어요.”
- ② 운동장 “급식실 옆에 운동장이 있어요.”(햇살초등학교는 급식실이 따로 떨어진 건물입니다)
- ③ 위쪽 건물의 오른쪽 끝 방을 짚으면 맞음
막히면
- 바로 알려 주지 말고 “보건실을 먼저 짚어 볼래?”라고만 묻습니다. 도움을 받아 해결했다면 기록표에 ‘도움’으로 표시합니다.
주의
- 세 가지를 모두 바르게 하면 목표 C의 그림 찾기를 이룬 것으로 봅니다. ②에서 ‘도서관’이라고 하면 급식실과 도서관 사이가 떨어져 있고 높이도 다르다는 것을 손가락으로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우리 학교 둘러보기 계획과 기록]
목적: 오늘 배운 다섯 장소와 도와주시는 분을 우리 학교에서 직접 찾아보고 활동지 4에 기록합니다. 둘러보기는 수업 뒤 며칠 동안 합니다(목표 A·B·C).
시간: 약 4분
이렇게 말해 보세요
- “우리 학교에서 다섯 장소를 찾아볼 거야. 이미 아는 곳은 어디야? 아직 모르는 곳은?”
- “학교에서 선생님과 함께 지나갈 때 잘 보고, 집에 와서 엄마(아빠)에게 알려 줘. 그곳 옆에는 무엇이 있었는지도!”
- “하굣길에 교문 밖에서 운동장과 건물을 같이 보자. 학교 누리집에 있는 학교 안내도도 함께 찾아볼까?”
예상 답
- “교실이랑 급식실은 알아요. 보건실은 몰라요.”
- “도서관은 1층에 있고 옆에 강당이 있어요.”
정답
- 기준: 다섯 장소 가운데 세 곳 이상을 찾아 기록표에 ○ 하고, 한 곳 이상에서 ‘○○ 옆에 ~이 있어요.’라고 말하며, 만난 분 한 분 이상을 말하면 목표 C를 이룬 것으로 봅니다. 실제 장소는 학교마다 다르므로 정답이 정해져 있지 않습니다.
막히면
- 장소를 찾지 못하면 “내일 담임 선생님께 ‘보건실은 어디에 있어요?’라고 여쭈어 볼까?”라고 제안합니다.
- 학교 누리집의 학교 안내도(배치도)가 있으면 S03처럼 손가락으로 짚으며 봅니다.
주의
- 보호자는 허락 없이 학교 건물 안에 들어갈 수 없는 학교가 많습니다. 부모는 교문 밖이나 열린 운동장에서 함께 보고, 건물 안은 아이가 학교 생활 중에 보고 와서 말하게 합니다.
- 쉬는 시간에 혼자 멀리 돌아다니지 않도록, 선생님과 함께 이동할 때 살펴보라고 일러 줍니다. 운동장 개방 시간은 학교마다 다릅니다.
- 활동지 4는 다음 차시 ‘함께 지킬 약속’에서 장소별 약속을 이야기할 때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“오늘 알게 된 학교의 장소 하나와, 도와주시는 분 한 분을 말해 볼래?”
- “우리 학교 둘러보기는 언제부터 해 볼까?”
예상 답
- “도서관은 책을 빌리는 곳이에요. 보건 선생님은 아플 때 도와주세요.”
정답
- ① 도서관 ② 보건실 ③ 조리사님
막히면
- S04와 S06을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보충(집 안 장소와 하는 일)]
목적: S02에서 집 안 장소의 이름이나 그곳에서 하는 일을 말하기 어려워하면, 직접 걸으며 장소와 하는 일을 연결합니다.
시간: 약 4분
이렇게 말해 보세요
- “같이 집 안을 한 바퀴 걸어 보자. 여기는 어디야? 여기서는 무엇을 해?”
- “엄마가 하는 일을 말하면 어디인지 맞혀 볼래? ‘이를 닦는 곳!’”
정답
- 예: “여기는 현관이에요. 신발을 벗어요.” “여기는 부엌이에요. 음식을 만들어요.” (장소 이름과 하는 일을 짝지어 말하면 맞음)
막히면
- 장소 이름을 모르면 부모가 먼저 이름을 말해 주고, 아이는 하는 일만 말하게 합니다.
주의
- 이 차시는 계획상 앞 차시가 없습니다. 보충 뒤에도 장소와 하는 일을 짝짓기 어려우면, 며칠 동안 생활 속에서 “여기는 ○○, 여기서는 ~해.”라고 말해 주는 놀이를 한 뒤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나와학교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학교의 장소와 사람들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학교의 장소와 사람들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학교의 장소와 사람들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학교의 장소와 사람들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학교에는 어떤 곳이 있고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도와주실까?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학교의 장소와 하는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도와주시는 분을 알고 도움을 청해요.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안의 장소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이 일을 하는 곳은 어디예요?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벗는 곳은?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씻는 곳은?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음식을 만드는 곳은?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별빛초등학교 둘러보기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짚으며 장소 이름을 읽어요.</a:t>
            </a:r>
            <a:endParaRPr lang="ko-KR" sz="3200" dirty="0"/>
          </a:p>
        </p:txBody>
      </p:sp>
      <p:sp>
        <p:nvSpPr>
          <p:cNvPr id="5" name="S03-figure12" descr="별빛초등학교 그림: 위쪽 건물에 왼쪽부터 교실, 보건실, 도서관, 급식실이 한 줄로 붙어 있고, 방마다 아래쪽 복도 쪽에 문(짙은 막대)이 있다. 건물 아래 넓은 초록 칸이 운동장이다. 교실 옆은 보건실, 급식실 옆은 도서관, 도서관 양옆은 보건실과 급식실이다."/>
          <p:cNvSpPr/>
          <p:nvPr/>
        </p:nvSpPr>
        <p:spPr>
          <a:xfrm>
            <a:off x="1778508" y="2863596"/>
            <a:ext cx="8631936" cy="575462"/>
          </a:xfrm>
          <a:custGeom>
            <a:avLst/>
            <a:gdLst/>
            <a:ahLst/>
            <a:cxnLst/>
            <a:rect l="l" t="t" r="r" b="b"/>
            <a:pathLst>
              <a:path w="8631936" h="575462">
                <a:moveTo>
                  <a:pt x="0" y="575462"/>
                </a:moveTo>
                <a:lnTo>
                  <a:pt x="8631936" y="575462"/>
                </a:lnTo>
                <a:lnTo>
                  <a:pt x="8631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3-mark13"/>
          <p:cNvSpPr/>
          <p:nvPr/>
        </p:nvSpPr>
        <p:spPr>
          <a:xfrm>
            <a:off x="1778508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14"/>
          <p:cNvSpPr/>
          <p:nvPr/>
        </p:nvSpPr>
        <p:spPr>
          <a:xfrm>
            <a:off x="2569769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3-mark15"/>
          <p:cNvSpPr/>
          <p:nvPr/>
        </p:nvSpPr>
        <p:spPr>
          <a:xfrm>
            <a:off x="3936492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16"/>
          <p:cNvSpPr/>
          <p:nvPr/>
        </p:nvSpPr>
        <p:spPr>
          <a:xfrm>
            <a:off x="4727753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3-mark17"/>
          <p:cNvSpPr/>
          <p:nvPr/>
        </p:nvSpPr>
        <p:spPr>
          <a:xfrm>
            <a:off x="6094476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18"/>
          <p:cNvSpPr/>
          <p:nvPr/>
        </p:nvSpPr>
        <p:spPr>
          <a:xfrm>
            <a:off x="6885737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3-mark19"/>
          <p:cNvSpPr/>
          <p:nvPr/>
        </p:nvSpPr>
        <p:spPr>
          <a:xfrm>
            <a:off x="8252460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20"/>
          <p:cNvSpPr/>
          <p:nvPr/>
        </p:nvSpPr>
        <p:spPr>
          <a:xfrm>
            <a:off x="9043721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4" name="S03-mark21"/>
          <p:cNvSpPr/>
          <p:nvPr/>
        </p:nvSpPr>
        <p:spPr>
          <a:xfrm>
            <a:off x="1778508" y="1424940"/>
            <a:ext cx="8631936" cy="2014118"/>
          </a:xfrm>
          <a:custGeom>
            <a:avLst/>
            <a:gdLst/>
            <a:ahLst/>
            <a:cxnLst/>
            <a:rect l="l" t="t" r="r" b="b"/>
            <a:pathLst>
              <a:path w="8631936" h="2014118">
                <a:moveTo>
                  <a:pt x="0" y="2014118"/>
                </a:moveTo>
                <a:lnTo>
                  <a:pt x="8631936" y="2014118"/>
                </a:lnTo>
                <a:lnTo>
                  <a:pt x="863193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3-mark22"/>
          <p:cNvSpPr/>
          <p:nvPr/>
        </p:nvSpPr>
        <p:spPr>
          <a:xfrm>
            <a:off x="1778508" y="3726790"/>
            <a:ext cx="8631936" cy="1294790"/>
          </a:xfrm>
          <a:custGeom>
            <a:avLst/>
            <a:gdLst/>
            <a:ahLst/>
            <a:cxnLst/>
            <a:rect l="l" t="t" r="r" b="b"/>
            <a:pathLst>
              <a:path w="8631936" h="1294790">
                <a:moveTo>
                  <a:pt x="0" y="1294790"/>
                </a:moveTo>
                <a:lnTo>
                  <a:pt x="8631936" y="1294790"/>
                </a:lnTo>
                <a:lnTo>
                  <a:pt x="8631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label24"/>
          <p:cNvSpPr txBox="1"/>
          <p:nvPr/>
        </p:nvSpPr>
        <p:spPr>
          <a:xfrm>
            <a:off x="2479040" y="1829994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2600" dirty="0"/>
          </a:p>
        </p:txBody>
      </p:sp>
      <p:sp>
        <p:nvSpPr>
          <p:cNvPr id="17" name="S03-label26"/>
          <p:cNvSpPr txBox="1"/>
          <p:nvPr/>
        </p:nvSpPr>
        <p:spPr>
          <a:xfrm>
            <a:off x="4475226" y="1829994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2600" dirty="0"/>
          </a:p>
        </p:txBody>
      </p:sp>
      <p:sp>
        <p:nvSpPr>
          <p:cNvPr id="18" name="S03-label28"/>
          <p:cNvSpPr txBox="1"/>
          <p:nvPr/>
        </p:nvSpPr>
        <p:spPr>
          <a:xfrm>
            <a:off x="6633210" y="1829994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19" name="S03-label30"/>
          <p:cNvSpPr txBox="1"/>
          <p:nvPr/>
        </p:nvSpPr>
        <p:spPr>
          <a:xfrm>
            <a:off x="8791194" y="1829994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2600" dirty="0"/>
          </a:p>
        </p:txBody>
      </p:sp>
      <p:sp>
        <p:nvSpPr>
          <p:cNvPr id="20" name="S03-label32"/>
          <p:cNvSpPr txBox="1"/>
          <p:nvPr/>
        </p:nvSpPr>
        <p:spPr>
          <a:xfrm>
            <a:off x="5716016" y="2944952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</a:t>
            </a:r>
            <a:endParaRPr lang="ko-KR" sz="2600" dirty="0"/>
          </a:p>
        </p:txBody>
      </p:sp>
      <p:sp>
        <p:nvSpPr>
          <p:cNvPr id="21" name="S03-label34"/>
          <p:cNvSpPr txBox="1"/>
          <p:nvPr/>
        </p:nvSpPr>
        <p:spPr>
          <a:xfrm>
            <a:off x="5554218" y="416781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</a:t>
            </a:r>
            <a:endParaRPr lang="ko-KR" sz="4400" dirty="0"/>
          </a:p>
        </p:txBody>
      </p:sp>
      <p:sp>
        <p:nvSpPr>
          <p:cNvPr id="3" name="S04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일이 달라요.</a:t>
            </a:r>
            <a:endParaRPr lang="ko-KR" sz="3200" dirty="0"/>
          </a:p>
        </p:txBody>
      </p:sp>
      <p:sp>
        <p:nvSpPr>
          <p:cNvPr id="5" name="S04-card37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8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공부해요.</a:t>
            </a:r>
            <a:endParaRPr lang="ko-KR" sz="3200" dirty="0"/>
          </a:p>
        </p:txBody>
      </p:sp>
      <p:sp>
        <p:nvSpPr>
          <p:cNvPr id="7" name="S04-card39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40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 쉬고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치료받아요.</a:t>
            </a:r>
            <a:endParaRPr lang="ko-KR" sz="3200" dirty="0"/>
          </a:p>
        </p:txBody>
      </p:sp>
      <p:sp>
        <p:nvSpPr>
          <p:cNvPr id="9" name="S04-card41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42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읽고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빌려요.</a:t>
            </a:r>
            <a:endParaRPr lang="ko-KR" sz="3200" dirty="0"/>
          </a:p>
        </p:txBody>
      </p:sp>
      <p:sp>
        <p:nvSpPr>
          <p:cNvPr id="11" name="S04-card43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44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체육을 해요.</a:t>
            </a:r>
            <a:endParaRPr lang="ko-KR" sz="3200" dirty="0"/>
          </a:p>
        </p:txBody>
      </p:sp>
      <p:sp>
        <p:nvSpPr>
          <p:cNvPr id="13" name="S04-card45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46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갈까요?</a:t>
            </a:r>
            <a:endParaRPr lang="ko-KR" sz="4400" dirty="0"/>
          </a:p>
        </p:txBody>
      </p:sp>
      <p:sp>
        <p:nvSpPr>
          <p:cNvPr id="3" name="S05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장소를 고르고 까닭도 말해요.</a:t>
            </a:r>
            <a:endParaRPr lang="ko-KR" sz="3200" dirty="0"/>
          </a:p>
        </p:txBody>
      </p:sp>
      <p:sp>
        <p:nvSpPr>
          <p:cNvPr id="4" name="S05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· 보건실 · 도서관 · 운동장 · 급식실</a:t>
            </a:r>
            <a:endParaRPr lang="ko-KR" sz="3200" dirty="0"/>
          </a:p>
        </p:txBody>
      </p:sp>
      <p:sp>
        <p:nvSpPr>
          <p:cNvPr id="6" name="S05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넘어져서 무릎이 아파요.</a:t>
            </a:r>
            <a:endParaRPr lang="ko-KR" sz="3200" dirty="0"/>
          </a:p>
        </p:txBody>
      </p:sp>
      <p:sp>
        <p:nvSpPr>
          <p:cNvPr id="8" name="S05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공룡 책을 빌리고 싶어요.</a:t>
            </a:r>
            <a:endParaRPr lang="ko-KR" sz="3200" dirty="0"/>
          </a:p>
        </p:txBody>
      </p:sp>
      <p:sp>
        <p:nvSpPr>
          <p:cNvPr id="10" name="S05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점심시간이 되었어요.</a:t>
            </a:r>
            <a:endParaRPr lang="ko-KR" sz="3200" dirty="0"/>
          </a:p>
        </p:txBody>
      </p:sp>
      <p:sp>
        <p:nvSpPr>
          <p:cNvPr id="12" name="S05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5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차며 놀고 싶어요.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도와주시는 분들</a:t>
            </a:r>
            <a:endParaRPr lang="ko-KR" sz="4400" dirty="0"/>
          </a:p>
        </p:txBody>
      </p:sp>
      <p:sp>
        <p:nvSpPr>
          <p:cNvPr id="3" name="S06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필요하면 가까운 어른께 말해요.</a:t>
            </a:r>
            <a:endParaRPr lang="ko-KR" sz="3200" dirty="0"/>
          </a:p>
        </p:txBody>
      </p:sp>
      <p:sp>
        <p:nvSpPr>
          <p:cNvPr id="5" name="S06-card60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61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가르쳐 주세요.</a:t>
            </a:r>
            <a:endParaRPr lang="ko-KR" sz="3200" dirty="0"/>
          </a:p>
        </p:txBody>
      </p:sp>
      <p:sp>
        <p:nvSpPr>
          <p:cNvPr id="7" name="S06-card62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63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곳을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 주세요.</a:t>
            </a:r>
            <a:endParaRPr lang="ko-KR" sz="3200" dirty="0"/>
          </a:p>
        </p:txBody>
      </p:sp>
      <p:sp>
        <p:nvSpPr>
          <p:cNvPr id="9" name="S06-card64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65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사서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찾기를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도와주세요.</a:t>
            </a:r>
            <a:endParaRPr lang="ko-KR" sz="3200" dirty="0"/>
          </a:p>
        </p:txBody>
      </p:sp>
      <p:sp>
        <p:nvSpPr>
          <p:cNvPr id="11" name="S06-card66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67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조리사님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주세요.</a:t>
            </a:r>
            <a:endParaRPr lang="ko-KR" sz="3200" dirty="0"/>
          </a:p>
        </p:txBody>
      </p:sp>
      <p:sp>
        <p:nvSpPr>
          <p:cNvPr id="13" name="S06-card68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69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배움터 지킴이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학교를 안전하게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주세요.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말할까요?</a:t>
            </a:r>
            <a:endParaRPr lang="ko-KR" sz="4400" dirty="0"/>
          </a:p>
        </p:txBody>
      </p:sp>
      <p:sp>
        <p:nvSpPr>
          <p:cNvPr id="3" name="S07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도와주실 분을 고르고 까닭도 말해요.</a:t>
            </a:r>
            <a:endParaRPr lang="ko-KR" sz="3200" dirty="0"/>
          </a:p>
        </p:txBody>
      </p:sp>
      <p:sp>
        <p:nvSpPr>
          <p:cNvPr id="4" name="S07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그분이 하시는 일을 떠올려요.</a:t>
            </a:r>
            <a:endParaRPr lang="ko-KR" sz="3200" dirty="0"/>
          </a:p>
        </p:txBody>
      </p:sp>
      <p:sp>
        <p:nvSpPr>
          <p:cNvPr id="6" name="S07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아파요.</a:t>
            </a:r>
            <a:endParaRPr lang="ko-KR" sz="3200" dirty="0"/>
          </a:p>
        </p:txBody>
      </p:sp>
      <p:sp>
        <p:nvSpPr>
          <p:cNvPr id="8" name="S07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싶은 책을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찾겠어요.</a:t>
            </a:r>
            <a:endParaRPr lang="ko-KR" sz="3200" dirty="0"/>
          </a:p>
        </p:txBody>
      </p:sp>
      <p:sp>
        <p:nvSpPr>
          <p:cNvPr id="10" name="S07-chip7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7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잘 모르겠어요.</a:t>
            </a:r>
            <a:endParaRPr lang="ko-KR" sz="3200" dirty="0"/>
          </a:p>
        </p:txBody>
      </p:sp>
      <p:sp>
        <p:nvSpPr>
          <p:cNvPr id="12" name="S07-chip7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7-text8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급식실에서 숟가락을 떨어뜨렸어요.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때는 어떻게 해요?</a:t>
            </a:r>
            <a:endParaRPr lang="ko-KR" sz="4400" dirty="0"/>
          </a:p>
        </p:txBody>
      </p:sp>
      <p:sp>
        <p:nvSpPr>
          <p:cNvPr id="3" name="S08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시간에 머리가 아파요.</a:t>
            </a:r>
            <a:endParaRPr lang="ko-KR" sz="3200" dirty="0"/>
          </a:p>
        </p:txBody>
      </p:sp>
      <p:sp>
        <p:nvSpPr>
          <p:cNvPr id="5" name="S08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잘했을까요? 왜 그럴까요?</a:t>
            </a:r>
            <a:endParaRPr lang="ko-KR" sz="3200" dirty="0"/>
          </a:p>
        </p:txBody>
      </p:sp>
      <p:sp>
        <p:nvSpPr>
          <p:cNvPr id="7" name="S08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말 없이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참아요.</a:t>
            </a:r>
            <a:endParaRPr lang="ko-KR" sz="3200" dirty="0"/>
          </a:p>
        </p:txBody>
      </p:sp>
      <p:sp>
        <p:nvSpPr>
          <p:cNvPr id="9" name="S08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“선생님,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머리가 아파요.”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있을까요?</a:t>
            </a:r>
            <a:endParaRPr lang="ko-KR" sz="4400" dirty="0"/>
          </a:p>
        </p:txBody>
      </p:sp>
      <p:sp>
        <p:nvSpPr>
          <p:cNvPr id="3" name="S09-card89"/>
          <p:cNvSpPr/>
          <p:nvPr/>
        </p:nvSpPr>
        <p:spPr>
          <a:xfrm>
            <a:off x="548640" y="4401312"/>
            <a:ext cx="11091672" cy="1816608"/>
          </a:xfrm>
          <a:prstGeom prst="roundRect">
            <a:avLst>
              <a:gd name="adj" fmla="val 604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0"/>
          <p:cNvSpPr txBox="1"/>
          <p:nvPr/>
        </p:nvSpPr>
        <p:spPr>
          <a:xfrm>
            <a:off x="822960" y="4538472"/>
            <a:ext cx="10543032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교실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급식실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도서관 양옆에 있는 곳은?</a:t>
            </a:r>
            <a:endParaRPr lang="ko-KR" sz="3200" dirty="0"/>
          </a:p>
        </p:txBody>
      </p:sp>
      <p:sp>
        <p:nvSpPr>
          <p:cNvPr id="5" name="S09-figure91" descr="별빛초등학교 그림: 위쪽 건물에 왼쪽부터 교실, 보건실, 도서관, 급식실이 한 줄로 붙어 있고, 방마다 아래쪽 복도 쪽에 문(짙은 막대)이 있다. 건물 아래 넓은 초록 칸이 운동장이다. 교실 옆은 보건실, 급식실 옆은 도서관, 도서관 양옆은 보건실과 급식실이다."/>
          <p:cNvSpPr/>
          <p:nvPr/>
        </p:nvSpPr>
        <p:spPr>
          <a:xfrm>
            <a:off x="2916022" y="2484425"/>
            <a:ext cx="6356909" cy="423794"/>
          </a:xfrm>
          <a:custGeom>
            <a:avLst/>
            <a:gdLst/>
            <a:ahLst/>
            <a:cxnLst/>
            <a:rect l="l" t="t" r="r" b="b"/>
            <a:pathLst>
              <a:path w="6356909" h="423794">
                <a:moveTo>
                  <a:pt x="0" y="423794"/>
                </a:moveTo>
                <a:lnTo>
                  <a:pt x="6356909" y="423794"/>
                </a:lnTo>
                <a:lnTo>
                  <a:pt x="63569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9-mark92"/>
          <p:cNvSpPr/>
          <p:nvPr/>
        </p:nvSpPr>
        <p:spPr>
          <a:xfrm>
            <a:off x="2916022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mark93"/>
          <p:cNvSpPr/>
          <p:nvPr/>
        </p:nvSpPr>
        <p:spPr>
          <a:xfrm>
            <a:off x="3498738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9-mark94"/>
          <p:cNvSpPr/>
          <p:nvPr/>
        </p:nvSpPr>
        <p:spPr>
          <a:xfrm>
            <a:off x="4505249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mark95"/>
          <p:cNvSpPr/>
          <p:nvPr/>
        </p:nvSpPr>
        <p:spPr>
          <a:xfrm>
            <a:off x="5087965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9-mark96"/>
          <p:cNvSpPr/>
          <p:nvPr/>
        </p:nvSpPr>
        <p:spPr>
          <a:xfrm>
            <a:off x="6094476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mark97"/>
          <p:cNvSpPr/>
          <p:nvPr/>
        </p:nvSpPr>
        <p:spPr>
          <a:xfrm>
            <a:off x="6677193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9-mark98"/>
          <p:cNvSpPr/>
          <p:nvPr/>
        </p:nvSpPr>
        <p:spPr>
          <a:xfrm>
            <a:off x="7683703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mark99"/>
          <p:cNvSpPr/>
          <p:nvPr/>
        </p:nvSpPr>
        <p:spPr>
          <a:xfrm>
            <a:off x="8266420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4" name="S09-mark100"/>
          <p:cNvSpPr/>
          <p:nvPr/>
        </p:nvSpPr>
        <p:spPr>
          <a:xfrm>
            <a:off x="2916022" y="1424940"/>
            <a:ext cx="6356909" cy="1483279"/>
          </a:xfrm>
          <a:custGeom>
            <a:avLst/>
            <a:gdLst/>
            <a:ahLst/>
            <a:cxnLst/>
            <a:rect l="l" t="t" r="r" b="b"/>
            <a:pathLst>
              <a:path w="6356909" h="1483279">
                <a:moveTo>
                  <a:pt x="0" y="1483279"/>
                </a:moveTo>
                <a:lnTo>
                  <a:pt x="6356909" y="1483279"/>
                </a:lnTo>
                <a:lnTo>
                  <a:pt x="6356909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9-mark101"/>
          <p:cNvSpPr/>
          <p:nvPr/>
        </p:nvSpPr>
        <p:spPr>
          <a:xfrm>
            <a:off x="2916022" y="3120116"/>
            <a:ext cx="6356909" cy="953536"/>
          </a:xfrm>
          <a:custGeom>
            <a:avLst/>
            <a:gdLst/>
            <a:ahLst/>
            <a:cxnLst/>
            <a:rect l="l" t="t" r="r" b="b"/>
            <a:pathLst>
              <a:path w="6356909" h="953536">
                <a:moveTo>
                  <a:pt x="0" y="953536"/>
                </a:moveTo>
                <a:lnTo>
                  <a:pt x="6356909" y="953536"/>
                </a:lnTo>
                <a:lnTo>
                  <a:pt x="6356909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label103"/>
          <p:cNvSpPr txBox="1"/>
          <p:nvPr/>
        </p:nvSpPr>
        <p:spPr>
          <a:xfrm>
            <a:off x="3332175" y="1668846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2600" dirty="0"/>
          </a:p>
        </p:txBody>
      </p:sp>
      <p:sp>
        <p:nvSpPr>
          <p:cNvPr id="17" name="S09-label105"/>
          <p:cNvSpPr txBox="1"/>
          <p:nvPr/>
        </p:nvSpPr>
        <p:spPr>
          <a:xfrm>
            <a:off x="4759604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2600" dirty="0"/>
          </a:p>
        </p:txBody>
      </p:sp>
      <p:sp>
        <p:nvSpPr>
          <p:cNvPr id="18" name="S09-label107"/>
          <p:cNvSpPr txBox="1"/>
          <p:nvPr/>
        </p:nvSpPr>
        <p:spPr>
          <a:xfrm>
            <a:off x="6348832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19" name="S09-label109"/>
          <p:cNvSpPr txBox="1"/>
          <p:nvPr/>
        </p:nvSpPr>
        <p:spPr>
          <a:xfrm>
            <a:off x="7938059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2600" dirty="0"/>
          </a:p>
        </p:txBody>
      </p:sp>
      <p:sp>
        <p:nvSpPr>
          <p:cNvPr id="20" name="S09-label111"/>
          <p:cNvSpPr txBox="1"/>
          <p:nvPr/>
        </p:nvSpPr>
        <p:spPr>
          <a:xfrm>
            <a:off x="5716016" y="2489947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</a:t>
            </a:r>
            <a:endParaRPr lang="ko-KR" sz="2600" dirty="0"/>
          </a:p>
        </p:txBody>
      </p:sp>
      <p:sp>
        <p:nvSpPr>
          <p:cNvPr id="21" name="S09-label113"/>
          <p:cNvSpPr txBox="1"/>
          <p:nvPr/>
        </p:nvSpPr>
        <p:spPr>
          <a:xfrm>
            <a:off x="5554218" y="3390509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장소, ③④는 도와주실 분을 말해요.</a:t>
            </a:r>
            <a:endParaRPr lang="ko-KR" sz="3200" dirty="0"/>
          </a:p>
        </p:txBody>
      </p:sp>
      <p:sp>
        <p:nvSpPr>
          <p:cNvPr id="4" name="S10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함께 말해요.</a:t>
            </a:r>
            <a:endParaRPr lang="ko-KR" sz="3200" dirty="0"/>
          </a:p>
        </p:txBody>
      </p:sp>
      <p:sp>
        <p:nvSpPr>
          <p:cNvPr id="6" name="S10-chip11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11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그림책을 빌리고 싶어요.</a:t>
            </a:r>
            <a:endParaRPr lang="ko-KR" sz="3200" dirty="0"/>
          </a:p>
        </p:txBody>
      </p:sp>
      <p:sp>
        <p:nvSpPr>
          <p:cNvPr id="8" name="S10-chip1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12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연습을 해요.</a:t>
            </a:r>
            <a:endParaRPr lang="ko-KR" sz="3200" dirty="0"/>
          </a:p>
        </p:txBody>
      </p:sp>
      <p:sp>
        <p:nvSpPr>
          <p:cNvPr id="10" name="S10-chip12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12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코피가 나요.</a:t>
            </a:r>
            <a:endParaRPr lang="ko-KR" sz="3200" dirty="0"/>
          </a:p>
        </p:txBody>
      </p:sp>
      <p:sp>
        <p:nvSpPr>
          <p:cNvPr id="12" name="S10-chip12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text12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못 찾겠어요.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장소와 도와주시는 분이 하는 일을 까닭으로 말해요.</a:t>
            </a:r>
            <a:endParaRPr lang="ko-KR" sz="3200" dirty="0"/>
          </a:p>
        </p:txBody>
      </p:sp>
      <p:sp>
        <p:nvSpPr>
          <p:cNvPr id="5" name="S11-chip12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28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도서관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운동장</a:t>
            </a:r>
            <a:endParaRPr lang="ko-KR" sz="3200" dirty="0"/>
          </a:p>
        </p:txBody>
      </p:sp>
      <p:sp>
        <p:nvSpPr>
          <p:cNvPr id="7" name="S11-text129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</a:t>
            </a:r>
            <a:endParaRPr lang="ko-KR" sz="2600" dirty="0"/>
          </a:p>
        </p:txBody>
      </p:sp>
      <p:sp>
        <p:nvSpPr>
          <p:cNvPr id="8" name="S11-text130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보건 선생님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사서 선생님</a:t>
            </a:r>
            <a:endParaRPr lang="ko-KR" sz="3200" dirty="0"/>
          </a:p>
        </p:txBody>
      </p:sp>
      <p:sp>
        <p:nvSpPr>
          <p:cNvPr id="9" name="S11-text131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선생님도 맞아요</a:t>
            </a:r>
            <a:endParaRPr lang="ko-KR" sz="2600" dirty="0"/>
          </a:p>
        </p:txBody>
      </p:sp>
      <p:sp>
        <p:nvSpPr>
          <p:cNvPr id="10" name="S11-chip13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13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“꾹 참아요.”</a:t>
            </a:r>
            <a:endParaRPr lang="ko-KR" sz="3200" dirty="0"/>
          </a:p>
        </p:txBody>
      </p:sp>
      <p:sp>
        <p:nvSpPr>
          <p:cNvPr id="12" name="S11-text13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아프면 말해요</a:t>
            </a:r>
            <a:endParaRPr lang="ko-KR" sz="2600" dirty="0"/>
          </a:p>
        </p:txBody>
      </p:sp>
      <p:sp>
        <p:nvSpPr>
          <p:cNvPr id="13" name="S11-text13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“빌린 책은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거예요.”</a:t>
            </a:r>
            <a:endParaRPr lang="ko-KR" sz="3200" dirty="0"/>
          </a:p>
        </p:txBody>
      </p:sp>
      <p:sp>
        <p:nvSpPr>
          <p:cNvPr id="14" name="S11-text13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읽으면 돌려줘요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햇살초등학교</a:t>
            </a:r>
            <a:endParaRPr lang="ko-KR" sz="4400" dirty="0"/>
          </a:p>
        </p:txBody>
      </p:sp>
      <p:sp>
        <p:nvSpPr>
          <p:cNvPr id="3" name="S12-card137"/>
          <p:cNvSpPr/>
          <p:nvPr/>
        </p:nvSpPr>
        <p:spPr>
          <a:xfrm>
            <a:off x="548640" y="4401312"/>
            <a:ext cx="11091672" cy="1816608"/>
          </a:xfrm>
          <a:prstGeom prst="roundRect">
            <a:avLst>
              <a:gd name="adj" fmla="val 604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38"/>
          <p:cNvSpPr txBox="1"/>
          <p:nvPr/>
        </p:nvSpPr>
        <p:spPr>
          <a:xfrm>
            <a:off x="822960" y="4538472"/>
            <a:ext cx="10543032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보건실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급식실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도서관을 손가락으로 짚어요.</a:t>
            </a:r>
            <a:endParaRPr lang="ko-KR" sz="3200" dirty="0"/>
          </a:p>
        </p:txBody>
      </p:sp>
      <p:sp>
        <p:nvSpPr>
          <p:cNvPr id="5" name="S12-figure139" descr="햇살초등학교 그림: 위쪽 건물에 왼쪽부터 보건실, 교실, 도서관이 한 줄로 붙어 있고 문은 아래쪽 복도 쪽이다. 건물 아래 왼쪽에 넓은 운동장이 있고, 운동장 오른쪽 옆에 따로 떨어진 작은 건물 급식실이 있다(문은 운동장 쪽). 보건실 옆은 교실, 급식실 옆은 운동장이다."/>
          <p:cNvSpPr/>
          <p:nvPr/>
        </p:nvSpPr>
        <p:spPr>
          <a:xfrm>
            <a:off x="2651150" y="2484425"/>
            <a:ext cx="4767682" cy="423794"/>
          </a:xfrm>
          <a:custGeom>
            <a:avLst/>
            <a:gdLst/>
            <a:ahLst/>
            <a:cxnLst/>
            <a:rect l="l" t="t" r="r" b="b"/>
            <a:pathLst>
              <a:path w="4767682" h="423794">
                <a:moveTo>
                  <a:pt x="0" y="423794"/>
                </a:moveTo>
                <a:lnTo>
                  <a:pt x="4767682" y="423794"/>
                </a:lnTo>
                <a:lnTo>
                  <a:pt x="47676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12-mark140"/>
          <p:cNvSpPr/>
          <p:nvPr/>
        </p:nvSpPr>
        <p:spPr>
          <a:xfrm>
            <a:off x="2651150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mark141"/>
          <p:cNvSpPr/>
          <p:nvPr/>
        </p:nvSpPr>
        <p:spPr>
          <a:xfrm>
            <a:off x="3233867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12-mark142"/>
          <p:cNvSpPr/>
          <p:nvPr/>
        </p:nvSpPr>
        <p:spPr>
          <a:xfrm>
            <a:off x="4240378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mark143"/>
          <p:cNvSpPr/>
          <p:nvPr/>
        </p:nvSpPr>
        <p:spPr>
          <a:xfrm>
            <a:off x="4823094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12-mark144"/>
          <p:cNvSpPr/>
          <p:nvPr/>
        </p:nvSpPr>
        <p:spPr>
          <a:xfrm>
            <a:off x="5829605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mark145"/>
          <p:cNvSpPr/>
          <p:nvPr/>
        </p:nvSpPr>
        <p:spPr>
          <a:xfrm>
            <a:off x="6412321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12-mark146"/>
          <p:cNvSpPr/>
          <p:nvPr/>
        </p:nvSpPr>
        <p:spPr>
          <a:xfrm>
            <a:off x="2651150" y="1424940"/>
            <a:ext cx="4767682" cy="1483279"/>
          </a:xfrm>
          <a:custGeom>
            <a:avLst/>
            <a:gdLst/>
            <a:ahLst/>
            <a:cxnLst/>
            <a:rect l="l" t="t" r="r" b="b"/>
            <a:pathLst>
              <a:path w="4767682" h="1483279">
                <a:moveTo>
                  <a:pt x="0" y="1483279"/>
                </a:moveTo>
                <a:lnTo>
                  <a:pt x="4767682" y="1483279"/>
                </a:lnTo>
                <a:lnTo>
                  <a:pt x="4767682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2-mark147"/>
          <p:cNvSpPr/>
          <p:nvPr/>
        </p:nvSpPr>
        <p:spPr>
          <a:xfrm>
            <a:off x="2651150" y="3120116"/>
            <a:ext cx="4767682" cy="953536"/>
          </a:xfrm>
          <a:custGeom>
            <a:avLst/>
            <a:gdLst/>
            <a:ahLst/>
            <a:cxnLst/>
            <a:rect l="l" t="t" r="r" b="b"/>
            <a:pathLst>
              <a:path w="4767682" h="953536">
                <a:moveTo>
                  <a:pt x="0" y="953536"/>
                </a:moveTo>
                <a:lnTo>
                  <a:pt x="4767682" y="953536"/>
                </a:lnTo>
                <a:lnTo>
                  <a:pt x="476768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2-mark148"/>
          <p:cNvSpPr/>
          <p:nvPr/>
        </p:nvSpPr>
        <p:spPr>
          <a:xfrm>
            <a:off x="7948574" y="2908219"/>
            <a:ext cx="1589227" cy="1165433"/>
          </a:xfrm>
          <a:custGeom>
            <a:avLst/>
            <a:gdLst/>
            <a:ahLst/>
            <a:cxnLst/>
            <a:rect l="l" t="t" r="r" b="b"/>
            <a:pathLst>
              <a:path w="1589227" h="1165433">
                <a:moveTo>
                  <a:pt x="0" y="1165433"/>
                </a:moveTo>
                <a:lnTo>
                  <a:pt x="1589227" y="1165433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2-mark149"/>
          <p:cNvSpPr/>
          <p:nvPr/>
        </p:nvSpPr>
        <p:spPr>
          <a:xfrm>
            <a:off x="7948574" y="3279038"/>
            <a:ext cx="105948" cy="423794"/>
          </a:xfrm>
          <a:custGeom>
            <a:avLst/>
            <a:gdLst/>
            <a:ahLst/>
            <a:cxnLst/>
            <a:rect l="l" t="t" r="r" b="b"/>
            <a:pathLst>
              <a:path w="105948" h="423794">
                <a:moveTo>
                  <a:pt x="0" y="423794"/>
                </a:moveTo>
                <a:lnTo>
                  <a:pt x="105948" y="423794"/>
                </a:lnTo>
                <a:lnTo>
                  <a:pt x="105948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6" name="S12-label151"/>
          <p:cNvSpPr txBox="1"/>
          <p:nvPr/>
        </p:nvSpPr>
        <p:spPr>
          <a:xfrm>
            <a:off x="2905506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2600" dirty="0"/>
          </a:p>
        </p:txBody>
      </p:sp>
      <p:sp>
        <p:nvSpPr>
          <p:cNvPr id="17" name="S12-label153"/>
          <p:cNvSpPr txBox="1"/>
          <p:nvPr/>
        </p:nvSpPr>
        <p:spPr>
          <a:xfrm>
            <a:off x="4656531" y="1668846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2600" dirty="0"/>
          </a:p>
        </p:txBody>
      </p:sp>
      <p:sp>
        <p:nvSpPr>
          <p:cNvPr id="18" name="S12-label155"/>
          <p:cNvSpPr txBox="1"/>
          <p:nvPr/>
        </p:nvSpPr>
        <p:spPr>
          <a:xfrm>
            <a:off x="6083960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19" name="S12-label157"/>
          <p:cNvSpPr txBox="1"/>
          <p:nvPr/>
        </p:nvSpPr>
        <p:spPr>
          <a:xfrm>
            <a:off x="4656531" y="2489947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</a:t>
            </a:r>
            <a:endParaRPr lang="ko-KR" sz="2600" dirty="0"/>
          </a:p>
        </p:txBody>
      </p:sp>
      <p:sp>
        <p:nvSpPr>
          <p:cNvPr id="20" name="S12-label159"/>
          <p:cNvSpPr txBox="1"/>
          <p:nvPr/>
        </p:nvSpPr>
        <p:spPr>
          <a:xfrm>
            <a:off x="4494733" y="3390509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2600" dirty="0"/>
          </a:p>
        </p:txBody>
      </p:sp>
      <p:sp>
        <p:nvSpPr>
          <p:cNvPr id="21" name="S12-label161"/>
          <p:cNvSpPr txBox="1"/>
          <p:nvPr/>
        </p:nvSpPr>
        <p:spPr>
          <a:xfrm>
            <a:off x="8255904" y="328456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 둘러보기</a:t>
            </a:r>
            <a:endParaRPr lang="ko-KR" sz="4400" dirty="0"/>
          </a:p>
        </p:txBody>
      </p:sp>
      <p:sp>
        <p:nvSpPr>
          <p:cNvPr id="3" name="S13-card162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63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학교 안에서는 혼자 멀리 가지 말고 선생님과 함께 다녀요.</a:t>
            </a:r>
            <a:endParaRPr lang="ko-KR" sz="3200" dirty="0"/>
          </a:p>
        </p:txBody>
      </p:sp>
      <p:sp>
        <p:nvSpPr>
          <p:cNvPr id="5" name="S13-card164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65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곳 이상 찾았어요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옆에 있는 곳을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만난 분을 말했어요</a:t>
            </a:r>
            <a:endParaRPr lang="ko-KR" sz="3200" dirty="0"/>
          </a:p>
        </p:txBody>
      </p:sp>
      <p:sp>
        <p:nvSpPr>
          <p:cNvPr id="7" name="S13-stepno166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3-text167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찾아볼 장소를 골라요.</a:t>
            </a:r>
            <a:endParaRPr lang="ko-KR" sz="3200" dirty="0"/>
          </a:p>
        </p:txBody>
      </p:sp>
      <p:sp>
        <p:nvSpPr>
          <p:cNvPr id="9" name="S13-stepno168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3-text169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찾아봐요.</a:t>
            </a:r>
            <a:endParaRPr lang="ko-KR" sz="3200" dirty="0"/>
          </a:p>
        </p:txBody>
      </p:sp>
      <p:sp>
        <p:nvSpPr>
          <p:cNvPr id="11" name="S13-stepno170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3-text171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도와주시는 분을 알아봐요.</a:t>
            </a:r>
            <a:endParaRPr lang="ko-KR" sz="3200" dirty="0"/>
          </a:p>
        </p:txBody>
      </p:sp>
      <p:sp>
        <p:nvSpPr>
          <p:cNvPr id="13" name="S13-stepno172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3-text173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찾으면 기록표에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7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7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학교에는 여러 장소와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도와주시는 분들이 있어요.</a:t>
            </a:r>
            <a:endParaRPr lang="ko-KR" sz="3200" dirty="0"/>
          </a:p>
        </p:txBody>
      </p:sp>
      <p:sp>
        <p:nvSpPr>
          <p:cNvPr id="5" name="S14-chip17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아프면 선생님께 말하기</a:t>
            </a:r>
            <a:endParaRPr lang="ko-KR" sz="2600" dirty="0"/>
          </a:p>
        </p:txBody>
      </p:sp>
      <p:sp>
        <p:nvSpPr>
          <p:cNvPr id="6" name="S14-chip17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아파도 꾹 참기</a:t>
            </a:r>
            <a:endParaRPr lang="ko-KR" sz="2600" dirty="0"/>
          </a:p>
        </p:txBody>
      </p:sp>
      <p:sp>
        <p:nvSpPr>
          <p:cNvPr id="7" name="S14-text17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7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책을 빌리는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곳은?</a:t>
            </a:r>
            <a:endParaRPr lang="ko-KR" sz="2600" dirty="0"/>
          </a:p>
        </p:txBody>
      </p:sp>
      <p:sp>
        <p:nvSpPr>
          <p:cNvPr id="9" name="S14-text18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아플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곳은?</a:t>
            </a:r>
            <a:endParaRPr lang="ko-KR" sz="2600" dirty="0"/>
          </a:p>
        </p:txBody>
      </p:sp>
      <p:sp>
        <p:nvSpPr>
          <p:cNvPr id="10" name="S14-text18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급식을 만들어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주시는 분은?</a:t>
            </a:r>
            <a:endParaRPr lang="ko-KR" sz="2600" dirty="0"/>
          </a:p>
        </p:txBody>
      </p:sp>
      <p:sp>
        <p:nvSpPr>
          <p:cNvPr id="11" name="S14-text1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함께 지킬 약속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집 안 둘러보기</a:t>
            </a:r>
            <a:endParaRPr lang="ko-KR" sz="4400" dirty="0"/>
          </a:p>
        </p:txBody>
      </p:sp>
      <p:sp>
        <p:nvSpPr>
          <p:cNvPr id="3" name="S15-text1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집 안을 걸어 봐요.</a:t>
            </a:r>
            <a:endParaRPr lang="ko-KR" sz="3200" dirty="0"/>
          </a:p>
        </p:txBody>
      </p:sp>
      <p:sp>
        <p:nvSpPr>
          <p:cNvPr id="4" name="S15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일이 달라요.</a:t>
            </a:r>
            <a:endParaRPr lang="ko-KR" sz="3200" dirty="0"/>
          </a:p>
        </p:txBody>
      </p:sp>
      <p:sp>
        <p:nvSpPr>
          <p:cNvPr id="6" name="S15-card186"/>
          <p:cNvSpPr/>
          <p:nvPr/>
        </p:nvSpPr>
        <p:spPr>
          <a:xfrm>
            <a:off x="548640" y="25831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87"/>
          <p:cNvSpPr txBox="1"/>
          <p:nvPr/>
        </p:nvSpPr>
        <p:spPr>
          <a:xfrm>
            <a:off x="822960" y="27203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여기는 어디예요?</a:t>
            </a:r>
            <a:endParaRPr lang="ko-KR" sz="3200" dirty="0"/>
          </a:p>
        </p:txBody>
      </p:sp>
      <p:sp>
        <p:nvSpPr>
          <p:cNvPr id="8" name="S15-card188"/>
          <p:cNvSpPr/>
          <p:nvPr/>
        </p:nvSpPr>
        <p:spPr>
          <a:xfrm>
            <a:off x="548640" y="36804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89"/>
          <p:cNvSpPr txBox="1"/>
          <p:nvPr/>
        </p:nvSpPr>
        <p:spPr>
          <a:xfrm>
            <a:off x="822960" y="38176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무엇을 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학교의 장소와 사람들</dc:title>
  <dc:subject>KR22-G01-SOC-SCHOOL-L01</dc:subject>
  <dc:creator>education-ppt</dc:creator>
  <cp:lastModifiedBy>education-ppt</cp:lastModifiedBy>
  <cp:revision>1</cp:revision>
  <dcterms:created xsi:type="dcterms:W3CDTF">2026-10-26T13:07:06Z</dcterms:created>
  <dcterms:modified xsi:type="dcterms:W3CDTF">2026-10-26T13:07:06Z</dcterms:modified>
</cp:coreProperties>
</file>