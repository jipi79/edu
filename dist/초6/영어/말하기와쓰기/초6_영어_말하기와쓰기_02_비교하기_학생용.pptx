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b0a8d1d-374d-072a-bfe0-611fe3284f54}">
          <p14:sldIdLst>
            <p14:sldId id="256"/>
            <p14:sldId id="257"/>
          </p14:sldIdLst>
        </p14:section>
        <p14:section name="개념" id="{8cacac1b-e323-e874-9fae-605d7859f636}">
          <p14:sldIdLst>
            <p14:sldId id="258"/>
            <p14:sldId id="259"/>
            <p14:sldId id="260"/>
            <p14:sldId id="261"/>
          </p14:sldIdLst>
        </p14:section>
        <p14:section name="연습" id="{f4b6d18b-82cd-7407-4d27-9f0460931b69}">
          <p14:sldIdLst>
            <p14:sldId id="262"/>
            <p14:sldId id="263"/>
            <p14:sldId id="264"/>
            <p14:sldId id="265"/>
          </p14:sldIdLst>
        </p14:section>
        <p14:section name="확인" id="{eedd2a68-5fe7-3f82-7c73-7d10cc65ee76}">
          <p14:sldIdLst>
            <p14:sldId id="266"/>
            <p14:sldId id="267"/>
          </p14:sldIdLst>
        </p14:section>
        <p14:section name="정리" id="{7b5b2529-ed9a-b524-c41e-3357eb398ef1}">
          <p14:sldIdLst>
            <p14:sldId id="268"/>
          </p14:sldIdLst>
        </p14:section>
        <p14:section name="보충" id="{017ed3e6-9a1d-8c5e-bdb4-9f70334383c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말하기와쓰기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비교하기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비교하기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비교하기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키가 클까요?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비교할까요?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키가 큰 민호(왼쪽)와 민호보다 키가 작은 지수(오른쪽)"/>
          <p:cNvSpPr/>
          <p:nvPr/>
        </p:nvSpPr>
        <p:spPr>
          <a:xfrm>
            <a:off x="8751728" y="2212417"/>
            <a:ext cx="166547" cy="957647"/>
          </a:xfrm>
          <a:custGeom>
            <a:avLst/>
            <a:gdLst/>
            <a:ahLst/>
            <a:cxnLst/>
            <a:rect l="l" t="t" r="r" b="b"/>
            <a:pathLst>
              <a:path w="166547" h="957647">
                <a:moveTo>
                  <a:pt x="0" y="957647"/>
                </a:moveTo>
                <a:lnTo>
                  <a:pt x="166547" y="957647"/>
                </a:lnTo>
                <a:lnTo>
                  <a:pt x="166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022368" y="2212417"/>
            <a:ext cx="166547" cy="957647"/>
          </a:xfrm>
          <a:custGeom>
            <a:avLst/>
            <a:gdLst/>
            <a:ahLst/>
            <a:cxnLst/>
            <a:rect l="l" t="t" r="r" b="b"/>
            <a:pathLst>
              <a:path w="166547" h="957647">
                <a:moveTo>
                  <a:pt x="0" y="957647"/>
                </a:moveTo>
                <a:lnTo>
                  <a:pt x="166547" y="957647"/>
                </a:lnTo>
                <a:lnTo>
                  <a:pt x="166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684068" y="1218337"/>
            <a:ext cx="572506" cy="994079"/>
          </a:xfrm>
          <a:custGeom>
            <a:avLst/>
            <a:gdLst/>
            <a:ahLst/>
            <a:cxnLst/>
            <a:rect l="l" t="t" r="r" b="b"/>
            <a:pathLst>
              <a:path w="572506" h="994079">
                <a:moveTo>
                  <a:pt x="0" y="994079"/>
                </a:moveTo>
                <a:lnTo>
                  <a:pt x="572506" y="994079"/>
                </a:lnTo>
                <a:lnTo>
                  <a:pt x="572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104925" y="2420601"/>
            <a:ext cx="166547" cy="749463"/>
          </a:xfrm>
          <a:custGeom>
            <a:avLst/>
            <a:gdLst/>
            <a:ahLst/>
            <a:cxnLst/>
            <a:rect l="l" t="t" r="r" b="b"/>
            <a:pathLst>
              <a:path w="166547" h="749463">
                <a:moveTo>
                  <a:pt x="0" y="749463"/>
                </a:moveTo>
                <a:lnTo>
                  <a:pt x="166547" y="749463"/>
                </a:lnTo>
                <a:lnTo>
                  <a:pt x="166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10375565" y="2420601"/>
            <a:ext cx="166547" cy="749463"/>
          </a:xfrm>
          <a:custGeom>
            <a:avLst/>
            <a:gdLst/>
            <a:ahLst/>
            <a:cxnLst/>
            <a:rect l="l" t="t" r="r" b="b"/>
            <a:pathLst>
              <a:path w="166547" h="749463">
                <a:moveTo>
                  <a:pt x="0" y="749463"/>
                </a:moveTo>
                <a:lnTo>
                  <a:pt x="166547" y="749463"/>
                </a:lnTo>
                <a:lnTo>
                  <a:pt x="166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037265" y="1738798"/>
            <a:ext cx="572506" cy="681803"/>
          </a:xfrm>
          <a:custGeom>
            <a:avLst/>
            <a:gdLst/>
            <a:ahLst/>
            <a:cxnLst/>
            <a:rect l="l" t="t" r="r" b="b"/>
            <a:pathLst>
              <a:path w="572506" h="681803">
                <a:moveTo>
                  <a:pt x="0" y="681803"/>
                </a:moveTo>
                <a:lnTo>
                  <a:pt x="572506" y="681803"/>
                </a:lnTo>
                <a:lnTo>
                  <a:pt x="572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762137" y="786355"/>
            <a:ext cx="416368" cy="416368"/>
          </a:xfrm>
          <a:prstGeom prst="ellipse">
            <a:avLst/>
          </a:prstGeom>
          <a:solidFill>
            <a:srgbClr val="F5D7B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115334" y="1306816"/>
            <a:ext cx="416368" cy="416368"/>
          </a:xfrm>
          <a:prstGeom prst="ellipse">
            <a:avLst/>
          </a:prstGeom>
          <a:solidFill>
            <a:srgbClr val="F5D7B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501907" y="3170064"/>
            <a:ext cx="2290026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4" name="S01-label12"/>
          <p:cNvSpPr txBox="1"/>
          <p:nvPr/>
        </p:nvSpPr>
        <p:spPr>
          <a:xfrm>
            <a:off x="8474006" y="3307715"/>
            <a:ext cx="9926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</a:t>
            </a:r>
            <a:endParaRPr lang="ko-KR" sz="2200" dirty="0"/>
          </a:p>
        </p:txBody>
      </p:sp>
      <p:sp>
        <p:nvSpPr>
          <p:cNvPr id="15" name="S01-label14"/>
          <p:cNvSpPr txBox="1"/>
          <p:nvPr/>
        </p:nvSpPr>
        <p:spPr>
          <a:xfrm>
            <a:off x="9941756" y="33077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Jisu</a:t>
            </a:r>
            <a:endParaRPr lang="ko-KR" sz="2200" dirty="0"/>
          </a:p>
        </p:txBody>
      </p:sp>
      <p:sp>
        <p:nvSpPr>
          <p:cNvPr id="16" name="S01-card1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tall → taller처럼 비교하는 말을 바르게 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 is taller than B.로 두 가지를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꾸미는 말 떠올리기</a:t>
            </a:r>
            <a:endParaRPr lang="ko-KR" sz="4000" dirty="0"/>
          </a:p>
        </p:txBody>
      </p:sp>
      <p:sp>
        <p:nvSpPr>
          <p:cNvPr id="3" name="S02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읽고 뜻을 말하고, ②는 영어로 말해요.</a:t>
            </a:r>
            <a:endParaRPr lang="ko-KR" sz="2800" dirty="0"/>
          </a:p>
        </p:txBody>
      </p:sp>
      <p:sp>
        <p:nvSpPr>
          <p:cNvPr id="4" name="S02-chip1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1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tall　short　big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　fast　old</a:t>
            </a:r>
            <a:endParaRPr lang="ko-KR" sz="2800" dirty="0"/>
          </a:p>
        </p:txBody>
      </p:sp>
      <p:sp>
        <p:nvSpPr>
          <p:cNvPr id="6" name="S02-chip2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2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아빠(엄마)는 키가 커요.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한 문장으로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taller than으로 비교해요</a:t>
            </a:r>
            <a:endParaRPr lang="ko-KR" sz="4000" dirty="0"/>
          </a:p>
        </p:txBody>
      </p:sp>
      <p:sp>
        <p:nvSpPr>
          <p:cNvPr id="3" name="S03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-er은 ‘더’, than은 ‘~보다’라는 뜻이에요.</a:t>
            </a:r>
            <a:endParaRPr lang="ko-KR" sz="2800" dirty="0"/>
          </a:p>
        </p:txBody>
      </p:sp>
      <p:sp>
        <p:nvSpPr>
          <p:cNvPr id="5" name="S03-figure24" descr="키가 큰 민호(왼쪽)와 민호보다 키가 작은 지수(오른쪽)"/>
          <p:cNvSpPr/>
          <p:nvPr/>
        </p:nvSpPr>
        <p:spPr>
          <a:xfrm>
            <a:off x="2255002" y="3342315"/>
            <a:ext cx="181417" cy="1043148"/>
          </a:xfrm>
          <a:custGeom>
            <a:avLst/>
            <a:gdLst/>
            <a:ahLst/>
            <a:cxnLst/>
            <a:rect l="l" t="t" r="r" b="b"/>
            <a:pathLst>
              <a:path w="181417" h="1043148">
                <a:moveTo>
                  <a:pt x="0" y="1043148"/>
                </a:moveTo>
                <a:lnTo>
                  <a:pt x="181417" y="1043148"/>
                </a:lnTo>
                <a:lnTo>
                  <a:pt x="181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3-mark25"/>
          <p:cNvSpPr/>
          <p:nvPr/>
        </p:nvSpPr>
        <p:spPr>
          <a:xfrm>
            <a:off x="2549804" y="3342315"/>
            <a:ext cx="181417" cy="1043148"/>
          </a:xfrm>
          <a:custGeom>
            <a:avLst/>
            <a:gdLst/>
            <a:ahLst/>
            <a:cxnLst/>
            <a:rect l="l" t="t" r="r" b="b"/>
            <a:pathLst>
              <a:path w="181417" h="1043148">
                <a:moveTo>
                  <a:pt x="0" y="1043148"/>
                </a:moveTo>
                <a:lnTo>
                  <a:pt x="181417" y="1043148"/>
                </a:lnTo>
                <a:lnTo>
                  <a:pt x="181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2181301" y="2259482"/>
            <a:ext cx="623621" cy="1082832"/>
          </a:xfrm>
          <a:custGeom>
            <a:avLst/>
            <a:gdLst/>
            <a:ahLst/>
            <a:cxnLst/>
            <a:rect l="l" t="t" r="r" b="b"/>
            <a:pathLst>
              <a:path w="623621" h="1082832">
                <a:moveTo>
                  <a:pt x="0" y="1082832"/>
                </a:moveTo>
                <a:lnTo>
                  <a:pt x="623621" y="1082832"/>
                </a:lnTo>
                <a:lnTo>
                  <a:pt x="623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>
            <a:off x="3729015" y="3569086"/>
            <a:ext cx="181417" cy="816376"/>
          </a:xfrm>
          <a:custGeom>
            <a:avLst/>
            <a:gdLst/>
            <a:ahLst/>
            <a:cxnLst/>
            <a:rect l="l" t="t" r="r" b="b"/>
            <a:pathLst>
              <a:path w="181417" h="816376">
                <a:moveTo>
                  <a:pt x="0" y="816376"/>
                </a:moveTo>
                <a:lnTo>
                  <a:pt x="181417" y="816376"/>
                </a:lnTo>
                <a:lnTo>
                  <a:pt x="181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>
            <a:off x="4023817" y="3569086"/>
            <a:ext cx="181417" cy="816376"/>
          </a:xfrm>
          <a:custGeom>
            <a:avLst/>
            <a:gdLst/>
            <a:ahLst/>
            <a:cxnLst/>
            <a:rect l="l" t="t" r="r" b="b"/>
            <a:pathLst>
              <a:path w="181417" h="816376">
                <a:moveTo>
                  <a:pt x="0" y="816376"/>
                </a:moveTo>
                <a:lnTo>
                  <a:pt x="181417" y="816376"/>
                </a:lnTo>
                <a:lnTo>
                  <a:pt x="181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3655314" y="2826410"/>
            <a:ext cx="623621" cy="742676"/>
          </a:xfrm>
          <a:custGeom>
            <a:avLst/>
            <a:gdLst/>
            <a:ahLst/>
            <a:cxnLst/>
            <a:rect l="l" t="t" r="r" b="b"/>
            <a:pathLst>
              <a:path w="623621" h="742676">
                <a:moveTo>
                  <a:pt x="0" y="742676"/>
                </a:moveTo>
                <a:lnTo>
                  <a:pt x="623621" y="742676"/>
                </a:lnTo>
                <a:lnTo>
                  <a:pt x="623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>
            <a:off x="2266340" y="1788932"/>
            <a:ext cx="453542" cy="453542"/>
          </a:xfrm>
          <a:prstGeom prst="ellipse">
            <a:avLst/>
          </a:prstGeom>
          <a:solidFill>
            <a:srgbClr val="F5D7B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>
            <a:off x="3740353" y="2355860"/>
            <a:ext cx="453542" cy="453542"/>
          </a:xfrm>
          <a:prstGeom prst="ellipse">
            <a:avLst/>
          </a:prstGeom>
          <a:solidFill>
            <a:srgbClr val="F5D7B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>
            <a:off x="1982876" y="4385462"/>
            <a:ext cx="2494483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4" name="S03-label34"/>
          <p:cNvSpPr txBox="1"/>
          <p:nvPr/>
        </p:nvSpPr>
        <p:spPr>
          <a:xfrm>
            <a:off x="1996796" y="4550994"/>
            <a:ext cx="9926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</a:t>
            </a:r>
            <a:endParaRPr lang="ko-KR" sz="2200" dirty="0"/>
          </a:p>
        </p:txBody>
      </p:sp>
      <p:sp>
        <p:nvSpPr>
          <p:cNvPr id="15" name="S03-label36"/>
          <p:cNvSpPr txBox="1"/>
          <p:nvPr/>
        </p:nvSpPr>
        <p:spPr>
          <a:xfrm>
            <a:off x="3585362" y="45509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Jisu</a:t>
            </a:r>
            <a:endParaRPr lang="ko-KR" sz="2200" dirty="0"/>
          </a:p>
        </p:txBody>
      </p:sp>
      <p:sp>
        <p:nvSpPr>
          <p:cNvPr id="16" name="S03-card37"/>
          <p:cNvSpPr/>
          <p:nvPr/>
        </p:nvSpPr>
        <p:spPr>
          <a:xfrm>
            <a:off x="6277356" y="171196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3-cardtext38"/>
          <p:cNvSpPr txBox="1"/>
          <p:nvPr/>
        </p:nvSpPr>
        <p:spPr>
          <a:xfrm>
            <a:off x="6551676" y="184912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 is tall.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키가 커요.</a:t>
            </a:r>
            <a:endParaRPr lang="ko-KR" sz="2800" dirty="0"/>
          </a:p>
        </p:txBody>
      </p:sp>
      <p:sp>
        <p:nvSpPr>
          <p:cNvPr id="18" name="S03-card39"/>
          <p:cNvSpPr/>
          <p:nvPr/>
        </p:nvSpPr>
        <p:spPr>
          <a:xfrm>
            <a:off x="6277356" y="312064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3-cardtext40"/>
          <p:cNvSpPr txBox="1"/>
          <p:nvPr/>
        </p:nvSpPr>
        <p:spPr>
          <a:xfrm>
            <a:off x="6551676" y="325780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 is taller than Jisu.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지수보다 키가 더 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-er을 붙여요</a:t>
            </a:r>
            <a:endParaRPr lang="ko-KR" sz="4000" dirty="0"/>
          </a:p>
        </p:txBody>
      </p:sp>
      <p:sp>
        <p:nvSpPr>
          <p:cNvPr id="3" name="S04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낱말은 끝에 -er만 붙여요.</a:t>
            </a:r>
            <a:endParaRPr lang="ko-KR" sz="2800" dirty="0"/>
          </a:p>
        </p:txBody>
      </p:sp>
      <p:graphicFrame>
        <p:nvGraphicFramePr>
          <p:cNvPr id="5" name="S04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871472"/>
          <a:ext cx="9144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47472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비교하는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tall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taller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키가 더 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short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shorter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키가 더 작은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small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smaller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작은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faster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빠른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old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older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나이가 더 많은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big은 bigger</a:t>
            </a:r>
            <a:endParaRPr lang="ko-KR" sz="4000" dirty="0"/>
          </a:p>
        </p:txBody>
      </p:sp>
      <p:sp>
        <p:nvSpPr>
          <p:cNvPr id="3" name="S05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→ bigger　(biger ×)</a:t>
            </a:r>
            <a:endParaRPr lang="ko-KR" sz="2800" dirty="0"/>
          </a:p>
        </p:txBody>
      </p:sp>
      <p:sp>
        <p:nvSpPr>
          <p:cNvPr id="5" name="S05-tile46"/>
          <p:cNvSpPr txBox="1"/>
          <p:nvPr/>
        </p:nvSpPr>
        <p:spPr>
          <a:xfrm>
            <a:off x="6920911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700" dirty="0"/>
          </a:p>
        </p:txBody>
      </p:sp>
      <p:sp>
        <p:nvSpPr>
          <p:cNvPr id="6" name="S05-tile47"/>
          <p:cNvSpPr txBox="1"/>
          <p:nvPr/>
        </p:nvSpPr>
        <p:spPr>
          <a:xfrm>
            <a:off x="7741006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700" dirty="0"/>
          </a:p>
        </p:txBody>
      </p:sp>
      <p:sp>
        <p:nvSpPr>
          <p:cNvPr id="7" name="S05-tile48"/>
          <p:cNvSpPr txBox="1"/>
          <p:nvPr/>
        </p:nvSpPr>
        <p:spPr>
          <a:xfrm>
            <a:off x="8561100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700" dirty="0"/>
          </a:p>
        </p:txBody>
      </p:sp>
      <p:sp>
        <p:nvSpPr>
          <p:cNvPr id="8" name="S05-tile49"/>
          <p:cNvSpPr txBox="1"/>
          <p:nvPr/>
        </p:nvSpPr>
        <p:spPr>
          <a:xfrm>
            <a:off x="9381195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700" dirty="0"/>
          </a:p>
        </p:txBody>
      </p:sp>
      <p:sp>
        <p:nvSpPr>
          <p:cNvPr id="9" name="S05-tile50"/>
          <p:cNvSpPr txBox="1"/>
          <p:nvPr/>
        </p:nvSpPr>
        <p:spPr>
          <a:xfrm>
            <a:off x="10201290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700" dirty="0"/>
          </a:p>
        </p:txBody>
      </p:sp>
      <p:sp>
        <p:nvSpPr>
          <p:cNvPr id="10" name="S05-tile51"/>
          <p:cNvSpPr txBox="1"/>
          <p:nvPr/>
        </p:nvSpPr>
        <p:spPr>
          <a:xfrm>
            <a:off x="11021385" y="2913797"/>
            <a:ext cx="618927" cy="618927"/>
          </a:xfrm>
          <a:prstGeom prst="roundRect">
            <a:avLst>
              <a:gd name="adj" fmla="val 2068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700" dirty="0"/>
          </a:p>
        </p:txBody>
      </p:sp>
      <p:sp>
        <p:nvSpPr>
          <p:cNvPr id="11" name="S05-stepno52"/>
          <p:cNvSpPr txBox="1"/>
          <p:nvPr/>
        </p:nvSpPr>
        <p:spPr>
          <a:xfrm>
            <a:off x="548640" y="2121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5-text53"/>
          <p:cNvSpPr txBox="1"/>
          <p:nvPr/>
        </p:nvSpPr>
        <p:spPr>
          <a:xfrm>
            <a:off x="1325880" y="2076196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big은 모음 i 하나 + 자음 g 하나로 끝나요.</a:t>
            </a:r>
            <a:endParaRPr lang="ko-KR" sz="2800" dirty="0"/>
          </a:p>
        </p:txBody>
      </p:sp>
      <p:sp>
        <p:nvSpPr>
          <p:cNvPr id="13" name="S05-stepno54"/>
          <p:cNvSpPr txBox="1"/>
          <p:nvPr/>
        </p:nvSpPr>
        <p:spPr>
          <a:xfrm>
            <a:off x="548640" y="3108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5-text55"/>
          <p:cNvSpPr txBox="1"/>
          <p:nvPr/>
        </p:nvSpPr>
        <p:spPr>
          <a:xfrm>
            <a:off x="1325880" y="31084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자음 g를 한 번 더 써요.</a:t>
            </a:r>
            <a:endParaRPr lang="ko-KR" sz="2800" dirty="0"/>
          </a:p>
        </p:txBody>
      </p:sp>
      <p:sp>
        <p:nvSpPr>
          <p:cNvPr id="15" name="S05-stepno56"/>
          <p:cNvSpPr txBox="1"/>
          <p:nvPr/>
        </p:nvSpPr>
        <p:spPr>
          <a:xfrm>
            <a:off x="548640" y="3821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6" name="S05-text57"/>
          <p:cNvSpPr txBox="1"/>
          <p:nvPr/>
        </p:nvSpPr>
        <p:spPr>
          <a:xfrm>
            <a:off x="1325880" y="3821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-er을 붙여요.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bigger와 smaller</a:t>
            </a:r>
            <a:endParaRPr lang="ko-KR" sz="4000" dirty="0"/>
          </a:p>
        </p:txBody>
      </p:sp>
      <p:sp>
        <p:nvSpPr>
          <p:cNvPr id="3" name="S06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 오는 것이 더 크면 bigger, 더 작으면 smaller</a:t>
            </a:r>
            <a:endParaRPr lang="ko-KR" sz="2800" dirty="0"/>
          </a:p>
        </p:txBody>
      </p:sp>
      <p:sp>
        <p:nvSpPr>
          <p:cNvPr id="5" name="S06-figure60" descr="큰 농구공(왼쪽, 지름 2.4칸)과 훨씬 작은 테니스공(오른쪽, 지름 0.68칸)"/>
          <p:cNvSpPr/>
          <p:nvPr/>
        </p:nvSpPr>
        <p:spPr>
          <a:xfrm>
            <a:off x="1270376" y="2372868"/>
            <a:ext cx="1360627" cy="1360627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61"/>
          <p:cNvSpPr/>
          <p:nvPr/>
        </p:nvSpPr>
        <p:spPr>
          <a:xfrm>
            <a:off x="3685489" y="3347984"/>
            <a:ext cx="385511" cy="385511"/>
          </a:xfrm>
          <a:prstGeom prst="ellipse">
            <a:avLst/>
          </a:prstGeom>
          <a:solidFill>
            <a:srgbClr val="D4E157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62"/>
          <p:cNvSpPr/>
          <p:nvPr/>
        </p:nvSpPr>
        <p:spPr>
          <a:xfrm>
            <a:off x="1270376" y="3053182"/>
            <a:ext cx="136062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63"/>
          <p:cNvSpPr/>
          <p:nvPr/>
        </p:nvSpPr>
        <p:spPr>
          <a:xfrm flipV="1">
            <a:off x="1950690" y="2372868"/>
            <a:ext cx="0" cy="136062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64"/>
          <p:cNvSpPr/>
          <p:nvPr/>
        </p:nvSpPr>
        <p:spPr>
          <a:xfrm>
            <a:off x="1043605" y="3733495"/>
            <a:ext cx="35149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0" name="S06-label66"/>
          <p:cNvSpPr txBox="1"/>
          <p:nvPr/>
        </p:nvSpPr>
        <p:spPr>
          <a:xfrm>
            <a:off x="1113506" y="3899027"/>
            <a:ext cx="167436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basketball</a:t>
            </a:r>
            <a:endParaRPr lang="ko-KR" sz="2200" dirty="0"/>
          </a:p>
        </p:txBody>
      </p:sp>
      <p:sp>
        <p:nvSpPr>
          <p:cNvPr id="11" name="S06-label68"/>
          <p:cNvSpPr txBox="1"/>
          <p:nvPr/>
        </p:nvSpPr>
        <p:spPr>
          <a:xfrm>
            <a:off x="2999151" y="3899027"/>
            <a:ext cx="17581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tennis ball</a:t>
            </a:r>
            <a:endParaRPr lang="ko-KR" sz="2200" dirty="0"/>
          </a:p>
        </p:txBody>
      </p:sp>
      <p:sp>
        <p:nvSpPr>
          <p:cNvPr id="12" name="S06-card69"/>
          <p:cNvSpPr/>
          <p:nvPr/>
        </p:nvSpPr>
        <p:spPr>
          <a:xfrm>
            <a:off x="5419283" y="1495044"/>
            <a:ext cx="6221029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6-cardtext70"/>
          <p:cNvSpPr txBox="1"/>
          <p:nvPr/>
        </p:nvSpPr>
        <p:spPr>
          <a:xfrm>
            <a:off x="5693603" y="1632204"/>
            <a:ext cx="5672389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basketball is bigger than the tennis ball.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농구공이 테니스공보다 더 커요.</a:t>
            </a:r>
            <a:endParaRPr lang="ko-KR" sz="2800" dirty="0"/>
          </a:p>
        </p:txBody>
      </p:sp>
      <p:sp>
        <p:nvSpPr>
          <p:cNvPr id="14" name="S06-card71"/>
          <p:cNvSpPr/>
          <p:nvPr/>
        </p:nvSpPr>
        <p:spPr>
          <a:xfrm>
            <a:off x="5419283" y="3337560"/>
            <a:ext cx="6221029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6-cardtext72"/>
          <p:cNvSpPr txBox="1"/>
          <p:nvPr/>
        </p:nvSpPr>
        <p:spPr>
          <a:xfrm>
            <a:off x="5693603" y="3474720"/>
            <a:ext cx="5672389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tennis ball is smaller than the basketball.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테니스공이 농구공보다 더 작아요.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말 만들기</a:t>
            </a:r>
            <a:endParaRPr lang="ko-KR" sz="4000" dirty="0"/>
          </a:p>
        </p:txBody>
      </p:sp>
      <p:sp>
        <p:nvSpPr>
          <p:cNvPr id="3" name="S07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-er을 붙여 말하고, 철자도 말해요.</a:t>
            </a:r>
            <a:endParaRPr lang="ko-KR" sz="2800" dirty="0"/>
          </a:p>
        </p:txBody>
      </p:sp>
      <p:sp>
        <p:nvSpPr>
          <p:cNvPr id="4" name="S07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끝이 ‘모음 하나 + 자음 하나’인 짧은 낱말은?</a:t>
            </a:r>
            <a:endParaRPr lang="ko-KR" sz="2800" dirty="0"/>
          </a:p>
        </p:txBody>
      </p:sp>
      <p:sp>
        <p:nvSpPr>
          <p:cNvPr id="6" name="S07-chip7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7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short → ______</a:t>
            </a:r>
            <a:endParaRPr lang="ko-KR" sz="2800" dirty="0"/>
          </a:p>
        </p:txBody>
      </p:sp>
      <p:sp>
        <p:nvSpPr>
          <p:cNvPr id="8" name="S07-chip7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7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→ ______</a:t>
            </a:r>
            <a:endParaRPr lang="ko-KR" sz="2800" dirty="0"/>
          </a:p>
        </p:txBody>
      </p:sp>
      <p:sp>
        <p:nvSpPr>
          <p:cNvPr id="10" name="S07-chip8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8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old → ______</a:t>
            </a:r>
            <a:endParaRPr lang="ko-KR" sz="2800" dirty="0"/>
          </a:p>
        </p:txBody>
      </p:sp>
      <p:sp>
        <p:nvSpPr>
          <p:cNvPr id="12" name="S07-chip8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8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 → ______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8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그림과 나이를 보고 알맞은 말을 넣어 말해요.</a:t>
            </a:r>
            <a:endParaRPr lang="ko-KR" sz="2800" dirty="0"/>
          </a:p>
        </p:txBody>
      </p:sp>
      <p:sp>
        <p:nvSpPr>
          <p:cNvPr id="4" name="S08-figure85" descr="키가 큰 나무(높이 4.6칸)"/>
          <p:cNvSpPr/>
          <p:nvPr/>
        </p:nvSpPr>
        <p:spPr>
          <a:xfrm>
            <a:off x="7381613" y="3643015"/>
            <a:ext cx="312944" cy="1564721"/>
          </a:xfrm>
          <a:custGeom>
            <a:avLst/>
            <a:gdLst/>
            <a:ahLst/>
            <a:cxnLst/>
            <a:rect l="l" t="t" r="r" b="b"/>
            <a:pathLst>
              <a:path w="312944" h="1564721">
                <a:moveTo>
                  <a:pt x="0" y="1564721"/>
                </a:moveTo>
                <a:lnTo>
                  <a:pt x="312944" y="1564721"/>
                </a:lnTo>
                <a:lnTo>
                  <a:pt x="312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8-mark86"/>
          <p:cNvSpPr/>
          <p:nvPr/>
        </p:nvSpPr>
        <p:spPr>
          <a:xfrm>
            <a:off x="6886118" y="2599868"/>
            <a:ext cx="1303934" cy="1303934"/>
          </a:xfrm>
          <a:prstGeom prst="ellipse">
            <a:avLst/>
          </a:pr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87"/>
          <p:cNvSpPr/>
          <p:nvPr/>
        </p:nvSpPr>
        <p:spPr>
          <a:xfrm>
            <a:off x="6801079" y="5207737"/>
            <a:ext cx="1474013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7" name="S08-label88"/>
          <p:cNvSpPr txBox="1"/>
          <p:nvPr/>
        </p:nvSpPr>
        <p:spPr>
          <a:xfrm>
            <a:off x="6277356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tree</a:t>
            </a:r>
            <a:endParaRPr lang="ko-KR" sz="2200" dirty="0"/>
          </a:p>
        </p:txBody>
      </p:sp>
      <p:sp>
        <p:nvSpPr>
          <p:cNvPr id="8" name="S08-figure89" descr="나무보다 낮은 집(높이 2.6칸)"/>
          <p:cNvSpPr/>
          <p:nvPr/>
        </p:nvSpPr>
        <p:spPr>
          <a:xfrm>
            <a:off x="9812655" y="4293849"/>
            <a:ext cx="1133856" cy="913888"/>
          </a:xfrm>
          <a:custGeom>
            <a:avLst/>
            <a:gdLst/>
            <a:ahLst/>
            <a:cxnLst/>
            <a:rect l="l" t="t" r="r" b="b"/>
            <a:pathLst>
              <a:path w="1133856" h="913888">
                <a:moveTo>
                  <a:pt x="0" y="913888"/>
                </a:moveTo>
                <a:lnTo>
                  <a:pt x="1133856" y="913888"/>
                </a:lnTo>
                <a:lnTo>
                  <a:pt x="1133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8-mark90"/>
          <p:cNvSpPr/>
          <p:nvPr/>
        </p:nvSpPr>
        <p:spPr>
          <a:xfrm>
            <a:off x="9699269" y="3733724"/>
            <a:ext cx="1360627" cy="560125"/>
          </a:xfrm>
          <a:custGeom>
            <a:avLst/>
            <a:gdLst/>
            <a:ahLst/>
            <a:cxnLst/>
            <a:rect l="l" t="t" r="r" b="b"/>
            <a:pathLst>
              <a:path w="1360627" h="560125">
                <a:moveTo>
                  <a:pt x="0" y="560125"/>
                </a:moveTo>
                <a:lnTo>
                  <a:pt x="1360627" y="560125"/>
                </a:lnTo>
                <a:lnTo>
                  <a:pt x="680314" y="0"/>
                </a:lnTo>
                <a:close/>
              </a:path>
            </a:pathLst>
          </a:custGeom>
          <a:solidFill>
            <a:srgbClr val="C843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8-mark91"/>
          <p:cNvSpPr/>
          <p:nvPr/>
        </p:nvSpPr>
        <p:spPr>
          <a:xfrm>
            <a:off x="10254859" y="4754194"/>
            <a:ext cx="249448" cy="453542"/>
          </a:xfrm>
          <a:custGeom>
            <a:avLst/>
            <a:gdLst/>
            <a:ahLst/>
            <a:cxnLst/>
            <a:rect l="l" t="t" r="r" b="b"/>
            <a:pathLst>
              <a:path w="249448" h="453542">
                <a:moveTo>
                  <a:pt x="0" y="453542"/>
                </a:moveTo>
                <a:lnTo>
                  <a:pt x="249448" y="453542"/>
                </a:lnTo>
                <a:lnTo>
                  <a:pt x="249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8-mark92"/>
          <p:cNvSpPr/>
          <p:nvPr/>
        </p:nvSpPr>
        <p:spPr>
          <a:xfrm>
            <a:off x="9642577" y="5207737"/>
            <a:ext cx="1474013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2" name="S08-label93"/>
          <p:cNvSpPr txBox="1"/>
          <p:nvPr/>
        </p:nvSpPr>
        <p:spPr>
          <a:xfrm>
            <a:off x="9118854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house</a:t>
            </a:r>
            <a:endParaRPr lang="ko-KR" sz="2200" dirty="0"/>
          </a:p>
        </p:txBody>
      </p:sp>
      <p:sp>
        <p:nvSpPr>
          <p:cNvPr id="13" name="S08-chip9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4" name="S08-text9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tree is ______ than the house.</a:t>
            </a:r>
            <a:endParaRPr lang="ko-KR" sz="2800" dirty="0"/>
          </a:p>
        </p:txBody>
      </p:sp>
      <p:sp>
        <p:nvSpPr>
          <p:cNvPr id="15" name="S08-chip9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8-text9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house is ______ than the tree.</a:t>
            </a:r>
            <a:endParaRPr lang="ko-KR" sz="2800" dirty="0"/>
          </a:p>
        </p:txBody>
      </p:sp>
      <p:sp>
        <p:nvSpPr>
          <p:cNvPr id="17" name="S08-chip9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8" name="S08-text9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 12살 · Jisu 10살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 is ______ than Jisu.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more big일까요?</a:t>
            </a:r>
            <a:endParaRPr lang="ko-KR" sz="4000" dirty="0"/>
          </a:p>
        </p:txBody>
      </p:sp>
      <p:sp>
        <p:nvSpPr>
          <p:cNvPr id="3" name="S09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‘상자가 공보다 더 커요.’를 두 친구가 이렇게 말했어요.</a:t>
            </a:r>
            <a:endParaRPr lang="ko-KR" sz="2800" dirty="0"/>
          </a:p>
        </p:txBody>
      </p:sp>
      <p:sp>
        <p:nvSpPr>
          <p:cNvPr id="5" name="S09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쪽은? 무엇이 다른가요?</a:t>
            </a:r>
            <a:endParaRPr lang="ko-KR" sz="2800" dirty="0"/>
          </a:p>
        </p:txBody>
      </p:sp>
      <p:sp>
        <p:nvSpPr>
          <p:cNvPr id="7" name="S09-chip1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word105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box is more big than the ball.</a:t>
            </a:r>
            <a:endParaRPr lang="ko-KR" sz="3200" dirty="0"/>
          </a:p>
        </p:txBody>
      </p:sp>
      <p:sp>
        <p:nvSpPr>
          <p:cNvPr id="9" name="S09-chip10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word107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box is bigger than the ball.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비교하기</a:t>
            </a:r>
            <a:endParaRPr lang="ko-KR" sz="4000" dirty="0"/>
          </a:p>
        </p:txBody>
      </p:sp>
      <p:sp>
        <p:nvSpPr>
          <p:cNvPr id="3" name="S10-card108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09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-er을 붙였어요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than을 넣었어요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더 큰 쪽을 앞에 말했어요</a:t>
            </a:r>
            <a:endParaRPr lang="ko-KR" sz="2800" dirty="0"/>
          </a:p>
        </p:txBody>
      </p:sp>
      <p:sp>
        <p:nvSpPr>
          <p:cNvPr id="5" name="S10-stepno110"/>
          <p:cNvSpPr txBox="1"/>
          <p:nvPr/>
        </p:nvSpPr>
        <p:spPr>
          <a:xfrm>
            <a:off x="548640" y="163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111"/>
          <p:cNvSpPr txBox="1"/>
          <p:nvPr/>
        </p:nvSpPr>
        <p:spPr>
          <a:xfrm>
            <a:off x="1325880" y="159258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두 개를 골라 나란히 놓아요.</a:t>
            </a:r>
            <a:endParaRPr lang="ko-KR" sz="2800" dirty="0"/>
          </a:p>
        </p:txBody>
      </p:sp>
      <p:sp>
        <p:nvSpPr>
          <p:cNvPr id="7" name="S10-stepno112"/>
          <p:cNvSpPr txBox="1"/>
          <p:nvPr/>
        </p:nvSpPr>
        <p:spPr>
          <a:xfrm>
            <a:off x="548640" y="2624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113"/>
          <p:cNvSpPr txBox="1"/>
          <p:nvPr/>
        </p:nvSpPr>
        <p:spPr>
          <a:xfrm>
            <a:off x="1325880" y="2624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큰지 봐요.</a:t>
            </a:r>
            <a:endParaRPr lang="ko-KR" sz="2800" dirty="0"/>
          </a:p>
        </p:txBody>
      </p:sp>
      <p:sp>
        <p:nvSpPr>
          <p:cNvPr id="9" name="S10-stepno114"/>
          <p:cNvSpPr txBox="1"/>
          <p:nvPr/>
        </p:nvSpPr>
        <p:spPr>
          <a:xfrm>
            <a:off x="548640" y="3383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115"/>
          <p:cNvSpPr txBox="1"/>
          <p:nvPr/>
        </p:nvSpPr>
        <p:spPr>
          <a:xfrm>
            <a:off x="1325880" y="3338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쪽을 앞에 두고 bigger로 말해요.</a:t>
            </a:r>
            <a:endParaRPr lang="ko-KR" sz="2800" dirty="0"/>
          </a:p>
        </p:txBody>
      </p:sp>
      <p:sp>
        <p:nvSpPr>
          <p:cNvPr id="11" name="S10-stepno116"/>
          <p:cNvSpPr txBox="1"/>
          <p:nvPr/>
        </p:nvSpPr>
        <p:spPr>
          <a:xfrm>
            <a:off x="548640" y="4416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117"/>
          <p:cNvSpPr txBox="1"/>
          <p:nvPr/>
        </p:nvSpPr>
        <p:spPr>
          <a:xfrm>
            <a:off x="1325880" y="437032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smaller로 바꿔 말해요.</a:t>
            </a:r>
            <a:endParaRPr lang="ko-KR" sz="2800" dirty="0"/>
          </a:p>
        </p:txBody>
      </p:sp>
      <p:sp>
        <p:nvSpPr>
          <p:cNvPr id="13" name="S10-stepno118"/>
          <p:cNvSpPr txBox="1"/>
          <p:nvPr/>
        </p:nvSpPr>
        <p:spPr>
          <a:xfrm>
            <a:off x="548640" y="5402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10-text119"/>
          <p:cNvSpPr txBox="1"/>
          <p:nvPr/>
        </p:nvSpPr>
        <p:spPr>
          <a:xfrm>
            <a:off x="1325880" y="5402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 3번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1-chip121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122" descr="큰 빨간 상자(한 변 2.2칸)"/>
          <p:cNvSpPr/>
          <p:nvPr/>
        </p:nvSpPr>
        <p:spPr>
          <a:xfrm>
            <a:off x="1852803" y="2251710"/>
            <a:ext cx="1106424" cy="1106424"/>
          </a:xfrm>
          <a:custGeom>
            <a:avLst/>
            <a:gdLst/>
            <a:ahLst/>
            <a:cxnLst/>
            <a:rect l="l" t="t" r="r" b="b"/>
            <a:pathLst>
              <a:path w="1106424" h="1106424">
                <a:moveTo>
                  <a:pt x="0" y="1106424"/>
                </a:moveTo>
                <a:lnTo>
                  <a:pt x="1106424" y="1106424"/>
                </a:lnTo>
                <a:lnTo>
                  <a:pt x="1106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label123"/>
          <p:cNvSpPr txBox="1"/>
          <p:nvPr/>
        </p:nvSpPr>
        <p:spPr>
          <a:xfrm>
            <a:off x="1344168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 box</a:t>
            </a:r>
            <a:endParaRPr lang="ko-KR" sz="2200" dirty="0"/>
          </a:p>
        </p:txBody>
      </p:sp>
      <p:sp>
        <p:nvSpPr>
          <p:cNvPr id="7" name="S11-figure124" descr="작은 파란 상자(한 변 1.1칸)"/>
          <p:cNvSpPr/>
          <p:nvPr/>
        </p:nvSpPr>
        <p:spPr>
          <a:xfrm>
            <a:off x="4573143" y="2804922"/>
            <a:ext cx="553212" cy="553212"/>
          </a:xfrm>
          <a:custGeom>
            <a:avLst/>
            <a:gdLst/>
            <a:ahLst/>
            <a:cxnLst/>
            <a:rect l="l" t="t" r="r" b="b"/>
            <a:pathLst>
              <a:path w="553212" h="553212">
                <a:moveTo>
                  <a:pt x="0" y="553212"/>
                </a:moveTo>
                <a:lnTo>
                  <a:pt x="553212" y="553212"/>
                </a:lnTo>
                <a:lnTo>
                  <a:pt x="553212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label125"/>
          <p:cNvSpPr txBox="1"/>
          <p:nvPr/>
        </p:nvSpPr>
        <p:spPr>
          <a:xfrm>
            <a:off x="3787902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 box</a:t>
            </a:r>
            <a:endParaRPr lang="ko-KR" sz="2200" dirty="0"/>
          </a:p>
        </p:txBody>
      </p:sp>
      <p:sp>
        <p:nvSpPr>
          <p:cNvPr id="9" name="S11-chip12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0" name="S11-text12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 70살 · 아빠 45살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(grandpa · dad)</a:t>
            </a:r>
            <a:endParaRPr lang="ko-KR" sz="2800" dirty="0"/>
          </a:p>
        </p:txBody>
      </p:sp>
      <p:sp>
        <p:nvSpPr>
          <p:cNvPr id="11" name="S11-chip12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2" name="S11-text12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big, fast의 비교하는 말을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철자로 말해요.</a:t>
            </a:r>
            <a:endParaRPr lang="ko-KR" sz="2800" dirty="0"/>
          </a:p>
        </p:txBody>
      </p:sp>
      <p:sp>
        <p:nvSpPr>
          <p:cNvPr id="13" name="S11-chip13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4" name="S11-text13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rabbit · turtle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빠를까요?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그림을 골라요</a:t>
            </a:r>
            <a:endParaRPr lang="ko-KR" sz="4000" dirty="0"/>
          </a:p>
        </p:txBody>
      </p:sp>
      <p:sp>
        <p:nvSpPr>
          <p:cNvPr id="3" name="S13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그림은? 어떻게 알았나요?</a:t>
            </a:r>
            <a:endParaRPr lang="ko-KR" sz="2800" dirty="0"/>
          </a:p>
        </p:txBody>
      </p:sp>
      <p:sp>
        <p:nvSpPr>
          <p:cNvPr id="5" name="S13-chip13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figure135" descr="큰 공(지름 2칸)과 작은 상자(한 변 1칸)"/>
          <p:cNvSpPr/>
          <p:nvPr/>
        </p:nvSpPr>
        <p:spPr>
          <a:xfrm>
            <a:off x="3902202" y="24117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3-mark136"/>
          <p:cNvSpPr/>
          <p:nvPr/>
        </p:nvSpPr>
        <p:spPr>
          <a:xfrm>
            <a:off x="2622042" y="1954530"/>
            <a:ext cx="914400" cy="914400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chip137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figure138" descr="작은 공(지름 1칸)과 큰 상자(한 변 2칸)"/>
          <p:cNvSpPr/>
          <p:nvPr/>
        </p:nvSpPr>
        <p:spPr>
          <a:xfrm>
            <a:off x="9448038" y="195453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3-mark139"/>
          <p:cNvSpPr/>
          <p:nvPr/>
        </p:nvSpPr>
        <p:spPr>
          <a:xfrm>
            <a:off x="8579358" y="2411730"/>
            <a:ext cx="457200" cy="457200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hip14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figure141" descr="높은 나무(3칸)와 낮은 집(1.6칸)"/>
          <p:cNvSpPr/>
          <p:nvPr/>
        </p:nvSpPr>
        <p:spPr>
          <a:xfrm>
            <a:off x="2996946" y="4080510"/>
            <a:ext cx="164592" cy="822960"/>
          </a:xfrm>
          <a:custGeom>
            <a:avLst/>
            <a:gdLst/>
            <a:ahLst/>
            <a:cxnLst/>
            <a:rect l="l" t="t" r="r" b="b"/>
            <a:pathLst>
              <a:path w="164592" h="822960">
                <a:moveTo>
                  <a:pt x="0" y="822960"/>
                </a:moveTo>
                <a:lnTo>
                  <a:pt x="164592" y="822960"/>
                </a:lnTo>
                <a:lnTo>
                  <a:pt x="164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3-mark142"/>
          <p:cNvSpPr/>
          <p:nvPr/>
        </p:nvSpPr>
        <p:spPr>
          <a:xfrm>
            <a:off x="3765042" y="4449928"/>
            <a:ext cx="731520" cy="453542"/>
          </a:xfrm>
          <a:custGeom>
            <a:avLst/>
            <a:gdLst/>
            <a:ahLst/>
            <a:cxnLst/>
            <a:rect l="l" t="t" r="r" b="b"/>
            <a:pathLst>
              <a:path w="731520" h="453542">
                <a:moveTo>
                  <a:pt x="0" y="453542"/>
                </a:moveTo>
                <a:lnTo>
                  <a:pt x="731520" y="453542"/>
                </a:lnTo>
                <a:lnTo>
                  <a:pt x="731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3-mark143"/>
          <p:cNvSpPr/>
          <p:nvPr/>
        </p:nvSpPr>
        <p:spPr>
          <a:xfrm>
            <a:off x="3673602" y="4171950"/>
            <a:ext cx="914400" cy="277978"/>
          </a:xfrm>
          <a:custGeom>
            <a:avLst/>
            <a:gdLst/>
            <a:ahLst/>
            <a:cxnLst/>
            <a:rect l="l" t="t" r="r" b="b"/>
            <a:pathLst>
              <a:path w="914400" h="277978">
                <a:moveTo>
                  <a:pt x="0" y="277978"/>
                </a:moveTo>
                <a:lnTo>
                  <a:pt x="914400" y="277978"/>
                </a:lnTo>
                <a:lnTo>
                  <a:pt x="457200" y="0"/>
                </a:lnTo>
                <a:close/>
              </a:path>
            </a:pathLst>
          </a:custGeom>
          <a:solidFill>
            <a:srgbClr val="C843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3-mark144"/>
          <p:cNvSpPr/>
          <p:nvPr/>
        </p:nvSpPr>
        <p:spPr>
          <a:xfrm>
            <a:off x="4030218" y="4631345"/>
            <a:ext cx="201168" cy="272125"/>
          </a:xfrm>
          <a:custGeom>
            <a:avLst/>
            <a:gdLst/>
            <a:ahLst/>
            <a:cxnLst/>
            <a:rect l="l" t="t" r="r" b="b"/>
            <a:pathLst>
              <a:path w="201168" h="272125">
                <a:moveTo>
                  <a:pt x="0" y="272125"/>
                </a:moveTo>
                <a:lnTo>
                  <a:pt x="201168" y="272125"/>
                </a:lnTo>
                <a:lnTo>
                  <a:pt x="201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3-mark145"/>
          <p:cNvSpPr/>
          <p:nvPr/>
        </p:nvSpPr>
        <p:spPr>
          <a:xfrm>
            <a:off x="2736342" y="3531870"/>
            <a:ext cx="685800" cy="685800"/>
          </a:xfrm>
          <a:prstGeom prst="ellipse">
            <a:avLst/>
          </a:pr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3-chip14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8" name="S13-figure147" descr="낮은 나무(1.5칸)와 높은 집(3칸)"/>
          <p:cNvSpPr/>
          <p:nvPr/>
        </p:nvSpPr>
        <p:spPr>
          <a:xfrm>
            <a:off x="8766810" y="4491990"/>
            <a:ext cx="82296" cy="411480"/>
          </a:xfrm>
          <a:custGeom>
            <a:avLst/>
            <a:gdLst/>
            <a:ahLst/>
            <a:cxnLst/>
            <a:rect l="l" t="t" r="r" b="b"/>
            <a:pathLst>
              <a:path w="82296" h="411480">
                <a:moveTo>
                  <a:pt x="0" y="411480"/>
                </a:moveTo>
                <a:lnTo>
                  <a:pt x="82296" y="411480"/>
                </a:lnTo>
                <a:lnTo>
                  <a:pt x="82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3-mark148"/>
          <p:cNvSpPr/>
          <p:nvPr/>
        </p:nvSpPr>
        <p:spPr>
          <a:xfrm>
            <a:off x="9448038" y="4053078"/>
            <a:ext cx="822960" cy="850392"/>
          </a:xfrm>
          <a:custGeom>
            <a:avLst/>
            <a:gdLst/>
            <a:ahLst/>
            <a:cxnLst/>
            <a:rect l="l" t="t" r="r" b="b"/>
            <a:pathLst>
              <a:path w="822960" h="850392">
                <a:moveTo>
                  <a:pt x="0" y="850392"/>
                </a:moveTo>
                <a:lnTo>
                  <a:pt x="822960" y="850392"/>
                </a:lnTo>
                <a:lnTo>
                  <a:pt x="8229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3-mark149"/>
          <p:cNvSpPr/>
          <p:nvPr/>
        </p:nvSpPr>
        <p:spPr>
          <a:xfrm>
            <a:off x="9356598" y="3531870"/>
            <a:ext cx="1005840" cy="521208"/>
          </a:xfrm>
          <a:custGeom>
            <a:avLst/>
            <a:gdLst/>
            <a:ahLst/>
            <a:cxnLst/>
            <a:rect l="l" t="t" r="r" b="b"/>
            <a:pathLst>
              <a:path w="1005840" h="521208">
                <a:moveTo>
                  <a:pt x="0" y="521208"/>
                </a:moveTo>
                <a:lnTo>
                  <a:pt x="1005840" y="521208"/>
                </a:lnTo>
                <a:lnTo>
                  <a:pt x="502920" y="0"/>
                </a:lnTo>
                <a:close/>
              </a:path>
            </a:pathLst>
          </a:custGeom>
          <a:solidFill>
            <a:srgbClr val="C843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3-mark150"/>
          <p:cNvSpPr/>
          <p:nvPr/>
        </p:nvSpPr>
        <p:spPr>
          <a:xfrm>
            <a:off x="9758934" y="4537710"/>
            <a:ext cx="201168" cy="365760"/>
          </a:xfrm>
          <a:custGeom>
            <a:avLst/>
            <a:gdLst/>
            <a:ahLst/>
            <a:cxnLst/>
            <a:rect l="l" t="t" r="r" b="b"/>
            <a:pathLst>
              <a:path w="201168" h="365760">
                <a:moveTo>
                  <a:pt x="0" y="365760"/>
                </a:moveTo>
                <a:lnTo>
                  <a:pt x="201168" y="365760"/>
                </a:lnTo>
                <a:lnTo>
                  <a:pt x="201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3-mark151"/>
          <p:cNvSpPr/>
          <p:nvPr/>
        </p:nvSpPr>
        <p:spPr>
          <a:xfrm>
            <a:off x="8636508" y="4217670"/>
            <a:ext cx="342900" cy="342900"/>
          </a:xfrm>
          <a:prstGeom prst="ellipse">
            <a:avLst/>
          </a:pr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5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is taller than B.처럼 -er과 than으로 비교해요.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→ bigger는 g를 한 번 더 써요.</a:t>
            </a:r>
            <a:endParaRPr lang="ko-KR" sz="2800" dirty="0"/>
          </a:p>
        </p:txBody>
      </p:sp>
      <p:sp>
        <p:nvSpPr>
          <p:cNvPr id="5" name="S14-chip15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더 그러한 쪽을 앞에</a:t>
            </a:r>
            <a:endParaRPr lang="ko-KR" sz="2200" dirty="0"/>
          </a:p>
        </p:txBody>
      </p:sp>
      <p:sp>
        <p:nvSpPr>
          <p:cNvPr id="6" name="S14-chip15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more big, biger</a:t>
            </a:r>
            <a:endParaRPr lang="ko-KR" sz="2200" dirty="0"/>
          </a:p>
        </p:txBody>
      </p:sp>
      <p:sp>
        <p:nvSpPr>
          <p:cNvPr id="7" name="S14-text15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5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big의 비교하는 말을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철자로 말하기</a:t>
            </a:r>
            <a:endParaRPr lang="ko-KR" sz="2200" dirty="0"/>
          </a:p>
        </p:txBody>
      </p:sp>
      <p:sp>
        <p:nvSpPr>
          <p:cNvPr id="9" name="S14-text15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농구공과 테니스공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문장</a:t>
            </a:r>
            <a:endParaRPr lang="ko-KR" sz="2200" dirty="0"/>
          </a:p>
        </p:txBody>
      </p:sp>
      <p:sp>
        <p:nvSpPr>
          <p:cNvPr id="10" name="S14-text15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엄마(아빠)와 나의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비교하는 문장</a:t>
            </a:r>
            <a:endParaRPr lang="ko-KR" sz="2200" dirty="0"/>
          </a:p>
        </p:txBody>
      </p:sp>
      <p:sp>
        <p:nvSpPr>
          <p:cNvPr id="11" name="S14-text16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의견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꾸미는 말 다시 보기</a:t>
            </a:r>
            <a:endParaRPr lang="ko-KR" sz="4000" dirty="0"/>
          </a:p>
        </p:txBody>
      </p:sp>
      <p:sp>
        <p:nvSpPr>
          <p:cNvPr id="3" name="S15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dad is tall.처럼 is 다음에 꾸미는 말을 써요.</a:t>
            </a:r>
            <a:endParaRPr lang="ko-KR" sz="2800" dirty="0"/>
          </a:p>
        </p:txBody>
      </p:sp>
      <p:sp>
        <p:nvSpPr>
          <p:cNvPr id="5" name="S15-word163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큰</a:t>
            </a:r>
            <a:endParaRPr lang="ko-KR" sz="3200" dirty="0"/>
          </a:p>
        </p:txBody>
      </p:sp>
      <p:sp>
        <p:nvSpPr>
          <p:cNvPr id="6" name="S15-word164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short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작은</a:t>
            </a:r>
            <a:endParaRPr lang="ko-KR" sz="3200" dirty="0"/>
          </a:p>
        </p:txBody>
      </p:sp>
      <p:sp>
        <p:nvSpPr>
          <p:cNvPr id="7" name="S15-word165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</a:t>
            </a:r>
            <a:endParaRPr lang="ko-KR" sz="3200" dirty="0"/>
          </a:p>
        </p:txBody>
      </p:sp>
      <p:sp>
        <p:nvSpPr>
          <p:cNvPr id="8" name="S15-word166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</a:t>
            </a:r>
            <a:endParaRPr lang="ko-KR" sz="3200" dirty="0"/>
          </a:p>
        </p:txBody>
      </p:sp>
      <p:sp>
        <p:nvSpPr>
          <p:cNvPr id="9" name="S15-word167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</a:t>
            </a:r>
            <a:endParaRPr lang="ko-KR" sz="3200" dirty="0"/>
          </a:p>
        </p:txBody>
      </p:sp>
      <p:sp>
        <p:nvSpPr>
          <p:cNvPr id="10" name="S15-word168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나이가 많은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비교하기</dc:title>
  <dc:subject>KR22-G06-ENG-COMPARE-L01</dc:subject>
  <dc:creator>education-ppt</dc:creator>
  <cp:lastModifiedBy>education-ppt</cp:lastModifiedBy>
  <cp:revision>1</cp:revision>
  <dcterms:created xsi:type="dcterms:W3CDTF">2026-10-26T09:29:48Z</dcterms:created>
  <dcterms:modified xsi:type="dcterms:W3CDTF">2026-10-26T09:29:48Z</dcterms:modified>
</cp:coreProperties>
</file>