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80ad8f96-9fe5-2033-aefd-a43935a49c96}">
          <p14:sldIdLst>
            <p14:sldId id="256"/>
            <p14:sldId id="257"/>
          </p14:sldIdLst>
        </p14:section>
        <p14:section name="개념" id="{233701a4-5eb6-ff84-6043-1a82b079cb2b}">
          <p14:sldIdLst>
            <p14:sldId id="258"/>
            <p14:sldId id="259"/>
            <p14:sldId id="260"/>
          </p14:sldIdLst>
        </p14:section>
        <p14:section name="연습" id="{1b512990-dd92-54e0-62ac-82abb4a80e33}">
          <p14:sldIdLst>
            <p14:sldId id="261"/>
            <p14:sldId id="262"/>
            <p14:sldId id="263"/>
            <p14:sldId id="264"/>
          </p14:sldIdLst>
        </p14:section>
        <p14:section name="확인" id="{c3c4e75f-b6a7-e16f-ce07-410767acec46}">
          <p14:sldIdLst>
            <p14:sldId id="265"/>
            <p14:sldId id="266"/>
            <p14:sldId id="267"/>
          </p14:sldIdLst>
        </p14:section>
        <p14:section name="정리" id="{6ab0c7f0-23cc-8305-62b7-f3fb017b3e21}">
          <p14:sldIdLst>
            <p14:sldId id="268"/>
          </p14:sldIdLst>
        </p14:section>
        <p14:section name="보충" id="{f0747151-2f5b-e7e4-1c6e-2f1f8174eae4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자기 생각과 그 까닭을 함께 말하는 상황에 관심을 갖게 합니다.
시간: 약 2분
이렇게 말해 보세요
- “너는 여름이 좋아, 겨울이 좋아? 왜 그렇게 생각해?”
- “오늘은 이렇게 내 생각과 그렇게 생각하는 까닭을 영어로 말하고 써 볼 거야.”
예상 답
- “여름이요. 바다에서 수영할 수 있어서요.”
주의
- 수업 전에 교과서 디지털 자료나 사전 앱의 발음 듣기로 오늘 낱말과 문장(I think, because, fun, great, cute, interesting, delicious, friendly, I think summer is great because I can swim in the sea.)을 미리 들어 두세요. 부모님 발음이 완벽하지 않아도 괜찮습니다.
- 소리 자료 없이 진행하면 바른 소리를 확인하기 어렵습니다. 헷갈리는 표현은 기록해 두었다가 소리 자료로 나중에 확인합니다.
- 의견에는 맞고 틀림이 없습니다. 아이가 고른 내용이 부모님 생각과 달라도 그대로 존중하고, 까닭을 말했는지를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확인(비교하기, because)]
목적: 지난 차시(비교하기)의 비교 문장을 기억하는지, 5학년 ‘좋아하는 것과 이유’에서 익힌 because로 까닭을 붙일 수 있는지 확인합니다. 오늘 까닭 문장은 because를 바탕으로 합니다.
시간: 약 3분
이렇게 말해 보세요
- “①, 농구공과 테니스공을 영어로 비교해 볼래?”
- “②, 빈칸에 여름을 좋아하는 까닭을 영어로 넣어 말해 줘.”
정답
- ① The basketball is bigger than the tennis ball. (또는 The tennis ball is smaller than the basketball.)
- ② 예: I like summer because I can swim. / because it is hot. (because 다음에 ‘누가 + 어떻다(무엇을 할 수 있다)’ 문장으로 까닭을 말하면 맞음)
막히면
- ①은 “어느 공이 더 커?”를 먼저 묻고 bigger than을 떠올리게 합니다.
- ②는 우리말로 까닭을 먼저 말하게 한 뒤 I can ~.으로 바꾸어 줍니다. because의 뜻을 모르거나 까닭을 문장으로 말하지 못하면 S14(보충)를 먼저 합니다.
주의
- ①만 막히면 비교하기 장의 S06을 잠깐 다시 보고 넘어가도 됩니다. 오늘 수업에 꼭 필요한 것은 ②입니다.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I think ~.로 의견 말하기]
목적: I think ~.가 ‘내 생각에는 ~’이라는 뜻이고, 다음에 ‘무엇이 + 어떻다’가 들어간 문장이 온다는 것을 압니다(M1).
시간: 약 3분
이렇게 말해 보세요
- “I think는 ‘내 생각에는’이라는 뜻이야. 소리를 듣고 따라 해 보자. I think cats are cute.”
- “I think를 가리면 무엇이 남아? Cats are cute. 이것만으로도 한 문장이지? 그 앞에 I think를 붙인 거야.”
- “그럼 ‘내 생각에 여름은 재미있어.’는? I think summer is fun.”
예상 답
- “I think cats are cute.” “I think summer is fun.”
막히면
- 먼저 Summer is fun.을 말하게 한 다음 앞에 I think를 붙이게 합니다.
- think의 th는 혀끝을 윗니와 아랫니 사이에 살짝 대고 냅니다. 소리 자료를 듣고 따라 하게 합니다.
주의
- 여럿을 말할 때(cats, dogs, books)는 are, 하나를 말할 때(summer, soccer)는 is를 씁니다.
- I think 다음에 낱말만 말하면(I think fun.) 무엇이 재미있는지 알 수 없습니다(M1).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because로 까닭 잇기]
목적: 의견 다음에 because를 쓰고 까닭을 문장으로 이어 말한다는 것을 압니다(M2).
시간: 약 3분
이렇게 말해 보세요
- “먼저 내 생각을 말해. I think summer is fun.”
- “왜 그렇게 생각해? 수영할 수 있어서지? 그건 I can swim.”
- “두 문장을 because로 이어. because는 ‘왜냐하면, ~이기 때문에’라는 뜻이야. I think summer is fun because I can swim. 따라 해 보자.”
예상 답
- “I think summer is fun because I can swim.”
막히면
- 뒤에서부터 붙여 말합니다. because I can swim … summer is fun because I can swim … I think summer is fun because I can swim.
- because를 be-cause처럼 두 부분으로 나누어 소리 자료를 듣고 따라 하게 합니다.
주의
- because 다음에도 ‘누가 + 무엇을 한다(어떻다)’가 있는 문장이 옵니다. because swim처럼 낱말만 붙이지 않습니다(M2).
- 쓸 때는 의견과 까닭을 한 문장으로 이어 쓰고 마침표는 맨 끝에 한 번 찍습니다.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두 친구의 의견과 까닭 읽기]
목적: 짧은 글에서 의견(I think ~)과 까닭(because ~)을 찾고, 같은 주제에도 의견이 다를 수 있다는 것을 압니다.
시간: 약 4분
이렇게 말해 보세요
- “엄마(아빠)가 민호, 너는 지수를 맡아서 읽어 보자.”
- “민호는 어느 계절이 좋대? 까닭은? 지수는?”
- “두 사람의 생각이 다르지? 누가 틀린 걸까?”
예상 답
- “민호는 여름이 좋대요. 바다에서 수영할 수 있어서요.” “지수는 겨울이요. 눈사람을 만들 수 있어서요.”
- “둘 다 틀리지 않았어요. 생각은 다를 수 있어요.”
막히면
- 의견 부분(I think ~ great)에 밑줄을 긋듯 손가락으로 짚고, because 다음 부분을 따로 짚어 줍니다.
- sea(바다), snowman(눈사람)의 뜻을 알려 줍니다.
주의
- 의견은 사람마다 다를 수 있습니다. 까닭이 있으면 둘 다 좋은 의견입니다.
- 여기까지가 배우는 부분입니다. 아이가 지치면 여기서 나누어 다음 날 S06부터 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알맞은 까닭 골라 잇기]
목적: 의견에 어울리는 까닭을 골라 because로 이어 한 문장으로 말합니다.
시간: 약 3분
이렇게 말해 보세요
- “①, 고양이가 귀여운 까닭으로 보기에서 어떤 것이 어울려? 처음부터 끝까지 이어 말해 줘.”
- “②, ③도 해 보자.” “왜 그 까닭을 골랐어?”
정답
- ① they are soft. → I think cats are cute because they are soft.
- ② I can play soccer. → I think P.E. is fun because I can play soccer.
- ③ I can learn new things. → I think books are great because I can learn new things.
막히면
- 보기를 하나씩 넣어 읽어 주고 “이게 까닭이 돼?”라고 물어 고르게 합니다.
- soft(부드러운), learn new things(새로운 것을 배우다)의 뜻을 알려 줍니다.
주의
- P.E.는 체육 시간을 줄인 말입니다. 대문자 P와 E 뒤에 마침표를 찍습니다.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오개념 비교(어울리지 않는 까닭)]
목적: 까닭이 의견을 뒷받침해야 한다는 것을 비교로 확인합니다(M3).
시간: 약 2분
이렇게 말해 보세요
- “두 친구 모두 because를 썼어. 그런데 ‘고양이가 왜 귀여워?’라는 물음에 대답이 되는 쪽은 어느 쪽이야?”
- “가의 까닭은 무엇에 대한 이야기야? 고양이가 귀여운 것과 이어져?”
정답
- 나가 알맞습니다(they are small and soft는 고양이가 귀여운 까닭을 설명함). 가의 I am twelve는 나의 나이 이야기라 고양이가 귀여운 까닭이 되지 않습니다.
막히면
- 의견 문장을 “왜?”로 바꾸어 묻고(“고양이가 왜 귀여워?”), 두 까닭을 차례로 대답처럼 읽어 봅니다.
주의
- 문장의 형식이 맞아도 까닭이 의견과 이어지지 않으면 좋은 의견 문장이 아닙니다(M3).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주제를 골라 의견과 까닭 말하기]
목적: 두 가지 가운데 하나를 골라 의견과 까닭을 한 문장으로 말합니다.
시간: 약 4분
이렇게 말해 보세요
- “①, 여름과 겨울 가운데 하나를 골라 I think ~ because ~.로 말해 줘.”
- “②, ③도 해 보자. 엄마(아빠)도 한 가지씩 말해 볼게.” (부모도 자기 의견을 말해 주면 아이가 형식을 다시 듣습니다.)
- “왜 그렇게 생각해? 까닭이 의견과 이어졌어?”
예상 답
- ① I think winter is great because I can make a snowman.
- ② I think dogs are great because they are friendly. / I think cats are cute because they are soft.
- ③ I think art is fun because I can draw pictures. / I think P.E. is fun because I can play soccer.
- 기준: ① I think로 시작하고 의견 문장에 ‘무엇이(누가) + is/are + 꾸미는 말’이 있다 ② because 다음에 까닭이 문장(주어 + 동사)으로 온다 ③ 까닭이 의견과 이어진다(왜 그렇게 생각하는지 설명한다). 세 가지를 모두 지키면 맞습니다. 의견의 내용(무엇을 좋아하는지)은 맞고 틀림이 없습니다.
막히면
- 우리말로 의견과 까닭을 먼저 말하게 한 다음, 아래 도움말의 틀에 넣어 영어로 바꿉니다.
- 까닭을 영어로 말하기 어려우면 I can ~.(~할 수 있어요)이나 It is ~./They are ~.로 시작하게 합니다.
주의
- cats, dogs처럼 여럿이면 are, winter, art처럼 하나면 is를 씁니다.
- 까닭에 비교하는 말을 써도 좋습니다(예: I think dogs are great because they are bigger than cats. 사실과 맞게).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의견 한 문장 쓰고 점검하기]
목적: 말한 의견 가운데 하나를 공책에 쓰고, 점검표로 스스로 고칩니다.
시간: 약 4분
이렇게 말해 보세요
- “S08에서 말한 것 가운데 가장 마음에 드는 문장 하나를 공책에 써 볼래?”
- “다 썼으면 오른쪽 점검표를 하나씩 확인해 보자. I think로 시작했어? is나 are가 있어?”
- “엄마(아빠)도 한 문장 쓸게. 서로 바꿔 읽고 점검표로 봐 주자.”
예상 답
- 예: I think winter is great because I can make a snowman.
- 기준: ① I think로 시작하고 의견 문장에 ‘무엇이(누가) + is/are + 꾸미는 말’이 있다 ② because 다음에 까닭이 문장(주어 + 동사)으로 온다 ③ 까닭이 의견과 이어진다(왜 그렇게 생각하는지 설명한다). 세 가지를 모두 지키면 맞습니다. 의견의 내용(무엇을 좋아하는지)은 맞고 틀림이 없습니다. 첫 글자 I의 대문자와 끝의 마침표도 봅니다.
막히면
- 철자가 막히는 낱말은 화면이나 S05·S06에서 찾아 보고 쓰게 합니다.
- 점검표에서 빠진 것을 찾으면 바로 고쳐 쓰게 하고 칭찬합니다.
주의
- 부모님이 쓴 문장에 일부러 실수(예: because friendly)를 하나 넣어 아이가 찾게 해도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의견과 까닭 말하기]
목적: 도움 없이 의견과 까닭을 한 문장으로 말하고, 어울리지 않는 까닭을 고치는지 확인합니다.
시간: 약 4분
이렇게 말해 보세요
- “이번에는 혼자 해 볼래? ①, 빈칸에 까닭을 넣어 끝까지 말해 줘.”
- “②, 두 말을 이어서 I think로 시작하는 의견 문장을 만들어 봐.”
- “③, 봄과 가을 가운데 하나를 골라 의견과 까닭을 말해 줘.” “④, 까닭이 어색하지? 알맞은 까닭으로 고쳐 말해 봐.”
정답
- ① 예: I think dogs are great because they are friendly. (because 다음에 문장으로 된 까닭이면 맞음)
- ② I think the library is great because I can read many books.
- ③ 예: I think spring is great because I can see flowers. / I think fall is great because it is cool.
- ④ 예: I think soccer is fun because I can run and kick the ball. (Monday는 축구가 재미있는 까닭이 아님)
- 기준: ① I think로 시작하고 의견 문장에 ‘무엇이(누가) + is/are + 꾸미는 말’이 있다 ② because 다음에 까닭이 문장(주어 + 동사)으로 온다 ③ 까닭이 의견과 이어진다(왜 그렇게 생각하는지 설명한다). 세 가지를 모두 지키면 맞습니다. 의견의 내용(무엇을 좋아하는지)은 맞고 틀림이 없습니다. 네 개 가운데 세 개 이상이면 통과입니다. 소리가 조금 서툴러도 알맞은 표현을 골라 말했으면 맞은 것으로 봅니다.
막히면
- 바로 알려 주지 말고 “왜 그렇게 생각해?”라고만 묻습니다.
- 도움을 받아 해결했다면 기록표에 ‘도움’으로 표시합니다.
주의
- ②는 library(도서관)의 뜻을 모르면 알려 주어도 됩니다. ③의 spring은 봄, fall은 가을입니다.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대답 예와 피드백]
목적: 아이의 대답을 예와 비교하고 흔한 실수를 확인합니다.
시간: 약 2분
이렇게 말해 보세요
- “네가 말한 것과 왼쪽 예를 비교해 보자. 까닭은 달라도 괜찮아.”
- “오른쪽처럼 말하면 무엇이 빠졌을까?”
예상 답
- “I think 다음에 winter is를 넣어야 해요.” “because 다음에 they are가 빠졌어요.”
주의
- 이 장은 학생용 파일에서 빠집니다. ①③④는 예시이므로 아이의 까닭이 다르더라도 기준에 맞으면 맞은 것으로 봅니다. 잘한 점을 먼저 말해 준 뒤 고칠 점을 하나만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확인]
목적: 처음 보는 문장에서 형식과 까닭의 어울림을 함께 따져 바른 의견 문장을 고르는지 확인합니다.
시간: 약 2분
이렇게 말해 보세요
- “가, 나, 다, 라를 읽어 볼까? 의견과 까닭이 바르게 이어진 문장은? 어떻게 알았어?”
- “나머지는 어디가 어색할까?”
정답
- 가. 나는 까닭(pizza)이 겨울이 재미있는 것과 상관없고, 다는 is와 because 다음 문장(I can play in the snow)이 빠졌고, 라는 Because 부분과 의견이 떨어져 있고 의견 문장(winter is fun)이 완성되지 않았습니다.
막히면
- S09의 점검표를 보며 하나씩 확인하게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다음 학습과 복습]
목적: 핵심을 정리하고 다음 수업 첫 5분에 풀 복습을 알려 줍니다.
시간: 약 2분
이렇게 말해 보세요
- “내 생각을 말할 때 어떻게 시작하지? 까닭은 무엇으로 이었지?”
- “다른 사람의 의견이 나와 다르면?”
예상 답
- “I think로 시작하고 because로 까닭을 이어요.” “다를 수 있어요. 까닭을 들어 봐요.”
정답
- ① 왜냐하면, ~ 때문에 ② 예: I think summer is great because I can swim in the sea. (기준에 맞으면 맞음) ③ I think dogs are great because they are friendly.
주의
- 저녁 메뉴나 주말에 할 일을 고를 때 I think ~ because ~.로 말해 보게 하면 좋은 복습이 됩니다. 다음 차시는 ‘뜻 확인하기’입니다.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선수 학습 보충(because로 까닭 말하기)]
목적: S02에서 because로 까닭을 말하지 못하면, 의견 말하기를 배우기 전에 먼저 다집니다.
시간: 약 5분
이렇게 말해 보세요
- “소리를 듣고 따라 말해 보자.” (교과서 디지털 자료나 사전 앱의 소리를 함께 듣습니다.)
- “I like summer. 왜 좋아? 수영할 수 있어서. because I can swim. 이어서 말하면? I like summer because I can swim.”
- “너는 무엇을 좋아해? 왜? 우리말로 먼저 말하고 영어로 바꿔 보자.”
정답
- I like summer because I can swim. / I like cats because they are cute. (because 다음에 ‘누가 + 어떻다(무엇을 할 수 있다)’)
막히면
- 부모가 먼저 말하고 아이가 따라 말하는 것부터 다시 합니다. 까닭은 I can ~. 하나로 시작해도 됩니다.
주의
- 계획상 앞 차시는 ‘비교하기’(KR22-G06-ENG-COMPARE-L01)입니다. 보충 뒤에도 because로 까닭을 말하지 못하면 5학년 ‘좋아하는 것과 이유’를 먼저 다시 하고 이 차시를 시작합니다. 비교 문장이 흔들리면 ‘비교하기’를 다시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영어 · 말하기와쓰기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영어 · 의견 말하기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영어 · 의견 말하기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영어 · 의견 말하기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 말하기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여름과 겨울 가운데 무엇이 좋아요?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그렇게 생각해요?</a:t>
            </a:r>
            <a:endParaRPr lang="ko-KR" sz="2800" dirty="0"/>
          </a:p>
        </p:txBody>
      </p:sp>
      <p:sp>
        <p:nvSpPr>
          <p:cNvPr id="4" name="S01-word1"/>
          <p:cNvSpPr txBox="1"/>
          <p:nvPr/>
        </p:nvSpPr>
        <p:spPr>
          <a:xfrm>
            <a:off x="7680960" y="640080"/>
            <a:ext cx="3931920" cy="1325880"/>
          </a:xfrm>
          <a:prstGeom prst="roundRect">
            <a:avLst>
              <a:gd name="adj" fmla="val 9655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think ~</a:t>
            </a:r>
            <a:endParaRPr lang="ko-KR" sz="3200" dirty="0"/>
          </a:p>
        </p:txBody>
      </p:sp>
      <p:sp>
        <p:nvSpPr>
          <p:cNvPr id="5" name="S01-word2"/>
          <p:cNvSpPr txBox="1"/>
          <p:nvPr/>
        </p:nvSpPr>
        <p:spPr>
          <a:xfrm>
            <a:off x="7680960" y="2240280"/>
            <a:ext cx="3931920" cy="1325880"/>
          </a:xfrm>
          <a:prstGeom prst="roundRect">
            <a:avLst>
              <a:gd name="adj" fmla="val 9655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because ~</a:t>
            </a:r>
            <a:endParaRPr lang="ko-KR" sz="3200" dirty="0"/>
          </a:p>
        </p:txBody>
      </p:sp>
      <p:sp>
        <p:nvSpPr>
          <p:cNvPr id="6" name="S01-card3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7" name="S01-cardtext4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I think ~.로 내 생각(의견)을 말해요.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because ~로 까닭을 붙여 말하고 써요.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표현 떠올리기</a:t>
            </a:r>
            <a:endParaRPr lang="ko-KR" sz="4000" dirty="0"/>
          </a:p>
        </p:txBody>
      </p:sp>
      <p:sp>
        <p:nvSpPr>
          <p:cNvPr id="3" name="S02-text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영어로 말해요.</a:t>
            </a:r>
            <a:endParaRPr lang="ko-KR" sz="2800" dirty="0"/>
          </a:p>
        </p:txBody>
      </p:sp>
      <p:sp>
        <p:nvSpPr>
          <p:cNvPr id="4" name="S02-chip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2-text7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농구공과 테니스공을 비교해 말해요.</a:t>
            </a:r>
            <a:endParaRPr lang="ko-KR" sz="2800" dirty="0"/>
          </a:p>
        </p:txBody>
      </p:sp>
      <p:sp>
        <p:nvSpPr>
          <p:cNvPr id="6" name="S02-chip8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02-text9"/>
          <p:cNvSpPr txBox="1"/>
          <p:nvPr/>
        </p:nvSpPr>
        <p:spPr>
          <a:xfrm>
            <a:off x="1344168" y="42062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summer because ______.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think로 의견 말하기</a:t>
            </a:r>
            <a:endParaRPr lang="ko-KR" sz="4000" dirty="0"/>
          </a:p>
        </p:txBody>
      </p:sp>
      <p:sp>
        <p:nvSpPr>
          <p:cNvPr id="3" name="S03-card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think 다음에 ‘무엇이 + 어떻다’를 문장으로 말해요.</a:t>
            </a:r>
            <a:endParaRPr lang="ko-KR" sz="2800" dirty="0"/>
          </a:p>
        </p:txBody>
      </p:sp>
      <p:sp>
        <p:nvSpPr>
          <p:cNvPr id="5" name="S03-word12"/>
          <p:cNvSpPr txBox="1"/>
          <p:nvPr/>
        </p:nvSpPr>
        <p:spPr>
          <a:xfrm>
            <a:off x="548640" y="1348740"/>
            <a:ext cx="11091672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think cats are cute.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생각에 고양이는 귀여워요.</a:t>
            </a:r>
            <a:endParaRPr lang="ko-KR" sz="3200" dirty="0"/>
          </a:p>
        </p:txBody>
      </p:sp>
      <p:sp>
        <p:nvSpPr>
          <p:cNvPr id="6" name="S03-word13"/>
          <p:cNvSpPr txBox="1"/>
          <p:nvPr/>
        </p:nvSpPr>
        <p:spPr>
          <a:xfrm>
            <a:off x="548640" y="3360420"/>
            <a:ext cx="11091672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think summer is fun.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생각에 여름은 재미있어요.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because로 까닭을 이어요</a:t>
            </a:r>
            <a:endParaRPr lang="ko-KR" sz="4000" dirty="0"/>
          </a:p>
        </p:txBody>
      </p:sp>
      <p:sp>
        <p:nvSpPr>
          <p:cNvPr id="3" name="S04-card1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because는 ‘왜냐하면, ~ 때문에’라는 뜻이에요.</a:t>
            </a:r>
            <a:endParaRPr lang="ko-KR" sz="2800" dirty="0"/>
          </a:p>
        </p:txBody>
      </p:sp>
      <p:sp>
        <p:nvSpPr>
          <p:cNvPr id="5" name="S04-text16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think summer is fun because I can swim.</a:t>
            </a:r>
            <a:endParaRPr lang="ko-KR" sz="2800" dirty="0"/>
          </a:p>
        </p:txBody>
      </p:sp>
      <p:sp>
        <p:nvSpPr>
          <p:cNvPr id="6" name="S04-stepno17"/>
          <p:cNvSpPr txBox="1"/>
          <p:nvPr/>
        </p:nvSpPr>
        <p:spPr>
          <a:xfrm>
            <a:off x="548640" y="2875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7" name="S04-text18"/>
          <p:cNvSpPr txBox="1"/>
          <p:nvPr/>
        </p:nvSpPr>
        <p:spPr>
          <a:xfrm>
            <a:off x="1325880" y="287578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생각: I think summer is fun.</a:t>
            </a:r>
            <a:endParaRPr lang="ko-KR" sz="2800" dirty="0"/>
          </a:p>
        </p:txBody>
      </p:sp>
      <p:sp>
        <p:nvSpPr>
          <p:cNvPr id="8" name="S04-stepno19"/>
          <p:cNvSpPr txBox="1"/>
          <p:nvPr/>
        </p:nvSpPr>
        <p:spPr>
          <a:xfrm>
            <a:off x="548640" y="35890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9" name="S04-text20"/>
          <p:cNvSpPr txBox="1"/>
          <p:nvPr/>
        </p:nvSpPr>
        <p:spPr>
          <a:xfrm>
            <a:off x="1325880" y="3589020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 떠올리기: I can swim.</a:t>
            </a:r>
            <a:endParaRPr lang="ko-KR" sz="2800" dirty="0"/>
          </a:p>
        </p:txBody>
      </p:sp>
      <p:sp>
        <p:nvSpPr>
          <p:cNvPr id="10" name="S04-stepno21"/>
          <p:cNvSpPr txBox="1"/>
          <p:nvPr/>
        </p:nvSpPr>
        <p:spPr>
          <a:xfrm>
            <a:off x="548640" y="43022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1" name="S04-text22"/>
          <p:cNvSpPr txBox="1"/>
          <p:nvPr/>
        </p:nvSpPr>
        <p:spPr>
          <a:xfrm>
            <a:off x="1325880" y="430225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because로 이어요.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친구의 생각</a:t>
            </a:r>
            <a:endParaRPr lang="ko-KR" sz="4000" dirty="0"/>
          </a:p>
        </p:txBody>
      </p:sp>
      <p:sp>
        <p:nvSpPr>
          <p:cNvPr id="3" name="S05-text2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역할을 나누어 읽어요.</a:t>
            </a:r>
            <a:endParaRPr lang="ko-KR" sz="2800" dirty="0"/>
          </a:p>
        </p:txBody>
      </p:sp>
      <p:sp>
        <p:nvSpPr>
          <p:cNvPr id="4" name="S05-card2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2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친구의 의견과 까닭은 무엇인가요? 누가 틀렸나요?</a:t>
            </a:r>
            <a:endParaRPr lang="ko-KR" sz="2800" dirty="0"/>
          </a:p>
        </p:txBody>
      </p:sp>
      <p:sp>
        <p:nvSpPr>
          <p:cNvPr id="6" name="S05-passagebox26"/>
          <p:cNvSpPr/>
          <p:nvPr/>
        </p:nvSpPr>
        <p:spPr>
          <a:xfrm>
            <a:off x="548640" y="2011680"/>
            <a:ext cx="11091672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7" name="S05-passage27"/>
          <p:cNvSpPr txBox="1"/>
          <p:nvPr/>
        </p:nvSpPr>
        <p:spPr>
          <a:xfrm>
            <a:off x="822960" y="2194560"/>
            <a:ext cx="1054303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Summer or Winter?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Minho: I think summer is great because I can swim in the sea.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Jisu: I think winter is great because I can make a snowman.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까닭을 골라 이어요</a:t>
            </a:r>
            <a:endParaRPr lang="ko-KR" sz="4000" dirty="0"/>
          </a:p>
        </p:txBody>
      </p:sp>
      <p:sp>
        <p:nvSpPr>
          <p:cNvPr id="3" name="S06-text2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보기에서 까닭을 골라 이어 말해요.</a:t>
            </a:r>
            <a:endParaRPr lang="ko-KR" sz="2800" dirty="0"/>
          </a:p>
        </p:txBody>
      </p:sp>
      <p:sp>
        <p:nvSpPr>
          <p:cNvPr id="4" name="S06-card29"/>
          <p:cNvSpPr/>
          <p:nvPr/>
        </p:nvSpPr>
        <p:spPr>
          <a:xfrm>
            <a:off x="6277356" y="2011680"/>
            <a:ext cx="5362956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6-cardtext30"/>
          <p:cNvSpPr txBox="1"/>
          <p:nvPr/>
        </p:nvSpPr>
        <p:spPr>
          <a:xfrm>
            <a:off x="6551676" y="2148840"/>
            <a:ext cx="4814316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보기</a:t>
            </a:r>
            <a:endParaRPr lang="ko-KR" sz="2800" dirty="0"/>
          </a:p>
        </p:txBody>
      </p:sp>
      <p:sp>
        <p:nvSpPr>
          <p:cNvPr id="6" name="S06-word31"/>
          <p:cNvSpPr txBox="1"/>
          <p:nvPr/>
        </p:nvSpPr>
        <p:spPr>
          <a:xfrm>
            <a:off x="6551676" y="2697480"/>
            <a:ext cx="4814316" cy="929640"/>
          </a:xfrm>
          <a:prstGeom prst="roundRect">
            <a:avLst>
              <a:gd name="adj" fmla="val 1377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they are soft.</a:t>
            </a:r>
            <a:endParaRPr lang="ko-KR" sz="3200" dirty="0"/>
          </a:p>
        </p:txBody>
      </p:sp>
      <p:sp>
        <p:nvSpPr>
          <p:cNvPr id="7" name="S06-word32"/>
          <p:cNvSpPr txBox="1"/>
          <p:nvPr/>
        </p:nvSpPr>
        <p:spPr>
          <a:xfrm>
            <a:off x="6551676" y="3901440"/>
            <a:ext cx="4814316" cy="929640"/>
          </a:xfrm>
          <a:prstGeom prst="roundRect">
            <a:avLst>
              <a:gd name="adj" fmla="val 1377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can play soccer.</a:t>
            </a:r>
            <a:endParaRPr lang="ko-KR" sz="3200" dirty="0"/>
          </a:p>
        </p:txBody>
      </p:sp>
      <p:sp>
        <p:nvSpPr>
          <p:cNvPr id="8" name="S06-word33"/>
          <p:cNvSpPr txBox="1"/>
          <p:nvPr/>
        </p:nvSpPr>
        <p:spPr>
          <a:xfrm>
            <a:off x="6551676" y="5105400"/>
            <a:ext cx="4814316" cy="929640"/>
          </a:xfrm>
          <a:prstGeom prst="roundRect">
            <a:avLst>
              <a:gd name="adj" fmla="val 1377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can learn new things.</a:t>
            </a:r>
            <a:endParaRPr lang="ko-KR" sz="2800" dirty="0"/>
          </a:p>
        </p:txBody>
      </p:sp>
      <p:sp>
        <p:nvSpPr>
          <p:cNvPr id="9" name="S06-chip34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10" name="S06-text35"/>
          <p:cNvSpPr txBox="1"/>
          <p:nvPr/>
        </p:nvSpPr>
        <p:spPr>
          <a:xfrm>
            <a:off x="1344168" y="201168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think cats are cute because ______.</a:t>
            </a:r>
            <a:endParaRPr lang="ko-KR" sz="2800" dirty="0"/>
          </a:p>
        </p:txBody>
      </p:sp>
      <p:sp>
        <p:nvSpPr>
          <p:cNvPr id="11" name="S06-chip36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2" name="S06-text37"/>
          <p:cNvSpPr txBox="1"/>
          <p:nvPr/>
        </p:nvSpPr>
        <p:spPr>
          <a:xfrm>
            <a:off x="1344168" y="347472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think P.E. is fun because ______.</a:t>
            </a:r>
            <a:endParaRPr lang="ko-KR" sz="2800" dirty="0"/>
          </a:p>
        </p:txBody>
      </p:sp>
      <p:sp>
        <p:nvSpPr>
          <p:cNvPr id="13" name="S06-chip38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4" name="S06-text39"/>
          <p:cNvSpPr txBox="1"/>
          <p:nvPr/>
        </p:nvSpPr>
        <p:spPr>
          <a:xfrm>
            <a:off x="1344168" y="493776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think books are great because ______.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어울리는 까닭일까요?</a:t>
            </a:r>
            <a:endParaRPr lang="ko-KR" sz="4000" dirty="0"/>
          </a:p>
        </p:txBody>
      </p:sp>
      <p:sp>
        <p:nvSpPr>
          <p:cNvPr id="3" name="S07-card4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4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친구가 ‘고양이는 귀여워요.’에 까닭을 붙였어요.</a:t>
            </a:r>
            <a:endParaRPr lang="ko-KR" sz="2800" dirty="0"/>
          </a:p>
        </p:txBody>
      </p:sp>
      <p:sp>
        <p:nvSpPr>
          <p:cNvPr id="5" name="S07-card4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4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까닭이 의견과 잘 이어진 쪽은? 왜요?</a:t>
            </a:r>
            <a:endParaRPr lang="ko-KR" sz="2800" dirty="0"/>
          </a:p>
        </p:txBody>
      </p:sp>
      <p:sp>
        <p:nvSpPr>
          <p:cNvPr id="7" name="S07-chip44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7-word45"/>
          <p:cNvSpPr txBox="1"/>
          <p:nvPr/>
        </p:nvSpPr>
        <p:spPr>
          <a:xfrm>
            <a:off x="548640" y="3268980"/>
            <a:ext cx="536295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think cats are cute because I am twelve.</a:t>
            </a:r>
            <a:endParaRPr lang="ko-KR" sz="3200" dirty="0"/>
          </a:p>
        </p:txBody>
      </p:sp>
      <p:sp>
        <p:nvSpPr>
          <p:cNvPr id="9" name="S07-chip4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7-word47"/>
          <p:cNvSpPr txBox="1"/>
          <p:nvPr/>
        </p:nvSpPr>
        <p:spPr>
          <a:xfrm>
            <a:off x="6277356" y="3268980"/>
            <a:ext cx="536295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think cats are cute because they are small and soft.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생각을 말해요</a:t>
            </a:r>
            <a:endParaRPr lang="ko-KR" sz="4000" dirty="0"/>
          </a:p>
        </p:txBody>
      </p:sp>
      <p:sp>
        <p:nvSpPr>
          <p:cNvPr id="3" name="S08-text4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하나를 골라 I think ~ because ~.로 말해요.</a:t>
            </a:r>
            <a:endParaRPr lang="ko-KR" sz="2800" dirty="0"/>
          </a:p>
        </p:txBody>
      </p:sp>
      <p:sp>
        <p:nvSpPr>
          <p:cNvPr id="4" name="S08-card49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50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fun · great · cute · interesting · friendly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because I can ~. / because they are ~.</a:t>
            </a:r>
            <a:endParaRPr lang="ko-KR" sz="2800" dirty="0"/>
          </a:p>
        </p:txBody>
      </p:sp>
      <p:sp>
        <p:nvSpPr>
          <p:cNvPr id="6" name="S08-chip51"/>
          <p:cNvSpPr txBox="1"/>
          <p:nvPr/>
        </p:nvSpPr>
        <p:spPr>
          <a:xfrm>
            <a:off x="548640" y="2130721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8-text52"/>
          <p:cNvSpPr txBox="1"/>
          <p:nvPr/>
        </p:nvSpPr>
        <p:spPr>
          <a:xfrm>
            <a:off x="1344168" y="2011680"/>
            <a:ext cx="10296144" cy="805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summer · winter</a:t>
            </a:r>
            <a:endParaRPr lang="ko-KR" sz="2800" dirty="0"/>
          </a:p>
        </p:txBody>
      </p:sp>
      <p:sp>
        <p:nvSpPr>
          <p:cNvPr id="8" name="S08-chip53"/>
          <p:cNvSpPr txBox="1"/>
          <p:nvPr/>
        </p:nvSpPr>
        <p:spPr>
          <a:xfrm>
            <a:off x="548640" y="3118612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8-text54"/>
          <p:cNvSpPr txBox="1"/>
          <p:nvPr/>
        </p:nvSpPr>
        <p:spPr>
          <a:xfrm>
            <a:off x="1344168" y="2999571"/>
            <a:ext cx="10296144" cy="805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cats · dogs</a:t>
            </a:r>
            <a:endParaRPr lang="ko-KR" sz="2800" dirty="0"/>
          </a:p>
        </p:txBody>
      </p:sp>
      <p:sp>
        <p:nvSpPr>
          <p:cNvPr id="10" name="S08-chip55"/>
          <p:cNvSpPr txBox="1"/>
          <p:nvPr/>
        </p:nvSpPr>
        <p:spPr>
          <a:xfrm>
            <a:off x="548640" y="4106503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8-text56"/>
          <p:cNvSpPr txBox="1"/>
          <p:nvPr/>
        </p:nvSpPr>
        <p:spPr>
          <a:xfrm>
            <a:off x="1344168" y="3987461"/>
            <a:ext cx="10296144" cy="805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P.E. · art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 한 문장 쓰기</a:t>
            </a:r>
            <a:endParaRPr lang="ko-KR" sz="4000" dirty="0"/>
          </a:p>
        </p:txBody>
      </p:sp>
      <p:sp>
        <p:nvSpPr>
          <p:cNvPr id="3" name="S09-card57"/>
          <p:cNvSpPr/>
          <p:nvPr/>
        </p:nvSpPr>
        <p:spPr>
          <a:xfrm>
            <a:off x="6813652" y="1325880"/>
            <a:ext cx="4826660" cy="4892040"/>
          </a:xfrm>
          <a:prstGeom prst="roundRect">
            <a:avLst>
              <a:gd name="adj" fmla="val 227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58"/>
          <p:cNvSpPr txBox="1"/>
          <p:nvPr/>
        </p:nvSpPr>
        <p:spPr>
          <a:xfrm>
            <a:off x="7087972" y="1463040"/>
            <a:ext cx="427802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I think로 시작했어요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is나 are를 넣었어요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because 다음에 문장을 썼어요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대문자와 마침표를 지켰어요</a:t>
            </a:r>
            <a:endParaRPr lang="ko-KR" sz="2800" dirty="0"/>
          </a:p>
        </p:txBody>
      </p:sp>
      <p:sp>
        <p:nvSpPr>
          <p:cNvPr id="5" name="S09-stepno59"/>
          <p:cNvSpPr txBox="1"/>
          <p:nvPr/>
        </p:nvSpPr>
        <p:spPr>
          <a:xfrm>
            <a:off x="548640" y="23139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6" name="S09-text60"/>
          <p:cNvSpPr txBox="1"/>
          <p:nvPr/>
        </p:nvSpPr>
        <p:spPr>
          <a:xfrm>
            <a:off x="1325880" y="2268220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S08에서 말한 것 하나를 골라요.</a:t>
            </a:r>
            <a:endParaRPr lang="ko-KR" sz="2800" dirty="0"/>
          </a:p>
        </p:txBody>
      </p:sp>
      <p:sp>
        <p:nvSpPr>
          <p:cNvPr id="7" name="S09-stepno61"/>
          <p:cNvSpPr txBox="1"/>
          <p:nvPr/>
        </p:nvSpPr>
        <p:spPr>
          <a:xfrm>
            <a:off x="548640" y="33004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8" name="S09-text62"/>
          <p:cNvSpPr txBox="1"/>
          <p:nvPr/>
        </p:nvSpPr>
        <p:spPr>
          <a:xfrm>
            <a:off x="1325880" y="330047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think ~.로 내 생각을 써요.</a:t>
            </a:r>
            <a:endParaRPr lang="ko-KR" sz="2800" dirty="0"/>
          </a:p>
        </p:txBody>
      </p:sp>
      <p:sp>
        <p:nvSpPr>
          <p:cNvPr id="9" name="S09-stepno63"/>
          <p:cNvSpPr txBox="1"/>
          <p:nvPr/>
        </p:nvSpPr>
        <p:spPr>
          <a:xfrm>
            <a:off x="548640" y="40137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0" name="S09-text64"/>
          <p:cNvSpPr txBox="1"/>
          <p:nvPr/>
        </p:nvSpPr>
        <p:spPr>
          <a:xfrm>
            <a:off x="1325880" y="401370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because 다음에 까닭을 써요.</a:t>
            </a:r>
            <a:endParaRPr lang="ko-KR" sz="2800" dirty="0"/>
          </a:p>
        </p:txBody>
      </p:sp>
      <p:sp>
        <p:nvSpPr>
          <p:cNvPr id="11" name="S09-stepno65"/>
          <p:cNvSpPr txBox="1"/>
          <p:nvPr/>
        </p:nvSpPr>
        <p:spPr>
          <a:xfrm>
            <a:off x="548640" y="47269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2" name="S09-text66"/>
          <p:cNvSpPr txBox="1"/>
          <p:nvPr/>
        </p:nvSpPr>
        <p:spPr>
          <a:xfrm>
            <a:off x="1325880" y="472694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점검표로 확인하고 고쳐요.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6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영어로 말해 보세요.</a:t>
            </a:r>
            <a:endParaRPr lang="ko-KR" sz="2800" dirty="0"/>
          </a:p>
        </p:txBody>
      </p:sp>
      <p:sp>
        <p:nvSpPr>
          <p:cNvPr id="4" name="S10-chip68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0-text69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think dogs are great</a:t>
            </a:r>
            <a:endParaRPr lang="ko-KR" sz="2800" dirty="0"/>
          </a:p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because ______.</a:t>
            </a:r>
            <a:endParaRPr lang="ko-KR" sz="2800" dirty="0"/>
          </a:p>
        </p:txBody>
      </p:sp>
      <p:sp>
        <p:nvSpPr>
          <p:cNvPr id="6" name="S10-chip70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10-text71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library · great</a:t>
            </a:r>
            <a:endParaRPr lang="ko-KR" sz="2800" dirty="0"/>
          </a:p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can read many books.</a:t>
            </a:r>
            <a:endParaRPr lang="ko-KR" sz="2800" dirty="0"/>
          </a:p>
        </p:txBody>
      </p:sp>
      <p:sp>
        <p:nvSpPr>
          <p:cNvPr id="8" name="S10-chip72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10-text73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 · fall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하나를 골라 말해요.</a:t>
            </a:r>
            <a:endParaRPr lang="ko-KR" sz="2800" dirty="0"/>
          </a:p>
        </p:txBody>
      </p:sp>
      <p:sp>
        <p:nvSpPr>
          <p:cNvPr id="10" name="S10-chip74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1" name="S10-text75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고쳐 말해요: I think soccer is fun because it is Monday.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대답 예 확인</a:t>
            </a:r>
            <a:endParaRPr lang="ko-KR" sz="4000" dirty="0"/>
          </a:p>
        </p:txBody>
      </p:sp>
      <p:sp>
        <p:nvSpPr>
          <p:cNvPr id="3" name="S11-chip76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4" name="S11-text77"/>
          <p:cNvSpPr txBox="1"/>
          <p:nvPr/>
        </p:nvSpPr>
        <p:spPr>
          <a:xfrm>
            <a:off x="548640" y="2057400"/>
            <a:ext cx="5362956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… because they</a:t>
            </a:r>
            <a:endParaRPr lang="ko-KR" sz="2800" dirty="0"/>
          </a:p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are friendly.</a:t>
            </a:r>
            <a:endParaRPr lang="ko-KR" sz="2800" dirty="0"/>
          </a:p>
        </p:txBody>
      </p:sp>
      <p:sp>
        <p:nvSpPr>
          <p:cNvPr id="5" name="S11-text78"/>
          <p:cNvSpPr txBox="1"/>
          <p:nvPr/>
        </p:nvSpPr>
        <p:spPr>
          <a:xfrm>
            <a:off x="548640" y="3131820"/>
            <a:ext cx="5362956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I think the library</a:t>
            </a:r>
            <a:endParaRPr lang="ko-KR" sz="2800" dirty="0"/>
          </a:p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is great because …</a:t>
            </a:r>
            <a:endParaRPr lang="ko-KR" sz="2800" dirty="0"/>
          </a:p>
        </p:txBody>
      </p:sp>
      <p:sp>
        <p:nvSpPr>
          <p:cNvPr id="6" name="S11-text79"/>
          <p:cNvSpPr txBox="1"/>
          <p:nvPr/>
        </p:nvSpPr>
        <p:spPr>
          <a:xfrm>
            <a:off x="548640" y="4206240"/>
            <a:ext cx="5362956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I think spring is great</a:t>
            </a:r>
            <a:endParaRPr lang="ko-KR" sz="2800" dirty="0"/>
          </a:p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because I can see flowers.</a:t>
            </a:r>
            <a:endParaRPr lang="ko-KR" sz="2800" dirty="0"/>
          </a:p>
        </p:txBody>
      </p:sp>
      <p:sp>
        <p:nvSpPr>
          <p:cNvPr id="7" name="S11-text80"/>
          <p:cNvSpPr txBox="1"/>
          <p:nvPr/>
        </p:nvSpPr>
        <p:spPr>
          <a:xfrm>
            <a:off x="548640" y="5280660"/>
            <a:ext cx="5362956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… because I can run</a:t>
            </a:r>
            <a:endParaRPr lang="ko-KR" sz="2800" dirty="0"/>
          </a:p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and kick the ball.</a:t>
            </a:r>
            <a:endParaRPr lang="ko-KR" sz="2800" dirty="0"/>
          </a:p>
        </p:txBody>
      </p:sp>
      <p:sp>
        <p:nvSpPr>
          <p:cNvPr id="8" name="S11-chip81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9" name="S11-text82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think winter fun.</a:t>
            </a:r>
            <a:endParaRPr lang="ko-KR" sz="2800" dirty="0"/>
          </a:p>
        </p:txBody>
      </p:sp>
      <p:sp>
        <p:nvSpPr>
          <p:cNvPr id="10" name="S11-text83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winter is</a:t>
            </a:r>
            <a:endParaRPr lang="ko-KR" sz="2200" dirty="0"/>
          </a:p>
        </p:txBody>
      </p:sp>
      <p:sp>
        <p:nvSpPr>
          <p:cNvPr id="11" name="S11-text84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because friendly</a:t>
            </a:r>
            <a:endParaRPr lang="ko-KR" sz="2800" dirty="0"/>
          </a:p>
        </p:txBody>
      </p:sp>
      <p:sp>
        <p:nvSpPr>
          <p:cNvPr id="12" name="S11-text85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they are</a:t>
            </a:r>
            <a:endParaRPr lang="ko-KR" sz="2200" dirty="0"/>
          </a:p>
        </p:txBody>
      </p:sp>
      <p:sp>
        <p:nvSpPr>
          <p:cNvPr id="13" name="S11-text86"/>
          <p:cNvSpPr txBox="1"/>
          <p:nvPr/>
        </p:nvSpPr>
        <p:spPr>
          <a:xfrm>
            <a:off x="6277356" y="48006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because it is</a:t>
            </a:r>
            <a:endParaRPr lang="ko-KR" sz="2800" dirty="0"/>
          </a:p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Monday</a:t>
            </a:r>
            <a:endParaRPr lang="ko-KR" sz="2800" dirty="0"/>
          </a:p>
        </p:txBody>
      </p:sp>
      <p:sp>
        <p:nvSpPr>
          <p:cNvPr id="14" name="S11-text87"/>
          <p:cNvSpPr txBox="1"/>
          <p:nvPr/>
        </p:nvSpPr>
        <p:spPr>
          <a:xfrm>
            <a:off x="9095994" y="48006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의견과 상관없음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바르게 쓴 문장은?</a:t>
            </a:r>
            <a:endParaRPr lang="ko-KR" sz="4000" dirty="0"/>
          </a:p>
        </p:txBody>
      </p:sp>
      <p:sp>
        <p:nvSpPr>
          <p:cNvPr id="3" name="S12-card8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8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의견과 까닭이 바르게 이어진 문장은? 어떻게 알았나요?</a:t>
            </a:r>
            <a:endParaRPr lang="ko-KR" sz="2800" dirty="0"/>
          </a:p>
        </p:txBody>
      </p:sp>
      <p:sp>
        <p:nvSpPr>
          <p:cNvPr id="5" name="S12-chip90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6" name="S12-card91"/>
          <p:cNvSpPr/>
          <p:nvPr/>
        </p:nvSpPr>
        <p:spPr>
          <a:xfrm>
            <a:off x="1344168" y="132588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2-cardtext92"/>
          <p:cNvSpPr txBox="1"/>
          <p:nvPr/>
        </p:nvSpPr>
        <p:spPr>
          <a:xfrm>
            <a:off x="1618488" y="146304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think winter is fun because I can make a snowman.</a:t>
            </a:r>
            <a:endParaRPr lang="ko-KR" sz="2800" dirty="0"/>
          </a:p>
        </p:txBody>
      </p:sp>
      <p:sp>
        <p:nvSpPr>
          <p:cNvPr id="8" name="S12-chip93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9" name="S12-card94"/>
          <p:cNvSpPr/>
          <p:nvPr/>
        </p:nvSpPr>
        <p:spPr>
          <a:xfrm>
            <a:off x="7072884" y="132588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2-cardtext95"/>
          <p:cNvSpPr txBox="1"/>
          <p:nvPr/>
        </p:nvSpPr>
        <p:spPr>
          <a:xfrm>
            <a:off x="7347204" y="146304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think winter is fun because I like pizza.</a:t>
            </a:r>
            <a:endParaRPr lang="ko-KR" sz="2800" dirty="0"/>
          </a:p>
        </p:txBody>
      </p:sp>
      <p:sp>
        <p:nvSpPr>
          <p:cNvPr id="11" name="S12-chip96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2" name="S12-card97"/>
          <p:cNvSpPr/>
          <p:nvPr/>
        </p:nvSpPr>
        <p:spPr>
          <a:xfrm>
            <a:off x="1344168" y="336042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2-cardtext98"/>
          <p:cNvSpPr txBox="1"/>
          <p:nvPr/>
        </p:nvSpPr>
        <p:spPr>
          <a:xfrm>
            <a:off x="1618488" y="349758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think winter fun because snow.</a:t>
            </a:r>
            <a:endParaRPr lang="ko-KR" sz="2800" dirty="0"/>
          </a:p>
        </p:txBody>
      </p:sp>
      <p:sp>
        <p:nvSpPr>
          <p:cNvPr id="14" name="S12-chip99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800" dirty="0"/>
          </a:p>
        </p:txBody>
      </p:sp>
      <p:sp>
        <p:nvSpPr>
          <p:cNvPr id="15" name="S12-card100"/>
          <p:cNvSpPr/>
          <p:nvPr/>
        </p:nvSpPr>
        <p:spPr>
          <a:xfrm>
            <a:off x="7072884" y="336042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6" name="S12-cardtext101"/>
          <p:cNvSpPr txBox="1"/>
          <p:nvPr/>
        </p:nvSpPr>
        <p:spPr>
          <a:xfrm>
            <a:off x="7347204" y="349758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Because I can ski. I think winter.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102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03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think ~ because ~.로 의견과 까닭을 함께 말해요.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생각은 달라도 까닭이 있으면 좋은 의견이에요.</a:t>
            </a:r>
            <a:endParaRPr lang="ko-KR" sz="2800" dirty="0"/>
          </a:p>
        </p:txBody>
      </p:sp>
      <p:sp>
        <p:nvSpPr>
          <p:cNvPr id="5" name="S13-chip104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까닭도 문장으로</a:t>
            </a:r>
            <a:endParaRPr lang="ko-KR" sz="2200" dirty="0"/>
          </a:p>
        </p:txBody>
      </p:sp>
      <p:sp>
        <p:nvSpPr>
          <p:cNvPr id="6" name="S13-chip105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en-US" altLang="ko-KR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I think fun. / because soft</a:t>
            </a:r>
            <a:endParaRPr lang="ko-KR" sz="2200" dirty="0"/>
          </a:p>
        </p:txBody>
      </p:sp>
      <p:sp>
        <p:nvSpPr>
          <p:cNvPr id="7" name="S13-text106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3-text107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because의 뜻은?</a:t>
            </a:r>
            <a:endParaRPr lang="ko-KR" sz="2200" dirty="0"/>
          </a:p>
        </p:txBody>
      </p:sp>
      <p:sp>
        <p:nvSpPr>
          <p:cNvPr id="9" name="S13-text108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좋아하는 계절을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의견과 까닭으로</a:t>
            </a:r>
            <a:endParaRPr lang="ko-KR" sz="2200" dirty="0"/>
          </a:p>
        </p:txBody>
      </p:sp>
      <p:sp>
        <p:nvSpPr>
          <p:cNvPr id="10" name="S13-text109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because friendly를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고쳐 말하기</a:t>
            </a:r>
            <a:endParaRPr lang="ko-KR" sz="2200" dirty="0"/>
          </a:p>
        </p:txBody>
      </p:sp>
      <p:sp>
        <p:nvSpPr>
          <p:cNvPr id="11" name="S13-text110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뜻 확인하기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because 다시 하기</a:t>
            </a:r>
            <a:endParaRPr lang="ko-KR" sz="4000" dirty="0"/>
          </a:p>
        </p:txBody>
      </p:sp>
      <p:sp>
        <p:nvSpPr>
          <p:cNvPr id="3" name="S14-card1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4-cardtext1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because 다음에 까닭을 문장으로 말해요.</a:t>
            </a:r>
            <a:endParaRPr lang="ko-KR" sz="2800" dirty="0"/>
          </a:p>
        </p:txBody>
      </p:sp>
      <p:sp>
        <p:nvSpPr>
          <p:cNvPr id="5" name="S14-word113"/>
          <p:cNvSpPr txBox="1"/>
          <p:nvPr/>
        </p:nvSpPr>
        <p:spPr>
          <a:xfrm>
            <a:off x="548640" y="134874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summer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여름이 좋아요</a:t>
            </a:r>
            <a:endParaRPr lang="ko-KR" sz="3200" dirty="0"/>
          </a:p>
        </p:txBody>
      </p:sp>
      <p:sp>
        <p:nvSpPr>
          <p:cNvPr id="6" name="S14-word114"/>
          <p:cNvSpPr txBox="1"/>
          <p:nvPr/>
        </p:nvSpPr>
        <p:spPr>
          <a:xfrm>
            <a:off x="6231636" y="134874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because I can swim.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수영할 수 있기 때문에</a:t>
            </a:r>
            <a:endParaRPr lang="ko-KR" sz="3200" dirty="0"/>
          </a:p>
        </p:txBody>
      </p:sp>
      <p:sp>
        <p:nvSpPr>
          <p:cNvPr id="7" name="S14-word115"/>
          <p:cNvSpPr txBox="1"/>
          <p:nvPr/>
        </p:nvSpPr>
        <p:spPr>
          <a:xfrm>
            <a:off x="548640" y="336042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cats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고양이가 좋아요</a:t>
            </a:r>
            <a:endParaRPr lang="ko-KR" sz="3200" dirty="0"/>
          </a:p>
        </p:txBody>
      </p:sp>
      <p:sp>
        <p:nvSpPr>
          <p:cNvPr id="8" name="S14-word116"/>
          <p:cNvSpPr txBox="1"/>
          <p:nvPr/>
        </p:nvSpPr>
        <p:spPr>
          <a:xfrm>
            <a:off x="6231636" y="336042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because they are cute.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귀엽기 때문에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영어 의견 말하기</dc:title>
  <dc:subject>KR22-G06-ENG-OPINION-L01</dc:subject>
  <dc:creator>education-ppt</dc:creator>
  <cp:lastModifiedBy>education-ppt</cp:lastModifiedBy>
  <cp:revision>1</cp:revision>
  <dcterms:created xsi:type="dcterms:W3CDTF">2026-10-26T09:14:30Z</dcterms:created>
  <dcterms:modified xsi:type="dcterms:W3CDTF">2026-10-26T09:14:30Z</dcterms:modified>
</cp:coreProperties>
</file>