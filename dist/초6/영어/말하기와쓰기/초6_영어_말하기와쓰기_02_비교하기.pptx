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49c84b7-b947-d3dc-7255-f48abfa430eb}">
          <p14:sldIdLst>
            <p14:sldId id="256"/>
            <p14:sldId id="257"/>
          </p14:sldIdLst>
        </p14:section>
        <p14:section name="개념" id="{93010d22-c1fa-856d-fd0a-273db39610a3}">
          <p14:sldIdLst>
            <p14:sldId id="258"/>
            <p14:sldId id="259"/>
            <p14:sldId id="260"/>
            <p14:sldId id="261"/>
          </p14:sldIdLst>
        </p14:section>
        <p14:section name="연습" id="{5c5d248f-eead-e382-0719-1b54191e1cd4}">
          <p14:sldIdLst>
            <p14:sldId id="262"/>
            <p14:sldId id="263"/>
            <p14:sldId id="264"/>
            <p14:sldId id="265"/>
          </p14:sldIdLst>
        </p14:section>
        <p14:section name="확인" id="{d2d62a8c-6c3a-03cc-ffa9-9e719e96282a}">
          <p14:sldIdLst>
            <p14:sldId id="266"/>
            <p14:sldId id="267"/>
            <p14:sldId id="268"/>
          </p14:sldIdLst>
        </p14:section>
        <p14:section name="정리" id="{8840d13e-d093-fa50-98e0-29212e2f93d3}">
          <p14:sldIdLst>
            <p14:sldId id="269"/>
          </p14:sldIdLst>
        </p14:section>
        <p14:section name="보충" id="{12c645f0-177c-a956-58e1-9d8f574d4ea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두 사람이나 물건을 견주어 말하는 상황에 관심을 갖게 합니다.
시간: 약 2분
이렇게 말해 보세요
- “오른쪽 그림의 두 사람 가운데 누가 더 키가 커? 우리말로 말해 볼래?”
- “오늘은 ‘누가 더 크다’, ‘무엇이 더 빠르다’처럼 두 가지를 비교하는 말을 영어로 해 볼 거야.”
예상 답
- “왼쪽 사람이 더 커요.”
주의
- 수업 전에 교과서 디지털 자료나 사전 앱의 발음 듣기로 오늘 낱말과 문장(taller, shorter, bigger, smaller, faster, older, than, Minho is taller than Jisu. The basketball is bigger than the tennis ball.)을 미리 들어 두세요. 부모님 발음이 완벽하지 않아도 괜찮습니다.
- 소리 자료 없이 진행하면 바른 소리를 확인하기 어렵습니다. 헷갈리는 표현은 기록해 두었다가 소리 자료로 나중에 확인합니다.
- 지난 차시(계획 말하기) 활동지의 ‘다음 수업을 시작할 때’ 문제가 있으면 이 장 전에 먼저 풀어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확인(꾸미는 말, is 문장)]
목적: 오늘 -er을 붙일 여섯 낱말의 뜻을 알고, is 다음에 꾸미는 말을 넣어 문장을 말하는지 확인합니다. 계획상 바로 앞 차시는 ‘계획 말하기’이지만, 비교하는 문장에는 4학년에 익힌 꾸미는 말(tall, big…)과 is 문장이 꼭 필요하므로 이것을 확인합니다.
시간: 약 3분
이렇게 말해 보세요
- “①의 낱말을 하나씩 읽고 뜻을 말해 줄래?”
- “②, 아빠(엄마)는 키가 커. 이걸 영어 한 문장으로 말해 볼래?”
정답
- ① tall 키가 큰, short 키가 작은, big 큰, small 작은, fast 빠른, old 나이가 많은(오래된)
- ② My dad is tall. (또는 My mom is tall.)
막히면
- 낱말을 읽지 못하면 부모가 읽어 주고 뜻만 말하게 합니다.
- 여섯 낱말 가운데 뜻을 3개 이상 모르거나 ②에서 is를 넣지 못하면 S15(보충)를 먼저 합니다.
주의
- fast, old, short를 처음 보는 아이도 있습니다. 뜻을 모르는 낱말은 S15에서 몸짓과 함께 익히고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taller than으로 키 비교하기]
목적: tall에 -er을 붙이면 ‘더’라는 뜻이 되고, than 다음에 비교하는 대상을 말한다는 것을 압니다(M1, M3).
시간: 약 3분
이렇게 말해 보세요
- “민호는 키가 커. Minho is tall. 그런데 지수와 비교하면? 민호가 지수보다 더 크지?”
- “‘더 큰’은 tall에 -er을 붙여 taller, ‘~보다’는 than이야. 소리를 듣고 따라 해 보자. taller, than, Minho is taller than Jisu.”
- “누가 더 커? 더 큰 사람을 문장 맨 앞에 말해.”
예상 답
- “Minho is taller than Jisu.”
막히면
- 뒤에서부터 붙여 말합니다. than Jisu … taller than Jisu … Minho is taller than Jisu.
- than의 th는 혀끝을 윗니와 아랫니 사이에 살짝 대고 냅니다. 소리 자료를 듣고 따라 하게 합니다.
주의
- -er이 이미 ‘더’라는 뜻이라 more를 붙이지 않습니다(M1). S09에서 다시 비교합니다.
- 키를 비교할 때는 taller(더 큰), shorter(더 작은)를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-er 붙여 비교하는 말 만들기]
목적: 여섯 낱말 가운데 다섯 낱말은 끝에 -er만 붙이면 비교하는 말이 된다는 것을 표로 익힙니다(M2).
시간: 약 3분
이렇게 말해 보세요
- “표를 한 줄씩 읽어 보자. tall, taller. short, shorter.” (소리 자료를 듣고 따라 합니다.)
- “다섯 낱말은 모두 어떻게 바뀌었어?”
- “taller의 철자를 한 글자씩 말해 볼래?”
예상 답
- “끝에 -er이 붙었어요.” “t-a-l-l-e-r.”
막히면
- 낱말 부분을 손가락으로 가리고 -er만 보이게 해서 무엇이 더해졌는지 찾게 합니다.
주의
- big은 이 표에 없습니다. big은 철자가 조금 달라서 S05에서 따로 배웁니다.
- old의 비교하는 말 older는 사람에게는 ‘나이가 더 많은’, 물건에는 ‘더 오래된’이라는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big → bigger 철자]
목적: big처럼 끝이 ‘모음 글자 하나 + 자음 글자 하나’인 짧은 낱말은 끝 자음을 한 번 더 쓰고 -er을 붙인다는 것을 압니다(M2).
시간: 약 3분
이렇게 말해 보세요
- “big의 끝 두 글자를 봐. i는 모음, g는 자음이야. 모음 하나 다음에 자음 하나로 끝나지?”
- “이럴 때는 g를 한 번 더 쓰고 -er을 붙여. b-i-g-g-e-r, bigger. 소리를 듣고 따라 해 보자.”
- “tall은 끝이 l, l로 자음이 두 개야. 그래서 그냥 -er만 붙여. fast는 어때?”
예상 답
- “bigger는 g가 두 개예요.” “fast는 s, t로 자음이 두 개라서 faster예요.”
막히면
- 오른쪽 글자 타일에서 색이 다른 g를 짚게 하고, 공책에 big과 bigger를 나란히 써 보게 합니다.
주의
- 오늘 낱말 가운데 끝 자음을 한 번 더 쓰는 것은 big 하나입니다. tall, short, small, fast, old는 끝에 자음이 두 개라서 -er만 붙입니다(M2).
- 모음 글자는 a, e, i, o, u입니다.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bigger와 smaller로 같은 그림 말하기]
목적: 같은 두 대상을 bigger와 smaller 두 문장으로 말할 수 있고, 문장 앞에 오는 것에 따라 낱말이 바뀐다는 것을 압니다(M3).
시간: 약 3분
이렇게 말해 보세요
- “농구공과 테니스공 가운데 무엇이 더 커? 더 큰 농구공을 앞에 말하면? The basketball is bigger than the tennis ball.”
- “테니스공을 앞에 말하면? 테니스공은 더 작지? The tennis ball is smaller than the basketball.”
- “두 문장을 따라 해 보자. 앞에 오는 공에 따라 bigger, smaller가 바뀌지?”
예상 답
- “The basketball is bigger than the tennis ball.” “The tennis ball is smaller than the basketball.”
막히면
- 실제 크기가 다른 공 두 개를 들고, 큰 공을 들어 올리며 bigger, 작은 공을 들어 올리며 smaller를 말하게 합니다.
주의
- 그림은 실제 크기 비율(농구공 지름 약 24 cm, 테니스공 약 7 cm)에 맞춰 그렸습니다.
- 여기까지가 배우는 부분입니다. 아이가 지치면 여기서 나누어 다음 날 S07부터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비교하는 말 만들기]
목적: 낱말에 -er을 붙여 비교하는 말을 만들고 철자를 말합니다. big에서 g를 한 번 더 쓰는지 확인합니다(M2).
시간: 약 3분
이렇게 말해 보세요
- “①부터 비교하는 말로 바꿔서 말하고, 철자를 한 글자씩 말해 줘. 공책에 써도 좋아.”
- “②는 왜 그렇게 썼어?”
정답
- ① shorter (s-h-o-r-t-e-r)
- ② bigger (b-i-g-g-e-r, 끝이 모음 하나 + 자음 하나라서 g를 한 번 더)
- ③ older (o-l-d-e-r)
- ④ faster (f-a-s-t-e-r)
막히면
- S04의 표와 S05의 글자 타일을 다시 보여 줍니다.
- ②에서 biger라고 하면 “big의 끝은 모음 하나, 자음 하나지? 그럴 때는 어떻게 했지?”라고만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그림과 정보를 보고 빈칸 채우기]
목적: 그림과 나이 정보를 보고 알맞은 비교하는 말을 넣어 문장을 완성하고 말합니다(M3).
시간: 약 3분
이렇게 말해 보세요
- “①, 나무와 집 가운데 무엇이 더 높아? 빈칸에 들어갈 말은?”
- “②는 집이 앞에 있어. 집은 나무보다 더 높아, 더 낮아? 키를 말할 때 ‘더 낮은’은 shorter야.”
- “③, 민호는 12살, 지수는 10살이야. 누가 나이가 더 많아?”
- “이제 빈칸을 채워서 세 문장을 처음부터 끝까지 읽어 보자.”
정답
- ① taller (The tree is taller than the house.)
- ② shorter (The house is shorter than the tree.)
- ③ older (Minho is older than Jisu. 12살이 10살보다 많음)
막히면
- “무엇이 더 커?”를 먼저 우리말로 묻고, 그것이 문장 앞에 있는지 확인하게 합니다.
- ②에서 smaller라고 해도 뜻은 통하지만, 높이를 비교할 때는 shorter가 더 알맞다고 알려 줍니다.
주의
- 키나 높이는 taller와 shorter, 전체 크기는 bigger와 smaller로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오개념 비교(more big)]
목적: -er이 이미 ‘더’라는 뜻이라 more를 붙이지 않는다는 것을 비교합니다(M1).
시간: 약 2분
이렇게 말해 보세요
- “두 문장은 무엇이 달라?”
- “우리말 ‘더 커요’를 그대로 옮기면 more big이 될 것 같지? 그런데 bigger의 -er에 이미 ‘더’가 들어 있어. 바르게 말한 쪽은?”
정답
- 바르게 말한 쪽은 나(The box is bigger than the ball.)입니다. big, tall 같은 짧은 낱말은 more를 쓰지 않고 -er을 붙입니다. more bigger처럼 둘을 함께 쓰는 것도 틀립니다.
막히면
- S04 표의 뜻 칸(‘더 ~한’)을 다시 읽어 주고, -er이 ‘더’라는 뜻임을 짚습니다.
주의
- more는 길이가 긴 다른 낱말(예: beautiful)에 쓰는데, 오늘은 다루지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우리 집 물건 비교하기]
목적: 실제 물건이나 가족의 키를 견주어 보고, 비교하는 문장을 스스로 만들어 말합니다.
시간: 약 4분
이렇게 말해 보세요
- “크기가 다른 물건 두 개를 골라 나란히 놓아 볼래? 어느 쪽이 더 커?”
- “영어로 말해 줘. 더 큰 것을 앞에!” → (아이) The box is bigger than the ball.
- “엄마(아빠)는 반대로 말해 볼게. The ball is smaller than the box.” (다음에는 역할을 바꿉니다.)
- “이번에는 우리 키를 비교해 볼까? 등을 맞대고 서 보자. 누가 더 커?”
예상 답
- “The box is bigger than the ball.” “The cup is smaller than the bowl.” “I'm shorter than my mom.”
- 기준: -er을 붙이고 than을 넣었으며, 실제로 더 큰(더 키가 큰) 쪽을 앞에 말하면 맞습니다.
막히면
- 물건 이름을 영어로 모르면 부모가 낱말만 알려 줍니다(box, ball, cup, book, bag, chair, desk 등).
- 누가 앞에 와야 할지 헷갈리면 “무엇이 더 커?”를 먼저 우리말로 묻습니다.
주의
- 3번 이상 주고받습니다. 키를 비교할 때는 I'm taller(shorter) than my mom.처럼 I'm으로 시작하면 쉽습니다.
- 아이의 키나 몸집을 놀리는 말이 되지 않게 물건 비교를 중심으로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비교하기]
목적: 도움 없이 그림과 정보를 보고 비교하는 문장을 말하고, 비교하는 말의 철자를 바르게 말하는지 확인합니다.
시간: 약 4분
이렇게 말해 보세요
- “이번에는 혼자 해 볼래? ①, 두 상자를 비교해서 영어로 말해 줘.”
- “②, 할아버지는 70살, 아빠는 45살이야. 영어로 비교해 볼래?”
- “③, big과 fast의 비교하는 말을 철자로 말해 줘.” “④, 토끼와 거북이 가운데 누가 더 빨라? 영어로 말해 봐.”
정답
- ① The red box is bigger than the blue box. (또는 The blue box is smaller than the red box.)
- ② My grandpa is older than my dad. (Grandpa is older than Dad.도 맞음)
- ③ bigger (b-i-g-g-e-r), faster (f-a-s-t-e-r)
- ④ The rabbit is faster than the turtle.
- 기준: -er과 than을 넣고, 더 그러한 쪽을 앞에 말하면 맞습니다. 소리가 조금 서툴러도 알맞은 표현을 골라 말했으면 맞은 것으로 봅니다. 네 개 가운데 세 개 이상이면 통과입니다.
막히면
- 바로 알려 주지 말고 “무엇이 더 커(나이가 많아, 빨라)?”라고만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정답과 피드백]
목적: 아이의 대답을 확인하고 흔한 실수와 비교합니다.
시간: 약 2분
이렇게 말해 보세요
- “네가 말한 것과 왼쪽을 비교해 보자.”
- “오른쪽처럼 말하면 어디가 틀렸을까?”
예상 답
- “biger는 g가 하나 빠졌어요.” “more를 빼고 bigger라고 해야 해요.” “파란 상자가 더 작으니까 smaller라고 해야 해요.”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확인(듣고 그림 고르기)]
목적: 처음 보는 그림에서 비교하는 문장을 끝까지 듣고, 무엇이 더 큰지와 문장의 순서를 함께 따져 그림을 고르는지 확인합니다(M3).
시간: 약 2분
이렇게 말해 보세요
- “엄마(아빠)가 문장을 말할게. 끝까지 듣고 골라 봐. The box is bigger than the ball. 어떻게 알았어?”
- “이번에는 The house is taller than the tree.”
정답
- The box is bigger than the ball. → 나 (가는 공이 더 큼)
- The house is taller than the tree. → 라 (다는 나무가 더 높음)
막히면
- 문장 맨 앞의 물건(box, house)을 먼저 찾게 하고, 그것이 더 큰 그림을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복습을 알려 줍니다.
시간: 약 2분
이렇게 말해 보세요
- “두 가지를 비교할 때 어떻게 말하지?”
- “big의 비교하는 말 철자는?”
예상 답
- “-er을 붙이고 than을 말해요.” “b-i-g-g-e-r요.”
정답
- ① bigger (b-i-g-g-e-r)
- ② The basketball is bigger than the tennis ball. (또는 The tennis ball is smaller than the basketball.)
- ③ 실제 키에 맞게 I'm shorter(taller) than my mom(dad).
주의
- 장을 보거나 정리할 때 “Which is bigger?”라고 묻고 아이가 비교 문장으로 대답하게 하면 좋은 복습이 됩니다. 다음 차시는 ‘의견 말하기’입니다.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보충(꾸미는 말, is 문장)]
목적: S02에서 꾸미는 말의 뜻이나 is 문장이 흔들리면, 비교하는 말을 배우기 전에 먼저 다집니다.
시간: 약 5분
이렇게 말해 보세요
- “소리를 듣고 따라 말해 보자.” (교과서 디지털 자료나 사전 앱의 소리를 함께 듣습니다.)
- “몸으로 해 볼까? tall은 발끝으로 서고, short는 무릎을 굽혀. big은 팔을 크게, small은 손을 작게. fast는 빨리 걷고, old는 지팡이 짚는 흉내!”
- “아빠는 키가 커. 영어로? My dad is tall.”
정답
- tall 키가 큰, short 키가 작은, big 큰, small 작은, fast 빠른, old 나이가 많은 / My dad is tall.
막히면
- 부모가 먼저 말하고 아이가 몸짓과 함께 따라 말하는 것부터 다시 합니다.
주의
- 계획상 앞 차시는 ‘계획 말하기’입니다. 그 차시의 내용은 오늘 비교하기와 직접 이어지지 않으므로, 오늘은 꾸미는 말과 is 문장을 다집니다. 보충 뒤에도 꾸미는 말과 is 문장이 어려우면 4학년 ‘사물 묘사하기’(KR22-G04-ENG-DESCRIBE-L01)와 ‘가족 소개하기’(KR22-G04-ENG-FAMILY-L01)를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말하기와쓰기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영어 · 비교하기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비교하기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영어 · 비교하기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비교하기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누가 더 키가 클까요?</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영어로 어떻게 비교할까요?</a:t>
            </a:r>
            <a:endParaRPr lang="ko-KR" sz="28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키가 큰 민호(왼쪽)와 민호보다 키가 작은 지수(오른쪽)"/>
          <p:cNvSpPr/>
          <p:nvPr/>
        </p:nvSpPr>
        <p:spPr>
          <a:xfrm>
            <a:off x="8751728" y="2212417"/>
            <a:ext cx="166547" cy="957647"/>
          </a:xfrm>
          <a:custGeom>
            <a:avLst/>
            <a:gdLst/>
            <a:ahLst/>
            <a:cxnLst/>
            <a:rect l="l" t="t" r="r" b="b"/>
            <a:pathLst>
              <a:path w="166547" h="957647">
                <a:moveTo>
                  <a:pt x="0" y="957647"/>
                </a:moveTo>
                <a:lnTo>
                  <a:pt x="166547" y="957647"/>
                </a:lnTo>
                <a:lnTo>
                  <a:pt x="166547" y="0"/>
                </a:lnTo>
                <a:lnTo>
                  <a:pt x="0" y="0"/>
                </a:lnTo>
                <a:close/>
              </a:path>
            </a:pathLst>
          </a:custGeom>
          <a:solidFill>
            <a:srgbClr val="264653"/>
          </a:solidFill>
          <a:ln w="28575">
            <a:solidFill>
              <a:srgbClr val="1F2937"/>
            </a:solidFill>
            <a:prstDash val="solid"/>
          </a:ln>
        </p:spPr>
      </p:sp>
      <p:sp>
        <p:nvSpPr>
          <p:cNvPr id="6" name="S01-mark3"/>
          <p:cNvSpPr/>
          <p:nvPr/>
        </p:nvSpPr>
        <p:spPr>
          <a:xfrm>
            <a:off x="9022368" y="2212417"/>
            <a:ext cx="166547" cy="957647"/>
          </a:xfrm>
          <a:custGeom>
            <a:avLst/>
            <a:gdLst/>
            <a:ahLst/>
            <a:cxnLst/>
            <a:rect l="l" t="t" r="r" b="b"/>
            <a:pathLst>
              <a:path w="166547" h="957647">
                <a:moveTo>
                  <a:pt x="0" y="957647"/>
                </a:moveTo>
                <a:lnTo>
                  <a:pt x="166547" y="957647"/>
                </a:lnTo>
                <a:lnTo>
                  <a:pt x="166547" y="0"/>
                </a:lnTo>
                <a:lnTo>
                  <a:pt x="0" y="0"/>
                </a:lnTo>
                <a:close/>
              </a:path>
            </a:pathLst>
          </a:custGeom>
          <a:solidFill>
            <a:srgbClr val="264653"/>
          </a:solidFill>
          <a:ln w="28575">
            <a:solidFill>
              <a:srgbClr val="1F2937"/>
            </a:solidFill>
            <a:prstDash val="solid"/>
          </a:ln>
        </p:spPr>
      </p:sp>
      <p:sp>
        <p:nvSpPr>
          <p:cNvPr id="7" name="S01-mark4"/>
          <p:cNvSpPr/>
          <p:nvPr/>
        </p:nvSpPr>
        <p:spPr>
          <a:xfrm>
            <a:off x="8684068" y="1218337"/>
            <a:ext cx="572506" cy="994079"/>
          </a:xfrm>
          <a:custGeom>
            <a:avLst/>
            <a:gdLst/>
            <a:ahLst/>
            <a:cxnLst/>
            <a:rect l="l" t="t" r="r" b="b"/>
            <a:pathLst>
              <a:path w="572506" h="994079">
                <a:moveTo>
                  <a:pt x="0" y="994079"/>
                </a:moveTo>
                <a:lnTo>
                  <a:pt x="572506" y="994079"/>
                </a:lnTo>
                <a:lnTo>
                  <a:pt x="572506" y="0"/>
                </a:lnTo>
                <a:lnTo>
                  <a:pt x="0" y="0"/>
                </a:lnTo>
                <a:close/>
              </a:path>
            </a:pathLst>
          </a:custGeom>
          <a:solidFill>
            <a:srgbClr val="3D5A80"/>
          </a:solidFill>
          <a:ln w="28575">
            <a:solidFill>
              <a:srgbClr val="1F2937"/>
            </a:solidFill>
            <a:prstDash val="solid"/>
          </a:ln>
        </p:spPr>
      </p:sp>
      <p:sp>
        <p:nvSpPr>
          <p:cNvPr id="8" name="S01-mark5"/>
          <p:cNvSpPr/>
          <p:nvPr/>
        </p:nvSpPr>
        <p:spPr>
          <a:xfrm>
            <a:off x="10104925" y="2420601"/>
            <a:ext cx="166547" cy="749463"/>
          </a:xfrm>
          <a:custGeom>
            <a:avLst/>
            <a:gdLst/>
            <a:ahLst/>
            <a:cxnLst/>
            <a:rect l="l" t="t" r="r" b="b"/>
            <a:pathLst>
              <a:path w="166547" h="749463">
                <a:moveTo>
                  <a:pt x="0" y="749463"/>
                </a:moveTo>
                <a:lnTo>
                  <a:pt x="166547" y="749463"/>
                </a:lnTo>
                <a:lnTo>
                  <a:pt x="166547" y="0"/>
                </a:lnTo>
                <a:lnTo>
                  <a:pt x="0" y="0"/>
                </a:lnTo>
                <a:close/>
              </a:path>
            </a:pathLst>
          </a:custGeom>
          <a:solidFill>
            <a:srgbClr val="264653"/>
          </a:solidFill>
          <a:ln w="28575">
            <a:solidFill>
              <a:srgbClr val="1F2937"/>
            </a:solidFill>
            <a:prstDash val="solid"/>
          </a:ln>
        </p:spPr>
      </p:sp>
      <p:sp>
        <p:nvSpPr>
          <p:cNvPr id="9" name="S01-mark6"/>
          <p:cNvSpPr/>
          <p:nvPr/>
        </p:nvSpPr>
        <p:spPr>
          <a:xfrm>
            <a:off x="10375565" y="2420601"/>
            <a:ext cx="166547" cy="749463"/>
          </a:xfrm>
          <a:custGeom>
            <a:avLst/>
            <a:gdLst/>
            <a:ahLst/>
            <a:cxnLst/>
            <a:rect l="l" t="t" r="r" b="b"/>
            <a:pathLst>
              <a:path w="166547" h="749463">
                <a:moveTo>
                  <a:pt x="0" y="749463"/>
                </a:moveTo>
                <a:lnTo>
                  <a:pt x="166547" y="749463"/>
                </a:lnTo>
                <a:lnTo>
                  <a:pt x="166547" y="0"/>
                </a:lnTo>
                <a:lnTo>
                  <a:pt x="0" y="0"/>
                </a:lnTo>
                <a:close/>
              </a:path>
            </a:pathLst>
          </a:custGeom>
          <a:solidFill>
            <a:srgbClr val="264653"/>
          </a:solidFill>
          <a:ln w="28575">
            <a:solidFill>
              <a:srgbClr val="1F2937"/>
            </a:solidFill>
            <a:prstDash val="solid"/>
          </a:ln>
        </p:spPr>
      </p:sp>
      <p:sp>
        <p:nvSpPr>
          <p:cNvPr id="10" name="S01-mark7"/>
          <p:cNvSpPr/>
          <p:nvPr/>
        </p:nvSpPr>
        <p:spPr>
          <a:xfrm>
            <a:off x="10037265" y="1738798"/>
            <a:ext cx="572506" cy="681803"/>
          </a:xfrm>
          <a:custGeom>
            <a:avLst/>
            <a:gdLst/>
            <a:ahLst/>
            <a:cxnLst/>
            <a:rect l="l" t="t" r="r" b="b"/>
            <a:pathLst>
              <a:path w="572506" h="681803">
                <a:moveTo>
                  <a:pt x="0" y="681803"/>
                </a:moveTo>
                <a:lnTo>
                  <a:pt x="572506" y="681803"/>
                </a:lnTo>
                <a:lnTo>
                  <a:pt x="572506" y="0"/>
                </a:lnTo>
                <a:lnTo>
                  <a:pt x="0" y="0"/>
                </a:lnTo>
                <a:close/>
              </a:path>
            </a:pathLst>
          </a:custGeom>
          <a:solidFill>
            <a:srgbClr val="2A9D8F"/>
          </a:solidFill>
          <a:ln w="28575">
            <a:solidFill>
              <a:srgbClr val="1F2937"/>
            </a:solidFill>
            <a:prstDash val="solid"/>
          </a:ln>
        </p:spPr>
      </p:sp>
      <p:sp>
        <p:nvSpPr>
          <p:cNvPr id="11" name="S01-mark8"/>
          <p:cNvSpPr/>
          <p:nvPr/>
        </p:nvSpPr>
        <p:spPr>
          <a:xfrm>
            <a:off x="8762137" y="786355"/>
            <a:ext cx="416368" cy="416368"/>
          </a:xfrm>
          <a:prstGeom prst="ellipse">
            <a:avLst/>
          </a:prstGeom>
          <a:solidFill>
            <a:srgbClr val="F5D7B8"/>
          </a:solidFill>
          <a:ln w="28575">
            <a:solidFill>
              <a:srgbClr val="1F2937"/>
            </a:solidFill>
            <a:prstDash val="solid"/>
          </a:ln>
        </p:spPr>
      </p:sp>
      <p:sp>
        <p:nvSpPr>
          <p:cNvPr id="12" name="S01-mark9"/>
          <p:cNvSpPr/>
          <p:nvPr/>
        </p:nvSpPr>
        <p:spPr>
          <a:xfrm>
            <a:off x="10115334" y="1306816"/>
            <a:ext cx="416368" cy="416368"/>
          </a:xfrm>
          <a:prstGeom prst="ellipse">
            <a:avLst/>
          </a:prstGeom>
          <a:solidFill>
            <a:srgbClr val="F5D7B8"/>
          </a:solidFill>
          <a:ln w="28575">
            <a:solidFill>
              <a:srgbClr val="1F2937"/>
            </a:solidFill>
            <a:prstDash val="solid"/>
          </a:ln>
        </p:spPr>
      </p:sp>
      <p:sp>
        <p:nvSpPr>
          <p:cNvPr id="13" name="S01-mark10"/>
          <p:cNvSpPr/>
          <p:nvPr/>
        </p:nvSpPr>
        <p:spPr>
          <a:xfrm>
            <a:off x="8501907" y="3170064"/>
            <a:ext cx="2290026" cy="0"/>
          </a:xfrm>
          <a:prstGeom prst="line">
            <a:avLst/>
          </a:prstGeom>
          <a:noFill/>
          <a:ln w="25400">
            <a:solidFill>
              <a:srgbClr val="B8C2CC"/>
            </a:solidFill>
            <a:prstDash val="solid"/>
          </a:ln>
        </p:spPr>
      </p:sp>
      <p:sp>
        <p:nvSpPr>
          <p:cNvPr id="14" name="S01-label12"/>
          <p:cNvSpPr txBox="1"/>
          <p:nvPr/>
        </p:nvSpPr>
        <p:spPr>
          <a:xfrm>
            <a:off x="8474006" y="3307715"/>
            <a:ext cx="99263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Minho</a:t>
            </a:r>
            <a:endParaRPr lang="ko-KR" sz="2200" dirty="0"/>
          </a:p>
        </p:txBody>
      </p:sp>
      <p:sp>
        <p:nvSpPr>
          <p:cNvPr id="15" name="S01-label14"/>
          <p:cNvSpPr txBox="1"/>
          <p:nvPr/>
        </p:nvSpPr>
        <p:spPr>
          <a:xfrm>
            <a:off x="9941756" y="3307715"/>
            <a:ext cx="76352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Jisu</a:t>
            </a:r>
            <a:endParaRPr lang="ko-KR" sz="2200" dirty="0"/>
          </a:p>
        </p:txBody>
      </p:sp>
      <p:sp>
        <p:nvSpPr>
          <p:cNvPr id="16" name="S01-card15"/>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17" name="S01-cardtext16"/>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tall → taller처럼 비교하는 말을 바르게 만들어요.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A is taller than B.로 두 가지를 비교해요.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꾸미는 말 떠올리기</a:t>
            </a:r>
            <a:endParaRPr lang="ko-KR" sz="4000" dirty="0"/>
          </a:p>
        </p:txBody>
      </p:sp>
      <p:sp>
        <p:nvSpPr>
          <p:cNvPr id="3" name="S02-text1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①은 읽고 뜻을 말하고, ②는 영어로 말해요.</a:t>
            </a:r>
            <a:endParaRPr lang="ko-KR" sz="2800" dirty="0"/>
          </a:p>
        </p:txBody>
      </p:sp>
      <p:sp>
        <p:nvSpPr>
          <p:cNvPr id="4" name="S02-chip18"/>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19"/>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tall　short　big</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small　fast　old</a:t>
            </a:r>
            <a:endParaRPr lang="ko-KR" sz="2800" dirty="0"/>
          </a:p>
        </p:txBody>
      </p:sp>
      <p:sp>
        <p:nvSpPr>
          <p:cNvPr id="6" name="S02-chip20"/>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21"/>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아빠(엄마)는 키가 커요.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영어 한 문장으로 말해요.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taller than으로 비교해요</a:t>
            </a:r>
            <a:endParaRPr lang="ko-KR" sz="4000" dirty="0"/>
          </a:p>
        </p:txBody>
      </p:sp>
      <p:sp>
        <p:nvSpPr>
          <p:cNvPr id="3" name="S03-card22"/>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2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-er은 ‘더’, than은 ‘~보다’라는 뜻이에요.</a:t>
            </a:r>
            <a:endParaRPr lang="ko-KR" sz="2800" dirty="0"/>
          </a:p>
        </p:txBody>
      </p:sp>
      <p:sp>
        <p:nvSpPr>
          <p:cNvPr id="5" name="S03-figure24" descr="키가 큰 민호(왼쪽)와 민호보다 키가 작은 지수(오른쪽)"/>
          <p:cNvSpPr/>
          <p:nvPr/>
        </p:nvSpPr>
        <p:spPr>
          <a:xfrm>
            <a:off x="2255002" y="3342315"/>
            <a:ext cx="181417" cy="1043148"/>
          </a:xfrm>
          <a:custGeom>
            <a:avLst/>
            <a:gdLst/>
            <a:ahLst/>
            <a:cxnLst/>
            <a:rect l="l" t="t" r="r" b="b"/>
            <a:pathLst>
              <a:path w="181417" h="1043148">
                <a:moveTo>
                  <a:pt x="0" y="1043148"/>
                </a:moveTo>
                <a:lnTo>
                  <a:pt x="181417" y="1043148"/>
                </a:lnTo>
                <a:lnTo>
                  <a:pt x="181417" y="0"/>
                </a:lnTo>
                <a:lnTo>
                  <a:pt x="0" y="0"/>
                </a:lnTo>
                <a:close/>
              </a:path>
            </a:pathLst>
          </a:custGeom>
          <a:solidFill>
            <a:srgbClr val="264653"/>
          </a:solidFill>
          <a:ln w="28575">
            <a:solidFill>
              <a:srgbClr val="1F2937"/>
            </a:solidFill>
            <a:prstDash val="solid"/>
          </a:ln>
        </p:spPr>
      </p:sp>
      <p:sp>
        <p:nvSpPr>
          <p:cNvPr id="6" name="S03-mark25"/>
          <p:cNvSpPr/>
          <p:nvPr/>
        </p:nvSpPr>
        <p:spPr>
          <a:xfrm>
            <a:off x="2549804" y="3342315"/>
            <a:ext cx="181417" cy="1043148"/>
          </a:xfrm>
          <a:custGeom>
            <a:avLst/>
            <a:gdLst/>
            <a:ahLst/>
            <a:cxnLst/>
            <a:rect l="l" t="t" r="r" b="b"/>
            <a:pathLst>
              <a:path w="181417" h="1043148">
                <a:moveTo>
                  <a:pt x="0" y="1043148"/>
                </a:moveTo>
                <a:lnTo>
                  <a:pt x="181417" y="1043148"/>
                </a:lnTo>
                <a:lnTo>
                  <a:pt x="181417" y="0"/>
                </a:lnTo>
                <a:lnTo>
                  <a:pt x="0" y="0"/>
                </a:lnTo>
                <a:close/>
              </a:path>
            </a:pathLst>
          </a:custGeom>
          <a:solidFill>
            <a:srgbClr val="264653"/>
          </a:solidFill>
          <a:ln w="28575">
            <a:solidFill>
              <a:srgbClr val="1F2937"/>
            </a:solidFill>
            <a:prstDash val="solid"/>
          </a:ln>
        </p:spPr>
      </p:sp>
      <p:sp>
        <p:nvSpPr>
          <p:cNvPr id="7" name="S03-mark26"/>
          <p:cNvSpPr/>
          <p:nvPr/>
        </p:nvSpPr>
        <p:spPr>
          <a:xfrm>
            <a:off x="2181301" y="2259482"/>
            <a:ext cx="623621" cy="1082832"/>
          </a:xfrm>
          <a:custGeom>
            <a:avLst/>
            <a:gdLst/>
            <a:ahLst/>
            <a:cxnLst/>
            <a:rect l="l" t="t" r="r" b="b"/>
            <a:pathLst>
              <a:path w="623621" h="1082832">
                <a:moveTo>
                  <a:pt x="0" y="1082832"/>
                </a:moveTo>
                <a:lnTo>
                  <a:pt x="623621" y="1082832"/>
                </a:lnTo>
                <a:lnTo>
                  <a:pt x="623621" y="0"/>
                </a:lnTo>
                <a:lnTo>
                  <a:pt x="0" y="0"/>
                </a:lnTo>
                <a:close/>
              </a:path>
            </a:pathLst>
          </a:custGeom>
          <a:solidFill>
            <a:srgbClr val="3D5A80"/>
          </a:solidFill>
          <a:ln w="28575">
            <a:solidFill>
              <a:srgbClr val="1F2937"/>
            </a:solidFill>
            <a:prstDash val="solid"/>
          </a:ln>
        </p:spPr>
      </p:sp>
      <p:sp>
        <p:nvSpPr>
          <p:cNvPr id="8" name="S03-mark27"/>
          <p:cNvSpPr/>
          <p:nvPr/>
        </p:nvSpPr>
        <p:spPr>
          <a:xfrm>
            <a:off x="3729015" y="3569086"/>
            <a:ext cx="181417" cy="816376"/>
          </a:xfrm>
          <a:custGeom>
            <a:avLst/>
            <a:gdLst/>
            <a:ahLst/>
            <a:cxnLst/>
            <a:rect l="l" t="t" r="r" b="b"/>
            <a:pathLst>
              <a:path w="181417" h="816376">
                <a:moveTo>
                  <a:pt x="0" y="816376"/>
                </a:moveTo>
                <a:lnTo>
                  <a:pt x="181417" y="816376"/>
                </a:lnTo>
                <a:lnTo>
                  <a:pt x="181417" y="0"/>
                </a:lnTo>
                <a:lnTo>
                  <a:pt x="0" y="0"/>
                </a:lnTo>
                <a:close/>
              </a:path>
            </a:pathLst>
          </a:custGeom>
          <a:solidFill>
            <a:srgbClr val="264653"/>
          </a:solidFill>
          <a:ln w="28575">
            <a:solidFill>
              <a:srgbClr val="1F2937"/>
            </a:solidFill>
            <a:prstDash val="solid"/>
          </a:ln>
        </p:spPr>
      </p:sp>
      <p:sp>
        <p:nvSpPr>
          <p:cNvPr id="9" name="S03-mark28"/>
          <p:cNvSpPr/>
          <p:nvPr/>
        </p:nvSpPr>
        <p:spPr>
          <a:xfrm>
            <a:off x="4023817" y="3569086"/>
            <a:ext cx="181417" cy="816376"/>
          </a:xfrm>
          <a:custGeom>
            <a:avLst/>
            <a:gdLst/>
            <a:ahLst/>
            <a:cxnLst/>
            <a:rect l="l" t="t" r="r" b="b"/>
            <a:pathLst>
              <a:path w="181417" h="816376">
                <a:moveTo>
                  <a:pt x="0" y="816376"/>
                </a:moveTo>
                <a:lnTo>
                  <a:pt x="181417" y="816376"/>
                </a:lnTo>
                <a:lnTo>
                  <a:pt x="181417" y="0"/>
                </a:lnTo>
                <a:lnTo>
                  <a:pt x="0" y="0"/>
                </a:lnTo>
                <a:close/>
              </a:path>
            </a:pathLst>
          </a:custGeom>
          <a:solidFill>
            <a:srgbClr val="264653"/>
          </a:solidFill>
          <a:ln w="28575">
            <a:solidFill>
              <a:srgbClr val="1F2937"/>
            </a:solidFill>
            <a:prstDash val="solid"/>
          </a:ln>
        </p:spPr>
      </p:sp>
      <p:sp>
        <p:nvSpPr>
          <p:cNvPr id="10" name="S03-mark29"/>
          <p:cNvSpPr/>
          <p:nvPr/>
        </p:nvSpPr>
        <p:spPr>
          <a:xfrm>
            <a:off x="3655314" y="2826410"/>
            <a:ext cx="623621" cy="742676"/>
          </a:xfrm>
          <a:custGeom>
            <a:avLst/>
            <a:gdLst/>
            <a:ahLst/>
            <a:cxnLst/>
            <a:rect l="l" t="t" r="r" b="b"/>
            <a:pathLst>
              <a:path w="623621" h="742676">
                <a:moveTo>
                  <a:pt x="0" y="742676"/>
                </a:moveTo>
                <a:lnTo>
                  <a:pt x="623621" y="742676"/>
                </a:lnTo>
                <a:lnTo>
                  <a:pt x="623621" y="0"/>
                </a:lnTo>
                <a:lnTo>
                  <a:pt x="0" y="0"/>
                </a:lnTo>
                <a:close/>
              </a:path>
            </a:pathLst>
          </a:custGeom>
          <a:solidFill>
            <a:srgbClr val="2A9D8F"/>
          </a:solidFill>
          <a:ln w="28575">
            <a:solidFill>
              <a:srgbClr val="1F2937"/>
            </a:solidFill>
            <a:prstDash val="solid"/>
          </a:ln>
        </p:spPr>
      </p:sp>
      <p:sp>
        <p:nvSpPr>
          <p:cNvPr id="11" name="S03-mark30"/>
          <p:cNvSpPr/>
          <p:nvPr/>
        </p:nvSpPr>
        <p:spPr>
          <a:xfrm>
            <a:off x="2266340" y="1788932"/>
            <a:ext cx="453542" cy="453542"/>
          </a:xfrm>
          <a:prstGeom prst="ellipse">
            <a:avLst/>
          </a:prstGeom>
          <a:solidFill>
            <a:srgbClr val="F5D7B8"/>
          </a:solidFill>
          <a:ln w="28575">
            <a:solidFill>
              <a:srgbClr val="1F2937"/>
            </a:solidFill>
            <a:prstDash val="solid"/>
          </a:ln>
        </p:spPr>
      </p:sp>
      <p:sp>
        <p:nvSpPr>
          <p:cNvPr id="12" name="S03-mark31"/>
          <p:cNvSpPr/>
          <p:nvPr/>
        </p:nvSpPr>
        <p:spPr>
          <a:xfrm>
            <a:off x="3740353" y="2355860"/>
            <a:ext cx="453542" cy="453542"/>
          </a:xfrm>
          <a:prstGeom prst="ellipse">
            <a:avLst/>
          </a:prstGeom>
          <a:solidFill>
            <a:srgbClr val="F5D7B8"/>
          </a:solidFill>
          <a:ln w="28575">
            <a:solidFill>
              <a:srgbClr val="1F2937"/>
            </a:solidFill>
            <a:prstDash val="solid"/>
          </a:ln>
        </p:spPr>
      </p:sp>
      <p:sp>
        <p:nvSpPr>
          <p:cNvPr id="13" name="S03-mark32"/>
          <p:cNvSpPr/>
          <p:nvPr/>
        </p:nvSpPr>
        <p:spPr>
          <a:xfrm>
            <a:off x="1982876" y="4385462"/>
            <a:ext cx="2494483" cy="0"/>
          </a:xfrm>
          <a:prstGeom prst="line">
            <a:avLst/>
          </a:prstGeom>
          <a:noFill/>
          <a:ln w="25400">
            <a:solidFill>
              <a:srgbClr val="B8C2CC"/>
            </a:solidFill>
            <a:prstDash val="solid"/>
          </a:ln>
        </p:spPr>
      </p:sp>
      <p:sp>
        <p:nvSpPr>
          <p:cNvPr id="14" name="S03-label34"/>
          <p:cNvSpPr txBox="1"/>
          <p:nvPr/>
        </p:nvSpPr>
        <p:spPr>
          <a:xfrm>
            <a:off x="1996796" y="4550994"/>
            <a:ext cx="992632"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Minho</a:t>
            </a:r>
            <a:endParaRPr lang="ko-KR" sz="2200" dirty="0"/>
          </a:p>
        </p:txBody>
      </p:sp>
      <p:sp>
        <p:nvSpPr>
          <p:cNvPr id="15" name="S03-label36"/>
          <p:cNvSpPr txBox="1"/>
          <p:nvPr/>
        </p:nvSpPr>
        <p:spPr>
          <a:xfrm>
            <a:off x="3585362" y="4550994"/>
            <a:ext cx="763524"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Jisu</a:t>
            </a:r>
            <a:endParaRPr lang="ko-KR" sz="2200" dirty="0"/>
          </a:p>
        </p:txBody>
      </p:sp>
      <p:sp>
        <p:nvSpPr>
          <p:cNvPr id="16" name="S03-card37"/>
          <p:cNvSpPr/>
          <p:nvPr/>
        </p:nvSpPr>
        <p:spPr>
          <a:xfrm>
            <a:off x="6277356" y="1711960"/>
            <a:ext cx="5362956" cy="1180084"/>
          </a:xfrm>
          <a:prstGeom prst="roundRect">
            <a:avLst>
              <a:gd name="adj" fmla="val 9298"/>
            </a:avLst>
          </a:prstGeom>
          <a:solidFill>
            <a:srgbClr val="EAF3F1"/>
          </a:solidFill>
          <a:ln w="12700">
            <a:solidFill>
              <a:srgbClr val="EAF3F1"/>
            </a:solidFill>
            <a:prstDash val="solid"/>
          </a:ln>
        </p:spPr>
      </p:sp>
      <p:sp>
        <p:nvSpPr>
          <p:cNvPr id="17" name="S03-cardtext38"/>
          <p:cNvSpPr txBox="1"/>
          <p:nvPr/>
        </p:nvSpPr>
        <p:spPr>
          <a:xfrm>
            <a:off x="6551676" y="1849120"/>
            <a:ext cx="4814316" cy="905764"/>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Minho is tall.</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민호는 키가 커요.</a:t>
            </a:r>
            <a:endParaRPr lang="ko-KR" sz="2800" dirty="0"/>
          </a:p>
        </p:txBody>
      </p:sp>
      <p:sp>
        <p:nvSpPr>
          <p:cNvPr id="18" name="S03-card39"/>
          <p:cNvSpPr/>
          <p:nvPr/>
        </p:nvSpPr>
        <p:spPr>
          <a:xfrm>
            <a:off x="6277356" y="3120644"/>
            <a:ext cx="5362956" cy="1613916"/>
          </a:xfrm>
          <a:prstGeom prst="roundRect">
            <a:avLst>
              <a:gd name="adj" fmla="val 6799"/>
            </a:avLst>
          </a:prstGeom>
          <a:solidFill>
            <a:srgbClr val="EAF3F1"/>
          </a:solidFill>
          <a:ln w="12700">
            <a:solidFill>
              <a:srgbClr val="EAF3F1"/>
            </a:solidFill>
            <a:prstDash val="solid"/>
          </a:ln>
        </p:spPr>
      </p:sp>
      <p:sp>
        <p:nvSpPr>
          <p:cNvPr id="19" name="S03-cardtext40"/>
          <p:cNvSpPr txBox="1"/>
          <p:nvPr/>
        </p:nvSpPr>
        <p:spPr>
          <a:xfrm>
            <a:off x="6551676" y="3257804"/>
            <a:ext cx="4814316" cy="1339596"/>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Minho is taller than Jisu.</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민호는 지수보다 키가 더 커요.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-er을 붙여요</a:t>
            </a:r>
            <a:endParaRPr lang="ko-KR" sz="4000" dirty="0"/>
          </a:p>
        </p:txBody>
      </p:sp>
      <p:sp>
        <p:nvSpPr>
          <p:cNvPr id="3" name="S04-card4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대부분 낱말은 끝에 -er만 붙여요.</a:t>
            </a:r>
            <a:endParaRPr lang="ko-KR" sz="2800" dirty="0"/>
          </a:p>
        </p:txBody>
      </p:sp>
      <p:graphicFrame>
        <p:nvGraphicFramePr>
          <p:cNvPr id="5" name="S04-table43"/>
          <p:cNvGraphicFramePr>
            <a:graphicFrameLocks noGrp="1"/>
          </p:cNvGraphicFramePr>
          <p:nvPr>
            <p:extLst>
              <p:ext uri="{D42A27DB-BD31-4B8C-83A1-F6EECF244321}">
                <p14:modId xmlns:p14="http://schemas.microsoft.com/office/powerpoint/2010/main" val="1579011935"/>
              </p:ext>
            </p:extLst>
          </p:nvPr>
        </p:nvGraphicFramePr>
        <p:xfrm>
          <a:off x="1522476" y="1871472"/>
          <a:ext cx="9144000" cy="914400"/>
        </p:xfrm>
        <a:graphic>
          <a:graphicData uri="http://schemas.openxmlformats.org/drawingml/2006/table">
            <a:tbl>
              <a:tblPr/>
              <a:tblGrid>
                <a:gridCol w="2560320"/>
                <a:gridCol w="3108960"/>
                <a:gridCol w="3474720"/>
              </a:tblGrid>
              <a:tr h="450596">
                <a:tc>
                  <a:txBody>
                    <a:bodyPr/>
                    <a:lstStyle/>
                    <a:p>
                      <a:pPr eaLnBrk="0" algn="ctr" indent="0" marL="0">
                        <a:buNone/>
                      </a:pPr>
                      <a:r>
                        <a:rPr lang="en-US" sz="2200" b="1" dirty="0">
                          <a:solidFill>
                            <a:srgbClr val="1F2937"/>
                          </a:solidFill>
                          <a:latin typeface="맑은 고딕" pitchFamily="34" charset="0"/>
                          <a:ea typeface="맑은 고딕" pitchFamily="34" charset="-122"/>
                          <a:cs typeface="맑은 고딕" pitchFamily="34" charset="-120"/>
                        </a:rPr>
                        <a:t>낱말</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200" b="1" dirty="0">
                          <a:solidFill>
                            <a:srgbClr val="1F2937"/>
                          </a:solidFill>
                          <a:latin typeface="맑은 고딕" pitchFamily="34" charset="0"/>
                          <a:ea typeface="맑은 고딕" pitchFamily="34" charset="-122"/>
                          <a:cs typeface="맑은 고딕" pitchFamily="34" charset="-120"/>
                        </a:rPr>
                        <a:t>비교하는 말</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200" b="1" dirty="0">
                          <a:solidFill>
                            <a:srgbClr val="1F2937"/>
                          </a:solidFill>
                          <a:latin typeface="맑은 고딕" pitchFamily="34" charset="0"/>
                          <a:ea typeface="맑은 고딕" pitchFamily="34" charset="-122"/>
                          <a:cs typeface="맑은 고딕" pitchFamily="34" charset="-120"/>
                        </a:rPr>
                        <a:t>뜻</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450596">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tall</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taller</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키가 더 큰</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50596">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short</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shorter</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키가 더 작은</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50596">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small</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smaller</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더 작은</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50596">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fast</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faster</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더 빠른</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50596">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old</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older</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200" dirty="0">
                          <a:solidFill>
                            <a:srgbClr val="1F2937"/>
                          </a:solidFill>
                          <a:latin typeface="맑은 고딕" pitchFamily="34" charset="0"/>
                          <a:ea typeface="맑은 고딕" pitchFamily="34" charset="-122"/>
                          <a:cs typeface="맑은 고딕" pitchFamily="34" charset="-120"/>
                        </a:rPr>
                        <a:t>나이가 더 많은</a:t>
                      </a:r>
                      <a:endParaRPr lang="en-US" sz="2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big은 bigger</a:t>
            </a:r>
            <a:endParaRPr lang="ko-KR" sz="4000" dirty="0"/>
          </a:p>
        </p:txBody>
      </p:sp>
      <p:sp>
        <p:nvSpPr>
          <p:cNvPr id="3" name="S05-card4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5-cardtext4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big → bigger　(biger ×)</a:t>
            </a:r>
            <a:endParaRPr lang="ko-KR" sz="2800" dirty="0"/>
          </a:p>
        </p:txBody>
      </p:sp>
      <p:sp>
        <p:nvSpPr>
          <p:cNvPr id="5" name="S05-tile46"/>
          <p:cNvSpPr txBox="1"/>
          <p:nvPr/>
        </p:nvSpPr>
        <p:spPr>
          <a:xfrm>
            <a:off x="6920911" y="2913797"/>
            <a:ext cx="618927" cy="618927"/>
          </a:xfrm>
          <a:prstGeom prst="roundRect">
            <a:avLst>
              <a:gd name="adj" fmla="val 20684"/>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b</a:t>
            </a:r>
            <a:endParaRPr lang="ko-KR" sz="2700" dirty="0"/>
          </a:p>
        </p:txBody>
      </p:sp>
      <p:sp>
        <p:nvSpPr>
          <p:cNvPr id="6" name="S05-tile47"/>
          <p:cNvSpPr txBox="1"/>
          <p:nvPr/>
        </p:nvSpPr>
        <p:spPr>
          <a:xfrm>
            <a:off x="7741006" y="2913797"/>
            <a:ext cx="618927" cy="618927"/>
          </a:xfrm>
          <a:prstGeom prst="roundRect">
            <a:avLst>
              <a:gd name="adj" fmla="val 20684"/>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i</a:t>
            </a:r>
            <a:endParaRPr lang="ko-KR" sz="2700" dirty="0"/>
          </a:p>
        </p:txBody>
      </p:sp>
      <p:sp>
        <p:nvSpPr>
          <p:cNvPr id="7" name="S05-tile48"/>
          <p:cNvSpPr txBox="1"/>
          <p:nvPr/>
        </p:nvSpPr>
        <p:spPr>
          <a:xfrm>
            <a:off x="8561100" y="2913797"/>
            <a:ext cx="618927" cy="618927"/>
          </a:xfrm>
          <a:prstGeom prst="roundRect">
            <a:avLst>
              <a:gd name="adj" fmla="val 20684"/>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g</a:t>
            </a:r>
            <a:endParaRPr lang="ko-KR" sz="2700" dirty="0"/>
          </a:p>
        </p:txBody>
      </p:sp>
      <p:sp>
        <p:nvSpPr>
          <p:cNvPr id="8" name="S05-tile49"/>
          <p:cNvSpPr txBox="1"/>
          <p:nvPr/>
        </p:nvSpPr>
        <p:spPr>
          <a:xfrm>
            <a:off x="9381195" y="2913797"/>
            <a:ext cx="618927" cy="618927"/>
          </a:xfrm>
          <a:prstGeom prst="roundRect">
            <a:avLst>
              <a:gd name="adj" fmla="val 20684"/>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g</a:t>
            </a:r>
            <a:endParaRPr lang="ko-KR" sz="2700" dirty="0"/>
          </a:p>
        </p:txBody>
      </p:sp>
      <p:sp>
        <p:nvSpPr>
          <p:cNvPr id="9" name="S05-tile50"/>
          <p:cNvSpPr txBox="1"/>
          <p:nvPr/>
        </p:nvSpPr>
        <p:spPr>
          <a:xfrm>
            <a:off x="10201290" y="2913797"/>
            <a:ext cx="618927" cy="618927"/>
          </a:xfrm>
          <a:prstGeom prst="roundRect">
            <a:avLst>
              <a:gd name="adj" fmla="val 20684"/>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e</a:t>
            </a:r>
            <a:endParaRPr lang="ko-KR" sz="2700" dirty="0"/>
          </a:p>
        </p:txBody>
      </p:sp>
      <p:sp>
        <p:nvSpPr>
          <p:cNvPr id="10" name="S05-tile51"/>
          <p:cNvSpPr txBox="1"/>
          <p:nvPr/>
        </p:nvSpPr>
        <p:spPr>
          <a:xfrm>
            <a:off x="11021385" y="2913797"/>
            <a:ext cx="618927" cy="618927"/>
          </a:xfrm>
          <a:prstGeom prst="roundRect">
            <a:avLst>
              <a:gd name="adj" fmla="val 20684"/>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700" b="1" dirty="0">
                <a:solidFill>
                  <a:srgbClr val="1F2937"/>
                </a:solidFill>
                <a:latin typeface="맑은 고딕" pitchFamily="34" charset="0"/>
                <a:ea typeface="맑은 고딕" pitchFamily="34" charset="-122"/>
                <a:cs typeface="맑은 고딕" pitchFamily="34" charset="-120"/>
              </a:rPr>
              <a:t>r</a:t>
            </a:r>
            <a:endParaRPr lang="ko-KR" sz="2700" dirty="0"/>
          </a:p>
        </p:txBody>
      </p:sp>
      <p:sp>
        <p:nvSpPr>
          <p:cNvPr id="11" name="S05-stepno52"/>
          <p:cNvSpPr txBox="1"/>
          <p:nvPr/>
        </p:nvSpPr>
        <p:spPr>
          <a:xfrm>
            <a:off x="548640" y="212191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12" name="S05-text53"/>
          <p:cNvSpPr txBox="1"/>
          <p:nvPr/>
        </p:nvSpPr>
        <p:spPr>
          <a:xfrm>
            <a:off x="1325880" y="2076196"/>
            <a:ext cx="5229271"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big은 모음 i 하나 + 자음 g 하나로 끝나요.</a:t>
            </a:r>
            <a:endParaRPr lang="ko-KR" sz="2800" dirty="0"/>
          </a:p>
        </p:txBody>
      </p:sp>
      <p:sp>
        <p:nvSpPr>
          <p:cNvPr id="13" name="S05-stepno54"/>
          <p:cNvSpPr txBox="1"/>
          <p:nvPr/>
        </p:nvSpPr>
        <p:spPr>
          <a:xfrm>
            <a:off x="548640" y="310845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4" name="S05-text55"/>
          <p:cNvSpPr txBox="1"/>
          <p:nvPr/>
        </p:nvSpPr>
        <p:spPr>
          <a:xfrm>
            <a:off x="1325880" y="3108452"/>
            <a:ext cx="5229271"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끝 자음 g를 한 번 더 써요.</a:t>
            </a:r>
            <a:endParaRPr lang="ko-KR" sz="2800" dirty="0"/>
          </a:p>
        </p:txBody>
      </p:sp>
      <p:sp>
        <p:nvSpPr>
          <p:cNvPr id="15" name="S05-stepno56"/>
          <p:cNvSpPr txBox="1"/>
          <p:nvPr/>
        </p:nvSpPr>
        <p:spPr>
          <a:xfrm>
            <a:off x="548640" y="38216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6" name="S05-text57"/>
          <p:cNvSpPr txBox="1"/>
          <p:nvPr/>
        </p:nvSpPr>
        <p:spPr>
          <a:xfrm>
            <a:off x="1325880" y="3821684"/>
            <a:ext cx="5229271"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그다음 -er을 붙여요.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bigger와 smaller</a:t>
            </a:r>
            <a:endParaRPr lang="ko-KR" sz="4000" dirty="0"/>
          </a:p>
        </p:txBody>
      </p:sp>
      <p:sp>
        <p:nvSpPr>
          <p:cNvPr id="3" name="S06-card5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5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앞에 오는 것이 더 크면 bigger, 더 작으면 smaller</a:t>
            </a:r>
            <a:endParaRPr lang="ko-KR" sz="2800" dirty="0"/>
          </a:p>
        </p:txBody>
      </p:sp>
      <p:sp>
        <p:nvSpPr>
          <p:cNvPr id="5" name="S06-figure60" descr="큰 농구공(왼쪽, 지름 2.4칸)과 훨씬 작은 테니스공(오른쪽, 지름 0.68칸)"/>
          <p:cNvSpPr/>
          <p:nvPr/>
        </p:nvSpPr>
        <p:spPr>
          <a:xfrm>
            <a:off x="1270376" y="2372868"/>
            <a:ext cx="1360627" cy="1360627"/>
          </a:xfrm>
          <a:prstGeom prst="ellipse">
            <a:avLst/>
          </a:prstGeom>
          <a:solidFill>
            <a:srgbClr val="E9762B"/>
          </a:solidFill>
          <a:ln w="28575">
            <a:solidFill>
              <a:srgbClr val="1F2937"/>
            </a:solidFill>
            <a:prstDash val="solid"/>
          </a:ln>
        </p:spPr>
      </p:sp>
      <p:sp>
        <p:nvSpPr>
          <p:cNvPr id="6" name="S06-mark61"/>
          <p:cNvSpPr/>
          <p:nvPr/>
        </p:nvSpPr>
        <p:spPr>
          <a:xfrm>
            <a:off x="3685489" y="3347984"/>
            <a:ext cx="385511" cy="385511"/>
          </a:xfrm>
          <a:prstGeom prst="ellipse">
            <a:avLst/>
          </a:prstGeom>
          <a:solidFill>
            <a:srgbClr val="D4E157"/>
          </a:solidFill>
          <a:ln w="28575">
            <a:solidFill>
              <a:srgbClr val="1F2937"/>
            </a:solidFill>
            <a:prstDash val="solid"/>
          </a:ln>
        </p:spPr>
      </p:sp>
      <p:sp>
        <p:nvSpPr>
          <p:cNvPr id="7" name="S06-mark62"/>
          <p:cNvSpPr/>
          <p:nvPr/>
        </p:nvSpPr>
        <p:spPr>
          <a:xfrm>
            <a:off x="1270376" y="3053182"/>
            <a:ext cx="1360627" cy="0"/>
          </a:xfrm>
          <a:prstGeom prst="line">
            <a:avLst/>
          </a:prstGeom>
          <a:noFill/>
          <a:ln w="19050">
            <a:solidFill>
              <a:srgbClr val="1F2937"/>
            </a:solidFill>
            <a:prstDash val="solid"/>
          </a:ln>
        </p:spPr>
      </p:sp>
      <p:sp>
        <p:nvSpPr>
          <p:cNvPr id="8" name="S06-mark63"/>
          <p:cNvSpPr/>
          <p:nvPr/>
        </p:nvSpPr>
        <p:spPr>
          <a:xfrm flipV="1">
            <a:off x="1950690" y="2372868"/>
            <a:ext cx="0" cy="1360627"/>
          </a:xfrm>
          <a:prstGeom prst="line">
            <a:avLst/>
          </a:prstGeom>
          <a:noFill/>
          <a:ln w="19050">
            <a:solidFill>
              <a:srgbClr val="1F2937"/>
            </a:solidFill>
            <a:prstDash val="solid"/>
          </a:ln>
        </p:spPr>
      </p:sp>
      <p:sp>
        <p:nvSpPr>
          <p:cNvPr id="9" name="S06-mark64"/>
          <p:cNvSpPr/>
          <p:nvPr/>
        </p:nvSpPr>
        <p:spPr>
          <a:xfrm>
            <a:off x="1043605" y="3733495"/>
            <a:ext cx="3514954" cy="0"/>
          </a:xfrm>
          <a:prstGeom prst="line">
            <a:avLst/>
          </a:prstGeom>
          <a:noFill/>
          <a:ln w="25400">
            <a:solidFill>
              <a:srgbClr val="B8C2CC"/>
            </a:solidFill>
            <a:prstDash val="solid"/>
          </a:ln>
        </p:spPr>
      </p:sp>
      <p:sp>
        <p:nvSpPr>
          <p:cNvPr id="10" name="S06-label66"/>
          <p:cNvSpPr txBox="1"/>
          <p:nvPr/>
        </p:nvSpPr>
        <p:spPr>
          <a:xfrm>
            <a:off x="1113506" y="3899027"/>
            <a:ext cx="1674368"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basketball</a:t>
            </a:r>
            <a:endParaRPr lang="ko-KR" sz="2200" dirty="0"/>
          </a:p>
        </p:txBody>
      </p:sp>
      <p:sp>
        <p:nvSpPr>
          <p:cNvPr id="11" name="S06-label68"/>
          <p:cNvSpPr txBox="1"/>
          <p:nvPr/>
        </p:nvSpPr>
        <p:spPr>
          <a:xfrm>
            <a:off x="2999151" y="3899027"/>
            <a:ext cx="1758188" cy="34925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tennis ball</a:t>
            </a:r>
            <a:endParaRPr lang="ko-KR" sz="2200" dirty="0"/>
          </a:p>
        </p:txBody>
      </p:sp>
      <p:sp>
        <p:nvSpPr>
          <p:cNvPr id="12" name="S06-card69"/>
          <p:cNvSpPr/>
          <p:nvPr/>
        </p:nvSpPr>
        <p:spPr>
          <a:xfrm>
            <a:off x="5419283" y="1495044"/>
            <a:ext cx="6221029" cy="1613916"/>
          </a:xfrm>
          <a:prstGeom prst="roundRect">
            <a:avLst>
              <a:gd name="adj" fmla="val 6799"/>
            </a:avLst>
          </a:prstGeom>
          <a:solidFill>
            <a:srgbClr val="EAF3F1"/>
          </a:solidFill>
          <a:ln w="12700">
            <a:solidFill>
              <a:srgbClr val="EAF3F1"/>
            </a:solidFill>
            <a:prstDash val="solid"/>
          </a:ln>
        </p:spPr>
      </p:sp>
      <p:sp>
        <p:nvSpPr>
          <p:cNvPr id="13" name="S06-cardtext70"/>
          <p:cNvSpPr txBox="1"/>
          <p:nvPr/>
        </p:nvSpPr>
        <p:spPr>
          <a:xfrm>
            <a:off x="5693603" y="1632204"/>
            <a:ext cx="5672389" cy="1339596"/>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The basketball is bigger than the tennis ball.</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농구공이 테니스공보다 더 커요.</a:t>
            </a:r>
            <a:endParaRPr lang="ko-KR" sz="2800" dirty="0"/>
          </a:p>
        </p:txBody>
      </p:sp>
      <p:sp>
        <p:nvSpPr>
          <p:cNvPr id="14" name="S06-card71"/>
          <p:cNvSpPr/>
          <p:nvPr/>
        </p:nvSpPr>
        <p:spPr>
          <a:xfrm>
            <a:off x="5419283" y="3337560"/>
            <a:ext cx="6221029" cy="1613916"/>
          </a:xfrm>
          <a:prstGeom prst="roundRect">
            <a:avLst>
              <a:gd name="adj" fmla="val 6799"/>
            </a:avLst>
          </a:prstGeom>
          <a:solidFill>
            <a:srgbClr val="EAF3F1"/>
          </a:solidFill>
          <a:ln w="12700">
            <a:solidFill>
              <a:srgbClr val="EAF3F1"/>
            </a:solidFill>
            <a:prstDash val="solid"/>
          </a:ln>
        </p:spPr>
      </p:sp>
      <p:sp>
        <p:nvSpPr>
          <p:cNvPr id="15" name="S06-cardtext72"/>
          <p:cNvSpPr txBox="1"/>
          <p:nvPr/>
        </p:nvSpPr>
        <p:spPr>
          <a:xfrm>
            <a:off x="5693603" y="3474720"/>
            <a:ext cx="5672389" cy="1339596"/>
          </a:xfrm>
          <a:prstGeom prst="rect">
            <a:avLst/>
          </a:prstGeom>
          <a:noFill/>
          <a:ln/>
        </p:spPr>
        <p:txBody>
          <a:bodyPr wrap="square" lIns="0" tIns="0" rIns="0" bIns="0" rtlCol="0" anchor="ctr"/>
          <a:lstStyle/>
          <a:p>
            <a:pPr eaLnBrk="0" indent="0" marL="0">
              <a:spcAft>
                <a:spcPts val="600"/>
              </a:spcAft>
              <a:buNone/>
            </a:pPr>
            <a:r>
              <a:rPr lang="en-US" altLang="ko-KR" sz="2800" b="1" dirty="0">
                <a:solidFill>
                  <a:srgbClr val="1F2937"/>
                </a:solidFill>
                <a:latin typeface="맑은 고딕" pitchFamily="34" charset="0"/>
                <a:ea typeface="맑은 고딕" pitchFamily="34" charset="-122"/>
                <a:cs typeface="맑은 고딕" pitchFamily="34" charset="-120"/>
              </a:rPr>
              <a:t>The tennis ball is smaller than the basketball.</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테니스공이 농구공보다 더 작아요.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비교하는 말 만들기</a:t>
            </a:r>
            <a:endParaRPr lang="ko-KR" sz="4000" dirty="0"/>
          </a:p>
        </p:txBody>
      </p:sp>
      <p:sp>
        <p:nvSpPr>
          <p:cNvPr id="3" name="S07-text7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-er을 붙여 말하고, 철자도 말해요.</a:t>
            </a:r>
            <a:endParaRPr lang="ko-KR" sz="2800" dirty="0"/>
          </a:p>
        </p:txBody>
      </p:sp>
      <p:sp>
        <p:nvSpPr>
          <p:cNvPr id="4" name="S07-card74"/>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7-cardtext7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끝이 ‘모음 하나 + 자음 하나’인 짧은 낱말은?</a:t>
            </a:r>
            <a:endParaRPr lang="ko-KR" sz="2800" dirty="0"/>
          </a:p>
        </p:txBody>
      </p:sp>
      <p:sp>
        <p:nvSpPr>
          <p:cNvPr id="6" name="S07-chip7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7" name="S07-text77"/>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short → ______</a:t>
            </a:r>
            <a:endParaRPr lang="ko-KR" sz="2800" dirty="0"/>
          </a:p>
        </p:txBody>
      </p:sp>
      <p:sp>
        <p:nvSpPr>
          <p:cNvPr id="8" name="S07-chip78"/>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9" name="S07-text79"/>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big → ______</a:t>
            </a:r>
            <a:endParaRPr lang="ko-KR" sz="2800" dirty="0"/>
          </a:p>
        </p:txBody>
      </p:sp>
      <p:sp>
        <p:nvSpPr>
          <p:cNvPr id="10" name="S07-chip80"/>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1" name="S07-text81"/>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old → ______</a:t>
            </a:r>
            <a:endParaRPr lang="ko-KR" sz="2800" dirty="0"/>
          </a:p>
        </p:txBody>
      </p:sp>
      <p:sp>
        <p:nvSpPr>
          <p:cNvPr id="12" name="S07-chip82"/>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3" name="S07-text83"/>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fast → ______</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08-text8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그림과 나이를 보고 알맞은 말을 넣어 말해요.</a:t>
            </a:r>
            <a:endParaRPr lang="ko-KR" sz="2800" dirty="0"/>
          </a:p>
        </p:txBody>
      </p:sp>
      <p:sp>
        <p:nvSpPr>
          <p:cNvPr id="4" name="S08-figure85" descr="키가 큰 나무(높이 4.6칸)"/>
          <p:cNvSpPr/>
          <p:nvPr/>
        </p:nvSpPr>
        <p:spPr>
          <a:xfrm>
            <a:off x="7381613" y="3643015"/>
            <a:ext cx="312944" cy="1564721"/>
          </a:xfrm>
          <a:custGeom>
            <a:avLst/>
            <a:gdLst/>
            <a:ahLst/>
            <a:cxnLst/>
            <a:rect l="l" t="t" r="r" b="b"/>
            <a:pathLst>
              <a:path w="312944" h="1564721">
                <a:moveTo>
                  <a:pt x="0" y="1564721"/>
                </a:moveTo>
                <a:lnTo>
                  <a:pt x="312944" y="1564721"/>
                </a:lnTo>
                <a:lnTo>
                  <a:pt x="312944" y="0"/>
                </a:lnTo>
                <a:lnTo>
                  <a:pt x="0" y="0"/>
                </a:lnTo>
                <a:close/>
              </a:path>
            </a:pathLst>
          </a:custGeom>
          <a:solidFill>
            <a:srgbClr val="8B5E3C"/>
          </a:solidFill>
          <a:ln w="28575">
            <a:solidFill>
              <a:srgbClr val="1F2937"/>
            </a:solidFill>
            <a:prstDash val="solid"/>
          </a:ln>
        </p:spPr>
      </p:sp>
      <p:sp>
        <p:nvSpPr>
          <p:cNvPr id="5" name="S08-mark86"/>
          <p:cNvSpPr/>
          <p:nvPr/>
        </p:nvSpPr>
        <p:spPr>
          <a:xfrm>
            <a:off x="6886118" y="2599868"/>
            <a:ext cx="1303934" cy="1303934"/>
          </a:xfrm>
          <a:prstGeom prst="ellipse">
            <a:avLst/>
          </a:prstGeom>
          <a:solidFill>
            <a:srgbClr val="2E9E44"/>
          </a:solidFill>
          <a:ln w="28575">
            <a:solidFill>
              <a:srgbClr val="1F2937"/>
            </a:solidFill>
            <a:prstDash val="solid"/>
          </a:ln>
        </p:spPr>
      </p:sp>
      <p:sp>
        <p:nvSpPr>
          <p:cNvPr id="6" name="S08-mark87"/>
          <p:cNvSpPr/>
          <p:nvPr/>
        </p:nvSpPr>
        <p:spPr>
          <a:xfrm>
            <a:off x="6801079" y="5207737"/>
            <a:ext cx="1474013" cy="0"/>
          </a:xfrm>
          <a:prstGeom prst="line">
            <a:avLst/>
          </a:prstGeom>
          <a:noFill/>
          <a:ln w="25400">
            <a:solidFill>
              <a:srgbClr val="B8C2CC"/>
            </a:solidFill>
            <a:prstDash val="solid"/>
          </a:ln>
        </p:spPr>
      </p:sp>
      <p:sp>
        <p:nvSpPr>
          <p:cNvPr id="7" name="S08-label88"/>
          <p:cNvSpPr txBox="1"/>
          <p:nvPr/>
        </p:nvSpPr>
        <p:spPr>
          <a:xfrm>
            <a:off x="6277356" y="5840730"/>
            <a:ext cx="2521458"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tree</a:t>
            </a:r>
            <a:endParaRPr lang="ko-KR" sz="2200" dirty="0"/>
          </a:p>
        </p:txBody>
      </p:sp>
      <p:sp>
        <p:nvSpPr>
          <p:cNvPr id="8" name="S08-figure89" descr="나무보다 낮은 집(높이 2.6칸)"/>
          <p:cNvSpPr/>
          <p:nvPr/>
        </p:nvSpPr>
        <p:spPr>
          <a:xfrm>
            <a:off x="9812655" y="4293849"/>
            <a:ext cx="1133856" cy="913888"/>
          </a:xfrm>
          <a:custGeom>
            <a:avLst/>
            <a:gdLst/>
            <a:ahLst/>
            <a:cxnLst/>
            <a:rect l="l" t="t" r="r" b="b"/>
            <a:pathLst>
              <a:path w="1133856" h="913888">
                <a:moveTo>
                  <a:pt x="0" y="913888"/>
                </a:moveTo>
                <a:lnTo>
                  <a:pt x="1133856" y="913888"/>
                </a:lnTo>
                <a:lnTo>
                  <a:pt x="1133856" y="0"/>
                </a:lnTo>
                <a:lnTo>
                  <a:pt x="0" y="0"/>
                </a:lnTo>
                <a:close/>
              </a:path>
            </a:pathLst>
          </a:custGeom>
          <a:solidFill>
            <a:srgbClr val="F2C14E"/>
          </a:solidFill>
          <a:ln w="28575">
            <a:solidFill>
              <a:srgbClr val="1F2937"/>
            </a:solidFill>
            <a:prstDash val="solid"/>
          </a:ln>
        </p:spPr>
      </p:sp>
      <p:sp>
        <p:nvSpPr>
          <p:cNvPr id="9" name="S08-mark90"/>
          <p:cNvSpPr/>
          <p:nvPr/>
        </p:nvSpPr>
        <p:spPr>
          <a:xfrm>
            <a:off x="9699269" y="3733724"/>
            <a:ext cx="1360627" cy="560125"/>
          </a:xfrm>
          <a:custGeom>
            <a:avLst/>
            <a:gdLst/>
            <a:ahLst/>
            <a:cxnLst/>
            <a:rect l="l" t="t" r="r" b="b"/>
            <a:pathLst>
              <a:path w="1360627" h="560125">
                <a:moveTo>
                  <a:pt x="0" y="560125"/>
                </a:moveTo>
                <a:lnTo>
                  <a:pt x="1360627" y="560125"/>
                </a:lnTo>
                <a:lnTo>
                  <a:pt x="680314" y="0"/>
                </a:lnTo>
                <a:close/>
              </a:path>
            </a:pathLst>
          </a:custGeom>
          <a:solidFill>
            <a:srgbClr val="C8434E"/>
          </a:solidFill>
          <a:ln w="28575">
            <a:solidFill>
              <a:srgbClr val="1F2937"/>
            </a:solidFill>
            <a:prstDash val="solid"/>
          </a:ln>
        </p:spPr>
      </p:sp>
      <p:sp>
        <p:nvSpPr>
          <p:cNvPr id="10" name="S08-mark91"/>
          <p:cNvSpPr/>
          <p:nvPr/>
        </p:nvSpPr>
        <p:spPr>
          <a:xfrm>
            <a:off x="10254859" y="4754194"/>
            <a:ext cx="249448" cy="453542"/>
          </a:xfrm>
          <a:custGeom>
            <a:avLst/>
            <a:gdLst/>
            <a:ahLst/>
            <a:cxnLst/>
            <a:rect l="l" t="t" r="r" b="b"/>
            <a:pathLst>
              <a:path w="249448" h="453542">
                <a:moveTo>
                  <a:pt x="0" y="453542"/>
                </a:moveTo>
                <a:lnTo>
                  <a:pt x="249448" y="453542"/>
                </a:lnTo>
                <a:lnTo>
                  <a:pt x="249448" y="0"/>
                </a:lnTo>
                <a:lnTo>
                  <a:pt x="0" y="0"/>
                </a:lnTo>
                <a:close/>
              </a:path>
            </a:pathLst>
          </a:custGeom>
          <a:solidFill>
            <a:srgbClr val="8B5E3C"/>
          </a:solidFill>
          <a:ln w="28575">
            <a:solidFill>
              <a:srgbClr val="1F2937"/>
            </a:solidFill>
            <a:prstDash val="solid"/>
          </a:ln>
        </p:spPr>
      </p:sp>
      <p:sp>
        <p:nvSpPr>
          <p:cNvPr id="11" name="S08-mark92"/>
          <p:cNvSpPr/>
          <p:nvPr/>
        </p:nvSpPr>
        <p:spPr>
          <a:xfrm>
            <a:off x="9642577" y="5207737"/>
            <a:ext cx="1474013" cy="0"/>
          </a:xfrm>
          <a:prstGeom prst="line">
            <a:avLst/>
          </a:prstGeom>
          <a:noFill/>
          <a:ln w="25400">
            <a:solidFill>
              <a:srgbClr val="B8C2CC"/>
            </a:solidFill>
            <a:prstDash val="solid"/>
          </a:ln>
        </p:spPr>
      </p:sp>
      <p:sp>
        <p:nvSpPr>
          <p:cNvPr id="12" name="S08-label93"/>
          <p:cNvSpPr txBox="1"/>
          <p:nvPr/>
        </p:nvSpPr>
        <p:spPr>
          <a:xfrm>
            <a:off x="9118854" y="5840730"/>
            <a:ext cx="2521458"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house</a:t>
            </a:r>
            <a:endParaRPr lang="ko-KR" sz="2200" dirty="0"/>
          </a:p>
        </p:txBody>
      </p:sp>
      <p:sp>
        <p:nvSpPr>
          <p:cNvPr id="13" name="S08-chip9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14" name="S08-text95"/>
          <p:cNvSpPr txBox="1"/>
          <p:nvPr/>
        </p:nvSpPr>
        <p:spPr>
          <a:xfrm>
            <a:off x="1344168" y="2011680"/>
            <a:ext cx="4567428"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 tree is ______ than the house.</a:t>
            </a:r>
            <a:endParaRPr lang="ko-KR" sz="2800" dirty="0"/>
          </a:p>
        </p:txBody>
      </p:sp>
      <p:sp>
        <p:nvSpPr>
          <p:cNvPr id="15" name="S08-chip9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16" name="S08-text97"/>
          <p:cNvSpPr txBox="1"/>
          <p:nvPr/>
        </p:nvSpPr>
        <p:spPr>
          <a:xfrm>
            <a:off x="1344168" y="3474720"/>
            <a:ext cx="4567428"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 house is ______ than the tree.</a:t>
            </a:r>
            <a:endParaRPr lang="ko-KR" sz="2800" dirty="0"/>
          </a:p>
        </p:txBody>
      </p:sp>
      <p:sp>
        <p:nvSpPr>
          <p:cNvPr id="17" name="S08-chip9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8" name="S08-text99"/>
          <p:cNvSpPr txBox="1"/>
          <p:nvPr/>
        </p:nvSpPr>
        <p:spPr>
          <a:xfrm>
            <a:off x="1344168" y="4937760"/>
            <a:ext cx="4567428" cy="128016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Minho 12살 · Jisu 10살</a:t>
            </a:r>
            <a:endParaRPr lang="ko-KR" sz="2200" dirty="0"/>
          </a:p>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Minho is ______ than Jisu.</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more big일까요?</a:t>
            </a:r>
            <a:endParaRPr lang="ko-KR" sz="4000" dirty="0"/>
          </a:p>
        </p:txBody>
      </p:sp>
      <p:sp>
        <p:nvSpPr>
          <p:cNvPr id="3" name="S09-card100"/>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9-cardtext101"/>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‘상자가 공보다 더 커요.’를 두 친구가 이렇게 말했어요.</a:t>
            </a:r>
            <a:endParaRPr lang="ko-KR" sz="2800" dirty="0"/>
          </a:p>
        </p:txBody>
      </p:sp>
      <p:sp>
        <p:nvSpPr>
          <p:cNvPr id="5" name="S09-card102"/>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9-cardtext10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바르게 말한 쪽은? 무엇이 다른가요?</a:t>
            </a:r>
            <a:endParaRPr lang="ko-KR" sz="2800" dirty="0"/>
          </a:p>
        </p:txBody>
      </p:sp>
      <p:sp>
        <p:nvSpPr>
          <p:cNvPr id="7" name="S09-chip104"/>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8" name="S09-word105"/>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The box is more big than the ball.</a:t>
            </a:r>
            <a:endParaRPr lang="ko-KR" sz="3200" dirty="0"/>
          </a:p>
        </p:txBody>
      </p:sp>
      <p:sp>
        <p:nvSpPr>
          <p:cNvPr id="9" name="S09-chip106"/>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10" name="S09-word107"/>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The box is bigger than the ball.</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집 물건 비교하기</a:t>
            </a:r>
            <a:endParaRPr lang="ko-KR" sz="4000" dirty="0"/>
          </a:p>
        </p:txBody>
      </p:sp>
      <p:sp>
        <p:nvSpPr>
          <p:cNvPr id="3" name="S10-card108"/>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10-cardtext109"/>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이렇게 하면 잘한 거예요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-er을 붙였어요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than을 넣었어요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더 큰 쪽을 앞에 말했어요</a:t>
            </a:r>
            <a:endParaRPr lang="ko-KR" sz="2800" dirty="0"/>
          </a:p>
        </p:txBody>
      </p:sp>
      <p:sp>
        <p:nvSpPr>
          <p:cNvPr id="5" name="S10-stepno110"/>
          <p:cNvSpPr txBox="1"/>
          <p:nvPr/>
        </p:nvSpPr>
        <p:spPr>
          <a:xfrm>
            <a:off x="548640" y="163830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10-text111"/>
          <p:cNvSpPr txBox="1"/>
          <p:nvPr/>
        </p:nvSpPr>
        <p:spPr>
          <a:xfrm>
            <a:off x="1325880" y="1592580"/>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물건 두 개를 골라 나란히 놓아요.</a:t>
            </a:r>
            <a:endParaRPr lang="ko-KR" sz="2800" dirty="0"/>
          </a:p>
        </p:txBody>
      </p:sp>
      <p:sp>
        <p:nvSpPr>
          <p:cNvPr id="7" name="S10-stepno112"/>
          <p:cNvSpPr txBox="1"/>
          <p:nvPr/>
        </p:nvSpPr>
        <p:spPr>
          <a:xfrm>
            <a:off x="548640" y="262483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10-text113"/>
          <p:cNvSpPr txBox="1"/>
          <p:nvPr/>
        </p:nvSpPr>
        <p:spPr>
          <a:xfrm>
            <a:off x="1325880" y="2624836"/>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어느 쪽이 더 큰지 봐요.</a:t>
            </a:r>
            <a:endParaRPr lang="ko-KR" sz="2800" dirty="0"/>
          </a:p>
        </p:txBody>
      </p:sp>
      <p:sp>
        <p:nvSpPr>
          <p:cNvPr id="9" name="S10-stepno114"/>
          <p:cNvSpPr txBox="1"/>
          <p:nvPr/>
        </p:nvSpPr>
        <p:spPr>
          <a:xfrm>
            <a:off x="548640" y="33837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10-text115"/>
          <p:cNvSpPr txBox="1"/>
          <p:nvPr/>
        </p:nvSpPr>
        <p:spPr>
          <a:xfrm>
            <a:off x="1325880" y="3338068"/>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더 큰 쪽을 앞에 두고 bigger로 말해요.</a:t>
            </a:r>
            <a:endParaRPr lang="ko-KR" sz="2800" dirty="0"/>
          </a:p>
        </p:txBody>
      </p:sp>
      <p:sp>
        <p:nvSpPr>
          <p:cNvPr id="11" name="S10-stepno116"/>
          <p:cNvSpPr txBox="1"/>
          <p:nvPr/>
        </p:nvSpPr>
        <p:spPr>
          <a:xfrm>
            <a:off x="548640" y="441604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10-text117"/>
          <p:cNvSpPr txBox="1"/>
          <p:nvPr/>
        </p:nvSpPr>
        <p:spPr>
          <a:xfrm>
            <a:off x="1325880" y="4370324"/>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엄마(아빠)는 smaller로 바꿔 말해요.</a:t>
            </a:r>
            <a:endParaRPr lang="ko-KR" sz="2800" dirty="0"/>
          </a:p>
        </p:txBody>
      </p:sp>
      <p:sp>
        <p:nvSpPr>
          <p:cNvPr id="13" name="S10-stepno118"/>
          <p:cNvSpPr txBox="1"/>
          <p:nvPr/>
        </p:nvSpPr>
        <p:spPr>
          <a:xfrm>
            <a:off x="548640" y="540258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5</a:t>
            </a:r>
            <a:endParaRPr lang="ko-KR" sz="2200" dirty="0"/>
          </a:p>
        </p:txBody>
      </p:sp>
      <p:sp>
        <p:nvSpPr>
          <p:cNvPr id="14" name="S10-text119"/>
          <p:cNvSpPr txBox="1"/>
          <p:nvPr/>
        </p:nvSpPr>
        <p:spPr>
          <a:xfrm>
            <a:off x="1325880" y="5402580"/>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역할을 바꿔 3번 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12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혼자 영어로 말해 보세요.</a:t>
            </a:r>
            <a:endParaRPr lang="ko-KR" sz="2800" dirty="0"/>
          </a:p>
        </p:txBody>
      </p:sp>
      <p:sp>
        <p:nvSpPr>
          <p:cNvPr id="4" name="S11-chip121"/>
          <p:cNvSpPr txBox="1"/>
          <p:nvPr/>
        </p:nvSpPr>
        <p:spPr>
          <a:xfrm>
            <a:off x="548640" y="27340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11-figure122" descr="큰 빨간 상자(한 변 2.2칸)"/>
          <p:cNvSpPr/>
          <p:nvPr/>
        </p:nvSpPr>
        <p:spPr>
          <a:xfrm>
            <a:off x="1852803" y="2251710"/>
            <a:ext cx="1106424" cy="1106424"/>
          </a:xfrm>
          <a:custGeom>
            <a:avLst/>
            <a:gdLst/>
            <a:ahLst/>
            <a:cxnLst/>
            <a:rect l="l" t="t" r="r" b="b"/>
            <a:pathLst>
              <a:path w="1106424" h="1106424">
                <a:moveTo>
                  <a:pt x="0" y="1106424"/>
                </a:moveTo>
                <a:lnTo>
                  <a:pt x="1106424" y="1106424"/>
                </a:lnTo>
                <a:lnTo>
                  <a:pt x="1106424" y="0"/>
                </a:lnTo>
                <a:lnTo>
                  <a:pt x="0" y="0"/>
                </a:lnTo>
                <a:close/>
              </a:path>
            </a:pathLst>
          </a:custGeom>
          <a:solidFill>
            <a:srgbClr val="D62828"/>
          </a:solidFill>
          <a:ln w="28575">
            <a:solidFill>
              <a:srgbClr val="1F2937"/>
            </a:solidFill>
            <a:prstDash val="solid"/>
          </a:ln>
        </p:spPr>
      </p:sp>
      <p:sp>
        <p:nvSpPr>
          <p:cNvPr id="6" name="S11-label123"/>
          <p:cNvSpPr txBox="1"/>
          <p:nvPr/>
        </p:nvSpPr>
        <p:spPr>
          <a:xfrm>
            <a:off x="1344168" y="3646170"/>
            <a:ext cx="2123694"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red box</a:t>
            </a:r>
            <a:endParaRPr lang="ko-KR" sz="2200" dirty="0"/>
          </a:p>
        </p:txBody>
      </p:sp>
      <p:sp>
        <p:nvSpPr>
          <p:cNvPr id="7" name="S11-figure124" descr="작은 파란 상자(한 변 1.1칸)"/>
          <p:cNvSpPr/>
          <p:nvPr/>
        </p:nvSpPr>
        <p:spPr>
          <a:xfrm>
            <a:off x="4573143" y="2804922"/>
            <a:ext cx="553212" cy="553212"/>
          </a:xfrm>
          <a:custGeom>
            <a:avLst/>
            <a:gdLst/>
            <a:ahLst/>
            <a:cxnLst/>
            <a:rect l="l" t="t" r="r" b="b"/>
            <a:pathLst>
              <a:path w="553212" h="553212">
                <a:moveTo>
                  <a:pt x="0" y="553212"/>
                </a:moveTo>
                <a:lnTo>
                  <a:pt x="553212" y="553212"/>
                </a:lnTo>
                <a:lnTo>
                  <a:pt x="553212" y="0"/>
                </a:lnTo>
                <a:lnTo>
                  <a:pt x="0" y="0"/>
                </a:lnTo>
                <a:close/>
              </a:path>
            </a:pathLst>
          </a:custGeom>
          <a:solidFill>
            <a:srgbClr val="1F5FC4"/>
          </a:solidFill>
          <a:ln w="28575">
            <a:solidFill>
              <a:srgbClr val="1F2937"/>
            </a:solidFill>
            <a:prstDash val="solid"/>
          </a:ln>
        </p:spPr>
      </p:sp>
      <p:sp>
        <p:nvSpPr>
          <p:cNvPr id="8" name="S11-label125"/>
          <p:cNvSpPr txBox="1"/>
          <p:nvPr/>
        </p:nvSpPr>
        <p:spPr>
          <a:xfrm>
            <a:off x="3787902" y="3646170"/>
            <a:ext cx="2123694" cy="377190"/>
          </a:xfrm>
          <a:prstGeom prst="rect">
            <a:avLst/>
          </a:prstGeom>
          <a:noFill/>
          <a:ln/>
        </p:spPr>
        <p:txBody>
          <a:bodyPr wrap="square" lIns="0" tIns="0" rIns="0" bIns="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blue box</a:t>
            </a:r>
            <a:endParaRPr lang="ko-KR" sz="2200" dirty="0"/>
          </a:p>
        </p:txBody>
      </p:sp>
      <p:sp>
        <p:nvSpPr>
          <p:cNvPr id="9" name="S11-chip126"/>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10" name="S11-text127"/>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할아버지 70살 · 아빠 45살</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(grandpa · dad)</a:t>
            </a:r>
            <a:endParaRPr lang="ko-KR" sz="2800" dirty="0"/>
          </a:p>
        </p:txBody>
      </p:sp>
      <p:sp>
        <p:nvSpPr>
          <p:cNvPr id="11" name="S11-chip12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2" name="S11-text129"/>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big, fast의 비교하는 말을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철자로 말해요.</a:t>
            </a:r>
            <a:endParaRPr lang="ko-KR" sz="2800" dirty="0"/>
          </a:p>
        </p:txBody>
      </p:sp>
      <p:sp>
        <p:nvSpPr>
          <p:cNvPr id="13" name="S11-chip130"/>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4" name="S11-text131"/>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rabbit · turtle</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누가 더 빠를까요?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2-chip132"/>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4" name="S12-text133"/>
          <p:cNvSpPr txBox="1"/>
          <p:nvPr/>
        </p:nvSpPr>
        <p:spPr>
          <a:xfrm>
            <a:off x="548640" y="205740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The red box is bigger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than the blue box.</a:t>
            </a:r>
            <a:endParaRPr lang="ko-KR" sz="2800" dirty="0"/>
          </a:p>
        </p:txBody>
      </p:sp>
      <p:sp>
        <p:nvSpPr>
          <p:cNvPr id="5" name="S12-text134"/>
          <p:cNvSpPr txBox="1"/>
          <p:nvPr/>
        </p:nvSpPr>
        <p:spPr>
          <a:xfrm>
            <a:off x="548640" y="313182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② My grandpa is older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than my dad.</a:t>
            </a:r>
            <a:endParaRPr lang="ko-KR" sz="2800" dirty="0"/>
          </a:p>
        </p:txBody>
      </p:sp>
      <p:sp>
        <p:nvSpPr>
          <p:cNvPr id="6" name="S12-text135"/>
          <p:cNvSpPr txBox="1"/>
          <p:nvPr/>
        </p:nvSpPr>
        <p:spPr>
          <a:xfrm>
            <a:off x="548640" y="420624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③ bigger, faster</a:t>
            </a:r>
            <a:endParaRPr lang="ko-KR" sz="2800" dirty="0"/>
          </a:p>
        </p:txBody>
      </p:sp>
      <p:sp>
        <p:nvSpPr>
          <p:cNvPr id="7" name="S12-text136"/>
          <p:cNvSpPr txBox="1"/>
          <p:nvPr/>
        </p:nvSpPr>
        <p:spPr>
          <a:xfrm>
            <a:off x="548640" y="528066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④ The rabbit is faster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than the turtle.</a:t>
            </a:r>
            <a:endParaRPr lang="ko-KR" sz="2800" dirty="0"/>
          </a:p>
        </p:txBody>
      </p:sp>
      <p:sp>
        <p:nvSpPr>
          <p:cNvPr id="8" name="S12-chip137"/>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9" name="S12-text138"/>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biger</a:t>
            </a:r>
            <a:endParaRPr lang="ko-KR" sz="2800" dirty="0"/>
          </a:p>
        </p:txBody>
      </p:sp>
      <p:sp>
        <p:nvSpPr>
          <p:cNvPr id="10" name="S12-text139"/>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g를 한 번 더</a:t>
            </a:r>
            <a:endParaRPr lang="ko-KR" sz="2200" dirty="0"/>
          </a:p>
        </p:txBody>
      </p:sp>
      <p:sp>
        <p:nvSpPr>
          <p:cNvPr id="11" name="S12-text140"/>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more big</a:t>
            </a:r>
            <a:endParaRPr lang="ko-KR" sz="2800" dirty="0"/>
          </a:p>
        </p:txBody>
      </p:sp>
      <p:sp>
        <p:nvSpPr>
          <p:cNvPr id="12" name="S12-text141"/>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-er이 ‘더’</a:t>
            </a:r>
            <a:endParaRPr lang="ko-KR" sz="2200" dirty="0"/>
          </a:p>
        </p:txBody>
      </p:sp>
      <p:sp>
        <p:nvSpPr>
          <p:cNvPr id="13" name="S12-text142"/>
          <p:cNvSpPr txBox="1"/>
          <p:nvPr/>
        </p:nvSpPr>
        <p:spPr>
          <a:xfrm>
            <a:off x="6277356" y="4800600"/>
            <a:ext cx="2681478" cy="12344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The blue box is</a:t>
            </a:r>
            <a:endParaRPr lang="ko-KR" sz="2200" dirty="0"/>
          </a:p>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bigger than ~</a:t>
            </a:r>
            <a:endParaRPr lang="ko-KR" sz="2200" dirty="0"/>
          </a:p>
        </p:txBody>
      </p:sp>
      <p:sp>
        <p:nvSpPr>
          <p:cNvPr id="14" name="S12-text143"/>
          <p:cNvSpPr txBox="1"/>
          <p:nvPr/>
        </p:nvSpPr>
        <p:spPr>
          <a:xfrm>
            <a:off x="9095994" y="48006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그림과 반대</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그림을 골라요</a:t>
            </a:r>
            <a:endParaRPr lang="ko-KR" sz="4000" dirty="0"/>
          </a:p>
        </p:txBody>
      </p:sp>
      <p:sp>
        <p:nvSpPr>
          <p:cNvPr id="3" name="S13-card14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14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엄마(아빠)가 말하는 그림은? 어떻게 알았나요?</a:t>
            </a:r>
            <a:endParaRPr lang="ko-KR" sz="2800" dirty="0"/>
          </a:p>
        </p:txBody>
      </p:sp>
      <p:sp>
        <p:nvSpPr>
          <p:cNvPr id="5" name="S13-chip146"/>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13-figure147" descr="큰 공(지름 2칸)과 작은 상자(한 변 1칸)"/>
          <p:cNvSpPr/>
          <p:nvPr/>
        </p:nvSpPr>
        <p:spPr>
          <a:xfrm>
            <a:off x="3902202" y="2411730"/>
            <a:ext cx="457200" cy="457200"/>
          </a:xfrm>
          <a:custGeom>
            <a:avLst/>
            <a:gdLst/>
            <a:ahLst/>
            <a:cxnLst/>
            <a:rect l="l" t="t" r="r" b="b"/>
            <a:pathLst>
              <a:path w="457200" h="457200">
                <a:moveTo>
                  <a:pt x="0" y="457200"/>
                </a:moveTo>
                <a:lnTo>
                  <a:pt x="457200" y="457200"/>
                </a:lnTo>
                <a:lnTo>
                  <a:pt x="457200" y="0"/>
                </a:lnTo>
                <a:lnTo>
                  <a:pt x="0" y="0"/>
                </a:lnTo>
                <a:close/>
              </a:path>
            </a:pathLst>
          </a:custGeom>
          <a:solidFill>
            <a:srgbClr val="C9A27E"/>
          </a:solidFill>
          <a:ln w="28575">
            <a:solidFill>
              <a:srgbClr val="1F2937"/>
            </a:solidFill>
            <a:prstDash val="solid"/>
          </a:ln>
        </p:spPr>
      </p:sp>
      <p:sp>
        <p:nvSpPr>
          <p:cNvPr id="7" name="S13-mark148"/>
          <p:cNvSpPr/>
          <p:nvPr/>
        </p:nvSpPr>
        <p:spPr>
          <a:xfrm>
            <a:off x="2622042" y="1954530"/>
            <a:ext cx="914400" cy="914400"/>
          </a:xfrm>
          <a:prstGeom prst="ellipse">
            <a:avLst/>
          </a:prstGeom>
          <a:solidFill>
            <a:srgbClr val="E9762B"/>
          </a:solidFill>
          <a:ln w="28575">
            <a:solidFill>
              <a:srgbClr val="1F2937"/>
            </a:solidFill>
            <a:prstDash val="solid"/>
          </a:ln>
        </p:spPr>
      </p:sp>
      <p:sp>
        <p:nvSpPr>
          <p:cNvPr id="8" name="S13-chip149"/>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13-figure150" descr="작은 공(지름 1칸)과 큰 상자(한 변 2칸)"/>
          <p:cNvSpPr/>
          <p:nvPr/>
        </p:nvSpPr>
        <p:spPr>
          <a:xfrm>
            <a:off x="9448038" y="1954530"/>
            <a:ext cx="914400" cy="914400"/>
          </a:xfrm>
          <a:custGeom>
            <a:avLst/>
            <a:gdLst/>
            <a:ahLst/>
            <a:cxnLst/>
            <a:rect l="l" t="t" r="r" b="b"/>
            <a:pathLst>
              <a:path w="914400" h="914400">
                <a:moveTo>
                  <a:pt x="0" y="914400"/>
                </a:moveTo>
                <a:lnTo>
                  <a:pt x="914400" y="914400"/>
                </a:lnTo>
                <a:lnTo>
                  <a:pt x="914400" y="0"/>
                </a:lnTo>
                <a:lnTo>
                  <a:pt x="0" y="0"/>
                </a:lnTo>
                <a:close/>
              </a:path>
            </a:pathLst>
          </a:custGeom>
          <a:solidFill>
            <a:srgbClr val="C9A27E"/>
          </a:solidFill>
          <a:ln w="28575">
            <a:solidFill>
              <a:srgbClr val="1F2937"/>
            </a:solidFill>
            <a:prstDash val="solid"/>
          </a:ln>
        </p:spPr>
      </p:sp>
      <p:sp>
        <p:nvSpPr>
          <p:cNvPr id="10" name="S13-mark151"/>
          <p:cNvSpPr/>
          <p:nvPr/>
        </p:nvSpPr>
        <p:spPr>
          <a:xfrm>
            <a:off x="8579358" y="2411730"/>
            <a:ext cx="457200" cy="457200"/>
          </a:xfrm>
          <a:prstGeom prst="ellipse">
            <a:avLst/>
          </a:prstGeom>
          <a:solidFill>
            <a:srgbClr val="E9762B"/>
          </a:solidFill>
          <a:ln w="28575">
            <a:solidFill>
              <a:srgbClr val="1F2937"/>
            </a:solidFill>
            <a:prstDash val="solid"/>
          </a:ln>
        </p:spPr>
      </p:sp>
      <p:sp>
        <p:nvSpPr>
          <p:cNvPr id="11" name="S13-chip152"/>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13-figure153" descr="높은 나무(3칸)와 낮은 집(1.6칸)"/>
          <p:cNvSpPr/>
          <p:nvPr/>
        </p:nvSpPr>
        <p:spPr>
          <a:xfrm>
            <a:off x="2996946" y="4080510"/>
            <a:ext cx="164592" cy="822960"/>
          </a:xfrm>
          <a:custGeom>
            <a:avLst/>
            <a:gdLst/>
            <a:ahLst/>
            <a:cxnLst/>
            <a:rect l="l" t="t" r="r" b="b"/>
            <a:pathLst>
              <a:path w="164592" h="822960">
                <a:moveTo>
                  <a:pt x="0" y="822960"/>
                </a:moveTo>
                <a:lnTo>
                  <a:pt x="164592" y="822960"/>
                </a:lnTo>
                <a:lnTo>
                  <a:pt x="164592" y="0"/>
                </a:lnTo>
                <a:lnTo>
                  <a:pt x="0" y="0"/>
                </a:lnTo>
                <a:close/>
              </a:path>
            </a:pathLst>
          </a:custGeom>
          <a:solidFill>
            <a:srgbClr val="8B5E3C"/>
          </a:solidFill>
          <a:ln w="28575">
            <a:solidFill>
              <a:srgbClr val="1F2937"/>
            </a:solidFill>
            <a:prstDash val="solid"/>
          </a:ln>
        </p:spPr>
      </p:sp>
      <p:sp>
        <p:nvSpPr>
          <p:cNvPr id="13" name="S13-mark154"/>
          <p:cNvSpPr/>
          <p:nvPr/>
        </p:nvSpPr>
        <p:spPr>
          <a:xfrm>
            <a:off x="3765042" y="4449928"/>
            <a:ext cx="731520" cy="453542"/>
          </a:xfrm>
          <a:custGeom>
            <a:avLst/>
            <a:gdLst/>
            <a:ahLst/>
            <a:cxnLst/>
            <a:rect l="l" t="t" r="r" b="b"/>
            <a:pathLst>
              <a:path w="731520" h="453542">
                <a:moveTo>
                  <a:pt x="0" y="453542"/>
                </a:moveTo>
                <a:lnTo>
                  <a:pt x="731520" y="453542"/>
                </a:lnTo>
                <a:lnTo>
                  <a:pt x="731520" y="0"/>
                </a:lnTo>
                <a:lnTo>
                  <a:pt x="0" y="0"/>
                </a:lnTo>
                <a:close/>
              </a:path>
            </a:pathLst>
          </a:custGeom>
          <a:solidFill>
            <a:srgbClr val="F2C14E"/>
          </a:solidFill>
          <a:ln w="28575">
            <a:solidFill>
              <a:srgbClr val="1F2937"/>
            </a:solidFill>
            <a:prstDash val="solid"/>
          </a:ln>
        </p:spPr>
      </p:sp>
      <p:sp>
        <p:nvSpPr>
          <p:cNvPr id="14" name="S13-mark155"/>
          <p:cNvSpPr/>
          <p:nvPr/>
        </p:nvSpPr>
        <p:spPr>
          <a:xfrm>
            <a:off x="3673602" y="4171950"/>
            <a:ext cx="914400" cy="277978"/>
          </a:xfrm>
          <a:custGeom>
            <a:avLst/>
            <a:gdLst/>
            <a:ahLst/>
            <a:cxnLst/>
            <a:rect l="l" t="t" r="r" b="b"/>
            <a:pathLst>
              <a:path w="914400" h="277978">
                <a:moveTo>
                  <a:pt x="0" y="277978"/>
                </a:moveTo>
                <a:lnTo>
                  <a:pt x="914400" y="277978"/>
                </a:lnTo>
                <a:lnTo>
                  <a:pt x="457200" y="0"/>
                </a:lnTo>
                <a:close/>
              </a:path>
            </a:pathLst>
          </a:custGeom>
          <a:solidFill>
            <a:srgbClr val="C8434E"/>
          </a:solidFill>
          <a:ln w="28575">
            <a:solidFill>
              <a:srgbClr val="1F2937"/>
            </a:solidFill>
            <a:prstDash val="solid"/>
          </a:ln>
        </p:spPr>
      </p:sp>
      <p:sp>
        <p:nvSpPr>
          <p:cNvPr id="15" name="S13-mark156"/>
          <p:cNvSpPr/>
          <p:nvPr/>
        </p:nvSpPr>
        <p:spPr>
          <a:xfrm>
            <a:off x="4030218" y="4631345"/>
            <a:ext cx="201168" cy="272125"/>
          </a:xfrm>
          <a:custGeom>
            <a:avLst/>
            <a:gdLst/>
            <a:ahLst/>
            <a:cxnLst/>
            <a:rect l="l" t="t" r="r" b="b"/>
            <a:pathLst>
              <a:path w="201168" h="272125">
                <a:moveTo>
                  <a:pt x="0" y="272125"/>
                </a:moveTo>
                <a:lnTo>
                  <a:pt x="201168" y="272125"/>
                </a:lnTo>
                <a:lnTo>
                  <a:pt x="201168" y="0"/>
                </a:lnTo>
                <a:lnTo>
                  <a:pt x="0" y="0"/>
                </a:lnTo>
                <a:close/>
              </a:path>
            </a:pathLst>
          </a:custGeom>
          <a:solidFill>
            <a:srgbClr val="8B5E3C"/>
          </a:solidFill>
          <a:ln w="28575">
            <a:solidFill>
              <a:srgbClr val="1F2937"/>
            </a:solidFill>
            <a:prstDash val="solid"/>
          </a:ln>
        </p:spPr>
      </p:sp>
      <p:sp>
        <p:nvSpPr>
          <p:cNvPr id="16" name="S13-mark157"/>
          <p:cNvSpPr/>
          <p:nvPr/>
        </p:nvSpPr>
        <p:spPr>
          <a:xfrm>
            <a:off x="2736342" y="3531870"/>
            <a:ext cx="685800" cy="685800"/>
          </a:xfrm>
          <a:prstGeom prst="ellipse">
            <a:avLst/>
          </a:prstGeom>
          <a:solidFill>
            <a:srgbClr val="2E9E44"/>
          </a:solidFill>
          <a:ln w="28575">
            <a:solidFill>
              <a:srgbClr val="1F2937"/>
            </a:solidFill>
            <a:prstDash val="solid"/>
          </a:ln>
        </p:spPr>
      </p:sp>
      <p:sp>
        <p:nvSpPr>
          <p:cNvPr id="17" name="S13-chip158"/>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8" name="S13-figure159" descr="낮은 나무(1.5칸)와 높은 집(3칸)"/>
          <p:cNvSpPr/>
          <p:nvPr/>
        </p:nvSpPr>
        <p:spPr>
          <a:xfrm>
            <a:off x="8766810" y="4491990"/>
            <a:ext cx="82296" cy="411480"/>
          </a:xfrm>
          <a:custGeom>
            <a:avLst/>
            <a:gdLst/>
            <a:ahLst/>
            <a:cxnLst/>
            <a:rect l="l" t="t" r="r" b="b"/>
            <a:pathLst>
              <a:path w="82296" h="411480">
                <a:moveTo>
                  <a:pt x="0" y="411480"/>
                </a:moveTo>
                <a:lnTo>
                  <a:pt x="82296" y="411480"/>
                </a:lnTo>
                <a:lnTo>
                  <a:pt x="82296" y="0"/>
                </a:lnTo>
                <a:lnTo>
                  <a:pt x="0" y="0"/>
                </a:lnTo>
                <a:close/>
              </a:path>
            </a:pathLst>
          </a:custGeom>
          <a:solidFill>
            <a:srgbClr val="8B5E3C"/>
          </a:solidFill>
          <a:ln w="28575">
            <a:solidFill>
              <a:srgbClr val="1F2937"/>
            </a:solidFill>
            <a:prstDash val="solid"/>
          </a:ln>
        </p:spPr>
      </p:sp>
      <p:sp>
        <p:nvSpPr>
          <p:cNvPr id="19" name="S13-mark160"/>
          <p:cNvSpPr/>
          <p:nvPr/>
        </p:nvSpPr>
        <p:spPr>
          <a:xfrm>
            <a:off x="9448038" y="4053078"/>
            <a:ext cx="822960" cy="850392"/>
          </a:xfrm>
          <a:custGeom>
            <a:avLst/>
            <a:gdLst/>
            <a:ahLst/>
            <a:cxnLst/>
            <a:rect l="l" t="t" r="r" b="b"/>
            <a:pathLst>
              <a:path w="822960" h="850392">
                <a:moveTo>
                  <a:pt x="0" y="850392"/>
                </a:moveTo>
                <a:lnTo>
                  <a:pt x="822960" y="850392"/>
                </a:lnTo>
                <a:lnTo>
                  <a:pt x="822960" y="0"/>
                </a:lnTo>
                <a:lnTo>
                  <a:pt x="0" y="0"/>
                </a:lnTo>
                <a:close/>
              </a:path>
            </a:pathLst>
          </a:custGeom>
          <a:solidFill>
            <a:srgbClr val="F2C14E"/>
          </a:solidFill>
          <a:ln w="28575">
            <a:solidFill>
              <a:srgbClr val="1F2937"/>
            </a:solidFill>
            <a:prstDash val="solid"/>
          </a:ln>
        </p:spPr>
      </p:sp>
      <p:sp>
        <p:nvSpPr>
          <p:cNvPr id="20" name="S13-mark161"/>
          <p:cNvSpPr/>
          <p:nvPr/>
        </p:nvSpPr>
        <p:spPr>
          <a:xfrm>
            <a:off x="9356598" y="3531870"/>
            <a:ext cx="1005840" cy="521208"/>
          </a:xfrm>
          <a:custGeom>
            <a:avLst/>
            <a:gdLst/>
            <a:ahLst/>
            <a:cxnLst/>
            <a:rect l="l" t="t" r="r" b="b"/>
            <a:pathLst>
              <a:path w="1005840" h="521208">
                <a:moveTo>
                  <a:pt x="0" y="521208"/>
                </a:moveTo>
                <a:lnTo>
                  <a:pt x="1005840" y="521208"/>
                </a:lnTo>
                <a:lnTo>
                  <a:pt x="502920" y="0"/>
                </a:lnTo>
                <a:close/>
              </a:path>
            </a:pathLst>
          </a:custGeom>
          <a:solidFill>
            <a:srgbClr val="C8434E"/>
          </a:solidFill>
          <a:ln w="28575">
            <a:solidFill>
              <a:srgbClr val="1F2937"/>
            </a:solidFill>
            <a:prstDash val="solid"/>
          </a:ln>
        </p:spPr>
      </p:sp>
      <p:sp>
        <p:nvSpPr>
          <p:cNvPr id="21" name="S13-mark162"/>
          <p:cNvSpPr/>
          <p:nvPr/>
        </p:nvSpPr>
        <p:spPr>
          <a:xfrm>
            <a:off x="9758934" y="4537710"/>
            <a:ext cx="201168" cy="365760"/>
          </a:xfrm>
          <a:custGeom>
            <a:avLst/>
            <a:gdLst/>
            <a:ahLst/>
            <a:cxnLst/>
            <a:rect l="l" t="t" r="r" b="b"/>
            <a:pathLst>
              <a:path w="201168" h="365760">
                <a:moveTo>
                  <a:pt x="0" y="365760"/>
                </a:moveTo>
                <a:lnTo>
                  <a:pt x="201168" y="365760"/>
                </a:lnTo>
                <a:lnTo>
                  <a:pt x="201168" y="0"/>
                </a:lnTo>
                <a:lnTo>
                  <a:pt x="0" y="0"/>
                </a:lnTo>
                <a:close/>
              </a:path>
            </a:pathLst>
          </a:custGeom>
          <a:solidFill>
            <a:srgbClr val="8B5E3C"/>
          </a:solidFill>
          <a:ln w="28575">
            <a:solidFill>
              <a:srgbClr val="1F2937"/>
            </a:solidFill>
            <a:prstDash val="solid"/>
          </a:ln>
        </p:spPr>
      </p:sp>
      <p:sp>
        <p:nvSpPr>
          <p:cNvPr id="22" name="S13-mark163"/>
          <p:cNvSpPr/>
          <p:nvPr/>
        </p:nvSpPr>
        <p:spPr>
          <a:xfrm>
            <a:off x="8636508" y="4217670"/>
            <a:ext cx="342900" cy="342900"/>
          </a:xfrm>
          <a:prstGeom prst="ellipse">
            <a:avLst/>
          </a:prstGeom>
          <a:solidFill>
            <a:srgbClr val="2E9E44"/>
          </a:solidFill>
          <a:ln w="28575">
            <a:solidFill>
              <a:srgbClr val="1F2937"/>
            </a:solidFill>
            <a:prstDash val="solid"/>
          </a:ln>
        </p:spPr>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164"/>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4-cardtext165"/>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A is taller than B.처럼 -er과 than으로 비교해요.</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big → bigger는 g를 한 번 더 써요.</a:t>
            </a:r>
            <a:endParaRPr lang="ko-KR" sz="2800" dirty="0"/>
          </a:p>
        </p:txBody>
      </p:sp>
      <p:sp>
        <p:nvSpPr>
          <p:cNvPr id="5" name="S14-chip166"/>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더 그러한 쪽을 앞에</a:t>
            </a:r>
            <a:endParaRPr lang="ko-KR" sz="2200" dirty="0"/>
          </a:p>
        </p:txBody>
      </p:sp>
      <p:sp>
        <p:nvSpPr>
          <p:cNvPr id="6" name="S14-chip167"/>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en-US" altLang="ko-KR" sz="2200" b="1" dirty="0">
                <a:solidFill>
                  <a:srgbClr val="FFFFFF"/>
                </a:solidFill>
                <a:latin typeface="맑은 고딕" pitchFamily="34" charset="0"/>
                <a:ea typeface="맑은 고딕" pitchFamily="34" charset="-122"/>
                <a:cs typeface="맑은 고딕" pitchFamily="34" charset="-120"/>
              </a:rPr>
              <a:t>× more big, biger</a:t>
            </a:r>
            <a:endParaRPr lang="ko-KR" sz="2200" dirty="0"/>
          </a:p>
        </p:txBody>
      </p:sp>
      <p:sp>
        <p:nvSpPr>
          <p:cNvPr id="7" name="S14-text168"/>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4-text169"/>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big의 비교하는 말을</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철자로 말하기</a:t>
            </a:r>
            <a:endParaRPr lang="ko-KR" sz="2200" dirty="0"/>
          </a:p>
        </p:txBody>
      </p:sp>
      <p:sp>
        <p:nvSpPr>
          <p:cNvPr id="9" name="S14-text170"/>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농구공과 테니스공</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비교하는 문장</a:t>
            </a:r>
            <a:endParaRPr lang="ko-KR" sz="2200" dirty="0"/>
          </a:p>
        </p:txBody>
      </p:sp>
      <p:sp>
        <p:nvSpPr>
          <p:cNvPr id="10" name="S14-text171"/>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엄마(아빠)와 나의</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키 비교하는 문장</a:t>
            </a:r>
            <a:endParaRPr lang="ko-KR" sz="2200" dirty="0"/>
          </a:p>
        </p:txBody>
      </p:sp>
      <p:sp>
        <p:nvSpPr>
          <p:cNvPr id="11" name="S14-text172"/>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의견 말하기</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꾸미는 말 다시 보기</a:t>
            </a:r>
            <a:endParaRPr lang="ko-KR" sz="4000" dirty="0"/>
          </a:p>
        </p:txBody>
      </p:sp>
      <p:sp>
        <p:nvSpPr>
          <p:cNvPr id="3" name="S15-card17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7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My dad is tall.처럼 is 다음에 꾸미는 말을 써요.</a:t>
            </a:r>
            <a:endParaRPr lang="ko-KR" sz="2800" dirty="0"/>
          </a:p>
        </p:txBody>
      </p:sp>
      <p:sp>
        <p:nvSpPr>
          <p:cNvPr id="5" name="S15-word175"/>
          <p:cNvSpPr txBox="1"/>
          <p:nvPr/>
        </p:nvSpPr>
        <p:spPr>
          <a:xfrm>
            <a:off x="548640"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tall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키가 큰</a:t>
            </a:r>
            <a:endParaRPr lang="ko-KR" sz="3200" dirty="0"/>
          </a:p>
        </p:txBody>
      </p:sp>
      <p:sp>
        <p:nvSpPr>
          <p:cNvPr id="6" name="S15-word176"/>
          <p:cNvSpPr txBox="1"/>
          <p:nvPr/>
        </p:nvSpPr>
        <p:spPr>
          <a:xfrm>
            <a:off x="4337304"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short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키가 작은</a:t>
            </a:r>
            <a:endParaRPr lang="ko-KR" sz="3200" dirty="0"/>
          </a:p>
        </p:txBody>
      </p:sp>
      <p:sp>
        <p:nvSpPr>
          <p:cNvPr id="7" name="S15-word177"/>
          <p:cNvSpPr txBox="1"/>
          <p:nvPr/>
        </p:nvSpPr>
        <p:spPr>
          <a:xfrm>
            <a:off x="8125968"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big</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큰</a:t>
            </a:r>
            <a:endParaRPr lang="ko-KR" sz="3200" dirty="0"/>
          </a:p>
        </p:txBody>
      </p:sp>
      <p:sp>
        <p:nvSpPr>
          <p:cNvPr id="8" name="S15-word178"/>
          <p:cNvSpPr txBox="1"/>
          <p:nvPr/>
        </p:nvSpPr>
        <p:spPr>
          <a:xfrm>
            <a:off x="548640"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small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작은</a:t>
            </a:r>
            <a:endParaRPr lang="ko-KR" sz="3200" dirty="0"/>
          </a:p>
        </p:txBody>
      </p:sp>
      <p:sp>
        <p:nvSpPr>
          <p:cNvPr id="9" name="S15-word179"/>
          <p:cNvSpPr txBox="1"/>
          <p:nvPr/>
        </p:nvSpPr>
        <p:spPr>
          <a:xfrm>
            <a:off x="4337304"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fast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빠른</a:t>
            </a:r>
            <a:endParaRPr lang="ko-KR" sz="3200" dirty="0"/>
          </a:p>
        </p:txBody>
      </p:sp>
      <p:sp>
        <p:nvSpPr>
          <p:cNvPr id="10" name="S15-word180"/>
          <p:cNvSpPr txBox="1"/>
          <p:nvPr/>
        </p:nvSpPr>
        <p:spPr>
          <a:xfrm>
            <a:off x="8125968"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old</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나이가 많은</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영어 비교하기</dc:title>
  <dc:subject>KR22-G06-ENG-COMPARE-L01</dc:subject>
  <dc:creator>education-ppt</dc:creator>
  <cp:lastModifiedBy>education-ppt</cp:lastModifiedBy>
  <cp:revision>1</cp:revision>
  <dcterms:created xsi:type="dcterms:W3CDTF">2026-10-26T09:10:08Z</dcterms:created>
  <dcterms:modified xsi:type="dcterms:W3CDTF">2026-10-26T09:10:08Z</dcterms:modified>
</cp:coreProperties>
</file>