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23778dd-8636-5a9c-0cd1-b86f893ae7e3}">
          <p14:sldIdLst>
            <p14:sldId id="256"/>
            <p14:sldId id="257"/>
          </p14:sldIdLst>
        </p14:section>
        <p14:section name="개념" id="{f4313820-cae5-9bff-1771-013d9799a0cb}">
          <p14:sldIdLst>
            <p14:sldId id="258"/>
            <p14:sldId id="259"/>
            <p14:sldId id="260"/>
          </p14:sldIdLst>
        </p14:section>
        <p14:section name="연습" id="{7d55744b-d8df-913d-8f6f-64ca58c24ca6}">
          <p14:sldIdLst>
            <p14:sldId id="261"/>
            <p14:sldId id="262"/>
            <p14:sldId id="263"/>
            <p14:sldId id="264"/>
          </p14:sldIdLst>
        </p14:section>
        <p14:section name="확인" id="{6b7708ae-620e-0228-c8ad-8a9c2573e438}">
          <p14:sldIdLst>
            <p14:sldId id="265"/>
            <p14:sldId id="266"/>
            <p14:sldId id="267"/>
          </p14:sldIdLst>
        </p14:section>
        <p14:section name="정리" id="{cdaa0cbb-1c07-9598-c065-5c105cc6a247}">
          <p14:sldIdLst>
            <p14:sldId id="268"/>
          </p14:sldIdLst>
        </p14:section>
        <p14:section name="보충" id="{5bf917d3-de14-a5a3-2dc1-483c37962c60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앞으로 할 일(계획)을 영어로 말하는 상황에 관심을 갖게 합니다.
시간: 약 2분
이렇게 말해 보세요
- “이번 주말에 무엇을 할 계획이야? 우리말로 말해 볼래?”
- “오늘은 내일이나 이번 주말에 할 일을 영어로 말하고, 다른 사람의 계획도 물어볼 거야.”
예상 답
- “친구랑 자전거 탈 거예요.” “영화 볼 거예요.”
주의
- 수업 전에 교과서 디지털 자료나 사전 앱의 발음 듣기로 오늘 낱말과 문장(tomorrow, this weekend, I'm going to read a book. What are you going to do this weekend?)을 미리 들어 두세요. 부모님 발음이 완벽하지 않아도 괜찮습니다.
- 소리 자료 없이 진행하면 바른 소리를 확인하기 어렵습니다. 헷갈리는 표현은 기록해 두었다가 소리 자료로 나중에 확인합니다.
- I'm going to는 빠르게 말할 때 소리가 줄어들어 들리기도 합니다. 오늘은 또박또박 I'm going to로 말하고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확인(지난 일 말하기)]
목적: 5학년 ‘지난 일 말하기’에서 익힌 과거형 문장(I played ~ yesterday.)을 기억하는지 확인합니다. 오늘은 지난 일과 앞으로의 계획을 구별하므로 꼭 필요합니다.
시간: 약 3분
이렇게 말해 보세요
- “①을 읽고 무슨 뜻인지 말해 줄래?”
- “②, yesterday는 무슨 뜻이야?”
- “③, 어제 한 일을 영어로 하나 말해 볼래?”
정답
- ① 나는 어제 축구를 했어요.
- ② 어제
- ③ 예: I watched TV yesterday. I played games yesterday. (I + 과거형 동사로 말하면 맞습니다. 철자보다 -ed 모양을 썼는지 봅니다.)
막히면
- ③이 어려우면 “어제 무엇을 했어?”라고 우리말로 묻고 played, watched 가운데 고르게 합니다.
- ①②를 스스로 하지 못하거나 ③을 도움을 받아도 말하지 못하면 S14(보충)를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지난 일과 앞으로의 일(때를 나타내는 말)]
목적: yesterday는 지난 일, tomorrow와 this weekend는 앞으로의 일을 말할 때 쓴다는 것을 압니다(M3).
시간: 약 3분
이렇게 말해 보세요
- “소리를 듣고 따라 해 보자. yesterday, today, tomorrow.”
- “어제 한 일은 지난 일이지? 내일 할 일은 아직 하지 않은 일, 앞으로의 계획이야.”
- “this weekend는 이번 주말이야. 이번 주말도 아직 오지 않았으니까 계획이지.”
예상 답
- “yesterday는 어제, tomorrow는 내일이에요.” “내일 할 일은 계획이에요.”
막히면
- 달력에서 어제, 오늘, 내일, 이번 주말을 손가락으로 짚으며 말합니다.
주의
- 오늘이 토요일이나 일요일이면 this weekend는 ‘오늘을 포함한 이번 주말’이 됩니다. 수업하는 날에 맞게 달력으로 설명해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I'm going to + 동사의 기본 모양]
목적: I'm going to 다음에 동사의 기본 모양을 써서 앞으로의 계획을 말합니다(M1, M2).
시간: 약 4분
이렇게 말해 보세요
- “소리를 듣고 따라 해 보자. I'm going to read a book. 나는 책을 읽을 거야.”
- “I'm은 I am을 줄인 말이야. I'm going to는 ‘~할 거야’라는 뜻이고, 어디로 간다는 뜻이 아니야.”
- “going to 다음에는 read, play, visit처럼 동사의 기본 모양을 써. 끝에 -ed나 -s를 붙이지 않아.”
- “내일 할 일을 하나 정해서 말해 볼래? I'm going to … tomorrow.”
예상 답
- “I'm going to play soccer tomorrow.” “I'm going to read a book tomorrow.”
막히면
- I'm going to를 한 덩어리로 세 번 말한 뒤 동사를 붙이게 합니다.
- 동사가 떠오르지 않으면 카드의 read, play, visit 가운데 고르게 합니다.
주의
- I'm의 아포스트로피(')는 am의 a가 빠진 자리라는 표시입니다. I going to처럼 am('m)을 빼지 않게 합니다(M2).
- 때를 나타내는 말(tomorrow, this weekend)은 보통 문장 끝에 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What are you going to do ~?로 계획 묻기]
목적: What are you going to do ~?로 상대의 계획을 묻고, I'm going to ~.로 대답하는 대화를 익힙니다.
시간: 약 3분
이렇게 말해 보세요
- “A가 What are you going to do this weekend?라고 물었어. ‘이번 주말에 뭐 할 거야?’라는 뜻이야. 따라 해 봐.”
- “B는 I'm going to watch a movie.라고 대답했어.”
- “이번에는 네가 A, 엄마(아빠)가 B야. 물어봐 줄래?” (그다음 역할을 바꿉니다.)
예상 답
- “What are you going to do this weekend?” “I'm going to watch a movie.”
막히면
- 뒤에서부터 붙여 말합니다. do? … going to do? … are you going to do? … What are you going to do?
- 질문이 길면 What are you going to do?까지만 먼저 말하고, this weekend는 나중에 붙입니다.
주의
- 물을 때는 are you, 대답할 때는 I'm(I am)을 씁니다. 대답에서 You're going to ~.라고 하지 않게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단서를 보고 계획 말하기]
목적: 때와 할 일 단서를 보고 I'm going to + 기본 모양 + 때로 문장을 만들어 말합니다.
시간: 약 3분
이렇게 말해 보세요
- “①부터 해 볼까? 내일, 자전거 타기야. 영어로 계획을 말해 줘.”
- “②, ③도 해 볼래? ride는 타다, bake는 굽다, clean은 청소하다야.”
- “어떤 순서로 말했어? I'm going to 다음에 무엇이 왔어?”
정답
- ① I'm going to ride my bike tomorrow.
- ② I'm going to bake cookies this weekend.
- ③ I'm going to clean my room tomorrow.
- 때를 나타내는 말을 문장 앞에 두어 Tomorrow, I'm going to ~.라고 해도 맞습니다.
막히면
- “I'm going to”까지 부모가 말해 주고 아이는 할 일과 때를 이어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비교(going to 다음의 동사 모양)]
목적: going to 다음에는 과거형(played)이 아니라 기본 모양(play)을 쓴다는 것을 비교로 확인합니다(M1).
시간: 약 2분
이렇게 말해 보세요
- “친구가 내일 계획을 두 가지로 말했어. 가와 나를 읽어 볼까?”
- “바르게 말한 것은 어느 쪽이야? 왜 그렇게 생각해?”
- “played는 언제 쓰는 말이었지?”
정답
- 나가 바릅니다. going to 다음에는 동사의 기본 모양(play)을 씁니다. played는 지난 일을 말할 때 쓰는 모양이라 tomorrow와 함께 쓰지 않습니다.
막히면
- S04의 카드를 다시 보며 going to 다음 낱말에 -ed가 있는지 확인하게 합니다.
주의
- 여기까지가 배우는 부분입니다. 아이가 지치면 여기서 나누어 다음 날 S08부터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지난 일과 계획 구별하기]
목적: 때를 나타내는 말과 동사 모양을 단서로 지난 일과 앞으로의 계획을 구별합니다(M3).
시간: 약 4분
이렇게 말해 보세요
- “①부터 읽어 볼까? 지난 일이야, 앞으로의 계획이야? 어떻게 알았어?”
- “②, ③, ④도 해 보자. 단서가 두 개씩 있어. 찾아볼래?”
정답
- ① 지난 일(watched, yesterday) ② 계획(going to watch, tomorrow) ③ 계획(going to visit, this weekend) ④ 지난 일(visited, yesterday)
막히면
- 때를 나타내는 말(yesterday, tomorrow, this weekend)에 먼저 손가락을 대게 합니다.
- 그다음 동사 모양(-ed인지, going to인지)을 확인하게 합니다.
주의
- ①과 ②는 같은 일(영화 보기)이지만 때가 다릅니다. 같은 동사도 모양이 달라진다는 것을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주말 계획 인터뷰]
목적: 달력을 보며 서로의 주말 계획을 묻고 답합니다.
시간: 약 5분
이렇게 말해 보세요
- “달력에서 이번 주말을 찾아볼까? 엄마(아빠)에게 영어로 물어봐. What are you going to do this weekend?”
- (부모의 대답 예) “I'm going to go hiking. I'm going to cook spaghetti.” → “엄마(아빠)는 무엇을 할 거라고 했어?”
- “이번에는 엄마(아빠)가 물어볼게. What are you going to do this weekend?”
예상 답
- 아이: “What are you going to do this weekend?” 부모의 대답을 듣고 “등산 간대요.”처럼 우리말로 말합니다.
- 역할을 바꾸면 아이: “I'm going to play games.” “I'm going to meet my friend.”
막히면
- 대답할 동사가 떠오르지 않으면 우리말로 말하게 하고 부모가 영어 동사를 알려 줍니다(meet 만나다, go hiking 등산하다, cook 요리하다).
- 질문이 길면 What are you going to do?까지만 말해도 됩니다.
주의
- 두 번 이상 주고받습니다. 계획은 실제 계획이 아니어도 괜찮습니다. 하고 싶은 일을 말해도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계획 말하고 묻기, 구별하기]
목적: 도움 없이 계획을 말하고, 계획을 묻고, 동사 모양을 바르게 쓰고, 지난 일과 계획을 구별하는지 확인합니다.
시간: 약 4분
이렇게 말해 보세요
- “이번에는 혼자 해 볼래? ①, 내일 계획을 하나 영어로 말해 줘.”
- “②, 엄마(아빠)에게 이번 주말 계획을 영어로 물어봐.”
- “③, 빈칸에 swim을 넣어 문장을 읽어 줘.” “④, 이 문장은 지난 일이야, 계획이야? 어떻게 알았어?”
정답
- ① I'm going to ~ tomorrow. (예: I'm going to read a book tomorrow.)
- ② What are you going to do this weekend?
- ③ I'm going to swim this weekend.
- ④ 지난 일(played, yesterday)
- 기준: 네 가지 가운데 세 가지 이상을 스스로 하면 통과입니다. ①③은 I'm(am)과 기본 모양을 써야 맞습니다. 소리가 조금 서툴러도 알맞은 표현을 골라 말했으면 맞은 것으로 봅니다.
막히면
- 바로 알려 주지 말고 “계획을 말할 때 쓰는 말이 뭐였지?”라고만 말합니다.
- 도움을 받아 해결했다면 기록표에 ‘도움’으로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대답을 확인하고 흔한 실수와 비교합니다.
시간: 약 2분
이렇게 말해 보세요
- “네가 말한 것과 왼쪽을 비교해 보자.”
- “오른쪽처럼 말하면 어디가 틀렸을까?”
예상 답
- “going to 다음에는 기본 모양이에요.” “I'm을 빼면 안 돼요.”
주의
- 이 장은 학생용 파일에서 빠집니다. 잘한 점을 먼저 말해 준 뒤 고칠 점을 하나만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확인(바르게 쓴 문장 고르기)]
목적: 처음 보는 형식에서 going to 문장의 틀린 곳을 찾고, 바른 문장을 고르는지 확인합니다(M1, M2).
시간: 약 2분
이렇게 말해 보세요
- “가, 나, 다, 라를 읽어 볼까? 바르게 쓴 문장은 어느 것일까? 왜 그렇게 생각해?”
- “나머지는 어디가 틀렸어?”
정답
- 다. I'm going to play tennis tomorrow.
- 가는 plays → play, 나는 I 다음에 am('m)이 빠짐, 라는 played → play로 고쳐야 합니다.
막히면
- I'm이 있는지, going to 다음 낱말이 기본 모양인지 두 가지만 차례로 확인하게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 첫 5분에 풀 복습을 알려 줍니다.
시간: 약 2분
이렇게 말해 보세요
- “앞으로의 계획을 말할 때 어떻게 말하지?”
- “going to 다음에는 어떤 모양을 써?”
예상 답
- “I'm going to ~.” “동사의 기본 모양이요.”
정답
- ① 내일
- ② 예: I'm going to read a book this weekend.
- ③ What are you going to do this weekend?
주의
- 저녁마다 “What are you going to do tomorrow?”라고 물어 내일 계획을 한 문장씩 말해 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보충(지난 일 말하기)]
목적: S02에서 지난 일 말하기가 흔들리면, 계획 말하기를 배우기 전에 먼저 다집니다.
시간: 약 5분
이렇게 말해 보세요
- “소리를 듣고 따라 읽어 보자.” (교과서 디지털 자료나 사전 앱의 소리를 함께 듣습니다.)
- “play에 -ed를 붙이면 played, 어제 한 일을 말할 때 써.”
- “어제 한 일을 하나 골라 말해 볼래? I played … yesterday.”
정답
- played 놀았다(했다), watched 보았다, visited 방문했다, yesterday 어제 / 예: I watched TV yesterday.
막히면
- 부모가 먼저 말하고 아이가 따라 말하는 것부터 다시 합니다.
주의
- 보충 뒤에도 지난 일을 영어로 말하지 못하면 5학년 ‘지난 일 말하기’ 차시를 먼저 다시 하고 이 차시를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영어 · 말하기와쓰기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영어 · 계획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영어 · 계획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영어 · 계획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 말하기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주말에 무엇을 할지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어떻게 말할까요?</a:t>
            </a:r>
            <a:endParaRPr lang="ko-KR" sz="2800" dirty="0"/>
          </a:p>
        </p:txBody>
      </p:sp>
      <p:sp>
        <p:nvSpPr>
          <p:cNvPr id="4" name="S01-word1"/>
          <p:cNvSpPr txBox="1"/>
          <p:nvPr/>
        </p:nvSpPr>
        <p:spPr>
          <a:xfrm>
            <a:off x="7680960" y="6400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tomorrow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</a:t>
            </a:r>
            <a:endParaRPr lang="ko-KR" sz="3200" dirty="0"/>
          </a:p>
        </p:txBody>
      </p:sp>
      <p:sp>
        <p:nvSpPr>
          <p:cNvPr id="5" name="S01-word2"/>
          <p:cNvSpPr txBox="1"/>
          <p:nvPr/>
        </p:nvSpPr>
        <p:spPr>
          <a:xfrm>
            <a:off x="7680960" y="22402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this weekend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주말</a:t>
            </a:r>
            <a:endParaRPr lang="ko-KR" sz="3200" dirty="0"/>
          </a:p>
        </p:txBody>
      </p:sp>
      <p:sp>
        <p:nvSpPr>
          <p:cNvPr id="6" name="S01-card3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7" name="S01-cardtext4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I'm going to ~.로 내 계획을 말하고 써요.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What are you going to do ~?로 계획을 물어요.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일 떠올리기</a:t>
            </a:r>
            <a:endParaRPr lang="ko-KR" sz="4000" dirty="0"/>
          </a:p>
        </p:txBody>
      </p:sp>
      <p:sp>
        <p:nvSpPr>
          <p:cNvPr id="3" name="S02-text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뜻을 말하고, ③은 영어로 말해요.</a:t>
            </a:r>
            <a:endParaRPr lang="ko-KR" sz="2800" dirty="0"/>
          </a:p>
        </p:txBody>
      </p:sp>
      <p:sp>
        <p:nvSpPr>
          <p:cNvPr id="4" name="S02-chip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7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played soccer yesterday.</a:t>
            </a:r>
            <a:endParaRPr lang="ko-KR" sz="2800" dirty="0"/>
          </a:p>
        </p:txBody>
      </p:sp>
      <p:sp>
        <p:nvSpPr>
          <p:cNvPr id="6" name="S02-chip8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9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yesterday</a:t>
            </a:r>
            <a:endParaRPr lang="ko-KR" sz="2800" dirty="0"/>
          </a:p>
        </p:txBody>
      </p:sp>
      <p:sp>
        <p:nvSpPr>
          <p:cNvPr id="8" name="S02-chip1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text11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한 일을 영어로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어제, 오늘, 내일</a:t>
            </a:r>
            <a:endParaRPr lang="ko-KR" sz="4000" dirty="0"/>
          </a:p>
        </p:txBody>
      </p:sp>
      <p:sp>
        <p:nvSpPr>
          <p:cNvPr id="3" name="S03-card12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3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this weekend(이번 주말)도 앞으로의 일이에요. 계획을 말할 때 써요.</a:t>
            </a:r>
            <a:endParaRPr lang="ko-KR" sz="2800" dirty="0"/>
          </a:p>
        </p:txBody>
      </p:sp>
      <p:sp>
        <p:nvSpPr>
          <p:cNvPr id="5" name="S03-line14"/>
          <p:cNvSpPr/>
          <p:nvPr/>
        </p:nvSpPr>
        <p:spPr>
          <a:xfrm>
            <a:off x="822960" y="3059176"/>
            <a:ext cx="10543032" cy="0"/>
          </a:xfrm>
          <a:prstGeom prst="line">
            <a:avLst/>
          </a:prstGeom>
          <a:noFill/>
          <a:ln w="38100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6" name="S03-event15"/>
          <p:cNvSpPr/>
          <p:nvPr/>
        </p:nvSpPr>
        <p:spPr>
          <a:xfrm>
            <a:off x="2461260" y="2940304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03-label16"/>
          <p:cNvSpPr txBox="1"/>
          <p:nvPr/>
        </p:nvSpPr>
        <p:spPr>
          <a:xfrm>
            <a:off x="868680" y="2211451"/>
            <a:ext cx="3422904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yesterday</a:t>
            </a:r>
            <a:endParaRPr lang="ko-KR" sz="3000" dirty="0"/>
          </a:p>
        </p:txBody>
      </p:sp>
      <p:sp>
        <p:nvSpPr>
          <p:cNvPr id="8" name="S03-label17"/>
          <p:cNvSpPr txBox="1"/>
          <p:nvPr/>
        </p:nvSpPr>
        <p:spPr>
          <a:xfrm>
            <a:off x="868680" y="3287776"/>
            <a:ext cx="3422904" cy="474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· 지난 일</a:t>
            </a:r>
            <a:endParaRPr lang="ko-KR" sz="2600" dirty="0"/>
          </a:p>
        </p:txBody>
      </p:sp>
      <p:sp>
        <p:nvSpPr>
          <p:cNvPr id="9" name="S03-event18"/>
          <p:cNvSpPr/>
          <p:nvPr/>
        </p:nvSpPr>
        <p:spPr>
          <a:xfrm>
            <a:off x="5975604" y="2940304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03-label19"/>
          <p:cNvSpPr txBox="1"/>
          <p:nvPr/>
        </p:nvSpPr>
        <p:spPr>
          <a:xfrm>
            <a:off x="4383024" y="2211451"/>
            <a:ext cx="3422904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today</a:t>
            </a:r>
            <a:endParaRPr lang="ko-KR" sz="3000" dirty="0"/>
          </a:p>
        </p:txBody>
      </p:sp>
      <p:sp>
        <p:nvSpPr>
          <p:cNvPr id="11" name="S03-label20"/>
          <p:cNvSpPr txBox="1"/>
          <p:nvPr/>
        </p:nvSpPr>
        <p:spPr>
          <a:xfrm>
            <a:off x="4383024" y="3287776"/>
            <a:ext cx="3422904" cy="474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</a:t>
            </a:r>
            <a:endParaRPr lang="ko-KR" sz="2600" dirty="0"/>
          </a:p>
        </p:txBody>
      </p:sp>
      <p:sp>
        <p:nvSpPr>
          <p:cNvPr id="12" name="S03-event21"/>
          <p:cNvSpPr/>
          <p:nvPr/>
        </p:nvSpPr>
        <p:spPr>
          <a:xfrm>
            <a:off x="9489948" y="2940304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03-label22"/>
          <p:cNvSpPr txBox="1"/>
          <p:nvPr/>
        </p:nvSpPr>
        <p:spPr>
          <a:xfrm>
            <a:off x="7897368" y="2211451"/>
            <a:ext cx="3422904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tomorrow</a:t>
            </a:r>
            <a:endParaRPr lang="ko-KR" sz="3000" dirty="0"/>
          </a:p>
        </p:txBody>
      </p:sp>
      <p:sp>
        <p:nvSpPr>
          <p:cNvPr id="14" name="S03-label23"/>
          <p:cNvSpPr txBox="1"/>
          <p:nvPr/>
        </p:nvSpPr>
        <p:spPr>
          <a:xfrm>
            <a:off x="7897368" y="3287776"/>
            <a:ext cx="3422904" cy="474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 · 계획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going to ~.</a:t>
            </a:r>
            <a:endParaRPr lang="ko-KR" sz="4000" dirty="0"/>
          </a:p>
        </p:txBody>
      </p:sp>
      <p:sp>
        <p:nvSpPr>
          <p:cNvPr id="3" name="S04-card24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5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 going to 다음에는 동사의 기본 모양(read, play, visit)을 써요.</a:t>
            </a:r>
            <a:endParaRPr lang="ko-KR" sz="2800" dirty="0"/>
          </a:p>
        </p:txBody>
      </p:sp>
      <p:sp>
        <p:nvSpPr>
          <p:cNvPr id="5" name="S04-word26"/>
          <p:cNvSpPr txBox="1"/>
          <p:nvPr/>
        </p:nvSpPr>
        <p:spPr>
          <a:xfrm>
            <a:off x="548640" y="1325880"/>
            <a:ext cx="11091672" cy="972651"/>
          </a:xfrm>
          <a:prstGeom prst="roundRect">
            <a:avLst>
              <a:gd name="adj" fmla="val 1316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going to read a book.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책을 읽을 거예요.</a:t>
            </a:r>
            <a:endParaRPr lang="ko-KR" sz="3200" dirty="0"/>
          </a:p>
        </p:txBody>
      </p:sp>
      <p:sp>
        <p:nvSpPr>
          <p:cNvPr id="6" name="S04-word27"/>
          <p:cNvSpPr txBox="1"/>
          <p:nvPr/>
        </p:nvSpPr>
        <p:spPr>
          <a:xfrm>
            <a:off x="548640" y="2572851"/>
            <a:ext cx="11091672" cy="972651"/>
          </a:xfrm>
          <a:prstGeom prst="roundRect">
            <a:avLst>
              <a:gd name="adj" fmla="val 1316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going to play soccer.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축구를 할 거예요.</a:t>
            </a:r>
            <a:endParaRPr lang="ko-KR" sz="3200" dirty="0"/>
          </a:p>
        </p:txBody>
      </p:sp>
      <p:sp>
        <p:nvSpPr>
          <p:cNvPr id="7" name="S04-word28"/>
          <p:cNvSpPr txBox="1"/>
          <p:nvPr/>
        </p:nvSpPr>
        <p:spPr>
          <a:xfrm>
            <a:off x="548640" y="3819821"/>
            <a:ext cx="11091672" cy="972651"/>
          </a:xfrm>
          <a:prstGeom prst="roundRect">
            <a:avLst>
              <a:gd name="adj" fmla="val 1316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going to visit the museum.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박물관에 갈 거예요.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are you going to do?</a:t>
            </a:r>
            <a:endParaRPr lang="ko-KR" sz="4000" dirty="0"/>
          </a:p>
        </p:txBody>
      </p:sp>
      <p:sp>
        <p:nvSpPr>
          <p:cNvPr id="3" name="S05-text2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역할을 나누어 말해요.</a:t>
            </a:r>
            <a:endParaRPr lang="ko-KR" sz="2800" dirty="0"/>
          </a:p>
        </p:txBody>
      </p:sp>
      <p:sp>
        <p:nvSpPr>
          <p:cNvPr id="4" name="S05-card30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1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 are you going to do ~?는 ‘~에 무엇을 할 거니?’라는 뜻이에요.</a:t>
            </a:r>
            <a:endParaRPr lang="ko-KR" sz="2800" dirty="0"/>
          </a:p>
        </p:txBody>
      </p:sp>
      <p:sp>
        <p:nvSpPr>
          <p:cNvPr id="6" name="S05-passagebox32"/>
          <p:cNvSpPr/>
          <p:nvPr/>
        </p:nvSpPr>
        <p:spPr>
          <a:xfrm>
            <a:off x="548640" y="2011680"/>
            <a:ext cx="11091672" cy="2780792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7" name="S05-passage33"/>
          <p:cNvSpPr txBox="1"/>
          <p:nvPr/>
        </p:nvSpPr>
        <p:spPr>
          <a:xfrm>
            <a:off x="822960" y="2194560"/>
            <a:ext cx="10543032" cy="241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What are you going to do this weekend?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I'm going to watch a movie.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What are you going to do tomorrow?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I'm going to clean my room.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계획을 말해요</a:t>
            </a:r>
            <a:endParaRPr lang="ko-KR" sz="4000" dirty="0"/>
          </a:p>
        </p:txBody>
      </p:sp>
      <p:sp>
        <p:nvSpPr>
          <p:cNvPr id="3" name="S06-text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단서를 보고 I'm going to ~.로 계획을 말해요.</a:t>
            </a:r>
            <a:endParaRPr lang="ko-KR" sz="2800" dirty="0"/>
          </a:p>
        </p:txBody>
      </p:sp>
      <p:sp>
        <p:nvSpPr>
          <p:cNvPr id="4" name="S06-card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 going to + 기본 모양 + 때(tomorrow, this weekend)</a:t>
            </a:r>
            <a:endParaRPr lang="ko-KR" sz="2800" dirty="0"/>
          </a:p>
        </p:txBody>
      </p:sp>
      <p:sp>
        <p:nvSpPr>
          <p:cNvPr id="6" name="S06-chip3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6-text38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tomorrow　·　ride my bike</a:t>
            </a:r>
            <a:endParaRPr lang="ko-KR" sz="2800" dirty="0"/>
          </a:p>
        </p:txBody>
      </p:sp>
      <p:sp>
        <p:nvSpPr>
          <p:cNvPr id="8" name="S06-chip3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6-text40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this weekend　·　bake cookies</a:t>
            </a:r>
            <a:endParaRPr lang="ko-KR" sz="2800" dirty="0"/>
          </a:p>
        </p:txBody>
      </p:sp>
      <p:sp>
        <p:nvSpPr>
          <p:cNvPr id="10" name="S06-chip4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6-text42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tomorrow　·　clean my room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played일까요, play일까요?</a:t>
            </a:r>
            <a:endParaRPr lang="ko-KR" sz="4000" dirty="0"/>
          </a:p>
        </p:txBody>
      </p:sp>
      <p:sp>
        <p:nvSpPr>
          <p:cNvPr id="3" name="S07-card4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4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내일 계획을 두 가지로 말했어요.</a:t>
            </a:r>
            <a:endParaRPr lang="ko-KR" sz="2800" dirty="0"/>
          </a:p>
        </p:txBody>
      </p:sp>
      <p:sp>
        <p:nvSpPr>
          <p:cNvPr id="5" name="S07-card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말한 것은 어느 쪽인가요? 무엇이 다른가요?</a:t>
            </a:r>
            <a:endParaRPr lang="ko-KR" sz="2800" dirty="0"/>
          </a:p>
        </p:txBody>
      </p:sp>
      <p:sp>
        <p:nvSpPr>
          <p:cNvPr id="7" name="S07-chip4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7-text4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going to played soccer tomorrow.</a:t>
            </a:r>
            <a:endParaRPr lang="ko-KR" sz="2800" dirty="0"/>
          </a:p>
        </p:txBody>
      </p:sp>
      <p:sp>
        <p:nvSpPr>
          <p:cNvPr id="9" name="S07-chip4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7-text5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going to play soccer tomorrow.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일일까요, 계획일까요?</a:t>
            </a:r>
            <a:endParaRPr lang="ko-KR" sz="4000" dirty="0"/>
          </a:p>
        </p:txBody>
      </p:sp>
      <p:sp>
        <p:nvSpPr>
          <p:cNvPr id="3" name="S08-text5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일인가요, 앞으로의 계획인가요? 단서를 찾아요.</a:t>
            </a:r>
            <a:endParaRPr lang="ko-KR" sz="2800" dirty="0"/>
          </a:p>
        </p:txBody>
      </p:sp>
      <p:sp>
        <p:nvSpPr>
          <p:cNvPr id="4" name="S08-card52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53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일: yesterday, -ed　·　계획: tomorrow, this weekend, going to</a:t>
            </a:r>
            <a:endParaRPr lang="ko-KR" sz="2800" dirty="0"/>
          </a:p>
        </p:txBody>
      </p:sp>
      <p:sp>
        <p:nvSpPr>
          <p:cNvPr id="6" name="S08-chip54"/>
          <p:cNvSpPr txBox="1"/>
          <p:nvPr/>
        </p:nvSpPr>
        <p:spPr>
          <a:xfrm>
            <a:off x="548640" y="237769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8-text55"/>
          <p:cNvSpPr txBox="1"/>
          <p:nvPr/>
        </p:nvSpPr>
        <p:spPr>
          <a:xfrm>
            <a:off x="1344168" y="2011680"/>
            <a:ext cx="4567428" cy="1298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watched a movie yesterday.</a:t>
            </a:r>
            <a:endParaRPr lang="ko-KR" sz="2800" dirty="0"/>
          </a:p>
        </p:txBody>
      </p:sp>
      <p:sp>
        <p:nvSpPr>
          <p:cNvPr id="8" name="S08-chip56"/>
          <p:cNvSpPr txBox="1"/>
          <p:nvPr/>
        </p:nvSpPr>
        <p:spPr>
          <a:xfrm>
            <a:off x="6277356" y="237769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8-text57"/>
          <p:cNvSpPr txBox="1"/>
          <p:nvPr/>
        </p:nvSpPr>
        <p:spPr>
          <a:xfrm>
            <a:off x="7072884" y="2011680"/>
            <a:ext cx="4567428" cy="1298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going to watch a movie tomorrow.</a:t>
            </a:r>
            <a:endParaRPr lang="ko-KR" sz="2800" dirty="0"/>
          </a:p>
        </p:txBody>
      </p:sp>
      <p:sp>
        <p:nvSpPr>
          <p:cNvPr id="10" name="S08-chip58"/>
          <p:cNvSpPr txBox="1"/>
          <p:nvPr/>
        </p:nvSpPr>
        <p:spPr>
          <a:xfrm>
            <a:off x="548640" y="385953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8-text59"/>
          <p:cNvSpPr txBox="1"/>
          <p:nvPr/>
        </p:nvSpPr>
        <p:spPr>
          <a:xfrm>
            <a:off x="1344168" y="3493516"/>
            <a:ext cx="4567428" cy="1298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going to visit my grandma this weekend.</a:t>
            </a:r>
            <a:endParaRPr lang="ko-KR" sz="2800" dirty="0"/>
          </a:p>
        </p:txBody>
      </p:sp>
      <p:sp>
        <p:nvSpPr>
          <p:cNvPr id="12" name="S08-chip60"/>
          <p:cNvSpPr txBox="1"/>
          <p:nvPr/>
        </p:nvSpPr>
        <p:spPr>
          <a:xfrm>
            <a:off x="6277356" y="385953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8-text61"/>
          <p:cNvSpPr txBox="1"/>
          <p:nvPr/>
        </p:nvSpPr>
        <p:spPr>
          <a:xfrm>
            <a:off x="7072884" y="3493516"/>
            <a:ext cx="4567428" cy="1298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visited the museum yesterday.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주말 계획 인터뷰</a:t>
            </a:r>
            <a:endParaRPr lang="ko-KR" sz="4000" dirty="0"/>
          </a:p>
        </p:txBody>
      </p:sp>
      <p:sp>
        <p:nvSpPr>
          <p:cNvPr id="3" name="S09-card62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63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What are you going to do ~?로 물었어요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going to 다음에 기본 모양을 썼어요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들은 계획을 바르게 말했어요</a:t>
            </a:r>
            <a:endParaRPr lang="ko-KR" sz="2800" dirty="0"/>
          </a:p>
        </p:txBody>
      </p:sp>
      <p:sp>
        <p:nvSpPr>
          <p:cNvPr id="5" name="S09-stepno64"/>
          <p:cNvSpPr txBox="1"/>
          <p:nvPr/>
        </p:nvSpPr>
        <p:spPr>
          <a:xfrm>
            <a:off x="548640" y="1949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09-text65"/>
          <p:cNvSpPr txBox="1"/>
          <p:nvPr/>
        </p:nvSpPr>
        <p:spPr>
          <a:xfrm>
            <a:off x="1325880" y="19491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달력에서 이번 주말을 찾아요.</a:t>
            </a:r>
            <a:endParaRPr lang="ko-KR" sz="2800" dirty="0"/>
          </a:p>
        </p:txBody>
      </p:sp>
      <p:sp>
        <p:nvSpPr>
          <p:cNvPr id="7" name="S09-stepno66"/>
          <p:cNvSpPr txBox="1"/>
          <p:nvPr/>
        </p:nvSpPr>
        <p:spPr>
          <a:xfrm>
            <a:off x="548640" y="27081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09-text67"/>
          <p:cNvSpPr txBox="1"/>
          <p:nvPr/>
        </p:nvSpPr>
        <p:spPr>
          <a:xfrm>
            <a:off x="1325880" y="2662428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 are you going to do this weekend?로 물어요.</a:t>
            </a:r>
            <a:endParaRPr lang="ko-KR" sz="2800" dirty="0"/>
          </a:p>
        </p:txBody>
      </p:sp>
      <p:sp>
        <p:nvSpPr>
          <p:cNvPr id="9" name="S09-stepno68"/>
          <p:cNvSpPr txBox="1"/>
          <p:nvPr/>
        </p:nvSpPr>
        <p:spPr>
          <a:xfrm>
            <a:off x="548640" y="37404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09-text69"/>
          <p:cNvSpPr txBox="1"/>
          <p:nvPr/>
        </p:nvSpPr>
        <p:spPr>
          <a:xfrm>
            <a:off x="1325880" y="3694684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대답을 듣고 무엇을 할지 우리말로 말해요.</a:t>
            </a:r>
            <a:endParaRPr lang="ko-KR" sz="2800" dirty="0"/>
          </a:p>
        </p:txBody>
      </p:sp>
      <p:sp>
        <p:nvSpPr>
          <p:cNvPr id="11" name="S09-stepno70"/>
          <p:cNvSpPr txBox="1"/>
          <p:nvPr/>
        </p:nvSpPr>
        <p:spPr>
          <a:xfrm>
            <a:off x="548640" y="4772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09-text71"/>
          <p:cNvSpPr txBox="1"/>
          <p:nvPr/>
        </p:nvSpPr>
        <p:spPr>
          <a:xfrm>
            <a:off x="1325880" y="472694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역할을 바꿔 I'm going to ~.로 대답해요.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영어로 말하고, ③④는 읽고 답해요.</a:t>
            </a:r>
            <a:endParaRPr lang="ko-KR" sz="2800" dirty="0"/>
          </a:p>
        </p:txBody>
      </p:sp>
      <p:sp>
        <p:nvSpPr>
          <p:cNvPr id="4" name="S10-chip7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0-text74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 계획을 영어로 말해요.</a:t>
            </a:r>
            <a:endParaRPr lang="ko-KR" sz="2800" dirty="0"/>
          </a:p>
        </p:txBody>
      </p:sp>
      <p:sp>
        <p:nvSpPr>
          <p:cNvPr id="6" name="S10-chip75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0-text76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주말 계획을 영어로 물어요.</a:t>
            </a:r>
            <a:endParaRPr lang="ko-KR" sz="2800" dirty="0"/>
          </a:p>
        </p:txBody>
      </p:sp>
      <p:sp>
        <p:nvSpPr>
          <p:cNvPr id="8" name="S10-chip77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0-text78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going to ______ this weekend. (swim)</a:t>
            </a:r>
            <a:endParaRPr lang="ko-KR" sz="2800" dirty="0"/>
          </a:p>
        </p:txBody>
      </p:sp>
      <p:sp>
        <p:nvSpPr>
          <p:cNvPr id="10" name="S10-chip79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10-text80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played badminton yesterday.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1-card8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8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going to + 기본 모양 + 때(tomorrow, this weekend)</a:t>
            </a:r>
            <a:endParaRPr lang="ko-KR" sz="2800" dirty="0"/>
          </a:p>
        </p:txBody>
      </p:sp>
      <p:sp>
        <p:nvSpPr>
          <p:cNvPr id="5" name="S11-chip83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1-text84"/>
          <p:cNvSpPr txBox="1"/>
          <p:nvPr/>
        </p:nvSpPr>
        <p:spPr>
          <a:xfrm>
            <a:off x="548640" y="20574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I'm going to ~ tomorrow.</a:t>
            </a:r>
            <a:endParaRPr lang="ko-KR" sz="2800" dirty="0"/>
          </a:p>
        </p:txBody>
      </p:sp>
      <p:sp>
        <p:nvSpPr>
          <p:cNvPr id="7" name="S11-text85"/>
          <p:cNvSpPr txBox="1"/>
          <p:nvPr/>
        </p:nvSpPr>
        <p:spPr>
          <a:xfrm>
            <a:off x="548640" y="28575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What are you going to do?</a:t>
            </a:r>
            <a:endParaRPr lang="ko-KR" sz="2800" dirty="0"/>
          </a:p>
        </p:txBody>
      </p:sp>
      <p:sp>
        <p:nvSpPr>
          <p:cNvPr id="8" name="S11-text86"/>
          <p:cNvSpPr txBox="1"/>
          <p:nvPr/>
        </p:nvSpPr>
        <p:spPr>
          <a:xfrm>
            <a:off x="548640" y="36576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I'm going to swim.</a:t>
            </a:r>
            <a:endParaRPr lang="ko-KR" sz="2800" dirty="0"/>
          </a:p>
        </p:txBody>
      </p:sp>
      <p:sp>
        <p:nvSpPr>
          <p:cNvPr id="9" name="S11-text87"/>
          <p:cNvSpPr txBox="1"/>
          <p:nvPr/>
        </p:nvSpPr>
        <p:spPr>
          <a:xfrm>
            <a:off x="548640" y="44577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지난 일 (played, yesterday)</a:t>
            </a:r>
            <a:endParaRPr lang="ko-KR" sz="2200" dirty="0"/>
          </a:p>
        </p:txBody>
      </p:sp>
      <p:sp>
        <p:nvSpPr>
          <p:cNvPr id="10" name="S11-chip88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1" name="S11-text89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going to swim.</a:t>
            </a:r>
            <a:endParaRPr lang="ko-KR" sz="2800" dirty="0"/>
          </a:p>
        </p:txBody>
      </p:sp>
      <p:sp>
        <p:nvSpPr>
          <p:cNvPr id="12" name="S11-text90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am('m)이 빠짐</a:t>
            </a:r>
            <a:endParaRPr lang="ko-KR" sz="2200" dirty="0"/>
          </a:p>
        </p:txBody>
      </p:sp>
      <p:sp>
        <p:nvSpPr>
          <p:cNvPr id="13" name="S11-text91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going to swimming</a:t>
            </a:r>
            <a:endParaRPr lang="ko-KR" sz="2800" dirty="0"/>
          </a:p>
        </p:txBody>
      </p:sp>
      <p:sp>
        <p:nvSpPr>
          <p:cNvPr id="14" name="S11-text92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모양 swim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쓴 문장은?</a:t>
            </a:r>
            <a:endParaRPr lang="ko-KR" sz="4000" dirty="0"/>
          </a:p>
        </p:txBody>
      </p:sp>
      <p:sp>
        <p:nvSpPr>
          <p:cNvPr id="3" name="S12-card9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9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쓴 문장은 어느 것일까요? 나머지는 어디가 틀렸나요?</a:t>
            </a:r>
            <a:endParaRPr lang="ko-KR" sz="2800" dirty="0"/>
          </a:p>
        </p:txBody>
      </p:sp>
      <p:sp>
        <p:nvSpPr>
          <p:cNvPr id="5" name="S12-chip95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2-card96"/>
          <p:cNvSpPr/>
          <p:nvPr/>
        </p:nvSpPr>
        <p:spPr>
          <a:xfrm>
            <a:off x="1344168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2-cardtext97"/>
          <p:cNvSpPr txBox="1"/>
          <p:nvPr/>
        </p:nvSpPr>
        <p:spPr>
          <a:xfrm>
            <a:off x="1618488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going to plays tennis tomorrow.</a:t>
            </a:r>
            <a:endParaRPr lang="ko-KR" sz="2800" dirty="0"/>
          </a:p>
        </p:txBody>
      </p:sp>
      <p:sp>
        <p:nvSpPr>
          <p:cNvPr id="8" name="S12-chip98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9" name="S12-card99"/>
          <p:cNvSpPr/>
          <p:nvPr/>
        </p:nvSpPr>
        <p:spPr>
          <a:xfrm>
            <a:off x="7072884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2-cardtext100"/>
          <p:cNvSpPr txBox="1"/>
          <p:nvPr/>
        </p:nvSpPr>
        <p:spPr>
          <a:xfrm>
            <a:off x="7347204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going to play tennis tomorrow.</a:t>
            </a:r>
            <a:endParaRPr lang="ko-KR" sz="2800" dirty="0"/>
          </a:p>
        </p:txBody>
      </p:sp>
      <p:sp>
        <p:nvSpPr>
          <p:cNvPr id="11" name="S12-chip101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2" name="S12-card102"/>
          <p:cNvSpPr/>
          <p:nvPr/>
        </p:nvSpPr>
        <p:spPr>
          <a:xfrm>
            <a:off x="1344168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2-cardtext103"/>
          <p:cNvSpPr txBox="1"/>
          <p:nvPr/>
        </p:nvSpPr>
        <p:spPr>
          <a:xfrm>
            <a:off x="1618488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going to play tennis tomorrow.</a:t>
            </a:r>
            <a:endParaRPr lang="ko-KR" sz="2800" dirty="0"/>
          </a:p>
        </p:txBody>
      </p:sp>
      <p:sp>
        <p:nvSpPr>
          <p:cNvPr id="14" name="S12-chip104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5" name="S12-card105"/>
          <p:cNvSpPr/>
          <p:nvPr/>
        </p:nvSpPr>
        <p:spPr>
          <a:xfrm>
            <a:off x="7072884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2-cardtext106"/>
          <p:cNvSpPr txBox="1"/>
          <p:nvPr/>
        </p:nvSpPr>
        <p:spPr>
          <a:xfrm>
            <a:off x="7347204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going to played tennis tomorrow.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07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08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계획: I'm going to + 기본 모양 + tomorrow / this weekend.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묻기: What are you going to do ~?</a:t>
            </a:r>
            <a:endParaRPr lang="ko-KR" sz="2800" dirty="0"/>
          </a:p>
        </p:txBody>
      </p:sp>
      <p:sp>
        <p:nvSpPr>
          <p:cNvPr id="5" name="S13-chip109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I'm going to play</a:t>
            </a:r>
            <a:endParaRPr lang="ko-KR" sz="2200" dirty="0"/>
          </a:p>
        </p:txBody>
      </p:sp>
      <p:sp>
        <p:nvSpPr>
          <p:cNvPr id="6" name="S13-chip110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I'm going to played</a:t>
            </a:r>
            <a:endParaRPr lang="ko-KR" sz="2200" dirty="0"/>
          </a:p>
        </p:txBody>
      </p:sp>
      <p:sp>
        <p:nvSpPr>
          <p:cNvPr id="7" name="S13-text111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112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tomorrow의 뜻은?</a:t>
            </a:r>
            <a:endParaRPr lang="ko-KR" sz="2200" dirty="0"/>
          </a:p>
        </p:txBody>
      </p:sp>
      <p:sp>
        <p:nvSpPr>
          <p:cNvPr id="9" name="S13-text113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이번 주말 계획을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말하기</a:t>
            </a:r>
            <a:endParaRPr lang="ko-KR" sz="2200" dirty="0"/>
          </a:p>
        </p:txBody>
      </p:sp>
      <p:sp>
        <p:nvSpPr>
          <p:cNvPr id="10" name="S13-text114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‘주말에 뭐 할 거야?’를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묻기</a:t>
            </a:r>
            <a:endParaRPr lang="ko-KR" sz="2200" dirty="0"/>
          </a:p>
        </p:txBody>
      </p:sp>
      <p:sp>
        <p:nvSpPr>
          <p:cNvPr id="11" name="S13-text11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비교하기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지난 일 다시 말하기</a:t>
            </a:r>
            <a:endParaRPr lang="ko-KR" sz="4000" dirty="0"/>
          </a:p>
        </p:txBody>
      </p:sp>
      <p:sp>
        <p:nvSpPr>
          <p:cNvPr id="3" name="S14-card1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1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 played soccer yesterday. → 어제 한 일(지난 일)</a:t>
            </a:r>
            <a:endParaRPr lang="ko-KR" sz="2800" dirty="0"/>
          </a:p>
        </p:txBody>
      </p:sp>
      <p:sp>
        <p:nvSpPr>
          <p:cNvPr id="5" name="S14-word118"/>
          <p:cNvSpPr txBox="1"/>
          <p:nvPr/>
        </p:nvSpPr>
        <p:spPr>
          <a:xfrm>
            <a:off x="548640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played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play → 했다, 놀았다</a:t>
            </a:r>
            <a:endParaRPr lang="ko-KR" sz="3200" dirty="0"/>
          </a:p>
        </p:txBody>
      </p:sp>
      <p:sp>
        <p:nvSpPr>
          <p:cNvPr id="6" name="S14-word119"/>
          <p:cNvSpPr txBox="1"/>
          <p:nvPr/>
        </p:nvSpPr>
        <p:spPr>
          <a:xfrm>
            <a:off x="6231636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watched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watch → 보았다</a:t>
            </a:r>
            <a:endParaRPr lang="ko-KR" sz="3200" dirty="0"/>
          </a:p>
        </p:txBody>
      </p:sp>
      <p:sp>
        <p:nvSpPr>
          <p:cNvPr id="7" name="S14-word120"/>
          <p:cNvSpPr txBox="1"/>
          <p:nvPr/>
        </p:nvSpPr>
        <p:spPr>
          <a:xfrm>
            <a:off x="548640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visited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visit → 방문했다</a:t>
            </a:r>
            <a:endParaRPr lang="ko-KR" sz="3200" dirty="0"/>
          </a:p>
        </p:txBody>
      </p:sp>
      <p:sp>
        <p:nvSpPr>
          <p:cNvPr id="8" name="S14-word121"/>
          <p:cNvSpPr txBox="1"/>
          <p:nvPr/>
        </p:nvSpPr>
        <p:spPr>
          <a:xfrm>
            <a:off x="6231636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yesterday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영어 계획 말하기</dc:title>
  <dc:subject>KR22-G06-ENG-FUTURE-L01</dc:subject>
  <dc:creator>education-ppt</dc:creator>
  <cp:lastModifiedBy>education-ppt</cp:lastModifiedBy>
  <cp:revision>1</cp:revision>
  <dcterms:created xsi:type="dcterms:W3CDTF">2026-10-26T09:33:44Z</dcterms:created>
  <dcterms:modified xsi:type="dcterms:W3CDTF">2026-10-26T09:33:44Z</dcterms:modified>
</cp:coreProperties>
</file>