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0b74b4c7-0e51-b489-fdcf-56e3a2ebf57f}">
          <p14:sldIdLst>
            <p14:sldId id="256"/>
            <p14:sldId id="257"/>
          </p14:sldIdLst>
        </p14:section>
        <p14:section name="개념" id="{99b9daf4-84d8-9e0e-2a12-284bcdb0a4f9}">
          <p14:sldIdLst>
            <p14:sldId id="258"/>
            <p14:sldId id="259"/>
          </p14:sldIdLst>
        </p14:section>
        <p14:section name="연습" id="{7119333c-c91b-8ee7-90bb-91d95a637322}">
          <p14:sldIdLst>
            <p14:sldId id="260"/>
            <p14:sldId id="261"/>
            <p14:sldId id="262"/>
            <p14:sldId id="263"/>
            <p14:sldId id="264"/>
          </p14:sldIdLst>
        </p14:section>
        <p14:section name="확인" id="{455fd399-f35b-0c3a-7775-cd2c85a22ecf}">
          <p14:sldIdLst>
            <p14:sldId id="265"/>
            <p14:sldId id="266"/>
            <p14:sldId id="267"/>
          </p14:sldIdLst>
        </p14:section>
        <p14:section name="정리" id="{d9df268d-7099-9bb0-4aa7-93816740e508}">
          <p14:sldIdLst>
            <p14:sldId id="268"/>
          </p14:sldIdLst>
        </p14:section>
        <p14:section name="보충" id="{91ab9e7b-d46d-f7df-59d9-b21b9d6b6fca}">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[S01 · 오늘의 질문과 목표]
목적: 일에는 순서가 있고, 글에서 순서를 알려 주는 말이 있다는 것에 관심을 갖게 합니다.
시간: 약 2분
이렇게 말해 보세요
- “아침에 일어나서 학교에 가기 전까지 무엇을 먼저 해? 그다음엔?”
- “영어 글에서도 ‘먼저, 그다음에, 마지막으로’ 같은 말이 순서를 알려 줘. 오늘은 그 말을 찾아 일이 일어난 순서를 알아볼 거야.”
예상 답
- “세수하고, 밥 먹고, 이를 닦아요.”
주의
- 수업 전에 교과서 디지털 자료나 사전 앱의 발음 듣기로 오늘 낱말과 문장(first, then, next, finally, wash her face, eat breakfast, brush her teeth, go to school, bread, jam, piece)을 미리 들어 두세요. 부모님 발음이 완벽하지 않아도 괜찮습니다.
- 소리 자료 없이 진행하면 바른 소리를 확인하기 어렵습니다. 헷갈리는 표현은 기록해 두었다가 소리 자료로 나중에 확인합니다.
- S08과 S12의 듣기 대본은 부모님이 노트(또는 부모용 안내)를 보고 읽어 줍니다. 아이에게는 슬라이드 쇼로 보여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[S02 · 선수 학습 확인(핵심 정보 파악)]
목적: 앞 차시(핵심 정보 파악)에서 익힌 ‘질문 먼저 읽고 필요한 정보 잡기’를 기억하는지, 짧은 대화를 듣고 언제·어디서를 찾는지 확인합니다.
시간: 약 3분
이렇게 말해 보세요
- “③부터 물어볼게. 핵심 정보를 찾을 때 먼저 할 일은?”
- “이제 ①②의 질문을 읽고 대화를 들어 봐.” 부모가 읽을 대본: Mina: Let's meet at the library on Monday. Jiho: Okay. What time? Mina: At four o'clock.
- “언제 만나? 어디에서 만나?”
정답
- ① 월요일 4시(on Monday, at four o'clock) ② 도서관(at the library) ③ 질문을 먼저 읽고 무엇을 찾을지 정해요.
막히면
- 대화를 한 번 더 읽어 줍니다.
- ①②를 두 번 들어도 찾지 못하면 S14(보충)를 먼저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[S03 · 순서를 알려 주는 말(신호어)]
목적: First(먼저), Then(그다음에), Next(그다음에, 다음으로), Finally(마지막으로)의 뜻을 알고, 이런 말이 일의 순서를 알려 준다는 것을 압니다(M2).
시간: 약 3분
이렇게 말해 보세요
- “소리를 듣고 따라 해 보자. First, Then, Next, Finally.”
- “First는 ‘먼저’, Finally는 ‘마지막으로’. Then과 Next는 둘 다 ‘그다음에’라는 뜻이야.”
- “네가 아침에 하는 일을 엄마(아빠)가 우리말로 말해 볼게. 먼저 세수하고, 그다음에 밥 먹고, 마지막으로 학교에 가. 여기서 ‘먼저’는 영어로?”
예상 답
- “First요.” “마지막으로는 Finally요.”
막히면
- 손가락을 하나씩 펴며 First(1), Then(2), Next(3), Finally(마지막)를 말하게 합니다.
주의
- Then과 Next는 뜻이 같아서 Then이 늘 Next보다 먼저 나오는 것은 아닙니다. 둘 다 나오면 내용을 보고 순서를 정합니다(M2).
- 글에서는 First, 처럼 뒤에 쉼표(,)를 찍는 경우가 많습니다.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[S04 · 신호어가 있는 글 읽기]
목적: 신호어가 들어 있는 짧은 글을 읽고, 신호어를 따라 일의 순서를 말합니다.
시간: 약 3분
이렇게 말해 보세요
- “미나의 아침 이야기야. 한 문장씩 같이 읽어 볼까?”
- “washes her face는 세수해요, eats breakfast는 아침을 먹어요, brushes her teeth는 이를 닦아요, goes to school은 학교에 가요.”
- “순서를 알려 주는 말에 손가락을 대 볼래? 미나가 먼저 한 일은? 마지막에 한 일은?”
예상 답
- “First, Then, Next, Finally요.” “먼저 세수해요. 마지막에 학교에 가요.”
막히면
- 부모가 한 문장씩 읽고 아이가 따라 읽게 한 뒤, 신호어만 다시 짚게 합니다.
주의
- washes, eats처럼 끝에 -s, -es가 붙는 것은 ‘미나가(그녀가)’ 하는 일이라서입니다. 오늘은 읽고 이해하는 데 집중하고 따로 가르치지 않아도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[S05 · 흐름도의 빈칸 채우기]
목적: 앞의 글을 떠올려 흐름도의 빈칸(?)에 들어갈 일을 말합니다.
시간: 약 2분
이렇게 말해 보세요
- “미나의 아침을 흐름도로 정리했어. 물음표에 들어갈 일은 뭘까? 영어로 말해도 되고, 우리말로 말해도 돼.”
- “어떻게 알았어? 어떤 말을 보고 알았어?”
정답
- Then → eats breakfast(아침을 먹어요)
- Finally → goes to school(학교에 가요)
막히면
- S04의 글로 돌아가 Then, Finally가 있는 문장을 찾게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[S06 · 섞인 문장 순서대로 놓기]
목적: 순서가 섞인 문장을 읽고 신호어와 내용을 보고 순서대로 놓습니다(M1, M2).
시간: 약 4분
이렇게 말해 보세요
- “잼 샌드위치를 만드는 순서야. 그런데 문장이 섞였어. 먼저 하나씩 읽어 볼까?”
- “piece는 조각, jam은 잼, on top은 맨 위에, cut it in half는 반으로 잘라.”
- “어느 문장이 맨 처음이야? 어떻게 알았어? 그다음은?”
정답
- 다(First) → 라(Then) → 가(Next) → 나(Finally)
- 빵 두 쪽을 꺼내고 → 한 쪽에 잼을 바르고 → 다른 한 쪽을 위에 얹고 → 반으로 자릅니다.
막히면
- 신호어에만 먼저 동그라미를 치듯 손가락으로 짚게 합니다. First와 Finally부터 찾으면 쉽습니다.
- Then과 Next가 헷갈리면 “잼을 먼저 발라야 해, 빵을 먼저 덮어야 해?”라고 내용을 묻습니다.
주의
- 화면에 적힌 차례(가, 나, 다, 라)는 일이 일어난 순서가 아닙니다(M1).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[S07 · 오개념 비교(적힌 차례대로 순서 정하기)]
목적: 글이나 카드가 놓인 차례가 아니라 신호어와 내용으로 순서를 정한다는 것을 비교로 확인합니다(M1).
시간: 약 3분
이렇게 말해 보세요
- “친구는 카드를 위에서부터 놓인 차례대로 1, 2, 3이라고 했어. 가 쪽이야.”
- “나는 순서를 알려 주는 말을 보고 정한 거야. 어느 쪽이 맞을까?”
- “가처럼 하면 무엇이 이상해? 밥을 먹기 전에 잠을 자게 되지?”
정답
- 나가 맞습니다. 카드가 놓인 차례가 아니라 First → Then → Finally의 신호어와 내용을 보고 순서를 정해야 합니다. 가처럼 하면 저녁을 먹기 전에 잠자리에 드는 이상한 순서가 됩니다.
막히면
- 실제로 몸으로 따라 해 보게 합니다. 가의 차례대로 하면 잠을 자고 나서 저녁을 먹게 된다는 것을 웃으며 확인합니다.
주의
- 여기까지가 배우는 부분입니다. 아이가 지치면 여기서 나누어 다음 날 S08부터 해도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[S08 · 이야기를 듣고 순서대로 놓기]
목적: 부모가 읽어 주는 이야기를 듣고, 일어난 순서대로 사건 카드를 고르고 다시 말합니다.
시간: 약 4분
이렇게 말해 보세요
- “먼저 카드 네 장을 같이 읽어 보자. takes a bath는 목욕해요, cleans his room은 방을 청소해요, plays soccer는 축구를 해요, reads a book은 책을 읽어요.”
- “이제 지호의 토요일 이야기를 들려줄게. 일어난 순서대로 카드를 짚어 봐.” 부모가 읽을 대본: Jiho's Saturday. First, Jiho cleans his room. Then, he reads a book. Next, he plays soccer with his friends. Finally, he takes a bath.
- “순서대로 말해 볼래? First, Jiho …”
정답
- 나(cleans his room) → 라(reads a book) → 다(plays soccer) → 가(takes a bath)
- 다시 말하기 예: First, Jiho cleans his room. Then, he reads a book. Next, he plays soccer. Finally, he takes a bath.
막히면
- 한 문장 읽을 때마다 멈추고 그 카드를 짚게 합니다.
- 다시 말하기가 어려우면 부모가 First, Then …을 말해 주고 아이는 카드의 말만 이어 말하게 합니다.
주의
- 대본은 부모님만 봅니다. 보통 빠르기로 두 번 읽어 주세요. 순서를 알려 주는 말(First, Then, Next, Finally)을 일부러 크게 읽지는 않습니다.
- 이 장의 카드는 대본이 아니라 일어난 일만 섞어 놓은 것입니다. 대본은 화면에 나오지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[S09 · 순서 카드 놀이]
목적: 종이 띠에 쓴 순서 문장을 섞고 다시 순서대로 놓으며 읽고 말합니다.
시간: 약 5분
이렇게 말해 보세요
- “엄마(아빠)가 종이 띠 네 장에 문장을 하나씩 쓸게.” (First, I wake up. / Then, I wash my face. / Next, I eat breakfast. / Finally, I go to school.)
- “띠를 섞을게. 순서대로 놓고 소리 내어 읽어 줘. 왜 그 순서야?”
- “이번에는 네가 섞어. 엄마(아빠)가 놓아 볼게. 맞았는지 확인해 줘.”
예상 답
- 아이가 First → Then → Next → Finally 순서로 띠를 놓고 읽습니다. “First가 먼저고 Finally가 마지막이에요.”
막히면
- 띠를 두 장(First, Finally)으로 시작해 하나씩 늘립니다.
- 글씨 쓰기가 어려우면 부모가 쓰고 아이는 놓기와 읽기만 합니다.
주의
- 두 번 이상 합니다. 두 번째에는 ‘Then 대신 Next를 먼저 써도 되는지’ 이야기해 봅니다(M2).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[S10 · 혼자 섞인 문장 순서 정하기]
목적: 도움 없이 섞인 문장을 읽고 신호어와 내용으로 순서를 정하는지 확인합니다.
시간: 약 4분
이렇게 말해 보세요
- “이번에는 혼자 해 볼래? 컵에 씨앗을 심는 순서야. 일어난 순서대로 가~라를 말해 줘.”
- “어떻게 알았어? 라와 가는 왜 그 순서야?”
정답
- 다(First) → 라(Then) → 가(Next) → 나(Finally)
- 흙을 넣고 → 씨앗을 심고 → 물을 주고 → 창가에 둡니다.
- 기준: 네 장 모두 바른 순서이고, 이유를 신호어나 내용으로 말하면 통과입니다.
막히면
- 바로 알려 주지 말고 “맨 처음과 맨 마지막을 알려 주는 말을 찾아볼까?”라고만 말합니다.
- soil 흙, seed 씨앗, give it some water 물을 주다, by the window 창가에. 낱말 뜻은 물어보면 알려 줍니다.
- 도움을 받아 해결했다면 기록표에 ‘도움’으로 표시합니다.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[S11 · 정답과 피드백]
목적: 아이의 대답을 확인하고 흔한 실수와 비교합니다.
시간: 약 2분
이렇게 말해 보세요
- “네가 말한 것과 왼쪽을 비교해 보자.”
- “오른쪽처럼 하면 무엇이 이상할까?”
예상 답
- “씨앗을 심기 전에 물을 주면 안 돼요.” “적힌 차례대로 하면 안 돼요.”
주의
- 이 장은 학생용 파일에서 빠집니다. 잘한 점을 먼저 말해 준 뒤 고칠 점을 하나만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[S12 · 마무리 확인(듣고 순서대로 다시 말하기)]
목적: 처음 듣는 이야기에서 도움 없이 일어난 순서를 찾고, 신호어를 넣어 다시 말하는지 확인합니다.
시간: 약 3분
이렇게 말해 보세요
- “카드를 먼저 읽어 보자. 그다음 유나의 일요일 이야기를 들려줄게.” 부모가 읽을 대본: Yuna's Sunday. First, Yuna meets her friend at the park. Then, they ride bikes. Next, they eat ice cream. Finally, they go home.
- “일어난 순서대로 가~라를 말해 줘. 그다음 First, Then, Next, Finally를 넣어서 다시 말해 볼래?”
정답
- 다(meet at the park) → 라(ride bikes) → 가(eat ice cream) → 나(go home)
- 다시 말하기 예: First, they meet at the park. Then, they ride bikes. Next, they eat ice cream. Finally, they go home.
- 기준: 순서가 모두 맞고, 신호어를 세 개 이상 넣어 다시 말하면 통과입니다. 우리말을 섞어 말해도 순서와 신호어가 맞으면 통과로 봅니다.
막히면
- 한 번 더 들려줍니다. 그래도 어려우면 첫 번째(First)와 마지막(Finally)만 먼저 찾게 합니다.
주의
- 대본은 부모님만 봅니다. 보통 빠르기로 두 번 읽어 주세요. 순서를 알려 주는 말(First, Then, Next, Finally)을 일부러 크게 읽지는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[S13 · 다음 학습과 복습]
목적: 핵심을 정리하고 다음 수업 첫 5분에 풀 복습을 알려 줍니다.
시간: 약 2분
이렇게 말해 보세요
- “순서를 알려 주는 말 네 개를 말해 볼래?”
- “카드가 섞여 있으면 무엇을 보고 순서를 정해?”
예상 답
- “First, Then, Next, Finally요.” “신호어하고 내용을 봐요.”
정답
- ① 마지막으로
- ② 예: First, I wash my face. Then, I eat breakfast. Finally, I go to school.
- ③ 둘 다 ‘그다음에’
주의
- 요리나 만들기를 할 때 First, Then, Finally로 순서를 말해 보는 놀이로 복습해 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[S14 · 선수 학습 보충(핵심 정보, 일과 낱말)]
목적: S02에서 핵심 정보 찾기가 흔들리면, 순서 찾기 전에 먼저 다집니다. 오늘 글에 나오는 일과 낱말도 미리 익힙니다.
시간: 약 5분
이렇게 말해 보세요
- “낱말을 소리를 듣고 따라 읽어 보자.” (교과서 디지털 자료나 사전 앱의 소리를 함께 듣습니다.)
- “엄마(아빠)가 말하는 동작을 몸으로 해 봐. wash my face! brush my teeth!”
- “아래를 보자. 질문을 먼저 읽고 무엇을 찾을지 정했지? When이면 요일·시각, Where면 장소.”
정답
- wash my face 세수하다, eat breakfast 아침을 먹다, brush my teeth 이를 닦다, go to school 학교에 가다
막히면
- 부모가 동작을 보여 주며 낱말을 말하고 아이가 따라 하게 합니다.
주의
- 보충 뒤에도 짧은 대화에서 언제·어디서를 찾지 못하면 앞 차시 ‘핵심 정보 파악’(KR22-G06-ENG-KEYINFO-L01)을 먼저 다시 하고 이 차시를 시작합니다. 일과 낱말이 낯설면 5학년 ‘하루 일과 말하기’ 차시를 먼저 복습하는 것이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rtlCol="0"/>
          <a:lstStyle>
            <a:lvl1pPr algn="l" indent="0" marL="0">
              <a:buNone/>
              <a:defRPr lang="en-US" sz="46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600" dirty="0"/>
          </a:p>
        </p:txBody>
      </p:sp>
      <p:sp>
        <p:nvSpPr>
          <p:cNvPr id="3" name="Text 0"/>
          <p:cNvSpPr/>
          <p:nvPr>
            <p:ph idx="101" type="body" hasCustomPrompt="1"/>
          </p:nvPr>
        </p:nvSpPr>
        <p:spPr>
          <a:xfrm>
            <a:off x="731520" y="1920240"/>
            <a:ext cx="6675120" cy="1645920"/>
          </a:xfrm>
          <a:prstGeom prst="rect">
            <a:avLst/>
          </a:prstGeom>
          <a:noFill/>
          <a:ln/>
        </p:spPr>
        <p:txBody>
          <a:bodyPr wrap="square" rtlCol="0"/>
          <a:lstStyle>
            <a:lvl1pPr indent="0" marL="0">
              <a:buNone/>
              <a:defRPr lang="en-US" sz="2800" dirty="0">
                <a:solidFill>
                  <a:srgbClr val="C9DCD8"/>
                </a:solidFill>
                <a:latin typeface="맑은 고딕" pitchFamily="34" charset="0"/>
                <a:ea typeface="맑은 고딕" pitchFamily="34" charset="-122"/>
                <a:cs typeface="맑은 고딕" pitchFamily="34" charset="-120"/>
              </a:defRPr>
            </a:lvl1pPr>
          </a:lstStyle>
          <a:p>
            <a:pPr indent="0" marL="0">
              <a:buNone/>
            </a:pPr>
            <a:endParaRPr lang="en-US" sz="2800" dirty="0"/>
          </a:p>
        </p:txBody>
      </p:sp>
      <p:sp>
        <p:nvSpPr>
          <p:cNvPr id="4"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초6 영어 · 듣기와읽기 · 2차시</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초6 영어 · 사건 순서 파악</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초6 영어 · 사건 순서 파악</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PPORT">
    <p:bg>
      <p:bgPr>
        <a:solidFill>
          <a:srgbClr val="F4F7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보충 자료 · 초6 영어 · 사건 순서 파악</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lIns="0" tIns="0" rIns="0" bIns="0" rtlCol="0" anchor="ctr"/>
          <a:lstStyle/>
          <a:p>
            <a:pPr eaLnBrk="0" algn="l" indent="0" marL="0">
              <a:buNone/>
            </a:pPr>
            <a:r>
              <a:rPr lang="ko-KR" altLang="en-US" sz="4600" b="1" dirty="0">
                <a:solidFill>
                  <a:srgbClr val="FFFFFF"/>
                </a:solidFill>
                <a:latin typeface="맑은 고딕" pitchFamily="34" charset="0"/>
                <a:ea typeface="맑은 고딕" pitchFamily="34" charset="-122"/>
                <a:cs typeface="맑은 고딕" pitchFamily="34" charset="-120"/>
              </a:rPr>
              <a:t>사건 순서 파악</a:t>
            </a:r>
            <a:endParaRPr lang="ko-KR" sz="4600" dirty="0"/>
          </a:p>
        </p:txBody>
      </p:sp>
      <p:sp>
        <p:nvSpPr>
          <p:cNvPr id="3" name="Text 0"/>
          <p:cNvSpPr/>
          <p:nvPr>
            <p:ph idx="101" type="body" hasCustomPrompt="1"/>
          </p:nvPr>
        </p:nvSpPr>
        <p:spPr>
          <a:xfrm>
            <a:off x="731520" y="1920240"/>
            <a:ext cx="6675120" cy="1645920"/>
          </a:xfrm>
          <a:prstGeom prst="rect">
            <a:avLst/>
          </a:prstGeom>
          <a:noFill/>
          <a:ln/>
        </p:spPr>
        <p:txBody>
          <a:bodyPr wrap="square" lIns="0" tIns="0" rIns="0" bIns="0" rtlCol="0" anchor="t"/>
          <a:lstStyle/>
          <a:p>
            <a:pPr eaLnBrk="0" indent="0" marL="0">
              <a:buNone/>
            </a:pPr>
            <a:r>
              <a:rPr lang="ko-KR" altLang="en-US" sz="2800" dirty="0">
                <a:solidFill>
                  <a:srgbClr val="C9DCD8"/>
                </a:solidFill>
                <a:latin typeface="맑은 고딕" pitchFamily="34" charset="0"/>
                <a:ea typeface="맑은 고딕" pitchFamily="34" charset="-122"/>
                <a:cs typeface="맑은 고딕" pitchFamily="34" charset="-120"/>
              </a:rPr>
              <a:t>일이 일어난 순서를</a:t>
            </a:r>
            <a:endParaRPr lang="ko-KR" sz="2800" dirty="0"/>
          </a:p>
          <a:p>
            <a:pPr eaLnBrk="0" indent="0" marL="0">
              <a:buNone/>
            </a:pPr>
            <a:r>
              <a:rPr lang="ko-KR" altLang="en-US" sz="2800" dirty="0">
                <a:solidFill>
                  <a:srgbClr val="C9DCD8"/>
                </a:solidFill>
                <a:latin typeface="맑은 고딕" pitchFamily="34" charset="0"/>
                <a:ea typeface="맑은 고딕" pitchFamily="34" charset="-122"/>
                <a:cs typeface="맑은 고딕" pitchFamily="34" charset="-120"/>
              </a:rPr>
              <a:t>어떻게 알 수 있을까요?</a:t>
            </a:r>
            <a:endParaRPr lang="ko-KR" sz="2800" dirty="0"/>
          </a:p>
        </p:txBody>
      </p:sp>
      <p:sp>
        <p:nvSpPr>
          <p:cNvPr id="4" name="S01-word1"/>
          <p:cNvSpPr txBox="1"/>
          <p:nvPr/>
        </p:nvSpPr>
        <p:spPr>
          <a:xfrm>
            <a:off x="7680960" y="640080"/>
            <a:ext cx="1828800" cy="1325880"/>
          </a:xfrm>
          <a:prstGeom prst="roundRect">
            <a:avLst>
              <a:gd name="adj" fmla="val 9655"/>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First</a:t>
            </a:r>
            <a:endParaRPr lang="ko-KR" sz="3200" dirty="0"/>
          </a:p>
        </p:txBody>
      </p:sp>
      <p:sp>
        <p:nvSpPr>
          <p:cNvPr id="5" name="S01-word2"/>
          <p:cNvSpPr txBox="1"/>
          <p:nvPr/>
        </p:nvSpPr>
        <p:spPr>
          <a:xfrm>
            <a:off x="9784080" y="640080"/>
            <a:ext cx="1828800" cy="1325880"/>
          </a:xfrm>
          <a:prstGeom prst="roundRect">
            <a:avLst>
              <a:gd name="adj" fmla="val 9655"/>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Then</a:t>
            </a:r>
            <a:endParaRPr lang="ko-KR" sz="3200" dirty="0"/>
          </a:p>
        </p:txBody>
      </p:sp>
      <p:sp>
        <p:nvSpPr>
          <p:cNvPr id="6" name="S01-word3"/>
          <p:cNvSpPr txBox="1"/>
          <p:nvPr/>
        </p:nvSpPr>
        <p:spPr>
          <a:xfrm>
            <a:off x="7680960" y="2240280"/>
            <a:ext cx="1828800" cy="1325880"/>
          </a:xfrm>
          <a:prstGeom prst="roundRect">
            <a:avLst>
              <a:gd name="adj" fmla="val 9655"/>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Next</a:t>
            </a:r>
            <a:endParaRPr lang="ko-KR" sz="3200" dirty="0"/>
          </a:p>
        </p:txBody>
      </p:sp>
      <p:sp>
        <p:nvSpPr>
          <p:cNvPr id="7" name="S01-word4"/>
          <p:cNvSpPr txBox="1"/>
          <p:nvPr/>
        </p:nvSpPr>
        <p:spPr>
          <a:xfrm>
            <a:off x="9784080" y="2240280"/>
            <a:ext cx="1828800" cy="1325880"/>
          </a:xfrm>
          <a:prstGeom prst="roundRect">
            <a:avLst>
              <a:gd name="adj" fmla="val 9655"/>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Finally</a:t>
            </a:r>
            <a:endParaRPr lang="ko-KR" sz="3200" dirty="0"/>
          </a:p>
        </p:txBody>
      </p:sp>
      <p:sp>
        <p:nvSpPr>
          <p:cNvPr id="8" name="S01-card5"/>
          <p:cNvSpPr/>
          <p:nvPr/>
        </p:nvSpPr>
        <p:spPr>
          <a:xfrm>
            <a:off x="731520" y="4529328"/>
            <a:ext cx="10725912" cy="1597152"/>
          </a:xfrm>
          <a:prstGeom prst="roundRect">
            <a:avLst>
              <a:gd name="adj" fmla="val 6870"/>
            </a:avLst>
          </a:prstGeom>
          <a:solidFill>
            <a:srgbClr val="32606F"/>
          </a:solidFill>
          <a:ln w="12700">
            <a:solidFill>
              <a:srgbClr val="32606F"/>
            </a:solidFill>
            <a:prstDash val="solid"/>
          </a:ln>
        </p:spPr>
      </p:sp>
      <p:sp>
        <p:nvSpPr>
          <p:cNvPr id="9" name="S01-cardtext6"/>
          <p:cNvSpPr txBox="1"/>
          <p:nvPr/>
        </p:nvSpPr>
        <p:spPr>
          <a:xfrm>
            <a:off x="1005840" y="4666488"/>
            <a:ext cx="10177272" cy="1322832"/>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FFFFFF"/>
                </a:solidFill>
                <a:latin typeface="맑은 고딕" pitchFamily="34" charset="0"/>
                <a:ea typeface="맑은 고딕" pitchFamily="34" charset="-122"/>
                <a:cs typeface="맑은 고딕" pitchFamily="34" charset="-120"/>
              </a:rPr>
              <a:t>오늘 할 수 있게 될 것</a:t>
            </a:r>
            <a:endParaRPr lang="ko-KR" sz="2800" dirty="0"/>
          </a:p>
          <a:p>
            <a:pPr eaLnBrk="0" indent="0" marL="0">
              <a:spcAft>
                <a:spcPts val="600"/>
              </a:spcAft>
              <a:buNone/>
            </a:pPr>
            <a:r>
              <a:rPr lang="ko-KR" altLang="en-US" sz="2200" dirty="0">
                <a:solidFill>
                  <a:srgbClr val="FFFFFF"/>
                </a:solidFill>
                <a:latin typeface="맑은 고딕" pitchFamily="34" charset="0"/>
                <a:ea typeface="맑은 고딕" pitchFamily="34" charset="-122"/>
                <a:cs typeface="맑은 고딕" pitchFamily="34" charset="-120"/>
              </a:rPr>
              <a:t>① 순서를 알려 주는 말을 찾아 글의 순서를 정해요.</a:t>
            </a:r>
            <a:endParaRPr lang="ko-KR" sz="2800" dirty="0"/>
          </a:p>
          <a:p>
            <a:pPr eaLnBrk="0" indent="0" marL="0">
              <a:spcAft>
                <a:spcPts val="600"/>
              </a:spcAft>
              <a:buNone/>
            </a:pPr>
            <a:r>
              <a:rPr lang="ko-KR" altLang="en-US" sz="2200" dirty="0">
                <a:solidFill>
                  <a:srgbClr val="FFFFFF"/>
                </a:solidFill>
                <a:latin typeface="맑은 고딕" pitchFamily="34" charset="0"/>
                <a:ea typeface="맑은 고딕" pitchFamily="34" charset="-122"/>
                <a:cs typeface="맑은 고딕" pitchFamily="34" charset="-120"/>
              </a:rPr>
              <a:t>② 이야기를 듣고 순서대로 다시 말해요.</a:t>
            </a:r>
            <a:endParaRPr lang="ko-KR"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핵심 정보 떠올리기</a:t>
            </a:r>
            <a:endParaRPr lang="ko-KR" sz="4000" dirty="0"/>
          </a:p>
        </p:txBody>
      </p:sp>
      <p:sp>
        <p:nvSpPr>
          <p:cNvPr id="3" name="S02-text7"/>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③을 먼저 답하고, ①②는 대화를 듣고 답해요.</a:t>
            </a:r>
            <a:endParaRPr lang="ko-KR" sz="2800" dirty="0"/>
          </a:p>
        </p:txBody>
      </p:sp>
      <p:sp>
        <p:nvSpPr>
          <p:cNvPr id="4" name="S02-chip8"/>
          <p:cNvSpPr txBox="1"/>
          <p:nvPr/>
        </p:nvSpPr>
        <p:spPr>
          <a:xfrm>
            <a:off x="548640" y="2368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5" name="S02-text9"/>
          <p:cNvSpPr txBox="1"/>
          <p:nvPr/>
        </p:nvSpPr>
        <p:spPr>
          <a:xfrm>
            <a:off x="1344168" y="2011680"/>
            <a:ext cx="10296144" cy="128016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언제 만나나요?</a:t>
            </a:r>
            <a:endParaRPr lang="ko-KR" sz="2800" dirty="0"/>
          </a:p>
        </p:txBody>
      </p:sp>
      <p:sp>
        <p:nvSpPr>
          <p:cNvPr id="6" name="S02-chip10"/>
          <p:cNvSpPr txBox="1"/>
          <p:nvPr/>
        </p:nvSpPr>
        <p:spPr>
          <a:xfrm>
            <a:off x="548640" y="38313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7" name="S02-text11"/>
          <p:cNvSpPr txBox="1"/>
          <p:nvPr/>
        </p:nvSpPr>
        <p:spPr>
          <a:xfrm>
            <a:off x="1344168" y="3474720"/>
            <a:ext cx="10296144" cy="128016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어디에서 만나나요?</a:t>
            </a:r>
            <a:endParaRPr lang="ko-KR" sz="2800" dirty="0"/>
          </a:p>
        </p:txBody>
      </p:sp>
      <p:sp>
        <p:nvSpPr>
          <p:cNvPr id="8" name="S02-chip12"/>
          <p:cNvSpPr txBox="1"/>
          <p:nvPr/>
        </p:nvSpPr>
        <p:spPr>
          <a:xfrm>
            <a:off x="548640" y="52943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③</a:t>
            </a:r>
            <a:endParaRPr lang="ko-KR" sz="2200" dirty="0"/>
          </a:p>
        </p:txBody>
      </p:sp>
      <p:sp>
        <p:nvSpPr>
          <p:cNvPr id="9" name="S02-text13"/>
          <p:cNvSpPr txBox="1"/>
          <p:nvPr/>
        </p:nvSpPr>
        <p:spPr>
          <a:xfrm>
            <a:off x="1344168" y="4937760"/>
            <a:ext cx="10296144" cy="128016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핵심 정보를 찾을 때 먼저 할 일은?</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순서를 알려 주는 말</a:t>
            </a:r>
            <a:endParaRPr lang="ko-KR" sz="4000" dirty="0"/>
          </a:p>
        </p:txBody>
      </p:sp>
      <p:sp>
        <p:nvSpPr>
          <p:cNvPr id="3" name="S03-card14"/>
          <p:cNvSpPr/>
          <p:nvPr/>
        </p:nvSpPr>
        <p:spPr>
          <a:xfrm>
            <a:off x="548640" y="5021072"/>
            <a:ext cx="11091672" cy="1196848"/>
          </a:xfrm>
          <a:prstGeom prst="roundRect">
            <a:avLst>
              <a:gd name="adj" fmla="val 9168"/>
            </a:avLst>
          </a:prstGeom>
          <a:solidFill>
            <a:srgbClr val="FDEBDD"/>
          </a:solidFill>
          <a:ln w="12700">
            <a:solidFill>
              <a:srgbClr val="FDEBDD"/>
            </a:solidFill>
            <a:prstDash val="solid"/>
          </a:ln>
        </p:spPr>
      </p:sp>
      <p:sp>
        <p:nvSpPr>
          <p:cNvPr id="4" name="S03-cardtext15"/>
          <p:cNvSpPr txBox="1"/>
          <p:nvPr/>
        </p:nvSpPr>
        <p:spPr>
          <a:xfrm>
            <a:off x="822960" y="5158232"/>
            <a:ext cx="10543032" cy="922528"/>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Then과 Next는 둘 다 ‘그다음에’예요. 둘 다 있으면 내용을 보고 정해요.</a:t>
            </a:r>
            <a:endParaRPr lang="ko-KR" sz="2800" dirty="0"/>
          </a:p>
        </p:txBody>
      </p:sp>
      <p:sp>
        <p:nvSpPr>
          <p:cNvPr id="5" name="S03-step16"/>
          <p:cNvSpPr txBox="1"/>
          <p:nvPr/>
        </p:nvSpPr>
        <p:spPr>
          <a:xfrm>
            <a:off x="548640" y="2281936"/>
            <a:ext cx="2464308" cy="1554480"/>
          </a:xfrm>
          <a:prstGeom prst="roundRect">
            <a:avLst>
              <a:gd name="adj" fmla="val 7059"/>
            </a:avLst>
          </a:prstGeom>
          <a:solidFill>
            <a:srgbClr val="EAF3F1"/>
          </a:solidFill>
          <a:ln w="19050">
            <a:solidFill>
              <a:srgbClr val="264653"/>
            </a:solidFill>
          </a:ln>
        </p:spPr>
        <p:txBody>
          <a:bodyPr wrap="square" lIns="76200" tIns="50800" rIns="76200" bIns="50800" rtlCol="0" anchor="ctr"/>
          <a:lstStyle/>
          <a:p>
            <a:pPr eaLnBrk="0" algn="ctr" indent="0" marL="0">
              <a:buNone/>
            </a:pPr>
            <a:r>
              <a:rPr lang="en-US" altLang="ko-KR" sz="2600" b="1" dirty="0">
                <a:solidFill>
                  <a:srgbClr val="1F2937"/>
                </a:solidFill>
                <a:latin typeface="맑은 고딕" pitchFamily="34" charset="0"/>
                <a:ea typeface="맑은 고딕" pitchFamily="34" charset="-122"/>
                <a:cs typeface="맑은 고딕" pitchFamily="34" charset="-120"/>
              </a:rPr>
              <a:t>First</a:t>
            </a:r>
            <a:endParaRPr lang="ko-KR" sz="2600" dirty="0"/>
          </a:p>
          <a:p>
            <a:pPr eaLnBrk="0" algn="ctr" indent="0" marL="0">
              <a:buNone/>
            </a:pPr>
            <a:r>
              <a:rPr lang="ko-KR" altLang="en-US" sz="2600" b="1" dirty="0">
                <a:solidFill>
                  <a:srgbClr val="1F2937"/>
                </a:solidFill>
                <a:latin typeface="맑은 고딕" pitchFamily="34" charset="0"/>
                <a:ea typeface="맑은 고딕" pitchFamily="34" charset="-122"/>
                <a:cs typeface="맑은 고딕" pitchFamily="34" charset="-120"/>
              </a:rPr>
              <a:t>먼저</a:t>
            </a:r>
            <a:endParaRPr lang="ko-KR" sz="2600" dirty="0"/>
          </a:p>
        </p:txBody>
      </p:sp>
      <p:sp>
        <p:nvSpPr>
          <p:cNvPr id="6" name="S03-line17"/>
          <p:cNvSpPr/>
          <p:nvPr/>
        </p:nvSpPr>
        <p:spPr>
          <a:xfrm>
            <a:off x="3067812" y="3059176"/>
            <a:ext cx="301752" cy="0"/>
          </a:xfrm>
          <a:prstGeom prst="line">
            <a:avLst/>
          </a:prstGeom>
          <a:noFill/>
          <a:ln w="31750">
            <a:solidFill>
              <a:srgbClr val="3D5A80"/>
            </a:solidFill>
            <a:prstDash val="solid"/>
            <a:tailEnd type="triangle"/>
          </a:ln>
        </p:spPr>
      </p:sp>
      <p:sp>
        <p:nvSpPr>
          <p:cNvPr id="7" name="S03-step18"/>
          <p:cNvSpPr txBox="1"/>
          <p:nvPr/>
        </p:nvSpPr>
        <p:spPr>
          <a:xfrm>
            <a:off x="3424428" y="2281936"/>
            <a:ext cx="2464308" cy="1554480"/>
          </a:xfrm>
          <a:prstGeom prst="roundRect">
            <a:avLst>
              <a:gd name="adj" fmla="val 7059"/>
            </a:avLst>
          </a:prstGeom>
          <a:solidFill>
            <a:srgbClr val="EAF3F1"/>
          </a:solidFill>
          <a:ln w="19050">
            <a:solidFill>
              <a:srgbClr val="264653"/>
            </a:solidFill>
          </a:ln>
        </p:spPr>
        <p:txBody>
          <a:bodyPr wrap="square" lIns="76200" tIns="50800" rIns="76200" bIns="50800" rtlCol="0" anchor="ctr"/>
          <a:lstStyle/>
          <a:p>
            <a:pPr eaLnBrk="0" algn="ctr" indent="0" marL="0">
              <a:buNone/>
            </a:pPr>
            <a:r>
              <a:rPr lang="en-US" altLang="ko-KR" sz="2600" b="1" dirty="0">
                <a:solidFill>
                  <a:srgbClr val="1F2937"/>
                </a:solidFill>
                <a:latin typeface="맑은 고딕" pitchFamily="34" charset="0"/>
                <a:ea typeface="맑은 고딕" pitchFamily="34" charset="-122"/>
                <a:cs typeface="맑은 고딕" pitchFamily="34" charset="-120"/>
              </a:rPr>
              <a:t>Then</a:t>
            </a:r>
            <a:endParaRPr lang="ko-KR" sz="2600" dirty="0"/>
          </a:p>
          <a:p>
            <a:pPr eaLnBrk="0" algn="ctr" indent="0" marL="0">
              <a:buNone/>
            </a:pPr>
            <a:r>
              <a:rPr lang="ko-KR" altLang="en-US" sz="2600" b="1" dirty="0">
                <a:solidFill>
                  <a:srgbClr val="1F2937"/>
                </a:solidFill>
                <a:latin typeface="맑은 고딕" pitchFamily="34" charset="0"/>
                <a:ea typeface="맑은 고딕" pitchFamily="34" charset="-122"/>
                <a:cs typeface="맑은 고딕" pitchFamily="34" charset="-120"/>
              </a:rPr>
              <a:t>그다음에</a:t>
            </a:r>
            <a:endParaRPr lang="ko-KR" sz="2600" dirty="0"/>
          </a:p>
        </p:txBody>
      </p:sp>
      <p:sp>
        <p:nvSpPr>
          <p:cNvPr id="8" name="S03-line19"/>
          <p:cNvSpPr/>
          <p:nvPr/>
        </p:nvSpPr>
        <p:spPr>
          <a:xfrm>
            <a:off x="5943600" y="3059176"/>
            <a:ext cx="301752" cy="0"/>
          </a:xfrm>
          <a:prstGeom prst="line">
            <a:avLst/>
          </a:prstGeom>
          <a:noFill/>
          <a:ln w="31750">
            <a:solidFill>
              <a:srgbClr val="3D5A80"/>
            </a:solidFill>
            <a:prstDash val="solid"/>
            <a:tailEnd type="triangle"/>
          </a:ln>
        </p:spPr>
      </p:sp>
      <p:sp>
        <p:nvSpPr>
          <p:cNvPr id="9" name="S03-step20"/>
          <p:cNvSpPr txBox="1"/>
          <p:nvPr/>
        </p:nvSpPr>
        <p:spPr>
          <a:xfrm>
            <a:off x="6300216" y="2281936"/>
            <a:ext cx="2464308" cy="1554480"/>
          </a:xfrm>
          <a:prstGeom prst="roundRect">
            <a:avLst>
              <a:gd name="adj" fmla="val 7059"/>
            </a:avLst>
          </a:prstGeom>
          <a:solidFill>
            <a:srgbClr val="EAF3F1"/>
          </a:solidFill>
          <a:ln w="19050">
            <a:solidFill>
              <a:srgbClr val="264653"/>
            </a:solidFill>
          </a:ln>
        </p:spPr>
        <p:txBody>
          <a:bodyPr wrap="square" lIns="76200" tIns="50800" rIns="76200" bIns="50800" rtlCol="0" anchor="ctr"/>
          <a:lstStyle/>
          <a:p>
            <a:pPr eaLnBrk="0" algn="ctr" indent="0" marL="0">
              <a:buNone/>
            </a:pPr>
            <a:r>
              <a:rPr lang="en-US" altLang="ko-KR" sz="2600" b="1" dirty="0">
                <a:solidFill>
                  <a:srgbClr val="1F2937"/>
                </a:solidFill>
                <a:latin typeface="맑은 고딕" pitchFamily="34" charset="0"/>
                <a:ea typeface="맑은 고딕" pitchFamily="34" charset="-122"/>
                <a:cs typeface="맑은 고딕" pitchFamily="34" charset="-120"/>
              </a:rPr>
              <a:t>Next</a:t>
            </a:r>
            <a:endParaRPr lang="ko-KR" sz="2600" dirty="0"/>
          </a:p>
          <a:p>
            <a:pPr eaLnBrk="0" algn="ctr" indent="0" marL="0">
              <a:buNone/>
            </a:pPr>
            <a:r>
              <a:rPr lang="ko-KR" altLang="en-US" sz="2600" b="1" dirty="0">
                <a:solidFill>
                  <a:srgbClr val="1F2937"/>
                </a:solidFill>
                <a:latin typeface="맑은 고딕" pitchFamily="34" charset="0"/>
                <a:ea typeface="맑은 고딕" pitchFamily="34" charset="-122"/>
                <a:cs typeface="맑은 고딕" pitchFamily="34" charset="-120"/>
              </a:rPr>
              <a:t>그다음에</a:t>
            </a:r>
            <a:endParaRPr lang="ko-KR" sz="2600" dirty="0"/>
          </a:p>
        </p:txBody>
      </p:sp>
      <p:sp>
        <p:nvSpPr>
          <p:cNvPr id="10" name="S03-line21"/>
          <p:cNvSpPr/>
          <p:nvPr/>
        </p:nvSpPr>
        <p:spPr>
          <a:xfrm>
            <a:off x="8819388" y="3059176"/>
            <a:ext cx="301752" cy="0"/>
          </a:xfrm>
          <a:prstGeom prst="line">
            <a:avLst/>
          </a:prstGeom>
          <a:noFill/>
          <a:ln w="31750">
            <a:solidFill>
              <a:srgbClr val="3D5A80"/>
            </a:solidFill>
            <a:prstDash val="solid"/>
            <a:tailEnd type="triangle"/>
          </a:ln>
        </p:spPr>
      </p:sp>
      <p:sp>
        <p:nvSpPr>
          <p:cNvPr id="11" name="S03-step22"/>
          <p:cNvSpPr txBox="1"/>
          <p:nvPr/>
        </p:nvSpPr>
        <p:spPr>
          <a:xfrm>
            <a:off x="9176004" y="2281936"/>
            <a:ext cx="2464308" cy="1554480"/>
          </a:xfrm>
          <a:prstGeom prst="roundRect">
            <a:avLst>
              <a:gd name="adj" fmla="val 7059"/>
            </a:avLst>
          </a:prstGeom>
          <a:solidFill>
            <a:srgbClr val="EAF3F1"/>
          </a:solidFill>
          <a:ln w="19050">
            <a:solidFill>
              <a:srgbClr val="264653"/>
            </a:solidFill>
          </a:ln>
        </p:spPr>
        <p:txBody>
          <a:bodyPr wrap="square" lIns="76200" tIns="50800" rIns="76200" bIns="50800" rtlCol="0" anchor="ctr"/>
          <a:lstStyle/>
          <a:p>
            <a:pPr eaLnBrk="0" algn="ctr" indent="0" marL="0">
              <a:buNone/>
            </a:pPr>
            <a:r>
              <a:rPr lang="en-US" altLang="ko-KR" sz="2600" b="1" dirty="0">
                <a:solidFill>
                  <a:srgbClr val="1F2937"/>
                </a:solidFill>
                <a:latin typeface="맑은 고딕" pitchFamily="34" charset="0"/>
                <a:ea typeface="맑은 고딕" pitchFamily="34" charset="-122"/>
                <a:cs typeface="맑은 고딕" pitchFamily="34" charset="-120"/>
              </a:rPr>
              <a:t>Finally</a:t>
            </a:r>
            <a:endParaRPr lang="ko-KR" sz="2600" dirty="0"/>
          </a:p>
          <a:p>
            <a:pPr eaLnBrk="0" algn="ctr" indent="0" marL="0">
              <a:buNone/>
            </a:pPr>
            <a:r>
              <a:rPr lang="ko-KR" altLang="en-US" sz="2600" b="1" dirty="0">
                <a:solidFill>
                  <a:srgbClr val="1F2937"/>
                </a:solidFill>
                <a:latin typeface="맑은 고딕" pitchFamily="34" charset="0"/>
                <a:ea typeface="맑은 고딕" pitchFamily="34" charset="-122"/>
                <a:cs typeface="맑은 고딕" pitchFamily="34" charset="-120"/>
              </a:rPr>
              <a:t>마지막으로</a:t>
            </a:r>
            <a:endParaRPr lang="ko-KR" sz="26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en-US" altLang="ko-KR" sz="4000" b="1" dirty="0">
                <a:solidFill>
                  <a:srgbClr val="1F2937"/>
                </a:solidFill>
                <a:latin typeface="맑은 고딕" pitchFamily="34" charset="0"/>
                <a:ea typeface="맑은 고딕" pitchFamily="34" charset="-122"/>
                <a:cs typeface="맑은 고딕" pitchFamily="34" charset="-120"/>
              </a:rPr>
              <a:t>Mina's Morning</a:t>
            </a:r>
            <a:endParaRPr lang="ko-KR" sz="4000" dirty="0"/>
          </a:p>
        </p:txBody>
      </p:sp>
      <p:sp>
        <p:nvSpPr>
          <p:cNvPr id="3" name="S04-text23"/>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순서를 알려 주는 말을 찾으며 읽어요.</a:t>
            </a:r>
            <a:endParaRPr lang="ko-KR" sz="2800" dirty="0"/>
          </a:p>
        </p:txBody>
      </p:sp>
      <p:sp>
        <p:nvSpPr>
          <p:cNvPr id="4" name="S04-card24"/>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04-cardtext25"/>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미나가 먼저 한 일과 마지막에 한 일은 무엇인가요?</a:t>
            </a:r>
            <a:endParaRPr lang="ko-KR" sz="2800" dirty="0"/>
          </a:p>
        </p:txBody>
      </p:sp>
      <p:sp>
        <p:nvSpPr>
          <p:cNvPr id="6" name="S04-passagebox26"/>
          <p:cNvSpPr/>
          <p:nvPr/>
        </p:nvSpPr>
        <p:spPr>
          <a:xfrm>
            <a:off x="548640" y="2011680"/>
            <a:ext cx="11091672" cy="3108960"/>
          </a:xfrm>
          <a:prstGeom prst="roundRect">
            <a:avLst>
              <a:gd name="adj" fmla="val 2941"/>
            </a:avLst>
          </a:prstGeom>
          <a:solidFill>
            <a:srgbClr val="FFFFFF"/>
          </a:solidFill>
          <a:ln w="19050">
            <a:solidFill>
              <a:srgbClr val="264653"/>
            </a:solidFill>
            <a:prstDash val="solid"/>
          </a:ln>
        </p:spPr>
      </p:sp>
      <p:sp>
        <p:nvSpPr>
          <p:cNvPr id="7" name="S04-passage27"/>
          <p:cNvSpPr txBox="1"/>
          <p:nvPr/>
        </p:nvSpPr>
        <p:spPr>
          <a:xfrm>
            <a:off x="822960" y="2194560"/>
            <a:ext cx="10543032" cy="2743200"/>
          </a:xfrm>
          <a:prstGeom prst="rect">
            <a:avLst/>
          </a:prstGeom>
          <a:noFill/>
          <a:ln/>
        </p:spPr>
        <p:txBody>
          <a:bodyPr wrap="square" lIns="0" tIns="0" rIns="0" bIns="0" rtlCol="0" anchor="t"/>
          <a:lstStyle/>
          <a:p>
            <a:pPr eaLnBrk="0" algn="l" indent="0" marL="0">
              <a:lnSpc>
                <a:spcPct val="105000"/>
              </a:lnSpc>
              <a:spcAft>
                <a:spcPts val="800"/>
              </a:spcAft>
              <a:buNone/>
            </a:pPr>
            <a:r>
              <a:rPr lang="en-US" altLang="ko-KR" sz="3000" b="1" dirty="0">
                <a:solidFill>
                  <a:srgbClr val="1F2937"/>
                </a:solidFill>
                <a:latin typeface="맑은 고딕" pitchFamily="34" charset="0"/>
                <a:ea typeface="맑은 고딕" pitchFamily="34" charset="-122"/>
                <a:cs typeface="맑은 고딕" pitchFamily="34" charset="-120"/>
              </a:rPr>
              <a:t>Mina's Morning</a:t>
            </a:r>
            <a:endParaRPr lang="ko-KR" sz="3000" dirty="0"/>
          </a:p>
          <a:p>
            <a:pPr eaLnBrk="0" algn="l" indent="0" marL="0">
              <a:lnSpc>
                <a:spcPct val="105000"/>
              </a:lnSpc>
              <a:spcAft>
                <a:spcPts val="800"/>
              </a:spcAft>
              <a:buNone/>
            </a:pPr>
            <a:r>
              <a:rPr lang="en-US" altLang="ko-KR" sz="2800" dirty="0">
                <a:solidFill>
                  <a:srgbClr val="1F2937"/>
                </a:solidFill>
                <a:latin typeface="맑은 고딕" pitchFamily="34" charset="0"/>
                <a:ea typeface="맑은 고딕" pitchFamily="34" charset="-122"/>
                <a:cs typeface="맑은 고딕" pitchFamily="34" charset="-120"/>
              </a:rPr>
              <a:t>First, Mina washes her face.</a:t>
            </a:r>
            <a:endParaRPr lang="ko-KR" sz="3000" dirty="0"/>
          </a:p>
          <a:p>
            <a:pPr eaLnBrk="0" algn="l" indent="0" marL="0">
              <a:lnSpc>
                <a:spcPct val="105000"/>
              </a:lnSpc>
              <a:spcAft>
                <a:spcPts val="800"/>
              </a:spcAft>
              <a:buNone/>
            </a:pPr>
            <a:r>
              <a:rPr lang="en-US" altLang="ko-KR" sz="2800" dirty="0">
                <a:solidFill>
                  <a:srgbClr val="1F2937"/>
                </a:solidFill>
                <a:latin typeface="맑은 고딕" pitchFamily="34" charset="0"/>
                <a:ea typeface="맑은 고딕" pitchFamily="34" charset="-122"/>
                <a:cs typeface="맑은 고딕" pitchFamily="34" charset="-120"/>
              </a:rPr>
              <a:t>Then, she eats breakfast.</a:t>
            </a:r>
            <a:endParaRPr lang="ko-KR" sz="3000" dirty="0"/>
          </a:p>
          <a:p>
            <a:pPr eaLnBrk="0" algn="l" indent="0" marL="0">
              <a:lnSpc>
                <a:spcPct val="105000"/>
              </a:lnSpc>
              <a:spcAft>
                <a:spcPts val="800"/>
              </a:spcAft>
              <a:buNone/>
            </a:pPr>
            <a:r>
              <a:rPr lang="en-US" altLang="ko-KR" sz="2800" dirty="0">
                <a:solidFill>
                  <a:srgbClr val="1F2937"/>
                </a:solidFill>
                <a:latin typeface="맑은 고딕" pitchFamily="34" charset="0"/>
                <a:ea typeface="맑은 고딕" pitchFamily="34" charset="-122"/>
                <a:cs typeface="맑은 고딕" pitchFamily="34" charset="-120"/>
              </a:rPr>
              <a:t>Next, she brushes her teeth.</a:t>
            </a:r>
            <a:endParaRPr lang="ko-KR" sz="3000" dirty="0"/>
          </a:p>
          <a:p>
            <a:pPr eaLnBrk="0" algn="l" indent="0" marL="0">
              <a:lnSpc>
                <a:spcPct val="105000"/>
              </a:lnSpc>
              <a:spcAft>
                <a:spcPts val="800"/>
              </a:spcAft>
              <a:buNone/>
            </a:pPr>
            <a:r>
              <a:rPr lang="en-US" altLang="ko-KR" sz="2800" dirty="0">
                <a:solidFill>
                  <a:srgbClr val="1F2937"/>
                </a:solidFill>
                <a:latin typeface="맑은 고딕" pitchFamily="34" charset="0"/>
                <a:ea typeface="맑은 고딕" pitchFamily="34" charset="-122"/>
                <a:cs typeface="맑은 고딕" pitchFamily="34" charset="-120"/>
              </a:rPr>
              <a:t>Finally, she goes to school.</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빠진 순서 채우기</a:t>
            </a:r>
            <a:endParaRPr lang="ko-KR" sz="4000" dirty="0"/>
          </a:p>
        </p:txBody>
      </p:sp>
      <p:sp>
        <p:nvSpPr>
          <p:cNvPr id="3" name="S05-text28"/>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물음표(?)에 들어갈 일을 말해요.</a:t>
            </a:r>
            <a:endParaRPr lang="ko-KR" sz="2800" dirty="0"/>
          </a:p>
        </p:txBody>
      </p:sp>
      <p:sp>
        <p:nvSpPr>
          <p:cNvPr id="4" name="S05-card29"/>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05-cardtext30"/>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신호어를 따라가면 일이 일어난 순서가 보여요.</a:t>
            </a:r>
            <a:endParaRPr lang="ko-KR" sz="2800" dirty="0"/>
          </a:p>
        </p:txBody>
      </p:sp>
      <p:sp>
        <p:nvSpPr>
          <p:cNvPr id="6" name="S05-step31"/>
          <p:cNvSpPr txBox="1"/>
          <p:nvPr/>
        </p:nvSpPr>
        <p:spPr>
          <a:xfrm>
            <a:off x="548640" y="2880360"/>
            <a:ext cx="2464308" cy="1371600"/>
          </a:xfrm>
          <a:prstGeom prst="roundRect">
            <a:avLst>
              <a:gd name="adj" fmla="val 8000"/>
            </a:avLst>
          </a:prstGeom>
          <a:solidFill>
            <a:srgbClr val="EAF3F1"/>
          </a:solidFill>
          <a:ln w="19050">
            <a:solidFill>
              <a:srgbClr val="264653"/>
            </a:solidFill>
          </a:ln>
        </p:spPr>
        <p:txBody>
          <a:bodyPr wrap="square" lIns="76200" tIns="50800" rIns="76200" bIns="5080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First</a:t>
            </a:r>
            <a:endParaRPr lang="ko-KR" sz="2200" dirty="0"/>
          </a:p>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washes her face</a:t>
            </a:r>
            <a:endParaRPr lang="ko-KR" sz="2200" dirty="0"/>
          </a:p>
        </p:txBody>
      </p:sp>
      <p:sp>
        <p:nvSpPr>
          <p:cNvPr id="7" name="S05-line32"/>
          <p:cNvSpPr/>
          <p:nvPr/>
        </p:nvSpPr>
        <p:spPr>
          <a:xfrm>
            <a:off x="3067812" y="3566160"/>
            <a:ext cx="301752" cy="0"/>
          </a:xfrm>
          <a:prstGeom prst="line">
            <a:avLst/>
          </a:prstGeom>
          <a:noFill/>
          <a:ln w="31750">
            <a:solidFill>
              <a:srgbClr val="3D5A80"/>
            </a:solidFill>
            <a:prstDash val="solid"/>
            <a:tailEnd type="triangle"/>
          </a:ln>
        </p:spPr>
      </p:sp>
      <p:sp>
        <p:nvSpPr>
          <p:cNvPr id="8" name="S05-step33"/>
          <p:cNvSpPr txBox="1"/>
          <p:nvPr/>
        </p:nvSpPr>
        <p:spPr>
          <a:xfrm>
            <a:off x="3424428" y="2880360"/>
            <a:ext cx="2464308" cy="1371600"/>
          </a:xfrm>
          <a:prstGeom prst="roundRect">
            <a:avLst>
              <a:gd name="adj" fmla="val 8000"/>
            </a:avLst>
          </a:prstGeom>
          <a:solidFill>
            <a:srgbClr val="EAF3F1"/>
          </a:solidFill>
          <a:ln w="19050">
            <a:solidFill>
              <a:srgbClr val="264653"/>
            </a:solidFill>
          </a:ln>
        </p:spPr>
        <p:txBody>
          <a:bodyPr wrap="square" lIns="76200" tIns="50800" rIns="76200" bIns="5080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Then</a:t>
            </a:r>
            <a:endParaRPr lang="ko-KR" sz="2200" dirty="0"/>
          </a:p>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a:t>
            </a:r>
            <a:endParaRPr lang="ko-KR" sz="2200" dirty="0"/>
          </a:p>
        </p:txBody>
      </p:sp>
      <p:sp>
        <p:nvSpPr>
          <p:cNvPr id="9" name="S05-line34"/>
          <p:cNvSpPr/>
          <p:nvPr/>
        </p:nvSpPr>
        <p:spPr>
          <a:xfrm>
            <a:off x="5943600" y="3566160"/>
            <a:ext cx="301752" cy="0"/>
          </a:xfrm>
          <a:prstGeom prst="line">
            <a:avLst/>
          </a:prstGeom>
          <a:noFill/>
          <a:ln w="31750">
            <a:solidFill>
              <a:srgbClr val="3D5A80"/>
            </a:solidFill>
            <a:prstDash val="solid"/>
            <a:tailEnd type="triangle"/>
          </a:ln>
        </p:spPr>
      </p:sp>
      <p:sp>
        <p:nvSpPr>
          <p:cNvPr id="10" name="S05-step35"/>
          <p:cNvSpPr txBox="1"/>
          <p:nvPr/>
        </p:nvSpPr>
        <p:spPr>
          <a:xfrm>
            <a:off x="6300216" y="2880360"/>
            <a:ext cx="2464308" cy="1371600"/>
          </a:xfrm>
          <a:prstGeom prst="roundRect">
            <a:avLst>
              <a:gd name="adj" fmla="val 8000"/>
            </a:avLst>
          </a:prstGeom>
          <a:solidFill>
            <a:srgbClr val="EAF3F1"/>
          </a:solidFill>
          <a:ln w="19050">
            <a:solidFill>
              <a:srgbClr val="264653"/>
            </a:solidFill>
          </a:ln>
        </p:spPr>
        <p:txBody>
          <a:bodyPr wrap="square" lIns="76200" tIns="50800" rIns="76200" bIns="5080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Next</a:t>
            </a:r>
            <a:endParaRPr lang="ko-KR" sz="2200" dirty="0"/>
          </a:p>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brushes her teeth</a:t>
            </a:r>
            <a:endParaRPr lang="ko-KR" sz="2200" dirty="0"/>
          </a:p>
        </p:txBody>
      </p:sp>
      <p:sp>
        <p:nvSpPr>
          <p:cNvPr id="11" name="S05-line36"/>
          <p:cNvSpPr/>
          <p:nvPr/>
        </p:nvSpPr>
        <p:spPr>
          <a:xfrm>
            <a:off x="8819388" y="3566160"/>
            <a:ext cx="301752" cy="0"/>
          </a:xfrm>
          <a:prstGeom prst="line">
            <a:avLst/>
          </a:prstGeom>
          <a:noFill/>
          <a:ln w="31750">
            <a:solidFill>
              <a:srgbClr val="3D5A80"/>
            </a:solidFill>
            <a:prstDash val="solid"/>
            <a:tailEnd type="triangle"/>
          </a:ln>
        </p:spPr>
      </p:sp>
      <p:sp>
        <p:nvSpPr>
          <p:cNvPr id="12" name="S05-step37"/>
          <p:cNvSpPr txBox="1"/>
          <p:nvPr/>
        </p:nvSpPr>
        <p:spPr>
          <a:xfrm>
            <a:off x="9176004" y="2880360"/>
            <a:ext cx="2464308" cy="1371600"/>
          </a:xfrm>
          <a:prstGeom prst="roundRect">
            <a:avLst>
              <a:gd name="adj" fmla="val 8000"/>
            </a:avLst>
          </a:prstGeom>
          <a:solidFill>
            <a:srgbClr val="EAF3F1"/>
          </a:solidFill>
          <a:ln w="19050">
            <a:solidFill>
              <a:srgbClr val="264653"/>
            </a:solidFill>
          </a:ln>
        </p:spPr>
        <p:txBody>
          <a:bodyPr wrap="square" lIns="76200" tIns="50800" rIns="76200" bIns="50800" rtlCol="0" anchor="ctr"/>
          <a:lstStyle/>
          <a:p>
            <a:pPr eaLnBrk="0" algn="ctr" indent="0" marL="0">
              <a:buNone/>
            </a:pPr>
            <a:r>
              <a:rPr lang="en-US" altLang="ko-KR" sz="2200" b="1" dirty="0">
                <a:solidFill>
                  <a:srgbClr val="1F2937"/>
                </a:solidFill>
                <a:latin typeface="맑은 고딕" pitchFamily="34" charset="0"/>
                <a:ea typeface="맑은 고딕" pitchFamily="34" charset="-122"/>
                <a:cs typeface="맑은 고딕" pitchFamily="34" charset="-120"/>
              </a:rPr>
              <a:t>Finally</a:t>
            </a:r>
            <a:endParaRPr lang="ko-KR" sz="2200" dirty="0"/>
          </a:p>
          <a:p>
            <a:pPr eaLnBrk="0" algn="ctr" indent="0" marL="0">
              <a:buNone/>
            </a:pPr>
            <a:r>
              <a:rPr lang="ko-KR" altLang="en-US" sz="2200" b="1" dirty="0">
                <a:solidFill>
                  <a:srgbClr val="1F2937"/>
                </a:solidFill>
                <a:latin typeface="맑은 고딕" pitchFamily="34" charset="0"/>
                <a:ea typeface="맑은 고딕" pitchFamily="34" charset="-122"/>
                <a:cs typeface="맑은 고딕" pitchFamily="34" charset="-120"/>
              </a:rPr>
              <a:t>?</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샌드위치 만드는 순서</a:t>
            </a:r>
            <a:endParaRPr lang="ko-KR" sz="4000" dirty="0"/>
          </a:p>
        </p:txBody>
      </p:sp>
      <p:sp>
        <p:nvSpPr>
          <p:cNvPr id="3" name="S06-text38"/>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문장이 섞였어요. 일이 일어난 순서대로 가~라를 말해요.</a:t>
            </a:r>
            <a:endParaRPr lang="ko-KR" sz="2800" dirty="0"/>
          </a:p>
        </p:txBody>
      </p:sp>
      <p:sp>
        <p:nvSpPr>
          <p:cNvPr id="4" name="S06-card39"/>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5" name="S06-cardtext40"/>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First → (Then, Next: 내용을 보고) → Finally</a:t>
            </a:r>
            <a:endParaRPr lang="ko-KR" sz="2800" dirty="0"/>
          </a:p>
        </p:txBody>
      </p:sp>
      <p:sp>
        <p:nvSpPr>
          <p:cNvPr id="6" name="S06-chip41"/>
          <p:cNvSpPr txBox="1"/>
          <p:nvPr/>
        </p:nvSpPr>
        <p:spPr>
          <a:xfrm>
            <a:off x="548640"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가</a:t>
            </a:r>
            <a:endParaRPr lang="ko-KR" sz="2200" dirty="0"/>
          </a:p>
        </p:txBody>
      </p:sp>
      <p:sp>
        <p:nvSpPr>
          <p:cNvPr id="7" name="S06-text42"/>
          <p:cNvSpPr txBox="1"/>
          <p:nvPr/>
        </p:nvSpPr>
        <p:spPr>
          <a:xfrm>
            <a:off x="1344168" y="2011680"/>
            <a:ext cx="4567428" cy="14630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Next, put the other piece on top.</a:t>
            </a:r>
            <a:endParaRPr lang="ko-KR" sz="2800" dirty="0"/>
          </a:p>
        </p:txBody>
      </p:sp>
      <p:sp>
        <p:nvSpPr>
          <p:cNvPr id="8" name="S06-chip43"/>
          <p:cNvSpPr txBox="1"/>
          <p:nvPr/>
        </p:nvSpPr>
        <p:spPr>
          <a:xfrm>
            <a:off x="6277356"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나</a:t>
            </a:r>
            <a:endParaRPr lang="ko-KR" sz="2200" dirty="0"/>
          </a:p>
        </p:txBody>
      </p:sp>
      <p:sp>
        <p:nvSpPr>
          <p:cNvPr id="9" name="S06-text44"/>
          <p:cNvSpPr txBox="1"/>
          <p:nvPr/>
        </p:nvSpPr>
        <p:spPr>
          <a:xfrm>
            <a:off x="7072884" y="2011680"/>
            <a:ext cx="4567428" cy="14630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Finally, cut it in half.</a:t>
            </a:r>
            <a:endParaRPr lang="ko-KR" sz="2800" dirty="0"/>
          </a:p>
        </p:txBody>
      </p:sp>
      <p:sp>
        <p:nvSpPr>
          <p:cNvPr id="10" name="S06-chip45"/>
          <p:cNvSpPr txBox="1"/>
          <p:nvPr/>
        </p:nvSpPr>
        <p:spPr>
          <a:xfrm>
            <a:off x="548640" y="410565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다</a:t>
            </a:r>
            <a:endParaRPr lang="ko-KR" sz="2200" dirty="0"/>
          </a:p>
        </p:txBody>
      </p:sp>
      <p:sp>
        <p:nvSpPr>
          <p:cNvPr id="11" name="S06-text46"/>
          <p:cNvSpPr txBox="1"/>
          <p:nvPr/>
        </p:nvSpPr>
        <p:spPr>
          <a:xfrm>
            <a:off x="1344168" y="3657600"/>
            <a:ext cx="4567428" cy="14630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First, take two pieces of bread.</a:t>
            </a:r>
            <a:endParaRPr lang="ko-KR" sz="2800" dirty="0"/>
          </a:p>
        </p:txBody>
      </p:sp>
      <p:sp>
        <p:nvSpPr>
          <p:cNvPr id="12" name="S06-chip47"/>
          <p:cNvSpPr txBox="1"/>
          <p:nvPr/>
        </p:nvSpPr>
        <p:spPr>
          <a:xfrm>
            <a:off x="6277356" y="410565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라</a:t>
            </a:r>
            <a:endParaRPr lang="ko-KR" sz="2200" dirty="0"/>
          </a:p>
        </p:txBody>
      </p:sp>
      <p:sp>
        <p:nvSpPr>
          <p:cNvPr id="13" name="S06-text48"/>
          <p:cNvSpPr txBox="1"/>
          <p:nvPr/>
        </p:nvSpPr>
        <p:spPr>
          <a:xfrm>
            <a:off x="7072884" y="3657600"/>
            <a:ext cx="4567428" cy="14630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Then, put jam on one piece.</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적힌 차례가 순서일까요?</a:t>
            </a:r>
            <a:endParaRPr lang="ko-KR" sz="4000" dirty="0"/>
          </a:p>
        </p:txBody>
      </p:sp>
      <p:sp>
        <p:nvSpPr>
          <p:cNvPr id="3" name="S07-card49"/>
          <p:cNvSpPr/>
          <p:nvPr/>
        </p:nvSpPr>
        <p:spPr>
          <a:xfrm>
            <a:off x="548640" y="1325880"/>
            <a:ext cx="11091672" cy="1196848"/>
          </a:xfrm>
          <a:prstGeom prst="roundRect">
            <a:avLst>
              <a:gd name="adj" fmla="val 9168"/>
            </a:avLst>
          </a:prstGeom>
          <a:solidFill>
            <a:srgbClr val="EAF3F1"/>
          </a:solidFill>
          <a:ln w="12700">
            <a:solidFill>
              <a:srgbClr val="EAF3F1"/>
            </a:solidFill>
            <a:prstDash val="solid"/>
          </a:ln>
        </p:spPr>
      </p:sp>
      <p:sp>
        <p:nvSpPr>
          <p:cNvPr id="4" name="S07-cardtext50"/>
          <p:cNvSpPr txBox="1"/>
          <p:nvPr/>
        </p:nvSpPr>
        <p:spPr>
          <a:xfrm>
            <a:off x="822960" y="1463040"/>
            <a:ext cx="10543032" cy="922528"/>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카드가 Finally, First, Then 차례로 놓여 있었어요. 친구는 놓인 차례대로 순서를 정했어요.</a:t>
            </a:r>
            <a:endParaRPr lang="ko-KR" sz="2800" dirty="0"/>
          </a:p>
        </p:txBody>
      </p:sp>
      <p:sp>
        <p:nvSpPr>
          <p:cNvPr id="5" name="S07-card51"/>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6" name="S07-cardtext52"/>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어느 쪽이 맞을까요? 순서는 무엇을 보고 정해야 하나요?</a:t>
            </a:r>
            <a:endParaRPr lang="ko-KR" sz="2800" dirty="0"/>
          </a:p>
        </p:txBody>
      </p:sp>
      <p:sp>
        <p:nvSpPr>
          <p:cNvPr id="7" name="S07-chip53"/>
          <p:cNvSpPr txBox="1"/>
          <p:nvPr/>
        </p:nvSpPr>
        <p:spPr>
          <a:xfrm>
            <a:off x="548640" y="2751328"/>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가 놓인 차례대로</a:t>
            </a:r>
            <a:endParaRPr lang="ko-KR" sz="2200" dirty="0"/>
          </a:p>
        </p:txBody>
      </p:sp>
      <p:sp>
        <p:nvSpPr>
          <p:cNvPr id="8" name="S07-text54"/>
          <p:cNvSpPr txBox="1"/>
          <p:nvPr/>
        </p:nvSpPr>
        <p:spPr>
          <a:xfrm>
            <a:off x="548640" y="3482848"/>
            <a:ext cx="5362956" cy="1637792"/>
          </a:xfrm>
          <a:prstGeom prst="rect">
            <a:avLst/>
          </a:prstGeom>
          <a:noFill/>
          <a:ln/>
        </p:spPr>
        <p:txBody>
          <a:bodyPr wrap="square" lIns="0" tIns="0" rIns="0" bIns="0" rtlCol="0" anchor="t"/>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1. Finally, I go to bed.</a:t>
            </a:r>
            <a:endParaRPr lang="ko-KR" sz="2800" dirty="0"/>
          </a:p>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2. First, I eat dinner.</a:t>
            </a:r>
            <a:endParaRPr lang="ko-KR" sz="2800" dirty="0"/>
          </a:p>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3. Then, I take a shower.</a:t>
            </a:r>
            <a:endParaRPr lang="ko-KR" sz="2800" dirty="0"/>
          </a:p>
        </p:txBody>
      </p:sp>
      <p:sp>
        <p:nvSpPr>
          <p:cNvPr id="9" name="S07-chip55"/>
          <p:cNvSpPr txBox="1"/>
          <p:nvPr/>
        </p:nvSpPr>
        <p:spPr>
          <a:xfrm>
            <a:off x="6277356" y="2751328"/>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나 신호어를 보고</a:t>
            </a:r>
            <a:endParaRPr lang="ko-KR" sz="2200" dirty="0"/>
          </a:p>
        </p:txBody>
      </p:sp>
      <p:sp>
        <p:nvSpPr>
          <p:cNvPr id="10" name="S07-text56"/>
          <p:cNvSpPr txBox="1"/>
          <p:nvPr/>
        </p:nvSpPr>
        <p:spPr>
          <a:xfrm>
            <a:off x="6277356" y="3482848"/>
            <a:ext cx="5362956" cy="1637792"/>
          </a:xfrm>
          <a:prstGeom prst="rect">
            <a:avLst/>
          </a:prstGeom>
          <a:noFill/>
          <a:ln/>
        </p:spPr>
        <p:txBody>
          <a:bodyPr wrap="square" lIns="0" tIns="0" rIns="0" bIns="0" rtlCol="0" anchor="t"/>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1. First, I eat dinner.</a:t>
            </a:r>
            <a:endParaRPr lang="ko-KR" sz="2800" dirty="0"/>
          </a:p>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2. Then, I take a shower.</a:t>
            </a:r>
            <a:endParaRPr lang="ko-KR" sz="2800" dirty="0"/>
          </a:p>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3. Finally, I go to bed.</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듣고 순서 정하기</a:t>
            </a:r>
            <a:endParaRPr lang="ko-KR" sz="4000" dirty="0"/>
          </a:p>
        </p:txBody>
      </p:sp>
      <p:sp>
        <p:nvSpPr>
          <p:cNvPr id="3" name="S08-card57"/>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4" name="S08-cardtext58"/>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이야기를 듣고 일어난 순서대로 가~라를 말해요.</a:t>
            </a:r>
            <a:endParaRPr lang="ko-KR" sz="2800" dirty="0"/>
          </a:p>
        </p:txBody>
      </p:sp>
      <p:sp>
        <p:nvSpPr>
          <p:cNvPr id="5" name="S08-chip59"/>
          <p:cNvSpPr txBox="1"/>
          <p:nvPr/>
        </p:nvSpPr>
        <p:spPr>
          <a:xfrm>
            <a:off x="548640" y="192252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가</a:t>
            </a:r>
            <a:endParaRPr lang="ko-KR" sz="2800" dirty="0"/>
          </a:p>
        </p:txBody>
      </p:sp>
      <p:sp>
        <p:nvSpPr>
          <p:cNvPr id="6" name="S08-card60"/>
          <p:cNvSpPr/>
          <p:nvPr/>
        </p:nvSpPr>
        <p:spPr>
          <a:xfrm>
            <a:off x="1344168" y="1325880"/>
            <a:ext cx="4567428" cy="1760220"/>
          </a:xfrm>
          <a:prstGeom prst="roundRect">
            <a:avLst>
              <a:gd name="adj" fmla="val 6234"/>
            </a:avLst>
          </a:prstGeom>
          <a:solidFill>
            <a:srgbClr val="EAF3F1"/>
          </a:solidFill>
          <a:ln w="12700">
            <a:solidFill>
              <a:srgbClr val="EAF3F1"/>
            </a:solidFill>
            <a:prstDash val="solid"/>
          </a:ln>
        </p:spPr>
      </p:sp>
      <p:sp>
        <p:nvSpPr>
          <p:cNvPr id="7" name="S08-cardtext61"/>
          <p:cNvSpPr txBox="1"/>
          <p:nvPr/>
        </p:nvSpPr>
        <p:spPr>
          <a:xfrm>
            <a:off x="1618488" y="1463040"/>
            <a:ext cx="4018788" cy="1485900"/>
          </a:xfrm>
          <a:prstGeom prst="rect">
            <a:avLst/>
          </a:prstGeom>
          <a:noFill/>
          <a:ln/>
        </p:spPr>
        <p:txBody>
          <a:bodyPr wrap="square" lIns="0" tIns="0" rIns="0" bIns="0" rtlCol="0" anchor="ctr"/>
          <a:lstStyle/>
          <a:p>
            <a:pPr eaLnBrk="0" indent="0" marL="0">
              <a:spcAft>
                <a:spcPts val="600"/>
              </a:spcAft>
              <a:buNone/>
            </a:pPr>
            <a:r>
              <a:rPr lang="en-US" altLang="ko-KR" sz="2800" dirty="0">
                <a:solidFill>
                  <a:srgbClr val="1F2937"/>
                </a:solidFill>
                <a:latin typeface="맑은 고딕" pitchFamily="34" charset="0"/>
                <a:ea typeface="맑은 고딕" pitchFamily="34" charset="-122"/>
                <a:cs typeface="맑은 고딕" pitchFamily="34" charset="-120"/>
              </a:rPr>
              <a:t>takes a bath</a:t>
            </a:r>
            <a:endParaRPr lang="ko-KR" sz="2800" dirty="0"/>
          </a:p>
        </p:txBody>
      </p:sp>
      <p:sp>
        <p:nvSpPr>
          <p:cNvPr id="8" name="S08-chip62"/>
          <p:cNvSpPr txBox="1"/>
          <p:nvPr/>
        </p:nvSpPr>
        <p:spPr>
          <a:xfrm>
            <a:off x="6277356" y="192252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나</a:t>
            </a:r>
            <a:endParaRPr lang="ko-KR" sz="2800" dirty="0"/>
          </a:p>
        </p:txBody>
      </p:sp>
      <p:sp>
        <p:nvSpPr>
          <p:cNvPr id="9" name="S08-card63"/>
          <p:cNvSpPr/>
          <p:nvPr/>
        </p:nvSpPr>
        <p:spPr>
          <a:xfrm>
            <a:off x="7072884" y="1325880"/>
            <a:ext cx="4567428" cy="1760220"/>
          </a:xfrm>
          <a:prstGeom prst="roundRect">
            <a:avLst>
              <a:gd name="adj" fmla="val 6234"/>
            </a:avLst>
          </a:prstGeom>
          <a:solidFill>
            <a:srgbClr val="EAF3F1"/>
          </a:solidFill>
          <a:ln w="12700">
            <a:solidFill>
              <a:srgbClr val="EAF3F1"/>
            </a:solidFill>
            <a:prstDash val="solid"/>
          </a:ln>
        </p:spPr>
      </p:sp>
      <p:sp>
        <p:nvSpPr>
          <p:cNvPr id="10" name="S08-cardtext64"/>
          <p:cNvSpPr txBox="1"/>
          <p:nvPr/>
        </p:nvSpPr>
        <p:spPr>
          <a:xfrm>
            <a:off x="7347204" y="1463040"/>
            <a:ext cx="4018788" cy="1485900"/>
          </a:xfrm>
          <a:prstGeom prst="rect">
            <a:avLst/>
          </a:prstGeom>
          <a:noFill/>
          <a:ln/>
        </p:spPr>
        <p:txBody>
          <a:bodyPr wrap="square" lIns="0" tIns="0" rIns="0" bIns="0" rtlCol="0" anchor="ctr"/>
          <a:lstStyle/>
          <a:p>
            <a:pPr eaLnBrk="0" indent="0" marL="0">
              <a:spcAft>
                <a:spcPts val="600"/>
              </a:spcAft>
              <a:buNone/>
            </a:pPr>
            <a:r>
              <a:rPr lang="en-US" altLang="ko-KR" sz="2800" dirty="0">
                <a:solidFill>
                  <a:srgbClr val="1F2937"/>
                </a:solidFill>
                <a:latin typeface="맑은 고딕" pitchFamily="34" charset="0"/>
                <a:ea typeface="맑은 고딕" pitchFamily="34" charset="-122"/>
                <a:cs typeface="맑은 고딕" pitchFamily="34" charset="-120"/>
              </a:rPr>
              <a:t>cleans his room</a:t>
            </a:r>
            <a:endParaRPr lang="ko-KR" sz="2800" dirty="0"/>
          </a:p>
        </p:txBody>
      </p:sp>
      <p:sp>
        <p:nvSpPr>
          <p:cNvPr id="11" name="S08-chip65"/>
          <p:cNvSpPr txBox="1"/>
          <p:nvPr/>
        </p:nvSpPr>
        <p:spPr>
          <a:xfrm>
            <a:off x="548640" y="395706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다</a:t>
            </a:r>
            <a:endParaRPr lang="ko-KR" sz="2800" dirty="0"/>
          </a:p>
        </p:txBody>
      </p:sp>
      <p:sp>
        <p:nvSpPr>
          <p:cNvPr id="12" name="S08-card66"/>
          <p:cNvSpPr/>
          <p:nvPr/>
        </p:nvSpPr>
        <p:spPr>
          <a:xfrm>
            <a:off x="1344168" y="3360420"/>
            <a:ext cx="4567428" cy="1760220"/>
          </a:xfrm>
          <a:prstGeom prst="roundRect">
            <a:avLst>
              <a:gd name="adj" fmla="val 6234"/>
            </a:avLst>
          </a:prstGeom>
          <a:solidFill>
            <a:srgbClr val="EAF3F1"/>
          </a:solidFill>
          <a:ln w="12700">
            <a:solidFill>
              <a:srgbClr val="EAF3F1"/>
            </a:solidFill>
            <a:prstDash val="solid"/>
          </a:ln>
        </p:spPr>
      </p:sp>
      <p:sp>
        <p:nvSpPr>
          <p:cNvPr id="13" name="S08-cardtext67"/>
          <p:cNvSpPr txBox="1"/>
          <p:nvPr/>
        </p:nvSpPr>
        <p:spPr>
          <a:xfrm>
            <a:off x="1618488" y="3497580"/>
            <a:ext cx="4018788" cy="1485900"/>
          </a:xfrm>
          <a:prstGeom prst="rect">
            <a:avLst/>
          </a:prstGeom>
          <a:noFill/>
          <a:ln/>
        </p:spPr>
        <p:txBody>
          <a:bodyPr wrap="square" lIns="0" tIns="0" rIns="0" bIns="0" rtlCol="0" anchor="ctr"/>
          <a:lstStyle/>
          <a:p>
            <a:pPr eaLnBrk="0" indent="0" marL="0">
              <a:spcAft>
                <a:spcPts val="600"/>
              </a:spcAft>
              <a:buNone/>
            </a:pPr>
            <a:r>
              <a:rPr lang="en-US" altLang="ko-KR" sz="2800" dirty="0">
                <a:solidFill>
                  <a:srgbClr val="1F2937"/>
                </a:solidFill>
                <a:latin typeface="맑은 고딕" pitchFamily="34" charset="0"/>
                <a:ea typeface="맑은 고딕" pitchFamily="34" charset="-122"/>
                <a:cs typeface="맑은 고딕" pitchFamily="34" charset="-120"/>
              </a:rPr>
              <a:t>plays soccer</a:t>
            </a:r>
            <a:endParaRPr lang="ko-KR" sz="2800" dirty="0"/>
          </a:p>
        </p:txBody>
      </p:sp>
      <p:sp>
        <p:nvSpPr>
          <p:cNvPr id="14" name="S08-chip68"/>
          <p:cNvSpPr txBox="1"/>
          <p:nvPr/>
        </p:nvSpPr>
        <p:spPr>
          <a:xfrm>
            <a:off x="6277356" y="395706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라</a:t>
            </a:r>
            <a:endParaRPr lang="ko-KR" sz="2800" dirty="0"/>
          </a:p>
        </p:txBody>
      </p:sp>
      <p:sp>
        <p:nvSpPr>
          <p:cNvPr id="15" name="S08-card69"/>
          <p:cNvSpPr/>
          <p:nvPr/>
        </p:nvSpPr>
        <p:spPr>
          <a:xfrm>
            <a:off x="7072884" y="3360420"/>
            <a:ext cx="4567428" cy="1760220"/>
          </a:xfrm>
          <a:prstGeom prst="roundRect">
            <a:avLst>
              <a:gd name="adj" fmla="val 6234"/>
            </a:avLst>
          </a:prstGeom>
          <a:solidFill>
            <a:srgbClr val="EAF3F1"/>
          </a:solidFill>
          <a:ln w="12700">
            <a:solidFill>
              <a:srgbClr val="EAF3F1"/>
            </a:solidFill>
            <a:prstDash val="solid"/>
          </a:ln>
        </p:spPr>
      </p:sp>
      <p:sp>
        <p:nvSpPr>
          <p:cNvPr id="16" name="S08-cardtext70"/>
          <p:cNvSpPr txBox="1"/>
          <p:nvPr/>
        </p:nvSpPr>
        <p:spPr>
          <a:xfrm>
            <a:off x="7347204" y="3497580"/>
            <a:ext cx="4018788" cy="1485900"/>
          </a:xfrm>
          <a:prstGeom prst="rect">
            <a:avLst/>
          </a:prstGeom>
          <a:noFill/>
          <a:ln/>
        </p:spPr>
        <p:txBody>
          <a:bodyPr wrap="square" lIns="0" tIns="0" rIns="0" bIns="0" rtlCol="0" anchor="ctr"/>
          <a:lstStyle/>
          <a:p>
            <a:pPr eaLnBrk="0" indent="0" marL="0">
              <a:spcAft>
                <a:spcPts val="600"/>
              </a:spcAft>
              <a:buNone/>
            </a:pPr>
            <a:r>
              <a:rPr lang="en-US" altLang="ko-KR" sz="2800" dirty="0">
                <a:solidFill>
                  <a:srgbClr val="1F2937"/>
                </a:solidFill>
                <a:latin typeface="맑은 고딕" pitchFamily="34" charset="0"/>
                <a:ea typeface="맑은 고딕" pitchFamily="34" charset="-122"/>
                <a:cs typeface="맑은 고딕" pitchFamily="34" charset="-120"/>
              </a:rPr>
              <a:t>reads a book</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순서 카드 놀이</a:t>
            </a:r>
            <a:endParaRPr lang="ko-KR" sz="4000" dirty="0"/>
          </a:p>
        </p:txBody>
      </p:sp>
      <p:sp>
        <p:nvSpPr>
          <p:cNvPr id="3" name="S09-card71"/>
          <p:cNvSpPr/>
          <p:nvPr/>
        </p:nvSpPr>
        <p:spPr>
          <a:xfrm>
            <a:off x="6813652" y="1325880"/>
            <a:ext cx="4826660" cy="4892040"/>
          </a:xfrm>
          <a:prstGeom prst="roundRect">
            <a:avLst>
              <a:gd name="adj" fmla="val 2273"/>
            </a:avLst>
          </a:prstGeom>
          <a:solidFill>
            <a:srgbClr val="EAF3F1"/>
          </a:solidFill>
          <a:ln w="12700">
            <a:solidFill>
              <a:srgbClr val="EAF3F1"/>
            </a:solidFill>
            <a:prstDash val="solid"/>
          </a:ln>
        </p:spPr>
      </p:sp>
      <p:sp>
        <p:nvSpPr>
          <p:cNvPr id="4" name="S09-cardtext72"/>
          <p:cNvSpPr txBox="1"/>
          <p:nvPr/>
        </p:nvSpPr>
        <p:spPr>
          <a:xfrm>
            <a:off x="7087972" y="1463040"/>
            <a:ext cx="4278020" cy="4617720"/>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1F2937"/>
                </a:solidFill>
                <a:latin typeface="맑은 고딕" pitchFamily="34" charset="0"/>
                <a:ea typeface="맑은 고딕" pitchFamily="34" charset="-122"/>
                <a:cs typeface="맑은 고딕" pitchFamily="34" charset="-120"/>
              </a:rPr>
              <a:t>이렇게 하면 잘한 거예요</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 신호어를 보고 순서를 정했어요</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 순서대로 소리 내어 읽었어요</a:t>
            </a:r>
            <a:endParaRPr lang="ko-KR" sz="2800" dirty="0"/>
          </a:p>
          <a:p>
            <a:pPr eaLnBrk="0" indent="0" marL="0">
              <a:spcAft>
                <a:spcPts val="600"/>
              </a:spcAft>
              <a:buNone/>
            </a:pPr>
            <a:r>
              <a:rPr lang="ko-KR" altLang="en-US" sz="2200" dirty="0">
                <a:solidFill>
                  <a:srgbClr val="1F2937"/>
                </a:solidFill>
                <a:latin typeface="맑은 고딕" pitchFamily="34" charset="0"/>
                <a:ea typeface="맑은 고딕" pitchFamily="34" charset="-122"/>
                <a:cs typeface="맑은 고딕" pitchFamily="34" charset="-120"/>
              </a:rPr>
              <a:t>☐ 왜 그 순서인지 말했어요</a:t>
            </a:r>
            <a:endParaRPr lang="ko-KR" sz="2800" dirty="0"/>
          </a:p>
        </p:txBody>
      </p:sp>
      <p:sp>
        <p:nvSpPr>
          <p:cNvPr id="5" name="S09-stepno73"/>
          <p:cNvSpPr txBox="1"/>
          <p:nvPr/>
        </p:nvSpPr>
        <p:spPr>
          <a:xfrm>
            <a:off x="548640" y="2154428"/>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1</a:t>
            </a:r>
            <a:endParaRPr lang="ko-KR" sz="2200" dirty="0"/>
          </a:p>
        </p:txBody>
      </p:sp>
      <p:sp>
        <p:nvSpPr>
          <p:cNvPr id="6" name="S09-text74"/>
          <p:cNvSpPr txBox="1"/>
          <p:nvPr/>
        </p:nvSpPr>
        <p:spPr>
          <a:xfrm>
            <a:off x="1325880" y="2108708"/>
            <a:ext cx="5122012" cy="867664"/>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부모님이 종이 띠 4장에 순서 문장을 써요.</a:t>
            </a:r>
            <a:endParaRPr lang="ko-KR" sz="2800" dirty="0"/>
          </a:p>
        </p:txBody>
      </p:sp>
      <p:sp>
        <p:nvSpPr>
          <p:cNvPr id="7" name="S09-stepno75"/>
          <p:cNvSpPr txBox="1"/>
          <p:nvPr/>
        </p:nvSpPr>
        <p:spPr>
          <a:xfrm>
            <a:off x="548640" y="3186684"/>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2</a:t>
            </a:r>
            <a:endParaRPr lang="ko-KR" sz="2200" dirty="0"/>
          </a:p>
        </p:txBody>
      </p:sp>
      <p:sp>
        <p:nvSpPr>
          <p:cNvPr id="8" name="S09-text76"/>
          <p:cNvSpPr txBox="1"/>
          <p:nvPr/>
        </p:nvSpPr>
        <p:spPr>
          <a:xfrm>
            <a:off x="1325880" y="3140964"/>
            <a:ext cx="5122012" cy="867664"/>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띠를 섞고 아이가 순서대로 놓아요.</a:t>
            </a:r>
            <a:endParaRPr lang="ko-KR" sz="2800" dirty="0"/>
          </a:p>
        </p:txBody>
      </p:sp>
      <p:sp>
        <p:nvSpPr>
          <p:cNvPr id="9" name="S09-stepno77"/>
          <p:cNvSpPr txBox="1"/>
          <p:nvPr/>
        </p:nvSpPr>
        <p:spPr>
          <a:xfrm>
            <a:off x="548640" y="4173220"/>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3</a:t>
            </a:r>
            <a:endParaRPr lang="ko-KR" sz="2200" dirty="0"/>
          </a:p>
        </p:txBody>
      </p:sp>
      <p:sp>
        <p:nvSpPr>
          <p:cNvPr id="10" name="S09-text78"/>
          <p:cNvSpPr txBox="1"/>
          <p:nvPr/>
        </p:nvSpPr>
        <p:spPr>
          <a:xfrm>
            <a:off x="1325880" y="4173220"/>
            <a:ext cx="5122012" cy="548640"/>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순서대로 소리 내어 읽어요.</a:t>
            </a:r>
            <a:endParaRPr lang="ko-KR" sz="2800" dirty="0"/>
          </a:p>
        </p:txBody>
      </p:sp>
      <p:sp>
        <p:nvSpPr>
          <p:cNvPr id="11" name="S09-stepno79"/>
          <p:cNvSpPr txBox="1"/>
          <p:nvPr/>
        </p:nvSpPr>
        <p:spPr>
          <a:xfrm>
            <a:off x="548640" y="4886452"/>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4</a:t>
            </a:r>
            <a:endParaRPr lang="ko-KR" sz="2200" dirty="0"/>
          </a:p>
        </p:txBody>
      </p:sp>
      <p:sp>
        <p:nvSpPr>
          <p:cNvPr id="12" name="S09-text80"/>
          <p:cNvSpPr txBox="1"/>
          <p:nvPr/>
        </p:nvSpPr>
        <p:spPr>
          <a:xfrm>
            <a:off x="1325880" y="4886452"/>
            <a:ext cx="5122012" cy="548640"/>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역할을 바꿔서 해요.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혼자 해 보기</a:t>
            </a:r>
            <a:endParaRPr lang="ko-KR" sz="4000" dirty="0"/>
          </a:p>
        </p:txBody>
      </p:sp>
      <p:sp>
        <p:nvSpPr>
          <p:cNvPr id="3" name="S10-text81"/>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문장을 읽고 일어난 순서대로 가~라를 말해요.</a:t>
            </a:r>
            <a:endParaRPr lang="ko-KR" sz="2800" dirty="0"/>
          </a:p>
        </p:txBody>
      </p:sp>
      <p:sp>
        <p:nvSpPr>
          <p:cNvPr id="4" name="S10-chip82"/>
          <p:cNvSpPr txBox="1"/>
          <p:nvPr/>
        </p:nvSpPr>
        <p:spPr>
          <a:xfrm>
            <a:off x="548640"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가</a:t>
            </a:r>
            <a:endParaRPr lang="ko-KR" sz="2200" dirty="0"/>
          </a:p>
        </p:txBody>
      </p:sp>
      <p:sp>
        <p:nvSpPr>
          <p:cNvPr id="5" name="S10-text83"/>
          <p:cNvSpPr txBox="1"/>
          <p:nvPr/>
        </p:nvSpPr>
        <p:spPr>
          <a:xfrm>
            <a:off x="1344168" y="2011680"/>
            <a:ext cx="4567428" cy="14630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Next, give it some water.</a:t>
            </a:r>
            <a:endParaRPr lang="ko-KR" sz="2800" dirty="0"/>
          </a:p>
        </p:txBody>
      </p:sp>
      <p:sp>
        <p:nvSpPr>
          <p:cNvPr id="6" name="S10-chip84"/>
          <p:cNvSpPr txBox="1"/>
          <p:nvPr/>
        </p:nvSpPr>
        <p:spPr>
          <a:xfrm>
            <a:off x="6277356"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나</a:t>
            </a:r>
            <a:endParaRPr lang="ko-KR" sz="2200" dirty="0"/>
          </a:p>
        </p:txBody>
      </p:sp>
      <p:sp>
        <p:nvSpPr>
          <p:cNvPr id="7" name="S10-text85"/>
          <p:cNvSpPr txBox="1"/>
          <p:nvPr/>
        </p:nvSpPr>
        <p:spPr>
          <a:xfrm>
            <a:off x="7072884" y="2011680"/>
            <a:ext cx="4567428" cy="14630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Finally, put the cup by the window.</a:t>
            </a:r>
            <a:endParaRPr lang="ko-KR" sz="2800" dirty="0"/>
          </a:p>
        </p:txBody>
      </p:sp>
      <p:sp>
        <p:nvSpPr>
          <p:cNvPr id="8" name="S10-chip86"/>
          <p:cNvSpPr txBox="1"/>
          <p:nvPr/>
        </p:nvSpPr>
        <p:spPr>
          <a:xfrm>
            <a:off x="548640" y="4654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다</a:t>
            </a:r>
            <a:endParaRPr lang="ko-KR" sz="2200" dirty="0"/>
          </a:p>
        </p:txBody>
      </p:sp>
      <p:sp>
        <p:nvSpPr>
          <p:cNvPr id="9" name="S10-text87"/>
          <p:cNvSpPr txBox="1"/>
          <p:nvPr/>
        </p:nvSpPr>
        <p:spPr>
          <a:xfrm>
            <a:off x="1344168" y="4206240"/>
            <a:ext cx="4567428" cy="14630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First, put some soil in a cup.</a:t>
            </a:r>
            <a:endParaRPr lang="ko-KR" sz="2800" dirty="0"/>
          </a:p>
        </p:txBody>
      </p:sp>
      <p:sp>
        <p:nvSpPr>
          <p:cNvPr id="10" name="S10-chip88"/>
          <p:cNvSpPr txBox="1"/>
          <p:nvPr/>
        </p:nvSpPr>
        <p:spPr>
          <a:xfrm>
            <a:off x="6277356" y="4654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라</a:t>
            </a:r>
            <a:endParaRPr lang="ko-KR" sz="2200" dirty="0"/>
          </a:p>
        </p:txBody>
      </p:sp>
      <p:sp>
        <p:nvSpPr>
          <p:cNvPr id="11" name="S10-text89"/>
          <p:cNvSpPr txBox="1"/>
          <p:nvPr/>
        </p:nvSpPr>
        <p:spPr>
          <a:xfrm>
            <a:off x="7072884" y="4206240"/>
            <a:ext cx="4567428" cy="14630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Then, put a seed in the soil.</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정답 확인</a:t>
            </a:r>
            <a:endParaRPr lang="ko-KR" sz="4000" dirty="0"/>
          </a:p>
        </p:txBody>
      </p:sp>
      <p:sp>
        <p:nvSpPr>
          <p:cNvPr id="3" name="S11-card90"/>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4" name="S11-cardtext91"/>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신호어로 처음과 끝을 찾고, 가운데는 내용을 보고 정해요.</a:t>
            </a:r>
            <a:endParaRPr lang="ko-KR" sz="2800" dirty="0"/>
          </a:p>
        </p:txBody>
      </p:sp>
      <p:sp>
        <p:nvSpPr>
          <p:cNvPr id="5" name="S11-chip92"/>
          <p:cNvSpPr txBox="1"/>
          <p:nvPr/>
        </p:nvSpPr>
        <p:spPr>
          <a:xfrm>
            <a:off x="548640" y="1325880"/>
            <a:ext cx="5362956" cy="548640"/>
          </a:xfrm>
          <a:prstGeom prst="roundRect">
            <a:avLst>
              <a:gd name="adj" fmla="val 26667"/>
            </a:avLst>
          </a:prstGeom>
          <a:solidFill>
            <a:srgbClr val="E3F4F1"/>
          </a:solidFill>
          <a:ln>
            <a:solidFill>
              <a:srgbClr val="E3F4F1"/>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 정답</a:t>
            </a:r>
            <a:endParaRPr lang="ko-KR" sz="2200" dirty="0"/>
          </a:p>
        </p:txBody>
      </p:sp>
      <p:sp>
        <p:nvSpPr>
          <p:cNvPr id="6" name="S11-text93"/>
          <p:cNvSpPr txBox="1"/>
          <p:nvPr/>
        </p:nvSpPr>
        <p:spPr>
          <a:xfrm>
            <a:off x="548640" y="2057400"/>
            <a:ext cx="5362956" cy="9296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다→라→가→나</a:t>
            </a:r>
            <a:endParaRPr lang="ko-KR" sz="2800" dirty="0"/>
          </a:p>
        </p:txBody>
      </p:sp>
      <p:sp>
        <p:nvSpPr>
          <p:cNvPr id="7" name="S11-text94"/>
          <p:cNvSpPr txBox="1"/>
          <p:nvPr/>
        </p:nvSpPr>
        <p:spPr>
          <a:xfrm>
            <a:off x="548640" y="3124200"/>
            <a:ext cx="5362956" cy="9296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First 흙 → Then 씨앗</a:t>
            </a:r>
            <a:endParaRPr lang="ko-KR" sz="2800" dirty="0"/>
          </a:p>
        </p:txBody>
      </p:sp>
      <p:sp>
        <p:nvSpPr>
          <p:cNvPr id="8" name="S11-text95"/>
          <p:cNvSpPr txBox="1"/>
          <p:nvPr/>
        </p:nvSpPr>
        <p:spPr>
          <a:xfrm>
            <a:off x="548640" y="4191000"/>
            <a:ext cx="5362956" cy="9296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Next 물 → Finally 창가</a:t>
            </a:r>
            <a:endParaRPr lang="ko-KR" sz="2800" dirty="0"/>
          </a:p>
        </p:txBody>
      </p:sp>
      <p:sp>
        <p:nvSpPr>
          <p:cNvPr id="9" name="S11-chip96"/>
          <p:cNvSpPr txBox="1"/>
          <p:nvPr/>
        </p:nvSpPr>
        <p:spPr>
          <a:xfrm>
            <a:off x="6277356" y="1325880"/>
            <a:ext cx="5362956" cy="548640"/>
          </a:xfrm>
          <a:prstGeom prst="roundRect">
            <a:avLst>
              <a:gd name="adj" fmla="val 26667"/>
            </a:avLst>
          </a:prstGeom>
          <a:solidFill>
            <a:srgbClr val="FBE6E7"/>
          </a:solidFill>
          <a:ln>
            <a:solidFill>
              <a:srgbClr val="FBE6E7"/>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 흔한 실수</a:t>
            </a:r>
            <a:endParaRPr lang="ko-KR" sz="2200" dirty="0"/>
          </a:p>
        </p:txBody>
      </p:sp>
      <p:sp>
        <p:nvSpPr>
          <p:cNvPr id="10" name="S11-text97"/>
          <p:cNvSpPr txBox="1"/>
          <p:nvPr/>
        </p:nvSpPr>
        <p:spPr>
          <a:xfrm>
            <a:off x="6277356" y="2057400"/>
            <a:ext cx="2681478" cy="12344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가→나→다→라</a:t>
            </a:r>
            <a:endParaRPr lang="ko-KR" sz="2800" dirty="0"/>
          </a:p>
        </p:txBody>
      </p:sp>
      <p:sp>
        <p:nvSpPr>
          <p:cNvPr id="11" name="S11-text98"/>
          <p:cNvSpPr txBox="1"/>
          <p:nvPr/>
        </p:nvSpPr>
        <p:spPr>
          <a:xfrm>
            <a:off x="9095994" y="2057400"/>
            <a:ext cx="2544318" cy="1234440"/>
          </a:xfrm>
          <a:prstGeom prst="rect">
            <a:avLst/>
          </a:prstGeom>
          <a:noFill/>
          <a:ln/>
        </p:spPr>
        <p:txBody>
          <a:bodyPr wrap="square" lIns="0" tIns="0" rIns="0" bIns="0" rtlCol="0" anchor="ctr"/>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적힌 차례대로 함</a:t>
            </a:r>
            <a:endParaRPr lang="ko-KR" sz="2200" dirty="0"/>
          </a:p>
        </p:txBody>
      </p:sp>
      <p:sp>
        <p:nvSpPr>
          <p:cNvPr id="12" name="S11-text99"/>
          <p:cNvSpPr txBox="1"/>
          <p:nvPr/>
        </p:nvSpPr>
        <p:spPr>
          <a:xfrm>
            <a:off x="6277356" y="3429000"/>
            <a:ext cx="2681478" cy="12344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다→가→라→나</a:t>
            </a:r>
            <a:endParaRPr lang="ko-KR" sz="2800" dirty="0"/>
          </a:p>
        </p:txBody>
      </p:sp>
      <p:sp>
        <p:nvSpPr>
          <p:cNvPr id="13" name="S11-text100"/>
          <p:cNvSpPr txBox="1"/>
          <p:nvPr/>
        </p:nvSpPr>
        <p:spPr>
          <a:xfrm>
            <a:off x="9095994" y="3429000"/>
            <a:ext cx="2544318" cy="1234440"/>
          </a:xfrm>
          <a:prstGeom prst="rect">
            <a:avLst/>
          </a:prstGeom>
          <a:noFill/>
          <a:ln/>
        </p:spPr>
        <p:txBody>
          <a:bodyPr wrap="square" lIns="0" tIns="0" rIns="0" bIns="0" rtlCol="0" anchor="ctr"/>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씨앗보다 물이 먼저</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듣고 다시 말하기</a:t>
            </a:r>
            <a:endParaRPr lang="ko-KR" sz="4000" dirty="0"/>
          </a:p>
        </p:txBody>
      </p:sp>
      <p:sp>
        <p:nvSpPr>
          <p:cNvPr id="3" name="S12-card101"/>
          <p:cNvSpPr/>
          <p:nvPr/>
        </p:nvSpPr>
        <p:spPr>
          <a:xfrm>
            <a:off x="548640" y="5021072"/>
            <a:ext cx="11091672" cy="1196848"/>
          </a:xfrm>
          <a:prstGeom prst="roundRect">
            <a:avLst>
              <a:gd name="adj" fmla="val 9168"/>
            </a:avLst>
          </a:prstGeom>
          <a:solidFill>
            <a:srgbClr val="EAF3F1"/>
          </a:solidFill>
          <a:ln w="12700">
            <a:solidFill>
              <a:srgbClr val="EAF3F1"/>
            </a:solidFill>
            <a:prstDash val="solid"/>
          </a:ln>
        </p:spPr>
      </p:sp>
      <p:sp>
        <p:nvSpPr>
          <p:cNvPr id="4" name="S12-cardtext102"/>
          <p:cNvSpPr txBox="1"/>
          <p:nvPr/>
        </p:nvSpPr>
        <p:spPr>
          <a:xfrm>
            <a:off x="822960" y="5158232"/>
            <a:ext cx="10543032" cy="922528"/>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듣고 순서대로 가~라를 말한 뒤, First~Finally를 넣어 다시 말해요.</a:t>
            </a:r>
            <a:endParaRPr lang="ko-KR" sz="2800" dirty="0"/>
          </a:p>
        </p:txBody>
      </p:sp>
      <p:sp>
        <p:nvSpPr>
          <p:cNvPr id="5" name="S12-chip103"/>
          <p:cNvSpPr txBox="1"/>
          <p:nvPr/>
        </p:nvSpPr>
        <p:spPr>
          <a:xfrm>
            <a:off x="548640" y="1840484"/>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가</a:t>
            </a:r>
            <a:endParaRPr lang="ko-KR" sz="2800" dirty="0"/>
          </a:p>
        </p:txBody>
      </p:sp>
      <p:sp>
        <p:nvSpPr>
          <p:cNvPr id="6" name="S12-card104"/>
          <p:cNvSpPr/>
          <p:nvPr/>
        </p:nvSpPr>
        <p:spPr>
          <a:xfrm>
            <a:off x="1344168" y="1325880"/>
            <a:ext cx="4567428" cy="1596136"/>
          </a:xfrm>
          <a:prstGeom prst="roundRect">
            <a:avLst>
              <a:gd name="adj" fmla="val 6875"/>
            </a:avLst>
          </a:prstGeom>
          <a:solidFill>
            <a:srgbClr val="EAF3F1"/>
          </a:solidFill>
          <a:ln w="12700">
            <a:solidFill>
              <a:srgbClr val="EAF3F1"/>
            </a:solidFill>
            <a:prstDash val="solid"/>
          </a:ln>
        </p:spPr>
      </p:sp>
      <p:sp>
        <p:nvSpPr>
          <p:cNvPr id="7" name="S12-cardtext105"/>
          <p:cNvSpPr txBox="1"/>
          <p:nvPr/>
        </p:nvSpPr>
        <p:spPr>
          <a:xfrm>
            <a:off x="1618488" y="1463040"/>
            <a:ext cx="4018788" cy="1321816"/>
          </a:xfrm>
          <a:prstGeom prst="rect">
            <a:avLst/>
          </a:prstGeom>
          <a:noFill/>
          <a:ln/>
        </p:spPr>
        <p:txBody>
          <a:bodyPr wrap="square" lIns="0" tIns="0" rIns="0" bIns="0" rtlCol="0" anchor="ctr"/>
          <a:lstStyle/>
          <a:p>
            <a:pPr eaLnBrk="0" indent="0" marL="0">
              <a:spcAft>
                <a:spcPts val="600"/>
              </a:spcAft>
              <a:buNone/>
            </a:pPr>
            <a:r>
              <a:rPr lang="en-US" altLang="ko-KR" sz="2800" dirty="0">
                <a:solidFill>
                  <a:srgbClr val="1F2937"/>
                </a:solidFill>
                <a:latin typeface="맑은 고딕" pitchFamily="34" charset="0"/>
                <a:ea typeface="맑은 고딕" pitchFamily="34" charset="-122"/>
                <a:cs typeface="맑은 고딕" pitchFamily="34" charset="-120"/>
              </a:rPr>
              <a:t>eat ice cream</a:t>
            </a:r>
            <a:endParaRPr lang="ko-KR" sz="2800" dirty="0"/>
          </a:p>
        </p:txBody>
      </p:sp>
      <p:sp>
        <p:nvSpPr>
          <p:cNvPr id="8" name="S12-chip106"/>
          <p:cNvSpPr txBox="1"/>
          <p:nvPr/>
        </p:nvSpPr>
        <p:spPr>
          <a:xfrm>
            <a:off x="6277356" y="1840484"/>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나</a:t>
            </a:r>
            <a:endParaRPr lang="ko-KR" sz="2800" dirty="0"/>
          </a:p>
        </p:txBody>
      </p:sp>
      <p:sp>
        <p:nvSpPr>
          <p:cNvPr id="9" name="S12-card107"/>
          <p:cNvSpPr/>
          <p:nvPr/>
        </p:nvSpPr>
        <p:spPr>
          <a:xfrm>
            <a:off x="7072884" y="1325880"/>
            <a:ext cx="4567428" cy="1596136"/>
          </a:xfrm>
          <a:prstGeom prst="roundRect">
            <a:avLst>
              <a:gd name="adj" fmla="val 6875"/>
            </a:avLst>
          </a:prstGeom>
          <a:solidFill>
            <a:srgbClr val="EAF3F1"/>
          </a:solidFill>
          <a:ln w="12700">
            <a:solidFill>
              <a:srgbClr val="EAF3F1"/>
            </a:solidFill>
            <a:prstDash val="solid"/>
          </a:ln>
        </p:spPr>
      </p:sp>
      <p:sp>
        <p:nvSpPr>
          <p:cNvPr id="10" name="S12-cardtext108"/>
          <p:cNvSpPr txBox="1"/>
          <p:nvPr/>
        </p:nvSpPr>
        <p:spPr>
          <a:xfrm>
            <a:off x="7347204" y="1463040"/>
            <a:ext cx="4018788" cy="1321816"/>
          </a:xfrm>
          <a:prstGeom prst="rect">
            <a:avLst/>
          </a:prstGeom>
          <a:noFill/>
          <a:ln/>
        </p:spPr>
        <p:txBody>
          <a:bodyPr wrap="square" lIns="0" tIns="0" rIns="0" bIns="0" rtlCol="0" anchor="ctr"/>
          <a:lstStyle/>
          <a:p>
            <a:pPr eaLnBrk="0" indent="0" marL="0">
              <a:spcAft>
                <a:spcPts val="600"/>
              </a:spcAft>
              <a:buNone/>
            </a:pPr>
            <a:r>
              <a:rPr lang="en-US" altLang="ko-KR" sz="2800" dirty="0">
                <a:solidFill>
                  <a:srgbClr val="1F2937"/>
                </a:solidFill>
                <a:latin typeface="맑은 고딕" pitchFamily="34" charset="0"/>
                <a:ea typeface="맑은 고딕" pitchFamily="34" charset="-122"/>
                <a:cs typeface="맑은 고딕" pitchFamily="34" charset="-120"/>
              </a:rPr>
              <a:t>go home</a:t>
            </a:r>
            <a:endParaRPr lang="ko-KR" sz="2800" dirty="0"/>
          </a:p>
        </p:txBody>
      </p:sp>
      <p:sp>
        <p:nvSpPr>
          <p:cNvPr id="11" name="S12-chip109"/>
          <p:cNvSpPr txBox="1"/>
          <p:nvPr/>
        </p:nvSpPr>
        <p:spPr>
          <a:xfrm>
            <a:off x="548640" y="3710940"/>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다</a:t>
            </a:r>
            <a:endParaRPr lang="ko-KR" sz="2800" dirty="0"/>
          </a:p>
        </p:txBody>
      </p:sp>
      <p:sp>
        <p:nvSpPr>
          <p:cNvPr id="12" name="S12-card110"/>
          <p:cNvSpPr/>
          <p:nvPr/>
        </p:nvSpPr>
        <p:spPr>
          <a:xfrm>
            <a:off x="1344168" y="3196336"/>
            <a:ext cx="4567428" cy="1596136"/>
          </a:xfrm>
          <a:prstGeom prst="roundRect">
            <a:avLst>
              <a:gd name="adj" fmla="val 6875"/>
            </a:avLst>
          </a:prstGeom>
          <a:solidFill>
            <a:srgbClr val="EAF3F1"/>
          </a:solidFill>
          <a:ln w="12700">
            <a:solidFill>
              <a:srgbClr val="EAF3F1"/>
            </a:solidFill>
            <a:prstDash val="solid"/>
          </a:ln>
        </p:spPr>
      </p:sp>
      <p:sp>
        <p:nvSpPr>
          <p:cNvPr id="13" name="S12-cardtext111"/>
          <p:cNvSpPr txBox="1"/>
          <p:nvPr/>
        </p:nvSpPr>
        <p:spPr>
          <a:xfrm>
            <a:off x="1618488" y="3333496"/>
            <a:ext cx="4018788" cy="1321816"/>
          </a:xfrm>
          <a:prstGeom prst="rect">
            <a:avLst/>
          </a:prstGeom>
          <a:noFill/>
          <a:ln/>
        </p:spPr>
        <p:txBody>
          <a:bodyPr wrap="square" lIns="0" tIns="0" rIns="0" bIns="0" rtlCol="0" anchor="ctr"/>
          <a:lstStyle/>
          <a:p>
            <a:pPr eaLnBrk="0" indent="0" marL="0">
              <a:spcAft>
                <a:spcPts val="600"/>
              </a:spcAft>
              <a:buNone/>
            </a:pPr>
            <a:r>
              <a:rPr lang="en-US" altLang="ko-KR" sz="2800" dirty="0">
                <a:solidFill>
                  <a:srgbClr val="1F2937"/>
                </a:solidFill>
                <a:latin typeface="맑은 고딕" pitchFamily="34" charset="0"/>
                <a:ea typeface="맑은 고딕" pitchFamily="34" charset="-122"/>
                <a:cs typeface="맑은 고딕" pitchFamily="34" charset="-120"/>
              </a:rPr>
              <a:t>meet at the park</a:t>
            </a:r>
            <a:endParaRPr lang="ko-KR" sz="2800" dirty="0"/>
          </a:p>
        </p:txBody>
      </p:sp>
      <p:sp>
        <p:nvSpPr>
          <p:cNvPr id="14" name="S12-chip112"/>
          <p:cNvSpPr txBox="1"/>
          <p:nvPr/>
        </p:nvSpPr>
        <p:spPr>
          <a:xfrm>
            <a:off x="6277356" y="3710940"/>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라</a:t>
            </a:r>
            <a:endParaRPr lang="ko-KR" sz="2800" dirty="0"/>
          </a:p>
        </p:txBody>
      </p:sp>
      <p:sp>
        <p:nvSpPr>
          <p:cNvPr id="15" name="S12-card113"/>
          <p:cNvSpPr/>
          <p:nvPr/>
        </p:nvSpPr>
        <p:spPr>
          <a:xfrm>
            <a:off x="7072884" y="3196336"/>
            <a:ext cx="4567428" cy="1596136"/>
          </a:xfrm>
          <a:prstGeom prst="roundRect">
            <a:avLst>
              <a:gd name="adj" fmla="val 6875"/>
            </a:avLst>
          </a:prstGeom>
          <a:solidFill>
            <a:srgbClr val="EAF3F1"/>
          </a:solidFill>
          <a:ln w="12700">
            <a:solidFill>
              <a:srgbClr val="EAF3F1"/>
            </a:solidFill>
            <a:prstDash val="solid"/>
          </a:ln>
        </p:spPr>
      </p:sp>
      <p:sp>
        <p:nvSpPr>
          <p:cNvPr id="16" name="S12-cardtext114"/>
          <p:cNvSpPr txBox="1"/>
          <p:nvPr/>
        </p:nvSpPr>
        <p:spPr>
          <a:xfrm>
            <a:off x="7347204" y="3333496"/>
            <a:ext cx="4018788" cy="1321816"/>
          </a:xfrm>
          <a:prstGeom prst="rect">
            <a:avLst/>
          </a:prstGeom>
          <a:noFill/>
          <a:ln/>
        </p:spPr>
        <p:txBody>
          <a:bodyPr wrap="square" lIns="0" tIns="0" rIns="0" bIns="0" rtlCol="0" anchor="ctr"/>
          <a:lstStyle/>
          <a:p>
            <a:pPr eaLnBrk="0" indent="0" marL="0">
              <a:spcAft>
                <a:spcPts val="600"/>
              </a:spcAft>
              <a:buNone/>
            </a:pPr>
            <a:r>
              <a:rPr lang="en-US" altLang="ko-KR" sz="2800" dirty="0">
                <a:solidFill>
                  <a:srgbClr val="1F2937"/>
                </a:solidFill>
                <a:latin typeface="맑은 고딕" pitchFamily="34" charset="0"/>
                <a:ea typeface="맑은 고딕" pitchFamily="34" charset="-122"/>
                <a:cs typeface="맑은 고딕" pitchFamily="34" charset="-120"/>
              </a:rPr>
              <a:t>ride bikes</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FFFFFF"/>
                </a:solidFill>
                <a:latin typeface="맑은 고딕" pitchFamily="34" charset="0"/>
                <a:ea typeface="맑은 고딕" pitchFamily="34" charset="-122"/>
                <a:cs typeface="맑은 고딕" pitchFamily="34" charset="-120"/>
              </a:rPr>
              <a:t>오늘 배운 것</a:t>
            </a:r>
            <a:endParaRPr lang="ko-KR" sz="4000" dirty="0"/>
          </a:p>
        </p:txBody>
      </p:sp>
      <p:sp>
        <p:nvSpPr>
          <p:cNvPr id="3" name="S13-card115"/>
          <p:cNvSpPr/>
          <p:nvPr/>
        </p:nvSpPr>
        <p:spPr>
          <a:xfrm>
            <a:off x="548640" y="1325880"/>
            <a:ext cx="11091672" cy="1196848"/>
          </a:xfrm>
          <a:prstGeom prst="roundRect">
            <a:avLst>
              <a:gd name="adj" fmla="val 9168"/>
            </a:avLst>
          </a:prstGeom>
          <a:solidFill>
            <a:srgbClr val="32606F"/>
          </a:solidFill>
          <a:ln w="12700">
            <a:solidFill>
              <a:srgbClr val="32606F"/>
            </a:solidFill>
            <a:prstDash val="solid"/>
          </a:ln>
        </p:spPr>
      </p:sp>
      <p:sp>
        <p:nvSpPr>
          <p:cNvPr id="4" name="S13-cardtext116"/>
          <p:cNvSpPr txBox="1"/>
          <p:nvPr/>
        </p:nvSpPr>
        <p:spPr>
          <a:xfrm>
            <a:off x="822960" y="1463040"/>
            <a:ext cx="10543032" cy="922528"/>
          </a:xfrm>
          <a:prstGeom prst="rect">
            <a:avLst/>
          </a:prstGeom>
          <a:noFill/>
          <a:ln/>
        </p:spPr>
        <p:txBody>
          <a:bodyPr wrap="square" lIns="0" tIns="0" rIns="0" bIns="0" rtlCol="0" anchor="ctr"/>
          <a:lstStyle/>
          <a:p>
            <a:pPr eaLnBrk="0" indent="0" marL="0">
              <a:spcAft>
                <a:spcPts val="600"/>
              </a:spcAft>
              <a:buNone/>
            </a:pPr>
            <a:r>
              <a:rPr lang="en-US" altLang="ko-KR" sz="2800" dirty="0">
                <a:solidFill>
                  <a:srgbClr val="FFFFFF"/>
                </a:solidFill>
                <a:latin typeface="맑은 고딕" pitchFamily="34" charset="0"/>
                <a:ea typeface="맑은 고딕" pitchFamily="34" charset="-122"/>
                <a:cs typeface="맑은 고딕" pitchFamily="34" charset="-120"/>
              </a:rPr>
              <a:t>First → Then / Next → Finally</a:t>
            </a:r>
            <a:endParaRPr lang="ko-KR" sz="2800" dirty="0"/>
          </a:p>
          <a:p>
            <a:pPr eaLnBrk="0" indent="0" marL="0">
              <a:spcAft>
                <a:spcPts val="600"/>
              </a:spcAft>
              <a:buNone/>
            </a:pPr>
            <a:r>
              <a:rPr lang="ko-KR" altLang="en-US" sz="2800" dirty="0">
                <a:solidFill>
                  <a:srgbClr val="FFFFFF"/>
                </a:solidFill>
                <a:latin typeface="맑은 고딕" pitchFamily="34" charset="0"/>
                <a:ea typeface="맑은 고딕" pitchFamily="34" charset="-122"/>
                <a:cs typeface="맑은 고딕" pitchFamily="34" charset="-120"/>
              </a:rPr>
              <a:t>신호어로 처음과 끝을 찾고, 가운데는 내용을 보고 정해요.</a:t>
            </a:r>
            <a:endParaRPr lang="ko-KR" sz="2800" dirty="0"/>
          </a:p>
        </p:txBody>
      </p:sp>
      <p:sp>
        <p:nvSpPr>
          <p:cNvPr id="5" name="S13-chip117"/>
          <p:cNvSpPr txBox="1"/>
          <p:nvPr/>
        </p:nvSpPr>
        <p:spPr>
          <a:xfrm>
            <a:off x="548640" y="2751328"/>
            <a:ext cx="5431536" cy="594360"/>
          </a:xfrm>
          <a:prstGeom prst="roundRect">
            <a:avLst>
              <a:gd name="adj" fmla="val 24615"/>
            </a:avLst>
          </a:prstGeom>
          <a:solidFill>
            <a:srgbClr val="2A9D8F"/>
          </a:solidFill>
          <a:ln>
            <a:solidFill>
              <a:srgbClr val="2A9D8F"/>
            </a:solidFill>
          </a:ln>
        </p:spPr>
        <p:txBody>
          <a:bodyPr wrap="square" lIns="177800" tIns="0" rIns="177800" bIns="0" rtlCol="0" anchor="ctr"/>
          <a:lstStyle/>
          <a:p>
            <a:pPr eaLnBrk="0" algn="l" indent="0" marL="0">
              <a:buNone/>
            </a:pPr>
            <a:r>
              <a:rPr lang="ko-KR" altLang="en-US" sz="2200" b="1" dirty="0">
                <a:solidFill>
                  <a:srgbClr val="FFFFFF"/>
                </a:solidFill>
                <a:latin typeface="맑은 고딕" pitchFamily="34" charset="0"/>
                <a:ea typeface="맑은 고딕" pitchFamily="34" charset="-122"/>
                <a:cs typeface="맑은 고딕" pitchFamily="34" charset="-120"/>
              </a:rPr>
              <a:t>○ 신호어와 내용 보기</a:t>
            </a:r>
            <a:endParaRPr lang="ko-KR" sz="2200" dirty="0"/>
          </a:p>
        </p:txBody>
      </p:sp>
      <p:sp>
        <p:nvSpPr>
          <p:cNvPr id="6" name="S13-chip118"/>
          <p:cNvSpPr txBox="1"/>
          <p:nvPr/>
        </p:nvSpPr>
        <p:spPr>
          <a:xfrm>
            <a:off x="6208776" y="2751328"/>
            <a:ext cx="5431536" cy="594360"/>
          </a:xfrm>
          <a:prstGeom prst="roundRect">
            <a:avLst>
              <a:gd name="adj" fmla="val 24615"/>
            </a:avLst>
          </a:prstGeom>
          <a:solidFill>
            <a:srgbClr val="C8434E"/>
          </a:solidFill>
          <a:ln>
            <a:solidFill>
              <a:srgbClr val="C8434E"/>
            </a:solidFill>
          </a:ln>
        </p:spPr>
        <p:txBody>
          <a:bodyPr wrap="square" lIns="177800" tIns="0" rIns="177800" bIns="0" rtlCol="0" anchor="ctr"/>
          <a:lstStyle/>
          <a:p>
            <a:pPr eaLnBrk="0" algn="l" indent="0" marL="0">
              <a:buNone/>
            </a:pPr>
            <a:r>
              <a:rPr lang="ko-KR" altLang="en-US" sz="2200" b="1" dirty="0">
                <a:solidFill>
                  <a:srgbClr val="FFFFFF"/>
                </a:solidFill>
                <a:latin typeface="맑은 고딕" pitchFamily="34" charset="0"/>
                <a:ea typeface="맑은 고딕" pitchFamily="34" charset="-122"/>
                <a:cs typeface="맑은 고딕" pitchFamily="34" charset="-120"/>
              </a:rPr>
              <a:t>× 적힌 차례대로 순서 정하기</a:t>
            </a:r>
            <a:endParaRPr lang="ko-KR" sz="2200" dirty="0"/>
          </a:p>
        </p:txBody>
      </p:sp>
      <p:sp>
        <p:nvSpPr>
          <p:cNvPr id="7" name="S13-text119"/>
          <p:cNvSpPr txBox="1"/>
          <p:nvPr/>
        </p:nvSpPr>
        <p:spPr>
          <a:xfrm>
            <a:off x="548640" y="3574288"/>
            <a:ext cx="11091672" cy="457200"/>
          </a:xfrm>
          <a:prstGeom prst="rect">
            <a:avLst/>
          </a:prstGeom>
          <a:noFill/>
          <a:ln/>
        </p:spPr>
        <p:txBody>
          <a:bodyPr wrap="square" lIns="0" tIns="0" rIns="0" bIns="0" rtlCol="0" anchor="t"/>
          <a:lstStyle/>
          <a:p>
            <a:pPr eaLnBrk="0" algn="l" indent="0" marL="0">
              <a:buNone/>
            </a:pPr>
            <a:r>
              <a:rPr lang="ko-KR" altLang="en-US" sz="2200" b="1" dirty="0">
                <a:solidFill>
                  <a:srgbClr val="FFFFFF"/>
                </a:solidFill>
                <a:latin typeface="맑은 고딕" pitchFamily="34" charset="0"/>
                <a:ea typeface="맑은 고딕" pitchFamily="34" charset="-122"/>
                <a:cs typeface="맑은 고딕" pitchFamily="34" charset="-120"/>
              </a:rPr>
              <a:t>다음 수업을 시작할 때 다시 풀어요</a:t>
            </a:r>
            <a:endParaRPr lang="ko-KR" sz="2200" dirty="0"/>
          </a:p>
        </p:txBody>
      </p:sp>
      <p:sp>
        <p:nvSpPr>
          <p:cNvPr id="8" name="S13-text120"/>
          <p:cNvSpPr txBox="1"/>
          <p:nvPr/>
        </p:nvSpPr>
        <p:spPr>
          <a:xfrm>
            <a:off x="548640" y="4077208"/>
            <a:ext cx="3544824" cy="1500632"/>
          </a:xfrm>
          <a:prstGeom prst="rect">
            <a:avLst/>
          </a:prstGeom>
          <a:noFill/>
          <a:ln/>
        </p:spPr>
        <p:txBody>
          <a:bodyPr wrap="square" lIns="0" tIns="0" rIns="0" bIns="0" rtlCol="0" anchor="ctr"/>
          <a:lstStyle/>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① Finally의 뜻은?</a:t>
            </a:r>
            <a:endParaRPr lang="ko-KR" sz="2200" dirty="0"/>
          </a:p>
        </p:txBody>
      </p:sp>
      <p:sp>
        <p:nvSpPr>
          <p:cNvPr id="9" name="S13-text121"/>
          <p:cNvSpPr txBox="1"/>
          <p:nvPr/>
        </p:nvSpPr>
        <p:spPr>
          <a:xfrm>
            <a:off x="4322064" y="4077208"/>
            <a:ext cx="3544824" cy="1500632"/>
          </a:xfrm>
          <a:prstGeom prst="rect">
            <a:avLst/>
          </a:prstGeom>
          <a:noFill/>
          <a:ln/>
        </p:spPr>
        <p:txBody>
          <a:bodyPr wrap="square" lIns="0" tIns="0" rIns="0" bIns="0" rtlCol="0" anchor="ctr"/>
          <a:lstStyle/>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② 아침에 하는 일을</a:t>
            </a:r>
            <a:endParaRPr lang="ko-KR" sz="2200" dirty="0"/>
          </a:p>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First, Then, Finally로</a:t>
            </a:r>
            <a:endParaRPr lang="ko-KR" sz="2200" dirty="0"/>
          </a:p>
        </p:txBody>
      </p:sp>
      <p:sp>
        <p:nvSpPr>
          <p:cNvPr id="10" name="S13-text122"/>
          <p:cNvSpPr txBox="1"/>
          <p:nvPr/>
        </p:nvSpPr>
        <p:spPr>
          <a:xfrm>
            <a:off x="8095488" y="4077208"/>
            <a:ext cx="3544824" cy="1500632"/>
          </a:xfrm>
          <a:prstGeom prst="rect">
            <a:avLst/>
          </a:prstGeom>
          <a:noFill/>
          <a:ln/>
        </p:spPr>
        <p:txBody>
          <a:bodyPr wrap="square" lIns="0" tIns="0" rIns="0" bIns="0" rtlCol="0" anchor="ctr"/>
          <a:lstStyle/>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③ Then과 Next의</a:t>
            </a:r>
            <a:endParaRPr lang="ko-KR" sz="2200" dirty="0"/>
          </a:p>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뜻은?</a:t>
            </a:r>
            <a:endParaRPr lang="ko-KR" sz="2200" dirty="0"/>
          </a:p>
        </p:txBody>
      </p:sp>
      <p:sp>
        <p:nvSpPr>
          <p:cNvPr id="11" name="S13-text123"/>
          <p:cNvSpPr txBox="1"/>
          <p:nvPr/>
        </p:nvSpPr>
        <p:spPr>
          <a:xfrm>
            <a:off x="548640" y="5715000"/>
            <a:ext cx="11091672" cy="502920"/>
          </a:xfrm>
          <a:prstGeom prst="rect">
            <a:avLst/>
          </a:prstGeom>
          <a:noFill/>
          <a:ln/>
        </p:spPr>
        <p:txBody>
          <a:bodyPr wrap="square" lIns="0" tIns="0" rIns="0" bIns="0" rtlCol="0" anchor="ctr"/>
          <a:lstStyle/>
          <a:p>
            <a:pPr eaLnBrk="0" algn="l" indent="0" marL="0">
              <a:buNone/>
            </a:pPr>
            <a:r>
              <a:rPr lang="ko-KR" altLang="en-US" sz="2200" dirty="0">
                <a:solidFill>
                  <a:srgbClr val="C9DCD8"/>
                </a:solidFill>
                <a:latin typeface="맑은 고딕" pitchFamily="34" charset="0"/>
                <a:ea typeface="맑은 고딕" pitchFamily="34" charset="-122"/>
                <a:cs typeface="맑은 고딕" pitchFamily="34" charset="-120"/>
              </a:rPr>
              <a:t>다음 시간: 계획 말하기</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ea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보충: 핵심 정보와 일과 낱말</a:t>
            </a:r>
            <a:endParaRPr lang="ko-KR" sz="4000" dirty="0"/>
          </a:p>
        </p:txBody>
      </p:sp>
      <p:sp>
        <p:nvSpPr>
          <p:cNvPr id="3" name="S14-card124"/>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14-cardtext125"/>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질문 먼저 → When? 요일·시각, Where? 장소</a:t>
            </a:r>
            <a:endParaRPr lang="ko-KR" sz="2800" dirty="0"/>
          </a:p>
        </p:txBody>
      </p:sp>
      <p:sp>
        <p:nvSpPr>
          <p:cNvPr id="5" name="S14-word126"/>
          <p:cNvSpPr txBox="1"/>
          <p:nvPr/>
        </p:nvSpPr>
        <p:spPr>
          <a:xfrm>
            <a:off x="548640" y="134874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wash my face</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세수하다</a:t>
            </a:r>
            <a:endParaRPr lang="ko-KR" sz="3200" dirty="0"/>
          </a:p>
        </p:txBody>
      </p:sp>
      <p:sp>
        <p:nvSpPr>
          <p:cNvPr id="6" name="S14-word127"/>
          <p:cNvSpPr txBox="1"/>
          <p:nvPr/>
        </p:nvSpPr>
        <p:spPr>
          <a:xfrm>
            <a:off x="6231636" y="134874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eat breakfast</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아침을 먹다</a:t>
            </a:r>
            <a:endParaRPr lang="ko-KR" sz="3200" dirty="0"/>
          </a:p>
        </p:txBody>
      </p:sp>
      <p:sp>
        <p:nvSpPr>
          <p:cNvPr id="7" name="S14-word128"/>
          <p:cNvSpPr txBox="1"/>
          <p:nvPr/>
        </p:nvSpPr>
        <p:spPr>
          <a:xfrm>
            <a:off x="548640" y="336042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brush my teeth</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이를 닦다</a:t>
            </a:r>
            <a:endParaRPr lang="ko-KR" sz="3200" dirty="0"/>
          </a:p>
        </p:txBody>
      </p:sp>
      <p:sp>
        <p:nvSpPr>
          <p:cNvPr id="8" name="S14-word129"/>
          <p:cNvSpPr txBox="1"/>
          <p:nvPr/>
        </p:nvSpPr>
        <p:spPr>
          <a:xfrm>
            <a:off x="6231636" y="336042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go to school</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학교에 가다</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Education Classroom">
  <a:themeElements>
    <a:clrScheme name="Education Classroom">
      <a:dk1>
        <a:srgbClr val="1F2937"/>
      </a:dk1>
      <a:lt1>
        <a:srgbClr val="FFFFFF"/>
      </a:lt1>
      <a:dk2>
        <a:srgbClr val="264653"/>
      </a:dk2>
      <a:lt2>
        <a:srgbClr val="EAF3F1"/>
      </a:lt2>
      <a:accent1>
        <a:srgbClr val="E9762B"/>
      </a:accent1>
      <a:accent2>
        <a:srgbClr val="2A9D8F"/>
      </a:accent2>
      <a:accent3>
        <a:srgbClr val="C8434E"/>
      </a:accent3>
      <a:accent4>
        <a:srgbClr val="3D5A80"/>
      </a:accent4>
      <a:accent5>
        <a:srgbClr val="F2C14E"/>
      </a:accent5>
      <a:accent6>
        <a:srgbClr val="4B5563"/>
      </a:accent6>
      <a:hlink>
        <a:srgbClr val="3D5A80"/>
      </a:hlink>
      <a:folHlink>
        <a:srgbClr val="7A4E8A"/>
      </a:folHlink>
    </a:clrScheme>
    <a:fontScheme name="Education Classroom">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초6 영어 사건 순서 파악</dc:title>
  <dc:subject>KR22-G06-ENG-SEQUENCE-L01</dc:subject>
  <dc:creator>education-ppt</dc:creator>
  <cp:lastModifiedBy>education-ppt</cp:lastModifiedBy>
  <cp:revision>1</cp:revision>
  <dcterms:created xsi:type="dcterms:W3CDTF">2026-10-26T09:33:42Z</dcterms:created>
  <dcterms:modified xsi:type="dcterms:W3CDTF">2026-10-26T09:33:42Z</dcterms:modified>
</cp:coreProperties>
</file>