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65aa501f-8dd1-21ac-0151-081ceeccb011}">
          <p14:sldIdLst>
            <p14:sldId id="256"/>
            <p14:sldId id="257"/>
          </p14:sldIdLst>
        </p14:section>
        <p14:section name="개념" id="{b3a47467-1e76-871d-c17b-a34b47f155da}">
          <p14:sldIdLst>
            <p14:sldId id="258"/>
            <p14:sldId id="259"/>
            <p14:sldId id="260"/>
            <p14:sldId id="261"/>
          </p14:sldIdLst>
        </p14:section>
        <p14:section name="연습" id="{97ec5a67-35bc-3337-2270-ff4ae69ab716}">
          <p14:sldIdLst>
            <p14:sldId id="262"/>
            <p14:sldId id="263"/>
            <p14:sldId id="264"/>
            <p14:sldId id="265"/>
          </p14:sldIdLst>
        </p14:section>
        <p14:section name="확인" id="{e965da9a-3a05-0f0e-2844-73459f9e0bae}">
          <p14:sldIdLst>
            <p14:sldId id="266"/>
            <p14:sldId id="267"/>
            <p14:sldId id="268"/>
          </p14:sldIdLst>
        </p14:section>
        <p14:section name="정리" id="{110fe103-7129-5478-eb91-c1e3309127b7}">
          <p14:sldIdLst>
            <p14:sldId id="269"/>
          </p14:sldIdLst>
        </p14:section>
        <p14:section name="보충" id="{aa3e1cff-c982-a946-3eaf-d1f5847361c1}">
          <p14:sldIdLst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함께 무엇을 하자고 말하고 대답하는 상황에 관심을 갖게 합니다.
시간: 약 2분
이렇게 말해 보세요
- “친구에게 같이 축구하자고 할 때 우리말로 어떻게 말해? 친구는 어떻게 대답할 수 있어?”
- “오늘은 영어로 ‘~하자’고 제안하고, 좋다고 하거나 미안하다고 거절하는 말을 해 볼 거야.”
예상 답
- “같이 축구하자!” “좋아!” “미안, 오늘은 안 돼.”
주의
- 수업 전에 교과서 디지털 자료나 사전 앱의 발음 듣기로 오늘 표현(Let's play soccer. Why don't we watch a movie? Sounds good. Sorry, I can't. I have homework.)과 할 일 낱말(play badminton, go to the park, go swimming, ride bikes, make cookies)을 미리 들어 두세요. 부모님 발음이 완벽하지 않아도 괜찮습니다.
- 소리 자료 없이 진행하면 바른 소리를 확인하기 어렵습니다. 헷갈리는 표현은 기록해 두었다가 소리 자료로 나중에 확인합니다.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학습 확인(뜻 확인하기, 할 일 낱말)]
목적: 지난 차시(뜻 확인하기)의 Pardon?을 기억하는지, 오늘 제안에 쓸 할 일 낱말 묶음의 뜻을 아는지 확인합니다.
시간: 약 3분
이렇게 말해 보세요
- “①, 엄마(아빠)가 아주 작게 말할게. (작게) I like soccer. 뭐라고 해야 하지?”
- “②의 낱말 묶음을 하나씩 읽고 뜻을 말해 줄래?”
정답
- ① Pardon? (또는 Can you say that again?)
- ② play soccer 축구하다, go to the park 공원에 가다, watch a movie 영화를 보다, ride bikes 자전거를 타다
막히면
- ①이 막히면 뜻 확인하기 차시의 S03을 잠깐 다시 봅니다.
- ②에서 낱말 묶음의 뜻을 두 개 이상 모르면 S15(보충)를 먼저 합니다.
주의
- 오늘 수업에 꼭 필요한 것은 ②의 할 일 낱말입니다. 제안하는 문장에 그대로 넣어 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Let's ~.로 제안하기]
목적: Let's 다음에 할 일을 바로 말해 ‘~하자’라고 제안한다는 것을 압니다(M1).
시간: 약 3분
이렇게 말해 보세요
- “Let's는 ‘~하자’라는 뜻이야. 소리를 듣고 따라 해 보자. Let's play soccer. Let's go to the park.”
- “Let's 다음에 무엇이 왔어? play, go처럼 할 일이 바로 왔지?”
- “그럼 ‘영화 보자.’는? ‘자전거 타자.’는?”
예상 답
- “Let's watch a movie.” “Let's ride bikes.”
막히면
- S02의 낱말 묶음 앞에 Let's만 붙이면 된다고 알려 주고 하나씩 붙여 말하게 합니다.
주의
- Let's는 Let us를 줄인 말이라 아포스트로피(')를 씁니다. Let's 다음에 playing, to play, we play처럼 쓰지 않습니다(M1).
- 끝에는 마침표(.)를 찍습니다. 묻는 말이 아닙니다.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Why don't we ~?로 제안하기]
목적: Why don't we ~?가 까닭을 묻는 말이 아니라 ‘~하는 게 어때?’라는 제안이라는 것을 압니다(M2).
시간: 약 3분
이렇게 말해 보세요
- “Why don't we watch a movie? 이건 ‘우리 영화 보는 게 어때?’라는 뜻이야. 소리를 듣고 따라 해 보자.”
- “Why가 들어 있어서 ‘왜’를 묻는 것 같지? 그런데 이건 함께 하자고 제안하는 말이야.”
- “Let's go to the park.를 Why don't we로 바꾸면?”
예상 답
- “Why don't we go to the park?”
막히면
- Why don't we를 한 덩어리로 여러 번 말한 뒤 할 일 낱말을 붙이게 합니다.
- 뒤에서부터 붙여 말합니다. a movie? … watch a movie? … Why don't we watch a movie?
주의
- don't는 do not을 줄인 말이라 아포스트로피(')를 씁니다. 끝에는 물음표(?)를 씁니다.
- Why don't we 다음에도 할 일을 그대로 씁니다(watch, go).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받아들이고 거절하는 말]
목적: 제안을 받아들일 때는 Sounds good., 거절할 때는 Sorry, I can't.라고 하고 까닭을 덧붙인다는 것을 압니다(M3).
시간: 약 3분
이렇게 말해 보세요
- “친구가 제안했을 때 좋으면 Sounds good.이라고 해. ‘좋아.’라는 뜻이야. 따라 해 보자.”
- “할 수 없을 때는 Sorry, I can't. ‘미안, 못 해.’ 그리고 까닭을 말해. I have homework. ‘숙제가 있어.’ 또는 I'm busy. ‘바빠.’”
- “엄마(아빠)가 제안할게. Let's play soccer.” (아이가 한 번은 받아들이고, 한 번은 거절하게 합니다.)
예상 답
- “Sounds good.” “Sorry, I can't. I have homework.”
막히면
- 엄지를 위로 올리며 Sounds good., 두 손을 모아 미안한 몸짓을 하며 Sorry, I can't.를 말하게 합니다.
주의
- No.라고만 하면 딱 잘라 말하는 것처럼 들릴 수 있습니다. Sorry, I can't.와 까닭을 함께 말하면 부드럽습니다(M3).
- can't의 아포스트로피(')와 Sorry 다음의 쉼표(,)를 빠뜨리지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제안하고 답하는 대화 읽기]
목적: 거절당하면 다른 제안을 하고, 받아들이며 대화를 마무리하는 흐름을 역할극으로 익힙니다.
시간: 약 3분
이렇게 말해 보세요
- “엄마(아빠)가 Jun, 네가 Amy야. Let's play soccer.”
- “Amy는 처음에 왜 거절했어? Jun은 그다음에 어떻게 했어?”
- “이번에는 역할을 바꿔서 해 보자.”
예상 답
- “숙제가 있어서요.” “내일 하자고 다시 제안했어요. Amy는 Sounds good.이라고 했어요.”
막히면
- 한 줄씩 부모가 먼저 읽고 아이가 따라 읽은 다음 역할을 나눕니다.
- tomorrow(내일)의 뜻을 알려 줍니다.
주의
- 거절할 때 까닭을 말하면 상대가 다른 때나 다른 일을 제안할 수 있어 대화가 이어집니다.
- 여기까지가 배우는 부분입니다. 아이가 지치면 여기서 나누어 다음 날 S07부터 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제안하는 문장 만들기]
목적: 할 일 낱말 묶음을 Let's ~.나 Why don't we ~? 틀에 넣어 제안하는 문장을 만듭니다(M1).
시간: 약 3분
이렇게 말해 보세요
- “①은 Let's로, ②는 Why don't we로, ③은 Let's로 제안해 줘.”
- “②는 끝에 무엇을 붙여야 할까?”
정답
- ① Let's ride bikes.
- ② Why don't we watch a movie?
- ③ Let's make cookies.
막히면
- S03, S04의 문장을 보여 주고 할 일 부분만 바꾸게 합니다.
주의
- make cookies는 ‘쿠키를 만들다’입니다. ②는 묻는 형태라 끝에 물음표(?)를 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오개념 비교(Because로 대답하기)]
목적: Why don't we ~?는 제안이므로 Because로 대답하지 않는다는 것을 비교합니다(M2).
시간: 약 2분
이렇게 말해 보세요
- “친구가 Why don't we go to the park?라고 했어. 친구는 까닭을 물은 걸까, 함께 가자고 한 걸까?”
- “그럼 알맞은 대답은 가와 나 가운데 어느 쪽이야?”
정답
- 나(Sounds good.)가 알맞습니다. Why don't we ~?는 ‘~하는 게 어때?’라는 제안이므로 받아들이거나(Sounds good.) 거절합니다(Sorry, I can't.). 가처럼 Because로 까닭을 말하는 것은 묻는 뜻을 잘못 알아들은 것입니다.
막히면
- S04의 뜻(‘~하는 게 어때?’)을 다시 읽어 줍니다.
주의
- Why do you like summer?처럼 진짜 까닭을 묻는 말에는 Because로 대답합니다. Why don't we ~?만 제안입니다.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빈칸 대화 완성하기]
목적: 대화의 빈칸에 들어갈 말을 정확한 형태로 넣어 제안하고 대답합니다.
시간: 약 3분
이렇게 말해 보세요
- “보기에서 골라 빈칸을 채워 줘. 문장 맨 앞에 오는 말은 대문자로 시작해.”
- “이제 빈칸을 채워서 엄마(아빠)와 한 줄씩 나누어 말해 보자.”
정답
- ① Let's (Let's play badminton.)
- ② don't (Why don't we go swimming?)
- ③ Sorry (Sorry, I can't. I'm busy.)
막히면
- 보기의 낱말을 빈칸에 하나씩 넣어 읽어 주고 어울리는 것을 고르게 합니다.
주의
- Let's, don't의 아포스트로피(')를 빠뜨리지 않았는지 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주말에 할 일 정하기 역할극]
목적: 실제로 이번 주말에 함께 할 일을 영어로 제안하고 대답하며 정합니다.
시간: 약 5분
이렇게 말해 보세요
- “이번 주말에 우리 같이 뭘 할까? 영어로 제안해 줘.”
- (첫 제안에는 일부러) “Sorry, I can't. I'm busy.” → “다른 걸 제안해 볼래? 이번에는 Why don't we로.”
- (두 번째 제안에는) “Sounds good.” → “이번에는 엄마(아빠)가 제안할게. 대답해 줘.”
예상 답
- 아이: “Let's go to the park.” → 부모: “Sorry, I can't. I'm busy.” → 아이: “Why don't we watch a movie?” → 부모: “Sounds good.”
- 기준: Let's ~.와 Why don't we ~?를 한 번씩 바른 형태로 쓰고, 부모의 제안에 Sounds good. 또는 Sorry, I can't. + 까닭으로 대답하면 됩니다.
막히면
- S03~S05의 화면을 띄워 놓고 보면서 말하게 합니다.
- 할 일 낱말이 떠오르지 않으면 S15의 낱말 묶음에서 고르게 합니다.
주의
- 정한 일을 실제로 주말에 하면 아이가 표현을 더 잘 기억합니다. 달력에 영어 문장으로 적어 두어도 좋습니다.
- 3번 이상 주고받습니다.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혼자 제안하고 대답하기]
목적: 도움 없이 두 가지 방법으로 제안하고, 부모의 제안에 상황에 맞게 대답하는지 확인합니다.
시간: 약 4분
이렇게 말해 보세요
- “이번에는 혼자 해 볼래? ①은 Let's로, ②는 Why don't we로 제안해 줘.”
- ③ “엄마(아빠)가 제안할게. Let's ride bikes. 좋다고 대답해 줘.”
- ④ “Why don't we play soccer? 이번에는 거절하고 까닭도 말해 줘.”
정답
- ① Let's go swimming.
- ② Why don't we play badminton?
- ③ Sounds good.
- ④ Sorry, I can't. I have homework. (또는 I'm busy.)
- 기준: 네 개 가운데 세 개 이상을 바른 형태로 말하면 통과입니다. 소리가 조금 서툴러도 알맞은 표현을 골라 말했으면 맞은 것으로 봅니다.
막히면
- 바로 알려 주지 말고 “Let's 다음에 무엇을 바로 말했지?”, “좋을 때는 뭐라고 했지?”라고만 묻습니다.
- 도움을 받아 해결했다면 기록표에 ‘도움’으로 표시합니다.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정답과 피드백]
목적: 아이의 대답을 확인하고 흔한 실수와 비교합니다.
시간: 약 2분
이렇게 말해 보세요
- “네가 말한 것과 왼쪽을 비교해 보자.”
- “오른쪽처럼 말하면 어디가 어색할까?”
예상 답
- “Let's 다음에는 go를 그대로 써요.” “Why don't we에는 Because로 대답하지 않아요.”
주의
- 이 장은 학생용 파일에서 빠집니다. 잘한 점을 먼저 말해 준 뒤 고칠 점을 하나만 말합니다.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마무리 확인(알맞은 대답 고르기)]
목적: 처음 보는 형식에서 제안을 듣고 상황에 맞는 대답을 고르는지 확인합니다(M2).
시간: 약 2분
이렇게 말해 보세요
- “엄마(아빠)가 제안할게. Why don't we ride bikes? 좋다고 대답하려면 어느 것을 골라야 할까? 어떻게 알았어?”
- “이번에는 Let's play soccer. 숙제가 있어서 거절하려면?”
정답
- 좋다고 대답할 때 → 가 (Sounds good.)
- 숙제가 있어 거절할 때 → 다 (Sorry, I can't. I have homework.)
- 나는 제안에 까닭으로 대답해 맞지 않고, 라는 안부를 묻는 말(How are you?)에 하는 대답입니다.
막히면
- S08을 다시 보여 주고 “친구가 까닭을 물었어, 함께 하자고 했어?”라고 묻습니다.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[S14 · 다음 학습과 복습]
목적: 핵심을 정리하고 다음 수업 첫 5분에 풀 복습을 알려 줍니다.
시간: 약 2분
이렇게 말해 보세요
- “함께 하자고 제안할 때 두 가지 방법은?”
- “좋을 때와 거절할 때는 어떻게 대답했지?”
예상 답
- “Let's ~.와 Why don't we ~?요.” “Sounds good.이랑 Sorry, I can't.요.”
정답
- ① Let's play soccer. / Why don't we play soccer?
- ② Sounds good.
- ③ Sorry, I can't. I have homework. (또는 I'm busy.)
주의
- 주말이나 저녁에 할 일을 정할 때 영어로 제안하고 대답하게 하면 좋은 복습이 됩니다. 다음 차시는 ‘세계 문화 존중’입니다.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[S15 · 선수 학습 보충(할 일 낱말)]
목적: S02에서 할 일 낱말 묶음의 뜻이 흔들리면, 제안하는 말을 배우기 전에 먼저 다집니다.
시간: 약 5분
이렇게 말해 보세요
- “소리를 듣고 따라 말해 보자.” (교과서 디지털 자료나 사전 앱의 소리를 함께 듣습니다.)
- “엄마(아빠)가 몸짓을 할게. 무엇을 하는 걸까? 영어로 말해 봐.” (공 차기, 자전거 페달 밟기, 영화 보는 흉내 등)
- “이번에는 네가 몸짓을 하고 엄마(아빠)가 맞혀 볼게.”
정답
- play soccer 축구하다, play badminton 배드민턴을 치다, go to the park 공원에 가다, go swimming 수영하러 가다, watch a movie 영화를 보다, ride bikes 자전거를 타다
막히면
- 부모가 먼저 말하고 아이가 몸짓과 함께 따라 말하는 것부터 다시 합니다.
주의
- 계획상 앞 차시는 ‘뜻 확인하기’(KR22-G06-ENG-CLARIFY-L01)입니다. S02 ①의 Pardon?이 흔들리면 그 차시의 S03~S07을 다시 봅니다. 보충 뒤에도 할 일 낱말 묶음을 많이 모르면 낱말 카드를 만들어 하루 이틀 더 몸짓과 함께 익힌 뒤 이 차시를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초6 영어 · 의사소통 · 2차시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초6 영어 · 제안하고 답하기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초6 영어 · 제안하고 답하기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초6 영어 · 제안하고 답하기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제안하고 답하기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친구와 함께 무엇을 하자고</a:t>
            </a:r>
            <a:endParaRPr lang="ko-KR" sz="2800" dirty="0"/>
          </a:p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영어로 어떻게 말할까요?</a:t>
            </a:r>
            <a:endParaRPr lang="ko-KR" sz="2800" dirty="0"/>
          </a:p>
        </p:txBody>
      </p:sp>
      <p:sp>
        <p:nvSpPr>
          <p:cNvPr id="4" name="S01-word1"/>
          <p:cNvSpPr txBox="1"/>
          <p:nvPr/>
        </p:nvSpPr>
        <p:spPr>
          <a:xfrm>
            <a:off x="7680960" y="640080"/>
            <a:ext cx="3931920" cy="1325880"/>
          </a:xfrm>
          <a:prstGeom prst="roundRect">
            <a:avLst>
              <a:gd name="adj" fmla="val 9655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Let's play soccer.</a:t>
            </a:r>
            <a:endParaRPr lang="ko-KR" sz="3200" dirty="0"/>
          </a:p>
        </p:txBody>
      </p:sp>
      <p:sp>
        <p:nvSpPr>
          <p:cNvPr id="5" name="S01-word2"/>
          <p:cNvSpPr txBox="1"/>
          <p:nvPr/>
        </p:nvSpPr>
        <p:spPr>
          <a:xfrm>
            <a:off x="7680960" y="2240280"/>
            <a:ext cx="3931920" cy="1325880"/>
          </a:xfrm>
          <a:prstGeom prst="roundRect">
            <a:avLst>
              <a:gd name="adj" fmla="val 9655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Sounds good.</a:t>
            </a:r>
            <a:endParaRPr lang="ko-KR" sz="3200" dirty="0"/>
          </a:p>
        </p:txBody>
      </p:sp>
      <p:sp>
        <p:nvSpPr>
          <p:cNvPr id="6" name="S01-card3"/>
          <p:cNvSpPr/>
          <p:nvPr/>
        </p:nvSpPr>
        <p:spPr>
          <a:xfrm>
            <a:off x="731520" y="4529328"/>
            <a:ext cx="10725912" cy="1597152"/>
          </a:xfrm>
          <a:prstGeom prst="roundRect">
            <a:avLst>
              <a:gd name="adj" fmla="val 6870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7" name="S01-cardtext4"/>
          <p:cNvSpPr txBox="1"/>
          <p:nvPr/>
        </p:nvSpPr>
        <p:spPr>
          <a:xfrm>
            <a:off x="1005840" y="4666488"/>
            <a:ext cx="10177272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Let's ~.와 Why don't we ~?로 함께 할 일을 제안해요.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Sounds good.이나 Sorry, I can't.로 대답해요.</a:t>
            </a:r>
            <a:endParaRPr lang="ko-KR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표현 떠올리기</a:t>
            </a:r>
            <a:endParaRPr lang="ko-KR" sz="4000" dirty="0"/>
          </a:p>
        </p:txBody>
      </p:sp>
      <p:sp>
        <p:nvSpPr>
          <p:cNvPr id="3" name="S02-text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①은 영어로 대답하고, ②는 읽고 뜻을 말해요.</a:t>
            </a:r>
            <a:endParaRPr lang="ko-KR" sz="2800" dirty="0"/>
          </a:p>
        </p:txBody>
      </p:sp>
      <p:sp>
        <p:nvSpPr>
          <p:cNvPr id="4" name="S02-chip6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5" name="S02-text7"/>
          <p:cNvSpPr txBox="1"/>
          <p:nvPr/>
        </p:nvSpPr>
        <p:spPr>
          <a:xfrm>
            <a:off x="1344168" y="20116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엄마(아빠)의 말을 잘 못 들었어요.</a:t>
            </a:r>
            <a:endParaRPr lang="ko-KR" sz="2800" dirty="0"/>
          </a:p>
        </p:txBody>
      </p:sp>
      <p:sp>
        <p:nvSpPr>
          <p:cNvPr id="6" name="S02-chip8"/>
          <p:cNvSpPr txBox="1"/>
          <p:nvPr/>
        </p:nvSpPr>
        <p:spPr>
          <a:xfrm>
            <a:off x="548640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7" name="S02-text9"/>
          <p:cNvSpPr txBox="1"/>
          <p:nvPr/>
        </p:nvSpPr>
        <p:spPr>
          <a:xfrm>
            <a:off x="1344168" y="420624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play soccer　go to the park</a:t>
            </a:r>
            <a:endParaRPr lang="ko-KR" sz="2800" dirty="0"/>
          </a:p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watch a movie　ride bikes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Let's ~로 제안해요</a:t>
            </a:r>
            <a:endParaRPr lang="ko-KR" sz="4000" dirty="0"/>
          </a:p>
        </p:txBody>
      </p:sp>
      <p:sp>
        <p:nvSpPr>
          <p:cNvPr id="3" name="S03-card1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3-cardtext1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Let's 다음에 할 일(play, go, watch…)을 바로 말해요.</a:t>
            </a:r>
            <a:endParaRPr lang="ko-KR" sz="2800" dirty="0"/>
          </a:p>
        </p:txBody>
      </p:sp>
      <p:sp>
        <p:nvSpPr>
          <p:cNvPr id="5" name="S03-word12"/>
          <p:cNvSpPr txBox="1"/>
          <p:nvPr/>
        </p:nvSpPr>
        <p:spPr>
          <a:xfrm>
            <a:off x="548640" y="1348740"/>
            <a:ext cx="11091672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Let's play soccer.</a:t>
            </a:r>
            <a:endParaRPr lang="ko-KR" sz="3200" dirty="0"/>
          </a:p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축구하자.</a:t>
            </a:r>
            <a:endParaRPr lang="ko-KR" sz="3200" dirty="0"/>
          </a:p>
        </p:txBody>
      </p:sp>
      <p:sp>
        <p:nvSpPr>
          <p:cNvPr id="6" name="S03-word13"/>
          <p:cNvSpPr txBox="1"/>
          <p:nvPr/>
        </p:nvSpPr>
        <p:spPr>
          <a:xfrm>
            <a:off x="548640" y="3360420"/>
            <a:ext cx="11091672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Let's go to the park.</a:t>
            </a:r>
            <a:endParaRPr lang="ko-KR" sz="3200" dirty="0"/>
          </a:p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공원에 가자.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Why don't we ~?</a:t>
            </a:r>
            <a:endParaRPr lang="ko-KR" sz="4000" dirty="0"/>
          </a:p>
        </p:txBody>
      </p:sp>
      <p:sp>
        <p:nvSpPr>
          <p:cNvPr id="3" name="S04-card1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4-cardtext1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Why don't we ~?는 ‘~하는 게 어때?’라는 제안이에요.</a:t>
            </a:r>
            <a:endParaRPr lang="ko-KR" sz="2800" dirty="0"/>
          </a:p>
        </p:txBody>
      </p:sp>
      <p:sp>
        <p:nvSpPr>
          <p:cNvPr id="5" name="S04-word16"/>
          <p:cNvSpPr txBox="1"/>
          <p:nvPr/>
        </p:nvSpPr>
        <p:spPr>
          <a:xfrm>
            <a:off x="548640" y="1348740"/>
            <a:ext cx="11091672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Why don't we watch a movie?</a:t>
            </a:r>
            <a:endParaRPr lang="ko-KR" sz="3200" dirty="0"/>
          </a:p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영화 보는 게 어때?</a:t>
            </a:r>
            <a:endParaRPr lang="ko-KR" sz="3200" dirty="0"/>
          </a:p>
        </p:txBody>
      </p:sp>
      <p:sp>
        <p:nvSpPr>
          <p:cNvPr id="6" name="S04-word17"/>
          <p:cNvSpPr txBox="1"/>
          <p:nvPr/>
        </p:nvSpPr>
        <p:spPr>
          <a:xfrm>
            <a:off x="548640" y="3360420"/>
            <a:ext cx="11091672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Why don't we go to the park?</a:t>
            </a:r>
            <a:endParaRPr lang="ko-KR" sz="3200" dirty="0"/>
          </a:p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공원에 가는 게 어때?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좋아, 미안해</a:t>
            </a:r>
            <a:endParaRPr lang="ko-KR" sz="4000" dirty="0"/>
          </a:p>
        </p:txBody>
      </p:sp>
      <p:sp>
        <p:nvSpPr>
          <p:cNvPr id="3" name="S05-card1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5-cardtext1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거절할 때는 I have homework.처럼 까닭을 덧붙여요.</a:t>
            </a:r>
            <a:endParaRPr lang="ko-KR" sz="2800" dirty="0"/>
          </a:p>
        </p:txBody>
      </p:sp>
      <p:sp>
        <p:nvSpPr>
          <p:cNvPr id="5" name="S05-card20"/>
          <p:cNvSpPr/>
          <p:nvPr/>
        </p:nvSpPr>
        <p:spPr>
          <a:xfrm>
            <a:off x="548640" y="2125980"/>
            <a:ext cx="5431536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5-cardtext21"/>
          <p:cNvSpPr txBox="1"/>
          <p:nvPr/>
        </p:nvSpPr>
        <p:spPr>
          <a:xfrm>
            <a:off x="822960" y="2263140"/>
            <a:ext cx="48828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en-US" altLang="ko-KR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Sounds good.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좋아. (받아들일 때)</a:t>
            </a:r>
            <a:endParaRPr lang="ko-KR" sz="2800" dirty="0"/>
          </a:p>
        </p:txBody>
      </p:sp>
      <p:sp>
        <p:nvSpPr>
          <p:cNvPr id="7" name="S05-card22"/>
          <p:cNvSpPr/>
          <p:nvPr/>
        </p:nvSpPr>
        <p:spPr>
          <a:xfrm>
            <a:off x="6208776" y="2125980"/>
            <a:ext cx="5431536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5-cardtext23"/>
          <p:cNvSpPr txBox="1"/>
          <p:nvPr/>
        </p:nvSpPr>
        <p:spPr>
          <a:xfrm>
            <a:off x="6483096" y="2263140"/>
            <a:ext cx="48828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en-US" altLang="ko-KR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Sorry, I can't.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미안, 못 해. (거절할 때)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친구의 대화</a:t>
            </a:r>
            <a:endParaRPr lang="ko-KR" sz="4000" dirty="0"/>
          </a:p>
        </p:txBody>
      </p:sp>
      <p:sp>
        <p:nvSpPr>
          <p:cNvPr id="3" name="S06-text2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역할을 나누어 읽어요.</a:t>
            </a:r>
            <a:endParaRPr lang="ko-KR" sz="2800" dirty="0"/>
          </a:p>
        </p:txBody>
      </p:sp>
      <p:sp>
        <p:nvSpPr>
          <p:cNvPr id="4" name="S06-card2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6-cardtext2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Amy는 처음에 왜 거절했나요? Jun은 어떻게 했나요?</a:t>
            </a:r>
            <a:endParaRPr lang="ko-KR" sz="2800" dirty="0"/>
          </a:p>
        </p:txBody>
      </p:sp>
      <p:sp>
        <p:nvSpPr>
          <p:cNvPr id="6" name="S06-passagebox27"/>
          <p:cNvSpPr/>
          <p:nvPr/>
        </p:nvSpPr>
        <p:spPr>
          <a:xfrm>
            <a:off x="548640" y="2011680"/>
            <a:ext cx="11091672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7" name="S06-passage28"/>
          <p:cNvSpPr txBox="1"/>
          <p:nvPr/>
        </p:nvSpPr>
        <p:spPr>
          <a:xfrm>
            <a:off x="822960" y="2194560"/>
            <a:ext cx="1054303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Jun: Let's play soccer.</a:t>
            </a:r>
            <a:endParaRPr lang="ko-KR" sz="28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Amy: Sorry, I can't. I have homework.</a:t>
            </a:r>
            <a:endParaRPr lang="ko-KR" sz="28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Jun: Why don't we play tomorrow?</a:t>
            </a:r>
            <a:endParaRPr lang="ko-KR" sz="28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Amy: Sounds good.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제안하는 문장 만들기</a:t>
            </a:r>
            <a:endParaRPr lang="ko-KR" sz="4000" dirty="0"/>
          </a:p>
        </p:txBody>
      </p:sp>
      <p:sp>
        <p:nvSpPr>
          <p:cNvPr id="3" name="S07-text2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주어진 말로 제안하는 문장을 만들어 말해요.</a:t>
            </a:r>
            <a:endParaRPr lang="ko-KR" sz="2800" dirty="0"/>
          </a:p>
        </p:txBody>
      </p:sp>
      <p:sp>
        <p:nvSpPr>
          <p:cNvPr id="4" name="S07-chip30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5" name="S07-text31"/>
          <p:cNvSpPr txBox="1"/>
          <p:nvPr/>
        </p:nvSpPr>
        <p:spPr>
          <a:xfrm>
            <a:off x="1344168" y="201168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ride bikes　→　Let's</a:t>
            </a:r>
            <a:endParaRPr lang="ko-KR" sz="2800" dirty="0"/>
          </a:p>
        </p:txBody>
      </p:sp>
      <p:sp>
        <p:nvSpPr>
          <p:cNvPr id="6" name="S07-chip32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7" name="S07-text33"/>
          <p:cNvSpPr txBox="1"/>
          <p:nvPr/>
        </p:nvSpPr>
        <p:spPr>
          <a:xfrm>
            <a:off x="1344168" y="347472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watch a movie　→　Why don't we</a:t>
            </a:r>
            <a:endParaRPr lang="ko-KR" sz="2800" dirty="0"/>
          </a:p>
        </p:txBody>
      </p:sp>
      <p:sp>
        <p:nvSpPr>
          <p:cNvPr id="8" name="S07-chip34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9" name="S07-text35"/>
          <p:cNvSpPr txBox="1"/>
          <p:nvPr/>
        </p:nvSpPr>
        <p:spPr>
          <a:xfrm>
            <a:off x="1344168" y="493776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make cookies　→　Let's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알맞은 대답은?</a:t>
            </a:r>
            <a:endParaRPr lang="ko-KR" sz="4000" dirty="0"/>
          </a:p>
        </p:txBody>
      </p:sp>
      <p:sp>
        <p:nvSpPr>
          <p:cNvPr id="3" name="S08-card36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8-cardtext37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친구가 Why don't we go to the park?라고 했어요.</a:t>
            </a:r>
            <a:endParaRPr lang="ko-KR" sz="2800" dirty="0"/>
          </a:p>
        </p:txBody>
      </p:sp>
      <p:sp>
        <p:nvSpPr>
          <p:cNvPr id="5" name="S08-card3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8-cardtext3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알맞은 대답은? 왜 그렇게 생각해요?</a:t>
            </a:r>
            <a:endParaRPr lang="ko-KR" sz="2800" dirty="0"/>
          </a:p>
        </p:txBody>
      </p:sp>
      <p:sp>
        <p:nvSpPr>
          <p:cNvPr id="7" name="S08-chip40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200" dirty="0"/>
          </a:p>
        </p:txBody>
      </p:sp>
      <p:sp>
        <p:nvSpPr>
          <p:cNvPr id="8" name="S08-word41"/>
          <p:cNvSpPr txBox="1"/>
          <p:nvPr/>
        </p:nvSpPr>
        <p:spPr>
          <a:xfrm>
            <a:off x="548640" y="3268980"/>
            <a:ext cx="5362956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Because it's sunny.</a:t>
            </a:r>
            <a:endParaRPr lang="ko-KR" sz="3200" dirty="0"/>
          </a:p>
        </p:txBody>
      </p:sp>
      <p:sp>
        <p:nvSpPr>
          <p:cNvPr id="9" name="S08-chip42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200" dirty="0"/>
          </a:p>
        </p:txBody>
      </p:sp>
      <p:sp>
        <p:nvSpPr>
          <p:cNvPr id="10" name="S08-word43"/>
          <p:cNvSpPr txBox="1"/>
          <p:nvPr/>
        </p:nvSpPr>
        <p:spPr>
          <a:xfrm>
            <a:off x="6277356" y="3268980"/>
            <a:ext cx="5362956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Sounds good.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빈칸에 들어갈 말</a:t>
            </a:r>
            <a:endParaRPr lang="ko-KR" sz="4000" dirty="0"/>
          </a:p>
        </p:txBody>
      </p:sp>
      <p:sp>
        <p:nvSpPr>
          <p:cNvPr id="3" name="S09-text4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보기에서 골라 빈칸을 채워 말해요.</a:t>
            </a:r>
            <a:endParaRPr lang="ko-KR" sz="2800" dirty="0"/>
          </a:p>
        </p:txBody>
      </p:sp>
      <p:sp>
        <p:nvSpPr>
          <p:cNvPr id="4" name="S09-card4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9-cardtext4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보기:　Let's　·　don't　·　Sorry</a:t>
            </a:r>
            <a:endParaRPr lang="ko-KR" sz="2800" dirty="0"/>
          </a:p>
        </p:txBody>
      </p:sp>
      <p:sp>
        <p:nvSpPr>
          <p:cNvPr id="6" name="S09-chip47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7" name="S09-text48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A: ______ play badminton.　B: Sounds good.</a:t>
            </a:r>
            <a:endParaRPr lang="ko-KR" sz="2800" dirty="0"/>
          </a:p>
        </p:txBody>
      </p:sp>
      <p:sp>
        <p:nvSpPr>
          <p:cNvPr id="8" name="S09-chip49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9" name="S09-text50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A: Why ______ we go swimming?　B: Sounds good.</a:t>
            </a:r>
            <a:endParaRPr lang="ko-KR" sz="2800" dirty="0"/>
          </a:p>
        </p:txBody>
      </p:sp>
      <p:sp>
        <p:nvSpPr>
          <p:cNvPr id="10" name="S09-chip51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11" name="S09-text52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A: Let's watch a movie.　B: ______, I can't. I'm busy.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주말에 할 일 정하기</a:t>
            </a:r>
            <a:endParaRPr lang="ko-KR" sz="4000" dirty="0"/>
          </a:p>
        </p:txBody>
      </p:sp>
      <p:sp>
        <p:nvSpPr>
          <p:cNvPr id="3" name="S10-card53"/>
          <p:cNvSpPr/>
          <p:nvPr/>
        </p:nvSpPr>
        <p:spPr>
          <a:xfrm>
            <a:off x="6813652" y="1325880"/>
            <a:ext cx="4826660" cy="4892040"/>
          </a:xfrm>
          <a:prstGeom prst="roundRect">
            <a:avLst>
              <a:gd name="adj" fmla="val 227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0-cardtext54"/>
          <p:cNvSpPr txBox="1"/>
          <p:nvPr/>
        </p:nvSpPr>
        <p:spPr>
          <a:xfrm>
            <a:off x="7087972" y="1463040"/>
            <a:ext cx="4278020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하면 잘한 거예요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Let's와 Why don't we를 썼어요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할 일을 바로 붙여 말했어요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상황에 맞게 대답했어요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거절할 때 까닭을 말했어요</a:t>
            </a:r>
            <a:endParaRPr lang="ko-KR" sz="2800" dirty="0"/>
          </a:p>
        </p:txBody>
      </p:sp>
      <p:sp>
        <p:nvSpPr>
          <p:cNvPr id="5" name="S10-stepno55"/>
          <p:cNvSpPr txBox="1"/>
          <p:nvPr/>
        </p:nvSpPr>
        <p:spPr>
          <a:xfrm>
            <a:off x="548640" y="226822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6" name="S10-text56"/>
          <p:cNvSpPr txBox="1"/>
          <p:nvPr/>
        </p:nvSpPr>
        <p:spPr>
          <a:xfrm>
            <a:off x="1325880" y="2268220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Let's ~.로 할 일을 제안해요.</a:t>
            </a:r>
            <a:endParaRPr lang="ko-KR" sz="2800" dirty="0"/>
          </a:p>
        </p:txBody>
      </p:sp>
      <p:sp>
        <p:nvSpPr>
          <p:cNvPr id="7" name="S10-stepno57"/>
          <p:cNvSpPr txBox="1"/>
          <p:nvPr/>
        </p:nvSpPr>
        <p:spPr>
          <a:xfrm>
            <a:off x="548640" y="302717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8" name="S10-text58"/>
          <p:cNvSpPr txBox="1"/>
          <p:nvPr/>
        </p:nvSpPr>
        <p:spPr>
          <a:xfrm>
            <a:off x="1325880" y="2981452"/>
            <a:ext cx="5122012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엄마(아빠)가 거절하면 Why don't we ~?로 다시 제안해요.</a:t>
            </a:r>
            <a:endParaRPr lang="ko-KR" sz="2800" dirty="0"/>
          </a:p>
        </p:txBody>
      </p:sp>
      <p:sp>
        <p:nvSpPr>
          <p:cNvPr id="9" name="S10-stepno59"/>
          <p:cNvSpPr txBox="1"/>
          <p:nvPr/>
        </p:nvSpPr>
        <p:spPr>
          <a:xfrm>
            <a:off x="548640" y="401370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10" name="S10-text60"/>
          <p:cNvSpPr txBox="1"/>
          <p:nvPr/>
        </p:nvSpPr>
        <p:spPr>
          <a:xfrm>
            <a:off x="1325880" y="4013708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엄마(아빠)의 제안에 대답해요.</a:t>
            </a:r>
            <a:endParaRPr lang="ko-KR" sz="2800" dirty="0"/>
          </a:p>
        </p:txBody>
      </p:sp>
      <p:sp>
        <p:nvSpPr>
          <p:cNvPr id="11" name="S10-stepno61"/>
          <p:cNvSpPr txBox="1"/>
          <p:nvPr/>
        </p:nvSpPr>
        <p:spPr>
          <a:xfrm>
            <a:off x="548640" y="472694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200" dirty="0"/>
          </a:p>
        </p:txBody>
      </p:sp>
      <p:sp>
        <p:nvSpPr>
          <p:cNvPr id="12" name="S10-text62"/>
          <p:cNvSpPr txBox="1"/>
          <p:nvPr/>
        </p:nvSpPr>
        <p:spPr>
          <a:xfrm>
            <a:off x="1325880" y="4726940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정한 일을 달력에 적어요.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1-text6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영어로 말해 보세요.</a:t>
            </a:r>
            <a:endParaRPr lang="ko-KR" sz="2800" dirty="0"/>
          </a:p>
        </p:txBody>
      </p:sp>
      <p:sp>
        <p:nvSpPr>
          <p:cNvPr id="4" name="S11-chip64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5" name="S11-text65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go swimming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Let's로 제안해요.</a:t>
            </a:r>
            <a:endParaRPr lang="ko-KR" sz="2800" dirty="0"/>
          </a:p>
        </p:txBody>
      </p:sp>
      <p:sp>
        <p:nvSpPr>
          <p:cNvPr id="6" name="S11-chip66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7" name="S11-text67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play badminton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Why don't we로 제안해요.</a:t>
            </a:r>
            <a:endParaRPr lang="ko-KR" sz="2800" dirty="0"/>
          </a:p>
        </p:txBody>
      </p:sp>
      <p:sp>
        <p:nvSpPr>
          <p:cNvPr id="8" name="S11-chip68"/>
          <p:cNvSpPr txBox="1"/>
          <p:nvPr/>
        </p:nvSpPr>
        <p:spPr>
          <a:xfrm>
            <a:off x="548640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9" name="S11-text69"/>
          <p:cNvSpPr txBox="1"/>
          <p:nvPr/>
        </p:nvSpPr>
        <p:spPr>
          <a:xfrm>
            <a:off x="1344168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엄마(아빠)의 제안에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좋다고 대답해요.</a:t>
            </a:r>
            <a:endParaRPr lang="ko-KR" sz="2800" dirty="0"/>
          </a:p>
        </p:txBody>
      </p:sp>
      <p:sp>
        <p:nvSpPr>
          <p:cNvPr id="10" name="S11-chip70"/>
          <p:cNvSpPr txBox="1"/>
          <p:nvPr/>
        </p:nvSpPr>
        <p:spPr>
          <a:xfrm>
            <a:off x="6277356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200" dirty="0"/>
          </a:p>
        </p:txBody>
      </p:sp>
      <p:sp>
        <p:nvSpPr>
          <p:cNvPr id="11" name="S11-text71"/>
          <p:cNvSpPr txBox="1"/>
          <p:nvPr/>
        </p:nvSpPr>
        <p:spPr>
          <a:xfrm>
            <a:off x="7072884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엄마(아빠)의 제안을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거절하고 까닭을 말해요.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확인</a:t>
            </a:r>
            <a:endParaRPr lang="ko-KR" sz="4000" dirty="0"/>
          </a:p>
        </p:txBody>
      </p:sp>
      <p:sp>
        <p:nvSpPr>
          <p:cNvPr id="3" name="S12-chip72"/>
          <p:cNvSpPr txBox="1"/>
          <p:nvPr/>
        </p:nvSpPr>
        <p:spPr>
          <a:xfrm>
            <a:off x="548640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정답</a:t>
            </a:r>
            <a:endParaRPr lang="ko-KR" sz="2200" dirty="0"/>
          </a:p>
        </p:txBody>
      </p:sp>
      <p:sp>
        <p:nvSpPr>
          <p:cNvPr id="4" name="S12-text73"/>
          <p:cNvSpPr txBox="1"/>
          <p:nvPr/>
        </p:nvSpPr>
        <p:spPr>
          <a:xfrm>
            <a:off x="548640" y="2057400"/>
            <a:ext cx="5362956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Let's go swimming.</a:t>
            </a:r>
            <a:endParaRPr lang="ko-KR" sz="2800" dirty="0"/>
          </a:p>
        </p:txBody>
      </p:sp>
      <p:sp>
        <p:nvSpPr>
          <p:cNvPr id="5" name="S12-text74"/>
          <p:cNvSpPr txBox="1"/>
          <p:nvPr/>
        </p:nvSpPr>
        <p:spPr>
          <a:xfrm>
            <a:off x="548640" y="3131820"/>
            <a:ext cx="5362956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Why don't we</a:t>
            </a:r>
            <a:endParaRPr lang="ko-KR" sz="2800" dirty="0"/>
          </a:p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play badminton?</a:t>
            </a:r>
            <a:endParaRPr lang="ko-KR" sz="2800" dirty="0"/>
          </a:p>
        </p:txBody>
      </p:sp>
      <p:sp>
        <p:nvSpPr>
          <p:cNvPr id="6" name="S12-text75"/>
          <p:cNvSpPr txBox="1"/>
          <p:nvPr/>
        </p:nvSpPr>
        <p:spPr>
          <a:xfrm>
            <a:off x="548640" y="4206240"/>
            <a:ext cx="5362956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Sounds good.</a:t>
            </a:r>
            <a:endParaRPr lang="ko-KR" sz="2800" dirty="0"/>
          </a:p>
        </p:txBody>
      </p:sp>
      <p:sp>
        <p:nvSpPr>
          <p:cNvPr id="7" name="S12-text76"/>
          <p:cNvSpPr txBox="1"/>
          <p:nvPr/>
        </p:nvSpPr>
        <p:spPr>
          <a:xfrm>
            <a:off x="548640" y="5280660"/>
            <a:ext cx="5362956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Sorry, I can't.</a:t>
            </a:r>
            <a:endParaRPr lang="ko-KR" sz="2800" dirty="0"/>
          </a:p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 have homework.</a:t>
            </a:r>
            <a:endParaRPr lang="ko-KR" sz="2800" dirty="0"/>
          </a:p>
        </p:txBody>
      </p:sp>
      <p:sp>
        <p:nvSpPr>
          <p:cNvPr id="8" name="S12-chip77"/>
          <p:cNvSpPr txBox="1"/>
          <p:nvPr/>
        </p:nvSpPr>
        <p:spPr>
          <a:xfrm>
            <a:off x="6277356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흔한 실수</a:t>
            </a:r>
            <a:endParaRPr lang="ko-KR" sz="2200" dirty="0"/>
          </a:p>
        </p:txBody>
      </p:sp>
      <p:sp>
        <p:nvSpPr>
          <p:cNvPr id="9" name="S12-text78"/>
          <p:cNvSpPr txBox="1"/>
          <p:nvPr/>
        </p:nvSpPr>
        <p:spPr>
          <a:xfrm>
            <a:off x="6277356" y="20574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Let's going</a:t>
            </a:r>
            <a:endParaRPr lang="ko-KR" sz="2800" dirty="0"/>
          </a:p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swimming.</a:t>
            </a:r>
            <a:endParaRPr lang="ko-KR" sz="2800" dirty="0"/>
          </a:p>
        </p:txBody>
      </p:sp>
      <p:sp>
        <p:nvSpPr>
          <p:cNvPr id="10" name="S12-text79"/>
          <p:cNvSpPr txBox="1"/>
          <p:nvPr/>
        </p:nvSpPr>
        <p:spPr>
          <a:xfrm>
            <a:off x="9095994" y="20574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go 그대로</a:t>
            </a:r>
            <a:endParaRPr lang="ko-KR" sz="2200" dirty="0"/>
          </a:p>
        </p:txBody>
      </p:sp>
      <p:sp>
        <p:nvSpPr>
          <p:cNvPr id="11" name="S12-text80"/>
          <p:cNvSpPr txBox="1"/>
          <p:nvPr/>
        </p:nvSpPr>
        <p:spPr>
          <a:xfrm>
            <a:off x="6277356" y="34290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Because I like it.</a:t>
            </a:r>
            <a:endParaRPr lang="ko-KR" sz="2800" dirty="0"/>
          </a:p>
        </p:txBody>
      </p:sp>
      <p:sp>
        <p:nvSpPr>
          <p:cNvPr id="12" name="S12-text81"/>
          <p:cNvSpPr txBox="1"/>
          <p:nvPr/>
        </p:nvSpPr>
        <p:spPr>
          <a:xfrm>
            <a:off x="9095994" y="34290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제안에 맞지 않음</a:t>
            </a:r>
            <a:endParaRPr lang="ko-KR" sz="2200" dirty="0"/>
          </a:p>
        </p:txBody>
      </p:sp>
      <p:sp>
        <p:nvSpPr>
          <p:cNvPr id="13" name="S12-text82"/>
          <p:cNvSpPr txBox="1"/>
          <p:nvPr/>
        </p:nvSpPr>
        <p:spPr>
          <a:xfrm>
            <a:off x="6277356" y="48006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No.</a:t>
            </a:r>
            <a:endParaRPr lang="ko-KR" sz="2800" dirty="0"/>
          </a:p>
        </p:txBody>
      </p:sp>
      <p:sp>
        <p:nvSpPr>
          <p:cNvPr id="14" name="S12-text83"/>
          <p:cNvSpPr txBox="1"/>
          <p:nvPr/>
        </p:nvSpPr>
        <p:spPr>
          <a:xfrm>
            <a:off x="9095994" y="48006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Sorry, I can't.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알맞은 대답을 골라요</a:t>
            </a:r>
            <a:endParaRPr lang="ko-KR" sz="4000" dirty="0"/>
          </a:p>
        </p:txBody>
      </p:sp>
      <p:sp>
        <p:nvSpPr>
          <p:cNvPr id="3" name="S13-card8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3-cardtext8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엄마(아빠)의 제안에 알맞은 대답은? 어떻게 알았나요?</a:t>
            </a:r>
            <a:endParaRPr lang="ko-KR" sz="2800" dirty="0"/>
          </a:p>
        </p:txBody>
      </p:sp>
      <p:sp>
        <p:nvSpPr>
          <p:cNvPr id="5" name="S13-chip86"/>
          <p:cNvSpPr txBox="1"/>
          <p:nvPr/>
        </p:nvSpPr>
        <p:spPr>
          <a:xfrm>
            <a:off x="548640" y="192252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800" dirty="0"/>
          </a:p>
        </p:txBody>
      </p:sp>
      <p:sp>
        <p:nvSpPr>
          <p:cNvPr id="6" name="S13-card87"/>
          <p:cNvSpPr/>
          <p:nvPr/>
        </p:nvSpPr>
        <p:spPr>
          <a:xfrm>
            <a:off x="1344168" y="1325880"/>
            <a:ext cx="4567428" cy="1760220"/>
          </a:xfrm>
          <a:prstGeom prst="roundRect">
            <a:avLst>
              <a:gd name="adj" fmla="val 62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13-cardtext88"/>
          <p:cNvSpPr txBox="1"/>
          <p:nvPr/>
        </p:nvSpPr>
        <p:spPr>
          <a:xfrm>
            <a:off x="1618488" y="1463040"/>
            <a:ext cx="4018788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Sounds good.</a:t>
            </a:r>
            <a:endParaRPr lang="ko-KR" sz="2800" dirty="0"/>
          </a:p>
        </p:txBody>
      </p:sp>
      <p:sp>
        <p:nvSpPr>
          <p:cNvPr id="8" name="S13-chip89"/>
          <p:cNvSpPr txBox="1"/>
          <p:nvPr/>
        </p:nvSpPr>
        <p:spPr>
          <a:xfrm>
            <a:off x="6277356" y="192252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800" dirty="0"/>
          </a:p>
        </p:txBody>
      </p:sp>
      <p:sp>
        <p:nvSpPr>
          <p:cNvPr id="9" name="S13-card90"/>
          <p:cNvSpPr/>
          <p:nvPr/>
        </p:nvSpPr>
        <p:spPr>
          <a:xfrm>
            <a:off x="7072884" y="1325880"/>
            <a:ext cx="4567428" cy="1760220"/>
          </a:xfrm>
          <a:prstGeom prst="roundRect">
            <a:avLst>
              <a:gd name="adj" fmla="val 62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0" name="S13-cardtext91"/>
          <p:cNvSpPr txBox="1"/>
          <p:nvPr/>
        </p:nvSpPr>
        <p:spPr>
          <a:xfrm>
            <a:off x="7347204" y="1463040"/>
            <a:ext cx="4018788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Because I like bikes.</a:t>
            </a:r>
            <a:endParaRPr lang="ko-KR" sz="2800" dirty="0"/>
          </a:p>
        </p:txBody>
      </p:sp>
      <p:sp>
        <p:nvSpPr>
          <p:cNvPr id="11" name="S13-chip92"/>
          <p:cNvSpPr txBox="1"/>
          <p:nvPr/>
        </p:nvSpPr>
        <p:spPr>
          <a:xfrm>
            <a:off x="548640" y="395706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2800" dirty="0"/>
          </a:p>
        </p:txBody>
      </p:sp>
      <p:sp>
        <p:nvSpPr>
          <p:cNvPr id="12" name="S13-card93"/>
          <p:cNvSpPr/>
          <p:nvPr/>
        </p:nvSpPr>
        <p:spPr>
          <a:xfrm>
            <a:off x="1344168" y="3360420"/>
            <a:ext cx="4567428" cy="1760220"/>
          </a:xfrm>
          <a:prstGeom prst="roundRect">
            <a:avLst>
              <a:gd name="adj" fmla="val 62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3" name="S13-cardtext94"/>
          <p:cNvSpPr txBox="1"/>
          <p:nvPr/>
        </p:nvSpPr>
        <p:spPr>
          <a:xfrm>
            <a:off x="1618488" y="3497580"/>
            <a:ext cx="4018788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Sorry, I can't. I have homework.</a:t>
            </a:r>
            <a:endParaRPr lang="ko-KR" sz="2800" dirty="0"/>
          </a:p>
        </p:txBody>
      </p:sp>
      <p:sp>
        <p:nvSpPr>
          <p:cNvPr id="14" name="S13-chip95"/>
          <p:cNvSpPr txBox="1"/>
          <p:nvPr/>
        </p:nvSpPr>
        <p:spPr>
          <a:xfrm>
            <a:off x="6277356" y="395706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</a:t>
            </a:r>
            <a:endParaRPr lang="ko-KR" sz="2800" dirty="0"/>
          </a:p>
        </p:txBody>
      </p:sp>
      <p:sp>
        <p:nvSpPr>
          <p:cNvPr id="15" name="S13-card96"/>
          <p:cNvSpPr/>
          <p:nvPr/>
        </p:nvSpPr>
        <p:spPr>
          <a:xfrm>
            <a:off x="7072884" y="3360420"/>
            <a:ext cx="4567428" cy="1760220"/>
          </a:xfrm>
          <a:prstGeom prst="roundRect">
            <a:avLst>
              <a:gd name="adj" fmla="val 62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6" name="S13-cardtext97"/>
          <p:cNvSpPr txBox="1"/>
          <p:nvPr/>
        </p:nvSpPr>
        <p:spPr>
          <a:xfrm>
            <a:off x="7347204" y="3497580"/>
            <a:ext cx="4018788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I'm fine, thank you.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4-card98"/>
          <p:cNvSpPr/>
          <p:nvPr/>
        </p:nvSpPr>
        <p:spPr>
          <a:xfrm>
            <a:off x="548640" y="1325880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4-cardtext99"/>
          <p:cNvSpPr txBox="1"/>
          <p:nvPr/>
        </p:nvSpPr>
        <p:spPr>
          <a:xfrm>
            <a:off x="822960" y="1463040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Let's ~. / Why don't we ~?로 제안하고,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Sounds good. / Sorry, I can't.로 대답해요.</a:t>
            </a:r>
            <a:endParaRPr lang="ko-KR" sz="2800" dirty="0"/>
          </a:p>
        </p:txBody>
      </p:sp>
      <p:sp>
        <p:nvSpPr>
          <p:cNvPr id="5" name="S14-chip100"/>
          <p:cNvSpPr txBox="1"/>
          <p:nvPr/>
        </p:nvSpPr>
        <p:spPr>
          <a:xfrm>
            <a:off x="548640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거절할 때 까닭도 말하기</a:t>
            </a:r>
            <a:endParaRPr lang="ko-KR" sz="2200" dirty="0"/>
          </a:p>
        </p:txBody>
      </p:sp>
      <p:sp>
        <p:nvSpPr>
          <p:cNvPr id="6" name="S14-chip101"/>
          <p:cNvSpPr txBox="1"/>
          <p:nvPr/>
        </p:nvSpPr>
        <p:spPr>
          <a:xfrm>
            <a:off x="6208776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Let's going / Because로 대답</a:t>
            </a:r>
            <a:endParaRPr lang="ko-KR" sz="2200" dirty="0"/>
          </a:p>
        </p:txBody>
      </p:sp>
      <p:sp>
        <p:nvSpPr>
          <p:cNvPr id="7" name="S14-text102"/>
          <p:cNvSpPr txBox="1"/>
          <p:nvPr/>
        </p:nvSpPr>
        <p:spPr>
          <a:xfrm>
            <a:off x="548640" y="3574288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200" dirty="0"/>
          </a:p>
        </p:txBody>
      </p:sp>
      <p:sp>
        <p:nvSpPr>
          <p:cNvPr id="8" name="S14-text103"/>
          <p:cNvSpPr txBox="1"/>
          <p:nvPr/>
        </p:nvSpPr>
        <p:spPr>
          <a:xfrm>
            <a:off x="548640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축구하자고 두 가지로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제안하기</a:t>
            </a:r>
            <a:endParaRPr lang="ko-KR" sz="2200" dirty="0"/>
          </a:p>
        </p:txBody>
      </p:sp>
      <p:sp>
        <p:nvSpPr>
          <p:cNvPr id="9" name="S14-text104"/>
          <p:cNvSpPr txBox="1"/>
          <p:nvPr/>
        </p:nvSpPr>
        <p:spPr>
          <a:xfrm>
            <a:off x="4322064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Why don't we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watch a movie?에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좋다고 대답하기</a:t>
            </a:r>
            <a:endParaRPr lang="ko-KR" sz="2200" dirty="0"/>
          </a:p>
        </p:txBody>
      </p:sp>
      <p:sp>
        <p:nvSpPr>
          <p:cNvPr id="10" name="S14-text105"/>
          <p:cNvSpPr txBox="1"/>
          <p:nvPr/>
        </p:nvSpPr>
        <p:spPr>
          <a:xfrm>
            <a:off x="8095488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Let's go to the park.를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거절하고 까닭 말하기</a:t>
            </a:r>
            <a:endParaRPr lang="ko-KR" sz="2200" dirty="0"/>
          </a:p>
        </p:txBody>
      </p:sp>
      <p:sp>
        <p:nvSpPr>
          <p:cNvPr id="11" name="S14-text106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세계 문화 존중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할 일 낱말 다시 보기</a:t>
            </a:r>
            <a:endParaRPr lang="ko-KR" sz="4000" dirty="0"/>
          </a:p>
        </p:txBody>
      </p:sp>
      <p:sp>
        <p:nvSpPr>
          <p:cNvPr id="3" name="S15-card10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5-cardtext10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몸짓을 하며 소리 내어 말해요.</a:t>
            </a:r>
            <a:endParaRPr lang="ko-KR" sz="2800" dirty="0"/>
          </a:p>
        </p:txBody>
      </p:sp>
      <p:sp>
        <p:nvSpPr>
          <p:cNvPr id="5" name="S15-word109"/>
          <p:cNvSpPr txBox="1"/>
          <p:nvPr/>
        </p:nvSpPr>
        <p:spPr>
          <a:xfrm>
            <a:off x="548640" y="1348740"/>
            <a:ext cx="3514344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play soccer</a:t>
            </a:r>
            <a:endParaRPr lang="ko-KR" sz="3200" dirty="0"/>
          </a:p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축구하다</a:t>
            </a:r>
            <a:endParaRPr lang="ko-KR" sz="3200" dirty="0"/>
          </a:p>
        </p:txBody>
      </p:sp>
      <p:sp>
        <p:nvSpPr>
          <p:cNvPr id="6" name="S15-word110"/>
          <p:cNvSpPr txBox="1"/>
          <p:nvPr/>
        </p:nvSpPr>
        <p:spPr>
          <a:xfrm>
            <a:off x="4337304" y="1348740"/>
            <a:ext cx="3514344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play badminton</a:t>
            </a:r>
            <a:endParaRPr lang="ko-KR" sz="3200" dirty="0"/>
          </a:p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배드민턴을 치다</a:t>
            </a:r>
            <a:endParaRPr lang="ko-KR" sz="3200" dirty="0"/>
          </a:p>
        </p:txBody>
      </p:sp>
      <p:sp>
        <p:nvSpPr>
          <p:cNvPr id="7" name="S15-word111"/>
          <p:cNvSpPr txBox="1"/>
          <p:nvPr/>
        </p:nvSpPr>
        <p:spPr>
          <a:xfrm>
            <a:off x="8125968" y="1348740"/>
            <a:ext cx="3514344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go to the park</a:t>
            </a:r>
            <a:endParaRPr lang="ko-KR" sz="3200" dirty="0"/>
          </a:p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공원에 가다</a:t>
            </a:r>
            <a:endParaRPr lang="ko-KR" sz="3200" dirty="0"/>
          </a:p>
        </p:txBody>
      </p:sp>
      <p:sp>
        <p:nvSpPr>
          <p:cNvPr id="8" name="S15-word112"/>
          <p:cNvSpPr txBox="1"/>
          <p:nvPr/>
        </p:nvSpPr>
        <p:spPr>
          <a:xfrm>
            <a:off x="548640" y="3360420"/>
            <a:ext cx="3514344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go swimming</a:t>
            </a:r>
            <a:endParaRPr lang="ko-KR" sz="3200" dirty="0"/>
          </a:p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수영하러 가다</a:t>
            </a:r>
            <a:endParaRPr lang="ko-KR" sz="3200" dirty="0"/>
          </a:p>
        </p:txBody>
      </p:sp>
      <p:sp>
        <p:nvSpPr>
          <p:cNvPr id="9" name="S15-word113"/>
          <p:cNvSpPr txBox="1"/>
          <p:nvPr/>
        </p:nvSpPr>
        <p:spPr>
          <a:xfrm>
            <a:off x="4337304" y="3360420"/>
            <a:ext cx="3514344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watch a movie</a:t>
            </a:r>
            <a:endParaRPr lang="ko-KR" sz="3200" dirty="0"/>
          </a:p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영화를 보다</a:t>
            </a:r>
            <a:endParaRPr lang="ko-KR" sz="3200" dirty="0"/>
          </a:p>
        </p:txBody>
      </p:sp>
      <p:sp>
        <p:nvSpPr>
          <p:cNvPr id="10" name="S15-word114"/>
          <p:cNvSpPr txBox="1"/>
          <p:nvPr/>
        </p:nvSpPr>
        <p:spPr>
          <a:xfrm>
            <a:off x="8125968" y="3360420"/>
            <a:ext cx="3514344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ride bikes</a:t>
            </a:r>
            <a:endParaRPr lang="ko-KR" sz="3200" dirty="0"/>
          </a:p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자전거를 타다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초6 영어 제안하고 답하기</dc:title>
  <dc:subject>KR22-G06-ENG-SUGGEST-L01</dc:subject>
  <dc:creator>education-ppt</dc:creator>
  <cp:lastModifiedBy>education-ppt</cp:lastModifiedBy>
  <cp:revision>1</cp:revision>
  <dcterms:created xsi:type="dcterms:W3CDTF">2026-10-26T09:28:15Z</dcterms:created>
  <dcterms:modified xsi:type="dcterms:W3CDTF">2026-10-26T09:28:15Z</dcterms:modified>
</cp:coreProperties>
</file>