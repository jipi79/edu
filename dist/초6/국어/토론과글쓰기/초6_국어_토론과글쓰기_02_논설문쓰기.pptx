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a7d3ac9-823c-8417-cfbf-d0d9d8220f01}">
          <p14:sldIdLst>
            <p14:sldId id="256"/>
            <p14:sldId id="257"/>
          </p14:sldIdLst>
        </p14:section>
        <p14:section name="개념" id="{fcd67825-220a-9442-fb08-8d5a395bb52d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3bb3a803-feff-1148-64aa-a6ce9eefa1c3}">
          <p14:sldIdLst>
            <p14:sldId id="263"/>
            <p14:sldId id="264"/>
            <p14:sldId id="265"/>
          </p14:sldIdLst>
        </p14:section>
        <p14:section name="확인" id="{76bed151-450e-53fa-bccb-6eb287a4c6f6}">
          <p14:sldIdLst>
            <p14:sldId id="266"/>
            <p14:sldId id="267"/>
            <p14:sldId id="268"/>
          </p14:sldIdLst>
        </p14:section>
        <p14:section name="정리" id="{7de8165f-1d2d-5c9f-c730-6dfd6dce3cd0}">
          <p14:sldIdLst>
            <p14:sldId id="269"/>
          </p14:sldIdLst>
        </p14:section>
        <p14:section name="보충" id="{09a10d56-eae2-4267-d2ab-3bd9e2fd1b8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말로 하던 토론을 글로 옮긴다는 흐름을 알려 주며 오늘 배울 것을 알립니다.
시간: 약 2분
이렇게 말해 보세요
- “지난 시간에 토론으로 엄마(아빠)를 설득해 봤지? 말은 그 자리에서 사라지지만, 글로 쓰면 더 많은 사람을 오래 설득할 수 있어.”
- “어떤 문제에 대한 주장을 근거를 들어 펼치는 글을 ‘논설문’이라고 해. 오늘은 논설문의 짜임을 배우고, 직접 한 편을 써 볼 거야.”
예상 답
- “주장하는 글이랑 같은 거예요?” “길게 써야 해요?”
막히면
- “학교 게시판에 ‘복도에서 뛰지 맙시다’라는 글이 붙어 있다면, 어떻게 써야 친구들이 따를까?”라고 묻습니다.
주의
- ‘주장하는 글과 같아요?’라고 물으면 “맞아, 5학년 때 쓴 주장하는 글과 짜임은 같아. 오늘은 근거마다 뒷받침 내용을 더 단단하게 붙여 볼 거야.”라고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확인(서론·본론·결론)]
목적: 5학년 ‘주장하는 글 쓰기’에서 배운 서론·본론·결론의 짜임과, 지난 시간 ‘토론하기’에서 쓴 ‘첫째, 둘째’로 근거를 드는 말을 알아보는지 확인합니다.
시간: 약 3분
이렇게 말해 보세요
- “세 문장은 한 편의 주장하는 글에서 뽑았어. 각각 서론, 본론, 결론 가운데 어디에 들어갈까? 무엇을 보고 알았어?”
정답
- ① 결론(‘그러므로’로 주장을 다시 강조함)
- ② 서론(문제 상황 ‘부딪히는 일이 잦다’와 주장이 함께 있음)
- ③ 본론(‘첫째’로 근거를 듦)
막히면
- “글의 맨 처음에는 무엇이 문제인지 알려 주겠지? 가운데는 까닭, 끝에는?”이라고 글의 차례로 묻습니다.
- 세 부분을 가르지 못하면 S15(보충)를 먼저 하고, 그래도 어려우면 5학년 ‘주장하는 글 쓰기’를 먼저 다시 합니다.
주의
- 답만 맞히면 “무엇을 보고 알았어?”라고 한 번 더 묻습니다. ‘그러므로’, ‘첫째’ 같은 말이 단서라는 것을 아이가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논설문의 짜임]
목적: 논설문의 세 부분과 부분마다 쓸 내용을 알려 줍니다(목표 A).
시간: 약 2분
이렇게 말해 보세요
- “서론에서는 무엇이 문제인지 알리고 주장을 밝혀. 본론에서는 근거를 하나씩 들고, 근거마다 ‘왜 그런지’ 알려 주는 뒷받침 내용을 붙여. 결론에서는 주장을 한 번 더 힘주어 말해.”
- “뒷받침 내용은 근거를 믿게 해 주는 까닭, 예, 자료야. ‘복도에서 뛰면 다치기 쉽다’가 근거라면, ‘복도는 좁고 모퉁이가 많다’가 뒷받침 내용이지.”
예상 답
- “서론은 문제랑 주장, 본론은 근거, 결론은 주장을 다시 말해요.”
막히면
- 지난 시간 토론의 차례와 견주어 줍니다. “주장 펼치기는 서론과 본론, 주장 다지기는 결론과 비슷해.”
주의
- 결론에는 새로운 근거를 넣지 않는다는 점을 미리 말해 둡니다(오해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예시 논설문 읽기 1(서론·본론 첫째 근거)]
목적: 부모가 생각을 소리 내어 말하며 서론의 문제 상황과 주장, 본론의 근거와 뒷받침 내용을 나누어 보여 줍니다(목표 A).
시간: 약 3분
이렇게 말해 보세요
- “①문단은 서론이야. 첫 두 문장은 무엇이 문제인지 알려 줘. 마지막 문장 ‘~해야 합니다’가 주장이야.”
- “②문단은 ‘첫째’로 시작하니까 본론의 첫째 근거야. 근거는 ‘다치기 쉽다’. 그 뒤의 두 문장은 왜 다치기 쉬운지 알려 주는 뒷받침 내용이야. 뒷받침 내용이 몇 문장인지 세어 볼래?”
예상 답
- “뒷받침 내용은 두 문장이에요. 복도가 좁고 모퉁이가 많다는 것과 바로 멈추기 어렵다는 거요.”
정답
- 서론 — 문제 상황: 복도를 뛰어다니는 학생이 많고 부딪혀 다친 친구도 있다 / 주장: 복도에서 걸어 다녀야 한다
- 본론 첫째 — 근거: 뛰면 부딪혀 다치기 쉽다 / 뒷받침: 복도는 좁고 모퉁이가 많아 마주 오는 사람이 잘 보이지 않는다, 뛰다가 바로 멈추기 어렵다
막히면
- “이 글을 쓴 사람이 우리에게 하라고 하는 것은 뭐야?”라고 물어 주장부터 찾게 합니다.
주의
- 이 글은 수업을 위해 지은 예시 글입니다. 활동지 1에 같은 글이 있으니 수업 뒤에 표시해 보게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예시 논설문 읽기 2(본론 둘째 근거·결론)]
목적: 본론의 둘째 근거와 뒷받침 내용, 주장을 강조하는 결론을 함께 찾습니다(목표 A).
시간: 약 2분
이렇게 말해 보세요
- “이번에는 네가 찾아볼래? ③문단의 근거는 뭐야? 그 근거를 받쳐 주는 문장은?”
- “④문단은 결론이야. 새로운 근거가 있어, 아니면 앞의 내용을 모아 주장을 다시 말해?”
예상 답
- “근거는 뛰는 소리가 방해가 된다는 거예요. 결론은 안전과 배려를 위해 걸어 다니자고 다시 말해요.”
정답
- 본론 둘째 — 근거: 뛰는 소리가 다른 사람에게 방해가 된다 / 뒷받침: 책을 읽거나 수업을 준비하는 친구들이 있다, 발소리가 집중을 흐트러뜨린다
- 결론: 안전(첫째 근거)과 배려(둘째 근거)를 모아 ‘복도에서는 걸어 다닙시다’라고 주장을 강조한다
막히면
- S04의 ②문단과 나란히 놓고 “첫째와 같은 모양으로 쓰였지? 근거 한 문장, 뒷받침 두 문장.”이라고 견주어 줍니다.
주의
- 결론의 ‘안전’과 ‘배려’가 각각 첫째·둘째 근거를 줄인 말이라는 것을 아이가 찾으면 크게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개요표(쓰기 전 짜임 정리)]
목적: 논설문을 쓰기 전에 짜임에 따라 쓸 내용을 정리하는 개요표를 보여 줍니다(목표 A).
시간: 약 3분
이렇게 말해 보세요
- “글을 다 쓰고 나서 고치기는 어려워. 그래서 쓰기 전에 이렇게 개요표를 짜. 방금 읽은 논설문을 개요표로 줄이면 이렇게 돼.”
- “근거 바로 아래에 뒷받침 내용 칸이 있지? 근거마다 뒷받침 내용을 짝 지어 두면, 쓸 때 문단 하나가 저절로 만들어져.”
예상 답
- “근거 하나에 뒷받침 하나씩 있어요.”
막히면
- S04·S05의 문단과 개요표의 칸을 하나씩 짝 지어 손가락으로 짚어 줍니다.
주의
- 개요표에는 문장을 짧게 줄여 씁니다. 실제 글을 쓸 때 문장을 늘립니다.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논설문 쓰는 차례와 점검표]
목적: 개요표로 논설문을 쓰는 차례와, 다 쓴 뒤 스스로 점검할 기준을 알려 줍니다(목표 B, 오해 M2·M3).
시간: 약 3분
이렇게 말해 보세요
- “개요표가 있으면 쓰기는 칸을 문장으로 늘리는 일이야. 서론 한 문단, 근거마다 한 문단, 결론 한 문단. 문단 첫머리는 한 칸 들여 써.”
- “다 쓰면 오른쪽 점검표로 확인해. 셋째 ‘근거가 타당한가요?’는 지난번에 배운 뒷받침·사실·출처로 따지면 돼.”
예상 답
- “문단이 네 개가 돼요. 서론, 첫째, 둘째, 결론이요.”
막히면
- S06의 개요표와 S04·S05의 글을 나란히 보여 주며 칸 하나가 문단 하나가 되는 것을 보여 줍니다.
주의
- 이어 주는 말(첫째, 둘째, 그러므로)을 쓰면 읽는 사람이 짜임을 알아보기 쉽다고 덧붙입니다.
- 아이가 지치면 여기서 쉬고, 다음 날 S08부터 이어도 됩니다. 혼자 써 보기(S11)는 10분쯤 걸리므로 시간이 넉넉할 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비교(뒷받침 없이 되풀이한 본론)]
목적: 근거 뒤에 같은 말을 되풀이하거나 느낌만 쓰면 뒷받침이 되지 않는다는 것을 비교로 확인합니다(목표 A·B, 오해 M1). 쓸 때 근거 뒤에 무엇을 써야 하는지 알게 됩니다.
시간: 약 2분
이렇게 말해 보세요
- “두 문단은 근거가 같아. 근거 뒤의 문장을 견주어 보자. 가의 ‘정말 나쁩니다’는 왜 쓰레기가 줄어드는지 알려 줘?”
- “나의 뒷받침 문장을 근거 뒤에 ‘왜냐하면’으로 이어 읽어 볼래?”
정답
- 나. ‘남긴 음식은 모두 버려진다’가 왜 먹을 만큼만 받으면 쓰레기가 줄어드는지 까닭을 알려 줍니다.
- 가는 ‘정말 나쁩니다’, ‘꼭 줄여야 합니다’처럼 느낌과 같은 말만 되풀이해 근거를 받쳐 주지 못합니다.
막히면
- “엄마(아빠)가 ‘먹을 만큼만 받으면 왜 쓰레기가 줄어?’라고 물으면 가와 나 중 어느 쪽이 대답이 돼?”라고 묻습니다.
주의
- 가도 근거 문장 자체는 좋습니다. 문제는 그 뒤의 뒷받침 내용이라는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근거와 뒷받침 내용 짝 짓기]
목적: 근거마다 알맞은 뒷받침 내용을 짝 지으며 개요표를 짜는 연습을 합니다(목표 A).
시간: 약 3분
이렇게 말해 보세요
- “위는 근거 두 개, 아래는 뒷받침 내용 두 개야. 어느 근거에 어느 뒷받침이 어울려? ‘왜냐하면’으로 이어 읽어 봐.”
- “근거를 하나 더 만든다면 무엇이 있을까? 그 근거의 뒷받침 내용도 말해 줄래?”
정답
- ①–나: 전기는 쓴 만큼 요금을 내므로 덜 쓰면 요금이 준다.
- ②–가: 전기를 만들 때 석탄이나 가스를 태우는 경우가 많아, 전기를 아끼면 덜 태우게 된다.
- 더 만든 근거 예: 전등을 끄면 전구를 더 오래 쓸 수 있다 — 켜 둔 시간이 줄어 전구가 덜 닳는다. (주장과 관련 있고 부풀린 말이 없으면 맞음)
막히면
- “전기 요금은 어떻게 정해질까? 많이 쓰면 많이 내지?”처럼 ①부터 생활 경험으로 이어 줍니다.
주의
- ②–가에서 ‘석탄이나 가스를 태우면 공기를 더럽히는 물질이 나온다’까지 말하면 더 탄탄한 뒷받침이 된다고 덧붙여 줍니다. 전기를 만드는 방법에는 햇빛·바람·원자력 등도 있으므로 ‘모든 전기’라고 하지 않도록 ‘경우가 많다’로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내 논설문 개요 짜기(주제 고르기)]
목적: 아이가 주제를 골라 개요표에 문제 상황·주장·근거·뒷받침 내용·결론을 짝 지어 정리합니다(목표 A·B). 이 개요표가 S11에서 쓸 논설문의 설계도입니다. 부모는 질문으로 돕고 내용을 대신 정하지 않습니다.
시간: 약 3분
이렇게 말해 보세요
- “세 주제 가운데 하나를 골라 볼래? 가는 지난 시간에 토론한 주제라서, 그때 든 근거를 그대로 써도 돼.”
- “지금 무엇이 문제야? 그래서 어떻게 하자는 거야? 왜 그래야 해? 그걸 어떻게 알 수 있어?” 이 질문에 답하면서 개요표 칸을 채워 봐.
예상 답
- 나를 고른 예: 문제 상황 — 쉬는 시간에 교실에만 앉아 있는 친구가 많다 / 주장 — 쉬는 시간에는 밖에 나가 몸을 움직이자 / 근거 1 — 몸이 건강해진다, 뒷받침 — 오래 앉아 있으면 몸이 굳는데 움직이면 풀린다 / 근거 2 — 다음 수업에 더 집중할 수 있다, 뒷받침 — 바람을 쐬고 오면 졸음이 깬다 / 결론 — 건강과 집중을 위해 밖에서 움직이자
막히면
- 근거가 하나만 떠오르면 “그렇게 하면 누구에게 좋을까? 나에게, 가족에게, 친구에게?”라고 다른 쪽에서 생각하게 합니다.
- 주제 셋이 모두 어렵다면 아이가 요즘 바라는 것(예: 용돈, 반려 식물 기르기)을 ‘~하자’로 바꾸어 주제로 써도 됩니다.
주의
- 개요표 칸에는 짧은 문장이나 낱말로 써도 됩니다. 근거마다 뒷받침 칸이 비지 않았는지만 꼭 확인합니다(오해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써 보기(논설문 한 편)]
목적: 도움 없이 개요표를 바탕으로 서론·본론·결론을 갖춘 논설문을 쓰고, 점검표로 스스로 고치는지 확인합니다(목표 A·B).
시간: 약 10분
이렇게 말해 보세요
- “이번에는 혼자 써 볼래? 개요표의 칸을 문장으로 늘려 쓰면 돼. 문단은 네 개야.”
- “다 쓰면 활동지 5의 점검표에 ○, ×를 하고, ×가 있으면 그 부분을 고쳐 써.”
정답
- 예(나 주제): ① 쉬는 시간에 교실에만 앉아 있는 친구가 많습니다. 우리는 쉬는 시간에 밖에 나가 몸을 움직여야 합니다. ② 첫째, 몸이 건강해집니다. 오래 앉아 있으면 몸이 굳는데, 걷고 뛰면 굳은 몸이 풀립니다. ③ 둘째, 다음 수업에 더 집중할 수 있습니다. 바깥바람을 쐬고 오면 졸음이 깨고 머리가 맑아집니다. ④ 건강과 집중을 위해 쉬는 시간에는 밖에 나가 몸을 움직입시다.
- 기준: ① 서론에 문제 상황과 주장이 있다 ② 근거 두 개가 각각 문단으로 나뉘고 뒷받침 내용이 있다 ③ 근거에 부풀린 말이나 관련 없는 말이 없다 ④ 결론에서 주장을 다시 강조하고 새 근거를 넣지 않았다. 네 가지를 모두 갖추면 잘함
막히면
- 서론 첫 문장을 쓰지 못하면 “지금 무엇이 문제야?”라고 묻고 아이가 말한 것을 그대로 쓰게 합니다.
- S04·S05의 예시 글을 다시 보여 주고 같은 모양으로 쓰게 합니다. 도움을 받아 썼다면 기록표에 ‘도움’으로 표시합니다.
주의
- 맞춤법과 글씨보다 짜임과 근거를 먼저 봅니다. 맞춤법은 다음 차시 ‘독자를 생각하며 고쳐 쓰기’에서 함께 고칩니다. 오늘 쓴 글은 다음 차시에 다시 쓰니 버리지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점검 기준과 피드백]
목적: 아이가 쓴 논설문을 점검 기준으로 함께 확인하고 흔한 실수와 비교합니다.
시간: 약 2분
이렇게 말해 보세요
- “네 논설문에 왼쪽 세 가지가 다 있어? 오른쪽 같은 실수는 없어?”
- “가장 잘 쓴 문단은 어디야? 하나만 더 고친다면 어디를 고칠래?”
예상 답
- “둘째 근거에 뒷받침 내용을 안 썼어요. ‘바람을 쐬면 졸음이 깬다’를 넣을게요.”
정답
- 서론(문제 상황 + 주장), 본론(근거마다 문단을 나누고 뒷받침 내용), 결론(주장 강조, 새 근거 없음)을 모두 갖추고 근거가 타당하면 잘함
막히면
- 활동지 5의 점검표에서 ×인 칸 하나만 골라 함께 고칩니다.
주의
- 이 장은 학생용 파일에서 빠집니다. 고친 곳이 있으면 그것을 먼저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확인(빠진 부분 찾기)]
목적: 처음 보는 논설문에서 짜임을 따져 빠진 부분을 찾는지 확인합니다(목표 A).
시간: 약 2분
이렇게 말해 보세요
- “점검표를 떠올리며 읽어 볼래? 이 논설문에 빠진 것은 무엇이야?”
정답
- ① 둘째 근거의 뒷받침 내용(왜 더 아끼게 되는지)이 없습니다. 예: 이름을 쓰면 ‘내 것’이라는 마음이 들어 함부로 쓰지 않게 됩니다.
- ② 결론이 없습니다. 예: 잃어버린 물건을 찾고 물건을 아끼기 위해 우리 모두 물건에 이름을 씁시다.
- 두 가지를 모두 찾으면 잘함. 빠진 내용을 직접 채워 말하면 더 잘함
막히면
- S07의 점검표를 하나씩 읽어 주고 “이건 있어?”라고 차례로 묻습니다.
주의
- 하나만 찾으면 기록표에 ‘하나만’으로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1분
이렇게 말해 보세요
- “논설문을 잘 쓰는 방법을 한 문장으로 말해 볼래?”
예상 답
- “개요표를 짜고, 서론·본론·결론으로 쓰고, 근거마다 뒷받침 내용을 써요.”
정답
- ① 서론 — 문제 상황과 주장, 본론 — 근거와 뒷받침 내용, 결론 — 주장 강조 ② 근거를 믿게 해 주는 까닭·예·자료 ③ 서론에 문제 상황과 주장, 근거마다 뒷받침 내용, 근거가 타당함, 결론에서 주장 강조
막히면
- S03과 S07을 다시 보여 줍니다.
주의
- 오늘 쓴 논설문(활동지 4)을 잘 보관해 주세요. 다음 시간에 읽는 사람을 생각하며 이 글을 고쳐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보충(서론·본론·결론의 역할)]
목적: 주장하는 글의 서론·본론·결론의 역할을 먼저 다집니다. 논설문은 이 짜임에 뒷받침 내용을 더한 것입니다.
시간: 약 4분
이렇게 말해 보세요
- “엄마(아빠)가 짧은 주장하는 글을 말로 해 볼게. ‘밥 먹기 전에 손을 씻는 사람이 적어요. 우리는 밥 먹기 전에 손을 씻어야 해요. 왜냐하면 손에 묻은 세균이 음식과 함께 몸에 들어갈 수 있으니까요. 그러므로 꼭 손을 씻어요.’ 어디까지가 서론이고, 어디가 본론, 어디가 결론일까?”
- “이번에는 네가 ‘잠자기 전에 가방을 챙기자’로 세 부분을 말해 볼래?”
정답
- 서론: 손을 씻는 사람이 적다 + 손을 씻어야 한다 / 본론: 세균이 음식과 함께 몸에 들어갈 수 있다 / 결론: 그러므로 꼭 손을 씻자
- 아이의 예: 아침에 준비물을 빠뜨리는 일이 있다, 자기 전에 가방을 챙기자(서론) / 아침에는 시간이 없어 서두르다 빠뜨린다(본론) / 그러므로 자기 전에 꼭 챙기자(결론) — 세 부분이 드러나면 맞음
막히면
- 카드의 질문을 부모가 하나씩 묻고, 아이의 대답을 이어 붙이면 한 편의 글이 된다는 것을 보여 줍니다.
- 보충으로도 어렵다면 5학년 ‘주장하는 글 쓰기’를 먼저 다시 하고, 근거를 드는 것부터 어려우면 이 차시의 선수 차시인 6학년 ‘토론하기’(KR22-G06-KOR-DEBATE-L01)의 주장 펼치기를 다시 해 봅니다.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토론과글쓰기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논설문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논설문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논설문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사람을 설득하는 글은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쓸까?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논설문의 짜임에 맞게 개요표를 짤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개요표로 논설문을 쓰고 점검표로 고칠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부분일까요?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글의 서론·본론·결론 가운데 어디일까요?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· 근거 · 주장 강조를 찾아요.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우리 모두 계단에서는 오른쪽으로 걸어 다닙시다.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 계단에서 부딪히는 일이 잦습니다. 우리는 계단에서 오른쪽으로 다녀야 합니다.</a:t>
            </a:r>
            <a:endParaRPr lang="ko-KR" sz="2800" dirty="0"/>
          </a:p>
        </p:txBody>
      </p:sp>
      <p:sp>
        <p:nvSpPr>
          <p:cNvPr id="10" name="S02-chip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2-text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첫째, 오른쪽으로 다니면 마주 오는 사람과 부딪히지 않습니다.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논설문의 짜임</a:t>
            </a:r>
            <a:endParaRPr lang="ko-KR" sz="4000" dirty="0"/>
          </a:p>
        </p:txBody>
      </p:sp>
      <p:sp>
        <p:nvSpPr>
          <p:cNvPr id="3" name="S03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논설문은 주장과 근거로 읽는 사람을 설득하는 글이에요.</a:t>
            </a:r>
            <a:endParaRPr lang="ko-KR" sz="2800" dirty="0"/>
          </a:p>
        </p:txBody>
      </p:sp>
      <p:sp>
        <p:nvSpPr>
          <p:cNvPr id="4" name="S03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본론의 근거마다 뒷받침 내용을 붙여요.</a:t>
            </a:r>
            <a:endParaRPr lang="ko-KR" sz="2800" dirty="0"/>
          </a:p>
        </p:txBody>
      </p:sp>
      <p:sp>
        <p:nvSpPr>
          <p:cNvPr id="6" name="S03-card1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주장</a:t>
            </a:r>
            <a:endParaRPr lang="ko-KR" sz="2800" dirty="0"/>
          </a:p>
        </p:txBody>
      </p:sp>
      <p:sp>
        <p:nvSpPr>
          <p:cNvPr id="8" name="S03-card1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뒷받침 내용</a:t>
            </a:r>
            <a:endParaRPr lang="ko-KR" sz="2800" dirty="0"/>
          </a:p>
        </p:txBody>
      </p:sp>
      <p:sp>
        <p:nvSpPr>
          <p:cNvPr id="10" name="S03-card1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강조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(내용 정리)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읽기 ①</a:t>
            </a:r>
            <a:endParaRPr lang="ko-KR" sz="40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서론의 문제 상황과 주장, 첫째 근거를 찾아봐요.</a:t>
            </a:r>
            <a:endParaRPr lang="ko-KR" sz="2800" dirty="0"/>
          </a:p>
        </p:txBody>
      </p:sp>
      <p:sp>
        <p:nvSpPr>
          <p:cNvPr id="5" name="S04-passagebox2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복도에서는 걸어 다닙시다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쉬는 시간이 되면 복도를 뛰어다니는 학생이 많습니다. 모퉁이에서 뛰다가 부딪혀 다친 친구도 있습니다. 우리는 복도에서 걸어 다녀야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복도에서 뛰면 부딪혀 다치기 쉽습니다. 복도는 좁고 모퉁이가 많아 마주 오는 사람이 잘 보이지 않습니다. 뛰다가 사람을 보면 바로 멈추기 어렵습니다.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읽기 ②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근거의 뒷받침 내용과 결론을 찾아봐요.</a:t>
            </a:r>
            <a:endParaRPr lang="ko-KR" sz="28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복도에서는 걸어 다닙시다(이어서)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뛰는 소리가 다른 사람에게 방해가 됩니다. 쉬는 시간에도 책을 읽거나 다음 수업을 준비하는 친구들이 있습니다. 쿵쿵 울리는 발소리는 이 친구들의 집중을 흐트러뜨립니다.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복도는 모두가 함께 쓰는 곳입니다. 나와 친구의 안전을 위해, 그리고 서로를 배려하기 위해 복도에서는 걸어 다닙시다.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개요표로 정리해요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개요표를 짜면 빠진 곳이 보여요.</a:t>
            </a:r>
            <a:endParaRPr lang="ko-KR" sz="2800" dirty="0"/>
          </a:p>
        </p:txBody>
      </p:sp>
      <p:graphicFrame>
        <p:nvGraphicFramePr>
          <p:cNvPr id="7" name="S06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420876"/>
          <a:ext cx="10515600" cy="914400"/>
        </p:xfrm>
        <a:graphic>
          <a:graphicData uri="http://schemas.openxmlformats.org/drawingml/2006/table">
            <a:tbl>
              <a:tblPr/>
              <a:tblGrid>
                <a:gridCol w="2944368"/>
                <a:gridCol w="7571232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쓸 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서론: 문제 상황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복도에서 뛰는 학생이 많아요.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서론: 주장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복도에서 걸어 다녀야 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본론: 근거 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부딪혀 다치기 쉬워요.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뒷받침 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복도가 좁고 모퉁이가 많아요.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본론: 근거 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뛰는 소리가 방해가 돼요.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뒷받침 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책을 읽고 수업을 준비하는 친구가 있어요.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안전과 배려를 위해 걸어 다녀요.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차례와 점검표</a:t>
            </a:r>
            <a:endParaRPr lang="ko-KR" sz="4000" dirty="0"/>
          </a:p>
        </p:txBody>
      </p:sp>
      <p:sp>
        <p:nvSpPr>
          <p:cNvPr id="3" name="S07-card3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점검표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서론에 문제 상황과 주장이 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근거마다 뒷받침 내용이 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근거가 타당한가요?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결론에서 주장을 강조했나요?</a:t>
            </a:r>
            <a:endParaRPr lang="ko-KR" sz="2800" dirty="0"/>
          </a:p>
        </p:txBody>
      </p:sp>
      <p:sp>
        <p:nvSpPr>
          <p:cNvPr id="5" name="S07-stepno34"/>
          <p:cNvSpPr txBox="1"/>
          <p:nvPr/>
        </p:nvSpPr>
        <p:spPr>
          <a:xfrm>
            <a:off x="548640" y="2108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35"/>
          <p:cNvSpPr txBox="1"/>
          <p:nvPr/>
        </p:nvSpPr>
        <p:spPr>
          <a:xfrm>
            <a:off x="1325880" y="2108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개요표를 보고 서론을 써요.</a:t>
            </a:r>
            <a:endParaRPr lang="ko-KR" sz="2800" dirty="0"/>
          </a:p>
        </p:txBody>
      </p:sp>
      <p:sp>
        <p:nvSpPr>
          <p:cNvPr id="7" name="S07-stepno36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37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문단을 나누어 본론을 써요.</a:t>
            </a:r>
            <a:endParaRPr lang="ko-KR" sz="2800" dirty="0"/>
          </a:p>
        </p:txBody>
      </p:sp>
      <p:sp>
        <p:nvSpPr>
          <p:cNvPr id="9" name="S07-stepno38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39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다시 강조하며 결론을 써요.</a:t>
            </a:r>
            <a:endParaRPr lang="ko-KR" sz="2800" dirty="0"/>
          </a:p>
        </p:txBody>
      </p:sp>
      <p:sp>
        <p:nvSpPr>
          <p:cNvPr id="11" name="S07-stepno40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41"/>
          <p:cNvSpPr txBox="1"/>
          <p:nvPr/>
        </p:nvSpPr>
        <p:spPr>
          <a:xfrm>
            <a:off x="1325880" y="48864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본론이 더 탄탄할까?</a:t>
            </a:r>
            <a:endParaRPr lang="ko-KR" sz="4000" dirty="0"/>
          </a:p>
        </p:txBody>
      </p:sp>
      <p:sp>
        <p:nvSpPr>
          <p:cNvPr id="3" name="S08-card4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‘급식은 먹을 만큼만 받자’의 본론을 두 친구가 이렇게 썼어요.</a:t>
            </a:r>
            <a:endParaRPr lang="ko-KR" sz="2800" dirty="0"/>
          </a:p>
        </p:txBody>
      </p:sp>
      <p:sp>
        <p:nvSpPr>
          <p:cNvPr id="5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근거를 더 잘 뒷받침하나요? 왜 그럴까요?</a:t>
            </a:r>
            <a:endParaRPr lang="ko-KR" sz="2800" dirty="0"/>
          </a:p>
        </p:txBody>
      </p:sp>
      <p:sp>
        <p:nvSpPr>
          <p:cNvPr id="7" name="S08-chip46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7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둘째, 먹을 만큼만 받으면 음식물 쓰레기가 줄어듭니다. 음식물 쓰레기는 정말 나쁩니다. 꼭 줄여야 합니다.</a:t>
            </a:r>
            <a:endParaRPr lang="ko-KR" sz="2200" dirty="0"/>
          </a:p>
        </p:txBody>
      </p:sp>
      <p:sp>
        <p:nvSpPr>
          <p:cNvPr id="9" name="S08-chip48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9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둘째, 먹을 만큼만 받으면 음식물 쓰레기가 줄어듭니다. 많이 받았다가 남긴 음식은 모두 버려지기 때문입니다.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뒷받침을 짝 지어요</a:t>
            </a:r>
            <a:endParaRPr lang="ko-KR" sz="4000" dirty="0"/>
          </a:p>
        </p:txBody>
      </p:sp>
      <p:sp>
        <p:nvSpPr>
          <p:cNvPr id="3" name="S09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쓰지 않는 전등은 끄자.</a:t>
            </a:r>
            <a:endParaRPr lang="ko-KR" sz="2800" dirty="0"/>
          </a:p>
        </p:txBody>
      </p:sp>
      <p:sp>
        <p:nvSpPr>
          <p:cNvPr id="4" name="S09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뒤에 ‘왜냐하면’을 붙여 가와 나를 이어 읽어요.</a:t>
            </a:r>
            <a:endParaRPr lang="ko-KR" sz="2800" dirty="0"/>
          </a:p>
        </p:txBody>
      </p:sp>
      <p:sp>
        <p:nvSpPr>
          <p:cNvPr id="6" name="S09-chip5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전기 요금을 줄일 수 있다.</a:t>
            </a:r>
            <a:endParaRPr lang="ko-KR" sz="2800" dirty="0"/>
          </a:p>
        </p:txBody>
      </p:sp>
      <p:sp>
        <p:nvSpPr>
          <p:cNvPr id="8" name="S09-chip5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환경을 지키는 데 도움이 된다.</a:t>
            </a:r>
            <a:endParaRPr lang="ko-KR" sz="2800" dirty="0"/>
          </a:p>
        </p:txBody>
      </p:sp>
      <p:sp>
        <p:nvSpPr>
          <p:cNvPr id="10" name="S09-chip5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1" name="S09-text5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만들 때 석탄이나 가스를 태우는 경우가 많다.</a:t>
            </a:r>
            <a:endParaRPr lang="ko-KR" sz="2800" dirty="0"/>
          </a:p>
        </p:txBody>
      </p:sp>
      <p:sp>
        <p:nvSpPr>
          <p:cNvPr id="12" name="S09-chip5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3" name="S09-text6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전기는 쓴 만큼 요금을 내므로,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쓰면 요금이 준다.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논설문 개요 짜기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하나 골라 활동지 3의 개요표를 채워요.</a:t>
            </a:r>
            <a:endParaRPr lang="ko-KR" sz="2800" dirty="0"/>
          </a:p>
        </p:txBody>
      </p:sp>
      <p:sp>
        <p:nvSpPr>
          <p:cNvPr id="4" name="S10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두 개, 근거마다 뒷받침 내용 하나씩!</a:t>
            </a:r>
            <a:endParaRPr lang="ko-KR" sz="2800" dirty="0"/>
          </a:p>
        </p:txBody>
      </p:sp>
      <p:sp>
        <p:nvSpPr>
          <p:cNvPr id="6" name="S10-card6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집은 일주일에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‘화면 없는 날’을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정해야 한다.</a:t>
            </a:r>
            <a:endParaRPr lang="ko-KR" sz="2800" dirty="0"/>
          </a:p>
        </p:txBody>
      </p:sp>
      <p:sp>
        <p:nvSpPr>
          <p:cNvPr id="8" name="S10-card6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6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 나가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움직이자.</a:t>
            </a:r>
            <a:endParaRPr lang="ko-KR" sz="2800" dirty="0"/>
          </a:p>
        </p:txBody>
      </p:sp>
      <p:sp>
        <p:nvSpPr>
          <p:cNvPr id="10" name="S10-card6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6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함께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하자.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11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개요표를 보고 활동지 4에 논설문을 써요.</a:t>
            </a:r>
            <a:endParaRPr lang="ko-KR" sz="2800" dirty="0"/>
          </a:p>
        </p:txBody>
      </p:sp>
      <p:sp>
        <p:nvSpPr>
          <p:cNvPr id="4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 활동지 5의 점검표로 확인하고 고쳐요.</a:t>
            </a:r>
            <a:endParaRPr lang="ko-KR" sz="2800" dirty="0"/>
          </a:p>
        </p:txBody>
      </p:sp>
      <p:sp>
        <p:nvSpPr>
          <p:cNvPr id="6" name="S11-chip7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1-text7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서론: 문제 상황과 주장</a:t>
            </a:r>
            <a:endParaRPr lang="ko-KR" sz="2800" dirty="0"/>
          </a:p>
        </p:txBody>
      </p:sp>
      <p:sp>
        <p:nvSpPr>
          <p:cNvPr id="8" name="S11-chip7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1-text7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본론: 근거 두 개와 뒷받침 내용</a:t>
            </a:r>
            <a:endParaRPr lang="ko-KR" sz="2800" dirty="0"/>
          </a:p>
        </p:txBody>
      </p:sp>
      <p:sp>
        <p:nvSpPr>
          <p:cNvPr id="10" name="S11-chip7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1-text7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주장을 다시 강조하기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돌아보기</a:t>
            </a:r>
            <a:endParaRPr lang="ko-KR" sz="4000" dirty="0"/>
          </a:p>
        </p:txBody>
      </p:sp>
      <p:sp>
        <p:nvSpPr>
          <p:cNvPr id="3" name="S12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 네 가지를 모두 갖추면 잘 쓴 논설문이에요.</a:t>
            </a:r>
            <a:endParaRPr lang="ko-KR" sz="28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ko-KR" sz="2800" dirty="0"/>
          </a:p>
        </p:txBody>
      </p:sp>
      <p:sp>
        <p:nvSpPr>
          <p:cNvPr id="7" name="S12-text8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+ 주장</a:t>
            </a:r>
            <a:endParaRPr lang="ko-KR" sz="2200" dirty="0"/>
          </a:p>
        </p:txBody>
      </p:sp>
      <p:sp>
        <p:nvSpPr>
          <p:cNvPr id="8" name="S12-text8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</a:t>
            </a:r>
            <a:endParaRPr lang="ko-KR" sz="2800" dirty="0"/>
          </a:p>
        </p:txBody>
      </p:sp>
      <p:sp>
        <p:nvSpPr>
          <p:cNvPr id="9" name="S12-text8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문단,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내용</a:t>
            </a:r>
            <a:endParaRPr lang="ko-KR" sz="2200" dirty="0"/>
          </a:p>
        </p:txBody>
      </p:sp>
      <p:sp>
        <p:nvSpPr>
          <p:cNvPr id="10" name="S12-text8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ko-KR" sz="2800" dirty="0"/>
          </a:p>
        </p:txBody>
      </p:sp>
      <p:sp>
        <p:nvSpPr>
          <p:cNvPr id="11" name="S12-text8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강조</a:t>
            </a:r>
            <a:endParaRPr lang="ko-KR" sz="2200" dirty="0"/>
          </a:p>
        </p:txBody>
      </p:sp>
      <p:sp>
        <p:nvSpPr>
          <p:cNvPr id="12" name="S12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근거만 나열</a:t>
            </a:r>
            <a:endParaRPr lang="ko-KR" sz="2800" dirty="0"/>
          </a:p>
        </p:txBody>
      </p:sp>
      <p:sp>
        <p:nvSpPr>
          <p:cNvPr id="14" name="S12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내용이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</a:t>
            </a:r>
            <a:endParaRPr lang="ko-KR" sz="2200" dirty="0"/>
          </a:p>
        </p:txBody>
      </p:sp>
      <p:sp>
        <p:nvSpPr>
          <p:cNvPr id="15" name="S12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결론에 새 근거</a:t>
            </a:r>
            <a:endParaRPr lang="ko-KR" sz="2800" dirty="0"/>
          </a:p>
        </p:txBody>
      </p:sp>
      <p:sp>
        <p:nvSpPr>
          <p:cNvPr id="16" name="S12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결론은 주장을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13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논설문에서 빠진 것 두 가지를 찾아요.</a:t>
            </a:r>
            <a:endParaRPr lang="ko-KR" sz="2800" dirty="0"/>
          </a:p>
        </p:txBody>
      </p:sp>
      <p:sp>
        <p:nvSpPr>
          <p:cNvPr id="5" name="S13-passagebox9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9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물건에 이름을 쓰자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교실에는 주인을 잃은 연필과 지우개가 많습니다. 우리는 물건에 이름을 써야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이름을 쓰면 잃어버린 물건의 주인을 쉽게 찾을 수 있습니다. 주운 사람이 이름을 보고 바로 돌려줄 수 있기 때문입니다.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이름을 쓰면 내 물건을 더 아끼게 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7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8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논설문은 서론(문제 상황 + 주장), 본론(근거 + 뒷받침 내용), 결론(주장 강조)으로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개요표, 쓴 뒤에 점검표!</a:t>
            </a:r>
            <a:endParaRPr lang="ko-KR" sz="2800" dirty="0"/>
          </a:p>
        </p:txBody>
      </p:sp>
      <p:sp>
        <p:nvSpPr>
          <p:cNvPr id="5" name="S14-chip99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근거마다 뒷받침 내용 쓰기</a:t>
            </a:r>
            <a:endParaRPr lang="ko-KR" sz="2200" dirty="0"/>
          </a:p>
        </p:txBody>
      </p:sp>
      <p:sp>
        <p:nvSpPr>
          <p:cNvPr id="6" name="S14-chip100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결론에 새 근거 넣기</a:t>
            </a:r>
            <a:endParaRPr lang="ko-KR" sz="2200" dirty="0"/>
          </a:p>
        </p:txBody>
      </p:sp>
      <p:sp>
        <p:nvSpPr>
          <p:cNvPr id="7" name="S14-text101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2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논설문 세 부분에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내용은?</a:t>
            </a:r>
            <a:endParaRPr lang="ko-KR" sz="2200" dirty="0"/>
          </a:p>
        </p:txBody>
      </p:sp>
      <p:sp>
        <p:nvSpPr>
          <p:cNvPr id="9" name="S14-text103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뒷받침 내용이란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무엇인가요?</a:t>
            </a:r>
            <a:endParaRPr lang="ko-KR" sz="2200" dirty="0"/>
          </a:p>
        </p:txBody>
      </p:sp>
      <p:sp>
        <p:nvSpPr>
          <p:cNvPr id="10" name="S14-text104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점검표의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기준은?</a:t>
            </a:r>
            <a:endParaRPr lang="ko-KR" sz="2200" dirty="0"/>
          </a:p>
        </p:txBody>
      </p:sp>
      <p:sp>
        <p:nvSpPr>
          <p:cNvPr id="11" name="S14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독자를 생각하며 고쳐 쓰기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서론·본론·결론</a:t>
            </a:r>
            <a:endParaRPr lang="ko-KR" sz="4000" dirty="0"/>
          </a:p>
        </p:txBody>
      </p:sp>
      <p:sp>
        <p:nvSpPr>
          <p:cNvPr id="3" name="S15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부분이 하는 일을 기억해요.</a:t>
            </a:r>
            <a:endParaRPr lang="ko-KR" sz="2800" dirty="0"/>
          </a:p>
        </p:txBody>
      </p:sp>
      <p:sp>
        <p:nvSpPr>
          <p:cNvPr id="4" name="S15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처음 · 가운데 · 끝에 맞추어 세 질문에 답해요.</a:t>
            </a:r>
            <a:endParaRPr lang="ko-KR" sz="2800" dirty="0"/>
          </a:p>
        </p:txBody>
      </p:sp>
      <p:sp>
        <p:nvSpPr>
          <p:cNvPr id="6" name="S15-word109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 — 무엇이 문제인가요? 어떻게 하자는 건가요?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상황과 주장</a:t>
            </a:r>
            <a:endParaRPr lang="ko-KR" sz="2800" dirty="0"/>
          </a:p>
        </p:txBody>
      </p:sp>
      <p:sp>
        <p:nvSpPr>
          <p:cNvPr id="7" name="S15-word110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 — 왜 그래야 하나요?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근거(첫째, 둘째)</a:t>
            </a:r>
            <a:endParaRPr lang="ko-KR" sz="2800" dirty="0"/>
          </a:p>
        </p:txBody>
      </p:sp>
      <p:sp>
        <p:nvSpPr>
          <p:cNvPr id="8" name="S15-word111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— 그러므로 꼭 이렇게 해요!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강조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논설문 쓰기</dc:title>
  <dc:subject>KR22-G06-KOR-PERSUADE-L01</dc:subject>
  <dc:creator>education-ppt</dc:creator>
  <cp:lastModifiedBy>education-ppt</cp:lastModifiedBy>
  <cp:revision>1</cp:revision>
  <dcterms:created xsi:type="dcterms:W3CDTF">2026-10-26T09:12:35Z</dcterms:created>
  <dcterms:modified xsi:type="dcterms:W3CDTF">2026-10-26T09:12:35Z</dcterms:modified>
</cp:coreProperties>
</file>