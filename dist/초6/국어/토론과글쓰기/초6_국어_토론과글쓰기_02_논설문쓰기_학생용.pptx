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9871a43-0128-baae-f738-00dd53dedfd5}">
          <p14:sldIdLst>
            <p14:sldId id="256"/>
            <p14:sldId id="257"/>
          </p14:sldIdLst>
        </p14:section>
        <p14:section name="개념" id="{c86182f0-114e-6023-bfaa-cca8aad44f78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dad0b2c6-fbfa-20a3-b9e6-aaae1b83dc8d}">
          <p14:sldIdLst>
            <p14:sldId id="263"/>
            <p14:sldId id="264"/>
            <p14:sldId id="265"/>
          </p14:sldIdLst>
        </p14:section>
        <p14:section name="확인" id="{5227e7da-3560-f026-6d22-f2945fc9fa83}">
          <p14:sldIdLst>
            <p14:sldId id="266"/>
            <p14:sldId id="267"/>
          </p14:sldIdLst>
        </p14:section>
        <p14:section name="정리" id="{f3f3b1e3-a6fe-77f2-5211-b67962107266}">
          <p14:sldIdLst>
            <p14:sldId id="268"/>
          </p14:sldIdLst>
        </p14:section>
        <p14:section name="보충" id="{756137f5-2156-695e-2694-6af823cfb99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토론과글쓰기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논설문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논설문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논설문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사람을 설득하는 글은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쓸까?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논설문의 짜임에 맞게 개요표를 짤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개요표로 논설문을 쓰고 점검표로 고칠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부분일까요?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글의 서론·본론·결론 가운데 어디일까요?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· 근거 · 주장 강조를 찾아요.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그러므로 우리 모두 계단에서는 오른쪽으로 걸어 다닙시다.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 계단에서 부딪히는 일이 잦습니다. 우리는 계단에서 오른쪽으로 다녀야 합니다.</a:t>
            </a:r>
            <a:endParaRPr lang="ko-KR" sz="2800" dirty="0"/>
          </a:p>
        </p:txBody>
      </p:sp>
      <p:sp>
        <p:nvSpPr>
          <p:cNvPr id="10" name="S02-chip1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2-text1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첫째, 오른쪽으로 다니면 마주 오는 사람과 부딪히지 않습니다.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논설문의 짜임</a:t>
            </a:r>
            <a:endParaRPr lang="ko-KR" sz="4000" dirty="0"/>
          </a:p>
        </p:txBody>
      </p:sp>
      <p:sp>
        <p:nvSpPr>
          <p:cNvPr id="3" name="S03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논설문은 주장과 근거로 읽는 사람을 설득하는 글이에요.</a:t>
            </a:r>
            <a:endParaRPr lang="ko-KR" sz="2800" dirty="0"/>
          </a:p>
        </p:txBody>
      </p:sp>
      <p:sp>
        <p:nvSpPr>
          <p:cNvPr id="4" name="S03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본론의 근거마다 뒷받침 내용을 붙여요.</a:t>
            </a:r>
            <a:endParaRPr lang="ko-KR" sz="2800" dirty="0"/>
          </a:p>
        </p:txBody>
      </p:sp>
      <p:sp>
        <p:nvSpPr>
          <p:cNvPr id="6" name="S03-card1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주장</a:t>
            </a:r>
            <a:endParaRPr lang="ko-KR" sz="2800" dirty="0"/>
          </a:p>
        </p:txBody>
      </p:sp>
      <p:sp>
        <p:nvSpPr>
          <p:cNvPr id="8" name="S03-card1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뒷받침 내용</a:t>
            </a:r>
            <a:endParaRPr lang="ko-KR" sz="2800" dirty="0"/>
          </a:p>
        </p:txBody>
      </p:sp>
      <p:sp>
        <p:nvSpPr>
          <p:cNvPr id="10" name="S03-card1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강조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(내용 정리)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읽기 ①</a:t>
            </a:r>
            <a:endParaRPr lang="ko-KR" sz="40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서론의 문제 상황과 주장, 첫째 근거를 찾아봐요.</a:t>
            </a:r>
            <a:endParaRPr lang="ko-KR" sz="2800" dirty="0"/>
          </a:p>
        </p:txBody>
      </p:sp>
      <p:sp>
        <p:nvSpPr>
          <p:cNvPr id="5" name="S04-passagebox2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복도에서는 걸어 다닙시다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쉬는 시간이 되면 복도를 뛰어다니는 학생이 많습니다. 모퉁이에서 뛰다가 부딪혀 다친 친구도 있습니다. 우리는 복도에서 걸어 다녀야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복도에서 뛰면 부딪혀 다치기 쉽습니다. 복도는 좁고 모퉁이가 많아 마주 오는 사람이 잘 보이지 않습니다. 뛰다가 사람을 보면 바로 멈추기 어렵습니다.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읽기 ②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근거의 뒷받침 내용과 결론을 찾아봐요.</a:t>
            </a:r>
            <a:endParaRPr lang="ko-KR" sz="28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복도에서는 걸어 다닙시다(이어서)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뛰는 소리가 다른 사람에게 방해가 됩니다. 쉬는 시간에도 책을 읽거나 다음 수업을 준비하는 친구들이 있습니다. 쿵쿵 울리는 발소리는 이 친구들의 집중을 흐트러뜨립니다.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복도는 모두가 함께 쓰는 곳입니다. 나와 친구의 안전을 위해, 그리고 서로를 배려하기 위해 복도에서는 걸어 다닙시다.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개요표로 정리해요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개요표를 짜면 빠진 곳이 보여요.</a:t>
            </a:r>
            <a:endParaRPr lang="ko-KR" sz="2800" dirty="0"/>
          </a:p>
        </p:txBody>
      </p:sp>
      <p:graphicFrame>
        <p:nvGraphicFramePr>
          <p:cNvPr id="7" name="S06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420876"/>
          <a:ext cx="10515600" cy="914400"/>
        </p:xfrm>
        <a:graphic>
          <a:graphicData uri="http://schemas.openxmlformats.org/drawingml/2006/table">
            <a:tbl>
              <a:tblPr/>
              <a:tblGrid>
                <a:gridCol w="2944368"/>
                <a:gridCol w="7571232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쓸 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서론: 문제 상황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복도에서 뛰는 학생이 많아요.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서론: 주장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복도에서 걸어 다녀야 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본론: 근거 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부딪혀 다치기 쉬워요.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뒷받침 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복도가 좁고 모퉁이가 많아요.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본론: 근거 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뛰는 소리가 방해가 돼요.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뒷받침 내용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책을 읽고 수업을 준비하는 친구가 있어요.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안전과 배려를 위해 걸어 다녀요.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차례와 점검표</a:t>
            </a:r>
            <a:endParaRPr lang="ko-KR" sz="4000" dirty="0"/>
          </a:p>
        </p:txBody>
      </p:sp>
      <p:sp>
        <p:nvSpPr>
          <p:cNvPr id="3" name="S07-card3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 점검표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서론에 문제 상황과 주장이 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근거마다 뒷받침 내용이 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근거가 타당한가요?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결론에서 주장을 강조했나요?</a:t>
            </a:r>
            <a:endParaRPr lang="ko-KR" sz="2800" dirty="0"/>
          </a:p>
        </p:txBody>
      </p:sp>
      <p:sp>
        <p:nvSpPr>
          <p:cNvPr id="5" name="S07-stepno34"/>
          <p:cNvSpPr txBox="1"/>
          <p:nvPr/>
        </p:nvSpPr>
        <p:spPr>
          <a:xfrm>
            <a:off x="548640" y="2108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35"/>
          <p:cNvSpPr txBox="1"/>
          <p:nvPr/>
        </p:nvSpPr>
        <p:spPr>
          <a:xfrm>
            <a:off x="1325880" y="2108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개요표를 보고 서론을 써요.</a:t>
            </a:r>
            <a:endParaRPr lang="ko-KR" sz="2800" dirty="0"/>
          </a:p>
        </p:txBody>
      </p:sp>
      <p:sp>
        <p:nvSpPr>
          <p:cNvPr id="7" name="S07-stepno36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37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문단을 나누어 본론을 써요.</a:t>
            </a:r>
            <a:endParaRPr lang="ko-KR" sz="2800" dirty="0"/>
          </a:p>
        </p:txBody>
      </p:sp>
      <p:sp>
        <p:nvSpPr>
          <p:cNvPr id="9" name="S07-stepno38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39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다시 강조하며 결론을 써요.</a:t>
            </a:r>
            <a:endParaRPr lang="ko-KR" sz="2800" dirty="0"/>
          </a:p>
        </p:txBody>
      </p:sp>
      <p:sp>
        <p:nvSpPr>
          <p:cNvPr id="11" name="S07-stepno40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41"/>
          <p:cNvSpPr txBox="1"/>
          <p:nvPr/>
        </p:nvSpPr>
        <p:spPr>
          <a:xfrm>
            <a:off x="1325880" y="48864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본론이 더 탄탄할까?</a:t>
            </a:r>
            <a:endParaRPr lang="ko-KR" sz="4000" dirty="0"/>
          </a:p>
        </p:txBody>
      </p:sp>
      <p:sp>
        <p:nvSpPr>
          <p:cNvPr id="3" name="S08-card4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‘급식은 먹을 만큼만 받자’의 본론을 두 친구가 이렇게 썼어요.</a:t>
            </a:r>
            <a:endParaRPr lang="ko-KR" sz="2800" dirty="0"/>
          </a:p>
        </p:txBody>
      </p:sp>
      <p:sp>
        <p:nvSpPr>
          <p:cNvPr id="5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근거를 더 잘 뒷받침하나요? 왜 그럴까요?</a:t>
            </a:r>
            <a:endParaRPr lang="ko-KR" sz="2800" dirty="0"/>
          </a:p>
        </p:txBody>
      </p:sp>
      <p:sp>
        <p:nvSpPr>
          <p:cNvPr id="7" name="S08-chip46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7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둘째, 먹을 만큼만 받으면 음식물 쓰레기가 줄어듭니다. 음식물 쓰레기는 정말 나쁩니다. 꼭 줄여야 합니다.</a:t>
            </a:r>
            <a:endParaRPr lang="ko-KR" sz="2200" dirty="0"/>
          </a:p>
        </p:txBody>
      </p:sp>
      <p:sp>
        <p:nvSpPr>
          <p:cNvPr id="9" name="S08-chip48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9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둘째, 먹을 만큼만 받으면 음식물 쓰레기가 줄어듭니다. 많이 받았다가 남긴 음식은 모두 버려지기 때문입니다.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근거와 뒷받침을 짝 지어요</a:t>
            </a:r>
            <a:endParaRPr lang="ko-KR" sz="4000" dirty="0"/>
          </a:p>
        </p:txBody>
      </p:sp>
      <p:sp>
        <p:nvSpPr>
          <p:cNvPr id="3" name="S09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쓰지 않는 전등은 끄자.</a:t>
            </a:r>
            <a:endParaRPr lang="ko-KR" sz="2800" dirty="0"/>
          </a:p>
        </p:txBody>
      </p:sp>
      <p:sp>
        <p:nvSpPr>
          <p:cNvPr id="4" name="S09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뒤에 ‘왜냐하면’을 붙여 가와 나를 이어 읽어요.</a:t>
            </a:r>
            <a:endParaRPr lang="ko-KR" sz="2800" dirty="0"/>
          </a:p>
        </p:txBody>
      </p:sp>
      <p:sp>
        <p:nvSpPr>
          <p:cNvPr id="6" name="S09-chip5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전기 요금을 줄일 수 있다.</a:t>
            </a:r>
            <a:endParaRPr lang="ko-KR" sz="2800" dirty="0"/>
          </a:p>
        </p:txBody>
      </p:sp>
      <p:sp>
        <p:nvSpPr>
          <p:cNvPr id="8" name="S09-chip5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환경을 지키는 데 도움이 된다.</a:t>
            </a:r>
            <a:endParaRPr lang="ko-KR" sz="2800" dirty="0"/>
          </a:p>
        </p:txBody>
      </p:sp>
      <p:sp>
        <p:nvSpPr>
          <p:cNvPr id="10" name="S09-chip5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1" name="S09-text5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만들 때 석탄이나 가스를 태우는 경우가 많다.</a:t>
            </a:r>
            <a:endParaRPr lang="ko-KR" sz="2800" dirty="0"/>
          </a:p>
        </p:txBody>
      </p:sp>
      <p:sp>
        <p:nvSpPr>
          <p:cNvPr id="12" name="S09-chip5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3" name="S09-text6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전기는 쓴 만큼 요금을 내므로,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쓰면 요금이 준다.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논설문 개요 짜기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하나 골라 활동지 3의 개요표를 채워요.</a:t>
            </a:r>
            <a:endParaRPr lang="ko-KR" sz="2800" dirty="0"/>
          </a:p>
        </p:txBody>
      </p:sp>
      <p:sp>
        <p:nvSpPr>
          <p:cNvPr id="4" name="S10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두 개, 근거마다 뒷받침 내용 하나씩!</a:t>
            </a:r>
            <a:endParaRPr lang="ko-KR" sz="2800" dirty="0"/>
          </a:p>
        </p:txBody>
      </p:sp>
      <p:sp>
        <p:nvSpPr>
          <p:cNvPr id="6" name="S10-card6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집은 일주일에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‘화면 없는 날’을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정해야 한다.</a:t>
            </a:r>
            <a:endParaRPr lang="ko-KR" sz="2800" dirty="0"/>
          </a:p>
        </p:txBody>
      </p:sp>
      <p:sp>
        <p:nvSpPr>
          <p:cNvPr id="8" name="S10-card6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6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 나가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움직이자.</a:t>
            </a:r>
            <a:endParaRPr lang="ko-KR" sz="2800" dirty="0"/>
          </a:p>
        </p:txBody>
      </p:sp>
      <p:sp>
        <p:nvSpPr>
          <p:cNvPr id="10" name="S10-card6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6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함께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하자.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11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개요표를 보고 활동지 4에 논설문을 써요.</a:t>
            </a:r>
            <a:endParaRPr lang="ko-KR" sz="2800" dirty="0"/>
          </a:p>
        </p:txBody>
      </p:sp>
      <p:sp>
        <p:nvSpPr>
          <p:cNvPr id="4" name="S11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 활동지 5의 점검표로 확인하고 고쳐요.</a:t>
            </a:r>
            <a:endParaRPr lang="ko-KR" sz="2800" dirty="0"/>
          </a:p>
        </p:txBody>
      </p:sp>
      <p:sp>
        <p:nvSpPr>
          <p:cNvPr id="6" name="S11-chip7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1-text7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서론: 문제 상황과 주장</a:t>
            </a:r>
            <a:endParaRPr lang="ko-KR" sz="2800" dirty="0"/>
          </a:p>
        </p:txBody>
      </p:sp>
      <p:sp>
        <p:nvSpPr>
          <p:cNvPr id="8" name="S11-chip7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1-text7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본론: 근거 두 개와 뒷받침 내용</a:t>
            </a:r>
            <a:endParaRPr lang="ko-KR" sz="2800" dirty="0"/>
          </a:p>
        </p:txBody>
      </p:sp>
      <p:sp>
        <p:nvSpPr>
          <p:cNvPr id="10" name="S11-chip7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1-text7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주장을 다시 강조하기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13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논설문에서 빠진 것 두 가지를 찾아요.</a:t>
            </a:r>
            <a:endParaRPr lang="ko-KR" sz="2800" dirty="0"/>
          </a:p>
        </p:txBody>
      </p:sp>
      <p:sp>
        <p:nvSpPr>
          <p:cNvPr id="5" name="S13-passagebox8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8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물건에 이름을 쓰자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교실에는 주인을 잃은 연필과 지우개가 많습니다. 우리는 물건에 이름을 써야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이름을 쓰면 잃어버린 물건의 주인을 쉽게 찾을 수 있습니다. 주운 사람이 이름을 보고 바로 돌려줄 수 있기 때문입니다.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이름을 쓰면 내 물건을 더 아끼게 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3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4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논설문은 서론(문제 상황 + 주장), 본론(근거 + 뒷받침 내용), 결론(주장 강조)으로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개요표, 쓴 뒤에 점검표!</a:t>
            </a:r>
            <a:endParaRPr lang="ko-KR" sz="2800" dirty="0"/>
          </a:p>
        </p:txBody>
      </p:sp>
      <p:sp>
        <p:nvSpPr>
          <p:cNvPr id="5" name="S14-chip85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근거마다 뒷받침 내용 쓰기</a:t>
            </a:r>
            <a:endParaRPr lang="ko-KR" sz="2200" dirty="0"/>
          </a:p>
        </p:txBody>
      </p:sp>
      <p:sp>
        <p:nvSpPr>
          <p:cNvPr id="6" name="S14-chip86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결론에 새 근거 넣기</a:t>
            </a:r>
            <a:endParaRPr lang="ko-KR" sz="2200" dirty="0"/>
          </a:p>
        </p:txBody>
      </p:sp>
      <p:sp>
        <p:nvSpPr>
          <p:cNvPr id="7" name="S14-text87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8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논설문 세 부분에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내용은?</a:t>
            </a:r>
            <a:endParaRPr lang="ko-KR" sz="2200" dirty="0"/>
          </a:p>
        </p:txBody>
      </p:sp>
      <p:sp>
        <p:nvSpPr>
          <p:cNvPr id="9" name="S14-text89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뒷받침 내용이란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무엇인가요?</a:t>
            </a:r>
            <a:endParaRPr lang="ko-KR" sz="2200" dirty="0"/>
          </a:p>
        </p:txBody>
      </p:sp>
      <p:sp>
        <p:nvSpPr>
          <p:cNvPr id="10" name="S14-text90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점검표의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기준은?</a:t>
            </a:r>
            <a:endParaRPr lang="ko-KR" sz="2200" dirty="0"/>
          </a:p>
        </p:txBody>
      </p:sp>
      <p:sp>
        <p:nvSpPr>
          <p:cNvPr id="11" name="S14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독자를 생각하며 고쳐 쓰기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서론·본론·결론</a:t>
            </a:r>
            <a:endParaRPr lang="ko-KR" sz="4000" dirty="0"/>
          </a:p>
        </p:txBody>
      </p:sp>
      <p:sp>
        <p:nvSpPr>
          <p:cNvPr id="3" name="S15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부분이 하는 일을 기억해요.</a:t>
            </a:r>
            <a:endParaRPr lang="ko-KR" sz="2800" dirty="0"/>
          </a:p>
        </p:txBody>
      </p:sp>
      <p:sp>
        <p:nvSpPr>
          <p:cNvPr id="4" name="S15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처음 · 가운데 · 끝에 맞추어 세 질문에 답해요.</a:t>
            </a:r>
            <a:endParaRPr lang="ko-KR" sz="2800" dirty="0"/>
          </a:p>
        </p:txBody>
      </p:sp>
      <p:sp>
        <p:nvSpPr>
          <p:cNvPr id="6" name="S15-word95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 — 무엇이 문제인가요? 어떻게 하자는 건가요?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상황과 주장</a:t>
            </a:r>
            <a:endParaRPr lang="ko-KR" sz="2800" dirty="0"/>
          </a:p>
        </p:txBody>
      </p:sp>
      <p:sp>
        <p:nvSpPr>
          <p:cNvPr id="7" name="S15-word96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 — 왜 그래야 하나요?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근거(첫째, 둘째)</a:t>
            </a:r>
            <a:endParaRPr lang="ko-KR" sz="2800" dirty="0"/>
          </a:p>
        </p:txBody>
      </p:sp>
      <p:sp>
        <p:nvSpPr>
          <p:cNvPr id="8" name="S15-word97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— 그러므로 꼭 이렇게 해요!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강조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논설문 쓰기</dc:title>
  <dc:subject>KR22-G06-KOR-PERSUADE-L01</dc:subject>
  <dc:creator>education-ppt</dc:creator>
  <cp:lastModifiedBy>education-ppt</cp:lastModifiedBy>
  <cp:revision>1</cp:revision>
  <dcterms:created xsi:type="dcterms:W3CDTF">2026-10-26T09:12:35Z</dcterms:created>
  <dcterms:modified xsi:type="dcterms:W3CDTF">2026-10-26T09:12:35Z</dcterms:modified>
</cp:coreProperties>
</file>