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d686e59-bc88-7ee6-35b7-f5a8692a9848}">
          <p14:sldIdLst>
            <p14:sldId id="256"/>
            <p14:sldId id="257"/>
          </p14:sldIdLst>
        </p14:section>
        <p14:section name="개념" id="{91c75a6e-3ed2-6c33-e73c-b94b63b4d438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1a4a6f92-65b0-6cc6-6050-ddda2e1babc1}">
          <p14:sldIdLst>
            <p14:sldId id="263"/>
            <p14:sldId id="264"/>
            <p14:sldId id="265"/>
          </p14:sldIdLst>
        </p14:section>
        <p14:section name="확인" id="{d6bfd57e-bdd7-46d0-d889-a0f9791d7dd4}">
          <p14:sldIdLst>
            <p14:sldId id="266"/>
            <p14:sldId id="267"/>
            <p14:sldId id="268"/>
          </p14:sldIdLst>
        </p14:section>
        <p14:section name="정리" id="{2f4f8664-3f21-8f69-aff3-c344ae3231f1}">
          <p14:sldIdLst>
            <p14:sldId id="269"/>
          </p14:sldIdLst>
        </p14:section>
        <p14:section name="보충" id="{1c94fbc6-b8cc-59c4-77e7-a0a573ec1ff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생각이 다를 때 말다툼과 토론이 어떻게 다른지 떠올리게 하며 오늘 배울 것을 알립니다.
시간: 약 2분
이렇게 말해 보세요
- “친구와 생각이 달라서 말다툼이 된 적 있어? 그때 어떻게 끝났어?”
- “생각이 다를 때 목소리 크기로 겨루지 않고, 차례를 지키며 근거로 겨루는 것을 ‘토론’이라고 해. 오늘은 엄마(아빠)랑 진짜로 토론을 해 볼 거야.”
예상 답
- “서로 화가 나서 그냥 끝났어요.” “목소리 큰 사람이 이겼어요.”
막히면
- “동생(친구)과 텔레비전 채널을 두고 다툰 적 있어?”처럼 가까운 예를 꺼내 줍니다.
주의
- 다툰 경험을 꾸짖지 않습니다. ‘그때 근거를 들어 차례대로 말했다면 어땠을까?’로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확인(의견과 근거 견주기)]
목적: 5학년 ‘토의 결과 정리’(KR22-G05-KOR-DEBATE-L01)에서 배운, 의견마다 근거를 찾고 기준으로 견주는 힘이 있는지 확인합니다. 토론에서도 상대 의견의 근거를 듣고 따지는 힘이 필요합니다.
시간: 약 3분
이렇게 말해 보세요
- “두 사람의 의견과 근거를 각각 말해 볼래?”
- “5학년 때 배운 두 기준(문제를 해결하나요? 모두 지킬 수 있나요?)으로 견주면 무엇으로 정하면 좋을까?”
정답
- ① 엄마: 의견 — 신발은 모두 신발장에 넣자 / 근거 — 현관이 넓어진다
- ② 나: 의견 — 날마다 신는 신발 한 켤레만 꺼내 두자 / 근거 — 아침에 바로 신을 수 있다
- 결정 예: 한 사람에 한 켤레만 꺼내 두고 나머지는 신발장에 넣는다(두 의견을 합침). 기준을 들어 까닭을 말하면 다른 결정도 맞음
막히면
- “엄마는 무엇을 하자고 했어? 왜 그러자고 했어?”로 나누어 묻습니다.
- 의견과 근거를 나누지 못하면 S15(보충)를 먼저 하고, 그래도 어려우면 5학년 ‘토의 결과 정리’(KR22-G05-KOR-DEBATE-L01)를 다시 합니다.
주의
- 토의에서는 이렇게 의견을 합쳐도 됩니다. 오늘 배울 토론은 찬성과 반대로 나뉘어 겨룬다는 점이 다르다고 S03에서 이어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토의와 토론, 논제]
목적: 토의와 토론의 차이, 토론의 주제인 ‘논제’를 알려 줍니다(목표 A, 오해 M3).
시간: 약 2분
이렇게 말해 보세요
- “신발 정리처럼 함께 좋은 방법을 찾는 건 토의야. 토론은 한 가지 주장, 곧 논제를 두고 찬성편과 반대편으로 나뉘어 겨뤄.”
- “논제는 ‘학급 문고 책을 집에 빌려 가게 해야 한다’처럼 ‘~해야 한다’로 써. 그래야 찬성과 반대가 분명해지거든.”
예상 답
- “토의는 같이 정하는 거고, 토론은 편을 나눠서 겨루는 거예요.”
막히면
- “‘주말에 어디 갈까?’는 토의야, 토론이야? ‘주말에는 꼭 밖에 나가야 한다’는?”이라고 두 문장을 견주어 줍니다.
주의
- 토론에서 맡은 편이 자기 진짜 생각과 달라도 괜찮습니다. 판정이 끝난 뒤 진짜 생각을 나누면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찬반 토론의 차례]
목적: 찬반 토론의 차례와 단계마다 하는 일을 알려 줍니다(목표 A).
시간: 약 3분
이렇게 말해 보세요
- “토론은 이 차례로 해. 먼저 찬성편, 그다음 반대편이 주장을 펼쳐. 그다음 서로의 근거에 반론하고, 마지막으로 우리 주장을 한 번 더 다져.”
- “사회자는 차례와 시간을 지키게 해 줘. 오늘은 엄마(아빠)가 사회자와 상대편을 함께 맡을게.”
- “판정은 누가 이겼는지 정하는 거야. 목소리 크기가 아니라 기준으로 정해. 기준은 이따 볼 거야.”
예상 답
- “주장 펼치기, 반론하기, 주장 다지기 순서예요.”
막히면
- 손가락 세 개를 펴고 ‘펼치기, 반론, 다지기’를 함께 소리 내어 말해 봅니다.
주의
- 토론의 차례는 교실마다 조금씩 다를 수 있습니다(반론 뒤에 질문을 주고받는 단계를 넣기도 합니다). 오늘은 세 단계와 판정만 익히면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예시 토론 읽기(주장 펼치기)]
목적: 예시 토론의 주장 펼치기를 읽으며 ‘주장 + 근거’로 말하는 모습을 보여 줍니다(목표 A). 하윤과 도현은 가상의 학생입니다.
시간: 약 3분
이렇게 말해 보세요
- “엄마(아빠)가 하윤이를 읽을게. 너는 도현이를 읽어 줄래?”
- “하윤이는 먼저 ‘찬성합니다’라고 편을 밝히고, 왜 찬성하는지 근거를 댔어. 도현이의 주장과 근거는 네가 찾아볼래?”
예상 답
- “도현이는 반대하고, 책을 잃어버리거나 찢어질 수 있대요.”
정답
- 찬성(하윤): 근거 — 학교에서는 시간이 짧아 끝까지 읽기 어렵다, 집에서는 끝까지 읽을 수 있다
- 반대(도현): 근거 — 잃어버리거나 찢어질 수 있다, 그러면 다른 친구들이 읽지 못한다
막히면
- “도현이가 왜 반대한대?”라고 묻고 ‘~ 수 있습니다’ 문장에 손가락을 대게 합니다.
주의
- 주장 펼치기에서는 편을 먼저 밝히고(‘찬성합니다’), 근거를 ‘첫째, 둘째’로 나누어 말하면 듣는 사람이 알아듣기 쉽다고 덧붙여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예시 토론 읽기(반론하기)]
목적: 상대의 근거를 먼저 되짚고 그 약한 점을 짚는 반론의 모습을 보여 줍니다(목표 B).
시간: 약 3분
이렇게 말해 보세요
- “이번에도 역할을 나누어 읽어 보자.”
- “도현이는 ‘찬성편은 ~라고 했습니다’로 시작했어. 상대 말을 먼저 받아 준 거야. 그다음 ‘하지만’ 뒤에 그 근거의 약한 점을 말했지.”
- “하윤이는 어떤 말을 받아서 반론했어? 무엇으로 약한 점을 메웠어?”
예상 답
- “하윤이는 책을 잃어버릴 수 있다는 말을 받아서, 공책에 적으면 줄일 수 있다고 했어요.”
정답
- 도현: ‘학교에서 끝까지 읽기 어렵다’를 받아, 아침 독서 시간에 이어 읽으면 된다고 반론함
- 하윤: ‘책을 잃어버릴 수 있다’를 받아, 빌린 사람과 날짜를 적으면 줄일 수 있다고 반론함
막히면
- S05의 근거와 S06의 반론을 번갈아 보여 주며 “이 반론은 S05의 어느 말에 대한 대답이야?”라고 짝을 짓게 합니다.
주의
- 반론은 상대 근거가 뒷받침하지 못하는 점, 사실이 아닌 점, 해결할 방법이 있는 점을 짚습니다. 지난 시간의 세 기준(뒷받침·사실·출처)이 반론의 좋은 도구라고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반론의 틀, 주장 다지기, 예의]
목적: 반론과 주장 다지기에서 쓰는 말의 틀과 토론의 예의를 알려 줍니다(목표 A·B, 오해 M1·M2).
시간: 약 2분
이렇게 말해 보세요
- “반론은 세 걸음이야. 상대 말을 받고, 약한 점을 짚고, 내 근거를 대. 카드의 말을 같이 읽어 볼까?”
- “주장 다지기는 상대의 반론을 인정할 건 인정하면서, 그래도 우리 주장이 옳은 까닭을 한 번 더 말하는 거야. 예를 들어 하윤이라면 ‘잃어버릴 수 있다는 반론이 있었지만, 공책에 적으면 줄일 수 있으니 그래도 빌려 가게 해야 합니다.’라고 할 수 있어.”
예상 답
- “상대 말을 먼저 말하고, 그다음 틀린 점을 말해요.”
막히면
- S06의 도현이 반론을 세 걸음으로 나누어 손가락으로 짚어 줍니다(‘찬성편은 ~라고 했습니다’ / ‘하지만’ / ‘아침 독서 시간에…’).
주의
- 아이가 지치면 여기서 쉬고, 다음 날 S08부터 이어도 됩니다. 우리 집 토론(S11)은 시간이 넉넉할 때 하는 것이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비교(사람을 탓하는 반론)]
목적: 반론은 사람이 아니라 근거를 겨누어야 한다는 것을 비교로 확인합니다(목표 B, 오해 M1).
시간: 약 2분
이렇게 말해 보세요
- “가는 무엇을 따졌어? 도현이의 근거야, 도현이라는 사람이야?”
- “가처럼 말하면 도현이 기분은 어떨까? 토론이 어떻게 될까?”
정답
- 나. 상대의 말을 받아(‘잃어버릴 수 있다고 했는데’) 근거의 약한 점을 해결 방법으로 짚었습니다.
- 가는 도현이의 버릇을 탓했을 뿐, ‘책을 잃어버릴 수 있다’는 근거가 왜 약한지는 말하지 않았습니다. 예의에도 어긋납니다.
막히면
- “누가 네 근거 대신 ‘너는 원래 그렇잖아’라고 하면 어떤 기분이야?”라고 묻습니다.
주의
- 가를 고른 까닭이 ‘더 세게 말해서’라면, 토론의 판정 기준은 목소리나 말투의 세기가 아니라 근거라는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반론 만들기]
목적: 상대 근거를 받아 약한 점을 짚는 반론을 직접 말해 봅니다(목표 B, 오해 M2). ②는 지난 시간의 ‘사실’ 기준(부풀린 말)을 반론에 쓰는 연습입니다.
시간: 약 3분
이렇게 말해 보세요
- “①에 반론해 볼래? 먼저 ‘~라고 했는데’로 상대 말을 받아 봐.”
- “②의 근거는 지난 시간에 배운 세 기준 가운데 어디에 걸릴까?”
정답
- ① 예: 늦게 돌려줄 수 있다고 했는데, 빌리는 기간을 일주일로 정하면 다른 친구가 오래 기다리지 않습니다.
- ② 예: 누구나 게임을 먼저 한다고 했는데, 그것은 확인할 수 없는 부풀린 말입니다. 저녁에 책을 읽는 친구도 있습니다.
- 기준: 상대 말을 받고, 약한 점(해결 방법·부풀린 말 등)을 짚고, 내 근거를 대면 잘함
막히면
- “늦게 돌려주지 않게 하려면 어떤 약속을 정하면 될까?”처럼 해결 방법을 먼저 떠올리게 합니다.
주의
- 아이가 ‘그건 아니에요’만 말하면 “왜 아니야? 근거를 하나 대 볼래?”라고 이어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토론 준비(편 정하기, 근거, 예상 반론)]
목적: 우리 집 토론의 논제를 보고 편을 정해 근거 두 개를 준비하고, 상대의 근거를 예상합니다(목표 A). ‘화면 없는 날’은 휴대 전화·텔레비전·컴퓨터 화면을 쓰지 않는 날을 뜻합니다.
시간: 약 4분
이렇게 말해 보세요
- “‘화면 없는 날’은 휴대 전화, 텔레비전, 컴퓨터를 하루 동안 쓰지 않는 날이야. 너는 찬성편과 반대편 중 어느 편을 맡을래? 엄마(아빠)는 다른 편을 맡을게.”
- “활동지 2에 근거 두 개를 써 봐. 지난 시간의 세 기준으로 점검해. 그리고 엄마(아빠)가 낼 근거를 하나 예상해서 반론도 준비해 봐.”
예상 답
- 찬성 근거 예: 가족끼리 이야기하는 시간이 늘어난다. / 눈을 쉬게 할 수 있다. / 책 읽기나 보드게임처럼 다른 놀이를 할 시간이 생긴다.
- 반대 근거 예: 숙제를 하려고 컴퓨터를 써야 할 때가 있다. / 화면을 보는 시간을 날마다 조금씩 줄이는 편이 더 지키기 쉽다. / 멀리 사는 가족과 영상 통화를 못 한다.
막히면
- “화면 없는 날에 우리 가족은 무엇을 할 수 있을까? 어떤 점이 불편할까?”라고 좋은 점과 불편한 점을 먼저 떠올리게 합니다.
- 편을 고르지 못하면 아이가 더 하고 싶은 쪽을 고르게 합니다.
주의
- 아이가 반대편을 골라도 괜찮습니다. 부모는 아이가 고르지 않은 편을 맡고, 아이가 정한 근거를 고쳐 주지 않습니다. 근거가 부풀린 말(예: ‘화면을 보면 누구나 눈이 나빠진다’)이면 “그건 사실 기준을 통과할까?”라고만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우리 집 토론(부모와 아이)]
목적: 부모와 아이가 찬반 토론의 차례대로 실제 토론을 하고, 세 기준으로 판정합니다(목표 A·B). 아이 혼자 자기 편을 맡아 해내는지가 이 차시의 중심 확인입니다.
시간: 약 8분
이렇게 말해 보세요
- (사회자로) “지금부터 ‘우리 집은 일주일에 하루 화면 없는 날을 정해야 한다’를 논제로 토론을 시작하겠습니다. 먼저 찬성편, 주장을 펼쳐 주세요. 시간은 1분입니다.”
- (반론하기 차례에) “이제 반론하기입니다. 상대가 한 말을 받아서 반론해 주세요.”
- (판정 때) “활동지 3의 기준표에 서로 ○, △, ×를 해 보자. 엄마(아빠)는 근거를 몇 개 들었어? 너는?”
예상 답
- 아이(찬성) 예: “저는 찬성합니다. 첫째, 화면 없는 날에는 가족끼리 이야기하는 시간이 늘어납니다. 둘째, 눈을 쉬게 할 수 있습니다.”
- 아이(반론) 예: “숙제 때문에 컴퓨터를 써야 한다고 했는데, 숙제는 화면 없는 날이 아닌 날로 미리 하면 됩니다.”
- 아이(주장 다지기) 예: “불편하다는 반론이 있었지만, 그래도 하루쯤은 가족이 함께하는 시간이 더 소중하기 때문에 화면 없는 날을 정해야 합니다.”
정답
- 기준: ① 주장 펼치기에서 근거를 두 가지 들었다 ② 반론하기에서 부모가 한 말을 받아(‘~라고 했는데’) 약한 점을 짚었다 ③ 차례를 지키고 끼어들거나 사람을 탓하지 않았다. 세 가지 모두 ○이면 잘함. 어느 편이 이겼는지는 판정에 따르며, 결과는 집마다 다릅니다.
막히면
- 아이가 말을 잇지 못하면 활동지 2의 준비표를 보고 읽어도 된다고 말해 줍니다.
- 반론을 못 하면 “방금 엄마(아빠)가 뭐라고 했지? 그 말에서 이상한 점은 없어?”라고 상대 말을 다시 떠올리게 합니다. 도움을 받았다면 기록표에 ‘도움’으로 표시합니다.
주의
- 부모는 일부러 아이를 이기려 하지 말고, 근거 두 개와 반론 하나를 보통 빠르기로 말합니다. 아이가 반론할 거리가 생기도록 부모 근거 하나는 약간 약하게(예: 부풀린 말) 넣어 두어도 좋습니다.
- 판정 뒤에는 편을 떠나 진짜 생각을 짧게 나누고, 정말로 화면 없는 날을 정할지는 가족이 따로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판정 기준과 피드백]
목적: 우리 집 토론을 판정 기준으로 함께 돌아보고 흔한 실수와 비교합니다.
시간: 약 2분
이렇게 말해 보세요
- “네 토론에 왼쪽 세 가지가 다 있었어? 오른쪽 같은 실수는 없었어?”
- “다시 한다면 무엇을 더 잘하고 싶어?”
예상 답
- “반론할 때 엄마 말을 먼저 말하지 않고 바로 아니라고 했어요. 다음에는 ‘~라고 했는데’부터 말할래요.”
정답
- 근거를 두 가지 들어 주장하고, 상대 말을 받아 약한 점을 짚어 반론하고, 차례와 예의를 지키면 잘함. 어느 편이 이겼는지는 기준에 따라 판정함
막히면
- 활동지 3의 기준표를 함께 보며 ×나 △가 있는 기준 하나만 골라 다시 말해 보게 합니다.
주의
- 이 장은 학생용 파일에서 빠집니다. 승패보다 세 기준을 지켰는지를 먼저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확인(토론의 차례와 반론)]
목적: 처음 보는 논제에서 상대 근거를 받아 반론하고, 토론의 차례를 말하는지 확인합니다(목표 A·B).
시간: 약 2분
이렇게 말해 보세요
- “이번에는 반대편이 되어 반론해 볼래? 반론의 세 걸음을 떠올려.”
- “찬반 토론은 어떤 차례로 했지?”
정답
- ① 예: 화장실에 여유 있게 다녀올 수 있다고 했는데, 지금 10분으로도 다녀올 시간은 충분합니다. 쉬는 시간이 길어지면 그만큼 학교가 늦게 끝납니다. (상대 말을 받고, 약한 점과 내 근거를 말하면 맞음)
- ② 주장 펼치기 → 반론하기 → 주장 다지기 (→ 판정)
막히면
- S07의 반론하기 카드를 다시 보여 줍니다.
주의
- 상대 말을 받지 않고 자기 주장만 말하면 기록표에 ‘반론 일부’로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1분
이렇게 말해 보세요
- “처음에 생각이 다를 때 어떻게 겨루면 좋을지 물었지? 이제 어떻게 말할 수 있어?”
예상 답
- “차례를 지키면서 근거로 겨뤄요. 반론은 근거를 따져요.”
정답
- ① 주장 펼치기, 반론하기, 주장 다지기 ② 상대 말 받기 → 약한 점 짚기 → 내 근거 대기 ③ 토의는 함께 가장 좋은 방법을 찾고, 토론은 찬성과 반대로 나뉘어 근거로 설득한다
막히면
- S04와 S07을 다시 보여 줍니다.
주의
- 오늘 토론에서 아이가 든 근거를 활동지 2에 남겨 두세요. 다음 시간 ‘논설문 쓰기’에서 이 근거로 글을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보충(의견과 근거를 이어 말하기)]
목적: 의견(주장)에 근거와 예를 이어 말하는 힘을 먼저 다집니다. 토론의 주장 펼치기는 이 틀을 넓힌 것입니다.
시간: 약 4분
이렇게 말해 보세요
- “쉬운 논제로 연습해 보자. ‘주말 아침에는 늦잠을 자도 된다.’ 너는 찬성이야, 반대야? 틀에 맞추어 말해 볼래?”
- “이번에는 엄마(아빠)가 말할게. 내 근거를 듣고 ‘~라고 했는데’로 시작해서 한 마디만 대답해 봐.”
예상 답
- “저는 찬성합니다. 왜냐하면 평일에 부족한 잠을 채울 수 있기 때문입니다. 예를 들어 금요일에는 늦게 자서 피곤해요.”
정답
- 기준: 편을 밝히고, ‘왜냐하면’ 뒤에 주장과 관련 있는 근거를 하나 이상 대면 맞음
막히면
- 부모가 먼저 틀에 맞추어 말하고, 아이는 같은 틀로 반대편을 말하게 합니다.
- 보충으로도 어렵다면 이 차시의 선수 차시인 5학년 ‘토의 결과 정리’(KR22-G05-KOR-DEBATE-L01)를 먼저 하고, 근거 자체가 낯설면 5학년 ‘주장과 근거’(KR22-G05-KOR-CLAIM-L01)부터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토론과글쓰기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토론하기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서로 다를 때,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겨루면 좋을까?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토론의 차례에 따라 근거를 들어 주장을 펼칠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상대의 근거를 듣고 예의 있게 반론할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의견을 견주어 봐요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현관 신발을 어떻게 정리할까?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근거는? 문제를 해결하나요? 모두 지킬 수 있나요?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엄마: 신발은 모두 신발장에 넣자. 현관이 넓어지니까.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날마다 신는 신발 한 켤레만 꺼내 두자. 아침에 바로 신을 수 있으니까요.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토의와 토론은 달라요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토론에서는 맡은 편의 주장을 끝까지 근거로 펼쳐요.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여럿이 함께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방법을 찾아요.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찬성과 반대로 나뉘어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상대를 설득해요.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토론할 주제예요.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‘~해야 한다’로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찬반 토론의 차례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사회자가 차례와 시간을 알려 줘요.</a:t>
            </a:r>
            <a:endParaRPr lang="ko-KR" sz="2800" dirty="0"/>
          </a:p>
        </p:txBody>
      </p:sp>
      <p:sp>
        <p:nvSpPr>
          <p:cNvPr id="5" name="S04-stepno2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text21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펼치기: 우리 편 주장과 근거를 말해요.</a:t>
            </a:r>
            <a:endParaRPr lang="ko-KR" sz="28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반론하기: 상대 근거의 약한 점을 짚어요.</a:t>
            </a:r>
            <a:endParaRPr lang="ko-KR" sz="28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다지기: 반론을 받아 우리 주장을 다시 강조해요.</a:t>
            </a:r>
            <a:endParaRPr lang="ko-KR" sz="2800" dirty="0"/>
          </a:p>
        </p:txBody>
      </p:sp>
      <p:sp>
        <p:nvSpPr>
          <p:cNvPr id="11" name="S04-stepno2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4-text27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판정: 기준에 따라 더 설득력 있는 편을 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펼치기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편의 주장과 근거를 찾아봐요.</a:t>
            </a:r>
            <a:endParaRPr lang="ko-KR" sz="2800" dirty="0"/>
          </a:p>
        </p:txBody>
      </p:sp>
      <p:sp>
        <p:nvSpPr>
          <p:cNvPr id="5" name="S05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학급 문고 책을 집에 빌려 가게 해야 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하윤: 저는 찬성합니다. 쉬는 시간은 10분이라 학교에서는 책을 끝까지 읽기 어렵습니다. 집에 빌려 가면 저녁에 끝까지 읽을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도현: 저는 반대합니다. 책을 집에 가져가면 잃어버리거나 찢어질 수 있습니다. 그러면 다른 친구들이 그 책을 읽지 못합니다.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상대의 어떤 말을 받아 반론했나요?</a:t>
            </a:r>
            <a:endParaRPr lang="ko-KR" sz="2800" dirty="0"/>
          </a:p>
        </p:txBody>
      </p:sp>
      <p:sp>
        <p:nvSpPr>
          <p:cNvPr id="5" name="S06-passagebox3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학급 문고 책을 집에 빌려 가게 해야 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도현: 찬성편은 학교에서 끝까지 읽기 어렵다고 했습니다. 하지만 아침 독서 시간에 이어 읽으면 학교에서도 끝까지 읽을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하윤: 반대편은 책을 잃어버릴 수 있다고 했습니다. 그러나 빌린 사람과 날짜를 공책에 적으면 잃어버리는 일을 줄일 수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반론과 주장 다지기의 말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말 받기 → 약한 점 짚기 → 내 근거 대기</a:t>
            </a:r>
            <a:endParaRPr lang="ko-KR" sz="2800" dirty="0"/>
          </a:p>
        </p:txBody>
      </p:sp>
      <p:sp>
        <p:nvSpPr>
          <p:cNvPr id="5" name="S07-card3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“~라고 했는데,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그것은 ~ 점에서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맞지 않습니다.”</a:t>
            </a:r>
            <a:endParaRPr lang="ko-KR" sz="2800" dirty="0"/>
          </a:p>
        </p:txBody>
      </p:sp>
      <p:sp>
        <p:nvSpPr>
          <p:cNvPr id="7" name="S07-card4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다지기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“~라는 반론이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있었지만, 그래도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 때문에 옳습니다.”</a:t>
            </a:r>
            <a:endParaRPr lang="ko-KR" sz="2800" dirty="0"/>
          </a:p>
        </p:txBody>
      </p:sp>
      <p:sp>
        <p:nvSpPr>
          <p:cNvPr id="9" name="S07-card4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7-cardtext4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지키고,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아니라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따져요.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반론이 알맞을까?</a:t>
            </a:r>
            <a:endParaRPr lang="ko-KR" sz="4000" dirty="0"/>
          </a:p>
        </p:txBody>
      </p:sp>
      <p:sp>
        <p:nvSpPr>
          <p:cNvPr id="3" name="S08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도현이의 근거 ‘책을 잃어버릴 수 있다’에 두 사람이 반론했어요.</a:t>
            </a:r>
            <a:endParaRPr lang="ko-KR" sz="2800" dirty="0"/>
          </a:p>
        </p:txBody>
      </p:sp>
      <p:sp>
        <p:nvSpPr>
          <p:cNvPr id="5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알맞은 반론인가요? 왜 그럴까요?</a:t>
            </a:r>
            <a:endParaRPr lang="ko-KR" sz="2800" dirty="0"/>
          </a:p>
        </p:txBody>
      </p:sp>
      <p:sp>
        <p:nvSpPr>
          <p:cNvPr id="7" name="S08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도현이는 원래 물건을 잘 잃어버리잖아요. 그러니까 도현이 말은 틀렸어요.</a:t>
            </a:r>
            <a:endParaRPr lang="ko-KR" sz="2800" dirty="0"/>
          </a:p>
        </p:txBody>
      </p:sp>
      <p:sp>
        <p:nvSpPr>
          <p:cNvPr id="9" name="S08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잃어버릴 수 있다고 했는데, 빌린 사람을 공책에 적으면 줄일 수 있습니다.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반론을 만들어 봐요</a:t>
            </a:r>
            <a:endParaRPr lang="ko-KR" sz="4000" dirty="0"/>
          </a:p>
        </p:txBody>
      </p:sp>
      <p:sp>
        <p:nvSpPr>
          <p:cNvPr id="3" name="S09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반대편이 이렇게 말했어요. 찬성편이 되어 반론해요.</a:t>
            </a:r>
            <a:endParaRPr lang="ko-KR" sz="2800" dirty="0"/>
          </a:p>
        </p:txBody>
      </p:sp>
      <p:sp>
        <p:nvSpPr>
          <p:cNvPr id="4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말 받기 → 약한 점 짚기 → 내 근거 대기</a:t>
            </a:r>
            <a:endParaRPr lang="ko-KR" sz="2800" dirty="0"/>
          </a:p>
        </p:txBody>
      </p:sp>
      <p:sp>
        <p:nvSpPr>
          <p:cNvPr id="6" name="S09-chip5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“책을 늦게 돌려주면 다른 친구가 오래 기다려야 합니다.”</a:t>
            </a:r>
            <a:endParaRPr lang="ko-KR" sz="2800" dirty="0"/>
          </a:p>
        </p:txBody>
      </p:sp>
      <p:sp>
        <p:nvSpPr>
          <p:cNvPr id="8" name="S09-chip5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“집에서는 누구나 책보다 게임을 먼저 합니다.”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토론을 준비해요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우리 집은 일주일에 하루 ‘화면 없는 날’을 정해야 한다.</a:t>
            </a:r>
            <a:endParaRPr lang="ko-KR" sz="2800" dirty="0"/>
          </a:p>
        </p:txBody>
      </p:sp>
      <p:sp>
        <p:nvSpPr>
          <p:cNvPr id="4" name="S10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2의 준비표에 써요(2분).</a:t>
            </a:r>
            <a:endParaRPr lang="ko-KR" sz="2800" dirty="0"/>
          </a:p>
        </p:txBody>
      </p:sp>
      <p:sp>
        <p:nvSpPr>
          <p:cNvPr id="6" name="S10-card6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6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편 정하기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찬성일까요,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반대일까요?</a:t>
            </a:r>
            <a:endParaRPr lang="ko-KR" sz="2800" dirty="0"/>
          </a:p>
        </p:txBody>
      </p:sp>
      <p:sp>
        <p:nvSpPr>
          <p:cNvPr id="8" name="S10-card6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6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 두 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뒷받침·사실·출처로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점검해요.</a:t>
            </a:r>
            <a:endParaRPr lang="ko-KR" sz="2800" dirty="0"/>
          </a:p>
        </p:txBody>
      </p:sp>
      <p:sp>
        <p:nvSpPr>
          <p:cNvPr id="10" name="S10-card6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0-cardtext6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반론 대비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상대가 낼 근거를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토론</a:t>
            </a:r>
            <a:endParaRPr lang="ko-KR" sz="4000" dirty="0"/>
          </a:p>
        </p:txBody>
      </p:sp>
      <p:sp>
        <p:nvSpPr>
          <p:cNvPr id="3" name="S11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우리 집은 일주일에 하루 ‘화면 없는 날’을 정해야 한다.</a:t>
            </a:r>
            <a:endParaRPr lang="ko-KR" sz="2800" dirty="0"/>
          </a:p>
        </p:txBody>
      </p:sp>
      <p:sp>
        <p:nvSpPr>
          <p:cNvPr id="4" name="S11-card6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근거를 들어 주장했나요?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상대 말을 듣고 반론했나요?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차례와 예의를 지켰나요?</a:t>
            </a:r>
            <a:endParaRPr lang="ko-KR" sz="2800" dirty="0"/>
          </a:p>
        </p:txBody>
      </p:sp>
      <p:sp>
        <p:nvSpPr>
          <p:cNvPr id="6" name="S11-stepno71"/>
          <p:cNvSpPr txBox="1"/>
          <p:nvPr/>
        </p:nvSpPr>
        <p:spPr>
          <a:xfrm>
            <a:off x="548640" y="2178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1-text72"/>
          <p:cNvSpPr txBox="1"/>
          <p:nvPr/>
        </p:nvSpPr>
        <p:spPr>
          <a:xfrm>
            <a:off x="1325880" y="2132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펼치기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→ 반대, 1분씩</a:t>
            </a:r>
            <a:endParaRPr lang="ko-KR" sz="2800" dirty="0"/>
          </a:p>
        </p:txBody>
      </p:sp>
      <p:sp>
        <p:nvSpPr>
          <p:cNvPr id="8" name="S11-stepno73"/>
          <p:cNvSpPr txBox="1"/>
          <p:nvPr/>
        </p:nvSpPr>
        <p:spPr>
          <a:xfrm>
            <a:off x="548640" y="3210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1-text74"/>
          <p:cNvSpPr txBox="1"/>
          <p:nvPr/>
        </p:nvSpPr>
        <p:spPr>
          <a:xfrm>
            <a:off x="1325880" y="3164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반론하기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→ 찬성, 1분씩</a:t>
            </a:r>
            <a:endParaRPr lang="ko-KR" sz="2800" dirty="0"/>
          </a:p>
        </p:txBody>
      </p:sp>
      <p:sp>
        <p:nvSpPr>
          <p:cNvPr id="10" name="S11-stepno75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1-text76"/>
          <p:cNvSpPr txBox="1"/>
          <p:nvPr/>
        </p:nvSpPr>
        <p:spPr>
          <a:xfrm>
            <a:off x="1325880" y="4197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다지기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 → 반대, 30초씩</a:t>
            </a:r>
            <a:endParaRPr lang="ko-KR" sz="2800" dirty="0"/>
          </a:p>
        </p:txBody>
      </p:sp>
      <p:sp>
        <p:nvSpPr>
          <p:cNvPr id="12" name="S11-stepno77"/>
          <p:cNvSpPr txBox="1"/>
          <p:nvPr/>
        </p:nvSpPr>
        <p:spPr>
          <a:xfrm>
            <a:off x="548640" y="527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1-text78"/>
          <p:cNvSpPr txBox="1"/>
          <p:nvPr/>
        </p:nvSpPr>
        <p:spPr>
          <a:xfrm>
            <a:off x="1325880" y="5229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기준표로 서로 점검해요.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토론 돌아보기</a:t>
            </a:r>
            <a:endParaRPr lang="ko-KR" sz="4000" dirty="0"/>
          </a:p>
        </p:txBody>
      </p:sp>
      <p:sp>
        <p:nvSpPr>
          <p:cNvPr id="3" name="S12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기준을 모두 지키면 잘한 토론이에요.</a:t>
            </a:r>
            <a:endParaRPr lang="ko-KR" sz="2800" dirty="0"/>
          </a:p>
        </p:txBody>
      </p:sp>
      <p:sp>
        <p:nvSpPr>
          <p:cNvPr id="5" name="S12-chip8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8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두 개로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</a:t>
            </a:r>
            <a:endParaRPr lang="ko-KR" sz="2800" dirty="0"/>
          </a:p>
        </p:txBody>
      </p:sp>
      <p:sp>
        <p:nvSpPr>
          <p:cNvPr id="7" name="S12-text8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‘첫째, 둘째’</a:t>
            </a:r>
            <a:endParaRPr lang="ko-KR" sz="2200" dirty="0"/>
          </a:p>
        </p:txBody>
      </p:sp>
      <p:sp>
        <p:nvSpPr>
          <p:cNvPr id="8" name="S12-text8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말을 받아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</a:t>
            </a:r>
            <a:endParaRPr lang="ko-KR" sz="2800" dirty="0"/>
          </a:p>
        </p:txBody>
      </p:sp>
      <p:sp>
        <p:nvSpPr>
          <p:cNvPr id="9" name="S12-text8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‘~라고 했는데’</a:t>
            </a:r>
            <a:endParaRPr lang="ko-KR" sz="2200" dirty="0"/>
          </a:p>
        </p:txBody>
      </p:sp>
      <p:sp>
        <p:nvSpPr>
          <p:cNvPr id="10" name="S12-text8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차례·예의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지킴</a:t>
            </a:r>
            <a:endParaRPr lang="ko-KR" sz="2800" dirty="0"/>
          </a:p>
        </p:txBody>
      </p:sp>
      <p:sp>
        <p:nvSpPr>
          <p:cNvPr id="11" name="S12-text8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근거만 따져요</a:t>
            </a:r>
            <a:endParaRPr lang="ko-KR" sz="2200" dirty="0"/>
          </a:p>
        </p:txBody>
      </p:sp>
      <p:sp>
        <p:nvSpPr>
          <p:cNvPr id="12" name="S12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‘그냥 싫어요’만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</a:t>
            </a:r>
            <a:endParaRPr lang="ko-KR" sz="2800" dirty="0"/>
          </a:p>
        </p:txBody>
      </p:sp>
      <p:sp>
        <p:nvSpPr>
          <p:cNvPr id="14" name="S12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없어요</a:t>
            </a:r>
            <a:endParaRPr lang="ko-KR" sz="2200" dirty="0"/>
          </a:p>
        </p:txBody>
      </p:sp>
      <p:sp>
        <p:nvSpPr>
          <p:cNvPr id="15" name="S12-text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탓함</a:t>
            </a:r>
            <a:endParaRPr lang="ko-KR" sz="2800" dirty="0"/>
          </a:p>
        </p:txBody>
      </p:sp>
      <p:sp>
        <p:nvSpPr>
          <p:cNvPr id="16" name="S12-text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‘엄마는 맨날…’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반론해 봐요</a:t>
            </a:r>
            <a:endParaRPr lang="ko-KR" sz="4000" dirty="0"/>
          </a:p>
        </p:txBody>
      </p:sp>
      <p:sp>
        <p:nvSpPr>
          <p:cNvPr id="3" name="S13-text9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논제: 학교 쉬는 시간을 15분으로 늘려야 한다.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찬성편: “쉬는 시간이 길면 화장실에 여유 있게 다녀올 수 있습니다.”</a:t>
            </a:r>
            <a:endParaRPr lang="ko-KR" sz="2800" dirty="0"/>
          </a:p>
        </p:txBody>
      </p:sp>
      <p:sp>
        <p:nvSpPr>
          <p:cNvPr id="4" name="S13-chip94"/>
          <p:cNvSpPr txBox="1"/>
          <p:nvPr/>
        </p:nvSpPr>
        <p:spPr>
          <a:xfrm>
            <a:off x="548640" y="28244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95"/>
          <p:cNvSpPr txBox="1"/>
          <p:nvPr/>
        </p:nvSpPr>
        <p:spPr>
          <a:xfrm>
            <a:off x="1344168" y="2376424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반대편이 되어 이 근거에 반론해요.</a:t>
            </a:r>
            <a:endParaRPr lang="ko-KR" sz="2800" dirty="0"/>
          </a:p>
        </p:txBody>
      </p:sp>
      <p:sp>
        <p:nvSpPr>
          <p:cNvPr id="6" name="S13-chip96"/>
          <p:cNvSpPr txBox="1"/>
          <p:nvPr/>
        </p:nvSpPr>
        <p:spPr>
          <a:xfrm>
            <a:off x="548640" y="48366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97"/>
          <p:cNvSpPr txBox="1"/>
          <p:nvPr/>
        </p:nvSpPr>
        <p:spPr>
          <a:xfrm>
            <a:off x="1344168" y="4388612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찬반 토론의 세 단계를 차례대로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찬반 토론은 주장 펼치기 → 반론하기 → 주장 다지기 차례로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반론은 사람이 아니라 상대의 근거를 따져요.</a:t>
            </a:r>
            <a:endParaRPr lang="ko-KR" sz="2800" dirty="0"/>
          </a:p>
        </p:txBody>
      </p:sp>
      <p:sp>
        <p:nvSpPr>
          <p:cNvPr id="5" name="S14-chip10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상대 말을 받아 반론하기</a:t>
            </a:r>
            <a:endParaRPr lang="ko-KR" sz="2200" dirty="0"/>
          </a:p>
        </p:txBody>
      </p:sp>
      <p:sp>
        <p:nvSpPr>
          <p:cNvPr id="6" name="S14-chip10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사람을 탓하기</a:t>
            </a:r>
            <a:endParaRPr lang="ko-KR" sz="2200" dirty="0"/>
          </a:p>
        </p:txBody>
      </p:sp>
      <p:sp>
        <p:nvSpPr>
          <p:cNvPr id="7" name="S14-text10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찬반 토론의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단계는?</a:t>
            </a:r>
            <a:endParaRPr lang="ko-KR" sz="2200" dirty="0"/>
          </a:p>
        </p:txBody>
      </p:sp>
      <p:sp>
        <p:nvSpPr>
          <p:cNvPr id="9" name="S14-text10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반론의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걸음은?</a:t>
            </a:r>
            <a:endParaRPr lang="ko-KR" sz="2200" dirty="0"/>
          </a:p>
        </p:txBody>
      </p:sp>
      <p:sp>
        <p:nvSpPr>
          <p:cNvPr id="10" name="S14-text10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토의와 토론의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점은?</a:t>
            </a:r>
            <a:endParaRPr lang="ko-KR" sz="2200" dirty="0"/>
          </a:p>
        </p:txBody>
      </p:sp>
      <p:sp>
        <p:nvSpPr>
          <p:cNvPr id="11" name="S14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논설문 쓰기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근거를 들어 말하기</a:t>
            </a:r>
            <a:endParaRPr lang="ko-KR" sz="4000" dirty="0"/>
          </a:p>
        </p:txBody>
      </p:sp>
      <p:sp>
        <p:nvSpPr>
          <p:cNvPr id="3" name="S15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틀에 맞추어 말해 봐요.</a:t>
            </a:r>
            <a:endParaRPr lang="ko-KR" sz="2800" dirty="0"/>
          </a:p>
        </p:txBody>
      </p:sp>
      <p:sp>
        <p:nvSpPr>
          <p:cNvPr id="4" name="S15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 → 근거 → 예의 차례로 말하면 듣는 사람이 알아듣기 쉬워요.</a:t>
            </a:r>
            <a:endParaRPr lang="ko-KR" sz="2800" dirty="0"/>
          </a:p>
        </p:txBody>
      </p:sp>
      <p:sp>
        <p:nvSpPr>
          <p:cNvPr id="6" name="S15-word110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＿＿＿에 찬성(반대)합니다.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편과 주장</a:t>
            </a:r>
            <a:endParaRPr lang="ko-KR" sz="2800" dirty="0"/>
          </a:p>
        </p:txBody>
      </p:sp>
      <p:sp>
        <p:nvSpPr>
          <p:cNvPr id="7" name="S15-word111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 ＿＿＿ 때문입니다.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ko-KR" sz="2800" dirty="0"/>
          </a:p>
        </p:txBody>
      </p:sp>
      <p:sp>
        <p:nvSpPr>
          <p:cNvPr id="8" name="S15-word112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예를 들어 ＿＿＿.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뒷받침하는 예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토론하기</dc:title>
  <dc:subject>KR22-G06-KOR-DEBATE-L01</dc:subject>
  <dc:creator>education-ppt</dc:creator>
  <cp:lastModifiedBy>education-ppt</cp:lastModifiedBy>
  <cp:revision>1</cp:revision>
  <dcterms:created xsi:type="dcterms:W3CDTF">2026-10-26T09:12:32Z</dcterms:created>
  <dcterms:modified xsi:type="dcterms:W3CDTF">2026-10-26T09:12:32Z</dcterms:modified>
</cp:coreProperties>
</file>