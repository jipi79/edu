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ab182d9-a21c-0437-19a0-c7668aef74c8}">
          <p14:sldIdLst>
            <p14:sldId id="256"/>
            <p14:sldId id="257"/>
          </p14:sldIdLst>
        </p14:section>
        <p14:section name="개념" id="{ec4f49d2-e6dc-2d7b-fc8a-4e3e623fcc4d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b3c0a747-e08d-97a7-84c3-e75ff00f9ab6}">
          <p14:sldIdLst>
            <p14:sldId id="263"/>
            <p14:sldId id="264"/>
            <p14:sldId id="265"/>
          </p14:sldIdLst>
        </p14:section>
        <p14:section name="확인" id="{c43b6e76-9df9-083d-4900-43cbc163d526}">
          <p14:sldIdLst>
            <p14:sldId id="266"/>
            <p14:sldId id="267"/>
            <p14:sldId id="268"/>
          </p14:sldIdLst>
        </p14:section>
        <p14:section name="정리" id="{47895a0e-ad1f-82c0-ebef-2902392bf550}">
          <p14:sldIdLst>
            <p14:sldId id="269"/>
          </p14:sldIdLst>
        </p14:section>
        <p14:section name="보충" id="{08f733f5-7908-a95c-c4e0-4e91649b1a1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같은 내용도 읽는 사람에 따라 말이 달라져야 한다는 것을 느끼게 하며 오늘 배울 것을 알립니다.
시간: 약 2분
이렇게 말해 보세요
- “친구에게 ‘내일 놀자 ㄱㄱ’라고 보내는 건 괜찮지? 그 문자를 그대로 선생님께 보내도 될까?”
- “글을 읽는 사람을 ‘독자’, 글을 쓰는 까닭을 ‘목적’이라고 해. 오늘은 독자와 목적을 생각하며 글을 고쳐 쓰는 방법을 배울 거야.”
예상 답
- “선생님께는 안 돼요. 예의 없어 보여요.” “선생님은 ㄱㄱ를 모르실 수도 있어요.”
막히면
- “할머니께 전화할 때랑 친구랑 통화할 때 말투가 같아?”라고 묻습니다.
주의
- 아이가 쓰는 줄임말을 꾸짖지 않습니다. ‘친구끼리는 괜찮지만 독자가 바뀌면 바꿔야 한다’는 점만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확인(논설문 점검)]
목적: 지난 차시 ‘논설문 쓰기’(KR22-G06-KOR-PERSUADE-L01)에서 배운 논설문의 짜임과 점검표로 빠진 부분을 찾는 힘을 확인합니다. 오늘은 점검을 넘어 실제로 고쳐 씁니다.
시간: 약 3분
이렇게 말해 보세요
- “지난 시간 점검표를 떠올려 볼래? ① 서론에는 무엇이 빠졌어? ② 본론에는?”
- “빠진 것을 하나 채워 말해 볼래?”
정답
- ① 문제 상황이 빠졌습니다. 예: 쉬는 시간마다 계단에서 부딪히는 일이 잦습니다.
- ② 뒷받침 내용이 빠졌습니다. 예: 오르는 사람과 내려가는 사람이 각자 오른쪽으로 다니면 서로 마주치지 않기 때문입니다.
막히면
- “서론에는 문제 상황과 주장, 본론에는 근거와 뒷받침 내용”이라고 짜임을 먼저 말해 주고 다시 찾게 합니다.
- 짜임을 떠올리지 못하면 S15(보충)를 먼저 하고, 그래도 어려우면 ‘논설문 쓰기’(KR22-G06-KOR-PERSUADE-L01)를 다시 합니다.
주의
- 빠진 것을 찾기만 하고 채우지 못해도 이 장은 통과입니다. 채워 쓰는 힘은 오늘 수업에서 기릅니다.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독자와 목적]
목적: 고쳐 쓰기의 기준이 되는 독자와 목적을 알려 줍니다(목표 A).
시간: 약 2분
이렇게 말해 보세요
- “고쳐 쓰기 전에 두 가지를 먼저 물어. 누가 읽어? 왜 써?”
- “1학년 동생이 읽는 글이면 쉬운 말을 써야 하고, 교장 선생님께 드리는 글이면 높임 표현을 써야 해. 알리려는 글이면 꼭 알아야 할 내용이 다 있어야 하고.”
예상 답
- “독자가 어리면 쉬운 말로 써요.”
막히면
- “생일 초대장을 친구에게 쓸 때와 이웃 어른께 쓸 때 무엇이 달라질까?”라고 예를 들어 줍니다.
주의
- 독자의 나이뿐 아니라 ‘무엇을 이미 알고 있는가’도 중요합니다. 1학년은 학교 도서관에 가 본 적이 없을 수도 있다는 점을 S10에서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고칠 곳의 세 수준]
목적: 고쳐 쓸 곳을 낱말·문장·문단 세 수준으로 나누어 알려 줍니다(목표 A·B, 오해 M1).
시간: 약 3분
이렇게 말해 보세요
- “고쳐 쓰기라고 하면 맞춤법부터 떠오르지? 그것도 중요하지만, 독자를 생각하면 고칠 곳이 더 있어.”
- “낱말은 독자가 아는 말인지, 문장은 한 번에 알아듣기 쉬운지, 문단은 글의 목적에 필요한 내용인지를 봐.”
예상 답
- “낱말, 문장, 문단이요. 문단은 빼거나 더할 수 있어요.”
막히면
- “책이 한 권이면 문단은 방, 문장은 가구, 낱말은 가구에 놓인 물건이야.”처럼 크기를 비유로 보여 줍니다.
주의
- 어색한 문장(예: 문장의 앞뒤가 맞지 않음)은 5학년 ‘문장 표현 점검’과 이어집니다. 오늘은 너무 긴 문장을 나누는 것에 집중합니다.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고쳐 쓰기(초고 앞부분, 긴 문장)]
목적: 부모가 독자(1학년)의 눈으로 소리 내어 읽으며, 너무 긴 문장을 찾고 나누어 고치는 과정을 보여 줍니다(목표 A). 수아는 가상의 학생입니다.
시간: 약 3분
이렇게 말해 보세요
- “엄마(아빠)가 1학년이 되어 읽어 볼게. 【가】… 읽다가 숨이 차네. ‘찾아서, 가져가고, 말하면, 적어 주시고, 그러면’ 하고 계속 이어져서, 1학년은 무엇부터 해야 할지 헷갈리겠어.”
- “이럴 때는 하는 일마다 문장을 나누면 돼. ‘먼저 읽고 싶은 책을 찾아. 그 책을 사서 선생님께 가져가서 이름을 말해. 그러면 책을 빌릴 수 있어.’ 어때, 더 쉽지?”
예상 답
- “세 문장으로 나누니까 차례대로 알 수 있어요.”
정답
- 【가】 문장 수준 — 문장이 너무 길어 차례를 알기 어렵다.
- 고쳐 쓴 예: 먼저 읽고 싶은 책을 찾아. 그 책을 사서 선생님께 가져가서 이름을 말해. 그러면 책을 빌릴 수 있어.
막히면
- 【가】 문장에서 ‘하는 일’마다 손가락을 하나씩 접어 보게 합니다(찾기, 가져가기, 이름 말하기). 접은 손가락 수만큼 문장을 나눕니다.
주의
- ‘사서 선생님’은 도서관 일을 맡은 선생님입니다. 1학년이 모를 수 있으니 ‘도서관 선생님’으로 바꾸어도 좋다고 덧붙여도 됩니다(낱말 수준).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함께 읽기(초고 뒷부분, 문제 찾기)]
목적: 남은 표시를 함께 읽으며 낱말 수준(【다】【라】)과 문단 수준(【나】)의 문제를 찾습니다(목표 A·B).
시간: 약 3분
이렇게 말해 보세요
- “이번에는 네가 1학년이 되어 읽어 볼래? 어디서 막혀?”
- “【다】의 ‘반납 기한 엄수’는 1학년이 아는 말일까? 【라】의 ‘ㄹㅇ’는? 【나】 문단은 도서관 이용 방법을 알려 줘?”
예상 답
- “【다】는 말이 어려워요. 【라】는 줄임말이라 1학년이 못 읽어요. 【나】는 수아 이야기라서 상관없어요.”
정답
- 【나】 문단 수준 — 글의 목적(도서관 이용 방법 알리기)과 관계없는 내용입니다(빼기).
- 【다】 낱말 수준 — ‘반납 기한 엄수’는 1학년에게 어려운 말입니다(→ 돌려주는 날을 꼭 지키기).
- 【라】 낱말 수준 — ‘ㄹㅇ’ 같은 줄임말과 ‘곤란함’처럼 끊긴 말은 독자에게 맞지 않습니다.
막히면
- S04의 세 카드를 다시 보여 주고 “이건 낱말 하나가 문제야, 문장이 문제야, 문단 전체가 문제야?”라고 묻습니다.
주의
- 【나】를 ‘재미있으니까 남기자’고 하면, 목적에 맞는지만 따지자고 하고 S10에서 다시 다룹니다(오해 M3).
- 아이가 지치면 여기서 쉬고, 다음 날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낱말·문장 고친 예]
목적: 낱말 수준과 문장 수준에서 고친 예를 정리해 보여 줍니다(목표 A, 오해 M2). 【라】는 S08에서 아이가 직접 고칩니다.
시간: 약 3분
이렇게 말해 보세요
- “【가】는 긴 문장을 나누었고, 【다】는 어려운 말을 1학년이 아는 말로 바꾸었어. 뜻은 그대로지?”
- “‘반납’은 ‘돌려주기’, ‘기한’은 ‘정해진 날’, ‘엄수’는 ‘꼭 지키기’라는 뜻이야. 이렇게 어려운 말을 쉬운 말로 풀어 쓰면 돼.”
예상 답
- “뜻은 같은데 훨씬 쉬워졌어요.”
막히면
- 어려운 말에 동그라미를 치고, “이 말을 1학년 동생에게 말로 설명한다면 어떻게 할래?”라고 물어 그 말을 그대로 쓰게 합니다.
주의
- 고칠 때 뜻이 달라지지 않았는지 꼭 확인합니다. 쉬운 말로 바꾸다가 내용이 빠지면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독자에 맞게 낱말과 문장 고치기]
목적: 독자에 따라 낱말과 문장을 알맞게 고쳐 봅니다(목표 A, 오해 M2). ①은 수아 초고의 【라】입니다.
시간: 약 3분
이렇게 말해 보세요
- “먼저 독자가 누구인지 봐. ①은 1학년, ②는 할머니, ③은 다시 1학년이야. 어디를 어떻게 고칠까?”
- “①은 ‘곤란함’이라고만 하면 왜 곤란한지 알 수 없지? 까닭을 넣어 고쳐 볼래?”
정답
- ① 예: 늦게 돌려주면 다른 친구가 그 책을 못 읽게 돼. (줄임말을 없애고 문장을 끝까지 쓰면 맞음)
- ② 예: 할머니, 생신 축하드려요! 이따 함께 진지 드세요. (‘축하드려요’, ‘진지’, ‘드세요’ 같은 높임 표현을 쓰면 맞음)
- ③ 예: 책 읽는 방에서는 조용히 해야 해. (‘열람실’, ‘정숙’을 1학년이 아는 말로 바꾸면 맞음)
막히면
- ②에서 “할머니께 ‘밥 먹자’라고 하면 어때? 할머니께는 ‘밥’ 대신 어떤 말을 쓰지?”라고 물어 높임 낱말을 떠올리게 합니다.
주의
- 답이 하나가 아닙니다. 독자에게 맞는 말이고 뜻이 그대로이면 맞음으로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문단을 고치는 세 방법]
목적: 문단 수준에서 고치는 세 방법(빼기·더하기·옮기기)을 알려 줍니다(목표 B, 오해 M3).
시간: 약 2분
이렇게 말해 보세요
- “문단을 고칠 때는 문단마다 ‘이 글의 목적에 필요해?’라고 물어. 필요 없으면 빼고, 꼭 필요한데 없으면 더해. 차례가 이상하면 옮기고.”
- “수아의 글에서 뺄 문단은 어디였지? 더할 내용은 무엇일까?”
예상 답
- “공룡 책 이야기를 빼요.” “더할 건… 잘 모르겠어요.”
막히면
- “1학년 동생이 이 글만 읽고 도서관에 혼자 찾아갈 수 있을까?”라고 물어 빠진 내용을 떠올리게 합니다.
주의
- 옮기기는 오늘 글에는 없습니다. 방법만 알려 주고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문단 고치기(빼기·더하기)]
목적: 목적과 관계없는 문단을 빼는 까닭을 말하고, 독자에게 필요한 빠진 내용을 더해 씁니다(목표 B).
시간: 약 4분
이렇게 말해 보세요
- “【나】 문단은 왜 빼면 좋을까? 글의 목적이 뭐였지?”
- “1학년 동생이 도서관에 처음 가려면 무엇을 알아야 할까? 도서관이 어디 있는지, 언제 문을 여는지 글에 있어?”
- “우리 학교 도서관이라고 생각하고 한두 문장으로 써 볼래? 활동지 4에 써.”
정답
- ① 글의 목적(도서관 이용 방법 알리기)과 관계없는 수아 자신의 이야기이기 때문입니다.
- ② 도서관이 어디에 있는지, 언제 문을 여는지가 빠졌습니다(둘 중 하나만 말해도 맞음).
- ③ 예: 도서관은 1층 맨 끝에 있어. 점심시간과 방과 후에 문을 열어. (위치나 여는 때가 들어가고 1학년이 알아듣는 말이면 맞음. 실제 학교 사정에 맞게 지어 써도 됨)
막히면
- “엄마(아빠)가 1학년이라고 생각해 봐. 이 글을 읽고 ‘그런데 도서관이 어디 있어?’라고 물으면 뭐라고 할래?”라고 묻고, 아이의 대답을 그대로 쓰게 합니다.
주의
- 【나】를 빼기 아까워하면 “이 내용은 ‘내가 좋아하는 책 소개’라는 다른 글에 쓰면 딱 좋겠다.”라고 말해 줍니다(오해 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고쳐 쓰기(건의하는 글)]
목적: 처음 보는 글에서 독자와 목적을 밝히고, 낱말·문장·문단 수준의 문제를 찾아 고쳐 쓰는지 확인합니다(목표 A·B). 민호는 가상의 학생입니다.
시간: 약 7분
이렇게 말해 보세요
- “이번에는 혼자 해 볼래? 먼저 독자와 목적을 쓰고, 【가】부터 【라】까지 무엇이 문제인지 생각한 다음 활동지 5에 고쳐 쓴 글을 써 봐.”
- “다 쓰면 활동지 6의 점검표로 확인해.”
정답
- 독자: 교장 선생님(어른) / 목적: 운동장에 그늘막을 만들어 달라고 부탁(건의)하기
- 【가】 낱말 — ‘쌤’은 줄임말이라 어른께 맞지 않음 → 교장 선생님
- 【나】 문장 — 높임 표현이 부족함 → 운동장에 그늘막을 만들어 주시면 좋겠습니다.
- 【다】 낱말·문장 — ‘완전’, ‘힘듦 ㅠㅠ’는 친구끼리 쓰는 말 → 여름에 체육을 하면 쉴 그늘이 없어 무척 덥고 힘듭니다.
- 【라】 문단 — 건의와 관계없는 내용 → 뺀다
- 기준: 독자와 목적을 바르게 쓰고, 넷 가운데 셋 이상을 독자와 목적에 맞게 고치면 잘함. 그늘막이 필요한 까닭을 더 보태 쓰면 더 잘함
막히면
- S04의 세 수준 카드와 S08의 ‘어른에게는 높임 표현’을 다시 보여 줍니다.
- 도움을 받아 고쳤다면 기록표에 ‘도움’으로 표시합니다.
주의
- 【라】를 고쳐 쓰려고만 하면 “이 문장은 교장 선생님께 부탁하는 것과 관계가 있어?”라고 묻습니다. 낱말만 고치고 문단(【라】)을 그대로 두면 기록표에 ‘낱말만’으로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아이가 고쳐 쓴 글을 확인하고 흔한 실수와 비교합니다.
시간: 약 2분
이렇게 말해 보세요
- “네가 고친 글을 교장 선생님이 읽으신다고 생각하고 소리 내어 읽어 볼래? 어색한 곳이 있어?”
- “오른쪽 같은 실수는 없었어?”
예상 답
- “【라】를 그냥 남겼는데, 빼야겠어요.”
정답
- 독자: 교장 선생님 / 목적: 그늘막 건의 / 【가】 교장 선생님 【나】 만들어 주시면 좋겠습니다 【다】 쉴 그늘이 없어 무척 덥고 힘듭니다 【라】 뺀다
막히면
- 활동지 6의 점검표에서 ×인 칸을 함께 고칩니다.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확인(독자가 바뀌면 바꿔 쓰기)]
목적: 처음 보는 문장을 새 독자에게 맞게 낱말과 문장을 바꾸어 쓰는지 확인합니다(목표 A).
시간: 약 2분
이렇게 말해 보세요
- “①은 독자가 친구에서 선생님으로, ②는 어른에서 1학년으로 바뀌었어. 어떻게 바꿔 쓸래?”
정답
- ① 예: 선생님, 내일 3시에 찾아뵙겠습니다. (줄임말 없이 높임 표현을 쓰면 맞음)
- ② 예: 비가 오면 체육은 교실(강당)에서 해. (‘우천 시’, ‘실내’를 쉬운 말로 바꾸면 맞음)
막히면
- S08의 도움말 ‘어린 독자에게는 쉬운 말, 어른에게는 높임 표현’을 다시 읽어 줍니다.
주의
- 하나만 바르게 고치면 기록표에 ‘하나만’으로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수업의 복습 질문을 알려 줍니다.
시간: 약 1분
이렇게 말해 보세요
- “처음에 ‘ㄱㄱ’ 문자를 선생님께 보내도 되냐고 물었지? 이제 어떻게 고칠 수 있어?”
예상 답
- “선생님은 어른이니까 높임 표현으로, 줄임말 없이 써요.”
정답
- ① 독자(누가 읽나요?)와 목적(왜 쓰나요?) ② 낱말, 문장, 문단 ③ 예: 돌려주기로 한 날을 꼭 지켜야 해.
막히면
- S03과 S04를 다시 보여 줍니다.
주의
- 지난 시간에 쓴 논설문이 있으면, 독자를 정해(예: 반 친구들) 오늘 배운 방법으로 한 군데만 고쳐 보는 것을 숙제로 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보충(논설문의 짜임 다시 보기)]
목적: 논설문의 짜임을 다시 익혀, 빠진 부분을 찾아 채우는 힘을 먼저 다집니다. 고쳐 쓰기의 ‘더하기’와 같은 힘입니다.
시간: 약 4분
이렇게 말해 보세요
- “S02의 ① ‘우리는 계단에서 오른쪽으로 다녀야 합니다.’는 서론의 두 칸 가운데 어느 칸이야? 빈 칸은?”
- “엄마(아빠)가 문제 상황을 말해 볼게. ‘계단에서 부딪히는 일이 잦습니다.’ 이제 두 문장을 이어 서론을 완성해 봐.”
정답
- S02 ①은 ‘주장’ 칸만 있고 ‘문제 상황’ 칸이 비어 있습니다. 문제 상황 + 주장을 이어 말하면 맞음
- S02 ②는 ‘근거’ 칸만 있고 ‘뒷받침 내용’ 칸이 비어 있습니다.
막히면
- 카드의 작은 질문을 부모가 차례로 묻고, 아이의 대답을 이어 붙여 한 편의 글로 만들어 봅니다.
- 보충으로도 어렵다면 이 차시의 선수 차시인 ‘논설문 쓰기’(KR22-G06-KOR-PERSUADE-L01)를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토론과글쓰기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독자를 생각하며 고쳐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독자를 생각하며 고쳐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독자를 생각하며 고쳐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독자를 생각하며 고쳐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읽을 글인지 생각하면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달라질까?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독자에게 맞지 않는 낱말과 문장을 찾아 고칠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목적에 맞게 문단을 빼거나 더해 고칠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빠졌을까요?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논설문의 짜임을 떠올리며 빠진 것을 찾아요.</a:t>
            </a:r>
            <a:endParaRPr lang="ko-KR" sz="28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서론에는 무엇과 무엇? 근거 뒤에는 무엇?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서론: 우리는 계단에서 오른쪽으로 다녀야 합니다.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본론: 첫째, 오른쪽으로 다니면 부딪히지 않습니다.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쓰기 전에 물어요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독자의 눈으로 다시 읽으면 고칠 곳이 보여요.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읽나요?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나이는? 무엇을 알고 있나요?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쓰나요?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알리기? 설득하기? 마음 전하기?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곳은 세 수준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맞춤법만 고치는 것이 고쳐 쓰기의 전부가 아니에요.</a:t>
            </a:r>
            <a:endParaRPr lang="ko-KR" sz="2800" dirty="0"/>
          </a:p>
        </p:txBody>
      </p:sp>
      <p:sp>
        <p:nvSpPr>
          <p:cNvPr id="5" name="S04-card1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말, 줄임말,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</a:t>
            </a:r>
            <a:endParaRPr lang="ko-KR" sz="2800" dirty="0"/>
          </a:p>
        </p:txBody>
      </p:sp>
      <p:sp>
        <p:nvSpPr>
          <p:cNvPr id="7" name="S04-card2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긴 문장,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어색한 문장</a:t>
            </a:r>
            <a:endParaRPr lang="ko-KR" sz="2800" dirty="0"/>
          </a:p>
        </p:txBody>
      </p:sp>
      <p:sp>
        <p:nvSpPr>
          <p:cNvPr id="9" name="S04-card2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4-cardtext2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관계없는 내용 빼기,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내용 더하기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수아의 초고 ①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독자: 1학년 동생들 · 목적: 도서관 이용 방법 알리기</a:t>
            </a:r>
            <a:endParaRPr lang="ko-KR" sz="28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【가】 문장을 1학년이 한 번에 알아들을까요?</a:t>
            </a:r>
            <a:endParaRPr lang="ko-KR" sz="2800" dirty="0"/>
          </a:p>
        </p:txBody>
      </p:sp>
      <p:sp>
        <p:nvSpPr>
          <p:cNvPr id="6" name="S05-passagebox27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28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동생들에게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안녕? 나는 6학년 수아야. 오늘은 우리 학교 도서관을 이용하는 방법을 알려 줄게.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책을 빌리려면 【가】 읽고 싶은 책을 찾아서 사서 선생님께 가져가고 이름을 말하면 선생님이 컴퓨터에 적어 주시고 그러면 책을 가져갈 수 있어.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수아의 초고 ②</a:t>
            </a:r>
            <a:endParaRPr lang="ko-KR" sz="4000" dirty="0"/>
          </a:p>
        </p:txBody>
      </p:sp>
      <p:sp>
        <p:nvSpPr>
          <p:cNvPr id="3" name="S06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독자: 1학년 동생들 · 목적: 도서관 이용 방법 알리기</a:t>
            </a:r>
            <a:endParaRPr lang="ko-KR" sz="2800" dirty="0"/>
          </a:p>
        </p:txBody>
      </p:sp>
      <p:sp>
        <p:nvSpPr>
          <p:cNvPr id="4" name="S06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【나】~【라】는 낱말·문장·문단 가운데 무엇이 문제일까요?</a:t>
            </a:r>
            <a:endParaRPr lang="ko-KR" sz="2800" dirty="0"/>
          </a:p>
        </p:txBody>
      </p:sp>
      <p:sp>
        <p:nvSpPr>
          <p:cNvPr id="6" name="S06-passagebox32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6-passage33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동생들에게(이어서)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【나】 나는 공룡 책을 제일 좋아해. 지난 방학에는 공룡 책을 스무 권이나 읽었어. 날개 달린 공룡이 나오는 책이 제일 재미있었어.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빌린 책은 【다】 반납 기한을 엄수해야 해. 늦게 돌려주면 【라】 ㄹㅇ 곤란함.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고쳤어요</a:t>
            </a:r>
            <a:endParaRPr lang="ko-KR" sz="4000" dirty="0"/>
          </a:p>
        </p:txBody>
      </p:sp>
      <p:sp>
        <p:nvSpPr>
          <p:cNvPr id="3" name="S07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아는 말로, 한 번에 알아듣게 써요.</a:t>
            </a:r>
            <a:endParaRPr lang="ko-KR" sz="2800" dirty="0"/>
          </a:p>
        </p:txBody>
      </p:sp>
      <p:graphicFrame>
        <p:nvGraphicFramePr>
          <p:cNvPr id="8" name="S07-table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376932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62656"/>
                <a:gridCol w="6912864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고쳐 쓴 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【가】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문장이 너무 길어요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먼저 책을 찾아. 도서관 선생님께 가져가서 이름을 말해.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【다】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1학년에게 어려운 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돌려주기로 한 날을 꼭 지켜야 해.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독자에 맞게 고쳐 봐요</a:t>
            </a:r>
            <a:endParaRPr lang="ko-KR" sz="4000" dirty="0"/>
          </a:p>
        </p:txBody>
      </p:sp>
      <p:sp>
        <p:nvSpPr>
          <p:cNvPr id="3" name="S08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독자를 보고, 알맞은 말로 고쳐 써요.</a:t>
            </a:r>
            <a:endParaRPr lang="ko-KR" sz="2800" dirty="0"/>
          </a:p>
        </p:txBody>
      </p:sp>
      <p:sp>
        <p:nvSpPr>
          <p:cNvPr id="4" name="S08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 독자에게는 쉬운 말, 어른에게는 높임 표현!</a:t>
            </a:r>
            <a:endParaRPr lang="ko-KR" sz="2800" dirty="0"/>
          </a:p>
        </p:txBody>
      </p:sp>
      <p:sp>
        <p:nvSpPr>
          <p:cNvPr id="6" name="S08-chip4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동생에게: 늦게 돌려주면 ㄹㅇ 곤란함.</a:t>
            </a:r>
            <a:endParaRPr lang="ko-KR" sz="2800" dirty="0"/>
          </a:p>
        </p:txBody>
      </p:sp>
      <p:sp>
        <p:nvSpPr>
          <p:cNvPr id="8" name="S08-chip4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할머니께: 할머니, 생신 ㅊㅋㅊㅋ! 이따 같이 밥 먹자.</a:t>
            </a:r>
            <a:endParaRPr lang="ko-KR" sz="2800" dirty="0"/>
          </a:p>
        </p:txBody>
      </p:sp>
      <p:sp>
        <p:nvSpPr>
          <p:cNvPr id="10" name="S08-chip4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동생에게: 열람실에서는 정숙해야 해.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고치는 세 방법</a:t>
            </a:r>
            <a:endParaRPr lang="ko-KR" sz="4000" dirty="0"/>
          </a:p>
        </p:txBody>
      </p:sp>
      <p:sp>
        <p:nvSpPr>
          <p:cNvPr id="3" name="S09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문단마다 ‘목적에 필요한가?’를 물어요.</a:t>
            </a:r>
            <a:endParaRPr lang="ko-KR" sz="2800" dirty="0"/>
          </a:p>
        </p:txBody>
      </p:sp>
      <p:sp>
        <p:nvSpPr>
          <p:cNvPr id="5" name="S09-card48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49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빼기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관계없는 내용</a:t>
            </a:r>
            <a:endParaRPr lang="ko-KR" sz="2800" dirty="0"/>
          </a:p>
        </p:txBody>
      </p:sp>
      <p:sp>
        <p:nvSpPr>
          <p:cNvPr id="7" name="S09-card50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9-cardtext51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꼭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알아야 할 내용</a:t>
            </a:r>
            <a:endParaRPr lang="ko-KR" sz="2800" dirty="0"/>
          </a:p>
        </p:txBody>
      </p:sp>
      <p:sp>
        <p:nvSpPr>
          <p:cNvPr id="9" name="S09-card52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9-cardtext53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옮기기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어색한 내용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고쳐 봐요</a:t>
            </a:r>
            <a:endParaRPr lang="ko-KR" sz="4000" dirty="0"/>
          </a:p>
        </p:txBody>
      </p:sp>
      <p:sp>
        <p:nvSpPr>
          <p:cNvPr id="3" name="S10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수아의 글을 문단 수준에서 고쳐요.</a:t>
            </a:r>
            <a:endParaRPr lang="ko-KR" sz="2800" dirty="0"/>
          </a:p>
        </p:txBody>
      </p:sp>
      <p:sp>
        <p:nvSpPr>
          <p:cNvPr id="4" name="S10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동생이 혼자 도서관에 갈 수 있을까요?</a:t>
            </a:r>
            <a:endParaRPr lang="ko-KR" sz="2800" dirty="0"/>
          </a:p>
        </p:txBody>
      </p:sp>
      <p:sp>
        <p:nvSpPr>
          <p:cNvPr id="6" name="S10-chip5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5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【나】 문단을 빼는 까닭은 무엇인가요?</a:t>
            </a:r>
            <a:endParaRPr lang="ko-KR" sz="2800" dirty="0"/>
          </a:p>
        </p:txBody>
      </p:sp>
      <p:sp>
        <p:nvSpPr>
          <p:cNvPr id="8" name="S10-chip5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1학년이 꼭 알아야 하는데 빠진 내용은?</a:t>
            </a:r>
            <a:endParaRPr lang="ko-KR" sz="2800" dirty="0"/>
          </a:p>
        </p:txBody>
      </p:sp>
      <p:sp>
        <p:nvSpPr>
          <p:cNvPr id="10" name="S10-chip6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내용을 한두 문장으로 써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고쳐 쓰기</a:t>
            </a:r>
            <a:endParaRPr lang="ko-KR" sz="4000" dirty="0"/>
          </a:p>
        </p:txBody>
      </p:sp>
      <p:sp>
        <p:nvSpPr>
          <p:cNvPr id="3" name="S11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독자와 목적을 쓰고, 【가】~【라】를 고쳐 다시 써요.</a:t>
            </a:r>
            <a:endParaRPr lang="ko-KR" sz="2800" dirty="0"/>
          </a:p>
        </p:txBody>
      </p:sp>
      <p:sp>
        <p:nvSpPr>
          <p:cNvPr id="5" name="S11-passagebox6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교장 선생님께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【가】 교장 쌤, 안녕하세요? 저는 6학년 2반 민호입니다.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【나】 운동장에 그늘막 좀 만들어 줘요. 【다】 여름에 체육 하면 완전 덥고 힘듦 ㅠㅠ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【라】 어제 저녁에 먹은 수박이 정말 달았습니다.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그럼 안녕히 계세요.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【다】 예: 쉴 그늘이 없어 무척 덥고 힘듭니다.</a:t>
            </a:r>
            <a:endParaRPr lang="ko-KR" sz="2800" dirty="0"/>
          </a:p>
        </p:txBody>
      </p:sp>
      <p:sp>
        <p:nvSpPr>
          <p:cNvPr id="5" name="S12-chip6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70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【가】 교장 선생님</a:t>
            </a:r>
            <a:endParaRPr lang="ko-KR" sz="2800" dirty="0"/>
          </a:p>
        </p:txBody>
      </p:sp>
      <p:sp>
        <p:nvSpPr>
          <p:cNvPr id="7" name="S12-text71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줄임말 → 바른 말</a:t>
            </a:r>
            <a:endParaRPr lang="ko-KR" sz="2200" dirty="0"/>
          </a:p>
        </p:txBody>
      </p:sp>
      <p:sp>
        <p:nvSpPr>
          <p:cNvPr id="8" name="S12-text72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【나】 만들어 주시면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좋겠습니다</a:t>
            </a:r>
            <a:endParaRPr lang="ko-KR" sz="2200" dirty="0"/>
          </a:p>
        </p:txBody>
      </p:sp>
      <p:sp>
        <p:nvSpPr>
          <p:cNvPr id="9" name="S12-text73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</a:t>
            </a:r>
            <a:endParaRPr lang="ko-KR" sz="2200" dirty="0"/>
          </a:p>
        </p:txBody>
      </p:sp>
      <p:sp>
        <p:nvSpPr>
          <p:cNvPr id="10" name="S12-text74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【라】는 빼요</a:t>
            </a:r>
            <a:endParaRPr lang="ko-KR" sz="2800" dirty="0"/>
          </a:p>
        </p:txBody>
      </p:sp>
      <p:sp>
        <p:nvSpPr>
          <p:cNvPr id="11" name="S12-text75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건의와 관계없음</a:t>
            </a:r>
            <a:endParaRPr lang="ko-KR" sz="2200" dirty="0"/>
          </a:p>
        </p:txBody>
      </p:sp>
      <p:sp>
        <p:nvSpPr>
          <p:cNvPr id="12" name="S12-chip7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7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맞춤법만 고침</a:t>
            </a:r>
            <a:endParaRPr lang="ko-KR" sz="2800" dirty="0"/>
          </a:p>
        </p:txBody>
      </p:sp>
      <p:sp>
        <p:nvSpPr>
          <p:cNvPr id="14" name="S12-text7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독자를 생각해요</a:t>
            </a:r>
            <a:endParaRPr lang="ko-KR" sz="2200" dirty="0"/>
          </a:p>
        </p:txBody>
      </p:sp>
      <p:sp>
        <p:nvSpPr>
          <p:cNvPr id="15" name="S12-text7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【라】를 남김</a:t>
            </a:r>
            <a:endParaRPr lang="ko-KR" sz="2800" dirty="0"/>
          </a:p>
        </p:txBody>
      </p:sp>
      <p:sp>
        <p:nvSpPr>
          <p:cNvPr id="16" name="S12-text8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필요한가요?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독자가 바뀌면?</a:t>
            </a:r>
            <a:endParaRPr lang="ko-KR" sz="4000" dirty="0"/>
          </a:p>
        </p:txBody>
      </p:sp>
      <p:sp>
        <p:nvSpPr>
          <p:cNvPr id="3" name="S13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뜻을 새 독자에게 맞게 고쳐 써요.</a:t>
            </a:r>
            <a:endParaRPr lang="ko-KR" sz="2800" dirty="0"/>
          </a:p>
        </p:txBody>
      </p:sp>
      <p:sp>
        <p:nvSpPr>
          <p:cNvPr id="4" name="S13-chip8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83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보낸 ‘내일 3시 ㄱㄱ’를 선생님께 보낼 말로</a:t>
            </a:r>
            <a:endParaRPr lang="ko-KR" sz="2800" dirty="0"/>
          </a:p>
        </p:txBody>
      </p:sp>
      <p:sp>
        <p:nvSpPr>
          <p:cNvPr id="6" name="S13-chip84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85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어른용 안내 ‘우천 시 실내 체육’을 1학년 동생에게 할 말로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고쳐 쓰기 전에 독자와 목적을 물어요.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 · 문장 · 문단 세 수준에서 독자에게 맞게 고쳐요.</a:t>
            </a:r>
            <a:endParaRPr lang="ko-KR" sz="2800" dirty="0"/>
          </a:p>
        </p:txBody>
      </p:sp>
      <p:sp>
        <p:nvSpPr>
          <p:cNvPr id="5" name="S14-chip88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독자의 눈으로 다시 읽기</a:t>
            </a:r>
            <a:endParaRPr lang="ko-KR" sz="2200" dirty="0"/>
          </a:p>
        </p:txBody>
      </p:sp>
      <p:sp>
        <p:nvSpPr>
          <p:cNvPr id="6" name="S14-chip89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맞춤법만 고치기</a:t>
            </a:r>
            <a:endParaRPr lang="ko-KR" sz="2200" dirty="0"/>
          </a:p>
        </p:txBody>
      </p:sp>
      <p:sp>
        <p:nvSpPr>
          <p:cNvPr id="7" name="S14-text90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1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고쳐 쓰기 전에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묻는 두 가지는?</a:t>
            </a:r>
            <a:endParaRPr lang="ko-KR" sz="2200" dirty="0"/>
          </a:p>
        </p:txBody>
      </p:sp>
      <p:sp>
        <p:nvSpPr>
          <p:cNvPr id="9" name="S14-text92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고칠 곳의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수준은?</a:t>
            </a:r>
            <a:endParaRPr lang="ko-KR" sz="2200" dirty="0"/>
          </a:p>
        </p:txBody>
      </p:sp>
      <p:sp>
        <p:nvSpPr>
          <p:cNvPr id="10" name="S14-text93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‘반납 기한 엄수’를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1학년에게 맞게?</a:t>
            </a:r>
            <a:endParaRPr lang="ko-KR" sz="2200" dirty="0"/>
          </a:p>
        </p:txBody>
      </p:sp>
      <p:sp>
        <p:nvSpPr>
          <p:cNvPr id="11" name="S14-text9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작품 해석 나누기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논설문의 짜임</a:t>
            </a:r>
            <a:endParaRPr lang="ko-KR" sz="4000" dirty="0"/>
          </a:p>
        </p:txBody>
      </p:sp>
      <p:sp>
        <p:nvSpPr>
          <p:cNvPr id="3" name="S15-text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부분에 무엇이 들어가는지 확인해요.</a:t>
            </a:r>
            <a:endParaRPr lang="ko-KR" sz="2800" dirty="0"/>
          </a:p>
        </p:txBody>
      </p:sp>
      <p:sp>
        <p:nvSpPr>
          <p:cNvPr id="4" name="S15-card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칸이 있으면 그 칸을 채워 고쳐 써요.</a:t>
            </a:r>
            <a:endParaRPr lang="ko-KR" sz="2800" dirty="0"/>
          </a:p>
        </p:txBody>
      </p:sp>
      <p:sp>
        <p:nvSpPr>
          <p:cNvPr id="6" name="S15-word98"/>
          <p:cNvSpPr txBox="1"/>
          <p:nvPr/>
        </p:nvSpPr>
        <p:spPr>
          <a:xfrm>
            <a:off x="548640" y="201168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서론: 문제 상황 + 주장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문제인가요? 어떻게 하자는 건가요?</a:t>
            </a:r>
            <a:endParaRPr lang="ko-KR" sz="2800" dirty="0"/>
          </a:p>
        </p:txBody>
      </p:sp>
      <p:sp>
        <p:nvSpPr>
          <p:cNvPr id="7" name="S15-word99"/>
          <p:cNvSpPr txBox="1"/>
          <p:nvPr/>
        </p:nvSpPr>
        <p:spPr>
          <a:xfrm>
            <a:off x="548640" y="313944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본론: 근거 + 뒷받침 내용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그래야 하나요? 어떻게 알 수 있나요?</a:t>
            </a:r>
            <a:endParaRPr lang="ko-KR" sz="2800" dirty="0"/>
          </a:p>
        </p:txBody>
      </p:sp>
      <p:sp>
        <p:nvSpPr>
          <p:cNvPr id="8" name="S15-word100"/>
          <p:cNvSpPr txBox="1"/>
          <p:nvPr/>
        </p:nvSpPr>
        <p:spPr>
          <a:xfrm>
            <a:off x="548640" y="4267200"/>
            <a:ext cx="11091672" cy="853440"/>
          </a:xfrm>
          <a:prstGeom prst="roundRect">
            <a:avLst>
              <a:gd name="adj" fmla="val 15000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주장 강조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그러므로 꼭 이렇게 해요!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독자를 생각하며 고쳐 쓰기</dc:title>
  <dc:subject>KR22-G06-KOR-REVISE-L01</dc:subject>
  <dc:creator>education-ppt</dc:creator>
  <cp:lastModifiedBy>education-ppt</cp:lastModifiedBy>
  <cp:revision>1</cp:revision>
  <dcterms:created xsi:type="dcterms:W3CDTF">2026-10-26T08:57:43Z</dcterms:created>
  <dcterms:modified xsi:type="dcterms:W3CDTF">2026-10-26T08:57:43Z</dcterms:modified>
</cp:coreProperties>
</file>