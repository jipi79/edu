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7b09343-4810-75c8-29ef-39e077c70eef}">
          <p14:sldIdLst>
            <p14:sldId id="256"/>
            <p14:sldId id="257"/>
          </p14:sldIdLst>
        </p14:section>
        <p14:section name="개념" id="{49b7ebd5-02bf-f901-710d-9c5bdb18616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bcd151af-88b8-9832-1647-a33a9a5e0dad}">
          <p14:sldIdLst>
            <p14:sldId id="263"/>
            <p14:sldId id="264"/>
            <p14:sldId id="265"/>
          </p14:sldIdLst>
        </p14:section>
        <p14:section name="확인" id="{8cef0b0d-f932-a12d-d0b4-1f434aeb53bc}">
          <p14:sldIdLst>
            <p14:sldId id="266"/>
            <p14:sldId id="267"/>
          </p14:sldIdLst>
        </p14:section>
        <p14:section name="정리" id="{88cc60a1-4a15-11f0-d671-b2bb518c4ace}">
          <p14:sldIdLst>
            <p14:sldId id="268"/>
          </p14:sldIdLst>
        </p14:section>
        <p14:section name="보충" id="{8f9d7374-d518-9d99-9fc7-e1519178cee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서로 다를 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겨루면 좋을까?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토론의 차례에 따라 근거를 들어 주장을 펼칠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상대의 근거를 듣고 예의 있게 반론할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의견을 견주어 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현관 신발을 어떻게 정리할까?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근거는? 문제를 해결하나요? 모두 지킬 수 있나요?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신발은 모두 신발장에 넣자. 현관이 넓어지니까.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날마다 신는 신발 한 켤레만 꺼내 두자. 아침에 바로 신을 수 있으니까요.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토의와 토론은 달라요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토론에서는 맡은 편의 주장을 끝까지 근거로 펼쳐요.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방법을 찾아요.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찬성과 반대로 나뉘어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상대를 설득해요.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토론할 주제예요.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‘~해야 한다’로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토론의 차례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사회자가 차례와 시간을 알려 줘요.</a:t>
            </a:r>
            <a:endParaRPr lang="ko-KR" sz="28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펼치기: 우리 편 주장과 근거를 말해요.</a:t>
            </a:r>
            <a:endParaRPr lang="ko-KR" sz="28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반론하기: 상대 근거의 약한 점을 짚어요.</a:t>
            </a:r>
            <a:endParaRPr lang="ko-KR" sz="28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다지기: 반론을 받아 우리 주장을 다시 강조해요.</a:t>
            </a:r>
            <a:endParaRPr lang="ko-KR" sz="28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기준에 따라 더 설득력 있는 편을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편의 주장과 근거를 찾아봐요.</a:t>
            </a:r>
            <a:endParaRPr lang="ko-KR" sz="2800" dirty="0"/>
          </a:p>
        </p:txBody>
      </p:sp>
      <p:sp>
        <p:nvSpPr>
          <p:cNvPr id="5" name="S05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학급 문고 책을 집에 빌려 가게 해야 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하윤: 저는 찬성합니다. 쉬는 시간은 10분이라 학교에서는 책을 끝까지 읽기 어렵습니다. 집에 빌려 가면 저녁에 끝까지 읽을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도현: 저는 반대합니다. 책을 집에 가져가면 잃어버리거나 찢어질 수 있습니다. 그러면 다른 친구들이 그 책을 읽지 못합니다.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상대의 어떤 말을 받아 반론했나요?</a:t>
            </a:r>
            <a:endParaRPr lang="ko-KR" sz="2800" dirty="0"/>
          </a:p>
        </p:txBody>
      </p:sp>
      <p:sp>
        <p:nvSpPr>
          <p:cNvPr id="5" name="S06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학급 문고 책을 집에 빌려 가게 해야 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도현: 찬성편은 학교에서 끝까지 읽기 어렵다고 했습니다. 하지만 아침 독서 시간에 이어 읽으면 학교에서도 끝까지 읽을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하윤: 반대편은 책을 잃어버릴 수 있다고 했습니다. 그러나 빌린 사람과 날짜를 공책에 적으면 잃어버리는 일을 줄일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반론과 주장 다지기의 말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말 받기 → 약한 점 짚기 → 내 근거 대기</a:t>
            </a:r>
            <a:endParaRPr lang="ko-KR" sz="2800" dirty="0"/>
          </a:p>
        </p:txBody>
      </p:sp>
      <p:sp>
        <p:nvSpPr>
          <p:cNvPr id="5" name="S07-card3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“~라고 했는데,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그것은 ~ 점에서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맞지 않습니다.”</a:t>
            </a:r>
            <a:endParaRPr lang="ko-KR" sz="2800" dirty="0"/>
          </a:p>
        </p:txBody>
      </p:sp>
      <p:sp>
        <p:nvSpPr>
          <p:cNvPr id="7" name="S07-card4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“~라는 반론이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있었지만, 그래도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때문에 옳습니다.”</a:t>
            </a:r>
            <a:endParaRPr lang="ko-KR" sz="2800" dirty="0"/>
          </a:p>
        </p:txBody>
      </p:sp>
      <p:sp>
        <p:nvSpPr>
          <p:cNvPr id="9" name="S07-card4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아니라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반론이 알맞을까?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도현이의 근거 ‘책을 잃어버릴 수 있다’에 두 사람이 반론했어요.</a:t>
            </a:r>
            <a:endParaRPr lang="ko-KR" sz="2800" dirty="0"/>
          </a:p>
        </p:txBody>
      </p:sp>
      <p:sp>
        <p:nvSpPr>
          <p:cNvPr id="5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알맞은 반론인가요? 왜 그럴까요?</a:t>
            </a:r>
            <a:endParaRPr lang="ko-KR" sz="2800" dirty="0"/>
          </a:p>
        </p:txBody>
      </p:sp>
      <p:sp>
        <p:nvSpPr>
          <p:cNvPr id="7" name="S08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도현이는 원래 물건을 잘 잃어버리잖아요. 그러니까 도현이 말은 틀렸어요.</a:t>
            </a:r>
            <a:endParaRPr lang="ko-KR" sz="2800" dirty="0"/>
          </a:p>
        </p:txBody>
      </p:sp>
      <p:sp>
        <p:nvSpPr>
          <p:cNvPr id="9" name="S08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잃어버릴 수 있다고 했는데, 빌린 사람을 공책에 적으면 줄일 수 있습니다.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반론을 만들어 봐요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반대편이 이렇게 말했어요. 찬성편이 되어 반론해요.</a:t>
            </a:r>
            <a:endParaRPr lang="ko-KR" sz="2800" dirty="0"/>
          </a:p>
        </p:txBody>
      </p:sp>
      <p:sp>
        <p:nvSpPr>
          <p:cNvPr id="4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말 받기 → 약한 점 짚기 → 내 근거 대기</a:t>
            </a:r>
            <a:endParaRPr lang="ko-KR" sz="2800" dirty="0"/>
          </a:p>
        </p:txBody>
      </p:sp>
      <p:sp>
        <p:nvSpPr>
          <p:cNvPr id="6" name="S09-chip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“책을 늦게 돌려주면 다른 친구가 오래 기다려야 합니다.”</a:t>
            </a:r>
            <a:endParaRPr lang="ko-KR" sz="2800" dirty="0"/>
          </a:p>
        </p:txBody>
      </p:sp>
      <p:sp>
        <p:nvSpPr>
          <p:cNvPr id="8" name="S09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“집에서는 누구나 책보다 게임을 먼저 합니다.”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토론을 준비해요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우리 집은 일주일에 하루 ‘화면 없는 날’을 정해야 한다.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준비표에 써요(2분).</a:t>
            </a:r>
            <a:endParaRPr lang="ko-KR" sz="2800" dirty="0"/>
          </a:p>
        </p:txBody>
      </p:sp>
      <p:sp>
        <p:nvSpPr>
          <p:cNvPr id="6" name="S10-card6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 정하기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찬성일까요,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반대일까요?</a:t>
            </a:r>
            <a:endParaRPr lang="ko-KR" sz="2800" dirty="0"/>
          </a:p>
        </p:txBody>
      </p:sp>
      <p:sp>
        <p:nvSpPr>
          <p:cNvPr id="8" name="S10-card6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6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 두 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뒷받침·사실·출처로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점검해요.</a:t>
            </a:r>
            <a:endParaRPr lang="ko-KR" sz="2800" dirty="0"/>
          </a:p>
        </p:txBody>
      </p:sp>
      <p:sp>
        <p:nvSpPr>
          <p:cNvPr id="10" name="S10-card6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0-cardtext6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반론 대비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낼 근거를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토론</a:t>
            </a:r>
            <a:endParaRPr lang="ko-KR" sz="4000" dirty="0"/>
          </a:p>
        </p:txBody>
      </p:sp>
      <p:sp>
        <p:nvSpPr>
          <p:cNvPr id="3" name="S11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우리 집은 일주일에 하루 ‘화면 없는 날’을 정해야 한다.</a:t>
            </a:r>
            <a:endParaRPr lang="ko-KR" sz="2800" dirty="0"/>
          </a:p>
        </p:txBody>
      </p:sp>
      <p:sp>
        <p:nvSpPr>
          <p:cNvPr id="4" name="S11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근거를 들어 주장했나요?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상대 말을 듣고 반론했나요?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차례와 예의를 지켰나요?</a:t>
            </a:r>
            <a:endParaRPr lang="ko-KR" sz="2800" dirty="0"/>
          </a:p>
        </p:txBody>
      </p:sp>
      <p:sp>
        <p:nvSpPr>
          <p:cNvPr id="6" name="S11-stepno71"/>
          <p:cNvSpPr txBox="1"/>
          <p:nvPr/>
        </p:nvSpPr>
        <p:spPr>
          <a:xfrm>
            <a:off x="548640" y="2178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1-text72"/>
          <p:cNvSpPr txBox="1"/>
          <p:nvPr/>
        </p:nvSpPr>
        <p:spPr>
          <a:xfrm>
            <a:off x="1325880" y="2132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→ 반대, 1분씩</a:t>
            </a:r>
            <a:endParaRPr lang="ko-KR" sz="2800" dirty="0"/>
          </a:p>
        </p:txBody>
      </p:sp>
      <p:sp>
        <p:nvSpPr>
          <p:cNvPr id="8" name="S11-stepno73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1-text74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→ 찬성, 1분씩</a:t>
            </a:r>
            <a:endParaRPr lang="ko-KR" sz="2800" dirty="0"/>
          </a:p>
        </p:txBody>
      </p:sp>
      <p:sp>
        <p:nvSpPr>
          <p:cNvPr id="10" name="S11-stepno75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1-text76"/>
          <p:cNvSpPr txBox="1"/>
          <p:nvPr/>
        </p:nvSpPr>
        <p:spPr>
          <a:xfrm>
            <a:off x="1325880" y="4197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→ 반대, 30초씩</a:t>
            </a:r>
            <a:endParaRPr lang="ko-KR" sz="2800" dirty="0"/>
          </a:p>
        </p:txBody>
      </p:sp>
      <p:sp>
        <p:nvSpPr>
          <p:cNvPr id="12" name="S11-stepno77"/>
          <p:cNvSpPr txBox="1"/>
          <p:nvPr/>
        </p:nvSpPr>
        <p:spPr>
          <a:xfrm>
            <a:off x="548640" y="527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1-text78"/>
          <p:cNvSpPr txBox="1"/>
          <p:nvPr/>
        </p:nvSpPr>
        <p:spPr>
          <a:xfrm>
            <a:off x="1325880" y="5229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기준표로 서로 점검해요.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반론해 봐요</a:t>
            </a:r>
            <a:endParaRPr lang="ko-KR" sz="4000" dirty="0"/>
          </a:p>
        </p:txBody>
      </p:sp>
      <p:sp>
        <p:nvSpPr>
          <p:cNvPr id="3" name="S13-text7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학교 쉬는 시간을 15분으로 늘려야 한다.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찬성편: “쉬는 시간이 길면 화장실에 여유 있게 다녀올 수 있습니다.”</a:t>
            </a:r>
            <a:endParaRPr lang="ko-KR" sz="2800" dirty="0"/>
          </a:p>
        </p:txBody>
      </p:sp>
      <p:sp>
        <p:nvSpPr>
          <p:cNvPr id="4" name="S13-chip80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81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반대편이 되어 이 근거에 반론해요.</a:t>
            </a:r>
            <a:endParaRPr lang="ko-KR" sz="2800" dirty="0"/>
          </a:p>
        </p:txBody>
      </p:sp>
      <p:sp>
        <p:nvSpPr>
          <p:cNvPr id="6" name="S13-chip82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83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토론의 세 단계를 차례대로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토론은 주장 펼치기 → 반론하기 → 주장 다지기 차례로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반론은 사람이 아니라 상대의 근거를 따져요.</a:t>
            </a:r>
            <a:endParaRPr lang="ko-KR" sz="2800" dirty="0"/>
          </a:p>
        </p:txBody>
      </p:sp>
      <p:sp>
        <p:nvSpPr>
          <p:cNvPr id="5" name="S14-chip8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상대 말을 받아 반론하기</a:t>
            </a:r>
            <a:endParaRPr lang="ko-KR" sz="2200" dirty="0"/>
          </a:p>
        </p:txBody>
      </p:sp>
      <p:sp>
        <p:nvSpPr>
          <p:cNvPr id="6" name="S14-chip8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사람을 탓하기</a:t>
            </a:r>
            <a:endParaRPr lang="ko-KR" sz="2200" dirty="0"/>
          </a:p>
        </p:txBody>
      </p:sp>
      <p:sp>
        <p:nvSpPr>
          <p:cNvPr id="7" name="S14-text8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찬반 토론의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단계는?</a:t>
            </a:r>
            <a:endParaRPr lang="ko-KR" sz="2200" dirty="0"/>
          </a:p>
        </p:txBody>
      </p:sp>
      <p:sp>
        <p:nvSpPr>
          <p:cNvPr id="9" name="S14-text9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걸음은?</a:t>
            </a:r>
            <a:endParaRPr lang="ko-KR" sz="2200" dirty="0"/>
          </a:p>
        </p:txBody>
      </p:sp>
      <p:sp>
        <p:nvSpPr>
          <p:cNvPr id="10" name="S14-text9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토의와 토론의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점은?</a:t>
            </a:r>
            <a:endParaRPr lang="ko-KR" sz="2200" dirty="0"/>
          </a:p>
        </p:txBody>
      </p:sp>
      <p:sp>
        <p:nvSpPr>
          <p:cNvPr id="11" name="S14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논설문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근거를 들어 말하기</a:t>
            </a:r>
            <a:endParaRPr lang="ko-KR" sz="4000" dirty="0"/>
          </a:p>
        </p:txBody>
      </p:sp>
      <p:sp>
        <p:nvSpPr>
          <p:cNvPr id="3" name="S15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틀에 맞추어 말해 봐요.</a:t>
            </a:r>
            <a:endParaRPr lang="ko-KR" sz="2800" dirty="0"/>
          </a:p>
        </p:txBody>
      </p:sp>
      <p:sp>
        <p:nvSpPr>
          <p:cNvPr id="4" name="S15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 → 근거 → 예의 차례로 말하면 듣는 사람이 알아듣기 쉬워요.</a:t>
            </a:r>
            <a:endParaRPr lang="ko-KR" sz="2800" dirty="0"/>
          </a:p>
        </p:txBody>
      </p:sp>
      <p:sp>
        <p:nvSpPr>
          <p:cNvPr id="6" name="S15-word96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＿＿＿에 찬성(반대)합니다.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편과 주장</a:t>
            </a:r>
            <a:endParaRPr lang="ko-KR" sz="2800" dirty="0"/>
          </a:p>
        </p:txBody>
      </p:sp>
      <p:sp>
        <p:nvSpPr>
          <p:cNvPr id="7" name="S15-word97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 ＿＿＿ 때문입니다.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</p:txBody>
      </p:sp>
      <p:sp>
        <p:nvSpPr>
          <p:cNvPr id="8" name="S15-word98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예를 들어 ＿＿＿.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뒷받침하는 예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토론하기</dc:title>
  <dc:subject>KR22-G06-KOR-DEBATE-L01</dc:subject>
  <dc:creator>education-ppt</dc:creator>
  <cp:lastModifiedBy>education-ppt</cp:lastModifiedBy>
  <cp:revision>1</cp:revision>
  <dcterms:created xsi:type="dcterms:W3CDTF">2026-10-26T08:49:23Z</dcterms:created>
  <dcterms:modified xsi:type="dcterms:W3CDTF">2026-10-26T08:49:23Z</dcterms:modified>
</cp:coreProperties>
</file>