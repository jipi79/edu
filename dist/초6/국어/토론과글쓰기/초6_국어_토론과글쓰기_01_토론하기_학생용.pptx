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1f0027d-e182-0d0b-80e3-cb05179d9674}">
          <p14:sldIdLst>
            <p14:sldId id="256"/>
            <p14:sldId id="257"/>
          </p14:sldIdLst>
        </p14:section>
        <p14:section name="개념" id="{df919f28-ab78-c19d-fc18-5d4678c2a37d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0ca2dab0-7794-2597-b18f-d7ab0587588e}">
          <p14:sldIdLst>
            <p14:sldId id="263"/>
            <p14:sldId id="264"/>
            <p14:sldId id="265"/>
          </p14:sldIdLst>
        </p14:section>
        <p14:section name="확인" id="{bdc2fd7c-a8c4-65b2-16b2-188c658cf0f0}">
          <p14:sldIdLst>
            <p14:sldId id="266"/>
            <p14:sldId id="267"/>
          </p14:sldIdLst>
        </p14:section>
        <p14:section name="정리" id="{d2e0e0de-7193-f7c0-33fc-6e7e15d0f62d}">
          <p14:sldIdLst>
            <p14:sldId id="268"/>
          </p14:sldIdLst>
        </p14:section>
        <p14:section name="보충" id="{cec32e2d-c46b-08a1-fe8b-d26ab6dfb9a4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토론과글쓰기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국어 · 토론하기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국어 · 토론하기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 서로 다를 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겨루면 좋을까?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토론의 차례에 따라 근거를 들어 주장을 펼칠 수 있어요.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상대의 근거를 듣고 예의 있게 반론할 수 있어요.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의견을 견주어 봐요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토의 주제: 현관 신발을 어떻게 정리할까?</a:t>
            </a:r>
            <a:endParaRPr lang="ko-KR" sz="2800" dirty="0"/>
          </a:p>
        </p:txBody>
      </p:sp>
      <p:sp>
        <p:nvSpPr>
          <p:cNvPr id="4" name="S02-card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의견과 근거는? 문제를 해결하나요? 모두 지킬 수 있나요?</a:t>
            </a:r>
            <a:endParaRPr lang="ko-KR" sz="28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엄마: 신발은 모두 신발장에 넣자. 현관이 넓어지니까.</a:t>
            </a:r>
            <a:endParaRPr lang="ko-KR" sz="28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나: 날마다 신는 신발 한 켤레만 꺼내 두자. 아침에 바로 신을 수 있으니까요.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토의와 토론은 달라요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토론에서는 맡은 편의 주장을 끝까지 근거로 펼쳐요.</a:t>
            </a:r>
            <a:endParaRPr lang="ko-KR" sz="2800" dirty="0"/>
          </a:p>
        </p:txBody>
      </p:sp>
      <p:sp>
        <p:nvSpPr>
          <p:cNvPr id="5" name="S03-card12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여럿이 함께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좋은 방법을 찾아요.</a:t>
            </a:r>
            <a:endParaRPr lang="ko-KR" sz="2800" dirty="0"/>
          </a:p>
        </p:txBody>
      </p:sp>
      <p:sp>
        <p:nvSpPr>
          <p:cNvPr id="7" name="S03-card14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5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찬성과 반대로 나뉘어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근거로 상대를 설득해요.</a:t>
            </a:r>
            <a:endParaRPr lang="ko-KR" sz="2800" dirty="0"/>
          </a:p>
        </p:txBody>
      </p:sp>
      <p:sp>
        <p:nvSpPr>
          <p:cNvPr id="9" name="S03-card16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7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토론할 주제예요.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‘~해야 한다’로 써요.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찬반 토론의 차례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사회자가 차례와 시간을 알려 줘요.</a:t>
            </a:r>
            <a:endParaRPr lang="ko-KR" sz="2800" dirty="0"/>
          </a:p>
        </p:txBody>
      </p:sp>
      <p:sp>
        <p:nvSpPr>
          <p:cNvPr id="5" name="S04-stepno20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6" name="S04-text21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펼치기: 우리 편 주장과 근거를 말해요.</a:t>
            </a:r>
            <a:endParaRPr lang="ko-KR" sz="2800" dirty="0"/>
          </a:p>
        </p:txBody>
      </p:sp>
      <p:sp>
        <p:nvSpPr>
          <p:cNvPr id="7" name="S04-stepno22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8" name="S04-text23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반론하기: 상대 근거의 약한 점을 짚어요.</a:t>
            </a:r>
            <a:endParaRPr lang="ko-KR" sz="2800" dirty="0"/>
          </a:p>
        </p:txBody>
      </p:sp>
      <p:sp>
        <p:nvSpPr>
          <p:cNvPr id="9" name="S04-stepno2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0" name="S04-text25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다지기: 반론을 받아 우리 주장을 다시 강조해요.</a:t>
            </a:r>
            <a:endParaRPr lang="ko-KR" sz="2800" dirty="0"/>
          </a:p>
        </p:txBody>
      </p:sp>
      <p:sp>
        <p:nvSpPr>
          <p:cNvPr id="11" name="S04-stepno26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2" name="S04-text27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판정: 기준에 따라 더 설득력 있는 편을 정해요.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펼치기</a:t>
            </a:r>
            <a:endParaRPr lang="ko-KR" sz="4000" dirty="0"/>
          </a:p>
        </p:txBody>
      </p:sp>
      <p:sp>
        <p:nvSpPr>
          <p:cNvPr id="3" name="S05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편의 주장과 근거를 찾아봐요.</a:t>
            </a:r>
            <a:endParaRPr lang="ko-KR" sz="2800" dirty="0"/>
          </a:p>
        </p:txBody>
      </p:sp>
      <p:sp>
        <p:nvSpPr>
          <p:cNvPr id="5" name="S05-passagebox3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3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학급 문고 책을 집에 빌려 가게 해야 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하윤: 저는 찬성합니다. 쉬는 시간은 10분이라 학교에서는 책을 끝까지 읽기 어렵습니다. 집에 빌려 가면 저녁에 끝까지 읽을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 도현: 저는 반대합니다. 책을 집에 가져가면 잃어버리거나 찢어질 수 있습니다. 그러면 다른 친구들이 그 책을 읽지 못합니다.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</a:t>
            </a:r>
            <a:endParaRPr lang="ko-KR" sz="4000" dirty="0"/>
          </a:p>
        </p:txBody>
      </p:sp>
      <p:sp>
        <p:nvSpPr>
          <p:cNvPr id="3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사람은 상대의 어떤 말을 받아 반론했나요?</a:t>
            </a:r>
            <a:endParaRPr lang="ko-KR" sz="2800" dirty="0"/>
          </a:p>
        </p:txBody>
      </p:sp>
      <p:sp>
        <p:nvSpPr>
          <p:cNvPr id="5" name="S06-passagebox34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6-passage35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학급 문고 책을 집에 빌려 가게 해야 한다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 도현: 찬성편은 학교에서 끝까지 읽기 어렵다고 했습니다. 하지만 아침 독서 시간에 이어 읽으면 학교에서도 끝까지 읽을 수 있습니다.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하윤: 반대편은 책을 잃어버릴 수 있다고 했습니다. 그러나 빌린 사람과 날짜를 공책에 적으면 잃어버리는 일을 줄일 수 있습니다.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반론과 주장 다지기의 말</a:t>
            </a:r>
            <a:endParaRPr lang="ko-KR" sz="40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 말 받기 → 약한 점 짚기 → 내 근거 대기</a:t>
            </a:r>
            <a:endParaRPr lang="ko-KR" sz="2800" dirty="0"/>
          </a:p>
        </p:txBody>
      </p:sp>
      <p:sp>
        <p:nvSpPr>
          <p:cNvPr id="5" name="S07-card3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3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“~라고 했는데,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그것은 ~ 점에서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맞지 않습니다.”</a:t>
            </a:r>
            <a:endParaRPr lang="ko-KR" sz="2800" dirty="0"/>
          </a:p>
        </p:txBody>
      </p:sp>
      <p:sp>
        <p:nvSpPr>
          <p:cNvPr id="7" name="S07-card4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다지기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“~라는 반론이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있었지만, 그래도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~ 때문에 옳습니다.”</a:t>
            </a:r>
            <a:endParaRPr lang="ko-KR" sz="2800" dirty="0"/>
          </a:p>
        </p:txBody>
      </p:sp>
      <p:sp>
        <p:nvSpPr>
          <p:cNvPr id="9" name="S07-card4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0" name="S07-cardtext4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지키고,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아니라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근거를 따져요.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반론이 알맞을까?</a:t>
            </a:r>
            <a:endParaRPr lang="ko-KR" sz="4000" dirty="0"/>
          </a:p>
        </p:txBody>
      </p:sp>
      <p:sp>
        <p:nvSpPr>
          <p:cNvPr id="3" name="S08-card4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도현이의 근거 ‘책을 잃어버릴 수 있다’에 두 사람이 반론했어요.</a:t>
            </a:r>
            <a:endParaRPr lang="ko-KR" sz="2800" dirty="0"/>
          </a:p>
        </p:txBody>
      </p:sp>
      <p:sp>
        <p:nvSpPr>
          <p:cNvPr id="5" name="S08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알맞은 반론인가요? 왜 그럴까요?</a:t>
            </a:r>
            <a:endParaRPr lang="ko-KR" sz="2800" dirty="0"/>
          </a:p>
        </p:txBody>
      </p:sp>
      <p:sp>
        <p:nvSpPr>
          <p:cNvPr id="7" name="S08-chip4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8-text49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도현이는 원래 물건을 잘 잃어버리잖아요. 그러니까 도현이 말은 틀렸어요.</a:t>
            </a:r>
            <a:endParaRPr lang="ko-KR" sz="2800" dirty="0"/>
          </a:p>
        </p:txBody>
      </p:sp>
      <p:sp>
        <p:nvSpPr>
          <p:cNvPr id="9" name="S08-chip5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8-text51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잃어버릴 수 있다고 했는데, 빌린 사람을 공책에 적으면 줄일 수 있습니다.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반론을 만들어 봐요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반대편이 이렇게 말했어요. 찬성편이 되어 반론해요.</a:t>
            </a:r>
            <a:endParaRPr lang="ko-KR" sz="28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 말 받기 → 약한 점 짚기 → 내 근거 대기</a:t>
            </a:r>
            <a:endParaRPr lang="ko-KR" sz="28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“책을 늦게 돌려주면 다른 친구가 오래 기다려야 합니다.”</a:t>
            </a:r>
            <a:endParaRPr lang="ko-KR" sz="28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“집에서는 누구나 책보다 게임을 먼저 합니다.”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토론을 준비해요</a:t>
            </a:r>
            <a:endParaRPr lang="ko-KR" sz="4000" dirty="0"/>
          </a:p>
        </p:txBody>
      </p:sp>
      <p:sp>
        <p:nvSpPr>
          <p:cNvPr id="3" name="S10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우리 집은 일주일에 하루 ‘화면 없는 날’을 정해야 한다.</a:t>
            </a:r>
            <a:endParaRPr lang="ko-KR" sz="2800" dirty="0"/>
          </a:p>
        </p:txBody>
      </p:sp>
      <p:sp>
        <p:nvSpPr>
          <p:cNvPr id="4" name="S10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2의 준비표에 써요(2분).</a:t>
            </a:r>
            <a:endParaRPr lang="ko-KR" sz="2800" dirty="0"/>
          </a:p>
        </p:txBody>
      </p:sp>
      <p:sp>
        <p:nvSpPr>
          <p:cNvPr id="6" name="S10-card6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6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편 정하기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찬성일까요,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반대일까요?</a:t>
            </a:r>
            <a:endParaRPr lang="ko-KR" sz="2800" dirty="0"/>
          </a:p>
        </p:txBody>
      </p:sp>
      <p:sp>
        <p:nvSpPr>
          <p:cNvPr id="8" name="S10-card6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0-cardtext6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근거 두 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뒷받침·사실·출처로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점검해요.</a:t>
            </a:r>
            <a:endParaRPr lang="ko-KR" sz="2800" dirty="0"/>
          </a:p>
        </p:txBody>
      </p:sp>
      <p:sp>
        <p:nvSpPr>
          <p:cNvPr id="10" name="S10-card6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10-cardtext6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반론 대비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상대가 낼 근거를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토론</a:t>
            </a:r>
            <a:endParaRPr lang="ko-KR" sz="4000" dirty="0"/>
          </a:p>
        </p:txBody>
      </p:sp>
      <p:sp>
        <p:nvSpPr>
          <p:cNvPr id="3" name="S11-text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우리 집은 일주일에 하루 ‘화면 없는 날’을 정해야 한다.</a:t>
            </a:r>
            <a:endParaRPr lang="ko-KR" sz="2800" dirty="0"/>
          </a:p>
        </p:txBody>
      </p:sp>
      <p:sp>
        <p:nvSpPr>
          <p:cNvPr id="4" name="S11-card69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0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기준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근거를 들어 주장했나요?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상대 말을 듣고 반론했나요?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차례와 예의를 지켰나요?</a:t>
            </a:r>
            <a:endParaRPr lang="ko-KR" sz="2800" dirty="0"/>
          </a:p>
        </p:txBody>
      </p:sp>
      <p:sp>
        <p:nvSpPr>
          <p:cNvPr id="6" name="S11-stepno71"/>
          <p:cNvSpPr txBox="1"/>
          <p:nvPr/>
        </p:nvSpPr>
        <p:spPr>
          <a:xfrm>
            <a:off x="548640" y="2178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11-text72"/>
          <p:cNvSpPr txBox="1"/>
          <p:nvPr/>
        </p:nvSpPr>
        <p:spPr>
          <a:xfrm>
            <a:off x="1325880" y="2132584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펼치기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→ 반대, 1분씩</a:t>
            </a:r>
            <a:endParaRPr lang="ko-KR" sz="2800" dirty="0"/>
          </a:p>
        </p:txBody>
      </p:sp>
      <p:sp>
        <p:nvSpPr>
          <p:cNvPr id="8" name="S11-stepno73"/>
          <p:cNvSpPr txBox="1"/>
          <p:nvPr/>
        </p:nvSpPr>
        <p:spPr>
          <a:xfrm>
            <a:off x="548640" y="3210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11-text74"/>
          <p:cNvSpPr txBox="1"/>
          <p:nvPr/>
        </p:nvSpPr>
        <p:spPr>
          <a:xfrm>
            <a:off x="1325880" y="3164840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반론하기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 → 찬성, 1분씩</a:t>
            </a:r>
            <a:endParaRPr lang="ko-KR" sz="2800" dirty="0"/>
          </a:p>
        </p:txBody>
      </p:sp>
      <p:sp>
        <p:nvSpPr>
          <p:cNvPr id="10" name="S11-stepno75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1" name="S11-text76"/>
          <p:cNvSpPr txBox="1"/>
          <p:nvPr/>
        </p:nvSpPr>
        <p:spPr>
          <a:xfrm>
            <a:off x="1325880" y="4197096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주장 다지기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 → 반대, 30초씩</a:t>
            </a:r>
            <a:endParaRPr lang="ko-KR" sz="2800" dirty="0"/>
          </a:p>
        </p:txBody>
      </p:sp>
      <p:sp>
        <p:nvSpPr>
          <p:cNvPr id="12" name="S11-stepno77"/>
          <p:cNvSpPr txBox="1"/>
          <p:nvPr/>
        </p:nvSpPr>
        <p:spPr>
          <a:xfrm>
            <a:off x="548640" y="527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3" name="S11-text78"/>
          <p:cNvSpPr txBox="1"/>
          <p:nvPr/>
        </p:nvSpPr>
        <p:spPr>
          <a:xfrm>
            <a:off x="1325880" y="5229352"/>
            <a:ext cx="512201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기준표로 서로 점검해요.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반론해 봐요</a:t>
            </a:r>
            <a:endParaRPr lang="ko-KR" sz="4000" dirty="0"/>
          </a:p>
        </p:txBody>
      </p:sp>
      <p:sp>
        <p:nvSpPr>
          <p:cNvPr id="3" name="S13-text79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논제: 학교 쉬는 시간을 15분으로 늘려야 한다.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찬성편: “쉬는 시간이 길면 화장실에 여유 있게 다녀올 수 있습니다.”</a:t>
            </a:r>
            <a:endParaRPr lang="ko-KR" sz="2800" dirty="0"/>
          </a:p>
        </p:txBody>
      </p:sp>
      <p:sp>
        <p:nvSpPr>
          <p:cNvPr id="4" name="S13-chip80"/>
          <p:cNvSpPr txBox="1"/>
          <p:nvPr/>
        </p:nvSpPr>
        <p:spPr>
          <a:xfrm>
            <a:off x="548640" y="28244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81"/>
          <p:cNvSpPr txBox="1"/>
          <p:nvPr/>
        </p:nvSpPr>
        <p:spPr>
          <a:xfrm>
            <a:off x="1344168" y="2376424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반대편이 되어 이 근거에 반론해요.</a:t>
            </a:r>
            <a:endParaRPr lang="ko-KR" sz="2800" dirty="0"/>
          </a:p>
        </p:txBody>
      </p:sp>
      <p:sp>
        <p:nvSpPr>
          <p:cNvPr id="6" name="S13-chip82"/>
          <p:cNvSpPr txBox="1"/>
          <p:nvPr/>
        </p:nvSpPr>
        <p:spPr>
          <a:xfrm>
            <a:off x="548640" y="483666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83"/>
          <p:cNvSpPr txBox="1"/>
          <p:nvPr/>
        </p:nvSpPr>
        <p:spPr>
          <a:xfrm>
            <a:off x="1344168" y="4388612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찬반 토론의 세 단계를 차례대로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찬반 토론은 주장 펼치기 → 반론하기 → 주장 다지기 차례로 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반론은 사람이 아니라 상대의 근거를 따져요.</a:t>
            </a:r>
            <a:endParaRPr lang="ko-KR" sz="2800" dirty="0"/>
          </a:p>
        </p:txBody>
      </p:sp>
      <p:sp>
        <p:nvSpPr>
          <p:cNvPr id="5" name="S14-chip8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상대 말을 받아 반론하기</a:t>
            </a:r>
            <a:endParaRPr lang="ko-KR" sz="2200" dirty="0"/>
          </a:p>
        </p:txBody>
      </p:sp>
      <p:sp>
        <p:nvSpPr>
          <p:cNvPr id="6" name="S14-chip8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사람을 탓하기</a:t>
            </a:r>
            <a:endParaRPr lang="ko-KR" sz="2200" dirty="0"/>
          </a:p>
        </p:txBody>
      </p:sp>
      <p:sp>
        <p:nvSpPr>
          <p:cNvPr id="7" name="S14-text8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8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찬반 토론의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단계는?</a:t>
            </a:r>
            <a:endParaRPr lang="ko-KR" sz="2200" dirty="0"/>
          </a:p>
        </p:txBody>
      </p:sp>
      <p:sp>
        <p:nvSpPr>
          <p:cNvPr id="9" name="S14-text9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반론의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걸음은?</a:t>
            </a:r>
            <a:endParaRPr lang="ko-KR" sz="2200" dirty="0"/>
          </a:p>
        </p:txBody>
      </p:sp>
      <p:sp>
        <p:nvSpPr>
          <p:cNvPr id="10" name="S14-text9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토의와 토론의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점은?</a:t>
            </a:r>
            <a:endParaRPr lang="ko-KR" sz="2200" dirty="0"/>
          </a:p>
        </p:txBody>
      </p:sp>
      <p:sp>
        <p:nvSpPr>
          <p:cNvPr id="11" name="S14-text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논설문 쓰기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근거를 들어 말하기</a:t>
            </a:r>
            <a:endParaRPr lang="ko-KR" sz="4000" dirty="0"/>
          </a:p>
        </p:txBody>
      </p:sp>
      <p:sp>
        <p:nvSpPr>
          <p:cNvPr id="3" name="S15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틀에 맞추어 말해 봐요.</a:t>
            </a:r>
            <a:endParaRPr lang="ko-KR" sz="2800" dirty="0"/>
          </a:p>
        </p:txBody>
      </p:sp>
      <p:sp>
        <p:nvSpPr>
          <p:cNvPr id="4" name="S15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 → 근거 → 예의 차례로 말하면 듣는 사람이 알아듣기 쉬워요.</a:t>
            </a:r>
            <a:endParaRPr lang="ko-KR" sz="2800" dirty="0"/>
          </a:p>
        </p:txBody>
      </p:sp>
      <p:sp>
        <p:nvSpPr>
          <p:cNvPr id="6" name="S15-word96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＿＿＿에 찬성(반대)합니다.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편과 주장</a:t>
            </a:r>
            <a:endParaRPr lang="ko-KR" sz="2800" dirty="0"/>
          </a:p>
        </p:txBody>
      </p:sp>
      <p:sp>
        <p:nvSpPr>
          <p:cNvPr id="7" name="S15-word97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왜냐하면 ＿＿＿ 때문입니다.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ko-KR" sz="2800" dirty="0"/>
          </a:p>
        </p:txBody>
      </p:sp>
      <p:sp>
        <p:nvSpPr>
          <p:cNvPr id="8" name="S15-word98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예를 들어 ＿＿＿.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0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뒷받침하는 예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국어 토론하기</dc:title>
  <dc:subject>KR22-G06-KOR-DEBATE-L01</dc:subject>
  <dc:creator>education-ppt</dc:creator>
  <cp:lastModifiedBy>education-ppt</cp:lastModifiedBy>
  <cp:revision>1</cp:revision>
  <dcterms:created xsi:type="dcterms:W3CDTF">2026-10-26T09:12:32Z</dcterms:created>
  <dcterms:modified xsi:type="dcterms:W3CDTF">2026-10-26T09:12:32Z</dcterms:modified>
</cp:coreProperties>
</file>