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b06a5e-96c6-bd38-62b5-91f52033068a}">
          <p14:sldIdLst>
            <p14:sldId id="256"/>
            <p14:sldId id="257"/>
          </p14:sldIdLst>
        </p14:section>
        <p14:section name="개념" id="{ddad7f1c-b027-0e0c-0724-0ee5a2106afb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a9e3fdcd-55fd-a041-1b17-1649892986e1}">
          <p14:sldIdLst>
            <p14:sldId id="263"/>
            <p14:sldId id="264"/>
          </p14:sldIdLst>
        </p14:section>
        <p14:section name="확인" id="{d37d513f-5543-7419-0c2c-d5f7b4e381ec}">
          <p14:sldIdLst>
            <p14:sldId id="265"/>
            <p14:sldId id="266"/>
            <p14:sldId id="267"/>
          </p14:sldIdLst>
        </p14:section>
        <p14:section name="정리" id="{2a304335-1700-68e6-2a70-842052312ae0}">
          <p14:sldIdLst>
            <p14:sldId id="268"/>
          </p14:sldIdLst>
        </p14:section>
        <p14:section name="보충" id="{92c30871-7954-2085-e0a1-f17b83aed27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평소에 보는 뉴스와 광고를 떠올리며, 따져 보며 읽어야 하는 까닭을 느끼게 하고 오늘 배울 것을 알립니다.
시간: 약 2분
이렇게 말해 보세요
- “광고를 보고 갖고 싶었는데, 막상 사 보니 광고랑 달랐던 적 있어?”
- “뉴스와 광고도 사람이 어떤 의도를 가지고 만든 거야. 내용을 따져 보며 읽는 것을 ‘비판적으로 본다’고 해. 오늘은 뉴스와 광고를 비판적으로 보는 방법을 배울 거야.”
예상 답
- “장난감이 광고보다 작았어요.” “맛이 광고랑 달랐어요.”
막히면
- 부모가 겪은 예(예: 사진보다 작았던 음식, 광고보다 빨리 닳은 물건)를 먼저 이야기해 줍니다.
주의
- ‘비판’은 나쁘게 말하는 것이 아니라 ‘따져 보는 것’이라는 점을 짚어 줍니다. 오늘 쓰는 뉴스와 광고는 모두 수업을 위해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확인(비유 표현, 사실과 의견)]
목적: 지난 차시 ‘작품 해석 나누기’(KR22-G06-KOR-INTERPRET-L01)에서 배운 비유 찾기와, 6학년 ‘사실과 의견’에서 배운 사실과 의견 구별을 확인합니다. 광고는 이 두 가지를 모두 씁니다.
시간: 약 3분
이렇게 말해 보세요
- “①은 무엇을 무엇에 빗댔어? 광고는 왜 이렇게 빗대어 말했을까?”
- “②와 ③은 사실이야, 의견이야? 어떻게 알았어?”
정답
- ① 운동화를 깃털에 빗댐(직유) — 아주 가볍다는 느낌을 주려고
- ② 사실(저울로 재어 확인할 수 있음)
- ③ 의견(멋진지는 사람마다 생각이 다름)
막히면
- “저울로 재 볼 수 있어? ‘가장 멋지다’는 누구나 똑같이 생각할까?”라고 확인할 수 있는지를 묻습니다.
- 비유나 사실·의견을 가리지 못하면 S14(보충)를 먼저 하고, 그래도 어려우면 ‘작품 해석 나누기’(KR22-G06-KOR-INTERPRET-L01)나 6학년 ‘사실과 의견’을 다시 합니다.
주의
- ②의 200 g이 정말 맞는지는 광고만으로 알 수 없습니다. ‘확인할 수 있는 말’이라서 사실을 말하는 문장이고, 실제로 맞는지는 따로 확인해야 한다고 덧붙이면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뉴스를 따지는 세 가지]
목적: 뉴스를 읽을 때 따질 세 가지를 알려 줍니다(목표 A).
시간: 약 2분
이렇게 말해 보세요
- “뉴스는 일어난 일을 알려 주는 글이야. 그런데 뉴스 안에도 사실과 의견이 섞여 있어. 기사 속 사람이 한 말은 그 사람의 생각이야.”
- “정확한 뉴스는 누가, 언제, 어디서, 무엇을 했는지가 분명하고, 어디서 알아낸 것인지(출처)도 밝혀. 그리고 제목이 내용과 맞아야 해.”
예상 답
- “사실인지, 정확한지, 제목이 맞는지요.”
막히면
- “우리 반 소식을 친구들에게 알린다면, 무엇을 꼭 써야 할까?”라고 물어 누가·언제·어디서·무엇을을 떠올리게 합니다.
주의
- ‘출처’는 ‘근거의 타당성’에서 배운 누가·언제·어떻게와 같은 생각입니다.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 읽기(뉴스의 사실과 의견)]
목적: 부모가 생각을 소리 내어 말하며 뉴스 속 사실과 의견을 나누고, 누가·언제·어디서·무엇을 찾는 과정을 보여 줍니다(목표 A, 오해 M1). 이 기사는 수업을 위해 지어낸 것입니다.
시간: 약 4분
이렇게 말해 보세요
- “①문단을 볼게. 언제? 지난 15일. 어디서? ○○동 놀이터. 누가, 무엇을? 주민이 헐거워진 손잡이를 발견했고, 구청이 다음 날 고쳤어. 다친 어린이는 없었고. 모두 확인할 수 있는 일이니까 사실이야.”
- “②문단의 따옴표 속 말은 누구의 생각이야? ‘더 자주 살펴야 한다’는 확인할 수 있는 일이야, 그 주민의 생각이야?”
예상 답
- “주민의 생각이니까 의견이에요.”
정답
- 사실: 15일 손잡이가 헐거워진 것을 주민이 발견해 알림 / 다음 날 구청이 고침 / 다친 어린이는 없음 / 구청이 앞으로 한 달에 한 번 점검하겠다고 밝힘
- 의견: 주민의 말 “아이들이 많이 노는 곳인 만큼 더 자주 살펴야 한다”
막히면
- 문장마다 “이건 누가 확인해 볼 수 있어?”라고 묻고, 확인할 수 있으면 밑줄, 누군가의 생각이면 물결줄을 긋게 합니다.
주의
- ‘구청은 점검하겠다고 밝혔다’는 앞으로 할 일이지만, 구청이 그렇게 말했다는 것은 확인할 수 있는 사실입니다. 아이가 헷갈려하면 이 정도로만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제목의 표현 의도와 정확성]
목적: 같은 뉴스라도 제목에 따라 받는 느낌이 달라지고, 눈길을 끌려고 부풀린 제목은 내용과 맞지 않을 수 있다는 것을 보여 줍니다(목표 A, 오해 M2).
시간: 약 3분
이렇게 말해 보세요
- “가 제목만 보면 어떤 느낌이 들어? 놀이터에 큰 사고가 난 것 같지?”
- “그런데 본문에는 뭐라고 했어? 다친 어린이가 있었어? 아이들 모두가 위험했어? 가 제목은 왜 이렇게 썼을까?”
예상 답
- “사람들이 깜짝 놀라서 많이 보게 하려고요.”
정답
- 가: 사람들이 놀라서 뉴스를 많이 보게 하려는 의도로 부풀렸습니다. ‘공포’, ‘모두 위험’은 본문(다친 어린이 없음, 하루 만에 고침)과 맞지 않습니다.
- 나: 누가(구청)·어디서(○○동 놀이터)·무엇을(손잡이를 하루 만에 고침)이 본문과 맞는 정확한 제목입니다.
막히면
- 가 제목의 낱말 하나하나(‘공포’, ‘모두’, ‘위험’)를 본문에서 찾아보게 합니다. 본문에 없으면 부풀린 말입니다.
주의
- 제목만 읽고 뉴스를 퍼뜨리지 않는 습관이 중요하다고 덧붙여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광고 읽기(표현 의도)]
목적: 광고 화면을 글로 옮긴 것을 읽으며, 광고의 표현 의도(물건을 사게 하려는 것)와 그것을 위해 쓴 표현을 살펴봅니다(목표 B). 이 광고와 운동화는 수업을 위해 지어낸 것입니다.
시간: 약 3분
이렇게 말해 보세요
- “이 광고는 사진 대신 글로 옮겼어. 화면을 떠올리며 읽어 볼래?”
- “광고를 만든 사람은 우리가 무엇을 하기를 바랄까? 그러려고 어떤 말과 장면을 썼어?”
- “‘지금 사지 않으면 후회해요’는 어떤 마음이 들게 해?”
예상 답
- “운동화를 사게 하려고요.” “빨리 사야 할 것 같아요.”
정답
- 의도: 운동화를 사게 하려는 것(오늘 당장 사도록 서두르게 함)
- 쓴 표현: 1등 하는 장면, ‘누구나 1등’, ‘100%가 고른’, ‘오늘만 반값’, ‘후회해요’
막히면
- “이 광고를 보고 나면 무엇이 하고 싶어져?”라고 아이의 마음을 먼저 묻습니다.
주의
- 광고가 나쁜 것은 아닙니다. 물건의 좋은 점을 알리는 것은 광고의 역할입니다. 다만 사기 전에 사실인지, 빠진 정보는 없는지 따져야 한다는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광고 따져 보기(부풀린 말, 출처, 빠진 정보)]
목적: 광고의 말마다 부풀린 말인지, 출처가 있는지, 빠진 정보가 무엇인지 따지는 방법을 보여 줍니다(목표 B, 오해 M3).
시간: 약 3분
이렇게 말해 보세요
- “‘누구나 1등’은 정말일까? 운동화를 신은 친구들이 모두 1등을 할 수 있어? 달리기는 연습과 실력이 중요하지.”
- “‘100%’는 몇 명에게 물었는지 나와 있어? 친구 세 명에게 물어서 세 명 모두 골랐어도 100%야.”
- “‘반값’이라는데 원래 값이 얼마인지 나와 있어? ‘오늘’은 며칠이야?”
예상 답
- “세 명에게만 물어도 100%네요! 몇 명인지 알아야 해요.”
막히면
- “이 광고만 보고 이 운동화를 살지 정할 수 있어? 더 알고 싶은 게 뭐야?”라고 물어 빠진 정보를 떠올리게 합니다.
주의
- 숫자(100%, 반값)가 있으면 정확해 보이지만, 무엇을 기준으로 센 숫자인지 알아야 믿을 수 있습니다(오해 M3).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뉴스 문장의 사실과 의견 나누기]
목적: 뉴스 문장을 사실과 의견으로 나누고, 출처가 밝혀진 문장을 알아봅니다(목표 A, 오해 M1).
시간: 약 3분
이렇게 말해 보세요
- “네 문장을 사실과 의견으로 나누어 볼래? 어떻게 알았는지도 말해 줘.”
- “③에는 ‘구청에 따르면’이 있지? 이건 무엇을 알려 주는 말일까?”
정답
- ① 사실(여는 시간은 확인할 수 있음)
- ② 의견(‘누구나 ~될 것이다’는 글쓴이의 생각이고 부풀린 말)
- ③ 사실(출처 ‘구청에 따르면’이 밝혀져 있어 확인할 수 있음)
- ④ 의견(‘훌륭한 결정’은 생각)
막히면
- S04에서처럼 “이건 누가 확인해 볼 수 있어?”라고 문장마다 묻습니다.
주의
- 좋은 뉴스는 사실을 중심으로 쓰고, 의견은 누구의 생각인지 밝혀 씁니다. ②와 ④처럼 기자가 자기 생각을 사실처럼 섞어 쓰면 따져 보아야 한다고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광고 따져 보기 연습(연필 광고)]
목적: 처음 보는 광고에서 의도, 부풀린 말, 확인할 정보를 찾아봅니다(목표 B, 오해 M3).
시간: 약 3분
이렇게 말해 보세요
- “S07의 표처럼 광고의 말마다 따져 볼래? 먼저 이 광고는 우리가 무엇을 하기를 바랄까?”
- “‘선생님들이 가장 많이 추천’은 어떤 선생님들이 몇 명이나 추천한 걸까?”
정답
- ① 연필을 사게 하려는 것(한 번에 여러 자루 사게 하려는 것)
- ② ‘이 연필로 쓰면 받아쓰기 100점’ — 연필이 받아쓰기 점수를 정하지 않음(부풀린 말)
- ③ ‘선생님들이 가장 많이 추천’ — 어떤 선생님들이, 몇 명이, 무엇과 견주어 추천했는지 / ‘3자루 사면 1자루 더’ — 한 자루 값이 얼마인지, 언제까지인지
- 기준: 의도와 부풀린 말, 확인할 정보를 각각 하나 이상 말하면 잘함
막히면
- S07의 세 칸(부풀린 말, 출처가 없음, 빠진 정보)을 하나씩 보여 주고 연필 광고의 말과 짝을 짓게 합니다.
주의
- ‘3자루 사면 1자루 더’를 ‘좋은 거래’라고 하면, 4자루가 정말 필요한지와 한 자루 값을 따져 보자고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보기(뉴스의 사실·의견과 제목)]
목적: 도움 없이 뉴스의 사실과 의견을 나누고, 내용과 맞지 않게 부풀린 제목을 찾아 고치는지 확인합니다(목표 A). 이 기사는 수업을 위해 지어낸 것입니다.
시간: 약 7분
이렇게 말해 보세요
- “이번에는 혼자 해 볼래? 활동지 5에 같은 기사가 있어. 사실에 밑줄, 의견에 물결줄을 그어 봐.”
- “제목에서 본문과 맞지 않는 말이 있어? 찾았으면 본문에 맞게 제목을 고쳐 써 봐.”
정답
- 사실: 3일 ○○초등학교 앞 횡단보도에 신호등이 새로 생김 / 그동안 신호등이 없어 차가 지나가기를 기다렸다가 건넘 / 경찰서가 교통 안내를 계속하겠다고 밝힘
- 의견: 학부모의 말 “아이들이 훨씬 마음 편히 학교에 다닐 것 같다”
- 제목의 문제: ‘완벽하게 안전해졌다’는 부풀린 말입니다. 본문은 신호등이 생겼다는 것이고, 사고가 완전히 없어진다는 내용은 없습니다(경찰서도 교통 안내를 계속한다고 함).
- 고친 제목 예: ○○초등학교 앞 횡단보도에 신호등 새로 생겨
- 기준: 의견(학부모의 말)을 바르게 가리고, ‘완벽하게’를 찾아 본문에 맞는 제목으로 고치면 잘함
막히면
- S03의 세 카드와 S05의 두 제목을 다시 보여 줍니다.
- 도움을 받아 해결했다면 기록표에 ‘도움’으로 표시합니다.
주의
- 학부모의 말을 사실이라고 하면 “따옴표 속 말은 누구의 생각이야?”라고 묻습니다(오해 M1). 사실과 의견은 나누었지만 제목을 고치지 못하면 기록표에 ‘나누기만’으로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“네가 나눈 사실과 의견은 왼쪽과 같아? 네가 고친 제목은 본문과 맞아?”
- “오른쪽 실수는 왜 아쉬울까?”
예상 답
- “학부모 말을 사실이라고 했는데, 그 사람 생각이니까 의견이에요.”
정답
- 사실: 신호등이 새로 생김, 그동안 신호등이 없었음, 경찰서가 교통 안내를 계속하겠다고 밝힘 / 의견: 학부모의 말 / 제목: ‘완벽하게 안전해졌다’는 부풀린 말 → 본문에 맞게 고침
막히면
- 활동지 5에서 문장마다 “확인할 수 있어?”를 함께 물어봅니다.
주의
- 이 장은 학생용 파일에서 빠집니다. 고친 제목은 본문과 맞으면 표현이 달라도 맞음입니다.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확인(광고의 의도와 따질 점)]
목적: 처음 보는 광고에서 의도와 부풀린 말, 확인할 정보를 스스로 찾는지 확인합니다(목표 B).
시간: 약 3분
이렇게 말해 보세요
- “이 광고는 우리에게 무엇을 하게 하려는 걸까? 따져 볼 말은 무엇이야?”
정답
- ① 지우개를 사게 하려는 것(지금 바로 사게 하려는 것)
- ② 부풀린 말: ‘한 번만 문지르면 모든 글씨가’ — 볼펜·사인펜 글씨까지 모두 지워지기는 어렵습니다. / 확인할 정보: 지우개 값, ‘지금’이 언제까지인지, 어떤 글씨가 지워지는지
- 기준: 의도, 부풀린 말, 확인할 정보를 모두 말하면 잘함
막히면
- S07의 표를 다시 보여 줍니다.
주의
- 의도만 말하고 따질 점을 찾지 못하면 기록표에 ‘의도만’으로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“처음에 뉴스와 광고를 그대로 믿어도 되냐고 물었지? 이제 무엇을 따져 볼 거야?”
예상 답
- “사실인지 의견인지, 제목이 내용과 맞는지 봐요. 광고는 부풀린 말이 없는지 따져요.”
정답
- ① 그 사람의 생각이므로 의견 ② 누구에게, 몇 명에게 물었나요? ③ 물건을 사게(무언가를 하게) 하려는 것
막히면
- S03과 S07을 다시 보여 줍니다.
주의
- 집에 오는 전단지나 텔레비전 광고를 함께 보며 “이 광고에서 부풀린 말은 뭘까? 빠진 정보는?”이라고 물어보면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보충(사실·의견·비유 구별)]
목적: 사실과 의견, 비유 표현을 구별하는 힘을 먼저 다집니다. 뉴스와 광고를 따지려면 이 세 가지를 가릴 수 있어야 합니다.
시간: 약 4분
이렇게 말해 보세요
- “집에 있는 물건 하나를 골라서, 엄마(아빠)가 사실·의견·비유로 한 문장씩 말해 볼게. 무엇이 무엇인지 맞혀 봐.” (예: 컵 — ‘이 컵은 유리로 만들었어.’ ‘이 컵이 우리 집에서 제일 예뻐.’ ‘이 컵은 보석처럼 반짝여.’)
- “이번에는 네가 다른 물건으로 세 문장을 만들어 볼래?”
정답
- 부모의 예: 유리로 만들었다 — 사실, 제일 예쁘다 — 의견, 보석처럼 반짝인다 — 비유
- 아이의 문장: 사실은 확인할 수 있고, 의견은 생각이 드러나고, 비유는 ‘처럼·같이’나 ‘A는 B’로 빗대면 맞음
막히면
- 사실은 “자로 재거나 세어 볼 수 있어?”, 의견은 “다른 사람은 다르게 생각할 수 있어?”라고 묻습니다.
- 보충으로도 어렵다면 이 차시의 선수 차시인 ‘작품 해석 나누기’(KR22-G06-KOR-INTERPRET-L01)의 비유 찾기를 다시 하고, 사실과 의견이 헷갈리면 6학년 ‘사실과 의견’을 먼저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문학과매체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뉴스와 광고 비판적으로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뉴스와 광고 비판적으로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뉴스와 광고 비판적으로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뉴스와 광고 비판적으로 보기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뉴스와 광고,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믿어도 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뉴스에서 사실과 의견을 나누고 정보가 정확한지 따질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광고의 의도를 말하고 부풀린 표현을 찾을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문구를 살펴요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운동화 광고의 문구예요.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운동화는 깃털처럼 가벼워요. → 무엇을 무엇에 빗댔나요?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운동화는 한 짝에 200 g이에요. → 사실? 의견?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운동화가 세상에서 가장 멋져요. → 사실? 의견?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뉴스를 따져 읽어요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뉴스도 사람이 쓴 글이라 따져 읽어요.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 있는 일인가요?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생각인가요?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정확성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누가·언제·어디서·무엇을?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출처가 분명한가요?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제목과 내용이 맞나요?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말은 없나요?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읽기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의견을 나누어 봐요.</a:t>
            </a:r>
            <a:endParaRPr lang="ko-KR" sz="2800" dirty="0"/>
          </a:p>
        </p:txBody>
      </p:sp>
      <p:sp>
        <p:nvSpPr>
          <p:cNvPr id="5" name="S04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○○동 놀이터 미끄럼틀 손잡이, 하루 만에 고쳐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지난 15일 ○○동 어린이 놀이터에서 미끄럼틀 손잡이 하나가 헐거워진 것을 한 주민이 발견해 구청에 알렸다. 구청은 다음 날 미끄럼틀을 잠시 막고 손잡이를 고쳤다. 이 일로 다친 어린이는 없었다.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놀이터를 자주 찾는 한 주민은 “아이들이 많이 노는 곳인 만큼 더 자주 살펴야 한다”고 말했다. 구청은 앞으로 한 달에 한 번 놀이 기구를 점검하겠다고 밝혔다.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견주어 봐요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뉴스에 붙을 수 있는 두 제목이에요.</a:t>
            </a:r>
            <a:endParaRPr lang="ko-KR" sz="2800" dirty="0"/>
          </a:p>
        </p:txBody>
      </p:sp>
      <p:sp>
        <p:nvSpPr>
          <p:cNvPr id="5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제목은 왜 이렇게 썼을까요? 무엇이 정확하지 않나요?</a:t>
            </a:r>
            <a:endParaRPr lang="ko-KR" sz="2800" dirty="0"/>
          </a:p>
        </p:txBody>
      </p:sp>
      <p:sp>
        <p:nvSpPr>
          <p:cNvPr id="7" name="S05-chip2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</a:t>
            </a:r>
            <a:endParaRPr lang="ko-KR" sz="2200" dirty="0"/>
          </a:p>
        </p:txBody>
      </p:sp>
      <p:sp>
        <p:nvSpPr>
          <p:cNvPr id="8" name="S05-text2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 미끄럼틀 ‘공포’… 아이들 모두 위험!</a:t>
            </a:r>
            <a:endParaRPr lang="ko-KR" sz="2800" dirty="0"/>
          </a:p>
        </p:txBody>
      </p:sp>
      <p:sp>
        <p:nvSpPr>
          <p:cNvPr id="9" name="S05-chip2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나</a:t>
            </a:r>
            <a:endParaRPr lang="ko-KR" sz="2200" dirty="0"/>
          </a:p>
        </p:txBody>
      </p:sp>
      <p:sp>
        <p:nvSpPr>
          <p:cNvPr id="10" name="S05-text2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○○동 놀이터 미끄럼틀 손잡이, 하루 만에 고쳐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읽기</a:t>
            </a:r>
            <a:endParaRPr lang="ko-KR" sz="4000" dirty="0"/>
          </a:p>
        </p:txBody>
      </p:sp>
      <p:sp>
        <p:nvSpPr>
          <p:cNvPr id="3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광고는 우리에게 무엇을 하게 하려고 할까요?</a:t>
            </a:r>
            <a:endParaRPr lang="ko-KR" sz="2800" dirty="0"/>
          </a:p>
        </p:txBody>
      </p:sp>
      <p:sp>
        <p:nvSpPr>
          <p:cNvPr id="5" name="S06-passagebox3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운동화 광고(글로 옮긴 화면)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글씨: “신기만 하면 누구나 달리기 1등!”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장면: 이 운동화를 신은 아이가 결승선을 가장 먼저 끊는다.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글씨: “우리 반 친구들 100%가 고른 운동화” “오늘만 반값! 지금 사지 않으면 후회해요”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광고를 따져 봐요</a:t>
            </a:r>
            <a:endParaRPr lang="ko-KR" sz="4000" dirty="0"/>
          </a:p>
        </p:txBody>
      </p:sp>
      <p:sp>
        <p:nvSpPr>
          <p:cNvPr id="3" name="S07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사기 전에 부풀린 말 · 출처 · 빠진 정보를 따져요.</a:t>
            </a:r>
            <a:endParaRPr lang="ko-KR" sz="2800" dirty="0"/>
          </a:p>
        </p:txBody>
      </p:sp>
      <p:graphicFrame>
        <p:nvGraphicFramePr>
          <p:cNvPr id="8" name="S07-table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22068"/>
          <a:ext cx="10972800" cy="914400"/>
        </p:xfrm>
        <a:graphic>
          <a:graphicData uri="http://schemas.openxmlformats.org/drawingml/2006/table">
            <a:tbl>
              <a:tblPr/>
              <a:tblGrid>
                <a:gridCol w="3511296"/>
                <a:gridCol w="2194560"/>
                <a:gridCol w="5266944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광고의 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따질 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확인할 것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누구나 달리기 1등!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부풀린 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신발만 바꾸면 1등을 할까?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친구들 100%가 고른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출처가 없음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누구에게, 몇 명에게 물었나?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오늘만 반값!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빠진 정보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원래 값은? 오늘은 언제?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사실일까, 의견일까?</a:t>
            </a:r>
            <a:endParaRPr lang="ko-KR" sz="4000" dirty="0"/>
          </a:p>
        </p:txBody>
      </p:sp>
      <p:sp>
        <p:nvSpPr>
          <p:cNvPr id="3" name="S08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 도서관 소식이에요.</a:t>
            </a:r>
            <a:endParaRPr lang="ko-KR" sz="2800" dirty="0"/>
          </a:p>
        </p:txBody>
      </p:sp>
      <p:sp>
        <p:nvSpPr>
          <p:cNvPr id="4" name="S08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 있으면 사실, 누군가의 생각이면 의견이에요.</a:t>
            </a:r>
            <a:endParaRPr lang="ko-KR" sz="2800" dirty="0"/>
          </a:p>
        </p:txBody>
      </p:sp>
      <p:sp>
        <p:nvSpPr>
          <p:cNvPr id="6" name="S08-chip4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4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도서관은 이번 달부터 토요일에도 오후 6시까지 문을 연다.</a:t>
            </a:r>
            <a:endParaRPr lang="ko-KR" sz="2800" dirty="0"/>
          </a:p>
        </p:txBody>
      </p:sp>
      <p:sp>
        <p:nvSpPr>
          <p:cNvPr id="8" name="S08-chip4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4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도서관에 가면 누구나 책을 좋아하게 될 것이다.</a:t>
            </a:r>
            <a:endParaRPr lang="ko-KR" sz="2800" dirty="0"/>
          </a:p>
        </p:txBody>
      </p:sp>
      <p:sp>
        <p:nvSpPr>
          <p:cNvPr id="10" name="S08-chip4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4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구청에 따르면 지난달 도서관을 찾은 사람은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3천 명이었다.</a:t>
            </a:r>
            <a:endParaRPr lang="ko-KR" sz="2800" dirty="0"/>
          </a:p>
        </p:txBody>
      </p:sp>
      <p:sp>
        <p:nvSpPr>
          <p:cNvPr id="12" name="S08-chip4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8-text4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토요일에 문을 여는 것은 아주 훌륭한 결정이다.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 광고를 따져요</a:t>
            </a:r>
            <a:endParaRPr lang="ko-KR" sz="4000" dirty="0"/>
          </a:p>
        </p:txBody>
      </p:sp>
      <p:sp>
        <p:nvSpPr>
          <p:cNvPr id="3" name="S09-text48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광고: “이 연필로 쓰면 받아쓰기 100점!” “선생님들이 가장 많이 추천!” “3자루 사면 1자루 더!”</a:t>
            </a:r>
            <a:endParaRPr lang="ko-KR" sz="2800" dirty="0"/>
          </a:p>
        </p:txBody>
      </p:sp>
      <p:sp>
        <p:nvSpPr>
          <p:cNvPr id="4" name="S09-chip49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9-text50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광고의 의도는 무엇인가요?</a:t>
            </a:r>
            <a:endParaRPr lang="ko-KR" sz="2800" dirty="0"/>
          </a:p>
        </p:txBody>
      </p:sp>
      <p:sp>
        <p:nvSpPr>
          <p:cNvPr id="6" name="S09-chip51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9-text52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말은 무엇인가요?</a:t>
            </a:r>
            <a:endParaRPr lang="ko-KR" sz="2800" dirty="0"/>
          </a:p>
        </p:txBody>
      </p:sp>
      <p:sp>
        <p:nvSpPr>
          <p:cNvPr id="8" name="S09-chip53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9-text54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사기 전에 확인할 정보는 무엇인가요?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의견을 나누고, 제목에서 정확하지 않은 말을 찾아 고쳐요.</a:t>
            </a:r>
            <a:endParaRPr lang="ko-KR" sz="2800" dirty="0"/>
          </a:p>
        </p:txBody>
      </p:sp>
      <p:sp>
        <p:nvSpPr>
          <p:cNvPr id="5" name="S10-passagebox5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5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횡단보도, 이제 완벽하게 안전해졌다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지난 3일 ○○초등학교 앞 횡단보도에 신호등이 새로 생겼다. 그동안 이 횡단보도에는 신호등이 없어 학생들이 차가 지나가기를 기다렸다가 건넜다.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학부모는 “아이들이 훨씬 마음 편히 학교에 다닐 것 같다”고 말했다. 경찰서는 앞으로도 등교 시간에 교통 안내를 계속하겠다고 밝혔다.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고친 제목 예: ○○초등학교 앞 횡단보도에 신호등 새로 생겨</a:t>
            </a:r>
            <a:endParaRPr lang="ko-KR" sz="2800" dirty="0"/>
          </a:p>
        </p:txBody>
      </p:sp>
      <p:sp>
        <p:nvSpPr>
          <p:cNvPr id="5" name="S11-chip6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62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신호등이 생김</a:t>
            </a:r>
            <a:endParaRPr lang="ko-KR" sz="2800" dirty="0"/>
          </a:p>
        </p:txBody>
      </p:sp>
      <p:sp>
        <p:nvSpPr>
          <p:cNvPr id="7" name="S11-text63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사실(확인 가능)</a:t>
            </a:r>
            <a:endParaRPr lang="ko-KR" sz="2200" dirty="0"/>
          </a:p>
        </p:txBody>
      </p:sp>
      <p:sp>
        <p:nvSpPr>
          <p:cNvPr id="8" name="S11-text64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학부모의 말</a:t>
            </a:r>
            <a:endParaRPr lang="ko-KR" sz="2800" dirty="0"/>
          </a:p>
        </p:txBody>
      </p:sp>
      <p:sp>
        <p:nvSpPr>
          <p:cNvPr id="9" name="S11-text65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(그 사람의 생각)</a:t>
            </a:r>
            <a:endParaRPr lang="ko-KR" sz="2200" dirty="0"/>
          </a:p>
        </p:txBody>
      </p:sp>
      <p:sp>
        <p:nvSpPr>
          <p:cNvPr id="10" name="S11-text66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‘완벽하게’는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말</a:t>
            </a:r>
            <a:endParaRPr lang="ko-KR" sz="2800" dirty="0"/>
          </a:p>
        </p:txBody>
      </p:sp>
      <p:sp>
        <p:nvSpPr>
          <p:cNvPr id="11" name="S11-text67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본문과 맞지 않아요</a:t>
            </a:r>
            <a:endParaRPr lang="ko-KR" sz="2200" dirty="0"/>
          </a:p>
        </p:txBody>
      </p:sp>
      <p:sp>
        <p:nvSpPr>
          <p:cNvPr id="12" name="S11-chip6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1-text6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학부모의 말도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</a:t>
            </a:r>
            <a:endParaRPr lang="ko-KR" sz="2800" dirty="0"/>
          </a:p>
        </p:txBody>
      </p:sp>
      <p:sp>
        <p:nvSpPr>
          <p:cNvPr id="14" name="S11-text7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따옴표 속 생각이에요</a:t>
            </a:r>
            <a:endParaRPr lang="ko-KR" sz="2200" dirty="0"/>
          </a:p>
        </p:txBody>
      </p:sp>
      <p:sp>
        <p:nvSpPr>
          <p:cNvPr id="15" name="S11-text7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제목만 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</a:t>
            </a:r>
            <a:endParaRPr lang="ko-KR" sz="2800" dirty="0"/>
          </a:p>
        </p:txBody>
      </p:sp>
      <p:sp>
        <p:nvSpPr>
          <p:cNvPr id="16" name="S11-text7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본문을 확인해요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 광고를 따져요</a:t>
            </a:r>
            <a:endParaRPr lang="ko-KR" sz="4000" dirty="0"/>
          </a:p>
        </p:txBody>
      </p:sp>
      <p:sp>
        <p:nvSpPr>
          <p:cNvPr id="3" name="S12-text7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광고: “한 번만 문지르면 모든 글씨가 감쪽같이 사라져요!”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 사면 하나 더!”</a:t>
            </a:r>
            <a:endParaRPr lang="ko-KR" sz="2800" dirty="0"/>
          </a:p>
        </p:txBody>
      </p:sp>
      <p:sp>
        <p:nvSpPr>
          <p:cNvPr id="4" name="S12-chip74"/>
          <p:cNvSpPr txBox="1"/>
          <p:nvPr/>
        </p:nvSpPr>
        <p:spPr>
          <a:xfrm>
            <a:off x="548640" y="28244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75"/>
          <p:cNvSpPr txBox="1"/>
          <p:nvPr/>
        </p:nvSpPr>
        <p:spPr>
          <a:xfrm>
            <a:off x="1344168" y="2376424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광고의 의도는 무엇인가요?</a:t>
            </a:r>
            <a:endParaRPr lang="ko-KR" sz="2800" dirty="0"/>
          </a:p>
        </p:txBody>
      </p:sp>
      <p:sp>
        <p:nvSpPr>
          <p:cNvPr id="6" name="S12-chip76"/>
          <p:cNvSpPr txBox="1"/>
          <p:nvPr/>
        </p:nvSpPr>
        <p:spPr>
          <a:xfrm>
            <a:off x="548640" y="483666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77"/>
          <p:cNvSpPr txBox="1"/>
          <p:nvPr/>
        </p:nvSpPr>
        <p:spPr>
          <a:xfrm>
            <a:off x="1344168" y="4388612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부풀린 말과 확인할 정보를 하나씩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78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9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뉴스는 사실과 의견을 나누고, 제목이 내용과 맞는지 따져요.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광고는 의도를 생각하고 부풀린 말 · 출처 · 빠진 정보를 따져요.</a:t>
            </a:r>
            <a:endParaRPr lang="ko-KR" sz="2800" dirty="0"/>
          </a:p>
        </p:txBody>
      </p:sp>
      <p:sp>
        <p:nvSpPr>
          <p:cNvPr id="5" name="S13-chip80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본문과 출처 확인하기</a:t>
            </a:r>
            <a:endParaRPr lang="ko-KR" sz="2200" dirty="0"/>
          </a:p>
        </p:txBody>
      </p:sp>
      <p:sp>
        <p:nvSpPr>
          <p:cNvPr id="6" name="S13-chip81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제목과 큰 글씨만 믿기</a:t>
            </a:r>
            <a:endParaRPr lang="ko-KR" sz="2200" dirty="0"/>
          </a:p>
        </p:txBody>
      </p:sp>
      <p:sp>
        <p:nvSpPr>
          <p:cNvPr id="7" name="S13-text82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83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뉴스 속 사람의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말은 사실? 의견?</a:t>
            </a:r>
            <a:endParaRPr lang="ko-KR" sz="2200" dirty="0"/>
          </a:p>
        </p:txBody>
      </p:sp>
      <p:sp>
        <p:nvSpPr>
          <p:cNvPr id="9" name="S13-text84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‘100%가 골랐어요’를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때 물을 것은?</a:t>
            </a:r>
            <a:endParaRPr lang="ko-KR" sz="2200" dirty="0"/>
          </a:p>
        </p:txBody>
      </p:sp>
      <p:sp>
        <p:nvSpPr>
          <p:cNvPr id="10" name="S13-text85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광고의 의도는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대개 무엇인가요?</a:t>
            </a:r>
            <a:endParaRPr lang="ko-KR" sz="2200" dirty="0"/>
          </a:p>
        </p:txBody>
      </p:sp>
      <p:sp>
        <p:nvSpPr>
          <p:cNvPr id="11" name="S13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복합매체 자료 만들기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사실 · 의견 · 비유</a:t>
            </a:r>
            <a:endParaRPr lang="ko-KR" sz="4000" dirty="0"/>
          </a:p>
        </p:txBody>
      </p:sp>
      <p:sp>
        <p:nvSpPr>
          <p:cNvPr id="3" name="S14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말을 구별해요.</a:t>
            </a:r>
            <a:endParaRPr lang="ko-KR" sz="2800" dirty="0"/>
          </a:p>
        </p:txBody>
      </p:sp>
      <p:sp>
        <p:nvSpPr>
          <p:cNvPr id="4" name="S14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“확인할 수 있어?”, “빗댄 말이야?”를 물어요.</a:t>
            </a:r>
            <a:endParaRPr lang="ko-KR" sz="2800" dirty="0"/>
          </a:p>
        </p:txBody>
      </p:sp>
      <p:sp>
        <p:nvSpPr>
          <p:cNvPr id="6" name="S14-word90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사실: 이 공책은 60쪽이에요.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세거나 재어 확인할 수 있는 말</a:t>
            </a:r>
            <a:endParaRPr lang="ko-KR" sz="2800" dirty="0"/>
          </a:p>
        </p:txBody>
      </p:sp>
      <p:sp>
        <p:nvSpPr>
          <p:cNvPr id="7" name="S14-word91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의견: 이 공책이 제일 예뻐요.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다를 수 있는 생각</a:t>
            </a:r>
            <a:endParaRPr lang="ko-KR" sz="2800" dirty="0"/>
          </a:p>
        </p:txBody>
      </p:sp>
      <p:sp>
        <p:nvSpPr>
          <p:cNvPr id="8" name="S14-word92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비유: 이 공책은 구름처럼 가벼워요.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것에 빗댄 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뉴스와 광고 비판적으로 보기</dc:title>
  <dc:subject>KR22-G06-KOR-NEWSAD-L01</dc:subject>
  <dc:creator>education-ppt</dc:creator>
  <cp:lastModifiedBy>education-ppt</cp:lastModifiedBy>
  <cp:revision>1</cp:revision>
  <dcterms:created xsi:type="dcterms:W3CDTF">2026-10-26T09:12:42Z</dcterms:created>
  <dcterms:modified xsi:type="dcterms:W3CDTF">2026-10-26T09:12:42Z</dcterms:modified>
</cp:coreProperties>
</file>