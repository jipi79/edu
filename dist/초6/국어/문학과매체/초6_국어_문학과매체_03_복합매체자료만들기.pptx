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d4effeca-be0d-c68c-608f-49b4ed7c2300}">
          <p14:sldIdLst>
            <p14:sldId id="256"/>
            <p14:sldId id="257"/>
          </p14:sldIdLst>
        </p14:section>
        <p14:section name="개념" id="{1fc9d25e-1ec8-66e1-b8ee-c927984549e1}">
          <p14:sldIdLst>
            <p14:sldId id="258"/>
            <p14:sldId id="259"/>
            <p14:sldId id="262"/>
            <p14:sldId id="263"/>
            <p14:sldId id="265"/>
          </p14:sldIdLst>
        </p14:section>
        <p14:section name="연습" id="{57fb228e-e99a-ae78-8dea-4b5684506d19}">
          <p14:sldIdLst>
            <p14:sldId id="260"/>
            <p14:sldId id="261"/>
            <p14:sldId id="264"/>
          </p14:sldIdLst>
        </p14:section>
        <p14:section name="개념" id="{d151b040-3b1d-0fab-e987-3470f1810ae7}">
          <p14:sldIdLst/>
        </p14:section>
        <p14:section name="연습" id="{80f6db6d-284f-b6fa-96d5-92f378b689c1}">
          <p14:sldIdLst/>
        </p14:section>
        <p14:section name="개념" id="{8d647e13-2533-23e5-b0f1-c01354534f31}">
          <p14:sldIdLst/>
        </p14:section>
        <p14:section name="확인" id="{4c0608f4-8d98-732d-211f-dde3948144cf}">
          <p14:sldIdLst>
            <p14:sldId id="266"/>
            <p14:sldId id="267"/>
            <p14:sldId id="268"/>
          </p14:sldIdLst>
        </p14:section>
        <p14:section name="정리" id="{c6e86582-30b1-e3e5-4a5b-e7aa786add34}">
          <p14:sldIdLst>
            <p14:sldId id="269"/>
          </p14:sldIdLst>
        </p14:section>
        <p14:section name="보충" id="{2e435ff4-95a1-3e42-1bc6-1a702729982d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발표할 때 글만 쓰는 것보다 사진·영상·표를 함께 쓰면 더 잘 전해질 수 있음을 떠올리고, 오늘 할 일을 알려 줍니다.
시간: 약 2분
이렇게 말해 보세요
- “학교에서 발표할 때 글만 가득한 화면과, 사진이나 짧은 영상이 함께 있는 화면 중 어느 쪽이 더 잘 전해질까?”
- “글, 사진, 영상처럼 여러 매체를 함께 쓴 자료를 ‘복합매체 자료’라고 해. 오늘은 이런 발표 자료를 계획하고, 가져온 자료의 출처를 밝히는 방법을 배울 거야.”
예상 답
- “사진이 있는 게 더 잘 보여요.” “영상이 재미있어요.” 어떤 답이든 괜찮습니다.
막히면
- 학교에서 본 발표 화면이나 텔레비전 뉴스 화면(글자, 사진, 영상이 함께 나옴)을 떠올리게 합니다.
주의
- 오늘 나오는 발표 화면, 사진, 영상, 누리집, 책은 모두 수업을 위해 지어낸 것이고 화면에는 그림 대신 글로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확인(출처, 부풀린 표현, 제목과 내용)]
목적: 지난 차시 ‘뉴스와 광고 비판적으로 보기’에서 배운 출처 확인, 부풀린 표현, 제목과 내용 비교를 기억하는지 확인합니다. 오늘 발표 자료를 고르고 출처를 밝힐 때 그대로 씁니다.
시간: 약 3분
이렇게 말해 보세요
- “①은 누가 알려 준 정보야? 이것을 무엇이라고 했지?”
- “②는 정말 그럴까? 이런 표현을 뭐라고 불렀어?”
- “③은 왜 본문까지 읽어야 할까?”
정답
- ① 구청(이 정보의 출처)
- ② 부풀린 표현(신발만으로 누구나 1등을 할 수는 없음)
- ③ 눈길을 끌려고 부풀리거나 내용과 다른 제목이 있어서 본문을 확인해야 함
막히면
- ①이 어려우면 S15(보충)를 먼저 합니다. 보충으로도 어려우면 앞 차시 ‘뉴스와 광고 비판적으로 보기’나 5학년 ‘자료 출처 확인’을 다시 합니다.
주의
- 발표 자료를 만들 때도 믿을 만한 곳에서 가져오고, 부풀린 말을 쓰지 않으며, 제목과 내용이 맞아야 한다고 이어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매체마다 잘 전하는 것]
목적: 글·사진·영상·표(그래프)가 각각 무엇을 잘 전하는지 알고, 여러 매체를 함께 쓴 자료를 복합매체 자료라고 함을 압니다.
시간: 약 3분
이렇게 말해 보세요
- “강아지가 어떻게 생겼는지 알려 주려면 글로 길게 쓰는 것과 사진 한 장 중 무엇이 빠를까?”
- “강아지가 공을 물어 오는 모습은? 사진으로 보여 줄 수 있을까?”
- “강아지를 왜 산책시켜야 하는지는 무엇으로 알려 주면 좋을까?”
예상 답
- “생김새는 사진이요.” “공을 물어 오는 건 영상이요.” “까닭은 글로 써요.”
막히면
- 집에 있는 물건 하나를 골라 ‘생김새는 사진, 쓰는 방법은 영상, 산 까닭은 글’처럼 함께 나누어 봅니다.
주의
- 매체끼리 우열이 있는 것이 아니라, 전할 내용에 따라 알맞은 매체가 다르다는 점이 핵심입니다.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전할 내용에 맞는 매체 고르기(시범)]
목적: 부모가 생각을 소리 내어 말하며, 전할 내용마다 알맞은 매체를 고르고 까닭을 말하는 과정을 보여 줍니다.
시간: 약 3분
이렇게 말해 보세요
- “다 자란 모습은 어떻게 생겼는지 보여 주면 되니까 사진이 좋겠다.”
- “곁순을 손으로 어떻게 따는지는 움직임과 순서가 중요하니까 짧은 영상이 좋겠어.”
- “주마다 키가 얼마나 자랐는지는 수니까 표나 꺾은선그래프로 보여 주면 비교가 쉬워.”
- “곁순을 왜 따는지는 까닭이니까 글로 설명할게.”
예상 답
- “모습은 사진, 방법은 영상, 키는 그래프, 까닭은 글이에요.”
막히면
- ‘모습·움직임·수·까닭’ 네 낱말을 종이에 써 두고, 전할 내용마다 어느 낱말에 해당하는지 손가락으로 짚게 합니다.
주의
- 곁순은 토마토의 잎과 줄기 사이에서 새로 돋아나는 작은 줄기입니다. 이 장에서는 그 내용보다 매체를 고르는 생각에 집중합니다.
- ‘주마다 자란 키’를 꺾은선그래프로 나타내는 것은 수학의 ‘알맞은 그래프 고르기’와도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연습(알맞은 매체 고르기)]
목적: 도움을 받으며 전할 내용에 맞는 매체를 고르고 까닭을 말합니다.
시간: 약 3분
이렇게 말해 보세요
- “①은 무엇을 보여 줘야 해? 줄이 두 번 돌아가는 동안 몸이 어떻게 움직이는지지?”
- “④는 생김새나 움직임이 아니라 ‘왜’를 알려 주는 거야. 어떤 매체가 좋을까?”
정답
- ① 영상 — 움직임과 순서를 보여 줌
- ② 표·그래프 — 학생 수를 비교해 보여 줌
- ③ 사진 — 생김새를 한눈에 보여 줌
- ④ 글 — 까닭을 자세히 설명함
- 기준: 매체와 까닭(모습·움직임·수·까닭)이 맞으면 맞음
막히면
- S03의 카드 네 장을 다시 보여 주고 짝을 짓게 합니다.
주의
- 두 매체를 함께 고르면(예: ③ 사진과 짧은 설명 글) 각각 무엇을 전하는지 말하면 맞음으로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오해 비교(화려하고 많은 자료가 좋다)]
목적: 자료를 많이, 화려하게 넣을수록 좋다는 생각(M1)을 두 화면을 견주어 바로잡고, 글과 자료가 같은 내용을 전해야 함을 압니다.
시간: 약 3분
이렇게 말해 보세요
- “가 화면의 꽃밭 사진은 곁순 따는 방법을 알려 줘? 반짝이는 그림과 음악은 무엇을 도와줘?”
- “나 화면의 영상과 설명 글은 같은 내용을 말하고 있어?”
예상 답
- “나요. 가는 꽃밭 사진이라 곁순이랑 상관없어요.” “가는 너무 정신없어요.”
정답
- 나 화면이 더 잘 전합니다. 영상이 손의 움직임을 보여 주고, 설명 글이 영상과 같은 내용(곁순이 무엇인지)을 말합니다.
- 가 화면은 사진이 주제와 맞지 않고, 움직이는 그림·음악·많은 글자가 오히려 내용을 가립니다.
막히면
- “이 화면을 본 친구가 곁순을 딸 수 있을까?”라고 물어 목적(방법 알리기)을 떠올리게 합니다.
주의
- 화려한 효과가 나쁘다는 뜻이 아닙니다. 전할 내용을 돕지 않고 눈길만 빼앗으면 오히려 방해가 된다는 점을 짚습니다.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출처를 밝혀 쓰는 방법]
목적: 발표 자료에 가져온 사진·영상·표의 출처를 만든 사람, 제목, 나온 곳, 날짜로 밝혀 쓰는 방법을 알려 줍니다. 표의 책·누리집·사람 이름은 모두 수업을 위해 지어낸 것입니다.
시간: 약 3분
이렇게 말해 보세요
- “표를 책에서 가져왔다면, 누가 쓴 어떤 책의 몇 쪽인지 써야 다른 사람도 찾아볼 수 있겠지?”
- “누리집 영상은 언제 본 것인지도 써. 누리집 내용은 바뀔 수 있기 때문이야.”
- “직접 찍은 사진도 ‘직접 찍음’이라고 써 두면 듣는 사람이 알 수 있어.”
예상 답
- “누가 만들었는지, 어디에서 가져왔는지, 언제인지요.”
막히면
- 5학년 ‘자료 출처 확인’의 세 가지(출처·만든 사람·만든 때)에 ‘제목’을 더한 것이라고 이어 줍니다.
주의
- 초등학생은 이 네 가지를 갖추면 충분합니다. 쓰는 차례나 문장 부호는 학교에서 정한 방식이 있으면 그것을 따릅니다.
- 누리집 주소를 쓸 수 있으면 함께 쓰면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저작권 존중]
목적: 남이 만든 글·사진·영상·음악에는 만든 사람의 권리(저작권)가 있음을 알고, 직접 만들기 → 허락·이용 조건 확인 → 출처 밝히기의 순서로 자료를 쓰는 태도를 기릅니다.
시간: 약 3분
이렇게 말해 보세요
- “네가 그린 그림을 누가 허락 없이 자기 이름으로 올리면 기분이 어때?”
- “출처만 쓰면 남이 찍은 사진을 마음대로 써도 될까?”
예상 답
- “속상해요.” “출처만 쓰면 안 되고 허락도 받아야 해요.”
막히면
- 아이가 만든 작품(그림, 일기)을 예로 들어 ‘만든 사람의 권리’를 느끼게 합니다.
주의
- 부모님 참고: 학교 수업 안의 발표처럼 법이 남의 자료 일부를 쓰도록 허락하는 경우가 있지만, 그때도 출처를 밝히고 꼭 필요한 만큼만 씁니다. 누리집이나 누리 소통망에 올리는 것처럼 수업 밖에서 쓰려면 만든 사람의 허락이나 ‘누구나 써도 된다’는 이용 조건을 확인해야 합니다.
- 사람의 얼굴이 나온 사진은 그 사람에게 먼저 허락을 받습니다. 개인 정보(이름, 학교, 사는 곳)가 드러나지 않게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연습(출처 표기 고치기)]
목적: 출처를 ‘인터넷’, ‘책’처럼 뭉뚱그려 쓰는 실수(M2)를 찾아, 네 가지를 갖추어 고쳐 씁니다.
시간: 약 3분
이렇게 말해 보세요
- “‘인터넷’이라고만 쓰면 친구가 그 사진을 다시 찾을 수 있을까? 무엇을 더 써야 해?”
- “②는 나온 곳은 있는데 무엇이 빠졌어?”
정답
- ① 빠진 것: 만든 사람(찍은 사람), 사진 제목, 어느 누리집인지, 날짜 — 예: 사진: 별빛초 사진 동아리, ‘봄 꽃밭’, 별빛시 누리집, 2026. 4. 2. 봄
- ② 빠진 것: 영상 제목, 만든 사람, 본 날짜 — 예: 영상: 별빛시 농업기술센터, ‘곁순 따는 법’, 별빛시 농업기술센터 누리집, 2026. 5. 10. 봄
- ③ 빠진 것: 쓴 사람, 책 이름, 출판사, 펴낸 해, 쪽 — 예: 그래프: 한누리, 『별빛 텃밭 도감』, 별빛출판사, 2024, 40쪽
- 기준: 네 가지(만든 사람·제목·나온 곳·날짜)가 모두 있으면 맞음
막히면
- S07의 표를 다시 보여 주고 네 칸(만든 사람·제목·나온 곳·날짜)을 하나씩 채우게 합니다.
주의
- 고친 예의 이름·날짜는 지어내도 됩니다. 네 가지가 갖추어졌는지만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발표 자료 계획표(시범)]
목적: 장면별로 전할 내용·자료·출처를 정하는 발표 자료 계획표의 예를 보여 줍니다. 아이가 S11에서 같은 표를 직접 씁니다.
시간: 약 3분
이렇게 말해 보세요
- “장면 1부터 4까지 순서대로 읽어 볼까? 장면마다 자료가 전할 내용과 어울려?”
- “장면 3의 영상은 남이 만든 거야. 출처 말고 또 무엇을 확인해야 할까?”
예상 답
- “네, 어울려요.” “써도 되는지 허락이나 이용 조건을 확인해야 해요.”
막히면
- 장면 하나만 골라 ‘전할 내용 → 자료 → 출처’ 순서로 다시 말해 봅니다.
주의
- 장면 3은 출처를 밝히는 것과 함께, 그 누리집이 영상을 써도 된다고 밝혔는지(이용 조건)를 확인해야 합니다(S08).
- 계획표에는 실제 화면 대신 말로 적습니다. 실제 발표 프로그램으로 만드는 것은 이 차시에서 다루지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 보기(내 발표 자료 계획표)]
목적: 배운 것을 모아 아이가 직접 발표 자료 계획표(활동지 3)를 쓰고, 네 가지 기준으로 스스로 점검합니다(목표 A·B의 결과물).
시간: 약 7분
이렇게 말해 보세요
- “주제를 하나 골라 볼래? 우리 집 반려 식물 기르기, 내가 좋아하는 운동 소개, 우리 동네 자랑할 곳 중에서 골라도 되고, 하고 싶은 주제가 있으면 그걸로 해도 돼.”
- “장면마다 무엇을 전할지 먼저 쓰고, 그다음에 어떤 자료가 알맞은지, 그 자료를 어디에서 가져올지 써 봐.”
- “다 쓰면 오른쪽 네 가지 기준으로 하나씩 점검해 보자.”
정답
- 기준(정답 하나가 아니라 기준으로 봅니다)
- ① 목적에 맞는 자료: 장면마다 전할 내용(모습·움직임·수·까닭)에 맞는 매체를 골랐으면 맞음
- ② 출처: 가져온 자료마다 만든 사람·제목·나온 곳·날짜가 있거나 ‘직접 찍음/씀’이라고 썼으면 맞음
- ③ 글과 자료의 어울림: 장면의 글과 자료가 같은 내용을 말하면 맞음
- ④ 저작권: 직접 만들 수 있는 것은 직접 만들고, 남의 자료는 허락·이용 조건을 확인한다고 썼으면 맞음
막히면
- 바로 고쳐 주지 말고 “이 장면에서 친구가 무엇을 알게 돼?”, “이 사진은 누가 찍은 거야?”라고 기준별로 묻습니다.
- 도움을 받아 완성했다면 기록표에 ‘도움’으로 표시합니다.
주의
- 실제 사진·영상을 찾거나 찍지 않아도 됩니다. 어떤 자료를 쓸지 말로 적으면 됩니다.
- 피드백은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피드백(계획표 기준 점검)]
목적: 아이의 계획표를 네 가지 기준으로 함께 점검하고, 흔한 실수를 바로잡습니다. 수업용에만 있는 장입니다.
시간: 약 2분
이렇게 말해 보세요
- “네 계획표에서 가장 잘된 장면은 어디야? 기준 네 가지 중 아직 빠진 것이 있어?”
정답
- 기준: 목적에 맞는 자료, 출처 네 가지, 글과 자료의 어울림, 저작권 존중(직접 만들기·허락 확인)
막히면
- 출처가 뭉뚱그려져 있으면 S09로(M2), 주제와 맞지 않는 자료가 있으면 S06으로(M1), ‘출처만 쓰면 된다’고 하면 S08로(M3) 돌아갑니다.
주의
- 이 장은 학생용 파일에는 없습니다. 아이가 고친 계획표는 활동지 3에 그대로 남겨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확인(발표 장면 고칠 점 찾기)]
목적: 처음 보는 발표 장면에서 글과 자료가 어울리는지, 출처와 저작권을 지켰는지 따져 고칠 점과 고치는 방법을 말하는지 확인합니다.
시간: 약 3분
이렇게 말해 보세요
- “화면의 글과 사진이 같은 내용을 말하고 있어?”
- “이 사진은 누가 찍은 거야? 민수가 써도 될까?”
정답
- ① 글과 사진이 어울리지 않음(공원을 소개하는데 바닷가 사진) → 공원의 놀이터와 산책길 사진으로 바꾼다(직접 찍기).
- ② 남이 올린 사진을 출처 없이, 허락 없이 가져옴 → 직접 찍은 사진을 쓰거나, 허락·이용 조건을 확인하고 출처(만든 사람·제목·나온 곳·날짜)를 쓴다.
- 기준: 두 가지를 찾고 각각 고치는 방법을 말하면 맞음
막히면
- S06과 S08을 다시 보여 줍니다.
주의
- 두 가지를 찾고 고치는 방법까지 말하면 목표 A·B 확인 완료입니다. 이 장면과 인물은 수업을 위해 지어낸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질문을 알려 줍니다.
시간: 약 1분
이렇게 말해 보세요
- “발표 자료를 만들 때 무엇을 먼저 생각한다고 했지? 가져온 자료에는 무엇을 써야 해?”
- “다음 수업을 시작할 때 이 세 가지를 먼저 물어볼 거야.”
예상 답
- “전할 내용에 맞는 매체요.” “출처요.”
정답
- ① 영상 ② 만든 사람, 제목, 나온 곳, 날짜 ③ 아니요. 만든 사람의 허락이나 이용 조건을 확인해야 해요.
막히면
- S03, S07, S08을 다시 보여 줍니다.
주의
- 이 차시는 초등 국어 계획의 마지막 차시입니다(계획에 다음 국어 차시가 없습니다).
- 아이가 학교에서 발표 자료를 만들 일이 있으면 오늘의 계획표와 기준을 그대로 쓰게 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보충(정보가 어디에서 왔는지 찾기)]
목적: S02가 흔들리면 ‘출처는 정보가 나온 곳’이라는 뜻과 출처마다 무엇을 적는지를 집에 있는 자료로 다시 익힙니다.
시간: 약 4분
이렇게 말해 보세요
- “집에 있는 책 한 권을 가져와 볼래? 책 이름과 쓴 사람은 어디에 있어?”
- “엄마(아빠)가 ‘내일 비가 온대’라고 말하면, 너는 무엇을 물어봐야 출처를 알 수 있을까?”
정답
- 책: 책 이름·쓴 사람·쪽 / 누리집: 누리집 이름·본 날짜 / 들은 말: 누가, 언제 말했는지(예: 어디에서 들었어? 누가 알려 줬어?)
막히면
- 책의 앞표지와 맨 뒤쪽(펴낸 곳·펴낸 해가 적힌 곳)을 함께 찾아봅니다.
주의
- 보충으로도 어려우면 앞 차시 ‘뉴스와 광고 비판적으로 보기’나 5학년 ‘자료 출처 확인’을 먼저 다시 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문학과매체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국어 · 복합매체 자료 만들기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복합매체 자료 만들기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글, 사진, 영상을 함께 쓰면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더 잘 전해질까?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전할 내용에 맞는 글·사진·영상 자료를 골라 까닭을 말할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출처를 밝히고 저작권을 지켜 발표 자료를 계획할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‘구청에 따르면 지난달 도서관 이용자는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3천 명이었다.’ 이 정보는 어디에서 왔나요?</a:t>
            </a:r>
            <a:endParaRPr lang="ko-KR" sz="28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광고의 ‘신기만 하면 누구나 1등!’은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표현인가요?</a:t>
            </a:r>
            <a:endParaRPr lang="ko-KR" sz="28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뉴스 제목만 보고 판단하면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되는 까닭은?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매체마다 잘 전하는 것</a:t>
            </a:r>
            <a:endParaRPr lang="ko-KR" sz="4000" dirty="0"/>
          </a:p>
        </p:txBody>
      </p:sp>
      <p:sp>
        <p:nvSpPr>
          <p:cNvPr id="3" name="S03-card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글·사진·영상 등 여러 매체를 함께 쓴 자료가 복합매체 자료예요.</a:t>
            </a:r>
            <a:endParaRPr lang="ko-KR" sz="2800" dirty="0"/>
          </a:p>
        </p:txBody>
      </p:sp>
      <p:sp>
        <p:nvSpPr>
          <p:cNvPr id="5" name="S03-card11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2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까닭과 설명을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자세히 전해요.</a:t>
            </a:r>
            <a:endParaRPr lang="ko-KR" sz="2800" dirty="0"/>
          </a:p>
        </p:txBody>
      </p:sp>
      <p:sp>
        <p:nvSpPr>
          <p:cNvPr id="7" name="S03-card13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4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생김새와 모습을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한눈에 보여 줘요.</a:t>
            </a:r>
            <a:endParaRPr lang="ko-KR" sz="2800" dirty="0"/>
          </a:p>
        </p:txBody>
      </p:sp>
      <p:sp>
        <p:nvSpPr>
          <p:cNvPr id="9" name="S03-card15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3-cardtext16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움직임, 순서, 소리를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줘요.</a:t>
            </a:r>
            <a:endParaRPr lang="ko-KR" sz="2800" dirty="0"/>
          </a:p>
        </p:txBody>
      </p:sp>
      <p:sp>
        <p:nvSpPr>
          <p:cNvPr id="11" name="S03-card17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18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표·그래프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수와 양을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비교해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내용에 맞는 자료를 골라요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‘방울토마토 기르기’를 반 친구들에게 알려요.</a:t>
            </a:r>
            <a:endParaRPr lang="ko-KR" sz="2800" dirty="0"/>
          </a:p>
        </p:txBody>
      </p:sp>
      <p:sp>
        <p:nvSpPr>
          <p:cNvPr id="4" name="S04-card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전할 내용에 가장 잘 맞는 매체를 골라요.</a:t>
            </a:r>
            <a:endParaRPr lang="ko-KR" sz="2800" dirty="0"/>
          </a:p>
        </p:txBody>
      </p:sp>
      <p:graphicFrame>
        <p:nvGraphicFramePr>
          <p:cNvPr id="5" name="S04-table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84730"/>
          <a:ext cx="10972800" cy="914400"/>
        </p:xfrm>
        <a:graphic>
          <a:graphicData uri="http://schemas.openxmlformats.org/drawingml/2006/table">
            <a:tbl>
              <a:tblPr/>
              <a:tblGrid>
                <a:gridCol w="4059936"/>
                <a:gridCol w="2194560"/>
                <a:gridCol w="4718304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전할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알맞은 자료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 자란 방울토마토의 모습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모습을 한눈에 보여 줘요.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 따는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손의 움직임과 순서가 보여요.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주마다 자란 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표·그래프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자란 정도를 수로 비교해요.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곁순을 따는 까닭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까닭을 자세히 설명해요.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자료가 알맞을까요?</a:t>
            </a:r>
            <a:endParaRPr lang="ko-KR" sz="4000" dirty="0"/>
          </a:p>
        </p:txBody>
      </p:sp>
      <p:sp>
        <p:nvSpPr>
          <p:cNvPr id="3" name="S05-text2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자료와 까닭을 말해요.</a:t>
            </a:r>
            <a:endParaRPr lang="ko-KR" sz="2800" dirty="0"/>
          </a:p>
        </p:txBody>
      </p:sp>
      <p:sp>
        <p:nvSpPr>
          <p:cNvPr id="4" name="S05-card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모습? 움직임? 수? 까닭? 전할 내용을 먼저 봐요.</a:t>
            </a:r>
            <a:endParaRPr lang="ko-KR" sz="2800" dirty="0"/>
          </a:p>
        </p:txBody>
      </p:sp>
      <p:sp>
        <p:nvSpPr>
          <p:cNvPr id="6" name="S05-chip2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text2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줄넘기 2단 뛰기 동작을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알려 줄 때</a:t>
            </a:r>
            <a:endParaRPr lang="ko-KR" sz="2800" dirty="0"/>
          </a:p>
        </p:txBody>
      </p:sp>
      <p:sp>
        <p:nvSpPr>
          <p:cNvPr id="8" name="S05-chip2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text2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반이 좋아하는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운동별 학생 수</a:t>
            </a:r>
            <a:endParaRPr lang="ko-KR" sz="2800" dirty="0"/>
          </a:p>
        </p:txBody>
      </p:sp>
      <p:sp>
        <p:nvSpPr>
          <p:cNvPr id="10" name="S05-chip3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text3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 화단에 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꽃의 생김새</a:t>
            </a:r>
            <a:endParaRPr lang="ko-KR" sz="2800" dirty="0"/>
          </a:p>
        </p:txBody>
      </p:sp>
      <p:sp>
        <p:nvSpPr>
          <p:cNvPr id="12" name="S05-chip3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text3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분리배출을 해야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까닭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화면이 더 잘 전할까요?</a:t>
            </a:r>
            <a:endParaRPr lang="ko-KR" sz="4000" dirty="0"/>
          </a:p>
        </p:txBody>
      </p:sp>
      <p:sp>
        <p:nvSpPr>
          <p:cNvPr id="3" name="S06-card3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‘곁순 따는 방법’을 알리는 발표 화면이에요(글로 옮김).</a:t>
            </a:r>
            <a:endParaRPr lang="ko-KR" sz="2800" dirty="0"/>
          </a:p>
        </p:txBody>
      </p:sp>
      <p:sp>
        <p:nvSpPr>
          <p:cNvPr id="5" name="S06-card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화면이 더 잘 전할까요? 까닭은 무엇인가요?</a:t>
            </a:r>
            <a:endParaRPr lang="ko-KR" sz="2800" dirty="0"/>
          </a:p>
        </p:txBody>
      </p:sp>
      <p:sp>
        <p:nvSpPr>
          <p:cNvPr id="7" name="S06-chip3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화면</a:t>
            </a:r>
            <a:endParaRPr lang="ko-KR" sz="2200" dirty="0"/>
          </a:p>
        </p:txBody>
      </p:sp>
      <p:sp>
        <p:nvSpPr>
          <p:cNvPr id="8" name="S06-text3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사진: 꽃이 가득 핀 꽃밭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반짝이는 움직이는 그림 5개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배경 음악, 글자 가득</a:t>
            </a:r>
            <a:endParaRPr lang="ko-KR" sz="2800" dirty="0"/>
          </a:p>
        </p:txBody>
      </p:sp>
      <p:sp>
        <p:nvSpPr>
          <p:cNvPr id="9" name="S06-chip4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 화면</a:t>
            </a:r>
            <a:endParaRPr lang="ko-KR" sz="2200" dirty="0"/>
          </a:p>
        </p:txBody>
      </p:sp>
      <p:sp>
        <p:nvSpPr>
          <p:cNvPr id="10" name="S06-text4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영상: 곁순을 따는 손(20초)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설명 글 두 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“곁순은 잎과 줄기 사이에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난 작은 줄기예요.”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밝혀요</a:t>
            </a:r>
            <a:endParaRPr lang="ko-KR" sz="4000" dirty="0"/>
          </a:p>
        </p:txBody>
      </p:sp>
      <p:sp>
        <p:nvSpPr>
          <p:cNvPr id="3" name="S07-text4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가져온 자료 아래에 출처를 써요.</a:t>
            </a:r>
            <a:endParaRPr lang="ko-KR" sz="2800" dirty="0"/>
          </a:p>
        </p:txBody>
      </p:sp>
      <p:sp>
        <p:nvSpPr>
          <p:cNvPr id="4" name="S07-card43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44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· 제목 · 나온 곳 · 날짜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사람이 다시 찾아볼 수 있게 써요.</a:t>
            </a:r>
            <a:endParaRPr lang="ko-KR" sz="2800" dirty="0"/>
          </a:p>
        </p:txBody>
      </p:sp>
      <p:graphicFrame>
        <p:nvGraphicFramePr>
          <p:cNvPr id="8" name="S07-table4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1362"/>
          <a:ext cx="10972800" cy="914400"/>
        </p:xfrm>
        <a:graphic>
          <a:graphicData uri="http://schemas.openxmlformats.org/drawingml/2006/table">
            <a:tbl>
              <a:tblPr/>
              <a:tblGrid>
                <a:gridCol w="2633472"/>
                <a:gridCol w="8339328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 표기의 예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찍은 사진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사진: 직접 찍음, 2026. 5. 3.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책에 있는 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표: 한누리, 『별빛 텃밭 도감』, 별빛출판사, 2024, 35쪽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3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 영상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영상: 별빛시 농업기술센터, ‘곁순 따는 법’,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센터 누리집, 2026. 5. 10. 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저작권을 지켜요</a:t>
            </a:r>
            <a:endParaRPr lang="ko-KR" sz="4000" dirty="0"/>
          </a:p>
        </p:txBody>
      </p:sp>
      <p:sp>
        <p:nvSpPr>
          <p:cNvPr id="3" name="S08-card4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4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밝혀도 허락 없이 마음대로 써도 되는 것은 아니에요.</a:t>
            </a:r>
            <a:endParaRPr lang="ko-KR" sz="2800" dirty="0"/>
          </a:p>
        </p:txBody>
      </p:sp>
      <p:sp>
        <p:nvSpPr>
          <p:cNvPr id="5" name="S08-card48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49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글·사진·영상을 만든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가진 권리예요.</a:t>
            </a:r>
            <a:endParaRPr lang="ko-KR" sz="2800" dirty="0"/>
          </a:p>
        </p:txBody>
      </p:sp>
      <p:sp>
        <p:nvSpPr>
          <p:cNvPr id="7" name="S08-card50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51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직접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찍고, 그리고,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써서 만들어요.</a:t>
            </a:r>
            <a:endParaRPr lang="ko-KR" sz="2800" dirty="0"/>
          </a:p>
        </p:txBody>
      </p:sp>
      <p:sp>
        <p:nvSpPr>
          <p:cNvPr id="9" name="S08-card52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53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허락 확인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남의 자료는 허락이나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 조건을 확인해요.</a:t>
            </a:r>
            <a:endParaRPr lang="ko-KR" sz="2800" dirty="0"/>
          </a:p>
        </p:txBody>
      </p:sp>
      <p:sp>
        <p:nvSpPr>
          <p:cNvPr id="11" name="S08-card54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8-cardtext55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밝히기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가져온 자료는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꼭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고쳐 써요</a:t>
            </a:r>
            <a:endParaRPr lang="ko-KR" sz="4000" dirty="0"/>
          </a:p>
        </p:txBody>
      </p:sp>
      <p:sp>
        <p:nvSpPr>
          <p:cNvPr id="3" name="S09-text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빠졌는지 찾아 고쳐요.</a:t>
            </a:r>
            <a:endParaRPr lang="ko-KR" sz="2800" dirty="0"/>
          </a:p>
        </p:txBody>
      </p:sp>
      <p:sp>
        <p:nvSpPr>
          <p:cNvPr id="4" name="S09-card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 · 제목 · 나온 곳 · 날짜</a:t>
            </a:r>
            <a:endParaRPr lang="ko-KR" sz="2800" dirty="0"/>
          </a:p>
        </p:txBody>
      </p:sp>
      <p:sp>
        <p:nvSpPr>
          <p:cNvPr id="6" name="S09-chip5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6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사진: 인터넷</a:t>
            </a:r>
            <a:endParaRPr lang="ko-KR" sz="2800" dirty="0"/>
          </a:p>
        </p:txBody>
      </p:sp>
      <p:sp>
        <p:nvSpPr>
          <p:cNvPr id="8" name="S09-chip6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6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영상: 별빛시 농업기술센터 누리집</a:t>
            </a:r>
            <a:endParaRPr lang="ko-KR" sz="2800" dirty="0"/>
          </a:p>
        </p:txBody>
      </p:sp>
      <p:sp>
        <p:nvSpPr>
          <p:cNvPr id="10" name="S09-chip6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6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그래프: 책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자료 계획표</a:t>
            </a:r>
            <a:endParaRPr lang="ko-KR" sz="4000" dirty="0"/>
          </a:p>
        </p:txBody>
      </p:sp>
      <p:sp>
        <p:nvSpPr>
          <p:cNvPr id="3" name="S10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방울토마토 기르기 / 목적: 기르는 방법 알리기</a:t>
            </a:r>
            <a:endParaRPr lang="ko-KR" sz="2800" dirty="0"/>
          </a:p>
        </p:txBody>
      </p:sp>
      <p:sp>
        <p:nvSpPr>
          <p:cNvPr id="4" name="S10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장면마다 전할 내용, 자료, 출처를 먼저 정해요.</a:t>
            </a:r>
            <a:endParaRPr lang="ko-KR" sz="2800" dirty="0"/>
          </a:p>
        </p:txBody>
      </p:sp>
      <p:graphicFrame>
        <p:nvGraphicFramePr>
          <p:cNvPr id="11" name="S10-table6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83308"/>
          <a:ext cx="109728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291840"/>
                <a:gridCol w="3291840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장면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전할 내용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방울토마토 소개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사진(다 자란 모습)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찍음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주마다 자란 키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꺾은선그래프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잰 기록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5416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곁순 따는 방법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영상(20초)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별빛시 농업기술센터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누리집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기르며 느낀 점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글(세 문장)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직접 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발표 자료 계획하기</a:t>
            </a:r>
            <a:endParaRPr lang="ko-KR" sz="4000" dirty="0"/>
          </a:p>
        </p:txBody>
      </p:sp>
      <p:sp>
        <p:nvSpPr>
          <p:cNvPr id="3" name="S11-card69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70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목적에 맞는 자료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출처를 밝힘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글과 자료가 어울림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저작권을 지킴</a:t>
            </a:r>
            <a:endParaRPr lang="ko-KR" sz="2800" dirty="0"/>
          </a:p>
        </p:txBody>
      </p:sp>
      <p:sp>
        <p:nvSpPr>
          <p:cNvPr id="5" name="S11-stepno71"/>
          <p:cNvSpPr txBox="1"/>
          <p:nvPr/>
        </p:nvSpPr>
        <p:spPr>
          <a:xfrm>
            <a:off x="548640" y="19491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11-text72"/>
          <p:cNvSpPr txBox="1"/>
          <p:nvPr/>
        </p:nvSpPr>
        <p:spPr>
          <a:xfrm>
            <a:off x="1325880" y="19491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주제와 목적을 정해요.</a:t>
            </a:r>
            <a:endParaRPr lang="ko-KR" sz="2800" dirty="0"/>
          </a:p>
        </p:txBody>
      </p:sp>
      <p:sp>
        <p:nvSpPr>
          <p:cNvPr id="7" name="S11-stepno73"/>
          <p:cNvSpPr txBox="1"/>
          <p:nvPr/>
        </p:nvSpPr>
        <p:spPr>
          <a:xfrm>
            <a:off x="548640" y="2708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11-text74"/>
          <p:cNvSpPr txBox="1"/>
          <p:nvPr/>
        </p:nvSpPr>
        <p:spPr>
          <a:xfrm>
            <a:off x="1325880" y="2662428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 3~4개로 나누어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계획표를 써요.</a:t>
            </a:r>
            <a:endParaRPr lang="ko-KR" sz="2800" dirty="0"/>
          </a:p>
        </p:txBody>
      </p:sp>
      <p:sp>
        <p:nvSpPr>
          <p:cNvPr id="9" name="S11-stepno75"/>
          <p:cNvSpPr txBox="1"/>
          <p:nvPr/>
        </p:nvSpPr>
        <p:spPr>
          <a:xfrm>
            <a:off x="548640" y="37404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11-text76"/>
          <p:cNvSpPr txBox="1"/>
          <p:nvPr/>
        </p:nvSpPr>
        <p:spPr>
          <a:xfrm>
            <a:off x="1325880" y="36946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장면마다 알맞은 자료와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까닭을 정해요.</a:t>
            </a:r>
            <a:endParaRPr lang="ko-KR" sz="2800" dirty="0"/>
          </a:p>
        </p:txBody>
      </p:sp>
      <p:sp>
        <p:nvSpPr>
          <p:cNvPr id="11" name="S11-stepno77"/>
          <p:cNvSpPr txBox="1"/>
          <p:nvPr/>
        </p:nvSpPr>
        <p:spPr>
          <a:xfrm>
            <a:off x="548640" y="47726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12" name="S11-text78"/>
          <p:cNvSpPr txBox="1"/>
          <p:nvPr/>
        </p:nvSpPr>
        <p:spPr>
          <a:xfrm>
            <a:off x="1325880" y="47269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가져올 자료는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계획표 함께 점검하기</a:t>
            </a:r>
            <a:endParaRPr lang="ko-KR" sz="4000" dirty="0"/>
          </a:p>
        </p:txBody>
      </p:sp>
      <p:sp>
        <p:nvSpPr>
          <p:cNvPr id="3" name="S12-card79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80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 기준 중 빠진 것을 하나 골라 함께 고쳐 보세요. 표현이 달라도 기준에 맞으면 잘한 거예요.</a:t>
            </a:r>
            <a:endParaRPr lang="ko-KR" sz="2800" dirty="0"/>
          </a:p>
        </p:txBody>
      </p:sp>
      <p:sp>
        <p:nvSpPr>
          <p:cNvPr id="5" name="S12-chip8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82"/>
          <p:cNvSpPr txBox="1"/>
          <p:nvPr/>
        </p:nvSpPr>
        <p:spPr>
          <a:xfrm>
            <a:off x="548640" y="2057400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움직임은 영상,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글</a:t>
            </a:r>
            <a:endParaRPr lang="ko-KR" sz="2200" dirty="0"/>
          </a:p>
        </p:txBody>
      </p:sp>
      <p:sp>
        <p:nvSpPr>
          <p:cNvPr id="7" name="S12-text83"/>
          <p:cNvSpPr txBox="1"/>
          <p:nvPr/>
        </p:nvSpPr>
        <p:spPr>
          <a:xfrm>
            <a:off x="3367278" y="2057400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목적에 맞는 자료</a:t>
            </a:r>
            <a:endParaRPr lang="ko-KR" sz="2200" dirty="0"/>
          </a:p>
        </p:txBody>
      </p:sp>
      <p:sp>
        <p:nvSpPr>
          <p:cNvPr id="8" name="S12-text84"/>
          <p:cNvSpPr txBox="1"/>
          <p:nvPr/>
        </p:nvSpPr>
        <p:spPr>
          <a:xfrm>
            <a:off x="548640" y="301481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네 가지</a:t>
            </a:r>
            <a:endParaRPr lang="ko-KR" sz="2800" dirty="0"/>
          </a:p>
        </p:txBody>
      </p:sp>
      <p:sp>
        <p:nvSpPr>
          <p:cNvPr id="9" name="S12-text85"/>
          <p:cNvSpPr txBox="1"/>
          <p:nvPr/>
        </p:nvSpPr>
        <p:spPr>
          <a:xfrm>
            <a:off x="3367278" y="301481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만든 사람·제목·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나온 곳·날짜</a:t>
            </a:r>
            <a:endParaRPr lang="ko-KR" sz="2200" dirty="0"/>
          </a:p>
        </p:txBody>
      </p:sp>
      <p:sp>
        <p:nvSpPr>
          <p:cNvPr id="10" name="S12-text86"/>
          <p:cNvSpPr txBox="1"/>
          <p:nvPr/>
        </p:nvSpPr>
        <p:spPr>
          <a:xfrm>
            <a:off x="548640" y="3972221"/>
            <a:ext cx="268147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찍음·직접 씀</a:t>
            </a:r>
            <a:endParaRPr lang="ko-KR" sz="2200" dirty="0"/>
          </a:p>
        </p:txBody>
      </p:sp>
      <p:sp>
        <p:nvSpPr>
          <p:cNvPr id="11" name="S12-text87"/>
          <p:cNvSpPr txBox="1"/>
          <p:nvPr/>
        </p:nvSpPr>
        <p:spPr>
          <a:xfrm>
            <a:off x="3367278" y="3972221"/>
            <a:ext cx="2544318" cy="8202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저작권을 지킴</a:t>
            </a:r>
            <a:endParaRPr lang="ko-KR" sz="2200" dirty="0"/>
          </a:p>
        </p:txBody>
      </p:sp>
      <p:sp>
        <p:nvSpPr>
          <p:cNvPr id="12" name="S12-chip8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3" name="S12-text8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‘인터넷’만 씀</a:t>
            </a:r>
            <a:endParaRPr lang="ko-KR" sz="2800" dirty="0"/>
          </a:p>
        </p:txBody>
      </p:sp>
      <p:sp>
        <p:nvSpPr>
          <p:cNvPr id="14" name="S12-text9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찾을 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</a:t>
            </a:r>
            <a:endParaRPr lang="ko-KR" sz="2200" dirty="0"/>
          </a:p>
        </p:txBody>
      </p:sp>
      <p:sp>
        <p:nvSpPr>
          <p:cNvPr id="15" name="S12-text9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멋진 사진만 넣음</a:t>
            </a:r>
            <a:endParaRPr lang="ko-KR" sz="2800" dirty="0"/>
          </a:p>
        </p:txBody>
      </p:sp>
      <p:sp>
        <p:nvSpPr>
          <p:cNvPr id="16" name="S12-text9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주제와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어울리지 않아요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점을 찾아요</a:t>
            </a:r>
            <a:endParaRPr lang="ko-KR" sz="4000" dirty="0"/>
          </a:p>
        </p:txBody>
      </p:sp>
      <p:sp>
        <p:nvSpPr>
          <p:cNvPr id="3" name="S13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점 두 가지를 찾고, 어떻게 고칠지 말해요.</a:t>
            </a:r>
            <a:endParaRPr lang="ko-KR" sz="2800" dirty="0"/>
          </a:p>
        </p:txBody>
      </p:sp>
      <p:sp>
        <p:nvSpPr>
          <p:cNvPr id="5" name="S13-passagebox95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3-passage96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민수의 발표 장면(글로 옮김)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주제: 우리 동네 공원 소개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글: “우리 동네 공원에는 놀이터와 산책길이 있어요.”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화면의 사진: 바닷가 모래사장(다른 사람의 누리 소통망에서 가져옴, 출처 없음)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9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9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전할 내용에 맞는 매체를 고르고, 가져온 자료는 출처를 밝혀요.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출처를 밝혀도 허락 없이 마음대로 쓰지 않아요.</a:t>
            </a:r>
            <a:endParaRPr lang="ko-KR" sz="2800" dirty="0"/>
          </a:p>
        </p:txBody>
      </p:sp>
      <p:sp>
        <p:nvSpPr>
          <p:cNvPr id="5" name="S14-chip9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직접 만들고, 가져오면 출처</a:t>
            </a:r>
            <a:endParaRPr lang="ko-KR" sz="2200" dirty="0"/>
          </a:p>
        </p:txBody>
      </p:sp>
      <p:sp>
        <p:nvSpPr>
          <p:cNvPr id="6" name="S14-chip10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멋져 보이는 자료만 넣기</a:t>
            </a:r>
            <a:endParaRPr lang="ko-KR" sz="2200" dirty="0"/>
          </a:p>
        </p:txBody>
      </p:sp>
      <p:sp>
        <p:nvSpPr>
          <p:cNvPr id="7" name="S14-text10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102"/>
          <p:cNvSpPr txBox="1"/>
          <p:nvPr/>
        </p:nvSpPr>
        <p:spPr>
          <a:xfrm>
            <a:off x="548640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움직이는 과정을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보여 줄 매체는?</a:t>
            </a:r>
            <a:endParaRPr lang="ko-KR" sz="2200" dirty="0"/>
          </a:p>
        </p:txBody>
      </p:sp>
      <p:sp>
        <p:nvSpPr>
          <p:cNvPr id="9" name="S14-text103"/>
          <p:cNvSpPr txBox="1"/>
          <p:nvPr/>
        </p:nvSpPr>
        <p:spPr>
          <a:xfrm>
            <a:off x="4322064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출처에 쓸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가지는?</a:t>
            </a:r>
            <a:endParaRPr lang="ko-KR" sz="2200" dirty="0"/>
          </a:p>
        </p:txBody>
      </p:sp>
      <p:sp>
        <p:nvSpPr>
          <p:cNvPr id="10" name="S14-text104"/>
          <p:cNvSpPr txBox="1"/>
          <p:nvPr/>
        </p:nvSpPr>
        <p:spPr>
          <a:xfrm>
            <a:off x="8095488" y="4077208"/>
            <a:ext cx="3544824" cy="200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출처만 밝히면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마음대로 써도 될까?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어디에서 왔을까?</a:t>
            </a:r>
            <a:endParaRPr lang="ko-KR" sz="4000" dirty="0"/>
          </a:p>
        </p:txBody>
      </p:sp>
      <p:sp>
        <p:nvSpPr>
          <p:cNvPr id="3" name="S15-text10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정보가 나온 곳을 출처라고 해요.</a:t>
            </a:r>
            <a:endParaRPr lang="ko-KR" sz="2800" dirty="0"/>
          </a:p>
        </p:txBody>
      </p:sp>
      <p:sp>
        <p:nvSpPr>
          <p:cNvPr id="4" name="S15-card106"/>
          <p:cNvSpPr/>
          <p:nvPr/>
        </p:nvSpPr>
        <p:spPr>
          <a:xfrm>
            <a:off x="548640" y="2116074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07"/>
          <p:cNvSpPr txBox="1"/>
          <p:nvPr/>
        </p:nvSpPr>
        <p:spPr>
          <a:xfrm>
            <a:off x="822960" y="2253234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책에서 읽었어요.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책 이름, 쓴 사람, 몇 쪽</a:t>
            </a:r>
            <a:endParaRPr lang="ko-KR" sz="2800" dirty="0"/>
          </a:p>
        </p:txBody>
      </p:sp>
      <p:sp>
        <p:nvSpPr>
          <p:cNvPr id="6" name="S15-card108"/>
          <p:cNvSpPr/>
          <p:nvPr/>
        </p:nvSpPr>
        <p:spPr>
          <a:xfrm>
            <a:off x="548640" y="3524758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09"/>
          <p:cNvSpPr txBox="1"/>
          <p:nvPr/>
        </p:nvSpPr>
        <p:spPr>
          <a:xfrm>
            <a:off x="822960" y="3661918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누리집에서 봤어요.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누리집 이름, 본 날짜</a:t>
            </a:r>
            <a:endParaRPr lang="ko-KR" sz="2800" dirty="0"/>
          </a:p>
        </p:txBody>
      </p:sp>
      <p:sp>
        <p:nvSpPr>
          <p:cNvPr id="8" name="S15-card110"/>
          <p:cNvSpPr/>
          <p:nvPr/>
        </p:nvSpPr>
        <p:spPr>
          <a:xfrm>
            <a:off x="548640" y="4933442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15-cardtext111"/>
          <p:cNvSpPr txBox="1"/>
          <p:nvPr/>
        </p:nvSpPr>
        <p:spPr>
          <a:xfrm>
            <a:off x="822960" y="5070602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사람에게 들었어요.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누구에게, 언제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국어 복합매체 자료 만들기</dc:title>
  <dc:subject>KR22-G06-KOR-MULTIMEDIA-L01</dc:subject>
  <dc:creator>education-ppt</dc:creator>
  <cp:lastModifiedBy>education-ppt</cp:lastModifiedBy>
  <cp:revision>1</cp:revision>
  <dcterms:created xsi:type="dcterms:W3CDTF">2026-10-26T09:43:59Z</dcterms:created>
  <dcterms:modified xsi:type="dcterms:W3CDTF">2026-10-26T09:43:59Z</dcterms:modified>
</cp:coreProperties>
</file>