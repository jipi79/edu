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4e7607c-6798-811b-78c8-39875c18c942}">
          <p14:sldIdLst>
            <p14:sldId id="256"/>
            <p14:sldId id="257"/>
          </p14:sldIdLst>
        </p14:section>
        <p14:section name="개념" id="{d9bcdbcc-282b-7295-7f8b-4a5afa3170c0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ed7c61d3-3ecc-b1cd-4054-db07a9cee3b3}">
          <p14:sldIdLst>
            <p14:sldId id="263"/>
            <p14:sldId id="264"/>
          </p14:sldIdLst>
        </p14:section>
        <p14:section name="확인" id="{a08b37a4-b7ec-5475-8ff3-216e0b04b746}">
          <p14:sldIdLst>
            <p14:sldId id="265"/>
            <p14:sldId id="266"/>
          </p14:sldIdLst>
        </p14:section>
        <p14:section name="정리" id="{b10aa581-9cd8-5fca-1fb6-6d6e650d41ae}">
          <p14:sldIdLst>
            <p14:sldId id="267"/>
          </p14:sldIdLst>
        </p14:section>
        <p14:section name="보충" id="{1393bf43-99b4-c227-290d-5f30e25d90c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뉴스와 광고 비판적으로 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뉴스와 광고,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뉴스에서 사실과 의견을 나누고 정보가 정확한지 따질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광고의 의도를 말하고 부풀린 표현을 찾을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문구를 살펴요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 광고의 문구예요.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운동화는 깃털처럼 가벼워요. → 무엇을 무엇에 빗댔나요?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운동화는 한 짝에 200 g이에요. → 사실? 의견?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운동화가 세상에서 가장 멋져요. → 사실? 의견?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뉴스를 따져 읽어요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뉴스도 사람이 쓴 글이라 따져 읽어요.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있는 일인가요?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생각인가요?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누가·언제·어디서·무엇을?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분명한가요?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내용이 맞나요?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 없나요?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읽기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나누어 봐요.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○○동 놀이터 미끄럼틀 손잡이, 하루 만에 고쳐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15일 ○○동 어린이 놀이터에서 미끄럼틀 손잡이 하나가 헐거워진 것을 한 주민이 발견해 구청에 알렸다. 구청은 다음 날 미끄럼틀을 잠시 막고 손잡이를 고쳤다. 이 일로 다친 어린이는 없었다.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놀이터를 자주 찾는 한 주민은 “아이들이 많이 노는 곳인 만큼 더 자주 살펴야 한다”고 말했다. 구청은 앞으로 한 달에 한 번 놀이 기구를 점검하겠다고 밝혔다.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견주어 봐요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뉴스에 붙을 수 있는 두 제목이에요.</a:t>
            </a:r>
            <a:endParaRPr lang="ko-KR" sz="2800" dirty="0"/>
          </a:p>
        </p:txBody>
      </p:sp>
      <p:sp>
        <p:nvSpPr>
          <p:cNvPr id="5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제목은 왜 이렇게 썼을까요? 무엇이 정확하지 않나요?</a:t>
            </a:r>
            <a:endParaRPr lang="ko-KR" sz="2800" dirty="0"/>
          </a:p>
        </p:txBody>
      </p:sp>
      <p:sp>
        <p:nvSpPr>
          <p:cNvPr id="7" name="S05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5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미끄럼틀 ‘공포’… 아이들 모두 위험!</a:t>
            </a:r>
            <a:endParaRPr lang="ko-KR" sz="2800" dirty="0"/>
          </a:p>
        </p:txBody>
      </p:sp>
      <p:sp>
        <p:nvSpPr>
          <p:cNvPr id="9" name="S05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5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○○동 놀이터 미끄럼틀 손잡이, 하루 만에 고쳐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읽기</a:t>
            </a:r>
            <a:endParaRPr lang="ko-KR" sz="4000" dirty="0"/>
          </a:p>
        </p:txBody>
      </p:sp>
      <p:sp>
        <p:nvSpPr>
          <p:cNvPr id="3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광고는 우리에게 무엇을 하게 하려고 할까요?</a:t>
            </a:r>
            <a:endParaRPr lang="ko-KR" sz="2800" dirty="0"/>
          </a:p>
        </p:txBody>
      </p:sp>
      <p:sp>
        <p:nvSpPr>
          <p:cNvPr id="5" name="S06-passagebox3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 광고(글로 옮긴 화면)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글씨: “신기만 하면 누구나 달리기 1등!”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장면: 이 운동화를 신은 아이가 결승선을 가장 먼저 끊는다.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글씨: “우리 반 친구들 100%가 고른 운동화” “오늘만 반값! 지금 사지 않으면 후회해요”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광고를 따져 봐요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전에 부풀린 말 · 출처 · 빠진 정보를 따져요.</a:t>
            </a:r>
            <a:endParaRPr lang="ko-KR" sz="28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22068"/>
          <a:ext cx="10972800" cy="914400"/>
        </p:xfrm>
        <a:graphic>
          <a:graphicData uri="http://schemas.openxmlformats.org/drawingml/2006/table">
            <a:tbl>
              <a:tblPr/>
              <a:tblGrid>
                <a:gridCol w="3511296"/>
                <a:gridCol w="2194560"/>
                <a:gridCol w="5266944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광고의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따질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확인할 것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누구나 달리기 1등!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부풀린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신발만 바꾸면 1등을 할까?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친구들 100%가 고른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출처가 없음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누구에게, 몇 명에게 물었나?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오늘만 반값!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빠진 정보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값은? 오늘은 언제?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사실일까, 의견일까?</a:t>
            </a:r>
            <a:endParaRPr lang="ko-KR" sz="4000" dirty="0"/>
          </a:p>
        </p:txBody>
      </p:sp>
      <p:sp>
        <p:nvSpPr>
          <p:cNvPr id="3" name="S08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 도서관 소식이에요.</a:t>
            </a:r>
            <a:endParaRPr lang="ko-KR" sz="2800" dirty="0"/>
          </a:p>
        </p:txBody>
      </p:sp>
      <p:sp>
        <p:nvSpPr>
          <p:cNvPr id="4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있으면 사실, 누군가의 생각이면 의견이에요.</a:t>
            </a:r>
            <a:endParaRPr lang="ko-KR" sz="2800" dirty="0"/>
          </a:p>
        </p:txBody>
      </p:sp>
      <p:sp>
        <p:nvSpPr>
          <p:cNvPr id="6" name="S08-chip4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도서관은 이번 달부터 토요일에도 오후 6시까지 문을 연다.</a:t>
            </a:r>
            <a:endParaRPr lang="ko-KR" sz="2800" dirty="0"/>
          </a:p>
        </p:txBody>
      </p:sp>
      <p:sp>
        <p:nvSpPr>
          <p:cNvPr id="8" name="S08-chip4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 가면 누구나 책을 좋아하게 될 것이다.</a:t>
            </a:r>
            <a:endParaRPr lang="ko-KR" sz="2800" dirty="0"/>
          </a:p>
        </p:txBody>
      </p:sp>
      <p:sp>
        <p:nvSpPr>
          <p:cNvPr id="10" name="S08-chip4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구청에 따르면 지난달 도서관을 찾은 사람은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3천 명이었다.</a:t>
            </a:r>
            <a:endParaRPr lang="ko-KR" sz="2800" dirty="0"/>
          </a:p>
        </p:txBody>
      </p:sp>
      <p:sp>
        <p:nvSpPr>
          <p:cNvPr id="12" name="S08-chip4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4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토요일에 문을 여는 것은 아주 훌륭한 결정이다.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광고를 따져요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광고: “이 연필로 쓰면 받아쓰기 100점!” “선생님들이 가장 많이 추천!” “3자루 사면 1자루 더!”</a:t>
            </a:r>
            <a:endParaRPr lang="ko-KR" sz="2800" dirty="0"/>
          </a:p>
        </p:txBody>
      </p:sp>
      <p:sp>
        <p:nvSpPr>
          <p:cNvPr id="4" name="S09-chip49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50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광고의 의도는 무엇인가요?</a:t>
            </a:r>
            <a:endParaRPr lang="ko-KR" sz="28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 무엇인가요?</a:t>
            </a:r>
            <a:endParaRPr lang="ko-KR" sz="2800" dirty="0"/>
          </a:p>
        </p:txBody>
      </p:sp>
      <p:sp>
        <p:nvSpPr>
          <p:cNvPr id="8" name="S09-chip53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54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전에 확인할 정보는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나누고, 제목에서 정확하지 않은 말을 찾아 고쳐요.</a:t>
            </a:r>
            <a:endParaRPr lang="ko-KR" sz="2800" dirty="0"/>
          </a:p>
        </p:txBody>
      </p:sp>
      <p:sp>
        <p:nvSpPr>
          <p:cNvPr id="5" name="S10-passagebox5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횡단보도, 이제 완벽하게 안전해졌다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3일 ○○초등학교 앞 횡단보도에 신호등이 새로 생겼다. 그동안 이 횡단보도에는 신호등이 없어 학생들이 차가 지나가기를 기다렸다가 건넜다.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학부모는 “아이들이 훨씬 마음 편히 학교에 다닐 것 같다”고 말했다. 경찰서는 앞으로도 등교 시간에 교통 안내를 계속하겠다고 밝혔다.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 광고를 따져요</a:t>
            </a:r>
            <a:endParaRPr lang="ko-KR" sz="4000" dirty="0"/>
          </a:p>
        </p:txBody>
      </p:sp>
      <p:sp>
        <p:nvSpPr>
          <p:cNvPr id="3" name="S12-text5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광고: “한 번만 문지르면 모든 글씨가 감쪽같이 사라져요!”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사면 하나 더!”</a:t>
            </a:r>
            <a:endParaRPr lang="ko-KR" sz="2800" dirty="0"/>
          </a:p>
        </p:txBody>
      </p:sp>
      <p:sp>
        <p:nvSpPr>
          <p:cNvPr id="4" name="S12-chip60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61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광고의 의도는 무엇인가요?</a:t>
            </a:r>
            <a:endParaRPr lang="ko-KR" sz="2800" dirty="0"/>
          </a:p>
        </p:txBody>
      </p:sp>
      <p:sp>
        <p:nvSpPr>
          <p:cNvPr id="6" name="S12-chip62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63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말과 확인할 정보를 하나씩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뉴스는 사실과 의견을 나누고, 제목이 내용과 맞는지 따져요.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광고는 의도를 생각하고 부풀린 말 · 출처 · 빠진 정보를 따져요.</a:t>
            </a:r>
            <a:endParaRPr lang="ko-KR" sz="2800" dirty="0"/>
          </a:p>
        </p:txBody>
      </p:sp>
      <p:sp>
        <p:nvSpPr>
          <p:cNvPr id="5" name="S13-chip6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본문과 출처 확인하기</a:t>
            </a:r>
            <a:endParaRPr lang="ko-KR" sz="2200" dirty="0"/>
          </a:p>
        </p:txBody>
      </p:sp>
      <p:sp>
        <p:nvSpPr>
          <p:cNvPr id="6" name="S13-chip6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제목과 큰 글씨만 믿기</a:t>
            </a:r>
            <a:endParaRPr lang="ko-KR" sz="2200" dirty="0"/>
          </a:p>
        </p:txBody>
      </p:sp>
      <p:sp>
        <p:nvSpPr>
          <p:cNvPr id="7" name="S13-text6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6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뉴스 속 사람의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사실? 의견?</a:t>
            </a:r>
            <a:endParaRPr lang="ko-KR" sz="2200" dirty="0"/>
          </a:p>
        </p:txBody>
      </p:sp>
      <p:sp>
        <p:nvSpPr>
          <p:cNvPr id="9" name="S13-text7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‘100%가 골랐어요’를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때 물을 것은?</a:t>
            </a:r>
            <a:endParaRPr lang="ko-KR" sz="2200" dirty="0"/>
          </a:p>
        </p:txBody>
      </p:sp>
      <p:sp>
        <p:nvSpPr>
          <p:cNvPr id="10" name="S13-text7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광고의 의도는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대개 무엇인가요?</a:t>
            </a:r>
            <a:endParaRPr lang="ko-KR" sz="2200" dirty="0"/>
          </a:p>
        </p:txBody>
      </p:sp>
      <p:sp>
        <p:nvSpPr>
          <p:cNvPr id="11" name="S13-text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복합매체 자료 만들기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사실 · 의견 · 비유</a:t>
            </a:r>
            <a:endParaRPr lang="ko-KR" sz="4000" dirty="0"/>
          </a:p>
        </p:txBody>
      </p:sp>
      <p:sp>
        <p:nvSpPr>
          <p:cNvPr id="3" name="S14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말을 구별해요.</a:t>
            </a:r>
            <a:endParaRPr lang="ko-KR" sz="2800" dirty="0"/>
          </a:p>
        </p:txBody>
      </p:sp>
      <p:sp>
        <p:nvSpPr>
          <p:cNvPr id="4" name="S14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“확인할 수 있어?”, “빗댄 말이야?”를 물어요.</a:t>
            </a:r>
            <a:endParaRPr lang="ko-KR" sz="2800" dirty="0"/>
          </a:p>
        </p:txBody>
      </p:sp>
      <p:sp>
        <p:nvSpPr>
          <p:cNvPr id="6" name="S14-word76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사실: 이 공책은 60쪽이에요.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세거나 재어 확인할 수 있는 말</a:t>
            </a:r>
            <a:endParaRPr lang="ko-KR" sz="2800" dirty="0"/>
          </a:p>
        </p:txBody>
      </p:sp>
      <p:sp>
        <p:nvSpPr>
          <p:cNvPr id="7" name="S14-word77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이 공책이 제일 예뻐요.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다를 수 있는 생각</a:t>
            </a:r>
            <a:endParaRPr lang="ko-KR" sz="2800" dirty="0"/>
          </a:p>
        </p:txBody>
      </p:sp>
      <p:sp>
        <p:nvSpPr>
          <p:cNvPr id="8" name="S14-word78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이 공책은 구름처럼 가벼워요.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것에 빗댄 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뉴스와 광고 비판적으로 보기</dc:title>
  <dc:subject>KR22-G06-KOR-NEWSAD-L01</dc:subject>
  <dc:creator>education-ppt</dc:creator>
  <cp:lastModifiedBy>education-ppt</cp:lastModifiedBy>
  <cp:revision>1</cp:revision>
  <dcterms:created xsi:type="dcterms:W3CDTF">2026-10-26T09:12:42Z</dcterms:created>
  <dcterms:modified xsi:type="dcterms:W3CDTF">2026-10-26T09:12:42Z</dcterms:modified>
</cp:coreProperties>
</file>