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6a3a6ec-8e88-b245-2278-e6c507e6bb30}">
          <p14:sldIdLst>
            <p14:sldId id="256"/>
            <p14:sldId id="257"/>
          </p14:sldIdLst>
        </p14:section>
        <p14:section name="개념" id="{fc76b55f-4b53-6962-457e-5770bf33430d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ca75de98-6128-fa82-0f8c-808f1c6cd99d}">
          <p14:sldIdLst>
            <p14:sldId id="263"/>
            <p14:sldId id="264"/>
            <p14:sldId id="265"/>
          </p14:sldIdLst>
        </p14:section>
        <p14:section name="확인" id="{5b9a4c79-975b-4170-504e-448f86830d61}">
          <p14:sldIdLst>
            <p14:sldId id="266"/>
            <p14:sldId id="267"/>
          </p14:sldIdLst>
        </p14:section>
        <p14:section name="정리" id="{e836fb19-c53a-2843-b6b5-66a0b468e202}">
          <p14:sldIdLst>
            <p14:sldId id="268"/>
          </p14:sldIdLst>
        </p14:section>
        <p14:section name="보충" id="{e1e8595c-1028-7209-8415-941aba2a0bd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해석 나누기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시를 읽고도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다를 수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비유를 찾아 무엇을 무엇에 빗댔는지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작품 속 표현을 근거로 내 해석을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인물·사건·배경 찾기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토요일 오후, 도서관 앞. 지우는 우산이 없어 발만 동동 굴렀다. 그때 같은 반 서진이가 다가와 우산을 함께 쓰자고 했다.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사건이 일어났나요?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배경(때와 곳)은 언제, 어디인가요?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비유와 상징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빗댄 두 대상은 어딘가 닮은 점이 있어요.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‘~처럼, ~같이’로 빗대요.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솜이불처럼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‘A는 B’로 바로 빗대요.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화분은 조그만 방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뜻을 담은 대상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비둘기 → 평화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「겨울 화분」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7955280" cy="4846320"/>
          </a:xfrm>
          <a:prstGeom prst="roundRect">
            <a:avLst>
              <a:gd name="adj" fmla="val 226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7406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화분</a:t>
            </a:r>
            <a:endParaRPr lang="ko-KR" sz="2800" dirty="0"/>
          </a:p>
        </p:txBody>
      </p:sp>
      <p:sp>
        <p:nvSpPr>
          <p:cNvPr id="5" name="S04-text20"/>
          <p:cNvSpPr txBox="1"/>
          <p:nvPr/>
        </p:nvSpPr>
        <p:spPr>
          <a:xfrm>
            <a:off x="868680" y="1965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창가의 빈 화분은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흙만 담긴 조그만 방</a:t>
            </a:r>
            <a:endParaRPr lang="ko-KR" sz="2600" dirty="0"/>
          </a:p>
        </p:txBody>
      </p:sp>
      <p:sp>
        <p:nvSpPr>
          <p:cNvPr id="6" name="S04-text21"/>
          <p:cNvSpPr txBox="1"/>
          <p:nvPr/>
        </p:nvSpPr>
        <p:spPr>
          <a:xfrm>
            <a:off x="868680" y="299008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이제 버리자 했지만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날마다 물 한 컵을 건넸다</a:t>
            </a:r>
            <a:endParaRPr lang="ko-KR" sz="2600" dirty="0"/>
          </a:p>
        </p:txBody>
      </p:sp>
      <p:sp>
        <p:nvSpPr>
          <p:cNvPr id="7" name="S04-text22"/>
          <p:cNvSpPr txBox="1"/>
          <p:nvPr/>
        </p:nvSpPr>
        <p:spPr>
          <a:xfrm>
            <a:off x="868680" y="401421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솜이불처럼 덮인 아침에도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화분은 아무 대답이 없었다</a:t>
            </a:r>
            <a:endParaRPr lang="ko-KR" sz="2600" dirty="0"/>
          </a:p>
        </p:txBody>
      </p:sp>
      <p:sp>
        <p:nvSpPr>
          <p:cNvPr id="8" name="S04-text23"/>
          <p:cNvSpPr txBox="1"/>
          <p:nvPr/>
        </p:nvSpPr>
        <p:spPr>
          <a:xfrm>
            <a:off x="868680" y="503834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봄바람이 창문을 두드린 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손가락 하나가 흙 이불을 걷고 일어났다</a:t>
            </a:r>
            <a:endParaRPr lang="ko-KR" sz="2600" dirty="0"/>
          </a:p>
        </p:txBody>
      </p:sp>
      <p:sp>
        <p:nvSpPr>
          <p:cNvPr id="9" name="S04-card24"/>
          <p:cNvSpPr/>
          <p:nvPr/>
        </p:nvSpPr>
        <p:spPr>
          <a:xfrm>
            <a:off x="8732520" y="1325880"/>
            <a:ext cx="2907792" cy="4846320"/>
          </a:xfrm>
          <a:prstGeom prst="roundRect">
            <a:avLst>
              <a:gd name="adj" fmla="val 377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9006840" y="1463040"/>
            <a:ext cx="2359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읽어요.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표현에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밑줄을 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 빗댔나요?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직유는 ‘처럼·같이’가 있고, 은유는 없어요.</a:t>
            </a:r>
            <a:endParaRPr lang="ko-KR" sz="28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22068"/>
          <a:ext cx="109728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1536192"/>
                <a:gridCol w="1865376"/>
                <a:gridCol w="3950208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닮은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흙만 담긴 조그만 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무언가를 품는 곳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눈이 솜이불처럼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솜이불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하얗게 포근히 덮음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 손가락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새싹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가늘게 쏙 솟음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상징을 해석해요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화분」에서 무엇을 뜻할까요?</a:t>
            </a:r>
            <a:endParaRPr lang="ko-KR" sz="28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해석은 여러 가지여도 돼요. 단, 시 속 표현이 근거여야 해요.</a:t>
            </a:r>
            <a:endParaRPr lang="ko-KR" sz="2800" dirty="0"/>
          </a:p>
        </p:txBody>
      </p:sp>
      <p:sp>
        <p:nvSpPr>
          <p:cNvPr id="6" name="S06-card3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기다려야 하는 때?</a:t>
            </a:r>
            <a:endParaRPr lang="ko-KR" sz="2800" dirty="0"/>
          </a:p>
        </p:txBody>
      </p:sp>
      <p:sp>
        <p:nvSpPr>
          <p:cNvPr id="8" name="S06-card3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한 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쏟은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정성?</a:t>
            </a:r>
            <a:endParaRPr lang="ko-KR" sz="2800" dirty="0"/>
          </a:p>
        </p:txBody>
      </p:sp>
      <p:sp>
        <p:nvSpPr>
          <p:cNvPr id="10" name="S06-card3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싹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기다림의 보람?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해석을 나누는 차례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“~라고 생각해. 시에 ‘~’라는 표현이 있기 때문이야.”</a:t>
            </a:r>
            <a:endParaRPr lang="ko-KR" sz="2800" dirty="0"/>
          </a:p>
        </p:txBody>
      </p:sp>
      <p:sp>
        <p:nvSpPr>
          <p:cNvPr id="5" name="S07-stepno4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4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비유와 상징을 찾아요.</a:t>
            </a:r>
            <a:endParaRPr lang="ko-KR" sz="2800" dirty="0"/>
          </a:p>
        </p:txBody>
      </p:sp>
      <p:sp>
        <p:nvSpPr>
          <p:cNvPr id="7" name="S07-stepno4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4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뜻할지 내 해석을 한 문장으로 말해요.</a:t>
            </a:r>
            <a:endParaRPr lang="ko-KR" sz="2800" dirty="0"/>
          </a:p>
        </p:txBody>
      </p:sp>
      <p:sp>
        <p:nvSpPr>
          <p:cNvPr id="9" name="S07-stepno4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4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되는 작품 속 표현을 대요.</a:t>
            </a:r>
            <a:endParaRPr lang="ko-KR" sz="2800" dirty="0"/>
          </a:p>
        </p:txBody>
      </p:sp>
      <p:sp>
        <p:nvSpPr>
          <p:cNvPr id="11" name="S07-stepno4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해석을 듣고 근거가 있는지 따져요.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비유를 찾아봐요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직유일까요, 은유일까요? 무엇을 무엇에 빗댔나요?</a:t>
            </a:r>
            <a:endParaRPr lang="ko-KR" sz="28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점도 하나씩 말해 봐요.</a:t>
            </a:r>
            <a:endParaRPr lang="ko-KR" sz="28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목소리는 아침 알람처럼 나를 깨운다.</a:t>
            </a:r>
            <a:endParaRPr lang="ko-KR" sz="2800" dirty="0"/>
          </a:p>
        </p:txBody>
      </p:sp>
      <p:sp>
        <p:nvSpPr>
          <p:cNvPr id="8" name="S08-chip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짝꿍은 우리 반의 작은 난로다.</a:t>
            </a:r>
            <a:endParaRPr lang="ko-KR" sz="28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솜사탕같이 부풀었다.</a:t>
            </a:r>
            <a:endParaRPr lang="ko-KR" sz="2800" dirty="0"/>
          </a:p>
        </p:txBody>
      </p:sp>
      <p:sp>
        <p:nvSpPr>
          <p:cNvPr id="12" name="S08-chip5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5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 나를 먼 나라로 데려가는 비행기다.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있는 해석은?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화분」을 두 친구가 이렇게 해석했어요.</a:t>
            </a:r>
            <a:endParaRPr lang="ko-KR" sz="28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해석에 근거가 있나요? 나는 어떻게 고치면 될까요?</a:t>
            </a:r>
            <a:endParaRPr lang="ko-KR" sz="28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포기하지 않고 기다리면 희망이 온다는 뜻이야. ‘버리자 했지만 날마다 물 한 컵을’이라는 표현이 있으니까.</a:t>
            </a:r>
            <a:endParaRPr lang="ko-KR" sz="28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식물을 싫어한다는 뜻이야. 그냥 그런 느낌이 들어.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해석 나누기</a:t>
            </a:r>
            <a:endParaRPr lang="ko-KR" sz="4000" dirty="0"/>
          </a:p>
        </p:txBody>
      </p:sp>
      <p:sp>
        <p:nvSpPr>
          <p:cNvPr id="3" name="S10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화분」의 해석을 서로 말하고 근거를 따져요.</a:t>
            </a:r>
            <a:endParaRPr lang="ko-KR" sz="2800" dirty="0"/>
          </a:p>
        </p:txBody>
      </p:sp>
      <p:sp>
        <p:nvSpPr>
          <p:cNvPr id="4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해석이 달라도 괜찮아요. 서로의 근거를 시에서 찾아 확인해요.</a:t>
            </a:r>
            <a:endParaRPr lang="ko-KR" sz="2800" dirty="0"/>
          </a:p>
        </p:txBody>
      </p:sp>
      <p:sp>
        <p:nvSpPr>
          <p:cNvPr id="6" name="S10-card70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71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해석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근거(시 속 표현):</a:t>
            </a:r>
            <a:endParaRPr lang="ko-KR" sz="2800" dirty="0"/>
          </a:p>
        </p:txBody>
      </p:sp>
      <p:sp>
        <p:nvSpPr>
          <p:cNvPr id="8" name="S10-card72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0-cardtext73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해석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근거(시 속 표현):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1325880"/>
            <a:ext cx="7955280" cy="4846320"/>
          </a:xfrm>
          <a:prstGeom prst="roundRect">
            <a:avLst>
              <a:gd name="adj" fmla="val 226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1463040"/>
            <a:ext cx="7406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징검다리</a:t>
            </a:r>
            <a:endParaRPr lang="ko-KR" sz="2800" dirty="0"/>
          </a:p>
        </p:txBody>
      </p:sp>
      <p:sp>
        <p:nvSpPr>
          <p:cNvPr id="5" name="S11-text76"/>
          <p:cNvSpPr txBox="1"/>
          <p:nvPr/>
        </p:nvSpPr>
        <p:spPr>
          <a:xfrm>
            <a:off x="868680" y="1965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개울 위 징검다리는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엎드린 거북이 등 같다</a:t>
            </a:r>
            <a:endParaRPr lang="ko-KR" sz="2600" dirty="0"/>
          </a:p>
        </p:txBody>
      </p:sp>
      <p:sp>
        <p:nvSpPr>
          <p:cNvPr id="6" name="S11-text77"/>
          <p:cNvSpPr txBox="1"/>
          <p:nvPr/>
        </p:nvSpPr>
        <p:spPr>
          <a:xfrm>
            <a:off x="868680" y="30632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혼자서는 못 건너던 나를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하나, 돌 하나가 받쳐 주었다</a:t>
            </a:r>
            <a:endParaRPr lang="ko-KR" sz="2600" dirty="0"/>
          </a:p>
        </p:txBody>
      </p:sp>
      <p:sp>
        <p:nvSpPr>
          <p:cNvPr id="7" name="S11-text78"/>
          <p:cNvSpPr txBox="1"/>
          <p:nvPr/>
        </p:nvSpPr>
        <p:spPr>
          <a:xfrm>
            <a:off x="868680" y="41605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나도 누군가의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하나가 되고 싶다</a:t>
            </a:r>
            <a:endParaRPr lang="ko-KR" sz="2600" dirty="0"/>
          </a:p>
        </p:txBody>
      </p:sp>
      <p:sp>
        <p:nvSpPr>
          <p:cNvPr id="8" name="S11-card79"/>
          <p:cNvSpPr/>
          <p:nvPr/>
        </p:nvSpPr>
        <p:spPr>
          <a:xfrm>
            <a:off x="8732520" y="1325880"/>
            <a:ext cx="2907792" cy="4846320"/>
          </a:xfrm>
          <a:prstGeom prst="roundRect">
            <a:avLst>
              <a:gd name="adj" fmla="val 377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1-cardtext80"/>
          <p:cNvSpPr txBox="1"/>
          <p:nvPr/>
        </p:nvSpPr>
        <p:spPr>
          <a:xfrm>
            <a:off x="9006840" y="1463040"/>
            <a:ext cx="2359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비유를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‘돌 하나’는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이야기도 해석해요</a:t>
            </a:r>
            <a:endParaRPr lang="ko-KR" sz="4000" dirty="0"/>
          </a:p>
        </p:txBody>
      </p:sp>
      <p:sp>
        <p:nvSpPr>
          <p:cNvPr id="3" name="S13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‘가지 끝에 남긴 감’은 무엇을 뜻할까요? 근거도 말해요.</a:t>
            </a:r>
            <a:endParaRPr lang="ko-KR" sz="2800" dirty="0"/>
          </a:p>
        </p:txBody>
      </p:sp>
      <p:sp>
        <p:nvSpPr>
          <p:cNvPr id="5" name="S13-passagebox8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8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까치밥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할아버지는 감을 딸 때마다 가지 끝의 감 몇 개를 남겨 두셨다. “저건 까치밥이야.”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내린 아침, 먹을 것을 찾던 까치가 날아와 그 감을 쪼아 먹었다. 할아버지는 창밖을 보며 빙그레 웃으셨다.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비유는 닮은 점으로 빗대고, 상징은 어떤 뜻을 담아요.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해석은 여러 가지여도 작품 속 표현이 근거여야 해요.</a:t>
            </a:r>
            <a:endParaRPr lang="ko-KR" sz="2800" dirty="0"/>
          </a:p>
        </p:txBody>
      </p:sp>
      <p:sp>
        <p:nvSpPr>
          <p:cNvPr id="5" name="S14-chip8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표현을 근거로 해석하기</a:t>
            </a:r>
            <a:endParaRPr lang="ko-KR" sz="2200" dirty="0"/>
          </a:p>
        </p:txBody>
      </p:sp>
      <p:sp>
        <p:nvSpPr>
          <p:cNvPr id="6" name="S14-chip8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근거 없이 느낌만 말하기</a:t>
            </a:r>
            <a:endParaRPr lang="ko-KR" sz="2200" dirty="0"/>
          </a:p>
        </p:txBody>
      </p:sp>
      <p:sp>
        <p:nvSpPr>
          <p:cNvPr id="7" name="S14-text8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직유와 은유는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다른가요?</a:t>
            </a:r>
            <a:endParaRPr lang="ko-KR" sz="2200" dirty="0"/>
          </a:p>
        </p:txBody>
      </p:sp>
      <p:sp>
        <p:nvSpPr>
          <p:cNvPr id="9" name="S14-text9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‘눈이 솜이불처럼’은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무엇에?</a:t>
            </a:r>
            <a:endParaRPr lang="ko-KR" sz="2200" dirty="0"/>
          </a:p>
        </p:txBody>
      </p:sp>
      <p:sp>
        <p:nvSpPr>
          <p:cNvPr id="10" name="S14-text9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좋은 해석에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것은?</a:t>
            </a:r>
            <a:endParaRPr lang="ko-KR" sz="2200" dirty="0"/>
          </a:p>
        </p:txBody>
      </p:sp>
      <p:sp>
        <p:nvSpPr>
          <p:cNvPr id="11" name="S14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뉴스와 광고 비판적으로 보기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인물·사건·배경</a:t>
            </a:r>
            <a:endParaRPr lang="ko-KR" sz="4000" dirty="0"/>
          </a:p>
        </p:txBody>
      </p:sp>
      <p:sp>
        <p:nvSpPr>
          <p:cNvPr id="3" name="S15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읽을 때 세 가지를 먼저 찾아요.</a:t>
            </a:r>
            <a:endParaRPr lang="ko-KR" sz="2800" dirty="0"/>
          </a:p>
        </p:txBody>
      </p:sp>
      <p:sp>
        <p:nvSpPr>
          <p:cNvPr id="4" name="S1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찾으면 이야기의 뼈대가 보여요.</a:t>
            </a:r>
            <a:endParaRPr lang="ko-KR" sz="2800" dirty="0"/>
          </a:p>
        </p:txBody>
      </p:sp>
      <p:sp>
        <p:nvSpPr>
          <p:cNvPr id="6" name="S15-word97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— 누가 나오나요?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나오는 사람이나 동물</a:t>
            </a:r>
            <a:endParaRPr lang="ko-KR" sz="2800" dirty="0"/>
          </a:p>
        </p:txBody>
      </p:sp>
      <p:sp>
        <p:nvSpPr>
          <p:cNvPr id="7" name="S15-word98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— 무슨 일이 있었나요?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겪는 일</a:t>
            </a:r>
            <a:endParaRPr lang="ko-KR" sz="2800" dirty="0"/>
          </a:p>
        </p:txBody>
      </p:sp>
      <p:sp>
        <p:nvSpPr>
          <p:cNvPr id="8" name="S15-word99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— 언제, 어디서?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때와 곳(날씨도)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작품 해석 나누기</dc:title>
  <dc:subject>KR22-G06-KOR-INTERPRET-L01</dc:subject>
  <dc:creator>education-ppt</dc:creator>
  <cp:lastModifiedBy>education-ppt</cp:lastModifiedBy>
  <cp:revision>1</cp:revision>
  <dcterms:created xsi:type="dcterms:W3CDTF">2026-10-26T09:12:40Z</dcterms:created>
  <dcterms:modified xsi:type="dcterms:W3CDTF">2026-10-26T09:12:40Z</dcterms:modified>
</cp:coreProperties>
</file>